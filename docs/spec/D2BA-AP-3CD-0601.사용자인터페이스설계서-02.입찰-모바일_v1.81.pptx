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60" r:id="rId1"/>
  </p:sldMasterIdLst>
  <p:notesMasterIdLst>
    <p:notesMasterId r:id="rId448"/>
  </p:notesMasterIdLst>
  <p:handoutMasterIdLst>
    <p:handoutMasterId r:id="rId449"/>
  </p:handoutMasterIdLst>
  <p:sldIdLst>
    <p:sldId id="256" r:id="rId2"/>
    <p:sldId id="627" r:id="rId3"/>
    <p:sldId id="356" r:id="rId4"/>
    <p:sldId id="260" r:id="rId5"/>
    <p:sldId id="571" r:id="rId6"/>
    <p:sldId id="939" r:id="rId7"/>
    <p:sldId id="622" r:id="rId8"/>
    <p:sldId id="624" r:id="rId9"/>
    <p:sldId id="625" r:id="rId10"/>
    <p:sldId id="940" r:id="rId11"/>
    <p:sldId id="291" r:id="rId12"/>
    <p:sldId id="941" r:id="rId13"/>
    <p:sldId id="273" r:id="rId14"/>
    <p:sldId id="292" r:id="rId15"/>
    <p:sldId id="298" r:id="rId16"/>
    <p:sldId id="299" r:id="rId17"/>
    <p:sldId id="300" r:id="rId18"/>
    <p:sldId id="301" r:id="rId19"/>
    <p:sldId id="297" r:id="rId20"/>
    <p:sldId id="791" r:id="rId21"/>
    <p:sldId id="792" r:id="rId22"/>
    <p:sldId id="793" r:id="rId23"/>
    <p:sldId id="942" r:id="rId24"/>
    <p:sldId id="307" r:id="rId25"/>
    <p:sldId id="943" r:id="rId26"/>
    <p:sldId id="306" r:id="rId27"/>
    <p:sldId id="314" r:id="rId28"/>
    <p:sldId id="315" r:id="rId29"/>
    <p:sldId id="794" r:id="rId30"/>
    <p:sldId id="795" r:id="rId31"/>
    <p:sldId id="796" r:id="rId32"/>
    <p:sldId id="323" r:id="rId33"/>
    <p:sldId id="329" r:id="rId34"/>
    <p:sldId id="797" r:id="rId35"/>
    <p:sldId id="798" r:id="rId36"/>
    <p:sldId id="328" r:id="rId37"/>
    <p:sldId id="324" r:id="rId38"/>
    <p:sldId id="799" r:id="rId39"/>
    <p:sldId id="800" r:id="rId40"/>
    <p:sldId id="801" r:id="rId41"/>
    <p:sldId id="802" r:id="rId42"/>
    <p:sldId id="332" r:id="rId43"/>
    <p:sldId id="804" r:id="rId44"/>
    <p:sldId id="335" r:id="rId45"/>
    <p:sldId id="805" r:id="rId46"/>
    <p:sldId id="337" r:id="rId47"/>
    <p:sldId id="803" r:id="rId48"/>
    <p:sldId id="944" r:id="rId49"/>
    <p:sldId id="293" r:id="rId50"/>
    <p:sldId id="945" r:id="rId51"/>
    <p:sldId id="319" r:id="rId52"/>
    <p:sldId id="313" r:id="rId53"/>
    <p:sldId id="310" r:id="rId54"/>
    <p:sldId id="946" r:id="rId55"/>
    <p:sldId id="339" r:id="rId56"/>
    <p:sldId id="340" r:id="rId57"/>
    <p:sldId id="934" r:id="rId58"/>
    <p:sldId id="947" r:id="rId59"/>
    <p:sldId id="949" r:id="rId60"/>
    <p:sldId id="948" r:id="rId61"/>
    <p:sldId id="950" r:id="rId62"/>
    <p:sldId id="342" r:id="rId63"/>
    <p:sldId id="951" r:id="rId64"/>
    <p:sldId id="952" r:id="rId65"/>
    <p:sldId id="369" r:id="rId66"/>
    <p:sldId id="370" r:id="rId67"/>
    <p:sldId id="806" r:id="rId68"/>
    <p:sldId id="807" r:id="rId69"/>
    <p:sldId id="354" r:id="rId70"/>
    <p:sldId id="808" r:id="rId71"/>
    <p:sldId id="371" r:id="rId72"/>
    <p:sldId id="809" r:id="rId73"/>
    <p:sldId id="403" r:id="rId74"/>
    <p:sldId id="407" r:id="rId75"/>
    <p:sldId id="810" r:id="rId76"/>
    <p:sldId id="811" r:id="rId77"/>
    <p:sldId id="812" r:id="rId78"/>
    <p:sldId id="406" r:id="rId79"/>
    <p:sldId id="813" r:id="rId80"/>
    <p:sldId id="814" r:id="rId81"/>
    <p:sldId id="815" r:id="rId82"/>
    <p:sldId id="379" r:id="rId83"/>
    <p:sldId id="816" r:id="rId84"/>
    <p:sldId id="376" r:id="rId85"/>
    <p:sldId id="817" r:id="rId86"/>
    <p:sldId id="818" r:id="rId87"/>
    <p:sldId id="374" r:id="rId88"/>
    <p:sldId id="932" r:id="rId89"/>
    <p:sldId id="400" r:id="rId90"/>
    <p:sldId id="819" r:id="rId91"/>
    <p:sldId id="820" r:id="rId92"/>
    <p:sldId id="362" r:id="rId93"/>
    <p:sldId id="353" r:id="rId94"/>
    <p:sldId id="351" r:id="rId95"/>
    <p:sldId id="352" r:id="rId96"/>
    <p:sldId id="821" r:id="rId97"/>
    <p:sldId id="363" r:id="rId98"/>
    <p:sldId id="366" r:id="rId99"/>
    <p:sldId id="367" r:id="rId100"/>
    <p:sldId id="381" r:id="rId101"/>
    <p:sldId id="382" r:id="rId102"/>
    <p:sldId id="355" r:id="rId103"/>
    <p:sldId id="822" r:id="rId104"/>
    <p:sldId id="383" r:id="rId105"/>
    <p:sldId id="384" r:id="rId106"/>
    <p:sldId id="385" r:id="rId107"/>
    <p:sldId id="628" r:id="rId108"/>
    <p:sldId id="386" r:id="rId109"/>
    <p:sldId id="387" r:id="rId110"/>
    <p:sldId id="388" r:id="rId111"/>
    <p:sldId id="389" r:id="rId112"/>
    <p:sldId id="390" r:id="rId113"/>
    <p:sldId id="391" r:id="rId114"/>
    <p:sldId id="392" r:id="rId115"/>
    <p:sldId id="823" r:id="rId116"/>
    <p:sldId id="824" r:id="rId117"/>
    <p:sldId id="825" r:id="rId118"/>
    <p:sldId id="826" r:id="rId119"/>
    <p:sldId id="827" r:id="rId120"/>
    <p:sldId id="828" r:id="rId121"/>
    <p:sldId id="416" r:id="rId122"/>
    <p:sldId id="411" r:id="rId123"/>
    <p:sldId id="417" r:id="rId124"/>
    <p:sldId id="412" r:id="rId125"/>
    <p:sldId id="413" r:id="rId126"/>
    <p:sldId id="418" r:id="rId127"/>
    <p:sldId id="414" r:id="rId128"/>
    <p:sldId id="830" r:id="rId129"/>
    <p:sldId id="831" r:id="rId130"/>
    <p:sldId id="833" r:id="rId131"/>
    <p:sldId id="832" r:id="rId132"/>
    <p:sldId id="620" r:id="rId133"/>
    <p:sldId id="621" r:id="rId134"/>
    <p:sldId id="430" r:id="rId135"/>
    <p:sldId id="431" r:id="rId136"/>
    <p:sldId id="953" r:id="rId137"/>
    <p:sldId id="432" r:id="rId138"/>
    <p:sldId id="954" r:id="rId139"/>
    <p:sldId id="955" r:id="rId140"/>
    <p:sldId id="956" r:id="rId141"/>
    <p:sldId id="957" r:id="rId142"/>
    <p:sldId id="958" r:id="rId143"/>
    <p:sldId id="438" r:id="rId144"/>
    <p:sldId id="439" r:id="rId145"/>
    <p:sldId id="834" r:id="rId146"/>
    <p:sldId id="835" r:id="rId147"/>
    <p:sldId id="836" r:id="rId148"/>
    <p:sldId id="837" r:id="rId149"/>
    <p:sldId id="838" r:id="rId150"/>
    <p:sldId id="444" r:id="rId151"/>
    <p:sldId id="445" r:id="rId152"/>
    <p:sldId id="446" r:id="rId153"/>
    <p:sldId id="447" r:id="rId154"/>
    <p:sldId id="448" r:id="rId155"/>
    <p:sldId id="449" r:id="rId156"/>
    <p:sldId id="840" r:id="rId157"/>
    <p:sldId id="841" r:id="rId158"/>
    <p:sldId id="842" r:id="rId159"/>
    <p:sldId id="843" r:id="rId160"/>
    <p:sldId id="844" r:id="rId161"/>
    <p:sldId id="845" r:id="rId162"/>
    <p:sldId id="456" r:id="rId163"/>
    <p:sldId id="457" r:id="rId164"/>
    <p:sldId id="458" r:id="rId165"/>
    <p:sldId id="459" r:id="rId166"/>
    <p:sldId id="847" r:id="rId167"/>
    <p:sldId id="848" r:id="rId168"/>
    <p:sldId id="849" r:id="rId169"/>
    <p:sldId id="463" r:id="rId170"/>
    <p:sldId id="850" r:id="rId171"/>
    <p:sldId id="465" r:id="rId172"/>
    <p:sldId id="851" r:id="rId173"/>
    <p:sldId id="467" r:id="rId174"/>
    <p:sldId id="468" r:id="rId175"/>
    <p:sldId id="469" r:id="rId176"/>
    <p:sldId id="470" r:id="rId177"/>
    <p:sldId id="852" r:id="rId178"/>
    <p:sldId id="853" r:id="rId179"/>
    <p:sldId id="854" r:id="rId180"/>
    <p:sldId id="855" r:id="rId181"/>
    <p:sldId id="474" r:id="rId182"/>
    <p:sldId id="475" r:id="rId183"/>
    <p:sldId id="476" r:id="rId184"/>
    <p:sldId id="477" r:id="rId185"/>
    <p:sldId id="478" r:id="rId186"/>
    <p:sldId id="857" r:id="rId187"/>
    <p:sldId id="856" r:id="rId188"/>
    <p:sldId id="858" r:id="rId189"/>
    <p:sldId id="482" r:id="rId190"/>
    <p:sldId id="483" r:id="rId191"/>
    <p:sldId id="484" r:id="rId192"/>
    <p:sldId id="485" r:id="rId193"/>
    <p:sldId id="486" r:id="rId194"/>
    <p:sldId id="487" r:id="rId195"/>
    <p:sldId id="859" r:id="rId196"/>
    <p:sldId id="860" r:id="rId197"/>
    <p:sldId id="861" r:id="rId198"/>
    <p:sldId id="491" r:id="rId199"/>
    <p:sldId id="492" r:id="rId200"/>
    <p:sldId id="493" r:id="rId201"/>
    <p:sldId id="862" r:id="rId202"/>
    <p:sldId id="863" r:id="rId203"/>
    <p:sldId id="864" r:id="rId204"/>
    <p:sldId id="496" r:id="rId205"/>
    <p:sldId id="497" r:id="rId206"/>
    <p:sldId id="498" r:id="rId207"/>
    <p:sldId id="499" r:id="rId208"/>
    <p:sldId id="865" r:id="rId209"/>
    <p:sldId id="866" r:id="rId210"/>
    <p:sldId id="867" r:id="rId211"/>
    <p:sldId id="502" r:id="rId212"/>
    <p:sldId id="503" r:id="rId213"/>
    <p:sldId id="504" r:id="rId214"/>
    <p:sldId id="505" r:id="rId215"/>
    <p:sldId id="506" r:id="rId216"/>
    <p:sldId id="507" r:id="rId217"/>
    <p:sldId id="868" r:id="rId218"/>
    <p:sldId id="869" r:id="rId219"/>
    <p:sldId id="870" r:id="rId220"/>
    <p:sldId id="511" r:id="rId221"/>
    <p:sldId id="512" r:id="rId222"/>
    <p:sldId id="513" r:id="rId223"/>
    <p:sldId id="514" r:id="rId224"/>
    <p:sldId id="871" r:id="rId225"/>
    <p:sldId id="872" r:id="rId226"/>
    <p:sldId id="873" r:id="rId227"/>
    <p:sldId id="517" r:id="rId228"/>
    <p:sldId id="518" r:id="rId229"/>
    <p:sldId id="519" r:id="rId230"/>
    <p:sldId id="520" r:id="rId231"/>
    <p:sldId id="521" r:id="rId232"/>
    <p:sldId id="874" r:id="rId233"/>
    <p:sldId id="875" r:id="rId234"/>
    <p:sldId id="876" r:id="rId235"/>
    <p:sldId id="525" r:id="rId236"/>
    <p:sldId id="526" r:id="rId237"/>
    <p:sldId id="527" r:id="rId238"/>
    <p:sldId id="528" r:id="rId239"/>
    <p:sldId id="529" r:id="rId240"/>
    <p:sldId id="530" r:id="rId241"/>
    <p:sldId id="531" r:id="rId242"/>
    <p:sldId id="532" r:id="rId243"/>
    <p:sldId id="877" r:id="rId244"/>
    <p:sldId id="878" r:id="rId245"/>
    <p:sldId id="879" r:id="rId246"/>
    <p:sldId id="880" r:id="rId247"/>
    <p:sldId id="536" r:id="rId248"/>
    <p:sldId id="537" r:id="rId249"/>
    <p:sldId id="538" r:id="rId250"/>
    <p:sldId id="539" r:id="rId251"/>
    <p:sldId id="540" r:id="rId252"/>
    <p:sldId id="541" r:id="rId253"/>
    <p:sldId id="542" r:id="rId254"/>
    <p:sldId id="543" r:id="rId255"/>
    <p:sldId id="881" r:id="rId256"/>
    <p:sldId id="882" r:id="rId257"/>
    <p:sldId id="883" r:id="rId258"/>
    <p:sldId id="884" r:id="rId259"/>
    <p:sldId id="547" r:id="rId260"/>
    <p:sldId id="885" r:id="rId261"/>
    <p:sldId id="549" r:id="rId262"/>
    <p:sldId id="886" r:id="rId263"/>
    <p:sldId id="551" r:id="rId264"/>
    <p:sldId id="552" r:id="rId265"/>
    <p:sldId id="553" r:id="rId266"/>
    <p:sldId id="887" r:id="rId267"/>
    <p:sldId id="888" r:id="rId268"/>
    <p:sldId id="889" r:id="rId269"/>
    <p:sldId id="890" r:id="rId270"/>
    <p:sldId id="557" r:id="rId271"/>
    <p:sldId id="558" r:id="rId272"/>
    <p:sldId id="891" r:id="rId273"/>
    <p:sldId id="892" r:id="rId274"/>
    <p:sldId id="893" r:id="rId275"/>
    <p:sldId id="561" r:id="rId276"/>
    <p:sldId id="562" r:id="rId277"/>
    <p:sldId id="563" r:id="rId278"/>
    <p:sldId id="564" r:id="rId279"/>
    <p:sldId id="894" r:id="rId280"/>
    <p:sldId id="895" r:id="rId281"/>
    <p:sldId id="896" r:id="rId282"/>
    <p:sldId id="897" r:id="rId283"/>
    <p:sldId id="569" r:id="rId284"/>
    <p:sldId id="898" r:id="rId285"/>
    <p:sldId id="629" r:id="rId286"/>
    <p:sldId id="959" r:id="rId287"/>
    <p:sldId id="630" r:id="rId288"/>
    <p:sldId id="960" r:id="rId289"/>
    <p:sldId id="632" r:id="rId290"/>
    <p:sldId id="633" r:id="rId291"/>
    <p:sldId id="636" r:id="rId292"/>
    <p:sldId id="635" r:id="rId293"/>
    <p:sldId id="899" r:id="rId294"/>
    <p:sldId id="900" r:id="rId295"/>
    <p:sldId id="901" r:id="rId296"/>
    <p:sldId id="902" r:id="rId297"/>
    <p:sldId id="641" r:id="rId298"/>
    <p:sldId id="903" r:id="rId299"/>
    <p:sldId id="643" r:id="rId300"/>
    <p:sldId id="904" r:id="rId301"/>
    <p:sldId id="645" r:id="rId302"/>
    <p:sldId id="651" r:id="rId303"/>
    <p:sldId id="646" r:id="rId304"/>
    <p:sldId id="648" r:id="rId305"/>
    <p:sldId id="647" r:id="rId306"/>
    <p:sldId id="905" r:id="rId307"/>
    <p:sldId id="906" r:id="rId308"/>
    <p:sldId id="652" r:id="rId309"/>
    <p:sldId id="655" r:id="rId310"/>
    <p:sldId id="907" r:id="rId311"/>
    <p:sldId id="908" r:id="rId312"/>
    <p:sldId id="656" r:id="rId313"/>
    <p:sldId id="657" r:id="rId314"/>
    <p:sldId id="658" r:id="rId315"/>
    <p:sldId id="659" r:id="rId316"/>
    <p:sldId id="909" r:id="rId317"/>
    <p:sldId id="910" r:id="rId318"/>
    <p:sldId id="911" r:id="rId319"/>
    <p:sldId id="912" r:id="rId320"/>
    <p:sldId id="664" r:id="rId321"/>
    <p:sldId id="665" r:id="rId322"/>
    <p:sldId id="666" r:id="rId323"/>
    <p:sldId id="667" r:id="rId324"/>
    <p:sldId id="668" r:id="rId325"/>
    <p:sldId id="961" r:id="rId326"/>
    <p:sldId id="671" r:id="rId327"/>
    <p:sldId id="669" r:id="rId328"/>
    <p:sldId id="962" r:id="rId329"/>
    <p:sldId id="963" r:id="rId330"/>
    <p:sldId id="677" r:id="rId331"/>
    <p:sldId id="678" r:id="rId332"/>
    <p:sldId id="679" r:id="rId333"/>
    <p:sldId id="680" r:id="rId334"/>
    <p:sldId id="682" r:id="rId335"/>
    <p:sldId id="683" r:id="rId336"/>
    <p:sldId id="687" r:id="rId337"/>
    <p:sldId id="686" r:id="rId338"/>
    <p:sldId id="688" r:id="rId339"/>
    <p:sldId id="689" r:id="rId340"/>
    <p:sldId id="690" r:id="rId341"/>
    <p:sldId id="913" r:id="rId342"/>
    <p:sldId id="692" r:id="rId343"/>
    <p:sldId id="914" r:id="rId344"/>
    <p:sldId id="693" r:id="rId345"/>
    <p:sldId id="698" r:id="rId346"/>
    <p:sldId id="694" r:id="rId347"/>
    <p:sldId id="696" r:id="rId348"/>
    <p:sldId id="697" r:id="rId349"/>
    <p:sldId id="699" r:id="rId350"/>
    <p:sldId id="700" r:id="rId351"/>
    <p:sldId id="701" r:id="rId352"/>
    <p:sldId id="702" r:id="rId353"/>
    <p:sldId id="703" r:id="rId354"/>
    <p:sldId id="704" r:id="rId355"/>
    <p:sldId id="705" r:id="rId356"/>
    <p:sldId id="706" r:id="rId357"/>
    <p:sldId id="915" r:id="rId358"/>
    <p:sldId id="708" r:id="rId359"/>
    <p:sldId id="709" r:id="rId360"/>
    <p:sldId id="916" r:id="rId361"/>
    <p:sldId id="711" r:id="rId362"/>
    <p:sldId id="712" r:id="rId363"/>
    <p:sldId id="713" r:id="rId364"/>
    <p:sldId id="714" r:id="rId365"/>
    <p:sldId id="715" r:id="rId366"/>
    <p:sldId id="716" r:id="rId367"/>
    <p:sldId id="717" r:id="rId368"/>
    <p:sldId id="718" r:id="rId369"/>
    <p:sldId id="719" r:id="rId370"/>
    <p:sldId id="720" r:id="rId371"/>
    <p:sldId id="721" r:id="rId372"/>
    <p:sldId id="722" r:id="rId373"/>
    <p:sldId id="723" r:id="rId374"/>
    <p:sldId id="724" r:id="rId375"/>
    <p:sldId id="725" r:id="rId376"/>
    <p:sldId id="729" r:id="rId377"/>
    <p:sldId id="726" r:id="rId378"/>
    <p:sldId id="727" r:id="rId379"/>
    <p:sldId id="728" r:id="rId380"/>
    <p:sldId id="730" r:id="rId381"/>
    <p:sldId id="731" r:id="rId382"/>
    <p:sldId id="732" r:id="rId383"/>
    <p:sldId id="733" r:id="rId384"/>
    <p:sldId id="734" r:id="rId385"/>
    <p:sldId id="735" r:id="rId386"/>
    <p:sldId id="740" r:id="rId387"/>
    <p:sldId id="741" r:id="rId388"/>
    <p:sldId id="742" r:id="rId389"/>
    <p:sldId id="743" r:id="rId390"/>
    <p:sldId id="736" r:id="rId391"/>
    <p:sldId id="737" r:id="rId392"/>
    <p:sldId id="738" r:id="rId393"/>
    <p:sldId id="739" r:id="rId394"/>
    <p:sldId id="744" r:id="rId395"/>
    <p:sldId id="917" r:id="rId396"/>
    <p:sldId id="918" r:id="rId397"/>
    <p:sldId id="673" r:id="rId398"/>
    <p:sldId id="676" r:id="rId399"/>
    <p:sldId id="674" r:id="rId400"/>
    <p:sldId id="964" r:id="rId401"/>
    <p:sldId id="965" r:id="rId402"/>
    <p:sldId id="748" r:id="rId403"/>
    <p:sldId id="749" r:id="rId404"/>
    <p:sldId id="750" r:id="rId405"/>
    <p:sldId id="751" r:id="rId406"/>
    <p:sldId id="752" r:id="rId407"/>
    <p:sldId id="753" r:id="rId408"/>
    <p:sldId id="919" r:id="rId409"/>
    <p:sldId id="754" r:id="rId410"/>
    <p:sldId id="920" r:id="rId411"/>
    <p:sldId id="756" r:id="rId412"/>
    <p:sldId id="757" r:id="rId413"/>
    <p:sldId id="758" r:id="rId414"/>
    <p:sldId id="759" r:id="rId415"/>
    <p:sldId id="760" r:id="rId416"/>
    <p:sldId id="761" r:id="rId417"/>
    <p:sldId id="921" r:id="rId418"/>
    <p:sldId id="922" r:id="rId419"/>
    <p:sldId id="764" r:id="rId420"/>
    <p:sldId id="767" r:id="rId421"/>
    <p:sldId id="768" r:id="rId422"/>
    <p:sldId id="765" r:id="rId423"/>
    <p:sldId id="766" r:id="rId424"/>
    <p:sldId id="769" r:id="rId425"/>
    <p:sldId id="924" r:id="rId426"/>
    <p:sldId id="923" r:id="rId427"/>
    <p:sldId id="771" r:id="rId428"/>
    <p:sldId id="935" r:id="rId429"/>
    <p:sldId id="773" r:id="rId430"/>
    <p:sldId id="774" r:id="rId431"/>
    <p:sldId id="775" r:id="rId432"/>
    <p:sldId id="776" r:id="rId433"/>
    <p:sldId id="777" r:id="rId434"/>
    <p:sldId id="926" r:id="rId435"/>
    <p:sldId id="933" r:id="rId436"/>
    <p:sldId id="780" r:id="rId437"/>
    <p:sldId id="936" r:id="rId438"/>
    <p:sldId id="782" r:id="rId439"/>
    <p:sldId id="783" r:id="rId440"/>
    <p:sldId id="928" r:id="rId441"/>
    <p:sldId id="785" r:id="rId442"/>
    <p:sldId id="786" r:id="rId443"/>
    <p:sldId id="787" r:id="rId444"/>
    <p:sldId id="929" r:id="rId445"/>
    <p:sldId id="938" r:id="rId446"/>
    <p:sldId id="937" r:id="rId447"/>
  </p:sldIdLst>
  <p:sldSz cx="9906000" cy="6858000" type="A4"/>
  <p:notesSz cx="6797675" cy="9926638"/>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E17E9566-FE8C-4BF9-8A43-99A4B4FC8091}">
          <p14:sldIdLst>
            <p14:sldId id="256"/>
            <p14:sldId id="627"/>
            <p14:sldId id="356"/>
            <p14:sldId id="260"/>
            <p14:sldId id="571"/>
          </p14:sldIdLst>
        </p14:section>
        <p14:section name="0. 메인" id="{55BBFC28-8799-4CF9-B657-B280BF4D26FE}">
          <p14:sldIdLst>
            <p14:sldId id="939"/>
            <p14:sldId id="622"/>
            <p14:sldId id="624"/>
            <p14:sldId id="625"/>
          </p14:sldIdLst>
        </p14:section>
        <p14:section name="1.입찰공고 목록조회" id="{A88D8C4A-42D5-488C-851B-9A15CEB54A60}">
          <p14:sldIdLst>
            <p14:sldId id="940"/>
            <p14:sldId id="291"/>
            <p14:sldId id="941"/>
            <p14:sldId id="273"/>
            <p14:sldId id="292"/>
            <p14:sldId id="298"/>
            <p14:sldId id="299"/>
            <p14:sldId id="300"/>
            <p14:sldId id="301"/>
            <p14:sldId id="297"/>
            <p14:sldId id="791"/>
            <p14:sldId id="792"/>
            <p14:sldId id="793"/>
          </p14:sldIdLst>
        </p14:section>
        <p14:section name="2.입찰공고상세조회" id="{019FD015-75A8-4452-8691-168FACA46FB5}">
          <p14:sldIdLst>
            <p14:sldId id="942"/>
            <p14:sldId id="307"/>
            <p14:sldId id="943"/>
            <p14:sldId id="306"/>
            <p14:sldId id="314"/>
            <p14:sldId id="315"/>
            <p14:sldId id="794"/>
            <p14:sldId id="795"/>
            <p14:sldId id="796"/>
            <p14:sldId id="323"/>
            <p14:sldId id="329"/>
            <p14:sldId id="797"/>
            <p14:sldId id="798"/>
            <p14:sldId id="328"/>
            <p14:sldId id="324"/>
            <p14:sldId id="799"/>
            <p14:sldId id="800"/>
            <p14:sldId id="801"/>
            <p14:sldId id="802"/>
            <p14:sldId id="332"/>
            <p14:sldId id="804"/>
            <p14:sldId id="335"/>
            <p14:sldId id="805"/>
            <p14:sldId id="337"/>
            <p14:sldId id="803"/>
          </p14:sldIdLst>
        </p14:section>
        <p14:section name="3.입찰공고 상세 기능 안내" id="{EC2577BA-5ADA-4D2C-A338-F65E0039895B}">
          <p14:sldIdLst>
            <p14:sldId id="944"/>
            <p14:sldId id="293"/>
            <p14:sldId id="945"/>
            <p14:sldId id="319"/>
          </p14:sldIdLst>
        </p14:section>
        <p14:section name="4.플로팅 버튼, 환율 정보 조회" id="{A5AF1C76-9E96-4A4A-9A7D-214FEC1DF1CE}">
          <p14:sldIdLst>
            <p14:sldId id="313"/>
            <p14:sldId id="310"/>
            <p14:sldId id="946"/>
            <p14:sldId id="339"/>
            <p14:sldId id="340"/>
            <p14:sldId id="934"/>
          </p14:sldIdLst>
        </p14:section>
        <p14:section name="5.입찰진행 목록 및 신청서 작성" id="{72142622-FA4E-4D90-95BC-6816075B9BE0}">
          <p14:sldIdLst>
            <p14:sldId id="947"/>
            <p14:sldId id="949"/>
            <p14:sldId id="948"/>
            <p14:sldId id="950"/>
            <p14:sldId id="342"/>
            <p14:sldId id="951"/>
            <p14:sldId id="952"/>
            <p14:sldId id="369"/>
            <p14:sldId id="370"/>
            <p14:sldId id="806"/>
            <p14:sldId id="807"/>
            <p14:sldId id="354"/>
            <p14:sldId id="808"/>
            <p14:sldId id="371"/>
            <p14:sldId id="809"/>
            <p14:sldId id="403"/>
            <p14:sldId id="407"/>
            <p14:sldId id="810"/>
            <p14:sldId id="811"/>
            <p14:sldId id="812"/>
            <p14:sldId id="406"/>
            <p14:sldId id="813"/>
            <p14:sldId id="814"/>
            <p14:sldId id="815"/>
            <p14:sldId id="379"/>
            <p14:sldId id="816"/>
            <p14:sldId id="376"/>
            <p14:sldId id="817"/>
            <p14:sldId id="818"/>
            <p14:sldId id="374"/>
            <p14:sldId id="932"/>
            <p14:sldId id="400"/>
            <p14:sldId id="819"/>
            <p14:sldId id="820"/>
            <p14:sldId id="362"/>
            <p14:sldId id="353"/>
            <p14:sldId id="351"/>
            <p14:sldId id="352"/>
            <p14:sldId id="821"/>
            <p14:sldId id="363"/>
            <p14:sldId id="366"/>
            <p14:sldId id="367"/>
            <p14:sldId id="381"/>
            <p14:sldId id="382"/>
            <p14:sldId id="355"/>
            <p14:sldId id="822"/>
            <p14:sldId id="383"/>
            <p14:sldId id="384"/>
            <p14:sldId id="385"/>
            <p14:sldId id="628"/>
            <p14:sldId id="386"/>
            <p14:sldId id="387"/>
            <p14:sldId id="388"/>
            <p14:sldId id="389"/>
            <p14:sldId id="390"/>
            <p14:sldId id="391"/>
            <p14:sldId id="392"/>
            <p14:sldId id="823"/>
            <p14:sldId id="824"/>
            <p14:sldId id="825"/>
            <p14:sldId id="826"/>
            <p14:sldId id="827"/>
            <p14:sldId id="828"/>
            <p14:sldId id="416"/>
            <p14:sldId id="411"/>
            <p14:sldId id="417"/>
            <p14:sldId id="412"/>
            <p14:sldId id="413"/>
            <p14:sldId id="418"/>
            <p14:sldId id="414"/>
            <p14:sldId id="830"/>
            <p14:sldId id="831"/>
            <p14:sldId id="833"/>
            <p14:sldId id="832"/>
            <p14:sldId id="620"/>
            <p14:sldId id="621"/>
          </p14:sldIdLst>
        </p14:section>
        <p14:section name="6.개찰목록 및 이행/적격심사" id="{B55A82DD-BF82-48E6-9A16-642B371930CB}">
          <p14:sldIdLst>
            <p14:sldId id="430"/>
            <p14:sldId id="431"/>
            <p14:sldId id="953"/>
            <p14:sldId id="432"/>
            <p14:sldId id="954"/>
            <p14:sldId id="955"/>
            <p14:sldId id="956"/>
            <p14:sldId id="957"/>
            <p14:sldId id="958"/>
            <p14:sldId id="438"/>
            <p14:sldId id="439"/>
            <p14:sldId id="834"/>
            <p14:sldId id="835"/>
            <p14:sldId id="836"/>
            <p14:sldId id="837"/>
            <p14:sldId id="838"/>
            <p14:sldId id="444"/>
            <p14:sldId id="445"/>
            <p14:sldId id="446"/>
            <p14:sldId id="447"/>
            <p14:sldId id="448"/>
            <p14:sldId id="449"/>
            <p14:sldId id="840"/>
            <p14:sldId id="841"/>
            <p14:sldId id="842"/>
            <p14:sldId id="843"/>
            <p14:sldId id="844"/>
            <p14:sldId id="845"/>
            <p14:sldId id="456"/>
            <p14:sldId id="457"/>
            <p14:sldId id="458"/>
            <p14:sldId id="459"/>
            <p14:sldId id="847"/>
            <p14:sldId id="848"/>
            <p14:sldId id="849"/>
            <p14:sldId id="463"/>
            <p14:sldId id="850"/>
            <p14:sldId id="465"/>
            <p14:sldId id="851"/>
            <p14:sldId id="467"/>
            <p14:sldId id="468"/>
            <p14:sldId id="469"/>
            <p14:sldId id="470"/>
            <p14:sldId id="852"/>
            <p14:sldId id="853"/>
            <p14:sldId id="854"/>
            <p14:sldId id="855"/>
            <p14:sldId id="474"/>
            <p14:sldId id="475"/>
            <p14:sldId id="476"/>
            <p14:sldId id="477"/>
            <p14:sldId id="478"/>
            <p14:sldId id="857"/>
            <p14:sldId id="856"/>
            <p14:sldId id="858"/>
            <p14:sldId id="482"/>
            <p14:sldId id="483"/>
            <p14:sldId id="484"/>
            <p14:sldId id="485"/>
            <p14:sldId id="486"/>
            <p14:sldId id="487"/>
            <p14:sldId id="859"/>
            <p14:sldId id="860"/>
            <p14:sldId id="861"/>
            <p14:sldId id="491"/>
            <p14:sldId id="492"/>
            <p14:sldId id="493"/>
            <p14:sldId id="862"/>
            <p14:sldId id="863"/>
            <p14:sldId id="864"/>
            <p14:sldId id="496"/>
            <p14:sldId id="497"/>
            <p14:sldId id="498"/>
            <p14:sldId id="499"/>
            <p14:sldId id="865"/>
            <p14:sldId id="866"/>
            <p14:sldId id="867"/>
            <p14:sldId id="502"/>
            <p14:sldId id="503"/>
            <p14:sldId id="504"/>
            <p14:sldId id="505"/>
            <p14:sldId id="506"/>
            <p14:sldId id="507"/>
            <p14:sldId id="868"/>
            <p14:sldId id="869"/>
            <p14:sldId id="870"/>
            <p14:sldId id="511"/>
            <p14:sldId id="512"/>
            <p14:sldId id="513"/>
            <p14:sldId id="514"/>
            <p14:sldId id="871"/>
            <p14:sldId id="872"/>
            <p14:sldId id="873"/>
            <p14:sldId id="517"/>
            <p14:sldId id="518"/>
            <p14:sldId id="519"/>
            <p14:sldId id="520"/>
            <p14:sldId id="521"/>
            <p14:sldId id="874"/>
            <p14:sldId id="875"/>
            <p14:sldId id="876"/>
            <p14:sldId id="525"/>
            <p14:sldId id="526"/>
            <p14:sldId id="527"/>
            <p14:sldId id="528"/>
            <p14:sldId id="529"/>
            <p14:sldId id="530"/>
            <p14:sldId id="531"/>
            <p14:sldId id="532"/>
            <p14:sldId id="877"/>
            <p14:sldId id="878"/>
            <p14:sldId id="879"/>
            <p14:sldId id="880"/>
            <p14:sldId id="536"/>
            <p14:sldId id="537"/>
            <p14:sldId id="538"/>
            <p14:sldId id="539"/>
            <p14:sldId id="540"/>
            <p14:sldId id="541"/>
            <p14:sldId id="542"/>
            <p14:sldId id="543"/>
            <p14:sldId id="881"/>
            <p14:sldId id="882"/>
            <p14:sldId id="883"/>
            <p14:sldId id="884"/>
            <p14:sldId id="547"/>
            <p14:sldId id="885"/>
            <p14:sldId id="549"/>
            <p14:sldId id="886"/>
            <p14:sldId id="551"/>
            <p14:sldId id="552"/>
            <p14:sldId id="553"/>
            <p14:sldId id="887"/>
            <p14:sldId id="888"/>
            <p14:sldId id="889"/>
            <p14:sldId id="890"/>
            <p14:sldId id="557"/>
            <p14:sldId id="558"/>
            <p14:sldId id="891"/>
            <p14:sldId id="892"/>
            <p14:sldId id="893"/>
            <p14:sldId id="561"/>
            <p14:sldId id="562"/>
            <p14:sldId id="563"/>
            <p14:sldId id="564"/>
            <p14:sldId id="894"/>
            <p14:sldId id="895"/>
            <p14:sldId id="896"/>
            <p14:sldId id="897"/>
            <p14:sldId id="569"/>
            <p14:sldId id="898"/>
          </p14:sldIdLst>
        </p14:section>
        <p14:section name="[국외] 입찰공고" id="{65A9D0DA-6746-46CD-8543-32D071B186A6}">
          <p14:sldIdLst>
            <p14:sldId id="629"/>
            <p14:sldId id="959"/>
            <p14:sldId id="630"/>
            <p14:sldId id="960"/>
            <p14:sldId id="632"/>
            <p14:sldId id="633"/>
            <p14:sldId id="636"/>
            <p14:sldId id="635"/>
            <p14:sldId id="899"/>
            <p14:sldId id="900"/>
            <p14:sldId id="901"/>
            <p14:sldId id="902"/>
            <p14:sldId id="641"/>
            <p14:sldId id="903"/>
            <p14:sldId id="643"/>
            <p14:sldId id="904"/>
            <p14:sldId id="645"/>
            <p14:sldId id="651"/>
            <p14:sldId id="646"/>
            <p14:sldId id="648"/>
            <p14:sldId id="647"/>
            <p14:sldId id="905"/>
            <p14:sldId id="906"/>
            <p14:sldId id="652"/>
            <p14:sldId id="655"/>
            <p14:sldId id="907"/>
            <p14:sldId id="908"/>
            <p14:sldId id="656"/>
            <p14:sldId id="657"/>
            <p14:sldId id="658"/>
            <p14:sldId id="659"/>
            <p14:sldId id="909"/>
            <p14:sldId id="910"/>
            <p14:sldId id="911"/>
            <p14:sldId id="912"/>
            <p14:sldId id="664"/>
            <p14:sldId id="665"/>
            <p14:sldId id="666"/>
            <p14:sldId id="667"/>
          </p14:sldIdLst>
        </p14:section>
        <p14:section name="[국외] 입찰진행" id="{8F8B0E34-4114-4555-BC11-FA6CE5A64ADD}">
          <p14:sldIdLst>
            <p14:sldId id="668"/>
            <p14:sldId id="961"/>
            <p14:sldId id="671"/>
            <p14:sldId id="669"/>
            <p14:sldId id="962"/>
            <p14:sldId id="963"/>
            <p14:sldId id="677"/>
            <p14:sldId id="678"/>
            <p14:sldId id="679"/>
            <p14:sldId id="680"/>
            <p14:sldId id="682"/>
            <p14:sldId id="683"/>
            <p14:sldId id="687"/>
            <p14:sldId id="686"/>
            <p14:sldId id="688"/>
            <p14:sldId id="689"/>
            <p14:sldId id="690"/>
            <p14:sldId id="913"/>
            <p14:sldId id="692"/>
            <p14:sldId id="914"/>
            <p14:sldId id="693"/>
            <p14:sldId id="698"/>
            <p14:sldId id="694"/>
            <p14:sldId id="696"/>
            <p14:sldId id="697"/>
            <p14:sldId id="699"/>
            <p14:sldId id="700"/>
            <p14:sldId id="701"/>
            <p14:sldId id="702"/>
            <p14:sldId id="703"/>
            <p14:sldId id="704"/>
            <p14:sldId id="705"/>
            <p14:sldId id="706"/>
            <p14:sldId id="915"/>
            <p14:sldId id="708"/>
            <p14:sldId id="709"/>
            <p14:sldId id="916"/>
            <p14:sldId id="711"/>
            <p14:sldId id="712"/>
            <p14:sldId id="713"/>
            <p14:sldId id="714"/>
            <p14:sldId id="715"/>
            <p14:sldId id="716"/>
            <p14:sldId id="717"/>
            <p14:sldId id="718"/>
            <p14:sldId id="719"/>
            <p14:sldId id="720"/>
            <p14:sldId id="721"/>
            <p14:sldId id="722"/>
            <p14:sldId id="723"/>
            <p14:sldId id="724"/>
            <p14:sldId id="725"/>
            <p14:sldId id="729"/>
            <p14:sldId id="726"/>
            <p14:sldId id="727"/>
            <p14:sldId id="728"/>
            <p14:sldId id="730"/>
            <p14:sldId id="731"/>
            <p14:sldId id="732"/>
            <p14:sldId id="733"/>
            <p14:sldId id="734"/>
            <p14:sldId id="735"/>
            <p14:sldId id="740"/>
            <p14:sldId id="741"/>
            <p14:sldId id="742"/>
            <p14:sldId id="743"/>
            <p14:sldId id="736"/>
            <p14:sldId id="737"/>
            <p14:sldId id="738"/>
            <p14:sldId id="739"/>
            <p14:sldId id="744"/>
            <p14:sldId id="917"/>
            <p14:sldId id="918"/>
          </p14:sldIdLst>
        </p14:section>
        <p14:section name="[국외] 개찰" id="{8BF51E7C-1E7A-41BF-BAD4-6362867269E7}">
          <p14:sldIdLst>
            <p14:sldId id="673"/>
            <p14:sldId id="676"/>
            <p14:sldId id="674"/>
            <p14:sldId id="964"/>
            <p14:sldId id="965"/>
            <p14:sldId id="748"/>
            <p14:sldId id="749"/>
            <p14:sldId id="750"/>
            <p14:sldId id="751"/>
            <p14:sldId id="752"/>
            <p14:sldId id="753"/>
            <p14:sldId id="919"/>
            <p14:sldId id="754"/>
            <p14:sldId id="920"/>
            <p14:sldId id="756"/>
            <p14:sldId id="757"/>
            <p14:sldId id="758"/>
            <p14:sldId id="759"/>
            <p14:sldId id="760"/>
            <p14:sldId id="761"/>
            <p14:sldId id="921"/>
            <p14:sldId id="922"/>
            <p14:sldId id="764"/>
            <p14:sldId id="767"/>
            <p14:sldId id="768"/>
            <p14:sldId id="765"/>
            <p14:sldId id="766"/>
            <p14:sldId id="769"/>
            <p14:sldId id="924"/>
            <p14:sldId id="923"/>
            <p14:sldId id="771"/>
            <p14:sldId id="935"/>
            <p14:sldId id="773"/>
            <p14:sldId id="774"/>
            <p14:sldId id="775"/>
            <p14:sldId id="776"/>
            <p14:sldId id="777"/>
            <p14:sldId id="926"/>
            <p14:sldId id="933"/>
            <p14:sldId id="780"/>
            <p14:sldId id="936"/>
            <p14:sldId id="782"/>
            <p14:sldId id="783"/>
            <p14:sldId id="928"/>
            <p14:sldId id="785"/>
            <p14:sldId id="786"/>
            <p14:sldId id="787"/>
            <p14:sldId id="929"/>
            <p14:sldId id="938"/>
            <p14:sldId id="937"/>
          </p14:sldIdLst>
        </p14:section>
      </p14:sectionLst>
    </p:ext>
    <p:ext uri="{EFAFB233-063F-42B5-8137-9DF3F51BA10A}">
      <p15:sldGuideLst xmlns:p15="http://schemas.microsoft.com/office/powerpoint/2012/main">
        <p15:guide id="1" orient="horz" pos="2160" userDrawn="1">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BFBFBF"/>
    <a:srgbClr val="0D0D0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밝은 스타일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467" autoAdjust="0"/>
    <p:restoredTop sz="94660"/>
  </p:normalViewPr>
  <p:slideViewPr>
    <p:cSldViewPr snapToGrid="0">
      <p:cViewPr varScale="1">
        <p:scale>
          <a:sx n="110" d="100"/>
          <a:sy n="110" d="100"/>
        </p:scale>
        <p:origin x="1470" y="102"/>
      </p:cViewPr>
      <p:guideLst>
        <p:guide orient="horz" pos="2160"/>
        <p:guide pos="3120"/>
      </p:guideLst>
    </p:cSldViewPr>
  </p:slideViewPr>
  <p:notesTextViewPr>
    <p:cViewPr>
      <p:scale>
        <a:sx n="3" d="2"/>
        <a:sy n="3" d="2"/>
      </p:scale>
      <p:origin x="0" y="0"/>
    </p:cViewPr>
  </p:notesTextViewPr>
  <p:notesViewPr>
    <p:cSldViewPr snapToGrid="0">
      <p:cViewPr varScale="1">
        <p:scale>
          <a:sx n="81" d="100"/>
          <a:sy n="81" d="100"/>
        </p:scale>
        <p:origin x="3996" y="84"/>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slide" Target="slides/slide443.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notesMaster" Target="notesMasters/notesMaster1.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presProps" Target="presProps.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420" Type="http://schemas.openxmlformats.org/officeDocument/2006/relationships/slide" Target="slides/slide419.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41" Type="http://schemas.openxmlformats.org/officeDocument/2006/relationships/slide" Target="slides/slide440.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364" Type="http://schemas.openxmlformats.org/officeDocument/2006/relationships/slide" Target="slides/slide363.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385" Type="http://schemas.openxmlformats.org/officeDocument/2006/relationships/slide" Target="slides/slide384.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410" Type="http://schemas.openxmlformats.org/officeDocument/2006/relationships/slide" Target="slides/slide409.xml"/><Relationship Id="rId431" Type="http://schemas.openxmlformats.org/officeDocument/2006/relationships/slide" Target="slides/slide430.xml"/><Relationship Id="rId452"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slide" Target="slides/slide353.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75" Type="http://schemas.openxmlformats.org/officeDocument/2006/relationships/slide" Target="slides/slide374.xml"/><Relationship Id="rId396" Type="http://schemas.openxmlformats.org/officeDocument/2006/relationships/slide" Target="slides/slide395.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400" Type="http://schemas.openxmlformats.org/officeDocument/2006/relationships/slide" Target="slides/slide399.xml"/><Relationship Id="rId421" Type="http://schemas.openxmlformats.org/officeDocument/2006/relationships/slide" Target="slides/slide420.xml"/><Relationship Id="rId442" Type="http://schemas.openxmlformats.org/officeDocument/2006/relationships/slide" Target="slides/slide44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365" Type="http://schemas.openxmlformats.org/officeDocument/2006/relationships/slide" Target="slides/slide364.xml"/><Relationship Id="rId386" Type="http://schemas.openxmlformats.org/officeDocument/2006/relationships/slide" Target="slides/slide385.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slide" Target="slides/slide442.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handoutMaster" Target="handoutMasters/handoutMaster1.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6400" cy="4968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sz="quarter" idx="1"/>
          </p:nvPr>
        </p:nvSpPr>
        <p:spPr>
          <a:xfrm>
            <a:off x="3849688" y="0"/>
            <a:ext cx="2946400" cy="496888"/>
          </a:xfrm>
          <a:prstGeom prst="rect">
            <a:avLst/>
          </a:prstGeom>
        </p:spPr>
        <p:txBody>
          <a:bodyPr vert="horz" lIns="91440" tIns="45720" rIns="91440" bIns="45720" rtlCol="0"/>
          <a:lstStyle>
            <a:lvl1pPr algn="r">
              <a:defRPr sz="1200"/>
            </a:lvl1pPr>
          </a:lstStyle>
          <a:p>
            <a:fld id="{8F486772-663E-498C-98A4-55676C0C79D5}" type="datetimeFigureOut">
              <a:rPr lang="ko-KR" altLang="en-US" smtClean="0"/>
              <a:t>2026-06-29 (Monday)</a:t>
            </a:fld>
            <a:endParaRPr lang="ko-KR" altLang="en-US"/>
          </a:p>
        </p:txBody>
      </p:sp>
      <p:sp>
        <p:nvSpPr>
          <p:cNvPr id="4" name="바닥글 개체 틀 3"/>
          <p:cNvSpPr>
            <a:spLocks noGrp="1"/>
          </p:cNvSpPr>
          <p:nvPr>
            <p:ph type="ftr" sz="quarter" idx="2"/>
          </p:nvPr>
        </p:nvSpPr>
        <p:spPr>
          <a:xfrm>
            <a:off x="0" y="9429750"/>
            <a:ext cx="2946400" cy="496888"/>
          </a:xfrm>
          <a:prstGeom prst="rect">
            <a:avLst/>
          </a:prstGeom>
        </p:spPr>
        <p:txBody>
          <a:bodyPr vert="horz" lIns="91440" tIns="45720" rIns="91440" bIns="45720" rtlCol="0" anchor="b"/>
          <a:lstStyle>
            <a:lvl1pPr algn="l">
              <a:defRPr sz="1200"/>
            </a:lvl1pPr>
          </a:lstStyle>
          <a:p>
            <a:endParaRPr lang="ko-KR" altLang="en-US"/>
          </a:p>
        </p:txBody>
      </p:sp>
      <p:sp>
        <p:nvSpPr>
          <p:cNvPr id="5" name="슬라이드 번호 개체 틀 4"/>
          <p:cNvSpPr>
            <a:spLocks noGrp="1"/>
          </p:cNvSpPr>
          <p:nvPr>
            <p:ph type="sldNum" sz="quarter" idx="3"/>
          </p:nvPr>
        </p:nvSpPr>
        <p:spPr>
          <a:xfrm>
            <a:off x="3849688" y="9429750"/>
            <a:ext cx="2946400" cy="496888"/>
          </a:xfrm>
          <a:prstGeom prst="rect">
            <a:avLst/>
          </a:prstGeom>
        </p:spPr>
        <p:txBody>
          <a:bodyPr vert="horz" lIns="91440" tIns="45720" rIns="91440" bIns="45720" rtlCol="0" anchor="b"/>
          <a:lstStyle>
            <a:lvl1pPr algn="r">
              <a:defRPr sz="1200"/>
            </a:lvl1pPr>
          </a:lstStyle>
          <a:p>
            <a:fld id="{BA728BB6-27BE-4996-B82F-8E6CE98335C9}" type="slidenum">
              <a:rPr lang="ko-KR" altLang="en-US" smtClean="0"/>
              <a:t>‹#›</a:t>
            </a:fld>
            <a:endParaRPr lang="ko-KR" altLang="en-US"/>
          </a:p>
        </p:txBody>
      </p:sp>
    </p:spTree>
    <p:extLst>
      <p:ext uri="{BB962C8B-B14F-4D97-AF65-F5344CB8AC3E}">
        <p14:creationId xmlns:p14="http://schemas.microsoft.com/office/powerpoint/2010/main" val="422190483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29880DED-BD55-4631-A63F-CC2459F192F4}" type="datetimeFigureOut">
              <a:rPr lang="ko-KR" altLang="en-US" smtClean="0"/>
              <a:t>2026-06-29 (Monday)</a:t>
            </a:fld>
            <a:endParaRPr lang="ko-KR" altLang="en-US"/>
          </a:p>
        </p:txBody>
      </p:sp>
      <p:sp>
        <p:nvSpPr>
          <p:cNvPr id="4" name="슬라이드 이미지 개체 틀 3"/>
          <p:cNvSpPr>
            <a:spLocks noGrp="1" noRot="1" noChangeAspect="1"/>
          </p:cNvSpPr>
          <p:nvPr>
            <p:ph type="sldImg" idx="2"/>
          </p:nvPr>
        </p:nvSpPr>
        <p:spPr>
          <a:xfrm>
            <a:off x="981075" y="1241425"/>
            <a:ext cx="4835525" cy="3349625"/>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51E14ED1-D705-4645-B89F-2D03A70CCA77}" type="slidenum">
              <a:rPr lang="ko-KR" altLang="en-US" smtClean="0"/>
              <a:t>‹#›</a:t>
            </a:fld>
            <a:endParaRPr lang="ko-KR" altLang="en-US"/>
          </a:p>
        </p:txBody>
      </p:sp>
    </p:spTree>
    <p:extLst>
      <p:ext uri="{BB962C8B-B14F-4D97-AF65-F5344CB8AC3E}">
        <p14:creationId xmlns:p14="http://schemas.microsoft.com/office/powerpoint/2010/main" val="104773054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0</a:t>
            </a:fld>
            <a:endParaRPr lang="ko-KR" altLang="en-US"/>
          </a:p>
        </p:txBody>
      </p:sp>
    </p:spTree>
    <p:extLst>
      <p:ext uri="{BB962C8B-B14F-4D97-AF65-F5344CB8AC3E}">
        <p14:creationId xmlns:p14="http://schemas.microsoft.com/office/powerpoint/2010/main" val="570184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1</a:t>
            </a:fld>
            <a:endParaRPr lang="ko-KR" altLang="en-US"/>
          </a:p>
        </p:txBody>
      </p:sp>
    </p:spTree>
    <p:extLst>
      <p:ext uri="{BB962C8B-B14F-4D97-AF65-F5344CB8AC3E}">
        <p14:creationId xmlns:p14="http://schemas.microsoft.com/office/powerpoint/2010/main" val="16298422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2</a:t>
            </a:fld>
            <a:endParaRPr lang="ko-KR" altLang="en-US"/>
          </a:p>
        </p:txBody>
      </p:sp>
    </p:spTree>
    <p:extLst>
      <p:ext uri="{BB962C8B-B14F-4D97-AF65-F5344CB8AC3E}">
        <p14:creationId xmlns:p14="http://schemas.microsoft.com/office/powerpoint/2010/main" val="30112509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3</a:t>
            </a:fld>
            <a:endParaRPr lang="ko-KR" altLang="en-US"/>
          </a:p>
        </p:txBody>
      </p:sp>
    </p:spTree>
    <p:extLst>
      <p:ext uri="{BB962C8B-B14F-4D97-AF65-F5344CB8AC3E}">
        <p14:creationId xmlns:p14="http://schemas.microsoft.com/office/powerpoint/2010/main" val="2215767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4</a:t>
            </a:fld>
            <a:endParaRPr lang="ko-KR" altLang="en-US"/>
          </a:p>
        </p:txBody>
      </p:sp>
    </p:spTree>
    <p:extLst>
      <p:ext uri="{BB962C8B-B14F-4D97-AF65-F5344CB8AC3E}">
        <p14:creationId xmlns:p14="http://schemas.microsoft.com/office/powerpoint/2010/main" val="19345218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28</a:t>
            </a:fld>
            <a:endParaRPr lang="ko-KR" altLang="en-US"/>
          </a:p>
        </p:txBody>
      </p:sp>
    </p:spTree>
    <p:extLst>
      <p:ext uri="{BB962C8B-B14F-4D97-AF65-F5344CB8AC3E}">
        <p14:creationId xmlns:p14="http://schemas.microsoft.com/office/powerpoint/2010/main" val="4604474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29</a:t>
            </a:fld>
            <a:endParaRPr lang="ko-KR" altLang="en-US"/>
          </a:p>
        </p:txBody>
      </p:sp>
    </p:spTree>
    <p:extLst>
      <p:ext uri="{BB962C8B-B14F-4D97-AF65-F5344CB8AC3E}">
        <p14:creationId xmlns:p14="http://schemas.microsoft.com/office/powerpoint/2010/main" val="29341846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51E14ED1-D705-4645-B89F-2D03A70CCA77}" type="slidenum">
              <a:rPr lang="ko-KR" altLang="en-US" smtClean="0"/>
              <a:t>30</a:t>
            </a:fld>
            <a:endParaRPr lang="ko-KR" altLang="en-US"/>
          </a:p>
        </p:txBody>
      </p:sp>
    </p:spTree>
    <p:extLst>
      <p:ext uri="{BB962C8B-B14F-4D97-AF65-F5344CB8AC3E}">
        <p14:creationId xmlns:p14="http://schemas.microsoft.com/office/powerpoint/2010/main" val="39824550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5"/>
          </p:nvPr>
        </p:nvSpPr>
        <p:spPr/>
        <p:txBody>
          <a:bodyPr/>
          <a:lstStyle/>
          <a:p>
            <a:pPr lvl="0"/>
            <a:fld id="{51E14ED1-D705-4645-B89F-2D03A70CCA77}" type="slidenum">
              <a:rPr lang="ko-KR" altLang="en-US" smtClean="0"/>
              <a:t>318</a:t>
            </a:fld>
            <a:endParaRPr lang="ko-KR" altLang="en-US"/>
          </a:p>
        </p:txBody>
      </p:sp>
    </p:spTree>
    <p:extLst>
      <p:ext uri="{BB962C8B-B14F-4D97-AF65-F5344CB8AC3E}">
        <p14:creationId xmlns:p14="http://schemas.microsoft.com/office/powerpoint/2010/main" val="2004781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pPr lvl="0"/>
            <a:fld id="{51E14ED1-D705-4645-B89F-2D03A70CCA77}" type="slidenum">
              <a:rPr lang="ko-KR" altLang="en-US" smtClean="0"/>
              <a:t>355</a:t>
            </a:fld>
            <a:endParaRPr lang="ko-KR" altLang="en-US"/>
          </a:p>
        </p:txBody>
      </p:sp>
    </p:spTree>
    <p:extLst>
      <p:ext uri="{BB962C8B-B14F-4D97-AF65-F5344CB8AC3E}">
        <p14:creationId xmlns:p14="http://schemas.microsoft.com/office/powerpoint/2010/main" val="157896936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제목">
    <p:spTree>
      <p:nvGrpSpPr>
        <p:cNvPr id="1" name=""/>
        <p:cNvGrpSpPr/>
        <p:nvPr/>
      </p:nvGrpSpPr>
      <p:grpSpPr>
        <a:xfrm>
          <a:off x="0" y="0"/>
          <a:ext cx="0" cy="0"/>
          <a:chOff x="0" y="0"/>
          <a:chExt cx="0" cy="0"/>
        </a:xfrm>
      </p:grpSpPr>
      <p:pic>
        <p:nvPicPr>
          <p:cNvPr id="18" name="그림 17">
            <a:extLst>
              <a:ext uri="{FF2B5EF4-FFF2-40B4-BE49-F238E27FC236}">
                <a16:creationId xmlns:a16="http://schemas.microsoft.com/office/drawing/2014/main" id="{D56036D5-DD5F-441E-9594-5002CA0E85B5}"/>
              </a:ext>
            </a:extLst>
          </p:cNvPr>
          <p:cNvPicPr>
            <a:picLocks noChangeAspect="1"/>
          </p:cNvPicPr>
          <p:nvPr userDrawn="1"/>
        </p:nvPicPr>
        <p:blipFill>
          <a:blip r:embed="rId2"/>
          <a:stretch>
            <a:fillRect/>
          </a:stretch>
        </p:blipFill>
        <p:spPr>
          <a:xfrm>
            <a:off x="4295427" y="5938279"/>
            <a:ext cx="1331674" cy="164897"/>
          </a:xfrm>
          <a:prstGeom prst="rect">
            <a:avLst/>
          </a:prstGeom>
        </p:spPr>
      </p:pic>
      <p:sp>
        <p:nvSpPr>
          <p:cNvPr id="2" name="Title 1"/>
          <p:cNvSpPr>
            <a:spLocks noGrp="1"/>
          </p:cNvSpPr>
          <p:nvPr>
            <p:ph type="ctrTitle"/>
          </p:nvPr>
        </p:nvSpPr>
        <p:spPr>
          <a:xfrm>
            <a:off x="646694" y="1306235"/>
            <a:ext cx="8640000" cy="612000"/>
          </a:xfrm>
          <a:prstGeom prst="rect">
            <a:avLst/>
          </a:prstGeom>
          <a:ln w="12700">
            <a:noFill/>
          </a:ln>
        </p:spPr>
        <p:txBody>
          <a:bodyPr anchor="b"/>
          <a:lstStyle>
            <a:lvl1pPr algn="r">
              <a:lnSpc>
                <a:spcPct val="100000"/>
              </a:lnSpc>
              <a:defRPr sz="2400" b="1" u="none"/>
            </a:lvl1pPr>
          </a:lstStyle>
          <a:p>
            <a:r>
              <a:rPr lang="ko-KR" altLang="en-US" dirty="0"/>
              <a:t>마스터 제목 스타일 편집</a:t>
            </a:r>
            <a:endParaRPr lang="en-US" dirty="0"/>
          </a:p>
        </p:txBody>
      </p:sp>
      <p:sp>
        <p:nvSpPr>
          <p:cNvPr id="3" name="Subtitle 2"/>
          <p:cNvSpPr>
            <a:spLocks noGrp="1"/>
          </p:cNvSpPr>
          <p:nvPr>
            <p:ph type="subTitle" idx="1"/>
          </p:nvPr>
        </p:nvSpPr>
        <p:spPr>
          <a:xfrm>
            <a:off x="637669" y="1942226"/>
            <a:ext cx="8649025" cy="396376"/>
          </a:xfrm>
          <a:prstGeom prst="rect">
            <a:avLst/>
          </a:prstGeom>
        </p:spPr>
        <p:txBody>
          <a:bodyPr anchor="ctr"/>
          <a:lstStyle>
            <a:lvl1pPr marL="0" indent="0" algn="r">
              <a:lnSpc>
                <a:spcPct val="100000"/>
              </a:lnSpc>
              <a:buNone/>
              <a:defRPr sz="16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dirty="0"/>
              <a:t>마스터 부제목 스타일 편집</a:t>
            </a:r>
            <a:endParaRPr lang="en-US" dirty="0"/>
          </a:p>
        </p:txBody>
      </p:sp>
      <p:cxnSp>
        <p:nvCxnSpPr>
          <p:cNvPr id="8" name="직선 연결선 7"/>
          <p:cNvCxnSpPr/>
          <p:nvPr userDrawn="1"/>
        </p:nvCxnSpPr>
        <p:spPr>
          <a:xfrm>
            <a:off x="637669" y="1925053"/>
            <a:ext cx="864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1" name="표 10"/>
          <p:cNvGraphicFramePr>
            <a:graphicFrameLocks noGrp="1"/>
          </p:cNvGraphicFramePr>
          <p:nvPr userDrawn="1">
            <p:extLst>
              <p:ext uri="{D42A27DB-BD31-4B8C-83A1-F6EECF244321}">
                <p14:modId xmlns:p14="http://schemas.microsoft.com/office/powerpoint/2010/main" val="213922239"/>
              </p:ext>
            </p:extLst>
          </p:nvPr>
        </p:nvGraphicFramePr>
        <p:xfrm>
          <a:off x="4551204" y="3815479"/>
          <a:ext cx="4744543" cy="952503"/>
        </p:xfrm>
        <a:graphic>
          <a:graphicData uri="http://schemas.openxmlformats.org/drawingml/2006/table">
            <a:tbl>
              <a:tblPr firstRow="1" firstCol="1" bandRow="1"/>
              <a:tblGrid>
                <a:gridCol w="971382">
                  <a:extLst>
                    <a:ext uri="{9D8B030D-6E8A-4147-A177-3AD203B41FA5}">
                      <a16:colId xmlns:a16="http://schemas.microsoft.com/office/drawing/2014/main" val="20000"/>
                    </a:ext>
                  </a:extLst>
                </a:gridCol>
                <a:gridCol w="3773161">
                  <a:extLst>
                    <a:ext uri="{9D8B030D-6E8A-4147-A177-3AD203B41FA5}">
                      <a16:colId xmlns:a16="http://schemas.microsoft.com/office/drawing/2014/main" val="20001"/>
                    </a:ext>
                  </a:extLst>
                </a:gridCol>
              </a:tblGrid>
              <a:tr h="317501">
                <a:tc>
                  <a:txBody>
                    <a:bodyPr/>
                    <a:lstStyle/>
                    <a:p>
                      <a:pPr algn="ctr">
                        <a:spcAft>
                          <a:spcPts val="0"/>
                        </a:spcAft>
                      </a:pPr>
                      <a:r>
                        <a:rPr lang="ko-KR" sz="1000" b="1" kern="100" dirty="0">
                          <a:effectLst/>
                          <a:latin typeface="맑은 고딕" panose="020B0503020000020004" pitchFamily="50" charset="-127"/>
                          <a:ea typeface="맑은 고딕" panose="020B0503020000020004" pitchFamily="50" charset="-127"/>
                          <a:cs typeface="Times New Roman" panose="02020603050405020304" pitchFamily="18" charset="0"/>
                        </a:rPr>
                        <a:t>프로젝트</a:t>
                      </a:r>
                    </a:p>
                  </a:txBody>
                  <a:tcPr marL="36195" marR="36195" marT="36195" marB="36195"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spcAft>
                          <a:spcPts val="0"/>
                        </a:spcAft>
                      </a:pPr>
                      <a:endParaRPr lang="ko-KR" sz="1000" kern="100" dirty="0">
                        <a:effectLst/>
                        <a:latin typeface="맑은 고딕" panose="020B0503020000020004" pitchFamily="50" charset="-127"/>
                        <a:ea typeface="맑은 고딕" panose="020B0503020000020004" pitchFamily="50" charset="-127"/>
                        <a:cs typeface="Times New Roman" panose="02020603050405020304" pitchFamily="18" charset="0"/>
                      </a:endParaRPr>
                    </a:p>
                  </a:txBody>
                  <a:tcPr marL="36195" marR="36195" marT="36195" marB="36195"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317501">
                <a:tc>
                  <a:txBody>
                    <a:bodyPr/>
                    <a:lstStyle/>
                    <a:p>
                      <a:pPr algn="ctr">
                        <a:spcAft>
                          <a:spcPts val="0"/>
                        </a:spcAft>
                      </a:pPr>
                      <a:r>
                        <a:rPr lang="ko-KR" sz="1000" b="1" kern="100" dirty="0">
                          <a:effectLst/>
                          <a:latin typeface="맑은 고딕" panose="020B0503020000020004" pitchFamily="50" charset="-127"/>
                          <a:ea typeface="맑은 고딕" panose="020B0503020000020004" pitchFamily="50" charset="-127"/>
                          <a:cs typeface="Times New Roman" panose="02020603050405020304" pitchFamily="18" charset="0"/>
                        </a:rPr>
                        <a:t>문서번호</a:t>
                      </a:r>
                    </a:p>
                  </a:txBody>
                  <a:tcPr marL="36195" marR="36195" marT="36195" marB="36195"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spcAft>
                          <a:spcPts val="0"/>
                        </a:spcAft>
                      </a:pPr>
                      <a:endParaRPr lang="ko-KR" sz="1000" kern="100" dirty="0">
                        <a:effectLst/>
                        <a:latin typeface="맑은 고딕" panose="020B0503020000020004" pitchFamily="50" charset="-127"/>
                        <a:ea typeface="맑은 고딕" panose="020B0503020000020004" pitchFamily="50" charset="-127"/>
                        <a:cs typeface="Times New Roman" panose="02020603050405020304" pitchFamily="18" charset="0"/>
                      </a:endParaRPr>
                    </a:p>
                  </a:txBody>
                  <a:tcPr marL="36195" marR="36195" marT="36195" marB="36195"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17501">
                <a:tc>
                  <a:txBody>
                    <a:bodyPr/>
                    <a:lstStyle/>
                    <a:p>
                      <a:pPr algn="ctr">
                        <a:spcAft>
                          <a:spcPts val="0"/>
                        </a:spcAft>
                      </a:pPr>
                      <a:r>
                        <a:rPr lang="ko-KR" altLang="en-US" sz="1000" b="1" kern="100" dirty="0" err="1">
                          <a:effectLst/>
                          <a:latin typeface="맑은 고딕" panose="020B0503020000020004" pitchFamily="50" charset="-127"/>
                          <a:ea typeface="+mn-ea"/>
                          <a:cs typeface="Times New Roman" panose="02020603050405020304" pitchFamily="18" charset="0"/>
                        </a:rPr>
                        <a:t>제개정이력</a:t>
                      </a:r>
                      <a:endParaRPr lang="ko-KR" sz="1000" b="1" kern="100" dirty="0">
                        <a:effectLst/>
                        <a:latin typeface="맑은 고딕" panose="020B0503020000020004" pitchFamily="50" charset="-127"/>
                        <a:ea typeface="맑은 고딕" panose="020B0503020000020004" pitchFamily="50" charset="-127"/>
                        <a:cs typeface="Times New Roman" panose="02020603050405020304" pitchFamily="18" charset="0"/>
                      </a:endParaRPr>
                    </a:p>
                  </a:txBody>
                  <a:tcPr marL="36195" marR="36195" marT="36195" marB="36195"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spcAft>
                          <a:spcPts val="0"/>
                        </a:spcAft>
                      </a:pPr>
                      <a:endParaRPr lang="ko-KR" sz="1000" kern="100" dirty="0">
                        <a:effectLst/>
                        <a:latin typeface="맑은 고딕" panose="020B0503020000020004" pitchFamily="50" charset="-127"/>
                        <a:ea typeface="맑은 고딕" panose="020B0503020000020004" pitchFamily="50" charset="-127"/>
                        <a:cs typeface="Times New Roman" panose="02020603050405020304" pitchFamily="18" charset="0"/>
                      </a:endParaRPr>
                    </a:p>
                  </a:txBody>
                  <a:tcPr marL="36195" marR="36195" marT="36195" marB="36195"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95183031"/>
                  </a:ext>
                </a:extLst>
              </a:tr>
            </a:tbl>
          </a:graphicData>
        </a:graphic>
      </p:graphicFrame>
      <p:sp>
        <p:nvSpPr>
          <p:cNvPr id="14" name="텍스트 개체 틀 12"/>
          <p:cNvSpPr>
            <a:spLocks noGrp="1"/>
          </p:cNvSpPr>
          <p:nvPr>
            <p:ph type="body" sz="quarter" idx="11"/>
          </p:nvPr>
        </p:nvSpPr>
        <p:spPr>
          <a:xfrm>
            <a:off x="5540722" y="3848071"/>
            <a:ext cx="3736946" cy="252000"/>
          </a:xfrm>
          <a:prstGeom prst="rect">
            <a:avLst/>
          </a:prstGeom>
        </p:spPr>
        <p:txBody>
          <a:bodyPr anchor="ctr"/>
          <a:lstStyle>
            <a:lvl1pPr marL="0" marR="0" indent="0" algn="l" defTabSz="914400" rtl="0" eaLnBrk="1" fontAlgn="auto" latinLnBrk="1" hangingPunct="1">
              <a:lnSpc>
                <a:spcPct val="100000"/>
              </a:lnSpc>
              <a:spcBef>
                <a:spcPts val="1000"/>
              </a:spcBef>
              <a:spcAft>
                <a:spcPts val="0"/>
              </a:spcAft>
              <a:buClrTx/>
              <a:buSzTx/>
              <a:buFont typeface="Arial" panose="020B0604020202020204" pitchFamily="34" charset="0"/>
              <a:buNone/>
              <a:tabLst/>
              <a:defRPr sz="1000"/>
            </a:lvl1pPr>
            <a:lvl2pPr marL="457200" indent="0">
              <a:buNone/>
              <a:defRPr sz="1000"/>
            </a:lvl2pPr>
            <a:lvl3pPr marL="914400" indent="0">
              <a:buNone/>
              <a:defRPr sz="1000"/>
            </a:lvl3pPr>
            <a:lvl4pPr marL="1371600" indent="0">
              <a:buNone/>
              <a:defRPr sz="1000"/>
            </a:lvl4pPr>
            <a:lvl5pPr marL="1828800" indent="0">
              <a:buNone/>
              <a:defRPr sz="1000"/>
            </a:lvl5pPr>
          </a:lstStyle>
          <a:p>
            <a:pPr marL="0" marR="0" lvl="0" indent="0" algn="l" defTabSz="914400" rtl="0" eaLnBrk="1" fontAlgn="auto" latinLnBrk="1" hangingPunct="1">
              <a:lnSpc>
                <a:spcPct val="100000"/>
              </a:lnSpc>
              <a:spcBef>
                <a:spcPts val="1000"/>
              </a:spcBef>
              <a:spcAft>
                <a:spcPts val="0"/>
              </a:spcAft>
              <a:buClrTx/>
              <a:buSzTx/>
              <a:buFont typeface="Arial" panose="020B0604020202020204" pitchFamily="34" charset="0"/>
              <a:buNone/>
              <a:tabLst/>
              <a:defRPr/>
            </a:pPr>
            <a:endParaRPr lang="ko-KR" altLang="ko-KR" sz="1000" kern="100" dirty="0">
              <a:effectLst/>
              <a:latin typeface="맑은 고딕" panose="020B0503020000020004" pitchFamily="50" charset="-127"/>
              <a:ea typeface="+mn-ea"/>
              <a:cs typeface="Times New Roman" panose="02020603050405020304" pitchFamily="18" charset="0"/>
            </a:endParaRPr>
          </a:p>
        </p:txBody>
      </p:sp>
      <p:sp>
        <p:nvSpPr>
          <p:cNvPr id="15" name="텍스트 개체 틀 12"/>
          <p:cNvSpPr>
            <a:spLocks noGrp="1"/>
          </p:cNvSpPr>
          <p:nvPr>
            <p:ph type="body" sz="quarter" idx="12"/>
          </p:nvPr>
        </p:nvSpPr>
        <p:spPr>
          <a:xfrm>
            <a:off x="5540722" y="4163525"/>
            <a:ext cx="3736946" cy="252000"/>
          </a:xfrm>
          <a:prstGeom prst="rect">
            <a:avLst/>
          </a:prstGeom>
        </p:spPr>
        <p:txBody>
          <a:bodyPr anchor="ctr"/>
          <a:lstStyle>
            <a:lvl1pPr marL="0" indent="0">
              <a:lnSpc>
                <a:spcPct val="100000"/>
              </a:lnSpc>
              <a:buNone/>
              <a:defRPr sz="1000"/>
            </a:lvl1pPr>
            <a:lvl2pPr marL="457200" indent="0">
              <a:buNone/>
              <a:defRPr sz="1000"/>
            </a:lvl2pPr>
            <a:lvl3pPr marL="914400" indent="0">
              <a:buNone/>
              <a:defRPr sz="1000"/>
            </a:lvl3pPr>
            <a:lvl4pPr marL="1371600" indent="0">
              <a:buNone/>
              <a:defRPr sz="1000"/>
            </a:lvl4pPr>
            <a:lvl5pPr marL="1828800" indent="0">
              <a:buNone/>
              <a:defRPr sz="1000"/>
            </a:lvl5pPr>
          </a:lstStyle>
          <a:p>
            <a:pPr lvl="0"/>
            <a:endParaRPr lang="ko-KR" altLang="en-US" dirty="0"/>
          </a:p>
        </p:txBody>
      </p:sp>
      <p:sp>
        <p:nvSpPr>
          <p:cNvPr id="13" name="직사각형 12"/>
          <p:cNvSpPr/>
          <p:nvPr userDrawn="1"/>
        </p:nvSpPr>
        <p:spPr>
          <a:xfrm>
            <a:off x="1527804" y="6225242"/>
            <a:ext cx="6858548" cy="408317"/>
          </a:xfrm>
          <a:prstGeom prst="rect">
            <a:avLst/>
          </a:prstGeom>
        </p:spPr>
        <p:txBody>
          <a:bodyPr wrap="square">
            <a:spAutoFit/>
          </a:bodyPr>
          <a:lstStyle/>
          <a:p>
            <a:pPr algn="ctr">
              <a:lnSpc>
                <a:spcPct val="120000"/>
              </a:lnSpc>
              <a:spcAft>
                <a:spcPts val="0"/>
              </a:spcAft>
            </a:pPr>
            <a:r>
              <a:rPr lang="en-US" altLang="ko-KR" sz="900" kern="100" dirty="0">
                <a:effectLst/>
                <a:latin typeface="+mn-ea"/>
                <a:ea typeface="+mn-ea"/>
                <a:cs typeface="Times New Roman" panose="02020603050405020304" pitchFamily="18" charset="0"/>
              </a:rPr>
              <a:t>Copyright © 2025 by </a:t>
            </a:r>
            <a:r>
              <a:rPr lang="ko-KR" altLang="en-US" sz="900" kern="100" dirty="0">
                <a:effectLst/>
                <a:latin typeface="+mn-ea"/>
                <a:ea typeface="+mn-ea"/>
                <a:cs typeface="Times New Roman" panose="02020603050405020304" pitchFamily="18" charset="0"/>
              </a:rPr>
              <a:t>방위사업청</a:t>
            </a:r>
            <a:endParaRPr lang="en-US" altLang="ko-KR" sz="900" kern="100" dirty="0">
              <a:effectLst/>
              <a:latin typeface="+mn-ea"/>
              <a:ea typeface="+mn-ea"/>
              <a:cs typeface="Times New Roman" panose="02020603050405020304" pitchFamily="18" charset="0"/>
            </a:endParaRPr>
          </a:p>
          <a:p>
            <a:pPr algn="ctr">
              <a:lnSpc>
                <a:spcPct val="120000"/>
              </a:lnSpc>
              <a:spcAft>
                <a:spcPts val="0"/>
              </a:spcAft>
            </a:pPr>
            <a:r>
              <a:rPr lang="ko-KR" altLang="en-US" sz="900" kern="100" dirty="0">
                <a:effectLst/>
                <a:latin typeface="+mn-ea"/>
                <a:ea typeface="+mn-ea"/>
                <a:cs typeface="Times New Roman" panose="02020603050405020304" pitchFamily="18" charset="0"/>
              </a:rPr>
              <a:t>방위사업청의 </a:t>
            </a:r>
            <a:r>
              <a:rPr lang="ko-KR" altLang="ko-KR" sz="900" dirty="0">
                <a:effectLst/>
                <a:latin typeface="+mn-ea"/>
                <a:ea typeface="+mn-ea"/>
                <a:cs typeface="Times New Roman" panose="02020603050405020304" pitchFamily="18" charset="0"/>
              </a:rPr>
              <a:t>사전 승인 없이 본 내용의 전부 또는 일부에 대한 복사</a:t>
            </a:r>
            <a:r>
              <a:rPr lang="en-US" altLang="ko-KR" sz="900" dirty="0">
                <a:effectLst/>
                <a:latin typeface="+mn-ea"/>
                <a:ea typeface="+mn-ea"/>
                <a:cs typeface="Times New Roman" panose="02020603050405020304" pitchFamily="18" charset="0"/>
              </a:rPr>
              <a:t>, </a:t>
            </a:r>
            <a:r>
              <a:rPr lang="ko-KR" altLang="ko-KR" sz="900" dirty="0">
                <a:effectLst/>
                <a:latin typeface="+mn-ea"/>
                <a:ea typeface="+mn-ea"/>
                <a:cs typeface="Times New Roman" panose="02020603050405020304" pitchFamily="18" charset="0"/>
              </a:rPr>
              <a:t>전재</a:t>
            </a:r>
            <a:r>
              <a:rPr lang="en-US" altLang="ko-KR" sz="900" dirty="0">
                <a:effectLst/>
                <a:latin typeface="+mn-ea"/>
                <a:ea typeface="+mn-ea"/>
                <a:cs typeface="Times New Roman" panose="02020603050405020304" pitchFamily="18" charset="0"/>
              </a:rPr>
              <a:t>, </a:t>
            </a:r>
            <a:r>
              <a:rPr lang="ko-KR" altLang="ko-KR" sz="900" dirty="0">
                <a:effectLst/>
                <a:latin typeface="+mn-ea"/>
                <a:ea typeface="+mn-ea"/>
                <a:cs typeface="Times New Roman" panose="02020603050405020304" pitchFamily="18" charset="0"/>
              </a:rPr>
              <a:t>배포</a:t>
            </a:r>
            <a:r>
              <a:rPr lang="en-US" altLang="ko-KR" sz="900" dirty="0">
                <a:effectLst/>
                <a:latin typeface="+mn-ea"/>
                <a:ea typeface="+mn-ea"/>
                <a:cs typeface="Times New Roman" panose="02020603050405020304" pitchFamily="18" charset="0"/>
              </a:rPr>
              <a:t>, </a:t>
            </a:r>
            <a:r>
              <a:rPr lang="ko-KR" altLang="ko-KR" sz="900" dirty="0">
                <a:effectLst/>
                <a:latin typeface="+mn-ea"/>
                <a:ea typeface="+mn-ea"/>
                <a:cs typeface="Times New Roman" panose="02020603050405020304" pitchFamily="18" charset="0"/>
              </a:rPr>
              <a:t>사용을 금합니다</a:t>
            </a:r>
            <a:r>
              <a:rPr lang="en-US" altLang="ko-KR" sz="900" dirty="0">
                <a:effectLst/>
                <a:latin typeface="+mn-ea"/>
                <a:ea typeface="+mn-ea"/>
                <a:cs typeface="Times New Roman" panose="02020603050405020304" pitchFamily="18" charset="0"/>
              </a:rPr>
              <a:t>.</a:t>
            </a:r>
            <a:endParaRPr lang="ko-KR" altLang="en-US" sz="900" dirty="0">
              <a:latin typeface="+mn-ea"/>
              <a:ea typeface="+mn-ea"/>
            </a:endParaRPr>
          </a:p>
        </p:txBody>
      </p:sp>
      <p:sp>
        <p:nvSpPr>
          <p:cNvPr id="12" name="텍스트 개체 틀 12"/>
          <p:cNvSpPr>
            <a:spLocks noGrp="1"/>
          </p:cNvSpPr>
          <p:nvPr>
            <p:ph type="body" sz="quarter" idx="13"/>
          </p:nvPr>
        </p:nvSpPr>
        <p:spPr>
          <a:xfrm>
            <a:off x="5540722" y="4479945"/>
            <a:ext cx="3736946" cy="252000"/>
          </a:xfrm>
          <a:prstGeom prst="rect">
            <a:avLst/>
          </a:prstGeom>
        </p:spPr>
        <p:txBody>
          <a:bodyPr anchor="ctr"/>
          <a:lstStyle>
            <a:lvl1pPr marL="0" indent="0">
              <a:lnSpc>
                <a:spcPct val="100000"/>
              </a:lnSpc>
              <a:buNone/>
              <a:defRPr sz="1000"/>
            </a:lvl1pPr>
            <a:lvl2pPr marL="457200" indent="0">
              <a:buNone/>
              <a:defRPr sz="1000"/>
            </a:lvl2pPr>
            <a:lvl3pPr marL="914400" indent="0">
              <a:buNone/>
              <a:defRPr sz="1000"/>
            </a:lvl3pPr>
            <a:lvl4pPr marL="1371600" indent="0">
              <a:buNone/>
              <a:defRPr sz="1000"/>
            </a:lvl4pPr>
            <a:lvl5pPr marL="1828800" indent="0">
              <a:buNone/>
              <a:defRPr sz="1000"/>
            </a:lvl5pPr>
          </a:lstStyle>
          <a:p>
            <a:pPr lvl="0"/>
            <a:endParaRPr lang="ko-KR" altLang="en-US" dirty="0"/>
          </a:p>
        </p:txBody>
      </p:sp>
      <p:pic>
        <p:nvPicPr>
          <p:cNvPr id="17" name="그림 16" descr="그래픽, 폰트, 그래픽 디자인, 로고이(가) 표시된 사진&#10;&#10;AI 생성 콘텐츠는 정확하지 않을 수 있습니다.">
            <a:extLst>
              <a:ext uri="{FF2B5EF4-FFF2-40B4-BE49-F238E27FC236}">
                <a16:creationId xmlns:a16="http://schemas.microsoft.com/office/drawing/2014/main" id="{5A9D3F7C-59D2-46B0-9671-095C3D9268C5}"/>
              </a:ext>
            </a:extLst>
          </p:cNvPr>
          <p:cNvPicPr>
            <a:picLocks noChangeAspect="1"/>
          </p:cNvPicPr>
          <p:nvPr userDrawn="1"/>
        </p:nvPicPr>
        <p:blipFill>
          <a:blip r:embed="rId3"/>
          <a:stretch>
            <a:fillRect/>
          </a:stretch>
        </p:blipFill>
        <p:spPr>
          <a:xfrm>
            <a:off x="637641" y="465349"/>
            <a:ext cx="1005840" cy="340043"/>
          </a:xfrm>
          <a:prstGeom prst="rect">
            <a:avLst/>
          </a:prstGeom>
        </p:spPr>
      </p:pic>
    </p:spTree>
    <p:extLst>
      <p:ext uri="{BB962C8B-B14F-4D97-AF65-F5344CB8AC3E}">
        <p14:creationId xmlns:p14="http://schemas.microsoft.com/office/powerpoint/2010/main" val="254430355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개정이력/목차">
    <p:spTree>
      <p:nvGrpSpPr>
        <p:cNvPr id="1" name=""/>
        <p:cNvGrpSpPr/>
        <p:nvPr/>
      </p:nvGrpSpPr>
      <p:grpSpPr>
        <a:xfrm>
          <a:off x="0" y="0"/>
          <a:ext cx="0" cy="0"/>
          <a:chOff x="0" y="0"/>
          <a:chExt cx="0" cy="0"/>
        </a:xfrm>
      </p:grpSpPr>
      <p:sp>
        <p:nvSpPr>
          <p:cNvPr id="9" name="슬라이드 번호 개체 틀 10"/>
          <p:cNvSpPr>
            <a:spLocks noGrp="1"/>
          </p:cNvSpPr>
          <p:nvPr>
            <p:ph type="sldNum" sz="quarter" idx="4"/>
          </p:nvPr>
        </p:nvSpPr>
        <p:spPr>
          <a:xfrm>
            <a:off x="4326220" y="6588000"/>
            <a:ext cx="1258128" cy="216000"/>
          </a:xfrm>
          <a:prstGeom prst="rect">
            <a:avLst/>
          </a:prstGeom>
        </p:spPr>
        <p:txBody>
          <a:bodyPr vert="horz" lIns="91440" tIns="45720" rIns="91440" bIns="45720" rtlCol="0" anchor="ctr"/>
          <a:lstStyle>
            <a:lvl1pPr algn="ctr">
              <a:defRPr sz="1000">
                <a:solidFill>
                  <a:schemeClr val="tx1"/>
                </a:solidFill>
              </a:defRPr>
            </a:lvl1pPr>
          </a:lstStyle>
          <a:p>
            <a:fld id="{34C8E023-7346-48FC-AB24-9A3388C53208}" type="slidenum">
              <a:rPr lang="ko-KR" altLang="en-US" smtClean="0"/>
              <a:pPr/>
              <a:t>‹#›</a:t>
            </a:fld>
            <a:endParaRPr lang="ko-KR" altLang="en-US" dirty="0"/>
          </a:p>
        </p:txBody>
      </p:sp>
      <p:sp>
        <p:nvSpPr>
          <p:cNvPr id="20" name="텍스트 개체 틀 12"/>
          <p:cNvSpPr>
            <a:spLocks noGrp="1"/>
          </p:cNvSpPr>
          <p:nvPr>
            <p:ph type="body" sz="quarter" idx="10"/>
          </p:nvPr>
        </p:nvSpPr>
        <p:spPr>
          <a:xfrm>
            <a:off x="2250485" y="821363"/>
            <a:ext cx="5400000" cy="417890"/>
          </a:xfrm>
          <a:prstGeom prst="rect">
            <a:avLst/>
          </a:prstGeom>
        </p:spPr>
        <p:txBody>
          <a:bodyPr anchor="ctr"/>
          <a:lstStyle>
            <a:lvl1pPr marL="0" indent="0" algn="ctr">
              <a:lnSpc>
                <a:spcPct val="100000"/>
              </a:lnSpc>
              <a:buNone/>
              <a:defRPr sz="1400" b="1" u="sng"/>
            </a:lvl1pPr>
            <a:lvl2pPr marL="457200" indent="0">
              <a:buNone/>
              <a:defRPr sz="1000"/>
            </a:lvl2pPr>
            <a:lvl3pPr marL="914400" indent="0">
              <a:buNone/>
              <a:defRPr sz="1000"/>
            </a:lvl3pPr>
            <a:lvl4pPr marL="1371600" indent="0">
              <a:buNone/>
              <a:defRPr sz="1000"/>
            </a:lvl4pPr>
            <a:lvl5pPr marL="1828800" indent="0">
              <a:buNone/>
              <a:defRPr sz="1000"/>
            </a:lvl5pPr>
          </a:lstStyle>
          <a:p>
            <a:pPr lvl="0"/>
            <a:endParaRPr lang="ko-KR" altLang="en-US" dirty="0"/>
          </a:p>
        </p:txBody>
      </p:sp>
    </p:spTree>
    <p:extLst>
      <p:ext uri="{BB962C8B-B14F-4D97-AF65-F5344CB8AC3E}">
        <p14:creationId xmlns:p14="http://schemas.microsoft.com/office/powerpoint/2010/main" val="1975775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본문-제목">
    <p:spTree>
      <p:nvGrpSpPr>
        <p:cNvPr id="1" name=""/>
        <p:cNvGrpSpPr/>
        <p:nvPr/>
      </p:nvGrpSpPr>
      <p:grpSpPr>
        <a:xfrm>
          <a:off x="0" y="0"/>
          <a:ext cx="0" cy="0"/>
          <a:chOff x="0" y="0"/>
          <a:chExt cx="0" cy="0"/>
        </a:xfrm>
      </p:grpSpPr>
      <p:sp>
        <p:nvSpPr>
          <p:cNvPr id="9" name="슬라이드 번호 개체 틀 10"/>
          <p:cNvSpPr>
            <a:spLocks noGrp="1"/>
          </p:cNvSpPr>
          <p:nvPr>
            <p:ph type="sldNum" sz="quarter" idx="4"/>
          </p:nvPr>
        </p:nvSpPr>
        <p:spPr>
          <a:xfrm>
            <a:off x="4327200" y="6588000"/>
            <a:ext cx="1258128" cy="216000"/>
          </a:xfrm>
          <a:prstGeom prst="rect">
            <a:avLst/>
          </a:prstGeom>
        </p:spPr>
        <p:txBody>
          <a:bodyPr vert="horz" lIns="91440" tIns="45720" rIns="91440" bIns="45720" rtlCol="0" anchor="ctr"/>
          <a:lstStyle>
            <a:lvl1pPr algn="ctr">
              <a:defRPr sz="1000">
                <a:solidFill>
                  <a:schemeClr val="tx1"/>
                </a:solidFill>
              </a:defRPr>
            </a:lvl1pPr>
          </a:lstStyle>
          <a:p>
            <a:fld id="{34C8E023-7346-48FC-AB24-9A3388C53208}" type="slidenum">
              <a:rPr lang="ko-KR" altLang="en-US" smtClean="0"/>
              <a:pPr/>
              <a:t>‹#›</a:t>
            </a:fld>
            <a:endParaRPr lang="ko-KR" altLang="en-US" dirty="0"/>
          </a:p>
        </p:txBody>
      </p:sp>
      <p:sp>
        <p:nvSpPr>
          <p:cNvPr id="3" name="텍스트 개체 틀 2"/>
          <p:cNvSpPr>
            <a:spLocks noGrp="1"/>
          </p:cNvSpPr>
          <p:nvPr>
            <p:ph type="body" sz="quarter" idx="10"/>
          </p:nvPr>
        </p:nvSpPr>
        <p:spPr>
          <a:xfrm>
            <a:off x="457199" y="612000"/>
            <a:ext cx="9001125" cy="324000"/>
          </a:xfrm>
          <a:prstGeom prst="rect">
            <a:avLst/>
          </a:prstGeom>
        </p:spPr>
        <p:txBody>
          <a:bodyPr anchor="t"/>
          <a:lstStyle>
            <a:lvl1pPr marL="0" indent="0">
              <a:lnSpc>
                <a:spcPct val="150000"/>
              </a:lnSpc>
              <a:buNone/>
              <a:defRPr sz="1400" b="1"/>
            </a:lvl1pPr>
            <a:lvl2pPr marL="457200" indent="0">
              <a:buNone/>
              <a:defRPr sz="1200" b="1"/>
            </a:lvl2pPr>
            <a:lvl3pPr marL="914400" indent="0">
              <a:buNone/>
              <a:defRPr sz="1200" b="1"/>
            </a:lvl3pPr>
            <a:lvl4pPr marL="1371600" indent="0">
              <a:buNone/>
              <a:defRPr sz="1200" b="1"/>
            </a:lvl4pPr>
            <a:lvl5pPr marL="1828800" indent="0">
              <a:buNone/>
              <a:defRPr sz="1200" b="1"/>
            </a:lvl5pPr>
          </a:lstStyle>
          <a:p>
            <a:pPr lvl="0"/>
            <a:endParaRPr lang="ko-KR" altLang="en-US" dirty="0"/>
          </a:p>
        </p:txBody>
      </p:sp>
    </p:spTree>
    <p:extLst>
      <p:ext uri="{BB962C8B-B14F-4D97-AF65-F5344CB8AC3E}">
        <p14:creationId xmlns:p14="http://schemas.microsoft.com/office/powerpoint/2010/main" val="32266025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2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본문-제목&amp;내용">
    <p:spTree>
      <p:nvGrpSpPr>
        <p:cNvPr id="1" name=""/>
        <p:cNvGrpSpPr/>
        <p:nvPr/>
      </p:nvGrpSpPr>
      <p:grpSpPr>
        <a:xfrm>
          <a:off x="0" y="0"/>
          <a:ext cx="0" cy="0"/>
          <a:chOff x="0" y="0"/>
          <a:chExt cx="0" cy="0"/>
        </a:xfrm>
      </p:grpSpPr>
      <p:sp>
        <p:nvSpPr>
          <p:cNvPr id="9" name="슬라이드 번호 개체 틀 10"/>
          <p:cNvSpPr>
            <a:spLocks noGrp="1"/>
          </p:cNvSpPr>
          <p:nvPr>
            <p:ph type="sldNum" sz="quarter" idx="4"/>
          </p:nvPr>
        </p:nvSpPr>
        <p:spPr>
          <a:xfrm>
            <a:off x="4327734" y="6590501"/>
            <a:ext cx="1258128" cy="216000"/>
          </a:xfrm>
          <a:prstGeom prst="rect">
            <a:avLst/>
          </a:prstGeom>
        </p:spPr>
        <p:txBody>
          <a:bodyPr vert="horz" lIns="91440" tIns="45720" rIns="91440" bIns="45720" rtlCol="0" anchor="ctr"/>
          <a:lstStyle>
            <a:lvl1pPr algn="ctr">
              <a:defRPr sz="1000">
                <a:solidFill>
                  <a:schemeClr val="tx1"/>
                </a:solidFill>
              </a:defRPr>
            </a:lvl1pPr>
          </a:lstStyle>
          <a:p>
            <a:fld id="{34C8E023-7346-48FC-AB24-9A3388C53208}" type="slidenum">
              <a:rPr lang="ko-KR" altLang="en-US" smtClean="0"/>
              <a:pPr/>
              <a:t>‹#›</a:t>
            </a:fld>
            <a:endParaRPr lang="ko-KR" altLang="en-US" dirty="0"/>
          </a:p>
        </p:txBody>
      </p:sp>
      <p:sp>
        <p:nvSpPr>
          <p:cNvPr id="3" name="텍스트 개체 틀 2"/>
          <p:cNvSpPr>
            <a:spLocks noGrp="1"/>
          </p:cNvSpPr>
          <p:nvPr>
            <p:ph type="body" sz="quarter" idx="10"/>
          </p:nvPr>
        </p:nvSpPr>
        <p:spPr>
          <a:xfrm>
            <a:off x="467025" y="612000"/>
            <a:ext cx="9000000" cy="324000"/>
          </a:xfrm>
          <a:prstGeom prst="rect">
            <a:avLst/>
          </a:prstGeom>
        </p:spPr>
        <p:txBody>
          <a:bodyPr anchor="t"/>
          <a:lstStyle>
            <a:lvl1pPr marL="0" indent="0">
              <a:lnSpc>
                <a:spcPct val="150000"/>
              </a:lnSpc>
              <a:buNone/>
              <a:defRPr sz="1200" b="1"/>
            </a:lvl1pPr>
            <a:lvl2pPr marL="457200" indent="0">
              <a:buNone/>
              <a:defRPr sz="1200" b="1"/>
            </a:lvl2pPr>
            <a:lvl3pPr marL="914400" indent="0">
              <a:buNone/>
              <a:defRPr sz="1200" b="1"/>
            </a:lvl3pPr>
            <a:lvl4pPr marL="1371600" indent="0">
              <a:buNone/>
              <a:defRPr sz="1200" b="1"/>
            </a:lvl4pPr>
            <a:lvl5pPr marL="1828800" indent="0">
              <a:buNone/>
              <a:defRPr sz="1200" b="1"/>
            </a:lvl5pPr>
          </a:lstStyle>
          <a:p>
            <a:pPr lvl="0"/>
            <a:endParaRPr lang="ko-KR" altLang="en-US" dirty="0"/>
          </a:p>
        </p:txBody>
      </p:sp>
      <p:sp>
        <p:nvSpPr>
          <p:cNvPr id="10" name="텍스트 개체 틀 2"/>
          <p:cNvSpPr>
            <a:spLocks noGrp="1"/>
          </p:cNvSpPr>
          <p:nvPr>
            <p:ph type="body" sz="quarter" idx="11"/>
          </p:nvPr>
        </p:nvSpPr>
        <p:spPr>
          <a:xfrm>
            <a:off x="457200" y="1038808"/>
            <a:ext cx="9000000" cy="5424196"/>
          </a:xfrm>
          <a:prstGeom prst="rect">
            <a:avLst/>
          </a:prstGeom>
        </p:spPr>
        <p:txBody>
          <a:bodyPr anchor="t"/>
          <a:lstStyle>
            <a:lvl1pPr marL="0" indent="0">
              <a:lnSpc>
                <a:spcPct val="150000"/>
              </a:lnSpc>
              <a:buNone/>
              <a:defRPr sz="1000" b="0"/>
            </a:lvl1pPr>
            <a:lvl2pPr marL="457200" indent="0">
              <a:buNone/>
              <a:defRPr sz="1200" b="1"/>
            </a:lvl2pPr>
            <a:lvl3pPr marL="914400" indent="0">
              <a:buNone/>
              <a:defRPr sz="1200" b="1"/>
            </a:lvl3pPr>
            <a:lvl4pPr marL="1371600" indent="0">
              <a:buNone/>
              <a:defRPr sz="1200" b="1"/>
            </a:lvl4pPr>
            <a:lvl5pPr marL="1828800" indent="0">
              <a:buNone/>
              <a:defRPr sz="1200" b="1"/>
            </a:lvl5pPr>
          </a:lstStyle>
          <a:p>
            <a:pPr lvl="0"/>
            <a:endParaRPr lang="ko-KR" altLang="en-US" dirty="0"/>
          </a:p>
        </p:txBody>
      </p:sp>
    </p:spTree>
    <p:extLst>
      <p:ext uri="{BB962C8B-B14F-4D97-AF65-F5344CB8AC3E}">
        <p14:creationId xmlns:p14="http://schemas.microsoft.com/office/powerpoint/2010/main" val="132103159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2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본문-내용만">
    <p:spTree>
      <p:nvGrpSpPr>
        <p:cNvPr id="1" name=""/>
        <p:cNvGrpSpPr/>
        <p:nvPr/>
      </p:nvGrpSpPr>
      <p:grpSpPr>
        <a:xfrm>
          <a:off x="0" y="0"/>
          <a:ext cx="0" cy="0"/>
          <a:chOff x="0" y="0"/>
          <a:chExt cx="0" cy="0"/>
        </a:xfrm>
      </p:grpSpPr>
      <p:sp>
        <p:nvSpPr>
          <p:cNvPr id="9" name="슬라이드 번호 개체 틀 10"/>
          <p:cNvSpPr>
            <a:spLocks noGrp="1"/>
          </p:cNvSpPr>
          <p:nvPr>
            <p:ph type="sldNum" sz="quarter" idx="4"/>
          </p:nvPr>
        </p:nvSpPr>
        <p:spPr>
          <a:xfrm>
            <a:off x="4327200" y="6590501"/>
            <a:ext cx="1258128" cy="216000"/>
          </a:xfrm>
          <a:prstGeom prst="rect">
            <a:avLst/>
          </a:prstGeom>
        </p:spPr>
        <p:txBody>
          <a:bodyPr vert="horz" lIns="91440" tIns="45720" rIns="91440" bIns="45720" rtlCol="0" anchor="ctr"/>
          <a:lstStyle>
            <a:lvl1pPr algn="ctr">
              <a:defRPr sz="1000">
                <a:solidFill>
                  <a:schemeClr val="tx1"/>
                </a:solidFill>
              </a:defRPr>
            </a:lvl1pPr>
          </a:lstStyle>
          <a:p>
            <a:fld id="{34C8E023-7346-48FC-AB24-9A3388C53208}" type="slidenum">
              <a:rPr lang="ko-KR" altLang="en-US" smtClean="0"/>
              <a:pPr/>
              <a:t>‹#›</a:t>
            </a:fld>
            <a:endParaRPr lang="ko-KR" altLang="en-US" dirty="0"/>
          </a:p>
        </p:txBody>
      </p:sp>
      <p:sp>
        <p:nvSpPr>
          <p:cNvPr id="7" name="텍스트 개체 틀 2"/>
          <p:cNvSpPr>
            <a:spLocks noGrp="1"/>
          </p:cNvSpPr>
          <p:nvPr>
            <p:ph type="body" sz="quarter" idx="11"/>
          </p:nvPr>
        </p:nvSpPr>
        <p:spPr>
          <a:xfrm>
            <a:off x="457200" y="612000"/>
            <a:ext cx="9000000" cy="5851004"/>
          </a:xfrm>
          <a:prstGeom prst="rect">
            <a:avLst/>
          </a:prstGeom>
        </p:spPr>
        <p:txBody>
          <a:bodyPr anchor="t"/>
          <a:lstStyle>
            <a:lvl1pPr marL="0" indent="0">
              <a:lnSpc>
                <a:spcPct val="150000"/>
              </a:lnSpc>
              <a:buNone/>
              <a:defRPr sz="1100" b="0"/>
            </a:lvl1pPr>
            <a:lvl2pPr marL="457200" indent="0">
              <a:buNone/>
              <a:defRPr sz="1200" b="1"/>
            </a:lvl2pPr>
            <a:lvl3pPr marL="914400" indent="0">
              <a:buNone/>
              <a:defRPr sz="1200" b="1"/>
            </a:lvl3pPr>
            <a:lvl4pPr marL="1371600" indent="0">
              <a:buNone/>
              <a:defRPr sz="1200" b="1"/>
            </a:lvl4pPr>
            <a:lvl5pPr marL="1828800" indent="0">
              <a:buNone/>
              <a:defRPr sz="1200" b="1"/>
            </a:lvl5pPr>
          </a:lstStyle>
          <a:p>
            <a:pPr lvl="0"/>
            <a:endParaRPr lang="ko-KR" altLang="en-US" dirty="0"/>
          </a:p>
        </p:txBody>
      </p:sp>
    </p:spTree>
    <p:extLst>
      <p:ext uri="{BB962C8B-B14F-4D97-AF65-F5344CB8AC3E}">
        <p14:creationId xmlns:p14="http://schemas.microsoft.com/office/powerpoint/2010/main" val="16039650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본문-서식없음">
    <p:spTree>
      <p:nvGrpSpPr>
        <p:cNvPr id="1" name=""/>
        <p:cNvGrpSpPr/>
        <p:nvPr/>
      </p:nvGrpSpPr>
      <p:grpSpPr>
        <a:xfrm>
          <a:off x="0" y="0"/>
          <a:ext cx="0" cy="0"/>
          <a:chOff x="0" y="0"/>
          <a:chExt cx="0" cy="0"/>
        </a:xfrm>
      </p:grpSpPr>
      <p:sp>
        <p:nvSpPr>
          <p:cNvPr id="9" name="슬라이드 번호 개체 틀 10"/>
          <p:cNvSpPr>
            <a:spLocks noGrp="1"/>
          </p:cNvSpPr>
          <p:nvPr>
            <p:ph type="sldNum" sz="quarter" idx="4"/>
          </p:nvPr>
        </p:nvSpPr>
        <p:spPr>
          <a:xfrm>
            <a:off x="4327200" y="6590501"/>
            <a:ext cx="1258128" cy="216000"/>
          </a:xfrm>
          <a:prstGeom prst="rect">
            <a:avLst/>
          </a:prstGeom>
        </p:spPr>
        <p:txBody>
          <a:bodyPr vert="horz" lIns="91440" tIns="45720" rIns="91440" bIns="45720" rtlCol="0" anchor="ctr"/>
          <a:lstStyle>
            <a:lvl1pPr algn="ctr">
              <a:defRPr sz="1000">
                <a:solidFill>
                  <a:schemeClr val="tx1"/>
                </a:solidFill>
              </a:defRPr>
            </a:lvl1pPr>
          </a:lstStyle>
          <a:p>
            <a:fld id="{34C8E023-7346-48FC-AB24-9A3388C53208}" type="slidenum">
              <a:rPr lang="ko-KR" altLang="en-US" smtClean="0"/>
              <a:pPr/>
              <a:t>‹#›</a:t>
            </a:fld>
            <a:endParaRPr lang="ko-KR" altLang="en-US" dirty="0"/>
          </a:p>
        </p:txBody>
      </p:sp>
    </p:spTree>
    <p:extLst>
      <p:ext uri="{BB962C8B-B14F-4D97-AF65-F5344CB8AC3E}">
        <p14:creationId xmlns:p14="http://schemas.microsoft.com/office/powerpoint/2010/main" val="1835475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사용자인터페이스 이미지">
    <p:spTree>
      <p:nvGrpSpPr>
        <p:cNvPr id="1" name=""/>
        <p:cNvGrpSpPr/>
        <p:nvPr/>
      </p:nvGrpSpPr>
      <p:grpSpPr>
        <a:xfrm>
          <a:off x="0" y="0"/>
          <a:ext cx="0" cy="0"/>
          <a:chOff x="0" y="0"/>
          <a:chExt cx="0" cy="0"/>
        </a:xfrm>
      </p:grpSpPr>
      <p:graphicFrame>
        <p:nvGraphicFramePr>
          <p:cNvPr id="4" name="표 3"/>
          <p:cNvGraphicFramePr>
            <a:graphicFrameLocks noGrp="1"/>
          </p:cNvGraphicFramePr>
          <p:nvPr userDrawn="1">
            <p:extLst>
              <p:ext uri="{D42A27DB-BD31-4B8C-83A1-F6EECF244321}">
                <p14:modId xmlns:p14="http://schemas.microsoft.com/office/powerpoint/2010/main" val="3072137626"/>
              </p:ext>
            </p:extLst>
          </p:nvPr>
        </p:nvGraphicFramePr>
        <p:xfrm>
          <a:off x="458167" y="719999"/>
          <a:ext cx="8988374" cy="5755445"/>
        </p:xfrm>
        <a:graphic>
          <a:graphicData uri="http://schemas.openxmlformats.org/drawingml/2006/table">
            <a:tbl>
              <a:tblPr>
                <a:tableStyleId>{5C22544A-7EE6-4342-B048-85BDC9FD1C3A}</a:tableStyleId>
              </a:tblPr>
              <a:tblGrid>
                <a:gridCol w="478985">
                  <a:extLst>
                    <a:ext uri="{9D8B030D-6E8A-4147-A177-3AD203B41FA5}">
                      <a16:colId xmlns:a16="http://schemas.microsoft.com/office/drawing/2014/main" val="20000"/>
                    </a:ext>
                  </a:extLst>
                </a:gridCol>
                <a:gridCol w="1951300">
                  <a:extLst>
                    <a:ext uri="{9D8B030D-6E8A-4147-A177-3AD203B41FA5}">
                      <a16:colId xmlns:a16="http://schemas.microsoft.com/office/drawing/2014/main" val="20001"/>
                    </a:ext>
                  </a:extLst>
                </a:gridCol>
                <a:gridCol w="485933">
                  <a:extLst>
                    <a:ext uri="{9D8B030D-6E8A-4147-A177-3AD203B41FA5}">
                      <a16:colId xmlns:a16="http://schemas.microsoft.com/office/drawing/2014/main" val="20002"/>
                    </a:ext>
                  </a:extLst>
                </a:gridCol>
                <a:gridCol w="2168005">
                  <a:extLst>
                    <a:ext uri="{9D8B030D-6E8A-4147-A177-3AD203B41FA5}">
                      <a16:colId xmlns:a16="http://schemas.microsoft.com/office/drawing/2014/main" val="20003"/>
                    </a:ext>
                  </a:extLst>
                </a:gridCol>
                <a:gridCol w="684241">
                  <a:extLst>
                    <a:ext uri="{9D8B030D-6E8A-4147-A177-3AD203B41FA5}">
                      <a16:colId xmlns:a16="http://schemas.microsoft.com/office/drawing/2014/main" val="20004"/>
                    </a:ext>
                  </a:extLst>
                </a:gridCol>
                <a:gridCol w="843378">
                  <a:extLst>
                    <a:ext uri="{9D8B030D-6E8A-4147-A177-3AD203B41FA5}">
                      <a16:colId xmlns:a16="http://schemas.microsoft.com/office/drawing/2014/main" val="20005"/>
                    </a:ext>
                  </a:extLst>
                </a:gridCol>
                <a:gridCol w="2376532">
                  <a:extLst>
                    <a:ext uri="{9D8B030D-6E8A-4147-A177-3AD203B41FA5}">
                      <a16:colId xmlns:a16="http://schemas.microsoft.com/office/drawing/2014/main" val="20006"/>
                    </a:ext>
                  </a:extLst>
                </a:gridCol>
              </a:tblGrid>
              <a:tr h="263558">
                <a:tc>
                  <a:txBody>
                    <a:bodyPr/>
                    <a:lstStyle/>
                    <a:p>
                      <a:pPr algn="ctr" latinLnBrk="1"/>
                      <a:r>
                        <a:rPr lang="en-US" altLang="ko-KR" sz="900" b="1" dirty="0"/>
                        <a:t>UI</a:t>
                      </a:r>
                      <a:r>
                        <a:rPr lang="en-US" altLang="ko-KR" sz="900" b="1" baseline="0" dirty="0"/>
                        <a:t> ID</a:t>
                      </a:r>
                      <a:endParaRPr lang="ko-KR" altLang="en-US" sz="900" b="1" dirty="0"/>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900" b="1" dirty="0"/>
                        <a:t>UI </a:t>
                      </a:r>
                      <a:r>
                        <a:rPr lang="ko-KR" altLang="en-US" sz="900" b="1" dirty="0"/>
                        <a:t>명</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ko-KR" altLang="en-US" sz="900" b="1" dirty="0"/>
                        <a:t>화면경로</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gridSpan="2">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a:p>
                  </a:txBody>
                  <a:tcPr/>
                </a:tc>
                <a:extLst>
                  <a:ext uri="{0D108BD9-81ED-4DB2-BD59-A6C34878D82A}">
                    <a16:rowId xmlns:a16="http://schemas.microsoft.com/office/drawing/2014/main" val="10000"/>
                  </a:ext>
                </a:extLst>
              </a:tr>
              <a:tr h="263558">
                <a:tc>
                  <a:txBody>
                    <a:bodyPr/>
                    <a:lstStyle/>
                    <a:p>
                      <a:pPr algn="ctr" latinLnBrk="1"/>
                      <a:r>
                        <a:rPr lang="ko-KR" altLang="en-US" sz="900" b="1" dirty="0"/>
                        <a:t>개요</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gridSpan="6">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a:p>
                  </a:txBody>
                  <a:tcPr/>
                </a:tc>
                <a:extLst>
                  <a:ext uri="{0D108BD9-81ED-4DB2-BD59-A6C34878D82A}">
                    <a16:rowId xmlns:a16="http://schemas.microsoft.com/office/drawing/2014/main" val="10001"/>
                  </a:ext>
                </a:extLst>
              </a:tr>
              <a:tr h="247322">
                <a:tc rowSpan="2" gridSpan="6">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rowSpan="2" h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rowSpan="2" hMerge="1">
                  <a:txBody>
                    <a:bodyPr/>
                    <a:lstStyle/>
                    <a:p>
                      <a:pPr latinLnBrk="1"/>
                      <a:endParaRPr lang="ko-KR" altLang="en-US"/>
                    </a:p>
                  </a:txBody>
                  <a:tcPr/>
                </a:tc>
                <a:tc rowSpan="2" hMerge="1">
                  <a:txBody>
                    <a:bodyPr/>
                    <a:lstStyle/>
                    <a:p>
                      <a:pPr latinLnBrk="1"/>
                      <a:endParaRPr lang="ko-KR" altLang="en-US"/>
                    </a:p>
                  </a:txBody>
                  <a:tcPr/>
                </a:tc>
                <a:tc rowSpan="2" h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rowSpan="2" h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ko-KR" altLang="en-US" sz="900" b="1" dirty="0"/>
                        <a:t>설명 및 특이사항</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2"/>
                  </a:ext>
                </a:extLst>
              </a:tr>
              <a:tr h="4981007">
                <a:tc gridSpan="6" v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v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vMerge="1">
                  <a:txBody>
                    <a:bodyPr/>
                    <a:lstStyle/>
                    <a:p>
                      <a:pPr latinLnBrk="1"/>
                      <a:endParaRPr lang="ko-KR" altLang="en-US"/>
                    </a:p>
                  </a:txBody>
                  <a:tcPr/>
                </a:tc>
                <a:tc hMerge="1" vMerge="1">
                  <a:txBody>
                    <a:bodyPr/>
                    <a:lstStyle/>
                    <a:p>
                      <a:pPr latinLnBrk="1"/>
                      <a:endParaRPr lang="ko-KR" altLang="en-US"/>
                    </a:p>
                  </a:txBody>
                  <a:tcPr/>
                </a:tc>
                <a:tc hMerge="1" v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vMerge="1">
                  <a:txBody>
                    <a:bodyPr/>
                    <a:lstStyle/>
                    <a:p>
                      <a:pPr latinLnBrk="1"/>
                      <a:endParaRPr lang="ko-KR" altLang="en-US" sz="900" dirty="0"/>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endParaRPr lang="ko-KR" altLang="en-US" sz="900" dirty="0"/>
                    </a:p>
                  </a:txBody>
                  <a:tcPr marL="36000" marR="36000" marT="36000" marB="3600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6" name="텍스트 개체 틀 5"/>
          <p:cNvSpPr>
            <a:spLocks noGrp="1"/>
          </p:cNvSpPr>
          <p:nvPr>
            <p:ph type="body" sz="quarter" idx="10"/>
          </p:nvPr>
        </p:nvSpPr>
        <p:spPr>
          <a:xfrm>
            <a:off x="7103286" y="1493927"/>
            <a:ext cx="2300284" cy="4981517"/>
          </a:xfrm>
          <a:prstGeom prst="rect">
            <a:avLst/>
          </a:prstGeom>
        </p:spPr>
        <p:txBody>
          <a:bodyPr/>
          <a:lstStyle>
            <a:lvl1pPr marL="87313" indent="-87313">
              <a:lnSpc>
                <a:spcPct val="100000"/>
              </a:lnSpc>
              <a:spcBef>
                <a:spcPts val="100"/>
              </a:spcBef>
              <a:spcAft>
                <a:spcPts val="100"/>
              </a:spcAft>
              <a:buFont typeface="Arial" panose="020B0604020202020204" pitchFamily="34" charset="0"/>
              <a:buChar char="•"/>
              <a:defRPr sz="900"/>
            </a:lvl1pPr>
            <a:lvl2pPr marL="457200" indent="0">
              <a:buNone/>
              <a:defRPr sz="900"/>
            </a:lvl2pPr>
            <a:lvl3pPr marL="914400" indent="0">
              <a:buNone/>
              <a:defRPr sz="900"/>
            </a:lvl3pPr>
            <a:lvl4pPr marL="1371600" indent="0">
              <a:buNone/>
              <a:defRPr sz="900"/>
            </a:lvl4pPr>
            <a:lvl5pPr marL="1828800" indent="0">
              <a:buNone/>
              <a:defRPr sz="900"/>
            </a:lvl5pPr>
          </a:lstStyle>
          <a:p>
            <a:pPr lvl="0"/>
            <a:endParaRPr lang="ko-KR" altLang="en-US" dirty="0"/>
          </a:p>
        </p:txBody>
      </p:sp>
      <p:sp>
        <p:nvSpPr>
          <p:cNvPr id="7" name="슬라이드 번호 개체 틀 10"/>
          <p:cNvSpPr>
            <a:spLocks noGrp="1"/>
          </p:cNvSpPr>
          <p:nvPr>
            <p:ph type="sldNum" sz="quarter" idx="4"/>
          </p:nvPr>
        </p:nvSpPr>
        <p:spPr>
          <a:xfrm>
            <a:off x="4327200" y="6590501"/>
            <a:ext cx="1258128" cy="216000"/>
          </a:xfrm>
          <a:prstGeom prst="rect">
            <a:avLst/>
          </a:prstGeom>
        </p:spPr>
        <p:txBody>
          <a:bodyPr vert="horz" lIns="91440" tIns="45720" rIns="91440" bIns="45720" rtlCol="0" anchor="ctr"/>
          <a:lstStyle>
            <a:lvl1pPr algn="ctr">
              <a:defRPr sz="1000">
                <a:solidFill>
                  <a:schemeClr val="tx1"/>
                </a:solidFill>
              </a:defRPr>
            </a:lvl1pPr>
          </a:lstStyle>
          <a:p>
            <a:fld id="{9DF8E3FD-B4FB-473B-BCAD-C4534B9A9D97}" type="slidenum">
              <a:rPr lang="ko-KR" altLang="en-US" smtClean="0"/>
              <a:pPr/>
              <a:t>‹#›</a:t>
            </a:fld>
            <a:endParaRPr lang="ko-KR" altLang="en-US" dirty="0"/>
          </a:p>
        </p:txBody>
      </p:sp>
      <p:sp>
        <p:nvSpPr>
          <p:cNvPr id="11" name="텍스트 개체 틀 10"/>
          <p:cNvSpPr>
            <a:spLocks noGrp="1"/>
          </p:cNvSpPr>
          <p:nvPr>
            <p:ph type="body" sz="quarter" idx="12"/>
          </p:nvPr>
        </p:nvSpPr>
        <p:spPr>
          <a:xfrm>
            <a:off x="3390640" y="755764"/>
            <a:ext cx="2101850" cy="162201"/>
          </a:xfrm>
          <a:prstGeom prst="rect">
            <a:avLst/>
          </a:prstGeom>
        </p:spPr>
        <p:txBody>
          <a:bodyPr lIns="72000" tIns="36000" rIns="72000" bIns="36000"/>
          <a:lstStyle>
            <a:lvl1pPr marL="0" indent="0">
              <a:lnSpc>
                <a:spcPct val="100000"/>
              </a:lnSpc>
              <a:spcBef>
                <a:spcPts val="0"/>
              </a:spcBef>
              <a:buNone/>
              <a:defRPr sz="900"/>
            </a:lvl1pPr>
            <a:lvl2pPr marL="457200" indent="0">
              <a:buNone/>
              <a:defRPr sz="900"/>
            </a:lvl2pPr>
            <a:lvl3pPr marL="914400" indent="0">
              <a:buNone/>
              <a:defRPr sz="900"/>
            </a:lvl3pPr>
            <a:lvl4pPr marL="1371600" indent="0">
              <a:buNone/>
              <a:defRPr sz="900"/>
            </a:lvl4pPr>
            <a:lvl5pPr marL="1828800" indent="0">
              <a:buNone/>
              <a:defRPr sz="900"/>
            </a:lvl5pPr>
          </a:lstStyle>
          <a:p>
            <a:pPr lvl="0"/>
            <a:endParaRPr lang="ko-KR" altLang="en-US" dirty="0"/>
          </a:p>
        </p:txBody>
      </p:sp>
      <p:sp>
        <p:nvSpPr>
          <p:cNvPr id="12" name="텍스트 개체 틀 10"/>
          <p:cNvSpPr>
            <a:spLocks noGrp="1"/>
          </p:cNvSpPr>
          <p:nvPr>
            <p:ph type="body" sz="quarter" idx="13"/>
          </p:nvPr>
        </p:nvSpPr>
        <p:spPr>
          <a:xfrm>
            <a:off x="956623" y="1010025"/>
            <a:ext cx="8434506" cy="193878"/>
          </a:xfrm>
          <a:prstGeom prst="rect">
            <a:avLst/>
          </a:prstGeom>
        </p:spPr>
        <p:txBody>
          <a:bodyPr lIns="72000" tIns="36000" rIns="72000" bIns="36000"/>
          <a:lstStyle>
            <a:lvl1pPr marL="0" indent="0">
              <a:buNone/>
              <a:defRPr sz="900"/>
            </a:lvl1pPr>
            <a:lvl2pPr marL="457200" indent="0">
              <a:buNone/>
              <a:defRPr sz="900"/>
            </a:lvl2pPr>
            <a:lvl3pPr marL="914400" indent="0">
              <a:buNone/>
              <a:defRPr sz="900"/>
            </a:lvl3pPr>
            <a:lvl4pPr marL="1371600" indent="0">
              <a:buNone/>
              <a:defRPr sz="900"/>
            </a:lvl4pPr>
            <a:lvl5pPr marL="1828800" indent="0">
              <a:buNone/>
              <a:defRPr sz="900"/>
            </a:lvl5pPr>
          </a:lstStyle>
          <a:p>
            <a:pPr lvl="0"/>
            <a:endParaRPr lang="ko-KR" altLang="en-US" dirty="0"/>
          </a:p>
        </p:txBody>
      </p:sp>
      <p:sp>
        <p:nvSpPr>
          <p:cNvPr id="13" name="텍스트 개체 틀 10"/>
          <p:cNvSpPr>
            <a:spLocks noGrp="1"/>
          </p:cNvSpPr>
          <p:nvPr>
            <p:ph type="body" sz="quarter" idx="14"/>
          </p:nvPr>
        </p:nvSpPr>
        <p:spPr>
          <a:xfrm>
            <a:off x="6238614" y="755764"/>
            <a:ext cx="3140076" cy="177622"/>
          </a:xfrm>
          <a:prstGeom prst="rect">
            <a:avLst/>
          </a:prstGeom>
        </p:spPr>
        <p:txBody>
          <a:bodyPr lIns="72000" tIns="36000" rIns="72000" bIns="36000"/>
          <a:lstStyle>
            <a:lvl1pPr marL="0" indent="0">
              <a:lnSpc>
                <a:spcPct val="100000"/>
              </a:lnSpc>
              <a:spcBef>
                <a:spcPts val="0"/>
              </a:spcBef>
              <a:buNone/>
              <a:defRPr sz="900"/>
            </a:lvl1pPr>
            <a:lvl2pPr marL="457200" indent="0">
              <a:buNone/>
              <a:defRPr sz="900"/>
            </a:lvl2pPr>
            <a:lvl3pPr marL="914400" indent="0">
              <a:buNone/>
              <a:defRPr sz="900"/>
            </a:lvl3pPr>
            <a:lvl4pPr marL="1371600" indent="0">
              <a:buNone/>
              <a:defRPr sz="900"/>
            </a:lvl4pPr>
            <a:lvl5pPr marL="1828800" indent="0">
              <a:buNone/>
              <a:defRPr sz="900"/>
            </a:lvl5pPr>
          </a:lstStyle>
          <a:p>
            <a:pPr lvl="0"/>
            <a:endParaRPr lang="ko-KR" altLang="en-US" dirty="0"/>
          </a:p>
        </p:txBody>
      </p:sp>
      <p:sp>
        <p:nvSpPr>
          <p:cNvPr id="10" name="텍스트 개체 틀 10"/>
          <p:cNvSpPr>
            <a:spLocks noGrp="1"/>
          </p:cNvSpPr>
          <p:nvPr>
            <p:ph type="body" sz="quarter" idx="15"/>
          </p:nvPr>
        </p:nvSpPr>
        <p:spPr>
          <a:xfrm>
            <a:off x="956623" y="755764"/>
            <a:ext cx="1404000" cy="193878"/>
          </a:xfrm>
          <a:prstGeom prst="rect">
            <a:avLst/>
          </a:prstGeom>
        </p:spPr>
        <p:txBody>
          <a:bodyPr lIns="72000" tIns="36000" rIns="72000" bIns="36000"/>
          <a:lstStyle>
            <a:lvl1pPr marL="0" indent="0">
              <a:lnSpc>
                <a:spcPct val="100000"/>
              </a:lnSpc>
              <a:spcBef>
                <a:spcPts val="0"/>
              </a:spcBef>
              <a:buNone/>
              <a:defRPr sz="900"/>
            </a:lvl1pPr>
            <a:lvl2pPr marL="457200" indent="0">
              <a:buNone/>
              <a:defRPr sz="900"/>
            </a:lvl2pPr>
            <a:lvl3pPr marL="914400" indent="0">
              <a:buNone/>
              <a:defRPr sz="900"/>
            </a:lvl3pPr>
            <a:lvl4pPr marL="1371600" indent="0">
              <a:buNone/>
              <a:defRPr sz="900"/>
            </a:lvl4pPr>
            <a:lvl5pPr marL="1828800" indent="0">
              <a:buNone/>
              <a:defRPr sz="900"/>
            </a:lvl5pPr>
          </a:lstStyle>
          <a:p>
            <a:pPr lvl="0"/>
            <a:endParaRPr lang="ko-KR" altLang="en-US" dirty="0"/>
          </a:p>
        </p:txBody>
      </p:sp>
    </p:spTree>
    <p:extLst>
      <p:ext uri="{BB962C8B-B14F-4D97-AF65-F5344CB8AC3E}">
        <p14:creationId xmlns:p14="http://schemas.microsoft.com/office/powerpoint/2010/main" val="32897163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2" name="그림 11">
            <a:extLst>
              <a:ext uri="{FF2B5EF4-FFF2-40B4-BE49-F238E27FC236}">
                <a16:creationId xmlns:a16="http://schemas.microsoft.com/office/drawing/2014/main" id="{D11E9F2C-2481-4ADA-BED0-11F45689328C}"/>
              </a:ext>
            </a:extLst>
          </p:cNvPr>
          <p:cNvPicPr>
            <a:picLocks noChangeAspect="1"/>
          </p:cNvPicPr>
          <p:nvPr userDrawn="1"/>
        </p:nvPicPr>
        <p:blipFill>
          <a:blip r:embed="rId9"/>
          <a:stretch>
            <a:fillRect/>
          </a:stretch>
        </p:blipFill>
        <p:spPr>
          <a:xfrm>
            <a:off x="8685200" y="6640342"/>
            <a:ext cx="738733" cy="91480"/>
          </a:xfrm>
          <a:prstGeom prst="rect">
            <a:avLst/>
          </a:prstGeom>
        </p:spPr>
      </p:pic>
      <p:cxnSp>
        <p:nvCxnSpPr>
          <p:cNvPr id="8" name="직선 연결선 7"/>
          <p:cNvCxnSpPr/>
          <p:nvPr userDrawn="1"/>
        </p:nvCxnSpPr>
        <p:spPr>
          <a:xfrm>
            <a:off x="445168" y="540000"/>
            <a:ext cx="900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직선 연결선 8"/>
          <p:cNvCxnSpPr/>
          <p:nvPr userDrawn="1"/>
        </p:nvCxnSpPr>
        <p:spPr>
          <a:xfrm>
            <a:off x="465216" y="6588000"/>
            <a:ext cx="900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직사각형 16"/>
          <p:cNvSpPr/>
          <p:nvPr userDrawn="1"/>
        </p:nvSpPr>
        <p:spPr>
          <a:xfrm>
            <a:off x="4950372" y="376754"/>
            <a:ext cx="4519928" cy="153888"/>
          </a:xfrm>
          <a:prstGeom prst="rect">
            <a:avLst/>
          </a:prstGeom>
        </p:spPr>
        <p:txBody>
          <a:bodyPr wrap="square" lIns="0" tIns="0" rIns="0" bIns="0">
            <a:spAutoFit/>
          </a:bodyPr>
          <a:lstStyle/>
          <a:p>
            <a:pPr algn="r"/>
            <a:r>
              <a:rPr lang="ko-KR" altLang="en-US" sz="1000" b="1" kern="100" dirty="0" smtClean="0">
                <a:effectLst/>
                <a:latin typeface="맑은 고딕" panose="020B0503020000020004" pitchFamily="50" charset="-127"/>
                <a:ea typeface="+mn-ea"/>
                <a:cs typeface="Times New Roman" panose="02020603050405020304" pitchFamily="18" charset="0"/>
              </a:rPr>
              <a:t>사용자인터페이스설계서 </a:t>
            </a:r>
            <a:r>
              <a:rPr lang="en-US" altLang="ko-KR" sz="1000" b="1" kern="100" dirty="0">
                <a:effectLst/>
                <a:latin typeface="맑은 고딕" panose="020B0503020000020004" pitchFamily="50" charset="-127"/>
                <a:ea typeface="+mn-ea"/>
                <a:cs typeface="Times New Roman" panose="02020603050405020304" pitchFamily="18" charset="0"/>
              </a:rPr>
              <a:t>– 02.</a:t>
            </a:r>
            <a:r>
              <a:rPr lang="ko-KR" altLang="en-US" sz="1000" b="1" kern="100" dirty="0">
                <a:effectLst/>
                <a:latin typeface="맑은 고딕" panose="020B0503020000020004" pitchFamily="50" charset="-127"/>
                <a:ea typeface="+mn-ea"/>
                <a:cs typeface="Times New Roman" panose="02020603050405020304" pitchFamily="18" charset="0"/>
              </a:rPr>
              <a:t>입찰</a:t>
            </a:r>
            <a:r>
              <a:rPr lang="en-US" altLang="ko-KR" sz="1000" b="1" kern="100" dirty="0">
                <a:effectLst/>
                <a:latin typeface="맑은 고딕" panose="020B0503020000020004" pitchFamily="50" charset="-127"/>
                <a:ea typeface="+mn-ea"/>
                <a:cs typeface="Times New Roman" panose="02020603050405020304" pitchFamily="18" charset="0"/>
              </a:rPr>
              <a:t>-</a:t>
            </a:r>
            <a:r>
              <a:rPr lang="ko-KR" altLang="en-US" sz="1000" b="1" kern="100" dirty="0">
                <a:effectLst/>
                <a:latin typeface="맑은 고딕" panose="020B0503020000020004" pitchFamily="50" charset="-127"/>
                <a:ea typeface="+mn-ea"/>
                <a:cs typeface="Times New Roman" panose="02020603050405020304" pitchFamily="18" charset="0"/>
              </a:rPr>
              <a:t>모바일</a:t>
            </a:r>
            <a:endParaRPr lang="ko-KR" altLang="en-US" sz="1000" dirty="0"/>
          </a:p>
        </p:txBody>
      </p:sp>
      <p:sp>
        <p:nvSpPr>
          <p:cNvPr id="10" name="직사각형 9"/>
          <p:cNvSpPr/>
          <p:nvPr userDrawn="1"/>
        </p:nvSpPr>
        <p:spPr>
          <a:xfrm>
            <a:off x="445168" y="376754"/>
            <a:ext cx="3939450" cy="153888"/>
          </a:xfrm>
          <a:prstGeom prst="rect">
            <a:avLst/>
          </a:prstGeom>
        </p:spPr>
        <p:txBody>
          <a:bodyPr wrap="square" lIns="0" tIns="0" rIns="0" bIns="0">
            <a:spAutoFit/>
          </a:bodyPr>
          <a:lstStyle/>
          <a:p>
            <a:pPr marL="0" marR="0" lvl="0" indent="0" algn="l" defTabSz="914400" rtl="0" eaLnBrk="1" fontAlgn="auto" latinLnBrk="1" hangingPunct="1">
              <a:lnSpc>
                <a:spcPct val="100000"/>
              </a:lnSpc>
              <a:spcBef>
                <a:spcPts val="1000"/>
              </a:spcBef>
              <a:spcAft>
                <a:spcPts val="0"/>
              </a:spcAft>
              <a:buClrTx/>
              <a:buSzTx/>
              <a:buFont typeface="Arial" panose="020B0604020202020204" pitchFamily="34" charset="0"/>
              <a:buNone/>
              <a:tabLst/>
              <a:defRPr/>
            </a:pPr>
            <a:r>
              <a:rPr lang="ko-KR" altLang="en-US" sz="1000" b="1" kern="100" dirty="0">
                <a:effectLst/>
              </a:rPr>
              <a:t>국방전자조달시스템 고도화 구축사업</a:t>
            </a:r>
          </a:p>
        </p:txBody>
      </p:sp>
      <p:pic>
        <p:nvPicPr>
          <p:cNvPr id="11" name="Picture 1">
            <a:extLst>
              <a:ext uri="{FF2B5EF4-FFF2-40B4-BE49-F238E27FC236}">
                <a16:creationId xmlns:a16="http://schemas.microsoft.com/office/drawing/2014/main" id="{3BECD7E0-1778-4975-BFA0-E9C4CE243F54}"/>
              </a:ext>
            </a:extLst>
          </p:cNvPr>
          <p:cNvPicPr>
            <a:picLocks noChangeAspect="1"/>
          </p:cNvPicPr>
          <p:nvPr userDrawn="1"/>
        </p:nvPicPr>
        <p:blipFill>
          <a:blip r:embed="rId10"/>
          <a:stretch>
            <a:fillRect/>
          </a:stretch>
        </p:blipFill>
        <p:spPr>
          <a:xfrm>
            <a:off x="474463" y="6577231"/>
            <a:ext cx="668534" cy="233715"/>
          </a:xfrm>
          <a:prstGeom prst="rect">
            <a:avLst/>
          </a:prstGeom>
          <a:noFill/>
          <a:ln>
            <a:noFill/>
          </a:ln>
          <a:effectLst/>
        </p:spPr>
      </p:pic>
    </p:spTree>
    <p:extLst>
      <p:ext uri="{BB962C8B-B14F-4D97-AF65-F5344CB8AC3E}">
        <p14:creationId xmlns:p14="http://schemas.microsoft.com/office/powerpoint/2010/main" val="371401212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7" r:id="rId3"/>
    <p:sldLayoutId id="2147483664" r:id="rId4"/>
    <p:sldLayoutId id="2147483665" r:id="rId5"/>
    <p:sldLayoutId id="2147483666" r:id="rId6"/>
    <p:sldLayoutId id="2147483668" r:id="rId7"/>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9.sv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9.svg"/><Relationship Id="rId4" Type="http://schemas.openxmlformats.org/officeDocument/2006/relationships/image" Target="../media/image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hyperlink" Target="http://www.g2b.go.kr/" TargetMode="Externa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7.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9.svg"/><Relationship Id="rId4" Type="http://schemas.openxmlformats.org/officeDocument/2006/relationships/image" Target="../media/image7.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제목 52"/>
          <p:cNvSpPr>
            <a:spLocks noGrp="1"/>
          </p:cNvSpPr>
          <p:nvPr>
            <p:ph type="ctrTitle"/>
          </p:nvPr>
        </p:nvSpPr>
        <p:spPr/>
        <p:txBody>
          <a:bodyPr/>
          <a:lstStyle/>
          <a:p>
            <a:r>
              <a:rPr lang="ko-KR" altLang="en-US" dirty="0"/>
              <a:t>사용자인터페이스 설계서 </a:t>
            </a:r>
            <a:r>
              <a:rPr lang="en-US" altLang="ko-KR" dirty="0"/>
              <a:t>- </a:t>
            </a:r>
            <a:r>
              <a:rPr lang="ko-KR" altLang="en-US" dirty="0"/>
              <a:t>모바일</a:t>
            </a:r>
          </a:p>
        </p:txBody>
      </p:sp>
      <p:sp>
        <p:nvSpPr>
          <p:cNvPr id="54" name="부제목 53"/>
          <p:cNvSpPr>
            <a:spLocks noGrp="1"/>
          </p:cNvSpPr>
          <p:nvPr>
            <p:ph type="subTitle" idx="1"/>
          </p:nvPr>
        </p:nvSpPr>
        <p:spPr/>
        <p:txBody>
          <a:bodyPr/>
          <a:lstStyle/>
          <a:p>
            <a:r>
              <a:rPr lang="en-US" altLang="ko-KR" dirty="0"/>
              <a:t>02.</a:t>
            </a:r>
            <a:r>
              <a:rPr lang="ko-KR" altLang="en-US" dirty="0"/>
              <a:t>입찰</a:t>
            </a:r>
          </a:p>
        </p:txBody>
      </p:sp>
      <p:sp>
        <p:nvSpPr>
          <p:cNvPr id="56" name="텍스트 개체 틀 55"/>
          <p:cNvSpPr>
            <a:spLocks noGrp="1"/>
          </p:cNvSpPr>
          <p:nvPr>
            <p:ph type="body" sz="quarter" idx="11"/>
          </p:nvPr>
        </p:nvSpPr>
        <p:spPr/>
        <p:txBody>
          <a:bodyPr/>
          <a:lstStyle/>
          <a:p>
            <a:r>
              <a:rPr lang="ko-KR" altLang="en-US" dirty="0"/>
              <a:t>국방전자조달시스템 고도화 구축사업</a:t>
            </a:r>
          </a:p>
        </p:txBody>
      </p:sp>
      <p:sp>
        <p:nvSpPr>
          <p:cNvPr id="57" name="텍스트 개체 틀 56"/>
          <p:cNvSpPr>
            <a:spLocks noGrp="1"/>
          </p:cNvSpPr>
          <p:nvPr>
            <p:ph type="body" sz="quarter" idx="12"/>
          </p:nvPr>
        </p:nvSpPr>
        <p:spPr/>
        <p:txBody>
          <a:bodyPr/>
          <a:lstStyle/>
          <a:p>
            <a:r>
              <a:rPr lang="en-US" altLang="ko-KR" dirty="0"/>
              <a:t>D2BA-AP-3CD-0601</a:t>
            </a:r>
            <a:endParaRPr lang="ko-KR" altLang="en-US" dirty="0"/>
          </a:p>
        </p:txBody>
      </p:sp>
      <p:sp>
        <p:nvSpPr>
          <p:cNvPr id="6" name="텍스트 개체 틀 5"/>
          <p:cNvSpPr>
            <a:spLocks noGrp="1"/>
          </p:cNvSpPr>
          <p:nvPr>
            <p:ph type="body" sz="quarter" idx="13"/>
          </p:nvPr>
        </p:nvSpPr>
        <p:spPr/>
        <p:txBody>
          <a:bodyPr/>
          <a:lstStyle/>
          <a:p>
            <a:r>
              <a:rPr lang="en-US" altLang="ko-KR" dirty="0"/>
              <a:t>2026.06.18</a:t>
            </a:r>
            <a:endParaRPr lang="ko-KR" altLang="en-US" dirty="0"/>
          </a:p>
        </p:txBody>
      </p:sp>
    </p:spTree>
    <p:extLst>
      <p:ext uri="{BB962C8B-B14F-4D97-AF65-F5344CB8AC3E}">
        <p14:creationId xmlns:p14="http://schemas.microsoft.com/office/powerpoint/2010/main" val="27156324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1</a:t>
            </a:fld>
            <a:endParaRPr lang="ko-KR" altLang="en-US"/>
          </a:p>
        </p:txBody>
      </p:sp>
      <p:sp>
        <p:nvSpPr>
          <p:cNvPr id="4" name="텍스트 개체 틀 15">
            <a:extLst>
              <a:ext uri="{FF2B5EF4-FFF2-40B4-BE49-F238E27FC236}">
                <a16:creationId xmlns:a16="http://schemas.microsoft.com/office/drawing/2014/main" id="{44A815B9-A3EA-BA0B-410C-A69AB9D1A040}"/>
              </a:ext>
            </a:extLst>
          </p:cNvPr>
          <p:cNvSpPr>
            <a:spLocks noGrp="1"/>
          </p:cNvSpPr>
          <p:nvPr>
            <p:ph type="body" sz="quarter" idx="10"/>
          </p:nvPr>
        </p:nvSpPr>
        <p:spPr>
          <a:xfrm>
            <a:off x="2250485" y="821363"/>
            <a:ext cx="5400000" cy="417890"/>
          </a:xfrm>
        </p:spPr>
        <p:txBody>
          <a:bodyPr/>
          <a:lstStyle/>
          <a:p>
            <a:r>
              <a:rPr lang="ko-KR" altLang="en-US" dirty="0" err="1"/>
              <a:t>제</a:t>
            </a:r>
            <a:r>
              <a:rPr lang="ko-KR" altLang="en-US" dirty="0" err="1">
                <a:sym typeface="Wingdings" panose="05000000000000000000" pitchFamily="2" charset="2"/>
              </a:rPr>
              <a:t></a:t>
            </a:r>
            <a:r>
              <a:rPr lang="ko-KR" altLang="en-US" dirty="0" err="1"/>
              <a:t>개</a:t>
            </a:r>
            <a:r>
              <a:rPr lang="ko-KR" altLang="en-US" dirty="0"/>
              <a:t> 정 이 력</a:t>
            </a:r>
          </a:p>
        </p:txBody>
      </p:sp>
      <p:graphicFrame>
        <p:nvGraphicFramePr>
          <p:cNvPr id="7" name="Group 759">
            <a:extLst>
              <a:ext uri="{FF2B5EF4-FFF2-40B4-BE49-F238E27FC236}">
                <a16:creationId xmlns:a16="http://schemas.microsoft.com/office/drawing/2014/main" id="{2831990E-7701-AF86-804F-42A7268A9043}"/>
              </a:ext>
            </a:extLst>
          </p:cNvPr>
          <p:cNvGraphicFramePr>
            <a:graphicFrameLocks noGrp="1"/>
          </p:cNvGraphicFramePr>
          <p:nvPr>
            <p:extLst>
              <p:ext uri="{D42A27DB-BD31-4B8C-83A1-F6EECF244321}">
                <p14:modId xmlns:p14="http://schemas.microsoft.com/office/powerpoint/2010/main" val="90122830"/>
              </p:ext>
            </p:extLst>
          </p:nvPr>
        </p:nvGraphicFramePr>
        <p:xfrm>
          <a:off x="652374" y="1286787"/>
          <a:ext cx="8782571" cy="4370978"/>
        </p:xfrm>
        <a:graphic>
          <a:graphicData uri="http://schemas.openxmlformats.org/drawingml/2006/table">
            <a:tbl>
              <a:tblPr/>
              <a:tblGrid>
                <a:gridCol w="784888">
                  <a:extLst>
                    <a:ext uri="{9D8B030D-6E8A-4147-A177-3AD203B41FA5}">
                      <a16:colId xmlns:a16="http://schemas.microsoft.com/office/drawing/2014/main" val="20000"/>
                    </a:ext>
                  </a:extLst>
                </a:gridCol>
                <a:gridCol w="611958">
                  <a:extLst>
                    <a:ext uri="{9D8B030D-6E8A-4147-A177-3AD203B41FA5}">
                      <a16:colId xmlns:a16="http://schemas.microsoft.com/office/drawing/2014/main" val="20001"/>
                    </a:ext>
                  </a:extLst>
                </a:gridCol>
                <a:gridCol w="4009835">
                  <a:extLst>
                    <a:ext uri="{9D8B030D-6E8A-4147-A177-3AD203B41FA5}">
                      <a16:colId xmlns:a16="http://schemas.microsoft.com/office/drawing/2014/main" val="20002"/>
                    </a:ext>
                  </a:extLst>
                </a:gridCol>
                <a:gridCol w="1256145">
                  <a:extLst>
                    <a:ext uri="{9D8B030D-6E8A-4147-A177-3AD203B41FA5}">
                      <a16:colId xmlns:a16="http://schemas.microsoft.com/office/drawing/2014/main" val="20003"/>
                    </a:ext>
                  </a:extLst>
                </a:gridCol>
                <a:gridCol w="2119745">
                  <a:extLst>
                    <a:ext uri="{9D8B030D-6E8A-4147-A177-3AD203B41FA5}">
                      <a16:colId xmlns:a16="http://schemas.microsoft.com/office/drawing/2014/main" val="3538833938"/>
                    </a:ext>
                  </a:extLst>
                </a:gridCol>
              </a:tblGrid>
              <a:tr h="0">
                <a:tc>
                  <a:txBody>
                    <a:bodyPr/>
                    <a:lstStyle/>
                    <a:p>
                      <a:pPr algn="ctr">
                        <a:lnSpc>
                          <a:spcPct val="120000"/>
                        </a:lnSpc>
                        <a:defRPr/>
                      </a:pPr>
                      <a:r>
                        <a:rPr lang="ko-KR" altLang="en-US" sz="1000" b="1" i="0" u="none" strike="noStrike">
                          <a:solidFill>
                            <a:srgbClr val="000000"/>
                          </a:solidFill>
                          <a:effectLst/>
                          <a:latin typeface="맑은 고딕"/>
                          <a:ea typeface="맑은 고딕"/>
                        </a:rPr>
                        <a:t>제개정일</a:t>
                      </a:r>
                      <a:endParaRPr lang="ko-KR" altLang="en-US" sz="1000" b="1" i="0" u="none" strike="noStrike">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a:solidFill>
                            <a:srgbClr val="000000"/>
                          </a:solidFill>
                          <a:effectLst/>
                          <a:latin typeface="맑은 고딕"/>
                          <a:ea typeface="맑은 고딕"/>
                        </a:rPr>
                        <a:t>버전</a:t>
                      </a:r>
                      <a:endParaRPr lang="ko-KR" altLang="en-US" sz="1000" b="1" i="0" u="none" strike="noStrike">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a:solidFill>
                            <a:srgbClr val="000000"/>
                          </a:solidFill>
                          <a:effectLst/>
                          <a:latin typeface="맑은 고딕"/>
                          <a:ea typeface="맑은 고딕"/>
                        </a:rPr>
                        <a:t>제개정내용</a:t>
                      </a:r>
                      <a:endParaRPr lang="ko-KR" altLang="en-US" sz="1000" b="1"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a:solidFill>
                            <a:srgbClr val="000000"/>
                          </a:solidFill>
                          <a:effectLst/>
                          <a:latin typeface="맑은 고딕"/>
                          <a:ea typeface="맑은 고딕"/>
                        </a:rPr>
                        <a:t>작성자</a:t>
                      </a:r>
                      <a:endParaRPr lang="ko-KR" altLang="en-US" sz="1000" b="1"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a:solidFill>
                            <a:srgbClr val="000000"/>
                          </a:solidFill>
                          <a:latin typeface="맑은 고딕"/>
                          <a:ea typeface="맑은 고딕"/>
                        </a:rPr>
                        <a:t>승인자 및 관련근거</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extLst>
                  <a:ext uri="{0D108BD9-81ED-4DB2-BD59-A6C34878D82A}">
                    <a16:rowId xmlns:a16="http://schemas.microsoft.com/office/drawing/2014/main" val="10000"/>
                  </a:ext>
                </a:extLst>
              </a:tr>
              <a:tr h="0">
                <a:tc>
                  <a:txBody>
                    <a:bodyPr/>
                    <a:lstStyle/>
                    <a:p>
                      <a:pPr algn="ctr">
                        <a:lnSpc>
                          <a:spcPct val="120000"/>
                        </a:lnSpc>
                        <a:defRPr/>
                      </a:pPr>
                      <a:r>
                        <a:rPr lang="en-US" sz="900" b="0" i="0" u="none" strike="noStrike" dirty="0">
                          <a:solidFill>
                            <a:srgbClr val="000000"/>
                          </a:solidFill>
                          <a:effectLst/>
                          <a:latin typeface="맑은 고딕"/>
                          <a:ea typeface="맑은 고딕"/>
                        </a:rPr>
                        <a:t>2025.11.03</a:t>
                      </a:r>
                      <a:endParaRPr 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en-US" sz="900" b="0" i="0" u="none" strike="noStrike">
                          <a:solidFill>
                            <a:srgbClr val="000000"/>
                          </a:solidFill>
                          <a:effectLst/>
                          <a:latin typeface="맑은 고딕"/>
                          <a:ea typeface="맑은 고딕"/>
                        </a:rPr>
                        <a:t>0.1</a:t>
                      </a:r>
                      <a:endParaRPr lang="en-US" sz="900" b="0" i="0" u="none" strike="noStrike">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r>
                        <a:rPr lang="ko-KR" altLang="en-US" sz="900" b="0" i="0" u="none" strike="noStrike">
                          <a:solidFill>
                            <a:srgbClr val="000000"/>
                          </a:solidFill>
                          <a:effectLst/>
                          <a:latin typeface="맑은 고딕"/>
                          <a:ea typeface="맑은 고딕"/>
                        </a:rPr>
                        <a:t>서식 작성</a:t>
                      </a:r>
                      <a:endParaRPr lang="ko-KR" altLang="en-US" sz="900" b="0" i="0" u="none" strike="noStrike">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ko-KR" altLang="en-US" sz="900" b="0" i="0" u="none" strike="noStrike" dirty="0">
                          <a:solidFill>
                            <a:srgbClr val="000000"/>
                          </a:solidFill>
                          <a:latin typeface="+mn-lt"/>
                          <a:ea typeface="맑은 고딕"/>
                        </a:rPr>
                        <a:t>신미영</a:t>
                      </a:r>
                      <a:endParaRPr lang="ko-KR" alt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0">
                <a:tc>
                  <a:txBody>
                    <a:bodyPr/>
                    <a:lstStyle/>
                    <a:p>
                      <a:pPr algn="ctr">
                        <a:lnSpc>
                          <a:spcPct val="120000"/>
                        </a:lnSpc>
                        <a:defRPr/>
                      </a:pPr>
                      <a:r>
                        <a:rPr lang="en-US" altLang="ko-KR" sz="900" b="0" i="0" u="none" strike="noStrike" dirty="0">
                          <a:solidFill>
                            <a:srgbClr val="000000"/>
                          </a:solidFill>
                          <a:effectLst/>
                          <a:latin typeface="맑은 고딕"/>
                          <a:ea typeface="맑은 고딕"/>
                        </a:rPr>
                        <a:t>2026.03.16</a:t>
                      </a: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en-US" sz="900" b="0" i="0" u="none" strike="noStrike" dirty="0">
                          <a:solidFill>
                            <a:srgbClr val="000000"/>
                          </a:solidFill>
                          <a:effectLst/>
                          <a:latin typeface="맑은 고딕"/>
                          <a:ea typeface="맑은 고딕"/>
                        </a:rPr>
                        <a:t>0.3.2</a:t>
                      </a:r>
                      <a:endParaRPr 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r>
                        <a:rPr lang="ko-KR" altLang="en-US" sz="900" b="0" i="0" u="none" strike="noStrike" dirty="0">
                          <a:solidFill>
                            <a:srgbClr val="000000"/>
                          </a:solidFill>
                          <a:effectLst/>
                          <a:latin typeface="맑은 고딕"/>
                          <a:ea typeface="맑은 고딕"/>
                        </a:rPr>
                        <a:t>서식 수정</a:t>
                      </a:r>
                      <a:endParaRPr lang="en-US" altLang="ko-KR"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ko-KR" altLang="en-US" sz="900" b="0" i="0" u="none" strike="noStrike" dirty="0">
                          <a:solidFill>
                            <a:srgbClr val="000000"/>
                          </a:solidFill>
                          <a:latin typeface="맑은 고딕"/>
                          <a:ea typeface="맑은 고딕"/>
                        </a:rPr>
                        <a:t>김민재</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43089213"/>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2026.03.18</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0.5</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작성 완료</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latin typeface="+mn-lt"/>
                          <a:ea typeface="맑은 고딕"/>
                          <a:cs typeface="+mn-cs"/>
                        </a:rPr>
                        <a:t>김영수</a:t>
                      </a:r>
                      <a:r>
                        <a:rPr lang="en-US" altLang="ko-KR" sz="900" b="0" i="0" u="none" strike="noStrike" kern="1200" dirty="0">
                          <a:solidFill>
                            <a:srgbClr val="000000"/>
                          </a:solidFill>
                          <a:latin typeface="+mn-lt"/>
                          <a:ea typeface="맑은 고딕"/>
                          <a:cs typeface="+mn-cs"/>
                        </a:rPr>
                        <a:t>, </a:t>
                      </a:r>
                      <a:r>
                        <a:rPr lang="ko-KR" altLang="en-US" sz="900" b="0" i="0" u="none" strike="noStrike" kern="1200" dirty="0">
                          <a:solidFill>
                            <a:srgbClr val="000000"/>
                          </a:solidFill>
                          <a:latin typeface="+mn-lt"/>
                          <a:ea typeface="맑은 고딕"/>
                          <a:cs typeface="+mn-cs"/>
                        </a:rPr>
                        <a:t>권순태</a:t>
                      </a:r>
                      <a:endParaRPr lang="ko-KR" altLang="en-US" sz="900" b="0" i="0" u="none" strike="noStrike" kern="1200" dirty="0">
                        <a:solidFill>
                          <a:srgbClr val="000000"/>
                        </a:solidFill>
                        <a:latin typeface="맑은 고딕"/>
                        <a:ea typeface="맑은 고딕"/>
                        <a:cs typeface="+mn-cs"/>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66129506"/>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2026.03.20</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0.6</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내부 검토</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latin typeface="+mn-lt"/>
                          <a:ea typeface="맑은 고딕"/>
                          <a:cs typeface="+mn-cs"/>
                        </a:rPr>
                        <a:t>김영수</a:t>
                      </a:r>
                      <a:r>
                        <a:rPr lang="en-US" altLang="ko-KR" sz="900" b="0" i="0" u="none" strike="noStrike" kern="1200" dirty="0">
                          <a:solidFill>
                            <a:srgbClr val="000000"/>
                          </a:solidFill>
                          <a:latin typeface="+mn-lt"/>
                          <a:ea typeface="맑은 고딕"/>
                          <a:cs typeface="+mn-cs"/>
                        </a:rPr>
                        <a:t>, </a:t>
                      </a:r>
                      <a:r>
                        <a:rPr lang="ko-KR" altLang="en-US" sz="900" b="0" i="0" u="none" strike="noStrike" kern="1200" dirty="0">
                          <a:solidFill>
                            <a:srgbClr val="000000"/>
                          </a:solidFill>
                          <a:latin typeface="+mn-lt"/>
                          <a:ea typeface="맑은 고딕"/>
                          <a:cs typeface="+mn-cs"/>
                        </a:rPr>
                        <a:t>권순태</a:t>
                      </a:r>
                      <a:endParaRPr lang="ko-KR" altLang="en-US" sz="900" b="0" i="0" u="none" strike="noStrike" kern="1200" dirty="0">
                        <a:solidFill>
                          <a:srgbClr val="000000"/>
                        </a:solidFill>
                        <a:latin typeface="맑은 고딕"/>
                        <a:ea typeface="맑은 고딕"/>
                        <a:cs typeface="+mn-cs"/>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73795284"/>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2026.03.23</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0.7</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PL </a:t>
                      </a:r>
                      <a:r>
                        <a:rPr lang="ko-KR" altLang="en-US" sz="900" b="0" i="0" u="none" strike="noStrike" kern="1200" dirty="0">
                          <a:solidFill>
                            <a:srgbClr val="000000"/>
                          </a:solidFill>
                          <a:effectLst/>
                          <a:latin typeface="맑은 고딕"/>
                          <a:ea typeface="맑은 고딕"/>
                          <a:cs typeface="+mn-cs"/>
                        </a:rPr>
                        <a:t>검토</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err="1">
                          <a:solidFill>
                            <a:srgbClr val="000000"/>
                          </a:solidFill>
                          <a:latin typeface="맑은 고딕"/>
                          <a:ea typeface="맑은 고딕"/>
                          <a:cs typeface="+mn-cs"/>
                        </a:rPr>
                        <a:t>황종서</a:t>
                      </a:r>
                      <a:endParaRPr lang="ko-KR" altLang="en-US" sz="900" b="0" i="0" u="none" strike="noStrike" kern="1200" dirty="0">
                        <a:solidFill>
                          <a:srgbClr val="000000"/>
                        </a:solidFill>
                        <a:latin typeface="맑은 고딕"/>
                        <a:ea typeface="맑은 고딕"/>
                        <a:cs typeface="+mn-cs"/>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691604731"/>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2026.03.25</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0.8</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품질 검토</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latin typeface="맑은 고딕"/>
                          <a:ea typeface="맑은 고딕"/>
                          <a:cs typeface="+mn-cs"/>
                        </a:rPr>
                        <a:t>김민재</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03022206"/>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2026.03.26</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0.9</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PM </a:t>
                      </a:r>
                      <a:r>
                        <a:rPr lang="ko-KR" altLang="en-US" sz="900" b="0" i="0" u="none" strike="noStrike" kern="1200" dirty="0">
                          <a:solidFill>
                            <a:srgbClr val="000000"/>
                          </a:solidFill>
                          <a:effectLst/>
                          <a:latin typeface="맑은 고딕"/>
                          <a:ea typeface="맑은 고딕"/>
                          <a:cs typeface="+mn-cs"/>
                        </a:rPr>
                        <a:t>검토</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latin typeface="맑은 고딕"/>
                          <a:ea typeface="맑은 고딕"/>
                          <a:cs typeface="+mn-cs"/>
                        </a:rPr>
                        <a:t>박재욱</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08791080"/>
                  </a:ext>
                </a:extLst>
              </a:tr>
              <a:tr h="0">
                <a:tc>
                  <a:txBody>
                    <a:bodyPr/>
                    <a:lstStyle/>
                    <a:p>
                      <a:pPr marL="0" marR="0" lvl="0" indent="0" algn="ctr" defTabSz="914400" rtl="0" eaLnBrk="1" fontAlgn="auto" latinLnBrk="1" hangingPunct="1">
                        <a:lnSpc>
                          <a:spcPct val="120000"/>
                        </a:lnSpc>
                        <a:spcBef>
                          <a:spcPts val="0"/>
                        </a:spcBef>
                        <a:spcAft>
                          <a:spcPts val="0"/>
                        </a:spcAft>
                        <a:buClrTx/>
                        <a:buSzTx/>
                        <a:buFontTx/>
                        <a:buNone/>
                        <a:tabLst/>
                        <a:defRPr/>
                      </a:pPr>
                      <a:r>
                        <a:rPr lang="en-US" altLang="ko-KR" sz="900" b="0" i="0" u="none" strike="noStrike" kern="1200" dirty="0">
                          <a:solidFill>
                            <a:srgbClr val="000000"/>
                          </a:solidFill>
                          <a:effectLst/>
                          <a:latin typeface="+mn-lt"/>
                          <a:ea typeface="맑은 고딕"/>
                          <a:cs typeface="+mn-cs"/>
                        </a:rPr>
                        <a:t>2026.04.17</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en-US" sz="900" b="0" i="0" u="none" strike="noStrike" dirty="0">
                          <a:solidFill>
                            <a:srgbClr val="000000"/>
                          </a:solidFill>
                          <a:latin typeface="맑은 고딕"/>
                          <a:ea typeface="맑은 고딕"/>
                        </a:rPr>
                        <a:t>1.0</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r>
                        <a:rPr lang="en-US" altLang="ko-KR" sz="900" b="0" i="0" u="none" strike="noStrike" dirty="0">
                          <a:solidFill>
                            <a:srgbClr val="000000"/>
                          </a:solidFill>
                          <a:latin typeface="맑은 고딕"/>
                          <a:ea typeface="맑은 고딕"/>
                        </a:rPr>
                        <a:t>TF </a:t>
                      </a:r>
                      <a:r>
                        <a:rPr lang="ko-KR" altLang="en-US" sz="900" b="0" i="0" u="none" strike="noStrike" dirty="0">
                          <a:solidFill>
                            <a:srgbClr val="000000"/>
                          </a:solidFill>
                          <a:latin typeface="맑은 고딕"/>
                          <a:ea typeface="맑은 고딕"/>
                        </a:rPr>
                        <a:t>승인</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ko-KR" altLang="en-US" sz="900" b="0" i="0" u="none" strike="noStrike" dirty="0">
                          <a:solidFill>
                            <a:srgbClr val="000000"/>
                          </a:solidFill>
                          <a:effectLst/>
                          <a:latin typeface="맑은 고딕"/>
                          <a:ea typeface="맑은 고딕"/>
                        </a:rPr>
                        <a:t>박재욱</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2026.06.16</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1.4</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ko-KR" altLang="en-US" sz="900" b="0" i="0" u="none" strike="noStrike" kern="1200" dirty="0" err="1">
                          <a:solidFill>
                            <a:srgbClr val="000000"/>
                          </a:solidFill>
                          <a:effectLst/>
                          <a:latin typeface="+mn-lt"/>
                          <a:ea typeface="맑은 고딕"/>
                          <a:cs typeface="+mn-cs"/>
                        </a:rPr>
                        <a:t>설계단계</a:t>
                      </a:r>
                      <a:r>
                        <a:rPr lang="ko-KR" altLang="en-US" sz="900" b="0" i="0" u="none" strike="noStrike" kern="1200" dirty="0">
                          <a:solidFill>
                            <a:srgbClr val="000000"/>
                          </a:solidFill>
                          <a:effectLst/>
                          <a:latin typeface="+mn-lt"/>
                          <a:ea typeface="맑은 고딕"/>
                          <a:cs typeface="+mn-cs"/>
                        </a:rPr>
                        <a:t> </a:t>
                      </a:r>
                      <a:r>
                        <a:rPr lang="ko-KR" altLang="en-US" sz="900" b="0" i="0" u="none" strike="noStrike" kern="1200" dirty="0">
                          <a:solidFill>
                            <a:srgbClr val="000000"/>
                          </a:solidFill>
                          <a:effectLst/>
                          <a:latin typeface="맑은 고딕"/>
                          <a:ea typeface="맑은 고딕"/>
                          <a:cs typeface="+mn-cs"/>
                        </a:rPr>
                        <a:t>작성 완료</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latin typeface="+mn-lt"/>
                          <a:ea typeface="맑은 고딕"/>
                          <a:cs typeface="+mn-cs"/>
                        </a:rPr>
                        <a:t>김영수</a:t>
                      </a:r>
                      <a:r>
                        <a:rPr lang="en-US" altLang="ko-KR" sz="900" b="0" i="0" u="none" strike="noStrike" kern="1200" dirty="0">
                          <a:solidFill>
                            <a:srgbClr val="000000"/>
                          </a:solidFill>
                          <a:latin typeface="+mn-lt"/>
                          <a:ea typeface="맑은 고딕"/>
                          <a:cs typeface="+mn-cs"/>
                        </a:rPr>
                        <a:t>, </a:t>
                      </a:r>
                      <a:r>
                        <a:rPr lang="ko-KR" altLang="en-US" sz="900" b="0" i="0" u="none" strike="noStrike" kern="1200" dirty="0">
                          <a:solidFill>
                            <a:srgbClr val="000000"/>
                          </a:solidFill>
                          <a:latin typeface="+mn-lt"/>
                          <a:ea typeface="맑은 고딕"/>
                          <a:cs typeface="+mn-cs"/>
                        </a:rPr>
                        <a:t>권순태</a:t>
                      </a:r>
                      <a:endParaRPr lang="ko-KR" altLang="en-US" sz="900" b="0" i="0" u="none" strike="noStrike" kern="1200" dirty="0">
                        <a:solidFill>
                          <a:srgbClr val="000000"/>
                        </a:solidFill>
                        <a:latin typeface="맑은 고딕"/>
                        <a:ea typeface="맑은 고딕"/>
                        <a:cs typeface="+mn-cs"/>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0">
                <a:tc>
                  <a:txBody>
                    <a:bodyPr/>
                    <a:lstStyle/>
                    <a:p>
                      <a:pPr marL="0" marR="0" lvl="0" indent="0" algn="ctr" defTabSz="914400" rtl="0" eaLnBrk="1" fontAlgn="auto" latinLnBrk="1" hangingPunct="1">
                        <a:lnSpc>
                          <a:spcPct val="120000"/>
                        </a:lnSpc>
                        <a:spcBef>
                          <a:spcPts val="0"/>
                        </a:spcBef>
                        <a:spcAft>
                          <a:spcPts val="0"/>
                        </a:spcAft>
                        <a:buClrTx/>
                        <a:buSzTx/>
                        <a:buFontTx/>
                        <a:buNone/>
                        <a:tabLst/>
                        <a:defRPr/>
                      </a:pPr>
                      <a:r>
                        <a:rPr lang="en-US" altLang="ko-KR" sz="900" b="0" i="0" u="none" strike="noStrike" kern="1200" dirty="0">
                          <a:solidFill>
                            <a:srgbClr val="000000"/>
                          </a:solidFill>
                          <a:effectLst/>
                          <a:latin typeface="+mn-lt"/>
                          <a:ea typeface="맑은 고딕"/>
                          <a:cs typeface="+mn-cs"/>
                        </a:rPr>
                        <a:t>2026.06.16</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en-US" sz="900" b="0" i="0" u="none" strike="noStrike" dirty="0">
                          <a:solidFill>
                            <a:srgbClr val="000000"/>
                          </a:solidFill>
                          <a:latin typeface="맑은 고딕"/>
                          <a:ea typeface="맑은 고딕"/>
                        </a:rPr>
                        <a:t>1.5</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defTabSz="914400" rtl="0" eaLnBrk="1" fontAlgn="auto" latinLnBrk="1" hangingPunct="1">
                        <a:lnSpc>
                          <a:spcPct val="120000"/>
                        </a:lnSpc>
                        <a:spcBef>
                          <a:spcPts val="0"/>
                        </a:spcBef>
                        <a:spcAft>
                          <a:spcPts val="0"/>
                        </a:spcAft>
                        <a:buClrTx/>
                        <a:buSzTx/>
                        <a:buFontTx/>
                        <a:buNone/>
                        <a:tabLst/>
                        <a:defRPr/>
                      </a:pPr>
                      <a:r>
                        <a:rPr lang="ko-KR" altLang="en-US" sz="900" b="0" i="0" u="none" strike="noStrike" kern="1200" dirty="0" err="1">
                          <a:solidFill>
                            <a:srgbClr val="000000"/>
                          </a:solidFill>
                          <a:effectLst/>
                          <a:latin typeface="+mn-lt"/>
                          <a:ea typeface="맑은 고딕"/>
                          <a:cs typeface="+mn-cs"/>
                        </a:rPr>
                        <a:t>설계단계</a:t>
                      </a:r>
                      <a:r>
                        <a:rPr lang="ko-KR" altLang="en-US" sz="900" b="0" i="0" u="none" strike="noStrike" kern="1200" dirty="0">
                          <a:solidFill>
                            <a:srgbClr val="000000"/>
                          </a:solidFill>
                          <a:effectLst/>
                          <a:latin typeface="+mn-lt"/>
                          <a:ea typeface="맑은 고딕"/>
                          <a:cs typeface="+mn-cs"/>
                        </a:rPr>
                        <a:t> 내부 검토</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defTabSz="914400" rtl="0" eaLnBrk="1" fontAlgn="auto" latinLnBrk="1" hangingPunct="1">
                        <a:lnSpc>
                          <a:spcPct val="120000"/>
                        </a:lnSpc>
                        <a:spcBef>
                          <a:spcPts val="0"/>
                        </a:spcBef>
                        <a:spcAft>
                          <a:spcPts val="0"/>
                        </a:spcAft>
                        <a:buClrTx/>
                        <a:buSzTx/>
                        <a:buFontTx/>
                        <a:buNone/>
                        <a:tabLst/>
                        <a:defRPr/>
                      </a:pPr>
                      <a:r>
                        <a:rPr lang="ko-KR" altLang="en-US" sz="900" b="0" i="0" u="none" strike="noStrike" kern="1200" dirty="0">
                          <a:solidFill>
                            <a:srgbClr val="000000"/>
                          </a:solidFill>
                          <a:latin typeface="+mn-lt"/>
                          <a:ea typeface="맑은 고딕"/>
                          <a:cs typeface="+mn-cs"/>
                        </a:rPr>
                        <a:t>김영수</a:t>
                      </a:r>
                      <a:r>
                        <a:rPr lang="en-US" altLang="ko-KR" sz="900" b="0" i="0" u="none" strike="noStrike" kern="1200" dirty="0">
                          <a:solidFill>
                            <a:srgbClr val="000000"/>
                          </a:solidFill>
                          <a:latin typeface="+mn-lt"/>
                          <a:ea typeface="맑은 고딕"/>
                          <a:cs typeface="+mn-cs"/>
                        </a:rPr>
                        <a:t>, </a:t>
                      </a:r>
                      <a:r>
                        <a:rPr lang="ko-KR" altLang="en-US" sz="900" b="0" i="0" u="none" strike="noStrike" kern="1200" dirty="0">
                          <a:solidFill>
                            <a:srgbClr val="000000"/>
                          </a:solidFill>
                          <a:latin typeface="+mn-lt"/>
                          <a:ea typeface="맑은 고딕"/>
                          <a:cs typeface="+mn-cs"/>
                        </a:rPr>
                        <a:t>권순태</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0">
                <a:tc>
                  <a:txBody>
                    <a:bodyPr/>
                    <a:lstStyle/>
                    <a:p>
                      <a:pPr marL="0" marR="0" lvl="0" indent="0" algn="ctr" defTabSz="914400" rtl="0" eaLnBrk="1" fontAlgn="auto" latinLnBrk="1" hangingPunct="1">
                        <a:lnSpc>
                          <a:spcPct val="120000"/>
                        </a:lnSpc>
                        <a:spcBef>
                          <a:spcPts val="0"/>
                        </a:spcBef>
                        <a:spcAft>
                          <a:spcPts val="0"/>
                        </a:spcAft>
                        <a:buClrTx/>
                        <a:buSzTx/>
                        <a:buFontTx/>
                        <a:buNone/>
                        <a:tabLst/>
                        <a:defRPr/>
                      </a:pPr>
                      <a:r>
                        <a:rPr lang="en-US" altLang="ko-KR" sz="900" b="0" i="0" u="none" strike="noStrike" kern="1200" dirty="0">
                          <a:solidFill>
                            <a:srgbClr val="000000"/>
                          </a:solidFill>
                          <a:effectLst/>
                          <a:latin typeface="+mn-lt"/>
                          <a:ea typeface="맑은 고딕"/>
                          <a:cs typeface="+mn-cs"/>
                        </a:rPr>
                        <a:t>2026.06.17</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defTabSz="914400" rtl="0" eaLnBrk="1" fontAlgn="auto" latinLnBrk="1" hangingPunct="1">
                        <a:lnSpc>
                          <a:spcPct val="120000"/>
                        </a:lnSpc>
                        <a:spcBef>
                          <a:spcPts val="0"/>
                        </a:spcBef>
                        <a:spcAft>
                          <a:spcPts val="0"/>
                        </a:spcAft>
                        <a:buClrTx/>
                        <a:buSzTx/>
                        <a:buFontTx/>
                        <a:buNone/>
                        <a:tabLst/>
                        <a:defRPr/>
                      </a:pPr>
                      <a:r>
                        <a:rPr lang="en-US" altLang="ko-KR" sz="900" b="0" i="0" u="none" strike="noStrike" kern="1200" dirty="0">
                          <a:solidFill>
                            <a:srgbClr val="000000"/>
                          </a:solidFill>
                          <a:effectLst/>
                          <a:latin typeface="+mn-lt"/>
                          <a:ea typeface="맑은 고딕"/>
                          <a:cs typeface="+mn-cs"/>
                        </a:rPr>
                        <a:t>1.6</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defTabSz="914400" rtl="0" eaLnBrk="1" fontAlgn="auto" latinLnBrk="1" hangingPunct="1">
                        <a:lnSpc>
                          <a:spcPct val="120000"/>
                        </a:lnSpc>
                        <a:spcBef>
                          <a:spcPts val="0"/>
                        </a:spcBef>
                        <a:spcAft>
                          <a:spcPts val="0"/>
                        </a:spcAft>
                        <a:buClrTx/>
                        <a:buSzTx/>
                        <a:buFontTx/>
                        <a:buNone/>
                        <a:tabLst/>
                        <a:defRPr/>
                      </a:pPr>
                      <a:r>
                        <a:rPr lang="ko-KR" altLang="en-US" sz="900" b="0" i="0" u="none" strike="noStrike" kern="1200" dirty="0" err="1">
                          <a:solidFill>
                            <a:srgbClr val="000000"/>
                          </a:solidFill>
                          <a:effectLst/>
                          <a:latin typeface="+mn-lt"/>
                          <a:ea typeface="맑은 고딕"/>
                          <a:cs typeface="+mn-cs"/>
                        </a:rPr>
                        <a:t>설계단계</a:t>
                      </a:r>
                      <a:r>
                        <a:rPr lang="ko-KR" altLang="en-US" sz="900" b="0" i="0" u="none" strike="noStrike" kern="1200" dirty="0">
                          <a:solidFill>
                            <a:srgbClr val="000000"/>
                          </a:solidFill>
                          <a:effectLst/>
                          <a:latin typeface="+mn-lt"/>
                          <a:ea typeface="맑은 고딕"/>
                          <a:cs typeface="+mn-cs"/>
                        </a:rPr>
                        <a:t> </a:t>
                      </a:r>
                      <a:r>
                        <a:rPr lang="en-US" altLang="ko-KR" sz="900" b="0" i="0" u="none" strike="noStrike" kern="1200" dirty="0">
                          <a:solidFill>
                            <a:srgbClr val="000000"/>
                          </a:solidFill>
                          <a:effectLst/>
                          <a:latin typeface="+mn-lt"/>
                          <a:ea typeface="맑은 고딕"/>
                          <a:cs typeface="+mn-cs"/>
                        </a:rPr>
                        <a:t>PL </a:t>
                      </a:r>
                      <a:r>
                        <a:rPr lang="ko-KR" altLang="en-US" sz="900" b="0" i="0" u="none" strike="noStrike" kern="1200" dirty="0">
                          <a:solidFill>
                            <a:srgbClr val="000000"/>
                          </a:solidFill>
                          <a:effectLst/>
                          <a:latin typeface="+mn-lt"/>
                          <a:ea typeface="맑은 고딕"/>
                          <a:cs typeface="+mn-cs"/>
                        </a:rPr>
                        <a:t>검토</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defTabSz="914400" rtl="0" eaLnBrk="1" fontAlgn="auto" latinLnBrk="1" hangingPunct="1">
                        <a:lnSpc>
                          <a:spcPct val="120000"/>
                        </a:lnSpc>
                        <a:spcBef>
                          <a:spcPts val="0"/>
                        </a:spcBef>
                        <a:spcAft>
                          <a:spcPts val="0"/>
                        </a:spcAft>
                        <a:buClrTx/>
                        <a:buSzTx/>
                        <a:buFontTx/>
                        <a:buNone/>
                        <a:tabLst/>
                        <a:defRPr/>
                      </a:pPr>
                      <a:r>
                        <a:rPr lang="ko-KR" altLang="en-US" sz="900" b="0" i="0" u="none" strike="noStrike" kern="1200" dirty="0" err="1">
                          <a:solidFill>
                            <a:srgbClr val="000000"/>
                          </a:solidFill>
                          <a:latin typeface="+mn-lt"/>
                          <a:ea typeface="맑은 고딕"/>
                          <a:cs typeface="+mn-cs"/>
                        </a:rPr>
                        <a:t>황종서</a:t>
                      </a:r>
                      <a:endParaRPr lang="ko-KR" altLang="en-US" sz="900" b="0" i="0" u="none" strike="noStrike" kern="1200" dirty="0">
                        <a:solidFill>
                          <a:srgbClr val="000000"/>
                        </a:solidFill>
                        <a:latin typeface="+mn-lt"/>
                        <a:ea typeface="맑은 고딕"/>
                        <a:cs typeface="+mn-cs"/>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mn-lt"/>
                          <a:ea typeface="맑은 고딕"/>
                          <a:cs typeface="+mn-cs"/>
                        </a:rPr>
                        <a:t>2026.06.17</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latin typeface="맑은 고딕"/>
                          <a:ea typeface="맑은 고딕"/>
                          <a:cs typeface="+mn-cs"/>
                        </a:rPr>
                        <a:t>1.7</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품질 검토</a:t>
                      </a:r>
                    </a:p>
                  </a:txBody>
                  <a:tcPr marL="53975" marR="5397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김민재</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mn-lt"/>
                          <a:ea typeface="맑은 고딕"/>
                          <a:cs typeface="+mn-cs"/>
                        </a:rPr>
                        <a:t>2026.06.18</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latin typeface="맑은 고딕"/>
                          <a:ea typeface="맑은 고딕"/>
                          <a:cs typeface="+mn-cs"/>
                        </a:rPr>
                        <a:t>1.8</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en-US" sz="900" b="0" i="0" u="none" strike="noStrike" kern="1200" dirty="0">
                          <a:solidFill>
                            <a:srgbClr val="000000"/>
                          </a:solidFill>
                          <a:effectLst/>
                          <a:latin typeface="맑은 고딕"/>
                          <a:ea typeface="맑은 고딕"/>
                          <a:cs typeface="+mn-cs"/>
                        </a:rPr>
                        <a:t>PM </a:t>
                      </a:r>
                      <a:r>
                        <a:rPr lang="ko-KR" altLang="en-US" sz="900" b="0" i="0" u="none" strike="noStrike" kern="1200" dirty="0">
                          <a:solidFill>
                            <a:srgbClr val="000000"/>
                          </a:solidFill>
                          <a:effectLst/>
                          <a:latin typeface="맑은 고딕"/>
                          <a:ea typeface="맑은 고딕"/>
                          <a:cs typeface="+mn-cs"/>
                        </a:rPr>
                        <a:t>검토</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박재욱</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0">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effectLst/>
                          <a:latin typeface="+mn-lt"/>
                          <a:ea typeface="맑은 고딕"/>
                          <a:cs typeface="+mn-cs"/>
                        </a:rPr>
                        <a:t>2026.06.18</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r>
                        <a:rPr lang="en-US" sz="900" b="0" i="0" u="none" strike="noStrike" kern="1200" dirty="0">
                          <a:solidFill>
                            <a:srgbClr val="000000"/>
                          </a:solidFill>
                          <a:latin typeface="맑은 고딕"/>
                          <a:ea typeface="맑은 고딕"/>
                          <a:cs typeface="+mn-cs"/>
                        </a:rPr>
                        <a:t>1.9</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r>
                        <a:rPr lang="en-US" altLang="ko-KR" sz="900" b="0" i="0" u="none" strike="noStrike" kern="1200" dirty="0">
                          <a:solidFill>
                            <a:srgbClr val="000000"/>
                          </a:solidFill>
                          <a:effectLst/>
                          <a:latin typeface="맑은 고딕"/>
                          <a:ea typeface="맑은 고딕"/>
                          <a:cs typeface="+mn-cs"/>
                        </a:rPr>
                        <a:t>PMO </a:t>
                      </a:r>
                      <a:r>
                        <a:rPr lang="ko-KR" altLang="en-US" sz="900" b="0" i="0" u="none" strike="noStrike" kern="1200" dirty="0">
                          <a:solidFill>
                            <a:srgbClr val="000000"/>
                          </a:solidFill>
                          <a:effectLst/>
                          <a:latin typeface="맑은 고딕"/>
                          <a:ea typeface="맑은 고딕"/>
                          <a:cs typeface="+mn-cs"/>
                        </a:rPr>
                        <a:t>검토 및 </a:t>
                      </a:r>
                      <a:r>
                        <a:rPr lang="en-US" altLang="ko-KR" sz="900" b="0" i="0" u="none" strike="noStrike" kern="1200" dirty="0">
                          <a:solidFill>
                            <a:srgbClr val="000000"/>
                          </a:solidFill>
                          <a:effectLst/>
                          <a:latin typeface="맑은 고딕"/>
                          <a:ea typeface="맑은 고딕"/>
                          <a:cs typeface="+mn-cs"/>
                        </a:rPr>
                        <a:t>TF </a:t>
                      </a:r>
                      <a:r>
                        <a:rPr lang="ko-KR" altLang="en-US" sz="900" b="0" i="0" u="none" strike="noStrike" kern="1200" dirty="0">
                          <a:solidFill>
                            <a:srgbClr val="000000"/>
                          </a:solidFill>
                          <a:effectLst/>
                          <a:latin typeface="맑은 고딕"/>
                          <a:ea typeface="맑은 고딕"/>
                          <a:cs typeface="+mn-cs"/>
                        </a:rPr>
                        <a:t>검토요청</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r>
                        <a:rPr lang="ko-KR" altLang="en-US" sz="900" b="0" i="0" u="none" strike="noStrike" kern="1200" dirty="0">
                          <a:solidFill>
                            <a:srgbClr val="000000"/>
                          </a:solidFill>
                          <a:effectLst/>
                          <a:latin typeface="맑은 고딕"/>
                          <a:ea typeface="맑은 고딕"/>
                          <a:cs typeface="+mn-cs"/>
                        </a:rPr>
                        <a:t>김민재</a:t>
                      </a: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0">
                <a:tc>
                  <a:txBody>
                    <a:bodyPr/>
                    <a:lstStyle/>
                    <a:p>
                      <a:pPr marL="0" marR="0" indent="0" algn="ctr" fontAlgn="base" latinLnBrk="1">
                        <a:lnSpc>
                          <a:spcPct val="130000"/>
                        </a:lnSpc>
                        <a:spcBef>
                          <a:spcPts val="0"/>
                        </a:spcBef>
                        <a:spcAft>
                          <a:spcPts val="0"/>
                        </a:spcAft>
                      </a:pPr>
                      <a:endParaRPr lang="en-US" sz="900" b="0" i="0" u="none" strike="noStrike" kern="1200" dirty="0">
                        <a:solidFill>
                          <a:srgbClr val="000000"/>
                        </a:solidFill>
                        <a:effectLst/>
                        <a:latin typeface="+mn-lt"/>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endParaRPr lang="en-US" sz="900" b="0" i="0" u="none" strike="noStrike" kern="1200" dirty="0">
                        <a:solidFill>
                          <a:srgbClr val="000000"/>
                        </a:solidFill>
                        <a:latin typeface="맑은 고딕"/>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endParaRPr lang="ko-KR" altLang="en-US" sz="900" b="0" i="0" u="none" strike="noStrike" kern="1200" dirty="0">
                        <a:solidFill>
                          <a:srgbClr val="000000"/>
                        </a:solidFill>
                        <a:effectLst/>
                        <a:latin typeface="맑은 고딕"/>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endParaRPr lang="ko-KR" altLang="en-US" sz="900" b="0" i="0" u="none" strike="noStrike" kern="1200" dirty="0">
                        <a:solidFill>
                          <a:srgbClr val="000000"/>
                        </a:solidFill>
                        <a:effectLst/>
                        <a:latin typeface="맑은 고딕"/>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29776545"/>
                  </a:ext>
                </a:extLst>
              </a:tr>
              <a:tr h="0">
                <a:tc>
                  <a:txBody>
                    <a:bodyPr/>
                    <a:lstStyle/>
                    <a:p>
                      <a:pPr marL="0" marR="0" indent="0" algn="ctr" fontAlgn="base" latinLnBrk="1">
                        <a:lnSpc>
                          <a:spcPct val="130000"/>
                        </a:lnSpc>
                        <a:spcBef>
                          <a:spcPts val="0"/>
                        </a:spcBef>
                        <a:spcAft>
                          <a:spcPts val="0"/>
                        </a:spcAft>
                      </a:pPr>
                      <a:endParaRPr lang="en-US" sz="900" b="0" i="0" u="none" strike="noStrike" kern="1200" dirty="0">
                        <a:solidFill>
                          <a:srgbClr val="000000"/>
                        </a:solidFill>
                        <a:effectLst/>
                        <a:latin typeface="+mn-lt"/>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1">
                        <a:lnSpc>
                          <a:spcPct val="130000"/>
                        </a:lnSpc>
                        <a:spcBef>
                          <a:spcPts val="0"/>
                        </a:spcBef>
                        <a:spcAft>
                          <a:spcPts val="0"/>
                        </a:spcAft>
                      </a:pPr>
                      <a:endParaRPr lang="en-US" sz="900" b="0" i="0" u="none" strike="noStrike" kern="1200" dirty="0">
                        <a:solidFill>
                          <a:srgbClr val="000000"/>
                        </a:solidFill>
                        <a:latin typeface="맑은 고딕"/>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fontAlgn="base" latinLnBrk="1">
                        <a:lnSpc>
                          <a:spcPct val="130000"/>
                        </a:lnSpc>
                        <a:spcBef>
                          <a:spcPts val="0"/>
                        </a:spcBef>
                        <a:spcAft>
                          <a:spcPts val="0"/>
                        </a:spcAft>
                      </a:pPr>
                      <a:endParaRPr lang="ko-KR" altLang="en-US" sz="900" b="0" i="0" u="none" strike="noStrike" kern="1200" dirty="0">
                        <a:solidFill>
                          <a:srgbClr val="000000"/>
                        </a:solidFill>
                        <a:effectLst/>
                        <a:latin typeface="맑은 고딕"/>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fontAlgn="base" latinLnBrk="0">
                        <a:lnSpc>
                          <a:spcPct val="130000"/>
                        </a:lnSpc>
                        <a:spcBef>
                          <a:spcPts val="0"/>
                        </a:spcBef>
                        <a:spcAft>
                          <a:spcPts val="0"/>
                        </a:spcAft>
                      </a:pPr>
                      <a:endParaRPr lang="ko-KR" altLang="en-US" sz="900" b="0" i="0" u="none" strike="noStrike" kern="1200" dirty="0">
                        <a:solidFill>
                          <a:srgbClr val="000000"/>
                        </a:solidFill>
                        <a:effectLst/>
                        <a:latin typeface="맑은 고딕"/>
                        <a:ea typeface="맑은 고딕"/>
                        <a:cs typeface="+mn-cs"/>
                      </a:endParaRPr>
                    </a:p>
                  </a:txBody>
                  <a:tcPr marL="53975" marR="53975" marT="53975" marB="5397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endParaRPr lang="ko-KR" altLang="en-US" sz="900" b="0" i="0" u="none" strike="noStrike" dirty="0">
                        <a:solidFill>
                          <a:srgbClr val="000000"/>
                        </a:solidFill>
                        <a:effectLst/>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575667561"/>
                  </a:ext>
                </a:extLst>
              </a:tr>
            </a:tbl>
          </a:graphicData>
        </a:graphic>
      </p:graphicFrame>
    </p:spTree>
    <p:extLst>
      <p:ext uri="{BB962C8B-B14F-4D97-AF65-F5344CB8AC3E}">
        <p14:creationId xmlns:p14="http://schemas.microsoft.com/office/powerpoint/2010/main" val="2230248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2</a:t>
            </a:fld>
            <a:endParaRPr lang="ko-KR" altLang="en-US"/>
          </a:p>
        </p:txBody>
      </p:sp>
      <p:sp>
        <p:nvSpPr>
          <p:cNvPr id="7" name="텍스트 개체 틀 15">
            <a:extLst>
              <a:ext uri="{FF2B5EF4-FFF2-40B4-BE49-F238E27FC236}">
                <a16:creationId xmlns:a16="http://schemas.microsoft.com/office/drawing/2014/main" id="{74E68DA1-2E20-231A-31AD-28EAC2F24FE9}"/>
              </a:ext>
            </a:extLst>
          </p:cNvPr>
          <p:cNvSpPr txBox="1">
            <a:spLocks/>
          </p:cNvSpPr>
          <p:nvPr/>
        </p:nvSpPr>
        <p:spPr>
          <a:xfrm>
            <a:off x="2250485" y="959912"/>
            <a:ext cx="5400000" cy="417890"/>
          </a:xfrm>
          <a:prstGeom prst="rect">
            <a:avLst/>
          </a:prstGeom>
        </p:spPr>
        <p:txBody>
          <a:bodyPr anchor="ctr"/>
          <a:lstStyle>
            <a:lvl1pPr marL="0" indent="0" algn="ctr" defTabSz="914400" rtl="0" eaLnBrk="1" latinLnBrk="1" hangingPunct="1">
              <a:lnSpc>
                <a:spcPct val="100000"/>
              </a:lnSpc>
              <a:spcBef>
                <a:spcPts val="1000"/>
              </a:spcBef>
              <a:buFont typeface="Arial" panose="020B0604020202020204" pitchFamily="34" charset="0"/>
              <a:buNone/>
              <a:defRPr sz="1400" b="1" u="sng" kern="1200">
                <a:solidFill>
                  <a:schemeClr val="tx1"/>
                </a:solidFill>
                <a:latin typeface="+mn-lt"/>
                <a:ea typeface="+mn-ea"/>
                <a:cs typeface="+mn-cs"/>
              </a:defRPr>
            </a:lvl1pPr>
            <a:lvl2pPr marL="457200" indent="0" algn="l" defTabSz="914400" rtl="0" eaLnBrk="1" latinLnBrk="1"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2pPr>
            <a:lvl3pPr marL="914400" indent="0" algn="l" defTabSz="914400" rtl="0" eaLnBrk="1" latinLnBrk="1"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3pPr>
            <a:lvl4pPr marL="1371600" indent="0" algn="l" defTabSz="914400" rtl="0" eaLnBrk="1" latinLnBrk="1"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1"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ko-KR" altLang="en-US" dirty="0"/>
              <a:t>신구 변경 </a:t>
            </a:r>
            <a:r>
              <a:rPr lang="ko-KR" altLang="en-US" dirty="0" err="1"/>
              <a:t>내용표</a:t>
            </a:r>
            <a:endParaRPr lang="ko-KR" altLang="en-US" dirty="0"/>
          </a:p>
        </p:txBody>
      </p:sp>
      <p:graphicFrame>
        <p:nvGraphicFramePr>
          <p:cNvPr id="8" name="Group 759">
            <a:extLst>
              <a:ext uri="{FF2B5EF4-FFF2-40B4-BE49-F238E27FC236}">
                <a16:creationId xmlns:a16="http://schemas.microsoft.com/office/drawing/2014/main" id="{319C15BD-6050-0EF7-51D6-033B70274342}"/>
              </a:ext>
            </a:extLst>
          </p:cNvPr>
          <p:cNvGraphicFramePr>
            <a:graphicFrameLocks noGrp="1"/>
          </p:cNvGraphicFramePr>
          <p:nvPr>
            <p:extLst>
              <p:ext uri="{D42A27DB-BD31-4B8C-83A1-F6EECF244321}">
                <p14:modId xmlns:p14="http://schemas.microsoft.com/office/powerpoint/2010/main" val="322305765"/>
              </p:ext>
            </p:extLst>
          </p:nvPr>
        </p:nvGraphicFramePr>
        <p:xfrm>
          <a:off x="652374" y="1416776"/>
          <a:ext cx="8782571" cy="1243241"/>
        </p:xfrm>
        <a:graphic>
          <a:graphicData uri="http://schemas.openxmlformats.org/drawingml/2006/table">
            <a:tbl>
              <a:tblPr/>
              <a:tblGrid>
                <a:gridCol w="590475">
                  <a:extLst>
                    <a:ext uri="{9D8B030D-6E8A-4147-A177-3AD203B41FA5}">
                      <a16:colId xmlns:a16="http://schemas.microsoft.com/office/drawing/2014/main" val="20000"/>
                    </a:ext>
                  </a:extLst>
                </a:gridCol>
                <a:gridCol w="460379">
                  <a:extLst>
                    <a:ext uri="{9D8B030D-6E8A-4147-A177-3AD203B41FA5}">
                      <a16:colId xmlns:a16="http://schemas.microsoft.com/office/drawing/2014/main" val="20001"/>
                    </a:ext>
                  </a:extLst>
                </a:gridCol>
                <a:gridCol w="980595">
                  <a:extLst>
                    <a:ext uri="{9D8B030D-6E8A-4147-A177-3AD203B41FA5}">
                      <a16:colId xmlns:a16="http://schemas.microsoft.com/office/drawing/2014/main" val="20002"/>
                    </a:ext>
                  </a:extLst>
                </a:gridCol>
                <a:gridCol w="1668483">
                  <a:extLst>
                    <a:ext uri="{9D8B030D-6E8A-4147-A177-3AD203B41FA5}">
                      <a16:colId xmlns:a16="http://schemas.microsoft.com/office/drawing/2014/main" val="20003"/>
                    </a:ext>
                  </a:extLst>
                </a:gridCol>
                <a:gridCol w="4144489">
                  <a:extLst>
                    <a:ext uri="{9D8B030D-6E8A-4147-A177-3AD203B41FA5}">
                      <a16:colId xmlns:a16="http://schemas.microsoft.com/office/drawing/2014/main" val="3538833938"/>
                    </a:ext>
                  </a:extLst>
                </a:gridCol>
                <a:gridCol w="938150">
                  <a:extLst>
                    <a:ext uri="{9D8B030D-6E8A-4147-A177-3AD203B41FA5}">
                      <a16:colId xmlns:a16="http://schemas.microsoft.com/office/drawing/2014/main" val="3926415557"/>
                    </a:ext>
                  </a:extLst>
                </a:gridCol>
              </a:tblGrid>
              <a:tr h="0">
                <a:tc>
                  <a:txBody>
                    <a:bodyPr/>
                    <a:lstStyle/>
                    <a:p>
                      <a:pPr algn="ctr">
                        <a:lnSpc>
                          <a:spcPct val="120000"/>
                        </a:lnSpc>
                        <a:defRPr/>
                      </a:pPr>
                      <a:r>
                        <a:rPr lang="ko-KR" altLang="en-US" sz="1000" b="1" i="0" u="none" strike="noStrike" dirty="0">
                          <a:solidFill>
                            <a:srgbClr val="000000"/>
                          </a:solidFill>
                          <a:effectLst/>
                          <a:latin typeface="맑은 고딕"/>
                          <a:ea typeface="맑은 고딕"/>
                        </a:rPr>
                        <a:t>순번</a:t>
                      </a:r>
                      <a:endParaRPr lang="ko-KR" altLang="en-US" sz="1000" b="1"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err="1">
                          <a:solidFill>
                            <a:srgbClr val="000000"/>
                          </a:solidFill>
                          <a:effectLst/>
                          <a:latin typeface="맑은 고딕"/>
                          <a:ea typeface="맑은 고딕"/>
                        </a:rPr>
                        <a:t>구버전</a:t>
                      </a:r>
                      <a:endParaRPr lang="ko-KR" altLang="en-US" sz="1000" b="1"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err="1">
                          <a:solidFill>
                            <a:srgbClr val="000000"/>
                          </a:solidFill>
                          <a:effectLst/>
                          <a:latin typeface="맑은 고딕"/>
                          <a:ea typeface="맑은 고딕"/>
                        </a:rPr>
                        <a:t>신버전</a:t>
                      </a:r>
                      <a:endParaRPr lang="ko-KR" altLang="en-US" sz="1000" b="1"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a:solidFill>
                            <a:srgbClr val="000000"/>
                          </a:solidFill>
                          <a:effectLst/>
                          <a:latin typeface="맑은 고딕"/>
                          <a:ea typeface="맑은 고딕"/>
                        </a:rPr>
                        <a:t>변경 항목</a:t>
                      </a:r>
                      <a:endParaRPr lang="ko-KR" altLang="en-US" sz="1000" b="1"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a:solidFill>
                            <a:srgbClr val="000000"/>
                          </a:solidFill>
                          <a:latin typeface="맑은 고딕"/>
                          <a:ea typeface="맑은 고딕"/>
                        </a:rPr>
                        <a:t>변경 내용</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a:lnSpc>
                          <a:spcPct val="120000"/>
                        </a:lnSpc>
                        <a:defRPr/>
                      </a:pPr>
                      <a:r>
                        <a:rPr lang="ko-KR" altLang="en-US" sz="1000" b="1" i="0" u="none" strike="noStrike" dirty="0">
                          <a:solidFill>
                            <a:srgbClr val="000000"/>
                          </a:solidFill>
                          <a:latin typeface="맑은 고딕"/>
                          <a:ea typeface="맑은 고딕"/>
                        </a:rPr>
                        <a:t>  작성자</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extLst>
                  <a:ext uri="{0D108BD9-81ED-4DB2-BD59-A6C34878D82A}">
                    <a16:rowId xmlns:a16="http://schemas.microsoft.com/office/drawing/2014/main" val="10000"/>
                  </a:ext>
                </a:extLst>
              </a:tr>
              <a:tr h="106615">
                <a:tc rowSpan="2">
                  <a:txBody>
                    <a:bodyPr/>
                    <a:lstStyle/>
                    <a:p>
                      <a:pPr algn="ctr">
                        <a:lnSpc>
                          <a:spcPct val="120000"/>
                        </a:lnSpc>
                        <a:defRPr/>
                      </a:pPr>
                      <a:r>
                        <a:rPr lang="en-US" sz="900" b="0" i="0" u="none" strike="noStrike" dirty="0">
                          <a:solidFill>
                            <a:srgbClr val="000000"/>
                          </a:solidFill>
                          <a:effectLst/>
                          <a:latin typeface="맑은 고딕"/>
                          <a:ea typeface="맑은 고딕"/>
                        </a:rPr>
                        <a:t>1</a:t>
                      </a:r>
                      <a:endParaRPr 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algn="ctr">
                        <a:lnSpc>
                          <a:spcPct val="120000"/>
                        </a:lnSpc>
                        <a:defRPr/>
                      </a:pPr>
                      <a:r>
                        <a:rPr lang="en-US" sz="900" b="0" i="0" u="none" strike="noStrike" dirty="0">
                          <a:solidFill>
                            <a:srgbClr val="000000"/>
                          </a:solidFill>
                          <a:latin typeface="맑은 고딕"/>
                          <a:ea typeface="맑은 고딕"/>
                        </a:rPr>
                        <a:t>0.9</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algn="ctr">
                        <a:lnSpc>
                          <a:spcPct val="120000"/>
                        </a:lnSpc>
                        <a:defRPr/>
                      </a:pPr>
                      <a:r>
                        <a:rPr lang="en-US" altLang="ko-KR" sz="900" b="0" i="0" u="none" strike="noStrike" dirty="0">
                          <a:solidFill>
                            <a:srgbClr val="000000"/>
                          </a:solidFill>
                          <a:latin typeface="맑은 고딕"/>
                          <a:ea typeface="맑은 고딕"/>
                        </a:rPr>
                        <a:t>1.0</a:t>
                      </a:r>
                      <a:endParaRPr lang="ko-KR" alt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ko-KR" altLang="en-US" sz="900" b="0" i="0" u="none" strike="noStrike" dirty="0" err="1">
                          <a:solidFill>
                            <a:srgbClr val="000000"/>
                          </a:solidFill>
                          <a:latin typeface="+mn-lt"/>
                          <a:ea typeface="맑은 고딕"/>
                        </a:rPr>
                        <a:t>유스케이스</a:t>
                      </a:r>
                      <a:r>
                        <a:rPr lang="ko-KR" altLang="en-US" sz="900" b="0" i="0" u="none" strike="noStrike" dirty="0">
                          <a:solidFill>
                            <a:srgbClr val="000000"/>
                          </a:solidFill>
                          <a:latin typeface="+mn-lt"/>
                          <a:ea typeface="맑은 고딕"/>
                        </a:rPr>
                        <a:t> </a:t>
                      </a:r>
                      <a:r>
                        <a:rPr lang="en-US" altLang="ko-KR" sz="900" b="0" i="0" u="none" strike="noStrike" dirty="0">
                          <a:solidFill>
                            <a:srgbClr val="000000"/>
                          </a:solidFill>
                          <a:latin typeface="+mn-lt"/>
                          <a:ea typeface="맑은 고딕"/>
                        </a:rPr>
                        <a:t>ID</a:t>
                      </a:r>
                      <a:endParaRPr lang="ko-KR" alt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l">
                        <a:lnSpc>
                          <a:spcPct val="120000"/>
                        </a:lnSpc>
                        <a:defRPr/>
                      </a:pPr>
                      <a:r>
                        <a:rPr lang="ko-KR" altLang="en-US" sz="900" b="0" i="0" u="none" strike="noStrike" dirty="0">
                          <a:solidFill>
                            <a:srgbClr val="000000"/>
                          </a:solidFill>
                          <a:latin typeface="+mn-lt"/>
                          <a:ea typeface="맑은 고딕"/>
                        </a:rPr>
                        <a:t> </a:t>
                      </a:r>
                      <a:r>
                        <a:rPr lang="ko-KR" altLang="en-US" sz="900" b="0" i="0" u="none" strike="noStrike" dirty="0" err="1">
                          <a:solidFill>
                            <a:srgbClr val="000000"/>
                          </a:solidFill>
                          <a:latin typeface="+mn-lt"/>
                          <a:ea typeface="맑은 고딕"/>
                        </a:rPr>
                        <a:t>화면목록</a:t>
                      </a:r>
                      <a:r>
                        <a:rPr lang="ko-KR" altLang="en-US" sz="900" b="0" i="0" u="none" strike="noStrike" dirty="0">
                          <a:solidFill>
                            <a:srgbClr val="000000"/>
                          </a:solidFill>
                          <a:latin typeface="+mn-lt"/>
                          <a:ea typeface="맑은 고딕"/>
                        </a:rPr>
                        <a:t> </a:t>
                      </a:r>
                      <a:r>
                        <a:rPr lang="ko-KR" altLang="en-US" sz="900" b="0" i="0" u="none" strike="noStrike" dirty="0" err="1">
                          <a:solidFill>
                            <a:srgbClr val="000000"/>
                          </a:solidFill>
                          <a:latin typeface="+mn-lt"/>
                          <a:ea typeface="맑은 고딕"/>
                        </a:rPr>
                        <a:t>유스케이스</a:t>
                      </a:r>
                      <a:r>
                        <a:rPr lang="ko-KR" altLang="en-US" sz="900" b="0" i="0" u="none" strike="noStrike" dirty="0">
                          <a:solidFill>
                            <a:srgbClr val="000000"/>
                          </a:solidFill>
                          <a:latin typeface="+mn-lt"/>
                          <a:ea typeface="맑은 고딕"/>
                        </a:rPr>
                        <a:t> 정보에 </a:t>
                      </a:r>
                      <a:r>
                        <a:rPr lang="en-US" altLang="ko-KR" sz="900" b="0" i="0" u="none" strike="noStrike" dirty="0">
                          <a:solidFill>
                            <a:srgbClr val="000000"/>
                          </a:solidFill>
                          <a:latin typeface="+mn-lt"/>
                          <a:ea typeface="맑은 고딕"/>
                        </a:rPr>
                        <a:t>PC</a:t>
                      </a:r>
                      <a:r>
                        <a:rPr lang="ko-KR" altLang="en-US" sz="900" b="0" i="0" u="none" strike="noStrike" dirty="0">
                          <a:solidFill>
                            <a:srgbClr val="000000"/>
                          </a:solidFill>
                          <a:latin typeface="+mn-lt"/>
                          <a:ea typeface="맑은 고딕"/>
                        </a:rPr>
                        <a:t>의 </a:t>
                      </a:r>
                      <a:r>
                        <a:rPr lang="ko-KR" altLang="en-US" sz="900" b="0" i="0" u="none" strike="noStrike" dirty="0" err="1">
                          <a:solidFill>
                            <a:srgbClr val="000000"/>
                          </a:solidFill>
                          <a:latin typeface="+mn-lt"/>
                          <a:ea typeface="맑은 고딕"/>
                        </a:rPr>
                        <a:t>유스케이스</a:t>
                      </a:r>
                      <a:r>
                        <a:rPr lang="ko-KR" altLang="en-US" sz="900" b="0" i="0" u="none" strike="noStrike" dirty="0">
                          <a:solidFill>
                            <a:srgbClr val="000000"/>
                          </a:solidFill>
                          <a:latin typeface="+mn-lt"/>
                          <a:ea typeface="맑은 고딕"/>
                        </a:rPr>
                        <a:t> </a:t>
                      </a:r>
                      <a:r>
                        <a:rPr lang="en-US" altLang="ko-KR" sz="900" b="0" i="0" u="none" strike="noStrike" dirty="0">
                          <a:solidFill>
                            <a:srgbClr val="000000"/>
                          </a:solidFill>
                          <a:latin typeface="+mn-lt"/>
                          <a:ea typeface="맑은 고딕"/>
                        </a:rPr>
                        <a:t>ID </a:t>
                      </a:r>
                      <a:r>
                        <a:rPr lang="ko-KR" altLang="en-US" sz="900" b="0" i="0" u="none" strike="noStrike" dirty="0">
                          <a:solidFill>
                            <a:srgbClr val="000000"/>
                          </a:solidFill>
                          <a:latin typeface="+mn-lt"/>
                          <a:ea typeface="맑은 고딕"/>
                        </a:rPr>
                        <a:t>들어 있는 것 있어 수정</a:t>
                      </a:r>
                      <a:endParaRPr lang="en-US" altLang="ko-KR" sz="900" b="0" i="0" u="none" strike="noStrike" dirty="0">
                        <a:solidFill>
                          <a:srgbClr val="000000"/>
                        </a:solidFill>
                        <a:latin typeface="+mn-lt"/>
                        <a:ea typeface="맑은 고딕"/>
                      </a:endParaRPr>
                    </a:p>
                    <a:p>
                      <a:pPr marL="0" marR="0" indent="0" algn="l" defTabSz="914400" rtl="0" eaLnBrk="1" fontAlgn="auto" latinLnBrk="1" hangingPunct="1">
                        <a:lnSpc>
                          <a:spcPct val="120000"/>
                        </a:lnSpc>
                        <a:spcBef>
                          <a:spcPts val="0"/>
                        </a:spcBef>
                        <a:spcAft>
                          <a:spcPts val="0"/>
                        </a:spcAft>
                        <a:buClrTx/>
                        <a:buSzTx/>
                        <a:buFontTx/>
                        <a:buNone/>
                        <a:tabLst/>
                        <a:defRPr/>
                      </a:pPr>
                      <a:r>
                        <a:rPr lang="ko-KR" altLang="en-US" sz="900" b="0" i="0" u="none" strike="noStrike" dirty="0">
                          <a:solidFill>
                            <a:srgbClr val="000000"/>
                          </a:solidFill>
                          <a:latin typeface="+mn-lt"/>
                          <a:ea typeface="맑은 고딕"/>
                        </a:rPr>
                        <a:t>관련 목록 </a:t>
                      </a:r>
                      <a:r>
                        <a:rPr lang="en-US" altLang="ko-KR" sz="900" b="0" i="0" u="none" strike="noStrike" dirty="0">
                          <a:solidFill>
                            <a:srgbClr val="000000"/>
                          </a:solidFill>
                          <a:latin typeface="+mn-lt"/>
                          <a:ea typeface="맑은 고딕"/>
                        </a:rPr>
                        <a:t>:</a:t>
                      </a:r>
                      <a:r>
                        <a:rPr lang="en-US" altLang="ko-KR" sz="900" b="0" i="0" u="none" strike="noStrike" baseline="0" dirty="0">
                          <a:solidFill>
                            <a:srgbClr val="000000"/>
                          </a:solidFill>
                          <a:latin typeface="+mn-lt"/>
                          <a:ea typeface="맑은 고딕"/>
                        </a:rPr>
                        <a:t> 6.1 </a:t>
                      </a:r>
                      <a:r>
                        <a:rPr lang="ko-KR" altLang="en-US" sz="900" b="0" i="0" u="none" strike="noStrike" baseline="0" dirty="0" err="1">
                          <a:solidFill>
                            <a:srgbClr val="000000"/>
                          </a:solidFill>
                          <a:latin typeface="+mn-lt"/>
                          <a:ea typeface="맑은 고딕"/>
                        </a:rPr>
                        <a:t>화면목록</a:t>
                      </a:r>
                      <a:r>
                        <a:rPr lang="en-US" altLang="ko-KR" sz="900" b="0" i="0" u="none" strike="noStrike" baseline="0" dirty="0">
                          <a:solidFill>
                            <a:srgbClr val="000000"/>
                          </a:solidFill>
                          <a:latin typeface="+mn-lt"/>
                          <a:ea typeface="맑은 고딕"/>
                        </a:rPr>
                        <a:t>( </a:t>
                      </a:r>
                      <a:r>
                        <a:rPr lang="ko-KR" altLang="en-US" sz="900" b="0" i="0" u="none" strike="noStrike" baseline="0" dirty="0">
                          <a:solidFill>
                            <a:srgbClr val="000000"/>
                          </a:solidFill>
                          <a:latin typeface="+mn-lt"/>
                          <a:ea typeface="맑은 고딕"/>
                        </a:rPr>
                        <a:t>화면</a:t>
                      </a:r>
                      <a:r>
                        <a:rPr lang="en-US" altLang="ko-KR" sz="900" b="0" i="0" u="none" strike="noStrike" baseline="0" dirty="0">
                          <a:solidFill>
                            <a:srgbClr val="000000"/>
                          </a:solidFill>
                          <a:latin typeface="+mn-lt"/>
                          <a:ea typeface="맑은 고딕"/>
                        </a:rPr>
                        <a:t>ID </a:t>
                      </a:r>
                      <a:r>
                        <a:rPr lang="en-US" altLang="ko-KR" sz="800" kern="1200" dirty="0">
                          <a:solidFill>
                            <a:schemeClr val="tx1"/>
                          </a:solidFill>
                          <a:latin typeface="+mn-ea"/>
                          <a:ea typeface="+mn-ea"/>
                          <a:cs typeface="+mn-cs"/>
                        </a:rPr>
                        <a:t>MUI-BD-09-M01, MUI-BD-09-M02, MUI-BD-09-M03, MUI-BD-09-M04)</a:t>
                      </a: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a:lnSpc>
                          <a:spcPct val="120000"/>
                        </a:lnSpc>
                        <a:defRPr/>
                      </a:pPr>
                      <a:r>
                        <a:rPr lang="ko-KR" altLang="en-US" sz="900" b="0" i="0" u="none" strike="noStrike" dirty="0">
                          <a:solidFill>
                            <a:srgbClr val="000000"/>
                          </a:solidFill>
                          <a:latin typeface="맑은 고딕"/>
                          <a:ea typeface="맑은 고딕"/>
                        </a:rPr>
                        <a:t>김영수</a:t>
                      </a:r>
                      <a:r>
                        <a:rPr lang="en-US" altLang="ko-KR" sz="900" b="0" i="0" u="none" strike="noStrike" dirty="0">
                          <a:solidFill>
                            <a:srgbClr val="000000"/>
                          </a:solidFill>
                          <a:latin typeface="맑은 고딕"/>
                          <a:ea typeface="맑은 고딕"/>
                        </a:rPr>
                        <a:t>, </a:t>
                      </a:r>
                      <a:r>
                        <a:rPr lang="ko-KR" altLang="en-US" sz="900" b="0" i="0" u="none" strike="noStrike" dirty="0">
                          <a:solidFill>
                            <a:srgbClr val="000000"/>
                          </a:solidFill>
                          <a:latin typeface="맑은 고딕"/>
                          <a:ea typeface="맑은 고딕"/>
                        </a:rPr>
                        <a:t>권순태</a:t>
                      </a:r>
                      <a:endParaRPr lang="en-US" altLang="ko-KR"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40873">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tc>
                  <a:txBody>
                    <a:bodyPr/>
                    <a:lstStyle/>
                    <a:p>
                      <a:pPr algn="ctr">
                        <a:lnSpc>
                          <a:spcPct val="120000"/>
                        </a:lnSpc>
                        <a:defRPr/>
                      </a:pPr>
                      <a:r>
                        <a:rPr lang="ko-KR" altLang="en-US" sz="900" b="0" i="0" u="none" strike="noStrike" dirty="0">
                          <a:solidFill>
                            <a:srgbClr val="000000"/>
                          </a:solidFill>
                          <a:latin typeface="맑은 고딕"/>
                          <a:ea typeface="맑은 고딕"/>
                        </a:rPr>
                        <a:t>화면</a:t>
                      </a:r>
                      <a:r>
                        <a:rPr lang="en-US" altLang="ko-KR" sz="900" b="0" i="0" u="none" strike="noStrike" dirty="0">
                          <a:solidFill>
                            <a:srgbClr val="000000"/>
                          </a:solidFill>
                          <a:latin typeface="맑은 고딕"/>
                          <a:ea typeface="맑은 고딕"/>
                        </a:rPr>
                        <a:t>(</a:t>
                      </a:r>
                      <a:r>
                        <a:rPr lang="ko-KR" altLang="en-US" sz="900" b="0" i="0" u="none" strike="noStrike" dirty="0">
                          <a:solidFill>
                            <a:srgbClr val="000000"/>
                          </a:solidFill>
                          <a:latin typeface="맑은 고딕"/>
                          <a:ea typeface="맑은 고딕"/>
                        </a:rPr>
                        <a:t>메인</a:t>
                      </a:r>
                      <a:r>
                        <a:rPr lang="en-US" altLang="ko-KR" sz="900" b="0" i="0" u="none" strike="noStrike" dirty="0">
                          <a:solidFill>
                            <a:srgbClr val="000000"/>
                          </a:solidFill>
                          <a:latin typeface="맑은 고딕"/>
                          <a:ea typeface="맑은 고딕"/>
                        </a:rPr>
                        <a:t>,</a:t>
                      </a:r>
                      <a:r>
                        <a:rPr lang="ko-KR" altLang="en-US" sz="900" b="0" i="0" u="none" strike="noStrike" dirty="0">
                          <a:solidFill>
                            <a:srgbClr val="000000"/>
                          </a:solidFill>
                          <a:latin typeface="맑은 고딕"/>
                          <a:ea typeface="맑은 고딕"/>
                        </a:rPr>
                        <a:t>메뉴</a:t>
                      </a:r>
                      <a:r>
                        <a:rPr lang="en-US" altLang="ko-KR" sz="900" b="0" i="0" u="none" strike="noStrike" dirty="0">
                          <a:solidFill>
                            <a:srgbClr val="000000"/>
                          </a:solidFill>
                          <a:latin typeface="맑은 고딕"/>
                          <a:ea typeface="맑은 고딕"/>
                        </a:rPr>
                        <a:t>,</a:t>
                      </a:r>
                      <a:r>
                        <a:rPr lang="ko-KR" altLang="en-US" sz="900" b="0" i="0" u="none" strike="noStrike" dirty="0" err="1">
                          <a:solidFill>
                            <a:srgbClr val="000000"/>
                          </a:solidFill>
                          <a:latin typeface="맑은 고딕"/>
                          <a:ea typeface="맑은 고딕"/>
                        </a:rPr>
                        <a:t>전자서면</a:t>
                      </a:r>
                      <a:r>
                        <a:rPr lang="en-US" altLang="ko-KR" sz="900" b="0" i="0" u="none" strike="noStrike" dirty="0">
                          <a:solidFill>
                            <a:srgbClr val="000000"/>
                          </a:solidFill>
                          <a:latin typeface="맑은 고딕"/>
                          <a:ea typeface="맑은 고딕"/>
                        </a:rPr>
                        <a:t>,</a:t>
                      </a:r>
                      <a:r>
                        <a:rPr lang="ko-KR" altLang="en-US" sz="900" b="0" i="0" u="none" strike="noStrike" dirty="0" err="1">
                          <a:solidFill>
                            <a:srgbClr val="000000"/>
                          </a:solidFill>
                          <a:latin typeface="맑은 고딕"/>
                          <a:ea typeface="맑은 고딕"/>
                        </a:rPr>
                        <a:t>신청완료</a:t>
                      </a:r>
                      <a:r>
                        <a:rPr lang="en-US" altLang="ko-KR" sz="900" b="0" i="0" u="none" strike="noStrike" dirty="0">
                          <a:solidFill>
                            <a:srgbClr val="000000"/>
                          </a:solidFill>
                          <a:latin typeface="맑은 고딕"/>
                          <a:ea typeface="맑은 고딕"/>
                        </a:rPr>
                        <a:t>)</a:t>
                      </a:r>
                      <a:endParaRPr lang="ko-KR" altLang="en-US" sz="900" b="0" i="0" u="none" strike="noStrike" dirty="0">
                        <a:solidFill>
                          <a:srgbClr val="000000"/>
                        </a:solidFill>
                        <a:latin typeface="맑은 고딕"/>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l" defTabSz="914400" rtl="0" eaLnBrk="1" fontAlgn="auto" latinLnBrk="1" hangingPunct="1">
                        <a:lnSpc>
                          <a:spcPct val="120000"/>
                        </a:lnSpc>
                        <a:spcBef>
                          <a:spcPts val="0"/>
                        </a:spcBef>
                        <a:spcAft>
                          <a:spcPts val="0"/>
                        </a:spcAft>
                        <a:buClrTx/>
                        <a:buSzTx/>
                        <a:buFontTx/>
                        <a:buNone/>
                        <a:tabLst/>
                        <a:defRPr/>
                      </a:pPr>
                      <a:r>
                        <a:rPr lang="ko-KR" altLang="en-US" sz="800" kern="1200" dirty="0" err="1">
                          <a:solidFill>
                            <a:schemeClr val="tx1"/>
                          </a:solidFill>
                          <a:latin typeface="+mn-ea"/>
                          <a:ea typeface="+mn-ea"/>
                          <a:cs typeface="+mn-cs"/>
                        </a:rPr>
                        <a:t>감리의견</a:t>
                      </a:r>
                      <a:r>
                        <a:rPr lang="ko-KR" altLang="en-US" sz="800" kern="1200" dirty="0">
                          <a:solidFill>
                            <a:schemeClr val="tx1"/>
                          </a:solidFill>
                          <a:latin typeface="+mn-ea"/>
                          <a:ea typeface="+mn-ea"/>
                          <a:cs typeface="+mn-cs"/>
                        </a:rPr>
                        <a:t> 반영하여 요구사항 </a:t>
                      </a:r>
                      <a:r>
                        <a:rPr lang="ko-KR" altLang="en-US" sz="800" kern="1200" dirty="0" err="1">
                          <a:solidFill>
                            <a:schemeClr val="tx1"/>
                          </a:solidFill>
                          <a:latin typeface="+mn-ea"/>
                          <a:ea typeface="+mn-ea"/>
                          <a:cs typeface="+mn-cs"/>
                        </a:rPr>
                        <a:t>추적표에</a:t>
                      </a:r>
                      <a:r>
                        <a:rPr lang="ko-KR" altLang="en-US" sz="800" kern="1200" dirty="0">
                          <a:solidFill>
                            <a:schemeClr val="tx1"/>
                          </a:solidFill>
                          <a:latin typeface="+mn-ea"/>
                          <a:ea typeface="+mn-ea"/>
                          <a:cs typeface="+mn-cs"/>
                        </a:rPr>
                        <a:t> 있는  </a:t>
                      </a:r>
                      <a:r>
                        <a:rPr lang="en-US" altLang="ko-KR" sz="800" kern="1200" dirty="0">
                          <a:solidFill>
                            <a:schemeClr val="tx1"/>
                          </a:solidFill>
                          <a:latin typeface="+mn-ea"/>
                          <a:ea typeface="+mn-ea"/>
                          <a:cs typeface="+mn-cs"/>
                        </a:rPr>
                        <a:t>MUI-MS-02-M01, MUI-MS-02-M05, MUI-MS-02-M06 </a:t>
                      </a:r>
                      <a:r>
                        <a:rPr lang="ko-KR" altLang="en-US" sz="800" kern="1200" dirty="0">
                          <a:solidFill>
                            <a:schemeClr val="tx1"/>
                          </a:solidFill>
                          <a:latin typeface="+mn-ea"/>
                          <a:ea typeface="+mn-ea"/>
                          <a:cs typeface="+mn-cs"/>
                        </a:rPr>
                        <a:t>화면과 </a:t>
                      </a:r>
                      <a:r>
                        <a:rPr lang="en-US" altLang="ko-KR" sz="800" kern="1200" dirty="0">
                          <a:solidFill>
                            <a:schemeClr val="tx1"/>
                          </a:solidFill>
                          <a:latin typeface="+mn-ea"/>
                          <a:ea typeface="+mn-ea"/>
                          <a:cs typeface="+mn-cs"/>
                        </a:rPr>
                        <a:t>MUI-BD-04-M21(</a:t>
                      </a:r>
                      <a:r>
                        <a:rPr lang="ko-KR" altLang="en-US" sz="800" kern="1200" dirty="0">
                          <a:solidFill>
                            <a:schemeClr val="tx1"/>
                          </a:solidFill>
                          <a:latin typeface="+mn-ea"/>
                          <a:ea typeface="+mn-ea"/>
                          <a:cs typeface="+mn-cs"/>
                        </a:rPr>
                        <a:t>전자서명</a:t>
                      </a:r>
                      <a:r>
                        <a:rPr lang="en-US" altLang="ko-KR" sz="800" kern="1200" dirty="0">
                          <a:solidFill>
                            <a:schemeClr val="tx1"/>
                          </a:solidFill>
                          <a:latin typeface="+mn-ea"/>
                          <a:ea typeface="+mn-ea"/>
                          <a:cs typeface="+mn-cs"/>
                        </a:rPr>
                        <a:t>), MUI-BD-06-M08(</a:t>
                      </a:r>
                      <a:r>
                        <a:rPr lang="ko-KR" altLang="en-US" sz="800" kern="1200" dirty="0">
                          <a:solidFill>
                            <a:schemeClr val="tx1"/>
                          </a:solidFill>
                          <a:latin typeface="+mn-ea"/>
                          <a:ea typeface="+mn-ea"/>
                          <a:cs typeface="+mn-cs"/>
                        </a:rPr>
                        <a:t>신청 완료</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화면</a:t>
                      </a:r>
                      <a:r>
                        <a:rPr lang="ko-KR" altLang="en-US" sz="800" kern="1200" baseline="0" dirty="0">
                          <a:solidFill>
                            <a:schemeClr val="tx1"/>
                          </a:solidFill>
                          <a:latin typeface="+mn-ea"/>
                          <a:ea typeface="+mn-ea"/>
                          <a:cs typeface="+mn-cs"/>
                        </a:rPr>
                        <a:t> 추가</a:t>
                      </a:r>
                      <a:endParaRPr lang="en-US" altLang="ko-KR" sz="800" kern="1200" baseline="0" dirty="0">
                        <a:solidFill>
                          <a:schemeClr val="tx1"/>
                        </a:solidFill>
                        <a:latin typeface="+mn-ea"/>
                        <a:ea typeface="+mn-ea"/>
                        <a:cs typeface="+mn-cs"/>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indent="0" algn="ctr" defTabSz="914400" rtl="0" eaLnBrk="1" fontAlgn="auto" latinLnBrk="1" hangingPunct="1">
                        <a:lnSpc>
                          <a:spcPct val="120000"/>
                        </a:lnSpc>
                        <a:spcBef>
                          <a:spcPts val="0"/>
                        </a:spcBef>
                        <a:spcAft>
                          <a:spcPts val="0"/>
                        </a:spcAft>
                        <a:buClrTx/>
                        <a:buSzTx/>
                        <a:buFontTx/>
                        <a:buNone/>
                        <a:tabLst/>
                        <a:defRPr/>
                      </a:pPr>
                      <a:r>
                        <a:rPr lang="ko-KR" altLang="en-US" sz="900" b="0" i="0" u="none" strike="noStrike" dirty="0">
                          <a:solidFill>
                            <a:srgbClr val="000000"/>
                          </a:solidFill>
                          <a:latin typeface="+mn-lt"/>
                          <a:ea typeface="맑은 고딕"/>
                        </a:rPr>
                        <a:t>김영수</a:t>
                      </a:r>
                      <a:r>
                        <a:rPr lang="en-US" altLang="ko-KR" sz="900" b="0" i="0" u="none" strike="noStrike" dirty="0">
                          <a:solidFill>
                            <a:srgbClr val="000000"/>
                          </a:solidFill>
                          <a:latin typeface="+mn-lt"/>
                          <a:ea typeface="맑은 고딕"/>
                        </a:rPr>
                        <a:t>, </a:t>
                      </a:r>
                      <a:r>
                        <a:rPr lang="ko-KR" altLang="en-US" sz="900" b="0" i="0" u="none" strike="noStrike" dirty="0" smtClean="0">
                          <a:solidFill>
                            <a:srgbClr val="000000"/>
                          </a:solidFill>
                          <a:latin typeface="+mn-lt"/>
                          <a:ea typeface="맑은 고딕"/>
                        </a:rPr>
                        <a:t>권순태</a:t>
                      </a:r>
                      <a:endParaRPr lang="en-US" altLang="ko-KR" sz="900" b="0" i="0" u="none" strike="noStrike" dirty="0">
                        <a:solidFill>
                          <a:srgbClr val="000000"/>
                        </a:solidFill>
                        <a:latin typeface="+mn-lt"/>
                        <a:ea typeface="맑은 고딕"/>
                      </a:endParaRPr>
                    </a:p>
                  </a:txBody>
                  <a:tcPr marL="36000" marR="36000"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04939008"/>
                  </a:ext>
                </a:extLst>
              </a:tr>
            </a:tbl>
          </a:graphicData>
        </a:graphic>
      </p:graphicFrame>
    </p:spTree>
    <p:extLst>
      <p:ext uri="{BB962C8B-B14F-4D97-AF65-F5344CB8AC3E}">
        <p14:creationId xmlns:p14="http://schemas.microsoft.com/office/powerpoint/2010/main" val="5578603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3</a:t>
            </a:fld>
            <a:endParaRPr lang="ko-KR" altLang="en-US"/>
          </a:p>
        </p:txBody>
      </p:sp>
      <p:sp>
        <p:nvSpPr>
          <p:cNvPr id="16" name="텍스트 개체 틀 15"/>
          <p:cNvSpPr>
            <a:spLocks noGrp="1"/>
          </p:cNvSpPr>
          <p:nvPr>
            <p:ph type="body" sz="quarter" idx="10"/>
          </p:nvPr>
        </p:nvSpPr>
        <p:spPr/>
        <p:txBody>
          <a:bodyPr/>
          <a:lstStyle/>
          <a:p>
            <a:r>
              <a:rPr lang="ko-KR" altLang="en-US" dirty="0"/>
              <a:t>목     차</a:t>
            </a:r>
          </a:p>
        </p:txBody>
      </p:sp>
      <p:graphicFrame>
        <p:nvGraphicFramePr>
          <p:cNvPr id="3" name="표 2"/>
          <p:cNvGraphicFramePr>
            <a:graphicFrameLocks noGrp="1"/>
          </p:cNvGraphicFramePr>
          <p:nvPr>
            <p:extLst>
              <p:ext uri="{D42A27DB-BD31-4B8C-83A1-F6EECF244321}">
                <p14:modId xmlns:p14="http://schemas.microsoft.com/office/powerpoint/2010/main" val="3412318304"/>
              </p:ext>
            </p:extLst>
          </p:nvPr>
        </p:nvGraphicFramePr>
        <p:xfrm>
          <a:off x="988586" y="1265003"/>
          <a:ext cx="7926814" cy="5102241"/>
        </p:xfrm>
        <a:graphic>
          <a:graphicData uri="http://schemas.openxmlformats.org/drawingml/2006/table">
            <a:tbl>
              <a:tblPr>
                <a:tableStyleId>{5C22544A-7EE6-4342-B048-85BDC9FD1C3A}</a:tableStyleId>
              </a:tblPr>
              <a:tblGrid>
                <a:gridCol w="7419754">
                  <a:extLst>
                    <a:ext uri="{9D8B030D-6E8A-4147-A177-3AD203B41FA5}">
                      <a16:colId xmlns:a16="http://schemas.microsoft.com/office/drawing/2014/main" val="20000"/>
                    </a:ext>
                  </a:extLst>
                </a:gridCol>
                <a:gridCol w="507060">
                  <a:extLst>
                    <a:ext uri="{9D8B030D-6E8A-4147-A177-3AD203B41FA5}">
                      <a16:colId xmlns:a16="http://schemas.microsoft.com/office/drawing/2014/main" val="20001"/>
                    </a:ext>
                  </a:extLst>
                </a:gridCol>
              </a:tblGrid>
              <a:tr h="5102241">
                <a:tc>
                  <a:txBody>
                    <a:bodyPr/>
                    <a:lstStyle/>
                    <a:p>
                      <a:pPr marL="0" indent="0" algn="l" latinLnBrk="1">
                        <a:lnSpc>
                          <a:spcPct val="150000"/>
                        </a:lnSpc>
                        <a:buNone/>
                      </a:pPr>
                      <a:r>
                        <a:rPr lang="en-US" altLang="ko-KR" sz="1200" dirty="0">
                          <a:latin typeface="+mn-ea"/>
                          <a:ea typeface="+mn-ea"/>
                        </a:rPr>
                        <a:t>1. </a:t>
                      </a:r>
                      <a:r>
                        <a:rPr lang="ko-KR" altLang="en-US" sz="1200" dirty="0">
                          <a:latin typeface="+mn-ea"/>
                          <a:ea typeface="+mn-ea"/>
                        </a:rPr>
                        <a:t>메인 홈</a:t>
                      </a:r>
                      <a:endParaRPr lang="en-US" altLang="ko-KR" sz="1200" dirty="0">
                        <a:latin typeface="+mn-ea"/>
                        <a:ea typeface="+mn-ea"/>
                      </a:endParaRPr>
                    </a:p>
                    <a:p>
                      <a:pPr marL="0" indent="0" algn="l" latinLnBrk="1">
                        <a:lnSpc>
                          <a:spcPct val="150000"/>
                        </a:lnSpc>
                        <a:buNone/>
                      </a:pPr>
                      <a:r>
                        <a:rPr lang="en-US" altLang="ko-KR" sz="1200" dirty="0">
                          <a:latin typeface="+mn-ea"/>
                          <a:ea typeface="+mn-ea"/>
                        </a:rPr>
                        <a:t>1.1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1.2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2. </a:t>
                      </a:r>
                      <a:r>
                        <a:rPr lang="ko-KR" altLang="en-US" sz="1200" dirty="0">
                          <a:latin typeface="+mn-ea"/>
                          <a:ea typeface="+mn-ea"/>
                        </a:rPr>
                        <a:t>입찰공고</a:t>
                      </a:r>
                      <a:endParaRPr lang="en-US" altLang="ko-KR" sz="1200" dirty="0">
                        <a:latin typeface="+mn-ea"/>
                        <a:ea typeface="+mn-ea"/>
                      </a:endParaRPr>
                    </a:p>
                    <a:p>
                      <a:pPr marL="0" indent="0" algn="l" latinLnBrk="1">
                        <a:lnSpc>
                          <a:spcPct val="150000"/>
                        </a:lnSpc>
                        <a:buNone/>
                      </a:pPr>
                      <a:r>
                        <a:rPr lang="en-US" altLang="ko-KR" sz="1200" dirty="0">
                          <a:latin typeface="+mn-ea"/>
                          <a:ea typeface="+mn-ea"/>
                        </a:rPr>
                        <a:t>2.1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2.2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2.3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2.4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3. </a:t>
                      </a:r>
                      <a:r>
                        <a:rPr lang="ko-KR" altLang="en-US" sz="1200" dirty="0">
                          <a:latin typeface="+mn-ea"/>
                          <a:ea typeface="+mn-ea"/>
                        </a:rPr>
                        <a:t>입찰공고상세</a:t>
                      </a:r>
                      <a:endParaRPr lang="en-US" altLang="ko-KR" sz="1200" dirty="0">
                        <a:latin typeface="+mn-ea"/>
                        <a:ea typeface="+mn-ea"/>
                      </a:endParaRPr>
                    </a:p>
                    <a:p>
                      <a:pPr marL="0" indent="0" algn="l" latinLnBrk="1">
                        <a:lnSpc>
                          <a:spcPct val="150000"/>
                        </a:lnSpc>
                        <a:buNone/>
                      </a:pPr>
                      <a:r>
                        <a:rPr lang="en-US" altLang="ko-KR" sz="1200" dirty="0">
                          <a:latin typeface="+mn-ea"/>
                          <a:ea typeface="+mn-ea"/>
                        </a:rPr>
                        <a:t>3.1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3.2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3.3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3.4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4. </a:t>
                      </a:r>
                      <a:r>
                        <a:rPr lang="ko-KR" altLang="en-US" sz="1200" dirty="0">
                          <a:latin typeface="+mn-ea"/>
                          <a:ea typeface="+mn-ea"/>
                        </a:rPr>
                        <a:t>입찰공고 상세 기능 안내</a:t>
                      </a:r>
                      <a:endParaRPr lang="en-US" altLang="ko-KR" sz="1200" dirty="0">
                        <a:latin typeface="+mn-ea"/>
                        <a:ea typeface="+mn-ea"/>
                      </a:endParaRPr>
                    </a:p>
                    <a:p>
                      <a:pPr marL="0" indent="0" algn="l" latinLnBrk="1">
                        <a:lnSpc>
                          <a:spcPct val="150000"/>
                        </a:lnSpc>
                        <a:buNone/>
                      </a:pPr>
                      <a:r>
                        <a:rPr lang="en-US" altLang="ko-KR" sz="1200" dirty="0">
                          <a:latin typeface="+mn-ea"/>
                          <a:ea typeface="+mn-ea"/>
                        </a:rPr>
                        <a:t>4.1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4.2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4.3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4.4 </a:t>
                      </a:r>
                      <a:r>
                        <a:rPr lang="ko-KR" altLang="en-US" sz="1200" dirty="0">
                          <a:latin typeface="+mn-ea"/>
                          <a:ea typeface="+mn-ea"/>
                        </a:rPr>
                        <a:t>화면 </a:t>
                      </a:r>
                      <a:r>
                        <a:rPr lang="en-US" altLang="ko-KR" sz="1200" dirty="0">
                          <a:latin typeface="+mn-ea"/>
                          <a:ea typeface="+mn-ea"/>
                        </a:rPr>
                        <a:t>Layout</a:t>
                      </a: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r" latinLnBrk="1">
                        <a:lnSpc>
                          <a:spcPct val="150000"/>
                        </a:lnSpc>
                      </a:pPr>
                      <a:r>
                        <a:rPr lang="en-US" altLang="ko-KR" sz="1200" dirty="0">
                          <a:latin typeface="+mn-ea"/>
                          <a:ea typeface="+mn-ea"/>
                        </a:rPr>
                        <a:t>5</a:t>
                      </a:r>
                    </a:p>
                    <a:p>
                      <a:pPr algn="r" latinLnBrk="1">
                        <a:lnSpc>
                          <a:spcPct val="150000"/>
                        </a:lnSpc>
                      </a:pPr>
                      <a:r>
                        <a:rPr lang="en-US" altLang="ko-KR" sz="1200" dirty="0">
                          <a:latin typeface="+mn-ea"/>
                          <a:ea typeface="+mn-ea"/>
                        </a:rPr>
                        <a:t>5</a:t>
                      </a:r>
                    </a:p>
                    <a:p>
                      <a:pPr algn="r" latinLnBrk="1">
                        <a:lnSpc>
                          <a:spcPct val="150000"/>
                        </a:lnSpc>
                      </a:pPr>
                      <a:r>
                        <a:rPr lang="en-US" altLang="ko-KR" sz="1200" dirty="0">
                          <a:latin typeface="+mn-ea"/>
                          <a:ea typeface="+mn-ea"/>
                        </a:rPr>
                        <a:t>6</a:t>
                      </a:r>
                    </a:p>
                    <a:p>
                      <a:pPr algn="r" latinLnBrk="1">
                        <a:lnSpc>
                          <a:spcPct val="150000"/>
                        </a:lnSpc>
                      </a:pPr>
                      <a:r>
                        <a:rPr lang="en-US" altLang="ko-KR" sz="1200" dirty="0">
                          <a:latin typeface="+mn-ea"/>
                          <a:ea typeface="+mn-ea"/>
                        </a:rPr>
                        <a:t>9</a:t>
                      </a:r>
                    </a:p>
                    <a:p>
                      <a:pPr algn="r" latinLnBrk="1">
                        <a:lnSpc>
                          <a:spcPct val="150000"/>
                        </a:lnSpc>
                      </a:pPr>
                      <a:r>
                        <a:rPr lang="en-US" altLang="ko-KR" sz="1200" dirty="0">
                          <a:latin typeface="+mn-ea"/>
                          <a:ea typeface="+mn-ea"/>
                        </a:rPr>
                        <a:t>9</a:t>
                      </a:r>
                    </a:p>
                    <a:p>
                      <a:pPr algn="r" latinLnBrk="1">
                        <a:lnSpc>
                          <a:spcPct val="150000"/>
                        </a:lnSpc>
                      </a:pPr>
                      <a:r>
                        <a:rPr lang="en-US" altLang="ko-KR" sz="1200" dirty="0">
                          <a:latin typeface="+mn-ea"/>
                          <a:ea typeface="+mn-ea"/>
                        </a:rPr>
                        <a:t>10</a:t>
                      </a:r>
                    </a:p>
                    <a:p>
                      <a:pPr algn="r" latinLnBrk="1">
                        <a:lnSpc>
                          <a:spcPct val="150000"/>
                        </a:lnSpc>
                      </a:pPr>
                      <a:r>
                        <a:rPr lang="en-US" altLang="ko-KR" sz="1200" dirty="0">
                          <a:latin typeface="+mn-ea"/>
                          <a:ea typeface="+mn-ea"/>
                        </a:rPr>
                        <a:t>11</a:t>
                      </a:r>
                    </a:p>
                    <a:p>
                      <a:pPr algn="r" latinLnBrk="1">
                        <a:lnSpc>
                          <a:spcPct val="150000"/>
                        </a:lnSpc>
                      </a:pPr>
                      <a:r>
                        <a:rPr lang="en-US" altLang="ko-KR" sz="1200" dirty="0">
                          <a:latin typeface="+mn-ea"/>
                          <a:ea typeface="+mn-ea"/>
                        </a:rPr>
                        <a:t>12</a:t>
                      </a:r>
                    </a:p>
                    <a:p>
                      <a:pPr algn="r" latinLnBrk="1">
                        <a:lnSpc>
                          <a:spcPct val="150000"/>
                        </a:lnSpc>
                      </a:pPr>
                      <a:r>
                        <a:rPr lang="en-US" altLang="ko-KR" sz="1200" dirty="0">
                          <a:latin typeface="+mn-ea"/>
                          <a:ea typeface="+mn-ea"/>
                        </a:rPr>
                        <a:t>22</a:t>
                      </a:r>
                    </a:p>
                    <a:p>
                      <a:pPr algn="r" latinLnBrk="1">
                        <a:lnSpc>
                          <a:spcPct val="150000"/>
                        </a:lnSpc>
                      </a:pPr>
                      <a:r>
                        <a:rPr lang="en-US" altLang="ko-KR" sz="1200" dirty="0">
                          <a:latin typeface="+mn-ea"/>
                          <a:ea typeface="+mn-ea"/>
                        </a:rPr>
                        <a:t>22</a:t>
                      </a:r>
                    </a:p>
                    <a:p>
                      <a:pPr algn="r" latinLnBrk="1">
                        <a:lnSpc>
                          <a:spcPct val="150000"/>
                        </a:lnSpc>
                      </a:pPr>
                      <a:r>
                        <a:rPr lang="en-US" altLang="ko-KR" sz="1200" dirty="0">
                          <a:latin typeface="+mn-ea"/>
                          <a:ea typeface="+mn-ea"/>
                        </a:rPr>
                        <a:t>24</a:t>
                      </a:r>
                    </a:p>
                    <a:p>
                      <a:pPr algn="r" latinLnBrk="1">
                        <a:lnSpc>
                          <a:spcPct val="150000"/>
                        </a:lnSpc>
                      </a:pPr>
                      <a:r>
                        <a:rPr lang="en-US" altLang="ko-KR" sz="1200" dirty="0">
                          <a:latin typeface="+mn-ea"/>
                          <a:ea typeface="+mn-ea"/>
                        </a:rPr>
                        <a:t>25</a:t>
                      </a:r>
                    </a:p>
                    <a:p>
                      <a:pPr algn="r" latinLnBrk="1">
                        <a:lnSpc>
                          <a:spcPct val="150000"/>
                        </a:lnSpc>
                      </a:pPr>
                      <a:r>
                        <a:rPr lang="en-US" altLang="ko-KR" sz="1200" dirty="0">
                          <a:latin typeface="+mn-ea"/>
                          <a:ea typeface="+mn-ea"/>
                        </a:rPr>
                        <a:t>26</a:t>
                      </a:r>
                    </a:p>
                    <a:p>
                      <a:pPr algn="r" latinLnBrk="1">
                        <a:lnSpc>
                          <a:spcPct val="150000"/>
                        </a:lnSpc>
                      </a:pPr>
                      <a:r>
                        <a:rPr lang="en-US" altLang="ko-KR" sz="1200" dirty="0">
                          <a:latin typeface="+mn-ea"/>
                          <a:ea typeface="+mn-ea"/>
                        </a:rPr>
                        <a:t>47</a:t>
                      </a:r>
                    </a:p>
                    <a:p>
                      <a:pPr algn="r" latinLnBrk="1">
                        <a:lnSpc>
                          <a:spcPct val="150000"/>
                        </a:lnSpc>
                      </a:pPr>
                      <a:r>
                        <a:rPr lang="en-US" altLang="ko-KR" sz="1200" dirty="0">
                          <a:latin typeface="+mn-ea"/>
                          <a:ea typeface="+mn-ea"/>
                        </a:rPr>
                        <a:t>47</a:t>
                      </a:r>
                    </a:p>
                    <a:p>
                      <a:pPr algn="r" latinLnBrk="1">
                        <a:lnSpc>
                          <a:spcPct val="150000"/>
                        </a:lnSpc>
                      </a:pPr>
                      <a:r>
                        <a:rPr lang="en-US" altLang="ko-KR" sz="1200" dirty="0">
                          <a:latin typeface="+mn-ea"/>
                          <a:ea typeface="+mn-ea"/>
                        </a:rPr>
                        <a:t>48</a:t>
                      </a:r>
                    </a:p>
                    <a:p>
                      <a:pPr algn="r" latinLnBrk="1">
                        <a:lnSpc>
                          <a:spcPct val="150000"/>
                        </a:lnSpc>
                      </a:pPr>
                      <a:r>
                        <a:rPr lang="en-US" altLang="ko-KR" sz="1200" dirty="0">
                          <a:latin typeface="+mn-ea"/>
                          <a:ea typeface="+mn-ea"/>
                        </a:rPr>
                        <a:t>49</a:t>
                      </a:r>
                    </a:p>
                    <a:p>
                      <a:pPr algn="r" latinLnBrk="1">
                        <a:lnSpc>
                          <a:spcPct val="150000"/>
                        </a:lnSpc>
                      </a:pPr>
                      <a:r>
                        <a:rPr lang="en-US" altLang="ko-KR" sz="1200" dirty="0">
                          <a:latin typeface="+mn-ea"/>
                          <a:ea typeface="+mn-ea"/>
                        </a:rPr>
                        <a:t>50</a:t>
                      </a: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4796976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4</a:t>
            </a:fld>
            <a:endParaRPr lang="ko-KR" altLang="en-US"/>
          </a:p>
        </p:txBody>
      </p:sp>
      <p:sp>
        <p:nvSpPr>
          <p:cNvPr id="16" name="텍스트 개체 틀 15"/>
          <p:cNvSpPr>
            <a:spLocks noGrp="1"/>
          </p:cNvSpPr>
          <p:nvPr>
            <p:ph type="body" sz="quarter" idx="10"/>
          </p:nvPr>
        </p:nvSpPr>
        <p:spPr/>
        <p:txBody>
          <a:bodyPr/>
          <a:lstStyle/>
          <a:p>
            <a:r>
              <a:rPr lang="ko-KR" altLang="en-US" dirty="0"/>
              <a:t>목     차</a:t>
            </a:r>
          </a:p>
        </p:txBody>
      </p:sp>
      <p:graphicFrame>
        <p:nvGraphicFramePr>
          <p:cNvPr id="3" name="표 2"/>
          <p:cNvGraphicFramePr>
            <a:graphicFrameLocks noGrp="1"/>
          </p:cNvGraphicFramePr>
          <p:nvPr>
            <p:extLst>
              <p:ext uri="{D42A27DB-BD31-4B8C-83A1-F6EECF244321}">
                <p14:modId xmlns:p14="http://schemas.microsoft.com/office/powerpoint/2010/main" val="113799667"/>
              </p:ext>
            </p:extLst>
          </p:nvPr>
        </p:nvGraphicFramePr>
        <p:xfrm>
          <a:off x="988586" y="1265003"/>
          <a:ext cx="7926814" cy="5102241"/>
        </p:xfrm>
        <a:graphic>
          <a:graphicData uri="http://schemas.openxmlformats.org/drawingml/2006/table">
            <a:tbl>
              <a:tblPr>
                <a:tableStyleId>{5C22544A-7EE6-4342-B048-85BDC9FD1C3A}</a:tableStyleId>
              </a:tblPr>
              <a:tblGrid>
                <a:gridCol w="7419754">
                  <a:extLst>
                    <a:ext uri="{9D8B030D-6E8A-4147-A177-3AD203B41FA5}">
                      <a16:colId xmlns:a16="http://schemas.microsoft.com/office/drawing/2014/main" val="20000"/>
                    </a:ext>
                  </a:extLst>
                </a:gridCol>
                <a:gridCol w="507060">
                  <a:extLst>
                    <a:ext uri="{9D8B030D-6E8A-4147-A177-3AD203B41FA5}">
                      <a16:colId xmlns:a16="http://schemas.microsoft.com/office/drawing/2014/main" val="20001"/>
                    </a:ext>
                  </a:extLst>
                </a:gridCol>
              </a:tblGrid>
              <a:tr h="5102241">
                <a:tc>
                  <a:txBody>
                    <a:bodyPr/>
                    <a:lstStyle/>
                    <a:p>
                      <a:pPr marL="0" indent="0" algn="l" latinLnBrk="1">
                        <a:lnSpc>
                          <a:spcPct val="150000"/>
                        </a:lnSpc>
                        <a:buNone/>
                      </a:pPr>
                      <a:r>
                        <a:rPr lang="en-US" altLang="ko-KR" sz="1200" dirty="0">
                          <a:latin typeface="+mn-ea"/>
                          <a:ea typeface="+mn-ea"/>
                        </a:rPr>
                        <a:t>5. </a:t>
                      </a:r>
                      <a:r>
                        <a:rPr lang="ko-KR" altLang="en-US" sz="1200" dirty="0" err="1">
                          <a:latin typeface="+mn-ea"/>
                          <a:ea typeface="+mn-ea"/>
                        </a:rPr>
                        <a:t>플로팅</a:t>
                      </a:r>
                      <a:r>
                        <a:rPr lang="ko-KR" altLang="en-US" sz="1200" dirty="0">
                          <a:latin typeface="+mn-ea"/>
                          <a:ea typeface="+mn-ea"/>
                        </a:rPr>
                        <a:t> 버튼</a:t>
                      </a:r>
                      <a:r>
                        <a:rPr lang="en-US" altLang="ko-KR" sz="1200" dirty="0">
                          <a:latin typeface="+mn-ea"/>
                          <a:ea typeface="+mn-ea"/>
                        </a:rPr>
                        <a:t>, </a:t>
                      </a:r>
                      <a:r>
                        <a:rPr lang="ko-KR" altLang="en-US" sz="1200" dirty="0">
                          <a:latin typeface="+mn-ea"/>
                          <a:ea typeface="+mn-ea"/>
                        </a:rPr>
                        <a:t>환율 정보</a:t>
                      </a:r>
                      <a:endParaRPr lang="en-US" altLang="ko-KR" sz="1200" dirty="0">
                        <a:latin typeface="+mn-ea"/>
                        <a:ea typeface="+mn-ea"/>
                      </a:endParaRPr>
                    </a:p>
                    <a:p>
                      <a:pPr marL="0" indent="0" algn="l" latinLnBrk="1">
                        <a:lnSpc>
                          <a:spcPct val="150000"/>
                        </a:lnSpc>
                        <a:buNone/>
                      </a:pPr>
                      <a:r>
                        <a:rPr lang="en-US" altLang="ko-KR" sz="1200" dirty="0">
                          <a:latin typeface="+mn-ea"/>
                          <a:ea typeface="+mn-ea"/>
                        </a:rPr>
                        <a:t>5.1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5.2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5.3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5.4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5. </a:t>
                      </a:r>
                      <a:r>
                        <a:rPr lang="ko-KR" altLang="en-US" sz="1200" dirty="0" err="1">
                          <a:latin typeface="+mn-ea"/>
                          <a:ea typeface="+mn-ea"/>
                        </a:rPr>
                        <a:t>입찰진행</a:t>
                      </a:r>
                      <a:r>
                        <a:rPr lang="ko-KR" altLang="en-US" sz="1200" dirty="0">
                          <a:latin typeface="+mn-ea"/>
                          <a:ea typeface="+mn-ea"/>
                        </a:rPr>
                        <a:t> 목록 및 신청서 작성</a:t>
                      </a:r>
                      <a:endParaRPr lang="en-US" altLang="ko-KR" sz="1200" dirty="0">
                        <a:latin typeface="+mn-ea"/>
                        <a:ea typeface="+mn-ea"/>
                      </a:endParaRPr>
                    </a:p>
                    <a:p>
                      <a:pPr marL="0" indent="0" algn="l" latinLnBrk="1">
                        <a:lnSpc>
                          <a:spcPct val="150000"/>
                        </a:lnSpc>
                        <a:buNone/>
                      </a:pPr>
                      <a:r>
                        <a:rPr lang="en-US" altLang="ko-KR" sz="1200" dirty="0">
                          <a:latin typeface="+mn-ea"/>
                          <a:ea typeface="+mn-ea"/>
                        </a:rPr>
                        <a:t>6.1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6.2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6.3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6.4 </a:t>
                      </a:r>
                      <a:r>
                        <a:rPr lang="ko-KR" altLang="en-US" sz="1200" dirty="0">
                          <a:latin typeface="+mn-ea"/>
                          <a:ea typeface="+mn-ea"/>
                        </a:rPr>
                        <a:t>화면 </a:t>
                      </a:r>
                      <a:r>
                        <a:rPr lang="en-US" altLang="ko-KR" sz="1200" dirty="0">
                          <a:latin typeface="+mn-ea"/>
                          <a:ea typeface="+mn-ea"/>
                        </a:rPr>
                        <a:t>Layout</a:t>
                      </a:r>
                    </a:p>
                    <a:p>
                      <a:pPr marL="0" indent="0" algn="l" latinLnBrk="1">
                        <a:lnSpc>
                          <a:spcPct val="150000"/>
                        </a:lnSpc>
                        <a:buNone/>
                      </a:pPr>
                      <a:r>
                        <a:rPr lang="en-US" altLang="ko-KR" sz="1200" dirty="0">
                          <a:latin typeface="+mn-ea"/>
                          <a:ea typeface="+mn-ea"/>
                        </a:rPr>
                        <a:t>7. </a:t>
                      </a:r>
                      <a:r>
                        <a:rPr lang="ko-KR" altLang="en-US" sz="1200" dirty="0" err="1">
                          <a:latin typeface="+mn-ea"/>
                          <a:ea typeface="+mn-ea"/>
                        </a:rPr>
                        <a:t>개찰목록</a:t>
                      </a:r>
                      <a:r>
                        <a:rPr lang="ko-KR" altLang="en-US" sz="1200" dirty="0">
                          <a:latin typeface="+mn-ea"/>
                          <a:ea typeface="+mn-ea"/>
                        </a:rPr>
                        <a:t> 및 이행</a:t>
                      </a:r>
                      <a:r>
                        <a:rPr lang="en-US" altLang="ko-KR" sz="1200" dirty="0">
                          <a:latin typeface="+mn-ea"/>
                          <a:ea typeface="+mn-ea"/>
                        </a:rPr>
                        <a:t>/</a:t>
                      </a:r>
                      <a:r>
                        <a:rPr lang="ko-KR" altLang="en-US" sz="1200" dirty="0">
                          <a:latin typeface="+mn-ea"/>
                          <a:ea typeface="+mn-ea"/>
                        </a:rPr>
                        <a:t>적격심사</a:t>
                      </a:r>
                      <a:endParaRPr lang="en-US" altLang="ko-KR" sz="1200" dirty="0">
                        <a:latin typeface="+mn-ea"/>
                        <a:ea typeface="+mn-ea"/>
                      </a:endParaRPr>
                    </a:p>
                    <a:p>
                      <a:pPr marL="0" indent="0" algn="l" latinLnBrk="1">
                        <a:lnSpc>
                          <a:spcPct val="150000"/>
                        </a:lnSpc>
                        <a:buNone/>
                      </a:pPr>
                      <a:r>
                        <a:rPr lang="en-US" altLang="ko-KR" sz="1200" dirty="0">
                          <a:latin typeface="+mn-ea"/>
                          <a:ea typeface="+mn-ea"/>
                        </a:rPr>
                        <a:t>7.1 </a:t>
                      </a:r>
                      <a:r>
                        <a:rPr lang="ko-KR" altLang="en-US" sz="1200" dirty="0">
                          <a:latin typeface="+mn-ea"/>
                          <a:ea typeface="+mn-ea"/>
                        </a:rPr>
                        <a:t>화면 목록</a:t>
                      </a:r>
                      <a:endParaRPr lang="en-US" altLang="ko-KR" sz="1200" dirty="0">
                        <a:latin typeface="+mn-ea"/>
                        <a:ea typeface="+mn-ea"/>
                      </a:endParaRPr>
                    </a:p>
                    <a:p>
                      <a:pPr marL="0" indent="0" algn="l" latinLnBrk="1">
                        <a:lnSpc>
                          <a:spcPct val="150000"/>
                        </a:lnSpc>
                        <a:buNone/>
                      </a:pPr>
                      <a:r>
                        <a:rPr lang="en-US" altLang="ko-KR" sz="1200" dirty="0">
                          <a:latin typeface="+mn-ea"/>
                          <a:ea typeface="+mn-ea"/>
                        </a:rPr>
                        <a:t>7.2 </a:t>
                      </a:r>
                      <a:r>
                        <a:rPr lang="ko-KR" altLang="en-US" sz="1200" dirty="0">
                          <a:latin typeface="+mn-ea"/>
                          <a:ea typeface="+mn-ea"/>
                        </a:rPr>
                        <a:t>화면 흐름도</a:t>
                      </a:r>
                      <a:endParaRPr lang="en-US" altLang="ko-KR" sz="1200" dirty="0">
                        <a:latin typeface="+mn-ea"/>
                        <a:ea typeface="+mn-ea"/>
                      </a:endParaRPr>
                    </a:p>
                    <a:p>
                      <a:pPr marL="0" indent="0" algn="l" latinLnBrk="1">
                        <a:lnSpc>
                          <a:spcPct val="150000"/>
                        </a:lnSpc>
                        <a:buNone/>
                      </a:pPr>
                      <a:r>
                        <a:rPr lang="en-US" altLang="ko-KR" sz="1200" dirty="0">
                          <a:latin typeface="+mn-ea"/>
                          <a:ea typeface="+mn-ea"/>
                        </a:rPr>
                        <a:t>7.3 </a:t>
                      </a:r>
                      <a:r>
                        <a:rPr lang="ko-KR" altLang="en-US" sz="1200" dirty="0">
                          <a:latin typeface="+mn-ea"/>
                          <a:ea typeface="+mn-ea"/>
                        </a:rPr>
                        <a:t>앱 구성 다이어그램</a:t>
                      </a:r>
                      <a:endParaRPr lang="en-US" altLang="ko-KR" sz="1200" dirty="0">
                        <a:latin typeface="+mn-ea"/>
                        <a:ea typeface="+mn-ea"/>
                      </a:endParaRPr>
                    </a:p>
                    <a:p>
                      <a:pPr marL="0" indent="0" algn="l" latinLnBrk="1">
                        <a:lnSpc>
                          <a:spcPct val="150000"/>
                        </a:lnSpc>
                        <a:buNone/>
                      </a:pPr>
                      <a:r>
                        <a:rPr lang="en-US" altLang="ko-KR" sz="1200" dirty="0">
                          <a:latin typeface="+mn-ea"/>
                          <a:ea typeface="+mn-ea"/>
                        </a:rPr>
                        <a:t>7.4 </a:t>
                      </a:r>
                      <a:r>
                        <a:rPr lang="ko-KR" altLang="en-US" sz="1200" dirty="0">
                          <a:latin typeface="+mn-ea"/>
                          <a:ea typeface="+mn-ea"/>
                        </a:rPr>
                        <a:t>화면 </a:t>
                      </a:r>
                      <a:r>
                        <a:rPr lang="en-US" altLang="ko-KR" sz="1200" dirty="0">
                          <a:latin typeface="+mn-ea"/>
                          <a:ea typeface="+mn-ea"/>
                        </a:rPr>
                        <a:t>Layout</a:t>
                      </a: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r" latinLnBrk="1">
                        <a:lnSpc>
                          <a:spcPct val="150000"/>
                        </a:lnSpc>
                      </a:pPr>
                      <a:r>
                        <a:rPr lang="en-US" altLang="ko-KR" sz="1200" dirty="0">
                          <a:latin typeface="+mn-ea"/>
                          <a:ea typeface="+mn-ea"/>
                        </a:rPr>
                        <a:t>52</a:t>
                      </a:r>
                    </a:p>
                    <a:p>
                      <a:pPr algn="r" latinLnBrk="1">
                        <a:lnSpc>
                          <a:spcPct val="150000"/>
                        </a:lnSpc>
                      </a:pPr>
                      <a:r>
                        <a:rPr lang="en-US" altLang="ko-KR" sz="1200" dirty="0">
                          <a:latin typeface="+mn-ea"/>
                          <a:ea typeface="+mn-ea"/>
                        </a:rPr>
                        <a:t>52</a:t>
                      </a:r>
                    </a:p>
                    <a:p>
                      <a:pPr algn="r" latinLnBrk="1">
                        <a:lnSpc>
                          <a:spcPct val="150000"/>
                        </a:lnSpc>
                      </a:pPr>
                      <a:r>
                        <a:rPr lang="en-US" altLang="ko-KR" sz="1200" dirty="0">
                          <a:latin typeface="+mn-ea"/>
                          <a:ea typeface="+mn-ea"/>
                        </a:rPr>
                        <a:t>53</a:t>
                      </a:r>
                    </a:p>
                    <a:p>
                      <a:pPr algn="r" latinLnBrk="1">
                        <a:lnSpc>
                          <a:spcPct val="150000"/>
                        </a:lnSpc>
                      </a:pPr>
                      <a:r>
                        <a:rPr lang="en-US" altLang="ko-KR" sz="1200" dirty="0">
                          <a:latin typeface="+mn-ea"/>
                          <a:ea typeface="+mn-ea"/>
                        </a:rPr>
                        <a:t>54</a:t>
                      </a:r>
                    </a:p>
                    <a:p>
                      <a:pPr algn="r" latinLnBrk="1">
                        <a:lnSpc>
                          <a:spcPct val="150000"/>
                        </a:lnSpc>
                      </a:pPr>
                      <a:r>
                        <a:rPr lang="en-US" altLang="ko-KR" sz="1200" dirty="0">
                          <a:latin typeface="+mn-ea"/>
                          <a:ea typeface="+mn-ea"/>
                        </a:rPr>
                        <a:t>55</a:t>
                      </a:r>
                    </a:p>
                    <a:p>
                      <a:pPr algn="r" latinLnBrk="1">
                        <a:lnSpc>
                          <a:spcPct val="150000"/>
                        </a:lnSpc>
                      </a:pPr>
                      <a:r>
                        <a:rPr lang="en-US" altLang="ko-KR" sz="1200" dirty="0">
                          <a:latin typeface="+mn-ea"/>
                          <a:ea typeface="+mn-ea"/>
                        </a:rPr>
                        <a:t>58</a:t>
                      </a:r>
                    </a:p>
                    <a:p>
                      <a:pPr algn="r" latinLnBrk="1">
                        <a:lnSpc>
                          <a:spcPct val="150000"/>
                        </a:lnSpc>
                      </a:pPr>
                      <a:r>
                        <a:rPr lang="en-US" altLang="ko-KR" sz="1200" dirty="0">
                          <a:latin typeface="+mn-ea"/>
                          <a:ea typeface="+mn-ea"/>
                        </a:rPr>
                        <a:t>58</a:t>
                      </a:r>
                    </a:p>
                    <a:p>
                      <a:pPr algn="r" latinLnBrk="1">
                        <a:lnSpc>
                          <a:spcPct val="150000"/>
                        </a:lnSpc>
                      </a:pPr>
                      <a:r>
                        <a:rPr lang="en-US" altLang="ko-KR" sz="1200" dirty="0">
                          <a:latin typeface="+mn-ea"/>
                          <a:ea typeface="+mn-ea"/>
                        </a:rPr>
                        <a:t>62</a:t>
                      </a:r>
                    </a:p>
                    <a:p>
                      <a:pPr algn="r" latinLnBrk="1">
                        <a:lnSpc>
                          <a:spcPct val="150000"/>
                        </a:lnSpc>
                      </a:pPr>
                      <a:r>
                        <a:rPr lang="en-US" altLang="ko-KR" sz="1200" dirty="0">
                          <a:latin typeface="+mn-ea"/>
                          <a:ea typeface="+mn-ea"/>
                        </a:rPr>
                        <a:t>63</a:t>
                      </a:r>
                    </a:p>
                    <a:p>
                      <a:pPr algn="r" latinLnBrk="1">
                        <a:lnSpc>
                          <a:spcPct val="150000"/>
                        </a:lnSpc>
                      </a:pPr>
                      <a:r>
                        <a:rPr lang="en-US" altLang="ko-KR" sz="1200" dirty="0">
                          <a:latin typeface="+mn-ea"/>
                          <a:ea typeface="+mn-ea"/>
                        </a:rPr>
                        <a:t>65</a:t>
                      </a:r>
                    </a:p>
                    <a:p>
                      <a:pPr algn="r" latinLnBrk="1">
                        <a:lnSpc>
                          <a:spcPct val="150000"/>
                        </a:lnSpc>
                      </a:pPr>
                      <a:r>
                        <a:rPr lang="en-US" altLang="ko-KR" sz="1200" dirty="0">
                          <a:latin typeface="+mn-ea"/>
                          <a:ea typeface="+mn-ea"/>
                        </a:rPr>
                        <a:t>134</a:t>
                      </a:r>
                    </a:p>
                    <a:p>
                      <a:pPr algn="r" latinLnBrk="1">
                        <a:lnSpc>
                          <a:spcPct val="150000"/>
                        </a:lnSpc>
                      </a:pPr>
                      <a:r>
                        <a:rPr lang="en-US" altLang="ko-KR" sz="1200" dirty="0">
                          <a:latin typeface="+mn-ea"/>
                          <a:ea typeface="+mn-ea"/>
                        </a:rPr>
                        <a:t>134</a:t>
                      </a:r>
                    </a:p>
                    <a:p>
                      <a:pPr algn="r" latinLnBrk="1">
                        <a:lnSpc>
                          <a:spcPct val="150000"/>
                        </a:lnSpc>
                      </a:pPr>
                      <a:r>
                        <a:rPr lang="en-US" altLang="ko-KR" sz="1200" dirty="0">
                          <a:latin typeface="+mn-ea"/>
                          <a:ea typeface="+mn-ea"/>
                        </a:rPr>
                        <a:t>137</a:t>
                      </a:r>
                    </a:p>
                    <a:p>
                      <a:pPr algn="r" latinLnBrk="1">
                        <a:lnSpc>
                          <a:spcPct val="150000"/>
                        </a:lnSpc>
                      </a:pPr>
                      <a:r>
                        <a:rPr lang="en-US" altLang="ko-KR" sz="1200" dirty="0">
                          <a:latin typeface="+mn-ea"/>
                          <a:ea typeface="+mn-ea"/>
                        </a:rPr>
                        <a:t>138</a:t>
                      </a:r>
                    </a:p>
                    <a:p>
                      <a:pPr algn="r" latinLnBrk="1">
                        <a:lnSpc>
                          <a:spcPct val="150000"/>
                        </a:lnSpc>
                      </a:pPr>
                      <a:r>
                        <a:rPr lang="en-US" altLang="ko-KR" sz="1200" dirty="0">
                          <a:latin typeface="+mn-ea"/>
                          <a:ea typeface="+mn-ea"/>
                        </a:rPr>
                        <a:t>143</a:t>
                      </a:r>
                    </a:p>
                    <a:p>
                      <a:pPr algn="r" latinLnBrk="1">
                        <a:lnSpc>
                          <a:spcPct val="150000"/>
                        </a:lnSpc>
                      </a:pPr>
                      <a:endParaRPr lang="en-US" altLang="ko-KR" sz="1200" dirty="0">
                        <a:latin typeface="+mn-ea"/>
                        <a:ea typeface="+mn-ea"/>
                      </a:endParaRPr>
                    </a:p>
                  </a:txBody>
                  <a:tcP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9950239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5</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1. </a:t>
            </a:r>
            <a:r>
              <a:rPr lang="ko-KR" altLang="en-US" dirty="0"/>
              <a:t>메인</a:t>
            </a:r>
            <a:endParaRPr lang="en-US" altLang="ko-KR" dirty="0"/>
          </a:p>
          <a:p>
            <a:r>
              <a:rPr lang="en-US" altLang="ko-KR" dirty="0"/>
              <a:t>1.1 </a:t>
            </a:r>
            <a:r>
              <a:rPr lang="ko-KR" altLang="en-US" dirty="0"/>
              <a:t>화면 목록</a:t>
            </a:r>
          </a:p>
        </p:txBody>
      </p:sp>
      <p:graphicFrame>
        <p:nvGraphicFramePr>
          <p:cNvPr id="6" name="표 5"/>
          <p:cNvGraphicFramePr>
            <a:graphicFrameLocks noGrp="1"/>
          </p:cNvGraphicFramePr>
          <p:nvPr/>
        </p:nvGraphicFramePr>
        <p:xfrm>
          <a:off x="635474" y="1413419"/>
          <a:ext cx="8701200" cy="114334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a:latin typeface="+mn-ea"/>
                          <a:ea typeface="+mn-ea"/>
                        </a:rPr>
                        <a:t>화면명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 </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kern="1200" dirty="0">
                          <a:solidFill>
                            <a:schemeClr val="tx1"/>
                          </a:solidFill>
                          <a:latin typeface="+mn-ea"/>
                          <a:ea typeface="+mn-ea"/>
                          <a:cs typeface="+mn-cs"/>
                        </a:rPr>
                        <a:t>MUI-MS-01-M07</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r>
                        <a:rPr lang="ko-KR" altLang="en-US" sz="800" dirty="0" err="1">
                          <a:latin typeface="+mn-ea"/>
                          <a:ea typeface="+mn-ea"/>
                        </a:rPr>
                        <a:t>메인홈</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sz="800" b="0" i="0" u="none" strike="noStrike" dirty="0" err="1">
                          <a:solidFill>
                            <a:schemeClr val="tx1"/>
                          </a:solidFill>
                          <a:effectLst/>
                          <a:latin typeface="+mn-lt"/>
                          <a:ea typeface="맑은 고딕" panose="020B0503020000020004" pitchFamily="50" charset="-127"/>
                        </a:rPr>
                        <a:t>MscrnPage</a:t>
                      </a:r>
                      <a:endParaRPr lang="en-US" sz="800" b="0" i="0" u="none" strike="noStrike" dirty="0">
                        <a:solidFill>
                          <a:schemeClr val="tx1"/>
                        </a:solidFill>
                        <a:effectLst/>
                        <a:latin typeface="+mn-lt"/>
                        <a:ea typeface="맑은 고딕" panose="020B0503020000020004" pitchFamily="50" charset="-127"/>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r>
                        <a:rPr lang="ko-KR" altLang="en-US" sz="800" dirty="0">
                          <a:solidFill>
                            <a:schemeClr val="tx1"/>
                          </a:solidFill>
                          <a:latin typeface="+mn-ea"/>
                          <a:ea typeface="+mn-ea"/>
                        </a:rPr>
                        <a:t>앱 기동 완료 후 노출되는 메인 화면</a:t>
                      </a:r>
                      <a:endParaRPr lang="en-US" altLang="ko-KR" sz="800" dirty="0">
                        <a:solidFill>
                          <a:schemeClr val="tx1"/>
                        </a:solidFill>
                        <a:latin typeface="+mn-ea"/>
                        <a:ea typeface="+mn-ea"/>
                      </a:endParaRPr>
                    </a:p>
                    <a:p>
                      <a:pPr latinLnBrk="1"/>
                      <a:r>
                        <a:rPr lang="en-US" altLang="ko-KR" sz="800" dirty="0">
                          <a:solidFill>
                            <a:schemeClr val="tx1"/>
                          </a:solidFill>
                          <a:latin typeface="+mn-ea"/>
                          <a:ea typeface="+mn-ea"/>
                        </a:rPr>
                        <a:t>- </a:t>
                      </a:r>
                      <a:r>
                        <a:rPr lang="ko-KR" altLang="en-US" sz="800" dirty="0">
                          <a:solidFill>
                            <a:schemeClr val="tx1"/>
                          </a:solidFill>
                          <a:latin typeface="+mn-ea"/>
                          <a:ea typeface="+mn-ea"/>
                        </a:rPr>
                        <a:t>로그인 사용자</a:t>
                      </a:r>
                      <a:r>
                        <a:rPr lang="en-US" altLang="ko-KR" sz="800" dirty="0">
                          <a:solidFill>
                            <a:schemeClr val="tx1"/>
                          </a:solidFill>
                          <a:latin typeface="+mn-ea"/>
                          <a:ea typeface="+mn-ea"/>
                        </a:rPr>
                        <a:t>, </a:t>
                      </a:r>
                      <a:r>
                        <a:rPr lang="ko-KR" altLang="en-US" sz="800" dirty="0" err="1">
                          <a:solidFill>
                            <a:schemeClr val="tx1"/>
                          </a:solidFill>
                          <a:latin typeface="+mn-ea"/>
                          <a:ea typeface="+mn-ea"/>
                        </a:rPr>
                        <a:t>비로그인</a:t>
                      </a:r>
                      <a:r>
                        <a:rPr lang="ko-KR" altLang="en-US" sz="800" dirty="0">
                          <a:solidFill>
                            <a:schemeClr val="tx1"/>
                          </a:solidFill>
                          <a:latin typeface="+mn-ea"/>
                          <a:ea typeface="+mn-ea"/>
                        </a:rPr>
                        <a:t> 사용자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ms</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mscrn</a:t>
                      </a:r>
                      <a:r>
                        <a:rPr lang="en-US" altLang="ko-KR" sz="800" dirty="0">
                          <a:solidFill>
                            <a:schemeClr val="tx1"/>
                          </a:solidFill>
                          <a:latin typeface="+mn-ea"/>
                          <a:ea typeface="+mn-ea"/>
                        </a:rPr>
                        <a:t>/</a:t>
                      </a:r>
                      <a:r>
                        <a:rPr lang="en-US" altLang="ko-KR" sz="800" dirty="0" err="1">
                          <a:solidFill>
                            <a:schemeClr val="tx1"/>
                          </a:solidFill>
                          <a:latin typeface="+mn-ea"/>
                          <a:ea typeface="+mn-ea"/>
                        </a:rPr>
                        <a:t>M</a:t>
                      </a:r>
                      <a:r>
                        <a:rPr lang="en-US" altLang="ko-KR" sz="800" b="0" i="0" u="none" strike="noStrike" dirty="0" err="1">
                          <a:solidFill>
                            <a:schemeClr val="tx1"/>
                          </a:solidFill>
                          <a:effectLst/>
                          <a:latin typeface="+mn-lt"/>
                          <a:ea typeface="+mn-ea"/>
                        </a:rPr>
                        <a:t>scrn</a:t>
                      </a:r>
                      <a:r>
                        <a:rPr lang="en-US" altLang="ko-KR" sz="800" dirty="0" err="1">
                          <a:solidFill>
                            <a:schemeClr val="tx1"/>
                          </a:solidFill>
                          <a:latin typeface="+mn-ea"/>
                          <a:ea typeface="+mn-ea"/>
                        </a:rPr>
                        <a:t>Page.tsx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kern="1200" dirty="0">
                          <a:solidFill>
                            <a:schemeClr val="tx1"/>
                          </a:solidFill>
                          <a:effectLst/>
                          <a:latin typeface="+mn-lt"/>
                          <a:ea typeface="+mn-ea"/>
                          <a:cs typeface="+mn-cs"/>
                        </a:rPr>
                        <a:t>UC-ZZ-18-01</a:t>
                      </a: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kern="1200" dirty="0">
                          <a:solidFill>
                            <a:schemeClr val="tx1"/>
                          </a:solidFill>
                          <a:effectLst/>
                          <a:latin typeface="+mn-lt"/>
                          <a:ea typeface="+mn-ea"/>
                          <a:cs typeface="+mn-cs"/>
                        </a:rPr>
                        <a:t>UC-ZZ-18-02</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algn="ctr" fontAlgn="ctr"/>
                      <a:r>
                        <a:rPr lang="en-US" altLang="ko-KR" sz="700" kern="1200" dirty="0">
                          <a:solidFill>
                            <a:schemeClr val="tx1"/>
                          </a:solidFill>
                          <a:latin typeface="+mn-ea"/>
                          <a:ea typeface="+mn-ea"/>
                          <a:cs typeface="+mn-cs"/>
                        </a:rPr>
                        <a:t>MUI-MS-01-M12</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햄버거 메뉴</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lt"/>
                          <a:ea typeface="+mn-ea"/>
                        </a:rPr>
                        <a:t>Menu</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solidFill>
                            <a:schemeClr val="tx1"/>
                          </a:solidFill>
                          <a:latin typeface="+mn-ea"/>
                          <a:ea typeface="+mn-ea"/>
                        </a:rPr>
                        <a:t>모바일 메뉴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ms</a:t>
                      </a:r>
                      <a:r>
                        <a:rPr lang="en-US" altLang="ko-KR" sz="800" dirty="0">
                          <a:solidFill>
                            <a:schemeClr val="tx1"/>
                          </a:solidFill>
                          <a:latin typeface="+mn-ea"/>
                          <a:ea typeface="+mn-ea"/>
                        </a:rPr>
                        <a:t>/</a:t>
                      </a:r>
                      <a:r>
                        <a:rPr lang="en-US" altLang="ko-KR" sz="800" dirty="0">
                          <a:solidFill>
                            <a:schemeClr val="tx1"/>
                          </a:solidFill>
                          <a:latin typeface="+mn-lt"/>
                          <a:ea typeface="+mn-ea"/>
                        </a:rPr>
                        <a:t>menu</a:t>
                      </a:r>
                      <a:r>
                        <a:rPr lang="en-US" altLang="ko-KR" sz="800" dirty="0">
                          <a:solidFill>
                            <a:schemeClr val="tx1"/>
                          </a:solidFill>
                          <a:latin typeface="+mn-ea"/>
                          <a:ea typeface="+mn-ea"/>
                        </a:rPr>
                        <a:t>/</a:t>
                      </a:r>
                      <a:r>
                        <a:rPr lang="en-US" altLang="ko-KR" sz="800" dirty="0" err="1">
                          <a:solidFill>
                            <a:schemeClr val="tx1"/>
                          </a:solidFill>
                          <a:latin typeface="+mn-lt"/>
                          <a:ea typeface="+mn-ea"/>
                        </a:rPr>
                        <a:t>Menu</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Native App </a:t>
                      </a:r>
                      <a:r>
                        <a:rPr kumimoji="0" lang="ko-KR" altLang="en-US" sz="7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화면</a:t>
                      </a:r>
                      <a:endParaRPr kumimoji="0" lang="ko-KR" altLang="en-US"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ctr" fontAlgn="ctr"/>
                      <a:r>
                        <a:rPr lang="en-US" altLang="ko-KR" sz="700" kern="1200" dirty="0">
                          <a:solidFill>
                            <a:schemeClr val="tx1"/>
                          </a:solidFill>
                          <a:latin typeface="+mn-ea"/>
                          <a:ea typeface="+mn-ea"/>
                          <a:cs typeface="+mn-cs"/>
                        </a:rPr>
                        <a:t>MUI-MS-01-M13</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알림현황</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ea typeface="맑은 고딕" panose="020B0503020000020004" pitchFamily="50" charset="-127"/>
                        </a:rPr>
                        <a:t>NotiPrst</a:t>
                      </a:r>
                      <a:endParaRPr lang="en-US" sz="800" b="0" i="0" u="none" strike="noStrike" dirty="0">
                        <a:solidFill>
                          <a:schemeClr val="tx1"/>
                        </a:solidFill>
                        <a:effectLst/>
                        <a:latin typeface="+mn-lt"/>
                        <a:ea typeface="맑은 고딕" panose="020B0503020000020004" pitchFamily="50" charset="-127"/>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solidFill>
                            <a:schemeClr val="tx1"/>
                          </a:solidFill>
                          <a:latin typeface="+mn-ea"/>
                          <a:ea typeface="+mn-ea"/>
                        </a:rPr>
                        <a:t>모바일 푸시 알림 현황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ms</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notiPrst</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NotiPrst</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UC-ZZ-11-07</a:t>
                      </a: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kern="1200" dirty="0">
                          <a:solidFill>
                            <a:schemeClr val="tx1"/>
                          </a:solidFill>
                          <a:effectLst/>
                          <a:latin typeface="+mn-lt"/>
                          <a:ea typeface="+mn-ea"/>
                          <a:cs typeface="+mn-cs"/>
                        </a:rPr>
                        <a:t>UC-ZZ-14-03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bl>
          </a:graphicData>
        </a:graphic>
      </p:graphicFrame>
      <p:sp>
        <p:nvSpPr>
          <p:cNvPr id="7"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8" name="TextBox 7">
            <a:extLst>
              <a:ext uri="{FF2B5EF4-FFF2-40B4-BE49-F238E27FC236}">
                <a16:creationId xmlns:a16="http://schemas.microsoft.com/office/drawing/2014/main" id="{6619C48D-7E22-9D49-50C5-2404458A47CE}"/>
              </a:ext>
            </a:extLst>
          </p:cNvPr>
          <p:cNvSpPr txBox="1"/>
          <p:nvPr/>
        </p:nvSpPr>
        <p:spPr>
          <a:xfrm>
            <a:off x="736948" y="5957448"/>
            <a:ext cx="8640000" cy="466657"/>
          </a:xfrm>
          <a:prstGeom prst="rect">
            <a:avLst/>
          </a:prstGeom>
          <a:noFill/>
        </p:spPr>
        <p:txBody>
          <a:bodyPr wrap="square" lIns="36000" tIns="36000" rIns="36000" bIns="36000">
            <a:spAutoFit/>
          </a:bodyPr>
          <a:lstStyle/>
          <a:p>
            <a:pPr marL="87313" lvl="0" indent="-87313" fontAlgn="base" latinLnBrk="0">
              <a:lnSpc>
                <a:spcPct val="160000"/>
              </a:lnSpc>
              <a:buFont typeface="Wingdings" panose="05000000000000000000" pitchFamily="2" charset="2"/>
              <a:buChar char="v"/>
            </a:pPr>
            <a:r>
              <a:rPr lang="ko-KR" altLang="en-US" sz="800" kern="0" dirty="0">
                <a:solidFill>
                  <a:srgbClr val="0000FF"/>
                </a:solidFill>
                <a:latin typeface="+mn-ea"/>
              </a:rPr>
              <a:t>메인 홈</a:t>
            </a:r>
            <a:r>
              <a:rPr lang="en-US" altLang="ko-KR" sz="800" kern="0" dirty="0">
                <a:solidFill>
                  <a:srgbClr val="0000FF"/>
                </a:solidFill>
                <a:latin typeface="+mn-ea"/>
              </a:rPr>
              <a:t>, </a:t>
            </a:r>
            <a:r>
              <a:rPr lang="ko-KR" altLang="en-US" sz="800" kern="0" dirty="0">
                <a:solidFill>
                  <a:srgbClr val="0000FF"/>
                </a:solidFill>
                <a:latin typeface="+mn-ea"/>
              </a:rPr>
              <a:t>햄버거 메뉴</a:t>
            </a:r>
            <a:r>
              <a:rPr lang="en-US" altLang="ko-KR" sz="800" kern="0" dirty="0">
                <a:solidFill>
                  <a:srgbClr val="0000FF"/>
                </a:solidFill>
                <a:latin typeface="+mn-ea"/>
              </a:rPr>
              <a:t>, </a:t>
            </a:r>
            <a:r>
              <a:rPr lang="ko-KR" altLang="en-US" sz="800" kern="0" dirty="0">
                <a:solidFill>
                  <a:srgbClr val="0000FF"/>
                </a:solidFill>
                <a:latin typeface="+mn-ea"/>
              </a:rPr>
              <a:t>알림 현황은 </a:t>
            </a:r>
            <a:r>
              <a:rPr lang="en-US" altLang="ko-KR" sz="800" kern="0" dirty="0">
                <a:solidFill>
                  <a:srgbClr val="0000FF"/>
                </a:solidFill>
                <a:latin typeface="+mn-ea"/>
              </a:rPr>
              <a:t>[D2BA-AP-3CD-0601.</a:t>
            </a:r>
            <a:r>
              <a:rPr lang="ko-KR" altLang="en-US" sz="800" kern="0" dirty="0">
                <a:solidFill>
                  <a:srgbClr val="0000FF"/>
                </a:solidFill>
                <a:latin typeface="+mn-ea"/>
              </a:rPr>
              <a:t>사용자인터페이스설계서</a:t>
            </a:r>
            <a:r>
              <a:rPr lang="en-US" altLang="ko-KR" sz="800" kern="0" dirty="0">
                <a:solidFill>
                  <a:srgbClr val="0000FF"/>
                </a:solidFill>
                <a:latin typeface="+mn-ea"/>
              </a:rPr>
              <a:t>-00</a:t>
            </a:r>
            <a:r>
              <a:rPr lang="ko-KR" altLang="en-US" sz="800" kern="0" dirty="0">
                <a:solidFill>
                  <a:srgbClr val="0000FF"/>
                </a:solidFill>
                <a:latin typeface="+mn-ea"/>
              </a:rPr>
              <a:t>공통</a:t>
            </a:r>
            <a:r>
              <a:rPr lang="en-US" altLang="ko-KR" sz="800" kern="0" dirty="0">
                <a:solidFill>
                  <a:srgbClr val="0000FF"/>
                </a:solidFill>
                <a:latin typeface="+mn-ea"/>
              </a:rPr>
              <a:t>-</a:t>
            </a:r>
            <a:r>
              <a:rPr lang="ko-KR" altLang="en-US" sz="800" kern="0" dirty="0">
                <a:solidFill>
                  <a:srgbClr val="0000FF"/>
                </a:solidFill>
                <a:latin typeface="+mn-ea"/>
              </a:rPr>
              <a:t>모바일</a:t>
            </a:r>
            <a:r>
              <a:rPr lang="en-US" altLang="ko-KR" sz="800" kern="0" dirty="0">
                <a:solidFill>
                  <a:srgbClr val="0000FF"/>
                </a:solidFill>
                <a:latin typeface="+mn-ea"/>
              </a:rPr>
              <a:t>] </a:t>
            </a:r>
            <a:r>
              <a:rPr lang="ko-KR" altLang="en-US" sz="800" kern="0" dirty="0">
                <a:solidFill>
                  <a:srgbClr val="0000FF"/>
                </a:solidFill>
                <a:latin typeface="+mn-ea"/>
              </a:rPr>
              <a:t>문서에서 메인 화면 및 공통 화면 세부 사항 확인 가능함</a:t>
            </a:r>
            <a:r>
              <a:rPr lang="en-US" altLang="ko-KR" sz="800" kern="0" dirty="0">
                <a:solidFill>
                  <a:srgbClr val="0000FF"/>
                </a:solidFill>
                <a:latin typeface="+mn-ea"/>
              </a:rPr>
              <a:t>.</a:t>
            </a:r>
          </a:p>
          <a:p>
            <a:pPr marL="87313" lvl="0" indent="-87313" fontAlgn="base" latinLnBrk="0">
              <a:lnSpc>
                <a:spcPct val="160000"/>
              </a:lnSpc>
              <a:buFont typeface="Wingdings" panose="05000000000000000000" pitchFamily="2" charset="2"/>
              <a:buChar char="v"/>
            </a:pPr>
            <a:r>
              <a:rPr lang="ko-KR" altLang="en-US" sz="800" kern="0" spc="0" dirty="0">
                <a:solidFill>
                  <a:srgbClr val="0000FF"/>
                </a:solidFill>
                <a:effectLst/>
                <a:latin typeface="+mn-ea"/>
              </a:rPr>
              <a:t>현재 화면 목록 페이지는 개략 설계 </a:t>
            </a:r>
            <a:r>
              <a:rPr lang="ko-KR" altLang="en-US" sz="800" kern="0" spc="0" dirty="0" err="1">
                <a:solidFill>
                  <a:srgbClr val="0000FF"/>
                </a:solidFill>
                <a:effectLst/>
                <a:latin typeface="+mn-ea"/>
              </a:rPr>
              <a:t>감리시</a:t>
            </a:r>
            <a:r>
              <a:rPr lang="ko-KR" altLang="en-US" sz="800" kern="0" spc="0" dirty="0">
                <a:solidFill>
                  <a:srgbClr val="0000FF"/>
                </a:solidFill>
                <a:effectLst/>
                <a:latin typeface="+mn-ea"/>
              </a:rPr>
              <a:t> 포함된 문서를 유지하고 있음</a:t>
            </a:r>
          </a:p>
        </p:txBody>
      </p:sp>
      <p:sp>
        <p:nvSpPr>
          <p:cNvPr id="9"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038304" y="1140446"/>
            <a:ext cx="2346262"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 </a:t>
            </a:r>
            <a:r>
              <a:rPr lang="en-US" altLang="ko-KR" sz="700" dirty="0">
                <a:solidFill>
                  <a:srgbClr val="000000"/>
                </a:solidFill>
                <a:latin typeface="맑은 고딕" panose="020B0503020000020004" pitchFamily="50" charset="-127"/>
              </a:rPr>
              <a:t>MUI-MS </a:t>
            </a:r>
            <a:r>
              <a:rPr lang="ko-KR" altLang="en-US" sz="700" dirty="0">
                <a:solidFill>
                  <a:srgbClr val="000000"/>
                </a:solidFill>
                <a:latin typeface="맑은 고딕" panose="020B0503020000020004" pitchFamily="50" charset="-127"/>
              </a:rPr>
              <a:t>모바일 시스템은 </a:t>
            </a:r>
            <a:r>
              <a:rPr lang="ko-KR" altLang="en-US" sz="700" dirty="0" err="1">
                <a:solidFill>
                  <a:srgbClr val="000000"/>
                </a:solidFill>
                <a:latin typeface="맑은 고딕" panose="020B0503020000020004" pitchFamily="50" charset="-127"/>
              </a:rPr>
              <a:t>유스케이스</a:t>
            </a:r>
            <a:r>
              <a:rPr lang="ko-KR" altLang="en-US" sz="700" dirty="0">
                <a:solidFill>
                  <a:srgbClr val="000000"/>
                </a:solidFill>
                <a:latin typeface="맑은 고딕" panose="020B0503020000020004" pitchFamily="50" charset="-127"/>
              </a:rPr>
              <a:t> </a:t>
            </a:r>
            <a:r>
              <a:rPr lang="en-US" altLang="ko-KR" sz="700" dirty="0">
                <a:solidFill>
                  <a:srgbClr val="000000"/>
                </a:solidFill>
                <a:latin typeface="맑은 고딕" panose="020B0503020000020004" pitchFamily="50" charset="-127"/>
              </a:rPr>
              <a:t>ID</a:t>
            </a:r>
            <a:r>
              <a:rPr lang="ko-KR" altLang="en-US" sz="700" dirty="0">
                <a:solidFill>
                  <a:srgbClr val="000000"/>
                </a:solidFill>
                <a:latin typeface="맑은 고딕" panose="020B0503020000020004" pitchFamily="50" charset="-127"/>
              </a:rPr>
              <a:t>가</a:t>
            </a:r>
            <a:r>
              <a:rPr lang="en-US" altLang="ko-KR" sz="700" dirty="0">
                <a:solidFill>
                  <a:srgbClr val="000000"/>
                </a:solidFill>
                <a:latin typeface="맑은 고딕" panose="020B0503020000020004" pitchFamily="50" charset="-127"/>
              </a:rPr>
              <a:t> </a:t>
            </a:r>
            <a:r>
              <a:rPr lang="ko-KR" altLang="en-US" sz="700" dirty="0" err="1">
                <a:solidFill>
                  <a:srgbClr val="000000"/>
                </a:solidFill>
                <a:latin typeface="맑은 고딕" panose="020B0503020000020004" pitchFamily="50" charset="-127"/>
              </a:rPr>
              <a:t>부존재함</a:t>
            </a:r>
            <a:r>
              <a:rPr lang="en-US" altLang="ko-KR" sz="700" dirty="0">
                <a:solidFill>
                  <a:srgbClr val="000000"/>
                </a:solidFill>
                <a:latin typeface="맑은 고딕" panose="020B0503020000020004" pitchFamily="50" charset="-127"/>
              </a:rPr>
              <a:t>.</a:t>
            </a:r>
            <a:endParaRPr lang="en-US" altLang="ko-KR" sz="700" dirty="0">
              <a:solidFill>
                <a:prstClr val="black"/>
              </a:solidFill>
              <a:latin typeface="+mn-ea"/>
            </a:endParaRPr>
          </a:p>
        </p:txBody>
      </p:sp>
    </p:spTree>
    <p:extLst>
      <p:ext uri="{BB962C8B-B14F-4D97-AF65-F5344CB8AC3E}">
        <p14:creationId xmlns:p14="http://schemas.microsoft.com/office/powerpoint/2010/main" val="34243208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p:txBody>
          <a:bodyPr/>
          <a:lstStyle/>
          <a:p>
            <a:pPr marL="0" indent="0">
              <a:buNone/>
            </a:pPr>
            <a:endParaRPr lang="en-US" altLang="ko-KR" dirty="0"/>
          </a:p>
          <a:p>
            <a:pPr marL="228600" indent="-228600">
              <a:buFont typeface="+mj-lt"/>
              <a:buAutoNum type="arabicPeriod"/>
            </a:pPr>
            <a:r>
              <a:rPr lang="ko-KR" altLang="en-US" dirty="0"/>
              <a:t>로고 영역</a:t>
            </a:r>
            <a:r>
              <a:rPr lang="en-US" altLang="ko-KR" dirty="0"/>
              <a:t>, </a:t>
            </a:r>
            <a:r>
              <a:rPr lang="ko-KR" altLang="en-US" dirty="0"/>
              <a:t>상단 버튼 영역</a:t>
            </a:r>
            <a:r>
              <a:rPr lang="en-US" altLang="ko-KR" dirty="0"/>
              <a:t/>
            </a:r>
            <a:br>
              <a:rPr lang="en-US" altLang="ko-KR" dirty="0"/>
            </a:br>
            <a:r>
              <a:rPr lang="en-US" altLang="ko-KR" dirty="0"/>
              <a:t>- </a:t>
            </a:r>
            <a:r>
              <a:rPr lang="ko-KR" altLang="en-US" dirty="0"/>
              <a:t>로고 또는 </a:t>
            </a:r>
            <a:r>
              <a:rPr lang="ko-KR" altLang="en-US" dirty="0" err="1"/>
              <a:t>홈아이콘</a:t>
            </a:r>
            <a:r>
              <a:rPr lang="ko-KR" altLang="en-US" dirty="0"/>
              <a:t> 클릭</a:t>
            </a:r>
            <a:r>
              <a:rPr lang="en-US" altLang="ko-KR" dirty="0"/>
              <a:t/>
            </a:r>
            <a:br>
              <a:rPr lang="en-US" altLang="ko-KR" dirty="0"/>
            </a:br>
            <a:r>
              <a:rPr lang="en-US" altLang="ko-KR" dirty="0"/>
              <a:t>- </a:t>
            </a:r>
            <a:r>
              <a:rPr lang="ko-KR" altLang="en-US" dirty="0"/>
              <a:t>우측 아이콘 버튼</a:t>
            </a:r>
            <a:r>
              <a:rPr lang="en-US" altLang="ko-KR" dirty="0"/>
              <a:t/>
            </a:r>
            <a:br>
              <a:rPr lang="en-US" altLang="ko-KR" dirty="0"/>
            </a:br>
            <a:r>
              <a:rPr lang="en-US" altLang="ko-KR" dirty="0"/>
              <a:t>  &gt; 1. </a:t>
            </a:r>
            <a:r>
              <a:rPr lang="ko-KR" altLang="en-US" dirty="0"/>
              <a:t>로그인 </a:t>
            </a:r>
            <a:r>
              <a:rPr lang="en-US" altLang="ko-KR" dirty="0"/>
              <a:t>(</a:t>
            </a:r>
            <a:r>
              <a:rPr lang="ko-KR" altLang="en-US" dirty="0"/>
              <a:t>로그인 후 숨김</a:t>
            </a:r>
            <a:r>
              <a:rPr lang="en-US" altLang="ko-KR" dirty="0"/>
              <a:t>)</a:t>
            </a:r>
            <a:br>
              <a:rPr lang="en-US" altLang="ko-KR" dirty="0"/>
            </a:br>
            <a:r>
              <a:rPr lang="en-US" altLang="ko-KR" dirty="0"/>
              <a:t>  &gt; 2. </a:t>
            </a:r>
            <a:r>
              <a:rPr lang="ko-KR" altLang="en-US" dirty="0"/>
              <a:t>통합검색</a:t>
            </a:r>
            <a:r>
              <a:rPr lang="en-US" altLang="ko-KR" dirty="0"/>
              <a:t/>
            </a:r>
            <a:br>
              <a:rPr lang="en-US" altLang="ko-KR" dirty="0"/>
            </a:br>
            <a:r>
              <a:rPr lang="en-US" altLang="ko-KR" dirty="0"/>
              <a:t>  &gt; 3. </a:t>
            </a:r>
            <a:r>
              <a:rPr lang="ko-KR" altLang="en-US" dirty="0"/>
              <a:t>햄버거 메뉴</a:t>
            </a:r>
            <a:endParaRPr lang="en-US" altLang="ko-KR" dirty="0"/>
          </a:p>
          <a:p>
            <a:pPr marL="228600" indent="-228600">
              <a:buFont typeface="+mj-lt"/>
              <a:buAutoNum type="arabicPeriod"/>
            </a:pPr>
            <a:r>
              <a:rPr lang="ko-KR" altLang="en-US" dirty="0"/>
              <a:t>입찰 공고 검색</a:t>
            </a:r>
            <a:r>
              <a:rPr lang="en-US" altLang="ko-KR" dirty="0"/>
              <a:t/>
            </a:r>
            <a:br>
              <a:rPr lang="en-US" altLang="ko-KR" dirty="0"/>
            </a:br>
            <a:r>
              <a:rPr lang="en-US" altLang="ko-KR" dirty="0"/>
              <a:t>- </a:t>
            </a:r>
            <a:r>
              <a:rPr lang="ko-KR" altLang="en-US" dirty="0" err="1"/>
              <a:t>공고명</a:t>
            </a:r>
            <a:r>
              <a:rPr lang="en-US" altLang="ko-KR" dirty="0"/>
              <a:t>, </a:t>
            </a:r>
            <a:r>
              <a:rPr lang="ko-KR" altLang="en-US" dirty="0" err="1"/>
              <a:t>공고번호와</a:t>
            </a:r>
            <a:r>
              <a:rPr lang="ko-KR" altLang="en-US" dirty="0"/>
              <a:t> 업무 구분으로 검색</a:t>
            </a:r>
            <a:r>
              <a:rPr lang="en-US" altLang="ko-KR" dirty="0"/>
              <a:t/>
            </a:r>
            <a:br>
              <a:rPr lang="en-US" altLang="ko-KR" dirty="0"/>
            </a:br>
            <a:r>
              <a:rPr lang="en-US" altLang="ko-KR" dirty="0"/>
              <a:t>- </a:t>
            </a:r>
            <a:r>
              <a:rPr lang="ko-KR" altLang="en-US" dirty="0"/>
              <a:t>입찰공고 화면으로 이동하여 </a:t>
            </a:r>
            <a:r>
              <a:rPr lang="ko-KR" altLang="en-US" dirty="0" err="1"/>
              <a:t>검색필터에</a:t>
            </a:r>
            <a:r>
              <a:rPr lang="ko-KR" altLang="en-US" dirty="0"/>
              <a:t> </a:t>
            </a:r>
            <a:r>
              <a:rPr lang="ko-KR" altLang="en-US" dirty="0" err="1"/>
              <a:t>검색어</a:t>
            </a:r>
            <a:r>
              <a:rPr lang="ko-KR" altLang="en-US" dirty="0"/>
              <a:t> 적용하여 결과 표시</a:t>
            </a:r>
            <a:endParaRPr lang="en-US" altLang="ko-KR" dirty="0"/>
          </a:p>
          <a:p>
            <a:pPr marL="228600" indent="-228600">
              <a:buFont typeface="+mj-lt"/>
              <a:buAutoNum type="arabicPeriod"/>
            </a:pPr>
            <a:r>
              <a:rPr lang="ko-KR" altLang="en-US" dirty="0" err="1"/>
              <a:t>바로가기</a:t>
            </a:r>
            <a:r>
              <a:rPr lang="ko-KR" altLang="en-US" dirty="0"/>
              <a:t> 버튼 영역</a:t>
            </a:r>
            <a:endParaRPr lang="en-US" altLang="ko-KR" dirty="0"/>
          </a:p>
          <a:p>
            <a:pPr marL="228600" indent="-228600">
              <a:buFont typeface="+mj-lt"/>
              <a:buAutoNum type="arabicPeriod"/>
            </a:pPr>
            <a:r>
              <a:rPr lang="ko-KR" altLang="en-US" dirty="0"/>
              <a:t>사전준비</a:t>
            </a:r>
            <a:r>
              <a:rPr lang="en-US" altLang="ko-KR" dirty="0"/>
              <a:t>, </a:t>
            </a:r>
            <a:r>
              <a:rPr lang="ko-KR" altLang="en-US" dirty="0"/>
              <a:t>국내조달</a:t>
            </a:r>
            <a:r>
              <a:rPr lang="en-US" altLang="ko-KR" dirty="0"/>
              <a:t>, </a:t>
            </a:r>
            <a:r>
              <a:rPr lang="ko-KR" altLang="en-US" dirty="0" err="1"/>
              <a:t>국외조달</a:t>
            </a:r>
            <a:r>
              <a:rPr lang="ko-KR" altLang="en-US" dirty="0"/>
              <a:t> </a:t>
            </a:r>
            <a:r>
              <a:rPr lang="en-US" altLang="ko-KR" dirty="0"/>
              <a:t>3</a:t>
            </a:r>
            <a:r>
              <a:rPr lang="ko-KR" altLang="en-US" dirty="0"/>
              <a:t>가지 항목으로 제공</a:t>
            </a:r>
            <a:r>
              <a:rPr lang="en-US" altLang="ko-KR" dirty="0"/>
              <a:t/>
            </a:r>
            <a:br>
              <a:rPr lang="en-US" altLang="ko-KR" dirty="0"/>
            </a:br>
            <a:r>
              <a:rPr lang="ko-KR" altLang="en-US" dirty="0">
                <a:solidFill>
                  <a:srgbClr val="FF0000"/>
                </a:solidFill>
              </a:rPr>
              <a:t>모바일 앱은 </a:t>
            </a:r>
            <a:r>
              <a:rPr lang="ko-KR" altLang="en-US" dirty="0" err="1">
                <a:solidFill>
                  <a:srgbClr val="FF0000"/>
                </a:solidFill>
              </a:rPr>
              <a:t>모의입찰</a:t>
            </a:r>
            <a:r>
              <a:rPr lang="ko-KR" altLang="en-US" dirty="0">
                <a:solidFill>
                  <a:srgbClr val="FF0000"/>
                </a:solidFill>
              </a:rPr>
              <a:t> 없음</a:t>
            </a:r>
            <a:endParaRPr lang="en-US" altLang="ko-KR" dirty="0">
              <a:solidFill>
                <a:srgbClr val="FF0000"/>
              </a:solidFill>
            </a:endParaRPr>
          </a:p>
          <a:p>
            <a:pPr marL="228600" indent="-228600">
              <a:buFont typeface="+mj-lt"/>
              <a:buAutoNum type="arabicPeriod"/>
            </a:pPr>
            <a:r>
              <a:rPr lang="ko-KR" altLang="en-US" dirty="0" err="1"/>
              <a:t>탭바</a:t>
            </a:r>
            <a:r>
              <a:rPr lang="ko-KR" altLang="en-US" dirty="0"/>
              <a:t> 표시</a:t>
            </a:r>
            <a:r>
              <a:rPr lang="en-US" altLang="ko-KR" dirty="0"/>
              <a:t/>
            </a:r>
            <a:br>
              <a:rPr lang="en-US" altLang="ko-KR" dirty="0"/>
            </a:br>
            <a:r>
              <a:rPr lang="en-US" altLang="ko-KR" dirty="0"/>
              <a:t>- </a:t>
            </a:r>
            <a:r>
              <a:rPr lang="ko-KR" altLang="en-US" dirty="0"/>
              <a:t>주요 사용하는 메뉴 표시</a:t>
            </a:r>
            <a:endParaRPr lang="en-US" altLang="ko-KR" dirty="0"/>
          </a:p>
          <a:p>
            <a:pPr marL="228600" indent="-228600">
              <a:buFont typeface="+mj-lt"/>
              <a:buAutoNum type="arabicPeriod"/>
            </a:pPr>
            <a:r>
              <a:rPr lang="ko-KR" altLang="en-US" dirty="0"/>
              <a:t>공지사항 노출</a:t>
            </a:r>
            <a:r>
              <a:rPr lang="en-US" altLang="ko-KR" dirty="0"/>
              <a:t/>
            </a:r>
            <a:br>
              <a:rPr lang="en-US" altLang="ko-KR" dirty="0"/>
            </a:br>
            <a:r>
              <a:rPr lang="en-US" altLang="ko-KR" dirty="0"/>
              <a:t>- </a:t>
            </a:r>
            <a:r>
              <a:rPr lang="ko-KR" altLang="en-US" dirty="0"/>
              <a:t>각 공지사항 최근 </a:t>
            </a:r>
            <a:r>
              <a:rPr lang="en-US" altLang="ko-KR" dirty="0"/>
              <a:t>3</a:t>
            </a:r>
            <a:r>
              <a:rPr lang="ko-KR" altLang="en-US" dirty="0"/>
              <a:t>개</a:t>
            </a:r>
            <a:endParaRPr lang="en-US" altLang="ko-KR" dirty="0"/>
          </a:p>
          <a:p>
            <a:pPr marL="228600" indent="-228600">
              <a:buFont typeface="+mj-lt"/>
              <a:buAutoNum type="arabicPeriod"/>
            </a:pPr>
            <a:r>
              <a:rPr lang="ko-KR" altLang="en-US" dirty="0"/>
              <a:t>배너 표시</a:t>
            </a:r>
            <a:endParaRPr lang="en-US" altLang="ko-KR" dirty="0"/>
          </a:p>
          <a:p>
            <a:pPr marL="228600" indent="-228600">
              <a:buFont typeface="+mj-lt"/>
              <a:buAutoNum type="arabicPeriod"/>
            </a:pPr>
            <a:r>
              <a:rPr lang="ko-KR" altLang="en-US" dirty="0"/>
              <a:t>스크롤 시 </a:t>
            </a:r>
            <a:r>
              <a:rPr lang="ko-KR" altLang="en-US" dirty="0" err="1"/>
              <a:t>플로팅</a:t>
            </a:r>
            <a:r>
              <a:rPr lang="ko-KR" altLang="en-US" dirty="0"/>
              <a:t> </a:t>
            </a:r>
            <a:r>
              <a:rPr lang="en-US" altLang="ko-KR" dirty="0"/>
              <a:t>Top </a:t>
            </a:r>
            <a:r>
              <a:rPr lang="ko-KR" altLang="en-US" dirty="0"/>
              <a:t>이동 버튼 표시</a:t>
            </a:r>
            <a:endParaRPr lang="en-US" altLang="ko-KR" dirty="0"/>
          </a:p>
          <a:p>
            <a:pPr marL="228600" indent="-228600">
              <a:buFont typeface="+mj-lt"/>
              <a:buAutoNum type="arabicPeriod"/>
            </a:pPr>
            <a:r>
              <a:rPr lang="ko-KR" altLang="en-US" dirty="0" err="1"/>
              <a:t>푸터</a:t>
            </a:r>
            <a:r>
              <a:rPr lang="ko-KR" altLang="en-US" dirty="0"/>
              <a:t> 표시</a:t>
            </a:r>
            <a:endParaRPr lang="ko-KR" altLang="en-US" dirty="0">
              <a:solidFill>
                <a:srgbClr val="FF0000"/>
              </a:solidFill>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메인 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앱 메인 홈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메인 홈</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sz="800" dirty="0">
                <a:solidFill>
                  <a:srgbClr val="000000"/>
                </a:solidFill>
                <a:latin typeface="맑은 고딕" panose="020B0503020000020004" pitchFamily="50" charset="-127"/>
              </a:rPr>
              <a:t>MUI-MS-01-M07</a:t>
            </a:r>
            <a:endParaRPr lang="ko-KR" altLang="en-US" dirty="0"/>
          </a:p>
        </p:txBody>
      </p:sp>
      <p:sp>
        <p:nvSpPr>
          <p:cNvPr id="14" name="직사각형 13">
            <a:extLst>
              <a:ext uri="{FF2B5EF4-FFF2-40B4-BE49-F238E27FC236}">
                <a16:creationId xmlns:a16="http://schemas.microsoft.com/office/drawing/2014/main" id="{F56F1743-11A0-EA94-9184-4E42C0A37F9C}"/>
              </a:ext>
            </a:extLst>
          </p:cNvPr>
          <p:cNvSpPr/>
          <p:nvPr/>
        </p:nvSpPr>
        <p:spPr>
          <a:xfrm>
            <a:off x="677960"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타원 16">
            <a:extLst>
              <a:ext uri="{FF2B5EF4-FFF2-40B4-BE49-F238E27FC236}">
                <a16:creationId xmlns:a16="http://schemas.microsoft.com/office/drawing/2014/main" id="{37A7FF4F-0EAA-1463-560A-D5EC24416103}"/>
              </a:ext>
            </a:extLst>
          </p:cNvPr>
          <p:cNvSpPr/>
          <p:nvPr/>
        </p:nvSpPr>
        <p:spPr>
          <a:xfrm>
            <a:off x="571848" y="160364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pic>
        <p:nvPicPr>
          <p:cNvPr id="18"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788121"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66" name="타원 65">
            <a:extLst>
              <a:ext uri="{FF2B5EF4-FFF2-40B4-BE49-F238E27FC236}">
                <a16:creationId xmlns:a16="http://schemas.microsoft.com/office/drawing/2014/main" id="{37A7FF4F-0EAA-1463-560A-D5EC24416103}"/>
              </a:ext>
            </a:extLst>
          </p:cNvPr>
          <p:cNvSpPr/>
          <p:nvPr/>
        </p:nvSpPr>
        <p:spPr>
          <a:xfrm>
            <a:off x="571848" y="227908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677960" y="5859779"/>
            <a:ext cx="2712027" cy="372519"/>
            <a:chOff x="3788901" y="5859779"/>
            <a:chExt cx="2712027" cy="372519"/>
          </a:xfrm>
        </p:grpSpPr>
        <p:sp>
          <p:nvSpPr>
            <p:cNvPr id="69" name="직사각형 68">
              <a:extLst>
                <a:ext uri="{FF2B5EF4-FFF2-40B4-BE49-F238E27FC236}">
                  <a16:creationId xmlns:a16="http://schemas.microsoft.com/office/drawing/2014/main" id="{F56F1743-11A0-EA94-9184-4E42C0A37F9C}"/>
                </a:ext>
              </a:extLst>
            </p:cNvPr>
            <p:cNvSpPr/>
            <p:nvPr/>
          </p:nvSpPr>
          <p:spPr>
            <a:xfrm>
              <a:off x="3788901" y="5859779"/>
              <a:ext cx="681077" cy="372519"/>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직사각형 71">
              <a:extLst>
                <a:ext uri="{FF2B5EF4-FFF2-40B4-BE49-F238E27FC236}">
                  <a16:creationId xmlns:a16="http://schemas.microsoft.com/office/drawing/2014/main" id="{F56F1743-11A0-EA94-9184-4E42C0A37F9C}"/>
                </a:ext>
              </a:extLst>
            </p:cNvPr>
            <p:cNvSpPr/>
            <p:nvPr/>
          </p:nvSpPr>
          <p:spPr>
            <a:xfrm>
              <a:off x="4466908" y="5859779"/>
              <a:ext cx="681077" cy="372519"/>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5" name="직사각형 74">
              <a:extLst>
                <a:ext uri="{FF2B5EF4-FFF2-40B4-BE49-F238E27FC236}">
                  <a16:creationId xmlns:a16="http://schemas.microsoft.com/office/drawing/2014/main" id="{F56F1743-11A0-EA94-9184-4E42C0A37F9C}"/>
                </a:ext>
              </a:extLst>
            </p:cNvPr>
            <p:cNvSpPr/>
            <p:nvPr/>
          </p:nvSpPr>
          <p:spPr>
            <a:xfrm>
              <a:off x="5144915" y="5859779"/>
              <a:ext cx="681077" cy="372519"/>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직사각형 77">
              <a:extLst>
                <a:ext uri="{FF2B5EF4-FFF2-40B4-BE49-F238E27FC236}">
                  <a16:creationId xmlns:a16="http://schemas.microsoft.com/office/drawing/2014/main" id="{F56F1743-11A0-EA94-9184-4E42C0A37F9C}"/>
                </a:ext>
              </a:extLst>
            </p:cNvPr>
            <p:cNvSpPr/>
            <p:nvPr/>
          </p:nvSpPr>
          <p:spPr>
            <a:xfrm>
              <a:off x="5819851" y="5859779"/>
              <a:ext cx="681077" cy="372519"/>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4028078" y="590100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1" name="TextBox 70">
              <a:extLst>
                <a:ext uri="{FF2B5EF4-FFF2-40B4-BE49-F238E27FC236}">
                  <a16:creationId xmlns:a16="http://schemas.microsoft.com/office/drawing/2014/main" id="{FFC49AEA-2A8F-250C-A86A-A7751D9706C3}"/>
                </a:ext>
              </a:extLst>
            </p:cNvPr>
            <p:cNvSpPr txBox="1"/>
            <p:nvPr/>
          </p:nvSpPr>
          <p:spPr>
            <a:xfrm>
              <a:off x="3872308" y="6119441"/>
              <a:ext cx="499500" cy="107722"/>
            </a:xfrm>
            <a:prstGeom prst="rect">
              <a:avLst/>
            </a:prstGeom>
            <a:noFill/>
          </p:spPr>
          <p:txBody>
            <a:bodyPr wrap="square" lIns="0" tIns="0" rIns="0" bIns="0" rtlCol="0">
              <a:spAutoFit/>
            </a:bodyPr>
            <a:lstStyle/>
            <a:p>
              <a:pPr algn="ctr"/>
              <a:r>
                <a:rPr lang="ko-KR" altLang="en-US" sz="700" dirty="0">
                  <a:latin typeface="+mn-ea"/>
                </a:rPr>
                <a:t>홈</a:t>
              </a:r>
            </a:p>
          </p:txBody>
        </p:sp>
        <p:sp>
          <p:nvSpPr>
            <p:cNvPr id="73" name="타원 72"/>
            <p:cNvSpPr/>
            <p:nvPr/>
          </p:nvSpPr>
          <p:spPr>
            <a:xfrm>
              <a:off x="4716846" y="590100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TextBox 73">
              <a:extLst>
                <a:ext uri="{FF2B5EF4-FFF2-40B4-BE49-F238E27FC236}">
                  <a16:creationId xmlns:a16="http://schemas.microsoft.com/office/drawing/2014/main" id="{FFC49AEA-2A8F-250C-A86A-A7751D9706C3}"/>
                </a:ext>
              </a:extLst>
            </p:cNvPr>
            <p:cNvSpPr txBox="1"/>
            <p:nvPr/>
          </p:nvSpPr>
          <p:spPr>
            <a:xfrm>
              <a:off x="4561076" y="6119441"/>
              <a:ext cx="499500" cy="107722"/>
            </a:xfrm>
            <a:prstGeom prst="rect">
              <a:avLst/>
            </a:prstGeom>
            <a:noFill/>
          </p:spPr>
          <p:txBody>
            <a:bodyPr wrap="square" lIns="0" tIns="0" rIns="0" bIns="0" rtlCol="0">
              <a:spAutoFit/>
            </a:bodyPr>
            <a:lstStyle/>
            <a:p>
              <a:pPr algn="ctr"/>
              <a:r>
                <a:rPr lang="ko-KR" altLang="en-US" sz="700" dirty="0">
                  <a:latin typeface="+mn-ea"/>
                </a:rPr>
                <a:t>통합 검색</a:t>
              </a:r>
            </a:p>
          </p:txBody>
        </p:sp>
        <p:sp>
          <p:nvSpPr>
            <p:cNvPr id="76" name="타원 75"/>
            <p:cNvSpPr/>
            <p:nvPr/>
          </p:nvSpPr>
          <p:spPr>
            <a:xfrm>
              <a:off x="5386873" y="590100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TextBox 76">
              <a:extLst>
                <a:ext uri="{FF2B5EF4-FFF2-40B4-BE49-F238E27FC236}">
                  <a16:creationId xmlns:a16="http://schemas.microsoft.com/office/drawing/2014/main" id="{FFC49AEA-2A8F-250C-A86A-A7751D9706C3}"/>
                </a:ext>
              </a:extLst>
            </p:cNvPr>
            <p:cNvSpPr txBox="1"/>
            <p:nvPr/>
          </p:nvSpPr>
          <p:spPr>
            <a:xfrm>
              <a:off x="5231103" y="6119441"/>
              <a:ext cx="499500" cy="107722"/>
            </a:xfrm>
            <a:prstGeom prst="rect">
              <a:avLst/>
            </a:prstGeom>
            <a:noFill/>
          </p:spPr>
          <p:txBody>
            <a:bodyPr wrap="square" lIns="0" tIns="0" rIns="0" bIns="0" rtlCol="0">
              <a:spAutoFit/>
            </a:bodyPr>
            <a:lstStyle/>
            <a:p>
              <a:pPr algn="ctr"/>
              <a:r>
                <a:rPr lang="ko-KR" altLang="en-US" sz="700" dirty="0">
                  <a:latin typeface="+mn-ea"/>
                </a:rPr>
                <a:t>입찰공고</a:t>
              </a:r>
            </a:p>
          </p:txBody>
        </p:sp>
        <p:sp>
          <p:nvSpPr>
            <p:cNvPr id="79" name="타원 78"/>
            <p:cNvSpPr/>
            <p:nvPr/>
          </p:nvSpPr>
          <p:spPr>
            <a:xfrm>
              <a:off x="6069480" y="590100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0" name="TextBox 79">
              <a:extLst>
                <a:ext uri="{FF2B5EF4-FFF2-40B4-BE49-F238E27FC236}">
                  <a16:creationId xmlns:a16="http://schemas.microsoft.com/office/drawing/2014/main" id="{FFC49AEA-2A8F-250C-A86A-A7751D9706C3}"/>
                </a:ext>
              </a:extLst>
            </p:cNvPr>
            <p:cNvSpPr txBox="1"/>
            <p:nvPr/>
          </p:nvSpPr>
          <p:spPr>
            <a:xfrm>
              <a:off x="5913710" y="6119441"/>
              <a:ext cx="499500" cy="107722"/>
            </a:xfrm>
            <a:prstGeom prst="rect">
              <a:avLst/>
            </a:prstGeom>
            <a:noFill/>
          </p:spPr>
          <p:txBody>
            <a:bodyPr wrap="square" lIns="0" tIns="0" rIns="0" bIns="0" rtlCol="0">
              <a:spAutoFit/>
            </a:bodyPr>
            <a:lstStyle/>
            <a:p>
              <a:pPr algn="ctr"/>
              <a:r>
                <a:rPr lang="ko-KR" altLang="en-US" sz="700" dirty="0">
                  <a:latin typeface="+mn-ea"/>
                </a:rPr>
                <a:t>마이</a:t>
              </a:r>
            </a:p>
          </p:txBody>
        </p:sp>
      </p:grpSp>
      <p:sp>
        <p:nvSpPr>
          <p:cNvPr id="81" name="타원 80"/>
          <p:cNvSpPr/>
          <p:nvPr/>
        </p:nvSpPr>
        <p:spPr>
          <a:xfrm>
            <a:off x="244612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타원 81"/>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3" name="타원 82"/>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8" name="직선 연결선 87">
            <a:extLst>
              <a:ext uri="{FF2B5EF4-FFF2-40B4-BE49-F238E27FC236}">
                <a16:creationId xmlns:a16="http://schemas.microsoft.com/office/drawing/2014/main" id="{E9293055-D5CD-4B9E-7F64-64B2D2CA7A52}"/>
              </a:ext>
            </a:extLst>
          </p:cNvPr>
          <p:cNvCxnSpPr/>
          <p:nvPr/>
        </p:nvCxnSpPr>
        <p:spPr>
          <a:xfrm>
            <a:off x="677960" y="283172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타원 91">
            <a:extLst>
              <a:ext uri="{FF2B5EF4-FFF2-40B4-BE49-F238E27FC236}">
                <a16:creationId xmlns:a16="http://schemas.microsoft.com/office/drawing/2014/main" id="{37A7FF4F-0EAA-1463-560A-D5EC24416103}"/>
              </a:ext>
            </a:extLst>
          </p:cNvPr>
          <p:cNvSpPr/>
          <p:nvPr/>
        </p:nvSpPr>
        <p:spPr>
          <a:xfrm>
            <a:off x="571848" y="315356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93" name="타원 92">
            <a:extLst>
              <a:ext uri="{FF2B5EF4-FFF2-40B4-BE49-F238E27FC236}">
                <a16:creationId xmlns:a16="http://schemas.microsoft.com/office/drawing/2014/main" id="{37A7FF4F-0EAA-1463-560A-D5EC24416103}"/>
              </a:ext>
            </a:extLst>
          </p:cNvPr>
          <p:cNvSpPr/>
          <p:nvPr/>
        </p:nvSpPr>
        <p:spPr>
          <a:xfrm>
            <a:off x="571848" y="430381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cxnSp>
        <p:nvCxnSpPr>
          <p:cNvPr id="43" name="직선 연결선 42">
            <a:extLst>
              <a:ext uri="{FF2B5EF4-FFF2-40B4-BE49-F238E27FC236}">
                <a16:creationId xmlns:a16="http://schemas.microsoft.com/office/drawing/2014/main" id="{E9293055-D5CD-4B9E-7F64-64B2D2CA7A52}"/>
              </a:ext>
            </a:extLst>
          </p:cNvPr>
          <p:cNvCxnSpPr/>
          <p:nvPr/>
        </p:nvCxnSpPr>
        <p:spPr>
          <a:xfrm>
            <a:off x="677960" y="410195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 name="모서리가 둥근 직사각형 2"/>
          <p:cNvSpPr/>
          <p:nvPr/>
        </p:nvSpPr>
        <p:spPr>
          <a:xfrm>
            <a:off x="891228" y="3057723"/>
            <a:ext cx="434121" cy="434121"/>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5" name="TextBox 44">
            <a:extLst>
              <a:ext uri="{FF2B5EF4-FFF2-40B4-BE49-F238E27FC236}">
                <a16:creationId xmlns:a16="http://schemas.microsoft.com/office/drawing/2014/main" id="{FFC49AEA-2A8F-250C-A86A-A7751D9706C3}"/>
              </a:ext>
            </a:extLst>
          </p:cNvPr>
          <p:cNvSpPr txBox="1"/>
          <p:nvPr/>
        </p:nvSpPr>
        <p:spPr>
          <a:xfrm>
            <a:off x="881401" y="2899271"/>
            <a:ext cx="2305144" cy="138499"/>
          </a:xfrm>
          <a:prstGeom prst="rect">
            <a:avLst/>
          </a:prstGeom>
          <a:noFill/>
        </p:spPr>
        <p:txBody>
          <a:bodyPr wrap="square" lIns="0" tIns="0" rIns="0" bIns="0" rtlCol="0">
            <a:spAutoFit/>
          </a:bodyPr>
          <a:lstStyle/>
          <a:p>
            <a:r>
              <a:rPr lang="ko-KR" altLang="en-US" sz="900" b="1" dirty="0" err="1">
                <a:latin typeface="+mn-ea"/>
              </a:rPr>
              <a:t>바로가기</a:t>
            </a:r>
            <a:endParaRPr lang="ko-KR" altLang="en-US" sz="900" b="1" dirty="0">
              <a:latin typeface="+mn-ea"/>
            </a:endParaRPr>
          </a:p>
        </p:txBody>
      </p:sp>
      <p:sp>
        <p:nvSpPr>
          <p:cNvPr id="46" name="모서리가 둥근 직사각형 45"/>
          <p:cNvSpPr/>
          <p:nvPr/>
        </p:nvSpPr>
        <p:spPr>
          <a:xfrm>
            <a:off x="1508351" y="3057723"/>
            <a:ext cx="434121" cy="434121"/>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7" name="모서리가 둥근 직사각형 46"/>
          <p:cNvSpPr/>
          <p:nvPr/>
        </p:nvSpPr>
        <p:spPr>
          <a:xfrm>
            <a:off x="2125474" y="3057723"/>
            <a:ext cx="434121" cy="434121"/>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모서리가 둥근 직사각형 47"/>
          <p:cNvSpPr/>
          <p:nvPr/>
        </p:nvSpPr>
        <p:spPr>
          <a:xfrm>
            <a:off x="2742597" y="3057723"/>
            <a:ext cx="434121" cy="434121"/>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a:extLst>
              <a:ext uri="{FF2B5EF4-FFF2-40B4-BE49-F238E27FC236}">
                <a16:creationId xmlns:a16="http://schemas.microsoft.com/office/drawing/2014/main" id="{F56F1743-11A0-EA94-9184-4E42C0A37F9C}"/>
              </a:ext>
            </a:extLst>
          </p:cNvPr>
          <p:cNvSpPr/>
          <p:nvPr/>
        </p:nvSpPr>
        <p:spPr>
          <a:xfrm>
            <a:off x="3788902"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5" name="Picture 2">
            <a:extLst>
              <a:ext uri="{FF2B5EF4-FFF2-40B4-BE49-F238E27FC236}">
                <a16:creationId xmlns:a16="http://schemas.microsoft.com/office/drawing/2014/main" id="{1C4B5929-C206-23D9-2234-19ADD0E7AA5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1" r="32311"/>
          <a:stretch>
            <a:fillRect/>
          </a:stretch>
        </p:blipFill>
        <p:spPr bwMode="auto">
          <a:xfrm>
            <a:off x="3900722" y="1582647"/>
            <a:ext cx="1252261" cy="214475"/>
          </a:xfrm>
          <a:prstGeom prst="rect">
            <a:avLst/>
          </a:prstGeom>
          <a:noFill/>
          <a:extLst>
            <a:ext uri="{909E8E84-426E-40DD-AFC4-6F175D3DCCD1}">
              <a14:hiddenFill xmlns:a14="http://schemas.microsoft.com/office/drawing/2010/main">
                <a:solidFill>
                  <a:srgbClr val="FFFFFF"/>
                </a:solidFill>
              </a14:hiddenFill>
            </a:ext>
          </a:extLst>
        </p:spPr>
      </p:pic>
      <p:cxnSp>
        <p:nvCxnSpPr>
          <p:cNvPr id="96" name="직선 연결선 95">
            <a:extLst>
              <a:ext uri="{FF2B5EF4-FFF2-40B4-BE49-F238E27FC236}">
                <a16:creationId xmlns:a16="http://schemas.microsoft.com/office/drawing/2014/main" id="{E9293055-D5CD-4B9E-7F64-64B2D2CA7A52}"/>
              </a:ext>
            </a:extLst>
          </p:cNvPr>
          <p:cNvCxnSpPr/>
          <p:nvPr/>
        </p:nvCxnSpPr>
        <p:spPr>
          <a:xfrm>
            <a:off x="3790561"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7" name="타원 96"/>
          <p:cNvSpPr/>
          <p:nvPr/>
        </p:nvSpPr>
        <p:spPr>
          <a:xfrm>
            <a:off x="5558730"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5872487"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6186244"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 name="그룹 8"/>
          <p:cNvGrpSpPr/>
          <p:nvPr/>
        </p:nvGrpSpPr>
        <p:grpSpPr>
          <a:xfrm>
            <a:off x="3796969" y="1974039"/>
            <a:ext cx="2712027" cy="2638270"/>
            <a:chOff x="3796969" y="4333445"/>
            <a:chExt cx="2712027" cy="2638270"/>
          </a:xfrm>
        </p:grpSpPr>
        <p:sp>
          <p:nvSpPr>
            <p:cNvPr id="84" name="TextBox 83">
              <a:extLst>
                <a:ext uri="{FF2B5EF4-FFF2-40B4-BE49-F238E27FC236}">
                  <a16:creationId xmlns:a16="http://schemas.microsoft.com/office/drawing/2014/main" id="{FFC49AEA-2A8F-250C-A86A-A7751D9706C3}"/>
                </a:ext>
              </a:extLst>
            </p:cNvPr>
            <p:cNvSpPr txBox="1"/>
            <p:nvPr/>
          </p:nvSpPr>
          <p:spPr>
            <a:xfrm>
              <a:off x="3992343" y="4356946"/>
              <a:ext cx="2305144" cy="138499"/>
            </a:xfrm>
            <a:prstGeom prst="rect">
              <a:avLst/>
            </a:prstGeom>
            <a:noFill/>
          </p:spPr>
          <p:txBody>
            <a:bodyPr wrap="square" lIns="0" tIns="0" rIns="0" bIns="0" rtlCol="0">
              <a:spAutoFit/>
            </a:bodyPr>
            <a:lstStyle/>
            <a:p>
              <a:r>
                <a:rPr lang="ko-KR" altLang="en-US" sz="900" b="1" dirty="0" err="1">
                  <a:latin typeface="+mn-ea"/>
                </a:rPr>
                <a:t>방위사업청</a:t>
              </a:r>
              <a:r>
                <a:rPr lang="ko-KR" altLang="en-US" sz="900" b="1" dirty="0">
                  <a:latin typeface="+mn-ea"/>
                </a:rPr>
                <a:t> 공지</a:t>
              </a:r>
            </a:p>
          </p:txBody>
        </p:sp>
        <p:sp>
          <p:nvSpPr>
            <p:cNvPr id="85" name="TextBox 84">
              <a:extLst>
                <a:ext uri="{FF2B5EF4-FFF2-40B4-BE49-F238E27FC236}">
                  <a16:creationId xmlns:a16="http://schemas.microsoft.com/office/drawing/2014/main" id="{FFC49AEA-2A8F-250C-A86A-A7751D9706C3}"/>
                </a:ext>
              </a:extLst>
            </p:cNvPr>
            <p:cNvSpPr txBox="1"/>
            <p:nvPr/>
          </p:nvSpPr>
          <p:spPr>
            <a:xfrm>
              <a:off x="3992343" y="4585115"/>
              <a:ext cx="2305144" cy="107722"/>
            </a:xfrm>
            <a:prstGeom prst="rect">
              <a:avLst/>
            </a:prstGeom>
            <a:noFill/>
          </p:spPr>
          <p:txBody>
            <a:bodyPr wrap="square" lIns="0" tIns="0" rIns="0" bIns="0" rtlCol="0">
              <a:spAutoFit/>
            </a:bodyPr>
            <a:lstStyle/>
            <a:p>
              <a:r>
                <a:rPr lang="en-US" altLang="ko-KR" sz="700" dirty="0">
                  <a:latin typeface="+mn-ea"/>
                </a:rPr>
                <a:t>2026 </a:t>
              </a:r>
              <a:r>
                <a:rPr lang="ko-KR" altLang="en-US" sz="700" dirty="0" err="1">
                  <a:latin typeface="+mn-ea"/>
                </a:rPr>
                <a:t>국외조달</a:t>
              </a:r>
              <a:r>
                <a:rPr lang="ko-KR" altLang="en-US" sz="700" dirty="0">
                  <a:latin typeface="+mn-ea"/>
                </a:rPr>
                <a:t> 집행 예정 품목 공지</a:t>
              </a:r>
            </a:p>
          </p:txBody>
        </p:sp>
        <p:sp>
          <p:nvSpPr>
            <p:cNvPr id="53" name="사각형: 둥근 모서리 15">
              <a:extLst>
                <a:ext uri="{FF2B5EF4-FFF2-40B4-BE49-F238E27FC236}">
                  <a16:creationId xmlns:a16="http://schemas.microsoft.com/office/drawing/2014/main" id="{E2B61CFB-AD16-68D0-8752-50D9C5E01971}"/>
                </a:ext>
              </a:extLst>
            </p:cNvPr>
            <p:cNvSpPr/>
            <p:nvPr/>
          </p:nvSpPr>
          <p:spPr>
            <a:xfrm>
              <a:off x="5791465" y="4333445"/>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a:ln>
                    <a:noFill/>
                  </a:ln>
                  <a:effectLst/>
                  <a:uLnTx/>
                  <a:uFillTx/>
                  <a:latin typeface="맑은 고딕"/>
                </a:rPr>
                <a:t>더보기</a:t>
              </a:r>
              <a:r>
                <a:rPr kumimoji="1" lang="ko-KR" altLang="en-US" sz="700" b="0" i="0" u="none" strike="noStrike" kern="0" cap="none" spc="0" normalizeH="0" baseline="0" noProof="0" dirty="0">
                  <a:ln>
                    <a:noFill/>
                  </a:ln>
                  <a:effectLst/>
                  <a:uLnTx/>
                  <a:uFillTx/>
                  <a:latin typeface="맑은 고딕"/>
                </a:rPr>
                <a:t> </a:t>
              </a:r>
              <a:r>
                <a:rPr kumimoji="1" lang="en-US" altLang="ko-KR" sz="700" b="0" i="0" u="none" strike="noStrike" kern="0" cap="none" spc="0" normalizeH="0" baseline="0" noProof="0" dirty="0">
                  <a:ln>
                    <a:noFill/>
                  </a:ln>
                  <a:effectLst/>
                  <a:uLnTx/>
                  <a:uFillTx/>
                  <a:latin typeface="맑은 고딕"/>
                </a:rPr>
                <a:t>+</a:t>
              </a:r>
              <a:endParaRPr kumimoji="1" lang="en-US" sz="700" b="0" i="0" u="none" strike="noStrike" kern="0" cap="none" spc="0" normalizeH="0" baseline="0" noProof="0" dirty="0">
                <a:ln>
                  <a:noFill/>
                </a:ln>
                <a:effectLst/>
                <a:uLnTx/>
                <a:uFillTx/>
                <a:latin typeface="맑은 고딕"/>
              </a:endParaRPr>
            </a:p>
          </p:txBody>
        </p:sp>
        <p:sp>
          <p:nvSpPr>
            <p:cNvPr id="100" name="TextBox 99">
              <a:extLst>
                <a:ext uri="{FF2B5EF4-FFF2-40B4-BE49-F238E27FC236}">
                  <a16:creationId xmlns:a16="http://schemas.microsoft.com/office/drawing/2014/main" id="{FFC49AEA-2A8F-250C-A86A-A7751D9706C3}"/>
                </a:ext>
              </a:extLst>
            </p:cNvPr>
            <p:cNvSpPr txBox="1"/>
            <p:nvPr/>
          </p:nvSpPr>
          <p:spPr>
            <a:xfrm>
              <a:off x="5387975" y="4585115"/>
              <a:ext cx="897837" cy="107722"/>
            </a:xfrm>
            <a:prstGeom prst="rect">
              <a:avLst/>
            </a:prstGeom>
            <a:noFill/>
          </p:spPr>
          <p:txBody>
            <a:bodyPr wrap="square" lIns="0" tIns="0" rIns="0" bIns="0" rtlCol="0">
              <a:spAutoFit/>
            </a:bodyPr>
            <a:lstStyle/>
            <a:p>
              <a:pPr algn="r"/>
              <a:r>
                <a:rPr lang="en-US" altLang="ko-KR" sz="700" dirty="0">
                  <a:latin typeface="+mn-ea"/>
                </a:rPr>
                <a:t>2026-01-15</a:t>
              </a:r>
              <a:endParaRPr lang="ko-KR" altLang="en-US" sz="700" dirty="0">
                <a:latin typeface="+mn-ea"/>
              </a:endParaRPr>
            </a:p>
          </p:txBody>
        </p:sp>
        <p:sp>
          <p:nvSpPr>
            <p:cNvPr id="101" name="TextBox 100">
              <a:extLst>
                <a:ext uri="{FF2B5EF4-FFF2-40B4-BE49-F238E27FC236}">
                  <a16:creationId xmlns:a16="http://schemas.microsoft.com/office/drawing/2014/main" id="{FFC49AEA-2A8F-250C-A86A-A7751D9706C3}"/>
                </a:ext>
              </a:extLst>
            </p:cNvPr>
            <p:cNvSpPr txBox="1"/>
            <p:nvPr/>
          </p:nvSpPr>
          <p:spPr>
            <a:xfrm>
              <a:off x="3992343" y="4749883"/>
              <a:ext cx="2305144" cy="107722"/>
            </a:xfrm>
            <a:prstGeom prst="rect">
              <a:avLst/>
            </a:prstGeom>
            <a:noFill/>
          </p:spPr>
          <p:txBody>
            <a:bodyPr wrap="square" lIns="0" tIns="0" rIns="0" bIns="0" rtlCol="0">
              <a:spAutoFit/>
            </a:bodyPr>
            <a:lstStyle/>
            <a:p>
              <a:r>
                <a:rPr lang="ko-KR" altLang="en-US" sz="700" dirty="0">
                  <a:latin typeface="+mn-ea"/>
                </a:rPr>
                <a:t>국가계약법 시행령 한시적 특례 종료</a:t>
              </a:r>
              <a:r>
                <a:rPr lang="en-US" altLang="ko-KR" sz="700" dirty="0">
                  <a:latin typeface="+mn-ea"/>
                </a:rPr>
                <a:t>…</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5387975" y="4749883"/>
              <a:ext cx="897837" cy="107722"/>
            </a:xfrm>
            <a:prstGeom prst="rect">
              <a:avLst/>
            </a:prstGeom>
            <a:noFill/>
          </p:spPr>
          <p:txBody>
            <a:bodyPr wrap="square" lIns="0" tIns="0" rIns="0" bIns="0" rtlCol="0">
              <a:spAutoFit/>
            </a:bodyPr>
            <a:lstStyle/>
            <a:p>
              <a:pPr algn="r"/>
              <a:r>
                <a:rPr lang="en-US" altLang="ko-KR" sz="700" dirty="0">
                  <a:latin typeface="+mn-ea"/>
                </a:rPr>
                <a:t>2026-01-15</a:t>
              </a:r>
              <a:endParaRPr lang="ko-KR" altLang="en-US" sz="700" dirty="0">
                <a:latin typeface="+mn-ea"/>
              </a:endParaRPr>
            </a:p>
          </p:txBody>
        </p:sp>
        <p:sp>
          <p:nvSpPr>
            <p:cNvPr id="103" name="TextBox 102">
              <a:extLst>
                <a:ext uri="{FF2B5EF4-FFF2-40B4-BE49-F238E27FC236}">
                  <a16:creationId xmlns:a16="http://schemas.microsoft.com/office/drawing/2014/main" id="{FFC49AEA-2A8F-250C-A86A-A7751D9706C3}"/>
                </a:ext>
              </a:extLst>
            </p:cNvPr>
            <p:cNvSpPr txBox="1"/>
            <p:nvPr/>
          </p:nvSpPr>
          <p:spPr>
            <a:xfrm>
              <a:off x="3992343" y="4914650"/>
              <a:ext cx="2305144" cy="107722"/>
            </a:xfrm>
            <a:prstGeom prst="rect">
              <a:avLst/>
            </a:prstGeom>
            <a:noFill/>
          </p:spPr>
          <p:txBody>
            <a:bodyPr wrap="square" lIns="0" tIns="0" rIns="0" bIns="0" rtlCol="0">
              <a:spAutoFit/>
            </a:bodyPr>
            <a:lstStyle/>
            <a:p>
              <a:r>
                <a:rPr lang="en-US" altLang="ko-KR" sz="700" dirty="0">
                  <a:latin typeface="+mn-ea"/>
                </a:rPr>
                <a:t>2026</a:t>
              </a:r>
              <a:r>
                <a:rPr lang="ko-KR" altLang="en-US" sz="700" dirty="0">
                  <a:latin typeface="+mn-ea"/>
                </a:rPr>
                <a:t>년도 사전입찰의향서 접수 안내</a:t>
              </a:r>
              <a:r>
                <a:rPr lang="en-US" altLang="ko-KR" sz="700" dirty="0">
                  <a:latin typeface="+mn-ea"/>
                </a:rPr>
                <a:t>(…</a:t>
              </a:r>
              <a:endParaRPr lang="ko-KR" altLang="en-US" sz="700" dirty="0">
                <a:latin typeface="+mn-ea"/>
              </a:endParaRPr>
            </a:p>
          </p:txBody>
        </p:sp>
        <p:sp>
          <p:nvSpPr>
            <p:cNvPr id="104" name="TextBox 103">
              <a:extLst>
                <a:ext uri="{FF2B5EF4-FFF2-40B4-BE49-F238E27FC236}">
                  <a16:creationId xmlns:a16="http://schemas.microsoft.com/office/drawing/2014/main" id="{FFC49AEA-2A8F-250C-A86A-A7751D9706C3}"/>
                </a:ext>
              </a:extLst>
            </p:cNvPr>
            <p:cNvSpPr txBox="1"/>
            <p:nvPr/>
          </p:nvSpPr>
          <p:spPr>
            <a:xfrm>
              <a:off x="5387975" y="4914650"/>
              <a:ext cx="897837" cy="107722"/>
            </a:xfrm>
            <a:prstGeom prst="rect">
              <a:avLst/>
            </a:prstGeom>
            <a:noFill/>
          </p:spPr>
          <p:txBody>
            <a:bodyPr wrap="square" lIns="0" tIns="0" rIns="0" bIns="0" rtlCol="0">
              <a:spAutoFit/>
            </a:bodyPr>
            <a:lstStyle/>
            <a:p>
              <a:pPr algn="r"/>
              <a:r>
                <a:rPr lang="en-US" altLang="ko-KR" sz="700" dirty="0">
                  <a:latin typeface="+mn-ea"/>
                </a:rPr>
                <a:t>2026-01-15</a:t>
              </a:r>
              <a:endParaRPr lang="ko-KR" altLang="en-US" sz="700" dirty="0">
                <a:latin typeface="+mn-ea"/>
              </a:endParaRPr>
            </a:p>
          </p:txBody>
        </p:sp>
        <p:sp>
          <p:nvSpPr>
            <p:cNvPr id="105" name="TextBox 104">
              <a:extLst>
                <a:ext uri="{FF2B5EF4-FFF2-40B4-BE49-F238E27FC236}">
                  <a16:creationId xmlns:a16="http://schemas.microsoft.com/office/drawing/2014/main" id="{FFC49AEA-2A8F-250C-A86A-A7751D9706C3}"/>
                </a:ext>
              </a:extLst>
            </p:cNvPr>
            <p:cNvSpPr txBox="1"/>
            <p:nvPr/>
          </p:nvSpPr>
          <p:spPr>
            <a:xfrm>
              <a:off x="3992343" y="5253933"/>
              <a:ext cx="2305144" cy="138499"/>
            </a:xfrm>
            <a:prstGeom prst="rect">
              <a:avLst/>
            </a:prstGeom>
            <a:noFill/>
          </p:spPr>
          <p:txBody>
            <a:bodyPr wrap="square" lIns="0" tIns="0" rIns="0" bIns="0" rtlCol="0">
              <a:spAutoFit/>
            </a:bodyPr>
            <a:lstStyle/>
            <a:p>
              <a:r>
                <a:rPr lang="ko-KR" altLang="en-US" sz="900" b="1" dirty="0" err="1">
                  <a:latin typeface="+mn-ea"/>
                </a:rPr>
                <a:t>수요부대</a:t>
              </a:r>
              <a:r>
                <a:rPr lang="ko-KR" altLang="en-US" sz="900" b="1" dirty="0">
                  <a:latin typeface="+mn-ea"/>
                </a:rPr>
                <a:t> 공지</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3992343" y="5482102"/>
              <a:ext cx="2305144" cy="107722"/>
            </a:xfrm>
            <a:prstGeom prst="rect">
              <a:avLst/>
            </a:prstGeom>
            <a:noFill/>
          </p:spPr>
          <p:txBody>
            <a:bodyPr wrap="square" lIns="0" tIns="0" rIns="0" bIns="0" rtlCol="0">
              <a:spAutoFit/>
            </a:bodyPr>
            <a:lstStyle/>
            <a:p>
              <a:r>
                <a:rPr lang="en-US" altLang="ko-KR" sz="700" dirty="0">
                  <a:latin typeface="+mn-ea"/>
                </a:rPr>
                <a:t>2026 </a:t>
              </a:r>
              <a:r>
                <a:rPr lang="ko-KR" altLang="en-US" sz="700" dirty="0" err="1">
                  <a:latin typeface="+mn-ea"/>
                </a:rPr>
                <a:t>국외조달</a:t>
              </a:r>
              <a:r>
                <a:rPr lang="ko-KR" altLang="en-US" sz="700" dirty="0">
                  <a:latin typeface="+mn-ea"/>
                </a:rPr>
                <a:t> 집행 예정 품목 공지</a:t>
              </a:r>
            </a:p>
          </p:txBody>
        </p:sp>
        <p:sp>
          <p:nvSpPr>
            <p:cNvPr id="107" name="사각형: 둥근 모서리 15">
              <a:extLst>
                <a:ext uri="{FF2B5EF4-FFF2-40B4-BE49-F238E27FC236}">
                  <a16:creationId xmlns:a16="http://schemas.microsoft.com/office/drawing/2014/main" id="{E2B61CFB-AD16-68D0-8752-50D9C5E01971}"/>
                </a:ext>
              </a:extLst>
            </p:cNvPr>
            <p:cNvSpPr/>
            <p:nvPr/>
          </p:nvSpPr>
          <p:spPr>
            <a:xfrm>
              <a:off x="5791465" y="5230432"/>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a:ln>
                    <a:noFill/>
                  </a:ln>
                  <a:effectLst/>
                  <a:uLnTx/>
                  <a:uFillTx/>
                  <a:latin typeface="맑은 고딕"/>
                </a:rPr>
                <a:t>더보기</a:t>
              </a:r>
              <a:r>
                <a:rPr kumimoji="1" lang="ko-KR" altLang="en-US" sz="700" b="0" i="0" u="none" strike="noStrike" kern="0" cap="none" spc="0" normalizeH="0" baseline="0" noProof="0" dirty="0">
                  <a:ln>
                    <a:noFill/>
                  </a:ln>
                  <a:effectLst/>
                  <a:uLnTx/>
                  <a:uFillTx/>
                  <a:latin typeface="맑은 고딕"/>
                </a:rPr>
                <a:t> </a:t>
              </a:r>
              <a:r>
                <a:rPr kumimoji="1" lang="en-US" altLang="ko-KR" sz="700" b="0" i="0" u="none" strike="noStrike" kern="0" cap="none" spc="0" normalizeH="0" baseline="0" noProof="0" dirty="0">
                  <a:ln>
                    <a:noFill/>
                  </a:ln>
                  <a:effectLst/>
                  <a:uLnTx/>
                  <a:uFillTx/>
                  <a:latin typeface="맑은 고딕"/>
                </a:rPr>
                <a:t>+</a:t>
              </a:r>
              <a:endParaRPr kumimoji="1" lang="en-US" sz="700" b="0" i="0" u="none" strike="noStrike" kern="0" cap="none" spc="0" normalizeH="0" baseline="0" noProof="0" dirty="0">
                <a:ln>
                  <a:noFill/>
                </a:ln>
                <a:effectLst/>
                <a:uLnTx/>
                <a:uFillTx/>
                <a:latin typeface="맑은 고딕"/>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5387975" y="5482102"/>
              <a:ext cx="897837" cy="107722"/>
            </a:xfrm>
            <a:prstGeom prst="rect">
              <a:avLst/>
            </a:prstGeom>
            <a:noFill/>
          </p:spPr>
          <p:txBody>
            <a:bodyPr wrap="square" lIns="0" tIns="0" rIns="0" bIns="0" rtlCol="0">
              <a:spAutoFit/>
            </a:bodyPr>
            <a:lstStyle/>
            <a:p>
              <a:pPr algn="r"/>
              <a:r>
                <a:rPr lang="en-US" altLang="ko-KR" sz="700" dirty="0">
                  <a:latin typeface="+mn-ea"/>
                </a:rPr>
                <a:t>2026-01-15</a:t>
              </a:r>
              <a:endParaRPr lang="ko-KR" altLang="en-US" sz="700" dirty="0">
                <a:latin typeface="+mn-ea"/>
              </a:endParaRPr>
            </a:p>
          </p:txBody>
        </p:sp>
        <p:sp>
          <p:nvSpPr>
            <p:cNvPr id="109" name="TextBox 108">
              <a:extLst>
                <a:ext uri="{FF2B5EF4-FFF2-40B4-BE49-F238E27FC236}">
                  <a16:creationId xmlns:a16="http://schemas.microsoft.com/office/drawing/2014/main" id="{FFC49AEA-2A8F-250C-A86A-A7751D9706C3}"/>
                </a:ext>
              </a:extLst>
            </p:cNvPr>
            <p:cNvSpPr txBox="1"/>
            <p:nvPr/>
          </p:nvSpPr>
          <p:spPr>
            <a:xfrm>
              <a:off x="3992343" y="5646870"/>
              <a:ext cx="2305144" cy="107722"/>
            </a:xfrm>
            <a:prstGeom prst="rect">
              <a:avLst/>
            </a:prstGeom>
            <a:noFill/>
          </p:spPr>
          <p:txBody>
            <a:bodyPr wrap="square" lIns="0" tIns="0" rIns="0" bIns="0" rtlCol="0">
              <a:spAutoFit/>
            </a:bodyPr>
            <a:lstStyle/>
            <a:p>
              <a:r>
                <a:rPr lang="ko-KR" altLang="en-US" sz="700" dirty="0">
                  <a:latin typeface="+mn-ea"/>
                </a:rPr>
                <a:t>국가계약법 시행령 한시적 특례 종료</a:t>
              </a:r>
              <a:r>
                <a:rPr lang="en-US" altLang="ko-KR" sz="700" dirty="0">
                  <a:latin typeface="+mn-ea"/>
                </a:rPr>
                <a:t>…</a:t>
              </a:r>
              <a:endParaRPr lang="ko-KR" altLang="en-US"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5387975" y="5646870"/>
              <a:ext cx="897837" cy="107722"/>
            </a:xfrm>
            <a:prstGeom prst="rect">
              <a:avLst/>
            </a:prstGeom>
            <a:noFill/>
          </p:spPr>
          <p:txBody>
            <a:bodyPr wrap="square" lIns="0" tIns="0" rIns="0" bIns="0" rtlCol="0">
              <a:spAutoFit/>
            </a:bodyPr>
            <a:lstStyle/>
            <a:p>
              <a:pPr algn="r"/>
              <a:r>
                <a:rPr lang="en-US" altLang="ko-KR" sz="700" dirty="0">
                  <a:latin typeface="+mn-ea"/>
                </a:rPr>
                <a:t>2026-01-15</a:t>
              </a:r>
              <a:endParaRPr lang="ko-KR" altLang="en-US" sz="700" dirty="0">
                <a:latin typeface="+mn-ea"/>
              </a:endParaRPr>
            </a:p>
          </p:txBody>
        </p:sp>
        <p:sp>
          <p:nvSpPr>
            <p:cNvPr id="111" name="TextBox 110">
              <a:extLst>
                <a:ext uri="{FF2B5EF4-FFF2-40B4-BE49-F238E27FC236}">
                  <a16:creationId xmlns:a16="http://schemas.microsoft.com/office/drawing/2014/main" id="{FFC49AEA-2A8F-250C-A86A-A7751D9706C3}"/>
                </a:ext>
              </a:extLst>
            </p:cNvPr>
            <p:cNvSpPr txBox="1"/>
            <p:nvPr/>
          </p:nvSpPr>
          <p:spPr>
            <a:xfrm>
              <a:off x="3992343" y="5811637"/>
              <a:ext cx="2305144" cy="107722"/>
            </a:xfrm>
            <a:prstGeom prst="rect">
              <a:avLst/>
            </a:prstGeom>
            <a:noFill/>
          </p:spPr>
          <p:txBody>
            <a:bodyPr wrap="square" lIns="0" tIns="0" rIns="0" bIns="0" rtlCol="0">
              <a:spAutoFit/>
            </a:bodyPr>
            <a:lstStyle/>
            <a:p>
              <a:r>
                <a:rPr lang="en-US" altLang="ko-KR" sz="700" dirty="0">
                  <a:latin typeface="+mn-ea"/>
                </a:rPr>
                <a:t>2026</a:t>
              </a:r>
              <a:r>
                <a:rPr lang="ko-KR" altLang="en-US" sz="700" dirty="0">
                  <a:latin typeface="+mn-ea"/>
                </a:rPr>
                <a:t>년도 사전입찰의향서 접수 안내</a:t>
              </a:r>
              <a:r>
                <a:rPr lang="en-US" altLang="ko-KR" sz="700" dirty="0">
                  <a:latin typeface="+mn-ea"/>
                </a:rPr>
                <a:t>(…</a:t>
              </a:r>
              <a:endParaRPr lang="ko-KR" altLang="en-US"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5387975" y="5811637"/>
              <a:ext cx="897837" cy="107722"/>
            </a:xfrm>
            <a:prstGeom prst="rect">
              <a:avLst/>
            </a:prstGeom>
            <a:noFill/>
          </p:spPr>
          <p:txBody>
            <a:bodyPr wrap="square" lIns="0" tIns="0" rIns="0" bIns="0" rtlCol="0">
              <a:spAutoFit/>
            </a:bodyPr>
            <a:lstStyle/>
            <a:p>
              <a:pPr algn="r"/>
              <a:r>
                <a:rPr lang="en-US" altLang="ko-KR" sz="700" dirty="0">
                  <a:latin typeface="+mn-ea"/>
                </a:rPr>
                <a:t>2026-01-15</a:t>
              </a:r>
              <a:endParaRPr lang="ko-KR" altLang="en-US" sz="700" dirty="0">
                <a:latin typeface="+mn-ea"/>
              </a:endParaRPr>
            </a:p>
          </p:txBody>
        </p:sp>
        <p:sp>
          <p:nvSpPr>
            <p:cNvPr id="113" name="TextBox 112">
              <a:extLst>
                <a:ext uri="{FF2B5EF4-FFF2-40B4-BE49-F238E27FC236}">
                  <a16:creationId xmlns:a16="http://schemas.microsoft.com/office/drawing/2014/main" id="{FFC49AEA-2A8F-250C-A86A-A7751D9706C3}"/>
                </a:ext>
              </a:extLst>
            </p:cNvPr>
            <p:cNvSpPr txBox="1"/>
            <p:nvPr/>
          </p:nvSpPr>
          <p:spPr>
            <a:xfrm>
              <a:off x="3992343" y="6177572"/>
              <a:ext cx="2305144" cy="138499"/>
            </a:xfrm>
            <a:prstGeom prst="rect">
              <a:avLst/>
            </a:prstGeom>
            <a:noFill/>
          </p:spPr>
          <p:txBody>
            <a:bodyPr wrap="square" lIns="0" tIns="0" rIns="0" bIns="0" rtlCol="0">
              <a:spAutoFit/>
            </a:bodyPr>
            <a:lstStyle/>
            <a:p>
              <a:r>
                <a:rPr lang="ko-KR" altLang="en-US" sz="900" b="1" dirty="0">
                  <a:latin typeface="+mn-ea"/>
                </a:rPr>
                <a:t>일반 공지</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3992343" y="6405741"/>
              <a:ext cx="2305144" cy="107722"/>
            </a:xfrm>
            <a:prstGeom prst="rect">
              <a:avLst/>
            </a:prstGeom>
            <a:noFill/>
          </p:spPr>
          <p:txBody>
            <a:bodyPr wrap="square" lIns="0" tIns="0" rIns="0" bIns="0" rtlCol="0">
              <a:spAutoFit/>
            </a:bodyPr>
            <a:lstStyle/>
            <a:p>
              <a:r>
                <a:rPr lang="en-US" altLang="ko-KR" sz="700" dirty="0">
                  <a:latin typeface="+mn-ea"/>
                </a:rPr>
                <a:t>2026 </a:t>
              </a:r>
              <a:r>
                <a:rPr lang="ko-KR" altLang="en-US" sz="700" dirty="0" err="1">
                  <a:latin typeface="+mn-ea"/>
                </a:rPr>
                <a:t>국외조달</a:t>
              </a:r>
              <a:r>
                <a:rPr lang="ko-KR" altLang="en-US" sz="700" dirty="0">
                  <a:latin typeface="+mn-ea"/>
                </a:rPr>
                <a:t> 집행 예정 품목 공지</a:t>
              </a:r>
            </a:p>
          </p:txBody>
        </p:sp>
        <p:sp>
          <p:nvSpPr>
            <p:cNvPr id="115" name="사각형: 둥근 모서리 15">
              <a:extLst>
                <a:ext uri="{FF2B5EF4-FFF2-40B4-BE49-F238E27FC236}">
                  <a16:creationId xmlns:a16="http://schemas.microsoft.com/office/drawing/2014/main" id="{E2B61CFB-AD16-68D0-8752-50D9C5E01971}"/>
                </a:ext>
              </a:extLst>
            </p:cNvPr>
            <p:cNvSpPr/>
            <p:nvPr/>
          </p:nvSpPr>
          <p:spPr>
            <a:xfrm>
              <a:off x="5791465" y="6154071"/>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a:ln>
                    <a:noFill/>
                  </a:ln>
                  <a:effectLst/>
                  <a:uLnTx/>
                  <a:uFillTx/>
                  <a:latin typeface="맑은 고딕"/>
                </a:rPr>
                <a:t>더보기</a:t>
              </a:r>
              <a:r>
                <a:rPr kumimoji="1" lang="ko-KR" altLang="en-US" sz="700" b="0" i="0" u="none" strike="noStrike" kern="0" cap="none" spc="0" normalizeH="0" baseline="0" noProof="0" dirty="0">
                  <a:ln>
                    <a:noFill/>
                  </a:ln>
                  <a:effectLst/>
                  <a:uLnTx/>
                  <a:uFillTx/>
                  <a:latin typeface="맑은 고딕"/>
                </a:rPr>
                <a:t> </a:t>
              </a:r>
              <a:r>
                <a:rPr kumimoji="1" lang="en-US" altLang="ko-KR" sz="700" b="0" i="0" u="none" strike="noStrike" kern="0" cap="none" spc="0" normalizeH="0" baseline="0" noProof="0" dirty="0">
                  <a:ln>
                    <a:noFill/>
                  </a:ln>
                  <a:effectLst/>
                  <a:uLnTx/>
                  <a:uFillTx/>
                  <a:latin typeface="맑은 고딕"/>
                </a:rPr>
                <a:t>+</a:t>
              </a:r>
              <a:endParaRPr kumimoji="1" lang="en-US" sz="700" b="0" i="0" u="none" strike="noStrike" kern="0" cap="none" spc="0" normalizeH="0" baseline="0" noProof="0" dirty="0">
                <a:ln>
                  <a:noFill/>
                </a:ln>
                <a:effectLst/>
                <a:uLnTx/>
                <a:uFillTx/>
                <a:latin typeface="맑은 고딕"/>
              </a:endParaRPr>
            </a:p>
          </p:txBody>
        </p:sp>
        <p:sp>
          <p:nvSpPr>
            <p:cNvPr id="116" name="TextBox 115">
              <a:extLst>
                <a:ext uri="{FF2B5EF4-FFF2-40B4-BE49-F238E27FC236}">
                  <a16:creationId xmlns:a16="http://schemas.microsoft.com/office/drawing/2014/main" id="{FFC49AEA-2A8F-250C-A86A-A7751D9706C3}"/>
                </a:ext>
              </a:extLst>
            </p:cNvPr>
            <p:cNvSpPr txBox="1"/>
            <p:nvPr/>
          </p:nvSpPr>
          <p:spPr>
            <a:xfrm>
              <a:off x="5387975" y="6405741"/>
              <a:ext cx="897837" cy="107722"/>
            </a:xfrm>
            <a:prstGeom prst="rect">
              <a:avLst/>
            </a:prstGeom>
            <a:noFill/>
          </p:spPr>
          <p:txBody>
            <a:bodyPr wrap="square" lIns="0" tIns="0" rIns="0" bIns="0" rtlCol="0">
              <a:spAutoFit/>
            </a:bodyPr>
            <a:lstStyle/>
            <a:p>
              <a:pPr algn="r"/>
              <a:r>
                <a:rPr lang="en-US" altLang="ko-KR" sz="700" dirty="0">
                  <a:latin typeface="+mn-ea"/>
                </a:rPr>
                <a:t>2026-01-15</a:t>
              </a:r>
              <a:endParaRPr lang="ko-KR" altLang="en-US" sz="700" dirty="0">
                <a:latin typeface="+mn-ea"/>
              </a:endParaRPr>
            </a:p>
          </p:txBody>
        </p:sp>
        <p:cxnSp>
          <p:nvCxnSpPr>
            <p:cNvPr id="121" name="직선 연결선 120">
              <a:extLst>
                <a:ext uri="{FF2B5EF4-FFF2-40B4-BE49-F238E27FC236}">
                  <a16:creationId xmlns:a16="http://schemas.microsoft.com/office/drawing/2014/main" id="{E9293055-D5CD-4B9E-7F64-64B2D2CA7A52}"/>
                </a:ext>
              </a:extLst>
            </p:cNvPr>
            <p:cNvCxnSpPr/>
            <p:nvPr/>
          </p:nvCxnSpPr>
          <p:spPr>
            <a:xfrm>
              <a:off x="3796969" y="514291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3796969" y="604755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4" name="직선 연결선 123">
              <a:extLst>
                <a:ext uri="{FF2B5EF4-FFF2-40B4-BE49-F238E27FC236}">
                  <a16:creationId xmlns:a16="http://schemas.microsoft.com/office/drawing/2014/main" id="{E9293055-D5CD-4B9E-7F64-64B2D2CA7A52}"/>
                </a:ext>
              </a:extLst>
            </p:cNvPr>
            <p:cNvCxnSpPr/>
            <p:nvPr/>
          </p:nvCxnSpPr>
          <p:spPr>
            <a:xfrm>
              <a:off x="3796969" y="697171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TextBox 147">
              <a:extLst>
                <a:ext uri="{FF2B5EF4-FFF2-40B4-BE49-F238E27FC236}">
                  <a16:creationId xmlns:a16="http://schemas.microsoft.com/office/drawing/2014/main" id="{FFC49AEA-2A8F-250C-A86A-A7751D9706C3}"/>
                </a:ext>
              </a:extLst>
            </p:cNvPr>
            <p:cNvSpPr txBox="1"/>
            <p:nvPr/>
          </p:nvSpPr>
          <p:spPr>
            <a:xfrm>
              <a:off x="3992343" y="6564181"/>
              <a:ext cx="2305144" cy="107722"/>
            </a:xfrm>
            <a:prstGeom prst="rect">
              <a:avLst/>
            </a:prstGeom>
            <a:noFill/>
          </p:spPr>
          <p:txBody>
            <a:bodyPr wrap="square" lIns="0" tIns="0" rIns="0" bIns="0" rtlCol="0">
              <a:spAutoFit/>
            </a:bodyPr>
            <a:lstStyle/>
            <a:p>
              <a:r>
                <a:rPr lang="ko-KR" altLang="en-US" sz="700" dirty="0">
                  <a:latin typeface="+mn-ea"/>
                </a:rPr>
                <a:t>국가계약법 시행령 한시적 특례 종료</a:t>
              </a:r>
              <a:r>
                <a:rPr lang="en-US" altLang="ko-KR" sz="700" dirty="0">
                  <a:latin typeface="+mn-ea"/>
                </a:rPr>
                <a:t>…</a:t>
              </a:r>
              <a:endParaRPr lang="ko-KR" altLang="en-US" sz="700" dirty="0">
                <a:latin typeface="+mn-ea"/>
              </a:endParaRPr>
            </a:p>
          </p:txBody>
        </p:sp>
        <p:sp>
          <p:nvSpPr>
            <p:cNvPr id="149" name="TextBox 148">
              <a:extLst>
                <a:ext uri="{FF2B5EF4-FFF2-40B4-BE49-F238E27FC236}">
                  <a16:creationId xmlns:a16="http://schemas.microsoft.com/office/drawing/2014/main" id="{FFC49AEA-2A8F-250C-A86A-A7751D9706C3}"/>
                </a:ext>
              </a:extLst>
            </p:cNvPr>
            <p:cNvSpPr txBox="1"/>
            <p:nvPr/>
          </p:nvSpPr>
          <p:spPr>
            <a:xfrm>
              <a:off x="5387975" y="6564181"/>
              <a:ext cx="897837" cy="107722"/>
            </a:xfrm>
            <a:prstGeom prst="rect">
              <a:avLst/>
            </a:prstGeom>
            <a:noFill/>
          </p:spPr>
          <p:txBody>
            <a:bodyPr wrap="square" lIns="0" tIns="0" rIns="0" bIns="0" rtlCol="0">
              <a:spAutoFit/>
            </a:bodyPr>
            <a:lstStyle/>
            <a:p>
              <a:pPr algn="r"/>
              <a:r>
                <a:rPr lang="en-US" altLang="ko-KR" sz="700" dirty="0">
                  <a:latin typeface="+mn-ea"/>
                </a:rPr>
                <a:t>2026-01-15</a:t>
              </a:r>
              <a:endParaRPr lang="ko-KR" altLang="en-US" sz="700" dirty="0">
                <a:latin typeface="+mn-ea"/>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3992343" y="6728948"/>
              <a:ext cx="2305144" cy="107722"/>
            </a:xfrm>
            <a:prstGeom prst="rect">
              <a:avLst/>
            </a:prstGeom>
            <a:noFill/>
          </p:spPr>
          <p:txBody>
            <a:bodyPr wrap="square" lIns="0" tIns="0" rIns="0" bIns="0" rtlCol="0">
              <a:spAutoFit/>
            </a:bodyPr>
            <a:lstStyle/>
            <a:p>
              <a:r>
                <a:rPr lang="en-US" altLang="ko-KR" sz="700" dirty="0">
                  <a:latin typeface="+mn-ea"/>
                </a:rPr>
                <a:t>2026</a:t>
              </a:r>
              <a:r>
                <a:rPr lang="ko-KR" altLang="en-US" sz="700" dirty="0">
                  <a:latin typeface="+mn-ea"/>
                </a:rPr>
                <a:t>년도 사전입찰의향서 접수 안내</a:t>
              </a:r>
              <a:r>
                <a:rPr lang="en-US" altLang="ko-KR" sz="700" dirty="0">
                  <a:latin typeface="+mn-ea"/>
                </a:rPr>
                <a:t>(…</a:t>
              </a:r>
              <a:endParaRPr lang="ko-KR" altLang="en-US" sz="700" dirty="0">
                <a:latin typeface="+mn-ea"/>
              </a:endParaRPr>
            </a:p>
          </p:txBody>
        </p:sp>
        <p:sp>
          <p:nvSpPr>
            <p:cNvPr id="151" name="TextBox 150">
              <a:extLst>
                <a:ext uri="{FF2B5EF4-FFF2-40B4-BE49-F238E27FC236}">
                  <a16:creationId xmlns:a16="http://schemas.microsoft.com/office/drawing/2014/main" id="{FFC49AEA-2A8F-250C-A86A-A7751D9706C3}"/>
                </a:ext>
              </a:extLst>
            </p:cNvPr>
            <p:cNvSpPr txBox="1"/>
            <p:nvPr/>
          </p:nvSpPr>
          <p:spPr>
            <a:xfrm>
              <a:off x="5387975" y="6728948"/>
              <a:ext cx="897837" cy="107722"/>
            </a:xfrm>
            <a:prstGeom prst="rect">
              <a:avLst/>
            </a:prstGeom>
            <a:noFill/>
          </p:spPr>
          <p:txBody>
            <a:bodyPr wrap="square" lIns="0" tIns="0" rIns="0" bIns="0" rtlCol="0">
              <a:spAutoFit/>
            </a:bodyPr>
            <a:lstStyle/>
            <a:p>
              <a:pPr algn="r"/>
              <a:r>
                <a:rPr lang="en-US" altLang="ko-KR" sz="700" dirty="0">
                  <a:latin typeface="+mn-ea"/>
                </a:rPr>
                <a:t>2026-01-15</a:t>
              </a:r>
              <a:endParaRPr lang="ko-KR" altLang="en-US" sz="700" dirty="0">
                <a:latin typeface="+mn-ea"/>
              </a:endParaRPr>
            </a:p>
          </p:txBody>
        </p:sp>
      </p:grpSp>
      <p:sp>
        <p:nvSpPr>
          <p:cNvPr id="147" name="모서리가 둥근 직사각형 146"/>
          <p:cNvSpPr/>
          <p:nvPr/>
        </p:nvSpPr>
        <p:spPr>
          <a:xfrm>
            <a:off x="4002170" y="4676843"/>
            <a:ext cx="2285490" cy="1277072"/>
          </a:xfrm>
          <a:prstGeom prst="roundRect">
            <a:avLst>
              <a:gd name="adj" fmla="val 6856"/>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t>배너 영역</a:t>
            </a:r>
          </a:p>
        </p:txBody>
      </p:sp>
      <p:sp>
        <p:nvSpPr>
          <p:cNvPr id="117" name="모서리가 둥근 직사각형 116"/>
          <p:cNvSpPr/>
          <p:nvPr/>
        </p:nvSpPr>
        <p:spPr>
          <a:xfrm>
            <a:off x="3788901" y="6018448"/>
            <a:ext cx="2712027" cy="218999"/>
          </a:xfrm>
          <a:prstGeom prst="roundRect">
            <a:avLst>
              <a:gd name="adj" fmla="val 6856"/>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dirty="0"/>
              <a:t>Footer</a:t>
            </a:r>
            <a:endParaRPr lang="ko-KR" altLang="en-US" dirty="0"/>
          </a:p>
        </p:txBody>
      </p:sp>
      <p:sp>
        <p:nvSpPr>
          <p:cNvPr id="118" name="타원 117">
            <a:extLst>
              <a:ext uri="{FF2B5EF4-FFF2-40B4-BE49-F238E27FC236}">
                <a16:creationId xmlns:a16="http://schemas.microsoft.com/office/drawing/2014/main" id="{37A7FF4F-0EAA-1463-560A-D5EC24416103}"/>
              </a:ext>
            </a:extLst>
          </p:cNvPr>
          <p:cNvSpPr/>
          <p:nvPr/>
        </p:nvSpPr>
        <p:spPr>
          <a:xfrm>
            <a:off x="571848" y="590891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
        <p:nvSpPr>
          <p:cNvPr id="119" name="타원 118">
            <a:extLst>
              <a:ext uri="{FF2B5EF4-FFF2-40B4-BE49-F238E27FC236}">
                <a16:creationId xmlns:a16="http://schemas.microsoft.com/office/drawing/2014/main" id="{37A7FF4F-0EAA-1463-560A-D5EC24416103}"/>
              </a:ext>
            </a:extLst>
          </p:cNvPr>
          <p:cNvSpPr/>
          <p:nvPr/>
        </p:nvSpPr>
        <p:spPr>
          <a:xfrm>
            <a:off x="3701178" y="199378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6</a:t>
            </a:r>
            <a:endParaRPr lang="ko-KR" altLang="en-US" sz="900" b="1" dirty="0"/>
          </a:p>
        </p:txBody>
      </p:sp>
      <p:sp>
        <p:nvSpPr>
          <p:cNvPr id="120" name="타원 119">
            <a:extLst>
              <a:ext uri="{FF2B5EF4-FFF2-40B4-BE49-F238E27FC236}">
                <a16:creationId xmlns:a16="http://schemas.microsoft.com/office/drawing/2014/main" id="{37A7FF4F-0EAA-1463-560A-D5EC24416103}"/>
              </a:ext>
            </a:extLst>
          </p:cNvPr>
          <p:cNvSpPr/>
          <p:nvPr/>
        </p:nvSpPr>
        <p:spPr>
          <a:xfrm>
            <a:off x="3701178" y="496974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7</a:t>
            </a:r>
            <a:endParaRPr lang="ko-KR" altLang="en-US" sz="900" b="1" dirty="0"/>
          </a:p>
        </p:txBody>
      </p:sp>
      <p:sp>
        <p:nvSpPr>
          <p:cNvPr id="123" name="타원 122">
            <a:extLst>
              <a:ext uri="{FF2B5EF4-FFF2-40B4-BE49-F238E27FC236}">
                <a16:creationId xmlns:a16="http://schemas.microsoft.com/office/drawing/2014/main" id="{37A7FF4F-0EAA-1463-560A-D5EC24416103}"/>
              </a:ext>
            </a:extLst>
          </p:cNvPr>
          <p:cNvSpPr/>
          <p:nvPr/>
        </p:nvSpPr>
        <p:spPr>
          <a:xfrm>
            <a:off x="3701178" y="604270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9</a:t>
            </a:r>
            <a:endParaRPr lang="ko-KR" altLang="en-US" sz="900" b="1" dirty="0"/>
          </a:p>
        </p:txBody>
      </p:sp>
      <p:sp>
        <p:nvSpPr>
          <p:cNvPr id="125" name="모서리가 둥근 직사각형 124"/>
          <p:cNvSpPr/>
          <p:nvPr/>
        </p:nvSpPr>
        <p:spPr>
          <a:xfrm>
            <a:off x="891228" y="3562354"/>
            <a:ext cx="434121" cy="434121"/>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모서리가 둥근 직사각형 125"/>
          <p:cNvSpPr/>
          <p:nvPr/>
        </p:nvSpPr>
        <p:spPr>
          <a:xfrm>
            <a:off x="1508351" y="3562354"/>
            <a:ext cx="434121" cy="434121"/>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모서리가 둥근 직사각형 129"/>
          <p:cNvSpPr/>
          <p:nvPr/>
        </p:nvSpPr>
        <p:spPr>
          <a:xfrm>
            <a:off x="2125474" y="3562354"/>
            <a:ext cx="434121" cy="434121"/>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1" name="모서리가 둥근 직사각형 130"/>
          <p:cNvSpPr/>
          <p:nvPr/>
        </p:nvSpPr>
        <p:spPr>
          <a:xfrm>
            <a:off x="2742597" y="3562354"/>
            <a:ext cx="434121" cy="434121"/>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2" name="타원 131"/>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2" name="그룹 151"/>
          <p:cNvGrpSpPr/>
          <p:nvPr/>
        </p:nvGrpSpPr>
        <p:grpSpPr>
          <a:xfrm>
            <a:off x="6726256" y="4802272"/>
            <a:ext cx="124144" cy="148935"/>
            <a:chOff x="161606" y="5392781"/>
            <a:chExt cx="97885" cy="117432"/>
          </a:xfrm>
        </p:grpSpPr>
        <p:cxnSp>
          <p:nvCxnSpPr>
            <p:cNvPr id="153" name="직선 연결선 152"/>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4" name="직선 연결선 153"/>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5" name="직선 연결선 15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156" name="직선 연결선 155"/>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164" name="타원 163">
            <a:extLst>
              <a:ext uri="{FF2B5EF4-FFF2-40B4-BE49-F238E27FC236}">
                <a16:creationId xmlns:a16="http://schemas.microsoft.com/office/drawing/2014/main" id="{37A7FF4F-0EAA-1463-560A-D5EC24416103}"/>
              </a:ext>
            </a:extLst>
          </p:cNvPr>
          <p:cNvSpPr/>
          <p:nvPr/>
        </p:nvSpPr>
        <p:spPr>
          <a:xfrm>
            <a:off x="6588653" y="450471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8</a:t>
            </a:r>
            <a:endParaRPr lang="ko-KR" altLang="en-US" sz="900" b="1" dirty="0"/>
          </a:p>
        </p:txBody>
      </p:sp>
      <p:sp>
        <p:nvSpPr>
          <p:cNvPr id="180" name="TextBox 179">
            <a:extLst>
              <a:ext uri="{FF2B5EF4-FFF2-40B4-BE49-F238E27FC236}">
                <a16:creationId xmlns:a16="http://schemas.microsoft.com/office/drawing/2014/main" id="{FFC49AEA-2A8F-250C-A86A-A7751D9706C3}"/>
              </a:ext>
            </a:extLst>
          </p:cNvPr>
          <p:cNvSpPr txBox="1"/>
          <p:nvPr/>
        </p:nvSpPr>
        <p:spPr>
          <a:xfrm>
            <a:off x="878892" y="4307902"/>
            <a:ext cx="2305144" cy="138499"/>
          </a:xfrm>
          <a:prstGeom prst="rect">
            <a:avLst/>
          </a:prstGeom>
          <a:noFill/>
        </p:spPr>
        <p:txBody>
          <a:bodyPr wrap="square" lIns="0" tIns="0" rIns="0" bIns="0" rtlCol="0">
            <a:spAutoFit/>
          </a:bodyPr>
          <a:lstStyle/>
          <a:p>
            <a:r>
              <a:rPr lang="ko-KR" altLang="en-US" sz="900" b="1" dirty="0">
                <a:latin typeface="+mn-ea"/>
              </a:rPr>
              <a:t>사용 안내</a:t>
            </a:r>
          </a:p>
        </p:txBody>
      </p:sp>
      <p:sp>
        <p:nvSpPr>
          <p:cNvPr id="181" name="사각형: 둥근 모서리 15">
            <a:extLst>
              <a:ext uri="{FF2B5EF4-FFF2-40B4-BE49-F238E27FC236}">
                <a16:creationId xmlns:a16="http://schemas.microsoft.com/office/drawing/2014/main" id="{E2B61CFB-AD16-68D0-8752-50D9C5E01971}"/>
              </a:ext>
            </a:extLst>
          </p:cNvPr>
          <p:cNvSpPr/>
          <p:nvPr/>
        </p:nvSpPr>
        <p:spPr>
          <a:xfrm>
            <a:off x="2678014" y="4508544"/>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a:ln>
                  <a:noFill/>
                </a:ln>
                <a:effectLst/>
                <a:uLnTx/>
                <a:uFillTx/>
                <a:latin typeface="맑은 고딕"/>
              </a:rPr>
              <a:t>더보기</a:t>
            </a:r>
            <a:r>
              <a:rPr kumimoji="1" lang="ko-KR" altLang="en-US" sz="700" b="0" i="0" u="none" strike="noStrike" kern="0" cap="none" spc="0" normalizeH="0" baseline="0" noProof="0" dirty="0">
                <a:ln>
                  <a:noFill/>
                </a:ln>
                <a:effectLst/>
                <a:uLnTx/>
                <a:uFillTx/>
                <a:latin typeface="맑은 고딕"/>
              </a:rPr>
              <a:t> </a:t>
            </a:r>
            <a:r>
              <a:rPr kumimoji="1" lang="en-US" altLang="ko-KR" sz="700" b="0" i="0" u="none" strike="noStrike" kern="0" cap="none" spc="0" normalizeH="0" baseline="0" noProof="0" dirty="0">
                <a:ln>
                  <a:noFill/>
                </a:ln>
                <a:effectLst/>
                <a:uLnTx/>
                <a:uFillTx/>
                <a:latin typeface="맑은 고딕"/>
              </a:rPr>
              <a:t>+</a:t>
            </a:r>
            <a:endParaRPr kumimoji="1" lang="en-US" sz="700" b="0" i="0" u="none" strike="noStrike" kern="0" cap="none" spc="0" normalizeH="0" baseline="0" noProof="0" dirty="0">
              <a:ln>
                <a:noFill/>
              </a:ln>
              <a:effectLst/>
              <a:uLnTx/>
              <a:uFillTx/>
              <a:latin typeface="맑은 고딕"/>
            </a:endParaRPr>
          </a:p>
        </p:txBody>
      </p:sp>
      <p:sp>
        <p:nvSpPr>
          <p:cNvPr id="182" name="TextBox 181">
            <a:extLst>
              <a:ext uri="{FF2B5EF4-FFF2-40B4-BE49-F238E27FC236}">
                <a16:creationId xmlns:a16="http://schemas.microsoft.com/office/drawing/2014/main" id="{FFC49AEA-2A8F-250C-A86A-A7751D9706C3}"/>
              </a:ext>
            </a:extLst>
          </p:cNvPr>
          <p:cNvSpPr txBox="1"/>
          <p:nvPr/>
        </p:nvSpPr>
        <p:spPr>
          <a:xfrm>
            <a:off x="878892" y="4537337"/>
            <a:ext cx="2305144" cy="123111"/>
          </a:xfrm>
          <a:prstGeom prst="rect">
            <a:avLst/>
          </a:prstGeom>
          <a:noFill/>
        </p:spPr>
        <p:txBody>
          <a:bodyPr wrap="square" lIns="0" tIns="0" rIns="0" bIns="0" rtlCol="0">
            <a:spAutoFit/>
          </a:bodyPr>
          <a:lstStyle/>
          <a:p>
            <a:r>
              <a:rPr lang="ko-KR" altLang="en-US" sz="800" dirty="0">
                <a:latin typeface="+mn-ea"/>
              </a:rPr>
              <a:t>사전준비안내</a:t>
            </a:r>
          </a:p>
        </p:txBody>
      </p:sp>
      <p:sp>
        <p:nvSpPr>
          <p:cNvPr id="183" name="모서리가 둥근 직사각형 182"/>
          <p:cNvSpPr/>
          <p:nvPr/>
        </p:nvSpPr>
        <p:spPr>
          <a:xfrm>
            <a:off x="891228" y="4736426"/>
            <a:ext cx="1817682"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4" name="모서리가 둥근 직사각형 183"/>
          <p:cNvSpPr/>
          <p:nvPr/>
        </p:nvSpPr>
        <p:spPr>
          <a:xfrm>
            <a:off x="891227" y="4903435"/>
            <a:ext cx="2062597"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5" name="사각형: 둥근 모서리 15">
            <a:extLst>
              <a:ext uri="{FF2B5EF4-FFF2-40B4-BE49-F238E27FC236}">
                <a16:creationId xmlns:a16="http://schemas.microsoft.com/office/drawing/2014/main" id="{E2B61CFB-AD16-68D0-8752-50D9C5E01971}"/>
              </a:ext>
            </a:extLst>
          </p:cNvPr>
          <p:cNvSpPr/>
          <p:nvPr/>
        </p:nvSpPr>
        <p:spPr>
          <a:xfrm>
            <a:off x="2678014" y="5123758"/>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a:ln>
                  <a:noFill/>
                </a:ln>
                <a:effectLst/>
                <a:uLnTx/>
                <a:uFillTx/>
                <a:latin typeface="맑은 고딕"/>
              </a:rPr>
              <a:t>더보기</a:t>
            </a:r>
            <a:r>
              <a:rPr kumimoji="1" lang="ko-KR" altLang="en-US" sz="700" b="0" i="0" u="none" strike="noStrike" kern="0" cap="none" spc="0" normalizeH="0" baseline="0" noProof="0" dirty="0">
                <a:ln>
                  <a:noFill/>
                </a:ln>
                <a:effectLst/>
                <a:uLnTx/>
                <a:uFillTx/>
                <a:latin typeface="맑은 고딕"/>
              </a:rPr>
              <a:t> </a:t>
            </a:r>
            <a:r>
              <a:rPr kumimoji="1" lang="en-US" altLang="ko-KR" sz="700" b="0" i="0" u="none" strike="noStrike" kern="0" cap="none" spc="0" normalizeH="0" baseline="0" noProof="0" dirty="0">
                <a:ln>
                  <a:noFill/>
                </a:ln>
                <a:effectLst/>
                <a:uLnTx/>
                <a:uFillTx/>
                <a:latin typeface="맑은 고딕"/>
              </a:rPr>
              <a:t>+</a:t>
            </a:r>
            <a:endParaRPr kumimoji="1" lang="en-US" sz="700" b="0" i="0" u="none" strike="noStrike" kern="0" cap="none" spc="0" normalizeH="0" baseline="0" noProof="0" dirty="0">
              <a:ln>
                <a:noFill/>
              </a:ln>
              <a:effectLst/>
              <a:uLnTx/>
              <a:uFillTx/>
              <a:latin typeface="맑은 고딕"/>
            </a:endParaRPr>
          </a:p>
        </p:txBody>
      </p:sp>
      <p:sp>
        <p:nvSpPr>
          <p:cNvPr id="186" name="TextBox 185">
            <a:extLst>
              <a:ext uri="{FF2B5EF4-FFF2-40B4-BE49-F238E27FC236}">
                <a16:creationId xmlns:a16="http://schemas.microsoft.com/office/drawing/2014/main" id="{FFC49AEA-2A8F-250C-A86A-A7751D9706C3}"/>
              </a:ext>
            </a:extLst>
          </p:cNvPr>
          <p:cNvSpPr txBox="1"/>
          <p:nvPr/>
        </p:nvSpPr>
        <p:spPr>
          <a:xfrm>
            <a:off x="878892" y="5152551"/>
            <a:ext cx="2305144" cy="123111"/>
          </a:xfrm>
          <a:prstGeom prst="rect">
            <a:avLst/>
          </a:prstGeom>
          <a:noFill/>
        </p:spPr>
        <p:txBody>
          <a:bodyPr wrap="square" lIns="0" tIns="0" rIns="0" bIns="0" rtlCol="0">
            <a:spAutoFit/>
          </a:bodyPr>
          <a:lstStyle/>
          <a:p>
            <a:r>
              <a:rPr lang="ko-KR" altLang="en-US" sz="800" dirty="0">
                <a:latin typeface="+mn-ea"/>
              </a:rPr>
              <a:t>국내조달안내</a:t>
            </a:r>
          </a:p>
        </p:txBody>
      </p:sp>
      <p:sp>
        <p:nvSpPr>
          <p:cNvPr id="187" name="모서리가 둥근 직사각형 186"/>
          <p:cNvSpPr/>
          <p:nvPr/>
        </p:nvSpPr>
        <p:spPr>
          <a:xfrm>
            <a:off x="891228" y="5351640"/>
            <a:ext cx="1817682"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8" name="모서리가 둥근 직사각형 187"/>
          <p:cNvSpPr/>
          <p:nvPr/>
        </p:nvSpPr>
        <p:spPr>
          <a:xfrm>
            <a:off x="891227" y="5518649"/>
            <a:ext cx="2062597"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8" name="직사각형 127"/>
          <p:cNvSpPr/>
          <p:nvPr/>
        </p:nvSpPr>
        <p:spPr>
          <a:xfrm>
            <a:off x="7056784" y="6395830"/>
            <a:ext cx="2378816" cy="69149"/>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500" dirty="0"/>
              <a:t>감리 추가 사항 </a:t>
            </a:r>
            <a:r>
              <a:rPr lang="en-US" altLang="ko-KR" sz="500" dirty="0"/>
              <a:t>2026-04-08</a:t>
            </a:r>
            <a:endParaRPr lang="ko-KR" altLang="en-US" sz="500" dirty="0"/>
          </a:p>
        </p:txBody>
      </p:sp>
      <p:grpSp>
        <p:nvGrpSpPr>
          <p:cNvPr id="129" name="그룹 128"/>
          <p:cNvGrpSpPr/>
          <p:nvPr/>
        </p:nvGrpSpPr>
        <p:grpSpPr>
          <a:xfrm>
            <a:off x="767702" y="2122064"/>
            <a:ext cx="2527420" cy="477995"/>
            <a:chOff x="786326" y="2270279"/>
            <a:chExt cx="2527420" cy="477995"/>
          </a:xfrm>
        </p:grpSpPr>
        <p:sp>
          <p:nvSpPr>
            <p:cNvPr id="133" name="모서리가 둥근 직사각형 132"/>
            <p:cNvSpPr/>
            <p:nvPr/>
          </p:nvSpPr>
          <p:spPr>
            <a:xfrm>
              <a:off x="786326" y="2481707"/>
              <a:ext cx="2527420" cy="266567"/>
            </a:xfrm>
            <a:prstGeom prst="roundRect">
              <a:avLst>
                <a:gd name="adj" fmla="val 5000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4" name="타원 133"/>
            <p:cNvSpPr/>
            <p:nvPr/>
          </p:nvSpPr>
          <p:spPr>
            <a:xfrm>
              <a:off x="3071451"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5" name="TextBox 134">
              <a:extLst>
                <a:ext uri="{FF2B5EF4-FFF2-40B4-BE49-F238E27FC236}">
                  <a16:creationId xmlns:a16="http://schemas.microsoft.com/office/drawing/2014/main" id="{FFC49AEA-2A8F-250C-A86A-A7751D9706C3}"/>
                </a:ext>
              </a:extLst>
            </p:cNvPr>
            <p:cNvSpPr txBox="1"/>
            <p:nvPr/>
          </p:nvSpPr>
          <p:spPr>
            <a:xfrm>
              <a:off x="890013" y="2561129"/>
              <a:ext cx="1886364" cy="107722"/>
            </a:xfrm>
            <a:prstGeom prst="rect">
              <a:avLst/>
            </a:prstGeom>
            <a:noFill/>
          </p:spPr>
          <p:txBody>
            <a:bodyPr wrap="square" lIns="0" tIns="0" rIns="0" bIns="0" rtlCol="0">
              <a:spAutoFit/>
            </a:bodyPr>
            <a:lstStyle/>
            <a:p>
              <a:r>
                <a:rPr lang="ko-KR" altLang="en-US" sz="700" dirty="0">
                  <a:solidFill>
                    <a:schemeClr val="bg1">
                      <a:lumMod val="50000"/>
                    </a:schemeClr>
                  </a:solidFill>
                  <a:latin typeface="+mn-ea"/>
                </a:rPr>
                <a:t>검색할 내용을 입력하세요</a:t>
              </a:r>
              <a:r>
                <a:rPr lang="en-US" altLang="ko-KR" sz="700" dirty="0">
                  <a:solidFill>
                    <a:schemeClr val="bg1">
                      <a:lumMod val="50000"/>
                    </a:schemeClr>
                  </a:solidFill>
                  <a:latin typeface="+mn-ea"/>
                </a:rPr>
                <a:t>.</a:t>
              </a:r>
              <a:endParaRPr lang="ko-KR" altLang="en-US" sz="700" dirty="0">
                <a:solidFill>
                  <a:schemeClr val="bg1">
                    <a:lumMod val="50000"/>
                  </a:schemeClr>
                </a:solidFill>
                <a:latin typeface="+mn-ea"/>
              </a:endParaRPr>
            </a:p>
          </p:txBody>
        </p:sp>
        <p:grpSp>
          <p:nvGrpSpPr>
            <p:cNvPr id="136" name="그룹 135"/>
            <p:cNvGrpSpPr/>
            <p:nvPr/>
          </p:nvGrpSpPr>
          <p:grpSpPr>
            <a:xfrm>
              <a:off x="795624" y="2274581"/>
              <a:ext cx="1299303" cy="155984"/>
              <a:chOff x="808107" y="2288229"/>
              <a:chExt cx="1189739" cy="168318"/>
            </a:xfrm>
          </p:grpSpPr>
          <p:sp>
            <p:nvSpPr>
              <p:cNvPr id="157" name="사각형: 둥근 모서리 31">
                <a:extLst>
                  <a:ext uri="{FF2B5EF4-FFF2-40B4-BE49-F238E27FC236}">
                    <a16:creationId xmlns:a16="http://schemas.microsoft.com/office/drawing/2014/main" id="{2AC143EE-93CF-3518-F0CB-8469E98507E0}"/>
                  </a:ext>
                </a:extLst>
              </p:cNvPr>
              <p:cNvSpPr/>
              <p:nvPr/>
            </p:nvSpPr>
            <p:spPr>
              <a:xfrm>
                <a:off x="808107" y="2288229"/>
                <a:ext cx="563494" cy="168318"/>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계약명</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58" name="사각형: 둥근 모서리 31">
                <a:extLst>
                  <a:ext uri="{FF2B5EF4-FFF2-40B4-BE49-F238E27FC236}">
                    <a16:creationId xmlns:a16="http://schemas.microsoft.com/office/drawing/2014/main" id="{2AC143EE-93CF-3518-F0CB-8469E98507E0}"/>
                  </a:ext>
                </a:extLst>
              </p:cNvPr>
              <p:cNvSpPr/>
              <p:nvPr/>
            </p:nvSpPr>
            <p:spPr>
              <a:xfrm>
                <a:off x="1434352" y="2288229"/>
                <a:ext cx="563494" cy="168318"/>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계약번호</a:t>
                </a:r>
                <a:endParaRPr kumimoji="1" lang="en-US" sz="800" b="0" i="0" u="none" strike="noStrike" kern="0" cap="none" spc="0" normalizeH="0" baseline="0" noProof="0" dirty="0">
                  <a:ln>
                    <a:noFill/>
                  </a:ln>
                  <a:effectLst/>
                  <a:uLnTx/>
                  <a:uFillTx/>
                  <a:latin typeface="맑은 고딕"/>
                </a:endParaRPr>
              </a:p>
            </p:txBody>
          </p:sp>
        </p:grpSp>
        <p:sp>
          <p:nvSpPr>
            <p:cNvPr id="137" name="타원 136"/>
            <p:cNvSpPr/>
            <p:nvPr/>
          </p:nvSpPr>
          <p:spPr>
            <a:xfrm>
              <a:off x="814969" y="2290708"/>
              <a:ext cx="108000" cy="108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dirty="0"/>
                <a:t>V</a:t>
              </a:r>
              <a:endParaRPr lang="ko-KR" altLang="en-US" sz="600" dirty="0"/>
            </a:p>
          </p:txBody>
        </p:sp>
        <p:sp>
          <p:nvSpPr>
            <p:cNvPr id="138" name="사각형: 둥근 모서리 31">
              <a:extLst>
                <a:ext uri="{FF2B5EF4-FFF2-40B4-BE49-F238E27FC236}">
                  <a16:creationId xmlns:a16="http://schemas.microsoft.com/office/drawing/2014/main" id="{2AC143EE-93CF-3518-F0CB-8469E98507E0}"/>
                </a:ext>
              </a:extLst>
            </p:cNvPr>
            <p:cNvSpPr/>
            <p:nvPr/>
          </p:nvSpPr>
          <p:spPr>
            <a:xfrm>
              <a:off x="2726021" y="2270279"/>
              <a:ext cx="582849" cy="154795"/>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검색필터</a:t>
              </a:r>
              <a:endParaRPr kumimoji="1" lang="en-US" sz="800" b="0" i="0" u="none" strike="noStrike" kern="0" cap="none" spc="0" normalizeH="0" baseline="0" noProof="0" dirty="0">
                <a:ln>
                  <a:noFill/>
                </a:ln>
                <a:effectLst/>
                <a:uLnTx/>
                <a:uFillTx/>
                <a:latin typeface="맑은 고딕"/>
              </a:endParaRPr>
            </a:p>
          </p:txBody>
        </p:sp>
        <p:sp>
          <p:nvSpPr>
            <p:cNvPr id="139" name="타원 138"/>
            <p:cNvSpPr/>
            <p:nvPr/>
          </p:nvSpPr>
          <p:spPr>
            <a:xfrm>
              <a:off x="2857726"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0" name="그룹 139"/>
            <p:cNvGrpSpPr/>
            <p:nvPr/>
          </p:nvGrpSpPr>
          <p:grpSpPr>
            <a:xfrm>
              <a:off x="2901631" y="2585953"/>
              <a:ext cx="58075" cy="58074"/>
              <a:chOff x="6812560" y="3297172"/>
              <a:chExt cx="94010" cy="94010"/>
            </a:xfrm>
          </p:grpSpPr>
          <p:cxnSp>
            <p:nvCxnSpPr>
              <p:cNvPr id="141" name="직선 연결선 140"/>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42" name="직선 연결선 14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4825279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p:txBody>
          <a:bodyPr/>
          <a:lstStyle/>
          <a:p>
            <a:pPr marL="228600" indent="-228600">
              <a:buFont typeface="+mj-lt"/>
              <a:buAutoNum type="arabicPeriod"/>
            </a:pPr>
            <a:r>
              <a:rPr lang="ko-KR" altLang="en-US" dirty="0"/>
              <a:t>햄버거 메뉴 닫기</a:t>
            </a:r>
            <a:r>
              <a:rPr lang="en-US" altLang="ko-KR" dirty="0"/>
              <a:t>, </a:t>
            </a:r>
            <a:r>
              <a:rPr lang="ko-KR" altLang="en-US" dirty="0"/>
              <a:t>설정 등 버튼 영역</a:t>
            </a:r>
            <a:endParaRPr lang="en-US" altLang="ko-KR" dirty="0"/>
          </a:p>
          <a:p>
            <a:pPr marL="228600" indent="-228600">
              <a:buFont typeface="+mj-lt"/>
              <a:buAutoNum type="arabicPeriod"/>
            </a:pPr>
            <a:r>
              <a:rPr lang="ko-KR" altLang="en-US" dirty="0"/>
              <a:t>로그인 정보 표시 영역</a:t>
            </a:r>
            <a:r>
              <a:rPr lang="en-US" altLang="ko-KR" dirty="0"/>
              <a:t/>
            </a:r>
            <a:br>
              <a:rPr lang="en-US" altLang="ko-KR" dirty="0"/>
            </a:br>
            <a:r>
              <a:rPr lang="en-US" altLang="ko-KR" dirty="0"/>
              <a:t>- </a:t>
            </a:r>
            <a:r>
              <a:rPr lang="ko-KR" altLang="en-US" dirty="0"/>
              <a:t>로그인 전</a:t>
            </a:r>
            <a:r>
              <a:rPr lang="en-US" altLang="ko-KR" dirty="0"/>
              <a:t/>
            </a:r>
            <a:br>
              <a:rPr lang="en-US" altLang="ko-KR" dirty="0"/>
            </a:br>
            <a:r>
              <a:rPr lang="en-US" altLang="ko-KR" dirty="0"/>
              <a:t>  &gt; </a:t>
            </a:r>
            <a:r>
              <a:rPr lang="ko-KR" altLang="en-US" dirty="0"/>
              <a:t>로그인 메시지 표시</a:t>
            </a:r>
            <a:endParaRPr lang="en-US" altLang="ko-KR" dirty="0"/>
          </a:p>
          <a:p>
            <a:pPr marL="228600" indent="-228600">
              <a:buFont typeface="+mj-lt"/>
              <a:buAutoNum type="arabicPeriod"/>
            </a:pPr>
            <a:r>
              <a:rPr lang="ko-KR" altLang="en-US" dirty="0"/>
              <a:t>전체 메뉴 목록 표시</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햄버거 메뉴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앱 햄버거 메뉴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메인 홈 </a:t>
            </a:r>
            <a:r>
              <a:rPr lang="en-US" altLang="ko-KR" dirty="0"/>
              <a:t>&gt; </a:t>
            </a:r>
            <a:r>
              <a:rPr lang="ko-KR" altLang="en-US" dirty="0"/>
              <a:t>햄버거 메뉴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sz="800" dirty="0">
                <a:solidFill>
                  <a:srgbClr val="000000"/>
                </a:solidFill>
                <a:latin typeface="맑은 고딕" panose="020B0503020000020004" pitchFamily="50" charset="-127"/>
              </a:rPr>
              <a:t>MUI-MS-01-M12</a:t>
            </a:r>
            <a:endParaRPr lang="ko-KR" altLang="en-US" dirty="0"/>
          </a:p>
        </p:txBody>
      </p:sp>
      <p:sp>
        <p:nvSpPr>
          <p:cNvPr id="14" name="직사각형 13">
            <a:extLst>
              <a:ext uri="{FF2B5EF4-FFF2-40B4-BE49-F238E27FC236}">
                <a16:creationId xmlns:a16="http://schemas.microsoft.com/office/drawing/2014/main" id="{F56F1743-11A0-EA94-9184-4E42C0A37F9C}"/>
              </a:ext>
            </a:extLst>
          </p:cNvPr>
          <p:cNvSpPr/>
          <p:nvPr/>
        </p:nvSpPr>
        <p:spPr>
          <a:xfrm>
            <a:off x="677960"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TextBox 31">
            <a:extLst>
              <a:ext uri="{FF2B5EF4-FFF2-40B4-BE49-F238E27FC236}">
                <a16:creationId xmlns:a16="http://schemas.microsoft.com/office/drawing/2014/main" id="{FFC49AEA-2A8F-250C-A86A-A7751D9706C3}"/>
              </a:ext>
            </a:extLst>
          </p:cNvPr>
          <p:cNvSpPr txBox="1"/>
          <p:nvPr/>
        </p:nvSpPr>
        <p:spPr>
          <a:xfrm>
            <a:off x="881401" y="2034581"/>
            <a:ext cx="2305144" cy="138499"/>
          </a:xfrm>
          <a:prstGeom prst="rect">
            <a:avLst/>
          </a:prstGeom>
          <a:noFill/>
        </p:spPr>
        <p:txBody>
          <a:bodyPr wrap="square" lIns="0" tIns="0" rIns="0" bIns="0" rtlCol="0">
            <a:spAutoFit/>
          </a:bodyPr>
          <a:lstStyle/>
          <a:p>
            <a:r>
              <a:rPr lang="en-US" altLang="ko-KR" sz="900" b="1" dirty="0">
                <a:latin typeface="+mn-ea"/>
              </a:rPr>
              <a:t>[</a:t>
            </a:r>
            <a:r>
              <a:rPr lang="ko-KR" altLang="en-US" sz="900" b="1" dirty="0">
                <a:latin typeface="+mn-ea"/>
              </a:rPr>
              <a:t>사용자명</a:t>
            </a:r>
            <a:r>
              <a:rPr lang="en-US" altLang="ko-KR" sz="900" b="1" dirty="0">
                <a:latin typeface="+mn-ea"/>
              </a:rPr>
              <a:t>]</a:t>
            </a:r>
            <a:endParaRPr lang="ko-KR" altLang="en-US" sz="900" b="1" dirty="0">
              <a:latin typeface="+mn-ea"/>
            </a:endParaRP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677960"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1" name="타원 80"/>
          <p:cNvSpPr/>
          <p:nvPr/>
        </p:nvSpPr>
        <p:spPr>
          <a:xfrm>
            <a:off x="873369"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타원 81"/>
          <p:cNvSpPr/>
          <p:nvPr/>
        </p:nvSpPr>
        <p:spPr>
          <a:xfrm>
            <a:off x="2759886"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3" name="타원 82"/>
          <p:cNvSpPr/>
          <p:nvPr/>
        </p:nvSpPr>
        <p:spPr>
          <a:xfrm>
            <a:off x="3073643" y="1582794"/>
            <a:ext cx="228600" cy="2286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8" name="직선 연결선 87">
            <a:extLst>
              <a:ext uri="{FF2B5EF4-FFF2-40B4-BE49-F238E27FC236}">
                <a16:creationId xmlns:a16="http://schemas.microsoft.com/office/drawing/2014/main" id="{E9293055-D5CD-4B9E-7F64-64B2D2CA7A52}"/>
              </a:ext>
            </a:extLst>
          </p:cNvPr>
          <p:cNvCxnSpPr/>
          <p:nvPr/>
        </p:nvCxnSpPr>
        <p:spPr>
          <a:xfrm>
            <a:off x="677960" y="283172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3" name="직선 연결선 42">
            <a:extLst>
              <a:ext uri="{FF2B5EF4-FFF2-40B4-BE49-F238E27FC236}">
                <a16:creationId xmlns:a16="http://schemas.microsoft.com/office/drawing/2014/main" id="{E9293055-D5CD-4B9E-7F64-64B2D2CA7A52}"/>
              </a:ext>
            </a:extLst>
          </p:cNvPr>
          <p:cNvCxnSpPr/>
          <p:nvPr/>
        </p:nvCxnSpPr>
        <p:spPr>
          <a:xfrm>
            <a:off x="721832" y="3103293"/>
            <a:ext cx="2624283"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 name="모서리가 둥근 직사각형 2"/>
          <p:cNvSpPr/>
          <p:nvPr/>
        </p:nvSpPr>
        <p:spPr>
          <a:xfrm>
            <a:off x="891228" y="2315154"/>
            <a:ext cx="434121" cy="434121"/>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모서리가 둥근 직사각형 45"/>
          <p:cNvSpPr/>
          <p:nvPr/>
        </p:nvSpPr>
        <p:spPr>
          <a:xfrm>
            <a:off x="1508351" y="2315154"/>
            <a:ext cx="434121" cy="434121"/>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7" name="모서리가 둥근 직사각형 46"/>
          <p:cNvSpPr/>
          <p:nvPr/>
        </p:nvSpPr>
        <p:spPr>
          <a:xfrm>
            <a:off x="2125474" y="2315154"/>
            <a:ext cx="434121" cy="434121"/>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모서리가 둥근 직사각형 47"/>
          <p:cNvSpPr/>
          <p:nvPr/>
        </p:nvSpPr>
        <p:spPr>
          <a:xfrm>
            <a:off x="2742597" y="2315154"/>
            <a:ext cx="434121" cy="434121"/>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0" name="TextBox 179">
            <a:extLst>
              <a:ext uri="{FF2B5EF4-FFF2-40B4-BE49-F238E27FC236}">
                <a16:creationId xmlns:a16="http://schemas.microsoft.com/office/drawing/2014/main" id="{FFC49AEA-2A8F-250C-A86A-A7751D9706C3}"/>
              </a:ext>
            </a:extLst>
          </p:cNvPr>
          <p:cNvSpPr txBox="1"/>
          <p:nvPr/>
        </p:nvSpPr>
        <p:spPr>
          <a:xfrm>
            <a:off x="878892" y="2932148"/>
            <a:ext cx="2305144" cy="138499"/>
          </a:xfrm>
          <a:prstGeom prst="rect">
            <a:avLst/>
          </a:prstGeom>
          <a:noFill/>
        </p:spPr>
        <p:txBody>
          <a:bodyPr wrap="square" lIns="0" tIns="0" rIns="0" bIns="0" rtlCol="0">
            <a:spAutoFit/>
          </a:bodyPr>
          <a:lstStyle/>
          <a:p>
            <a:r>
              <a:rPr lang="ko-KR" altLang="en-US" sz="900" b="1" dirty="0">
                <a:latin typeface="+mn-ea"/>
              </a:rPr>
              <a:t>메뉴</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878892" y="3161583"/>
            <a:ext cx="2305144" cy="123111"/>
          </a:xfrm>
          <a:prstGeom prst="rect">
            <a:avLst/>
          </a:prstGeom>
          <a:noFill/>
        </p:spPr>
        <p:txBody>
          <a:bodyPr wrap="square" lIns="0" tIns="0" rIns="0" bIns="0" rtlCol="0">
            <a:spAutoFit/>
          </a:bodyPr>
          <a:lstStyle/>
          <a:p>
            <a:r>
              <a:rPr lang="ko-KR" altLang="en-US" sz="800" dirty="0">
                <a:latin typeface="+mn-ea"/>
              </a:rPr>
              <a:t>조달계획</a:t>
            </a:r>
          </a:p>
        </p:txBody>
      </p:sp>
      <p:sp>
        <p:nvSpPr>
          <p:cNvPr id="183" name="모서리가 둥근 직사각형 182"/>
          <p:cNvSpPr/>
          <p:nvPr/>
        </p:nvSpPr>
        <p:spPr>
          <a:xfrm>
            <a:off x="891228" y="3360672"/>
            <a:ext cx="1817682"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4" name="모서리가 둥근 직사각형 183"/>
          <p:cNvSpPr/>
          <p:nvPr/>
        </p:nvSpPr>
        <p:spPr>
          <a:xfrm>
            <a:off x="891227" y="3527681"/>
            <a:ext cx="2062597"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TextBox 185">
            <a:extLst>
              <a:ext uri="{FF2B5EF4-FFF2-40B4-BE49-F238E27FC236}">
                <a16:creationId xmlns:a16="http://schemas.microsoft.com/office/drawing/2014/main" id="{FFC49AEA-2A8F-250C-A86A-A7751D9706C3}"/>
              </a:ext>
            </a:extLst>
          </p:cNvPr>
          <p:cNvSpPr txBox="1"/>
          <p:nvPr/>
        </p:nvSpPr>
        <p:spPr>
          <a:xfrm>
            <a:off x="878892" y="3776797"/>
            <a:ext cx="2305144" cy="123111"/>
          </a:xfrm>
          <a:prstGeom prst="rect">
            <a:avLst/>
          </a:prstGeom>
          <a:noFill/>
        </p:spPr>
        <p:txBody>
          <a:bodyPr wrap="square" lIns="0" tIns="0" rIns="0" bIns="0" rtlCol="0">
            <a:spAutoFit/>
          </a:bodyPr>
          <a:lstStyle/>
          <a:p>
            <a:r>
              <a:rPr lang="ko-KR" altLang="en-US" sz="800" dirty="0">
                <a:latin typeface="+mn-ea"/>
              </a:rPr>
              <a:t>입찰</a:t>
            </a:r>
          </a:p>
        </p:txBody>
      </p:sp>
      <p:sp>
        <p:nvSpPr>
          <p:cNvPr id="187" name="모서리가 둥근 직사각형 186"/>
          <p:cNvSpPr/>
          <p:nvPr/>
        </p:nvSpPr>
        <p:spPr>
          <a:xfrm>
            <a:off x="891228" y="3975886"/>
            <a:ext cx="1817682"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8" name="모서리가 둥근 직사각형 187"/>
          <p:cNvSpPr/>
          <p:nvPr/>
        </p:nvSpPr>
        <p:spPr>
          <a:xfrm>
            <a:off x="891227" y="4142895"/>
            <a:ext cx="2062597"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1011117" y="2620465"/>
            <a:ext cx="214311" cy="123111"/>
          </a:xfrm>
          <a:prstGeom prst="rect">
            <a:avLst/>
          </a:prstGeom>
          <a:noFill/>
        </p:spPr>
        <p:txBody>
          <a:bodyPr wrap="square" lIns="0" tIns="0" rIns="0" bIns="0" rtlCol="0">
            <a:noAutofit/>
          </a:bodyPr>
          <a:lstStyle/>
          <a:p>
            <a:r>
              <a:rPr lang="ko-KR" altLang="en-US" sz="800" dirty="0">
                <a:latin typeface="+mn-ea"/>
              </a:rPr>
              <a:t>입찰</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878892" y="4447082"/>
            <a:ext cx="2305144" cy="123111"/>
          </a:xfrm>
          <a:prstGeom prst="rect">
            <a:avLst/>
          </a:prstGeom>
          <a:noFill/>
        </p:spPr>
        <p:txBody>
          <a:bodyPr wrap="square" lIns="0" tIns="0" rIns="0" bIns="0" rtlCol="0">
            <a:spAutoFit/>
          </a:bodyPr>
          <a:lstStyle/>
          <a:p>
            <a:r>
              <a:rPr lang="ko-KR" altLang="en-US" sz="800" dirty="0">
                <a:latin typeface="+mn-ea"/>
              </a:rPr>
              <a:t>계약</a:t>
            </a:r>
          </a:p>
        </p:txBody>
      </p:sp>
      <p:sp>
        <p:nvSpPr>
          <p:cNvPr id="129" name="모서리가 둥근 직사각형 128"/>
          <p:cNvSpPr/>
          <p:nvPr/>
        </p:nvSpPr>
        <p:spPr>
          <a:xfrm>
            <a:off x="891228" y="4646171"/>
            <a:ext cx="1817682"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모서리가 둥근 직사각형 132"/>
          <p:cNvSpPr/>
          <p:nvPr/>
        </p:nvSpPr>
        <p:spPr>
          <a:xfrm>
            <a:off x="891227" y="4813180"/>
            <a:ext cx="2062597"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6" name="직선 연결선 135">
            <a:extLst>
              <a:ext uri="{FF2B5EF4-FFF2-40B4-BE49-F238E27FC236}">
                <a16:creationId xmlns:a16="http://schemas.microsoft.com/office/drawing/2014/main" id="{E9293055-D5CD-4B9E-7F64-64B2D2CA7A52}"/>
              </a:ext>
            </a:extLst>
          </p:cNvPr>
          <p:cNvCxnSpPr/>
          <p:nvPr/>
        </p:nvCxnSpPr>
        <p:spPr>
          <a:xfrm>
            <a:off x="721832" y="3722363"/>
            <a:ext cx="2624283"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21832" y="4359289"/>
            <a:ext cx="2624283"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38" name="그룹 137"/>
          <p:cNvGrpSpPr/>
          <p:nvPr/>
        </p:nvGrpSpPr>
        <p:grpSpPr>
          <a:xfrm flipV="1">
            <a:off x="3124233" y="3199636"/>
            <a:ext cx="94010" cy="47005"/>
            <a:chOff x="6812560" y="3297172"/>
            <a:chExt cx="94010" cy="47005"/>
          </a:xfrm>
        </p:grpSpPr>
        <p:cxnSp>
          <p:nvCxnSpPr>
            <p:cNvPr id="139" name="직선 연결선 1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0" name="직선 연결선 1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41" name="그룹 140"/>
          <p:cNvGrpSpPr/>
          <p:nvPr/>
        </p:nvGrpSpPr>
        <p:grpSpPr>
          <a:xfrm flipV="1">
            <a:off x="3124233" y="3814850"/>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7" name="직선 연결선 15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58" name="그룹 157"/>
          <p:cNvGrpSpPr/>
          <p:nvPr/>
        </p:nvGrpSpPr>
        <p:grpSpPr>
          <a:xfrm flipV="1">
            <a:off x="3124233" y="4485135"/>
            <a:ext cx="94010" cy="47005"/>
            <a:chOff x="6812560" y="3297172"/>
            <a:chExt cx="94010" cy="47005"/>
          </a:xfrm>
        </p:grpSpPr>
        <p:cxnSp>
          <p:nvCxnSpPr>
            <p:cNvPr id="159" name="직선 연결선 15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0" name="직선 연결선 15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1" name="TextBox 160">
            <a:extLst>
              <a:ext uri="{FF2B5EF4-FFF2-40B4-BE49-F238E27FC236}">
                <a16:creationId xmlns:a16="http://schemas.microsoft.com/office/drawing/2014/main" id="{FFC49AEA-2A8F-250C-A86A-A7751D9706C3}"/>
              </a:ext>
            </a:extLst>
          </p:cNvPr>
          <p:cNvSpPr txBox="1"/>
          <p:nvPr/>
        </p:nvSpPr>
        <p:spPr>
          <a:xfrm>
            <a:off x="878892" y="5120611"/>
            <a:ext cx="2305144" cy="123111"/>
          </a:xfrm>
          <a:prstGeom prst="rect">
            <a:avLst/>
          </a:prstGeom>
          <a:noFill/>
        </p:spPr>
        <p:txBody>
          <a:bodyPr wrap="square" lIns="0" tIns="0" rIns="0" bIns="0" rtlCol="0">
            <a:spAutoFit/>
          </a:bodyPr>
          <a:lstStyle/>
          <a:p>
            <a:r>
              <a:rPr lang="ko-KR" altLang="en-US" sz="800" dirty="0">
                <a:latin typeface="+mn-ea"/>
              </a:rPr>
              <a:t>대금</a:t>
            </a:r>
            <a:r>
              <a:rPr lang="en-US" altLang="ko-KR" sz="800" dirty="0">
                <a:latin typeface="+mn-ea"/>
              </a:rPr>
              <a:t>/</a:t>
            </a:r>
            <a:r>
              <a:rPr lang="ko-KR" altLang="en-US" sz="800" dirty="0">
                <a:latin typeface="+mn-ea"/>
              </a:rPr>
              <a:t>사후</a:t>
            </a:r>
          </a:p>
        </p:txBody>
      </p:sp>
      <p:sp>
        <p:nvSpPr>
          <p:cNvPr id="162" name="모서리가 둥근 직사각형 161"/>
          <p:cNvSpPr/>
          <p:nvPr/>
        </p:nvSpPr>
        <p:spPr>
          <a:xfrm>
            <a:off x="891228" y="5319700"/>
            <a:ext cx="1817682"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3" name="모서리가 둥근 직사각형 162"/>
          <p:cNvSpPr/>
          <p:nvPr/>
        </p:nvSpPr>
        <p:spPr>
          <a:xfrm>
            <a:off x="891227" y="5486709"/>
            <a:ext cx="2062597"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6" name="직선 연결선 165">
            <a:extLst>
              <a:ext uri="{FF2B5EF4-FFF2-40B4-BE49-F238E27FC236}">
                <a16:creationId xmlns:a16="http://schemas.microsoft.com/office/drawing/2014/main" id="{E9293055-D5CD-4B9E-7F64-64B2D2CA7A52}"/>
              </a:ext>
            </a:extLst>
          </p:cNvPr>
          <p:cNvCxnSpPr/>
          <p:nvPr/>
        </p:nvCxnSpPr>
        <p:spPr>
          <a:xfrm>
            <a:off x="721832" y="5032818"/>
            <a:ext cx="2624283"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68" name="그룹 167"/>
          <p:cNvGrpSpPr/>
          <p:nvPr/>
        </p:nvGrpSpPr>
        <p:grpSpPr>
          <a:xfrm flipV="1">
            <a:off x="3124233" y="5158664"/>
            <a:ext cx="94010" cy="47005"/>
            <a:chOff x="6812560" y="3297172"/>
            <a:chExt cx="94010" cy="47005"/>
          </a:xfrm>
        </p:grpSpPr>
        <p:cxnSp>
          <p:nvCxnSpPr>
            <p:cNvPr id="169" name="직선 연결선 16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0" name="직선 연결선 16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89" name="그룹 188">
            <a:extLst>
              <a:ext uri="{FF2B5EF4-FFF2-40B4-BE49-F238E27FC236}">
                <a16:creationId xmlns:a16="http://schemas.microsoft.com/office/drawing/2014/main" id="{22BC05EE-C648-7CA2-4CCC-6E1C1A7E9BDA}"/>
              </a:ext>
            </a:extLst>
          </p:cNvPr>
          <p:cNvGrpSpPr/>
          <p:nvPr/>
        </p:nvGrpSpPr>
        <p:grpSpPr>
          <a:xfrm>
            <a:off x="1992981" y="5897889"/>
            <a:ext cx="76863" cy="292489"/>
            <a:chOff x="3750067" y="4683795"/>
            <a:chExt cx="76863" cy="292489"/>
          </a:xfrm>
        </p:grpSpPr>
        <p:sp>
          <p:nvSpPr>
            <p:cNvPr id="190" name="타원 18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91" name="타원 19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92" name="타원 19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93" name="TextBox 192">
            <a:extLst>
              <a:ext uri="{FF2B5EF4-FFF2-40B4-BE49-F238E27FC236}">
                <a16:creationId xmlns:a16="http://schemas.microsoft.com/office/drawing/2014/main" id="{FFC49AEA-2A8F-250C-A86A-A7751D9706C3}"/>
              </a:ext>
            </a:extLst>
          </p:cNvPr>
          <p:cNvSpPr txBox="1"/>
          <p:nvPr/>
        </p:nvSpPr>
        <p:spPr>
          <a:xfrm>
            <a:off x="881401" y="2006534"/>
            <a:ext cx="2305144" cy="215444"/>
          </a:xfrm>
          <a:prstGeom prst="rect">
            <a:avLst/>
          </a:prstGeom>
          <a:noFill/>
        </p:spPr>
        <p:txBody>
          <a:bodyPr wrap="square" lIns="0" tIns="0" rIns="0" bIns="0" rtlCol="0">
            <a:spAutoFit/>
          </a:bodyPr>
          <a:lstStyle/>
          <a:p>
            <a:pPr algn="r"/>
            <a:r>
              <a:rPr lang="ko-KR" altLang="en-US" sz="700" dirty="0">
                <a:latin typeface="+mn-ea"/>
              </a:rPr>
              <a:t>최근 로그인</a:t>
            </a:r>
            <a:endParaRPr lang="en-US" altLang="ko-KR" sz="700" dirty="0">
              <a:latin typeface="+mn-ea"/>
            </a:endParaRPr>
          </a:p>
          <a:p>
            <a:pPr algn="r"/>
            <a:r>
              <a:rPr lang="en-US" altLang="ko-KR" sz="700" dirty="0">
                <a:latin typeface="+mn-ea"/>
              </a:rPr>
              <a:t>2025-10-30 13:42:22</a:t>
            </a:r>
            <a:endParaRPr lang="ko-KR" altLang="en-US" sz="700" dirty="0">
              <a:latin typeface="+mn-ea"/>
            </a:endParaRPr>
          </a:p>
        </p:txBody>
      </p:sp>
      <p:sp>
        <p:nvSpPr>
          <p:cNvPr id="194" name="타원 193">
            <a:extLst>
              <a:ext uri="{FF2B5EF4-FFF2-40B4-BE49-F238E27FC236}">
                <a16:creationId xmlns:a16="http://schemas.microsoft.com/office/drawing/2014/main" id="{37A7FF4F-0EAA-1463-560A-D5EC24416103}"/>
              </a:ext>
            </a:extLst>
          </p:cNvPr>
          <p:cNvSpPr/>
          <p:nvPr/>
        </p:nvSpPr>
        <p:spPr>
          <a:xfrm>
            <a:off x="573754" y="159227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95" name="타원 194">
            <a:extLst>
              <a:ext uri="{FF2B5EF4-FFF2-40B4-BE49-F238E27FC236}">
                <a16:creationId xmlns:a16="http://schemas.microsoft.com/office/drawing/2014/main" id="{37A7FF4F-0EAA-1463-560A-D5EC24416103}"/>
              </a:ext>
            </a:extLst>
          </p:cNvPr>
          <p:cNvSpPr/>
          <p:nvPr/>
        </p:nvSpPr>
        <p:spPr>
          <a:xfrm>
            <a:off x="573754" y="204919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96" name="타원 195">
            <a:extLst>
              <a:ext uri="{FF2B5EF4-FFF2-40B4-BE49-F238E27FC236}">
                <a16:creationId xmlns:a16="http://schemas.microsoft.com/office/drawing/2014/main" id="{37A7FF4F-0EAA-1463-560A-D5EC24416103}"/>
              </a:ext>
            </a:extLst>
          </p:cNvPr>
          <p:cNvSpPr/>
          <p:nvPr/>
        </p:nvSpPr>
        <p:spPr>
          <a:xfrm>
            <a:off x="573754" y="350831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58" name="직사각형 57"/>
          <p:cNvSpPr/>
          <p:nvPr/>
        </p:nvSpPr>
        <p:spPr>
          <a:xfrm>
            <a:off x="7056784" y="6395830"/>
            <a:ext cx="2378816" cy="69149"/>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500" dirty="0"/>
              <a:t>감리 추가 사항 </a:t>
            </a:r>
            <a:r>
              <a:rPr lang="en-US" altLang="ko-KR" sz="500" dirty="0"/>
              <a:t>2026-04-08</a:t>
            </a:r>
            <a:endParaRPr lang="ko-KR" altLang="en-US" sz="500" dirty="0"/>
          </a:p>
        </p:txBody>
      </p:sp>
    </p:spTree>
    <p:extLst>
      <p:ext uri="{BB962C8B-B14F-4D97-AF65-F5344CB8AC3E}">
        <p14:creationId xmlns:p14="http://schemas.microsoft.com/office/powerpoint/2010/main" val="7691493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알림 표시 영역</a:t>
            </a:r>
            <a:r>
              <a:rPr lang="en-US" altLang="ko-KR" dirty="0"/>
              <a:t/>
            </a:r>
            <a:br>
              <a:rPr lang="en-US" altLang="ko-KR" dirty="0"/>
            </a:br>
            <a:r>
              <a:rPr lang="en-US" altLang="ko-KR" dirty="0"/>
              <a:t>- </a:t>
            </a:r>
            <a:r>
              <a:rPr lang="ko-KR" altLang="en-US" dirty="0"/>
              <a:t>클릭 시 </a:t>
            </a:r>
            <a:r>
              <a:rPr lang="ko-KR" altLang="en-US" dirty="0" err="1"/>
              <a:t>딥링크를</a:t>
            </a:r>
            <a:r>
              <a:rPr lang="ko-KR" altLang="en-US" dirty="0"/>
              <a:t> 통해 해당 내역으로 이동</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알림 현황</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알림 현황</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메인 홈 </a:t>
            </a:r>
            <a:r>
              <a:rPr lang="en-US" altLang="ko-KR" dirty="0"/>
              <a:t>&gt; </a:t>
            </a:r>
            <a:r>
              <a:rPr lang="ko-KR" altLang="en-US" dirty="0">
                <a:latin typeface="+mn-ea"/>
              </a:rPr>
              <a:t>알림 현황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sz="800" dirty="0">
                <a:solidFill>
                  <a:srgbClr val="000000"/>
                </a:solidFill>
                <a:latin typeface="맑은 고딕" panose="020B0503020000020004" pitchFamily="50" charset="-127"/>
              </a:rPr>
              <a:t>MUI-MS-01-M13</a:t>
            </a:r>
            <a:endParaRPr lang="ko-KR" altLang="en-US" dirty="0"/>
          </a:p>
        </p:txBody>
      </p:sp>
      <p:sp>
        <p:nvSpPr>
          <p:cNvPr id="14" name="직사각형 13">
            <a:extLst>
              <a:ext uri="{FF2B5EF4-FFF2-40B4-BE49-F238E27FC236}">
                <a16:creationId xmlns:a16="http://schemas.microsoft.com/office/drawing/2014/main" id="{F56F1743-11A0-EA94-9184-4E42C0A37F9C}"/>
              </a:ext>
            </a:extLst>
          </p:cNvPr>
          <p:cNvSpPr/>
          <p:nvPr/>
        </p:nvSpPr>
        <p:spPr>
          <a:xfrm>
            <a:off x="677960"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2" name="TextBox 181">
            <a:extLst>
              <a:ext uri="{FF2B5EF4-FFF2-40B4-BE49-F238E27FC236}">
                <a16:creationId xmlns:a16="http://schemas.microsoft.com/office/drawing/2014/main" id="{FFC49AEA-2A8F-250C-A86A-A7751D9706C3}"/>
              </a:ext>
            </a:extLst>
          </p:cNvPr>
          <p:cNvSpPr txBox="1"/>
          <p:nvPr/>
        </p:nvSpPr>
        <p:spPr>
          <a:xfrm>
            <a:off x="878892" y="1969936"/>
            <a:ext cx="2305144" cy="123111"/>
          </a:xfrm>
          <a:prstGeom prst="rect">
            <a:avLst/>
          </a:prstGeom>
          <a:noFill/>
        </p:spPr>
        <p:txBody>
          <a:bodyPr wrap="square" lIns="0" tIns="0" rIns="0" bIns="0" rtlCol="0">
            <a:spAutoFit/>
          </a:bodyPr>
          <a:lstStyle/>
          <a:p>
            <a:r>
              <a:rPr lang="ko-KR" altLang="en-US" sz="800" dirty="0" err="1">
                <a:latin typeface="+mn-ea"/>
              </a:rPr>
              <a:t>조달계획이</a:t>
            </a:r>
            <a:r>
              <a:rPr lang="ko-KR" altLang="en-US" sz="800" dirty="0">
                <a:latin typeface="+mn-ea"/>
              </a:rPr>
              <a:t> 등록되었습니다</a:t>
            </a:r>
            <a:r>
              <a:rPr lang="en-US" altLang="ko-KR" sz="800" dirty="0">
                <a:latin typeface="+mn-ea"/>
              </a:rPr>
              <a:t>.</a:t>
            </a:r>
            <a:endParaRPr lang="ko-KR" altLang="en-US" sz="800" dirty="0">
              <a:latin typeface="+mn-ea"/>
            </a:endParaRPr>
          </a:p>
        </p:txBody>
      </p:sp>
      <p:sp>
        <p:nvSpPr>
          <p:cNvPr id="183" name="모서리가 둥근 직사각형 182"/>
          <p:cNvSpPr/>
          <p:nvPr/>
        </p:nvSpPr>
        <p:spPr>
          <a:xfrm>
            <a:off x="891228" y="2169025"/>
            <a:ext cx="1817682"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TextBox 185">
            <a:extLst>
              <a:ext uri="{FF2B5EF4-FFF2-40B4-BE49-F238E27FC236}">
                <a16:creationId xmlns:a16="http://schemas.microsoft.com/office/drawing/2014/main" id="{FFC49AEA-2A8F-250C-A86A-A7751D9706C3}"/>
              </a:ext>
            </a:extLst>
          </p:cNvPr>
          <p:cNvSpPr txBox="1"/>
          <p:nvPr/>
        </p:nvSpPr>
        <p:spPr>
          <a:xfrm>
            <a:off x="878892" y="2585150"/>
            <a:ext cx="2305144" cy="123111"/>
          </a:xfrm>
          <a:prstGeom prst="rect">
            <a:avLst/>
          </a:prstGeom>
          <a:noFill/>
        </p:spPr>
        <p:txBody>
          <a:bodyPr wrap="square" lIns="0" tIns="0" rIns="0" bIns="0" rtlCol="0">
            <a:spAutoFit/>
          </a:bodyPr>
          <a:lstStyle/>
          <a:p>
            <a:r>
              <a:rPr lang="ko-KR" altLang="en-US" sz="800" dirty="0">
                <a:latin typeface="+mn-ea"/>
              </a:rPr>
              <a:t>입찰참가 신청 결과가 등록되었습니다</a:t>
            </a:r>
            <a:r>
              <a:rPr lang="en-US" altLang="ko-KR" sz="800" dirty="0">
                <a:latin typeface="+mn-ea"/>
              </a:rPr>
              <a:t>.</a:t>
            </a:r>
            <a:endParaRPr lang="ko-KR" altLang="en-US" sz="800" dirty="0">
              <a:latin typeface="+mn-ea"/>
            </a:endParaRPr>
          </a:p>
        </p:txBody>
      </p:sp>
      <p:sp>
        <p:nvSpPr>
          <p:cNvPr id="187" name="모서리가 둥근 직사각형 186"/>
          <p:cNvSpPr/>
          <p:nvPr/>
        </p:nvSpPr>
        <p:spPr>
          <a:xfrm>
            <a:off x="891228" y="2784239"/>
            <a:ext cx="1817682"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8" name="TextBox 127">
            <a:extLst>
              <a:ext uri="{FF2B5EF4-FFF2-40B4-BE49-F238E27FC236}">
                <a16:creationId xmlns:a16="http://schemas.microsoft.com/office/drawing/2014/main" id="{FFC49AEA-2A8F-250C-A86A-A7751D9706C3}"/>
              </a:ext>
            </a:extLst>
          </p:cNvPr>
          <p:cNvSpPr txBox="1"/>
          <p:nvPr/>
        </p:nvSpPr>
        <p:spPr>
          <a:xfrm>
            <a:off x="878892" y="3255435"/>
            <a:ext cx="2305144" cy="123111"/>
          </a:xfrm>
          <a:prstGeom prst="rect">
            <a:avLst/>
          </a:prstGeom>
          <a:noFill/>
        </p:spPr>
        <p:txBody>
          <a:bodyPr wrap="square" lIns="0" tIns="0" rIns="0" bIns="0" rtlCol="0">
            <a:spAutoFit/>
          </a:bodyPr>
          <a:lstStyle/>
          <a:p>
            <a:r>
              <a:rPr lang="ko-KR" altLang="en-US" sz="800" dirty="0">
                <a:latin typeface="+mn-ea"/>
              </a:rPr>
              <a:t>계약이 완료되었습니다</a:t>
            </a:r>
            <a:r>
              <a:rPr lang="en-US" altLang="ko-KR" sz="800" dirty="0">
                <a:latin typeface="+mn-ea"/>
              </a:rPr>
              <a:t>.</a:t>
            </a:r>
            <a:endParaRPr lang="ko-KR" altLang="en-US" sz="800" dirty="0">
              <a:latin typeface="+mn-ea"/>
            </a:endParaRPr>
          </a:p>
        </p:txBody>
      </p:sp>
      <p:sp>
        <p:nvSpPr>
          <p:cNvPr id="129" name="모서리가 둥근 직사각형 128"/>
          <p:cNvSpPr/>
          <p:nvPr/>
        </p:nvSpPr>
        <p:spPr>
          <a:xfrm>
            <a:off x="891228" y="3454524"/>
            <a:ext cx="1817682"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6" name="직선 연결선 135">
            <a:extLst>
              <a:ext uri="{FF2B5EF4-FFF2-40B4-BE49-F238E27FC236}">
                <a16:creationId xmlns:a16="http://schemas.microsoft.com/office/drawing/2014/main" id="{E9293055-D5CD-4B9E-7F64-64B2D2CA7A52}"/>
              </a:ext>
            </a:extLst>
          </p:cNvPr>
          <p:cNvCxnSpPr/>
          <p:nvPr/>
        </p:nvCxnSpPr>
        <p:spPr>
          <a:xfrm>
            <a:off x="721832" y="2530716"/>
            <a:ext cx="2624283"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21832" y="3167642"/>
            <a:ext cx="2624283"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TextBox 160">
            <a:extLst>
              <a:ext uri="{FF2B5EF4-FFF2-40B4-BE49-F238E27FC236}">
                <a16:creationId xmlns:a16="http://schemas.microsoft.com/office/drawing/2014/main" id="{FFC49AEA-2A8F-250C-A86A-A7751D9706C3}"/>
              </a:ext>
            </a:extLst>
          </p:cNvPr>
          <p:cNvSpPr txBox="1"/>
          <p:nvPr/>
        </p:nvSpPr>
        <p:spPr>
          <a:xfrm>
            <a:off x="878892" y="3928964"/>
            <a:ext cx="2305144" cy="123111"/>
          </a:xfrm>
          <a:prstGeom prst="rect">
            <a:avLst/>
          </a:prstGeom>
          <a:noFill/>
        </p:spPr>
        <p:txBody>
          <a:bodyPr wrap="square" lIns="0" tIns="0" rIns="0" bIns="0" rtlCol="0">
            <a:spAutoFit/>
          </a:bodyPr>
          <a:lstStyle/>
          <a:p>
            <a:r>
              <a:rPr lang="ko-KR" altLang="en-US" sz="800" dirty="0">
                <a:latin typeface="+mn-ea"/>
              </a:rPr>
              <a:t>대금</a:t>
            </a:r>
            <a:r>
              <a:rPr lang="en-US" altLang="ko-KR" sz="800" dirty="0">
                <a:latin typeface="+mn-ea"/>
              </a:rPr>
              <a:t>/</a:t>
            </a:r>
            <a:r>
              <a:rPr lang="ko-KR" altLang="en-US" sz="800" dirty="0">
                <a:latin typeface="+mn-ea"/>
              </a:rPr>
              <a:t>사후 수정 내역이 처리되었습니다</a:t>
            </a:r>
            <a:r>
              <a:rPr lang="en-US" altLang="ko-KR" sz="800" dirty="0">
                <a:latin typeface="+mn-ea"/>
              </a:rPr>
              <a:t>.</a:t>
            </a:r>
            <a:endParaRPr lang="ko-KR" altLang="en-US" sz="800" dirty="0">
              <a:latin typeface="+mn-ea"/>
            </a:endParaRPr>
          </a:p>
        </p:txBody>
      </p:sp>
      <p:sp>
        <p:nvSpPr>
          <p:cNvPr id="162" name="모서리가 둥근 직사각형 161"/>
          <p:cNvSpPr/>
          <p:nvPr/>
        </p:nvSpPr>
        <p:spPr>
          <a:xfrm>
            <a:off x="891228" y="4128053"/>
            <a:ext cx="1817682" cy="126000"/>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6" name="직선 연결선 165">
            <a:extLst>
              <a:ext uri="{FF2B5EF4-FFF2-40B4-BE49-F238E27FC236}">
                <a16:creationId xmlns:a16="http://schemas.microsoft.com/office/drawing/2014/main" id="{E9293055-D5CD-4B9E-7F64-64B2D2CA7A52}"/>
              </a:ext>
            </a:extLst>
          </p:cNvPr>
          <p:cNvCxnSpPr/>
          <p:nvPr/>
        </p:nvCxnSpPr>
        <p:spPr>
          <a:xfrm>
            <a:off x="721832" y="3841171"/>
            <a:ext cx="2624283"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89" name="그룹 188">
            <a:extLst>
              <a:ext uri="{FF2B5EF4-FFF2-40B4-BE49-F238E27FC236}">
                <a16:creationId xmlns:a16="http://schemas.microsoft.com/office/drawing/2014/main" id="{22BC05EE-C648-7CA2-4CCC-6E1C1A7E9BDA}"/>
              </a:ext>
            </a:extLst>
          </p:cNvPr>
          <p:cNvGrpSpPr/>
          <p:nvPr/>
        </p:nvGrpSpPr>
        <p:grpSpPr>
          <a:xfrm>
            <a:off x="1992981" y="4950686"/>
            <a:ext cx="76863" cy="292489"/>
            <a:chOff x="3750067" y="4683795"/>
            <a:chExt cx="76863" cy="292489"/>
          </a:xfrm>
        </p:grpSpPr>
        <p:sp>
          <p:nvSpPr>
            <p:cNvPr id="190" name="타원 18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91" name="타원 19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92" name="타원 19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93" name="TextBox 192">
            <a:extLst>
              <a:ext uri="{FF2B5EF4-FFF2-40B4-BE49-F238E27FC236}">
                <a16:creationId xmlns:a16="http://schemas.microsoft.com/office/drawing/2014/main" id="{FFC49AEA-2A8F-250C-A86A-A7751D9706C3}"/>
              </a:ext>
            </a:extLst>
          </p:cNvPr>
          <p:cNvSpPr txBox="1"/>
          <p:nvPr/>
        </p:nvSpPr>
        <p:spPr>
          <a:xfrm>
            <a:off x="878892" y="2335073"/>
            <a:ext cx="991985" cy="107722"/>
          </a:xfrm>
          <a:prstGeom prst="rect">
            <a:avLst/>
          </a:prstGeom>
          <a:noFill/>
        </p:spPr>
        <p:txBody>
          <a:bodyPr wrap="square" lIns="0" tIns="0" rIns="0" bIns="0" rtlCol="0">
            <a:spAutoFit/>
          </a:bodyPr>
          <a:lstStyle/>
          <a:p>
            <a:r>
              <a:rPr lang="en-US" altLang="ko-KR" sz="700" dirty="0">
                <a:latin typeface="+mn-ea"/>
              </a:rPr>
              <a:t>2025-10-30 13:42:22</a:t>
            </a:r>
            <a:endParaRPr lang="ko-KR" altLang="en-US" sz="700" dirty="0">
              <a:latin typeface="+mn-ea"/>
            </a:endParaRPr>
          </a:p>
        </p:txBody>
      </p:sp>
      <p:cxnSp>
        <p:nvCxnSpPr>
          <p:cNvPr id="57" name="직선 연결선 56">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8" name="그룹 57"/>
          <p:cNvGrpSpPr/>
          <p:nvPr/>
        </p:nvGrpSpPr>
        <p:grpSpPr>
          <a:xfrm>
            <a:off x="3138377" y="1650089"/>
            <a:ext cx="94010" cy="94010"/>
            <a:chOff x="6812560" y="3297172"/>
            <a:chExt cx="94010" cy="94010"/>
          </a:xfrm>
        </p:grpSpPr>
        <p:cxnSp>
          <p:nvCxnSpPr>
            <p:cNvPr id="59" name="직선 연결선 5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60" name="직선 연결선 5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62" name="TextBox 61">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알림현황</a:t>
            </a:r>
            <a:endParaRPr lang="ko-KR" altLang="en-US" sz="900" dirty="0">
              <a:latin typeface="+mn-ea"/>
            </a:endParaRPr>
          </a:p>
        </p:txBody>
      </p:sp>
      <p:sp>
        <p:nvSpPr>
          <p:cNvPr id="65" name="TextBox 64">
            <a:extLst>
              <a:ext uri="{FF2B5EF4-FFF2-40B4-BE49-F238E27FC236}">
                <a16:creationId xmlns:a16="http://schemas.microsoft.com/office/drawing/2014/main" id="{FFC49AEA-2A8F-250C-A86A-A7751D9706C3}"/>
              </a:ext>
            </a:extLst>
          </p:cNvPr>
          <p:cNvSpPr txBox="1"/>
          <p:nvPr/>
        </p:nvSpPr>
        <p:spPr>
          <a:xfrm>
            <a:off x="878892" y="2998031"/>
            <a:ext cx="991985" cy="107722"/>
          </a:xfrm>
          <a:prstGeom prst="rect">
            <a:avLst/>
          </a:prstGeom>
          <a:noFill/>
        </p:spPr>
        <p:txBody>
          <a:bodyPr wrap="square" lIns="0" tIns="0" rIns="0" bIns="0" rtlCol="0">
            <a:spAutoFit/>
          </a:bodyPr>
          <a:lstStyle/>
          <a:p>
            <a:r>
              <a:rPr lang="en-US" altLang="ko-KR" sz="700" dirty="0">
                <a:latin typeface="+mn-ea"/>
              </a:rPr>
              <a:t>2025-10-30 13:42:22</a:t>
            </a:r>
            <a:endParaRPr lang="ko-KR" altLang="en-US" sz="700" dirty="0">
              <a:latin typeface="+mn-ea"/>
            </a:endParaRPr>
          </a:p>
        </p:txBody>
      </p:sp>
      <p:sp>
        <p:nvSpPr>
          <p:cNvPr id="67" name="TextBox 66">
            <a:extLst>
              <a:ext uri="{FF2B5EF4-FFF2-40B4-BE49-F238E27FC236}">
                <a16:creationId xmlns:a16="http://schemas.microsoft.com/office/drawing/2014/main" id="{FFC49AEA-2A8F-250C-A86A-A7751D9706C3}"/>
              </a:ext>
            </a:extLst>
          </p:cNvPr>
          <p:cNvSpPr txBox="1"/>
          <p:nvPr/>
        </p:nvSpPr>
        <p:spPr>
          <a:xfrm>
            <a:off x="878892" y="3634956"/>
            <a:ext cx="991985" cy="107722"/>
          </a:xfrm>
          <a:prstGeom prst="rect">
            <a:avLst/>
          </a:prstGeom>
          <a:noFill/>
        </p:spPr>
        <p:txBody>
          <a:bodyPr wrap="square" lIns="0" tIns="0" rIns="0" bIns="0" rtlCol="0">
            <a:spAutoFit/>
          </a:bodyPr>
          <a:lstStyle/>
          <a:p>
            <a:r>
              <a:rPr lang="en-US" altLang="ko-KR" sz="700" dirty="0">
                <a:latin typeface="+mn-ea"/>
              </a:rPr>
              <a:t>2025-10-30 13:42:22</a:t>
            </a:r>
            <a:endParaRPr lang="ko-KR" altLang="en-US" sz="700" dirty="0">
              <a:latin typeface="+mn-ea"/>
            </a:endParaRPr>
          </a:p>
        </p:txBody>
      </p:sp>
      <p:sp>
        <p:nvSpPr>
          <p:cNvPr id="69" name="TextBox 68">
            <a:extLst>
              <a:ext uri="{FF2B5EF4-FFF2-40B4-BE49-F238E27FC236}">
                <a16:creationId xmlns:a16="http://schemas.microsoft.com/office/drawing/2014/main" id="{FFC49AEA-2A8F-250C-A86A-A7751D9706C3}"/>
              </a:ext>
            </a:extLst>
          </p:cNvPr>
          <p:cNvSpPr txBox="1"/>
          <p:nvPr/>
        </p:nvSpPr>
        <p:spPr>
          <a:xfrm>
            <a:off x="878892" y="4331596"/>
            <a:ext cx="991985" cy="107722"/>
          </a:xfrm>
          <a:prstGeom prst="rect">
            <a:avLst/>
          </a:prstGeom>
          <a:noFill/>
        </p:spPr>
        <p:txBody>
          <a:bodyPr wrap="square" lIns="0" tIns="0" rIns="0" bIns="0" rtlCol="0">
            <a:spAutoFit/>
          </a:bodyPr>
          <a:lstStyle/>
          <a:p>
            <a:r>
              <a:rPr lang="en-US" altLang="ko-KR" sz="700" dirty="0">
                <a:latin typeface="+mn-ea"/>
              </a:rPr>
              <a:t>2025-10-30 13:42:22</a:t>
            </a:r>
            <a:endParaRPr lang="ko-KR" altLang="en-US" sz="700" dirty="0">
              <a:latin typeface="+mn-ea"/>
            </a:endParaRPr>
          </a:p>
        </p:txBody>
      </p:sp>
      <p:sp>
        <p:nvSpPr>
          <p:cNvPr id="70" name="타원 69">
            <a:extLst>
              <a:ext uri="{FF2B5EF4-FFF2-40B4-BE49-F238E27FC236}">
                <a16:creationId xmlns:a16="http://schemas.microsoft.com/office/drawing/2014/main" id="{37A7FF4F-0EAA-1463-560A-D5EC24416103}"/>
              </a:ext>
            </a:extLst>
          </p:cNvPr>
          <p:cNvSpPr/>
          <p:nvPr/>
        </p:nvSpPr>
        <p:spPr>
          <a:xfrm>
            <a:off x="573754" y="159227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71" name="타원 70">
            <a:extLst>
              <a:ext uri="{FF2B5EF4-FFF2-40B4-BE49-F238E27FC236}">
                <a16:creationId xmlns:a16="http://schemas.microsoft.com/office/drawing/2014/main" id="{37A7FF4F-0EAA-1463-560A-D5EC24416103}"/>
              </a:ext>
            </a:extLst>
          </p:cNvPr>
          <p:cNvSpPr/>
          <p:nvPr/>
        </p:nvSpPr>
        <p:spPr>
          <a:xfrm>
            <a:off x="573754" y="204919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6" name="직사각형 35"/>
          <p:cNvSpPr/>
          <p:nvPr/>
        </p:nvSpPr>
        <p:spPr>
          <a:xfrm>
            <a:off x="7056784" y="6395830"/>
            <a:ext cx="2378816" cy="69149"/>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500" dirty="0"/>
              <a:t>감리 추가 사항 </a:t>
            </a:r>
            <a:r>
              <a:rPr lang="en-US" altLang="ko-KR" sz="500" dirty="0"/>
              <a:t>2026-04-08</a:t>
            </a:r>
            <a:endParaRPr lang="ko-KR" altLang="en-US" sz="500" dirty="0"/>
          </a:p>
        </p:txBody>
      </p:sp>
    </p:spTree>
    <p:extLst>
      <p:ext uri="{BB962C8B-B14F-4D97-AF65-F5344CB8AC3E}">
        <p14:creationId xmlns:p14="http://schemas.microsoft.com/office/powerpoint/2010/main" val="8740793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9</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1. </a:t>
            </a:r>
            <a:r>
              <a:rPr lang="ko-KR" altLang="en-US" dirty="0"/>
              <a:t>입찰공고</a:t>
            </a:r>
            <a:endParaRPr lang="en-US" altLang="ko-KR" dirty="0"/>
          </a:p>
          <a:p>
            <a:r>
              <a:rPr lang="en-US" altLang="ko-KR" dirty="0"/>
              <a:t>1.1 </a:t>
            </a:r>
            <a:r>
              <a:rPr lang="ko-KR" altLang="en-US" dirty="0"/>
              <a:t>화면 목록</a:t>
            </a:r>
          </a:p>
        </p:txBody>
      </p:sp>
      <p:graphicFrame>
        <p:nvGraphicFramePr>
          <p:cNvPr id="6" name="표 5"/>
          <p:cNvGraphicFramePr>
            <a:graphicFrameLocks noGrp="1"/>
          </p:cNvGraphicFramePr>
          <p:nvPr>
            <p:extLst>
              <p:ext uri="{D42A27DB-BD31-4B8C-83A1-F6EECF244321}">
                <p14:modId xmlns:p14="http://schemas.microsoft.com/office/powerpoint/2010/main" val="1837010599"/>
              </p:ext>
            </p:extLst>
          </p:nvPr>
        </p:nvGraphicFramePr>
        <p:xfrm>
          <a:off x="635474" y="1413419"/>
          <a:ext cx="8701200" cy="265054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a:latin typeface="+mn-ea"/>
                          <a:ea typeface="+mn-ea"/>
                        </a:rPr>
                        <a:t>화면명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 </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kern="1200" dirty="0">
                          <a:solidFill>
                            <a:schemeClr val="tx1"/>
                          </a:solidFill>
                          <a:latin typeface="+mn-ea"/>
                          <a:ea typeface="+mn-ea"/>
                          <a:cs typeface="+mn-cs"/>
                        </a:rPr>
                        <a:t>MUI-BD-01-M01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r>
                        <a:rPr lang="ko-KR" altLang="en-US" sz="800" dirty="0">
                          <a:latin typeface="+mn-ea"/>
                          <a:ea typeface="+mn-ea"/>
                        </a:rPr>
                        <a:t>입찰공고통합목록</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lt"/>
                          <a:ea typeface="+mn-ea"/>
                        </a:rPr>
                        <a:t>BidPbancIntgListPage</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입찰공고 통합 목록 조회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a:t>
                      </a:r>
                      <a:r>
                        <a:rPr lang="en-US" altLang="ko-KR" sz="800" dirty="0" err="1">
                          <a:solidFill>
                            <a:schemeClr val="tx1"/>
                          </a:solidFill>
                          <a:latin typeface="+mn-ea"/>
                          <a:ea typeface="+mn-ea"/>
                        </a:rPr>
                        <a:t>Page.tsx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a:latin typeface="+mn-ea"/>
                          <a:ea typeface="+mn-ea"/>
                        </a:rPr>
                        <a:t>UC-BD-01-01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algn="ctr" fontAlgn="ctr"/>
                      <a:r>
                        <a:rPr lang="en-US" sz="700" kern="1200" dirty="0">
                          <a:solidFill>
                            <a:schemeClr val="tx1"/>
                          </a:solidFill>
                          <a:latin typeface="+mn-ea"/>
                          <a:ea typeface="+mn-ea"/>
                          <a:cs typeface="+mn-cs"/>
                        </a:rPr>
                        <a:t>MUI-BD-01-M02</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검색필터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dirty="0" err="1">
                          <a:solidFill>
                            <a:schemeClr val="tx1"/>
                          </a:solidFill>
                          <a:latin typeface="+mn-lt"/>
                          <a:ea typeface="+mn-ea"/>
                        </a:rPr>
                        <a:t>BidPbancIntgList_</a:t>
                      </a:r>
                      <a:r>
                        <a:rPr lang="en-US" sz="800" b="0" i="0" u="none" strike="noStrike" dirty="0" err="1">
                          <a:solidFill>
                            <a:schemeClr val="tx1"/>
                          </a:solidFill>
                          <a:effectLst/>
                          <a:latin typeface="+mn-lt"/>
                          <a:ea typeface="맑은 고딕" panose="020B0503020000020004" pitchFamily="50" charset="-127"/>
                        </a:rPr>
                        <a:t>SrchFilter</a:t>
                      </a:r>
                      <a:endParaRPr lang="en-US" sz="800" b="0" i="0" u="none" strike="noStrike" dirty="0">
                        <a:solidFill>
                          <a:schemeClr val="tx1"/>
                        </a:solidFill>
                        <a:effectLst/>
                        <a:latin typeface="+mn-lt"/>
                        <a:ea typeface="맑은 고딕" panose="020B0503020000020004" pitchFamily="50" charset="-127"/>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입찰 공고 상세 검색을 위한 검색 필터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bidPbancIntgList_</a:t>
                      </a:r>
                      <a:r>
                        <a:rPr lang="en-US" altLang="ko-KR" sz="800" b="0" i="0" u="none" strike="noStrike" dirty="0" err="1">
                          <a:solidFill>
                            <a:schemeClr val="tx1"/>
                          </a:solidFill>
                          <a:effectLst/>
                          <a:latin typeface="+mn-lt"/>
                          <a:ea typeface="+mn-ea"/>
                        </a:rPr>
                        <a:t>SrchFilter</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ctr" fontAlgn="ctr"/>
                      <a:r>
                        <a:rPr lang="en-US" sz="700" kern="1200" dirty="0">
                          <a:solidFill>
                            <a:schemeClr val="tx1"/>
                          </a:solidFill>
                          <a:latin typeface="+mn-ea"/>
                          <a:ea typeface="+mn-ea"/>
                          <a:cs typeface="+mn-cs"/>
                        </a:rPr>
                        <a:t>MUI-BD-01-P03</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지역검색</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spc="0" dirty="0" err="1">
                          <a:solidFill>
                            <a:schemeClr val="tx1"/>
                          </a:solidFill>
                          <a:latin typeface="+mn-lt"/>
                          <a:ea typeface="+mn-ea"/>
                        </a:rPr>
                        <a:t>RgnSrch</a:t>
                      </a:r>
                      <a:endParaRPr lang="ko-KR" altLang="en-US" sz="800" spc="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kern="1200" dirty="0" err="1">
                          <a:solidFill>
                            <a:schemeClr val="tx1"/>
                          </a:solidFill>
                          <a:latin typeface="+mn-ea"/>
                          <a:ea typeface="+mn-ea"/>
                          <a:cs typeface="+mn-cs"/>
                        </a:rPr>
                        <a:t>시군구까지</a:t>
                      </a:r>
                      <a:r>
                        <a:rPr lang="ko-KR" altLang="en-US" sz="800" kern="1200" dirty="0">
                          <a:solidFill>
                            <a:schemeClr val="tx1"/>
                          </a:solidFill>
                          <a:latin typeface="+mn-ea"/>
                          <a:ea typeface="+mn-ea"/>
                          <a:cs typeface="+mn-cs"/>
                        </a:rPr>
                        <a:t> 지역 검색 설정 팝업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a:t>
                      </a:r>
                      <a:r>
                        <a:rPr lang="en-US" altLang="ko-KR" sz="800" dirty="0">
                          <a:solidFill>
                            <a:schemeClr val="tx1"/>
                          </a:solidFill>
                          <a:latin typeface="+mn-ea"/>
                          <a:ea typeface="+mn-ea"/>
                        </a:rPr>
                        <a:t>/</a:t>
                      </a:r>
                      <a:r>
                        <a:rPr lang="en-US" altLang="ko-KR" sz="800" spc="0" dirty="0" err="1">
                          <a:solidFill>
                            <a:schemeClr val="tx1"/>
                          </a:solidFill>
                          <a:latin typeface="+mn-lt"/>
                          <a:ea typeface="+mn-ea"/>
                        </a:rPr>
                        <a:t>RgnSrch</a:t>
                      </a:r>
                      <a:r>
                        <a:rPr lang="en-US" altLang="ko-KR" sz="800" b="0" i="0" u="none" strike="noStrike" dirty="0" err="1">
                          <a:solidFill>
                            <a:schemeClr val="tx1"/>
                          </a:solidFill>
                          <a:effectLst/>
                          <a:latin typeface="+mn-lt"/>
                          <a:ea typeface="+mn-ea"/>
                        </a:rPr>
                        <a:t>r</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algn="ctr" fontAlgn="ctr"/>
                      <a:r>
                        <a:rPr lang="en-US" sz="700" kern="1200" dirty="0">
                          <a:solidFill>
                            <a:schemeClr val="tx1"/>
                          </a:solidFill>
                          <a:latin typeface="+mn-ea"/>
                          <a:ea typeface="+mn-ea"/>
                          <a:cs typeface="+mn-cs"/>
                        </a:rPr>
                        <a:t>MUI-BD-01-P04</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발주부서</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기관</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검색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spc="0" dirty="0" err="1">
                          <a:solidFill>
                            <a:schemeClr val="tx1"/>
                          </a:solidFill>
                          <a:latin typeface="+mn-lt"/>
                          <a:ea typeface="+mn-ea"/>
                        </a:rPr>
                        <a:t>OrderDeptSrch</a:t>
                      </a:r>
                      <a:endParaRPr lang="ko-KR" altLang="en-US" sz="800" spc="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발주기관 검색 설정 팝업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a:t>
                      </a:r>
                      <a:r>
                        <a:rPr lang="en-US" altLang="ko-KR" sz="800" dirty="0">
                          <a:solidFill>
                            <a:schemeClr val="tx1"/>
                          </a:solidFill>
                          <a:latin typeface="+mn-ea"/>
                          <a:ea typeface="+mn-ea"/>
                        </a:rPr>
                        <a:t>/</a:t>
                      </a:r>
                      <a:r>
                        <a:rPr lang="en-US" altLang="ko-KR" sz="800" spc="0" dirty="0" err="1">
                          <a:solidFill>
                            <a:schemeClr val="tx1"/>
                          </a:solidFill>
                          <a:latin typeface="+mn-lt"/>
                          <a:ea typeface="+mn-ea"/>
                        </a:rPr>
                        <a:t>OrderDeptSrch</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3731922"/>
                  </a:ext>
                </a:extLst>
              </a:tr>
              <a:tr h="180000">
                <a:tc>
                  <a:txBody>
                    <a:bodyPr/>
                    <a:lstStyle/>
                    <a:p>
                      <a:pPr algn="ctr" fontAlgn="ctr"/>
                      <a:r>
                        <a:rPr lang="en-US" sz="700" kern="1200" dirty="0">
                          <a:solidFill>
                            <a:schemeClr val="tx1"/>
                          </a:solidFill>
                          <a:latin typeface="+mn-ea"/>
                          <a:ea typeface="+mn-ea"/>
                          <a:cs typeface="+mn-cs"/>
                        </a:rPr>
                        <a:t>MUI-BD-01-P05</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면허정보검색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spc="0" dirty="0" err="1">
                          <a:solidFill>
                            <a:schemeClr val="tx1"/>
                          </a:solidFill>
                          <a:latin typeface="+mn-lt"/>
                          <a:ea typeface="+mn-ea"/>
                        </a:rPr>
                        <a:t>LcnsInfoSrch</a:t>
                      </a:r>
                      <a:endParaRPr lang="ko-KR" altLang="en-US" sz="800" spc="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kern="1200" dirty="0" err="1">
                          <a:solidFill>
                            <a:schemeClr val="tx1"/>
                          </a:solidFill>
                          <a:latin typeface="+mn-ea"/>
                          <a:ea typeface="+mn-ea"/>
                          <a:cs typeface="+mn-cs"/>
                        </a:rPr>
                        <a:t>면허정보</a:t>
                      </a:r>
                      <a:r>
                        <a:rPr lang="ko-KR" altLang="en-US" sz="800" kern="1200" dirty="0">
                          <a:solidFill>
                            <a:schemeClr val="tx1"/>
                          </a:solidFill>
                          <a:latin typeface="+mn-ea"/>
                          <a:ea typeface="+mn-ea"/>
                          <a:cs typeface="+mn-cs"/>
                        </a:rPr>
                        <a:t> 검색 설정 팝업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lt"/>
                          <a:ea typeface="+mn-ea"/>
                        </a:rPr>
                        <a:t>bidPbancIntgList</a:t>
                      </a:r>
                      <a:r>
                        <a:rPr lang="en-US" altLang="ko-KR" sz="800" dirty="0">
                          <a:solidFill>
                            <a:schemeClr val="tx1"/>
                          </a:solidFill>
                          <a:latin typeface="+mn-ea"/>
                          <a:ea typeface="+mn-ea"/>
                        </a:rPr>
                        <a:t>/</a:t>
                      </a:r>
                      <a:r>
                        <a:rPr lang="en-US" altLang="ko-KR" sz="800" spc="0" dirty="0" err="1">
                          <a:solidFill>
                            <a:schemeClr val="tx1"/>
                          </a:solidFill>
                          <a:latin typeface="+mn-lt"/>
                          <a:ea typeface="+mn-ea"/>
                        </a:rPr>
                        <a:t>LcnsInfoSrch</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1725250"/>
                  </a:ext>
                </a:extLst>
              </a:tr>
              <a:tr h="180000">
                <a:tc>
                  <a:txBody>
                    <a:bodyPr/>
                    <a:lstStyle/>
                    <a:p>
                      <a:pPr algn="ctr" fontAlgn="ctr"/>
                      <a:r>
                        <a:rPr lang="en-US" sz="700" kern="1200" dirty="0">
                          <a:solidFill>
                            <a:schemeClr val="tx1"/>
                          </a:solidFill>
                          <a:latin typeface="+mn-ea"/>
                          <a:ea typeface="+mn-ea"/>
                          <a:cs typeface="+mn-cs"/>
                        </a:rPr>
                        <a:t>MUI-BD-01-P06</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날짜 설정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DateInput</a:t>
                      </a:r>
                      <a:endParaRPr lang="en-US" altLang="ko-KR" sz="800" b="0" i="0" u="none" strike="noStrike" spc="0" dirty="0">
                        <a:solidFill>
                          <a:schemeClr val="tx1"/>
                        </a:solidFill>
                        <a:effectLst/>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날짜 설정 팝업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/common/composites/</a:t>
                      </a:r>
                      <a:r>
                        <a:rPr lang="en-US" altLang="ko-KR" sz="800" dirty="0" err="1">
                          <a:solidFill>
                            <a:schemeClr val="tx1"/>
                          </a:solidFill>
                          <a:latin typeface="+mn-ea"/>
                          <a:ea typeface="+mn-ea"/>
                        </a:rPr>
                        <a:t>DateInput.tsx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0572186"/>
                  </a:ext>
                </a:extLst>
              </a:tr>
              <a:tr h="180000">
                <a:tc>
                  <a:txBody>
                    <a:bodyPr/>
                    <a:lstStyle/>
                    <a:p>
                      <a:pPr algn="ctr" fontAlgn="ctr"/>
                      <a:r>
                        <a:rPr lang="en-US" sz="700" kern="1200" dirty="0">
                          <a:solidFill>
                            <a:schemeClr val="tx1"/>
                          </a:solidFill>
                          <a:latin typeface="+mn-ea"/>
                          <a:ea typeface="+mn-ea"/>
                          <a:cs typeface="+mn-cs"/>
                        </a:rPr>
                        <a:t>MUI-BD-01-M07</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tc>
                  <a:txBody>
                    <a:bodyPr/>
                    <a:lstStyle/>
                    <a:p>
                      <a:pPr latinLnBrk="1"/>
                      <a:r>
                        <a:rPr lang="ko-KR" altLang="en-US" sz="800" dirty="0">
                          <a:latin typeface="+mn-ea"/>
                          <a:ea typeface="+mn-ea"/>
                        </a:rPr>
                        <a:t>입찰공고상세</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spc="0" dirty="0" err="1">
                          <a:solidFill>
                            <a:schemeClr val="tx1"/>
                          </a:solidFill>
                          <a:latin typeface="+mn-lt"/>
                          <a:ea typeface="+mn-ea"/>
                        </a:rPr>
                        <a:t>BidPbancDtlPage</a:t>
                      </a:r>
                      <a:endParaRPr lang="ko-KR" altLang="en-US" sz="800" spc="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입찰공고 상세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spc="0" dirty="0" err="1">
                          <a:solidFill>
                            <a:schemeClr val="tx1"/>
                          </a:solidFill>
                          <a:latin typeface="+mn-lt"/>
                          <a:ea typeface="+mn-ea"/>
                        </a:rPr>
                        <a:t>BidPbancDtlPage</a:t>
                      </a:r>
                      <a:r>
                        <a:rPr lang="en-US" altLang="ko-KR" sz="800" dirty="0">
                          <a:solidFill>
                            <a:schemeClr val="tx1"/>
                          </a:solidFill>
                          <a:latin typeface="+mn-ea"/>
                          <a:ea typeface="+mn-ea"/>
                        </a:rPr>
                        <a:t>/</a:t>
                      </a:r>
                      <a:r>
                        <a:rPr lang="en-US" altLang="ko-KR" sz="800" spc="0" dirty="0" err="1">
                          <a:solidFill>
                            <a:schemeClr val="tx1"/>
                          </a:solidFill>
                          <a:latin typeface="+mn-lt"/>
                          <a:ea typeface="+mn-ea"/>
                        </a:rPr>
                        <a:t>BidPbancDtlPage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988231804"/>
                  </a:ext>
                </a:extLst>
              </a:tr>
            </a:tbl>
          </a:graphicData>
        </a:graphic>
      </p:graphicFrame>
      <p:sp>
        <p:nvSpPr>
          <p:cNvPr id="7"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0057216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10</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1.2. </a:t>
            </a:r>
            <a:r>
              <a:rPr lang="ko-KR" altLang="en-US" dirty="0"/>
              <a:t>화면 흐름도 </a:t>
            </a:r>
            <a:r>
              <a:rPr lang="en-US" altLang="ko-KR" dirty="0"/>
              <a:t>– </a:t>
            </a:r>
            <a:r>
              <a:rPr lang="ko-KR" altLang="en-US" dirty="0"/>
              <a:t>입찰 공고 진입 및 신청</a:t>
            </a:r>
          </a:p>
        </p:txBody>
      </p:sp>
      <p:sp>
        <p:nvSpPr>
          <p:cNvPr id="6"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 공고 목록</a:t>
            </a: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6" idx="1"/>
          </p:cNvCxnSpPr>
          <p:nvPr/>
        </p:nvCxnSpPr>
        <p:spPr>
          <a:xfrm>
            <a:off x="143547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69" name="사각형: 둥근 모서리 5">
            <a:extLst>
              <a:ext uri="{FF2B5EF4-FFF2-40B4-BE49-F238E27FC236}">
                <a16:creationId xmlns:a16="http://schemas.microsoft.com/office/drawing/2014/main" id="{410E5459-200D-7630-863C-88E5109259DF}"/>
              </a:ext>
            </a:extLst>
          </p:cNvPr>
          <p:cNvSpPr/>
          <p:nvPr/>
        </p:nvSpPr>
        <p:spPr>
          <a:xfrm>
            <a:off x="4197742"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검색 필터</a:t>
            </a:r>
          </a:p>
        </p:txBody>
      </p:sp>
      <p:cxnSp>
        <p:nvCxnSpPr>
          <p:cNvPr id="87" name="직선 화살표 연결선 86">
            <a:extLst>
              <a:ext uri="{FF2B5EF4-FFF2-40B4-BE49-F238E27FC236}">
                <a16:creationId xmlns:a16="http://schemas.microsoft.com/office/drawing/2014/main" id="{9A519F08-B829-E35F-09D8-DFCD1F68B911}"/>
              </a:ext>
            </a:extLst>
          </p:cNvPr>
          <p:cNvCxnSpPr>
            <a:cxnSpLocks/>
            <a:stCxn id="6" idx="3"/>
            <a:endCxn id="69" idx="1"/>
          </p:cNvCxnSpPr>
          <p:nvPr/>
        </p:nvCxnSpPr>
        <p:spPr>
          <a:xfrm>
            <a:off x="3266608" y="1772964"/>
            <a:ext cx="93113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55" name="직사각형 154">
            <a:extLst>
              <a:ext uri="{FF2B5EF4-FFF2-40B4-BE49-F238E27FC236}">
                <a16:creationId xmlns:a16="http://schemas.microsoft.com/office/drawing/2014/main" id="{4FB9FCCA-B5F3-C0E2-F563-4F0CE0FC24CF}"/>
              </a:ext>
            </a:extLst>
          </p:cNvPr>
          <p:cNvSpPr/>
          <p:nvPr/>
        </p:nvSpPr>
        <p:spPr>
          <a:xfrm>
            <a:off x="5790882" y="4624859"/>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157" name="그룹 156">
            <a:extLst>
              <a:ext uri="{FF2B5EF4-FFF2-40B4-BE49-F238E27FC236}">
                <a16:creationId xmlns:a16="http://schemas.microsoft.com/office/drawing/2014/main" id="{E7279F6C-9434-7961-8F6B-B7AE44CE5FCD}"/>
              </a:ext>
            </a:extLst>
          </p:cNvPr>
          <p:cNvGrpSpPr/>
          <p:nvPr/>
        </p:nvGrpSpPr>
        <p:grpSpPr>
          <a:xfrm>
            <a:off x="5819879" y="4410066"/>
            <a:ext cx="180000" cy="180000"/>
            <a:chOff x="5058274" y="2498299"/>
            <a:chExt cx="180000" cy="180000"/>
          </a:xfrm>
        </p:grpSpPr>
        <p:sp>
          <p:nvSpPr>
            <p:cNvPr id="158" name="타원 157">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9" name="타원 158">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62" name="사각형: 둥근 모서리 5">
            <a:extLst>
              <a:ext uri="{FF2B5EF4-FFF2-40B4-BE49-F238E27FC236}">
                <a16:creationId xmlns:a16="http://schemas.microsoft.com/office/drawing/2014/main" id="{410E5459-200D-7630-863C-88E5109259DF}"/>
              </a:ext>
            </a:extLst>
          </p:cNvPr>
          <p:cNvSpPr/>
          <p:nvPr/>
        </p:nvSpPr>
        <p:spPr>
          <a:xfrm>
            <a:off x="4197742" y="4356066"/>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 공고 상세</a:t>
            </a:r>
          </a:p>
        </p:txBody>
      </p:sp>
      <p:cxnSp>
        <p:nvCxnSpPr>
          <p:cNvPr id="164" name="연결선: 꺾임 7">
            <a:extLst>
              <a:ext uri="{FF2B5EF4-FFF2-40B4-BE49-F238E27FC236}">
                <a16:creationId xmlns:a16="http://schemas.microsoft.com/office/drawing/2014/main" id="{89A2D828-4C18-4F90-6B31-722E89773AA8}"/>
              </a:ext>
            </a:extLst>
          </p:cNvPr>
          <p:cNvCxnSpPr>
            <a:cxnSpLocks/>
            <a:stCxn id="6" idx="3"/>
            <a:endCxn id="162" idx="1"/>
          </p:cNvCxnSpPr>
          <p:nvPr/>
        </p:nvCxnSpPr>
        <p:spPr>
          <a:xfrm>
            <a:off x="3266608" y="1772964"/>
            <a:ext cx="931134" cy="2727102"/>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연결선: 꺾임 7">
            <a:extLst>
              <a:ext uri="{FF2B5EF4-FFF2-40B4-BE49-F238E27FC236}">
                <a16:creationId xmlns:a16="http://schemas.microsoft.com/office/drawing/2014/main" id="{89A2D828-4C18-4F90-6B31-722E89773AA8}"/>
              </a:ext>
            </a:extLst>
          </p:cNvPr>
          <p:cNvCxnSpPr>
            <a:cxnSpLocks/>
            <a:stCxn id="69" idx="0"/>
            <a:endCxn id="6" idx="0"/>
          </p:cNvCxnSpPr>
          <p:nvPr/>
        </p:nvCxnSpPr>
        <p:spPr>
          <a:xfrm rot="16200000" flipV="1">
            <a:off x="3732175" y="713397"/>
            <a:ext cx="12700" cy="1831134"/>
          </a:xfrm>
          <a:prstGeom prst="bentConnector3">
            <a:avLst>
              <a:gd name="adj1" fmla="val 180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3" name="직사각형 172">
            <a:extLst>
              <a:ext uri="{FF2B5EF4-FFF2-40B4-BE49-F238E27FC236}">
                <a16:creationId xmlns:a16="http://schemas.microsoft.com/office/drawing/2014/main" id="{23C86455-E84C-0CEA-5C6B-05BE50ADCEF5}"/>
              </a:ext>
            </a:extLst>
          </p:cNvPr>
          <p:cNvSpPr/>
          <p:nvPr/>
        </p:nvSpPr>
        <p:spPr>
          <a:xfrm>
            <a:off x="1191585"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sp>
        <p:nvSpPr>
          <p:cNvPr id="174" name="직사각형 173">
            <a:extLst>
              <a:ext uri="{FF2B5EF4-FFF2-40B4-BE49-F238E27FC236}">
                <a16:creationId xmlns:a16="http://schemas.microsoft.com/office/drawing/2014/main" id="{F249990F-1DE5-C694-BDBD-2DE7009D57EA}"/>
              </a:ext>
            </a:extLst>
          </p:cNvPr>
          <p:cNvSpPr/>
          <p:nvPr/>
        </p:nvSpPr>
        <p:spPr>
          <a:xfrm>
            <a:off x="2816608" y="1261938"/>
            <a:ext cx="44723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검색 반영</a:t>
            </a:r>
          </a:p>
        </p:txBody>
      </p:sp>
      <p:cxnSp>
        <p:nvCxnSpPr>
          <p:cNvPr id="175" name="직선 화살표 연결선 174">
            <a:extLst>
              <a:ext uri="{FF2B5EF4-FFF2-40B4-BE49-F238E27FC236}">
                <a16:creationId xmlns:a16="http://schemas.microsoft.com/office/drawing/2014/main" id="{9A519F08-B829-E35F-09D8-DFCD1F68B911}"/>
              </a:ext>
            </a:extLst>
          </p:cNvPr>
          <p:cNvCxnSpPr>
            <a:cxnSpLocks/>
            <a:stCxn id="162" idx="3"/>
            <a:endCxn id="158" idx="2"/>
          </p:cNvCxnSpPr>
          <p:nvPr/>
        </p:nvCxnSpPr>
        <p:spPr>
          <a:xfrm>
            <a:off x="5097742" y="4500066"/>
            <a:ext cx="722137"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3" name="사각형: 둥근 모서리 5">
            <a:extLst>
              <a:ext uri="{FF2B5EF4-FFF2-40B4-BE49-F238E27FC236}">
                <a16:creationId xmlns:a16="http://schemas.microsoft.com/office/drawing/2014/main" id="{410E5459-200D-7630-863C-88E5109259DF}"/>
              </a:ext>
            </a:extLst>
          </p:cNvPr>
          <p:cNvSpPr/>
          <p:nvPr/>
        </p:nvSpPr>
        <p:spPr>
          <a:xfrm>
            <a:off x="6028876" y="2987012"/>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면허정보검색</a:t>
            </a:r>
          </a:p>
        </p:txBody>
      </p:sp>
      <p:sp>
        <p:nvSpPr>
          <p:cNvPr id="24" name="사각형: 둥근 모서리 5">
            <a:extLst>
              <a:ext uri="{FF2B5EF4-FFF2-40B4-BE49-F238E27FC236}">
                <a16:creationId xmlns:a16="http://schemas.microsoft.com/office/drawing/2014/main" id="{410E5459-200D-7630-863C-88E5109259DF}"/>
              </a:ext>
            </a:extLst>
          </p:cNvPr>
          <p:cNvSpPr/>
          <p:nvPr/>
        </p:nvSpPr>
        <p:spPr>
          <a:xfrm>
            <a:off x="6028876" y="1629440"/>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지역검색</a:t>
            </a:r>
            <a:endParaRPr lang="ko-KR" altLang="en-US" sz="800" dirty="0">
              <a:solidFill>
                <a:schemeClr val="tx1"/>
              </a:solidFill>
            </a:endParaRPr>
          </a:p>
        </p:txBody>
      </p:sp>
      <p:sp>
        <p:nvSpPr>
          <p:cNvPr id="25" name="사각형: 둥근 모서리 5">
            <a:extLst>
              <a:ext uri="{FF2B5EF4-FFF2-40B4-BE49-F238E27FC236}">
                <a16:creationId xmlns:a16="http://schemas.microsoft.com/office/drawing/2014/main" id="{410E5459-200D-7630-863C-88E5109259DF}"/>
              </a:ext>
            </a:extLst>
          </p:cNvPr>
          <p:cNvSpPr/>
          <p:nvPr/>
        </p:nvSpPr>
        <p:spPr>
          <a:xfrm>
            <a:off x="6028876" y="2308226"/>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발주부서</a:t>
            </a:r>
            <a:r>
              <a:rPr lang="en-US" altLang="ko-KR" sz="800" dirty="0">
                <a:solidFill>
                  <a:schemeClr val="tx1"/>
                </a:solidFill>
              </a:rPr>
              <a:t>(</a:t>
            </a:r>
            <a:r>
              <a:rPr lang="ko-KR" altLang="en-US" sz="800" dirty="0">
                <a:solidFill>
                  <a:schemeClr val="tx1"/>
                </a:solidFill>
              </a:rPr>
              <a:t>기관</a:t>
            </a:r>
            <a:r>
              <a:rPr lang="en-US" altLang="ko-KR" sz="800" dirty="0">
                <a:solidFill>
                  <a:schemeClr val="tx1"/>
                </a:solidFill>
              </a:rPr>
              <a:t>)</a:t>
            </a:r>
          </a:p>
          <a:p>
            <a:pPr algn="ctr"/>
            <a:r>
              <a:rPr lang="ko-KR" altLang="en-US" sz="800" dirty="0">
                <a:solidFill>
                  <a:schemeClr val="tx1"/>
                </a:solidFill>
              </a:rPr>
              <a:t>검색</a:t>
            </a:r>
          </a:p>
        </p:txBody>
      </p:sp>
      <p:cxnSp>
        <p:nvCxnSpPr>
          <p:cNvPr id="26" name="직선 화살표 연결선 25">
            <a:extLst>
              <a:ext uri="{FF2B5EF4-FFF2-40B4-BE49-F238E27FC236}">
                <a16:creationId xmlns:a16="http://schemas.microsoft.com/office/drawing/2014/main" id="{9A519F08-B829-E35F-09D8-DFCD1F68B911}"/>
              </a:ext>
            </a:extLst>
          </p:cNvPr>
          <p:cNvCxnSpPr>
            <a:cxnSpLocks/>
            <a:stCxn id="69" idx="3"/>
            <a:endCxn id="24" idx="1"/>
          </p:cNvCxnSpPr>
          <p:nvPr/>
        </p:nvCxnSpPr>
        <p:spPr>
          <a:xfrm>
            <a:off x="5097742" y="1772964"/>
            <a:ext cx="931134" cy="476"/>
          </a:xfrm>
          <a:prstGeom prst="straightConnector1">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사각형: 둥근 모서리 5">
            <a:extLst>
              <a:ext uri="{FF2B5EF4-FFF2-40B4-BE49-F238E27FC236}">
                <a16:creationId xmlns:a16="http://schemas.microsoft.com/office/drawing/2014/main" id="{410E5459-200D-7630-863C-88E5109259DF}"/>
              </a:ext>
            </a:extLst>
          </p:cNvPr>
          <p:cNvSpPr/>
          <p:nvPr/>
        </p:nvSpPr>
        <p:spPr>
          <a:xfrm>
            <a:off x="6028876" y="367153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날짜 설정</a:t>
            </a:r>
          </a:p>
        </p:txBody>
      </p:sp>
      <p:cxnSp>
        <p:nvCxnSpPr>
          <p:cNvPr id="33" name="연결선: 꺾임 7">
            <a:extLst>
              <a:ext uri="{FF2B5EF4-FFF2-40B4-BE49-F238E27FC236}">
                <a16:creationId xmlns:a16="http://schemas.microsoft.com/office/drawing/2014/main" id="{89A2D828-4C18-4F90-6B31-722E89773AA8}"/>
              </a:ext>
            </a:extLst>
          </p:cNvPr>
          <p:cNvCxnSpPr>
            <a:cxnSpLocks/>
            <a:stCxn id="69" idx="3"/>
            <a:endCxn id="25" idx="1"/>
          </p:cNvCxnSpPr>
          <p:nvPr/>
        </p:nvCxnSpPr>
        <p:spPr>
          <a:xfrm>
            <a:off x="5097742" y="1772964"/>
            <a:ext cx="931134" cy="679262"/>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연결선: 꺾임 7">
            <a:extLst>
              <a:ext uri="{FF2B5EF4-FFF2-40B4-BE49-F238E27FC236}">
                <a16:creationId xmlns:a16="http://schemas.microsoft.com/office/drawing/2014/main" id="{89A2D828-4C18-4F90-6B31-722E89773AA8}"/>
              </a:ext>
            </a:extLst>
          </p:cNvPr>
          <p:cNvCxnSpPr>
            <a:cxnSpLocks/>
            <a:stCxn id="69" idx="3"/>
            <a:endCxn id="23" idx="1"/>
          </p:cNvCxnSpPr>
          <p:nvPr/>
        </p:nvCxnSpPr>
        <p:spPr>
          <a:xfrm>
            <a:off x="5097742" y="1772964"/>
            <a:ext cx="931134" cy="1358048"/>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연결선: 꺾임 7">
            <a:extLst>
              <a:ext uri="{FF2B5EF4-FFF2-40B4-BE49-F238E27FC236}">
                <a16:creationId xmlns:a16="http://schemas.microsoft.com/office/drawing/2014/main" id="{89A2D828-4C18-4F90-6B31-722E89773AA8}"/>
              </a:ext>
            </a:extLst>
          </p:cNvPr>
          <p:cNvCxnSpPr>
            <a:cxnSpLocks/>
            <a:stCxn id="69" idx="3"/>
            <a:endCxn id="30" idx="1"/>
          </p:cNvCxnSpPr>
          <p:nvPr/>
        </p:nvCxnSpPr>
        <p:spPr>
          <a:xfrm>
            <a:off x="5097742" y="1772964"/>
            <a:ext cx="931134" cy="2042575"/>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09616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058222"/>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058222"/>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11</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1.3 </a:t>
            </a:r>
            <a:r>
              <a:rPr lang="ko-KR" altLang="en-US" dirty="0"/>
              <a:t>앱 구성 다이어그램</a:t>
            </a:r>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644139"/>
            <a:ext cx="1727200" cy="52601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a:solidFill>
                  <a:schemeClr val="tx1"/>
                </a:solidFill>
              </a:rPr>
              <a:t>입찰공고</a:t>
            </a:r>
            <a:endParaRPr lang="en-US" altLang="ko-KR" sz="1050" dirty="0">
              <a:solidFill>
                <a:schemeClr val="tx1"/>
              </a:solidFill>
            </a:endParaRPr>
          </a:p>
          <a:p>
            <a:pPr algn="ctr"/>
            <a:r>
              <a:rPr lang="en-US" altLang="ko-KR" sz="1050" dirty="0" err="1">
                <a:solidFill>
                  <a:schemeClr val="tx1"/>
                </a:solidFill>
              </a:rPr>
              <a:t>BidPbancIntgListPage.tsx</a:t>
            </a:r>
            <a:r>
              <a:rPr lang="en-US" altLang="ko-KR" sz="1050" b="1" baseline="30000" dirty="0">
                <a:solidFill>
                  <a:schemeClr val="tx1"/>
                </a:solidFill>
                <a:latin typeface="+mn-ea"/>
              </a:rPr>
              <a:t> 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322217"/>
            <a:ext cx="1727200" cy="52601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err="1">
                <a:solidFill>
                  <a:schemeClr val="tx1"/>
                </a:solidFill>
              </a:rPr>
              <a:t>검색필터</a:t>
            </a:r>
            <a:endParaRPr lang="en-US" altLang="ko-KR" sz="1050" dirty="0">
              <a:solidFill>
                <a:schemeClr val="tx1"/>
              </a:solidFill>
            </a:endParaRPr>
          </a:p>
          <a:p>
            <a:pPr algn="ctr"/>
            <a:r>
              <a:rPr lang="en-US" altLang="ko-KR" sz="800" dirty="0" err="1">
                <a:solidFill>
                  <a:schemeClr val="tx1"/>
                </a:solidFill>
              </a:rPr>
              <a:t>BidPbancIntgList_SrchFilter.tsx</a:t>
            </a:r>
            <a:r>
              <a:rPr lang="en-US" altLang="ko-KR" sz="800" b="1" baseline="30000" dirty="0">
                <a:solidFill>
                  <a:schemeClr val="tx1"/>
                </a:solidFill>
                <a:latin typeface="+mn-ea"/>
              </a:rPr>
              <a:t> 1</a:t>
            </a:r>
            <a:r>
              <a:rPr lang="en-US" altLang="ko-KR" sz="1050" b="1" baseline="30000" dirty="0">
                <a:solidFill>
                  <a:schemeClr val="tx1"/>
                </a:solidFill>
                <a:latin typeface="+mn-ea"/>
              </a:rPr>
              <a:t>)</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265382" y="3000295"/>
            <a:ext cx="1727200" cy="52601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a:solidFill>
                  <a:schemeClr val="tx1"/>
                </a:solidFill>
              </a:rPr>
              <a:t>입찰공고 상세</a:t>
            </a:r>
            <a:endParaRPr lang="en-US" altLang="ko-KR" sz="1050" dirty="0">
              <a:solidFill>
                <a:schemeClr val="tx1"/>
              </a:solidFill>
            </a:endParaRPr>
          </a:p>
          <a:p>
            <a:pPr algn="ctr"/>
            <a:r>
              <a:rPr lang="en-US" altLang="ko-KR" sz="1050" dirty="0" err="1">
                <a:solidFill>
                  <a:schemeClr val="tx1"/>
                </a:solidFill>
              </a:rPr>
              <a:t>BidPbancDtlPage.tsx</a:t>
            </a:r>
            <a:r>
              <a:rPr lang="en-US" altLang="ko-KR" sz="1050" b="1" baseline="30000" dirty="0">
                <a:solidFill>
                  <a:schemeClr val="tx1"/>
                </a:solidFill>
                <a:latin typeface="+mn-ea"/>
              </a:rPr>
              <a:t> 1)</a:t>
            </a:r>
            <a:endParaRPr lang="en-US" altLang="ko-KR" sz="105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입찰공고</a:t>
            </a:r>
            <a:r>
              <a:rPr lang="en-US" altLang="ko-KR" sz="1100" dirty="0"/>
              <a:t>Controller&gt;&gt;</a:t>
            </a:r>
          </a:p>
          <a:p>
            <a:pPr algn="ctr"/>
            <a:r>
              <a:rPr lang="en-US" altLang="ko-KR" sz="1100" dirty="0" err="1"/>
              <a:t>BidPbancController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1907148"/>
            <a:ext cx="967509" cy="10830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992582" y="2585226"/>
            <a:ext cx="967509" cy="40494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992582" y="2990174"/>
            <a:ext cx="967509" cy="2731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8" name="직사각형 17">
            <a:extLst>
              <a:ext uri="{FF2B5EF4-FFF2-40B4-BE49-F238E27FC236}">
                <a16:creationId xmlns:a16="http://schemas.microsoft.com/office/drawing/2014/main" id="{326CB017-8967-4DC4-0EAD-ADB3B9EAB841}"/>
              </a:ext>
            </a:extLst>
          </p:cNvPr>
          <p:cNvSpPr/>
          <p:nvPr/>
        </p:nvSpPr>
        <p:spPr>
          <a:xfrm>
            <a:off x="1265382" y="3678373"/>
            <a:ext cx="1727200" cy="52601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err="1">
                <a:solidFill>
                  <a:schemeClr val="tx1"/>
                </a:solidFill>
                <a:latin typeface="+mn-ea"/>
              </a:rPr>
              <a:t>지역검색</a:t>
            </a:r>
            <a:endParaRPr lang="en-US" altLang="ko-KR" sz="1050" dirty="0">
              <a:solidFill>
                <a:schemeClr val="tx1"/>
              </a:solidFill>
            </a:endParaRPr>
          </a:p>
          <a:p>
            <a:pPr algn="ctr"/>
            <a:r>
              <a:rPr lang="en-US" altLang="ko-KR" sz="1050" dirty="0" err="1">
                <a:solidFill>
                  <a:schemeClr val="tx1"/>
                </a:solidFill>
              </a:rPr>
              <a:t>RgnSrch.tsx</a:t>
            </a:r>
            <a:r>
              <a:rPr lang="en-US" altLang="ko-KR" sz="1050" b="1" baseline="30000" dirty="0">
                <a:solidFill>
                  <a:schemeClr val="tx1"/>
                </a:solidFill>
                <a:latin typeface="+mn-ea"/>
              </a:rPr>
              <a:t> 1)</a:t>
            </a:r>
            <a:endParaRPr lang="en-US" altLang="ko-KR" sz="1050" dirty="0">
              <a:solidFill>
                <a:schemeClr val="tx1"/>
              </a:solidFill>
            </a:endParaRPr>
          </a:p>
        </p:txBody>
      </p:sp>
      <p:sp>
        <p:nvSpPr>
          <p:cNvPr id="20" name="직사각형 19">
            <a:extLst>
              <a:ext uri="{FF2B5EF4-FFF2-40B4-BE49-F238E27FC236}">
                <a16:creationId xmlns:a16="http://schemas.microsoft.com/office/drawing/2014/main" id="{326CB017-8967-4DC4-0EAD-ADB3B9EAB841}"/>
              </a:ext>
            </a:extLst>
          </p:cNvPr>
          <p:cNvSpPr/>
          <p:nvPr/>
        </p:nvSpPr>
        <p:spPr>
          <a:xfrm>
            <a:off x="1265382" y="4356451"/>
            <a:ext cx="1727200" cy="52601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err="1">
                <a:solidFill>
                  <a:schemeClr val="tx1"/>
                </a:solidFill>
                <a:latin typeface="+mn-ea"/>
              </a:rPr>
              <a:t>발주부서</a:t>
            </a:r>
            <a:r>
              <a:rPr lang="en-US" altLang="ko-KR" sz="1050" dirty="0">
                <a:solidFill>
                  <a:schemeClr val="tx1"/>
                </a:solidFill>
                <a:latin typeface="+mn-ea"/>
              </a:rPr>
              <a:t>(</a:t>
            </a:r>
            <a:r>
              <a:rPr lang="ko-KR" altLang="en-US" sz="1050" dirty="0">
                <a:solidFill>
                  <a:schemeClr val="tx1"/>
                </a:solidFill>
                <a:latin typeface="+mn-ea"/>
              </a:rPr>
              <a:t>기관</a:t>
            </a:r>
            <a:r>
              <a:rPr lang="en-US" altLang="ko-KR" sz="1050" dirty="0">
                <a:solidFill>
                  <a:schemeClr val="tx1"/>
                </a:solidFill>
                <a:latin typeface="+mn-ea"/>
              </a:rPr>
              <a:t>)</a:t>
            </a:r>
            <a:r>
              <a:rPr lang="ko-KR" altLang="en-US" sz="1050" dirty="0">
                <a:solidFill>
                  <a:schemeClr val="tx1"/>
                </a:solidFill>
                <a:latin typeface="+mn-ea"/>
              </a:rPr>
              <a:t>검색</a:t>
            </a:r>
            <a:endParaRPr lang="en-US" altLang="ko-KR" sz="1050" dirty="0">
              <a:solidFill>
                <a:schemeClr val="tx1"/>
              </a:solidFill>
            </a:endParaRPr>
          </a:p>
          <a:p>
            <a:pPr algn="ctr"/>
            <a:r>
              <a:rPr lang="en-US" altLang="ko-KR" sz="1050" dirty="0" err="1">
                <a:solidFill>
                  <a:schemeClr val="tx1"/>
                </a:solidFill>
              </a:rPr>
              <a:t>OrderDeptSrch.tsx</a:t>
            </a:r>
            <a:r>
              <a:rPr lang="en-US" altLang="ko-KR" sz="1050" b="1" baseline="30000" dirty="0">
                <a:solidFill>
                  <a:schemeClr val="tx1"/>
                </a:solidFill>
                <a:latin typeface="+mn-ea"/>
              </a:rPr>
              <a:t> 1)</a:t>
            </a:r>
            <a:endParaRPr lang="en-US" altLang="ko-KR" sz="1050" dirty="0">
              <a:solidFill>
                <a:schemeClr val="tx1"/>
              </a:solidFill>
            </a:endParaRPr>
          </a:p>
        </p:txBody>
      </p:sp>
      <p:sp>
        <p:nvSpPr>
          <p:cNvPr id="22" name="직사각형 21">
            <a:extLst>
              <a:ext uri="{FF2B5EF4-FFF2-40B4-BE49-F238E27FC236}">
                <a16:creationId xmlns:a16="http://schemas.microsoft.com/office/drawing/2014/main" id="{326CB017-8967-4DC4-0EAD-ADB3B9EAB841}"/>
              </a:ext>
            </a:extLst>
          </p:cNvPr>
          <p:cNvSpPr/>
          <p:nvPr/>
        </p:nvSpPr>
        <p:spPr>
          <a:xfrm>
            <a:off x="1265382" y="5034529"/>
            <a:ext cx="1727200" cy="52601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a:solidFill>
                  <a:schemeClr val="tx1"/>
                </a:solidFill>
                <a:latin typeface="+mn-ea"/>
              </a:rPr>
              <a:t>면허정보검색</a:t>
            </a:r>
            <a:endParaRPr lang="en-US" altLang="ko-KR" sz="1050" dirty="0">
              <a:solidFill>
                <a:schemeClr val="tx1"/>
              </a:solidFill>
            </a:endParaRPr>
          </a:p>
          <a:p>
            <a:pPr algn="ctr"/>
            <a:r>
              <a:rPr lang="en-US" altLang="ko-KR" sz="1050" dirty="0" err="1">
                <a:solidFill>
                  <a:schemeClr val="tx1"/>
                </a:solidFill>
              </a:rPr>
              <a:t>LcnsInfoSrch.tsx</a:t>
            </a:r>
            <a:r>
              <a:rPr lang="en-US" altLang="ko-KR" sz="1050" b="1" baseline="30000" dirty="0">
                <a:solidFill>
                  <a:schemeClr val="tx1"/>
                </a:solidFill>
                <a:latin typeface="+mn-ea"/>
              </a:rPr>
              <a:t> 1)</a:t>
            </a:r>
            <a:endParaRPr lang="en-US" altLang="ko-KR" sz="1050" dirty="0">
              <a:solidFill>
                <a:schemeClr val="tx1"/>
              </a:solidFill>
            </a:endParaRPr>
          </a:p>
        </p:txBody>
      </p:sp>
      <p:sp>
        <p:nvSpPr>
          <p:cNvPr id="27" name="직사각형 26">
            <a:extLst>
              <a:ext uri="{FF2B5EF4-FFF2-40B4-BE49-F238E27FC236}">
                <a16:creationId xmlns:a16="http://schemas.microsoft.com/office/drawing/2014/main" id="{326CB017-8967-4DC4-0EAD-ADB3B9EAB841}"/>
              </a:ext>
            </a:extLst>
          </p:cNvPr>
          <p:cNvSpPr/>
          <p:nvPr/>
        </p:nvSpPr>
        <p:spPr>
          <a:xfrm>
            <a:off x="1265382" y="5712605"/>
            <a:ext cx="1727200" cy="52601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a:solidFill>
                  <a:schemeClr val="tx1"/>
                </a:solidFill>
                <a:latin typeface="+mn-ea"/>
              </a:rPr>
              <a:t>날짜 설정</a:t>
            </a:r>
            <a:endParaRPr lang="en-US" altLang="ko-KR" sz="1050" dirty="0">
              <a:solidFill>
                <a:schemeClr val="tx1"/>
              </a:solidFill>
            </a:endParaRPr>
          </a:p>
          <a:p>
            <a:pPr algn="ctr"/>
            <a:r>
              <a:rPr lang="en-US" altLang="ko-KR" sz="1050" dirty="0" err="1">
                <a:solidFill>
                  <a:schemeClr val="tx1"/>
                </a:solidFill>
                <a:latin typeface="+mn-ea"/>
              </a:rPr>
              <a:t>DateInput</a:t>
            </a:r>
            <a:r>
              <a:rPr lang="en-US" altLang="ko-KR" sz="1050" dirty="0" err="1">
                <a:solidFill>
                  <a:schemeClr val="tx1"/>
                </a:solidFill>
              </a:rPr>
              <a:t>.tsx</a:t>
            </a:r>
            <a:r>
              <a:rPr lang="en-US" altLang="ko-KR" sz="1050" b="1" baseline="30000" dirty="0">
                <a:solidFill>
                  <a:schemeClr val="tx1"/>
                </a:solidFill>
                <a:latin typeface="+mn-ea"/>
              </a:rPr>
              <a:t> 1)</a:t>
            </a:r>
            <a:endParaRPr lang="en-US" altLang="ko-KR" sz="1050" dirty="0">
              <a:solidFill>
                <a:schemeClr val="tx1"/>
              </a:solidFill>
            </a:endParaRPr>
          </a:p>
        </p:txBody>
      </p:sp>
      <p:cxnSp>
        <p:nvCxnSpPr>
          <p:cNvPr id="32" name="직선 화살표 연결선 31">
            <a:extLst>
              <a:ext uri="{FF2B5EF4-FFF2-40B4-BE49-F238E27FC236}">
                <a16:creationId xmlns:a16="http://schemas.microsoft.com/office/drawing/2014/main" id="{418E1257-E5C2-5705-1378-45505004ABAF}"/>
              </a:ext>
            </a:extLst>
          </p:cNvPr>
          <p:cNvCxnSpPr>
            <a:cxnSpLocks/>
            <a:stCxn id="18" idx="3"/>
            <a:endCxn id="9" idx="1"/>
          </p:cNvCxnSpPr>
          <p:nvPr/>
        </p:nvCxnSpPr>
        <p:spPr>
          <a:xfrm flipV="1">
            <a:off x="2992582" y="2990174"/>
            <a:ext cx="967509" cy="9512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직선 화살표 연결선 34">
            <a:extLst>
              <a:ext uri="{FF2B5EF4-FFF2-40B4-BE49-F238E27FC236}">
                <a16:creationId xmlns:a16="http://schemas.microsoft.com/office/drawing/2014/main" id="{418E1257-E5C2-5705-1378-45505004ABAF}"/>
              </a:ext>
            </a:extLst>
          </p:cNvPr>
          <p:cNvCxnSpPr>
            <a:cxnSpLocks/>
            <a:stCxn id="20" idx="3"/>
            <a:endCxn id="9" idx="1"/>
          </p:cNvCxnSpPr>
          <p:nvPr/>
        </p:nvCxnSpPr>
        <p:spPr>
          <a:xfrm flipV="1">
            <a:off x="2992582" y="2990174"/>
            <a:ext cx="967509" cy="16292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8" name="직선 화살표 연결선 37">
            <a:extLst>
              <a:ext uri="{FF2B5EF4-FFF2-40B4-BE49-F238E27FC236}">
                <a16:creationId xmlns:a16="http://schemas.microsoft.com/office/drawing/2014/main" id="{418E1257-E5C2-5705-1378-45505004ABAF}"/>
              </a:ext>
            </a:extLst>
          </p:cNvPr>
          <p:cNvCxnSpPr>
            <a:cxnSpLocks/>
            <a:stCxn id="22" idx="3"/>
            <a:endCxn id="9" idx="1"/>
          </p:cNvCxnSpPr>
          <p:nvPr/>
        </p:nvCxnSpPr>
        <p:spPr>
          <a:xfrm flipV="1">
            <a:off x="2992582" y="2990174"/>
            <a:ext cx="967509" cy="23073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1" name="직선 화살표 연결선 40">
            <a:extLst>
              <a:ext uri="{FF2B5EF4-FFF2-40B4-BE49-F238E27FC236}">
                <a16:creationId xmlns:a16="http://schemas.microsoft.com/office/drawing/2014/main" id="{418E1257-E5C2-5705-1378-45505004ABAF}"/>
              </a:ext>
            </a:extLst>
          </p:cNvPr>
          <p:cNvCxnSpPr>
            <a:cxnSpLocks/>
            <a:stCxn id="27" idx="3"/>
            <a:endCxn id="9" idx="1"/>
          </p:cNvCxnSpPr>
          <p:nvPr/>
        </p:nvCxnSpPr>
        <p:spPr>
          <a:xfrm flipV="1">
            <a:off x="2992582" y="2990174"/>
            <a:ext cx="967509" cy="298544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3623325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공고 상단 공지사항은 기본 값으로 접힘 상태로 정보 제공</a:t>
            </a:r>
            <a:r>
              <a:rPr lang="en-US" altLang="ko-KR" dirty="0"/>
              <a:t/>
            </a:r>
            <a:br>
              <a:rPr lang="en-US" altLang="ko-KR" dirty="0"/>
            </a:br>
            <a:r>
              <a:rPr lang="en-US" altLang="ko-KR" dirty="0"/>
              <a:t>- </a:t>
            </a:r>
            <a:r>
              <a:rPr lang="ko-KR" altLang="en-US" dirty="0"/>
              <a:t>기본값 </a:t>
            </a:r>
            <a:r>
              <a:rPr lang="en-US" altLang="ko-KR" dirty="0"/>
              <a:t>: </a:t>
            </a:r>
            <a:r>
              <a:rPr lang="ko-KR" altLang="en-US" dirty="0"/>
              <a:t>접힘</a:t>
            </a:r>
            <a:r>
              <a:rPr lang="en-US" altLang="ko-KR" dirty="0"/>
              <a:t/>
            </a:r>
            <a:br>
              <a:rPr lang="en-US" altLang="ko-KR" dirty="0"/>
            </a:br>
            <a:r>
              <a:rPr lang="en-US" altLang="ko-KR" dirty="0"/>
              <a:t>- </a:t>
            </a:r>
            <a:r>
              <a:rPr lang="ko-KR" altLang="en-US" dirty="0"/>
              <a:t>사용자 </a:t>
            </a:r>
            <a:r>
              <a:rPr lang="ko-KR" altLang="en-US" dirty="0" err="1"/>
              <a:t>클릭시</a:t>
            </a:r>
            <a:r>
              <a:rPr lang="ko-KR" altLang="en-US" dirty="0"/>
              <a:t> 확장하여 정보 표시</a:t>
            </a:r>
            <a:endParaRPr lang="en-US" altLang="ko-KR" dirty="0"/>
          </a:p>
          <a:p>
            <a:pPr marL="228600" indent="-228600">
              <a:buFont typeface="+mj-lt"/>
              <a:buAutoNum type="arabicPeriod"/>
            </a:pPr>
            <a:r>
              <a:rPr lang="ko-KR" altLang="en-US" dirty="0"/>
              <a:t>건수</a:t>
            </a:r>
            <a:r>
              <a:rPr lang="en-US" altLang="ko-KR" dirty="0"/>
              <a:t>, </a:t>
            </a:r>
            <a:r>
              <a:rPr lang="ko-KR" altLang="en-US" dirty="0"/>
              <a:t>개수 표시</a:t>
            </a:r>
            <a:endParaRPr lang="en-US" altLang="ko-KR" dirty="0"/>
          </a:p>
          <a:p>
            <a:pPr marL="228600" indent="-228600">
              <a:buFont typeface="+mj-lt"/>
              <a:buAutoNum type="arabicPeriod"/>
            </a:pPr>
            <a:r>
              <a:rPr lang="ko-KR" altLang="en-US" dirty="0"/>
              <a:t>공고 목록 표시</a:t>
            </a:r>
            <a:r>
              <a:rPr lang="en-US" altLang="ko-KR" dirty="0"/>
              <a:t/>
            </a:r>
            <a:br>
              <a:rPr lang="en-US" altLang="ko-KR" dirty="0"/>
            </a:br>
            <a:r>
              <a:rPr lang="en-US" altLang="ko-KR" dirty="0"/>
              <a:t>- </a:t>
            </a:r>
            <a:r>
              <a:rPr lang="ko-KR" altLang="en-US" dirty="0"/>
              <a:t>공고 상단 레이블을 통한 정보 제공</a:t>
            </a:r>
            <a:r>
              <a:rPr lang="en-US" altLang="ko-KR" dirty="0"/>
              <a:t/>
            </a:r>
            <a:br>
              <a:rPr lang="en-US" altLang="ko-KR" dirty="0"/>
            </a:br>
            <a:r>
              <a:rPr lang="en-US" altLang="ko-KR" dirty="0"/>
              <a:t>- </a:t>
            </a:r>
            <a:r>
              <a:rPr lang="ko-KR" altLang="en-US" dirty="0"/>
              <a:t>제목 </a:t>
            </a:r>
            <a:r>
              <a:rPr lang="en-US" altLang="ko-KR" dirty="0"/>
              <a:t>2</a:t>
            </a:r>
            <a:r>
              <a:rPr lang="ko-KR" altLang="en-US" dirty="0"/>
              <a:t>줄 표시 이후 </a:t>
            </a:r>
            <a:r>
              <a:rPr lang="ko-KR" altLang="en-US" dirty="0" err="1"/>
              <a:t>말줄임표</a:t>
            </a:r>
            <a:r>
              <a:rPr lang="en-US" altLang="ko-KR" dirty="0"/>
              <a:t>(…)</a:t>
            </a:r>
            <a:br>
              <a:rPr lang="en-US" altLang="ko-KR" dirty="0"/>
            </a:br>
            <a:r>
              <a:rPr lang="en-US" altLang="ko-KR" dirty="0"/>
              <a:t>- </a:t>
            </a:r>
            <a:r>
              <a:rPr lang="ko-KR" altLang="en-US" dirty="0"/>
              <a:t>클릭으로 상세 이동</a:t>
            </a:r>
            <a:endParaRPr lang="en-US" altLang="ko-KR" dirty="0"/>
          </a:p>
          <a:p>
            <a:pPr marL="228600" indent="-228600">
              <a:buFont typeface="+mj-lt"/>
              <a:buAutoNum type="arabicPeriod"/>
            </a:pPr>
            <a:r>
              <a:rPr lang="en-US" altLang="ko-KR" dirty="0"/>
              <a:t>10</a:t>
            </a:r>
            <a:r>
              <a:rPr lang="ko-KR" altLang="en-US" dirty="0"/>
              <a:t>개 노출 이후 </a:t>
            </a:r>
            <a:r>
              <a:rPr lang="ko-KR" altLang="en-US" dirty="0" err="1"/>
              <a:t>더보기</a:t>
            </a:r>
            <a:r>
              <a:rPr lang="ko-KR" altLang="en-US" dirty="0"/>
              <a:t> 버튼 클릭으로 </a:t>
            </a:r>
            <a:r>
              <a:rPr lang="en-US" altLang="ko-KR" dirty="0"/>
              <a:t>10</a:t>
            </a:r>
            <a:r>
              <a:rPr lang="ko-KR" altLang="en-US" dirty="0"/>
              <a:t>개씩 추가 로드</a:t>
            </a:r>
            <a:endParaRPr lang="en-US" altLang="ko-KR" dirty="0"/>
          </a:p>
          <a:p>
            <a:pPr marL="228600" indent="-228600">
              <a:buFont typeface="+mj-lt"/>
              <a:buAutoNum type="arabicPeriod"/>
            </a:pPr>
            <a:r>
              <a:rPr lang="ko-KR" altLang="en-US" dirty="0"/>
              <a:t>표시 레이블</a:t>
            </a:r>
            <a:r>
              <a:rPr lang="en-US" altLang="ko-KR" dirty="0"/>
              <a:t/>
            </a:r>
            <a:br>
              <a:rPr lang="en-US" altLang="ko-KR" dirty="0"/>
            </a:br>
            <a:r>
              <a:rPr lang="en-US" altLang="ko-KR" dirty="0"/>
              <a:t>- 3</a:t>
            </a:r>
            <a:r>
              <a:rPr lang="ko-KR" altLang="en-US" dirty="0" err="1"/>
              <a:t>번항</a:t>
            </a:r>
            <a:r>
              <a:rPr lang="ko-KR" altLang="en-US" dirty="0"/>
              <a:t> </a:t>
            </a:r>
            <a:r>
              <a:rPr lang="ko-KR" altLang="en-US" dirty="0" err="1"/>
              <a:t>검색필터</a:t>
            </a:r>
            <a:r>
              <a:rPr lang="ko-KR" altLang="en-US" dirty="0"/>
              <a:t> 적용 시 표시</a:t>
            </a:r>
            <a:r>
              <a:rPr lang="en-US" altLang="ko-KR" dirty="0"/>
              <a:t/>
            </a:r>
            <a:br>
              <a:rPr lang="en-US" altLang="ko-KR" dirty="0"/>
            </a:br>
            <a:r>
              <a:rPr lang="en-US" altLang="ko-KR" dirty="0"/>
              <a:t>  &gt; </a:t>
            </a:r>
            <a:r>
              <a:rPr lang="ko-KR" altLang="en-US" dirty="0"/>
              <a:t>레이블이 화면을 넘치는 경우 드래그하여 확인 가능</a:t>
            </a:r>
            <a:r>
              <a:rPr lang="en-US" altLang="ko-KR" dirty="0"/>
              <a:t/>
            </a:r>
            <a:br>
              <a:rPr lang="en-US" altLang="ko-KR" dirty="0"/>
            </a:br>
            <a:r>
              <a:rPr lang="en-US" altLang="ko-KR" dirty="0"/>
              <a:t>- 4</a:t>
            </a:r>
            <a:r>
              <a:rPr lang="ko-KR" altLang="en-US" dirty="0" err="1"/>
              <a:t>번항</a:t>
            </a:r>
            <a:r>
              <a:rPr lang="ko-KR" altLang="en-US" dirty="0"/>
              <a:t> 공고 상단 표시</a:t>
            </a:r>
            <a:r>
              <a:rPr lang="en-US" altLang="ko-KR" dirty="0"/>
              <a:t/>
            </a:r>
            <a:br>
              <a:rPr lang="en-US" altLang="ko-KR" dirty="0"/>
            </a:br>
            <a:r>
              <a:rPr lang="en-US" altLang="ko-KR" dirty="0"/>
              <a:t>  &gt; </a:t>
            </a:r>
            <a:r>
              <a:rPr lang="ko-KR" altLang="en-US" dirty="0"/>
              <a:t>레이블이 화면을 넘치는 경우 드래그하여 확인 가능</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 공고</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목록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입찰공고</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5884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2" name="타원 51">
            <a:extLst>
              <a:ext uri="{FF2B5EF4-FFF2-40B4-BE49-F238E27FC236}">
                <a16:creationId xmlns:a16="http://schemas.microsoft.com/office/drawing/2014/main" id="{37A7FF4F-0EAA-1463-560A-D5EC24416103}"/>
              </a:ext>
            </a:extLst>
          </p:cNvPr>
          <p:cNvSpPr/>
          <p:nvPr/>
        </p:nvSpPr>
        <p:spPr>
          <a:xfrm>
            <a:off x="571127" y="291194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4" name="사각형: 둥근 모서리 31">
            <a:extLst>
              <a:ext uri="{FF2B5EF4-FFF2-40B4-BE49-F238E27FC236}">
                <a16:creationId xmlns:a16="http://schemas.microsoft.com/office/drawing/2014/main" id="{2AC143EE-93CF-3518-F0CB-8469E98507E0}"/>
              </a:ext>
            </a:extLst>
          </p:cNvPr>
          <p:cNvSpPr/>
          <p:nvPr/>
        </p:nvSpPr>
        <p:spPr>
          <a:xfrm>
            <a:off x="808106"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6" name="그룹 5"/>
          <p:cNvGrpSpPr/>
          <p:nvPr/>
        </p:nvGrpSpPr>
        <p:grpSpPr>
          <a:xfrm>
            <a:off x="781461" y="3258319"/>
            <a:ext cx="2473257" cy="1098561"/>
            <a:chOff x="781461" y="2610063"/>
            <a:chExt cx="2473257" cy="1098561"/>
          </a:xfrm>
        </p:grpSpPr>
        <p:sp>
          <p:nvSpPr>
            <p:cNvPr id="55" name="TextBox 58">
              <a:extLst>
                <a:ext uri="{FF2B5EF4-FFF2-40B4-BE49-F238E27FC236}">
                  <a16:creationId xmlns:a16="http://schemas.microsoft.com/office/drawing/2014/main" id="{02FC114B-B48B-345F-BD70-2B5A196F5B3E}"/>
                </a:ext>
              </a:extLst>
            </p:cNvPr>
            <p:cNvSpPr txBox="1"/>
            <p:nvPr/>
          </p:nvSpPr>
          <p:spPr>
            <a:xfrm>
              <a:off x="781461" y="2794394"/>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정상공고</a:t>
              </a:r>
              <a:r>
                <a:rPr lang="ko-KR" altLang="en-US" sz="700" dirty="0"/>
                <a:t> </a:t>
              </a:r>
              <a:r>
                <a:rPr lang="en-US" altLang="ko-KR" sz="700" dirty="0"/>
                <a:t>2026LGM000604191-01</a:t>
              </a:r>
            </a:p>
            <a:p>
              <a:r>
                <a:rPr lang="en-US" altLang="ko-KR" sz="900" b="1" dirty="0"/>
                <a:t>(26-</a:t>
              </a:r>
              <a:r>
                <a:rPr lang="ko-KR" altLang="en-US" sz="900" b="1" dirty="0">
                  <a:solidFill>
                    <a:schemeClr val="accent1">
                      <a:lumMod val="75000"/>
                    </a:schemeClr>
                  </a:solidFill>
                </a:rPr>
                <a:t>물품</a:t>
              </a:r>
              <a:r>
                <a:rPr lang="en-US" altLang="ko-KR" sz="900" b="1" dirty="0"/>
                <a:t>-04) </a:t>
              </a:r>
              <a:r>
                <a:rPr lang="ko-KR" altLang="en-US" sz="900" b="1" dirty="0"/>
                <a:t>간편한 </a:t>
              </a:r>
              <a:r>
                <a:rPr lang="ko-KR" altLang="en-US" sz="900" b="1" dirty="0" err="1"/>
                <a:t>아침식</a:t>
              </a:r>
              <a:r>
                <a:rPr lang="ko-KR" altLang="en-US" sz="900" b="1" dirty="0"/>
                <a:t> 제조 및 납품</a:t>
              </a:r>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3154626"/>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3139237"/>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2026-02-12</a:t>
              </a:r>
            </a:p>
            <a:p>
              <a:pPr>
                <a:lnSpc>
                  <a:spcPct val="150000"/>
                </a:lnSpc>
              </a:pPr>
              <a:r>
                <a:rPr lang="en-US" altLang="ko-KR" sz="600" dirty="0">
                  <a:latin typeface="+mn-ea"/>
                </a:rPr>
                <a:t>2026-03-16 15:00</a:t>
              </a:r>
            </a:p>
            <a:p>
              <a:pPr>
                <a:lnSpc>
                  <a:spcPct val="150000"/>
                </a:lnSpc>
              </a:pPr>
              <a:r>
                <a:rPr lang="en-US" altLang="ko-KR" sz="600" dirty="0">
                  <a:latin typeface="+mn-ea"/>
                </a:rPr>
                <a:t>2026-03-17 15:00</a:t>
              </a:r>
            </a:p>
            <a:p>
              <a:pPr>
                <a:lnSpc>
                  <a:spcPct val="150000"/>
                </a:lnSpc>
              </a:pPr>
              <a:r>
                <a:rPr lang="en-US" altLang="ko-KR" sz="600" dirty="0">
                  <a:latin typeface="+mn-ea"/>
                </a:rPr>
                <a:t>2026-03-26 11:00</a:t>
              </a:r>
              <a:endParaRPr lang="ko-KR" altLang="en-US" sz="600" dirty="0">
                <a:latin typeface="+mn-ea"/>
              </a:endParaRPr>
            </a:p>
          </p:txBody>
        </p:sp>
        <p:sp>
          <p:nvSpPr>
            <p:cNvPr id="67" name="모서리가 둥근 직사각형 66"/>
            <p:cNvSpPr/>
            <p:nvPr/>
          </p:nvSpPr>
          <p:spPr>
            <a:xfrm>
              <a:off x="781461" y="2610063"/>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grpSp>
      <p:grpSp>
        <p:nvGrpSpPr>
          <p:cNvPr id="69" name="그룹 68">
            <a:extLst>
              <a:ext uri="{FF2B5EF4-FFF2-40B4-BE49-F238E27FC236}">
                <a16:creationId xmlns:a16="http://schemas.microsoft.com/office/drawing/2014/main" id="{22BC05EE-C648-7CA2-4CCC-6E1C1A7E9BDA}"/>
              </a:ext>
            </a:extLst>
          </p:cNvPr>
          <p:cNvGrpSpPr/>
          <p:nvPr/>
        </p:nvGrpSpPr>
        <p:grpSpPr>
          <a:xfrm>
            <a:off x="1992981" y="5500573"/>
            <a:ext cx="76863" cy="292489"/>
            <a:chOff x="3750067" y="4683795"/>
            <a:chExt cx="76863" cy="292489"/>
          </a:xfrm>
        </p:grpSpPr>
        <p:sp>
          <p:nvSpPr>
            <p:cNvPr id="70" name="타원 6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1" name="타원 7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2" name="타원 7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73" name="그룹 72"/>
          <p:cNvGrpSpPr/>
          <p:nvPr/>
        </p:nvGrpSpPr>
        <p:grpSpPr>
          <a:xfrm>
            <a:off x="778515" y="4557648"/>
            <a:ext cx="2476203" cy="1098561"/>
            <a:chOff x="778515" y="2610063"/>
            <a:chExt cx="2476203" cy="1098561"/>
          </a:xfrm>
        </p:grpSpPr>
        <p:sp>
          <p:nvSpPr>
            <p:cNvPr id="74" name="TextBox 58">
              <a:extLst>
                <a:ext uri="{FF2B5EF4-FFF2-40B4-BE49-F238E27FC236}">
                  <a16:creationId xmlns:a16="http://schemas.microsoft.com/office/drawing/2014/main" id="{02FC114B-B48B-345F-BD70-2B5A196F5B3E}"/>
                </a:ext>
              </a:extLst>
            </p:cNvPr>
            <p:cNvSpPr txBox="1"/>
            <p:nvPr/>
          </p:nvSpPr>
          <p:spPr>
            <a:xfrm>
              <a:off x="781461" y="2794394"/>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정상공고</a:t>
              </a:r>
              <a:r>
                <a:rPr lang="ko-KR" altLang="en-US" sz="700" dirty="0"/>
                <a:t> </a:t>
              </a:r>
              <a:r>
                <a:rPr lang="en-US" altLang="ko-KR" sz="700" dirty="0"/>
                <a:t>2026LGM000604191-01</a:t>
              </a:r>
            </a:p>
            <a:p>
              <a:r>
                <a:rPr lang="en-US" altLang="ko-KR" sz="900" b="1" dirty="0"/>
                <a:t>(26-</a:t>
              </a:r>
              <a:r>
                <a:rPr lang="ko-KR" altLang="en-US" sz="900" b="1" dirty="0">
                  <a:solidFill>
                    <a:schemeClr val="accent1">
                      <a:lumMod val="75000"/>
                    </a:schemeClr>
                  </a:solidFill>
                </a:rPr>
                <a:t>물품</a:t>
              </a:r>
              <a:r>
                <a:rPr lang="en-US" altLang="ko-KR" sz="900" b="1" dirty="0"/>
                <a:t>-04) </a:t>
              </a:r>
              <a:r>
                <a:rPr lang="ko-KR" altLang="en-US" sz="900" b="1" dirty="0"/>
                <a:t>간편한 </a:t>
              </a:r>
              <a:r>
                <a:rPr lang="ko-KR" altLang="en-US" sz="900" b="1" dirty="0" err="1"/>
                <a:t>아침식</a:t>
              </a:r>
              <a:r>
                <a:rPr lang="ko-KR" altLang="en-US" sz="900" b="1" dirty="0"/>
                <a:t> 제조 및 납품</a:t>
              </a:r>
            </a:p>
          </p:txBody>
        </p:sp>
        <p:sp>
          <p:nvSpPr>
            <p:cNvPr id="75" name="TextBox 59">
              <a:extLst>
                <a:ext uri="{FF2B5EF4-FFF2-40B4-BE49-F238E27FC236}">
                  <a16:creationId xmlns:a16="http://schemas.microsoft.com/office/drawing/2014/main" id="{F77C802D-3BC8-270F-87FC-5F442BD8054D}"/>
                </a:ext>
              </a:extLst>
            </p:cNvPr>
            <p:cNvSpPr txBox="1"/>
            <p:nvPr/>
          </p:nvSpPr>
          <p:spPr>
            <a:xfrm>
              <a:off x="781461" y="3154626"/>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76" name="TextBox 60">
              <a:extLst>
                <a:ext uri="{FF2B5EF4-FFF2-40B4-BE49-F238E27FC236}">
                  <a16:creationId xmlns:a16="http://schemas.microsoft.com/office/drawing/2014/main" id="{8F5E3227-69E6-C89F-B8C5-534226E95EA8}"/>
                </a:ext>
              </a:extLst>
            </p:cNvPr>
            <p:cNvSpPr txBox="1"/>
            <p:nvPr/>
          </p:nvSpPr>
          <p:spPr>
            <a:xfrm>
              <a:off x="2596303" y="3139237"/>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2026-02-12</a:t>
              </a:r>
            </a:p>
            <a:p>
              <a:pPr>
                <a:lnSpc>
                  <a:spcPct val="150000"/>
                </a:lnSpc>
              </a:pPr>
              <a:r>
                <a:rPr lang="en-US" altLang="ko-KR" sz="600" dirty="0">
                  <a:latin typeface="+mn-ea"/>
                </a:rPr>
                <a:t>2026-03-16 15:00</a:t>
              </a:r>
            </a:p>
            <a:p>
              <a:pPr>
                <a:lnSpc>
                  <a:spcPct val="150000"/>
                </a:lnSpc>
              </a:pPr>
              <a:r>
                <a:rPr lang="en-US" altLang="ko-KR" sz="600" dirty="0">
                  <a:latin typeface="+mn-ea"/>
                </a:rPr>
                <a:t>2026-03-17 15:00</a:t>
              </a:r>
            </a:p>
            <a:p>
              <a:pPr>
                <a:lnSpc>
                  <a:spcPct val="150000"/>
                </a:lnSpc>
              </a:pPr>
              <a:r>
                <a:rPr lang="en-US" altLang="ko-KR" sz="600" dirty="0">
                  <a:latin typeface="+mn-ea"/>
                </a:rPr>
                <a:t>2026-03-26 11:00</a:t>
              </a:r>
              <a:endParaRPr lang="ko-KR" altLang="en-US" sz="600" dirty="0">
                <a:latin typeface="+mn-ea"/>
              </a:endParaRPr>
            </a:p>
          </p:txBody>
        </p:sp>
        <p:sp>
          <p:nvSpPr>
            <p:cNvPr id="77" name="모서리가 둥근 직사각형 76"/>
            <p:cNvSpPr/>
            <p:nvPr/>
          </p:nvSpPr>
          <p:spPr>
            <a:xfrm>
              <a:off x="778515" y="2610063"/>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78" name="모서리가 둥근 직사각형 77"/>
            <p:cNvSpPr/>
            <p:nvPr/>
          </p:nvSpPr>
          <p:spPr>
            <a:xfrm>
              <a:off x="1075655"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공개수의</a:t>
              </a:r>
              <a:endParaRPr lang="ko-KR" altLang="en-US" sz="600" dirty="0"/>
            </a:p>
          </p:txBody>
        </p:sp>
        <p:sp>
          <p:nvSpPr>
            <p:cNvPr id="81" name="모서리가 둥근 직사각형 80"/>
            <p:cNvSpPr/>
            <p:nvPr/>
          </p:nvSpPr>
          <p:spPr>
            <a:xfrm>
              <a:off x="1534668"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취소공고</a:t>
              </a:r>
              <a:endParaRPr lang="ko-KR" altLang="en-US" sz="600" dirty="0"/>
            </a:p>
          </p:txBody>
        </p:sp>
      </p:grpSp>
      <p:cxnSp>
        <p:nvCxnSpPr>
          <p:cNvPr id="79" name="직선 연결선 78">
            <a:extLst>
              <a:ext uri="{FF2B5EF4-FFF2-40B4-BE49-F238E27FC236}">
                <a16:creationId xmlns:a16="http://schemas.microsoft.com/office/drawing/2014/main" id="{E9293055-D5CD-4B9E-7F64-64B2D2CA7A52}"/>
              </a:ext>
            </a:extLst>
          </p:cNvPr>
          <p:cNvCxnSpPr/>
          <p:nvPr/>
        </p:nvCxnSpPr>
        <p:spPr>
          <a:xfrm>
            <a:off x="720490" y="443912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20490" y="316108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221015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1902673"/>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1934018"/>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2016004"/>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4" name="타원 133">
            <a:extLst>
              <a:ext uri="{FF2B5EF4-FFF2-40B4-BE49-F238E27FC236}">
                <a16:creationId xmlns:a16="http://schemas.microsoft.com/office/drawing/2014/main" id="{37A7FF4F-0EAA-1463-560A-D5EC24416103}"/>
              </a:ext>
            </a:extLst>
          </p:cNvPr>
          <p:cNvSpPr/>
          <p:nvPr/>
        </p:nvSpPr>
        <p:spPr>
          <a:xfrm>
            <a:off x="571127" y="362420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35" name="타원 134">
            <a:extLst>
              <a:ext uri="{FF2B5EF4-FFF2-40B4-BE49-F238E27FC236}">
                <a16:creationId xmlns:a16="http://schemas.microsoft.com/office/drawing/2014/main" id="{37A7FF4F-0EAA-1463-560A-D5EC24416103}"/>
              </a:ext>
            </a:extLst>
          </p:cNvPr>
          <p:cNvSpPr/>
          <p:nvPr/>
        </p:nvSpPr>
        <p:spPr>
          <a:xfrm>
            <a:off x="571127" y="58819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80" name="모서리가 둥근 직사각형 79"/>
          <p:cNvSpPr/>
          <p:nvPr/>
        </p:nvSpPr>
        <p:spPr>
          <a:xfrm>
            <a:off x="4614060" y="2544628"/>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82" name="모서리가 둥근 직사각형 81"/>
          <p:cNvSpPr/>
          <p:nvPr/>
        </p:nvSpPr>
        <p:spPr>
          <a:xfrm>
            <a:off x="4318635" y="287715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83" name="TextBox 82">
            <a:extLst>
              <a:ext uri="{FF2B5EF4-FFF2-40B4-BE49-F238E27FC236}">
                <a16:creationId xmlns:a16="http://schemas.microsoft.com/office/drawing/2014/main" id="{FFC49AEA-2A8F-250C-A86A-A7751D9706C3}"/>
              </a:ext>
            </a:extLst>
          </p:cNvPr>
          <p:cNvSpPr txBox="1"/>
          <p:nvPr/>
        </p:nvSpPr>
        <p:spPr>
          <a:xfrm>
            <a:off x="4318635" y="2025433"/>
            <a:ext cx="547346" cy="107722"/>
          </a:xfrm>
          <a:prstGeom prst="rect">
            <a:avLst/>
          </a:prstGeom>
          <a:noFill/>
        </p:spPr>
        <p:txBody>
          <a:bodyPr wrap="square" lIns="0" tIns="0" rIns="0" bIns="0" rtlCol="0">
            <a:spAutoFit/>
          </a:bodyPr>
          <a:lstStyle/>
          <a:p>
            <a:r>
              <a:rPr lang="ko-KR" altLang="en-US" sz="700" dirty="0">
                <a:latin typeface="+mn-ea"/>
              </a:rPr>
              <a:t>표시 레이블</a:t>
            </a:r>
          </a:p>
        </p:txBody>
      </p:sp>
      <p:sp>
        <p:nvSpPr>
          <p:cNvPr id="84" name="모서리가 둥근 직사각형 83"/>
          <p:cNvSpPr/>
          <p:nvPr/>
        </p:nvSpPr>
        <p:spPr>
          <a:xfrm>
            <a:off x="4914986" y="2544628"/>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용역</a:t>
            </a:r>
          </a:p>
        </p:txBody>
      </p:sp>
      <p:sp>
        <p:nvSpPr>
          <p:cNvPr id="85" name="모서리가 둥근 직사각형 84"/>
          <p:cNvSpPr/>
          <p:nvPr/>
        </p:nvSpPr>
        <p:spPr>
          <a:xfrm>
            <a:off x="5215975" y="2544628"/>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공사</a:t>
            </a:r>
          </a:p>
        </p:txBody>
      </p:sp>
      <p:sp>
        <p:nvSpPr>
          <p:cNvPr id="86" name="모서리가 둥근 직사각형 85"/>
          <p:cNvSpPr/>
          <p:nvPr/>
        </p:nvSpPr>
        <p:spPr>
          <a:xfrm>
            <a:off x="5519047" y="2544628"/>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87" name="모서리가 둥근 직사각형 86"/>
          <p:cNvSpPr/>
          <p:nvPr/>
        </p:nvSpPr>
        <p:spPr>
          <a:xfrm>
            <a:off x="4318635" y="2544628"/>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전체</a:t>
            </a:r>
          </a:p>
        </p:txBody>
      </p:sp>
      <p:sp>
        <p:nvSpPr>
          <p:cNvPr id="88" name="모서리가 둥근 직사각형 87"/>
          <p:cNvSpPr/>
          <p:nvPr/>
        </p:nvSpPr>
        <p:spPr>
          <a:xfrm>
            <a:off x="4777608" y="287860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공개수의</a:t>
            </a:r>
            <a:endParaRPr lang="ko-KR" altLang="en-US" sz="600" dirty="0"/>
          </a:p>
        </p:txBody>
      </p:sp>
      <p:sp>
        <p:nvSpPr>
          <p:cNvPr id="89" name="모서리가 둥근 직사각형 88"/>
          <p:cNvSpPr/>
          <p:nvPr/>
        </p:nvSpPr>
        <p:spPr>
          <a:xfrm>
            <a:off x="5236755" y="287860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90" name="모서리가 둥근 직사각형 89"/>
          <p:cNvSpPr/>
          <p:nvPr/>
        </p:nvSpPr>
        <p:spPr>
          <a:xfrm>
            <a:off x="4318635" y="32125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정상공고</a:t>
            </a:r>
            <a:endParaRPr lang="ko-KR" altLang="en-US" sz="600" dirty="0"/>
          </a:p>
        </p:txBody>
      </p:sp>
      <p:sp>
        <p:nvSpPr>
          <p:cNvPr id="91" name="모서리가 둥근 직사각형 90"/>
          <p:cNvSpPr/>
          <p:nvPr/>
        </p:nvSpPr>
        <p:spPr>
          <a:xfrm>
            <a:off x="4777608" y="32125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긴급공고</a:t>
            </a:r>
            <a:endParaRPr lang="ko-KR" altLang="en-US" sz="600" dirty="0"/>
          </a:p>
        </p:txBody>
      </p:sp>
      <p:sp>
        <p:nvSpPr>
          <p:cNvPr id="92" name="모서리가 둥근 직사각형 91"/>
          <p:cNvSpPr/>
          <p:nvPr/>
        </p:nvSpPr>
        <p:spPr>
          <a:xfrm>
            <a:off x="5236755" y="32125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정정공고</a:t>
            </a:r>
            <a:endParaRPr lang="ko-KR" altLang="en-US" sz="600" dirty="0"/>
          </a:p>
        </p:txBody>
      </p:sp>
      <p:sp>
        <p:nvSpPr>
          <p:cNvPr id="93" name="모서리가 둥근 직사각형 92"/>
          <p:cNvSpPr/>
          <p:nvPr/>
        </p:nvSpPr>
        <p:spPr>
          <a:xfrm>
            <a:off x="5701530" y="32125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취소공고</a:t>
            </a:r>
            <a:endParaRPr lang="ko-KR" altLang="en-US" sz="600" dirty="0"/>
          </a:p>
        </p:txBody>
      </p:sp>
      <p:sp>
        <p:nvSpPr>
          <p:cNvPr id="94" name="모서리가 둥근 직사각형 93"/>
          <p:cNvSpPr/>
          <p:nvPr/>
        </p:nvSpPr>
        <p:spPr>
          <a:xfrm>
            <a:off x="6160677" y="32125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연기공고</a:t>
            </a:r>
            <a:endParaRPr lang="ko-KR" altLang="en-US" sz="600" dirty="0"/>
          </a:p>
        </p:txBody>
      </p:sp>
      <p:sp>
        <p:nvSpPr>
          <p:cNvPr id="95" name="모서리가 둥근 직사각형 94"/>
          <p:cNvSpPr/>
          <p:nvPr/>
        </p:nvSpPr>
        <p:spPr>
          <a:xfrm>
            <a:off x="4318635" y="3393240"/>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재공고</a:t>
            </a:r>
            <a:endParaRPr lang="ko-KR" altLang="en-US" sz="600" dirty="0"/>
          </a:p>
        </p:txBody>
      </p:sp>
      <p:sp>
        <p:nvSpPr>
          <p:cNvPr id="96" name="모서리가 둥근 직사각형 95"/>
          <p:cNvSpPr/>
          <p:nvPr/>
        </p:nvSpPr>
        <p:spPr>
          <a:xfrm>
            <a:off x="4777608" y="3393240"/>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갱신공고</a:t>
            </a:r>
            <a:endParaRPr lang="ko-KR" altLang="en-US" sz="600" dirty="0"/>
          </a:p>
        </p:txBody>
      </p:sp>
      <p:sp>
        <p:nvSpPr>
          <p:cNvPr id="97" name="모서리가 둥근 직사각형 96"/>
          <p:cNvSpPr/>
          <p:nvPr/>
        </p:nvSpPr>
        <p:spPr>
          <a:xfrm>
            <a:off x="5236755" y="3393240"/>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긴급공고</a:t>
            </a:r>
            <a:endParaRPr lang="ko-KR" altLang="en-US" sz="600" dirty="0"/>
          </a:p>
        </p:txBody>
      </p:sp>
      <p:sp>
        <p:nvSpPr>
          <p:cNvPr id="98" name="모서리가 둥근 직사각형 97"/>
          <p:cNvSpPr/>
          <p:nvPr/>
        </p:nvSpPr>
        <p:spPr>
          <a:xfrm>
            <a:off x="5701530" y="3393240"/>
            <a:ext cx="466807"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재공고</a:t>
            </a:r>
            <a:r>
              <a:rPr lang="en-US" altLang="ko-KR" sz="600" dirty="0"/>
              <a:t>(3</a:t>
            </a:r>
            <a:r>
              <a:rPr lang="ko-KR" altLang="en-US" sz="600" dirty="0"/>
              <a:t>차</a:t>
            </a:r>
            <a:r>
              <a:rPr lang="en-US" altLang="ko-KR" sz="600" dirty="0"/>
              <a:t>)</a:t>
            </a:r>
            <a:endParaRPr lang="ko-KR" altLang="en-US" sz="600" dirty="0"/>
          </a:p>
        </p:txBody>
      </p:sp>
      <p:sp>
        <p:nvSpPr>
          <p:cNvPr id="99" name="모서리가 둥근 직사각형 98"/>
          <p:cNvSpPr/>
          <p:nvPr/>
        </p:nvSpPr>
        <p:spPr>
          <a:xfrm>
            <a:off x="6242203" y="3393240"/>
            <a:ext cx="67393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긴급갱신</a:t>
            </a:r>
            <a:r>
              <a:rPr lang="ko-KR" altLang="en-US" sz="600" dirty="0"/>
              <a:t> </a:t>
            </a:r>
            <a:r>
              <a:rPr lang="ko-KR" altLang="en-US" sz="600" dirty="0" err="1"/>
              <a:t>재공고</a:t>
            </a:r>
            <a:endParaRPr lang="ko-KR" altLang="en-US" sz="600" dirty="0"/>
          </a:p>
        </p:txBody>
      </p:sp>
      <p:sp>
        <p:nvSpPr>
          <p:cNvPr id="100" name="TextBox 99">
            <a:extLst>
              <a:ext uri="{FF2B5EF4-FFF2-40B4-BE49-F238E27FC236}">
                <a16:creationId xmlns:a16="http://schemas.microsoft.com/office/drawing/2014/main" id="{FFC49AEA-2A8F-250C-A86A-A7751D9706C3}"/>
              </a:ext>
            </a:extLst>
          </p:cNvPr>
          <p:cNvSpPr txBox="1"/>
          <p:nvPr/>
        </p:nvSpPr>
        <p:spPr>
          <a:xfrm>
            <a:off x="3840447" y="2550467"/>
            <a:ext cx="547346" cy="107722"/>
          </a:xfrm>
          <a:prstGeom prst="rect">
            <a:avLst/>
          </a:prstGeom>
          <a:noFill/>
        </p:spPr>
        <p:txBody>
          <a:bodyPr wrap="square" lIns="0" tIns="0" rIns="0" bIns="0" rtlCol="0">
            <a:spAutoFit/>
          </a:bodyPr>
          <a:lstStyle/>
          <a:p>
            <a:r>
              <a:rPr lang="ko-KR" altLang="en-US" sz="700" dirty="0" err="1">
                <a:latin typeface="+mn-ea"/>
              </a:rPr>
              <a:t>업무구분</a:t>
            </a:r>
            <a:endParaRPr lang="ko-KR" altLang="en-US" sz="700" dirty="0">
              <a:latin typeface="+mn-ea"/>
            </a:endParaRPr>
          </a:p>
        </p:txBody>
      </p:sp>
      <p:sp>
        <p:nvSpPr>
          <p:cNvPr id="101" name="TextBox 100">
            <a:extLst>
              <a:ext uri="{FF2B5EF4-FFF2-40B4-BE49-F238E27FC236}">
                <a16:creationId xmlns:a16="http://schemas.microsoft.com/office/drawing/2014/main" id="{FFC49AEA-2A8F-250C-A86A-A7751D9706C3}"/>
              </a:ext>
            </a:extLst>
          </p:cNvPr>
          <p:cNvSpPr txBox="1"/>
          <p:nvPr/>
        </p:nvSpPr>
        <p:spPr>
          <a:xfrm>
            <a:off x="3840447" y="2882998"/>
            <a:ext cx="547346" cy="107722"/>
          </a:xfrm>
          <a:prstGeom prst="rect">
            <a:avLst/>
          </a:prstGeom>
          <a:noFill/>
        </p:spPr>
        <p:txBody>
          <a:bodyPr wrap="square" lIns="0" tIns="0" rIns="0" bIns="0" rtlCol="0">
            <a:spAutoFit/>
          </a:bodyPr>
          <a:lstStyle/>
          <a:p>
            <a:r>
              <a:rPr lang="ko-KR" altLang="en-US" sz="700" dirty="0" err="1">
                <a:latin typeface="+mn-ea"/>
              </a:rPr>
              <a:t>입찰구분</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3840447" y="3218425"/>
            <a:ext cx="547346" cy="107722"/>
          </a:xfrm>
          <a:prstGeom prst="rect">
            <a:avLst/>
          </a:prstGeom>
          <a:noFill/>
        </p:spPr>
        <p:txBody>
          <a:bodyPr wrap="square" lIns="0" tIns="0" rIns="0" bIns="0" rtlCol="0">
            <a:spAutoFit/>
          </a:bodyPr>
          <a:lstStyle/>
          <a:p>
            <a:r>
              <a:rPr lang="ko-KR" altLang="en-US" sz="700" dirty="0" err="1">
                <a:latin typeface="+mn-ea"/>
              </a:rPr>
              <a:t>공고구분</a:t>
            </a:r>
            <a:endParaRPr lang="ko-KR" altLang="en-US" sz="700" dirty="0">
              <a:latin typeface="+mn-ea"/>
            </a:endParaRPr>
          </a:p>
        </p:txBody>
      </p:sp>
      <p:sp>
        <p:nvSpPr>
          <p:cNvPr id="103" name="모서리가 둥근 직사각형 102"/>
          <p:cNvSpPr/>
          <p:nvPr/>
        </p:nvSpPr>
        <p:spPr>
          <a:xfrm>
            <a:off x="4318635" y="3736024"/>
            <a:ext cx="32794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신기술</a:t>
            </a:r>
          </a:p>
        </p:txBody>
      </p:sp>
      <p:sp>
        <p:nvSpPr>
          <p:cNvPr id="104" name="TextBox 103">
            <a:extLst>
              <a:ext uri="{FF2B5EF4-FFF2-40B4-BE49-F238E27FC236}">
                <a16:creationId xmlns:a16="http://schemas.microsoft.com/office/drawing/2014/main" id="{FFC49AEA-2A8F-250C-A86A-A7751D9706C3}"/>
              </a:ext>
            </a:extLst>
          </p:cNvPr>
          <p:cNvSpPr txBox="1"/>
          <p:nvPr/>
        </p:nvSpPr>
        <p:spPr>
          <a:xfrm>
            <a:off x="3840447" y="3741863"/>
            <a:ext cx="547346" cy="107722"/>
          </a:xfrm>
          <a:prstGeom prst="rect">
            <a:avLst/>
          </a:prstGeom>
          <a:noFill/>
        </p:spPr>
        <p:txBody>
          <a:bodyPr wrap="square" lIns="0" tIns="0" rIns="0" bIns="0" rtlCol="0">
            <a:spAutoFit/>
          </a:bodyPr>
          <a:lstStyle/>
          <a:p>
            <a:r>
              <a:rPr lang="ko-KR" altLang="en-US" sz="700" dirty="0" err="1">
                <a:latin typeface="+mn-ea"/>
              </a:rPr>
              <a:t>신기술여부</a:t>
            </a:r>
            <a:endParaRPr lang="ko-KR" altLang="en-US" sz="700" dirty="0">
              <a:latin typeface="+mn-ea"/>
            </a:endParaRPr>
          </a:p>
        </p:txBody>
      </p:sp>
      <p:sp>
        <p:nvSpPr>
          <p:cNvPr id="105" name="모서리가 둥근 직사각형 104"/>
          <p:cNvSpPr/>
          <p:nvPr/>
        </p:nvSpPr>
        <p:spPr>
          <a:xfrm>
            <a:off x="4318635" y="407296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기능전체</a:t>
            </a:r>
            <a:endParaRPr lang="ko-KR" altLang="en-US" sz="600" dirty="0"/>
          </a:p>
        </p:txBody>
      </p:sp>
      <p:sp>
        <p:nvSpPr>
          <p:cNvPr id="106" name="TextBox 105">
            <a:extLst>
              <a:ext uri="{FF2B5EF4-FFF2-40B4-BE49-F238E27FC236}">
                <a16:creationId xmlns:a16="http://schemas.microsoft.com/office/drawing/2014/main" id="{FFC49AEA-2A8F-250C-A86A-A7751D9706C3}"/>
              </a:ext>
            </a:extLst>
          </p:cNvPr>
          <p:cNvSpPr txBox="1"/>
          <p:nvPr/>
        </p:nvSpPr>
        <p:spPr>
          <a:xfrm>
            <a:off x="3840447" y="4078808"/>
            <a:ext cx="547346" cy="107722"/>
          </a:xfrm>
          <a:prstGeom prst="rect">
            <a:avLst/>
          </a:prstGeom>
          <a:noFill/>
        </p:spPr>
        <p:txBody>
          <a:bodyPr wrap="square" lIns="0" tIns="0" rIns="0" bIns="0" rtlCol="0">
            <a:spAutoFit/>
          </a:bodyPr>
          <a:lstStyle/>
          <a:p>
            <a:r>
              <a:rPr lang="ko-KR" altLang="en-US" sz="700" dirty="0">
                <a:latin typeface="+mn-ea"/>
              </a:rPr>
              <a:t>기능</a:t>
            </a:r>
          </a:p>
        </p:txBody>
      </p:sp>
      <p:sp>
        <p:nvSpPr>
          <p:cNvPr id="107" name="모서리가 둥근 직사각형 106"/>
          <p:cNvSpPr/>
          <p:nvPr/>
        </p:nvSpPr>
        <p:spPr>
          <a:xfrm>
            <a:off x="4779973" y="4072969"/>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항공</a:t>
            </a:r>
            <a:endParaRPr lang="ko-KR" altLang="en-US" sz="600" dirty="0"/>
          </a:p>
        </p:txBody>
      </p:sp>
      <p:sp>
        <p:nvSpPr>
          <p:cNvPr id="108" name="모서리가 둥근 직사각형 107"/>
          <p:cNvSpPr/>
          <p:nvPr/>
        </p:nvSpPr>
        <p:spPr>
          <a:xfrm>
            <a:off x="5098543" y="4072969"/>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화력</a:t>
            </a:r>
            <a:endParaRPr lang="ko-KR" altLang="en-US" sz="600" dirty="0"/>
          </a:p>
        </p:txBody>
      </p:sp>
      <p:sp>
        <p:nvSpPr>
          <p:cNvPr id="109" name="모서리가 둥근 직사각형 108"/>
          <p:cNvSpPr/>
          <p:nvPr/>
        </p:nvSpPr>
        <p:spPr>
          <a:xfrm>
            <a:off x="5417113" y="4072969"/>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함정</a:t>
            </a:r>
            <a:endParaRPr lang="ko-KR" altLang="en-US" sz="600" dirty="0"/>
          </a:p>
        </p:txBody>
      </p:sp>
      <p:sp>
        <p:nvSpPr>
          <p:cNvPr id="110" name="모서리가 둥근 직사각형 109"/>
          <p:cNvSpPr/>
          <p:nvPr/>
        </p:nvSpPr>
        <p:spPr>
          <a:xfrm>
            <a:off x="5735683" y="4072969"/>
            <a:ext cx="51006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통신</a:t>
            </a:r>
            <a:r>
              <a:rPr lang="en-US" altLang="ko-KR" sz="600" dirty="0"/>
              <a:t>(</a:t>
            </a:r>
            <a:r>
              <a:rPr lang="ko-KR" altLang="en-US" sz="600" dirty="0"/>
              <a:t>건전지</a:t>
            </a:r>
            <a:r>
              <a:rPr lang="en-US" altLang="ko-KR" sz="600" dirty="0"/>
              <a:t>)</a:t>
            </a:r>
            <a:endParaRPr lang="ko-KR" altLang="en-US" sz="600" dirty="0"/>
          </a:p>
        </p:txBody>
      </p:sp>
      <p:sp>
        <p:nvSpPr>
          <p:cNvPr id="111" name="모서리가 둥근 직사각형 110"/>
          <p:cNvSpPr/>
          <p:nvPr/>
        </p:nvSpPr>
        <p:spPr>
          <a:xfrm>
            <a:off x="6310662" y="4072969"/>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공병</a:t>
            </a:r>
            <a:endParaRPr lang="ko-KR" altLang="en-US" sz="600" dirty="0"/>
          </a:p>
        </p:txBody>
      </p:sp>
      <p:sp>
        <p:nvSpPr>
          <p:cNvPr id="112" name="모서리가 둥근 직사각형 111"/>
          <p:cNvSpPr/>
          <p:nvPr/>
        </p:nvSpPr>
        <p:spPr>
          <a:xfrm>
            <a:off x="6629233" y="4072969"/>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방공</a:t>
            </a:r>
          </a:p>
        </p:txBody>
      </p:sp>
      <p:sp>
        <p:nvSpPr>
          <p:cNvPr id="113" name="모서리가 둥근 직사각형 112"/>
          <p:cNvSpPr/>
          <p:nvPr/>
        </p:nvSpPr>
        <p:spPr>
          <a:xfrm>
            <a:off x="4318635" y="4249363"/>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기동</a:t>
            </a:r>
          </a:p>
        </p:txBody>
      </p:sp>
      <p:sp>
        <p:nvSpPr>
          <p:cNvPr id="114" name="모서리가 둥근 직사각형 113"/>
          <p:cNvSpPr/>
          <p:nvPr/>
        </p:nvSpPr>
        <p:spPr>
          <a:xfrm>
            <a:off x="4632613" y="4249363"/>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유류</a:t>
            </a:r>
          </a:p>
        </p:txBody>
      </p:sp>
      <p:sp>
        <p:nvSpPr>
          <p:cNvPr id="115" name="모서리가 둥근 직사각형 114"/>
          <p:cNvSpPr/>
          <p:nvPr/>
        </p:nvSpPr>
        <p:spPr>
          <a:xfrm>
            <a:off x="4946591" y="4249363"/>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탄약</a:t>
            </a:r>
          </a:p>
        </p:txBody>
      </p:sp>
      <p:sp>
        <p:nvSpPr>
          <p:cNvPr id="116" name="모서리가 둥근 직사각형 115"/>
          <p:cNvSpPr/>
          <p:nvPr/>
        </p:nvSpPr>
        <p:spPr>
          <a:xfrm>
            <a:off x="5260569" y="4249363"/>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수송</a:t>
            </a:r>
          </a:p>
        </p:txBody>
      </p:sp>
      <p:sp>
        <p:nvSpPr>
          <p:cNvPr id="117" name="모서리가 둥근 직사각형 116"/>
          <p:cNvSpPr/>
          <p:nvPr/>
        </p:nvSpPr>
        <p:spPr>
          <a:xfrm>
            <a:off x="5574547" y="4249363"/>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화학</a:t>
            </a:r>
          </a:p>
        </p:txBody>
      </p:sp>
      <p:sp>
        <p:nvSpPr>
          <p:cNvPr id="118" name="모서리가 둥근 직사각형 117"/>
          <p:cNvSpPr/>
          <p:nvPr/>
        </p:nvSpPr>
        <p:spPr>
          <a:xfrm>
            <a:off x="5888525" y="4249363"/>
            <a:ext cx="58680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병참</a:t>
            </a:r>
            <a:r>
              <a:rPr lang="en-US" altLang="ko-KR" sz="600" dirty="0"/>
              <a:t>(</a:t>
            </a:r>
            <a:r>
              <a:rPr lang="ko-KR" altLang="en-US" sz="600" dirty="0" err="1"/>
              <a:t>일반물자</a:t>
            </a:r>
            <a:r>
              <a:rPr lang="en-US" altLang="ko-KR" sz="600" dirty="0"/>
              <a:t>)</a:t>
            </a:r>
            <a:endParaRPr lang="ko-KR" altLang="en-US" sz="600" dirty="0"/>
          </a:p>
        </p:txBody>
      </p:sp>
      <p:sp>
        <p:nvSpPr>
          <p:cNvPr id="119" name="모서리가 둥근 직사각형 118"/>
          <p:cNvSpPr/>
          <p:nvPr/>
        </p:nvSpPr>
        <p:spPr>
          <a:xfrm>
            <a:off x="4318635" y="4421592"/>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화공약품</a:t>
            </a:r>
          </a:p>
        </p:txBody>
      </p:sp>
      <p:sp>
        <p:nvSpPr>
          <p:cNvPr id="120" name="모서리가 둥근 직사각형 119"/>
          <p:cNvSpPr/>
          <p:nvPr/>
        </p:nvSpPr>
        <p:spPr>
          <a:xfrm>
            <a:off x="4770377" y="4421592"/>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기타</a:t>
            </a:r>
          </a:p>
        </p:txBody>
      </p:sp>
      <p:sp>
        <p:nvSpPr>
          <p:cNvPr id="123" name="모서리가 둥근 직사각형 122"/>
          <p:cNvSpPr/>
          <p:nvPr/>
        </p:nvSpPr>
        <p:spPr>
          <a:xfrm>
            <a:off x="5084355" y="4421592"/>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용역</a:t>
            </a:r>
          </a:p>
        </p:txBody>
      </p:sp>
      <p:sp>
        <p:nvSpPr>
          <p:cNvPr id="136" name="모서리가 둥근 직사각형 135"/>
          <p:cNvSpPr/>
          <p:nvPr/>
        </p:nvSpPr>
        <p:spPr>
          <a:xfrm>
            <a:off x="5398333" y="4421592"/>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의무</a:t>
            </a:r>
          </a:p>
        </p:txBody>
      </p:sp>
      <p:sp>
        <p:nvSpPr>
          <p:cNvPr id="137" name="모서리가 둥근 직사각형 136"/>
          <p:cNvSpPr/>
          <p:nvPr/>
        </p:nvSpPr>
        <p:spPr>
          <a:xfrm>
            <a:off x="5712311" y="4421592"/>
            <a:ext cx="43026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공통적용</a:t>
            </a:r>
            <a:endParaRPr lang="ko-KR" altLang="en-US" sz="600" dirty="0"/>
          </a:p>
        </p:txBody>
      </p:sp>
      <p:sp>
        <p:nvSpPr>
          <p:cNvPr id="138" name="모서리가 둥근 직사각형 137"/>
          <p:cNvSpPr/>
          <p:nvPr/>
        </p:nvSpPr>
        <p:spPr>
          <a:xfrm>
            <a:off x="4318635" y="477280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en-US" altLang="ko-KR" sz="600" dirty="0"/>
              <a:t>OCR</a:t>
            </a:r>
            <a:r>
              <a:rPr lang="ko-KR" altLang="en-US" sz="600" dirty="0"/>
              <a:t>입찰</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3840447" y="4778640"/>
            <a:ext cx="547346" cy="107722"/>
          </a:xfrm>
          <a:prstGeom prst="rect">
            <a:avLst/>
          </a:prstGeom>
          <a:noFill/>
        </p:spPr>
        <p:txBody>
          <a:bodyPr wrap="square" lIns="0" tIns="0" rIns="0" bIns="0" rtlCol="0">
            <a:spAutoFit/>
          </a:bodyPr>
          <a:lstStyle/>
          <a:p>
            <a:r>
              <a:rPr lang="ko-KR" altLang="en-US" sz="700" dirty="0" err="1">
                <a:latin typeface="+mn-ea"/>
              </a:rPr>
              <a:t>입찰매체</a:t>
            </a:r>
            <a:endParaRPr lang="ko-KR" altLang="en-US" sz="700" dirty="0">
              <a:latin typeface="+mn-ea"/>
            </a:endParaRPr>
          </a:p>
        </p:txBody>
      </p:sp>
      <p:sp>
        <p:nvSpPr>
          <p:cNvPr id="140" name="모서리가 둥근 직사각형 139"/>
          <p:cNvSpPr/>
          <p:nvPr/>
        </p:nvSpPr>
        <p:spPr>
          <a:xfrm>
            <a:off x="4774588" y="4772801"/>
            <a:ext cx="3994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일반입찰</a:t>
            </a:r>
            <a:endParaRPr lang="ko-KR" altLang="en-US" sz="600" dirty="0"/>
          </a:p>
        </p:txBody>
      </p:sp>
      <p:sp>
        <p:nvSpPr>
          <p:cNvPr id="141" name="모서리가 둥근 직사각형 140"/>
          <p:cNvSpPr/>
          <p:nvPr/>
        </p:nvSpPr>
        <p:spPr>
          <a:xfrm>
            <a:off x="5235244" y="4772801"/>
            <a:ext cx="3994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전자입찰</a:t>
            </a:r>
          </a:p>
        </p:txBody>
      </p:sp>
      <p:sp>
        <p:nvSpPr>
          <p:cNvPr id="142" name="모서리가 둥근 직사각형 141"/>
          <p:cNvSpPr/>
          <p:nvPr/>
        </p:nvSpPr>
        <p:spPr>
          <a:xfrm>
            <a:off x="5698510" y="4772801"/>
            <a:ext cx="43623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en-US" altLang="ko-KR" sz="600" dirty="0"/>
              <a:t>OMR</a:t>
            </a:r>
            <a:r>
              <a:rPr lang="ko-KR" altLang="en-US" sz="600" dirty="0"/>
              <a:t>입찰</a:t>
            </a:r>
          </a:p>
        </p:txBody>
      </p:sp>
      <p:sp>
        <p:nvSpPr>
          <p:cNvPr id="143" name="모서리가 둥근 직사각형 142"/>
          <p:cNvSpPr/>
          <p:nvPr/>
        </p:nvSpPr>
        <p:spPr>
          <a:xfrm>
            <a:off x="6203789" y="4772801"/>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역경매</a:t>
            </a:r>
            <a:endParaRPr lang="ko-KR" altLang="en-US" sz="600" dirty="0"/>
          </a:p>
        </p:txBody>
      </p:sp>
      <p:sp>
        <p:nvSpPr>
          <p:cNvPr id="144" name="모서리가 둥근 직사각형 143"/>
          <p:cNvSpPr/>
          <p:nvPr/>
        </p:nvSpPr>
        <p:spPr>
          <a:xfrm>
            <a:off x="6589589" y="4772801"/>
            <a:ext cx="3994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전산입찰</a:t>
            </a:r>
            <a:endParaRPr lang="ko-KR" altLang="en-US" sz="600" dirty="0"/>
          </a:p>
        </p:txBody>
      </p:sp>
      <p:sp>
        <p:nvSpPr>
          <p:cNvPr id="145" name="모서리가 둥근 직사각형 144"/>
          <p:cNvSpPr/>
          <p:nvPr/>
        </p:nvSpPr>
        <p:spPr>
          <a:xfrm>
            <a:off x="4318635" y="513553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일반경쟁</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3840447" y="5141375"/>
            <a:ext cx="547346" cy="107722"/>
          </a:xfrm>
          <a:prstGeom prst="rect">
            <a:avLst/>
          </a:prstGeom>
          <a:noFill/>
        </p:spPr>
        <p:txBody>
          <a:bodyPr wrap="square" lIns="0" tIns="0" rIns="0" bIns="0" rtlCol="0">
            <a:spAutoFit/>
          </a:bodyPr>
          <a:lstStyle/>
          <a:p>
            <a:r>
              <a:rPr lang="ko-KR" altLang="en-US" sz="700" dirty="0">
                <a:latin typeface="+mn-ea"/>
              </a:rPr>
              <a:t>계약방법</a:t>
            </a:r>
          </a:p>
        </p:txBody>
      </p:sp>
      <p:sp>
        <p:nvSpPr>
          <p:cNvPr id="147" name="모서리가 둥근 직사각형 146"/>
          <p:cNvSpPr/>
          <p:nvPr/>
        </p:nvSpPr>
        <p:spPr>
          <a:xfrm>
            <a:off x="4776097" y="513553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지명경쟁</a:t>
            </a:r>
          </a:p>
        </p:txBody>
      </p:sp>
      <p:sp>
        <p:nvSpPr>
          <p:cNvPr id="149" name="모서리가 둥근 직사각형 148"/>
          <p:cNvSpPr/>
          <p:nvPr/>
        </p:nvSpPr>
        <p:spPr>
          <a:xfrm>
            <a:off x="5232765" y="513553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제한경쟁</a:t>
            </a:r>
          </a:p>
        </p:txBody>
      </p:sp>
      <p:sp>
        <p:nvSpPr>
          <p:cNvPr id="150" name="모서리가 둥근 직사각형 149"/>
          <p:cNvSpPr/>
          <p:nvPr/>
        </p:nvSpPr>
        <p:spPr>
          <a:xfrm>
            <a:off x="5690227" y="513553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복수경쟁</a:t>
            </a:r>
            <a:endParaRPr lang="ko-KR" altLang="en-US" sz="600" dirty="0"/>
          </a:p>
        </p:txBody>
      </p:sp>
      <p:sp>
        <p:nvSpPr>
          <p:cNvPr id="151" name="모서리가 둥근 직사각형 150"/>
          <p:cNvSpPr/>
          <p:nvPr/>
        </p:nvSpPr>
        <p:spPr>
          <a:xfrm>
            <a:off x="6147576" y="513553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수의계약</a:t>
            </a:r>
          </a:p>
        </p:txBody>
      </p:sp>
      <p:sp>
        <p:nvSpPr>
          <p:cNvPr id="152" name="모서리가 둥근 직사각형 151"/>
          <p:cNvSpPr/>
          <p:nvPr/>
        </p:nvSpPr>
        <p:spPr>
          <a:xfrm>
            <a:off x="4318635" y="5307915"/>
            <a:ext cx="83407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협상에의한</a:t>
            </a:r>
            <a:r>
              <a:rPr lang="ko-KR" altLang="en-US" sz="600" dirty="0"/>
              <a:t> 계약</a:t>
            </a:r>
            <a:r>
              <a:rPr lang="en-US" altLang="ko-KR" sz="600" dirty="0"/>
              <a:t>(</a:t>
            </a:r>
            <a:r>
              <a:rPr lang="ko-KR" altLang="en-US" sz="600" dirty="0"/>
              <a:t>서류</a:t>
            </a:r>
            <a:r>
              <a:rPr lang="en-US" altLang="ko-KR" sz="600" dirty="0"/>
              <a:t>)</a:t>
            </a:r>
            <a:endParaRPr lang="ko-KR" altLang="en-US" sz="600" dirty="0"/>
          </a:p>
        </p:txBody>
      </p:sp>
      <p:sp>
        <p:nvSpPr>
          <p:cNvPr id="153" name="모서리가 둥근 직사각형 152"/>
          <p:cNvSpPr/>
          <p:nvPr/>
        </p:nvSpPr>
        <p:spPr>
          <a:xfrm>
            <a:off x="5199541" y="5307915"/>
            <a:ext cx="64459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en-US" altLang="ko-KR" sz="600" dirty="0"/>
              <a:t>2</a:t>
            </a:r>
            <a:r>
              <a:rPr lang="ko-KR" altLang="en-US" sz="600" dirty="0"/>
              <a:t>단계 경쟁</a:t>
            </a:r>
            <a:r>
              <a:rPr lang="en-US" altLang="ko-KR" sz="600" dirty="0"/>
              <a:t>(</a:t>
            </a:r>
            <a:r>
              <a:rPr lang="ko-KR" altLang="en-US" sz="600" dirty="0"/>
              <a:t>동시</a:t>
            </a:r>
            <a:r>
              <a:rPr lang="en-US" altLang="ko-KR" sz="600" dirty="0"/>
              <a:t>)</a:t>
            </a:r>
            <a:endParaRPr lang="ko-KR" altLang="en-US" sz="600" dirty="0"/>
          </a:p>
        </p:txBody>
      </p:sp>
      <p:sp>
        <p:nvSpPr>
          <p:cNvPr id="154" name="모서리가 둥근 직사각형 153"/>
          <p:cNvSpPr/>
          <p:nvPr/>
        </p:nvSpPr>
        <p:spPr>
          <a:xfrm>
            <a:off x="5885028" y="5307915"/>
            <a:ext cx="64459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en-US" altLang="ko-KR" sz="600" dirty="0"/>
              <a:t>2</a:t>
            </a:r>
            <a:r>
              <a:rPr lang="ko-KR" altLang="en-US" sz="600" dirty="0"/>
              <a:t>단계 경쟁</a:t>
            </a:r>
            <a:r>
              <a:rPr lang="en-US" altLang="ko-KR" sz="600" dirty="0"/>
              <a:t>(</a:t>
            </a:r>
            <a:r>
              <a:rPr lang="ko-KR" altLang="en-US" sz="600" dirty="0"/>
              <a:t>분리</a:t>
            </a:r>
            <a:r>
              <a:rPr lang="en-US" altLang="ko-KR" sz="600" dirty="0"/>
              <a:t>)</a:t>
            </a:r>
            <a:endParaRPr lang="ko-KR" altLang="en-US" sz="600" dirty="0"/>
          </a:p>
        </p:txBody>
      </p:sp>
      <p:sp>
        <p:nvSpPr>
          <p:cNvPr id="155" name="모서리가 둥근 직사각형 154"/>
          <p:cNvSpPr/>
          <p:nvPr/>
        </p:nvSpPr>
        <p:spPr>
          <a:xfrm>
            <a:off x="4318635" y="5475884"/>
            <a:ext cx="501313"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종합낙찰제</a:t>
            </a:r>
            <a:endParaRPr lang="ko-KR" altLang="en-US" sz="600" dirty="0"/>
          </a:p>
        </p:txBody>
      </p:sp>
      <p:sp>
        <p:nvSpPr>
          <p:cNvPr id="157" name="모서리가 둥근 직사각형 156"/>
          <p:cNvSpPr/>
          <p:nvPr/>
        </p:nvSpPr>
        <p:spPr>
          <a:xfrm>
            <a:off x="4876890" y="5475884"/>
            <a:ext cx="83407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협상에의한</a:t>
            </a:r>
            <a:r>
              <a:rPr lang="ko-KR" altLang="en-US" sz="600" dirty="0"/>
              <a:t> 계약</a:t>
            </a:r>
            <a:r>
              <a:rPr lang="en-US" altLang="ko-KR" sz="600" dirty="0"/>
              <a:t>(</a:t>
            </a:r>
            <a:r>
              <a:rPr lang="ko-KR" altLang="en-US" sz="600" dirty="0"/>
              <a:t>전자</a:t>
            </a:r>
            <a:r>
              <a:rPr lang="en-US" altLang="ko-KR" sz="600" dirty="0"/>
              <a:t>)</a:t>
            </a:r>
            <a:endParaRPr lang="ko-KR" altLang="en-US" sz="600" dirty="0"/>
          </a:p>
        </p:txBody>
      </p:sp>
      <p:sp>
        <p:nvSpPr>
          <p:cNvPr id="158" name="모서리가 둥근 직사각형 157"/>
          <p:cNvSpPr/>
          <p:nvPr/>
        </p:nvSpPr>
        <p:spPr>
          <a:xfrm>
            <a:off x="5767485" y="5475884"/>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역경매</a:t>
            </a:r>
            <a:endParaRPr lang="ko-KR" altLang="en-US" sz="600" dirty="0"/>
          </a:p>
        </p:txBody>
      </p:sp>
      <p:sp>
        <p:nvSpPr>
          <p:cNvPr id="160" name="타원 159">
            <a:extLst>
              <a:ext uri="{FF2B5EF4-FFF2-40B4-BE49-F238E27FC236}">
                <a16:creationId xmlns:a16="http://schemas.microsoft.com/office/drawing/2014/main" id="{37A7FF4F-0EAA-1463-560A-D5EC24416103}"/>
              </a:ext>
            </a:extLst>
          </p:cNvPr>
          <p:cNvSpPr/>
          <p:nvPr/>
        </p:nvSpPr>
        <p:spPr>
          <a:xfrm>
            <a:off x="4304035" y="175916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
        <p:nvSpPr>
          <p:cNvPr id="161" name="모서리가 둥근 직사각형 160"/>
          <p:cNvSpPr/>
          <p:nvPr/>
        </p:nvSpPr>
        <p:spPr>
          <a:xfrm>
            <a:off x="4318635" y="5847205"/>
            <a:ext cx="579917"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발주기관 전체</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3840447" y="5853044"/>
            <a:ext cx="547346" cy="107722"/>
          </a:xfrm>
          <a:prstGeom prst="rect">
            <a:avLst/>
          </a:prstGeom>
          <a:noFill/>
        </p:spPr>
        <p:txBody>
          <a:bodyPr wrap="square" lIns="0" tIns="0" rIns="0" bIns="0" rtlCol="0">
            <a:spAutoFit/>
          </a:bodyPr>
          <a:lstStyle/>
          <a:p>
            <a:r>
              <a:rPr lang="ko-KR" altLang="en-US" sz="700" dirty="0">
                <a:latin typeface="+mn-ea"/>
              </a:rPr>
              <a:t>발주기관</a:t>
            </a:r>
          </a:p>
        </p:txBody>
      </p:sp>
      <p:sp>
        <p:nvSpPr>
          <p:cNvPr id="163" name="모서리가 둥근 직사각형 162"/>
          <p:cNvSpPr/>
          <p:nvPr/>
        </p:nvSpPr>
        <p:spPr>
          <a:xfrm>
            <a:off x="4946591" y="5847205"/>
            <a:ext cx="470522"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방위사업청</a:t>
            </a:r>
            <a:endParaRPr lang="ko-KR" altLang="en-US" sz="600" dirty="0"/>
          </a:p>
        </p:txBody>
      </p:sp>
      <p:sp>
        <p:nvSpPr>
          <p:cNvPr id="164" name="모서리가 둥근 직사각형 163"/>
          <p:cNvSpPr/>
          <p:nvPr/>
        </p:nvSpPr>
        <p:spPr>
          <a:xfrm>
            <a:off x="5462635" y="5847205"/>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조달본부</a:t>
            </a:r>
          </a:p>
        </p:txBody>
      </p:sp>
      <p:sp>
        <p:nvSpPr>
          <p:cNvPr id="165" name="모서리가 둥근 직사각형 164"/>
          <p:cNvSpPr/>
          <p:nvPr/>
        </p:nvSpPr>
        <p:spPr>
          <a:xfrm>
            <a:off x="5909368" y="5849480"/>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경리단</a:t>
            </a:r>
            <a:endParaRPr lang="ko-KR" altLang="en-US" sz="600" dirty="0"/>
          </a:p>
        </p:txBody>
      </p:sp>
      <p:sp>
        <p:nvSpPr>
          <p:cNvPr id="166" name="모서리가 둥근 직사각형 165"/>
          <p:cNvSpPr/>
          <p:nvPr/>
        </p:nvSpPr>
        <p:spPr>
          <a:xfrm>
            <a:off x="6282921" y="5849480"/>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군수사</a:t>
            </a:r>
            <a:endParaRPr lang="ko-KR" altLang="en-US" sz="600" dirty="0"/>
          </a:p>
        </p:txBody>
      </p:sp>
      <p:sp>
        <p:nvSpPr>
          <p:cNvPr id="167" name="모서리가 둥근 직사각형 166"/>
          <p:cNvSpPr/>
          <p:nvPr/>
        </p:nvSpPr>
        <p:spPr>
          <a:xfrm>
            <a:off x="6658148" y="5849480"/>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교육사</a:t>
            </a:r>
          </a:p>
        </p:txBody>
      </p:sp>
      <p:sp>
        <p:nvSpPr>
          <p:cNvPr id="168" name="모서리가 둥근 직사각형 167"/>
          <p:cNvSpPr/>
          <p:nvPr/>
        </p:nvSpPr>
        <p:spPr>
          <a:xfrm>
            <a:off x="4321449" y="6010998"/>
            <a:ext cx="25083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학교</a:t>
            </a:r>
          </a:p>
        </p:txBody>
      </p:sp>
      <p:sp>
        <p:nvSpPr>
          <p:cNvPr id="169" name="모서리가 둥근 직사각형 168"/>
          <p:cNvSpPr/>
          <p:nvPr/>
        </p:nvSpPr>
        <p:spPr>
          <a:xfrm>
            <a:off x="4639917" y="6010998"/>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근지단</a:t>
            </a:r>
            <a:endParaRPr lang="ko-KR" altLang="en-US" sz="600" dirty="0"/>
          </a:p>
        </p:txBody>
      </p:sp>
      <p:sp>
        <p:nvSpPr>
          <p:cNvPr id="170" name="모서리가 둥근 직사각형 169"/>
          <p:cNvSpPr/>
          <p:nvPr/>
        </p:nvSpPr>
        <p:spPr>
          <a:xfrm>
            <a:off x="5025544" y="6010998"/>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군병원</a:t>
            </a:r>
            <a:endParaRPr lang="ko-KR" altLang="en-US" sz="600" dirty="0"/>
          </a:p>
        </p:txBody>
      </p:sp>
      <p:sp>
        <p:nvSpPr>
          <p:cNvPr id="172" name="모서리가 둥근 직사각형 171"/>
          <p:cNvSpPr/>
          <p:nvPr/>
        </p:nvSpPr>
        <p:spPr>
          <a:xfrm>
            <a:off x="5413995" y="6010998"/>
            <a:ext cx="25083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본부</a:t>
            </a:r>
          </a:p>
        </p:txBody>
      </p:sp>
      <p:sp>
        <p:nvSpPr>
          <p:cNvPr id="173" name="모서리가 둥근 직사각형 172"/>
          <p:cNvSpPr/>
          <p:nvPr/>
        </p:nvSpPr>
        <p:spPr>
          <a:xfrm>
            <a:off x="5727123" y="6010998"/>
            <a:ext cx="40761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국방부</a:t>
            </a:r>
            <a:r>
              <a:rPr lang="en-US" altLang="ko-KR" sz="600" dirty="0"/>
              <a:t>-9</a:t>
            </a:r>
            <a:endParaRPr lang="ko-KR" altLang="en-US" sz="600" dirty="0"/>
          </a:p>
        </p:txBody>
      </p:sp>
      <p:sp>
        <p:nvSpPr>
          <p:cNvPr id="174" name="모서리가 둥근 직사각형 173"/>
          <p:cNvSpPr/>
          <p:nvPr/>
        </p:nvSpPr>
        <p:spPr>
          <a:xfrm>
            <a:off x="6198542" y="6010998"/>
            <a:ext cx="40761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국방부</a:t>
            </a:r>
            <a:r>
              <a:rPr lang="en-US" altLang="ko-KR" sz="600" dirty="0"/>
              <a:t>-A</a:t>
            </a:r>
            <a:endParaRPr lang="ko-KR" altLang="en-US" sz="600" dirty="0"/>
          </a:p>
        </p:txBody>
      </p:sp>
      <p:sp>
        <p:nvSpPr>
          <p:cNvPr id="175" name="모서리가 둥근 직사각형 174"/>
          <p:cNvSpPr/>
          <p:nvPr/>
        </p:nvSpPr>
        <p:spPr>
          <a:xfrm>
            <a:off x="6669961" y="6010998"/>
            <a:ext cx="25083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기타</a:t>
            </a:r>
          </a:p>
        </p:txBody>
      </p:sp>
      <p:sp>
        <p:nvSpPr>
          <p:cNvPr id="148" name="모서리가 둥근 직사각형 147"/>
          <p:cNvSpPr/>
          <p:nvPr/>
        </p:nvSpPr>
        <p:spPr>
          <a:xfrm>
            <a:off x="4321056" y="2203671"/>
            <a:ext cx="521842"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r>
              <a:rPr lang="en-US" altLang="ko-KR" sz="600" dirty="0"/>
              <a:t>(PQ)</a:t>
            </a:r>
            <a:endParaRPr lang="ko-KR" altLang="en-US" sz="600" dirty="0"/>
          </a:p>
        </p:txBody>
      </p:sp>
      <p:sp>
        <p:nvSpPr>
          <p:cNvPr id="156" name="모서리가 둥근 직사각형 155"/>
          <p:cNvSpPr/>
          <p:nvPr/>
        </p:nvSpPr>
        <p:spPr>
          <a:xfrm>
            <a:off x="4905451" y="220367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sp>
        <p:nvSpPr>
          <p:cNvPr id="159" name="모서리가 둥근 직사각형 158"/>
          <p:cNvSpPr/>
          <p:nvPr/>
        </p:nvSpPr>
        <p:spPr>
          <a:xfrm>
            <a:off x="5364598" y="220367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견적서</a:t>
            </a:r>
          </a:p>
        </p:txBody>
      </p:sp>
      <p:sp>
        <p:nvSpPr>
          <p:cNvPr id="171" name="모서리가 둥근 직사각형 170"/>
          <p:cNvSpPr/>
          <p:nvPr/>
        </p:nvSpPr>
        <p:spPr>
          <a:xfrm>
            <a:off x="5818070" y="220367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기술평가</a:t>
            </a:r>
          </a:p>
        </p:txBody>
      </p:sp>
      <p:sp>
        <p:nvSpPr>
          <p:cNvPr id="176" name="모서리가 둥근 직사각형 175"/>
          <p:cNvSpPr/>
          <p:nvPr/>
        </p:nvSpPr>
        <p:spPr>
          <a:xfrm>
            <a:off x="6277293" y="220367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생산능력</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3840447" y="2209510"/>
            <a:ext cx="547346" cy="107722"/>
          </a:xfrm>
          <a:prstGeom prst="rect">
            <a:avLst/>
          </a:prstGeom>
          <a:noFill/>
        </p:spPr>
        <p:txBody>
          <a:bodyPr wrap="square" lIns="0" tIns="0" rIns="0" bIns="0" rtlCol="0">
            <a:spAutoFit/>
          </a:bodyPr>
          <a:lstStyle/>
          <a:p>
            <a:r>
              <a:rPr lang="ko-KR" altLang="en-US" sz="700" dirty="0" err="1">
                <a:latin typeface="+mn-ea"/>
              </a:rPr>
              <a:t>신청정보</a:t>
            </a:r>
            <a:endParaRPr lang="ko-KR" altLang="en-US" sz="700" dirty="0">
              <a:latin typeface="+mn-ea"/>
            </a:endParaRPr>
          </a:p>
        </p:txBody>
      </p:sp>
      <p:grpSp>
        <p:nvGrpSpPr>
          <p:cNvPr id="178" name="그룹 177"/>
          <p:cNvGrpSpPr/>
          <p:nvPr/>
        </p:nvGrpSpPr>
        <p:grpSpPr>
          <a:xfrm>
            <a:off x="767702" y="2270279"/>
            <a:ext cx="2527420" cy="477995"/>
            <a:chOff x="786326" y="2270279"/>
            <a:chExt cx="2527420" cy="477995"/>
          </a:xfrm>
        </p:grpSpPr>
        <p:sp>
          <p:nvSpPr>
            <p:cNvPr id="179" name="모서리가 둥근 직사각형 178"/>
            <p:cNvSpPr/>
            <p:nvPr/>
          </p:nvSpPr>
          <p:spPr>
            <a:xfrm>
              <a:off x="786326" y="2481707"/>
              <a:ext cx="2527420" cy="266567"/>
            </a:xfrm>
            <a:prstGeom prst="roundRect">
              <a:avLst>
                <a:gd name="adj" fmla="val 5000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0" name="타원 179"/>
            <p:cNvSpPr/>
            <p:nvPr/>
          </p:nvSpPr>
          <p:spPr>
            <a:xfrm>
              <a:off x="3071451"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1" name="TextBox 180">
              <a:extLst>
                <a:ext uri="{FF2B5EF4-FFF2-40B4-BE49-F238E27FC236}">
                  <a16:creationId xmlns:a16="http://schemas.microsoft.com/office/drawing/2014/main" id="{FFC49AEA-2A8F-250C-A86A-A7751D9706C3}"/>
                </a:ext>
              </a:extLst>
            </p:cNvPr>
            <p:cNvSpPr txBox="1"/>
            <p:nvPr/>
          </p:nvSpPr>
          <p:spPr>
            <a:xfrm>
              <a:off x="890013" y="2561129"/>
              <a:ext cx="1886364" cy="107722"/>
            </a:xfrm>
            <a:prstGeom prst="rect">
              <a:avLst/>
            </a:prstGeom>
            <a:noFill/>
          </p:spPr>
          <p:txBody>
            <a:bodyPr wrap="square" lIns="0" tIns="0" rIns="0" bIns="0" rtlCol="0">
              <a:spAutoFit/>
            </a:bodyPr>
            <a:lstStyle/>
            <a:p>
              <a:r>
                <a:rPr lang="ko-KR" altLang="en-US" sz="700" dirty="0">
                  <a:solidFill>
                    <a:schemeClr val="bg1">
                      <a:lumMod val="50000"/>
                    </a:schemeClr>
                  </a:solidFill>
                  <a:latin typeface="+mn-ea"/>
                </a:rPr>
                <a:t>검색할 내용을 입력하세요</a:t>
              </a:r>
              <a:r>
                <a:rPr lang="en-US" altLang="ko-KR" sz="700" dirty="0">
                  <a:solidFill>
                    <a:schemeClr val="bg1">
                      <a:lumMod val="50000"/>
                    </a:schemeClr>
                  </a:solidFill>
                  <a:latin typeface="+mn-ea"/>
                </a:rPr>
                <a:t>.</a:t>
              </a:r>
              <a:endParaRPr lang="ko-KR" altLang="en-US" sz="700" dirty="0">
                <a:solidFill>
                  <a:schemeClr val="bg1">
                    <a:lumMod val="50000"/>
                  </a:schemeClr>
                </a:solidFill>
                <a:latin typeface="+mn-ea"/>
              </a:endParaRPr>
            </a:p>
          </p:txBody>
        </p:sp>
        <p:grpSp>
          <p:nvGrpSpPr>
            <p:cNvPr id="182" name="그룹 181"/>
            <p:cNvGrpSpPr/>
            <p:nvPr/>
          </p:nvGrpSpPr>
          <p:grpSpPr>
            <a:xfrm>
              <a:off x="795624" y="2274581"/>
              <a:ext cx="1299303" cy="155984"/>
              <a:chOff x="808107" y="2288229"/>
              <a:chExt cx="1189739" cy="168318"/>
            </a:xfrm>
          </p:grpSpPr>
          <p:sp>
            <p:nvSpPr>
              <p:cNvPr id="189" name="사각형: 둥근 모서리 31">
                <a:extLst>
                  <a:ext uri="{FF2B5EF4-FFF2-40B4-BE49-F238E27FC236}">
                    <a16:creationId xmlns:a16="http://schemas.microsoft.com/office/drawing/2014/main" id="{2AC143EE-93CF-3518-F0CB-8469E98507E0}"/>
                  </a:ext>
                </a:extLst>
              </p:cNvPr>
              <p:cNvSpPr/>
              <p:nvPr/>
            </p:nvSpPr>
            <p:spPr>
              <a:xfrm>
                <a:off x="808107" y="2288229"/>
                <a:ext cx="563494" cy="168318"/>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공고명</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90" name="사각형: 둥근 모서리 31">
                <a:extLst>
                  <a:ext uri="{FF2B5EF4-FFF2-40B4-BE49-F238E27FC236}">
                    <a16:creationId xmlns:a16="http://schemas.microsoft.com/office/drawing/2014/main" id="{2AC143EE-93CF-3518-F0CB-8469E98507E0}"/>
                  </a:ext>
                </a:extLst>
              </p:cNvPr>
              <p:cNvSpPr/>
              <p:nvPr/>
            </p:nvSpPr>
            <p:spPr>
              <a:xfrm>
                <a:off x="1434352" y="2288229"/>
                <a:ext cx="563494" cy="168318"/>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공고번호</a:t>
                </a:r>
                <a:endParaRPr kumimoji="1" lang="en-US" sz="800" b="0" i="0" u="none" strike="noStrike" kern="0" cap="none" spc="0" normalizeH="0" baseline="0" noProof="0" dirty="0">
                  <a:ln>
                    <a:noFill/>
                  </a:ln>
                  <a:effectLst/>
                  <a:uLnTx/>
                  <a:uFillTx/>
                  <a:latin typeface="맑은 고딕"/>
                </a:endParaRPr>
              </a:p>
            </p:txBody>
          </p:sp>
        </p:grpSp>
        <p:sp>
          <p:nvSpPr>
            <p:cNvPr id="183" name="타원 182"/>
            <p:cNvSpPr/>
            <p:nvPr/>
          </p:nvSpPr>
          <p:spPr>
            <a:xfrm>
              <a:off x="814969" y="2290708"/>
              <a:ext cx="108000" cy="108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dirty="0"/>
                <a:t>V</a:t>
              </a:r>
              <a:endParaRPr lang="ko-KR" altLang="en-US" sz="600" dirty="0"/>
            </a:p>
          </p:txBody>
        </p:sp>
        <p:sp>
          <p:nvSpPr>
            <p:cNvPr id="184" name="사각형: 둥근 모서리 31">
              <a:extLst>
                <a:ext uri="{FF2B5EF4-FFF2-40B4-BE49-F238E27FC236}">
                  <a16:creationId xmlns:a16="http://schemas.microsoft.com/office/drawing/2014/main" id="{2AC143EE-93CF-3518-F0CB-8469E98507E0}"/>
                </a:ext>
              </a:extLst>
            </p:cNvPr>
            <p:cNvSpPr/>
            <p:nvPr/>
          </p:nvSpPr>
          <p:spPr>
            <a:xfrm>
              <a:off x="2726021" y="2270279"/>
              <a:ext cx="582849" cy="154795"/>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검색필터</a:t>
              </a:r>
              <a:endParaRPr kumimoji="1" lang="en-US" sz="800" b="0" i="0" u="none" strike="noStrike" kern="0" cap="none" spc="0" normalizeH="0" baseline="0" noProof="0" dirty="0">
                <a:ln>
                  <a:noFill/>
                </a:ln>
                <a:effectLst/>
                <a:uLnTx/>
                <a:uFillTx/>
                <a:latin typeface="맑은 고딕"/>
              </a:endParaRPr>
            </a:p>
          </p:txBody>
        </p:sp>
        <p:sp>
          <p:nvSpPr>
            <p:cNvPr id="185" name="타원 184"/>
            <p:cNvSpPr/>
            <p:nvPr/>
          </p:nvSpPr>
          <p:spPr>
            <a:xfrm>
              <a:off x="2857726"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6" name="그룹 185"/>
            <p:cNvGrpSpPr/>
            <p:nvPr/>
          </p:nvGrpSpPr>
          <p:grpSpPr>
            <a:xfrm>
              <a:off x="2901631" y="2585953"/>
              <a:ext cx="58075" cy="58074"/>
              <a:chOff x="6812560" y="3297172"/>
              <a:chExt cx="94010" cy="94010"/>
            </a:xfrm>
          </p:grpSpPr>
          <p:cxnSp>
            <p:nvCxnSpPr>
              <p:cNvPr id="187" name="직선 연결선 186"/>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88" name="직선 연결선 187"/>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91" name="직선 연결선 190">
            <a:extLst>
              <a:ext uri="{FF2B5EF4-FFF2-40B4-BE49-F238E27FC236}">
                <a16:creationId xmlns:a16="http://schemas.microsoft.com/office/drawing/2014/main" id="{E9293055-D5CD-4B9E-7F64-64B2D2CA7A52}"/>
              </a:ext>
            </a:extLst>
          </p:cNvPr>
          <p:cNvCxnSpPr/>
          <p:nvPr/>
        </p:nvCxnSpPr>
        <p:spPr>
          <a:xfrm>
            <a:off x="675399" y="28057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92" name="그룹 191"/>
          <p:cNvGrpSpPr/>
          <p:nvPr/>
        </p:nvGrpSpPr>
        <p:grpSpPr>
          <a:xfrm>
            <a:off x="3024315" y="3090999"/>
            <a:ext cx="776938" cy="1131139"/>
            <a:chOff x="3004764" y="2490533"/>
            <a:chExt cx="776938" cy="1131139"/>
          </a:xfrm>
        </p:grpSpPr>
        <p:sp>
          <p:nvSpPr>
            <p:cNvPr id="193" name="사각형: 둥근 모서리 222">
              <a:extLst>
                <a:ext uri="{FF2B5EF4-FFF2-40B4-BE49-F238E27FC236}">
                  <a16:creationId xmlns:a16="http://schemas.microsoft.com/office/drawing/2014/main" id="{8AF9D577-0373-21E1-F7E1-B17AE839E882}"/>
                </a:ext>
              </a:extLst>
            </p:cNvPr>
            <p:cNvSpPr/>
            <p:nvPr/>
          </p:nvSpPr>
          <p:spPr>
            <a:xfrm>
              <a:off x="3004764" y="2833887"/>
              <a:ext cx="776938" cy="787785"/>
            </a:xfrm>
            <a:prstGeom prst="roundRect">
              <a:avLst>
                <a:gd name="adj" fmla="val 389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auto" latinLnBrk="0" hangingPunct="1">
                <a:lnSpc>
                  <a:spcPct val="180000"/>
                </a:lnSpc>
                <a:spcBef>
                  <a:spcPts val="0"/>
                </a:spcBef>
                <a:spcAft>
                  <a:spcPts val="0"/>
                </a:spcAft>
                <a:buClrTx/>
                <a:buSzTx/>
                <a:buFontTx/>
                <a:buNone/>
                <a:tabLst/>
                <a:defRPr/>
              </a:pPr>
              <a:endParaRPr kumimoji="1" lang="en-US" altLang="ko-KR" sz="900" b="1" i="0" u="none" strike="noStrike" kern="0" cap="none" spc="0" normalizeH="0" baseline="0" noProof="0">
                <a:ln>
                  <a:noFill/>
                </a:ln>
                <a:solidFill>
                  <a:prstClr val="black"/>
                </a:solidFill>
                <a:effectLst/>
                <a:uLnTx/>
                <a:uFillTx/>
                <a:latin typeface="맑은 고딕"/>
                <a:ea typeface="맑은 고딕" panose="020B0503020000020004" pitchFamily="50" charset="-127"/>
                <a:cs typeface="+mn-cs"/>
              </a:endParaRPr>
            </a:p>
          </p:txBody>
        </p:sp>
        <p:sp>
          <p:nvSpPr>
            <p:cNvPr id="194" name="사각형: 둥근 모서리 224">
              <a:extLst>
                <a:ext uri="{FF2B5EF4-FFF2-40B4-BE49-F238E27FC236}">
                  <a16:creationId xmlns:a16="http://schemas.microsoft.com/office/drawing/2014/main" id="{3EFB2C27-9C6F-8886-4247-7900976F7BD2}"/>
                </a:ext>
              </a:extLst>
            </p:cNvPr>
            <p:cNvSpPr/>
            <p:nvPr/>
          </p:nvSpPr>
          <p:spPr>
            <a:xfrm>
              <a:off x="3004764" y="2490533"/>
              <a:ext cx="775390" cy="343356"/>
            </a:xfrm>
            <a:prstGeom prst="roundRect">
              <a:avLst/>
            </a:prstGeom>
            <a:solidFill>
              <a:sysClr val="window" lastClr="FFFFFF"/>
            </a:solidFill>
            <a:ln w="9525" cap="flat" cmpd="sng" algn="ctr">
              <a:solidFill>
                <a:sysClr val="windowText" lastClr="000000"/>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latinLnBrk="0">
                <a:defRPr/>
              </a:pPr>
              <a:r>
                <a:rPr lang="en-US" altLang="ko-KR" sz="700" kern="0" dirty="0">
                  <a:solidFill>
                    <a:prstClr val="black"/>
                  </a:solidFill>
                </a:rPr>
                <a:t>10 </a:t>
              </a:r>
              <a:r>
                <a:rPr lang="ko-KR" altLang="en-US" sz="700" kern="0" dirty="0">
                  <a:solidFill>
                    <a:prstClr val="black"/>
                  </a:solidFill>
                </a:rPr>
                <a:t>개</a:t>
              </a:r>
            </a:p>
          </p:txBody>
        </p:sp>
        <p:sp>
          <p:nvSpPr>
            <p:cNvPr id="195" name="TextBox 226">
              <a:extLst>
                <a:ext uri="{FF2B5EF4-FFF2-40B4-BE49-F238E27FC236}">
                  <a16:creationId xmlns:a16="http://schemas.microsoft.com/office/drawing/2014/main" id="{2D0EB093-7669-C055-4901-B28C987E9EF9}"/>
                </a:ext>
              </a:extLst>
            </p:cNvPr>
            <p:cNvSpPr txBox="1"/>
            <p:nvPr/>
          </p:nvSpPr>
          <p:spPr>
            <a:xfrm>
              <a:off x="3063151" y="2833887"/>
              <a:ext cx="641770" cy="674031"/>
            </a:xfrm>
            <a:prstGeom prst="rect">
              <a:avLst/>
            </a:prstGeom>
            <a:noFill/>
          </p:spPr>
          <p:txBody>
            <a:bodyPr wrap="square">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latinLnBrk="0">
                <a:lnSpc>
                  <a:spcPct val="180000"/>
                </a:lnSpc>
                <a:defRPr/>
              </a:pPr>
              <a:r>
                <a:rPr lang="en-US" altLang="ko-KR" sz="700" kern="0" dirty="0">
                  <a:solidFill>
                    <a:prstClr val="black"/>
                  </a:solidFill>
                </a:rPr>
                <a:t>10 </a:t>
              </a:r>
              <a:r>
                <a:rPr lang="ko-KR" altLang="en-US" sz="700" kern="0" dirty="0">
                  <a:solidFill>
                    <a:prstClr val="black"/>
                  </a:solidFill>
                </a:rPr>
                <a:t>개</a:t>
              </a:r>
              <a:endParaRPr lang="en-US" altLang="ko-KR" sz="700" kern="0" dirty="0">
                <a:solidFill>
                  <a:prstClr val="black"/>
                </a:solidFill>
              </a:endParaRPr>
            </a:p>
            <a:p>
              <a:pPr lvl="0" latinLnBrk="0">
                <a:lnSpc>
                  <a:spcPct val="180000"/>
                </a:lnSpc>
                <a:defRPr/>
              </a:pPr>
              <a:r>
                <a:rPr lang="en-US" altLang="ko-KR" sz="700" kern="0" dirty="0">
                  <a:solidFill>
                    <a:prstClr val="black"/>
                  </a:solidFill>
                </a:rPr>
                <a:t>30 </a:t>
              </a:r>
              <a:r>
                <a:rPr lang="ko-KR" altLang="en-US" sz="700" kern="0" dirty="0">
                  <a:solidFill>
                    <a:prstClr val="black"/>
                  </a:solidFill>
                </a:rPr>
                <a:t>개</a:t>
              </a:r>
              <a:endParaRPr lang="en-US" altLang="ko-KR" sz="700" kern="0" dirty="0">
                <a:solidFill>
                  <a:prstClr val="black"/>
                </a:solidFill>
              </a:endParaRPr>
            </a:p>
            <a:p>
              <a:pPr lvl="0" latinLnBrk="0">
                <a:lnSpc>
                  <a:spcPct val="180000"/>
                </a:lnSpc>
                <a:defRPr/>
              </a:pPr>
              <a:r>
                <a:rPr lang="en-US" altLang="ko-KR" sz="700" kern="0" dirty="0">
                  <a:solidFill>
                    <a:prstClr val="black"/>
                  </a:solidFill>
                </a:rPr>
                <a:t>50 </a:t>
              </a:r>
              <a:r>
                <a:rPr lang="ko-KR" altLang="en-US" sz="700" kern="0" dirty="0">
                  <a:solidFill>
                    <a:prstClr val="black"/>
                  </a:solidFill>
                </a:rPr>
                <a:t>개</a:t>
              </a:r>
            </a:p>
          </p:txBody>
        </p:sp>
        <p:grpSp>
          <p:nvGrpSpPr>
            <p:cNvPr id="196" name="그룹 195"/>
            <p:cNvGrpSpPr/>
            <p:nvPr/>
          </p:nvGrpSpPr>
          <p:grpSpPr>
            <a:xfrm flipV="1">
              <a:off x="3584851" y="2638708"/>
              <a:ext cx="94010" cy="47005"/>
              <a:chOff x="6615710" y="3297172"/>
              <a:chExt cx="94010" cy="47005"/>
            </a:xfrm>
          </p:grpSpPr>
          <p:cxnSp>
            <p:nvCxnSpPr>
              <p:cNvPr id="197" name="직선 연결선 196"/>
              <p:cNvCxnSpPr/>
              <p:nvPr/>
            </p:nvCxnSpPr>
            <p:spPr>
              <a:xfrm>
                <a:off x="661571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8" name="직선 연결선 197"/>
              <p:cNvCxnSpPr/>
              <p:nvPr/>
            </p:nvCxnSpPr>
            <p:spPr>
              <a:xfrm flipH="1">
                <a:off x="666271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99" name="TextBox 198">
            <a:extLst>
              <a:ext uri="{FF2B5EF4-FFF2-40B4-BE49-F238E27FC236}">
                <a16:creationId xmlns:a16="http://schemas.microsoft.com/office/drawing/2014/main" id="{FFC49AEA-2A8F-250C-A86A-A7751D9706C3}"/>
              </a:ext>
            </a:extLst>
          </p:cNvPr>
          <p:cNvSpPr txBox="1"/>
          <p:nvPr/>
        </p:nvSpPr>
        <p:spPr>
          <a:xfrm>
            <a:off x="778515" y="2874722"/>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2,010</a:t>
            </a:r>
            <a:r>
              <a:rPr lang="en-US" altLang="ko-KR" sz="700" dirty="0">
                <a:latin typeface="+mn-ea"/>
              </a:rPr>
              <a:t> </a:t>
            </a:r>
            <a:r>
              <a:rPr lang="ko-KR" altLang="en-US" sz="700" dirty="0">
                <a:latin typeface="+mn-ea"/>
              </a:rPr>
              <a:t>건</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2278206" y="2870668"/>
            <a:ext cx="393849" cy="181140"/>
          </a:xfrm>
          <a:prstGeom prst="rect">
            <a:avLst/>
          </a:prstGeom>
          <a:noFill/>
        </p:spPr>
        <p:txBody>
          <a:bodyPr wrap="square" lIns="0" tIns="0" rIns="0" bIns="0" rtlCol="0">
            <a:spAutoFit/>
          </a:bodyPr>
          <a:lstStyle/>
          <a:p>
            <a:pPr>
              <a:lnSpc>
                <a:spcPct val="200000"/>
              </a:lnSpc>
            </a:pPr>
            <a:r>
              <a:rPr lang="ko-KR" altLang="en-US" sz="700" b="1" dirty="0">
                <a:latin typeface="+mn-ea"/>
              </a:rPr>
              <a:t>표시 개수</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2727990" y="2870668"/>
            <a:ext cx="505710" cy="181140"/>
          </a:xfrm>
          <a:prstGeom prst="rect">
            <a:avLst/>
          </a:prstGeom>
          <a:noFill/>
        </p:spPr>
        <p:txBody>
          <a:bodyPr wrap="square" lIns="0" tIns="0" rIns="0" bIns="0" rtlCol="0">
            <a:spAutoFit/>
          </a:bodyPr>
          <a:lstStyle/>
          <a:p>
            <a:pPr>
              <a:lnSpc>
                <a:spcPct val="200000"/>
              </a:lnSpc>
            </a:pPr>
            <a:r>
              <a:rPr lang="en-US" altLang="ko-KR" sz="700" dirty="0">
                <a:latin typeface="+mn-ea"/>
              </a:rPr>
              <a:t>10 </a:t>
            </a:r>
            <a:r>
              <a:rPr lang="ko-KR" altLang="en-US" sz="700" dirty="0">
                <a:latin typeface="+mn-ea"/>
              </a:rPr>
              <a:t>개</a:t>
            </a:r>
          </a:p>
        </p:txBody>
      </p:sp>
      <p:grpSp>
        <p:nvGrpSpPr>
          <p:cNvPr id="202" name="그룹 201"/>
          <p:cNvGrpSpPr/>
          <p:nvPr/>
        </p:nvGrpSpPr>
        <p:grpSpPr>
          <a:xfrm>
            <a:off x="3143548" y="2972491"/>
            <a:ext cx="94010" cy="47005"/>
            <a:chOff x="6812560" y="3297172"/>
            <a:chExt cx="94010" cy="47005"/>
          </a:xfrm>
        </p:grpSpPr>
        <p:cxnSp>
          <p:nvCxnSpPr>
            <p:cNvPr id="203" name="직선 연결선 20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4" name="직선 연결선 20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744573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검색필터</a:t>
            </a:r>
            <a:r>
              <a:rPr lang="ko-KR" altLang="en-US" dirty="0"/>
              <a:t> 페이지 타이틀</a:t>
            </a:r>
            <a:r>
              <a:rPr lang="en-US" altLang="ko-KR" dirty="0"/>
              <a:t/>
            </a:r>
            <a:br>
              <a:rPr lang="en-US" altLang="ko-KR" dirty="0"/>
            </a:br>
            <a:r>
              <a:rPr lang="en-US" altLang="ko-KR" dirty="0"/>
              <a:t>- </a:t>
            </a:r>
            <a:r>
              <a:rPr lang="ko-KR" altLang="en-US" dirty="0"/>
              <a:t>초기화</a:t>
            </a:r>
            <a:r>
              <a:rPr lang="en-US" altLang="ko-KR" dirty="0"/>
              <a:t>, </a:t>
            </a:r>
            <a:r>
              <a:rPr lang="ko-KR" altLang="en-US" dirty="0"/>
              <a:t>닫기 버튼</a:t>
            </a:r>
            <a:endParaRPr lang="en-US" altLang="ko-KR" dirty="0"/>
          </a:p>
          <a:p>
            <a:pPr marL="228600" indent="-228600">
              <a:buFont typeface="+mj-lt"/>
              <a:buAutoNum type="arabicPeriod"/>
            </a:pPr>
            <a:r>
              <a:rPr lang="ko-KR" altLang="en-US" dirty="0"/>
              <a:t>업무 구분</a:t>
            </a:r>
            <a:r>
              <a:rPr lang="en-US" altLang="ko-KR" dirty="0"/>
              <a:t/>
            </a:r>
            <a:br>
              <a:rPr lang="en-US" altLang="ko-KR" dirty="0"/>
            </a:br>
            <a:r>
              <a:rPr lang="en-US" altLang="ko-KR" dirty="0"/>
              <a:t>- </a:t>
            </a:r>
            <a:r>
              <a:rPr lang="ko-KR" altLang="en-US" dirty="0"/>
              <a:t>전체 및 세부 항목 표시</a:t>
            </a:r>
            <a:r>
              <a:rPr lang="en-US" altLang="ko-KR" dirty="0"/>
              <a:t/>
            </a:r>
            <a:br>
              <a:rPr lang="en-US" altLang="ko-KR" dirty="0"/>
            </a:br>
            <a:r>
              <a:rPr lang="en-US" altLang="ko-KR" dirty="0"/>
              <a:t>- </a:t>
            </a:r>
            <a:r>
              <a:rPr lang="ko-KR" altLang="en-US" dirty="0"/>
              <a:t>항목별 </a:t>
            </a:r>
            <a:r>
              <a:rPr lang="ko-KR" altLang="en-US" dirty="0" err="1"/>
              <a:t>개수표시</a:t>
            </a:r>
            <a:r>
              <a:rPr lang="en-US" altLang="ko-KR" dirty="0"/>
              <a:t/>
            </a:r>
            <a:br>
              <a:rPr lang="en-US" altLang="ko-KR" dirty="0"/>
            </a:br>
            <a:r>
              <a:rPr lang="en-US" altLang="ko-KR" dirty="0"/>
              <a:t>- </a:t>
            </a:r>
            <a:r>
              <a:rPr lang="ko-KR" altLang="en-US" dirty="0"/>
              <a:t>전체가 아닌 경우</a:t>
            </a:r>
            <a:r>
              <a:rPr lang="en-US" altLang="ko-KR" dirty="0"/>
              <a:t/>
            </a:r>
            <a:br>
              <a:rPr lang="en-US" altLang="ko-KR" dirty="0"/>
            </a:br>
            <a:r>
              <a:rPr lang="en-US" altLang="ko-KR" dirty="0"/>
              <a:t>  &gt; </a:t>
            </a:r>
            <a:r>
              <a:rPr lang="ko-KR" altLang="en-US" dirty="0"/>
              <a:t>나머지 중에서 최소 </a:t>
            </a:r>
            <a:r>
              <a:rPr lang="en-US" altLang="ko-KR" dirty="0"/>
              <a:t>1</a:t>
            </a:r>
            <a:r>
              <a:rPr lang="ko-KR" altLang="en-US" dirty="0"/>
              <a:t>개 이상 선택 필요</a:t>
            </a:r>
            <a:r>
              <a:rPr lang="en-US" altLang="ko-KR" dirty="0"/>
              <a:t/>
            </a:r>
            <a:br>
              <a:rPr lang="en-US" altLang="ko-KR" dirty="0"/>
            </a:br>
            <a:r>
              <a:rPr lang="en-US" altLang="ko-KR" dirty="0"/>
              <a:t>  &gt; </a:t>
            </a:r>
            <a:r>
              <a:rPr lang="ko-KR" altLang="en-US" dirty="0"/>
              <a:t>물품</a:t>
            </a:r>
            <a:r>
              <a:rPr lang="en-US" altLang="ko-KR" dirty="0"/>
              <a:t>, </a:t>
            </a:r>
            <a:r>
              <a:rPr lang="ko-KR" altLang="en-US" dirty="0"/>
              <a:t>용역</a:t>
            </a:r>
            <a:r>
              <a:rPr lang="en-US" altLang="ko-KR" dirty="0"/>
              <a:t>, </a:t>
            </a:r>
            <a:r>
              <a:rPr lang="ko-KR" altLang="en-US" dirty="0"/>
              <a:t>공사</a:t>
            </a:r>
            <a:r>
              <a:rPr lang="en-US" altLang="ko-KR" dirty="0"/>
              <a:t>, </a:t>
            </a:r>
            <a:r>
              <a:rPr lang="ko-KR" altLang="en-US" dirty="0"/>
              <a:t>국외 모두 개별 선택 시 </a:t>
            </a:r>
            <a:r>
              <a:rPr lang="en-US" altLang="ko-KR" dirty="0">
                <a:sym typeface="Wingdings" panose="05000000000000000000" pitchFamily="2" charset="2"/>
              </a:rPr>
              <a:t> </a:t>
            </a:r>
            <a:r>
              <a:rPr lang="ko-KR" altLang="en-US" dirty="0">
                <a:sym typeface="Wingdings" panose="05000000000000000000" pitchFamily="2" charset="2"/>
              </a:rPr>
              <a:t>전체 활성화</a:t>
            </a:r>
            <a:endParaRPr lang="en-US" altLang="ko-KR" dirty="0"/>
          </a:p>
          <a:p>
            <a:pPr marL="228600" indent="-228600">
              <a:buFont typeface="+mj-lt"/>
              <a:buAutoNum type="arabicPeriod"/>
            </a:pPr>
            <a:r>
              <a:rPr lang="ko-KR" altLang="en-US" dirty="0"/>
              <a:t>일자 설정</a:t>
            </a:r>
            <a:r>
              <a:rPr lang="en-US" altLang="ko-KR" dirty="0"/>
              <a:t/>
            </a:r>
            <a:br>
              <a:rPr lang="en-US" altLang="ko-KR" dirty="0"/>
            </a:br>
            <a:r>
              <a:rPr lang="en-US" altLang="ko-KR" dirty="0"/>
              <a:t>- </a:t>
            </a:r>
            <a:r>
              <a:rPr lang="ko-KR" altLang="en-US" dirty="0" err="1"/>
              <a:t>개찰일자</a:t>
            </a:r>
            <a:r>
              <a:rPr lang="en-US" altLang="ko-KR" dirty="0"/>
              <a:t>, </a:t>
            </a:r>
            <a:r>
              <a:rPr lang="ko-KR" altLang="en-US" dirty="0" err="1"/>
              <a:t>공고일자</a:t>
            </a:r>
            <a:r>
              <a:rPr lang="ko-KR" altLang="en-US" dirty="0"/>
              <a:t> </a:t>
            </a:r>
            <a:r>
              <a:rPr lang="ko-KR" altLang="en-US" dirty="0" err="1"/>
              <a:t>토글</a:t>
            </a:r>
            <a:r>
              <a:rPr lang="ko-KR" altLang="en-US" dirty="0"/>
              <a:t> 스위치</a:t>
            </a:r>
            <a:r>
              <a:rPr lang="en-US" altLang="ko-KR" dirty="0"/>
              <a:t/>
            </a:r>
            <a:br>
              <a:rPr lang="en-US" altLang="ko-KR" dirty="0"/>
            </a:br>
            <a:r>
              <a:rPr lang="en-US" altLang="ko-KR" dirty="0"/>
              <a:t>- </a:t>
            </a:r>
            <a:r>
              <a:rPr lang="ko-KR" altLang="en-US" dirty="0"/>
              <a:t>직접 입력 가능</a:t>
            </a:r>
            <a:r>
              <a:rPr lang="en-US" altLang="ko-KR" dirty="0"/>
              <a:t/>
            </a:r>
            <a:br>
              <a:rPr lang="en-US" altLang="ko-KR" dirty="0"/>
            </a:br>
            <a:r>
              <a:rPr lang="en-US" altLang="ko-KR" dirty="0"/>
              <a:t>- </a:t>
            </a:r>
            <a:r>
              <a:rPr lang="ko-KR" altLang="en-US" dirty="0"/>
              <a:t>아이콘 </a:t>
            </a:r>
            <a:r>
              <a:rPr lang="en-US" altLang="ko-KR" dirty="0">
                <a:sym typeface="Wingdings" panose="05000000000000000000" pitchFamily="2" charset="2"/>
              </a:rPr>
              <a:t> </a:t>
            </a:r>
            <a:r>
              <a:rPr lang="ko-KR" altLang="en-US" dirty="0">
                <a:sym typeface="Wingdings" panose="05000000000000000000" pitchFamily="2" charset="2"/>
              </a:rPr>
              <a:t>데이트 </a:t>
            </a:r>
            <a:r>
              <a:rPr lang="ko-KR" altLang="en-US" dirty="0" err="1">
                <a:sym typeface="Wingdings" panose="05000000000000000000" pitchFamily="2" charset="2"/>
              </a:rPr>
              <a:t>피커</a:t>
            </a:r>
            <a:r>
              <a:rPr lang="ko-KR" altLang="en-US" dirty="0">
                <a:sym typeface="Wingdings" panose="05000000000000000000" pitchFamily="2" charset="2"/>
              </a:rPr>
              <a:t> 호출</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지정 설정으로 날짜 즉시 업데이트</a:t>
            </a:r>
            <a:endParaRPr lang="en-US" altLang="ko-KR" dirty="0">
              <a:sym typeface="Wingdings" panose="05000000000000000000" pitchFamily="2" charset="2"/>
            </a:endParaRPr>
          </a:p>
          <a:p>
            <a:pPr marL="228600" indent="-228600">
              <a:buFont typeface="+mj-lt"/>
              <a:buAutoNum type="arabicPeriod"/>
            </a:pPr>
            <a:r>
              <a:rPr lang="ko-KR" altLang="en-US" dirty="0" err="1">
                <a:sym typeface="Wingdings" panose="05000000000000000000" pitchFamily="2" charset="2"/>
              </a:rPr>
              <a:t>검색어</a:t>
            </a:r>
            <a:r>
              <a:rPr lang="ko-KR" altLang="en-US" dirty="0">
                <a:sym typeface="Wingdings" panose="05000000000000000000" pitchFamily="2" charset="2"/>
              </a:rPr>
              <a:t> 영역</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사용자가 입력하고자 하는 내역만 입력 후 검색 가능</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번호 검색은 </a:t>
            </a:r>
            <a:r>
              <a:rPr lang="ko-KR" altLang="en-US" dirty="0" err="1">
                <a:sym typeface="Wingdings" panose="05000000000000000000" pitchFamily="2" charset="2"/>
              </a:rPr>
              <a:t>공고번호</a:t>
            </a:r>
            <a:r>
              <a:rPr lang="en-US" altLang="ko-KR" dirty="0">
                <a:sym typeface="Wingdings" panose="05000000000000000000" pitchFamily="2" charset="2"/>
              </a:rPr>
              <a:t>, </a:t>
            </a:r>
            <a:r>
              <a:rPr lang="ko-KR" altLang="en-US" dirty="0" err="1">
                <a:sym typeface="Wingdings" panose="05000000000000000000" pitchFamily="2" charset="2"/>
              </a:rPr>
              <a:t>통합참조</a:t>
            </a:r>
            <a:r>
              <a:rPr lang="ko-KR" altLang="en-US" dirty="0">
                <a:sym typeface="Wingdings" panose="05000000000000000000" pitchFamily="2" charset="2"/>
              </a:rPr>
              <a:t> 번호 </a:t>
            </a:r>
            <a:r>
              <a:rPr lang="ko-KR" altLang="en-US" dirty="0" err="1">
                <a:sym typeface="Wingdings" panose="05000000000000000000" pitchFamily="2" charset="2"/>
              </a:rPr>
              <a:t>토글</a:t>
            </a:r>
            <a:r>
              <a:rPr lang="ko-KR" altLang="en-US" dirty="0">
                <a:sym typeface="Wingdings" panose="05000000000000000000" pitchFamily="2" charset="2"/>
              </a:rPr>
              <a:t> 스위치로 설정</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지역 검색은 팝업을 통해 주소 검색 및 반영 </a:t>
            </a:r>
            <a:r>
              <a:rPr lang="en-US" altLang="ko-KR" dirty="0">
                <a:sym typeface="Wingdings" panose="05000000000000000000" pitchFamily="2" charset="2"/>
              </a:rPr>
              <a:t>(</a:t>
            </a:r>
            <a:r>
              <a:rPr lang="ko-KR" altLang="en-US" dirty="0" err="1">
                <a:sym typeface="Wingdings" panose="05000000000000000000" pitchFamily="2" charset="2"/>
              </a:rPr>
              <a:t>시군구까지</a:t>
            </a:r>
            <a:r>
              <a:rPr lang="ko-KR" altLang="en-US" dirty="0">
                <a:sym typeface="Wingdings" panose="05000000000000000000" pitchFamily="2" charset="2"/>
              </a:rPr>
              <a:t> 검색</a:t>
            </a:r>
            <a:r>
              <a:rPr lang="en-US" altLang="ko-KR" dirty="0">
                <a:sym typeface="Wingdings" panose="05000000000000000000" pitchFamily="2" charset="2"/>
              </a:rPr>
              <a:t>)</a:t>
            </a:r>
          </a:p>
          <a:p>
            <a:pPr marL="228600" indent="-228600">
              <a:buFont typeface="+mj-lt"/>
              <a:buAutoNum type="arabicPeriod"/>
            </a:pPr>
            <a:r>
              <a:rPr lang="ko-KR" altLang="en-US" dirty="0">
                <a:sym typeface="Wingdings" panose="05000000000000000000" pitchFamily="2" charset="2"/>
              </a:rPr>
              <a:t>구분 설정</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드롭 다운으로 각 </a:t>
            </a:r>
            <a:r>
              <a:rPr lang="ko-KR" altLang="en-US" dirty="0" err="1">
                <a:sym typeface="Wingdings" panose="05000000000000000000" pitchFamily="2" charset="2"/>
              </a:rPr>
              <a:t>구분값</a:t>
            </a:r>
            <a:r>
              <a:rPr lang="ko-KR" altLang="en-US" dirty="0">
                <a:sym typeface="Wingdings" panose="05000000000000000000" pitchFamily="2" charset="2"/>
              </a:rPr>
              <a:t> 설정</a:t>
            </a:r>
            <a:endParaRPr lang="en-US" altLang="ko-KR" dirty="0">
              <a:sym typeface="Wingdings" panose="05000000000000000000" pitchFamily="2" charset="2"/>
            </a:endParaRPr>
          </a:p>
          <a:p>
            <a:pPr marL="228600" indent="-228600">
              <a:buFont typeface="+mj-lt"/>
              <a:buAutoNum type="arabicPeriod"/>
            </a:pPr>
            <a:r>
              <a:rPr lang="ko-KR" altLang="en-US" dirty="0">
                <a:sym typeface="Wingdings" panose="05000000000000000000" pitchFamily="2" charset="2"/>
              </a:rPr>
              <a:t>가격 설정</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사용자 입력</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좌측이 낮은 값</a:t>
            </a:r>
            <a:r>
              <a:rPr lang="en-US" altLang="ko-KR" dirty="0">
                <a:sym typeface="Wingdings" panose="05000000000000000000" pitchFamily="2" charset="2"/>
              </a:rPr>
              <a:t>, </a:t>
            </a:r>
            <a:r>
              <a:rPr lang="ko-KR" altLang="en-US" dirty="0">
                <a:sym typeface="Wingdings" panose="05000000000000000000" pitchFamily="2" charset="2"/>
              </a:rPr>
              <a:t>우측이 높은 값</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다이얼을 통한 입력 </a:t>
            </a:r>
            <a:r>
              <a:rPr lang="en-US" altLang="ko-KR" dirty="0">
                <a:sym typeface="Wingdings" panose="05000000000000000000" pitchFamily="2" charset="2"/>
              </a:rPr>
              <a:t>(</a:t>
            </a:r>
            <a:r>
              <a:rPr lang="ko-KR" altLang="en-US" dirty="0">
                <a:sym typeface="Wingdings" panose="05000000000000000000" pitchFamily="2" charset="2"/>
              </a:rPr>
              <a:t>최소값 </a:t>
            </a:r>
            <a:r>
              <a:rPr lang="en-US" altLang="ko-KR" dirty="0">
                <a:sym typeface="Wingdings" panose="05000000000000000000" pitchFamily="2" charset="2"/>
              </a:rPr>
              <a:t>100</a:t>
            </a:r>
            <a:r>
              <a:rPr lang="ko-KR" altLang="en-US" dirty="0">
                <a:sym typeface="Wingdings" panose="05000000000000000000" pitchFamily="2" charset="2"/>
              </a:rPr>
              <a:t>만</a:t>
            </a:r>
            <a:r>
              <a:rPr lang="en-US" altLang="ko-KR" dirty="0">
                <a:sym typeface="Wingdings" panose="05000000000000000000" pitchFamily="2" charset="2"/>
              </a:rPr>
              <a:t>)</a:t>
            </a:r>
          </a:p>
          <a:p>
            <a:pPr marL="228600" indent="-228600">
              <a:buFont typeface="+mj-lt"/>
              <a:buAutoNum type="arabicPeriod"/>
            </a:pPr>
            <a:r>
              <a:rPr lang="ko-KR" altLang="en-US" dirty="0">
                <a:sym typeface="Wingdings" panose="05000000000000000000" pitchFamily="2" charset="2"/>
              </a:rPr>
              <a:t>신기술 여부</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기본값</a:t>
            </a:r>
            <a:r>
              <a:rPr lang="en-US" altLang="ko-KR" dirty="0">
                <a:sym typeface="Wingdings" panose="05000000000000000000" pitchFamily="2" charset="2"/>
              </a:rPr>
              <a:t>: </a:t>
            </a:r>
            <a:r>
              <a:rPr lang="ko-KR" altLang="en-US" dirty="0">
                <a:sym typeface="Wingdings" panose="05000000000000000000" pitchFamily="2" charset="2"/>
              </a:rPr>
              <a:t>아니오</a:t>
            </a:r>
            <a:endParaRPr lang="en-US" altLang="ko-KR" dirty="0">
              <a:sym typeface="Wingdings" panose="05000000000000000000" pitchFamily="2" charset="2"/>
            </a:endParaRPr>
          </a:p>
          <a:p>
            <a:pPr marL="228600" indent="-228600">
              <a:buFont typeface="+mj-lt"/>
              <a:buAutoNum type="arabicPeriod"/>
            </a:pPr>
            <a:r>
              <a:rPr lang="ko-KR" altLang="en-US" dirty="0">
                <a:sym typeface="Wingdings" panose="05000000000000000000" pitchFamily="2" charset="2"/>
              </a:rPr>
              <a:t>검색 버튼 영역은 화면 하단 </a:t>
            </a:r>
            <a:r>
              <a:rPr lang="ko-KR" altLang="en-US" dirty="0" err="1">
                <a:sym typeface="Wingdings" panose="05000000000000000000" pitchFamily="2" charset="2"/>
              </a:rPr>
              <a:t>플로팅</a:t>
            </a:r>
            <a:r>
              <a:rPr lang="ko-KR" altLang="en-US" dirty="0">
                <a:sym typeface="Wingdings" panose="05000000000000000000" pitchFamily="2" charset="2"/>
              </a:rPr>
              <a:t> 처리</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검색 필터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검색을 위한 검색 필터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검색 필터</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MUI-BD-01-M02</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3795734"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5" name="그룹 84"/>
          <p:cNvGrpSpPr/>
          <p:nvPr/>
        </p:nvGrpSpPr>
        <p:grpSpPr>
          <a:xfrm>
            <a:off x="6258712" y="1650089"/>
            <a:ext cx="94010" cy="94010"/>
            <a:chOff x="6812560" y="3297172"/>
            <a:chExt cx="94010" cy="94010"/>
          </a:xfrm>
        </p:grpSpPr>
        <p:cxnSp>
          <p:nvCxnSpPr>
            <p:cNvPr id="86" name="직선 연결선 8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87" name="직선 연결선 8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88" name="타원 87"/>
          <p:cNvSpPr/>
          <p:nvPr/>
        </p:nvSpPr>
        <p:spPr>
          <a:xfrm>
            <a:off x="5893434"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3898850"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91" name="TextBox 90">
            <a:extLst>
              <a:ext uri="{FF2B5EF4-FFF2-40B4-BE49-F238E27FC236}">
                <a16:creationId xmlns:a16="http://schemas.microsoft.com/office/drawing/2014/main" id="{FFC49AEA-2A8F-250C-A86A-A7751D9706C3}"/>
              </a:ext>
            </a:extLst>
          </p:cNvPr>
          <p:cNvSpPr txBox="1"/>
          <p:nvPr/>
        </p:nvSpPr>
        <p:spPr>
          <a:xfrm>
            <a:off x="5567792"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16" name="타원 115">
            <a:extLst>
              <a:ext uri="{FF2B5EF4-FFF2-40B4-BE49-F238E27FC236}">
                <a16:creationId xmlns:a16="http://schemas.microsoft.com/office/drawing/2014/main" id="{37A7FF4F-0EAA-1463-560A-D5EC24416103}"/>
              </a:ext>
            </a:extLst>
          </p:cNvPr>
          <p:cNvSpPr/>
          <p:nvPr/>
        </p:nvSpPr>
        <p:spPr>
          <a:xfrm>
            <a:off x="3694089" y="197087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
        <p:nvSpPr>
          <p:cNvPr id="117" name="타원 116">
            <a:extLst>
              <a:ext uri="{FF2B5EF4-FFF2-40B4-BE49-F238E27FC236}">
                <a16:creationId xmlns:a16="http://schemas.microsoft.com/office/drawing/2014/main" id="{37A7FF4F-0EAA-1463-560A-D5EC24416103}"/>
              </a:ext>
            </a:extLst>
          </p:cNvPr>
          <p:cNvSpPr/>
          <p:nvPr/>
        </p:nvSpPr>
        <p:spPr>
          <a:xfrm>
            <a:off x="3694089" y="423695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6</a:t>
            </a:r>
            <a:endParaRPr lang="ko-KR" altLang="en-US" sz="900" b="1" dirty="0"/>
          </a:p>
        </p:txBody>
      </p:sp>
      <p:sp>
        <p:nvSpPr>
          <p:cNvPr id="120" name="타원 119">
            <a:extLst>
              <a:ext uri="{FF2B5EF4-FFF2-40B4-BE49-F238E27FC236}">
                <a16:creationId xmlns:a16="http://schemas.microsoft.com/office/drawing/2014/main" id="{37A7FF4F-0EAA-1463-560A-D5EC24416103}"/>
              </a:ext>
            </a:extLst>
          </p:cNvPr>
          <p:cNvSpPr/>
          <p:nvPr/>
        </p:nvSpPr>
        <p:spPr>
          <a:xfrm>
            <a:off x="3694089" y="499345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7</a:t>
            </a:r>
            <a:endParaRPr lang="ko-KR" altLang="en-US" sz="900" b="1"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8" name="TextBox 127">
            <a:extLst>
              <a:ext uri="{FF2B5EF4-FFF2-40B4-BE49-F238E27FC236}">
                <a16:creationId xmlns:a16="http://schemas.microsoft.com/office/drawing/2014/main" id="{FFC49AEA-2A8F-250C-A86A-A7751D9706C3}"/>
              </a:ext>
            </a:extLst>
          </p:cNvPr>
          <p:cNvSpPr txBox="1"/>
          <p:nvPr/>
        </p:nvSpPr>
        <p:spPr>
          <a:xfrm>
            <a:off x="778515" y="1995937"/>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업무구분</a:t>
            </a:r>
            <a:endParaRPr lang="ko-KR" altLang="en-US" sz="700" b="1"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941620" y="2226095"/>
            <a:ext cx="2305144" cy="1077218"/>
          </a:xfrm>
          <a:prstGeom prst="rect">
            <a:avLst/>
          </a:prstGeom>
          <a:noFill/>
        </p:spPr>
        <p:txBody>
          <a:bodyPr wrap="square" lIns="0" tIns="0" rIns="0" bIns="0" rtlCol="0">
            <a:spAutoFit/>
          </a:bodyPr>
          <a:lstStyle/>
          <a:p>
            <a:pPr>
              <a:lnSpc>
                <a:spcPct val="200000"/>
              </a:lnSpc>
            </a:pPr>
            <a:r>
              <a:rPr lang="ko-KR" altLang="en-US" sz="700" dirty="0">
                <a:latin typeface="+mn-ea"/>
              </a:rPr>
              <a:t>전체</a:t>
            </a:r>
            <a:endParaRPr lang="en-US" altLang="ko-KR" sz="700" dirty="0">
              <a:latin typeface="+mn-ea"/>
            </a:endParaRPr>
          </a:p>
          <a:p>
            <a:pPr>
              <a:lnSpc>
                <a:spcPct val="200000"/>
              </a:lnSpc>
            </a:pPr>
            <a:r>
              <a:rPr lang="ko-KR" altLang="en-US" sz="700" dirty="0">
                <a:latin typeface="+mn-ea"/>
              </a:rPr>
              <a:t>물품</a:t>
            </a:r>
            <a:endParaRPr lang="en-US" altLang="ko-KR" sz="700" dirty="0">
              <a:latin typeface="+mn-ea"/>
            </a:endParaRPr>
          </a:p>
          <a:p>
            <a:pPr>
              <a:lnSpc>
                <a:spcPct val="200000"/>
              </a:lnSpc>
            </a:pPr>
            <a:r>
              <a:rPr lang="ko-KR" altLang="en-US" sz="700" dirty="0">
                <a:latin typeface="+mn-ea"/>
              </a:rPr>
              <a:t>용역</a:t>
            </a:r>
            <a:endParaRPr lang="en-US" altLang="ko-KR" sz="700" dirty="0">
              <a:latin typeface="+mn-ea"/>
            </a:endParaRPr>
          </a:p>
          <a:p>
            <a:pPr>
              <a:lnSpc>
                <a:spcPct val="200000"/>
              </a:lnSpc>
            </a:pPr>
            <a:r>
              <a:rPr lang="ko-KR" altLang="en-US" sz="700" dirty="0">
                <a:latin typeface="+mn-ea"/>
              </a:rPr>
              <a:t>공사</a:t>
            </a:r>
            <a:endParaRPr lang="en-US" altLang="ko-KR" sz="700" dirty="0">
              <a:latin typeface="+mn-ea"/>
            </a:endParaRPr>
          </a:p>
          <a:p>
            <a:pPr>
              <a:lnSpc>
                <a:spcPct val="200000"/>
              </a:lnSpc>
            </a:pPr>
            <a:r>
              <a:rPr lang="ko-KR" altLang="en-US" sz="700" dirty="0">
                <a:latin typeface="+mn-ea"/>
              </a:rPr>
              <a:t>국외</a:t>
            </a:r>
            <a:endParaRPr lang="en-US" altLang="ko-KR" sz="700" dirty="0">
              <a:latin typeface="+mn-ea"/>
            </a:endParaRPr>
          </a:p>
        </p:txBody>
      </p:sp>
      <p:sp>
        <p:nvSpPr>
          <p:cNvPr id="132" name="직사각형 131"/>
          <p:cNvSpPr/>
          <p:nvPr/>
        </p:nvSpPr>
        <p:spPr>
          <a:xfrm>
            <a:off x="772169" y="2292407"/>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직사각형 132"/>
          <p:cNvSpPr/>
          <p:nvPr/>
        </p:nvSpPr>
        <p:spPr>
          <a:xfrm>
            <a:off x="772169" y="2509633"/>
            <a:ext cx="107950" cy="107950"/>
          </a:xfrm>
          <a:prstGeom prst="rect">
            <a:avLst/>
          </a:prstGeom>
          <a:solidFill>
            <a:schemeClr val="accent1">
              <a:lumMod val="75000"/>
            </a:schemeClr>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4" name="그룹 133"/>
          <p:cNvGrpSpPr/>
          <p:nvPr/>
        </p:nvGrpSpPr>
        <p:grpSpPr>
          <a:xfrm flipV="1">
            <a:off x="3140949" y="2093627"/>
            <a:ext cx="91438" cy="45719"/>
            <a:chOff x="6812560" y="3297172"/>
            <a:chExt cx="94010" cy="47005"/>
          </a:xfrm>
        </p:grpSpPr>
        <p:cxnSp>
          <p:nvCxnSpPr>
            <p:cNvPr id="135" name="직선 연결선 1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6" name="직선 연결선 1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7" name="직사각형 136"/>
          <p:cNvSpPr/>
          <p:nvPr/>
        </p:nvSpPr>
        <p:spPr>
          <a:xfrm>
            <a:off x="772169" y="2706723"/>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직사각형 137"/>
          <p:cNvSpPr/>
          <p:nvPr/>
        </p:nvSpPr>
        <p:spPr>
          <a:xfrm>
            <a:off x="772169" y="2921384"/>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p:cNvSpPr/>
          <p:nvPr/>
        </p:nvSpPr>
        <p:spPr>
          <a:xfrm>
            <a:off x="772169" y="3133350"/>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p:cNvSpPr txBox="1"/>
          <p:nvPr/>
        </p:nvSpPr>
        <p:spPr>
          <a:xfrm>
            <a:off x="712771" y="2471275"/>
            <a:ext cx="221536" cy="184666"/>
          </a:xfrm>
          <a:prstGeom prst="rect">
            <a:avLst/>
          </a:prstGeom>
          <a:noFill/>
        </p:spPr>
        <p:txBody>
          <a:bodyPr wrap="none" rtlCol="0">
            <a:spAutoFit/>
          </a:bodyPr>
          <a:lstStyle/>
          <a:p>
            <a:r>
              <a:rPr lang="en-US" altLang="ko-KR" sz="600" dirty="0">
                <a:solidFill>
                  <a:schemeClr val="bg1"/>
                </a:solidFill>
              </a:rPr>
              <a:t>v</a:t>
            </a:r>
            <a:endParaRPr lang="ko-KR" altLang="en-US" sz="600" dirty="0">
              <a:solidFill>
                <a:schemeClr val="bg1"/>
              </a:solidFill>
            </a:endParaRPr>
          </a:p>
        </p:txBody>
      </p:sp>
      <p:cxnSp>
        <p:nvCxnSpPr>
          <p:cNvPr id="143" name="직선 연결선 142">
            <a:extLst>
              <a:ext uri="{FF2B5EF4-FFF2-40B4-BE49-F238E27FC236}">
                <a16:creationId xmlns:a16="http://schemas.microsoft.com/office/drawing/2014/main" id="{E9293055-D5CD-4B9E-7F64-64B2D2CA7A52}"/>
              </a:ext>
            </a:extLst>
          </p:cNvPr>
          <p:cNvCxnSpPr/>
          <p:nvPr/>
        </p:nvCxnSpPr>
        <p:spPr>
          <a:xfrm>
            <a:off x="675399" y="339906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159227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4" name="타원 153">
            <a:extLst>
              <a:ext uri="{FF2B5EF4-FFF2-40B4-BE49-F238E27FC236}">
                <a16:creationId xmlns:a16="http://schemas.microsoft.com/office/drawing/2014/main" id="{37A7FF4F-0EAA-1463-560A-D5EC24416103}"/>
              </a:ext>
            </a:extLst>
          </p:cNvPr>
          <p:cNvSpPr/>
          <p:nvPr/>
        </p:nvSpPr>
        <p:spPr>
          <a:xfrm>
            <a:off x="573754" y="204919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5" name="타원 154">
            <a:extLst>
              <a:ext uri="{FF2B5EF4-FFF2-40B4-BE49-F238E27FC236}">
                <a16:creationId xmlns:a16="http://schemas.microsoft.com/office/drawing/2014/main" id="{37A7FF4F-0EAA-1463-560A-D5EC24416103}"/>
              </a:ext>
            </a:extLst>
          </p:cNvPr>
          <p:cNvSpPr/>
          <p:nvPr/>
        </p:nvSpPr>
        <p:spPr>
          <a:xfrm>
            <a:off x="573754" y="350831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778515" y="3490553"/>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일자 설정</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778515" y="3713091"/>
            <a:ext cx="670770" cy="430887"/>
          </a:xfrm>
          <a:prstGeom prst="rect">
            <a:avLst/>
          </a:prstGeom>
          <a:noFill/>
        </p:spPr>
        <p:txBody>
          <a:bodyPr wrap="square" lIns="0" tIns="0" rIns="0" bIns="0" rtlCol="0">
            <a:spAutoFit/>
          </a:bodyPr>
          <a:lstStyle/>
          <a:p>
            <a:pPr>
              <a:lnSpc>
                <a:spcPct val="200000"/>
              </a:lnSpc>
            </a:pPr>
            <a:r>
              <a:rPr lang="ko-KR" altLang="en-US" sz="700" dirty="0">
                <a:latin typeface="+mn-ea"/>
              </a:rPr>
              <a:t>일자 설정</a:t>
            </a:r>
            <a:endParaRPr lang="en-US" altLang="ko-KR" sz="700" dirty="0">
              <a:latin typeface="+mn-ea"/>
            </a:endParaRPr>
          </a:p>
          <a:p>
            <a:pPr>
              <a:lnSpc>
                <a:spcPct val="200000"/>
              </a:lnSpc>
            </a:pPr>
            <a:r>
              <a:rPr lang="ko-KR" altLang="en-US" sz="700" dirty="0">
                <a:latin typeface="+mn-ea"/>
              </a:rPr>
              <a:t>빠른 설정</a:t>
            </a:r>
            <a:endParaRPr lang="en-US" altLang="ko-KR" sz="700" dirty="0">
              <a:latin typeface="+mn-ea"/>
            </a:endParaRPr>
          </a:p>
        </p:txBody>
      </p:sp>
      <p:grpSp>
        <p:nvGrpSpPr>
          <p:cNvPr id="159" name="그룹 158"/>
          <p:cNvGrpSpPr/>
          <p:nvPr/>
        </p:nvGrpSpPr>
        <p:grpSpPr>
          <a:xfrm flipV="1">
            <a:off x="3140949" y="3588243"/>
            <a:ext cx="91438" cy="45719"/>
            <a:chOff x="6812560" y="3297172"/>
            <a:chExt cx="94010" cy="47005"/>
          </a:xfrm>
        </p:grpSpPr>
        <p:cxnSp>
          <p:nvCxnSpPr>
            <p:cNvPr id="160" name="직선 연결선 15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1" name="직선 연결선 1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모서리가 둥근 직사각형 172"/>
          <p:cNvSpPr/>
          <p:nvPr/>
        </p:nvSpPr>
        <p:spPr>
          <a:xfrm>
            <a:off x="1467218" y="3532735"/>
            <a:ext cx="606633" cy="149124"/>
          </a:xfrm>
          <a:prstGeom prst="roundRect">
            <a:avLst>
              <a:gd name="adj" fmla="val 50000"/>
            </a:avLst>
          </a:prstGeom>
          <a:solidFill>
            <a:schemeClr val="bg1">
              <a:lumMod val="50000"/>
            </a:schemeClr>
          </a:solidFill>
          <a:ln w="12700">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71" name="모서리가 둥근 직사각형 170"/>
          <p:cNvSpPr/>
          <p:nvPr/>
        </p:nvSpPr>
        <p:spPr>
          <a:xfrm>
            <a:off x="1467219" y="3532735"/>
            <a:ext cx="305007" cy="149124"/>
          </a:xfrm>
          <a:prstGeom prst="roundRect">
            <a:avLst>
              <a:gd name="adj" fmla="val 50000"/>
            </a:avLst>
          </a:prstGeom>
          <a:solidFill>
            <a:srgbClr val="0070C0"/>
          </a:solidFill>
          <a:ln w="12700" cap="flat" cmpd="sng" algn="ctr">
            <a:noFill/>
            <a:prstDash val="solid"/>
          </a:ln>
          <a:effectLst/>
        </p:spPr>
        <p:txBody>
          <a:bodyPr rtlCol="0" anchor="ctr"/>
          <a:lstStyle/>
          <a:p>
            <a:pPr algn="ctr" fontAlgn="base" latinLnBrk="0">
              <a:spcBef>
                <a:spcPct val="0"/>
              </a:spcBef>
              <a:spcAft>
                <a:spcPct val="0"/>
              </a:spcAft>
            </a:pPr>
            <a:endParaRPr kumimoji="1" lang="ko-KR" altLang="en-US" sz="800" kern="0">
              <a:solidFill>
                <a:prstClr val="white"/>
              </a:solidFill>
              <a:latin typeface="맑은 고딕"/>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1502989" y="3559275"/>
            <a:ext cx="233466"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개찰</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1793292" y="3559275"/>
            <a:ext cx="233466" cy="107722"/>
          </a:xfrm>
          <a:prstGeom prst="rect">
            <a:avLst/>
          </a:prstGeom>
          <a:noFill/>
        </p:spPr>
        <p:txBody>
          <a:bodyPr wrap="square" lIns="0" tIns="0" rIns="0" bIns="0" rtlCol="0">
            <a:spAutoFit/>
          </a:bodyPr>
          <a:lstStyle/>
          <a:p>
            <a:pPr algn="ctr"/>
            <a:r>
              <a:rPr lang="ko-KR" altLang="en-US" sz="700">
                <a:solidFill>
                  <a:schemeClr val="bg1"/>
                </a:solidFill>
                <a:latin typeface="+mn-ea"/>
              </a:rPr>
              <a:t>공고</a:t>
            </a:r>
            <a:endParaRPr lang="ko-KR" altLang="en-US" sz="700" dirty="0">
              <a:solidFill>
                <a:schemeClr val="bg1"/>
              </a:solidFill>
              <a:latin typeface="+mn-ea"/>
            </a:endParaRPr>
          </a:p>
        </p:txBody>
      </p:sp>
      <p:grpSp>
        <p:nvGrpSpPr>
          <p:cNvPr id="176" name="그룹 175">
            <a:extLst>
              <a:ext uri="{FF2B5EF4-FFF2-40B4-BE49-F238E27FC236}">
                <a16:creationId xmlns:a16="http://schemas.microsoft.com/office/drawing/2014/main" id="{8F2F56C4-B606-212C-F131-A4A30AE19BC8}"/>
              </a:ext>
            </a:extLst>
          </p:cNvPr>
          <p:cNvGrpSpPr/>
          <p:nvPr/>
        </p:nvGrpSpPr>
        <p:grpSpPr>
          <a:xfrm>
            <a:off x="1464781" y="3740722"/>
            <a:ext cx="859319" cy="188244"/>
            <a:chOff x="5613534" y="2854836"/>
            <a:chExt cx="804671" cy="188244"/>
          </a:xfrm>
        </p:grpSpPr>
        <p:sp>
          <p:nvSpPr>
            <p:cNvPr id="181"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2025-10-15</a:t>
              </a:r>
              <a:endParaRPr kumimoji="1" lang="en-US" sz="700" b="0" i="0" u="none" strike="noStrike" kern="0" cap="none" spc="0" normalizeH="0" baseline="0" noProof="0" dirty="0">
                <a:ln>
                  <a:noFill/>
                </a:ln>
                <a:effectLst/>
                <a:uLnTx/>
                <a:uFillTx/>
                <a:latin typeface="맑은 고딕"/>
              </a:endParaRPr>
            </a:p>
          </p:txBody>
        </p:sp>
        <p:pic>
          <p:nvPicPr>
            <p:cNvPr id="182" name="그림 181">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sp>
        <p:nvSpPr>
          <p:cNvPr id="178" name="TextBox 91">
            <a:extLst>
              <a:ext uri="{FF2B5EF4-FFF2-40B4-BE49-F238E27FC236}">
                <a16:creationId xmlns:a16="http://schemas.microsoft.com/office/drawing/2014/main" id="{02490888-B81F-0F94-5D5F-078AEEB39DDB}"/>
              </a:ext>
            </a:extLst>
          </p:cNvPr>
          <p:cNvSpPr txBox="1"/>
          <p:nvPr/>
        </p:nvSpPr>
        <p:spPr>
          <a:xfrm>
            <a:off x="2347279" y="3760669"/>
            <a:ext cx="80150" cy="138499"/>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900" dirty="0">
                <a:solidFill>
                  <a:prstClr val="black"/>
                </a:solidFill>
                <a:cs typeface="Pretendard Medium" panose="02000603000000020004" pitchFamily="50" charset="-127"/>
              </a:rPr>
              <a:t>~</a:t>
            </a:r>
            <a:endParaRPr lang="ko-KR" altLang="en-US" sz="900" dirty="0">
              <a:solidFill>
                <a:prstClr val="black"/>
              </a:solidFill>
              <a:cs typeface="Pretendard Medium" panose="02000603000000020004" pitchFamily="50" charset="-127"/>
            </a:endParaRPr>
          </a:p>
        </p:txBody>
      </p:sp>
      <p:grpSp>
        <p:nvGrpSpPr>
          <p:cNvPr id="3" name="그룹 2"/>
          <p:cNvGrpSpPr/>
          <p:nvPr/>
        </p:nvGrpSpPr>
        <p:grpSpPr>
          <a:xfrm>
            <a:off x="1464781" y="3971391"/>
            <a:ext cx="1845146" cy="188135"/>
            <a:chOff x="1430277" y="4057651"/>
            <a:chExt cx="1845146" cy="188135"/>
          </a:xfrm>
        </p:grpSpPr>
        <p:sp>
          <p:nvSpPr>
            <p:cNvPr id="189" name="사각형: 둥근 모서리 169">
              <a:extLst>
                <a:ext uri="{FF2B5EF4-FFF2-40B4-BE49-F238E27FC236}">
                  <a16:creationId xmlns:a16="http://schemas.microsoft.com/office/drawing/2014/main" id="{A28DD831-0E4B-31EE-CB08-9E188754698D}"/>
                </a:ext>
              </a:extLst>
            </p:cNvPr>
            <p:cNvSpPr/>
            <p:nvPr/>
          </p:nvSpPr>
          <p:spPr>
            <a:xfrm>
              <a:off x="1430277" y="4057651"/>
              <a:ext cx="582017" cy="188135"/>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solidFill>
                    <a:srgbClr val="0070C0"/>
                  </a:solidFill>
                  <a:latin typeface="맑은 고딕"/>
                  <a:ea typeface="맑은 고딕" panose="020B0503020000020004" pitchFamily="50" charset="-127"/>
                </a:rPr>
                <a:t>최근 </a:t>
              </a:r>
              <a:r>
                <a:rPr kumimoji="1" lang="en-US" altLang="ko-KR" sz="700" kern="0" dirty="0">
                  <a:solidFill>
                    <a:srgbClr val="0070C0"/>
                  </a:solidFill>
                  <a:latin typeface="맑은 고딕"/>
                  <a:ea typeface="맑은 고딕" panose="020B0503020000020004" pitchFamily="50" charset="-127"/>
                </a:rPr>
                <a:t>1</a:t>
              </a:r>
              <a:r>
                <a:rPr kumimoji="1" lang="ko-KR" altLang="en-US" sz="700" kern="0" dirty="0">
                  <a:solidFill>
                    <a:srgbClr val="0070C0"/>
                  </a:solidFill>
                  <a:latin typeface="맑은 고딕"/>
                  <a:ea typeface="맑은 고딕" panose="020B0503020000020004" pitchFamily="50" charset="-127"/>
                </a:rPr>
                <a:t>개월</a:t>
              </a:r>
              <a:endParaRPr kumimoji="1" lang="en-US" sz="700" kern="0" dirty="0">
                <a:solidFill>
                  <a:srgbClr val="0070C0"/>
                </a:solidFill>
                <a:latin typeface="맑은 고딕"/>
                <a:ea typeface="맑은 고딕" panose="020B0503020000020004" pitchFamily="50" charset="-127"/>
              </a:endParaRPr>
            </a:p>
          </p:txBody>
        </p:sp>
        <p:sp>
          <p:nvSpPr>
            <p:cNvPr id="190" name="사각형: 둥근 모서리 171">
              <a:extLst>
                <a:ext uri="{FF2B5EF4-FFF2-40B4-BE49-F238E27FC236}">
                  <a16:creationId xmlns:a16="http://schemas.microsoft.com/office/drawing/2014/main" id="{75BECEC6-4045-95B1-98C2-242CA0FC5A06}"/>
                </a:ext>
              </a:extLst>
            </p:cNvPr>
            <p:cNvSpPr/>
            <p:nvPr/>
          </p:nvSpPr>
          <p:spPr>
            <a:xfrm>
              <a:off x="2061841" y="4057651"/>
              <a:ext cx="582017" cy="188135"/>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latin typeface="+mn-ea"/>
                </a:rPr>
                <a:t>최근 </a:t>
              </a:r>
              <a:r>
                <a:rPr kumimoji="1" lang="en-US" altLang="ko-KR" sz="700" kern="0" dirty="0">
                  <a:latin typeface="+mn-ea"/>
                </a:rPr>
                <a:t>3</a:t>
              </a:r>
              <a:r>
                <a:rPr kumimoji="1" lang="ko-KR" altLang="en-US" sz="700" kern="0" dirty="0">
                  <a:latin typeface="+mn-ea"/>
                </a:rPr>
                <a:t>개월</a:t>
              </a:r>
              <a:endParaRPr kumimoji="1" lang="en-US" altLang="ko-KR" sz="700" kern="0" dirty="0">
                <a:latin typeface="+mn-ea"/>
              </a:endParaRPr>
            </a:p>
          </p:txBody>
        </p:sp>
        <p:sp>
          <p:nvSpPr>
            <p:cNvPr id="191" name="사각형: 둥근 모서리 172">
              <a:extLst>
                <a:ext uri="{FF2B5EF4-FFF2-40B4-BE49-F238E27FC236}">
                  <a16:creationId xmlns:a16="http://schemas.microsoft.com/office/drawing/2014/main" id="{7F182F00-C81F-5F02-6A1E-826222B231A9}"/>
                </a:ext>
              </a:extLst>
            </p:cNvPr>
            <p:cNvSpPr/>
            <p:nvPr/>
          </p:nvSpPr>
          <p:spPr>
            <a:xfrm>
              <a:off x="2693406" y="4057651"/>
              <a:ext cx="582017" cy="188135"/>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pPr>
              <a:r>
                <a:rPr kumimoji="1" lang="ko-KR" altLang="en-US" sz="700" kern="0" dirty="0">
                  <a:solidFill>
                    <a:prstClr val="black"/>
                  </a:solidFill>
                  <a:latin typeface="+mn-ea"/>
                </a:rPr>
                <a:t>최근 </a:t>
              </a:r>
              <a:r>
                <a:rPr kumimoji="1" lang="en-US" altLang="ko-KR" sz="700" kern="0" dirty="0">
                  <a:solidFill>
                    <a:prstClr val="black"/>
                  </a:solidFill>
                  <a:latin typeface="+mn-ea"/>
                </a:rPr>
                <a:t>6</a:t>
              </a:r>
              <a:r>
                <a:rPr kumimoji="1" lang="ko-KR" altLang="en-US" sz="700" kern="0" dirty="0">
                  <a:solidFill>
                    <a:prstClr val="black"/>
                  </a:solidFill>
                  <a:latin typeface="+mn-ea"/>
                </a:rPr>
                <a:t>개월</a:t>
              </a:r>
              <a:endParaRPr kumimoji="1" lang="en-US" altLang="ko-KR" sz="700" kern="0" dirty="0">
                <a:solidFill>
                  <a:prstClr val="black"/>
                </a:solidFill>
                <a:latin typeface="+mn-ea"/>
              </a:endParaRPr>
            </a:p>
          </p:txBody>
        </p:sp>
      </p:grpSp>
      <p:grpSp>
        <p:nvGrpSpPr>
          <p:cNvPr id="195" name="그룹 194">
            <a:extLst>
              <a:ext uri="{FF2B5EF4-FFF2-40B4-BE49-F238E27FC236}">
                <a16:creationId xmlns:a16="http://schemas.microsoft.com/office/drawing/2014/main" id="{8F2F56C4-B606-212C-F131-A4A30AE19BC8}"/>
              </a:ext>
            </a:extLst>
          </p:cNvPr>
          <p:cNvGrpSpPr/>
          <p:nvPr/>
        </p:nvGrpSpPr>
        <p:grpSpPr>
          <a:xfrm>
            <a:off x="2450608" y="3740722"/>
            <a:ext cx="859319" cy="188244"/>
            <a:chOff x="5613534" y="2854836"/>
            <a:chExt cx="804671" cy="188244"/>
          </a:xfrm>
        </p:grpSpPr>
        <p:sp>
          <p:nvSpPr>
            <p:cNvPr id="196"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2026-01-15</a:t>
              </a:r>
              <a:endParaRPr kumimoji="1" lang="en-US" sz="700" b="0" i="0" u="none" strike="noStrike" kern="0" cap="none" spc="0" normalizeH="0" baseline="0" noProof="0" dirty="0">
                <a:ln>
                  <a:noFill/>
                </a:ln>
                <a:effectLst/>
                <a:uLnTx/>
                <a:uFillTx/>
                <a:latin typeface="맑은 고딕"/>
              </a:endParaRPr>
            </a:p>
          </p:txBody>
        </p:sp>
        <p:pic>
          <p:nvPicPr>
            <p:cNvPr id="197" name="그림 196">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cxnSp>
        <p:nvCxnSpPr>
          <p:cNvPr id="199" name="직선 연결선 198">
            <a:extLst>
              <a:ext uri="{FF2B5EF4-FFF2-40B4-BE49-F238E27FC236}">
                <a16:creationId xmlns:a16="http://schemas.microsoft.com/office/drawing/2014/main" id="{E9293055-D5CD-4B9E-7F64-64B2D2CA7A52}"/>
              </a:ext>
            </a:extLst>
          </p:cNvPr>
          <p:cNvCxnSpPr/>
          <p:nvPr/>
        </p:nvCxnSpPr>
        <p:spPr>
          <a:xfrm>
            <a:off x="675399" y="428814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0" name="TextBox 199">
            <a:extLst>
              <a:ext uri="{FF2B5EF4-FFF2-40B4-BE49-F238E27FC236}">
                <a16:creationId xmlns:a16="http://schemas.microsoft.com/office/drawing/2014/main" id="{FFC49AEA-2A8F-250C-A86A-A7751D9706C3}"/>
              </a:ext>
            </a:extLst>
          </p:cNvPr>
          <p:cNvSpPr txBox="1"/>
          <p:nvPr/>
        </p:nvSpPr>
        <p:spPr>
          <a:xfrm>
            <a:off x="778515" y="4388257"/>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검색어</a:t>
            </a:r>
            <a:r>
              <a:rPr lang="ko-KR" altLang="en-US" sz="700" b="1" dirty="0">
                <a:latin typeface="+mn-ea"/>
              </a:rPr>
              <a:t> </a:t>
            </a:r>
            <a:r>
              <a:rPr lang="en-US" altLang="ko-KR" sz="700" b="1" dirty="0">
                <a:latin typeface="+mn-ea"/>
              </a:rPr>
              <a:t>(</a:t>
            </a:r>
            <a:r>
              <a:rPr lang="ko-KR" altLang="en-US" sz="700" b="1" dirty="0">
                <a:latin typeface="+mn-ea"/>
              </a:rPr>
              <a:t>일부 입력 가능</a:t>
            </a:r>
            <a:r>
              <a:rPr lang="en-US" altLang="ko-KR" sz="700" b="1" dirty="0">
                <a:latin typeface="+mn-ea"/>
              </a:rPr>
              <a:t>)</a:t>
            </a:r>
            <a:endParaRPr lang="ko-KR" altLang="en-US" sz="700" b="1" dirty="0">
              <a:latin typeface="+mn-ea"/>
            </a:endParaRPr>
          </a:p>
        </p:txBody>
      </p:sp>
      <p:grpSp>
        <p:nvGrpSpPr>
          <p:cNvPr id="201" name="그룹 200"/>
          <p:cNvGrpSpPr/>
          <p:nvPr/>
        </p:nvGrpSpPr>
        <p:grpSpPr>
          <a:xfrm flipV="1">
            <a:off x="3140949" y="4485947"/>
            <a:ext cx="91438" cy="45719"/>
            <a:chOff x="6812560" y="3297172"/>
            <a:chExt cx="94010" cy="47005"/>
          </a:xfrm>
        </p:grpSpPr>
        <p:cxnSp>
          <p:nvCxnSpPr>
            <p:cNvPr id="202" name="직선 연결선 20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4" name="모서리가 둥근 직사각형 203"/>
          <p:cNvSpPr/>
          <p:nvPr/>
        </p:nvSpPr>
        <p:spPr>
          <a:xfrm>
            <a:off x="1449284" y="4668748"/>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bg1">
                    <a:lumMod val="65000"/>
                  </a:schemeClr>
                </a:solidFill>
              </a:rPr>
              <a:t>입찰건명을</a:t>
            </a:r>
            <a:r>
              <a:rPr lang="ko-KR" altLang="en-US" sz="700" dirty="0">
                <a:solidFill>
                  <a:schemeClr val="bg1">
                    <a:lumMod val="65000"/>
                  </a:schemeClr>
                </a:solidFill>
              </a:rPr>
              <a:t>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778515" y="4625248"/>
            <a:ext cx="670770" cy="1508105"/>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a:latin typeface="+mn-ea"/>
              </a:rPr>
              <a:t>번호 검색</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면허정보</a:t>
            </a:r>
            <a:endParaRPr lang="en-US" altLang="ko-KR" sz="700" dirty="0">
              <a:latin typeface="+mn-ea"/>
            </a:endParaRPr>
          </a:p>
          <a:p>
            <a:pPr>
              <a:lnSpc>
                <a:spcPct val="200000"/>
              </a:lnSpc>
            </a:pPr>
            <a:r>
              <a:rPr lang="ko-KR" altLang="en-US" sz="700" dirty="0">
                <a:latin typeface="+mn-ea"/>
              </a:rPr>
              <a:t>지역</a:t>
            </a:r>
            <a:endParaRPr lang="en-US" altLang="ko-KR" sz="700" dirty="0">
              <a:latin typeface="+mn-ea"/>
            </a:endParaRPr>
          </a:p>
        </p:txBody>
      </p:sp>
      <p:sp>
        <p:nvSpPr>
          <p:cNvPr id="207" name="모서리가 둥근 직사각형 206"/>
          <p:cNvSpPr/>
          <p:nvPr/>
        </p:nvSpPr>
        <p:spPr>
          <a:xfrm>
            <a:off x="1449284" y="506380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08" name="모서리가 둥근 직사각형 207"/>
          <p:cNvSpPr/>
          <p:nvPr/>
        </p:nvSpPr>
        <p:spPr>
          <a:xfrm>
            <a:off x="1449284" y="550916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bg1">
                    <a:lumMod val="65000"/>
                  </a:schemeClr>
                </a:solidFill>
              </a:rPr>
              <a:t>발주기관을</a:t>
            </a:r>
            <a:r>
              <a:rPr lang="ko-KR" altLang="en-US" sz="700" dirty="0">
                <a:solidFill>
                  <a:schemeClr val="bg1">
                    <a:lumMod val="65000"/>
                  </a:schemeClr>
                </a:solidFill>
              </a:rPr>
              <a:t>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12" name="모서리가 둥근 직사각형 211"/>
          <p:cNvSpPr/>
          <p:nvPr/>
        </p:nvSpPr>
        <p:spPr>
          <a:xfrm>
            <a:off x="1452235" y="5745391"/>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bg1">
                    <a:lumMod val="65000"/>
                  </a:schemeClr>
                </a:solidFill>
              </a:rPr>
              <a:t>면허정보를</a:t>
            </a:r>
            <a:r>
              <a:rPr lang="ko-KR" altLang="en-US" sz="700" dirty="0">
                <a:solidFill>
                  <a:schemeClr val="bg1">
                    <a:lumMod val="65000"/>
                  </a:schemeClr>
                </a:solidFill>
              </a:rPr>
              <a:t>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grpSp>
        <p:nvGrpSpPr>
          <p:cNvPr id="213" name="그룹 212"/>
          <p:cNvGrpSpPr/>
          <p:nvPr/>
        </p:nvGrpSpPr>
        <p:grpSpPr>
          <a:xfrm rot="16200000">
            <a:off x="3140950" y="5816132"/>
            <a:ext cx="91438" cy="45719"/>
            <a:chOff x="6812560" y="3297172"/>
            <a:chExt cx="94010" cy="47005"/>
          </a:xfrm>
        </p:grpSpPr>
        <p:cxnSp>
          <p:nvCxnSpPr>
            <p:cNvPr id="214" name="직선 연결선 2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5" name="직선 연결선 2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6" name="모서리가 둥근 직사각형 215"/>
          <p:cNvSpPr/>
          <p:nvPr/>
        </p:nvSpPr>
        <p:spPr>
          <a:xfrm>
            <a:off x="1467218" y="4894922"/>
            <a:ext cx="920382" cy="149124"/>
          </a:xfrm>
          <a:prstGeom prst="roundRect">
            <a:avLst>
              <a:gd name="adj" fmla="val 50000"/>
            </a:avLst>
          </a:prstGeom>
          <a:solidFill>
            <a:schemeClr val="bg1">
              <a:lumMod val="50000"/>
            </a:schemeClr>
          </a:solidFill>
          <a:ln w="12700">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17" name="모서리가 둥근 직사각형 216"/>
          <p:cNvSpPr/>
          <p:nvPr/>
        </p:nvSpPr>
        <p:spPr>
          <a:xfrm>
            <a:off x="1467219" y="4894922"/>
            <a:ext cx="462756" cy="149124"/>
          </a:xfrm>
          <a:prstGeom prst="roundRect">
            <a:avLst>
              <a:gd name="adj" fmla="val 50000"/>
            </a:avLst>
          </a:prstGeom>
          <a:solidFill>
            <a:srgbClr val="0070C0"/>
          </a:solidFill>
          <a:ln w="12700" cap="flat" cmpd="sng" algn="ctr">
            <a:noFill/>
            <a:prstDash val="solid"/>
          </a:ln>
          <a:effectLst/>
        </p:spPr>
        <p:txBody>
          <a:bodyPr rtlCol="0" anchor="ctr"/>
          <a:lstStyle/>
          <a:p>
            <a:pPr algn="ctr" fontAlgn="base" latinLnBrk="0">
              <a:spcBef>
                <a:spcPct val="0"/>
              </a:spcBef>
              <a:spcAft>
                <a:spcPct val="0"/>
              </a:spcAft>
            </a:pPr>
            <a:endParaRPr kumimoji="1" lang="ko-KR" altLang="en-US" sz="800" kern="0">
              <a:solidFill>
                <a:prstClr val="white"/>
              </a:solidFill>
              <a:latin typeface="맑은 고딕"/>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1502989" y="4921462"/>
            <a:ext cx="388806" cy="107722"/>
          </a:xfrm>
          <a:prstGeom prst="rect">
            <a:avLst/>
          </a:prstGeom>
          <a:noFill/>
        </p:spPr>
        <p:txBody>
          <a:bodyPr wrap="square" lIns="0" tIns="0" rIns="0" bIns="0" rtlCol="0">
            <a:spAutoFit/>
          </a:bodyPr>
          <a:lstStyle/>
          <a:p>
            <a:pPr algn="ctr"/>
            <a:r>
              <a:rPr lang="ko-KR" altLang="en-US" sz="700" dirty="0" err="1">
                <a:solidFill>
                  <a:schemeClr val="bg1"/>
                </a:solidFill>
                <a:latin typeface="+mn-ea"/>
              </a:rPr>
              <a:t>공고번호</a:t>
            </a:r>
            <a:endParaRPr lang="ko-KR" altLang="en-US" sz="700" dirty="0">
              <a:solidFill>
                <a:schemeClr val="bg1"/>
              </a:solidFill>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1965745" y="4921462"/>
            <a:ext cx="363180" cy="107722"/>
          </a:xfrm>
          <a:prstGeom prst="rect">
            <a:avLst/>
          </a:prstGeom>
          <a:noFill/>
        </p:spPr>
        <p:txBody>
          <a:bodyPr wrap="square" lIns="0" tIns="0" rIns="0" bIns="0" rtlCol="0">
            <a:spAutoFit/>
          </a:bodyPr>
          <a:lstStyle/>
          <a:p>
            <a:pPr algn="ctr"/>
            <a:r>
              <a:rPr lang="ko-KR" altLang="en-US" sz="700">
                <a:solidFill>
                  <a:schemeClr val="bg1"/>
                </a:solidFill>
                <a:latin typeface="+mn-ea"/>
              </a:rPr>
              <a:t>통합참조</a:t>
            </a:r>
            <a:endParaRPr lang="ko-KR" altLang="en-US" sz="700" dirty="0">
              <a:solidFill>
                <a:schemeClr val="bg1"/>
              </a:solidFill>
              <a:latin typeface="+mn-ea"/>
            </a:endParaRPr>
          </a:p>
        </p:txBody>
      </p:sp>
      <p:grpSp>
        <p:nvGrpSpPr>
          <p:cNvPr id="221" name="그룹 220"/>
          <p:cNvGrpSpPr/>
          <p:nvPr/>
        </p:nvGrpSpPr>
        <p:grpSpPr>
          <a:xfrm>
            <a:off x="3795734" y="5614711"/>
            <a:ext cx="2712027" cy="617588"/>
            <a:chOff x="675399" y="5614711"/>
            <a:chExt cx="2712027" cy="617588"/>
          </a:xfrm>
        </p:grpSpPr>
        <p:sp>
          <p:nvSpPr>
            <p:cNvPr id="222" name="직사각형 22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검색</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24"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225" name="TextBox 224">
            <a:extLst>
              <a:ext uri="{FF2B5EF4-FFF2-40B4-BE49-F238E27FC236}">
                <a16:creationId xmlns:a16="http://schemas.microsoft.com/office/drawing/2014/main" id="{FFC49AEA-2A8F-250C-A86A-A7751D9706C3}"/>
              </a:ext>
            </a:extLst>
          </p:cNvPr>
          <p:cNvSpPr txBox="1"/>
          <p:nvPr/>
        </p:nvSpPr>
        <p:spPr>
          <a:xfrm>
            <a:off x="3898850" y="1956832"/>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구분 설정</a:t>
            </a:r>
          </a:p>
        </p:txBody>
      </p:sp>
      <p:grpSp>
        <p:nvGrpSpPr>
          <p:cNvPr id="226" name="그룹 225"/>
          <p:cNvGrpSpPr/>
          <p:nvPr/>
        </p:nvGrpSpPr>
        <p:grpSpPr>
          <a:xfrm flipV="1">
            <a:off x="6261284" y="2054522"/>
            <a:ext cx="91438" cy="45719"/>
            <a:chOff x="6812560" y="3297172"/>
            <a:chExt cx="94010" cy="47005"/>
          </a:xfrm>
        </p:grpSpPr>
        <p:cxnSp>
          <p:nvCxnSpPr>
            <p:cNvPr id="227" name="직선 연결선 22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8" name="직선 연결선 22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29" name="모서리가 둥근 직사각형 228"/>
          <p:cNvSpPr/>
          <p:nvPr/>
        </p:nvSpPr>
        <p:spPr>
          <a:xfrm>
            <a:off x="4569619" y="223732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3898850" y="2185197"/>
            <a:ext cx="670770" cy="1809726"/>
          </a:xfrm>
          <a:prstGeom prst="rect">
            <a:avLst/>
          </a:prstGeom>
          <a:noFill/>
        </p:spPr>
        <p:txBody>
          <a:bodyPr wrap="square" lIns="0" tIns="0" rIns="0" bIns="0" rtlCol="0">
            <a:spAutoFit/>
          </a:bodyPr>
          <a:lstStyle/>
          <a:p>
            <a:pPr>
              <a:lnSpc>
                <a:spcPct val="210000"/>
              </a:lnSpc>
            </a:pPr>
            <a:r>
              <a:rPr lang="ko-KR" altLang="en-US" sz="700" dirty="0" err="1">
                <a:latin typeface="+mn-ea"/>
              </a:rPr>
              <a:t>입찰구분</a:t>
            </a:r>
            <a:endParaRPr lang="en-US" altLang="ko-KR" sz="700" dirty="0">
              <a:latin typeface="+mn-ea"/>
            </a:endParaRPr>
          </a:p>
          <a:p>
            <a:pPr>
              <a:lnSpc>
                <a:spcPct val="210000"/>
              </a:lnSpc>
            </a:pPr>
            <a:r>
              <a:rPr lang="ko-KR" altLang="en-US" sz="700" dirty="0" err="1">
                <a:latin typeface="+mn-ea"/>
              </a:rPr>
              <a:t>공고구분</a:t>
            </a:r>
            <a:endParaRPr lang="en-US" altLang="ko-KR" sz="700" dirty="0">
              <a:latin typeface="+mn-ea"/>
            </a:endParaRPr>
          </a:p>
          <a:p>
            <a:pPr>
              <a:lnSpc>
                <a:spcPct val="210000"/>
              </a:lnSpc>
            </a:pPr>
            <a:r>
              <a:rPr lang="ko-KR" altLang="en-US" sz="700" dirty="0">
                <a:latin typeface="+mn-ea"/>
              </a:rPr>
              <a:t>진행상태</a:t>
            </a:r>
            <a:endParaRPr lang="en-US" altLang="ko-KR" sz="700" dirty="0">
              <a:latin typeface="+mn-ea"/>
            </a:endParaRPr>
          </a:p>
          <a:p>
            <a:pPr>
              <a:lnSpc>
                <a:spcPct val="210000"/>
              </a:lnSpc>
            </a:pPr>
            <a:r>
              <a:rPr lang="ko-KR" altLang="en-US" sz="700" dirty="0">
                <a:latin typeface="+mn-ea"/>
              </a:rPr>
              <a:t>기능</a:t>
            </a:r>
            <a:endParaRPr lang="en-US" altLang="ko-KR" sz="700" dirty="0">
              <a:latin typeface="+mn-ea"/>
            </a:endParaRPr>
          </a:p>
          <a:p>
            <a:pPr>
              <a:lnSpc>
                <a:spcPct val="210000"/>
              </a:lnSpc>
            </a:pPr>
            <a:r>
              <a:rPr lang="ko-KR" altLang="en-US" sz="700" dirty="0" err="1">
                <a:latin typeface="+mn-ea"/>
              </a:rPr>
              <a:t>입찰매체</a:t>
            </a:r>
            <a:endParaRPr lang="en-US" altLang="ko-KR" sz="700" dirty="0">
              <a:latin typeface="+mn-ea"/>
            </a:endParaRPr>
          </a:p>
          <a:p>
            <a:pPr>
              <a:lnSpc>
                <a:spcPct val="210000"/>
              </a:lnSpc>
            </a:pPr>
            <a:r>
              <a:rPr lang="ko-KR" altLang="en-US" sz="700" dirty="0" err="1">
                <a:latin typeface="+mn-ea"/>
              </a:rPr>
              <a:t>입찰형태</a:t>
            </a:r>
            <a:endParaRPr lang="en-US" altLang="ko-KR" sz="700" dirty="0">
              <a:latin typeface="+mn-ea"/>
            </a:endParaRPr>
          </a:p>
          <a:p>
            <a:pPr>
              <a:lnSpc>
                <a:spcPct val="210000"/>
              </a:lnSpc>
            </a:pPr>
            <a:r>
              <a:rPr lang="ko-KR" altLang="en-US" sz="700" dirty="0">
                <a:latin typeface="+mn-ea"/>
              </a:rPr>
              <a:t>계약방법</a:t>
            </a:r>
            <a:endParaRPr lang="en-US" altLang="ko-KR" sz="700" dirty="0">
              <a:latin typeface="+mn-ea"/>
            </a:endParaRPr>
          </a:p>
          <a:p>
            <a:pPr>
              <a:lnSpc>
                <a:spcPct val="210000"/>
              </a:lnSpc>
            </a:pPr>
            <a:r>
              <a:rPr lang="ko-KR" altLang="en-US" sz="700" dirty="0" err="1">
                <a:latin typeface="+mn-ea"/>
              </a:rPr>
              <a:t>낙찰방법</a:t>
            </a:r>
            <a:endParaRPr lang="en-US" altLang="ko-KR" sz="700" dirty="0">
              <a:latin typeface="+mn-ea"/>
            </a:endParaRPr>
          </a:p>
        </p:txBody>
      </p:sp>
      <p:sp>
        <p:nvSpPr>
          <p:cNvPr id="231" name="모서리가 둥근 직사각형 230"/>
          <p:cNvSpPr/>
          <p:nvPr/>
        </p:nvSpPr>
        <p:spPr>
          <a:xfrm>
            <a:off x="4569619" y="2460260"/>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32" name="모서리가 둥근 직사각형 231"/>
          <p:cNvSpPr/>
          <p:nvPr/>
        </p:nvSpPr>
        <p:spPr>
          <a:xfrm>
            <a:off x="4569619" y="2681834"/>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33" name="모서리가 둥근 직사각형 232"/>
          <p:cNvSpPr/>
          <p:nvPr/>
        </p:nvSpPr>
        <p:spPr>
          <a:xfrm>
            <a:off x="4572570" y="2918059"/>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grpSp>
        <p:nvGrpSpPr>
          <p:cNvPr id="234" name="그룹 233"/>
          <p:cNvGrpSpPr/>
          <p:nvPr/>
        </p:nvGrpSpPr>
        <p:grpSpPr>
          <a:xfrm>
            <a:off x="6261284" y="2988800"/>
            <a:ext cx="91438" cy="45719"/>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41" name="그룹 240"/>
          <p:cNvGrpSpPr/>
          <p:nvPr/>
        </p:nvGrpSpPr>
        <p:grpSpPr>
          <a:xfrm>
            <a:off x="6261284" y="2754912"/>
            <a:ext cx="91438" cy="45719"/>
            <a:chOff x="6812560" y="3297172"/>
            <a:chExt cx="94010" cy="47005"/>
          </a:xfrm>
        </p:grpSpPr>
        <p:cxnSp>
          <p:nvCxnSpPr>
            <p:cNvPr id="242" name="직선 연결선 2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3" name="직선 연결선 2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44" name="그룹 243"/>
          <p:cNvGrpSpPr/>
          <p:nvPr/>
        </p:nvGrpSpPr>
        <p:grpSpPr>
          <a:xfrm>
            <a:off x="6261284" y="2538745"/>
            <a:ext cx="91438" cy="45719"/>
            <a:chOff x="6812560" y="3297172"/>
            <a:chExt cx="94010" cy="47005"/>
          </a:xfrm>
        </p:grpSpPr>
        <p:cxnSp>
          <p:nvCxnSpPr>
            <p:cNvPr id="245" name="직선 연결선 24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6" name="직선 연결선 24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47" name="그룹 246"/>
          <p:cNvGrpSpPr/>
          <p:nvPr/>
        </p:nvGrpSpPr>
        <p:grpSpPr>
          <a:xfrm>
            <a:off x="6261284" y="2308063"/>
            <a:ext cx="91438" cy="45719"/>
            <a:chOff x="6812560" y="3297172"/>
            <a:chExt cx="94010" cy="47005"/>
          </a:xfrm>
        </p:grpSpPr>
        <p:cxnSp>
          <p:nvCxnSpPr>
            <p:cNvPr id="248" name="직선 연결선 24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9" name="직선 연결선 24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50" name="모서리가 둥근 직사각형 249"/>
          <p:cNvSpPr/>
          <p:nvPr/>
        </p:nvSpPr>
        <p:spPr>
          <a:xfrm>
            <a:off x="4569619" y="313418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51" name="모서리가 둥근 직사각형 250"/>
          <p:cNvSpPr/>
          <p:nvPr/>
        </p:nvSpPr>
        <p:spPr>
          <a:xfrm>
            <a:off x="4569619" y="335712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52" name="모서리가 둥근 직사각형 251"/>
          <p:cNvSpPr/>
          <p:nvPr/>
        </p:nvSpPr>
        <p:spPr>
          <a:xfrm>
            <a:off x="4569619" y="3578697"/>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53" name="모서리가 둥근 직사각형 252"/>
          <p:cNvSpPr/>
          <p:nvPr/>
        </p:nvSpPr>
        <p:spPr>
          <a:xfrm>
            <a:off x="4572570" y="3814922"/>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grpSp>
        <p:nvGrpSpPr>
          <p:cNvPr id="254" name="그룹 253"/>
          <p:cNvGrpSpPr/>
          <p:nvPr/>
        </p:nvGrpSpPr>
        <p:grpSpPr>
          <a:xfrm>
            <a:off x="6261284" y="3885663"/>
            <a:ext cx="91438" cy="45719"/>
            <a:chOff x="6812560" y="3297172"/>
            <a:chExt cx="94010" cy="47005"/>
          </a:xfrm>
        </p:grpSpPr>
        <p:cxnSp>
          <p:nvCxnSpPr>
            <p:cNvPr id="255" name="직선 연결선 25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6" name="직선 연결선 25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57" name="그룹 256"/>
          <p:cNvGrpSpPr/>
          <p:nvPr/>
        </p:nvGrpSpPr>
        <p:grpSpPr>
          <a:xfrm>
            <a:off x="6261284" y="3651775"/>
            <a:ext cx="91438" cy="45719"/>
            <a:chOff x="6812560" y="3297172"/>
            <a:chExt cx="94010" cy="47005"/>
          </a:xfrm>
        </p:grpSpPr>
        <p:cxnSp>
          <p:nvCxnSpPr>
            <p:cNvPr id="258" name="직선 연결선 2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9" name="직선 연결선 2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60" name="그룹 259"/>
          <p:cNvGrpSpPr/>
          <p:nvPr/>
        </p:nvGrpSpPr>
        <p:grpSpPr>
          <a:xfrm>
            <a:off x="6261284" y="3435608"/>
            <a:ext cx="91438" cy="45719"/>
            <a:chOff x="6812560" y="3297172"/>
            <a:chExt cx="94010" cy="47005"/>
          </a:xfrm>
        </p:grpSpPr>
        <p:cxnSp>
          <p:nvCxnSpPr>
            <p:cNvPr id="261" name="직선 연결선 26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2" name="직선 연결선 26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63" name="그룹 262"/>
          <p:cNvGrpSpPr/>
          <p:nvPr/>
        </p:nvGrpSpPr>
        <p:grpSpPr>
          <a:xfrm>
            <a:off x="6261284" y="3204926"/>
            <a:ext cx="91438" cy="45719"/>
            <a:chOff x="6812560" y="3297172"/>
            <a:chExt cx="94010" cy="47005"/>
          </a:xfrm>
        </p:grpSpPr>
        <p:cxnSp>
          <p:nvCxnSpPr>
            <p:cNvPr id="264" name="직선 연결선 26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5" name="직선 연결선 26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6" name="모서리가 둥근 직사각형 265"/>
          <p:cNvSpPr/>
          <p:nvPr/>
        </p:nvSpPr>
        <p:spPr>
          <a:xfrm>
            <a:off x="1449284" y="5286522"/>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품명을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cxnSp>
        <p:nvCxnSpPr>
          <p:cNvPr id="267" name="직선 연결선 266">
            <a:extLst>
              <a:ext uri="{FF2B5EF4-FFF2-40B4-BE49-F238E27FC236}">
                <a16:creationId xmlns:a16="http://schemas.microsoft.com/office/drawing/2014/main" id="{E9293055-D5CD-4B9E-7F64-64B2D2CA7A52}"/>
              </a:ext>
            </a:extLst>
          </p:cNvPr>
          <p:cNvCxnSpPr/>
          <p:nvPr/>
        </p:nvCxnSpPr>
        <p:spPr>
          <a:xfrm>
            <a:off x="3795734" y="417328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8" name="TextBox 267">
            <a:extLst>
              <a:ext uri="{FF2B5EF4-FFF2-40B4-BE49-F238E27FC236}">
                <a16:creationId xmlns:a16="http://schemas.microsoft.com/office/drawing/2014/main" id="{FFC49AEA-2A8F-250C-A86A-A7751D9706C3}"/>
              </a:ext>
            </a:extLst>
          </p:cNvPr>
          <p:cNvSpPr txBox="1"/>
          <p:nvPr/>
        </p:nvSpPr>
        <p:spPr>
          <a:xfrm>
            <a:off x="3898850" y="4206052"/>
            <a:ext cx="2305144" cy="215444"/>
          </a:xfrm>
          <a:prstGeom prst="rect">
            <a:avLst/>
          </a:prstGeom>
          <a:noFill/>
        </p:spPr>
        <p:txBody>
          <a:bodyPr wrap="square" lIns="0" tIns="0" rIns="0" bIns="0" rtlCol="0">
            <a:spAutoFit/>
          </a:bodyPr>
          <a:lstStyle/>
          <a:p>
            <a:pPr>
              <a:lnSpc>
                <a:spcPct val="200000"/>
              </a:lnSpc>
            </a:pPr>
            <a:r>
              <a:rPr lang="ko-KR" altLang="en-US" sz="700" b="1" dirty="0">
                <a:latin typeface="+mn-ea"/>
              </a:rPr>
              <a:t>가격 설정</a:t>
            </a:r>
          </a:p>
        </p:txBody>
      </p:sp>
      <p:sp>
        <p:nvSpPr>
          <p:cNvPr id="269" name="TextBox 268">
            <a:extLst>
              <a:ext uri="{FF2B5EF4-FFF2-40B4-BE49-F238E27FC236}">
                <a16:creationId xmlns:a16="http://schemas.microsoft.com/office/drawing/2014/main" id="{FFC49AEA-2A8F-250C-A86A-A7751D9706C3}"/>
              </a:ext>
            </a:extLst>
          </p:cNvPr>
          <p:cNvSpPr txBox="1"/>
          <p:nvPr/>
        </p:nvSpPr>
        <p:spPr>
          <a:xfrm>
            <a:off x="3898850" y="4428590"/>
            <a:ext cx="670770" cy="181140"/>
          </a:xfrm>
          <a:prstGeom prst="rect">
            <a:avLst/>
          </a:prstGeom>
          <a:noFill/>
        </p:spPr>
        <p:txBody>
          <a:bodyPr wrap="square" lIns="0" tIns="0" rIns="0" bIns="0" rtlCol="0">
            <a:spAutoFit/>
          </a:bodyPr>
          <a:lstStyle/>
          <a:p>
            <a:pPr>
              <a:lnSpc>
                <a:spcPct val="200000"/>
              </a:lnSpc>
            </a:pPr>
            <a:r>
              <a:rPr lang="ko-KR" altLang="en-US" sz="700" dirty="0">
                <a:latin typeface="+mn-ea"/>
              </a:rPr>
              <a:t>추정가격</a:t>
            </a:r>
            <a:endParaRPr lang="en-US" altLang="ko-KR" sz="700" dirty="0">
              <a:latin typeface="+mn-ea"/>
            </a:endParaRPr>
          </a:p>
        </p:txBody>
      </p:sp>
      <p:grpSp>
        <p:nvGrpSpPr>
          <p:cNvPr id="270" name="그룹 269"/>
          <p:cNvGrpSpPr/>
          <p:nvPr/>
        </p:nvGrpSpPr>
        <p:grpSpPr>
          <a:xfrm flipV="1">
            <a:off x="6261284" y="4303742"/>
            <a:ext cx="91438" cy="45719"/>
            <a:chOff x="6812560" y="3297172"/>
            <a:chExt cx="94010" cy="47005"/>
          </a:xfrm>
        </p:grpSpPr>
        <p:cxnSp>
          <p:nvCxnSpPr>
            <p:cNvPr id="271" name="직선 연결선 27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72" name="직선 연결선 27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4" name="사각형: 둥근 모서리 86">
            <a:extLst>
              <a:ext uri="{FF2B5EF4-FFF2-40B4-BE49-F238E27FC236}">
                <a16:creationId xmlns:a16="http://schemas.microsoft.com/office/drawing/2014/main" id="{C84908FA-11D4-E687-3603-3EA5852F6FAE}"/>
              </a:ext>
            </a:extLst>
          </p:cNvPr>
          <p:cNvSpPr/>
          <p:nvPr/>
        </p:nvSpPr>
        <p:spPr>
          <a:xfrm>
            <a:off x="4585116" y="4456221"/>
            <a:ext cx="859319"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10,000,000 </a:t>
            </a:r>
            <a:r>
              <a:rPr kumimoji="1" lang="ko-KR" altLang="en-US" sz="700" kern="0" dirty="0">
                <a:latin typeface="맑은 고딕"/>
              </a:rPr>
              <a:t>원</a:t>
            </a:r>
            <a:endParaRPr kumimoji="1" lang="en-US" sz="700" b="0" i="0" u="none" strike="noStrike" kern="0" cap="none" spc="0" normalizeH="0" baseline="0" noProof="0" dirty="0">
              <a:ln>
                <a:noFill/>
              </a:ln>
              <a:effectLst/>
              <a:uLnTx/>
              <a:uFillTx/>
              <a:latin typeface="맑은 고딕"/>
            </a:endParaRPr>
          </a:p>
        </p:txBody>
      </p:sp>
      <p:sp>
        <p:nvSpPr>
          <p:cNvPr id="276" name="TextBox 91">
            <a:extLst>
              <a:ext uri="{FF2B5EF4-FFF2-40B4-BE49-F238E27FC236}">
                <a16:creationId xmlns:a16="http://schemas.microsoft.com/office/drawing/2014/main" id="{02490888-B81F-0F94-5D5F-078AEEB39DDB}"/>
              </a:ext>
            </a:extLst>
          </p:cNvPr>
          <p:cNvSpPr txBox="1"/>
          <p:nvPr/>
        </p:nvSpPr>
        <p:spPr>
          <a:xfrm>
            <a:off x="5467614" y="4476168"/>
            <a:ext cx="80150" cy="138499"/>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900" dirty="0">
                <a:solidFill>
                  <a:prstClr val="black"/>
                </a:solidFill>
                <a:cs typeface="Pretendard Medium" panose="02000603000000020004" pitchFamily="50" charset="-127"/>
              </a:rPr>
              <a:t>~</a:t>
            </a:r>
            <a:endParaRPr lang="ko-KR" altLang="en-US" sz="900" dirty="0">
              <a:solidFill>
                <a:prstClr val="black"/>
              </a:solidFill>
              <a:cs typeface="Pretendard Medium" panose="02000603000000020004" pitchFamily="50" charset="-127"/>
            </a:endParaRPr>
          </a:p>
        </p:txBody>
      </p:sp>
      <p:sp>
        <p:nvSpPr>
          <p:cNvPr id="278" name="사각형: 둥근 모서리 86">
            <a:extLst>
              <a:ext uri="{FF2B5EF4-FFF2-40B4-BE49-F238E27FC236}">
                <a16:creationId xmlns:a16="http://schemas.microsoft.com/office/drawing/2014/main" id="{C84908FA-11D4-E687-3603-3EA5852F6FAE}"/>
              </a:ext>
            </a:extLst>
          </p:cNvPr>
          <p:cNvSpPr/>
          <p:nvPr/>
        </p:nvSpPr>
        <p:spPr>
          <a:xfrm>
            <a:off x="5570943" y="4456221"/>
            <a:ext cx="859319"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20,000,000 </a:t>
            </a:r>
            <a:r>
              <a:rPr kumimoji="1" lang="ko-KR" altLang="en-US" sz="700" kern="0" dirty="0">
                <a:latin typeface="맑은 고딕"/>
              </a:rPr>
              <a:t>원</a:t>
            </a:r>
            <a:endParaRPr kumimoji="1" lang="en-US" sz="700" b="0" i="0" u="none" strike="noStrike" kern="0" cap="none" spc="0" normalizeH="0" baseline="0" noProof="0" dirty="0">
              <a:ln>
                <a:noFill/>
              </a:ln>
              <a:effectLst/>
              <a:uLnTx/>
              <a:uFillTx/>
              <a:latin typeface="맑은 고딕"/>
            </a:endParaRPr>
          </a:p>
        </p:txBody>
      </p:sp>
      <p:cxnSp>
        <p:nvCxnSpPr>
          <p:cNvPr id="280" name="직선 연결선 279">
            <a:extLst>
              <a:ext uri="{FF2B5EF4-FFF2-40B4-BE49-F238E27FC236}">
                <a16:creationId xmlns:a16="http://schemas.microsoft.com/office/drawing/2014/main" id="{E9293055-D5CD-4B9E-7F64-64B2D2CA7A52}"/>
              </a:ext>
            </a:extLst>
          </p:cNvPr>
          <p:cNvCxnSpPr/>
          <p:nvPr/>
        </p:nvCxnSpPr>
        <p:spPr>
          <a:xfrm>
            <a:off x="3795734" y="491983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1" name="TextBox 280">
            <a:extLst>
              <a:ext uri="{FF2B5EF4-FFF2-40B4-BE49-F238E27FC236}">
                <a16:creationId xmlns:a16="http://schemas.microsoft.com/office/drawing/2014/main" id="{FFC49AEA-2A8F-250C-A86A-A7751D9706C3}"/>
              </a:ext>
            </a:extLst>
          </p:cNvPr>
          <p:cNvSpPr txBox="1"/>
          <p:nvPr/>
        </p:nvSpPr>
        <p:spPr>
          <a:xfrm>
            <a:off x="3898850" y="4935824"/>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신기술여부</a:t>
            </a:r>
            <a:endParaRPr lang="ko-KR" altLang="en-US" sz="700" b="1" dirty="0">
              <a:latin typeface="+mn-ea"/>
            </a:endParaRPr>
          </a:p>
        </p:txBody>
      </p:sp>
      <p:grpSp>
        <p:nvGrpSpPr>
          <p:cNvPr id="283" name="그룹 282"/>
          <p:cNvGrpSpPr/>
          <p:nvPr/>
        </p:nvGrpSpPr>
        <p:grpSpPr>
          <a:xfrm flipV="1">
            <a:off x="6261284" y="5033514"/>
            <a:ext cx="91438" cy="45719"/>
            <a:chOff x="6812560" y="3297172"/>
            <a:chExt cx="94010" cy="47005"/>
          </a:xfrm>
        </p:grpSpPr>
        <p:cxnSp>
          <p:nvCxnSpPr>
            <p:cNvPr id="284" name="직선 연결선 2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5" name="직선 연결선 2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89" name="TextBox 288">
            <a:extLst>
              <a:ext uri="{FF2B5EF4-FFF2-40B4-BE49-F238E27FC236}">
                <a16:creationId xmlns:a16="http://schemas.microsoft.com/office/drawing/2014/main" id="{FFC49AEA-2A8F-250C-A86A-A7751D9706C3}"/>
              </a:ext>
            </a:extLst>
          </p:cNvPr>
          <p:cNvSpPr txBox="1"/>
          <p:nvPr/>
        </p:nvSpPr>
        <p:spPr>
          <a:xfrm>
            <a:off x="4061955" y="5179649"/>
            <a:ext cx="2305144" cy="396583"/>
          </a:xfrm>
          <a:prstGeom prst="rect">
            <a:avLst/>
          </a:prstGeom>
          <a:noFill/>
        </p:spPr>
        <p:txBody>
          <a:bodyPr wrap="square" lIns="0" tIns="0" rIns="0" bIns="0" rtlCol="0">
            <a:spAutoFit/>
          </a:bodyPr>
          <a:lstStyle/>
          <a:p>
            <a:pPr>
              <a:lnSpc>
                <a:spcPct val="200000"/>
              </a:lnSpc>
            </a:pPr>
            <a:r>
              <a:rPr lang="ko-KR" altLang="en-US" sz="700" dirty="0">
                <a:latin typeface="+mn-ea"/>
              </a:rPr>
              <a:t>예</a:t>
            </a:r>
            <a:endParaRPr lang="en-US" altLang="ko-KR" sz="700" dirty="0">
              <a:latin typeface="+mn-ea"/>
            </a:endParaRPr>
          </a:p>
          <a:p>
            <a:pPr>
              <a:lnSpc>
                <a:spcPct val="200000"/>
              </a:lnSpc>
            </a:pPr>
            <a:r>
              <a:rPr lang="ko-KR" altLang="en-US" sz="700" dirty="0">
                <a:latin typeface="+mn-ea"/>
              </a:rPr>
              <a:t>아니오</a:t>
            </a:r>
          </a:p>
        </p:txBody>
      </p:sp>
      <p:sp>
        <p:nvSpPr>
          <p:cNvPr id="290" name="타원 289"/>
          <p:cNvSpPr/>
          <p:nvPr/>
        </p:nvSpPr>
        <p:spPr>
          <a:xfrm>
            <a:off x="3892504" y="5253063"/>
            <a:ext cx="107950" cy="10795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1" name="타원 290"/>
          <p:cNvSpPr/>
          <p:nvPr/>
        </p:nvSpPr>
        <p:spPr>
          <a:xfrm>
            <a:off x="3892504" y="5473623"/>
            <a:ext cx="107950" cy="107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2" name="타원 291">
            <a:extLst>
              <a:ext uri="{FF2B5EF4-FFF2-40B4-BE49-F238E27FC236}">
                <a16:creationId xmlns:a16="http://schemas.microsoft.com/office/drawing/2014/main" id="{37A7FF4F-0EAA-1463-560A-D5EC24416103}"/>
              </a:ext>
            </a:extLst>
          </p:cNvPr>
          <p:cNvSpPr/>
          <p:nvPr/>
        </p:nvSpPr>
        <p:spPr>
          <a:xfrm>
            <a:off x="573754" y="441675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93" name="타원 292">
            <a:extLst>
              <a:ext uri="{FF2B5EF4-FFF2-40B4-BE49-F238E27FC236}">
                <a16:creationId xmlns:a16="http://schemas.microsoft.com/office/drawing/2014/main" id="{37A7FF4F-0EAA-1463-560A-D5EC24416103}"/>
              </a:ext>
            </a:extLst>
          </p:cNvPr>
          <p:cNvSpPr/>
          <p:nvPr/>
        </p:nvSpPr>
        <p:spPr>
          <a:xfrm>
            <a:off x="3694089" y="581786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8</a:t>
            </a:r>
            <a:endParaRPr lang="ko-KR" altLang="en-US" sz="900" b="1" dirty="0"/>
          </a:p>
        </p:txBody>
      </p:sp>
      <p:grpSp>
        <p:nvGrpSpPr>
          <p:cNvPr id="141" name="그룹 140"/>
          <p:cNvGrpSpPr/>
          <p:nvPr/>
        </p:nvGrpSpPr>
        <p:grpSpPr>
          <a:xfrm rot="16200000">
            <a:off x="3140951" y="5579906"/>
            <a:ext cx="91438" cy="45719"/>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5" name="모서리가 둥근 직사각형 144"/>
          <p:cNvSpPr/>
          <p:nvPr/>
        </p:nvSpPr>
        <p:spPr>
          <a:xfrm>
            <a:off x="1452235" y="597066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지역을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grpSp>
        <p:nvGrpSpPr>
          <p:cNvPr id="146" name="그룹 145"/>
          <p:cNvGrpSpPr/>
          <p:nvPr/>
        </p:nvGrpSpPr>
        <p:grpSpPr>
          <a:xfrm rot="16200000">
            <a:off x="3140950" y="6041407"/>
            <a:ext cx="91438" cy="45719"/>
            <a:chOff x="6812560" y="3297172"/>
            <a:chExt cx="94010" cy="47005"/>
          </a:xfrm>
        </p:grpSpPr>
        <p:cxnSp>
          <p:nvCxnSpPr>
            <p:cNvPr id="147" name="직선 연결선 1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8" name="직선 연결선 1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0" name="직선 연결선 149">
            <a:extLst>
              <a:ext uri="{FF2B5EF4-FFF2-40B4-BE49-F238E27FC236}">
                <a16:creationId xmlns:a16="http://schemas.microsoft.com/office/drawing/2014/main" id="{E9293055-D5CD-4B9E-7F64-64B2D2CA7A52}"/>
              </a:ext>
            </a:extLst>
          </p:cNvPr>
          <p:cNvCxnSpPr/>
          <p:nvPr/>
        </p:nvCxnSpPr>
        <p:spPr>
          <a:xfrm>
            <a:off x="4585116" y="4777666"/>
            <a:ext cx="184514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9" name="타원 148"/>
          <p:cNvSpPr/>
          <p:nvPr/>
        </p:nvSpPr>
        <p:spPr>
          <a:xfrm>
            <a:off x="4901594" y="4723691"/>
            <a:ext cx="107950" cy="107950"/>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타원 151"/>
          <p:cNvSpPr/>
          <p:nvPr/>
        </p:nvSpPr>
        <p:spPr>
          <a:xfrm>
            <a:off x="5643633" y="4723691"/>
            <a:ext cx="107950" cy="107950"/>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2" name="직선 연결선 161">
            <a:extLst>
              <a:ext uri="{FF2B5EF4-FFF2-40B4-BE49-F238E27FC236}">
                <a16:creationId xmlns:a16="http://schemas.microsoft.com/office/drawing/2014/main" id="{E9293055-D5CD-4B9E-7F64-64B2D2CA7A52}"/>
              </a:ext>
            </a:extLst>
          </p:cNvPr>
          <p:cNvCxnSpPr>
            <a:stCxn id="149" idx="6"/>
            <a:endCxn id="152" idx="2"/>
          </p:cNvCxnSpPr>
          <p:nvPr/>
        </p:nvCxnSpPr>
        <p:spPr>
          <a:xfrm>
            <a:off x="5009544" y="4777666"/>
            <a:ext cx="63408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2871181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지역명칭으로 포커스 </a:t>
            </a:r>
            <a:r>
              <a:rPr lang="ko-KR" altLang="en-US" dirty="0" err="1"/>
              <a:t>자동이동</a:t>
            </a:r>
            <a:r>
              <a:rPr lang="en-US" altLang="ko-KR" dirty="0"/>
              <a:t/>
            </a:r>
            <a:br>
              <a:rPr lang="en-US" altLang="ko-KR" dirty="0"/>
            </a:br>
            <a:r>
              <a:rPr lang="en-US" altLang="ko-KR" dirty="0"/>
              <a:t>- </a:t>
            </a:r>
            <a:r>
              <a:rPr lang="ko-KR" altLang="en-US" dirty="0"/>
              <a:t>입력이 있는 경우 내용 삭제 아이콘</a:t>
            </a:r>
            <a:endParaRPr lang="en-US" altLang="ko-KR" dirty="0"/>
          </a:p>
          <a:p>
            <a:pPr marL="228600" indent="-228600">
              <a:buFont typeface="+mj-lt"/>
              <a:buAutoNum type="arabicPeriod"/>
            </a:pPr>
            <a:r>
              <a:rPr lang="ko-KR" altLang="en-US" dirty="0"/>
              <a:t>입력 내용 기반 검색</a:t>
            </a:r>
            <a:r>
              <a:rPr lang="en-US" altLang="ko-KR" dirty="0"/>
              <a:t/>
            </a:r>
            <a:br>
              <a:rPr lang="en-US" altLang="ko-KR" dirty="0"/>
            </a:br>
            <a:r>
              <a:rPr lang="en-US" altLang="ko-KR" dirty="0"/>
              <a:t>- Like </a:t>
            </a:r>
            <a:r>
              <a:rPr lang="ko-KR" altLang="en-US" dirty="0"/>
              <a:t>검색</a:t>
            </a:r>
            <a:r>
              <a:rPr lang="en-US" altLang="ko-KR" dirty="0"/>
              <a:t/>
            </a:r>
            <a:br>
              <a:rPr lang="en-US" altLang="ko-KR" dirty="0"/>
            </a:br>
            <a:r>
              <a:rPr lang="en-US" altLang="ko-KR" dirty="0"/>
              <a:t>- </a:t>
            </a:r>
            <a:r>
              <a:rPr lang="ko-KR" altLang="en-US" dirty="0"/>
              <a:t>검색 버튼 클릭 시 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검색 버튼으로 동일 검색 기능 동작</a:t>
            </a:r>
            <a:endParaRPr lang="en-US" altLang="ko-KR" dirty="0"/>
          </a:p>
          <a:p>
            <a:pPr marL="228600" indent="-228600">
              <a:buFont typeface="+mj-lt"/>
              <a:buAutoNum type="arabicPeriod"/>
            </a:pPr>
            <a:r>
              <a:rPr lang="ko-KR" altLang="en-US" dirty="0"/>
              <a:t>검색 결과 표시</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타이틀 영역 제외 스크롤</a:t>
            </a:r>
            <a:endParaRPr lang="en-US" altLang="ko-KR" dirty="0"/>
          </a:p>
          <a:p>
            <a:pPr marL="228600" indent="-228600">
              <a:buFont typeface="+mj-lt"/>
              <a:buAutoNum type="arabicPeriod"/>
            </a:pPr>
            <a:r>
              <a:rPr lang="ko-KR" altLang="en-US" dirty="0"/>
              <a:t>결과 클릭을 통해 검색 필터에 </a:t>
            </a:r>
            <a:r>
              <a:rPr lang="ko-KR" altLang="en-US" dirty="0" err="1"/>
              <a:t>지역명</a:t>
            </a:r>
            <a:r>
              <a:rPr lang="ko-KR" altLang="en-US" dirty="0"/>
              <a:t> 반영</a:t>
            </a:r>
            <a:r>
              <a:rPr lang="en-US" altLang="ko-KR" dirty="0"/>
              <a:t/>
            </a:r>
            <a:br>
              <a:rPr lang="en-US" altLang="ko-KR" dirty="0"/>
            </a:br>
            <a:r>
              <a:rPr lang="en-US" altLang="ko-KR" dirty="0"/>
              <a:t>- </a:t>
            </a:r>
            <a:r>
              <a:rPr lang="ko-KR" altLang="en-US" dirty="0"/>
              <a:t>사용자 선택 시 </a:t>
            </a:r>
            <a:r>
              <a:rPr lang="ko-KR" altLang="en-US" dirty="0" err="1"/>
              <a:t>바텀</a:t>
            </a:r>
            <a:r>
              <a:rPr lang="ko-KR" altLang="en-US" dirty="0"/>
              <a:t> 시트 닫힘</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지역 검색</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검색 필터에서 </a:t>
            </a:r>
            <a:r>
              <a:rPr lang="ko-KR" altLang="en-US" dirty="0" err="1"/>
              <a:t>지역검색을</a:t>
            </a:r>
            <a:r>
              <a:rPr lang="ko-KR" altLang="en-US" dirty="0"/>
              <a:t> 선택하는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검색 필터 </a:t>
            </a:r>
            <a:r>
              <a:rPr lang="en-US" altLang="ko-KR" dirty="0">
                <a:latin typeface="+mn-ea"/>
              </a:rPr>
              <a:t>&gt; </a:t>
            </a:r>
            <a:r>
              <a:rPr lang="ko-KR" altLang="en-US" dirty="0" err="1">
                <a:latin typeface="+mn-ea"/>
              </a:rPr>
              <a:t>지역검색</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MUI-BD-01-P03</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279" name="직선 연결선 278">
            <a:extLst>
              <a:ext uri="{FF2B5EF4-FFF2-40B4-BE49-F238E27FC236}">
                <a16:creationId xmlns:a16="http://schemas.microsoft.com/office/drawing/2014/main" id="{E9293055-D5CD-4B9E-7F64-64B2D2CA7A52}"/>
              </a:ext>
            </a:extLst>
          </p:cNvPr>
          <p:cNvCxnSpPr/>
          <p:nvPr/>
        </p:nvCxnSpPr>
        <p:spPr>
          <a:xfrm>
            <a:off x="3795734"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82" name="그룹 281"/>
          <p:cNvGrpSpPr/>
          <p:nvPr/>
        </p:nvGrpSpPr>
        <p:grpSpPr>
          <a:xfrm>
            <a:off x="6258712" y="1650089"/>
            <a:ext cx="94010" cy="94010"/>
            <a:chOff x="6812560" y="3297172"/>
            <a:chExt cx="94010" cy="94010"/>
          </a:xfrm>
        </p:grpSpPr>
        <p:cxnSp>
          <p:nvCxnSpPr>
            <p:cNvPr id="286" name="직선 연결선 28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87" name="직선 연결선 28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88" name="타원 287"/>
          <p:cNvSpPr/>
          <p:nvPr/>
        </p:nvSpPr>
        <p:spPr>
          <a:xfrm>
            <a:off x="5893434"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4" name="TextBox 293">
            <a:extLst>
              <a:ext uri="{FF2B5EF4-FFF2-40B4-BE49-F238E27FC236}">
                <a16:creationId xmlns:a16="http://schemas.microsoft.com/office/drawing/2014/main" id="{FFC49AEA-2A8F-250C-A86A-A7751D9706C3}"/>
              </a:ext>
            </a:extLst>
          </p:cNvPr>
          <p:cNvSpPr txBox="1"/>
          <p:nvPr/>
        </p:nvSpPr>
        <p:spPr>
          <a:xfrm>
            <a:off x="3898850"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295" name="TextBox 294">
            <a:extLst>
              <a:ext uri="{FF2B5EF4-FFF2-40B4-BE49-F238E27FC236}">
                <a16:creationId xmlns:a16="http://schemas.microsoft.com/office/drawing/2014/main" id="{FFC49AEA-2A8F-250C-A86A-A7751D9706C3}"/>
              </a:ext>
            </a:extLst>
          </p:cNvPr>
          <p:cNvSpPr txBox="1"/>
          <p:nvPr/>
        </p:nvSpPr>
        <p:spPr>
          <a:xfrm>
            <a:off x="5567792"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err="1">
                <a:latin typeface="+mn-ea"/>
              </a:rPr>
              <a:t>지역검색</a:t>
            </a:r>
            <a:endParaRPr lang="ko-KR" altLang="en-US" sz="900" dirty="0">
              <a:latin typeface="+mn-ea"/>
            </a:endParaRP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7" name="모서리가 둥근 직사각형 306"/>
          <p:cNvSpPr/>
          <p:nvPr/>
        </p:nvSpPr>
        <p:spPr>
          <a:xfrm>
            <a:off x="4564213" y="2653963"/>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a:solidFill>
                  <a:schemeClr val="tx1"/>
                </a:solidFill>
              </a:rPr>
              <a:t>서울</a:t>
            </a:r>
            <a:endParaRPr lang="ko-KR" altLang="en-US" sz="700" dirty="0">
              <a:solidFill>
                <a:schemeClr val="tx1"/>
              </a:solidFill>
            </a:endParaRPr>
          </a:p>
        </p:txBody>
      </p:sp>
      <p:sp>
        <p:nvSpPr>
          <p:cNvPr id="308" name="TextBox 307">
            <a:extLst>
              <a:ext uri="{FF2B5EF4-FFF2-40B4-BE49-F238E27FC236}">
                <a16:creationId xmlns:a16="http://schemas.microsoft.com/office/drawing/2014/main" id="{FFC49AEA-2A8F-250C-A86A-A7751D9706C3}"/>
              </a:ext>
            </a:extLst>
          </p:cNvPr>
          <p:cNvSpPr txBox="1"/>
          <p:nvPr/>
        </p:nvSpPr>
        <p:spPr>
          <a:xfrm>
            <a:off x="3924811" y="2722276"/>
            <a:ext cx="670770" cy="107722"/>
          </a:xfrm>
          <a:prstGeom prst="rect">
            <a:avLst/>
          </a:prstGeom>
          <a:noFill/>
        </p:spPr>
        <p:txBody>
          <a:bodyPr wrap="square" lIns="0" tIns="0" rIns="0" bIns="0" rtlCol="0">
            <a:spAutoFit/>
          </a:bodyPr>
          <a:lstStyle/>
          <a:p>
            <a:r>
              <a:rPr lang="ko-KR" altLang="en-US" sz="700" dirty="0" err="1">
                <a:latin typeface="+mn-ea"/>
              </a:rPr>
              <a:t>지역명칭</a:t>
            </a:r>
            <a:endParaRPr lang="en-US" altLang="ko-KR" sz="700" dirty="0">
              <a:latin typeface="+mn-ea"/>
            </a:endParaRPr>
          </a:p>
        </p:txBody>
      </p:sp>
      <p:sp>
        <p:nvSpPr>
          <p:cNvPr id="309" name="사각형: 둥근 모서리 15">
            <a:extLst>
              <a:ext uri="{FF2B5EF4-FFF2-40B4-BE49-F238E27FC236}">
                <a16:creationId xmlns:a16="http://schemas.microsoft.com/office/drawing/2014/main" id="{E2B61CFB-AD16-68D0-8752-50D9C5E01971}"/>
              </a:ext>
            </a:extLst>
          </p:cNvPr>
          <p:cNvSpPr/>
          <p:nvPr/>
        </p:nvSpPr>
        <p:spPr>
          <a:xfrm>
            <a:off x="3888037" y="2987678"/>
            <a:ext cx="2522014" cy="244350"/>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a:solidFill>
                  <a:srgbClr val="0070C0"/>
                </a:solidFill>
              </a:rPr>
              <a:t>검색</a:t>
            </a:r>
            <a:endParaRPr kumimoji="1" lang="en-US" altLang="ko-KR" sz="800" kern="0" dirty="0">
              <a:solidFill>
                <a:srgbClr val="0070C0"/>
              </a:solidFill>
            </a:endParaRPr>
          </a:p>
        </p:txBody>
      </p:sp>
      <p:sp>
        <p:nvSpPr>
          <p:cNvPr id="5" name="양쪽 모서리가 둥근 사각형 4"/>
          <p:cNvSpPr/>
          <p:nvPr/>
        </p:nvSpPr>
        <p:spPr>
          <a:xfrm>
            <a:off x="675399"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3182696"/>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3163375"/>
            <a:ext cx="1798758" cy="138499"/>
          </a:xfrm>
          <a:prstGeom prst="rect">
            <a:avLst/>
          </a:prstGeom>
          <a:noFill/>
        </p:spPr>
        <p:txBody>
          <a:bodyPr wrap="square" lIns="0" tIns="0" rIns="0" bIns="0" rtlCol="0">
            <a:spAutoFit/>
          </a:bodyPr>
          <a:lstStyle/>
          <a:p>
            <a:r>
              <a:rPr lang="ko-KR" altLang="en-US" sz="900" dirty="0">
                <a:latin typeface="+mn-ea"/>
              </a:rPr>
              <a:t>지역 검색</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모서리가 둥근 직사각형 168"/>
          <p:cNvSpPr/>
          <p:nvPr/>
        </p:nvSpPr>
        <p:spPr>
          <a:xfrm>
            <a:off x="1443878" y="3563324"/>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bg1">
                    <a:lumMod val="65000"/>
                  </a:schemeClr>
                </a:solidFill>
              </a:rPr>
              <a:t>시군구를</a:t>
            </a:r>
            <a:r>
              <a:rPr lang="ko-KR" altLang="en-US" sz="700" dirty="0">
                <a:solidFill>
                  <a:schemeClr val="tx1"/>
                </a:solidFill>
              </a:rPr>
              <a:t> </a:t>
            </a:r>
            <a:r>
              <a:rPr lang="ko-KR" altLang="en-US" sz="700" dirty="0">
                <a:solidFill>
                  <a:schemeClr val="bg1">
                    <a:lumMod val="65000"/>
                  </a:schemeClr>
                </a:solidFill>
              </a:rPr>
              <a:t>입력해주세요</a:t>
            </a:r>
            <a:r>
              <a:rPr lang="en-US" altLang="ko-KR" sz="700" dirty="0">
                <a:solidFill>
                  <a:schemeClr val="tx1"/>
                </a:solidFill>
              </a:rPr>
              <a:t>.</a:t>
            </a:r>
            <a:endParaRPr lang="ko-KR" altLang="en-US" sz="700" dirty="0">
              <a:solidFill>
                <a:schemeClr val="tx1"/>
              </a:solidFill>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804476" y="3631637"/>
            <a:ext cx="670770" cy="107722"/>
          </a:xfrm>
          <a:prstGeom prst="rect">
            <a:avLst/>
          </a:prstGeom>
          <a:noFill/>
        </p:spPr>
        <p:txBody>
          <a:bodyPr wrap="square" lIns="0" tIns="0" rIns="0" bIns="0" rtlCol="0">
            <a:spAutoFit/>
          </a:bodyPr>
          <a:lstStyle/>
          <a:p>
            <a:r>
              <a:rPr lang="ko-KR" altLang="en-US" sz="700" dirty="0" err="1">
                <a:latin typeface="+mn-ea"/>
              </a:rPr>
              <a:t>지역명칭</a:t>
            </a:r>
            <a:endParaRPr lang="en-US" altLang="ko-KR" sz="700" dirty="0">
              <a:latin typeface="+mn-ea"/>
            </a:endParaRPr>
          </a:p>
        </p:txBody>
      </p:sp>
      <p:sp>
        <p:nvSpPr>
          <p:cNvPr id="177" name="사각형: 둥근 모서리 15">
            <a:extLst>
              <a:ext uri="{FF2B5EF4-FFF2-40B4-BE49-F238E27FC236}">
                <a16:creationId xmlns:a16="http://schemas.microsoft.com/office/drawing/2014/main" id="{E2B61CFB-AD16-68D0-8752-50D9C5E01971}"/>
              </a:ext>
            </a:extLst>
          </p:cNvPr>
          <p:cNvSpPr/>
          <p:nvPr/>
        </p:nvSpPr>
        <p:spPr>
          <a:xfrm>
            <a:off x="767702" y="3897039"/>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310" name="타원 309"/>
          <p:cNvSpPr/>
          <p:nvPr/>
        </p:nvSpPr>
        <p:spPr>
          <a:xfrm>
            <a:off x="3112794" y="3601610"/>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1" name="그룹 310"/>
          <p:cNvGrpSpPr/>
          <p:nvPr/>
        </p:nvGrpSpPr>
        <p:grpSpPr>
          <a:xfrm>
            <a:off x="3156699" y="3645514"/>
            <a:ext cx="58075" cy="58074"/>
            <a:chOff x="6812560" y="3297172"/>
            <a:chExt cx="94010" cy="94010"/>
          </a:xfrm>
        </p:grpSpPr>
        <p:cxnSp>
          <p:nvCxnSpPr>
            <p:cNvPr id="312" name="직선 연결선 31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3" name="직선 연결선 31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14" name="타원 313"/>
          <p:cNvSpPr/>
          <p:nvPr/>
        </p:nvSpPr>
        <p:spPr>
          <a:xfrm>
            <a:off x="6240768" y="2696784"/>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5" name="그룹 314"/>
          <p:cNvGrpSpPr/>
          <p:nvPr/>
        </p:nvGrpSpPr>
        <p:grpSpPr>
          <a:xfrm>
            <a:off x="6284673" y="2740688"/>
            <a:ext cx="58075" cy="58074"/>
            <a:chOff x="6812560" y="3297172"/>
            <a:chExt cx="94010" cy="94010"/>
          </a:xfrm>
        </p:grpSpPr>
        <p:cxnSp>
          <p:nvCxnSpPr>
            <p:cNvPr id="316" name="직선 연결선 31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7" name="직선 연결선 31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cxnSp>
        <p:nvCxnSpPr>
          <p:cNvPr id="318" name="직선 연결선 317">
            <a:extLst>
              <a:ext uri="{FF2B5EF4-FFF2-40B4-BE49-F238E27FC236}">
                <a16:creationId xmlns:a16="http://schemas.microsoft.com/office/drawing/2014/main" id="{E9293055-D5CD-4B9E-7F64-64B2D2CA7A52}"/>
              </a:ext>
            </a:extLst>
          </p:cNvPr>
          <p:cNvCxnSpPr/>
          <p:nvPr/>
        </p:nvCxnSpPr>
        <p:spPr>
          <a:xfrm>
            <a:off x="3795734" y="33710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9" name="TextBox 318">
            <a:extLst>
              <a:ext uri="{FF2B5EF4-FFF2-40B4-BE49-F238E27FC236}">
                <a16:creationId xmlns:a16="http://schemas.microsoft.com/office/drawing/2014/main" id="{FFC49AEA-2A8F-250C-A86A-A7751D9706C3}"/>
              </a:ext>
            </a:extLst>
          </p:cNvPr>
          <p:cNvSpPr txBox="1"/>
          <p:nvPr/>
        </p:nvSpPr>
        <p:spPr>
          <a:xfrm>
            <a:off x="3924811" y="3478112"/>
            <a:ext cx="670770" cy="107722"/>
          </a:xfrm>
          <a:prstGeom prst="rect">
            <a:avLst/>
          </a:prstGeom>
          <a:noFill/>
        </p:spPr>
        <p:txBody>
          <a:bodyPr wrap="square" lIns="0" tIns="0" rIns="0" bIns="0" rtlCol="0">
            <a:spAutoFit/>
          </a:bodyPr>
          <a:lstStyle/>
          <a:p>
            <a:r>
              <a:rPr lang="ko-KR" altLang="en-US" sz="700" dirty="0">
                <a:latin typeface="+mn-ea"/>
              </a:rPr>
              <a:t>총 </a:t>
            </a:r>
            <a:r>
              <a:rPr lang="en-US" altLang="ko-KR" sz="700" dirty="0">
                <a:solidFill>
                  <a:srgbClr val="0070C0"/>
                </a:solidFill>
                <a:latin typeface="+mn-ea"/>
              </a:rPr>
              <a:t>000</a:t>
            </a:r>
            <a:r>
              <a:rPr lang="ko-KR" altLang="en-US" sz="700" dirty="0">
                <a:latin typeface="+mn-ea"/>
              </a:rPr>
              <a:t>건</a:t>
            </a:r>
            <a:endParaRPr lang="en-US" altLang="ko-KR" sz="700" dirty="0">
              <a:latin typeface="+mn-ea"/>
            </a:endParaRPr>
          </a:p>
        </p:txBody>
      </p:sp>
      <p:sp>
        <p:nvSpPr>
          <p:cNvPr id="320" name="TextBox 319">
            <a:extLst>
              <a:ext uri="{FF2B5EF4-FFF2-40B4-BE49-F238E27FC236}">
                <a16:creationId xmlns:a16="http://schemas.microsoft.com/office/drawing/2014/main" id="{FFC49AEA-2A8F-250C-A86A-A7751D9706C3}"/>
              </a:ext>
            </a:extLst>
          </p:cNvPr>
          <p:cNvSpPr txBox="1"/>
          <p:nvPr/>
        </p:nvSpPr>
        <p:spPr>
          <a:xfrm>
            <a:off x="3924811" y="3766913"/>
            <a:ext cx="670770" cy="107722"/>
          </a:xfrm>
          <a:prstGeom prst="rect">
            <a:avLst/>
          </a:prstGeom>
          <a:noFill/>
        </p:spPr>
        <p:txBody>
          <a:bodyPr wrap="square" lIns="0" tIns="0" rIns="0" bIns="0" rtlCol="0">
            <a:spAutoFit/>
          </a:bodyPr>
          <a:lstStyle/>
          <a:p>
            <a:r>
              <a:rPr lang="ko-KR" altLang="en-US" sz="700" b="1" dirty="0">
                <a:latin typeface="+mn-ea"/>
              </a:rPr>
              <a:t>지역코드</a:t>
            </a:r>
            <a:endParaRPr lang="en-US" altLang="ko-KR" sz="700" b="1" dirty="0">
              <a:latin typeface="+mn-ea"/>
            </a:endParaRPr>
          </a:p>
        </p:txBody>
      </p:sp>
      <p:sp>
        <p:nvSpPr>
          <p:cNvPr id="321" name="TextBox 320">
            <a:extLst>
              <a:ext uri="{FF2B5EF4-FFF2-40B4-BE49-F238E27FC236}">
                <a16:creationId xmlns:a16="http://schemas.microsoft.com/office/drawing/2014/main" id="{FFC49AEA-2A8F-250C-A86A-A7751D9706C3}"/>
              </a:ext>
            </a:extLst>
          </p:cNvPr>
          <p:cNvSpPr txBox="1"/>
          <p:nvPr/>
        </p:nvSpPr>
        <p:spPr>
          <a:xfrm>
            <a:off x="4564213" y="3766913"/>
            <a:ext cx="670770" cy="107722"/>
          </a:xfrm>
          <a:prstGeom prst="rect">
            <a:avLst/>
          </a:prstGeom>
          <a:noFill/>
        </p:spPr>
        <p:txBody>
          <a:bodyPr wrap="square" lIns="0" tIns="0" rIns="0" bIns="0" rtlCol="0">
            <a:spAutoFit/>
          </a:bodyPr>
          <a:lstStyle/>
          <a:p>
            <a:r>
              <a:rPr lang="ko-KR" altLang="en-US" sz="700" b="1" dirty="0" err="1">
                <a:latin typeface="+mn-ea"/>
              </a:rPr>
              <a:t>지역명</a:t>
            </a:r>
            <a:endParaRPr lang="en-US" altLang="ko-KR" sz="700" b="1" dirty="0">
              <a:latin typeface="+mn-ea"/>
            </a:endParaRPr>
          </a:p>
        </p:txBody>
      </p:sp>
      <p:cxnSp>
        <p:nvCxnSpPr>
          <p:cNvPr id="322" name="직선 연결선 321">
            <a:extLst>
              <a:ext uri="{FF2B5EF4-FFF2-40B4-BE49-F238E27FC236}">
                <a16:creationId xmlns:a16="http://schemas.microsoft.com/office/drawing/2014/main" id="{E9293055-D5CD-4B9E-7F64-64B2D2CA7A52}"/>
              </a:ext>
            </a:extLst>
          </p:cNvPr>
          <p:cNvCxnSpPr/>
          <p:nvPr/>
        </p:nvCxnSpPr>
        <p:spPr>
          <a:xfrm>
            <a:off x="3795734" y="365365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3" name="직선 연결선 322">
            <a:extLst>
              <a:ext uri="{FF2B5EF4-FFF2-40B4-BE49-F238E27FC236}">
                <a16:creationId xmlns:a16="http://schemas.microsoft.com/office/drawing/2014/main" id="{E9293055-D5CD-4B9E-7F64-64B2D2CA7A52}"/>
              </a:ext>
            </a:extLst>
          </p:cNvPr>
          <p:cNvCxnSpPr/>
          <p:nvPr/>
        </p:nvCxnSpPr>
        <p:spPr>
          <a:xfrm>
            <a:off x="3795734" y="39723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4" name="TextBox 323">
            <a:extLst>
              <a:ext uri="{FF2B5EF4-FFF2-40B4-BE49-F238E27FC236}">
                <a16:creationId xmlns:a16="http://schemas.microsoft.com/office/drawing/2014/main" id="{FFC49AEA-2A8F-250C-A86A-A7751D9706C3}"/>
              </a:ext>
            </a:extLst>
          </p:cNvPr>
          <p:cNvSpPr txBox="1"/>
          <p:nvPr/>
        </p:nvSpPr>
        <p:spPr>
          <a:xfrm>
            <a:off x="3924811" y="3983744"/>
            <a:ext cx="670770" cy="2154436"/>
          </a:xfrm>
          <a:prstGeom prst="rect">
            <a:avLst/>
          </a:prstGeom>
          <a:noFill/>
        </p:spPr>
        <p:txBody>
          <a:bodyPr wrap="square" lIns="0" tIns="0" rIns="0" bIns="0" rtlCol="0">
            <a:spAutoFit/>
          </a:bodyPr>
          <a:lstStyle/>
          <a:p>
            <a:pPr>
              <a:lnSpc>
                <a:spcPct val="200000"/>
              </a:lnSpc>
            </a:pPr>
            <a:r>
              <a:rPr lang="en-US" altLang="ko-KR" sz="700" dirty="0">
                <a:latin typeface="+mn-ea"/>
              </a:rPr>
              <a:t>11000</a:t>
            </a:r>
          </a:p>
          <a:p>
            <a:pPr>
              <a:lnSpc>
                <a:spcPct val="200000"/>
              </a:lnSpc>
            </a:pPr>
            <a:r>
              <a:rPr lang="en-US" altLang="ko-KR" sz="700" dirty="0">
                <a:latin typeface="+mn-ea"/>
              </a:rPr>
              <a:t>11740</a:t>
            </a:r>
          </a:p>
          <a:p>
            <a:pPr>
              <a:lnSpc>
                <a:spcPct val="200000"/>
              </a:lnSpc>
            </a:pPr>
            <a:r>
              <a:rPr lang="en-US" altLang="ko-KR" sz="700" dirty="0">
                <a:latin typeface="+mn-ea"/>
              </a:rPr>
              <a:t>11140</a:t>
            </a:r>
          </a:p>
          <a:p>
            <a:pPr>
              <a:lnSpc>
                <a:spcPct val="200000"/>
              </a:lnSpc>
            </a:pPr>
            <a:r>
              <a:rPr lang="en-US" altLang="ko-KR" sz="700" dirty="0">
                <a:latin typeface="+mn-ea"/>
              </a:rPr>
              <a:t>11170</a:t>
            </a:r>
          </a:p>
          <a:p>
            <a:pPr>
              <a:lnSpc>
                <a:spcPct val="200000"/>
              </a:lnSpc>
            </a:pPr>
            <a:r>
              <a:rPr lang="en-US" altLang="ko-KR" sz="700" dirty="0">
                <a:latin typeface="+mn-ea"/>
              </a:rPr>
              <a:t>11200</a:t>
            </a:r>
          </a:p>
          <a:p>
            <a:pPr>
              <a:lnSpc>
                <a:spcPct val="200000"/>
              </a:lnSpc>
            </a:pPr>
            <a:r>
              <a:rPr lang="en-US" altLang="ko-KR" sz="700" dirty="0">
                <a:latin typeface="+mn-ea"/>
              </a:rPr>
              <a:t>11215</a:t>
            </a:r>
          </a:p>
          <a:p>
            <a:pPr>
              <a:lnSpc>
                <a:spcPct val="200000"/>
              </a:lnSpc>
            </a:pPr>
            <a:r>
              <a:rPr lang="en-US" altLang="ko-KR" sz="700" dirty="0">
                <a:latin typeface="+mn-ea"/>
              </a:rPr>
              <a:t>11230</a:t>
            </a:r>
          </a:p>
          <a:p>
            <a:pPr>
              <a:lnSpc>
                <a:spcPct val="200000"/>
              </a:lnSpc>
            </a:pPr>
            <a:r>
              <a:rPr lang="en-US" altLang="ko-KR" sz="700" dirty="0">
                <a:latin typeface="+mn-ea"/>
              </a:rPr>
              <a:t>11260</a:t>
            </a:r>
          </a:p>
          <a:p>
            <a:pPr>
              <a:lnSpc>
                <a:spcPct val="200000"/>
              </a:lnSpc>
            </a:pPr>
            <a:r>
              <a:rPr lang="en-US" altLang="ko-KR" sz="700" dirty="0">
                <a:latin typeface="+mn-ea"/>
              </a:rPr>
              <a:t>11290</a:t>
            </a:r>
          </a:p>
          <a:p>
            <a:pPr>
              <a:lnSpc>
                <a:spcPct val="200000"/>
              </a:lnSpc>
            </a:pPr>
            <a:r>
              <a:rPr lang="en-US" altLang="ko-KR" sz="700" dirty="0">
                <a:latin typeface="+mn-ea"/>
              </a:rPr>
              <a:t>11305</a:t>
            </a:r>
          </a:p>
        </p:txBody>
      </p:sp>
      <p:sp>
        <p:nvSpPr>
          <p:cNvPr id="325" name="TextBox 324">
            <a:extLst>
              <a:ext uri="{FF2B5EF4-FFF2-40B4-BE49-F238E27FC236}">
                <a16:creationId xmlns:a16="http://schemas.microsoft.com/office/drawing/2014/main" id="{FFC49AEA-2A8F-250C-A86A-A7751D9706C3}"/>
              </a:ext>
            </a:extLst>
          </p:cNvPr>
          <p:cNvSpPr txBox="1"/>
          <p:nvPr/>
        </p:nvSpPr>
        <p:spPr>
          <a:xfrm>
            <a:off x="4564213" y="3983744"/>
            <a:ext cx="1720460" cy="2154436"/>
          </a:xfrm>
          <a:prstGeom prst="rect">
            <a:avLst/>
          </a:prstGeom>
          <a:noFill/>
        </p:spPr>
        <p:txBody>
          <a:bodyPr wrap="square" lIns="0" tIns="0" rIns="0" bIns="0" rtlCol="0">
            <a:spAutoFit/>
          </a:bodyPr>
          <a:lstStyle/>
          <a:p>
            <a:pPr>
              <a:lnSpc>
                <a:spcPct val="200000"/>
              </a:lnSpc>
            </a:pPr>
            <a:r>
              <a:rPr lang="ko-KR" altLang="en-US" sz="700" dirty="0">
                <a:latin typeface="+mn-ea"/>
              </a:rPr>
              <a:t>서울특별시</a:t>
            </a:r>
            <a:endParaRPr lang="en-US" altLang="ko-KR" sz="700" dirty="0">
              <a:latin typeface="+mn-ea"/>
            </a:endParaRPr>
          </a:p>
          <a:p>
            <a:pPr>
              <a:lnSpc>
                <a:spcPct val="200000"/>
              </a:lnSpc>
            </a:pPr>
            <a:r>
              <a:rPr lang="ko-KR" altLang="en-US" sz="700" dirty="0">
                <a:latin typeface="+mn-ea"/>
              </a:rPr>
              <a:t>서울특별시 강동구</a:t>
            </a:r>
            <a:endParaRPr lang="en-US" altLang="ko-KR" sz="700" dirty="0">
              <a:latin typeface="+mn-ea"/>
            </a:endParaRPr>
          </a:p>
          <a:p>
            <a:pPr>
              <a:lnSpc>
                <a:spcPct val="200000"/>
              </a:lnSpc>
            </a:pPr>
            <a:r>
              <a:rPr lang="ko-KR" altLang="en-US" sz="700" dirty="0">
                <a:latin typeface="+mn-ea"/>
              </a:rPr>
              <a:t>서울특별시 중구</a:t>
            </a:r>
            <a:endParaRPr lang="en-US" altLang="ko-KR" sz="700" dirty="0">
              <a:latin typeface="+mn-ea"/>
            </a:endParaRPr>
          </a:p>
          <a:p>
            <a:pPr>
              <a:lnSpc>
                <a:spcPct val="200000"/>
              </a:lnSpc>
            </a:pPr>
            <a:r>
              <a:rPr lang="ko-KR" altLang="en-US" sz="700" dirty="0">
                <a:latin typeface="+mn-ea"/>
              </a:rPr>
              <a:t>서울특별시 용산구</a:t>
            </a:r>
            <a:endParaRPr lang="en-US" altLang="ko-KR" sz="700" dirty="0">
              <a:latin typeface="+mn-ea"/>
            </a:endParaRPr>
          </a:p>
          <a:p>
            <a:pPr>
              <a:lnSpc>
                <a:spcPct val="200000"/>
              </a:lnSpc>
            </a:pPr>
            <a:r>
              <a:rPr lang="ko-KR" altLang="en-US" sz="700" dirty="0">
                <a:latin typeface="+mn-ea"/>
              </a:rPr>
              <a:t>서울특별시 성동구</a:t>
            </a:r>
            <a:endParaRPr lang="en-US" altLang="ko-KR" sz="700" dirty="0">
              <a:latin typeface="+mn-ea"/>
            </a:endParaRPr>
          </a:p>
          <a:p>
            <a:pPr>
              <a:lnSpc>
                <a:spcPct val="200000"/>
              </a:lnSpc>
            </a:pPr>
            <a:r>
              <a:rPr lang="ko-KR" altLang="en-US" sz="700" dirty="0">
                <a:latin typeface="+mn-ea"/>
              </a:rPr>
              <a:t>서울특별시 광진구</a:t>
            </a:r>
            <a:endParaRPr lang="en-US" altLang="ko-KR" sz="700" dirty="0">
              <a:latin typeface="+mn-ea"/>
            </a:endParaRPr>
          </a:p>
          <a:p>
            <a:pPr>
              <a:lnSpc>
                <a:spcPct val="200000"/>
              </a:lnSpc>
            </a:pPr>
            <a:r>
              <a:rPr lang="ko-KR" altLang="en-US" sz="700" dirty="0">
                <a:latin typeface="+mn-ea"/>
              </a:rPr>
              <a:t>서울특별시 동대문구</a:t>
            </a:r>
            <a:endParaRPr lang="en-US" altLang="ko-KR" sz="700" dirty="0">
              <a:latin typeface="+mn-ea"/>
            </a:endParaRPr>
          </a:p>
          <a:p>
            <a:pPr>
              <a:lnSpc>
                <a:spcPct val="200000"/>
              </a:lnSpc>
            </a:pPr>
            <a:r>
              <a:rPr lang="ko-KR" altLang="en-US" sz="700" dirty="0">
                <a:latin typeface="+mn-ea"/>
              </a:rPr>
              <a:t>서울특별시 중랑구</a:t>
            </a:r>
            <a:endParaRPr lang="en-US" altLang="ko-KR" sz="700" dirty="0">
              <a:latin typeface="+mn-ea"/>
            </a:endParaRPr>
          </a:p>
          <a:p>
            <a:pPr>
              <a:lnSpc>
                <a:spcPct val="200000"/>
              </a:lnSpc>
            </a:pPr>
            <a:r>
              <a:rPr lang="ko-KR" altLang="en-US" sz="700" dirty="0">
                <a:latin typeface="+mn-ea"/>
              </a:rPr>
              <a:t>서울특별시 성북구</a:t>
            </a:r>
            <a:endParaRPr lang="en-US" altLang="ko-KR" sz="700" dirty="0">
              <a:latin typeface="+mn-ea"/>
            </a:endParaRPr>
          </a:p>
          <a:p>
            <a:pPr>
              <a:lnSpc>
                <a:spcPct val="200000"/>
              </a:lnSpc>
            </a:pPr>
            <a:r>
              <a:rPr lang="ko-KR" altLang="en-US" sz="700" dirty="0">
                <a:latin typeface="+mn-ea"/>
              </a:rPr>
              <a:t>서울특별시 강북구</a:t>
            </a:r>
            <a:endParaRPr lang="en-US" altLang="ko-KR" sz="700" dirty="0">
              <a:latin typeface="+mn-ea"/>
            </a:endParaRPr>
          </a:p>
        </p:txBody>
      </p:sp>
      <p:cxnSp>
        <p:nvCxnSpPr>
          <p:cNvPr id="326" name="직선 연결선 325">
            <a:extLst>
              <a:ext uri="{FF2B5EF4-FFF2-40B4-BE49-F238E27FC236}">
                <a16:creationId xmlns:a16="http://schemas.microsoft.com/office/drawing/2014/main" id="{E9293055-D5CD-4B9E-7F64-64B2D2CA7A52}"/>
              </a:ext>
            </a:extLst>
          </p:cNvPr>
          <p:cNvCxnSpPr/>
          <p:nvPr/>
        </p:nvCxnSpPr>
        <p:spPr>
          <a:xfrm>
            <a:off x="3837747" y="42148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7" name="직선 연결선 326">
            <a:extLst>
              <a:ext uri="{FF2B5EF4-FFF2-40B4-BE49-F238E27FC236}">
                <a16:creationId xmlns:a16="http://schemas.microsoft.com/office/drawing/2014/main" id="{E9293055-D5CD-4B9E-7F64-64B2D2CA7A52}"/>
              </a:ext>
            </a:extLst>
          </p:cNvPr>
          <p:cNvCxnSpPr/>
          <p:nvPr/>
        </p:nvCxnSpPr>
        <p:spPr>
          <a:xfrm>
            <a:off x="3837747" y="44285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8" name="직선 연결선 327">
            <a:extLst>
              <a:ext uri="{FF2B5EF4-FFF2-40B4-BE49-F238E27FC236}">
                <a16:creationId xmlns:a16="http://schemas.microsoft.com/office/drawing/2014/main" id="{E9293055-D5CD-4B9E-7F64-64B2D2CA7A52}"/>
              </a:ext>
            </a:extLst>
          </p:cNvPr>
          <p:cNvCxnSpPr/>
          <p:nvPr/>
        </p:nvCxnSpPr>
        <p:spPr>
          <a:xfrm>
            <a:off x="3837747" y="46422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9" name="직선 연결선 328">
            <a:extLst>
              <a:ext uri="{FF2B5EF4-FFF2-40B4-BE49-F238E27FC236}">
                <a16:creationId xmlns:a16="http://schemas.microsoft.com/office/drawing/2014/main" id="{E9293055-D5CD-4B9E-7F64-64B2D2CA7A52}"/>
              </a:ext>
            </a:extLst>
          </p:cNvPr>
          <p:cNvCxnSpPr/>
          <p:nvPr/>
        </p:nvCxnSpPr>
        <p:spPr>
          <a:xfrm>
            <a:off x="3837747" y="48559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0" name="직선 연결선 329">
            <a:extLst>
              <a:ext uri="{FF2B5EF4-FFF2-40B4-BE49-F238E27FC236}">
                <a16:creationId xmlns:a16="http://schemas.microsoft.com/office/drawing/2014/main" id="{E9293055-D5CD-4B9E-7F64-64B2D2CA7A52}"/>
              </a:ext>
            </a:extLst>
          </p:cNvPr>
          <p:cNvCxnSpPr/>
          <p:nvPr/>
        </p:nvCxnSpPr>
        <p:spPr>
          <a:xfrm>
            <a:off x="3837747" y="5069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1" name="직선 연결선 330">
            <a:extLst>
              <a:ext uri="{FF2B5EF4-FFF2-40B4-BE49-F238E27FC236}">
                <a16:creationId xmlns:a16="http://schemas.microsoft.com/office/drawing/2014/main" id="{E9293055-D5CD-4B9E-7F64-64B2D2CA7A52}"/>
              </a:ext>
            </a:extLst>
          </p:cNvPr>
          <p:cNvCxnSpPr/>
          <p:nvPr/>
        </p:nvCxnSpPr>
        <p:spPr>
          <a:xfrm>
            <a:off x="3837747" y="52833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2" name="직선 연결선 331">
            <a:extLst>
              <a:ext uri="{FF2B5EF4-FFF2-40B4-BE49-F238E27FC236}">
                <a16:creationId xmlns:a16="http://schemas.microsoft.com/office/drawing/2014/main" id="{E9293055-D5CD-4B9E-7F64-64B2D2CA7A52}"/>
              </a:ext>
            </a:extLst>
          </p:cNvPr>
          <p:cNvCxnSpPr/>
          <p:nvPr/>
        </p:nvCxnSpPr>
        <p:spPr>
          <a:xfrm>
            <a:off x="3837747" y="54970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3" name="직선 연결선 332">
            <a:extLst>
              <a:ext uri="{FF2B5EF4-FFF2-40B4-BE49-F238E27FC236}">
                <a16:creationId xmlns:a16="http://schemas.microsoft.com/office/drawing/2014/main" id="{E9293055-D5CD-4B9E-7F64-64B2D2CA7A52}"/>
              </a:ext>
            </a:extLst>
          </p:cNvPr>
          <p:cNvCxnSpPr/>
          <p:nvPr/>
        </p:nvCxnSpPr>
        <p:spPr>
          <a:xfrm>
            <a:off x="3837747" y="57107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4" name="직선 연결선 333">
            <a:extLst>
              <a:ext uri="{FF2B5EF4-FFF2-40B4-BE49-F238E27FC236}">
                <a16:creationId xmlns:a16="http://schemas.microsoft.com/office/drawing/2014/main" id="{E9293055-D5CD-4B9E-7F64-64B2D2CA7A52}"/>
              </a:ext>
            </a:extLst>
          </p:cNvPr>
          <p:cNvCxnSpPr/>
          <p:nvPr/>
        </p:nvCxnSpPr>
        <p:spPr>
          <a:xfrm>
            <a:off x="3837747" y="59245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5" name="직선 연결선 334">
            <a:extLst>
              <a:ext uri="{FF2B5EF4-FFF2-40B4-BE49-F238E27FC236}">
                <a16:creationId xmlns:a16="http://schemas.microsoft.com/office/drawing/2014/main" id="{E9293055-D5CD-4B9E-7F64-64B2D2CA7A52}"/>
              </a:ext>
            </a:extLst>
          </p:cNvPr>
          <p:cNvCxnSpPr/>
          <p:nvPr/>
        </p:nvCxnSpPr>
        <p:spPr>
          <a:xfrm>
            <a:off x="3837747" y="61382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6" name="모서리가 둥근 직사각형 335"/>
          <p:cNvSpPr/>
          <p:nvPr/>
        </p:nvSpPr>
        <p:spPr>
          <a:xfrm rot="5400000">
            <a:off x="5782577" y="324678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3" name="타원 152">
            <a:extLst>
              <a:ext uri="{FF2B5EF4-FFF2-40B4-BE49-F238E27FC236}">
                <a16:creationId xmlns:a16="http://schemas.microsoft.com/office/drawing/2014/main" id="{37A7FF4F-0EAA-1463-560A-D5EC24416103}"/>
              </a:ext>
            </a:extLst>
          </p:cNvPr>
          <p:cNvSpPr/>
          <p:nvPr/>
        </p:nvSpPr>
        <p:spPr>
          <a:xfrm>
            <a:off x="573754" y="358483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37" name="직사각형 336">
            <a:extLst>
              <a:ext uri="{FF2B5EF4-FFF2-40B4-BE49-F238E27FC236}">
                <a16:creationId xmlns:a16="http://schemas.microsoft.com/office/drawing/2014/main" id="{F56F1743-11A0-EA94-9184-4E42C0A37F9C}"/>
              </a:ext>
            </a:extLst>
          </p:cNvPr>
          <p:cNvSpPr/>
          <p:nvPr/>
        </p:nvSpPr>
        <p:spPr>
          <a:xfrm>
            <a:off x="677960" y="4506743"/>
            <a:ext cx="2712027" cy="1720420"/>
          </a:xfrm>
          <a:prstGeom prst="rect">
            <a:avLst/>
          </a:prstGeom>
          <a:solidFill>
            <a:schemeClr val="bg1">
              <a:lumMod val="95000"/>
            </a:schemeClr>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ysClr val="windowText" lastClr="000000"/>
                </a:solidFill>
              </a:rPr>
              <a:t>가상 </a:t>
            </a:r>
            <a:r>
              <a:rPr lang="ko-KR" altLang="en-US" dirty="0" err="1">
                <a:solidFill>
                  <a:sysClr val="windowText" lastClr="000000"/>
                </a:solidFill>
              </a:rPr>
              <a:t>키패드</a:t>
            </a:r>
            <a:r>
              <a:rPr lang="ko-KR" altLang="en-US" dirty="0">
                <a:solidFill>
                  <a:sysClr val="windowText" lastClr="000000"/>
                </a:solidFill>
              </a:rPr>
              <a:t> 영역</a:t>
            </a:r>
          </a:p>
        </p:txBody>
      </p:sp>
      <p:sp>
        <p:nvSpPr>
          <p:cNvPr id="338" name="타원 337">
            <a:extLst>
              <a:ext uri="{FF2B5EF4-FFF2-40B4-BE49-F238E27FC236}">
                <a16:creationId xmlns:a16="http://schemas.microsoft.com/office/drawing/2014/main" id="{37A7FF4F-0EAA-1463-560A-D5EC24416103}"/>
              </a:ext>
            </a:extLst>
          </p:cNvPr>
          <p:cNvSpPr/>
          <p:nvPr/>
        </p:nvSpPr>
        <p:spPr>
          <a:xfrm>
            <a:off x="573754" y="390938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39" name="타원 338">
            <a:extLst>
              <a:ext uri="{FF2B5EF4-FFF2-40B4-BE49-F238E27FC236}">
                <a16:creationId xmlns:a16="http://schemas.microsoft.com/office/drawing/2014/main" id="{37A7FF4F-0EAA-1463-560A-D5EC24416103}"/>
              </a:ext>
            </a:extLst>
          </p:cNvPr>
          <p:cNvSpPr/>
          <p:nvPr/>
        </p:nvSpPr>
        <p:spPr>
          <a:xfrm>
            <a:off x="3684579" y="344145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40" name="타원 339">
            <a:extLst>
              <a:ext uri="{FF2B5EF4-FFF2-40B4-BE49-F238E27FC236}">
                <a16:creationId xmlns:a16="http://schemas.microsoft.com/office/drawing/2014/main" id="{37A7FF4F-0EAA-1463-560A-D5EC24416103}"/>
              </a:ext>
            </a:extLst>
          </p:cNvPr>
          <p:cNvSpPr/>
          <p:nvPr/>
        </p:nvSpPr>
        <p:spPr>
          <a:xfrm>
            <a:off x="3684579" y="42038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Tree>
    <p:extLst>
      <p:ext uri="{BB962C8B-B14F-4D97-AF65-F5344CB8AC3E}">
        <p14:creationId xmlns:p14="http://schemas.microsoft.com/office/powerpoint/2010/main" val="26950254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발주기관으로 포커스 </a:t>
            </a:r>
            <a:r>
              <a:rPr lang="ko-KR" altLang="en-US" dirty="0" err="1"/>
              <a:t>자동이동</a:t>
            </a:r>
            <a:r>
              <a:rPr lang="en-US" altLang="ko-KR" dirty="0"/>
              <a:t/>
            </a:r>
            <a:br>
              <a:rPr lang="en-US" altLang="ko-KR" dirty="0"/>
            </a:br>
            <a:r>
              <a:rPr lang="en-US" altLang="ko-KR" dirty="0"/>
              <a:t>- </a:t>
            </a:r>
            <a:r>
              <a:rPr lang="ko-KR" altLang="en-US" dirty="0"/>
              <a:t>입력이 있는 경우 내용 삭제 아이콘</a:t>
            </a:r>
            <a:endParaRPr lang="en-US" altLang="ko-KR" dirty="0"/>
          </a:p>
          <a:p>
            <a:pPr marL="228600" indent="-228600">
              <a:buFont typeface="+mj-lt"/>
              <a:buAutoNum type="arabicPeriod"/>
            </a:pPr>
            <a:r>
              <a:rPr lang="ko-KR" altLang="en-US" dirty="0"/>
              <a:t>입력 내용 기반 검색</a:t>
            </a:r>
            <a:r>
              <a:rPr lang="en-US" altLang="ko-KR" dirty="0"/>
              <a:t/>
            </a:r>
            <a:br>
              <a:rPr lang="en-US" altLang="ko-KR" dirty="0"/>
            </a:br>
            <a:r>
              <a:rPr lang="en-US" altLang="ko-KR" dirty="0"/>
              <a:t>- Like </a:t>
            </a:r>
            <a:r>
              <a:rPr lang="ko-KR" altLang="en-US" dirty="0"/>
              <a:t>검색</a:t>
            </a:r>
            <a:r>
              <a:rPr lang="en-US" altLang="ko-KR" dirty="0"/>
              <a:t/>
            </a:r>
            <a:br>
              <a:rPr lang="en-US" altLang="ko-KR" dirty="0"/>
            </a:br>
            <a:r>
              <a:rPr lang="en-US" altLang="ko-KR" dirty="0"/>
              <a:t>- </a:t>
            </a:r>
            <a:r>
              <a:rPr lang="ko-KR" altLang="en-US" dirty="0"/>
              <a:t>검색 버튼 클릭 시 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검색 버튼으로 동일 검색 기능 동작</a:t>
            </a:r>
            <a:endParaRPr lang="en-US" altLang="ko-KR" dirty="0"/>
          </a:p>
          <a:p>
            <a:pPr marL="228600" indent="-228600">
              <a:buFont typeface="+mj-lt"/>
              <a:buAutoNum type="arabicPeriod"/>
            </a:pPr>
            <a:r>
              <a:rPr lang="ko-KR" altLang="en-US" dirty="0"/>
              <a:t>검색 결과 표시</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타이틀 영역 제외 스크롤</a:t>
            </a:r>
            <a:endParaRPr lang="en-US" altLang="ko-KR" dirty="0"/>
          </a:p>
          <a:p>
            <a:pPr marL="228600" indent="-228600">
              <a:buFont typeface="+mj-lt"/>
              <a:buAutoNum type="arabicPeriod"/>
            </a:pPr>
            <a:r>
              <a:rPr lang="ko-KR" altLang="en-US" dirty="0"/>
              <a:t>결과 클릭을 통해 검색 필터에 </a:t>
            </a:r>
            <a:r>
              <a:rPr lang="ko-KR" altLang="en-US" dirty="0" err="1"/>
              <a:t>지역명</a:t>
            </a:r>
            <a:r>
              <a:rPr lang="ko-KR" altLang="en-US" dirty="0"/>
              <a:t> 반영</a:t>
            </a:r>
            <a:r>
              <a:rPr lang="en-US" altLang="ko-KR" dirty="0"/>
              <a:t/>
            </a:r>
            <a:br>
              <a:rPr lang="en-US" altLang="ko-KR" dirty="0"/>
            </a:br>
            <a:r>
              <a:rPr lang="en-US" altLang="ko-KR" dirty="0"/>
              <a:t>- </a:t>
            </a:r>
            <a:r>
              <a:rPr lang="ko-KR" altLang="en-US" dirty="0"/>
              <a:t>사용자 선택 시 </a:t>
            </a:r>
            <a:r>
              <a:rPr lang="ko-KR" altLang="en-US" dirty="0" err="1"/>
              <a:t>바텀</a:t>
            </a:r>
            <a:r>
              <a:rPr lang="ko-KR" altLang="en-US" dirty="0"/>
              <a:t> 시트 닫힘</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발주부서</a:t>
            </a:r>
            <a:r>
              <a:rPr lang="en-US" altLang="ko-KR" dirty="0">
                <a:latin typeface="+mn-ea"/>
              </a:rPr>
              <a:t>(</a:t>
            </a:r>
            <a:r>
              <a:rPr lang="ko-KR" altLang="en-US" dirty="0">
                <a:latin typeface="+mn-ea"/>
              </a:rPr>
              <a:t>기관</a:t>
            </a:r>
            <a:r>
              <a:rPr lang="en-US" altLang="ko-KR" dirty="0">
                <a:latin typeface="+mn-ea"/>
              </a:rPr>
              <a:t>)</a:t>
            </a:r>
            <a:r>
              <a:rPr lang="ko-KR" altLang="en-US" dirty="0">
                <a:latin typeface="+mn-ea"/>
              </a:rPr>
              <a:t> 검색</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검색 필터에서 </a:t>
            </a:r>
            <a:r>
              <a:rPr lang="ko-KR" altLang="en-US" dirty="0" err="1"/>
              <a:t>발주부서</a:t>
            </a:r>
            <a:r>
              <a:rPr lang="en-US" altLang="ko-KR" dirty="0"/>
              <a:t>(</a:t>
            </a:r>
            <a:r>
              <a:rPr lang="ko-KR" altLang="en-US" dirty="0"/>
              <a:t>기관</a:t>
            </a:r>
            <a:r>
              <a:rPr lang="en-US" altLang="ko-KR" dirty="0"/>
              <a:t>)</a:t>
            </a:r>
            <a:r>
              <a:rPr lang="ko-KR" altLang="en-US" dirty="0"/>
              <a:t> 검색을 선택하는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검색 필터 </a:t>
            </a:r>
            <a:r>
              <a:rPr lang="en-US" altLang="ko-KR" dirty="0">
                <a:latin typeface="+mn-ea"/>
              </a:rPr>
              <a:t>&gt; </a:t>
            </a:r>
            <a:r>
              <a:rPr lang="ko-KR" altLang="en-US" dirty="0" err="1">
                <a:latin typeface="+mn-ea"/>
              </a:rPr>
              <a:t>발주부서</a:t>
            </a:r>
            <a:r>
              <a:rPr lang="en-US" altLang="ko-KR" dirty="0">
                <a:latin typeface="+mn-ea"/>
              </a:rPr>
              <a:t>(</a:t>
            </a:r>
            <a:r>
              <a:rPr lang="ko-KR" altLang="en-US" dirty="0">
                <a:latin typeface="+mn-ea"/>
              </a:rPr>
              <a:t>기관</a:t>
            </a:r>
            <a:r>
              <a:rPr lang="en-US" altLang="ko-KR" dirty="0">
                <a:latin typeface="+mn-ea"/>
              </a:rPr>
              <a:t>) </a:t>
            </a:r>
            <a:r>
              <a:rPr lang="ko-KR" altLang="en-US" dirty="0">
                <a:latin typeface="+mn-ea"/>
              </a:rPr>
              <a:t>검색</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MUI-BD-01-P04</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279" name="직선 연결선 278">
            <a:extLst>
              <a:ext uri="{FF2B5EF4-FFF2-40B4-BE49-F238E27FC236}">
                <a16:creationId xmlns:a16="http://schemas.microsoft.com/office/drawing/2014/main" id="{E9293055-D5CD-4B9E-7F64-64B2D2CA7A52}"/>
              </a:ext>
            </a:extLst>
          </p:cNvPr>
          <p:cNvCxnSpPr/>
          <p:nvPr/>
        </p:nvCxnSpPr>
        <p:spPr>
          <a:xfrm>
            <a:off x="3795734"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82" name="그룹 281"/>
          <p:cNvGrpSpPr/>
          <p:nvPr/>
        </p:nvGrpSpPr>
        <p:grpSpPr>
          <a:xfrm>
            <a:off x="6258712" y="1650089"/>
            <a:ext cx="94010" cy="94010"/>
            <a:chOff x="6812560" y="3297172"/>
            <a:chExt cx="94010" cy="94010"/>
          </a:xfrm>
        </p:grpSpPr>
        <p:cxnSp>
          <p:nvCxnSpPr>
            <p:cNvPr id="286" name="직선 연결선 28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87" name="직선 연결선 28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88" name="타원 287"/>
          <p:cNvSpPr/>
          <p:nvPr/>
        </p:nvSpPr>
        <p:spPr>
          <a:xfrm>
            <a:off x="5893434"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4" name="TextBox 293">
            <a:extLst>
              <a:ext uri="{FF2B5EF4-FFF2-40B4-BE49-F238E27FC236}">
                <a16:creationId xmlns:a16="http://schemas.microsoft.com/office/drawing/2014/main" id="{FFC49AEA-2A8F-250C-A86A-A7751D9706C3}"/>
              </a:ext>
            </a:extLst>
          </p:cNvPr>
          <p:cNvSpPr txBox="1"/>
          <p:nvPr/>
        </p:nvSpPr>
        <p:spPr>
          <a:xfrm>
            <a:off x="3898850"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295" name="TextBox 294">
            <a:extLst>
              <a:ext uri="{FF2B5EF4-FFF2-40B4-BE49-F238E27FC236}">
                <a16:creationId xmlns:a16="http://schemas.microsoft.com/office/drawing/2014/main" id="{FFC49AEA-2A8F-250C-A86A-A7751D9706C3}"/>
              </a:ext>
            </a:extLst>
          </p:cNvPr>
          <p:cNvSpPr txBox="1"/>
          <p:nvPr/>
        </p:nvSpPr>
        <p:spPr>
          <a:xfrm>
            <a:off x="5567792"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err="1">
                <a:latin typeface="+mn-ea"/>
              </a:rPr>
              <a:t>발주부서</a:t>
            </a:r>
            <a:r>
              <a:rPr lang="en-US" altLang="ko-KR" sz="900" dirty="0">
                <a:latin typeface="+mn-ea"/>
              </a:rPr>
              <a:t>(</a:t>
            </a:r>
            <a:r>
              <a:rPr lang="ko-KR" altLang="en-US" sz="900" dirty="0">
                <a:latin typeface="+mn-ea"/>
              </a:rPr>
              <a:t>기관</a:t>
            </a:r>
            <a:r>
              <a:rPr lang="en-US" altLang="ko-KR" sz="900" dirty="0">
                <a:latin typeface="+mn-ea"/>
              </a:rPr>
              <a:t>)</a:t>
            </a:r>
            <a:r>
              <a:rPr lang="ko-KR" altLang="en-US" sz="900" dirty="0">
                <a:latin typeface="+mn-ea"/>
              </a:rPr>
              <a:t> 검색</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7" name="모서리가 둥근 직사각형 306"/>
          <p:cNvSpPr/>
          <p:nvPr/>
        </p:nvSpPr>
        <p:spPr>
          <a:xfrm>
            <a:off x="4564213" y="2653963"/>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육군</a:t>
            </a:r>
          </a:p>
        </p:txBody>
      </p:sp>
      <p:sp>
        <p:nvSpPr>
          <p:cNvPr id="308" name="TextBox 307">
            <a:extLst>
              <a:ext uri="{FF2B5EF4-FFF2-40B4-BE49-F238E27FC236}">
                <a16:creationId xmlns:a16="http://schemas.microsoft.com/office/drawing/2014/main" id="{FFC49AEA-2A8F-250C-A86A-A7751D9706C3}"/>
              </a:ext>
            </a:extLst>
          </p:cNvPr>
          <p:cNvSpPr txBox="1"/>
          <p:nvPr/>
        </p:nvSpPr>
        <p:spPr>
          <a:xfrm>
            <a:off x="3924811" y="2722276"/>
            <a:ext cx="670770" cy="107722"/>
          </a:xfrm>
          <a:prstGeom prst="rect">
            <a:avLst/>
          </a:prstGeom>
          <a:noFill/>
        </p:spPr>
        <p:txBody>
          <a:bodyPr wrap="square" lIns="0" tIns="0" rIns="0" bIns="0" rtlCol="0">
            <a:spAutoFit/>
          </a:bodyPr>
          <a:lstStyle/>
          <a:p>
            <a:r>
              <a:rPr lang="ko-KR" altLang="en-US" sz="700" dirty="0">
                <a:latin typeface="+mn-ea"/>
              </a:rPr>
              <a:t>발주기관</a:t>
            </a:r>
            <a:endParaRPr lang="en-US" altLang="ko-KR" sz="700" dirty="0">
              <a:latin typeface="+mn-ea"/>
            </a:endParaRPr>
          </a:p>
        </p:txBody>
      </p:sp>
      <p:sp>
        <p:nvSpPr>
          <p:cNvPr id="309" name="사각형: 둥근 모서리 15">
            <a:extLst>
              <a:ext uri="{FF2B5EF4-FFF2-40B4-BE49-F238E27FC236}">
                <a16:creationId xmlns:a16="http://schemas.microsoft.com/office/drawing/2014/main" id="{E2B61CFB-AD16-68D0-8752-50D9C5E01971}"/>
              </a:ext>
            </a:extLst>
          </p:cNvPr>
          <p:cNvSpPr/>
          <p:nvPr/>
        </p:nvSpPr>
        <p:spPr>
          <a:xfrm>
            <a:off x="3888037" y="2987678"/>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5" name="양쪽 모서리가 둥근 사각형 4"/>
          <p:cNvSpPr/>
          <p:nvPr/>
        </p:nvSpPr>
        <p:spPr>
          <a:xfrm>
            <a:off x="675399"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3182696"/>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3163375"/>
            <a:ext cx="1798758" cy="138499"/>
          </a:xfrm>
          <a:prstGeom prst="rect">
            <a:avLst/>
          </a:prstGeom>
          <a:noFill/>
        </p:spPr>
        <p:txBody>
          <a:bodyPr wrap="square" lIns="0" tIns="0" rIns="0" bIns="0" rtlCol="0">
            <a:spAutoFit/>
          </a:bodyPr>
          <a:lstStyle/>
          <a:p>
            <a:r>
              <a:rPr lang="ko-KR" altLang="en-US" sz="900" dirty="0" err="1">
                <a:latin typeface="+mn-ea"/>
              </a:rPr>
              <a:t>발주부서</a:t>
            </a:r>
            <a:r>
              <a:rPr lang="en-US" altLang="ko-KR" sz="900" dirty="0">
                <a:latin typeface="+mn-ea"/>
              </a:rPr>
              <a:t>(</a:t>
            </a:r>
            <a:r>
              <a:rPr lang="ko-KR" altLang="en-US" sz="900" dirty="0">
                <a:latin typeface="+mn-ea"/>
              </a:rPr>
              <a:t>기관</a:t>
            </a:r>
            <a:r>
              <a:rPr lang="en-US" altLang="ko-KR" sz="900" dirty="0">
                <a:latin typeface="+mn-ea"/>
              </a:rPr>
              <a:t>)</a:t>
            </a:r>
            <a:r>
              <a:rPr lang="ko-KR" altLang="en-US" sz="900" dirty="0">
                <a:latin typeface="+mn-ea"/>
              </a:rPr>
              <a:t> 검색</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모서리가 둥근 직사각형 168"/>
          <p:cNvSpPr/>
          <p:nvPr/>
        </p:nvSpPr>
        <p:spPr>
          <a:xfrm>
            <a:off x="1443878" y="3862324"/>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정보를</a:t>
            </a:r>
            <a:r>
              <a:rPr lang="ko-KR" altLang="en-US" sz="700" dirty="0">
                <a:solidFill>
                  <a:schemeClr val="tx1"/>
                </a:solidFill>
              </a:rPr>
              <a:t> </a:t>
            </a:r>
            <a:r>
              <a:rPr lang="ko-KR" altLang="en-US" sz="700" dirty="0">
                <a:solidFill>
                  <a:schemeClr val="bg1">
                    <a:lumMod val="65000"/>
                  </a:schemeClr>
                </a:solidFill>
              </a:rPr>
              <a:t>입력해주세요</a:t>
            </a:r>
            <a:r>
              <a:rPr lang="en-US" altLang="ko-KR" sz="700" dirty="0">
                <a:solidFill>
                  <a:schemeClr val="tx1"/>
                </a:solidFill>
              </a:rPr>
              <a:t>.</a:t>
            </a:r>
            <a:endParaRPr lang="ko-KR" altLang="en-US" sz="700" dirty="0">
              <a:solidFill>
                <a:schemeClr val="tx1"/>
              </a:solidFill>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804476" y="3930637"/>
            <a:ext cx="670770" cy="107722"/>
          </a:xfrm>
          <a:prstGeom prst="rect">
            <a:avLst/>
          </a:prstGeom>
          <a:noFill/>
        </p:spPr>
        <p:txBody>
          <a:bodyPr wrap="square" lIns="0" tIns="0" rIns="0" bIns="0" rtlCol="0">
            <a:spAutoFit/>
          </a:bodyPr>
          <a:lstStyle/>
          <a:p>
            <a:r>
              <a:rPr lang="ko-KR" altLang="en-US" sz="700" dirty="0">
                <a:latin typeface="+mn-ea"/>
              </a:rPr>
              <a:t>발주기관</a:t>
            </a:r>
            <a:endParaRPr lang="en-US" altLang="ko-KR" sz="700" dirty="0">
              <a:latin typeface="+mn-ea"/>
            </a:endParaRPr>
          </a:p>
        </p:txBody>
      </p:sp>
      <p:sp>
        <p:nvSpPr>
          <p:cNvPr id="177" name="사각형: 둥근 모서리 15">
            <a:extLst>
              <a:ext uri="{FF2B5EF4-FFF2-40B4-BE49-F238E27FC236}">
                <a16:creationId xmlns:a16="http://schemas.microsoft.com/office/drawing/2014/main" id="{E2B61CFB-AD16-68D0-8752-50D9C5E01971}"/>
              </a:ext>
            </a:extLst>
          </p:cNvPr>
          <p:cNvSpPr/>
          <p:nvPr/>
        </p:nvSpPr>
        <p:spPr>
          <a:xfrm>
            <a:off x="767702" y="4196039"/>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3" name="그룹 2"/>
          <p:cNvGrpSpPr/>
          <p:nvPr/>
        </p:nvGrpSpPr>
        <p:grpSpPr>
          <a:xfrm>
            <a:off x="3112794" y="3900610"/>
            <a:ext cx="145884" cy="145882"/>
            <a:chOff x="3112794" y="3984500"/>
            <a:chExt cx="145884" cy="145882"/>
          </a:xfrm>
        </p:grpSpPr>
        <p:sp>
          <p:nvSpPr>
            <p:cNvPr id="310" name="타원 309"/>
            <p:cNvSpPr/>
            <p:nvPr/>
          </p:nvSpPr>
          <p:spPr>
            <a:xfrm>
              <a:off x="3112794" y="3984500"/>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1" name="그룹 310"/>
            <p:cNvGrpSpPr/>
            <p:nvPr/>
          </p:nvGrpSpPr>
          <p:grpSpPr>
            <a:xfrm>
              <a:off x="3156699" y="4028404"/>
              <a:ext cx="58075" cy="58074"/>
              <a:chOff x="6812560" y="3297172"/>
              <a:chExt cx="94010" cy="94010"/>
            </a:xfrm>
          </p:grpSpPr>
          <p:cxnSp>
            <p:nvCxnSpPr>
              <p:cNvPr id="312" name="직선 연결선 31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3" name="직선 연결선 31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sp>
        <p:nvSpPr>
          <p:cNvPr id="314" name="타원 313"/>
          <p:cNvSpPr/>
          <p:nvPr/>
        </p:nvSpPr>
        <p:spPr>
          <a:xfrm>
            <a:off x="6240768" y="2696784"/>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5" name="그룹 314"/>
          <p:cNvGrpSpPr/>
          <p:nvPr/>
        </p:nvGrpSpPr>
        <p:grpSpPr>
          <a:xfrm>
            <a:off x="6284673" y="2740688"/>
            <a:ext cx="58075" cy="58074"/>
            <a:chOff x="6812560" y="3297172"/>
            <a:chExt cx="94010" cy="94010"/>
          </a:xfrm>
        </p:grpSpPr>
        <p:cxnSp>
          <p:nvCxnSpPr>
            <p:cNvPr id="316" name="직선 연결선 31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7" name="직선 연결선 31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cxnSp>
        <p:nvCxnSpPr>
          <p:cNvPr id="318" name="직선 연결선 317">
            <a:extLst>
              <a:ext uri="{FF2B5EF4-FFF2-40B4-BE49-F238E27FC236}">
                <a16:creationId xmlns:a16="http://schemas.microsoft.com/office/drawing/2014/main" id="{E9293055-D5CD-4B9E-7F64-64B2D2CA7A52}"/>
              </a:ext>
            </a:extLst>
          </p:cNvPr>
          <p:cNvCxnSpPr/>
          <p:nvPr/>
        </p:nvCxnSpPr>
        <p:spPr>
          <a:xfrm>
            <a:off x="3795734" y="33710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9" name="TextBox 318">
            <a:extLst>
              <a:ext uri="{FF2B5EF4-FFF2-40B4-BE49-F238E27FC236}">
                <a16:creationId xmlns:a16="http://schemas.microsoft.com/office/drawing/2014/main" id="{FFC49AEA-2A8F-250C-A86A-A7751D9706C3}"/>
              </a:ext>
            </a:extLst>
          </p:cNvPr>
          <p:cNvSpPr txBox="1"/>
          <p:nvPr/>
        </p:nvSpPr>
        <p:spPr>
          <a:xfrm>
            <a:off x="3924811" y="3478112"/>
            <a:ext cx="670770" cy="107722"/>
          </a:xfrm>
          <a:prstGeom prst="rect">
            <a:avLst/>
          </a:prstGeom>
          <a:noFill/>
        </p:spPr>
        <p:txBody>
          <a:bodyPr wrap="square" lIns="0" tIns="0" rIns="0" bIns="0" rtlCol="0">
            <a:spAutoFit/>
          </a:bodyPr>
          <a:lstStyle/>
          <a:p>
            <a:r>
              <a:rPr lang="ko-KR" altLang="en-US" sz="700" dirty="0">
                <a:latin typeface="+mn-ea"/>
              </a:rPr>
              <a:t>총 </a:t>
            </a:r>
            <a:r>
              <a:rPr lang="en-US" altLang="ko-KR" sz="700" dirty="0">
                <a:solidFill>
                  <a:srgbClr val="0070C0"/>
                </a:solidFill>
                <a:latin typeface="+mn-ea"/>
              </a:rPr>
              <a:t>000</a:t>
            </a:r>
            <a:r>
              <a:rPr lang="ko-KR" altLang="en-US" sz="700" dirty="0">
                <a:latin typeface="+mn-ea"/>
              </a:rPr>
              <a:t>건</a:t>
            </a:r>
            <a:endParaRPr lang="en-US" altLang="ko-KR" sz="700" dirty="0">
              <a:latin typeface="+mn-ea"/>
            </a:endParaRPr>
          </a:p>
        </p:txBody>
      </p:sp>
      <p:sp>
        <p:nvSpPr>
          <p:cNvPr id="320" name="TextBox 319">
            <a:extLst>
              <a:ext uri="{FF2B5EF4-FFF2-40B4-BE49-F238E27FC236}">
                <a16:creationId xmlns:a16="http://schemas.microsoft.com/office/drawing/2014/main" id="{FFC49AEA-2A8F-250C-A86A-A7751D9706C3}"/>
              </a:ext>
            </a:extLst>
          </p:cNvPr>
          <p:cNvSpPr txBox="1"/>
          <p:nvPr/>
        </p:nvSpPr>
        <p:spPr>
          <a:xfrm>
            <a:off x="3924811" y="3766913"/>
            <a:ext cx="670770" cy="107722"/>
          </a:xfrm>
          <a:prstGeom prst="rect">
            <a:avLst/>
          </a:prstGeom>
          <a:noFill/>
        </p:spPr>
        <p:txBody>
          <a:bodyPr wrap="square" lIns="0" tIns="0" rIns="0" bIns="0" rtlCol="0">
            <a:spAutoFit/>
          </a:bodyPr>
          <a:lstStyle/>
          <a:p>
            <a:r>
              <a:rPr lang="ko-KR" altLang="en-US" sz="700" b="1" dirty="0" err="1">
                <a:latin typeface="+mn-ea"/>
              </a:rPr>
              <a:t>기관구분</a:t>
            </a:r>
            <a:endParaRPr lang="en-US" altLang="ko-KR" sz="700" b="1" dirty="0">
              <a:latin typeface="+mn-ea"/>
            </a:endParaRPr>
          </a:p>
        </p:txBody>
      </p:sp>
      <p:sp>
        <p:nvSpPr>
          <p:cNvPr id="321" name="TextBox 320">
            <a:extLst>
              <a:ext uri="{FF2B5EF4-FFF2-40B4-BE49-F238E27FC236}">
                <a16:creationId xmlns:a16="http://schemas.microsoft.com/office/drawing/2014/main" id="{FFC49AEA-2A8F-250C-A86A-A7751D9706C3}"/>
              </a:ext>
            </a:extLst>
          </p:cNvPr>
          <p:cNvSpPr txBox="1"/>
          <p:nvPr/>
        </p:nvSpPr>
        <p:spPr>
          <a:xfrm>
            <a:off x="4564213" y="3766913"/>
            <a:ext cx="670770" cy="107722"/>
          </a:xfrm>
          <a:prstGeom prst="rect">
            <a:avLst/>
          </a:prstGeom>
          <a:noFill/>
        </p:spPr>
        <p:txBody>
          <a:bodyPr wrap="square" lIns="0" tIns="0" rIns="0" bIns="0" rtlCol="0">
            <a:spAutoFit/>
          </a:bodyPr>
          <a:lstStyle/>
          <a:p>
            <a:r>
              <a:rPr lang="ko-KR" altLang="en-US" sz="700" b="1" dirty="0">
                <a:latin typeface="+mn-ea"/>
              </a:rPr>
              <a:t>발주기관</a:t>
            </a:r>
            <a:endParaRPr lang="en-US" altLang="ko-KR" sz="700" b="1" dirty="0">
              <a:latin typeface="+mn-ea"/>
            </a:endParaRPr>
          </a:p>
        </p:txBody>
      </p:sp>
      <p:cxnSp>
        <p:nvCxnSpPr>
          <p:cNvPr id="322" name="직선 연결선 321">
            <a:extLst>
              <a:ext uri="{FF2B5EF4-FFF2-40B4-BE49-F238E27FC236}">
                <a16:creationId xmlns:a16="http://schemas.microsoft.com/office/drawing/2014/main" id="{E9293055-D5CD-4B9E-7F64-64B2D2CA7A52}"/>
              </a:ext>
            </a:extLst>
          </p:cNvPr>
          <p:cNvCxnSpPr/>
          <p:nvPr/>
        </p:nvCxnSpPr>
        <p:spPr>
          <a:xfrm>
            <a:off x="3795734" y="365365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3" name="직선 연결선 322">
            <a:extLst>
              <a:ext uri="{FF2B5EF4-FFF2-40B4-BE49-F238E27FC236}">
                <a16:creationId xmlns:a16="http://schemas.microsoft.com/office/drawing/2014/main" id="{E9293055-D5CD-4B9E-7F64-64B2D2CA7A52}"/>
              </a:ext>
            </a:extLst>
          </p:cNvPr>
          <p:cNvCxnSpPr/>
          <p:nvPr/>
        </p:nvCxnSpPr>
        <p:spPr>
          <a:xfrm>
            <a:off x="3795734" y="39723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4" name="TextBox 323">
            <a:extLst>
              <a:ext uri="{FF2B5EF4-FFF2-40B4-BE49-F238E27FC236}">
                <a16:creationId xmlns:a16="http://schemas.microsoft.com/office/drawing/2014/main" id="{FFC49AEA-2A8F-250C-A86A-A7751D9706C3}"/>
              </a:ext>
            </a:extLst>
          </p:cNvPr>
          <p:cNvSpPr txBox="1"/>
          <p:nvPr/>
        </p:nvSpPr>
        <p:spPr>
          <a:xfrm>
            <a:off x="3924811" y="3983744"/>
            <a:ext cx="670770" cy="2154436"/>
          </a:xfrm>
          <a:prstGeom prst="rect">
            <a:avLst/>
          </a:prstGeom>
          <a:noFill/>
        </p:spPr>
        <p:txBody>
          <a:bodyPr wrap="square" lIns="0" tIns="0" rIns="0" bIns="0" rtlCol="0">
            <a:spAutoFit/>
          </a:bodyPr>
          <a:lstStyle/>
          <a:p>
            <a:pPr>
              <a:lnSpc>
                <a:spcPct val="200000"/>
              </a:lnSpc>
            </a:pPr>
            <a:r>
              <a:rPr lang="ko-KR" altLang="en-US" sz="700" dirty="0" err="1">
                <a:latin typeface="+mn-ea"/>
              </a:rPr>
              <a:t>경리단</a:t>
            </a:r>
            <a:endParaRPr lang="en-US" altLang="ko-KR" sz="700" dirty="0">
              <a:latin typeface="+mn-ea"/>
            </a:endParaRPr>
          </a:p>
          <a:p>
            <a:pPr>
              <a:lnSpc>
                <a:spcPct val="200000"/>
              </a:lnSpc>
            </a:pPr>
            <a:r>
              <a:rPr lang="ko-KR" altLang="en-US" sz="700" dirty="0" err="1">
                <a:latin typeface="+mn-ea"/>
              </a:rPr>
              <a:t>경리단</a:t>
            </a:r>
            <a:endParaRPr lang="en-US" altLang="ko-KR" sz="700" dirty="0">
              <a:latin typeface="+mn-ea"/>
            </a:endParaRPr>
          </a:p>
          <a:p>
            <a:pPr>
              <a:lnSpc>
                <a:spcPct val="200000"/>
              </a:lnSpc>
            </a:pPr>
            <a:r>
              <a:rPr lang="ko-KR" altLang="en-US" sz="700" dirty="0" err="1">
                <a:latin typeface="+mn-ea"/>
              </a:rPr>
              <a:t>경리단</a:t>
            </a:r>
            <a:endParaRPr lang="en-US" altLang="ko-KR" sz="700" dirty="0">
              <a:latin typeface="+mn-ea"/>
            </a:endParaRPr>
          </a:p>
          <a:p>
            <a:pPr>
              <a:lnSpc>
                <a:spcPct val="200000"/>
              </a:lnSpc>
            </a:pPr>
            <a:r>
              <a:rPr lang="ko-KR" altLang="en-US" sz="700" dirty="0" err="1">
                <a:latin typeface="+mn-ea"/>
              </a:rPr>
              <a:t>군수사</a:t>
            </a:r>
            <a:endParaRPr lang="en-US" altLang="ko-KR" sz="700" dirty="0">
              <a:latin typeface="+mn-ea"/>
            </a:endParaRPr>
          </a:p>
          <a:p>
            <a:pPr>
              <a:lnSpc>
                <a:spcPct val="200000"/>
              </a:lnSpc>
            </a:pPr>
            <a:r>
              <a:rPr lang="ko-KR" altLang="en-US" sz="700" dirty="0">
                <a:latin typeface="+mn-ea"/>
              </a:rPr>
              <a:t>교육사</a:t>
            </a:r>
            <a:endParaRPr lang="en-US" altLang="ko-KR" sz="700" dirty="0">
              <a:latin typeface="+mn-ea"/>
            </a:endParaRPr>
          </a:p>
          <a:p>
            <a:pPr>
              <a:lnSpc>
                <a:spcPct val="200000"/>
              </a:lnSpc>
            </a:pPr>
            <a:r>
              <a:rPr lang="ko-KR" altLang="en-US" sz="700" dirty="0">
                <a:latin typeface="+mn-ea"/>
              </a:rPr>
              <a:t>학교</a:t>
            </a:r>
            <a:endParaRPr lang="en-US" altLang="ko-KR" sz="700" dirty="0">
              <a:latin typeface="+mn-ea"/>
            </a:endParaRPr>
          </a:p>
          <a:p>
            <a:pPr>
              <a:lnSpc>
                <a:spcPct val="200000"/>
              </a:lnSpc>
            </a:pPr>
            <a:r>
              <a:rPr lang="ko-KR" altLang="en-US" sz="700" dirty="0">
                <a:latin typeface="+mn-ea"/>
              </a:rPr>
              <a:t>학교</a:t>
            </a:r>
            <a:endParaRPr lang="en-US" altLang="ko-KR" sz="700" dirty="0">
              <a:latin typeface="+mn-ea"/>
            </a:endParaRPr>
          </a:p>
          <a:p>
            <a:pPr>
              <a:lnSpc>
                <a:spcPct val="200000"/>
              </a:lnSpc>
            </a:pPr>
            <a:r>
              <a:rPr lang="ko-KR" altLang="en-US" sz="700" dirty="0">
                <a:latin typeface="+mn-ea"/>
              </a:rPr>
              <a:t>학교</a:t>
            </a:r>
            <a:endParaRPr lang="en-US" altLang="ko-KR" sz="700" dirty="0">
              <a:latin typeface="+mn-ea"/>
            </a:endParaRPr>
          </a:p>
          <a:p>
            <a:pPr>
              <a:lnSpc>
                <a:spcPct val="200000"/>
              </a:lnSpc>
            </a:pPr>
            <a:r>
              <a:rPr lang="ko-KR" altLang="en-US" sz="700" dirty="0">
                <a:latin typeface="+mn-ea"/>
              </a:rPr>
              <a:t>학교</a:t>
            </a:r>
            <a:endParaRPr lang="en-US" altLang="ko-KR" sz="700" dirty="0">
              <a:latin typeface="+mn-ea"/>
            </a:endParaRPr>
          </a:p>
          <a:p>
            <a:pPr>
              <a:lnSpc>
                <a:spcPct val="200000"/>
              </a:lnSpc>
            </a:pPr>
            <a:r>
              <a:rPr lang="ko-KR" altLang="en-US" sz="700" dirty="0">
                <a:latin typeface="+mn-ea"/>
              </a:rPr>
              <a:t>학교</a:t>
            </a:r>
            <a:endParaRPr lang="en-US" altLang="ko-KR" sz="700" dirty="0">
              <a:latin typeface="+mn-ea"/>
            </a:endParaRPr>
          </a:p>
        </p:txBody>
      </p:sp>
      <p:sp>
        <p:nvSpPr>
          <p:cNvPr id="325" name="TextBox 324">
            <a:extLst>
              <a:ext uri="{FF2B5EF4-FFF2-40B4-BE49-F238E27FC236}">
                <a16:creationId xmlns:a16="http://schemas.microsoft.com/office/drawing/2014/main" id="{FFC49AEA-2A8F-250C-A86A-A7751D9706C3}"/>
              </a:ext>
            </a:extLst>
          </p:cNvPr>
          <p:cNvSpPr txBox="1"/>
          <p:nvPr/>
        </p:nvSpPr>
        <p:spPr>
          <a:xfrm>
            <a:off x="4564213" y="3983744"/>
            <a:ext cx="1814470" cy="2154436"/>
          </a:xfrm>
          <a:prstGeom prst="rect">
            <a:avLst/>
          </a:prstGeom>
          <a:noFill/>
        </p:spPr>
        <p:txBody>
          <a:bodyPr wrap="square" lIns="0" tIns="0" rIns="0" bIns="0" rtlCol="0">
            <a:spAutoFit/>
          </a:bodyPr>
          <a:lstStyle/>
          <a:p>
            <a:pPr>
              <a:lnSpc>
                <a:spcPct val="200000"/>
              </a:lnSpc>
            </a:pPr>
            <a:r>
              <a:rPr lang="ko-KR" altLang="en-US" sz="700" dirty="0">
                <a:latin typeface="+mn-ea"/>
              </a:rPr>
              <a:t>육군 </a:t>
            </a:r>
            <a:r>
              <a:rPr lang="en-US" altLang="ko-KR" sz="700" dirty="0">
                <a:latin typeface="+mn-ea"/>
              </a:rPr>
              <a:t>2</a:t>
            </a:r>
            <a:r>
              <a:rPr lang="ko-KR" altLang="en-US" sz="700" dirty="0">
                <a:latin typeface="+mn-ea"/>
              </a:rPr>
              <a:t>작사 </a:t>
            </a:r>
            <a:r>
              <a:rPr lang="en-US" altLang="ko-KR" sz="700" dirty="0">
                <a:latin typeface="+mn-ea"/>
              </a:rPr>
              <a:t>201</a:t>
            </a:r>
            <a:r>
              <a:rPr lang="ko-KR" altLang="en-US" sz="700" dirty="0">
                <a:latin typeface="+mn-ea"/>
              </a:rPr>
              <a:t>특공여단</a:t>
            </a:r>
            <a:endParaRPr lang="en-US" altLang="ko-KR" sz="700" dirty="0">
              <a:latin typeface="+mn-ea"/>
            </a:endParaRPr>
          </a:p>
          <a:p>
            <a:pPr>
              <a:lnSpc>
                <a:spcPct val="200000"/>
              </a:lnSpc>
            </a:pPr>
            <a:r>
              <a:rPr lang="ko-KR" altLang="en-US" sz="700" dirty="0">
                <a:latin typeface="+mn-ea"/>
              </a:rPr>
              <a:t>육군</a:t>
            </a:r>
            <a:r>
              <a:rPr lang="en-US" altLang="ko-KR" sz="700" dirty="0">
                <a:latin typeface="+mn-ea"/>
              </a:rPr>
              <a:t>2</a:t>
            </a:r>
            <a:r>
              <a:rPr lang="ko-KR" altLang="en-US" sz="700" dirty="0">
                <a:latin typeface="+mn-ea"/>
              </a:rPr>
              <a:t>작사 </a:t>
            </a:r>
            <a:r>
              <a:rPr lang="en-US" altLang="ko-KR" sz="700" dirty="0">
                <a:latin typeface="+mn-ea"/>
              </a:rPr>
              <a:t>203</a:t>
            </a:r>
            <a:r>
              <a:rPr lang="ko-KR" altLang="en-US" sz="700" dirty="0">
                <a:latin typeface="+mn-ea"/>
              </a:rPr>
              <a:t>특공여단</a:t>
            </a:r>
            <a:endParaRPr lang="en-US" altLang="ko-KR" sz="700" dirty="0">
              <a:latin typeface="+mn-ea"/>
            </a:endParaRPr>
          </a:p>
          <a:p>
            <a:pPr>
              <a:lnSpc>
                <a:spcPct val="200000"/>
              </a:lnSpc>
            </a:pPr>
            <a:r>
              <a:rPr lang="ko-KR" altLang="en-US" sz="700" dirty="0">
                <a:latin typeface="+mn-ea"/>
              </a:rPr>
              <a:t>육군중앙경리단</a:t>
            </a:r>
            <a:endParaRPr lang="en-US" altLang="ko-KR" sz="700" dirty="0">
              <a:latin typeface="+mn-ea"/>
            </a:endParaRPr>
          </a:p>
          <a:p>
            <a:pPr>
              <a:lnSpc>
                <a:spcPct val="200000"/>
              </a:lnSpc>
            </a:pPr>
            <a:r>
              <a:rPr lang="ko-KR" altLang="en-US" sz="700" dirty="0">
                <a:latin typeface="+mn-ea"/>
              </a:rPr>
              <a:t>육군수사령부</a:t>
            </a:r>
            <a:endParaRPr lang="en-US" altLang="ko-KR" sz="700" dirty="0">
              <a:latin typeface="+mn-ea"/>
            </a:endParaRPr>
          </a:p>
          <a:p>
            <a:pPr>
              <a:lnSpc>
                <a:spcPct val="200000"/>
              </a:lnSpc>
            </a:pPr>
            <a:r>
              <a:rPr lang="ko-KR" altLang="en-US" sz="700" dirty="0">
                <a:latin typeface="+mn-ea"/>
              </a:rPr>
              <a:t>육군교육사령부</a:t>
            </a:r>
            <a:endParaRPr lang="en-US" altLang="ko-KR" sz="700" dirty="0">
              <a:latin typeface="+mn-ea"/>
            </a:endParaRPr>
          </a:p>
          <a:p>
            <a:pPr>
              <a:lnSpc>
                <a:spcPct val="200000"/>
              </a:lnSpc>
            </a:pPr>
            <a:r>
              <a:rPr lang="ko-KR" altLang="en-US" sz="700" dirty="0">
                <a:latin typeface="+mn-ea"/>
              </a:rPr>
              <a:t>육군</a:t>
            </a:r>
            <a:r>
              <a:rPr lang="en-US" altLang="ko-KR" sz="700" dirty="0">
                <a:latin typeface="+mn-ea"/>
              </a:rPr>
              <a:t>3</a:t>
            </a:r>
            <a:r>
              <a:rPr lang="ko-KR" altLang="en-US" sz="700" dirty="0">
                <a:latin typeface="+mn-ea"/>
              </a:rPr>
              <a:t>사관학교</a:t>
            </a:r>
            <a:endParaRPr lang="en-US" altLang="ko-KR" sz="700" dirty="0">
              <a:latin typeface="+mn-ea"/>
            </a:endParaRPr>
          </a:p>
          <a:p>
            <a:pPr>
              <a:lnSpc>
                <a:spcPct val="200000"/>
              </a:lnSpc>
            </a:pPr>
            <a:r>
              <a:rPr lang="ko-KR" altLang="en-US" sz="700" dirty="0">
                <a:latin typeface="+mn-ea"/>
              </a:rPr>
              <a:t>육군공병학교</a:t>
            </a:r>
            <a:endParaRPr lang="en-US" altLang="ko-KR" sz="700" dirty="0">
              <a:latin typeface="+mn-ea"/>
            </a:endParaRPr>
          </a:p>
          <a:p>
            <a:pPr>
              <a:lnSpc>
                <a:spcPct val="200000"/>
              </a:lnSpc>
            </a:pPr>
            <a:r>
              <a:rPr lang="ko-KR" altLang="en-US" sz="700" dirty="0">
                <a:latin typeface="+mn-ea"/>
              </a:rPr>
              <a:t>육군기계화학교</a:t>
            </a:r>
            <a:endParaRPr lang="en-US" altLang="ko-KR" sz="700" dirty="0">
              <a:latin typeface="+mn-ea"/>
            </a:endParaRPr>
          </a:p>
          <a:p>
            <a:pPr>
              <a:lnSpc>
                <a:spcPct val="200000"/>
              </a:lnSpc>
            </a:pPr>
            <a:r>
              <a:rPr lang="ko-KR" altLang="en-US" sz="700" dirty="0">
                <a:latin typeface="+mn-ea"/>
              </a:rPr>
              <a:t>육군대학</a:t>
            </a:r>
            <a:endParaRPr lang="en-US" altLang="ko-KR" sz="700" dirty="0">
              <a:latin typeface="+mn-ea"/>
            </a:endParaRPr>
          </a:p>
          <a:p>
            <a:pPr>
              <a:lnSpc>
                <a:spcPct val="200000"/>
              </a:lnSpc>
            </a:pPr>
            <a:r>
              <a:rPr lang="ko-KR" altLang="en-US" sz="700" dirty="0">
                <a:latin typeface="+mn-ea"/>
              </a:rPr>
              <a:t>육군방공학교</a:t>
            </a:r>
            <a:endParaRPr lang="en-US" altLang="ko-KR" sz="700" dirty="0">
              <a:latin typeface="+mn-ea"/>
            </a:endParaRPr>
          </a:p>
        </p:txBody>
      </p:sp>
      <p:cxnSp>
        <p:nvCxnSpPr>
          <p:cNvPr id="326" name="직선 연결선 325">
            <a:extLst>
              <a:ext uri="{FF2B5EF4-FFF2-40B4-BE49-F238E27FC236}">
                <a16:creationId xmlns:a16="http://schemas.microsoft.com/office/drawing/2014/main" id="{E9293055-D5CD-4B9E-7F64-64B2D2CA7A52}"/>
              </a:ext>
            </a:extLst>
          </p:cNvPr>
          <p:cNvCxnSpPr/>
          <p:nvPr/>
        </p:nvCxnSpPr>
        <p:spPr>
          <a:xfrm>
            <a:off x="3837747" y="42148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7" name="직선 연결선 326">
            <a:extLst>
              <a:ext uri="{FF2B5EF4-FFF2-40B4-BE49-F238E27FC236}">
                <a16:creationId xmlns:a16="http://schemas.microsoft.com/office/drawing/2014/main" id="{E9293055-D5CD-4B9E-7F64-64B2D2CA7A52}"/>
              </a:ext>
            </a:extLst>
          </p:cNvPr>
          <p:cNvCxnSpPr/>
          <p:nvPr/>
        </p:nvCxnSpPr>
        <p:spPr>
          <a:xfrm>
            <a:off x="3837747" y="44285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8" name="직선 연결선 327">
            <a:extLst>
              <a:ext uri="{FF2B5EF4-FFF2-40B4-BE49-F238E27FC236}">
                <a16:creationId xmlns:a16="http://schemas.microsoft.com/office/drawing/2014/main" id="{E9293055-D5CD-4B9E-7F64-64B2D2CA7A52}"/>
              </a:ext>
            </a:extLst>
          </p:cNvPr>
          <p:cNvCxnSpPr/>
          <p:nvPr/>
        </p:nvCxnSpPr>
        <p:spPr>
          <a:xfrm>
            <a:off x="3837747" y="46422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9" name="직선 연결선 328">
            <a:extLst>
              <a:ext uri="{FF2B5EF4-FFF2-40B4-BE49-F238E27FC236}">
                <a16:creationId xmlns:a16="http://schemas.microsoft.com/office/drawing/2014/main" id="{E9293055-D5CD-4B9E-7F64-64B2D2CA7A52}"/>
              </a:ext>
            </a:extLst>
          </p:cNvPr>
          <p:cNvCxnSpPr/>
          <p:nvPr/>
        </p:nvCxnSpPr>
        <p:spPr>
          <a:xfrm>
            <a:off x="3837747" y="48559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0" name="직선 연결선 329">
            <a:extLst>
              <a:ext uri="{FF2B5EF4-FFF2-40B4-BE49-F238E27FC236}">
                <a16:creationId xmlns:a16="http://schemas.microsoft.com/office/drawing/2014/main" id="{E9293055-D5CD-4B9E-7F64-64B2D2CA7A52}"/>
              </a:ext>
            </a:extLst>
          </p:cNvPr>
          <p:cNvCxnSpPr/>
          <p:nvPr/>
        </p:nvCxnSpPr>
        <p:spPr>
          <a:xfrm>
            <a:off x="3837747" y="5069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1" name="직선 연결선 330">
            <a:extLst>
              <a:ext uri="{FF2B5EF4-FFF2-40B4-BE49-F238E27FC236}">
                <a16:creationId xmlns:a16="http://schemas.microsoft.com/office/drawing/2014/main" id="{E9293055-D5CD-4B9E-7F64-64B2D2CA7A52}"/>
              </a:ext>
            </a:extLst>
          </p:cNvPr>
          <p:cNvCxnSpPr/>
          <p:nvPr/>
        </p:nvCxnSpPr>
        <p:spPr>
          <a:xfrm>
            <a:off x="3837747" y="52833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2" name="직선 연결선 331">
            <a:extLst>
              <a:ext uri="{FF2B5EF4-FFF2-40B4-BE49-F238E27FC236}">
                <a16:creationId xmlns:a16="http://schemas.microsoft.com/office/drawing/2014/main" id="{E9293055-D5CD-4B9E-7F64-64B2D2CA7A52}"/>
              </a:ext>
            </a:extLst>
          </p:cNvPr>
          <p:cNvCxnSpPr/>
          <p:nvPr/>
        </p:nvCxnSpPr>
        <p:spPr>
          <a:xfrm>
            <a:off x="3837747" y="54970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3" name="직선 연결선 332">
            <a:extLst>
              <a:ext uri="{FF2B5EF4-FFF2-40B4-BE49-F238E27FC236}">
                <a16:creationId xmlns:a16="http://schemas.microsoft.com/office/drawing/2014/main" id="{E9293055-D5CD-4B9E-7F64-64B2D2CA7A52}"/>
              </a:ext>
            </a:extLst>
          </p:cNvPr>
          <p:cNvCxnSpPr/>
          <p:nvPr/>
        </p:nvCxnSpPr>
        <p:spPr>
          <a:xfrm>
            <a:off x="3837747" y="57107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4" name="직선 연결선 333">
            <a:extLst>
              <a:ext uri="{FF2B5EF4-FFF2-40B4-BE49-F238E27FC236}">
                <a16:creationId xmlns:a16="http://schemas.microsoft.com/office/drawing/2014/main" id="{E9293055-D5CD-4B9E-7F64-64B2D2CA7A52}"/>
              </a:ext>
            </a:extLst>
          </p:cNvPr>
          <p:cNvCxnSpPr/>
          <p:nvPr/>
        </p:nvCxnSpPr>
        <p:spPr>
          <a:xfrm>
            <a:off x="3837747" y="59245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5" name="직선 연결선 334">
            <a:extLst>
              <a:ext uri="{FF2B5EF4-FFF2-40B4-BE49-F238E27FC236}">
                <a16:creationId xmlns:a16="http://schemas.microsoft.com/office/drawing/2014/main" id="{E9293055-D5CD-4B9E-7F64-64B2D2CA7A52}"/>
              </a:ext>
            </a:extLst>
          </p:cNvPr>
          <p:cNvCxnSpPr/>
          <p:nvPr/>
        </p:nvCxnSpPr>
        <p:spPr>
          <a:xfrm>
            <a:off x="3837747" y="61382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6" name="모서리가 둥근 직사각형 335"/>
          <p:cNvSpPr/>
          <p:nvPr/>
        </p:nvSpPr>
        <p:spPr>
          <a:xfrm rot="5400000">
            <a:off x="5782577" y="324678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3" name="타원 152">
            <a:extLst>
              <a:ext uri="{FF2B5EF4-FFF2-40B4-BE49-F238E27FC236}">
                <a16:creationId xmlns:a16="http://schemas.microsoft.com/office/drawing/2014/main" id="{37A7FF4F-0EAA-1463-560A-D5EC24416103}"/>
              </a:ext>
            </a:extLst>
          </p:cNvPr>
          <p:cNvSpPr/>
          <p:nvPr/>
        </p:nvSpPr>
        <p:spPr>
          <a:xfrm>
            <a:off x="573754" y="387148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37" name="직사각형 336">
            <a:extLst>
              <a:ext uri="{FF2B5EF4-FFF2-40B4-BE49-F238E27FC236}">
                <a16:creationId xmlns:a16="http://schemas.microsoft.com/office/drawing/2014/main" id="{F56F1743-11A0-EA94-9184-4E42C0A37F9C}"/>
              </a:ext>
            </a:extLst>
          </p:cNvPr>
          <p:cNvSpPr/>
          <p:nvPr/>
        </p:nvSpPr>
        <p:spPr>
          <a:xfrm>
            <a:off x="677960" y="4506743"/>
            <a:ext cx="2712027" cy="1720420"/>
          </a:xfrm>
          <a:prstGeom prst="rect">
            <a:avLst/>
          </a:prstGeom>
          <a:solidFill>
            <a:schemeClr val="bg1">
              <a:lumMod val="95000"/>
            </a:schemeClr>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ysClr val="windowText" lastClr="000000"/>
                </a:solidFill>
              </a:rPr>
              <a:t>가상 </a:t>
            </a:r>
            <a:r>
              <a:rPr lang="ko-KR" altLang="en-US" dirty="0" err="1">
                <a:solidFill>
                  <a:sysClr val="windowText" lastClr="000000"/>
                </a:solidFill>
              </a:rPr>
              <a:t>키패드</a:t>
            </a:r>
            <a:r>
              <a:rPr lang="ko-KR" altLang="en-US" dirty="0">
                <a:solidFill>
                  <a:sysClr val="windowText" lastClr="000000"/>
                </a:solidFill>
              </a:rPr>
              <a:t> 영역</a:t>
            </a:r>
          </a:p>
        </p:txBody>
      </p:sp>
      <p:sp>
        <p:nvSpPr>
          <p:cNvPr id="338" name="타원 337">
            <a:extLst>
              <a:ext uri="{FF2B5EF4-FFF2-40B4-BE49-F238E27FC236}">
                <a16:creationId xmlns:a16="http://schemas.microsoft.com/office/drawing/2014/main" id="{37A7FF4F-0EAA-1463-560A-D5EC24416103}"/>
              </a:ext>
            </a:extLst>
          </p:cNvPr>
          <p:cNvSpPr/>
          <p:nvPr/>
        </p:nvSpPr>
        <p:spPr>
          <a:xfrm>
            <a:off x="573754" y="419603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39" name="타원 338">
            <a:extLst>
              <a:ext uri="{FF2B5EF4-FFF2-40B4-BE49-F238E27FC236}">
                <a16:creationId xmlns:a16="http://schemas.microsoft.com/office/drawing/2014/main" id="{37A7FF4F-0EAA-1463-560A-D5EC24416103}"/>
              </a:ext>
            </a:extLst>
          </p:cNvPr>
          <p:cNvSpPr/>
          <p:nvPr/>
        </p:nvSpPr>
        <p:spPr>
          <a:xfrm>
            <a:off x="3684579" y="344145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40" name="타원 339">
            <a:extLst>
              <a:ext uri="{FF2B5EF4-FFF2-40B4-BE49-F238E27FC236}">
                <a16:creationId xmlns:a16="http://schemas.microsoft.com/office/drawing/2014/main" id="{37A7FF4F-0EAA-1463-560A-D5EC24416103}"/>
              </a:ext>
            </a:extLst>
          </p:cNvPr>
          <p:cNvSpPr/>
          <p:nvPr/>
        </p:nvSpPr>
        <p:spPr>
          <a:xfrm>
            <a:off x="3684579" y="42038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78" name="모서리가 둥근 직사각형 77"/>
          <p:cNvSpPr/>
          <p:nvPr/>
        </p:nvSpPr>
        <p:spPr>
          <a:xfrm>
            <a:off x="1443878" y="3560849"/>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79" name="TextBox 78">
            <a:extLst>
              <a:ext uri="{FF2B5EF4-FFF2-40B4-BE49-F238E27FC236}">
                <a16:creationId xmlns:a16="http://schemas.microsoft.com/office/drawing/2014/main" id="{FFC49AEA-2A8F-250C-A86A-A7751D9706C3}"/>
              </a:ext>
            </a:extLst>
          </p:cNvPr>
          <p:cNvSpPr txBox="1"/>
          <p:nvPr/>
        </p:nvSpPr>
        <p:spPr>
          <a:xfrm>
            <a:off x="804476" y="3629162"/>
            <a:ext cx="670770" cy="107722"/>
          </a:xfrm>
          <a:prstGeom prst="rect">
            <a:avLst/>
          </a:prstGeom>
          <a:noFill/>
        </p:spPr>
        <p:txBody>
          <a:bodyPr wrap="square" lIns="0" tIns="0" rIns="0" bIns="0" rtlCol="0">
            <a:spAutoFit/>
          </a:bodyPr>
          <a:lstStyle/>
          <a:p>
            <a:r>
              <a:rPr lang="ko-KR" altLang="en-US" sz="700" dirty="0" err="1">
                <a:latin typeface="+mn-ea"/>
              </a:rPr>
              <a:t>기관구분</a:t>
            </a:r>
            <a:endParaRPr lang="en-US" altLang="ko-KR" sz="700" dirty="0">
              <a:latin typeface="+mn-ea"/>
            </a:endParaRPr>
          </a:p>
        </p:txBody>
      </p:sp>
      <p:grpSp>
        <p:nvGrpSpPr>
          <p:cNvPr id="86" name="그룹 85"/>
          <p:cNvGrpSpPr/>
          <p:nvPr/>
        </p:nvGrpSpPr>
        <p:grpSpPr>
          <a:xfrm>
            <a:off x="3112794" y="3666333"/>
            <a:ext cx="91438" cy="45719"/>
            <a:chOff x="6812560" y="3297172"/>
            <a:chExt cx="94010" cy="47005"/>
          </a:xfrm>
        </p:grpSpPr>
        <p:cxnSp>
          <p:nvCxnSpPr>
            <p:cNvPr id="87" name="직선 연결선 8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8" name="직선 연결선 8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8772753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지역명칭</a:t>
            </a:r>
            <a:r>
              <a:rPr lang="ko-KR" altLang="en-US" dirty="0"/>
              <a:t> </a:t>
            </a:r>
            <a:r>
              <a:rPr lang="en-US" altLang="ko-KR" dirty="0"/>
              <a:t>input</a:t>
            </a:r>
            <a:r>
              <a:rPr lang="ko-KR" altLang="en-US" dirty="0"/>
              <a:t>으로 포커스 </a:t>
            </a:r>
            <a:r>
              <a:rPr lang="ko-KR" altLang="en-US" dirty="0" err="1"/>
              <a:t>자동이동</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활성화</a:t>
            </a:r>
            <a:r>
              <a:rPr lang="en-US" altLang="ko-KR" dirty="0"/>
              <a:t/>
            </a:r>
            <a:br>
              <a:rPr lang="en-US" altLang="ko-KR" dirty="0"/>
            </a:br>
            <a:r>
              <a:rPr lang="en-US" altLang="ko-KR" dirty="0"/>
              <a:t>- </a:t>
            </a:r>
            <a:r>
              <a:rPr lang="ko-KR" altLang="en-US" dirty="0"/>
              <a:t>입력이 있는 경우 내용 삭제 아이콘</a:t>
            </a:r>
            <a:endParaRPr lang="en-US" altLang="ko-KR" dirty="0"/>
          </a:p>
          <a:p>
            <a:pPr marL="228600" indent="-228600">
              <a:buFont typeface="+mj-lt"/>
              <a:buAutoNum type="arabicPeriod"/>
            </a:pPr>
            <a:r>
              <a:rPr lang="ko-KR" altLang="en-US" dirty="0"/>
              <a:t>입력 내용 기반 검색</a:t>
            </a:r>
            <a:r>
              <a:rPr lang="en-US" altLang="ko-KR" dirty="0"/>
              <a:t/>
            </a:r>
            <a:br>
              <a:rPr lang="en-US" altLang="ko-KR" dirty="0"/>
            </a:br>
            <a:r>
              <a:rPr lang="en-US" altLang="ko-KR" dirty="0"/>
              <a:t>- Like </a:t>
            </a:r>
            <a:r>
              <a:rPr lang="ko-KR" altLang="en-US" dirty="0"/>
              <a:t>검색</a:t>
            </a:r>
            <a:r>
              <a:rPr lang="en-US" altLang="ko-KR" dirty="0"/>
              <a:t/>
            </a:r>
            <a:br>
              <a:rPr lang="en-US" altLang="ko-KR" dirty="0"/>
            </a:br>
            <a:r>
              <a:rPr lang="en-US" altLang="ko-KR" dirty="0"/>
              <a:t>- </a:t>
            </a:r>
            <a:r>
              <a:rPr lang="ko-KR" altLang="en-US" dirty="0"/>
              <a:t>검색 버튼 클릭 시 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검색 버튼으로 동일 검색 기능 동작</a:t>
            </a:r>
            <a:endParaRPr lang="en-US" altLang="ko-KR" dirty="0"/>
          </a:p>
          <a:p>
            <a:pPr marL="228600" indent="-228600">
              <a:buFont typeface="+mj-lt"/>
              <a:buAutoNum type="arabicPeriod"/>
            </a:pPr>
            <a:r>
              <a:rPr lang="ko-KR" altLang="en-US" dirty="0"/>
              <a:t>검색 결과 표시</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타이틀 영역 제외 스크롤</a:t>
            </a:r>
            <a:endParaRPr lang="en-US" altLang="ko-KR" dirty="0"/>
          </a:p>
          <a:p>
            <a:pPr marL="228600" indent="-228600">
              <a:buFont typeface="+mj-lt"/>
              <a:buAutoNum type="arabicPeriod"/>
            </a:pPr>
            <a:r>
              <a:rPr lang="ko-KR" altLang="en-US" dirty="0"/>
              <a:t>결과 클릭을 통해 검색 필터에 </a:t>
            </a:r>
            <a:r>
              <a:rPr lang="ko-KR" altLang="en-US" dirty="0" err="1"/>
              <a:t>지역명</a:t>
            </a:r>
            <a:r>
              <a:rPr lang="ko-KR" altLang="en-US" dirty="0"/>
              <a:t> 반영</a:t>
            </a:r>
            <a:r>
              <a:rPr lang="en-US" altLang="ko-KR" dirty="0"/>
              <a:t/>
            </a:r>
            <a:br>
              <a:rPr lang="en-US" altLang="ko-KR" dirty="0"/>
            </a:br>
            <a:r>
              <a:rPr lang="en-US" altLang="ko-KR" dirty="0"/>
              <a:t>- </a:t>
            </a:r>
            <a:r>
              <a:rPr lang="ko-KR" altLang="en-US" dirty="0"/>
              <a:t>사용자 선택 시 </a:t>
            </a:r>
            <a:r>
              <a:rPr lang="ko-KR" altLang="en-US" dirty="0" err="1"/>
              <a:t>바텀</a:t>
            </a:r>
            <a:r>
              <a:rPr lang="ko-KR" altLang="en-US" dirty="0"/>
              <a:t> 시트 닫힘</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면허정보</a:t>
            </a:r>
            <a:r>
              <a:rPr lang="ko-KR" altLang="en-US" dirty="0">
                <a:latin typeface="+mn-ea"/>
              </a:rPr>
              <a:t> 검색</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검색 필터에서 </a:t>
            </a:r>
            <a:r>
              <a:rPr lang="ko-KR" altLang="en-US" dirty="0" err="1"/>
              <a:t>면허정보</a:t>
            </a:r>
            <a:r>
              <a:rPr lang="ko-KR" altLang="en-US" dirty="0"/>
              <a:t> 검색을 선택하는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검색 필터 </a:t>
            </a:r>
            <a:r>
              <a:rPr lang="en-US" altLang="ko-KR" dirty="0">
                <a:latin typeface="+mn-ea"/>
              </a:rPr>
              <a:t>&gt; </a:t>
            </a:r>
            <a:r>
              <a:rPr lang="ko-KR" altLang="en-US" dirty="0">
                <a:latin typeface="+mn-ea"/>
              </a:rPr>
              <a:t>면허정보검색</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MUI-BD-01-P05</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279" name="직선 연결선 278">
            <a:extLst>
              <a:ext uri="{FF2B5EF4-FFF2-40B4-BE49-F238E27FC236}">
                <a16:creationId xmlns:a16="http://schemas.microsoft.com/office/drawing/2014/main" id="{E9293055-D5CD-4B9E-7F64-64B2D2CA7A52}"/>
              </a:ext>
            </a:extLst>
          </p:cNvPr>
          <p:cNvCxnSpPr/>
          <p:nvPr/>
        </p:nvCxnSpPr>
        <p:spPr>
          <a:xfrm>
            <a:off x="3795734"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82" name="그룹 281"/>
          <p:cNvGrpSpPr/>
          <p:nvPr/>
        </p:nvGrpSpPr>
        <p:grpSpPr>
          <a:xfrm>
            <a:off x="6258712" y="1650089"/>
            <a:ext cx="94010" cy="94010"/>
            <a:chOff x="6812560" y="3297172"/>
            <a:chExt cx="94010" cy="94010"/>
          </a:xfrm>
        </p:grpSpPr>
        <p:cxnSp>
          <p:nvCxnSpPr>
            <p:cNvPr id="286" name="직선 연결선 28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87" name="직선 연결선 28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88" name="타원 287"/>
          <p:cNvSpPr/>
          <p:nvPr/>
        </p:nvSpPr>
        <p:spPr>
          <a:xfrm>
            <a:off x="5893434"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4" name="TextBox 293">
            <a:extLst>
              <a:ext uri="{FF2B5EF4-FFF2-40B4-BE49-F238E27FC236}">
                <a16:creationId xmlns:a16="http://schemas.microsoft.com/office/drawing/2014/main" id="{FFC49AEA-2A8F-250C-A86A-A7751D9706C3}"/>
              </a:ext>
            </a:extLst>
          </p:cNvPr>
          <p:cNvSpPr txBox="1"/>
          <p:nvPr/>
        </p:nvSpPr>
        <p:spPr>
          <a:xfrm>
            <a:off x="3898850"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295" name="TextBox 294">
            <a:extLst>
              <a:ext uri="{FF2B5EF4-FFF2-40B4-BE49-F238E27FC236}">
                <a16:creationId xmlns:a16="http://schemas.microsoft.com/office/drawing/2014/main" id="{FFC49AEA-2A8F-250C-A86A-A7751D9706C3}"/>
              </a:ext>
            </a:extLst>
          </p:cNvPr>
          <p:cNvSpPr txBox="1"/>
          <p:nvPr/>
        </p:nvSpPr>
        <p:spPr>
          <a:xfrm>
            <a:off x="5567792"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err="1">
                <a:latin typeface="+mn-ea"/>
              </a:rPr>
              <a:t>면허정보</a:t>
            </a:r>
            <a:r>
              <a:rPr lang="ko-KR" altLang="en-US" sz="900" dirty="0">
                <a:latin typeface="+mn-ea"/>
              </a:rPr>
              <a:t> 검색</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7" name="모서리가 둥근 직사각형 306"/>
          <p:cNvSpPr/>
          <p:nvPr/>
        </p:nvSpPr>
        <p:spPr>
          <a:xfrm>
            <a:off x="4564213" y="2653963"/>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식품</a:t>
            </a:r>
          </a:p>
        </p:txBody>
      </p:sp>
      <p:sp>
        <p:nvSpPr>
          <p:cNvPr id="308" name="TextBox 307">
            <a:extLst>
              <a:ext uri="{FF2B5EF4-FFF2-40B4-BE49-F238E27FC236}">
                <a16:creationId xmlns:a16="http://schemas.microsoft.com/office/drawing/2014/main" id="{FFC49AEA-2A8F-250C-A86A-A7751D9706C3}"/>
              </a:ext>
            </a:extLst>
          </p:cNvPr>
          <p:cNvSpPr txBox="1"/>
          <p:nvPr/>
        </p:nvSpPr>
        <p:spPr>
          <a:xfrm>
            <a:off x="3924811" y="2722276"/>
            <a:ext cx="670770" cy="107722"/>
          </a:xfrm>
          <a:prstGeom prst="rect">
            <a:avLst/>
          </a:prstGeom>
          <a:noFill/>
        </p:spPr>
        <p:txBody>
          <a:bodyPr wrap="square" lIns="0" tIns="0" rIns="0" bIns="0" rtlCol="0">
            <a:spAutoFit/>
          </a:bodyPr>
          <a:lstStyle/>
          <a:p>
            <a:r>
              <a:rPr lang="ko-KR" altLang="en-US" sz="700" dirty="0">
                <a:latin typeface="+mn-ea"/>
              </a:rPr>
              <a:t>입력</a:t>
            </a:r>
            <a:endParaRPr lang="en-US" altLang="ko-KR" sz="700" dirty="0">
              <a:latin typeface="+mn-ea"/>
            </a:endParaRPr>
          </a:p>
        </p:txBody>
      </p:sp>
      <p:sp>
        <p:nvSpPr>
          <p:cNvPr id="309" name="사각형: 둥근 모서리 15">
            <a:extLst>
              <a:ext uri="{FF2B5EF4-FFF2-40B4-BE49-F238E27FC236}">
                <a16:creationId xmlns:a16="http://schemas.microsoft.com/office/drawing/2014/main" id="{E2B61CFB-AD16-68D0-8752-50D9C5E01971}"/>
              </a:ext>
            </a:extLst>
          </p:cNvPr>
          <p:cNvSpPr/>
          <p:nvPr/>
        </p:nvSpPr>
        <p:spPr>
          <a:xfrm>
            <a:off x="3888037" y="2987678"/>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5" name="양쪽 모서리가 둥근 사각형 4"/>
          <p:cNvSpPr/>
          <p:nvPr/>
        </p:nvSpPr>
        <p:spPr>
          <a:xfrm>
            <a:off x="675399"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3182696"/>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3163375"/>
            <a:ext cx="1798758" cy="138499"/>
          </a:xfrm>
          <a:prstGeom prst="rect">
            <a:avLst/>
          </a:prstGeom>
          <a:noFill/>
        </p:spPr>
        <p:txBody>
          <a:bodyPr wrap="square" lIns="0" tIns="0" rIns="0" bIns="0" rtlCol="0">
            <a:spAutoFit/>
          </a:bodyPr>
          <a:lstStyle/>
          <a:p>
            <a:r>
              <a:rPr lang="ko-KR" altLang="en-US" sz="900" dirty="0" err="1">
                <a:latin typeface="+mn-ea"/>
              </a:rPr>
              <a:t>면허정보</a:t>
            </a:r>
            <a:r>
              <a:rPr lang="ko-KR" altLang="en-US" sz="900" dirty="0">
                <a:latin typeface="+mn-ea"/>
              </a:rPr>
              <a:t> 검색</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모서리가 둥근 직사각형 168"/>
          <p:cNvSpPr/>
          <p:nvPr/>
        </p:nvSpPr>
        <p:spPr>
          <a:xfrm>
            <a:off x="1443878" y="3862324"/>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정보를</a:t>
            </a:r>
            <a:r>
              <a:rPr lang="ko-KR" altLang="en-US" sz="700" dirty="0">
                <a:solidFill>
                  <a:schemeClr val="tx1"/>
                </a:solidFill>
              </a:rPr>
              <a:t> </a:t>
            </a:r>
            <a:r>
              <a:rPr lang="ko-KR" altLang="en-US" sz="700" dirty="0">
                <a:solidFill>
                  <a:schemeClr val="bg1">
                    <a:lumMod val="65000"/>
                  </a:schemeClr>
                </a:solidFill>
              </a:rPr>
              <a:t>입력해주세요</a:t>
            </a:r>
            <a:r>
              <a:rPr lang="en-US" altLang="ko-KR" sz="700" dirty="0">
                <a:solidFill>
                  <a:schemeClr val="tx1"/>
                </a:solidFill>
              </a:rPr>
              <a:t>.</a:t>
            </a:r>
            <a:endParaRPr lang="ko-KR" altLang="en-US" sz="700" dirty="0">
              <a:solidFill>
                <a:schemeClr val="tx1"/>
              </a:solidFill>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804476" y="3930637"/>
            <a:ext cx="670770" cy="107722"/>
          </a:xfrm>
          <a:prstGeom prst="rect">
            <a:avLst/>
          </a:prstGeom>
          <a:noFill/>
        </p:spPr>
        <p:txBody>
          <a:bodyPr wrap="square" lIns="0" tIns="0" rIns="0" bIns="0" rtlCol="0">
            <a:spAutoFit/>
          </a:bodyPr>
          <a:lstStyle/>
          <a:p>
            <a:r>
              <a:rPr lang="ko-KR" altLang="en-US" sz="700" dirty="0">
                <a:latin typeface="+mn-ea"/>
              </a:rPr>
              <a:t>입력</a:t>
            </a:r>
            <a:endParaRPr lang="en-US" altLang="ko-KR" sz="700" dirty="0">
              <a:latin typeface="+mn-ea"/>
            </a:endParaRPr>
          </a:p>
        </p:txBody>
      </p:sp>
      <p:sp>
        <p:nvSpPr>
          <p:cNvPr id="177" name="사각형: 둥근 모서리 15">
            <a:extLst>
              <a:ext uri="{FF2B5EF4-FFF2-40B4-BE49-F238E27FC236}">
                <a16:creationId xmlns:a16="http://schemas.microsoft.com/office/drawing/2014/main" id="{E2B61CFB-AD16-68D0-8752-50D9C5E01971}"/>
              </a:ext>
            </a:extLst>
          </p:cNvPr>
          <p:cNvSpPr/>
          <p:nvPr/>
        </p:nvSpPr>
        <p:spPr>
          <a:xfrm>
            <a:off x="767702" y="4196039"/>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3" name="그룹 2"/>
          <p:cNvGrpSpPr/>
          <p:nvPr/>
        </p:nvGrpSpPr>
        <p:grpSpPr>
          <a:xfrm>
            <a:off x="3112794" y="3900610"/>
            <a:ext cx="145884" cy="145882"/>
            <a:chOff x="3112794" y="3984500"/>
            <a:chExt cx="145884" cy="145882"/>
          </a:xfrm>
        </p:grpSpPr>
        <p:sp>
          <p:nvSpPr>
            <p:cNvPr id="310" name="타원 309"/>
            <p:cNvSpPr/>
            <p:nvPr/>
          </p:nvSpPr>
          <p:spPr>
            <a:xfrm>
              <a:off x="3112794" y="3984500"/>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1" name="그룹 310"/>
            <p:cNvGrpSpPr/>
            <p:nvPr/>
          </p:nvGrpSpPr>
          <p:grpSpPr>
            <a:xfrm>
              <a:off x="3156699" y="4028404"/>
              <a:ext cx="58075" cy="58074"/>
              <a:chOff x="6812560" y="3297172"/>
              <a:chExt cx="94010" cy="94010"/>
            </a:xfrm>
          </p:grpSpPr>
          <p:cxnSp>
            <p:nvCxnSpPr>
              <p:cNvPr id="312" name="직선 연결선 31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3" name="직선 연결선 31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sp>
        <p:nvSpPr>
          <p:cNvPr id="314" name="타원 313"/>
          <p:cNvSpPr/>
          <p:nvPr/>
        </p:nvSpPr>
        <p:spPr>
          <a:xfrm>
            <a:off x="6240768" y="2696784"/>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5" name="그룹 314"/>
          <p:cNvGrpSpPr/>
          <p:nvPr/>
        </p:nvGrpSpPr>
        <p:grpSpPr>
          <a:xfrm>
            <a:off x="6284673" y="2740688"/>
            <a:ext cx="58075" cy="58074"/>
            <a:chOff x="6812560" y="3297172"/>
            <a:chExt cx="94010" cy="94010"/>
          </a:xfrm>
        </p:grpSpPr>
        <p:cxnSp>
          <p:nvCxnSpPr>
            <p:cNvPr id="316" name="직선 연결선 31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7" name="직선 연결선 31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cxnSp>
        <p:nvCxnSpPr>
          <p:cNvPr id="318" name="직선 연결선 317">
            <a:extLst>
              <a:ext uri="{FF2B5EF4-FFF2-40B4-BE49-F238E27FC236}">
                <a16:creationId xmlns:a16="http://schemas.microsoft.com/office/drawing/2014/main" id="{E9293055-D5CD-4B9E-7F64-64B2D2CA7A52}"/>
              </a:ext>
            </a:extLst>
          </p:cNvPr>
          <p:cNvCxnSpPr/>
          <p:nvPr/>
        </p:nvCxnSpPr>
        <p:spPr>
          <a:xfrm>
            <a:off x="3795734" y="33710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9" name="TextBox 318">
            <a:extLst>
              <a:ext uri="{FF2B5EF4-FFF2-40B4-BE49-F238E27FC236}">
                <a16:creationId xmlns:a16="http://schemas.microsoft.com/office/drawing/2014/main" id="{FFC49AEA-2A8F-250C-A86A-A7751D9706C3}"/>
              </a:ext>
            </a:extLst>
          </p:cNvPr>
          <p:cNvSpPr txBox="1"/>
          <p:nvPr/>
        </p:nvSpPr>
        <p:spPr>
          <a:xfrm>
            <a:off x="3924811" y="3478112"/>
            <a:ext cx="670770" cy="107722"/>
          </a:xfrm>
          <a:prstGeom prst="rect">
            <a:avLst/>
          </a:prstGeom>
          <a:noFill/>
        </p:spPr>
        <p:txBody>
          <a:bodyPr wrap="square" lIns="0" tIns="0" rIns="0" bIns="0" rtlCol="0">
            <a:spAutoFit/>
          </a:bodyPr>
          <a:lstStyle/>
          <a:p>
            <a:r>
              <a:rPr lang="ko-KR" altLang="en-US" sz="700" dirty="0">
                <a:latin typeface="+mn-ea"/>
              </a:rPr>
              <a:t>총 </a:t>
            </a:r>
            <a:r>
              <a:rPr lang="en-US" altLang="ko-KR" sz="700" dirty="0">
                <a:solidFill>
                  <a:srgbClr val="0070C0"/>
                </a:solidFill>
                <a:latin typeface="+mn-ea"/>
              </a:rPr>
              <a:t>000</a:t>
            </a:r>
            <a:r>
              <a:rPr lang="ko-KR" altLang="en-US" sz="700" dirty="0">
                <a:latin typeface="+mn-ea"/>
              </a:rPr>
              <a:t>건</a:t>
            </a:r>
            <a:endParaRPr lang="en-US" altLang="ko-KR" sz="700" dirty="0">
              <a:latin typeface="+mn-ea"/>
            </a:endParaRPr>
          </a:p>
        </p:txBody>
      </p:sp>
      <p:sp>
        <p:nvSpPr>
          <p:cNvPr id="320" name="TextBox 319">
            <a:extLst>
              <a:ext uri="{FF2B5EF4-FFF2-40B4-BE49-F238E27FC236}">
                <a16:creationId xmlns:a16="http://schemas.microsoft.com/office/drawing/2014/main" id="{FFC49AEA-2A8F-250C-A86A-A7751D9706C3}"/>
              </a:ext>
            </a:extLst>
          </p:cNvPr>
          <p:cNvSpPr txBox="1"/>
          <p:nvPr/>
        </p:nvSpPr>
        <p:spPr>
          <a:xfrm>
            <a:off x="3924811" y="3766913"/>
            <a:ext cx="670770" cy="107722"/>
          </a:xfrm>
          <a:prstGeom prst="rect">
            <a:avLst/>
          </a:prstGeom>
          <a:noFill/>
        </p:spPr>
        <p:txBody>
          <a:bodyPr wrap="square" lIns="0" tIns="0" rIns="0" bIns="0" rtlCol="0">
            <a:spAutoFit/>
          </a:bodyPr>
          <a:lstStyle/>
          <a:p>
            <a:r>
              <a:rPr lang="ko-KR" altLang="en-US" sz="700" b="1" dirty="0" err="1">
                <a:latin typeface="+mn-ea"/>
              </a:rPr>
              <a:t>면허코드</a:t>
            </a:r>
            <a:endParaRPr lang="en-US" altLang="ko-KR" sz="700" b="1" dirty="0">
              <a:latin typeface="+mn-ea"/>
            </a:endParaRPr>
          </a:p>
        </p:txBody>
      </p:sp>
      <p:sp>
        <p:nvSpPr>
          <p:cNvPr id="321" name="TextBox 320">
            <a:extLst>
              <a:ext uri="{FF2B5EF4-FFF2-40B4-BE49-F238E27FC236}">
                <a16:creationId xmlns:a16="http://schemas.microsoft.com/office/drawing/2014/main" id="{FFC49AEA-2A8F-250C-A86A-A7751D9706C3}"/>
              </a:ext>
            </a:extLst>
          </p:cNvPr>
          <p:cNvSpPr txBox="1"/>
          <p:nvPr/>
        </p:nvSpPr>
        <p:spPr>
          <a:xfrm>
            <a:off x="4564213" y="3766913"/>
            <a:ext cx="670770" cy="107722"/>
          </a:xfrm>
          <a:prstGeom prst="rect">
            <a:avLst/>
          </a:prstGeom>
          <a:noFill/>
        </p:spPr>
        <p:txBody>
          <a:bodyPr wrap="square" lIns="0" tIns="0" rIns="0" bIns="0" rtlCol="0">
            <a:spAutoFit/>
          </a:bodyPr>
          <a:lstStyle/>
          <a:p>
            <a:r>
              <a:rPr lang="ko-KR" altLang="en-US" sz="700" b="1" dirty="0" err="1">
                <a:latin typeface="+mn-ea"/>
              </a:rPr>
              <a:t>면허정보명</a:t>
            </a:r>
            <a:endParaRPr lang="en-US" altLang="ko-KR" sz="700" b="1" dirty="0">
              <a:latin typeface="+mn-ea"/>
            </a:endParaRPr>
          </a:p>
        </p:txBody>
      </p:sp>
      <p:cxnSp>
        <p:nvCxnSpPr>
          <p:cNvPr id="322" name="직선 연결선 321">
            <a:extLst>
              <a:ext uri="{FF2B5EF4-FFF2-40B4-BE49-F238E27FC236}">
                <a16:creationId xmlns:a16="http://schemas.microsoft.com/office/drawing/2014/main" id="{E9293055-D5CD-4B9E-7F64-64B2D2CA7A52}"/>
              </a:ext>
            </a:extLst>
          </p:cNvPr>
          <p:cNvCxnSpPr/>
          <p:nvPr/>
        </p:nvCxnSpPr>
        <p:spPr>
          <a:xfrm>
            <a:off x="3795734" y="365365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3" name="직선 연결선 322">
            <a:extLst>
              <a:ext uri="{FF2B5EF4-FFF2-40B4-BE49-F238E27FC236}">
                <a16:creationId xmlns:a16="http://schemas.microsoft.com/office/drawing/2014/main" id="{E9293055-D5CD-4B9E-7F64-64B2D2CA7A52}"/>
              </a:ext>
            </a:extLst>
          </p:cNvPr>
          <p:cNvCxnSpPr/>
          <p:nvPr/>
        </p:nvCxnSpPr>
        <p:spPr>
          <a:xfrm>
            <a:off x="3795734" y="39723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4" name="TextBox 323">
            <a:extLst>
              <a:ext uri="{FF2B5EF4-FFF2-40B4-BE49-F238E27FC236}">
                <a16:creationId xmlns:a16="http://schemas.microsoft.com/office/drawing/2014/main" id="{FFC49AEA-2A8F-250C-A86A-A7751D9706C3}"/>
              </a:ext>
            </a:extLst>
          </p:cNvPr>
          <p:cNvSpPr txBox="1"/>
          <p:nvPr/>
        </p:nvSpPr>
        <p:spPr>
          <a:xfrm>
            <a:off x="3924811" y="3983744"/>
            <a:ext cx="670770" cy="2154436"/>
          </a:xfrm>
          <a:prstGeom prst="rect">
            <a:avLst/>
          </a:prstGeom>
          <a:noFill/>
        </p:spPr>
        <p:txBody>
          <a:bodyPr wrap="square" lIns="0" tIns="0" rIns="0" bIns="0" rtlCol="0">
            <a:spAutoFit/>
          </a:bodyPr>
          <a:lstStyle/>
          <a:p>
            <a:pPr>
              <a:lnSpc>
                <a:spcPct val="200000"/>
              </a:lnSpc>
            </a:pPr>
            <a:r>
              <a:rPr lang="en-US" altLang="ko-KR" sz="700" dirty="0">
                <a:latin typeface="+mn-ea"/>
              </a:rPr>
              <a:t>1399</a:t>
            </a:r>
          </a:p>
          <a:p>
            <a:pPr>
              <a:lnSpc>
                <a:spcPct val="200000"/>
              </a:lnSpc>
            </a:pPr>
            <a:r>
              <a:rPr lang="en-US" altLang="ko-KR" sz="700" dirty="0">
                <a:latin typeface="+mn-ea"/>
              </a:rPr>
              <a:t>8203</a:t>
            </a:r>
          </a:p>
          <a:p>
            <a:pPr>
              <a:lnSpc>
                <a:spcPct val="200000"/>
              </a:lnSpc>
            </a:pPr>
            <a:r>
              <a:rPr lang="en-US" altLang="ko-KR" sz="700" dirty="0">
                <a:latin typeface="+mn-ea"/>
              </a:rPr>
              <a:t>3975</a:t>
            </a:r>
          </a:p>
          <a:p>
            <a:pPr>
              <a:lnSpc>
                <a:spcPct val="200000"/>
              </a:lnSpc>
            </a:pPr>
            <a:r>
              <a:rPr lang="en-US" altLang="ko-KR" sz="700" dirty="0">
                <a:latin typeface="+mn-ea"/>
              </a:rPr>
              <a:t>1450</a:t>
            </a:r>
          </a:p>
          <a:p>
            <a:pPr>
              <a:lnSpc>
                <a:spcPct val="200000"/>
              </a:lnSpc>
            </a:pPr>
            <a:r>
              <a:rPr lang="en-US" altLang="ko-KR" sz="700" dirty="0">
                <a:latin typeface="+mn-ea"/>
              </a:rPr>
              <a:t>3934</a:t>
            </a:r>
          </a:p>
          <a:p>
            <a:pPr>
              <a:lnSpc>
                <a:spcPct val="200000"/>
              </a:lnSpc>
            </a:pPr>
            <a:r>
              <a:rPr lang="en-US" altLang="ko-KR" sz="700" dirty="0">
                <a:latin typeface="+mn-ea"/>
              </a:rPr>
              <a:t>3972</a:t>
            </a:r>
          </a:p>
          <a:p>
            <a:pPr>
              <a:lnSpc>
                <a:spcPct val="200000"/>
              </a:lnSpc>
            </a:pPr>
            <a:r>
              <a:rPr lang="en-US" altLang="ko-KR" sz="700" dirty="0">
                <a:latin typeface="+mn-ea"/>
              </a:rPr>
              <a:t>3973</a:t>
            </a:r>
          </a:p>
          <a:p>
            <a:pPr>
              <a:lnSpc>
                <a:spcPct val="200000"/>
              </a:lnSpc>
            </a:pPr>
            <a:r>
              <a:rPr lang="en-US" altLang="ko-KR" sz="700" dirty="0">
                <a:latin typeface="+mn-ea"/>
              </a:rPr>
              <a:t>3974</a:t>
            </a:r>
          </a:p>
          <a:p>
            <a:pPr>
              <a:lnSpc>
                <a:spcPct val="200000"/>
              </a:lnSpc>
            </a:pPr>
            <a:r>
              <a:rPr lang="en-US" altLang="ko-KR" sz="700" dirty="0">
                <a:latin typeface="+mn-ea"/>
              </a:rPr>
              <a:t>3976</a:t>
            </a:r>
          </a:p>
          <a:p>
            <a:pPr>
              <a:lnSpc>
                <a:spcPct val="200000"/>
              </a:lnSpc>
            </a:pPr>
            <a:r>
              <a:rPr lang="en-US" altLang="ko-KR" sz="700" dirty="0">
                <a:latin typeface="+mn-ea"/>
              </a:rPr>
              <a:t>5201</a:t>
            </a:r>
          </a:p>
        </p:txBody>
      </p:sp>
      <p:sp>
        <p:nvSpPr>
          <p:cNvPr id="325" name="TextBox 324">
            <a:extLst>
              <a:ext uri="{FF2B5EF4-FFF2-40B4-BE49-F238E27FC236}">
                <a16:creationId xmlns:a16="http://schemas.microsoft.com/office/drawing/2014/main" id="{FFC49AEA-2A8F-250C-A86A-A7751D9706C3}"/>
              </a:ext>
            </a:extLst>
          </p:cNvPr>
          <p:cNvSpPr txBox="1"/>
          <p:nvPr/>
        </p:nvSpPr>
        <p:spPr>
          <a:xfrm>
            <a:off x="4564213" y="3983744"/>
            <a:ext cx="1814470" cy="2154436"/>
          </a:xfrm>
          <a:prstGeom prst="rect">
            <a:avLst/>
          </a:prstGeom>
          <a:noFill/>
        </p:spPr>
        <p:txBody>
          <a:bodyPr wrap="square" lIns="0" tIns="0" rIns="0" bIns="0" rtlCol="0">
            <a:spAutoFit/>
          </a:bodyPr>
          <a:lstStyle/>
          <a:p>
            <a:pPr>
              <a:lnSpc>
                <a:spcPct val="200000"/>
              </a:lnSpc>
            </a:pPr>
            <a:r>
              <a:rPr lang="ko-KR" altLang="en-US" sz="700" dirty="0">
                <a:latin typeface="+mn-ea"/>
              </a:rPr>
              <a:t>식품제조 가공업</a:t>
            </a:r>
            <a:endParaRPr lang="en-US" altLang="ko-KR" sz="700" dirty="0">
              <a:latin typeface="+mn-ea"/>
            </a:endParaRPr>
          </a:p>
          <a:p>
            <a:pPr>
              <a:lnSpc>
                <a:spcPct val="200000"/>
              </a:lnSpc>
            </a:pPr>
            <a:r>
              <a:rPr lang="ko-KR" altLang="en-US" sz="700" dirty="0">
                <a:latin typeface="+mn-ea"/>
              </a:rPr>
              <a:t>식품 등 시험검사기관 </a:t>
            </a:r>
            <a:r>
              <a:rPr lang="en-US" altLang="ko-KR" sz="700" dirty="0">
                <a:latin typeface="+mn-ea"/>
              </a:rPr>
              <a:t>(</a:t>
            </a:r>
            <a:r>
              <a:rPr lang="ko-KR" altLang="en-US" sz="700" dirty="0">
                <a:latin typeface="+mn-ea"/>
              </a:rPr>
              <a:t>식품안전관리인증검사</a:t>
            </a:r>
            <a:r>
              <a:rPr lang="en-US" altLang="ko-KR" sz="700" dirty="0">
                <a:latin typeface="+mn-ea"/>
              </a:rPr>
              <a:t>)</a:t>
            </a:r>
          </a:p>
          <a:p>
            <a:pPr>
              <a:lnSpc>
                <a:spcPct val="200000"/>
              </a:lnSpc>
            </a:pPr>
            <a:r>
              <a:rPr lang="ko-KR" altLang="en-US" sz="700" dirty="0">
                <a:latin typeface="+mn-ea"/>
              </a:rPr>
              <a:t>우수식품인증기관 </a:t>
            </a:r>
            <a:r>
              <a:rPr lang="en-US" altLang="ko-KR" sz="700" dirty="0">
                <a:latin typeface="+mn-ea"/>
              </a:rPr>
              <a:t>(</a:t>
            </a:r>
            <a:r>
              <a:rPr lang="ko-KR" altLang="en-US" sz="700" dirty="0">
                <a:latin typeface="+mn-ea"/>
              </a:rPr>
              <a:t>전통식품품질인증</a:t>
            </a:r>
            <a:r>
              <a:rPr lang="en-US" altLang="ko-KR" sz="700" dirty="0">
                <a:latin typeface="+mn-ea"/>
              </a:rPr>
              <a:t>)</a:t>
            </a:r>
          </a:p>
          <a:p>
            <a:pPr>
              <a:lnSpc>
                <a:spcPct val="200000"/>
              </a:lnSpc>
            </a:pPr>
            <a:r>
              <a:rPr lang="ko-KR" altLang="en-US" sz="700" dirty="0" err="1">
                <a:latin typeface="+mn-ea"/>
              </a:rPr>
              <a:t>식품접객업</a:t>
            </a:r>
            <a:r>
              <a:rPr lang="ko-KR" altLang="en-US" sz="700" dirty="0">
                <a:latin typeface="+mn-ea"/>
              </a:rPr>
              <a:t> </a:t>
            </a:r>
            <a:r>
              <a:rPr lang="en-US" altLang="ko-KR" sz="700" dirty="0">
                <a:latin typeface="+mn-ea"/>
              </a:rPr>
              <a:t>(</a:t>
            </a:r>
            <a:r>
              <a:rPr lang="ko-KR" altLang="en-US" sz="700" dirty="0" err="1">
                <a:latin typeface="+mn-ea"/>
              </a:rPr>
              <a:t>위탁급식업</a:t>
            </a:r>
            <a:r>
              <a:rPr lang="en-US" altLang="ko-KR" sz="700" dirty="0">
                <a:latin typeface="+mn-ea"/>
              </a:rPr>
              <a:t>)</a:t>
            </a:r>
          </a:p>
          <a:p>
            <a:pPr>
              <a:lnSpc>
                <a:spcPct val="200000"/>
              </a:lnSpc>
            </a:pPr>
            <a:r>
              <a:rPr lang="ko-KR" altLang="en-US" sz="700" dirty="0" err="1">
                <a:latin typeface="+mn-ea"/>
              </a:rPr>
              <a:t>유기식품등</a:t>
            </a:r>
            <a:r>
              <a:rPr lang="ko-KR" altLang="en-US" sz="700" dirty="0">
                <a:latin typeface="+mn-ea"/>
              </a:rPr>
              <a:t> 인증기관</a:t>
            </a:r>
            <a:endParaRPr lang="en-US" altLang="ko-KR" sz="700" dirty="0">
              <a:latin typeface="+mn-ea"/>
            </a:endParaRPr>
          </a:p>
          <a:p>
            <a:pPr>
              <a:lnSpc>
                <a:spcPct val="200000"/>
              </a:lnSpc>
            </a:pPr>
            <a:r>
              <a:rPr lang="ko-KR" altLang="en-US" sz="700" dirty="0">
                <a:latin typeface="+mn-ea"/>
              </a:rPr>
              <a:t>식품산업전문인력양성기관</a:t>
            </a:r>
            <a:endParaRPr lang="en-US" altLang="ko-KR" sz="700" dirty="0">
              <a:latin typeface="+mn-ea"/>
            </a:endParaRPr>
          </a:p>
          <a:p>
            <a:pPr>
              <a:lnSpc>
                <a:spcPct val="200000"/>
              </a:lnSpc>
            </a:pPr>
            <a:r>
              <a:rPr lang="ko-KR" altLang="en-US" sz="700" dirty="0" err="1">
                <a:latin typeface="+mn-ea"/>
              </a:rPr>
              <a:t>식품성분</a:t>
            </a:r>
            <a:r>
              <a:rPr lang="ko-KR" altLang="en-US" sz="700" dirty="0">
                <a:latin typeface="+mn-ea"/>
              </a:rPr>
              <a:t> 조사 연구기관</a:t>
            </a:r>
            <a:endParaRPr lang="en-US" altLang="ko-KR" sz="700" dirty="0">
              <a:latin typeface="+mn-ea"/>
            </a:endParaRPr>
          </a:p>
          <a:p>
            <a:pPr>
              <a:lnSpc>
                <a:spcPct val="200000"/>
              </a:lnSpc>
            </a:pPr>
            <a:r>
              <a:rPr lang="ko-KR" altLang="en-US" sz="700" dirty="0">
                <a:latin typeface="+mn-ea"/>
              </a:rPr>
              <a:t>우수식품인증기관</a:t>
            </a:r>
            <a:r>
              <a:rPr lang="en-US" altLang="ko-KR" sz="700" dirty="0">
                <a:latin typeface="+mn-ea"/>
              </a:rPr>
              <a:t>(</a:t>
            </a:r>
            <a:r>
              <a:rPr lang="ko-KR" altLang="en-US" sz="700" dirty="0">
                <a:latin typeface="+mn-ea"/>
              </a:rPr>
              <a:t>식품산업표준인증</a:t>
            </a:r>
            <a:r>
              <a:rPr lang="en-US" altLang="ko-KR" sz="700" dirty="0">
                <a:latin typeface="+mn-ea"/>
              </a:rPr>
              <a:t>)</a:t>
            </a:r>
          </a:p>
          <a:p>
            <a:pPr>
              <a:lnSpc>
                <a:spcPct val="200000"/>
              </a:lnSpc>
            </a:pPr>
            <a:r>
              <a:rPr lang="ko-KR" altLang="en-US" sz="700" dirty="0">
                <a:latin typeface="+mn-ea"/>
              </a:rPr>
              <a:t>우수식품인증기관</a:t>
            </a:r>
            <a:r>
              <a:rPr lang="en-US" altLang="ko-KR" sz="700" dirty="0">
                <a:latin typeface="+mn-ea"/>
              </a:rPr>
              <a:t>(</a:t>
            </a:r>
            <a:r>
              <a:rPr lang="ko-KR" altLang="en-US" sz="700" dirty="0">
                <a:latin typeface="+mn-ea"/>
              </a:rPr>
              <a:t>유기가공식품인증</a:t>
            </a:r>
            <a:r>
              <a:rPr lang="en-US" altLang="ko-KR" sz="700" dirty="0">
                <a:latin typeface="+mn-ea"/>
              </a:rPr>
              <a:t>)</a:t>
            </a:r>
          </a:p>
          <a:p>
            <a:pPr>
              <a:lnSpc>
                <a:spcPct val="200000"/>
              </a:lnSpc>
            </a:pPr>
            <a:r>
              <a:rPr lang="ko-KR" altLang="en-US" sz="700" dirty="0">
                <a:latin typeface="+mn-ea"/>
              </a:rPr>
              <a:t>식품 즉석판매제조 가공업</a:t>
            </a:r>
            <a:endParaRPr lang="en-US" altLang="ko-KR" sz="700" dirty="0">
              <a:latin typeface="+mn-ea"/>
            </a:endParaRPr>
          </a:p>
        </p:txBody>
      </p:sp>
      <p:cxnSp>
        <p:nvCxnSpPr>
          <p:cNvPr id="326" name="직선 연결선 325">
            <a:extLst>
              <a:ext uri="{FF2B5EF4-FFF2-40B4-BE49-F238E27FC236}">
                <a16:creationId xmlns:a16="http://schemas.microsoft.com/office/drawing/2014/main" id="{E9293055-D5CD-4B9E-7F64-64B2D2CA7A52}"/>
              </a:ext>
            </a:extLst>
          </p:cNvPr>
          <p:cNvCxnSpPr/>
          <p:nvPr/>
        </p:nvCxnSpPr>
        <p:spPr>
          <a:xfrm>
            <a:off x="3837747" y="42148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7" name="직선 연결선 326">
            <a:extLst>
              <a:ext uri="{FF2B5EF4-FFF2-40B4-BE49-F238E27FC236}">
                <a16:creationId xmlns:a16="http://schemas.microsoft.com/office/drawing/2014/main" id="{E9293055-D5CD-4B9E-7F64-64B2D2CA7A52}"/>
              </a:ext>
            </a:extLst>
          </p:cNvPr>
          <p:cNvCxnSpPr/>
          <p:nvPr/>
        </p:nvCxnSpPr>
        <p:spPr>
          <a:xfrm>
            <a:off x="3837747" y="44285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8" name="직선 연결선 327">
            <a:extLst>
              <a:ext uri="{FF2B5EF4-FFF2-40B4-BE49-F238E27FC236}">
                <a16:creationId xmlns:a16="http://schemas.microsoft.com/office/drawing/2014/main" id="{E9293055-D5CD-4B9E-7F64-64B2D2CA7A52}"/>
              </a:ext>
            </a:extLst>
          </p:cNvPr>
          <p:cNvCxnSpPr/>
          <p:nvPr/>
        </p:nvCxnSpPr>
        <p:spPr>
          <a:xfrm>
            <a:off x="3837747" y="46422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9" name="직선 연결선 328">
            <a:extLst>
              <a:ext uri="{FF2B5EF4-FFF2-40B4-BE49-F238E27FC236}">
                <a16:creationId xmlns:a16="http://schemas.microsoft.com/office/drawing/2014/main" id="{E9293055-D5CD-4B9E-7F64-64B2D2CA7A52}"/>
              </a:ext>
            </a:extLst>
          </p:cNvPr>
          <p:cNvCxnSpPr/>
          <p:nvPr/>
        </p:nvCxnSpPr>
        <p:spPr>
          <a:xfrm>
            <a:off x="3837747" y="48559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0" name="직선 연결선 329">
            <a:extLst>
              <a:ext uri="{FF2B5EF4-FFF2-40B4-BE49-F238E27FC236}">
                <a16:creationId xmlns:a16="http://schemas.microsoft.com/office/drawing/2014/main" id="{E9293055-D5CD-4B9E-7F64-64B2D2CA7A52}"/>
              </a:ext>
            </a:extLst>
          </p:cNvPr>
          <p:cNvCxnSpPr/>
          <p:nvPr/>
        </p:nvCxnSpPr>
        <p:spPr>
          <a:xfrm>
            <a:off x="3837747" y="5069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1" name="직선 연결선 330">
            <a:extLst>
              <a:ext uri="{FF2B5EF4-FFF2-40B4-BE49-F238E27FC236}">
                <a16:creationId xmlns:a16="http://schemas.microsoft.com/office/drawing/2014/main" id="{E9293055-D5CD-4B9E-7F64-64B2D2CA7A52}"/>
              </a:ext>
            </a:extLst>
          </p:cNvPr>
          <p:cNvCxnSpPr/>
          <p:nvPr/>
        </p:nvCxnSpPr>
        <p:spPr>
          <a:xfrm>
            <a:off x="3837747" y="52833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2" name="직선 연결선 331">
            <a:extLst>
              <a:ext uri="{FF2B5EF4-FFF2-40B4-BE49-F238E27FC236}">
                <a16:creationId xmlns:a16="http://schemas.microsoft.com/office/drawing/2014/main" id="{E9293055-D5CD-4B9E-7F64-64B2D2CA7A52}"/>
              </a:ext>
            </a:extLst>
          </p:cNvPr>
          <p:cNvCxnSpPr/>
          <p:nvPr/>
        </p:nvCxnSpPr>
        <p:spPr>
          <a:xfrm>
            <a:off x="3837747" y="54970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3" name="직선 연결선 332">
            <a:extLst>
              <a:ext uri="{FF2B5EF4-FFF2-40B4-BE49-F238E27FC236}">
                <a16:creationId xmlns:a16="http://schemas.microsoft.com/office/drawing/2014/main" id="{E9293055-D5CD-4B9E-7F64-64B2D2CA7A52}"/>
              </a:ext>
            </a:extLst>
          </p:cNvPr>
          <p:cNvCxnSpPr/>
          <p:nvPr/>
        </p:nvCxnSpPr>
        <p:spPr>
          <a:xfrm>
            <a:off x="3837747" y="57107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4" name="직선 연결선 333">
            <a:extLst>
              <a:ext uri="{FF2B5EF4-FFF2-40B4-BE49-F238E27FC236}">
                <a16:creationId xmlns:a16="http://schemas.microsoft.com/office/drawing/2014/main" id="{E9293055-D5CD-4B9E-7F64-64B2D2CA7A52}"/>
              </a:ext>
            </a:extLst>
          </p:cNvPr>
          <p:cNvCxnSpPr/>
          <p:nvPr/>
        </p:nvCxnSpPr>
        <p:spPr>
          <a:xfrm>
            <a:off x="3837747" y="59245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5" name="직선 연결선 334">
            <a:extLst>
              <a:ext uri="{FF2B5EF4-FFF2-40B4-BE49-F238E27FC236}">
                <a16:creationId xmlns:a16="http://schemas.microsoft.com/office/drawing/2014/main" id="{E9293055-D5CD-4B9E-7F64-64B2D2CA7A52}"/>
              </a:ext>
            </a:extLst>
          </p:cNvPr>
          <p:cNvCxnSpPr/>
          <p:nvPr/>
        </p:nvCxnSpPr>
        <p:spPr>
          <a:xfrm>
            <a:off x="3837747" y="61382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6" name="모서리가 둥근 직사각형 335"/>
          <p:cNvSpPr/>
          <p:nvPr/>
        </p:nvSpPr>
        <p:spPr>
          <a:xfrm rot="5400000">
            <a:off x="5782577" y="324678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3" name="타원 152">
            <a:extLst>
              <a:ext uri="{FF2B5EF4-FFF2-40B4-BE49-F238E27FC236}">
                <a16:creationId xmlns:a16="http://schemas.microsoft.com/office/drawing/2014/main" id="{37A7FF4F-0EAA-1463-560A-D5EC24416103}"/>
              </a:ext>
            </a:extLst>
          </p:cNvPr>
          <p:cNvSpPr/>
          <p:nvPr/>
        </p:nvSpPr>
        <p:spPr>
          <a:xfrm>
            <a:off x="573754" y="36855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37" name="직사각형 336">
            <a:extLst>
              <a:ext uri="{FF2B5EF4-FFF2-40B4-BE49-F238E27FC236}">
                <a16:creationId xmlns:a16="http://schemas.microsoft.com/office/drawing/2014/main" id="{F56F1743-11A0-EA94-9184-4E42C0A37F9C}"/>
              </a:ext>
            </a:extLst>
          </p:cNvPr>
          <p:cNvSpPr/>
          <p:nvPr/>
        </p:nvSpPr>
        <p:spPr>
          <a:xfrm>
            <a:off x="677960" y="4506743"/>
            <a:ext cx="2712027" cy="1720420"/>
          </a:xfrm>
          <a:prstGeom prst="rect">
            <a:avLst/>
          </a:prstGeom>
          <a:solidFill>
            <a:schemeClr val="bg1">
              <a:lumMod val="95000"/>
            </a:schemeClr>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ysClr val="windowText" lastClr="000000"/>
                </a:solidFill>
              </a:rPr>
              <a:t>가상 </a:t>
            </a:r>
            <a:r>
              <a:rPr lang="ko-KR" altLang="en-US" dirty="0" err="1">
                <a:solidFill>
                  <a:sysClr val="windowText" lastClr="000000"/>
                </a:solidFill>
              </a:rPr>
              <a:t>키패드</a:t>
            </a:r>
            <a:r>
              <a:rPr lang="ko-KR" altLang="en-US" dirty="0">
                <a:solidFill>
                  <a:sysClr val="windowText" lastClr="000000"/>
                </a:solidFill>
              </a:rPr>
              <a:t> 영역</a:t>
            </a:r>
          </a:p>
        </p:txBody>
      </p:sp>
      <p:sp>
        <p:nvSpPr>
          <p:cNvPr id="338" name="타원 337">
            <a:extLst>
              <a:ext uri="{FF2B5EF4-FFF2-40B4-BE49-F238E27FC236}">
                <a16:creationId xmlns:a16="http://schemas.microsoft.com/office/drawing/2014/main" id="{37A7FF4F-0EAA-1463-560A-D5EC24416103}"/>
              </a:ext>
            </a:extLst>
          </p:cNvPr>
          <p:cNvSpPr/>
          <p:nvPr/>
        </p:nvSpPr>
        <p:spPr>
          <a:xfrm>
            <a:off x="573754" y="401005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39" name="타원 338">
            <a:extLst>
              <a:ext uri="{FF2B5EF4-FFF2-40B4-BE49-F238E27FC236}">
                <a16:creationId xmlns:a16="http://schemas.microsoft.com/office/drawing/2014/main" id="{37A7FF4F-0EAA-1463-560A-D5EC24416103}"/>
              </a:ext>
            </a:extLst>
          </p:cNvPr>
          <p:cNvSpPr/>
          <p:nvPr/>
        </p:nvSpPr>
        <p:spPr>
          <a:xfrm>
            <a:off x="3684579" y="3441458"/>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40" name="타원 339">
            <a:extLst>
              <a:ext uri="{FF2B5EF4-FFF2-40B4-BE49-F238E27FC236}">
                <a16:creationId xmlns:a16="http://schemas.microsoft.com/office/drawing/2014/main" id="{37A7FF4F-0EAA-1463-560A-D5EC24416103}"/>
              </a:ext>
            </a:extLst>
          </p:cNvPr>
          <p:cNvSpPr/>
          <p:nvPr/>
        </p:nvSpPr>
        <p:spPr>
          <a:xfrm>
            <a:off x="3684579" y="42038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78" name="모서리가 둥근 직사각형 77"/>
          <p:cNvSpPr/>
          <p:nvPr/>
        </p:nvSpPr>
        <p:spPr>
          <a:xfrm>
            <a:off x="1443878" y="3560849"/>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tx1"/>
                </a:solidFill>
              </a:rPr>
              <a:t>면허코드</a:t>
            </a:r>
            <a:endParaRPr lang="ko-KR" altLang="en-US" sz="700" dirty="0">
              <a:solidFill>
                <a:schemeClr val="tx1"/>
              </a:solidFill>
            </a:endParaRPr>
          </a:p>
        </p:txBody>
      </p:sp>
      <p:sp>
        <p:nvSpPr>
          <p:cNvPr id="79" name="TextBox 78">
            <a:extLst>
              <a:ext uri="{FF2B5EF4-FFF2-40B4-BE49-F238E27FC236}">
                <a16:creationId xmlns:a16="http://schemas.microsoft.com/office/drawing/2014/main" id="{FFC49AEA-2A8F-250C-A86A-A7751D9706C3}"/>
              </a:ext>
            </a:extLst>
          </p:cNvPr>
          <p:cNvSpPr txBox="1"/>
          <p:nvPr/>
        </p:nvSpPr>
        <p:spPr>
          <a:xfrm>
            <a:off x="804476" y="3629162"/>
            <a:ext cx="670770" cy="107722"/>
          </a:xfrm>
          <a:prstGeom prst="rect">
            <a:avLst/>
          </a:prstGeom>
          <a:noFill/>
        </p:spPr>
        <p:txBody>
          <a:bodyPr wrap="square" lIns="0" tIns="0" rIns="0" bIns="0" rtlCol="0">
            <a:spAutoFit/>
          </a:bodyPr>
          <a:lstStyle/>
          <a:p>
            <a:r>
              <a:rPr lang="ko-KR" altLang="en-US" sz="700" dirty="0">
                <a:latin typeface="+mn-ea"/>
              </a:rPr>
              <a:t>구분</a:t>
            </a:r>
            <a:endParaRPr lang="en-US" altLang="ko-KR" sz="700" dirty="0">
              <a:latin typeface="+mn-ea"/>
            </a:endParaRPr>
          </a:p>
        </p:txBody>
      </p:sp>
      <p:grpSp>
        <p:nvGrpSpPr>
          <p:cNvPr id="86" name="그룹 85"/>
          <p:cNvGrpSpPr/>
          <p:nvPr/>
        </p:nvGrpSpPr>
        <p:grpSpPr>
          <a:xfrm>
            <a:off x="3112794" y="3666333"/>
            <a:ext cx="91438" cy="45719"/>
            <a:chOff x="6812560" y="3297172"/>
            <a:chExt cx="94010" cy="47005"/>
          </a:xfrm>
        </p:grpSpPr>
        <p:cxnSp>
          <p:nvCxnSpPr>
            <p:cNvPr id="87" name="직선 연결선 8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8" name="직선 연결선 8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5460180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날짜 설정 </a:t>
            </a:r>
            <a:r>
              <a:rPr lang="ko-KR" altLang="en-US" dirty="0" err="1"/>
              <a:t>바텀</a:t>
            </a:r>
            <a:r>
              <a:rPr lang="ko-KR" altLang="en-US" dirty="0"/>
              <a:t> 시트 캘린더 표시</a:t>
            </a:r>
            <a:r>
              <a:rPr lang="en-US" altLang="ko-KR" dirty="0"/>
              <a:t/>
            </a:r>
            <a:br>
              <a:rPr lang="en-US" altLang="ko-KR" dirty="0"/>
            </a:br>
            <a:r>
              <a:rPr lang="en-US" altLang="ko-KR" dirty="0"/>
              <a:t>- </a:t>
            </a:r>
            <a:r>
              <a:rPr lang="ko-KR" altLang="en-US" dirty="0"/>
              <a:t>오늘 날짜 기본 선택</a:t>
            </a:r>
            <a:r>
              <a:rPr lang="en-US" altLang="ko-KR" dirty="0"/>
              <a:t/>
            </a:r>
            <a:br>
              <a:rPr lang="en-US" altLang="ko-KR" dirty="0"/>
            </a:br>
            <a:r>
              <a:rPr lang="en-US" altLang="ko-KR" dirty="0"/>
              <a:t>- </a:t>
            </a:r>
            <a:r>
              <a:rPr lang="ko-KR" altLang="en-US" dirty="0"/>
              <a:t>저장 선택 시 날짜 반영</a:t>
            </a:r>
            <a:r>
              <a:rPr lang="en-US" altLang="ko-KR" dirty="0"/>
              <a:t/>
            </a:r>
            <a:br>
              <a:rPr lang="en-US" altLang="ko-KR" dirty="0"/>
            </a:br>
            <a:r>
              <a:rPr lang="en-US" altLang="ko-KR" dirty="0"/>
              <a:t>- </a:t>
            </a:r>
            <a:r>
              <a:rPr lang="ko-KR" altLang="en-US" dirty="0"/>
              <a:t>연월 선택 시 연월 다이얼 선택 화면 전환</a:t>
            </a:r>
            <a:endParaRPr lang="en-US" altLang="ko-KR" dirty="0"/>
          </a:p>
          <a:p>
            <a:pPr marL="228600" indent="-228600">
              <a:buFont typeface="+mj-lt"/>
              <a:buAutoNum type="arabicPeriod"/>
            </a:pPr>
            <a:r>
              <a:rPr lang="ko-KR" altLang="en-US" dirty="0"/>
              <a:t>연</a:t>
            </a:r>
            <a:r>
              <a:rPr lang="en-US" altLang="ko-KR" dirty="0"/>
              <a:t>, </a:t>
            </a:r>
            <a:r>
              <a:rPr lang="ko-KR" altLang="en-US" dirty="0"/>
              <a:t>월 선택 시 연도</a:t>
            </a:r>
            <a:r>
              <a:rPr lang="en-US" altLang="ko-KR" dirty="0"/>
              <a:t>, </a:t>
            </a:r>
            <a:r>
              <a:rPr lang="ko-KR" altLang="en-US" dirty="0"/>
              <a:t>월 선택 화면으로 변경</a:t>
            </a:r>
            <a:r>
              <a:rPr lang="en-US" altLang="ko-KR" dirty="0"/>
              <a:t/>
            </a:r>
            <a:br>
              <a:rPr lang="en-US" altLang="ko-KR" dirty="0"/>
            </a:br>
            <a:r>
              <a:rPr lang="en-US" altLang="ko-KR" dirty="0"/>
              <a:t>- </a:t>
            </a:r>
            <a:r>
              <a:rPr lang="ko-KR" altLang="en-US" dirty="0"/>
              <a:t>적용 선택 시 날짜 </a:t>
            </a:r>
            <a:r>
              <a:rPr lang="ko-KR" altLang="en-US" dirty="0" err="1"/>
              <a:t>입력기에</a:t>
            </a:r>
            <a:r>
              <a:rPr lang="ko-KR" altLang="en-US" dirty="0"/>
              <a:t> 연</a:t>
            </a:r>
            <a:r>
              <a:rPr lang="en-US" altLang="ko-KR" dirty="0"/>
              <a:t>, </a:t>
            </a:r>
            <a:r>
              <a:rPr lang="ko-KR" altLang="en-US" dirty="0"/>
              <a:t>월 반영</a:t>
            </a:r>
            <a:r>
              <a:rPr lang="en-US" altLang="ko-KR" dirty="0"/>
              <a:t/>
            </a:r>
            <a:br>
              <a:rPr lang="en-US" altLang="ko-KR" dirty="0"/>
            </a:br>
            <a:r>
              <a:rPr lang="en-US" altLang="ko-KR" dirty="0"/>
              <a:t>  &gt; </a:t>
            </a:r>
            <a:r>
              <a:rPr lang="ko-KR" altLang="en-US" dirty="0"/>
              <a:t>요일 정보 해당 연월에 맞게 변경 노출</a:t>
            </a:r>
            <a:r>
              <a:rPr lang="en-US" altLang="ko-KR" dirty="0"/>
              <a:t/>
            </a:r>
            <a:br>
              <a:rPr lang="en-US" altLang="ko-KR" dirty="0"/>
            </a:br>
            <a:r>
              <a:rPr lang="en-US" altLang="ko-KR" dirty="0"/>
              <a:t>- </a:t>
            </a:r>
            <a:r>
              <a:rPr lang="ko-KR" altLang="en-US" dirty="0"/>
              <a:t>취소 선택 시 선택 입력 없이 복귀</a:t>
            </a:r>
            <a:endParaRPr lang="en-US" altLang="ko-KR" dirty="0"/>
          </a:p>
          <a:p>
            <a:pPr marL="228600" indent="-228600">
              <a:buFont typeface="+mj-lt"/>
              <a:buAutoNum type="arabicPeriod"/>
            </a:pPr>
            <a:r>
              <a:rPr lang="ko-KR" altLang="en-US" dirty="0"/>
              <a:t>적용 선택 시 </a:t>
            </a:r>
            <a:r>
              <a:rPr lang="en-US" altLang="ko-KR" dirty="0"/>
              <a:t>auto fill</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날짜 설정</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날짜를 설정하는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공통 </a:t>
            </a:r>
            <a:r>
              <a:rPr lang="en-US" altLang="ko-KR" dirty="0"/>
              <a:t>&gt; </a:t>
            </a:r>
            <a:r>
              <a:rPr lang="ko-KR" altLang="en-US" dirty="0"/>
              <a:t>날짜 설정</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MUI-BD-01-P06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양쪽 모서리가 둥근 사각형 4"/>
          <p:cNvSpPr/>
          <p:nvPr/>
        </p:nvSpPr>
        <p:spPr>
          <a:xfrm>
            <a:off x="675399"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3182696"/>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3163375"/>
            <a:ext cx="1798758" cy="138499"/>
          </a:xfrm>
          <a:prstGeom prst="rect">
            <a:avLst/>
          </a:prstGeom>
          <a:noFill/>
        </p:spPr>
        <p:txBody>
          <a:bodyPr wrap="square" lIns="0" tIns="0" rIns="0" bIns="0" rtlCol="0">
            <a:spAutoFit/>
          </a:bodyPr>
          <a:lstStyle/>
          <a:p>
            <a:r>
              <a:rPr lang="ko-KR" altLang="en-US" sz="900" dirty="0">
                <a:latin typeface="+mn-ea"/>
              </a:rPr>
              <a:t>날짜 설정</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36855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6" name="그룹 5"/>
          <p:cNvGrpSpPr/>
          <p:nvPr/>
        </p:nvGrpSpPr>
        <p:grpSpPr>
          <a:xfrm>
            <a:off x="828962" y="3591898"/>
            <a:ext cx="2404900" cy="1793599"/>
            <a:chOff x="853448" y="3591898"/>
            <a:chExt cx="2404900" cy="1793599"/>
          </a:xfrm>
        </p:grpSpPr>
        <p:grpSp>
          <p:nvGrpSpPr>
            <p:cNvPr id="84" name="그룹 83">
              <a:extLst>
                <a:ext uri="{FF2B5EF4-FFF2-40B4-BE49-F238E27FC236}">
                  <a16:creationId xmlns:a16="http://schemas.microsoft.com/office/drawing/2014/main" id="{88B5F951-FD18-C7AD-4712-954CD1C500E7}"/>
                </a:ext>
              </a:extLst>
            </p:cNvPr>
            <p:cNvGrpSpPr/>
            <p:nvPr/>
          </p:nvGrpSpPr>
          <p:grpSpPr>
            <a:xfrm>
              <a:off x="853448" y="3591898"/>
              <a:ext cx="2404900" cy="1793599"/>
              <a:chOff x="6330232" y="1877976"/>
              <a:chExt cx="1507175" cy="1793599"/>
            </a:xfrm>
          </p:grpSpPr>
          <p:sp>
            <p:nvSpPr>
              <p:cNvPr id="89" name="자유형: 도형 138">
                <a:extLst>
                  <a:ext uri="{FF2B5EF4-FFF2-40B4-BE49-F238E27FC236}">
                    <a16:creationId xmlns:a16="http://schemas.microsoft.com/office/drawing/2014/main" id="{22B087CA-85B4-CEE4-100E-D11384B46CD9}"/>
                  </a:ext>
                </a:extLst>
              </p:cNvPr>
              <p:cNvSpPr/>
              <p:nvPr/>
            </p:nvSpPr>
            <p:spPr>
              <a:xfrm>
                <a:off x="6330232" y="2230424"/>
                <a:ext cx="1507175" cy="1441151"/>
              </a:xfrm>
              <a:custGeom>
                <a:avLst/>
                <a:gdLst>
                  <a:gd name="connsiteX0" fmla="*/ 0 w 1598734"/>
                  <a:gd name="connsiteY0" fmla="*/ 0 h 1380106"/>
                  <a:gd name="connsiteX1" fmla="*/ 1598734 w 1598734"/>
                  <a:gd name="connsiteY1" fmla="*/ 0 h 1380106"/>
                  <a:gd name="connsiteX2" fmla="*/ 1598734 w 1598734"/>
                  <a:gd name="connsiteY2" fmla="*/ 102684 h 1380106"/>
                  <a:gd name="connsiteX3" fmla="*/ 1598734 w 1598734"/>
                  <a:gd name="connsiteY3" fmla="*/ 146050 h 1380106"/>
                  <a:gd name="connsiteX4" fmla="*/ 1598734 w 1598734"/>
                  <a:gd name="connsiteY4" fmla="*/ 1321871 h 1380106"/>
                  <a:gd name="connsiteX5" fmla="*/ 1540499 w 1598734"/>
                  <a:gd name="connsiteY5" fmla="*/ 1380106 h 1380106"/>
                  <a:gd name="connsiteX6" fmla="*/ 58235 w 1598734"/>
                  <a:gd name="connsiteY6" fmla="*/ 1380106 h 1380106"/>
                  <a:gd name="connsiteX7" fmla="*/ 0 w 1598734"/>
                  <a:gd name="connsiteY7" fmla="*/ 1321871 h 1380106"/>
                  <a:gd name="connsiteX8" fmla="*/ 0 w 1598734"/>
                  <a:gd name="connsiteY8" fmla="*/ 146050 h 1380106"/>
                  <a:gd name="connsiteX9" fmla="*/ 0 w 1598734"/>
                  <a:gd name="connsiteY9" fmla="*/ 102684 h 1380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98734" h="1380106">
                    <a:moveTo>
                      <a:pt x="0" y="0"/>
                    </a:moveTo>
                    <a:lnTo>
                      <a:pt x="1598734" y="0"/>
                    </a:lnTo>
                    <a:lnTo>
                      <a:pt x="1598734" y="102684"/>
                    </a:lnTo>
                    <a:lnTo>
                      <a:pt x="1598734" y="146050"/>
                    </a:lnTo>
                    <a:lnTo>
                      <a:pt x="1598734" y="1321871"/>
                    </a:lnTo>
                    <a:cubicBezTo>
                      <a:pt x="1598734" y="1354033"/>
                      <a:pt x="1572661" y="1380106"/>
                      <a:pt x="1540499" y="1380106"/>
                    </a:cubicBezTo>
                    <a:lnTo>
                      <a:pt x="58235" y="1380106"/>
                    </a:lnTo>
                    <a:cubicBezTo>
                      <a:pt x="26073" y="1380106"/>
                      <a:pt x="0" y="1354033"/>
                      <a:pt x="0" y="1321871"/>
                    </a:cubicBezTo>
                    <a:lnTo>
                      <a:pt x="0" y="146050"/>
                    </a:lnTo>
                    <a:lnTo>
                      <a:pt x="0" y="102684"/>
                    </a:lnTo>
                    <a:close/>
                  </a:path>
                </a:pathLst>
              </a:custGeom>
              <a:solidFill>
                <a:sysClr val="window" lastClr="FFFFFF"/>
              </a:solidFill>
              <a:ln w="9525" cap="flat" cmpd="sng" algn="ctr">
                <a:solidFill>
                  <a:sysClr val="window" lastClr="FFFFFF">
                    <a:lumMod val="75000"/>
                  </a:sysClr>
                </a:solidFill>
                <a:prstDash val="solid"/>
              </a:ln>
              <a:effectLst/>
            </p:spPr>
            <p:txBody>
              <a:bodyPr wrap="square" rtlCol="0" anchor="ctr">
                <a:no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black">
                      <a:lumMod val="50000"/>
                      <a:lumOff val="50000"/>
                    </a:prstClr>
                  </a:solidFill>
                  <a:effectLst/>
                  <a:uLnTx/>
                  <a:uFillTx/>
                  <a:latin typeface="맑은 고딕"/>
                  <a:ea typeface="+mn-ea"/>
                  <a:cs typeface="+mn-cs"/>
                </a:endParaRPr>
              </a:p>
            </p:txBody>
          </p:sp>
          <p:sp>
            <p:nvSpPr>
              <p:cNvPr id="90" name="자유형: 도형 139">
                <a:extLst>
                  <a:ext uri="{FF2B5EF4-FFF2-40B4-BE49-F238E27FC236}">
                    <a16:creationId xmlns:a16="http://schemas.microsoft.com/office/drawing/2014/main" id="{3A3F8C14-4350-473F-BE56-A3F310114A55}"/>
                  </a:ext>
                </a:extLst>
              </p:cNvPr>
              <p:cNvSpPr/>
              <p:nvPr/>
            </p:nvSpPr>
            <p:spPr>
              <a:xfrm>
                <a:off x="6330232" y="1877976"/>
                <a:ext cx="1507174" cy="352448"/>
              </a:xfrm>
              <a:custGeom>
                <a:avLst/>
                <a:gdLst>
                  <a:gd name="connsiteX0" fmla="*/ 68452 w 1598734"/>
                  <a:gd name="connsiteY0" fmla="*/ 0 h 306657"/>
                  <a:gd name="connsiteX1" fmla="*/ 1530282 w 1598734"/>
                  <a:gd name="connsiteY1" fmla="*/ 0 h 306657"/>
                  <a:gd name="connsiteX2" fmla="*/ 1598734 w 1598734"/>
                  <a:gd name="connsiteY2" fmla="*/ 68452 h 306657"/>
                  <a:gd name="connsiteX3" fmla="*/ 1598734 w 1598734"/>
                  <a:gd name="connsiteY3" fmla="*/ 160607 h 306657"/>
                  <a:gd name="connsiteX4" fmla="*/ 1598734 w 1598734"/>
                  <a:gd name="connsiteY4" fmla="*/ 193756 h 306657"/>
                  <a:gd name="connsiteX5" fmla="*/ 1598734 w 1598734"/>
                  <a:gd name="connsiteY5" fmla="*/ 306657 h 306657"/>
                  <a:gd name="connsiteX6" fmla="*/ 0 w 1598734"/>
                  <a:gd name="connsiteY6" fmla="*/ 306657 h 306657"/>
                  <a:gd name="connsiteX7" fmla="*/ 0 w 1598734"/>
                  <a:gd name="connsiteY7" fmla="*/ 193756 h 306657"/>
                  <a:gd name="connsiteX8" fmla="*/ 0 w 1598734"/>
                  <a:gd name="connsiteY8" fmla="*/ 160607 h 306657"/>
                  <a:gd name="connsiteX9" fmla="*/ 0 w 1598734"/>
                  <a:gd name="connsiteY9" fmla="*/ 68452 h 306657"/>
                  <a:gd name="connsiteX10" fmla="*/ 68452 w 1598734"/>
                  <a:gd name="connsiteY10" fmla="*/ 0 h 3066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98734" h="306657">
                    <a:moveTo>
                      <a:pt x="68452" y="0"/>
                    </a:moveTo>
                    <a:lnTo>
                      <a:pt x="1530282" y="0"/>
                    </a:lnTo>
                    <a:cubicBezTo>
                      <a:pt x="1568087" y="0"/>
                      <a:pt x="1598734" y="30647"/>
                      <a:pt x="1598734" y="68452"/>
                    </a:cubicBezTo>
                    <a:lnTo>
                      <a:pt x="1598734" y="160607"/>
                    </a:lnTo>
                    <a:lnTo>
                      <a:pt x="1598734" y="193756"/>
                    </a:lnTo>
                    <a:lnTo>
                      <a:pt x="1598734" y="306657"/>
                    </a:lnTo>
                    <a:lnTo>
                      <a:pt x="0" y="306657"/>
                    </a:lnTo>
                    <a:lnTo>
                      <a:pt x="0" y="193756"/>
                    </a:lnTo>
                    <a:lnTo>
                      <a:pt x="0" y="160607"/>
                    </a:lnTo>
                    <a:lnTo>
                      <a:pt x="0" y="68452"/>
                    </a:lnTo>
                    <a:cubicBezTo>
                      <a:pt x="0" y="30647"/>
                      <a:pt x="30647" y="0"/>
                      <a:pt x="68452" y="0"/>
                    </a:cubicBezTo>
                    <a:close/>
                  </a:path>
                </a:pathLst>
              </a:custGeom>
              <a:solidFill>
                <a:schemeClr val="bg1"/>
              </a:solidFill>
              <a:ln w="9525" cap="flat" cmpd="sng" algn="ctr">
                <a:solidFill>
                  <a:sysClr val="window" lastClr="FFFFFF">
                    <a:lumMod val="75000"/>
                  </a:sysClr>
                </a:solidFill>
                <a:prstDash val="solid"/>
              </a:ln>
              <a:effectLst/>
            </p:spPr>
            <p:txBody>
              <a:bodyPr wrap="square" rtlCol="0" anchor="ctr">
                <a:no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900" b="1" i="0" u="none" strike="noStrike" kern="0" cap="none" spc="0" normalizeH="0" baseline="0" noProof="0">
                  <a:ln>
                    <a:noFill/>
                  </a:ln>
                  <a:effectLst/>
                  <a:uLnTx/>
                  <a:uFillTx/>
                  <a:latin typeface="맑은 고딕"/>
                  <a:ea typeface="+mn-ea"/>
                  <a:cs typeface="+mn-cs"/>
                </a:endParaRPr>
              </a:p>
            </p:txBody>
          </p:sp>
          <p:grpSp>
            <p:nvGrpSpPr>
              <p:cNvPr id="91" name="그룹 90">
                <a:extLst>
                  <a:ext uri="{FF2B5EF4-FFF2-40B4-BE49-F238E27FC236}">
                    <a16:creationId xmlns:a16="http://schemas.microsoft.com/office/drawing/2014/main" id="{A137B8AF-CE16-FE87-200C-9B7042587058}"/>
                  </a:ext>
                </a:extLst>
              </p:cNvPr>
              <p:cNvGrpSpPr/>
              <p:nvPr/>
            </p:nvGrpSpPr>
            <p:grpSpPr>
              <a:xfrm>
                <a:off x="6585805" y="1935304"/>
                <a:ext cx="996029" cy="251744"/>
                <a:chOff x="6656745" y="1935304"/>
                <a:chExt cx="996029" cy="251744"/>
              </a:xfrm>
            </p:grpSpPr>
            <p:grpSp>
              <p:nvGrpSpPr>
                <p:cNvPr id="96" name="그룹 95">
                  <a:extLst>
                    <a:ext uri="{FF2B5EF4-FFF2-40B4-BE49-F238E27FC236}">
                      <a16:creationId xmlns:a16="http://schemas.microsoft.com/office/drawing/2014/main" id="{A87E2622-4B77-D690-F5F9-A7024A74E708}"/>
                    </a:ext>
                  </a:extLst>
                </p:cNvPr>
                <p:cNvGrpSpPr/>
                <p:nvPr/>
              </p:nvGrpSpPr>
              <p:grpSpPr>
                <a:xfrm>
                  <a:off x="6656745" y="1935304"/>
                  <a:ext cx="391505" cy="251744"/>
                  <a:chOff x="14465912" y="2621448"/>
                  <a:chExt cx="373142" cy="251744"/>
                </a:xfrm>
              </p:grpSpPr>
              <p:sp>
                <p:nvSpPr>
                  <p:cNvPr id="102" name="사각형: 둥근 모서리 144">
                    <a:extLst>
                      <a:ext uri="{FF2B5EF4-FFF2-40B4-BE49-F238E27FC236}">
                        <a16:creationId xmlns:a16="http://schemas.microsoft.com/office/drawing/2014/main" id="{D1B5AE77-5D23-E70D-56C2-4B07B89912D6}"/>
                      </a:ext>
                    </a:extLst>
                  </p:cNvPr>
                  <p:cNvSpPr/>
                  <p:nvPr/>
                </p:nvSpPr>
                <p:spPr>
                  <a:xfrm>
                    <a:off x="14465912" y="2621448"/>
                    <a:ext cx="373142" cy="2517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lIns="3600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800" kern="0">
                        <a:latin typeface="맑은 고딕"/>
                      </a:rPr>
                      <a:t>2026</a:t>
                    </a:r>
                    <a:endParaRPr kumimoji="1" lang="en-US" sz="800" b="0" i="0" u="none" strike="noStrike" kern="0" cap="none" spc="0" normalizeH="0" baseline="0" noProof="0">
                      <a:ln>
                        <a:noFill/>
                      </a:ln>
                      <a:effectLst/>
                      <a:uLnTx/>
                      <a:uFillTx/>
                      <a:latin typeface="맑은 고딕"/>
                      <a:ea typeface="+mn-ea"/>
                      <a:cs typeface="+mn-cs"/>
                    </a:endParaRPr>
                  </a:p>
                </p:txBody>
              </p:sp>
              <p:sp>
                <p:nvSpPr>
                  <p:cNvPr id="104" name="이등변 삼각형 103">
                    <a:extLst>
                      <a:ext uri="{FF2B5EF4-FFF2-40B4-BE49-F238E27FC236}">
                        <a16:creationId xmlns:a16="http://schemas.microsoft.com/office/drawing/2014/main" id="{3B4ED1E8-ADBF-6251-5AE2-8AA6EED0EC85}"/>
                      </a:ext>
                    </a:extLst>
                  </p:cNvPr>
                  <p:cNvSpPr/>
                  <p:nvPr/>
                </p:nvSpPr>
                <p:spPr>
                  <a:xfrm flipV="1">
                    <a:off x="14730144" y="2724461"/>
                    <a:ext cx="85725" cy="45719"/>
                  </a:xfrm>
                  <a:prstGeom prst="triangle">
                    <a:avLst/>
                  </a:prstGeom>
                  <a:solidFill>
                    <a:sysClr val="windowText" lastClr="000000">
                      <a:lumMod val="50000"/>
                      <a:lumOff val="50000"/>
                    </a:sysClr>
                  </a:solidFill>
                  <a:ln w="25400" cap="flat" cmpd="sng" algn="ctr">
                    <a:no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white"/>
                      </a:solidFill>
                      <a:effectLst/>
                      <a:uLnTx/>
                      <a:uFillTx/>
                      <a:latin typeface="맑은 고딕"/>
                      <a:ea typeface="+mn-ea"/>
                      <a:cs typeface="+mn-cs"/>
                    </a:endParaRPr>
                  </a:p>
                </p:txBody>
              </p:sp>
            </p:grpSp>
            <p:grpSp>
              <p:nvGrpSpPr>
                <p:cNvPr id="97" name="그룹 96">
                  <a:extLst>
                    <a:ext uri="{FF2B5EF4-FFF2-40B4-BE49-F238E27FC236}">
                      <a16:creationId xmlns:a16="http://schemas.microsoft.com/office/drawing/2014/main" id="{EA122917-E998-AFF8-0017-87D415E2F4C1}"/>
                    </a:ext>
                  </a:extLst>
                </p:cNvPr>
                <p:cNvGrpSpPr/>
                <p:nvPr/>
              </p:nvGrpSpPr>
              <p:grpSpPr>
                <a:xfrm>
                  <a:off x="7227970" y="1935304"/>
                  <a:ext cx="283649" cy="251744"/>
                  <a:chOff x="6204909" y="3981827"/>
                  <a:chExt cx="283649" cy="251744"/>
                </a:xfrm>
              </p:grpSpPr>
              <p:sp>
                <p:nvSpPr>
                  <p:cNvPr id="100" name="사각형: 둥근 모서리 147">
                    <a:extLst>
                      <a:ext uri="{FF2B5EF4-FFF2-40B4-BE49-F238E27FC236}">
                        <a16:creationId xmlns:a16="http://schemas.microsoft.com/office/drawing/2014/main" id="{4D308691-DE94-C033-764E-E5D1F0BF3524}"/>
                      </a:ext>
                    </a:extLst>
                  </p:cNvPr>
                  <p:cNvSpPr/>
                  <p:nvPr/>
                </p:nvSpPr>
                <p:spPr>
                  <a:xfrm>
                    <a:off x="6204909" y="3981827"/>
                    <a:ext cx="283649" cy="2517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lIns="3600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800" kern="0">
                        <a:latin typeface="맑은 고딕"/>
                      </a:rPr>
                      <a:t>1</a:t>
                    </a:r>
                    <a:endParaRPr kumimoji="1" lang="en-US" sz="800" b="0" i="0" u="none" strike="noStrike" kern="0" cap="none" spc="0" normalizeH="0" baseline="0" noProof="0">
                      <a:ln>
                        <a:noFill/>
                      </a:ln>
                      <a:effectLst/>
                      <a:uLnTx/>
                      <a:uFillTx/>
                      <a:latin typeface="맑은 고딕"/>
                      <a:ea typeface="+mn-ea"/>
                      <a:cs typeface="+mn-cs"/>
                    </a:endParaRPr>
                  </a:p>
                </p:txBody>
              </p:sp>
              <p:sp>
                <p:nvSpPr>
                  <p:cNvPr id="101" name="이등변 삼각형 100">
                    <a:extLst>
                      <a:ext uri="{FF2B5EF4-FFF2-40B4-BE49-F238E27FC236}">
                        <a16:creationId xmlns:a16="http://schemas.microsoft.com/office/drawing/2014/main" id="{21A750D1-1A64-CDE6-935B-2CDA4AF0C094}"/>
                      </a:ext>
                    </a:extLst>
                  </p:cNvPr>
                  <p:cNvSpPr/>
                  <p:nvPr/>
                </p:nvSpPr>
                <p:spPr>
                  <a:xfrm flipV="1">
                    <a:off x="6372421" y="4084840"/>
                    <a:ext cx="89944" cy="45719"/>
                  </a:xfrm>
                  <a:prstGeom prst="triangle">
                    <a:avLst/>
                  </a:prstGeom>
                  <a:solidFill>
                    <a:sysClr val="windowText" lastClr="000000">
                      <a:lumMod val="50000"/>
                      <a:lumOff val="50000"/>
                    </a:sysClr>
                  </a:solidFill>
                  <a:ln w="25400" cap="flat" cmpd="sng" algn="ctr">
                    <a:no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white"/>
                      </a:solidFill>
                      <a:effectLst/>
                      <a:uLnTx/>
                      <a:uFillTx/>
                      <a:latin typeface="맑은 고딕"/>
                      <a:ea typeface="+mn-ea"/>
                      <a:cs typeface="+mn-cs"/>
                    </a:endParaRPr>
                  </a:p>
                </p:txBody>
              </p:sp>
            </p:grpSp>
            <p:sp>
              <p:nvSpPr>
                <p:cNvPr id="98" name="TextBox 149">
                  <a:extLst>
                    <a:ext uri="{FF2B5EF4-FFF2-40B4-BE49-F238E27FC236}">
                      <a16:creationId xmlns:a16="http://schemas.microsoft.com/office/drawing/2014/main" id="{B5390AFF-87C5-1EB0-E4C9-DFE8DE8D1A0A}"/>
                    </a:ext>
                  </a:extLst>
                </p:cNvPr>
                <p:cNvSpPr txBox="1"/>
                <p:nvPr/>
              </p:nvSpPr>
              <p:spPr>
                <a:xfrm>
                  <a:off x="7086814" y="1999621"/>
                  <a:ext cx="102592"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a:solidFill>
                        <a:prstClr val="black"/>
                      </a:solidFill>
                      <a:cs typeface="Pretendard Medium" panose="02000603000000020004" pitchFamily="50" charset="-127"/>
                    </a:rPr>
                    <a:t>년</a:t>
                  </a:r>
                </a:p>
              </p:txBody>
            </p:sp>
            <p:sp>
              <p:nvSpPr>
                <p:cNvPr id="99" name="TextBox 152">
                  <a:extLst>
                    <a:ext uri="{FF2B5EF4-FFF2-40B4-BE49-F238E27FC236}">
                      <a16:creationId xmlns:a16="http://schemas.microsoft.com/office/drawing/2014/main" id="{A6C09F56-B1D3-B9C4-043F-21D7BB9E7303}"/>
                    </a:ext>
                  </a:extLst>
                </p:cNvPr>
                <p:cNvSpPr txBox="1"/>
                <p:nvPr/>
              </p:nvSpPr>
              <p:spPr>
                <a:xfrm>
                  <a:off x="7550182" y="1999621"/>
                  <a:ext cx="102592"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a:solidFill>
                        <a:prstClr val="black"/>
                      </a:solidFill>
                      <a:cs typeface="Pretendard Medium" panose="02000603000000020004" pitchFamily="50" charset="-127"/>
                    </a:rPr>
                    <a:t>월</a:t>
                  </a:r>
                </a:p>
              </p:txBody>
            </p:sp>
          </p:grpSp>
          <p:pic>
            <p:nvPicPr>
              <p:cNvPr id="92" name="그래픽 159">
                <a:extLst>
                  <a:ext uri="{FF2B5EF4-FFF2-40B4-BE49-F238E27FC236}">
                    <a16:creationId xmlns:a16="http://schemas.microsoft.com/office/drawing/2014/main" id="{3F60CD29-6457-57CE-2207-590D5C49DC6F}"/>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6443575" y="2011321"/>
                <a:ext cx="124829" cy="124829"/>
              </a:xfrm>
              <a:prstGeom prst="rect">
                <a:avLst/>
              </a:prstGeom>
            </p:spPr>
          </p:pic>
          <p:pic>
            <p:nvPicPr>
              <p:cNvPr id="93" name="그래픽 161">
                <a:extLst>
                  <a:ext uri="{FF2B5EF4-FFF2-40B4-BE49-F238E27FC236}">
                    <a16:creationId xmlns:a16="http://schemas.microsoft.com/office/drawing/2014/main" id="{B3146EC9-2E57-C788-18FF-97995F8296C4}"/>
                  </a:ext>
                </a:extLst>
              </p:cNvPr>
              <p:cNvPicPr>
                <a:picLocks noChangeAspect="1"/>
              </p:cNvPicPr>
              <p:nvPr/>
            </p:nvPicPr>
            <p:blipFill>
              <a:blip r:embed="rId4">
                <a:extLst>
                  <a:ext uri="{96DAC541-7B7A-43D3-8B79-37D633B846F1}">
                    <asvg:svgBlip xmlns="" xmlns:asvg="http://schemas.microsoft.com/office/drawing/2016/SVG/main" r:embed="rId5"/>
                  </a:ext>
                </a:extLst>
              </a:blip>
              <a:stretch>
                <a:fillRect/>
              </a:stretch>
            </p:blipFill>
            <p:spPr>
              <a:xfrm>
                <a:off x="6337510" y="2006235"/>
                <a:ext cx="135001" cy="135001"/>
              </a:xfrm>
              <a:prstGeom prst="rect">
                <a:avLst/>
              </a:prstGeom>
            </p:spPr>
          </p:pic>
          <p:pic>
            <p:nvPicPr>
              <p:cNvPr id="94" name="그래픽 166">
                <a:extLst>
                  <a:ext uri="{FF2B5EF4-FFF2-40B4-BE49-F238E27FC236}">
                    <a16:creationId xmlns:a16="http://schemas.microsoft.com/office/drawing/2014/main" id="{13D2C4D0-FC1C-780E-EBE1-F1214DFD9636}"/>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flipH="1">
                <a:off x="7582427" y="2011321"/>
                <a:ext cx="124829" cy="124829"/>
              </a:xfrm>
              <a:prstGeom prst="rect">
                <a:avLst/>
              </a:prstGeom>
            </p:spPr>
          </p:pic>
          <p:pic>
            <p:nvPicPr>
              <p:cNvPr id="95" name="그래픽 167">
                <a:extLst>
                  <a:ext uri="{FF2B5EF4-FFF2-40B4-BE49-F238E27FC236}">
                    <a16:creationId xmlns:a16="http://schemas.microsoft.com/office/drawing/2014/main" id="{AD93A727-98BC-1CD1-0745-64C3352C25E0}"/>
                  </a:ext>
                </a:extLst>
              </p:cNvPr>
              <p:cNvPicPr>
                <a:picLocks noChangeAspect="1"/>
              </p:cNvPicPr>
              <p:nvPr/>
            </p:nvPicPr>
            <p:blipFill>
              <a:blip r:embed="rId4">
                <a:extLst>
                  <a:ext uri="{96DAC541-7B7A-43D3-8B79-37D633B846F1}">
                    <asvg:svgBlip xmlns="" xmlns:asvg="http://schemas.microsoft.com/office/drawing/2016/SVG/main" r:embed="rId5"/>
                  </a:ext>
                </a:extLst>
              </a:blip>
              <a:stretch>
                <a:fillRect/>
              </a:stretch>
            </p:blipFill>
            <p:spPr>
              <a:xfrm flipH="1">
                <a:off x="7685706" y="2006235"/>
                <a:ext cx="135001" cy="135001"/>
              </a:xfrm>
              <a:prstGeom prst="rect">
                <a:avLst/>
              </a:prstGeom>
            </p:spPr>
          </p:pic>
        </p:grpSp>
        <p:pic>
          <p:nvPicPr>
            <p:cNvPr id="85" name="table"/>
            <p:cNvPicPr>
              <a:picLocks noChangeAspect="1"/>
            </p:cNvPicPr>
            <p:nvPr/>
          </p:nvPicPr>
          <p:blipFill>
            <a:blip r:embed="rId6"/>
            <a:stretch>
              <a:fillRect/>
            </a:stretch>
          </p:blipFill>
          <p:spPr>
            <a:xfrm>
              <a:off x="871664" y="3994890"/>
              <a:ext cx="2346766" cy="1352526"/>
            </a:xfrm>
            <a:prstGeom prst="rect">
              <a:avLst/>
            </a:prstGeom>
          </p:spPr>
        </p:pic>
      </p:grpSp>
      <p:grpSp>
        <p:nvGrpSpPr>
          <p:cNvPr id="105" name="그룹 104"/>
          <p:cNvGrpSpPr/>
          <p:nvPr/>
        </p:nvGrpSpPr>
        <p:grpSpPr>
          <a:xfrm>
            <a:off x="675399" y="5614711"/>
            <a:ext cx="2712027" cy="617588"/>
            <a:chOff x="675399" y="5614711"/>
            <a:chExt cx="2712027" cy="617588"/>
          </a:xfrm>
        </p:grpSpPr>
        <p:sp>
          <p:nvSpPr>
            <p:cNvPr id="106" name="직사각형 10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0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109" name="직사각형 10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양쪽 모서리가 둥근 사각형 110"/>
          <p:cNvSpPr/>
          <p:nvPr/>
        </p:nvSpPr>
        <p:spPr>
          <a:xfrm>
            <a:off x="3795734"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12" name="모서리가 둥근 직사각형 111"/>
          <p:cNvSpPr/>
          <p:nvPr/>
        </p:nvSpPr>
        <p:spPr>
          <a:xfrm>
            <a:off x="4881747"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13" name="그룹 112"/>
          <p:cNvGrpSpPr/>
          <p:nvPr/>
        </p:nvGrpSpPr>
        <p:grpSpPr>
          <a:xfrm>
            <a:off x="6284673" y="3182696"/>
            <a:ext cx="94010" cy="94010"/>
            <a:chOff x="6812560" y="3297172"/>
            <a:chExt cx="94010" cy="94010"/>
          </a:xfrm>
        </p:grpSpPr>
        <p:cxnSp>
          <p:nvCxnSpPr>
            <p:cNvPr id="114" name="직선 연결선 113"/>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16" name="TextBox 115">
            <a:extLst>
              <a:ext uri="{FF2B5EF4-FFF2-40B4-BE49-F238E27FC236}">
                <a16:creationId xmlns:a16="http://schemas.microsoft.com/office/drawing/2014/main" id="{FFC49AEA-2A8F-250C-A86A-A7751D9706C3}"/>
              </a:ext>
            </a:extLst>
          </p:cNvPr>
          <p:cNvSpPr txBox="1"/>
          <p:nvPr/>
        </p:nvSpPr>
        <p:spPr>
          <a:xfrm>
            <a:off x="3924811" y="3163375"/>
            <a:ext cx="1798758" cy="138499"/>
          </a:xfrm>
          <a:prstGeom prst="rect">
            <a:avLst/>
          </a:prstGeom>
          <a:noFill/>
        </p:spPr>
        <p:txBody>
          <a:bodyPr wrap="square" lIns="0" tIns="0" rIns="0" bIns="0" rtlCol="0">
            <a:spAutoFit/>
          </a:bodyPr>
          <a:lstStyle/>
          <a:p>
            <a:r>
              <a:rPr lang="ko-KR" altLang="en-US" sz="900" dirty="0">
                <a:latin typeface="+mn-ea"/>
              </a:rPr>
              <a:t>날짜 설정</a:t>
            </a:r>
          </a:p>
        </p:txBody>
      </p:sp>
      <p:cxnSp>
        <p:nvCxnSpPr>
          <p:cNvPr id="117" name="직선 연결선 116">
            <a:extLst>
              <a:ext uri="{FF2B5EF4-FFF2-40B4-BE49-F238E27FC236}">
                <a16:creationId xmlns:a16="http://schemas.microsoft.com/office/drawing/2014/main" id="{E9293055-D5CD-4B9E-7F64-64B2D2CA7A52}"/>
              </a:ext>
            </a:extLst>
          </p:cNvPr>
          <p:cNvCxnSpPr/>
          <p:nvPr/>
        </p:nvCxnSpPr>
        <p:spPr>
          <a:xfrm>
            <a:off x="3795734"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2" name="그룹 141"/>
          <p:cNvGrpSpPr/>
          <p:nvPr/>
        </p:nvGrpSpPr>
        <p:grpSpPr>
          <a:xfrm>
            <a:off x="3795734" y="5614711"/>
            <a:ext cx="2712027" cy="617588"/>
            <a:chOff x="675399" y="5614711"/>
            <a:chExt cx="2712027" cy="617588"/>
          </a:xfrm>
        </p:grpSpPr>
        <p:sp>
          <p:nvSpPr>
            <p:cNvPr id="143" name="직사각형 14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적용</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4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46" name="TextBox 145">
            <a:extLst>
              <a:ext uri="{FF2B5EF4-FFF2-40B4-BE49-F238E27FC236}">
                <a16:creationId xmlns:a16="http://schemas.microsoft.com/office/drawing/2014/main" id="{FFC49AEA-2A8F-250C-A86A-A7751D9706C3}"/>
              </a:ext>
            </a:extLst>
          </p:cNvPr>
          <p:cNvSpPr txBox="1"/>
          <p:nvPr/>
        </p:nvSpPr>
        <p:spPr>
          <a:xfrm>
            <a:off x="4176932" y="3766913"/>
            <a:ext cx="670770" cy="107722"/>
          </a:xfrm>
          <a:prstGeom prst="rect">
            <a:avLst/>
          </a:prstGeom>
          <a:noFill/>
        </p:spPr>
        <p:txBody>
          <a:bodyPr wrap="square" lIns="0" tIns="0" rIns="0" bIns="0" rtlCol="0">
            <a:spAutoFit/>
          </a:bodyPr>
          <a:lstStyle/>
          <a:p>
            <a:r>
              <a:rPr lang="ko-KR" altLang="en-US" sz="700" b="1" dirty="0">
                <a:latin typeface="+mn-ea"/>
              </a:rPr>
              <a:t>연도</a:t>
            </a:r>
            <a:endParaRPr lang="en-US" altLang="ko-KR" sz="700" b="1"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5330761" y="3766913"/>
            <a:ext cx="670770" cy="107722"/>
          </a:xfrm>
          <a:prstGeom prst="rect">
            <a:avLst/>
          </a:prstGeom>
          <a:noFill/>
        </p:spPr>
        <p:txBody>
          <a:bodyPr wrap="square" lIns="0" tIns="0" rIns="0" bIns="0" rtlCol="0">
            <a:spAutoFit/>
          </a:bodyPr>
          <a:lstStyle/>
          <a:p>
            <a:r>
              <a:rPr lang="ko-KR" altLang="en-US" sz="700" b="1" dirty="0">
                <a:latin typeface="+mn-ea"/>
              </a:rPr>
              <a:t>월</a:t>
            </a:r>
            <a:endParaRPr lang="en-US" altLang="ko-KR" sz="700" b="1" dirty="0">
              <a:latin typeface="+mn-ea"/>
            </a:endParaRPr>
          </a:p>
        </p:txBody>
      </p:sp>
      <p:sp>
        <p:nvSpPr>
          <p:cNvPr id="154" name="TextBox 153">
            <a:extLst>
              <a:ext uri="{FF2B5EF4-FFF2-40B4-BE49-F238E27FC236}">
                <a16:creationId xmlns:a16="http://schemas.microsoft.com/office/drawing/2014/main" id="{FFC49AEA-2A8F-250C-A86A-A7751D9706C3}"/>
              </a:ext>
            </a:extLst>
          </p:cNvPr>
          <p:cNvSpPr txBox="1"/>
          <p:nvPr/>
        </p:nvSpPr>
        <p:spPr>
          <a:xfrm>
            <a:off x="3924811" y="3497923"/>
            <a:ext cx="1798758" cy="138499"/>
          </a:xfrm>
          <a:prstGeom prst="rect">
            <a:avLst/>
          </a:prstGeom>
          <a:noFill/>
        </p:spPr>
        <p:txBody>
          <a:bodyPr wrap="square" lIns="0" tIns="0" rIns="0" bIns="0" rtlCol="0">
            <a:spAutoFit/>
          </a:bodyPr>
          <a:lstStyle/>
          <a:p>
            <a:r>
              <a:rPr lang="ko-KR" altLang="en-US" sz="900" dirty="0">
                <a:latin typeface="+mn-ea"/>
              </a:rPr>
              <a:t>연도</a:t>
            </a:r>
            <a:r>
              <a:rPr lang="en-US" altLang="ko-KR" sz="900" dirty="0">
                <a:latin typeface="+mn-ea"/>
              </a:rPr>
              <a:t>, </a:t>
            </a:r>
            <a:r>
              <a:rPr lang="ko-KR" altLang="en-US" sz="900" dirty="0">
                <a:latin typeface="+mn-ea"/>
              </a:rPr>
              <a:t>월 설정</a:t>
            </a:r>
          </a:p>
        </p:txBody>
      </p:sp>
      <p:sp>
        <p:nvSpPr>
          <p:cNvPr id="155" name="모서리가 둥근 직사각형 154"/>
          <p:cNvSpPr/>
          <p:nvPr/>
        </p:nvSpPr>
        <p:spPr>
          <a:xfrm rot="5400000">
            <a:off x="6098765" y="4392689"/>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7" name="모서리가 둥근 직사각형 156"/>
          <p:cNvSpPr/>
          <p:nvPr/>
        </p:nvSpPr>
        <p:spPr>
          <a:xfrm rot="5400000">
            <a:off x="4912204" y="4212689"/>
            <a:ext cx="36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7" name="직사각형 6"/>
          <p:cNvSpPr/>
          <p:nvPr/>
        </p:nvSpPr>
        <p:spPr>
          <a:xfrm>
            <a:off x="5287805" y="4022976"/>
            <a:ext cx="956345" cy="192463"/>
          </a:xfrm>
          <a:prstGeom prst="rect">
            <a:avLst/>
          </a:prstGeom>
          <a:solidFill>
            <a:schemeClr val="bg1">
              <a:lumMod val="9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5330761" y="3983744"/>
            <a:ext cx="434753" cy="1508105"/>
          </a:xfrm>
          <a:prstGeom prst="rect">
            <a:avLst/>
          </a:prstGeom>
          <a:noFill/>
        </p:spPr>
        <p:txBody>
          <a:bodyPr wrap="square" lIns="0" tIns="0" rIns="0" bIns="0" rtlCol="0">
            <a:spAutoFit/>
          </a:bodyPr>
          <a:lstStyle/>
          <a:p>
            <a:pPr>
              <a:lnSpc>
                <a:spcPct val="200000"/>
              </a:lnSpc>
            </a:pPr>
            <a:r>
              <a:rPr lang="en-US" altLang="ko-KR" sz="700" dirty="0">
                <a:latin typeface="+mn-ea"/>
              </a:rPr>
              <a:t>1</a:t>
            </a:r>
            <a:r>
              <a:rPr lang="ko-KR" altLang="en-US" sz="700" dirty="0">
                <a:latin typeface="+mn-ea"/>
              </a:rPr>
              <a:t>월</a:t>
            </a:r>
            <a:endParaRPr lang="en-US" altLang="ko-KR" sz="700" dirty="0">
              <a:latin typeface="+mn-ea"/>
            </a:endParaRPr>
          </a:p>
          <a:p>
            <a:pPr>
              <a:lnSpc>
                <a:spcPct val="200000"/>
              </a:lnSpc>
            </a:pPr>
            <a:r>
              <a:rPr lang="en-US" altLang="ko-KR" sz="700" dirty="0">
                <a:latin typeface="+mn-ea"/>
              </a:rPr>
              <a:t>2</a:t>
            </a:r>
            <a:r>
              <a:rPr lang="ko-KR" altLang="en-US" sz="700" dirty="0">
                <a:latin typeface="+mn-ea"/>
              </a:rPr>
              <a:t>월</a:t>
            </a:r>
            <a:endParaRPr lang="en-US" altLang="ko-KR" sz="700" dirty="0">
              <a:latin typeface="+mn-ea"/>
            </a:endParaRPr>
          </a:p>
          <a:p>
            <a:pPr>
              <a:lnSpc>
                <a:spcPct val="200000"/>
              </a:lnSpc>
            </a:pPr>
            <a:r>
              <a:rPr lang="en-US" altLang="ko-KR" sz="700" dirty="0">
                <a:latin typeface="+mn-ea"/>
              </a:rPr>
              <a:t>3</a:t>
            </a:r>
            <a:r>
              <a:rPr lang="ko-KR" altLang="en-US" sz="700" dirty="0">
                <a:latin typeface="+mn-ea"/>
              </a:rPr>
              <a:t>월</a:t>
            </a:r>
            <a:endParaRPr lang="en-US" altLang="ko-KR" sz="700" dirty="0">
              <a:latin typeface="+mn-ea"/>
            </a:endParaRPr>
          </a:p>
          <a:p>
            <a:pPr>
              <a:lnSpc>
                <a:spcPct val="200000"/>
              </a:lnSpc>
            </a:pPr>
            <a:r>
              <a:rPr lang="en-US" altLang="ko-KR" sz="700" dirty="0">
                <a:latin typeface="+mn-ea"/>
              </a:rPr>
              <a:t>4</a:t>
            </a:r>
            <a:r>
              <a:rPr lang="ko-KR" altLang="en-US" sz="700" dirty="0">
                <a:latin typeface="+mn-ea"/>
              </a:rPr>
              <a:t>월</a:t>
            </a:r>
            <a:endParaRPr lang="en-US" altLang="ko-KR" sz="700" dirty="0">
              <a:latin typeface="+mn-ea"/>
            </a:endParaRPr>
          </a:p>
          <a:p>
            <a:pPr>
              <a:lnSpc>
                <a:spcPct val="200000"/>
              </a:lnSpc>
            </a:pPr>
            <a:r>
              <a:rPr lang="en-US" altLang="ko-KR" sz="700" dirty="0">
                <a:latin typeface="+mn-ea"/>
              </a:rPr>
              <a:t>5</a:t>
            </a:r>
            <a:r>
              <a:rPr lang="ko-KR" altLang="en-US" sz="700" dirty="0">
                <a:latin typeface="+mn-ea"/>
              </a:rPr>
              <a:t>월</a:t>
            </a:r>
            <a:endParaRPr lang="en-US" altLang="ko-KR" sz="700" dirty="0">
              <a:latin typeface="+mn-ea"/>
            </a:endParaRPr>
          </a:p>
          <a:p>
            <a:pPr>
              <a:lnSpc>
                <a:spcPct val="200000"/>
              </a:lnSpc>
            </a:pPr>
            <a:r>
              <a:rPr lang="en-US" altLang="ko-KR" sz="700" dirty="0">
                <a:latin typeface="+mn-ea"/>
              </a:rPr>
              <a:t>6</a:t>
            </a:r>
            <a:r>
              <a:rPr lang="ko-KR" altLang="en-US" sz="700" dirty="0">
                <a:latin typeface="+mn-ea"/>
              </a:rPr>
              <a:t>월</a:t>
            </a:r>
            <a:endParaRPr lang="en-US" altLang="ko-KR" sz="700" dirty="0">
              <a:latin typeface="+mn-ea"/>
            </a:endParaRPr>
          </a:p>
          <a:p>
            <a:pPr>
              <a:lnSpc>
                <a:spcPct val="200000"/>
              </a:lnSpc>
            </a:pPr>
            <a:r>
              <a:rPr lang="en-US" altLang="ko-KR" sz="700" dirty="0">
                <a:latin typeface="+mn-ea"/>
              </a:rPr>
              <a:t>7</a:t>
            </a:r>
            <a:r>
              <a:rPr lang="ko-KR" altLang="en-US" sz="700" dirty="0">
                <a:latin typeface="+mn-ea"/>
              </a:rPr>
              <a:t>월</a:t>
            </a:r>
            <a:endParaRPr lang="en-US" altLang="ko-KR" sz="700" dirty="0">
              <a:latin typeface="+mn-ea"/>
            </a:endParaRPr>
          </a:p>
        </p:txBody>
      </p:sp>
      <p:sp>
        <p:nvSpPr>
          <p:cNvPr id="158" name="직사각형 157"/>
          <p:cNvSpPr/>
          <p:nvPr/>
        </p:nvSpPr>
        <p:spPr>
          <a:xfrm>
            <a:off x="4075450" y="4022976"/>
            <a:ext cx="956345" cy="192463"/>
          </a:xfrm>
          <a:prstGeom prst="rect">
            <a:avLst/>
          </a:prstGeom>
          <a:solidFill>
            <a:schemeClr val="bg1">
              <a:lumMod val="9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8" name="TextBox 147">
            <a:extLst>
              <a:ext uri="{FF2B5EF4-FFF2-40B4-BE49-F238E27FC236}">
                <a16:creationId xmlns:a16="http://schemas.microsoft.com/office/drawing/2014/main" id="{FFC49AEA-2A8F-250C-A86A-A7751D9706C3}"/>
              </a:ext>
            </a:extLst>
          </p:cNvPr>
          <p:cNvSpPr txBox="1"/>
          <p:nvPr/>
        </p:nvSpPr>
        <p:spPr>
          <a:xfrm>
            <a:off x="4176932" y="3983744"/>
            <a:ext cx="510094" cy="1508105"/>
          </a:xfrm>
          <a:prstGeom prst="rect">
            <a:avLst/>
          </a:prstGeom>
          <a:noFill/>
        </p:spPr>
        <p:txBody>
          <a:bodyPr wrap="square" lIns="0" tIns="0" rIns="0" bIns="0" rtlCol="0">
            <a:spAutoFit/>
          </a:bodyPr>
          <a:lstStyle/>
          <a:p>
            <a:pPr>
              <a:lnSpc>
                <a:spcPct val="200000"/>
              </a:lnSpc>
            </a:pPr>
            <a:r>
              <a:rPr lang="en-US" altLang="ko-KR" sz="700" dirty="0">
                <a:latin typeface="+mn-ea"/>
              </a:rPr>
              <a:t>2026</a:t>
            </a:r>
          </a:p>
          <a:p>
            <a:pPr>
              <a:lnSpc>
                <a:spcPct val="200000"/>
              </a:lnSpc>
            </a:pPr>
            <a:r>
              <a:rPr lang="en-US" altLang="ko-KR" sz="700" dirty="0">
                <a:latin typeface="+mn-ea"/>
              </a:rPr>
              <a:t>2025</a:t>
            </a:r>
          </a:p>
          <a:p>
            <a:pPr>
              <a:lnSpc>
                <a:spcPct val="200000"/>
              </a:lnSpc>
            </a:pPr>
            <a:r>
              <a:rPr lang="en-US" altLang="ko-KR" sz="700" dirty="0">
                <a:latin typeface="+mn-ea"/>
              </a:rPr>
              <a:t>2024</a:t>
            </a:r>
          </a:p>
          <a:p>
            <a:pPr>
              <a:lnSpc>
                <a:spcPct val="200000"/>
              </a:lnSpc>
            </a:pPr>
            <a:r>
              <a:rPr lang="en-US" altLang="ko-KR" sz="700" dirty="0">
                <a:latin typeface="+mn-ea"/>
              </a:rPr>
              <a:t>2023</a:t>
            </a:r>
          </a:p>
          <a:p>
            <a:pPr>
              <a:lnSpc>
                <a:spcPct val="200000"/>
              </a:lnSpc>
            </a:pPr>
            <a:r>
              <a:rPr lang="en-US" altLang="ko-KR" sz="700" dirty="0">
                <a:latin typeface="+mn-ea"/>
              </a:rPr>
              <a:t>2022</a:t>
            </a:r>
          </a:p>
          <a:p>
            <a:pPr>
              <a:lnSpc>
                <a:spcPct val="200000"/>
              </a:lnSpc>
            </a:pPr>
            <a:r>
              <a:rPr lang="en-US" altLang="ko-KR" sz="700" dirty="0">
                <a:latin typeface="+mn-ea"/>
              </a:rPr>
              <a:t>2021</a:t>
            </a:r>
          </a:p>
          <a:p>
            <a:pPr>
              <a:lnSpc>
                <a:spcPct val="200000"/>
              </a:lnSpc>
            </a:pPr>
            <a:r>
              <a:rPr lang="en-US" altLang="ko-KR" sz="700" dirty="0">
                <a:latin typeface="+mn-ea"/>
              </a:rPr>
              <a:t>2020</a:t>
            </a:r>
          </a:p>
        </p:txBody>
      </p:sp>
      <p:sp>
        <p:nvSpPr>
          <p:cNvPr id="159" name="타원 158">
            <a:extLst>
              <a:ext uri="{FF2B5EF4-FFF2-40B4-BE49-F238E27FC236}">
                <a16:creationId xmlns:a16="http://schemas.microsoft.com/office/drawing/2014/main" id="{37A7FF4F-0EAA-1463-560A-D5EC24416103}"/>
              </a:ext>
            </a:extLst>
          </p:cNvPr>
          <p:cNvSpPr/>
          <p:nvPr/>
        </p:nvSpPr>
        <p:spPr>
          <a:xfrm>
            <a:off x="3695055" y="36855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62" name="타원 61">
            <a:extLst>
              <a:ext uri="{FF2B5EF4-FFF2-40B4-BE49-F238E27FC236}">
                <a16:creationId xmlns:a16="http://schemas.microsoft.com/office/drawing/2014/main" id="{37A7FF4F-0EAA-1463-560A-D5EC24416103}"/>
              </a:ext>
            </a:extLst>
          </p:cNvPr>
          <p:cNvSpPr/>
          <p:nvPr/>
        </p:nvSpPr>
        <p:spPr>
          <a:xfrm>
            <a:off x="4512317" y="568079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6977298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입찰공고 상세 화면 상단에 입찰 공고 정보 표시</a:t>
            </a:r>
            <a:r>
              <a:rPr lang="en-US" altLang="ko-KR" dirty="0"/>
              <a:t/>
            </a:r>
            <a:br>
              <a:rPr lang="en-US" altLang="ko-KR" dirty="0"/>
            </a:br>
            <a:r>
              <a:rPr lang="en-US" altLang="ko-KR" dirty="0"/>
              <a:t>1-1 – </a:t>
            </a:r>
            <a:r>
              <a:rPr lang="ko-KR" altLang="en-US" dirty="0"/>
              <a:t>최초 확장하여 목록과 동일한 정보 표시</a:t>
            </a:r>
            <a:r>
              <a:rPr lang="en-US" altLang="ko-KR" dirty="0"/>
              <a:t/>
            </a:r>
            <a:br>
              <a:rPr lang="en-US" altLang="ko-KR" dirty="0"/>
            </a:br>
            <a:r>
              <a:rPr lang="en-US" altLang="ko-KR" dirty="0"/>
              <a:t>1-2 – </a:t>
            </a:r>
            <a:r>
              <a:rPr lang="ko-KR" altLang="en-US" dirty="0"/>
              <a:t>스크롤이 발생하는 경우 최소화하여 품목</a:t>
            </a:r>
            <a:r>
              <a:rPr lang="en-US" altLang="ko-KR" dirty="0"/>
              <a:t>, </a:t>
            </a:r>
            <a:r>
              <a:rPr lang="ko-KR" altLang="en-US" dirty="0"/>
              <a:t>제목 정보만 상단 상시 노출</a:t>
            </a:r>
            <a:endParaRPr lang="en-US" altLang="ko-KR" dirty="0"/>
          </a:p>
          <a:p>
            <a:pPr marL="228600" indent="-228600">
              <a:buFont typeface="+mj-lt"/>
              <a:buAutoNum type="arabicPeriod"/>
            </a:pPr>
            <a:r>
              <a:rPr lang="ko-KR" altLang="en-US" dirty="0"/>
              <a:t>공고의 공지사항이 있는 경우 표시</a:t>
            </a:r>
            <a:r>
              <a:rPr lang="en-US" altLang="ko-KR" dirty="0"/>
              <a:t/>
            </a:r>
            <a:br>
              <a:rPr lang="en-US" altLang="ko-KR" dirty="0"/>
            </a:br>
            <a:r>
              <a:rPr lang="en-US" altLang="ko-KR" dirty="0"/>
              <a:t>- </a:t>
            </a:r>
            <a:r>
              <a:rPr lang="ko-KR" altLang="en-US" dirty="0"/>
              <a:t>공지사항은 기본으로 닫힘</a:t>
            </a:r>
            <a:r>
              <a:rPr lang="en-US" altLang="ko-KR" dirty="0"/>
              <a:t/>
            </a:r>
            <a:br>
              <a:rPr lang="en-US" altLang="ko-KR" dirty="0"/>
            </a:br>
            <a:r>
              <a:rPr lang="en-US" altLang="ko-KR" dirty="0"/>
              <a:t>- </a:t>
            </a:r>
            <a:r>
              <a:rPr lang="ko-KR" altLang="en-US" dirty="0"/>
              <a:t>클릭으로 열리고 닫힘 처리</a:t>
            </a:r>
            <a:endParaRPr lang="en-US" altLang="ko-KR" dirty="0"/>
          </a:p>
          <a:p>
            <a:pPr marL="228600" indent="-228600">
              <a:buFont typeface="+mj-lt"/>
              <a:buAutoNum type="arabicPeriod"/>
            </a:pPr>
            <a:r>
              <a:rPr lang="ko-KR" altLang="en-US" dirty="0"/>
              <a:t>탭 메뉴</a:t>
            </a:r>
            <a:r>
              <a:rPr lang="en-US" altLang="ko-KR" dirty="0"/>
              <a:t/>
            </a:r>
            <a:br>
              <a:rPr lang="en-US" altLang="ko-KR" dirty="0"/>
            </a:br>
            <a:r>
              <a:rPr lang="en-US" altLang="ko-KR" dirty="0"/>
              <a:t>- </a:t>
            </a:r>
            <a:r>
              <a:rPr lang="ko-KR" altLang="en-US" dirty="0"/>
              <a:t>좌우 </a:t>
            </a:r>
            <a:r>
              <a:rPr lang="ko-KR" altLang="en-US" dirty="0" err="1"/>
              <a:t>스와이프</a:t>
            </a:r>
            <a:r>
              <a:rPr lang="en-US" altLang="ko-KR" dirty="0"/>
              <a:t/>
            </a:r>
            <a:br>
              <a:rPr lang="en-US" altLang="ko-KR" dirty="0"/>
            </a:br>
            <a:r>
              <a:rPr lang="en-US" altLang="ko-KR" dirty="0"/>
              <a:t>- </a:t>
            </a:r>
            <a:r>
              <a:rPr lang="ko-KR" altLang="en-US" dirty="0"/>
              <a:t>좌우 이동 버튼 </a:t>
            </a:r>
            <a:r>
              <a:rPr lang="en-US" altLang="ko-KR" dirty="0"/>
              <a:t>(</a:t>
            </a:r>
            <a:r>
              <a:rPr lang="ko-KR" altLang="en-US" dirty="0"/>
              <a:t>좌우 스크롤</a:t>
            </a:r>
            <a:r>
              <a:rPr lang="en-US" altLang="ko-KR" dirty="0"/>
              <a:t>)</a:t>
            </a:r>
          </a:p>
          <a:p>
            <a:pPr marL="228600" indent="-228600">
              <a:buFont typeface="+mj-lt"/>
              <a:buAutoNum type="arabicPeriod"/>
            </a:pPr>
            <a:r>
              <a:rPr lang="ko-KR" altLang="en-US" dirty="0"/>
              <a:t>공고 내용</a:t>
            </a:r>
            <a:r>
              <a:rPr lang="en-US" altLang="ko-KR" dirty="0"/>
              <a:t/>
            </a:r>
            <a:br>
              <a:rPr lang="en-US" altLang="ko-KR" dirty="0"/>
            </a:br>
            <a:r>
              <a:rPr lang="en-US" altLang="ko-KR" dirty="0"/>
              <a:t>- </a:t>
            </a:r>
            <a:r>
              <a:rPr lang="ko-KR" altLang="en-US" dirty="0"/>
              <a:t>각 공고에 맞춰 폼 변화에 유의</a:t>
            </a:r>
            <a:r>
              <a:rPr lang="en-US" altLang="ko-KR" dirty="0"/>
              <a:t/>
            </a:r>
            <a:br>
              <a:rPr lang="en-US" altLang="ko-KR" dirty="0"/>
            </a:br>
            <a:r>
              <a:rPr lang="en-US" altLang="ko-KR" dirty="0"/>
              <a:t>- </a:t>
            </a:r>
            <a:r>
              <a:rPr lang="ko-KR" altLang="en-US" dirty="0"/>
              <a:t>노출 정보 폼 변화는 별도 입찰 공고 흐름에서 정의</a:t>
            </a:r>
            <a:endParaRPr lang="en-US" altLang="ko-KR" dirty="0"/>
          </a:p>
          <a:p>
            <a:pPr marL="228600" indent="-228600">
              <a:buFont typeface="+mj-lt"/>
              <a:buAutoNum type="arabicPeriod"/>
            </a:pPr>
            <a:r>
              <a:rPr lang="ko-KR" altLang="en-US" dirty="0"/>
              <a:t>스크롤 발생 시 변화</a:t>
            </a:r>
            <a:r>
              <a:rPr lang="en-US" altLang="ko-KR" dirty="0"/>
              <a:t/>
            </a:r>
            <a:br>
              <a:rPr lang="en-US" altLang="ko-KR" dirty="0"/>
            </a:br>
            <a:r>
              <a:rPr lang="en-US" altLang="ko-KR" dirty="0"/>
              <a:t>- </a:t>
            </a:r>
            <a:r>
              <a:rPr lang="ko-KR" altLang="en-US" dirty="0"/>
              <a:t>상단 타이틀 영역 최소화</a:t>
            </a:r>
            <a:r>
              <a:rPr lang="en-US" altLang="ko-KR" dirty="0"/>
              <a:t/>
            </a:r>
            <a:br>
              <a:rPr lang="en-US" altLang="ko-KR" dirty="0"/>
            </a:br>
            <a:r>
              <a:rPr lang="en-US" altLang="ko-KR" dirty="0"/>
              <a:t>- </a:t>
            </a:r>
            <a:r>
              <a:rPr lang="ko-KR" altLang="en-US" dirty="0"/>
              <a:t>공지사항 단계 표시기는 스크롤</a:t>
            </a:r>
            <a:r>
              <a:rPr lang="en-US" altLang="ko-KR" dirty="0"/>
              <a:t/>
            </a:r>
            <a:br>
              <a:rPr lang="en-US" altLang="ko-KR" dirty="0"/>
            </a:br>
            <a:r>
              <a:rPr lang="en-US" altLang="ko-KR" dirty="0"/>
              <a:t>- </a:t>
            </a:r>
            <a:r>
              <a:rPr lang="ko-KR" altLang="en-US" dirty="0"/>
              <a:t>스크롤 시 탭 메뉴 타이틀 </a:t>
            </a:r>
            <a:r>
              <a:rPr lang="ko-KR" altLang="en-US" dirty="0" err="1"/>
              <a:t>하단고정</a:t>
            </a:r>
            <a:r>
              <a:rPr lang="en-US" altLang="ko-KR" dirty="0"/>
              <a:t/>
            </a:r>
            <a:br>
              <a:rPr lang="en-US" altLang="ko-KR" dirty="0"/>
            </a:br>
            <a:r>
              <a:rPr lang="en-US" altLang="ko-KR" dirty="0"/>
              <a:t>  &gt; </a:t>
            </a:r>
            <a:r>
              <a:rPr lang="ko-KR" altLang="en-US" dirty="0"/>
              <a:t>현재 탭 선택 시 </a:t>
            </a:r>
            <a:r>
              <a:rPr lang="ko-KR" altLang="en-US" dirty="0" err="1"/>
              <a:t>최상단</a:t>
            </a:r>
            <a:r>
              <a:rPr lang="ko-KR" altLang="en-US" dirty="0"/>
              <a:t> 이동</a:t>
            </a:r>
            <a:r>
              <a:rPr lang="en-US" altLang="ko-KR" dirty="0"/>
              <a:t/>
            </a:r>
            <a:br>
              <a:rPr lang="en-US" altLang="ko-KR" dirty="0"/>
            </a:br>
            <a:r>
              <a:rPr lang="en-US" altLang="ko-KR" dirty="0"/>
              <a:t>- </a:t>
            </a:r>
            <a:r>
              <a:rPr lang="ko-KR" altLang="en-US" dirty="0"/>
              <a:t>탭 메뉴 하단은 전부 스크롤 이동</a:t>
            </a:r>
            <a:endParaRPr lang="en-US" altLang="ko-KR" dirty="0"/>
          </a:p>
          <a:p>
            <a:pPr marL="228600" indent="-228600">
              <a:buFont typeface="+mj-lt"/>
              <a:buAutoNum type="arabicPeriod"/>
            </a:pPr>
            <a:r>
              <a:rPr lang="ko-KR" altLang="en-US" dirty="0" err="1"/>
              <a:t>플로팅</a:t>
            </a:r>
            <a:r>
              <a:rPr lang="ko-KR" altLang="en-US" dirty="0"/>
              <a:t> 버튼</a:t>
            </a:r>
            <a:r>
              <a:rPr lang="en-US" altLang="ko-KR" dirty="0"/>
              <a:t/>
            </a:r>
            <a:br>
              <a:rPr lang="en-US" altLang="ko-KR" dirty="0"/>
            </a:br>
            <a:r>
              <a:rPr lang="ko-KR" altLang="en-US" dirty="0" err="1"/>
              <a:t>플로팅</a:t>
            </a:r>
            <a:r>
              <a:rPr lang="ko-KR" altLang="en-US" dirty="0"/>
              <a:t> 버튼은 후술함</a:t>
            </a:r>
            <a:r>
              <a:rPr lang="en-US" altLang="ko-KR" dirty="0"/>
              <a:t>.</a:t>
            </a:r>
            <a:br>
              <a:rPr lang="en-US" altLang="ko-KR" dirty="0"/>
            </a:br>
            <a:r>
              <a:rPr lang="en-US" altLang="ko-KR" dirty="0"/>
              <a:t>- </a:t>
            </a:r>
            <a:r>
              <a:rPr lang="ko-KR" altLang="en-US" dirty="0"/>
              <a:t>상단 아이콘</a:t>
            </a:r>
            <a:r>
              <a:rPr lang="en-US" altLang="ko-KR" dirty="0"/>
              <a:t> - </a:t>
            </a:r>
            <a:r>
              <a:rPr lang="ko-KR" altLang="en-US" dirty="0" err="1"/>
              <a:t>최상단</a:t>
            </a:r>
            <a:r>
              <a:rPr lang="ko-KR" altLang="en-US" dirty="0"/>
              <a:t> </a:t>
            </a:r>
            <a:r>
              <a:rPr lang="en-US" altLang="ko-KR" dirty="0"/>
              <a:t>(</a:t>
            </a:r>
            <a:r>
              <a:rPr lang="ko-KR" altLang="en-US" dirty="0"/>
              <a:t>전체 화면 공통</a:t>
            </a:r>
            <a:r>
              <a:rPr lang="en-US" altLang="ko-KR" dirty="0"/>
              <a:t>)</a:t>
            </a:r>
            <a:br>
              <a:rPr lang="en-US" altLang="ko-KR" dirty="0"/>
            </a:br>
            <a:r>
              <a:rPr lang="en-US" altLang="ko-KR" dirty="0"/>
              <a:t>- </a:t>
            </a:r>
            <a:r>
              <a:rPr lang="ko-KR" altLang="en-US" dirty="0"/>
              <a:t>더하기 아이콘 </a:t>
            </a:r>
            <a:r>
              <a:rPr lang="en-US" altLang="ko-KR" dirty="0"/>
              <a:t>- </a:t>
            </a:r>
            <a:r>
              <a:rPr lang="ko-KR" altLang="en-US" dirty="0"/>
              <a:t>버튼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 공고 상세</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입찰공고 상세</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085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158410"/>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493475"/>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478086"/>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2025-12-22</a:t>
            </a:r>
          </a:p>
          <a:p>
            <a:pPr>
              <a:lnSpc>
                <a:spcPct val="150000"/>
              </a:lnSpc>
            </a:pPr>
            <a:r>
              <a:rPr lang="en-US" altLang="ko-KR" sz="600" dirty="0">
                <a:latin typeface="+mn-ea"/>
              </a:rPr>
              <a:t>2025-12-23 17:00</a:t>
            </a:r>
          </a:p>
          <a:p>
            <a:pPr>
              <a:lnSpc>
                <a:spcPct val="150000"/>
              </a:lnSpc>
            </a:pPr>
            <a:r>
              <a:rPr lang="en-US" altLang="ko-KR" sz="600" dirty="0">
                <a:latin typeface="+mn-ea"/>
              </a:rPr>
              <a:t>2025-12-24 10:00</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1974079"/>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197407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51256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8538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546317"/>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35776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3659648"/>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 name="포인트가 5개인 별 2"/>
          <p:cNvSpPr/>
          <p:nvPr/>
        </p:nvSpPr>
        <p:spPr>
          <a:xfrm>
            <a:off x="2682759" y="1949976"/>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20821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991608"/>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18545" y="3991608"/>
            <a:ext cx="447776" cy="107722"/>
          </a:xfrm>
          <a:prstGeom prst="rect">
            <a:avLst/>
          </a:prstGeom>
          <a:noFill/>
        </p:spPr>
        <p:txBody>
          <a:bodyPr wrap="square" lIns="0" tIns="0" rIns="0" bIns="0" rtlCol="0">
            <a:spAutoFit/>
          </a:bodyPr>
          <a:lstStyle/>
          <a:p>
            <a:pPr algn="ctr"/>
            <a:r>
              <a:rPr lang="ko-KR" altLang="en-US" sz="700" dirty="0" err="1">
                <a:latin typeface="+mn-ea"/>
              </a:rPr>
              <a:t>품목명세서</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1760915" y="3991608"/>
            <a:ext cx="543960" cy="107722"/>
          </a:xfrm>
          <a:prstGeom prst="rect">
            <a:avLst/>
          </a:prstGeom>
          <a:noFill/>
        </p:spPr>
        <p:txBody>
          <a:bodyPr wrap="square" lIns="0" tIns="0" rIns="0" bIns="0" rtlCol="0">
            <a:spAutoFit/>
          </a:bodyPr>
          <a:lstStyle/>
          <a:p>
            <a:pPr algn="ctr"/>
            <a:r>
              <a:rPr lang="ko-KR" altLang="en-US" sz="700" dirty="0">
                <a:latin typeface="+mn-ea"/>
              </a:rPr>
              <a:t>계약특수조건</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399469" y="3991608"/>
            <a:ext cx="645068" cy="107722"/>
          </a:xfrm>
          <a:prstGeom prst="rect">
            <a:avLst/>
          </a:prstGeom>
          <a:noFill/>
        </p:spPr>
        <p:txBody>
          <a:bodyPr wrap="square" lIns="0" tIns="0" rIns="0" bIns="0" rtlCol="0">
            <a:spAutoFit/>
          </a:bodyPr>
          <a:lstStyle/>
          <a:p>
            <a:pPr algn="ctr"/>
            <a:r>
              <a:rPr lang="ko-KR" altLang="en-US" sz="700" dirty="0">
                <a:latin typeface="+mn-ea"/>
              </a:rPr>
              <a:t>제안서평가결과</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208215"/>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953485"/>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6" name="TextBox 105">
            <a:extLst>
              <a:ext uri="{FF2B5EF4-FFF2-40B4-BE49-F238E27FC236}">
                <a16:creationId xmlns:a16="http://schemas.microsoft.com/office/drawing/2014/main" id="{FFC49AEA-2A8F-250C-A86A-A7751D9706C3}"/>
              </a:ext>
            </a:extLst>
          </p:cNvPr>
          <p:cNvSpPr txBox="1"/>
          <p:nvPr/>
        </p:nvSpPr>
        <p:spPr>
          <a:xfrm>
            <a:off x="781461" y="431454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427877"/>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4622031"/>
            <a:ext cx="792000" cy="16102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62203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622031"/>
            <a:ext cx="670770" cy="1508105"/>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공고일자</a:t>
            </a:r>
            <a:endParaRPr lang="en-US" altLang="ko-KR" sz="700" dirty="0">
              <a:latin typeface="+mn-ea"/>
            </a:endParaRPr>
          </a:p>
          <a:p>
            <a:pPr>
              <a:lnSpc>
                <a:spcPct val="200000"/>
              </a:lnSpc>
            </a:pPr>
            <a:r>
              <a:rPr lang="ko-KR" altLang="en-US" sz="700" dirty="0" err="1">
                <a:latin typeface="+mn-ea"/>
              </a:rPr>
              <a:t>게제기관</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총수량</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622031"/>
            <a:ext cx="1814470" cy="1508105"/>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2025-12-22</a:t>
            </a:r>
          </a:p>
          <a:p>
            <a:pPr>
              <a:lnSpc>
                <a:spcPct val="200000"/>
              </a:lnSpc>
            </a:pPr>
            <a:r>
              <a:rPr lang="ko-KR" altLang="en-US" sz="700" dirty="0">
                <a:latin typeface="+mn-ea"/>
              </a:rPr>
              <a:t>인터넷</a:t>
            </a:r>
            <a:endParaRPr lang="en-US" altLang="ko-KR" sz="700" dirty="0">
              <a:latin typeface="+mn-ea"/>
            </a:endParaRPr>
          </a:p>
          <a:p>
            <a:pPr>
              <a:lnSpc>
                <a:spcPct val="200000"/>
              </a:lnSpc>
            </a:pPr>
            <a:r>
              <a:rPr lang="ko-KR" altLang="en-US" sz="700" dirty="0" err="1">
                <a:latin typeface="+mn-ea"/>
              </a:rPr>
              <a:t>특수작전용대물타격무인향</a:t>
            </a:r>
            <a:endParaRPr lang="en-US" altLang="ko-KR" sz="700" dirty="0">
              <a:latin typeface="+mn-ea"/>
            </a:endParaRPr>
          </a:p>
          <a:p>
            <a:pPr>
              <a:lnSpc>
                <a:spcPct val="200000"/>
              </a:lnSpc>
            </a:pPr>
            <a:r>
              <a:rPr lang="en-US" altLang="ko-KR" sz="700" dirty="0">
                <a:latin typeface="+mn-ea"/>
              </a:rPr>
              <a:t>2025LDG56349</a:t>
            </a:r>
          </a:p>
          <a:p>
            <a:pPr>
              <a:lnSpc>
                <a:spcPct val="200000"/>
              </a:lnSpc>
            </a:pPr>
            <a:r>
              <a:rPr lang="en-US" altLang="ko-KR" sz="700" dirty="0">
                <a:latin typeface="+mn-ea"/>
              </a:rPr>
              <a:t>1 AY</a:t>
            </a:r>
          </a:p>
          <a:p>
            <a:pPr>
              <a:lnSpc>
                <a:spcPct val="200000"/>
              </a:lnSpc>
            </a:pPr>
            <a:r>
              <a:rPr lang="ko-KR" altLang="en-US" sz="700" dirty="0">
                <a:latin typeface="+mn-ea"/>
              </a:rPr>
              <a:t>제조</a:t>
            </a:r>
            <a:endParaRPr lang="en-US" altLang="ko-KR" sz="700" dirty="0">
              <a:latin typeface="+mn-ea"/>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8531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50668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52805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54942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707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921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6135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8"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91" name="모서리가 둥근 직사각형 190"/>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92" name="모서리가 둥근 직사각형 191"/>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93" name="직선 연결선 192">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0" name="포인트가 5개인 별 199"/>
          <p:cNvSpPr/>
          <p:nvPr/>
        </p:nvSpPr>
        <p:spPr>
          <a:xfrm>
            <a:off x="5786291" y="1578238"/>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03" name="직선 연결선 202">
            <a:extLst>
              <a:ext uri="{FF2B5EF4-FFF2-40B4-BE49-F238E27FC236}">
                <a16:creationId xmlns:a16="http://schemas.microsoft.com/office/drawing/2014/main" id="{E9293055-D5CD-4B9E-7F64-64B2D2CA7A52}"/>
              </a:ext>
            </a:extLst>
          </p:cNvPr>
          <p:cNvCxnSpPr/>
          <p:nvPr/>
        </p:nvCxnSpPr>
        <p:spPr>
          <a:xfrm>
            <a:off x="3824022" y="2467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TextBox 203">
            <a:extLst>
              <a:ext uri="{FF2B5EF4-FFF2-40B4-BE49-F238E27FC236}">
                <a16:creationId xmlns:a16="http://schemas.microsoft.com/office/drawing/2014/main" id="{FFC49AEA-2A8F-250C-A86A-A7751D9706C3}"/>
              </a:ext>
            </a:extLst>
          </p:cNvPr>
          <p:cNvSpPr txBox="1"/>
          <p:nvPr/>
        </p:nvSpPr>
        <p:spPr>
          <a:xfrm>
            <a:off x="3867701" y="2250612"/>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205" name="TextBox 204">
            <a:extLst>
              <a:ext uri="{FF2B5EF4-FFF2-40B4-BE49-F238E27FC236}">
                <a16:creationId xmlns:a16="http://schemas.microsoft.com/office/drawing/2014/main" id="{FFC49AEA-2A8F-250C-A86A-A7751D9706C3}"/>
              </a:ext>
            </a:extLst>
          </p:cNvPr>
          <p:cNvSpPr txBox="1"/>
          <p:nvPr/>
        </p:nvSpPr>
        <p:spPr>
          <a:xfrm>
            <a:off x="4322077" y="2250612"/>
            <a:ext cx="447776" cy="107722"/>
          </a:xfrm>
          <a:prstGeom prst="rect">
            <a:avLst/>
          </a:prstGeom>
          <a:noFill/>
        </p:spPr>
        <p:txBody>
          <a:bodyPr wrap="square" lIns="0" tIns="0" rIns="0" bIns="0" rtlCol="0">
            <a:spAutoFit/>
          </a:bodyPr>
          <a:lstStyle/>
          <a:p>
            <a:pPr algn="ctr"/>
            <a:r>
              <a:rPr lang="ko-KR" altLang="en-US" sz="700" dirty="0" err="1">
                <a:latin typeface="+mn-ea"/>
              </a:rPr>
              <a:t>품목명세서</a:t>
            </a:r>
            <a:endParaRPr lang="ko-KR" altLang="en-US" sz="700" dirty="0">
              <a:latin typeface="+mn-ea"/>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4864447" y="2250612"/>
            <a:ext cx="543960" cy="107722"/>
          </a:xfrm>
          <a:prstGeom prst="rect">
            <a:avLst/>
          </a:prstGeom>
          <a:noFill/>
        </p:spPr>
        <p:txBody>
          <a:bodyPr wrap="square" lIns="0" tIns="0" rIns="0" bIns="0" rtlCol="0">
            <a:spAutoFit/>
          </a:bodyPr>
          <a:lstStyle/>
          <a:p>
            <a:pPr algn="ctr"/>
            <a:r>
              <a:rPr lang="ko-KR" altLang="en-US" sz="700" dirty="0">
                <a:latin typeface="+mn-ea"/>
              </a:rPr>
              <a:t>계약특수조건</a:t>
            </a:r>
          </a:p>
        </p:txBody>
      </p:sp>
      <p:sp>
        <p:nvSpPr>
          <p:cNvPr id="207" name="TextBox 206">
            <a:extLst>
              <a:ext uri="{FF2B5EF4-FFF2-40B4-BE49-F238E27FC236}">
                <a16:creationId xmlns:a16="http://schemas.microsoft.com/office/drawing/2014/main" id="{FFC49AEA-2A8F-250C-A86A-A7751D9706C3}"/>
              </a:ext>
            </a:extLst>
          </p:cNvPr>
          <p:cNvSpPr txBox="1"/>
          <p:nvPr/>
        </p:nvSpPr>
        <p:spPr>
          <a:xfrm>
            <a:off x="5503001" y="2250612"/>
            <a:ext cx="645068" cy="107722"/>
          </a:xfrm>
          <a:prstGeom prst="rect">
            <a:avLst/>
          </a:prstGeom>
          <a:noFill/>
        </p:spPr>
        <p:txBody>
          <a:bodyPr wrap="square" lIns="0" tIns="0" rIns="0" bIns="0" rtlCol="0">
            <a:spAutoFit/>
          </a:bodyPr>
          <a:lstStyle/>
          <a:p>
            <a:pPr algn="ctr"/>
            <a:r>
              <a:rPr lang="ko-KR" altLang="en-US" sz="700" dirty="0">
                <a:latin typeface="+mn-ea"/>
              </a:rPr>
              <a:t>제안서평가결과</a:t>
            </a:r>
          </a:p>
        </p:txBody>
      </p:sp>
      <p:cxnSp>
        <p:nvCxnSpPr>
          <p:cNvPr id="208" name="직선 연결선 207">
            <a:extLst>
              <a:ext uri="{FF2B5EF4-FFF2-40B4-BE49-F238E27FC236}">
                <a16:creationId xmlns:a16="http://schemas.microsoft.com/office/drawing/2014/main" id="{E9293055-D5CD-4B9E-7F64-64B2D2CA7A52}"/>
              </a:ext>
            </a:extLst>
          </p:cNvPr>
          <p:cNvCxnSpPr/>
          <p:nvPr/>
        </p:nvCxnSpPr>
        <p:spPr>
          <a:xfrm>
            <a:off x="3824022" y="2467219"/>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09" name="그룹 208"/>
          <p:cNvGrpSpPr/>
          <p:nvPr/>
        </p:nvGrpSpPr>
        <p:grpSpPr>
          <a:xfrm>
            <a:off x="6027618" y="2212489"/>
            <a:ext cx="422853" cy="187961"/>
            <a:chOff x="3641308" y="2234886"/>
            <a:chExt cx="422853" cy="187961"/>
          </a:xfrm>
        </p:grpSpPr>
        <p:sp>
          <p:nvSpPr>
            <p:cNvPr id="210" name="타원 20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11" name="그룹 210"/>
            <p:cNvGrpSpPr/>
            <p:nvPr/>
          </p:nvGrpSpPr>
          <p:grpSpPr>
            <a:xfrm rot="5400000" flipH="1">
              <a:off x="3679895" y="2305364"/>
              <a:ext cx="94010" cy="47005"/>
              <a:chOff x="6812560" y="3297172"/>
              <a:chExt cx="94010" cy="47005"/>
            </a:xfrm>
          </p:grpSpPr>
          <p:cxnSp>
            <p:nvCxnSpPr>
              <p:cNvPr id="216" name="직선 연결선 21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7" name="직선 연결선 21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2" name="타원 21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13" name="그룹 212"/>
            <p:cNvGrpSpPr/>
            <p:nvPr/>
          </p:nvGrpSpPr>
          <p:grpSpPr>
            <a:xfrm rot="16200000">
              <a:off x="3931564" y="2305364"/>
              <a:ext cx="94010" cy="47005"/>
              <a:chOff x="6812560" y="3297172"/>
              <a:chExt cx="94010" cy="47005"/>
            </a:xfrm>
          </p:grpSpPr>
          <p:cxnSp>
            <p:nvCxnSpPr>
              <p:cNvPr id="214" name="직선 연결선 2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5" name="직선 연결선 2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18" name="TextBox 217">
            <a:extLst>
              <a:ext uri="{FF2B5EF4-FFF2-40B4-BE49-F238E27FC236}">
                <a16:creationId xmlns:a16="http://schemas.microsoft.com/office/drawing/2014/main" id="{FFC49AEA-2A8F-250C-A86A-A7751D9706C3}"/>
              </a:ext>
            </a:extLst>
          </p:cNvPr>
          <p:cNvSpPr txBox="1"/>
          <p:nvPr/>
        </p:nvSpPr>
        <p:spPr>
          <a:xfrm>
            <a:off x="3884993" y="2573550"/>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219" name="그룹 218"/>
          <p:cNvGrpSpPr/>
          <p:nvPr/>
        </p:nvGrpSpPr>
        <p:grpSpPr>
          <a:xfrm flipV="1">
            <a:off x="6247080" y="2686881"/>
            <a:ext cx="94010" cy="47005"/>
            <a:chOff x="6812560" y="3297172"/>
            <a:chExt cx="94010" cy="47005"/>
          </a:xfrm>
        </p:grpSpPr>
        <p:cxnSp>
          <p:nvCxnSpPr>
            <p:cNvPr id="220" name="직선 연결선 2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1" name="직선 연결선 22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22" name="직사각형 221"/>
          <p:cNvSpPr/>
          <p:nvPr/>
        </p:nvSpPr>
        <p:spPr>
          <a:xfrm>
            <a:off x="3826115" y="2881035"/>
            <a:ext cx="792000" cy="10925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3824022" y="288103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3913179" y="2881035"/>
            <a:ext cx="670770" cy="107721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공고일자</a:t>
            </a:r>
            <a:endParaRPr lang="en-US" altLang="ko-KR" sz="700" dirty="0">
              <a:latin typeface="+mn-ea"/>
            </a:endParaRPr>
          </a:p>
          <a:p>
            <a:pPr>
              <a:lnSpc>
                <a:spcPct val="200000"/>
              </a:lnSpc>
            </a:pPr>
            <a:r>
              <a:rPr lang="ko-KR" altLang="en-US" sz="700" dirty="0" err="1">
                <a:latin typeface="+mn-ea"/>
              </a:rPr>
              <a:t>게제기관</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en-US" altLang="ko-KR" sz="700" dirty="0">
                <a:latin typeface="+mn-ea"/>
              </a:rPr>
              <a:t>⁞</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4670027" y="2881035"/>
            <a:ext cx="1814470" cy="1077218"/>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2025-12-22</a:t>
            </a:r>
          </a:p>
          <a:p>
            <a:pPr>
              <a:lnSpc>
                <a:spcPct val="200000"/>
              </a:lnSpc>
            </a:pPr>
            <a:r>
              <a:rPr lang="ko-KR" altLang="en-US" sz="700" dirty="0">
                <a:latin typeface="+mn-ea"/>
              </a:rPr>
              <a:t>인터넷</a:t>
            </a:r>
            <a:endParaRPr lang="en-US" altLang="ko-KR" sz="700" dirty="0">
              <a:latin typeface="+mn-ea"/>
            </a:endParaRPr>
          </a:p>
          <a:p>
            <a:pPr>
              <a:lnSpc>
                <a:spcPct val="200000"/>
              </a:lnSpc>
            </a:pPr>
            <a:r>
              <a:rPr lang="ko-KR" altLang="en-US" sz="700" dirty="0" err="1">
                <a:latin typeface="+mn-ea"/>
              </a:rPr>
              <a:t>특수작전용대물타격무인향</a:t>
            </a:r>
            <a:endParaRPr lang="en-US" altLang="ko-KR" sz="700" dirty="0">
              <a:latin typeface="+mn-ea"/>
            </a:endParaRPr>
          </a:p>
          <a:p>
            <a:pPr>
              <a:lnSpc>
                <a:spcPct val="200000"/>
              </a:lnSpc>
            </a:pPr>
            <a:r>
              <a:rPr lang="en-US" altLang="ko-KR" sz="700" dirty="0">
                <a:latin typeface="+mn-ea"/>
              </a:rPr>
              <a:t>⁞</a:t>
            </a:r>
          </a:p>
        </p:txBody>
      </p:sp>
      <p:cxnSp>
        <p:nvCxnSpPr>
          <p:cNvPr id="226" name="직선 연결선 225">
            <a:extLst>
              <a:ext uri="{FF2B5EF4-FFF2-40B4-BE49-F238E27FC236}">
                <a16:creationId xmlns:a16="http://schemas.microsoft.com/office/drawing/2014/main" id="{E9293055-D5CD-4B9E-7F64-64B2D2CA7A52}"/>
              </a:ext>
            </a:extLst>
          </p:cNvPr>
          <p:cNvCxnSpPr/>
          <p:nvPr/>
        </p:nvCxnSpPr>
        <p:spPr>
          <a:xfrm>
            <a:off x="3826115" y="31121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7" name="직선 연결선 226">
            <a:extLst>
              <a:ext uri="{FF2B5EF4-FFF2-40B4-BE49-F238E27FC236}">
                <a16:creationId xmlns:a16="http://schemas.microsoft.com/office/drawing/2014/main" id="{E9293055-D5CD-4B9E-7F64-64B2D2CA7A52}"/>
              </a:ext>
            </a:extLst>
          </p:cNvPr>
          <p:cNvCxnSpPr/>
          <p:nvPr/>
        </p:nvCxnSpPr>
        <p:spPr>
          <a:xfrm>
            <a:off x="3826115" y="332584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8" name="직선 연결선 227">
            <a:extLst>
              <a:ext uri="{FF2B5EF4-FFF2-40B4-BE49-F238E27FC236}">
                <a16:creationId xmlns:a16="http://schemas.microsoft.com/office/drawing/2014/main" id="{E9293055-D5CD-4B9E-7F64-64B2D2CA7A52}"/>
              </a:ext>
            </a:extLst>
          </p:cNvPr>
          <p:cNvCxnSpPr/>
          <p:nvPr/>
        </p:nvCxnSpPr>
        <p:spPr>
          <a:xfrm>
            <a:off x="3826115" y="35395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9" name="직선 연결선 228">
            <a:extLst>
              <a:ext uri="{FF2B5EF4-FFF2-40B4-BE49-F238E27FC236}">
                <a16:creationId xmlns:a16="http://schemas.microsoft.com/office/drawing/2014/main" id="{E9293055-D5CD-4B9E-7F64-64B2D2CA7A52}"/>
              </a:ext>
            </a:extLst>
          </p:cNvPr>
          <p:cNvCxnSpPr/>
          <p:nvPr/>
        </p:nvCxnSpPr>
        <p:spPr>
          <a:xfrm>
            <a:off x="3826115" y="37532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0" name="직선 연결선 229">
            <a:extLst>
              <a:ext uri="{FF2B5EF4-FFF2-40B4-BE49-F238E27FC236}">
                <a16:creationId xmlns:a16="http://schemas.microsoft.com/office/drawing/2014/main" id="{E9293055-D5CD-4B9E-7F64-64B2D2CA7A52}"/>
              </a:ext>
            </a:extLst>
          </p:cNvPr>
          <p:cNvCxnSpPr/>
          <p:nvPr/>
        </p:nvCxnSpPr>
        <p:spPr>
          <a:xfrm>
            <a:off x="3826115" y="39669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5" name="모서리가 둥근 직사각형 234"/>
          <p:cNvSpPr/>
          <p:nvPr/>
        </p:nvSpPr>
        <p:spPr>
          <a:xfrm rot="5400000">
            <a:off x="6098765" y="312680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36" name="TextBox 235">
            <a:extLst>
              <a:ext uri="{FF2B5EF4-FFF2-40B4-BE49-F238E27FC236}">
                <a16:creationId xmlns:a16="http://schemas.microsoft.com/office/drawing/2014/main" id="{FFC49AEA-2A8F-250C-A86A-A7751D9706C3}"/>
              </a:ext>
            </a:extLst>
          </p:cNvPr>
          <p:cNvSpPr txBox="1"/>
          <p:nvPr/>
        </p:nvSpPr>
        <p:spPr>
          <a:xfrm>
            <a:off x="3884993" y="4178791"/>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지역제한</a:t>
            </a:r>
          </a:p>
        </p:txBody>
      </p:sp>
      <p:grpSp>
        <p:nvGrpSpPr>
          <p:cNvPr id="237" name="그룹 236"/>
          <p:cNvGrpSpPr/>
          <p:nvPr/>
        </p:nvGrpSpPr>
        <p:grpSpPr>
          <a:xfrm flipV="1">
            <a:off x="6247080" y="4292122"/>
            <a:ext cx="94010" cy="47005"/>
            <a:chOff x="6812560" y="3297172"/>
            <a:chExt cx="94010" cy="47005"/>
          </a:xfrm>
        </p:grpSpPr>
        <p:cxnSp>
          <p:nvCxnSpPr>
            <p:cNvPr id="238" name="직선 연결선 23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9" name="직선 연결선 23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54" name="직선 연결선 253">
            <a:extLst>
              <a:ext uri="{FF2B5EF4-FFF2-40B4-BE49-F238E27FC236}">
                <a16:creationId xmlns:a16="http://schemas.microsoft.com/office/drawing/2014/main" id="{E9293055-D5CD-4B9E-7F64-64B2D2CA7A52}"/>
              </a:ext>
            </a:extLst>
          </p:cNvPr>
          <p:cNvCxnSpPr/>
          <p:nvPr/>
        </p:nvCxnSpPr>
        <p:spPr>
          <a:xfrm>
            <a:off x="3795734" y="409903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7" name="TextBox 256">
            <a:extLst>
              <a:ext uri="{FF2B5EF4-FFF2-40B4-BE49-F238E27FC236}">
                <a16:creationId xmlns:a16="http://schemas.microsoft.com/office/drawing/2014/main" id="{FFC49AEA-2A8F-250C-A86A-A7751D9706C3}"/>
              </a:ext>
            </a:extLst>
          </p:cNvPr>
          <p:cNvSpPr txBox="1"/>
          <p:nvPr/>
        </p:nvSpPr>
        <p:spPr>
          <a:xfrm>
            <a:off x="3884993" y="5148031"/>
            <a:ext cx="698956" cy="215444"/>
          </a:xfrm>
          <a:prstGeom prst="rect">
            <a:avLst/>
          </a:prstGeom>
          <a:noFill/>
        </p:spPr>
        <p:txBody>
          <a:bodyPr wrap="square" lIns="0" tIns="0" rIns="0" bIns="0" rtlCol="0">
            <a:spAutoFit/>
          </a:bodyPr>
          <a:lstStyle/>
          <a:p>
            <a:pPr>
              <a:lnSpc>
                <a:spcPct val="200000"/>
              </a:lnSpc>
            </a:pPr>
            <a:r>
              <a:rPr lang="ko-KR" altLang="en-US" sz="700">
                <a:latin typeface="+mn-ea"/>
              </a:rPr>
              <a:t>공증 및 </a:t>
            </a:r>
            <a:r>
              <a:rPr lang="ko-KR" altLang="en-US" sz="700" dirty="0" err="1">
                <a:latin typeface="+mn-ea"/>
              </a:rPr>
              <a:t>면허제한</a:t>
            </a:r>
            <a:endParaRPr lang="ko-KR" altLang="en-US" sz="700" dirty="0">
              <a:latin typeface="+mn-ea"/>
            </a:endParaRPr>
          </a:p>
        </p:txBody>
      </p:sp>
      <p:grpSp>
        <p:nvGrpSpPr>
          <p:cNvPr id="258" name="그룹 257"/>
          <p:cNvGrpSpPr/>
          <p:nvPr/>
        </p:nvGrpSpPr>
        <p:grpSpPr>
          <a:xfrm flipV="1">
            <a:off x="6247080" y="5261362"/>
            <a:ext cx="94010" cy="47005"/>
            <a:chOff x="6812560" y="3297172"/>
            <a:chExt cx="94010" cy="47005"/>
          </a:xfrm>
        </p:grpSpPr>
        <p:cxnSp>
          <p:nvCxnSpPr>
            <p:cNvPr id="259" name="직선 연결선 25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0" name="직선 연결선 25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67" name="직선 연결선 266">
            <a:extLst>
              <a:ext uri="{FF2B5EF4-FFF2-40B4-BE49-F238E27FC236}">
                <a16:creationId xmlns:a16="http://schemas.microsoft.com/office/drawing/2014/main" id="{E9293055-D5CD-4B9E-7F64-64B2D2CA7A52}"/>
              </a:ext>
            </a:extLst>
          </p:cNvPr>
          <p:cNvCxnSpPr/>
          <p:nvPr/>
        </p:nvCxnSpPr>
        <p:spPr>
          <a:xfrm>
            <a:off x="3795734" y="506827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 name="모서리가 둥근 직사각형 16"/>
          <p:cNvSpPr/>
          <p:nvPr/>
        </p:nvSpPr>
        <p:spPr>
          <a:xfrm>
            <a:off x="3824022" y="5456104"/>
            <a:ext cx="2652743" cy="776195"/>
          </a:xfrm>
          <a:prstGeom prst="roundRect">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0" name="TextBox 269">
            <a:extLst>
              <a:ext uri="{FF2B5EF4-FFF2-40B4-BE49-F238E27FC236}">
                <a16:creationId xmlns:a16="http://schemas.microsoft.com/office/drawing/2014/main" id="{FFC49AEA-2A8F-250C-A86A-A7751D9706C3}"/>
              </a:ext>
            </a:extLst>
          </p:cNvPr>
          <p:cNvSpPr txBox="1"/>
          <p:nvPr/>
        </p:nvSpPr>
        <p:spPr>
          <a:xfrm>
            <a:off x="3913178" y="5554387"/>
            <a:ext cx="2475203" cy="538609"/>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업무도움</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171450" indent="-171450">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최대 </a:t>
            </a:r>
            <a:r>
              <a:rPr lang="en-US" altLang="ko-KR" sz="700" dirty="0">
                <a:solidFill>
                  <a:schemeClr val="tx1">
                    <a:lumMod val="85000"/>
                    <a:lumOff val="15000"/>
                  </a:schemeClr>
                </a:solidFill>
                <a:latin typeface="맑은 고딕" panose="020B0503020000020004" pitchFamily="50" charset="-127"/>
              </a:rPr>
              <a:t>16</a:t>
            </a:r>
            <a:r>
              <a:rPr lang="ko-KR" altLang="en-US" sz="700" dirty="0">
                <a:solidFill>
                  <a:schemeClr val="tx1">
                    <a:lumMod val="85000"/>
                    <a:lumOff val="15000"/>
                  </a:schemeClr>
                </a:solidFill>
                <a:latin typeface="맑은 고딕" panose="020B0503020000020004" pitchFamily="50" charset="-127"/>
              </a:rPr>
              <a:t>개의 그룹이 나타날 수 있으며</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동일그룹의</a:t>
            </a:r>
            <a:r>
              <a:rPr lang="ko-KR" altLang="en-US" sz="700" dirty="0">
                <a:solidFill>
                  <a:schemeClr val="tx1">
                    <a:lumMod val="85000"/>
                    <a:lumOff val="15000"/>
                  </a:schemeClr>
                </a:solidFill>
                <a:latin typeface="맑은 고딕" panose="020B0503020000020004" pitchFamily="50" charset="-127"/>
              </a:rPr>
              <a:t> 면허는 모두 보유해야 하며 여러 개의 그룹인 경우에는 한 개 이상의 </a:t>
            </a:r>
            <a:r>
              <a:rPr lang="ko-KR" altLang="en-US" sz="700" dirty="0" err="1">
                <a:solidFill>
                  <a:schemeClr val="tx1">
                    <a:lumMod val="85000"/>
                    <a:lumOff val="15000"/>
                  </a:schemeClr>
                </a:solidFill>
                <a:latin typeface="맑은 고딕" panose="020B0503020000020004" pitchFamily="50" charset="-127"/>
              </a:rPr>
              <a:t>그룹면허를</a:t>
            </a:r>
            <a:r>
              <a:rPr lang="ko-KR" altLang="en-US" sz="700" dirty="0">
                <a:solidFill>
                  <a:schemeClr val="tx1">
                    <a:lumMod val="85000"/>
                    <a:lumOff val="15000"/>
                  </a:schemeClr>
                </a:solidFill>
                <a:latin typeface="맑은 고딕" panose="020B0503020000020004" pitchFamily="50" charset="-127"/>
              </a:rPr>
              <a:t> 가지고 있어야 합니다</a:t>
            </a:r>
            <a:r>
              <a:rPr lang="en-US" altLang="ko-KR" sz="700" dirty="0">
                <a:solidFill>
                  <a:schemeClr val="tx1">
                    <a:lumMod val="85000"/>
                    <a:lumOff val="15000"/>
                  </a:schemeClr>
                </a:solidFill>
                <a:latin typeface="맑은 고딕" panose="020B0503020000020004" pitchFamily="50" charset="-127"/>
              </a:rPr>
              <a:t>.</a:t>
            </a:r>
          </a:p>
        </p:txBody>
      </p:sp>
      <p:sp>
        <p:nvSpPr>
          <p:cNvPr id="271" name="타원 270">
            <a:extLst>
              <a:ext uri="{FF2B5EF4-FFF2-40B4-BE49-F238E27FC236}">
                <a16:creationId xmlns:a16="http://schemas.microsoft.com/office/drawing/2014/main" id="{37A7FF4F-0EAA-1463-560A-D5EC24416103}"/>
              </a:ext>
            </a:extLst>
          </p:cNvPr>
          <p:cNvSpPr/>
          <p:nvPr/>
        </p:nvSpPr>
        <p:spPr>
          <a:xfrm>
            <a:off x="571127" y="357766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72" name="타원 271">
            <a:extLst>
              <a:ext uri="{FF2B5EF4-FFF2-40B4-BE49-F238E27FC236}">
                <a16:creationId xmlns:a16="http://schemas.microsoft.com/office/drawing/2014/main" id="{37A7FF4F-0EAA-1463-560A-D5EC24416103}"/>
              </a:ext>
            </a:extLst>
          </p:cNvPr>
          <p:cNvSpPr/>
          <p:nvPr/>
        </p:nvSpPr>
        <p:spPr>
          <a:xfrm>
            <a:off x="571127" y="395540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73" name="타원 272">
            <a:extLst>
              <a:ext uri="{FF2B5EF4-FFF2-40B4-BE49-F238E27FC236}">
                <a16:creationId xmlns:a16="http://schemas.microsoft.com/office/drawing/2014/main" id="{37A7FF4F-0EAA-1463-560A-D5EC24416103}"/>
              </a:ext>
            </a:extLst>
          </p:cNvPr>
          <p:cNvSpPr/>
          <p:nvPr/>
        </p:nvSpPr>
        <p:spPr>
          <a:xfrm>
            <a:off x="571127" y="434520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74" name="사각형: 둥근 모서리 25">
            <a:extLst>
              <a:ext uri="{FF2B5EF4-FFF2-40B4-BE49-F238E27FC236}">
                <a16:creationId xmlns:a16="http://schemas.microsoft.com/office/drawing/2014/main" id="{D17B50F9-89DD-C80C-4195-7E69A48DBE7F}"/>
              </a:ext>
            </a:extLst>
          </p:cNvPr>
          <p:cNvSpPr/>
          <p:nvPr/>
        </p:nvSpPr>
        <p:spPr>
          <a:xfrm>
            <a:off x="439443" y="2231333"/>
            <a:ext cx="327084" cy="146280"/>
          </a:xfrm>
          <a:prstGeom prst="roundRect">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1-1</a:t>
            </a:r>
            <a:endParaRPr lang="ko-KR" altLang="en-US" sz="900" b="1" dirty="0"/>
          </a:p>
        </p:txBody>
      </p:sp>
      <p:sp>
        <p:nvSpPr>
          <p:cNvPr id="275" name="사각형: 둥근 모서리 25">
            <a:extLst>
              <a:ext uri="{FF2B5EF4-FFF2-40B4-BE49-F238E27FC236}">
                <a16:creationId xmlns:a16="http://schemas.microsoft.com/office/drawing/2014/main" id="{D17B50F9-89DD-C80C-4195-7E69A48DBE7F}"/>
              </a:ext>
            </a:extLst>
          </p:cNvPr>
          <p:cNvSpPr/>
          <p:nvPr/>
        </p:nvSpPr>
        <p:spPr>
          <a:xfrm>
            <a:off x="3527987" y="1860110"/>
            <a:ext cx="327084" cy="146280"/>
          </a:xfrm>
          <a:prstGeom prst="roundRect">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1-2</a:t>
            </a:r>
            <a:endParaRPr lang="ko-KR" altLang="en-US" sz="900" b="1" dirty="0"/>
          </a:p>
        </p:txBody>
      </p:sp>
      <p:sp>
        <p:nvSpPr>
          <p:cNvPr id="276" name="타원 275">
            <a:extLst>
              <a:ext uri="{FF2B5EF4-FFF2-40B4-BE49-F238E27FC236}">
                <a16:creationId xmlns:a16="http://schemas.microsoft.com/office/drawing/2014/main" id="{37A7FF4F-0EAA-1463-560A-D5EC24416103}"/>
              </a:ext>
            </a:extLst>
          </p:cNvPr>
          <p:cNvSpPr/>
          <p:nvPr/>
        </p:nvSpPr>
        <p:spPr>
          <a:xfrm>
            <a:off x="3717693" y="139936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
        <p:nvSpPr>
          <p:cNvPr id="277" name="타원 276"/>
          <p:cNvSpPr/>
          <p:nvPr/>
        </p:nvSpPr>
        <p:spPr>
          <a:xfrm>
            <a:off x="6596790" y="5154989"/>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5272060"/>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640239"/>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769705"/>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294" name="타원 293">
            <a:extLst>
              <a:ext uri="{FF2B5EF4-FFF2-40B4-BE49-F238E27FC236}">
                <a16:creationId xmlns:a16="http://schemas.microsoft.com/office/drawing/2014/main" id="{37A7FF4F-0EAA-1463-560A-D5EC24416103}"/>
              </a:ext>
            </a:extLst>
          </p:cNvPr>
          <p:cNvSpPr/>
          <p:nvPr/>
        </p:nvSpPr>
        <p:spPr>
          <a:xfrm>
            <a:off x="6688284" y="48530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6</a:t>
            </a:r>
            <a:endParaRPr lang="ko-KR" altLang="en-US" sz="900" b="1" dirty="0"/>
          </a:p>
        </p:txBody>
      </p:sp>
      <p:cxnSp>
        <p:nvCxnSpPr>
          <p:cNvPr id="295" name="직선 연결선 294">
            <a:extLst>
              <a:ext uri="{FF2B5EF4-FFF2-40B4-BE49-F238E27FC236}">
                <a16:creationId xmlns:a16="http://schemas.microsoft.com/office/drawing/2014/main" id="{E9293055-D5CD-4B9E-7F64-64B2D2CA7A52}"/>
              </a:ext>
            </a:extLst>
          </p:cNvPr>
          <p:cNvCxnSpPr/>
          <p:nvPr/>
        </p:nvCxnSpPr>
        <p:spPr>
          <a:xfrm>
            <a:off x="675399" y="315488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타원 169"/>
          <p:cNvSpPr/>
          <p:nvPr/>
        </p:nvSpPr>
        <p:spPr>
          <a:xfrm>
            <a:off x="3898259" y="554473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1" name="그룹 170"/>
          <p:cNvGrpSpPr/>
          <p:nvPr/>
        </p:nvGrpSpPr>
        <p:grpSpPr>
          <a:xfrm flipV="1">
            <a:off x="6247080" y="5593234"/>
            <a:ext cx="94010" cy="47005"/>
            <a:chOff x="6812560" y="3297172"/>
            <a:chExt cx="94010" cy="47005"/>
          </a:xfrm>
        </p:grpSpPr>
        <p:cxnSp>
          <p:nvCxnSpPr>
            <p:cNvPr id="172" name="직선 연결선 17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3" name="직선 연결선 17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74" name="그룹 173"/>
          <p:cNvGrpSpPr/>
          <p:nvPr/>
        </p:nvGrpSpPr>
        <p:grpSpPr>
          <a:xfrm>
            <a:off x="3825376" y="4543347"/>
            <a:ext cx="2652743" cy="384278"/>
            <a:chOff x="715616" y="1792037"/>
            <a:chExt cx="2652743" cy="384278"/>
          </a:xfrm>
        </p:grpSpPr>
        <p:sp>
          <p:nvSpPr>
            <p:cNvPr id="175" name="모서리가 둥근 직사각형 174"/>
            <p:cNvSpPr/>
            <p:nvPr/>
          </p:nvSpPr>
          <p:spPr>
            <a:xfrm>
              <a:off x="715616" y="1937794"/>
              <a:ext cx="2652743" cy="238521"/>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6" name="TextBox 175">
              <a:extLst>
                <a:ext uri="{FF2B5EF4-FFF2-40B4-BE49-F238E27FC236}">
                  <a16:creationId xmlns:a16="http://schemas.microsoft.com/office/drawing/2014/main" id="{FFC49AEA-2A8F-250C-A86A-A7751D9706C3}"/>
                </a:ext>
              </a:extLst>
            </p:cNvPr>
            <p:cNvSpPr txBox="1"/>
            <p:nvPr/>
          </p:nvSpPr>
          <p:spPr>
            <a:xfrm>
              <a:off x="793812" y="200319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1125945" y="2003193"/>
              <a:ext cx="1689495" cy="107722"/>
            </a:xfrm>
            <a:prstGeom prst="rect">
              <a:avLst/>
            </a:prstGeom>
            <a:noFill/>
          </p:spPr>
          <p:txBody>
            <a:bodyPr wrap="square" lIns="0" tIns="0" rIns="0" bIns="0" rtlCol="0">
              <a:spAutoFit/>
            </a:bodyPr>
            <a:lstStyle>
              <a:defPPr>
                <a:defRPr lang="ko-KR"/>
              </a:defPPr>
              <a:lvl1pPr algn="ctr">
                <a:defRPr sz="700">
                  <a:solidFill>
                    <a:schemeClr val="tx1">
                      <a:lumMod val="85000"/>
                      <a:lumOff val="15000"/>
                    </a:schemeClr>
                  </a:solidFill>
                  <a:latin typeface="맑은 고딕" panose="020B0503020000020004" pitchFamily="50" charset="-127"/>
                </a:defRPr>
              </a:lvl1pPr>
            </a:lstStyle>
            <a:p>
              <a:pPr algn="l"/>
              <a:r>
                <a:rPr lang="ko-KR" altLang="en-US" dirty="0"/>
                <a:t>서울특별시</a:t>
              </a:r>
              <a:endParaRPr lang="en-US" altLang="ko-KR" dirty="0"/>
            </a:p>
          </p:txBody>
        </p:sp>
        <p:sp>
          <p:nvSpPr>
            <p:cNvPr id="178" name="TextBox 177">
              <a:extLst>
                <a:ext uri="{FF2B5EF4-FFF2-40B4-BE49-F238E27FC236}">
                  <a16:creationId xmlns:a16="http://schemas.microsoft.com/office/drawing/2014/main" id="{FFC49AEA-2A8F-250C-A86A-A7751D9706C3}"/>
                </a:ext>
              </a:extLst>
            </p:cNvPr>
            <p:cNvSpPr txBox="1"/>
            <p:nvPr/>
          </p:nvSpPr>
          <p:spPr>
            <a:xfrm>
              <a:off x="793812" y="1792037"/>
              <a:ext cx="247786"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그룹</a:t>
              </a:r>
              <a:endParaRPr lang="en-US" altLang="ko-KR" sz="600" dirty="0">
                <a:solidFill>
                  <a:schemeClr val="tx1">
                    <a:lumMod val="85000"/>
                    <a:lumOff val="15000"/>
                  </a:schemeClr>
                </a:solidFill>
                <a:latin typeface="맑은 고딕" panose="020B0503020000020004" pitchFamily="50" charset="-127"/>
              </a:endParaRPr>
            </a:p>
          </p:txBody>
        </p:sp>
        <p:sp>
          <p:nvSpPr>
            <p:cNvPr id="179" name="TextBox 178">
              <a:extLst>
                <a:ext uri="{FF2B5EF4-FFF2-40B4-BE49-F238E27FC236}">
                  <a16:creationId xmlns:a16="http://schemas.microsoft.com/office/drawing/2014/main" id="{FFC49AEA-2A8F-250C-A86A-A7751D9706C3}"/>
                </a:ext>
              </a:extLst>
            </p:cNvPr>
            <p:cNvSpPr txBox="1"/>
            <p:nvPr/>
          </p:nvSpPr>
          <p:spPr>
            <a:xfrm>
              <a:off x="1125945" y="1792037"/>
              <a:ext cx="696976"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지역</a:t>
              </a:r>
              <a:endParaRPr lang="en-US" altLang="ko-KR" sz="600" dirty="0">
                <a:solidFill>
                  <a:schemeClr val="tx1">
                    <a:lumMod val="85000"/>
                    <a:lumOff val="15000"/>
                  </a:schemeClr>
                </a:solidFill>
                <a:latin typeface="맑은 고딕" panose="020B0503020000020004" pitchFamily="50" charset="-127"/>
              </a:endParaRPr>
            </a:p>
          </p:txBody>
        </p:sp>
        <p:sp>
          <p:nvSpPr>
            <p:cNvPr id="180" name="TextBox 179">
              <a:extLst>
                <a:ext uri="{FF2B5EF4-FFF2-40B4-BE49-F238E27FC236}">
                  <a16:creationId xmlns:a16="http://schemas.microsoft.com/office/drawing/2014/main" id="{FFC49AEA-2A8F-250C-A86A-A7751D9706C3}"/>
                </a:ext>
              </a:extLst>
            </p:cNvPr>
            <p:cNvSpPr txBox="1"/>
            <p:nvPr/>
          </p:nvSpPr>
          <p:spPr>
            <a:xfrm>
              <a:off x="2886211" y="1792037"/>
              <a:ext cx="382802"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지역코드</a:t>
              </a:r>
              <a:endParaRPr lang="en-US" altLang="ko-KR" sz="600" dirty="0">
                <a:solidFill>
                  <a:schemeClr val="tx1">
                    <a:lumMod val="85000"/>
                    <a:lumOff val="15000"/>
                  </a:schemeClr>
                </a:solidFill>
                <a:latin typeface="맑은 고딕" panose="020B0503020000020004" pitchFamily="50" charset="-127"/>
              </a:endParaRPr>
            </a:p>
          </p:txBody>
        </p:sp>
        <p:sp>
          <p:nvSpPr>
            <p:cNvPr id="181" name="TextBox 180">
              <a:extLst>
                <a:ext uri="{FF2B5EF4-FFF2-40B4-BE49-F238E27FC236}">
                  <a16:creationId xmlns:a16="http://schemas.microsoft.com/office/drawing/2014/main" id="{FFC49AEA-2A8F-250C-A86A-A7751D9706C3}"/>
                </a:ext>
              </a:extLst>
            </p:cNvPr>
            <p:cNvSpPr txBox="1"/>
            <p:nvPr/>
          </p:nvSpPr>
          <p:spPr>
            <a:xfrm>
              <a:off x="2886212" y="2003193"/>
              <a:ext cx="382801" cy="107722"/>
            </a:xfrm>
            <a:prstGeom prst="rect">
              <a:avLst/>
            </a:prstGeom>
            <a:noFill/>
          </p:spPr>
          <p:txBody>
            <a:bodyPr wrap="square" lIns="0" tIns="0" rIns="0" bIns="0" rtlCol="0">
              <a:spAutoFit/>
            </a:bodyPr>
            <a:lstStyle>
              <a:defPPr>
                <a:defRPr lang="ko-KR"/>
              </a:defPPr>
              <a:lvl1pPr algn="ctr">
                <a:defRPr sz="700">
                  <a:solidFill>
                    <a:schemeClr val="tx1">
                      <a:lumMod val="85000"/>
                      <a:lumOff val="15000"/>
                    </a:schemeClr>
                  </a:solidFill>
                  <a:latin typeface="맑은 고딕" panose="020B0503020000020004" pitchFamily="50" charset="-127"/>
                </a:defRPr>
              </a:lvl1pPr>
            </a:lstStyle>
            <a:p>
              <a:r>
                <a:rPr lang="en-US" altLang="ko-KR" dirty="0"/>
                <a:t>[11000]</a:t>
              </a:r>
            </a:p>
          </p:txBody>
        </p:sp>
      </p:grpSp>
      <p:grpSp>
        <p:nvGrpSpPr>
          <p:cNvPr id="182" name="그룹 181"/>
          <p:cNvGrpSpPr/>
          <p:nvPr/>
        </p:nvGrpSpPr>
        <p:grpSpPr>
          <a:xfrm rot="16200000">
            <a:off x="1250697" y="3307709"/>
            <a:ext cx="94010" cy="47005"/>
            <a:chOff x="6812560" y="3297172"/>
            <a:chExt cx="94010" cy="47005"/>
          </a:xfrm>
        </p:grpSpPr>
        <p:cxnSp>
          <p:nvCxnSpPr>
            <p:cNvPr id="183" name="직선 연결선 1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4" name="직선 연결선 1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85" name="그룹 184"/>
          <p:cNvGrpSpPr/>
          <p:nvPr/>
        </p:nvGrpSpPr>
        <p:grpSpPr>
          <a:xfrm>
            <a:off x="1404035" y="3237230"/>
            <a:ext cx="601002" cy="187961"/>
            <a:chOff x="1335163" y="3237230"/>
            <a:chExt cx="601002" cy="187961"/>
          </a:xfrm>
        </p:grpSpPr>
        <p:sp>
          <p:nvSpPr>
            <p:cNvPr id="186" name="TextBox 185">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입찰</a:t>
              </a:r>
            </a:p>
          </p:txBody>
        </p:sp>
        <p:grpSp>
          <p:nvGrpSpPr>
            <p:cNvPr id="187" name="그룹 186"/>
            <p:cNvGrpSpPr/>
            <p:nvPr/>
          </p:nvGrpSpPr>
          <p:grpSpPr>
            <a:xfrm>
              <a:off x="1335163" y="3237230"/>
              <a:ext cx="187961" cy="187961"/>
              <a:chOff x="1485163" y="3237230"/>
              <a:chExt cx="187961" cy="187961"/>
            </a:xfrm>
          </p:grpSpPr>
          <p:sp>
            <p:nvSpPr>
              <p:cNvPr id="189" name="타원 188"/>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0" name="TextBox 189">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194" name="그룹 193"/>
          <p:cNvGrpSpPr/>
          <p:nvPr/>
        </p:nvGrpSpPr>
        <p:grpSpPr>
          <a:xfrm rot="16200000">
            <a:off x="1906808" y="3307709"/>
            <a:ext cx="94010" cy="47005"/>
            <a:chOff x="6812560" y="3297172"/>
            <a:chExt cx="94010" cy="47005"/>
          </a:xfrm>
        </p:grpSpPr>
        <p:cxnSp>
          <p:nvCxnSpPr>
            <p:cNvPr id="195" name="직선 연결선 19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6" name="직선 연결선 19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97" name="그룹 196"/>
          <p:cNvGrpSpPr/>
          <p:nvPr/>
        </p:nvGrpSpPr>
        <p:grpSpPr>
          <a:xfrm rot="16200000">
            <a:off x="2562920" y="3307709"/>
            <a:ext cx="94010" cy="47005"/>
            <a:chOff x="6812560" y="3297172"/>
            <a:chExt cx="94010" cy="47005"/>
          </a:xfrm>
        </p:grpSpPr>
        <p:cxnSp>
          <p:nvCxnSpPr>
            <p:cNvPr id="198" name="직선 연결선 1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9" name="직선 연결선 1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31" name="그룹 230"/>
          <p:cNvGrpSpPr/>
          <p:nvPr/>
        </p:nvGrpSpPr>
        <p:grpSpPr>
          <a:xfrm>
            <a:off x="747925" y="3237230"/>
            <a:ext cx="601001" cy="187961"/>
            <a:chOff x="747925" y="3237230"/>
            <a:chExt cx="601001" cy="187961"/>
          </a:xfrm>
        </p:grpSpPr>
        <p:grpSp>
          <p:nvGrpSpPr>
            <p:cNvPr id="232" name="그룹 231"/>
            <p:cNvGrpSpPr/>
            <p:nvPr/>
          </p:nvGrpSpPr>
          <p:grpSpPr>
            <a:xfrm>
              <a:off x="747925" y="3237230"/>
              <a:ext cx="187961" cy="187961"/>
              <a:chOff x="747925" y="3237230"/>
              <a:chExt cx="187961" cy="187961"/>
            </a:xfrm>
          </p:grpSpPr>
          <p:sp>
            <p:nvSpPr>
              <p:cNvPr id="234" name="타원 233"/>
              <p:cNvSpPr/>
              <p:nvPr/>
            </p:nvSpPr>
            <p:spPr>
              <a:xfrm>
                <a:off x="747925" y="3237230"/>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0" name="TextBox 239">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233" name="TextBox 232">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조달</a:t>
              </a:r>
            </a:p>
          </p:txBody>
        </p:sp>
      </p:grpSp>
      <p:grpSp>
        <p:nvGrpSpPr>
          <p:cNvPr id="241" name="그룹 240"/>
          <p:cNvGrpSpPr/>
          <p:nvPr/>
        </p:nvGrpSpPr>
        <p:grpSpPr>
          <a:xfrm>
            <a:off x="2058749" y="3237230"/>
            <a:ext cx="603798" cy="187961"/>
            <a:chOff x="2058749" y="3237230"/>
            <a:chExt cx="603798" cy="187961"/>
          </a:xfrm>
        </p:grpSpPr>
        <p:grpSp>
          <p:nvGrpSpPr>
            <p:cNvPr id="242" name="그룹 241"/>
            <p:cNvGrpSpPr/>
            <p:nvPr/>
          </p:nvGrpSpPr>
          <p:grpSpPr>
            <a:xfrm>
              <a:off x="2058749" y="3237230"/>
              <a:ext cx="187961" cy="187961"/>
              <a:chOff x="2058749" y="3237230"/>
              <a:chExt cx="187961" cy="187961"/>
            </a:xfrm>
          </p:grpSpPr>
          <p:sp>
            <p:nvSpPr>
              <p:cNvPr id="244" name="타원 243"/>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5" name="TextBox 244">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243" name="TextBox 242">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계약</a:t>
              </a:r>
            </a:p>
          </p:txBody>
        </p:sp>
      </p:grpSp>
      <p:grpSp>
        <p:nvGrpSpPr>
          <p:cNvPr id="246" name="그룹 245"/>
          <p:cNvGrpSpPr/>
          <p:nvPr/>
        </p:nvGrpSpPr>
        <p:grpSpPr>
          <a:xfrm>
            <a:off x="2714860" y="3237230"/>
            <a:ext cx="603798" cy="187961"/>
            <a:chOff x="2714860" y="3237230"/>
            <a:chExt cx="603798" cy="187961"/>
          </a:xfrm>
        </p:grpSpPr>
        <p:grpSp>
          <p:nvGrpSpPr>
            <p:cNvPr id="247" name="그룹 246"/>
            <p:cNvGrpSpPr/>
            <p:nvPr/>
          </p:nvGrpSpPr>
          <p:grpSpPr>
            <a:xfrm>
              <a:off x="2714860" y="3237230"/>
              <a:ext cx="187961" cy="187961"/>
              <a:chOff x="2714860" y="3237230"/>
              <a:chExt cx="187961" cy="187961"/>
            </a:xfrm>
          </p:grpSpPr>
          <p:sp>
            <p:nvSpPr>
              <p:cNvPr id="249" name="타원 248"/>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0" name="TextBox 249">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248" name="TextBox 247">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이행</a:t>
              </a:r>
            </a:p>
          </p:txBody>
        </p:sp>
      </p:grpSp>
      <p:grpSp>
        <p:nvGrpSpPr>
          <p:cNvPr id="169" name="그룹 168"/>
          <p:cNvGrpSpPr/>
          <p:nvPr/>
        </p:nvGrpSpPr>
        <p:grpSpPr>
          <a:xfrm rot="5400000">
            <a:off x="3158978" y="3232595"/>
            <a:ext cx="187961" cy="187961"/>
            <a:chOff x="3876200" y="2234886"/>
            <a:chExt cx="187961" cy="187961"/>
          </a:xfrm>
        </p:grpSpPr>
        <p:sp>
          <p:nvSpPr>
            <p:cNvPr id="251" name="타원 250"/>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2" name="그룹 251"/>
            <p:cNvGrpSpPr/>
            <p:nvPr/>
          </p:nvGrpSpPr>
          <p:grpSpPr>
            <a:xfrm rot="16200000">
              <a:off x="3931564" y="2305364"/>
              <a:ext cx="94010" cy="47005"/>
              <a:chOff x="6812560" y="3297172"/>
              <a:chExt cx="94010" cy="47005"/>
            </a:xfrm>
          </p:grpSpPr>
          <p:cxnSp>
            <p:nvCxnSpPr>
              <p:cNvPr id="253" name="직선 연결선 2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5" name="직선 연결선 25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12678545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19</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3163293"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입찰공고통합목록</a:t>
            </a:r>
            <a:r>
              <a:rPr lang="en-US" altLang="ko-KR" sz="900" b="1" dirty="0">
                <a:solidFill>
                  <a:prstClr val="black"/>
                </a:solidFill>
              </a:rPr>
              <a:t> </a:t>
            </a:r>
            <a:r>
              <a:rPr lang="ko-KR" altLang="en-US" sz="900" b="1" dirty="0">
                <a:solidFill>
                  <a:prstClr val="black"/>
                </a:solidFill>
              </a:rPr>
              <a:t>검색조건 </a:t>
            </a:r>
            <a:r>
              <a:rPr lang="en-US" altLang="ko-KR" sz="900" b="1" dirty="0">
                <a:solidFill>
                  <a:prstClr val="black"/>
                </a:solidFill>
              </a:rPr>
              <a:t>(</a:t>
            </a:r>
            <a:r>
              <a:rPr lang="en-US" altLang="ko-KR" sz="900" b="1" dirty="0" err="1">
                <a:solidFill>
                  <a:prstClr val="black"/>
                </a:solidFill>
              </a:rPr>
              <a:t>dml_bidPbancSrchCnd</a:t>
            </a:r>
            <a:r>
              <a:rPr lang="en-US" altLang="ko-KR" sz="900" b="1" dirty="0">
                <a:solidFill>
                  <a:prstClr val="black"/>
                </a:solidFill>
              </a:rPr>
              <a:t>) </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extLst>
              <p:ext uri="{D42A27DB-BD31-4B8C-83A1-F6EECF244321}">
                <p14:modId xmlns:p14="http://schemas.microsoft.com/office/powerpoint/2010/main" val="709621126"/>
              </p:ext>
            </p:extLst>
          </p:nvPr>
        </p:nvGraphicFramePr>
        <p:xfrm>
          <a:off x="452999" y="1014316"/>
          <a:ext cx="8994883" cy="5187641"/>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06601">
                  <a:extLst>
                    <a:ext uri="{9D8B030D-6E8A-4147-A177-3AD203B41FA5}">
                      <a16:colId xmlns:a16="http://schemas.microsoft.com/office/drawing/2014/main" val="20001"/>
                    </a:ext>
                  </a:extLst>
                </a:gridCol>
                <a:gridCol w="409303">
                  <a:extLst>
                    <a:ext uri="{9D8B030D-6E8A-4147-A177-3AD203B41FA5}">
                      <a16:colId xmlns:a16="http://schemas.microsoft.com/office/drawing/2014/main" val="20002"/>
                    </a:ext>
                  </a:extLst>
                </a:gridCol>
                <a:gridCol w="505097">
                  <a:extLst>
                    <a:ext uri="{9D8B030D-6E8A-4147-A177-3AD203B41FA5}">
                      <a16:colId xmlns:a16="http://schemas.microsoft.com/office/drawing/2014/main" val="20003"/>
                    </a:ext>
                  </a:extLst>
                </a:gridCol>
                <a:gridCol w="470263">
                  <a:extLst>
                    <a:ext uri="{9D8B030D-6E8A-4147-A177-3AD203B41FA5}">
                      <a16:colId xmlns:a16="http://schemas.microsoft.com/office/drawing/2014/main" val="20004"/>
                    </a:ext>
                  </a:extLst>
                </a:gridCol>
                <a:gridCol w="2454899">
                  <a:extLst>
                    <a:ext uri="{9D8B030D-6E8A-4147-A177-3AD203B41FA5}">
                      <a16:colId xmlns:a16="http://schemas.microsoft.com/office/drawing/2014/main" val="20005"/>
                    </a:ext>
                  </a:extLst>
                </a:gridCol>
              </a:tblGrid>
              <a:tr h="209117">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업무구분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TaskSeNm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업무구분</a:t>
                      </a:r>
                      <a:r>
                        <a:rPr lang="ko-KR" altLang="en-US" sz="800" dirty="0">
                          <a:latin typeface="+mn-ea"/>
                          <a:ea typeface="+mn-ea"/>
                        </a:rPr>
                        <a:t>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물품</a:t>
                      </a:r>
                      <a:r>
                        <a:rPr lang="en-US" altLang="ko-KR" sz="800" dirty="0">
                          <a:latin typeface="+mn-ea"/>
                          <a:ea typeface="+mn-ea"/>
                        </a:rPr>
                        <a:t>/</a:t>
                      </a:r>
                      <a:r>
                        <a:rPr lang="ko-KR" altLang="en-US" sz="800" dirty="0">
                          <a:latin typeface="+mn-ea"/>
                          <a:ea typeface="+mn-ea"/>
                        </a:rPr>
                        <a:t>용역</a:t>
                      </a:r>
                      <a:r>
                        <a:rPr lang="en-US" altLang="ko-KR" sz="800" dirty="0">
                          <a:latin typeface="+mn-ea"/>
                          <a:ea typeface="+mn-ea"/>
                        </a:rPr>
                        <a:t>/</a:t>
                      </a:r>
                      <a:r>
                        <a:rPr lang="ko-KR" altLang="en-US" sz="800" dirty="0">
                          <a:latin typeface="+mn-ea"/>
                          <a:ea typeface="+mn-ea"/>
                        </a:rPr>
                        <a:t>공사</a:t>
                      </a:r>
                      <a:r>
                        <a:rPr lang="en-US" altLang="ko-KR" sz="800" dirty="0">
                          <a:latin typeface="+mn-ea"/>
                          <a:ea typeface="+mn-ea"/>
                        </a:rPr>
                        <a:t>/</a:t>
                      </a:r>
                      <a:r>
                        <a:rPr lang="ko-KR" altLang="en-US" sz="800" dirty="0">
                          <a:latin typeface="+mn-ea"/>
                          <a:ea typeface="+mn-ea"/>
                        </a:rPr>
                        <a:t>국외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개찰시작일자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협상시작일자 선택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err="1">
                          <a:latin typeface="+mn-ea"/>
                          <a:ea typeface="+mn-ea"/>
                        </a:rPr>
                        <a:t>yyyy</a:t>
                      </a:r>
                      <a:r>
                        <a:rPr lang="en-US" altLang="ko-KR" sz="800" dirty="0">
                          <a:latin typeface="+mn-ea"/>
                          <a:ea typeface="+mn-ea"/>
                        </a:rPr>
                        <a:t>-mm-dd</a:t>
                      </a:r>
                      <a:r>
                        <a:rPr lang="ko-KR" altLang="en-US" sz="800" dirty="0">
                          <a:latin typeface="+mn-ea"/>
                          <a:ea typeface="+mn-ea"/>
                        </a:rPr>
                        <a:t> </a:t>
                      </a:r>
                      <a:r>
                        <a:rPr lang="en-US" altLang="ko-KR" sz="800" dirty="0" err="1">
                          <a:latin typeface="+mn-ea"/>
                          <a:ea typeface="+mn-ea"/>
                        </a:rPr>
                        <a:t>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r h="0">
                <a:tc>
                  <a:txBody>
                    <a:bodyPr/>
                    <a:lstStyle/>
                    <a:p>
                      <a:pPr latinLnBrk="1"/>
                      <a:r>
                        <a:rPr lang="ko-KR" altLang="en-US" sz="800" dirty="0">
                          <a:latin typeface="+mn-ea"/>
                          <a:ea typeface="+mn-ea"/>
                        </a:rPr>
                        <a:t>개찰종료일자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협상종료일자 선택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yyyy</a:t>
                      </a:r>
                      <a:r>
                        <a:rPr lang="en-US" altLang="ko-KR" sz="800" dirty="0">
                          <a:latin typeface="+mn-ea"/>
                          <a:ea typeface="+mn-ea"/>
                        </a:rPr>
                        <a:t>-mm-dd</a:t>
                      </a:r>
                      <a:r>
                        <a:rPr lang="ko-KR" altLang="en-US" sz="800" dirty="0">
                          <a:latin typeface="+mn-ea"/>
                          <a:ea typeface="+mn-ea"/>
                        </a:rPr>
                        <a:t> </a:t>
                      </a:r>
                      <a:r>
                        <a:rPr lang="en-US" altLang="ko-KR" sz="800" dirty="0" err="1">
                          <a:latin typeface="+mn-ea"/>
                          <a:ea typeface="+mn-ea"/>
                        </a:rPr>
                        <a:t>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46467666"/>
                  </a:ext>
                </a:extLst>
              </a:tr>
              <a:tr h="0">
                <a:tc>
                  <a:txBody>
                    <a:bodyPr/>
                    <a:lstStyle/>
                    <a:p>
                      <a:pPr latinLnBrk="1"/>
                      <a:r>
                        <a:rPr lang="ko-KR" altLang="en-US" sz="800" dirty="0" err="1">
                          <a:latin typeface="+mn-ea"/>
                          <a:ea typeface="+mn-ea"/>
                        </a:rPr>
                        <a:t>발주기관명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발주기관검색 </a:t>
                      </a:r>
                      <a:r>
                        <a:rPr lang="ko-KR" altLang="en-US" sz="800" dirty="0" err="1">
                          <a:latin typeface="+mn-ea"/>
                          <a:ea typeface="+mn-ea"/>
                        </a:rPr>
                        <a:t>공통팝업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760985"/>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a:latin typeface="+mn-ea"/>
                          <a:ea typeface="+mn-ea"/>
                        </a:rPr>
                        <a:t>bidPbancNm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입찰건명 입력</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1000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4134440"/>
                  </a:ext>
                </a:extLst>
              </a:tr>
              <a:tr h="0">
                <a:tc>
                  <a:txBody>
                    <a:bodyPr/>
                    <a:lstStyle/>
                    <a:p>
                      <a:pPr latinLnBrk="1"/>
                      <a:r>
                        <a:rPr lang="ko-KR" altLang="en-US" sz="800" b="0" dirty="0" err="1">
                          <a:latin typeface="+mn-ea"/>
                          <a:ea typeface="+mn-ea"/>
                        </a:rPr>
                        <a:t>공고번호</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공고번호 입력</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86705999"/>
                  </a:ext>
                </a:extLst>
              </a:tr>
              <a:tr h="0">
                <a:tc>
                  <a:txBody>
                    <a:bodyPr/>
                    <a:lstStyle/>
                    <a:p>
                      <a:pPr latinLnBrk="1"/>
                      <a:r>
                        <a:rPr lang="ko-KR" altLang="en-US" sz="800" dirty="0">
                          <a:latin typeface="+mn-ea"/>
                          <a:ea typeface="+mn-ea"/>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a:latin typeface="+mn-ea"/>
                          <a:ea typeface="+mn-ea"/>
                        </a:rPr>
                        <a:t>pbancTpcd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공고구분 선택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상위코드</a:t>
                      </a:r>
                      <a:r>
                        <a:rPr lang="en-US" altLang="ko-KR" sz="800" dirty="0">
                          <a:latin typeface="+mn-ea"/>
                          <a:ea typeface="+mn-ea"/>
                        </a:rPr>
                        <a:t>:ANTC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6001573"/>
                  </a:ext>
                </a:extLst>
              </a:tr>
              <a:tr h="0">
                <a:tc>
                  <a:txBody>
                    <a:bodyPr/>
                    <a:lstStyle/>
                    <a:p>
                      <a:pPr latinLnBrk="1"/>
                      <a:r>
                        <a:rPr lang="ko-KR" altLang="en-US" sz="800" dirty="0">
                          <a:latin typeface="+mn-ea"/>
                          <a:ea typeface="+mn-ea"/>
                        </a:rPr>
                        <a:t>진행상태명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bidStatNm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진행상태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 </a:t>
                      </a:r>
                      <a:r>
                        <a:rPr lang="en-US" altLang="ko-KR" sz="800" dirty="0">
                          <a:latin typeface="+mn-ea"/>
                          <a:ea typeface="+mn-ea"/>
                        </a:rPr>
                        <a:t>As-Is Alias </a:t>
                      </a:r>
                      <a:r>
                        <a:rPr lang="ko-KR" altLang="en-US" sz="800" dirty="0">
                          <a:latin typeface="+mn-ea"/>
                          <a:ea typeface="+mn-ea"/>
                        </a:rPr>
                        <a:t>항목 </a:t>
                      </a:r>
                      <a:endParaRPr lang="en-US" altLang="ko-KR" sz="800" dirty="0">
                        <a:latin typeface="+mn-ea"/>
                        <a:ea typeface="+mn-ea"/>
                      </a:endParaRPr>
                    </a:p>
                    <a:p>
                      <a:pPr marL="0" indent="0" algn="l" latinLnBrk="1">
                        <a:buFontTx/>
                        <a:buNone/>
                      </a:pPr>
                      <a:r>
                        <a:rPr lang="en-US" altLang="ko-KR" sz="800" dirty="0">
                          <a:latin typeface="+mn-ea"/>
                          <a:ea typeface="+mn-ea"/>
                        </a:rPr>
                        <a:t>- WTB_PDB316.</a:t>
                      </a:r>
                      <a:r>
                        <a:rPr lang="ko-KR" altLang="en-US" sz="800" dirty="0" err="1">
                          <a:latin typeface="+mn-ea"/>
                          <a:ea typeface="+mn-ea"/>
                        </a:rPr>
                        <a:t>입찰철</a:t>
                      </a:r>
                      <a:r>
                        <a:rPr lang="ko-KR" altLang="en-US" sz="800" dirty="0">
                          <a:latin typeface="+mn-ea"/>
                          <a:ea typeface="+mn-ea"/>
                        </a:rPr>
                        <a:t> 조건 </a:t>
                      </a:r>
                      <a:r>
                        <a:rPr lang="en-US" altLang="ko-KR" sz="800" dirty="0">
                          <a:latin typeface="+mn-ea"/>
                          <a:ea typeface="+mn-ea"/>
                        </a:rPr>
                        <a:t>Count</a:t>
                      </a:r>
                      <a:r>
                        <a:rPr lang="ko-KR" altLang="en-US" sz="800" dirty="0">
                          <a:latin typeface="+mn-ea"/>
                          <a:ea typeface="+mn-ea"/>
                        </a:rPr>
                        <a:t>에 따라 </a:t>
                      </a:r>
                      <a:r>
                        <a:rPr lang="en-US" altLang="ko-KR" sz="800" dirty="0">
                          <a:latin typeface="+mn-ea"/>
                          <a:ea typeface="+mn-ea"/>
                        </a:rPr>
                        <a:t>‘</a:t>
                      </a:r>
                      <a:r>
                        <a:rPr lang="ko-KR" altLang="en-US" sz="800" dirty="0" err="1">
                          <a:latin typeface="+mn-ea"/>
                          <a:ea typeface="+mn-ea"/>
                        </a:rPr>
                        <a:t>개찰전</a:t>
                      </a:r>
                      <a:r>
                        <a:rPr lang="en-US" altLang="ko-KR" sz="800" dirty="0">
                          <a:latin typeface="+mn-ea"/>
                          <a:ea typeface="+mn-ea"/>
                        </a:rPr>
                        <a:t>’, ‘</a:t>
                      </a:r>
                      <a:r>
                        <a:rPr lang="ko-KR" altLang="en-US" sz="800" dirty="0">
                          <a:latin typeface="+mn-ea"/>
                          <a:ea typeface="+mn-ea"/>
                        </a:rPr>
                        <a:t>개찰완료</a:t>
                      </a:r>
                      <a:r>
                        <a:rPr lang="en-US" altLang="ko-KR" sz="800" dirty="0">
                          <a:latin typeface="+mn-ea"/>
                          <a:ea typeface="+mn-ea"/>
                        </a:rPr>
                        <a:t>’</a:t>
                      </a:r>
                    </a:p>
                    <a:p>
                      <a:pPr marL="0" indent="0" algn="l" latinLnBrk="1">
                        <a:buFontTx/>
                        <a:buNone/>
                      </a:pPr>
                      <a:r>
                        <a:rPr lang="en-US" altLang="ko-KR" sz="800" dirty="0">
                          <a:latin typeface="+mn-ea"/>
                          <a:ea typeface="+mn-ea"/>
                        </a:rPr>
                        <a:t>- WTB_PDB905.</a:t>
                      </a:r>
                      <a:r>
                        <a:rPr lang="ko-KR" altLang="en-US" sz="800" dirty="0">
                          <a:latin typeface="+mn-ea"/>
                          <a:ea typeface="+mn-ea"/>
                        </a:rPr>
                        <a:t>재입찰 조건 </a:t>
                      </a:r>
                      <a:r>
                        <a:rPr lang="en-US" altLang="ko-KR" sz="800" dirty="0">
                          <a:latin typeface="+mn-ea"/>
                          <a:ea typeface="+mn-ea"/>
                        </a:rPr>
                        <a:t>Count</a:t>
                      </a:r>
                      <a:r>
                        <a:rPr lang="ko-KR" altLang="en-US" sz="800" dirty="0">
                          <a:latin typeface="+mn-ea"/>
                          <a:ea typeface="+mn-ea"/>
                        </a:rPr>
                        <a:t>에 따라 </a:t>
                      </a:r>
                      <a:r>
                        <a:rPr lang="en-US" altLang="ko-KR" sz="800" dirty="0">
                          <a:latin typeface="+mn-ea"/>
                          <a:ea typeface="+mn-ea"/>
                        </a:rPr>
                        <a:t>‘</a:t>
                      </a:r>
                      <a:r>
                        <a:rPr lang="ko-KR" altLang="en-US" sz="800" dirty="0">
                          <a:latin typeface="+mn-ea"/>
                          <a:ea typeface="+mn-ea"/>
                        </a:rPr>
                        <a:t>재입찰</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25661869"/>
                  </a:ext>
                </a:extLst>
              </a:tr>
              <a:tr h="0">
                <a:tc>
                  <a:txBody>
                    <a:bodyPr/>
                    <a:lstStyle/>
                    <a:p>
                      <a:pPr latinLnBrk="1"/>
                      <a:r>
                        <a:rPr lang="ko-KR" altLang="en-US" sz="800" dirty="0" err="1">
                          <a:latin typeface="+mn-ea"/>
                          <a:ea typeface="+mn-ea"/>
                        </a:rPr>
                        <a:t>지역명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rgnNm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지역명</a:t>
                      </a:r>
                      <a:r>
                        <a:rPr lang="ko-KR" altLang="en-US" sz="800" dirty="0">
                          <a:latin typeface="+mn-ea"/>
                          <a:ea typeface="+mn-ea"/>
                        </a:rPr>
                        <a:t>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 </a:t>
                      </a:r>
                      <a:r>
                        <a:rPr lang="ko-KR" altLang="en-US" sz="800" dirty="0">
                          <a:latin typeface="+mn-ea"/>
                          <a:ea typeface="+mn-ea"/>
                        </a:rPr>
                        <a:t>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0391839"/>
                  </a:ext>
                </a:extLst>
              </a:tr>
              <a:tr h="0">
                <a:tc>
                  <a:txBody>
                    <a:bodyPr/>
                    <a:lstStyle/>
                    <a:p>
                      <a:pPr latinLnBrk="1"/>
                      <a:r>
                        <a:rPr lang="ko-KR" altLang="en-US" sz="800" dirty="0">
                          <a:latin typeface="+mn-ea"/>
                          <a:ea typeface="+mn-ea"/>
                        </a:rPr>
                        <a:t>면허정보명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cnstpCdNm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면허정보 선택 팝업 호출 파라미터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Alias </a:t>
                      </a:r>
                      <a:r>
                        <a:rPr lang="ko-KR" altLang="en-US" sz="800" dirty="0">
                          <a:latin typeface="+mn-ea"/>
                          <a:ea typeface="+mn-ea"/>
                        </a:rPr>
                        <a:t>항목</a:t>
                      </a:r>
                      <a:r>
                        <a:rPr lang="en-US" altLang="ko-KR" sz="800" dirty="0">
                          <a:latin typeface="+mn-ea"/>
                          <a:ea typeface="+mn-ea"/>
                        </a:rPr>
                        <a:t> (</a:t>
                      </a:r>
                      <a:r>
                        <a:rPr lang="ko-KR" altLang="en-US" sz="800" dirty="0">
                          <a:latin typeface="+mn-ea"/>
                          <a:ea typeface="+mn-ea"/>
                        </a:rPr>
                        <a:t>면허정보검색 공통 팝업호출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02096497"/>
                  </a:ext>
                </a:extLst>
              </a:tr>
              <a:tr h="0">
                <a:tc>
                  <a:txBody>
                    <a:bodyPr/>
                    <a:lstStyle/>
                    <a:p>
                      <a:pPr latinLnBrk="1"/>
                      <a:r>
                        <a:rPr lang="ko-KR" altLang="en-US" sz="800" dirty="0" err="1">
                          <a:latin typeface="+mn-ea"/>
                          <a:ea typeface="+mn-ea"/>
                        </a:rPr>
                        <a:t>면허정보</a:t>
                      </a:r>
                      <a:r>
                        <a:rPr lang="ko-KR" altLang="en-US" sz="800" dirty="0">
                          <a:latin typeface="+mn-ea"/>
                          <a:ea typeface="+mn-ea"/>
                        </a:rPr>
                        <a:t> 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면허정보 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H</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:GU9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32677810"/>
                  </a:ext>
                </a:extLst>
              </a:tr>
              <a:tr h="0">
                <a:tc>
                  <a:txBody>
                    <a:bodyPr/>
                    <a:lstStyle/>
                    <a:p>
                      <a:pPr latinLnBrk="1"/>
                      <a:r>
                        <a:rPr lang="ko-KR" altLang="en-US" sz="800" dirty="0">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품명 입력</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9753219"/>
                  </a:ext>
                </a:extLst>
              </a:tr>
              <a:tr h="0">
                <a:tc>
                  <a:txBody>
                    <a:bodyPr/>
                    <a:lstStyle/>
                    <a:p>
                      <a:pPr latinLnBrk="1"/>
                      <a:r>
                        <a:rPr lang="ko-KR" altLang="en-US" sz="800" dirty="0">
                          <a:latin typeface="+mn-ea"/>
                          <a:ea typeface="+mn-ea"/>
                        </a:rPr>
                        <a:t>입찰형태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elctrNgtnYn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입찰형태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a:t>
                      </a:r>
                      <a:r>
                        <a:rPr lang="ko-KR" altLang="en-US" sz="800" dirty="0">
                          <a:latin typeface="+mn-ea"/>
                          <a:ea typeface="+mn-ea"/>
                        </a:rPr>
                        <a:t>일반입찰</a:t>
                      </a:r>
                      <a:r>
                        <a:rPr lang="en-US" altLang="ko-KR" sz="800" dirty="0">
                          <a:latin typeface="+mn-ea"/>
                          <a:ea typeface="+mn-ea"/>
                        </a:rPr>
                        <a:t>, '2':</a:t>
                      </a:r>
                      <a:r>
                        <a:rPr lang="ko-KR" altLang="en-US" sz="800" dirty="0">
                          <a:latin typeface="+mn-ea"/>
                          <a:ea typeface="+mn-ea"/>
                        </a:rPr>
                        <a:t>전자입찰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2511590"/>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:CTMC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706101"/>
                  </a:ext>
                </a:extLst>
              </a:tr>
              <a:tr h="0">
                <a:tc>
                  <a:txBody>
                    <a:bodyPr/>
                    <a:lstStyle/>
                    <a:p>
                      <a:pPr latinLnBrk="1"/>
                      <a:r>
                        <a:rPr lang="ko-KR" altLang="en-US" sz="800" dirty="0">
                          <a:latin typeface="+mn-ea"/>
                          <a:ea typeface="+mn-ea"/>
                        </a:rPr>
                        <a:t>낙찰방법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낙찰방법 선택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:CCMT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18235773"/>
                  </a:ext>
                </a:extLst>
              </a:tr>
              <a:tr h="368604">
                <a:tc>
                  <a:txBody>
                    <a:bodyPr/>
                    <a:lstStyle/>
                    <a:p>
                      <a:pPr latinLnBrk="1"/>
                      <a:r>
                        <a:rPr lang="ko-KR" altLang="en-US" sz="800" dirty="0">
                          <a:latin typeface="+mn-ea"/>
                          <a:ea typeface="+mn-ea"/>
                        </a:rPr>
                        <a:t>기능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spfCode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기능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t>- </a:t>
                      </a:r>
                      <a:r>
                        <a:rPr lang="ko-KR" altLang="en-US" sz="800" dirty="0"/>
                        <a:t>업무구분을 전체</a:t>
                      </a:r>
                      <a:r>
                        <a:rPr lang="en-US" altLang="ko-KR" sz="800" dirty="0"/>
                        <a:t>, </a:t>
                      </a:r>
                      <a:r>
                        <a:rPr lang="ko-KR" altLang="en-US" sz="800" dirty="0"/>
                        <a:t>국외로 선택했을 경우 노출 </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 Alias </a:t>
                      </a:r>
                      <a:r>
                        <a:rPr lang="ko-KR" altLang="en-US" sz="800" dirty="0">
                          <a:latin typeface="+mn-ea"/>
                          <a:ea typeface="+mn-ea"/>
                        </a:rPr>
                        <a:t>항목 </a:t>
                      </a:r>
                      <a:r>
                        <a:rPr lang="en-US" altLang="ko-KR" sz="800" dirty="0">
                          <a:latin typeface="+mn-ea"/>
                          <a:ea typeface="+mn-ea"/>
                        </a:rPr>
                        <a:t>(</a:t>
                      </a:r>
                      <a:r>
                        <a:rPr lang="ko-KR" altLang="en-US" sz="800" dirty="0">
                          <a:latin typeface="+mn-ea"/>
                          <a:ea typeface="+mn-ea"/>
                        </a:rPr>
                        <a:t>상위코드</a:t>
                      </a:r>
                      <a:r>
                        <a:rPr lang="en-US" altLang="ko-KR" sz="800" dirty="0">
                          <a:latin typeface="+mn-ea"/>
                          <a:ea typeface="+mn-ea"/>
                        </a:rPr>
                        <a:t>:SPF)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0871939"/>
                  </a:ext>
                </a:extLst>
              </a:tr>
              <a:tr h="0">
                <a:tc>
                  <a:txBody>
                    <a:bodyPr/>
                    <a:lstStyle/>
                    <a:p>
                      <a:pPr latinLnBrk="1"/>
                      <a:r>
                        <a:rPr lang="ko-KR" altLang="en-US" sz="800" dirty="0" err="1">
                          <a:latin typeface="+mn-ea"/>
                          <a:ea typeface="+mn-ea"/>
                        </a:rPr>
                        <a:t>군구분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prcmRqtInstCd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군구분</a:t>
                      </a:r>
                      <a:r>
                        <a:rPr lang="ko-KR" altLang="en-US" sz="800" dirty="0">
                          <a:latin typeface="+mn-ea"/>
                          <a:ea typeface="+mn-ea"/>
                        </a:rPr>
                        <a:t>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Tx/>
                        <a:buNone/>
                      </a:pPr>
                      <a:r>
                        <a:rPr lang="en-US" altLang="ko-KR" sz="800" dirty="0"/>
                        <a:t>- </a:t>
                      </a:r>
                      <a:r>
                        <a:rPr lang="ko-KR" altLang="en-US" sz="800" dirty="0"/>
                        <a:t>업무구분을 전체</a:t>
                      </a:r>
                      <a:r>
                        <a:rPr lang="en-US" altLang="ko-KR" sz="800" dirty="0"/>
                        <a:t>, </a:t>
                      </a:r>
                      <a:r>
                        <a:rPr lang="ko-KR" altLang="en-US" sz="800" dirty="0"/>
                        <a:t>국외로 선택했을 경우 노출 </a:t>
                      </a:r>
                      <a:endParaRPr lang="en-US" altLang="ko-KR" sz="800" dirty="0"/>
                    </a:p>
                    <a:p>
                      <a:pPr marL="0" indent="0" algn="l" latinLnBrk="1">
                        <a:buFontTx/>
                        <a:buNone/>
                      </a:pPr>
                      <a:r>
                        <a:rPr lang="en-US" altLang="ko-KR" sz="800" dirty="0">
                          <a:latin typeface="+mn-ea"/>
                          <a:ea typeface="+mn-ea"/>
                        </a:rPr>
                        <a:t>- </a:t>
                      </a:r>
                      <a:r>
                        <a:rPr lang="ko-KR" altLang="en-US" sz="800" dirty="0">
                          <a:latin typeface="+mn-ea"/>
                          <a:ea typeface="+mn-ea"/>
                        </a:rPr>
                        <a:t>상위코드</a:t>
                      </a:r>
                      <a:r>
                        <a:rPr lang="en-US" altLang="ko-KR" sz="800" dirty="0">
                          <a:latin typeface="+mn-ea"/>
                          <a:ea typeface="+mn-ea"/>
                        </a:rPr>
                        <a:t>:RS</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4040200"/>
                  </a:ext>
                </a:extLst>
              </a:tr>
              <a:tr h="0">
                <a:tc>
                  <a:txBody>
                    <a:bodyPr/>
                    <a:lstStyle/>
                    <a:p>
                      <a:pPr latinLnBrk="1"/>
                      <a:r>
                        <a:rPr lang="ko-KR" altLang="en-US" sz="800" dirty="0" err="1">
                          <a:latin typeface="+mn-ea"/>
                          <a:ea typeface="+mn-ea"/>
                        </a:rPr>
                        <a:t>입찰매체</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bidMediaCd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입찰매체 선택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Tx/>
                        <a:buNone/>
                      </a:pPr>
                      <a:r>
                        <a:rPr lang="en-US" altLang="ko-KR" sz="800" dirty="0"/>
                        <a:t>- </a:t>
                      </a:r>
                      <a:r>
                        <a:rPr lang="ko-KR" altLang="en-US" sz="800" dirty="0"/>
                        <a:t>업무구분을 전체</a:t>
                      </a:r>
                      <a:r>
                        <a:rPr lang="en-US" altLang="ko-KR" sz="800" dirty="0"/>
                        <a:t>, </a:t>
                      </a:r>
                      <a:r>
                        <a:rPr lang="ko-KR" altLang="en-US" sz="800" dirty="0"/>
                        <a:t>국외로 선택했을 경우 노출 </a:t>
                      </a:r>
                      <a:endParaRPr lang="en-US" altLang="ko-KR" sz="800" dirty="0"/>
                    </a:p>
                    <a:p>
                      <a:pPr marL="0" indent="0" algn="l" latinLnBrk="1">
                        <a:buFontTx/>
                        <a:buNone/>
                      </a:pPr>
                      <a:r>
                        <a:rPr lang="en-US" altLang="ko-KR" sz="800" dirty="0"/>
                        <a:t>- </a:t>
                      </a:r>
                      <a:r>
                        <a:rPr lang="ko-KR" altLang="en-US" sz="800" dirty="0"/>
                        <a:t>상위코드</a:t>
                      </a:r>
                      <a:r>
                        <a:rPr lang="en-US" altLang="ko-KR" sz="800" dirty="0"/>
                        <a:t>:BMDC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7834301"/>
                  </a:ext>
                </a:extLst>
              </a:tr>
              <a:tr h="0">
                <a:tc>
                  <a:txBody>
                    <a:bodyPr/>
                    <a:lstStyle/>
                    <a:p>
                      <a:pPr latinLnBrk="1"/>
                      <a:r>
                        <a:rPr lang="ko-KR" altLang="en-US" sz="800" dirty="0">
                          <a:latin typeface="+mn-ea"/>
                          <a:ea typeface="+mn-ea"/>
                        </a:rPr>
                        <a:t>추정가격 </a:t>
                      </a:r>
                      <a:r>
                        <a:rPr lang="en-US" altLang="ko-KR" sz="800" dirty="0">
                          <a:latin typeface="+mn-ea"/>
                          <a:ea typeface="+mn-ea"/>
                        </a:rPr>
                        <a:t>MIN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prsmpPrc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추정가격 </a:t>
                      </a:r>
                      <a:r>
                        <a:rPr lang="en-US" altLang="ko-KR" sz="800">
                          <a:latin typeface="+mn-ea"/>
                          <a:ea typeface="+mn-ea"/>
                        </a:rPr>
                        <a:t>MIN</a:t>
                      </a:r>
                      <a:r>
                        <a:rPr lang="ko-KR" altLang="en-US" sz="800">
                          <a:latin typeface="+mn-ea"/>
                          <a:ea typeface="+mn-ea"/>
                        </a:rPr>
                        <a:t> 입력</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2304580"/>
                  </a:ext>
                </a:extLst>
              </a:tr>
              <a:tr h="0">
                <a:tc>
                  <a:txBody>
                    <a:bodyPr/>
                    <a:lstStyle/>
                    <a:p>
                      <a:pPr latinLnBrk="1"/>
                      <a:r>
                        <a:rPr lang="ko-KR" altLang="en-US" sz="800" dirty="0">
                          <a:latin typeface="+mn-ea"/>
                          <a:ea typeface="+mn-ea"/>
                        </a:rPr>
                        <a:t>추정가격 </a:t>
                      </a:r>
                      <a:r>
                        <a:rPr lang="en-US" altLang="ko-KR" sz="800" dirty="0">
                          <a:latin typeface="+mn-ea"/>
                          <a:ea typeface="+mn-ea"/>
                        </a:rPr>
                        <a:t>MAX</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prsmpPrc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추정가격 </a:t>
                      </a:r>
                      <a:r>
                        <a:rPr lang="en-US" altLang="ko-KR" sz="800">
                          <a:latin typeface="+mn-ea"/>
                          <a:ea typeface="+mn-ea"/>
                        </a:rPr>
                        <a:t>MAX</a:t>
                      </a:r>
                      <a:r>
                        <a:rPr lang="ko-KR" altLang="en-US" sz="800">
                          <a:latin typeface="+mn-ea"/>
                          <a:ea typeface="+mn-ea"/>
                        </a:rPr>
                        <a:t> 입력</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3662486"/>
                  </a:ext>
                </a:extLst>
              </a:tr>
              <a:tr h="0">
                <a:tc>
                  <a:txBody>
                    <a:bodyPr/>
                    <a:lstStyle/>
                    <a:p>
                      <a:pPr latinLnBrk="1"/>
                      <a:r>
                        <a:rPr lang="ko-KR" altLang="en-US" sz="800" dirty="0" err="1">
                          <a:latin typeface="+mn-ea"/>
                          <a:ea typeface="+mn-ea"/>
                        </a:rPr>
                        <a:t>신기술여부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ntchYn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신기술여부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t>업무구분을 전체</a:t>
                      </a:r>
                      <a:r>
                        <a:rPr lang="en-US" altLang="ko-KR" sz="800" dirty="0"/>
                        <a:t>, </a:t>
                      </a:r>
                      <a:r>
                        <a:rPr lang="ko-KR" altLang="en-US" sz="800" dirty="0"/>
                        <a:t>물품</a:t>
                      </a:r>
                      <a:r>
                        <a:rPr lang="en-US" altLang="ko-KR" sz="800" dirty="0"/>
                        <a:t>,</a:t>
                      </a:r>
                      <a:r>
                        <a:rPr lang="ko-KR" altLang="en-US" sz="800" dirty="0"/>
                        <a:t> 용역을 선택했을 경우만 </a:t>
                      </a:r>
                      <a:r>
                        <a:rPr lang="en-US" altLang="ko-KR" sz="800" dirty="0"/>
                        <a:t> </a:t>
                      </a:r>
                      <a:r>
                        <a:rPr lang="ko-KR" altLang="en-US" sz="800" dirty="0"/>
                        <a:t>항목 노출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1184435"/>
                  </a:ext>
                </a:extLst>
              </a:tr>
            </a:tbl>
          </a:graphicData>
        </a:graphic>
      </p:graphicFrame>
      <p:sp>
        <p:nvSpPr>
          <p:cNvPr id="2" name="Text Box 73">
            <a:extLst>
              <a:ext uri="{FF2B5EF4-FFF2-40B4-BE49-F238E27FC236}">
                <a16:creationId xmlns:a16="http://schemas.microsoft.com/office/drawing/2014/main" id="{89CA0215-C2D8-E896-1E91-52FE075BED8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0321404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20</a:t>
            </a:fld>
            <a:endParaRPr lang="ko-KR" altLang="en-US" dirty="0"/>
          </a:p>
        </p:txBody>
      </p:sp>
      <p:sp>
        <p:nvSpPr>
          <p:cNvPr id="18" name="TextBox 17">
            <a:extLst>
              <a:ext uri="{FF2B5EF4-FFF2-40B4-BE49-F238E27FC236}">
                <a16:creationId xmlns:a16="http://schemas.microsoft.com/office/drawing/2014/main" id="{83358D31-792E-1F31-CE2A-A2AE122E42CC}"/>
              </a:ext>
            </a:extLst>
          </p:cNvPr>
          <p:cNvSpPr txBox="1"/>
          <p:nvPr/>
        </p:nvSpPr>
        <p:spPr>
          <a:xfrm>
            <a:off x="458117" y="811422"/>
            <a:ext cx="3131233"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입찰공고통합목록</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dlt_bidPbancIntgList</a:t>
            </a:r>
            <a:r>
              <a:rPr lang="en-US" altLang="ko-KR" sz="900" b="1" dirty="0">
                <a:solidFill>
                  <a:prstClr val="black"/>
                </a:solidFill>
              </a:rPr>
              <a:t>)</a:t>
            </a:r>
            <a:endParaRPr lang="ko-KR" altLang="en-US" sz="900" b="1" dirty="0">
              <a:solidFill>
                <a:prstClr val="black"/>
              </a:solidFill>
            </a:endParaRPr>
          </a:p>
        </p:txBody>
      </p:sp>
      <p:graphicFrame>
        <p:nvGraphicFramePr>
          <p:cNvPr id="20" name="표 19">
            <a:extLst>
              <a:ext uri="{FF2B5EF4-FFF2-40B4-BE49-F238E27FC236}">
                <a16:creationId xmlns:a16="http://schemas.microsoft.com/office/drawing/2014/main" id="{3969C2BD-BAE7-E4E1-6BA5-91005212D745}"/>
              </a:ext>
            </a:extLst>
          </p:cNvPr>
          <p:cNvGraphicFramePr>
            <a:graphicFrameLocks noGrp="1"/>
          </p:cNvGraphicFramePr>
          <p:nvPr/>
        </p:nvGraphicFramePr>
        <p:xfrm>
          <a:off x="452999" y="1013115"/>
          <a:ext cx="8994882" cy="26428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329127">
                  <a:extLst>
                    <a:ext uri="{9D8B030D-6E8A-4147-A177-3AD203B41FA5}">
                      <a16:colId xmlns:a16="http://schemas.microsoft.com/office/drawing/2014/main" val="3427634697"/>
                    </a:ext>
                  </a:extLst>
                </a:gridCol>
                <a:gridCol w="2793527">
                  <a:extLst>
                    <a:ext uri="{9D8B030D-6E8A-4147-A177-3AD203B41FA5}">
                      <a16:colId xmlns:a16="http://schemas.microsoft.com/office/drawing/2014/main" val="20001"/>
                    </a:ext>
                  </a:extLst>
                </a:gridCol>
                <a:gridCol w="449743">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목록의 순번</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rPr>
                        <a:t>공곡구분</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:ANTC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20954399"/>
                  </a:ext>
                </a:extLst>
              </a:tr>
              <a:tr h="0">
                <a:tc>
                  <a:txBody>
                    <a:bodyPr/>
                    <a:lstStyle/>
                    <a:p>
                      <a:pPr latinLnBrk="1"/>
                      <a:r>
                        <a:rPr lang="en-US" altLang="ko-KR" sz="800" dirty="0">
                          <a:latin typeface="+mn-ea"/>
                          <a:ea typeface="+mn-ea"/>
                        </a:rPr>
                        <a:t>G2B</a:t>
                      </a:r>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g2BBidPbancNo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en-US" altLang="ko-KR" sz="800" dirty="0">
                          <a:latin typeface="+mn-ea"/>
                        </a:rPr>
                        <a:t>G2B</a:t>
                      </a:r>
                      <a:r>
                        <a:rPr lang="ko-KR" altLang="en-US" sz="800" dirty="0">
                          <a:latin typeface="+mn-ea"/>
                        </a:rPr>
                        <a:t>공고번호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287360"/>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G2B</a:t>
                      </a:r>
                      <a:r>
                        <a:rPr lang="ko-KR" altLang="en-US" sz="800" dirty="0" err="1">
                          <a:latin typeface="+mn-ea"/>
                          <a:ea typeface="+mn-ea"/>
                        </a:rPr>
                        <a:t>공고차수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g2BBidPbancCycl</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en-US" altLang="ko-KR" sz="800" dirty="0">
                          <a:latin typeface="+mn-ea"/>
                        </a:rPr>
                        <a:t>G2B</a:t>
                      </a:r>
                      <a:r>
                        <a:rPr lang="ko-KR" altLang="en-US" sz="800" dirty="0" err="1">
                          <a:latin typeface="+mn-ea"/>
                        </a:rPr>
                        <a:t>공고차수</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8587622"/>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tc>
                  <a:txBody>
                    <a:bodyPr/>
                    <a:lstStyle/>
                    <a:p>
                      <a:pP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rPr>
                        <a:t>통합참조번호</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tc>
                  <a:txBody>
                    <a:bodyPr/>
                    <a:lstStyle/>
                    <a:p>
                      <a:pPr algn="l" latinLnBrk="1"/>
                      <a:r>
                        <a:rPr lang="en-US" altLang="ko-KR" sz="800" dirty="0">
                          <a:latin typeface="+mn-ea"/>
                          <a:ea typeface="+mn-ea"/>
                        </a:rPr>
                        <a:t>As-is : </a:t>
                      </a:r>
                      <a:r>
                        <a:rPr lang="ko-KR" altLang="en-US" sz="800" dirty="0" err="1">
                          <a:latin typeface="+mn-ea"/>
                          <a:ea typeface="+mn-ea"/>
                        </a:rPr>
                        <a:t>지시년도</a:t>
                      </a:r>
                      <a:r>
                        <a:rPr lang="en-US" altLang="ko-KR" sz="800" dirty="0">
                          <a:latin typeface="+mn-ea"/>
                          <a:ea typeface="+mn-ea"/>
                        </a:rPr>
                        <a:t>+</a:t>
                      </a:r>
                      <a:r>
                        <a:rPr lang="ko-KR" altLang="en-US" sz="800" dirty="0">
                          <a:latin typeface="+mn-ea"/>
                          <a:ea typeface="+mn-ea"/>
                        </a:rPr>
                        <a:t>부서코드</a:t>
                      </a:r>
                      <a:r>
                        <a:rPr lang="en-US" altLang="ko-KR" sz="800" dirty="0">
                          <a:latin typeface="+mn-ea"/>
                          <a:ea typeface="+mn-ea"/>
                        </a:rPr>
                        <a:t>+</a:t>
                      </a:r>
                      <a:r>
                        <a:rPr lang="ko-KR" altLang="en-US" sz="800" dirty="0">
                          <a:latin typeface="+mn-ea"/>
                          <a:ea typeface="+mn-ea"/>
                        </a:rPr>
                        <a:t>판단번호</a:t>
                      </a:r>
                      <a:r>
                        <a:rPr lang="en-US" altLang="ko-KR" sz="800" dirty="0">
                          <a:latin typeface="+mn-ea"/>
                          <a:ea typeface="+mn-ea"/>
                        </a:rPr>
                        <a:t>(12)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4180003859"/>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rPr>
                        <a:t>공고명</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4130161"/>
                  </a:ext>
                </a:extLst>
              </a:tr>
              <a:tr h="0">
                <a:tc>
                  <a:txBody>
                    <a:bodyPr/>
                    <a:lstStyle/>
                    <a:p>
                      <a:pPr latinLnBrk="1"/>
                      <a:r>
                        <a:rPr lang="ko-KR" altLang="en-US" sz="800" dirty="0" err="1">
                          <a:latin typeface="+mn-ea"/>
                          <a:ea typeface="+mn-ea"/>
                        </a:rPr>
                        <a:t>공사명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csrtName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rPr>
                        <a:t>공사명</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5694724"/>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발주기관명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 </a:t>
                      </a:r>
                      <a:r>
                        <a:rPr lang="ko-KR" altLang="en-US" sz="800" dirty="0">
                          <a:latin typeface="+mn-ea"/>
                          <a:ea typeface="+mn-ea"/>
                        </a:rPr>
                        <a:t>발주기관코드는 공통코드로 조회</a:t>
                      </a:r>
                      <a:endParaRPr lang="en-US" altLang="ko-KR" sz="800" dirty="0">
                        <a:latin typeface="+mn-ea"/>
                        <a:ea typeface="+mn-ea"/>
                      </a:endParaRPr>
                    </a:p>
                    <a:p>
                      <a:pPr algn="l" latinLnBrk="1"/>
                      <a:r>
                        <a:rPr lang="en-US" altLang="ko-KR" sz="800" dirty="0">
                          <a:latin typeface="+mn-ea"/>
                          <a:ea typeface="+mn-ea"/>
                        </a:rPr>
                        <a:t>- </a:t>
                      </a:r>
                      <a:r>
                        <a:rPr lang="ko-KR" altLang="en-US" sz="800" dirty="0">
                          <a:latin typeface="+mn-ea"/>
                          <a:ea typeface="+mn-ea"/>
                        </a:rPr>
                        <a:t>상위코드</a:t>
                      </a:r>
                      <a:r>
                        <a:rPr lang="en-US" altLang="ko-KR" sz="800" dirty="0">
                          <a:latin typeface="+mn-ea"/>
                          <a:ea typeface="+mn-ea"/>
                        </a:rPr>
                        <a:t>:RIC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6973415"/>
                  </a:ext>
                </a:extLst>
              </a:tr>
              <a:tr h="0">
                <a:tc>
                  <a:txBody>
                    <a:bodyPr/>
                    <a:lstStyle/>
                    <a:p>
                      <a:pPr latinLnBrk="1"/>
                      <a:r>
                        <a:rPr lang="ko-KR" altLang="en-US" sz="800" dirty="0" err="1">
                          <a:latin typeface="+mn-ea"/>
                          <a:ea typeface="+mn-ea"/>
                        </a:rPr>
                        <a:t>생산능력제출마감일시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prdcpIdntySmdocDdlnDt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rPr>
                        <a:t>생산능력제출마감일시</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err="1">
                          <a:latin typeface="+mn-ea"/>
                          <a:ea typeface="+mn-ea"/>
                        </a:rPr>
                        <a:t>yyyy</a:t>
                      </a:r>
                      <a:r>
                        <a:rPr lang="en-US" altLang="ko-KR" sz="800" dirty="0">
                          <a:latin typeface="+mn-ea"/>
                          <a:ea typeface="+mn-ea"/>
                        </a:rPr>
                        <a:t>-MM-dd </a:t>
                      </a:r>
                      <a:r>
                        <a:rPr lang="en-US" altLang="ko-KR" sz="800" dirty="0" err="1">
                          <a:latin typeface="+mn-ea"/>
                          <a:ea typeface="+mn-ea"/>
                        </a:rPr>
                        <a:t>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6183695"/>
                  </a:ext>
                </a:extLst>
              </a:tr>
              <a:tr h="0">
                <a:tc>
                  <a:txBody>
                    <a:bodyPr/>
                    <a:lstStyle/>
                    <a:p>
                      <a:pPr latinLnBrk="1"/>
                      <a:r>
                        <a:rPr lang="ko-KR" altLang="en-US" sz="800" dirty="0" err="1">
                          <a:latin typeface="+mn-ea"/>
                          <a:ea typeface="+mn-ea"/>
                        </a:rPr>
                        <a:t>입찰참가등록마감일시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bidClrsDt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ea typeface="+mn-ea"/>
                        </a:rPr>
                        <a:t>입찰참가등록마감일시</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yyyy</a:t>
                      </a:r>
                      <a:r>
                        <a:rPr lang="en-US" altLang="ko-KR" sz="800" dirty="0">
                          <a:latin typeface="+mn-ea"/>
                          <a:ea typeface="+mn-ea"/>
                        </a:rPr>
                        <a:t>-MM-dd </a:t>
                      </a:r>
                      <a:r>
                        <a:rPr lang="en-US" altLang="ko-KR" sz="800" dirty="0" err="1">
                          <a:latin typeface="+mn-ea"/>
                          <a:ea typeface="+mn-ea"/>
                        </a:rPr>
                        <a:t>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7272096"/>
                  </a:ext>
                </a:extLst>
              </a:tr>
              <a:tr h="0">
                <a:tc>
                  <a:txBody>
                    <a:bodyPr/>
                    <a:lstStyle/>
                    <a:p>
                      <a:pPr latinLnBrk="1"/>
                      <a:r>
                        <a:rPr lang="ko-KR" altLang="en-US" sz="800" dirty="0">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tndrSbmsnDdlnDt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a:latin typeface="+mn-ea"/>
                          <a:ea typeface="+mn-ea"/>
                        </a:rPr>
                        <a:t>입찰서제출마감일시</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yyyy</a:t>
                      </a:r>
                      <a:r>
                        <a:rPr lang="en-US" altLang="ko-KR" sz="800" dirty="0">
                          <a:latin typeface="+mn-ea"/>
                          <a:ea typeface="+mn-ea"/>
                        </a:rPr>
                        <a:t>-MM-dd </a:t>
                      </a:r>
                      <a:r>
                        <a:rPr lang="en-US" altLang="ko-KR" sz="800" dirty="0" err="1">
                          <a:latin typeface="+mn-ea"/>
                          <a:ea typeface="+mn-ea"/>
                        </a:rPr>
                        <a:t>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101295"/>
                  </a:ext>
                </a:extLst>
              </a:tr>
              <a:tr h="0">
                <a:tc>
                  <a:txBody>
                    <a:bodyPr/>
                    <a:lstStyle/>
                    <a:p>
                      <a:pPr latinLnBrk="1"/>
                      <a:r>
                        <a:rPr lang="ko-KR" altLang="en-US" sz="800" dirty="0" err="1">
                          <a:latin typeface="+mn-ea"/>
                          <a:ea typeface="+mn-ea"/>
                        </a:rPr>
                        <a:t>기초예가금액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a:latin typeface="+mn-ea"/>
                          <a:ea typeface="+mn-ea"/>
                        </a:rPr>
                        <a:t>기초예정가격 금액</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280594"/>
                  </a:ext>
                </a:extLst>
              </a:tr>
            </a:tbl>
          </a:graphicData>
        </a:graphic>
      </p:graphicFrame>
      <p:sp>
        <p:nvSpPr>
          <p:cNvPr id="2" name="TextBox 1">
            <a:extLst>
              <a:ext uri="{FF2B5EF4-FFF2-40B4-BE49-F238E27FC236}">
                <a16:creationId xmlns:a16="http://schemas.microsoft.com/office/drawing/2014/main" id="{7DF96B98-6182-D38D-6A2C-E4584E8194E5}"/>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7F9FE1A4-EEE2-C8EB-7EC2-03A00C7695E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0001780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21</a:t>
            </a:fld>
            <a:endParaRPr lang="ko-KR" altLang="en-US" dirty="0"/>
          </a:p>
        </p:txBody>
      </p:sp>
      <p:sp>
        <p:nvSpPr>
          <p:cNvPr id="6" name="TextBox 5">
            <a:extLst>
              <a:ext uri="{FF2B5EF4-FFF2-40B4-BE49-F238E27FC236}">
                <a16:creationId xmlns:a16="http://schemas.microsoft.com/office/drawing/2014/main" id="{7F545FD0-B8C5-4B98-203E-A36908FB8DD4}"/>
              </a:ext>
            </a:extLst>
          </p:cNvPr>
          <p:cNvSpPr txBox="1"/>
          <p:nvPr/>
        </p:nvSpPr>
        <p:spPr>
          <a:xfrm>
            <a:off x="458117" y="577527"/>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A31F6A43-1297-CF99-ABFA-B1F80565E966}"/>
              </a:ext>
            </a:extLst>
          </p:cNvPr>
          <p:cNvGraphicFramePr>
            <a:graphicFrameLocks noGrp="1"/>
          </p:cNvGraphicFramePr>
          <p:nvPr>
            <p:extLst>
              <p:ext uri="{D42A27DB-BD31-4B8C-83A1-F6EECF244321}">
                <p14:modId xmlns:p14="http://schemas.microsoft.com/office/powerpoint/2010/main" val="2935223516"/>
              </p:ext>
            </p:extLst>
          </p:nvPr>
        </p:nvGraphicFramePr>
        <p:xfrm>
          <a:off x="453000" y="855658"/>
          <a:ext cx="8995591" cy="1263360"/>
        </p:xfrm>
        <a:graphic>
          <a:graphicData uri="http://schemas.openxmlformats.org/drawingml/2006/table">
            <a:tbl>
              <a:tblPr>
                <a:tableStyleId>{616DA210-FB5B-4158-B5E0-FEB733F419BA}</a:tableStyleId>
              </a:tblPr>
              <a:tblGrid>
                <a:gridCol w="1123251">
                  <a:extLst>
                    <a:ext uri="{9D8B030D-6E8A-4147-A177-3AD203B41FA5}">
                      <a16:colId xmlns:a16="http://schemas.microsoft.com/office/drawing/2014/main" val="20000"/>
                    </a:ext>
                  </a:extLst>
                </a:gridCol>
                <a:gridCol w="992778">
                  <a:extLst>
                    <a:ext uri="{9D8B030D-6E8A-4147-A177-3AD203B41FA5}">
                      <a16:colId xmlns:a16="http://schemas.microsoft.com/office/drawing/2014/main" val="624624882"/>
                    </a:ext>
                  </a:extLst>
                </a:gridCol>
                <a:gridCol w="3509827">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공통코드정보를</a:t>
                      </a:r>
                      <a:r>
                        <a:rPr lang="ko-KR" altLang="en-US" sz="800" dirty="0">
                          <a:latin typeface="+mn-ea"/>
                          <a:ea typeface="+mn-ea"/>
                        </a:rPr>
                        <a:t> </a:t>
                      </a:r>
                      <a:r>
                        <a:rPr lang="ko-KR" altLang="en-US" sz="800" dirty="0" err="1">
                          <a:latin typeface="+mn-ea"/>
                          <a:ea typeface="+mn-ea"/>
                        </a:rPr>
                        <a:t>로드한다</a:t>
                      </a:r>
                      <a:r>
                        <a:rPr lang="en-US" altLang="ko-KR" sz="800" dirty="0">
                          <a:latin typeface="+mn-ea"/>
                          <a:ea typeface="+mn-ea"/>
                        </a:rPr>
                        <a:t>.</a:t>
                      </a: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페이지 로딩 시</a:t>
                      </a:r>
                      <a:r>
                        <a:rPr lang="en-US" altLang="ko-KR" sz="800" dirty="0"/>
                        <a:t> </a:t>
                      </a:r>
                      <a:r>
                        <a:rPr lang="ko-KR" altLang="en-US" sz="800" dirty="0"/>
                        <a:t>공고</a:t>
                      </a:r>
                      <a:r>
                        <a:rPr lang="en-US" altLang="ko-KR" sz="800" dirty="0"/>
                        <a:t>/</a:t>
                      </a:r>
                      <a:r>
                        <a:rPr lang="ko-KR" altLang="en-US" sz="800" dirty="0"/>
                        <a:t>개찰일자를 현재일자의 </a:t>
                      </a:r>
                      <a:r>
                        <a:rPr lang="ko-KR" altLang="en-US" sz="800" dirty="0" err="1"/>
                        <a:t>한달전일자부터</a:t>
                      </a:r>
                      <a:r>
                        <a:rPr lang="ko-KR" altLang="en-US" sz="800" dirty="0"/>
                        <a:t> 현재일자까지 세팅한다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공고검색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Scwin.btn_pbancSrch_onclick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rPr>
                        <a:t>입찰공고통합목록 조회조건을 이용하여 공고목록을 조회한다</a:t>
                      </a:r>
                      <a:r>
                        <a:rPr lang="en-US" altLang="ko-KR" sz="800" dirty="0">
                          <a:latin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971527"/>
                  </a:ext>
                </a:extLst>
              </a:tr>
              <a:tr h="0">
                <a:tc>
                  <a:txBody>
                    <a:bodyPr/>
                    <a:lstStyle/>
                    <a:p>
                      <a:r>
                        <a:rPr lang="ko-KR" altLang="en-US" sz="800" dirty="0"/>
                        <a:t>카드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Scwin.grd_pbancList_onclick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입찰공고통합목록에서 공고 클릭 시 해당 공고의 상세정보를 조회한다</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국내</a:t>
                      </a:r>
                      <a:r>
                        <a:rPr lang="en-US" altLang="ko-KR" sz="800" dirty="0">
                          <a:latin typeface="+mn-ea"/>
                          <a:ea typeface="+mn-ea"/>
                        </a:rPr>
                        <a:t>:  (</a:t>
                      </a:r>
                      <a:r>
                        <a:rPr lang="en-US" altLang="ko-KR" sz="800" dirty="0"/>
                        <a:t>UI-BD-01-M03</a:t>
                      </a:r>
                      <a:r>
                        <a:rPr lang="en-US" altLang="ko-KR" sz="800" dirty="0">
                          <a:latin typeface="+mn-ea"/>
                          <a:ea typeface="+mn-ea"/>
                        </a:rPr>
                        <a:t>) </a:t>
                      </a:r>
                      <a:r>
                        <a:rPr lang="ko-KR" altLang="en-US" sz="800" dirty="0" err="1">
                          <a:latin typeface="+mn-ea"/>
                          <a:ea typeface="+mn-ea"/>
                        </a:rPr>
                        <a:t>입찰공고상세</a:t>
                      </a:r>
                      <a:endParaRPr lang="en-US" altLang="ko-KR" sz="800" dirty="0">
                        <a:latin typeface="+mn-ea"/>
                        <a:ea typeface="+mn-ea"/>
                      </a:endParaRPr>
                    </a:p>
                    <a:p>
                      <a:pPr marL="87313" indent="-87313" algn="l" latinLnBrk="1">
                        <a:buFont typeface="Arial" panose="020B0604020202020204" pitchFamily="34" charset="0"/>
                        <a:buChar char="•"/>
                      </a:pPr>
                      <a:r>
                        <a:rPr lang="ko-KR" altLang="en-US" sz="800" dirty="0">
                          <a:latin typeface="+mn-ea"/>
                          <a:ea typeface="+mn-ea"/>
                        </a:rPr>
                        <a:t>국외 </a:t>
                      </a:r>
                      <a:r>
                        <a:rPr lang="en-US" altLang="ko-KR" sz="800" dirty="0">
                          <a:latin typeface="+mn-ea"/>
                          <a:ea typeface="+mn-ea"/>
                        </a:rPr>
                        <a:t>: (UI-BD-01-M71) </a:t>
                      </a:r>
                      <a:r>
                        <a:rPr lang="ko-KR" altLang="en-US" sz="800" dirty="0" err="1">
                          <a:latin typeface="+mn-ea"/>
                          <a:ea typeface="+mn-ea"/>
                        </a:rPr>
                        <a:t>입찰공고상세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3167767"/>
                  </a:ext>
                </a:extLst>
              </a:tr>
            </a:tbl>
          </a:graphicData>
        </a:graphic>
      </p:graphicFrame>
      <p:sp>
        <p:nvSpPr>
          <p:cNvPr id="8"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089855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22</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2. </a:t>
            </a:r>
            <a:r>
              <a:rPr lang="ko-KR" altLang="en-US" dirty="0"/>
              <a:t>입찰공고상세</a:t>
            </a:r>
            <a:endParaRPr lang="en-US" altLang="ko-KR" dirty="0"/>
          </a:p>
          <a:p>
            <a:r>
              <a:rPr lang="en-US" altLang="ko-KR" dirty="0"/>
              <a:t>2.1 </a:t>
            </a:r>
            <a:r>
              <a:rPr lang="ko-KR" altLang="en-US" dirty="0"/>
              <a:t>화면 목록</a:t>
            </a:r>
          </a:p>
        </p:txBody>
      </p:sp>
      <p:graphicFrame>
        <p:nvGraphicFramePr>
          <p:cNvPr id="5" name="표 4"/>
          <p:cNvGraphicFramePr>
            <a:graphicFrameLocks noGrp="1"/>
          </p:cNvGraphicFramePr>
          <p:nvPr>
            <p:extLst>
              <p:ext uri="{D42A27DB-BD31-4B8C-83A1-F6EECF244321}">
                <p14:modId xmlns:p14="http://schemas.microsoft.com/office/powerpoint/2010/main" val="2055750277"/>
              </p:ext>
            </p:extLst>
          </p:nvPr>
        </p:nvGraphicFramePr>
        <p:xfrm>
          <a:off x="635474" y="1413419"/>
          <a:ext cx="8701200" cy="209086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t"/>
                      <a:r>
                        <a:rPr lang="en-US" altLang="ko-KR" sz="700" kern="1200" dirty="0">
                          <a:solidFill>
                            <a:schemeClr val="tx1"/>
                          </a:solidFill>
                          <a:latin typeface="+mn-ea"/>
                          <a:ea typeface="+mn-ea"/>
                          <a:cs typeface="+mn-cs"/>
                        </a:rPr>
                        <a:t>MUI-BD-01-M07</a:t>
                      </a:r>
                      <a:endParaRPr lang="ko-KR" altLang="en-US" sz="700" b="0" i="0" u="none" strike="noStrike" dirty="0">
                        <a:solidFill>
                          <a:srgbClr val="000000"/>
                        </a:solidFill>
                        <a:effectLst/>
                        <a:latin typeface="맑은 고딕" panose="020B0503020000020004" pitchFamily="50" charset="-127"/>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입찰공고상세</a:t>
                      </a:r>
                      <a:endParaRPr lang="en-US" altLang="ko-KR" sz="800" dirty="0">
                        <a:latin typeface="+mn-ea"/>
                        <a:ea typeface="+mn-ea"/>
                      </a:endParaRPr>
                    </a:p>
                    <a:p>
                      <a:pPr latinLnBrk="1"/>
                      <a:r>
                        <a:rPr lang="en-US" altLang="ko-KR" sz="800" dirty="0">
                          <a:latin typeface="+mn-ea"/>
                          <a:ea typeface="+mn-ea"/>
                        </a:rPr>
                        <a:t>- </a:t>
                      </a:r>
                      <a:r>
                        <a:rPr lang="ko-KR" altLang="en-US" sz="800" dirty="0">
                          <a:latin typeface="+mn-ea"/>
                          <a:ea typeface="+mn-ea"/>
                        </a:rPr>
                        <a:t>일반정보</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rtl="0" fontAlgn="ctr"/>
                      <a:r>
                        <a:rPr lang="en-US" sz="800" b="0" i="0" u="none" strike="noStrike" dirty="0" err="1">
                          <a:solidFill>
                            <a:schemeClr val="tx1"/>
                          </a:solidFill>
                          <a:effectLst/>
                          <a:latin typeface="맑은 고딕" panose="020B0503020000020004" pitchFamily="50" charset="-127"/>
                          <a:ea typeface="맑은 고딕" panose="020B0503020000020004" pitchFamily="50" charset="-127"/>
                        </a:rPr>
                        <a:t>BidPbancDtl</a:t>
                      </a:r>
                      <a:endParaRPr lang="en-US" sz="800" b="0" i="0" u="none" strike="noStrike" dirty="0">
                        <a:solidFill>
                          <a:schemeClr val="tx1"/>
                        </a:solidFill>
                        <a:effectLst/>
                        <a:latin typeface="맑은 고딕" panose="020B0503020000020004" pitchFamily="50" charset="-127"/>
                        <a:ea typeface="맑은 고딕" panose="020B0503020000020004" pitchFamily="50" charset="-127"/>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탭 메뉴 </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공고 일반 정보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a:t>
                      </a:r>
                      <a:r>
                        <a:rPr lang="en-US" altLang="ko-KR" sz="800" b="0" i="0" u="none" strike="noStrike" dirty="0" err="1">
                          <a:solidFill>
                            <a:schemeClr val="tx1"/>
                          </a:solidFill>
                          <a:effectLst/>
                          <a:latin typeface="맑은 고딕" panose="020B0503020000020004" pitchFamily="50" charset="-127"/>
                          <a:ea typeface="+mn-ea"/>
                        </a:rPr>
                        <a:t>idPbancDtl</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BidPbancDtl</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algn="l" fontAlgn="ctr"/>
                      <a:r>
                        <a:rPr lang="en-US" altLang="ko-KR" sz="700" kern="1200" dirty="0">
                          <a:solidFill>
                            <a:schemeClr val="tx1"/>
                          </a:solidFill>
                          <a:latin typeface="+mn-ea"/>
                          <a:ea typeface="+mn-ea"/>
                          <a:cs typeface="+mn-cs"/>
                        </a:rPr>
                        <a:t>MUI-BD-01-M08</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기초예비가격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BidPbancDtl_</a:t>
                      </a:r>
                      <a:r>
                        <a:rPr lang="en-US" altLang="ko-KR" sz="800" dirty="0">
                          <a:solidFill>
                            <a:schemeClr val="tx1"/>
                          </a:solidFill>
                          <a:latin typeface="+mn-ea"/>
                          <a:ea typeface="+mn-ea"/>
                        </a:rPr>
                        <a:t>Tacpg02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탭 메뉴 </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기초예비가격 정보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a:t>
                      </a:r>
                      <a:r>
                        <a:rPr lang="en-US" altLang="ko-KR" sz="800" b="0" i="0" u="none" strike="noStrike" dirty="0" err="1">
                          <a:solidFill>
                            <a:schemeClr val="tx1"/>
                          </a:solidFill>
                          <a:effectLst/>
                          <a:latin typeface="맑은 고딕" panose="020B0503020000020004" pitchFamily="50" charset="-127"/>
                          <a:ea typeface="+mn-ea"/>
                        </a:rPr>
                        <a:t>idPbancDtl</a:t>
                      </a:r>
                      <a:r>
                        <a:rPr lang="en-US" altLang="ko-KR" sz="800" dirty="0">
                          <a:solidFill>
                            <a:schemeClr val="tx1"/>
                          </a:solidFill>
                          <a:latin typeface="+mn-ea"/>
                          <a:ea typeface="+mn-ea"/>
                        </a:rPr>
                        <a:t>/Tacpg02.tsx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9929360"/>
                  </a:ext>
                </a:extLst>
              </a:tr>
              <a:tr h="180000">
                <a:tc>
                  <a:txBody>
                    <a:bodyPr/>
                    <a:lstStyle/>
                    <a:p>
                      <a:pPr marL="0" marR="0" indent="0" algn="l" defTabSz="914400" rtl="0" eaLnBrk="1" fontAlgn="t"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MUI-BD-01-M09</a:t>
                      </a:r>
                      <a:endParaRPr lang="ko-KR" altLang="en-US" sz="700" b="0" i="0" u="none" strike="noStrike" dirty="0">
                        <a:solidFill>
                          <a:srgbClr val="000000"/>
                        </a:solidFill>
                        <a:effectLst/>
                        <a:latin typeface="맑은 고딕" panose="020B0503020000020004" pitchFamily="50" charset="-127"/>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품목명세서</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BidPbancDtl_</a:t>
                      </a:r>
                      <a:r>
                        <a:rPr lang="en-US" altLang="ko-KR" sz="800" dirty="0">
                          <a:solidFill>
                            <a:schemeClr val="tx1"/>
                          </a:solidFill>
                          <a:latin typeface="+mn-ea"/>
                          <a:ea typeface="+mn-ea"/>
                        </a:rPr>
                        <a:t>Tacpg03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탭 메뉴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품목명세서</a:t>
                      </a:r>
                      <a:r>
                        <a:rPr lang="ko-KR" altLang="en-US" sz="800" kern="1200" dirty="0">
                          <a:solidFill>
                            <a:schemeClr val="tx1"/>
                          </a:solidFill>
                          <a:latin typeface="+mn-ea"/>
                          <a:ea typeface="+mn-ea"/>
                          <a:cs typeface="+mn-cs"/>
                        </a:rPr>
                        <a:t> 정보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a:t>
                      </a:r>
                      <a:r>
                        <a:rPr lang="en-US" altLang="ko-KR" sz="800" b="0" i="0" u="none" strike="noStrike" dirty="0" err="1">
                          <a:solidFill>
                            <a:schemeClr val="tx1"/>
                          </a:solidFill>
                          <a:effectLst/>
                          <a:latin typeface="맑은 고딕" panose="020B0503020000020004" pitchFamily="50" charset="-127"/>
                          <a:ea typeface="+mn-ea"/>
                        </a:rPr>
                        <a:t>idPbancDtl</a:t>
                      </a:r>
                      <a:r>
                        <a:rPr lang="en-US" altLang="ko-KR" sz="800" dirty="0">
                          <a:solidFill>
                            <a:schemeClr val="tx1"/>
                          </a:solidFill>
                          <a:latin typeface="+mn-ea"/>
                          <a:ea typeface="+mn-ea"/>
                        </a:rPr>
                        <a:t>/Tacpg03.tsx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l" fontAlgn="ctr"/>
                      <a:r>
                        <a:rPr lang="en-US" altLang="ko-KR" sz="700" kern="1200" dirty="0">
                          <a:solidFill>
                            <a:schemeClr val="tx1"/>
                          </a:solidFill>
                          <a:latin typeface="+mn-ea"/>
                          <a:ea typeface="+mn-ea"/>
                          <a:cs typeface="+mn-cs"/>
                        </a:rPr>
                        <a:t>MUI-BD-01-M10</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계약특수조건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BidPbancDtl_</a:t>
                      </a:r>
                      <a:r>
                        <a:rPr lang="en-US" altLang="ko-KR" sz="800" dirty="0">
                          <a:solidFill>
                            <a:schemeClr val="tx1"/>
                          </a:solidFill>
                          <a:latin typeface="+mn-ea"/>
                          <a:ea typeface="+mn-ea"/>
                        </a:rPr>
                        <a:t>Tacpg04</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탭 메뉴 </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계약특수조건 정보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a:t>
                      </a:r>
                      <a:r>
                        <a:rPr lang="en-US" altLang="ko-KR" sz="800" b="0" i="0" u="none" strike="noStrike" dirty="0" err="1">
                          <a:solidFill>
                            <a:schemeClr val="tx1"/>
                          </a:solidFill>
                          <a:effectLst/>
                          <a:latin typeface="맑은 고딕" panose="020B0503020000020004" pitchFamily="50" charset="-127"/>
                          <a:ea typeface="+mn-ea"/>
                        </a:rPr>
                        <a:t>idPbancDtl</a:t>
                      </a:r>
                      <a:r>
                        <a:rPr lang="en-US" altLang="ko-KR" sz="800" dirty="0">
                          <a:solidFill>
                            <a:schemeClr val="tx1"/>
                          </a:solidFill>
                          <a:latin typeface="+mn-ea"/>
                          <a:ea typeface="+mn-ea"/>
                        </a:rPr>
                        <a:t>/Tacpg04.tsx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3731922"/>
                  </a:ext>
                </a:extLst>
              </a:tr>
              <a:tr h="180000">
                <a:tc>
                  <a:txBody>
                    <a:bodyPr/>
                    <a:lstStyle/>
                    <a:p>
                      <a:pPr algn="l" fontAlgn="ctr"/>
                      <a:r>
                        <a:rPr lang="en-US" altLang="ko-KR" sz="700" kern="1200" dirty="0">
                          <a:solidFill>
                            <a:schemeClr val="tx1"/>
                          </a:solidFill>
                          <a:latin typeface="+mn-ea"/>
                          <a:ea typeface="+mn-ea"/>
                          <a:cs typeface="+mn-cs"/>
                        </a:rPr>
                        <a:t>MUI-BD-01-M11</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공고문안</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BidPbancDtl_</a:t>
                      </a:r>
                      <a:r>
                        <a:rPr lang="en-US" altLang="ko-KR" sz="800" dirty="0">
                          <a:solidFill>
                            <a:schemeClr val="tx1"/>
                          </a:solidFill>
                          <a:latin typeface="+mn-ea"/>
                          <a:ea typeface="+mn-ea"/>
                        </a:rPr>
                        <a:t>Tacpg06</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탭 메뉴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공고문안</a:t>
                      </a:r>
                      <a:r>
                        <a:rPr lang="ko-KR" altLang="en-US" sz="800" kern="1200" dirty="0">
                          <a:solidFill>
                            <a:schemeClr val="tx1"/>
                          </a:solidFill>
                          <a:latin typeface="+mn-ea"/>
                          <a:ea typeface="+mn-ea"/>
                          <a:cs typeface="+mn-cs"/>
                        </a:rPr>
                        <a:t> 정보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a:t>
                      </a:r>
                      <a:r>
                        <a:rPr lang="en-US" altLang="ko-KR" sz="800" b="0" i="0" u="none" strike="noStrike" dirty="0" err="1">
                          <a:solidFill>
                            <a:schemeClr val="tx1"/>
                          </a:solidFill>
                          <a:effectLst/>
                          <a:latin typeface="맑은 고딕" panose="020B0503020000020004" pitchFamily="50" charset="-127"/>
                          <a:ea typeface="+mn-ea"/>
                        </a:rPr>
                        <a:t>idPbancDtl</a:t>
                      </a:r>
                      <a:r>
                        <a:rPr lang="en-US" altLang="ko-KR" sz="800" dirty="0">
                          <a:solidFill>
                            <a:schemeClr val="tx1"/>
                          </a:solidFill>
                          <a:latin typeface="+mn-ea"/>
                          <a:ea typeface="+mn-ea"/>
                        </a:rPr>
                        <a:t>/Tacpg05.tsx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1725250"/>
                  </a:ext>
                </a:extLst>
              </a:tr>
              <a:tr h="180000">
                <a:tc>
                  <a:txBody>
                    <a:bodyPr/>
                    <a:lstStyle/>
                    <a:p>
                      <a:pPr algn="l" fontAlgn="ctr"/>
                      <a:r>
                        <a:rPr lang="en-US" altLang="ko-KR" sz="700" kern="1200" dirty="0">
                          <a:solidFill>
                            <a:schemeClr val="tx1"/>
                          </a:solidFill>
                          <a:latin typeface="+mn-ea"/>
                          <a:ea typeface="+mn-ea"/>
                          <a:cs typeface="+mn-cs"/>
                        </a:rPr>
                        <a:t>MUI-BD-01-M12</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입찰진행현황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BidPbancDtl_</a:t>
                      </a:r>
                      <a:r>
                        <a:rPr lang="en-US" altLang="ko-KR" sz="800" dirty="0">
                          <a:solidFill>
                            <a:schemeClr val="tx1"/>
                          </a:solidFill>
                          <a:latin typeface="+mn-ea"/>
                          <a:ea typeface="+mn-ea"/>
                        </a:rPr>
                        <a:t>Tacpg07</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탭 메뉴 </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입찰진행현황 정보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a:t>
                      </a:r>
                      <a:r>
                        <a:rPr lang="en-US" altLang="ko-KR" sz="800" b="0" i="0" u="none" strike="noStrike" dirty="0" err="1">
                          <a:solidFill>
                            <a:schemeClr val="tx1"/>
                          </a:solidFill>
                          <a:effectLst/>
                          <a:latin typeface="맑은 고딕" panose="020B0503020000020004" pitchFamily="50" charset="-127"/>
                          <a:ea typeface="+mn-ea"/>
                        </a:rPr>
                        <a:t>idPbancDtl</a:t>
                      </a:r>
                      <a:r>
                        <a:rPr lang="en-US" altLang="ko-KR" sz="800" dirty="0">
                          <a:solidFill>
                            <a:schemeClr val="tx1"/>
                          </a:solidFill>
                          <a:latin typeface="+mn-ea"/>
                          <a:ea typeface="+mn-ea"/>
                        </a:rPr>
                        <a:t>/Tacpg07.tsx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8231804"/>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5768504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5" name="직선 화살표 연결선 84">
            <a:extLst>
              <a:ext uri="{FF2B5EF4-FFF2-40B4-BE49-F238E27FC236}">
                <a16:creationId xmlns:a16="http://schemas.microsoft.com/office/drawing/2014/main" id="{9A519F08-B829-E35F-09D8-DFCD1F68B911}"/>
              </a:ext>
            </a:extLst>
          </p:cNvPr>
          <p:cNvCxnSpPr>
            <a:cxnSpLocks/>
            <a:stCxn id="70" idx="3"/>
            <a:endCxn id="84" idx="2"/>
          </p:cNvCxnSpPr>
          <p:nvPr/>
        </p:nvCxnSpPr>
        <p:spPr>
          <a:xfrm>
            <a:off x="3266608" y="1772964"/>
            <a:ext cx="5359202" cy="3019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23</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2.2. </a:t>
            </a:r>
            <a:r>
              <a:rPr lang="ko-KR" altLang="en-US" dirty="0"/>
              <a:t>화면 흐름도 </a:t>
            </a:r>
            <a:r>
              <a:rPr lang="en-US" altLang="ko-KR" dirty="0"/>
              <a:t>– </a:t>
            </a:r>
            <a:r>
              <a:rPr lang="ko-KR" altLang="en-US" dirty="0"/>
              <a:t>입찰 공고 상세 탭 이동</a:t>
            </a: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70" idx="1"/>
          </p:cNvCxnSpPr>
          <p:nvPr/>
        </p:nvCxnSpPr>
        <p:spPr>
          <a:xfrm>
            <a:off x="143547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70"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 공고 상세</a:t>
            </a:r>
          </a:p>
        </p:txBody>
      </p:sp>
      <p:sp>
        <p:nvSpPr>
          <p:cNvPr id="77" name="사각형: 둥근 모서리 5">
            <a:extLst>
              <a:ext uri="{FF2B5EF4-FFF2-40B4-BE49-F238E27FC236}">
                <a16:creationId xmlns:a16="http://schemas.microsoft.com/office/drawing/2014/main" id="{410E5459-200D-7630-863C-88E5109259DF}"/>
              </a:ext>
            </a:extLst>
          </p:cNvPr>
          <p:cNvSpPr/>
          <p:nvPr/>
        </p:nvSpPr>
        <p:spPr>
          <a:xfrm>
            <a:off x="4916633" y="161704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일반정보</a:t>
            </a:r>
          </a:p>
        </p:txBody>
      </p:sp>
      <p:cxnSp>
        <p:nvCxnSpPr>
          <p:cNvPr id="121" name="직선 화살표 연결선 120">
            <a:extLst>
              <a:ext uri="{FF2B5EF4-FFF2-40B4-BE49-F238E27FC236}">
                <a16:creationId xmlns:a16="http://schemas.microsoft.com/office/drawing/2014/main" id="{9A519F08-B829-E35F-09D8-DFCD1F68B911}"/>
              </a:ext>
            </a:extLst>
          </p:cNvPr>
          <p:cNvCxnSpPr>
            <a:cxnSpLocks/>
            <a:stCxn id="70" idx="3"/>
            <a:endCxn id="77" idx="1"/>
          </p:cNvCxnSpPr>
          <p:nvPr/>
        </p:nvCxnSpPr>
        <p:spPr>
          <a:xfrm flipV="1">
            <a:off x="3266608" y="1761044"/>
            <a:ext cx="1650025" cy="1192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직사각형 61">
            <a:extLst>
              <a:ext uri="{FF2B5EF4-FFF2-40B4-BE49-F238E27FC236}">
                <a16:creationId xmlns:a16="http://schemas.microsoft.com/office/drawing/2014/main" id="{23C86455-E84C-0CEA-5C6B-05BE50ADCEF5}"/>
              </a:ext>
            </a:extLst>
          </p:cNvPr>
          <p:cNvSpPr/>
          <p:nvPr/>
        </p:nvSpPr>
        <p:spPr>
          <a:xfrm>
            <a:off x="1191585"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sp>
        <p:nvSpPr>
          <p:cNvPr id="22" name="사각형: 둥근 모서리 5">
            <a:extLst>
              <a:ext uri="{FF2B5EF4-FFF2-40B4-BE49-F238E27FC236}">
                <a16:creationId xmlns:a16="http://schemas.microsoft.com/office/drawing/2014/main" id="{410E5459-200D-7630-863C-88E5109259DF}"/>
              </a:ext>
            </a:extLst>
          </p:cNvPr>
          <p:cNvSpPr/>
          <p:nvPr/>
        </p:nvSpPr>
        <p:spPr>
          <a:xfrm>
            <a:off x="4916633" y="3863260"/>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공고문안</a:t>
            </a:r>
            <a:endParaRPr lang="ko-KR" altLang="en-US" sz="800" dirty="0">
              <a:solidFill>
                <a:schemeClr val="tx1"/>
              </a:solidFill>
            </a:endParaRPr>
          </a:p>
        </p:txBody>
      </p:sp>
      <p:sp>
        <p:nvSpPr>
          <p:cNvPr id="52" name="사각형: 둥근 모서리 5">
            <a:extLst>
              <a:ext uri="{FF2B5EF4-FFF2-40B4-BE49-F238E27FC236}">
                <a16:creationId xmlns:a16="http://schemas.microsoft.com/office/drawing/2014/main" id="{410E5459-200D-7630-863C-88E5109259DF}"/>
              </a:ext>
            </a:extLst>
          </p:cNvPr>
          <p:cNvSpPr/>
          <p:nvPr/>
        </p:nvSpPr>
        <p:spPr>
          <a:xfrm>
            <a:off x="4916633" y="233965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품목명세서</a:t>
            </a:r>
            <a:endParaRPr lang="ko-KR" altLang="en-US" sz="800" dirty="0">
              <a:solidFill>
                <a:schemeClr val="tx1"/>
              </a:solidFill>
            </a:endParaRPr>
          </a:p>
        </p:txBody>
      </p:sp>
      <p:sp>
        <p:nvSpPr>
          <p:cNvPr id="53" name="사각형: 둥근 모서리 5">
            <a:extLst>
              <a:ext uri="{FF2B5EF4-FFF2-40B4-BE49-F238E27FC236}">
                <a16:creationId xmlns:a16="http://schemas.microsoft.com/office/drawing/2014/main" id="{410E5459-200D-7630-863C-88E5109259DF}"/>
              </a:ext>
            </a:extLst>
          </p:cNvPr>
          <p:cNvSpPr/>
          <p:nvPr/>
        </p:nvSpPr>
        <p:spPr>
          <a:xfrm>
            <a:off x="4916633" y="309710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계약특수조건</a:t>
            </a:r>
          </a:p>
        </p:txBody>
      </p:sp>
      <p:sp>
        <p:nvSpPr>
          <p:cNvPr id="54" name="사각형: 둥근 모서리 5">
            <a:extLst>
              <a:ext uri="{FF2B5EF4-FFF2-40B4-BE49-F238E27FC236}">
                <a16:creationId xmlns:a16="http://schemas.microsoft.com/office/drawing/2014/main" id="{410E5459-200D-7630-863C-88E5109259DF}"/>
              </a:ext>
            </a:extLst>
          </p:cNvPr>
          <p:cNvSpPr/>
          <p:nvPr/>
        </p:nvSpPr>
        <p:spPr>
          <a:xfrm>
            <a:off x="4838237" y="5438532"/>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입찰진행현황</a:t>
            </a:r>
          </a:p>
        </p:txBody>
      </p:sp>
      <p:cxnSp>
        <p:nvCxnSpPr>
          <p:cNvPr id="66" name="연결선: 꺾임 7">
            <a:extLst>
              <a:ext uri="{FF2B5EF4-FFF2-40B4-BE49-F238E27FC236}">
                <a16:creationId xmlns:a16="http://schemas.microsoft.com/office/drawing/2014/main" id="{89A2D828-4C18-4F90-6B31-722E89773AA8}"/>
              </a:ext>
            </a:extLst>
          </p:cNvPr>
          <p:cNvCxnSpPr>
            <a:cxnSpLocks/>
            <a:stCxn id="52" idx="3"/>
            <a:endCxn id="70" idx="0"/>
          </p:cNvCxnSpPr>
          <p:nvPr/>
        </p:nvCxnSpPr>
        <p:spPr>
          <a:xfrm flipH="1" flipV="1">
            <a:off x="2816608" y="1628964"/>
            <a:ext cx="3000025" cy="854687"/>
          </a:xfrm>
          <a:prstGeom prst="bentConnector4">
            <a:avLst>
              <a:gd name="adj1" fmla="val -7620"/>
              <a:gd name="adj2" fmla="val 126747"/>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연결선: 꺾임 7">
            <a:extLst>
              <a:ext uri="{FF2B5EF4-FFF2-40B4-BE49-F238E27FC236}">
                <a16:creationId xmlns:a16="http://schemas.microsoft.com/office/drawing/2014/main" id="{89A2D828-4C18-4F90-6B31-722E89773AA8}"/>
              </a:ext>
            </a:extLst>
          </p:cNvPr>
          <p:cNvCxnSpPr>
            <a:cxnSpLocks/>
            <a:stCxn id="70" idx="3"/>
            <a:endCxn id="52" idx="1"/>
          </p:cNvCxnSpPr>
          <p:nvPr/>
        </p:nvCxnSpPr>
        <p:spPr>
          <a:xfrm>
            <a:off x="3266608" y="1772964"/>
            <a:ext cx="1650025" cy="71068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3" name="직사각형 72">
            <a:extLst>
              <a:ext uri="{FF2B5EF4-FFF2-40B4-BE49-F238E27FC236}">
                <a16:creationId xmlns:a16="http://schemas.microsoft.com/office/drawing/2014/main" id="{F249990F-1DE5-C694-BDBD-2DE7009D57EA}"/>
              </a:ext>
            </a:extLst>
          </p:cNvPr>
          <p:cNvSpPr/>
          <p:nvPr/>
        </p:nvSpPr>
        <p:spPr>
          <a:xfrm>
            <a:off x="3751419" y="4883930"/>
            <a:ext cx="5770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Y</a:t>
            </a:r>
            <a:endParaRPr lang="ko-KR" altLang="en-US" sz="800" dirty="0">
              <a:solidFill>
                <a:schemeClr val="tx1"/>
              </a:solidFill>
            </a:endParaRPr>
          </a:p>
        </p:txBody>
      </p:sp>
      <p:sp>
        <p:nvSpPr>
          <p:cNvPr id="72" name="다이아몬드 71"/>
          <p:cNvSpPr/>
          <p:nvPr/>
        </p:nvSpPr>
        <p:spPr>
          <a:xfrm>
            <a:off x="2851419" y="4881117"/>
            <a:ext cx="900000" cy="288000"/>
          </a:xfrm>
          <a:prstGeom prst="diamond">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로그인</a:t>
            </a:r>
          </a:p>
        </p:txBody>
      </p:sp>
      <p:sp>
        <p:nvSpPr>
          <p:cNvPr id="74" name="사각형: 둥근 모서리 5">
            <a:extLst>
              <a:ext uri="{FF2B5EF4-FFF2-40B4-BE49-F238E27FC236}">
                <a16:creationId xmlns:a16="http://schemas.microsoft.com/office/drawing/2014/main" id="{410E5459-200D-7630-863C-88E5109259DF}"/>
              </a:ext>
            </a:extLst>
          </p:cNvPr>
          <p:cNvSpPr/>
          <p:nvPr/>
        </p:nvSpPr>
        <p:spPr>
          <a:xfrm>
            <a:off x="2663224" y="589897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a:solidFill>
                  <a:schemeClr val="tx1"/>
                </a:solidFill>
              </a:rPr>
              <a:t>로그인 안내</a:t>
            </a:r>
            <a:endParaRPr lang="ko-KR" altLang="en-US" sz="800" dirty="0">
              <a:solidFill>
                <a:schemeClr val="tx1"/>
              </a:solidFill>
            </a:endParaRPr>
          </a:p>
        </p:txBody>
      </p:sp>
      <p:cxnSp>
        <p:nvCxnSpPr>
          <p:cNvPr id="75" name="직선 화살표 연결선 74">
            <a:extLst>
              <a:ext uri="{FF2B5EF4-FFF2-40B4-BE49-F238E27FC236}">
                <a16:creationId xmlns:a16="http://schemas.microsoft.com/office/drawing/2014/main" id="{9A519F08-B829-E35F-09D8-DFCD1F68B911}"/>
              </a:ext>
            </a:extLst>
          </p:cNvPr>
          <p:cNvCxnSpPr>
            <a:cxnSpLocks/>
            <a:stCxn id="72" idx="2"/>
            <a:endCxn id="74" idx="0"/>
          </p:cNvCxnSpPr>
          <p:nvPr/>
        </p:nvCxnSpPr>
        <p:spPr>
          <a:xfrm flipH="1">
            <a:off x="3113224" y="5169117"/>
            <a:ext cx="188195" cy="7298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 name="직사각형 75">
            <a:extLst>
              <a:ext uri="{FF2B5EF4-FFF2-40B4-BE49-F238E27FC236}">
                <a16:creationId xmlns:a16="http://schemas.microsoft.com/office/drawing/2014/main" id="{F249990F-1DE5-C694-BDBD-2DE7009D57EA}"/>
              </a:ext>
            </a:extLst>
          </p:cNvPr>
          <p:cNvSpPr/>
          <p:nvPr/>
        </p:nvSpPr>
        <p:spPr>
          <a:xfrm>
            <a:off x="3408597" y="5251561"/>
            <a:ext cx="7854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N</a:t>
            </a:r>
            <a:endParaRPr lang="ko-KR" altLang="en-US" sz="800" dirty="0">
              <a:solidFill>
                <a:schemeClr val="tx1"/>
              </a:solidFill>
            </a:endParaRPr>
          </a:p>
        </p:txBody>
      </p:sp>
      <p:sp>
        <p:nvSpPr>
          <p:cNvPr id="78" name="직사각형 77">
            <a:extLst>
              <a:ext uri="{FF2B5EF4-FFF2-40B4-BE49-F238E27FC236}">
                <a16:creationId xmlns:a16="http://schemas.microsoft.com/office/drawing/2014/main" id="{4FB9FCCA-B5F3-C0E2-F563-4F0CE0FC24CF}"/>
              </a:ext>
            </a:extLst>
          </p:cNvPr>
          <p:cNvSpPr/>
          <p:nvPr/>
        </p:nvSpPr>
        <p:spPr>
          <a:xfrm>
            <a:off x="8487009" y="2015641"/>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79" name="그룹 78">
            <a:extLst>
              <a:ext uri="{FF2B5EF4-FFF2-40B4-BE49-F238E27FC236}">
                <a16:creationId xmlns:a16="http://schemas.microsoft.com/office/drawing/2014/main" id="{E7279F6C-9434-7961-8F6B-B7AE44CE5FCD}"/>
              </a:ext>
            </a:extLst>
          </p:cNvPr>
          <p:cNvGrpSpPr/>
          <p:nvPr/>
        </p:nvGrpSpPr>
        <p:grpSpPr>
          <a:xfrm>
            <a:off x="8589810" y="1713159"/>
            <a:ext cx="180000" cy="180000"/>
            <a:chOff x="5058274" y="2498299"/>
            <a:chExt cx="180000" cy="180000"/>
          </a:xfrm>
        </p:grpSpPr>
        <p:sp>
          <p:nvSpPr>
            <p:cNvPr id="80" name="타원 79">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타원 83">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86" name="연결선: 꺾임 7">
            <a:extLst>
              <a:ext uri="{FF2B5EF4-FFF2-40B4-BE49-F238E27FC236}">
                <a16:creationId xmlns:a16="http://schemas.microsoft.com/office/drawing/2014/main" id="{89A2D828-4C18-4F90-6B31-722E89773AA8}"/>
              </a:ext>
            </a:extLst>
          </p:cNvPr>
          <p:cNvCxnSpPr>
            <a:cxnSpLocks/>
            <a:stCxn id="70" idx="2"/>
            <a:endCxn id="72" idx="0"/>
          </p:cNvCxnSpPr>
          <p:nvPr/>
        </p:nvCxnSpPr>
        <p:spPr>
          <a:xfrm rot="16200000" flipH="1">
            <a:off x="1576937" y="3156634"/>
            <a:ext cx="2964153" cy="48481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연결선: 꺾임 7">
            <a:extLst>
              <a:ext uri="{FF2B5EF4-FFF2-40B4-BE49-F238E27FC236}">
                <a16:creationId xmlns:a16="http://schemas.microsoft.com/office/drawing/2014/main" id="{89A2D828-4C18-4F90-6B31-722E89773AA8}"/>
              </a:ext>
            </a:extLst>
          </p:cNvPr>
          <p:cNvCxnSpPr>
            <a:cxnSpLocks/>
            <a:stCxn id="72" idx="3"/>
            <a:endCxn id="54" idx="1"/>
          </p:cNvCxnSpPr>
          <p:nvPr/>
        </p:nvCxnSpPr>
        <p:spPr>
          <a:xfrm>
            <a:off x="3751419" y="5025117"/>
            <a:ext cx="1086818" cy="557415"/>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8" name="사각형: 둥근 모서리 5">
            <a:extLst>
              <a:ext uri="{FF2B5EF4-FFF2-40B4-BE49-F238E27FC236}">
                <a16:creationId xmlns:a16="http://schemas.microsoft.com/office/drawing/2014/main" id="{410E5459-200D-7630-863C-88E5109259DF}"/>
              </a:ext>
            </a:extLst>
          </p:cNvPr>
          <p:cNvSpPr/>
          <p:nvPr/>
        </p:nvSpPr>
        <p:spPr>
          <a:xfrm>
            <a:off x="4838237" y="464097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기초예비가격</a:t>
            </a:r>
          </a:p>
        </p:txBody>
      </p:sp>
      <p:cxnSp>
        <p:nvCxnSpPr>
          <p:cNvPr id="107" name="연결선: 꺾임 7">
            <a:extLst>
              <a:ext uri="{FF2B5EF4-FFF2-40B4-BE49-F238E27FC236}">
                <a16:creationId xmlns:a16="http://schemas.microsoft.com/office/drawing/2014/main" id="{89A2D828-4C18-4F90-6B31-722E89773AA8}"/>
              </a:ext>
            </a:extLst>
          </p:cNvPr>
          <p:cNvCxnSpPr>
            <a:cxnSpLocks/>
            <a:stCxn id="72" idx="3"/>
            <a:endCxn id="98" idx="1"/>
          </p:cNvCxnSpPr>
          <p:nvPr/>
        </p:nvCxnSpPr>
        <p:spPr>
          <a:xfrm flipV="1">
            <a:off x="3751419" y="4784978"/>
            <a:ext cx="1086818" cy="240139"/>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직사각형 41">
            <a:extLst>
              <a:ext uri="{FF2B5EF4-FFF2-40B4-BE49-F238E27FC236}">
                <a16:creationId xmlns:a16="http://schemas.microsoft.com/office/drawing/2014/main" id="{F249990F-1DE5-C694-BDBD-2DE7009D57EA}"/>
              </a:ext>
            </a:extLst>
          </p:cNvPr>
          <p:cNvSpPr/>
          <p:nvPr/>
        </p:nvSpPr>
        <p:spPr>
          <a:xfrm>
            <a:off x="4838237" y="5190006"/>
            <a:ext cx="90890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개찰일시</a:t>
            </a:r>
            <a:r>
              <a:rPr lang="ko-KR" altLang="en-US" sz="800" dirty="0">
                <a:solidFill>
                  <a:schemeClr val="tx1"/>
                </a:solidFill>
              </a:rPr>
              <a:t> 이후 표시</a:t>
            </a:r>
            <a:endParaRPr lang="en-US" altLang="ko-KR" sz="800" dirty="0">
              <a:solidFill>
                <a:schemeClr val="tx1"/>
              </a:solidFill>
            </a:endParaRPr>
          </a:p>
          <a:p>
            <a:r>
              <a:rPr lang="ko-KR" altLang="en-US" sz="800" dirty="0" err="1">
                <a:solidFill>
                  <a:schemeClr val="tx1"/>
                </a:solidFill>
              </a:rPr>
              <a:t>개찰완료</a:t>
            </a:r>
            <a:r>
              <a:rPr lang="en-US" altLang="ko-KR" sz="800" dirty="0">
                <a:solidFill>
                  <a:schemeClr val="tx1"/>
                </a:solidFill>
              </a:rPr>
              <a:t>, </a:t>
            </a:r>
            <a:r>
              <a:rPr lang="ko-KR" altLang="en-US" sz="800" dirty="0">
                <a:solidFill>
                  <a:schemeClr val="tx1"/>
                </a:solidFill>
              </a:rPr>
              <a:t>유찰</a:t>
            </a:r>
          </a:p>
        </p:txBody>
      </p:sp>
      <p:sp>
        <p:nvSpPr>
          <p:cNvPr id="43" name="직사각형 42">
            <a:extLst>
              <a:ext uri="{FF2B5EF4-FFF2-40B4-BE49-F238E27FC236}">
                <a16:creationId xmlns:a16="http://schemas.microsoft.com/office/drawing/2014/main" id="{F249990F-1DE5-C694-BDBD-2DE7009D57EA}"/>
              </a:ext>
            </a:extLst>
          </p:cNvPr>
          <p:cNvSpPr/>
          <p:nvPr/>
        </p:nvSpPr>
        <p:spPr>
          <a:xfrm>
            <a:off x="4838237" y="4517302"/>
            <a:ext cx="410369"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경쟁입찰</a:t>
            </a:r>
          </a:p>
        </p:txBody>
      </p:sp>
      <p:sp>
        <p:nvSpPr>
          <p:cNvPr id="44" name="직사각형 43">
            <a:extLst>
              <a:ext uri="{FF2B5EF4-FFF2-40B4-BE49-F238E27FC236}">
                <a16:creationId xmlns:a16="http://schemas.microsoft.com/office/drawing/2014/main" id="{F249990F-1DE5-C694-BDBD-2DE7009D57EA}"/>
              </a:ext>
            </a:extLst>
          </p:cNvPr>
          <p:cNvSpPr/>
          <p:nvPr/>
        </p:nvSpPr>
        <p:spPr>
          <a:xfrm>
            <a:off x="5174959" y="2218582"/>
            <a:ext cx="410369"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경쟁입찰</a:t>
            </a:r>
          </a:p>
        </p:txBody>
      </p:sp>
      <p:sp>
        <p:nvSpPr>
          <p:cNvPr id="45" name="직사각형 44">
            <a:extLst>
              <a:ext uri="{FF2B5EF4-FFF2-40B4-BE49-F238E27FC236}">
                <a16:creationId xmlns:a16="http://schemas.microsoft.com/office/drawing/2014/main" id="{F249990F-1DE5-C694-BDBD-2DE7009D57EA}"/>
              </a:ext>
            </a:extLst>
          </p:cNvPr>
          <p:cNvSpPr/>
          <p:nvPr/>
        </p:nvSpPr>
        <p:spPr>
          <a:xfrm>
            <a:off x="4956264" y="2850318"/>
            <a:ext cx="1033937"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경쟁입찰</a:t>
            </a:r>
            <a:endParaRPr lang="en-US" altLang="ko-KR" sz="800" dirty="0">
              <a:solidFill>
                <a:schemeClr val="tx1"/>
              </a:solidFill>
            </a:endParaRPr>
          </a:p>
          <a:p>
            <a:r>
              <a:rPr lang="ko-KR" altLang="en-US" sz="800" dirty="0">
                <a:solidFill>
                  <a:schemeClr val="tx1"/>
                </a:solidFill>
              </a:rPr>
              <a:t>계약 </a:t>
            </a:r>
            <a:r>
              <a:rPr lang="ko-KR" altLang="en-US" sz="800" dirty="0" err="1">
                <a:solidFill>
                  <a:schemeClr val="tx1"/>
                </a:solidFill>
              </a:rPr>
              <a:t>특수조건</a:t>
            </a:r>
            <a:r>
              <a:rPr lang="ko-KR" altLang="en-US" sz="800" dirty="0">
                <a:solidFill>
                  <a:schemeClr val="tx1"/>
                </a:solidFill>
              </a:rPr>
              <a:t> 데이터</a:t>
            </a:r>
          </a:p>
        </p:txBody>
      </p:sp>
      <p:sp>
        <p:nvSpPr>
          <p:cNvPr id="46" name="직사각형 45">
            <a:extLst>
              <a:ext uri="{FF2B5EF4-FFF2-40B4-BE49-F238E27FC236}">
                <a16:creationId xmlns:a16="http://schemas.microsoft.com/office/drawing/2014/main" id="{F249990F-1DE5-C694-BDBD-2DE7009D57EA}"/>
              </a:ext>
            </a:extLst>
          </p:cNvPr>
          <p:cNvSpPr/>
          <p:nvPr/>
        </p:nvSpPr>
        <p:spPr>
          <a:xfrm>
            <a:off x="4916633" y="3616474"/>
            <a:ext cx="8335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공고문안</a:t>
            </a:r>
            <a:r>
              <a:rPr lang="ko-KR" altLang="en-US" sz="800" dirty="0">
                <a:solidFill>
                  <a:schemeClr val="tx1"/>
                </a:solidFill>
              </a:rPr>
              <a:t> 내용</a:t>
            </a:r>
            <a:endParaRPr lang="en-US" altLang="ko-KR" sz="800" dirty="0">
              <a:solidFill>
                <a:schemeClr val="tx1"/>
              </a:solidFill>
            </a:endParaRPr>
          </a:p>
          <a:p>
            <a:r>
              <a:rPr lang="ko-KR" altLang="en-US" sz="800" dirty="0" err="1">
                <a:solidFill>
                  <a:schemeClr val="tx1"/>
                </a:solidFill>
              </a:rPr>
              <a:t>자료구분</a:t>
            </a:r>
            <a:r>
              <a:rPr lang="ko-KR" altLang="en-US" sz="800" dirty="0">
                <a:solidFill>
                  <a:schemeClr val="tx1"/>
                </a:solidFill>
              </a:rPr>
              <a:t> </a:t>
            </a:r>
            <a:r>
              <a:rPr lang="en-US" altLang="ko-KR" sz="800" dirty="0">
                <a:solidFill>
                  <a:schemeClr val="tx1"/>
                </a:solidFill>
              </a:rPr>
              <a:t>- </a:t>
            </a:r>
            <a:r>
              <a:rPr lang="ko-KR" altLang="en-US" sz="800" dirty="0" err="1">
                <a:solidFill>
                  <a:schemeClr val="tx1"/>
                </a:solidFill>
              </a:rPr>
              <a:t>구자료</a:t>
            </a:r>
            <a:endParaRPr lang="ko-KR" altLang="en-US" sz="800" dirty="0">
              <a:solidFill>
                <a:schemeClr val="tx1"/>
              </a:solidFill>
            </a:endParaRPr>
          </a:p>
        </p:txBody>
      </p:sp>
      <p:cxnSp>
        <p:nvCxnSpPr>
          <p:cNvPr id="47" name="연결선: 꺾임 7">
            <a:extLst>
              <a:ext uri="{FF2B5EF4-FFF2-40B4-BE49-F238E27FC236}">
                <a16:creationId xmlns:a16="http://schemas.microsoft.com/office/drawing/2014/main" id="{89A2D828-4C18-4F90-6B31-722E89773AA8}"/>
              </a:ext>
            </a:extLst>
          </p:cNvPr>
          <p:cNvCxnSpPr>
            <a:cxnSpLocks/>
            <a:stCxn id="70" idx="3"/>
            <a:endCxn id="53" idx="1"/>
          </p:cNvCxnSpPr>
          <p:nvPr/>
        </p:nvCxnSpPr>
        <p:spPr>
          <a:xfrm>
            <a:off x="3266608" y="1772964"/>
            <a:ext cx="1650025" cy="146814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연결선: 꺾임 7">
            <a:extLst>
              <a:ext uri="{FF2B5EF4-FFF2-40B4-BE49-F238E27FC236}">
                <a16:creationId xmlns:a16="http://schemas.microsoft.com/office/drawing/2014/main" id="{89A2D828-4C18-4F90-6B31-722E89773AA8}"/>
              </a:ext>
            </a:extLst>
          </p:cNvPr>
          <p:cNvCxnSpPr>
            <a:cxnSpLocks/>
            <a:stCxn id="53" idx="3"/>
            <a:endCxn id="70" idx="0"/>
          </p:cNvCxnSpPr>
          <p:nvPr/>
        </p:nvCxnSpPr>
        <p:spPr>
          <a:xfrm flipH="1" flipV="1">
            <a:off x="2816608" y="1628964"/>
            <a:ext cx="3000025" cy="1612141"/>
          </a:xfrm>
          <a:prstGeom prst="bentConnector4">
            <a:avLst>
              <a:gd name="adj1" fmla="val -7620"/>
              <a:gd name="adj2" fmla="val 11418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연결선: 꺾임 7">
            <a:extLst>
              <a:ext uri="{FF2B5EF4-FFF2-40B4-BE49-F238E27FC236}">
                <a16:creationId xmlns:a16="http://schemas.microsoft.com/office/drawing/2014/main" id="{89A2D828-4C18-4F90-6B31-722E89773AA8}"/>
              </a:ext>
            </a:extLst>
          </p:cNvPr>
          <p:cNvCxnSpPr>
            <a:cxnSpLocks/>
            <a:stCxn id="70" idx="3"/>
            <a:endCxn id="22" idx="1"/>
          </p:cNvCxnSpPr>
          <p:nvPr/>
        </p:nvCxnSpPr>
        <p:spPr>
          <a:xfrm>
            <a:off x="3266608" y="1772964"/>
            <a:ext cx="1650025" cy="2234296"/>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연결선: 꺾임 7">
            <a:extLst>
              <a:ext uri="{FF2B5EF4-FFF2-40B4-BE49-F238E27FC236}">
                <a16:creationId xmlns:a16="http://schemas.microsoft.com/office/drawing/2014/main" id="{89A2D828-4C18-4F90-6B31-722E89773AA8}"/>
              </a:ext>
            </a:extLst>
          </p:cNvPr>
          <p:cNvCxnSpPr>
            <a:cxnSpLocks/>
            <a:stCxn id="22" idx="3"/>
            <a:endCxn id="70" idx="0"/>
          </p:cNvCxnSpPr>
          <p:nvPr/>
        </p:nvCxnSpPr>
        <p:spPr>
          <a:xfrm flipH="1" flipV="1">
            <a:off x="2816608" y="1628964"/>
            <a:ext cx="3000025" cy="2378296"/>
          </a:xfrm>
          <a:prstGeom prst="bentConnector4">
            <a:avLst>
              <a:gd name="adj1" fmla="val -7620"/>
              <a:gd name="adj2" fmla="val 10961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연결선: 꺾임 7">
            <a:extLst>
              <a:ext uri="{FF2B5EF4-FFF2-40B4-BE49-F238E27FC236}">
                <a16:creationId xmlns:a16="http://schemas.microsoft.com/office/drawing/2014/main" id="{89A2D828-4C18-4F90-6B31-722E89773AA8}"/>
              </a:ext>
            </a:extLst>
          </p:cNvPr>
          <p:cNvCxnSpPr>
            <a:cxnSpLocks/>
            <a:stCxn id="77" idx="3"/>
            <a:endCxn id="70" idx="0"/>
          </p:cNvCxnSpPr>
          <p:nvPr/>
        </p:nvCxnSpPr>
        <p:spPr>
          <a:xfrm flipH="1" flipV="1">
            <a:off x="2816608" y="1628964"/>
            <a:ext cx="3000025" cy="132080"/>
          </a:xfrm>
          <a:prstGeom prst="bentConnector4">
            <a:avLst>
              <a:gd name="adj1" fmla="val -7620"/>
              <a:gd name="adj2" fmla="val 28210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06400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24</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2.3 </a:t>
            </a:r>
            <a:r>
              <a:rPr lang="ko-KR" altLang="en-US" dirty="0"/>
              <a:t>앱 구성 다이어그램</a:t>
            </a:r>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850693"/>
            <a:ext cx="1727200" cy="49114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a:solidFill>
                  <a:schemeClr val="tx1"/>
                </a:solidFill>
              </a:rPr>
              <a:t>입찰공고상세</a:t>
            </a:r>
            <a:endParaRPr lang="en-US" altLang="ko-KR" sz="1050" dirty="0">
              <a:solidFill>
                <a:schemeClr val="tx1"/>
              </a:solidFill>
            </a:endParaRPr>
          </a:p>
          <a:p>
            <a:pPr algn="ctr"/>
            <a:r>
              <a:rPr lang="en-US" altLang="ko-KR" sz="1050" dirty="0">
                <a:solidFill>
                  <a:schemeClr val="tx1"/>
                </a:solidFill>
                <a:latin typeface="맑은 고딕" panose="020B0503020000020004" pitchFamily="50" charset="-127"/>
              </a:rPr>
              <a:t>BidPbancDtl</a:t>
            </a:r>
            <a:r>
              <a:rPr lang="en-US" altLang="ko-KR" sz="1050" dirty="0">
                <a:solidFill>
                  <a:schemeClr val="tx1"/>
                </a:solidFill>
                <a:latin typeface="+mn-ea"/>
              </a:rPr>
              <a:t>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508166"/>
            <a:ext cx="1727200" cy="49114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a:solidFill>
                  <a:schemeClr val="tx1"/>
                </a:solidFill>
                <a:latin typeface="+mn-ea"/>
              </a:rPr>
              <a:t>일반정보</a:t>
            </a:r>
            <a:endParaRPr lang="en-US" altLang="ko-KR" sz="1050" dirty="0">
              <a:solidFill>
                <a:schemeClr val="tx1"/>
              </a:solidFill>
            </a:endParaRPr>
          </a:p>
          <a:p>
            <a:pPr algn="ctr"/>
            <a:r>
              <a:rPr lang="en-US" altLang="ko-KR" sz="1050" dirty="0">
                <a:solidFill>
                  <a:schemeClr val="tx1"/>
                </a:solidFill>
                <a:latin typeface="맑은 고딕" panose="020B0503020000020004" pitchFamily="50" charset="-127"/>
              </a:rPr>
              <a:t>BidPbancDtl</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265382" y="3165639"/>
            <a:ext cx="1727200" cy="49114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a:solidFill>
                  <a:schemeClr val="tx1"/>
                </a:solidFill>
                <a:latin typeface="+mn-ea"/>
              </a:rPr>
              <a:t>기초예비가격</a:t>
            </a:r>
            <a:endParaRPr lang="en-US" altLang="ko-KR" sz="1050" dirty="0">
              <a:solidFill>
                <a:schemeClr val="tx1"/>
              </a:solidFill>
            </a:endParaRPr>
          </a:p>
          <a:p>
            <a:pPr algn="ctr"/>
            <a:r>
              <a:rPr lang="en-US" altLang="ko-KR" sz="1050" dirty="0">
                <a:solidFill>
                  <a:schemeClr val="tx1"/>
                </a:solidFill>
                <a:latin typeface="+mn-ea"/>
              </a:rPr>
              <a:t>Tacpg02</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입찰공고</a:t>
            </a:r>
            <a:r>
              <a:rPr lang="en-US" altLang="ko-KR" sz="1100" dirty="0"/>
              <a:t>Controller&gt;&gt;</a:t>
            </a:r>
          </a:p>
          <a:p>
            <a:pPr algn="ctr"/>
            <a:r>
              <a:rPr lang="en-US" altLang="ko-KR" sz="1100" dirty="0" err="1"/>
              <a:t>BidPbancController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2096268"/>
            <a:ext cx="967509" cy="89390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992582" y="2753741"/>
            <a:ext cx="967509" cy="23643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992582" y="2990174"/>
            <a:ext cx="967509" cy="42104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4" name="직사각형 23">
            <a:extLst>
              <a:ext uri="{FF2B5EF4-FFF2-40B4-BE49-F238E27FC236}">
                <a16:creationId xmlns:a16="http://schemas.microsoft.com/office/drawing/2014/main" id="{326CB017-8967-4DC4-0EAD-ADB3B9EAB841}"/>
              </a:ext>
            </a:extLst>
          </p:cNvPr>
          <p:cNvSpPr/>
          <p:nvPr/>
        </p:nvSpPr>
        <p:spPr>
          <a:xfrm>
            <a:off x="1265382" y="3823112"/>
            <a:ext cx="1727200" cy="49114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err="1">
                <a:solidFill>
                  <a:schemeClr val="tx1"/>
                </a:solidFill>
                <a:latin typeface="+mn-ea"/>
              </a:rPr>
              <a:t>품목명세서</a:t>
            </a:r>
            <a:endParaRPr lang="en-US" altLang="ko-KR" sz="1050" dirty="0">
              <a:solidFill>
                <a:schemeClr val="tx1"/>
              </a:solidFill>
            </a:endParaRPr>
          </a:p>
          <a:p>
            <a:pPr algn="ctr"/>
            <a:r>
              <a:rPr lang="en-US" altLang="ko-KR" sz="1050" dirty="0">
                <a:solidFill>
                  <a:schemeClr val="tx1"/>
                </a:solidFill>
                <a:latin typeface="+mn-ea"/>
              </a:rPr>
              <a:t>Tacpg03</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7" name="직사각형 26">
            <a:extLst>
              <a:ext uri="{FF2B5EF4-FFF2-40B4-BE49-F238E27FC236}">
                <a16:creationId xmlns:a16="http://schemas.microsoft.com/office/drawing/2014/main" id="{326CB017-8967-4DC4-0EAD-ADB3B9EAB841}"/>
              </a:ext>
            </a:extLst>
          </p:cNvPr>
          <p:cNvSpPr/>
          <p:nvPr/>
        </p:nvSpPr>
        <p:spPr>
          <a:xfrm>
            <a:off x="1265382" y="4480585"/>
            <a:ext cx="1727200" cy="49114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a:solidFill>
                  <a:schemeClr val="tx1"/>
                </a:solidFill>
                <a:latin typeface="+mn-ea"/>
              </a:rPr>
              <a:t>계약특수조건</a:t>
            </a:r>
            <a:endParaRPr lang="en-US" altLang="ko-KR" sz="1050" dirty="0">
              <a:solidFill>
                <a:schemeClr val="tx1"/>
              </a:solidFill>
            </a:endParaRPr>
          </a:p>
          <a:p>
            <a:pPr algn="ctr"/>
            <a:r>
              <a:rPr lang="en-US" altLang="ko-KR" sz="1050" dirty="0">
                <a:solidFill>
                  <a:schemeClr val="tx1"/>
                </a:solidFill>
                <a:latin typeface="+mn-ea"/>
              </a:rPr>
              <a:t>Tacpg04</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8" name="직사각형 27">
            <a:extLst>
              <a:ext uri="{FF2B5EF4-FFF2-40B4-BE49-F238E27FC236}">
                <a16:creationId xmlns:a16="http://schemas.microsoft.com/office/drawing/2014/main" id="{326CB017-8967-4DC4-0EAD-ADB3B9EAB841}"/>
              </a:ext>
            </a:extLst>
          </p:cNvPr>
          <p:cNvSpPr/>
          <p:nvPr/>
        </p:nvSpPr>
        <p:spPr>
          <a:xfrm>
            <a:off x="1265382" y="5138058"/>
            <a:ext cx="1727200" cy="49114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err="1">
                <a:solidFill>
                  <a:schemeClr val="tx1"/>
                </a:solidFill>
                <a:latin typeface="+mn-ea"/>
              </a:rPr>
              <a:t>공고문안</a:t>
            </a:r>
            <a:endParaRPr lang="en-US" altLang="ko-KR" sz="1050" dirty="0">
              <a:solidFill>
                <a:schemeClr val="tx1"/>
              </a:solidFill>
            </a:endParaRPr>
          </a:p>
          <a:p>
            <a:pPr algn="ctr"/>
            <a:r>
              <a:rPr lang="en-US" altLang="ko-KR" sz="1050" dirty="0">
                <a:solidFill>
                  <a:schemeClr val="tx1"/>
                </a:solidFill>
                <a:latin typeface="+mn-ea"/>
              </a:rPr>
              <a:t>Tacpg06</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9" name="직사각형 28">
            <a:extLst>
              <a:ext uri="{FF2B5EF4-FFF2-40B4-BE49-F238E27FC236}">
                <a16:creationId xmlns:a16="http://schemas.microsoft.com/office/drawing/2014/main" id="{326CB017-8967-4DC4-0EAD-ADB3B9EAB841}"/>
              </a:ext>
            </a:extLst>
          </p:cNvPr>
          <p:cNvSpPr/>
          <p:nvPr/>
        </p:nvSpPr>
        <p:spPr>
          <a:xfrm>
            <a:off x="1265382" y="5795534"/>
            <a:ext cx="1727200" cy="49114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050" dirty="0">
                <a:solidFill>
                  <a:schemeClr val="tx1"/>
                </a:solidFill>
              </a:rPr>
              <a:t>&lt;&lt;App Page&gt;&gt;</a:t>
            </a:r>
          </a:p>
          <a:p>
            <a:pPr algn="ctr"/>
            <a:r>
              <a:rPr lang="ko-KR" altLang="en-US" sz="1050" dirty="0">
                <a:solidFill>
                  <a:schemeClr val="tx1"/>
                </a:solidFill>
                <a:latin typeface="+mn-ea"/>
              </a:rPr>
              <a:t>입찰진행현황</a:t>
            </a:r>
            <a:endParaRPr lang="en-US" altLang="ko-KR" sz="1050" dirty="0">
              <a:solidFill>
                <a:schemeClr val="tx1"/>
              </a:solidFill>
            </a:endParaRPr>
          </a:p>
          <a:p>
            <a:pPr algn="ctr"/>
            <a:r>
              <a:rPr lang="en-US" altLang="ko-KR" sz="1050" dirty="0">
                <a:solidFill>
                  <a:schemeClr val="tx1"/>
                </a:solidFill>
                <a:latin typeface="+mn-ea"/>
              </a:rPr>
              <a:t>Tacpg07</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0" name="직선 화살표 연결선 29">
            <a:extLst>
              <a:ext uri="{FF2B5EF4-FFF2-40B4-BE49-F238E27FC236}">
                <a16:creationId xmlns:a16="http://schemas.microsoft.com/office/drawing/2014/main" id="{418E1257-E5C2-5705-1378-45505004ABAF}"/>
              </a:ext>
            </a:extLst>
          </p:cNvPr>
          <p:cNvCxnSpPr>
            <a:cxnSpLocks/>
            <a:stCxn id="24" idx="3"/>
            <a:endCxn id="9" idx="1"/>
          </p:cNvCxnSpPr>
          <p:nvPr/>
        </p:nvCxnSpPr>
        <p:spPr>
          <a:xfrm flipV="1">
            <a:off x="2992582" y="2990174"/>
            <a:ext cx="967509" cy="107851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418E1257-E5C2-5705-1378-45505004ABAF}"/>
              </a:ext>
            </a:extLst>
          </p:cNvPr>
          <p:cNvCxnSpPr>
            <a:cxnSpLocks/>
            <a:stCxn id="27" idx="3"/>
            <a:endCxn id="9" idx="1"/>
          </p:cNvCxnSpPr>
          <p:nvPr/>
        </p:nvCxnSpPr>
        <p:spPr>
          <a:xfrm flipV="1">
            <a:off x="2992582" y="2990174"/>
            <a:ext cx="967509" cy="17359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418E1257-E5C2-5705-1378-45505004ABAF}"/>
              </a:ext>
            </a:extLst>
          </p:cNvPr>
          <p:cNvCxnSpPr>
            <a:cxnSpLocks/>
            <a:stCxn id="28" idx="3"/>
            <a:endCxn id="9" idx="1"/>
          </p:cNvCxnSpPr>
          <p:nvPr/>
        </p:nvCxnSpPr>
        <p:spPr>
          <a:xfrm flipV="1">
            <a:off x="2992582" y="2990174"/>
            <a:ext cx="967509" cy="23934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 name="직선 화살표 연결선 36">
            <a:extLst>
              <a:ext uri="{FF2B5EF4-FFF2-40B4-BE49-F238E27FC236}">
                <a16:creationId xmlns:a16="http://schemas.microsoft.com/office/drawing/2014/main" id="{418E1257-E5C2-5705-1378-45505004ABAF}"/>
              </a:ext>
            </a:extLst>
          </p:cNvPr>
          <p:cNvCxnSpPr>
            <a:cxnSpLocks/>
            <a:stCxn id="29" idx="3"/>
            <a:endCxn id="9" idx="1"/>
          </p:cNvCxnSpPr>
          <p:nvPr/>
        </p:nvCxnSpPr>
        <p:spPr>
          <a:xfrm flipV="1">
            <a:off x="2992582" y="2990174"/>
            <a:ext cx="967509" cy="305093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8050746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88900" indent="-88900">
              <a:buFont typeface="+mj-lt"/>
              <a:buAutoNum type="arabicPeriod"/>
            </a:pPr>
            <a:r>
              <a:rPr lang="ko-KR" altLang="en-US" dirty="0"/>
              <a:t>입찰공고 타이틀 표시</a:t>
            </a:r>
            <a:endParaRPr lang="en-US" altLang="ko-KR" dirty="0"/>
          </a:p>
          <a:p>
            <a:pPr marL="88900" indent="-88900">
              <a:buFont typeface="+mj-lt"/>
              <a:buAutoNum type="arabicPeriod"/>
            </a:pPr>
            <a:r>
              <a:rPr lang="ko-KR" altLang="en-US" dirty="0" err="1"/>
              <a:t>단계표시기</a:t>
            </a:r>
            <a:endParaRPr lang="en-US" altLang="ko-KR" dirty="0"/>
          </a:p>
          <a:p>
            <a:pPr marL="88900" indent="-88900">
              <a:buFont typeface="+mj-lt"/>
              <a:buAutoNum type="arabicPeriod"/>
            </a:pPr>
            <a:r>
              <a:rPr lang="ko-KR" altLang="en-US" dirty="0"/>
              <a:t>탭 메뉴</a:t>
            </a:r>
            <a:r>
              <a:rPr lang="en-US" altLang="ko-KR" dirty="0"/>
              <a:t/>
            </a:r>
            <a:br>
              <a:rPr lang="en-US" altLang="ko-KR" dirty="0"/>
            </a:br>
            <a:r>
              <a:rPr lang="en-US" altLang="ko-KR" dirty="0"/>
              <a:t>- </a:t>
            </a:r>
            <a:r>
              <a:rPr lang="ko-KR" altLang="en-US" dirty="0"/>
              <a:t>일반정보 </a:t>
            </a:r>
            <a:r>
              <a:rPr lang="en-US" altLang="ko-KR" dirty="0"/>
              <a:t>Tab</a:t>
            </a:r>
            <a:r>
              <a:rPr lang="ko-KR" altLang="en-US" dirty="0"/>
              <a:t>은 고정 노출</a:t>
            </a:r>
            <a:r>
              <a:rPr lang="en-US" altLang="ko-KR" dirty="0"/>
              <a:t/>
            </a:r>
            <a:br>
              <a:rPr lang="en-US" altLang="ko-KR" dirty="0"/>
            </a:br>
            <a:r>
              <a:rPr lang="en-US" altLang="ko-KR" dirty="0"/>
              <a:t>- </a:t>
            </a:r>
            <a:r>
              <a:rPr lang="ko-KR" altLang="en-US" dirty="0" err="1"/>
              <a:t>품목명세서</a:t>
            </a:r>
            <a:r>
              <a:rPr lang="ko-KR" altLang="en-US" dirty="0"/>
              <a:t> </a:t>
            </a:r>
            <a:r>
              <a:rPr lang="en-US" altLang="ko-KR" dirty="0"/>
              <a:t>Tab</a:t>
            </a:r>
            <a:r>
              <a:rPr lang="ko-KR" altLang="en-US" dirty="0"/>
              <a:t>은 </a:t>
            </a:r>
            <a:r>
              <a:rPr lang="ko-KR" altLang="en-US" dirty="0" err="1"/>
              <a:t>업무구분이</a:t>
            </a:r>
            <a:r>
              <a:rPr lang="ko-KR" altLang="en-US" dirty="0"/>
              <a:t> </a:t>
            </a:r>
            <a:r>
              <a:rPr lang="en-US" altLang="ko-KR" dirty="0"/>
              <a:t>[</a:t>
            </a:r>
            <a:r>
              <a:rPr lang="ko-KR" altLang="en-US" dirty="0"/>
              <a:t>물품</a:t>
            </a:r>
            <a:r>
              <a:rPr lang="en-US" altLang="ko-KR" dirty="0"/>
              <a:t>] </a:t>
            </a:r>
            <a:r>
              <a:rPr lang="ko-KR" altLang="en-US" dirty="0"/>
              <a:t>일 경우만 노출</a:t>
            </a:r>
            <a:r>
              <a:rPr lang="en-US" altLang="ko-KR" dirty="0"/>
              <a:t/>
            </a:r>
            <a:br>
              <a:rPr lang="en-US" altLang="ko-KR" dirty="0"/>
            </a:br>
            <a:r>
              <a:rPr lang="en-US" altLang="ko-KR" dirty="0"/>
              <a:t>- [</a:t>
            </a:r>
            <a:r>
              <a:rPr lang="ko-KR" altLang="en-US" dirty="0"/>
              <a:t>입찰진행현황</a:t>
            </a:r>
            <a:r>
              <a:rPr lang="en-US" altLang="ko-KR" dirty="0"/>
              <a:t>] Tab</a:t>
            </a:r>
            <a:r>
              <a:rPr lang="ko-KR" altLang="en-US" dirty="0"/>
              <a:t>의 경우 </a:t>
            </a:r>
            <a:r>
              <a:rPr lang="ko-KR" altLang="en-US" dirty="0" err="1"/>
              <a:t>입찰진행</a:t>
            </a:r>
            <a:r>
              <a:rPr lang="ko-KR" altLang="en-US" dirty="0"/>
              <a:t> 전일 경우에는 노출되지 않음</a:t>
            </a:r>
            <a:r>
              <a:rPr lang="en-US" altLang="ko-KR" dirty="0"/>
              <a:t>.</a:t>
            </a:r>
            <a:br>
              <a:rPr lang="en-US" altLang="ko-KR" dirty="0"/>
            </a:br>
            <a:r>
              <a:rPr lang="en-US" altLang="ko-KR" dirty="0"/>
              <a:t>- </a:t>
            </a:r>
            <a:r>
              <a:rPr lang="ko-KR" altLang="en-US" dirty="0"/>
              <a:t>경쟁입찰 </a:t>
            </a:r>
            <a:r>
              <a:rPr lang="en-US" altLang="ko-KR" dirty="0"/>
              <a:t>: </a:t>
            </a:r>
            <a:r>
              <a:rPr lang="ko-KR" altLang="en-US" dirty="0"/>
              <a:t>기초예비가격</a:t>
            </a:r>
            <a:r>
              <a:rPr lang="en-US" altLang="ko-KR" dirty="0"/>
              <a:t>, </a:t>
            </a:r>
            <a:r>
              <a:rPr lang="ko-KR" altLang="en-US" dirty="0" err="1"/>
              <a:t>품목명세서</a:t>
            </a:r>
            <a:r>
              <a:rPr lang="en-US" altLang="ko-KR" dirty="0"/>
              <a:t>, </a:t>
            </a:r>
            <a:r>
              <a:rPr lang="ko-KR" altLang="en-US" dirty="0"/>
              <a:t>입찰진행현황</a:t>
            </a:r>
            <a:r>
              <a:rPr lang="en-US" altLang="ko-KR" dirty="0"/>
              <a:t/>
            </a:r>
            <a:br>
              <a:rPr lang="en-US" altLang="ko-KR" dirty="0"/>
            </a:br>
            <a:r>
              <a:rPr lang="en-US" altLang="ko-KR" dirty="0"/>
              <a:t>- </a:t>
            </a:r>
            <a:r>
              <a:rPr lang="ko-KR" altLang="en-US" dirty="0"/>
              <a:t>수의계약 </a:t>
            </a:r>
            <a:r>
              <a:rPr lang="en-US" altLang="ko-KR" dirty="0"/>
              <a:t>: </a:t>
            </a:r>
            <a:r>
              <a:rPr lang="ko-KR" altLang="en-US" dirty="0" err="1"/>
              <a:t>공고문안</a:t>
            </a:r>
            <a:r>
              <a:rPr lang="en-US" altLang="ko-KR" dirty="0"/>
              <a:t>, </a:t>
            </a:r>
            <a:r>
              <a:rPr lang="ko-KR" altLang="en-US" dirty="0"/>
              <a:t>입찰진행현황</a:t>
            </a:r>
            <a:endParaRPr lang="en-US" altLang="ko-KR" dirty="0"/>
          </a:p>
          <a:p>
            <a:pPr marL="88900" indent="-88900">
              <a:buFont typeface="+mj-lt"/>
              <a:buAutoNum type="arabicPeriod"/>
            </a:pPr>
            <a:r>
              <a:rPr lang="ko-KR" altLang="en-US" dirty="0" err="1"/>
              <a:t>일반정보에</a:t>
            </a:r>
            <a:r>
              <a:rPr lang="ko-KR" altLang="en-US" dirty="0"/>
              <a:t> 포함된 정보 표시</a:t>
            </a:r>
            <a:r>
              <a:rPr lang="en-US" altLang="ko-KR" dirty="0"/>
              <a:t/>
            </a:r>
            <a:br>
              <a:rPr lang="en-US" altLang="ko-KR" dirty="0"/>
            </a:br>
            <a:r>
              <a:rPr lang="en-US" altLang="ko-KR" dirty="0"/>
              <a:t>- </a:t>
            </a:r>
            <a:r>
              <a:rPr lang="ko-KR" altLang="en-US" dirty="0"/>
              <a:t>각 섹션마다 아코디언 기능 사용</a:t>
            </a:r>
            <a:r>
              <a:rPr lang="en-US" altLang="ko-KR" dirty="0"/>
              <a:t/>
            </a:r>
            <a:br>
              <a:rPr lang="en-US" altLang="ko-KR" dirty="0"/>
            </a:br>
            <a:r>
              <a:rPr lang="en-US" altLang="ko-KR" dirty="0"/>
              <a:t>- </a:t>
            </a:r>
            <a:r>
              <a:rPr lang="ko-KR" altLang="en-US" dirty="0"/>
              <a:t>섹션 도움말</a:t>
            </a:r>
            <a:r>
              <a:rPr lang="en-US" altLang="ko-KR" dirty="0"/>
              <a:t>(</a:t>
            </a:r>
            <a:r>
              <a:rPr lang="ko-KR" altLang="en-US" dirty="0" err="1"/>
              <a:t>업무도움</a:t>
            </a:r>
            <a:r>
              <a:rPr lang="en-US" altLang="ko-KR" dirty="0"/>
              <a:t>) </a:t>
            </a:r>
            <a:r>
              <a:rPr lang="ko-KR" altLang="en-US" dirty="0"/>
              <a:t>영역이 사용되는 경우 도움말 아코디언 기능</a:t>
            </a:r>
            <a:endParaRPr lang="en-US" altLang="ko-KR" dirty="0"/>
          </a:p>
          <a:p>
            <a:pPr marL="88900" indent="-88900">
              <a:buFont typeface="+mj-lt"/>
              <a:buAutoNum type="arabicPeriod"/>
            </a:pPr>
            <a:endParaRPr lang="en-US" altLang="ko-KR" dirty="0"/>
          </a:p>
          <a:p>
            <a:pPr>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 공고 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첫 화면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입찰공고 상세</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085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158410"/>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493475"/>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478086"/>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2025-12-22</a:t>
            </a:r>
          </a:p>
          <a:p>
            <a:pPr>
              <a:lnSpc>
                <a:spcPct val="150000"/>
              </a:lnSpc>
            </a:pPr>
            <a:r>
              <a:rPr lang="en-US" altLang="ko-KR" sz="600" dirty="0">
                <a:latin typeface="+mn-ea"/>
              </a:rPr>
              <a:t>2025-12-23 17:00</a:t>
            </a:r>
          </a:p>
          <a:p>
            <a:pPr>
              <a:lnSpc>
                <a:spcPct val="150000"/>
              </a:lnSpc>
            </a:pPr>
            <a:r>
              <a:rPr lang="en-US" altLang="ko-KR" sz="600" dirty="0">
                <a:latin typeface="+mn-ea"/>
              </a:rPr>
              <a:t>2025-12-24 10:00</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1974079"/>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197407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51256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8538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546317"/>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35776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3659648"/>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 name="포인트가 5개인 별 2"/>
          <p:cNvSpPr/>
          <p:nvPr/>
        </p:nvSpPr>
        <p:spPr>
          <a:xfrm>
            <a:off x="2682759" y="1949976"/>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20821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991608"/>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18545" y="3991608"/>
            <a:ext cx="447776" cy="107722"/>
          </a:xfrm>
          <a:prstGeom prst="rect">
            <a:avLst/>
          </a:prstGeom>
          <a:noFill/>
        </p:spPr>
        <p:txBody>
          <a:bodyPr wrap="square" lIns="0" tIns="0" rIns="0" bIns="0" rtlCol="0">
            <a:spAutoFit/>
          </a:bodyPr>
          <a:lstStyle/>
          <a:p>
            <a:pPr algn="ctr"/>
            <a:r>
              <a:rPr lang="ko-KR" altLang="en-US" sz="700" dirty="0" err="1">
                <a:latin typeface="+mn-ea"/>
              </a:rPr>
              <a:t>품목명세서</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1760915" y="3991608"/>
            <a:ext cx="543960" cy="107722"/>
          </a:xfrm>
          <a:prstGeom prst="rect">
            <a:avLst/>
          </a:prstGeom>
          <a:noFill/>
        </p:spPr>
        <p:txBody>
          <a:bodyPr wrap="square" lIns="0" tIns="0" rIns="0" bIns="0" rtlCol="0">
            <a:spAutoFit/>
          </a:bodyPr>
          <a:lstStyle/>
          <a:p>
            <a:pPr algn="ctr"/>
            <a:r>
              <a:rPr lang="ko-KR" altLang="en-US" sz="700" dirty="0">
                <a:latin typeface="+mn-ea"/>
              </a:rPr>
              <a:t>계약특수조건</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399469" y="3991608"/>
            <a:ext cx="645068" cy="107722"/>
          </a:xfrm>
          <a:prstGeom prst="rect">
            <a:avLst/>
          </a:prstGeom>
          <a:noFill/>
        </p:spPr>
        <p:txBody>
          <a:bodyPr wrap="square" lIns="0" tIns="0" rIns="0" bIns="0" rtlCol="0">
            <a:spAutoFit/>
          </a:bodyPr>
          <a:lstStyle/>
          <a:p>
            <a:pPr algn="ctr"/>
            <a:r>
              <a:rPr lang="ko-KR" altLang="en-US" sz="700" dirty="0">
                <a:latin typeface="+mn-ea"/>
              </a:rPr>
              <a:t>제안서평가결과</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208215"/>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953485"/>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6" name="TextBox 105">
            <a:extLst>
              <a:ext uri="{FF2B5EF4-FFF2-40B4-BE49-F238E27FC236}">
                <a16:creationId xmlns:a16="http://schemas.microsoft.com/office/drawing/2014/main" id="{FFC49AEA-2A8F-250C-A86A-A7751D9706C3}"/>
              </a:ext>
            </a:extLst>
          </p:cNvPr>
          <p:cNvSpPr txBox="1"/>
          <p:nvPr/>
        </p:nvSpPr>
        <p:spPr>
          <a:xfrm>
            <a:off x="781461" y="431454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427877"/>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4622031"/>
            <a:ext cx="792000" cy="16102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62203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622031"/>
            <a:ext cx="670770" cy="1508105"/>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공고일자</a:t>
            </a:r>
            <a:endParaRPr lang="en-US" altLang="ko-KR" sz="700" dirty="0">
              <a:latin typeface="+mn-ea"/>
            </a:endParaRPr>
          </a:p>
          <a:p>
            <a:pPr>
              <a:lnSpc>
                <a:spcPct val="200000"/>
              </a:lnSpc>
            </a:pPr>
            <a:r>
              <a:rPr lang="ko-KR" altLang="en-US" sz="700" dirty="0" err="1">
                <a:latin typeface="+mn-ea"/>
              </a:rPr>
              <a:t>게제기관</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총수량</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622031"/>
            <a:ext cx="1814470" cy="1508105"/>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2025-12-22</a:t>
            </a:r>
          </a:p>
          <a:p>
            <a:pPr>
              <a:lnSpc>
                <a:spcPct val="200000"/>
              </a:lnSpc>
            </a:pPr>
            <a:r>
              <a:rPr lang="ko-KR" altLang="en-US" sz="700" dirty="0">
                <a:latin typeface="+mn-ea"/>
              </a:rPr>
              <a:t>인터넷</a:t>
            </a:r>
            <a:endParaRPr lang="en-US" altLang="ko-KR" sz="700" dirty="0">
              <a:latin typeface="+mn-ea"/>
            </a:endParaRPr>
          </a:p>
          <a:p>
            <a:pPr>
              <a:lnSpc>
                <a:spcPct val="200000"/>
              </a:lnSpc>
            </a:pPr>
            <a:r>
              <a:rPr lang="ko-KR" altLang="en-US" sz="700" dirty="0" err="1">
                <a:latin typeface="+mn-ea"/>
              </a:rPr>
              <a:t>특수작전용대물타격무인향</a:t>
            </a:r>
            <a:endParaRPr lang="en-US" altLang="ko-KR" sz="700" dirty="0">
              <a:latin typeface="+mn-ea"/>
            </a:endParaRPr>
          </a:p>
          <a:p>
            <a:pPr>
              <a:lnSpc>
                <a:spcPct val="200000"/>
              </a:lnSpc>
            </a:pPr>
            <a:r>
              <a:rPr lang="en-US" altLang="ko-KR" sz="700" dirty="0">
                <a:latin typeface="+mn-ea"/>
              </a:rPr>
              <a:t>2025LDG56349</a:t>
            </a:r>
          </a:p>
          <a:p>
            <a:pPr>
              <a:lnSpc>
                <a:spcPct val="200000"/>
              </a:lnSpc>
            </a:pPr>
            <a:r>
              <a:rPr lang="en-US" altLang="ko-KR" sz="700" dirty="0">
                <a:latin typeface="+mn-ea"/>
              </a:rPr>
              <a:t>1 AY</a:t>
            </a:r>
          </a:p>
          <a:p>
            <a:pPr>
              <a:lnSpc>
                <a:spcPct val="200000"/>
              </a:lnSpc>
            </a:pPr>
            <a:r>
              <a:rPr lang="ko-KR" altLang="en-US" sz="700" dirty="0">
                <a:latin typeface="+mn-ea"/>
              </a:rPr>
              <a:t>제조</a:t>
            </a:r>
            <a:endParaRPr lang="en-US" altLang="ko-KR" sz="700" dirty="0">
              <a:latin typeface="+mn-ea"/>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8531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50668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52805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54942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707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921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6135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타원 270">
            <a:extLst>
              <a:ext uri="{FF2B5EF4-FFF2-40B4-BE49-F238E27FC236}">
                <a16:creationId xmlns:a16="http://schemas.microsoft.com/office/drawing/2014/main" id="{37A7FF4F-0EAA-1463-560A-D5EC24416103}"/>
              </a:ext>
            </a:extLst>
          </p:cNvPr>
          <p:cNvSpPr/>
          <p:nvPr/>
        </p:nvSpPr>
        <p:spPr>
          <a:xfrm>
            <a:off x="571127" y="323376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77" name="타원 27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4802272"/>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299917"/>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cxnSp>
        <p:nvCxnSpPr>
          <p:cNvPr id="295" name="직선 연결선 294">
            <a:extLst>
              <a:ext uri="{FF2B5EF4-FFF2-40B4-BE49-F238E27FC236}">
                <a16:creationId xmlns:a16="http://schemas.microsoft.com/office/drawing/2014/main" id="{E9293055-D5CD-4B9E-7F64-64B2D2CA7A52}"/>
              </a:ext>
            </a:extLst>
          </p:cNvPr>
          <p:cNvCxnSpPr/>
          <p:nvPr/>
        </p:nvCxnSpPr>
        <p:spPr>
          <a:xfrm>
            <a:off x="675399" y="315488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98" name="그룹 297"/>
          <p:cNvGrpSpPr/>
          <p:nvPr/>
        </p:nvGrpSpPr>
        <p:grpSpPr>
          <a:xfrm rot="16200000">
            <a:off x="1250697" y="3307709"/>
            <a:ext cx="94010" cy="47005"/>
            <a:chOff x="6812560" y="3297172"/>
            <a:chExt cx="94010" cy="47005"/>
          </a:xfrm>
        </p:grpSpPr>
        <p:cxnSp>
          <p:nvCxnSpPr>
            <p:cNvPr id="299" name="직선 연결선 2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49" name="그룹 48"/>
          <p:cNvGrpSpPr/>
          <p:nvPr/>
        </p:nvGrpSpPr>
        <p:grpSpPr>
          <a:xfrm>
            <a:off x="1404035" y="3237230"/>
            <a:ext cx="601002" cy="187961"/>
            <a:chOff x="1335163" y="3237230"/>
            <a:chExt cx="601002" cy="187961"/>
          </a:xfrm>
        </p:grpSpPr>
        <p:sp>
          <p:nvSpPr>
            <p:cNvPr id="303" name="TextBox 302">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입찰</a:t>
              </a:r>
            </a:p>
          </p:txBody>
        </p:sp>
        <p:grpSp>
          <p:nvGrpSpPr>
            <p:cNvPr id="30" name="그룹 29"/>
            <p:cNvGrpSpPr/>
            <p:nvPr/>
          </p:nvGrpSpPr>
          <p:grpSpPr>
            <a:xfrm>
              <a:off x="1335163" y="3237230"/>
              <a:ext cx="187961" cy="187961"/>
              <a:chOff x="1485163" y="3237230"/>
              <a:chExt cx="187961" cy="187961"/>
            </a:xfrm>
          </p:grpSpPr>
          <p:sp>
            <p:nvSpPr>
              <p:cNvPr id="304" name="타원 303"/>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5" name="TextBox 304">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310" name="그룹 309"/>
          <p:cNvGrpSpPr/>
          <p:nvPr/>
        </p:nvGrpSpPr>
        <p:grpSpPr>
          <a:xfrm rot="16200000">
            <a:off x="1906808" y="3307709"/>
            <a:ext cx="94010" cy="47005"/>
            <a:chOff x="6812560" y="3297172"/>
            <a:chExt cx="94010" cy="47005"/>
          </a:xfrm>
        </p:grpSpPr>
        <p:cxnSp>
          <p:nvCxnSpPr>
            <p:cNvPr id="311" name="직선 연결선 31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2" name="직선 연결선 3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13" name="그룹 312"/>
          <p:cNvGrpSpPr/>
          <p:nvPr/>
        </p:nvGrpSpPr>
        <p:grpSpPr>
          <a:xfrm rot="16200000">
            <a:off x="2562920" y="3307709"/>
            <a:ext cx="94010" cy="47005"/>
            <a:chOff x="6812560" y="3297172"/>
            <a:chExt cx="94010" cy="47005"/>
          </a:xfrm>
        </p:grpSpPr>
        <p:cxnSp>
          <p:nvCxnSpPr>
            <p:cNvPr id="314" name="직선 연결선 3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5" name="직선 연결선 3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4" name="그룹 13"/>
          <p:cNvGrpSpPr/>
          <p:nvPr/>
        </p:nvGrpSpPr>
        <p:grpSpPr>
          <a:xfrm>
            <a:off x="747925" y="3237230"/>
            <a:ext cx="601001" cy="187961"/>
            <a:chOff x="747925" y="3237230"/>
            <a:chExt cx="601001" cy="187961"/>
          </a:xfrm>
        </p:grpSpPr>
        <p:grpSp>
          <p:nvGrpSpPr>
            <p:cNvPr id="5" name="그룹 4"/>
            <p:cNvGrpSpPr/>
            <p:nvPr/>
          </p:nvGrpSpPr>
          <p:grpSpPr>
            <a:xfrm>
              <a:off x="747925" y="3237230"/>
              <a:ext cx="187961" cy="187961"/>
              <a:chOff x="747925" y="3237230"/>
              <a:chExt cx="187961" cy="187961"/>
            </a:xfrm>
          </p:grpSpPr>
          <p:sp>
            <p:nvSpPr>
              <p:cNvPr id="297" name="타원 296"/>
              <p:cNvSpPr/>
              <p:nvPr/>
            </p:nvSpPr>
            <p:spPr>
              <a:xfrm>
                <a:off x="747925" y="3237230"/>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2" name="TextBox 301">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316" name="TextBox 315">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조달</a:t>
              </a:r>
            </a:p>
          </p:txBody>
        </p:sp>
      </p:grpSp>
      <p:grpSp>
        <p:nvGrpSpPr>
          <p:cNvPr id="21" name="그룹 20"/>
          <p:cNvGrpSpPr/>
          <p:nvPr/>
        </p:nvGrpSpPr>
        <p:grpSpPr>
          <a:xfrm>
            <a:off x="2058749" y="3237230"/>
            <a:ext cx="603798" cy="187961"/>
            <a:chOff x="2058749" y="3237230"/>
            <a:chExt cx="603798" cy="187961"/>
          </a:xfrm>
        </p:grpSpPr>
        <p:grpSp>
          <p:nvGrpSpPr>
            <p:cNvPr id="15" name="그룹 14"/>
            <p:cNvGrpSpPr/>
            <p:nvPr/>
          </p:nvGrpSpPr>
          <p:grpSpPr>
            <a:xfrm>
              <a:off x="2058749" y="3237230"/>
              <a:ext cx="187961" cy="187961"/>
              <a:chOff x="2058749" y="3237230"/>
              <a:chExt cx="187961" cy="187961"/>
            </a:xfrm>
          </p:grpSpPr>
          <p:sp>
            <p:nvSpPr>
              <p:cNvPr id="306" name="타원 305"/>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7" name="TextBox 306">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317" name="TextBox 316">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계약</a:t>
              </a:r>
            </a:p>
          </p:txBody>
        </p:sp>
      </p:grpSp>
      <p:sp>
        <p:nvSpPr>
          <p:cNvPr id="181" name="타원 180">
            <a:extLst>
              <a:ext uri="{FF2B5EF4-FFF2-40B4-BE49-F238E27FC236}">
                <a16:creationId xmlns:a16="http://schemas.microsoft.com/office/drawing/2014/main" id="{37A7FF4F-0EAA-1463-560A-D5EC24416103}"/>
              </a:ext>
            </a:extLst>
          </p:cNvPr>
          <p:cNvSpPr/>
          <p:nvPr/>
        </p:nvSpPr>
        <p:spPr>
          <a:xfrm>
            <a:off x="571127" y="395940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84" name="모서리가 둥근 직사각형 183"/>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85" name="모서리가 둥근 직사각형 184"/>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7" name="포인트가 5개인 별 186"/>
          <p:cNvSpPr/>
          <p:nvPr/>
        </p:nvSpPr>
        <p:spPr>
          <a:xfrm>
            <a:off x="5786291" y="1578238"/>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4022" y="2467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3867701" y="2250612"/>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322077" y="2250612"/>
            <a:ext cx="447776" cy="107722"/>
          </a:xfrm>
          <a:prstGeom prst="rect">
            <a:avLst/>
          </a:prstGeom>
          <a:noFill/>
        </p:spPr>
        <p:txBody>
          <a:bodyPr wrap="square" lIns="0" tIns="0" rIns="0" bIns="0" rtlCol="0">
            <a:spAutoFit/>
          </a:bodyPr>
          <a:lstStyle/>
          <a:p>
            <a:pPr algn="ctr"/>
            <a:r>
              <a:rPr lang="ko-KR" altLang="en-US" sz="700" dirty="0" err="1">
                <a:latin typeface="+mn-ea"/>
              </a:rPr>
              <a:t>품목명세서</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4864447" y="2250612"/>
            <a:ext cx="543960" cy="107722"/>
          </a:xfrm>
          <a:prstGeom prst="rect">
            <a:avLst/>
          </a:prstGeom>
          <a:noFill/>
        </p:spPr>
        <p:txBody>
          <a:bodyPr wrap="square" lIns="0" tIns="0" rIns="0" bIns="0" rtlCol="0">
            <a:spAutoFit/>
          </a:bodyPr>
          <a:lstStyle/>
          <a:p>
            <a:pPr algn="ctr"/>
            <a:r>
              <a:rPr lang="ko-KR" altLang="en-US" sz="700" dirty="0">
                <a:latin typeface="+mn-ea"/>
              </a:rPr>
              <a:t>계약특수조건</a:t>
            </a:r>
          </a:p>
        </p:txBody>
      </p:sp>
      <p:sp>
        <p:nvSpPr>
          <p:cNvPr id="198" name="TextBox 197">
            <a:extLst>
              <a:ext uri="{FF2B5EF4-FFF2-40B4-BE49-F238E27FC236}">
                <a16:creationId xmlns:a16="http://schemas.microsoft.com/office/drawing/2014/main" id="{FFC49AEA-2A8F-250C-A86A-A7751D9706C3}"/>
              </a:ext>
            </a:extLst>
          </p:cNvPr>
          <p:cNvSpPr txBox="1"/>
          <p:nvPr/>
        </p:nvSpPr>
        <p:spPr>
          <a:xfrm>
            <a:off x="5503001" y="2250612"/>
            <a:ext cx="645068" cy="107722"/>
          </a:xfrm>
          <a:prstGeom prst="rect">
            <a:avLst/>
          </a:prstGeom>
          <a:noFill/>
        </p:spPr>
        <p:txBody>
          <a:bodyPr wrap="square" lIns="0" tIns="0" rIns="0" bIns="0" rtlCol="0">
            <a:spAutoFit/>
          </a:bodyPr>
          <a:lstStyle/>
          <a:p>
            <a:pPr algn="ctr"/>
            <a:r>
              <a:rPr lang="ko-KR" altLang="en-US" sz="700" dirty="0">
                <a:latin typeface="+mn-ea"/>
              </a:rPr>
              <a:t>제안서평가결과</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24022" y="2467219"/>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1" name="그룹 230"/>
          <p:cNvGrpSpPr/>
          <p:nvPr/>
        </p:nvGrpSpPr>
        <p:grpSpPr>
          <a:xfrm>
            <a:off x="6027618" y="2212489"/>
            <a:ext cx="422853" cy="187961"/>
            <a:chOff x="3641308" y="2234886"/>
            <a:chExt cx="422853" cy="187961"/>
          </a:xfrm>
        </p:grpSpPr>
        <p:sp>
          <p:nvSpPr>
            <p:cNvPr id="232" name="타원 23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5400000" flipH="1">
              <a:off x="3679895" y="2305364"/>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4" name="타원 23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6" name="그룹 245"/>
            <p:cNvGrpSpPr/>
            <p:nvPr/>
          </p:nvGrpSpPr>
          <p:grpSpPr>
            <a:xfrm rot="16200000">
              <a:off x="3931564" y="2305364"/>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51" name="TextBox 250">
            <a:extLst>
              <a:ext uri="{FF2B5EF4-FFF2-40B4-BE49-F238E27FC236}">
                <a16:creationId xmlns:a16="http://schemas.microsoft.com/office/drawing/2014/main" id="{FFC49AEA-2A8F-250C-A86A-A7751D9706C3}"/>
              </a:ext>
            </a:extLst>
          </p:cNvPr>
          <p:cNvSpPr txBox="1"/>
          <p:nvPr/>
        </p:nvSpPr>
        <p:spPr>
          <a:xfrm>
            <a:off x="3884993" y="2573550"/>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252" name="그룹 251"/>
          <p:cNvGrpSpPr/>
          <p:nvPr/>
        </p:nvGrpSpPr>
        <p:grpSpPr>
          <a:xfrm flipV="1">
            <a:off x="6247080" y="2686881"/>
            <a:ext cx="94010" cy="47005"/>
            <a:chOff x="6812560" y="3297172"/>
            <a:chExt cx="94010" cy="47005"/>
          </a:xfrm>
        </p:grpSpPr>
        <p:cxnSp>
          <p:nvCxnSpPr>
            <p:cNvPr id="253" name="직선 연결선 2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1" name="직선 연결선 2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2" name="직사각형 261"/>
          <p:cNvSpPr/>
          <p:nvPr/>
        </p:nvSpPr>
        <p:spPr>
          <a:xfrm>
            <a:off x="3826115" y="2881035"/>
            <a:ext cx="792000" cy="10925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63" name="직선 연결선 262">
            <a:extLst>
              <a:ext uri="{FF2B5EF4-FFF2-40B4-BE49-F238E27FC236}">
                <a16:creationId xmlns:a16="http://schemas.microsoft.com/office/drawing/2014/main" id="{E9293055-D5CD-4B9E-7F64-64B2D2CA7A52}"/>
              </a:ext>
            </a:extLst>
          </p:cNvPr>
          <p:cNvCxnSpPr/>
          <p:nvPr/>
        </p:nvCxnSpPr>
        <p:spPr>
          <a:xfrm>
            <a:off x="3824022" y="288103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4" name="TextBox 263">
            <a:extLst>
              <a:ext uri="{FF2B5EF4-FFF2-40B4-BE49-F238E27FC236}">
                <a16:creationId xmlns:a16="http://schemas.microsoft.com/office/drawing/2014/main" id="{FFC49AEA-2A8F-250C-A86A-A7751D9706C3}"/>
              </a:ext>
            </a:extLst>
          </p:cNvPr>
          <p:cNvSpPr txBox="1"/>
          <p:nvPr/>
        </p:nvSpPr>
        <p:spPr>
          <a:xfrm>
            <a:off x="3913179" y="2881035"/>
            <a:ext cx="670770" cy="107721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공고일자</a:t>
            </a:r>
            <a:endParaRPr lang="en-US" altLang="ko-KR" sz="700" dirty="0">
              <a:latin typeface="+mn-ea"/>
            </a:endParaRPr>
          </a:p>
          <a:p>
            <a:pPr>
              <a:lnSpc>
                <a:spcPct val="200000"/>
              </a:lnSpc>
            </a:pPr>
            <a:r>
              <a:rPr lang="ko-KR" altLang="en-US" sz="700" dirty="0" err="1">
                <a:latin typeface="+mn-ea"/>
              </a:rPr>
              <a:t>게제기관</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en-US" altLang="ko-KR" sz="700" dirty="0">
                <a:latin typeface="+mn-ea"/>
              </a:rPr>
              <a:t>⁞</a:t>
            </a:r>
          </a:p>
        </p:txBody>
      </p:sp>
      <p:sp>
        <p:nvSpPr>
          <p:cNvPr id="265" name="TextBox 264">
            <a:extLst>
              <a:ext uri="{FF2B5EF4-FFF2-40B4-BE49-F238E27FC236}">
                <a16:creationId xmlns:a16="http://schemas.microsoft.com/office/drawing/2014/main" id="{FFC49AEA-2A8F-250C-A86A-A7751D9706C3}"/>
              </a:ext>
            </a:extLst>
          </p:cNvPr>
          <p:cNvSpPr txBox="1"/>
          <p:nvPr/>
        </p:nvSpPr>
        <p:spPr>
          <a:xfrm>
            <a:off x="4670027" y="2881035"/>
            <a:ext cx="1814470" cy="1077218"/>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2025-12-22</a:t>
            </a:r>
          </a:p>
          <a:p>
            <a:pPr>
              <a:lnSpc>
                <a:spcPct val="200000"/>
              </a:lnSpc>
            </a:pPr>
            <a:r>
              <a:rPr lang="ko-KR" altLang="en-US" sz="700" dirty="0">
                <a:latin typeface="+mn-ea"/>
              </a:rPr>
              <a:t>인터넷</a:t>
            </a:r>
            <a:endParaRPr lang="en-US" altLang="ko-KR" sz="700" dirty="0">
              <a:latin typeface="+mn-ea"/>
            </a:endParaRPr>
          </a:p>
          <a:p>
            <a:pPr>
              <a:lnSpc>
                <a:spcPct val="200000"/>
              </a:lnSpc>
            </a:pPr>
            <a:r>
              <a:rPr lang="ko-KR" altLang="en-US" sz="700" dirty="0" err="1">
                <a:latin typeface="+mn-ea"/>
              </a:rPr>
              <a:t>특수작전용대물타격무인향</a:t>
            </a:r>
            <a:endParaRPr lang="en-US" altLang="ko-KR" sz="700" dirty="0">
              <a:latin typeface="+mn-ea"/>
            </a:endParaRPr>
          </a:p>
          <a:p>
            <a:pPr>
              <a:lnSpc>
                <a:spcPct val="200000"/>
              </a:lnSpc>
            </a:pPr>
            <a:r>
              <a:rPr lang="en-US" altLang="ko-KR" sz="700" dirty="0">
                <a:latin typeface="+mn-ea"/>
              </a:rPr>
              <a:t>⁞</a:t>
            </a:r>
          </a:p>
        </p:txBody>
      </p:sp>
      <p:cxnSp>
        <p:nvCxnSpPr>
          <p:cNvPr id="266" name="직선 연결선 265">
            <a:extLst>
              <a:ext uri="{FF2B5EF4-FFF2-40B4-BE49-F238E27FC236}">
                <a16:creationId xmlns:a16="http://schemas.microsoft.com/office/drawing/2014/main" id="{E9293055-D5CD-4B9E-7F64-64B2D2CA7A52}"/>
              </a:ext>
            </a:extLst>
          </p:cNvPr>
          <p:cNvCxnSpPr/>
          <p:nvPr/>
        </p:nvCxnSpPr>
        <p:spPr>
          <a:xfrm>
            <a:off x="3826115" y="31121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6115" y="332584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6115" y="35395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8" name="직선 연결선 277">
            <a:extLst>
              <a:ext uri="{FF2B5EF4-FFF2-40B4-BE49-F238E27FC236}">
                <a16:creationId xmlns:a16="http://schemas.microsoft.com/office/drawing/2014/main" id="{E9293055-D5CD-4B9E-7F64-64B2D2CA7A52}"/>
              </a:ext>
            </a:extLst>
          </p:cNvPr>
          <p:cNvCxnSpPr/>
          <p:nvPr/>
        </p:nvCxnSpPr>
        <p:spPr>
          <a:xfrm>
            <a:off x="3826115" y="37532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1" name="직선 연결선 280">
            <a:extLst>
              <a:ext uri="{FF2B5EF4-FFF2-40B4-BE49-F238E27FC236}">
                <a16:creationId xmlns:a16="http://schemas.microsoft.com/office/drawing/2014/main" id="{E9293055-D5CD-4B9E-7F64-64B2D2CA7A52}"/>
              </a:ext>
            </a:extLst>
          </p:cNvPr>
          <p:cNvCxnSpPr/>
          <p:nvPr/>
        </p:nvCxnSpPr>
        <p:spPr>
          <a:xfrm>
            <a:off x="3826115" y="39669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2" name="모서리가 둥근 직사각형 281"/>
          <p:cNvSpPr/>
          <p:nvPr/>
        </p:nvSpPr>
        <p:spPr>
          <a:xfrm rot="5400000">
            <a:off x="6098765" y="312680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85" name="TextBox 284">
            <a:extLst>
              <a:ext uri="{FF2B5EF4-FFF2-40B4-BE49-F238E27FC236}">
                <a16:creationId xmlns:a16="http://schemas.microsoft.com/office/drawing/2014/main" id="{FFC49AEA-2A8F-250C-A86A-A7751D9706C3}"/>
              </a:ext>
            </a:extLst>
          </p:cNvPr>
          <p:cNvSpPr txBox="1"/>
          <p:nvPr/>
        </p:nvSpPr>
        <p:spPr>
          <a:xfrm>
            <a:off x="3884993" y="4178791"/>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지역제한</a:t>
            </a:r>
          </a:p>
        </p:txBody>
      </p:sp>
      <p:grpSp>
        <p:nvGrpSpPr>
          <p:cNvPr id="286" name="그룹 285"/>
          <p:cNvGrpSpPr/>
          <p:nvPr/>
        </p:nvGrpSpPr>
        <p:grpSpPr>
          <a:xfrm flipV="1">
            <a:off x="6247080" y="4292122"/>
            <a:ext cx="94010" cy="47005"/>
            <a:chOff x="6812560" y="3297172"/>
            <a:chExt cx="94010" cy="47005"/>
          </a:xfrm>
        </p:grpSpPr>
        <p:cxnSp>
          <p:nvCxnSpPr>
            <p:cNvPr id="287" name="직선 연결선 28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91" name="직선 연결선 29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319" name="직선 연결선 318">
            <a:extLst>
              <a:ext uri="{FF2B5EF4-FFF2-40B4-BE49-F238E27FC236}">
                <a16:creationId xmlns:a16="http://schemas.microsoft.com/office/drawing/2014/main" id="{E9293055-D5CD-4B9E-7F64-64B2D2CA7A52}"/>
              </a:ext>
            </a:extLst>
          </p:cNvPr>
          <p:cNvCxnSpPr/>
          <p:nvPr/>
        </p:nvCxnSpPr>
        <p:spPr>
          <a:xfrm>
            <a:off x="3795734" y="409903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2" name="TextBox 321">
            <a:extLst>
              <a:ext uri="{FF2B5EF4-FFF2-40B4-BE49-F238E27FC236}">
                <a16:creationId xmlns:a16="http://schemas.microsoft.com/office/drawing/2014/main" id="{FFC49AEA-2A8F-250C-A86A-A7751D9706C3}"/>
              </a:ext>
            </a:extLst>
          </p:cNvPr>
          <p:cNvSpPr txBox="1"/>
          <p:nvPr/>
        </p:nvSpPr>
        <p:spPr>
          <a:xfrm>
            <a:off x="3884993" y="5148031"/>
            <a:ext cx="698956" cy="215444"/>
          </a:xfrm>
          <a:prstGeom prst="rect">
            <a:avLst/>
          </a:prstGeom>
          <a:noFill/>
        </p:spPr>
        <p:txBody>
          <a:bodyPr wrap="square" lIns="0" tIns="0" rIns="0" bIns="0" rtlCol="0">
            <a:spAutoFit/>
          </a:bodyPr>
          <a:lstStyle/>
          <a:p>
            <a:pPr>
              <a:lnSpc>
                <a:spcPct val="200000"/>
              </a:lnSpc>
            </a:pPr>
            <a:r>
              <a:rPr lang="ko-KR" altLang="en-US" sz="700">
                <a:latin typeface="+mn-ea"/>
              </a:rPr>
              <a:t>공증 및 </a:t>
            </a:r>
            <a:r>
              <a:rPr lang="ko-KR" altLang="en-US" sz="700" dirty="0" err="1">
                <a:latin typeface="+mn-ea"/>
              </a:rPr>
              <a:t>면허제한</a:t>
            </a:r>
            <a:endParaRPr lang="ko-KR" altLang="en-US" sz="700" dirty="0">
              <a:latin typeface="+mn-ea"/>
            </a:endParaRPr>
          </a:p>
        </p:txBody>
      </p:sp>
      <p:grpSp>
        <p:nvGrpSpPr>
          <p:cNvPr id="326" name="그룹 325"/>
          <p:cNvGrpSpPr/>
          <p:nvPr/>
        </p:nvGrpSpPr>
        <p:grpSpPr>
          <a:xfrm flipV="1">
            <a:off x="6247080" y="5261362"/>
            <a:ext cx="94010" cy="47005"/>
            <a:chOff x="6812560" y="3297172"/>
            <a:chExt cx="94010" cy="47005"/>
          </a:xfrm>
        </p:grpSpPr>
        <p:cxnSp>
          <p:nvCxnSpPr>
            <p:cNvPr id="327" name="직선 연결선 32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8" name="직선 연결선 32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329" name="직선 연결선 328">
            <a:extLst>
              <a:ext uri="{FF2B5EF4-FFF2-40B4-BE49-F238E27FC236}">
                <a16:creationId xmlns:a16="http://schemas.microsoft.com/office/drawing/2014/main" id="{E9293055-D5CD-4B9E-7F64-64B2D2CA7A52}"/>
              </a:ext>
            </a:extLst>
          </p:cNvPr>
          <p:cNvCxnSpPr/>
          <p:nvPr/>
        </p:nvCxnSpPr>
        <p:spPr>
          <a:xfrm>
            <a:off x="3795734" y="506827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0" name="모서리가 둥근 직사각형 329"/>
          <p:cNvSpPr/>
          <p:nvPr/>
        </p:nvSpPr>
        <p:spPr>
          <a:xfrm>
            <a:off x="3824022" y="5456104"/>
            <a:ext cx="2652743" cy="776195"/>
          </a:xfrm>
          <a:prstGeom prst="roundRect">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1" name="TextBox 330">
            <a:extLst>
              <a:ext uri="{FF2B5EF4-FFF2-40B4-BE49-F238E27FC236}">
                <a16:creationId xmlns:a16="http://schemas.microsoft.com/office/drawing/2014/main" id="{FFC49AEA-2A8F-250C-A86A-A7751D9706C3}"/>
              </a:ext>
            </a:extLst>
          </p:cNvPr>
          <p:cNvSpPr txBox="1"/>
          <p:nvPr/>
        </p:nvSpPr>
        <p:spPr>
          <a:xfrm>
            <a:off x="3913178" y="5554387"/>
            <a:ext cx="2475203" cy="538609"/>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업무도움</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171450" indent="-171450">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최대 </a:t>
            </a:r>
            <a:r>
              <a:rPr lang="en-US" altLang="ko-KR" sz="700" dirty="0">
                <a:solidFill>
                  <a:schemeClr val="tx1">
                    <a:lumMod val="85000"/>
                    <a:lumOff val="15000"/>
                  </a:schemeClr>
                </a:solidFill>
                <a:latin typeface="맑은 고딕" panose="020B0503020000020004" pitchFamily="50" charset="-127"/>
              </a:rPr>
              <a:t>16</a:t>
            </a:r>
            <a:r>
              <a:rPr lang="ko-KR" altLang="en-US" sz="700" dirty="0">
                <a:solidFill>
                  <a:schemeClr val="tx1">
                    <a:lumMod val="85000"/>
                    <a:lumOff val="15000"/>
                  </a:schemeClr>
                </a:solidFill>
                <a:latin typeface="맑은 고딕" panose="020B0503020000020004" pitchFamily="50" charset="-127"/>
              </a:rPr>
              <a:t>개의 그룹이 나타날 수 있으며</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동일그룹의</a:t>
            </a:r>
            <a:r>
              <a:rPr lang="ko-KR" altLang="en-US" sz="700" dirty="0">
                <a:solidFill>
                  <a:schemeClr val="tx1">
                    <a:lumMod val="85000"/>
                    <a:lumOff val="15000"/>
                  </a:schemeClr>
                </a:solidFill>
                <a:latin typeface="맑은 고딕" panose="020B0503020000020004" pitchFamily="50" charset="-127"/>
              </a:rPr>
              <a:t> 면허는 모두 보유해야 하며 여러 개의 그룹인 경우에는 한 개 이상의 </a:t>
            </a:r>
            <a:r>
              <a:rPr lang="ko-KR" altLang="en-US" sz="700" dirty="0" err="1">
                <a:solidFill>
                  <a:schemeClr val="tx1">
                    <a:lumMod val="85000"/>
                    <a:lumOff val="15000"/>
                  </a:schemeClr>
                </a:solidFill>
                <a:latin typeface="맑은 고딕" panose="020B0503020000020004" pitchFamily="50" charset="-127"/>
              </a:rPr>
              <a:t>그룹면허를</a:t>
            </a:r>
            <a:r>
              <a:rPr lang="ko-KR" altLang="en-US" sz="700" dirty="0">
                <a:solidFill>
                  <a:schemeClr val="tx1">
                    <a:lumMod val="85000"/>
                    <a:lumOff val="15000"/>
                  </a:schemeClr>
                </a:solidFill>
                <a:latin typeface="맑은 고딕" panose="020B0503020000020004" pitchFamily="50" charset="-127"/>
              </a:rPr>
              <a:t> 가지고 있어야 합니다</a:t>
            </a:r>
            <a:r>
              <a:rPr lang="en-US" altLang="ko-KR" sz="700" dirty="0">
                <a:solidFill>
                  <a:schemeClr val="tx1">
                    <a:lumMod val="85000"/>
                    <a:lumOff val="15000"/>
                  </a:schemeClr>
                </a:solidFill>
                <a:latin typeface="맑은 고딕" panose="020B0503020000020004" pitchFamily="50" charset="-127"/>
              </a:rPr>
              <a:t>.</a:t>
            </a:r>
          </a:p>
        </p:txBody>
      </p:sp>
      <p:sp>
        <p:nvSpPr>
          <p:cNvPr id="332" name="타원 331">
            <a:extLst>
              <a:ext uri="{FF2B5EF4-FFF2-40B4-BE49-F238E27FC236}">
                <a16:creationId xmlns:a16="http://schemas.microsoft.com/office/drawing/2014/main" id="{37A7FF4F-0EAA-1463-560A-D5EC24416103}"/>
              </a:ext>
            </a:extLst>
          </p:cNvPr>
          <p:cNvSpPr/>
          <p:nvPr/>
        </p:nvSpPr>
        <p:spPr>
          <a:xfrm>
            <a:off x="3717693" y="260718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333" name="타원 332"/>
          <p:cNvSpPr/>
          <p:nvPr/>
        </p:nvSpPr>
        <p:spPr>
          <a:xfrm>
            <a:off x="3898259" y="554473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4" name="그룹 333"/>
          <p:cNvGrpSpPr/>
          <p:nvPr/>
        </p:nvGrpSpPr>
        <p:grpSpPr>
          <a:xfrm flipV="1">
            <a:off x="6247080" y="5593234"/>
            <a:ext cx="94010" cy="47005"/>
            <a:chOff x="6812560" y="3297172"/>
            <a:chExt cx="94010" cy="47005"/>
          </a:xfrm>
        </p:grpSpPr>
        <p:cxnSp>
          <p:nvCxnSpPr>
            <p:cNvPr id="335" name="직선 연결선 3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36" name="직선 연결선 3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6" name="그룹 5"/>
          <p:cNvGrpSpPr/>
          <p:nvPr/>
        </p:nvGrpSpPr>
        <p:grpSpPr>
          <a:xfrm>
            <a:off x="3825376" y="4543347"/>
            <a:ext cx="2652743" cy="384278"/>
            <a:chOff x="715616" y="1792037"/>
            <a:chExt cx="2652743" cy="384278"/>
          </a:xfrm>
        </p:grpSpPr>
        <p:sp>
          <p:nvSpPr>
            <p:cNvPr id="338" name="모서리가 둥근 직사각형 337"/>
            <p:cNvSpPr/>
            <p:nvPr/>
          </p:nvSpPr>
          <p:spPr>
            <a:xfrm>
              <a:off x="715616" y="1937794"/>
              <a:ext cx="2652743" cy="238521"/>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9" name="TextBox 338">
              <a:extLst>
                <a:ext uri="{FF2B5EF4-FFF2-40B4-BE49-F238E27FC236}">
                  <a16:creationId xmlns:a16="http://schemas.microsoft.com/office/drawing/2014/main" id="{FFC49AEA-2A8F-250C-A86A-A7751D9706C3}"/>
                </a:ext>
              </a:extLst>
            </p:cNvPr>
            <p:cNvSpPr txBox="1"/>
            <p:nvPr/>
          </p:nvSpPr>
          <p:spPr>
            <a:xfrm>
              <a:off x="793812" y="200319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340" name="TextBox 339">
              <a:extLst>
                <a:ext uri="{FF2B5EF4-FFF2-40B4-BE49-F238E27FC236}">
                  <a16:creationId xmlns:a16="http://schemas.microsoft.com/office/drawing/2014/main" id="{FFC49AEA-2A8F-250C-A86A-A7751D9706C3}"/>
                </a:ext>
              </a:extLst>
            </p:cNvPr>
            <p:cNvSpPr txBox="1"/>
            <p:nvPr/>
          </p:nvSpPr>
          <p:spPr>
            <a:xfrm>
              <a:off x="1125945" y="2003193"/>
              <a:ext cx="1689495" cy="107722"/>
            </a:xfrm>
            <a:prstGeom prst="rect">
              <a:avLst/>
            </a:prstGeom>
            <a:noFill/>
          </p:spPr>
          <p:txBody>
            <a:bodyPr wrap="square" lIns="0" tIns="0" rIns="0" bIns="0" rtlCol="0">
              <a:spAutoFit/>
            </a:bodyPr>
            <a:lstStyle>
              <a:defPPr>
                <a:defRPr lang="ko-KR"/>
              </a:defPPr>
              <a:lvl1pPr algn="ctr">
                <a:defRPr sz="700">
                  <a:solidFill>
                    <a:schemeClr val="tx1">
                      <a:lumMod val="85000"/>
                      <a:lumOff val="15000"/>
                    </a:schemeClr>
                  </a:solidFill>
                  <a:latin typeface="맑은 고딕" panose="020B0503020000020004" pitchFamily="50" charset="-127"/>
                </a:defRPr>
              </a:lvl1pPr>
            </a:lstStyle>
            <a:p>
              <a:pPr algn="l"/>
              <a:r>
                <a:rPr lang="ko-KR" altLang="en-US" dirty="0"/>
                <a:t>서울특별시</a:t>
              </a:r>
              <a:endParaRPr lang="en-US" altLang="ko-KR" dirty="0"/>
            </a:p>
          </p:txBody>
        </p:sp>
        <p:sp>
          <p:nvSpPr>
            <p:cNvPr id="341" name="TextBox 340">
              <a:extLst>
                <a:ext uri="{FF2B5EF4-FFF2-40B4-BE49-F238E27FC236}">
                  <a16:creationId xmlns:a16="http://schemas.microsoft.com/office/drawing/2014/main" id="{FFC49AEA-2A8F-250C-A86A-A7751D9706C3}"/>
                </a:ext>
              </a:extLst>
            </p:cNvPr>
            <p:cNvSpPr txBox="1"/>
            <p:nvPr/>
          </p:nvSpPr>
          <p:spPr>
            <a:xfrm>
              <a:off x="793812" y="1792037"/>
              <a:ext cx="247786"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그룹</a:t>
              </a:r>
              <a:endParaRPr lang="en-US" altLang="ko-KR" sz="600" dirty="0">
                <a:solidFill>
                  <a:schemeClr val="tx1">
                    <a:lumMod val="85000"/>
                    <a:lumOff val="15000"/>
                  </a:schemeClr>
                </a:solidFill>
                <a:latin typeface="맑은 고딕" panose="020B0503020000020004" pitchFamily="50" charset="-127"/>
              </a:endParaRPr>
            </a:p>
          </p:txBody>
        </p:sp>
        <p:sp>
          <p:nvSpPr>
            <p:cNvPr id="342" name="TextBox 341">
              <a:extLst>
                <a:ext uri="{FF2B5EF4-FFF2-40B4-BE49-F238E27FC236}">
                  <a16:creationId xmlns:a16="http://schemas.microsoft.com/office/drawing/2014/main" id="{FFC49AEA-2A8F-250C-A86A-A7751D9706C3}"/>
                </a:ext>
              </a:extLst>
            </p:cNvPr>
            <p:cNvSpPr txBox="1"/>
            <p:nvPr/>
          </p:nvSpPr>
          <p:spPr>
            <a:xfrm>
              <a:off x="1125945" y="1792037"/>
              <a:ext cx="696976"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지역</a:t>
              </a:r>
              <a:endParaRPr lang="en-US" altLang="ko-KR" sz="600" dirty="0">
                <a:solidFill>
                  <a:schemeClr val="tx1">
                    <a:lumMod val="85000"/>
                    <a:lumOff val="15000"/>
                  </a:schemeClr>
                </a:solidFill>
                <a:latin typeface="맑은 고딕" panose="020B0503020000020004" pitchFamily="50" charset="-127"/>
              </a:endParaRPr>
            </a:p>
          </p:txBody>
        </p:sp>
        <p:sp>
          <p:nvSpPr>
            <p:cNvPr id="343" name="TextBox 342">
              <a:extLst>
                <a:ext uri="{FF2B5EF4-FFF2-40B4-BE49-F238E27FC236}">
                  <a16:creationId xmlns:a16="http://schemas.microsoft.com/office/drawing/2014/main" id="{FFC49AEA-2A8F-250C-A86A-A7751D9706C3}"/>
                </a:ext>
              </a:extLst>
            </p:cNvPr>
            <p:cNvSpPr txBox="1"/>
            <p:nvPr/>
          </p:nvSpPr>
          <p:spPr>
            <a:xfrm>
              <a:off x="2886211" y="1792037"/>
              <a:ext cx="382802"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지역코드</a:t>
              </a:r>
              <a:endParaRPr lang="en-US" altLang="ko-KR" sz="600" dirty="0">
                <a:solidFill>
                  <a:schemeClr val="tx1">
                    <a:lumMod val="85000"/>
                    <a:lumOff val="15000"/>
                  </a:schemeClr>
                </a:solidFill>
                <a:latin typeface="맑은 고딕" panose="020B0503020000020004" pitchFamily="50" charset="-127"/>
              </a:endParaRPr>
            </a:p>
          </p:txBody>
        </p:sp>
        <p:sp>
          <p:nvSpPr>
            <p:cNvPr id="344" name="TextBox 343">
              <a:extLst>
                <a:ext uri="{FF2B5EF4-FFF2-40B4-BE49-F238E27FC236}">
                  <a16:creationId xmlns:a16="http://schemas.microsoft.com/office/drawing/2014/main" id="{FFC49AEA-2A8F-250C-A86A-A7751D9706C3}"/>
                </a:ext>
              </a:extLst>
            </p:cNvPr>
            <p:cNvSpPr txBox="1"/>
            <p:nvPr/>
          </p:nvSpPr>
          <p:spPr>
            <a:xfrm>
              <a:off x="2886212" y="2003193"/>
              <a:ext cx="382801" cy="107722"/>
            </a:xfrm>
            <a:prstGeom prst="rect">
              <a:avLst/>
            </a:prstGeom>
            <a:noFill/>
          </p:spPr>
          <p:txBody>
            <a:bodyPr wrap="square" lIns="0" tIns="0" rIns="0" bIns="0" rtlCol="0">
              <a:spAutoFit/>
            </a:bodyPr>
            <a:lstStyle>
              <a:defPPr>
                <a:defRPr lang="ko-KR"/>
              </a:defPPr>
              <a:lvl1pPr algn="ctr">
                <a:defRPr sz="700">
                  <a:solidFill>
                    <a:schemeClr val="tx1">
                      <a:lumMod val="85000"/>
                      <a:lumOff val="15000"/>
                    </a:schemeClr>
                  </a:solidFill>
                  <a:latin typeface="맑은 고딕" panose="020B0503020000020004" pitchFamily="50" charset="-127"/>
                </a:defRPr>
              </a:lvl1pPr>
            </a:lstStyle>
            <a:p>
              <a:r>
                <a:rPr lang="en-US" altLang="ko-KR" dirty="0"/>
                <a:t>[11000]</a:t>
              </a:r>
            </a:p>
          </p:txBody>
        </p:sp>
      </p:grpSp>
      <p:grpSp>
        <p:nvGrpSpPr>
          <p:cNvPr id="166" name="그룹 165"/>
          <p:cNvGrpSpPr/>
          <p:nvPr/>
        </p:nvGrpSpPr>
        <p:grpSpPr>
          <a:xfrm>
            <a:off x="2714860" y="3237230"/>
            <a:ext cx="603798" cy="187961"/>
            <a:chOff x="2714860" y="3237230"/>
            <a:chExt cx="603798" cy="187961"/>
          </a:xfrm>
        </p:grpSpPr>
        <p:grpSp>
          <p:nvGrpSpPr>
            <p:cNvPr id="167" name="그룹 166"/>
            <p:cNvGrpSpPr/>
            <p:nvPr/>
          </p:nvGrpSpPr>
          <p:grpSpPr>
            <a:xfrm>
              <a:off x="2714860" y="3237230"/>
              <a:ext cx="187961" cy="187961"/>
              <a:chOff x="2714860" y="3237230"/>
              <a:chExt cx="187961" cy="187961"/>
            </a:xfrm>
          </p:grpSpPr>
          <p:sp>
            <p:nvSpPr>
              <p:cNvPr id="169" name="타원 168"/>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68" name="TextBox 167">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이행</a:t>
              </a:r>
            </a:p>
          </p:txBody>
        </p:sp>
      </p:grpSp>
      <p:grpSp>
        <p:nvGrpSpPr>
          <p:cNvPr id="171" name="그룹 170"/>
          <p:cNvGrpSpPr/>
          <p:nvPr/>
        </p:nvGrpSpPr>
        <p:grpSpPr>
          <a:xfrm rot="5400000">
            <a:off x="3158978" y="3232595"/>
            <a:ext cx="187961" cy="187961"/>
            <a:chOff x="3876200" y="2234886"/>
            <a:chExt cx="187961" cy="187961"/>
          </a:xfrm>
        </p:grpSpPr>
        <p:sp>
          <p:nvSpPr>
            <p:cNvPr id="172" name="타원 17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3" name="그룹 172"/>
            <p:cNvGrpSpPr/>
            <p:nvPr/>
          </p:nvGrpSpPr>
          <p:grpSpPr>
            <a:xfrm rot="16200000">
              <a:off x="3931564" y="2305364"/>
              <a:ext cx="94010" cy="47005"/>
              <a:chOff x="6812560" y="3297172"/>
              <a:chExt cx="94010" cy="47005"/>
            </a:xfrm>
          </p:grpSpPr>
          <p:cxnSp>
            <p:nvCxnSpPr>
              <p:cNvPr id="174" name="직선 연결선 17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5" name="직선 연결선 17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13068069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공고 상세 일반 정보 영역</a:t>
            </a:r>
            <a:endParaRPr lang="en-US" altLang="ko-KR" dirty="0"/>
          </a:p>
          <a:p>
            <a:pPr>
              <a:buFont typeface="+mj-lt"/>
              <a:buAutoNum type="arabicPeriod"/>
            </a:pPr>
            <a:r>
              <a:rPr lang="en-US" altLang="ko-KR" dirty="0"/>
              <a:t>‘</a:t>
            </a:r>
            <a:r>
              <a:rPr lang="ko-KR" altLang="en-US" dirty="0"/>
              <a:t>사전심사’</a:t>
            </a:r>
            <a:r>
              <a:rPr lang="en-US" altLang="ko-KR" dirty="0"/>
              <a:t>, ‘</a:t>
            </a:r>
            <a:r>
              <a:rPr lang="ko-KR" altLang="en-US" dirty="0" err="1"/>
              <a:t>사전심사마감일시＇항목은</a:t>
            </a:r>
            <a:r>
              <a:rPr lang="ko-KR" altLang="en-US" dirty="0"/>
              <a:t> </a:t>
            </a:r>
            <a:r>
              <a:rPr lang="ko-KR" altLang="en-US" dirty="0" err="1"/>
              <a:t>업무구분이</a:t>
            </a:r>
            <a:r>
              <a:rPr lang="ko-KR" altLang="en-US" dirty="0"/>
              <a:t> </a:t>
            </a:r>
            <a:r>
              <a:rPr lang="en-US" altLang="ko-KR" dirty="0"/>
              <a:t>[</a:t>
            </a:r>
            <a:r>
              <a:rPr lang="ko-KR" altLang="en-US" dirty="0"/>
              <a:t>공사</a:t>
            </a:r>
            <a:r>
              <a:rPr lang="en-US" altLang="ko-KR" dirty="0"/>
              <a:t>]</a:t>
            </a:r>
            <a:r>
              <a:rPr lang="ko-KR" altLang="en-US" dirty="0"/>
              <a:t>일 경우 노출</a:t>
            </a:r>
          </a:p>
          <a:p>
            <a:pPr>
              <a:buFont typeface="+mj-lt"/>
              <a:buAutoNum type="arabicPeriod"/>
            </a:pPr>
            <a:r>
              <a:rPr lang="ko-KR" altLang="en-US" dirty="0" err="1"/>
              <a:t>업무구분이</a:t>
            </a:r>
            <a:r>
              <a:rPr lang="ko-KR" altLang="en-US" dirty="0"/>
              <a:t> 공사일 경우</a:t>
            </a:r>
            <a:r>
              <a:rPr lang="en-US" altLang="ko-KR" dirty="0"/>
              <a:t/>
            </a:r>
            <a:br>
              <a:rPr lang="en-US" altLang="ko-KR" dirty="0"/>
            </a:br>
            <a:r>
              <a:rPr lang="en-US" altLang="ko-KR" dirty="0"/>
              <a:t>- </a:t>
            </a:r>
            <a:r>
              <a:rPr lang="ko-KR" altLang="en-US" dirty="0"/>
              <a:t>‘현장설명회장소’</a:t>
            </a:r>
            <a:r>
              <a:rPr lang="en-US" altLang="ko-KR" dirty="0"/>
              <a:t>, ‘</a:t>
            </a:r>
            <a:r>
              <a:rPr lang="ko-KR" altLang="en-US" dirty="0" err="1"/>
              <a:t>현장설명회일시’로</a:t>
            </a:r>
            <a:r>
              <a:rPr lang="ko-KR" altLang="en-US" dirty="0"/>
              <a:t> 항목 변경</a:t>
            </a:r>
            <a:endParaRPr lang="en-US" altLang="ko-KR" dirty="0"/>
          </a:p>
          <a:p>
            <a:pPr>
              <a:buFont typeface="+mj-lt"/>
              <a:buAutoNum type="arabicPeriod"/>
            </a:pPr>
            <a:r>
              <a:rPr lang="ko-KR" altLang="en-US" dirty="0" err="1"/>
              <a:t>계약방법이</a:t>
            </a:r>
            <a:r>
              <a:rPr lang="ko-KR" altLang="en-US" dirty="0"/>
              <a:t> “</a:t>
            </a:r>
            <a:r>
              <a:rPr lang="ko-KR" altLang="en-US" dirty="0" err="1"/>
              <a:t>수의계약”일때</a:t>
            </a:r>
            <a:r>
              <a:rPr lang="ko-KR" altLang="en-US" dirty="0"/>
              <a:t> </a:t>
            </a:r>
            <a:r>
              <a:rPr lang="en-US" altLang="ko-KR" dirty="0"/>
              <a:t>[</a:t>
            </a:r>
            <a:r>
              <a:rPr lang="ko-KR" altLang="en-US" dirty="0"/>
              <a:t>기초예비가격</a:t>
            </a:r>
            <a:r>
              <a:rPr lang="en-US" altLang="ko-KR" dirty="0"/>
              <a:t>] Tab</a:t>
            </a:r>
            <a:r>
              <a:rPr lang="ko-KR" altLang="en-US" dirty="0"/>
              <a:t>이 노출되지 않고 기초예비가격정보의 경우 공고일반영역의 항목으로 노출됨</a:t>
            </a:r>
            <a:r>
              <a:rPr lang="en-US" altLang="ko-KR" dirty="0"/>
              <a:t>.</a:t>
            </a:r>
            <a:br>
              <a:rPr lang="en-US" altLang="ko-KR" dirty="0"/>
            </a:br>
            <a:r>
              <a:rPr lang="en-US" altLang="ko-KR" dirty="0"/>
              <a:t>- </a:t>
            </a:r>
            <a:r>
              <a:rPr lang="ko-KR" altLang="en-US" dirty="0"/>
              <a:t>하한</a:t>
            </a:r>
            <a:r>
              <a:rPr lang="en-US" altLang="ko-KR" dirty="0"/>
              <a:t>, </a:t>
            </a:r>
            <a:r>
              <a:rPr lang="ko-KR" altLang="en-US" dirty="0"/>
              <a:t>상한</a:t>
            </a:r>
            <a:r>
              <a:rPr lang="en-US" altLang="ko-KR" dirty="0"/>
              <a:t>, </a:t>
            </a:r>
            <a:r>
              <a:rPr lang="ko-KR" altLang="en-US" dirty="0" err="1"/>
              <a:t>낙찰하한율</a:t>
            </a:r>
            <a:endParaRPr lang="en-US" altLang="ko-KR" dirty="0"/>
          </a:p>
          <a:p>
            <a:pPr>
              <a:buFont typeface="+mj-lt"/>
              <a:buAutoNum type="arabicPeriod"/>
            </a:pPr>
            <a:endParaRPr lang="ko-KR" altLang="en-US" dirty="0"/>
          </a:p>
          <a:p>
            <a:pPr>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 공고 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일반정보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60475" cy="4704303"/>
            <a:chOff x="701175" y="1527996"/>
            <a:chExt cx="2660475" cy="4704303"/>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43968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25552" cy="430887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공고일자</a:t>
              </a:r>
              <a:endParaRPr lang="en-US" altLang="ko-KR" sz="700" dirty="0">
                <a:latin typeface="+mn-ea"/>
              </a:endParaRPr>
            </a:p>
            <a:p>
              <a:pPr>
                <a:lnSpc>
                  <a:spcPct val="200000"/>
                </a:lnSpc>
              </a:pPr>
              <a:r>
                <a:rPr lang="ko-KR" altLang="en-US" sz="700" dirty="0" err="1">
                  <a:latin typeface="+mn-ea"/>
                </a:rPr>
                <a:t>게제기관</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총수량</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입찰형태</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err="1">
                  <a:latin typeface="+mn-ea"/>
                </a:rPr>
                <a:t>단가제유형</a:t>
              </a:r>
              <a:endParaRPr lang="en-US" altLang="ko-KR" sz="700" dirty="0">
                <a:latin typeface="+mn-ea"/>
              </a:endParaRPr>
            </a:p>
            <a:p>
              <a:pPr>
                <a:lnSpc>
                  <a:spcPct val="200000"/>
                </a:lnSpc>
              </a:pPr>
              <a:r>
                <a:rPr lang="ko-KR" altLang="en-US" sz="700" dirty="0">
                  <a:latin typeface="+mn-ea"/>
                </a:rPr>
                <a:t>사전심사</a:t>
              </a:r>
              <a:endParaRPr lang="en-US" altLang="ko-KR" sz="700" dirty="0">
                <a:latin typeface="+mn-ea"/>
              </a:endParaRPr>
            </a:p>
            <a:p>
              <a:pPr>
                <a:lnSpc>
                  <a:spcPct val="200000"/>
                </a:lnSpc>
              </a:pPr>
              <a:r>
                <a:rPr lang="ko-KR" altLang="en-US" sz="700" dirty="0">
                  <a:latin typeface="+mn-ea"/>
                </a:rPr>
                <a:t>사전심사마감일시</a:t>
              </a:r>
              <a:endParaRPr lang="en-US" altLang="ko-KR" sz="700" dirty="0">
                <a:latin typeface="+mn-ea"/>
              </a:endParaRPr>
            </a:p>
            <a:p>
              <a:pPr>
                <a:lnSpc>
                  <a:spcPct val="200000"/>
                </a:lnSpc>
              </a:pPr>
              <a:r>
                <a:rPr lang="ko-KR" altLang="en-US" sz="700" dirty="0" err="1">
                  <a:latin typeface="+mn-ea"/>
                </a:rPr>
                <a:t>계약종류</a:t>
              </a:r>
              <a:endParaRPr lang="en-US" altLang="ko-KR" sz="700" dirty="0">
                <a:latin typeface="+mn-ea"/>
              </a:endParaRPr>
            </a:p>
            <a:p>
              <a:pPr>
                <a:lnSpc>
                  <a:spcPct val="200000"/>
                </a:lnSpc>
              </a:pPr>
              <a:r>
                <a:rPr lang="ko-KR" altLang="en-US" sz="700" dirty="0">
                  <a:latin typeface="+mn-ea"/>
                </a:rPr>
                <a:t>낙찰자결정방법</a:t>
              </a:r>
              <a:endParaRPr lang="en-US" altLang="ko-KR" sz="700" dirty="0">
                <a:latin typeface="+mn-ea"/>
              </a:endParaRPr>
            </a:p>
            <a:p>
              <a:pPr>
                <a:lnSpc>
                  <a:spcPct val="200000"/>
                </a:lnSpc>
              </a:pPr>
              <a:r>
                <a:rPr lang="ko-KR" altLang="en-US" sz="700" dirty="0">
                  <a:latin typeface="+mn-ea"/>
                </a:rPr>
                <a:t>적격심사여부</a:t>
              </a:r>
              <a:endParaRPr lang="en-US" altLang="ko-KR" sz="700" dirty="0">
                <a:latin typeface="+mn-ea"/>
              </a:endParaRPr>
            </a:p>
            <a:p>
              <a:pPr>
                <a:lnSpc>
                  <a:spcPct val="200000"/>
                </a:lnSpc>
              </a:pPr>
              <a:r>
                <a:rPr lang="ko-KR" altLang="en-US" sz="700" dirty="0">
                  <a:latin typeface="+mn-ea"/>
                </a:rPr>
                <a:t>사업설명회장소</a:t>
              </a:r>
              <a:endParaRPr lang="en-US" altLang="ko-KR" sz="700" dirty="0">
                <a:latin typeface="+mn-ea"/>
              </a:endParaRPr>
            </a:p>
            <a:p>
              <a:pPr>
                <a:lnSpc>
                  <a:spcPct val="200000"/>
                </a:lnSpc>
              </a:pPr>
              <a:r>
                <a:rPr lang="ko-KR" altLang="en-US" sz="700" dirty="0">
                  <a:latin typeface="+mn-ea"/>
                </a:rPr>
                <a:t>사업설명회일시</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814470" cy="4308872"/>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2025-12-22</a:t>
              </a:r>
            </a:p>
            <a:p>
              <a:pPr>
                <a:lnSpc>
                  <a:spcPct val="200000"/>
                </a:lnSpc>
              </a:pPr>
              <a:r>
                <a:rPr lang="ko-KR" altLang="en-US" sz="700" dirty="0">
                  <a:latin typeface="+mn-ea"/>
                </a:rPr>
                <a:t>인터넷</a:t>
              </a:r>
              <a:endParaRPr lang="en-US" altLang="ko-KR" sz="700" dirty="0">
                <a:latin typeface="+mn-ea"/>
              </a:endParaRPr>
            </a:p>
            <a:p>
              <a:pPr>
                <a:lnSpc>
                  <a:spcPct val="200000"/>
                </a:lnSpc>
              </a:pPr>
              <a:r>
                <a:rPr lang="ko-KR" altLang="en-US" sz="700" dirty="0" err="1">
                  <a:latin typeface="+mn-ea"/>
                </a:rPr>
                <a:t>특수작전용대물타격무인향</a:t>
              </a:r>
              <a:endParaRPr lang="en-US" altLang="ko-KR" sz="700" dirty="0">
                <a:latin typeface="+mn-ea"/>
              </a:endParaRPr>
            </a:p>
            <a:p>
              <a:pPr>
                <a:lnSpc>
                  <a:spcPct val="200000"/>
                </a:lnSpc>
              </a:pPr>
              <a:r>
                <a:rPr lang="en-US" altLang="ko-KR" sz="700" dirty="0">
                  <a:latin typeface="+mn-ea"/>
                </a:rPr>
                <a:t>2025LDG56349</a:t>
              </a:r>
            </a:p>
            <a:p>
              <a:pPr>
                <a:lnSpc>
                  <a:spcPct val="200000"/>
                </a:lnSpc>
              </a:pPr>
              <a:r>
                <a:rPr lang="en-US" altLang="ko-KR" sz="700" dirty="0">
                  <a:latin typeface="+mn-ea"/>
                </a:rPr>
                <a:t>1 AY</a:t>
              </a:r>
            </a:p>
            <a:p>
              <a:pPr>
                <a:lnSpc>
                  <a:spcPct val="200000"/>
                </a:lnSpc>
              </a:pPr>
              <a:r>
                <a:rPr lang="ko-KR" altLang="en-US" sz="700" dirty="0">
                  <a:latin typeface="+mn-ea"/>
                </a:rPr>
                <a:t>제조</a:t>
              </a:r>
              <a:endParaRPr lang="en-US" altLang="ko-KR" sz="700" dirty="0">
                <a:latin typeface="+mn-ea"/>
              </a:endParaRP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ko-KR" altLang="en-US" sz="700" dirty="0">
                  <a:latin typeface="+mn-ea"/>
                </a:rPr>
                <a:t>전자입찰</a:t>
              </a:r>
              <a:endParaRPr lang="en-US" altLang="ko-KR" sz="700" dirty="0">
                <a:latin typeface="+mn-ea"/>
              </a:endParaRPr>
            </a:p>
            <a:p>
              <a:pPr>
                <a:lnSpc>
                  <a:spcPct val="200000"/>
                </a:lnSpc>
              </a:pPr>
              <a:r>
                <a:rPr lang="ko-KR" altLang="en-US" sz="700" dirty="0">
                  <a:latin typeface="+mn-ea"/>
                </a:rPr>
                <a:t>제한경쟁</a:t>
              </a:r>
              <a:endParaRPr lang="en-US" altLang="ko-KR" sz="700" dirty="0">
                <a:latin typeface="+mn-ea"/>
              </a:endParaRPr>
            </a:p>
            <a:p>
              <a:pPr>
                <a:lnSpc>
                  <a:spcPct val="200000"/>
                </a:lnSpc>
              </a:pPr>
              <a:r>
                <a:rPr lang="ko-KR" altLang="en-US" sz="700" dirty="0" err="1">
                  <a:latin typeface="+mn-ea"/>
                </a:rPr>
                <a:t>총액제</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일반확정계약</a:t>
              </a:r>
              <a:endParaRPr lang="en-US" altLang="ko-KR" sz="700" dirty="0">
                <a:latin typeface="+mn-ea"/>
              </a:endParaRPr>
            </a:p>
            <a:p>
              <a:pPr>
                <a:lnSpc>
                  <a:spcPct val="200000"/>
                </a:lnSpc>
              </a:pPr>
              <a:r>
                <a:rPr lang="ko-KR" altLang="en-US" sz="700" dirty="0" err="1">
                  <a:latin typeface="+mn-ea"/>
                </a:rPr>
                <a:t>적격심사제</a:t>
              </a:r>
              <a:endParaRPr lang="en-US" altLang="ko-KR" sz="700" dirty="0">
                <a:latin typeface="+mn-ea"/>
              </a:endParaRPr>
            </a:p>
            <a:p>
              <a:pPr>
                <a:lnSpc>
                  <a:spcPct val="200000"/>
                </a:lnSpc>
              </a:pPr>
              <a:r>
                <a:rPr lang="ko-KR" altLang="en-US" sz="700" dirty="0">
                  <a:latin typeface="+mn-ea"/>
                </a:rPr>
                <a:t>대상</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p:txBody>
        </p:sp>
        <p:grpSp>
          <p:nvGrpSpPr>
            <p:cNvPr id="17" name="그룹 16"/>
            <p:cNvGrpSpPr/>
            <p:nvPr/>
          </p:nvGrpSpPr>
          <p:grpSpPr>
            <a:xfrm>
              <a:off x="701175" y="1835481"/>
              <a:ext cx="2630093" cy="4292023"/>
              <a:chOff x="701175" y="1835481"/>
              <a:chExt cx="2630093" cy="4292023"/>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5486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7" name="직선 연결선 186">
                <a:extLst>
                  <a:ext uri="{FF2B5EF4-FFF2-40B4-BE49-F238E27FC236}">
                    <a16:creationId xmlns:a16="http://schemas.microsoft.com/office/drawing/2014/main" id="{E9293055-D5CD-4B9E-7F64-64B2D2CA7A52}"/>
                  </a:ext>
                </a:extLst>
              </p:cNvPr>
              <p:cNvCxnSpPr/>
              <p:nvPr/>
            </p:nvCxnSpPr>
            <p:spPr>
              <a:xfrm>
                <a:off x="703268" y="56980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9" name="직선 연결선 188">
                <a:extLst>
                  <a:ext uri="{FF2B5EF4-FFF2-40B4-BE49-F238E27FC236}">
                    <a16:creationId xmlns:a16="http://schemas.microsoft.com/office/drawing/2014/main" id="{E9293055-D5CD-4B9E-7F64-64B2D2CA7A52}"/>
                  </a:ext>
                </a:extLst>
              </p:cNvPr>
              <p:cNvCxnSpPr/>
              <p:nvPr/>
            </p:nvCxnSpPr>
            <p:spPr>
              <a:xfrm>
                <a:off x="703268" y="591276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61275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97" name="직사각형 196"/>
          <p:cNvSpPr/>
          <p:nvPr/>
        </p:nvSpPr>
        <p:spPr>
          <a:xfrm>
            <a:off x="3823602" y="1493785"/>
            <a:ext cx="792000" cy="43059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8" name="TextBox 197">
            <a:extLst>
              <a:ext uri="{FF2B5EF4-FFF2-40B4-BE49-F238E27FC236}">
                <a16:creationId xmlns:a16="http://schemas.microsoft.com/office/drawing/2014/main" id="{FFC49AEA-2A8F-250C-A86A-A7751D9706C3}"/>
              </a:ext>
            </a:extLst>
          </p:cNvPr>
          <p:cNvSpPr txBox="1"/>
          <p:nvPr/>
        </p:nvSpPr>
        <p:spPr>
          <a:xfrm>
            <a:off x="3910664" y="1493784"/>
            <a:ext cx="893348" cy="4308872"/>
          </a:xfrm>
          <a:prstGeom prst="rect">
            <a:avLst/>
          </a:prstGeom>
          <a:noFill/>
        </p:spPr>
        <p:txBody>
          <a:bodyPr wrap="square" lIns="0" tIns="0" rIns="0" bIns="0" rtlCol="0">
            <a:spAutoFit/>
          </a:bodyPr>
          <a:lstStyle/>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추정가격</a:t>
            </a:r>
            <a:endParaRPr lang="en-US" altLang="ko-KR" sz="700" dirty="0">
              <a:latin typeface="+mn-ea"/>
            </a:endParaRPr>
          </a:p>
          <a:p>
            <a:pPr>
              <a:lnSpc>
                <a:spcPct val="200000"/>
              </a:lnSpc>
            </a:pPr>
            <a:r>
              <a:rPr lang="ko-KR" altLang="en-US" sz="700" dirty="0">
                <a:latin typeface="+mn-ea"/>
              </a:rPr>
              <a:t>생산능력제출마감일시</a:t>
            </a:r>
            <a:endParaRPr lang="en-US" altLang="ko-KR" sz="700" dirty="0">
              <a:latin typeface="+mn-ea"/>
            </a:endParaRPr>
          </a:p>
          <a:p>
            <a:pPr>
              <a:lnSpc>
                <a:spcPct val="200000"/>
              </a:lnSpc>
            </a:pPr>
            <a:r>
              <a:rPr lang="ko-KR" altLang="en-US" sz="700" dirty="0" err="1">
                <a:latin typeface="+mn-ea"/>
              </a:rPr>
              <a:t>입찰참가등록마감일시</a:t>
            </a:r>
            <a:endParaRPr lang="en-US" altLang="ko-KR" sz="700" dirty="0">
              <a:latin typeface="+mn-ea"/>
            </a:endParaRPr>
          </a:p>
          <a:p>
            <a:pPr>
              <a:lnSpc>
                <a:spcPct val="200000"/>
              </a:lnSpc>
            </a:pPr>
            <a:r>
              <a:rPr lang="ko-KR" altLang="en-US" sz="700" dirty="0">
                <a:latin typeface="+mn-ea"/>
              </a:rPr>
              <a:t>입찰서제출마감일시</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err="1">
                <a:latin typeface="+mn-ea"/>
              </a:rPr>
              <a:t>입찰장소</a:t>
            </a:r>
            <a:endParaRPr lang="en-US" altLang="ko-KR" sz="700" dirty="0">
              <a:latin typeface="+mn-ea"/>
            </a:endParaRPr>
          </a:p>
          <a:p>
            <a:pPr>
              <a:lnSpc>
                <a:spcPct val="200000"/>
              </a:lnSpc>
            </a:pPr>
            <a:r>
              <a:rPr lang="ko-KR" altLang="en-US" sz="700" dirty="0">
                <a:latin typeface="+mn-ea"/>
              </a:rPr>
              <a:t>등록심사시점</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기초예가적용여부</a:t>
            </a:r>
            <a:endParaRPr lang="en-US" altLang="ko-KR" sz="700" dirty="0">
              <a:latin typeface="+mn-ea"/>
            </a:endParaRPr>
          </a:p>
          <a:p>
            <a:pPr>
              <a:lnSpc>
                <a:spcPct val="200000"/>
              </a:lnSpc>
            </a:pPr>
            <a:r>
              <a:rPr lang="en-US" altLang="ko-KR" sz="700" dirty="0">
                <a:latin typeface="+mn-ea"/>
              </a:rPr>
              <a:t>G2B</a:t>
            </a: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a:latin typeface="+mn-ea"/>
              </a:rPr>
              <a:t>복수업체연구개발대상</a:t>
            </a:r>
            <a:endParaRPr lang="en-US" altLang="ko-KR" sz="700" dirty="0">
              <a:latin typeface="+mn-ea"/>
            </a:endParaRPr>
          </a:p>
          <a:p>
            <a:pPr>
              <a:lnSpc>
                <a:spcPct val="200000"/>
              </a:lnSpc>
            </a:pPr>
            <a:r>
              <a:rPr lang="ko-KR" altLang="en-US" sz="700" dirty="0">
                <a:latin typeface="+mn-ea"/>
              </a:rPr>
              <a:t>산업분류번호</a:t>
            </a:r>
            <a:endParaRPr lang="en-US" altLang="ko-KR" sz="700" dirty="0">
              <a:latin typeface="+mn-ea"/>
            </a:endParaRPr>
          </a:p>
          <a:p>
            <a:pPr>
              <a:lnSpc>
                <a:spcPct val="200000"/>
              </a:lnSpc>
            </a:pPr>
            <a:r>
              <a:rPr lang="ko-KR" altLang="en-US" sz="700" dirty="0">
                <a:latin typeface="+mn-ea"/>
              </a:rPr>
              <a:t>신기술공고여부</a:t>
            </a:r>
            <a:endParaRPr lang="en-US" altLang="ko-KR" sz="700" dirty="0">
              <a:latin typeface="+mn-ea"/>
            </a:endParaRPr>
          </a:p>
          <a:p>
            <a:pPr>
              <a:lnSpc>
                <a:spcPct val="200000"/>
              </a:lnSpc>
            </a:pPr>
            <a:r>
              <a:rPr lang="ko-KR" altLang="en-US" sz="700" dirty="0">
                <a:latin typeface="+mn-ea"/>
              </a:rPr>
              <a:t>공동도급이행방식</a:t>
            </a:r>
            <a:endParaRPr lang="en-US" altLang="ko-KR" sz="700" dirty="0">
              <a:latin typeface="+mn-ea"/>
            </a:endParaRPr>
          </a:p>
          <a:p>
            <a:pPr>
              <a:lnSpc>
                <a:spcPct val="200000"/>
              </a:lnSpc>
            </a:pPr>
            <a:r>
              <a:rPr lang="ko-KR" altLang="en-US" sz="700" dirty="0">
                <a:latin typeface="+mn-ea"/>
              </a:rPr>
              <a:t>하한</a:t>
            </a:r>
            <a:r>
              <a:rPr lang="en-US" altLang="ko-KR" sz="700" dirty="0">
                <a:latin typeface="+mn-ea"/>
              </a:rPr>
              <a:t>(%)</a:t>
            </a:r>
          </a:p>
          <a:p>
            <a:pPr>
              <a:lnSpc>
                <a:spcPct val="200000"/>
              </a:lnSpc>
            </a:pPr>
            <a:r>
              <a:rPr lang="ko-KR" altLang="en-US" sz="700" dirty="0">
                <a:latin typeface="+mn-ea"/>
              </a:rPr>
              <a:t>상한</a:t>
            </a:r>
            <a:r>
              <a:rPr lang="en-US" altLang="ko-KR" sz="700" dirty="0">
                <a:latin typeface="+mn-ea"/>
              </a:rPr>
              <a:t>(%)</a:t>
            </a:r>
          </a:p>
          <a:p>
            <a:pPr>
              <a:lnSpc>
                <a:spcPct val="200000"/>
              </a:lnSpc>
            </a:pPr>
            <a:r>
              <a:rPr lang="ko-KR" altLang="en-US" sz="700" dirty="0" err="1">
                <a:latin typeface="+mn-ea"/>
              </a:rPr>
              <a:t>낙찰하한율</a:t>
            </a:r>
            <a:r>
              <a:rPr lang="en-US" altLang="ko-KR" sz="700" dirty="0">
                <a:latin typeface="+mn-ea"/>
              </a:rPr>
              <a:t>(%)</a:t>
            </a:r>
          </a:p>
        </p:txBody>
      </p:sp>
      <p:sp>
        <p:nvSpPr>
          <p:cNvPr id="199" name="TextBox 198">
            <a:extLst>
              <a:ext uri="{FF2B5EF4-FFF2-40B4-BE49-F238E27FC236}">
                <a16:creationId xmlns:a16="http://schemas.microsoft.com/office/drawing/2014/main" id="{FFC49AEA-2A8F-250C-A86A-A7751D9706C3}"/>
              </a:ext>
            </a:extLst>
          </p:cNvPr>
          <p:cNvSpPr txBox="1"/>
          <p:nvPr/>
        </p:nvSpPr>
        <p:spPr>
          <a:xfrm>
            <a:off x="4831880" y="1493784"/>
            <a:ext cx="1619722" cy="4308872"/>
          </a:xfrm>
          <a:prstGeom prst="rect">
            <a:avLst/>
          </a:prstGeom>
          <a:noFill/>
        </p:spPr>
        <p:txBody>
          <a:bodyPr wrap="square" lIns="0" tIns="0" rIns="0" bIns="0" rtlCol="0">
            <a:spAutoFit/>
          </a:bodyPr>
          <a:lstStyle/>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563,200,000 </a:t>
            </a:r>
            <a:r>
              <a:rPr lang="ko-KR" altLang="en-US" sz="700" dirty="0">
                <a:latin typeface="+mn-ea"/>
              </a:rPr>
              <a:t>원</a:t>
            </a:r>
            <a:endParaRPr lang="en-US" altLang="ko-KR" sz="700" dirty="0">
              <a:latin typeface="+mn-ea"/>
            </a:endParaRPr>
          </a:p>
          <a:p>
            <a:pPr>
              <a:lnSpc>
                <a:spcPct val="200000"/>
              </a:lnSpc>
            </a:pPr>
            <a:r>
              <a:rPr lang="ko-KR" altLang="en-US" sz="700" dirty="0" err="1">
                <a:latin typeface="+mn-ea"/>
              </a:rPr>
              <a:t>해당없음</a:t>
            </a:r>
            <a:endParaRPr lang="en-US" altLang="ko-KR" sz="700" dirty="0">
              <a:latin typeface="+mn-ea"/>
            </a:endParaRPr>
          </a:p>
          <a:p>
            <a:pPr>
              <a:lnSpc>
                <a:spcPct val="200000"/>
              </a:lnSpc>
            </a:pPr>
            <a:r>
              <a:rPr lang="en-US" altLang="ko-KR" sz="700" dirty="0">
                <a:latin typeface="+mn-ea"/>
              </a:rPr>
              <a:t>2025-12-23 17:00</a:t>
            </a:r>
          </a:p>
          <a:p>
            <a:pPr>
              <a:lnSpc>
                <a:spcPct val="200000"/>
              </a:lnSpc>
            </a:pPr>
            <a:r>
              <a:rPr lang="en-US" altLang="ko-KR" sz="700" dirty="0">
                <a:latin typeface="+mn-ea"/>
              </a:rPr>
              <a:t>2025-12-24 10:00</a:t>
            </a:r>
          </a:p>
          <a:p>
            <a:pPr>
              <a:lnSpc>
                <a:spcPct val="200000"/>
              </a:lnSpc>
            </a:pPr>
            <a:r>
              <a:rPr lang="en-US" altLang="ko-KR" sz="700" dirty="0">
                <a:latin typeface="+mn-ea"/>
              </a:rPr>
              <a:t>2025-12-24 10:30</a:t>
            </a:r>
          </a:p>
          <a:p>
            <a:pPr>
              <a:lnSpc>
                <a:spcPct val="200000"/>
              </a:lnSpc>
            </a:pPr>
            <a:r>
              <a:rPr lang="ko-KR" altLang="en-US" sz="700" dirty="0">
                <a:latin typeface="+mn-ea"/>
              </a:rPr>
              <a:t>국방전자조달시스템</a:t>
            </a:r>
            <a:endParaRPr lang="en-US" altLang="ko-KR" sz="700" dirty="0">
              <a:latin typeface="+mn-ea"/>
            </a:endParaRPr>
          </a:p>
          <a:p>
            <a:pPr>
              <a:lnSpc>
                <a:spcPct val="200000"/>
              </a:lnSpc>
            </a:pPr>
            <a:r>
              <a:rPr lang="ko-KR" altLang="en-US" sz="700" dirty="0">
                <a:latin typeface="+mn-ea"/>
              </a:rPr>
              <a:t>입찰참가등록 후 </a:t>
            </a:r>
            <a:r>
              <a:rPr lang="ko-KR" altLang="en-US" sz="700" dirty="0" err="1">
                <a:latin typeface="+mn-ea"/>
              </a:rPr>
              <a:t>등록심사</a:t>
            </a:r>
            <a:r>
              <a:rPr lang="ko-KR" altLang="en-US" sz="700" dirty="0">
                <a:latin typeface="+mn-ea"/>
              </a:rPr>
              <a:t> 없이 </a:t>
            </a:r>
            <a:r>
              <a:rPr lang="ko-KR" altLang="en-US" sz="700" dirty="0" err="1">
                <a:latin typeface="+mn-ea"/>
              </a:rPr>
              <a:t>입찰서제출</a:t>
            </a:r>
            <a:r>
              <a:rPr lang="ko-KR" altLang="en-US" sz="700" dirty="0">
                <a:latin typeface="+mn-ea"/>
              </a:rPr>
              <a:t> </a:t>
            </a:r>
            <a:r>
              <a:rPr lang="en-US" altLang="ko-KR" sz="700" dirty="0">
                <a:latin typeface="+mn-ea"/>
              </a:rPr>
              <a:t>(</a:t>
            </a:r>
            <a:r>
              <a:rPr lang="ko-KR" altLang="en-US" sz="700" dirty="0" err="1">
                <a:latin typeface="+mn-ea"/>
              </a:rPr>
              <a:t>등록심사는</a:t>
            </a:r>
            <a:r>
              <a:rPr lang="ko-KR" altLang="en-US" sz="700" dirty="0">
                <a:latin typeface="+mn-ea"/>
              </a:rPr>
              <a:t> 입찰서제출마감 후 실시</a:t>
            </a:r>
            <a:r>
              <a:rPr lang="en-US" altLang="ko-KR" sz="700" dirty="0">
                <a:latin typeface="+mn-ea"/>
              </a:rPr>
              <a:t>) (</a:t>
            </a:r>
            <a:r>
              <a:rPr lang="ko-KR" altLang="en-US" sz="700" dirty="0">
                <a:latin typeface="+mn-ea"/>
              </a:rPr>
              <a:t>등록심사시점은 개찰 후 입찰등록 심사로 변경될 수 있음</a:t>
            </a:r>
            <a:r>
              <a:rPr lang="en-US" altLang="ko-KR" sz="700" dirty="0">
                <a:latin typeface="+mn-ea"/>
              </a:rPr>
              <a:t>)</a:t>
            </a:r>
          </a:p>
          <a:p>
            <a:pPr>
              <a:lnSpc>
                <a:spcPct val="200000"/>
              </a:lnSpc>
            </a:pPr>
            <a:r>
              <a:rPr lang="ko-KR" altLang="en-US" sz="700" dirty="0">
                <a:latin typeface="+mn-ea"/>
              </a:rPr>
              <a:t>적용</a:t>
            </a:r>
            <a:endParaRPr lang="en-US" altLang="ko-KR" sz="700" dirty="0">
              <a:latin typeface="+mn-ea"/>
            </a:endParaRPr>
          </a:p>
          <a:p>
            <a:pPr>
              <a:lnSpc>
                <a:spcPct val="200000"/>
              </a:lnSpc>
            </a:pPr>
            <a:r>
              <a:rPr lang="en-US" altLang="ko-KR" sz="700" dirty="0">
                <a:latin typeface="+mn-ea"/>
              </a:rPr>
              <a:t>2025LDG56349-01</a:t>
            </a:r>
          </a:p>
          <a:p>
            <a:pPr>
              <a:lnSpc>
                <a:spcPct val="200000"/>
              </a:lnSpc>
            </a:pPr>
            <a:r>
              <a:rPr lang="ko-KR" altLang="en-US" sz="700" dirty="0">
                <a:latin typeface="+mn-ea"/>
              </a:rPr>
              <a:t>비대상</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비대상</a:t>
            </a:r>
            <a:endParaRPr lang="en-US" altLang="ko-KR" sz="700" dirty="0">
              <a:latin typeface="+mn-ea"/>
            </a:endParaRPr>
          </a:p>
          <a:p>
            <a:pPr>
              <a:lnSpc>
                <a:spcPct val="200000"/>
              </a:lnSpc>
            </a:pPr>
            <a:r>
              <a:rPr lang="ko-KR" altLang="en-US" sz="700" dirty="0">
                <a:latin typeface="+mn-ea"/>
              </a:rPr>
              <a:t>단독</a:t>
            </a:r>
            <a:endParaRPr lang="en-US" altLang="ko-KR" sz="700" dirty="0">
              <a:latin typeface="+mn-ea"/>
            </a:endParaRPr>
          </a:p>
          <a:p>
            <a:pPr algn="r">
              <a:lnSpc>
                <a:spcPct val="200000"/>
              </a:lnSpc>
            </a:pPr>
            <a:r>
              <a:rPr lang="en-US" altLang="ko-KR" sz="700" dirty="0">
                <a:latin typeface="+mn-ea"/>
              </a:rPr>
              <a:t>-2 %</a:t>
            </a:r>
          </a:p>
          <a:p>
            <a:pPr algn="r">
              <a:lnSpc>
                <a:spcPct val="200000"/>
              </a:lnSpc>
            </a:pPr>
            <a:r>
              <a:rPr lang="en-US" altLang="ko-KR" sz="700" dirty="0">
                <a:latin typeface="+mn-ea"/>
              </a:rPr>
              <a:t>+2 %</a:t>
            </a:r>
          </a:p>
          <a:p>
            <a:pPr algn="r">
              <a:lnSpc>
                <a:spcPct val="200000"/>
              </a:lnSpc>
            </a:pPr>
            <a:r>
              <a:rPr lang="en-US" altLang="ko-KR" sz="700" dirty="0">
                <a:latin typeface="+mn-ea"/>
              </a:rPr>
              <a:t>80 %</a:t>
            </a:r>
          </a:p>
        </p:txBody>
      </p:sp>
      <p:grpSp>
        <p:nvGrpSpPr>
          <p:cNvPr id="231" name="그룹 230"/>
          <p:cNvGrpSpPr/>
          <p:nvPr/>
        </p:nvGrpSpPr>
        <p:grpSpPr>
          <a:xfrm>
            <a:off x="3821509" y="1493784"/>
            <a:ext cx="2630093" cy="4305950"/>
            <a:chOff x="701175" y="1835481"/>
            <a:chExt cx="2630093" cy="4305950"/>
          </a:xfrm>
        </p:grpSpPr>
        <p:cxnSp>
          <p:nvCxnSpPr>
            <p:cNvPr id="232" name="직선 연결선 23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4" name="직선 연결선 23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6" name="직선 연결선 23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7" name="직선 연결선 23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8" name="직선 연결선 23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1" name="직선 연결선 240">
              <a:extLst>
                <a:ext uri="{FF2B5EF4-FFF2-40B4-BE49-F238E27FC236}">
                  <a16:creationId xmlns:a16="http://schemas.microsoft.com/office/drawing/2014/main" id="{E9293055-D5CD-4B9E-7F64-64B2D2CA7A52}"/>
                </a:ext>
              </a:extLst>
            </p:cNvPr>
            <p:cNvCxnSpPr/>
            <p:nvPr/>
          </p:nvCxnSpPr>
          <p:spPr>
            <a:xfrm>
              <a:off x="703268" y="61414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2" name="직선 연결선 241">
              <a:extLst>
                <a:ext uri="{FF2B5EF4-FFF2-40B4-BE49-F238E27FC236}">
                  <a16:creationId xmlns:a16="http://schemas.microsoft.com/office/drawing/2014/main" id="{E9293055-D5CD-4B9E-7F64-64B2D2CA7A52}"/>
                </a:ext>
              </a:extLst>
            </p:cNvPr>
            <p:cNvCxnSpPr/>
            <p:nvPr/>
          </p:nvCxnSpPr>
          <p:spPr>
            <a:xfrm>
              <a:off x="703268" y="5699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3" name="직선 연결선 242">
              <a:extLst>
                <a:ext uri="{FF2B5EF4-FFF2-40B4-BE49-F238E27FC236}">
                  <a16:creationId xmlns:a16="http://schemas.microsoft.com/office/drawing/2014/main" id="{E9293055-D5CD-4B9E-7F64-64B2D2CA7A52}"/>
                </a:ext>
              </a:extLst>
            </p:cNvPr>
            <p:cNvCxnSpPr/>
            <p:nvPr/>
          </p:nvCxnSpPr>
          <p:spPr>
            <a:xfrm>
              <a:off x="703268" y="59140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5" name="직선 연결선 244">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6" name="직선 연결선 245">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8" name="직선 연결선 247">
              <a:extLst>
                <a:ext uri="{FF2B5EF4-FFF2-40B4-BE49-F238E27FC236}">
                  <a16:creationId xmlns:a16="http://schemas.microsoft.com/office/drawing/2014/main" id="{E9293055-D5CD-4B9E-7F64-64B2D2CA7A52}"/>
                </a:ext>
              </a:extLst>
            </p:cNvPr>
            <p:cNvCxnSpPr/>
            <p:nvPr/>
          </p:nvCxnSpPr>
          <p:spPr>
            <a:xfrm>
              <a:off x="703268" y="483821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9" name="직선 연결선 248">
              <a:extLst>
                <a:ext uri="{FF2B5EF4-FFF2-40B4-BE49-F238E27FC236}">
                  <a16:creationId xmlns:a16="http://schemas.microsoft.com/office/drawing/2014/main" id="{E9293055-D5CD-4B9E-7F64-64B2D2CA7A52}"/>
                </a:ext>
              </a:extLst>
            </p:cNvPr>
            <p:cNvCxnSpPr/>
            <p:nvPr/>
          </p:nvCxnSpPr>
          <p:spPr>
            <a:xfrm>
              <a:off x="703268" y="50529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0" name="직선 연결선 249">
              <a:extLst>
                <a:ext uri="{FF2B5EF4-FFF2-40B4-BE49-F238E27FC236}">
                  <a16:creationId xmlns:a16="http://schemas.microsoft.com/office/drawing/2014/main" id="{E9293055-D5CD-4B9E-7F64-64B2D2CA7A52}"/>
                </a:ext>
              </a:extLst>
            </p:cNvPr>
            <p:cNvCxnSpPr/>
            <p:nvPr/>
          </p:nvCxnSpPr>
          <p:spPr>
            <a:xfrm>
              <a:off x="703268" y="52676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703268" y="5479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6" name="타원 255">
            <a:extLst>
              <a:ext uri="{FF2B5EF4-FFF2-40B4-BE49-F238E27FC236}">
                <a16:creationId xmlns:a16="http://schemas.microsoft.com/office/drawing/2014/main" id="{37A7FF4F-0EAA-1463-560A-D5EC24416103}"/>
              </a:ext>
            </a:extLst>
          </p:cNvPr>
          <p:cNvSpPr/>
          <p:nvPr/>
        </p:nvSpPr>
        <p:spPr>
          <a:xfrm>
            <a:off x="571127" y="475200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57" name="타원 256">
            <a:extLst>
              <a:ext uri="{FF2B5EF4-FFF2-40B4-BE49-F238E27FC236}">
                <a16:creationId xmlns:a16="http://schemas.microsoft.com/office/drawing/2014/main" id="{37A7FF4F-0EAA-1463-560A-D5EC24416103}"/>
              </a:ext>
            </a:extLst>
          </p:cNvPr>
          <p:cNvSpPr/>
          <p:nvPr/>
        </p:nvSpPr>
        <p:spPr>
          <a:xfrm>
            <a:off x="3690133" y="539652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58" name="타원 257">
            <a:extLst>
              <a:ext uri="{FF2B5EF4-FFF2-40B4-BE49-F238E27FC236}">
                <a16:creationId xmlns:a16="http://schemas.microsoft.com/office/drawing/2014/main" id="{37A7FF4F-0EAA-1463-560A-D5EC24416103}"/>
              </a:ext>
            </a:extLst>
          </p:cNvPr>
          <p:cNvSpPr/>
          <p:nvPr/>
        </p:nvSpPr>
        <p:spPr>
          <a:xfrm>
            <a:off x="571127" y="582193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4155149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공고 상세 지역 제한 정보 표시</a:t>
            </a:r>
            <a:endParaRPr lang="en-US" altLang="ko-KR" dirty="0"/>
          </a:p>
          <a:p>
            <a:pPr>
              <a:buFont typeface="+mj-lt"/>
              <a:buAutoNum type="arabicPeriod"/>
            </a:pPr>
            <a:r>
              <a:rPr lang="ko-KR" altLang="en-US" dirty="0"/>
              <a:t>공증 및 </a:t>
            </a:r>
            <a:r>
              <a:rPr lang="ko-KR" altLang="en-US" dirty="0" err="1"/>
              <a:t>면허제한</a:t>
            </a:r>
            <a:r>
              <a:rPr lang="ko-KR" altLang="en-US" dirty="0"/>
              <a:t> 정보 표시</a:t>
            </a:r>
            <a:endParaRPr lang="en-US" altLang="ko-KR" dirty="0"/>
          </a:p>
          <a:p>
            <a:pPr>
              <a:buFont typeface="+mj-lt"/>
              <a:buAutoNum type="arabicPeriod"/>
            </a:pPr>
            <a:r>
              <a:rPr lang="ko-KR" altLang="en-US" dirty="0"/>
              <a:t>시공능력평가제한 정보 표시</a:t>
            </a:r>
            <a:endParaRPr lang="en-US" altLang="ko-KR" dirty="0"/>
          </a:p>
          <a:p>
            <a:pPr>
              <a:buFont typeface="+mj-lt"/>
              <a:buAutoNum type="arabicPeriod"/>
            </a:pPr>
            <a:r>
              <a:rPr lang="ko-KR" altLang="en-US" dirty="0"/>
              <a:t>지명경쟁업체 정보 표시</a:t>
            </a:r>
            <a:endParaRPr lang="en-US" altLang="ko-KR" dirty="0"/>
          </a:p>
          <a:p>
            <a:pPr>
              <a:buFont typeface="+mj-lt"/>
              <a:buAutoNum type="arabicPeriod"/>
            </a:pPr>
            <a:r>
              <a:rPr lang="ko-KR" altLang="en-US" dirty="0"/>
              <a:t>첨부서류 표시</a:t>
            </a:r>
            <a:r>
              <a:rPr lang="en-US" altLang="ko-KR" dirty="0"/>
              <a:t/>
            </a:r>
            <a:br>
              <a:rPr lang="en-US" altLang="ko-KR" dirty="0"/>
            </a:br>
            <a:r>
              <a:rPr lang="en-US" altLang="ko-KR" dirty="0"/>
              <a:t>- </a:t>
            </a:r>
            <a:r>
              <a:rPr lang="ko-KR" altLang="en-US" dirty="0"/>
              <a:t>총 </a:t>
            </a:r>
            <a:r>
              <a:rPr lang="ko-KR" altLang="en-US" dirty="0" err="1"/>
              <a:t>몇건이</a:t>
            </a:r>
            <a:r>
              <a:rPr lang="ko-KR" altLang="en-US" dirty="0"/>
              <a:t> 등록되었는지 표시</a:t>
            </a:r>
            <a:r>
              <a:rPr lang="en-US" altLang="ko-KR" dirty="0"/>
              <a:t/>
            </a:r>
            <a:br>
              <a:rPr lang="en-US" altLang="ko-KR" dirty="0"/>
            </a:br>
            <a:r>
              <a:rPr lang="en-US" altLang="ko-KR" dirty="0"/>
              <a:t>- </a:t>
            </a:r>
            <a:r>
              <a:rPr lang="ko-KR" altLang="en-US" dirty="0"/>
              <a:t>개별 리스트 탭으로 개별 다운로드</a:t>
            </a:r>
            <a:endParaRPr lang="en-US" altLang="ko-KR" dirty="0"/>
          </a:p>
          <a:p>
            <a:pPr>
              <a:buFont typeface="+mj-lt"/>
              <a:buAutoNum type="arabicPeriod"/>
            </a:pPr>
            <a:r>
              <a:rPr lang="ko-KR" altLang="en-US" dirty="0"/>
              <a:t>문의처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 공고 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일반정보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지역제한</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6" name="타원 255">
            <a:extLst>
              <a:ext uri="{FF2B5EF4-FFF2-40B4-BE49-F238E27FC236}">
                <a16:creationId xmlns:a16="http://schemas.microsoft.com/office/drawing/2014/main" id="{37A7FF4F-0EAA-1463-560A-D5EC24416103}"/>
              </a:ext>
            </a:extLst>
          </p:cNvPr>
          <p:cNvSpPr/>
          <p:nvPr/>
        </p:nvSpPr>
        <p:spPr>
          <a:xfrm>
            <a:off x="571127" y="242493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77" name="TextBox 76">
            <a:extLst>
              <a:ext uri="{FF2B5EF4-FFF2-40B4-BE49-F238E27FC236}">
                <a16:creationId xmlns:a16="http://schemas.microsoft.com/office/drawing/2014/main" id="{FFC49AEA-2A8F-250C-A86A-A7751D9706C3}"/>
              </a:ext>
            </a:extLst>
          </p:cNvPr>
          <p:cNvSpPr txBox="1"/>
          <p:nvPr/>
        </p:nvSpPr>
        <p:spPr>
          <a:xfrm>
            <a:off x="776587" y="2393360"/>
            <a:ext cx="698956" cy="215444"/>
          </a:xfrm>
          <a:prstGeom prst="rect">
            <a:avLst/>
          </a:prstGeom>
          <a:noFill/>
        </p:spPr>
        <p:txBody>
          <a:bodyPr wrap="square" lIns="0" tIns="0" rIns="0" bIns="0" rtlCol="0">
            <a:spAutoFit/>
          </a:bodyPr>
          <a:lstStyle/>
          <a:p>
            <a:pPr>
              <a:lnSpc>
                <a:spcPct val="200000"/>
              </a:lnSpc>
            </a:pPr>
            <a:r>
              <a:rPr lang="ko-KR" altLang="en-US" sz="700">
                <a:latin typeface="+mn-ea"/>
              </a:rPr>
              <a:t>공증 및 </a:t>
            </a:r>
            <a:r>
              <a:rPr lang="ko-KR" altLang="en-US" sz="700" dirty="0" err="1">
                <a:latin typeface="+mn-ea"/>
              </a:rPr>
              <a:t>면허제한</a:t>
            </a:r>
            <a:endParaRPr lang="ko-KR" altLang="en-US" sz="700" dirty="0">
              <a:latin typeface="+mn-ea"/>
            </a:endParaRPr>
          </a:p>
        </p:txBody>
      </p:sp>
      <p:grpSp>
        <p:nvGrpSpPr>
          <p:cNvPr id="78" name="그룹 77"/>
          <p:cNvGrpSpPr/>
          <p:nvPr/>
        </p:nvGrpSpPr>
        <p:grpSpPr>
          <a:xfrm flipV="1">
            <a:off x="3138674" y="2506691"/>
            <a:ext cx="94010" cy="47005"/>
            <a:chOff x="6812560" y="3297172"/>
            <a:chExt cx="94010" cy="47005"/>
          </a:xfrm>
        </p:grpSpPr>
        <p:cxnSp>
          <p:nvCxnSpPr>
            <p:cNvPr id="79" name="직선 연결선 7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0" name="직선 연결선 7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81" name="모서리가 둥근 직사각형 80"/>
          <p:cNvSpPr/>
          <p:nvPr/>
        </p:nvSpPr>
        <p:spPr>
          <a:xfrm>
            <a:off x="705041" y="2701432"/>
            <a:ext cx="2652743" cy="1324633"/>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a:extLst>
              <a:ext uri="{FF2B5EF4-FFF2-40B4-BE49-F238E27FC236}">
                <a16:creationId xmlns:a16="http://schemas.microsoft.com/office/drawing/2014/main" id="{FFC49AEA-2A8F-250C-A86A-A7751D9706C3}"/>
              </a:ext>
            </a:extLst>
          </p:cNvPr>
          <p:cNvSpPr txBox="1"/>
          <p:nvPr/>
        </p:nvSpPr>
        <p:spPr>
          <a:xfrm>
            <a:off x="793811" y="2799716"/>
            <a:ext cx="2475203" cy="1077218"/>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업무도움</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171450" indent="-171450">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최대 </a:t>
            </a:r>
            <a:r>
              <a:rPr lang="en-US" altLang="ko-KR" sz="700" dirty="0">
                <a:solidFill>
                  <a:schemeClr val="tx1">
                    <a:lumMod val="85000"/>
                    <a:lumOff val="15000"/>
                  </a:schemeClr>
                </a:solidFill>
                <a:latin typeface="맑은 고딕" panose="020B0503020000020004" pitchFamily="50" charset="-127"/>
              </a:rPr>
              <a:t>16</a:t>
            </a:r>
            <a:r>
              <a:rPr lang="ko-KR" altLang="en-US" sz="700" dirty="0">
                <a:solidFill>
                  <a:schemeClr val="tx1">
                    <a:lumMod val="85000"/>
                    <a:lumOff val="15000"/>
                  </a:schemeClr>
                </a:solidFill>
                <a:latin typeface="맑은 고딕" panose="020B0503020000020004" pitchFamily="50" charset="-127"/>
              </a:rPr>
              <a:t>개의 그룹이 나타날 수 있으며</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동일그룹의</a:t>
            </a:r>
            <a:r>
              <a:rPr lang="ko-KR" altLang="en-US" sz="700" dirty="0">
                <a:solidFill>
                  <a:schemeClr val="tx1">
                    <a:lumMod val="85000"/>
                    <a:lumOff val="15000"/>
                  </a:schemeClr>
                </a:solidFill>
                <a:latin typeface="맑은 고딕" panose="020B0503020000020004" pitchFamily="50" charset="-127"/>
              </a:rPr>
              <a:t> 면허는 모두 보유해야 하며 여러 개의 그룹인 경우에는 한 개 이상의 </a:t>
            </a:r>
            <a:r>
              <a:rPr lang="ko-KR" altLang="en-US" sz="700" dirty="0" err="1">
                <a:solidFill>
                  <a:schemeClr val="tx1">
                    <a:lumMod val="85000"/>
                    <a:lumOff val="15000"/>
                  </a:schemeClr>
                </a:solidFill>
                <a:latin typeface="맑은 고딕" panose="020B0503020000020004" pitchFamily="50" charset="-127"/>
              </a:rPr>
              <a:t>그룹면허를</a:t>
            </a:r>
            <a:r>
              <a:rPr lang="ko-KR" altLang="en-US" sz="700" dirty="0">
                <a:solidFill>
                  <a:schemeClr val="tx1">
                    <a:lumMod val="85000"/>
                    <a:lumOff val="15000"/>
                  </a:schemeClr>
                </a:solidFill>
                <a:latin typeface="맑은 고딕" panose="020B0503020000020004" pitchFamily="50" charset="-127"/>
              </a:rPr>
              <a:t> 가지고 있어야 합니다</a:t>
            </a:r>
            <a:r>
              <a:rPr lang="en-US" altLang="ko-KR" sz="700" dirty="0">
                <a:solidFill>
                  <a:schemeClr val="tx1">
                    <a:lumMod val="85000"/>
                    <a:lumOff val="15000"/>
                  </a:schemeClr>
                </a:solidFill>
                <a:latin typeface="맑은 고딕" panose="020B0503020000020004" pitchFamily="50" charset="-127"/>
              </a:rPr>
              <a:t>.</a:t>
            </a:r>
          </a:p>
          <a:p>
            <a:pPr marL="171450" indent="-171450">
              <a:buFont typeface="Arial" panose="020B0604020202020204" pitchFamily="34" charset="0"/>
              <a:buChar char="•"/>
            </a:pPr>
            <a:endParaRPr lang="en-US" altLang="ko-KR" sz="700" dirty="0">
              <a:solidFill>
                <a:schemeClr val="tx1">
                  <a:lumMod val="85000"/>
                  <a:lumOff val="15000"/>
                </a:schemeClr>
              </a:solidFill>
              <a:latin typeface="맑은 고딕" panose="020B0503020000020004" pitchFamily="50" charset="-127"/>
            </a:endParaRPr>
          </a:p>
          <a:p>
            <a:pPr marL="171450" indent="-171450">
              <a:buFont typeface="Arial" panose="020B0604020202020204" pitchFamily="34" charset="0"/>
              <a:buChar char="•"/>
            </a:pPr>
            <a:r>
              <a:rPr lang="en-US" altLang="ko-KR" sz="700" dirty="0">
                <a:solidFill>
                  <a:schemeClr val="tx1">
                    <a:lumMod val="85000"/>
                    <a:lumOff val="15000"/>
                  </a:schemeClr>
                </a:solidFill>
                <a:latin typeface="맑은 고딕" panose="020B0503020000020004" pitchFamily="50" charset="-127"/>
              </a:rPr>
              <a:t>G2b</a:t>
            </a:r>
            <a:r>
              <a:rPr lang="ko-KR" altLang="en-US" sz="700" dirty="0">
                <a:solidFill>
                  <a:schemeClr val="tx1">
                    <a:lumMod val="85000"/>
                    <a:lumOff val="15000"/>
                  </a:schemeClr>
                </a:solidFill>
                <a:latin typeface="맑은 고딕" panose="020B0503020000020004" pitchFamily="50" charset="-127"/>
              </a:rPr>
              <a:t>에 등록된 </a:t>
            </a:r>
            <a:r>
              <a:rPr lang="ko-KR" altLang="en-US" sz="700" dirty="0" err="1">
                <a:solidFill>
                  <a:schemeClr val="tx1">
                    <a:lumMod val="85000"/>
                    <a:lumOff val="15000"/>
                  </a:schemeClr>
                </a:solidFill>
                <a:latin typeface="맑은 고딕" panose="020B0503020000020004" pitchFamily="50" charset="-127"/>
              </a:rPr>
              <a:t>면허정보는</a:t>
            </a:r>
            <a:r>
              <a:rPr lang="ko-KR" altLang="en-US" sz="700" dirty="0">
                <a:solidFill>
                  <a:schemeClr val="tx1">
                    <a:lumMod val="85000"/>
                    <a:lumOff val="15000"/>
                  </a:schemeClr>
                </a:solidFill>
                <a:latin typeface="맑은 고딕" panose="020B0503020000020004" pitchFamily="50" charset="-127"/>
              </a:rPr>
              <a:t> 「업체정보관리</a:t>
            </a:r>
            <a:r>
              <a:rPr lang="en-US" altLang="ko-KR" sz="700" dirty="0">
                <a:solidFill>
                  <a:schemeClr val="tx1">
                    <a:lumMod val="85000"/>
                    <a:lumOff val="15000"/>
                  </a:schemeClr>
                </a:solidFill>
                <a:latin typeface="맑은 고딕" panose="020B0503020000020004" pitchFamily="50" charset="-127"/>
              </a:rPr>
              <a:t>_</a:t>
            </a:r>
            <a:r>
              <a:rPr lang="ko-KR" altLang="en-US" sz="700" dirty="0">
                <a:solidFill>
                  <a:schemeClr val="tx1">
                    <a:lumMod val="85000"/>
                    <a:lumOff val="15000"/>
                  </a:schemeClr>
                </a:solidFill>
                <a:latin typeface="맑은 고딕" panose="020B0503020000020004" pitchFamily="50" charset="-127"/>
              </a:rPr>
              <a:t>국내업체관리</a:t>
            </a:r>
            <a:r>
              <a:rPr lang="en-US" altLang="ko-KR" sz="700" dirty="0">
                <a:solidFill>
                  <a:schemeClr val="tx1">
                    <a:lumMod val="85000"/>
                    <a:lumOff val="15000"/>
                  </a:schemeClr>
                </a:solidFill>
                <a:latin typeface="맑은 고딕" panose="020B0503020000020004" pitchFamily="50" charset="-127"/>
              </a:rPr>
              <a:t>_</a:t>
            </a:r>
            <a:r>
              <a:rPr lang="ko-KR" altLang="en-US" sz="700" dirty="0">
                <a:solidFill>
                  <a:schemeClr val="tx1">
                    <a:lumMod val="85000"/>
                    <a:lumOff val="15000"/>
                  </a:schemeClr>
                </a:solidFill>
                <a:latin typeface="맑은 고딕" panose="020B0503020000020004" pitchFamily="50" charset="-127"/>
              </a:rPr>
              <a:t>국내업체정보조회</a:t>
            </a:r>
            <a:r>
              <a:rPr lang="en-US" altLang="ko-KR" sz="700" dirty="0">
                <a:solidFill>
                  <a:schemeClr val="tx1">
                    <a:lumMod val="85000"/>
                    <a:lumOff val="15000"/>
                  </a:schemeClr>
                </a:solidFill>
                <a:latin typeface="맑은 고딕" panose="020B0503020000020004" pitchFamily="50" charset="-127"/>
              </a:rPr>
              <a:t>_</a:t>
            </a:r>
            <a:r>
              <a:rPr lang="ko-KR" altLang="en-US" sz="700" dirty="0" err="1">
                <a:solidFill>
                  <a:schemeClr val="tx1">
                    <a:lumMod val="85000"/>
                    <a:lumOff val="15000"/>
                  </a:schemeClr>
                </a:solidFill>
                <a:latin typeface="맑은 고딕" panose="020B0503020000020004" pitchFamily="50" charset="-127"/>
              </a:rPr>
              <a:t>시설정보」에서</a:t>
            </a:r>
            <a:r>
              <a:rPr lang="ko-KR" altLang="en-US" sz="700" dirty="0">
                <a:solidFill>
                  <a:schemeClr val="tx1">
                    <a:lumMod val="85000"/>
                    <a:lumOff val="15000"/>
                  </a:schemeClr>
                </a:solidFill>
                <a:latin typeface="맑은 고딕" panose="020B0503020000020004" pitchFamily="50" charset="-127"/>
              </a:rPr>
              <a:t> 확인하시고 면허 설정의 오류 또는 </a:t>
            </a:r>
            <a:r>
              <a:rPr lang="ko-KR" altLang="en-US" sz="700" dirty="0" err="1">
                <a:solidFill>
                  <a:schemeClr val="tx1">
                    <a:lumMod val="85000"/>
                    <a:lumOff val="15000"/>
                  </a:schemeClr>
                </a:solidFill>
                <a:latin typeface="맑은 고딕" panose="020B0503020000020004" pitchFamily="50" charset="-127"/>
              </a:rPr>
              <a:t>공고내용과</a:t>
            </a:r>
            <a:r>
              <a:rPr lang="ko-KR" altLang="en-US" sz="700" dirty="0">
                <a:solidFill>
                  <a:schemeClr val="tx1">
                    <a:lumMod val="85000"/>
                    <a:lumOff val="15000"/>
                  </a:schemeClr>
                </a:solidFill>
                <a:latin typeface="맑은 고딕" panose="020B0503020000020004" pitchFamily="50" charset="-127"/>
              </a:rPr>
              <a:t> 상이한 면허 제한에 이의 있으면 하단의 문의처로 연락하시기 바랍니다</a:t>
            </a:r>
            <a:r>
              <a:rPr lang="en-US" altLang="ko-KR" sz="700" dirty="0">
                <a:solidFill>
                  <a:schemeClr val="tx1">
                    <a:lumMod val="85000"/>
                    <a:lumOff val="15000"/>
                  </a:schemeClr>
                </a:solidFill>
                <a:latin typeface="맑은 고딕" panose="020B0503020000020004" pitchFamily="50" charset="-127"/>
              </a:rPr>
              <a:t>.</a:t>
            </a:r>
          </a:p>
        </p:txBody>
      </p:sp>
      <p:sp>
        <p:nvSpPr>
          <p:cNvPr id="84" name="타원 83"/>
          <p:cNvSpPr/>
          <p:nvPr/>
        </p:nvSpPr>
        <p:spPr>
          <a:xfrm>
            <a:off x="789853" y="279006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5" name="그룹 84"/>
          <p:cNvGrpSpPr/>
          <p:nvPr/>
        </p:nvGrpSpPr>
        <p:grpSpPr>
          <a:xfrm flipV="1">
            <a:off x="3138674" y="2838563"/>
            <a:ext cx="94010" cy="47005"/>
            <a:chOff x="6812560" y="3297172"/>
            <a:chExt cx="94010" cy="47005"/>
          </a:xfrm>
        </p:grpSpPr>
        <p:cxnSp>
          <p:nvCxnSpPr>
            <p:cNvPr id="86" name="직선 연결선 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7" name="직선 연결선 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1" name="TextBox 100">
            <a:extLst>
              <a:ext uri="{FF2B5EF4-FFF2-40B4-BE49-F238E27FC236}">
                <a16:creationId xmlns:a16="http://schemas.microsoft.com/office/drawing/2014/main" id="{FFC49AEA-2A8F-250C-A86A-A7751D9706C3}"/>
              </a:ext>
            </a:extLst>
          </p:cNvPr>
          <p:cNvSpPr txBox="1"/>
          <p:nvPr/>
        </p:nvSpPr>
        <p:spPr>
          <a:xfrm>
            <a:off x="762146" y="4985472"/>
            <a:ext cx="728875" cy="215444"/>
          </a:xfrm>
          <a:prstGeom prst="rect">
            <a:avLst/>
          </a:prstGeom>
          <a:noFill/>
        </p:spPr>
        <p:txBody>
          <a:bodyPr wrap="square" lIns="0" tIns="0" rIns="0" bIns="0" rtlCol="0">
            <a:spAutoFit/>
          </a:bodyPr>
          <a:lstStyle/>
          <a:p>
            <a:pPr>
              <a:lnSpc>
                <a:spcPct val="200000"/>
              </a:lnSpc>
            </a:pPr>
            <a:r>
              <a:rPr lang="ko-KR" altLang="en-US" sz="700" dirty="0">
                <a:latin typeface="+mn-ea"/>
              </a:rPr>
              <a:t>시공능력평가제한</a:t>
            </a:r>
          </a:p>
        </p:txBody>
      </p:sp>
      <p:grpSp>
        <p:nvGrpSpPr>
          <p:cNvPr id="102" name="그룹 101"/>
          <p:cNvGrpSpPr/>
          <p:nvPr/>
        </p:nvGrpSpPr>
        <p:grpSpPr>
          <a:xfrm flipV="1">
            <a:off x="3124233" y="5098803"/>
            <a:ext cx="94010" cy="47005"/>
            <a:chOff x="6812560" y="3297172"/>
            <a:chExt cx="94010" cy="47005"/>
          </a:xfrm>
        </p:grpSpPr>
        <p:cxnSp>
          <p:nvCxnSpPr>
            <p:cNvPr id="110" name="직선 연결선 1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1" name="직선 연결선 11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9" name="직선 연결선 108">
            <a:extLst>
              <a:ext uri="{FF2B5EF4-FFF2-40B4-BE49-F238E27FC236}">
                <a16:creationId xmlns:a16="http://schemas.microsoft.com/office/drawing/2014/main" id="{E9293055-D5CD-4B9E-7F64-64B2D2CA7A52}"/>
              </a:ext>
            </a:extLst>
          </p:cNvPr>
          <p:cNvCxnSpPr/>
          <p:nvPr/>
        </p:nvCxnSpPr>
        <p:spPr>
          <a:xfrm>
            <a:off x="675399" y="615916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2" name="모서리가 둥근 직사각형 111"/>
          <p:cNvSpPr/>
          <p:nvPr/>
        </p:nvSpPr>
        <p:spPr>
          <a:xfrm>
            <a:off x="715616" y="5449887"/>
            <a:ext cx="2652743" cy="238521"/>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TextBox 113">
            <a:extLst>
              <a:ext uri="{FF2B5EF4-FFF2-40B4-BE49-F238E27FC236}">
                <a16:creationId xmlns:a16="http://schemas.microsoft.com/office/drawing/2014/main" id="{FFC49AEA-2A8F-250C-A86A-A7751D9706C3}"/>
              </a:ext>
            </a:extLst>
          </p:cNvPr>
          <p:cNvSpPr txBox="1"/>
          <p:nvPr/>
        </p:nvSpPr>
        <p:spPr>
          <a:xfrm>
            <a:off x="793812" y="5515286"/>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5" name="TextBox 114">
            <a:extLst>
              <a:ext uri="{FF2B5EF4-FFF2-40B4-BE49-F238E27FC236}">
                <a16:creationId xmlns:a16="http://schemas.microsoft.com/office/drawing/2014/main" id="{FFC49AEA-2A8F-250C-A86A-A7751D9706C3}"/>
              </a:ext>
            </a:extLst>
          </p:cNvPr>
          <p:cNvSpPr txBox="1"/>
          <p:nvPr/>
        </p:nvSpPr>
        <p:spPr>
          <a:xfrm>
            <a:off x="1125945" y="5515286"/>
            <a:ext cx="1233079"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업종명칭</a:t>
            </a:r>
            <a:endParaRPr lang="en-US" altLang="ko-KR" sz="700" dirty="0">
              <a:solidFill>
                <a:schemeClr val="tx1">
                  <a:lumMod val="85000"/>
                  <a:lumOff val="15000"/>
                </a:schemeClr>
              </a:solidFill>
              <a:latin typeface="맑은 고딕" panose="020B0503020000020004" pitchFamily="50" charset="-127"/>
            </a:endParaRPr>
          </a:p>
        </p:txBody>
      </p:sp>
      <p:sp>
        <p:nvSpPr>
          <p:cNvPr id="116" name="TextBox 115">
            <a:extLst>
              <a:ext uri="{FF2B5EF4-FFF2-40B4-BE49-F238E27FC236}">
                <a16:creationId xmlns:a16="http://schemas.microsoft.com/office/drawing/2014/main" id="{FFC49AEA-2A8F-250C-A86A-A7751D9706C3}"/>
              </a:ext>
            </a:extLst>
          </p:cNvPr>
          <p:cNvSpPr txBox="1"/>
          <p:nvPr/>
        </p:nvSpPr>
        <p:spPr>
          <a:xfrm>
            <a:off x="793812" y="5285533"/>
            <a:ext cx="247786"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그룹</a:t>
            </a:r>
            <a:endParaRPr lang="en-US" altLang="ko-KR" sz="600" dirty="0">
              <a:solidFill>
                <a:schemeClr val="tx1">
                  <a:lumMod val="85000"/>
                  <a:lumOff val="15000"/>
                </a:schemeClr>
              </a:solidFill>
              <a:latin typeface="맑은 고딕" panose="020B0503020000020004" pitchFamily="50" charset="-127"/>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2460625" y="5515286"/>
            <a:ext cx="808388" cy="107722"/>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000,000,000,000 </a:t>
            </a:r>
            <a:r>
              <a:rPr lang="ko-KR" altLang="en-US" sz="700" dirty="0">
                <a:solidFill>
                  <a:schemeClr val="tx1">
                    <a:lumMod val="85000"/>
                    <a:lumOff val="15000"/>
                  </a:schemeClr>
                </a:solidFill>
                <a:latin typeface="맑은 고딕" panose="020B0503020000020004" pitchFamily="50" charset="-127"/>
              </a:rPr>
              <a:t>원</a:t>
            </a:r>
            <a:endParaRPr lang="en-US" altLang="ko-KR" sz="700" dirty="0">
              <a:solidFill>
                <a:schemeClr val="tx1">
                  <a:lumMod val="85000"/>
                  <a:lumOff val="15000"/>
                </a:schemeClr>
              </a:solidFill>
              <a:latin typeface="맑은 고딕" panose="020B0503020000020004" pitchFamily="50" charset="-127"/>
            </a:endParaRPr>
          </a:p>
        </p:txBody>
      </p:sp>
      <p:sp>
        <p:nvSpPr>
          <p:cNvPr id="118" name="TextBox 117">
            <a:extLst>
              <a:ext uri="{FF2B5EF4-FFF2-40B4-BE49-F238E27FC236}">
                <a16:creationId xmlns:a16="http://schemas.microsoft.com/office/drawing/2014/main" id="{FFC49AEA-2A8F-250C-A86A-A7751D9706C3}"/>
              </a:ext>
            </a:extLst>
          </p:cNvPr>
          <p:cNvSpPr txBox="1"/>
          <p:nvPr/>
        </p:nvSpPr>
        <p:spPr>
          <a:xfrm>
            <a:off x="1125945" y="5285533"/>
            <a:ext cx="498650"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공종</a:t>
            </a:r>
            <a:r>
              <a:rPr lang="en-US" altLang="ko-KR" sz="600" dirty="0">
                <a:solidFill>
                  <a:schemeClr val="tx1">
                    <a:lumMod val="85000"/>
                    <a:lumOff val="15000"/>
                  </a:schemeClr>
                </a:solidFill>
                <a:latin typeface="맑은 고딕" panose="020B0503020000020004" pitchFamily="50" charset="-127"/>
              </a:rPr>
              <a:t>(</a:t>
            </a:r>
            <a:r>
              <a:rPr lang="ko-KR" altLang="en-US" sz="600" dirty="0">
                <a:solidFill>
                  <a:schemeClr val="tx1">
                    <a:lumMod val="85000"/>
                    <a:lumOff val="15000"/>
                  </a:schemeClr>
                </a:solidFill>
                <a:latin typeface="맑은 고딕" panose="020B0503020000020004" pitchFamily="50" charset="-127"/>
              </a:rPr>
              <a:t>업종</a:t>
            </a:r>
            <a:r>
              <a:rPr lang="en-US" altLang="ko-KR" sz="600" dirty="0">
                <a:solidFill>
                  <a:schemeClr val="tx1">
                    <a:lumMod val="85000"/>
                    <a:lumOff val="15000"/>
                  </a:schemeClr>
                </a:solidFill>
                <a:latin typeface="맑은 고딕" panose="020B0503020000020004" pitchFamily="50" charset="-127"/>
              </a:rPr>
              <a:t>)</a:t>
            </a:r>
            <a:r>
              <a:rPr lang="ko-KR" altLang="en-US" sz="600" dirty="0">
                <a:solidFill>
                  <a:schemeClr val="tx1">
                    <a:lumMod val="85000"/>
                    <a:lumOff val="15000"/>
                  </a:schemeClr>
                </a:solidFill>
                <a:latin typeface="맑은 고딕" panose="020B0503020000020004" pitchFamily="50" charset="-127"/>
              </a:rPr>
              <a:t>명</a:t>
            </a:r>
            <a:endParaRPr lang="en-US" altLang="ko-KR" sz="600" dirty="0">
              <a:solidFill>
                <a:schemeClr val="tx1">
                  <a:lumMod val="85000"/>
                  <a:lumOff val="15000"/>
                </a:schemeClr>
              </a:solidFill>
              <a:latin typeface="맑은 고딕" panose="020B0503020000020004" pitchFamily="50" charset="-127"/>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2653730" y="5285533"/>
            <a:ext cx="498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제한금액</a:t>
            </a:r>
            <a:endParaRPr lang="en-US" altLang="ko-KR" sz="600" dirty="0">
              <a:solidFill>
                <a:schemeClr val="tx1">
                  <a:lumMod val="85000"/>
                  <a:lumOff val="15000"/>
                </a:schemeClr>
              </a:solidFill>
              <a:latin typeface="맑은 고딕" panose="020B0503020000020004" pitchFamily="50" charset="-127"/>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3878080" y="1620037"/>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지명경쟁업체</a:t>
            </a:r>
            <a:endParaRPr lang="ko-KR" altLang="en-US" sz="700" dirty="0">
              <a:latin typeface="+mn-ea"/>
            </a:endParaRPr>
          </a:p>
        </p:txBody>
      </p:sp>
      <p:grpSp>
        <p:nvGrpSpPr>
          <p:cNvPr id="121" name="그룹 120"/>
          <p:cNvGrpSpPr/>
          <p:nvPr/>
        </p:nvGrpSpPr>
        <p:grpSpPr>
          <a:xfrm flipV="1">
            <a:off x="6240167" y="1733368"/>
            <a:ext cx="94010" cy="47005"/>
            <a:chOff x="6812560" y="3297172"/>
            <a:chExt cx="94010" cy="47005"/>
          </a:xfrm>
        </p:grpSpPr>
        <p:cxnSp>
          <p:nvCxnSpPr>
            <p:cNvPr id="122" name="직선 연결선 12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5" name="모서리가 둥근 직사각형 124"/>
          <p:cNvSpPr/>
          <p:nvPr/>
        </p:nvSpPr>
        <p:spPr>
          <a:xfrm>
            <a:off x="3831550" y="2084452"/>
            <a:ext cx="2652743" cy="547623"/>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TextBox 125">
            <a:extLst>
              <a:ext uri="{FF2B5EF4-FFF2-40B4-BE49-F238E27FC236}">
                <a16:creationId xmlns:a16="http://schemas.microsoft.com/office/drawing/2014/main" id="{FFC49AEA-2A8F-250C-A86A-A7751D9706C3}"/>
              </a:ext>
            </a:extLst>
          </p:cNvPr>
          <p:cNvSpPr txBox="1"/>
          <p:nvPr/>
        </p:nvSpPr>
        <p:spPr>
          <a:xfrm>
            <a:off x="3909746" y="2304402"/>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4332218" y="2142820"/>
            <a:ext cx="2071044" cy="430887"/>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업체코드</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업체명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대표자</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사업자등록번호</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주소</a:t>
            </a:r>
            <a:endParaRPr lang="en-US" altLang="ko-KR" sz="700" dirty="0">
              <a:solidFill>
                <a:schemeClr val="tx1">
                  <a:lumMod val="85000"/>
                  <a:lumOff val="15000"/>
                </a:schemeClr>
              </a:solidFill>
              <a:latin typeface="맑은 고딕" panose="020B0503020000020004" pitchFamily="50" charset="-127"/>
            </a:endParaRPr>
          </a:p>
        </p:txBody>
      </p:sp>
      <p:sp>
        <p:nvSpPr>
          <p:cNvPr id="128" name="TextBox 127">
            <a:extLst>
              <a:ext uri="{FF2B5EF4-FFF2-40B4-BE49-F238E27FC236}">
                <a16:creationId xmlns:a16="http://schemas.microsoft.com/office/drawing/2014/main" id="{FFC49AEA-2A8F-250C-A86A-A7751D9706C3}"/>
              </a:ext>
            </a:extLst>
          </p:cNvPr>
          <p:cNvSpPr txBox="1"/>
          <p:nvPr/>
        </p:nvSpPr>
        <p:spPr>
          <a:xfrm>
            <a:off x="3838314" y="1920098"/>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4332218" y="1920098"/>
            <a:ext cx="498650"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업체정보</a:t>
            </a:r>
            <a:endParaRPr lang="en-US" altLang="ko-KR" sz="600" dirty="0">
              <a:solidFill>
                <a:schemeClr val="tx1">
                  <a:lumMod val="85000"/>
                  <a:lumOff val="15000"/>
                </a:schemeClr>
              </a:solidFill>
              <a:latin typeface="맑은 고딕" panose="020B0503020000020004" pitchFamily="50" charset="-127"/>
            </a:endParaRPr>
          </a:p>
        </p:txBody>
      </p:sp>
      <p:sp>
        <p:nvSpPr>
          <p:cNvPr id="132" name="TextBox 131">
            <a:extLst>
              <a:ext uri="{FF2B5EF4-FFF2-40B4-BE49-F238E27FC236}">
                <a16:creationId xmlns:a16="http://schemas.microsoft.com/office/drawing/2014/main" id="{FFC49AEA-2A8F-250C-A86A-A7751D9706C3}"/>
              </a:ext>
            </a:extLst>
          </p:cNvPr>
          <p:cNvSpPr txBox="1"/>
          <p:nvPr/>
        </p:nvSpPr>
        <p:spPr>
          <a:xfrm>
            <a:off x="3878080" y="2878425"/>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133" name="그룹 132"/>
          <p:cNvGrpSpPr/>
          <p:nvPr/>
        </p:nvGrpSpPr>
        <p:grpSpPr>
          <a:xfrm flipV="1">
            <a:off x="6240167" y="2991756"/>
            <a:ext cx="94010" cy="47005"/>
            <a:chOff x="6812560" y="3297172"/>
            <a:chExt cx="94010" cy="47005"/>
          </a:xfrm>
        </p:grpSpPr>
        <p:cxnSp>
          <p:nvCxnSpPr>
            <p:cNvPr id="134" name="직선 연결선 13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5" name="직선 연결선 13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7" name="모서리가 둥근 직사각형 136"/>
          <p:cNvSpPr/>
          <p:nvPr/>
        </p:nvSpPr>
        <p:spPr>
          <a:xfrm>
            <a:off x="3831550" y="327681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a:extLst>
              <a:ext uri="{FF2B5EF4-FFF2-40B4-BE49-F238E27FC236}">
                <a16:creationId xmlns:a16="http://schemas.microsoft.com/office/drawing/2014/main" id="{FFC49AEA-2A8F-250C-A86A-A7751D9706C3}"/>
              </a:ext>
            </a:extLst>
          </p:cNvPr>
          <p:cNvSpPr txBox="1"/>
          <p:nvPr/>
        </p:nvSpPr>
        <p:spPr>
          <a:xfrm>
            <a:off x="4332218" y="3351332"/>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3909746" y="340519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44" name="타원 143"/>
          <p:cNvSpPr/>
          <p:nvPr/>
        </p:nvSpPr>
        <p:spPr>
          <a:xfrm>
            <a:off x="6191669" y="338705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5" name="모서리가 둥근 직사각형 144"/>
          <p:cNvSpPr/>
          <p:nvPr/>
        </p:nvSpPr>
        <p:spPr>
          <a:xfrm>
            <a:off x="3831550" y="368349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6" name="TextBox 145">
            <a:extLst>
              <a:ext uri="{FF2B5EF4-FFF2-40B4-BE49-F238E27FC236}">
                <a16:creationId xmlns:a16="http://schemas.microsoft.com/office/drawing/2014/main" id="{FFC49AEA-2A8F-250C-A86A-A7751D9706C3}"/>
              </a:ext>
            </a:extLst>
          </p:cNvPr>
          <p:cNvSpPr txBox="1"/>
          <p:nvPr/>
        </p:nvSpPr>
        <p:spPr>
          <a:xfrm>
            <a:off x="4332218" y="3758018"/>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3909746" y="381187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48" name="타원 147"/>
          <p:cNvSpPr/>
          <p:nvPr/>
        </p:nvSpPr>
        <p:spPr>
          <a:xfrm>
            <a:off x="6191669" y="379374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1" name="TextBox 150">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문의처</a:t>
            </a:r>
            <a:endParaRPr lang="ko-KR" altLang="en-US" sz="700" dirty="0">
              <a:latin typeface="+mn-ea"/>
            </a:endParaRPr>
          </a:p>
        </p:txBody>
      </p:sp>
      <p:grpSp>
        <p:nvGrpSpPr>
          <p:cNvPr id="152" name="그룹 151"/>
          <p:cNvGrpSpPr/>
          <p:nvPr/>
        </p:nvGrpSpPr>
        <p:grpSpPr>
          <a:xfrm flipV="1">
            <a:off x="6240167" y="4729163"/>
            <a:ext cx="94010" cy="47005"/>
            <a:chOff x="6812560" y="3297172"/>
            <a:chExt cx="94010" cy="47005"/>
          </a:xfrm>
        </p:grpSpPr>
        <p:cxnSp>
          <p:nvCxnSpPr>
            <p:cNvPr id="153" name="직선 연결선 1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4" name="직선 연결선 15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a:solidFill>
                  <a:schemeClr val="tx1">
                    <a:lumMod val="85000"/>
                    <a:lumOff val="15000"/>
                  </a:schemeClr>
                </a:solidFill>
                <a:latin typeface="맑은 고딕" panose="020B0503020000020004" pitchFamily="50" charset="-127"/>
              </a:rPr>
              <a:t>기관 부서명</a:t>
            </a:r>
            <a:endParaRPr lang="en-US" altLang="ko-KR" sz="600" dirty="0">
              <a:solidFill>
                <a:schemeClr val="tx1">
                  <a:lumMod val="85000"/>
                  <a:lumOff val="15000"/>
                </a:schemeClr>
              </a:solidFill>
              <a:latin typeface="맑은 고딕" panose="020B0503020000020004" pitchFamily="50" charset="-127"/>
            </a:endParaRPr>
          </a:p>
        </p:txBody>
      </p:sp>
      <p:sp>
        <p:nvSpPr>
          <p:cNvPr id="180" name="TextBox 179">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88" name="TextBox 187">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sp>
        <p:nvSpPr>
          <p:cNvPr id="257" name="타원 256">
            <a:extLst>
              <a:ext uri="{FF2B5EF4-FFF2-40B4-BE49-F238E27FC236}">
                <a16:creationId xmlns:a16="http://schemas.microsoft.com/office/drawing/2014/main" id="{37A7FF4F-0EAA-1463-560A-D5EC24416103}"/>
              </a:ext>
            </a:extLst>
          </p:cNvPr>
          <p:cNvSpPr/>
          <p:nvPr/>
        </p:nvSpPr>
        <p:spPr>
          <a:xfrm>
            <a:off x="3690133" y="16473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cxnSp>
        <p:nvCxnSpPr>
          <p:cNvPr id="124" name="직선 연결선 123">
            <a:extLst>
              <a:ext uri="{FF2B5EF4-FFF2-40B4-BE49-F238E27FC236}">
                <a16:creationId xmlns:a16="http://schemas.microsoft.com/office/drawing/2014/main" id="{E9293055-D5CD-4B9E-7F64-64B2D2CA7A52}"/>
              </a:ext>
            </a:extLst>
          </p:cNvPr>
          <p:cNvCxnSpPr/>
          <p:nvPr/>
        </p:nvCxnSpPr>
        <p:spPr>
          <a:xfrm>
            <a:off x="3795735" y="275425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3795735" y="4480713"/>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3" name="모서리가 둥근 직사각형 192"/>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4" name="TextBox 193">
            <a:extLst>
              <a:ext uri="{FF2B5EF4-FFF2-40B4-BE49-F238E27FC236}">
                <a16:creationId xmlns:a16="http://schemas.microsoft.com/office/drawing/2014/main" id="{FFC49AEA-2A8F-250C-A86A-A7751D9706C3}"/>
              </a:ext>
            </a:extLst>
          </p:cNvPr>
          <p:cNvSpPr txBox="1"/>
          <p:nvPr/>
        </p:nvSpPr>
        <p:spPr>
          <a:xfrm>
            <a:off x="3963885" y="5206692"/>
            <a:ext cx="493904"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방위사업청</a:t>
            </a:r>
            <a:endParaRPr lang="en-US" altLang="ko-KR" sz="700" dirty="0">
              <a:solidFill>
                <a:schemeClr val="tx1">
                  <a:lumMod val="85000"/>
                  <a:lumOff val="15000"/>
                </a:schemeClr>
              </a:solidFill>
              <a:latin typeface="맑은 고딕" panose="020B0503020000020004" pitchFamily="50" charset="-127"/>
            </a:endParaRPr>
          </a:p>
        </p:txBody>
      </p:sp>
      <p:sp>
        <p:nvSpPr>
          <p:cNvPr id="195" name="TextBox 194">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홍길동 </a:t>
            </a:r>
            <a:r>
              <a:rPr lang="ko-KR" altLang="en-US" sz="700" dirty="0" err="1">
                <a:solidFill>
                  <a:schemeClr val="tx1">
                    <a:lumMod val="85000"/>
                    <a:lumOff val="15000"/>
                  </a:schemeClr>
                </a:solidFill>
                <a:latin typeface="맑은 고딕" panose="020B0503020000020004" pitchFamily="50" charset="-127"/>
              </a:rPr>
              <a:t>주무관</a:t>
            </a:r>
            <a:endParaRPr lang="en-US" altLang="ko-KR" sz="700" dirty="0">
              <a:solidFill>
                <a:schemeClr val="tx1">
                  <a:lumMod val="85000"/>
                  <a:lumOff val="15000"/>
                </a:schemeClr>
              </a:solidFill>
              <a:latin typeface="맑은 고딕" panose="020B0503020000020004" pitchFamily="50" charset="-127"/>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sp>
        <p:nvSpPr>
          <p:cNvPr id="200" name="모서리가 둥근 직사각형 199"/>
          <p:cNvSpPr/>
          <p:nvPr/>
        </p:nvSpPr>
        <p:spPr>
          <a:xfrm>
            <a:off x="715616" y="4262602"/>
            <a:ext cx="2652743" cy="238521"/>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1" name="TextBox 200">
            <a:extLst>
              <a:ext uri="{FF2B5EF4-FFF2-40B4-BE49-F238E27FC236}">
                <a16:creationId xmlns:a16="http://schemas.microsoft.com/office/drawing/2014/main" id="{FFC49AEA-2A8F-250C-A86A-A7751D9706C3}"/>
              </a:ext>
            </a:extLst>
          </p:cNvPr>
          <p:cNvSpPr txBox="1"/>
          <p:nvPr/>
        </p:nvSpPr>
        <p:spPr>
          <a:xfrm>
            <a:off x="793812" y="432800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202" name="TextBox 201">
            <a:extLst>
              <a:ext uri="{FF2B5EF4-FFF2-40B4-BE49-F238E27FC236}">
                <a16:creationId xmlns:a16="http://schemas.microsoft.com/office/drawing/2014/main" id="{FFC49AEA-2A8F-250C-A86A-A7751D9706C3}"/>
              </a:ext>
            </a:extLst>
          </p:cNvPr>
          <p:cNvSpPr txBox="1"/>
          <p:nvPr/>
        </p:nvSpPr>
        <p:spPr>
          <a:xfrm>
            <a:off x="1125945" y="4328001"/>
            <a:ext cx="1556360" cy="107722"/>
          </a:xfrm>
          <a:prstGeom prst="rect">
            <a:avLst/>
          </a:prstGeom>
          <a:noFill/>
        </p:spPr>
        <p:txBody>
          <a:bodyPr wrap="square" lIns="0" tIns="0" rIns="0" bIns="0" rtlCol="0">
            <a:spAutoFit/>
          </a:bodyPr>
          <a:lstStyle>
            <a:defPPr>
              <a:defRPr lang="ko-KR"/>
            </a:defPPr>
            <a:lvl1pPr algn="r">
              <a:defRPr sz="700">
                <a:solidFill>
                  <a:schemeClr val="tx1">
                    <a:lumMod val="85000"/>
                    <a:lumOff val="15000"/>
                  </a:schemeClr>
                </a:solidFill>
                <a:latin typeface="맑은 고딕" panose="020B0503020000020004" pitchFamily="50" charset="-127"/>
              </a:defRPr>
            </a:lvl1pPr>
          </a:lstStyle>
          <a:p>
            <a:pPr algn="l"/>
            <a:r>
              <a:rPr lang="en-US" altLang="ko-KR" dirty="0"/>
              <a:t>[</a:t>
            </a:r>
            <a:r>
              <a:rPr lang="ko-KR" altLang="en-US" dirty="0" err="1"/>
              <a:t>면허제한</a:t>
            </a:r>
            <a:r>
              <a:rPr lang="en-US" altLang="ko-KR" dirty="0"/>
              <a:t>] </a:t>
            </a:r>
            <a:r>
              <a:rPr lang="ko-KR" altLang="en-US" dirty="0"/>
              <a:t>의료기기판매업</a:t>
            </a:r>
            <a:endParaRPr lang="en-US" altLang="ko-KR" dirty="0"/>
          </a:p>
        </p:txBody>
      </p:sp>
      <p:sp>
        <p:nvSpPr>
          <p:cNvPr id="205" name="모서리가 둥근 직사각형 204"/>
          <p:cNvSpPr/>
          <p:nvPr/>
        </p:nvSpPr>
        <p:spPr>
          <a:xfrm>
            <a:off x="715616" y="1937794"/>
            <a:ext cx="2652743" cy="238521"/>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6" name="TextBox 205">
            <a:extLst>
              <a:ext uri="{FF2B5EF4-FFF2-40B4-BE49-F238E27FC236}">
                <a16:creationId xmlns:a16="http://schemas.microsoft.com/office/drawing/2014/main" id="{FFC49AEA-2A8F-250C-A86A-A7751D9706C3}"/>
              </a:ext>
            </a:extLst>
          </p:cNvPr>
          <p:cNvSpPr txBox="1"/>
          <p:nvPr/>
        </p:nvSpPr>
        <p:spPr>
          <a:xfrm>
            <a:off x="793812" y="200319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207" name="TextBox 206">
            <a:extLst>
              <a:ext uri="{FF2B5EF4-FFF2-40B4-BE49-F238E27FC236}">
                <a16:creationId xmlns:a16="http://schemas.microsoft.com/office/drawing/2014/main" id="{FFC49AEA-2A8F-250C-A86A-A7751D9706C3}"/>
              </a:ext>
            </a:extLst>
          </p:cNvPr>
          <p:cNvSpPr txBox="1"/>
          <p:nvPr/>
        </p:nvSpPr>
        <p:spPr>
          <a:xfrm>
            <a:off x="1125945" y="2003193"/>
            <a:ext cx="1689495" cy="107722"/>
          </a:xfrm>
          <a:prstGeom prst="rect">
            <a:avLst/>
          </a:prstGeom>
          <a:noFill/>
        </p:spPr>
        <p:txBody>
          <a:bodyPr wrap="square" lIns="0" tIns="0" rIns="0" bIns="0" rtlCol="0">
            <a:spAutoFit/>
          </a:bodyPr>
          <a:lstStyle>
            <a:defPPr>
              <a:defRPr lang="ko-KR"/>
            </a:defPPr>
            <a:lvl1pPr algn="ctr">
              <a:defRPr sz="700">
                <a:solidFill>
                  <a:schemeClr val="tx1">
                    <a:lumMod val="85000"/>
                    <a:lumOff val="15000"/>
                  </a:schemeClr>
                </a:solidFill>
                <a:latin typeface="맑은 고딕" panose="020B0503020000020004" pitchFamily="50" charset="-127"/>
              </a:defRPr>
            </a:lvl1pPr>
          </a:lstStyle>
          <a:p>
            <a:pPr algn="l"/>
            <a:r>
              <a:rPr lang="ko-KR" altLang="en-US" dirty="0"/>
              <a:t>서울특별시</a:t>
            </a:r>
            <a:endParaRPr lang="en-US" altLang="ko-KR" dirty="0"/>
          </a:p>
        </p:txBody>
      </p:sp>
      <p:cxnSp>
        <p:nvCxnSpPr>
          <p:cNvPr id="204" name="직선 연결선 203">
            <a:extLst>
              <a:ext uri="{FF2B5EF4-FFF2-40B4-BE49-F238E27FC236}">
                <a16:creationId xmlns:a16="http://schemas.microsoft.com/office/drawing/2014/main" id="{E9293055-D5CD-4B9E-7F64-64B2D2CA7A52}"/>
              </a:ext>
            </a:extLst>
          </p:cNvPr>
          <p:cNvCxnSpPr/>
          <p:nvPr/>
        </p:nvCxnSpPr>
        <p:spPr>
          <a:xfrm>
            <a:off x="675399" y="492264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675399" y="228949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0" name="TextBox 209">
            <a:extLst>
              <a:ext uri="{FF2B5EF4-FFF2-40B4-BE49-F238E27FC236}">
                <a16:creationId xmlns:a16="http://schemas.microsoft.com/office/drawing/2014/main" id="{FFC49AEA-2A8F-250C-A86A-A7751D9706C3}"/>
              </a:ext>
            </a:extLst>
          </p:cNvPr>
          <p:cNvSpPr txBox="1"/>
          <p:nvPr/>
        </p:nvSpPr>
        <p:spPr>
          <a:xfrm>
            <a:off x="4332218" y="3141693"/>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211" name="TextBox 210">
            <a:extLst>
              <a:ext uri="{FF2B5EF4-FFF2-40B4-BE49-F238E27FC236}">
                <a16:creationId xmlns:a16="http://schemas.microsoft.com/office/drawing/2014/main" id="{FFC49AEA-2A8F-250C-A86A-A7751D9706C3}"/>
              </a:ext>
            </a:extLst>
          </p:cNvPr>
          <p:cNvSpPr txBox="1"/>
          <p:nvPr/>
        </p:nvSpPr>
        <p:spPr>
          <a:xfrm>
            <a:off x="6101185" y="3141693"/>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793812" y="4118569"/>
            <a:ext cx="247786"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그룹</a:t>
            </a:r>
            <a:endParaRPr lang="en-US" altLang="ko-KR" sz="600" dirty="0">
              <a:solidFill>
                <a:schemeClr val="tx1">
                  <a:lumMod val="85000"/>
                  <a:lumOff val="15000"/>
                </a:schemeClr>
              </a:solidFill>
              <a:latin typeface="맑은 고딕" panose="020B0503020000020004" pitchFamily="50" charset="-127"/>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1125945" y="4118569"/>
            <a:ext cx="696976"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명칭</a:t>
            </a:r>
            <a:endParaRPr lang="en-US" altLang="ko-KR" sz="600" dirty="0">
              <a:solidFill>
                <a:schemeClr val="tx1">
                  <a:lumMod val="85000"/>
                  <a:lumOff val="15000"/>
                </a:schemeClr>
              </a:solidFill>
              <a:latin typeface="맑은 고딕" panose="020B0503020000020004" pitchFamily="50" charset="-127"/>
            </a:endParaRPr>
          </a:p>
        </p:txBody>
      </p:sp>
      <p:sp>
        <p:nvSpPr>
          <p:cNvPr id="214" name="TextBox 213">
            <a:extLst>
              <a:ext uri="{FF2B5EF4-FFF2-40B4-BE49-F238E27FC236}">
                <a16:creationId xmlns:a16="http://schemas.microsoft.com/office/drawing/2014/main" id="{FFC49AEA-2A8F-250C-A86A-A7751D9706C3}"/>
              </a:ext>
            </a:extLst>
          </p:cNvPr>
          <p:cNvSpPr txBox="1"/>
          <p:nvPr/>
        </p:nvSpPr>
        <p:spPr>
          <a:xfrm>
            <a:off x="793812" y="1792037"/>
            <a:ext cx="247786"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그룹</a:t>
            </a:r>
            <a:endParaRPr lang="en-US" altLang="ko-KR" sz="600" dirty="0">
              <a:solidFill>
                <a:schemeClr val="tx1">
                  <a:lumMod val="85000"/>
                  <a:lumOff val="15000"/>
                </a:schemeClr>
              </a:solidFill>
              <a:latin typeface="맑은 고딕" panose="020B0503020000020004" pitchFamily="50" charset="-127"/>
            </a:endParaRPr>
          </a:p>
        </p:txBody>
      </p:sp>
      <p:sp>
        <p:nvSpPr>
          <p:cNvPr id="215" name="TextBox 214">
            <a:extLst>
              <a:ext uri="{FF2B5EF4-FFF2-40B4-BE49-F238E27FC236}">
                <a16:creationId xmlns:a16="http://schemas.microsoft.com/office/drawing/2014/main" id="{FFC49AEA-2A8F-250C-A86A-A7751D9706C3}"/>
              </a:ext>
            </a:extLst>
          </p:cNvPr>
          <p:cNvSpPr txBox="1"/>
          <p:nvPr/>
        </p:nvSpPr>
        <p:spPr>
          <a:xfrm>
            <a:off x="1125945" y="1792037"/>
            <a:ext cx="696976"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지역</a:t>
            </a:r>
            <a:endParaRPr lang="en-US" altLang="ko-KR" sz="600" dirty="0">
              <a:solidFill>
                <a:schemeClr val="tx1">
                  <a:lumMod val="85000"/>
                  <a:lumOff val="15000"/>
                </a:schemeClr>
              </a:solidFill>
              <a:latin typeface="맑은 고딕" panose="020B0503020000020004" pitchFamily="50" charset="-127"/>
            </a:endParaRPr>
          </a:p>
        </p:txBody>
      </p:sp>
      <p:sp>
        <p:nvSpPr>
          <p:cNvPr id="216" name="모서리가 둥근 직사각형 215"/>
          <p:cNvSpPr/>
          <p:nvPr/>
        </p:nvSpPr>
        <p:spPr>
          <a:xfrm>
            <a:off x="715616" y="5750278"/>
            <a:ext cx="2652743" cy="343488"/>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7" name="TextBox 216">
            <a:extLst>
              <a:ext uri="{FF2B5EF4-FFF2-40B4-BE49-F238E27FC236}">
                <a16:creationId xmlns:a16="http://schemas.microsoft.com/office/drawing/2014/main" id="{FFC49AEA-2A8F-250C-A86A-A7751D9706C3}"/>
              </a:ext>
            </a:extLst>
          </p:cNvPr>
          <p:cNvSpPr txBox="1"/>
          <p:nvPr/>
        </p:nvSpPr>
        <p:spPr>
          <a:xfrm>
            <a:off x="793812" y="58681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218" name="TextBox 217">
            <a:extLst>
              <a:ext uri="{FF2B5EF4-FFF2-40B4-BE49-F238E27FC236}">
                <a16:creationId xmlns:a16="http://schemas.microsoft.com/office/drawing/2014/main" id="{FFC49AEA-2A8F-250C-A86A-A7751D9706C3}"/>
              </a:ext>
            </a:extLst>
          </p:cNvPr>
          <p:cNvSpPr txBox="1"/>
          <p:nvPr/>
        </p:nvSpPr>
        <p:spPr>
          <a:xfrm>
            <a:off x="1125945" y="5814300"/>
            <a:ext cx="1233079"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업종명칭</a:t>
            </a:r>
            <a:r>
              <a:rPr lang="ko-KR" altLang="en-US" sz="700" dirty="0">
                <a:solidFill>
                  <a:schemeClr val="tx1">
                    <a:lumMod val="85000"/>
                    <a:lumOff val="15000"/>
                  </a:schemeClr>
                </a:solidFill>
                <a:latin typeface="맑은 고딕" panose="020B0503020000020004" pitchFamily="50" charset="-127"/>
              </a:rPr>
              <a:t> </a:t>
            </a:r>
            <a:r>
              <a:rPr lang="en-US" altLang="ko-KR" sz="700" dirty="0">
                <a:solidFill>
                  <a:schemeClr val="tx1">
                    <a:lumMod val="85000"/>
                    <a:lumOff val="15000"/>
                  </a:schemeClr>
                </a:solidFill>
                <a:latin typeface="맑은 고딕" panose="020B0503020000020004" pitchFamily="50" charset="-127"/>
              </a:rPr>
              <a:t>1</a:t>
            </a:r>
          </a:p>
          <a:p>
            <a:r>
              <a:rPr lang="ko-KR" altLang="en-US" sz="700" dirty="0" err="1">
                <a:solidFill>
                  <a:schemeClr val="tx1">
                    <a:lumMod val="85000"/>
                    <a:lumOff val="15000"/>
                  </a:schemeClr>
                </a:solidFill>
                <a:latin typeface="맑은 고딕" panose="020B0503020000020004" pitchFamily="50" charset="-127"/>
              </a:rPr>
              <a:t>업종명칭</a:t>
            </a:r>
            <a:r>
              <a:rPr lang="ko-KR" altLang="en-US" sz="700" dirty="0">
                <a:solidFill>
                  <a:schemeClr val="tx1">
                    <a:lumMod val="85000"/>
                    <a:lumOff val="15000"/>
                  </a:schemeClr>
                </a:solidFill>
                <a:latin typeface="맑은 고딕" panose="020B0503020000020004" pitchFamily="50" charset="-127"/>
              </a:rPr>
              <a:t> </a:t>
            </a:r>
            <a:r>
              <a:rPr lang="en-US" altLang="ko-KR" sz="700" dirty="0">
                <a:solidFill>
                  <a:schemeClr val="tx1">
                    <a:lumMod val="85000"/>
                    <a:lumOff val="15000"/>
                  </a:schemeClr>
                </a:solidFill>
                <a:latin typeface="맑은 고딕" panose="020B0503020000020004" pitchFamily="50" charset="-127"/>
              </a:rPr>
              <a:t>2</a:t>
            </a:r>
          </a:p>
        </p:txBody>
      </p:sp>
      <p:sp>
        <p:nvSpPr>
          <p:cNvPr id="219" name="TextBox 218">
            <a:extLst>
              <a:ext uri="{FF2B5EF4-FFF2-40B4-BE49-F238E27FC236}">
                <a16:creationId xmlns:a16="http://schemas.microsoft.com/office/drawing/2014/main" id="{FFC49AEA-2A8F-250C-A86A-A7751D9706C3}"/>
              </a:ext>
            </a:extLst>
          </p:cNvPr>
          <p:cNvSpPr txBox="1"/>
          <p:nvPr/>
        </p:nvSpPr>
        <p:spPr>
          <a:xfrm>
            <a:off x="2460625" y="5814300"/>
            <a:ext cx="808388" cy="215444"/>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000,000,000,000 </a:t>
            </a:r>
            <a:r>
              <a:rPr lang="ko-KR" altLang="en-US" sz="700" dirty="0">
                <a:solidFill>
                  <a:schemeClr val="tx1">
                    <a:lumMod val="85000"/>
                    <a:lumOff val="15000"/>
                  </a:schemeClr>
                </a:solidFill>
                <a:latin typeface="맑은 고딕" panose="020B0503020000020004" pitchFamily="50" charset="-127"/>
              </a:rPr>
              <a:t>원</a:t>
            </a:r>
            <a:endParaRPr lang="en-US" altLang="ko-KR" sz="700" dirty="0">
              <a:solidFill>
                <a:schemeClr val="tx1">
                  <a:lumMod val="85000"/>
                  <a:lumOff val="15000"/>
                </a:schemeClr>
              </a:solidFill>
              <a:latin typeface="맑은 고딕" panose="020B0503020000020004" pitchFamily="50" charset="-127"/>
            </a:endParaRPr>
          </a:p>
          <a:p>
            <a:pPr algn="r"/>
            <a:r>
              <a:rPr lang="en-US" altLang="ko-KR" sz="700" dirty="0">
                <a:solidFill>
                  <a:schemeClr val="tx1">
                    <a:lumMod val="85000"/>
                    <a:lumOff val="15000"/>
                  </a:schemeClr>
                </a:solidFill>
                <a:latin typeface="맑은 고딕" panose="020B0503020000020004" pitchFamily="50" charset="-127"/>
              </a:rPr>
              <a:t>000,000,000,000 </a:t>
            </a:r>
            <a:r>
              <a:rPr lang="ko-KR" altLang="en-US" sz="700" dirty="0">
                <a:solidFill>
                  <a:schemeClr val="tx1">
                    <a:lumMod val="85000"/>
                    <a:lumOff val="15000"/>
                  </a:schemeClr>
                </a:solidFill>
                <a:latin typeface="맑은 고딕" panose="020B0503020000020004" pitchFamily="50" charset="-127"/>
              </a:rPr>
              <a:t>원</a:t>
            </a:r>
            <a:endParaRPr lang="en-US" altLang="ko-KR" sz="700" dirty="0">
              <a:solidFill>
                <a:schemeClr val="tx1">
                  <a:lumMod val="85000"/>
                  <a:lumOff val="15000"/>
                </a:schemeClr>
              </a:solidFill>
              <a:latin typeface="맑은 고딕" panose="020B0503020000020004" pitchFamily="50" charset="-127"/>
            </a:endParaRPr>
          </a:p>
        </p:txBody>
      </p:sp>
      <p:sp>
        <p:nvSpPr>
          <p:cNvPr id="220" name="TextBox 219">
            <a:extLst>
              <a:ext uri="{FF2B5EF4-FFF2-40B4-BE49-F238E27FC236}">
                <a16:creationId xmlns:a16="http://schemas.microsoft.com/office/drawing/2014/main" id="{FFC49AEA-2A8F-250C-A86A-A7751D9706C3}"/>
              </a:ext>
            </a:extLst>
          </p:cNvPr>
          <p:cNvSpPr txBox="1"/>
          <p:nvPr/>
        </p:nvSpPr>
        <p:spPr>
          <a:xfrm>
            <a:off x="2886211" y="1792037"/>
            <a:ext cx="382802"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지역코드</a:t>
            </a:r>
            <a:endParaRPr lang="en-US" altLang="ko-KR" sz="600" dirty="0">
              <a:solidFill>
                <a:schemeClr val="tx1">
                  <a:lumMod val="85000"/>
                  <a:lumOff val="15000"/>
                </a:schemeClr>
              </a:solidFill>
              <a:latin typeface="맑은 고딕" panose="020B0503020000020004" pitchFamily="50" charset="-127"/>
            </a:endParaRPr>
          </a:p>
        </p:txBody>
      </p:sp>
      <p:sp>
        <p:nvSpPr>
          <p:cNvPr id="221" name="TextBox 220">
            <a:extLst>
              <a:ext uri="{FF2B5EF4-FFF2-40B4-BE49-F238E27FC236}">
                <a16:creationId xmlns:a16="http://schemas.microsoft.com/office/drawing/2014/main" id="{FFC49AEA-2A8F-250C-A86A-A7751D9706C3}"/>
              </a:ext>
            </a:extLst>
          </p:cNvPr>
          <p:cNvSpPr txBox="1"/>
          <p:nvPr/>
        </p:nvSpPr>
        <p:spPr>
          <a:xfrm>
            <a:off x="2886212" y="2003193"/>
            <a:ext cx="382801" cy="107722"/>
          </a:xfrm>
          <a:prstGeom prst="rect">
            <a:avLst/>
          </a:prstGeom>
          <a:noFill/>
        </p:spPr>
        <p:txBody>
          <a:bodyPr wrap="square" lIns="0" tIns="0" rIns="0" bIns="0" rtlCol="0">
            <a:spAutoFit/>
          </a:bodyPr>
          <a:lstStyle>
            <a:defPPr>
              <a:defRPr lang="ko-KR"/>
            </a:defPPr>
            <a:lvl1pPr algn="ctr">
              <a:defRPr sz="700">
                <a:solidFill>
                  <a:schemeClr val="tx1">
                    <a:lumMod val="85000"/>
                    <a:lumOff val="15000"/>
                  </a:schemeClr>
                </a:solidFill>
                <a:latin typeface="맑은 고딕" panose="020B0503020000020004" pitchFamily="50" charset="-127"/>
              </a:defRPr>
            </a:lvl1pPr>
          </a:lstStyle>
          <a:p>
            <a:r>
              <a:rPr lang="en-US" altLang="ko-KR" dirty="0"/>
              <a:t>[11000]</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2922563" y="4328001"/>
            <a:ext cx="326737" cy="107722"/>
          </a:xfrm>
          <a:prstGeom prst="rect">
            <a:avLst/>
          </a:prstGeom>
          <a:noFill/>
        </p:spPr>
        <p:txBody>
          <a:bodyPr wrap="square" lIns="0" tIns="0" rIns="0" bIns="0" rtlCol="0">
            <a:spAutoFit/>
          </a:bodyPr>
          <a:lstStyle>
            <a:defPPr>
              <a:defRPr lang="ko-KR"/>
            </a:defPPr>
            <a:lvl1pPr algn="r">
              <a:defRPr sz="700">
                <a:solidFill>
                  <a:schemeClr val="tx1">
                    <a:lumMod val="85000"/>
                    <a:lumOff val="15000"/>
                  </a:schemeClr>
                </a:solidFill>
                <a:latin typeface="맑은 고딕" panose="020B0503020000020004" pitchFamily="50" charset="-127"/>
              </a:defRPr>
            </a:lvl1pPr>
          </a:lstStyle>
          <a:p>
            <a:pPr algn="ctr"/>
            <a:r>
              <a:rPr lang="en-US" altLang="ko-KR" dirty="0"/>
              <a:t>[5312]</a:t>
            </a:r>
          </a:p>
        </p:txBody>
      </p:sp>
      <p:sp>
        <p:nvSpPr>
          <p:cNvPr id="223" name="TextBox 222">
            <a:extLst>
              <a:ext uri="{FF2B5EF4-FFF2-40B4-BE49-F238E27FC236}">
                <a16:creationId xmlns:a16="http://schemas.microsoft.com/office/drawing/2014/main" id="{FFC49AEA-2A8F-250C-A86A-A7751D9706C3}"/>
              </a:ext>
            </a:extLst>
          </p:cNvPr>
          <p:cNvSpPr txBox="1"/>
          <p:nvPr/>
        </p:nvSpPr>
        <p:spPr>
          <a:xfrm>
            <a:off x="2879387" y="4118569"/>
            <a:ext cx="413088"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면허코드</a:t>
            </a:r>
            <a:endParaRPr lang="en-US" altLang="ko-KR" sz="600" dirty="0">
              <a:solidFill>
                <a:schemeClr val="tx1">
                  <a:lumMod val="85000"/>
                  <a:lumOff val="15000"/>
                </a:schemeClr>
              </a:solidFill>
              <a:latin typeface="맑은 고딕" panose="020B0503020000020004" pitchFamily="50" charset="-127"/>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3838314" y="3141693"/>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225" name="타원 224">
            <a:extLst>
              <a:ext uri="{FF2B5EF4-FFF2-40B4-BE49-F238E27FC236}">
                <a16:creationId xmlns:a16="http://schemas.microsoft.com/office/drawing/2014/main" id="{37A7FF4F-0EAA-1463-560A-D5EC24416103}"/>
              </a:ext>
            </a:extLst>
          </p:cNvPr>
          <p:cNvSpPr/>
          <p:nvPr/>
        </p:nvSpPr>
        <p:spPr>
          <a:xfrm>
            <a:off x="571127" y="503419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26" name="타원 225">
            <a:extLst>
              <a:ext uri="{FF2B5EF4-FFF2-40B4-BE49-F238E27FC236}">
                <a16:creationId xmlns:a16="http://schemas.microsoft.com/office/drawing/2014/main" id="{37A7FF4F-0EAA-1463-560A-D5EC24416103}"/>
              </a:ext>
            </a:extLst>
          </p:cNvPr>
          <p:cNvSpPr/>
          <p:nvPr/>
        </p:nvSpPr>
        <p:spPr>
          <a:xfrm>
            <a:off x="3690133" y="290890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
        <p:nvSpPr>
          <p:cNvPr id="227" name="타원 226">
            <a:extLst>
              <a:ext uri="{FF2B5EF4-FFF2-40B4-BE49-F238E27FC236}">
                <a16:creationId xmlns:a16="http://schemas.microsoft.com/office/drawing/2014/main" id="{37A7FF4F-0EAA-1463-560A-D5EC24416103}"/>
              </a:ext>
            </a:extLst>
          </p:cNvPr>
          <p:cNvSpPr/>
          <p:nvPr/>
        </p:nvSpPr>
        <p:spPr>
          <a:xfrm>
            <a:off x="3690133" y="464288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6</a:t>
            </a:r>
            <a:endParaRPr lang="ko-KR" altLang="en-US" sz="900" b="1" dirty="0"/>
          </a:p>
        </p:txBody>
      </p:sp>
      <p:sp>
        <p:nvSpPr>
          <p:cNvPr id="228" name="모서리가 둥근 직사각형 227"/>
          <p:cNvSpPr/>
          <p:nvPr/>
        </p:nvSpPr>
        <p:spPr>
          <a:xfrm>
            <a:off x="715616" y="4534773"/>
            <a:ext cx="2652743" cy="238521"/>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9" name="TextBox 228">
            <a:extLst>
              <a:ext uri="{FF2B5EF4-FFF2-40B4-BE49-F238E27FC236}">
                <a16:creationId xmlns:a16="http://schemas.microsoft.com/office/drawing/2014/main" id="{FFC49AEA-2A8F-250C-A86A-A7751D9706C3}"/>
              </a:ext>
            </a:extLst>
          </p:cNvPr>
          <p:cNvSpPr txBox="1"/>
          <p:nvPr/>
        </p:nvSpPr>
        <p:spPr>
          <a:xfrm>
            <a:off x="793812" y="4600172"/>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1125945" y="4600172"/>
            <a:ext cx="1556360" cy="107722"/>
          </a:xfrm>
          <a:prstGeom prst="rect">
            <a:avLst/>
          </a:prstGeom>
          <a:noFill/>
        </p:spPr>
        <p:txBody>
          <a:bodyPr wrap="square" lIns="0" tIns="0" rIns="0" bIns="0" rtlCol="0">
            <a:spAutoFit/>
          </a:bodyPr>
          <a:lstStyle>
            <a:defPPr>
              <a:defRPr lang="ko-KR"/>
            </a:defPPr>
            <a:lvl1pPr algn="r">
              <a:defRPr sz="700">
                <a:solidFill>
                  <a:schemeClr val="tx1">
                    <a:lumMod val="85000"/>
                    <a:lumOff val="15000"/>
                  </a:schemeClr>
                </a:solidFill>
                <a:latin typeface="맑은 고딕" panose="020B0503020000020004" pitchFamily="50" charset="-127"/>
              </a:defRPr>
            </a:lvl1pPr>
          </a:lstStyle>
          <a:p>
            <a:pPr algn="l"/>
            <a:r>
              <a:rPr lang="en-US" altLang="ko-KR" dirty="0"/>
              <a:t>[</a:t>
            </a:r>
            <a:r>
              <a:rPr lang="ko-KR" altLang="en-US" dirty="0"/>
              <a:t>공증</a:t>
            </a:r>
            <a:r>
              <a:rPr lang="en-US" altLang="ko-KR" dirty="0"/>
              <a:t>] </a:t>
            </a:r>
            <a:r>
              <a:rPr lang="ko-KR" altLang="en-US" dirty="0"/>
              <a:t>의료기기판매업</a:t>
            </a:r>
            <a:endParaRPr lang="en-US" altLang="ko-KR" dirty="0"/>
          </a:p>
        </p:txBody>
      </p:sp>
      <p:sp>
        <p:nvSpPr>
          <p:cNvPr id="235" name="TextBox 234">
            <a:extLst>
              <a:ext uri="{FF2B5EF4-FFF2-40B4-BE49-F238E27FC236}">
                <a16:creationId xmlns:a16="http://schemas.microsoft.com/office/drawing/2014/main" id="{FFC49AEA-2A8F-250C-A86A-A7751D9706C3}"/>
              </a:ext>
            </a:extLst>
          </p:cNvPr>
          <p:cNvSpPr txBox="1"/>
          <p:nvPr/>
        </p:nvSpPr>
        <p:spPr>
          <a:xfrm>
            <a:off x="2922563" y="4600172"/>
            <a:ext cx="326737" cy="107722"/>
          </a:xfrm>
          <a:prstGeom prst="rect">
            <a:avLst/>
          </a:prstGeom>
          <a:noFill/>
        </p:spPr>
        <p:txBody>
          <a:bodyPr wrap="square" lIns="0" tIns="0" rIns="0" bIns="0" rtlCol="0">
            <a:spAutoFit/>
          </a:bodyPr>
          <a:lstStyle>
            <a:defPPr>
              <a:defRPr lang="ko-KR"/>
            </a:defPPr>
            <a:lvl1pPr algn="r">
              <a:defRPr sz="700">
                <a:solidFill>
                  <a:schemeClr val="tx1">
                    <a:lumMod val="85000"/>
                    <a:lumOff val="15000"/>
                  </a:schemeClr>
                </a:solidFill>
                <a:latin typeface="맑은 고딕" panose="020B0503020000020004" pitchFamily="50" charset="-127"/>
              </a:defRPr>
            </a:lvl1pPr>
          </a:lstStyle>
          <a:p>
            <a:pPr algn="ctr"/>
            <a:r>
              <a:rPr lang="en-US" altLang="ko-KR" dirty="0"/>
              <a:t>[5312]</a:t>
            </a:r>
          </a:p>
        </p:txBody>
      </p:sp>
      <p:sp>
        <p:nvSpPr>
          <p:cNvPr id="247" name="TextBox 246">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41314229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28</a:t>
            </a:fld>
            <a:endParaRPr lang="ko-KR" altLang="en-US"/>
          </a:p>
        </p:txBody>
      </p:sp>
      <p:sp>
        <p:nvSpPr>
          <p:cNvPr id="2" name="TextBox 1">
            <a:extLst>
              <a:ext uri="{FF2B5EF4-FFF2-40B4-BE49-F238E27FC236}">
                <a16:creationId xmlns:a16="http://schemas.microsoft.com/office/drawing/2014/main" id="{2628823E-7D74-C311-A6E9-F7478194E7BB}"/>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3" name="Text Box 73">
            <a:extLst>
              <a:ext uri="{FF2B5EF4-FFF2-40B4-BE49-F238E27FC236}">
                <a16:creationId xmlns:a16="http://schemas.microsoft.com/office/drawing/2014/main" id="{1240B3F4-C021-14BC-41C7-C32BCB1DB2D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8" name="TextBox 7">
            <a:extLst>
              <a:ext uri="{FF2B5EF4-FFF2-40B4-BE49-F238E27FC236}">
                <a16:creationId xmlns:a16="http://schemas.microsoft.com/office/drawing/2014/main" id="{85697987-7A95-FDCB-F9A9-209C8E9928AB}"/>
              </a:ext>
            </a:extLst>
          </p:cNvPr>
          <p:cNvSpPr txBox="1"/>
          <p:nvPr/>
        </p:nvSpPr>
        <p:spPr>
          <a:xfrm>
            <a:off x="458117" y="809938"/>
            <a:ext cx="330275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err="1">
                <a:solidFill>
                  <a:prstClr val="black"/>
                </a:solidFill>
              </a:rPr>
              <a:t>입찰공고상세</a:t>
            </a:r>
            <a:r>
              <a:rPr lang="en-US" altLang="ko-KR" sz="900" b="1" dirty="0">
                <a:solidFill>
                  <a:prstClr val="black"/>
                </a:solidFill>
              </a:rPr>
              <a:t>-</a:t>
            </a:r>
            <a:r>
              <a:rPr lang="ko-KR" altLang="en-US" sz="900" b="1" dirty="0">
                <a:solidFill>
                  <a:prstClr val="black"/>
                </a:solidFill>
              </a:rPr>
              <a:t>공고일반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dmt_bidPbancGnrl</a:t>
            </a:r>
            <a:r>
              <a:rPr lang="en-US" altLang="ko-KR" sz="900" b="1" dirty="0">
                <a:solidFill>
                  <a:prstClr val="black"/>
                </a:solidFill>
              </a:rPr>
              <a: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E9A85EF9-B12D-E207-09D2-36ADAA91B1F7}"/>
              </a:ext>
            </a:extLst>
          </p:cNvPr>
          <p:cNvGraphicFramePr>
            <a:graphicFrameLocks noGrp="1"/>
          </p:cNvGraphicFramePr>
          <p:nvPr>
            <p:extLst>
              <p:ext uri="{D42A27DB-BD31-4B8C-83A1-F6EECF244321}">
                <p14:modId xmlns:p14="http://schemas.microsoft.com/office/powerpoint/2010/main" val="4291977699"/>
              </p:ext>
            </p:extLst>
          </p:nvPr>
        </p:nvGraphicFramePr>
        <p:xfrm>
          <a:off x="452999" y="1097925"/>
          <a:ext cx="8994884" cy="4122240"/>
        </p:xfrm>
        <a:graphic>
          <a:graphicData uri="http://schemas.openxmlformats.org/drawingml/2006/table">
            <a:tbl>
              <a:tblPr>
                <a:tableStyleId>{616DA210-FB5B-4158-B5E0-FEB733F419BA}</a:tableStyleId>
              </a:tblPr>
              <a:tblGrid>
                <a:gridCol w="1071001">
                  <a:extLst>
                    <a:ext uri="{9D8B030D-6E8A-4147-A177-3AD203B41FA5}">
                      <a16:colId xmlns:a16="http://schemas.microsoft.com/office/drawing/2014/main" val="20000"/>
                    </a:ext>
                  </a:extLst>
                </a:gridCol>
                <a:gridCol w="1125415">
                  <a:extLst>
                    <a:ext uri="{9D8B030D-6E8A-4147-A177-3AD203B41FA5}">
                      <a16:colId xmlns:a16="http://schemas.microsoft.com/office/drawing/2014/main" val="3804317184"/>
                    </a:ext>
                  </a:extLst>
                </a:gridCol>
                <a:gridCol w="2661139">
                  <a:extLst>
                    <a:ext uri="{9D8B030D-6E8A-4147-A177-3AD203B41FA5}">
                      <a16:colId xmlns:a16="http://schemas.microsoft.com/office/drawing/2014/main" val="20001"/>
                    </a:ext>
                  </a:extLst>
                </a:gridCol>
                <a:gridCol w="480646">
                  <a:extLst>
                    <a:ext uri="{9D8B030D-6E8A-4147-A177-3AD203B41FA5}">
                      <a16:colId xmlns:a16="http://schemas.microsoft.com/office/drawing/2014/main" val="20002"/>
                    </a:ext>
                  </a:extLst>
                </a:gridCol>
                <a:gridCol w="644769">
                  <a:extLst>
                    <a:ext uri="{9D8B030D-6E8A-4147-A177-3AD203B41FA5}">
                      <a16:colId xmlns:a16="http://schemas.microsoft.com/office/drawing/2014/main" val="20003"/>
                    </a:ext>
                  </a:extLst>
                </a:gridCol>
                <a:gridCol w="515816">
                  <a:extLst>
                    <a:ext uri="{9D8B030D-6E8A-4147-A177-3AD203B41FA5}">
                      <a16:colId xmlns:a16="http://schemas.microsoft.com/office/drawing/2014/main" val="20004"/>
                    </a:ext>
                  </a:extLst>
                </a:gridCol>
                <a:gridCol w="24960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pbancNo</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공고식별을 위한 고유번호</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공고차수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pbancCycl</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공고식별을 위한 고유번호의 차수</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0718819"/>
                  </a:ext>
                </a:extLst>
              </a:tr>
              <a:tr h="107474">
                <a:tc>
                  <a:txBody>
                    <a:bodyPr/>
                    <a:lstStyle/>
                    <a:p>
                      <a:pPr latinLnBrk="1"/>
                      <a:r>
                        <a:rPr lang="ko-KR" altLang="en-US" sz="800" dirty="0">
                          <a:latin typeface="+mn-ea"/>
                          <a:ea typeface="+mn-ea"/>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pbancYmd</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등록 일자</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err="1">
                          <a:latin typeface="+mn-ea"/>
                          <a:ea typeface="+mn-ea"/>
                        </a:rPr>
                        <a:t>yyyy</a:t>
                      </a:r>
                      <a:r>
                        <a:rPr lang="en-US" altLang="ko-KR" sz="800" dirty="0">
                          <a:latin typeface="+mn-ea"/>
                          <a:ea typeface="+mn-ea"/>
                        </a:rPr>
                        <a:t>-mm-dd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619533"/>
                  </a:ext>
                </a:extLst>
              </a:tr>
              <a:tr h="107474">
                <a:tc>
                  <a:txBody>
                    <a:bodyPr/>
                    <a:lstStyle/>
                    <a:p>
                      <a:pPr latinLnBrk="1"/>
                      <a:r>
                        <a:rPr lang="ko-KR" altLang="en-US" sz="800" dirty="0" err="1">
                          <a:latin typeface="+mn-ea"/>
                          <a:ea typeface="+mn-ea"/>
                        </a:rPr>
                        <a:t>공고명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rprsItemNm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rPr>
                        <a:t>공고명</a:t>
                      </a:r>
                      <a:r>
                        <a:rPr lang="ko-KR" altLang="en-US" sz="800" dirty="0">
                          <a:latin typeface="+mn-ea"/>
                        </a:rPr>
                        <a:t> 항목 조회 결과</a:t>
                      </a:r>
                      <a:r>
                        <a:rPr lang="en-US" altLang="ko-KR" sz="800" dirty="0">
                          <a:latin typeface="+mn-ea"/>
                        </a:rPr>
                        <a:t>(</a:t>
                      </a:r>
                      <a:r>
                        <a:rPr lang="ko-KR" altLang="en-US" sz="800" dirty="0">
                          <a:latin typeface="+mn-ea"/>
                        </a:rPr>
                        <a:t>업무구분이 </a:t>
                      </a:r>
                      <a:r>
                        <a:rPr lang="en-US" altLang="ko-KR" sz="800" dirty="0">
                          <a:latin typeface="+mn-ea"/>
                        </a:rPr>
                        <a:t>‘</a:t>
                      </a:r>
                      <a:r>
                        <a:rPr lang="ko-KR" altLang="en-US" sz="800" dirty="0">
                          <a:latin typeface="+mn-ea"/>
                        </a:rPr>
                        <a:t>물품</a:t>
                      </a:r>
                      <a:r>
                        <a:rPr lang="en-US" altLang="ko-KR" sz="800" dirty="0">
                          <a:latin typeface="+mn-ea"/>
                        </a:rPr>
                        <a:t>‘, ‘</a:t>
                      </a:r>
                      <a:r>
                        <a:rPr lang="ko-KR" altLang="en-US" sz="800" dirty="0">
                          <a:latin typeface="+mn-ea"/>
                        </a:rPr>
                        <a:t>용역</a:t>
                      </a:r>
                      <a:r>
                        <a:rPr lang="en-US" altLang="ko-KR" sz="800" dirty="0">
                          <a:latin typeface="+mn-ea"/>
                        </a:rPr>
                        <a:t>’</a:t>
                      </a:r>
                      <a:r>
                        <a:rPr lang="ko-KR" altLang="en-US" sz="800" dirty="0">
                          <a:latin typeface="+mn-ea"/>
                        </a:rPr>
                        <a:t>일 경우</a:t>
                      </a:r>
                      <a:r>
                        <a:rPr lang="en-US" altLang="ko-KR" sz="800" dirty="0">
                          <a:latin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641400"/>
                  </a:ext>
                </a:extLst>
              </a:tr>
              <a:tr h="107474">
                <a:tc>
                  <a:txBody>
                    <a:bodyPr/>
                    <a:lstStyle/>
                    <a:p>
                      <a:pPr latinLnBrk="1"/>
                      <a:r>
                        <a:rPr lang="ko-KR" altLang="en-US" sz="800" dirty="0" err="1">
                          <a:latin typeface="+mn-ea"/>
                          <a:ea typeface="+mn-ea"/>
                        </a:rPr>
                        <a:t>공사명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cstrnNm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rPr>
                        <a:t>공고명</a:t>
                      </a:r>
                      <a:r>
                        <a:rPr lang="ko-KR" altLang="en-US" sz="800" dirty="0">
                          <a:latin typeface="+mn-ea"/>
                        </a:rPr>
                        <a:t> 항목 조회 결과</a:t>
                      </a:r>
                      <a:r>
                        <a:rPr lang="en-US" altLang="ko-KR" sz="800" dirty="0">
                          <a:latin typeface="+mn-ea"/>
                        </a:rPr>
                        <a:t>(</a:t>
                      </a:r>
                      <a:r>
                        <a:rPr lang="ko-KR" altLang="en-US" sz="800" dirty="0">
                          <a:latin typeface="+mn-ea"/>
                        </a:rPr>
                        <a:t>업무구분이 </a:t>
                      </a:r>
                      <a:r>
                        <a:rPr lang="en-US" altLang="ko-KR" sz="800" dirty="0">
                          <a:latin typeface="+mn-ea"/>
                        </a:rPr>
                        <a:t>‘</a:t>
                      </a:r>
                      <a:r>
                        <a:rPr lang="ko-KR" altLang="en-US" sz="800" dirty="0">
                          <a:latin typeface="+mn-ea"/>
                        </a:rPr>
                        <a:t>공사</a:t>
                      </a:r>
                      <a:r>
                        <a:rPr lang="en-US" altLang="ko-KR" sz="800" dirty="0">
                          <a:latin typeface="+mn-ea"/>
                        </a:rPr>
                        <a:t>＇</a:t>
                      </a:r>
                      <a:r>
                        <a:rPr lang="ko-KR" altLang="en-US" sz="800" dirty="0">
                          <a:latin typeface="+mn-ea"/>
                        </a:rPr>
                        <a:t>일 경우</a:t>
                      </a:r>
                      <a:r>
                        <a:rPr lang="en-US" altLang="ko-KR" sz="800" dirty="0">
                          <a:latin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813818"/>
                  </a:ext>
                </a:extLst>
              </a:tr>
              <a:tr h="0">
                <a:tc>
                  <a:txBody>
                    <a:bodyPr/>
                    <a:lstStyle/>
                    <a:p>
                      <a:pPr latinLnBrk="1"/>
                      <a:r>
                        <a:rPr lang="ko-KR" altLang="en-US" sz="800" dirty="0">
                          <a:latin typeface="+mn-ea"/>
                          <a:ea typeface="+mn-ea"/>
                        </a:rPr>
                        <a:t>게재기관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pblctnInstNm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게재 기관명</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6719301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입찰공고의 </a:t>
                      </a:r>
                      <a:r>
                        <a:rPr lang="ko-KR" altLang="en-US" sz="800" dirty="0" err="1">
                          <a:latin typeface="+mn-ea"/>
                        </a:rPr>
                        <a:t>통합참조번호</a:t>
                      </a:r>
                      <a:r>
                        <a:rPr lang="ko-KR" altLang="en-US" sz="800" dirty="0">
                          <a:latin typeface="+mn-ea"/>
                        </a:rPr>
                        <a:t>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tc>
                  <a:txBody>
                    <a:bodyPr/>
                    <a:lstStyle/>
                    <a:p>
                      <a:pPr algn="ctr" latinLnBrk="1"/>
                      <a:r>
                        <a:rPr lang="en-US" altLang="ko-KR" sz="800" dirty="0">
                          <a:latin typeface="+mn-ea"/>
                          <a:ea typeface="+mn-ea"/>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tc>
                  <a:txBody>
                    <a:bodyPr/>
                    <a:lstStyle/>
                    <a:p>
                      <a:pPr algn="l" latinLnBrk="1"/>
                      <a:r>
                        <a:rPr lang="en-US" altLang="ko-KR" sz="800" dirty="0">
                          <a:latin typeface="+mn-ea"/>
                          <a:ea typeface="+mn-ea"/>
                        </a:rPr>
                        <a:t>As-Is: </a:t>
                      </a:r>
                      <a:r>
                        <a:rPr lang="ko-KR" altLang="en-US" sz="800" dirty="0" err="1">
                          <a:latin typeface="+mn-ea"/>
                          <a:ea typeface="+mn-ea"/>
                        </a:rPr>
                        <a:t>지시년도</a:t>
                      </a:r>
                      <a:r>
                        <a:rPr lang="en-US" altLang="ko-KR" sz="800" dirty="0">
                          <a:latin typeface="+mn-ea"/>
                          <a:ea typeface="+mn-ea"/>
                        </a:rPr>
                        <a:t>(4)+</a:t>
                      </a:r>
                      <a:r>
                        <a:rPr lang="ko-KR" altLang="en-US" sz="800" dirty="0">
                          <a:latin typeface="+mn-ea"/>
                          <a:ea typeface="+mn-ea"/>
                        </a:rPr>
                        <a:t>부서번호</a:t>
                      </a:r>
                      <a:r>
                        <a:rPr lang="en-US" altLang="ko-KR" sz="800" dirty="0">
                          <a:latin typeface="+mn-ea"/>
                          <a:ea typeface="+mn-ea"/>
                        </a:rPr>
                        <a:t>(3)+</a:t>
                      </a:r>
                      <a:r>
                        <a:rPr lang="ko-KR" altLang="en-US" sz="800" dirty="0">
                          <a:latin typeface="+mn-ea"/>
                          <a:ea typeface="+mn-ea"/>
                        </a:rPr>
                        <a:t>판단번호</a:t>
                      </a:r>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26488183"/>
                  </a:ext>
                </a:extLst>
              </a:tr>
              <a:tr h="0">
                <a:tc>
                  <a:txBody>
                    <a:bodyPr/>
                    <a:lstStyle/>
                    <a:p>
                      <a:pPr latinLnBrk="1"/>
                      <a:r>
                        <a:rPr lang="ko-KR" altLang="en-US" sz="800" dirty="0">
                          <a:latin typeface="+mn-ea"/>
                          <a:ea typeface="+mn-ea"/>
                        </a:rPr>
                        <a:t>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totalItemCnt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품목의 전체 </a:t>
                      </a:r>
                      <a:r>
                        <a:rPr lang="ko-KR" altLang="en-US" sz="800" dirty="0" err="1">
                          <a:latin typeface="+mn-ea"/>
                        </a:rPr>
                        <a:t>수량값</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a:t>
                      </a:r>
                      <a:r>
                        <a:rPr lang="ko-KR" altLang="en-US" sz="800" dirty="0">
                          <a:latin typeface="+mn-ea"/>
                          <a:ea typeface="+mn-ea"/>
                        </a:rPr>
                        <a:t>항목 </a:t>
                      </a:r>
                      <a:endParaRPr lang="en-US" altLang="ko-KR" sz="800" dirty="0">
                        <a:latin typeface="+mn-ea"/>
                        <a:ea typeface="+mn-ea"/>
                      </a:endParaRPr>
                    </a:p>
                    <a:p>
                      <a:pPr algn="l" latinLnBrk="1"/>
                      <a:r>
                        <a:rPr lang="en-US" altLang="ko-KR" sz="800" dirty="0">
                          <a:latin typeface="+mn-ea"/>
                          <a:ea typeface="+mn-ea"/>
                        </a:rPr>
                        <a:t>- </a:t>
                      </a:r>
                      <a:r>
                        <a:rPr lang="ko-KR" altLang="en-US" sz="800" dirty="0" err="1">
                          <a:latin typeface="+mn-ea"/>
                          <a:ea typeface="+mn-ea"/>
                        </a:rPr>
                        <a:t>조달판단납기납지철</a:t>
                      </a:r>
                      <a:r>
                        <a:rPr lang="ko-KR" altLang="en-US" sz="800" dirty="0">
                          <a:latin typeface="+mn-ea"/>
                          <a:ea typeface="+mn-ea"/>
                        </a:rPr>
                        <a:t> 테이블의 </a:t>
                      </a:r>
                      <a:r>
                        <a:rPr lang="ko-KR" altLang="en-US" sz="800" dirty="0" err="1">
                          <a:latin typeface="+mn-ea"/>
                          <a:ea typeface="+mn-ea"/>
                        </a:rPr>
                        <a:t>납지수량의</a:t>
                      </a:r>
                      <a:r>
                        <a:rPr lang="ko-KR" altLang="en-US" sz="800" dirty="0">
                          <a:latin typeface="+mn-ea"/>
                          <a:ea typeface="+mn-ea"/>
                        </a:rPr>
                        <a:t> 합계</a:t>
                      </a:r>
                      <a:endParaRPr lang="en-US" altLang="ko-KR" sz="800" dirty="0">
                        <a:latin typeface="+mn-ea"/>
                        <a:ea typeface="+mn-ea"/>
                      </a:endParaRPr>
                    </a:p>
                    <a:p>
                      <a:pPr algn="l" latinLnBrk="1"/>
                      <a:r>
                        <a:rPr lang="en-US" altLang="ko-KR" sz="800" dirty="0">
                          <a:latin typeface="+mn-ea"/>
                          <a:ea typeface="+mn-ea"/>
                        </a:rPr>
                        <a:t>- SUM(WTB_PDB213.DLVR_QNTY)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487152"/>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bizTpcd</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집행유형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:ETC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prcmNo</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판단번호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As-is : </a:t>
                      </a:r>
                      <a:r>
                        <a:rPr lang="ko-KR" altLang="en-US" sz="800" dirty="0">
                          <a:latin typeface="+mn-ea"/>
                          <a:ea typeface="+mn-ea"/>
                        </a:rPr>
                        <a:t>판단번호</a:t>
                      </a:r>
                      <a:r>
                        <a:rPr lang="en-US" altLang="ko-KR" sz="800" dirty="0">
                          <a:latin typeface="+mn-ea"/>
                          <a:ea typeface="+mn-ea"/>
                        </a:rPr>
                        <a:t>(DCSN_NUMB)</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orderInstNm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발주 기관명</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:RIC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401575"/>
                  </a:ext>
                </a:extLst>
              </a:tr>
              <a:tr h="0">
                <a:tc>
                  <a:txBody>
                    <a:bodyPr/>
                    <a:lstStyle/>
                    <a:p>
                      <a:pPr latinLnBrk="1"/>
                      <a:r>
                        <a:rPr lang="ko-KR" altLang="en-US" sz="800" dirty="0">
                          <a:latin typeface="+mn-ea"/>
                          <a:ea typeface="+mn-ea"/>
                        </a:rPr>
                        <a:t>입찰형태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elctrNgtnYn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입찰형태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a:t>
                      </a:r>
                      <a:r>
                        <a:rPr lang="ko-KR" altLang="en-US" sz="800" dirty="0">
                          <a:latin typeface="+mn-ea"/>
                          <a:ea typeface="+mn-ea"/>
                        </a:rPr>
                        <a:t>일반입찰</a:t>
                      </a:r>
                      <a:r>
                        <a:rPr lang="en-US" altLang="ko-KR" sz="800" dirty="0">
                          <a:latin typeface="+mn-ea"/>
                          <a:ea typeface="+mn-ea"/>
                        </a:rPr>
                        <a:t>, '2':</a:t>
                      </a:r>
                      <a:r>
                        <a:rPr lang="ko-KR" altLang="en-US" sz="800" dirty="0">
                          <a:latin typeface="+mn-ea"/>
                          <a:ea typeface="+mn-ea"/>
                        </a:rPr>
                        <a:t>전자입찰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5061971"/>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ctrtMthdNm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계약방법</a:t>
                      </a:r>
                      <a:r>
                        <a:rPr lang="en-US" altLang="ko-KR" sz="800" dirty="0">
                          <a:latin typeface="+mn-ea"/>
                        </a:rPr>
                        <a:t>(</a:t>
                      </a:r>
                      <a:r>
                        <a:rPr lang="ko-KR" altLang="en-US" sz="800" dirty="0">
                          <a:latin typeface="+mn-ea"/>
                        </a:rPr>
                        <a:t>명</a:t>
                      </a:r>
                      <a:r>
                        <a:rPr lang="en-US" altLang="ko-KR" sz="800" dirty="0">
                          <a:latin typeface="+mn-ea"/>
                        </a:rPr>
                        <a:t>)</a:t>
                      </a:r>
                      <a:r>
                        <a:rPr lang="ko-KR" altLang="en-US" sz="800" dirty="0">
                          <a:latin typeface="+mn-ea"/>
                        </a:rPr>
                        <a:t>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 </a:t>
                      </a:r>
                      <a:r>
                        <a:rPr lang="ko-KR" altLang="en-US" sz="800" dirty="0">
                          <a:latin typeface="+mn-ea"/>
                          <a:ea typeface="+mn-ea"/>
                        </a:rPr>
                        <a:t>항목</a:t>
                      </a:r>
                      <a:r>
                        <a:rPr lang="en-US" altLang="ko-KR" sz="800" dirty="0">
                          <a:latin typeface="+mn-ea"/>
                          <a:ea typeface="+mn-ea"/>
                        </a:rPr>
                        <a:t>.</a:t>
                      </a:r>
                      <a:r>
                        <a:rPr lang="en-US" altLang="ko-KR" sz="800" dirty="0">
                          <a:latin typeface="+mn-ea"/>
                        </a:rPr>
                        <a:t> </a:t>
                      </a:r>
                      <a:r>
                        <a:rPr lang="ko-KR" altLang="en-US" sz="800" dirty="0">
                          <a:latin typeface="+mn-ea"/>
                          <a:ea typeface="+mn-ea"/>
                        </a:rPr>
                        <a:t>상위코드</a:t>
                      </a:r>
                      <a:r>
                        <a:rPr lang="en-US" altLang="ko-KR" sz="800" dirty="0">
                          <a:latin typeface="+mn-ea"/>
                          <a:ea typeface="+mn-ea"/>
                        </a:rPr>
                        <a:t>:CTMC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130071"/>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bidMthd</a:t>
                      </a:r>
                      <a:r>
                        <a:rPr lang="en-US" altLang="ko-KR" sz="800" dirty="0" err="1">
                          <a:latin typeface="+mn-ea"/>
                          <a:ea typeface="+mn-ea"/>
                        </a:rPr>
                        <a:t>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입찰방법</a:t>
                      </a:r>
                      <a:r>
                        <a:rPr lang="en-US" altLang="ko-KR" sz="800" dirty="0">
                          <a:latin typeface="+mn-ea"/>
                        </a:rPr>
                        <a:t>(</a:t>
                      </a:r>
                      <a:r>
                        <a:rPr lang="ko-KR" altLang="en-US" sz="800" dirty="0">
                          <a:latin typeface="+mn-ea"/>
                        </a:rPr>
                        <a:t>명</a:t>
                      </a:r>
                      <a:r>
                        <a:rPr lang="en-US" altLang="ko-KR" sz="800" dirty="0">
                          <a:latin typeface="+mn-ea"/>
                        </a:rPr>
                        <a:t>)</a:t>
                      </a:r>
                      <a:r>
                        <a:rPr lang="ko-KR" altLang="en-US" sz="800" dirty="0">
                          <a:latin typeface="+mn-ea"/>
                        </a:rPr>
                        <a:t>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 </a:t>
                      </a:r>
                      <a:r>
                        <a:rPr lang="ko-KR" altLang="en-US" sz="800" dirty="0">
                          <a:latin typeface="+mn-ea"/>
                          <a:ea typeface="+mn-ea"/>
                        </a:rPr>
                        <a:t>항목</a:t>
                      </a:r>
                      <a:r>
                        <a:rPr lang="en-US" altLang="ko-KR" sz="800" dirty="0">
                          <a:latin typeface="+mn-ea"/>
                          <a:ea typeface="+mn-ea"/>
                        </a:rPr>
                        <a:t>.</a:t>
                      </a:r>
                      <a:r>
                        <a:rPr lang="en-US" altLang="ko-KR" sz="800" dirty="0">
                          <a:latin typeface="+mn-ea"/>
                        </a:rPr>
                        <a:t> </a:t>
                      </a:r>
                      <a:r>
                        <a:rPr lang="ko-KR" altLang="en-US" sz="800" dirty="0">
                          <a:latin typeface="+mn-ea"/>
                          <a:ea typeface="+mn-ea"/>
                        </a:rPr>
                        <a:t>상위코드</a:t>
                      </a:r>
                      <a:r>
                        <a:rPr lang="en-US" altLang="ko-KR" sz="800" dirty="0">
                          <a:latin typeface="+mn-ea"/>
                          <a:ea typeface="+mn-ea"/>
                        </a:rPr>
                        <a:t>:BDTC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23587660"/>
                  </a:ext>
                </a:extLst>
              </a:tr>
              <a:tr h="0">
                <a:tc>
                  <a:txBody>
                    <a:bodyPr/>
                    <a:lstStyle/>
                    <a:p>
                      <a:pPr latinLnBrk="1"/>
                      <a:r>
                        <a:rPr lang="ko-KR" altLang="en-US" sz="800" dirty="0">
                          <a:latin typeface="+mn-ea"/>
                          <a:ea typeface="+mn-ea"/>
                        </a:rPr>
                        <a:t>단가제유형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bidTpcd</a:t>
                      </a:r>
                      <a:r>
                        <a:rPr lang="en-US" altLang="ko-KR" sz="800" dirty="0" err="1">
                          <a:latin typeface="+mn-ea"/>
                          <a:ea typeface="+mn-ea"/>
                        </a:rPr>
                        <a:t>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단가제유형</a:t>
                      </a:r>
                      <a:r>
                        <a:rPr lang="en-US" altLang="ko-KR" sz="800" dirty="0">
                          <a:latin typeface="+mn-ea"/>
                        </a:rPr>
                        <a:t>(</a:t>
                      </a:r>
                      <a:r>
                        <a:rPr lang="ko-KR" altLang="en-US" sz="800" dirty="0">
                          <a:latin typeface="+mn-ea"/>
                        </a:rPr>
                        <a:t>명</a:t>
                      </a:r>
                      <a:r>
                        <a:rPr lang="en-US" altLang="ko-KR" sz="800" dirty="0">
                          <a:latin typeface="+mn-ea"/>
                        </a:rPr>
                        <a:t>)</a:t>
                      </a:r>
                      <a:r>
                        <a:rPr lang="ko-KR" altLang="en-US" sz="800" dirty="0">
                          <a:latin typeface="+mn-ea"/>
                        </a:rPr>
                        <a:t>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 </a:t>
                      </a:r>
                      <a:r>
                        <a:rPr lang="ko-KR" altLang="en-US" sz="800" dirty="0">
                          <a:latin typeface="+mn-ea"/>
                          <a:ea typeface="+mn-ea"/>
                        </a:rPr>
                        <a:t>항목</a:t>
                      </a:r>
                      <a:r>
                        <a:rPr lang="en-US" altLang="ko-KR" sz="800" dirty="0">
                          <a:latin typeface="+mn-ea"/>
                          <a:ea typeface="+mn-ea"/>
                        </a:rPr>
                        <a:t>.</a:t>
                      </a:r>
                      <a:r>
                        <a:rPr lang="en-US" altLang="ko-KR" sz="800" dirty="0">
                          <a:latin typeface="+mn-ea"/>
                        </a:rPr>
                        <a:t> </a:t>
                      </a:r>
                      <a:r>
                        <a:rPr lang="ko-KR" altLang="en-US" sz="800" dirty="0">
                          <a:latin typeface="+mn-ea"/>
                          <a:ea typeface="+mn-ea"/>
                        </a:rPr>
                        <a:t>상위코드</a:t>
                      </a:r>
                      <a:r>
                        <a:rPr lang="en-US" altLang="ko-KR" sz="800" dirty="0">
                          <a:latin typeface="+mn-ea"/>
                          <a:ea typeface="+mn-ea"/>
                        </a:rPr>
                        <a:t>:BTUP</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593965"/>
                  </a:ext>
                </a:extLst>
              </a:tr>
              <a:tr h="0">
                <a:tc>
                  <a:txBody>
                    <a:bodyPr/>
                    <a:lstStyle/>
                    <a:p>
                      <a:pPr latinLnBrk="1"/>
                      <a:r>
                        <a:rPr lang="ko-KR" altLang="en-US" sz="800" dirty="0">
                          <a:latin typeface="+mn-ea"/>
                          <a:ea typeface="+mn-ea"/>
                        </a:rPr>
                        <a:t>계약종류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ctrtTpcd</a:t>
                      </a:r>
                      <a:r>
                        <a:rPr lang="en-US" altLang="ko-KR" sz="800" dirty="0" err="1">
                          <a:latin typeface="+mn-ea"/>
                          <a:ea typeface="+mn-ea"/>
                        </a:rPr>
                        <a:t>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계약종류</a:t>
                      </a:r>
                      <a:r>
                        <a:rPr lang="en-US" altLang="ko-KR" sz="800" dirty="0">
                          <a:latin typeface="+mn-ea"/>
                        </a:rPr>
                        <a:t>(</a:t>
                      </a:r>
                      <a:r>
                        <a:rPr lang="ko-KR" altLang="en-US" sz="800" dirty="0">
                          <a:latin typeface="+mn-ea"/>
                        </a:rPr>
                        <a:t>명</a:t>
                      </a:r>
                      <a:r>
                        <a:rPr lang="en-US" altLang="ko-KR" sz="800" dirty="0">
                          <a:latin typeface="+mn-ea"/>
                        </a:rPr>
                        <a:t>)</a:t>
                      </a:r>
                      <a:r>
                        <a:rPr lang="ko-KR" altLang="en-US" sz="800" dirty="0">
                          <a:latin typeface="+mn-ea"/>
                        </a:rPr>
                        <a:t>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 </a:t>
                      </a:r>
                      <a:r>
                        <a:rPr lang="ko-KR" altLang="en-US" sz="800" dirty="0">
                          <a:latin typeface="+mn-ea"/>
                          <a:ea typeface="+mn-ea"/>
                        </a:rPr>
                        <a:t>항목</a:t>
                      </a:r>
                      <a:r>
                        <a:rPr lang="en-US" altLang="ko-KR" sz="800" dirty="0">
                          <a:latin typeface="+mn-ea"/>
                          <a:ea typeface="+mn-ea"/>
                        </a:rPr>
                        <a:t>.</a:t>
                      </a:r>
                      <a:r>
                        <a:rPr lang="en-US" altLang="ko-KR" sz="800" dirty="0">
                          <a:latin typeface="+mn-ea"/>
                        </a:rPr>
                        <a:t> </a:t>
                      </a:r>
                      <a:r>
                        <a:rPr lang="ko-KR" altLang="en-US" sz="800" dirty="0">
                          <a:latin typeface="+mn-ea"/>
                          <a:ea typeface="+mn-ea"/>
                        </a:rPr>
                        <a:t>상위코드</a:t>
                      </a:r>
                      <a:r>
                        <a:rPr lang="en-US" altLang="ko-KR" sz="800" dirty="0">
                          <a:latin typeface="+mn-ea"/>
                          <a:ea typeface="+mn-ea"/>
                        </a:rPr>
                        <a:t>:CTKC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1825916"/>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scsbdMthdNm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낙찰자결정방법</a:t>
                      </a:r>
                      <a:r>
                        <a:rPr lang="en-US" altLang="ko-KR" sz="800" dirty="0">
                          <a:latin typeface="+mn-ea"/>
                        </a:rPr>
                        <a:t>(</a:t>
                      </a:r>
                      <a:r>
                        <a:rPr lang="ko-KR" altLang="en-US" sz="800" dirty="0">
                          <a:latin typeface="+mn-ea"/>
                        </a:rPr>
                        <a:t>명</a:t>
                      </a:r>
                      <a:r>
                        <a:rPr lang="en-US" altLang="ko-KR" sz="800" dirty="0">
                          <a:latin typeface="+mn-ea"/>
                        </a:rPr>
                        <a:t>)</a:t>
                      </a:r>
                      <a:r>
                        <a:rPr lang="ko-KR" altLang="en-US" sz="800" dirty="0">
                          <a:latin typeface="+mn-ea"/>
                        </a:rPr>
                        <a:t>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Alias </a:t>
                      </a:r>
                      <a:r>
                        <a:rPr lang="ko-KR" altLang="en-US" sz="800" dirty="0">
                          <a:latin typeface="+mn-ea"/>
                          <a:ea typeface="+mn-ea"/>
                        </a:rPr>
                        <a:t>항목</a:t>
                      </a:r>
                      <a:r>
                        <a:rPr lang="en-US" altLang="ko-KR" sz="800">
                          <a:latin typeface="+mn-ea"/>
                          <a:ea typeface="+mn-ea"/>
                        </a:rPr>
                        <a:t>. </a:t>
                      </a:r>
                      <a:r>
                        <a:rPr lang="ko-KR" altLang="en-US" sz="800">
                          <a:latin typeface="+mn-ea"/>
                          <a:ea typeface="+mn-ea"/>
                        </a:rPr>
                        <a:t>상위코드</a:t>
                      </a:r>
                      <a:r>
                        <a:rPr lang="en-US" altLang="ko-KR" sz="800" dirty="0">
                          <a:latin typeface="+mn-ea"/>
                          <a:ea typeface="+mn-ea"/>
                        </a:rPr>
                        <a:t>:CCMT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7497890"/>
                  </a:ext>
                </a:extLst>
              </a:tr>
              <a:tr h="0">
                <a:tc>
                  <a:txBody>
                    <a:bodyPr/>
                    <a:lstStyle/>
                    <a:p>
                      <a:pPr latinLnBrk="1"/>
                      <a:r>
                        <a:rPr lang="ko-KR" altLang="en-US" sz="800" dirty="0">
                          <a:latin typeface="+mn-ea"/>
                          <a:ea typeface="+mn-ea"/>
                        </a:rPr>
                        <a:t>적격심사여부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elgbSrngYn</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적격심사 대상 여부 </a:t>
                      </a:r>
                      <a:r>
                        <a:rPr lang="ko-KR" altLang="en-US" sz="800" dirty="0" err="1">
                          <a:latin typeface="+mn-ea"/>
                        </a:rPr>
                        <a:t>식별값</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Y: </a:t>
                      </a:r>
                      <a:r>
                        <a:rPr lang="ko-KR" altLang="en-US" sz="800" dirty="0">
                          <a:latin typeface="+mn-ea"/>
                          <a:ea typeface="+mn-ea"/>
                        </a:rPr>
                        <a:t>대상</a:t>
                      </a:r>
                      <a:r>
                        <a:rPr lang="en-US" altLang="ko-KR" sz="800" dirty="0">
                          <a:latin typeface="+mn-ea"/>
                          <a:ea typeface="+mn-ea"/>
                        </a:rPr>
                        <a:t>, N</a:t>
                      </a:r>
                      <a:r>
                        <a:rPr lang="ko-KR" altLang="en-US" sz="800" dirty="0">
                          <a:latin typeface="+mn-ea"/>
                          <a:ea typeface="+mn-ea"/>
                        </a:rPr>
                        <a:t> </a:t>
                      </a:r>
                      <a:r>
                        <a:rPr lang="en-US" altLang="ko-KR" sz="800" dirty="0">
                          <a:latin typeface="+mn-ea"/>
                          <a:ea typeface="+mn-ea"/>
                        </a:rPr>
                        <a:t>:</a:t>
                      </a:r>
                      <a:r>
                        <a:rPr lang="ko-KR" altLang="en-US" sz="800" dirty="0">
                          <a:latin typeface="+mn-ea"/>
                          <a:ea typeface="+mn-ea"/>
                        </a:rPr>
                        <a:t> 비대상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3708474"/>
                  </a:ext>
                </a:extLst>
              </a:tr>
              <a:tr h="0">
                <a:tc>
                  <a:txBody>
                    <a:bodyPr/>
                    <a:lstStyle/>
                    <a:p>
                      <a:pPr latinLnBrk="1"/>
                      <a:r>
                        <a:rPr lang="ko-KR" altLang="en-US" sz="800" dirty="0">
                          <a:latin typeface="+mn-ea"/>
                          <a:ea typeface="+mn-ea"/>
                        </a:rPr>
                        <a:t>사업설명회장소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grndsExplnPlcNm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공고 사업설명회장소명</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7177320"/>
                  </a:ext>
                </a:extLst>
              </a:tr>
            </a:tbl>
          </a:graphicData>
        </a:graphic>
      </p:graphicFrame>
    </p:spTree>
    <p:extLst>
      <p:ext uri="{BB962C8B-B14F-4D97-AF65-F5344CB8AC3E}">
        <p14:creationId xmlns:p14="http://schemas.microsoft.com/office/powerpoint/2010/main" val="7161077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29</a:t>
            </a:fld>
            <a:endParaRPr lang="ko-KR" altLang="en-US"/>
          </a:p>
        </p:txBody>
      </p:sp>
      <p:sp>
        <p:nvSpPr>
          <p:cNvPr id="4" name="TextBox 3">
            <a:extLst>
              <a:ext uri="{FF2B5EF4-FFF2-40B4-BE49-F238E27FC236}">
                <a16:creationId xmlns:a16="http://schemas.microsoft.com/office/drawing/2014/main" id="{C17648F3-5514-E13E-20AA-46C086C0BA1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AC319EA0-2B46-01CB-89B0-805B73B758C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8" name="TextBox 7">
            <a:extLst>
              <a:ext uri="{FF2B5EF4-FFF2-40B4-BE49-F238E27FC236}">
                <a16:creationId xmlns:a16="http://schemas.microsoft.com/office/drawing/2014/main" id="{85697987-7A95-FDCB-F9A9-209C8E9928AB}"/>
              </a:ext>
            </a:extLst>
          </p:cNvPr>
          <p:cNvSpPr txBox="1"/>
          <p:nvPr/>
        </p:nvSpPr>
        <p:spPr>
          <a:xfrm>
            <a:off x="458117" y="810500"/>
            <a:ext cx="330275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err="1">
                <a:solidFill>
                  <a:prstClr val="black"/>
                </a:solidFill>
              </a:rPr>
              <a:t>입찰공고상세</a:t>
            </a:r>
            <a:r>
              <a:rPr lang="en-US" altLang="ko-KR" sz="900" b="1" dirty="0">
                <a:solidFill>
                  <a:prstClr val="black"/>
                </a:solidFill>
              </a:rPr>
              <a:t>-</a:t>
            </a:r>
            <a:r>
              <a:rPr lang="ko-KR" altLang="en-US" sz="900" b="1" dirty="0">
                <a:solidFill>
                  <a:prstClr val="black"/>
                </a:solidFill>
              </a:rPr>
              <a:t>공고일반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dmt_bidPbancGnrl</a:t>
            </a:r>
            <a:r>
              <a:rPr lang="en-US" altLang="ko-KR" sz="900" b="1" dirty="0">
                <a:solidFill>
                  <a:prstClr val="black"/>
                </a:solidFill>
              </a:rPr>
              <a: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E9A85EF9-B12D-E207-09D2-36ADAA91B1F7}"/>
              </a:ext>
            </a:extLst>
          </p:cNvPr>
          <p:cNvGraphicFramePr>
            <a:graphicFrameLocks noGrp="1"/>
          </p:cNvGraphicFramePr>
          <p:nvPr/>
        </p:nvGraphicFramePr>
        <p:xfrm>
          <a:off x="452999" y="1062355"/>
          <a:ext cx="8994884" cy="5385600"/>
        </p:xfrm>
        <a:graphic>
          <a:graphicData uri="http://schemas.openxmlformats.org/drawingml/2006/table">
            <a:tbl>
              <a:tblPr>
                <a:tableStyleId>{616DA210-FB5B-4158-B5E0-FEB733F419BA}</a:tableStyleId>
              </a:tblPr>
              <a:tblGrid>
                <a:gridCol w="1493032">
                  <a:extLst>
                    <a:ext uri="{9D8B030D-6E8A-4147-A177-3AD203B41FA5}">
                      <a16:colId xmlns:a16="http://schemas.microsoft.com/office/drawing/2014/main" val="20000"/>
                    </a:ext>
                  </a:extLst>
                </a:gridCol>
                <a:gridCol w="1500554">
                  <a:extLst>
                    <a:ext uri="{9D8B030D-6E8A-4147-A177-3AD203B41FA5}">
                      <a16:colId xmlns:a16="http://schemas.microsoft.com/office/drawing/2014/main" val="3090674670"/>
                    </a:ext>
                  </a:extLst>
                </a:gridCol>
                <a:gridCol w="2719753">
                  <a:extLst>
                    <a:ext uri="{9D8B030D-6E8A-4147-A177-3AD203B41FA5}">
                      <a16:colId xmlns:a16="http://schemas.microsoft.com/office/drawing/2014/main" val="20001"/>
                    </a:ext>
                  </a:extLst>
                </a:gridCol>
                <a:gridCol w="433754">
                  <a:extLst>
                    <a:ext uri="{9D8B030D-6E8A-4147-A177-3AD203B41FA5}">
                      <a16:colId xmlns:a16="http://schemas.microsoft.com/office/drawing/2014/main" val="20002"/>
                    </a:ext>
                  </a:extLst>
                </a:gridCol>
                <a:gridCol w="552544">
                  <a:extLst>
                    <a:ext uri="{9D8B030D-6E8A-4147-A177-3AD203B41FA5}">
                      <a16:colId xmlns:a16="http://schemas.microsoft.com/office/drawing/2014/main" val="20003"/>
                    </a:ext>
                  </a:extLst>
                </a:gridCol>
                <a:gridCol w="434236">
                  <a:extLst>
                    <a:ext uri="{9D8B030D-6E8A-4147-A177-3AD203B41FA5}">
                      <a16:colId xmlns:a16="http://schemas.microsoft.com/office/drawing/2014/main" val="20004"/>
                    </a:ext>
                  </a:extLst>
                </a:gridCol>
                <a:gridCol w="186101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a:latin typeface="+mn-ea"/>
                          <a:ea typeface="+mn-ea"/>
                        </a:rPr>
                        <a:t>사업설명회일시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grndsExplnPrnmntDt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공고 사업설명회 일자 및 시간</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yyyy-mm-dd 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a:latin typeface="+mn-ea"/>
                          <a:ea typeface="+mn-ea"/>
                        </a:rPr>
                        <a:t>현장설명회장소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grndsExplnPlcNm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공고 현장설명회장소명</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0718819"/>
                  </a:ext>
                </a:extLst>
              </a:tr>
              <a:tr h="0">
                <a:tc>
                  <a:txBody>
                    <a:bodyPr/>
                    <a:lstStyle/>
                    <a:p>
                      <a:pPr latinLnBrk="1"/>
                      <a:r>
                        <a:rPr lang="ko-KR" altLang="en-US" sz="800">
                          <a:latin typeface="+mn-ea"/>
                          <a:ea typeface="+mn-ea"/>
                        </a:rPr>
                        <a:t>현장설명회일시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grndsExplnPrnmntDt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공고 현장설명회 일자 및 시간</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a:latin typeface="+mn-ea"/>
                          <a:ea typeface="+mn-ea"/>
                        </a:rPr>
                        <a:t>yyyy-mm-dd 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619533"/>
                  </a:ext>
                </a:extLst>
              </a:tr>
              <a:tr h="0">
                <a:tc>
                  <a:txBody>
                    <a:bodyPr/>
                    <a:lstStyle/>
                    <a:p>
                      <a:pPr latinLnBrk="1"/>
                      <a:r>
                        <a:rPr lang="ko-KR" altLang="en-US" sz="800">
                          <a:latin typeface="+mn-ea"/>
                          <a:ea typeface="+mn-ea"/>
                        </a:rPr>
                        <a:t>예산금액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sumAmt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예산금액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6036586"/>
                  </a:ext>
                </a:extLst>
              </a:tr>
              <a:tr h="0">
                <a:tc>
                  <a:txBody>
                    <a:bodyPr/>
                    <a:lstStyle/>
                    <a:p>
                      <a:pPr latinLnBrk="1"/>
                      <a:r>
                        <a:rPr lang="ko-KR" altLang="en-US" sz="800">
                          <a:latin typeface="+mn-ea"/>
                          <a:ea typeface="+mn-ea"/>
                        </a:rPr>
                        <a:t>추정가격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prsmpPrc</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추정가격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53792337"/>
                  </a:ext>
                </a:extLst>
              </a:tr>
              <a:tr h="0">
                <a:tc>
                  <a:txBody>
                    <a:bodyPr/>
                    <a:lstStyle/>
                    <a:p>
                      <a:pPr latinLnBrk="1"/>
                      <a:r>
                        <a:rPr lang="ko-KR" altLang="en-US" sz="800">
                          <a:latin typeface="+mn-ea"/>
                          <a:ea typeface="+mn-ea"/>
                        </a:rPr>
                        <a:t>생산능력제출마감일시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prdcpIdntySmdocDdlnDt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생산능력제출마감일시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yyyy-mm-dd 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5639779"/>
                  </a:ext>
                </a:extLst>
              </a:tr>
              <a:tr h="0">
                <a:tc>
                  <a:txBody>
                    <a:bodyPr/>
                    <a:lstStyle/>
                    <a:p>
                      <a:pPr latinLnBrk="1"/>
                      <a:r>
                        <a:rPr lang="ko-KR" altLang="en-US" sz="800">
                          <a:latin typeface="+mn-ea"/>
                          <a:ea typeface="+mn-ea"/>
                        </a:rPr>
                        <a:t>입찰참가등록마감일시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bidClrsDt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입찰참가등록마감일시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a:latin typeface="+mn-ea"/>
                          <a:ea typeface="+mn-ea"/>
                        </a:rPr>
                        <a:t>yyyy-mm-dd 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7896059"/>
                  </a:ext>
                </a:extLst>
              </a:tr>
              <a:tr h="0">
                <a:tc>
                  <a:txBody>
                    <a:bodyPr/>
                    <a:lstStyle/>
                    <a:p>
                      <a:pPr latinLnBrk="1"/>
                      <a:r>
                        <a:rPr lang="ko-KR" altLang="en-US" sz="800">
                          <a:latin typeface="+mn-ea"/>
                          <a:ea typeface="+mn-ea"/>
                        </a:rPr>
                        <a:t>입찰서제출마감일시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tndrSbmsnDdlnDt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입찰서제출마감일시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a:latin typeface="+mn-ea"/>
                          <a:ea typeface="+mn-ea"/>
                        </a:rPr>
                        <a:t>yyyy-mm-dd 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7739674"/>
                  </a:ext>
                </a:extLst>
              </a:tr>
              <a:tr h="0">
                <a:tc>
                  <a:txBody>
                    <a:bodyPr/>
                    <a:lstStyle/>
                    <a:p>
                      <a:pPr latinLnBrk="1"/>
                      <a:r>
                        <a:rPr lang="ko-KR" altLang="en-US" sz="800">
                          <a:latin typeface="+mn-ea"/>
                          <a:ea typeface="+mn-ea"/>
                        </a:rPr>
                        <a:t>개찰일시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bdopnDt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개찰일시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a:latin typeface="+mn-ea"/>
                          <a:ea typeface="+mn-ea"/>
                        </a:rPr>
                        <a:t>yyyy-mm-dd hh:mm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1913609"/>
                  </a:ext>
                </a:extLst>
              </a:tr>
              <a:tr h="0">
                <a:tc>
                  <a:txBody>
                    <a:bodyPr/>
                    <a:lstStyle/>
                    <a:p>
                      <a:pPr latinLnBrk="1"/>
                      <a:r>
                        <a:rPr lang="ko-KR" altLang="en-US" sz="800">
                          <a:latin typeface="+mn-ea"/>
                          <a:ea typeface="+mn-ea"/>
                        </a:rPr>
                        <a:t>입찰장소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bidPlcNm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입찰장소 </a:t>
                      </a:r>
                      <a:r>
                        <a:rPr lang="ko-KR" altLang="en-US" sz="800">
                          <a:latin typeface="+mn-ea"/>
                          <a:ea typeface="+mn-ea"/>
                        </a:rPr>
                        <a:t>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90827933"/>
                  </a:ext>
                </a:extLst>
              </a:tr>
              <a:tr h="0">
                <a:tc>
                  <a:txBody>
                    <a:bodyPr/>
                    <a:lstStyle/>
                    <a:p>
                      <a:pPr latinLnBrk="1"/>
                      <a:r>
                        <a:rPr lang="ko-KR" altLang="en-US" sz="800">
                          <a:latin typeface="+mn-ea"/>
                          <a:ea typeface="+mn-ea"/>
                        </a:rPr>
                        <a:t>등록심사시점</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tndrSbmsnPntmCd</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입찰등록심사 시점</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Y : </a:t>
                      </a:r>
                      <a:r>
                        <a:rPr lang="ko-KR" altLang="en-US" sz="800" dirty="0">
                          <a:latin typeface="+mn-ea"/>
                          <a:ea typeface="+mn-ea"/>
                        </a:rPr>
                        <a:t>입찰서제출 후 심사 </a:t>
                      </a:r>
                      <a:r>
                        <a:rPr lang="en-US" altLang="ko-KR" sz="800" dirty="0">
                          <a:latin typeface="+mn-ea"/>
                          <a:ea typeface="+mn-ea"/>
                        </a:rPr>
                        <a:t>(</a:t>
                      </a:r>
                      <a:r>
                        <a:rPr lang="ko-KR" altLang="en-US" sz="800" dirty="0">
                          <a:latin typeface="+mn-ea"/>
                          <a:ea typeface="+mn-ea"/>
                        </a:rPr>
                        <a:t>등록심사</a:t>
                      </a:r>
                      <a:r>
                        <a:rPr lang="en-US" altLang="ko-KR" sz="800" dirty="0">
                          <a:latin typeface="+mn-ea"/>
                          <a:ea typeface="+mn-ea"/>
                        </a:rPr>
                        <a:t>)</a:t>
                      </a:r>
                    </a:p>
                    <a:p>
                      <a:pPr algn="l" latinLnBrk="1"/>
                      <a:r>
                        <a:rPr lang="en-US" altLang="ko-KR" sz="800" dirty="0">
                          <a:latin typeface="+mn-ea"/>
                          <a:ea typeface="+mn-ea"/>
                        </a:rPr>
                        <a:t>N : </a:t>
                      </a:r>
                      <a:r>
                        <a:rPr lang="ko-KR" altLang="en-US" sz="800" dirty="0">
                          <a:latin typeface="+mn-ea"/>
                          <a:ea typeface="+mn-ea"/>
                        </a:rPr>
                        <a:t>입찰참가신청 후 입찰서제출 전 심사</a:t>
                      </a:r>
                      <a:r>
                        <a:rPr lang="en-US" altLang="ko-KR" sz="800" dirty="0">
                          <a:latin typeface="+mn-ea"/>
                          <a:ea typeface="+mn-ea"/>
                        </a:rPr>
                        <a:t>(</a:t>
                      </a:r>
                      <a:r>
                        <a:rPr lang="ko-KR" altLang="en-US" sz="800" dirty="0">
                          <a:latin typeface="+mn-ea"/>
                          <a:ea typeface="+mn-ea"/>
                        </a:rPr>
                        <a:t>사전심사</a:t>
                      </a:r>
                      <a:r>
                        <a:rPr lang="en-US" altLang="ko-KR" sz="800" dirty="0">
                          <a:latin typeface="+mn-ea"/>
                          <a:ea typeface="+mn-ea"/>
                        </a:rPr>
                        <a:t>), F : </a:t>
                      </a:r>
                      <a:r>
                        <a:rPr lang="ko-KR" altLang="en-US" sz="800" dirty="0" err="1">
                          <a:latin typeface="+mn-ea"/>
                          <a:ea typeface="+mn-ea"/>
                        </a:rPr>
                        <a:t>개찰후심사</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5415962"/>
                  </a:ext>
                </a:extLst>
              </a:tr>
              <a:tr h="0">
                <a:tc>
                  <a:txBody>
                    <a:bodyPr/>
                    <a:lstStyle/>
                    <a:p>
                      <a:pPr latinLnBrk="1"/>
                      <a:r>
                        <a:rPr lang="ko-KR" altLang="en-US" sz="800" dirty="0" err="1">
                          <a:latin typeface="+mn-ea"/>
                          <a:ea typeface="+mn-ea"/>
                        </a:rPr>
                        <a:t>기초예가적용여부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bidPrtcpQlfcYn</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기초예비가격 적용 여부 식별 값</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a:latin typeface="+mn-ea"/>
                          <a:ea typeface="+mn-ea"/>
                        </a:rPr>
                        <a:t>Y: </a:t>
                      </a:r>
                      <a:r>
                        <a:rPr lang="ko-KR" altLang="en-US" sz="800">
                          <a:latin typeface="+mn-ea"/>
                          <a:ea typeface="+mn-ea"/>
                        </a:rPr>
                        <a:t>적용 </a:t>
                      </a:r>
                      <a:r>
                        <a:rPr lang="en-US" altLang="ko-KR" sz="800">
                          <a:latin typeface="+mn-ea"/>
                          <a:ea typeface="+mn-ea"/>
                        </a:rPr>
                        <a:t>, N : </a:t>
                      </a:r>
                      <a:r>
                        <a:rPr lang="ko-KR" altLang="en-US" sz="800">
                          <a:latin typeface="+mn-ea"/>
                          <a:ea typeface="+mn-ea"/>
                        </a:rPr>
                        <a:t>미적용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7603090"/>
                  </a:ext>
                </a:extLst>
              </a:tr>
              <a:tr h="0">
                <a:tc>
                  <a:txBody>
                    <a:bodyPr/>
                    <a:lstStyle/>
                    <a:p>
                      <a:pPr latinLnBrk="1"/>
                      <a:r>
                        <a:rPr lang="en-US" altLang="ko-KR" sz="800" dirty="0">
                          <a:latin typeface="+mn-ea"/>
                          <a:ea typeface="+mn-ea"/>
                        </a:rPr>
                        <a:t>G2B</a:t>
                      </a:r>
                      <a:r>
                        <a:rPr lang="ko-KR" altLang="en-US" sz="800" dirty="0">
                          <a:latin typeface="+mn-ea"/>
                          <a:ea typeface="+mn-ea"/>
                        </a:rPr>
                        <a:t>공고번호</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rPr>
                        <a:t>g2bBidPbancNo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rPr>
                        <a:t>G2B</a:t>
                      </a:r>
                      <a:r>
                        <a:rPr lang="ko-KR" altLang="en-US" sz="800" dirty="0">
                          <a:latin typeface="+mn-ea"/>
                        </a:rPr>
                        <a:t>공고번호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As-is</a:t>
                      </a:r>
                    </a:p>
                    <a:p>
                      <a:pPr algn="l" latinLnBrk="1"/>
                      <a:r>
                        <a:rPr lang="en-US" altLang="ko-KR" sz="800" dirty="0">
                          <a:latin typeface="+mn-ea"/>
                          <a:ea typeface="+mn-ea"/>
                        </a:rPr>
                        <a:t>:</a:t>
                      </a:r>
                      <a:r>
                        <a:rPr lang="ko-KR" altLang="en-US" sz="800" dirty="0" err="1">
                          <a:latin typeface="+mn-ea"/>
                          <a:ea typeface="+mn-ea"/>
                        </a:rPr>
                        <a:t>지시년도</a:t>
                      </a:r>
                      <a:r>
                        <a:rPr lang="en-US" altLang="ko-KR" sz="800" dirty="0">
                          <a:latin typeface="+mn-ea"/>
                          <a:ea typeface="+mn-ea"/>
                        </a:rPr>
                        <a:t>(4)+</a:t>
                      </a:r>
                      <a:r>
                        <a:rPr lang="ko-KR" altLang="en-US" sz="800" dirty="0">
                          <a:latin typeface="+mn-ea"/>
                          <a:ea typeface="+mn-ea"/>
                        </a:rPr>
                        <a:t>공고번호</a:t>
                      </a:r>
                      <a:r>
                        <a:rPr lang="en-US" altLang="ko-KR" sz="800" dirty="0">
                          <a:latin typeface="+mn-ea"/>
                          <a:ea typeface="+mn-ea"/>
                        </a:rPr>
                        <a:t>(7)+</a:t>
                      </a:r>
                      <a:r>
                        <a:rPr lang="ko-KR" altLang="en-US" sz="800" dirty="0">
                          <a:latin typeface="+mn-ea"/>
                          <a:ea typeface="+mn-ea"/>
                        </a:rPr>
                        <a:t>판단번호</a:t>
                      </a:r>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3398618"/>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G2B</a:t>
                      </a:r>
                      <a:r>
                        <a:rPr lang="ko-KR" altLang="en-US" sz="800" dirty="0" err="1">
                          <a:latin typeface="+mn-ea"/>
                          <a:ea typeface="+mn-ea"/>
                        </a:rPr>
                        <a:t>공고차수</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rPr>
                        <a:t>g2bBidPbancCycl</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rPr>
                        <a:t>G2B</a:t>
                      </a:r>
                      <a:r>
                        <a:rPr lang="ko-KR" altLang="en-US" sz="800">
                          <a:latin typeface="+mn-ea"/>
                        </a:rPr>
                        <a:t>공고차수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67193014"/>
                  </a:ext>
                </a:extLst>
              </a:tr>
              <a:tr h="0">
                <a:tc>
                  <a:txBody>
                    <a:bodyPr/>
                    <a:lstStyle/>
                    <a:p>
                      <a:pPr latinLnBrk="1"/>
                      <a:r>
                        <a:rPr lang="ko-KR" altLang="en-US" sz="800" dirty="0" err="1">
                          <a:latin typeface="+mn-ea"/>
                          <a:ea typeface="+mn-ea"/>
                        </a:rPr>
                        <a:t>복수업체연구개발대상구분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plrlBzentyRndTrgtYn</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복수업체연구개발대상구분 식별 값</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Y: </a:t>
                      </a:r>
                      <a:r>
                        <a:rPr lang="ko-KR" altLang="en-US" sz="800" dirty="0">
                          <a:latin typeface="+mn-ea"/>
                          <a:ea typeface="+mn-ea"/>
                        </a:rPr>
                        <a:t>대상</a:t>
                      </a:r>
                      <a:r>
                        <a:rPr lang="en-US" altLang="ko-KR" sz="800" dirty="0">
                          <a:latin typeface="+mn-ea"/>
                          <a:ea typeface="+mn-ea"/>
                        </a:rPr>
                        <a:t>, N :</a:t>
                      </a:r>
                      <a:r>
                        <a:rPr lang="ko-KR" altLang="en-US" sz="800" dirty="0">
                          <a:latin typeface="+mn-ea"/>
                          <a:ea typeface="+mn-ea"/>
                        </a:rPr>
                        <a:t>비대상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488183"/>
                  </a:ext>
                </a:extLst>
              </a:tr>
              <a:tr h="0">
                <a:tc>
                  <a:txBody>
                    <a:bodyPr/>
                    <a:lstStyle/>
                    <a:p>
                      <a:pPr latinLnBrk="1"/>
                      <a:r>
                        <a:rPr lang="ko-KR" altLang="en-US" sz="800" dirty="0">
                          <a:latin typeface="+mn-ea"/>
                          <a:ea typeface="+mn-ea"/>
                        </a:rPr>
                        <a:t>산업분류번호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tpbizCdNm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산업분류번호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err="1">
                          <a:latin typeface="+mn-ea"/>
                        </a:rPr>
                        <a:t>tpbizCd</a:t>
                      </a:r>
                      <a:r>
                        <a:rPr lang="en-US" altLang="ko-KR" sz="800" dirty="0">
                          <a:latin typeface="+mn-ea"/>
                        </a:rPr>
                        <a:t>+’:’+</a:t>
                      </a:r>
                      <a:r>
                        <a:rPr lang="en-US" altLang="ko-KR" sz="800" dirty="0" err="1">
                          <a:latin typeface="+mn-ea"/>
                        </a:rPr>
                        <a:t>tpbizCdNm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487152"/>
                  </a:ext>
                </a:extLst>
              </a:tr>
              <a:tr h="0">
                <a:tc>
                  <a:txBody>
                    <a:bodyPr/>
                    <a:lstStyle/>
                    <a:p>
                      <a:pPr latinLnBrk="1"/>
                      <a:r>
                        <a:rPr lang="ko-KR" altLang="en-US" sz="800">
                          <a:latin typeface="+mn-ea"/>
                          <a:ea typeface="+mn-ea"/>
                        </a:rPr>
                        <a:t>신기술공고여부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ntchYn</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신기술공고여부 식별 값</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Y: </a:t>
                      </a:r>
                      <a:r>
                        <a:rPr lang="ko-KR" altLang="en-US" sz="800" dirty="0">
                          <a:latin typeface="+mn-ea"/>
                          <a:ea typeface="+mn-ea"/>
                        </a:rPr>
                        <a:t>대상</a:t>
                      </a:r>
                      <a:r>
                        <a:rPr lang="en-US" altLang="ko-KR" sz="800" dirty="0">
                          <a:latin typeface="+mn-ea"/>
                          <a:ea typeface="+mn-ea"/>
                        </a:rPr>
                        <a:t>, N :</a:t>
                      </a:r>
                      <a:r>
                        <a:rPr lang="ko-KR" altLang="en-US" sz="800" dirty="0">
                          <a:latin typeface="+mn-ea"/>
                          <a:ea typeface="+mn-ea"/>
                        </a:rPr>
                        <a:t>비대상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a:latin typeface="+mn-ea"/>
                          <a:ea typeface="+mn-ea"/>
                        </a:rPr>
                        <a:t>공동도급이행방식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jsdShcd</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공동도급이행방식명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:CMCT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r h="0">
                <a:tc>
                  <a:txBody>
                    <a:bodyPr/>
                    <a:lstStyle/>
                    <a:p>
                      <a:pPr latinLnBrk="1"/>
                      <a:r>
                        <a:rPr lang="ko-KR" altLang="en-US" sz="800" dirty="0">
                          <a:latin typeface="+mn-ea"/>
                          <a:ea typeface="+mn-ea"/>
                        </a:rPr>
                        <a:t>하한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llmtAmtRt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예정가격결정을 위한 하한 범위</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401575"/>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상한</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ulprcRt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예정가격결정을 위한 상한 범위</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5061971"/>
                  </a:ext>
                </a:extLst>
              </a:tr>
              <a:tr h="0">
                <a:tc>
                  <a:txBody>
                    <a:bodyPr/>
                    <a:lstStyle/>
                    <a:p>
                      <a:pPr latinLnBrk="1"/>
                      <a:r>
                        <a:rPr lang="ko-KR" altLang="en-US" sz="800">
                          <a:latin typeface="+mn-ea"/>
                          <a:ea typeface="+mn-ea"/>
                        </a:rPr>
                        <a:t>낙찰하한율</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scsbdLlmtRt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낙찰하한율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130071"/>
                  </a:ext>
                </a:extLst>
              </a:tr>
              <a:tr h="0">
                <a:tc>
                  <a:txBody>
                    <a:bodyPr/>
                    <a:lstStyle/>
                    <a:p>
                      <a:pPr latinLnBrk="1"/>
                      <a:r>
                        <a:rPr lang="ko-KR" altLang="en-US" sz="800">
                          <a:latin typeface="+mn-ea"/>
                          <a:ea typeface="+mn-ea"/>
                        </a:rPr>
                        <a:t>제한지역명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rgnNm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제한지역명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Alias </a:t>
                      </a:r>
                      <a:r>
                        <a:rPr lang="ko-KR" altLang="en-US" sz="800" dirty="0">
                          <a:latin typeface="+mn-ea"/>
                          <a:ea typeface="+mn-ea"/>
                        </a:rPr>
                        <a:t>항목</a:t>
                      </a:r>
                      <a:endParaRPr lang="en-US" altLang="ko-KR" sz="800" dirty="0">
                        <a:latin typeface="+mn-ea"/>
                        <a:ea typeface="+mn-ea"/>
                      </a:endParaRPr>
                    </a:p>
                    <a:p>
                      <a:pPr algn="l" latinLnBrk="1"/>
                      <a:r>
                        <a:rPr lang="ko-KR" altLang="en-US" sz="800" dirty="0">
                          <a:latin typeface="+mn-ea"/>
                          <a:ea typeface="+mn-ea"/>
                        </a:rPr>
                        <a:t>상위코드</a:t>
                      </a:r>
                      <a:r>
                        <a:rPr lang="en-US" altLang="ko-KR" sz="800" dirty="0">
                          <a:latin typeface="+mn-ea"/>
                          <a:ea typeface="+mn-ea"/>
                        </a:rPr>
                        <a:t>:SDCD(</a:t>
                      </a:r>
                      <a:r>
                        <a:rPr lang="ko-KR" altLang="en-US" sz="800" dirty="0">
                          <a:latin typeface="+mn-ea"/>
                          <a:ea typeface="+mn-ea"/>
                        </a:rPr>
                        <a:t>지역코드</a:t>
                      </a:r>
                      <a:r>
                        <a:rPr lang="en-US" altLang="ko-KR" sz="800" dirty="0">
                          <a:latin typeface="+mn-ea"/>
                          <a:ea typeface="+mn-ea"/>
                        </a:rPr>
                        <a:t>), GU7(</a:t>
                      </a:r>
                      <a:r>
                        <a:rPr lang="ko-KR" altLang="en-US" sz="800" dirty="0">
                          <a:latin typeface="+mn-ea"/>
                          <a:ea typeface="+mn-ea"/>
                        </a:rPr>
                        <a:t>소재지코드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23587660"/>
                  </a:ext>
                </a:extLst>
              </a:tr>
              <a:tr h="0">
                <a:tc>
                  <a:txBody>
                    <a:bodyPr/>
                    <a:lstStyle/>
                    <a:p>
                      <a:pPr latinLnBrk="1"/>
                      <a:r>
                        <a:rPr lang="ko-KR" altLang="en-US" sz="800">
                          <a:latin typeface="+mn-ea"/>
                          <a:ea typeface="+mn-ea"/>
                        </a:rPr>
                        <a:t>제한면허명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cnstpNm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rPr>
                        <a:t>제한면허명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Alias </a:t>
                      </a:r>
                      <a:r>
                        <a:rPr lang="ko-KR" altLang="en-US" sz="800" dirty="0">
                          <a:latin typeface="+mn-ea"/>
                          <a:ea typeface="+mn-ea"/>
                        </a:rPr>
                        <a:t>항목</a:t>
                      </a:r>
                      <a:endParaRPr lang="en-US" altLang="ko-KR" sz="800" dirty="0">
                        <a:latin typeface="+mn-ea"/>
                        <a:ea typeface="+mn-ea"/>
                      </a:endParaRPr>
                    </a:p>
                    <a:p>
                      <a:pPr algn="l" latinLnBrk="1"/>
                      <a:r>
                        <a:rPr lang="ko-KR" altLang="en-US" sz="800" dirty="0">
                          <a:latin typeface="+mn-ea"/>
                          <a:ea typeface="+mn-ea"/>
                        </a:rPr>
                        <a:t>상위코드</a:t>
                      </a:r>
                      <a:r>
                        <a:rPr lang="en-US" altLang="ko-KR" sz="800" dirty="0">
                          <a:latin typeface="+mn-ea"/>
                          <a:ea typeface="+mn-ea"/>
                        </a:rPr>
                        <a:t>:GU9(</a:t>
                      </a:r>
                      <a:r>
                        <a:rPr lang="ko-KR" altLang="en-US" sz="800" dirty="0" err="1">
                          <a:latin typeface="+mn-ea"/>
                          <a:ea typeface="+mn-ea"/>
                        </a:rPr>
                        <a:t>공종코드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7593965"/>
                  </a:ext>
                </a:extLst>
              </a:tr>
            </a:tbl>
          </a:graphicData>
        </a:graphic>
      </p:graphicFrame>
    </p:spTree>
    <p:extLst>
      <p:ext uri="{BB962C8B-B14F-4D97-AF65-F5344CB8AC3E}">
        <p14:creationId xmlns:p14="http://schemas.microsoft.com/office/powerpoint/2010/main" val="22457612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슬라이드 번호 개체 틀 4"/>
          <p:cNvSpPr>
            <a:spLocks noGrp="1"/>
          </p:cNvSpPr>
          <p:nvPr>
            <p:ph type="sldNum" sz="quarter" idx="4"/>
          </p:nvPr>
        </p:nvSpPr>
        <p:spPr/>
        <p:txBody>
          <a:bodyPr/>
          <a:lstStyle/>
          <a:p>
            <a:fld id="{34C8E023-7346-48FC-AB24-9A3388C53208}" type="slidenum">
              <a:rPr lang="ko-KR" altLang="en-US" smtClean="0"/>
              <a:pPr/>
              <a:t>30</a:t>
            </a:fld>
            <a:endParaRPr lang="ko-KR" altLang="en-US"/>
          </a:p>
        </p:txBody>
      </p:sp>
      <p:graphicFrame>
        <p:nvGraphicFramePr>
          <p:cNvPr id="3" name="표 2">
            <a:extLst>
              <a:ext uri="{FF2B5EF4-FFF2-40B4-BE49-F238E27FC236}">
                <a16:creationId xmlns:a16="http://schemas.microsoft.com/office/drawing/2014/main" id="{E9A85EF9-B12D-E207-09D2-36ADAA91B1F7}"/>
              </a:ext>
            </a:extLst>
          </p:cNvPr>
          <p:cNvGraphicFramePr>
            <a:graphicFrameLocks noGrp="1"/>
          </p:cNvGraphicFramePr>
          <p:nvPr/>
        </p:nvGraphicFramePr>
        <p:xfrm>
          <a:off x="452999" y="1079459"/>
          <a:ext cx="8994884" cy="969600"/>
        </p:xfrm>
        <a:graphic>
          <a:graphicData uri="http://schemas.openxmlformats.org/drawingml/2006/table">
            <a:tbl>
              <a:tblPr>
                <a:tableStyleId>{616DA210-FB5B-4158-B5E0-FEB733F419BA}</a:tableStyleId>
              </a:tblPr>
              <a:tblGrid>
                <a:gridCol w="1094447">
                  <a:extLst>
                    <a:ext uri="{9D8B030D-6E8A-4147-A177-3AD203B41FA5}">
                      <a16:colId xmlns:a16="http://schemas.microsoft.com/office/drawing/2014/main" val="20000"/>
                    </a:ext>
                  </a:extLst>
                </a:gridCol>
                <a:gridCol w="1172308">
                  <a:extLst>
                    <a:ext uri="{9D8B030D-6E8A-4147-A177-3AD203B41FA5}">
                      <a16:colId xmlns:a16="http://schemas.microsoft.com/office/drawing/2014/main" val="1483970480"/>
                    </a:ext>
                  </a:extLst>
                </a:gridCol>
                <a:gridCol w="3364523">
                  <a:extLst>
                    <a:ext uri="{9D8B030D-6E8A-4147-A177-3AD203B41FA5}">
                      <a16:colId xmlns:a16="http://schemas.microsoft.com/office/drawing/2014/main" val="20001"/>
                    </a:ext>
                  </a:extLst>
                </a:gridCol>
                <a:gridCol w="468923">
                  <a:extLst>
                    <a:ext uri="{9D8B030D-6E8A-4147-A177-3AD203B41FA5}">
                      <a16:colId xmlns:a16="http://schemas.microsoft.com/office/drawing/2014/main" val="20002"/>
                    </a:ext>
                  </a:extLst>
                </a:gridCol>
                <a:gridCol w="599436">
                  <a:extLst>
                    <a:ext uri="{9D8B030D-6E8A-4147-A177-3AD203B41FA5}">
                      <a16:colId xmlns:a16="http://schemas.microsoft.com/office/drawing/2014/main" val="20003"/>
                    </a:ext>
                  </a:extLst>
                </a:gridCol>
                <a:gridCol w="434236">
                  <a:extLst>
                    <a:ext uri="{9D8B030D-6E8A-4147-A177-3AD203B41FA5}">
                      <a16:colId xmlns:a16="http://schemas.microsoft.com/office/drawing/2014/main" val="20004"/>
                    </a:ext>
                  </a:extLst>
                </a:gridCol>
                <a:gridCol w="186101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제한면허코드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cnstpCd</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공증</a:t>
                      </a:r>
                      <a:r>
                        <a:rPr lang="en-US" altLang="ko-KR" sz="800" dirty="0">
                          <a:latin typeface="+mn-ea"/>
                        </a:rPr>
                        <a:t>(</a:t>
                      </a:r>
                      <a:r>
                        <a:rPr lang="ko-KR" altLang="en-US" sz="800" dirty="0">
                          <a:latin typeface="+mn-ea"/>
                        </a:rPr>
                        <a:t>업종</a:t>
                      </a:r>
                      <a:r>
                        <a:rPr lang="en-US" altLang="ko-KR" sz="800" dirty="0">
                          <a:latin typeface="+mn-ea"/>
                        </a:rPr>
                        <a:t>)</a:t>
                      </a:r>
                      <a:r>
                        <a:rPr lang="ko-KR" altLang="en-US" sz="800" dirty="0">
                          <a:latin typeface="+mn-ea"/>
                        </a:rPr>
                        <a:t>명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상위코드</a:t>
                      </a:r>
                      <a:r>
                        <a:rPr lang="en-US" altLang="ko-KR" sz="800" dirty="0">
                          <a:latin typeface="+mn-ea"/>
                          <a:ea typeface="+mn-ea"/>
                        </a:rPr>
                        <a:t>:GU9(</a:t>
                      </a:r>
                      <a:r>
                        <a:rPr lang="ko-KR" altLang="en-US" sz="800" dirty="0" err="1">
                          <a:latin typeface="+mn-ea"/>
                          <a:ea typeface="+mn-ea"/>
                        </a:rPr>
                        <a:t>공종코드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제한금액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cnstAbltEvlLmtAmt</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제한금액 항목 조회 결과</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0718819"/>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bzentyCd</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지명업체 식별번호</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619533"/>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rPr>
                        <a:t>bzentyNm</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지명업체명</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6036586"/>
                  </a:ext>
                </a:extLst>
              </a:tr>
            </a:tbl>
          </a:graphicData>
        </a:graphic>
      </p:graphicFrame>
      <p:sp>
        <p:nvSpPr>
          <p:cNvPr id="7" name="TextBox 6">
            <a:extLst>
              <a:ext uri="{FF2B5EF4-FFF2-40B4-BE49-F238E27FC236}">
                <a16:creationId xmlns:a16="http://schemas.microsoft.com/office/drawing/2014/main" id="{8666DEFA-0D20-AA80-F2BF-B143A891188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8" name="Text Box 73">
            <a:extLst>
              <a:ext uri="{FF2B5EF4-FFF2-40B4-BE49-F238E27FC236}">
                <a16:creationId xmlns:a16="http://schemas.microsoft.com/office/drawing/2014/main" id="{F3BAC0D8-F7F8-5D04-5043-AAD77B24624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9" name="TextBox 8">
            <a:extLst>
              <a:ext uri="{FF2B5EF4-FFF2-40B4-BE49-F238E27FC236}">
                <a16:creationId xmlns:a16="http://schemas.microsoft.com/office/drawing/2014/main" id="{1A246CDD-3403-2D77-0210-DE28FDA040FE}"/>
              </a:ext>
            </a:extLst>
          </p:cNvPr>
          <p:cNvSpPr txBox="1"/>
          <p:nvPr/>
        </p:nvSpPr>
        <p:spPr>
          <a:xfrm>
            <a:off x="458117" y="810500"/>
            <a:ext cx="330275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err="1">
                <a:solidFill>
                  <a:prstClr val="black"/>
                </a:solidFill>
              </a:rPr>
              <a:t>입찰공고상세</a:t>
            </a:r>
            <a:r>
              <a:rPr lang="en-US" altLang="ko-KR" sz="900" b="1" dirty="0">
                <a:solidFill>
                  <a:prstClr val="black"/>
                </a:solidFill>
              </a:rPr>
              <a:t>-</a:t>
            </a:r>
            <a:r>
              <a:rPr lang="ko-KR" altLang="en-US" sz="900" b="1" dirty="0">
                <a:solidFill>
                  <a:prstClr val="black"/>
                </a:solidFill>
              </a:rPr>
              <a:t>공고일반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dmt_bidPbancGnrl</a:t>
            </a:r>
            <a:r>
              <a:rPr lang="en-US" altLang="ko-KR" sz="900" b="1" dirty="0">
                <a:solidFill>
                  <a:prstClr val="black"/>
                </a:solidFill>
              </a:rPr>
              <a:t>)</a:t>
            </a:r>
            <a:endParaRPr lang="ko-KR" altLang="en-US" sz="900" b="1" dirty="0">
              <a:solidFill>
                <a:prstClr val="black"/>
              </a:solidFill>
            </a:endParaRPr>
          </a:p>
        </p:txBody>
      </p:sp>
      <p:sp>
        <p:nvSpPr>
          <p:cNvPr id="2" name="TextBox 1">
            <a:extLst>
              <a:ext uri="{FF2B5EF4-FFF2-40B4-BE49-F238E27FC236}">
                <a16:creationId xmlns:a16="http://schemas.microsoft.com/office/drawing/2014/main" id="{E66D9D1D-1649-810C-9C62-3E633690892C}"/>
              </a:ext>
            </a:extLst>
          </p:cNvPr>
          <p:cNvSpPr txBox="1"/>
          <p:nvPr/>
        </p:nvSpPr>
        <p:spPr>
          <a:xfrm>
            <a:off x="458117" y="2486137"/>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884A2C2C-CD15-881B-3591-4257D55C6718}"/>
              </a:ext>
            </a:extLst>
          </p:cNvPr>
          <p:cNvGraphicFramePr>
            <a:graphicFrameLocks noGrp="1"/>
          </p:cNvGraphicFramePr>
          <p:nvPr/>
        </p:nvGraphicFramePr>
        <p:xfrm>
          <a:off x="453000" y="2764268"/>
          <a:ext cx="8995591" cy="387840"/>
        </p:xfrm>
        <a:graphic>
          <a:graphicData uri="http://schemas.openxmlformats.org/drawingml/2006/table">
            <a:tbl>
              <a:tblPr>
                <a:tableStyleId>{616DA210-FB5B-4158-B5E0-FEB733F419BA}</a:tableStyleId>
              </a:tblPr>
              <a:tblGrid>
                <a:gridCol w="1481308">
                  <a:extLst>
                    <a:ext uri="{9D8B030D-6E8A-4147-A177-3AD203B41FA5}">
                      <a16:colId xmlns:a16="http://schemas.microsoft.com/office/drawing/2014/main" val="20000"/>
                    </a:ext>
                  </a:extLst>
                </a:gridCol>
                <a:gridCol w="1242646">
                  <a:extLst>
                    <a:ext uri="{9D8B030D-6E8A-4147-A177-3AD203B41FA5}">
                      <a16:colId xmlns:a16="http://schemas.microsoft.com/office/drawing/2014/main" val="1191088031"/>
                    </a:ext>
                  </a:extLst>
                </a:gridCol>
                <a:gridCol w="3651482">
                  <a:extLst>
                    <a:ext uri="{9D8B030D-6E8A-4147-A177-3AD203B41FA5}">
                      <a16:colId xmlns:a16="http://schemas.microsoft.com/office/drawing/2014/main" val="20001"/>
                    </a:ext>
                  </a:extLst>
                </a:gridCol>
                <a:gridCol w="262015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 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공통코드정보를 </a:t>
                      </a:r>
                      <a:r>
                        <a:rPr lang="ko-KR" altLang="en-US" sz="800" dirty="0" err="1">
                          <a:latin typeface="+mn-ea"/>
                          <a:ea typeface="+mn-ea"/>
                        </a:rPr>
                        <a:t>로드한다</a:t>
                      </a:r>
                      <a:r>
                        <a:rPr lang="en-US" altLang="ko-KR" sz="800" dirty="0">
                          <a:latin typeface="+mn-ea"/>
                          <a:ea typeface="+mn-ea"/>
                        </a:rPr>
                        <a:t>. </a:t>
                      </a:r>
                      <a:r>
                        <a:rPr lang="ko-KR" altLang="en-US" sz="800" dirty="0">
                          <a:latin typeface="+mn-ea"/>
                          <a:ea typeface="+mn-ea"/>
                        </a:rPr>
                        <a:t>공고일반정보를 </a:t>
                      </a:r>
                      <a:r>
                        <a:rPr lang="ko-KR" altLang="en-US" sz="800" dirty="0" err="1">
                          <a:latin typeface="+mn-ea"/>
                          <a:ea typeface="+mn-ea"/>
                        </a:rPr>
                        <a:t>로드한다</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6" name="Text Box 73">
            <a:extLst>
              <a:ext uri="{FF2B5EF4-FFF2-40B4-BE49-F238E27FC236}">
                <a16:creationId xmlns:a16="http://schemas.microsoft.com/office/drawing/2014/main" id="{5E67C676-303D-D53C-67C5-5EB5AC3D44C0}"/>
              </a:ext>
            </a:extLst>
          </p:cNvPr>
          <p:cNvSpPr txBox="1">
            <a:spLocks noChangeArrowheads="1"/>
          </p:cNvSpPr>
          <p:nvPr/>
        </p:nvSpPr>
        <p:spPr bwMode="auto">
          <a:xfrm>
            <a:off x="7769866" y="2543523"/>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23500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총액제</a:t>
            </a:r>
            <a:r>
              <a:rPr lang="ko-KR" altLang="en-US" dirty="0"/>
              <a:t> 화면</a:t>
            </a:r>
            <a:r>
              <a:rPr lang="en-US" altLang="ko-KR" dirty="0"/>
              <a:t/>
            </a:r>
            <a:br>
              <a:rPr lang="en-US" altLang="ko-KR" dirty="0"/>
            </a:br>
            <a:r>
              <a:rPr lang="en-US" altLang="ko-KR" dirty="0"/>
              <a:t>- </a:t>
            </a:r>
            <a:r>
              <a:rPr lang="ko-KR" altLang="en-US" dirty="0" err="1"/>
              <a:t>계약방법이</a:t>
            </a:r>
            <a:r>
              <a:rPr lang="ko-KR" altLang="en-US" dirty="0"/>
              <a:t> ‘</a:t>
            </a:r>
            <a:r>
              <a:rPr lang="ko-KR" altLang="en-US" dirty="0" err="1"/>
              <a:t>경쟁입찰＇인</a:t>
            </a:r>
            <a:r>
              <a:rPr lang="ko-KR" altLang="en-US" dirty="0"/>
              <a:t> 경우 기초예비가격</a:t>
            </a:r>
            <a:r>
              <a:rPr lang="en-US" altLang="ko-KR" dirty="0"/>
              <a:t>Tab</a:t>
            </a:r>
            <a:r>
              <a:rPr lang="ko-KR" altLang="en-US" dirty="0"/>
              <a:t>은 노출</a:t>
            </a:r>
            <a:br>
              <a:rPr lang="ko-KR" altLang="en-US" dirty="0"/>
            </a:br>
            <a:r>
              <a:rPr lang="en-US" altLang="ko-KR" dirty="0"/>
              <a:t>- </a:t>
            </a:r>
            <a:r>
              <a:rPr lang="ko-KR" altLang="en-US" dirty="0"/>
              <a:t>수의계약인 경우 탭 노출하지 않음</a:t>
            </a:r>
            <a:r>
              <a:rPr lang="en-US" altLang="ko-KR" dirty="0"/>
              <a:t/>
            </a:r>
            <a:br>
              <a:rPr lang="en-US" altLang="ko-KR" dirty="0"/>
            </a:br>
            <a:r>
              <a:rPr lang="en-US" altLang="ko-KR" dirty="0"/>
              <a:t>- </a:t>
            </a:r>
            <a:r>
              <a:rPr lang="ko-KR" altLang="en-US" dirty="0" err="1"/>
              <a:t>업무구분이</a:t>
            </a:r>
            <a:r>
              <a:rPr lang="ko-KR" altLang="en-US" dirty="0"/>
              <a:t> ‘물품</a:t>
            </a:r>
            <a:r>
              <a:rPr lang="en-US" altLang="ko-KR" dirty="0"/>
              <a:t>/</a:t>
            </a:r>
            <a:r>
              <a:rPr lang="ko-KR" altLang="en-US" dirty="0" err="1"/>
              <a:t>용역’인</a:t>
            </a:r>
            <a:r>
              <a:rPr lang="ko-KR" altLang="en-US" dirty="0"/>
              <a:t> 경우 표시 화면</a:t>
            </a:r>
            <a:endParaRPr lang="en-US" altLang="ko-KR" dirty="0"/>
          </a:p>
          <a:p>
            <a:pPr>
              <a:buFont typeface="+mj-lt"/>
              <a:buAutoNum type="arabicPeriod"/>
            </a:pPr>
            <a:r>
              <a:rPr lang="ko-KR" altLang="en-US" dirty="0" err="1"/>
              <a:t>계약종류</a:t>
            </a:r>
            <a:r>
              <a:rPr lang="en-US" altLang="ko-KR" dirty="0"/>
              <a:t>(</a:t>
            </a:r>
            <a:r>
              <a:rPr lang="ko-KR" altLang="en-US" dirty="0"/>
              <a:t>방산물자</a:t>
            </a:r>
            <a:r>
              <a:rPr lang="en-US" altLang="ko-KR" dirty="0"/>
              <a:t>)</a:t>
            </a:r>
            <a:r>
              <a:rPr lang="ko-KR" altLang="en-US" dirty="0"/>
              <a:t>가 </a:t>
            </a:r>
            <a:r>
              <a:rPr lang="en-US" altLang="ko-KR" dirty="0"/>
              <a:t>‘G2(</a:t>
            </a:r>
            <a:r>
              <a:rPr lang="ko-KR" altLang="en-US" dirty="0"/>
              <a:t>특정비목불확정계약</a:t>
            </a:r>
            <a:r>
              <a:rPr lang="en-US" altLang="ko-KR" dirty="0"/>
              <a:t>)’</a:t>
            </a:r>
            <a:r>
              <a:rPr lang="ko-KR" altLang="en-US" dirty="0"/>
              <a:t>일 경우 </a:t>
            </a:r>
            <a:r>
              <a:rPr lang="en-US" altLang="ko-KR" dirty="0"/>
              <a:t>‘</a:t>
            </a:r>
            <a:r>
              <a:rPr lang="ko-KR" altLang="en-US" dirty="0"/>
              <a:t>확정비목비율</a:t>
            </a:r>
            <a:r>
              <a:rPr lang="en-US" altLang="ko-KR" dirty="0"/>
              <a:t>’,’</a:t>
            </a:r>
            <a:r>
              <a:rPr lang="ko-KR" altLang="en-US" dirty="0"/>
              <a:t>불확정비목비율</a:t>
            </a:r>
            <a:r>
              <a:rPr lang="en-US" altLang="ko-KR" dirty="0"/>
              <a:t>＇</a:t>
            </a:r>
            <a:r>
              <a:rPr lang="ko-KR" altLang="en-US" dirty="0"/>
              <a:t>항목이 노출</a:t>
            </a:r>
            <a:endParaRPr lang="en-US" altLang="ko-KR" dirty="0"/>
          </a:p>
          <a:p>
            <a:pPr>
              <a:buFont typeface="+mj-lt"/>
              <a:buAutoNum type="arabicPeriod"/>
            </a:pPr>
            <a:r>
              <a:rPr lang="ko-KR" altLang="en-US" dirty="0" err="1"/>
              <a:t>단가제</a:t>
            </a:r>
            <a:r>
              <a:rPr lang="ko-KR" altLang="en-US" dirty="0"/>
              <a:t> 화면</a:t>
            </a:r>
            <a:r>
              <a:rPr lang="en-US" altLang="ko-KR" dirty="0"/>
              <a:t/>
            </a:r>
            <a:br>
              <a:rPr lang="en-US" altLang="ko-KR" dirty="0"/>
            </a:br>
            <a:r>
              <a:rPr lang="en-US" altLang="ko-KR" dirty="0"/>
              <a:t>- </a:t>
            </a:r>
            <a:r>
              <a:rPr lang="ko-KR" altLang="en-US" dirty="0"/>
              <a:t>항목이 여러 개인 경우 하단으로 테이블 추가하여 노출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기초예비가격</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기초예비가격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기초예비가격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MUI-BD-01-M08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1384703"/>
            <a:chOff x="701175" y="1527996"/>
            <a:chExt cx="2630093" cy="1384703"/>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444365" cy="215444"/>
            </a:xfrm>
            <a:prstGeom prst="rect">
              <a:avLst/>
            </a:prstGeom>
            <a:noFill/>
          </p:spPr>
          <p:txBody>
            <a:bodyPr wrap="square" lIns="0" tIns="0" rIns="0" bIns="0" rtlCol="0">
              <a:spAutoFit/>
            </a:bodyPr>
            <a:lstStyle/>
            <a:p>
              <a:pPr>
                <a:lnSpc>
                  <a:spcPct val="200000"/>
                </a:lnSpc>
              </a:pPr>
              <a:r>
                <a:rPr lang="ko-KR" altLang="en-US" sz="700" dirty="0">
                  <a:latin typeface="+mn-ea"/>
                </a:rPr>
                <a:t>기초예비가격</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10737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25552" cy="1077218"/>
            </a:xfrm>
            <a:prstGeom prst="rect">
              <a:avLst/>
            </a:prstGeom>
            <a:noFill/>
          </p:spPr>
          <p:txBody>
            <a:bodyPr wrap="square" lIns="0" tIns="0" rIns="0" bIns="0" rtlCol="0">
              <a:spAutoFit/>
            </a:bodyPr>
            <a:lstStyle/>
            <a:p>
              <a:pPr>
                <a:lnSpc>
                  <a:spcPct val="200000"/>
                </a:lnSpc>
              </a:pPr>
              <a:r>
                <a:rPr lang="ko-KR" altLang="en-US" sz="700" dirty="0">
                  <a:latin typeface="+mn-ea"/>
                </a:rPr>
                <a:t>기초예비가격</a:t>
              </a:r>
              <a:endParaRPr lang="en-US" altLang="ko-KR" sz="700" dirty="0">
                <a:latin typeface="+mn-ea"/>
              </a:endParaRPr>
            </a:p>
            <a:p>
              <a:pPr>
                <a:lnSpc>
                  <a:spcPct val="200000"/>
                </a:lnSpc>
              </a:pPr>
              <a:r>
                <a:rPr lang="ko-KR" altLang="en-US" sz="700" dirty="0" err="1">
                  <a:latin typeface="+mn-ea"/>
                </a:rPr>
                <a:t>사정율</a:t>
              </a:r>
              <a:r>
                <a:rPr lang="en-US" altLang="ko-KR" sz="700" dirty="0">
                  <a:latin typeface="+mn-ea"/>
                </a:rPr>
                <a:t>(%)</a:t>
              </a:r>
            </a:p>
            <a:p>
              <a:pPr>
                <a:lnSpc>
                  <a:spcPct val="200000"/>
                </a:lnSpc>
              </a:pPr>
              <a:r>
                <a:rPr lang="ko-KR" altLang="en-US" sz="700" dirty="0" err="1">
                  <a:latin typeface="+mn-ea"/>
                </a:rPr>
                <a:t>낙찰하한율</a:t>
              </a:r>
              <a:r>
                <a:rPr lang="en-US" altLang="ko-KR" sz="700" dirty="0">
                  <a:latin typeface="+mn-ea"/>
                </a:rPr>
                <a:t>(%)</a:t>
              </a:r>
            </a:p>
            <a:p>
              <a:pPr>
                <a:lnSpc>
                  <a:spcPct val="200000"/>
                </a:lnSpc>
              </a:pPr>
              <a:r>
                <a:rPr lang="ko-KR" altLang="en-US" sz="700" dirty="0">
                  <a:latin typeface="+mn-ea"/>
                </a:rPr>
                <a:t>확정비목비율</a:t>
              </a:r>
              <a:endParaRPr lang="en-US" altLang="ko-KR" sz="700" dirty="0">
                <a:latin typeface="+mn-ea"/>
              </a:endParaRPr>
            </a:p>
            <a:p>
              <a:pPr>
                <a:lnSpc>
                  <a:spcPct val="200000"/>
                </a:lnSpc>
              </a:pPr>
              <a:r>
                <a:rPr lang="ko-KR" altLang="en-US" sz="700" dirty="0">
                  <a:latin typeface="+mn-ea"/>
                </a:rPr>
                <a:t>불확정비목비율</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84088" cy="1077218"/>
            </a:xfrm>
            <a:prstGeom prst="rect">
              <a:avLst/>
            </a:prstGeom>
            <a:noFill/>
          </p:spPr>
          <p:txBody>
            <a:bodyPr wrap="square" lIns="0" tIns="0" rIns="0" bIns="0" rtlCol="0">
              <a:spAutoFit/>
            </a:bodyPr>
            <a:lstStyle/>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00 %</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grpSp>
          <p:nvGrpSpPr>
            <p:cNvPr id="17" name="그룹 16"/>
            <p:cNvGrpSpPr/>
            <p:nvPr/>
          </p:nvGrpSpPr>
          <p:grpSpPr>
            <a:xfrm>
              <a:off x="701175" y="1835481"/>
              <a:ext cx="2630093" cy="1073700"/>
              <a:chOff x="701175" y="1835481"/>
              <a:chExt cx="2630093" cy="107370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6" name="타원 255">
            <a:extLst>
              <a:ext uri="{FF2B5EF4-FFF2-40B4-BE49-F238E27FC236}">
                <a16:creationId xmlns:a16="http://schemas.microsoft.com/office/drawing/2014/main" id="{37A7FF4F-0EAA-1463-560A-D5EC24416103}"/>
              </a:ext>
            </a:extLst>
          </p:cNvPr>
          <p:cNvSpPr/>
          <p:nvPr/>
        </p:nvSpPr>
        <p:spPr>
          <a:xfrm>
            <a:off x="3689399"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74" name="TextBox 73">
            <a:extLst>
              <a:ext uri="{FF2B5EF4-FFF2-40B4-BE49-F238E27FC236}">
                <a16:creationId xmlns:a16="http://schemas.microsoft.com/office/drawing/2014/main" id="{FFC49AEA-2A8F-250C-A86A-A7751D9706C3}"/>
              </a:ext>
            </a:extLst>
          </p:cNvPr>
          <p:cNvSpPr txBox="1"/>
          <p:nvPr/>
        </p:nvSpPr>
        <p:spPr>
          <a:xfrm>
            <a:off x="3882480" y="1527996"/>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기초예비가격</a:t>
            </a:r>
          </a:p>
        </p:txBody>
      </p:sp>
      <p:grpSp>
        <p:nvGrpSpPr>
          <p:cNvPr id="75" name="그룹 74"/>
          <p:cNvGrpSpPr/>
          <p:nvPr/>
        </p:nvGrpSpPr>
        <p:grpSpPr>
          <a:xfrm flipV="1">
            <a:off x="6244568" y="1641327"/>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6" name="직사각형 75"/>
          <p:cNvSpPr/>
          <p:nvPr/>
        </p:nvSpPr>
        <p:spPr>
          <a:xfrm>
            <a:off x="3823603" y="1835481"/>
            <a:ext cx="792000" cy="150215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TextBox 76">
            <a:extLst>
              <a:ext uri="{FF2B5EF4-FFF2-40B4-BE49-F238E27FC236}">
                <a16:creationId xmlns:a16="http://schemas.microsoft.com/office/drawing/2014/main" id="{FFC49AEA-2A8F-250C-A86A-A7751D9706C3}"/>
              </a:ext>
            </a:extLst>
          </p:cNvPr>
          <p:cNvSpPr txBox="1"/>
          <p:nvPr/>
        </p:nvSpPr>
        <p:spPr>
          <a:xfrm>
            <a:off x="3910666" y="1835481"/>
            <a:ext cx="725552" cy="1508105"/>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기초예비가격</a:t>
            </a:r>
            <a:endParaRPr lang="en-US" altLang="ko-KR" sz="700" dirty="0">
              <a:latin typeface="+mn-ea"/>
            </a:endParaRPr>
          </a:p>
          <a:p>
            <a:pPr>
              <a:lnSpc>
                <a:spcPct val="200000"/>
              </a:lnSpc>
            </a:pPr>
            <a:r>
              <a:rPr lang="ko-KR" altLang="en-US" sz="700" dirty="0" err="1">
                <a:latin typeface="+mn-ea"/>
              </a:rPr>
              <a:t>사정율</a:t>
            </a:r>
            <a:r>
              <a:rPr lang="en-US" altLang="ko-KR" sz="700" dirty="0">
                <a:latin typeface="+mn-ea"/>
              </a:rPr>
              <a:t>(%)</a:t>
            </a:r>
          </a:p>
          <a:p>
            <a:pPr>
              <a:lnSpc>
                <a:spcPct val="200000"/>
              </a:lnSpc>
            </a:pPr>
            <a:r>
              <a:rPr lang="ko-KR" altLang="en-US" sz="700" dirty="0" err="1">
                <a:latin typeface="+mn-ea"/>
              </a:rPr>
              <a:t>낙찰하한율</a:t>
            </a:r>
            <a:r>
              <a:rPr lang="en-US" altLang="ko-KR" sz="700" dirty="0">
                <a:latin typeface="+mn-ea"/>
              </a:rPr>
              <a:t>(%)</a:t>
            </a:r>
            <a:endParaRPr lang="ko-KR" altLang="en-US" sz="700" dirty="0">
              <a:latin typeface="+mn-ea"/>
            </a:endParaRPr>
          </a:p>
        </p:txBody>
      </p:sp>
      <p:sp>
        <p:nvSpPr>
          <p:cNvPr id="78" name="TextBox 77">
            <a:extLst>
              <a:ext uri="{FF2B5EF4-FFF2-40B4-BE49-F238E27FC236}">
                <a16:creationId xmlns:a16="http://schemas.microsoft.com/office/drawing/2014/main" id="{FFC49AEA-2A8F-250C-A86A-A7751D9706C3}"/>
              </a:ext>
            </a:extLst>
          </p:cNvPr>
          <p:cNvSpPr txBox="1"/>
          <p:nvPr/>
        </p:nvSpPr>
        <p:spPr>
          <a:xfrm>
            <a:off x="4667515" y="1835481"/>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00 %</a:t>
            </a:r>
          </a:p>
        </p:txBody>
      </p:sp>
      <p:grpSp>
        <p:nvGrpSpPr>
          <p:cNvPr id="79" name="그룹 78"/>
          <p:cNvGrpSpPr/>
          <p:nvPr/>
        </p:nvGrpSpPr>
        <p:grpSpPr>
          <a:xfrm>
            <a:off x="3821510" y="1835481"/>
            <a:ext cx="2630093" cy="1503180"/>
            <a:chOff x="701175" y="1835481"/>
            <a:chExt cx="2630093" cy="1503180"/>
          </a:xfrm>
        </p:grpSpPr>
        <p:cxnSp>
          <p:nvCxnSpPr>
            <p:cNvPr id="80" name="직선 연결선 7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1" name="직선 연결선 8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5" name="직선 연결선 8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6" name="직선 연결선 85">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08" name="직선 연결선 107">
            <a:extLst>
              <a:ext uri="{FF2B5EF4-FFF2-40B4-BE49-F238E27FC236}">
                <a16:creationId xmlns:a16="http://schemas.microsoft.com/office/drawing/2014/main" id="{E9293055-D5CD-4B9E-7F64-64B2D2CA7A52}"/>
              </a:ext>
            </a:extLst>
          </p:cNvPr>
          <p:cNvCxnSpPr/>
          <p:nvPr/>
        </p:nvCxnSpPr>
        <p:spPr>
          <a:xfrm>
            <a:off x="3795734" y="513676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30557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4" name="타원 103">
            <a:extLst>
              <a:ext uri="{FF2B5EF4-FFF2-40B4-BE49-F238E27FC236}">
                <a16:creationId xmlns:a16="http://schemas.microsoft.com/office/drawing/2014/main" id="{37A7FF4F-0EAA-1463-560A-D5EC24416103}"/>
              </a:ext>
            </a:extLst>
          </p:cNvPr>
          <p:cNvSpPr/>
          <p:nvPr/>
        </p:nvSpPr>
        <p:spPr>
          <a:xfrm>
            <a:off x="574326" y="260837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05" name="직사각형 104"/>
          <p:cNvSpPr/>
          <p:nvPr/>
        </p:nvSpPr>
        <p:spPr>
          <a:xfrm>
            <a:off x="3823603" y="3504491"/>
            <a:ext cx="792000" cy="150215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6" name="TextBox 105">
            <a:extLst>
              <a:ext uri="{FF2B5EF4-FFF2-40B4-BE49-F238E27FC236}">
                <a16:creationId xmlns:a16="http://schemas.microsoft.com/office/drawing/2014/main" id="{FFC49AEA-2A8F-250C-A86A-A7751D9706C3}"/>
              </a:ext>
            </a:extLst>
          </p:cNvPr>
          <p:cNvSpPr txBox="1"/>
          <p:nvPr/>
        </p:nvSpPr>
        <p:spPr>
          <a:xfrm>
            <a:off x="3910666" y="3504491"/>
            <a:ext cx="725552" cy="1508105"/>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기초예비가격</a:t>
            </a:r>
            <a:endParaRPr lang="en-US" altLang="ko-KR" sz="700" dirty="0">
              <a:latin typeface="+mn-ea"/>
            </a:endParaRPr>
          </a:p>
          <a:p>
            <a:pPr>
              <a:lnSpc>
                <a:spcPct val="200000"/>
              </a:lnSpc>
            </a:pPr>
            <a:r>
              <a:rPr lang="ko-KR" altLang="en-US" sz="700" dirty="0" err="1">
                <a:latin typeface="+mn-ea"/>
              </a:rPr>
              <a:t>사정율</a:t>
            </a:r>
            <a:r>
              <a:rPr lang="en-US" altLang="ko-KR" sz="700" dirty="0">
                <a:latin typeface="+mn-ea"/>
              </a:rPr>
              <a:t>(%)</a:t>
            </a:r>
          </a:p>
          <a:p>
            <a:pPr>
              <a:lnSpc>
                <a:spcPct val="200000"/>
              </a:lnSpc>
            </a:pPr>
            <a:r>
              <a:rPr lang="ko-KR" altLang="en-US" sz="700" dirty="0" err="1">
                <a:latin typeface="+mn-ea"/>
              </a:rPr>
              <a:t>낙찰하한율</a:t>
            </a:r>
            <a:r>
              <a:rPr lang="en-US" altLang="ko-KR" sz="700" dirty="0">
                <a:latin typeface="+mn-ea"/>
              </a:rPr>
              <a:t>(%)</a:t>
            </a:r>
            <a:endParaRPr lang="ko-KR" altLang="en-US" sz="700" dirty="0">
              <a:latin typeface="+mn-ea"/>
            </a:endParaRPr>
          </a:p>
        </p:txBody>
      </p:sp>
      <p:sp>
        <p:nvSpPr>
          <p:cNvPr id="107" name="TextBox 106">
            <a:extLst>
              <a:ext uri="{FF2B5EF4-FFF2-40B4-BE49-F238E27FC236}">
                <a16:creationId xmlns:a16="http://schemas.microsoft.com/office/drawing/2014/main" id="{FFC49AEA-2A8F-250C-A86A-A7751D9706C3}"/>
              </a:ext>
            </a:extLst>
          </p:cNvPr>
          <p:cNvSpPr txBox="1"/>
          <p:nvPr/>
        </p:nvSpPr>
        <p:spPr>
          <a:xfrm>
            <a:off x="4667515" y="3504491"/>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00 %</a:t>
            </a:r>
          </a:p>
        </p:txBody>
      </p:sp>
      <p:grpSp>
        <p:nvGrpSpPr>
          <p:cNvPr id="109" name="그룹 108"/>
          <p:cNvGrpSpPr/>
          <p:nvPr/>
        </p:nvGrpSpPr>
        <p:grpSpPr>
          <a:xfrm>
            <a:off x="3821510" y="3504491"/>
            <a:ext cx="2630093" cy="1503180"/>
            <a:chOff x="701175" y="1835481"/>
            <a:chExt cx="2630093" cy="1503180"/>
          </a:xfrm>
        </p:grpSpPr>
        <p:cxnSp>
          <p:nvCxnSpPr>
            <p:cNvPr id="110" name="직선 연결선 10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4737868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공사의 기초예비가격 화면</a:t>
            </a:r>
            <a:r>
              <a:rPr lang="en-US" altLang="ko-KR" dirty="0"/>
              <a:t/>
            </a:r>
            <a:br>
              <a:rPr lang="en-US" altLang="ko-KR" dirty="0"/>
            </a:br>
            <a:r>
              <a:rPr lang="ko-KR" altLang="en-US" dirty="0" err="1"/>
              <a:t>계약방법이</a:t>
            </a:r>
            <a:r>
              <a:rPr lang="ko-KR" altLang="en-US" dirty="0"/>
              <a:t> ‘</a:t>
            </a:r>
            <a:r>
              <a:rPr lang="ko-KR" altLang="en-US" dirty="0" err="1"/>
              <a:t>경쟁입찰＇인</a:t>
            </a:r>
            <a:r>
              <a:rPr lang="ko-KR" altLang="en-US" dirty="0"/>
              <a:t> 경우 기초예비가격</a:t>
            </a:r>
            <a:r>
              <a:rPr lang="en-US" altLang="ko-KR" dirty="0"/>
              <a:t>Tab</a:t>
            </a:r>
            <a:r>
              <a:rPr lang="ko-KR" altLang="en-US" dirty="0"/>
              <a:t>은 노출</a:t>
            </a:r>
            <a:br>
              <a:rPr lang="ko-KR" altLang="en-US" dirty="0"/>
            </a:br>
            <a:r>
              <a:rPr lang="en-US" altLang="ko-KR" dirty="0"/>
              <a:t>- </a:t>
            </a:r>
            <a:r>
              <a:rPr lang="ko-KR" altLang="en-US" dirty="0"/>
              <a:t>수의계약인 경우 탭 노출하지 않음</a:t>
            </a:r>
            <a:r>
              <a:rPr lang="en-US" altLang="ko-KR" dirty="0"/>
              <a:t/>
            </a:r>
            <a:br>
              <a:rPr lang="en-US" altLang="ko-KR" dirty="0"/>
            </a:br>
            <a:r>
              <a:rPr lang="en-US" altLang="ko-KR" dirty="0"/>
              <a:t>- </a:t>
            </a:r>
            <a:r>
              <a:rPr lang="ko-KR" altLang="en-US" dirty="0" err="1"/>
              <a:t>업무구분이</a:t>
            </a:r>
            <a:r>
              <a:rPr lang="ko-KR" altLang="en-US" dirty="0"/>
              <a:t> ‘</a:t>
            </a:r>
            <a:r>
              <a:rPr lang="ko-KR" altLang="en-US" dirty="0" err="1"/>
              <a:t>공사’인</a:t>
            </a:r>
            <a:r>
              <a:rPr lang="ko-KR" altLang="en-US" dirty="0"/>
              <a:t> 경우 표시 화면</a:t>
            </a:r>
            <a:r>
              <a:rPr lang="en-US" altLang="ko-KR" dirty="0"/>
              <a:t/>
            </a:r>
            <a:br>
              <a:rPr lang="en-US" altLang="ko-KR" dirty="0"/>
            </a:br>
            <a:r>
              <a:rPr lang="en-US" altLang="ko-KR" dirty="0"/>
              <a:t>- </a:t>
            </a:r>
            <a:r>
              <a:rPr lang="ko-KR" altLang="en-US" dirty="0"/>
              <a:t>입찰참가자격이 ‘</a:t>
            </a:r>
            <a:r>
              <a:rPr lang="en-US" altLang="ko-KR" dirty="0"/>
              <a:t>Y’</a:t>
            </a:r>
            <a:r>
              <a:rPr lang="ko-KR" altLang="en-US" dirty="0"/>
              <a:t>일 경우 기초예비가격</a:t>
            </a:r>
            <a:r>
              <a:rPr lang="en-US" altLang="ko-KR" dirty="0"/>
              <a:t>Tab </a:t>
            </a:r>
            <a:r>
              <a:rPr lang="ko-KR" altLang="en-US" dirty="0"/>
              <a:t>노출</a:t>
            </a:r>
          </a:p>
          <a:p>
            <a:pPr>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기초예비가격</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기초예비가격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기초예비가격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MUI-BD-01-M08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444365" cy="215444"/>
          </a:xfrm>
          <a:prstGeom prst="rect">
            <a:avLst/>
          </a:prstGeom>
          <a:noFill/>
        </p:spPr>
        <p:txBody>
          <a:bodyPr wrap="square" lIns="0" tIns="0" rIns="0" bIns="0" rtlCol="0">
            <a:spAutoFit/>
          </a:bodyPr>
          <a:lstStyle/>
          <a:p>
            <a:pPr>
              <a:lnSpc>
                <a:spcPct val="200000"/>
              </a:lnSpc>
            </a:pPr>
            <a:r>
              <a:rPr lang="ko-KR" altLang="en-US" sz="700" dirty="0">
                <a:latin typeface="+mn-ea"/>
              </a:rPr>
              <a:t>기초예비가격</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2918001"/>
            <a:ext cx="792000" cy="331429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2918001"/>
            <a:ext cx="827906" cy="3231654"/>
          </a:xfrm>
          <a:prstGeom prst="rect">
            <a:avLst/>
          </a:prstGeom>
          <a:noFill/>
        </p:spPr>
        <p:txBody>
          <a:bodyPr wrap="square" lIns="0" tIns="0" rIns="0" bIns="0" rtlCol="0">
            <a:spAutoFit/>
          </a:bodyPr>
          <a:lstStyle/>
          <a:p>
            <a:pPr>
              <a:lnSpc>
                <a:spcPct val="200000"/>
              </a:lnSpc>
            </a:pPr>
            <a:r>
              <a:rPr lang="ko-KR" altLang="en-US" sz="700" dirty="0">
                <a:latin typeface="+mn-ea"/>
              </a:rPr>
              <a:t>기초예비가격</a:t>
            </a:r>
            <a:endParaRPr lang="en-US" altLang="ko-KR" sz="700" dirty="0">
              <a:latin typeface="+mn-ea"/>
            </a:endParaRPr>
          </a:p>
          <a:p>
            <a:pPr>
              <a:lnSpc>
                <a:spcPct val="200000"/>
              </a:lnSpc>
            </a:pPr>
            <a:r>
              <a:rPr lang="ko-KR" altLang="en-US" sz="700" dirty="0">
                <a:latin typeface="+mn-ea"/>
              </a:rPr>
              <a:t>하한</a:t>
            </a:r>
            <a:r>
              <a:rPr lang="en-US" altLang="ko-KR" sz="700" dirty="0">
                <a:latin typeface="+mn-ea"/>
              </a:rPr>
              <a:t>(%)</a:t>
            </a:r>
          </a:p>
          <a:p>
            <a:pPr>
              <a:lnSpc>
                <a:spcPct val="200000"/>
              </a:lnSpc>
            </a:pPr>
            <a:r>
              <a:rPr lang="ko-KR" altLang="en-US" sz="700" dirty="0">
                <a:latin typeface="+mn-ea"/>
              </a:rPr>
              <a:t>상한</a:t>
            </a:r>
            <a:r>
              <a:rPr lang="en-US" altLang="ko-KR" sz="700" dirty="0">
                <a:latin typeface="+mn-ea"/>
              </a:rPr>
              <a:t>(%)</a:t>
            </a:r>
          </a:p>
          <a:p>
            <a:pPr>
              <a:lnSpc>
                <a:spcPct val="200000"/>
              </a:lnSpc>
            </a:pPr>
            <a:r>
              <a:rPr lang="ko-KR" altLang="en-US" sz="700" dirty="0" err="1">
                <a:latin typeface="+mn-ea"/>
              </a:rPr>
              <a:t>낙찰하한율</a:t>
            </a:r>
            <a:endParaRPr lang="en-US" altLang="ko-KR" sz="700" dirty="0">
              <a:latin typeface="+mn-ea"/>
            </a:endParaRPr>
          </a:p>
          <a:p>
            <a:pPr>
              <a:lnSpc>
                <a:spcPct val="200000"/>
              </a:lnSpc>
            </a:pPr>
            <a:r>
              <a:rPr lang="ko-KR" altLang="en-US" sz="700" dirty="0">
                <a:latin typeface="+mn-ea"/>
              </a:rPr>
              <a:t>국민건강보험료</a:t>
            </a:r>
            <a:endParaRPr lang="en-US" altLang="ko-KR" sz="700" dirty="0">
              <a:latin typeface="+mn-ea"/>
            </a:endParaRPr>
          </a:p>
          <a:p>
            <a:pPr>
              <a:lnSpc>
                <a:spcPct val="200000"/>
              </a:lnSpc>
            </a:pPr>
            <a:r>
              <a:rPr lang="ko-KR" altLang="en-US" sz="700" dirty="0">
                <a:latin typeface="+mn-ea"/>
              </a:rPr>
              <a:t>국민연금보험료</a:t>
            </a:r>
            <a:endParaRPr lang="en-US" altLang="ko-KR" sz="700" dirty="0">
              <a:latin typeface="+mn-ea"/>
            </a:endParaRPr>
          </a:p>
          <a:p>
            <a:pPr>
              <a:lnSpc>
                <a:spcPct val="200000"/>
              </a:lnSpc>
            </a:pPr>
            <a:r>
              <a:rPr lang="ko-KR" altLang="en-US" sz="700" dirty="0">
                <a:latin typeface="+mn-ea"/>
              </a:rPr>
              <a:t>평가기준금액</a:t>
            </a:r>
            <a:endParaRPr lang="en-US" altLang="ko-KR" sz="700" dirty="0">
              <a:latin typeface="+mn-ea"/>
            </a:endParaRPr>
          </a:p>
          <a:p>
            <a:pPr>
              <a:lnSpc>
                <a:spcPct val="200000"/>
              </a:lnSpc>
            </a:pPr>
            <a:r>
              <a:rPr lang="ko-KR" altLang="en-US" sz="700" dirty="0">
                <a:latin typeface="+mn-ea"/>
              </a:rPr>
              <a:t>토목기초금액</a:t>
            </a:r>
            <a:endParaRPr lang="en-US" altLang="ko-KR" sz="700" dirty="0">
              <a:latin typeface="+mn-ea"/>
            </a:endParaRPr>
          </a:p>
          <a:p>
            <a:pPr>
              <a:lnSpc>
                <a:spcPct val="200000"/>
              </a:lnSpc>
            </a:pPr>
            <a:r>
              <a:rPr lang="ko-KR" altLang="en-US" sz="700" dirty="0">
                <a:latin typeface="+mn-ea"/>
              </a:rPr>
              <a:t>건축기초금액</a:t>
            </a:r>
            <a:endParaRPr lang="en-US" altLang="ko-KR" sz="700" dirty="0">
              <a:latin typeface="+mn-ea"/>
            </a:endParaRPr>
          </a:p>
          <a:p>
            <a:pPr>
              <a:lnSpc>
                <a:spcPct val="200000"/>
              </a:lnSpc>
            </a:pPr>
            <a:r>
              <a:rPr lang="ko-KR" altLang="en-US" sz="700" dirty="0" err="1">
                <a:latin typeface="+mn-ea"/>
              </a:rPr>
              <a:t>노구기준율</a:t>
            </a:r>
            <a:r>
              <a:rPr lang="en-US" altLang="ko-KR" sz="700" dirty="0">
                <a:latin typeface="+mn-ea"/>
              </a:rPr>
              <a:t>(%)</a:t>
            </a:r>
          </a:p>
          <a:p>
            <a:pPr>
              <a:lnSpc>
                <a:spcPct val="200000"/>
              </a:lnSpc>
            </a:pPr>
            <a:r>
              <a:rPr lang="ko-KR" altLang="en-US" sz="700" dirty="0">
                <a:latin typeface="+mn-ea"/>
              </a:rPr>
              <a:t>기타경비기준율</a:t>
            </a:r>
            <a:r>
              <a:rPr lang="en-US" altLang="ko-KR" sz="700" dirty="0">
                <a:latin typeface="+mn-ea"/>
              </a:rPr>
              <a:t>(%)</a:t>
            </a:r>
          </a:p>
          <a:p>
            <a:pPr>
              <a:lnSpc>
                <a:spcPct val="200000"/>
              </a:lnSpc>
            </a:pPr>
            <a:r>
              <a:rPr lang="ko-KR" altLang="en-US" sz="700" dirty="0">
                <a:latin typeface="+mn-ea"/>
              </a:rPr>
              <a:t>일반관리비기준비</a:t>
            </a:r>
            <a:r>
              <a:rPr lang="en-US" altLang="ko-KR" sz="700" dirty="0">
                <a:latin typeface="+mn-ea"/>
              </a:rPr>
              <a:t>(%)</a:t>
            </a:r>
          </a:p>
          <a:p>
            <a:pPr>
              <a:lnSpc>
                <a:spcPct val="200000"/>
              </a:lnSpc>
            </a:pPr>
            <a:r>
              <a:rPr lang="ko-KR" altLang="en-US" sz="700" dirty="0" err="1">
                <a:latin typeface="+mn-ea"/>
              </a:rPr>
              <a:t>이윤기준율</a:t>
            </a:r>
            <a:r>
              <a:rPr lang="en-US" altLang="ko-KR" sz="700" dirty="0">
                <a:latin typeface="+mn-ea"/>
              </a:rPr>
              <a:t>(%)</a:t>
            </a:r>
          </a:p>
          <a:p>
            <a:pPr>
              <a:lnSpc>
                <a:spcPct val="200000"/>
              </a:lnSpc>
            </a:pPr>
            <a:r>
              <a:rPr lang="ko-KR" altLang="en-US" sz="700" dirty="0">
                <a:latin typeface="+mn-ea"/>
              </a:rPr>
              <a:t>적용난이도계수</a:t>
            </a:r>
            <a:endParaRPr lang="en-US" altLang="ko-KR" sz="700" dirty="0">
              <a:latin typeface="+mn-ea"/>
            </a:endParaRPr>
          </a:p>
          <a:p>
            <a:pPr>
              <a:lnSpc>
                <a:spcPct val="200000"/>
              </a:lnSpc>
            </a:pPr>
            <a:r>
              <a:rPr lang="ko-KR" altLang="en-US" sz="700" dirty="0" err="1">
                <a:latin typeface="+mn-ea"/>
              </a:rPr>
              <a:t>요양보험료</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2918001"/>
            <a:ext cx="1784088" cy="3231654"/>
          </a:xfrm>
          <a:prstGeom prst="rect">
            <a:avLst/>
          </a:prstGeom>
          <a:noFill/>
        </p:spPr>
        <p:txBody>
          <a:bodyPr wrap="square" lIns="0" tIns="0" rIns="0" bIns="0" rtlCol="0">
            <a:spAutoFit/>
          </a:bodyPr>
          <a:lstStyle/>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00 %</a:t>
            </a:r>
          </a:p>
          <a:p>
            <a:pPr algn="r">
              <a:lnSpc>
                <a:spcPct val="200000"/>
              </a:lnSpc>
            </a:pPr>
            <a:r>
              <a:rPr lang="en-US" altLang="ko-KR" sz="700" dirty="0">
                <a:latin typeface="+mn-ea"/>
              </a:rPr>
              <a:t>-</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00 %</a:t>
            </a:r>
          </a:p>
          <a:p>
            <a:pPr algn="r">
              <a:lnSpc>
                <a:spcPct val="200000"/>
              </a:lnSpc>
            </a:pPr>
            <a:r>
              <a:rPr lang="en-US" altLang="ko-KR" sz="700" dirty="0">
                <a:latin typeface="+mn-ea"/>
              </a:rPr>
              <a:t>00 %</a:t>
            </a:r>
          </a:p>
          <a:p>
            <a:pPr algn="r">
              <a:lnSpc>
                <a:spcPct val="200000"/>
              </a:lnSpc>
            </a:pPr>
            <a:r>
              <a:rPr lang="en-US" altLang="ko-KR" sz="700" dirty="0">
                <a:latin typeface="+mn-ea"/>
              </a:rPr>
              <a:t>00 %</a:t>
            </a:r>
          </a:p>
          <a:p>
            <a:pPr>
              <a:lnSpc>
                <a:spcPct val="200000"/>
              </a:lnSpc>
            </a:pPr>
            <a:r>
              <a:rPr lang="en-US" altLang="ko-KR" sz="700" dirty="0">
                <a:latin typeface="+mn-ea"/>
              </a:rPr>
              <a:t>-</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17" name="그룹 16"/>
          <p:cNvGrpSpPr/>
          <p:nvPr/>
        </p:nvGrpSpPr>
        <p:grpSpPr>
          <a:xfrm>
            <a:off x="701175" y="2918001"/>
            <a:ext cx="2630093" cy="3224116"/>
            <a:chOff x="701175" y="1835481"/>
            <a:chExt cx="2630093" cy="3224116"/>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7" name="직선 연결선 66">
              <a:extLst>
                <a:ext uri="{FF2B5EF4-FFF2-40B4-BE49-F238E27FC236}">
                  <a16:creationId xmlns:a16="http://schemas.microsoft.com/office/drawing/2014/main" id="{E9293055-D5CD-4B9E-7F64-64B2D2CA7A52}"/>
                </a:ext>
              </a:extLst>
            </p:cNvPr>
            <p:cNvCxnSpPr/>
            <p:nvPr/>
          </p:nvCxnSpPr>
          <p:spPr>
            <a:xfrm>
              <a:off x="703268" y="31285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8" name="직선 연결선 67">
              <a:extLst>
                <a:ext uri="{FF2B5EF4-FFF2-40B4-BE49-F238E27FC236}">
                  <a16:creationId xmlns:a16="http://schemas.microsoft.com/office/drawing/2014/main" id="{E9293055-D5CD-4B9E-7F64-64B2D2CA7A52}"/>
                </a:ext>
              </a:extLst>
            </p:cNvPr>
            <p:cNvCxnSpPr/>
            <p:nvPr/>
          </p:nvCxnSpPr>
          <p:spPr>
            <a:xfrm>
              <a:off x="703268" y="33433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9" name="직선 연결선 68">
              <a:extLst>
                <a:ext uri="{FF2B5EF4-FFF2-40B4-BE49-F238E27FC236}">
                  <a16:creationId xmlns:a16="http://schemas.microsoft.com/office/drawing/2014/main" id="{E9293055-D5CD-4B9E-7F64-64B2D2CA7A52}"/>
                </a:ext>
              </a:extLst>
            </p:cNvPr>
            <p:cNvCxnSpPr/>
            <p:nvPr/>
          </p:nvCxnSpPr>
          <p:spPr>
            <a:xfrm>
              <a:off x="703268" y="35580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0" name="직선 연결선 69">
              <a:extLst>
                <a:ext uri="{FF2B5EF4-FFF2-40B4-BE49-F238E27FC236}">
                  <a16:creationId xmlns:a16="http://schemas.microsoft.com/office/drawing/2014/main" id="{E9293055-D5CD-4B9E-7F64-64B2D2CA7A52}"/>
                </a:ext>
              </a:extLst>
            </p:cNvPr>
            <p:cNvCxnSpPr/>
            <p:nvPr/>
          </p:nvCxnSpPr>
          <p:spPr>
            <a:xfrm>
              <a:off x="703268" y="37728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1" name="직선 연결선 70">
              <a:extLst>
                <a:ext uri="{FF2B5EF4-FFF2-40B4-BE49-F238E27FC236}">
                  <a16:creationId xmlns:a16="http://schemas.microsoft.com/office/drawing/2014/main" id="{E9293055-D5CD-4B9E-7F64-64B2D2CA7A52}"/>
                </a:ext>
              </a:extLst>
            </p:cNvPr>
            <p:cNvCxnSpPr/>
            <p:nvPr/>
          </p:nvCxnSpPr>
          <p:spPr>
            <a:xfrm>
              <a:off x="703268" y="39875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3" name="직선 연결선 72">
              <a:extLst>
                <a:ext uri="{FF2B5EF4-FFF2-40B4-BE49-F238E27FC236}">
                  <a16:creationId xmlns:a16="http://schemas.microsoft.com/office/drawing/2014/main" id="{E9293055-D5CD-4B9E-7F64-64B2D2CA7A52}"/>
                </a:ext>
              </a:extLst>
            </p:cNvPr>
            <p:cNvCxnSpPr/>
            <p:nvPr/>
          </p:nvCxnSpPr>
          <p:spPr>
            <a:xfrm>
              <a:off x="703268" y="42006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3" name="직선 연결선 82">
              <a:extLst>
                <a:ext uri="{FF2B5EF4-FFF2-40B4-BE49-F238E27FC236}">
                  <a16:creationId xmlns:a16="http://schemas.microsoft.com/office/drawing/2014/main" id="{E9293055-D5CD-4B9E-7F64-64B2D2CA7A52}"/>
                </a:ext>
              </a:extLst>
            </p:cNvPr>
            <p:cNvCxnSpPr/>
            <p:nvPr/>
          </p:nvCxnSpPr>
          <p:spPr>
            <a:xfrm>
              <a:off x="703268" y="44153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46301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48448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03268" y="50595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76" name="직사각형 75"/>
          <p:cNvSpPr/>
          <p:nvPr/>
        </p:nvSpPr>
        <p:spPr>
          <a:xfrm>
            <a:off x="3823603" y="1500106"/>
            <a:ext cx="792000" cy="19389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TextBox 76">
            <a:extLst>
              <a:ext uri="{FF2B5EF4-FFF2-40B4-BE49-F238E27FC236}">
                <a16:creationId xmlns:a16="http://schemas.microsoft.com/office/drawing/2014/main" id="{FFC49AEA-2A8F-250C-A86A-A7751D9706C3}"/>
              </a:ext>
            </a:extLst>
          </p:cNvPr>
          <p:cNvSpPr txBox="1"/>
          <p:nvPr/>
        </p:nvSpPr>
        <p:spPr>
          <a:xfrm>
            <a:off x="3910666" y="1500106"/>
            <a:ext cx="811272" cy="1938992"/>
          </a:xfrm>
          <a:prstGeom prst="rect">
            <a:avLst/>
          </a:prstGeom>
          <a:noFill/>
        </p:spPr>
        <p:txBody>
          <a:bodyPr wrap="square" lIns="0" tIns="0" rIns="0" bIns="0" rtlCol="0">
            <a:spAutoFit/>
          </a:bodyPr>
          <a:lstStyle/>
          <a:p>
            <a:pPr>
              <a:lnSpc>
                <a:spcPct val="200000"/>
              </a:lnSpc>
            </a:pPr>
            <a:r>
              <a:rPr lang="ko-KR" altLang="en-US" sz="700" dirty="0">
                <a:latin typeface="+mn-ea"/>
              </a:rPr>
              <a:t>산업안전보건관리비</a:t>
            </a:r>
            <a:endParaRPr lang="en-US" altLang="ko-KR" sz="700" dirty="0">
              <a:latin typeface="+mn-ea"/>
            </a:endParaRPr>
          </a:p>
          <a:p>
            <a:pPr>
              <a:lnSpc>
                <a:spcPct val="200000"/>
              </a:lnSpc>
            </a:pPr>
            <a:r>
              <a:rPr lang="ko-KR" altLang="en-US" sz="700" dirty="0">
                <a:latin typeface="+mn-ea"/>
              </a:rPr>
              <a:t>퇴직급여충당금</a:t>
            </a:r>
            <a:endParaRPr lang="en-US" altLang="ko-KR" sz="700" dirty="0">
              <a:latin typeface="+mn-ea"/>
            </a:endParaRPr>
          </a:p>
          <a:p>
            <a:pPr>
              <a:lnSpc>
                <a:spcPct val="200000"/>
              </a:lnSpc>
            </a:pPr>
            <a:r>
              <a:rPr lang="ko-KR" altLang="en-US" sz="700" dirty="0">
                <a:latin typeface="+mn-ea"/>
              </a:rPr>
              <a:t>퇴직공제부금</a:t>
            </a:r>
            <a:endParaRPr lang="en-US" altLang="ko-KR" sz="700" dirty="0">
              <a:latin typeface="+mn-ea"/>
            </a:endParaRPr>
          </a:p>
          <a:p>
            <a:pPr>
              <a:lnSpc>
                <a:spcPct val="200000"/>
              </a:lnSpc>
            </a:pPr>
            <a:r>
              <a:rPr lang="ko-KR" altLang="en-US" sz="700" dirty="0">
                <a:latin typeface="+mn-ea"/>
              </a:rPr>
              <a:t>안전관리비</a:t>
            </a:r>
            <a:endParaRPr lang="en-US" altLang="ko-KR" sz="700" dirty="0">
              <a:latin typeface="+mn-ea"/>
            </a:endParaRPr>
          </a:p>
          <a:p>
            <a:pPr>
              <a:lnSpc>
                <a:spcPct val="200000"/>
              </a:lnSpc>
            </a:pPr>
            <a:r>
              <a:rPr lang="ko-KR" altLang="en-US" sz="700" dirty="0">
                <a:latin typeface="+mn-ea"/>
              </a:rPr>
              <a:t>재료비</a:t>
            </a:r>
            <a:endParaRPr lang="en-US" altLang="ko-KR" sz="700" dirty="0">
              <a:latin typeface="+mn-ea"/>
            </a:endParaRPr>
          </a:p>
          <a:p>
            <a:pPr>
              <a:lnSpc>
                <a:spcPct val="200000"/>
              </a:lnSpc>
            </a:pPr>
            <a:r>
              <a:rPr lang="ko-KR" altLang="en-US" sz="700" dirty="0" err="1">
                <a:latin typeface="+mn-ea"/>
              </a:rPr>
              <a:t>노무비</a:t>
            </a:r>
            <a:endParaRPr lang="en-US" altLang="ko-KR" sz="700" dirty="0">
              <a:latin typeface="+mn-ea"/>
            </a:endParaRPr>
          </a:p>
          <a:p>
            <a:pPr>
              <a:lnSpc>
                <a:spcPct val="200000"/>
              </a:lnSpc>
            </a:pPr>
            <a:r>
              <a:rPr lang="ko-KR" altLang="en-US" sz="700" dirty="0">
                <a:latin typeface="+mn-ea"/>
              </a:rPr>
              <a:t>경비</a:t>
            </a:r>
            <a:endParaRPr lang="en-US" altLang="ko-KR" sz="700" dirty="0">
              <a:latin typeface="+mn-ea"/>
            </a:endParaRPr>
          </a:p>
          <a:p>
            <a:pPr>
              <a:lnSpc>
                <a:spcPct val="200000"/>
              </a:lnSpc>
            </a:pPr>
            <a:r>
              <a:rPr lang="ko-KR" altLang="en-US" sz="700" dirty="0" err="1">
                <a:latin typeface="+mn-ea"/>
              </a:rPr>
              <a:t>무가가치세</a:t>
            </a:r>
            <a:endParaRPr lang="en-US" altLang="ko-KR" sz="700" dirty="0">
              <a:latin typeface="+mn-ea"/>
            </a:endParaRPr>
          </a:p>
          <a:p>
            <a:pPr>
              <a:lnSpc>
                <a:spcPct val="200000"/>
              </a:lnSpc>
            </a:pPr>
            <a:r>
              <a:rPr lang="ko-KR" altLang="en-US" sz="700" dirty="0" err="1">
                <a:latin typeface="+mn-ea"/>
              </a:rPr>
              <a:t>품질관리비</a:t>
            </a:r>
            <a:endParaRPr lang="en-US" altLang="ko-KR" sz="700" dirty="0">
              <a:latin typeface="+mn-ea"/>
            </a:endParaRPr>
          </a:p>
        </p:txBody>
      </p:sp>
      <p:sp>
        <p:nvSpPr>
          <p:cNvPr id="78" name="TextBox 77">
            <a:extLst>
              <a:ext uri="{FF2B5EF4-FFF2-40B4-BE49-F238E27FC236}">
                <a16:creationId xmlns:a16="http://schemas.microsoft.com/office/drawing/2014/main" id="{FFC49AEA-2A8F-250C-A86A-A7751D9706C3}"/>
              </a:ext>
            </a:extLst>
          </p:cNvPr>
          <p:cNvSpPr txBox="1"/>
          <p:nvPr/>
        </p:nvSpPr>
        <p:spPr>
          <a:xfrm>
            <a:off x="4667515" y="1500106"/>
            <a:ext cx="1784088" cy="1938992"/>
          </a:xfrm>
          <a:prstGeom prst="rect">
            <a:avLst/>
          </a:prstGeom>
          <a:noFill/>
        </p:spPr>
        <p:txBody>
          <a:bodyPr wrap="square" lIns="0" tIns="0" rIns="0" bIns="0" rtlCol="0">
            <a:spAutoFit/>
          </a:bodyPr>
          <a:lstStyle/>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79" name="그룹 78"/>
          <p:cNvGrpSpPr/>
          <p:nvPr/>
        </p:nvGrpSpPr>
        <p:grpSpPr>
          <a:xfrm>
            <a:off x="3821510" y="1500106"/>
            <a:ext cx="2630093" cy="1941480"/>
            <a:chOff x="701175" y="1835481"/>
            <a:chExt cx="2630093" cy="1941480"/>
          </a:xfrm>
        </p:grpSpPr>
        <p:cxnSp>
          <p:nvCxnSpPr>
            <p:cNvPr id="80" name="직선 연결선 7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1" name="직선 연결선 8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5" name="직선 연결선 8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6" name="직선 연결선 85">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직선 연결선 91">
              <a:extLst>
                <a:ext uri="{FF2B5EF4-FFF2-40B4-BE49-F238E27FC236}">
                  <a16:creationId xmlns:a16="http://schemas.microsoft.com/office/drawing/2014/main" id="{E9293055-D5CD-4B9E-7F64-64B2D2CA7A52}"/>
                </a:ext>
              </a:extLst>
            </p:cNvPr>
            <p:cNvCxnSpPr/>
            <p:nvPr/>
          </p:nvCxnSpPr>
          <p:spPr>
            <a:xfrm>
              <a:off x="701175" y="35622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703268" y="3776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08" name="직선 연결선 107">
            <a:extLst>
              <a:ext uri="{FF2B5EF4-FFF2-40B4-BE49-F238E27FC236}">
                <a16:creationId xmlns:a16="http://schemas.microsoft.com/office/drawing/2014/main" id="{E9293055-D5CD-4B9E-7F64-64B2D2CA7A52}"/>
              </a:ext>
            </a:extLst>
          </p:cNvPr>
          <p:cNvCxnSpPr/>
          <p:nvPr/>
        </p:nvCxnSpPr>
        <p:spPr>
          <a:xfrm>
            <a:off x="3795734" y="360952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Box 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61" name="모서리가 둥근 직사각형 60"/>
          <p:cNvSpPr/>
          <p:nvPr/>
        </p:nvSpPr>
        <p:spPr>
          <a:xfrm>
            <a:off x="705041" y="1785561"/>
            <a:ext cx="2652743" cy="1033314"/>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TextBox 61">
            <a:extLst>
              <a:ext uri="{FF2B5EF4-FFF2-40B4-BE49-F238E27FC236}">
                <a16:creationId xmlns:a16="http://schemas.microsoft.com/office/drawing/2014/main" id="{FFC49AEA-2A8F-250C-A86A-A7751D9706C3}"/>
              </a:ext>
            </a:extLst>
          </p:cNvPr>
          <p:cNvSpPr txBox="1"/>
          <p:nvPr/>
        </p:nvSpPr>
        <p:spPr>
          <a:xfrm>
            <a:off x="793811" y="1883844"/>
            <a:ext cx="2475203" cy="861774"/>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업무도움</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7313" indent="-87313">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기획재정부</a:t>
            </a:r>
            <a:r>
              <a:rPr lang="ko-KR" altLang="en-US"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계약예규</a:t>
            </a:r>
            <a:r>
              <a:rPr lang="ko-KR" altLang="en-US" sz="700" dirty="0">
                <a:solidFill>
                  <a:schemeClr val="tx1">
                    <a:lumMod val="85000"/>
                    <a:lumOff val="15000"/>
                  </a:schemeClr>
                </a:solidFill>
                <a:latin typeface="맑은 고딕" panose="020B0503020000020004" pitchFamily="50" charset="-127"/>
              </a:rPr>
              <a:t> 정부 입찰</a:t>
            </a:r>
            <a:r>
              <a:rPr lang="en-US" altLang="ko-KR" sz="700" dirty="0">
                <a:solidFill>
                  <a:schemeClr val="tx1">
                    <a:lumMod val="85000"/>
                    <a:lumOff val="15000"/>
                  </a:schemeClr>
                </a:solidFill>
                <a:latin typeface="맑은 고딕" panose="020B0503020000020004" pitchFamily="50" charset="-127"/>
              </a:rPr>
              <a:t>·</a:t>
            </a:r>
            <a:r>
              <a:rPr lang="ko-KR" altLang="en-US" sz="700" dirty="0">
                <a:solidFill>
                  <a:schemeClr val="tx1">
                    <a:lumMod val="85000"/>
                    <a:lumOff val="15000"/>
                  </a:schemeClr>
                </a:solidFill>
                <a:latin typeface="맑은 고딕" panose="020B0503020000020004" pitchFamily="50" charset="-127"/>
              </a:rPr>
              <a:t>계약 집행기준 제</a:t>
            </a:r>
            <a:r>
              <a:rPr lang="en-US" altLang="ko-KR" sz="700" dirty="0">
                <a:solidFill>
                  <a:schemeClr val="tx1">
                    <a:lumMod val="85000"/>
                    <a:lumOff val="15000"/>
                  </a:schemeClr>
                </a:solidFill>
                <a:latin typeface="맑은 고딕" panose="020B0503020000020004" pitchFamily="50" charset="-127"/>
              </a:rPr>
              <a:t>2</a:t>
            </a:r>
            <a:r>
              <a:rPr lang="ko-KR" altLang="en-US" sz="700" dirty="0">
                <a:solidFill>
                  <a:schemeClr val="tx1">
                    <a:lumMod val="85000"/>
                    <a:lumOff val="15000"/>
                  </a:schemeClr>
                </a:solidFill>
                <a:latin typeface="맑은 고딕" panose="020B0503020000020004" pitchFamily="50" charset="-127"/>
              </a:rPr>
              <a:t>조의</a:t>
            </a:r>
            <a:r>
              <a:rPr lang="en-US" altLang="ko-KR" sz="700" dirty="0">
                <a:solidFill>
                  <a:schemeClr val="tx1">
                    <a:lumMod val="85000"/>
                    <a:lumOff val="15000"/>
                  </a:schemeClr>
                </a:solidFill>
                <a:latin typeface="맑은 고딕" panose="020B0503020000020004" pitchFamily="50" charset="-127"/>
              </a:rPr>
              <a:t>5(</a:t>
            </a:r>
            <a:r>
              <a:rPr lang="ko-KR" altLang="en-US" sz="700" dirty="0" err="1">
                <a:solidFill>
                  <a:schemeClr val="tx1">
                    <a:lumMod val="85000"/>
                    <a:lumOff val="15000"/>
                  </a:schemeClr>
                </a:solidFill>
                <a:latin typeface="맑은 고딕" panose="020B0503020000020004" pitchFamily="50" charset="-127"/>
              </a:rPr>
              <a:t>순공사원가</a:t>
            </a:r>
            <a:r>
              <a:rPr lang="ko-KR" altLang="en-US" sz="700" dirty="0">
                <a:solidFill>
                  <a:schemeClr val="tx1">
                    <a:lumMod val="85000"/>
                    <a:lumOff val="15000"/>
                  </a:schemeClr>
                </a:solidFill>
                <a:latin typeface="맑은 고딕" panose="020B0503020000020004" pitchFamily="50" charset="-127"/>
              </a:rPr>
              <a:t> 기준 등의 공고</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및 적격심사기준 제</a:t>
            </a:r>
            <a:r>
              <a:rPr lang="en-US" altLang="ko-KR" sz="700" dirty="0">
                <a:solidFill>
                  <a:schemeClr val="tx1">
                    <a:lumMod val="85000"/>
                    <a:lumOff val="15000"/>
                  </a:schemeClr>
                </a:solidFill>
                <a:latin typeface="맑은 고딕" panose="020B0503020000020004" pitchFamily="50" charset="-127"/>
              </a:rPr>
              <a:t>7</a:t>
            </a:r>
            <a:r>
              <a:rPr lang="ko-KR" altLang="en-US" sz="700" dirty="0">
                <a:solidFill>
                  <a:schemeClr val="tx1">
                    <a:lumMod val="85000"/>
                    <a:lumOff val="15000"/>
                  </a:schemeClr>
                </a:solidFill>
                <a:latin typeface="맑은 고딕" panose="020B0503020000020004" pitchFamily="50" charset="-127"/>
              </a:rPr>
              <a:t>조</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심사방법</a:t>
            </a:r>
            <a:r>
              <a:rPr lang="en-US" altLang="ko-KR" sz="700" dirty="0">
                <a:solidFill>
                  <a:schemeClr val="tx1">
                    <a:lumMod val="85000"/>
                    <a:lumOff val="15000"/>
                  </a:schemeClr>
                </a:solidFill>
                <a:latin typeface="맑은 고딕" panose="020B0503020000020004" pitchFamily="50" charset="-127"/>
              </a:rPr>
              <a:t>)</a:t>
            </a:r>
            <a:r>
              <a:rPr lang="ko-KR" altLang="en-US" sz="700" dirty="0">
                <a:solidFill>
                  <a:schemeClr val="tx1">
                    <a:lumMod val="85000"/>
                    <a:lumOff val="15000"/>
                  </a:schemeClr>
                </a:solidFill>
                <a:latin typeface="맑은 고딕" panose="020B0503020000020004" pitchFamily="50" charset="-127"/>
              </a:rPr>
              <a:t>에 따라 예정가격이 </a:t>
            </a:r>
            <a:r>
              <a:rPr lang="en-US" altLang="ko-KR" sz="700" dirty="0">
                <a:solidFill>
                  <a:schemeClr val="tx1">
                    <a:lumMod val="85000"/>
                    <a:lumOff val="15000"/>
                  </a:schemeClr>
                </a:solidFill>
                <a:latin typeface="맑은 고딕" panose="020B0503020000020004" pitchFamily="50" charset="-127"/>
              </a:rPr>
              <a:t>100</a:t>
            </a:r>
            <a:r>
              <a:rPr lang="ko-KR" altLang="en-US" sz="700" dirty="0">
                <a:solidFill>
                  <a:schemeClr val="tx1">
                    <a:lumMod val="85000"/>
                    <a:lumOff val="15000"/>
                  </a:schemeClr>
                </a:solidFill>
                <a:latin typeface="맑은 고딕" panose="020B0503020000020004" pitchFamily="50" charset="-127"/>
              </a:rPr>
              <a:t>억원 미만인 공사의 경우 예정가격 중 재료비</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노무비</a:t>
            </a:r>
            <a:r>
              <a:rPr lang="en-US" altLang="ko-KR" sz="700" dirty="0">
                <a:solidFill>
                  <a:schemeClr val="tx1">
                    <a:lumMod val="85000"/>
                    <a:lumOff val="15000"/>
                  </a:schemeClr>
                </a:solidFill>
                <a:latin typeface="맑은 고딕" panose="020B0503020000020004" pitchFamily="50" charset="-127"/>
              </a:rPr>
              <a:t>·</a:t>
            </a:r>
            <a:r>
              <a:rPr lang="ko-KR" altLang="en-US" sz="700" dirty="0">
                <a:solidFill>
                  <a:schemeClr val="tx1">
                    <a:lumMod val="85000"/>
                    <a:lumOff val="15000"/>
                  </a:schemeClr>
                </a:solidFill>
                <a:latin typeface="맑은 고딕" panose="020B0503020000020004" pitchFamily="50" charset="-127"/>
              </a:rPr>
              <a:t>경비 및 이에 대한 부가가치세를 합산한 금액의 </a:t>
            </a:r>
            <a:r>
              <a:rPr lang="en-US" altLang="ko-KR" sz="700" dirty="0">
                <a:solidFill>
                  <a:schemeClr val="tx1">
                    <a:lumMod val="85000"/>
                    <a:lumOff val="15000"/>
                  </a:schemeClr>
                </a:solidFill>
                <a:latin typeface="맑은 고딕" panose="020B0503020000020004" pitchFamily="50" charset="-127"/>
              </a:rPr>
              <a:t>100</a:t>
            </a:r>
            <a:r>
              <a:rPr lang="ko-KR" altLang="en-US" sz="700" dirty="0">
                <a:solidFill>
                  <a:schemeClr val="tx1">
                    <a:lumMod val="85000"/>
                    <a:lumOff val="15000"/>
                  </a:schemeClr>
                </a:solidFill>
                <a:latin typeface="맑은 고딕" panose="020B0503020000020004" pitchFamily="50" charset="-127"/>
              </a:rPr>
              <a:t>분의 </a:t>
            </a:r>
            <a:r>
              <a:rPr lang="en-US" altLang="ko-KR" sz="700" dirty="0">
                <a:solidFill>
                  <a:schemeClr val="tx1">
                    <a:lumMod val="85000"/>
                    <a:lumOff val="15000"/>
                  </a:schemeClr>
                </a:solidFill>
                <a:latin typeface="맑은 고딕" panose="020B0503020000020004" pitchFamily="50" charset="-127"/>
              </a:rPr>
              <a:t>98</a:t>
            </a:r>
            <a:r>
              <a:rPr lang="ko-KR" altLang="en-US" sz="700" dirty="0">
                <a:solidFill>
                  <a:schemeClr val="tx1">
                    <a:lumMod val="85000"/>
                    <a:lumOff val="15000"/>
                  </a:schemeClr>
                </a:solidFill>
                <a:latin typeface="맑은 고딕" panose="020B0503020000020004" pitchFamily="50" charset="-127"/>
              </a:rPr>
              <a:t>미만으로 입찰한 자는 낙찰자로 결정하지 않습니다</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단서신설</a:t>
            </a:r>
            <a:r>
              <a:rPr lang="ko-KR" altLang="en-US" sz="700" dirty="0">
                <a:solidFill>
                  <a:schemeClr val="tx1">
                    <a:lumMod val="85000"/>
                    <a:lumOff val="15000"/>
                  </a:schemeClr>
                </a:solidFill>
                <a:latin typeface="맑은 고딕" panose="020B0503020000020004" pitchFamily="50" charset="-127"/>
              </a:rPr>
              <a:t> ＇</a:t>
            </a:r>
            <a:r>
              <a:rPr lang="en-US" altLang="ko-KR" sz="700" dirty="0">
                <a:solidFill>
                  <a:schemeClr val="tx1">
                    <a:lumMod val="85000"/>
                    <a:lumOff val="15000"/>
                  </a:schemeClr>
                </a:solidFill>
                <a:latin typeface="맑은 고딕" panose="020B0503020000020004" pitchFamily="50" charset="-127"/>
              </a:rPr>
              <a:t>20.4.7.〉</a:t>
            </a:r>
          </a:p>
        </p:txBody>
      </p:sp>
      <p:sp>
        <p:nvSpPr>
          <p:cNvPr id="63" name="타원 62"/>
          <p:cNvSpPr/>
          <p:nvPr/>
        </p:nvSpPr>
        <p:spPr>
          <a:xfrm>
            <a:off x="789853" y="187419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4" name="그룹 63"/>
          <p:cNvGrpSpPr/>
          <p:nvPr/>
        </p:nvGrpSpPr>
        <p:grpSpPr>
          <a:xfrm flipV="1">
            <a:off x="3138674" y="1922691"/>
            <a:ext cx="94010" cy="47005"/>
            <a:chOff x="6812560" y="3297172"/>
            <a:chExt cx="94010" cy="47005"/>
          </a:xfrm>
        </p:grpSpPr>
        <p:cxnSp>
          <p:nvCxnSpPr>
            <p:cNvPr id="65" name="직선 연결선 6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6" name="직선 연결선 6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1933159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33</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 name="TextBox 1">
            <a:extLst>
              <a:ext uri="{FF2B5EF4-FFF2-40B4-BE49-F238E27FC236}">
                <a16:creationId xmlns:a16="http://schemas.microsoft.com/office/drawing/2014/main" id="{D2898AB1-8736-AB97-26CD-6A60F05FD8FF}"/>
              </a:ext>
            </a:extLst>
          </p:cNvPr>
          <p:cNvSpPr txBox="1"/>
          <p:nvPr/>
        </p:nvSpPr>
        <p:spPr>
          <a:xfrm>
            <a:off x="458117" y="811270"/>
            <a:ext cx="2996580"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기초예비가격</a:t>
            </a:r>
            <a:r>
              <a:rPr lang="en-US" altLang="ko-KR" sz="900" b="1" dirty="0">
                <a:solidFill>
                  <a:prstClr val="black"/>
                </a:solidFill>
              </a:rPr>
              <a:t>(</a:t>
            </a:r>
            <a:r>
              <a:rPr lang="ko-KR" altLang="en-US" sz="900" b="1" dirty="0" err="1">
                <a:solidFill>
                  <a:prstClr val="black"/>
                </a:solidFill>
              </a:rPr>
              <a:t>총액제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dmt_BrprcInfo</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158A3C8-3B6B-4404-B962-72EAD2CB9801}"/>
              </a:ext>
            </a:extLst>
          </p:cNvPr>
          <p:cNvGraphicFramePr>
            <a:graphicFrameLocks noGrp="1"/>
          </p:cNvGraphicFramePr>
          <p:nvPr/>
        </p:nvGraphicFramePr>
        <p:xfrm>
          <a:off x="452999" y="1095024"/>
          <a:ext cx="8994883" cy="1407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449152">
                  <a:extLst>
                    <a:ext uri="{9D8B030D-6E8A-4147-A177-3AD203B41FA5}">
                      <a16:colId xmlns:a16="http://schemas.microsoft.com/office/drawing/2014/main" val="20004"/>
                    </a:ext>
                  </a:extLst>
                </a:gridCol>
                <a:gridCol w="232427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기초예비가격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기초예비가격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57920">
                <a:tc rowSpan="2">
                  <a:txBody>
                    <a:bodyPr/>
                    <a:lstStyle/>
                    <a:p>
                      <a:pPr latinLnBrk="1"/>
                      <a:r>
                        <a:rPr lang="ko-KR" altLang="en-US" sz="800" dirty="0" err="1">
                          <a:latin typeface="+mn-ea"/>
                          <a:ea typeface="+mn-ea"/>
                        </a:rPr>
                        <a:t>사정율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assmLlmtRt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rowSpan="2">
                  <a:txBody>
                    <a:bodyPr/>
                    <a:lstStyle/>
                    <a:p>
                      <a:pPr latinLnBrk="1"/>
                      <a:r>
                        <a:rPr lang="ko-KR" altLang="en-US" sz="800" dirty="0" err="1">
                          <a:latin typeface="+mn-ea"/>
                          <a:ea typeface="+mn-ea"/>
                        </a:rPr>
                        <a:t>사정율</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rowSpan="2">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rowSpan="2">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낙찰하한율이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0%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이상일 경우</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lang="en-US" altLang="ko-KR" sz="800" dirty="0" err="1">
                          <a:latin typeface="+mn-ea"/>
                          <a:ea typeface="+mn-ea"/>
                        </a:rPr>
                        <a:t>assmLlmtRt</a:t>
                      </a:r>
                      <a:r>
                        <a:rPr lang="en-US" altLang="ko-KR" sz="800" dirty="0">
                          <a:latin typeface="+mn-ea"/>
                          <a:ea typeface="+mn-ea"/>
                        </a:rPr>
                        <a:t> ~ </a:t>
                      </a:r>
                      <a:r>
                        <a:rPr lang="en-US" altLang="ko-KR" sz="800" dirty="0" err="1">
                          <a:latin typeface="+mn-ea"/>
                          <a:ea typeface="+mn-ea"/>
                        </a:rPr>
                        <a:t>brprcCmpttnScpRt</a:t>
                      </a:r>
                      <a:r>
                        <a:rPr lang="en-US" altLang="ko-KR" sz="800" dirty="0">
                          <a:latin typeface="+mn-ea"/>
                          <a:ea typeface="+mn-ea"/>
                        </a:rPr>
                        <a:t>”</a:t>
                      </a:r>
                      <a:r>
                        <a:rPr lang="ko-KR" altLang="en-US" sz="800" dirty="0">
                          <a:latin typeface="+mn-ea"/>
                          <a:ea typeface="+mn-ea"/>
                        </a:rPr>
                        <a:t>로 표기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8988487"/>
                  </a:ext>
                </a:extLst>
              </a:tr>
              <a:tr h="0">
                <a:tc vMerge="1">
                  <a:txBody>
                    <a:bodyPr/>
                    <a:lstStyle/>
                    <a:p>
                      <a:pPr latinLnBrk="1"/>
                      <a:endParaRPr lang="ko-KR" altLang="en-US"/>
                    </a:p>
                  </a:txBody>
                  <a:tcPr/>
                </a:tc>
                <a:tc>
                  <a:txBody>
                    <a:bodyPr/>
                    <a:lstStyle/>
                    <a:p>
                      <a:pPr latinLnBrk="1"/>
                      <a:r>
                        <a:rPr lang="en-US" altLang="ko-KR" sz="800" dirty="0" err="1">
                          <a:latin typeface="+mn-ea"/>
                          <a:ea typeface="+mn-ea"/>
                        </a:rPr>
                        <a:t>brprcCmpttnScpRt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vMerge="1">
                  <a:txBody>
                    <a:bodyPr/>
                    <a:lstStyle/>
                    <a:p>
                      <a:pPr latinLnBrk="1"/>
                      <a:endParaRPr lang="ko-KR" altLang="en-US"/>
                    </a:p>
                  </a:txBody>
                  <a:tcPr/>
                </a:tc>
                <a:extLst>
                  <a:ext uri="{0D108BD9-81ED-4DB2-BD59-A6C34878D82A}">
                    <a16:rowId xmlns:a16="http://schemas.microsoft.com/office/drawing/2014/main" val="2949790473"/>
                  </a:ext>
                </a:extLst>
              </a:tr>
              <a:tr h="0">
                <a:tc>
                  <a:txBody>
                    <a:bodyPr/>
                    <a:lstStyle/>
                    <a:p>
                      <a:pPr latinLnBrk="1"/>
                      <a:r>
                        <a:rPr lang="ko-KR" altLang="en-US" sz="800">
                          <a:latin typeface="+mn-ea"/>
                          <a:ea typeface="+mn-ea"/>
                        </a:rPr>
                        <a:t>낙찰하한율</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낙찰하안율</a:t>
                      </a:r>
                      <a:r>
                        <a:rPr lang="en-US" altLang="ko-KR" sz="800">
                          <a:latin typeface="+mn-ea"/>
                          <a:ea typeface="+mn-ea"/>
                        </a:rPr>
                        <a:t>(%)</a:t>
                      </a:r>
                      <a:r>
                        <a:rPr lang="ko-KR" altLang="en-US" sz="800">
                          <a:latin typeface="+mn-ea"/>
                          <a:ea typeface="+mn-ea"/>
                        </a:rPr>
                        <a:t>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419601"/>
                  </a:ext>
                </a:extLst>
              </a:tr>
              <a:tr h="0">
                <a:tc>
                  <a:txBody>
                    <a:bodyPr/>
                    <a:lstStyle/>
                    <a:p>
                      <a:pPr latinLnBrk="1"/>
                      <a:r>
                        <a:rPr lang="ko-KR" altLang="en-US" sz="800">
                          <a:latin typeface="+mn-ea"/>
                          <a:ea typeface="+mn-ea"/>
                        </a:rPr>
                        <a:t>확정비목비율</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cfmtnItmexpRt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확정비목비율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9132761"/>
                  </a:ext>
                </a:extLst>
              </a:tr>
              <a:tr h="0">
                <a:tc>
                  <a:txBody>
                    <a:bodyPr/>
                    <a:lstStyle/>
                    <a:p>
                      <a:pPr latinLnBrk="1"/>
                      <a:r>
                        <a:rPr lang="ko-KR" altLang="en-US" sz="800" dirty="0" err="1">
                          <a:latin typeface="+mn-ea"/>
                          <a:ea typeface="+mn-ea"/>
                        </a:rPr>
                        <a:t>불확정비목비율</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indtmnItmexpRt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불확정비목비율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bl>
          </a:graphicData>
        </a:graphic>
      </p:graphicFrame>
      <p:sp>
        <p:nvSpPr>
          <p:cNvPr id="6" name="TextBox 5">
            <a:extLst>
              <a:ext uri="{FF2B5EF4-FFF2-40B4-BE49-F238E27FC236}">
                <a16:creationId xmlns:a16="http://schemas.microsoft.com/office/drawing/2014/main" id="{B096DA34-FEDD-CFEA-8271-D1A2E345E966}"/>
              </a:ext>
            </a:extLst>
          </p:cNvPr>
          <p:cNvSpPr txBox="1"/>
          <p:nvPr/>
        </p:nvSpPr>
        <p:spPr>
          <a:xfrm>
            <a:off x="458117" y="2745984"/>
            <a:ext cx="3158484"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기초예비가격</a:t>
            </a:r>
            <a:r>
              <a:rPr lang="en-US" altLang="ko-KR" sz="900" b="1" dirty="0">
                <a:solidFill>
                  <a:prstClr val="black"/>
                </a:solidFill>
              </a:rPr>
              <a:t>(</a:t>
            </a:r>
            <a:r>
              <a:rPr lang="ko-KR" altLang="en-US" sz="900" b="1" dirty="0" err="1">
                <a:solidFill>
                  <a:prstClr val="black"/>
                </a:solidFill>
              </a:rPr>
              <a:t>단가제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dlt_BrprcInfoItitb</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BA69F1E6-A082-F4FD-F602-FB1F894A2CB6}"/>
              </a:ext>
            </a:extLst>
          </p:cNvPr>
          <p:cNvGraphicFramePr>
            <a:graphicFrameLocks noGrp="1"/>
          </p:cNvGraphicFramePr>
          <p:nvPr/>
        </p:nvGraphicFramePr>
        <p:xfrm>
          <a:off x="452999" y="3029738"/>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a:latin typeface="+mn-ea"/>
                          <a:ea typeface="+mn-ea"/>
                        </a:rPr>
                        <a:t>항목번호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항목번호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a:latin typeface="+mn-ea"/>
                          <a:ea typeface="+mn-ea"/>
                        </a:rPr>
                        <a:t>재고번호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fscCd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재고번호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8988487"/>
                  </a:ext>
                </a:extLst>
              </a:tr>
              <a:tr h="0">
                <a:tc>
                  <a:txBody>
                    <a:bodyPr/>
                    <a:lstStyle/>
                    <a:p>
                      <a:pPr latinLnBrk="1"/>
                      <a:r>
                        <a:rPr lang="ko-KR" altLang="en-US" sz="800">
                          <a:latin typeface="+mn-ea"/>
                          <a:ea typeface="+mn-ea"/>
                        </a:rPr>
                        <a:t>품명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품명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419601"/>
                  </a:ext>
                </a:extLst>
              </a:tr>
              <a:tr h="0">
                <a:tc>
                  <a:txBody>
                    <a:bodyPr/>
                    <a:lstStyle/>
                    <a:p>
                      <a:pPr latinLnBrk="1"/>
                      <a:r>
                        <a:rPr lang="ko-KR" altLang="en-US" sz="800">
                          <a:latin typeface="+mn-ea"/>
                          <a:ea typeface="+mn-ea"/>
                        </a:rPr>
                        <a:t>규격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규격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9132761"/>
                  </a:ext>
                </a:extLst>
              </a:tr>
              <a:tr h="0">
                <a:tc>
                  <a:txBody>
                    <a:bodyPr/>
                    <a:lstStyle/>
                    <a:p>
                      <a:pPr latinLnBrk="1"/>
                      <a:r>
                        <a:rPr lang="ko-KR" altLang="en-US" sz="800">
                          <a:latin typeface="+mn-ea"/>
                          <a:ea typeface="+mn-ea"/>
                        </a:rPr>
                        <a:t>기초예비가격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기초예비가격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a:latin typeface="+mn-ea"/>
                          <a:ea typeface="+mn-ea"/>
                        </a:rPr>
                        <a:t>사정율</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assmLlmtRt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사정율</a:t>
                      </a:r>
                      <a:r>
                        <a:rPr lang="en-US" altLang="ko-KR" sz="800">
                          <a:latin typeface="+mn-ea"/>
                          <a:ea typeface="+mn-ea"/>
                        </a:rPr>
                        <a:t>(%)</a:t>
                      </a:r>
                      <a:r>
                        <a:rPr lang="ko-KR" altLang="en-US" sz="800">
                          <a:latin typeface="+mn-ea"/>
                          <a:ea typeface="+mn-ea"/>
                        </a:rPr>
                        <a:t>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6417053"/>
                  </a:ext>
                </a:extLst>
              </a:tr>
              <a:tr h="0">
                <a:tc>
                  <a:txBody>
                    <a:bodyPr/>
                    <a:lstStyle/>
                    <a:p>
                      <a:pPr latinLnBrk="1"/>
                      <a:r>
                        <a:rPr lang="ko-KR" altLang="en-US" sz="800">
                          <a:latin typeface="+mn-ea"/>
                          <a:ea typeface="+mn-ea"/>
                        </a:rPr>
                        <a:t>낙찰하한율</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낙찰하한율</a:t>
                      </a:r>
                      <a:r>
                        <a:rPr lang="en-US" altLang="ko-KR" sz="800">
                          <a:latin typeface="+mn-ea"/>
                          <a:ea typeface="+mn-ea"/>
                        </a:rPr>
                        <a:t>(%)</a:t>
                      </a:r>
                      <a:r>
                        <a:rPr lang="ko-KR" altLang="en-US" sz="800">
                          <a:latin typeface="+mn-ea"/>
                          <a:ea typeface="+mn-ea"/>
                        </a:rPr>
                        <a:t>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1684842"/>
                  </a:ext>
                </a:extLst>
              </a:tr>
            </a:tbl>
          </a:graphicData>
        </a:graphic>
      </p:graphicFrame>
      <p:sp>
        <p:nvSpPr>
          <p:cNvPr id="14" name="Text Box 73">
            <a:extLst>
              <a:ext uri="{FF2B5EF4-FFF2-40B4-BE49-F238E27FC236}">
                <a16:creationId xmlns:a16="http://schemas.microsoft.com/office/drawing/2014/main" id="{3F4C11C5-FAE2-202D-5180-0A92672DE98C}"/>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293641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34</a:t>
            </a:fld>
            <a:endParaRPr lang="ko-KR" altLang="en-US" dirty="0"/>
          </a:p>
        </p:txBody>
      </p:sp>
      <p:sp>
        <p:nvSpPr>
          <p:cNvPr id="11" name="TextBox 10">
            <a:extLst>
              <a:ext uri="{FF2B5EF4-FFF2-40B4-BE49-F238E27FC236}">
                <a16:creationId xmlns:a16="http://schemas.microsoft.com/office/drawing/2014/main" id="{9E3FE41A-2118-B98F-60B7-FF48BEE171D6}"/>
              </a:ext>
            </a:extLst>
          </p:cNvPr>
          <p:cNvSpPr txBox="1"/>
          <p:nvPr/>
        </p:nvSpPr>
        <p:spPr>
          <a:xfrm>
            <a:off x="458117" y="811422"/>
            <a:ext cx="2921240"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기초예비가격</a:t>
            </a:r>
            <a:r>
              <a:rPr lang="en-US" altLang="ko-KR" sz="900" b="1" dirty="0">
                <a:solidFill>
                  <a:prstClr val="black"/>
                </a:solidFill>
              </a:rPr>
              <a:t>(</a:t>
            </a:r>
            <a:r>
              <a:rPr lang="ko-KR" altLang="en-US" sz="900" b="1" dirty="0">
                <a:solidFill>
                  <a:prstClr val="black"/>
                </a:solidFill>
              </a:rPr>
              <a:t>공사</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a:t>
            </a:r>
            <a:r>
              <a:rPr lang="en-US" altLang="ko-KR" sz="900" b="1" dirty="0">
                <a:solidFill>
                  <a:prstClr val="black"/>
                </a:solidFill>
              </a:rPr>
              <a:t>_ </a:t>
            </a:r>
            <a:r>
              <a:rPr lang="en-US" altLang="ko-KR" sz="900" b="1" dirty="0" err="1">
                <a:solidFill>
                  <a:prstClr val="black"/>
                </a:solidFill>
              </a:rPr>
              <a:t>BrprcInfo</a:t>
            </a:r>
            <a:r>
              <a:rPr lang="en-US" altLang="ko-KR" sz="900" b="1" dirty="0">
                <a:solidFill>
                  <a:prstClr val="black"/>
                </a:solidFill>
              </a:rPr>
              <a:t>)</a:t>
            </a:r>
            <a:endParaRPr lang="ko-KR" altLang="en-US" sz="900" b="1" dirty="0">
              <a:solidFill>
                <a:prstClr val="black"/>
              </a:solidFill>
            </a:endParaRPr>
          </a:p>
        </p:txBody>
      </p:sp>
      <p:graphicFrame>
        <p:nvGraphicFramePr>
          <p:cNvPr id="14" name="표 13">
            <a:extLst>
              <a:ext uri="{FF2B5EF4-FFF2-40B4-BE49-F238E27FC236}">
                <a16:creationId xmlns:a16="http://schemas.microsoft.com/office/drawing/2014/main" id="{F33ACA32-DD28-97F4-3501-80259A5A50A1}"/>
              </a:ext>
            </a:extLst>
          </p:cNvPr>
          <p:cNvGraphicFramePr>
            <a:graphicFrameLocks noGrp="1"/>
          </p:cNvGraphicFramePr>
          <p:nvPr/>
        </p:nvGraphicFramePr>
        <p:xfrm>
          <a:off x="452999" y="1095176"/>
          <a:ext cx="8994883" cy="48480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기초예비가격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기초예비가격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업무구분</a:t>
                      </a:r>
                      <a:r>
                        <a:rPr lang="en-US" altLang="ko-KR" sz="800" dirty="0">
                          <a:latin typeface="+mn-ea"/>
                          <a:ea typeface="+mn-ea"/>
                        </a:rPr>
                        <a:t>’</a:t>
                      </a:r>
                      <a:r>
                        <a:rPr lang="ko-KR" altLang="en-US" sz="800" dirty="0">
                          <a:latin typeface="+mn-ea"/>
                          <a:ea typeface="+mn-ea"/>
                        </a:rPr>
                        <a:t>공사</a:t>
                      </a:r>
                      <a:r>
                        <a:rPr lang="en-US" altLang="ko-KR" sz="800" dirty="0">
                          <a:latin typeface="+mn-ea"/>
                          <a:ea typeface="+mn-ea"/>
                        </a:rPr>
                        <a:t>‘, </a:t>
                      </a:r>
                      <a:r>
                        <a:rPr lang="ko-KR" altLang="en-US" sz="800" dirty="0">
                          <a:latin typeface="+mn-ea"/>
                          <a:ea typeface="+mn-ea"/>
                        </a:rPr>
                        <a:t>입찰참가자격이 </a:t>
                      </a:r>
                      <a:r>
                        <a:rPr lang="en-US" altLang="ko-KR" sz="800" dirty="0">
                          <a:latin typeface="+mn-ea"/>
                          <a:ea typeface="+mn-ea"/>
                        </a:rPr>
                        <a:t>‘Y‘</a:t>
                      </a:r>
                      <a:r>
                        <a:rPr lang="ko-KR" altLang="en-US" sz="800" dirty="0">
                          <a:latin typeface="+mn-ea"/>
                          <a:ea typeface="+mn-ea"/>
                        </a:rPr>
                        <a:t>일 경우 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하한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llmtAmtRt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하한</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업무구분</a:t>
                      </a:r>
                      <a:r>
                        <a:rPr lang="en-US" altLang="ko-KR" sz="800" dirty="0">
                          <a:latin typeface="+mn-ea"/>
                          <a:ea typeface="+mn-ea"/>
                        </a:rPr>
                        <a:t>’</a:t>
                      </a:r>
                      <a:r>
                        <a:rPr lang="ko-KR" altLang="en-US" sz="800" dirty="0">
                          <a:latin typeface="+mn-ea"/>
                          <a:ea typeface="+mn-ea"/>
                        </a:rPr>
                        <a:t>공사</a:t>
                      </a:r>
                      <a:r>
                        <a:rPr lang="en-US" altLang="ko-KR" sz="800" dirty="0">
                          <a:latin typeface="+mn-ea"/>
                          <a:ea typeface="+mn-ea"/>
                        </a:rPr>
                        <a:t>‘, </a:t>
                      </a:r>
                      <a:r>
                        <a:rPr lang="ko-KR" altLang="en-US" sz="800" dirty="0">
                          <a:latin typeface="+mn-ea"/>
                          <a:ea typeface="+mn-ea"/>
                        </a:rPr>
                        <a:t>입찰참가자격이 </a:t>
                      </a:r>
                      <a:r>
                        <a:rPr lang="en-US" altLang="ko-KR" sz="800" dirty="0">
                          <a:latin typeface="+mn-ea"/>
                          <a:ea typeface="+mn-ea"/>
                        </a:rPr>
                        <a:t>‘Y‘</a:t>
                      </a:r>
                      <a:r>
                        <a:rPr lang="ko-KR" altLang="en-US" sz="800" dirty="0">
                          <a:latin typeface="+mn-ea"/>
                          <a:ea typeface="+mn-ea"/>
                        </a:rPr>
                        <a:t>일 경우 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3720159"/>
                  </a:ext>
                </a:extLst>
              </a:tr>
              <a:tr h="0">
                <a:tc>
                  <a:txBody>
                    <a:bodyPr/>
                    <a:lstStyle/>
                    <a:p>
                      <a:pPr latinLnBrk="1"/>
                      <a:r>
                        <a:rPr lang="ko-KR" altLang="en-US" sz="800" dirty="0">
                          <a:latin typeface="+mn-ea"/>
                          <a:ea typeface="+mn-ea"/>
                        </a:rPr>
                        <a:t>상한</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ulprcRt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상한</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6055055"/>
                  </a:ext>
                </a:extLst>
              </a:tr>
              <a:tr h="0">
                <a:tc>
                  <a:txBody>
                    <a:bodyPr/>
                    <a:lstStyle/>
                    <a:p>
                      <a:pPr latinLnBrk="1"/>
                      <a:r>
                        <a:rPr lang="ko-KR" altLang="en-US" sz="800" dirty="0">
                          <a:latin typeface="+mn-ea"/>
                          <a:ea typeface="+mn-ea"/>
                        </a:rPr>
                        <a:t>낙찰하한율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낙찰하한율</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3038125"/>
                  </a:ext>
                </a:extLst>
              </a:tr>
              <a:tr h="0">
                <a:tc>
                  <a:txBody>
                    <a:bodyPr/>
                    <a:lstStyle/>
                    <a:p>
                      <a:pPr latinLnBrk="1"/>
                      <a:r>
                        <a:rPr lang="ko-KR" altLang="en-US" sz="800" dirty="0">
                          <a:latin typeface="+mn-ea"/>
                          <a:ea typeface="+mn-ea"/>
                        </a:rPr>
                        <a:t>국민건강보험료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nthtIspm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국민건강보험료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8395283"/>
                  </a:ext>
                </a:extLst>
              </a:tr>
              <a:tr h="0">
                <a:tc>
                  <a:txBody>
                    <a:bodyPr/>
                    <a:lstStyle/>
                    <a:p>
                      <a:pPr latinLnBrk="1"/>
                      <a:r>
                        <a:rPr lang="ko-KR" altLang="en-US" sz="800" dirty="0">
                          <a:latin typeface="+mn-ea"/>
                          <a:ea typeface="+mn-ea"/>
                        </a:rPr>
                        <a:t>국민연금보험료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npnIspm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국민연금보험료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3834921"/>
                  </a:ext>
                </a:extLst>
              </a:tr>
              <a:tr h="0">
                <a:tc>
                  <a:txBody>
                    <a:bodyPr/>
                    <a:lstStyle/>
                    <a:p>
                      <a:pPr latinLnBrk="1"/>
                      <a:r>
                        <a:rPr lang="ko-KR" altLang="en-US" sz="800" dirty="0">
                          <a:latin typeface="+mn-ea"/>
                          <a:ea typeface="+mn-ea"/>
                        </a:rPr>
                        <a:t>평가기준금액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evlCrtrAmt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평가기준금액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228612"/>
                  </a:ext>
                </a:extLst>
              </a:tr>
              <a:tr h="0">
                <a:tc>
                  <a:txBody>
                    <a:bodyPr/>
                    <a:lstStyle/>
                    <a:p>
                      <a:pPr latinLnBrk="1"/>
                      <a:r>
                        <a:rPr lang="ko-KR" altLang="en-US" sz="800" dirty="0">
                          <a:latin typeface="+mn-ea"/>
                          <a:ea typeface="+mn-ea"/>
                        </a:rPr>
                        <a:t>토목기초금액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pbwksBscsAmt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토목기초금액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4833679"/>
                  </a:ext>
                </a:extLst>
              </a:tr>
              <a:tr h="0">
                <a:tc>
                  <a:txBody>
                    <a:bodyPr/>
                    <a:lstStyle/>
                    <a:p>
                      <a:pPr latinLnBrk="1"/>
                      <a:r>
                        <a:rPr lang="ko-KR" altLang="en-US" sz="800" dirty="0">
                          <a:latin typeface="+mn-ea"/>
                          <a:ea typeface="+mn-ea"/>
                        </a:rPr>
                        <a:t>건축기초금액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archBscsAmt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건출기초금액</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209011"/>
                  </a:ext>
                </a:extLst>
              </a:tr>
              <a:tr h="0">
                <a:tc>
                  <a:txBody>
                    <a:bodyPr/>
                    <a:lstStyle/>
                    <a:p>
                      <a:pPr latinLnBrk="1"/>
                      <a:r>
                        <a:rPr lang="ko-KR" altLang="en-US" sz="800" dirty="0">
                          <a:latin typeface="+mn-ea"/>
                          <a:ea typeface="+mn-ea"/>
                        </a:rPr>
                        <a:t>노무기준율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lbcoStdrt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노구기준율</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2034400"/>
                  </a:ext>
                </a:extLst>
              </a:tr>
              <a:tr h="0">
                <a:tc>
                  <a:txBody>
                    <a:bodyPr/>
                    <a:lstStyle/>
                    <a:p>
                      <a:pPr latinLnBrk="1"/>
                      <a:r>
                        <a:rPr lang="ko-KR" altLang="en-US" sz="800" dirty="0">
                          <a:latin typeface="+mn-ea"/>
                          <a:ea typeface="+mn-ea"/>
                        </a:rPr>
                        <a:t>기타경비기준율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etcEpsStdrt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기타경비기준율</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일반관리비기준비</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gnadcoCrtrRt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일반관리비기준비</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r h="0">
                <a:tc>
                  <a:txBody>
                    <a:bodyPr/>
                    <a:lstStyle/>
                    <a:p>
                      <a:pPr latinLnBrk="1"/>
                      <a:r>
                        <a:rPr lang="ko-KR" altLang="en-US" sz="800" dirty="0">
                          <a:latin typeface="+mn-ea"/>
                          <a:ea typeface="+mn-ea"/>
                        </a:rPr>
                        <a:t>이윤기준율</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pfStdrt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이윤기준율</a:t>
                      </a:r>
                      <a:r>
                        <a:rPr lang="en-US" altLang="ko-KR" sz="800" dirty="0">
                          <a:latin typeface="+mn-ea"/>
                          <a:ea typeface="+mn-ea"/>
                        </a:rPr>
                        <a:t>(%)</a:t>
                      </a:r>
                      <a:r>
                        <a:rPr lang="ko-KR" altLang="en-US" sz="800" dirty="0">
                          <a:latin typeface="+mn-ea"/>
                          <a:ea typeface="+mn-ea"/>
                        </a:rPr>
                        <a:t>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20954399"/>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적용난이도계수</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aplcnLvdffCfc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적용난이도계수</a:t>
                      </a:r>
                      <a:r>
                        <a:rPr lang="ko-KR" altLang="en-US" sz="800" dirty="0">
                          <a:latin typeface="+mn-ea"/>
                          <a:ea typeface="+mn-ea"/>
                        </a:rPr>
                        <a:t>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287360"/>
                  </a:ext>
                </a:extLst>
              </a:tr>
              <a:tr h="0">
                <a:tc>
                  <a:txBody>
                    <a:bodyPr/>
                    <a:lstStyle/>
                    <a:p>
                      <a:pPr latinLnBrk="1"/>
                      <a:r>
                        <a:rPr lang="ko-KR" altLang="en-US" sz="800" dirty="0">
                          <a:latin typeface="+mn-ea"/>
                          <a:ea typeface="+mn-ea"/>
                        </a:rPr>
                        <a:t>요양보험료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rcprIspm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요양보험료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0003859"/>
                  </a:ext>
                </a:extLst>
              </a:tr>
              <a:tr h="0">
                <a:tc>
                  <a:txBody>
                    <a:bodyPr/>
                    <a:lstStyle/>
                    <a:p>
                      <a:pPr latinLnBrk="1"/>
                      <a:r>
                        <a:rPr lang="ko-KR" altLang="en-US" sz="800" dirty="0">
                          <a:latin typeface="+mn-ea"/>
                          <a:ea typeface="+mn-ea"/>
                        </a:rPr>
                        <a:t>산업안전보건관리비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oshmco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산업안전보건관리비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4130161"/>
                  </a:ext>
                </a:extLst>
              </a:tr>
              <a:tr h="0">
                <a:tc>
                  <a:txBody>
                    <a:bodyPr/>
                    <a:lstStyle/>
                    <a:p>
                      <a:pPr latinLnBrk="1"/>
                      <a:r>
                        <a:rPr lang="ko-KR" altLang="en-US" sz="800" dirty="0">
                          <a:latin typeface="+mn-ea"/>
                          <a:ea typeface="+mn-ea"/>
                        </a:rPr>
                        <a:t>퇴직급여충당금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rtrmSlryApamt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퇴직급여충당금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6973415"/>
                  </a:ext>
                </a:extLst>
              </a:tr>
              <a:tr h="0">
                <a:tc>
                  <a:txBody>
                    <a:bodyPr/>
                    <a:lstStyle/>
                    <a:p>
                      <a:pPr latinLnBrk="1"/>
                      <a:r>
                        <a:rPr lang="ko-KR" altLang="en-US" sz="800" dirty="0">
                          <a:latin typeface="+mn-ea"/>
                          <a:ea typeface="+mn-ea"/>
                        </a:rPr>
                        <a:t>퇴직공제부금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rmcfe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퇴직공제부금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11583308"/>
                  </a:ext>
                </a:extLst>
              </a:tr>
              <a:tr h="0">
                <a:tc>
                  <a:txBody>
                    <a:bodyPr/>
                    <a:lstStyle/>
                    <a:p>
                      <a:pPr latinLnBrk="1"/>
                      <a:r>
                        <a:rPr lang="ko-KR" altLang="en-US" sz="800" dirty="0">
                          <a:latin typeface="+mn-ea"/>
                          <a:ea typeface="+mn-ea"/>
                        </a:rPr>
                        <a:t>안전관리비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sftyMnco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안전관리비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98387149"/>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재료비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mtco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재료비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6183695"/>
                  </a:ext>
                </a:extLst>
              </a:tr>
              <a:tr h="0">
                <a:tc>
                  <a:txBody>
                    <a:bodyPr/>
                    <a:lstStyle/>
                    <a:p>
                      <a:pPr latinLnBrk="1"/>
                      <a:r>
                        <a:rPr lang="ko-KR" altLang="en-US" sz="800" dirty="0">
                          <a:latin typeface="+mn-ea"/>
                          <a:ea typeface="+mn-ea"/>
                        </a:rPr>
                        <a:t>노무비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노무비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7272096"/>
                  </a:ext>
                </a:extLst>
              </a:tr>
              <a:tr h="0">
                <a:tc>
                  <a:txBody>
                    <a:bodyPr/>
                    <a:lstStyle/>
                    <a:p>
                      <a:pPr latinLnBrk="1"/>
                      <a:r>
                        <a:rPr lang="ko-KR" altLang="en-US" sz="800" dirty="0">
                          <a:latin typeface="+mn-ea"/>
                          <a:ea typeface="+mn-ea"/>
                        </a:rPr>
                        <a:t>경비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gnadcoUseAmt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101295"/>
                  </a:ext>
                </a:extLst>
              </a:tr>
              <a:tr h="0">
                <a:tc>
                  <a:txBody>
                    <a:bodyPr/>
                    <a:lstStyle/>
                    <a:p>
                      <a:pPr latinLnBrk="1"/>
                      <a:r>
                        <a:rPr lang="ko-KR" altLang="en-US" sz="800" dirty="0">
                          <a:latin typeface="+mn-ea"/>
                          <a:ea typeface="+mn-ea"/>
                        </a:rPr>
                        <a:t>부가가치세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vatAmt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부가가치세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280594"/>
                  </a:ext>
                </a:extLst>
              </a:tr>
              <a:tr h="0">
                <a:tc>
                  <a:txBody>
                    <a:bodyPr/>
                    <a:lstStyle/>
                    <a:p>
                      <a:pPr latinLnBrk="1"/>
                      <a:r>
                        <a:rPr lang="ko-KR" altLang="en-US" sz="800" dirty="0">
                          <a:latin typeface="+mn-ea"/>
                          <a:ea typeface="+mn-ea"/>
                        </a:rPr>
                        <a:t>품질관리비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qltyMnco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공사</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입찰참가자격이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7572541"/>
                  </a:ext>
                </a:extLst>
              </a:tr>
            </a:tbl>
          </a:graphicData>
        </a:graphic>
      </p:graphicFrame>
      <p:sp>
        <p:nvSpPr>
          <p:cNvPr id="2" name="TextBox 1">
            <a:extLst>
              <a:ext uri="{FF2B5EF4-FFF2-40B4-BE49-F238E27FC236}">
                <a16:creationId xmlns:a16="http://schemas.microsoft.com/office/drawing/2014/main" id="{5E87C575-0A06-02EE-4755-8816A726AD99}"/>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589DF149-1642-7B44-4475-F8010FDDA29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6035625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입찰방법 </a:t>
            </a:r>
            <a:r>
              <a:rPr lang="en-US" altLang="ko-KR" dirty="0"/>
              <a:t>- </a:t>
            </a:r>
            <a:r>
              <a:rPr lang="ko-KR" altLang="en-US" dirty="0" err="1"/>
              <a:t>총액제</a:t>
            </a:r>
            <a:r>
              <a:rPr lang="ko-KR" altLang="en-US" dirty="0"/>
              <a:t> 화면</a:t>
            </a:r>
            <a:r>
              <a:rPr lang="en-US" altLang="ko-KR" dirty="0"/>
              <a:t/>
            </a:r>
            <a:br>
              <a:rPr lang="en-US" altLang="ko-KR" dirty="0"/>
            </a:br>
            <a:r>
              <a:rPr lang="en-US" altLang="ko-KR" dirty="0"/>
              <a:t>- </a:t>
            </a:r>
            <a:r>
              <a:rPr lang="ko-KR" altLang="en-US" dirty="0"/>
              <a:t>해당 </a:t>
            </a:r>
            <a:r>
              <a:rPr lang="en-US" altLang="ko-KR" dirty="0"/>
              <a:t>Tab</a:t>
            </a:r>
            <a:r>
              <a:rPr lang="ko-KR" altLang="en-US" dirty="0"/>
              <a:t>의 화면은 </a:t>
            </a:r>
            <a:r>
              <a:rPr lang="ko-KR" altLang="en-US" dirty="0" err="1"/>
              <a:t>업무구분이</a:t>
            </a:r>
            <a:r>
              <a:rPr lang="ko-KR" altLang="en-US" dirty="0"/>
              <a:t> </a:t>
            </a:r>
            <a:r>
              <a:rPr lang="en-US" altLang="ko-KR" dirty="0"/>
              <a:t>[</a:t>
            </a:r>
            <a:r>
              <a:rPr lang="ko-KR" altLang="en-US" dirty="0"/>
              <a:t>물품</a:t>
            </a:r>
            <a:r>
              <a:rPr lang="en-US" altLang="ko-KR" dirty="0"/>
              <a:t>/</a:t>
            </a:r>
            <a:r>
              <a:rPr lang="ko-KR" altLang="en-US" dirty="0"/>
              <a:t>용역</a:t>
            </a:r>
            <a:r>
              <a:rPr lang="en-US" altLang="ko-KR" dirty="0"/>
              <a:t>]</a:t>
            </a:r>
            <a:r>
              <a:rPr lang="ko-KR" altLang="en-US" dirty="0"/>
              <a:t>일 경우에만 노출</a:t>
            </a:r>
            <a:endParaRPr lang="en-US" altLang="ko-KR" dirty="0"/>
          </a:p>
          <a:p>
            <a:pPr>
              <a:buFont typeface="+mj-lt"/>
              <a:buAutoNum type="arabicPeriod"/>
            </a:pPr>
            <a:r>
              <a:rPr lang="ko-KR" altLang="en-US" dirty="0"/>
              <a:t>입찰방법 </a:t>
            </a:r>
            <a:r>
              <a:rPr lang="en-US" altLang="ko-KR" dirty="0"/>
              <a:t>- </a:t>
            </a:r>
            <a:r>
              <a:rPr lang="ko-KR" altLang="en-US" dirty="0" err="1"/>
              <a:t>단가제</a:t>
            </a:r>
            <a:r>
              <a:rPr lang="ko-KR" altLang="en-US" dirty="0"/>
              <a:t> 화면</a:t>
            </a:r>
            <a:r>
              <a:rPr lang="en-US" altLang="ko-KR" dirty="0"/>
              <a:t/>
            </a:r>
            <a:br>
              <a:rPr lang="en-US" altLang="ko-KR" dirty="0"/>
            </a:br>
            <a:r>
              <a:rPr lang="en-US" altLang="ko-KR" dirty="0"/>
              <a:t>- </a:t>
            </a:r>
            <a:r>
              <a:rPr lang="ko-KR" altLang="en-US" dirty="0"/>
              <a:t>다음 페이지에서 추가 설명</a:t>
            </a:r>
            <a:r>
              <a:rPr lang="en-US" altLang="ko-KR" dirty="0"/>
              <a:t/>
            </a:r>
            <a:br>
              <a:rPr lang="en-US" altLang="ko-KR" dirty="0"/>
            </a:br>
            <a:r>
              <a:rPr lang="en-US" altLang="ko-KR" dirty="0"/>
              <a:t>- </a:t>
            </a:r>
            <a:r>
              <a:rPr lang="ko-KR" altLang="en-US" dirty="0"/>
              <a:t>해당 </a:t>
            </a:r>
            <a:r>
              <a:rPr lang="en-US" altLang="ko-KR" dirty="0"/>
              <a:t>Tab</a:t>
            </a:r>
            <a:r>
              <a:rPr lang="ko-KR" altLang="en-US" dirty="0"/>
              <a:t>의 화면은 </a:t>
            </a:r>
            <a:r>
              <a:rPr lang="ko-KR" altLang="en-US" dirty="0" err="1"/>
              <a:t>업무구분이</a:t>
            </a:r>
            <a:r>
              <a:rPr lang="ko-KR" altLang="en-US" dirty="0"/>
              <a:t> </a:t>
            </a:r>
            <a:r>
              <a:rPr lang="en-US" altLang="ko-KR" dirty="0"/>
              <a:t>[</a:t>
            </a:r>
            <a:r>
              <a:rPr lang="ko-KR" altLang="en-US" dirty="0"/>
              <a:t>물품</a:t>
            </a:r>
            <a:r>
              <a:rPr lang="en-US" altLang="ko-KR" dirty="0"/>
              <a:t>/</a:t>
            </a:r>
            <a:r>
              <a:rPr lang="ko-KR" altLang="en-US" dirty="0"/>
              <a:t>용역</a:t>
            </a:r>
            <a:r>
              <a:rPr lang="en-US" altLang="ko-KR" dirty="0"/>
              <a:t>]</a:t>
            </a:r>
            <a:r>
              <a:rPr lang="ko-KR" altLang="en-US" dirty="0"/>
              <a:t>일 경우에만 노출</a:t>
            </a:r>
            <a:endParaRPr lang="en-US" altLang="ko-KR" dirty="0"/>
          </a:p>
          <a:p>
            <a:pPr>
              <a:buFont typeface="+mj-lt"/>
              <a:buAutoNum type="arabicPeriod"/>
            </a:pPr>
            <a:r>
              <a:rPr lang="ko-KR" altLang="en-US" dirty="0" err="1"/>
              <a:t>군급</a:t>
            </a:r>
            <a:r>
              <a:rPr lang="en-US" altLang="ko-KR" dirty="0"/>
              <a:t>-</a:t>
            </a:r>
            <a:r>
              <a:rPr lang="ko-KR" altLang="en-US" dirty="0" err="1"/>
              <a:t>재고번호</a:t>
            </a:r>
            <a:r>
              <a:rPr lang="ko-KR" altLang="en-US" dirty="0"/>
              <a:t> 클릭</a:t>
            </a:r>
            <a:r>
              <a:rPr lang="en-US" altLang="ko-KR" dirty="0"/>
              <a:t/>
            </a:r>
            <a:br>
              <a:rPr lang="en-US" altLang="ko-KR" dirty="0"/>
            </a:br>
            <a:r>
              <a:rPr lang="en-US" altLang="ko-KR" dirty="0"/>
              <a:t>- ＇</a:t>
            </a:r>
            <a:r>
              <a:rPr lang="ko-KR" altLang="en-US" dirty="0"/>
              <a:t>목록정보조회</a:t>
            </a:r>
            <a:r>
              <a:rPr lang="en-US" altLang="ko-KR" dirty="0"/>
              <a:t>’ </a:t>
            </a:r>
            <a:r>
              <a:rPr lang="ko-KR" altLang="en-US" dirty="0"/>
              <a:t>팝업을 호출</a:t>
            </a:r>
            <a:endParaRPr lang="en-US" altLang="ko-KR" dirty="0"/>
          </a:p>
          <a:p>
            <a:pPr>
              <a:buFont typeface="+mj-lt"/>
              <a:buAutoNum type="arabicPeriod"/>
            </a:pPr>
            <a:r>
              <a:rPr lang="ko-KR" altLang="en-US" dirty="0"/>
              <a:t>조달요구번호 클릭</a:t>
            </a:r>
            <a:r>
              <a:rPr lang="en-US" altLang="ko-KR" dirty="0"/>
              <a:t/>
            </a:r>
            <a:br>
              <a:rPr lang="en-US" altLang="ko-KR" dirty="0"/>
            </a:br>
            <a:r>
              <a:rPr lang="en-US" altLang="ko-KR" dirty="0"/>
              <a:t>- ＇</a:t>
            </a:r>
            <a:r>
              <a:rPr lang="ko-KR" altLang="en-US" dirty="0"/>
              <a:t>목록정보조회</a:t>
            </a:r>
            <a:r>
              <a:rPr lang="en-US" altLang="ko-KR" dirty="0"/>
              <a:t>’ </a:t>
            </a:r>
            <a:r>
              <a:rPr lang="ko-KR" altLang="en-US" dirty="0"/>
              <a:t>팝업을 호출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품목명세서</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err="1"/>
              <a:t>품목명세서</a:t>
            </a:r>
            <a:r>
              <a:rPr lang="ko-KR" altLang="en-US" dirty="0"/>
              <a:t>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err="1">
                <a:latin typeface="+mn-ea"/>
              </a:rPr>
              <a:t>품목명세서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MUI-BD-01-M09</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60475" cy="3970026"/>
            <a:chOff x="701175" y="1527996"/>
            <a:chExt cx="2660475" cy="3970026"/>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품목명세서</a:t>
              </a:r>
              <a:endParaRPr lang="ko-KR" altLang="en-US" sz="700" dirty="0">
                <a:latin typeface="+mn-ea"/>
              </a:endParaRP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364780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25552" cy="3662541"/>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err="1">
                  <a:latin typeface="+mn-ea"/>
                </a:rPr>
                <a:t>품보형태</a:t>
              </a:r>
              <a:endParaRPr lang="en-US" altLang="ko-KR" sz="700" dirty="0">
                <a:latin typeface="+mn-ea"/>
              </a:endParaRPr>
            </a:p>
            <a:p>
              <a:pPr>
                <a:lnSpc>
                  <a:spcPct val="200000"/>
                </a:lnSpc>
              </a:pPr>
              <a:r>
                <a:rPr lang="ko-KR" altLang="en-US" sz="700" dirty="0">
                  <a:latin typeface="+mn-ea"/>
                </a:rPr>
                <a:t>조달요구번호</a:t>
              </a:r>
              <a:endParaRPr lang="en-US" altLang="ko-KR" sz="700" dirty="0">
                <a:latin typeface="+mn-ea"/>
              </a:endParaRPr>
            </a:p>
            <a:p>
              <a:pPr>
                <a:lnSpc>
                  <a:spcPct val="200000"/>
                </a:lnSpc>
              </a:pPr>
              <a:r>
                <a:rPr lang="ko-KR" altLang="en-US" sz="700" dirty="0" err="1">
                  <a:latin typeface="+mn-ea"/>
                </a:rPr>
                <a:t>규격번호</a:t>
              </a:r>
              <a:endParaRPr lang="en-US" altLang="ko-KR" sz="700" dirty="0">
                <a:latin typeface="+mn-ea"/>
              </a:endParaRPr>
            </a:p>
            <a:p>
              <a:pPr>
                <a:lnSpc>
                  <a:spcPct val="200000"/>
                </a:lnSpc>
              </a:pPr>
              <a:r>
                <a:rPr lang="ko-KR" altLang="en-US" sz="700" dirty="0" err="1">
                  <a:latin typeface="+mn-ea"/>
                </a:rPr>
                <a:t>규격종류</a:t>
              </a:r>
              <a:endParaRPr lang="ko-KR" altLang="en-US" sz="700" dirty="0">
                <a:latin typeface="+mn-ea"/>
              </a:endParaRP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군급</a:t>
              </a:r>
              <a:r>
                <a:rPr lang="en-US" altLang="ko-KR" sz="700" dirty="0">
                  <a:latin typeface="+mn-ea"/>
                </a:rPr>
                <a:t>-</a:t>
              </a: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err="1">
                  <a:latin typeface="+mn-ea"/>
                </a:rPr>
                <a:t>적용장비명</a:t>
              </a:r>
              <a:endParaRPr lang="ko-KR" altLang="en-US" sz="700" dirty="0">
                <a:latin typeface="+mn-ea"/>
              </a:endParaRPr>
            </a:p>
            <a:p>
              <a:pPr>
                <a:lnSpc>
                  <a:spcPct val="200000"/>
                </a:lnSpc>
              </a:pPr>
              <a:r>
                <a:rPr lang="ko-KR" altLang="en-US" sz="700" dirty="0" err="1">
                  <a:latin typeface="+mn-ea"/>
                </a:rPr>
                <a:t>납지</a:t>
              </a:r>
              <a:endParaRPr lang="ko-KR" altLang="en-US" sz="700" dirty="0">
                <a:latin typeface="+mn-ea"/>
              </a:endParaRPr>
            </a:p>
            <a:p>
              <a:pPr>
                <a:lnSpc>
                  <a:spcPct val="200000"/>
                </a:lnSpc>
              </a:pPr>
              <a:r>
                <a:rPr lang="ko-KR" altLang="en-US" sz="700" dirty="0">
                  <a:latin typeface="+mn-ea"/>
                </a:rPr>
                <a:t>단가</a:t>
              </a:r>
            </a:p>
            <a:p>
              <a:pPr>
                <a:lnSpc>
                  <a:spcPct val="200000"/>
                </a:lnSpc>
              </a:pPr>
              <a:r>
                <a:rPr lang="ko-KR" altLang="en-US" sz="700" dirty="0">
                  <a:latin typeface="+mn-ea"/>
                </a:rPr>
                <a:t>품명</a:t>
              </a:r>
            </a:p>
            <a:p>
              <a:pPr>
                <a:lnSpc>
                  <a:spcPct val="200000"/>
                </a:lnSpc>
              </a:pPr>
              <a:r>
                <a:rPr lang="ko-KR" altLang="en-US" sz="700" dirty="0" err="1">
                  <a:latin typeface="+mn-ea"/>
                </a:rPr>
                <a:t>참조번호</a:t>
              </a:r>
              <a:endParaRPr lang="ko-KR" altLang="en-US" sz="700" dirty="0">
                <a:latin typeface="+mn-ea"/>
              </a:endParaRPr>
            </a:p>
            <a:p>
              <a:pPr>
                <a:lnSpc>
                  <a:spcPct val="200000"/>
                </a:lnSpc>
              </a:pPr>
              <a:r>
                <a:rPr lang="ko-KR" altLang="en-US" sz="700" dirty="0" err="1">
                  <a:latin typeface="+mn-ea"/>
                </a:rPr>
                <a:t>예산구분</a:t>
              </a:r>
              <a:endParaRPr lang="ko-KR" altLang="en-US" sz="700" dirty="0">
                <a:latin typeface="+mn-ea"/>
              </a:endParaRPr>
            </a:p>
            <a:p>
              <a:pPr>
                <a:lnSpc>
                  <a:spcPct val="200000"/>
                </a:lnSpc>
              </a:pPr>
              <a:r>
                <a:rPr lang="ko-KR" altLang="en-US" sz="700" dirty="0">
                  <a:latin typeface="+mn-ea"/>
                </a:rPr>
                <a:t>납기</a:t>
              </a:r>
            </a:p>
            <a:p>
              <a:pPr>
                <a:lnSpc>
                  <a:spcPct val="200000"/>
                </a:lnSpc>
              </a:pPr>
              <a:r>
                <a:rPr lang="ko-KR" altLang="en-US" sz="700" dirty="0">
                  <a:latin typeface="+mn-ea"/>
                </a:rPr>
                <a:t>금액</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814470" cy="3628237"/>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ko-KR" altLang="en-US" sz="700" dirty="0" err="1">
                  <a:latin typeface="+mn-ea"/>
                </a:rPr>
                <a:t>소요군검사</a:t>
              </a:r>
              <a:endParaRPr lang="ko-KR" altLang="en-US" sz="700" dirty="0">
                <a:latin typeface="+mn-ea"/>
              </a:endParaRPr>
            </a:p>
            <a:p>
              <a:pPr>
                <a:lnSpc>
                  <a:spcPct val="200000"/>
                </a:lnSpc>
              </a:pPr>
              <a:r>
                <a:rPr lang="en-US" altLang="ko-KR" sz="700" dirty="0">
                  <a:latin typeface="+mn-ea"/>
                </a:rPr>
                <a:t>MB201639962A001</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1</a:t>
              </a:r>
            </a:p>
            <a:p>
              <a:pPr>
                <a:lnSpc>
                  <a:spcPct val="200000"/>
                </a:lnSpc>
              </a:pPr>
              <a:r>
                <a:rPr lang="en-US" altLang="ko-KR" sz="700" dirty="0">
                  <a:solidFill>
                    <a:srgbClr val="0070C0"/>
                  </a:solidFill>
                  <a:latin typeface="+mn-ea"/>
                </a:rPr>
                <a:t>000-A0000 0000</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a:p>
              <a:pPr algn="r">
                <a:lnSpc>
                  <a:spcPct val="200000"/>
                </a:lnSpc>
              </a:pPr>
              <a:r>
                <a:rPr lang="en-US" altLang="ko-KR" sz="700" dirty="0">
                  <a:latin typeface="+mn-ea"/>
                </a:rPr>
                <a:t>31,608,000.00 </a:t>
              </a:r>
              <a:r>
                <a:rPr lang="ko-KR" altLang="en-US" sz="700" dirty="0">
                  <a:latin typeface="+mn-ea"/>
                </a:rPr>
                <a:t>원</a:t>
              </a:r>
            </a:p>
            <a:p>
              <a:pPr>
                <a:lnSpc>
                  <a:spcPct val="200000"/>
                </a:lnSpc>
              </a:pPr>
              <a:r>
                <a:rPr lang="ko-KR" altLang="en-US" sz="700" dirty="0" err="1">
                  <a:latin typeface="+mn-ea"/>
                </a:rPr>
                <a:t>풋살경기장</a:t>
              </a:r>
              <a:r>
                <a:rPr lang="ko-KR" altLang="en-US" sz="700" dirty="0">
                  <a:latin typeface="+mn-ea"/>
                </a:rPr>
                <a:t> 인조잔디 제조</a:t>
              </a:r>
              <a:r>
                <a:rPr lang="en-US" altLang="ko-KR" sz="700" dirty="0">
                  <a:latin typeface="+mn-ea"/>
                </a:rPr>
                <a:t>-</a:t>
              </a:r>
              <a:r>
                <a:rPr lang="ko-KR" altLang="en-US" sz="700" dirty="0" err="1">
                  <a:latin typeface="+mn-ea"/>
                </a:rPr>
                <a:t>설치납품</a:t>
              </a:r>
              <a:endParaRPr lang="ko-KR" altLang="en-US" sz="700" dirty="0">
                <a:latin typeface="+mn-ea"/>
              </a:endParaRP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2016-11-25</a:t>
              </a:r>
            </a:p>
            <a:p>
              <a:pPr algn="r">
                <a:lnSpc>
                  <a:spcPct val="200000"/>
                </a:lnSpc>
              </a:pPr>
              <a:r>
                <a:rPr lang="en-US" altLang="ko-KR" sz="700" dirty="0">
                  <a:latin typeface="+mn-ea"/>
                </a:rPr>
                <a:t>31,608,000 </a:t>
              </a:r>
              <a:r>
                <a:rPr lang="ko-KR" altLang="en-US" sz="700" dirty="0">
                  <a:latin typeface="+mn-ea"/>
                </a:rPr>
                <a:t>원</a:t>
              </a:r>
              <a:endParaRPr lang="en-US" altLang="ko-KR" sz="700" dirty="0">
                <a:latin typeface="+mn-ea"/>
              </a:endParaRPr>
            </a:p>
          </p:txBody>
        </p:sp>
        <p:grpSp>
          <p:nvGrpSpPr>
            <p:cNvPr id="17" name="그룹 16"/>
            <p:cNvGrpSpPr/>
            <p:nvPr/>
          </p:nvGrpSpPr>
          <p:grpSpPr>
            <a:xfrm>
              <a:off x="701175" y="1835481"/>
              <a:ext cx="2630093" cy="3650578"/>
              <a:chOff x="701175" y="1835481"/>
              <a:chExt cx="2630093" cy="3650578"/>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5486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6" name="타원 255">
            <a:extLst>
              <a:ext uri="{FF2B5EF4-FFF2-40B4-BE49-F238E27FC236}">
                <a16:creationId xmlns:a16="http://schemas.microsoft.com/office/drawing/2014/main" id="{37A7FF4F-0EAA-1463-560A-D5EC24416103}"/>
              </a:ext>
            </a:extLst>
          </p:cNvPr>
          <p:cNvSpPr/>
          <p:nvPr/>
        </p:nvSpPr>
        <p:spPr>
          <a:xfrm>
            <a:off x="3689399"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58" name="타원 257">
            <a:extLst>
              <a:ext uri="{FF2B5EF4-FFF2-40B4-BE49-F238E27FC236}">
                <a16:creationId xmlns:a16="http://schemas.microsoft.com/office/drawing/2014/main" id="{37A7FF4F-0EAA-1463-560A-D5EC24416103}"/>
              </a:ext>
            </a:extLst>
          </p:cNvPr>
          <p:cNvSpPr/>
          <p:nvPr/>
        </p:nvSpPr>
        <p:spPr>
          <a:xfrm>
            <a:off x="571127" y="335857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74" name="TextBox 73">
            <a:extLst>
              <a:ext uri="{FF2B5EF4-FFF2-40B4-BE49-F238E27FC236}">
                <a16:creationId xmlns:a16="http://schemas.microsoft.com/office/drawing/2014/main" id="{FFC49AEA-2A8F-250C-A86A-A7751D9706C3}"/>
              </a:ext>
            </a:extLst>
          </p:cNvPr>
          <p:cNvSpPr txBox="1"/>
          <p:nvPr/>
        </p:nvSpPr>
        <p:spPr>
          <a:xfrm>
            <a:off x="3882481" y="1527996"/>
            <a:ext cx="733122"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품목명세서</a:t>
            </a:r>
            <a:endParaRPr lang="ko-KR" altLang="en-US" sz="700" dirty="0">
              <a:latin typeface="+mn-ea"/>
            </a:endParaRPr>
          </a:p>
        </p:txBody>
      </p:sp>
      <p:grpSp>
        <p:nvGrpSpPr>
          <p:cNvPr id="75" name="그룹 74"/>
          <p:cNvGrpSpPr/>
          <p:nvPr/>
        </p:nvGrpSpPr>
        <p:grpSpPr>
          <a:xfrm flipV="1">
            <a:off x="6244568" y="1641327"/>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6" name="직사각형 75"/>
          <p:cNvSpPr/>
          <p:nvPr/>
        </p:nvSpPr>
        <p:spPr>
          <a:xfrm>
            <a:off x="3823603" y="1835481"/>
            <a:ext cx="792000" cy="25853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TextBox 76">
            <a:extLst>
              <a:ext uri="{FF2B5EF4-FFF2-40B4-BE49-F238E27FC236}">
                <a16:creationId xmlns:a16="http://schemas.microsoft.com/office/drawing/2014/main" id="{FFC49AEA-2A8F-250C-A86A-A7751D9706C3}"/>
              </a:ext>
            </a:extLst>
          </p:cNvPr>
          <p:cNvSpPr txBox="1"/>
          <p:nvPr/>
        </p:nvSpPr>
        <p:spPr>
          <a:xfrm>
            <a:off x="3910666" y="1835481"/>
            <a:ext cx="725552" cy="2585323"/>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군급</a:t>
            </a:r>
            <a:r>
              <a:rPr lang="en-US" altLang="ko-KR" sz="700" dirty="0">
                <a:latin typeface="+mn-ea"/>
              </a:rPr>
              <a:t>-</a:t>
            </a:r>
            <a:r>
              <a:rPr lang="ko-KR" altLang="en-US" sz="700" dirty="0" err="1">
                <a:latin typeface="+mn-ea"/>
              </a:rPr>
              <a:t>재고번호</a:t>
            </a:r>
            <a:endParaRPr lang="en-US" altLang="ko-KR" sz="700" dirty="0">
              <a:latin typeface="+mn-ea"/>
            </a:endParaRPr>
          </a:p>
          <a:p>
            <a:pPr>
              <a:lnSpc>
                <a:spcPct val="200000"/>
              </a:lnSpc>
            </a:pPr>
            <a:r>
              <a:rPr lang="ko-KR" altLang="en-US" sz="700" dirty="0" err="1">
                <a:latin typeface="+mn-ea"/>
              </a:rPr>
              <a:t>규격번호</a:t>
            </a:r>
            <a:endParaRPr lang="en-US" altLang="ko-KR" sz="700" dirty="0">
              <a:latin typeface="+mn-ea"/>
            </a:endParaRPr>
          </a:p>
          <a:p>
            <a:pPr>
              <a:lnSpc>
                <a:spcPct val="200000"/>
              </a:lnSpc>
            </a:pPr>
            <a:r>
              <a:rPr lang="ko-KR" altLang="en-US" sz="700" dirty="0" err="1">
                <a:latin typeface="+mn-ea"/>
              </a:rPr>
              <a:t>규격종류</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품명</a:t>
            </a: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err="1">
                <a:latin typeface="+mn-ea"/>
              </a:rPr>
              <a:t>참조번호</a:t>
            </a:r>
            <a:endParaRPr lang="ko-KR" altLang="en-US" sz="700" dirty="0">
              <a:latin typeface="+mn-ea"/>
            </a:endParaRPr>
          </a:p>
          <a:p>
            <a:pPr>
              <a:lnSpc>
                <a:spcPct val="200000"/>
              </a:lnSpc>
            </a:pPr>
            <a:r>
              <a:rPr lang="ko-KR" altLang="en-US" sz="700" dirty="0" err="1">
                <a:latin typeface="+mn-ea"/>
              </a:rPr>
              <a:t>적용장비명</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err="1">
                <a:latin typeface="+mn-ea"/>
              </a:rPr>
              <a:t>총금액</a:t>
            </a:r>
            <a:endParaRPr lang="ko-KR" altLang="en-US" sz="700" dirty="0">
              <a:latin typeface="+mn-ea"/>
            </a:endParaRPr>
          </a:p>
        </p:txBody>
      </p:sp>
      <p:sp>
        <p:nvSpPr>
          <p:cNvPr id="78" name="TextBox 77">
            <a:extLst>
              <a:ext uri="{FF2B5EF4-FFF2-40B4-BE49-F238E27FC236}">
                <a16:creationId xmlns:a16="http://schemas.microsoft.com/office/drawing/2014/main" id="{FFC49AEA-2A8F-250C-A86A-A7751D9706C3}"/>
              </a:ext>
            </a:extLst>
          </p:cNvPr>
          <p:cNvSpPr txBox="1"/>
          <p:nvPr/>
        </p:nvSpPr>
        <p:spPr>
          <a:xfrm>
            <a:off x="4667515" y="1835481"/>
            <a:ext cx="1814470" cy="2585323"/>
          </a:xfrm>
          <a:prstGeom prst="rect">
            <a:avLst/>
          </a:prstGeom>
          <a:noFill/>
        </p:spPr>
        <p:txBody>
          <a:bodyPr wrap="square" lIns="0" tIns="0" rIns="0" bIns="0" rtlCol="0">
            <a:spAutoFit/>
          </a:bodyPr>
          <a:lstStyle/>
          <a:p>
            <a:pPr>
              <a:lnSpc>
                <a:spcPct val="200000"/>
              </a:lnSpc>
            </a:pPr>
            <a:r>
              <a:rPr lang="en-US" altLang="ko-KR" sz="700" dirty="0">
                <a:latin typeface="+mn-ea"/>
              </a:rPr>
              <a:t>11111 11111</a:t>
            </a:r>
          </a:p>
          <a:p>
            <a:pPr>
              <a:lnSpc>
                <a:spcPct val="200000"/>
              </a:lnSpc>
            </a:pPr>
            <a:r>
              <a:rPr lang="en-US" altLang="ko-KR" sz="700" dirty="0">
                <a:solidFill>
                  <a:srgbClr val="0070C0"/>
                </a:solidFill>
                <a:latin typeface="+mn-ea"/>
              </a:rPr>
              <a:t>000-A0000 0000</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5</a:t>
            </a:r>
            <a:endParaRPr lang="ko-KR" altLang="en-US" sz="700" dirty="0">
              <a:latin typeface="+mn-ea"/>
            </a:endParaRPr>
          </a:p>
          <a:p>
            <a:pPr>
              <a:lnSpc>
                <a:spcPct val="200000"/>
              </a:lnSpc>
            </a:pPr>
            <a:r>
              <a:rPr lang="ko-KR" altLang="en-US" sz="700" dirty="0" err="1">
                <a:latin typeface="+mn-ea"/>
              </a:rPr>
              <a:t>풋살경기장</a:t>
            </a:r>
            <a:r>
              <a:rPr lang="ko-KR" altLang="en-US" sz="700" dirty="0">
                <a:latin typeface="+mn-ea"/>
              </a:rPr>
              <a:t> 인조잔디 제조</a:t>
            </a:r>
            <a:r>
              <a:rPr lang="en-US" altLang="ko-KR" sz="700" dirty="0">
                <a:latin typeface="+mn-ea"/>
              </a:rPr>
              <a:t>-</a:t>
            </a:r>
            <a:r>
              <a:rPr lang="ko-KR" altLang="en-US" sz="700" dirty="0" err="1">
                <a:latin typeface="+mn-ea"/>
              </a:rPr>
              <a:t>설치납품</a:t>
            </a:r>
            <a:endParaRPr lang="en-US" altLang="ko-KR" sz="700" dirty="0">
              <a:latin typeface="+mn-ea"/>
            </a:endParaRP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ko-KR" altLang="en-US" sz="700" dirty="0" err="1">
                <a:latin typeface="+mn-ea"/>
              </a:rPr>
              <a:t>가나다라마바사아자차카타파하</a:t>
            </a:r>
            <a:endParaRPr lang="en-US" altLang="ko-KR" sz="700" dirty="0">
              <a:latin typeface="+mn-ea"/>
            </a:endParaRPr>
          </a:p>
          <a:p>
            <a:pPr algn="r">
              <a:lnSpc>
                <a:spcPct val="200000"/>
              </a:lnSpc>
            </a:pPr>
            <a:r>
              <a:rPr lang="en-US" altLang="ko-KR" sz="700" dirty="0">
                <a:latin typeface="+mn-ea"/>
              </a:rPr>
              <a:t>31,608,000 </a:t>
            </a:r>
            <a:r>
              <a:rPr lang="ko-KR" altLang="en-US" sz="700" dirty="0">
                <a:latin typeface="+mn-ea"/>
              </a:rPr>
              <a:t>원</a:t>
            </a:r>
          </a:p>
          <a:p>
            <a:pPr algn="r">
              <a:lnSpc>
                <a:spcPct val="200000"/>
              </a:lnSpc>
            </a:pPr>
            <a:r>
              <a:rPr lang="en-US" altLang="ko-KR" sz="700" dirty="0">
                <a:latin typeface="+mn-ea"/>
              </a:rPr>
              <a:t>- </a:t>
            </a:r>
            <a:r>
              <a:rPr lang="ko-KR" altLang="en-US" sz="700" dirty="0">
                <a:latin typeface="+mn-ea"/>
              </a:rPr>
              <a:t>원</a:t>
            </a:r>
            <a:endParaRPr lang="en-US" altLang="ko-KR" sz="700" dirty="0">
              <a:latin typeface="+mn-ea"/>
            </a:endParaRPr>
          </a:p>
        </p:txBody>
      </p:sp>
      <p:grpSp>
        <p:nvGrpSpPr>
          <p:cNvPr id="79" name="그룹 78"/>
          <p:cNvGrpSpPr/>
          <p:nvPr/>
        </p:nvGrpSpPr>
        <p:grpSpPr>
          <a:xfrm>
            <a:off x="3821510" y="1835481"/>
            <a:ext cx="2630093" cy="2576880"/>
            <a:chOff x="701175" y="1835481"/>
            <a:chExt cx="2630093" cy="2576880"/>
          </a:xfrm>
        </p:grpSpPr>
        <p:cxnSp>
          <p:nvCxnSpPr>
            <p:cNvPr id="80" name="직선 연결선 7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1" name="직선 연결선 8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5" name="직선 연결선 8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6" name="직선 연결선 85">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직선 연결선 91">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65" name="TextBox 64">
            <a:extLst>
              <a:ext uri="{FF2B5EF4-FFF2-40B4-BE49-F238E27FC236}">
                <a16:creationId xmlns:a16="http://schemas.microsoft.com/office/drawing/2014/main" id="{FFC49AEA-2A8F-250C-A86A-A7751D9706C3}"/>
              </a:ext>
            </a:extLst>
          </p:cNvPr>
          <p:cNvSpPr txBox="1"/>
          <p:nvPr/>
        </p:nvSpPr>
        <p:spPr>
          <a:xfrm>
            <a:off x="3882481" y="4581218"/>
            <a:ext cx="733122"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품목명세서</a:t>
            </a:r>
            <a:r>
              <a:rPr lang="ko-KR" altLang="en-US" sz="700" dirty="0">
                <a:latin typeface="+mn-ea"/>
              </a:rPr>
              <a:t> 상세</a:t>
            </a:r>
          </a:p>
        </p:txBody>
      </p:sp>
      <p:grpSp>
        <p:nvGrpSpPr>
          <p:cNvPr id="66" name="그룹 65"/>
          <p:cNvGrpSpPr/>
          <p:nvPr/>
        </p:nvGrpSpPr>
        <p:grpSpPr>
          <a:xfrm flipV="1">
            <a:off x="6244568" y="4694549"/>
            <a:ext cx="94010" cy="47005"/>
            <a:chOff x="6812560" y="3297172"/>
            <a:chExt cx="94010" cy="47005"/>
          </a:xfrm>
        </p:grpSpPr>
        <p:cxnSp>
          <p:nvCxnSpPr>
            <p:cNvPr id="67" name="직선 연결선 6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8" name="직선 연결선 6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69" name="직사각형 68"/>
          <p:cNvSpPr/>
          <p:nvPr/>
        </p:nvSpPr>
        <p:spPr>
          <a:xfrm>
            <a:off x="3823603" y="4888704"/>
            <a:ext cx="792000" cy="134359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TextBox 69">
            <a:extLst>
              <a:ext uri="{FF2B5EF4-FFF2-40B4-BE49-F238E27FC236}">
                <a16:creationId xmlns:a16="http://schemas.microsoft.com/office/drawing/2014/main" id="{FFC49AEA-2A8F-250C-A86A-A7751D9706C3}"/>
              </a:ext>
            </a:extLst>
          </p:cNvPr>
          <p:cNvSpPr txBox="1"/>
          <p:nvPr/>
        </p:nvSpPr>
        <p:spPr>
          <a:xfrm>
            <a:off x="3910666" y="4888703"/>
            <a:ext cx="725552" cy="1292662"/>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err="1">
                <a:latin typeface="+mn-ea"/>
              </a:rPr>
              <a:t>품보형태</a:t>
            </a:r>
            <a:endParaRPr lang="en-US" altLang="ko-KR" sz="700" dirty="0">
              <a:latin typeface="+mn-ea"/>
            </a:endParaRPr>
          </a:p>
          <a:p>
            <a:pPr>
              <a:lnSpc>
                <a:spcPct val="200000"/>
              </a:lnSpc>
            </a:pPr>
            <a:r>
              <a:rPr lang="ko-KR" altLang="en-US" sz="700" dirty="0">
                <a:latin typeface="+mn-ea"/>
              </a:rPr>
              <a:t>조달요구번호</a:t>
            </a:r>
            <a:endParaRPr lang="en-US" altLang="ko-KR" sz="700" dirty="0">
              <a:latin typeface="+mn-ea"/>
            </a:endParaRPr>
          </a:p>
          <a:p>
            <a:pPr>
              <a:lnSpc>
                <a:spcPct val="200000"/>
              </a:lnSpc>
            </a:pPr>
            <a:r>
              <a:rPr lang="ko-KR" altLang="en-US" sz="700" dirty="0" err="1">
                <a:latin typeface="+mn-ea"/>
              </a:rPr>
              <a:t>적용장비명</a:t>
            </a:r>
            <a:endParaRPr lang="en-US" altLang="ko-KR" sz="700" dirty="0">
              <a:latin typeface="+mn-ea"/>
            </a:endParaRPr>
          </a:p>
          <a:p>
            <a:pPr>
              <a:lnSpc>
                <a:spcPct val="200000"/>
              </a:lnSpc>
            </a:pPr>
            <a:r>
              <a:rPr lang="ko-KR" altLang="en-US" sz="700" dirty="0">
                <a:latin typeface="+mn-ea"/>
              </a:rPr>
              <a:t>예산항목</a:t>
            </a:r>
            <a:endParaRPr lang="en-US" altLang="ko-KR" sz="700" dirty="0">
              <a:latin typeface="+mn-ea"/>
            </a:endParaRPr>
          </a:p>
          <a:p>
            <a:pPr>
              <a:lnSpc>
                <a:spcPct val="200000"/>
              </a:lnSpc>
            </a:pPr>
            <a:r>
              <a:rPr lang="ko-KR" altLang="en-US" sz="700" dirty="0">
                <a:latin typeface="+mn-ea"/>
              </a:rPr>
              <a:t>단위</a:t>
            </a:r>
          </a:p>
        </p:txBody>
      </p:sp>
      <p:sp>
        <p:nvSpPr>
          <p:cNvPr id="71" name="TextBox 70">
            <a:extLst>
              <a:ext uri="{FF2B5EF4-FFF2-40B4-BE49-F238E27FC236}">
                <a16:creationId xmlns:a16="http://schemas.microsoft.com/office/drawing/2014/main" id="{FFC49AEA-2A8F-250C-A86A-A7751D9706C3}"/>
              </a:ext>
            </a:extLst>
          </p:cNvPr>
          <p:cNvSpPr txBox="1"/>
          <p:nvPr/>
        </p:nvSpPr>
        <p:spPr>
          <a:xfrm>
            <a:off x="4667515" y="4888703"/>
            <a:ext cx="1814470" cy="1292662"/>
          </a:xfrm>
          <a:prstGeom prst="rect">
            <a:avLst/>
          </a:prstGeom>
          <a:noFill/>
        </p:spPr>
        <p:txBody>
          <a:bodyPr wrap="square" lIns="0" tIns="0" rIns="0" bIns="0" rtlCol="0">
            <a:spAutoFit/>
          </a:bodyPr>
          <a:lstStyle/>
          <a:p>
            <a:pPr>
              <a:lnSpc>
                <a:spcPct val="200000"/>
              </a:lnSpc>
            </a:pPr>
            <a:r>
              <a:rPr lang="en-US" altLang="ko-KR" sz="700" dirty="0">
                <a:latin typeface="+mn-ea"/>
              </a:rPr>
              <a:t>11111 11111</a:t>
            </a:r>
          </a:p>
          <a:p>
            <a:pPr>
              <a:lnSpc>
                <a:spcPct val="200000"/>
              </a:lnSpc>
            </a:pPr>
            <a:endParaRPr lang="en-US" altLang="ko-KR" sz="700" dirty="0">
              <a:solidFill>
                <a:srgbClr val="0070C0"/>
              </a:solidFill>
              <a:latin typeface="+mn-ea"/>
            </a:endParaRPr>
          </a:p>
          <a:p>
            <a:pPr>
              <a:lnSpc>
                <a:spcPct val="200000"/>
              </a:lnSpc>
            </a:pPr>
            <a:r>
              <a:rPr lang="en-US" altLang="ko-KR" sz="700" dirty="0">
                <a:solidFill>
                  <a:srgbClr val="0070C0"/>
                </a:solidFill>
                <a:latin typeface="+mn-ea"/>
              </a:rPr>
              <a:t>000-A0000 0000</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73" name="그룹 72"/>
          <p:cNvGrpSpPr/>
          <p:nvPr/>
        </p:nvGrpSpPr>
        <p:grpSpPr>
          <a:xfrm>
            <a:off x="3821510" y="4888703"/>
            <a:ext cx="2630093" cy="1288440"/>
            <a:chOff x="701175" y="1835481"/>
            <a:chExt cx="2630093" cy="1288440"/>
          </a:xfrm>
        </p:grpSpPr>
        <p:cxnSp>
          <p:nvCxnSpPr>
            <p:cNvPr id="83" name="직선 연결선 8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08" name="직선 연결선 107">
            <a:extLst>
              <a:ext uri="{FF2B5EF4-FFF2-40B4-BE49-F238E27FC236}">
                <a16:creationId xmlns:a16="http://schemas.microsoft.com/office/drawing/2014/main" id="{E9293055-D5CD-4B9E-7F64-64B2D2CA7A52}"/>
              </a:ext>
            </a:extLst>
          </p:cNvPr>
          <p:cNvCxnSpPr/>
          <p:nvPr/>
        </p:nvCxnSpPr>
        <p:spPr>
          <a:xfrm>
            <a:off x="3795734" y="453767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2" name="타원 101">
            <a:extLst>
              <a:ext uri="{FF2B5EF4-FFF2-40B4-BE49-F238E27FC236}">
                <a16:creationId xmlns:a16="http://schemas.microsoft.com/office/drawing/2014/main" id="{37A7FF4F-0EAA-1463-560A-D5EC24416103}"/>
              </a:ext>
            </a:extLst>
          </p:cNvPr>
          <p:cNvSpPr/>
          <p:nvPr/>
        </p:nvSpPr>
        <p:spPr>
          <a:xfrm>
            <a:off x="3689399" y="533307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56034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4" name="사각형: 둥근 모서리 15">
            <a:extLst>
              <a:ext uri="{FF2B5EF4-FFF2-40B4-BE49-F238E27FC236}">
                <a16:creationId xmlns:a16="http://schemas.microsoft.com/office/drawing/2014/main" id="{E2B61CFB-AD16-68D0-8752-50D9C5E01971}"/>
              </a:ext>
            </a:extLst>
          </p:cNvPr>
          <p:cNvSpPr/>
          <p:nvPr/>
        </p:nvSpPr>
        <p:spPr>
          <a:xfrm>
            <a:off x="2836921" y="3368709"/>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5" name="사각형: 둥근 모서리 15">
            <a:extLst>
              <a:ext uri="{FF2B5EF4-FFF2-40B4-BE49-F238E27FC236}">
                <a16:creationId xmlns:a16="http://schemas.microsoft.com/office/drawing/2014/main" id="{E2B61CFB-AD16-68D0-8752-50D9C5E01971}"/>
              </a:ext>
            </a:extLst>
          </p:cNvPr>
          <p:cNvSpPr/>
          <p:nvPr/>
        </p:nvSpPr>
        <p:spPr>
          <a:xfrm>
            <a:off x="5957256" y="2080026"/>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6" name="사각형: 둥근 모서리 15">
            <a:extLst>
              <a:ext uri="{FF2B5EF4-FFF2-40B4-BE49-F238E27FC236}">
                <a16:creationId xmlns:a16="http://schemas.microsoft.com/office/drawing/2014/main" id="{E2B61CFB-AD16-68D0-8752-50D9C5E01971}"/>
              </a:ext>
            </a:extLst>
          </p:cNvPr>
          <p:cNvSpPr/>
          <p:nvPr/>
        </p:nvSpPr>
        <p:spPr>
          <a:xfrm>
            <a:off x="5957256" y="5343201"/>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Tree>
    <p:extLst>
      <p:ext uri="{BB962C8B-B14F-4D97-AF65-F5344CB8AC3E}">
        <p14:creationId xmlns:p14="http://schemas.microsoft.com/office/powerpoint/2010/main" val="119506410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en-US" altLang="ko-KR" dirty="0"/>
              <a:t>‘</a:t>
            </a:r>
            <a:r>
              <a:rPr lang="ko-KR" altLang="en-US" dirty="0"/>
              <a:t>통합사업관리시스템</a:t>
            </a:r>
            <a:r>
              <a:rPr lang="en-US" altLang="ko-KR" dirty="0"/>
              <a:t>’</a:t>
            </a:r>
            <a:r>
              <a:rPr lang="ko-KR" altLang="en-US" dirty="0"/>
              <a:t>을 통해 인터페이스 수신 받은 공고일 경우 노출되는 상세 목록 그리드 </a:t>
            </a:r>
            <a:r>
              <a:rPr lang="en-US" altLang="ko-KR" dirty="0"/>
              <a:t>( </a:t>
            </a:r>
            <a:r>
              <a:rPr lang="ko-KR" altLang="en-US" dirty="0" err="1"/>
              <a:t>방위사업청</a:t>
            </a:r>
            <a:r>
              <a:rPr lang="en-US" altLang="ko-KR" dirty="0"/>
              <a:t>, </a:t>
            </a:r>
            <a:r>
              <a:rPr lang="ko-KR" altLang="en-US" dirty="0"/>
              <a:t>조달본부</a:t>
            </a:r>
            <a:r>
              <a:rPr lang="en-US" altLang="ko-KR" dirty="0"/>
              <a:t>)</a:t>
            </a:r>
            <a:br>
              <a:rPr lang="en-US" altLang="ko-KR" dirty="0"/>
            </a:br>
            <a:r>
              <a:rPr lang="en-US" altLang="ko-KR" dirty="0"/>
              <a:t>- </a:t>
            </a:r>
            <a:r>
              <a:rPr lang="ko-KR" altLang="en-US" dirty="0"/>
              <a:t>해당 </a:t>
            </a:r>
            <a:r>
              <a:rPr lang="en-US" altLang="ko-KR" dirty="0"/>
              <a:t>Tab</a:t>
            </a:r>
            <a:r>
              <a:rPr lang="ko-KR" altLang="en-US" dirty="0"/>
              <a:t>의 화면은 </a:t>
            </a:r>
            <a:r>
              <a:rPr lang="ko-KR" altLang="en-US" dirty="0" err="1"/>
              <a:t>업무구분이</a:t>
            </a:r>
            <a:r>
              <a:rPr lang="ko-KR" altLang="en-US" dirty="0"/>
              <a:t> </a:t>
            </a:r>
            <a:r>
              <a:rPr lang="en-US" altLang="ko-KR" dirty="0"/>
              <a:t>[</a:t>
            </a:r>
            <a:r>
              <a:rPr lang="ko-KR" altLang="en-US" dirty="0"/>
              <a:t>물품</a:t>
            </a:r>
            <a:r>
              <a:rPr lang="en-US" altLang="ko-KR" dirty="0"/>
              <a:t>/</a:t>
            </a:r>
            <a:r>
              <a:rPr lang="ko-KR" altLang="en-US" dirty="0"/>
              <a:t>용역</a:t>
            </a:r>
            <a:r>
              <a:rPr lang="en-US" altLang="ko-KR" dirty="0"/>
              <a:t>]</a:t>
            </a:r>
            <a:r>
              <a:rPr lang="ko-KR" altLang="en-US" dirty="0"/>
              <a:t>일 경우에만 노출</a:t>
            </a:r>
            <a:r>
              <a:rPr lang="en-US" altLang="ko-KR" dirty="0"/>
              <a:t/>
            </a:r>
            <a:br>
              <a:rPr lang="en-US" altLang="ko-KR" dirty="0"/>
            </a:br>
            <a:r>
              <a:rPr lang="en-US" altLang="ko-KR" dirty="0"/>
              <a:t>- </a:t>
            </a:r>
            <a:r>
              <a:rPr lang="ko-KR" altLang="en-US" dirty="0"/>
              <a:t>입찰방법</a:t>
            </a:r>
            <a:r>
              <a:rPr lang="en-US" altLang="ko-KR" dirty="0"/>
              <a:t>: </a:t>
            </a:r>
            <a:r>
              <a:rPr lang="ko-KR" altLang="en-US" dirty="0" err="1"/>
              <a:t>단가제인</a:t>
            </a:r>
            <a:r>
              <a:rPr lang="ko-KR" altLang="en-US" dirty="0"/>
              <a:t> 경우 상세 표시</a:t>
            </a:r>
            <a:endParaRPr lang="en-US" altLang="ko-KR" dirty="0"/>
          </a:p>
          <a:p>
            <a:pPr>
              <a:buFont typeface="+mj-lt"/>
              <a:buAutoNum type="arabicPeriod"/>
            </a:pPr>
            <a:r>
              <a:rPr lang="en-US" altLang="ko-KR" dirty="0"/>
              <a:t>‘</a:t>
            </a:r>
            <a:r>
              <a:rPr lang="ko-KR" altLang="en-US" dirty="0"/>
              <a:t>부대조달정보체계</a:t>
            </a:r>
            <a:r>
              <a:rPr lang="en-US" altLang="ko-KR" dirty="0"/>
              <a:t>＇</a:t>
            </a:r>
            <a:r>
              <a:rPr lang="ko-KR" altLang="en-US" dirty="0"/>
              <a:t>를 통해 인터페이스 수신 받은 공고일 경우 노출되는 상세 목록 그리드</a:t>
            </a:r>
            <a:endParaRPr lang="en-US" altLang="ko-KR" dirty="0"/>
          </a:p>
          <a:p>
            <a:pPr>
              <a:buFont typeface="+mj-lt"/>
              <a:buAutoNum type="arabicPeriod"/>
            </a:pPr>
            <a:r>
              <a:rPr lang="ko-KR" altLang="en-US" dirty="0" err="1"/>
              <a:t>품보형태</a:t>
            </a:r>
            <a:r>
              <a:rPr lang="ko-KR" altLang="en-US" dirty="0"/>
              <a:t> 클릭</a:t>
            </a:r>
            <a:r>
              <a:rPr lang="en-US" altLang="ko-KR" dirty="0"/>
              <a:t/>
            </a:r>
            <a:br>
              <a:rPr lang="en-US" altLang="ko-KR" dirty="0"/>
            </a:br>
            <a:r>
              <a:rPr lang="en-US" altLang="ko-KR" dirty="0"/>
              <a:t>- ‘</a:t>
            </a:r>
            <a:r>
              <a:rPr lang="ko-KR" altLang="en-US" dirty="0"/>
              <a:t>목록정보조회</a:t>
            </a:r>
            <a:r>
              <a:rPr lang="en-US" altLang="ko-KR" dirty="0"/>
              <a:t>’ </a:t>
            </a:r>
            <a:r>
              <a:rPr lang="ko-KR" altLang="en-US" dirty="0"/>
              <a:t>팝업을 호출</a:t>
            </a:r>
            <a:endParaRPr lang="en-US" altLang="ko-KR" dirty="0"/>
          </a:p>
          <a:p>
            <a:pPr>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품목명세서</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err="1"/>
              <a:t>품목명세서</a:t>
            </a:r>
            <a:r>
              <a:rPr lang="ko-KR" altLang="en-US" dirty="0"/>
              <a:t>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err="1">
                <a:latin typeface="+mn-ea"/>
              </a:rPr>
              <a:t>품목명세서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MUI-BD-01-M09</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5" name="TextBox 64">
            <a:extLst>
              <a:ext uri="{FF2B5EF4-FFF2-40B4-BE49-F238E27FC236}">
                <a16:creationId xmlns:a16="http://schemas.microsoft.com/office/drawing/2014/main" id="{FFC49AEA-2A8F-250C-A86A-A7751D9706C3}"/>
              </a:ext>
            </a:extLst>
          </p:cNvPr>
          <p:cNvSpPr txBox="1"/>
          <p:nvPr/>
        </p:nvSpPr>
        <p:spPr>
          <a:xfrm>
            <a:off x="762146" y="1527996"/>
            <a:ext cx="733122"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품목명세서</a:t>
            </a:r>
            <a:r>
              <a:rPr lang="ko-KR" altLang="en-US" sz="700" dirty="0">
                <a:latin typeface="+mn-ea"/>
              </a:rPr>
              <a:t> 상세</a:t>
            </a:r>
          </a:p>
        </p:txBody>
      </p:sp>
      <p:grpSp>
        <p:nvGrpSpPr>
          <p:cNvPr id="66" name="그룹 65"/>
          <p:cNvGrpSpPr/>
          <p:nvPr/>
        </p:nvGrpSpPr>
        <p:grpSpPr>
          <a:xfrm flipV="1">
            <a:off x="3124233" y="1641327"/>
            <a:ext cx="94010" cy="47005"/>
            <a:chOff x="6812560" y="3297172"/>
            <a:chExt cx="94010" cy="47005"/>
          </a:xfrm>
        </p:grpSpPr>
        <p:cxnSp>
          <p:nvCxnSpPr>
            <p:cNvPr id="67" name="직선 연결선 6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8" name="직선 연결선 6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69" name="직사각형 68"/>
          <p:cNvSpPr/>
          <p:nvPr/>
        </p:nvSpPr>
        <p:spPr>
          <a:xfrm>
            <a:off x="703268" y="1835481"/>
            <a:ext cx="792000" cy="27913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TextBox 69">
            <a:extLst>
              <a:ext uri="{FF2B5EF4-FFF2-40B4-BE49-F238E27FC236}">
                <a16:creationId xmlns:a16="http://schemas.microsoft.com/office/drawing/2014/main" id="{FFC49AEA-2A8F-250C-A86A-A7751D9706C3}"/>
              </a:ext>
            </a:extLst>
          </p:cNvPr>
          <p:cNvSpPr txBox="1"/>
          <p:nvPr/>
        </p:nvSpPr>
        <p:spPr>
          <a:xfrm>
            <a:off x="790331" y="1835481"/>
            <a:ext cx="725552" cy="2800767"/>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err="1">
                <a:latin typeface="+mn-ea"/>
              </a:rPr>
              <a:t>품보형태</a:t>
            </a:r>
            <a:endParaRPr lang="en-US" altLang="ko-KR" sz="700" dirty="0">
              <a:latin typeface="+mn-ea"/>
            </a:endParaRPr>
          </a:p>
          <a:p>
            <a:pPr>
              <a:lnSpc>
                <a:spcPct val="200000"/>
              </a:lnSpc>
            </a:pPr>
            <a:r>
              <a:rPr lang="ko-KR" altLang="en-US" sz="700" dirty="0">
                <a:latin typeface="+mn-ea"/>
              </a:rPr>
              <a:t>조달요구번호</a:t>
            </a:r>
            <a:endParaRPr lang="en-US" altLang="ko-KR" sz="700" dirty="0">
              <a:latin typeface="+mn-ea"/>
            </a:endParaRPr>
          </a:p>
          <a:p>
            <a:pPr>
              <a:lnSpc>
                <a:spcPct val="200000"/>
              </a:lnSpc>
            </a:pPr>
            <a:r>
              <a:rPr lang="ko-KR" altLang="en-US" sz="700" dirty="0" err="1">
                <a:latin typeface="+mn-ea"/>
              </a:rPr>
              <a:t>적용장비명</a:t>
            </a:r>
            <a:endParaRPr lang="en-US" altLang="ko-KR" sz="700" dirty="0">
              <a:latin typeface="+mn-ea"/>
            </a:endParaRPr>
          </a:p>
          <a:p>
            <a:pPr>
              <a:lnSpc>
                <a:spcPct val="200000"/>
              </a:lnSpc>
            </a:pPr>
            <a:r>
              <a:rPr lang="ko-KR" altLang="en-US" sz="700" dirty="0">
                <a:latin typeface="+mn-ea"/>
              </a:rPr>
              <a:t>예산항목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err="1">
                <a:latin typeface="+mn-ea"/>
              </a:rPr>
              <a:t>예산구분</a:t>
            </a:r>
            <a:endParaRPr lang="en-US" altLang="ko-KR" sz="700" dirty="0">
              <a:latin typeface="+mn-ea"/>
            </a:endParaRPr>
          </a:p>
          <a:p>
            <a:pPr>
              <a:lnSpc>
                <a:spcPct val="200000"/>
              </a:lnSpc>
            </a:pPr>
            <a:r>
              <a:rPr lang="ko-KR" altLang="en-US" sz="700" dirty="0" err="1">
                <a:latin typeface="+mn-ea"/>
              </a:rPr>
              <a:t>군구분</a:t>
            </a:r>
            <a:endParaRPr lang="en-US" altLang="ko-KR" sz="700" dirty="0">
              <a:latin typeface="+mn-ea"/>
            </a:endParaRP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적용장비명</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err="1">
                <a:latin typeface="+mn-ea"/>
              </a:rPr>
              <a:t>총금액</a:t>
            </a:r>
            <a:endParaRPr lang="ko-KR" altLang="en-US" sz="700" dirty="0">
              <a:latin typeface="+mn-ea"/>
            </a:endParaRPr>
          </a:p>
        </p:txBody>
      </p:sp>
      <p:sp>
        <p:nvSpPr>
          <p:cNvPr id="71" name="TextBox 70">
            <a:extLst>
              <a:ext uri="{FF2B5EF4-FFF2-40B4-BE49-F238E27FC236}">
                <a16:creationId xmlns:a16="http://schemas.microsoft.com/office/drawing/2014/main" id="{FFC49AEA-2A8F-250C-A86A-A7751D9706C3}"/>
              </a:ext>
            </a:extLst>
          </p:cNvPr>
          <p:cNvSpPr txBox="1"/>
          <p:nvPr/>
        </p:nvSpPr>
        <p:spPr>
          <a:xfrm>
            <a:off x="1547180" y="1835481"/>
            <a:ext cx="1814470" cy="2800767"/>
          </a:xfrm>
          <a:prstGeom prst="rect">
            <a:avLst/>
          </a:prstGeom>
          <a:noFill/>
        </p:spPr>
        <p:txBody>
          <a:bodyPr wrap="square" lIns="0" tIns="0" rIns="0" bIns="0" rtlCol="0">
            <a:spAutoFit/>
          </a:bodyPr>
          <a:lstStyle/>
          <a:p>
            <a:pPr>
              <a:lnSpc>
                <a:spcPct val="200000"/>
              </a:lnSpc>
            </a:pPr>
            <a:r>
              <a:rPr lang="en-US" altLang="ko-KR" sz="700" dirty="0">
                <a:latin typeface="+mn-ea"/>
              </a:rPr>
              <a:t>11111 11111</a:t>
            </a:r>
          </a:p>
          <a:p>
            <a:pPr>
              <a:lnSpc>
                <a:spcPct val="200000"/>
              </a:lnSpc>
            </a:pPr>
            <a:endParaRPr lang="en-US" altLang="ko-KR" sz="700" dirty="0">
              <a:solidFill>
                <a:srgbClr val="0070C0"/>
              </a:solidFill>
              <a:latin typeface="+mn-ea"/>
            </a:endParaRPr>
          </a:p>
          <a:p>
            <a:pPr>
              <a:lnSpc>
                <a:spcPct val="200000"/>
              </a:lnSpc>
            </a:pPr>
            <a:r>
              <a:rPr lang="en-US" altLang="ko-KR" sz="700" dirty="0">
                <a:solidFill>
                  <a:srgbClr val="0070C0"/>
                </a:solidFill>
                <a:latin typeface="+mn-ea"/>
              </a:rPr>
              <a:t>000-A0000 0000</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5</a:t>
            </a:r>
          </a:p>
          <a:p>
            <a:pPr>
              <a:lnSpc>
                <a:spcPct val="200000"/>
              </a:lnSpc>
            </a:pPr>
            <a:r>
              <a:rPr lang="ko-KR" altLang="en-US" sz="700" dirty="0" err="1">
                <a:latin typeface="+mn-ea"/>
              </a:rPr>
              <a:t>풋살경기장</a:t>
            </a:r>
            <a:r>
              <a:rPr lang="ko-KR" altLang="en-US" sz="700" dirty="0">
                <a:latin typeface="+mn-ea"/>
              </a:rPr>
              <a:t> 인조잔디 제조</a:t>
            </a:r>
            <a:r>
              <a:rPr lang="en-US" altLang="ko-KR" sz="700" dirty="0">
                <a:latin typeface="+mn-ea"/>
              </a:rPr>
              <a:t>-</a:t>
            </a:r>
            <a:r>
              <a:rPr lang="ko-KR" altLang="en-US" sz="700" dirty="0" err="1">
                <a:latin typeface="+mn-ea"/>
              </a:rPr>
              <a:t>설치납품</a:t>
            </a:r>
            <a:endParaRPr lang="en-US" altLang="ko-KR" sz="700" dirty="0">
              <a:solidFill>
                <a:srgbClr val="0070C0"/>
              </a:solidFill>
              <a:latin typeface="+mn-ea"/>
            </a:endParaRP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ko-KR" altLang="en-US" sz="700" dirty="0" err="1">
                <a:latin typeface="+mn-ea"/>
              </a:rPr>
              <a:t>가나다라마바사아자차카타파하</a:t>
            </a:r>
            <a:endParaRPr lang="en-US" altLang="ko-KR" sz="700" dirty="0">
              <a:latin typeface="+mn-ea"/>
            </a:endParaRPr>
          </a:p>
          <a:p>
            <a:pPr algn="r">
              <a:lnSpc>
                <a:spcPct val="200000"/>
              </a:lnSpc>
            </a:pPr>
            <a:r>
              <a:rPr lang="en-US" altLang="ko-KR" sz="700" dirty="0">
                <a:latin typeface="+mn-ea"/>
              </a:rPr>
              <a:t>31,608,000 </a:t>
            </a:r>
            <a:r>
              <a:rPr lang="ko-KR" altLang="en-US" sz="700" dirty="0">
                <a:latin typeface="+mn-ea"/>
              </a:rPr>
              <a:t>원</a:t>
            </a:r>
          </a:p>
          <a:p>
            <a:pPr algn="r">
              <a:lnSpc>
                <a:spcPct val="200000"/>
              </a:lnSpc>
            </a:pPr>
            <a:r>
              <a:rPr lang="en-US" altLang="ko-KR" sz="700" dirty="0">
                <a:latin typeface="+mn-ea"/>
              </a:rPr>
              <a:t>- </a:t>
            </a:r>
            <a:r>
              <a:rPr lang="ko-KR" altLang="en-US" sz="700" dirty="0">
                <a:latin typeface="+mn-ea"/>
              </a:rPr>
              <a:t>원</a:t>
            </a:r>
            <a:endParaRPr lang="en-US" altLang="ko-KR" sz="700" dirty="0">
              <a:latin typeface="+mn-ea"/>
            </a:endParaRPr>
          </a:p>
        </p:txBody>
      </p:sp>
      <p:grpSp>
        <p:nvGrpSpPr>
          <p:cNvPr id="73" name="그룹 72"/>
          <p:cNvGrpSpPr/>
          <p:nvPr/>
        </p:nvGrpSpPr>
        <p:grpSpPr>
          <a:xfrm>
            <a:off x="701175" y="1835481"/>
            <a:ext cx="2630093" cy="2791401"/>
            <a:chOff x="701175" y="1835481"/>
            <a:chExt cx="2630093" cy="2791401"/>
          </a:xfrm>
        </p:grpSpPr>
        <p:cxnSp>
          <p:nvCxnSpPr>
            <p:cNvPr id="83" name="직선 연결선 8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3268" y="33344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5492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37639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703268" y="39786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1175" y="419342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3268" y="44121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1175" y="462688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2" name="TextBox 101">
            <a:extLst>
              <a:ext uri="{FF2B5EF4-FFF2-40B4-BE49-F238E27FC236}">
                <a16:creationId xmlns:a16="http://schemas.microsoft.com/office/drawing/2014/main" id="{FFC49AEA-2A8F-250C-A86A-A7751D9706C3}"/>
              </a:ext>
            </a:extLst>
          </p:cNvPr>
          <p:cNvSpPr txBox="1"/>
          <p:nvPr/>
        </p:nvSpPr>
        <p:spPr>
          <a:xfrm>
            <a:off x="3882481" y="1527996"/>
            <a:ext cx="733122"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품목명세서</a:t>
            </a:r>
            <a:r>
              <a:rPr lang="ko-KR" altLang="en-US" sz="700" dirty="0">
                <a:latin typeface="+mn-ea"/>
              </a:rPr>
              <a:t> 상세</a:t>
            </a:r>
          </a:p>
        </p:txBody>
      </p:sp>
      <p:grpSp>
        <p:nvGrpSpPr>
          <p:cNvPr id="103" name="그룹 102"/>
          <p:cNvGrpSpPr/>
          <p:nvPr/>
        </p:nvGrpSpPr>
        <p:grpSpPr>
          <a:xfrm flipV="1">
            <a:off x="6244568" y="1641327"/>
            <a:ext cx="94010" cy="47005"/>
            <a:chOff x="6812560" y="3297172"/>
            <a:chExt cx="94010" cy="47005"/>
          </a:xfrm>
        </p:grpSpPr>
        <p:cxnSp>
          <p:nvCxnSpPr>
            <p:cNvPr id="104" name="직선 연결선 10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5" name="직선 연결선 10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2" name="직사각형 121"/>
          <p:cNvSpPr/>
          <p:nvPr/>
        </p:nvSpPr>
        <p:spPr>
          <a:xfrm>
            <a:off x="3823603" y="1835482"/>
            <a:ext cx="792000" cy="173150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3910666" y="1835481"/>
            <a:ext cx="725552" cy="1723549"/>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err="1">
                <a:latin typeface="+mn-ea"/>
              </a:rPr>
              <a:t>품보형태</a:t>
            </a:r>
            <a:endParaRPr lang="en-US" altLang="ko-KR" sz="700" dirty="0">
              <a:latin typeface="+mn-ea"/>
            </a:endParaRPr>
          </a:p>
          <a:p>
            <a:pPr>
              <a:lnSpc>
                <a:spcPct val="200000"/>
              </a:lnSpc>
            </a:pPr>
            <a:r>
              <a:rPr lang="ko-KR" altLang="en-US" sz="700" dirty="0">
                <a:latin typeface="+mn-ea"/>
              </a:rPr>
              <a:t>조달요구번호</a:t>
            </a:r>
            <a:endParaRPr lang="en-US" altLang="ko-KR" sz="700" dirty="0">
              <a:latin typeface="+mn-ea"/>
            </a:endParaRPr>
          </a:p>
          <a:p>
            <a:pPr>
              <a:lnSpc>
                <a:spcPct val="200000"/>
              </a:lnSpc>
            </a:pPr>
            <a:r>
              <a:rPr lang="ko-KR" altLang="en-US" sz="700" dirty="0" err="1">
                <a:latin typeface="+mn-ea"/>
              </a:rPr>
              <a:t>예산구분</a:t>
            </a:r>
            <a:endParaRPr lang="en-US" altLang="ko-KR" sz="700" dirty="0">
              <a:latin typeface="+mn-ea"/>
            </a:endParaRPr>
          </a:p>
          <a:p>
            <a:pPr>
              <a:lnSpc>
                <a:spcPct val="200000"/>
              </a:lnSpc>
            </a:pPr>
            <a:r>
              <a:rPr lang="ko-KR" altLang="en-US" sz="700" dirty="0" err="1">
                <a:latin typeface="+mn-ea"/>
              </a:rPr>
              <a:t>납지</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4667515" y="1835481"/>
            <a:ext cx="1814470" cy="1723549"/>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solidFill>
                  <a:srgbClr val="0070C0"/>
                </a:solidFill>
                <a:latin typeface="+mn-ea"/>
              </a:rPr>
              <a:t>000-A0000 0000</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5</a:t>
            </a:r>
          </a:p>
          <a:p>
            <a:pPr algn="r">
              <a:lnSpc>
                <a:spcPct val="200000"/>
              </a:lnSpc>
            </a:pPr>
            <a:r>
              <a:rPr lang="en-US" altLang="ko-KR" sz="700" dirty="0">
                <a:latin typeface="+mn-ea"/>
              </a:rPr>
              <a:t>31,608,000 </a:t>
            </a:r>
            <a:r>
              <a:rPr lang="ko-KR" altLang="en-US" sz="700" dirty="0">
                <a:latin typeface="+mn-ea"/>
              </a:rPr>
              <a:t>원</a:t>
            </a:r>
          </a:p>
          <a:p>
            <a:pPr algn="r">
              <a:lnSpc>
                <a:spcPct val="200000"/>
              </a:lnSpc>
            </a:pPr>
            <a:r>
              <a:rPr lang="en-US" altLang="ko-KR" sz="700" dirty="0">
                <a:latin typeface="+mn-ea"/>
              </a:rPr>
              <a:t>- </a:t>
            </a:r>
            <a:r>
              <a:rPr lang="ko-KR" altLang="en-US" sz="700" dirty="0">
                <a:latin typeface="+mn-ea"/>
              </a:rPr>
              <a:t>원</a:t>
            </a:r>
            <a:endParaRPr lang="en-US" altLang="ko-KR" sz="700" dirty="0">
              <a:latin typeface="+mn-ea"/>
            </a:endParaRPr>
          </a:p>
        </p:txBody>
      </p:sp>
      <p:grpSp>
        <p:nvGrpSpPr>
          <p:cNvPr id="125" name="그룹 124"/>
          <p:cNvGrpSpPr/>
          <p:nvPr/>
        </p:nvGrpSpPr>
        <p:grpSpPr>
          <a:xfrm>
            <a:off x="3821510" y="1835481"/>
            <a:ext cx="2630093" cy="1731507"/>
            <a:chOff x="701175" y="1835481"/>
            <a:chExt cx="2630093" cy="1731507"/>
          </a:xfrm>
        </p:grpSpPr>
        <p:cxnSp>
          <p:nvCxnSpPr>
            <p:cNvPr id="126" name="직선 연결선 12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33344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35669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6" name="타원 255">
            <a:extLst>
              <a:ext uri="{FF2B5EF4-FFF2-40B4-BE49-F238E27FC236}">
                <a16:creationId xmlns:a16="http://schemas.microsoft.com/office/drawing/2014/main" id="{37A7FF4F-0EAA-1463-560A-D5EC24416103}"/>
              </a:ext>
            </a:extLst>
          </p:cNvPr>
          <p:cNvSpPr/>
          <p:nvPr/>
        </p:nvSpPr>
        <p:spPr>
          <a:xfrm>
            <a:off x="3689399"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4" name="타원 53">
            <a:extLst>
              <a:ext uri="{FF2B5EF4-FFF2-40B4-BE49-F238E27FC236}">
                <a16:creationId xmlns:a16="http://schemas.microsoft.com/office/drawing/2014/main" id="{37A7FF4F-0EAA-1463-560A-D5EC24416103}"/>
              </a:ext>
            </a:extLst>
          </p:cNvPr>
          <p:cNvSpPr/>
          <p:nvPr/>
        </p:nvSpPr>
        <p:spPr>
          <a:xfrm>
            <a:off x="3689399" y="207643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cxnSp>
        <p:nvCxnSpPr>
          <p:cNvPr id="55" name="직선 연결선 54">
            <a:extLst>
              <a:ext uri="{FF2B5EF4-FFF2-40B4-BE49-F238E27FC236}">
                <a16:creationId xmlns:a16="http://schemas.microsoft.com/office/drawing/2014/main" id="{E9293055-D5CD-4B9E-7F64-64B2D2CA7A52}"/>
              </a:ext>
            </a:extLst>
          </p:cNvPr>
          <p:cNvCxnSpPr/>
          <p:nvPr/>
        </p:nvCxnSpPr>
        <p:spPr>
          <a:xfrm>
            <a:off x="675399" y="47773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6" name="직선 연결선 55">
            <a:extLst>
              <a:ext uri="{FF2B5EF4-FFF2-40B4-BE49-F238E27FC236}">
                <a16:creationId xmlns:a16="http://schemas.microsoft.com/office/drawing/2014/main" id="{E9293055-D5CD-4B9E-7F64-64B2D2CA7A52}"/>
              </a:ext>
            </a:extLst>
          </p:cNvPr>
          <p:cNvCxnSpPr/>
          <p:nvPr/>
        </p:nvCxnSpPr>
        <p:spPr>
          <a:xfrm>
            <a:off x="3795734" y="374854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7" name="사각형: 둥근 모서리 15">
            <a:extLst>
              <a:ext uri="{FF2B5EF4-FFF2-40B4-BE49-F238E27FC236}">
                <a16:creationId xmlns:a16="http://schemas.microsoft.com/office/drawing/2014/main" id="{E2B61CFB-AD16-68D0-8752-50D9C5E01971}"/>
              </a:ext>
            </a:extLst>
          </p:cNvPr>
          <p:cNvSpPr/>
          <p:nvPr/>
        </p:nvSpPr>
        <p:spPr>
          <a:xfrm>
            <a:off x="2836921" y="2296014"/>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58" name="사각형: 둥근 모서리 15">
            <a:extLst>
              <a:ext uri="{FF2B5EF4-FFF2-40B4-BE49-F238E27FC236}">
                <a16:creationId xmlns:a16="http://schemas.microsoft.com/office/drawing/2014/main" id="{E2B61CFB-AD16-68D0-8752-50D9C5E01971}"/>
              </a:ext>
            </a:extLst>
          </p:cNvPr>
          <p:cNvSpPr/>
          <p:nvPr/>
        </p:nvSpPr>
        <p:spPr>
          <a:xfrm>
            <a:off x="5957256" y="2080026"/>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Tree>
    <p:extLst>
      <p:ext uri="{BB962C8B-B14F-4D97-AF65-F5344CB8AC3E}">
        <p14:creationId xmlns:p14="http://schemas.microsoft.com/office/powerpoint/2010/main" val="20895652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37</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41F184BE-29FB-6417-8CB3-7896BA9DCC9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0" name="TextBox 9">
            <a:extLst>
              <a:ext uri="{FF2B5EF4-FFF2-40B4-BE49-F238E27FC236}">
                <a16:creationId xmlns:a16="http://schemas.microsoft.com/office/drawing/2014/main" id="{D2898AB1-8736-AB97-26CD-6A60F05FD8FF}"/>
              </a:ext>
            </a:extLst>
          </p:cNvPr>
          <p:cNvSpPr txBox="1"/>
          <p:nvPr/>
        </p:nvSpPr>
        <p:spPr>
          <a:xfrm>
            <a:off x="458117" y="811270"/>
            <a:ext cx="2780176"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품목명세서</a:t>
            </a:r>
            <a:r>
              <a:rPr lang="en-US" altLang="ko-KR" sz="900" b="1" dirty="0">
                <a:solidFill>
                  <a:prstClr val="black"/>
                </a:solidFill>
              </a:rPr>
              <a:t>(</a:t>
            </a:r>
            <a:r>
              <a:rPr lang="ko-KR" altLang="en-US" sz="900" b="1" dirty="0" err="1">
                <a:solidFill>
                  <a:prstClr val="black"/>
                </a:solidFill>
              </a:rPr>
              <a:t>총액제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dlt_ItemDtst</a:t>
            </a:r>
            <a:r>
              <a:rPr lang="en-US" altLang="ko-KR" sz="900" b="1" dirty="0">
                <a:solidFill>
                  <a:prstClr val="black"/>
                </a:solidFill>
              </a:rPr>
              <a:t>)</a:t>
            </a:r>
            <a:endParaRPr lang="ko-KR" altLang="en-US" sz="900" b="1" dirty="0">
              <a:solidFill>
                <a:prstClr val="black"/>
              </a:solidFill>
            </a:endParaRPr>
          </a:p>
        </p:txBody>
      </p:sp>
      <p:graphicFrame>
        <p:nvGraphicFramePr>
          <p:cNvPr id="11" name="표 10">
            <a:extLst>
              <a:ext uri="{FF2B5EF4-FFF2-40B4-BE49-F238E27FC236}">
                <a16:creationId xmlns:a16="http://schemas.microsoft.com/office/drawing/2014/main" id="{8158A3C8-3B6B-4404-B962-72EAD2CB9801}"/>
              </a:ext>
            </a:extLst>
          </p:cNvPr>
          <p:cNvGraphicFramePr>
            <a:graphicFrameLocks noGrp="1"/>
          </p:cNvGraphicFramePr>
          <p:nvPr/>
        </p:nvGraphicFramePr>
        <p:xfrm>
          <a:off x="452999" y="1095024"/>
          <a:ext cx="8994883" cy="4853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889184">
                  <a:extLst>
                    <a:ext uri="{9D8B030D-6E8A-4147-A177-3AD203B41FA5}">
                      <a16:colId xmlns:a16="http://schemas.microsoft.com/office/drawing/2014/main" val="20001"/>
                    </a:ext>
                  </a:extLst>
                </a:gridCol>
                <a:gridCol w="409303">
                  <a:extLst>
                    <a:ext uri="{9D8B030D-6E8A-4147-A177-3AD203B41FA5}">
                      <a16:colId xmlns:a16="http://schemas.microsoft.com/office/drawing/2014/main" val="20002"/>
                    </a:ext>
                  </a:extLst>
                </a:gridCol>
                <a:gridCol w="505097">
                  <a:extLst>
                    <a:ext uri="{9D8B030D-6E8A-4147-A177-3AD203B41FA5}">
                      <a16:colId xmlns:a16="http://schemas.microsoft.com/office/drawing/2014/main" val="20003"/>
                    </a:ext>
                  </a:extLst>
                </a:gridCol>
                <a:gridCol w="435428">
                  <a:extLst>
                    <a:ext uri="{9D8B030D-6E8A-4147-A177-3AD203B41FA5}">
                      <a16:colId xmlns:a16="http://schemas.microsoft.com/office/drawing/2014/main" val="20004"/>
                    </a:ext>
                  </a:extLst>
                </a:gridCol>
                <a:gridCol w="250715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품목명세서 목록의 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ROWNUM</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품보형태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inspShcd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품보형태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Alias</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항목</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:ITC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8988487"/>
                  </a:ext>
                </a:extLst>
              </a:tr>
              <a:tr h="0">
                <a:tc>
                  <a:txBody>
                    <a:bodyPr/>
                    <a:lstStyle/>
                    <a:p>
                      <a:pPr latinLnBrk="1"/>
                      <a:r>
                        <a:rPr lang="ko-KR" altLang="en-US" sz="800" dirty="0">
                          <a:latin typeface="+mn-ea"/>
                          <a:ea typeface="+mn-ea"/>
                        </a:rPr>
                        <a:t>조달요구번호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조달요구번호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419601"/>
                  </a:ext>
                </a:extLst>
              </a:tr>
              <a:tr h="0">
                <a:tc>
                  <a:txBody>
                    <a:bodyPr/>
                    <a:lstStyle/>
                    <a:p>
                      <a:pPr latinLnBrk="1"/>
                      <a:r>
                        <a:rPr lang="ko-KR" altLang="en-US" sz="800" dirty="0" err="1">
                          <a:latin typeface="+mn-ea"/>
                          <a:ea typeface="+mn-ea"/>
                        </a:rPr>
                        <a:t>군급분류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군급분류</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WTB_PVB166.FSC_CODE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취급품목명세</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.FSC</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3371819"/>
                  </a:ext>
                </a:extLst>
              </a:tr>
              <a:tr h="0">
                <a:tc>
                  <a:txBody>
                    <a:bodyPr/>
                    <a:lstStyle/>
                    <a:p>
                      <a:pPr latinLnBrk="1"/>
                      <a:r>
                        <a:rPr lang="ko-KR" altLang="en-US" sz="800" dirty="0">
                          <a:latin typeface="+mn-ea"/>
                          <a:ea typeface="+mn-ea"/>
                        </a:rPr>
                        <a:t>국가품목식별번호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국가품목식별번호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0081124"/>
                  </a:ext>
                </a:extLst>
              </a:tr>
              <a:tr h="0">
                <a:tc>
                  <a:txBody>
                    <a:bodyPr/>
                    <a:lstStyle/>
                    <a:p>
                      <a:pPr latinLnBrk="1"/>
                      <a:r>
                        <a:rPr lang="ko-KR" altLang="en-US" sz="800" dirty="0" err="1">
                          <a:latin typeface="+mn-ea"/>
                          <a:ea typeface="+mn-ea"/>
                        </a:rPr>
                        <a:t>군급</a:t>
                      </a:r>
                      <a:r>
                        <a:rPr lang="en-US" altLang="ko-KR" sz="800" dirty="0">
                          <a:latin typeface="+mn-ea"/>
                          <a:ea typeface="+mn-ea"/>
                        </a:rPr>
                        <a:t>-</a:t>
                      </a:r>
                      <a:r>
                        <a:rPr lang="ko-KR" altLang="en-US" sz="800" dirty="0">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a:t>
                      </a:r>
                      <a:r>
                        <a:rPr lang="en-US" altLang="ko-KR" sz="800" dirty="0">
                          <a:latin typeface="+mn-ea"/>
                          <a:ea typeface="+mn-ea"/>
                        </a:rPr>
                        <a:t>-</a:t>
                      </a:r>
                      <a:r>
                        <a:rPr lang="ko-KR" altLang="en-US" sz="800" dirty="0">
                          <a:latin typeface="+mn-ea"/>
                          <a:ea typeface="+mn-ea"/>
                        </a:rPr>
                        <a:t>재고번호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Alias</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항목</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fscCd</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ntnItemIdntfNo</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9132761"/>
                  </a:ext>
                </a:extLst>
              </a:tr>
              <a:tr h="0">
                <a:tc>
                  <a:txBody>
                    <a:bodyPr/>
                    <a:lstStyle/>
                    <a:p>
                      <a:pPr latinLnBrk="1"/>
                      <a:r>
                        <a:rPr lang="ko-KR" altLang="en-US" sz="800" dirty="0">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itemName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4628599"/>
                  </a:ext>
                </a:extLst>
              </a:tr>
              <a:tr h="0">
                <a:tc>
                  <a:txBody>
                    <a:bodyPr/>
                    <a:lstStyle/>
                    <a:p>
                      <a:pPr latinLnBrk="1"/>
                      <a:r>
                        <a:rPr lang="ko-KR" altLang="en-US" sz="800" dirty="0">
                          <a:latin typeface="+mn-ea"/>
                          <a:ea typeface="+mn-ea"/>
                        </a:rPr>
                        <a:t>규격종류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spcfctKndCd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규격종류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:CSC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2502729"/>
                  </a:ext>
                </a:extLst>
              </a:tr>
              <a:tr h="0">
                <a:tc>
                  <a:txBody>
                    <a:bodyPr/>
                    <a:lstStyle/>
                    <a:p>
                      <a:pPr latinLnBrk="1"/>
                      <a:r>
                        <a:rPr lang="ko-KR" altLang="en-US" sz="800" dirty="0">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:UI</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0552881"/>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0406556"/>
                  </a:ext>
                </a:extLst>
              </a:tr>
              <a:tr h="0">
                <a:tc>
                  <a:txBody>
                    <a:bodyPr/>
                    <a:lstStyle/>
                    <a:p>
                      <a:pPr latinLnBrk="1"/>
                      <a:r>
                        <a:rPr lang="ko-KR" altLang="en-US" sz="800" dirty="0">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prtsNo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부품번호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0157412"/>
                  </a:ext>
                </a:extLst>
              </a:tr>
              <a:tr h="0">
                <a:tc>
                  <a:txBody>
                    <a:bodyPr/>
                    <a:lstStyle/>
                    <a:p>
                      <a:pPr latinLnBrk="1"/>
                      <a:r>
                        <a:rPr lang="ko-KR" altLang="en-US" sz="800" dirty="0">
                          <a:latin typeface="+mn-ea"/>
                          <a:ea typeface="+mn-ea"/>
                        </a:rPr>
                        <a:t>적용장비명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aplcnEqpmntCdNm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적용장비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8627936"/>
                  </a:ext>
                </a:extLst>
              </a:tr>
              <a:tr h="0">
                <a:tc>
                  <a:txBody>
                    <a:bodyPr/>
                    <a:lstStyle/>
                    <a:p>
                      <a:pPr latinLnBrk="1"/>
                      <a:r>
                        <a:rPr lang="ko-KR" altLang="en-US" sz="800" dirty="0" err="1">
                          <a:latin typeface="+mn-ea"/>
                          <a:ea typeface="+mn-ea"/>
                        </a:rPr>
                        <a:t>납지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plcdlvNm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납지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7679206"/>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3754778"/>
                  </a:ext>
                </a:extLst>
              </a:tr>
              <a:tr h="0">
                <a:tc>
                  <a:txBody>
                    <a:bodyPr/>
                    <a:lstStyle/>
                    <a:p>
                      <a:pPr latinLnBrk="1"/>
                      <a:r>
                        <a:rPr lang="ko-KR" altLang="en-US" sz="800" dirty="0">
                          <a:latin typeface="+mn-ea"/>
                          <a:ea typeface="+mn-ea"/>
                        </a:rPr>
                        <a:t>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rfrncCn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7703084"/>
                  </a:ext>
                </a:extLst>
              </a:tr>
              <a:tr h="0">
                <a:tc>
                  <a:txBody>
                    <a:bodyPr/>
                    <a:lstStyle/>
                    <a:p>
                      <a:pPr latinLnBrk="1"/>
                      <a:r>
                        <a:rPr lang="ko-KR" altLang="en-US" sz="800" dirty="0">
                          <a:latin typeface="+mn-ea"/>
                          <a:ea typeface="+mn-ea"/>
                        </a:rPr>
                        <a:t>예산구분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:UZ03</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9082383"/>
                  </a:ext>
                </a:extLst>
              </a:tr>
              <a:tr h="0">
                <a:tc>
                  <a:txBody>
                    <a:bodyPr/>
                    <a:lstStyle/>
                    <a:p>
                      <a:pPr latinLnBrk="1"/>
                      <a:r>
                        <a:rPr lang="ko-KR" altLang="en-US" sz="800" dirty="0">
                          <a:latin typeface="+mn-ea"/>
                          <a:ea typeface="+mn-ea"/>
                        </a:rPr>
                        <a:t>납기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dudtYmd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납기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75251317"/>
                  </a:ext>
                </a:extLst>
              </a:tr>
              <a:tr h="0">
                <a:tc>
                  <a:txBody>
                    <a:bodyPr/>
                    <a:lstStyle/>
                    <a:p>
                      <a:pPr latinLnBrk="1"/>
                      <a:r>
                        <a:rPr lang="ko-KR" altLang="en-US" sz="800" dirty="0">
                          <a:latin typeface="+mn-ea"/>
                          <a:ea typeface="+mn-ea"/>
                        </a:rPr>
                        <a:t>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5084264"/>
                  </a:ext>
                </a:extLst>
              </a:tr>
            </a:tbl>
          </a:graphicData>
        </a:graphic>
      </p:graphicFrame>
    </p:spTree>
    <p:extLst>
      <p:ext uri="{BB962C8B-B14F-4D97-AF65-F5344CB8AC3E}">
        <p14:creationId xmlns:p14="http://schemas.microsoft.com/office/powerpoint/2010/main" val="116049737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38</a:t>
            </a:fld>
            <a:endParaRPr lang="ko-KR" altLang="en-US" dirty="0"/>
          </a:p>
        </p:txBody>
      </p:sp>
      <p:sp>
        <p:nvSpPr>
          <p:cNvPr id="11" name="TextBox 10">
            <a:extLst>
              <a:ext uri="{FF2B5EF4-FFF2-40B4-BE49-F238E27FC236}">
                <a16:creationId xmlns:a16="http://schemas.microsoft.com/office/drawing/2014/main" id="{9E3FE41A-2118-B98F-60B7-FF48BEE171D6}"/>
              </a:ext>
            </a:extLst>
          </p:cNvPr>
          <p:cNvSpPr txBox="1"/>
          <p:nvPr/>
        </p:nvSpPr>
        <p:spPr>
          <a:xfrm>
            <a:off x="458117" y="811422"/>
            <a:ext cx="2773764"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품목명세서</a:t>
            </a:r>
            <a:r>
              <a:rPr lang="en-US" altLang="ko-KR" sz="900" b="1" dirty="0">
                <a:solidFill>
                  <a:prstClr val="black"/>
                </a:solidFill>
              </a:rPr>
              <a:t>(</a:t>
            </a:r>
            <a:r>
              <a:rPr lang="ko-KR" altLang="en-US" sz="900" b="1" dirty="0" err="1">
                <a:solidFill>
                  <a:prstClr val="black"/>
                </a:solidFill>
              </a:rPr>
              <a:t>단가제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dlt_ItemDtst</a:t>
            </a:r>
            <a:r>
              <a:rPr lang="en-US" altLang="ko-KR" sz="900" b="1" dirty="0">
                <a:solidFill>
                  <a:prstClr val="black"/>
                </a:solidFill>
              </a:rPr>
              <a:t>)</a:t>
            </a:r>
            <a:endParaRPr lang="ko-KR" altLang="en-US" sz="900" b="1" dirty="0">
              <a:solidFill>
                <a:prstClr val="black"/>
              </a:solidFill>
            </a:endParaRPr>
          </a:p>
        </p:txBody>
      </p:sp>
      <p:graphicFrame>
        <p:nvGraphicFramePr>
          <p:cNvPr id="14" name="표 13">
            <a:extLst>
              <a:ext uri="{FF2B5EF4-FFF2-40B4-BE49-F238E27FC236}">
                <a16:creationId xmlns:a16="http://schemas.microsoft.com/office/drawing/2014/main" id="{F33ACA32-DD28-97F4-3501-80259A5A50A1}"/>
              </a:ext>
            </a:extLst>
          </p:cNvPr>
          <p:cNvGraphicFramePr>
            <a:graphicFrameLocks noGrp="1"/>
          </p:cNvGraphicFramePr>
          <p:nvPr/>
        </p:nvGraphicFramePr>
        <p:xfrm>
          <a:off x="452999" y="1095176"/>
          <a:ext cx="8994883" cy="35184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395987">
                  <a:extLst>
                    <a:ext uri="{9D8B030D-6E8A-4147-A177-3AD203B41FA5}">
                      <a16:colId xmlns:a16="http://schemas.microsoft.com/office/drawing/2014/main" val="20002"/>
                    </a:ext>
                  </a:extLst>
                </a:gridCol>
                <a:gridCol w="496389">
                  <a:extLst>
                    <a:ext uri="{9D8B030D-6E8A-4147-A177-3AD203B41FA5}">
                      <a16:colId xmlns:a16="http://schemas.microsoft.com/office/drawing/2014/main" val="20003"/>
                    </a:ext>
                  </a:extLst>
                </a:gridCol>
                <a:gridCol w="444137">
                  <a:extLst>
                    <a:ext uri="{9D8B030D-6E8A-4147-A177-3AD203B41FA5}">
                      <a16:colId xmlns:a16="http://schemas.microsoft.com/office/drawing/2014/main" val="20004"/>
                    </a:ext>
                  </a:extLst>
                </a:gridCol>
                <a:gridCol w="2411356">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군급분류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군급분류</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WTB_PVB166.FSC_CODE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취급품목명세</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.FSC</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7030752"/>
                  </a:ext>
                </a:extLst>
              </a:tr>
              <a:tr h="0">
                <a:tc>
                  <a:txBody>
                    <a:bodyPr/>
                    <a:lstStyle/>
                    <a:p>
                      <a:pPr latinLnBrk="1"/>
                      <a:r>
                        <a:rPr lang="ko-KR" altLang="en-US" sz="800" dirty="0">
                          <a:latin typeface="+mn-ea"/>
                          <a:ea typeface="+mn-ea"/>
                        </a:rPr>
                        <a:t>국가품목식별번호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국가품목식별번호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31928661"/>
                  </a:ext>
                </a:extLst>
              </a:tr>
              <a:tr h="0">
                <a:tc>
                  <a:txBody>
                    <a:bodyPr/>
                    <a:lstStyle/>
                    <a:p>
                      <a:pPr latinLnBrk="1"/>
                      <a:r>
                        <a:rPr lang="ko-KR" altLang="en-US" sz="800" dirty="0" err="1">
                          <a:latin typeface="+mn-ea"/>
                          <a:ea typeface="+mn-ea"/>
                        </a:rPr>
                        <a:t>군급</a:t>
                      </a:r>
                      <a:r>
                        <a:rPr lang="en-US" altLang="ko-KR" sz="800" dirty="0">
                          <a:latin typeface="+mn-ea"/>
                          <a:ea typeface="+mn-ea"/>
                        </a:rPr>
                        <a:t>-</a:t>
                      </a:r>
                      <a:r>
                        <a:rPr lang="ko-KR" altLang="en-US" sz="800" dirty="0">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a:t>
                      </a:r>
                      <a:r>
                        <a:rPr lang="en-US" altLang="ko-KR" sz="800" dirty="0">
                          <a:latin typeface="+mn-ea"/>
                          <a:ea typeface="+mn-ea"/>
                        </a:rPr>
                        <a:t>-</a:t>
                      </a:r>
                      <a:r>
                        <a:rPr lang="ko-KR" altLang="en-US" sz="800" dirty="0">
                          <a:latin typeface="+mn-ea"/>
                          <a:ea typeface="+mn-ea"/>
                        </a:rPr>
                        <a:t>재고번호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Alias</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항목</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fscCd</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ntnItemIdntfNo</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3720159"/>
                  </a:ext>
                </a:extLst>
              </a:tr>
              <a:tr h="0">
                <a:tc>
                  <a:txBody>
                    <a:bodyPr/>
                    <a:lstStyle/>
                    <a:p>
                      <a:pPr latinLnBrk="1"/>
                      <a:r>
                        <a:rPr lang="ko-KR" altLang="en-US" sz="800" dirty="0">
                          <a:latin typeface="+mn-ea"/>
                          <a:ea typeface="+mn-ea"/>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6055055"/>
                  </a:ext>
                </a:extLst>
              </a:tr>
              <a:tr h="0">
                <a:tc>
                  <a:txBody>
                    <a:bodyPr/>
                    <a:lstStyle/>
                    <a:p>
                      <a:pPr latinLnBrk="1"/>
                      <a:r>
                        <a:rPr lang="ko-KR" altLang="en-US" sz="800" dirty="0">
                          <a:latin typeface="+mn-ea"/>
                          <a:ea typeface="+mn-ea"/>
                        </a:rPr>
                        <a:t>규격종류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spcfctKndCd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규격종류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:CSC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3038125"/>
                  </a:ext>
                </a:extLst>
              </a:tr>
              <a:tr h="0">
                <a:tc>
                  <a:txBody>
                    <a:bodyPr/>
                    <a:lstStyle/>
                    <a:p>
                      <a:pPr latinLnBrk="1"/>
                      <a:r>
                        <a:rPr lang="ko-KR" altLang="en-US" sz="800" dirty="0">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:UI</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8395283"/>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3834921"/>
                  </a:ext>
                </a:extLst>
              </a:tr>
              <a:tr h="0">
                <a:tc>
                  <a:txBody>
                    <a:bodyPr/>
                    <a:lstStyle/>
                    <a:p>
                      <a:pPr latinLnBrk="1"/>
                      <a:r>
                        <a:rPr lang="ko-KR" altLang="en-US" sz="800" dirty="0">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itemName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228612"/>
                  </a:ext>
                </a:extLst>
              </a:tr>
              <a:tr h="0">
                <a:tc>
                  <a:txBody>
                    <a:bodyPr/>
                    <a:lstStyle/>
                    <a:p>
                      <a:pPr latinLnBrk="1"/>
                      <a:r>
                        <a:rPr lang="ko-KR" altLang="en-US" sz="800" dirty="0">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prtsNo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부품번호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4833679"/>
                  </a:ext>
                </a:extLst>
              </a:tr>
              <a:tr h="0">
                <a:tc>
                  <a:txBody>
                    <a:bodyPr/>
                    <a:lstStyle/>
                    <a:p>
                      <a:pPr latinLnBrk="1"/>
                      <a:r>
                        <a:rPr lang="ko-KR" altLang="en-US" sz="800" dirty="0">
                          <a:latin typeface="+mn-ea"/>
                          <a:ea typeface="+mn-ea"/>
                        </a:rPr>
                        <a:t>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rfrncCn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209011"/>
                  </a:ext>
                </a:extLst>
              </a:tr>
              <a:tr h="0">
                <a:tc>
                  <a:txBody>
                    <a:bodyPr/>
                    <a:lstStyle/>
                    <a:p>
                      <a:pPr latinLnBrk="1"/>
                      <a:r>
                        <a:rPr lang="ko-KR" altLang="en-US" sz="800" dirty="0">
                          <a:latin typeface="+mn-ea"/>
                          <a:ea typeface="+mn-ea"/>
                        </a:rPr>
                        <a:t>적용장비명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aplcnEqpmntCdNm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적용장비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6737147"/>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0519030"/>
                  </a:ext>
                </a:extLst>
              </a:tr>
              <a:tr h="0">
                <a:tc>
                  <a:txBody>
                    <a:bodyPr/>
                    <a:lstStyle/>
                    <a:p>
                      <a:pPr latinLnBrk="1"/>
                      <a:r>
                        <a:rPr lang="ko-KR" altLang="en-US" sz="800" dirty="0" err="1">
                          <a:latin typeface="+mn-ea"/>
                          <a:ea typeface="+mn-ea"/>
                        </a:rPr>
                        <a:t>총금액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총금액</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계약유형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67917182"/>
                  </a:ext>
                </a:extLst>
              </a:tr>
            </a:tbl>
          </a:graphicData>
        </a:graphic>
      </p:graphicFrame>
      <p:sp>
        <p:nvSpPr>
          <p:cNvPr id="2" name="TextBox 1">
            <a:extLst>
              <a:ext uri="{FF2B5EF4-FFF2-40B4-BE49-F238E27FC236}">
                <a16:creationId xmlns:a16="http://schemas.microsoft.com/office/drawing/2014/main" id="{14FFD3C4-48A8-9572-1C49-25F68DC3BD31}"/>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451C4F42-7186-1C0A-1597-341F2803A36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61217583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39</a:t>
            </a:fld>
            <a:endParaRPr lang="ko-KR" altLang="en-US" dirty="0"/>
          </a:p>
        </p:txBody>
      </p:sp>
      <p:sp>
        <p:nvSpPr>
          <p:cNvPr id="11" name="TextBox 10">
            <a:extLst>
              <a:ext uri="{FF2B5EF4-FFF2-40B4-BE49-F238E27FC236}">
                <a16:creationId xmlns:a16="http://schemas.microsoft.com/office/drawing/2014/main" id="{9E3FE41A-2118-B98F-60B7-FF48BEE171D6}"/>
              </a:ext>
            </a:extLst>
          </p:cNvPr>
          <p:cNvSpPr txBox="1"/>
          <p:nvPr/>
        </p:nvSpPr>
        <p:spPr>
          <a:xfrm>
            <a:off x="458117" y="811422"/>
            <a:ext cx="3902278"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err="1">
                <a:solidFill>
                  <a:prstClr val="black"/>
                </a:solidFill>
              </a:rPr>
              <a:t>품목명세서상세</a:t>
            </a:r>
            <a:r>
              <a:rPr lang="en-US" altLang="ko-KR" sz="900" b="1" dirty="0">
                <a:solidFill>
                  <a:prstClr val="black"/>
                </a:solidFill>
              </a:rPr>
              <a:t>(</a:t>
            </a:r>
            <a:r>
              <a:rPr lang="ko-KR" altLang="en-US" sz="900" b="1" dirty="0">
                <a:solidFill>
                  <a:prstClr val="black"/>
                </a:solidFill>
              </a:rPr>
              <a:t>통합사업관리시스템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dmt_ItemDtstDtl</a:t>
            </a:r>
            <a:r>
              <a:rPr lang="en-US" altLang="ko-KR" sz="900" b="1" dirty="0">
                <a:solidFill>
                  <a:prstClr val="black"/>
                </a:solidFill>
              </a:rPr>
              <a:t>)</a:t>
            </a:r>
            <a:endParaRPr lang="ko-KR" altLang="en-US" sz="900" b="1" dirty="0">
              <a:solidFill>
                <a:prstClr val="black"/>
              </a:solidFill>
            </a:endParaRPr>
          </a:p>
        </p:txBody>
      </p:sp>
      <p:graphicFrame>
        <p:nvGraphicFramePr>
          <p:cNvPr id="14" name="표 13">
            <a:extLst>
              <a:ext uri="{FF2B5EF4-FFF2-40B4-BE49-F238E27FC236}">
                <a16:creationId xmlns:a16="http://schemas.microsoft.com/office/drawing/2014/main" id="{F33ACA32-DD28-97F4-3501-80259A5A50A1}"/>
              </a:ext>
            </a:extLst>
          </p:cNvPr>
          <p:cNvGraphicFramePr>
            <a:graphicFrameLocks noGrp="1"/>
          </p:cNvGraphicFramePr>
          <p:nvPr/>
        </p:nvGraphicFramePr>
        <p:xfrm>
          <a:off x="452999" y="1095176"/>
          <a:ext cx="8994883" cy="32524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 ROWNUM</a:t>
                      </a:r>
                    </a:p>
                    <a:p>
                      <a:pPr algn="l" latinLnBrk="1"/>
                      <a:r>
                        <a:rPr lang="en-US" altLang="ko-KR" sz="800" dirty="0">
                          <a:latin typeface="+mn-ea"/>
                          <a:ea typeface="+mn-ea"/>
                        </a:rPr>
                        <a:t>- </a:t>
                      </a:r>
                      <a:r>
                        <a:rPr lang="ko-KR" altLang="en-US" sz="800" dirty="0">
                          <a:latin typeface="+mn-ea"/>
                          <a:ea typeface="+mn-ea"/>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품보형태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inspShcd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품보형태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:ITC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3720159"/>
                  </a:ext>
                </a:extLst>
              </a:tr>
              <a:tr h="0">
                <a:tc>
                  <a:txBody>
                    <a:bodyPr/>
                    <a:lstStyle/>
                    <a:p>
                      <a:pPr latinLnBrk="1"/>
                      <a:r>
                        <a:rPr lang="ko-KR" altLang="en-US" sz="800" dirty="0">
                          <a:latin typeface="+mn-ea"/>
                          <a:ea typeface="+mn-ea"/>
                        </a:rPr>
                        <a:t>조달요구번호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조달요구번호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6055055"/>
                  </a:ext>
                </a:extLst>
              </a:tr>
              <a:tr h="0">
                <a:tc>
                  <a:txBody>
                    <a:bodyPr/>
                    <a:lstStyle/>
                    <a:p>
                      <a:pPr latinLnBrk="1"/>
                      <a:r>
                        <a:rPr lang="ko-KR" altLang="en-US" sz="800" dirty="0">
                          <a:latin typeface="+mn-ea"/>
                          <a:ea typeface="+mn-ea"/>
                        </a:rPr>
                        <a:t>예산구분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:UZ03</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3038125"/>
                  </a:ext>
                </a:extLst>
              </a:tr>
              <a:tr h="0">
                <a:tc>
                  <a:txBody>
                    <a:bodyPr/>
                    <a:lstStyle/>
                    <a:p>
                      <a:pPr latinLnBrk="1"/>
                      <a:r>
                        <a:rPr lang="ko-KR" altLang="en-US" sz="800" dirty="0">
                          <a:latin typeface="+mn-ea"/>
                          <a:ea typeface="+mn-ea"/>
                        </a:rPr>
                        <a:t>적용장비명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aplcnEqpmntCdNm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적용장비명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:AC</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8395283"/>
                  </a:ext>
                </a:extLst>
              </a:tr>
              <a:tr h="0">
                <a:tc>
                  <a:txBody>
                    <a:bodyPr/>
                    <a:lstStyle/>
                    <a:p>
                      <a:pPr latinLnBrk="1"/>
                      <a:r>
                        <a:rPr lang="ko-KR" altLang="en-US" sz="800" dirty="0" err="1">
                          <a:latin typeface="+mn-ea"/>
                          <a:ea typeface="+mn-ea"/>
                        </a:rPr>
                        <a:t>군구분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prcmRqtInstCd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군구분</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:RS</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3834921"/>
                  </a:ext>
                </a:extLst>
              </a:tr>
              <a:tr h="0">
                <a:tc>
                  <a:txBody>
                    <a:bodyPr/>
                    <a:lstStyle/>
                    <a:p>
                      <a:pPr latinLnBrk="1"/>
                      <a:r>
                        <a:rPr lang="ko-KR" altLang="en-US" sz="800" dirty="0">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busiName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매핑영문명이</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없음</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Asis</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로 작성</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추후 수정</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4833679"/>
                  </a:ext>
                </a:extLst>
              </a:tr>
              <a:tr h="0">
                <a:tc>
                  <a:txBody>
                    <a:bodyPr/>
                    <a:lstStyle/>
                    <a:p>
                      <a:pPr latinLnBrk="1"/>
                      <a:r>
                        <a:rPr lang="ko-KR" altLang="en-US" sz="800" dirty="0" err="1">
                          <a:latin typeface="+mn-ea"/>
                          <a:ea typeface="+mn-ea"/>
                        </a:rPr>
                        <a:t>납지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plcdlvNm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납지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209011"/>
                  </a:ext>
                </a:extLst>
              </a:tr>
              <a:tr h="0">
                <a:tc>
                  <a:txBody>
                    <a:bodyPr/>
                    <a:lstStyle/>
                    <a:p>
                      <a:pPr latinLnBrk="1"/>
                      <a:r>
                        <a:rPr lang="ko-KR" altLang="en-US" sz="800" dirty="0">
                          <a:latin typeface="+mn-ea"/>
                          <a:ea typeface="+mn-ea"/>
                        </a:rPr>
                        <a:t>납기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dudtYmd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납기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85530222"/>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1122618"/>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3762317"/>
                  </a:ext>
                </a:extLst>
              </a:tr>
              <a:tr h="0">
                <a:tc>
                  <a:txBody>
                    <a:bodyPr/>
                    <a:lstStyle/>
                    <a:p>
                      <a:pPr latinLnBrk="1"/>
                      <a:r>
                        <a:rPr lang="ko-KR" altLang="en-US" sz="800" dirty="0" err="1">
                          <a:latin typeface="+mn-ea"/>
                          <a:ea typeface="+mn-ea"/>
                        </a:rPr>
                        <a:t>총금액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총금액</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통합사업관리시스템에서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0664758"/>
                  </a:ext>
                </a:extLst>
              </a:tr>
            </a:tbl>
          </a:graphicData>
        </a:graphic>
      </p:graphicFrame>
      <p:sp>
        <p:nvSpPr>
          <p:cNvPr id="8" name="TextBox 7">
            <a:extLst>
              <a:ext uri="{FF2B5EF4-FFF2-40B4-BE49-F238E27FC236}">
                <a16:creationId xmlns:a16="http://schemas.microsoft.com/office/drawing/2014/main" id="{A99DC3EC-FEB0-3897-369B-556B07609FD2}"/>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9" name="Text Box 73">
            <a:extLst>
              <a:ext uri="{FF2B5EF4-FFF2-40B4-BE49-F238E27FC236}">
                <a16:creationId xmlns:a16="http://schemas.microsoft.com/office/drawing/2014/main" id="{4A4A6CA4-5F2F-1032-8987-FF62233AA34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4951757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40</a:t>
            </a:fld>
            <a:endParaRPr lang="ko-KR" altLang="en-US" dirty="0"/>
          </a:p>
        </p:txBody>
      </p:sp>
      <p:sp>
        <p:nvSpPr>
          <p:cNvPr id="10" name="Text Box 73">
            <a:extLst>
              <a:ext uri="{FF2B5EF4-FFF2-40B4-BE49-F238E27FC236}">
                <a16:creationId xmlns:a16="http://schemas.microsoft.com/office/drawing/2014/main" id="{796FF3F0-E8FC-C55A-2F77-C5CEF1203745}"/>
              </a:ext>
            </a:extLst>
          </p:cNvPr>
          <p:cNvSpPr txBox="1">
            <a:spLocks noChangeArrowheads="1"/>
          </p:cNvSpPr>
          <p:nvPr/>
        </p:nvSpPr>
        <p:spPr bwMode="auto">
          <a:xfrm>
            <a:off x="7769866" y="3615778"/>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2" name="TextBox 11">
            <a:extLst>
              <a:ext uri="{FF2B5EF4-FFF2-40B4-BE49-F238E27FC236}">
                <a16:creationId xmlns:a16="http://schemas.microsoft.com/office/drawing/2014/main" id="{C24F1A0C-392E-45F9-4145-F8DD2A3A911D}"/>
              </a:ext>
            </a:extLst>
          </p:cNvPr>
          <p:cNvSpPr txBox="1"/>
          <p:nvPr/>
        </p:nvSpPr>
        <p:spPr>
          <a:xfrm>
            <a:off x="458117" y="355716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3" name="표 12">
            <a:extLst>
              <a:ext uri="{FF2B5EF4-FFF2-40B4-BE49-F238E27FC236}">
                <a16:creationId xmlns:a16="http://schemas.microsoft.com/office/drawing/2014/main" id="{F4BDD1B7-C6C6-7D80-62BD-6F529F0AEAB9}"/>
              </a:ext>
            </a:extLst>
          </p:cNvPr>
          <p:cNvGraphicFramePr>
            <a:graphicFrameLocks noGrp="1"/>
          </p:cNvGraphicFramePr>
          <p:nvPr>
            <p:extLst>
              <p:ext uri="{D42A27DB-BD31-4B8C-83A1-F6EECF244321}">
                <p14:modId xmlns:p14="http://schemas.microsoft.com/office/powerpoint/2010/main" val="2734355705"/>
              </p:ext>
            </p:extLst>
          </p:nvPr>
        </p:nvGraphicFramePr>
        <p:xfrm>
          <a:off x="453000" y="3835294"/>
          <a:ext cx="8995591" cy="82560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공통코드정보를</a:t>
                      </a:r>
                      <a:r>
                        <a:rPr lang="ko-KR" altLang="en-US" sz="800" dirty="0">
                          <a:latin typeface="+mn-ea"/>
                          <a:ea typeface="+mn-ea"/>
                        </a:rPr>
                        <a:t> </a:t>
                      </a:r>
                      <a:r>
                        <a:rPr lang="ko-KR" altLang="en-US" sz="800" dirty="0" err="1">
                          <a:latin typeface="+mn-ea"/>
                          <a:ea typeface="+mn-ea"/>
                        </a:rPr>
                        <a:t>로드한다</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출력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scwin.btn_itemListOtpt_onclick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rPr>
                        <a:t>품목명세서 </a:t>
                      </a:r>
                      <a:r>
                        <a:rPr lang="en-US" altLang="ko-KR" sz="800" dirty="0">
                          <a:latin typeface="+mn-ea"/>
                        </a:rPr>
                        <a:t>Tab</a:t>
                      </a:r>
                      <a:r>
                        <a:rPr lang="ko-KR" altLang="en-US" sz="800" dirty="0">
                          <a:latin typeface="+mn-ea"/>
                        </a:rPr>
                        <a:t>화면의 내용을 </a:t>
                      </a:r>
                      <a:r>
                        <a:rPr lang="en-US" altLang="ko-KR" sz="800" dirty="0">
                          <a:latin typeface="+mn-ea"/>
                        </a:rPr>
                        <a:t>Report</a:t>
                      </a:r>
                      <a:r>
                        <a:rPr lang="ko-KR" altLang="en-US" sz="800" dirty="0">
                          <a:latin typeface="+mn-ea"/>
                        </a:rPr>
                        <a:t>로 출력 및 파일저장 처리를 한다</a:t>
                      </a:r>
                      <a:r>
                        <a:rPr lang="en-US" altLang="ko-KR" sz="800" dirty="0">
                          <a:latin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1. </a:t>
                      </a:r>
                      <a:r>
                        <a:rPr lang="ko-KR" altLang="en-US" sz="800" dirty="0">
                          <a:latin typeface="+mn-ea"/>
                          <a:ea typeface="+mn-ea"/>
                        </a:rPr>
                        <a:t>부서코드</a:t>
                      </a:r>
                      <a:r>
                        <a:rPr lang="en-US" altLang="ko-KR" sz="800" dirty="0">
                          <a:latin typeface="+mn-ea"/>
                          <a:ea typeface="+mn-ea"/>
                        </a:rPr>
                        <a:t>.substring(0.1) </a:t>
                      </a:r>
                    </a:p>
                    <a:p>
                      <a:pPr marL="0" indent="0" algn="l" latinLnBrk="1">
                        <a:buFont typeface="Arial" panose="020B0604020202020204" pitchFamily="34" charset="0"/>
                        <a:buNone/>
                      </a:pPr>
                      <a:r>
                        <a:rPr lang="en-US" altLang="ko-KR" sz="800" dirty="0">
                          <a:latin typeface="+mn-ea"/>
                          <a:ea typeface="+mn-ea"/>
                        </a:rPr>
                        <a:t>- ‘E :</a:t>
                      </a:r>
                      <a:r>
                        <a:rPr lang="ko-KR" altLang="en-US" sz="800" dirty="0">
                          <a:latin typeface="+mn-ea"/>
                          <a:ea typeface="+mn-ea"/>
                        </a:rPr>
                        <a:t>방위사업청</a:t>
                      </a:r>
                      <a:r>
                        <a:rPr lang="en-US" altLang="ko-KR" sz="800" dirty="0">
                          <a:latin typeface="+mn-ea"/>
                          <a:ea typeface="+mn-ea"/>
                        </a:rPr>
                        <a:t>‘  / ‘J:</a:t>
                      </a:r>
                      <a:r>
                        <a:rPr lang="ko-KR" altLang="en-US" sz="800" dirty="0">
                          <a:latin typeface="+mn-ea"/>
                          <a:ea typeface="+mn-ea"/>
                        </a:rPr>
                        <a:t>국방조달본부</a:t>
                      </a:r>
                      <a:r>
                        <a:rPr lang="en-US" altLang="ko-KR" sz="800" dirty="0">
                          <a:latin typeface="+mn-ea"/>
                          <a:ea typeface="+mn-ea"/>
                        </a:rPr>
                        <a:t>‘ :</a:t>
                      </a:r>
                      <a:r>
                        <a:rPr lang="ko-KR" altLang="en-US" sz="800" dirty="0">
                          <a:latin typeface="+mn-ea"/>
                          <a:ea typeface="+mn-ea"/>
                        </a:rPr>
                        <a:t> 품목명세서 </a:t>
                      </a:r>
                      <a:r>
                        <a:rPr lang="en-US" altLang="ko-KR" sz="800" dirty="0">
                          <a:latin typeface="+mn-ea"/>
                          <a:ea typeface="+mn-ea"/>
                        </a:rPr>
                        <a:t>(PDB025BC.ozr)</a:t>
                      </a: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latin typeface="+mn-ea"/>
                          <a:ea typeface="+mn-ea"/>
                        </a:rPr>
                        <a:t>- </a:t>
                      </a:r>
                      <a:r>
                        <a:rPr lang="ko-KR" altLang="en-US" sz="800" dirty="0">
                          <a:latin typeface="+mn-ea"/>
                          <a:ea typeface="+mn-ea"/>
                        </a:rPr>
                        <a:t>그 외 </a:t>
                      </a:r>
                      <a:r>
                        <a:rPr lang="en-US" altLang="ko-KR" sz="800" dirty="0">
                          <a:latin typeface="+mn-ea"/>
                          <a:ea typeface="+mn-ea"/>
                        </a:rPr>
                        <a:t>:</a:t>
                      </a:r>
                      <a:r>
                        <a:rPr lang="ko-KR" altLang="en-US" sz="800" dirty="0">
                          <a:latin typeface="+mn-ea"/>
                          <a:ea typeface="+mn-ea"/>
                        </a:rPr>
                        <a:t> 품목명세서 </a:t>
                      </a:r>
                      <a:r>
                        <a:rPr lang="en-US" altLang="ko-KR" sz="800" dirty="0">
                          <a:latin typeface="+mn-ea"/>
                          <a:ea typeface="+mn-ea"/>
                        </a:rPr>
                        <a:t>(PDB025BD.ozr)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971527"/>
                  </a:ext>
                </a:extLst>
              </a:tr>
            </a:tbl>
          </a:graphicData>
        </a:graphic>
      </p:graphicFrame>
      <p:sp>
        <p:nvSpPr>
          <p:cNvPr id="8" name="TextBox 7">
            <a:extLst>
              <a:ext uri="{FF2B5EF4-FFF2-40B4-BE49-F238E27FC236}">
                <a16:creationId xmlns:a16="http://schemas.microsoft.com/office/drawing/2014/main" id="{1AB17BD7-28F4-C680-69D6-3B26D8F19914}"/>
              </a:ext>
            </a:extLst>
          </p:cNvPr>
          <p:cNvSpPr txBox="1"/>
          <p:nvPr/>
        </p:nvSpPr>
        <p:spPr>
          <a:xfrm>
            <a:off x="458117" y="805938"/>
            <a:ext cx="3818921"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err="1">
                <a:solidFill>
                  <a:prstClr val="black"/>
                </a:solidFill>
              </a:rPr>
              <a:t>품목명세서상세</a:t>
            </a:r>
            <a:r>
              <a:rPr lang="en-US" altLang="ko-KR" sz="900" b="1" dirty="0">
                <a:solidFill>
                  <a:prstClr val="black"/>
                </a:solidFill>
              </a:rPr>
              <a:t>(</a:t>
            </a:r>
            <a:r>
              <a:rPr lang="ko-KR" altLang="en-US" sz="900" b="1" dirty="0">
                <a:solidFill>
                  <a:prstClr val="black"/>
                </a:solidFill>
              </a:rPr>
              <a:t>부대조달정보체계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dmt_ItemDtstDtl</a:t>
            </a:r>
            <a:r>
              <a:rPr lang="en-US" altLang="ko-KR" sz="900" b="1" dirty="0">
                <a:solidFill>
                  <a:prstClr val="black"/>
                </a:solidFill>
              </a:rPr>
              <a: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6508B470-D95E-FC7E-EE5F-E89DC172522A}"/>
              </a:ext>
            </a:extLst>
          </p:cNvPr>
          <p:cNvGraphicFramePr>
            <a:graphicFrameLocks noGrp="1"/>
          </p:cNvGraphicFramePr>
          <p:nvPr/>
        </p:nvGraphicFramePr>
        <p:xfrm>
          <a:off x="452999" y="1089692"/>
          <a:ext cx="8994883" cy="2111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 ROWNUM</a:t>
                      </a:r>
                    </a:p>
                    <a:p>
                      <a:pPr algn="l" latinLnBrk="1"/>
                      <a:r>
                        <a:rPr lang="en-US" altLang="ko-KR" sz="800" dirty="0">
                          <a:latin typeface="+mn-ea"/>
                          <a:ea typeface="+mn-ea"/>
                        </a:rPr>
                        <a:t>- </a:t>
                      </a:r>
                      <a:r>
                        <a:rPr lang="ko-KR" altLang="en-US" sz="800" dirty="0">
                          <a:latin typeface="+mn-ea"/>
                          <a:ea typeface="+mn-ea"/>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품보형태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inspShcd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품보형태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:ITC</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부대조달정보체계 시스템에서 수신된 정보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3720159"/>
                  </a:ext>
                </a:extLst>
              </a:tr>
              <a:tr h="0">
                <a:tc>
                  <a:txBody>
                    <a:bodyPr/>
                    <a:lstStyle/>
                    <a:p>
                      <a:pPr latinLnBrk="1"/>
                      <a:r>
                        <a:rPr lang="ko-KR" altLang="en-US" sz="800" dirty="0">
                          <a:latin typeface="+mn-ea"/>
                          <a:ea typeface="+mn-ea"/>
                        </a:rPr>
                        <a:t>조달요구번호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prcmRqtNo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조달요구번호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6055055"/>
                  </a:ext>
                </a:extLst>
              </a:tr>
              <a:tr h="0">
                <a:tc>
                  <a:txBody>
                    <a:bodyPr/>
                    <a:lstStyle/>
                    <a:p>
                      <a:pPr latinLnBrk="1"/>
                      <a:r>
                        <a:rPr lang="ko-KR" altLang="en-US" sz="800" dirty="0">
                          <a:latin typeface="+mn-ea"/>
                          <a:ea typeface="+mn-ea"/>
                        </a:rPr>
                        <a:t>예산구분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:UZ03</a:t>
                      </a: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3038125"/>
                  </a:ext>
                </a:extLst>
              </a:tr>
              <a:tr h="0">
                <a:tc>
                  <a:txBody>
                    <a:bodyPr/>
                    <a:lstStyle/>
                    <a:p>
                      <a:pPr latinLnBrk="1"/>
                      <a:r>
                        <a:rPr lang="ko-KR" altLang="en-US" sz="800" dirty="0" err="1">
                          <a:latin typeface="+mn-ea"/>
                          <a:ea typeface="+mn-ea"/>
                        </a:rPr>
                        <a:t>납지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plcdlvNm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납지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8395283"/>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3834921"/>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228612"/>
                  </a:ext>
                </a:extLst>
              </a:tr>
              <a:tr h="0">
                <a:tc>
                  <a:txBody>
                    <a:bodyPr/>
                    <a:lstStyle/>
                    <a:p>
                      <a:pPr latinLnBrk="1"/>
                      <a:r>
                        <a:rPr lang="ko-KR" altLang="en-US" sz="800" dirty="0">
                          <a:latin typeface="+mn-ea"/>
                          <a:ea typeface="+mn-ea"/>
                        </a:rPr>
                        <a:t>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부대조달정보체계 시스템에서 수신된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4833679"/>
                  </a:ext>
                </a:extLst>
              </a:tr>
            </a:tbl>
          </a:graphicData>
        </a:graphic>
      </p:graphicFrame>
    </p:spTree>
    <p:extLst>
      <p:ext uri="{BB962C8B-B14F-4D97-AF65-F5344CB8AC3E}">
        <p14:creationId xmlns:p14="http://schemas.microsoft.com/office/powerpoint/2010/main" val="27534781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계약 특수 조건 항목 정보 표시</a:t>
            </a:r>
            <a:endParaRPr lang="en-US" altLang="ko-KR" dirty="0"/>
          </a:p>
          <a:p>
            <a:pPr marL="0" indent="0">
              <a:buNone/>
            </a:pPr>
            <a:r>
              <a:rPr lang="en-US" altLang="ko-KR" dirty="0"/>
              <a:t>- </a:t>
            </a:r>
            <a:r>
              <a:rPr lang="ko-KR" altLang="en-US" dirty="0" err="1"/>
              <a:t>계약방법이</a:t>
            </a:r>
            <a:r>
              <a:rPr lang="ko-KR" altLang="en-US" dirty="0"/>
              <a:t> ‘경쟁입찰‘ 중 계약특수조건 내용이 있는 경우 탭 표시</a:t>
            </a:r>
            <a:endParaRPr lang="en-US" altLang="ko-KR" dirty="0"/>
          </a:p>
          <a:p>
            <a:pPr marL="0" indent="0">
              <a:buNone/>
            </a:pPr>
            <a:endParaRPr lang="en-US" altLang="ko-KR" dirty="0"/>
          </a:p>
          <a:p>
            <a:pPr marL="0" indent="0">
              <a:buNone/>
            </a:pPr>
            <a:r>
              <a:rPr lang="en-US" altLang="ko-KR" dirty="0"/>
              <a:t>2.</a:t>
            </a:r>
            <a:r>
              <a:rPr lang="ko-KR" altLang="en-US" dirty="0"/>
              <a:t>계약 특수 조건 입력 항목 표시</a:t>
            </a:r>
            <a:endParaRPr lang="en-US" altLang="ko-KR" dirty="0"/>
          </a:p>
          <a:p>
            <a:pPr marL="0" indent="0">
              <a:buNone/>
            </a:pPr>
            <a:r>
              <a:rPr lang="ko-KR" altLang="en-US" dirty="0"/>
              <a:t>전문 내용은 축약하지 않고 내용에 맞춰 확장하여 전체 스크롤 처리</a:t>
            </a:r>
            <a:endParaRPr lang="en-US" altLang="ko-KR" dirty="0"/>
          </a:p>
          <a:p>
            <a:pPr>
              <a:buFontTx/>
              <a:buChar char="-"/>
            </a:pPr>
            <a:endParaRPr lang="en-US" altLang="ko-KR" dirty="0"/>
          </a:p>
          <a:p>
            <a:pPr>
              <a:buFontTx/>
              <a:buChar char="-"/>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계약특수조건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계약특수조건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계약특수조건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MUI-BD-01-M10</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035095" cy="215444"/>
          </a:xfrm>
          <a:prstGeom prst="rect">
            <a:avLst/>
          </a:prstGeom>
          <a:noFill/>
        </p:spPr>
        <p:txBody>
          <a:bodyPr wrap="square" lIns="0" tIns="0" rIns="0" bIns="0" rtlCol="0">
            <a:spAutoFit/>
          </a:bodyPr>
          <a:lstStyle/>
          <a:p>
            <a:pPr>
              <a:lnSpc>
                <a:spcPct val="200000"/>
              </a:lnSpc>
            </a:pPr>
            <a:r>
              <a:rPr lang="ko-KR" altLang="en-US" sz="700" dirty="0">
                <a:latin typeface="+mn-ea"/>
              </a:rPr>
              <a:t>계약특수조건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2"/>
            <a:ext cx="792000" cy="1288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25552" cy="1292662"/>
          </a:xfrm>
          <a:prstGeom prst="rect">
            <a:avLst/>
          </a:prstGeom>
          <a:noFill/>
        </p:spPr>
        <p:txBody>
          <a:bodyPr wrap="square" lIns="0" tIns="0" rIns="0" bIns="0" rtlCol="0">
            <a:spAutoFit/>
          </a:bodyPr>
          <a:lstStyle/>
          <a:p>
            <a:pPr>
              <a:lnSpc>
                <a:spcPct val="200000"/>
              </a:lnSpc>
            </a:pPr>
            <a:r>
              <a:rPr lang="ko-KR" altLang="en-US" sz="700" dirty="0" err="1">
                <a:latin typeface="+mn-ea"/>
              </a:rPr>
              <a:t>요구년도</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err="1">
                <a:latin typeface="+mn-ea"/>
              </a:rPr>
              <a:t>집행예정일</a:t>
            </a:r>
            <a:endParaRPr lang="en-US" altLang="ko-KR" sz="700" dirty="0">
              <a:latin typeface="+mn-ea"/>
            </a:endParaRPr>
          </a:p>
          <a:p>
            <a:pPr>
              <a:lnSpc>
                <a:spcPct val="200000"/>
              </a:lnSpc>
            </a:pPr>
            <a:r>
              <a:rPr lang="ko-KR" altLang="en-US" sz="700" dirty="0" err="1">
                <a:latin typeface="+mn-ea"/>
              </a:rPr>
              <a:t>계약예정일</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대표품명</a:t>
            </a:r>
            <a:endParaRPr lang="ko-KR" altLang="en-US"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814470" cy="1292662"/>
          </a:xfrm>
          <a:prstGeom prst="rect">
            <a:avLst/>
          </a:prstGeom>
          <a:noFill/>
        </p:spPr>
        <p:txBody>
          <a:bodyPr wrap="square" lIns="0" tIns="0" rIns="0" bIns="0" rtlCol="0">
            <a:spAutoFit/>
          </a:bodyPr>
          <a:lstStyle/>
          <a:p>
            <a:pPr>
              <a:lnSpc>
                <a:spcPct val="200000"/>
              </a:lnSpc>
            </a:pPr>
            <a:r>
              <a:rPr lang="en-US" altLang="ko-KR" sz="700" dirty="0">
                <a:latin typeface="+mn-ea"/>
              </a:rPr>
              <a:t>0000</a:t>
            </a:r>
            <a:r>
              <a:rPr lang="ko-KR" altLang="en-US" sz="700" dirty="0">
                <a:latin typeface="+mn-ea"/>
              </a:rPr>
              <a:t>년도</a:t>
            </a:r>
            <a:endParaRPr lang="en-US" altLang="ko-KR" sz="700" dirty="0">
              <a:latin typeface="+mn-ea"/>
            </a:endParaRPr>
          </a:p>
          <a:p>
            <a:pPr>
              <a:lnSpc>
                <a:spcPct val="200000"/>
              </a:lnSpc>
            </a:pPr>
            <a:r>
              <a:rPr lang="en-US" altLang="ko-KR" sz="700" dirty="0">
                <a:latin typeface="+mn-ea"/>
              </a:rPr>
              <a:t>000 000 000</a:t>
            </a:r>
          </a:p>
          <a:p>
            <a:pPr>
              <a:lnSpc>
                <a:spcPct val="200000"/>
              </a:lnSpc>
            </a:pPr>
            <a:r>
              <a:rPr lang="en-US" altLang="ko-KR" sz="700" dirty="0">
                <a:latin typeface="+mn-ea"/>
              </a:rPr>
              <a:t>0000-00-00</a:t>
            </a:r>
          </a:p>
          <a:p>
            <a:pPr>
              <a:lnSpc>
                <a:spcPct val="200000"/>
              </a:lnSpc>
            </a:pPr>
            <a:r>
              <a:rPr lang="en-US" altLang="ko-KR" sz="700" dirty="0">
                <a:latin typeface="+mn-ea"/>
              </a:rPr>
              <a:t>0000-00-00</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17" name="그룹 16"/>
          <p:cNvGrpSpPr/>
          <p:nvPr/>
        </p:nvGrpSpPr>
        <p:grpSpPr>
          <a:xfrm>
            <a:off x="701175" y="1835481"/>
            <a:ext cx="2630093" cy="1288440"/>
            <a:chOff x="701175" y="1835481"/>
            <a:chExt cx="2630093" cy="12884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322367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4" name="TextBox 103">
            <a:extLst>
              <a:ext uri="{FF2B5EF4-FFF2-40B4-BE49-F238E27FC236}">
                <a16:creationId xmlns:a16="http://schemas.microsoft.com/office/drawing/2014/main" id="{FFC49AEA-2A8F-250C-A86A-A7751D9706C3}"/>
              </a:ext>
            </a:extLst>
          </p:cNvPr>
          <p:cNvSpPr txBox="1"/>
          <p:nvPr/>
        </p:nvSpPr>
        <p:spPr>
          <a:xfrm>
            <a:off x="762146" y="3273753"/>
            <a:ext cx="1035095" cy="215444"/>
          </a:xfrm>
          <a:prstGeom prst="rect">
            <a:avLst/>
          </a:prstGeom>
          <a:noFill/>
        </p:spPr>
        <p:txBody>
          <a:bodyPr wrap="square" lIns="0" tIns="0" rIns="0" bIns="0" rtlCol="0">
            <a:spAutoFit/>
          </a:bodyPr>
          <a:lstStyle/>
          <a:p>
            <a:pPr>
              <a:lnSpc>
                <a:spcPct val="200000"/>
              </a:lnSpc>
            </a:pPr>
            <a:r>
              <a:rPr lang="ko-KR" altLang="en-US" sz="700" dirty="0">
                <a:latin typeface="+mn-ea"/>
              </a:rPr>
              <a:t>계약특수조건</a:t>
            </a:r>
          </a:p>
        </p:txBody>
      </p:sp>
      <p:grpSp>
        <p:nvGrpSpPr>
          <p:cNvPr id="105" name="그룹 104"/>
          <p:cNvGrpSpPr/>
          <p:nvPr/>
        </p:nvGrpSpPr>
        <p:grpSpPr>
          <a:xfrm flipV="1">
            <a:off x="3124233" y="3387084"/>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9" name="직선 연결선 108">
            <a:extLst>
              <a:ext uri="{FF2B5EF4-FFF2-40B4-BE49-F238E27FC236}">
                <a16:creationId xmlns:a16="http://schemas.microsoft.com/office/drawing/2014/main" id="{E9293055-D5CD-4B9E-7F64-64B2D2CA7A52}"/>
              </a:ext>
            </a:extLst>
          </p:cNvPr>
          <p:cNvCxnSpPr/>
          <p:nvPr/>
        </p:nvCxnSpPr>
        <p:spPr>
          <a:xfrm>
            <a:off x="675399" y="543595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0" name="TextBox 109">
            <a:extLst>
              <a:ext uri="{FF2B5EF4-FFF2-40B4-BE49-F238E27FC236}">
                <a16:creationId xmlns:a16="http://schemas.microsoft.com/office/drawing/2014/main" id="{FFC49AEA-2A8F-250C-A86A-A7751D9706C3}"/>
              </a:ext>
            </a:extLst>
          </p:cNvPr>
          <p:cNvSpPr txBox="1"/>
          <p:nvPr/>
        </p:nvSpPr>
        <p:spPr>
          <a:xfrm>
            <a:off x="790331" y="3565226"/>
            <a:ext cx="2532688" cy="1508105"/>
          </a:xfrm>
          <a:prstGeom prst="rect">
            <a:avLst/>
          </a:prstGeom>
          <a:noFill/>
        </p:spPr>
        <p:txBody>
          <a:bodyPr wrap="square" lIns="0" tIns="0" rIns="0" bIns="0" rtlCol="0">
            <a:spAutoFit/>
          </a:bodyPr>
          <a:lstStyle/>
          <a:p>
            <a:pPr>
              <a:lnSpc>
                <a:spcPct val="200000"/>
              </a:lnSpc>
            </a:pPr>
            <a:r>
              <a:rPr lang="en-US" altLang="ko-KR" sz="700" dirty="0">
                <a:latin typeface="+mn-ea"/>
              </a:rPr>
              <a:t>1. </a:t>
            </a:r>
            <a:r>
              <a:rPr lang="ko-KR" altLang="en-US" sz="700" dirty="0">
                <a:latin typeface="+mn-ea"/>
              </a:rPr>
              <a:t>계약특수조건 </a:t>
            </a:r>
            <a:r>
              <a:rPr lang="en-US" altLang="ko-KR" sz="700" dirty="0">
                <a:latin typeface="+mn-ea"/>
              </a:rPr>
              <a:t>1</a:t>
            </a:r>
          </a:p>
          <a:p>
            <a:pPr>
              <a:lnSpc>
                <a:spcPct val="200000"/>
              </a:lnSpc>
            </a:pPr>
            <a:r>
              <a:rPr lang="en-US" altLang="ko-KR" sz="700" dirty="0">
                <a:latin typeface="+mn-ea"/>
              </a:rPr>
              <a:t>2. </a:t>
            </a:r>
            <a:r>
              <a:rPr lang="ko-KR" altLang="en-US" sz="700" dirty="0">
                <a:latin typeface="+mn-ea"/>
              </a:rPr>
              <a:t>계약특수조건 </a:t>
            </a:r>
            <a:r>
              <a:rPr lang="en-US" altLang="ko-KR" sz="700" dirty="0">
                <a:latin typeface="+mn-ea"/>
              </a:rPr>
              <a:t>2</a:t>
            </a:r>
          </a:p>
          <a:p>
            <a:pPr>
              <a:lnSpc>
                <a:spcPct val="200000"/>
              </a:lnSpc>
            </a:pPr>
            <a:r>
              <a:rPr lang="en-US" altLang="ko-KR" sz="700" dirty="0">
                <a:latin typeface="+mn-ea"/>
              </a:rPr>
              <a:t>3. </a:t>
            </a:r>
            <a:r>
              <a:rPr lang="ko-KR" altLang="en-US" sz="700" dirty="0">
                <a:latin typeface="+mn-ea"/>
              </a:rPr>
              <a:t>계약특수조건 </a:t>
            </a:r>
            <a:r>
              <a:rPr lang="en-US" altLang="ko-KR" sz="700" dirty="0">
                <a:latin typeface="+mn-ea"/>
              </a:rPr>
              <a:t>3</a:t>
            </a:r>
          </a:p>
          <a:p>
            <a:pPr>
              <a:lnSpc>
                <a:spcPct val="200000"/>
              </a:lnSpc>
            </a:pPr>
            <a:r>
              <a:rPr lang="en-US" altLang="ko-KR" sz="700" dirty="0">
                <a:latin typeface="+mn-ea"/>
              </a:rPr>
              <a:t>4. </a:t>
            </a:r>
            <a:r>
              <a:rPr lang="ko-KR" altLang="en-US" sz="700" dirty="0">
                <a:latin typeface="+mn-ea"/>
              </a:rPr>
              <a:t>계약특수조건 </a:t>
            </a:r>
            <a:r>
              <a:rPr lang="en-US" altLang="ko-KR" sz="700" dirty="0">
                <a:latin typeface="+mn-ea"/>
              </a:rPr>
              <a:t>4</a:t>
            </a:r>
          </a:p>
          <a:p>
            <a:pPr>
              <a:lnSpc>
                <a:spcPct val="200000"/>
              </a:lnSpc>
            </a:pPr>
            <a:r>
              <a:rPr lang="en-US" altLang="ko-KR" sz="700" dirty="0">
                <a:latin typeface="+mn-ea"/>
              </a:rPr>
              <a:t>5. </a:t>
            </a:r>
            <a:r>
              <a:rPr lang="ko-KR" altLang="en-US" sz="700" dirty="0">
                <a:latin typeface="+mn-ea"/>
              </a:rPr>
              <a:t>계약특수조건 </a:t>
            </a:r>
            <a:r>
              <a:rPr lang="en-US" altLang="ko-KR" sz="700" dirty="0">
                <a:latin typeface="+mn-ea"/>
              </a:rPr>
              <a:t>5</a:t>
            </a:r>
          </a:p>
          <a:p>
            <a:pPr>
              <a:lnSpc>
                <a:spcPct val="200000"/>
              </a:lnSpc>
            </a:pPr>
            <a:r>
              <a:rPr lang="en-US" altLang="ko-KR" sz="700" dirty="0">
                <a:latin typeface="+mn-ea"/>
              </a:rPr>
              <a:t>6. </a:t>
            </a:r>
            <a:r>
              <a:rPr lang="ko-KR" altLang="en-US" sz="700" dirty="0">
                <a:latin typeface="+mn-ea"/>
              </a:rPr>
              <a:t>계약특수조건 </a:t>
            </a:r>
            <a:r>
              <a:rPr lang="en-US" altLang="ko-KR" sz="700" dirty="0">
                <a:latin typeface="+mn-ea"/>
              </a:rPr>
              <a:t>6</a:t>
            </a:r>
          </a:p>
          <a:p>
            <a:pPr>
              <a:lnSpc>
                <a:spcPct val="200000"/>
              </a:lnSpc>
            </a:pPr>
            <a:r>
              <a:rPr lang="en-US" altLang="ko-KR" sz="700" dirty="0">
                <a:latin typeface="+mn-ea"/>
              </a:rPr>
              <a:t>⁞</a:t>
            </a:r>
            <a:endParaRPr lang="ko-KR" altLang="en-US" sz="700" dirty="0">
              <a:latin typeface="+mn-ea"/>
            </a:endParaRP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720490" y="354473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2" name="타원 111">
            <a:extLst>
              <a:ext uri="{FF2B5EF4-FFF2-40B4-BE49-F238E27FC236}">
                <a16:creationId xmlns:a16="http://schemas.microsoft.com/office/drawing/2014/main" id="{37A7FF4F-0EAA-1463-560A-D5EC24416103}"/>
              </a:ext>
            </a:extLst>
          </p:cNvPr>
          <p:cNvSpPr/>
          <p:nvPr/>
        </p:nvSpPr>
        <p:spPr>
          <a:xfrm>
            <a:off x="571127" y="330638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Tree>
    <p:extLst>
      <p:ext uri="{BB962C8B-B14F-4D97-AF65-F5344CB8AC3E}">
        <p14:creationId xmlns:p14="http://schemas.microsoft.com/office/powerpoint/2010/main" val="41306134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42</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7" name="TextBox 6">
            <a:extLst>
              <a:ext uri="{FF2B5EF4-FFF2-40B4-BE49-F238E27FC236}">
                <a16:creationId xmlns:a16="http://schemas.microsoft.com/office/drawing/2014/main" id="{D2898AB1-8736-AB97-26CD-6A60F05FD8FF}"/>
              </a:ext>
            </a:extLst>
          </p:cNvPr>
          <p:cNvSpPr txBox="1"/>
          <p:nvPr/>
        </p:nvSpPr>
        <p:spPr>
          <a:xfrm>
            <a:off x="458117" y="809361"/>
            <a:ext cx="235858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계약특수조건정보</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ko-KR" altLang="en-US" sz="900" b="1" dirty="0">
                <a:solidFill>
                  <a:prstClr val="black"/>
                </a:solidFill>
              </a:rPr>
              <a:t>영문명</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8158A3C8-3B6B-4404-B962-72EAD2CB9801}"/>
              </a:ext>
            </a:extLst>
          </p:cNvPr>
          <p:cNvGraphicFramePr>
            <a:graphicFrameLocks noGrp="1"/>
          </p:cNvGraphicFramePr>
          <p:nvPr/>
        </p:nvGraphicFramePr>
        <p:xfrm>
          <a:off x="452999" y="1093115"/>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요구년도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drctnYr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요구년도</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8988487"/>
                  </a:ext>
                </a:extLst>
              </a:tr>
              <a:tr h="0">
                <a:tc>
                  <a:txBody>
                    <a:bodyPr/>
                    <a:lstStyle/>
                    <a:p>
                      <a:pPr latinLnBrk="1"/>
                      <a:r>
                        <a:rPr lang="ko-KR" altLang="en-US" sz="800" dirty="0">
                          <a:latin typeface="+mn-ea"/>
                          <a:ea typeface="+mn-ea"/>
                        </a:rPr>
                        <a:t>집행예정월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bidPrnmntYm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집행예정월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YYYYMM</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419601"/>
                  </a:ext>
                </a:extLst>
              </a:tr>
              <a:tr h="0">
                <a:tc>
                  <a:txBody>
                    <a:bodyPr/>
                    <a:lstStyle/>
                    <a:p>
                      <a:pPr latinLnBrk="1"/>
                      <a:r>
                        <a:rPr lang="ko-KR" altLang="en-US" sz="800" dirty="0">
                          <a:latin typeface="+mn-ea"/>
                          <a:ea typeface="+mn-ea"/>
                        </a:rPr>
                        <a:t>계약예정월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ctrtPrnmntYm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계약예정월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YYYYMM</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9132761"/>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집행유형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상위코드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:ETC</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err="1">
                          <a:latin typeface="+mn-ea"/>
                          <a:ea typeface="+mn-ea"/>
                        </a:rPr>
                        <a:t>대표품명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대표품명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0140306"/>
                  </a:ext>
                </a:extLst>
              </a:tr>
            </a:tbl>
          </a:graphicData>
        </a:graphic>
      </p:graphicFrame>
      <p:sp>
        <p:nvSpPr>
          <p:cNvPr id="14" name="Text Box 73">
            <a:extLst>
              <a:ext uri="{FF2B5EF4-FFF2-40B4-BE49-F238E27FC236}">
                <a16:creationId xmlns:a16="http://schemas.microsoft.com/office/drawing/2014/main" id="{E8583043-26C0-3245-7098-315B27674F5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531429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공고문안</a:t>
            </a:r>
            <a:r>
              <a:rPr lang="ko-KR" altLang="en-US" dirty="0"/>
              <a:t> 항목 정보 표시</a:t>
            </a:r>
            <a:r>
              <a:rPr lang="en-US" altLang="ko-KR" dirty="0"/>
              <a:t/>
            </a:r>
            <a:br>
              <a:rPr lang="en-US" altLang="ko-KR" dirty="0"/>
            </a:br>
            <a:r>
              <a:rPr lang="en-US" altLang="ko-KR" dirty="0"/>
              <a:t>- </a:t>
            </a:r>
            <a:r>
              <a:rPr lang="ko-KR" altLang="en-US" dirty="0"/>
              <a:t>자료구분값이 </a:t>
            </a:r>
            <a:r>
              <a:rPr lang="ko-KR" altLang="en-US" dirty="0" err="1"/>
              <a:t>구자료</a:t>
            </a:r>
            <a:r>
              <a:rPr lang="en-US" altLang="ko-KR" dirty="0"/>
              <a:t>(‘N’)</a:t>
            </a:r>
            <a:r>
              <a:rPr lang="ko-KR" altLang="en-US" dirty="0"/>
              <a:t>일 경우 탭 표시</a:t>
            </a:r>
            <a:r>
              <a:rPr lang="en-US" altLang="ko-KR" dirty="0"/>
              <a:t/>
            </a:r>
            <a:br>
              <a:rPr lang="en-US" altLang="ko-KR" dirty="0"/>
            </a:br>
            <a:r>
              <a:rPr lang="en-US" altLang="ko-KR" dirty="0"/>
              <a:t>- </a:t>
            </a:r>
            <a:r>
              <a:rPr lang="ko-KR" altLang="en-US" dirty="0"/>
              <a:t>자료구분값이 </a:t>
            </a:r>
            <a:r>
              <a:rPr lang="ko-KR" altLang="en-US" dirty="0" err="1"/>
              <a:t>신자료</a:t>
            </a:r>
            <a:r>
              <a:rPr lang="en-US" altLang="ko-KR" dirty="0"/>
              <a:t>(‘Y’)</a:t>
            </a:r>
            <a:r>
              <a:rPr lang="ko-KR" altLang="en-US" dirty="0"/>
              <a:t>일 경우 </a:t>
            </a:r>
            <a:r>
              <a:rPr lang="en-US" altLang="ko-KR" dirty="0"/>
              <a:t>Tab</a:t>
            </a:r>
            <a:r>
              <a:rPr lang="ko-KR" altLang="en-US" dirty="0"/>
              <a:t>은 노출되지 않고 첨부파일로 대체되어 일반정보 </a:t>
            </a:r>
            <a:r>
              <a:rPr lang="en-US" altLang="ko-KR" dirty="0"/>
              <a:t>Tab</a:t>
            </a:r>
            <a:r>
              <a:rPr lang="ko-KR" altLang="en-US" dirty="0"/>
              <a:t>의 첨부서류 항목에 조회된다</a:t>
            </a:r>
            <a:r>
              <a:rPr lang="en-US" altLang="ko-KR" dirty="0"/>
              <a:t>.</a:t>
            </a:r>
          </a:p>
          <a:p>
            <a:pPr>
              <a:buFont typeface="+mj-lt"/>
              <a:buAutoNum type="arabicPeriod"/>
            </a:pPr>
            <a:r>
              <a:rPr lang="ko-KR" altLang="en-US" dirty="0" err="1"/>
              <a:t>공고문안</a:t>
            </a:r>
            <a:r>
              <a:rPr lang="ko-KR" altLang="en-US" dirty="0"/>
              <a:t> 입력 항목 표시</a:t>
            </a:r>
            <a:r>
              <a:rPr lang="en-US" altLang="ko-KR" dirty="0"/>
              <a:t/>
            </a:r>
            <a:br>
              <a:rPr lang="en-US" altLang="ko-KR" dirty="0"/>
            </a:br>
            <a:r>
              <a:rPr lang="en-US" altLang="ko-KR" dirty="0"/>
              <a:t>- </a:t>
            </a:r>
            <a:r>
              <a:rPr lang="ko-KR" altLang="en-US" dirty="0"/>
              <a:t>전문 내용은 축약하지 않고 내용에 맞춰 확장하여 전체 스크롤 처리</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공고문안</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err="1"/>
              <a:t>공고문안</a:t>
            </a:r>
            <a:r>
              <a:rPr lang="ko-KR" altLang="en-US" dirty="0"/>
              <a:t>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err="1">
                <a:latin typeface="+mn-ea"/>
              </a:rPr>
              <a:t>공고문안</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MUI-BD-01-M11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035095" cy="181140"/>
          </a:xfrm>
          <a:prstGeom prst="rect">
            <a:avLst/>
          </a:prstGeom>
          <a:noFill/>
        </p:spPr>
        <p:txBody>
          <a:bodyPr wrap="square" lIns="0" tIns="0" rIns="0" bIns="0" rtlCol="0">
            <a:spAutoFit/>
          </a:bodyPr>
          <a:lstStyle/>
          <a:p>
            <a:pPr>
              <a:lnSpc>
                <a:spcPct val="200000"/>
              </a:lnSpc>
            </a:pPr>
            <a:r>
              <a:rPr lang="ko-KR" altLang="en-US" sz="700" dirty="0" err="1">
                <a:latin typeface="+mn-ea"/>
              </a:rPr>
              <a:t>공고문안</a:t>
            </a:r>
            <a:endParaRPr lang="ko-KR" altLang="en-US" sz="700" dirty="0">
              <a:latin typeface="+mn-ea"/>
            </a:endParaRP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cxnSp>
        <p:nvCxnSpPr>
          <p:cNvPr id="109" name="직선 연결선 108">
            <a:extLst>
              <a:ext uri="{FF2B5EF4-FFF2-40B4-BE49-F238E27FC236}">
                <a16:creationId xmlns:a16="http://schemas.microsoft.com/office/drawing/2014/main" id="{E9293055-D5CD-4B9E-7F64-64B2D2CA7A52}"/>
              </a:ext>
            </a:extLst>
          </p:cNvPr>
          <p:cNvCxnSpPr/>
          <p:nvPr/>
        </p:nvCxnSpPr>
        <p:spPr>
          <a:xfrm>
            <a:off x="675399" y="516095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0" name="TextBox 109">
            <a:extLst>
              <a:ext uri="{FF2B5EF4-FFF2-40B4-BE49-F238E27FC236}">
                <a16:creationId xmlns:a16="http://schemas.microsoft.com/office/drawing/2014/main" id="{FFC49AEA-2A8F-250C-A86A-A7751D9706C3}"/>
              </a:ext>
            </a:extLst>
          </p:cNvPr>
          <p:cNvSpPr txBox="1"/>
          <p:nvPr/>
        </p:nvSpPr>
        <p:spPr>
          <a:xfrm>
            <a:off x="790331" y="3290218"/>
            <a:ext cx="2532688" cy="1723549"/>
          </a:xfrm>
          <a:prstGeom prst="rect">
            <a:avLst/>
          </a:prstGeom>
          <a:noFill/>
        </p:spPr>
        <p:txBody>
          <a:bodyPr wrap="square" lIns="0" tIns="0" rIns="0" bIns="0" rtlCol="0">
            <a:spAutoFit/>
          </a:bodyPr>
          <a:lstStyle/>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ko-KR" altLang="en-US" sz="700" dirty="0" err="1">
                <a:latin typeface="+mn-ea"/>
              </a:rPr>
              <a:t>공고문안의</a:t>
            </a:r>
            <a:r>
              <a:rPr lang="ko-KR" altLang="en-US" sz="700" dirty="0">
                <a:latin typeface="+mn-ea"/>
              </a:rPr>
              <a:t> 내용 표시</a:t>
            </a:r>
            <a:endParaRPr lang="en-US" altLang="ko-KR" sz="700" dirty="0">
              <a:latin typeface="+mn-ea"/>
            </a:endParaRPr>
          </a:p>
          <a:p>
            <a:pPr>
              <a:lnSpc>
                <a:spcPct val="200000"/>
              </a:lnSpc>
            </a:pPr>
            <a:r>
              <a:rPr lang="en-US" altLang="ko-KR" sz="700" dirty="0">
                <a:latin typeface="+mn-ea"/>
              </a:rPr>
              <a:t>⁞</a:t>
            </a:r>
            <a:endParaRPr lang="ko-KR" altLang="en-US" sz="700" dirty="0">
              <a:latin typeface="+mn-ea"/>
            </a:endParaRP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720490" y="32697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5" name="모서리가 둥근 직사각형 34"/>
          <p:cNvSpPr/>
          <p:nvPr/>
        </p:nvSpPr>
        <p:spPr>
          <a:xfrm>
            <a:off x="705041" y="1831489"/>
            <a:ext cx="2652743" cy="1324633"/>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TextBox 35">
            <a:extLst>
              <a:ext uri="{FF2B5EF4-FFF2-40B4-BE49-F238E27FC236}">
                <a16:creationId xmlns:a16="http://schemas.microsoft.com/office/drawing/2014/main" id="{FFC49AEA-2A8F-250C-A86A-A7751D9706C3}"/>
              </a:ext>
            </a:extLst>
          </p:cNvPr>
          <p:cNvSpPr txBox="1"/>
          <p:nvPr/>
        </p:nvSpPr>
        <p:spPr>
          <a:xfrm>
            <a:off x="793811" y="1929773"/>
            <a:ext cx="2475203" cy="1077218"/>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업무도움</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7313" indent="-87313">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입찰전</a:t>
            </a:r>
            <a:r>
              <a:rPr lang="ko-KR" altLang="en-US" sz="700" dirty="0">
                <a:solidFill>
                  <a:schemeClr val="tx1">
                    <a:lumMod val="85000"/>
                    <a:lumOff val="15000"/>
                  </a:schemeClr>
                </a:solidFill>
                <a:latin typeface="맑은 고딕" panose="020B0503020000020004" pitchFamily="50" charset="-127"/>
              </a:rPr>
              <a:t> 꼭 확인 하시기 바랍니다</a:t>
            </a:r>
            <a:r>
              <a:rPr lang="en-US" altLang="ko-KR" sz="700" dirty="0">
                <a:solidFill>
                  <a:schemeClr val="tx1">
                    <a:lumMod val="85000"/>
                    <a:lumOff val="15000"/>
                  </a:schemeClr>
                </a:solidFill>
                <a:latin typeface="맑은 고딕" panose="020B0503020000020004" pitchFamily="50" charset="-127"/>
              </a:rPr>
              <a:t>.</a:t>
            </a:r>
          </a:p>
          <a:p>
            <a:pPr marL="87313" indent="-87313">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규격자료</a:t>
            </a:r>
            <a:r>
              <a:rPr lang="ko-KR" altLang="en-US" sz="700" dirty="0">
                <a:solidFill>
                  <a:schemeClr val="tx1">
                    <a:lumMod val="85000"/>
                    <a:lumOff val="15000"/>
                  </a:schemeClr>
                </a:solidFill>
                <a:latin typeface="맑은 고딕" panose="020B0503020000020004" pitchFamily="50" charset="-127"/>
              </a:rPr>
              <a:t> 중 </a:t>
            </a:r>
            <a:r>
              <a:rPr lang="ko-KR" altLang="en-US" sz="700" dirty="0" err="1">
                <a:solidFill>
                  <a:schemeClr val="tx1">
                    <a:lumMod val="85000"/>
                    <a:lumOff val="15000"/>
                  </a:schemeClr>
                </a:solidFill>
                <a:latin typeface="맑은 고딕" panose="020B0503020000020004" pitchFamily="50" charset="-127"/>
              </a:rPr>
              <a:t>공개자료와</a:t>
            </a:r>
            <a:r>
              <a:rPr lang="ko-KR" altLang="en-US" sz="700" dirty="0">
                <a:solidFill>
                  <a:schemeClr val="tx1">
                    <a:lumMod val="85000"/>
                    <a:lumOff val="15000"/>
                  </a:schemeClr>
                </a:solidFill>
                <a:latin typeface="맑은 고딕" panose="020B0503020000020004" pitchFamily="50" charset="-127"/>
              </a:rPr>
              <a:t> 비공개자료는 열람 방식이 </a:t>
            </a:r>
            <a:r>
              <a:rPr lang="ko-KR" altLang="en-US" sz="700" dirty="0" err="1">
                <a:solidFill>
                  <a:schemeClr val="tx1">
                    <a:lumMod val="85000"/>
                    <a:lumOff val="15000"/>
                  </a:schemeClr>
                </a:solidFill>
                <a:latin typeface="맑은 고딕" panose="020B0503020000020004" pitchFamily="50" charset="-127"/>
              </a:rPr>
              <a:t>다름니다</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규격자료</a:t>
            </a:r>
            <a:r>
              <a:rPr lang="ko-KR" altLang="en-US" sz="700" dirty="0">
                <a:solidFill>
                  <a:schemeClr val="tx1">
                    <a:lumMod val="85000"/>
                    <a:lumOff val="15000"/>
                  </a:schemeClr>
                </a:solidFill>
                <a:latin typeface="맑은 고딕" panose="020B0503020000020004" pitchFamily="50" charset="-127"/>
              </a:rPr>
              <a:t> 지원 방법을 꼭 확인 하시기 바랍니다</a:t>
            </a:r>
            <a:r>
              <a:rPr lang="en-US" altLang="ko-KR" sz="700" dirty="0">
                <a:solidFill>
                  <a:schemeClr val="tx1">
                    <a:lumMod val="85000"/>
                    <a:lumOff val="15000"/>
                  </a:schemeClr>
                </a:solidFill>
                <a:latin typeface="맑은 고딕" panose="020B0503020000020004" pitchFamily="50" charset="-127"/>
              </a:rPr>
              <a:t>. </a:t>
            </a:r>
            <a:r>
              <a:rPr lang="en-US" altLang="ko-KR" sz="700" b="1" u="sng" dirty="0">
                <a:solidFill>
                  <a:srgbClr val="0070C0"/>
                </a:solidFill>
                <a:latin typeface="맑은 고딕" panose="020B0503020000020004" pitchFamily="50" charset="-127"/>
              </a:rPr>
              <a:t>(</a:t>
            </a:r>
            <a:r>
              <a:rPr lang="ko-KR" altLang="en-US" sz="700" b="1" u="sng" dirty="0">
                <a:solidFill>
                  <a:srgbClr val="0070C0"/>
                </a:solidFill>
                <a:latin typeface="맑은 고딕" panose="020B0503020000020004" pitchFamily="50" charset="-127"/>
              </a:rPr>
              <a:t>규격자료지원방법</a:t>
            </a:r>
            <a:r>
              <a:rPr lang="en-US" altLang="ko-KR" sz="700" b="1" u="sng" dirty="0">
                <a:solidFill>
                  <a:srgbClr val="0070C0"/>
                </a:solidFill>
                <a:latin typeface="맑은 고딕" panose="020B0503020000020004" pitchFamily="50" charset="-127"/>
              </a:rPr>
              <a:t>)</a:t>
            </a:r>
          </a:p>
          <a:p>
            <a:pPr marL="87313" indent="-87313">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규격서상</a:t>
            </a:r>
            <a:r>
              <a:rPr lang="ko-KR" altLang="en-US" sz="700" dirty="0">
                <a:solidFill>
                  <a:schemeClr val="tx1">
                    <a:lumMod val="85000"/>
                    <a:lumOff val="15000"/>
                  </a:schemeClr>
                </a:solidFill>
                <a:latin typeface="맑은 고딕" panose="020B0503020000020004" pitchFamily="50" charset="-127"/>
              </a:rPr>
              <a:t> 각종 성능시험 요건을 입찰 전에 확인 하시기 바랍니다</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성능시험을 수행할 책임은 </a:t>
            </a:r>
            <a:r>
              <a:rPr lang="ko-KR" altLang="en-US" sz="700" dirty="0" err="1">
                <a:solidFill>
                  <a:schemeClr val="tx1">
                    <a:lumMod val="85000"/>
                    <a:lumOff val="15000"/>
                  </a:schemeClr>
                </a:solidFill>
                <a:latin typeface="맑은 고딕" panose="020B0503020000020004" pitchFamily="50" charset="-127"/>
              </a:rPr>
              <a:t>계약업체에</a:t>
            </a:r>
            <a:r>
              <a:rPr lang="ko-KR" altLang="en-US" sz="700" dirty="0">
                <a:solidFill>
                  <a:schemeClr val="tx1">
                    <a:lumMod val="85000"/>
                    <a:lumOff val="15000"/>
                  </a:schemeClr>
                </a:solidFill>
                <a:latin typeface="맑은 고딕" panose="020B0503020000020004" pitchFamily="50" charset="-127"/>
              </a:rPr>
              <a:t> 있습니다</a:t>
            </a:r>
            <a:r>
              <a:rPr lang="en-US" altLang="ko-KR" sz="700" dirty="0">
                <a:solidFill>
                  <a:schemeClr val="tx1">
                    <a:lumMod val="85000"/>
                    <a:lumOff val="15000"/>
                  </a:schemeClr>
                </a:solidFill>
                <a:latin typeface="맑은 고딕" panose="020B0503020000020004" pitchFamily="50" charset="-127"/>
              </a:rPr>
              <a:t>.</a:t>
            </a:r>
          </a:p>
          <a:p>
            <a:pPr marL="87313" indent="-87313">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계약서의 납기와 품질보증형태를 확인 하시기 바랍니다</a:t>
            </a:r>
            <a:r>
              <a:rPr lang="en-US" altLang="ko-KR" sz="700" dirty="0">
                <a:solidFill>
                  <a:schemeClr val="tx1">
                    <a:lumMod val="85000"/>
                    <a:lumOff val="15000"/>
                  </a:schemeClr>
                </a:solidFill>
                <a:latin typeface="맑은 고딕" panose="020B0503020000020004" pitchFamily="50" charset="-127"/>
              </a:rPr>
              <a:t>.</a:t>
            </a:r>
          </a:p>
          <a:p>
            <a:pPr marL="87313" indent="-87313">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계약특수조건의 품질보증기간을 꼭 확인 하시기 바랍니다</a:t>
            </a:r>
            <a:r>
              <a:rPr lang="en-US" altLang="ko-KR" sz="700" dirty="0">
                <a:solidFill>
                  <a:schemeClr val="tx1">
                    <a:lumMod val="85000"/>
                    <a:lumOff val="15000"/>
                  </a:schemeClr>
                </a:solidFill>
                <a:latin typeface="맑은 고딕" panose="020B0503020000020004" pitchFamily="50" charset="-127"/>
              </a:rPr>
              <a:t>.</a:t>
            </a:r>
            <a:endParaRPr lang="en-US" altLang="ko-KR" sz="700" b="1" u="sng" dirty="0">
              <a:solidFill>
                <a:srgbClr val="0070C0"/>
              </a:solidFill>
              <a:latin typeface="맑은 고딕" panose="020B0503020000020004" pitchFamily="50" charset="-127"/>
            </a:endParaRPr>
          </a:p>
        </p:txBody>
      </p:sp>
      <p:sp>
        <p:nvSpPr>
          <p:cNvPr id="37" name="타원 36"/>
          <p:cNvSpPr/>
          <p:nvPr/>
        </p:nvSpPr>
        <p:spPr>
          <a:xfrm>
            <a:off x="789853" y="1920122"/>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8" name="그룹 37"/>
          <p:cNvGrpSpPr/>
          <p:nvPr/>
        </p:nvGrpSpPr>
        <p:grpSpPr>
          <a:xfrm flipV="1">
            <a:off x="3138674" y="1968620"/>
            <a:ext cx="94010" cy="47005"/>
            <a:chOff x="6812560" y="3297172"/>
            <a:chExt cx="94010" cy="47005"/>
          </a:xfrm>
        </p:grpSpPr>
        <p:cxnSp>
          <p:nvCxnSpPr>
            <p:cNvPr id="39" name="직선 연결선 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0" name="직선 연결선 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1" name="타원 40">
            <a:extLst>
              <a:ext uri="{FF2B5EF4-FFF2-40B4-BE49-F238E27FC236}">
                <a16:creationId xmlns:a16="http://schemas.microsoft.com/office/drawing/2014/main" id="{37A7FF4F-0EAA-1463-560A-D5EC24416103}"/>
              </a:ext>
            </a:extLst>
          </p:cNvPr>
          <p:cNvSpPr/>
          <p:nvPr/>
        </p:nvSpPr>
        <p:spPr>
          <a:xfrm>
            <a:off x="571127" y="331385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Tree>
    <p:extLst>
      <p:ext uri="{BB962C8B-B14F-4D97-AF65-F5344CB8AC3E}">
        <p14:creationId xmlns:p14="http://schemas.microsoft.com/office/powerpoint/2010/main" val="38813254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44</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6" name="Text Box 73">
            <a:extLst>
              <a:ext uri="{FF2B5EF4-FFF2-40B4-BE49-F238E27FC236}">
                <a16:creationId xmlns:a16="http://schemas.microsoft.com/office/drawing/2014/main" id="{0F472CB0-E797-B018-37D5-B76A0434B3A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0" name="TextBox 9">
            <a:extLst>
              <a:ext uri="{FF2B5EF4-FFF2-40B4-BE49-F238E27FC236}">
                <a16:creationId xmlns:a16="http://schemas.microsoft.com/office/drawing/2014/main" id="{D2898AB1-8736-AB97-26CD-6A60F05FD8FF}"/>
              </a:ext>
            </a:extLst>
          </p:cNvPr>
          <p:cNvSpPr txBox="1"/>
          <p:nvPr/>
        </p:nvSpPr>
        <p:spPr>
          <a:xfrm>
            <a:off x="458117" y="803387"/>
            <a:ext cx="2127753"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공고문안정보</a:t>
            </a:r>
            <a:r>
              <a:rPr lang="ko-KR" altLang="en-US" sz="900" dirty="0">
                <a:latin typeface="+mn-ea"/>
                <a:ea typeface="+mn-ea"/>
              </a:rPr>
              <a:t> </a:t>
            </a:r>
            <a:r>
              <a:rPr lang="ko-KR" altLang="en-US" sz="900" b="1" dirty="0">
                <a:solidFill>
                  <a:prstClr val="black"/>
                </a:solidFill>
              </a:rPr>
              <a:t>데이터 영역 </a:t>
            </a:r>
            <a:r>
              <a:rPr lang="en-US" altLang="ko-KR" sz="900" b="1" dirty="0">
                <a:solidFill>
                  <a:prstClr val="black"/>
                </a:solidFill>
              </a:rPr>
              <a:t>(</a:t>
            </a:r>
            <a:r>
              <a:rPr lang="ko-KR" altLang="en-US" sz="900" b="1" dirty="0">
                <a:solidFill>
                  <a:prstClr val="black"/>
                </a:solidFill>
              </a:rPr>
              <a:t>영문명</a:t>
            </a:r>
            <a:r>
              <a:rPr lang="en-US" altLang="ko-KR" sz="900" b="1" dirty="0">
                <a:solidFill>
                  <a:prstClr val="black"/>
                </a:solidFill>
              </a:rPr>
              <a:t>)</a:t>
            </a:r>
            <a:endParaRPr lang="ko-KR" altLang="en-US" sz="900" b="1" dirty="0">
              <a:solidFill>
                <a:prstClr val="black"/>
              </a:solidFill>
            </a:endParaRPr>
          </a:p>
        </p:txBody>
      </p:sp>
      <p:graphicFrame>
        <p:nvGraphicFramePr>
          <p:cNvPr id="15" name="표 14">
            <a:extLst>
              <a:ext uri="{FF2B5EF4-FFF2-40B4-BE49-F238E27FC236}">
                <a16:creationId xmlns:a16="http://schemas.microsoft.com/office/drawing/2014/main" id="{8158A3C8-3B6B-4404-B962-72EAD2CB9801}"/>
              </a:ext>
            </a:extLst>
          </p:cNvPr>
          <p:cNvGraphicFramePr>
            <a:graphicFrameLocks noGrp="1"/>
          </p:cNvGraphicFramePr>
          <p:nvPr/>
        </p:nvGraphicFramePr>
        <p:xfrm>
          <a:off x="452999" y="1087141"/>
          <a:ext cx="8994883" cy="753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내용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pbancCn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공고문안 내용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1.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업무구분이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물품</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용역</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이고 계약방법이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협상에의한계약</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서류</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일 경우 노출되는 영역</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2.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로그인 이용자가 해당 공고의 등록자</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방위사업청 소속일 경우 노출되는 영역</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17" name="표 16">
            <a:extLst>
              <a:ext uri="{FF2B5EF4-FFF2-40B4-BE49-F238E27FC236}">
                <a16:creationId xmlns:a16="http://schemas.microsoft.com/office/drawing/2014/main" id="{DA8ADA3F-B9DA-2E61-D10A-0A023381A65A}"/>
              </a:ext>
            </a:extLst>
          </p:cNvPr>
          <p:cNvGraphicFramePr>
            <a:graphicFrameLocks noGrp="1"/>
          </p:cNvGraphicFramePr>
          <p:nvPr/>
        </p:nvGraphicFramePr>
        <p:xfrm>
          <a:off x="453000" y="2316997"/>
          <a:ext cx="8995591" cy="703680"/>
        </p:xfrm>
        <a:graphic>
          <a:graphicData uri="http://schemas.openxmlformats.org/drawingml/2006/table">
            <a:tbl>
              <a:tblPr>
                <a:tableStyleId>{616DA210-FB5B-4158-B5E0-FEB733F419BA}</a:tableStyleId>
              </a:tblPr>
              <a:tblGrid>
                <a:gridCol w="1114543">
                  <a:extLst>
                    <a:ext uri="{9D8B030D-6E8A-4147-A177-3AD203B41FA5}">
                      <a16:colId xmlns:a16="http://schemas.microsoft.com/office/drawing/2014/main" val="20000"/>
                    </a:ext>
                  </a:extLst>
                </a:gridCol>
                <a:gridCol w="1140031">
                  <a:extLst>
                    <a:ext uri="{9D8B030D-6E8A-4147-A177-3AD203B41FA5}">
                      <a16:colId xmlns:a16="http://schemas.microsoft.com/office/drawing/2014/main" val="624624882"/>
                    </a:ext>
                  </a:extLst>
                </a:gridCol>
                <a:gridCol w="3954483">
                  <a:extLst>
                    <a:ext uri="{9D8B030D-6E8A-4147-A177-3AD203B41FA5}">
                      <a16:colId xmlns:a16="http://schemas.microsoft.com/office/drawing/2014/main" val="20001"/>
                    </a:ext>
                  </a:extLst>
                </a:gridCol>
                <a:gridCol w="2786534">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공통코드정보를</a:t>
                      </a:r>
                      <a:r>
                        <a:rPr lang="ko-KR" altLang="en-US" sz="800" dirty="0">
                          <a:latin typeface="+mn-ea"/>
                          <a:ea typeface="+mn-ea"/>
                        </a:rPr>
                        <a:t> </a:t>
                      </a:r>
                      <a:r>
                        <a:rPr lang="ko-KR" altLang="en-US" sz="800" dirty="0" err="1">
                          <a:latin typeface="+mn-ea"/>
                          <a:ea typeface="+mn-ea"/>
                        </a:rPr>
                        <a:t>로드한다</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latin typeface="+mn-ea"/>
                        </a:rPr>
                        <a:t>출력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Scwin.btn_pbancCnOtpt_onclick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rPr>
                        <a:t>공고문안내용을 </a:t>
                      </a:r>
                      <a:r>
                        <a:rPr lang="en-US" altLang="ko-KR" sz="800" dirty="0">
                          <a:latin typeface="+mn-ea"/>
                        </a:rPr>
                        <a:t>Report</a:t>
                      </a:r>
                      <a:r>
                        <a:rPr lang="ko-KR" altLang="en-US" sz="800" dirty="0">
                          <a:latin typeface="+mn-ea"/>
                        </a:rPr>
                        <a:t>로 출력한다</a:t>
                      </a:r>
                      <a:r>
                        <a:rPr lang="en-US" altLang="ko-KR" sz="800" dirty="0">
                          <a:latin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1. </a:t>
                      </a:r>
                      <a:r>
                        <a:rPr lang="ko-KR" altLang="en-US" sz="800" dirty="0">
                          <a:latin typeface="+mn-ea"/>
                          <a:ea typeface="+mn-ea"/>
                        </a:rPr>
                        <a:t>업무구분이 </a:t>
                      </a:r>
                      <a:r>
                        <a:rPr lang="en-US" altLang="ko-KR" sz="800" dirty="0">
                          <a:latin typeface="+mn-ea"/>
                          <a:ea typeface="+mn-ea"/>
                        </a:rPr>
                        <a:t>‘</a:t>
                      </a:r>
                      <a:r>
                        <a:rPr lang="ko-KR" altLang="en-US" sz="800" dirty="0">
                          <a:latin typeface="+mn-ea"/>
                          <a:ea typeface="+mn-ea"/>
                        </a:rPr>
                        <a:t>물품</a:t>
                      </a:r>
                      <a:r>
                        <a:rPr lang="en-US" altLang="ko-KR" sz="800" dirty="0">
                          <a:latin typeface="+mn-ea"/>
                          <a:ea typeface="+mn-ea"/>
                        </a:rPr>
                        <a:t>/</a:t>
                      </a:r>
                      <a:r>
                        <a:rPr lang="ko-KR" altLang="en-US" sz="800" dirty="0">
                          <a:latin typeface="+mn-ea"/>
                          <a:ea typeface="+mn-ea"/>
                        </a:rPr>
                        <a:t>용역</a:t>
                      </a:r>
                      <a:r>
                        <a:rPr lang="en-US" altLang="ko-KR" sz="800" dirty="0">
                          <a:latin typeface="+mn-ea"/>
                          <a:ea typeface="+mn-ea"/>
                        </a:rPr>
                        <a:t>‘ </a:t>
                      </a:r>
                      <a:r>
                        <a:rPr lang="ko-KR" altLang="en-US" sz="800" dirty="0">
                          <a:latin typeface="+mn-ea"/>
                          <a:ea typeface="+mn-ea"/>
                        </a:rPr>
                        <a:t>일 경우 버튼 노출</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2. </a:t>
                      </a:r>
                      <a:r>
                        <a:rPr lang="ko-KR" altLang="en-US" sz="800" dirty="0">
                          <a:latin typeface="+mn-ea"/>
                          <a:ea typeface="+mn-ea"/>
                        </a:rPr>
                        <a:t>공고문안</a:t>
                      </a:r>
                      <a:r>
                        <a:rPr lang="en-US" altLang="ko-KR" sz="800" dirty="0">
                          <a:latin typeface="+mn-ea"/>
                          <a:ea typeface="+mn-ea"/>
                        </a:rPr>
                        <a:t>Report : PDB014.ozr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971527"/>
                  </a:ext>
                </a:extLst>
              </a:tr>
            </a:tbl>
          </a:graphicData>
        </a:graphic>
      </p:graphicFrame>
      <p:sp>
        <p:nvSpPr>
          <p:cNvPr id="18" name="TextBox 17">
            <a:extLst>
              <a:ext uri="{FF2B5EF4-FFF2-40B4-BE49-F238E27FC236}">
                <a16:creationId xmlns:a16="http://schemas.microsoft.com/office/drawing/2014/main" id="{E266FB11-CB16-9C5B-5D0E-672EECE6BED6}"/>
              </a:ext>
            </a:extLst>
          </p:cNvPr>
          <p:cNvSpPr txBox="1"/>
          <p:nvPr/>
        </p:nvSpPr>
        <p:spPr>
          <a:xfrm>
            <a:off x="458117" y="203886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Tree>
    <p:extLst>
      <p:ext uri="{BB962C8B-B14F-4D97-AF65-F5344CB8AC3E}">
        <p14:creationId xmlns:p14="http://schemas.microsoft.com/office/powerpoint/2010/main" val="218577984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입찰진행현황 항목 정보 표시</a:t>
            </a:r>
            <a:r>
              <a:rPr lang="en-US" altLang="ko-KR" dirty="0"/>
              <a:t/>
            </a:r>
            <a:br>
              <a:rPr lang="en-US" altLang="ko-KR" dirty="0"/>
            </a:br>
            <a:r>
              <a:rPr lang="en-US" altLang="ko-KR" dirty="0"/>
              <a:t>- </a:t>
            </a:r>
            <a:r>
              <a:rPr lang="ko-KR" altLang="en-US" dirty="0" err="1"/>
              <a:t>현재일자가</a:t>
            </a:r>
            <a:r>
              <a:rPr lang="ko-KR" altLang="en-US" dirty="0"/>
              <a:t> </a:t>
            </a:r>
            <a:r>
              <a:rPr lang="ko-KR" altLang="en-US" dirty="0" err="1"/>
              <a:t>개찰일시</a:t>
            </a:r>
            <a:r>
              <a:rPr lang="ko-KR" altLang="en-US" dirty="0"/>
              <a:t> 이후일 경우 입찰진행현황 탭 표시</a:t>
            </a:r>
            <a:r>
              <a:rPr lang="en-US" altLang="ko-KR" dirty="0"/>
              <a:t/>
            </a:r>
            <a:br>
              <a:rPr lang="en-US" altLang="ko-KR" dirty="0"/>
            </a:br>
            <a:r>
              <a:rPr lang="en-US" altLang="ko-KR" dirty="0"/>
              <a:t>- </a:t>
            </a:r>
            <a:r>
              <a:rPr lang="ko-KR" altLang="en-US" dirty="0"/>
              <a:t>물품</a:t>
            </a:r>
            <a:r>
              <a:rPr lang="en-US" altLang="ko-KR" dirty="0"/>
              <a:t>/</a:t>
            </a:r>
            <a:r>
              <a:rPr lang="ko-KR" altLang="en-US" dirty="0"/>
              <a:t>용역 공고일 경우 </a:t>
            </a:r>
            <a:r>
              <a:rPr lang="ko-KR" altLang="en-US" dirty="0" err="1"/>
              <a:t>무효처리된</a:t>
            </a:r>
            <a:r>
              <a:rPr lang="ko-KR" altLang="en-US" dirty="0"/>
              <a:t> 공고 또는 </a:t>
            </a:r>
            <a:r>
              <a:rPr lang="ko-KR" altLang="en-US" dirty="0" err="1"/>
              <a:t>계약방법이</a:t>
            </a:r>
            <a:r>
              <a:rPr lang="ko-KR" altLang="en-US" dirty="0"/>
              <a:t> ‘</a:t>
            </a:r>
            <a:r>
              <a:rPr lang="ko-KR" altLang="en-US" dirty="0" err="1"/>
              <a:t>협상에의한계약</a:t>
            </a:r>
            <a:r>
              <a:rPr lang="en-US" altLang="ko-KR" dirty="0"/>
              <a:t>(</a:t>
            </a:r>
            <a:r>
              <a:rPr lang="ko-KR" altLang="en-US" dirty="0"/>
              <a:t>서류</a:t>
            </a:r>
            <a:r>
              <a:rPr lang="en-US" altLang="ko-KR" dirty="0"/>
              <a:t>)’</a:t>
            </a:r>
            <a:r>
              <a:rPr lang="ko-KR" altLang="en-US" dirty="0"/>
              <a:t>일 경우 탭 숨김</a:t>
            </a:r>
            <a:r>
              <a:rPr lang="en-US" altLang="ko-KR" dirty="0"/>
              <a:t/>
            </a:r>
            <a:br>
              <a:rPr lang="en-US" altLang="ko-KR" dirty="0"/>
            </a:br>
            <a:r>
              <a:rPr lang="en-US" altLang="ko-KR" dirty="0"/>
              <a:t>- </a:t>
            </a:r>
            <a:r>
              <a:rPr lang="ko-KR" altLang="en-US" dirty="0"/>
              <a:t>공사 공고일 경우 </a:t>
            </a:r>
            <a:r>
              <a:rPr lang="ko-KR" altLang="en-US" dirty="0" err="1"/>
              <a:t>무효처리된</a:t>
            </a:r>
            <a:r>
              <a:rPr lang="ko-KR" altLang="en-US" dirty="0"/>
              <a:t> 공고일 경우 탭 숨김</a:t>
            </a:r>
            <a:r>
              <a:rPr lang="en-US" altLang="ko-KR" dirty="0"/>
              <a:t/>
            </a:r>
            <a:br>
              <a:rPr lang="en-US" altLang="ko-KR" dirty="0"/>
            </a:br>
            <a:r>
              <a:rPr lang="en-US" altLang="ko-KR" dirty="0"/>
              <a:t>- </a:t>
            </a:r>
            <a:r>
              <a:rPr lang="ko-KR" altLang="en-US" dirty="0"/>
              <a:t>자료구분값이 </a:t>
            </a:r>
            <a:r>
              <a:rPr lang="ko-KR" altLang="en-US" dirty="0" err="1"/>
              <a:t>신자료</a:t>
            </a:r>
            <a:r>
              <a:rPr lang="en-US" altLang="ko-KR" dirty="0"/>
              <a:t>(‘Y’)</a:t>
            </a:r>
            <a:r>
              <a:rPr lang="ko-KR" altLang="en-US" dirty="0"/>
              <a:t>일 경우 </a:t>
            </a:r>
            <a:r>
              <a:rPr lang="en-US" altLang="ko-KR" dirty="0"/>
              <a:t>Tab</a:t>
            </a:r>
            <a:r>
              <a:rPr lang="ko-KR" altLang="en-US" dirty="0"/>
              <a:t>은 노출되지 않고 첨부파일로 대체되어 일반정보 </a:t>
            </a:r>
            <a:r>
              <a:rPr lang="en-US" altLang="ko-KR" dirty="0"/>
              <a:t>Tab</a:t>
            </a:r>
            <a:r>
              <a:rPr lang="ko-KR" altLang="en-US" dirty="0"/>
              <a:t>의 첨부서류 항목에서 조회</a:t>
            </a:r>
            <a:endParaRPr lang="en-US" altLang="ko-KR" dirty="0"/>
          </a:p>
          <a:p>
            <a:pPr>
              <a:buFont typeface="+mj-lt"/>
              <a:buAutoNum type="arabicPeriod"/>
            </a:pPr>
            <a:r>
              <a:rPr lang="ko-KR" altLang="en-US" dirty="0"/>
              <a:t>클릭 시 입찰결과상세화면으로 화면이동</a:t>
            </a:r>
            <a:r>
              <a:rPr lang="en-US" altLang="ko-KR" dirty="0"/>
              <a:t/>
            </a:r>
            <a:br>
              <a:rPr lang="en-US" altLang="ko-KR" dirty="0"/>
            </a:br>
            <a:r>
              <a:rPr lang="en-US" altLang="ko-KR" dirty="0"/>
              <a:t>- </a:t>
            </a:r>
            <a:r>
              <a:rPr lang="ko-KR" altLang="en-US" dirty="0"/>
              <a:t>버튼 활성화 상태 </a:t>
            </a:r>
            <a:r>
              <a:rPr lang="en-US" altLang="ko-KR" dirty="0"/>
              <a:t>: </a:t>
            </a:r>
            <a:r>
              <a:rPr lang="ko-KR" altLang="en-US" dirty="0" err="1"/>
              <a:t>개찰완료</a:t>
            </a:r>
            <a:r>
              <a:rPr lang="en-US" altLang="ko-KR" dirty="0"/>
              <a:t>, </a:t>
            </a:r>
            <a:r>
              <a:rPr lang="ko-KR" altLang="en-US" dirty="0"/>
              <a:t>유찰</a:t>
            </a:r>
            <a:r>
              <a:rPr lang="en-US" altLang="ko-KR" dirty="0"/>
              <a:t/>
            </a:r>
            <a:br>
              <a:rPr lang="en-US" altLang="ko-KR" dirty="0"/>
            </a:br>
            <a:r>
              <a:rPr lang="en-US" altLang="ko-KR" dirty="0"/>
              <a:t>- </a:t>
            </a:r>
            <a:r>
              <a:rPr lang="ko-KR" altLang="en-US" dirty="0"/>
              <a:t>나머지 상태에서 버튼 비활성화</a:t>
            </a:r>
          </a:p>
          <a:p>
            <a:pPr>
              <a:buFont typeface="+mj-lt"/>
              <a:buAutoNum type="arabicPeriod"/>
            </a:pPr>
            <a:r>
              <a:rPr lang="ko-KR" altLang="en-US" dirty="0"/>
              <a:t>항목이 더 있는 경우</a:t>
            </a:r>
            <a:r>
              <a:rPr lang="en-US" altLang="ko-KR" dirty="0"/>
              <a:t/>
            </a:r>
            <a:br>
              <a:rPr lang="en-US" altLang="ko-KR" dirty="0"/>
            </a:br>
            <a:r>
              <a:rPr lang="en-US" altLang="ko-KR" dirty="0"/>
              <a:t>- </a:t>
            </a:r>
            <a:r>
              <a:rPr lang="ko-KR" altLang="en-US" dirty="0"/>
              <a:t>항목이 여러 개인 경우 하단으로 테이블 추가하여 노출</a:t>
            </a:r>
            <a:endParaRPr lang="en-US" altLang="ko-KR" dirty="0"/>
          </a:p>
          <a:p>
            <a:pPr>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입찰진행현황</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입찰진행현황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입찰진행현황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MUI-BD-01-M12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035095" cy="181140"/>
          </a:xfrm>
          <a:prstGeom prst="rect">
            <a:avLst/>
          </a:prstGeom>
          <a:noFill/>
        </p:spPr>
        <p:txBody>
          <a:bodyPr wrap="square" lIns="0" tIns="0" rIns="0" bIns="0" rtlCol="0">
            <a:spAutoFit/>
          </a:bodyPr>
          <a:lstStyle/>
          <a:p>
            <a:pPr>
              <a:lnSpc>
                <a:spcPct val="200000"/>
              </a:lnSpc>
            </a:pPr>
            <a:r>
              <a:rPr lang="ko-KR" altLang="en-US" sz="700" dirty="0">
                <a:latin typeface="+mn-ea"/>
              </a:rPr>
              <a:t>입찰진행현황</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43" name="사각형: 둥근 모서리 15">
            <a:extLst>
              <a:ext uri="{FF2B5EF4-FFF2-40B4-BE49-F238E27FC236}">
                <a16:creationId xmlns:a16="http://schemas.microsoft.com/office/drawing/2014/main" id="{E2B61CFB-AD16-68D0-8752-50D9C5E01971}"/>
              </a:ext>
            </a:extLst>
          </p:cNvPr>
          <p:cNvSpPr/>
          <p:nvPr/>
        </p:nvSpPr>
        <p:spPr>
          <a:xfrm>
            <a:off x="711214" y="3408612"/>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입찰결과 </a:t>
            </a:r>
            <a:r>
              <a:rPr kumimoji="1" lang="ko-KR" altLang="en-US" sz="800" kern="0" dirty="0" err="1">
                <a:latin typeface="맑은 고딕"/>
                <a:ea typeface="맑은 고딕" panose="020B0503020000020004" pitchFamily="50" charset="-127"/>
              </a:rPr>
              <a:t>바로가기</a:t>
            </a:r>
            <a:endParaRPr kumimoji="1" lang="en-US" sz="800" b="0" i="0" u="none" strike="noStrike" kern="0" cap="none" spc="0" normalizeH="0" baseline="0" noProof="0" dirty="0">
              <a:ln>
                <a:noFill/>
              </a:ln>
              <a:effectLst/>
              <a:uLnTx/>
              <a:uFillTx/>
              <a:latin typeface="맑은 고딕"/>
            </a:endParaRPr>
          </a:p>
        </p:txBody>
      </p:sp>
      <p:cxnSp>
        <p:nvCxnSpPr>
          <p:cNvPr id="45" name="직선 연결선 44">
            <a:extLst>
              <a:ext uri="{FF2B5EF4-FFF2-40B4-BE49-F238E27FC236}">
                <a16:creationId xmlns:a16="http://schemas.microsoft.com/office/drawing/2014/main" id="{E9293055-D5CD-4B9E-7F64-64B2D2CA7A52}"/>
              </a:ext>
            </a:extLst>
          </p:cNvPr>
          <p:cNvCxnSpPr/>
          <p:nvPr/>
        </p:nvCxnSpPr>
        <p:spPr>
          <a:xfrm>
            <a:off x="675400" y="5753454"/>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716366" y="1835481"/>
            <a:ext cx="2630093" cy="1508105"/>
            <a:chOff x="3821510" y="1835481"/>
            <a:chExt cx="2630093" cy="1508105"/>
          </a:xfrm>
        </p:grpSpPr>
        <p:sp>
          <p:nvSpPr>
            <p:cNvPr id="53" name="직사각형 52"/>
            <p:cNvSpPr/>
            <p:nvPr/>
          </p:nvSpPr>
          <p:spPr>
            <a:xfrm>
              <a:off x="3823603" y="1835482"/>
              <a:ext cx="792000" cy="15031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TextBox 53">
              <a:extLst>
                <a:ext uri="{FF2B5EF4-FFF2-40B4-BE49-F238E27FC236}">
                  <a16:creationId xmlns:a16="http://schemas.microsoft.com/office/drawing/2014/main" id="{FFC49AEA-2A8F-250C-A86A-A7751D9706C3}"/>
                </a:ext>
              </a:extLst>
            </p:cNvPr>
            <p:cNvSpPr txBox="1"/>
            <p:nvPr/>
          </p:nvSpPr>
          <p:spPr>
            <a:xfrm>
              <a:off x="3910665" y="1835481"/>
              <a:ext cx="823463" cy="1508105"/>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재입찰자수</a:t>
              </a:r>
              <a:endParaRPr lang="en-US" altLang="ko-KR" sz="700" dirty="0">
                <a:latin typeface="+mn-ea"/>
              </a:endParaRPr>
            </a:p>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ko-KR" altLang="en-US" sz="700" dirty="0">
                  <a:latin typeface="+mn-ea"/>
                </a:rPr>
                <a:t>입찰서제출마감일시</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진행상태</a:t>
              </a:r>
            </a:p>
          </p:txBody>
        </p:sp>
        <p:sp>
          <p:nvSpPr>
            <p:cNvPr id="55" name="TextBox 54">
              <a:extLst>
                <a:ext uri="{FF2B5EF4-FFF2-40B4-BE49-F238E27FC236}">
                  <a16:creationId xmlns:a16="http://schemas.microsoft.com/office/drawing/2014/main" id="{FFC49AEA-2A8F-250C-A86A-A7751D9706C3}"/>
                </a:ext>
              </a:extLst>
            </p:cNvPr>
            <p:cNvSpPr txBox="1"/>
            <p:nvPr/>
          </p:nvSpPr>
          <p:spPr>
            <a:xfrm>
              <a:off x="4667515" y="1835481"/>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1234</a:t>
              </a:r>
            </a:p>
            <a:p>
              <a:pPr>
                <a:lnSpc>
                  <a:spcPct val="200000"/>
                </a:lnSpc>
              </a:pPr>
              <a:r>
                <a:rPr lang="en-US" altLang="ko-KR" sz="700" dirty="0">
                  <a:latin typeface="+mn-ea"/>
                </a:rPr>
                <a:t>50 </a:t>
              </a:r>
              <a:r>
                <a:rPr lang="ko-KR" altLang="en-US" sz="700" dirty="0">
                  <a:latin typeface="+mn-ea"/>
                </a:rPr>
                <a:t>명</a:t>
              </a:r>
              <a:endParaRPr lang="en-US" altLang="ko-KR" sz="700" dirty="0">
                <a:latin typeface="+mn-ea"/>
              </a:endParaRPr>
            </a:p>
            <a:p>
              <a:pPr>
                <a:lnSpc>
                  <a:spcPct val="200000"/>
                </a:lnSpc>
              </a:pPr>
              <a:r>
                <a:rPr lang="en-US" altLang="ko-KR" sz="700" dirty="0">
                  <a:latin typeface="+mn-ea"/>
                </a:rPr>
                <a:t>000 000 0000</a:t>
              </a:r>
            </a:p>
            <a:p>
              <a:pPr>
                <a:lnSpc>
                  <a:spcPct val="200000"/>
                </a:lnSpc>
              </a:pPr>
              <a:r>
                <a:rPr lang="en-US" altLang="ko-KR" sz="700" dirty="0">
                  <a:latin typeface="+mn-ea"/>
                </a:rPr>
                <a:t>1. </a:t>
              </a:r>
              <a:r>
                <a:rPr lang="ko-KR" altLang="en-US" sz="700" dirty="0" err="1">
                  <a:latin typeface="+mn-ea"/>
                </a:rPr>
                <a:t>공고명</a:t>
              </a:r>
              <a:r>
                <a:rPr lang="ko-KR" altLang="en-US" sz="700" dirty="0">
                  <a:latin typeface="+mn-ea"/>
                </a:rPr>
                <a:t> </a:t>
              </a:r>
              <a:r>
                <a:rPr lang="ko-KR" altLang="en-US" sz="700" dirty="0" err="1">
                  <a:latin typeface="+mn-ea"/>
                </a:rPr>
                <a:t>표시영역</a:t>
              </a:r>
              <a:endParaRPr lang="en-US" altLang="ko-KR" sz="700" dirty="0">
                <a:latin typeface="+mn-ea"/>
              </a:endParaRPr>
            </a:p>
            <a:p>
              <a:pPr>
                <a:lnSpc>
                  <a:spcPct val="200000"/>
                </a:lnSpc>
              </a:pPr>
              <a:r>
                <a:rPr lang="en-US" altLang="ko-KR" sz="700" dirty="0">
                  <a:solidFill>
                    <a:schemeClr val="tx1">
                      <a:lumMod val="85000"/>
                      <a:lumOff val="15000"/>
                    </a:schemeClr>
                  </a:solidFill>
                  <a:latin typeface="맑은 고딕" panose="020B0503020000020004" pitchFamily="50" charset="-127"/>
                </a:rPr>
                <a:t>2025-12-25 10:30</a:t>
              </a:r>
            </a:p>
            <a:p>
              <a:pPr>
                <a:lnSpc>
                  <a:spcPct val="200000"/>
                </a:lnSpc>
              </a:pPr>
              <a:r>
                <a:rPr lang="en-US" altLang="ko-KR" sz="700" dirty="0">
                  <a:solidFill>
                    <a:schemeClr val="tx1">
                      <a:lumMod val="85000"/>
                      <a:lumOff val="15000"/>
                    </a:schemeClr>
                  </a:solidFill>
                  <a:latin typeface="맑은 고딕" panose="020B0503020000020004" pitchFamily="50" charset="-127"/>
                </a:rPr>
                <a:t>2025-12-25 10:30</a:t>
              </a:r>
            </a:p>
            <a:p>
              <a:pPr>
                <a:lnSpc>
                  <a:spcPct val="200000"/>
                </a:lnSpc>
              </a:pPr>
              <a:r>
                <a:rPr lang="ko-KR" altLang="en-US" sz="700" dirty="0" err="1">
                  <a:latin typeface="+mn-ea"/>
                </a:rPr>
                <a:t>개찰완료</a:t>
              </a:r>
              <a:endParaRPr lang="en-US" altLang="ko-KR" sz="700" dirty="0">
                <a:latin typeface="+mn-ea"/>
              </a:endParaRPr>
            </a:p>
          </p:txBody>
        </p:sp>
        <p:grpSp>
          <p:nvGrpSpPr>
            <p:cNvPr id="56" name="그룹 55"/>
            <p:cNvGrpSpPr/>
            <p:nvPr/>
          </p:nvGrpSpPr>
          <p:grpSpPr>
            <a:xfrm>
              <a:off x="3821510" y="1835481"/>
              <a:ext cx="2630093" cy="1503180"/>
              <a:chOff x="701175" y="1835481"/>
              <a:chExt cx="2630093" cy="1503180"/>
            </a:xfrm>
          </p:grpSpPr>
          <p:cxnSp>
            <p:nvCxnSpPr>
              <p:cNvPr id="57" name="직선 연결선 5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직선 연결선 5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9" name="직선 연결선 5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0" name="직선 연결선 5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1" name="직선 연결선 6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2" name="직선 연결선 6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3" name="직선 연결선 6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4" name="직선 연결선 6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41" name="타원 40">
            <a:extLst>
              <a:ext uri="{FF2B5EF4-FFF2-40B4-BE49-F238E27FC236}">
                <a16:creationId xmlns:a16="http://schemas.microsoft.com/office/drawing/2014/main" id="{37A7FF4F-0EAA-1463-560A-D5EC24416103}"/>
              </a:ext>
            </a:extLst>
          </p:cNvPr>
          <p:cNvSpPr/>
          <p:nvPr/>
        </p:nvSpPr>
        <p:spPr>
          <a:xfrm>
            <a:off x="571127" y="343032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82" name="사각형: 둥근 모서리 15">
            <a:extLst>
              <a:ext uri="{FF2B5EF4-FFF2-40B4-BE49-F238E27FC236}">
                <a16:creationId xmlns:a16="http://schemas.microsoft.com/office/drawing/2014/main" id="{E2B61CFB-AD16-68D0-8752-50D9C5E01971}"/>
              </a:ext>
            </a:extLst>
          </p:cNvPr>
          <p:cNvSpPr/>
          <p:nvPr/>
        </p:nvSpPr>
        <p:spPr>
          <a:xfrm>
            <a:off x="711214" y="5330583"/>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입찰결과 </a:t>
            </a:r>
            <a:r>
              <a:rPr kumimoji="1" lang="ko-KR" altLang="en-US" sz="800" kern="0" dirty="0" err="1">
                <a:latin typeface="맑은 고딕"/>
                <a:ea typeface="맑은 고딕" panose="020B0503020000020004" pitchFamily="50" charset="-127"/>
              </a:rPr>
              <a:t>바로가기</a:t>
            </a:r>
            <a:endParaRPr kumimoji="1" lang="en-US" sz="800" b="0" i="0" u="none" strike="noStrike" kern="0" cap="none" spc="0" normalizeH="0" baseline="0" noProof="0" dirty="0">
              <a:ln>
                <a:noFill/>
              </a:ln>
              <a:effectLst/>
              <a:uLnTx/>
              <a:uFillTx/>
              <a:latin typeface="맑은 고딕"/>
            </a:endParaRPr>
          </a:p>
        </p:txBody>
      </p:sp>
      <p:grpSp>
        <p:nvGrpSpPr>
          <p:cNvPr id="83" name="그룹 82"/>
          <p:cNvGrpSpPr/>
          <p:nvPr/>
        </p:nvGrpSpPr>
        <p:grpSpPr>
          <a:xfrm>
            <a:off x="716366" y="3757452"/>
            <a:ext cx="2630093" cy="1508105"/>
            <a:chOff x="3821510" y="1835481"/>
            <a:chExt cx="2630093" cy="1508105"/>
          </a:xfrm>
        </p:grpSpPr>
        <p:sp>
          <p:nvSpPr>
            <p:cNvPr id="84" name="직사각형 83"/>
            <p:cNvSpPr/>
            <p:nvPr/>
          </p:nvSpPr>
          <p:spPr>
            <a:xfrm>
              <a:off x="3823603" y="1835482"/>
              <a:ext cx="792000" cy="15031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5" name="TextBox 84">
              <a:extLst>
                <a:ext uri="{FF2B5EF4-FFF2-40B4-BE49-F238E27FC236}">
                  <a16:creationId xmlns:a16="http://schemas.microsoft.com/office/drawing/2014/main" id="{FFC49AEA-2A8F-250C-A86A-A7751D9706C3}"/>
                </a:ext>
              </a:extLst>
            </p:cNvPr>
            <p:cNvSpPr txBox="1"/>
            <p:nvPr/>
          </p:nvSpPr>
          <p:spPr>
            <a:xfrm>
              <a:off x="3910665" y="1835481"/>
              <a:ext cx="823463" cy="1508105"/>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재입찰자수</a:t>
              </a:r>
              <a:endParaRPr lang="en-US" altLang="ko-KR" sz="700" dirty="0">
                <a:latin typeface="+mn-ea"/>
              </a:endParaRPr>
            </a:p>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ko-KR" altLang="en-US" sz="700" dirty="0">
                  <a:latin typeface="+mn-ea"/>
                </a:rPr>
                <a:t>입찰서제출마감일시</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진행상태</a:t>
              </a:r>
            </a:p>
          </p:txBody>
        </p:sp>
        <p:sp>
          <p:nvSpPr>
            <p:cNvPr id="86" name="TextBox 85">
              <a:extLst>
                <a:ext uri="{FF2B5EF4-FFF2-40B4-BE49-F238E27FC236}">
                  <a16:creationId xmlns:a16="http://schemas.microsoft.com/office/drawing/2014/main" id="{FFC49AEA-2A8F-250C-A86A-A7751D9706C3}"/>
                </a:ext>
              </a:extLst>
            </p:cNvPr>
            <p:cNvSpPr txBox="1"/>
            <p:nvPr/>
          </p:nvSpPr>
          <p:spPr>
            <a:xfrm>
              <a:off x="4667515" y="1835481"/>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5678</a:t>
              </a:r>
            </a:p>
            <a:p>
              <a:pPr>
                <a:lnSpc>
                  <a:spcPct val="200000"/>
                </a:lnSpc>
              </a:pPr>
              <a:r>
                <a:rPr lang="en-US" altLang="ko-KR" sz="700" dirty="0">
                  <a:latin typeface="+mn-ea"/>
                </a:rPr>
                <a:t>100 </a:t>
              </a:r>
              <a:r>
                <a:rPr lang="ko-KR" altLang="en-US" sz="700" dirty="0">
                  <a:latin typeface="+mn-ea"/>
                </a:rPr>
                <a:t>명</a:t>
              </a:r>
              <a:endParaRPr lang="en-US" altLang="ko-KR" sz="700" dirty="0">
                <a:latin typeface="+mn-ea"/>
              </a:endParaRPr>
            </a:p>
            <a:p>
              <a:pPr>
                <a:lnSpc>
                  <a:spcPct val="200000"/>
                </a:lnSpc>
              </a:pPr>
              <a:r>
                <a:rPr lang="en-US" altLang="ko-KR" sz="700" dirty="0">
                  <a:latin typeface="+mn-ea"/>
                </a:rPr>
                <a:t>000 000 0000</a:t>
              </a:r>
            </a:p>
            <a:p>
              <a:pPr>
                <a:lnSpc>
                  <a:spcPct val="200000"/>
                </a:lnSpc>
              </a:pPr>
              <a:r>
                <a:rPr lang="en-US" altLang="ko-KR" sz="700" dirty="0">
                  <a:latin typeface="+mn-ea"/>
                </a:rPr>
                <a:t>2. </a:t>
              </a:r>
              <a:r>
                <a:rPr lang="ko-KR" altLang="en-US" sz="700" dirty="0" err="1">
                  <a:latin typeface="+mn-ea"/>
                </a:rPr>
                <a:t>공고명</a:t>
              </a:r>
              <a:r>
                <a:rPr lang="ko-KR" altLang="en-US" sz="700" dirty="0">
                  <a:latin typeface="+mn-ea"/>
                </a:rPr>
                <a:t> </a:t>
              </a:r>
              <a:r>
                <a:rPr lang="ko-KR" altLang="en-US" sz="700" dirty="0" err="1">
                  <a:latin typeface="+mn-ea"/>
                </a:rPr>
                <a:t>표시영역</a:t>
              </a:r>
              <a:endParaRPr lang="en-US" altLang="ko-KR" sz="700" dirty="0">
                <a:latin typeface="+mn-ea"/>
              </a:endParaRPr>
            </a:p>
            <a:p>
              <a:pPr>
                <a:lnSpc>
                  <a:spcPct val="200000"/>
                </a:lnSpc>
              </a:pPr>
              <a:r>
                <a:rPr lang="en-US" altLang="ko-KR" sz="700" dirty="0">
                  <a:solidFill>
                    <a:schemeClr val="tx1">
                      <a:lumMod val="85000"/>
                      <a:lumOff val="15000"/>
                    </a:schemeClr>
                  </a:solidFill>
                  <a:latin typeface="맑은 고딕" panose="020B0503020000020004" pitchFamily="50" charset="-127"/>
                </a:rPr>
                <a:t>2025-12-25 10:30</a:t>
              </a:r>
            </a:p>
            <a:p>
              <a:pPr>
                <a:lnSpc>
                  <a:spcPct val="200000"/>
                </a:lnSpc>
              </a:pPr>
              <a:r>
                <a:rPr lang="en-US" altLang="ko-KR" sz="700" dirty="0">
                  <a:solidFill>
                    <a:schemeClr val="tx1">
                      <a:lumMod val="85000"/>
                      <a:lumOff val="15000"/>
                    </a:schemeClr>
                  </a:solidFill>
                  <a:latin typeface="맑은 고딕" panose="020B0503020000020004" pitchFamily="50" charset="-127"/>
                </a:rPr>
                <a:t>2025-12-25 10:30</a:t>
              </a:r>
            </a:p>
            <a:p>
              <a:pPr>
                <a:lnSpc>
                  <a:spcPct val="200000"/>
                </a:lnSpc>
              </a:pPr>
              <a:r>
                <a:rPr lang="ko-KR" altLang="en-US" sz="700" dirty="0">
                  <a:latin typeface="+mn-ea"/>
                </a:rPr>
                <a:t>유찰</a:t>
              </a:r>
              <a:endParaRPr lang="en-US" altLang="ko-KR" sz="700" dirty="0">
                <a:latin typeface="+mn-ea"/>
              </a:endParaRPr>
            </a:p>
          </p:txBody>
        </p:sp>
        <p:grpSp>
          <p:nvGrpSpPr>
            <p:cNvPr id="87" name="그룹 86"/>
            <p:cNvGrpSpPr/>
            <p:nvPr/>
          </p:nvGrpSpPr>
          <p:grpSpPr>
            <a:xfrm>
              <a:off x="3821510" y="1835481"/>
              <a:ext cx="2630093" cy="1503180"/>
              <a:chOff x="701175" y="1835481"/>
              <a:chExt cx="2630093" cy="1503180"/>
            </a:xfrm>
          </p:grpSpPr>
          <p:cxnSp>
            <p:nvCxnSpPr>
              <p:cNvPr id="88" name="직선 연결선 8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직선 연결선 91">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96" name="타원 95">
            <a:extLst>
              <a:ext uri="{FF2B5EF4-FFF2-40B4-BE49-F238E27FC236}">
                <a16:creationId xmlns:a16="http://schemas.microsoft.com/office/drawing/2014/main" id="{37A7FF4F-0EAA-1463-560A-D5EC24416103}"/>
              </a:ext>
            </a:extLst>
          </p:cNvPr>
          <p:cNvSpPr/>
          <p:nvPr/>
        </p:nvSpPr>
        <p:spPr>
          <a:xfrm>
            <a:off x="571127" y="366410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225063202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46</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6" name="Text Box 73">
            <a:extLst>
              <a:ext uri="{FF2B5EF4-FFF2-40B4-BE49-F238E27FC236}">
                <a16:creationId xmlns:a16="http://schemas.microsoft.com/office/drawing/2014/main" id="{46580F3C-298C-6A2D-A867-6791062FB12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0" name="TextBox 9">
            <a:extLst>
              <a:ext uri="{FF2B5EF4-FFF2-40B4-BE49-F238E27FC236}">
                <a16:creationId xmlns:a16="http://schemas.microsoft.com/office/drawing/2014/main" id="{D2898AB1-8736-AB97-26CD-6A60F05FD8FF}"/>
              </a:ext>
            </a:extLst>
          </p:cNvPr>
          <p:cNvSpPr txBox="1"/>
          <p:nvPr/>
        </p:nvSpPr>
        <p:spPr>
          <a:xfrm>
            <a:off x="458117" y="804907"/>
            <a:ext cx="2663156"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입찰진행현황</a:t>
            </a:r>
            <a:r>
              <a:rPr lang="ko-KR" altLang="en-US" sz="900" dirty="0">
                <a:latin typeface="+mn-ea"/>
                <a:ea typeface="+mn-ea"/>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dlt_BidPrgrsPrst</a:t>
            </a:r>
            <a:r>
              <a:rPr lang="en-US" altLang="ko-KR" sz="900" b="1" dirty="0">
                <a:solidFill>
                  <a:prstClr val="black"/>
                </a:solidFill>
              </a:rPr>
              <a:t>)</a:t>
            </a:r>
            <a:endParaRPr lang="ko-KR" altLang="en-US" sz="900" b="1" dirty="0">
              <a:solidFill>
                <a:prstClr val="black"/>
              </a:solidFill>
            </a:endParaRPr>
          </a:p>
        </p:txBody>
      </p:sp>
      <p:graphicFrame>
        <p:nvGraphicFramePr>
          <p:cNvPr id="15" name="표 14">
            <a:extLst>
              <a:ext uri="{FF2B5EF4-FFF2-40B4-BE49-F238E27FC236}">
                <a16:creationId xmlns:a16="http://schemas.microsoft.com/office/drawing/2014/main" id="{8158A3C8-3B6B-4404-B962-72EAD2CB9801}"/>
              </a:ext>
            </a:extLst>
          </p:cNvPr>
          <p:cNvGraphicFramePr>
            <a:graphicFrameLocks noGrp="1"/>
          </p:cNvGraphicFramePr>
          <p:nvPr/>
        </p:nvGraphicFramePr>
        <p:xfrm>
          <a:off x="452999" y="1088661"/>
          <a:ext cx="8994883" cy="1723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15310">
                  <a:extLst>
                    <a:ext uri="{9D8B030D-6E8A-4147-A177-3AD203B41FA5}">
                      <a16:colId xmlns:a16="http://schemas.microsoft.com/office/drawing/2014/main" val="20001"/>
                    </a:ext>
                  </a:extLst>
                </a:gridCol>
                <a:gridCol w="383177">
                  <a:extLst>
                    <a:ext uri="{9D8B030D-6E8A-4147-A177-3AD203B41FA5}">
                      <a16:colId xmlns:a16="http://schemas.microsoft.com/office/drawing/2014/main" val="20002"/>
                    </a:ext>
                  </a:extLst>
                </a:gridCol>
                <a:gridCol w="505097">
                  <a:extLst>
                    <a:ext uri="{9D8B030D-6E8A-4147-A177-3AD203B41FA5}">
                      <a16:colId xmlns:a16="http://schemas.microsoft.com/office/drawing/2014/main" val="20003"/>
                    </a:ext>
                  </a:extLst>
                </a:gridCol>
                <a:gridCol w="496388">
                  <a:extLst>
                    <a:ext uri="{9D8B030D-6E8A-4147-A177-3AD203B41FA5}">
                      <a16:colId xmlns:a16="http://schemas.microsoft.com/office/drawing/2014/main" val="20004"/>
                    </a:ext>
                  </a:extLst>
                </a:gridCol>
                <a:gridCol w="244619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재입찰차수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rebidCycl</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재입찰차수</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748862"/>
                  </a:ext>
                </a:extLst>
              </a:tr>
              <a:tr h="0">
                <a:tc>
                  <a:txBody>
                    <a:bodyPr/>
                    <a:lstStyle/>
                    <a:p>
                      <a:pPr latinLnBrk="1"/>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4891604"/>
                  </a:ext>
                </a:extLst>
              </a:tr>
              <a:tr h="0">
                <a:tc>
                  <a:txBody>
                    <a:bodyPr/>
                    <a:lstStyle/>
                    <a:p>
                      <a:pPr latinLnBrk="1"/>
                      <a:r>
                        <a:rPr lang="ko-KR" altLang="en-US" sz="800" dirty="0">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tndrSbmsnDdlnDt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입찰서제출마감일시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yyyy</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-mm-dd </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hh:mm</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9603275"/>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Date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yyyy</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-mm-dd </a:t>
                      </a:r>
                      <a:r>
                        <a:rPr kumimoji="0" lang="en-US" altLang="ko-KR"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hh:mm</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9705551"/>
                  </a:ext>
                </a:extLst>
              </a:tr>
              <a:tr h="0">
                <a:tc>
                  <a:txBody>
                    <a:bodyPr/>
                    <a:lstStyle/>
                    <a:p>
                      <a:pPr latinLnBrk="1"/>
                      <a:r>
                        <a:rPr lang="ko-KR" altLang="en-US" sz="800" dirty="0">
                          <a:latin typeface="+mn-ea"/>
                          <a:ea typeface="+mn-ea"/>
                        </a:rPr>
                        <a:t>진행상태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bidStatNm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진행상태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 </a:t>
                      </a:r>
                      <a:r>
                        <a:rPr lang="en-US" altLang="ko-KR" sz="800" dirty="0">
                          <a:latin typeface="+mn-ea"/>
                          <a:ea typeface="+mn-ea"/>
                        </a:rPr>
                        <a:t>As-Is Alias </a:t>
                      </a:r>
                      <a:r>
                        <a:rPr lang="ko-KR" altLang="en-US" sz="800" dirty="0">
                          <a:latin typeface="+mn-ea"/>
                          <a:ea typeface="+mn-ea"/>
                        </a:rPr>
                        <a:t>항목 </a:t>
                      </a:r>
                      <a:endParaRPr lang="en-US" altLang="ko-KR" sz="800" dirty="0">
                        <a:latin typeface="+mn-ea"/>
                        <a:ea typeface="+mn-ea"/>
                      </a:endParaRPr>
                    </a:p>
                    <a:p>
                      <a:pPr marL="0" indent="0" algn="l" latinLnBrk="1">
                        <a:buFontTx/>
                        <a:buNone/>
                      </a:pPr>
                      <a:r>
                        <a:rPr lang="en-US" altLang="ko-KR" sz="800" dirty="0">
                          <a:latin typeface="+mn-ea"/>
                          <a:ea typeface="+mn-ea"/>
                        </a:rPr>
                        <a:t>- WTB_PDB316.</a:t>
                      </a:r>
                      <a:r>
                        <a:rPr lang="ko-KR" altLang="en-US" sz="800" dirty="0" err="1">
                          <a:latin typeface="+mn-ea"/>
                          <a:ea typeface="+mn-ea"/>
                        </a:rPr>
                        <a:t>입찰철</a:t>
                      </a:r>
                      <a:r>
                        <a:rPr lang="ko-KR" altLang="en-US" sz="800" dirty="0">
                          <a:latin typeface="+mn-ea"/>
                          <a:ea typeface="+mn-ea"/>
                        </a:rPr>
                        <a:t> 조건 </a:t>
                      </a:r>
                      <a:r>
                        <a:rPr lang="en-US" altLang="ko-KR" sz="800" dirty="0">
                          <a:latin typeface="+mn-ea"/>
                          <a:ea typeface="+mn-ea"/>
                        </a:rPr>
                        <a:t>Count</a:t>
                      </a:r>
                      <a:r>
                        <a:rPr lang="ko-KR" altLang="en-US" sz="800" dirty="0">
                          <a:latin typeface="+mn-ea"/>
                          <a:ea typeface="+mn-ea"/>
                        </a:rPr>
                        <a:t>에 따라 </a:t>
                      </a:r>
                      <a:r>
                        <a:rPr lang="en-US" altLang="ko-KR" sz="800" dirty="0">
                          <a:latin typeface="+mn-ea"/>
                          <a:ea typeface="+mn-ea"/>
                        </a:rPr>
                        <a:t>‘</a:t>
                      </a:r>
                      <a:r>
                        <a:rPr lang="ko-KR" altLang="en-US" sz="800" dirty="0" err="1">
                          <a:latin typeface="+mn-ea"/>
                          <a:ea typeface="+mn-ea"/>
                        </a:rPr>
                        <a:t>개찰전</a:t>
                      </a:r>
                      <a:r>
                        <a:rPr lang="en-US" altLang="ko-KR" sz="800" dirty="0">
                          <a:latin typeface="+mn-ea"/>
                          <a:ea typeface="+mn-ea"/>
                        </a:rPr>
                        <a:t>’, ‘</a:t>
                      </a:r>
                      <a:r>
                        <a:rPr lang="ko-KR" altLang="en-US" sz="800" dirty="0">
                          <a:latin typeface="+mn-ea"/>
                          <a:ea typeface="+mn-ea"/>
                        </a:rPr>
                        <a:t>개찰완료</a:t>
                      </a:r>
                      <a:r>
                        <a:rPr lang="en-US" altLang="ko-KR" sz="800" dirty="0">
                          <a:latin typeface="+mn-ea"/>
                          <a:ea typeface="+mn-ea"/>
                        </a:rPr>
                        <a:t>’</a:t>
                      </a:r>
                    </a:p>
                    <a:p>
                      <a:pPr marL="0" indent="0" algn="l" latinLnBrk="1">
                        <a:buFontTx/>
                        <a:buNone/>
                      </a:pPr>
                      <a:r>
                        <a:rPr lang="en-US" altLang="ko-KR" sz="800" dirty="0">
                          <a:latin typeface="+mn-ea"/>
                          <a:ea typeface="+mn-ea"/>
                        </a:rPr>
                        <a:t>- WTB_PDB905.</a:t>
                      </a:r>
                      <a:r>
                        <a:rPr lang="ko-KR" altLang="en-US" sz="800" dirty="0">
                          <a:latin typeface="+mn-ea"/>
                          <a:ea typeface="+mn-ea"/>
                        </a:rPr>
                        <a:t>재입찰 조건 </a:t>
                      </a:r>
                      <a:r>
                        <a:rPr lang="en-US" altLang="ko-KR" sz="800" dirty="0">
                          <a:latin typeface="+mn-ea"/>
                          <a:ea typeface="+mn-ea"/>
                        </a:rPr>
                        <a:t>Count</a:t>
                      </a:r>
                      <a:r>
                        <a:rPr lang="ko-KR" altLang="en-US" sz="800" dirty="0">
                          <a:latin typeface="+mn-ea"/>
                          <a:ea typeface="+mn-ea"/>
                        </a:rPr>
                        <a:t>에 따라 </a:t>
                      </a:r>
                      <a:r>
                        <a:rPr lang="en-US" altLang="ko-KR" sz="800" dirty="0">
                          <a:latin typeface="+mn-ea"/>
                          <a:ea typeface="+mn-ea"/>
                        </a:rPr>
                        <a:t>‘</a:t>
                      </a:r>
                      <a:r>
                        <a:rPr lang="ko-KR" altLang="en-US" sz="800" dirty="0">
                          <a:latin typeface="+mn-ea"/>
                          <a:ea typeface="+mn-ea"/>
                        </a:rPr>
                        <a:t>재입찰</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7760235"/>
                  </a:ext>
                </a:extLst>
              </a:tr>
            </a:tbl>
          </a:graphicData>
        </a:graphic>
      </p:graphicFrame>
      <p:graphicFrame>
        <p:nvGraphicFramePr>
          <p:cNvPr id="17" name="표 16">
            <a:extLst>
              <a:ext uri="{FF2B5EF4-FFF2-40B4-BE49-F238E27FC236}">
                <a16:creationId xmlns:a16="http://schemas.microsoft.com/office/drawing/2014/main" id="{DA8ADA3F-B9DA-2E61-D10A-0A023381A65A}"/>
              </a:ext>
            </a:extLst>
          </p:cNvPr>
          <p:cNvGraphicFramePr>
            <a:graphicFrameLocks noGrp="1"/>
          </p:cNvGraphicFramePr>
          <p:nvPr/>
        </p:nvGraphicFramePr>
        <p:xfrm>
          <a:off x="453000" y="3468049"/>
          <a:ext cx="8995591" cy="703680"/>
        </p:xfrm>
        <a:graphic>
          <a:graphicData uri="http://schemas.openxmlformats.org/drawingml/2006/table">
            <a:tbl>
              <a:tblPr>
                <a:tableStyleId>{616DA210-FB5B-4158-B5E0-FEB733F419BA}</a:tableStyleId>
              </a:tblPr>
              <a:tblGrid>
                <a:gridCol w="1114543">
                  <a:extLst>
                    <a:ext uri="{9D8B030D-6E8A-4147-A177-3AD203B41FA5}">
                      <a16:colId xmlns:a16="http://schemas.microsoft.com/office/drawing/2014/main" val="20000"/>
                    </a:ext>
                  </a:extLst>
                </a:gridCol>
                <a:gridCol w="1140031">
                  <a:extLst>
                    <a:ext uri="{9D8B030D-6E8A-4147-A177-3AD203B41FA5}">
                      <a16:colId xmlns:a16="http://schemas.microsoft.com/office/drawing/2014/main" val="624624882"/>
                    </a:ext>
                  </a:extLst>
                </a:gridCol>
                <a:gridCol w="3876106">
                  <a:extLst>
                    <a:ext uri="{9D8B030D-6E8A-4147-A177-3AD203B41FA5}">
                      <a16:colId xmlns:a16="http://schemas.microsoft.com/office/drawing/2014/main" val="20001"/>
                    </a:ext>
                  </a:extLst>
                </a:gridCol>
                <a:gridCol w="2864911">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공통코드정보를</a:t>
                      </a:r>
                      <a:r>
                        <a:rPr lang="ko-KR" altLang="en-US" sz="800" dirty="0">
                          <a:latin typeface="+mn-ea"/>
                          <a:ea typeface="+mn-ea"/>
                        </a:rPr>
                        <a:t> </a:t>
                      </a:r>
                      <a:r>
                        <a:rPr lang="ko-KR" altLang="en-US" sz="800" dirty="0" err="1">
                          <a:latin typeface="+mn-ea"/>
                          <a:ea typeface="+mn-ea"/>
                        </a:rPr>
                        <a:t>로드한다</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latin typeface="+mn-ea"/>
                        </a:rPr>
                        <a:t>바로가기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Scwin.btn_BidPrgrsPrstRslt_onclick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입찰결과상세화면으로 이동 처리한다</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 </a:t>
                      </a:r>
                      <a:r>
                        <a:rPr lang="ko-KR" altLang="en-US" sz="800" dirty="0">
                          <a:latin typeface="+mn-ea"/>
                          <a:ea typeface="+mn-ea"/>
                        </a:rPr>
                        <a:t>입찰진행상태가 </a:t>
                      </a:r>
                      <a:r>
                        <a:rPr lang="en-US" altLang="ko-KR" sz="800" dirty="0">
                          <a:latin typeface="+mn-ea"/>
                          <a:ea typeface="+mn-ea"/>
                        </a:rPr>
                        <a:t>‘</a:t>
                      </a:r>
                      <a:r>
                        <a:rPr lang="ko-KR" altLang="en-US" sz="800" dirty="0">
                          <a:latin typeface="+mn-ea"/>
                          <a:ea typeface="+mn-ea"/>
                        </a:rPr>
                        <a:t>개찰완료</a:t>
                      </a:r>
                      <a:r>
                        <a:rPr lang="en-US" altLang="ko-KR" sz="800" dirty="0">
                          <a:latin typeface="+mn-ea"/>
                          <a:ea typeface="+mn-ea"/>
                        </a:rPr>
                        <a:t>‘, ‘</a:t>
                      </a:r>
                      <a:r>
                        <a:rPr lang="ko-KR" altLang="en-US" sz="800" dirty="0">
                          <a:latin typeface="+mn-ea"/>
                          <a:ea typeface="+mn-ea"/>
                        </a:rPr>
                        <a:t>유찰</a:t>
                      </a:r>
                      <a:r>
                        <a:rPr lang="en-US" altLang="ko-KR" sz="800" dirty="0">
                          <a:latin typeface="+mn-ea"/>
                          <a:ea typeface="+mn-ea"/>
                        </a:rPr>
                        <a:t>‘ </a:t>
                      </a:r>
                      <a:r>
                        <a:rPr lang="ko-KR" altLang="en-US" sz="800" dirty="0">
                          <a:latin typeface="+mn-ea"/>
                          <a:ea typeface="+mn-ea"/>
                        </a:rPr>
                        <a:t>상태일 경우 활성화처리</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 </a:t>
                      </a:r>
                      <a:r>
                        <a:rPr lang="en-US" altLang="ko-KR" sz="800" dirty="0"/>
                        <a:t>UI-BD-09-M01 </a:t>
                      </a:r>
                      <a:r>
                        <a:rPr lang="ko-KR" altLang="en-US" sz="800" dirty="0" err="1"/>
                        <a:t>입찰결과상세</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971527"/>
                  </a:ext>
                </a:extLst>
              </a:tr>
            </a:tbl>
          </a:graphicData>
        </a:graphic>
      </p:graphicFrame>
      <p:sp>
        <p:nvSpPr>
          <p:cNvPr id="18" name="TextBox 17">
            <a:extLst>
              <a:ext uri="{FF2B5EF4-FFF2-40B4-BE49-F238E27FC236}">
                <a16:creationId xmlns:a16="http://schemas.microsoft.com/office/drawing/2014/main" id="{E266FB11-CB16-9C5B-5D0E-672EECE6BED6}"/>
              </a:ext>
            </a:extLst>
          </p:cNvPr>
          <p:cNvSpPr txBox="1"/>
          <p:nvPr/>
        </p:nvSpPr>
        <p:spPr>
          <a:xfrm>
            <a:off x="458117" y="318991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Tree>
    <p:extLst>
      <p:ext uri="{BB962C8B-B14F-4D97-AF65-F5344CB8AC3E}">
        <p14:creationId xmlns:p14="http://schemas.microsoft.com/office/powerpoint/2010/main" val="25806138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47</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3. </a:t>
            </a:r>
            <a:r>
              <a:rPr lang="ko-KR" altLang="en-US" dirty="0"/>
              <a:t>입찰공고 상세 기능 안내</a:t>
            </a:r>
            <a:endParaRPr lang="en-US" altLang="ko-KR" dirty="0"/>
          </a:p>
          <a:p>
            <a:r>
              <a:rPr lang="en-US" altLang="ko-KR" dirty="0"/>
              <a:t>3.1 </a:t>
            </a:r>
            <a:r>
              <a:rPr lang="ko-KR" altLang="en-US" dirty="0"/>
              <a:t>화면 목록</a:t>
            </a:r>
          </a:p>
        </p:txBody>
      </p:sp>
      <p:graphicFrame>
        <p:nvGraphicFramePr>
          <p:cNvPr id="5" name="표 4"/>
          <p:cNvGraphicFramePr>
            <a:graphicFrameLocks noGrp="1"/>
          </p:cNvGraphicFramePr>
          <p:nvPr/>
        </p:nvGraphicFramePr>
        <p:xfrm>
          <a:off x="635474" y="1413419"/>
          <a:ext cx="8701200" cy="177502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t"/>
                      <a:r>
                        <a:rPr lang="en-US" altLang="ko-KR" sz="700" b="0" i="0" u="none" strike="noStrike" dirty="0">
                          <a:solidFill>
                            <a:srgbClr val="000000"/>
                          </a:solidFill>
                          <a:effectLst/>
                          <a:latin typeface="+mn-ea"/>
                          <a:ea typeface="+mn-ea"/>
                        </a:rPr>
                        <a:t>MUI-BD-01-M07</a:t>
                      </a:r>
                      <a:endParaRPr lang="ko-KR" altLang="en-US" sz="7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r>
                        <a:rPr lang="ko-KR" altLang="en-US" sz="800" dirty="0">
                          <a:latin typeface="+mn-ea"/>
                          <a:ea typeface="+mn-ea"/>
                        </a:rPr>
                        <a:t>입찰 </a:t>
                      </a:r>
                      <a:r>
                        <a:rPr lang="ko-KR" altLang="en-US" sz="800" dirty="0" err="1">
                          <a:latin typeface="+mn-ea"/>
                          <a:ea typeface="+mn-ea"/>
                        </a:rPr>
                        <a:t>공고상세</a:t>
                      </a:r>
                      <a:endParaRPr lang="en-US" altLang="ko-KR" sz="800" dirty="0">
                        <a:latin typeface="+mn-ea"/>
                        <a:ea typeface="+mn-ea"/>
                      </a:endParaRPr>
                    </a:p>
                    <a:p>
                      <a:pPr latinLnBrk="1"/>
                      <a:r>
                        <a:rPr lang="en-US" altLang="ko-KR" sz="800" dirty="0">
                          <a:latin typeface="+mn-ea"/>
                          <a:ea typeface="+mn-ea"/>
                        </a:rPr>
                        <a:t>- </a:t>
                      </a:r>
                      <a:r>
                        <a:rPr lang="ko-KR" altLang="en-US" sz="800" dirty="0">
                          <a:latin typeface="+mn-ea"/>
                          <a:ea typeface="+mn-ea"/>
                        </a:rPr>
                        <a:t>일반정보</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sz="800" b="0" i="0" u="none" strike="noStrike" dirty="0" err="1">
                          <a:solidFill>
                            <a:schemeClr val="tx1"/>
                          </a:solidFill>
                          <a:effectLst/>
                          <a:latin typeface="+mn-lt"/>
                          <a:ea typeface="맑은 고딕" panose="020B0503020000020004" pitchFamily="50" charset="-127"/>
                        </a:rPr>
                        <a:t>BidPbancDtl</a:t>
                      </a:r>
                      <a:endParaRPr lang="en-US" sz="800" b="0" i="0" u="none" strike="noStrike" dirty="0">
                        <a:solidFill>
                          <a:schemeClr val="tx1"/>
                        </a:solidFill>
                        <a:effectLst/>
                        <a:latin typeface="+mn-lt"/>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탭 메뉴 </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공고 일반 정보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bidPbancDtl</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BidPbancDtl</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marL="0" marR="0" indent="0" algn="l" defTabSz="914400" rtl="0" eaLnBrk="1" fontAlgn="t" latinLnBrk="1" hangingPunct="1">
                        <a:lnSpc>
                          <a:spcPct val="100000"/>
                        </a:lnSpc>
                        <a:spcBef>
                          <a:spcPts val="0"/>
                        </a:spcBef>
                        <a:spcAft>
                          <a:spcPts val="0"/>
                        </a:spcAft>
                        <a:buClrTx/>
                        <a:buSzTx/>
                        <a:buFontTx/>
                        <a:buNone/>
                        <a:tabLst/>
                        <a:defRPr/>
                      </a:pPr>
                      <a:r>
                        <a:rPr lang="en-US" altLang="ko-KR" sz="700" b="0" i="0" u="none" strike="noStrike" dirty="0">
                          <a:solidFill>
                            <a:srgbClr val="000000"/>
                          </a:solidFill>
                          <a:effectLst/>
                          <a:latin typeface="+mn-ea"/>
                          <a:ea typeface="+mn-ea"/>
                        </a:rPr>
                        <a:t>MUI-BD-01-P13</a:t>
                      </a:r>
                      <a:endParaRPr lang="ko-KR" altLang="en-US" sz="7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관심공고</a:t>
                      </a:r>
                      <a:r>
                        <a:rPr lang="ko-KR" altLang="en-US" sz="800" kern="1200" dirty="0">
                          <a:solidFill>
                            <a:schemeClr val="tx1"/>
                          </a:solidFill>
                          <a:latin typeface="+mn-ea"/>
                          <a:ea typeface="+mn-ea"/>
                          <a:cs typeface="+mn-cs"/>
                        </a:rPr>
                        <a:t> 등록</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제외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chemeClr val="tx1"/>
                          </a:solidFill>
                          <a:effectLst/>
                          <a:latin typeface="+mn-lt"/>
                          <a:ea typeface="+mn-ea"/>
                        </a:rPr>
                        <a:t>Toast</a:t>
                      </a:r>
                      <a:endParaRPr lang="en-US" sz="800" b="1" i="0" u="none" strike="noStrike" dirty="0">
                        <a:solidFill>
                          <a:schemeClr val="tx1"/>
                        </a:solidFill>
                        <a:effectLst/>
                        <a:latin typeface="+mn-lt"/>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rPr>
                        <a:t>관심공고</a:t>
                      </a:r>
                      <a:r>
                        <a:rPr lang="ko-KR" altLang="en-US" sz="800" dirty="0">
                          <a:latin typeface="+mn-ea"/>
                        </a:rPr>
                        <a:t> 등록</a:t>
                      </a:r>
                      <a:r>
                        <a:rPr lang="en-US" altLang="ko-KR" sz="800" dirty="0">
                          <a:latin typeface="+mn-ea"/>
                        </a:rPr>
                        <a:t>, </a:t>
                      </a:r>
                      <a:r>
                        <a:rPr lang="ko-KR" altLang="en-US" sz="800" dirty="0">
                          <a:latin typeface="+mn-ea"/>
                        </a:rPr>
                        <a:t>제외 메시지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/common/composites/</a:t>
                      </a:r>
                      <a:r>
                        <a:rPr lang="en-US" altLang="ko-KR" sz="800" dirty="0" err="1">
                          <a:solidFill>
                            <a:schemeClr val="tx1"/>
                          </a:solidFill>
                          <a:latin typeface="+mn-ea"/>
                          <a:ea typeface="+mn-ea"/>
                        </a:rPr>
                        <a:t>Toast.tsx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l" fontAlgn="ctr"/>
                      <a:r>
                        <a:rPr lang="en-US" altLang="ko-KR" sz="700" b="0" i="0" u="none" strike="noStrike" dirty="0">
                          <a:solidFill>
                            <a:srgbClr val="000000"/>
                          </a:solidFill>
                          <a:effectLst/>
                          <a:latin typeface="+mn-ea"/>
                          <a:ea typeface="+mn-ea"/>
                        </a:rPr>
                        <a:t>MUI-BD-01-P14</a:t>
                      </a:r>
                      <a:endParaRPr lang="en-US" sz="7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서류 출력 확인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ea typeface="맑은 고딕" panose="020B0503020000020004" pitchFamily="50" charset="-127"/>
                        </a:rPr>
                        <a:t>DcmntOtptIdnty</a:t>
                      </a:r>
                      <a:endParaRPr lang="en-US" sz="800" b="0" i="0" u="none" strike="noStrike" dirty="0">
                        <a:solidFill>
                          <a:schemeClr val="tx1"/>
                        </a:solidFill>
                        <a:effectLst/>
                        <a:latin typeface="+mn-lt"/>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a:solidFill>
                            <a:schemeClr val="tx1"/>
                          </a:solidFill>
                          <a:latin typeface="+mn-ea"/>
                          <a:ea typeface="+mn-ea"/>
                          <a:cs typeface="+mn-cs"/>
                        </a:rPr>
                        <a:t>OZ </a:t>
                      </a:r>
                      <a:r>
                        <a:rPr lang="ko-KR" altLang="en-US" sz="800" kern="1200" dirty="0">
                          <a:solidFill>
                            <a:schemeClr val="tx1"/>
                          </a:solidFill>
                          <a:latin typeface="+mn-ea"/>
                          <a:ea typeface="+mn-ea"/>
                          <a:cs typeface="+mn-cs"/>
                        </a:rPr>
                        <a:t>리포트 연계 전 사용자 확인 팝업</a:t>
                      </a:r>
                      <a:r>
                        <a:rPr lang="en-US" altLang="ko-KR" sz="800" kern="1200" dirty="0">
                          <a:solidFill>
                            <a:schemeClr val="tx1"/>
                          </a:solidFill>
                          <a:latin typeface="+mn-ea"/>
                          <a:ea typeface="+mn-ea"/>
                          <a:cs typeface="+mn-cs"/>
                        </a:rPr>
                        <a:t> </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bidPbancDtl</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DcmntOtptIdnty</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algn="l" fontAlgn="ctr"/>
                      <a:r>
                        <a:rPr lang="en-US" sz="700" b="0" i="0" u="none" strike="noStrike" kern="1200" dirty="0">
                          <a:solidFill>
                            <a:srgbClr val="000000"/>
                          </a:solidFill>
                          <a:effectLst/>
                          <a:latin typeface="+mn-ea"/>
                          <a:ea typeface="+mn-ea"/>
                          <a:cs typeface="+mn-cs"/>
                        </a:rPr>
                        <a:t>MUI-CM-03-P19</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Calibri" panose="020F0502020204030204" pitchFamily="34" charset="0"/>
                        </a:rPr>
                        <a:t>로그인 필요 서비스 안내</a:t>
                      </a: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ea"/>
                          <a:ea typeface="+mn-ea"/>
                        </a:rPr>
                        <a:t>LgnSrvcInfo</a:t>
                      </a:r>
                      <a:endParaRPr lang="en-US" sz="800" b="0" i="0" u="none" strike="noStrike" dirty="0">
                        <a:solidFill>
                          <a:schemeClr val="tx1"/>
                        </a:solidFill>
                        <a:effectLst/>
                        <a:latin typeface="+mn-ea"/>
                        <a:ea typeface="+mn-ea"/>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비로그인</a:t>
                      </a:r>
                      <a:r>
                        <a:rPr lang="ko-KR" altLang="en-US" sz="800" kern="1200" dirty="0">
                          <a:solidFill>
                            <a:schemeClr val="tx1"/>
                          </a:solidFill>
                          <a:latin typeface="+mn-ea"/>
                          <a:ea typeface="+mn-ea"/>
                          <a:cs typeface="+mn-cs"/>
                        </a:rPr>
                        <a:t> 상태에서 로그인 서비스 사용 시도 시 노출되는 팝업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bidPbancDtl</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ea typeface="+mn-ea"/>
                        </a:rPr>
                        <a:t>LgnSrvcInfo</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713719"/>
                  </a:ext>
                </a:extLst>
              </a:tr>
              <a:tr h="180000">
                <a:tc>
                  <a:txBody>
                    <a:bodyPr/>
                    <a:lstStyle/>
                    <a:p>
                      <a:pPr algn="l" fontAlgn="ctr"/>
                      <a:r>
                        <a:rPr lang="en-US" altLang="ko-KR" sz="700" b="0" i="0" u="none" strike="noStrike" dirty="0">
                          <a:solidFill>
                            <a:srgbClr val="000000"/>
                          </a:solidFill>
                          <a:effectLst/>
                          <a:latin typeface="+mn-ea"/>
                          <a:ea typeface="+mn-ea"/>
                        </a:rPr>
                        <a:t>MUI-BD-01-R15</a:t>
                      </a:r>
                      <a:endParaRPr lang="en-US" altLang="ko-KR" sz="7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a:solidFill>
                            <a:schemeClr val="tx1"/>
                          </a:solidFill>
                          <a:latin typeface="+mn-ea"/>
                          <a:ea typeface="+mn-ea"/>
                          <a:cs typeface="+mn-cs"/>
                        </a:rPr>
                        <a:t>서류 출력 </a:t>
                      </a:r>
                      <a:r>
                        <a:rPr lang="en-US" altLang="ko-KR" sz="800" kern="1200" dirty="0">
                          <a:solidFill>
                            <a:schemeClr val="tx1"/>
                          </a:solidFill>
                          <a:latin typeface="+mn-ea"/>
                          <a:ea typeface="+mn-ea"/>
                          <a:cs typeface="+mn-cs"/>
                        </a:rPr>
                        <a:t>- OZ</a:t>
                      </a:r>
                      <a:r>
                        <a:rPr lang="ko-KR" altLang="en-US" sz="800" kern="1200" dirty="0">
                          <a:solidFill>
                            <a:schemeClr val="tx1"/>
                          </a:solidFill>
                          <a:latin typeface="+mn-ea"/>
                          <a:ea typeface="+mn-ea"/>
                          <a:cs typeface="+mn-cs"/>
                        </a:rPr>
                        <a:t>리포트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sz="800" b="0" i="0" u="none" strike="noStrike" dirty="0" err="1">
                          <a:solidFill>
                            <a:schemeClr val="tx1"/>
                          </a:solidFill>
                          <a:effectLst/>
                          <a:latin typeface="+mn-lt"/>
                          <a:ea typeface="맑은 고딕" panose="020B0503020000020004" pitchFamily="50" charset="-127"/>
                        </a:rPr>
                        <a:t>DcmntOtpt</a:t>
                      </a:r>
                      <a:endParaRPr lang="en-US" sz="800" b="0" i="0" u="none" strike="noStrike" dirty="0">
                        <a:solidFill>
                          <a:schemeClr val="tx1"/>
                        </a:solidFill>
                        <a:effectLst/>
                        <a:latin typeface="+mn-lt"/>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dirty="0"/>
                        <a:t>출력이 가능한 화면에서 </a:t>
                      </a:r>
                      <a:r>
                        <a:rPr lang="en-US" altLang="ko-KR" sz="800" dirty="0"/>
                        <a:t>OZ </a:t>
                      </a:r>
                      <a:r>
                        <a:rPr lang="ko-KR" altLang="en-US" sz="800" dirty="0"/>
                        <a:t>리포트 호출 화면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bidPbancDtl</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DcmntOtpt</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451902935"/>
                  </a:ext>
                </a:extLst>
              </a:tr>
            </a:tbl>
          </a:graphicData>
        </a:graphic>
      </p:graphicFrame>
      <p:sp>
        <p:nvSpPr>
          <p:cNvPr id="6"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0189615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48</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3.2. </a:t>
            </a:r>
            <a:r>
              <a:rPr lang="ko-KR" altLang="en-US" dirty="0"/>
              <a:t>화면 흐름도 </a:t>
            </a:r>
            <a:r>
              <a:rPr lang="en-US" altLang="ko-KR" dirty="0"/>
              <a:t>– </a:t>
            </a:r>
            <a:r>
              <a:rPr lang="ko-KR" altLang="en-US" dirty="0"/>
              <a:t>입찰 공고 상세 기능</a:t>
            </a: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70" idx="1"/>
          </p:cNvCxnSpPr>
          <p:nvPr/>
        </p:nvCxnSpPr>
        <p:spPr>
          <a:xfrm>
            <a:off x="143547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22" name="사각형: 둥근 모서리 5">
            <a:extLst>
              <a:ext uri="{FF2B5EF4-FFF2-40B4-BE49-F238E27FC236}">
                <a16:creationId xmlns:a16="http://schemas.microsoft.com/office/drawing/2014/main" id="{410E5459-200D-7630-863C-88E5109259DF}"/>
              </a:ext>
            </a:extLst>
          </p:cNvPr>
          <p:cNvSpPr/>
          <p:nvPr/>
        </p:nvSpPr>
        <p:spPr>
          <a:xfrm>
            <a:off x="7860010" y="163067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관심공고</a:t>
            </a:r>
            <a:endParaRPr lang="en-US" altLang="ko-KR" sz="800" dirty="0">
              <a:solidFill>
                <a:schemeClr val="tx1"/>
              </a:solidFill>
            </a:endParaRPr>
          </a:p>
          <a:p>
            <a:pPr algn="ctr"/>
            <a:r>
              <a:rPr lang="ko-KR" altLang="en-US" sz="800" dirty="0">
                <a:solidFill>
                  <a:schemeClr val="tx1"/>
                </a:solidFill>
              </a:rPr>
              <a:t>등록</a:t>
            </a:r>
            <a:r>
              <a:rPr lang="en-US" altLang="ko-KR" sz="800" dirty="0">
                <a:solidFill>
                  <a:schemeClr val="tx1"/>
                </a:solidFill>
              </a:rPr>
              <a:t>/</a:t>
            </a:r>
            <a:r>
              <a:rPr lang="ko-KR" altLang="en-US" sz="800" dirty="0">
                <a:solidFill>
                  <a:schemeClr val="tx1"/>
                </a:solidFill>
              </a:rPr>
              <a:t>제외</a:t>
            </a:r>
            <a:r>
              <a:rPr lang="en-US" altLang="ko-KR" sz="800" dirty="0">
                <a:solidFill>
                  <a:schemeClr val="tx1"/>
                </a:solidFill>
              </a:rPr>
              <a:t> </a:t>
            </a:r>
            <a:r>
              <a:rPr lang="ko-KR" altLang="en-US" sz="800" dirty="0">
                <a:solidFill>
                  <a:schemeClr val="tx1"/>
                </a:solidFill>
              </a:rPr>
              <a:t>메시지</a:t>
            </a:r>
          </a:p>
        </p:txBody>
      </p:sp>
      <p:sp>
        <p:nvSpPr>
          <p:cNvPr id="70"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 공고 상세</a:t>
            </a:r>
          </a:p>
        </p:txBody>
      </p:sp>
      <p:sp>
        <p:nvSpPr>
          <p:cNvPr id="109" name="다이아몬드 108"/>
          <p:cNvSpPr/>
          <p:nvPr/>
        </p:nvSpPr>
        <p:spPr>
          <a:xfrm>
            <a:off x="6028876" y="1630678"/>
            <a:ext cx="900000" cy="288000"/>
          </a:xfrm>
          <a:prstGeom prst="diamond">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로그인</a:t>
            </a:r>
          </a:p>
        </p:txBody>
      </p:sp>
      <p:sp>
        <p:nvSpPr>
          <p:cNvPr id="112" name="직사각형 111">
            <a:extLst>
              <a:ext uri="{FF2B5EF4-FFF2-40B4-BE49-F238E27FC236}">
                <a16:creationId xmlns:a16="http://schemas.microsoft.com/office/drawing/2014/main" id="{F249990F-1DE5-C694-BDBD-2DE7009D57EA}"/>
              </a:ext>
            </a:extLst>
          </p:cNvPr>
          <p:cNvSpPr/>
          <p:nvPr/>
        </p:nvSpPr>
        <p:spPr>
          <a:xfrm>
            <a:off x="6832448" y="1521745"/>
            <a:ext cx="5770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Y</a:t>
            </a:r>
            <a:endParaRPr lang="ko-KR" altLang="en-US" sz="800" dirty="0">
              <a:solidFill>
                <a:schemeClr val="tx1"/>
              </a:solidFill>
            </a:endParaRPr>
          </a:p>
        </p:txBody>
      </p:sp>
      <p:sp>
        <p:nvSpPr>
          <p:cNvPr id="113" name="사각형: 둥근 모서리 5">
            <a:extLst>
              <a:ext uri="{FF2B5EF4-FFF2-40B4-BE49-F238E27FC236}">
                <a16:creationId xmlns:a16="http://schemas.microsoft.com/office/drawing/2014/main" id="{410E5459-200D-7630-863C-88E5109259DF}"/>
              </a:ext>
            </a:extLst>
          </p:cNvPr>
          <p:cNvSpPr/>
          <p:nvPr/>
        </p:nvSpPr>
        <p:spPr>
          <a:xfrm>
            <a:off x="6028876" y="23094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a:solidFill>
                  <a:schemeClr val="tx1"/>
                </a:solidFill>
              </a:rPr>
              <a:t>로그인 안내</a:t>
            </a:r>
            <a:endParaRPr lang="ko-KR" altLang="en-US" sz="800" dirty="0">
              <a:solidFill>
                <a:schemeClr val="tx1"/>
              </a:solidFill>
            </a:endParaRPr>
          </a:p>
        </p:txBody>
      </p:sp>
      <p:cxnSp>
        <p:nvCxnSpPr>
          <p:cNvPr id="114" name="직선 화살표 연결선 113">
            <a:extLst>
              <a:ext uri="{FF2B5EF4-FFF2-40B4-BE49-F238E27FC236}">
                <a16:creationId xmlns:a16="http://schemas.microsoft.com/office/drawing/2014/main" id="{9A519F08-B829-E35F-09D8-DFCD1F68B911}"/>
              </a:ext>
            </a:extLst>
          </p:cNvPr>
          <p:cNvCxnSpPr>
            <a:cxnSpLocks/>
            <a:stCxn id="109" idx="2"/>
            <a:endCxn id="113" idx="0"/>
          </p:cNvCxnSpPr>
          <p:nvPr/>
        </p:nvCxnSpPr>
        <p:spPr>
          <a:xfrm>
            <a:off x="6478876" y="1918678"/>
            <a:ext cx="0" cy="39078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5" name="직사각형 114">
            <a:extLst>
              <a:ext uri="{FF2B5EF4-FFF2-40B4-BE49-F238E27FC236}">
                <a16:creationId xmlns:a16="http://schemas.microsoft.com/office/drawing/2014/main" id="{F249990F-1DE5-C694-BDBD-2DE7009D57EA}"/>
              </a:ext>
            </a:extLst>
          </p:cNvPr>
          <p:cNvSpPr/>
          <p:nvPr/>
        </p:nvSpPr>
        <p:spPr>
          <a:xfrm>
            <a:off x="6572315" y="2142861"/>
            <a:ext cx="7854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N</a:t>
            </a:r>
            <a:endParaRPr lang="ko-KR" altLang="en-US" sz="800" dirty="0">
              <a:solidFill>
                <a:schemeClr val="tx1"/>
              </a:solidFill>
            </a:endParaRPr>
          </a:p>
        </p:txBody>
      </p:sp>
      <p:sp>
        <p:nvSpPr>
          <p:cNvPr id="116" name="직사각형 115">
            <a:extLst>
              <a:ext uri="{FF2B5EF4-FFF2-40B4-BE49-F238E27FC236}">
                <a16:creationId xmlns:a16="http://schemas.microsoft.com/office/drawing/2014/main" id="{4FB9FCCA-B5F3-C0E2-F563-4F0CE0FC24CF}"/>
              </a:ext>
            </a:extLst>
          </p:cNvPr>
          <p:cNvSpPr/>
          <p:nvPr/>
        </p:nvSpPr>
        <p:spPr>
          <a:xfrm>
            <a:off x="8182005" y="2558474"/>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117" name="그룹 116">
            <a:extLst>
              <a:ext uri="{FF2B5EF4-FFF2-40B4-BE49-F238E27FC236}">
                <a16:creationId xmlns:a16="http://schemas.microsoft.com/office/drawing/2014/main" id="{E7279F6C-9434-7961-8F6B-B7AE44CE5FCD}"/>
              </a:ext>
            </a:extLst>
          </p:cNvPr>
          <p:cNvGrpSpPr/>
          <p:nvPr/>
        </p:nvGrpSpPr>
        <p:grpSpPr>
          <a:xfrm>
            <a:off x="8211002" y="2363464"/>
            <a:ext cx="180000" cy="180000"/>
            <a:chOff x="5058274" y="2498299"/>
            <a:chExt cx="180000" cy="180000"/>
          </a:xfrm>
        </p:grpSpPr>
        <p:sp>
          <p:nvSpPr>
            <p:cNvPr id="118" name="타원 117">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타원 118">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120" name="직선 화살표 연결선 119">
            <a:extLst>
              <a:ext uri="{FF2B5EF4-FFF2-40B4-BE49-F238E27FC236}">
                <a16:creationId xmlns:a16="http://schemas.microsoft.com/office/drawing/2014/main" id="{9A519F08-B829-E35F-09D8-DFCD1F68B911}"/>
              </a:ext>
            </a:extLst>
          </p:cNvPr>
          <p:cNvCxnSpPr>
            <a:cxnSpLocks/>
            <a:stCxn id="113" idx="3"/>
            <a:endCxn id="118" idx="2"/>
          </p:cNvCxnSpPr>
          <p:nvPr/>
        </p:nvCxnSpPr>
        <p:spPr>
          <a:xfrm>
            <a:off x="6928876" y="2453464"/>
            <a:ext cx="128212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직선 화살표 연결선 120">
            <a:extLst>
              <a:ext uri="{FF2B5EF4-FFF2-40B4-BE49-F238E27FC236}">
                <a16:creationId xmlns:a16="http://schemas.microsoft.com/office/drawing/2014/main" id="{9A519F08-B829-E35F-09D8-DFCD1F68B911}"/>
              </a:ext>
            </a:extLst>
          </p:cNvPr>
          <p:cNvCxnSpPr>
            <a:cxnSpLocks/>
            <a:stCxn id="70" idx="3"/>
          </p:cNvCxnSpPr>
          <p:nvPr/>
        </p:nvCxnSpPr>
        <p:spPr>
          <a:xfrm>
            <a:off x="3266608" y="1772964"/>
            <a:ext cx="93113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8" name="사각형: 둥근 모서리 5">
            <a:extLst>
              <a:ext uri="{FF2B5EF4-FFF2-40B4-BE49-F238E27FC236}">
                <a16:creationId xmlns:a16="http://schemas.microsoft.com/office/drawing/2014/main" id="{410E5459-200D-7630-863C-88E5109259DF}"/>
              </a:ext>
            </a:extLst>
          </p:cNvPr>
          <p:cNvSpPr/>
          <p:nvPr/>
        </p:nvSpPr>
        <p:spPr>
          <a:xfrm>
            <a:off x="4197742" y="163067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관심공고</a:t>
            </a:r>
            <a:endParaRPr lang="en-US" altLang="ko-KR" sz="800" dirty="0">
              <a:solidFill>
                <a:schemeClr val="tx1"/>
              </a:solidFill>
            </a:endParaRPr>
          </a:p>
          <a:p>
            <a:pPr algn="ctr"/>
            <a:r>
              <a:rPr lang="ko-KR" altLang="en-US" sz="800" dirty="0">
                <a:solidFill>
                  <a:schemeClr val="tx1"/>
                </a:solidFill>
              </a:rPr>
              <a:t>버튼 클릭</a:t>
            </a:r>
          </a:p>
        </p:txBody>
      </p:sp>
      <p:cxnSp>
        <p:nvCxnSpPr>
          <p:cNvPr id="151" name="직선 화살표 연결선 150">
            <a:extLst>
              <a:ext uri="{FF2B5EF4-FFF2-40B4-BE49-F238E27FC236}">
                <a16:creationId xmlns:a16="http://schemas.microsoft.com/office/drawing/2014/main" id="{9A519F08-B829-E35F-09D8-DFCD1F68B911}"/>
              </a:ext>
            </a:extLst>
          </p:cNvPr>
          <p:cNvCxnSpPr>
            <a:cxnSpLocks/>
            <a:stCxn id="109" idx="3"/>
            <a:endCxn id="22" idx="1"/>
          </p:cNvCxnSpPr>
          <p:nvPr/>
        </p:nvCxnSpPr>
        <p:spPr>
          <a:xfrm>
            <a:off x="6928876" y="1774678"/>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2" name="직사각형 61">
            <a:extLst>
              <a:ext uri="{FF2B5EF4-FFF2-40B4-BE49-F238E27FC236}">
                <a16:creationId xmlns:a16="http://schemas.microsoft.com/office/drawing/2014/main" id="{23C86455-E84C-0CEA-5C6B-05BE50ADCEF5}"/>
              </a:ext>
            </a:extLst>
          </p:cNvPr>
          <p:cNvSpPr/>
          <p:nvPr/>
        </p:nvSpPr>
        <p:spPr>
          <a:xfrm>
            <a:off x="1191585"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cxnSp>
        <p:nvCxnSpPr>
          <p:cNvPr id="54" name="직선 화살표 연결선 53">
            <a:extLst>
              <a:ext uri="{FF2B5EF4-FFF2-40B4-BE49-F238E27FC236}">
                <a16:creationId xmlns:a16="http://schemas.microsoft.com/office/drawing/2014/main" id="{9A519F08-B829-E35F-09D8-DFCD1F68B911}"/>
              </a:ext>
            </a:extLst>
          </p:cNvPr>
          <p:cNvCxnSpPr>
            <a:cxnSpLocks/>
            <a:stCxn id="138" idx="3"/>
            <a:endCxn id="109" idx="1"/>
          </p:cNvCxnSpPr>
          <p:nvPr/>
        </p:nvCxnSpPr>
        <p:spPr>
          <a:xfrm>
            <a:off x="5097742" y="1774678"/>
            <a:ext cx="93113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3" name="연결선: 꺾임 7">
            <a:extLst>
              <a:ext uri="{FF2B5EF4-FFF2-40B4-BE49-F238E27FC236}">
                <a16:creationId xmlns:a16="http://schemas.microsoft.com/office/drawing/2014/main" id="{89A2D828-4C18-4F90-6B31-722E89773AA8}"/>
              </a:ext>
            </a:extLst>
          </p:cNvPr>
          <p:cNvCxnSpPr>
            <a:cxnSpLocks/>
            <a:stCxn id="22" idx="3"/>
            <a:endCxn id="118" idx="6"/>
          </p:cNvCxnSpPr>
          <p:nvPr/>
        </p:nvCxnSpPr>
        <p:spPr>
          <a:xfrm flipH="1">
            <a:off x="8391002" y="1774678"/>
            <a:ext cx="369008" cy="678786"/>
          </a:xfrm>
          <a:prstGeom prst="bentConnector3">
            <a:avLst>
              <a:gd name="adj1" fmla="val -6195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연결선: 꺾임 7">
            <a:extLst>
              <a:ext uri="{FF2B5EF4-FFF2-40B4-BE49-F238E27FC236}">
                <a16:creationId xmlns:a16="http://schemas.microsoft.com/office/drawing/2014/main" id="{89A2D828-4C18-4F90-6B31-722E89773AA8}"/>
              </a:ext>
            </a:extLst>
          </p:cNvPr>
          <p:cNvCxnSpPr>
            <a:cxnSpLocks/>
            <a:stCxn id="70" idx="3"/>
            <a:endCxn id="69" idx="1"/>
          </p:cNvCxnSpPr>
          <p:nvPr/>
        </p:nvCxnSpPr>
        <p:spPr>
          <a:xfrm>
            <a:off x="3266608" y="1772964"/>
            <a:ext cx="931134" cy="145234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사각형: 둥근 모서리 5">
            <a:extLst>
              <a:ext uri="{FF2B5EF4-FFF2-40B4-BE49-F238E27FC236}">
                <a16:creationId xmlns:a16="http://schemas.microsoft.com/office/drawing/2014/main" id="{410E5459-200D-7630-863C-88E5109259DF}"/>
              </a:ext>
            </a:extLst>
          </p:cNvPr>
          <p:cNvSpPr/>
          <p:nvPr/>
        </p:nvSpPr>
        <p:spPr>
          <a:xfrm>
            <a:off x="6028876" y="307824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서류 출력</a:t>
            </a:r>
            <a:endParaRPr lang="en-US" altLang="ko-KR" sz="800" dirty="0">
              <a:solidFill>
                <a:schemeClr val="tx1"/>
              </a:solidFill>
            </a:endParaRPr>
          </a:p>
          <a:p>
            <a:pPr algn="ctr"/>
            <a:r>
              <a:rPr lang="ko-KR" altLang="en-US" sz="800" dirty="0">
                <a:solidFill>
                  <a:schemeClr val="tx1"/>
                </a:solidFill>
              </a:rPr>
              <a:t>확인 팝업</a:t>
            </a:r>
          </a:p>
        </p:txBody>
      </p:sp>
      <p:sp>
        <p:nvSpPr>
          <p:cNvPr id="69" name="사각형: 둥근 모서리 5">
            <a:extLst>
              <a:ext uri="{FF2B5EF4-FFF2-40B4-BE49-F238E27FC236}">
                <a16:creationId xmlns:a16="http://schemas.microsoft.com/office/drawing/2014/main" id="{410E5459-200D-7630-863C-88E5109259DF}"/>
              </a:ext>
            </a:extLst>
          </p:cNvPr>
          <p:cNvSpPr/>
          <p:nvPr/>
        </p:nvSpPr>
        <p:spPr>
          <a:xfrm>
            <a:off x="4197742" y="308130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출력 클릭</a:t>
            </a:r>
          </a:p>
        </p:txBody>
      </p:sp>
      <p:cxnSp>
        <p:nvCxnSpPr>
          <p:cNvPr id="71" name="직선 화살표 연결선 70">
            <a:extLst>
              <a:ext uri="{FF2B5EF4-FFF2-40B4-BE49-F238E27FC236}">
                <a16:creationId xmlns:a16="http://schemas.microsoft.com/office/drawing/2014/main" id="{9A519F08-B829-E35F-09D8-DFCD1F68B911}"/>
              </a:ext>
            </a:extLst>
          </p:cNvPr>
          <p:cNvCxnSpPr>
            <a:cxnSpLocks/>
            <a:stCxn id="69" idx="3"/>
            <a:endCxn id="68" idx="1"/>
          </p:cNvCxnSpPr>
          <p:nvPr/>
        </p:nvCxnSpPr>
        <p:spPr>
          <a:xfrm flipV="1">
            <a:off x="5097742" y="3222249"/>
            <a:ext cx="931134" cy="3059"/>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4" name="연결선: 꺾임 7">
            <a:extLst>
              <a:ext uri="{FF2B5EF4-FFF2-40B4-BE49-F238E27FC236}">
                <a16:creationId xmlns:a16="http://schemas.microsoft.com/office/drawing/2014/main" id="{89A2D828-4C18-4F90-6B31-722E89773AA8}"/>
              </a:ext>
            </a:extLst>
          </p:cNvPr>
          <p:cNvCxnSpPr>
            <a:cxnSpLocks/>
            <a:stCxn id="79" idx="3"/>
            <a:endCxn id="118" idx="6"/>
          </p:cNvCxnSpPr>
          <p:nvPr/>
        </p:nvCxnSpPr>
        <p:spPr>
          <a:xfrm flipH="1" flipV="1">
            <a:off x="8391002" y="2453464"/>
            <a:ext cx="369008" cy="768785"/>
          </a:xfrm>
          <a:prstGeom prst="bentConnector3">
            <a:avLst>
              <a:gd name="adj1" fmla="val -6195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사각형: 둥근 모서리 5">
            <a:extLst>
              <a:ext uri="{FF2B5EF4-FFF2-40B4-BE49-F238E27FC236}">
                <a16:creationId xmlns:a16="http://schemas.microsoft.com/office/drawing/2014/main" id="{410E5459-200D-7630-863C-88E5109259DF}"/>
              </a:ext>
            </a:extLst>
          </p:cNvPr>
          <p:cNvSpPr/>
          <p:nvPr/>
        </p:nvSpPr>
        <p:spPr>
          <a:xfrm>
            <a:off x="7860010" y="307824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ko-KR" sz="800" dirty="0">
                <a:solidFill>
                  <a:schemeClr val="tx1"/>
                </a:solidFill>
              </a:rPr>
              <a:t>OZ </a:t>
            </a:r>
            <a:r>
              <a:rPr lang="ko-KR" altLang="en-US" sz="800" dirty="0">
                <a:solidFill>
                  <a:schemeClr val="tx1"/>
                </a:solidFill>
              </a:rPr>
              <a:t>뷰어</a:t>
            </a:r>
          </a:p>
        </p:txBody>
      </p:sp>
      <p:cxnSp>
        <p:nvCxnSpPr>
          <p:cNvPr id="86" name="직선 화살표 연결선 85">
            <a:extLst>
              <a:ext uri="{FF2B5EF4-FFF2-40B4-BE49-F238E27FC236}">
                <a16:creationId xmlns:a16="http://schemas.microsoft.com/office/drawing/2014/main" id="{9A519F08-B829-E35F-09D8-DFCD1F68B911}"/>
              </a:ext>
            </a:extLst>
          </p:cNvPr>
          <p:cNvCxnSpPr>
            <a:cxnSpLocks/>
            <a:stCxn id="68" idx="3"/>
            <a:endCxn id="79" idx="1"/>
          </p:cNvCxnSpPr>
          <p:nvPr/>
        </p:nvCxnSpPr>
        <p:spPr>
          <a:xfrm>
            <a:off x="6928876" y="3222249"/>
            <a:ext cx="93113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46742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49</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3.3 </a:t>
            </a:r>
            <a:r>
              <a:rPr lang="ko-KR" altLang="en-US" dirty="0"/>
              <a:t>앱 구성 다이어그램</a:t>
            </a:r>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850693"/>
            <a:ext cx="1727200" cy="63676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solidFill>
                  <a:schemeClr val="tx1"/>
                </a:solidFill>
              </a:rPr>
              <a:t>&lt;&lt;App Page&gt;&gt;</a:t>
            </a:r>
          </a:p>
          <a:p>
            <a:pPr algn="ctr"/>
            <a:r>
              <a:rPr lang="ko-KR" altLang="en-US" sz="1100" dirty="0">
                <a:solidFill>
                  <a:schemeClr val="tx1"/>
                </a:solidFill>
                <a:latin typeface="+mn-ea"/>
              </a:rPr>
              <a:t>입찰공고상세</a:t>
            </a:r>
            <a:endParaRPr lang="en-US" altLang="ko-KR" sz="1100" dirty="0">
              <a:solidFill>
                <a:schemeClr val="tx1"/>
              </a:solidFill>
            </a:endParaRPr>
          </a:p>
          <a:p>
            <a:pPr algn="ctr"/>
            <a:r>
              <a:rPr lang="en-US" altLang="ko-KR" sz="1100" dirty="0">
                <a:solidFill>
                  <a:schemeClr val="tx1"/>
                </a:solidFill>
              </a:rPr>
              <a:t>BidPbancDtl.tsx</a:t>
            </a:r>
            <a:r>
              <a:rPr lang="en-US" altLang="ko-KR" sz="1100" b="1" baseline="30000" dirty="0">
                <a:solidFill>
                  <a:schemeClr val="tx1"/>
                </a:solidFill>
                <a:latin typeface="+mn-ea"/>
              </a:rPr>
              <a:t>1)</a:t>
            </a:r>
            <a:endParaRPr lang="en-US" altLang="ko-KR" sz="110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684741"/>
            <a:ext cx="1727200" cy="63676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solidFill>
                  <a:schemeClr val="tx1"/>
                </a:solidFill>
              </a:rPr>
              <a:t>&lt;&lt;App Page&gt;&gt;</a:t>
            </a:r>
          </a:p>
          <a:p>
            <a:pPr algn="ctr"/>
            <a:r>
              <a:rPr lang="ko-KR" altLang="en-US" sz="1100" dirty="0" err="1">
                <a:solidFill>
                  <a:schemeClr val="tx1"/>
                </a:solidFill>
                <a:latin typeface="+mn-ea"/>
              </a:rPr>
              <a:t>관심공고</a:t>
            </a:r>
            <a:endParaRPr lang="en-US" altLang="ko-KR" sz="1100" dirty="0">
              <a:solidFill>
                <a:schemeClr val="tx1"/>
              </a:solidFill>
            </a:endParaRPr>
          </a:p>
          <a:p>
            <a:pPr algn="ctr"/>
            <a:r>
              <a:rPr lang="en-US" altLang="ko-KR" sz="1100" dirty="0">
                <a:solidFill>
                  <a:schemeClr val="tx1"/>
                </a:solidFill>
              </a:rPr>
              <a:t>Toast.tsx</a:t>
            </a:r>
            <a:r>
              <a:rPr lang="en-US" altLang="ko-KR" sz="1100" b="1" baseline="30000" dirty="0">
                <a:solidFill>
                  <a:schemeClr val="tx1"/>
                </a:solidFill>
                <a:latin typeface="+mn-ea"/>
              </a:rPr>
              <a:t>1)</a:t>
            </a:r>
            <a:endParaRPr lang="en-US" altLang="ko-KR" sz="110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265382" y="3518789"/>
            <a:ext cx="1727200" cy="63676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solidFill>
                  <a:schemeClr val="tx1"/>
                </a:solidFill>
              </a:rPr>
              <a:t>&lt;&lt;App Page&gt;&gt;</a:t>
            </a:r>
          </a:p>
          <a:p>
            <a:pPr algn="ctr"/>
            <a:r>
              <a:rPr lang="ko-KR" altLang="en-US" sz="1100" dirty="0">
                <a:solidFill>
                  <a:schemeClr val="tx1"/>
                </a:solidFill>
                <a:latin typeface="+mn-ea"/>
              </a:rPr>
              <a:t>서류 출력 </a:t>
            </a:r>
            <a:r>
              <a:rPr lang="en-US" altLang="ko-KR" sz="1100" dirty="0">
                <a:solidFill>
                  <a:schemeClr val="tx1"/>
                </a:solidFill>
                <a:latin typeface="+mn-ea"/>
              </a:rPr>
              <a:t>- OZ</a:t>
            </a:r>
            <a:r>
              <a:rPr lang="ko-KR" altLang="en-US" sz="1100" dirty="0">
                <a:solidFill>
                  <a:schemeClr val="tx1"/>
                </a:solidFill>
                <a:latin typeface="+mn-ea"/>
              </a:rPr>
              <a:t>리포트</a:t>
            </a:r>
            <a:endParaRPr lang="en-US" altLang="ko-KR" sz="1100" dirty="0">
              <a:solidFill>
                <a:schemeClr val="tx1"/>
              </a:solidFill>
            </a:endParaRPr>
          </a:p>
          <a:p>
            <a:pPr algn="ctr"/>
            <a:r>
              <a:rPr lang="en-US" altLang="ko-KR" sz="1100" dirty="0">
                <a:solidFill>
                  <a:schemeClr val="tx1"/>
                </a:solidFill>
              </a:rPr>
              <a:t>DcmntOtpt.tsx</a:t>
            </a:r>
            <a:r>
              <a:rPr lang="en-US" altLang="ko-KR" sz="1100" b="1" baseline="30000" dirty="0">
                <a:solidFill>
                  <a:schemeClr val="tx1"/>
                </a:solidFill>
                <a:latin typeface="+mn-ea"/>
              </a:rPr>
              <a:t>1)</a:t>
            </a:r>
            <a:endParaRPr lang="en-US" altLang="ko-KR" sz="110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입찰공고</a:t>
            </a:r>
            <a:r>
              <a:rPr lang="en-US" altLang="ko-KR" sz="1100" dirty="0"/>
              <a:t>Controller&gt;&gt;</a:t>
            </a:r>
          </a:p>
          <a:p>
            <a:pPr algn="ctr"/>
            <a:r>
              <a:rPr lang="en-US" altLang="ko-KR" sz="1100" dirty="0" err="1"/>
              <a:t>BidPbancController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2169077"/>
            <a:ext cx="967509" cy="82109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flipV="1">
            <a:off x="2992582" y="2990174"/>
            <a:ext cx="967509" cy="129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992582" y="2990174"/>
            <a:ext cx="967509" cy="84699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9979714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관심공고</a:t>
            </a:r>
            <a:r>
              <a:rPr lang="ko-KR" altLang="en-US" dirty="0"/>
              <a:t> 등록 아이콘 클릭</a:t>
            </a:r>
            <a:r>
              <a:rPr lang="en-US" altLang="ko-KR" dirty="0"/>
              <a:t/>
            </a:r>
            <a:br>
              <a:rPr lang="en-US" altLang="ko-KR" dirty="0"/>
            </a:br>
            <a:r>
              <a:rPr lang="en-US" altLang="ko-KR" dirty="0"/>
              <a:t>- </a:t>
            </a:r>
            <a:r>
              <a:rPr lang="ko-KR" altLang="en-US" dirty="0"/>
              <a:t>관심 공고는 </a:t>
            </a:r>
            <a:r>
              <a:rPr lang="ko-KR" altLang="en-US" dirty="0" err="1"/>
              <a:t>로그인이</a:t>
            </a:r>
            <a:r>
              <a:rPr lang="ko-KR" altLang="en-US" dirty="0"/>
              <a:t> 필요한 서비스로 </a:t>
            </a:r>
            <a:r>
              <a:rPr lang="ko-KR" altLang="en-US" dirty="0" err="1"/>
              <a:t>비로그인</a:t>
            </a:r>
            <a:r>
              <a:rPr lang="ko-KR" altLang="en-US" dirty="0"/>
              <a:t> 상태에서는 로그인 화면 호출</a:t>
            </a:r>
            <a:r>
              <a:rPr lang="en-US" altLang="ko-KR" dirty="0"/>
              <a:t/>
            </a:r>
            <a:br>
              <a:rPr lang="en-US" altLang="ko-KR" dirty="0"/>
            </a:br>
            <a:r>
              <a:rPr lang="en-US" altLang="ko-KR" dirty="0"/>
              <a:t>- </a:t>
            </a:r>
            <a:r>
              <a:rPr lang="ko-KR" altLang="en-US" dirty="0"/>
              <a:t>등록 아이콘</a:t>
            </a:r>
            <a:r>
              <a:rPr lang="en-US" altLang="ko-KR" dirty="0"/>
              <a:t/>
            </a:r>
            <a:br>
              <a:rPr lang="en-US" altLang="ko-KR" dirty="0"/>
            </a:br>
            <a:r>
              <a:rPr lang="en-US" altLang="ko-KR" dirty="0"/>
              <a:t>  &gt; </a:t>
            </a:r>
            <a:r>
              <a:rPr lang="ko-KR" altLang="en-US" dirty="0"/>
              <a:t>등록</a:t>
            </a:r>
            <a:r>
              <a:rPr lang="en-US" altLang="ko-KR" dirty="0"/>
              <a:t>, </a:t>
            </a:r>
            <a:r>
              <a:rPr lang="ko-KR" altLang="en-US" dirty="0"/>
              <a:t>미등록 상태에 따라 아이콘 표시 변경 </a:t>
            </a:r>
            <a:r>
              <a:rPr lang="en-US" altLang="ko-KR" dirty="0"/>
              <a:t>(</a:t>
            </a:r>
            <a:r>
              <a:rPr lang="ko-KR" altLang="en-US" dirty="0"/>
              <a:t>라인 아이콘 </a:t>
            </a:r>
            <a:r>
              <a:rPr lang="en-US" altLang="ko-KR" dirty="0">
                <a:sym typeface="Wingdings" panose="05000000000000000000" pitchFamily="2" charset="2"/>
              </a:rPr>
              <a:t> </a:t>
            </a:r>
            <a:r>
              <a:rPr lang="ko-KR" altLang="en-US" dirty="0">
                <a:sym typeface="Wingdings" panose="05000000000000000000" pitchFamily="2" charset="2"/>
              </a:rPr>
              <a:t>채우기</a:t>
            </a:r>
            <a:r>
              <a:rPr lang="en-US" altLang="ko-KR" dirty="0">
                <a:sym typeface="Wingdings" panose="05000000000000000000" pitchFamily="2" charset="2"/>
              </a:rPr>
              <a:t>)</a:t>
            </a:r>
            <a:r>
              <a:rPr lang="en-US" altLang="ko-KR" dirty="0"/>
              <a:t/>
            </a:r>
            <a:br>
              <a:rPr lang="en-US" altLang="ko-KR" dirty="0"/>
            </a:br>
            <a:r>
              <a:rPr lang="en-US" altLang="ko-KR" dirty="0"/>
              <a:t>- </a:t>
            </a:r>
            <a:r>
              <a:rPr lang="ko-KR" altLang="en-US" dirty="0"/>
              <a:t>토스트 메시지 출력</a:t>
            </a:r>
            <a:r>
              <a:rPr lang="en-US" altLang="ko-KR" dirty="0"/>
              <a:t/>
            </a:r>
            <a:br>
              <a:rPr lang="en-US" altLang="ko-KR" dirty="0"/>
            </a:br>
            <a:r>
              <a:rPr lang="en-US" altLang="ko-KR" dirty="0"/>
              <a:t>  &gt; </a:t>
            </a:r>
            <a:r>
              <a:rPr lang="ko-KR" altLang="en-US" dirty="0"/>
              <a:t>등록 </a:t>
            </a:r>
            <a:r>
              <a:rPr lang="en-US" altLang="ko-KR" dirty="0"/>
              <a:t>: </a:t>
            </a:r>
            <a:r>
              <a:rPr lang="ko-KR" altLang="en-US" dirty="0" err="1"/>
              <a:t>관심공고에</a:t>
            </a:r>
            <a:r>
              <a:rPr lang="ko-KR" altLang="en-US" dirty="0"/>
              <a:t> 등록 되었습니다</a:t>
            </a:r>
            <a:r>
              <a:rPr lang="en-US" altLang="ko-KR" dirty="0"/>
              <a:t>.</a:t>
            </a:r>
            <a:br>
              <a:rPr lang="en-US" altLang="ko-KR" dirty="0"/>
            </a:br>
            <a:r>
              <a:rPr lang="en-US" altLang="ko-KR" dirty="0"/>
              <a:t>  &gt; </a:t>
            </a:r>
            <a:r>
              <a:rPr lang="ko-KR" altLang="en-US" dirty="0"/>
              <a:t>제외 </a:t>
            </a:r>
            <a:r>
              <a:rPr lang="en-US" altLang="ko-KR" dirty="0"/>
              <a:t>: </a:t>
            </a:r>
            <a:r>
              <a:rPr lang="ko-KR" altLang="en-US" dirty="0"/>
              <a:t>관심공고에서 제외 되었습니다</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관심공고</a:t>
            </a:r>
            <a:r>
              <a:rPr lang="ko-KR" altLang="en-US" dirty="0">
                <a:latin typeface="+mn-ea"/>
              </a:rPr>
              <a:t> 등록</a:t>
            </a:r>
            <a:r>
              <a:rPr lang="en-US" altLang="ko-KR" dirty="0">
                <a:latin typeface="+mn-ea"/>
              </a:rPr>
              <a:t>, </a:t>
            </a:r>
            <a:r>
              <a:rPr lang="ko-KR" altLang="en-US" dirty="0">
                <a:latin typeface="+mn-ea"/>
              </a:rPr>
              <a:t>제외</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첫 화면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MUI-BD-01-P13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입찰공고 상세</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2425427" y="190851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158410"/>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493475"/>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478086"/>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2025-12-22</a:t>
            </a:r>
          </a:p>
          <a:p>
            <a:pPr>
              <a:lnSpc>
                <a:spcPct val="150000"/>
              </a:lnSpc>
            </a:pPr>
            <a:r>
              <a:rPr lang="en-US" altLang="ko-KR" sz="600" dirty="0">
                <a:latin typeface="+mn-ea"/>
              </a:rPr>
              <a:t>2025-12-23 17:00</a:t>
            </a:r>
          </a:p>
          <a:p>
            <a:pPr>
              <a:lnSpc>
                <a:spcPct val="150000"/>
              </a:lnSpc>
            </a:pPr>
            <a:r>
              <a:rPr lang="en-US" altLang="ko-KR" sz="600" dirty="0">
                <a:latin typeface="+mn-ea"/>
              </a:rPr>
              <a:t>2025-12-24 10:00</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1974079"/>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197407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51256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8538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546317"/>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35776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3659648"/>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 name="포인트가 5개인 별 2"/>
          <p:cNvSpPr/>
          <p:nvPr/>
        </p:nvSpPr>
        <p:spPr>
          <a:xfrm>
            <a:off x="2682759" y="1949976"/>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20821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991608"/>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18545" y="3991608"/>
            <a:ext cx="447776" cy="107722"/>
          </a:xfrm>
          <a:prstGeom prst="rect">
            <a:avLst/>
          </a:prstGeom>
          <a:noFill/>
        </p:spPr>
        <p:txBody>
          <a:bodyPr wrap="square" lIns="0" tIns="0" rIns="0" bIns="0" rtlCol="0">
            <a:spAutoFit/>
          </a:bodyPr>
          <a:lstStyle/>
          <a:p>
            <a:pPr algn="ctr"/>
            <a:r>
              <a:rPr lang="ko-KR" altLang="en-US" sz="700" dirty="0" err="1">
                <a:latin typeface="+mn-ea"/>
              </a:rPr>
              <a:t>품목명세서</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1760915" y="3991608"/>
            <a:ext cx="543960" cy="107722"/>
          </a:xfrm>
          <a:prstGeom prst="rect">
            <a:avLst/>
          </a:prstGeom>
          <a:noFill/>
        </p:spPr>
        <p:txBody>
          <a:bodyPr wrap="square" lIns="0" tIns="0" rIns="0" bIns="0" rtlCol="0">
            <a:spAutoFit/>
          </a:bodyPr>
          <a:lstStyle/>
          <a:p>
            <a:pPr algn="ctr"/>
            <a:r>
              <a:rPr lang="ko-KR" altLang="en-US" sz="700" dirty="0">
                <a:latin typeface="+mn-ea"/>
              </a:rPr>
              <a:t>계약특수조건</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399469" y="3991608"/>
            <a:ext cx="645068" cy="107722"/>
          </a:xfrm>
          <a:prstGeom prst="rect">
            <a:avLst/>
          </a:prstGeom>
          <a:noFill/>
        </p:spPr>
        <p:txBody>
          <a:bodyPr wrap="square" lIns="0" tIns="0" rIns="0" bIns="0" rtlCol="0">
            <a:spAutoFit/>
          </a:bodyPr>
          <a:lstStyle/>
          <a:p>
            <a:pPr algn="ctr"/>
            <a:r>
              <a:rPr lang="ko-KR" altLang="en-US" sz="700" dirty="0">
                <a:latin typeface="+mn-ea"/>
              </a:rPr>
              <a:t>제안서평가결과</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208215"/>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953485"/>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6" name="TextBox 105">
            <a:extLst>
              <a:ext uri="{FF2B5EF4-FFF2-40B4-BE49-F238E27FC236}">
                <a16:creationId xmlns:a16="http://schemas.microsoft.com/office/drawing/2014/main" id="{FFC49AEA-2A8F-250C-A86A-A7751D9706C3}"/>
              </a:ext>
            </a:extLst>
          </p:cNvPr>
          <p:cNvSpPr txBox="1"/>
          <p:nvPr/>
        </p:nvSpPr>
        <p:spPr>
          <a:xfrm>
            <a:off x="781461" y="431454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427877"/>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95" name="직선 연결선 294">
            <a:extLst>
              <a:ext uri="{FF2B5EF4-FFF2-40B4-BE49-F238E27FC236}">
                <a16:creationId xmlns:a16="http://schemas.microsoft.com/office/drawing/2014/main" id="{E9293055-D5CD-4B9E-7F64-64B2D2CA7A52}"/>
              </a:ext>
            </a:extLst>
          </p:cNvPr>
          <p:cNvCxnSpPr/>
          <p:nvPr/>
        </p:nvCxnSpPr>
        <p:spPr>
          <a:xfrm>
            <a:off x="675399" y="315488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98" name="그룹 297"/>
          <p:cNvGrpSpPr/>
          <p:nvPr/>
        </p:nvGrpSpPr>
        <p:grpSpPr>
          <a:xfrm rot="16200000">
            <a:off x="1250697" y="3307709"/>
            <a:ext cx="94010" cy="47005"/>
            <a:chOff x="6812560" y="3297172"/>
            <a:chExt cx="94010" cy="47005"/>
          </a:xfrm>
        </p:grpSpPr>
        <p:cxnSp>
          <p:nvCxnSpPr>
            <p:cNvPr id="299" name="직선 연결선 2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49" name="그룹 48"/>
          <p:cNvGrpSpPr/>
          <p:nvPr/>
        </p:nvGrpSpPr>
        <p:grpSpPr>
          <a:xfrm>
            <a:off x="1404035" y="3237230"/>
            <a:ext cx="601002" cy="187961"/>
            <a:chOff x="1335163" y="3237230"/>
            <a:chExt cx="601002" cy="187961"/>
          </a:xfrm>
        </p:grpSpPr>
        <p:sp>
          <p:nvSpPr>
            <p:cNvPr id="303" name="TextBox 302">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입찰</a:t>
              </a:r>
            </a:p>
          </p:txBody>
        </p:sp>
        <p:grpSp>
          <p:nvGrpSpPr>
            <p:cNvPr id="30" name="그룹 29"/>
            <p:cNvGrpSpPr/>
            <p:nvPr/>
          </p:nvGrpSpPr>
          <p:grpSpPr>
            <a:xfrm>
              <a:off x="1335163" y="3237230"/>
              <a:ext cx="187961" cy="187961"/>
              <a:chOff x="1485163" y="3237230"/>
              <a:chExt cx="187961" cy="187961"/>
            </a:xfrm>
          </p:grpSpPr>
          <p:sp>
            <p:nvSpPr>
              <p:cNvPr id="304" name="타원 303"/>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5" name="TextBox 304">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310" name="그룹 309"/>
          <p:cNvGrpSpPr/>
          <p:nvPr/>
        </p:nvGrpSpPr>
        <p:grpSpPr>
          <a:xfrm rot="16200000">
            <a:off x="1906808" y="3307709"/>
            <a:ext cx="94010" cy="47005"/>
            <a:chOff x="6812560" y="3297172"/>
            <a:chExt cx="94010" cy="47005"/>
          </a:xfrm>
        </p:grpSpPr>
        <p:cxnSp>
          <p:nvCxnSpPr>
            <p:cNvPr id="311" name="직선 연결선 31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2" name="직선 연결선 3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13" name="그룹 312"/>
          <p:cNvGrpSpPr/>
          <p:nvPr/>
        </p:nvGrpSpPr>
        <p:grpSpPr>
          <a:xfrm rot="16200000">
            <a:off x="2562920" y="3307709"/>
            <a:ext cx="94010" cy="47005"/>
            <a:chOff x="6812560" y="3297172"/>
            <a:chExt cx="94010" cy="47005"/>
          </a:xfrm>
        </p:grpSpPr>
        <p:cxnSp>
          <p:nvCxnSpPr>
            <p:cNvPr id="314" name="직선 연결선 3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5" name="직선 연결선 3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4" name="그룹 13"/>
          <p:cNvGrpSpPr/>
          <p:nvPr/>
        </p:nvGrpSpPr>
        <p:grpSpPr>
          <a:xfrm>
            <a:off x="747925" y="3237230"/>
            <a:ext cx="601001" cy="187961"/>
            <a:chOff x="747925" y="3237230"/>
            <a:chExt cx="601001" cy="187961"/>
          </a:xfrm>
        </p:grpSpPr>
        <p:grpSp>
          <p:nvGrpSpPr>
            <p:cNvPr id="5" name="그룹 4"/>
            <p:cNvGrpSpPr/>
            <p:nvPr/>
          </p:nvGrpSpPr>
          <p:grpSpPr>
            <a:xfrm>
              <a:off x="747925" y="3237230"/>
              <a:ext cx="187961" cy="187961"/>
              <a:chOff x="747925" y="3237230"/>
              <a:chExt cx="187961" cy="187961"/>
            </a:xfrm>
          </p:grpSpPr>
          <p:sp>
            <p:nvSpPr>
              <p:cNvPr id="297" name="타원 296"/>
              <p:cNvSpPr/>
              <p:nvPr/>
            </p:nvSpPr>
            <p:spPr>
              <a:xfrm>
                <a:off x="747925" y="3237230"/>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2" name="TextBox 301">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316" name="TextBox 315">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조달</a:t>
              </a:r>
            </a:p>
          </p:txBody>
        </p:sp>
      </p:grpSp>
      <p:grpSp>
        <p:nvGrpSpPr>
          <p:cNvPr id="21" name="그룹 20"/>
          <p:cNvGrpSpPr/>
          <p:nvPr/>
        </p:nvGrpSpPr>
        <p:grpSpPr>
          <a:xfrm>
            <a:off x="2058749" y="3237230"/>
            <a:ext cx="603798" cy="187961"/>
            <a:chOff x="2058749" y="3237230"/>
            <a:chExt cx="603798" cy="187961"/>
          </a:xfrm>
        </p:grpSpPr>
        <p:grpSp>
          <p:nvGrpSpPr>
            <p:cNvPr id="15" name="그룹 14"/>
            <p:cNvGrpSpPr/>
            <p:nvPr/>
          </p:nvGrpSpPr>
          <p:grpSpPr>
            <a:xfrm>
              <a:off x="2058749" y="3237230"/>
              <a:ext cx="187961" cy="187961"/>
              <a:chOff x="2058749" y="3237230"/>
              <a:chExt cx="187961" cy="187961"/>
            </a:xfrm>
          </p:grpSpPr>
          <p:sp>
            <p:nvSpPr>
              <p:cNvPr id="306" name="타원 305"/>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7" name="TextBox 306">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317" name="TextBox 316">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계약</a:t>
              </a:r>
            </a:p>
          </p:txBody>
        </p:sp>
      </p:gr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201" name="모서리가 둥근 직사각형 200"/>
          <p:cNvSpPr/>
          <p:nvPr/>
        </p:nvSpPr>
        <p:spPr>
          <a:xfrm>
            <a:off x="1337508" y="5845175"/>
            <a:ext cx="1432390" cy="209216"/>
          </a:xfrm>
          <a:prstGeom prst="roundRect">
            <a:avLst>
              <a:gd name="adj" fmla="val 50000"/>
            </a:avLst>
          </a:prstGeom>
          <a:solidFill>
            <a:srgbClr val="000000">
              <a:alpha val="50196"/>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a:extLst>
              <a:ext uri="{FF2B5EF4-FFF2-40B4-BE49-F238E27FC236}">
                <a16:creationId xmlns:a16="http://schemas.microsoft.com/office/drawing/2014/main" id="{FFC49AEA-2A8F-250C-A86A-A7751D9706C3}"/>
              </a:ext>
            </a:extLst>
          </p:cNvPr>
          <p:cNvSpPr txBox="1"/>
          <p:nvPr/>
        </p:nvSpPr>
        <p:spPr>
          <a:xfrm>
            <a:off x="901131" y="5895922"/>
            <a:ext cx="2305144"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관심공고에서 제외 되었습니다</a:t>
            </a:r>
            <a:r>
              <a:rPr lang="en-US" altLang="ko-KR" sz="700" dirty="0">
                <a:solidFill>
                  <a:schemeClr val="bg1"/>
                </a:solidFill>
                <a:latin typeface="+mn-ea"/>
              </a:rPr>
              <a:t>.</a:t>
            </a:r>
            <a:endParaRPr lang="ko-KR" altLang="en-US" sz="700" dirty="0">
              <a:solidFill>
                <a:schemeClr val="bg1"/>
              </a:solidFill>
              <a:latin typeface="+mn-ea"/>
            </a:endParaRPr>
          </a:p>
        </p:txBody>
      </p:sp>
      <p:sp>
        <p:nvSpPr>
          <p:cNvPr id="203" name="모서리가 둥근 직사각형 202"/>
          <p:cNvSpPr/>
          <p:nvPr/>
        </p:nvSpPr>
        <p:spPr>
          <a:xfrm>
            <a:off x="1384229" y="5491535"/>
            <a:ext cx="1338948" cy="209216"/>
          </a:xfrm>
          <a:prstGeom prst="roundRect">
            <a:avLst>
              <a:gd name="adj" fmla="val 50000"/>
            </a:avLst>
          </a:prstGeom>
          <a:solidFill>
            <a:srgbClr val="000000">
              <a:alpha val="50196"/>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4" name="TextBox 203">
            <a:extLst>
              <a:ext uri="{FF2B5EF4-FFF2-40B4-BE49-F238E27FC236}">
                <a16:creationId xmlns:a16="http://schemas.microsoft.com/office/drawing/2014/main" id="{FFC49AEA-2A8F-250C-A86A-A7751D9706C3}"/>
              </a:ext>
            </a:extLst>
          </p:cNvPr>
          <p:cNvSpPr txBox="1"/>
          <p:nvPr/>
        </p:nvSpPr>
        <p:spPr>
          <a:xfrm>
            <a:off x="901131" y="5542282"/>
            <a:ext cx="2305144" cy="107722"/>
          </a:xfrm>
          <a:prstGeom prst="rect">
            <a:avLst/>
          </a:prstGeom>
          <a:noFill/>
        </p:spPr>
        <p:txBody>
          <a:bodyPr wrap="square" lIns="0" tIns="0" rIns="0" bIns="0" rtlCol="0">
            <a:spAutoFit/>
          </a:bodyPr>
          <a:lstStyle/>
          <a:p>
            <a:pPr algn="ctr"/>
            <a:r>
              <a:rPr lang="ko-KR" altLang="en-US" sz="700" dirty="0" err="1">
                <a:solidFill>
                  <a:schemeClr val="bg1"/>
                </a:solidFill>
                <a:latin typeface="+mn-ea"/>
              </a:rPr>
              <a:t>관심공고에</a:t>
            </a:r>
            <a:r>
              <a:rPr lang="ko-KR" altLang="en-US" sz="700" dirty="0">
                <a:solidFill>
                  <a:schemeClr val="bg1"/>
                </a:solidFill>
                <a:latin typeface="+mn-ea"/>
              </a:rPr>
              <a:t> 등록 되었습니다</a:t>
            </a:r>
            <a:r>
              <a:rPr lang="en-US" altLang="ko-KR" sz="700" dirty="0">
                <a:solidFill>
                  <a:schemeClr val="bg1"/>
                </a:solidFill>
                <a:latin typeface="+mn-ea"/>
              </a:rPr>
              <a:t>.</a:t>
            </a:r>
            <a:endParaRPr lang="ko-KR" altLang="en-US" sz="700" dirty="0">
              <a:solidFill>
                <a:schemeClr val="bg1"/>
              </a:solidFill>
              <a:latin typeface="+mn-ea"/>
            </a:endParaRPr>
          </a:p>
        </p:txBody>
      </p:sp>
      <p:sp>
        <p:nvSpPr>
          <p:cNvPr id="221" name="모서리가 둥근 직사각형 220"/>
          <p:cNvSpPr/>
          <p:nvPr/>
        </p:nvSpPr>
        <p:spPr>
          <a:xfrm>
            <a:off x="3859820" y="4203507"/>
            <a:ext cx="2579992" cy="1200743"/>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2" name="사각형: 둥근 모서리 14">
            <a:extLst>
              <a:ext uri="{FF2B5EF4-FFF2-40B4-BE49-F238E27FC236}">
                <a16:creationId xmlns:a16="http://schemas.microsoft.com/office/drawing/2014/main" id="{CB17FF57-D096-6A31-10F0-093EB170D38C}"/>
              </a:ext>
            </a:extLst>
          </p:cNvPr>
          <p:cNvSpPr/>
          <p:nvPr/>
        </p:nvSpPr>
        <p:spPr>
          <a:xfrm>
            <a:off x="5202658" y="4962669"/>
            <a:ext cx="1080000" cy="317083"/>
          </a:xfrm>
          <a:prstGeom prst="roundRect">
            <a:avLst/>
          </a:prstGeom>
          <a:solidFill>
            <a:srgbClr val="0070C0"/>
          </a:solidFill>
          <a:ln w="12700" cap="flat" cmpd="sng" algn="ctr">
            <a:noFill/>
            <a:prstDash val="solid"/>
          </a:ln>
          <a:effectLst/>
        </p:spPr>
        <p:txBody>
          <a:bodyPr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b="0" i="0" u="none" strike="noStrike" kern="0" cap="none" spc="0" normalizeH="0" baseline="0" noProof="0" dirty="0">
                <a:ln>
                  <a:noFill/>
                </a:ln>
                <a:solidFill>
                  <a:prstClr val="white"/>
                </a:solidFill>
                <a:effectLst/>
                <a:uLnTx/>
                <a:uFillTx/>
                <a:latin typeface="맑은 고딕"/>
                <a:ea typeface="+mn-ea"/>
                <a:cs typeface="+mn-cs"/>
              </a:rPr>
              <a:t>확인</a:t>
            </a:r>
            <a:endParaRPr kumimoji="1" lang="en-US" sz="1000" b="0" i="0" u="none" strike="noStrike" kern="0" cap="none" spc="0" normalizeH="0" baseline="0" noProof="0" dirty="0">
              <a:ln>
                <a:noFill/>
              </a:ln>
              <a:solidFill>
                <a:prstClr val="white"/>
              </a:solidFill>
              <a:effectLst/>
              <a:uLnTx/>
              <a:uFillTx/>
              <a:latin typeface="맑은 고딕"/>
              <a:ea typeface="+mn-ea"/>
              <a:cs typeface="+mn-cs"/>
            </a:endParaRPr>
          </a:p>
        </p:txBody>
      </p:sp>
      <p:sp>
        <p:nvSpPr>
          <p:cNvPr id="223" name="사각형: 둥근 모서리 15">
            <a:extLst>
              <a:ext uri="{FF2B5EF4-FFF2-40B4-BE49-F238E27FC236}">
                <a16:creationId xmlns:a16="http://schemas.microsoft.com/office/drawing/2014/main" id="{E2B61CFB-AD16-68D0-8752-50D9C5E01971}"/>
              </a:ext>
            </a:extLst>
          </p:cNvPr>
          <p:cNvSpPr/>
          <p:nvPr/>
        </p:nvSpPr>
        <p:spPr>
          <a:xfrm>
            <a:off x="3977514" y="4962669"/>
            <a:ext cx="1080000"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취소</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3977514" y="4350237"/>
            <a:ext cx="2305144" cy="138499"/>
          </a:xfrm>
          <a:prstGeom prst="rect">
            <a:avLst/>
          </a:prstGeom>
          <a:noFill/>
        </p:spPr>
        <p:txBody>
          <a:bodyPr wrap="square" lIns="0" tIns="0" rIns="0" bIns="0" rtlCol="0">
            <a:spAutoFit/>
          </a:bodyPr>
          <a:lstStyle/>
          <a:p>
            <a:r>
              <a:rPr lang="ko-KR" altLang="en-US" sz="900" b="1" dirty="0">
                <a:latin typeface="+mn-ea"/>
              </a:rPr>
              <a:t>로그인 안내</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997244" y="4582746"/>
            <a:ext cx="2305144" cy="215444"/>
          </a:xfrm>
          <a:prstGeom prst="rect">
            <a:avLst/>
          </a:prstGeom>
          <a:noFill/>
        </p:spPr>
        <p:txBody>
          <a:bodyPr wrap="square" lIns="0" tIns="0" rIns="0" bIns="0" rtlCol="0">
            <a:spAutoFit/>
          </a:bodyPr>
          <a:lstStyle/>
          <a:p>
            <a:r>
              <a:rPr lang="ko-KR" altLang="en-US" sz="700" dirty="0">
                <a:latin typeface="+mn-ea"/>
              </a:rPr>
              <a:t>서비스를 사용하기 위해서 </a:t>
            </a:r>
            <a:r>
              <a:rPr lang="ko-KR" altLang="en-US" sz="700" dirty="0" err="1">
                <a:latin typeface="+mn-ea"/>
              </a:rPr>
              <a:t>로그인이</a:t>
            </a:r>
            <a:r>
              <a:rPr lang="ko-KR" altLang="en-US" sz="700" dirty="0">
                <a:latin typeface="+mn-ea"/>
              </a:rPr>
              <a:t> 필요합니다</a:t>
            </a:r>
            <a:r>
              <a:rPr lang="en-US" altLang="ko-KR" sz="700" dirty="0">
                <a:latin typeface="+mn-ea"/>
              </a:rPr>
              <a:t>.</a:t>
            </a:r>
          </a:p>
          <a:p>
            <a:r>
              <a:rPr lang="ko-KR" altLang="en-US" sz="700" dirty="0">
                <a:latin typeface="+mn-ea"/>
              </a:rPr>
              <a:t>지금 로그인할까요</a:t>
            </a:r>
            <a:r>
              <a:rPr lang="en-US" altLang="ko-KR" sz="700" dirty="0">
                <a:latin typeface="+mn-ea"/>
              </a:rPr>
              <a:t>?</a:t>
            </a:r>
          </a:p>
        </p:txBody>
      </p:sp>
      <p:grpSp>
        <p:nvGrpSpPr>
          <p:cNvPr id="227" name="그룹 226"/>
          <p:cNvGrpSpPr/>
          <p:nvPr/>
        </p:nvGrpSpPr>
        <p:grpSpPr>
          <a:xfrm>
            <a:off x="6188648" y="4350237"/>
            <a:ext cx="94010" cy="94010"/>
            <a:chOff x="6812560" y="3297172"/>
            <a:chExt cx="94010" cy="94010"/>
          </a:xfrm>
        </p:grpSpPr>
        <p:cxnSp>
          <p:nvCxnSpPr>
            <p:cNvPr id="228" name="직선 연결선 2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29" name="직선 연결선 2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30" name="직사각형 229"/>
          <p:cNvSpPr/>
          <p:nvPr/>
        </p:nvSpPr>
        <p:spPr>
          <a:xfrm>
            <a:off x="3795734" y="3972675"/>
            <a:ext cx="1043876" cy="230832"/>
          </a:xfrm>
          <a:prstGeom prst="rect">
            <a:avLst/>
          </a:prstGeom>
        </p:spPr>
        <p:txBody>
          <a:bodyPr lIns="72000" tIns="36000" rIns="72000" bIns="36000"/>
          <a:lstStyle/>
          <a:p>
            <a:pPr>
              <a:buFont typeface="Arial" panose="020B0604020202020204" pitchFamily="34" charset="0"/>
              <a:buNone/>
            </a:pPr>
            <a:r>
              <a:rPr lang="en-US" altLang="ko-KR" sz="900" dirty="0">
                <a:solidFill>
                  <a:srgbClr val="000000"/>
                </a:solidFill>
                <a:latin typeface="맑은 고딕" panose="020B0503020000020004" pitchFamily="50" charset="-127"/>
              </a:rPr>
              <a:t>MUI-MS-03-P15</a:t>
            </a:r>
            <a:endParaRPr lang="ko-KR" altLang="en-US" sz="900" dirty="0">
              <a:solidFill>
                <a:srgbClr val="000000"/>
              </a:solidFill>
              <a:latin typeface="맑은 고딕" panose="020B0503020000020004" pitchFamily="50" charset="-127"/>
            </a:endParaRPr>
          </a:p>
        </p:txBody>
      </p:sp>
      <p:sp>
        <p:nvSpPr>
          <p:cNvPr id="235" name="직사각형 234"/>
          <p:cNvSpPr/>
          <p:nvPr/>
        </p:nvSpPr>
        <p:spPr>
          <a:xfrm>
            <a:off x="5329794" y="3972675"/>
            <a:ext cx="1177967" cy="230832"/>
          </a:xfrm>
          <a:prstGeom prst="rect">
            <a:avLst/>
          </a:prstGeom>
        </p:spPr>
        <p:txBody>
          <a:bodyPr lIns="72000" tIns="36000" rIns="72000" bIns="36000"/>
          <a:lstStyle/>
          <a:p>
            <a:pPr algn="r">
              <a:buFont typeface="Arial" panose="020B0604020202020204" pitchFamily="34" charset="0"/>
              <a:buNone/>
            </a:pPr>
            <a:r>
              <a:rPr lang="ko-KR" altLang="en-US" sz="900" dirty="0">
                <a:solidFill>
                  <a:srgbClr val="000000"/>
                </a:solidFill>
                <a:latin typeface="맑은 고딕" panose="020B0503020000020004" pitchFamily="50" charset="-127"/>
              </a:rPr>
              <a:t>로그인 안내</a:t>
            </a:r>
          </a:p>
        </p:txBody>
      </p:sp>
      <p:cxnSp>
        <p:nvCxnSpPr>
          <p:cNvPr id="23" name="직선 화살표 연결선 22"/>
          <p:cNvCxnSpPr>
            <a:endCxn id="230" idx="1"/>
          </p:cNvCxnSpPr>
          <p:nvPr/>
        </p:nvCxnSpPr>
        <p:spPr>
          <a:xfrm>
            <a:off x="2770852" y="2142212"/>
            <a:ext cx="1024882" cy="19458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10" name="그룹 109"/>
          <p:cNvGrpSpPr/>
          <p:nvPr/>
        </p:nvGrpSpPr>
        <p:grpSpPr>
          <a:xfrm>
            <a:off x="2714860" y="3237230"/>
            <a:ext cx="603798" cy="187961"/>
            <a:chOff x="2714860" y="3237230"/>
            <a:chExt cx="603798" cy="187961"/>
          </a:xfrm>
        </p:grpSpPr>
        <p:grpSp>
          <p:nvGrpSpPr>
            <p:cNvPr id="111" name="그룹 110"/>
            <p:cNvGrpSpPr/>
            <p:nvPr/>
          </p:nvGrpSpPr>
          <p:grpSpPr>
            <a:xfrm>
              <a:off x="2714860" y="3237230"/>
              <a:ext cx="187961" cy="187961"/>
              <a:chOff x="2714860" y="3237230"/>
              <a:chExt cx="187961" cy="187961"/>
            </a:xfrm>
          </p:grpSpPr>
          <p:sp>
            <p:nvSpPr>
              <p:cNvPr id="113" name="타원 112"/>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TextBox 113">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12" name="TextBox 111">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이행</a:t>
              </a:r>
            </a:p>
          </p:txBody>
        </p:sp>
      </p:grpSp>
      <p:grpSp>
        <p:nvGrpSpPr>
          <p:cNvPr id="115" name="그룹 114"/>
          <p:cNvGrpSpPr/>
          <p:nvPr/>
        </p:nvGrpSpPr>
        <p:grpSpPr>
          <a:xfrm rot="5400000">
            <a:off x="3158978" y="3232595"/>
            <a:ext cx="187961" cy="187961"/>
            <a:chOff x="3876200" y="2234886"/>
            <a:chExt cx="187961" cy="187961"/>
          </a:xfrm>
        </p:grpSpPr>
        <p:sp>
          <p:nvSpPr>
            <p:cNvPr id="116" name="타원 11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7" name="그룹 116"/>
            <p:cNvGrpSpPr/>
            <p:nvPr/>
          </p:nvGrpSpPr>
          <p:grpSpPr>
            <a:xfrm rot="16200000">
              <a:off x="3931564" y="2305364"/>
              <a:ext cx="94010" cy="47005"/>
              <a:chOff x="6812560" y="3297172"/>
              <a:chExt cx="94010" cy="47005"/>
            </a:xfrm>
          </p:grpSpPr>
          <p:cxnSp>
            <p:nvCxnSpPr>
              <p:cNvPr id="118" name="직선 연결선 1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9" name="직선 연결선 1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11888684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51</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4. </a:t>
            </a:r>
            <a:r>
              <a:rPr lang="ko-KR" altLang="en-US" dirty="0" err="1"/>
              <a:t>플로팅</a:t>
            </a:r>
            <a:r>
              <a:rPr lang="ko-KR" altLang="en-US" dirty="0"/>
              <a:t> 버튼</a:t>
            </a:r>
            <a:r>
              <a:rPr lang="en-US" altLang="ko-KR" dirty="0"/>
              <a:t>,</a:t>
            </a:r>
            <a:r>
              <a:rPr lang="ko-KR" altLang="en-US" dirty="0"/>
              <a:t> 환율 정보</a:t>
            </a:r>
            <a:endParaRPr lang="en-US" altLang="ko-KR" dirty="0"/>
          </a:p>
          <a:p>
            <a:r>
              <a:rPr lang="en-US" altLang="ko-KR" dirty="0"/>
              <a:t>4.1 </a:t>
            </a:r>
            <a:r>
              <a:rPr lang="ko-KR" altLang="en-US" dirty="0"/>
              <a:t>화면 목록</a:t>
            </a:r>
          </a:p>
        </p:txBody>
      </p:sp>
      <p:graphicFrame>
        <p:nvGraphicFramePr>
          <p:cNvPr id="5" name="표 4"/>
          <p:cNvGraphicFramePr>
            <a:graphicFrameLocks noGrp="1"/>
          </p:cNvGraphicFramePr>
          <p:nvPr>
            <p:extLst>
              <p:ext uri="{D42A27DB-BD31-4B8C-83A1-F6EECF244321}">
                <p14:modId xmlns:p14="http://schemas.microsoft.com/office/powerpoint/2010/main" val="3719212474"/>
              </p:ext>
            </p:extLst>
          </p:nvPr>
        </p:nvGraphicFramePr>
        <p:xfrm>
          <a:off x="635474" y="1413419"/>
          <a:ext cx="8701200" cy="82750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marL="0" marR="0" indent="0" algn="l" defTabSz="914400" rtl="0" eaLnBrk="1" fontAlgn="t" latinLnBrk="1" hangingPunct="1">
                        <a:lnSpc>
                          <a:spcPct val="100000"/>
                        </a:lnSpc>
                        <a:spcBef>
                          <a:spcPts val="0"/>
                        </a:spcBef>
                        <a:spcAft>
                          <a:spcPts val="0"/>
                        </a:spcAft>
                        <a:buClrTx/>
                        <a:buSzTx/>
                        <a:buFontTx/>
                        <a:buNone/>
                        <a:tabLst/>
                        <a:defRPr/>
                      </a:pPr>
                      <a:r>
                        <a:rPr lang="en-US" altLang="ko-KR" sz="700" b="0" i="0" u="none" strike="noStrike" dirty="0">
                          <a:solidFill>
                            <a:srgbClr val="000000"/>
                          </a:solidFill>
                          <a:effectLst/>
                          <a:latin typeface="+mn-ea"/>
                          <a:ea typeface="+mn-ea"/>
                        </a:rPr>
                        <a:t>MUI-BD-01-P17</a:t>
                      </a:r>
                      <a:endParaRPr lang="ko-KR" altLang="en-US" sz="7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플로팅</a:t>
                      </a:r>
                      <a:r>
                        <a:rPr lang="ko-KR" altLang="en-US" sz="800" kern="1200" dirty="0">
                          <a:solidFill>
                            <a:schemeClr val="tx1"/>
                          </a:solidFill>
                          <a:latin typeface="+mn-ea"/>
                          <a:ea typeface="+mn-ea"/>
                          <a:cs typeface="+mn-cs"/>
                        </a:rPr>
                        <a:t>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latin typeface="+mn-ea"/>
                          <a:ea typeface="+mn-ea"/>
                        </a:rPr>
                        <a:t>FloatBtn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rPr>
                        <a:t>공고 버튼을 호출하기 위한 </a:t>
                      </a:r>
                      <a:r>
                        <a:rPr lang="ko-KR" altLang="en-US" sz="800" dirty="0" err="1">
                          <a:latin typeface="+mn-ea"/>
                        </a:rPr>
                        <a:t>플로팅</a:t>
                      </a:r>
                      <a:r>
                        <a:rPr lang="ko-KR" altLang="en-US" sz="800" dirty="0">
                          <a:latin typeface="+mn-ea"/>
                        </a:rPr>
                        <a:t>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FloatBtn</a:t>
                      </a:r>
                      <a:r>
                        <a:rPr lang="en-US" altLang="ko-KR" sz="800" dirty="0">
                          <a:solidFill>
                            <a:schemeClr val="tx1"/>
                          </a:solidFill>
                          <a:latin typeface="+mn-ea"/>
                          <a:ea typeface="+mn-ea"/>
                        </a:rPr>
                        <a:t>/</a:t>
                      </a:r>
                      <a:r>
                        <a:rPr lang="en-US" altLang="ko-KR" sz="800" dirty="0" err="1">
                          <a:solidFill>
                            <a:schemeClr val="tx1"/>
                          </a:solidFill>
                          <a:latin typeface="+mn-ea"/>
                          <a:ea typeface="+mn-ea"/>
                        </a:rPr>
                        <a:t>FloatBtn.tsx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l" fontAlgn="ctr"/>
                      <a:r>
                        <a:rPr lang="en-US" altLang="ko-KR" sz="700" b="0" i="0" u="none" strike="noStrike" dirty="0">
                          <a:solidFill>
                            <a:srgbClr val="000000"/>
                          </a:solidFill>
                          <a:effectLst/>
                          <a:latin typeface="+mn-ea"/>
                          <a:ea typeface="+mn-ea"/>
                        </a:rPr>
                        <a:t>MUI-BD-01-M74</a:t>
                      </a:r>
                      <a:endParaRPr lang="en-US" sz="7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환율정보조회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ea"/>
                          <a:ea typeface="+mn-ea"/>
                        </a:rPr>
                        <a:t>ovsExchrtListPopup</a:t>
                      </a:r>
                      <a:endParaRPr lang="en-US" sz="800" b="0" i="0" u="none" strike="noStrike" dirty="0">
                        <a:solidFill>
                          <a:srgbClr val="000000"/>
                        </a:solidFill>
                        <a:effectLst/>
                        <a:latin typeface="+mn-ea"/>
                        <a:ea typeface="+mn-ea"/>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환율 정보 조회</a:t>
                      </a:r>
                      <a:r>
                        <a:rPr lang="ko-KR" altLang="en-US" sz="800" kern="1200" baseline="0" dirty="0">
                          <a:solidFill>
                            <a:schemeClr val="tx1"/>
                          </a:solidFill>
                          <a:latin typeface="+mn-ea"/>
                          <a:ea typeface="+mn-ea"/>
                          <a:cs typeface="+mn-cs"/>
                        </a:rPr>
                        <a:t> 화면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ea typeface="+mn-ea"/>
                        </a:rPr>
                        <a:t>ovsExchrtList</a:t>
                      </a:r>
                      <a:r>
                        <a:rPr lang="en-US" altLang="ko-KR" sz="800" b="0" i="0" u="none" strike="noStrike" dirty="0">
                          <a:solidFill>
                            <a:schemeClr val="tx1"/>
                          </a:solidFill>
                          <a:effectLst/>
                          <a:latin typeface="+mn-ea"/>
                          <a:ea typeface="+mn-ea"/>
                        </a:rPr>
                        <a:t>/</a:t>
                      </a:r>
                      <a:r>
                        <a:rPr lang="en-US" altLang="ko-KR" sz="800" b="0" i="0" u="none" strike="noStrike" dirty="0" err="1">
                          <a:solidFill>
                            <a:schemeClr val="tx1"/>
                          </a:solidFill>
                          <a:effectLst/>
                          <a:latin typeface="+mn-ea"/>
                          <a:ea typeface="+mn-ea"/>
                        </a:rPr>
                        <a:t>OvsExchrtListPage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bl>
          </a:graphicData>
        </a:graphic>
      </p:graphicFrame>
      <p:sp>
        <p:nvSpPr>
          <p:cNvPr id="6"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27198843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52</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4.2. </a:t>
            </a:r>
            <a:r>
              <a:rPr lang="ko-KR" altLang="en-US" dirty="0"/>
              <a:t>화면 흐름도 </a:t>
            </a:r>
            <a:r>
              <a:rPr lang="en-US" altLang="ko-KR" dirty="0"/>
              <a:t>– </a:t>
            </a:r>
            <a:r>
              <a:rPr lang="ko-KR" altLang="en-US" dirty="0"/>
              <a:t>입찰 공고 상세 </a:t>
            </a:r>
            <a:r>
              <a:rPr lang="ko-KR" altLang="en-US" dirty="0" err="1"/>
              <a:t>플로팅</a:t>
            </a:r>
            <a:r>
              <a:rPr lang="ko-KR" altLang="en-US" dirty="0"/>
              <a:t> 버튼</a:t>
            </a: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70" idx="1"/>
          </p:cNvCxnSpPr>
          <p:nvPr/>
        </p:nvCxnSpPr>
        <p:spPr>
          <a:xfrm>
            <a:off x="143547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70"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 공고 상세</a:t>
            </a:r>
          </a:p>
        </p:txBody>
      </p:sp>
      <p:sp>
        <p:nvSpPr>
          <p:cNvPr id="77" name="사각형: 둥근 모서리 5">
            <a:extLst>
              <a:ext uri="{FF2B5EF4-FFF2-40B4-BE49-F238E27FC236}">
                <a16:creationId xmlns:a16="http://schemas.microsoft.com/office/drawing/2014/main" id="{410E5459-200D-7630-863C-88E5109259DF}"/>
              </a:ext>
            </a:extLst>
          </p:cNvPr>
          <p:cNvSpPr/>
          <p:nvPr/>
        </p:nvSpPr>
        <p:spPr>
          <a:xfrm>
            <a:off x="4197742"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사전심사</a:t>
            </a:r>
            <a:r>
              <a:rPr lang="en-US" altLang="ko-KR" sz="800" dirty="0">
                <a:solidFill>
                  <a:schemeClr val="tx1"/>
                </a:solidFill>
              </a:rPr>
              <a:t>(PQ)</a:t>
            </a:r>
          </a:p>
          <a:p>
            <a:pPr algn="ctr"/>
            <a:r>
              <a:rPr lang="ko-KR" altLang="en-US" sz="800" dirty="0">
                <a:solidFill>
                  <a:schemeClr val="tx1"/>
                </a:solidFill>
              </a:rPr>
              <a:t>신청 버튼</a:t>
            </a:r>
          </a:p>
        </p:txBody>
      </p:sp>
      <p:sp>
        <p:nvSpPr>
          <p:cNvPr id="106" name="TextBox 105">
            <a:extLst>
              <a:ext uri="{FF2B5EF4-FFF2-40B4-BE49-F238E27FC236}">
                <a16:creationId xmlns:a16="http://schemas.microsoft.com/office/drawing/2014/main" id="{6619C48D-7E22-9D49-50C5-2404458A47CE}"/>
              </a:ext>
            </a:extLst>
          </p:cNvPr>
          <p:cNvSpPr txBox="1"/>
          <p:nvPr/>
        </p:nvSpPr>
        <p:spPr>
          <a:xfrm>
            <a:off x="777742" y="5837255"/>
            <a:ext cx="8640000" cy="663634"/>
          </a:xfrm>
          <a:prstGeom prst="rect">
            <a:avLst/>
          </a:prstGeom>
          <a:noFill/>
        </p:spPr>
        <p:txBody>
          <a:bodyPr wrap="square" lIns="36000" tIns="36000" rIns="36000" bIns="36000">
            <a:spAutoFit/>
          </a:bodyPr>
          <a:lstStyle/>
          <a:p>
            <a:pPr marL="87313" lvl="0" indent="-87313" fontAlgn="base" latinLnBrk="0">
              <a:lnSpc>
                <a:spcPct val="160000"/>
              </a:lnSpc>
              <a:buFont typeface="Wingdings" panose="05000000000000000000" pitchFamily="2" charset="2"/>
              <a:buChar char="v"/>
            </a:pPr>
            <a:r>
              <a:rPr lang="ko-KR" altLang="en-US" sz="800" kern="0" dirty="0">
                <a:solidFill>
                  <a:srgbClr val="0000FF"/>
                </a:solidFill>
                <a:latin typeface="+mn-ea"/>
              </a:rPr>
              <a:t>입찰 공고 상세에서 입찰조건에 따른 버튼</a:t>
            </a:r>
            <a:r>
              <a:rPr lang="en-US" altLang="ko-KR" sz="800" kern="0" dirty="0">
                <a:solidFill>
                  <a:srgbClr val="0000FF"/>
                </a:solidFill>
                <a:latin typeface="+mn-ea"/>
              </a:rPr>
              <a:t>(</a:t>
            </a:r>
            <a:r>
              <a:rPr lang="ko-KR" altLang="en-US" sz="800" kern="0" dirty="0">
                <a:solidFill>
                  <a:srgbClr val="0000FF"/>
                </a:solidFill>
                <a:latin typeface="+mn-ea"/>
              </a:rPr>
              <a:t>입찰서</a:t>
            </a:r>
            <a:r>
              <a:rPr lang="en-US" altLang="ko-KR" sz="800" kern="0" dirty="0">
                <a:solidFill>
                  <a:srgbClr val="0000FF"/>
                </a:solidFill>
                <a:latin typeface="+mn-ea"/>
              </a:rPr>
              <a:t>(</a:t>
            </a:r>
            <a:r>
              <a:rPr lang="ko-KR" altLang="en-US" sz="800" kern="0" dirty="0">
                <a:solidFill>
                  <a:srgbClr val="0000FF"/>
                </a:solidFill>
                <a:latin typeface="+mn-ea"/>
              </a:rPr>
              <a:t>견적서</a:t>
            </a:r>
            <a:r>
              <a:rPr lang="en-US" altLang="ko-KR" sz="800" kern="0" dirty="0">
                <a:solidFill>
                  <a:srgbClr val="0000FF"/>
                </a:solidFill>
                <a:latin typeface="+mn-ea"/>
              </a:rPr>
              <a:t>), </a:t>
            </a:r>
            <a:r>
              <a:rPr lang="ko-KR" altLang="en-US" sz="800" kern="0" dirty="0">
                <a:solidFill>
                  <a:srgbClr val="0000FF"/>
                </a:solidFill>
                <a:latin typeface="+mn-ea"/>
              </a:rPr>
              <a:t>입찰참가 신청서</a:t>
            </a:r>
            <a:r>
              <a:rPr lang="en-US" altLang="ko-KR" sz="800" kern="0" dirty="0">
                <a:solidFill>
                  <a:srgbClr val="0000FF"/>
                </a:solidFill>
                <a:latin typeface="+mn-ea"/>
              </a:rPr>
              <a:t>, </a:t>
            </a:r>
            <a:r>
              <a:rPr lang="ko-KR" altLang="en-US" sz="800" kern="0" dirty="0">
                <a:solidFill>
                  <a:srgbClr val="0000FF"/>
                </a:solidFill>
                <a:latin typeface="+mn-ea"/>
              </a:rPr>
              <a:t>사전심사</a:t>
            </a:r>
            <a:r>
              <a:rPr lang="en-US" altLang="ko-KR" sz="800" kern="0" dirty="0">
                <a:solidFill>
                  <a:srgbClr val="0000FF"/>
                </a:solidFill>
                <a:latin typeface="+mn-ea"/>
              </a:rPr>
              <a:t>(PQ) </a:t>
            </a:r>
            <a:r>
              <a:rPr lang="ko-KR" altLang="en-US" sz="800" kern="0" dirty="0">
                <a:solidFill>
                  <a:srgbClr val="0000FF"/>
                </a:solidFill>
                <a:latin typeface="+mn-ea"/>
              </a:rPr>
              <a:t>신청서</a:t>
            </a:r>
            <a:r>
              <a:rPr lang="en-US" altLang="ko-KR" sz="800" kern="0" dirty="0">
                <a:solidFill>
                  <a:srgbClr val="0000FF"/>
                </a:solidFill>
                <a:latin typeface="+mn-ea"/>
              </a:rPr>
              <a:t>)</a:t>
            </a:r>
            <a:r>
              <a:rPr lang="ko-KR" altLang="en-US" sz="800" kern="0" dirty="0">
                <a:solidFill>
                  <a:srgbClr val="0000FF"/>
                </a:solidFill>
                <a:latin typeface="+mn-ea"/>
              </a:rPr>
              <a:t>과 </a:t>
            </a:r>
            <a:r>
              <a:rPr lang="ko-KR" altLang="en-US" sz="800" kern="0" dirty="0" err="1">
                <a:solidFill>
                  <a:srgbClr val="0000FF"/>
                </a:solidFill>
                <a:latin typeface="+mn-ea"/>
              </a:rPr>
              <a:t>관심공고</a:t>
            </a:r>
            <a:r>
              <a:rPr lang="ko-KR" altLang="en-US" sz="800" kern="0" dirty="0">
                <a:solidFill>
                  <a:srgbClr val="0000FF"/>
                </a:solidFill>
                <a:latin typeface="+mn-ea"/>
              </a:rPr>
              <a:t> 등록</a:t>
            </a:r>
            <a:r>
              <a:rPr lang="en-US" altLang="ko-KR" sz="800" kern="0" dirty="0">
                <a:solidFill>
                  <a:srgbClr val="0000FF"/>
                </a:solidFill>
                <a:latin typeface="+mn-ea"/>
              </a:rPr>
              <a:t>, </a:t>
            </a:r>
            <a:r>
              <a:rPr lang="ko-KR" altLang="en-US" sz="800" kern="0" dirty="0" err="1">
                <a:solidFill>
                  <a:srgbClr val="0000FF"/>
                </a:solidFill>
                <a:latin typeface="+mn-ea"/>
              </a:rPr>
              <a:t>환율정보</a:t>
            </a:r>
            <a:r>
              <a:rPr lang="ko-KR" altLang="en-US" sz="800" kern="0" dirty="0">
                <a:solidFill>
                  <a:srgbClr val="0000FF"/>
                </a:solidFill>
                <a:latin typeface="+mn-ea"/>
              </a:rPr>
              <a:t> 조회 버튼은 조건에 따라 노출합니다</a:t>
            </a:r>
            <a:r>
              <a:rPr lang="en-US" altLang="ko-KR" sz="800" kern="0" dirty="0">
                <a:solidFill>
                  <a:srgbClr val="0000FF"/>
                </a:solidFill>
                <a:latin typeface="+mn-ea"/>
              </a:rPr>
              <a:t>.</a:t>
            </a:r>
          </a:p>
          <a:p>
            <a:pPr marL="87313" lvl="0" indent="-87313" fontAlgn="base" latinLnBrk="0">
              <a:lnSpc>
                <a:spcPct val="160000"/>
              </a:lnSpc>
              <a:buFont typeface="Wingdings" panose="05000000000000000000" pitchFamily="2" charset="2"/>
              <a:buChar char="v"/>
            </a:pPr>
            <a:r>
              <a:rPr lang="ko-KR" altLang="en-US" sz="800" kern="0" dirty="0">
                <a:solidFill>
                  <a:srgbClr val="0000FF"/>
                </a:solidFill>
                <a:latin typeface="+mn-ea"/>
              </a:rPr>
              <a:t>입찰공고 상세에서 입찰 가능 조건에 따라 </a:t>
            </a:r>
            <a:r>
              <a:rPr lang="ko-KR" altLang="en-US" sz="800" kern="0" dirty="0" err="1">
                <a:solidFill>
                  <a:srgbClr val="0000FF"/>
                </a:solidFill>
                <a:latin typeface="+mn-ea"/>
              </a:rPr>
              <a:t>플로팅</a:t>
            </a:r>
            <a:r>
              <a:rPr lang="ko-KR" altLang="en-US" sz="800" kern="0" dirty="0">
                <a:solidFill>
                  <a:srgbClr val="0000FF"/>
                </a:solidFill>
                <a:latin typeface="+mn-ea"/>
              </a:rPr>
              <a:t> 버튼 화면상에 표시되는 버튼이 변동됩니다</a:t>
            </a:r>
            <a:r>
              <a:rPr lang="en-US" altLang="ko-KR" sz="800" kern="0" dirty="0">
                <a:solidFill>
                  <a:srgbClr val="0000FF"/>
                </a:solidFill>
                <a:latin typeface="+mn-ea"/>
              </a:rPr>
              <a:t>.</a:t>
            </a:r>
          </a:p>
          <a:p>
            <a:pPr marL="87313" lvl="0" indent="-87313" fontAlgn="base" latinLnBrk="0">
              <a:lnSpc>
                <a:spcPct val="160000"/>
              </a:lnSpc>
              <a:buFont typeface="Wingdings" panose="05000000000000000000" pitchFamily="2" charset="2"/>
              <a:buChar char="v"/>
            </a:pPr>
            <a:r>
              <a:rPr lang="ko-KR" altLang="en-US" sz="800" kern="0" dirty="0">
                <a:solidFill>
                  <a:srgbClr val="0000FF"/>
                </a:solidFill>
                <a:latin typeface="+mn-ea"/>
              </a:rPr>
              <a:t>로그인 여부에 따라 입찰 작성 페이지 이동을 하거나</a:t>
            </a:r>
            <a:r>
              <a:rPr lang="en-US" altLang="ko-KR" sz="800" kern="0" dirty="0">
                <a:solidFill>
                  <a:srgbClr val="0000FF"/>
                </a:solidFill>
                <a:latin typeface="+mn-ea"/>
              </a:rPr>
              <a:t>, </a:t>
            </a:r>
            <a:r>
              <a:rPr lang="ko-KR" altLang="en-US" sz="800" kern="0" dirty="0">
                <a:solidFill>
                  <a:srgbClr val="0000FF"/>
                </a:solidFill>
                <a:latin typeface="+mn-ea"/>
              </a:rPr>
              <a:t>공고 상세 페이지에서 로그인 안내가 노출됩니다</a:t>
            </a:r>
            <a:r>
              <a:rPr lang="en-US" altLang="ko-KR" sz="800" kern="0" dirty="0">
                <a:solidFill>
                  <a:srgbClr val="0000FF"/>
                </a:solidFill>
                <a:latin typeface="+mn-ea"/>
              </a:rPr>
              <a:t>.</a:t>
            </a:r>
            <a:endParaRPr lang="ko-KR" altLang="en-US" sz="800" kern="0" dirty="0">
              <a:solidFill>
                <a:srgbClr val="0000FF"/>
              </a:solidFill>
              <a:latin typeface="+mn-ea"/>
            </a:endParaRPr>
          </a:p>
        </p:txBody>
      </p:sp>
      <p:cxnSp>
        <p:nvCxnSpPr>
          <p:cNvPr id="121" name="직선 화살표 연결선 120">
            <a:extLst>
              <a:ext uri="{FF2B5EF4-FFF2-40B4-BE49-F238E27FC236}">
                <a16:creationId xmlns:a16="http://schemas.microsoft.com/office/drawing/2014/main" id="{9A519F08-B829-E35F-09D8-DFCD1F68B911}"/>
              </a:ext>
            </a:extLst>
          </p:cNvPr>
          <p:cNvCxnSpPr>
            <a:cxnSpLocks/>
            <a:stCxn id="70" idx="2"/>
            <a:endCxn id="38" idx="0"/>
          </p:cNvCxnSpPr>
          <p:nvPr/>
        </p:nvCxnSpPr>
        <p:spPr>
          <a:xfrm>
            <a:off x="2816608" y="1916964"/>
            <a:ext cx="0" cy="393895"/>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직사각형 61">
            <a:extLst>
              <a:ext uri="{FF2B5EF4-FFF2-40B4-BE49-F238E27FC236}">
                <a16:creationId xmlns:a16="http://schemas.microsoft.com/office/drawing/2014/main" id="{23C86455-E84C-0CEA-5C6B-05BE50ADCEF5}"/>
              </a:ext>
            </a:extLst>
          </p:cNvPr>
          <p:cNvSpPr/>
          <p:nvPr/>
        </p:nvSpPr>
        <p:spPr>
          <a:xfrm>
            <a:off x="1191585"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sp>
        <p:nvSpPr>
          <p:cNvPr id="147" name="사각형: 둥근 모서리 5">
            <a:extLst>
              <a:ext uri="{FF2B5EF4-FFF2-40B4-BE49-F238E27FC236}">
                <a16:creationId xmlns:a16="http://schemas.microsoft.com/office/drawing/2014/main" id="{410E5459-200D-7630-863C-88E5109259DF}"/>
              </a:ext>
            </a:extLst>
          </p:cNvPr>
          <p:cNvSpPr/>
          <p:nvPr/>
        </p:nvSpPr>
        <p:spPr>
          <a:xfrm>
            <a:off x="7856934" y="1628964"/>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페이지 이동</a:t>
            </a:r>
          </a:p>
        </p:txBody>
      </p:sp>
      <p:cxnSp>
        <p:nvCxnSpPr>
          <p:cNvPr id="66" name="연결선: 꺾임 7">
            <a:extLst>
              <a:ext uri="{FF2B5EF4-FFF2-40B4-BE49-F238E27FC236}">
                <a16:creationId xmlns:a16="http://schemas.microsoft.com/office/drawing/2014/main" id="{89A2D828-4C18-4F90-6B31-722E89773AA8}"/>
              </a:ext>
            </a:extLst>
          </p:cNvPr>
          <p:cNvCxnSpPr>
            <a:cxnSpLocks/>
            <a:stCxn id="38" idx="3"/>
            <a:endCxn id="41" idx="1"/>
          </p:cNvCxnSpPr>
          <p:nvPr/>
        </p:nvCxnSpPr>
        <p:spPr>
          <a:xfrm>
            <a:off x="3266608" y="2454859"/>
            <a:ext cx="931134" cy="681895"/>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3" name="직사각형 72">
            <a:extLst>
              <a:ext uri="{FF2B5EF4-FFF2-40B4-BE49-F238E27FC236}">
                <a16:creationId xmlns:a16="http://schemas.microsoft.com/office/drawing/2014/main" id="{F249990F-1DE5-C694-BDBD-2DE7009D57EA}"/>
              </a:ext>
            </a:extLst>
          </p:cNvPr>
          <p:cNvSpPr/>
          <p:nvPr/>
        </p:nvSpPr>
        <p:spPr>
          <a:xfrm>
            <a:off x="6797071" y="1470813"/>
            <a:ext cx="5770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Y</a:t>
            </a:r>
            <a:endParaRPr lang="ko-KR" altLang="en-US" sz="800" dirty="0">
              <a:solidFill>
                <a:schemeClr val="tx1"/>
              </a:solidFill>
            </a:endParaRPr>
          </a:p>
        </p:txBody>
      </p:sp>
      <p:sp>
        <p:nvSpPr>
          <p:cNvPr id="72" name="다이아몬드 71"/>
          <p:cNvSpPr/>
          <p:nvPr/>
        </p:nvSpPr>
        <p:spPr>
          <a:xfrm>
            <a:off x="5993499" y="1628964"/>
            <a:ext cx="900000" cy="288000"/>
          </a:xfrm>
          <a:prstGeom prst="diamond">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로그인</a:t>
            </a:r>
          </a:p>
        </p:txBody>
      </p:sp>
      <p:sp>
        <p:nvSpPr>
          <p:cNvPr id="74" name="사각형: 둥근 모서리 5">
            <a:extLst>
              <a:ext uri="{FF2B5EF4-FFF2-40B4-BE49-F238E27FC236}">
                <a16:creationId xmlns:a16="http://schemas.microsoft.com/office/drawing/2014/main" id="{410E5459-200D-7630-863C-88E5109259DF}"/>
              </a:ext>
            </a:extLst>
          </p:cNvPr>
          <p:cNvSpPr/>
          <p:nvPr/>
        </p:nvSpPr>
        <p:spPr>
          <a:xfrm>
            <a:off x="5993499" y="2307750"/>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a:solidFill>
                  <a:schemeClr val="tx1"/>
                </a:solidFill>
              </a:rPr>
              <a:t>로그인 안내</a:t>
            </a:r>
            <a:endParaRPr lang="ko-KR" altLang="en-US" sz="800" dirty="0">
              <a:solidFill>
                <a:schemeClr val="tx1"/>
              </a:solidFill>
            </a:endParaRPr>
          </a:p>
        </p:txBody>
      </p:sp>
      <p:cxnSp>
        <p:nvCxnSpPr>
          <p:cNvPr id="75" name="직선 화살표 연결선 74">
            <a:extLst>
              <a:ext uri="{FF2B5EF4-FFF2-40B4-BE49-F238E27FC236}">
                <a16:creationId xmlns:a16="http://schemas.microsoft.com/office/drawing/2014/main" id="{9A519F08-B829-E35F-09D8-DFCD1F68B911}"/>
              </a:ext>
            </a:extLst>
          </p:cNvPr>
          <p:cNvCxnSpPr>
            <a:cxnSpLocks/>
            <a:stCxn id="72" idx="2"/>
            <a:endCxn id="74" idx="0"/>
          </p:cNvCxnSpPr>
          <p:nvPr/>
        </p:nvCxnSpPr>
        <p:spPr>
          <a:xfrm>
            <a:off x="6443499" y="1916964"/>
            <a:ext cx="0" cy="39078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 name="직사각형 75">
            <a:extLst>
              <a:ext uri="{FF2B5EF4-FFF2-40B4-BE49-F238E27FC236}">
                <a16:creationId xmlns:a16="http://schemas.microsoft.com/office/drawing/2014/main" id="{F249990F-1DE5-C694-BDBD-2DE7009D57EA}"/>
              </a:ext>
            </a:extLst>
          </p:cNvPr>
          <p:cNvSpPr/>
          <p:nvPr/>
        </p:nvSpPr>
        <p:spPr>
          <a:xfrm>
            <a:off x="6536938" y="2141147"/>
            <a:ext cx="7854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N</a:t>
            </a:r>
            <a:endParaRPr lang="ko-KR" altLang="en-US" sz="800" dirty="0">
              <a:solidFill>
                <a:schemeClr val="tx1"/>
              </a:solidFill>
            </a:endParaRPr>
          </a:p>
        </p:txBody>
      </p:sp>
      <p:sp>
        <p:nvSpPr>
          <p:cNvPr id="78" name="직사각형 77">
            <a:extLst>
              <a:ext uri="{FF2B5EF4-FFF2-40B4-BE49-F238E27FC236}">
                <a16:creationId xmlns:a16="http://schemas.microsoft.com/office/drawing/2014/main" id="{4FB9FCCA-B5F3-C0E2-F563-4F0CE0FC24CF}"/>
              </a:ext>
            </a:extLst>
          </p:cNvPr>
          <p:cNvSpPr/>
          <p:nvPr/>
        </p:nvSpPr>
        <p:spPr>
          <a:xfrm>
            <a:off x="6324502" y="3239492"/>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79" name="그룹 78">
            <a:extLst>
              <a:ext uri="{FF2B5EF4-FFF2-40B4-BE49-F238E27FC236}">
                <a16:creationId xmlns:a16="http://schemas.microsoft.com/office/drawing/2014/main" id="{E7279F6C-9434-7961-8F6B-B7AE44CE5FCD}"/>
              </a:ext>
            </a:extLst>
          </p:cNvPr>
          <p:cNvGrpSpPr/>
          <p:nvPr/>
        </p:nvGrpSpPr>
        <p:grpSpPr>
          <a:xfrm>
            <a:off x="6353499" y="3038338"/>
            <a:ext cx="180000" cy="180000"/>
            <a:chOff x="5058274" y="2498299"/>
            <a:chExt cx="180000" cy="180000"/>
          </a:xfrm>
        </p:grpSpPr>
        <p:sp>
          <p:nvSpPr>
            <p:cNvPr id="80" name="타원 79">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타원 83">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85" name="직선 화살표 연결선 84">
            <a:extLst>
              <a:ext uri="{FF2B5EF4-FFF2-40B4-BE49-F238E27FC236}">
                <a16:creationId xmlns:a16="http://schemas.microsoft.com/office/drawing/2014/main" id="{9A519F08-B829-E35F-09D8-DFCD1F68B911}"/>
              </a:ext>
            </a:extLst>
          </p:cNvPr>
          <p:cNvCxnSpPr>
            <a:cxnSpLocks/>
            <a:stCxn id="74" idx="2"/>
            <a:endCxn id="80" idx="0"/>
          </p:cNvCxnSpPr>
          <p:nvPr/>
        </p:nvCxnSpPr>
        <p:spPr>
          <a:xfrm>
            <a:off x="6443499" y="2595750"/>
            <a:ext cx="0" cy="44258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연결선: 꺾임 7">
            <a:extLst>
              <a:ext uri="{FF2B5EF4-FFF2-40B4-BE49-F238E27FC236}">
                <a16:creationId xmlns:a16="http://schemas.microsoft.com/office/drawing/2014/main" id="{89A2D828-4C18-4F90-6B31-722E89773AA8}"/>
              </a:ext>
            </a:extLst>
          </p:cNvPr>
          <p:cNvCxnSpPr>
            <a:cxnSpLocks/>
            <a:stCxn id="38" idx="3"/>
            <a:endCxn id="77" idx="1"/>
          </p:cNvCxnSpPr>
          <p:nvPr/>
        </p:nvCxnSpPr>
        <p:spPr>
          <a:xfrm flipV="1">
            <a:off x="3266608" y="1772964"/>
            <a:ext cx="931134" cy="681895"/>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직선 화살표 연결선 86">
            <a:extLst>
              <a:ext uri="{FF2B5EF4-FFF2-40B4-BE49-F238E27FC236}">
                <a16:creationId xmlns:a16="http://schemas.microsoft.com/office/drawing/2014/main" id="{9A519F08-B829-E35F-09D8-DFCD1F68B911}"/>
              </a:ext>
            </a:extLst>
          </p:cNvPr>
          <p:cNvCxnSpPr>
            <a:cxnSpLocks/>
            <a:stCxn id="72" idx="3"/>
            <a:endCxn id="147" idx="1"/>
          </p:cNvCxnSpPr>
          <p:nvPr/>
        </p:nvCxnSpPr>
        <p:spPr>
          <a:xfrm>
            <a:off x="6893499" y="1772964"/>
            <a:ext cx="963435"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8" name="사각형: 둥근 모서리 5">
            <a:extLst>
              <a:ext uri="{FF2B5EF4-FFF2-40B4-BE49-F238E27FC236}">
                <a16:creationId xmlns:a16="http://schemas.microsoft.com/office/drawing/2014/main" id="{410E5459-200D-7630-863C-88E5109259DF}"/>
              </a:ext>
            </a:extLst>
          </p:cNvPr>
          <p:cNvSpPr/>
          <p:nvPr/>
        </p:nvSpPr>
        <p:spPr>
          <a:xfrm>
            <a:off x="2366608"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플로팅</a:t>
            </a:r>
            <a:r>
              <a:rPr lang="ko-KR" altLang="en-US" sz="800" dirty="0">
                <a:solidFill>
                  <a:schemeClr val="tx1"/>
                </a:solidFill>
              </a:rPr>
              <a:t> 버튼</a:t>
            </a:r>
          </a:p>
        </p:txBody>
      </p:sp>
      <p:sp>
        <p:nvSpPr>
          <p:cNvPr id="40" name="사각형: 둥근 모서리 5">
            <a:extLst>
              <a:ext uri="{FF2B5EF4-FFF2-40B4-BE49-F238E27FC236}">
                <a16:creationId xmlns:a16="http://schemas.microsoft.com/office/drawing/2014/main" id="{410E5459-200D-7630-863C-88E5109259DF}"/>
              </a:ext>
            </a:extLst>
          </p:cNvPr>
          <p:cNvSpPr/>
          <p:nvPr/>
        </p:nvSpPr>
        <p:spPr>
          <a:xfrm>
            <a:off x="4197742"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견적서 작성</a:t>
            </a:r>
            <a:endParaRPr lang="en-US" altLang="ko-KR" sz="800" dirty="0">
              <a:solidFill>
                <a:schemeClr val="tx1"/>
              </a:solidFill>
            </a:endParaRPr>
          </a:p>
          <a:p>
            <a:pPr algn="ctr"/>
            <a:r>
              <a:rPr lang="ko-KR" altLang="en-US" sz="800" dirty="0">
                <a:solidFill>
                  <a:schemeClr val="tx1"/>
                </a:solidFill>
              </a:rPr>
              <a:t>입찰서 작성 버튼</a:t>
            </a:r>
          </a:p>
        </p:txBody>
      </p:sp>
      <p:sp>
        <p:nvSpPr>
          <p:cNvPr id="41" name="사각형: 둥근 모서리 5">
            <a:extLst>
              <a:ext uri="{FF2B5EF4-FFF2-40B4-BE49-F238E27FC236}">
                <a16:creationId xmlns:a16="http://schemas.microsoft.com/office/drawing/2014/main" id="{410E5459-200D-7630-863C-88E5109259DF}"/>
              </a:ext>
            </a:extLst>
          </p:cNvPr>
          <p:cNvSpPr/>
          <p:nvPr/>
        </p:nvSpPr>
        <p:spPr>
          <a:xfrm>
            <a:off x="4197742" y="299275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입찰참가신청서 작성 버튼</a:t>
            </a:r>
          </a:p>
        </p:txBody>
      </p:sp>
      <p:cxnSp>
        <p:nvCxnSpPr>
          <p:cNvPr id="48" name="직선 화살표 연결선 47">
            <a:extLst>
              <a:ext uri="{FF2B5EF4-FFF2-40B4-BE49-F238E27FC236}">
                <a16:creationId xmlns:a16="http://schemas.microsoft.com/office/drawing/2014/main" id="{9A519F08-B829-E35F-09D8-DFCD1F68B911}"/>
              </a:ext>
            </a:extLst>
          </p:cNvPr>
          <p:cNvCxnSpPr>
            <a:cxnSpLocks/>
            <a:stCxn id="38" idx="3"/>
            <a:endCxn id="40" idx="1"/>
          </p:cNvCxnSpPr>
          <p:nvPr/>
        </p:nvCxnSpPr>
        <p:spPr>
          <a:xfrm>
            <a:off x="3266608" y="2454859"/>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A519F08-B829-E35F-09D8-DFCD1F68B911}"/>
              </a:ext>
            </a:extLst>
          </p:cNvPr>
          <p:cNvCxnSpPr>
            <a:cxnSpLocks/>
            <a:stCxn id="77" idx="3"/>
            <a:endCxn id="72" idx="1"/>
          </p:cNvCxnSpPr>
          <p:nvPr/>
        </p:nvCxnSpPr>
        <p:spPr>
          <a:xfrm>
            <a:off x="5097742" y="1772964"/>
            <a:ext cx="89575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 name="연결선: 꺾임 7">
            <a:extLst>
              <a:ext uri="{FF2B5EF4-FFF2-40B4-BE49-F238E27FC236}">
                <a16:creationId xmlns:a16="http://schemas.microsoft.com/office/drawing/2014/main" id="{89A2D828-4C18-4F90-6B31-722E89773AA8}"/>
              </a:ext>
            </a:extLst>
          </p:cNvPr>
          <p:cNvCxnSpPr>
            <a:cxnSpLocks/>
            <a:stCxn id="41" idx="3"/>
            <a:endCxn id="72" idx="1"/>
          </p:cNvCxnSpPr>
          <p:nvPr/>
        </p:nvCxnSpPr>
        <p:spPr>
          <a:xfrm flipV="1">
            <a:off x="5097742" y="1772964"/>
            <a:ext cx="895757" cy="1363790"/>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연결선: 꺾임 7">
            <a:extLst>
              <a:ext uri="{FF2B5EF4-FFF2-40B4-BE49-F238E27FC236}">
                <a16:creationId xmlns:a16="http://schemas.microsoft.com/office/drawing/2014/main" id="{89A2D828-4C18-4F90-6B31-722E89773AA8}"/>
              </a:ext>
            </a:extLst>
          </p:cNvPr>
          <p:cNvCxnSpPr>
            <a:cxnSpLocks/>
            <a:stCxn id="40" idx="3"/>
            <a:endCxn id="72" idx="1"/>
          </p:cNvCxnSpPr>
          <p:nvPr/>
        </p:nvCxnSpPr>
        <p:spPr>
          <a:xfrm flipV="1">
            <a:off x="5097742" y="1772964"/>
            <a:ext cx="895757" cy="681895"/>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연결선: 꺾임 7">
            <a:extLst>
              <a:ext uri="{FF2B5EF4-FFF2-40B4-BE49-F238E27FC236}">
                <a16:creationId xmlns:a16="http://schemas.microsoft.com/office/drawing/2014/main" id="{89A2D828-4C18-4F90-6B31-722E89773AA8}"/>
              </a:ext>
            </a:extLst>
          </p:cNvPr>
          <p:cNvCxnSpPr>
            <a:cxnSpLocks/>
            <a:stCxn id="147" idx="2"/>
            <a:endCxn id="80" idx="6"/>
          </p:cNvCxnSpPr>
          <p:nvPr/>
        </p:nvCxnSpPr>
        <p:spPr>
          <a:xfrm rot="5400000">
            <a:off x="6814530" y="1635934"/>
            <a:ext cx="1211374" cy="1773435"/>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사각형: 둥근 모서리 5">
            <a:extLst>
              <a:ext uri="{FF2B5EF4-FFF2-40B4-BE49-F238E27FC236}">
                <a16:creationId xmlns:a16="http://schemas.microsoft.com/office/drawing/2014/main" id="{410E5459-200D-7630-863C-88E5109259DF}"/>
              </a:ext>
            </a:extLst>
          </p:cNvPr>
          <p:cNvSpPr/>
          <p:nvPr/>
        </p:nvSpPr>
        <p:spPr>
          <a:xfrm>
            <a:off x="4197742" y="367464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입찰포기</a:t>
            </a:r>
            <a:endParaRPr lang="en-US" altLang="ko-KR" sz="800" dirty="0">
              <a:solidFill>
                <a:schemeClr val="tx1"/>
              </a:solidFill>
            </a:endParaRPr>
          </a:p>
          <a:p>
            <a:pPr algn="ctr"/>
            <a:r>
              <a:rPr lang="ko-KR" altLang="en-US" sz="800" dirty="0">
                <a:solidFill>
                  <a:schemeClr val="tx1"/>
                </a:solidFill>
              </a:rPr>
              <a:t>신청 버튼</a:t>
            </a:r>
          </a:p>
        </p:txBody>
      </p:sp>
      <p:cxnSp>
        <p:nvCxnSpPr>
          <p:cNvPr id="68" name="연결선: 꺾임 7">
            <a:extLst>
              <a:ext uri="{FF2B5EF4-FFF2-40B4-BE49-F238E27FC236}">
                <a16:creationId xmlns:a16="http://schemas.microsoft.com/office/drawing/2014/main" id="{89A2D828-4C18-4F90-6B31-722E89773AA8}"/>
              </a:ext>
            </a:extLst>
          </p:cNvPr>
          <p:cNvCxnSpPr>
            <a:cxnSpLocks/>
            <a:stCxn id="38" idx="3"/>
            <a:endCxn id="67" idx="1"/>
          </p:cNvCxnSpPr>
          <p:nvPr/>
        </p:nvCxnSpPr>
        <p:spPr>
          <a:xfrm>
            <a:off x="3266608" y="2454859"/>
            <a:ext cx="931134" cy="1363790"/>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1" name="사각형: 둥근 모서리 5">
            <a:extLst>
              <a:ext uri="{FF2B5EF4-FFF2-40B4-BE49-F238E27FC236}">
                <a16:creationId xmlns:a16="http://schemas.microsoft.com/office/drawing/2014/main" id="{410E5459-200D-7630-863C-88E5109259DF}"/>
              </a:ext>
            </a:extLst>
          </p:cNvPr>
          <p:cNvSpPr/>
          <p:nvPr/>
        </p:nvSpPr>
        <p:spPr>
          <a:xfrm>
            <a:off x="5993499" y="504043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환율정보조회</a:t>
            </a:r>
          </a:p>
        </p:txBody>
      </p:sp>
      <p:cxnSp>
        <p:nvCxnSpPr>
          <p:cNvPr id="82" name="직선 화살표 연결선 81">
            <a:extLst>
              <a:ext uri="{FF2B5EF4-FFF2-40B4-BE49-F238E27FC236}">
                <a16:creationId xmlns:a16="http://schemas.microsoft.com/office/drawing/2014/main" id="{9A519F08-B829-E35F-09D8-DFCD1F68B911}"/>
              </a:ext>
            </a:extLst>
          </p:cNvPr>
          <p:cNvCxnSpPr>
            <a:cxnSpLocks/>
            <a:stCxn id="47" idx="3"/>
            <a:endCxn id="81" idx="1"/>
          </p:cNvCxnSpPr>
          <p:nvPr/>
        </p:nvCxnSpPr>
        <p:spPr>
          <a:xfrm>
            <a:off x="5097742" y="5184438"/>
            <a:ext cx="895757"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3" name="연결선: 꺾임 7">
            <a:extLst>
              <a:ext uri="{FF2B5EF4-FFF2-40B4-BE49-F238E27FC236}">
                <a16:creationId xmlns:a16="http://schemas.microsoft.com/office/drawing/2014/main" id="{89A2D828-4C18-4F90-6B31-722E89773AA8}"/>
              </a:ext>
            </a:extLst>
          </p:cNvPr>
          <p:cNvCxnSpPr>
            <a:cxnSpLocks/>
            <a:stCxn id="81" idx="3"/>
            <a:endCxn id="80" idx="6"/>
          </p:cNvCxnSpPr>
          <p:nvPr/>
        </p:nvCxnSpPr>
        <p:spPr>
          <a:xfrm flipH="1" flipV="1">
            <a:off x="6533499" y="3128338"/>
            <a:ext cx="360000" cy="2056100"/>
          </a:xfrm>
          <a:prstGeom prst="bentConnector3">
            <a:avLst>
              <a:gd name="adj1" fmla="val -635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F249990F-1DE5-C694-BDBD-2DE7009D57EA}"/>
              </a:ext>
            </a:extLst>
          </p:cNvPr>
          <p:cNvSpPr/>
          <p:nvPr/>
        </p:nvSpPr>
        <p:spPr>
          <a:xfrm>
            <a:off x="4197742" y="1496403"/>
            <a:ext cx="1019510"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100</a:t>
            </a:r>
            <a:r>
              <a:rPr lang="ko-KR" altLang="en-US" sz="800" dirty="0">
                <a:solidFill>
                  <a:schemeClr val="tx1"/>
                </a:solidFill>
              </a:rPr>
              <a:t>억 이상 용역</a:t>
            </a:r>
            <a:r>
              <a:rPr lang="en-US" altLang="ko-KR" sz="800" dirty="0">
                <a:solidFill>
                  <a:schemeClr val="tx1"/>
                </a:solidFill>
              </a:rPr>
              <a:t>, </a:t>
            </a:r>
            <a:r>
              <a:rPr lang="ko-KR" altLang="en-US" sz="800" dirty="0">
                <a:solidFill>
                  <a:schemeClr val="tx1"/>
                </a:solidFill>
              </a:rPr>
              <a:t>공사</a:t>
            </a:r>
          </a:p>
        </p:txBody>
      </p:sp>
      <p:sp>
        <p:nvSpPr>
          <p:cNvPr id="95" name="직사각형 94">
            <a:extLst>
              <a:ext uri="{FF2B5EF4-FFF2-40B4-BE49-F238E27FC236}">
                <a16:creationId xmlns:a16="http://schemas.microsoft.com/office/drawing/2014/main" id="{F249990F-1DE5-C694-BDBD-2DE7009D57EA}"/>
              </a:ext>
            </a:extLst>
          </p:cNvPr>
          <p:cNvSpPr/>
          <p:nvPr/>
        </p:nvSpPr>
        <p:spPr>
          <a:xfrm>
            <a:off x="4197742" y="2863988"/>
            <a:ext cx="410369"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경쟁계약</a:t>
            </a:r>
          </a:p>
        </p:txBody>
      </p:sp>
      <p:sp>
        <p:nvSpPr>
          <p:cNvPr id="96" name="직사각형 95">
            <a:extLst>
              <a:ext uri="{FF2B5EF4-FFF2-40B4-BE49-F238E27FC236}">
                <a16:creationId xmlns:a16="http://schemas.microsoft.com/office/drawing/2014/main" id="{F249990F-1DE5-C694-BDBD-2DE7009D57EA}"/>
              </a:ext>
            </a:extLst>
          </p:cNvPr>
          <p:cNvSpPr/>
          <p:nvPr/>
        </p:nvSpPr>
        <p:spPr>
          <a:xfrm>
            <a:off x="4197742" y="2184639"/>
            <a:ext cx="615553"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공개수의협상</a:t>
            </a:r>
          </a:p>
        </p:txBody>
      </p:sp>
      <p:sp>
        <p:nvSpPr>
          <p:cNvPr id="46" name="사각형: 둥근 모서리 5">
            <a:extLst>
              <a:ext uri="{FF2B5EF4-FFF2-40B4-BE49-F238E27FC236}">
                <a16:creationId xmlns:a16="http://schemas.microsoft.com/office/drawing/2014/main" id="{410E5459-200D-7630-863C-88E5109259DF}"/>
              </a:ext>
            </a:extLst>
          </p:cNvPr>
          <p:cNvSpPr/>
          <p:nvPr/>
        </p:nvSpPr>
        <p:spPr>
          <a:xfrm>
            <a:off x="4197742" y="435654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입찰취소</a:t>
            </a:r>
            <a:endParaRPr lang="en-US" altLang="ko-KR" sz="800" dirty="0">
              <a:solidFill>
                <a:schemeClr val="tx1"/>
              </a:solidFill>
            </a:endParaRPr>
          </a:p>
          <a:p>
            <a:pPr algn="ctr"/>
            <a:r>
              <a:rPr lang="ko-KR" altLang="en-US" sz="800" dirty="0">
                <a:solidFill>
                  <a:schemeClr val="tx1"/>
                </a:solidFill>
              </a:rPr>
              <a:t>신청 버튼</a:t>
            </a:r>
          </a:p>
        </p:txBody>
      </p:sp>
      <p:sp>
        <p:nvSpPr>
          <p:cNvPr id="47" name="사각형: 둥근 모서리 5">
            <a:extLst>
              <a:ext uri="{FF2B5EF4-FFF2-40B4-BE49-F238E27FC236}">
                <a16:creationId xmlns:a16="http://schemas.microsoft.com/office/drawing/2014/main" id="{410E5459-200D-7630-863C-88E5109259DF}"/>
              </a:ext>
            </a:extLst>
          </p:cNvPr>
          <p:cNvSpPr/>
          <p:nvPr/>
        </p:nvSpPr>
        <p:spPr>
          <a:xfrm>
            <a:off x="4197742" y="504043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환율정보</a:t>
            </a:r>
            <a:r>
              <a:rPr lang="ko-KR" altLang="en-US" sz="800" dirty="0">
                <a:solidFill>
                  <a:schemeClr val="tx1"/>
                </a:solidFill>
              </a:rPr>
              <a:t> 버튼</a:t>
            </a:r>
          </a:p>
        </p:txBody>
      </p:sp>
      <p:cxnSp>
        <p:nvCxnSpPr>
          <p:cNvPr id="49" name="연결선: 꺾임 7">
            <a:extLst>
              <a:ext uri="{FF2B5EF4-FFF2-40B4-BE49-F238E27FC236}">
                <a16:creationId xmlns:a16="http://schemas.microsoft.com/office/drawing/2014/main" id="{89A2D828-4C18-4F90-6B31-722E89773AA8}"/>
              </a:ext>
            </a:extLst>
          </p:cNvPr>
          <p:cNvCxnSpPr>
            <a:cxnSpLocks/>
            <a:stCxn id="38" idx="3"/>
            <a:endCxn id="46" idx="1"/>
          </p:cNvCxnSpPr>
          <p:nvPr/>
        </p:nvCxnSpPr>
        <p:spPr>
          <a:xfrm>
            <a:off x="3266608" y="2454859"/>
            <a:ext cx="931134" cy="2045685"/>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연결선: 꺾임 7">
            <a:extLst>
              <a:ext uri="{FF2B5EF4-FFF2-40B4-BE49-F238E27FC236}">
                <a16:creationId xmlns:a16="http://schemas.microsoft.com/office/drawing/2014/main" id="{89A2D828-4C18-4F90-6B31-722E89773AA8}"/>
              </a:ext>
            </a:extLst>
          </p:cNvPr>
          <p:cNvCxnSpPr>
            <a:cxnSpLocks/>
            <a:stCxn id="38" idx="3"/>
            <a:endCxn id="47" idx="1"/>
          </p:cNvCxnSpPr>
          <p:nvPr/>
        </p:nvCxnSpPr>
        <p:spPr>
          <a:xfrm>
            <a:off x="3266608" y="2454859"/>
            <a:ext cx="931134" cy="2729579"/>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직사각형 62">
            <a:extLst>
              <a:ext uri="{FF2B5EF4-FFF2-40B4-BE49-F238E27FC236}">
                <a16:creationId xmlns:a16="http://schemas.microsoft.com/office/drawing/2014/main" id="{F249990F-1DE5-C694-BDBD-2DE7009D57EA}"/>
              </a:ext>
            </a:extLst>
          </p:cNvPr>
          <p:cNvSpPr/>
          <p:nvPr/>
        </p:nvSpPr>
        <p:spPr>
          <a:xfrm>
            <a:off x="4197742" y="3545607"/>
            <a:ext cx="1275990"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기로그인</a:t>
            </a:r>
            <a:r>
              <a:rPr lang="ko-KR" altLang="en-US" sz="800" dirty="0">
                <a:solidFill>
                  <a:schemeClr val="tx1"/>
                </a:solidFill>
              </a:rPr>
              <a:t> 및 신청한 공고 有</a:t>
            </a:r>
          </a:p>
        </p:txBody>
      </p:sp>
      <p:sp>
        <p:nvSpPr>
          <p:cNvPr id="65" name="직사각형 64">
            <a:extLst>
              <a:ext uri="{FF2B5EF4-FFF2-40B4-BE49-F238E27FC236}">
                <a16:creationId xmlns:a16="http://schemas.microsoft.com/office/drawing/2014/main" id="{F249990F-1DE5-C694-BDBD-2DE7009D57EA}"/>
              </a:ext>
            </a:extLst>
          </p:cNvPr>
          <p:cNvSpPr/>
          <p:nvPr/>
        </p:nvSpPr>
        <p:spPr>
          <a:xfrm>
            <a:off x="4197742" y="4233081"/>
            <a:ext cx="1275990"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기로그인</a:t>
            </a:r>
            <a:r>
              <a:rPr lang="ko-KR" altLang="en-US" sz="800" dirty="0">
                <a:solidFill>
                  <a:schemeClr val="tx1"/>
                </a:solidFill>
              </a:rPr>
              <a:t> 및 신청한 공고 有</a:t>
            </a:r>
          </a:p>
        </p:txBody>
      </p:sp>
      <p:sp>
        <p:nvSpPr>
          <p:cNvPr id="50" name="직사각형 49">
            <a:extLst>
              <a:ext uri="{FF2B5EF4-FFF2-40B4-BE49-F238E27FC236}">
                <a16:creationId xmlns:a16="http://schemas.microsoft.com/office/drawing/2014/main" id="{F249990F-1DE5-C694-BDBD-2DE7009D57EA}"/>
              </a:ext>
            </a:extLst>
          </p:cNvPr>
          <p:cNvSpPr/>
          <p:nvPr/>
        </p:nvSpPr>
        <p:spPr>
          <a:xfrm>
            <a:off x="4197742" y="4893555"/>
            <a:ext cx="44723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국외 공고</a:t>
            </a:r>
          </a:p>
        </p:txBody>
      </p:sp>
    </p:spTree>
    <p:extLst>
      <p:ext uri="{BB962C8B-B14F-4D97-AF65-F5344CB8AC3E}">
        <p14:creationId xmlns:p14="http://schemas.microsoft.com/office/powerpoint/2010/main" val="43291696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53</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4.3 </a:t>
            </a:r>
            <a:r>
              <a:rPr lang="ko-KR" altLang="en-US" dirty="0"/>
              <a:t>앱 구성 다이어그램</a:t>
            </a:r>
          </a:p>
        </p:txBody>
      </p:sp>
      <p:sp>
        <p:nvSpPr>
          <p:cNvPr id="6" name="직사각형 5">
            <a:extLst>
              <a:ext uri="{FF2B5EF4-FFF2-40B4-BE49-F238E27FC236}">
                <a16:creationId xmlns:a16="http://schemas.microsoft.com/office/drawing/2014/main" id="{3FD7B626-4B5C-AE29-EFB9-628750B32B78}"/>
              </a:ext>
            </a:extLst>
          </p:cNvPr>
          <p:cNvSpPr/>
          <p:nvPr/>
        </p:nvSpPr>
        <p:spPr>
          <a:xfrm>
            <a:off x="1265382" y="2270143"/>
            <a:ext cx="1727200" cy="63676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solidFill>
                  <a:schemeClr val="tx1"/>
                </a:solidFill>
              </a:rPr>
              <a:t>&lt;&lt;App Page&gt;&gt;</a:t>
            </a:r>
          </a:p>
          <a:p>
            <a:pPr algn="ctr"/>
            <a:r>
              <a:rPr lang="ko-KR" altLang="en-US" sz="1100" dirty="0" err="1">
                <a:solidFill>
                  <a:schemeClr val="tx1"/>
                </a:solidFill>
              </a:rPr>
              <a:t>플로팅</a:t>
            </a:r>
            <a:r>
              <a:rPr lang="ko-KR" altLang="en-US" sz="1100" dirty="0">
                <a:solidFill>
                  <a:schemeClr val="tx1"/>
                </a:solidFill>
              </a:rPr>
              <a:t> 버튼</a:t>
            </a:r>
            <a:endParaRPr lang="en-US" altLang="ko-KR" sz="1100" dirty="0">
              <a:solidFill>
                <a:schemeClr val="tx1"/>
              </a:solidFill>
            </a:endParaRPr>
          </a:p>
          <a:p>
            <a:pPr algn="ctr"/>
            <a:r>
              <a:rPr lang="en-US" altLang="ko-KR" sz="1100" dirty="0">
                <a:solidFill>
                  <a:schemeClr val="tx1"/>
                </a:solidFill>
                <a:latin typeface="+mn-ea"/>
              </a:rPr>
              <a:t>FloatBtn</a:t>
            </a:r>
            <a:r>
              <a:rPr lang="en-US" altLang="ko-KR" sz="1100" dirty="0">
                <a:solidFill>
                  <a:schemeClr val="tx1"/>
                </a:solidFill>
              </a:rPr>
              <a:t>.tsx</a:t>
            </a:r>
            <a:r>
              <a:rPr lang="en-US" altLang="ko-KR" sz="1100" b="1" baseline="30000" dirty="0">
                <a:solidFill>
                  <a:schemeClr val="tx1"/>
                </a:solidFill>
                <a:latin typeface="+mn-ea"/>
              </a:rPr>
              <a:t>1)</a:t>
            </a:r>
            <a:endParaRPr lang="en-US" altLang="ko-KR" sz="110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3104191"/>
            <a:ext cx="1727200" cy="63676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solidFill>
                  <a:schemeClr val="tx1"/>
                </a:solidFill>
              </a:rPr>
              <a:t>&lt;&lt;App Page&gt;&gt;</a:t>
            </a:r>
          </a:p>
          <a:p>
            <a:pPr algn="ctr"/>
            <a:r>
              <a:rPr lang="ko-KR" altLang="en-US" sz="1100" dirty="0">
                <a:solidFill>
                  <a:schemeClr val="tx1"/>
                </a:solidFill>
              </a:rPr>
              <a:t>환율정보조회</a:t>
            </a:r>
            <a:endParaRPr lang="en-US" altLang="ko-KR" sz="1100" dirty="0">
              <a:solidFill>
                <a:schemeClr val="tx1"/>
              </a:solidFill>
            </a:endParaRPr>
          </a:p>
          <a:p>
            <a:pPr algn="ctr"/>
            <a:r>
              <a:rPr lang="en-US" altLang="ko-KR" sz="1100" dirty="0">
                <a:solidFill>
                  <a:schemeClr val="tx1"/>
                </a:solidFill>
                <a:latin typeface="+mn-ea"/>
              </a:rPr>
              <a:t>OvsExchrtListPage</a:t>
            </a:r>
            <a:r>
              <a:rPr lang="en-US" altLang="ko-KR" sz="1100" dirty="0">
                <a:solidFill>
                  <a:schemeClr val="tx1"/>
                </a:solidFill>
              </a:rPr>
              <a:t>.tsx</a:t>
            </a:r>
            <a:r>
              <a:rPr lang="en-US" altLang="ko-KR" sz="1100" b="1" baseline="30000" dirty="0">
                <a:solidFill>
                  <a:schemeClr val="tx1"/>
                </a:solidFill>
                <a:latin typeface="+mn-ea"/>
              </a:rPr>
              <a:t>1)</a:t>
            </a:r>
            <a:endParaRPr lang="en-US" altLang="ko-KR" sz="110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입찰공고</a:t>
            </a:r>
            <a:r>
              <a:rPr lang="en-US" altLang="ko-KR" sz="1100" dirty="0"/>
              <a:t>Controller&gt;&gt;</a:t>
            </a:r>
          </a:p>
          <a:p>
            <a:pPr algn="ctr"/>
            <a:r>
              <a:rPr lang="en-US" altLang="ko-KR" sz="1100" dirty="0" err="1"/>
              <a:t>BidPbancController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2588527"/>
            <a:ext cx="967509" cy="40164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flipV="1">
            <a:off x="2992582" y="2990174"/>
            <a:ext cx="967509" cy="43240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8357059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최상단</a:t>
            </a:r>
            <a:r>
              <a:rPr lang="ko-KR" altLang="en-US" dirty="0"/>
              <a:t> 이동 버튼</a:t>
            </a:r>
            <a:r>
              <a:rPr lang="en-US" altLang="ko-KR" dirty="0"/>
              <a:t/>
            </a:r>
            <a:br>
              <a:rPr lang="en-US" altLang="ko-KR" dirty="0"/>
            </a:br>
            <a:r>
              <a:rPr lang="ko-KR" altLang="en-US" dirty="0" err="1"/>
              <a:t>플로팅</a:t>
            </a:r>
            <a:r>
              <a:rPr lang="ko-KR" altLang="en-US" dirty="0"/>
              <a:t> 버튼</a:t>
            </a:r>
            <a:endParaRPr lang="en-US" altLang="ko-KR" dirty="0"/>
          </a:p>
          <a:p>
            <a:pPr marL="228600" indent="-228600">
              <a:buFont typeface="+mj-lt"/>
              <a:buAutoNum type="arabicPeriod"/>
            </a:pPr>
            <a:r>
              <a:rPr lang="ko-KR" altLang="en-US" dirty="0" err="1"/>
              <a:t>플로팅</a:t>
            </a:r>
            <a:r>
              <a:rPr lang="ko-KR" altLang="en-US" dirty="0"/>
              <a:t> 버튼 클릭 시</a:t>
            </a:r>
            <a:r>
              <a:rPr lang="en-US" altLang="ko-KR" dirty="0"/>
              <a:t/>
            </a:r>
            <a:br>
              <a:rPr lang="en-US" altLang="ko-KR" dirty="0"/>
            </a:br>
            <a:r>
              <a:rPr lang="en-US" altLang="ko-KR" dirty="0"/>
              <a:t>- </a:t>
            </a:r>
            <a:r>
              <a:rPr lang="ko-KR" altLang="en-US" dirty="0"/>
              <a:t>조건에 맞는 버튼 표시</a:t>
            </a:r>
            <a:r>
              <a:rPr lang="en-US" altLang="ko-KR" dirty="0"/>
              <a:t/>
            </a:r>
            <a:br>
              <a:rPr lang="en-US" altLang="ko-KR" dirty="0"/>
            </a:br>
            <a:r>
              <a:rPr lang="en-US" altLang="ko-KR" dirty="0"/>
              <a:t>- </a:t>
            </a:r>
            <a:r>
              <a:rPr lang="ko-KR" altLang="en-US" dirty="0"/>
              <a:t>클릭 시 각각의 페이지 이동</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플로팅</a:t>
            </a:r>
            <a:r>
              <a:rPr lang="ko-KR" altLang="en-US" dirty="0">
                <a:latin typeface="+mn-ea"/>
              </a:rPr>
              <a:t> 버튼</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화면 </a:t>
            </a:r>
            <a:r>
              <a:rPr lang="en-US" altLang="ko-KR" dirty="0"/>
              <a:t>– </a:t>
            </a:r>
            <a:r>
              <a:rPr lang="ko-KR" altLang="en-US" dirty="0"/>
              <a:t>입찰 공고 신청</a:t>
            </a:r>
            <a:r>
              <a:rPr lang="en-US" altLang="ko-KR" dirty="0"/>
              <a:t>, </a:t>
            </a:r>
            <a:r>
              <a:rPr lang="ko-KR" altLang="en-US" dirty="0"/>
              <a:t>취소</a:t>
            </a:r>
            <a:r>
              <a:rPr lang="en-US" altLang="ko-KR" dirty="0"/>
              <a:t>, </a:t>
            </a:r>
            <a:r>
              <a:rPr lang="ko-KR" altLang="en-US" dirty="0" err="1"/>
              <a:t>환율정보를</a:t>
            </a:r>
            <a:r>
              <a:rPr lang="ko-KR" altLang="en-US" dirty="0"/>
              <a:t> 볼 수 있는 따라다니는 </a:t>
            </a:r>
            <a:r>
              <a:rPr lang="ko-KR" altLang="en-US" dirty="0" err="1"/>
              <a:t>플로팅</a:t>
            </a:r>
            <a:r>
              <a:rPr lang="ko-KR" altLang="en-US" dirty="0"/>
              <a:t> 버튼</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err="1">
                <a:latin typeface="+mn-ea"/>
              </a:rPr>
              <a:t>플로팅</a:t>
            </a:r>
            <a:r>
              <a:rPr lang="ko-KR" altLang="en-US" dirty="0">
                <a:latin typeface="+mn-ea"/>
              </a:rPr>
              <a:t> 버튼</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MUI-BD-01-P17</a:t>
            </a:r>
            <a:endParaRPr lang="ko-KR" altLang="en-US" dirty="0">
              <a:solidFill>
                <a:srgbClr val="000000"/>
              </a:solidFill>
              <a:latin typeface="맑은 고딕" panose="020B0503020000020004" pitchFamily="50" charset="-127"/>
            </a:endParaRPr>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입찰공고 상세</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158410"/>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493475"/>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478086"/>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2025-12-22</a:t>
            </a:r>
          </a:p>
          <a:p>
            <a:pPr>
              <a:lnSpc>
                <a:spcPct val="150000"/>
              </a:lnSpc>
            </a:pPr>
            <a:r>
              <a:rPr lang="en-US" altLang="ko-KR" sz="600" dirty="0">
                <a:latin typeface="+mn-ea"/>
              </a:rPr>
              <a:t>2025-12-23 17:00</a:t>
            </a:r>
          </a:p>
          <a:p>
            <a:pPr>
              <a:lnSpc>
                <a:spcPct val="150000"/>
              </a:lnSpc>
            </a:pPr>
            <a:r>
              <a:rPr lang="en-US" altLang="ko-KR" sz="600" dirty="0">
                <a:latin typeface="+mn-ea"/>
              </a:rPr>
              <a:t>2025-12-24 10:00</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1974079"/>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197407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51256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8538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546317"/>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35776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3659648"/>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 name="포인트가 5개인 별 2"/>
          <p:cNvSpPr/>
          <p:nvPr/>
        </p:nvSpPr>
        <p:spPr>
          <a:xfrm>
            <a:off x="2682759" y="1949976"/>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20821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991608"/>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18545" y="3991608"/>
            <a:ext cx="447776" cy="107722"/>
          </a:xfrm>
          <a:prstGeom prst="rect">
            <a:avLst/>
          </a:prstGeom>
          <a:noFill/>
        </p:spPr>
        <p:txBody>
          <a:bodyPr wrap="square" lIns="0" tIns="0" rIns="0" bIns="0" rtlCol="0">
            <a:spAutoFit/>
          </a:bodyPr>
          <a:lstStyle/>
          <a:p>
            <a:pPr algn="ctr"/>
            <a:r>
              <a:rPr lang="ko-KR" altLang="en-US" sz="700" dirty="0" err="1">
                <a:latin typeface="+mn-ea"/>
              </a:rPr>
              <a:t>품목명세서</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1760915" y="3991608"/>
            <a:ext cx="543960" cy="107722"/>
          </a:xfrm>
          <a:prstGeom prst="rect">
            <a:avLst/>
          </a:prstGeom>
          <a:noFill/>
        </p:spPr>
        <p:txBody>
          <a:bodyPr wrap="square" lIns="0" tIns="0" rIns="0" bIns="0" rtlCol="0">
            <a:spAutoFit/>
          </a:bodyPr>
          <a:lstStyle/>
          <a:p>
            <a:pPr algn="ctr"/>
            <a:r>
              <a:rPr lang="ko-KR" altLang="en-US" sz="700" dirty="0">
                <a:latin typeface="+mn-ea"/>
              </a:rPr>
              <a:t>계약특수조건</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399469" y="3991608"/>
            <a:ext cx="645068" cy="107722"/>
          </a:xfrm>
          <a:prstGeom prst="rect">
            <a:avLst/>
          </a:prstGeom>
          <a:noFill/>
        </p:spPr>
        <p:txBody>
          <a:bodyPr wrap="square" lIns="0" tIns="0" rIns="0" bIns="0" rtlCol="0">
            <a:spAutoFit/>
          </a:bodyPr>
          <a:lstStyle/>
          <a:p>
            <a:pPr algn="ctr"/>
            <a:r>
              <a:rPr lang="ko-KR" altLang="en-US" sz="700" dirty="0">
                <a:latin typeface="+mn-ea"/>
              </a:rPr>
              <a:t>제안서평가결과</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208215"/>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953485"/>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6" name="TextBox 105">
            <a:extLst>
              <a:ext uri="{FF2B5EF4-FFF2-40B4-BE49-F238E27FC236}">
                <a16:creationId xmlns:a16="http://schemas.microsoft.com/office/drawing/2014/main" id="{FFC49AEA-2A8F-250C-A86A-A7751D9706C3}"/>
              </a:ext>
            </a:extLst>
          </p:cNvPr>
          <p:cNvSpPr txBox="1"/>
          <p:nvPr/>
        </p:nvSpPr>
        <p:spPr>
          <a:xfrm>
            <a:off x="781461" y="431454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427877"/>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95" name="직선 연결선 294">
            <a:extLst>
              <a:ext uri="{FF2B5EF4-FFF2-40B4-BE49-F238E27FC236}">
                <a16:creationId xmlns:a16="http://schemas.microsoft.com/office/drawing/2014/main" id="{E9293055-D5CD-4B9E-7F64-64B2D2CA7A52}"/>
              </a:ext>
            </a:extLst>
          </p:cNvPr>
          <p:cNvCxnSpPr/>
          <p:nvPr/>
        </p:nvCxnSpPr>
        <p:spPr>
          <a:xfrm>
            <a:off x="675399" y="315488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98" name="그룹 297"/>
          <p:cNvGrpSpPr/>
          <p:nvPr/>
        </p:nvGrpSpPr>
        <p:grpSpPr>
          <a:xfrm rot="16200000">
            <a:off x="1250697" y="3307709"/>
            <a:ext cx="94010" cy="47005"/>
            <a:chOff x="6812560" y="3297172"/>
            <a:chExt cx="94010" cy="47005"/>
          </a:xfrm>
        </p:grpSpPr>
        <p:cxnSp>
          <p:nvCxnSpPr>
            <p:cNvPr id="299" name="직선 연결선 2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49" name="그룹 48"/>
          <p:cNvGrpSpPr/>
          <p:nvPr/>
        </p:nvGrpSpPr>
        <p:grpSpPr>
          <a:xfrm>
            <a:off x="1404035" y="3237230"/>
            <a:ext cx="601002" cy="187961"/>
            <a:chOff x="1335163" y="3237230"/>
            <a:chExt cx="601002" cy="187961"/>
          </a:xfrm>
        </p:grpSpPr>
        <p:sp>
          <p:nvSpPr>
            <p:cNvPr id="303" name="TextBox 302">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입찰</a:t>
              </a:r>
            </a:p>
          </p:txBody>
        </p:sp>
        <p:grpSp>
          <p:nvGrpSpPr>
            <p:cNvPr id="30" name="그룹 29"/>
            <p:cNvGrpSpPr/>
            <p:nvPr/>
          </p:nvGrpSpPr>
          <p:grpSpPr>
            <a:xfrm>
              <a:off x="1335163" y="3237230"/>
              <a:ext cx="187961" cy="187961"/>
              <a:chOff x="1485163" y="3237230"/>
              <a:chExt cx="187961" cy="187961"/>
            </a:xfrm>
          </p:grpSpPr>
          <p:sp>
            <p:nvSpPr>
              <p:cNvPr id="304" name="타원 303"/>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5" name="TextBox 304">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310" name="그룹 309"/>
          <p:cNvGrpSpPr/>
          <p:nvPr/>
        </p:nvGrpSpPr>
        <p:grpSpPr>
          <a:xfrm rot="16200000">
            <a:off x="1906808" y="3307709"/>
            <a:ext cx="94010" cy="47005"/>
            <a:chOff x="6812560" y="3297172"/>
            <a:chExt cx="94010" cy="47005"/>
          </a:xfrm>
        </p:grpSpPr>
        <p:cxnSp>
          <p:nvCxnSpPr>
            <p:cNvPr id="311" name="직선 연결선 31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2" name="직선 연결선 3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13" name="그룹 312"/>
          <p:cNvGrpSpPr/>
          <p:nvPr/>
        </p:nvGrpSpPr>
        <p:grpSpPr>
          <a:xfrm rot="16200000">
            <a:off x="2562920" y="3307709"/>
            <a:ext cx="94010" cy="47005"/>
            <a:chOff x="6812560" y="3297172"/>
            <a:chExt cx="94010" cy="47005"/>
          </a:xfrm>
        </p:grpSpPr>
        <p:cxnSp>
          <p:nvCxnSpPr>
            <p:cNvPr id="314" name="직선 연결선 3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5" name="직선 연결선 3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4" name="그룹 13"/>
          <p:cNvGrpSpPr/>
          <p:nvPr/>
        </p:nvGrpSpPr>
        <p:grpSpPr>
          <a:xfrm>
            <a:off x="747925" y="3237230"/>
            <a:ext cx="601001" cy="187961"/>
            <a:chOff x="747925" y="3237230"/>
            <a:chExt cx="601001" cy="187961"/>
          </a:xfrm>
        </p:grpSpPr>
        <p:grpSp>
          <p:nvGrpSpPr>
            <p:cNvPr id="5" name="그룹 4"/>
            <p:cNvGrpSpPr/>
            <p:nvPr/>
          </p:nvGrpSpPr>
          <p:grpSpPr>
            <a:xfrm>
              <a:off x="747925" y="3237230"/>
              <a:ext cx="187961" cy="187961"/>
              <a:chOff x="747925" y="3237230"/>
              <a:chExt cx="187961" cy="187961"/>
            </a:xfrm>
          </p:grpSpPr>
          <p:sp>
            <p:nvSpPr>
              <p:cNvPr id="297" name="타원 296"/>
              <p:cNvSpPr/>
              <p:nvPr/>
            </p:nvSpPr>
            <p:spPr>
              <a:xfrm>
                <a:off x="747925" y="3237230"/>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2" name="TextBox 301">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316" name="TextBox 315">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조달</a:t>
              </a:r>
            </a:p>
          </p:txBody>
        </p:sp>
      </p:grpSp>
      <p:grpSp>
        <p:nvGrpSpPr>
          <p:cNvPr id="21" name="그룹 20"/>
          <p:cNvGrpSpPr/>
          <p:nvPr/>
        </p:nvGrpSpPr>
        <p:grpSpPr>
          <a:xfrm>
            <a:off x="2058749" y="3237230"/>
            <a:ext cx="603798" cy="187961"/>
            <a:chOff x="2058749" y="3237230"/>
            <a:chExt cx="603798" cy="187961"/>
          </a:xfrm>
        </p:grpSpPr>
        <p:grpSp>
          <p:nvGrpSpPr>
            <p:cNvPr id="15" name="그룹 14"/>
            <p:cNvGrpSpPr/>
            <p:nvPr/>
          </p:nvGrpSpPr>
          <p:grpSpPr>
            <a:xfrm>
              <a:off x="2058749" y="3237230"/>
              <a:ext cx="187961" cy="187961"/>
              <a:chOff x="2058749" y="3237230"/>
              <a:chExt cx="187961" cy="187961"/>
            </a:xfrm>
          </p:grpSpPr>
          <p:sp>
            <p:nvSpPr>
              <p:cNvPr id="306" name="타원 305"/>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7" name="TextBox 306">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317" name="TextBox 316">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계약</a:t>
              </a:r>
            </a:p>
          </p:txBody>
        </p:sp>
      </p:gr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202" name="TextBox 201">
            <a:extLst>
              <a:ext uri="{FF2B5EF4-FFF2-40B4-BE49-F238E27FC236}">
                <a16:creationId xmlns:a16="http://schemas.microsoft.com/office/drawing/2014/main" id="{FFC49AEA-2A8F-250C-A86A-A7751D9706C3}"/>
              </a:ext>
            </a:extLst>
          </p:cNvPr>
          <p:cNvSpPr txBox="1"/>
          <p:nvPr/>
        </p:nvSpPr>
        <p:spPr>
          <a:xfrm>
            <a:off x="901131" y="5895922"/>
            <a:ext cx="2305144"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관심공고에서 제외 되었습니다</a:t>
            </a:r>
            <a:r>
              <a:rPr lang="en-US" altLang="ko-KR" sz="700" dirty="0">
                <a:solidFill>
                  <a:schemeClr val="bg1"/>
                </a:solidFill>
                <a:latin typeface="+mn-ea"/>
              </a:rPr>
              <a:t>.</a:t>
            </a:r>
            <a:endParaRPr lang="ko-KR" altLang="en-US" sz="700" dirty="0">
              <a:solidFill>
                <a:schemeClr val="bg1"/>
              </a:solidFill>
              <a:latin typeface="+mn-ea"/>
            </a:endParaRPr>
          </a:p>
        </p:txBody>
      </p:sp>
      <p:sp>
        <p:nvSpPr>
          <p:cNvPr id="112" name="타원 111"/>
          <p:cNvSpPr/>
          <p:nvPr/>
        </p:nvSpPr>
        <p:spPr>
          <a:xfrm>
            <a:off x="2871641" y="5153963"/>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3" name="그룹 112"/>
          <p:cNvGrpSpPr/>
          <p:nvPr/>
        </p:nvGrpSpPr>
        <p:grpSpPr>
          <a:xfrm>
            <a:off x="3001107" y="5271034"/>
            <a:ext cx="124144" cy="148935"/>
            <a:chOff x="161606" y="5392781"/>
            <a:chExt cx="97885" cy="117432"/>
          </a:xfrm>
        </p:grpSpPr>
        <p:cxnSp>
          <p:nvCxnSpPr>
            <p:cNvPr id="114" name="직선 연결선 113"/>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6" name="직선 연결선 115"/>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117" name="직선 연결선 116"/>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118" name="타원 117"/>
          <p:cNvSpPr/>
          <p:nvPr/>
        </p:nvSpPr>
        <p:spPr>
          <a:xfrm>
            <a:off x="2871641" y="5639213"/>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9" name="그룹 118"/>
          <p:cNvGrpSpPr/>
          <p:nvPr/>
        </p:nvGrpSpPr>
        <p:grpSpPr>
          <a:xfrm>
            <a:off x="3001108" y="5768679"/>
            <a:ext cx="124144" cy="124144"/>
            <a:chOff x="162544" y="5299917"/>
            <a:chExt cx="124144" cy="124144"/>
          </a:xfrm>
        </p:grpSpPr>
        <p:cxnSp>
          <p:nvCxnSpPr>
            <p:cNvPr id="120" name="직선 연결선 119"/>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121" name="직선 연결선 120"/>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22" name="타원 121">
            <a:extLst>
              <a:ext uri="{FF2B5EF4-FFF2-40B4-BE49-F238E27FC236}">
                <a16:creationId xmlns:a16="http://schemas.microsoft.com/office/drawing/2014/main" id="{37A7FF4F-0EAA-1463-560A-D5EC24416103}"/>
              </a:ext>
            </a:extLst>
          </p:cNvPr>
          <p:cNvSpPr/>
          <p:nvPr/>
        </p:nvSpPr>
        <p:spPr>
          <a:xfrm>
            <a:off x="2963135" y="485201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23" name="직사각형 12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양쪽 모서리가 둥근 사각형 138"/>
          <p:cNvSpPr/>
          <p:nvPr/>
        </p:nvSpPr>
        <p:spPr>
          <a:xfrm>
            <a:off x="3793173"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40" name="모서리가 둥근 직사각형 139"/>
          <p:cNvSpPr/>
          <p:nvPr/>
        </p:nvSpPr>
        <p:spPr>
          <a:xfrm>
            <a:off x="4879186"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41" name="그룹 140"/>
          <p:cNvGrpSpPr/>
          <p:nvPr/>
        </p:nvGrpSpPr>
        <p:grpSpPr>
          <a:xfrm>
            <a:off x="6282112" y="3182696"/>
            <a:ext cx="94010" cy="94010"/>
            <a:chOff x="6812560" y="3297172"/>
            <a:chExt cx="94010" cy="94010"/>
          </a:xfrm>
        </p:grpSpPr>
        <p:cxnSp>
          <p:nvCxnSpPr>
            <p:cNvPr id="151" name="직선 연결선 150"/>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52" name="직선 연결선 15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42" name="TextBox 141">
            <a:extLst>
              <a:ext uri="{FF2B5EF4-FFF2-40B4-BE49-F238E27FC236}">
                <a16:creationId xmlns:a16="http://schemas.microsoft.com/office/drawing/2014/main" id="{FFC49AEA-2A8F-250C-A86A-A7751D9706C3}"/>
              </a:ext>
            </a:extLst>
          </p:cNvPr>
          <p:cNvSpPr txBox="1"/>
          <p:nvPr/>
        </p:nvSpPr>
        <p:spPr>
          <a:xfrm>
            <a:off x="3922250" y="3163375"/>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143" name="직선 연결선 142">
            <a:extLst>
              <a:ext uri="{FF2B5EF4-FFF2-40B4-BE49-F238E27FC236}">
                <a16:creationId xmlns:a16="http://schemas.microsoft.com/office/drawing/2014/main" id="{E9293055-D5CD-4B9E-7F64-64B2D2CA7A52}"/>
              </a:ext>
            </a:extLst>
          </p:cNvPr>
          <p:cNvCxnSpPr/>
          <p:nvPr/>
        </p:nvCxnSpPr>
        <p:spPr>
          <a:xfrm>
            <a:off x="3793173"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6" name="사각형: 둥근 모서리 15">
            <a:extLst>
              <a:ext uri="{FF2B5EF4-FFF2-40B4-BE49-F238E27FC236}">
                <a16:creationId xmlns:a16="http://schemas.microsoft.com/office/drawing/2014/main" id="{E2B61CFB-AD16-68D0-8752-50D9C5E01971}"/>
              </a:ext>
            </a:extLst>
          </p:cNvPr>
          <p:cNvSpPr/>
          <p:nvPr/>
        </p:nvSpPr>
        <p:spPr>
          <a:xfrm>
            <a:off x="3885476" y="4546232"/>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입찰포기</a:t>
            </a:r>
            <a:r>
              <a:rPr kumimoji="1" lang="ko-KR" altLang="en-US" sz="800" kern="0" dirty="0">
                <a:solidFill>
                  <a:srgbClr val="0070C0"/>
                </a:solidFill>
                <a:latin typeface="맑은 고딕"/>
                <a:ea typeface="맑은 고딕" panose="020B0503020000020004" pitchFamily="50" charset="-127"/>
              </a:rPr>
              <a:t> 신청서 작성하기</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55" name="타원 154">
            <a:extLst>
              <a:ext uri="{FF2B5EF4-FFF2-40B4-BE49-F238E27FC236}">
                <a16:creationId xmlns:a16="http://schemas.microsoft.com/office/drawing/2014/main" id="{37A7FF4F-0EAA-1463-560A-D5EC24416103}"/>
              </a:ext>
            </a:extLst>
          </p:cNvPr>
          <p:cNvSpPr/>
          <p:nvPr/>
        </p:nvSpPr>
        <p:spPr>
          <a:xfrm>
            <a:off x="3691528" y="28312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6" name="사각형: 둥근 모서리 15">
            <a:extLst>
              <a:ext uri="{FF2B5EF4-FFF2-40B4-BE49-F238E27FC236}">
                <a16:creationId xmlns:a16="http://schemas.microsoft.com/office/drawing/2014/main" id="{E2B61CFB-AD16-68D0-8752-50D9C5E01971}"/>
              </a:ext>
            </a:extLst>
          </p:cNvPr>
          <p:cNvSpPr/>
          <p:nvPr/>
        </p:nvSpPr>
        <p:spPr>
          <a:xfrm>
            <a:off x="3885476" y="4879725"/>
            <a:ext cx="2522014" cy="244350"/>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a:solidFill>
                  <a:srgbClr val="0070C0"/>
                </a:solidFill>
              </a:rPr>
              <a:t>입찰취소</a:t>
            </a:r>
            <a:r>
              <a:rPr kumimoji="1" lang="ko-KR" altLang="en-US" sz="800" kern="0" dirty="0">
                <a:solidFill>
                  <a:srgbClr val="0070C0"/>
                </a:solidFill>
              </a:rPr>
              <a:t> 신청서 작성하기</a:t>
            </a:r>
            <a:endParaRPr kumimoji="1" lang="en-US" altLang="ko-KR" sz="800" kern="0" dirty="0">
              <a:solidFill>
                <a:srgbClr val="0070C0"/>
              </a:solidFill>
            </a:endParaRPr>
          </a:p>
        </p:txBody>
      </p:sp>
      <p:sp>
        <p:nvSpPr>
          <p:cNvPr id="157" name="모서리가 둥근 직사각형 40">
            <a:extLst>
              <a:ext uri="{FF2B5EF4-FFF2-40B4-BE49-F238E27FC236}">
                <a16:creationId xmlns:a16="http://schemas.microsoft.com/office/drawing/2014/main" id="{3BE5C28A-F0C3-8BA2-3AC1-EFA405ADE137}"/>
              </a:ext>
            </a:extLst>
          </p:cNvPr>
          <p:cNvSpPr/>
          <p:nvPr/>
        </p:nvSpPr>
        <p:spPr bwMode="auto">
          <a:xfrm>
            <a:off x="3885476" y="3546317"/>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ea typeface="맑은 고딕" panose="020B0503020000020004" pitchFamily="50" charset="-127"/>
              </a:rPr>
              <a:t>사전심사</a:t>
            </a:r>
            <a:r>
              <a:rPr lang="en-US" altLang="ko-KR" sz="800" dirty="0">
                <a:solidFill>
                  <a:schemeClr val="bg1"/>
                </a:solidFill>
                <a:latin typeface="맑은 고딕" panose="020B0503020000020004" pitchFamily="50" charset="-127"/>
                <a:ea typeface="맑은 고딕" panose="020B0503020000020004" pitchFamily="50" charset="-127"/>
              </a:rPr>
              <a:t>(PQ)</a:t>
            </a:r>
            <a:r>
              <a:rPr lang="ko-KR" altLang="en-US" sz="800" dirty="0">
                <a:solidFill>
                  <a:schemeClr val="bg1"/>
                </a:solidFill>
                <a:latin typeface="맑은 고딕" panose="020B0503020000020004" pitchFamily="50" charset="-127"/>
                <a:ea typeface="맑은 고딕" panose="020B0503020000020004" pitchFamily="50" charset="-127"/>
              </a:rPr>
              <a:t>신청서 작성하기</a:t>
            </a:r>
          </a:p>
        </p:txBody>
      </p:sp>
      <p:sp>
        <p:nvSpPr>
          <p:cNvPr id="158" name="모서리가 둥근 직사각형 40">
            <a:extLst>
              <a:ext uri="{FF2B5EF4-FFF2-40B4-BE49-F238E27FC236}">
                <a16:creationId xmlns:a16="http://schemas.microsoft.com/office/drawing/2014/main" id="{3BE5C28A-F0C3-8BA2-3AC1-EFA405ADE137}"/>
              </a:ext>
            </a:extLst>
          </p:cNvPr>
          <p:cNvSpPr/>
          <p:nvPr/>
        </p:nvSpPr>
        <p:spPr bwMode="auto">
          <a:xfrm>
            <a:off x="3885476" y="3884130"/>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ea typeface="맑은 고딕" panose="020B0503020000020004" pitchFamily="50" charset="-127"/>
              </a:rPr>
              <a:t>입찰서</a:t>
            </a:r>
            <a:r>
              <a:rPr lang="en-US" altLang="ko-KR" sz="800" dirty="0">
                <a:solidFill>
                  <a:schemeClr val="bg1"/>
                </a:solidFill>
                <a:latin typeface="맑은 고딕" panose="020B0503020000020004" pitchFamily="50" charset="-127"/>
                <a:ea typeface="맑은 고딕" panose="020B0503020000020004" pitchFamily="50" charset="-127"/>
              </a:rPr>
              <a:t>(</a:t>
            </a:r>
            <a:r>
              <a:rPr lang="ko-KR" altLang="en-US" sz="800" dirty="0">
                <a:solidFill>
                  <a:schemeClr val="bg1"/>
                </a:solidFill>
                <a:latin typeface="맑은 고딕" panose="020B0503020000020004" pitchFamily="50" charset="-127"/>
                <a:ea typeface="맑은 고딕" panose="020B0503020000020004" pitchFamily="50" charset="-127"/>
              </a:rPr>
              <a:t>견적서</a:t>
            </a:r>
            <a:r>
              <a:rPr lang="en-US" altLang="ko-KR" sz="800" dirty="0">
                <a:solidFill>
                  <a:schemeClr val="bg1"/>
                </a:solidFill>
                <a:latin typeface="맑은 고딕" panose="020B0503020000020004" pitchFamily="50" charset="-127"/>
                <a:ea typeface="맑은 고딕" panose="020B0503020000020004" pitchFamily="50" charset="-127"/>
              </a:rPr>
              <a:t>)</a:t>
            </a:r>
            <a:r>
              <a:rPr lang="ko-KR" altLang="en-US" sz="800" dirty="0">
                <a:solidFill>
                  <a:schemeClr val="bg1"/>
                </a:solidFill>
                <a:latin typeface="맑은 고딕" panose="020B0503020000020004" pitchFamily="50" charset="-127"/>
              </a:rPr>
              <a:t> 작성하기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59" name="모서리가 둥근 직사각형 40">
            <a:extLst>
              <a:ext uri="{FF2B5EF4-FFF2-40B4-BE49-F238E27FC236}">
                <a16:creationId xmlns:a16="http://schemas.microsoft.com/office/drawing/2014/main" id="{3BE5C28A-F0C3-8BA2-3AC1-EFA405ADE137}"/>
              </a:ext>
            </a:extLst>
          </p:cNvPr>
          <p:cNvSpPr/>
          <p:nvPr/>
        </p:nvSpPr>
        <p:spPr bwMode="auto">
          <a:xfrm>
            <a:off x="3885476" y="4216636"/>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rPr>
              <a:t>입찰참가신청서 작성하기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60" name="사각형: 둥근 모서리 15">
            <a:extLst>
              <a:ext uri="{FF2B5EF4-FFF2-40B4-BE49-F238E27FC236}">
                <a16:creationId xmlns:a16="http://schemas.microsoft.com/office/drawing/2014/main" id="{E2B61CFB-AD16-68D0-8752-50D9C5E01971}"/>
              </a:ext>
            </a:extLst>
          </p:cNvPr>
          <p:cNvSpPr/>
          <p:nvPr/>
        </p:nvSpPr>
        <p:spPr>
          <a:xfrm>
            <a:off x="3885476" y="5215986"/>
            <a:ext cx="2522014" cy="24435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a:t>환율정보</a:t>
            </a:r>
            <a:r>
              <a:rPr kumimoji="1" lang="ko-KR" altLang="en-US" sz="800" kern="0" dirty="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grpSp>
        <p:nvGrpSpPr>
          <p:cNvPr id="110" name="그룹 109">
            <a:extLst>
              <a:ext uri="{FF2B5EF4-FFF2-40B4-BE49-F238E27FC236}">
                <a16:creationId xmlns:a16="http://schemas.microsoft.com/office/drawing/2014/main" id="{22BC05EE-C648-7CA2-4CCC-6E1C1A7E9BDA}"/>
              </a:ext>
            </a:extLst>
          </p:cNvPr>
          <p:cNvGrpSpPr/>
          <p:nvPr/>
        </p:nvGrpSpPr>
        <p:grpSpPr>
          <a:xfrm>
            <a:off x="5130062" y="5693123"/>
            <a:ext cx="76863" cy="292489"/>
            <a:chOff x="3750067" y="4683795"/>
            <a:chExt cx="76863" cy="292489"/>
          </a:xfrm>
        </p:grpSpPr>
        <p:sp>
          <p:nvSpPr>
            <p:cNvPr id="111" name="타원 110">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4" name="타원 123">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5" name="타원 12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126" name="그룹 125"/>
          <p:cNvGrpSpPr/>
          <p:nvPr/>
        </p:nvGrpSpPr>
        <p:grpSpPr>
          <a:xfrm>
            <a:off x="2714860" y="3237230"/>
            <a:ext cx="603798" cy="187961"/>
            <a:chOff x="2714860" y="3237230"/>
            <a:chExt cx="603798" cy="187961"/>
          </a:xfrm>
        </p:grpSpPr>
        <p:grpSp>
          <p:nvGrpSpPr>
            <p:cNvPr id="133" name="그룹 132"/>
            <p:cNvGrpSpPr/>
            <p:nvPr/>
          </p:nvGrpSpPr>
          <p:grpSpPr>
            <a:xfrm>
              <a:off x="2714860" y="3237230"/>
              <a:ext cx="187961" cy="187961"/>
              <a:chOff x="2714860" y="3237230"/>
              <a:chExt cx="187961" cy="187961"/>
            </a:xfrm>
          </p:grpSpPr>
          <p:sp>
            <p:nvSpPr>
              <p:cNvPr id="135" name="타원 134"/>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6" name="TextBox 135">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34" name="TextBox 133">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이행</a:t>
              </a:r>
            </a:p>
          </p:txBody>
        </p:sp>
      </p:grpSp>
      <p:grpSp>
        <p:nvGrpSpPr>
          <p:cNvPr id="137" name="그룹 136"/>
          <p:cNvGrpSpPr/>
          <p:nvPr/>
        </p:nvGrpSpPr>
        <p:grpSpPr>
          <a:xfrm rot="5400000">
            <a:off x="3158978" y="3232595"/>
            <a:ext cx="187961" cy="187961"/>
            <a:chOff x="3876200" y="2234886"/>
            <a:chExt cx="187961" cy="187961"/>
          </a:xfrm>
        </p:grpSpPr>
        <p:sp>
          <p:nvSpPr>
            <p:cNvPr id="138" name="타원 137"/>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4" name="그룹 143"/>
            <p:cNvGrpSpPr/>
            <p:nvPr/>
          </p:nvGrpSpPr>
          <p:grpSpPr>
            <a:xfrm rot="16200000">
              <a:off x="3931564" y="2305364"/>
              <a:ext cx="94010" cy="47005"/>
              <a:chOff x="6812560" y="3297172"/>
              <a:chExt cx="94010" cy="47005"/>
            </a:xfrm>
          </p:grpSpPr>
          <p:cxnSp>
            <p:nvCxnSpPr>
              <p:cNvPr id="145" name="직선 연결선 14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7" name="직선 연결선 1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412544375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조회일자</a:t>
            </a:r>
            <a:r>
              <a:rPr lang="ko-KR" altLang="en-US" dirty="0"/>
              <a:t> 정보 표시</a:t>
            </a:r>
            <a:r>
              <a:rPr lang="en-US" altLang="ko-KR" dirty="0"/>
              <a:t/>
            </a:r>
            <a:br>
              <a:rPr lang="en-US" altLang="ko-KR" dirty="0"/>
            </a:br>
            <a:r>
              <a:rPr lang="en-US" altLang="ko-KR" dirty="0"/>
              <a:t>- </a:t>
            </a:r>
            <a:r>
              <a:rPr lang="ko-KR" altLang="en-US" dirty="0"/>
              <a:t>직접입력</a:t>
            </a:r>
            <a:r>
              <a:rPr lang="en-US" altLang="ko-KR" dirty="0"/>
              <a:t>, </a:t>
            </a:r>
            <a:r>
              <a:rPr lang="ko-KR" altLang="en-US" dirty="0"/>
              <a:t>날짜 설정을 통한 검색</a:t>
            </a:r>
            <a:endParaRPr lang="en-US" altLang="ko-KR" dirty="0"/>
          </a:p>
          <a:p>
            <a:pPr marL="228600" indent="-228600">
              <a:buFont typeface="+mj-lt"/>
              <a:buAutoNum type="arabicPeriod"/>
            </a:pPr>
            <a:r>
              <a:rPr lang="ko-KR" altLang="en-US" dirty="0"/>
              <a:t>총 건수 표시</a:t>
            </a:r>
            <a:endParaRPr lang="en-US" altLang="ko-KR" dirty="0"/>
          </a:p>
          <a:p>
            <a:pPr marL="228600" indent="-228600">
              <a:buFont typeface="+mj-lt"/>
              <a:buAutoNum type="arabicPeriod"/>
            </a:pPr>
            <a:r>
              <a:rPr lang="ko-KR" altLang="en-US" dirty="0"/>
              <a:t>목록에서 기준이 되는 </a:t>
            </a:r>
            <a:r>
              <a:rPr lang="ko-KR" altLang="en-US" dirty="0" err="1"/>
              <a:t>미국환</a:t>
            </a:r>
            <a:r>
              <a:rPr lang="ko-KR" altLang="en-US" dirty="0"/>
              <a:t> 정보 </a:t>
            </a:r>
            <a:r>
              <a:rPr lang="ko-KR" altLang="en-US" dirty="0" err="1"/>
              <a:t>최상단</a:t>
            </a:r>
            <a:r>
              <a:rPr lang="ko-KR" altLang="en-US" dirty="0"/>
              <a:t> 표시</a:t>
            </a:r>
            <a:r>
              <a:rPr lang="en-US" altLang="ko-KR" dirty="0"/>
              <a:t/>
            </a:r>
            <a:br>
              <a:rPr lang="en-US" altLang="ko-KR" dirty="0"/>
            </a:br>
            <a:r>
              <a:rPr lang="en-US" altLang="ko-KR" dirty="0"/>
              <a:t>- </a:t>
            </a:r>
            <a:r>
              <a:rPr lang="ko-KR" altLang="en-US" dirty="0"/>
              <a:t>이후 </a:t>
            </a:r>
            <a:r>
              <a:rPr lang="en-US" altLang="ko-KR" dirty="0"/>
              <a:t>DB</a:t>
            </a:r>
            <a:r>
              <a:rPr lang="ko-KR" altLang="en-US" dirty="0"/>
              <a:t>상에 존재하는 순서대로 표시</a:t>
            </a:r>
            <a:r>
              <a:rPr lang="en-US" altLang="ko-KR" dirty="0"/>
              <a:t/>
            </a:r>
            <a:br>
              <a:rPr lang="en-US" altLang="ko-KR" dirty="0"/>
            </a:br>
            <a:r>
              <a:rPr lang="en-US" altLang="ko-KR" dirty="0"/>
              <a:t>- </a:t>
            </a:r>
            <a:r>
              <a:rPr lang="ko-KR" altLang="en-US" dirty="0" err="1"/>
              <a:t>매도율</a:t>
            </a:r>
            <a:r>
              <a:rPr lang="en-US" altLang="ko-KR" dirty="0"/>
              <a:t>, </a:t>
            </a:r>
            <a:r>
              <a:rPr lang="ko-KR" altLang="en-US" dirty="0"/>
              <a:t>기준율</a:t>
            </a:r>
            <a:r>
              <a:rPr lang="en-US" altLang="ko-KR" dirty="0"/>
              <a:t>, </a:t>
            </a:r>
            <a:r>
              <a:rPr lang="ko-KR" altLang="en-US" dirty="0"/>
              <a:t>달러환산율에서 기준율</a:t>
            </a:r>
            <a:r>
              <a:rPr lang="en-US" altLang="ko-KR" dirty="0"/>
              <a:t>, </a:t>
            </a:r>
            <a:r>
              <a:rPr lang="ko-KR" altLang="en-US" dirty="0" err="1"/>
              <a:t>달러환산율</a:t>
            </a:r>
            <a:r>
              <a:rPr lang="ko-KR" altLang="en-US" dirty="0"/>
              <a:t> 뒤 </a:t>
            </a:r>
            <a:r>
              <a:rPr lang="en-US" altLang="ko-KR" dirty="0"/>
              <a:t>KRW, USD </a:t>
            </a:r>
            <a:r>
              <a:rPr lang="ko-KR" altLang="en-US" dirty="0"/>
              <a:t>표시를 고정하여 추가 노출</a:t>
            </a:r>
            <a:endParaRPr lang="en-US" altLang="ko-KR" dirty="0"/>
          </a:p>
          <a:p>
            <a:pPr marL="228600" indent="-228600">
              <a:buFont typeface="+mj-lt"/>
              <a:buAutoNum type="arabicPeriod"/>
            </a:pPr>
            <a:r>
              <a:rPr lang="en-US" altLang="ko-KR" dirty="0"/>
              <a:t>10</a:t>
            </a:r>
            <a:r>
              <a:rPr lang="ko-KR" altLang="en-US" dirty="0"/>
              <a:t>개 노출 이후 </a:t>
            </a:r>
            <a:r>
              <a:rPr lang="ko-KR" altLang="en-US" dirty="0" err="1"/>
              <a:t>더보기</a:t>
            </a:r>
            <a:r>
              <a:rPr lang="ko-KR" altLang="en-US" dirty="0"/>
              <a:t> 버튼 클릭으로 </a:t>
            </a:r>
            <a:r>
              <a:rPr lang="en-US" altLang="ko-KR" dirty="0"/>
              <a:t>10</a:t>
            </a:r>
            <a:r>
              <a:rPr lang="ko-KR" altLang="en-US" dirty="0"/>
              <a:t>개씩 추가 로드</a:t>
            </a:r>
            <a:endParaRPr lang="en-US" altLang="ko-KR"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55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환율정보</a:t>
            </a:r>
            <a:r>
              <a:rPr lang="ko-KR" altLang="en-US" dirty="0">
                <a:latin typeface="+mn-ea"/>
              </a:rPr>
              <a:t> 조회</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환율정보</a:t>
            </a:r>
            <a:r>
              <a:rPr lang="ko-KR" altLang="en-US" dirty="0">
                <a:latin typeface="+mn-ea"/>
              </a:rPr>
              <a:t> 조회</a:t>
            </a:r>
            <a:r>
              <a:rPr lang="ko-KR" altLang="en-US" dirty="0"/>
              <a:t> 화면</a:t>
            </a:r>
            <a:endParaRPr lang="ko-KR" altLang="en-US" dirty="0">
              <a:latin typeface="+mn-ea"/>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latin typeface="+mn-ea"/>
              </a:rPr>
              <a:t>&gt; </a:t>
            </a:r>
            <a:r>
              <a:rPr lang="ko-KR" altLang="en-US" dirty="0">
                <a:latin typeface="+mn-ea"/>
              </a:rPr>
              <a:t>입찰 공고 </a:t>
            </a:r>
            <a:r>
              <a:rPr lang="en-US" altLang="ko-KR" dirty="0">
                <a:latin typeface="+mn-ea"/>
              </a:rPr>
              <a:t>&gt; </a:t>
            </a:r>
            <a:r>
              <a:rPr lang="ko-KR" altLang="en-US" dirty="0" err="1">
                <a:latin typeface="+mn-ea"/>
              </a:rPr>
              <a:t>환율정보</a:t>
            </a:r>
            <a:r>
              <a:rPr lang="ko-KR" altLang="en-US" dirty="0">
                <a:latin typeface="+mn-ea"/>
              </a:rPr>
              <a:t> 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solidFill>
                  <a:srgbClr val="000000"/>
                </a:solidFill>
                <a:latin typeface="맑은 고딕" panose="020B0503020000020004" pitchFamily="50" charset="-127"/>
              </a:rPr>
              <a:t>MUI-BD-01-M74</a:t>
            </a:r>
            <a:endParaRPr lang="ko-KR" altLang="en-US" dirty="0">
              <a:solidFill>
                <a:srgbClr val="000000"/>
              </a:solidFill>
              <a:latin typeface="맑은 고딕" panose="020B0503020000020004" pitchFamily="50" charset="-127"/>
            </a:endParaRPr>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pPr fontAlgn="ctr"/>
            <a:r>
              <a:rPr lang="ko-KR" altLang="en-US" sz="800" dirty="0" err="1">
                <a:latin typeface="+mn-ea"/>
              </a:rPr>
              <a:t>환율정보</a:t>
            </a:r>
            <a:r>
              <a:rPr lang="ko-KR" altLang="en-US" sz="800" dirty="0">
                <a:latin typeface="+mn-ea"/>
              </a:rPr>
              <a:t> 조회</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23" name="직사각형 12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0" name="직선 연결선 109">
            <a:extLst>
              <a:ext uri="{FF2B5EF4-FFF2-40B4-BE49-F238E27FC236}">
                <a16:creationId xmlns:a16="http://schemas.microsoft.com/office/drawing/2014/main" id="{E9293055-D5CD-4B9E-7F64-64B2D2CA7A52}"/>
              </a:ext>
            </a:extLst>
          </p:cNvPr>
          <p:cNvCxnSpPr/>
          <p:nvPr/>
        </p:nvCxnSpPr>
        <p:spPr>
          <a:xfrm>
            <a:off x="675399" y="617004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6" name="TextBox 125">
            <a:extLst>
              <a:ext uri="{FF2B5EF4-FFF2-40B4-BE49-F238E27FC236}">
                <a16:creationId xmlns:a16="http://schemas.microsoft.com/office/drawing/2014/main" id="{FFC49AEA-2A8F-250C-A86A-A7751D9706C3}"/>
              </a:ext>
            </a:extLst>
          </p:cNvPr>
          <p:cNvSpPr txBox="1"/>
          <p:nvPr/>
        </p:nvSpPr>
        <p:spPr>
          <a:xfrm>
            <a:off x="748417" y="2797553"/>
            <a:ext cx="247786"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순번</a:t>
            </a:r>
            <a:endParaRPr lang="en-US" altLang="ko-KR" sz="600" dirty="0">
              <a:solidFill>
                <a:schemeClr val="tx1">
                  <a:lumMod val="85000"/>
                  <a:lumOff val="15000"/>
                </a:schemeClr>
              </a:solidFill>
              <a:latin typeface="맑은 고딕" panose="020B0503020000020004" pitchFamily="50" charset="-127"/>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1041640" y="2797553"/>
            <a:ext cx="498650"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국가 및 화폐</a:t>
            </a:r>
            <a:endParaRPr lang="en-US" altLang="ko-KR" sz="600" dirty="0">
              <a:solidFill>
                <a:schemeClr val="tx1">
                  <a:lumMod val="85000"/>
                  <a:lumOff val="15000"/>
                </a:schemeClr>
              </a:solidFill>
              <a:latin typeface="맑은 고딕" panose="020B0503020000020004" pitchFamily="50" charset="-127"/>
            </a:endParaRPr>
          </a:p>
        </p:txBody>
      </p:sp>
      <p:sp>
        <p:nvSpPr>
          <p:cNvPr id="135" name="TextBox 134">
            <a:extLst>
              <a:ext uri="{FF2B5EF4-FFF2-40B4-BE49-F238E27FC236}">
                <a16:creationId xmlns:a16="http://schemas.microsoft.com/office/drawing/2014/main" id="{FFC49AEA-2A8F-250C-A86A-A7751D9706C3}"/>
              </a:ext>
            </a:extLst>
          </p:cNvPr>
          <p:cNvSpPr txBox="1"/>
          <p:nvPr/>
        </p:nvSpPr>
        <p:spPr>
          <a:xfrm>
            <a:off x="2289144" y="2797553"/>
            <a:ext cx="979869" cy="92333"/>
          </a:xfrm>
          <a:prstGeom prst="rect">
            <a:avLst/>
          </a:prstGeom>
          <a:noFill/>
        </p:spPr>
        <p:txBody>
          <a:bodyPr wrap="square" lIns="0" tIns="0" rIns="0" bIns="0" rtlCol="0">
            <a:spAutoFit/>
          </a:bodyPr>
          <a:lstStyle/>
          <a:p>
            <a:pPr algn="r"/>
            <a:r>
              <a:rPr lang="ko-KR" altLang="en-US" sz="600" dirty="0" err="1">
                <a:solidFill>
                  <a:schemeClr val="tx1">
                    <a:lumMod val="85000"/>
                    <a:lumOff val="15000"/>
                  </a:schemeClr>
                </a:solidFill>
                <a:latin typeface="맑은 고딕" panose="020B0503020000020004" pitchFamily="50" charset="-127"/>
              </a:rPr>
              <a:t>매도율</a:t>
            </a:r>
            <a:r>
              <a:rPr lang="en-US" altLang="ko-KR" sz="600" dirty="0">
                <a:solidFill>
                  <a:schemeClr val="tx1">
                    <a:lumMod val="85000"/>
                    <a:lumOff val="15000"/>
                  </a:schemeClr>
                </a:solidFill>
                <a:latin typeface="맑은 고딕" panose="020B0503020000020004" pitchFamily="50" charset="-127"/>
              </a:rPr>
              <a:t>, </a:t>
            </a:r>
            <a:r>
              <a:rPr lang="ko-KR" altLang="en-US" sz="600" dirty="0">
                <a:solidFill>
                  <a:schemeClr val="tx1">
                    <a:lumMod val="85000"/>
                    <a:lumOff val="15000"/>
                  </a:schemeClr>
                </a:solidFill>
                <a:latin typeface="맑은 고딕" panose="020B0503020000020004" pitchFamily="50" charset="-127"/>
              </a:rPr>
              <a:t>기준율</a:t>
            </a:r>
            <a:r>
              <a:rPr lang="en-US" altLang="ko-KR" sz="600" dirty="0">
                <a:solidFill>
                  <a:schemeClr val="tx1">
                    <a:lumMod val="85000"/>
                    <a:lumOff val="15000"/>
                  </a:schemeClr>
                </a:solidFill>
                <a:latin typeface="맑은 고딕" panose="020B0503020000020004" pitchFamily="50" charset="-127"/>
              </a:rPr>
              <a:t>, </a:t>
            </a:r>
            <a:r>
              <a:rPr lang="ko-KR" altLang="en-US" sz="600" dirty="0" err="1">
                <a:solidFill>
                  <a:schemeClr val="tx1">
                    <a:lumMod val="85000"/>
                    <a:lumOff val="15000"/>
                  </a:schemeClr>
                </a:solidFill>
                <a:latin typeface="맑은 고딕" panose="020B0503020000020004" pitchFamily="50" charset="-127"/>
              </a:rPr>
              <a:t>달러환산율</a:t>
            </a:r>
            <a:endParaRPr lang="en-US" altLang="ko-KR" sz="600" dirty="0">
              <a:solidFill>
                <a:schemeClr val="tx1">
                  <a:lumMod val="85000"/>
                  <a:lumOff val="15000"/>
                </a:schemeClr>
              </a:solidFill>
              <a:latin typeface="맑은 고딕" panose="020B0503020000020004" pitchFamily="50" charset="-127"/>
            </a:endParaRPr>
          </a:p>
        </p:txBody>
      </p:sp>
      <p:grpSp>
        <p:nvGrpSpPr>
          <p:cNvPr id="6" name="그룹 5"/>
          <p:cNvGrpSpPr/>
          <p:nvPr/>
        </p:nvGrpSpPr>
        <p:grpSpPr>
          <a:xfrm>
            <a:off x="715616" y="2961907"/>
            <a:ext cx="2652743" cy="467510"/>
            <a:chOff x="715616" y="3407067"/>
            <a:chExt cx="2652743" cy="467510"/>
          </a:xfrm>
        </p:grpSpPr>
        <p:sp>
          <p:nvSpPr>
            <p:cNvPr id="136" name="모서리가 둥근 직사각형 135"/>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7" name="TextBox 136">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US-</a:t>
              </a:r>
              <a:r>
                <a:rPr lang="ko-KR" altLang="en-US" sz="700" dirty="0">
                  <a:solidFill>
                    <a:schemeClr val="tx1">
                      <a:lumMod val="85000"/>
                      <a:lumOff val="15000"/>
                    </a:schemeClr>
                  </a:solidFill>
                  <a:latin typeface="맑은 고딕" panose="020B0503020000020004" pitchFamily="50" charset="-127"/>
                </a:rPr>
                <a:t>미국</a:t>
              </a:r>
              <a:r>
                <a:rPr lang="en-US" altLang="ko-KR" sz="700" dirty="0">
                  <a:solidFill>
                    <a:schemeClr val="tx1">
                      <a:lumMod val="85000"/>
                      <a:lumOff val="15000"/>
                    </a:schemeClr>
                  </a:solidFill>
                  <a:latin typeface="맑은 고딕" panose="020B0503020000020004" pitchFamily="50" charset="-127"/>
                </a:rPr>
                <a:t/>
              </a:r>
              <a:br>
                <a:rPr lang="en-US" altLang="ko-KR" sz="700" dirty="0">
                  <a:solidFill>
                    <a:schemeClr val="tx1">
                      <a:lumMod val="85000"/>
                      <a:lumOff val="15000"/>
                    </a:schemeClr>
                  </a:solidFill>
                  <a:latin typeface="맑은 고딕" panose="020B0503020000020004" pitchFamily="50" charset="-127"/>
                </a:rPr>
              </a:br>
              <a:r>
                <a:rPr lang="en-US" altLang="ko-KR" sz="700" dirty="0">
                  <a:solidFill>
                    <a:schemeClr val="tx1">
                      <a:lumMod val="85000"/>
                      <a:lumOff val="15000"/>
                    </a:schemeClr>
                  </a:solidFill>
                  <a:latin typeface="맑은 고딕" panose="020B0503020000020004" pitchFamily="50" charset="-127"/>
                </a:rPr>
                <a:t>USD-</a:t>
              </a:r>
              <a:r>
                <a:rPr lang="ko-KR" altLang="en-US" sz="700" dirty="0">
                  <a:solidFill>
                    <a:schemeClr val="tx1">
                      <a:lumMod val="85000"/>
                      <a:lumOff val="15000"/>
                    </a:schemeClr>
                  </a:solidFill>
                  <a:latin typeface="맑은 고딕" panose="020B0503020000020004" pitchFamily="50" charset="-127"/>
                </a:rPr>
                <a:t>미 달러</a:t>
              </a:r>
              <a:endParaRPr lang="en-US" altLang="ko-KR" sz="700" dirty="0">
                <a:solidFill>
                  <a:schemeClr val="tx1">
                    <a:lumMod val="85000"/>
                    <a:lumOff val="15000"/>
                  </a:schemeClr>
                </a:solidFill>
                <a:latin typeface="맑은 고딕" panose="020B0503020000020004" pitchFamily="50" charset="-127"/>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1,464.30 KRW</a:t>
              </a:r>
            </a:p>
            <a:p>
              <a:pPr algn="r"/>
              <a:r>
                <a:rPr lang="en-US" altLang="ko-KR" sz="700" dirty="0">
                  <a:solidFill>
                    <a:schemeClr val="tx1">
                      <a:lumMod val="85000"/>
                      <a:lumOff val="15000"/>
                    </a:schemeClr>
                  </a:solidFill>
                  <a:latin typeface="맑은 고딕" panose="020B0503020000020004" pitchFamily="50" charset="-127"/>
                </a:rPr>
                <a:t>1.0000 USD</a:t>
              </a:r>
            </a:p>
          </p:txBody>
        </p:sp>
      </p:grpSp>
      <p:grpSp>
        <p:nvGrpSpPr>
          <p:cNvPr id="145" name="그룹 144"/>
          <p:cNvGrpSpPr/>
          <p:nvPr/>
        </p:nvGrpSpPr>
        <p:grpSpPr>
          <a:xfrm>
            <a:off x="715616" y="3485414"/>
            <a:ext cx="2652743" cy="467510"/>
            <a:chOff x="715616" y="3407067"/>
            <a:chExt cx="2652743" cy="467510"/>
          </a:xfrm>
        </p:grpSpPr>
        <p:sp>
          <p:nvSpPr>
            <p:cNvPr id="147" name="모서리가 둥근 직사각형 146"/>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8" name="TextBox 147">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NO-</a:t>
              </a:r>
              <a:r>
                <a:rPr lang="ko-KR" altLang="en-US" sz="700" dirty="0">
                  <a:solidFill>
                    <a:schemeClr val="tx1">
                      <a:lumMod val="85000"/>
                      <a:lumOff val="15000"/>
                    </a:schemeClr>
                  </a:solidFill>
                  <a:latin typeface="맑은 고딕" panose="020B0503020000020004" pitchFamily="50" charset="-127"/>
                </a:rPr>
                <a:t>노르웨이</a:t>
              </a:r>
              <a:r>
                <a:rPr lang="en-US" altLang="ko-KR" sz="700" dirty="0">
                  <a:solidFill>
                    <a:schemeClr val="tx1">
                      <a:lumMod val="85000"/>
                      <a:lumOff val="15000"/>
                    </a:schemeClr>
                  </a:solidFill>
                  <a:latin typeface="맑은 고딕" panose="020B0503020000020004" pitchFamily="50" charset="-127"/>
                </a:rPr>
                <a:t/>
              </a:r>
              <a:br>
                <a:rPr lang="en-US" altLang="ko-KR" sz="700" dirty="0">
                  <a:solidFill>
                    <a:schemeClr val="tx1">
                      <a:lumMod val="85000"/>
                      <a:lumOff val="15000"/>
                    </a:schemeClr>
                  </a:solidFill>
                  <a:latin typeface="맑은 고딕" panose="020B0503020000020004" pitchFamily="50" charset="-127"/>
                </a:rPr>
              </a:br>
              <a:r>
                <a:rPr lang="en-US" altLang="ko-KR" sz="700" dirty="0">
                  <a:solidFill>
                    <a:schemeClr val="tx1">
                      <a:lumMod val="85000"/>
                      <a:lumOff val="15000"/>
                    </a:schemeClr>
                  </a:solidFill>
                  <a:latin typeface="맑은 고딕" panose="020B0503020000020004" pitchFamily="50" charset="-127"/>
                </a:rPr>
                <a:t>NOK-</a:t>
              </a:r>
              <a:r>
                <a:rPr lang="ko-KR" altLang="en-US" sz="700" dirty="0">
                  <a:solidFill>
                    <a:schemeClr val="tx1">
                      <a:lumMod val="85000"/>
                      <a:lumOff val="15000"/>
                    </a:schemeClr>
                  </a:solidFill>
                  <a:latin typeface="맑은 고딕" panose="020B0503020000020004" pitchFamily="50" charset="-127"/>
                </a:rPr>
                <a:t>노르웨이 </a:t>
              </a:r>
              <a:r>
                <a:rPr lang="ko-KR" altLang="en-US" sz="700" dirty="0" err="1">
                  <a:solidFill>
                    <a:schemeClr val="tx1">
                      <a:lumMod val="85000"/>
                      <a:lumOff val="15000"/>
                    </a:schemeClr>
                  </a:solidFill>
                  <a:latin typeface="맑은 고딕" panose="020B0503020000020004" pitchFamily="50" charset="-127"/>
                </a:rPr>
                <a:t>크로네</a:t>
              </a:r>
              <a:endParaRPr lang="en-US" altLang="ko-KR" sz="700" dirty="0">
                <a:solidFill>
                  <a:schemeClr val="tx1">
                    <a:lumMod val="85000"/>
                    <a:lumOff val="15000"/>
                  </a:schemeClr>
                </a:solidFill>
                <a:latin typeface="맑은 고딕" panose="020B0503020000020004" pitchFamily="50" charset="-127"/>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151.33 KRW</a:t>
              </a:r>
            </a:p>
            <a:p>
              <a:pPr algn="r"/>
              <a:r>
                <a:rPr lang="en-US" altLang="ko-KR" sz="700" dirty="0">
                  <a:solidFill>
                    <a:schemeClr val="tx1">
                      <a:lumMod val="85000"/>
                      <a:lumOff val="15000"/>
                    </a:schemeClr>
                  </a:solidFill>
                  <a:latin typeface="맑은 고딕" panose="020B0503020000020004" pitchFamily="50" charset="-127"/>
                </a:rPr>
                <a:t>0.1033 USD</a:t>
              </a:r>
            </a:p>
          </p:txBody>
        </p:sp>
      </p:grpSp>
      <p:sp>
        <p:nvSpPr>
          <p:cNvPr id="153" name="양쪽 모서리가 둥근 사각형 152"/>
          <p:cNvSpPr/>
          <p:nvPr/>
        </p:nvSpPr>
        <p:spPr>
          <a:xfrm>
            <a:off x="3795734"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4" name="모서리가 둥근 직사각형 153"/>
          <p:cNvSpPr/>
          <p:nvPr/>
        </p:nvSpPr>
        <p:spPr>
          <a:xfrm>
            <a:off x="4881747"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61" name="그룹 160"/>
          <p:cNvGrpSpPr/>
          <p:nvPr/>
        </p:nvGrpSpPr>
        <p:grpSpPr>
          <a:xfrm>
            <a:off x="6284673" y="3182696"/>
            <a:ext cx="94010" cy="94010"/>
            <a:chOff x="6812560" y="3297172"/>
            <a:chExt cx="94010" cy="94010"/>
          </a:xfrm>
        </p:grpSpPr>
        <p:cxnSp>
          <p:nvCxnSpPr>
            <p:cNvPr id="162" name="직선 연결선 16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3" name="직선 연결선 16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4" name="TextBox 163">
            <a:extLst>
              <a:ext uri="{FF2B5EF4-FFF2-40B4-BE49-F238E27FC236}">
                <a16:creationId xmlns:a16="http://schemas.microsoft.com/office/drawing/2014/main" id="{FFC49AEA-2A8F-250C-A86A-A7751D9706C3}"/>
              </a:ext>
            </a:extLst>
          </p:cNvPr>
          <p:cNvSpPr txBox="1"/>
          <p:nvPr/>
        </p:nvSpPr>
        <p:spPr>
          <a:xfrm>
            <a:off x="3924811" y="3163375"/>
            <a:ext cx="1798758" cy="138499"/>
          </a:xfrm>
          <a:prstGeom prst="rect">
            <a:avLst/>
          </a:prstGeom>
          <a:noFill/>
        </p:spPr>
        <p:txBody>
          <a:bodyPr wrap="square" lIns="0" tIns="0" rIns="0" bIns="0" rtlCol="0">
            <a:spAutoFit/>
          </a:bodyPr>
          <a:lstStyle/>
          <a:p>
            <a:r>
              <a:rPr lang="ko-KR" altLang="en-US" sz="900" dirty="0">
                <a:latin typeface="+mn-ea"/>
              </a:rPr>
              <a:t>날짜 설정</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3795734"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66" name="그룹 165"/>
          <p:cNvGrpSpPr/>
          <p:nvPr/>
        </p:nvGrpSpPr>
        <p:grpSpPr>
          <a:xfrm>
            <a:off x="3949297" y="3591898"/>
            <a:ext cx="2404900" cy="1793599"/>
            <a:chOff x="853448" y="3591898"/>
            <a:chExt cx="2404900" cy="1793599"/>
          </a:xfrm>
        </p:grpSpPr>
        <p:grpSp>
          <p:nvGrpSpPr>
            <p:cNvPr id="167" name="그룹 166">
              <a:extLst>
                <a:ext uri="{FF2B5EF4-FFF2-40B4-BE49-F238E27FC236}">
                  <a16:creationId xmlns:a16="http://schemas.microsoft.com/office/drawing/2014/main" id="{88B5F951-FD18-C7AD-4712-954CD1C500E7}"/>
                </a:ext>
              </a:extLst>
            </p:cNvPr>
            <p:cNvGrpSpPr/>
            <p:nvPr/>
          </p:nvGrpSpPr>
          <p:grpSpPr>
            <a:xfrm>
              <a:off x="853448" y="3591898"/>
              <a:ext cx="2404900" cy="1793599"/>
              <a:chOff x="6330232" y="1877976"/>
              <a:chExt cx="1507175" cy="1793599"/>
            </a:xfrm>
          </p:grpSpPr>
          <p:sp>
            <p:nvSpPr>
              <p:cNvPr id="169" name="자유형: 도형 138">
                <a:extLst>
                  <a:ext uri="{FF2B5EF4-FFF2-40B4-BE49-F238E27FC236}">
                    <a16:creationId xmlns:a16="http://schemas.microsoft.com/office/drawing/2014/main" id="{22B087CA-85B4-CEE4-100E-D11384B46CD9}"/>
                  </a:ext>
                </a:extLst>
              </p:cNvPr>
              <p:cNvSpPr/>
              <p:nvPr/>
            </p:nvSpPr>
            <p:spPr>
              <a:xfrm>
                <a:off x="6330232" y="2230424"/>
                <a:ext cx="1507175" cy="1441151"/>
              </a:xfrm>
              <a:custGeom>
                <a:avLst/>
                <a:gdLst>
                  <a:gd name="connsiteX0" fmla="*/ 0 w 1598734"/>
                  <a:gd name="connsiteY0" fmla="*/ 0 h 1380106"/>
                  <a:gd name="connsiteX1" fmla="*/ 1598734 w 1598734"/>
                  <a:gd name="connsiteY1" fmla="*/ 0 h 1380106"/>
                  <a:gd name="connsiteX2" fmla="*/ 1598734 w 1598734"/>
                  <a:gd name="connsiteY2" fmla="*/ 102684 h 1380106"/>
                  <a:gd name="connsiteX3" fmla="*/ 1598734 w 1598734"/>
                  <a:gd name="connsiteY3" fmla="*/ 146050 h 1380106"/>
                  <a:gd name="connsiteX4" fmla="*/ 1598734 w 1598734"/>
                  <a:gd name="connsiteY4" fmla="*/ 1321871 h 1380106"/>
                  <a:gd name="connsiteX5" fmla="*/ 1540499 w 1598734"/>
                  <a:gd name="connsiteY5" fmla="*/ 1380106 h 1380106"/>
                  <a:gd name="connsiteX6" fmla="*/ 58235 w 1598734"/>
                  <a:gd name="connsiteY6" fmla="*/ 1380106 h 1380106"/>
                  <a:gd name="connsiteX7" fmla="*/ 0 w 1598734"/>
                  <a:gd name="connsiteY7" fmla="*/ 1321871 h 1380106"/>
                  <a:gd name="connsiteX8" fmla="*/ 0 w 1598734"/>
                  <a:gd name="connsiteY8" fmla="*/ 146050 h 1380106"/>
                  <a:gd name="connsiteX9" fmla="*/ 0 w 1598734"/>
                  <a:gd name="connsiteY9" fmla="*/ 102684 h 1380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98734" h="1380106">
                    <a:moveTo>
                      <a:pt x="0" y="0"/>
                    </a:moveTo>
                    <a:lnTo>
                      <a:pt x="1598734" y="0"/>
                    </a:lnTo>
                    <a:lnTo>
                      <a:pt x="1598734" y="102684"/>
                    </a:lnTo>
                    <a:lnTo>
                      <a:pt x="1598734" y="146050"/>
                    </a:lnTo>
                    <a:lnTo>
                      <a:pt x="1598734" y="1321871"/>
                    </a:lnTo>
                    <a:cubicBezTo>
                      <a:pt x="1598734" y="1354033"/>
                      <a:pt x="1572661" y="1380106"/>
                      <a:pt x="1540499" y="1380106"/>
                    </a:cubicBezTo>
                    <a:lnTo>
                      <a:pt x="58235" y="1380106"/>
                    </a:lnTo>
                    <a:cubicBezTo>
                      <a:pt x="26073" y="1380106"/>
                      <a:pt x="0" y="1354033"/>
                      <a:pt x="0" y="1321871"/>
                    </a:cubicBezTo>
                    <a:lnTo>
                      <a:pt x="0" y="146050"/>
                    </a:lnTo>
                    <a:lnTo>
                      <a:pt x="0" y="102684"/>
                    </a:lnTo>
                    <a:close/>
                  </a:path>
                </a:pathLst>
              </a:custGeom>
              <a:solidFill>
                <a:sysClr val="window" lastClr="FFFFFF"/>
              </a:solidFill>
              <a:ln w="9525" cap="flat" cmpd="sng" algn="ctr">
                <a:solidFill>
                  <a:sysClr val="window" lastClr="FFFFFF">
                    <a:lumMod val="75000"/>
                  </a:sysClr>
                </a:solidFill>
                <a:prstDash val="solid"/>
              </a:ln>
              <a:effectLst/>
            </p:spPr>
            <p:txBody>
              <a:bodyPr wrap="square" rtlCol="0" anchor="ctr">
                <a:no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black">
                      <a:lumMod val="50000"/>
                      <a:lumOff val="50000"/>
                    </a:prstClr>
                  </a:solidFill>
                  <a:effectLst/>
                  <a:uLnTx/>
                  <a:uFillTx/>
                  <a:latin typeface="맑은 고딕"/>
                  <a:ea typeface="+mn-ea"/>
                  <a:cs typeface="+mn-cs"/>
                </a:endParaRPr>
              </a:p>
            </p:txBody>
          </p:sp>
          <p:sp>
            <p:nvSpPr>
              <p:cNvPr id="170" name="자유형: 도형 139">
                <a:extLst>
                  <a:ext uri="{FF2B5EF4-FFF2-40B4-BE49-F238E27FC236}">
                    <a16:creationId xmlns:a16="http://schemas.microsoft.com/office/drawing/2014/main" id="{3A3F8C14-4350-473F-BE56-A3F310114A55}"/>
                  </a:ext>
                </a:extLst>
              </p:cNvPr>
              <p:cNvSpPr/>
              <p:nvPr/>
            </p:nvSpPr>
            <p:spPr>
              <a:xfrm>
                <a:off x="6330232" y="1877976"/>
                <a:ext cx="1507174" cy="352448"/>
              </a:xfrm>
              <a:custGeom>
                <a:avLst/>
                <a:gdLst>
                  <a:gd name="connsiteX0" fmla="*/ 68452 w 1598734"/>
                  <a:gd name="connsiteY0" fmla="*/ 0 h 306657"/>
                  <a:gd name="connsiteX1" fmla="*/ 1530282 w 1598734"/>
                  <a:gd name="connsiteY1" fmla="*/ 0 h 306657"/>
                  <a:gd name="connsiteX2" fmla="*/ 1598734 w 1598734"/>
                  <a:gd name="connsiteY2" fmla="*/ 68452 h 306657"/>
                  <a:gd name="connsiteX3" fmla="*/ 1598734 w 1598734"/>
                  <a:gd name="connsiteY3" fmla="*/ 160607 h 306657"/>
                  <a:gd name="connsiteX4" fmla="*/ 1598734 w 1598734"/>
                  <a:gd name="connsiteY4" fmla="*/ 193756 h 306657"/>
                  <a:gd name="connsiteX5" fmla="*/ 1598734 w 1598734"/>
                  <a:gd name="connsiteY5" fmla="*/ 306657 h 306657"/>
                  <a:gd name="connsiteX6" fmla="*/ 0 w 1598734"/>
                  <a:gd name="connsiteY6" fmla="*/ 306657 h 306657"/>
                  <a:gd name="connsiteX7" fmla="*/ 0 w 1598734"/>
                  <a:gd name="connsiteY7" fmla="*/ 193756 h 306657"/>
                  <a:gd name="connsiteX8" fmla="*/ 0 w 1598734"/>
                  <a:gd name="connsiteY8" fmla="*/ 160607 h 306657"/>
                  <a:gd name="connsiteX9" fmla="*/ 0 w 1598734"/>
                  <a:gd name="connsiteY9" fmla="*/ 68452 h 306657"/>
                  <a:gd name="connsiteX10" fmla="*/ 68452 w 1598734"/>
                  <a:gd name="connsiteY10" fmla="*/ 0 h 3066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98734" h="306657">
                    <a:moveTo>
                      <a:pt x="68452" y="0"/>
                    </a:moveTo>
                    <a:lnTo>
                      <a:pt x="1530282" y="0"/>
                    </a:lnTo>
                    <a:cubicBezTo>
                      <a:pt x="1568087" y="0"/>
                      <a:pt x="1598734" y="30647"/>
                      <a:pt x="1598734" y="68452"/>
                    </a:cubicBezTo>
                    <a:lnTo>
                      <a:pt x="1598734" y="160607"/>
                    </a:lnTo>
                    <a:lnTo>
                      <a:pt x="1598734" y="193756"/>
                    </a:lnTo>
                    <a:lnTo>
                      <a:pt x="1598734" y="306657"/>
                    </a:lnTo>
                    <a:lnTo>
                      <a:pt x="0" y="306657"/>
                    </a:lnTo>
                    <a:lnTo>
                      <a:pt x="0" y="193756"/>
                    </a:lnTo>
                    <a:lnTo>
                      <a:pt x="0" y="160607"/>
                    </a:lnTo>
                    <a:lnTo>
                      <a:pt x="0" y="68452"/>
                    </a:lnTo>
                    <a:cubicBezTo>
                      <a:pt x="0" y="30647"/>
                      <a:pt x="30647" y="0"/>
                      <a:pt x="68452" y="0"/>
                    </a:cubicBezTo>
                    <a:close/>
                  </a:path>
                </a:pathLst>
              </a:custGeom>
              <a:solidFill>
                <a:schemeClr val="bg1"/>
              </a:solidFill>
              <a:ln w="9525" cap="flat" cmpd="sng" algn="ctr">
                <a:solidFill>
                  <a:sysClr val="window" lastClr="FFFFFF">
                    <a:lumMod val="75000"/>
                  </a:sysClr>
                </a:solidFill>
                <a:prstDash val="solid"/>
              </a:ln>
              <a:effectLst/>
            </p:spPr>
            <p:txBody>
              <a:bodyPr wrap="square" rtlCol="0" anchor="ctr">
                <a:no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900" b="1" i="0" u="none" strike="noStrike" kern="0" cap="none" spc="0" normalizeH="0" baseline="0" noProof="0">
                  <a:ln>
                    <a:noFill/>
                  </a:ln>
                  <a:effectLst/>
                  <a:uLnTx/>
                  <a:uFillTx/>
                  <a:latin typeface="맑은 고딕"/>
                  <a:ea typeface="+mn-ea"/>
                  <a:cs typeface="+mn-cs"/>
                </a:endParaRPr>
              </a:p>
            </p:txBody>
          </p:sp>
          <p:grpSp>
            <p:nvGrpSpPr>
              <p:cNvPr id="171" name="그룹 170">
                <a:extLst>
                  <a:ext uri="{FF2B5EF4-FFF2-40B4-BE49-F238E27FC236}">
                    <a16:creationId xmlns:a16="http://schemas.microsoft.com/office/drawing/2014/main" id="{A137B8AF-CE16-FE87-200C-9B7042587058}"/>
                  </a:ext>
                </a:extLst>
              </p:cNvPr>
              <p:cNvGrpSpPr/>
              <p:nvPr/>
            </p:nvGrpSpPr>
            <p:grpSpPr>
              <a:xfrm>
                <a:off x="6585805" y="1935304"/>
                <a:ext cx="996029" cy="251744"/>
                <a:chOff x="6656745" y="1935304"/>
                <a:chExt cx="996029" cy="251744"/>
              </a:xfrm>
            </p:grpSpPr>
            <p:grpSp>
              <p:nvGrpSpPr>
                <p:cNvPr id="176" name="그룹 175">
                  <a:extLst>
                    <a:ext uri="{FF2B5EF4-FFF2-40B4-BE49-F238E27FC236}">
                      <a16:creationId xmlns:a16="http://schemas.microsoft.com/office/drawing/2014/main" id="{A87E2622-4B77-D690-F5F9-A7024A74E708}"/>
                    </a:ext>
                  </a:extLst>
                </p:cNvPr>
                <p:cNvGrpSpPr/>
                <p:nvPr/>
              </p:nvGrpSpPr>
              <p:grpSpPr>
                <a:xfrm>
                  <a:off x="6656745" y="1935304"/>
                  <a:ext cx="391505" cy="251744"/>
                  <a:chOff x="14465912" y="2621448"/>
                  <a:chExt cx="373142" cy="251744"/>
                </a:xfrm>
              </p:grpSpPr>
              <p:sp>
                <p:nvSpPr>
                  <p:cNvPr id="182" name="사각형: 둥근 모서리 144">
                    <a:extLst>
                      <a:ext uri="{FF2B5EF4-FFF2-40B4-BE49-F238E27FC236}">
                        <a16:creationId xmlns:a16="http://schemas.microsoft.com/office/drawing/2014/main" id="{D1B5AE77-5D23-E70D-56C2-4B07B89912D6}"/>
                      </a:ext>
                    </a:extLst>
                  </p:cNvPr>
                  <p:cNvSpPr/>
                  <p:nvPr/>
                </p:nvSpPr>
                <p:spPr>
                  <a:xfrm>
                    <a:off x="14465912" y="2621448"/>
                    <a:ext cx="373142" cy="2517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lIns="3600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800" kern="0">
                        <a:latin typeface="맑은 고딕"/>
                      </a:rPr>
                      <a:t>2026</a:t>
                    </a:r>
                    <a:endParaRPr kumimoji="1" lang="en-US" sz="800" b="0" i="0" u="none" strike="noStrike" kern="0" cap="none" spc="0" normalizeH="0" baseline="0" noProof="0">
                      <a:ln>
                        <a:noFill/>
                      </a:ln>
                      <a:effectLst/>
                      <a:uLnTx/>
                      <a:uFillTx/>
                      <a:latin typeface="맑은 고딕"/>
                      <a:ea typeface="+mn-ea"/>
                      <a:cs typeface="+mn-cs"/>
                    </a:endParaRPr>
                  </a:p>
                </p:txBody>
              </p:sp>
              <p:sp>
                <p:nvSpPr>
                  <p:cNvPr id="183" name="이등변 삼각형 182">
                    <a:extLst>
                      <a:ext uri="{FF2B5EF4-FFF2-40B4-BE49-F238E27FC236}">
                        <a16:creationId xmlns:a16="http://schemas.microsoft.com/office/drawing/2014/main" id="{3B4ED1E8-ADBF-6251-5AE2-8AA6EED0EC85}"/>
                      </a:ext>
                    </a:extLst>
                  </p:cNvPr>
                  <p:cNvSpPr/>
                  <p:nvPr/>
                </p:nvSpPr>
                <p:spPr>
                  <a:xfrm flipV="1">
                    <a:off x="14730144" y="2724461"/>
                    <a:ext cx="85725" cy="45719"/>
                  </a:xfrm>
                  <a:prstGeom prst="triangle">
                    <a:avLst/>
                  </a:prstGeom>
                  <a:solidFill>
                    <a:sysClr val="windowText" lastClr="000000">
                      <a:lumMod val="50000"/>
                      <a:lumOff val="50000"/>
                    </a:sysClr>
                  </a:solidFill>
                  <a:ln w="25400" cap="flat" cmpd="sng" algn="ctr">
                    <a:no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white"/>
                      </a:solidFill>
                      <a:effectLst/>
                      <a:uLnTx/>
                      <a:uFillTx/>
                      <a:latin typeface="맑은 고딕"/>
                      <a:ea typeface="+mn-ea"/>
                      <a:cs typeface="+mn-cs"/>
                    </a:endParaRPr>
                  </a:p>
                </p:txBody>
              </p:sp>
            </p:grpSp>
            <p:grpSp>
              <p:nvGrpSpPr>
                <p:cNvPr id="177" name="그룹 176">
                  <a:extLst>
                    <a:ext uri="{FF2B5EF4-FFF2-40B4-BE49-F238E27FC236}">
                      <a16:creationId xmlns:a16="http://schemas.microsoft.com/office/drawing/2014/main" id="{EA122917-E998-AFF8-0017-87D415E2F4C1}"/>
                    </a:ext>
                  </a:extLst>
                </p:cNvPr>
                <p:cNvGrpSpPr/>
                <p:nvPr/>
              </p:nvGrpSpPr>
              <p:grpSpPr>
                <a:xfrm>
                  <a:off x="7227970" y="1935304"/>
                  <a:ext cx="283649" cy="251744"/>
                  <a:chOff x="6204909" y="3981827"/>
                  <a:chExt cx="283649" cy="251744"/>
                </a:xfrm>
              </p:grpSpPr>
              <p:sp>
                <p:nvSpPr>
                  <p:cNvPr id="180" name="사각형: 둥근 모서리 147">
                    <a:extLst>
                      <a:ext uri="{FF2B5EF4-FFF2-40B4-BE49-F238E27FC236}">
                        <a16:creationId xmlns:a16="http://schemas.microsoft.com/office/drawing/2014/main" id="{4D308691-DE94-C033-764E-E5D1F0BF3524}"/>
                      </a:ext>
                    </a:extLst>
                  </p:cNvPr>
                  <p:cNvSpPr/>
                  <p:nvPr/>
                </p:nvSpPr>
                <p:spPr>
                  <a:xfrm>
                    <a:off x="6204909" y="3981827"/>
                    <a:ext cx="283649" cy="2517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lIns="3600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800" kern="0">
                        <a:latin typeface="맑은 고딕"/>
                      </a:rPr>
                      <a:t>1</a:t>
                    </a:r>
                    <a:endParaRPr kumimoji="1" lang="en-US" sz="800" b="0" i="0" u="none" strike="noStrike" kern="0" cap="none" spc="0" normalizeH="0" baseline="0" noProof="0">
                      <a:ln>
                        <a:noFill/>
                      </a:ln>
                      <a:effectLst/>
                      <a:uLnTx/>
                      <a:uFillTx/>
                      <a:latin typeface="맑은 고딕"/>
                      <a:ea typeface="+mn-ea"/>
                      <a:cs typeface="+mn-cs"/>
                    </a:endParaRPr>
                  </a:p>
                </p:txBody>
              </p:sp>
              <p:sp>
                <p:nvSpPr>
                  <p:cNvPr id="181" name="이등변 삼각형 180">
                    <a:extLst>
                      <a:ext uri="{FF2B5EF4-FFF2-40B4-BE49-F238E27FC236}">
                        <a16:creationId xmlns:a16="http://schemas.microsoft.com/office/drawing/2014/main" id="{21A750D1-1A64-CDE6-935B-2CDA4AF0C094}"/>
                      </a:ext>
                    </a:extLst>
                  </p:cNvPr>
                  <p:cNvSpPr/>
                  <p:nvPr/>
                </p:nvSpPr>
                <p:spPr>
                  <a:xfrm flipV="1">
                    <a:off x="6372421" y="4084840"/>
                    <a:ext cx="89944" cy="45719"/>
                  </a:xfrm>
                  <a:prstGeom prst="triangle">
                    <a:avLst/>
                  </a:prstGeom>
                  <a:solidFill>
                    <a:sysClr val="windowText" lastClr="000000">
                      <a:lumMod val="50000"/>
                      <a:lumOff val="50000"/>
                    </a:sysClr>
                  </a:solidFill>
                  <a:ln w="25400" cap="flat" cmpd="sng" algn="ctr">
                    <a:no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white"/>
                      </a:solidFill>
                      <a:effectLst/>
                      <a:uLnTx/>
                      <a:uFillTx/>
                      <a:latin typeface="맑은 고딕"/>
                      <a:ea typeface="+mn-ea"/>
                      <a:cs typeface="+mn-cs"/>
                    </a:endParaRPr>
                  </a:p>
                </p:txBody>
              </p:sp>
            </p:grpSp>
            <p:sp>
              <p:nvSpPr>
                <p:cNvPr id="178" name="TextBox 149">
                  <a:extLst>
                    <a:ext uri="{FF2B5EF4-FFF2-40B4-BE49-F238E27FC236}">
                      <a16:creationId xmlns:a16="http://schemas.microsoft.com/office/drawing/2014/main" id="{B5390AFF-87C5-1EB0-E4C9-DFE8DE8D1A0A}"/>
                    </a:ext>
                  </a:extLst>
                </p:cNvPr>
                <p:cNvSpPr txBox="1"/>
                <p:nvPr/>
              </p:nvSpPr>
              <p:spPr>
                <a:xfrm>
                  <a:off x="7086814" y="1999621"/>
                  <a:ext cx="102592"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a:solidFill>
                        <a:prstClr val="black"/>
                      </a:solidFill>
                      <a:cs typeface="Pretendard Medium" panose="02000603000000020004" pitchFamily="50" charset="-127"/>
                    </a:rPr>
                    <a:t>년</a:t>
                  </a:r>
                </a:p>
              </p:txBody>
            </p:sp>
            <p:sp>
              <p:nvSpPr>
                <p:cNvPr id="179" name="TextBox 152">
                  <a:extLst>
                    <a:ext uri="{FF2B5EF4-FFF2-40B4-BE49-F238E27FC236}">
                      <a16:creationId xmlns:a16="http://schemas.microsoft.com/office/drawing/2014/main" id="{A6C09F56-B1D3-B9C4-043F-21D7BB9E7303}"/>
                    </a:ext>
                  </a:extLst>
                </p:cNvPr>
                <p:cNvSpPr txBox="1"/>
                <p:nvPr/>
              </p:nvSpPr>
              <p:spPr>
                <a:xfrm>
                  <a:off x="7550182" y="1999621"/>
                  <a:ext cx="102592"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a:solidFill>
                        <a:prstClr val="black"/>
                      </a:solidFill>
                      <a:cs typeface="Pretendard Medium" panose="02000603000000020004" pitchFamily="50" charset="-127"/>
                    </a:rPr>
                    <a:t>월</a:t>
                  </a:r>
                </a:p>
              </p:txBody>
            </p:sp>
          </p:grpSp>
          <p:pic>
            <p:nvPicPr>
              <p:cNvPr id="172" name="그래픽 159">
                <a:extLst>
                  <a:ext uri="{FF2B5EF4-FFF2-40B4-BE49-F238E27FC236}">
                    <a16:creationId xmlns:a16="http://schemas.microsoft.com/office/drawing/2014/main" id="{3F60CD29-6457-57CE-2207-590D5C49DC6F}"/>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6443575" y="2011321"/>
                <a:ext cx="124829" cy="124829"/>
              </a:xfrm>
              <a:prstGeom prst="rect">
                <a:avLst/>
              </a:prstGeom>
            </p:spPr>
          </p:pic>
          <p:pic>
            <p:nvPicPr>
              <p:cNvPr id="173" name="그래픽 161">
                <a:extLst>
                  <a:ext uri="{FF2B5EF4-FFF2-40B4-BE49-F238E27FC236}">
                    <a16:creationId xmlns:a16="http://schemas.microsoft.com/office/drawing/2014/main" id="{B3146EC9-2E57-C788-18FF-97995F8296C4}"/>
                  </a:ext>
                </a:extLst>
              </p:cNvPr>
              <p:cNvPicPr>
                <a:picLocks noChangeAspect="1"/>
              </p:cNvPicPr>
              <p:nvPr/>
            </p:nvPicPr>
            <p:blipFill>
              <a:blip r:embed="rId4">
                <a:extLst>
                  <a:ext uri="{96DAC541-7B7A-43D3-8B79-37D633B846F1}">
                    <asvg:svgBlip xmlns="" xmlns:asvg="http://schemas.microsoft.com/office/drawing/2016/SVG/main" r:embed="rId5"/>
                  </a:ext>
                </a:extLst>
              </a:blip>
              <a:stretch>
                <a:fillRect/>
              </a:stretch>
            </p:blipFill>
            <p:spPr>
              <a:xfrm>
                <a:off x="6337510" y="2006235"/>
                <a:ext cx="135001" cy="135001"/>
              </a:xfrm>
              <a:prstGeom prst="rect">
                <a:avLst/>
              </a:prstGeom>
            </p:spPr>
          </p:pic>
          <p:pic>
            <p:nvPicPr>
              <p:cNvPr id="174" name="그래픽 166">
                <a:extLst>
                  <a:ext uri="{FF2B5EF4-FFF2-40B4-BE49-F238E27FC236}">
                    <a16:creationId xmlns:a16="http://schemas.microsoft.com/office/drawing/2014/main" id="{13D2C4D0-FC1C-780E-EBE1-F1214DFD9636}"/>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flipH="1">
                <a:off x="7582427" y="2011321"/>
                <a:ext cx="124829" cy="124829"/>
              </a:xfrm>
              <a:prstGeom prst="rect">
                <a:avLst/>
              </a:prstGeom>
            </p:spPr>
          </p:pic>
          <p:pic>
            <p:nvPicPr>
              <p:cNvPr id="175" name="그래픽 167">
                <a:extLst>
                  <a:ext uri="{FF2B5EF4-FFF2-40B4-BE49-F238E27FC236}">
                    <a16:creationId xmlns:a16="http://schemas.microsoft.com/office/drawing/2014/main" id="{AD93A727-98BC-1CD1-0745-64C3352C25E0}"/>
                  </a:ext>
                </a:extLst>
              </p:cNvPr>
              <p:cNvPicPr>
                <a:picLocks noChangeAspect="1"/>
              </p:cNvPicPr>
              <p:nvPr/>
            </p:nvPicPr>
            <p:blipFill>
              <a:blip r:embed="rId4">
                <a:extLst>
                  <a:ext uri="{96DAC541-7B7A-43D3-8B79-37D633B846F1}">
                    <asvg:svgBlip xmlns="" xmlns:asvg="http://schemas.microsoft.com/office/drawing/2016/SVG/main" r:embed="rId5"/>
                  </a:ext>
                </a:extLst>
              </a:blip>
              <a:stretch>
                <a:fillRect/>
              </a:stretch>
            </p:blipFill>
            <p:spPr>
              <a:xfrm flipH="1">
                <a:off x="7685706" y="2006235"/>
                <a:ext cx="135001" cy="135001"/>
              </a:xfrm>
              <a:prstGeom prst="rect">
                <a:avLst/>
              </a:prstGeom>
            </p:spPr>
          </p:pic>
        </p:grpSp>
        <p:pic>
          <p:nvPicPr>
            <p:cNvPr id="168" name="table"/>
            <p:cNvPicPr>
              <a:picLocks noChangeAspect="1"/>
            </p:cNvPicPr>
            <p:nvPr/>
          </p:nvPicPr>
          <p:blipFill>
            <a:blip r:embed="rId6"/>
            <a:stretch>
              <a:fillRect/>
            </a:stretch>
          </p:blipFill>
          <p:spPr>
            <a:xfrm>
              <a:off x="871664" y="3994890"/>
              <a:ext cx="2346766" cy="1352526"/>
            </a:xfrm>
            <a:prstGeom prst="rect">
              <a:avLst/>
            </a:prstGeom>
          </p:spPr>
        </p:pic>
      </p:grpSp>
      <p:grpSp>
        <p:nvGrpSpPr>
          <p:cNvPr id="184" name="그룹 183"/>
          <p:cNvGrpSpPr/>
          <p:nvPr/>
        </p:nvGrpSpPr>
        <p:grpSpPr>
          <a:xfrm>
            <a:off x="3795734" y="5614711"/>
            <a:ext cx="2712027" cy="617588"/>
            <a:chOff x="675399" y="5614711"/>
            <a:chExt cx="2712027" cy="617588"/>
          </a:xfrm>
        </p:grpSpPr>
        <p:sp>
          <p:nvSpPr>
            <p:cNvPr id="185" name="직사각형 184">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7"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188" name="TextBox 187">
            <a:extLst>
              <a:ext uri="{FF2B5EF4-FFF2-40B4-BE49-F238E27FC236}">
                <a16:creationId xmlns:a16="http://schemas.microsoft.com/office/drawing/2014/main" id="{FFC49AEA-2A8F-250C-A86A-A7751D9706C3}"/>
              </a:ext>
            </a:extLst>
          </p:cNvPr>
          <p:cNvSpPr txBox="1"/>
          <p:nvPr/>
        </p:nvSpPr>
        <p:spPr>
          <a:xfrm>
            <a:off x="3795734" y="1352885"/>
            <a:ext cx="1338241" cy="138499"/>
          </a:xfrm>
          <a:prstGeom prst="rect">
            <a:avLst/>
          </a:prstGeom>
          <a:noFill/>
        </p:spPr>
        <p:txBody>
          <a:bodyPr wrap="square" lIns="0" tIns="0" rIns="0" bIns="0" rtlCol="0">
            <a:spAutoFit/>
          </a:bodyPr>
          <a:lstStyle/>
          <a:p>
            <a:r>
              <a:rPr lang="en-US" altLang="ko-KR" sz="900" dirty="0">
                <a:solidFill>
                  <a:srgbClr val="000000"/>
                </a:solidFill>
                <a:latin typeface="맑은 고딕" panose="020B0503020000020004" pitchFamily="50" charset="-127"/>
              </a:rPr>
              <a:t>MUI-BD-01-P06</a:t>
            </a:r>
            <a:endParaRPr lang="ko-KR" altLang="en-US" sz="900" dirty="0">
              <a:latin typeface="+mn-ea"/>
            </a:endParaRPr>
          </a:p>
        </p:txBody>
      </p:sp>
      <p:sp>
        <p:nvSpPr>
          <p:cNvPr id="189" name="TextBox 188">
            <a:extLst>
              <a:ext uri="{FF2B5EF4-FFF2-40B4-BE49-F238E27FC236}">
                <a16:creationId xmlns:a16="http://schemas.microsoft.com/office/drawing/2014/main" id="{FFC49AEA-2A8F-250C-A86A-A7751D9706C3}"/>
              </a:ext>
            </a:extLst>
          </p:cNvPr>
          <p:cNvSpPr txBox="1"/>
          <p:nvPr/>
        </p:nvSpPr>
        <p:spPr>
          <a:xfrm>
            <a:off x="5169520" y="1352885"/>
            <a:ext cx="1338241" cy="138499"/>
          </a:xfrm>
          <a:prstGeom prst="rect">
            <a:avLst/>
          </a:prstGeom>
          <a:noFill/>
        </p:spPr>
        <p:txBody>
          <a:bodyPr wrap="square" lIns="0" tIns="0" rIns="0" bIns="0" rtlCol="0">
            <a:spAutoFit/>
          </a:bodyPr>
          <a:lstStyle/>
          <a:p>
            <a:pPr algn="r"/>
            <a:r>
              <a:rPr lang="ko-KR" altLang="en-US" sz="900" dirty="0">
                <a:solidFill>
                  <a:srgbClr val="000000"/>
                </a:solidFill>
                <a:latin typeface="맑은 고딕" panose="020B0503020000020004" pitchFamily="50" charset="-127"/>
              </a:rPr>
              <a:t>날짜 설정</a:t>
            </a:r>
            <a:endParaRPr lang="ko-KR" altLang="en-US" sz="900" dirty="0">
              <a:latin typeface="+mn-ea"/>
            </a:endParaRPr>
          </a:p>
        </p:txBody>
      </p:sp>
      <p:sp>
        <p:nvSpPr>
          <p:cNvPr id="216" name="타원 215">
            <a:extLst>
              <a:ext uri="{FF2B5EF4-FFF2-40B4-BE49-F238E27FC236}">
                <a16:creationId xmlns:a16="http://schemas.microsoft.com/office/drawing/2014/main" id="{37A7FF4F-0EAA-1463-560A-D5EC24416103}"/>
              </a:ext>
            </a:extLst>
          </p:cNvPr>
          <p:cNvSpPr/>
          <p:nvPr/>
        </p:nvSpPr>
        <p:spPr>
          <a:xfrm>
            <a:off x="573754" y="19505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17" name="TextBox 216">
            <a:extLst>
              <a:ext uri="{FF2B5EF4-FFF2-40B4-BE49-F238E27FC236}">
                <a16:creationId xmlns:a16="http://schemas.microsoft.com/office/drawing/2014/main" id="{FFC49AEA-2A8F-250C-A86A-A7751D9706C3}"/>
              </a:ext>
            </a:extLst>
          </p:cNvPr>
          <p:cNvSpPr txBox="1"/>
          <p:nvPr/>
        </p:nvSpPr>
        <p:spPr>
          <a:xfrm>
            <a:off x="778515" y="1932743"/>
            <a:ext cx="2305144" cy="181140"/>
          </a:xfrm>
          <a:prstGeom prst="rect">
            <a:avLst/>
          </a:prstGeom>
          <a:noFill/>
        </p:spPr>
        <p:txBody>
          <a:bodyPr wrap="square" lIns="0" tIns="0" rIns="0" bIns="0" rtlCol="0">
            <a:spAutoFit/>
          </a:bodyPr>
          <a:lstStyle/>
          <a:p>
            <a:pPr>
              <a:lnSpc>
                <a:spcPct val="200000"/>
              </a:lnSpc>
            </a:pPr>
            <a:r>
              <a:rPr lang="ko-KR" altLang="en-US" sz="700" b="1">
                <a:latin typeface="+mn-ea"/>
              </a:rPr>
              <a:t>조회일자</a:t>
            </a:r>
            <a:endParaRPr lang="ko-KR" altLang="en-US" sz="700" b="1" dirty="0">
              <a:latin typeface="+mn-ea"/>
            </a:endParaRPr>
          </a:p>
        </p:txBody>
      </p:sp>
      <p:grpSp>
        <p:nvGrpSpPr>
          <p:cNvPr id="223" name="그룹 222">
            <a:extLst>
              <a:ext uri="{FF2B5EF4-FFF2-40B4-BE49-F238E27FC236}">
                <a16:creationId xmlns:a16="http://schemas.microsoft.com/office/drawing/2014/main" id="{8F2F56C4-B606-212C-F131-A4A30AE19BC8}"/>
              </a:ext>
            </a:extLst>
          </p:cNvPr>
          <p:cNvGrpSpPr/>
          <p:nvPr/>
        </p:nvGrpSpPr>
        <p:grpSpPr>
          <a:xfrm>
            <a:off x="1464780" y="1955177"/>
            <a:ext cx="1845146" cy="188244"/>
            <a:chOff x="5613534" y="2854836"/>
            <a:chExt cx="1727805" cy="188244"/>
          </a:xfrm>
        </p:grpSpPr>
        <p:sp>
          <p:nvSpPr>
            <p:cNvPr id="224" name="사각형: 둥근 모서리 86">
              <a:extLst>
                <a:ext uri="{FF2B5EF4-FFF2-40B4-BE49-F238E27FC236}">
                  <a16:creationId xmlns:a16="http://schemas.microsoft.com/office/drawing/2014/main" id="{C84908FA-11D4-E687-3603-3EA5852F6FAE}"/>
                </a:ext>
              </a:extLst>
            </p:cNvPr>
            <p:cNvSpPr/>
            <p:nvPr/>
          </p:nvSpPr>
          <p:spPr>
            <a:xfrm>
              <a:off x="5613534" y="2854836"/>
              <a:ext cx="1727805"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2026-03-06</a:t>
              </a:r>
              <a:endParaRPr kumimoji="1" lang="en-US" sz="700" b="0" i="0" u="none" strike="noStrike" kern="0" cap="none" spc="0" normalizeH="0" baseline="0" noProof="0" dirty="0">
                <a:ln>
                  <a:noFill/>
                </a:ln>
                <a:effectLst/>
                <a:uLnTx/>
                <a:uFillTx/>
                <a:latin typeface="맑은 고딕"/>
              </a:endParaRPr>
            </a:p>
          </p:txBody>
        </p:sp>
        <p:pic>
          <p:nvPicPr>
            <p:cNvPr id="225" name="그림 224">
              <a:extLst>
                <a:ext uri="{FF2B5EF4-FFF2-40B4-BE49-F238E27FC236}">
                  <a16:creationId xmlns:a16="http://schemas.microsoft.com/office/drawing/2014/main" id="{B217D5BC-8335-EED4-D47A-F3F41108453E}"/>
                </a:ext>
              </a:extLst>
            </p:cNvPr>
            <p:cNvPicPr>
              <a:picLocks noChangeAspect="1"/>
            </p:cNvPicPr>
            <p:nvPr/>
          </p:nvPicPr>
          <p:blipFill>
            <a:blip r:embed="rId7"/>
            <a:stretch>
              <a:fillRect/>
            </a:stretch>
          </p:blipFill>
          <p:spPr>
            <a:xfrm>
              <a:off x="7115110" y="2876004"/>
              <a:ext cx="126296" cy="137278"/>
            </a:xfrm>
            <a:prstGeom prst="rect">
              <a:avLst/>
            </a:prstGeom>
          </p:spPr>
        </p:pic>
      </p:grpSp>
      <p:sp>
        <p:nvSpPr>
          <p:cNvPr id="227" name="사각형: 둥근 모서리 169">
            <a:extLst>
              <a:ext uri="{FF2B5EF4-FFF2-40B4-BE49-F238E27FC236}">
                <a16:creationId xmlns:a16="http://schemas.microsoft.com/office/drawing/2014/main" id="{A28DD831-0E4B-31EE-CB08-9E188754698D}"/>
              </a:ext>
            </a:extLst>
          </p:cNvPr>
          <p:cNvSpPr/>
          <p:nvPr/>
        </p:nvSpPr>
        <p:spPr>
          <a:xfrm>
            <a:off x="1464781" y="2185846"/>
            <a:ext cx="1845145" cy="188135"/>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solidFill>
                  <a:srgbClr val="0070C0"/>
                </a:solidFill>
                <a:latin typeface="맑은 고딕"/>
                <a:ea typeface="맑은 고딕" panose="020B0503020000020004" pitchFamily="50" charset="-127"/>
              </a:rPr>
              <a:t>검색</a:t>
            </a:r>
            <a:endParaRPr kumimoji="1" lang="en-US" sz="700" kern="0" dirty="0">
              <a:solidFill>
                <a:srgbClr val="0070C0"/>
              </a:solidFill>
              <a:latin typeface="맑은 고딕"/>
              <a:ea typeface="맑은 고딕" panose="020B0503020000020004" pitchFamily="50" charset="-127"/>
            </a:endParaRPr>
          </a:p>
        </p:txBody>
      </p:sp>
      <p:cxnSp>
        <p:nvCxnSpPr>
          <p:cNvPr id="230" name="직선 연결선 229">
            <a:extLst>
              <a:ext uri="{FF2B5EF4-FFF2-40B4-BE49-F238E27FC236}">
                <a16:creationId xmlns:a16="http://schemas.microsoft.com/office/drawing/2014/main" id="{E9293055-D5CD-4B9E-7F64-64B2D2CA7A52}"/>
              </a:ext>
            </a:extLst>
          </p:cNvPr>
          <p:cNvCxnSpPr/>
          <p:nvPr/>
        </p:nvCxnSpPr>
        <p:spPr>
          <a:xfrm>
            <a:off x="714149" y="2505964"/>
            <a:ext cx="26345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1" name="사각형: 둥근 모서리 31">
            <a:extLst>
              <a:ext uri="{FF2B5EF4-FFF2-40B4-BE49-F238E27FC236}">
                <a16:creationId xmlns:a16="http://schemas.microsoft.com/office/drawing/2014/main" id="{2AC143EE-93CF-3518-F0CB-8469E98507E0}"/>
              </a:ext>
            </a:extLst>
          </p:cNvPr>
          <p:cNvSpPr/>
          <p:nvPr/>
        </p:nvSpPr>
        <p:spPr>
          <a:xfrm>
            <a:off x="808106"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(10/43)</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232" name="그룹 231">
            <a:extLst>
              <a:ext uri="{FF2B5EF4-FFF2-40B4-BE49-F238E27FC236}">
                <a16:creationId xmlns:a16="http://schemas.microsoft.com/office/drawing/2014/main" id="{22BC05EE-C648-7CA2-4CCC-6E1C1A7E9BDA}"/>
              </a:ext>
            </a:extLst>
          </p:cNvPr>
          <p:cNvGrpSpPr/>
          <p:nvPr/>
        </p:nvGrpSpPr>
        <p:grpSpPr>
          <a:xfrm>
            <a:off x="1992981" y="5255461"/>
            <a:ext cx="76863" cy="292489"/>
            <a:chOff x="3750067" y="4683795"/>
            <a:chExt cx="76863" cy="292489"/>
          </a:xfrm>
        </p:grpSpPr>
        <p:sp>
          <p:nvSpPr>
            <p:cNvPr id="233" name="타원 232">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34" name="타원 233">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35" name="타원 23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36" name="그룹 235"/>
          <p:cNvGrpSpPr/>
          <p:nvPr/>
        </p:nvGrpSpPr>
        <p:grpSpPr>
          <a:xfrm>
            <a:off x="715616" y="4001679"/>
            <a:ext cx="2652743" cy="467510"/>
            <a:chOff x="715616" y="3407067"/>
            <a:chExt cx="2652743" cy="467510"/>
          </a:xfrm>
        </p:grpSpPr>
        <p:sp>
          <p:nvSpPr>
            <p:cNvPr id="237" name="모서리가 둥근 직사각형 236"/>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8" name="TextBox 237">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NZ-</a:t>
              </a:r>
              <a:r>
                <a:rPr lang="ko-KR" altLang="en-US" sz="700" dirty="0">
                  <a:solidFill>
                    <a:schemeClr val="tx1">
                      <a:lumMod val="85000"/>
                      <a:lumOff val="15000"/>
                    </a:schemeClr>
                  </a:solidFill>
                  <a:latin typeface="맑은 고딕" panose="020B0503020000020004" pitchFamily="50" charset="-127"/>
                </a:rPr>
                <a:t>뉴질랜드</a:t>
              </a:r>
              <a:endParaRPr lang="en-US" altLang="ko-KR" sz="700" dirty="0">
                <a:solidFill>
                  <a:schemeClr val="tx1">
                    <a:lumMod val="85000"/>
                    <a:lumOff val="15000"/>
                  </a:schemeClr>
                </a:solidFill>
                <a:latin typeface="맑은 고딕" panose="020B0503020000020004" pitchFamily="50" charset="-127"/>
              </a:endParaRPr>
            </a:p>
            <a:p>
              <a:r>
                <a:rPr lang="en-US" altLang="ko-KR" sz="700" dirty="0">
                  <a:solidFill>
                    <a:schemeClr val="tx1">
                      <a:lumMod val="85000"/>
                      <a:lumOff val="15000"/>
                    </a:schemeClr>
                  </a:solidFill>
                  <a:latin typeface="맑은 고딕" panose="020B0503020000020004" pitchFamily="50" charset="-127"/>
                </a:rPr>
                <a:t>NZD-</a:t>
              </a:r>
              <a:r>
                <a:rPr lang="ko-KR" altLang="en-US" sz="700" dirty="0">
                  <a:solidFill>
                    <a:schemeClr val="tx1">
                      <a:lumMod val="85000"/>
                      <a:lumOff val="15000"/>
                    </a:schemeClr>
                  </a:solidFill>
                  <a:latin typeface="맑은 고딕" panose="020B0503020000020004" pitchFamily="50" charset="-127"/>
                </a:rPr>
                <a:t>뉴질랜드 달러</a:t>
              </a:r>
              <a:endParaRPr lang="en-US" altLang="ko-KR" sz="700" dirty="0">
                <a:solidFill>
                  <a:schemeClr val="tx1">
                    <a:lumMod val="85000"/>
                    <a:lumOff val="15000"/>
                  </a:schemeClr>
                </a:solidFill>
                <a:latin typeface="맑은 고딕" panose="020B0503020000020004" pitchFamily="50" charset="-127"/>
              </a:endParaRPr>
            </a:p>
          </p:txBody>
        </p:sp>
        <p:sp>
          <p:nvSpPr>
            <p:cNvPr id="240" name="TextBox 239">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863.28 KRW</a:t>
              </a:r>
            </a:p>
            <a:p>
              <a:pPr algn="r"/>
              <a:r>
                <a:rPr lang="en-US" altLang="ko-KR" sz="700" dirty="0">
                  <a:solidFill>
                    <a:schemeClr val="tx1">
                      <a:lumMod val="85000"/>
                      <a:lumOff val="15000"/>
                    </a:schemeClr>
                  </a:solidFill>
                  <a:latin typeface="맑은 고딕" panose="020B0503020000020004" pitchFamily="50" charset="-127"/>
                </a:rPr>
                <a:t>0.5896 USD</a:t>
              </a:r>
            </a:p>
          </p:txBody>
        </p:sp>
      </p:grpSp>
      <p:grpSp>
        <p:nvGrpSpPr>
          <p:cNvPr id="241" name="그룹 240"/>
          <p:cNvGrpSpPr/>
          <p:nvPr/>
        </p:nvGrpSpPr>
        <p:grpSpPr>
          <a:xfrm>
            <a:off x="715616" y="4507638"/>
            <a:ext cx="2652743" cy="467510"/>
            <a:chOff x="715616" y="3407067"/>
            <a:chExt cx="2652743" cy="467510"/>
          </a:xfrm>
        </p:grpSpPr>
        <p:sp>
          <p:nvSpPr>
            <p:cNvPr id="242" name="모서리가 둥근 직사각형 241"/>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TextBox 242">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244" name="TextBox 243">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TW-</a:t>
              </a:r>
              <a:r>
                <a:rPr lang="ko-KR" altLang="en-US" sz="700" dirty="0">
                  <a:solidFill>
                    <a:schemeClr val="tx1">
                      <a:lumMod val="85000"/>
                      <a:lumOff val="15000"/>
                    </a:schemeClr>
                  </a:solidFill>
                  <a:latin typeface="맑은 고딕" panose="020B0503020000020004" pitchFamily="50" charset="-127"/>
                </a:rPr>
                <a:t>대만</a:t>
              </a:r>
              <a:endParaRPr lang="en-US" altLang="ko-KR" sz="700" dirty="0">
                <a:solidFill>
                  <a:schemeClr val="tx1">
                    <a:lumMod val="85000"/>
                    <a:lumOff val="15000"/>
                  </a:schemeClr>
                </a:solidFill>
                <a:latin typeface="맑은 고딕" panose="020B0503020000020004" pitchFamily="50" charset="-127"/>
              </a:endParaRPr>
            </a:p>
            <a:p>
              <a:r>
                <a:rPr lang="en-US" altLang="ko-KR" sz="700" dirty="0">
                  <a:solidFill>
                    <a:schemeClr val="tx1">
                      <a:lumMod val="85000"/>
                      <a:lumOff val="15000"/>
                    </a:schemeClr>
                  </a:solidFill>
                  <a:latin typeface="맑은 고딕" panose="020B0503020000020004" pitchFamily="50" charset="-127"/>
                </a:rPr>
                <a:t>TWD-</a:t>
              </a:r>
              <a:r>
                <a:rPr lang="ko-KR" altLang="en-US" sz="700" dirty="0">
                  <a:solidFill>
                    <a:schemeClr val="tx1">
                      <a:lumMod val="85000"/>
                      <a:lumOff val="15000"/>
                    </a:schemeClr>
                  </a:solidFill>
                  <a:latin typeface="맑은 고딕" panose="020B0503020000020004" pitchFamily="50" charset="-127"/>
                </a:rPr>
                <a:t>뉴 타이완 달러</a:t>
              </a:r>
              <a:endParaRPr lang="en-US" altLang="ko-KR" sz="700" dirty="0">
                <a:solidFill>
                  <a:schemeClr val="tx1">
                    <a:lumMod val="85000"/>
                    <a:lumOff val="15000"/>
                  </a:schemeClr>
                </a:solidFill>
                <a:latin typeface="맑은 고딕" panose="020B0503020000020004" pitchFamily="50" charset="-127"/>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46.08 KRW</a:t>
              </a:r>
            </a:p>
            <a:p>
              <a:pPr algn="r"/>
              <a:r>
                <a:rPr lang="en-US" altLang="ko-KR" sz="700" dirty="0">
                  <a:solidFill>
                    <a:schemeClr val="tx1">
                      <a:lumMod val="85000"/>
                      <a:lumOff val="15000"/>
                    </a:schemeClr>
                  </a:solidFill>
                  <a:latin typeface="맑은 고딕" panose="020B0503020000020004" pitchFamily="50" charset="-127"/>
                </a:rPr>
                <a:t>0.0315 USD</a:t>
              </a:r>
            </a:p>
          </p:txBody>
        </p:sp>
      </p:grpSp>
      <p:cxnSp>
        <p:nvCxnSpPr>
          <p:cNvPr id="246" name="직선 연결선 245">
            <a:extLst>
              <a:ext uri="{FF2B5EF4-FFF2-40B4-BE49-F238E27FC236}">
                <a16:creationId xmlns:a16="http://schemas.microsoft.com/office/drawing/2014/main" id="{E9293055-D5CD-4B9E-7F64-64B2D2CA7A52}"/>
              </a:ext>
            </a:extLst>
          </p:cNvPr>
          <p:cNvCxnSpPr/>
          <p:nvPr/>
        </p:nvCxnSpPr>
        <p:spPr>
          <a:xfrm>
            <a:off x="714149" y="2739427"/>
            <a:ext cx="26345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7" name="TextBox 246">
            <a:extLst>
              <a:ext uri="{FF2B5EF4-FFF2-40B4-BE49-F238E27FC236}">
                <a16:creationId xmlns:a16="http://schemas.microsoft.com/office/drawing/2014/main" id="{FFC49AEA-2A8F-250C-A86A-A7751D9706C3}"/>
              </a:ext>
            </a:extLst>
          </p:cNvPr>
          <p:cNvSpPr txBox="1"/>
          <p:nvPr/>
        </p:nvSpPr>
        <p:spPr>
          <a:xfrm>
            <a:off x="748417" y="2576529"/>
            <a:ext cx="989592"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총 </a:t>
            </a:r>
            <a:r>
              <a:rPr lang="en-US" altLang="ko-KR" sz="600" dirty="0">
                <a:solidFill>
                  <a:srgbClr val="0070C0"/>
                </a:solidFill>
                <a:latin typeface="맑은 고딕" panose="020B0503020000020004" pitchFamily="50" charset="-127"/>
              </a:rPr>
              <a:t>43</a:t>
            </a:r>
            <a:r>
              <a:rPr lang="ko-KR" altLang="en-US" sz="600" dirty="0">
                <a:solidFill>
                  <a:schemeClr val="tx1">
                    <a:lumMod val="85000"/>
                    <a:lumOff val="15000"/>
                  </a:schemeClr>
                </a:solidFill>
                <a:latin typeface="맑은 고딕" panose="020B0503020000020004" pitchFamily="50" charset="-127"/>
              </a:rPr>
              <a:t>건</a:t>
            </a:r>
            <a:endParaRPr lang="en-US" altLang="ko-KR" sz="600" dirty="0">
              <a:solidFill>
                <a:schemeClr val="tx1">
                  <a:lumMod val="85000"/>
                  <a:lumOff val="15000"/>
                </a:schemeClr>
              </a:solidFill>
              <a:latin typeface="맑은 고딕" panose="020B0503020000020004" pitchFamily="50" charset="-127"/>
            </a:endParaRPr>
          </a:p>
        </p:txBody>
      </p:sp>
      <p:sp>
        <p:nvSpPr>
          <p:cNvPr id="249" name="타원 248">
            <a:extLst>
              <a:ext uri="{FF2B5EF4-FFF2-40B4-BE49-F238E27FC236}">
                <a16:creationId xmlns:a16="http://schemas.microsoft.com/office/drawing/2014/main" id="{37A7FF4F-0EAA-1463-560A-D5EC24416103}"/>
              </a:ext>
            </a:extLst>
          </p:cNvPr>
          <p:cNvSpPr/>
          <p:nvPr/>
        </p:nvSpPr>
        <p:spPr>
          <a:xfrm>
            <a:off x="573754" y="309236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50" name="타원 249">
            <a:extLst>
              <a:ext uri="{FF2B5EF4-FFF2-40B4-BE49-F238E27FC236}">
                <a16:creationId xmlns:a16="http://schemas.microsoft.com/office/drawing/2014/main" id="{37A7FF4F-0EAA-1463-560A-D5EC24416103}"/>
              </a:ext>
            </a:extLst>
          </p:cNvPr>
          <p:cNvSpPr/>
          <p:nvPr/>
        </p:nvSpPr>
        <p:spPr>
          <a:xfrm>
            <a:off x="573754" y="252785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51" name="타원 250">
            <a:extLst>
              <a:ext uri="{FF2B5EF4-FFF2-40B4-BE49-F238E27FC236}">
                <a16:creationId xmlns:a16="http://schemas.microsoft.com/office/drawing/2014/main" id="{37A7FF4F-0EAA-1463-560A-D5EC24416103}"/>
              </a:ext>
            </a:extLst>
          </p:cNvPr>
          <p:cNvSpPr/>
          <p:nvPr/>
        </p:nvSpPr>
        <p:spPr>
          <a:xfrm>
            <a:off x="573754" y="58807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Tree>
    <p:extLst>
      <p:ext uri="{BB962C8B-B14F-4D97-AF65-F5344CB8AC3E}">
        <p14:creationId xmlns:p14="http://schemas.microsoft.com/office/powerpoint/2010/main" val="29585918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56</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196424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환율</a:t>
            </a:r>
            <a:r>
              <a:rPr lang="en-US" altLang="ko-KR" sz="900" b="1" dirty="0">
                <a:solidFill>
                  <a:prstClr val="black"/>
                </a:solidFill>
              </a:rPr>
              <a:t> </a:t>
            </a:r>
            <a:r>
              <a:rPr lang="ko-KR" altLang="en-US" sz="900" b="1">
                <a:solidFill>
                  <a:prstClr val="black"/>
                </a:solidFill>
              </a:rPr>
              <a:t>검색조건 </a:t>
            </a:r>
            <a:r>
              <a:rPr lang="en-US" altLang="ko-KR" sz="900" b="1">
                <a:solidFill>
                  <a:prstClr val="black"/>
                </a:solidFill>
              </a:rPr>
              <a:t>(dm_searchInfo)</a:t>
            </a:r>
            <a:endParaRPr lang="ko-KR" altLang="en-US" sz="900" b="1" dirty="0">
              <a:solidFill>
                <a:prstClr val="black"/>
              </a:solidFill>
            </a:endParaRPr>
          </a:p>
        </p:txBody>
      </p:sp>
      <p:sp>
        <p:nvSpPr>
          <p:cNvPr id="10" name="TextBox 9">
            <a:extLst>
              <a:ext uri="{FF2B5EF4-FFF2-40B4-BE49-F238E27FC236}">
                <a16:creationId xmlns:a16="http://schemas.microsoft.com/office/drawing/2014/main" id="{7F545FD0-B8C5-4B98-203E-A36908FB8DD4}"/>
              </a:ext>
            </a:extLst>
          </p:cNvPr>
          <p:cNvSpPr txBox="1"/>
          <p:nvPr/>
        </p:nvSpPr>
        <p:spPr>
          <a:xfrm>
            <a:off x="458117" y="41506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11" name="TextBox 10">
            <a:extLst>
              <a:ext uri="{FF2B5EF4-FFF2-40B4-BE49-F238E27FC236}">
                <a16:creationId xmlns:a16="http://schemas.microsoft.com/office/drawing/2014/main" id="{83358D31-792E-1F31-CE2A-A2AE122E42CC}"/>
              </a:ext>
            </a:extLst>
          </p:cNvPr>
          <p:cNvSpPr txBox="1"/>
          <p:nvPr/>
        </p:nvSpPr>
        <p:spPr>
          <a:xfrm>
            <a:off x="458117" y="1970468"/>
            <a:ext cx="224316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조회결과</a:t>
            </a:r>
            <a:r>
              <a:rPr lang="en-US" altLang="ko-KR" sz="900" b="1" dirty="0">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(dl_resultList)</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nvGraphicFramePr>
        <p:xfrm>
          <a:off x="452999" y="1014316"/>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조회일자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crtrYmd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조회기준일자</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초기값을 당일일자로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16" name="표 15">
            <a:extLst>
              <a:ext uri="{FF2B5EF4-FFF2-40B4-BE49-F238E27FC236}">
                <a16:creationId xmlns:a16="http://schemas.microsoft.com/office/drawing/2014/main" id="{A31F6A43-1297-CF99-ABFA-B1F80565E966}"/>
              </a:ext>
            </a:extLst>
          </p:cNvPr>
          <p:cNvGraphicFramePr>
            <a:graphicFrameLocks noGrp="1"/>
          </p:cNvGraphicFramePr>
          <p:nvPr>
            <p:extLst>
              <p:ext uri="{D42A27DB-BD31-4B8C-83A1-F6EECF244321}">
                <p14:modId xmlns:p14="http://schemas.microsoft.com/office/powerpoint/2010/main" val="68454699"/>
              </p:ext>
            </p:extLst>
          </p:nvPr>
        </p:nvGraphicFramePr>
        <p:xfrm>
          <a:off x="453000" y="4428787"/>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a:r>
                        <a:rPr lang="ko-KR" altLang="en-US" sz="800" dirty="0">
                          <a:latin typeface="+mn-ea"/>
                          <a:ea typeface="+mn-ea"/>
                        </a:rPr>
                        <a:t>조회일자 기준으로 공시된 환율정보를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환율정보조회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algn="l"/>
                      <a:r>
                        <a:rPr lang="ko-KR" altLang="en-US" sz="800" dirty="0"/>
                        <a:t>검색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scwin.btn_search_onclick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a:r>
                        <a:rPr lang="ko-KR" altLang="en-US" sz="800" dirty="0">
                          <a:latin typeface="+mn-ea"/>
                          <a:ea typeface="+mn-ea"/>
                        </a:rPr>
                        <a:t>조회일자 기준으로 공시된 환율정보를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환율정보조회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44083906"/>
                  </a:ext>
                </a:extLst>
              </a:tr>
            </a:tbl>
          </a:graphicData>
        </a:graphic>
      </p:graphicFrame>
      <p:graphicFrame>
        <p:nvGraphicFramePr>
          <p:cNvPr id="2" name="표 1">
            <a:extLst>
              <a:ext uri="{FF2B5EF4-FFF2-40B4-BE49-F238E27FC236}">
                <a16:creationId xmlns:a16="http://schemas.microsoft.com/office/drawing/2014/main" id="{3969C2BD-BAE7-E4E1-6BA5-91005212D745}"/>
              </a:ext>
            </a:extLst>
          </p:cNvPr>
          <p:cNvGraphicFramePr>
            <a:graphicFrameLocks noGrp="1"/>
          </p:cNvGraphicFramePr>
          <p:nvPr/>
        </p:nvGraphicFramePr>
        <p:xfrm>
          <a:off x="452999" y="2254222"/>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화폐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화페구분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416773"/>
                  </a:ext>
                </a:extLst>
              </a:tr>
              <a:tr h="0">
                <a:tc>
                  <a:txBody>
                    <a:bodyPr/>
                    <a:lstStyle/>
                    <a:p>
                      <a:pPr algn="l" fontAlgn="ctr"/>
                      <a:r>
                        <a:rPr lang="ko-KR" altLang="en-US" sz="800" b="0" i="0" u="none" strike="noStrike" dirty="0">
                          <a:solidFill>
                            <a:srgbClr val="000000"/>
                          </a:solidFill>
                          <a:effectLst/>
                          <a:latin typeface="+mn-ea"/>
                          <a:ea typeface="+mn-ea"/>
                        </a:rPr>
                        <a:t>국가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ntnNm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국가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0907113"/>
                  </a:ext>
                </a:extLst>
              </a:tr>
              <a:tr h="0">
                <a:tc>
                  <a:txBody>
                    <a:bodyPr/>
                    <a:lstStyle/>
                    <a:p>
                      <a:pPr algn="l" fontAlgn="ctr"/>
                      <a:r>
                        <a:rPr lang="ko-KR" altLang="en-US" sz="800" b="0" i="0" u="none" strike="noStrike" dirty="0" err="1">
                          <a:solidFill>
                            <a:srgbClr val="000000"/>
                          </a:solidFill>
                          <a:effectLst/>
                          <a:latin typeface="+mn-ea"/>
                          <a:ea typeface="+mn-ea"/>
                        </a:rPr>
                        <a:t>매도율</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ttsrt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매도율</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3152709"/>
                  </a:ext>
                </a:extLst>
              </a:tr>
              <a:tr h="0">
                <a:tc>
                  <a:txBody>
                    <a:bodyPr/>
                    <a:lstStyle/>
                    <a:p>
                      <a:pPr algn="l" fontAlgn="ctr"/>
                      <a:r>
                        <a:rPr lang="ko-KR" altLang="en-US" sz="800" b="0" i="0" u="none" strike="noStrike" dirty="0">
                          <a:solidFill>
                            <a:srgbClr val="000000"/>
                          </a:solidFill>
                          <a:effectLst/>
                          <a:latin typeface="+mn-ea"/>
                          <a:ea typeface="+mn-ea"/>
                        </a:rPr>
                        <a:t>기준율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trdStdrt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기준율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5" name="Text Box 73">
            <a:extLst>
              <a:ext uri="{FF2B5EF4-FFF2-40B4-BE49-F238E27FC236}">
                <a16:creationId xmlns:a16="http://schemas.microsoft.com/office/drawing/2014/main" id="{620EE0D2-F5DA-2FDD-3DE6-6D0785641F1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59972967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57</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5. </a:t>
            </a:r>
            <a:r>
              <a:rPr lang="ko-KR" altLang="en-US" dirty="0" err="1"/>
              <a:t>입찰진행</a:t>
            </a:r>
            <a:r>
              <a:rPr lang="ko-KR" altLang="en-US" dirty="0"/>
              <a:t> 목록 및 신청서 작성</a:t>
            </a:r>
            <a:endParaRPr lang="en-US" altLang="ko-KR" dirty="0"/>
          </a:p>
          <a:p>
            <a:r>
              <a:rPr lang="en-US" altLang="ko-KR" dirty="0"/>
              <a:t>5.1 </a:t>
            </a:r>
            <a:r>
              <a:rPr lang="ko-KR" altLang="en-US" dirty="0"/>
              <a:t>화면 목록 </a:t>
            </a:r>
            <a:r>
              <a:rPr lang="en-US" altLang="ko-KR" dirty="0"/>
              <a:t>(1/4)</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3240961406"/>
              </p:ext>
            </p:extLst>
          </p:nvPr>
        </p:nvGraphicFramePr>
        <p:xfrm>
          <a:off x="635474" y="1413419"/>
          <a:ext cx="8701200" cy="489346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altLang="ko-KR" sz="700" kern="1200" dirty="0">
                          <a:solidFill>
                            <a:schemeClr val="tx1"/>
                          </a:solidFill>
                          <a:latin typeface="+mn-ea"/>
                          <a:ea typeface="+mn-ea"/>
                          <a:cs typeface="+mn-cs"/>
                        </a:rPr>
                        <a:t>MUI-BD-03-M01</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입찰진행</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목록</a:t>
                      </a:r>
                      <a:r>
                        <a:rPr lang="en-US" altLang="ko-KR" sz="800" kern="1200" dirty="0">
                          <a:solidFill>
                            <a:schemeClr val="tx1"/>
                          </a:solidFill>
                          <a:latin typeface="+mn-ea"/>
                          <a:ea typeface="+mn-ea"/>
                          <a:cs typeface="+mn-cs"/>
                        </a:rPr>
                        <a:t>)</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900" b="0" i="0" u="none" strike="noStrike" dirty="0">
                          <a:solidFill>
                            <a:schemeClr val="tx1"/>
                          </a:solidFill>
                          <a:effectLst/>
                          <a:latin typeface="Calibri" panose="020F0502020204030204" pitchFamily="34" charset="0"/>
                        </a:rPr>
                        <a:t> </a:t>
                      </a:r>
                      <a:r>
                        <a:rPr lang="en-US" sz="900" b="0" i="0" u="none" strike="noStrike" dirty="0" err="1">
                          <a:solidFill>
                            <a:schemeClr val="tx1"/>
                          </a:solidFill>
                          <a:effectLst/>
                          <a:latin typeface="Calibri" panose="020F0502020204030204" pitchFamily="34" charset="0"/>
                        </a:rPr>
                        <a:t>BidPrgrsListForBzentyPage</a:t>
                      </a:r>
                      <a:endParaRPr lang="en-US" sz="900" b="0" i="0" u="none" strike="noStrike" dirty="0">
                        <a:solidFill>
                          <a:schemeClr val="tx1"/>
                        </a:solidFill>
                        <a:effectLst/>
                        <a:latin typeface="Calibri" panose="020F0502020204030204" pitchFamily="34" charset="0"/>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rPr>
                        <a:t>신청한 입찰 내역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b="0" i="0" u="none" strike="noStrike" dirty="0" err="1">
                          <a:solidFill>
                            <a:schemeClr val="tx1"/>
                          </a:solidFill>
                          <a:effectLst/>
                          <a:latin typeface="Calibri" panose="020F0502020204030204" pitchFamily="34" charset="0"/>
                        </a:rPr>
                        <a:t>bidPrgrsListForBzenty</a:t>
                      </a:r>
                      <a:r>
                        <a:rPr lang="en-US" altLang="ko-KR" sz="900" b="0" i="0" u="none" strike="noStrike" dirty="0">
                          <a:solidFill>
                            <a:schemeClr val="tx1"/>
                          </a:solidFill>
                          <a:effectLst/>
                          <a:latin typeface="Calibri" panose="020F0502020204030204" pitchFamily="34" charset="0"/>
                        </a:rPr>
                        <a:t>/</a:t>
                      </a:r>
                      <a:r>
                        <a:rPr lang="en-US" altLang="ko-KR" sz="900" b="0" i="0" u="none" strike="noStrike" dirty="0" err="1">
                          <a:solidFill>
                            <a:schemeClr val="tx1"/>
                          </a:solidFill>
                          <a:effectLst/>
                          <a:latin typeface="Calibri" panose="020F0502020204030204" pitchFamily="34" charset="0"/>
                        </a:rPr>
                        <a:t>BidPrgrsListForBzentyPage</a:t>
                      </a:r>
                      <a:r>
                        <a:rPr lang="en-US" altLang="ko-KR" sz="900" dirty="0" err="1">
                          <a:solidFill>
                            <a:schemeClr val="tx1"/>
                          </a:solidFill>
                          <a:latin typeface="+mn-ea"/>
                          <a:ea typeface="+mn-ea"/>
                        </a:rPr>
                        <a:t>.tsx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UC-BD-02-01</a:t>
                      </a:r>
                      <a:endParaRPr lang="en-US" altLang="ko-KR" sz="800" dirty="0">
                        <a:solidFill>
                          <a:srgbClr val="FF0000"/>
                        </a:solidFill>
                        <a:latin typeface="+mn-ea"/>
                        <a:ea typeface="+mn-ea"/>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UC-BD-08-01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l" fontAlgn="ctr"/>
                      <a:r>
                        <a:rPr lang="en-US" altLang="ko-KR" sz="700" kern="1200" dirty="0">
                          <a:solidFill>
                            <a:schemeClr val="tx1"/>
                          </a:solidFill>
                          <a:latin typeface="+mn-ea"/>
                          <a:ea typeface="+mn-ea"/>
                          <a:cs typeface="+mn-cs"/>
                        </a:rPr>
                        <a:t>MUI-BD-03-M02</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입찰진행</a:t>
                      </a:r>
                      <a:r>
                        <a:rPr lang="ko-KR" altLang="en-US" sz="800" kern="1200" dirty="0">
                          <a:solidFill>
                            <a:schemeClr val="tx1"/>
                          </a:solidFill>
                          <a:latin typeface="+mn-ea"/>
                          <a:ea typeface="+mn-ea"/>
                          <a:cs typeface="+mn-cs"/>
                        </a:rPr>
                        <a:t> 상세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BidPrgsDtlInqPage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신청한 입찰 상세 내역 조회</a:t>
                      </a:r>
                      <a:endParaRPr lang="en-US" altLang="ko-KR"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bidPrgsDtlInq</a:t>
                      </a:r>
                      <a:r>
                        <a:rPr lang="en-US" altLang="ko-KR" sz="900" dirty="0">
                          <a:solidFill>
                            <a:schemeClr val="tx1"/>
                          </a:solidFill>
                          <a:latin typeface="+mn-ea"/>
                          <a:ea typeface="+mn-ea"/>
                        </a:rPr>
                        <a:t>/</a:t>
                      </a:r>
                      <a:r>
                        <a:rPr lang="en-US" altLang="ko-KR" sz="900" dirty="0" err="1">
                          <a:solidFill>
                            <a:schemeClr val="tx1"/>
                          </a:solidFill>
                          <a:latin typeface="+mn-ea"/>
                          <a:ea typeface="+mn-ea"/>
                        </a:rPr>
                        <a:t>BidPrgsDtlInqPage.tsx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UC-BD-02-01</a:t>
                      </a:r>
                      <a:endParaRPr lang="en-US" altLang="ko-KR" sz="800" dirty="0">
                        <a:solidFill>
                          <a:srgbClr val="FF0000"/>
                        </a:solidFill>
                        <a:latin typeface="+mn-ea"/>
                        <a:ea typeface="+mn-ea"/>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UC-BD-08-01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MUI-BD-03-P03</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kern="1200" dirty="0">
                          <a:solidFill>
                            <a:srgbClr val="000000"/>
                          </a:solidFill>
                          <a:effectLst/>
                          <a:latin typeface="맑은 고딕" panose="020B0503020000020004" pitchFamily="50" charset="-127"/>
                          <a:ea typeface="+mn-ea"/>
                          <a:cs typeface="+mn-cs"/>
                        </a:rPr>
                        <a:t>입찰포기신청서작성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BidAbndAperWrt</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 후 입찰서 제출 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bidPrgsDtlInqPage</a:t>
                      </a:r>
                      <a:r>
                        <a:rPr lang="en-US" altLang="ko-KR" sz="900" dirty="0">
                          <a:solidFill>
                            <a:schemeClr val="tx1"/>
                          </a:solidFill>
                          <a:latin typeface="+mn-ea"/>
                          <a:ea typeface="+mn-ea"/>
                        </a:rPr>
                        <a:t>/</a:t>
                      </a:r>
                      <a:r>
                        <a:rPr lang="en-US" altLang="ko-KR" sz="900" dirty="0" err="1">
                          <a:solidFill>
                            <a:schemeClr val="tx1"/>
                          </a:solidFill>
                          <a:latin typeface="+mn-ea"/>
                          <a:ea typeface="+mn-ea"/>
                        </a:rPr>
                        <a:t>BidAbndAperWrt.tsx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3402361"/>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MUI-BD-03-P04</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kern="1200" dirty="0">
                          <a:solidFill>
                            <a:srgbClr val="000000"/>
                          </a:solidFill>
                          <a:effectLst/>
                          <a:latin typeface="맑은 고딕" panose="020B0503020000020004" pitchFamily="50" charset="-127"/>
                          <a:ea typeface="+mn-ea"/>
                          <a:cs typeface="+mn-cs"/>
                        </a:rPr>
                        <a:t>입찰취소신청서작성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BidRtrcnAperInq</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작성한 입찰서 취소 및 취소 신청서 작성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bidPrgsDtlInqPage</a:t>
                      </a:r>
                      <a:r>
                        <a:rPr lang="en-US" altLang="ko-KR" sz="900" dirty="0">
                          <a:solidFill>
                            <a:schemeClr val="tx1"/>
                          </a:solidFill>
                          <a:latin typeface="+mn-ea"/>
                          <a:ea typeface="+mn-ea"/>
                        </a:rPr>
                        <a:t>/</a:t>
                      </a:r>
                      <a:r>
                        <a:rPr lang="en-US" altLang="ko-KR" sz="900" dirty="0" err="1">
                          <a:solidFill>
                            <a:schemeClr val="tx1"/>
                          </a:solidFill>
                          <a:latin typeface="+mn-ea"/>
                          <a:ea typeface="+mn-ea"/>
                        </a:rPr>
                        <a:t>BidRtrcnAperInq.tsx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1131934"/>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MUI-BD-03-M05</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kern="1200" dirty="0">
                          <a:solidFill>
                            <a:srgbClr val="000000"/>
                          </a:solidFill>
                          <a:effectLst/>
                          <a:latin typeface="맑은 고딕" panose="020B0503020000020004" pitchFamily="50" charset="-127"/>
                          <a:ea typeface="+mn-ea"/>
                          <a:cs typeface="+mn-cs"/>
                        </a:rPr>
                        <a:t>입찰등록결과조회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BidRegRsltInqPage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신청 현황 및 심사결과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bidRtrcnAperInq</a:t>
                      </a:r>
                      <a:r>
                        <a:rPr lang="en-US" altLang="ko-KR" sz="900" dirty="0">
                          <a:solidFill>
                            <a:schemeClr val="tx1"/>
                          </a:solidFill>
                          <a:latin typeface="+mn-ea"/>
                          <a:ea typeface="+mn-ea"/>
                        </a:rPr>
                        <a:t>/</a:t>
                      </a:r>
                      <a:r>
                        <a:rPr lang="en-US" altLang="ko-KR" sz="900" dirty="0" err="1">
                          <a:solidFill>
                            <a:schemeClr val="tx1"/>
                          </a:solidFill>
                          <a:latin typeface="+mn-ea"/>
                          <a:ea typeface="+mn-ea"/>
                        </a:rPr>
                        <a:t>BidRegRsltInqPage.tsx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solidFill>
                            <a:schemeClr val="tx1"/>
                          </a:solidFill>
                          <a:latin typeface="+mn-ea"/>
                          <a:ea typeface="+mn-ea"/>
                        </a:rPr>
                        <a:t>UC-BD-02-01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89993"/>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MUI-BD-02-M02</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kern="1200" dirty="0">
                          <a:solidFill>
                            <a:srgbClr val="000000"/>
                          </a:solidFill>
                          <a:effectLst/>
                          <a:latin typeface="맑은 고딕" panose="020B0503020000020004" pitchFamily="50" charset="-127"/>
                          <a:ea typeface="+mn-ea"/>
                          <a:cs typeface="+mn-cs"/>
                        </a:rPr>
                        <a:t>사전심사</a:t>
                      </a:r>
                      <a:r>
                        <a:rPr lang="en-US" altLang="ko-KR" sz="800" b="0" i="0" u="none" strike="noStrike" kern="1200" dirty="0">
                          <a:solidFill>
                            <a:srgbClr val="000000"/>
                          </a:solidFill>
                          <a:effectLst/>
                          <a:latin typeface="맑은 고딕" panose="020B0503020000020004" pitchFamily="50" charset="-127"/>
                          <a:ea typeface="+mn-ea"/>
                          <a:cs typeface="+mn-cs"/>
                        </a:rPr>
                        <a:t>(PQ)</a:t>
                      </a:r>
                      <a:r>
                        <a:rPr lang="ko-KR" altLang="en-US" sz="800" b="0" i="0" u="none" strike="noStrike" kern="1200" dirty="0" err="1">
                          <a:solidFill>
                            <a:srgbClr val="000000"/>
                          </a:solidFill>
                          <a:effectLst/>
                          <a:latin typeface="맑은 고딕" panose="020B0503020000020004" pitchFamily="50" charset="-127"/>
                          <a:ea typeface="+mn-ea"/>
                          <a:cs typeface="+mn-cs"/>
                        </a:rPr>
                        <a:t>결과조회</a:t>
                      </a:r>
                      <a:endParaRPr lang="ko-KR" altLang="en-US" sz="8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BfhdSrngRsltInqPage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사전심사 신청 현황 및 심사결과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bfhdSrngRsltInq</a:t>
                      </a:r>
                      <a:r>
                        <a:rPr lang="en-US" altLang="ko-KR" sz="900" dirty="0">
                          <a:solidFill>
                            <a:schemeClr val="tx1"/>
                          </a:solidFill>
                          <a:latin typeface="+mn-ea"/>
                          <a:ea typeface="+mn-ea"/>
                        </a:rPr>
                        <a:t>/</a:t>
                      </a:r>
                      <a:r>
                        <a:rPr lang="en-US" altLang="ko-KR" sz="900" dirty="0" err="1">
                          <a:solidFill>
                            <a:schemeClr val="tx1"/>
                          </a:solidFill>
                          <a:latin typeface="+mn-ea"/>
                          <a:ea typeface="+mn-ea"/>
                        </a:rPr>
                        <a:t>BfhdSrngRsltInqPage.tsx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UC-BD-08-04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1450504"/>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MUI-BD-07-P01</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kern="1200" dirty="0">
                          <a:solidFill>
                            <a:srgbClr val="000000"/>
                          </a:solidFill>
                          <a:effectLst/>
                          <a:latin typeface="맑은 고딕" panose="020B0503020000020004" pitchFamily="50" charset="-127"/>
                          <a:ea typeface="+mn-ea"/>
                          <a:cs typeface="+mn-cs"/>
                        </a:rPr>
                        <a:t>기술평가결과조회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TechEvlRsltInq</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기술평가 서류 제출 결과</a:t>
                      </a:r>
                      <a:endParaRPr lang="en-US" altLang="ko-KR"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bfhdSrngRsltInq</a:t>
                      </a:r>
                      <a:r>
                        <a:rPr lang="en-US" altLang="ko-KR" sz="900" dirty="0">
                          <a:solidFill>
                            <a:schemeClr val="tx1"/>
                          </a:solidFill>
                          <a:latin typeface="+mn-ea"/>
                          <a:ea typeface="+mn-ea"/>
                        </a:rPr>
                        <a:t>/</a:t>
                      </a:r>
                      <a:r>
                        <a:rPr lang="en-US" altLang="ko-KR" sz="900" dirty="0" err="1">
                          <a:solidFill>
                            <a:schemeClr val="tx1"/>
                          </a:solidFill>
                          <a:latin typeface="+mn-ea"/>
                          <a:ea typeface="+mn-ea"/>
                        </a:rPr>
                        <a:t>TechEvlRsltInq.tsx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solidFill>
                            <a:schemeClr val="tx1"/>
                          </a:solidFill>
                          <a:latin typeface="+mn-ea"/>
                          <a:ea typeface="+mn-ea"/>
                        </a:rPr>
                        <a:t>UC-BD-09-03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5404555"/>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MUI-BD-03-P06</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kern="1200" dirty="0">
                          <a:solidFill>
                            <a:srgbClr val="000000"/>
                          </a:solidFill>
                          <a:effectLst/>
                          <a:latin typeface="맑은 고딕" panose="020B0503020000020004" pitchFamily="50" charset="-127"/>
                          <a:ea typeface="+mn-ea"/>
                          <a:cs typeface="+mn-cs"/>
                        </a:rPr>
                        <a:t>생산능력서류제출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PrdctnAbltDcmntSbmsn</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생산능력서류 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bfhdSrngRsltInq</a:t>
                      </a:r>
                      <a:r>
                        <a:rPr lang="en-US" altLang="ko-KR" sz="900" dirty="0">
                          <a:solidFill>
                            <a:schemeClr val="tx1"/>
                          </a:solidFill>
                          <a:latin typeface="+mn-ea"/>
                          <a:ea typeface="+mn-ea"/>
                        </a:rPr>
                        <a:t>/</a:t>
                      </a:r>
                      <a:r>
                        <a:rPr lang="en-US" altLang="ko-KR" sz="900" dirty="0" err="1">
                          <a:solidFill>
                            <a:schemeClr val="tx1"/>
                          </a:solidFill>
                          <a:latin typeface="+mn-ea"/>
                          <a:ea typeface="+mn-ea"/>
                        </a:rPr>
                        <a:t>PrdctnAbltDcmntSbmsn.tsx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solidFill>
                            <a:schemeClr val="tx1"/>
                          </a:solidFill>
                          <a:latin typeface="+mn-ea"/>
                          <a:ea typeface="+mn-ea"/>
                        </a:rPr>
                        <a:t>UC-BD-02-01</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1704753"/>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MUI-BD-03-P07</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입찰참가신청반려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BidPrtcpAplyRjct</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입찰참가신청반려 신청서 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bfhdSrngRsltInq</a:t>
                      </a:r>
                      <a:r>
                        <a:rPr lang="en-US" altLang="ko-KR" sz="900" dirty="0">
                          <a:solidFill>
                            <a:schemeClr val="tx1"/>
                          </a:solidFill>
                          <a:latin typeface="+mn-ea"/>
                          <a:ea typeface="+mn-ea"/>
                        </a:rPr>
                        <a:t>/</a:t>
                      </a:r>
                      <a:r>
                        <a:rPr lang="en-US" altLang="ko-KR" sz="900" dirty="0" err="1">
                          <a:solidFill>
                            <a:schemeClr val="tx1"/>
                          </a:solidFill>
                          <a:latin typeface="+mn-ea"/>
                          <a:ea typeface="+mn-ea"/>
                        </a:rPr>
                        <a:t>BidPrtcpAplyRjct.tsx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6458903"/>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MUI-BD-02-M01</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사전심사</a:t>
                      </a:r>
                      <a:r>
                        <a:rPr lang="en-US" altLang="ko-KR" sz="800" kern="1200" dirty="0">
                          <a:solidFill>
                            <a:schemeClr val="tx1"/>
                          </a:solidFill>
                          <a:latin typeface="+mn-ea"/>
                          <a:ea typeface="+mn-ea"/>
                          <a:cs typeface="+mn-cs"/>
                        </a:rPr>
                        <a:t>(PQ)</a:t>
                      </a:r>
                      <a:r>
                        <a:rPr lang="ko-KR" altLang="en-US" sz="800" kern="1200" dirty="0">
                          <a:solidFill>
                            <a:schemeClr val="tx1"/>
                          </a:solidFill>
                          <a:latin typeface="+mn-ea"/>
                          <a:ea typeface="+mn-ea"/>
                          <a:cs typeface="+mn-cs"/>
                        </a:rPr>
                        <a:t>신청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BfhdSrngAplyPage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조달업체는</a:t>
                      </a:r>
                      <a:r>
                        <a:rPr lang="ko-KR" altLang="en-US" sz="800" kern="1200" dirty="0">
                          <a:solidFill>
                            <a:schemeClr val="tx1"/>
                          </a:solidFill>
                          <a:latin typeface="+mn-ea"/>
                          <a:ea typeface="+mn-ea"/>
                          <a:cs typeface="+mn-cs"/>
                        </a:rPr>
                        <a:t> 필요 서류를 첨부하여 사전심사신청서 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bfhdSrngAply</a:t>
                      </a:r>
                      <a:r>
                        <a:rPr lang="en-US" altLang="ko-KR" sz="900" dirty="0">
                          <a:solidFill>
                            <a:schemeClr val="tx1"/>
                          </a:solidFill>
                          <a:latin typeface="+mn-ea"/>
                          <a:ea typeface="+mn-ea"/>
                        </a:rPr>
                        <a:t>/</a:t>
                      </a:r>
                      <a:r>
                        <a:rPr lang="en-US" altLang="ko-KR" sz="900" dirty="0" err="1">
                          <a:solidFill>
                            <a:schemeClr val="tx1"/>
                          </a:solidFill>
                          <a:latin typeface="+mn-ea"/>
                          <a:ea typeface="+mn-ea"/>
                        </a:rPr>
                        <a:t>BfhdSrngAplyPage.tsx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UC-BD-08-02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4316780"/>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9203573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58</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5. </a:t>
            </a:r>
            <a:r>
              <a:rPr lang="ko-KR" altLang="en-US" dirty="0" err="1"/>
              <a:t>입찰진행</a:t>
            </a:r>
            <a:r>
              <a:rPr lang="ko-KR" altLang="en-US" dirty="0"/>
              <a:t> 목록 및 신청서 작성</a:t>
            </a:r>
            <a:endParaRPr lang="en-US" altLang="ko-KR" dirty="0"/>
          </a:p>
          <a:p>
            <a:r>
              <a:rPr lang="en-US" altLang="ko-KR" dirty="0"/>
              <a:t>5.1 </a:t>
            </a:r>
            <a:r>
              <a:rPr lang="ko-KR" altLang="en-US" dirty="0"/>
              <a:t>화면 목록 </a:t>
            </a:r>
            <a:r>
              <a:rPr lang="en-US" altLang="ko-KR" dirty="0"/>
              <a:t>(2/4)</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3665041222"/>
              </p:ext>
            </p:extLst>
          </p:nvPr>
        </p:nvGraphicFramePr>
        <p:xfrm>
          <a:off x="635474" y="1413419"/>
          <a:ext cx="8701200" cy="427966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altLang="ko-KR" sz="700" kern="1200" dirty="0">
                          <a:solidFill>
                            <a:schemeClr val="tx1"/>
                          </a:solidFill>
                          <a:latin typeface="+mn-ea"/>
                          <a:ea typeface="+mn-ea"/>
                          <a:cs typeface="+mn-cs"/>
                        </a:rPr>
                        <a:t>MUI-BD-04-M01</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입찰참가신청서작성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BidPrtcpAperWrtPage</a:t>
                      </a:r>
                      <a:endParaRPr lang="en-US" altLang="ko-KR"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작성 진입 시 서약서 항목으로 </a:t>
                      </a:r>
                      <a:r>
                        <a:rPr lang="ko-KR" altLang="en-US" sz="800" kern="1200" dirty="0" err="1">
                          <a:solidFill>
                            <a:schemeClr val="tx1"/>
                          </a:solidFill>
                          <a:latin typeface="+mn-ea"/>
                          <a:ea typeface="+mn-ea"/>
                          <a:cs typeface="+mn-cs"/>
                        </a:rPr>
                        <a:t>진입됨</a:t>
                      </a:r>
                      <a:r>
                        <a:rPr lang="en-US" altLang="ko-KR" sz="800" kern="1200" dirty="0">
                          <a:solidFill>
                            <a:schemeClr val="tx1"/>
                          </a:solidFill>
                          <a:latin typeface="+mn-ea"/>
                          <a:ea typeface="+mn-ea"/>
                          <a:cs typeface="+mn-cs"/>
                        </a:rPr>
                        <a:t>.</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bidPrtcpAperWrt</a:t>
                      </a:r>
                      <a:r>
                        <a:rPr lang="en-US" altLang="ko-KR" sz="900" dirty="0">
                          <a:solidFill>
                            <a:schemeClr val="tx1"/>
                          </a:solidFill>
                          <a:latin typeface="+mn-ea"/>
                          <a:ea typeface="+mn-ea"/>
                        </a:rPr>
                        <a:t>/</a:t>
                      </a:r>
                      <a:r>
                        <a:rPr lang="en-US" altLang="ko-KR" sz="900" dirty="0" err="1">
                          <a:solidFill>
                            <a:schemeClr val="tx1"/>
                          </a:solidFill>
                          <a:latin typeface="+mn-ea"/>
                          <a:ea typeface="+mn-ea"/>
                        </a:rPr>
                        <a:t>BidPrtcpAperWrtPage.tsx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9291365"/>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MUI-BD-04-M01</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서약서동의</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WrotAgrePage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서약서 동의 목록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wrotAgrePage</a:t>
                      </a:r>
                      <a:r>
                        <a:rPr lang="en-US" altLang="ko-KR" sz="900" dirty="0">
                          <a:solidFill>
                            <a:schemeClr val="tx1"/>
                          </a:solidFill>
                          <a:latin typeface="+mn-ea"/>
                          <a:ea typeface="+mn-ea"/>
                        </a:rPr>
                        <a:t>/</a:t>
                      </a:r>
                      <a:r>
                        <a:rPr lang="en-US" altLang="ko-KR" sz="900" dirty="0" err="1">
                          <a:solidFill>
                            <a:schemeClr val="tx1"/>
                          </a:solidFill>
                          <a:latin typeface="+mn-ea"/>
                          <a:ea typeface="+mn-ea"/>
                        </a:rPr>
                        <a:t>WrotAgrePage.tsx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0483417"/>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MUI-BD-04-P02</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서약서</a:t>
                      </a:r>
                      <a:r>
                        <a:rPr lang="en-US" altLang="ko-KR" sz="800" kern="1200" dirty="0">
                          <a:solidFill>
                            <a:schemeClr val="tx1"/>
                          </a:solidFill>
                          <a:latin typeface="+mn-ea"/>
                          <a:ea typeface="+mn-ea"/>
                          <a:cs typeface="+mn-cs"/>
                        </a:rPr>
                        <a:t>1</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WrotAgrePage_Wrot1</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조세포탈 사실 없음 서약서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/wrot1/Wrot1.tsx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2838054"/>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MUI-BD-04-P03</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서약서</a:t>
                      </a:r>
                      <a:r>
                        <a:rPr lang="en-US" altLang="ko-KR" sz="800" kern="1200" dirty="0">
                          <a:solidFill>
                            <a:schemeClr val="tx1"/>
                          </a:solidFill>
                          <a:latin typeface="+mn-ea"/>
                          <a:ea typeface="+mn-ea"/>
                          <a:cs typeface="+mn-cs"/>
                        </a:rPr>
                        <a:t>2</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WrotAgrePage_Wrot2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청렴이행서약서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/wrot1/Wrot2.tsx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615781"/>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MUI-BD-04-P04</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서약서</a:t>
                      </a:r>
                      <a:r>
                        <a:rPr lang="en-US" altLang="ko-KR" sz="800" kern="1200" dirty="0">
                          <a:solidFill>
                            <a:schemeClr val="tx1"/>
                          </a:solidFill>
                          <a:latin typeface="+mn-ea"/>
                          <a:ea typeface="+mn-ea"/>
                          <a:cs typeface="+mn-cs"/>
                        </a:rPr>
                        <a:t>3</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WrotAgrePage_Wrot3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행정정보공동이용 동의서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/wrot1/Wrot3.tsx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2627225"/>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MUI-BD-04-M05</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1 - </a:t>
                      </a:r>
                      <a:r>
                        <a:rPr lang="ko-KR" altLang="en-US" sz="800" kern="1200" dirty="0">
                          <a:solidFill>
                            <a:schemeClr val="tx1"/>
                          </a:solidFill>
                          <a:latin typeface="+mn-ea"/>
                          <a:ea typeface="+mn-ea"/>
                          <a:cs typeface="+mn-cs"/>
                        </a:rPr>
                        <a:t>일반정보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BidPrtcpAperWrtPage_Stp1</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1 </a:t>
                      </a:r>
                      <a:r>
                        <a:rPr lang="ko-KR" altLang="en-US" sz="800" kern="1200" dirty="0">
                          <a:solidFill>
                            <a:schemeClr val="tx1"/>
                          </a:solidFill>
                          <a:latin typeface="+mn-ea"/>
                          <a:ea typeface="+mn-ea"/>
                          <a:cs typeface="+mn-cs"/>
                        </a:rPr>
                        <a:t>일반정보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/stp1/Stp1.tsx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solidFill>
                          <a:srgbClr val="FF0000"/>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3940242"/>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MUI-BD-04-M06</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2 - </a:t>
                      </a:r>
                      <a:r>
                        <a:rPr lang="ko-KR" altLang="en-US" sz="800" kern="1200" dirty="0" err="1">
                          <a:solidFill>
                            <a:schemeClr val="tx1"/>
                          </a:solidFill>
                          <a:latin typeface="+mn-ea"/>
                          <a:ea typeface="+mn-ea"/>
                          <a:cs typeface="+mn-cs"/>
                        </a:rPr>
                        <a:t>품목내역</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BidPrtcpAperWrtPage_Stp2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2 </a:t>
                      </a:r>
                      <a:r>
                        <a:rPr lang="ko-KR" altLang="en-US" sz="800" kern="1200" dirty="0" err="1">
                          <a:solidFill>
                            <a:schemeClr val="tx1"/>
                          </a:solidFill>
                          <a:latin typeface="+mn-ea"/>
                          <a:ea typeface="+mn-ea"/>
                          <a:cs typeface="+mn-cs"/>
                        </a:rPr>
                        <a:t>품목내역</a:t>
                      </a:r>
                      <a:r>
                        <a:rPr lang="ko-KR" altLang="en-US" sz="800" kern="1200" dirty="0">
                          <a:solidFill>
                            <a:schemeClr val="tx1"/>
                          </a:solidFill>
                          <a:latin typeface="+mn-ea"/>
                          <a:ea typeface="+mn-ea"/>
                          <a:cs typeface="+mn-cs"/>
                        </a:rPr>
                        <a:t>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/stp2/Stp2.tsx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solidFill>
                          <a:srgbClr val="FF0000"/>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1991327"/>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MUI-BD-04-M07</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3 - </a:t>
                      </a:r>
                      <a:r>
                        <a:rPr lang="ko-KR" altLang="en-US" sz="800" kern="1200" dirty="0" err="1">
                          <a:solidFill>
                            <a:schemeClr val="tx1"/>
                          </a:solidFill>
                          <a:latin typeface="+mn-ea"/>
                          <a:ea typeface="+mn-ea"/>
                          <a:cs typeface="+mn-cs"/>
                        </a:rPr>
                        <a:t>공종</a:t>
                      </a:r>
                      <a:r>
                        <a:rPr lang="ko-KR" altLang="en-US" sz="800" kern="1200" dirty="0">
                          <a:solidFill>
                            <a:schemeClr val="tx1"/>
                          </a:solidFill>
                          <a:latin typeface="+mn-ea"/>
                          <a:ea typeface="+mn-ea"/>
                          <a:cs typeface="+mn-cs"/>
                        </a:rPr>
                        <a:t> 및 면허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BidPrtcpAperWrtPage_Stp3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3 </a:t>
                      </a:r>
                      <a:r>
                        <a:rPr lang="ko-KR" altLang="en-US" sz="800" kern="1200" dirty="0" err="1">
                          <a:solidFill>
                            <a:schemeClr val="tx1"/>
                          </a:solidFill>
                          <a:latin typeface="+mn-ea"/>
                          <a:ea typeface="+mn-ea"/>
                          <a:cs typeface="+mn-cs"/>
                        </a:rPr>
                        <a:t>공종</a:t>
                      </a:r>
                      <a:r>
                        <a:rPr lang="ko-KR" altLang="en-US" sz="800" kern="1200" dirty="0">
                          <a:solidFill>
                            <a:schemeClr val="tx1"/>
                          </a:solidFill>
                          <a:latin typeface="+mn-ea"/>
                          <a:ea typeface="+mn-ea"/>
                          <a:cs typeface="+mn-cs"/>
                        </a:rPr>
                        <a:t> 및 면허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/stp3/Stp3.tsx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solidFill>
                          <a:srgbClr val="FF0000"/>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88351249"/>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MUI-BD-04-M08</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4 - </a:t>
                      </a:r>
                      <a:r>
                        <a:rPr lang="ko-KR" altLang="en-US" sz="800" kern="1200" dirty="0">
                          <a:solidFill>
                            <a:schemeClr val="tx1"/>
                          </a:solidFill>
                          <a:latin typeface="+mn-ea"/>
                          <a:ea typeface="+mn-ea"/>
                          <a:cs typeface="+mn-cs"/>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BidPrtcpAperWrtPage_Stp4</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4 </a:t>
                      </a:r>
                      <a:r>
                        <a:rPr lang="ko-KR" altLang="en-US" sz="800" kern="1200" dirty="0">
                          <a:solidFill>
                            <a:schemeClr val="tx1"/>
                          </a:solidFill>
                          <a:latin typeface="+mn-ea"/>
                          <a:ea typeface="+mn-ea"/>
                          <a:cs typeface="+mn-cs"/>
                        </a:rPr>
                        <a:t>입찰보증금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/stp4/Stp4.tsx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solidFill>
                          <a:srgbClr val="FF0000"/>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6182055"/>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MUI-BD-04-P09</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면제여부상세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ExmptnYnDtl</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면제여부</a:t>
                      </a:r>
                      <a:r>
                        <a:rPr lang="ko-KR" altLang="en-US" sz="800" kern="1200" dirty="0">
                          <a:solidFill>
                            <a:schemeClr val="tx1"/>
                          </a:solidFill>
                          <a:latin typeface="+mn-ea"/>
                          <a:ea typeface="+mn-ea"/>
                          <a:cs typeface="+mn-cs"/>
                        </a:rPr>
                        <a:t> 설명 정보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exmptnYnDtl</a:t>
                      </a:r>
                      <a:r>
                        <a:rPr lang="en-US" altLang="ko-KR" sz="900" dirty="0">
                          <a:solidFill>
                            <a:schemeClr val="tx1"/>
                          </a:solidFill>
                          <a:latin typeface="+mn-ea"/>
                          <a:ea typeface="+mn-ea"/>
                        </a:rPr>
                        <a:t>/</a:t>
                      </a:r>
                      <a:r>
                        <a:rPr lang="en-US" altLang="ko-KR" sz="900" dirty="0" err="1">
                          <a:solidFill>
                            <a:schemeClr val="tx1"/>
                          </a:solidFill>
                          <a:latin typeface="+mn-ea"/>
                          <a:ea typeface="+mn-ea"/>
                        </a:rPr>
                        <a:t>ExmptnYnDtl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00001966"/>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MUI-BD-04-M10</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5 - </a:t>
                      </a:r>
                      <a:r>
                        <a:rPr lang="ko-KR" altLang="en-US" sz="800" kern="1200" dirty="0">
                          <a:solidFill>
                            <a:schemeClr val="tx1"/>
                          </a:solidFill>
                          <a:latin typeface="+mn-ea"/>
                          <a:ea typeface="+mn-ea"/>
                          <a:cs typeface="+mn-cs"/>
                        </a:rPr>
                        <a:t>공동수급업체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BidPrtcpAperWrtPage_Stp5</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5 </a:t>
                      </a:r>
                      <a:r>
                        <a:rPr lang="ko-KR" altLang="en-US" sz="800" kern="1200" dirty="0">
                          <a:solidFill>
                            <a:schemeClr val="tx1"/>
                          </a:solidFill>
                          <a:latin typeface="+mn-ea"/>
                          <a:ea typeface="+mn-ea"/>
                          <a:cs typeface="+mn-cs"/>
                        </a:rPr>
                        <a:t>공동수급업체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/stp5/Stp5</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a:t>
                      </a:r>
                      <a:r>
                        <a:rPr lang="en-US" altLang="ko-KR" sz="900" dirty="0" err="1">
                          <a:solidFill>
                            <a:schemeClr val="tx1"/>
                          </a:solidFill>
                          <a:latin typeface="+mn-ea"/>
                          <a:ea typeface="+mn-ea"/>
                        </a:rPr>
                        <a:t>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solidFill>
                          <a:srgbClr val="FF0000"/>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3571945"/>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773634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59</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5. </a:t>
            </a:r>
            <a:r>
              <a:rPr lang="ko-KR" altLang="en-US" dirty="0" err="1"/>
              <a:t>입찰진행</a:t>
            </a:r>
            <a:r>
              <a:rPr lang="ko-KR" altLang="en-US" dirty="0"/>
              <a:t> 목록 및 신청서 작성 메뉴</a:t>
            </a:r>
            <a:endParaRPr lang="en-US" altLang="ko-KR" dirty="0"/>
          </a:p>
          <a:p>
            <a:r>
              <a:rPr lang="en-US" altLang="ko-KR" dirty="0"/>
              <a:t>5.1 </a:t>
            </a:r>
            <a:r>
              <a:rPr lang="ko-KR" altLang="en-US" dirty="0"/>
              <a:t>화면 목록 </a:t>
            </a:r>
            <a:r>
              <a:rPr lang="en-US" altLang="ko-KR" dirty="0"/>
              <a:t>(3/4)</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1091183874"/>
              </p:ext>
            </p:extLst>
          </p:nvPr>
        </p:nvGraphicFramePr>
        <p:xfrm>
          <a:off x="635474" y="1413419"/>
          <a:ext cx="8701200" cy="493342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altLang="ko-KR" sz="700" kern="1200" dirty="0">
                          <a:solidFill>
                            <a:schemeClr val="tx1"/>
                          </a:solidFill>
                          <a:latin typeface="+mn-ea"/>
                          <a:ea typeface="+mn-ea"/>
                          <a:cs typeface="+mn-cs"/>
                        </a:rPr>
                        <a:t>MUI-BD-04-P11</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등록업체검색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RegBzentySrch</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등록업체 검색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a:t>
                      </a:r>
                      <a:r>
                        <a:rPr lang="en-US" altLang="ko-KR" sz="800" dirty="0" err="1">
                          <a:solidFill>
                            <a:schemeClr val="tx1"/>
                          </a:solidFill>
                          <a:latin typeface="+mn-ea"/>
                          <a:ea typeface="+mn-ea"/>
                        </a:rPr>
                        <a:t>RegBzentySrch.tsx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8205196"/>
                  </a:ext>
                </a:extLst>
              </a:tr>
              <a:tr h="180000">
                <a:tc>
                  <a:txBody>
                    <a:bodyPr/>
                    <a:lstStyle/>
                    <a:p>
                      <a:pPr algn="l" fontAlgn="ctr"/>
                      <a:r>
                        <a:rPr lang="en-US" altLang="ko-KR" sz="700" kern="1200" dirty="0">
                          <a:solidFill>
                            <a:schemeClr val="tx1"/>
                          </a:solidFill>
                          <a:latin typeface="+mn-ea"/>
                          <a:ea typeface="+mn-ea"/>
                          <a:cs typeface="+mn-cs"/>
                        </a:rPr>
                        <a:t>MUI-BD-04-M12</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6 - </a:t>
                      </a:r>
                      <a:r>
                        <a:rPr lang="ko-KR" altLang="en-US" sz="800" kern="1200" dirty="0">
                          <a:solidFill>
                            <a:schemeClr val="tx1"/>
                          </a:solidFill>
                          <a:latin typeface="+mn-ea"/>
                          <a:ea typeface="+mn-ea"/>
                          <a:cs typeface="+mn-cs"/>
                        </a:rPr>
                        <a:t>파일첨부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BidPrtcpAperWrtPage_Stp6</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6 </a:t>
                      </a:r>
                      <a:r>
                        <a:rPr lang="ko-KR" altLang="en-US" sz="800" kern="1200" dirty="0">
                          <a:solidFill>
                            <a:schemeClr val="tx1"/>
                          </a:solidFill>
                          <a:latin typeface="+mn-ea"/>
                          <a:ea typeface="+mn-ea"/>
                          <a:cs typeface="+mn-cs"/>
                        </a:rPr>
                        <a:t>파일첨부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/Stp6Page.tsx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1018659"/>
                  </a:ext>
                </a:extLst>
              </a:tr>
              <a:tr h="180000">
                <a:tc>
                  <a:txBody>
                    <a:bodyPr/>
                    <a:lstStyle/>
                    <a:p>
                      <a:pPr algn="l" fontAlgn="ctr"/>
                      <a:r>
                        <a:rPr lang="en-US" altLang="ko-KR" sz="700" kern="1200" dirty="0">
                          <a:solidFill>
                            <a:schemeClr val="tx1"/>
                          </a:solidFill>
                          <a:latin typeface="+mn-ea"/>
                          <a:ea typeface="+mn-ea"/>
                          <a:cs typeface="+mn-cs"/>
                        </a:rPr>
                        <a:t>MUI-BD-04-P13</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캐비닛 연결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CabinetLink</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클라우드</a:t>
                      </a:r>
                      <a:r>
                        <a:rPr lang="ko-KR" altLang="en-US" sz="800" kern="1200" dirty="0">
                          <a:solidFill>
                            <a:schemeClr val="tx1"/>
                          </a:solidFill>
                          <a:latin typeface="+mn-ea"/>
                          <a:ea typeface="+mn-ea"/>
                          <a:cs typeface="+mn-cs"/>
                        </a:rPr>
                        <a:t> 파일 캐비닛 연결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a:t>
                      </a:r>
                      <a:r>
                        <a:rPr lang="en-US" altLang="ko-KR" sz="800" dirty="0" err="1">
                          <a:solidFill>
                            <a:schemeClr val="tx1"/>
                          </a:solidFill>
                          <a:latin typeface="+mn-ea"/>
                          <a:ea typeface="+mn-ea"/>
                        </a:rPr>
                        <a:t>CabinetLink.tsx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3078353"/>
                  </a:ext>
                </a:extLst>
              </a:tr>
              <a:tr h="180000">
                <a:tc>
                  <a:txBody>
                    <a:bodyPr/>
                    <a:lstStyle/>
                    <a:p>
                      <a:pPr algn="l" fontAlgn="ctr"/>
                      <a:r>
                        <a:rPr lang="en-US" altLang="ko-KR" sz="700" kern="1200" dirty="0">
                          <a:solidFill>
                            <a:schemeClr val="tx1"/>
                          </a:solidFill>
                          <a:latin typeface="+mn-ea"/>
                          <a:ea typeface="+mn-ea"/>
                          <a:cs typeface="+mn-cs"/>
                        </a:rPr>
                        <a:t>MUI-BD-04-M14</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7 - </a:t>
                      </a:r>
                      <a:r>
                        <a:rPr lang="ko-KR" altLang="en-US" sz="800" kern="1200" dirty="0">
                          <a:solidFill>
                            <a:schemeClr val="tx1"/>
                          </a:solidFill>
                          <a:latin typeface="+mn-ea"/>
                          <a:ea typeface="+mn-ea"/>
                          <a:cs typeface="+mn-cs"/>
                        </a:rPr>
                        <a:t>문의 및 동의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BidPrtcpAperWrtPage_Stp7</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7 </a:t>
                      </a:r>
                      <a:r>
                        <a:rPr lang="ko-KR" altLang="en-US" sz="800" kern="1200" dirty="0">
                          <a:solidFill>
                            <a:schemeClr val="tx1"/>
                          </a:solidFill>
                          <a:latin typeface="+mn-ea"/>
                          <a:ea typeface="+mn-ea"/>
                          <a:cs typeface="+mn-cs"/>
                        </a:rPr>
                        <a:t>문의 및 동의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/Stp7.tsx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0615974"/>
                  </a:ext>
                </a:extLst>
              </a:tr>
              <a:tr h="180000">
                <a:tc>
                  <a:txBody>
                    <a:bodyPr/>
                    <a:lstStyle/>
                    <a:p>
                      <a:pPr algn="l" fontAlgn="ctr"/>
                      <a:r>
                        <a:rPr lang="en-US" altLang="ko-KR" sz="700" kern="1200" dirty="0">
                          <a:solidFill>
                            <a:schemeClr val="tx1"/>
                          </a:solidFill>
                          <a:latin typeface="+mn-ea"/>
                          <a:ea typeface="+mn-ea"/>
                          <a:cs typeface="+mn-cs"/>
                        </a:rPr>
                        <a:t>MUI-BD-04-P15</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동의서</a:t>
                      </a:r>
                      <a:r>
                        <a:rPr lang="en-US" altLang="ko-KR" sz="800" kern="1200" dirty="0">
                          <a:solidFill>
                            <a:schemeClr val="tx1"/>
                          </a:solidFill>
                          <a:latin typeface="+mn-ea"/>
                          <a:ea typeface="+mn-ea"/>
                          <a:cs typeface="+mn-cs"/>
                        </a:rPr>
                        <a:t>1</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AgreementForm1</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동의서 상세 내용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/AgreementForm1.tsx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4141331"/>
                  </a:ext>
                </a:extLst>
              </a:tr>
              <a:tr h="180000">
                <a:tc>
                  <a:txBody>
                    <a:bodyPr/>
                    <a:lstStyle/>
                    <a:p>
                      <a:pPr algn="l" fontAlgn="ctr"/>
                      <a:r>
                        <a:rPr lang="en-US" altLang="ko-KR" sz="700" kern="1200" dirty="0">
                          <a:solidFill>
                            <a:schemeClr val="tx1"/>
                          </a:solidFill>
                          <a:latin typeface="+mn-ea"/>
                          <a:ea typeface="+mn-ea"/>
                          <a:cs typeface="+mn-cs"/>
                        </a:rPr>
                        <a:t>MUI-BD-04-P16</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동의서</a:t>
                      </a:r>
                      <a:r>
                        <a:rPr lang="en-US" altLang="ko-KR" sz="800" kern="1200" dirty="0">
                          <a:solidFill>
                            <a:schemeClr val="tx1"/>
                          </a:solidFill>
                          <a:latin typeface="+mn-ea"/>
                          <a:ea typeface="+mn-ea"/>
                          <a:cs typeface="+mn-cs"/>
                        </a:rPr>
                        <a:t>2</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AgreementForm2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동의서 상세 내용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/AgreementForm2.tsx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23503506"/>
                  </a:ext>
                </a:extLst>
              </a:tr>
              <a:tr h="180000">
                <a:tc>
                  <a:txBody>
                    <a:bodyPr/>
                    <a:lstStyle/>
                    <a:p>
                      <a:pPr algn="l" fontAlgn="ctr"/>
                      <a:r>
                        <a:rPr lang="en-US" altLang="ko-KR" sz="700" kern="1200" dirty="0">
                          <a:solidFill>
                            <a:schemeClr val="tx1"/>
                          </a:solidFill>
                          <a:latin typeface="+mn-ea"/>
                          <a:ea typeface="+mn-ea"/>
                          <a:cs typeface="+mn-cs"/>
                        </a:rPr>
                        <a:t>MUI-BD-04-P17</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동의서</a:t>
                      </a:r>
                      <a:r>
                        <a:rPr lang="en-US" altLang="ko-KR" sz="800" kern="1200" dirty="0">
                          <a:solidFill>
                            <a:schemeClr val="tx1"/>
                          </a:solidFill>
                          <a:latin typeface="+mn-ea"/>
                          <a:ea typeface="+mn-ea"/>
                          <a:cs typeface="+mn-cs"/>
                        </a:rPr>
                        <a:t>3</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AgreementForm3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동의서 상세 내용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/AgreementForm3.tsx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3800375"/>
                  </a:ext>
                </a:extLst>
              </a:tr>
              <a:tr h="180000">
                <a:tc>
                  <a:txBody>
                    <a:bodyPr/>
                    <a:lstStyle/>
                    <a:p>
                      <a:pPr algn="l" fontAlgn="ctr"/>
                      <a:r>
                        <a:rPr lang="en-US" altLang="ko-KR" sz="700" kern="1200" dirty="0">
                          <a:solidFill>
                            <a:schemeClr val="tx1"/>
                          </a:solidFill>
                          <a:latin typeface="+mn-ea"/>
                          <a:ea typeface="+mn-ea"/>
                          <a:cs typeface="+mn-cs"/>
                        </a:rPr>
                        <a:t>MUI-BD-04-P18</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동의서</a:t>
                      </a:r>
                      <a:r>
                        <a:rPr lang="en-US" altLang="ko-KR" sz="800" kern="1200" dirty="0">
                          <a:solidFill>
                            <a:schemeClr val="tx1"/>
                          </a:solidFill>
                          <a:latin typeface="+mn-ea"/>
                          <a:ea typeface="+mn-ea"/>
                          <a:cs typeface="+mn-cs"/>
                        </a:rPr>
                        <a:t>4</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AgreementForm4</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동의서 상세 내용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/AgreementForm4.tsx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6987638"/>
                  </a:ext>
                </a:extLst>
              </a:tr>
              <a:tr h="180000">
                <a:tc>
                  <a:txBody>
                    <a:bodyPr/>
                    <a:lstStyle/>
                    <a:p>
                      <a:pPr algn="l" fontAlgn="ctr"/>
                      <a:r>
                        <a:rPr lang="en-US" altLang="ko-KR" sz="700" kern="1200" dirty="0">
                          <a:solidFill>
                            <a:schemeClr val="tx1"/>
                          </a:solidFill>
                          <a:latin typeface="+mn-ea"/>
                          <a:ea typeface="+mn-ea"/>
                          <a:cs typeface="+mn-cs"/>
                        </a:rPr>
                        <a:t>MUI-BD-04-P19</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동의서</a:t>
                      </a:r>
                      <a:r>
                        <a:rPr lang="en-US" altLang="ko-KR" sz="800" kern="1200" dirty="0">
                          <a:solidFill>
                            <a:schemeClr val="tx1"/>
                          </a:solidFill>
                          <a:latin typeface="+mn-ea"/>
                          <a:ea typeface="+mn-ea"/>
                          <a:cs typeface="+mn-cs"/>
                        </a:rPr>
                        <a:t>5</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AgreementForm5</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동의서 상세 내용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/AgreementForm5.tsx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2279451"/>
                  </a:ext>
                </a:extLst>
              </a:tr>
              <a:tr h="180000">
                <a:tc>
                  <a:txBody>
                    <a:bodyPr/>
                    <a:lstStyle/>
                    <a:p>
                      <a:pPr algn="l" fontAlgn="ctr"/>
                      <a:r>
                        <a:rPr lang="en-US" altLang="ko-KR" sz="700" kern="1200" dirty="0">
                          <a:solidFill>
                            <a:schemeClr val="tx1"/>
                          </a:solidFill>
                          <a:latin typeface="+mn-ea"/>
                          <a:ea typeface="+mn-ea"/>
                          <a:cs typeface="+mn-cs"/>
                        </a:rPr>
                        <a:t>MUI-BD-04-P20</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동의서</a:t>
                      </a:r>
                      <a:r>
                        <a:rPr lang="en-US" altLang="ko-KR" sz="800" kern="1200" dirty="0">
                          <a:solidFill>
                            <a:schemeClr val="tx1"/>
                          </a:solidFill>
                          <a:latin typeface="+mn-ea"/>
                          <a:ea typeface="+mn-ea"/>
                          <a:cs typeface="+mn-cs"/>
                        </a:rPr>
                        <a:t>6</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AgreementForm6</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동의서 상세 내용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/AgreementForm6.tsx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57553544"/>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MUI-BD-04-M21</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전자서명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Elsgn</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전자서명 진행 화면</a:t>
                      </a:r>
                      <a:r>
                        <a:rPr lang="ko-KR" altLang="en-US" sz="800" kern="1200" baseline="0" dirty="0">
                          <a:solidFill>
                            <a:schemeClr val="tx1"/>
                          </a:solidFill>
                          <a:latin typeface="+mn-ea"/>
                          <a:ea typeface="+mn-ea"/>
                          <a:cs typeface="+mn-cs"/>
                        </a:rPr>
                        <a:t> 표시</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a:t>
                      </a:r>
                      <a:r>
                        <a:rPr lang="en-US" altLang="ko-KR" sz="800" dirty="0" err="1">
                          <a:solidFill>
                            <a:schemeClr val="tx1"/>
                          </a:solidFill>
                          <a:latin typeface="+mn-ea"/>
                          <a:ea typeface="+mn-ea"/>
                        </a:rPr>
                        <a:t>Elsgn.tsx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1493139"/>
                  </a:ext>
                </a:extLst>
              </a:tr>
              <a:tr h="180000">
                <a:tc>
                  <a:txBody>
                    <a:bodyPr/>
                    <a:lstStyle/>
                    <a:p>
                      <a:pPr algn="ctr" fontAlgn="ctr"/>
                      <a:r>
                        <a:rPr lang="en-US" altLang="ko-KR" sz="700" kern="1200" dirty="0">
                          <a:solidFill>
                            <a:schemeClr val="tx1"/>
                          </a:solidFill>
                          <a:latin typeface="+mn-ea"/>
                          <a:ea typeface="+mn-ea"/>
                          <a:cs typeface="+mn-cs"/>
                        </a:rPr>
                        <a:t>MUI-BD-06-M01</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견적서</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작성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TndrWrt</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작성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a:t>
                      </a:r>
                      <a:r>
                        <a:rPr lang="en-US" altLang="ko-KR" sz="800" dirty="0" err="1">
                          <a:solidFill>
                            <a:schemeClr val="tx1"/>
                          </a:solidFill>
                          <a:latin typeface="+mn-ea"/>
                          <a:ea typeface="+mn-ea"/>
                        </a:rPr>
                        <a:t>TndrWrt.tsx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UC-BD-04-01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5856062"/>
                  </a:ext>
                </a:extLst>
              </a:tr>
              <a:tr h="180000">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MUI-BD-06-M01</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1 - </a:t>
                      </a:r>
                      <a:r>
                        <a:rPr lang="ko-KR" altLang="en-US" sz="800" kern="1200" dirty="0">
                          <a:solidFill>
                            <a:schemeClr val="tx1"/>
                          </a:solidFill>
                          <a:latin typeface="+mn-ea"/>
                          <a:ea typeface="+mn-ea"/>
                          <a:cs typeface="+mn-cs"/>
                        </a:rPr>
                        <a:t>일반정보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TndrWrt_Stp1</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1 </a:t>
                      </a:r>
                      <a:r>
                        <a:rPr lang="ko-KR" altLang="en-US" sz="800" kern="1200" dirty="0">
                          <a:solidFill>
                            <a:schemeClr val="tx1"/>
                          </a:solidFill>
                          <a:latin typeface="+mn-ea"/>
                          <a:ea typeface="+mn-ea"/>
                          <a:cs typeface="+mn-cs"/>
                        </a:rPr>
                        <a:t>일반정보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/Stp1.tsx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750695"/>
                  </a:ext>
                </a:extLst>
              </a:tr>
              <a:tr h="180000">
                <a:tc>
                  <a:txBody>
                    <a:bodyPr/>
                    <a:lstStyle/>
                    <a:p>
                      <a:pPr algn="l" fontAlgn="ctr"/>
                      <a:r>
                        <a:rPr lang="en-US" altLang="ko-KR" sz="700" kern="1200" dirty="0">
                          <a:solidFill>
                            <a:schemeClr val="tx1"/>
                          </a:solidFill>
                          <a:latin typeface="+mn-ea"/>
                          <a:ea typeface="+mn-ea"/>
                          <a:cs typeface="+mn-cs"/>
                        </a:rPr>
                        <a:t>MUI-BD-06-M02</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2 - </a:t>
                      </a:r>
                      <a:r>
                        <a:rPr lang="ko-KR" altLang="en-US" sz="800" kern="1200" dirty="0" err="1">
                          <a:solidFill>
                            <a:schemeClr val="tx1"/>
                          </a:solidFill>
                          <a:latin typeface="+mn-ea"/>
                          <a:ea typeface="+mn-ea"/>
                          <a:cs typeface="+mn-cs"/>
                        </a:rPr>
                        <a:t>품목내역</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TndrWrt_Stp2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2 </a:t>
                      </a:r>
                      <a:r>
                        <a:rPr lang="ko-KR" altLang="en-US" sz="800" kern="1200" dirty="0" err="1">
                          <a:solidFill>
                            <a:schemeClr val="tx1"/>
                          </a:solidFill>
                          <a:latin typeface="+mn-ea"/>
                          <a:ea typeface="+mn-ea"/>
                          <a:cs typeface="+mn-cs"/>
                        </a:rPr>
                        <a:t>품목내역</a:t>
                      </a:r>
                      <a:r>
                        <a:rPr lang="ko-KR" altLang="en-US" sz="800" kern="1200" dirty="0">
                          <a:solidFill>
                            <a:schemeClr val="tx1"/>
                          </a:solidFill>
                          <a:latin typeface="+mn-ea"/>
                          <a:ea typeface="+mn-ea"/>
                          <a:cs typeface="+mn-cs"/>
                        </a:rPr>
                        <a:t>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/Stp2.tsx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3254699"/>
                  </a:ext>
                </a:extLst>
              </a:tr>
              <a:tr h="180000">
                <a:tc>
                  <a:txBody>
                    <a:bodyPr/>
                    <a:lstStyle/>
                    <a:p>
                      <a:pPr algn="l" fontAlgn="ctr"/>
                      <a:r>
                        <a:rPr lang="en-US" altLang="ko-KR" sz="700" kern="1200" dirty="0">
                          <a:solidFill>
                            <a:schemeClr val="tx1"/>
                          </a:solidFill>
                          <a:latin typeface="+mn-ea"/>
                          <a:ea typeface="+mn-ea"/>
                          <a:cs typeface="+mn-cs"/>
                        </a:rPr>
                        <a:t>MUI-BD-06-M03</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3 - </a:t>
                      </a:r>
                      <a:r>
                        <a:rPr lang="ko-KR" altLang="en-US" sz="800" kern="1200" dirty="0" err="1">
                          <a:solidFill>
                            <a:schemeClr val="tx1"/>
                          </a:solidFill>
                          <a:latin typeface="+mn-ea"/>
                          <a:ea typeface="+mn-ea"/>
                          <a:cs typeface="+mn-cs"/>
                        </a:rPr>
                        <a:t>투찰내역</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TndrWrt_Stp3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3 </a:t>
                      </a:r>
                      <a:r>
                        <a:rPr lang="ko-KR" altLang="en-US" sz="800" kern="1200" dirty="0" err="1">
                          <a:solidFill>
                            <a:schemeClr val="tx1"/>
                          </a:solidFill>
                          <a:latin typeface="+mn-ea"/>
                          <a:ea typeface="+mn-ea"/>
                          <a:cs typeface="+mn-cs"/>
                        </a:rPr>
                        <a:t>투찰내역</a:t>
                      </a:r>
                      <a:r>
                        <a:rPr lang="ko-KR" altLang="en-US" sz="800" kern="1200" dirty="0">
                          <a:solidFill>
                            <a:schemeClr val="tx1"/>
                          </a:solidFill>
                          <a:latin typeface="+mn-ea"/>
                          <a:ea typeface="+mn-ea"/>
                          <a:cs typeface="+mn-cs"/>
                        </a:rPr>
                        <a:t>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/Stp3.tsx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0197646"/>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801325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60</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5. </a:t>
            </a:r>
            <a:r>
              <a:rPr lang="ko-KR" altLang="en-US" dirty="0" err="1"/>
              <a:t>입찰진행</a:t>
            </a:r>
            <a:r>
              <a:rPr lang="ko-KR" altLang="en-US" dirty="0"/>
              <a:t> 목록 및 신청서 작성 메뉴</a:t>
            </a:r>
            <a:endParaRPr lang="en-US" altLang="ko-KR" dirty="0"/>
          </a:p>
          <a:p>
            <a:r>
              <a:rPr lang="en-US" altLang="ko-KR" dirty="0"/>
              <a:t>5.1 </a:t>
            </a:r>
            <a:r>
              <a:rPr lang="ko-KR" altLang="en-US" dirty="0"/>
              <a:t>화면 목록 </a:t>
            </a:r>
            <a:r>
              <a:rPr lang="en-US" altLang="ko-KR" dirty="0"/>
              <a:t>(4/4)</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3094892334"/>
              </p:ext>
            </p:extLst>
          </p:nvPr>
        </p:nvGraphicFramePr>
        <p:xfrm>
          <a:off x="635474" y="1413419"/>
          <a:ext cx="8701200" cy="177502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l" fontAlgn="ctr"/>
                      <a:r>
                        <a:rPr lang="en-US" altLang="ko-KR" sz="700" kern="1200" dirty="0">
                          <a:solidFill>
                            <a:schemeClr val="tx1"/>
                          </a:solidFill>
                          <a:latin typeface="+mn-ea"/>
                          <a:ea typeface="+mn-ea"/>
                          <a:cs typeface="+mn-cs"/>
                        </a:rPr>
                        <a:t>MUI-BD-06-M04</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4 - </a:t>
                      </a:r>
                      <a:r>
                        <a:rPr lang="ko-KR" altLang="en-US" sz="800" kern="1200" dirty="0">
                          <a:solidFill>
                            <a:schemeClr val="tx1"/>
                          </a:solidFill>
                          <a:latin typeface="+mn-ea"/>
                          <a:ea typeface="+mn-ea"/>
                          <a:cs typeface="+mn-cs"/>
                        </a:rPr>
                        <a:t>복수예비가격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TndrWrt_Stp4</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4 </a:t>
                      </a:r>
                      <a:r>
                        <a:rPr lang="ko-KR" altLang="en-US" sz="800" kern="1200" dirty="0">
                          <a:solidFill>
                            <a:schemeClr val="tx1"/>
                          </a:solidFill>
                          <a:latin typeface="+mn-ea"/>
                          <a:ea typeface="+mn-ea"/>
                          <a:cs typeface="+mn-cs"/>
                        </a:rPr>
                        <a:t>복수예비가격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/Stp4.tsx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01406962"/>
                  </a:ext>
                </a:extLst>
              </a:tr>
              <a:tr h="180000">
                <a:tc>
                  <a:txBody>
                    <a:bodyPr/>
                    <a:lstStyle/>
                    <a:p>
                      <a:pPr algn="l" fontAlgn="ctr"/>
                      <a:r>
                        <a:rPr lang="en-US" altLang="ko-KR" sz="700" kern="1200" dirty="0">
                          <a:solidFill>
                            <a:schemeClr val="tx1"/>
                          </a:solidFill>
                          <a:latin typeface="+mn-ea"/>
                          <a:ea typeface="+mn-ea"/>
                          <a:cs typeface="+mn-cs"/>
                        </a:rPr>
                        <a:t>MUI-BD-06-M05</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5 - </a:t>
                      </a:r>
                      <a:r>
                        <a:rPr lang="ko-KR" altLang="en-US" sz="800" kern="1200" dirty="0">
                          <a:solidFill>
                            <a:schemeClr val="tx1"/>
                          </a:solidFill>
                          <a:latin typeface="+mn-ea"/>
                          <a:ea typeface="+mn-ea"/>
                          <a:cs typeface="+mn-cs"/>
                        </a:rPr>
                        <a:t>파일첨부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TndrWrt_Stp5</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5 </a:t>
                      </a:r>
                      <a:r>
                        <a:rPr lang="ko-KR" altLang="en-US" sz="800" kern="1200" dirty="0">
                          <a:solidFill>
                            <a:schemeClr val="tx1"/>
                          </a:solidFill>
                          <a:latin typeface="+mn-ea"/>
                          <a:ea typeface="+mn-ea"/>
                          <a:cs typeface="+mn-cs"/>
                        </a:rPr>
                        <a:t>파일첨부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/Stp5.tsx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8394604"/>
                  </a:ext>
                </a:extLst>
              </a:tr>
              <a:tr h="180000">
                <a:tc>
                  <a:txBody>
                    <a:bodyPr/>
                    <a:lstStyle/>
                    <a:p>
                      <a:pPr algn="l" fontAlgn="ctr"/>
                      <a:r>
                        <a:rPr lang="en-US" altLang="ko-KR" sz="700" kern="1200" dirty="0">
                          <a:solidFill>
                            <a:schemeClr val="tx1"/>
                          </a:solidFill>
                          <a:latin typeface="+mn-ea"/>
                          <a:ea typeface="+mn-ea"/>
                          <a:cs typeface="+mn-cs"/>
                        </a:rPr>
                        <a:t>MUI-BD-06-M06</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6 - </a:t>
                      </a:r>
                      <a:r>
                        <a:rPr lang="ko-KR" altLang="en-US" sz="800" kern="1200" dirty="0" err="1">
                          <a:solidFill>
                            <a:schemeClr val="tx1"/>
                          </a:solidFill>
                          <a:latin typeface="+mn-ea"/>
                          <a:ea typeface="+mn-ea"/>
                          <a:cs typeface="+mn-cs"/>
                        </a:rPr>
                        <a:t>동가낙찰</a:t>
                      </a:r>
                      <a:r>
                        <a:rPr lang="ko-KR" altLang="en-US"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선추첨</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TndrWrt_Stp6</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6 </a:t>
                      </a:r>
                      <a:r>
                        <a:rPr lang="ko-KR" altLang="en-US" sz="800" kern="1200" dirty="0" err="1">
                          <a:solidFill>
                            <a:schemeClr val="tx1"/>
                          </a:solidFill>
                          <a:latin typeface="+mn-ea"/>
                          <a:ea typeface="+mn-ea"/>
                          <a:cs typeface="+mn-cs"/>
                        </a:rPr>
                        <a:t>동가낙찰</a:t>
                      </a:r>
                      <a:r>
                        <a:rPr lang="ko-KR" altLang="en-US"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선추첨</a:t>
                      </a:r>
                      <a:r>
                        <a:rPr lang="ko-KR" altLang="en-US" sz="800" kern="1200" dirty="0">
                          <a:solidFill>
                            <a:schemeClr val="tx1"/>
                          </a:solidFill>
                          <a:latin typeface="+mn-ea"/>
                          <a:ea typeface="+mn-ea"/>
                          <a:cs typeface="+mn-cs"/>
                        </a:rPr>
                        <a:t>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/Stp6.tsx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4626769"/>
                  </a:ext>
                </a:extLst>
              </a:tr>
              <a:tr h="180000">
                <a:tc>
                  <a:txBody>
                    <a:bodyPr/>
                    <a:lstStyle/>
                    <a:p>
                      <a:pPr algn="l" fontAlgn="ctr"/>
                      <a:r>
                        <a:rPr lang="en-US" altLang="ko-KR" sz="700" kern="1200" dirty="0">
                          <a:solidFill>
                            <a:schemeClr val="tx1"/>
                          </a:solidFill>
                          <a:latin typeface="+mn-ea"/>
                          <a:ea typeface="+mn-ea"/>
                          <a:cs typeface="+mn-cs"/>
                        </a:rPr>
                        <a:t>MUI-BD-06-M07</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7 - </a:t>
                      </a:r>
                      <a:r>
                        <a:rPr lang="ko-KR" altLang="en-US" sz="800" kern="1200" dirty="0">
                          <a:solidFill>
                            <a:schemeClr val="tx1"/>
                          </a:solidFill>
                          <a:latin typeface="+mn-ea"/>
                          <a:ea typeface="+mn-ea"/>
                          <a:cs typeface="+mn-cs"/>
                        </a:rPr>
                        <a:t>약관동의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TndrWrt_Stp7</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입찰서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7 </a:t>
                      </a:r>
                      <a:r>
                        <a:rPr lang="ko-KR" altLang="en-US" sz="800" kern="1200" dirty="0">
                          <a:solidFill>
                            <a:schemeClr val="tx1"/>
                          </a:solidFill>
                          <a:latin typeface="+mn-ea"/>
                          <a:ea typeface="+mn-ea"/>
                          <a:cs typeface="+mn-cs"/>
                        </a:rPr>
                        <a:t>약관동의 항목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/Stp7.tsx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9133277"/>
                  </a:ext>
                </a:extLst>
              </a:tr>
              <a:tr h="180000">
                <a:tc>
                  <a:txBody>
                    <a:bodyPr/>
                    <a:lstStyle/>
                    <a:p>
                      <a:pPr algn="l" fontAlgn="ctr"/>
                      <a:r>
                        <a:rPr lang="en-US" altLang="ko-KR" sz="700" kern="1200" dirty="0">
                          <a:solidFill>
                            <a:schemeClr val="tx1"/>
                          </a:solidFill>
                          <a:latin typeface="+mn-ea"/>
                          <a:ea typeface="+mn-ea"/>
                          <a:cs typeface="+mn-cs"/>
                        </a:rPr>
                        <a:t>MUI-BD-06-M08</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kern="1200" dirty="0">
                          <a:solidFill>
                            <a:srgbClr val="000000"/>
                          </a:solidFill>
                          <a:effectLst/>
                          <a:latin typeface="맑은 고딕" panose="020B0503020000020004" pitchFamily="50" charset="-127"/>
                          <a:ea typeface="+mn-ea"/>
                          <a:cs typeface="+mn-cs"/>
                        </a:rPr>
                        <a:t>신청 완료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AplyCmptn</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 참가</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입찰서</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사전심사</a:t>
                      </a:r>
                      <a:r>
                        <a:rPr lang="en-US" altLang="ko-KR" sz="800" kern="1200" dirty="0">
                          <a:solidFill>
                            <a:schemeClr val="tx1"/>
                          </a:solidFill>
                          <a:latin typeface="+mn-ea"/>
                          <a:ea typeface="+mn-ea"/>
                          <a:cs typeface="+mn-cs"/>
                        </a:rPr>
                        <a:t>(PQ) </a:t>
                      </a:r>
                      <a:r>
                        <a:rPr lang="ko-KR" altLang="en-US" sz="800" kern="1200" dirty="0">
                          <a:solidFill>
                            <a:schemeClr val="tx1"/>
                          </a:solidFill>
                          <a:latin typeface="+mn-ea"/>
                          <a:ea typeface="+mn-ea"/>
                          <a:cs typeface="+mn-cs"/>
                        </a:rPr>
                        <a:t>작성 완료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bidPrgsDtlInq</a:t>
                      </a:r>
                      <a:r>
                        <a:rPr lang="en-US" altLang="ko-KR" sz="800" dirty="0">
                          <a:solidFill>
                            <a:schemeClr val="tx1"/>
                          </a:solidFill>
                          <a:latin typeface="+mn-ea"/>
                          <a:ea typeface="+mn-ea"/>
                        </a:rPr>
                        <a:t>/</a:t>
                      </a:r>
                      <a:r>
                        <a:rPr lang="en-US" altLang="ko-KR" sz="800" dirty="0" err="1">
                          <a:solidFill>
                            <a:schemeClr val="tx1"/>
                          </a:solidFill>
                          <a:latin typeface="+mn-ea"/>
                          <a:ea typeface="+mn-ea"/>
                        </a:rPr>
                        <a:t>AplyCmptn.tsx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8641058"/>
                  </a:ext>
                </a:extLst>
              </a:tr>
            </a:tbl>
          </a:graphicData>
        </a:graphic>
      </p:graphicFrame>
      <p:sp>
        <p:nvSpPr>
          <p:cNvPr id="6"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66861239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모서리가 둥근 직사각형 3"/>
          <p:cNvSpPr/>
          <p:nvPr/>
        </p:nvSpPr>
        <p:spPr>
          <a:xfrm>
            <a:off x="5850467" y="3621225"/>
            <a:ext cx="1236133" cy="2804975"/>
          </a:xfrm>
          <a:prstGeom prst="roundRect">
            <a:avLst>
              <a:gd name="adj" fmla="val 7763"/>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61</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5.2. </a:t>
            </a:r>
            <a:r>
              <a:rPr lang="ko-KR" altLang="en-US" dirty="0"/>
              <a:t>화면 흐름도 </a:t>
            </a:r>
            <a:r>
              <a:rPr lang="en-US" altLang="ko-KR" dirty="0"/>
              <a:t>– </a:t>
            </a:r>
            <a:r>
              <a:rPr lang="ko-KR" altLang="en-US" dirty="0"/>
              <a:t>입찰서 작성</a:t>
            </a: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70"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사전심사</a:t>
            </a:r>
            <a:r>
              <a:rPr lang="en-US" altLang="ko-KR" sz="800" dirty="0">
                <a:solidFill>
                  <a:schemeClr val="tx1"/>
                </a:solidFill>
              </a:rPr>
              <a:t>(PQ)</a:t>
            </a:r>
          </a:p>
          <a:p>
            <a:pPr algn="ctr"/>
            <a:r>
              <a:rPr lang="ko-KR" altLang="en-US" sz="800" dirty="0">
                <a:solidFill>
                  <a:schemeClr val="tx1"/>
                </a:solidFill>
              </a:rPr>
              <a:t>신청</a:t>
            </a:r>
          </a:p>
        </p:txBody>
      </p:sp>
      <p:sp>
        <p:nvSpPr>
          <p:cNvPr id="62" name="직사각형 61">
            <a:extLst>
              <a:ext uri="{FF2B5EF4-FFF2-40B4-BE49-F238E27FC236}">
                <a16:creationId xmlns:a16="http://schemas.microsoft.com/office/drawing/2014/main" id="{23C86455-E84C-0CEA-5C6B-05BE50ADCEF5}"/>
              </a:ext>
            </a:extLst>
          </p:cNvPr>
          <p:cNvSpPr/>
          <p:nvPr/>
        </p:nvSpPr>
        <p:spPr>
          <a:xfrm>
            <a:off x="1019263" y="1453298"/>
            <a:ext cx="65242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로그인 사용자</a:t>
            </a:r>
            <a:endParaRPr lang="en-US" altLang="ko-KR" sz="800" b="1" dirty="0">
              <a:solidFill>
                <a:schemeClr val="tx1"/>
              </a:solidFill>
            </a:endParaRPr>
          </a:p>
          <a:p>
            <a:pPr algn="ctr"/>
            <a:r>
              <a:rPr lang="en-US" altLang="ko-KR" sz="800" b="1" dirty="0">
                <a:solidFill>
                  <a:schemeClr val="tx1"/>
                </a:solidFill>
              </a:rPr>
              <a:t>(</a:t>
            </a:r>
            <a:r>
              <a:rPr lang="ko-KR" altLang="en-US" sz="800" b="1" dirty="0">
                <a:solidFill>
                  <a:schemeClr val="tx1"/>
                </a:solidFill>
              </a:rPr>
              <a:t>업체 담당자</a:t>
            </a:r>
            <a:r>
              <a:rPr lang="en-US" altLang="ko-KR" sz="800" b="1" dirty="0">
                <a:solidFill>
                  <a:schemeClr val="tx1"/>
                </a:solidFill>
              </a:rPr>
              <a:t>)</a:t>
            </a:r>
            <a:endParaRPr lang="ko-KR" altLang="en-US" sz="800" b="1" dirty="0">
              <a:solidFill>
                <a:schemeClr val="tx1"/>
              </a:solidFill>
            </a:endParaRPr>
          </a:p>
        </p:txBody>
      </p:sp>
      <p:sp>
        <p:nvSpPr>
          <p:cNvPr id="78" name="직사각형 77">
            <a:extLst>
              <a:ext uri="{FF2B5EF4-FFF2-40B4-BE49-F238E27FC236}">
                <a16:creationId xmlns:a16="http://schemas.microsoft.com/office/drawing/2014/main" id="{4FB9FCCA-B5F3-C0E2-F563-4F0CE0FC24CF}"/>
              </a:ext>
            </a:extLst>
          </p:cNvPr>
          <p:cNvSpPr/>
          <p:nvPr/>
        </p:nvSpPr>
        <p:spPr>
          <a:xfrm>
            <a:off x="8120259" y="3917413"/>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79" name="그룹 78">
            <a:extLst>
              <a:ext uri="{FF2B5EF4-FFF2-40B4-BE49-F238E27FC236}">
                <a16:creationId xmlns:a16="http://schemas.microsoft.com/office/drawing/2014/main" id="{E7279F6C-9434-7961-8F6B-B7AE44CE5FCD}"/>
              </a:ext>
            </a:extLst>
          </p:cNvPr>
          <p:cNvGrpSpPr/>
          <p:nvPr/>
        </p:nvGrpSpPr>
        <p:grpSpPr>
          <a:xfrm>
            <a:off x="8149256" y="3728314"/>
            <a:ext cx="180000" cy="180000"/>
            <a:chOff x="5058274" y="2498299"/>
            <a:chExt cx="180000" cy="180000"/>
          </a:xfrm>
        </p:grpSpPr>
        <p:sp>
          <p:nvSpPr>
            <p:cNvPr id="80" name="타원 79">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타원 83">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38" name="사각형: 둥근 모서리 5">
            <a:extLst>
              <a:ext uri="{FF2B5EF4-FFF2-40B4-BE49-F238E27FC236}">
                <a16:creationId xmlns:a16="http://schemas.microsoft.com/office/drawing/2014/main" id="{410E5459-200D-7630-863C-88E5109259DF}"/>
              </a:ext>
            </a:extLst>
          </p:cNvPr>
          <p:cNvSpPr/>
          <p:nvPr/>
        </p:nvSpPr>
        <p:spPr>
          <a:xfrm>
            <a:off x="4197742"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입찰참가신청서</a:t>
            </a:r>
          </a:p>
        </p:txBody>
      </p:sp>
      <p:sp>
        <p:nvSpPr>
          <p:cNvPr id="40" name="사각형: 둥근 모서리 5">
            <a:extLst>
              <a:ext uri="{FF2B5EF4-FFF2-40B4-BE49-F238E27FC236}">
                <a16:creationId xmlns:a16="http://schemas.microsoft.com/office/drawing/2014/main" id="{410E5459-200D-7630-863C-88E5109259DF}"/>
              </a:ext>
            </a:extLst>
          </p:cNvPr>
          <p:cNvSpPr/>
          <p:nvPr/>
        </p:nvSpPr>
        <p:spPr>
          <a:xfrm>
            <a:off x="6028876"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입찰참가 신청서</a:t>
            </a:r>
            <a:endParaRPr lang="en-US" altLang="ko-KR" sz="800" dirty="0">
              <a:solidFill>
                <a:schemeClr val="tx1"/>
              </a:solidFill>
            </a:endParaRPr>
          </a:p>
          <a:p>
            <a:pPr algn="ctr"/>
            <a:r>
              <a:rPr lang="ko-KR" altLang="en-US" sz="800" dirty="0">
                <a:solidFill>
                  <a:schemeClr val="tx1"/>
                </a:solidFill>
              </a:rPr>
              <a:t>작성 </a:t>
            </a:r>
            <a:r>
              <a:rPr lang="en-US" altLang="ko-KR" sz="800" dirty="0">
                <a:solidFill>
                  <a:schemeClr val="tx1"/>
                </a:solidFill>
              </a:rPr>
              <a:t>step</a:t>
            </a:r>
            <a:endParaRPr lang="ko-KR" altLang="en-US" sz="800" dirty="0">
              <a:solidFill>
                <a:schemeClr val="tx1"/>
              </a:solidFill>
            </a:endParaRPr>
          </a:p>
        </p:txBody>
      </p:sp>
      <p:cxnSp>
        <p:nvCxnSpPr>
          <p:cNvPr id="60" name="연결선: 꺾임 7">
            <a:extLst>
              <a:ext uri="{FF2B5EF4-FFF2-40B4-BE49-F238E27FC236}">
                <a16:creationId xmlns:a16="http://schemas.microsoft.com/office/drawing/2014/main" id="{89A2D828-4C18-4F90-6B31-722E89773AA8}"/>
              </a:ext>
            </a:extLst>
          </p:cNvPr>
          <p:cNvCxnSpPr>
            <a:cxnSpLocks/>
            <a:stCxn id="88" idx="3"/>
            <a:endCxn id="70" idx="1"/>
          </p:cNvCxnSpPr>
          <p:nvPr/>
        </p:nvCxnSpPr>
        <p:spPr>
          <a:xfrm flipV="1">
            <a:off x="1795474" y="1772964"/>
            <a:ext cx="571134" cy="681895"/>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직사각형 70">
            <a:extLst>
              <a:ext uri="{FF2B5EF4-FFF2-40B4-BE49-F238E27FC236}">
                <a16:creationId xmlns:a16="http://schemas.microsoft.com/office/drawing/2014/main" id="{F249990F-1DE5-C694-BDBD-2DE7009D57EA}"/>
              </a:ext>
            </a:extLst>
          </p:cNvPr>
          <p:cNvSpPr/>
          <p:nvPr/>
        </p:nvSpPr>
        <p:spPr>
          <a:xfrm>
            <a:off x="1439373" y="2875820"/>
            <a:ext cx="5770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Y</a:t>
            </a:r>
            <a:endParaRPr lang="ko-KR" altLang="en-US" sz="800" dirty="0">
              <a:solidFill>
                <a:schemeClr val="tx1"/>
              </a:solidFill>
            </a:endParaRPr>
          </a:p>
        </p:txBody>
      </p:sp>
      <p:sp>
        <p:nvSpPr>
          <p:cNvPr id="88" name="다이아몬드 87"/>
          <p:cNvSpPr/>
          <p:nvPr/>
        </p:nvSpPr>
        <p:spPr>
          <a:xfrm>
            <a:off x="895474" y="2310859"/>
            <a:ext cx="900000" cy="288000"/>
          </a:xfrm>
          <a:prstGeom prst="diamond">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기신청</a:t>
            </a:r>
            <a:endParaRPr lang="ko-KR" altLang="en-US" sz="800" dirty="0">
              <a:solidFill>
                <a:schemeClr val="tx1"/>
              </a:solidFill>
            </a:endParaRPr>
          </a:p>
        </p:txBody>
      </p:sp>
      <p:sp>
        <p:nvSpPr>
          <p:cNvPr id="90" name="직사각형 89">
            <a:extLst>
              <a:ext uri="{FF2B5EF4-FFF2-40B4-BE49-F238E27FC236}">
                <a16:creationId xmlns:a16="http://schemas.microsoft.com/office/drawing/2014/main" id="{F249990F-1DE5-C694-BDBD-2DE7009D57EA}"/>
              </a:ext>
            </a:extLst>
          </p:cNvPr>
          <p:cNvSpPr/>
          <p:nvPr/>
        </p:nvSpPr>
        <p:spPr>
          <a:xfrm>
            <a:off x="1716926" y="2184639"/>
            <a:ext cx="7854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en-US" altLang="ko-KR" sz="800" dirty="0">
                <a:solidFill>
                  <a:schemeClr val="tx1"/>
                </a:solidFill>
              </a:rPr>
              <a:t>N</a:t>
            </a:r>
            <a:endParaRPr lang="ko-KR" altLang="en-US" sz="800" dirty="0">
              <a:solidFill>
                <a:schemeClr val="tx1"/>
              </a:solidFill>
            </a:endParaRPr>
          </a:p>
        </p:txBody>
      </p:sp>
      <p:cxnSp>
        <p:nvCxnSpPr>
          <p:cNvPr id="93" name="직선 화살표 연결선 92">
            <a:extLst>
              <a:ext uri="{FF2B5EF4-FFF2-40B4-BE49-F238E27FC236}">
                <a16:creationId xmlns:a16="http://schemas.microsoft.com/office/drawing/2014/main" id="{9A519F08-B829-E35F-09D8-DFCD1F68B911}"/>
              </a:ext>
            </a:extLst>
          </p:cNvPr>
          <p:cNvCxnSpPr>
            <a:cxnSpLocks/>
            <a:stCxn id="10" idx="2"/>
            <a:endCxn id="88" idx="0"/>
          </p:cNvCxnSpPr>
          <p:nvPr/>
        </p:nvCxnSpPr>
        <p:spPr>
          <a:xfrm flipH="1">
            <a:off x="1345474" y="1999947"/>
            <a:ext cx="2137" cy="3109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7" name="사각형: 둥근 모서리 5">
            <a:extLst>
              <a:ext uri="{FF2B5EF4-FFF2-40B4-BE49-F238E27FC236}">
                <a16:creationId xmlns:a16="http://schemas.microsoft.com/office/drawing/2014/main" id="{410E5459-200D-7630-863C-88E5109259DF}"/>
              </a:ext>
            </a:extLst>
          </p:cNvPr>
          <p:cNvSpPr/>
          <p:nvPr/>
        </p:nvSpPr>
        <p:spPr>
          <a:xfrm>
            <a:off x="6028876" y="367431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생산능력</a:t>
            </a:r>
            <a:endParaRPr lang="en-US" altLang="ko-KR" sz="800" dirty="0">
              <a:solidFill>
                <a:schemeClr val="tx1"/>
              </a:solidFill>
            </a:endParaRPr>
          </a:p>
          <a:p>
            <a:pPr algn="ctr"/>
            <a:r>
              <a:rPr lang="ko-KR" altLang="en-US" sz="800" dirty="0">
                <a:solidFill>
                  <a:schemeClr val="tx1"/>
                </a:solidFill>
              </a:rPr>
              <a:t>서류제출</a:t>
            </a:r>
          </a:p>
        </p:txBody>
      </p:sp>
      <p:sp>
        <p:nvSpPr>
          <p:cNvPr id="98" name="사각형: 둥근 모서리 5">
            <a:extLst>
              <a:ext uri="{FF2B5EF4-FFF2-40B4-BE49-F238E27FC236}">
                <a16:creationId xmlns:a16="http://schemas.microsoft.com/office/drawing/2014/main" id="{410E5459-200D-7630-863C-88E5109259DF}"/>
              </a:ext>
            </a:extLst>
          </p:cNvPr>
          <p:cNvSpPr/>
          <p:nvPr/>
        </p:nvSpPr>
        <p:spPr>
          <a:xfrm>
            <a:off x="6028876" y="4312442"/>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기술평가</a:t>
            </a:r>
            <a:endParaRPr lang="en-US" altLang="ko-KR" sz="800" dirty="0">
              <a:solidFill>
                <a:schemeClr val="tx1"/>
              </a:solidFill>
            </a:endParaRPr>
          </a:p>
          <a:p>
            <a:pPr algn="ctr"/>
            <a:r>
              <a:rPr lang="ko-KR" altLang="en-US" sz="800" dirty="0" err="1">
                <a:solidFill>
                  <a:schemeClr val="tx1"/>
                </a:solidFill>
              </a:rPr>
              <a:t>결과조회</a:t>
            </a:r>
            <a:endParaRPr lang="ko-KR" altLang="en-US" sz="800" dirty="0">
              <a:solidFill>
                <a:schemeClr val="tx1"/>
              </a:solidFill>
            </a:endParaRPr>
          </a:p>
        </p:txBody>
      </p:sp>
      <p:sp>
        <p:nvSpPr>
          <p:cNvPr id="99" name="사각형: 둥근 모서리 5">
            <a:extLst>
              <a:ext uri="{FF2B5EF4-FFF2-40B4-BE49-F238E27FC236}">
                <a16:creationId xmlns:a16="http://schemas.microsoft.com/office/drawing/2014/main" id="{410E5459-200D-7630-863C-88E5109259DF}"/>
              </a:ext>
            </a:extLst>
          </p:cNvPr>
          <p:cNvSpPr/>
          <p:nvPr/>
        </p:nvSpPr>
        <p:spPr>
          <a:xfrm>
            <a:off x="6028876" y="4950570"/>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입찰포기</a:t>
            </a:r>
            <a:r>
              <a:rPr lang="en-US" altLang="ko-KR" sz="800" dirty="0">
                <a:solidFill>
                  <a:schemeClr val="tx1"/>
                </a:solidFill>
              </a:rPr>
              <a:t>/</a:t>
            </a:r>
            <a:r>
              <a:rPr lang="ko-KR" altLang="en-US" sz="800" dirty="0">
                <a:solidFill>
                  <a:schemeClr val="tx1"/>
                </a:solidFill>
              </a:rPr>
              <a:t>취소</a:t>
            </a:r>
            <a:endParaRPr lang="en-US" altLang="ko-KR" sz="800" dirty="0">
              <a:solidFill>
                <a:schemeClr val="tx1"/>
              </a:solidFill>
            </a:endParaRPr>
          </a:p>
          <a:p>
            <a:pPr algn="ctr"/>
            <a:r>
              <a:rPr lang="ko-KR" altLang="en-US" sz="800" dirty="0">
                <a:solidFill>
                  <a:schemeClr val="tx1"/>
                </a:solidFill>
              </a:rPr>
              <a:t>신청서</a:t>
            </a:r>
          </a:p>
        </p:txBody>
      </p:sp>
      <p:cxnSp>
        <p:nvCxnSpPr>
          <p:cNvPr id="100" name="직선 화살표 연결선 99">
            <a:extLst>
              <a:ext uri="{FF2B5EF4-FFF2-40B4-BE49-F238E27FC236}">
                <a16:creationId xmlns:a16="http://schemas.microsoft.com/office/drawing/2014/main" id="{9A519F08-B829-E35F-09D8-DFCD1F68B911}"/>
              </a:ext>
            </a:extLst>
          </p:cNvPr>
          <p:cNvCxnSpPr>
            <a:cxnSpLocks/>
            <a:stCxn id="38" idx="3"/>
            <a:endCxn id="40" idx="1"/>
          </p:cNvCxnSpPr>
          <p:nvPr/>
        </p:nvCxnSpPr>
        <p:spPr>
          <a:xfrm>
            <a:off x="5097742" y="2454859"/>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1" name="사각형: 둥근 모서리 5">
            <a:extLst>
              <a:ext uri="{FF2B5EF4-FFF2-40B4-BE49-F238E27FC236}">
                <a16:creationId xmlns:a16="http://schemas.microsoft.com/office/drawing/2014/main" id="{410E5459-200D-7630-863C-88E5109259DF}"/>
              </a:ext>
            </a:extLst>
          </p:cNvPr>
          <p:cNvSpPr/>
          <p:nvPr/>
        </p:nvSpPr>
        <p:spPr>
          <a:xfrm>
            <a:off x="6028876" y="299893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입찰서 </a:t>
            </a:r>
            <a:r>
              <a:rPr lang="en-US" altLang="ko-KR" sz="800" dirty="0">
                <a:solidFill>
                  <a:schemeClr val="tx1"/>
                </a:solidFill>
              </a:rPr>
              <a:t>(</a:t>
            </a:r>
            <a:r>
              <a:rPr lang="ko-KR" altLang="en-US" sz="800" dirty="0">
                <a:solidFill>
                  <a:schemeClr val="tx1"/>
                </a:solidFill>
              </a:rPr>
              <a:t>견적서</a:t>
            </a:r>
            <a:r>
              <a:rPr lang="en-US" altLang="ko-KR" sz="800" dirty="0">
                <a:solidFill>
                  <a:schemeClr val="tx1"/>
                </a:solidFill>
              </a:rPr>
              <a:t>)</a:t>
            </a:r>
          </a:p>
          <a:p>
            <a:pPr algn="ctr"/>
            <a:r>
              <a:rPr lang="ko-KR" altLang="en-US" sz="800" dirty="0">
                <a:solidFill>
                  <a:schemeClr val="tx1"/>
                </a:solidFill>
              </a:rPr>
              <a:t>작성 </a:t>
            </a:r>
            <a:r>
              <a:rPr lang="en-US" altLang="ko-KR" sz="800" dirty="0">
                <a:solidFill>
                  <a:schemeClr val="tx1"/>
                </a:solidFill>
              </a:rPr>
              <a:t>step</a:t>
            </a:r>
            <a:endParaRPr lang="ko-KR" altLang="en-US" sz="800" dirty="0">
              <a:solidFill>
                <a:schemeClr val="tx1"/>
              </a:solidFill>
            </a:endParaRPr>
          </a:p>
        </p:txBody>
      </p:sp>
      <p:sp>
        <p:nvSpPr>
          <p:cNvPr id="108" name="사각형: 둥근 모서리 5">
            <a:extLst>
              <a:ext uri="{FF2B5EF4-FFF2-40B4-BE49-F238E27FC236}">
                <a16:creationId xmlns:a16="http://schemas.microsoft.com/office/drawing/2014/main" id="{410E5459-200D-7630-863C-88E5109259DF}"/>
              </a:ext>
            </a:extLst>
          </p:cNvPr>
          <p:cNvSpPr/>
          <p:nvPr/>
        </p:nvSpPr>
        <p:spPr>
          <a:xfrm>
            <a:off x="7789256"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보증금면제사유</a:t>
            </a:r>
            <a:endParaRPr lang="en-US" altLang="ko-KR" sz="800" dirty="0">
              <a:solidFill>
                <a:schemeClr val="tx1"/>
              </a:solidFill>
            </a:endParaRPr>
          </a:p>
          <a:p>
            <a:pPr algn="ctr"/>
            <a:r>
              <a:rPr lang="ko-KR" altLang="en-US" sz="800" dirty="0">
                <a:solidFill>
                  <a:schemeClr val="tx1"/>
                </a:solidFill>
              </a:rPr>
              <a:t>상세설명</a:t>
            </a:r>
          </a:p>
        </p:txBody>
      </p:sp>
      <p:sp>
        <p:nvSpPr>
          <p:cNvPr id="118" name="사각형: 둥근 모서리 5">
            <a:extLst>
              <a:ext uri="{FF2B5EF4-FFF2-40B4-BE49-F238E27FC236}">
                <a16:creationId xmlns:a16="http://schemas.microsoft.com/office/drawing/2014/main" id="{410E5459-200D-7630-863C-88E5109259DF}"/>
              </a:ext>
            </a:extLst>
          </p:cNvPr>
          <p:cNvSpPr/>
          <p:nvPr/>
        </p:nvSpPr>
        <p:spPr>
          <a:xfrm>
            <a:off x="6028876" y="558869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입찰참가등록반려 신청</a:t>
            </a:r>
          </a:p>
        </p:txBody>
      </p:sp>
      <p:sp>
        <p:nvSpPr>
          <p:cNvPr id="122" name="사각형: 둥근 모서리 5">
            <a:extLst>
              <a:ext uri="{FF2B5EF4-FFF2-40B4-BE49-F238E27FC236}">
                <a16:creationId xmlns:a16="http://schemas.microsoft.com/office/drawing/2014/main" id="{410E5459-200D-7630-863C-88E5109259DF}"/>
              </a:ext>
            </a:extLst>
          </p:cNvPr>
          <p:cNvSpPr/>
          <p:nvPr/>
        </p:nvSpPr>
        <p:spPr>
          <a:xfrm>
            <a:off x="2362365" y="231085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서약서 동의</a:t>
            </a:r>
          </a:p>
        </p:txBody>
      </p:sp>
      <p:cxnSp>
        <p:nvCxnSpPr>
          <p:cNvPr id="123" name="직선 화살표 연결선 122">
            <a:extLst>
              <a:ext uri="{FF2B5EF4-FFF2-40B4-BE49-F238E27FC236}">
                <a16:creationId xmlns:a16="http://schemas.microsoft.com/office/drawing/2014/main" id="{9A519F08-B829-E35F-09D8-DFCD1F68B911}"/>
              </a:ext>
            </a:extLst>
          </p:cNvPr>
          <p:cNvCxnSpPr>
            <a:cxnSpLocks/>
            <a:stCxn id="88" idx="3"/>
            <a:endCxn id="122" idx="1"/>
          </p:cNvCxnSpPr>
          <p:nvPr/>
        </p:nvCxnSpPr>
        <p:spPr>
          <a:xfrm>
            <a:off x="1795474" y="2454859"/>
            <a:ext cx="566891"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6" name="사각형: 둥근 모서리 5">
            <a:extLst>
              <a:ext uri="{FF2B5EF4-FFF2-40B4-BE49-F238E27FC236}">
                <a16:creationId xmlns:a16="http://schemas.microsoft.com/office/drawing/2014/main" id="{410E5459-200D-7630-863C-88E5109259DF}"/>
              </a:ext>
            </a:extLst>
          </p:cNvPr>
          <p:cNvSpPr/>
          <p:nvPr/>
        </p:nvSpPr>
        <p:spPr>
          <a:xfrm>
            <a:off x="2362365" y="367464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입찰진행</a:t>
            </a:r>
            <a:r>
              <a:rPr lang="ko-KR" altLang="en-US" sz="800" dirty="0">
                <a:solidFill>
                  <a:schemeClr val="tx1"/>
                </a:solidFill>
              </a:rPr>
              <a:t> 목록</a:t>
            </a:r>
            <a:endParaRPr lang="en-US" altLang="ko-KR" sz="800" dirty="0">
              <a:solidFill>
                <a:schemeClr val="tx1"/>
              </a:solidFill>
            </a:endParaRPr>
          </a:p>
          <a:p>
            <a:pPr algn="ctr"/>
            <a:r>
              <a:rPr lang="en-US" altLang="ko-KR" sz="800" dirty="0">
                <a:solidFill>
                  <a:schemeClr val="tx1"/>
                </a:solidFill>
              </a:rPr>
              <a:t>(</a:t>
            </a:r>
            <a:r>
              <a:rPr lang="ko-KR" altLang="en-US" sz="800" dirty="0" err="1">
                <a:solidFill>
                  <a:schemeClr val="tx1"/>
                </a:solidFill>
              </a:rPr>
              <a:t>조달업체</a:t>
            </a:r>
            <a:r>
              <a:rPr lang="en-US" altLang="ko-KR" sz="800" dirty="0">
                <a:solidFill>
                  <a:schemeClr val="tx1"/>
                </a:solidFill>
              </a:rPr>
              <a:t>)</a:t>
            </a:r>
            <a:endParaRPr lang="ko-KR" altLang="en-US" sz="800" dirty="0">
              <a:solidFill>
                <a:schemeClr val="tx1"/>
              </a:solidFill>
            </a:endParaRPr>
          </a:p>
        </p:txBody>
      </p:sp>
      <p:cxnSp>
        <p:nvCxnSpPr>
          <p:cNvPr id="127" name="연결선: 꺾임 7">
            <a:extLst>
              <a:ext uri="{FF2B5EF4-FFF2-40B4-BE49-F238E27FC236}">
                <a16:creationId xmlns:a16="http://schemas.microsoft.com/office/drawing/2014/main" id="{89A2D828-4C18-4F90-6B31-722E89773AA8}"/>
              </a:ext>
            </a:extLst>
          </p:cNvPr>
          <p:cNvCxnSpPr>
            <a:cxnSpLocks/>
            <a:stCxn id="88" idx="2"/>
            <a:endCxn id="126" idx="1"/>
          </p:cNvCxnSpPr>
          <p:nvPr/>
        </p:nvCxnSpPr>
        <p:spPr>
          <a:xfrm rot="16200000" flipH="1">
            <a:off x="1244024" y="2700308"/>
            <a:ext cx="1219790" cy="101689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직선 화살표 연결선 132">
            <a:extLst>
              <a:ext uri="{FF2B5EF4-FFF2-40B4-BE49-F238E27FC236}">
                <a16:creationId xmlns:a16="http://schemas.microsoft.com/office/drawing/2014/main" id="{9A519F08-B829-E35F-09D8-DFCD1F68B911}"/>
              </a:ext>
            </a:extLst>
          </p:cNvPr>
          <p:cNvCxnSpPr>
            <a:cxnSpLocks/>
            <a:stCxn id="122" idx="3"/>
            <a:endCxn id="38" idx="1"/>
          </p:cNvCxnSpPr>
          <p:nvPr/>
        </p:nvCxnSpPr>
        <p:spPr>
          <a:xfrm>
            <a:off x="3262365" y="2454859"/>
            <a:ext cx="93537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직선 화살표 연결선 137">
            <a:extLst>
              <a:ext uri="{FF2B5EF4-FFF2-40B4-BE49-F238E27FC236}">
                <a16:creationId xmlns:a16="http://schemas.microsoft.com/office/drawing/2014/main" id="{9A519F08-B829-E35F-09D8-DFCD1F68B911}"/>
              </a:ext>
            </a:extLst>
          </p:cNvPr>
          <p:cNvCxnSpPr>
            <a:cxnSpLocks/>
            <a:stCxn id="126" idx="3"/>
            <a:endCxn id="149" idx="1"/>
          </p:cNvCxnSpPr>
          <p:nvPr/>
        </p:nvCxnSpPr>
        <p:spPr>
          <a:xfrm flipV="1">
            <a:off x="3262365" y="3818314"/>
            <a:ext cx="935377" cy="33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9" name="사각형: 둥근 모서리 5">
            <a:extLst>
              <a:ext uri="{FF2B5EF4-FFF2-40B4-BE49-F238E27FC236}">
                <a16:creationId xmlns:a16="http://schemas.microsoft.com/office/drawing/2014/main" id="{410E5459-200D-7630-863C-88E5109259DF}"/>
              </a:ext>
            </a:extLst>
          </p:cNvPr>
          <p:cNvSpPr/>
          <p:nvPr/>
        </p:nvSpPr>
        <p:spPr>
          <a:xfrm>
            <a:off x="4197742" y="367431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각 신청 상세</a:t>
            </a:r>
          </a:p>
        </p:txBody>
      </p:sp>
      <p:sp>
        <p:nvSpPr>
          <p:cNvPr id="153" name="직사각형 152">
            <a:extLst>
              <a:ext uri="{FF2B5EF4-FFF2-40B4-BE49-F238E27FC236}">
                <a16:creationId xmlns:a16="http://schemas.microsoft.com/office/drawing/2014/main" id="{F249990F-1DE5-C694-BDBD-2DE7009D57EA}"/>
              </a:ext>
            </a:extLst>
          </p:cNvPr>
          <p:cNvSpPr/>
          <p:nvPr/>
        </p:nvSpPr>
        <p:spPr>
          <a:xfrm>
            <a:off x="2362365" y="3551203"/>
            <a:ext cx="68929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신청 내역 표시</a:t>
            </a:r>
          </a:p>
        </p:txBody>
      </p:sp>
      <p:cxnSp>
        <p:nvCxnSpPr>
          <p:cNvPr id="154" name="직선 화살표 연결선 153">
            <a:extLst>
              <a:ext uri="{FF2B5EF4-FFF2-40B4-BE49-F238E27FC236}">
                <a16:creationId xmlns:a16="http://schemas.microsoft.com/office/drawing/2014/main" id="{9A519F08-B829-E35F-09D8-DFCD1F68B911}"/>
              </a:ext>
            </a:extLst>
          </p:cNvPr>
          <p:cNvCxnSpPr>
            <a:cxnSpLocks/>
            <a:stCxn id="149" idx="3"/>
            <a:endCxn id="97" idx="1"/>
          </p:cNvCxnSpPr>
          <p:nvPr/>
        </p:nvCxnSpPr>
        <p:spPr>
          <a:xfrm>
            <a:off x="5097742" y="381831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7" name="연결선: 꺾임 7">
            <a:extLst>
              <a:ext uri="{FF2B5EF4-FFF2-40B4-BE49-F238E27FC236}">
                <a16:creationId xmlns:a16="http://schemas.microsoft.com/office/drawing/2014/main" id="{89A2D828-4C18-4F90-6B31-722E89773AA8}"/>
              </a:ext>
            </a:extLst>
          </p:cNvPr>
          <p:cNvCxnSpPr>
            <a:cxnSpLocks/>
            <a:stCxn id="149" idx="3"/>
            <a:endCxn id="98" idx="1"/>
          </p:cNvCxnSpPr>
          <p:nvPr/>
        </p:nvCxnSpPr>
        <p:spPr>
          <a:xfrm>
            <a:off x="5097742" y="3818314"/>
            <a:ext cx="931134" cy="638128"/>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0" name="연결선: 꺾임 7">
            <a:extLst>
              <a:ext uri="{FF2B5EF4-FFF2-40B4-BE49-F238E27FC236}">
                <a16:creationId xmlns:a16="http://schemas.microsoft.com/office/drawing/2014/main" id="{89A2D828-4C18-4F90-6B31-722E89773AA8}"/>
              </a:ext>
            </a:extLst>
          </p:cNvPr>
          <p:cNvCxnSpPr>
            <a:cxnSpLocks/>
            <a:stCxn id="149" idx="3"/>
            <a:endCxn id="99" idx="1"/>
          </p:cNvCxnSpPr>
          <p:nvPr/>
        </p:nvCxnSpPr>
        <p:spPr>
          <a:xfrm>
            <a:off x="5097742" y="3818314"/>
            <a:ext cx="931134" cy="1276256"/>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3" name="연결선: 꺾임 7">
            <a:extLst>
              <a:ext uri="{FF2B5EF4-FFF2-40B4-BE49-F238E27FC236}">
                <a16:creationId xmlns:a16="http://schemas.microsoft.com/office/drawing/2014/main" id="{89A2D828-4C18-4F90-6B31-722E89773AA8}"/>
              </a:ext>
            </a:extLst>
          </p:cNvPr>
          <p:cNvCxnSpPr>
            <a:cxnSpLocks/>
            <a:stCxn id="149" idx="3"/>
            <a:endCxn id="118" idx="1"/>
          </p:cNvCxnSpPr>
          <p:nvPr/>
        </p:nvCxnSpPr>
        <p:spPr>
          <a:xfrm>
            <a:off x="5097742" y="3818314"/>
            <a:ext cx="931134" cy="191438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0" name="직사각형 169">
            <a:extLst>
              <a:ext uri="{FF2B5EF4-FFF2-40B4-BE49-F238E27FC236}">
                <a16:creationId xmlns:a16="http://schemas.microsoft.com/office/drawing/2014/main" id="{F249990F-1DE5-C694-BDBD-2DE7009D57EA}"/>
              </a:ext>
            </a:extLst>
          </p:cNvPr>
          <p:cNvSpPr/>
          <p:nvPr/>
        </p:nvSpPr>
        <p:spPr>
          <a:xfrm>
            <a:off x="2362364" y="1510797"/>
            <a:ext cx="652423"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a:solidFill>
                  <a:schemeClr val="tx1"/>
                </a:solidFill>
              </a:rPr>
              <a:t>공고에서 진입</a:t>
            </a:r>
            <a:endParaRPr lang="ko-KR" altLang="en-US" sz="800" dirty="0">
              <a:solidFill>
                <a:schemeClr val="tx1"/>
              </a:solidFill>
            </a:endParaRPr>
          </a:p>
        </p:txBody>
      </p:sp>
      <p:sp>
        <p:nvSpPr>
          <p:cNvPr id="171" name="직사각형 170">
            <a:extLst>
              <a:ext uri="{FF2B5EF4-FFF2-40B4-BE49-F238E27FC236}">
                <a16:creationId xmlns:a16="http://schemas.microsoft.com/office/drawing/2014/main" id="{F249990F-1DE5-C694-BDBD-2DE7009D57EA}"/>
              </a:ext>
            </a:extLst>
          </p:cNvPr>
          <p:cNvSpPr/>
          <p:nvPr/>
        </p:nvSpPr>
        <p:spPr>
          <a:xfrm>
            <a:off x="2362364" y="2182045"/>
            <a:ext cx="652423"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a:solidFill>
                  <a:schemeClr val="tx1"/>
                </a:solidFill>
              </a:rPr>
              <a:t>공고에서 진입</a:t>
            </a:r>
            <a:endParaRPr lang="ko-KR" altLang="en-US" sz="800" dirty="0">
              <a:solidFill>
                <a:schemeClr val="tx1"/>
              </a:solidFill>
            </a:endParaRPr>
          </a:p>
        </p:txBody>
      </p:sp>
      <p:sp>
        <p:nvSpPr>
          <p:cNvPr id="174" name="사각형: 둥근 모서리 5">
            <a:extLst>
              <a:ext uri="{FF2B5EF4-FFF2-40B4-BE49-F238E27FC236}">
                <a16:creationId xmlns:a16="http://schemas.microsoft.com/office/drawing/2014/main" id="{410E5459-200D-7630-863C-88E5109259DF}"/>
              </a:ext>
            </a:extLst>
          </p:cNvPr>
          <p:cNvSpPr/>
          <p:nvPr/>
        </p:nvSpPr>
        <p:spPr>
          <a:xfrm>
            <a:off x="4197742" y="299893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입찰서</a:t>
            </a:r>
            <a:endParaRPr lang="en-US" altLang="ko-KR" sz="800" dirty="0">
              <a:solidFill>
                <a:schemeClr val="tx1"/>
              </a:solidFill>
            </a:endParaRPr>
          </a:p>
          <a:p>
            <a:pPr algn="ctr"/>
            <a:r>
              <a:rPr lang="en-US" altLang="ko-KR" sz="800" dirty="0">
                <a:solidFill>
                  <a:schemeClr val="tx1"/>
                </a:solidFill>
              </a:rPr>
              <a:t>(</a:t>
            </a:r>
            <a:r>
              <a:rPr lang="ko-KR" altLang="en-US" sz="800" dirty="0">
                <a:solidFill>
                  <a:schemeClr val="tx1"/>
                </a:solidFill>
              </a:rPr>
              <a:t>견적서</a:t>
            </a:r>
            <a:r>
              <a:rPr lang="en-US" altLang="ko-KR" sz="800" dirty="0">
                <a:solidFill>
                  <a:schemeClr val="tx1"/>
                </a:solidFill>
              </a:rPr>
              <a:t>)</a:t>
            </a:r>
            <a:r>
              <a:rPr lang="ko-KR" altLang="en-US" sz="800" dirty="0">
                <a:solidFill>
                  <a:schemeClr val="tx1"/>
                </a:solidFill>
              </a:rPr>
              <a:t> 작성</a:t>
            </a:r>
          </a:p>
        </p:txBody>
      </p:sp>
      <p:cxnSp>
        <p:nvCxnSpPr>
          <p:cNvPr id="175" name="연결선: 꺾임 7">
            <a:extLst>
              <a:ext uri="{FF2B5EF4-FFF2-40B4-BE49-F238E27FC236}">
                <a16:creationId xmlns:a16="http://schemas.microsoft.com/office/drawing/2014/main" id="{89A2D828-4C18-4F90-6B31-722E89773AA8}"/>
              </a:ext>
            </a:extLst>
          </p:cNvPr>
          <p:cNvCxnSpPr>
            <a:cxnSpLocks/>
            <a:stCxn id="122" idx="3"/>
            <a:endCxn id="174" idx="1"/>
          </p:cNvCxnSpPr>
          <p:nvPr/>
        </p:nvCxnSpPr>
        <p:spPr>
          <a:xfrm>
            <a:off x="3262365" y="2454859"/>
            <a:ext cx="935377" cy="688072"/>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1" name="직선 화살표 연결선 180">
            <a:extLst>
              <a:ext uri="{FF2B5EF4-FFF2-40B4-BE49-F238E27FC236}">
                <a16:creationId xmlns:a16="http://schemas.microsoft.com/office/drawing/2014/main" id="{9A519F08-B829-E35F-09D8-DFCD1F68B911}"/>
              </a:ext>
            </a:extLst>
          </p:cNvPr>
          <p:cNvCxnSpPr>
            <a:cxnSpLocks/>
            <a:stCxn id="40" idx="3"/>
            <a:endCxn id="108" idx="1"/>
          </p:cNvCxnSpPr>
          <p:nvPr/>
        </p:nvCxnSpPr>
        <p:spPr>
          <a:xfrm>
            <a:off x="6928876" y="2454859"/>
            <a:ext cx="86038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7" name="직사각형 186">
            <a:extLst>
              <a:ext uri="{FF2B5EF4-FFF2-40B4-BE49-F238E27FC236}">
                <a16:creationId xmlns:a16="http://schemas.microsoft.com/office/drawing/2014/main" id="{F249990F-1DE5-C694-BDBD-2DE7009D57EA}"/>
              </a:ext>
            </a:extLst>
          </p:cNvPr>
          <p:cNvSpPr/>
          <p:nvPr/>
        </p:nvSpPr>
        <p:spPr>
          <a:xfrm>
            <a:off x="5177379" y="3504982"/>
            <a:ext cx="549831"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조건에 따른</a:t>
            </a:r>
            <a:endParaRPr lang="en-US" altLang="ko-KR" sz="800" dirty="0">
              <a:solidFill>
                <a:schemeClr val="tx1"/>
              </a:solidFill>
            </a:endParaRPr>
          </a:p>
          <a:p>
            <a:r>
              <a:rPr lang="ko-KR" altLang="en-US" sz="800" dirty="0">
                <a:solidFill>
                  <a:schemeClr val="tx1"/>
                </a:solidFill>
              </a:rPr>
              <a:t>버튼 표시</a:t>
            </a:r>
          </a:p>
        </p:txBody>
      </p:sp>
      <p:cxnSp>
        <p:nvCxnSpPr>
          <p:cNvPr id="209" name="직선 화살표 연결선 208">
            <a:extLst>
              <a:ext uri="{FF2B5EF4-FFF2-40B4-BE49-F238E27FC236}">
                <a16:creationId xmlns:a16="http://schemas.microsoft.com/office/drawing/2014/main" id="{9A519F08-B829-E35F-09D8-DFCD1F68B911}"/>
              </a:ext>
            </a:extLst>
          </p:cNvPr>
          <p:cNvCxnSpPr>
            <a:cxnSpLocks/>
            <a:stCxn id="174" idx="3"/>
            <a:endCxn id="101" idx="1"/>
          </p:cNvCxnSpPr>
          <p:nvPr/>
        </p:nvCxnSpPr>
        <p:spPr>
          <a:xfrm>
            <a:off x="5097742" y="3142931"/>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6" name="연결선: 꺾임 7">
            <a:extLst>
              <a:ext uri="{FF2B5EF4-FFF2-40B4-BE49-F238E27FC236}">
                <a16:creationId xmlns:a16="http://schemas.microsoft.com/office/drawing/2014/main" id="{89A2D828-4C18-4F90-6B31-722E89773AA8}"/>
              </a:ext>
            </a:extLst>
          </p:cNvPr>
          <p:cNvCxnSpPr>
            <a:cxnSpLocks/>
            <a:stCxn id="126" idx="3"/>
            <a:endCxn id="122" idx="2"/>
          </p:cNvCxnSpPr>
          <p:nvPr/>
        </p:nvCxnSpPr>
        <p:spPr>
          <a:xfrm flipH="1" flipV="1">
            <a:off x="2812365" y="2598859"/>
            <a:ext cx="450000" cy="1219790"/>
          </a:xfrm>
          <a:prstGeom prst="bentConnector4">
            <a:avLst>
              <a:gd name="adj1" fmla="val -50800"/>
              <a:gd name="adj2" fmla="val 55903"/>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9" name="직사각형 218">
            <a:extLst>
              <a:ext uri="{FF2B5EF4-FFF2-40B4-BE49-F238E27FC236}">
                <a16:creationId xmlns:a16="http://schemas.microsoft.com/office/drawing/2014/main" id="{F249990F-1DE5-C694-BDBD-2DE7009D57EA}"/>
              </a:ext>
            </a:extLst>
          </p:cNvPr>
          <p:cNvSpPr/>
          <p:nvPr/>
        </p:nvSpPr>
        <p:spPr>
          <a:xfrm>
            <a:off x="2856028" y="2851872"/>
            <a:ext cx="8287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사전 심사 신청 후</a:t>
            </a:r>
            <a:endParaRPr lang="en-US" altLang="ko-KR" sz="800" dirty="0">
              <a:solidFill>
                <a:schemeClr val="tx1"/>
              </a:solidFill>
            </a:endParaRPr>
          </a:p>
          <a:p>
            <a:r>
              <a:rPr lang="ko-KR" altLang="en-US" sz="800" dirty="0">
                <a:solidFill>
                  <a:schemeClr val="tx1"/>
                </a:solidFill>
              </a:rPr>
              <a:t>본 입찰 신청</a:t>
            </a:r>
          </a:p>
        </p:txBody>
      </p:sp>
      <p:sp>
        <p:nvSpPr>
          <p:cNvPr id="220" name="직사각형 219">
            <a:extLst>
              <a:ext uri="{FF2B5EF4-FFF2-40B4-BE49-F238E27FC236}">
                <a16:creationId xmlns:a16="http://schemas.microsoft.com/office/drawing/2014/main" id="{F249990F-1DE5-C694-BDBD-2DE7009D57EA}"/>
              </a:ext>
            </a:extLst>
          </p:cNvPr>
          <p:cNvSpPr/>
          <p:nvPr/>
        </p:nvSpPr>
        <p:spPr>
          <a:xfrm>
            <a:off x="4197742" y="3959137"/>
            <a:ext cx="1029897"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사전심사</a:t>
            </a:r>
            <a:r>
              <a:rPr lang="en-US" altLang="ko-KR" sz="800" dirty="0">
                <a:solidFill>
                  <a:schemeClr val="tx1"/>
                </a:solidFill>
              </a:rPr>
              <a:t>(PQ)</a:t>
            </a:r>
            <a:r>
              <a:rPr lang="ko-KR" altLang="en-US" sz="800" dirty="0" err="1">
                <a:solidFill>
                  <a:schemeClr val="tx1"/>
                </a:solidFill>
              </a:rPr>
              <a:t>결과조회</a:t>
            </a:r>
            <a:endParaRPr lang="en-US" altLang="ko-KR" sz="800" dirty="0">
              <a:solidFill>
                <a:schemeClr val="tx1"/>
              </a:solidFill>
            </a:endParaRPr>
          </a:p>
          <a:p>
            <a:r>
              <a:rPr lang="ko-KR" altLang="en-US" sz="800" dirty="0">
                <a:solidFill>
                  <a:schemeClr val="tx1"/>
                </a:solidFill>
              </a:rPr>
              <a:t>입찰등록심사결과조회</a:t>
            </a:r>
          </a:p>
        </p:txBody>
      </p:sp>
      <p:cxnSp>
        <p:nvCxnSpPr>
          <p:cNvPr id="228" name="직선 화살표 연결선 227">
            <a:extLst>
              <a:ext uri="{FF2B5EF4-FFF2-40B4-BE49-F238E27FC236}">
                <a16:creationId xmlns:a16="http://schemas.microsoft.com/office/drawing/2014/main" id="{9A519F08-B829-E35F-09D8-DFCD1F68B911}"/>
              </a:ext>
            </a:extLst>
          </p:cNvPr>
          <p:cNvCxnSpPr>
            <a:cxnSpLocks/>
            <a:stCxn id="108" idx="2"/>
            <a:endCxn id="267" idx="0"/>
          </p:cNvCxnSpPr>
          <p:nvPr/>
        </p:nvCxnSpPr>
        <p:spPr>
          <a:xfrm>
            <a:off x="8239256" y="2598859"/>
            <a:ext cx="0" cy="4000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1" name="직선 화살표 연결선 230">
            <a:extLst>
              <a:ext uri="{FF2B5EF4-FFF2-40B4-BE49-F238E27FC236}">
                <a16:creationId xmlns:a16="http://schemas.microsoft.com/office/drawing/2014/main" id="{9A519F08-B829-E35F-09D8-DFCD1F68B911}"/>
              </a:ext>
            </a:extLst>
          </p:cNvPr>
          <p:cNvCxnSpPr>
            <a:cxnSpLocks/>
            <a:stCxn id="97" idx="3"/>
            <a:endCxn id="80" idx="2"/>
          </p:cNvCxnSpPr>
          <p:nvPr/>
        </p:nvCxnSpPr>
        <p:spPr>
          <a:xfrm>
            <a:off x="6928876" y="3818314"/>
            <a:ext cx="122038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4" name="연결선: 꺾임 7">
            <a:extLst>
              <a:ext uri="{FF2B5EF4-FFF2-40B4-BE49-F238E27FC236}">
                <a16:creationId xmlns:a16="http://schemas.microsoft.com/office/drawing/2014/main" id="{89A2D828-4C18-4F90-6B31-722E89773AA8}"/>
              </a:ext>
            </a:extLst>
          </p:cNvPr>
          <p:cNvCxnSpPr>
            <a:cxnSpLocks/>
            <a:stCxn id="98" idx="3"/>
            <a:endCxn id="80" idx="2"/>
          </p:cNvCxnSpPr>
          <p:nvPr/>
        </p:nvCxnSpPr>
        <p:spPr>
          <a:xfrm flipV="1">
            <a:off x="6928876" y="3818314"/>
            <a:ext cx="1220380" cy="638128"/>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7" name="연결선: 꺾임 7">
            <a:extLst>
              <a:ext uri="{FF2B5EF4-FFF2-40B4-BE49-F238E27FC236}">
                <a16:creationId xmlns:a16="http://schemas.microsoft.com/office/drawing/2014/main" id="{89A2D828-4C18-4F90-6B31-722E89773AA8}"/>
              </a:ext>
            </a:extLst>
          </p:cNvPr>
          <p:cNvCxnSpPr>
            <a:cxnSpLocks/>
            <a:stCxn id="99" idx="3"/>
            <a:endCxn id="80" idx="2"/>
          </p:cNvCxnSpPr>
          <p:nvPr/>
        </p:nvCxnSpPr>
        <p:spPr>
          <a:xfrm flipV="1">
            <a:off x="6928876" y="3818314"/>
            <a:ext cx="1220380" cy="1276256"/>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0" name="연결선: 꺾임 7">
            <a:extLst>
              <a:ext uri="{FF2B5EF4-FFF2-40B4-BE49-F238E27FC236}">
                <a16:creationId xmlns:a16="http://schemas.microsoft.com/office/drawing/2014/main" id="{89A2D828-4C18-4F90-6B31-722E89773AA8}"/>
              </a:ext>
            </a:extLst>
          </p:cNvPr>
          <p:cNvCxnSpPr>
            <a:cxnSpLocks/>
            <a:stCxn id="118" idx="3"/>
            <a:endCxn id="80" idx="2"/>
          </p:cNvCxnSpPr>
          <p:nvPr/>
        </p:nvCxnSpPr>
        <p:spPr>
          <a:xfrm flipV="1">
            <a:off x="6928876" y="3818314"/>
            <a:ext cx="1220380" cy="191438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3" name="그룹 242">
            <a:extLst>
              <a:ext uri="{FF2B5EF4-FFF2-40B4-BE49-F238E27FC236}">
                <a16:creationId xmlns:a16="http://schemas.microsoft.com/office/drawing/2014/main" id="{22BC05EE-C648-7CA2-4CCC-6E1C1A7E9BDA}"/>
              </a:ext>
            </a:extLst>
          </p:cNvPr>
          <p:cNvGrpSpPr/>
          <p:nvPr/>
        </p:nvGrpSpPr>
        <p:grpSpPr>
          <a:xfrm>
            <a:off x="6440444" y="6018859"/>
            <a:ext cx="76863" cy="292489"/>
            <a:chOff x="3750067" y="4683795"/>
            <a:chExt cx="76863" cy="292489"/>
          </a:xfrm>
        </p:grpSpPr>
        <p:sp>
          <p:nvSpPr>
            <p:cNvPr id="244" name="타원 24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6" name="타원 24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251" name="직사각형 250">
            <a:extLst>
              <a:ext uri="{FF2B5EF4-FFF2-40B4-BE49-F238E27FC236}">
                <a16:creationId xmlns:a16="http://schemas.microsoft.com/office/drawing/2014/main" id="{4FB9FCCA-B5F3-C0E2-F563-4F0CE0FC24CF}"/>
              </a:ext>
            </a:extLst>
          </p:cNvPr>
          <p:cNvSpPr/>
          <p:nvPr/>
        </p:nvSpPr>
        <p:spPr>
          <a:xfrm>
            <a:off x="6359879" y="1888618"/>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252" name="그룹 251">
            <a:extLst>
              <a:ext uri="{FF2B5EF4-FFF2-40B4-BE49-F238E27FC236}">
                <a16:creationId xmlns:a16="http://schemas.microsoft.com/office/drawing/2014/main" id="{E7279F6C-9434-7961-8F6B-B7AE44CE5FCD}"/>
              </a:ext>
            </a:extLst>
          </p:cNvPr>
          <p:cNvGrpSpPr/>
          <p:nvPr/>
        </p:nvGrpSpPr>
        <p:grpSpPr>
          <a:xfrm>
            <a:off x="6388876" y="1682964"/>
            <a:ext cx="180000" cy="180000"/>
            <a:chOff x="5058274" y="2498299"/>
            <a:chExt cx="180000" cy="180000"/>
          </a:xfrm>
        </p:grpSpPr>
        <p:sp>
          <p:nvSpPr>
            <p:cNvPr id="253" name="타원 252">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4" name="타원 253">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255" name="직선 화살표 연결선 254">
            <a:extLst>
              <a:ext uri="{FF2B5EF4-FFF2-40B4-BE49-F238E27FC236}">
                <a16:creationId xmlns:a16="http://schemas.microsoft.com/office/drawing/2014/main" id="{9A519F08-B829-E35F-09D8-DFCD1F68B911}"/>
              </a:ext>
            </a:extLst>
          </p:cNvPr>
          <p:cNvCxnSpPr>
            <a:cxnSpLocks/>
            <a:stCxn id="70" idx="3"/>
            <a:endCxn id="260" idx="1"/>
          </p:cNvCxnSpPr>
          <p:nvPr/>
        </p:nvCxnSpPr>
        <p:spPr>
          <a:xfrm>
            <a:off x="3266608"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0" name="사각형: 둥근 모서리 5">
            <a:extLst>
              <a:ext uri="{FF2B5EF4-FFF2-40B4-BE49-F238E27FC236}">
                <a16:creationId xmlns:a16="http://schemas.microsoft.com/office/drawing/2014/main" id="{410E5459-200D-7630-863C-88E5109259DF}"/>
              </a:ext>
            </a:extLst>
          </p:cNvPr>
          <p:cNvSpPr/>
          <p:nvPr/>
        </p:nvSpPr>
        <p:spPr>
          <a:xfrm>
            <a:off x="4197742"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신청 완료</a:t>
            </a:r>
          </a:p>
        </p:txBody>
      </p:sp>
      <p:cxnSp>
        <p:nvCxnSpPr>
          <p:cNvPr id="262" name="직선 화살표 연결선 261">
            <a:extLst>
              <a:ext uri="{FF2B5EF4-FFF2-40B4-BE49-F238E27FC236}">
                <a16:creationId xmlns:a16="http://schemas.microsoft.com/office/drawing/2014/main" id="{9A519F08-B829-E35F-09D8-DFCD1F68B911}"/>
              </a:ext>
            </a:extLst>
          </p:cNvPr>
          <p:cNvCxnSpPr>
            <a:cxnSpLocks/>
            <a:stCxn id="260" idx="3"/>
            <a:endCxn id="253" idx="2"/>
          </p:cNvCxnSpPr>
          <p:nvPr/>
        </p:nvCxnSpPr>
        <p:spPr>
          <a:xfrm>
            <a:off x="5097742" y="1772964"/>
            <a:ext cx="129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7" name="사각형: 둥근 모서리 5">
            <a:extLst>
              <a:ext uri="{FF2B5EF4-FFF2-40B4-BE49-F238E27FC236}">
                <a16:creationId xmlns:a16="http://schemas.microsoft.com/office/drawing/2014/main" id="{410E5459-200D-7630-863C-88E5109259DF}"/>
              </a:ext>
            </a:extLst>
          </p:cNvPr>
          <p:cNvSpPr/>
          <p:nvPr/>
        </p:nvSpPr>
        <p:spPr>
          <a:xfrm>
            <a:off x="7789256" y="299893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전자 서명 및</a:t>
            </a:r>
            <a:endParaRPr lang="en-US" altLang="ko-KR" sz="800" dirty="0">
              <a:solidFill>
                <a:schemeClr val="tx1"/>
              </a:solidFill>
            </a:endParaRPr>
          </a:p>
          <a:p>
            <a:pPr algn="ctr"/>
            <a:r>
              <a:rPr lang="ko-KR" altLang="en-US" sz="800" dirty="0">
                <a:solidFill>
                  <a:schemeClr val="tx1"/>
                </a:solidFill>
              </a:rPr>
              <a:t>신청 완료</a:t>
            </a:r>
          </a:p>
        </p:txBody>
      </p:sp>
      <p:cxnSp>
        <p:nvCxnSpPr>
          <p:cNvPr id="269" name="직선 화살표 연결선 268">
            <a:extLst>
              <a:ext uri="{FF2B5EF4-FFF2-40B4-BE49-F238E27FC236}">
                <a16:creationId xmlns:a16="http://schemas.microsoft.com/office/drawing/2014/main" id="{9A519F08-B829-E35F-09D8-DFCD1F68B911}"/>
              </a:ext>
            </a:extLst>
          </p:cNvPr>
          <p:cNvCxnSpPr>
            <a:cxnSpLocks/>
            <a:stCxn id="101" idx="3"/>
            <a:endCxn id="267" idx="1"/>
          </p:cNvCxnSpPr>
          <p:nvPr/>
        </p:nvCxnSpPr>
        <p:spPr>
          <a:xfrm>
            <a:off x="6928876" y="3142931"/>
            <a:ext cx="86038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2" name="직선 화살표 연결선 271">
            <a:extLst>
              <a:ext uri="{FF2B5EF4-FFF2-40B4-BE49-F238E27FC236}">
                <a16:creationId xmlns:a16="http://schemas.microsoft.com/office/drawing/2014/main" id="{9A519F08-B829-E35F-09D8-DFCD1F68B911}"/>
              </a:ext>
            </a:extLst>
          </p:cNvPr>
          <p:cNvCxnSpPr>
            <a:cxnSpLocks/>
            <a:stCxn id="267" idx="2"/>
            <a:endCxn id="80" idx="0"/>
          </p:cNvCxnSpPr>
          <p:nvPr/>
        </p:nvCxnSpPr>
        <p:spPr>
          <a:xfrm>
            <a:off x="8239256" y="3286931"/>
            <a:ext cx="0" cy="44138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직사각형 71">
            <a:extLst>
              <a:ext uri="{FF2B5EF4-FFF2-40B4-BE49-F238E27FC236}">
                <a16:creationId xmlns:a16="http://schemas.microsoft.com/office/drawing/2014/main" id="{F249990F-1DE5-C694-BDBD-2DE7009D57EA}"/>
              </a:ext>
            </a:extLst>
          </p:cNvPr>
          <p:cNvSpPr/>
          <p:nvPr/>
        </p:nvSpPr>
        <p:spPr>
          <a:xfrm>
            <a:off x="6033667" y="3551203"/>
            <a:ext cx="791883" cy="1231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플로팅</a:t>
            </a:r>
            <a:r>
              <a:rPr lang="ko-KR" altLang="en-US" sz="800" dirty="0">
                <a:solidFill>
                  <a:schemeClr val="tx1"/>
                </a:solidFill>
              </a:rPr>
              <a:t> 버튼 영역</a:t>
            </a:r>
          </a:p>
        </p:txBody>
      </p:sp>
    </p:spTree>
    <p:extLst>
      <p:ext uri="{BB962C8B-B14F-4D97-AF65-F5344CB8AC3E}">
        <p14:creationId xmlns:p14="http://schemas.microsoft.com/office/powerpoint/2010/main" val="173518364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4"/>
            <a:ext cx="2743200" cy="5200835"/>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4"/>
            <a:ext cx="5181600" cy="5200835"/>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62</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5.3 </a:t>
            </a:r>
            <a:r>
              <a:rPr lang="ko-KR" altLang="en-US" dirty="0"/>
              <a:t>앱 구성 다이어그램 </a:t>
            </a:r>
            <a:r>
              <a:rPr lang="en-US" altLang="ko-KR" dirty="0"/>
              <a:t>(1/2)</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72934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err="1">
                <a:solidFill>
                  <a:schemeClr val="tx1"/>
                </a:solidFill>
              </a:rPr>
              <a:t>입찰진행</a:t>
            </a:r>
            <a:r>
              <a:rPr lang="ko-KR" altLang="en-US" sz="1050" dirty="0">
                <a:solidFill>
                  <a:schemeClr val="tx1"/>
                </a:solidFill>
              </a:rPr>
              <a:t> 목록</a:t>
            </a:r>
            <a:endParaRPr lang="en-US" altLang="ko-KR" sz="1050" dirty="0">
              <a:solidFill>
                <a:schemeClr val="tx1"/>
              </a:solidFill>
            </a:endParaRPr>
          </a:p>
          <a:p>
            <a:pPr algn="ctr"/>
            <a:r>
              <a:rPr lang="en-US" altLang="ko-KR" sz="1050" dirty="0">
                <a:solidFill>
                  <a:schemeClr val="tx1"/>
                </a:solidFill>
                <a:latin typeface="Calibri" panose="020F0502020204030204" pitchFamily="34" charset="0"/>
              </a:rPr>
              <a:t>BidPrgrsListForBzentyPage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25260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err="1">
                <a:solidFill>
                  <a:schemeClr val="tx1"/>
                </a:solidFill>
              </a:rPr>
              <a:t>입찰진행</a:t>
            </a:r>
            <a:r>
              <a:rPr lang="ko-KR" altLang="en-US" sz="1050" dirty="0">
                <a:solidFill>
                  <a:schemeClr val="tx1"/>
                </a:solidFill>
              </a:rPr>
              <a:t> 상세</a:t>
            </a:r>
            <a:endParaRPr lang="en-US" altLang="ko-KR" sz="1050" dirty="0">
              <a:solidFill>
                <a:schemeClr val="tx1"/>
              </a:solidFill>
            </a:endParaRPr>
          </a:p>
          <a:p>
            <a:pPr algn="ctr"/>
            <a:r>
              <a:rPr lang="en-US" altLang="ko-KR" sz="1050" dirty="0">
                <a:solidFill>
                  <a:schemeClr val="tx1"/>
                </a:solidFill>
                <a:latin typeface="+mn-ea"/>
              </a:rPr>
              <a:t>BidPrgsDtlInqPage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265382" y="277586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rPr>
              <a:t>입찰포기신청서 작성</a:t>
            </a:r>
            <a:endParaRPr lang="en-US" altLang="ko-KR" sz="1050" dirty="0">
              <a:solidFill>
                <a:schemeClr val="tx1"/>
              </a:solidFill>
            </a:endParaRPr>
          </a:p>
          <a:p>
            <a:pPr algn="ctr"/>
            <a:r>
              <a:rPr lang="en-US" altLang="ko-KR" sz="1050" dirty="0">
                <a:solidFill>
                  <a:schemeClr val="tx1"/>
                </a:solidFill>
                <a:latin typeface="+mn-ea"/>
              </a:rPr>
              <a:t>BidAbndAperWrt</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381158"/>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err="1"/>
              <a:t>입찰진행</a:t>
            </a:r>
            <a:r>
              <a:rPr lang="en-US" altLang="ko-KR" sz="1100" dirty="0"/>
              <a:t>Controller&gt;&gt;</a:t>
            </a:r>
          </a:p>
          <a:p>
            <a:pPr algn="ctr"/>
            <a:r>
              <a:rPr lang="en-US" altLang="ko-KR" sz="1100" kern="0" dirty="0" err="1">
                <a:solidFill>
                  <a:srgbClr val="000000"/>
                </a:solidFill>
                <a:latin typeface="+mn-ea"/>
              </a:rPr>
              <a:t>BidPrgrsController</a:t>
            </a:r>
            <a:endParaRPr lang="en-US" altLang="ko-KR" sz="1100" kern="0" dirty="0">
              <a:solidFill>
                <a:srgbClr val="000000"/>
              </a:solidFill>
              <a:latin typeface="+mn-ea"/>
            </a:endParaRPr>
          </a:p>
        </p:txBody>
      </p:sp>
      <p:sp>
        <p:nvSpPr>
          <p:cNvPr id="11" name="직사각형 10">
            <a:extLst>
              <a:ext uri="{FF2B5EF4-FFF2-40B4-BE49-F238E27FC236}">
                <a16:creationId xmlns:a16="http://schemas.microsoft.com/office/drawing/2014/main" id="{015A331E-505A-57E3-A763-CB0C8D48EC9A}"/>
              </a:ext>
            </a:extLst>
          </p:cNvPr>
          <p:cNvSpPr/>
          <p:nvPr/>
        </p:nvSpPr>
        <p:spPr>
          <a:xfrm>
            <a:off x="6913418" y="302701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사전심사</a:t>
            </a:r>
            <a:r>
              <a:rPr lang="en-US" altLang="ko-KR" sz="1100" dirty="0"/>
              <a:t>Controller&gt;&gt;</a:t>
            </a:r>
          </a:p>
          <a:p>
            <a:pPr algn="ctr"/>
            <a:r>
              <a:rPr lang="en-US" altLang="ko-KR" sz="1100" dirty="0" err="1">
                <a:solidFill>
                  <a:srgbClr val="000000"/>
                </a:solidFill>
                <a:latin typeface="+mn-ea"/>
              </a:rPr>
              <a:t>bfhdSrngCo</a:t>
            </a:r>
            <a:r>
              <a:rPr lang="en-US" altLang="ko-KR" sz="1100" dirty="0" err="1"/>
              <a:t>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1949750"/>
            <a:ext cx="967509" cy="104042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992582" y="2473010"/>
            <a:ext cx="967509" cy="5171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992582" y="2990174"/>
            <a:ext cx="967509" cy="6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flipV="1">
            <a:off x="5687291" y="2624138"/>
            <a:ext cx="1226127" cy="366036"/>
          </a:xfrm>
          <a:prstGeom prst="line">
            <a:avLst/>
          </a:prstGeom>
        </p:spPr>
        <p:style>
          <a:lnRef idx="1">
            <a:schemeClr val="dk1"/>
          </a:lnRef>
          <a:fillRef idx="0">
            <a:schemeClr val="dk1"/>
          </a:fillRef>
          <a:effectRef idx="0">
            <a:schemeClr val="dk1"/>
          </a:effectRef>
          <a:fontRef idx="minor">
            <a:schemeClr val="tx1"/>
          </a:fontRef>
        </p:style>
      </p:cxnSp>
      <p:cxnSp>
        <p:nvCxnSpPr>
          <p:cNvPr id="22" name="직선 연결선 21">
            <a:extLst>
              <a:ext uri="{FF2B5EF4-FFF2-40B4-BE49-F238E27FC236}">
                <a16:creationId xmlns:a16="http://schemas.microsoft.com/office/drawing/2014/main" id="{DB16E99B-0703-15BA-41A8-6D7E6BF1498E}"/>
              </a:ext>
            </a:extLst>
          </p:cNvPr>
          <p:cNvCxnSpPr>
            <a:cxnSpLocks/>
            <a:stCxn id="9" idx="3"/>
            <a:endCxn id="11" idx="1"/>
          </p:cNvCxnSpPr>
          <p:nvPr/>
        </p:nvCxnSpPr>
        <p:spPr>
          <a:xfrm>
            <a:off x="5687291" y="2990174"/>
            <a:ext cx="1226127" cy="27982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9" name="직사각형 28">
            <a:extLst>
              <a:ext uri="{FF2B5EF4-FFF2-40B4-BE49-F238E27FC236}">
                <a16:creationId xmlns:a16="http://schemas.microsoft.com/office/drawing/2014/main" id="{326CB017-8967-4DC4-0EAD-ADB3B9EAB841}"/>
              </a:ext>
            </a:extLst>
          </p:cNvPr>
          <p:cNvSpPr/>
          <p:nvPr/>
        </p:nvSpPr>
        <p:spPr>
          <a:xfrm>
            <a:off x="1265382" y="3305110"/>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rPr>
              <a:t>입찰취소신청서 작성</a:t>
            </a:r>
            <a:endParaRPr lang="en-US" altLang="ko-KR" sz="1050" dirty="0">
              <a:solidFill>
                <a:schemeClr val="tx1"/>
              </a:solidFill>
            </a:endParaRPr>
          </a:p>
          <a:p>
            <a:pPr algn="ctr"/>
            <a:r>
              <a:rPr lang="en-US" altLang="ko-KR" sz="1050" dirty="0">
                <a:solidFill>
                  <a:schemeClr val="tx1"/>
                </a:solidFill>
                <a:latin typeface="+mn-ea"/>
              </a:rPr>
              <a:t>BidRtrcnAperInq</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30" name="직사각형 29">
            <a:extLst>
              <a:ext uri="{FF2B5EF4-FFF2-40B4-BE49-F238E27FC236}">
                <a16:creationId xmlns:a16="http://schemas.microsoft.com/office/drawing/2014/main" id="{326CB017-8967-4DC4-0EAD-ADB3B9EAB841}"/>
              </a:ext>
            </a:extLst>
          </p:cNvPr>
          <p:cNvSpPr/>
          <p:nvPr/>
        </p:nvSpPr>
        <p:spPr>
          <a:xfrm>
            <a:off x="1265382" y="3834358"/>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rPr>
              <a:t>입찰등록결과조회</a:t>
            </a:r>
            <a:endParaRPr lang="en-US" altLang="ko-KR" sz="1050" dirty="0">
              <a:solidFill>
                <a:schemeClr val="tx1"/>
              </a:solidFill>
            </a:endParaRPr>
          </a:p>
          <a:p>
            <a:pPr algn="ctr"/>
            <a:r>
              <a:rPr lang="en-US" altLang="ko-KR" sz="1050" dirty="0">
                <a:solidFill>
                  <a:schemeClr val="tx1"/>
                </a:solidFill>
                <a:latin typeface="+mn-ea"/>
              </a:rPr>
              <a:t>BidRegRsltInqPage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31" name="직사각형 30">
            <a:extLst>
              <a:ext uri="{FF2B5EF4-FFF2-40B4-BE49-F238E27FC236}">
                <a16:creationId xmlns:a16="http://schemas.microsoft.com/office/drawing/2014/main" id="{326CB017-8967-4DC4-0EAD-ADB3B9EAB841}"/>
              </a:ext>
            </a:extLst>
          </p:cNvPr>
          <p:cNvSpPr/>
          <p:nvPr/>
        </p:nvSpPr>
        <p:spPr>
          <a:xfrm>
            <a:off x="1265382" y="4360394"/>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rPr>
              <a:t>사전심사</a:t>
            </a:r>
            <a:r>
              <a:rPr lang="en-US" altLang="ko-KR" sz="1050" dirty="0">
                <a:solidFill>
                  <a:schemeClr val="tx1"/>
                </a:solidFill>
              </a:rPr>
              <a:t>(PQ)</a:t>
            </a:r>
            <a:r>
              <a:rPr lang="ko-KR" altLang="en-US" sz="1050" dirty="0" err="1">
                <a:solidFill>
                  <a:schemeClr val="tx1"/>
                </a:solidFill>
              </a:rPr>
              <a:t>결과조회</a:t>
            </a:r>
            <a:endParaRPr lang="en-US" altLang="ko-KR" sz="1050" dirty="0">
              <a:solidFill>
                <a:schemeClr val="tx1"/>
              </a:solidFill>
            </a:endParaRPr>
          </a:p>
          <a:p>
            <a:pPr algn="ctr"/>
            <a:r>
              <a:rPr lang="en-US" altLang="ko-KR" sz="1050" dirty="0">
                <a:solidFill>
                  <a:schemeClr val="tx1"/>
                </a:solidFill>
                <a:latin typeface="+mn-ea"/>
              </a:rPr>
              <a:t>BfhdSrngRsltInqPage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32" name="직사각형 31">
            <a:extLst>
              <a:ext uri="{FF2B5EF4-FFF2-40B4-BE49-F238E27FC236}">
                <a16:creationId xmlns:a16="http://schemas.microsoft.com/office/drawing/2014/main" id="{326CB017-8967-4DC4-0EAD-ADB3B9EAB841}"/>
              </a:ext>
            </a:extLst>
          </p:cNvPr>
          <p:cNvSpPr/>
          <p:nvPr/>
        </p:nvSpPr>
        <p:spPr>
          <a:xfrm>
            <a:off x="1265382" y="4886430"/>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맑은 고딕" panose="020B0503020000020004" pitchFamily="50" charset="-127"/>
              </a:rPr>
              <a:t>기술평가결과조회</a:t>
            </a:r>
            <a:endParaRPr lang="en-US" altLang="ko-KR" sz="1050" dirty="0">
              <a:solidFill>
                <a:schemeClr val="tx1"/>
              </a:solidFill>
            </a:endParaRPr>
          </a:p>
          <a:p>
            <a:pPr algn="ctr"/>
            <a:r>
              <a:rPr lang="en-US" altLang="ko-KR" sz="1050" dirty="0">
                <a:solidFill>
                  <a:schemeClr val="tx1"/>
                </a:solidFill>
                <a:latin typeface="+mn-ea"/>
              </a:rPr>
              <a:t>TechEvlRsltInq</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33" name="직사각형 32">
            <a:extLst>
              <a:ext uri="{FF2B5EF4-FFF2-40B4-BE49-F238E27FC236}">
                <a16:creationId xmlns:a16="http://schemas.microsoft.com/office/drawing/2014/main" id="{326CB017-8967-4DC4-0EAD-ADB3B9EAB841}"/>
              </a:ext>
            </a:extLst>
          </p:cNvPr>
          <p:cNvSpPr/>
          <p:nvPr/>
        </p:nvSpPr>
        <p:spPr>
          <a:xfrm>
            <a:off x="1265382" y="5412466"/>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맑은 고딕" panose="020B0503020000020004" pitchFamily="50" charset="-127"/>
              </a:rPr>
              <a:t>생산능력서류제출</a:t>
            </a:r>
            <a:endParaRPr lang="en-US" altLang="ko-KR" sz="1050" dirty="0">
              <a:solidFill>
                <a:schemeClr val="tx1"/>
              </a:solidFill>
            </a:endParaRPr>
          </a:p>
          <a:p>
            <a:pPr algn="ctr"/>
            <a:r>
              <a:rPr lang="en-US" altLang="ko-KR" sz="1050" dirty="0">
                <a:solidFill>
                  <a:schemeClr val="tx1"/>
                </a:solidFill>
                <a:latin typeface="+mn-ea"/>
              </a:rPr>
              <a:t>PrdctnAbltDcmntSbmsn</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34" name="직사각형 33">
            <a:extLst>
              <a:ext uri="{FF2B5EF4-FFF2-40B4-BE49-F238E27FC236}">
                <a16:creationId xmlns:a16="http://schemas.microsoft.com/office/drawing/2014/main" id="{326CB017-8967-4DC4-0EAD-ADB3B9EAB841}"/>
              </a:ext>
            </a:extLst>
          </p:cNvPr>
          <p:cNvSpPr/>
          <p:nvPr/>
        </p:nvSpPr>
        <p:spPr>
          <a:xfrm>
            <a:off x="1265382" y="593850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mn-ea"/>
              </a:rPr>
              <a:t>입찰참가신청반려</a:t>
            </a:r>
            <a:endParaRPr lang="en-US" altLang="ko-KR" sz="1050" dirty="0">
              <a:solidFill>
                <a:schemeClr val="tx1"/>
              </a:solidFill>
            </a:endParaRPr>
          </a:p>
          <a:p>
            <a:pPr algn="ctr"/>
            <a:r>
              <a:rPr lang="en-US" altLang="ko-KR" sz="1050" dirty="0">
                <a:solidFill>
                  <a:schemeClr val="tx1"/>
                </a:solidFill>
                <a:latin typeface="+mn-ea"/>
              </a:rPr>
              <a:t>BidPrtcpAplyRjct</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5" name="직선 화살표 연결선 34">
            <a:extLst>
              <a:ext uri="{FF2B5EF4-FFF2-40B4-BE49-F238E27FC236}">
                <a16:creationId xmlns:a16="http://schemas.microsoft.com/office/drawing/2014/main" id="{418E1257-E5C2-5705-1378-45505004ABAF}"/>
              </a:ext>
            </a:extLst>
          </p:cNvPr>
          <p:cNvCxnSpPr>
            <a:cxnSpLocks/>
            <a:stCxn id="29" idx="3"/>
            <a:endCxn id="9" idx="1"/>
          </p:cNvCxnSpPr>
          <p:nvPr/>
        </p:nvCxnSpPr>
        <p:spPr>
          <a:xfrm flipV="1">
            <a:off x="2992582" y="2990174"/>
            <a:ext cx="967509" cy="53534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8" name="직선 화살표 연결선 37">
            <a:extLst>
              <a:ext uri="{FF2B5EF4-FFF2-40B4-BE49-F238E27FC236}">
                <a16:creationId xmlns:a16="http://schemas.microsoft.com/office/drawing/2014/main" id="{418E1257-E5C2-5705-1378-45505004ABAF}"/>
              </a:ext>
            </a:extLst>
          </p:cNvPr>
          <p:cNvCxnSpPr>
            <a:cxnSpLocks/>
            <a:stCxn id="30" idx="3"/>
            <a:endCxn id="9" idx="1"/>
          </p:cNvCxnSpPr>
          <p:nvPr/>
        </p:nvCxnSpPr>
        <p:spPr>
          <a:xfrm flipV="1">
            <a:off x="2992582" y="2990174"/>
            <a:ext cx="967509" cy="106459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1" name="직선 화살표 연결선 40">
            <a:extLst>
              <a:ext uri="{FF2B5EF4-FFF2-40B4-BE49-F238E27FC236}">
                <a16:creationId xmlns:a16="http://schemas.microsoft.com/office/drawing/2014/main" id="{418E1257-E5C2-5705-1378-45505004ABAF}"/>
              </a:ext>
            </a:extLst>
          </p:cNvPr>
          <p:cNvCxnSpPr>
            <a:cxnSpLocks/>
            <a:stCxn id="31" idx="3"/>
            <a:endCxn id="9" idx="1"/>
          </p:cNvCxnSpPr>
          <p:nvPr/>
        </p:nvCxnSpPr>
        <p:spPr>
          <a:xfrm flipV="1">
            <a:off x="2992582" y="2990174"/>
            <a:ext cx="967509" cy="159062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4" name="직선 화살표 연결선 43">
            <a:extLst>
              <a:ext uri="{FF2B5EF4-FFF2-40B4-BE49-F238E27FC236}">
                <a16:creationId xmlns:a16="http://schemas.microsoft.com/office/drawing/2014/main" id="{418E1257-E5C2-5705-1378-45505004ABAF}"/>
              </a:ext>
            </a:extLst>
          </p:cNvPr>
          <p:cNvCxnSpPr>
            <a:cxnSpLocks/>
            <a:stCxn id="32" idx="3"/>
            <a:endCxn id="9" idx="1"/>
          </p:cNvCxnSpPr>
          <p:nvPr/>
        </p:nvCxnSpPr>
        <p:spPr>
          <a:xfrm flipV="1">
            <a:off x="2992582" y="2990174"/>
            <a:ext cx="967509" cy="21166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7" name="직선 화살표 연결선 46">
            <a:extLst>
              <a:ext uri="{FF2B5EF4-FFF2-40B4-BE49-F238E27FC236}">
                <a16:creationId xmlns:a16="http://schemas.microsoft.com/office/drawing/2014/main" id="{418E1257-E5C2-5705-1378-45505004ABAF}"/>
              </a:ext>
            </a:extLst>
          </p:cNvPr>
          <p:cNvCxnSpPr>
            <a:cxnSpLocks/>
            <a:stCxn id="33" idx="3"/>
            <a:endCxn id="9" idx="1"/>
          </p:cNvCxnSpPr>
          <p:nvPr/>
        </p:nvCxnSpPr>
        <p:spPr>
          <a:xfrm flipV="1">
            <a:off x="2992582" y="2990174"/>
            <a:ext cx="967509" cy="264270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1" name="직선 화살표 연결선 50">
            <a:extLst>
              <a:ext uri="{FF2B5EF4-FFF2-40B4-BE49-F238E27FC236}">
                <a16:creationId xmlns:a16="http://schemas.microsoft.com/office/drawing/2014/main" id="{418E1257-E5C2-5705-1378-45505004ABAF}"/>
              </a:ext>
            </a:extLst>
          </p:cNvPr>
          <p:cNvCxnSpPr>
            <a:cxnSpLocks/>
            <a:endCxn id="9" idx="1"/>
          </p:cNvCxnSpPr>
          <p:nvPr/>
        </p:nvCxnSpPr>
        <p:spPr>
          <a:xfrm flipV="1">
            <a:off x="2992582" y="2990174"/>
            <a:ext cx="967509" cy="294832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5" name="직사각형 54">
            <a:extLst>
              <a:ext uri="{FF2B5EF4-FFF2-40B4-BE49-F238E27FC236}">
                <a16:creationId xmlns:a16="http://schemas.microsoft.com/office/drawing/2014/main" id="{015A331E-505A-57E3-A763-CB0C8D48EC9A}"/>
              </a:ext>
            </a:extLst>
          </p:cNvPr>
          <p:cNvSpPr/>
          <p:nvPr/>
        </p:nvSpPr>
        <p:spPr>
          <a:xfrm>
            <a:off x="6913418" y="3636030"/>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a:t>입찰참가신청</a:t>
            </a:r>
            <a:r>
              <a:rPr lang="en-US" altLang="ko-KR" sz="900" dirty="0"/>
              <a:t>Controller&gt;&gt;</a:t>
            </a:r>
          </a:p>
          <a:p>
            <a:pPr algn="ctr"/>
            <a:r>
              <a:rPr lang="en-US" altLang="ko-KR" sz="900" kern="0" dirty="0" err="1">
                <a:solidFill>
                  <a:srgbClr val="000000"/>
                </a:solidFill>
                <a:latin typeface="+mn-ea"/>
              </a:rPr>
              <a:t>BidPrtcpAplyController</a:t>
            </a:r>
            <a:endParaRPr lang="en-US" altLang="ko-KR" sz="900" kern="0" dirty="0">
              <a:solidFill>
                <a:srgbClr val="000000"/>
              </a:solidFill>
              <a:latin typeface="+mn-ea"/>
            </a:endParaRPr>
          </a:p>
        </p:txBody>
      </p:sp>
      <p:cxnSp>
        <p:nvCxnSpPr>
          <p:cNvPr id="56" name="직선 연결선 55">
            <a:extLst>
              <a:ext uri="{FF2B5EF4-FFF2-40B4-BE49-F238E27FC236}">
                <a16:creationId xmlns:a16="http://schemas.microsoft.com/office/drawing/2014/main" id="{DB16E99B-0703-15BA-41A8-6D7E6BF1498E}"/>
              </a:ext>
            </a:extLst>
          </p:cNvPr>
          <p:cNvCxnSpPr>
            <a:cxnSpLocks/>
            <a:stCxn id="9" idx="3"/>
            <a:endCxn id="55" idx="1"/>
          </p:cNvCxnSpPr>
          <p:nvPr/>
        </p:nvCxnSpPr>
        <p:spPr>
          <a:xfrm>
            <a:off x="5687291" y="2990174"/>
            <a:ext cx="1226127" cy="888836"/>
          </a:xfrm>
          <a:prstGeom prst="line">
            <a:avLst/>
          </a:prstGeom>
        </p:spPr>
        <p:style>
          <a:lnRef idx="1">
            <a:schemeClr val="dk1"/>
          </a:lnRef>
          <a:fillRef idx="0">
            <a:schemeClr val="dk1"/>
          </a:fillRef>
          <a:effectRef idx="0">
            <a:schemeClr val="dk1"/>
          </a:effectRef>
          <a:fontRef idx="minor">
            <a:schemeClr val="tx1"/>
          </a:fontRef>
        </p:style>
      </p:cxnSp>
      <p:sp>
        <p:nvSpPr>
          <p:cNvPr id="61" name="직사각형 60">
            <a:extLst>
              <a:ext uri="{FF2B5EF4-FFF2-40B4-BE49-F238E27FC236}">
                <a16:creationId xmlns:a16="http://schemas.microsoft.com/office/drawing/2014/main" id="{015A331E-505A-57E3-A763-CB0C8D48EC9A}"/>
              </a:ext>
            </a:extLst>
          </p:cNvPr>
          <p:cNvSpPr/>
          <p:nvPr/>
        </p:nvSpPr>
        <p:spPr>
          <a:xfrm>
            <a:off x="6913418" y="4246636"/>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err="1"/>
              <a:t>입찰서제출</a:t>
            </a:r>
            <a:r>
              <a:rPr lang="en-US" altLang="ko-KR" sz="900" dirty="0"/>
              <a:t>Controller&gt;&gt;</a:t>
            </a:r>
          </a:p>
          <a:p>
            <a:pPr algn="ctr"/>
            <a:r>
              <a:rPr lang="en-US" altLang="ko-KR" sz="900" kern="0" dirty="0" err="1">
                <a:solidFill>
                  <a:srgbClr val="000000"/>
                </a:solidFill>
                <a:latin typeface="+mn-ea"/>
              </a:rPr>
              <a:t>TndrSbmsnController</a:t>
            </a:r>
            <a:endParaRPr lang="en-US" altLang="ko-KR" sz="900" kern="0" dirty="0">
              <a:solidFill>
                <a:srgbClr val="000000"/>
              </a:solidFill>
              <a:latin typeface="+mn-ea"/>
            </a:endParaRPr>
          </a:p>
        </p:txBody>
      </p:sp>
      <p:sp>
        <p:nvSpPr>
          <p:cNvPr id="62" name="직사각형 61">
            <a:extLst>
              <a:ext uri="{FF2B5EF4-FFF2-40B4-BE49-F238E27FC236}">
                <a16:creationId xmlns:a16="http://schemas.microsoft.com/office/drawing/2014/main" id="{015A331E-505A-57E3-A763-CB0C8D48EC9A}"/>
              </a:ext>
            </a:extLst>
          </p:cNvPr>
          <p:cNvSpPr/>
          <p:nvPr/>
        </p:nvSpPr>
        <p:spPr>
          <a:xfrm>
            <a:off x="6913418" y="4857242"/>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기술평가</a:t>
            </a:r>
            <a:r>
              <a:rPr lang="en-US" altLang="ko-KR" sz="1100" dirty="0"/>
              <a:t>Controller&gt;&gt;</a:t>
            </a:r>
          </a:p>
          <a:p>
            <a:pPr algn="ctr"/>
            <a:r>
              <a:rPr lang="en-US" altLang="ko-KR" sz="1100" dirty="0" err="1"/>
              <a:t>TechEvlController</a:t>
            </a:r>
            <a:endParaRPr lang="en-US" altLang="ko-KR" sz="1100" dirty="0"/>
          </a:p>
        </p:txBody>
      </p:sp>
      <p:cxnSp>
        <p:nvCxnSpPr>
          <p:cNvPr id="63" name="직선 연결선 62">
            <a:extLst>
              <a:ext uri="{FF2B5EF4-FFF2-40B4-BE49-F238E27FC236}">
                <a16:creationId xmlns:a16="http://schemas.microsoft.com/office/drawing/2014/main" id="{DB16E99B-0703-15BA-41A8-6D7E6BF1498E}"/>
              </a:ext>
            </a:extLst>
          </p:cNvPr>
          <p:cNvCxnSpPr>
            <a:cxnSpLocks/>
            <a:stCxn id="9" idx="3"/>
            <a:endCxn id="61" idx="1"/>
          </p:cNvCxnSpPr>
          <p:nvPr/>
        </p:nvCxnSpPr>
        <p:spPr>
          <a:xfrm>
            <a:off x="5687291" y="2990174"/>
            <a:ext cx="1226127" cy="1499442"/>
          </a:xfrm>
          <a:prstGeom prst="line">
            <a:avLst/>
          </a:prstGeom>
        </p:spPr>
        <p:style>
          <a:lnRef idx="1">
            <a:schemeClr val="dk1"/>
          </a:lnRef>
          <a:fillRef idx="0">
            <a:schemeClr val="dk1"/>
          </a:fillRef>
          <a:effectRef idx="0">
            <a:schemeClr val="dk1"/>
          </a:effectRef>
          <a:fontRef idx="minor">
            <a:schemeClr val="tx1"/>
          </a:fontRef>
        </p:style>
      </p:cxnSp>
      <p:cxnSp>
        <p:nvCxnSpPr>
          <p:cNvPr id="66" name="직선 연결선 65">
            <a:extLst>
              <a:ext uri="{FF2B5EF4-FFF2-40B4-BE49-F238E27FC236}">
                <a16:creationId xmlns:a16="http://schemas.microsoft.com/office/drawing/2014/main" id="{DB16E99B-0703-15BA-41A8-6D7E6BF1498E}"/>
              </a:ext>
            </a:extLst>
          </p:cNvPr>
          <p:cNvCxnSpPr>
            <a:cxnSpLocks/>
            <a:stCxn id="9" idx="3"/>
            <a:endCxn id="62" idx="1"/>
          </p:cNvCxnSpPr>
          <p:nvPr/>
        </p:nvCxnSpPr>
        <p:spPr>
          <a:xfrm>
            <a:off x="5687291" y="2990174"/>
            <a:ext cx="1226127" cy="211004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8687670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4"/>
            <a:ext cx="2743200" cy="5200835"/>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4"/>
            <a:ext cx="5181600" cy="5200835"/>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63</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5.3 </a:t>
            </a:r>
            <a:r>
              <a:rPr lang="ko-KR" altLang="en-US" dirty="0"/>
              <a:t>앱 구성 다이어그램 </a:t>
            </a:r>
            <a:r>
              <a:rPr lang="en-US" altLang="ko-KR" dirty="0"/>
              <a:t>(2/2)</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72934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mn-ea"/>
              </a:rPr>
              <a:t>사전심사</a:t>
            </a:r>
            <a:r>
              <a:rPr lang="en-US" altLang="ko-KR" sz="1050" dirty="0">
                <a:solidFill>
                  <a:schemeClr val="tx1"/>
                </a:solidFill>
                <a:latin typeface="+mn-ea"/>
              </a:rPr>
              <a:t>(PQ)</a:t>
            </a:r>
            <a:r>
              <a:rPr lang="ko-KR" altLang="en-US" sz="1050" dirty="0">
                <a:solidFill>
                  <a:schemeClr val="tx1"/>
                </a:solidFill>
                <a:latin typeface="+mn-ea"/>
              </a:rPr>
              <a:t>신청</a:t>
            </a:r>
            <a:endParaRPr lang="en-US" altLang="ko-KR" sz="1050" dirty="0">
              <a:solidFill>
                <a:schemeClr val="tx1"/>
              </a:solidFill>
            </a:endParaRPr>
          </a:p>
          <a:p>
            <a:pPr algn="ctr"/>
            <a:r>
              <a:rPr lang="en-US" altLang="ko-KR" sz="1050" dirty="0">
                <a:solidFill>
                  <a:schemeClr val="tx1"/>
                </a:solidFill>
                <a:latin typeface="+mn-ea"/>
              </a:rPr>
              <a:t>BfhdSrngAplyPage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25260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mn-ea"/>
              </a:rPr>
              <a:t>입찰참가신청서작성</a:t>
            </a:r>
            <a:endParaRPr lang="en-US" altLang="ko-KR" sz="1050" dirty="0">
              <a:solidFill>
                <a:schemeClr val="tx1"/>
              </a:solidFill>
            </a:endParaRPr>
          </a:p>
          <a:p>
            <a:pPr algn="ctr"/>
            <a:r>
              <a:rPr lang="en-US" altLang="ko-KR" sz="1050" dirty="0">
                <a:solidFill>
                  <a:schemeClr val="tx1"/>
                </a:solidFill>
                <a:latin typeface="+mn-ea"/>
              </a:rPr>
              <a:t>BidPrtcpAperWrtPage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265382" y="2775862"/>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mn-ea"/>
              </a:rPr>
              <a:t>입찰참가신청 </a:t>
            </a:r>
            <a:r>
              <a:rPr lang="en-US" altLang="ko-KR" sz="1050" dirty="0">
                <a:solidFill>
                  <a:schemeClr val="tx1"/>
                </a:solidFill>
                <a:latin typeface="+mn-ea"/>
              </a:rPr>
              <a:t>- </a:t>
            </a:r>
            <a:r>
              <a:rPr lang="ko-KR" altLang="en-US" sz="1050" dirty="0" err="1">
                <a:solidFill>
                  <a:schemeClr val="tx1"/>
                </a:solidFill>
                <a:latin typeface="+mn-ea"/>
              </a:rPr>
              <a:t>스탭</a:t>
            </a:r>
            <a:endParaRPr lang="en-US" altLang="ko-KR" sz="1050" dirty="0">
              <a:solidFill>
                <a:schemeClr val="tx1"/>
              </a:solidFill>
            </a:endParaRPr>
          </a:p>
          <a:p>
            <a:pPr algn="ctr"/>
            <a:r>
              <a:rPr lang="en-US" altLang="ko-KR" sz="1050" dirty="0">
                <a:solidFill>
                  <a:schemeClr val="tx1"/>
                </a:solidFill>
                <a:latin typeface="+mn-ea"/>
              </a:rPr>
              <a:t>BidPrtcpAperWrtPage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381158"/>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사전심사</a:t>
            </a:r>
            <a:r>
              <a:rPr lang="en-US" altLang="ko-KR" sz="1100" dirty="0"/>
              <a:t>Controller&gt;&gt;</a:t>
            </a:r>
          </a:p>
          <a:p>
            <a:pPr algn="ctr"/>
            <a:r>
              <a:rPr lang="en-US" altLang="ko-KR" sz="1100" dirty="0" err="1">
                <a:solidFill>
                  <a:srgbClr val="000000"/>
                </a:solidFill>
                <a:latin typeface="+mn-ea"/>
              </a:rPr>
              <a:t>bfhdSrngCo</a:t>
            </a:r>
            <a:r>
              <a:rPr lang="en-US" altLang="ko-KR" sz="1100" dirty="0" err="1"/>
              <a:t>ntroller</a:t>
            </a:r>
            <a:endParaRPr lang="en-US" altLang="ko-KR" sz="1100" dirty="0"/>
          </a:p>
        </p:txBody>
      </p:sp>
      <p:sp>
        <p:nvSpPr>
          <p:cNvPr id="11" name="직사각형 10">
            <a:extLst>
              <a:ext uri="{FF2B5EF4-FFF2-40B4-BE49-F238E27FC236}">
                <a16:creationId xmlns:a16="http://schemas.microsoft.com/office/drawing/2014/main" id="{015A331E-505A-57E3-A763-CB0C8D48EC9A}"/>
              </a:ext>
            </a:extLst>
          </p:cNvPr>
          <p:cNvSpPr/>
          <p:nvPr/>
        </p:nvSpPr>
        <p:spPr>
          <a:xfrm>
            <a:off x="6913418" y="302701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a:t>입찰참가신청</a:t>
            </a:r>
            <a:r>
              <a:rPr lang="en-US" altLang="ko-KR" sz="900" dirty="0"/>
              <a:t>Controller&gt;&gt;</a:t>
            </a:r>
          </a:p>
          <a:p>
            <a:pPr algn="ctr"/>
            <a:r>
              <a:rPr lang="en-US" altLang="ko-KR" sz="900" kern="0" dirty="0" err="1">
                <a:solidFill>
                  <a:srgbClr val="000000"/>
                </a:solidFill>
                <a:latin typeface="+mn-ea"/>
              </a:rPr>
              <a:t>BidPrtcpAplyController</a:t>
            </a:r>
            <a:endParaRPr lang="en-US" altLang="ko-KR" sz="900" kern="0" dirty="0">
              <a:solidFill>
                <a:srgbClr val="000000"/>
              </a:solidFill>
              <a:latin typeface="+mn-ea"/>
            </a:endParaRPr>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1949750"/>
            <a:ext cx="967509" cy="104042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992582" y="2473010"/>
            <a:ext cx="967509" cy="5171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992582" y="2990174"/>
            <a:ext cx="967509" cy="60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flipV="1">
            <a:off x="5687291" y="2624138"/>
            <a:ext cx="1226127" cy="366036"/>
          </a:xfrm>
          <a:prstGeom prst="line">
            <a:avLst/>
          </a:prstGeom>
        </p:spPr>
        <p:style>
          <a:lnRef idx="1">
            <a:schemeClr val="dk1"/>
          </a:lnRef>
          <a:fillRef idx="0">
            <a:schemeClr val="dk1"/>
          </a:fillRef>
          <a:effectRef idx="0">
            <a:schemeClr val="dk1"/>
          </a:effectRef>
          <a:fontRef idx="minor">
            <a:schemeClr val="tx1"/>
          </a:fontRef>
        </p:style>
      </p:cxnSp>
      <p:cxnSp>
        <p:nvCxnSpPr>
          <p:cNvPr id="22" name="직선 연결선 21">
            <a:extLst>
              <a:ext uri="{FF2B5EF4-FFF2-40B4-BE49-F238E27FC236}">
                <a16:creationId xmlns:a16="http://schemas.microsoft.com/office/drawing/2014/main" id="{DB16E99B-0703-15BA-41A8-6D7E6BF1498E}"/>
              </a:ext>
            </a:extLst>
          </p:cNvPr>
          <p:cNvCxnSpPr>
            <a:cxnSpLocks/>
            <a:stCxn id="9" idx="3"/>
            <a:endCxn id="11" idx="1"/>
          </p:cNvCxnSpPr>
          <p:nvPr/>
        </p:nvCxnSpPr>
        <p:spPr>
          <a:xfrm>
            <a:off x="5687291" y="2990174"/>
            <a:ext cx="1226127" cy="27982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9" name="직사각형 28">
            <a:extLst>
              <a:ext uri="{FF2B5EF4-FFF2-40B4-BE49-F238E27FC236}">
                <a16:creationId xmlns:a16="http://schemas.microsoft.com/office/drawing/2014/main" id="{326CB017-8967-4DC4-0EAD-ADB3B9EAB841}"/>
              </a:ext>
            </a:extLst>
          </p:cNvPr>
          <p:cNvSpPr/>
          <p:nvPr/>
        </p:nvSpPr>
        <p:spPr>
          <a:xfrm>
            <a:off x="1265382" y="3305110"/>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mn-ea"/>
              </a:rPr>
              <a:t>입찰서</a:t>
            </a:r>
            <a:r>
              <a:rPr lang="en-US" altLang="ko-KR" sz="1050" dirty="0">
                <a:solidFill>
                  <a:schemeClr val="tx1"/>
                </a:solidFill>
                <a:latin typeface="+mn-ea"/>
              </a:rPr>
              <a:t>(</a:t>
            </a:r>
            <a:r>
              <a:rPr lang="ko-KR" altLang="en-US" sz="1050" dirty="0">
                <a:solidFill>
                  <a:schemeClr val="tx1"/>
                </a:solidFill>
                <a:latin typeface="+mn-ea"/>
              </a:rPr>
              <a:t>견적서</a:t>
            </a:r>
            <a:r>
              <a:rPr lang="en-US" altLang="ko-KR" sz="1050" dirty="0">
                <a:solidFill>
                  <a:schemeClr val="tx1"/>
                </a:solidFill>
                <a:latin typeface="+mn-ea"/>
              </a:rPr>
              <a:t>)</a:t>
            </a:r>
            <a:r>
              <a:rPr lang="ko-KR" altLang="en-US" sz="1050" dirty="0">
                <a:solidFill>
                  <a:schemeClr val="tx1"/>
                </a:solidFill>
                <a:latin typeface="+mn-ea"/>
              </a:rPr>
              <a:t>작성</a:t>
            </a:r>
            <a:endParaRPr lang="en-US" altLang="ko-KR" sz="1050" dirty="0">
              <a:solidFill>
                <a:schemeClr val="tx1"/>
              </a:solidFill>
            </a:endParaRPr>
          </a:p>
          <a:p>
            <a:pPr algn="ctr"/>
            <a:r>
              <a:rPr lang="en-US" altLang="ko-KR" sz="1050" dirty="0">
                <a:solidFill>
                  <a:schemeClr val="tx1"/>
                </a:solidFill>
                <a:latin typeface="+mn-ea"/>
              </a:rPr>
              <a:t>TndrWrt</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30" name="직사각형 29">
            <a:extLst>
              <a:ext uri="{FF2B5EF4-FFF2-40B4-BE49-F238E27FC236}">
                <a16:creationId xmlns:a16="http://schemas.microsoft.com/office/drawing/2014/main" id="{326CB017-8967-4DC4-0EAD-ADB3B9EAB841}"/>
              </a:ext>
            </a:extLst>
          </p:cNvPr>
          <p:cNvSpPr/>
          <p:nvPr/>
        </p:nvSpPr>
        <p:spPr>
          <a:xfrm>
            <a:off x="1265382" y="3834358"/>
            <a:ext cx="1727200" cy="440815"/>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85000" lnSpcReduction="20000"/>
          </a:bodyPr>
          <a:lstStyle/>
          <a:p>
            <a:pPr algn="ctr"/>
            <a:r>
              <a:rPr lang="en-US" altLang="ko-KR" sz="1050" dirty="0">
                <a:solidFill>
                  <a:schemeClr val="tx1"/>
                </a:solidFill>
              </a:rPr>
              <a:t>&lt;&lt;App Page&gt;&gt;</a:t>
            </a:r>
          </a:p>
          <a:p>
            <a:pPr algn="ctr"/>
            <a:r>
              <a:rPr lang="ko-KR" altLang="en-US" sz="1050" dirty="0">
                <a:solidFill>
                  <a:schemeClr val="tx1"/>
                </a:solidFill>
                <a:latin typeface="+mn-ea"/>
              </a:rPr>
              <a:t>입찰서</a:t>
            </a:r>
            <a:r>
              <a:rPr lang="en-US" altLang="ko-KR" sz="1050" dirty="0">
                <a:solidFill>
                  <a:schemeClr val="tx1"/>
                </a:solidFill>
                <a:latin typeface="+mn-ea"/>
              </a:rPr>
              <a:t>(</a:t>
            </a:r>
            <a:r>
              <a:rPr lang="ko-KR" altLang="en-US" sz="1050" dirty="0">
                <a:solidFill>
                  <a:schemeClr val="tx1"/>
                </a:solidFill>
                <a:latin typeface="+mn-ea"/>
              </a:rPr>
              <a:t>견적서</a:t>
            </a:r>
            <a:r>
              <a:rPr lang="en-US" altLang="ko-KR" sz="1050" dirty="0">
                <a:solidFill>
                  <a:schemeClr val="tx1"/>
                </a:solidFill>
                <a:latin typeface="+mn-ea"/>
              </a:rPr>
              <a:t>)</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endParaRPr lang="en-US" altLang="ko-KR" sz="1050" dirty="0">
              <a:solidFill>
                <a:schemeClr val="tx1"/>
              </a:solidFill>
            </a:endParaRPr>
          </a:p>
          <a:p>
            <a:pPr algn="ctr"/>
            <a:r>
              <a:rPr lang="en-US" altLang="ko-KR" sz="1050" dirty="0">
                <a:solidFill>
                  <a:schemeClr val="tx1"/>
                </a:solidFill>
                <a:latin typeface="+mn-ea"/>
              </a:rPr>
              <a:t>Stp1~7</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5" name="직선 화살표 연결선 34">
            <a:extLst>
              <a:ext uri="{FF2B5EF4-FFF2-40B4-BE49-F238E27FC236}">
                <a16:creationId xmlns:a16="http://schemas.microsoft.com/office/drawing/2014/main" id="{418E1257-E5C2-5705-1378-45505004ABAF}"/>
              </a:ext>
            </a:extLst>
          </p:cNvPr>
          <p:cNvCxnSpPr>
            <a:cxnSpLocks/>
            <a:stCxn id="29" idx="3"/>
            <a:endCxn id="9" idx="1"/>
          </p:cNvCxnSpPr>
          <p:nvPr/>
        </p:nvCxnSpPr>
        <p:spPr>
          <a:xfrm flipV="1">
            <a:off x="2992582" y="2990174"/>
            <a:ext cx="967509" cy="53534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8" name="직선 화살표 연결선 37">
            <a:extLst>
              <a:ext uri="{FF2B5EF4-FFF2-40B4-BE49-F238E27FC236}">
                <a16:creationId xmlns:a16="http://schemas.microsoft.com/office/drawing/2014/main" id="{418E1257-E5C2-5705-1378-45505004ABAF}"/>
              </a:ext>
            </a:extLst>
          </p:cNvPr>
          <p:cNvCxnSpPr>
            <a:cxnSpLocks/>
            <a:stCxn id="30" idx="3"/>
            <a:endCxn id="9" idx="1"/>
          </p:cNvCxnSpPr>
          <p:nvPr/>
        </p:nvCxnSpPr>
        <p:spPr>
          <a:xfrm flipV="1">
            <a:off x="2992582" y="2990174"/>
            <a:ext cx="967509" cy="106459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6" name="직사각형 35">
            <a:extLst>
              <a:ext uri="{FF2B5EF4-FFF2-40B4-BE49-F238E27FC236}">
                <a16:creationId xmlns:a16="http://schemas.microsoft.com/office/drawing/2014/main" id="{015A331E-505A-57E3-A763-CB0C8D48EC9A}"/>
              </a:ext>
            </a:extLst>
          </p:cNvPr>
          <p:cNvSpPr/>
          <p:nvPr/>
        </p:nvSpPr>
        <p:spPr>
          <a:xfrm>
            <a:off x="6913418" y="3641291"/>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err="1"/>
              <a:t>입찰서제출</a:t>
            </a:r>
            <a:r>
              <a:rPr lang="en-US" altLang="ko-KR" sz="900" dirty="0"/>
              <a:t>Controller&gt;&gt;</a:t>
            </a:r>
          </a:p>
          <a:p>
            <a:pPr algn="ctr"/>
            <a:r>
              <a:rPr lang="en-US" altLang="ko-KR" sz="900" kern="0" dirty="0" err="1">
                <a:solidFill>
                  <a:srgbClr val="000000"/>
                </a:solidFill>
                <a:latin typeface="+mn-ea"/>
              </a:rPr>
              <a:t>TndrSbmsnController</a:t>
            </a:r>
            <a:endParaRPr lang="en-US" altLang="ko-KR" sz="900" kern="0" dirty="0">
              <a:solidFill>
                <a:srgbClr val="000000"/>
              </a:solidFill>
              <a:latin typeface="+mn-ea"/>
            </a:endParaRPr>
          </a:p>
        </p:txBody>
      </p:sp>
    </p:spTree>
    <p:extLst>
      <p:ext uri="{BB962C8B-B14F-4D97-AF65-F5344CB8AC3E}">
        <p14:creationId xmlns:p14="http://schemas.microsoft.com/office/powerpoint/2010/main" val="247774048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p:cNvSpPr>
            <a:spLocks noGrp="1"/>
          </p:cNvSpPr>
          <p:nvPr>
            <p:ph type="body" sz="quarter" idx="10"/>
          </p:nvPr>
        </p:nvSpPr>
        <p:spPr/>
        <p:txBody>
          <a:bodyPr/>
          <a:lstStyle/>
          <a:p>
            <a:pPr marL="228600" indent="-228600">
              <a:buFont typeface="+mj-lt"/>
              <a:buAutoNum type="arabicPeriod"/>
            </a:pPr>
            <a:r>
              <a:rPr lang="ko-KR" altLang="en-US" dirty="0"/>
              <a:t>업무 도움말 표시</a:t>
            </a:r>
            <a:endParaRPr lang="en-US" altLang="ko-KR" dirty="0"/>
          </a:p>
          <a:p>
            <a:pPr marL="228600" indent="-228600">
              <a:buFont typeface="+mj-lt"/>
              <a:buAutoNum type="arabicPeriod"/>
            </a:pPr>
            <a:r>
              <a:rPr lang="ko-KR" altLang="en-US" dirty="0" err="1"/>
              <a:t>조달업체가</a:t>
            </a:r>
            <a:r>
              <a:rPr lang="ko-KR" altLang="en-US" dirty="0"/>
              <a:t> 신청한 목록 </a:t>
            </a:r>
            <a:r>
              <a:rPr lang="ko-KR" altLang="en-US" dirty="0" smtClean="0"/>
              <a:t>표시</a:t>
            </a:r>
            <a:endParaRPr lang="en-US" altLang="ko-KR" dirty="0"/>
          </a:p>
        </p:txBody>
      </p:sp>
      <p:sp>
        <p:nvSpPr>
          <p:cNvPr id="2" name="슬라이드 번호 개체 틀 1"/>
          <p:cNvSpPr>
            <a:spLocks noGrp="1"/>
          </p:cNvSpPr>
          <p:nvPr>
            <p:ph type="sldNum" sz="quarter" idx="4"/>
          </p:nvPr>
        </p:nvSpPr>
        <p:spPr/>
        <p:txBody>
          <a:bodyPr/>
          <a:lstStyle/>
          <a:p>
            <a:fld id="{34C8E023-7346-48FC-AB24-9A3388C53208}" type="slidenum">
              <a:rPr lang="ko-KR" altLang="en-US" smtClean="0"/>
              <a:pPr/>
              <a:t>64</a:t>
            </a:fld>
            <a:endParaRPr lang="ko-KR" altLang="en-US" dirty="0"/>
          </a:p>
        </p:txBody>
      </p:sp>
      <p:sp>
        <p:nvSpPr>
          <p:cNvPr id="5" name="텍스트 개체 틀 4"/>
          <p:cNvSpPr>
            <a:spLocks noGrp="1"/>
          </p:cNvSpPr>
          <p:nvPr>
            <p:ph type="body" sz="quarter" idx="12"/>
          </p:nvPr>
        </p:nvSpPr>
        <p:spPr/>
        <p:txBody>
          <a:bodyPr/>
          <a:lstStyle/>
          <a:p>
            <a:pPr fontAlgn="ctr"/>
            <a:r>
              <a:rPr lang="ko-KR" altLang="en-US" dirty="0" err="1">
                <a:latin typeface="+mn-ea"/>
              </a:rPr>
              <a:t>입찰진행</a:t>
            </a:r>
            <a:r>
              <a:rPr lang="ko-KR" altLang="en-US" dirty="0">
                <a:latin typeface="+mn-ea"/>
              </a:rPr>
              <a:t> </a:t>
            </a:r>
            <a:r>
              <a:rPr lang="en-US" altLang="ko-KR" dirty="0">
                <a:latin typeface="+mn-ea"/>
              </a:rPr>
              <a:t>(</a:t>
            </a:r>
            <a:r>
              <a:rPr lang="ko-KR" altLang="en-US" dirty="0">
                <a:latin typeface="+mn-ea"/>
              </a:rPr>
              <a:t>목록</a:t>
            </a:r>
            <a:r>
              <a:rPr lang="en-US" altLang="ko-KR" dirty="0">
                <a:latin typeface="+mn-ea"/>
              </a:rPr>
              <a:t>)</a:t>
            </a:r>
            <a:endParaRPr lang="ko-KR" altLang="en-US" dirty="0">
              <a:latin typeface="+mn-ea"/>
            </a:endParaRPr>
          </a:p>
        </p:txBody>
      </p:sp>
      <p:sp>
        <p:nvSpPr>
          <p:cNvPr id="6" name="텍스트 개체 틀 5"/>
          <p:cNvSpPr>
            <a:spLocks noGrp="1"/>
          </p:cNvSpPr>
          <p:nvPr>
            <p:ph type="body" sz="quarter" idx="13"/>
          </p:nvPr>
        </p:nvSpPr>
        <p:spPr/>
        <p:txBody>
          <a:bodyPr/>
          <a:lstStyle/>
          <a:p>
            <a:r>
              <a:rPr lang="ko-KR" altLang="en-US" dirty="0"/>
              <a:t>입찰 진행 목록 화면 </a:t>
            </a:r>
            <a:r>
              <a:rPr lang="en-US" altLang="ko-KR" dirty="0"/>
              <a:t>– </a:t>
            </a:r>
            <a:r>
              <a:rPr lang="ko-KR" altLang="en-US" dirty="0"/>
              <a:t>조달업체에서 신청서를 작성한 목록</a:t>
            </a:r>
          </a:p>
        </p:txBody>
      </p:sp>
      <p:sp>
        <p:nvSpPr>
          <p:cNvPr id="7" name="텍스트 개체 틀 6"/>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a:t>
            </a:r>
          </a:p>
        </p:txBody>
      </p:sp>
      <p:sp>
        <p:nvSpPr>
          <p:cNvPr id="8" name="텍스트 개체 틀 7"/>
          <p:cNvSpPr>
            <a:spLocks noGrp="1"/>
          </p:cNvSpPr>
          <p:nvPr>
            <p:ph type="body" sz="quarter" idx="15"/>
          </p:nvPr>
        </p:nvSpPr>
        <p:spPr/>
        <p:txBody>
          <a:bodyPr/>
          <a:lstStyle/>
          <a:p>
            <a:r>
              <a:rPr lang="en-US" altLang="ko-KR" dirty="0">
                <a:latin typeface="+mn-ea"/>
              </a:rPr>
              <a:t>MUI-BD-03-M01</a:t>
            </a:r>
            <a:endParaRPr lang="ko-KR" altLang="en-US" dirty="0">
              <a:latin typeface="+mn-ea"/>
            </a:endParaRPr>
          </a:p>
        </p:txBody>
      </p:sp>
      <p:sp>
        <p:nvSpPr>
          <p:cNvPr id="9" name="직사각형 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err="1">
                <a:latin typeface="+mn-ea"/>
              </a:rPr>
              <a:t>입찰진행</a:t>
            </a:r>
            <a:endParaRPr lang="ko-KR" altLang="en-US" sz="800" dirty="0">
              <a:latin typeface="+mn-ea"/>
            </a:endParaRPr>
          </a:p>
        </p:txBody>
      </p:sp>
      <p:cxnSp>
        <p:nvCxnSpPr>
          <p:cNvPr id="19" name="직선 연결선 18">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0" name="그룹 19"/>
          <p:cNvGrpSpPr/>
          <p:nvPr/>
        </p:nvGrpSpPr>
        <p:grpSpPr>
          <a:xfrm rot="5400000">
            <a:off x="755013" y="1640499"/>
            <a:ext cx="94010" cy="47005"/>
            <a:chOff x="6812560" y="3297172"/>
            <a:chExt cx="94010" cy="47005"/>
          </a:xfrm>
        </p:grpSpPr>
        <p:cxnSp>
          <p:nvCxnSpPr>
            <p:cNvPr id="21" name="직선 연결선 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 name="직선 연결선 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 name="타원 22"/>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타원 23">
            <a:extLst>
              <a:ext uri="{FF2B5EF4-FFF2-40B4-BE49-F238E27FC236}">
                <a16:creationId xmlns:a16="http://schemas.microsoft.com/office/drawing/2014/main" id="{37A7FF4F-0EAA-1463-560A-D5EC24416103}"/>
              </a:ext>
            </a:extLst>
          </p:cNvPr>
          <p:cNvSpPr/>
          <p:nvPr/>
        </p:nvSpPr>
        <p:spPr>
          <a:xfrm>
            <a:off x="571127" y="195884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25" name="그룹 24"/>
          <p:cNvGrpSpPr/>
          <p:nvPr/>
        </p:nvGrpSpPr>
        <p:grpSpPr>
          <a:xfrm>
            <a:off x="781461" y="3284809"/>
            <a:ext cx="2473257" cy="1098561"/>
            <a:chOff x="781461" y="2610063"/>
            <a:chExt cx="2473257" cy="1098561"/>
          </a:xfrm>
        </p:grpSpPr>
        <p:sp>
          <p:nvSpPr>
            <p:cNvPr id="26" name="TextBox 58">
              <a:extLst>
                <a:ext uri="{FF2B5EF4-FFF2-40B4-BE49-F238E27FC236}">
                  <a16:creationId xmlns:a16="http://schemas.microsoft.com/office/drawing/2014/main" id="{02FC114B-B48B-345F-BD70-2B5A196F5B3E}"/>
                </a:ext>
              </a:extLst>
            </p:cNvPr>
            <p:cNvSpPr txBox="1"/>
            <p:nvPr/>
          </p:nvSpPr>
          <p:spPr>
            <a:xfrm>
              <a:off x="781461" y="2794394"/>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정상공고</a:t>
              </a:r>
              <a:r>
                <a:rPr lang="ko-KR" altLang="en-US" sz="700" dirty="0"/>
                <a:t> </a:t>
              </a:r>
              <a:r>
                <a:rPr lang="en-US" altLang="ko-KR" sz="700" dirty="0"/>
                <a:t>2026LGM000604191-01</a:t>
              </a:r>
            </a:p>
            <a:p>
              <a:r>
                <a:rPr lang="en-US" altLang="ko-KR" sz="900" b="1" dirty="0"/>
                <a:t>(26-</a:t>
              </a:r>
              <a:r>
                <a:rPr lang="ko-KR" altLang="en-US" sz="900" b="1" dirty="0">
                  <a:solidFill>
                    <a:schemeClr val="accent1">
                      <a:lumMod val="75000"/>
                    </a:schemeClr>
                  </a:solidFill>
                </a:rPr>
                <a:t>물품</a:t>
              </a:r>
              <a:r>
                <a:rPr lang="en-US" altLang="ko-KR" sz="900" b="1" dirty="0"/>
                <a:t>-04) </a:t>
              </a:r>
              <a:r>
                <a:rPr lang="ko-KR" altLang="en-US" sz="900" b="1" dirty="0"/>
                <a:t>간편한 </a:t>
              </a:r>
              <a:r>
                <a:rPr lang="ko-KR" altLang="en-US" sz="900" b="1" dirty="0" err="1"/>
                <a:t>아침식</a:t>
              </a:r>
              <a:r>
                <a:rPr lang="ko-KR" altLang="en-US" sz="900" b="1" dirty="0"/>
                <a:t> 제조 및 납품</a:t>
              </a:r>
            </a:p>
          </p:txBody>
        </p:sp>
        <p:sp>
          <p:nvSpPr>
            <p:cNvPr id="27" name="TextBox 59">
              <a:extLst>
                <a:ext uri="{FF2B5EF4-FFF2-40B4-BE49-F238E27FC236}">
                  <a16:creationId xmlns:a16="http://schemas.microsoft.com/office/drawing/2014/main" id="{F77C802D-3BC8-270F-87FC-5F442BD8054D}"/>
                </a:ext>
              </a:extLst>
            </p:cNvPr>
            <p:cNvSpPr txBox="1"/>
            <p:nvPr/>
          </p:nvSpPr>
          <p:spPr>
            <a:xfrm>
              <a:off x="781461" y="3154626"/>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28" name="TextBox 60">
              <a:extLst>
                <a:ext uri="{FF2B5EF4-FFF2-40B4-BE49-F238E27FC236}">
                  <a16:creationId xmlns:a16="http://schemas.microsoft.com/office/drawing/2014/main" id="{8F5E3227-69E6-C89F-B8C5-534226E95EA8}"/>
                </a:ext>
              </a:extLst>
            </p:cNvPr>
            <p:cNvSpPr txBox="1"/>
            <p:nvPr/>
          </p:nvSpPr>
          <p:spPr>
            <a:xfrm>
              <a:off x="2596303" y="3139237"/>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2026-02-12</a:t>
              </a:r>
            </a:p>
            <a:p>
              <a:pPr>
                <a:lnSpc>
                  <a:spcPct val="150000"/>
                </a:lnSpc>
              </a:pPr>
              <a:r>
                <a:rPr lang="en-US" altLang="ko-KR" sz="600" dirty="0">
                  <a:latin typeface="+mn-ea"/>
                </a:rPr>
                <a:t>2026-03-16 15:00</a:t>
              </a:r>
            </a:p>
            <a:p>
              <a:pPr>
                <a:lnSpc>
                  <a:spcPct val="150000"/>
                </a:lnSpc>
              </a:pPr>
              <a:r>
                <a:rPr lang="en-US" altLang="ko-KR" sz="600" dirty="0">
                  <a:latin typeface="+mn-ea"/>
                </a:rPr>
                <a:t>2026-03-17 15:00</a:t>
              </a:r>
            </a:p>
            <a:p>
              <a:pPr>
                <a:lnSpc>
                  <a:spcPct val="150000"/>
                </a:lnSpc>
              </a:pPr>
              <a:r>
                <a:rPr lang="en-US" altLang="ko-KR" sz="600" dirty="0">
                  <a:latin typeface="+mn-ea"/>
                </a:rPr>
                <a:t>2026-03-26 11:00</a:t>
              </a:r>
              <a:endParaRPr lang="ko-KR" altLang="en-US" sz="600" dirty="0">
                <a:latin typeface="+mn-ea"/>
              </a:endParaRPr>
            </a:p>
          </p:txBody>
        </p:sp>
        <p:sp>
          <p:nvSpPr>
            <p:cNvPr id="29" name="모서리가 둥근 직사각형 28"/>
            <p:cNvSpPr/>
            <p:nvPr/>
          </p:nvSpPr>
          <p:spPr>
            <a:xfrm>
              <a:off x="781461" y="2610063"/>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30" name="모서리가 둥근 직사각형 29"/>
            <p:cNvSpPr/>
            <p:nvPr/>
          </p:nvSpPr>
          <p:spPr>
            <a:xfrm>
              <a:off x="1075655"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31" name="모서리가 둥근 직사각형 30"/>
            <p:cNvSpPr/>
            <p:nvPr/>
          </p:nvSpPr>
          <p:spPr>
            <a:xfrm>
              <a:off x="1522790"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32" name="모서리가 둥근 직사각형 31"/>
            <p:cNvSpPr/>
            <p:nvPr/>
          </p:nvSpPr>
          <p:spPr>
            <a:xfrm>
              <a:off x="1964204"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grpSp>
        <p:nvGrpSpPr>
          <p:cNvPr id="33" name="그룹 32">
            <a:extLst>
              <a:ext uri="{FF2B5EF4-FFF2-40B4-BE49-F238E27FC236}">
                <a16:creationId xmlns:a16="http://schemas.microsoft.com/office/drawing/2014/main" id="{22BC05EE-C648-7CA2-4CCC-6E1C1A7E9BDA}"/>
              </a:ext>
            </a:extLst>
          </p:cNvPr>
          <p:cNvGrpSpPr/>
          <p:nvPr/>
        </p:nvGrpSpPr>
        <p:grpSpPr>
          <a:xfrm>
            <a:off x="1992981" y="5915412"/>
            <a:ext cx="76863" cy="292489"/>
            <a:chOff x="3750067" y="4683795"/>
            <a:chExt cx="76863" cy="292489"/>
          </a:xfrm>
        </p:grpSpPr>
        <p:sp>
          <p:nvSpPr>
            <p:cNvPr id="34" name="타원 3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35" name="타원 3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36" name="타원 3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37" name="그룹 36"/>
          <p:cNvGrpSpPr/>
          <p:nvPr/>
        </p:nvGrpSpPr>
        <p:grpSpPr>
          <a:xfrm>
            <a:off x="778515" y="4615327"/>
            <a:ext cx="2476203" cy="1098561"/>
            <a:chOff x="778515" y="2610063"/>
            <a:chExt cx="2476203" cy="1098561"/>
          </a:xfrm>
        </p:grpSpPr>
        <p:sp>
          <p:nvSpPr>
            <p:cNvPr id="38" name="TextBox 58">
              <a:extLst>
                <a:ext uri="{FF2B5EF4-FFF2-40B4-BE49-F238E27FC236}">
                  <a16:creationId xmlns:a16="http://schemas.microsoft.com/office/drawing/2014/main" id="{02FC114B-B48B-345F-BD70-2B5A196F5B3E}"/>
                </a:ext>
              </a:extLst>
            </p:cNvPr>
            <p:cNvSpPr txBox="1"/>
            <p:nvPr/>
          </p:nvSpPr>
          <p:spPr>
            <a:xfrm>
              <a:off x="781461" y="2794394"/>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정상공고</a:t>
              </a:r>
              <a:r>
                <a:rPr lang="ko-KR" altLang="en-US" sz="700" dirty="0"/>
                <a:t> </a:t>
              </a:r>
              <a:r>
                <a:rPr lang="en-US" altLang="ko-KR" sz="700" dirty="0"/>
                <a:t>2026LGM000604191-01</a:t>
              </a:r>
            </a:p>
            <a:p>
              <a:r>
                <a:rPr lang="en-US" altLang="ko-KR" sz="900" b="1" dirty="0"/>
                <a:t>(26-</a:t>
              </a:r>
              <a:r>
                <a:rPr lang="ko-KR" altLang="en-US" sz="900" b="1" dirty="0">
                  <a:solidFill>
                    <a:schemeClr val="accent1">
                      <a:lumMod val="75000"/>
                    </a:schemeClr>
                  </a:solidFill>
                </a:rPr>
                <a:t>물품</a:t>
              </a:r>
              <a:r>
                <a:rPr lang="en-US" altLang="ko-KR" sz="900" b="1" dirty="0"/>
                <a:t>-04) </a:t>
              </a:r>
              <a:r>
                <a:rPr lang="ko-KR" altLang="en-US" sz="900" b="1" dirty="0"/>
                <a:t>간편한 </a:t>
              </a:r>
              <a:r>
                <a:rPr lang="ko-KR" altLang="en-US" sz="900" b="1" dirty="0" err="1"/>
                <a:t>아침식</a:t>
              </a:r>
              <a:r>
                <a:rPr lang="ko-KR" altLang="en-US" sz="900" b="1" dirty="0"/>
                <a:t> 제조 및 납품</a:t>
              </a:r>
            </a:p>
          </p:txBody>
        </p:sp>
        <p:sp>
          <p:nvSpPr>
            <p:cNvPr id="39" name="TextBox 59">
              <a:extLst>
                <a:ext uri="{FF2B5EF4-FFF2-40B4-BE49-F238E27FC236}">
                  <a16:creationId xmlns:a16="http://schemas.microsoft.com/office/drawing/2014/main" id="{F77C802D-3BC8-270F-87FC-5F442BD8054D}"/>
                </a:ext>
              </a:extLst>
            </p:cNvPr>
            <p:cNvSpPr txBox="1"/>
            <p:nvPr/>
          </p:nvSpPr>
          <p:spPr>
            <a:xfrm>
              <a:off x="781461" y="3154626"/>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40" name="TextBox 60">
              <a:extLst>
                <a:ext uri="{FF2B5EF4-FFF2-40B4-BE49-F238E27FC236}">
                  <a16:creationId xmlns:a16="http://schemas.microsoft.com/office/drawing/2014/main" id="{8F5E3227-69E6-C89F-B8C5-534226E95EA8}"/>
                </a:ext>
              </a:extLst>
            </p:cNvPr>
            <p:cNvSpPr txBox="1"/>
            <p:nvPr/>
          </p:nvSpPr>
          <p:spPr>
            <a:xfrm>
              <a:off x="2596303" y="3139237"/>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2026-02-12</a:t>
              </a:r>
            </a:p>
            <a:p>
              <a:pPr>
                <a:lnSpc>
                  <a:spcPct val="150000"/>
                </a:lnSpc>
              </a:pPr>
              <a:r>
                <a:rPr lang="en-US" altLang="ko-KR" sz="600" dirty="0">
                  <a:latin typeface="+mn-ea"/>
                </a:rPr>
                <a:t>2026-03-16 15:00</a:t>
              </a:r>
            </a:p>
            <a:p>
              <a:pPr>
                <a:lnSpc>
                  <a:spcPct val="150000"/>
                </a:lnSpc>
              </a:pPr>
              <a:r>
                <a:rPr lang="en-US" altLang="ko-KR" sz="600" dirty="0">
                  <a:latin typeface="+mn-ea"/>
                </a:rPr>
                <a:t>2026-03-17 15:00</a:t>
              </a:r>
            </a:p>
            <a:p>
              <a:pPr>
                <a:lnSpc>
                  <a:spcPct val="150000"/>
                </a:lnSpc>
              </a:pPr>
              <a:r>
                <a:rPr lang="en-US" altLang="ko-KR" sz="600" dirty="0">
                  <a:latin typeface="+mn-ea"/>
                </a:rPr>
                <a:t>2026-03-26 11:00</a:t>
              </a:r>
              <a:endParaRPr lang="ko-KR" altLang="en-US" sz="600" dirty="0">
                <a:latin typeface="+mn-ea"/>
              </a:endParaRPr>
            </a:p>
          </p:txBody>
        </p:sp>
        <p:sp>
          <p:nvSpPr>
            <p:cNvPr id="41" name="모서리가 둥근 직사각형 40"/>
            <p:cNvSpPr/>
            <p:nvPr/>
          </p:nvSpPr>
          <p:spPr>
            <a:xfrm>
              <a:off x="778515" y="2610063"/>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42" name="모서리가 둥근 직사각형 41"/>
            <p:cNvSpPr/>
            <p:nvPr/>
          </p:nvSpPr>
          <p:spPr>
            <a:xfrm>
              <a:off x="1075655"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공개수의</a:t>
              </a:r>
              <a:endParaRPr lang="ko-KR" altLang="en-US" sz="600" dirty="0"/>
            </a:p>
          </p:txBody>
        </p:sp>
        <p:sp>
          <p:nvSpPr>
            <p:cNvPr id="43" name="모서리가 둥근 직사각형 42"/>
            <p:cNvSpPr/>
            <p:nvPr/>
          </p:nvSpPr>
          <p:spPr>
            <a:xfrm>
              <a:off x="1534668"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취소공고</a:t>
              </a:r>
              <a:endParaRPr lang="ko-KR" altLang="en-US" sz="600" dirty="0"/>
            </a:p>
          </p:txBody>
        </p:sp>
        <p:sp>
          <p:nvSpPr>
            <p:cNvPr id="44" name="모서리가 둥근 직사각형 43"/>
            <p:cNvSpPr/>
            <p:nvPr/>
          </p:nvSpPr>
          <p:spPr>
            <a:xfrm>
              <a:off x="1992981" y="2610063"/>
              <a:ext cx="319213"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견적서</a:t>
              </a:r>
            </a:p>
          </p:txBody>
        </p:sp>
      </p:grpSp>
      <p:cxnSp>
        <p:nvCxnSpPr>
          <p:cNvPr id="45" name="직선 연결선 44">
            <a:extLst>
              <a:ext uri="{FF2B5EF4-FFF2-40B4-BE49-F238E27FC236}">
                <a16:creationId xmlns:a16="http://schemas.microsoft.com/office/drawing/2014/main" id="{E9293055-D5CD-4B9E-7F64-64B2D2CA7A52}"/>
              </a:ext>
            </a:extLst>
          </p:cNvPr>
          <p:cNvCxnSpPr/>
          <p:nvPr/>
        </p:nvCxnSpPr>
        <p:spPr>
          <a:xfrm>
            <a:off x="720490" y="449680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6" name="직선 연결선 45">
            <a:extLst>
              <a:ext uri="{FF2B5EF4-FFF2-40B4-BE49-F238E27FC236}">
                <a16:creationId xmlns:a16="http://schemas.microsoft.com/office/drawing/2014/main" id="{E9293055-D5CD-4B9E-7F64-64B2D2CA7A52}"/>
              </a:ext>
            </a:extLst>
          </p:cNvPr>
          <p:cNvCxnSpPr/>
          <p:nvPr/>
        </p:nvCxnSpPr>
        <p:spPr>
          <a:xfrm>
            <a:off x="720490" y="316025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8" name="직선 연결선 47">
            <a:extLst>
              <a:ext uri="{FF2B5EF4-FFF2-40B4-BE49-F238E27FC236}">
                <a16:creationId xmlns:a16="http://schemas.microsoft.com/office/drawing/2014/main" id="{E9293055-D5CD-4B9E-7F64-64B2D2CA7A52}"/>
              </a:ext>
            </a:extLst>
          </p:cNvPr>
          <p:cNvCxnSpPr/>
          <p:nvPr/>
        </p:nvCxnSpPr>
        <p:spPr>
          <a:xfrm>
            <a:off x="675399" y="221015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9" name="TextBox 48">
            <a:extLst>
              <a:ext uri="{FF2B5EF4-FFF2-40B4-BE49-F238E27FC236}">
                <a16:creationId xmlns:a16="http://schemas.microsoft.com/office/drawing/2014/main" id="{FFC49AEA-2A8F-250C-A86A-A7751D9706C3}"/>
              </a:ext>
            </a:extLst>
          </p:cNvPr>
          <p:cNvSpPr txBox="1"/>
          <p:nvPr/>
        </p:nvSpPr>
        <p:spPr>
          <a:xfrm>
            <a:off x="1019814" y="1902673"/>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50" name="타원 49"/>
          <p:cNvSpPr/>
          <p:nvPr/>
        </p:nvSpPr>
        <p:spPr>
          <a:xfrm>
            <a:off x="783686" y="1934018"/>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1" name="그룹 50"/>
          <p:cNvGrpSpPr/>
          <p:nvPr/>
        </p:nvGrpSpPr>
        <p:grpSpPr>
          <a:xfrm>
            <a:off x="3143548" y="2016004"/>
            <a:ext cx="94010" cy="47005"/>
            <a:chOff x="6812560" y="3297172"/>
            <a:chExt cx="94010" cy="47005"/>
          </a:xfrm>
        </p:grpSpPr>
        <p:cxnSp>
          <p:nvCxnSpPr>
            <p:cNvPr id="52" name="직선 연결선 5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53" name="직선 연결선 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4" name="타원 53">
            <a:extLst>
              <a:ext uri="{FF2B5EF4-FFF2-40B4-BE49-F238E27FC236}">
                <a16:creationId xmlns:a16="http://schemas.microsoft.com/office/drawing/2014/main" id="{37A7FF4F-0EAA-1463-560A-D5EC24416103}"/>
              </a:ext>
            </a:extLst>
          </p:cNvPr>
          <p:cNvSpPr/>
          <p:nvPr/>
        </p:nvSpPr>
        <p:spPr>
          <a:xfrm>
            <a:off x="571127" y="36506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cxnSp>
        <p:nvCxnSpPr>
          <p:cNvPr id="58" name="직선 연결선 57">
            <a:extLst>
              <a:ext uri="{FF2B5EF4-FFF2-40B4-BE49-F238E27FC236}">
                <a16:creationId xmlns:a16="http://schemas.microsoft.com/office/drawing/2014/main" id="{E9293055-D5CD-4B9E-7F64-64B2D2CA7A52}"/>
              </a:ext>
            </a:extLst>
          </p:cNvPr>
          <p:cNvCxnSpPr/>
          <p:nvPr/>
        </p:nvCxnSpPr>
        <p:spPr>
          <a:xfrm>
            <a:off x="675399" y="28057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9" name="TextBox 58">
            <a:extLst>
              <a:ext uri="{FF2B5EF4-FFF2-40B4-BE49-F238E27FC236}">
                <a16:creationId xmlns:a16="http://schemas.microsoft.com/office/drawing/2014/main" id="{FFC49AEA-2A8F-250C-A86A-A7751D9706C3}"/>
              </a:ext>
            </a:extLst>
          </p:cNvPr>
          <p:cNvSpPr txBox="1"/>
          <p:nvPr/>
        </p:nvSpPr>
        <p:spPr>
          <a:xfrm>
            <a:off x="778515" y="2874722"/>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2,010</a:t>
            </a:r>
            <a:r>
              <a:rPr lang="en-US" altLang="ko-KR" sz="700" dirty="0">
                <a:latin typeface="+mn-ea"/>
              </a:rPr>
              <a:t> </a:t>
            </a:r>
            <a:r>
              <a:rPr lang="ko-KR" altLang="en-US" sz="700" dirty="0">
                <a:latin typeface="+mn-ea"/>
              </a:rPr>
              <a:t>건</a:t>
            </a:r>
          </a:p>
        </p:txBody>
      </p:sp>
      <p:sp>
        <p:nvSpPr>
          <p:cNvPr id="60" name="TextBox 59">
            <a:extLst>
              <a:ext uri="{FF2B5EF4-FFF2-40B4-BE49-F238E27FC236}">
                <a16:creationId xmlns:a16="http://schemas.microsoft.com/office/drawing/2014/main" id="{FFC49AEA-2A8F-250C-A86A-A7751D9706C3}"/>
              </a:ext>
            </a:extLst>
          </p:cNvPr>
          <p:cNvSpPr txBox="1"/>
          <p:nvPr/>
        </p:nvSpPr>
        <p:spPr>
          <a:xfrm>
            <a:off x="2278206" y="2870668"/>
            <a:ext cx="393849" cy="181140"/>
          </a:xfrm>
          <a:prstGeom prst="rect">
            <a:avLst/>
          </a:prstGeom>
          <a:noFill/>
        </p:spPr>
        <p:txBody>
          <a:bodyPr wrap="square" lIns="0" tIns="0" rIns="0" bIns="0" rtlCol="0">
            <a:spAutoFit/>
          </a:bodyPr>
          <a:lstStyle/>
          <a:p>
            <a:pPr>
              <a:lnSpc>
                <a:spcPct val="200000"/>
              </a:lnSpc>
            </a:pPr>
            <a:r>
              <a:rPr lang="ko-KR" altLang="en-US" sz="700" b="1" dirty="0">
                <a:latin typeface="+mn-ea"/>
              </a:rPr>
              <a:t>표시 개수</a:t>
            </a:r>
          </a:p>
        </p:txBody>
      </p:sp>
      <p:sp>
        <p:nvSpPr>
          <p:cNvPr id="61" name="TextBox 60">
            <a:extLst>
              <a:ext uri="{FF2B5EF4-FFF2-40B4-BE49-F238E27FC236}">
                <a16:creationId xmlns:a16="http://schemas.microsoft.com/office/drawing/2014/main" id="{FFC49AEA-2A8F-250C-A86A-A7751D9706C3}"/>
              </a:ext>
            </a:extLst>
          </p:cNvPr>
          <p:cNvSpPr txBox="1"/>
          <p:nvPr/>
        </p:nvSpPr>
        <p:spPr>
          <a:xfrm>
            <a:off x="2727990" y="2870668"/>
            <a:ext cx="505710" cy="181140"/>
          </a:xfrm>
          <a:prstGeom prst="rect">
            <a:avLst/>
          </a:prstGeom>
          <a:noFill/>
        </p:spPr>
        <p:txBody>
          <a:bodyPr wrap="square" lIns="0" tIns="0" rIns="0" bIns="0" rtlCol="0">
            <a:spAutoFit/>
          </a:bodyPr>
          <a:lstStyle/>
          <a:p>
            <a:pPr>
              <a:lnSpc>
                <a:spcPct val="200000"/>
              </a:lnSpc>
            </a:pPr>
            <a:r>
              <a:rPr lang="en-US" altLang="ko-KR" sz="700" dirty="0">
                <a:latin typeface="+mn-ea"/>
              </a:rPr>
              <a:t>10 </a:t>
            </a:r>
            <a:r>
              <a:rPr lang="ko-KR" altLang="en-US" sz="700" dirty="0">
                <a:latin typeface="+mn-ea"/>
              </a:rPr>
              <a:t>개</a:t>
            </a:r>
          </a:p>
        </p:txBody>
      </p:sp>
      <p:grpSp>
        <p:nvGrpSpPr>
          <p:cNvPr id="62" name="그룹 61"/>
          <p:cNvGrpSpPr/>
          <p:nvPr/>
        </p:nvGrpSpPr>
        <p:grpSpPr>
          <a:xfrm>
            <a:off x="3143548" y="2972491"/>
            <a:ext cx="94010" cy="47005"/>
            <a:chOff x="6812560" y="3297172"/>
            <a:chExt cx="94010" cy="47005"/>
          </a:xfrm>
        </p:grpSpPr>
        <p:cxnSp>
          <p:nvCxnSpPr>
            <p:cNvPr id="63" name="직선 연결선 6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4" name="직선 연결선 6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65" name="그룹 64"/>
          <p:cNvGrpSpPr/>
          <p:nvPr/>
        </p:nvGrpSpPr>
        <p:grpSpPr>
          <a:xfrm>
            <a:off x="767702" y="2270279"/>
            <a:ext cx="2527420" cy="477995"/>
            <a:chOff x="786326" y="2270279"/>
            <a:chExt cx="2527420" cy="477995"/>
          </a:xfrm>
        </p:grpSpPr>
        <p:sp>
          <p:nvSpPr>
            <p:cNvPr id="66" name="모서리가 둥근 직사각형 65"/>
            <p:cNvSpPr/>
            <p:nvPr/>
          </p:nvSpPr>
          <p:spPr>
            <a:xfrm>
              <a:off x="786326" y="2481707"/>
              <a:ext cx="2527420" cy="266567"/>
            </a:xfrm>
            <a:prstGeom prst="roundRect">
              <a:avLst>
                <a:gd name="adj" fmla="val 5000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타원 66"/>
            <p:cNvSpPr/>
            <p:nvPr/>
          </p:nvSpPr>
          <p:spPr>
            <a:xfrm>
              <a:off x="3071451"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TextBox 67">
              <a:extLst>
                <a:ext uri="{FF2B5EF4-FFF2-40B4-BE49-F238E27FC236}">
                  <a16:creationId xmlns:a16="http://schemas.microsoft.com/office/drawing/2014/main" id="{FFC49AEA-2A8F-250C-A86A-A7751D9706C3}"/>
                </a:ext>
              </a:extLst>
            </p:cNvPr>
            <p:cNvSpPr txBox="1"/>
            <p:nvPr/>
          </p:nvSpPr>
          <p:spPr>
            <a:xfrm>
              <a:off x="890013" y="2561129"/>
              <a:ext cx="1886364" cy="107722"/>
            </a:xfrm>
            <a:prstGeom prst="rect">
              <a:avLst/>
            </a:prstGeom>
            <a:noFill/>
          </p:spPr>
          <p:txBody>
            <a:bodyPr wrap="square" lIns="0" tIns="0" rIns="0" bIns="0" rtlCol="0">
              <a:spAutoFit/>
            </a:bodyPr>
            <a:lstStyle/>
            <a:p>
              <a:r>
                <a:rPr lang="ko-KR" altLang="en-US" sz="700" dirty="0">
                  <a:solidFill>
                    <a:schemeClr val="bg1">
                      <a:lumMod val="50000"/>
                    </a:schemeClr>
                  </a:solidFill>
                  <a:latin typeface="+mn-ea"/>
                </a:rPr>
                <a:t>검색할 내용을 입력하세요</a:t>
              </a:r>
              <a:r>
                <a:rPr lang="en-US" altLang="ko-KR" sz="700" dirty="0">
                  <a:solidFill>
                    <a:schemeClr val="bg1">
                      <a:lumMod val="50000"/>
                    </a:schemeClr>
                  </a:solidFill>
                  <a:latin typeface="+mn-ea"/>
                </a:rPr>
                <a:t>.</a:t>
              </a:r>
              <a:endParaRPr lang="ko-KR" altLang="en-US" sz="700" dirty="0">
                <a:solidFill>
                  <a:schemeClr val="bg1">
                    <a:lumMod val="50000"/>
                  </a:schemeClr>
                </a:solidFill>
                <a:latin typeface="+mn-ea"/>
              </a:endParaRPr>
            </a:p>
          </p:txBody>
        </p:sp>
        <p:grpSp>
          <p:nvGrpSpPr>
            <p:cNvPr id="69" name="그룹 68"/>
            <p:cNvGrpSpPr/>
            <p:nvPr/>
          </p:nvGrpSpPr>
          <p:grpSpPr>
            <a:xfrm>
              <a:off x="795624" y="2274581"/>
              <a:ext cx="1299303" cy="155984"/>
              <a:chOff x="808107" y="2288229"/>
              <a:chExt cx="1189739" cy="168318"/>
            </a:xfrm>
          </p:grpSpPr>
          <p:sp>
            <p:nvSpPr>
              <p:cNvPr id="76" name="사각형: 둥근 모서리 31">
                <a:extLst>
                  <a:ext uri="{FF2B5EF4-FFF2-40B4-BE49-F238E27FC236}">
                    <a16:creationId xmlns:a16="http://schemas.microsoft.com/office/drawing/2014/main" id="{2AC143EE-93CF-3518-F0CB-8469E98507E0}"/>
                  </a:ext>
                </a:extLst>
              </p:cNvPr>
              <p:cNvSpPr/>
              <p:nvPr/>
            </p:nvSpPr>
            <p:spPr>
              <a:xfrm>
                <a:off x="808107" y="2288229"/>
                <a:ext cx="563494" cy="168318"/>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공고명</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77" name="사각형: 둥근 모서리 31">
                <a:extLst>
                  <a:ext uri="{FF2B5EF4-FFF2-40B4-BE49-F238E27FC236}">
                    <a16:creationId xmlns:a16="http://schemas.microsoft.com/office/drawing/2014/main" id="{2AC143EE-93CF-3518-F0CB-8469E98507E0}"/>
                  </a:ext>
                </a:extLst>
              </p:cNvPr>
              <p:cNvSpPr/>
              <p:nvPr/>
            </p:nvSpPr>
            <p:spPr>
              <a:xfrm>
                <a:off x="1434352" y="2288229"/>
                <a:ext cx="563494" cy="168318"/>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공고번호</a:t>
                </a:r>
                <a:endParaRPr kumimoji="1" lang="en-US" sz="800" b="0" i="0" u="none" strike="noStrike" kern="0" cap="none" spc="0" normalizeH="0" baseline="0" noProof="0" dirty="0">
                  <a:ln>
                    <a:noFill/>
                  </a:ln>
                  <a:effectLst/>
                  <a:uLnTx/>
                  <a:uFillTx/>
                  <a:latin typeface="맑은 고딕"/>
                </a:endParaRPr>
              </a:p>
            </p:txBody>
          </p:sp>
        </p:grpSp>
        <p:sp>
          <p:nvSpPr>
            <p:cNvPr id="70" name="타원 69"/>
            <p:cNvSpPr/>
            <p:nvPr/>
          </p:nvSpPr>
          <p:spPr>
            <a:xfrm>
              <a:off x="814969" y="2290708"/>
              <a:ext cx="108000" cy="108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dirty="0"/>
                <a:t>V</a:t>
              </a:r>
              <a:endParaRPr lang="ko-KR" altLang="en-US" sz="600" dirty="0"/>
            </a:p>
          </p:txBody>
        </p:sp>
        <p:sp>
          <p:nvSpPr>
            <p:cNvPr id="71" name="사각형: 둥근 모서리 31">
              <a:extLst>
                <a:ext uri="{FF2B5EF4-FFF2-40B4-BE49-F238E27FC236}">
                  <a16:creationId xmlns:a16="http://schemas.microsoft.com/office/drawing/2014/main" id="{2AC143EE-93CF-3518-F0CB-8469E98507E0}"/>
                </a:ext>
              </a:extLst>
            </p:cNvPr>
            <p:cNvSpPr/>
            <p:nvPr/>
          </p:nvSpPr>
          <p:spPr>
            <a:xfrm>
              <a:off x="2726021" y="2270279"/>
              <a:ext cx="582849" cy="154795"/>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검색필터</a:t>
              </a:r>
              <a:endParaRPr kumimoji="1" lang="en-US" sz="800" b="0" i="0" u="none" strike="noStrike" kern="0" cap="none" spc="0" normalizeH="0" baseline="0" noProof="0" dirty="0">
                <a:ln>
                  <a:noFill/>
                </a:ln>
                <a:effectLst/>
                <a:uLnTx/>
                <a:uFillTx/>
                <a:latin typeface="맑은 고딕"/>
              </a:endParaRPr>
            </a:p>
          </p:txBody>
        </p:sp>
        <p:sp>
          <p:nvSpPr>
            <p:cNvPr id="72" name="타원 71"/>
            <p:cNvSpPr/>
            <p:nvPr/>
          </p:nvSpPr>
          <p:spPr>
            <a:xfrm>
              <a:off x="2857726"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2901631" y="2585953"/>
              <a:ext cx="58075" cy="58074"/>
              <a:chOff x="6812560" y="3297172"/>
              <a:chExt cx="94010" cy="94010"/>
            </a:xfrm>
          </p:grpSpPr>
          <p:cxnSp>
            <p:nvCxnSpPr>
              <p:cNvPr id="74" name="직선 연결선 73"/>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75" name="직선 연결선 74"/>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sp>
        <p:nvSpPr>
          <p:cNvPr id="78" name="TextBox 77"/>
          <p:cNvSpPr txBox="1"/>
          <p:nvPr/>
        </p:nvSpPr>
        <p:spPr>
          <a:xfrm flipH="1">
            <a:off x="3000338" y="2516451"/>
            <a:ext cx="274434" cy="200055"/>
          </a:xfrm>
          <a:prstGeom prst="rect">
            <a:avLst/>
          </a:prstGeom>
          <a:noFill/>
        </p:spPr>
        <p:txBody>
          <a:bodyPr wrap="none" rtlCol="0">
            <a:spAutoFit/>
          </a:bodyPr>
          <a:lstStyle/>
          <a:p>
            <a:r>
              <a:rPr lang="ko-KR" altLang="en-US" sz="700" dirty="0"/>
              <a:t>🔎</a:t>
            </a:r>
          </a:p>
        </p:txBody>
      </p:sp>
    </p:spTree>
    <p:extLst>
      <p:ext uri="{BB962C8B-B14F-4D97-AF65-F5344CB8AC3E}">
        <p14:creationId xmlns:p14="http://schemas.microsoft.com/office/powerpoint/2010/main" val="37011205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p:cNvSpPr>
            <a:spLocks noGrp="1"/>
          </p:cNvSpPr>
          <p:nvPr>
            <p:ph type="body" sz="quarter" idx="10"/>
          </p:nvPr>
        </p:nvSpPr>
        <p:spPr/>
        <p:txBody>
          <a:bodyPr/>
          <a:lstStyle/>
          <a:p>
            <a:pPr marL="228600" indent="-228600">
              <a:buFont typeface="+mj-lt"/>
              <a:buAutoNum type="arabicPeriod"/>
            </a:pPr>
            <a:r>
              <a:rPr lang="ko-KR" altLang="en-US" dirty="0"/>
              <a:t>상세정보 화면</a:t>
            </a:r>
            <a:r>
              <a:rPr lang="en-US" altLang="ko-KR" dirty="0"/>
              <a:t> – </a:t>
            </a:r>
            <a:r>
              <a:rPr lang="ko-KR" altLang="en-US" dirty="0"/>
              <a:t>세부 내역 표시</a:t>
            </a:r>
            <a:r>
              <a:rPr lang="en-US" altLang="ko-KR" dirty="0"/>
              <a:t/>
            </a:r>
            <a:br>
              <a:rPr lang="en-US" altLang="ko-KR" dirty="0"/>
            </a:br>
            <a:r>
              <a:rPr lang="en-US" altLang="ko-KR" dirty="0"/>
              <a:t>- </a:t>
            </a:r>
            <a:r>
              <a:rPr lang="ko-KR" altLang="en-US" dirty="0"/>
              <a:t>표시 내역이 없는 항목은 숨김</a:t>
            </a:r>
            <a:endParaRPr lang="en-US" altLang="ko-KR" dirty="0"/>
          </a:p>
          <a:p>
            <a:pPr marL="228600" indent="-228600">
              <a:buFont typeface="+mj-lt"/>
              <a:buAutoNum type="arabicPeriod"/>
            </a:pPr>
            <a:r>
              <a:rPr lang="ko-KR" altLang="en-US" dirty="0"/>
              <a:t>버튼 노출 및 클릭 시 해당 내역 표시</a:t>
            </a:r>
            <a:endParaRPr lang="en-US" altLang="ko-KR" dirty="0"/>
          </a:p>
          <a:p>
            <a:pPr marL="228600" indent="-228600">
              <a:buFont typeface="+mj-lt"/>
              <a:buAutoNum type="arabicPeriod"/>
            </a:pPr>
            <a:r>
              <a:rPr lang="ko-KR" altLang="en-US" dirty="0"/>
              <a:t>작성</a:t>
            </a:r>
            <a:r>
              <a:rPr lang="en-US" altLang="ko-KR" dirty="0"/>
              <a:t>, </a:t>
            </a:r>
            <a:r>
              <a:rPr lang="ko-KR" altLang="en-US" dirty="0"/>
              <a:t>내역 및 결과 보기 페이지 이동</a:t>
            </a:r>
            <a:r>
              <a:rPr lang="en-US" altLang="ko-KR" dirty="0"/>
              <a:t/>
            </a:r>
            <a:br>
              <a:rPr lang="en-US" altLang="ko-KR" dirty="0"/>
            </a:br>
            <a:r>
              <a:rPr lang="en-US" altLang="ko-KR" dirty="0"/>
              <a:t>- </a:t>
            </a:r>
            <a:r>
              <a:rPr lang="ko-KR" altLang="en-US" dirty="0"/>
              <a:t>사전심사</a:t>
            </a:r>
            <a:r>
              <a:rPr lang="en-US" altLang="ko-KR" dirty="0"/>
              <a:t>(PQ), </a:t>
            </a:r>
            <a:r>
              <a:rPr lang="ko-KR" altLang="en-US" dirty="0" err="1"/>
              <a:t>입찰참가서</a:t>
            </a:r>
            <a:r>
              <a:rPr lang="en-US" altLang="ko-KR" dirty="0"/>
              <a:t>, </a:t>
            </a:r>
            <a:r>
              <a:rPr lang="ko-KR" altLang="en-US" dirty="0"/>
              <a:t>견적서 등 작성한 화면을 </a:t>
            </a:r>
            <a:r>
              <a:rPr lang="ko-KR" altLang="en-US" dirty="0" err="1"/>
              <a:t>읽기모드로</a:t>
            </a:r>
            <a:r>
              <a:rPr lang="ko-KR" altLang="en-US" dirty="0"/>
              <a:t> 연계하여 표시</a:t>
            </a:r>
            <a:r>
              <a:rPr lang="en-US" altLang="ko-KR" dirty="0"/>
              <a:t>.</a:t>
            </a:r>
            <a:br>
              <a:rPr lang="en-US" altLang="ko-KR" dirty="0"/>
            </a:br>
            <a:r>
              <a:rPr lang="ko-KR" altLang="en-US" dirty="0" err="1"/>
              <a:t>공동협정이</a:t>
            </a:r>
            <a:r>
              <a:rPr lang="ko-KR" altLang="en-US" dirty="0"/>
              <a:t> 필요한 업체는 내용 보기 중 </a:t>
            </a:r>
            <a:r>
              <a:rPr lang="ko-KR" altLang="en-US" dirty="0" err="1"/>
              <a:t>플로팅</a:t>
            </a:r>
            <a:r>
              <a:rPr lang="ko-KR" altLang="en-US" dirty="0"/>
              <a:t> 버튼으로 </a:t>
            </a:r>
            <a:r>
              <a:rPr lang="ko-KR" altLang="en-US" dirty="0" err="1"/>
              <a:t>반려등의</a:t>
            </a:r>
            <a:r>
              <a:rPr lang="ko-KR" altLang="en-US" dirty="0"/>
              <a:t> 추가 버튼 표시</a:t>
            </a:r>
            <a:endParaRPr lang="en-US" altLang="ko-KR" dirty="0"/>
          </a:p>
          <a:p>
            <a:pPr marL="228600" indent="-228600">
              <a:buFont typeface="+mj-lt"/>
              <a:buAutoNum type="arabicPeriod"/>
            </a:pPr>
            <a:r>
              <a:rPr lang="ko-KR" altLang="en-US" dirty="0" err="1"/>
              <a:t>플로팅</a:t>
            </a:r>
            <a:r>
              <a:rPr lang="ko-KR" altLang="en-US" dirty="0"/>
              <a:t> 버튼을 통해 버튼 표시</a:t>
            </a:r>
            <a:r>
              <a:rPr lang="en-US" altLang="ko-KR" dirty="0"/>
              <a:t/>
            </a:r>
            <a:br>
              <a:rPr lang="en-US" altLang="ko-KR" dirty="0"/>
            </a:br>
            <a:r>
              <a:rPr lang="en-US" altLang="ko-KR" dirty="0"/>
              <a:t>- </a:t>
            </a:r>
            <a:r>
              <a:rPr lang="ko-KR" altLang="en-US" dirty="0"/>
              <a:t>진행 상태</a:t>
            </a:r>
            <a:r>
              <a:rPr lang="en-US" altLang="ko-KR" dirty="0"/>
              <a:t>, </a:t>
            </a:r>
            <a:r>
              <a:rPr lang="ko-KR" altLang="en-US" dirty="0"/>
              <a:t>조건에 맞는 버튼 표시</a:t>
            </a:r>
            <a:endParaRPr lang="en-US" altLang="ko-KR" dirty="0"/>
          </a:p>
        </p:txBody>
      </p:sp>
      <p:sp>
        <p:nvSpPr>
          <p:cNvPr id="2" name="슬라이드 번호 개체 틀 1"/>
          <p:cNvSpPr>
            <a:spLocks noGrp="1"/>
          </p:cNvSpPr>
          <p:nvPr>
            <p:ph type="sldNum" sz="quarter" idx="4"/>
          </p:nvPr>
        </p:nvSpPr>
        <p:spPr/>
        <p:txBody>
          <a:bodyPr/>
          <a:lstStyle/>
          <a:p>
            <a:fld id="{34C8E023-7346-48FC-AB24-9A3388C53208}" type="slidenum">
              <a:rPr lang="ko-KR" altLang="en-US" smtClean="0"/>
              <a:pPr/>
              <a:t>65</a:t>
            </a:fld>
            <a:endParaRPr lang="ko-KR" altLang="en-US" dirty="0"/>
          </a:p>
        </p:txBody>
      </p:sp>
      <p:sp>
        <p:nvSpPr>
          <p:cNvPr id="5" name="텍스트 개체 틀 4"/>
          <p:cNvSpPr>
            <a:spLocks noGrp="1"/>
          </p:cNvSpPr>
          <p:nvPr>
            <p:ph type="body" sz="quarter" idx="12"/>
          </p:nvPr>
        </p:nvSpPr>
        <p:spPr/>
        <p:txBody>
          <a:bodyPr/>
          <a:lstStyle/>
          <a:p>
            <a:pPr fontAlgn="ctr"/>
            <a:r>
              <a:rPr lang="ko-KR" altLang="en-US" dirty="0" err="1">
                <a:latin typeface="+mn-ea"/>
              </a:rPr>
              <a:t>입찰진행</a:t>
            </a:r>
            <a:r>
              <a:rPr lang="ko-KR" altLang="en-US" dirty="0">
                <a:latin typeface="+mn-ea"/>
              </a:rPr>
              <a:t> 상세</a:t>
            </a:r>
          </a:p>
        </p:txBody>
      </p:sp>
      <p:sp>
        <p:nvSpPr>
          <p:cNvPr id="6" name="텍스트 개체 틀 5"/>
          <p:cNvSpPr>
            <a:spLocks noGrp="1"/>
          </p:cNvSpPr>
          <p:nvPr>
            <p:ph type="body" sz="quarter" idx="13"/>
          </p:nvPr>
        </p:nvSpPr>
        <p:spPr/>
        <p:txBody>
          <a:bodyPr/>
          <a:lstStyle/>
          <a:p>
            <a:r>
              <a:rPr lang="ko-KR" altLang="en-US" dirty="0"/>
              <a:t>입찰 진행 상세 화면 </a:t>
            </a:r>
            <a:r>
              <a:rPr lang="en-US" altLang="ko-KR" dirty="0"/>
              <a:t>– </a:t>
            </a:r>
            <a:r>
              <a:rPr lang="ko-KR" altLang="en-US" dirty="0"/>
              <a:t>입찰</a:t>
            </a:r>
            <a:r>
              <a:rPr lang="en-US" altLang="ko-KR" dirty="0"/>
              <a:t>, </a:t>
            </a:r>
            <a:r>
              <a:rPr lang="ko-KR" altLang="en-US" dirty="0"/>
              <a:t>사전심사를 진행한 상세 정보 표시</a:t>
            </a:r>
          </a:p>
        </p:txBody>
      </p:sp>
      <p:sp>
        <p:nvSpPr>
          <p:cNvPr id="7" name="텍스트 개체 틀 6"/>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a:t>
            </a:r>
          </a:p>
        </p:txBody>
      </p:sp>
      <p:sp>
        <p:nvSpPr>
          <p:cNvPr id="8" name="텍스트 개체 틀 7"/>
          <p:cNvSpPr>
            <a:spLocks noGrp="1"/>
          </p:cNvSpPr>
          <p:nvPr>
            <p:ph type="body" sz="quarter" idx="15"/>
          </p:nvPr>
        </p:nvSpPr>
        <p:spPr/>
        <p:txBody>
          <a:bodyPr lIns="72000" tIns="36000" rIns="72000" bIns="36000"/>
          <a:lstStyle/>
          <a:p>
            <a:pPr fontAlgn="ctr"/>
            <a:r>
              <a:rPr lang="en-US" altLang="ko-KR" dirty="0">
                <a:latin typeface="+mn-ea"/>
              </a:rPr>
              <a:t>MUI-BD-03-M02</a:t>
            </a:r>
            <a:endParaRPr lang="ko-KR" altLang="en-US" dirty="0">
              <a:latin typeface="+mn-ea"/>
            </a:endParaRPr>
          </a:p>
        </p:txBody>
      </p:sp>
      <p:sp>
        <p:nvSpPr>
          <p:cNvPr id="58" name="직사각형 57">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TextBox 58">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err="1">
                <a:latin typeface="+mn-ea"/>
              </a:rPr>
              <a:t>입찰진행</a:t>
            </a:r>
            <a:r>
              <a:rPr lang="ko-KR" altLang="en-US" sz="800" dirty="0">
                <a:latin typeface="+mn-ea"/>
              </a:rPr>
              <a:t> 상세정보</a:t>
            </a:r>
          </a:p>
        </p:txBody>
      </p:sp>
      <p:cxnSp>
        <p:nvCxnSpPr>
          <p:cNvPr id="60" name="직선 연결선 59">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61" name="그룹 60"/>
          <p:cNvGrpSpPr/>
          <p:nvPr/>
        </p:nvGrpSpPr>
        <p:grpSpPr>
          <a:xfrm rot="5400000">
            <a:off x="755013" y="1640499"/>
            <a:ext cx="94010" cy="47005"/>
            <a:chOff x="6812560" y="3297172"/>
            <a:chExt cx="94010" cy="47005"/>
          </a:xfrm>
        </p:grpSpPr>
        <p:cxnSp>
          <p:nvCxnSpPr>
            <p:cNvPr id="62" name="직선 연결선 6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3" name="직선 연결선 6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64" name="타원 63"/>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5" name="타원 64">
            <a:extLst>
              <a:ext uri="{FF2B5EF4-FFF2-40B4-BE49-F238E27FC236}">
                <a16:creationId xmlns:a16="http://schemas.microsoft.com/office/drawing/2014/main" id="{37A7FF4F-0EAA-1463-560A-D5EC24416103}"/>
              </a:ext>
            </a:extLst>
          </p:cNvPr>
          <p:cNvSpPr/>
          <p:nvPr/>
        </p:nvSpPr>
        <p:spPr>
          <a:xfrm>
            <a:off x="571127" y="195884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66" name="TextBox 65">
            <a:extLst>
              <a:ext uri="{FF2B5EF4-FFF2-40B4-BE49-F238E27FC236}">
                <a16:creationId xmlns:a16="http://schemas.microsoft.com/office/drawing/2014/main" id="{FFC49AEA-2A8F-250C-A86A-A7751D9706C3}"/>
              </a:ext>
            </a:extLst>
          </p:cNvPr>
          <p:cNvSpPr txBox="1"/>
          <p:nvPr/>
        </p:nvSpPr>
        <p:spPr>
          <a:xfrm>
            <a:off x="817932" y="2565658"/>
            <a:ext cx="670770" cy="107722"/>
          </a:xfrm>
          <a:prstGeom prst="rect">
            <a:avLst/>
          </a:prstGeom>
          <a:noFill/>
        </p:spPr>
        <p:txBody>
          <a:bodyPr wrap="square" lIns="0" tIns="0" rIns="0" bIns="0" rtlCol="0">
            <a:spAutoFit/>
          </a:bodyPr>
          <a:lstStyle/>
          <a:p>
            <a:r>
              <a:rPr lang="ko-KR" altLang="en-US" sz="700" b="1" dirty="0">
                <a:latin typeface="+mn-ea"/>
              </a:rPr>
              <a:t>구분</a:t>
            </a:r>
            <a:endParaRPr lang="en-US" altLang="ko-KR" sz="700" b="1" dirty="0">
              <a:latin typeface="+mn-ea"/>
            </a:endParaRPr>
          </a:p>
        </p:txBody>
      </p:sp>
      <p:sp>
        <p:nvSpPr>
          <p:cNvPr id="67" name="TextBox 66">
            <a:extLst>
              <a:ext uri="{FF2B5EF4-FFF2-40B4-BE49-F238E27FC236}">
                <a16:creationId xmlns:a16="http://schemas.microsoft.com/office/drawing/2014/main" id="{FFC49AEA-2A8F-250C-A86A-A7751D9706C3}"/>
              </a:ext>
            </a:extLst>
          </p:cNvPr>
          <p:cNvSpPr txBox="1"/>
          <p:nvPr/>
        </p:nvSpPr>
        <p:spPr>
          <a:xfrm>
            <a:off x="1510284" y="2565658"/>
            <a:ext cx="670770" cy="107722"/>
          </a:xfrm>
          <a:prstGeom prst="rect">
            <a:avLst/>
          </a:prstGeom>
          <a:noFill/>
        </p:spPr>
        <p:txBody>
          <a:bodyPr wrap="square" lIns="0" tIns="0" rIns="0" bIns="0" rtlCol="0">
            <a:spAutoFit/>
          </a:bodyPr>
          <a:lstStyle/>
          <a:p>
            <a:r>
              <a:rPr lang="ko-KR" altLang="en-US" sz="700" b="1" dirty="0">
                <a:latin typeface="+mn-ea"/>
              </a:rPr>
              <a:t>내용</a:t>
            </a:r>
            <a:endParaRPr lang="en-US" altLang="ko-KR" sz="700" b="1" dirty="0">
              <a:latin typeface="+mn-ea"/>
            </a:endParaRP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688855" y="277109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9" name="TextBox 68">
            <a:extLst>
              <a:ext uri="{FF2B5EF4-FFF2-40B4-BE49-F238E27FC236}">
                <a16:creationId xmlns:a16="http://schemas.microsoft.com/office/drawing/2014/main" id="{FFC49AEA-2A8F-250C-A86A-A7751D9706C3}"/>
              </a:ext>
            </a:extLst>
          </p:cNvPr>
          <p:cNvSpPr txBox="1"/>
          <p:nvPr/>
        </p:nvSpPr>
        <p:spPr>
          <a:xfrm>
            <a:off x="817932" y="2782489"/>
            <a:ext cx="963760" cy="2800767"/>
          </a:xfrm>
          <a:prstGeom prst="rect">
            <a:avLst/>
          </a:prstGeom>
          <a:noFill/>
        </p:spPr>
        <p:txBody>
          <a:bodyPr wrap="square" lIns="0" tIns="0" rIns="0" bIns="0" rtlCol="0">
            <a:spAutoFit/>
          </a:bodyPr>
          <a:lstStyle/>
          <a:p>
            <a:pPr>
              <a:lnSpc>
                <a:spcPct val="200000"/>
              </a:lnSpc>
            </a:pPr>
            <a:r>
              <a:rPr lang="ko-KR" altLang="en-US" sz="700" dirty="0">
                <a:latin typeface="+mn-ea"/>
              </a:rPr>
              <a:t>번호</a:t>
            </a:r>
            <a:endParaRPr lang="en-US" altLang="ko-KR" sz="700" dirty="0">
              <a:latin typeface="+mn-ea"/>
            </a:endParaRPr>
          </a:p>
          <a:p>
            <a:pPr>
              <a:lnSpc>
                <a:spcPct val="200000"/>
              </a:lnSpc>
            </a:pPr>
            <a:r>
              <a:rPr lang="ko-KR" altLang="en-US" sz="700" dirty="0" err="1">
                <a:latin typeface="+mn-ea"/>
              </a:rPr>
              <a:t>업무구분</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발주기관 연락처</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err="1">
                <a:latin typeface="+mn-ea"/>
              </a:rPr>
              <a:t>업체구분</a:t>
            </a:r>
            <a:endParaRPr lang="en-US" altLang="ko-KR" sz="700" dirty="0">
              <a:latin typeface="+mn-ea"/>
            </a:endParaRPr>
          </a:p>
          <a:p>
            <a:pPr>
              <a:lnSpc>
                <a:spcPct val="200000"/>
              </a:lnSpc>
            </a:pPr>
            <a:r>
              <a:rPr lang="ko-KR" altLang="en-US" sz="700" dirty="0">
                <a:latin typeface="+mn-ea"/>
              </a:rPr>
              <a:t>입찰참가신청서</a:t>
            </a:r>
            <a:endParaRPr lang="en-US" altLang="ko-KR" sz="700" dirty="0">
              <a:latin typeface="+mn-ea"/>
            </a:endParaRPr>
          </a:p>
          <a:p>
            <a:pPr>
              <a:lnSpc>
                <a:spcPct val="200000"/>
              </a:lnSpc>
            </a:pPr>
            <a:r>
              <a:rPr lang="ko-KR" altLang="en-US" sz="700" dirty="0">
                <a:latin typeface="+mn-ea"/>
              </a:rPr>
              <a:t>입찰서</a:t>
            </a:r>
            <a:endParaRPr lang="en-US" altLang="ko-KR" sz="700" dirty="0">
              <a:latin typeface="+mn-ea"/>
            </a:endParaRPr>
          </a:p>
        </p:txBody>
      </p:sp>
      <p:sp>
        <p:nvSpPr>
          <p:cNvPr id="70" name="TextBox 69">
            <a:extLst>
              <a:ext uri="{FF2B5EF4-FFF2-40B4-BE49-F238E27FC236}">
                <a16:creationId xmlns:a16="http://schemas.microsoft.com/office/drawing/2014/main" id="{FFC49AEA-2A8F-250C-A86A-A7751D9706C3}"/>
              </a:ext>
            </a:extLst>
          </p:cNvPr>
          <p:cNvSpPr txBox="1"/>
          <p:nvPr/>
        </p:nvSpPr>
        <p:spPr>
          <a:xfrm>
            <a:off x="1510284" y="2782489"/>
            <a:ext cx="1814470" cy="2800767"/>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ko-KR" altLang="en-US" sz="700" dirty="0">
                <a:latin typeface="+mn-ea"/>
              </a:rPr>
              <a:t>물품</a:t>
            </a:r>
            <a:endParaRPr lang="en-US" altLang="ko-KR" sz="700" dirty="0">
              <a:latin typeface="+mn-ea"/>
            </a:endParaRPr>
          </a:p>
          <a:p>
            <a:pPr>
              <a:lnSpc>
                <a:spcPct val="200000"/>
              </a:lnSpc>
            </a:pPr>
            <a:r>
              <a:rPr lang="en-US" altLang="ko-KR" sz="700" dirty="0">
                <a:latin typeface="+mn-ea"/>
              </a:rPr>
              <a:t>000 000 0000</a:t>
            </a:r>
          </a:p>
          <a:p>
            <a:pPr>
              <a:lnSpc>
                <a:spcPct val="200000"/>
              </a:lnSpc>
            </a:pPr>
            <a:r>
              <a:rPr lang="en-US" altLang="ko-KR" sz="700" dirty="0">
                <a:latin typeface="+mn-ea"/>
              </a:rPr>
              <a:t>00 00 00 00</a:t>
            </a:r>
          </a:p>
          <a:p>
            <a:pPr>
              <a:lnSpc>
                <a:spcPct val="200000"/>
              </a:lnSpc>
            </a:pPr>
            <a:r>
              <a:rPr lang="en-US" altLang="ko-KR" sz="700" dirty="0">
                <a:latin typeface="+mn-ea"/>
              </a:rPr>
              <a:t>00 00 00000</a:t>
            </a:r>
          </a:p>
          <a:p>
            <a:pPr>
              <a:lnSpc>
                <a:spcPct val="200000"/>
              </a:lnSpc>
            </a:pPr>
            <a:r>
              <a:rPr lang="ko-KR" altLang="en-US" sz="700" dirty="0">
                <a:latin typeface="+mn-ea"/>
              </a:rPr>
              <a:t>간편한 </a:t>
            </a:r>
            <a:r>
              <a:rPr lang="ko-KR" altLang="en-US" sz="700" dirty="0" err="1">
                <a:latin typeface="+mn-ea"/>
              </a:rPr>
              <a:t>아침식</a:t>
            </a:r>
            <a:r>
              <a:rPr lang="ko-KR" altLang="en-US" sz="700" dirty="0">
                <a:latin typeface="+mn-ea"/>
              </a:rPr>
              <a:t> 제조 및 납품</a:t>
            </a:r>
            <a:endParaRPr lang="en-US" altLang="ko-KR" sz="700" dirty="0">
              <a:latin typeface="+mn-ea"/>
            </a:endParaRPr>
          </a:p>
          <a:p>
            <a:pPr>
              <a:lnSpc>
                <a:spcPct val="200000"/>
              </a:lnSpc>
            </a:pPr>
            <a:r>
              <a:rPr lang="en-US" altLang="ko-KR" sz="700" dirty="0">
                <a:latin typeface="+mn-ea"/>
              </a:rPr>
              <a:t>0000 0000</a:t>
            </a:r>
          </a:p>
          <a:p>
            <a:pPr>
              <a:lnSpc>
                <a:spcPct val="200000"/>
              </a:lnSpc>
            </a:pPr>
            <a:r>
              <a:rPr lang="en-US" altLang="ko-KR" sz="700" dirty="0">
                <a:latin typeface="+mn-ea"/>
              </a:rPr>
              <a:t>000-0000-0000</a:t>
            </a:r>
          </a:p>
          <a:p>
            <a:pPr>
              <a:lnSpc>
                <a:spcPct val="200000"/>
              </a:lnSpc>
            </a:pPr>
            <a:r>
              <a:rPr lang="ko-KR" altLang="en-US" sz="700" dirty="0">
                <a:latin typeface="+mn-ea"/>
              </a:rPr>
              <a:t>경쟁입찰</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대표</a:t>
            </a:r>
            <a:endParaRPr lang="en-US" altLang="ko-KR" sz="700" dirty="0">
              <a:latin typeface="+mn-ea"/>
            </a:endParaRPr>
          </a:p>
          <a:p>
            <a:pPr>
              <a:lnSpc>
                <a:spcPct val="200000"/>
              </a:lnSpc>
            </a:pPr>
            <a:r>
              <a:rPr lang="ko-KR" altLang="en-US" sz="700" dirty="0">
                <a:latin typeface="+mn-ea"/>
              </a:rPr>
              <a:t>신청 </a:t>
            </a:r>
            <a:r>
              <a:rPr lang="en-US" altLang="ko-KR" sz="700" dirty="0">
                <a:latin typeface="+mn-ea"/>
              </a:rPr>
              <a:t>/ </a:t>
            </a:r>
            <a:r>
              <a:rPr lang="ko-KR" altLang="en-US" sz="700" dirty="0">
                <a:latin typeface="+mn-ea"/>
              </a:rPr>
              <a:t>미동의 </a:t>
            </a:r>
            <a:r>
              <a:rPr lang="en-US" altLang="ko-KR" sz="700" dirty="0">
                <a:latin typeface="+mn-ea"/>
              </a:rPr>
              <a:t>/ </a:t>
            </a:r>
            <a:r>
              <a:rPr lang="ko-KR" altLang="en-US" sz="700" dirty="0" err="1">
                <a:latin typeface="+mn-ea"/>
              </a:rPr>
              <a:t>등록확정</a:t>
            </a:r>
            <a:r>
              <a:rPr lang="ko-KR" altLang="en-US" sz="700" dirty="0">
                <a:latin typeface="+mn-ea"/>
              </a:rPr>
              <a:t> </a:t>
            </a:r>
            <a:r>
              <a:rPr lang="en-US" altLang="ko-KR" sz="700" dirty="0">
                <a:latin typeface="+mn-ea"/>
              </a:rPr>
              <a:t>/ </a:t>
            </a:r>
            <a:r>
              <a:rPr lang="ko-KR" altLang="en-US" sz="700" dirty="0">
                <a:latin typeface="+mn-ea"/>
              </a:rPr>
              <a:t>등</a:t>
            </a:r>
            <a:r>
              <a:rPr lang="en-US" altLang="ko-KR" sz="700" dirty="0">
                <a:latin typeface="+mn-ea"/>
              </a:rPr>
              <a:t>…</a:t>
            </a:r>
          </a:p>
          <a:p>
            <a:pPr>
              <a:lnSpc>
                <a:spcPct val="200000"/>
              </a:lnSpc>
            </a:pPr>
            <a:r>
              <a:rPr lang="ko-KR" altLang="en-US" sz="700" dirty="0">
                <a:latin typeface="+mn-ea"/>
              </a:rPr>
              <a:t>제출 </a:t>
            </a:r>
            <a:r>
              <a:rPr lang="en-US" altLang="ko-KR" sz="700" dirty="0">
                <a:latin typeface="+mn-ea"/>
              </a:rPr>
              <a:t>/ </a:t>
            </a:r>
            <a:r>
              <a:rPr lang="ko-KR" altLang="en-US" sz="700" dirty="0">
                <a:latin typeface="+mn-ea"/>
              </a:rPr>
              <a:t>완료 </a:t>
            </a:r>
            <a:r>
              <a:rPr lang="en-US" altLang="ko-KR" sz="700" dirty="0">
                <a:latin typeface="+mn-ea"/>
              </a:rPr>
              <a:t>/ </a:t>
            </a:r>
            <a:r>
              <a:rPr lang="ko-KR" altLang="en-US" sz="700" dirty="0" err="1">
                <a:latin typeface="+mn-ea"/>
              </a:rPr>
              <a:t>입찰취소</a:t>
            </a:r>
            <a:endParaRPr lang="en-US" altLang="ko-KR" sz="700" dirty="0">
              <a:latin typeface="+mn-ea"/>
            </a:endParaRPr>
          </a:p>
        </p:txBody>
      </p:sp>
      <p:cxnSp>
        <p:nvCxnSpPr>
          <p:cNvPr id="71" name="직선 연결선 70">
            <a:extLst>
              <a:ext uri="{FF2B5EF4-FFF2-40B4-BE49-F238E27FC236}">
                <a16:creationId xmlns:a16="http://schemas.microsoft.com/office/drawing/2014/main" id="{E9293055-D5CD-4B9E-7F64-64B2D2CA7A52}"/>
              </a:ext>
            </a:extLst>
          </p:cNvPr>
          <p:cNvCxnSpPr/>
          <p:nvPr/>
        </p:nvCxnSpPr>
        <p:spPr>
          <a:xfrm>
            <a:off x="730868" y="30135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2" name="직선 연결선 71">
            <a:extLst>
              <a:ext uri="{FF2B5EF4-FFF2-40B4-BE49-F238E27FC236}">
                <a16:creationId xmlns:a16="http://schemas.microsoft.com/office/drawing/2014/main" id="{E9293055-D5CD-4B9E-7F64-64B2D2CA7A52}"/>
              </a:ext>
            </a:extLst>
          </p:cNvPr>
          <p:cNvCxnSpPr/>
          <p:nvPr/>
        </p:nvCxnSpPr>
        <p:spPr>
          <a:xfrm>
            <a:off x="730868" y="32273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3" name="직선 연결선 72">
            <a:extLst>
              <a:ext uri="{FF2B5EF4-FFF2-40B4-BE49-F238E27FC236}">
                <a16:creationId xmlns:a16="http://schemas.microsoft.com/office/drawing/2014/main" id="{E9293055-D5CD-4B9E-7F64-64B2D2CA7A52}"/>
              </a:ext>
            </a:extLst>
          </p:cNvPr>
          <p:cNvCxnSpPr/>
          <p:nvPr/>
        </p:nvCxnSpPr>
        <p:spPr>
          <a:xfrm>
            <a:off x="730868" y="3441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4" name="직선 연결선 73">
            <a:extLst>
              <a:ext uri="{FF2B5EF4-FFF2-40B4-BE49-F238E27FC236}">
                <a16:creationId xmlns:a16="http://schemas.microsoft.com/office/drawing/2014/main" id="{E9293055-D5CD-4B9E-7F64-64B2D2CA7A52}"/>
              </a:ext>
            </a:extLst>
          </p:cNvPr>
          <p:cNvCxnSpPr/>
          <p:nvPr/>
        </p:nvCxnSpPr>
        <p:spPr>
          <a:xfrm>
            <a:off x="730868" y="36547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5" name="직선 연결선 74">
            <a:extLst>
              <a:ext uri="{FF2B5EF4-FFF2-40B4-BE49-F238E27FC236}">
                <a16:creationId xmlns:a16="http://schemas.microsoft.com/office/drawing/2014/main" id="{E9293055-D5CD-4B9E-7F64-64B2D2CA7A52}"/>
              </a:ext>
            </a:extLst>
          </p:cNvPr>
          <p:cNvCxnSpPr/>
          <p:nvPr/>
        </p:nvCxnSpPr>
        <p:spPr>
          <a:xfrm>
            <a:off x="730868" y="38684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직선 연결선 75">
            <a:extLst>
              <a:ext uri="{FF2B5EF4-FFF2-40B4-BE49-F238E27FC236}">
                <a16:creationId xmlns:a16="http://schemas.microsoft.com/office/drawing/2014/main" id="{E9293055-D5CD-4B9E-7F64-64B2D2CA7A52}"/>
              </a:ext>
            </a:extLst>
          </p:cNvPr>
          <p:cNvCxnSpPr/>
          <p:nvPr/>
        </p:nvCxnSpPr>
        <p:spPr>
          <a:xfrm>
            <a:off x="730868" y="40821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7" name="직선 연결선 76">
            <a:extLst>
              <a:ext uri="{FF2B5EF4-FFF2-40B4-BE49-F238E27FC236}">
                <a16:creationId xmlns:a16="http://schemas.microsoft.com/office/drawing/2014/main" id="{E9293055-D5CD-4B9E-7F64-64B2D2CA7A52}"/>
              </a:ext>
            </a:extLst>
          </p:cNvPr>
          <p:cNvCxnSpPr/>
          <p:nvPr/>
        </p:nvCxnSpPr>
        <p:spPr>
          <a:xfrm>
            <a:off x="730868" y="42958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8" name="직선 연결선 77">
            <a:extLst>
              <a:ext uri="{FF2B5EF4-FFF2-40B4-BE49-F238E27FC236}">
                <a16:creationId xmlns:a16="http://schemas.microsoft.com/office/drawing/2014/main" id="{E9293055-D5CD-4B9E-7F64-64B2D2CA7A52}"/>
              </a:ext>
            </a:extLst>
          </p:cNvPr>
          <p:cNvCxnSpPr/>
          <p:nvPr/>
        </p:nvCxnSpPr>
        <p:spPr>
          <a:xfrm>
            <a:off x="730868" y="45095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9" name="직선 연결선 78">
            <a:extLst>
              <a:ext uri="{FF2B5EF4-FFF2-40B4-BE49-F238E27FC236}">
                <a16:creationId xmlns:a16="http://schemas.microsoft.com/office/drawing/2014/main" id="{E9293055-D5CD-4B9E-7F64-64B2D2CA7A52}"/>
              </a:ext>
            </a:extLst>
          </p:cNvPr>
          <p:cNvCxnSpPr/>
          <p:nvPr/>
        </p:nvCxnSpPr>
        <p:spPr>
          <a:xfrm>
            <a:off x="730868" y="49369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0" name="직선 연결선 79">
            <a:extLst>
              <a:ext uri="{FF2B5EF4-FFF2-40B4-BE49-F238E27FC236}">
                <a16:creationId xmlns:a16="http://schemas.microsoft.com/office/drawing/2014/main" id="{E9293055-D5CD-4B9E-7F64-64B2D2CA7A52}"/>
              </a:ext>
            </a:extLst>
          </p:cNvPr>
          <p:cNvCxnSpPr/>
          <p:nvPr/>
        </p:nvCxnSpPr>
        <p:spPr>
          <a:xfrm>
            <a:off x="730868" y="51516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1" name="직선 연결선 80">
            <a:extLst>
              <a:ext uri="{FF2B5EF4-FFF2-40B4-BE49-F238E27FC236}">
                <a16:creationId xmlns:a16="http://schemas.microsoft.com/office/drawing/2014/main" id="{E9293055-D5CD-4B9E-7F64-64B2D2CA7A52}"/>
              </a:ext>
            </a:extLst>
          </p:cNvPr>
          <p:cNvCxnSpPr/>
          <p:nvPr/>
        </p:nvCxnSpPr>
        <p:spPr>
          <a:xfrm>
            <a:off x="730868" y="53653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730868" y="55790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3" name="사각형: 둥근 모서리 15">
            <a:extLst>
              <a:ext uri="{FF2B5EF4-FFF2-40B4-BE49-F238E27FC236}">
                <a16:creationId xmlns:a16="http://schemas.microsoft.com/office/drawing/2014/main" id="{E2B61CFB-AD16-68D0-8752-50D9C5E01971}"/>
              </a:ext>
            </a:extLst>
          </p:cNvPr>
          <p:cNvSpPr/>
          <p:nvPr/>
        </p:nvSpPr>
        <p:spPr>
          <a:xfrm>
            <a:off x="2864521" y="3253155"/>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공고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84" name="모서리가 둥근 직사각형 83"/>
          <p:cNvSpPr/>
          <p:nvPr/>
        </p:nvSpPr>
        <p:spPr>
          <a:xfrm rot="5400000">
            <a:off x="2675698" y="318377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85" name="사각형: 둥근 모서리 15">
            <a:extLst>
              <a:ext uri="{FF2B5EF4-FFF2-40B4-BE49-F238E27FC236}">
                <a16:creationId xmlns:a16="http://schemas.microsoft.com/office/drawing/2014/main" id="{E2B61CFB-AD16-68D0-8752-50D9C5E01971}"/>
              </a:ext>
            </a:extLst>
          </p:cNvPr>
          <p:cNvSpPr/>
          <p:nvPr/>
        </p:nvSpPr>
        <p:spPr>
          <a:xfrm>
            <a:off x="2864521" y="5177523"/>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86" name="사각형: 둥근 모서리 15">
            <a:extLst>
              <a:ext uri="{FF2B5EF4-FFF2-40B4-BE49-F238E27FC236}">
                <a16:creationId xmlns:a16="http://schemas.microsoft.com/office/drawing/2014/main" id="{E2B61CFB-AD16-68D0-8752-50D9C5E01971}"/>
              </a:ext>
            </a:extLst>
          </p:cNvPr>
          <p:cNvSpPr/>
          <p:nvPr/>
        </p:nvSpPr>
        <p:spPr>
          <a:xfrm>
            <a:off x="2864521" y="5391627"/>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87" name="타원 86">
            <a:extLst>
              <a:ext uri="{FF2B5EF4-FFF2-40B4-BE49-F238E27FC236}">
                <a16:creationId xmlns:a16="http://schemas.microsoft.com/office/drawing/2014/main" id="{37A7FF4F-0EAA-1463-560A-D5EC24416103}"/>
              </a:ext>
            </a:extLst>
          </p:cNvPr>
          <p:cNvSpPr/>
          <p:nvPr/>
        </p:nvSpPr>
        <p:spPr>
          <a:xfrm>
            <a:off x="3327015" y="300257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88" name="타원 87">
            <a:extLst>
              <a:ext uri="{FF2B5EF4-FFF2-40B4-BE49-F238E27FC236}">
                <a16:creationId xmlns:a16="http://schemas.microsoft.com/office/drawing/2014/main" id="{37A7FF4F-0EAA-1463-560A-D5EC24416103}"/>
              </a:ext>
            </a:extLst>
          </p:cNvPr>
          <p:cNvSpPr/>
          <p:nvPr/>
        </p:nvSpPr>
        <p:spPr>
          <a:xfrm>
            <a:off x="3327015" y="502094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89" name="그룹 88"/>
          <p:cNvGrpSpPr/>
          <p:nvPr/>
        </p:nvGrpSpPr>
        <p:grpSpPr>
          <a:xfrm>
            <a:off x="677935" y="1953703"/>
            <a:ext cx="2712027" cy="508898"/>
            <a:chOff x="697390" y="2606886"/>
            <a:chExt cx="2712027" cy="508898"/>
          </a:xfrm>
        </p:grpSpPr>
        <p:sp>
          <p:nvSpPr>
            <p:cNvPr id="90"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91" name="모서리가 둥근 직사각형 90"/>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92" name="모서리가 둥근 직사각형 91"/>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93" name="직선 연결선 92">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모서리가 둥근 직사각형 9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97" name="모서리가 둥근 직사각형 9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sp>
        <p:nvSpPr>
          <p:cNvPr id="98" name="직사각형 97">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3924811" y="1845896"/>
            <a:ext cx="963760"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업체구분</a:t>
            </a:r>
            <a:endParaRPr lang="en-US" altLang="ko-KR" sz="700" dirty="0">
              <a:latin typeface="+mn-ea"/>
            </a:endParaRPr>
          </a:p>
          <a:p>
            <a:pPr>
              <a:lnSpc>
                <a:spcPct val="200000"/>
              </a:lnSpc>
            </a:pPr>
            <a:r>
              <a:rPr lang="ko-KR" altLang="en-US" sz="700" dirty="0">
                <a:latin typeface="+mn-ea"/>
              </a:rPr>
              <a:t>입찰참가신청서</a:t>
            </a:r>
            <a:endParaRPr lang="en-US" altLang="ko-KR" sz="700" dirty="0">
              <a:latin typeface="+mn-ea"/>
            </a:endParaRPr>
          </a:p>
          <a:p>
            <a:pPr>
              <a:lnSpc>
                <a:spcPct val="200000"/>
              </a:lnSpc>
            </a:pPr>
            <a:r>
              <a:rPr lang="ko-KR" altLang="en-US" sz="700" dirty="0">
                <a:latin typeface="+mn-ea"/>
              </a:rPr>
              <a:t>입찰서</a:t>
            </a:r>
            <a:endParaRPr lang="en-US" altLang="ko-KR" sz="700" dirty="0">
              <a:latin typeface="+mn-ea"/>
            </a:endParaRPr>
          </a:p>
          <a:p>
            <a:pPr>
              <a:lnSpc>
                <a:spcPct val="200000"/>
              </a:lnSpc>
            </a:pPr>
            <a:r>
              <a:rPr lang="ko-KR" altLang="en-US" sz="700" dirty="0">
                <a:latin typeface="+mn-ea"/>
              </a:rPr>
              <a:t>사전심사</a:t>
            </a:r>
            <a:r>
              <a:rPr lang="en-US" altLang="ko-KR" sz="700" dirty="0">
                <a:latin typeface="+mn-ea"/>
              </a:rPr>
              <a:t>(PQ)</a:t>
            </a:r>
          </a:p>
          <a:p>
            <a:pPr>
              <a:lnSpc>
                <a:spcPct val="200000"/>
              </a:lnSpc>
            </a:pPr>
            <a:r>
              <a:rPr lang="ko-KR" altLang="en-US" sz="700" dirty="0">
                <a:latin typeface="+mn-ea"/>
              </a:rPr>
              <a:t>기술평가</a:t>
            </a:r>
            <a:endParaRPr lang="en-US" altLang="ko-KR" sz="700" dirty="0">
              <a:latin typeface="+mn-ea"/>
            </a:endParaRPr>
          </a:p>
          <a:p>
            <a:pPr>
              <a:lnSpc>
                <a:spcPct val="200000"/>
              </a:lnSpc>
            </a:pPr>
            <a:r>
              <a:rPr lang="ko-KR" altLang="en-US" sz="700" dirty="0">
                <a:latin typeface="+mn-ea"/>
              </a:rPr>
              <a:t>생산능력서류</a:t>
            </a:r>
            <a:endParaRPr lang="en-US" altLang="ko-KR" sz="700" dirty="0">
              <a:latin typeface="+mn-ea"/>
            </a:endParaRPr>
          </a:p>
          <a:p>
            <a:pPr>
              <a:lnSpc>
                <a:spcPct val="200000"/>
              </a:lnSpc>
            </a:pPr>
            <a:r>
              <a:rPr lang="ko-KR" altLang="en-US" sz="700" dirty="0">
                <a:latin typeface="+mn-ea"/>
              </a:rPr>
              <a:t>입찰참가등록 </a:t>
            </a:r>
            <a:r>
              <a:rPr lang="ko-KR" altLang="en-US" sz="700" dirty="0" err="1">
                <a:latin typeface="+mn-ea"/>
              </a:rPr>
              <a:t>마감일시</a:t>
            </a:r>
            <a:endParaRPr lang="en-US" altLang="ko-KR" sz="700" dirty="0">
              <a:latin typeface="+mn-ea"/>
            </a:endParaRPr>
          </a:p>
          <a:p>
            <a:pPr>
              <a:lnSpc>
                <a:spcPct val="200000"/>
              </a:lnSpc>
            </a:pPr>
            <a:r>
              <a:rPr lang="ko-KR" altLang="en-US" sz="700" dirty="0" err="1">
                <a:latin typeface="+mn-ea"/>
              </a:rPr>
              <a:t>입찰서제출</a:t>
            </a:r>
            <a:r>
              <a:rPr lang="ko-KR" altLang="en-US" sz="700" dirty="0">
                <a:latin typeface="+mn-ea"/>
              </a:rPr>
              <a:t> </a:t>
            </a:r>
            <a:r>
              <a:rPr lang="ko-KR" altLang="en-US" sz="700" dirty="0" err="1">
                <a:latin typeface="+mn-ea"/>
              </a:rPr>
              <a:t>마감일시</a:t>
            </a:r>
            <a:endParaRPr lang="en-US" altLang="ko-KR" sz="700" dirty="0">
              <a:latin typeface="+mn-ea"/>
            </a:endParaRPr>
          </a:p>
        </p:txBody>
      </p:sp>
      <p:sp>
        <p:nvSpPr>
          <p:cNvPr id="100" name="TextBox 99">
            <a:extLst>
              <a:ext uri="{FF2B5EF4-FFF2-40B4-BE49-F238E27FC236}">
                <a16:creationId xmlns:a16="http://schemas.microsoft.com/office/drawing/2014/main" id="{FFC49AEA-2A8F-250C-A86A-A7751D9706C3}"/>
              </a:ext>
            </a:extLst>
          </p:cNvPr>
          <p:cNvSpPr txBox="1"/>
          <p:nvPr/>
        </p:nvSpPr>
        <p:spPr>
          <a:xfrm>
            <a:off x="4617163" y="1845896"/>
            <a:ext cx="1814470" cy="1723549"/>
          </a:xfrm>
          <a:prstGeom prst="rect">
            <a:avLst/>
          </a:prstGeom>
          <a:noFill/>
        </p:spPr>
        <p:txBody>
          <a:bodyPr wrap="square" lIns="0" tIns="0" rIns="0" bIns="0" rtlCol="0">
            <a:spAutoFit/>
          </a:bodyPr>
          <a:lstStyle/>
          <a:p>
            <a:pPr>
              <a:lnSpc>
                <a:spcPct val="200000"/>
              </a:lnSpc>
            </a:pPr>
            <a:r>
              <a:rPr lang="ko-KR" altLang="en-US" sz="700" dirty="0">
                <a:latin typeface="+mn-ea"/>
              </a:rPr>
              <a:t>대표</a:t>
            </a:r>
            <a:endParaRPr lang="en-US" altLang="ko-KR" sz="700" dirty="0">
              <a:latin typeface="+mn-ea"/>
            </a:endParaRPr>
          </a:p>
          <a:p>
            <a:pPr>
              <a:lnSpc>
                <a:spcPct val="200000"/>
              </a:lnSpc>
            </a:pPr>
            <a:r>
              <a:rPr lang="ko-KR" altLang="en-US" sz="700" dirty="0">
                <a:latin typeface="+mn-ea"/>
              </a:rPr>
              <a:t>신청 </a:t>
            </a:r>
            <a:r>
              <a:rPr lang="en-US" altLang="ko-KR" sz="700" dirty="0">
                <a:latin typeface="+mn-ea"/>
              </a:rPr>
              <a:t>/ </a:t>
            </a:r>
            <a:r>
              <a:rPr lang="ko-KR" altLang="en-US" sz="700" dirty="0">
                <a:latin typeface="+mn-ea"/>
              </a:rPr>
              <a:t>미동의 </a:t>
            </a:r>
            <a:r>
              <a:rPr lang="en-US" altLang="ko-KR" sz="700" dirty="0">
                <a:latin typeface="+mn-ea"/>
              </a:rPr>
              <a:t>/ </a:t>
            </a:r>
            <a:r>
              <a:rPr lang="ko-KR" altLang="en-US" sz="700" dirty="0" err="1">
                <a:latin typeface="+mn-ea"/>
              </a:rPr>
              <a:t>등록확정</a:t>
            </a:r>
            <a:r>
              <a:rPr lang="ko-KR" altLang="en-US" sz="700" dirty="0">
                <a:latin typeface="+mn-ea"/>
              </a:rPr>
              <a:t> </a:t>
            </a:r>
            <a:r>
              <a:rPr lang="en-US" altLang="ko-KR" sz="700" dirty="0">
                <a:latin typeface="+mn-ea"/>
              </a:rPr>
              <a:t>/ </a:t>
            </a:r>
            <a:r>
              <a:rPr lang="ko-KR" altLang="en-US" sz="700" dirty="0">
                <a:latin typeface="+mn-ea"/>
              </a:rPr>
              <a:t>등</a:t>
            </a:r>
            <a:r>
              <a:rPr lang="en-US" altLang="ko-KR" sz="700" dirty="0">
                <a:latin typeface="+mn-ea"/>
              </a:rPr>
              <a:t>…</a:t>
            </a:r>
          </a:p>
          <a:p>
            <a:pPr>
              <a:lnSpc>
                <a:spcPct val="200000"/>
              </a:lnSpc>
            </a:pPr>
            <a:r>
              <a:rPr lang="ko-KR" altLang="en-US" sz="700" dirty="0">
                <a:latin typeface="+mn-ea"/>
              </a:rPr>
              <a:t>제출 </a:t>
            </a:r>
            <a:r>
              <a:rPr lang="en-US" altLang="ko-KR" sz="700" dirty="0">
                <a:latin typeface="+mn-ea"/>
              </a:rPr>
              <a:t>/ </a:t>
            </a:r>
            <a:r>
              <a:rPr lang="ko-KR" altLang="en-US" sz="700" dirty="0">
                <a:latin typeface="+mn-ea"/>
              </a:rPr>
              <a:t>완료 </a:t>
            </a:r>
            <a:r>
              <a:rPr lang="en-US" altLang="ko-KR" sz="700" dirty="0">
                <a:latin typeface="+mn-ea"/>
              </a:rPr>
              <a:t>/ </a:t>
            </a:r>
            <a:r>
              <a:rPr lang="ko-KR" altLang="en-US" sz="700" dirty="0" err="1">
                <a:latin typeface="+mn-ea"/>
              </a:rPr>
              <a:t>입찰취소</a:t>
            </a:r>
            <a:endParaRPr lang="en-US" altLang="ko-KR" sz="700" dirty="0">
              <a:latin typeface="+mn-ea"/>
            </a:endParaRPr>
          </a:p>
          <a:p>
            <a:pPr>
              <a:lnSpc>
                <a:spcPct val="200000"/>
              </a:lnSpc>
            </a:pPr>
            <a:r>
              <a:rPr lang="ko-KR" altLang="en-US" sz="700" dirty="0">
                <a:latin typeface="+mn-ea"/>
              </a:rPr>
              <a:t>결과</a:t>
            </a:r>
            <a:endParaRPr lang="en-US" altLang="ko-KR" sz="700" dirty="0">
              <a:latin typeface="+mn-ea"/>
            </a:endParaRPr>
          </a:p>
          <a:p>
            <a:pPr>
              <a:lnSpc>
                <a:spcPct val="200000"/>
              </a:lnSpc>
            </a:pPr>
            <a:r>
              <a:rPr lang="ko-KR" altLang="en-US" sz="700" dirty="0">
                <a:latin typeface="+mn-ea"/>
              </a:rPr>
              <a:t>결과</a:t>
            </a:r>
            <a:endParaRPr lang="en-US" altLang="ko-KR" sz="700" dirty="0">
              <a:latin typeface="+mn-ea"/>
            </a:endParaRPr>
          </a:p>
          <a:p>
            <a:pPr>
              <a:lnSpc>
                <a:spcPct val="200000"/>
              </a:lnSpc>
            </a:pPr>
            <a:r>
              <a:rPr lang="ko-KR" altLang="en-US" sz="700" dirty="0">
                <a:latin typeface="+mn-ea"/>
              </a:rPr>
              <a:t>제출</a:t>
            </a:r>
            <a:endParaRPr lang="en-US" altLang="ko-KR" sz="700" dirty="0">
              <a:latin typeface="+mn-ea"/>
            </a:endParaRPr>
          </a:p>
          <a:p>
            <a:pPr>
              <a:lnSpc>
                <a:spcPct val="200000"/>
              </a:lnSpc>
            </a:pPr>
            <a:r>
              <a:rPr lang="en-US" altLang="ko-KR" sz="700" dirty="0">
                <a:latin typeface="+mn-ea"/>
              </a:rPr>
              <a:t>              2026-03-16 15:00</a:t>
            </a:r>
          </a:p>
          <a:p>
            <a:pPr>
              <a:lnSpc>
                <a:spcPct val="200000"/>
              </a:lnSpc>
            </a:pPr>
            <a:r>
              <a:rPr lang="en-US" altLang="ko-KR" sz="700" dirty="0">
                <a:latin typeface="+mn-ea"/>
              </a:rPr>
              <a:t>              2026-03-17 15:00</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3837747" y="20770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3837747" y="22907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3837747" y="25044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3837747" y="27181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3837747" y="29318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6" name="직선 연결선 105">
            <a:extLst>
              <a:ext uri="{FF2B5EF4-FFF2-40B4-BE49-F238E27FC236}">
                <a16:creationId xmlns:a16="http://schemas.microsoft.com/office/drawing/2014/main" id="{E9293055-D5CD-4B9E-7F64-64B2D2CA7A52}"/>
              </a:ext>
            </a:extLst>
          </p:cNvPr>
          <p:cNvCxnSpPr/>
          <p:nvPr/>
        </p:nvCxnSpPr>
        <p:spPr>
          <a:xfrm>
            <a:off x="3837747" y="31455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7" name="직선 연결선 106">
            <a:extLst>
              <a:ext uri="{FF2B5EF4-FFF2-40B4-BE49-F238E27FC236}">
                <a16:creationId xmlns:a16="http://schemas.microsoft.com/office/drawing/2014/main" id="{E9293055-D5CD-4B9E-7F64-64B2D2CA7A52}"/>
              </a:ext>
            </a:extLst>
          </p:cNvPr>
          <p:cNvCxnSpPr/>
          <p:nvPr/>
        </p:nvCxnSpPr>
        <p:spPr>
          <a:xfrm>
            <a:off x="3837747" y="33592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3837747" y="35729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사각형: 둥근 모서리 15">
            <a:extLst>
              <a:ext uri="{FF2B5EF4-FFF2-40B4-BE49-F238E27FC236}">
                <a16:creationId xmlns:a16="http://schemas.microsoft.com/office/drawing/2014/main" id="{E2B61CFB-AD16-68D0-8752-50D9C5E01971}"/>
              </a:ext>
            </a:extLst>
          </p:cNvPr>
          <p:cNvSpPr/>
          <p:nvPr/>
        </p:nvSpPr>
        <p:spPr>
          <a:xfrm>
            <a:off x="5971400" y="2106806"/>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0" name="사각형: 둥근 모서리 15">
            <a:extLst>
              <a:ext uri="{FF2B5EF4-FFF2-40B4-BE49-F238E27FC236}">
                <a16:creationId xmlns:a16="http://schemas.microsoft.com/office/drawing/2014/main" id="{E2B61CFB-AD16-68D0-8752-50D9C5E01971}"/>
              </a:ext>
            </a:extLst>
          </p:cNvPr>
          <p:cNvSpPr/>
          <p:nvPr/>
        </p:nvSpPr>
        <p:spPr>
          <a:xfrm>
            <a:off x="5971400" y="2320910"/>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1" name="사각형: 둥근 모서리 15">
            <a:extLst>
              <a:ext uri="{FF2B5EF4-FFF2-40B4-BE49-F238E27FC236}">
                <a16:creationId xmlns:a16="http://schemas.microsoft.com/office/drawing/2014/main" id="{E2B61CFB-AD16-68D0-8752-50D9C5E01971}"/>
              </a:ext>
            </a:extLst>
          </p:cNvPr>
          <p:cNvSpPr/>
          <p:nvPr/>
        </p:nvSpPr>
        <p:spPr>
          <a:xfrm>
            <a:off x="5971400" y="2537837"/>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2" name="사각형: 둥근 모서리 15">
            <a:extLst>
              <a:ext uri="{FF2B5EF4-FFF2-40B4-BE49-F238E27FC236}">
                <a16:creationId xmlns:a16="http://schemas.microsoft.com/office/drawing/2014/main" id="{E2B61CFB-AD16-68D0-8752-50D9C5E01971}"/>
              </a:ext>
            </a:extLst>
          </p:cNvPr>
          <p:cNvSpPr/>
          <p:nvPr/>
        </p:nvSpPr>
        <p:spPr>
          <a:xfrm>
            <a:off x="5971400" y="2746869"/>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3" name="사각형: 둥근 모서리 15">
            <a:extLst>
              <a:ext uri="{FF2B5EF4-FFF2-40B4-BE49-F238E27FC236}">
                <a16:creationId xmlns:a16="http://schemas.microsoft.com/office/drawing/2014/main" id="{E2B61CFB-AD16-68D0-8752-50D9C5E01971}"/>
              </a:ext>
            </a:extLst>
          </p:cNvPr>
          <p:cNvSpPr/>
          <p:nvPr/>
        </p:nvSpPr>
        <p:spPr>
          <a:xfrm>
            <a:off x="5971400" y="2957654"/>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내용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4" name="타원 113">
            <a:extLst>
              <a:ext uri="{FF2B5EF4-FFF2-40B4-BE49-F238E27FC236}">
                <a16:creationId xmlns:a16="http://schemas.microsoft.com/office/drawing/2014/main" id="{37A7FF4F-0EAA-1463-560A-D5EC24416103}"/>
              </a:ext>
            </a:extLst>
          </p:cNvPr>
          <p:cNvSpPr/>
          <p:nvPr/>
        </p:nvSpPr>
        <p:spPr>
          <a:xfrm>
            <a:off x="6433894" y="195023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15" name="TextBox 114">
            <a:extLst>
              <a:ext uri="{FF2B5EF4-FFF2-40B4-BE49-F238E27FC236}">
                <a16:creationId xmlns:a16="http://schemas.microsoft.com/office/drawing/2014/main" id="{FFC49AEA-2A8F-250C-A86A-A7751D9706C3}"/>
              </a:ext>
            </a:extLst>
          </p:cNvPr>
          <p:cNvSpPr txBox="1"/>
          <p:nvPr/>
        </p:nvSpPr>
        <p:spPr>
          <a:xfrm>
            <a:off x="4054353" y="1608356"/>
            <a:ext cx="2305144" cy="123111"/>
          </a:xfrm>
          <a:prstGeom prst="rect">
            <a:avLst/>
          </a:prstGeom>
          <a:noFill/>
        </p:spPr>
        <p:txBody>
          <a:bodyPr wrap="square" lIns="0" tIns="0" rIns="0" bIns="0" rtlCol="0">
            <a:spAutoFit/>
          </a:bodyPr>
          <a:lstStyle/>
          <a:p>
            <a:r>
              <a:rPr lang="ko-KR" altLang="en-US" sz="800" dirty="0" err="1">
                <a:latin typeface="+mn-ea"/>
              </a:rPr>
              <a:t>입찰진행</a:t>
            </a:r>
            <a:r>
              <a:rPr lang="ko-KR" altLang="en-US" sz="800" dirty="0">
                <a:latin typeface="+mn-ea"/>
              </a:rPr>
              <a:t> 상세정보</a:t>
            </a:r>
          </a:p>
        </p:txBody>
      </p:sp>
      <p:cxnSp>
        <p:nvCxnSpPr>
          <p:cNvPr id="116" name="직선 연결선 115">
            <a:extLst>
              <a:ext uri="{FF2B5EF4-FFF2-40B4-BE49-F238E27FC236}">
                <a16:creationId xmlns:a16="http://schemas.microsoft.com/office/drawing/2014/main" id="{E9293055-D5CD-4B9E-7F64-64B2D2CA7A52}"/>
              </a:ext>
            </a:extLst>
          </p:cNvPr>
          <p:cNvCxnSpPr/>
          <p:nvPr/>
        </p:nvCxnSpPr>
        <p:spPr>
          <a:xfrm>
            <a:off x="3798851"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7" name="그룹 116"/>
          <p:cNvGrpSpPr/>
          <p:nvPr/>
        </p:nvGrpSpPr>
        <p:grpSpPr>
          <a:xfrm rot="5400000">
            <a:off x="3873294" y="1640499"/>
            <a:ext cx="94010" cy="47005"/>
            <a:chOff x="6812560" y="3297172"/>
            <a:chExt cx="94010" cy="47005"/>
          </a:xfrm>
        </p:grpSpPr>
        <p:cxnSp>
          <p:nvCxnSpPr>
            <p:cNvPr id="118" name="직선 연결선 1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9" name="직선 연결선 1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0" name="타원 119"/>
          <p:cNvSpPr/>
          <p:nvPr/>
        </p:nvSpPr>
        <p:spPr>
          <a:xfrm>
            <a:off x="6162818"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타원 120"/>
          <p:cNvSpPr/>
          <p:nvPr/>
        </p:nvSpPr>
        <p:spPr>
          <a:xfrm>
            <a:off x="6616821" y="5153963"/>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2" name="그룹 121"/>
          <p:cNvGrpSpPr/>
          <p:nvPr/>
        </p:nvGrpSpPr>
        <p:grpSpPr>
          <a:xfrm>
            <a:off x="6746287" y="5271034"/>
            <a:ext cx="124144" cy="148935"/>
            <a:chOff x="161606" y="5392781"/>
            <a:chExt cx="97885" cy="117432"/>
          </a:xfrm>
        </p:grpSpPr>
        <p:cxnSp>
          <p:nvCxnSpPr>
            <p:cNvPr id="123" name="직선 연결선 122"/>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4" name="직선 연결선 123"/>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126" name="직선 연결선 125"/>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6616821" y="5639213"/>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8" name="그룹 127"/>
          <p:cNvGrpSpPr/>
          <p:nvPr/>
        </p:nvGrpSpPr>
        <p:grpSpPr>
          <a:xfrm>
            <a:off x="6746288" y="5768679"/>
            <a:ext cx="124144" cy="124144"/>
            <a:chOff x="162544" y="5299917"/>
            <a:chExt cx="124144" cy="124144"/>
          </a:xfrm>
        </p:grpSpPr>
        <p:cxnSp>
          <p:nvCxnSpPr>
            <p:cNvPr id="129" name="직선 연결선 128"/>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130" name="직선 연결선 129"/>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31" name="양쪽 모서리가 둥근 사각형 130"/>
          <p:cNvSpPr/>
          <p:nvPr/>
        </p:nvSpPr>
        <p:spPr>
          <a:xfrm>
            <a:off x="3798851" y="3708738"/>
            <a:ext cx="2712027" cy="2523561"/>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32" name="모서리가 둥근 직사각형 131"/>
          <p:cNvSpPr/>
          <p:nvPr/>
        </p:nvSpPr>
        <p:spPr>
          <a:xfrm>
            <a:off x="4884864" y="3745365"/>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33" name="그룹 132"/>
          <p:cNvGrpSpPr/>
          <p:nvPr/>
        </p:nvGrpSpPr>
        <p:grpSpPr>
          <a:xfrm>
            <a:off x="6287790" y="3879781"/>
            <a:ext cx="94010" cy="94010"/>
            <a:chOff x="6812560" y="3297172"/>
            <a:chExt cx="94010" cy="94010"/>
          </a:xfrm>
        </p:grpSpPr>
        <p:cxnSp>
          <p:nvCxnSpPr>
            <p:cNvPr id="134" name="직선 연결선 133"/>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35" name="직선 연결선 134"/>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36" name="TextBox 135">
            <a:extLst>
              <a:ext uri="{FF2B5EF4-FFF2-40B4-BE49-F238E27FC236}">
                <a16:creationId xmlns:a16="http://schemas.microsoft.com/office/drawing/2014/main" id="{FFC49AEA-2A8F-250C-A86A-A7751D9706C3}"/>
              </a:ext>
            </a:extLst>
          </p:cNvPr>
          <p:cNvSpPr txBox="1"/>
          <p:nvPr/>
        </p:nvSpPr>
        <p:spPr>
          <a:xfrm>
            <a:off x="3927928" y="3860460"/>
            <a:ext cx="1798758" cy="138499"/>
          </a:xfrm>
          <a:prstGeom prst="rect">
            <a:avLst/>
          </a:prstGeom>
          <a:noFill/>
        </p:spPr>
        <p:txBody>
          <a:bodyPr wrap="square" lIns="0" tIns="0" rIns="0" bIns="0" rtlCol="0">
            <a:spAutoFit/>
          </a:bodyPr>
          <a:lstStyle/>
          <a:p>
            <a:r>
              <a:rPr lang="en-US" altLang="ko-KR" sz="900" dirty="0">
                <a:latin typeface="+mn-ea"/>
              </a:rPr>
              <a:t> </a:t>
            </a:r>
            <a:endParaRPr lang="ko-KR" altLang="en-US" sz="900" dirty="0">
              <a:latin typeface="+mn-ea"/>
            </a:endParaRPr>
          </a:p>
        </p:txBody>
      </p:sp>
      <p:cxnSp>
        <p:nvCxnSpPr>
          <p:cNvPr id="137" name="직선 연결선 136">
            <a:extLst>
              <a:ext uri="{FF2B5EF4-FFF2-40B4-BE49-F238E27FC236}">
                <a16:creationId xmlns:a16="http://schemas.microsoft.com/office/drawing/2014/main" id="{E9293055-D5CD-4B9E-7F64-64B2D2CA7A52}"/>
              </a:ext>
            </a:extLst>
          </p:cNvPr>
          <p:cNvCxnSpPr/>
          <p:nvPr/>
        </p:nvCxnSpPr>
        <p:spPr>
          <a:xfrm>
            <a:off x="3798851" y="41218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8" name="사각형: 둥근 모서리 15">
            <a:extLst>
              <a:ext uri="{FF2B5EF4-FFF2-40B4-BE49-F238E27FC236}">
                <a16:creationId xmlns:a16="http://schemas.microsoft.com/office/drawing/2014/main" id="{E2B61CFB-AD16-68D0-8752-50D9C5E01971}"/>
              </a:ext>
            </a:extLst>
          </p:cNvPr>
          <p:cNvSpPr/>
          <p:nvPr/>
        </p:nvSpPr>
        <p:spPr>
          <a:xfrm>
            <a:off x="3891154" y="4903764"/>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입찰포기</a:t>
            </a:r>
            <a:r>
              <a:rPr kumimoji="1" lang="ko-KR" altLang="en-US" sz="800" kern="0" dirty="0">
                <a:solidFill>
                  <a:srgbClr val="0070C0"/>
                </a:solidFill>
                <a:latin typeface="맑은 고딕"/>
                <a:ea typeface="맑은 고딕" panose="020B0503020000020004" pitchFamily="50" charset="-127"/>
              </a:rPr>
              <a:t> 신청서 작성하기</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39" name="사각형: 둥근 모서리 15">
            <a:extLst>
              <a:ext uri="{FF2B5EF4-FFF2-40B4-BE49-F238E27FC236}">
                <a16:creationId xmlns:a16="http://schemas.microsoft.com/office/drawing/2014/main" id="{E2B61CFB-AD16-68D0-8752-50D9C5E01971}"/>
              </a:ext>
            </a:extLst>
          </p:cNvPr>
          <p:cNvSpPr/>
          <p:nvPr/>
        </p:nvSpPr>
        <p:spPr>
          <a:xfrm>
            <a:off x="3891154" y="5237257"/>
            <a:ext cx="2522014" cy="244350"/>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a:solidFill>
                  <a:srgbClr val="0070C0"/>
                </a:solidFill>
              </a:rPr>
              <a:t>입찰취소</a:t>
            </a:r>
            <a:r>
              <a:rPr kumimoji="1" lang="ko-KR" altLang="en-US" sz="800" kern="0" dirty="0">
                <a:solidFill>
                  <a:srgbClr val="0070C0"/>
                </a:solidFill>
              </a:rPr>
              <a:t> 신청서 작성하기</a:t>
            </a:r>
            <a:endParaRPr kumimoji="1" lang="en-US" altLang="ko-KR" sz="800" kern="0" dirty="0">
              <a:solidFill>
                <a:srgbClr val="0070C0"/>
              </a:solidFill>
            </a:endParaRPr>
          </a:p>
        </p:txBody>
      </p:sp>
      <p:sp>
        <p:nvSpPr>
          <p:cNvPr id="141" name="모서리가 둥근 직사각형 40">
            <a:extLst>
              <a:ext uri="{FF2B5EF4-FFF2-40B4-BE49-F238E27FC236}">
                <a16:creationId xmlns:a16="http://schemas.microsoft.com/office/drawing/2014/main" id="{3BE5C28A-F0C3-8BA2-3AC1-EFA405ADE137}"/>
              </a:ext>
            </a:extLst>
          </p:cNvPr>
          <p:cNvSpPr/>
          <p:nvPr/>
        </p:nvSpPr>
        <p:spPr bwMode="auto">
          <a:xfrm>
            <a:off x="3891154" y="4241662"/>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ea typeface="맑은 고딕" panose="020B0503020000020004" pitchFamily="50" charset="-127"/>
              </a:rPr>
              <a:t>입찰서</a:t>
            </a:r>
            <a:r>
              <a:rPr lang="en-US" altLang="ko-KR" sz="800" dirty="0">
                <a:solidFill>
                  <a:schemeClr val="bg1"/>
                </a:solidFill>
                <a:latin typeface="맑은 고딕" panose="020B0503020000020004" pitchFamily="50" charset="-127"/>
                <a:ea typeface="맑은 고딕" panose="020B0503020000020004" pitchFamily="50" charset="-127"/>
              </a:rPr>
              <a:t>(</a:t>
            </a:r>
            <a:r>
              <a:rPr lang="ko-KR" altLang="en-US" sz="800" dirty="0">
                <a:solidFill>
                  <a:schemeClr val="bg1"/>
                </a:solidFill>
                <a:latin typeface="맑은 고딕" panose="020B0503020000020004" pitchFamily="50" charset="-127"/>
                <a:ea typeface="맑은 고딕" panose="020B0503020000020004" pitchFamily="50" charset="-127"/>
              </a:rPr>
              <a:t>견적서</a:t>
            </a:r>
            <a:r>
              <a:rPr lang="en-US" altLang="ko-KR" sz="800" dirty="0">
                <a:solidFill>
                  <a:schemeClr val="bg1"/>
                </a:solidFill>
                <a:latin typeface="맑은 고딕" panose="020B0503020000020004" pitchFamily="50" charset="-127"/>
                <a:ea typeface="맑은 고딕" panose="020B0503020000020004" pitchFamily="50" charset="-127"/>
              </a:rPr>
              <a:t>)</a:t>
            </a:r>
            <a:r>
              <a:rPr lang="ko-KR" altLang="en-US" sz="800" dirty="0">
                <a:solidFill>
                  <a:schemeClr val="bg1"/>
                </a:solidFill>
                <a:latin typeface="맑은 고딕" panose="020B0503020000020004" pitchFamily="50" charset="-127"/>
              </a:rPr>
              <a:t> 작성하기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42" name="모서리가 둥근 직사각형 40">
            <a:extLst>
              <a:ext uri="{FF2B5EF4-FFF2-40B4-BE49-F238E27FC236}">
                <a16:creationId xmlns:a16="http://schemas.microsoft.com/office/drawing/2014/main" id="{3BE5C28A-F0C3-8BA2-3AC1-EFA405ADE137}"/>
              </a:ext>
            </a:extLst>
          </p:cNvPr>
          <p:cNvSpPr/>
          <p:nvPr/>
        </p:nvSpPr>
        <p:spPr bwMode="auto">
          <a:xfrm>
            <a:off x="3891154" y="4574168"/>
            <a:ext cx="2522014" cy="244350"/>
          </a:xfrm>
          <a:prstGeom prst="roundRect">
            <a:avLst/>
          </a:prstGeom>
          <a:solidFill>
            <a:srgbClr val="0F4294"/>
          </a:solidFill>
          <a:ln w="6350">
            <a:solidFill>
              <a:srgbClr val="0F4294"/>
            </a:solidFill>
            <a:headEnd/>
            <a:tailEnd/>
          </a:ln>
        </p:spPr>
        <p:style>
          <a:lnRef idx="2">
            <a:schemeClr val="accent2"/>
          </a:lnRef>
          <a:fillRef idx="1">
            <a:schemeClr val="lt1"/>
          </a:fillRef>
          <a:effectRef idx="0">
            <a:schemeClr val="accent2"/>
          </a:effectRef>
          <a:fontRef idx="minor">
            <a:schemeClr val="dk1"/>
          </a:fontRef>
        </p:style>
        <p:txBody>
          <a:bodyPr wrap="none" lIns="36000" rIns="36000" anchor="ctr"/>
          <a:lstStyle/>
          <a:p>
            <a:pPr algn="ctr">
              <a:defRPr/>
            </a:pPr>
            <a:r>
              <a:rPr lang="ko-KR" altLang="en-US" sz="800" dirty="0">
                <a:solidFill>
                  <a:schemeClr val="bg1"/>
                </a:solidFill>
                <a:latin typeface="맑은 고딕" panose="020B0503020000020004" pitchFamily="50" charset="-127"/>
              </a:rPr>
              <a:t>입찰참가신청서 작성하기</a:t>
            </a:r>
            <a:endParaRPr lang="ko-KR" altLang="en-US" sz="800" dirty="0">
              <a:solidFill>
                <a:schemeClr val="bg1"/>
              </a:solidFill>
              <a:latin typeface="맑은 고딕" panose="020B0503020000020004" pitchFamily="50" charset="-127"/>
              <a:ea typeface="맑은 고딕" panose="020B0503020000020004" pitchFamily="50" charset="-127"/>
            </a:endParaRPr>
          </a:p>
        </p:txBody>
      </p:sp>
      <p:sp>
        <p:nvSpPr>
          <p:cNvPr id="143" name="사각형: 둥근 모서리 15">
            <a:extLst>
              <a:ext uri="{FF2B5EF4-FFF2-40B4-BE49-F238E27FC236}">
                <a16:creationId xmlns:a16="http://schemas.microsoft.com/office/drawing/2014/main" id="{E2B61CFB-AD16-68D0-8752-50D9C5E01971}"/>
              </a:ext>
            </a:extLst>
          </p:cNvPr>
          <p:cNvSpPr/>
          <p:nvPr/>
        </p:nvSpPr>
        <p:spPr>
          <a:xfrm>
            <a:off x="3891154" y="5573518"/>
            <a:ext cx="2522014" cy="24435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err="1"/>
              <a:t>환율정보</a:t>
            </a:r>
            <a:r>
              <a:rPr kumimoji="1" lang="ko-KR" altLang="en-US" sz="800" kern="0" dirty="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grpSp>
        <p:nvGrpSpPr>
          <p:cNvPr id="144" name="그룹 143">
            <a:extLst>
              <a:ext uri="{FF2B5EF4-FFF2-40B4-BE49-F238E27FC236}">
                <a16:creationId xmlns:a16="http://schemas.microsoft.com/office/drawing/2014/main" id="{22BC05EE-C648-7CA2-4CCC-6E1C1A7E9BDA}"/>
              </a:ext>
            </a:extLst>
          </p:cNvPr>
          <p:cNvGrpSpPr/>
          <p:nvPr/>
        </p:nvGrpSpPr>
        <p:grpSpPr>
          <a:xfrm>
            <a:off x="5135740" y="5892823"/>
            <a:ext cx="76863" cy="292489"/>
            <a:chOff x="3750067" y="4683795"/>
            <a:chExt cx="76863" cy="292489"/>
          </a:xfrm>
        </p:grpSpPr>
        <p:sp>
          <p:nvSpPr>
            <p:cNvPr id="145" name="타원 144">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6" name="타원 145">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7" name="타원 146">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48" name="모서리가 둥근 직사각형 147"/>
          <p:cNvSpPr/>
          <p:nvPr/>
        </p:nvSpPr>
        <p:spPr>
          <a:xfrm rot="5400000">
            <a:off x="5782577" y="2817766"/>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49" name="타원 148">
            <a:extLst>
              <a:ext uri="{FF2B5EF4-FFF2-40B4-BE49-F238E27FC236}">
                <a16:creationId xmlns:a16="http://schemas.microsoft.com/office/drawing/2014/main" id="{37A7FF4F-0EAA-1463-560A-D5EC24416103}"/>
              </a:ext>
            </a:extLst>
          </p:cNvPr>
          <p:cNvSpPr/>
          <p:nvPr/>
        </p:nvSpPr>
        <p:spPr>
          <a:xfrm>
            <a:off x="6433894" y="556430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150" name="TextBox 14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2001196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66</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39545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입찰진행</a:t>
            </a:r>
            <a:r>
              <a:rPr lang="en-US" altLang="ko-KR" sz="900" b="1" dirty="0">
                <a:solidFill>
                  <a:prstClr val="black"/>
                </a:solidFill>
              </a:rPr>
              <a:t> </a:t>
            </a:r>
            <a:r>
              <a:rPr lang="ko-KR" altLang="en-US" sz="900" b="1" dirty="0">
                <a:solidFill>
                  <a:prstClr val="black"/>
                </a:solidFill>
              </a:rPr>
              <a:t>검색조건 </a:t>
            </a:r>
            <a:r>
              <a:rPr lang="en-US" altLang="ko-KR" sz="900" b="1" dirty="0">
                <a:solidFill>
                  <a:prstClr val="black"/>
                </a:solidFill>
              </a:rPr>
              <a:t>(</a:t>
            </a:r>
            <a:r>
              <a:rPr lang="en-US" altLang="ko-KR" sz="900" b="1" dirty="0" err="1">
                <a:solidFill>
                  <a:prstClr val="black"/>
                </a:solidFill>
              </a:rPr>
              <a:t>dmt</a:t>
            </a:r>
            <a:r>
              <a:rPr lang="en-US" altLang="ko-KR" sz="900" b="1" dirty="0">
                <a:solidFill>
                  <a:prstClr val="black"/>
                </a:solidFill>
              </a:rPr>
              <a:t>_ </a:t>
            </a:r>
            <a:r>
              <a:rPr lang="en-US" altLang="ko-KR" sz="900" b="1" dirty="0" err="1">
                <a:solidFill>
                  <a:prstClr val="black"/>
                </a:solidFill>
              </a:rPr>
              <a:t>srchBidPrgrs</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2237512"/>
            <a:ext cx="2671171"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입찰진행 목록 데이터 영역 </a:t>
            </a:r>
            <a:r>
              <a:rPr lang="en-US" altLang="ko-KR" sz="900" b="1" dirty="0">
                <a:solidFill>
                  <a:prstClr val="black"/>
                </a:solidFill>
              </a:rPr>
              <a:t>(</a:t>
            </a:r>
            <a:r>
              <a:rPr lang="en-US" altLang="ko-KR" sz="900" b="1" dirty="0" err="1">
                <a:solidFill>
                  <a:prstClr val="black"/>
                </a:solidFill>
              </a:rPr>
              <a:t>dlt_bidPrgrsList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163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taskSecd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업무구분 선택</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물품</a:t>
                      </a:r>
                      <a:r>
                        <a:rPr lang="en-US" altLang="ko-KR" sz="800" dirty="0">
                          <a:latin typeface="+mn-ea"/>
                          <a:ea typeface="+mn-ea"/>
                        </a:rPr>
                        <a:t>, </a:t>
                      </a:r>
                      <a:r>
                        <a:rPr lang="ko-KR" altLang="en-US" sz="800" dirty="0">
                          <a:latin typeface="+mn-ea"/>
                          <a:ea typeface="+mn-ea"/>
                        </a:rPr>
                        <a:t>용역</a:t>
                      </a:r>
                      <a:r>
                        <a:rPr lang="en-US" altLang="ko-KR" sz="800" dirty="0">
                          <a:latin typeface="+mn-ea"/>
                          <a:ea typeface="+mn-ea"/>
                        </a:rPr>
                        <a:t>, </a:t>
                      </a:r>
                      <a:r>
                        <a:rPr lang="ko-KR" altLang="en-US" sz="800" dirty="0">
                          <a:latin typeface="+mn-ea"/>
                          <a:ea typeface="+mn-ea"/>
                        </a:rPr>
                        <a:t>공사</a:t>
                      </a:r>
                      <a:r>
                        <a:rPr lang="en-US" altLang="ko-KR" sz="800" dirty="0">
                          <a:latin typeface="+mn-ea"/>
                          <a:ea typeface="+mn-ea"/>
                        </a:rPr>
                        <a:t>, </a:t>
                      </a:r>
                      <a:r>
                        <a:rPr lang="ko-KR" altLang="en-US" sz="800" dirty="0">
                          <a:latin typeface="+mn-ea"/>
                          <a:ea typeface="+mn-ea"/>
                        </a:rPr>
                        <a:t>국외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22533">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rPr>
                        <a:t>입찰명</a:t>
                      </a:r>
                      <a:r>
                        <a:rPr lang="ko-KR" altLang="en-US" sz="800" dirty="0">
                          <a:latin typeface="+mn-ea"/>
                        </a:rPr>
                        <a:t> 입력</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발주기관명 선택</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b="0" i="0" kern="1200" dirty="0">
                          <a:solidFill>
                            <a:schemeClr val="tx1"/>
                          </a:solidFill>
                          <a:effectLst/>
                          <a:latin typeface="+mn-lt"/>
                          <a:ea typeface="+mn-ea"/>
                          <a:cs typeface="+mn-cs"/>
                        </a:rPr>
                        <a:t>발주기관검색 </a:t>
                      </a:r>
                      <a:r>
                        <a:rPr lang="ko-KR" altLang="en-US" sz="800" b="0" i="0" kern="1200" dirty="0" err="1">
                          <a:solidFill>
                            <a:schemeClr val="tx1"/>
                          </a:solidFill>
                          <a:effectLst/>
                          <a:latin typeface="+mn-lt"/>
                          <a:ea typeface="+mn-ea"/>
                          <a:cs typeface="+mn-cs"/>
                        </a:rPr>
                        <a:t>공통팝업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참조번호 입력</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개찰일자 시작</a:t>
                      </a:r>
                      <a:r>
                        <a:rPr lang="en-US" altLang="ko-KR" sz="800" dirty="0">
                          <a:latin typeface="+mn-ea"/>
                        </a:rPr>
                        <a:t>~</a:t>
                      </a:r>
                      <a:r>
                        <a:rPr lang="ko-KR" altLang="en-US" sz="800" dirty="0">
                          <a:latin typeface="+mn-ea"/>
                        </a:rPr>
                        <a:t>종료 선택</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2450003"/>
          <a:ext cx="8995589" cy="387840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조회 번호</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taskSeNm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업무구분명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물품</a:t>
                      </a:r>
                      <a:r>
                        <a:rPr lang="en-US" altLang="ko-KR" sz="800" dirty="0">
                          <a:latin typeface="+mn-ea"/>
                          <a:ea typeface="+mn-ea"/>
                        </a:rPr>
                        <a:t>, </a:t>
                      </a:r>
                      <a:r>
                        <a:rPr lang="ko-KR" altLang="en-US" sz="800" dirty="0">
                          <a:latin typeface="+mn-ea"/>
                          <a:ea typeface="+mn-ea"/>
                        </a:rPr>
                        <a:t>용역</a:t>
                      </a:r>
                      <a:r>
                        <a:rPr lang="en-US" altLang="ko-KR" sz="800" dirty="0">
                          <a:latin typeface="+mn-ea"/>
                          <a:ea typeface="+mn-ea"/>
                        </a:rPr>
                        <a:t>, </a:t>
                      </a:r>
                      <a:r>
                        <a:rPr lang="ko-KR" altLang="en-US" sz="800" dirty="0">
                          <a:latin typeface="+mn-ea"/>
                          <a:ea typeface="+mn-ea"/>
                        </a:rPr>
                        <a:t>공사</a:t>
                      </a:r>
                      <a:r>
                        <a:rPr lang="en-US" altLang="ko-KR" sz="800" dirty="0">
                          <a:latin typeface="+mn-ea"/>
                          <a:ea typeface="+mn-ea"/>
                        </a:rPr>
                        <a:t>, </a:t>
                      </a:r>
                      <a:r>
                        <a:rPr lang="ko-KR" altLang="en-US" sz="800" dirty="0">
                          <a:latin typeface="+mn-ea"/>
                          <a:ea typeface="+mn-ea"/>
                        </a:rPr>
                        <a:t>국외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70374552"/>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49003667"/>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물품</a:t>
                      </a:r>
                      <a:r>
                        <a:rPr lang="en-US" altLang="ko-KR" sz="800" dirty="0">
                          <a:latin typeface="+mn-ea"/>
                          <a:ea typeface="+mn-ea"/>
                        </a:rPr>
                        <a:t>, </a:t>
                      </a:r>
                      <a:r>
                        <a:rPr lang="ko-KR" altLang="en-US" sz="800" dirty="0">
                          <a:latin typeface="+mn-ea"/>
                          <a:ea typeface="+mn-ea"/>
                        </a:rPr>
                        <a:t>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228499"/>
                  </a:ext>
                </a:extLst>
              </a:tr>
              <a:tr h="0">
                <a:tc>
                  <a:txBody>
                    <a:bodyPr/>
                    <a:lstStyle/>
                    <a:p>
                      <a:pPr latinLnBrk="1"/>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공사</a:t>
                      </a:r>
                      <a:r>
                        <a:rPr lang="en-US" altLang="ko-KR" sz="800" dirty="0">
                          <a:latin typeface="+mn-ea"/>
                          <a:ea typeface="+mn-ea"/>
                        </a:rPr>
                        <a:t>, </a:t>
                      </a:r>
                      <a:r>
                        <a:rPr lang="ko-KR" altLang="en-US" sz="800" dirty="0">
                          <a:latin typeface="+mn-ea"/>
                          <a:ea typeface="+mn-ea"/>
                        </a:rPr>
                        <a:t>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0853279"/>
                  </a:ext>
                </a:extLst>
              </a:tr>
              <a:tr h="0">
                <a:tc>
                  <a:txBody>
                    <a:bodyPr/>
                    <a:lstStyle/>
                    <a:p>
                      <a:pPr latinLnBrk="1"/>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물품의 분류번호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물품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8820378"/>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5916761"/>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3429797"/>
                  </a:ext>
                </a:extLst>
              </a:tr>
              <a:tr h="0">
                <a:tc>
                  <a:txBody>
                    <a:bodyPr/>
                    <a:lstStyle/>
                    <a:p>
                      <a:pPr latinLnBrk="1"/>
                      <a:r>
                        <a:rPr lang="ko-KR" altLang="en-US" sz="800" dirty="0">
                          <a:latin typeface="+mn-ea"/>
                          <a:ea typeface="+mn-ea"/>
                        </a:rPr>
                        <a:t>발주기관연락처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 발주기관명과 발주기관의 연락처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2454742"/>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3708982"/>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1771616"/>
                  </a:ext>
                </a:extLst>
              </a:tr>
              <a:tr h="0">
                <a:tc>
                  <a:txBody>
                    <a:bodyPr/>
                    <a:lstStyle/>
                    <a:p>
                      <a:pPr latinLnBrk="1"/>
                      <a:r>
                        <a:rPr lang="ko-KR" altLang="en-US" sz="800" dirty="0" err="1">
                          <a:latin typeface="+mn-ea"/>
                          <a:ea typeface="+mn-ea"/>
                        </a:rPr>
                        <a:t>입찰참가등록마감일시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bidClrsDt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입찰등록마감일시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7055041"/>
                  </a:ext>
                </a:extLst>
              </a:tr>
              <a:tr h="0">
                <a:tc>
                  <a:txBody>
                    <a:bodyPr/>
                    <a:lstStyle/>
                    <a:p>
                      <a:pPr latinLnBrk="1"/>
                      <a:r>
                        <a:rPr lang="ko-KR" altLang="en-US" sz="800" dirty="0">
                          <a:latin typeface="+mn-ea"/>
                          <a:ea typeface="+mn-ea"/>
                        </a:rPr>
                        <a:t>입찰서접수마감일시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tndrSbmsnDdlnDt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입찰서제출마감일시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1996039"/>
                  </a:ext>
                </a:extLst>
              </a:tr>
              <a:tr h="0">
                <a:tc>
                  <a:txBody>
                    <a:bodyPr/>
                    <a:lstStyle/>
                    <a:p>
                      <a:pPr latinLnBrk="1"/>
                      <a:r>
                        <a:rPr lang="ko-KR" altLang="en-US" sz="800" dirty="0">
                          <a:latin typeface="+mn-ea"/>
                          <a:ea typeface="+mn-ea"/>
                        </a:rPr>
                        <a:t>업체구분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bzentySeNm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업체구분명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대표</a:t>
                      </a:r>
                      <a:r>
                        <a:rPr lang="en-US" altLang="ko-KR" sz="800" dirty="0">
                          <a:latin typeface="+mn-ea"/>
                          <a:ea typeface="+mn-ea"/>
                        </a:rPr>
                        <a:t>/</a:t>
                      </a:r>
                      <a:r>
                        <a:rPr lang="ko-KR" altLang="en-US" sz="800" dirty="0">
                          <a:latin typeface="+mn-ea"/>
                          <a:ea typeface="+mn-ea"/>
                        </a:rPr>
                        <a:t>구성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입찰참가신청서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bidPrgrsApfr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입찰참가신청서 버튼 보이기</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입찰서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tndr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입찰서 제출 가능한 경우 버튼 보이기</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7827154"/>
                  </a:ext>
                </a:extLst>
              </a:tr>
              <a:tr h="0">
                <a:tc>
                  <a:txBody>
                    <a:bodyPr/>
                    <a:lstStyle/>
                    <a:p>
                      <a:pPr latinLnBrk="1"/>
                      <a:r>
                        <a:rPr lang="ko-KR" altLang="en-US" sz="800" dirty="0">
                          <a:latin typeface="+mn-ea"/>
                          <a:ea typeface="+mn-ea"/>
                        </a:rPr>
                        <a:t>사전심사</a:t>
                      </a:r>
                      <a:r>
                        <a:rPr lang="en-US" altLang="ko-KR" sz="800" dirty="0">
                          <a:latin typeface="+mn-ea"/>
                          <a:ea typeface="+mn-ea"/>
                        </a:rPr>
                        <a:t>(PQ)</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사전심사 공고인 경우 버튼 보이기</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기술평가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techEvl</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기술평가 공고인 경우 버튼 보이기</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생산능력서류제출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prdcpDcmntSbms</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생산능력서류 제출 공고인 경우 버튼 보이기</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err="1">
                          <a:latin typeface="+mn-ea"/>
                          <a:ea typeface="+mn-ea"/>
                        </a:rPr>
                        <a:t>툴팁</a:t>
                      </a:r>
                      <a:r>
                        <a:rPr lang="ko-KR" altLang="en-US" sz="800" dirty="0">
                          <a:latin typeface="+mn-ea"/>
                          <a:ea typeface="+mn-ea"/>
                        </a:rPr>
                        <a:t> </a:t>
                      </a:r>
                      <a:r>
                        <a:rPr lang="en-US" altLang="ko-KR" sz="800" dirty="0">
                          <a:latin typeface="+mn-ea"/>
                          <a:ea typeface="+mn-ea"/>
                        </a:rPr>
                        <a:t>-</a:t>
                      </a:r>
                      <a:r>
                        <a:rPr lang="ko-KR" altLang="en-US" sz="800" dirty="0">
                          <a:latin typeface="+mn-ea"/>
                          <a:ea typeface="+mn-ea"/>
                        </a:rPr>
                        <a:t> </a:t>
                      </a:r>
                      <a:r>
                        <a:rPr lang="ko-KR" altLang="en-US" sz="800" dirty="0" err="1">
                          <a:latin typeface="+mn-ea"/>
                          <a:ea typeface="+mn-ea"/>
                        </a:rPr>
                        <a:t>생산능력서류제출마감일시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6B88C83A-DE60-8803-FED3-369A363CED0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4A2E38E8-E9B2-DCEC-7D42-0092B57EF2BD}"/>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endParaRPr lang="en-US" altLang="ko-KR" sz="1000" b="1" dirty="0">
              <a:solidFill>
                <a:prstClr val="black"/>
              </a:solidFill>
            </a:endParaRPr>
          </a:p>
        </p:txBody>
      </p:sp>
    </p:spTree>
    <p:extLst>
      <p:ext uri="{BB962C8B-B14F-4D97-AF65-F5344CB8AC3E}">
        <p14:creationId xmlns:p14="http://schemas.microsoft.com/office/powerpoint/2010/main" val="20336714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67</a:t>
            </a:fld>
            <a:endParaRPr lang="ko-KR" altLang="en-US" dirty="0"/>
          </a:p>
        </p:txBody>
      </p:sp>
      <p:sp>
        <p:nvSpPr>
          <p:cNvPr id="2" name="TextBox 1">
            <a:extLst>
              <a:ext uri="{FF2B5EF4-FFF2-40B4-BE49-F238E27FC236}">
                <a16:creationId xmlns:a16="http://schemas.microsoft.com/office/drawing/2014/main" id="{4C4E7A82-A9A4-FEAB-0A5B-333AFCB96112}"/>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5BF6FF23-2554-009C-F0B9-CBB7F0A8619F}"/>
              </a:ext>
            </a:extLst>
          </p:cNvPr>
          <p:cNvGraphicFramePr>
            <a:graphicFrameLocks noGrp="1"/>
          </p:cNvGraphicFramePr>
          <p:nvPr/>
        </p:nvGraphicFramePr>
        <p:xfrm>
          <a:off x="453000" y="1039042"/>
          <a:ext cx="8995591" cy="437760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개찰일자 초기화</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입찰참가 신청 건</a:t>
                      </a:r>
                      <a:r>
                        <a:rPr lang="en-US" altLang="ko-KR" sz="800" dirty="0">
                          <a:latin typeface="+mn-ea"/>
                          <a:ea typeface="+mn-ea"/>
                        </a:rPr>
                        <a:t>, </a:t>
                      </a:r>
                      <a:r>
                        <a:rPr lang="ko-KR" altLang="en-US" sz="800" dirty="0">
                          <a:latin typeface="+mn-ea"/>
                          <a:ea typeface="+mn-ea"/>
                        </a:rPr>
                        <a:t>사전심사 신청 건</a:t>
                      </a:r>
                      <a:r>
                        <a:rPr lang="en-US" altLang="ko-KR" sz="800" dirty="0">
                          <a:latin typeface="+mn-ea"/>
                          <a:ea typeface="+mn-ea"/>
                        </a:rPr>
                        <a:t>, </a:t>
                      </a:r>
                      <a:r>
                        <a:rPr lang="ko-KR" altLang="en-US" sz="800" dirty="0">
                          <a:latin typeface="+mn-ea"/>
                          <a:ea typeface="+mn-ea"/>
                        </a:rPr>
                        <a:t>구성업체로 진행 건</a:t>
                      </a:r>
                      <a:r>
                        <a:rPr lang="en-US" altLang="ko-KR" sz="800" dirty="0">
                          <a:latin typeface="+mn-ea"/>
                          <a:ea typeface="+mn-ea"/>
                        </a:rPr>
                        <a:t>, </a:t>
                      </a:r>
                      <a:r>
                        <a:rPr lang="ko-KR" altLang="en-US" sz="800" dirty="0">
                          <a:latin typeface="+mn-ea"/>
                          <a:ea typeface="+mn-ea"/>
                        </a:rPr>
                        <a:t>견적서 제출</a:t>
                      </a:r>
                      <a:r>
                        <a:rPr lang="en-US" altLang="ko-KR" sz="800" dirty="0">
                          <a:latin typeface="+mn-ea"/>
                          <a:ea typeface="+mn-ea"/>
                        </a:rPr>
                        <a:t>(</a:t>
                      </a:r>
                      <a:r>
                        <a:rPr lang="ko-KR" altLang="en-US" sz="800" dirty="0">
                          <a:latin typeface="+mn-ea"/>
                          <a:ea typeface="+mn-ea"/>
                        </a:rPr>
                        <a:t>공개수의협상</a:t>
                      </a:r>
                      <a:r>
                        <a:rPr lang="en-US" altLang="ko-KR" sz="800" dirty="0">
                          <a:latin typeface="+mn-ea"/>
                          <a:ea typeface="+mn-ea"/>
                        </a:rPr>
                        <a:t>)</a:t>
                      </a:r>
                      <a:r>
                        <a:rPr lang="ko-KR" altLang="en-US" sz="800" dirty="0">
                          <a:latin typeface="+mn-ea"/>
                          <a:ea typeface="+mn-ea"/>
                        </a:rPr>
                        <a:t> 건</a:t>
                      </a:r>
                      <a:r>
                        <a:rPr lang="en-US" altLang="ko-KR" sz="800" dirty="0">
                          <a:latin typeface="+mn-ea"/>
                          <a:ea typeface="+mn-ea"/>
                        </a:rPr>
                        <a:t>, </a:t>
                      </a:r>
                      <a:r>
                        <a:rPr lang="ko-KR" altLang="en-US" sz="800" dirty="0">
                          <a:latin typeface="+mn-ea"/>
                          <a:ea typeface="+mn-ea"/>
                        </a:rPr>
                        <a:t>재입찰</a:t>
                      </a:r>
                      <a:r>
                        <a:rPr lang="en-US" altLang="ko-KR" sz="800" dirty="0">
                          <a:latin typeface="+mn-ea"/>
                          <a:ea typeface="+mn-ea"/>
                        </a:rPr>
                        <a:t>, </a:t>
                      </a:r>
                      <a:r>
                        <a:rPr lang="ko-KR" altLang="en-US" sz="800" dirty="0">
                          <a:latin typeface="+mn-ea"/>
                          <a:ea typeface="+mn-ea"/>
                        </a:rPr>
                        <a:t>연기공고 건으로 입찰진행 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입찰참가신청</a:t>
                      </a:r>
                      <a:r>
                        <a:rPr lang="en-US" altLang="ko-KR" sz="800" dirty="0">
                          <a:latin typeface="+mn-ea"/>
                          <a:ea typeface="+mn-ea"/>
                        </a:rPr>
                        <a:t>, </a:t>
                      </a:r>
                      <a:r>
                        <a:rPr lang="ko-KR" altLang="en-US" sz="800" dirty="0">
                          <a:latin typeface="+mn-ea"/>
                          <a:ea typeface="+mn-ea"/>
                        </a:rPr>
                        <a:t>사전심사신청은 입찰공고상세화면에서 신청</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latin typeface="+mn-ea"/>
                          <a:ea typeface="+mn-ea"/>
                        </a:rPr>
                        <a:t>공개수의 견적서 제출은  입찰공고상세화면에서 제출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검색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scwin.btn_srch_onclick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입찰참가 신청 건</a:t>
                      </a:r>
                      <a:r>
                        <a:rPr lang="en-US" altLang="ko-KR" sz="800" dirty="0">
                          <a:latin typeface="+mn-ea"/>
                          <a:ea typeface="+mn-ea"/>
                        </a:rPr>
                        <a:t>, </a:t>
                      </a:r>
                      <a:r>
                        <a:rPr lang="ko-KR" altLang="en-US" sz="800" dirty="0">
                          <a:latin typeface="+mn-ea"/>
                          <a:ea typeface="+mn-ea"/>
                        </a:rPr>
                        <a:t>사전심사 신청 건</a:t>
                      </a:r>
                      <a:r>
                        <a:rPr lang="en-US" altLang="ko-KR" sz="800" dirty="0">
                          <a:latin typeface="+mn-ea"/>
                          <a:ea typeface="+mn-ea"/>
                        </a:rPr>
                        <a:t>, </a:t>
                      </a:r>
                      <a:r>
                        <a:rPr lang="ko-KR" altLang="en-US" sz="800" dirty="0">
                          <a:latin typeface="+mn-ea"/>
                          <a:ea typeface="+mn-ea"/>
                        </a:rPr>
                        <a:t>구성업체로 진행 건</a:t>
                      </a:r>
                      <a:r>
                        <a:rPr lang="en-US" altLang="ko-KR" sz="800" dirty="0">
                          <a:latin typeface="+mn-ea"/>
                          <a:ea typeface="+mn-ea"/>
                        </a:rPr>
                        <a:t>, </a:t>
                      </a:r>
                      <a:r>
                        <a:rPr lang="ko-KR" altLang="en-US" sz="800" dirty="0">
                          <a:latin typeface="+mn-ea"/>
                          <a:ea typeface="+mn-ea"/>
                        </a:rPr>
                        <a:t>견적서 제출</a:t>
                      </a:r>
                      <a:r>
                        <a:rPr lang="en-US" altLang="ko-KR" sz="800" dirty="0">
                          <a:latin typeface="+mn-ea"/>
                          <a:ea typeface="+mn-ea"/>
                        </a:rPr>
                        <a:t>(</a:t>
                      </a:r>
                      <a:r>
                        <a:rPr lang="ko-KR" altLang="en-US" sz="800" dirty="0">
                          <a:latin typeface="+mn-ea"/>
                          <a:ea typeface="+mn-ea"/>
                        </a:rPr>
                        <a:t>공개수의협상</a:t>
                      </a:r>
                      <a:r>
                        <a:rPr lang="en-US" altLang="ko-KR" sz="800" dirty="0">
                          <a:latin typeface="+mn-ea"/>
                          <a:ea typeface="+mn-ea"/>
                        </a:rPr>
                        <a:t>)</a:t>
                      </a:r>
                      <a:r>
                        <a:rPr lang="ko-KR" altLang="en-US" sz="800" dirty="0">
                          <a:latin typeface="+mn-ea"/>
                          <a:ea typeface="+mn-ea"/>
                        </a:rPr>
                        <a:t> 건</a:t>
                      </a:r>
                      <a:r>
                        <a:rPr lang="en-US" altLang="ko-KR" sz="800" dirty="0">
                          <a:latin typeface="+mn-ea"/>
                          <a:ea typeface="+mn-ea"/>
                        </a:rPr>
                        <a:t>, </a:t>
                      </a:r>
                      <a:r>
                        <a:rPr lang="ko-KR" altLang="en-US" sz="800" dirty="0">
                          <a:latin typeface="+mn-ea"/>
                          <a:ea typeface="+mn-ea"/>
                        </a:rPr>
                        <a:t>재입찰</a:t>
                      </a:r>
                      <a:r>
                        <a:rPr lang="en-US" altLang="ko-KR" sz="800" dirty="0">
                          <a:latin typeface="+mn-ea"/>
                          <a:ea typeface="+mn-ea"/>
                        </a:rPr>
                        <a:t>, </a:t>
                      </a:r>
                      <a:r>
                        <a:rPr lang="ko-KR" altLang="en-US" sz="800" dirty="0">
                          <a:latin typeface="+mn-ea"/>
                          <a:ea typeface="+mn-ea"/>
                        </a:rPr>
                        <a:t>연기공고 건으로 입찰진행 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668250"/>
                  </a:ext>
                </a:extLst>
              </a:tr>
              <a:tr h="0">
                <a:tc>
                  <a:txBody>
                    <a:bodyPr/>
                    <a:lstStyle/>
                    <a:p>
                      <a:r>
                        <a:rPr lang="ko-KR" altLang="en-US" sz="800" dirty="0" err="1"/>
                        <a:t>입찰건명</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scwin.grd_bidPrgrs_onclick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입찰공고상세</a:t>
                      </a:r>
                      <a:r>
                        <a:rPr lang="ko-KR" altLang="en-US" sz="800" dirty="0">
                          <a:latin typeface="+mn-ea"/>
                          <a:ea typeface="+mn-ea"/>
                        </a:rPr>
                        <a:t>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(UI-BD-01-M03) </a:t>
                      </a:r>
                      <a:r>
                        <a:rPr lang="ko-KR" altLang="en-US" sz="800" b="0" i="0" kern="1200" dirty="0" err="1">
                          <a:solidFill>
                            <a:schemeClr val="tx1"/>
                          </a:solidFill>
                          <a:effectLst/>
                          <a:latin typeface="+mn-lt"/>
                          <a:ea typeface="+mn-ea"/>
                          <a:cs typeface="+mn-cs"/>
                        </a:rPr>
                        <a:t>입찰공고상세</a:t>
                      </a:r>
                      <a:endParaRPr lang="en-US" altLang="ko-KR" sz="800" b="0" i="0" kern="1200" dirty="0">
                        <a:solidFill>
                          <a:schemeClr val="tx1"/>
                        </a:solidFill>
                        <a:effectLst/>
                        <a:latin typeface="+mn-lt"/>
                        <a:ea typeface="+mn-ea"/>
                        <a:cs typeface="+mn-cs"/>
                      </a:endParaRPr>
                    </a:p>
                    <a:p>
                      <a:pPr marL="0" indent="0" algn="l" latinLnBrk="1">
                        <a:buFont typeface="Arial" panose="020B0604020202020204" pitchFamily="34" charset="0"/>
                        <a:buNone/>
                      </a:pPr>
                      <a:r>
                        <a:rPr lang="en-US" altLang="ko-KR" sz="800" b="0" i="0" kern="1200" dirty="0">
                          <a:solidFill>
                            <a:schemeClr val="tx1"/>
                          </a:solidFill>
                          <a:effectLst/>
                          <a:latin typeface="+mn-lt"/>
                          <a:ea typeface="+mn-ea"/>
                          <a:cs typeface="+mn-cs"/>
                        </a:rPr>
                        <a:t>(UI-BD-01-M71) (</a:t>
                      </a:r>
                      <a:r>
                        <a:rPr lang="ko-KR" altLang="en-US" sz="800" b="0" i="0" kern="1200" dirty="0">
                          <a:solidFill>
                            <a:schemeClr val="tx1"/>
                          </a:solidFill>
                          <a:effectLst/>
                          <a:latin typeface="+mn-lt"/>
                          <a:ea typeface="+mn-ea"/>
                          <a:cs typeface="+mn-cs"/>
                        </a:rPr>
                        <a:t>외자</a:t>
                      </a:r>
                      <a:r>
                        <a:rPr lang="en-US" altLang="ko-KR" sz="800" b="0" i="0" kern="1200" dirty="0">
                          <a:solidFill>
                            <a:schemeClr val="tx1"/>
                          </a:solidFill>
                          <a:effectLst/>
                          <a:latin typeface="+mn-lt"/>
                          <a:ea typeface="+mn-ea"/>
                          <a:cs typeface="+mn-cs"/>
                        </a:rPr>
                        <a:t>)</a:t>
                      </a:r>
                      <a:r>
                        <a:rPr lang="ko-KR" altLang="en-US" sz="800" b="0" i="0" kern="1200" dirty="0" err="1">
                          <a:solidFill>
                            <a:schemeClr val="tx1"/>
                          </a:solidFill>
                          <a:effectLst/>
                          <a:latin typeface="+mn-lt"/>
                          <a:ea typeface="+mn-ea"/>
                          <a:cs typeface="+mn-cs"/>
                        </a:rPr>
                        <a:t>입찰공고상세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0613206"/>
                  </a:ext>
                </a:extLst>
              </a:tr>
              <a:tr h="0">
                <a:tc>
                  <a:txBody>
                    <a:bodyPr/>
                    <a:lstStyle/>
                    <a:p>
                      <a:r>
                        <a:rPr lang="ko-KR" altLang="en-US" sz="800" dirty="0"/>
                        <a:t>입찰참가신청서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scwin.grd_bidPrgrs_onclick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서약서</a:t>
                      </a:r>
                      <a:r>
                        <a:rPr lang="en-US" altLang="ko-KR" sz="800" dirty="0">
                          <a:latin typeface="+mn-ea"/>
                          <a:ea typeface="+mn-ea"/>
                        </a:rPr>
                        <a:t> </a:t>
                      </a:r>
                      <a:r>
                        <a:rPr lang="ko-KR" altLang="en-US" sz="800" dirty="0">
                          <a:latin typeface="+mn-ea"/>
                          <a:ea typeface="+mn-ea"/>
                        </a:rPr>
                        <a:t>동의 팝업 화면 호출</a:t>
                      </a:r>
                      <a:endParaRPr lang="en-US" altLang="ko-KR" sz="800" dirty="0">
                        <a:latin typeface="+mn-ea"/>
                        <a:ea typeface="+mn-ea"/>
                      </a:endParaRPr>
                    </a:p>
                    <a:p>
                      <a:r>
                        <a:rPr lang="ko-KR" altLang="en-US" sz="800" dirty="0">
                          <a:latin typeface="+mn-ea"/>
                          <a:ea typeface="+mn-ea"/>
                        </a:rPr>
                        <a:t>입찰참가신청서 작성</a:t>
                      </a:r>
                      <a:r>
                        <a:rPr lang="en-US" altLang="ko-KR" sz="800" dirty="0">
                          <a:latin typeface="+mn-ea"/>
                          <a:ea typeface="+mn-ea"/>
                        </a:rPr>
                        <a:t>/</a:t>
                      </a:r>
                      <a:r>
                        <a:rPr lang="ko-KR" altLang="en-US" sz="800" dirty="0">
                          <a:latin typeface="+mn-ea"/>
                          <a:ea typeface="+mn-ea"/>
                        </a:rPr>
                        <a:t>수정</a:t>
                      </a:r>
                      <a:r>
                        <a:rPr lang="en-US" altLang="ko-KR" sz="800" dirty="0">
                          <a:latin typeface="+mn-ea"/>
                          <a:ea typeface="+mn-ea"/>
                        </a:rPr>
                        <a:t>/</a:t>
                      </a:r>
                      <a:r>
                        <a:rPr lang="ko-KR" altLang="en-US" sz="800" dirty="0">
                          <a:latin typeface="+mn-ea"/>
                          <a:ea typeface="+mn-ea"/>
                        </a:rPr>
                        <a:t>조회 화면 호출</a:t>
                      </a:r>
                      <a:endParaRPr lang="en-US" altLang="ko-KR" sz="800" dirty="0">
                        <a:latin typeface="+mn-ea"/>
                        <a:ea typeface="+mn-ea"/>
                      </a:endParaRPr>
                    </a:p>
                    <a:p>
                      <a:r>
                        <a:rPr lang="ko-KR" altLang="en-US" sz="800" dirty="0">
                          <a:latin typeface="+mn-ea"/>
                          <a:ea typeface="+mn-ea"/>
                        </a:rPr>
                        <a:t>입찰등록결과 조회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err="1">
                          <a:latin typeface="+mn-ea"/>
                          <a:ea typeface="+mn-ea"/>
                        </a:rPr>
                        <a:t>중복투찰제한</a:t>
                      </a:r>
                      <a:r>
                        <a:rPr lang="ko-KR" altLang="en-US" sz="800" dirty="0">
                          <a:latin typeface="+mn-ea"/>
                          <a:ea typeface="+mn-ea"/>
                        </a:rPr>
                        <a:t> </a:t>
                      </a:r>
                      <a:r>
                        <a:rPr lang="en-US" altLang="ko-KR" sz="800" dirty="0">
                          <a:latin typeface="+mn-ea"/>
                          <a:ea typeface="+mn-ea"/>
                        </a:rPr>
                        <a:t>: </a:t>
                      </a:r>
                      <a:r>
                        <a:rPr lang="ko-KR" altLang="en-US" sz="800" dirty="0">
                          <a:latin typeface="+mn-ea"/>
                          <a:ea typeface="+mn-ea"/>
                        </a:rPr>
                        <a:t>동일공고 동일</a:t>
                      </a:r>
                      <a:r>
                        <a:rPr lang="en-US" altLang="ko-KR" sz="800" dirty="0">
                          <a:latin typeface="+mn-ea"/>
                          <a:ea typeface="+mn-ea"/>
                        </a:rPr>
                        <a:t>IP </a:t>
                      </a:r>
                      <a:r>
                        <a:rPr lang="ko-KR" altLang="en-US" sz="800" dirty="0">
                          <a:latin typeface="+mn-ea"/>
                          <a:ea typeface="+mn-ea"/>
                        </a:rPr>
                        <a:t>중복</a:t>
                      </a:r>
                      <a:r>
                        <a:rPr lang="en-US" altLang="ko-KR" sz="800" dirty="0">
                          <a:latin typeface="+mn-ea"/>
                          <a:ea typeface="+mn-ea"/>
                        </a:rPr>
                        <a:t>, </a:t>
                      </a:r>
                      <a:r>
                        <a:rPr lang="ko-KR" altLang="en-US" sz="800" dirty="0">
                          <a:latin typeface="+mn-ea"/>
                          <a:ea typeface="+mn-ea"/>
                        </a:rPr>
                        <a:t>동일공고 동일업체 중복</a:t>
                      </a:r>
                      <a:endParaRPr lang="en-US" altLang="ko-KR" sz="800" dirty="0">
                        <a:latin typeface="+mn-ea"/>
                        <a:ea typeface="+mn-ea"/>
                      </a:endParaRPr>
                    </a:p>
                    <a:p>
                      <a:pPr marL="0" indent="0" algn="l" latinLnBrk="1">
                        <a:buFont typeface="Arial" panose="020B0604020202020204" pitchFamily="34" charset="0"/>
                        <a:buNone/>
                      </a:pPr>
                      <a:r>
                        <a:rPr lang="ko-KR" altLang="en-US" sz="800" dirty="0" err="1">
                          <a:latin typeface="+mn-ea"/>
                          <a:ea typeface="+mn-ea"/>
                        </a:rPr>
                        <a:t>투찰제한</a:t>
                      </a:r>
                      <a:r>
                        <a:rPr lang="ko-KR" altLang="en-US" sz="800" dirty="0">
                          <a:latin typeface="+mn-ea"/>
                          <a:ea typeface="+mn-ea"/>
                        </a:rPr>
                        <a:t> </a:t>
                      </a:r>
                      <a:r>
                        <a:rPr lang="en-US" altLang="ko-KR" sz="800" dirty="0">
                          <a:latin typeface="+mn-ea"/>
                          <a:ea typeface="+mn-ea"/>
                        </a:rPr>
                        <a:t>: </a:t>
                      </a:r>
                      <a:r>
                        <a:rPr lang="ko-KR" altLang="en-US" sz="800" dirty="0">
                          <a:latin typeface="+mn-ea"/>
                          <a:ea typeface="+mn-ea"/>
                        </a:rPr>
                        <a:t>직접생산증명</a:t>
                      </a:r>
                      <a:r>
                        <a:rPr lang="en-US" altLang="ko-KR" sz="800" dirty="0">
                          <a:latin typeface="+mn-ea"/>
                          <a:ea typeface="+mn-ea"/>
                        </a:rPr>
                        <a:t>(</a:t>
                      </a:r>
                      <a:r>
                        <a:rPr lang="ko-KR" altLang="en-US" sz="800" dirty="0">
                          <a:latin typeface="+mn-ea"/>
                          <a:ea typeface="+mn-ea"/>
                        </a:rPr>
                        <a:t>신규</a:t>
                      </a:r>
                      <a:r>
                        <a:rPr lang="en-US" altLang="ko-KR" sz="800" dirty="0">
                          <a:latin typeface="+mn-ea"/>
                          <a:ea typeface="+mn-ea"/>
                        </a:rPr>
                        <a:t>) </a:t>
                      </a:r>
                      <a:r>
                        <a:rPr lang="ko-KR" altLang="en-US" sz="800" dirty="0">
                          <a:latin typeface="+mn-ea"/>
                          <a:ea typeface="+mn-ea"/>
                        </a:rPr>
                        <a:t>등</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(UI-BD-04-P01) </a:t>
                      </a:r>
                      <a:r>
                        <a:rPr lang="ko-KR" altLang="en-US" sz="800" b="0" i="0" kern="1200" dirty="0">
                          <a:solidFill>
                            <a:schemeClr val="tx1"/>
                          </a:solidFill>
                          <a:effectLst/>
                          <a:latin typeface="+mn-lt"/>
                          <a:ea typeface="+mn-ea"/>
                          <a:cs typeface="+mn-cs"/>
                        </a:rPr>
                        <a:t>서약서동의</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(UI-BD-04-M02) </a:t>
                      </a:r>
                      <a:r>
                        <a:rPr lang="ko-KR" altLang="en-US" sz="800" b="0" i="0" kern="1200" dirty="0">
                          <a:solidFill>
                            <a:schemeClr val="tx1"/>
                          </a:solidFill>
                          <a:effectLst/>
                          <a:latin typeface="+mn-lt"/>
                          <a:ea typeface="+mn-ea"/>
                          <a:cs typeface="+mn-cs"/>
                        </a:rPr>
                        <a:t>입찰참가신청서 </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(UI-BD-05-M02) </a:t>
                      </a:r>
                      <a:r>
                        <a:rPr lang="ko-KR" altLang="en-US" sz="800" b="0" i="0" kern="1200" dirty="0">
                          <a:solidFill>
                            <a:schemeClr val="tx1"/>
                          </a:solidFill>
                          <a:effectLst/>
                          <a:latin typeface="+mn-lt"/>
                          <a:ea typeface="+mn-ea"/>
                          <a:cs typeface="+mn-cs"/>
                        </a:rPr>
                        <a:t>입찰등록심사결과조회</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(UI-BD-04-M77) (</a:t>
                      </a:r>
                      <a:r>
                        <a:rPr lang="ko-KR" altLang="en-US" sz="800" b="0" i="0" kern="1200" dirty="0">
                          <a:solidFill>
                            <a:schemeClr val="tx1"/>
                          </a:solidFill>
                          <a:effectLst/>
                          <a:latin typeface="+mn-lt"/>
                          <a:ea typeface="+mn-ea"/>
                          <a:cs typeface="+mn-cs"/>
                        </a:rPr>
                        <a:t>외자</a:t>
                      </a:r>
                      <a:r>
                        <a:rPr lang="en-US" altLang="ko-KR" sz="800" b="0" i="0" kern="1200" dirty="0">
                          <a:solidFill>
                            <a:schemeClr val="tx1"/>
                          </a:solidFill>
                          <a:effectLst/>
                          <a:latin typeface="+mn-lt"/>
                          <a:ea typeface="+mn-ea"/>
                          <a:cs typeface="+mn-cs"/>
                        </a:rPr>
                        <a:t>)</a:t>
                      </a:r>
                      <a:r>
                        <a:rPr lang="ko-KR" altLang="en-US" sz="800" b="0" i="0" kern="1200" dirty="0" err="1">
                          <a:solidFill>
                            <a:schemeClr val="tx1"/>
                          </a:solidFill>
                          <a:effectLst/>
                          <a:latin typeface="+mn-lt"/>
                          <a:ea typeface="+mn-ea"/>
                          <a:cs typeface="+mn-cs"/>
                        </a:rPr>
                        <a:t>입찰참가신청서상세</a:t>
                      </a:r>
                      <a:r>
                        <a:rPr lang="en-US" altLang="ko-KR" sz="800" b="0" i="0" kern="1200" dirty="0">
                          <a:solidFill>
                            <a:schemeClr val="tx1"/>
                          </a:solidFill>
                          <a:effectLst/>
                          <a:latin typeface="+mn-lt"/>
                          <a:ea typeface="+mn-ea"/>
                          <a:cs typeface="+mn-cs"/>
                        </a:rPr>
                        <a:t> </a:t>
                      </a: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(UI-BD-04-M79) (</a:t>
                      </a:r>
                      <a:r>
                        <a:rPr lang="ko-KR" altLang="en-US" sz="800" b="0" i="0" kern="1200" dirty="0">
                          <a:solidFill>
                            <a:schemeClr val="tx1"/>
                          </a:solidFill>
                          <a:effectLst/>
                          <a:latin typeface="+mn-lt"/>
                          <a:ea typeface="+mn-ea"/>
                          <a:cs typeface="+mn-cs"/>
                        </a:rPr>
                        <a:t>외자</a:t>
                      </a:r>
                      <a:r>
                        <a:rPr lang="en-US" altLang="ko-KR" sz="800" b="0" i="0" kern="1200" dirty="0">
                          <a:solidFill>
                            <a:schemeClr val="tx1"/>
                          </a:solidFill>
                          <a:effectLst/>
                          <a:latin typeface="+mn-lt"/>
                          <a:ea typeface="+mn-ea"/>
                          <a:cs typeface="+mn-cs"/>
                        </a:rPr>
                        <a:t>)</a:t>
                      </a:r>
                      <a:r>
                        <a:rPr lang="ko-KR" altLang="en-US" sz="800" b="0" i="0" kern="1200" dirty="0">
                          <a:solidFill>
                            <a:schemeClr val="tx1"/>
                          </a:solidFill>
                          <a:effectLst/>
                          <a:latin typeface="+mn-lt"/>
                          <a:ea typeface="+mn-ea"/>
                          <a:cs typeface="+mn-cs"/>
                        </a:rPr>
                        <a:t>입찰등록결과조회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68684852"/>
                  </a:ext>
                </a:extLst>
              </a:tr>
              <a:tr h="0">
                <a:tc>
                  <a:txBody>
                    <a:bodyPr/>
                    <a:lstStyle/>
                    <a:p>
                      <a:r>
                        <a:rPr lang="ko-KR" altLang="en-US" sz="800" dirty="0"/>
                        <a:t>입찰서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scwin.grd_bidPrgrs_onclick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투찰제한</a:t>
                      </a:r>
                      <a:r>
                        <a:rPr lang="ko-KR" altLang="en-US" sz="800" dirty="0">
                          <a:latin typeface="+mn-ea"/>
                          <a:ea typeface="+mn-ea"/>
                        </a:rPr>
                        <a:t> 및 </a:t>
                      </a:r>
                      <a:r>
                        <a:rPr lang="ko-KR" altLang="en-US" sz="800" dirty="0" err="1">
                          <a:latin typeface="+mn-ea"/>
                          <a:ea typeface="+mn-ea"/>
                        </a:rPr>
                        <a:t>중복투찰제한</a:t>
                      </a:r>
                      <a:r>
                        <a:rPr lang="ko-KR" altLang="en-US" sz="800" dirty="0">
                          <a:latin typeface="+mn-ea"/>
                          <a:ea typeface="+mn-ea"/>
                        </a:rPr>
                        <a:t> 후 입찰서제출 화면 호출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입찰참가신청 상태가 등록확정 또는 입찰등록심사 시점이 사후심사인 경우 버튼 보이기</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(UI-BD-06-M01) </a:t>
                      </a:r>
                      <a:r>
                        <a:rPr lang="ko-KR" altLang="en-US" sz="800" b="0" i="0" kern="1200" dirty="0">
                          <a:solidFill>
                            <a:schemeClr val="tx1"/>
                          </a:solidFill>
                          <a:effectLst/>
                          <a:latin typeface="+mn-lt"/>
                          <a:ea typeface="+mn-ea"/>
                          <a:cs typeface="+mn-cs"/>
                        </a:rPr>
                        <a:t>입찰서제출</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(UI-BD-06-M71) (</a:t>
                      </a:r>
                      <a:r>
                        <a:rPr lang="ko-KR" altLang="en-US" sz="800" b="0" i="0" kern="1200" dirty="0">
                          <a:solidFill>
                            <a:schemeClr val="tx1"/>
                          </a:solidFill>
                          <a:effectLst/>
                          <a:latin typeface="+mn-lt"/>
                          <a:ea typeface="+mn-ea"/>
                          <a:cs typeface="+mn-cs"/>
                        </a:rPr>
                        <a:t>외자</a:t>
                      </a:r>
                      <a:r>
                        <a:rPr lang="en-US" altLang="ko-KR" sz="800" b="0" i="0" kern="1200" dirty="0">
                          <a:solidFill>
                            <a:schemeClr val="tx1"/>
                          </a:solidFill>
                          <a:effectLst/>
                          <a:latin typeface="+mn-lt"/>
                          <a:ea typeface="+mn-ea"/>
                          <a:cs typeface="+mn-cs"/>
                        </a:rPr>
                        <a:t>)</a:t>
                      </a:r>
                      <a:r>
                        <a:rPr lang="ko-KR" altLang="en-US" sz="800" b="0" i="0" kern="1200" dirty="0">
                          <a:solidFill>
                            <a:schemeClr val="tx1"/>
                          </a:solidFill>
                          <a:effectLst/>
                          <a:latin typeface="+mn-lt"/>
                          <a:ea typeface="+mn-ea"/>
                          <a:cs typeface="+mn-cs"/>
                        </a:rPr>
                        <a:t>입찰서제출</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(UI-BD-06-M72) (</a:t>
                      </a:r>
                      <a:r>
                        <a:rPr lang="ko-KR" altLang="en-US" sz="800" b="0" i="0" kern="1200" dirty="0">
                          <a:solidFill>
                            <a:schemeClr val="tx1"/>
                          </a:solidFill>
                          <a:effectLst/>
                          <a:latin typeface="+mn-lt"/>
                          <a:ea typeface="+mn-ea"/>
                          <a:cs typeface="+mn-cs"/>
                        </a:rPr>
                        <a:t>외자</a:t>
                      </a:r>
                      <a:r>
                        <a:rPr lang="en-US" altLang="ko-KR" sz="800" b="0" i="0" kern="1200" dirty="0">
                          <a:solidFill>
                            <a:schemeClr val="tx1"/>
                          </a:solidFill>
                          <a:effectLst/>
                          <a:latin typeface="+mn-lt"/>
                          <a:ea typeface="+mn-ea"/>
                          <a:cs typeface="+mn-cs"/>
                        </a:rPr>
                        <a:t>)</a:t>
                      </a:r>
                      <a:r>
                        <a:rPr lang="ko-KR" altLang="en-US" sz="800" b="0" i="0" kern="1200" dirty="0" err="1">
                          <a:solidFill>
                            <a:schemeClr val="tx1"/>
                          </a:solidFill>
                          <a:effectLst/>
                          <a:latin typeface="+mn-lt"/>
                          <a:ea typeface="+mn-ea"/>
                          <a:cs typeface="+mn-cs"/>
                        </a:rPr>
                        <a:t>역경매입찰서제출</a:t>
                      </a:r>
                      <a:endParaRPr lang="en-US" altLang="ko-KR" sz="800" b="0" i="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(UI-BD-06-M73) (</a:t>
                      </a:r>
                      <a:r>
                        <a:rPr lang="ko-KR" altLang="en-US" sz="800" b="0" i="0" kern="1200" dirty="0">
                          <a:solidFill>
                            <a:schemeClr val="tx1"/>
                          </a:solidFill>
                          <a:effectLst/>
                          <a:latin typeface="+mn-lt"/>
                          <a:ea typeface="+mn-ea"/>
                          <a:cs typeface="+mn-cs"/>
                        </a:rPr>
                        <a:t>외자</a:t>
                      </a:r>
                      <a:r>
                        <a:rPr lang="en-US" altLang="ko-KR" sz="800" b="0" i="0" kern="1200" dirty="0">
                          <a:solidFill>
                            <a:schemeClr val="tx1"/>
                          </a:solidFill>
                          <a:effectLst/>
                          <a:latin typeface="+mn-lt"/>
                          <a:ea typeface="+mn-ea"/>
                          <a:cs typeface="+mn-cs"/>
                        </a:rPr>
                        <a:t>)</a:t>
                      </a:r>
                      <a:r>
                        <a:rPr lang="ko-KR" altLang="en-US" sz="800" b="0" i="0" kern="1200" dirty="0" err="1">
                          <a:solidFill>
                            <a:schemeClr val="tx1"/>
                          </a:solidFill>
                          <a:effectLst/>
                          <a:latin typeface="+mn-lt"/>
                          <a:ea typeface="+mn-ea"/>
                          <a:cs typeface="+mn-cs"/>
                        </a:rPr>
                        <a:t>입찰서상세</a:t>
                      </a:r>
                      <a:endParaRPr lang="en-US" altLang="ko-KR" sz="800" b="0" i="0" kern="1200" dirty="0">
                        <a:solidFill>
                          <a:schemeClr val="tx1"/>
                        </a:solidFill>
                        <a:effectLst/>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5114332"/>
                  </a:ext>
                </a:extLst>
              </a:tr>
              <a:tr h="0">
                <a:tc>
                  <a:txBody>
                    <a:bodyPr/>
                    <a:lstStyle/>
                    <a:p>
                      <a:r>
                        <a:rPr lang="ko-KR" altLang="en-US" sz="800" dirty="0"/>
                        <a:t>사전심사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scwin.grd_bidPrgrs_onclick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사전심사</a:t>
                      </a:r>
                      <a:r>
                        <a:rPr lang="en-US" altLang="ko-KR" sz="800" dirty="0">
                          <a:latin typeface="+mn-ea"/>
                          <a:ea typeface="+mn-ea"/>
                        </a:rPr>
                        <a:t>(PQ)</a:t>
                      </a:r>
                      <a:r>
                        <a:rPr lang="ko-KR" altLang="en-US" sz="800" dirty="0">
                          <a:latin typeface="+mn-ea"/>
                          <a:ea typeface="+mn-ea"/>
                        </a:rPr>
                        <a:t>결과 조회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사전심사 대상 입찰공고이고</a:t>
                      </a:r>
                      <a:r>
                        <a:rPr lang="en-US" altLang="ko-KR" sz="800" dirty="0">
                          <a:latin typeface="+mn-ea"/>
                          <a:ea typeface="+mn-ea"/>
                        </a:rPr>
                        <a:t>, </a:t>
                      </a:r>
                      <a:r>
                        <a:rPr lang="ko-KR" altLang="en-US" sz="800" dirty="0">
                          <a:latin typeface="+mn-ea"/>
                          <a:ea typeface="+mn-ea"/>
                        </a:rPr>
                        <a:t>사전심사결과가 있는 경우 버튼 보이기</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(UI-BD-02-P04) </a:t>
                      </a:r>
                      <a:r>
                        <a:rPr lang="ko-KR" altLang="en-US" sz="800" b="0" i="0" kern="1200" dirty="0">
                          <a:solidFill>
                            <a:schemeClr val="tx1"/>
                          </a:solidFill>
                          <a:effectLst/>
                          <a:latin typeface="+mn-lt"/>
                          <a:ea typeface="+mn-ea"/>
                          <a:cs typeface="+mn-cs"/>
                        </a:rPr>
                        <a:t>사전심사결과상세</a:t>
                      </a:r>
                      <a:endParaRPr lang="en-US" altLang="ko-KR" sz="800" b="0" i="0" kern="1200" dirty="0">
                        <a:solidFill>
                          <a:schemeClr val="tx1"/>
                        </a:solidFill>
                        <a:effectLst/>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944359"/>
                  </a:ext>
                </a:extLst>
              </a:tr>
              <a:tr h="0">
                <a:tc>
                  <a:txBody>
                    <a:bodyPr/>
                    <a:lstStyle/>
                    <a:p>
                      <a:r>
                        <a:rPr lang="ko-KR" altLang="en-US" sz="800" dirty="0"/>
                        <a:t>기술평가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t>scwin.grd_bidPrgrs_onclick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기술평가결과조회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latin typeface="+mn-ea"/>
                          <a:ea typeface="+mn-ea"/>
                        </a:rPr>
                        <a:t>기술평가 대상 입찰공고이고</a:t>
                      </a:r>
                      <a:r>
                        <a:rPr lang="en-US" altLang="ko-KR" sz="800" dirty="0">
                          <a:latin typeface="+mn-ea"/>
                          <a:ea typeface="+mn-ea"/>
                        </a:rPr>
                        <a:t>, </a:t>
                      </a:r>
                      <a:r>
                        <a:rPr lang="ko-KR" altLang="en-US" sz="800" dirty="0">
                          <a:latin typeface="+mn-ea"/>
                          <a:ea typeface="+mn-ea"/>
                        </a:rPr>
                        <a:t>기술평가결과가 있는 경우 버튼 보이기</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lt"/>
                          <a:ea typeface="+mn-ea"/>
                          <a:cs typeface="+mn-cs"/>
                        </a:rPr>
                        <a:t>(UI-BD-07-P03) </a:t>
                      </a:r>
                      <a:r>
                        <a:rPr lang="ko-KR" altLang="en-US" sz="800" b="0" i="0" kern="1200" dirty="0">
                          <a:solidFill>
                            <a:schemeClr val="tx1"/>
                          </a:solidFill>
                          <a:effectLst/>
                          <a:latin typeface="+mn-lt"/>
                          <a:ea typeface="+mn-ea"/>
                          <a:cs typeface="+mn-cs"/>
                        </a:rPr>
                        <a:t>기술평가결과조회</a:t>
                      </a:r>
                      <a:endParaRPr lang="en-US" altLang="ko-KR" sz="800" b="0" i="0" kern="1200" dirty="0">
                        <a:solidFill>
                          <a:schemeClr val="tx1"/>
                        </a:solidFill>
                        <a:effectLst/>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7413864"/>
                  </a:ext>
                </a:extLst>
              </a:tr>
              <a:tr h="0">
                <a:tc>
                  <a:txBody>
                    <a:bodyPr/>
                    <a:lstStyle/>
                    <a:p>
                      <a:r>
                        <a:rPr lang="ko-KR" altLang="en-US" sz="800" dirty="0"/>
                        <a:t>생산능력서류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t>scwin.grd_bidPrgrs_onclick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생산능력서류제출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생산능력서류제출 대상 입찰공고인 경우 버튼 보이기</a:t>
                      </a:r>
                      <a:endParaRPr lang="en-US" altLang="ko-KR" sz="800" dirty="0">
                        <a:latin typeface="+mn-ea"/>
                        <a:ea typeface="+mn-ea"/>
                      </a:endParaRPr>
                    </a:p>
                    <a:p>
                      <a:pPr marL="0" indent="0" algn="l" latinLnBrk="1">
                        <a:buFont typeface="Arial" panose="020B0604020202020204" pitchFamily="34" charset="0"/>
                        <a:buNone/>
                      </a:pPr>
                      <a:r>
                        <a:rPr lang="en-US" altLang="ko-KR" sz="800" b="0" i="0" kern="1200" dirty="0">
                          <a:solidFill>
                            <a:schemeClr val="tx1"/>
                          </a:solidFill>
                          <a:effectLst/>
                          <a:latin typeface="+mn-lt"/>
                          <a:ea typeface="+mn-ea"/>
                          <a:cs typeface="+mn-cs"/>
                        </a:rPr>
                        <a:t>(UI-BD-04-P07) </a:t>
                      </a:r>
                      <a:r>
                        <a:rPr lang="ko-KR" altLang="en-US" sz="800" b="0" i="0" kern="1200" dirty="0">
                          <a:solidFill>
                            <a:schemeClr val="tx1"/>
                          </a:solidFill>
                          <a:effectLst/>
                          <a:latin typeface="+mn-lt"/>
                          <a:ea typeface="+mn-ea"/>
                          <a:cs typeface="+mn-cs"/>
                        </a:rPr>
                        <a:t>생산능력서류제출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r>
                        <a:rPr lang="ko-KR" altLang="en-US" sz="800" dirty="0" err="1"/>
                        <a:t>모의투찰</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t>scwin.btn_simtBdng_onclick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모의투찰</a:t>
                      </a:r>
                      <a:r>
                        <a:rPr lang="ko-KR" altLang="en-US" sz="800" dirty="0">
                          <a:latin typeface="+mn-ea"/>
                          <a:ea typeface="+mn-ea"/>
                        </a:rPr>
                        <a:t> 상태로 변경되며</a:t>
                      </a:r>
                      <a:r>
                        <a:rPr lang="en-US" altLang="ko-KR" sz="800" dirty="0">
                          <a:latin typeface="+mn-ea"/>
                          <a:ea typeface="+mn-ea"/>
                        </a:rPr>
                        <a:t>, </a:t>
                      </a:r>
                      <a:r>
                        <a:rPr lang="ko-KR" altLang="en-US" sz="800" dirty="0" err="1">
                          <a:latin typeface="+mn-ea"/>
                          <a:ea typeface="+mn-ea"/>
                        </a:rPr>
                        <a:t>모의투찰용</a:t>
                      </a:r>
                      <a:r>
                        <a:rPr lang="ko-KR" altLang="en-US" sz="800" dirty="0">
                          <a:latin typeface="+mn-ea"/>
                          <a:ea typeface="+mn-ea"/>
                        </a:rPr>
                        <a:t> 입찰진행 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입찰참가신청 시 입찰등록심사결과를 바로 등록확정 처리</a:t>
                      </a:r>
                      <a:r>
                        <a:rPr lang="en-US" altLang="ko-KR" sz="800" dirty="0">
                          <a:latin typeface="+mn-ea"/>
                          <a:ea typeface="+mn-ea"/>
                        </a:rPr>
                        <a:t>.</a:t>
                      </a:r>
                    </a:p>
                    <a:p>
                      <a:pPr marL="0" indent="0" algn="l" latinLnBrk="1">
                        <a:buFont typeface="Arial" panose="020B0604020202020204" pitchFamily="34" charset="0"/>
                        <a:buNone/>
                      </a:pPr>
                      <a:r>
                        <a:rPr lang="ko-KR" altLang="en-US" sz="800" dirty="0">
                          <a:latin typeface="+mn-ea"/>
                          <a:ea typeface="+mn-ea"/>
                        </a:rPr>
                        <a:t>입찰서제출 후 입찰취소신청 가능</a:t>
                      </a:r>
                      <a:endParaRPr lang="en-US" altLang="ko-KR" sz="800" dirty="0">
                        <a:latin typeface="+mn-ea"/>
                        <a:ea typeface="+mn-ea"/>
                      </a:endParaRPr>
                    </a:p>
                    <a:p>
                      <a:pPr marL="0" indent="0" algn="l" latinLnBrk="1">
                        <a:buFont typeface="Arial" panose="020B0604020202020204" pitchFamily="34" charset="0"/>
                        <a:buNone/>
                      </a:pPr>
                      <a:r>
                        <a:rPr lang="ko-KR" altLang="en-US" sz="800" dirty="0">
                          <a:latin typeface="+mn-ea"/>
                          <a:ea typeface="+mn-ea"/>
                        </a:rPr>
                        <a:t>다시 </a:t>
                      </a:r>
                      <a:r>
                        <a:rPr lang="ko-KR" altLang="en-US" sz="800" dirty="0" err="1">
                          <a:latin typeface="+mn-ea"/>
                          <a:ea typeface="+mn-ea"/>
                        </a:rPr>
                        <a:t>모의투찰</a:t>
                      </a:r>
                      <a:r>
                        <a:rPr lang="ko-KR" altLang="en-US" sz="800" dirty="0">
                          <a:latin typeface="+mn-ea"/>
                          <a:ea typeface="+mn-ea"/>
                        </a:rPr>
                        <a:t> 상태 진입 시 기존 </a:t>
                      </a:r>
                      <a:r>
                        <a:rPr lang="ko-KR" altLang="en-US" sz="800" dirty="0" err="1">
                          <a:latin typeface="+mn-ea"/>
                          <a:ea typeface="+mn-ea"/>
                        </a:rPr>
                        <a:t>모의투찰</a:t>
                      </a:r>
                      <a:r>
                        <a:rPr lang="ko-KR" altLang="en-US" sz="800" dirty="0">
                          <a:latin typeface="+mn-ea"/>
                          <a:ea typeface="+mn-ea"/>
                        </a:rPr>
                        <a:t> </a:t>
                      </a:r>
                      <a:r>
                        <a:rPr lang="ko-KR" altLang="en-US" sz="800" dirty="0" err="1">
                          <a:latin typeface="+mn-ea"/>
                          <a:ea typeface="+mn-ea"/>
                        </a:rPr>
                        <a:t>진행건</a:t>
                      </a:r>
                      <a:r>
                        <a:rPr lang="ko-KR" altLang="en-US" sz="800" dirty="0">
                          <a:latin typeface="+mn-ea"/>
                          <a:ea typeface="+mn-ea"/>
                        </a:rPr>
                        <a:t> 삭제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3317343"/>
                  </a:ext>
                </a:extLst>
              </a:tr>
            </a:tbl>
          </a:graphicData>
        </a:graphic>
      </p:graphicFrame>
      <p:sp>
        <p:nvSpPr>
          <p:cNvPr id="5" name="Text Box 73">
            <a:extLst>
              <a:ext uri="{FF2B5EF4-FFF2-40B4-BE49-F238E27FC236}">
                <a16:creationId xmlns:a16="http://schemas.microsoft.com/office/drawing/2014/main" id="{EE08407E-3A29-07B8-92E2-A37609B553A0}"/>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94718959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상세정보 팝업</a:t>
            </a:r>
            <a:r>
              <a:rPr lang="en-US" altLang="ko-KR" dirty="0"/>
              <a:t> – </a:t>
            </a:r>
            <a:r>
              <a:rPr lang="ko-KR" altLang="en-US" dirty="0"/>
              <a:t>세부 내역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68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입찰포기신청서작성</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입찰포기신청서 작성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입찰포기신청서작성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lIns="72000" tIns="36000" rIns="72000" bIns="36000"/>
          <a:lstStyle/>
          <a:p>
            <a:pPr fontAlgn="ctr"/>
            <a:r>
              <a:rPr lang="en-US" altLang="ko-KR" dirty="0">
                <a:latin typeface="+mn-ea"/>
              </a:rPr>
              <a:t>MUI-BD-03-P03</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2" name="양쪽 모서리가 둥근 사각형 321"/>
          <p:cNvSpPr/>
          <p:nvPr/>
        </p:nvSpPr>
        <p:spPr>
          <a:xfrm>
            <a:off x="3795734" y="1604667"/>
            <a:ext cx="2712027" cy="4637202"/>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26" name="모서리가 둥근 직사각형 325"/>
          <p:cNvSpPr/>
          <p:nvPr/>
        </p:nvSpPr>
        <p:spPr>
          <a:xfrm>
            <a:off x="4881747" y="1635065"/>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27" name="그룹 326"/>
          <p:cNvGrpSpPr/>
          <p:nvPr/>
        </p:nvGrpSpPr>
        <p:grpSpPr>
          <a:xfrm>
            <a:off x="6284673" y="1769481"/>
            <a:ext cx="94010" cy="94010"/>
            <a:chOff x="6812560" y="3297172"/>
            <a:chExt cx="94010" cy="94010"/>
          </a:xfrm>
        </p:grpSpPr>
        <p:cxnSp>
          <p:nvCxnSpPr>
            <p:cNvPr id="328" name="직선 연결선 3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9" name="직선 연결선 3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FFC49AEA-2A8F-250C-A86A-A7751D9706C3}"/>
              </a:ext>
            </a:extLst>
          </p:cNvPr>
          <p:cNvSpPr txBox="1"/>
          <p:nvPr/>
        </p:nvSpPr>
        <p:spPr>
          <a:xfrm>
            <a:off x="3924811" y="1750160"/>
            <a:ext cx="1798758" cy="138499"/>
          </a:xfrm>
          <a:prstGeom prst="rect">
            <a:avLst/>
          </a:prstGeom>
          <a:noFill/>
        </p:spPr>
        <p:txBody>
          <a:bodyPr wrap="square" lIns="0" tIns="0" rIns="0" bIns="0" rtlCol="0">
            <a:spAutoFit/>
          </a:bodyPr>
          <a:lstStyle/>
          <a:p>
            <a:r>
              <a:rPr lang="ko-KR" altLang="en-US" sz="900" dirty="0">
                <a:latin typeface="+mn-ea"/>
              </a:rPr>
              <a:t>입찰포기신청서</a:t>
            </a:r>
          </a:p>
        </p:txBody>
      </p:sp>
      <p:cxnSp>
        <p:nvCxnSpPr>
          <p:cNvPr id="331" name="직선 연결선 330">
            <a:extLst>
              <a:ext uri="{FF2B5EF4-FFF2-40B4-BE49-F238E27FC236}">
                <a16:creationId xmlns:a16="http://schemas.microsoft.com/office/drawing/2014/main" id="{E9293055-D5CD-4B9E-7F64-64B2D2CA7A52}"/>
              </a:ext>
            </a:extLst>
          </p:cNvPr>
          <p:cNvCxnSpPr/>
          <p:nvPr/>
        </p:nvCxnSpPr>
        <p:spPr>
          <a:xfrm>
            <a:off x="3795734" y="20115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r>
              <a:rPr lang="ko-KR" altLang="en-US" sz="900" dirty="0">
                <a:latin typeface="+mn-ea"/>
              </a:rPr>
              <a:t>입찰포기신청서</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23032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3795734" y="5614711"/>
            <a:ext cx="2712027" cy="617588"/>
            <a:chOff x="675399" y="5614711"/>
            <a:chExt cx="2712027" cy="617588"/>
          </a:xfrm>
        </p:grpSpPr>
        <p:sp>
          <p:nvSpPr>
            <p:cNvPr id="129" name="직사각형 128">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827499"/>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827499"/>
            <a:ext cx="792000" cy="1723549"/>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판단번호</a:t>
            </a:r>
            <a:r>
              <a:rPr lang="en-US" altLang="ko-KR" sz="700" dirty="0">
                <a:latin typeface="+mn-ea"/>
              </a:rPr>
              <a:t>/</a:t>
            </a:r>
            <a:r>
              <a:rPr lang="ko-KR" altLang="en-US" sz="700" dirty="0" err="1">
                <a:latin typeface="+mn-ea"/>
              </a:rPr>
              <a:t>공사번호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827499"/>
            <a:ext cx="1784088" cy="1723549"/>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56349</a:t>
            </a:r>
          </a:p>
          <a:p>
            <a:pPr>
              <a:lnSpc>
                <a:spcPct val="200000"/>
              </a:lnSpc>
            </a:pPr>
            <a:r>
              <a:rPr lang="en-US" altLang="ko-KR" sz="700" dirty="0">
                <a:latin typeface="+mn-ea"/>
              </a:rPr>
              <a:t>2025LDG56349</a:t>
            </a:r>
          </a:p>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123-56-78901</a:t>
            </a:r>
          </a:p>
        </p:txBody>
      </p:sp>
      <p:grpSp>
        <p:nvGrpSpPr>
          <p:cNvPr id="166" name="그룹 165"/>
          <p:cNvGrpSpPr/>
          <p:nvPr/>
        </p:nvGrpSpPr>
        <p:grpSpPr>
          <a:xfrm>
            <a:off x="720139" y="3827499"/>
            <a:ext cx="2630093" cy="1723549"/>
            <a:chOff x="701175" y="1835481"/>
            <a:chExt cx="2630093" cy="1723549"/>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76" name="그룹 175">
            <a:extLst>
              <a:ext uri="{FF2B5EF4-FFF2-40B4-BE49-F238E27FC236}">
                <a16:creationId xmlns:a16="http://schemas.microsoft.com/office/drawing/2014/main" id="{22BC05EE-C648-7CA2-4CCC-6E1C1A7E9BDA}"/>
              </a:ext>
            </a:extLst>
          </p:cNvPr>
          <p:cNvGrpSpPr/>
          <p:nvPr/>
        </p:nvGrpSpPr>
        <p:grpSpPr>
          <a:xfrm>
            <a:off x="5132807" y="4022293"/>
            <a:ext cx="76863" cy="292489"/>
            <a:chOff x="3750067" y="4683795"/>
            <a:chExt cx="76863" cy="292489"/>
          </a:xfrm>
        </p:grpSpPr>
        <p:sp>
          <p:nvSpPr>
            <p:cNvPr id="177" name="타원 17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78" name="타원 17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79" name="타원 17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80" name="사각형: 둥근 모서리 15">
            <a:extLst>
              <a:ext uri="{FF2B5EF4-FFF2-40B4-BE49-F238E27FC236}">
                <a16:creationId xmlns:a16="http://schemas.microsoft.com/office/drawing/2014/main" id="{E2B61CFB-AD16-68D0-8752-50D9C5E01971}"/>
              </a:ext>
            </a:extLst>
          </p:cNvPr>
          <p:cNvSpPr/>
          <p:nvPr/>
        </p:nvSpPr>
        <p:spPr>
          <a:xfrm>
            <a:off x="3843514" y="4378191"/>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81" name="모서리가 둥근 직사각형 180"/>
          <p:cNvSpPr/>
          <p:nvPr/>
        </p:nvSpPr>
        <p:spPr>
          <a:xfrm>
            <a:off x="3859820" y="4658117"/>
            <a:ext cx="2579992" cy="886075"/>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2" name="TextBox 181">
            <a:extLst>
              <a:ext uri="{FF2B5EF4-FFF2-40B4-BE49-F238E27FC236}">
                <a16:creationId xmlns:a16="http://schemas.microsoft.com/office/drawing/2014/main" id="{FFC49AEA-2A8F-250C-A86A-A7751D9706C3}"/>
              </a:ext>
            </a:extLst>
          </p:cNvPr>
          <p:cNvSpPr txBox="1"/>
          <p:nvPr/>
        </p:nvSpPr>
        <p:spPr>
          <a:xfrm>
            <a:off x="3997244" y="4831850"/>
            <a:ext cx="2305144" cy="538609"/>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부대에 제출한 전자입찰서를 포기합니다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000000</a:t>
            </a:r>
            <a:r>
              <a:rPr lang="ko-KR" altLang="en-US" sz="700" dirty="0">
                <a:latin typeface="맑은 고딕" panose="020B0503020000020004" pitchFamily="50" charset="-127"/>
              </a:rPr>
              <a:t> 재무관 귀하</a:t>
            </a:r>
            <a:endParaRPr lang="en-US" altLang="ko-KR" sz="700" dirty="0">
              <a:latin typeface="맑은 고딕" panose="020B0503020000020004" pitchFamily="50" charset="-127"/>
            </a:endParaRPr>
          </a:p>
        </p:txBody>
      </p:sp>
      <p:sp>
        <p:nvSpPr>
          <p:cNvPr id="197" name="직사각형 196"/>
          <p:cNvSpPr/>
          <p:nvPr/>
        </p:nvSpPr>
        <p:spPr>
          <a:xfrm>
            <a:off x="3837494" y="2275947"/>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8" name="TextBox 197">
            <a:extLst>
              <a:ext uri="{FF2B5EF4-FFF2-40B4-BE49-F238E27FC236}">
                <a16:creationId xmlns:a16="http://schemas.microsoft.com/office/drawing/2014/main" id="{FFC49AEA-2A8F-250C-A86A-A7751D9706C3}"/>
              </a:ext>
            </a:extLst>
          </p:cNvPr>
          <p:cNvSpPr txBox="1"/>
          <p:nvPr/>
        </p:nvSpPr>
        <p:spPr>
          <a:xfrm>
            <a:off x="3924557" y="2275947"/>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4681406" y="2275947"/>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200" name="그룹 199"/>
          <p:cNvGrpSpPr/>
          <p:nvPr/>
        </p:nvGrpSpPr>
        <p:grpSpPr>
          <a:xfrm>
            <a:off x="3835401" y="2275947"/>
            <a:ext cx="2630093" cy="1723549"/>
            <a:chOff x="701175" y="1835481"/>
            <a:chExt cx="2630093" cy="1723549"/>
          </a:xfrm>
        </p:grpSpPr>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8" name="모서리가 둥근 직사각형 357"/>
          <p:cNvSpPr/>
          <p:nvPr/>
        </p:nvSpPr>
        <p:spPr>
          <a:xfrm rot="5400000">
            <a:off x="5782577" y="4393865"/>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3859820" y="2018409"/>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품목내역</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Tree>
    <p:extLst>
      <p:ext uri="{BB962C8B-B14F-4D97-AF65-F5344CB8AC3E}">
        <p14:creationId xmlns:p14="http://schemas.microsoft.com/office/powerpoint/2010/main" val="281698148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69</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bl>
          </a:graphicData>
        </a:graphic>
      </p:graphicFrame>
      <p:sp>
        <p:nvSpPr>
          <p:cNvPr id="4" name="TextBox 3">
            <a:extLst>
              <a:ext uri="{FF2B5EF4-FFF2-40B4-BE49-F238E27FC236}">
                <a16:creationId xmlns:a16="http://schemas.microsoft.com/office/drawing/2014/main" id="{7E629CCF-A9E0-CB28-6B33-88629597C422}"/>
              </a:ext>
            </a:extLst>
          </p:cNvPr>
          <p:cNvSpPr txBox="1"/>
          <p:nvPr/>
        </p:nvSpPr>
        <p:spPr>
          <a:xfrm>
            <a:off x="452291" y="5118062"/>
            <a:ext cx="1206178" cy="226591"/>
          </a:xfrm>
          <a:prstGeom prst="rect">
            <a:avLst/>
          </a:prstGeom>
          <a:noFill/>
          <a:ln>
            <a:noFill/>
          </a:ln>
        </p:spPr>
        <p:txBody>
          <a:bodyPr wrap="square" lIns="36000" tIns="36000" rIns="36000" bIns="36000" rtlCol="0">
            <a:spAutoFit/>
          </a:bodyPr>
          <a:lstStyle/>
          <a:p>
            <a:r>
              <a:rPr lang="en-US" altLang="ko-KR" sz="1000" b="1" dirty="0">
                <a:solidFill>
                  <a:prstClr val="black"/>
                </a:solidFill>
              </a:rPr>
              <a:t>2. </a:t>
            </a:r>
            <a:r>
              <a:rPr lang="ko-KR" altLang="en-US" sz="1000" b="1" dirty="0">
                <a:solidFill>
                  <a:prstClr val="black"/>
                </a:solidFill>
              </a:rPr>
              <a:t>이벤트 설명</a:t>
            </a:r>
          </a:p>
        </p:txBody>
      </p:sp>
      <p:graphicFrame>
        <p:nvGraphicFramePr>
          <p:cNvPr id="5" name="표 4">
            <a:extLst>
              <a:ext uri="{FF2B5EF4-FFF2-40B4-BE49-F238E27FC236}">
                <a16:creationId xmlns:a16="http://schemas.microsoft.com/office/drawing/2014/main" id="{FB5D07D1-0B08-23C2-B52D-CACE42A3CDAA}"/>
              </a:ext>
            </a:extLst>
          </p:cNvPr>
          <p:cNvGraphicFramePr>
            <a:graphicFrameLocks noGrp="1"/>
          </p:cNvGraphicFramePr>
          <p:nvPr/>
        </p:nvGraphicFramePr>
        <p:xfrm>
          <a:off x="452292" y="5352172"/>
          <a:ext cx="8996300" cy="1141440"/>
        </p:xfrm>
        <a:graphic>
          <a:graphicData uri="http://schemas.openxmlformats.org/drawingml/2006/table">
            <a:tbl>
              <a:tblPr>
                <a:tableStyleId>{616DA210-FB5B-4158-B5E0-FEB733F419BA}</a:tableStyleId>
              </a:tblPr>
              <a:tblGrid>
                <a:gridCol w="964311">
                  <a:extLst>
                    <a:ext uri="{9D8B030D-6E8A-4147-A177-3AD203B41FA5}">
                      <a16:colId xmlns:a16="http://schemas.microsoft.com/office/drawing/2014/main" val="20000"/>
                    </a:ext>
                  </a:extLst>
                </a:gridCol>
                <a:gridCol w="964311">
                  <a:extLst>
                    <a:ext uri="{9D8B030D-6E8A-4147-A177-3AD203B41FA5}">
                      <a16:colId xmlns:a16="http://schemas.microsoft.com/office/drawing/2014/main" val="3103963203"/>
                    </a:ext>
                  </a:extLst>
                </a:gridCol>
                <a:gridCol w="3703270">
                  <a:extLst>
                    <a:ext uri="{9D8B030D-6E8A-4147-A177-3AD203B41FA5}">
                      <a16:colId xmlns:a16="http://schemas.microsoft.com/office/drawing/2014/main" val="20001"/>
                    </a:ext>
                  </a:extLst>
                </a:gridCol>
                <a:gridCol w="336440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a:t>
                      </a:r>
                      <a:r>
                        <a:rPr lang="en-US" altLang="ko-KR" sz="800" dirty="0">
                          <a:latin typeface="+mn-ea"/>
                          <a:ea typeface="+mn-ea"/>
                        </a:rPr>
                        <a:t>, </a:t>
                      </a:r>
                      <a:r>
                        <a:rPr lang="ko-KR" altLang="en-US" sz="800" dirty="0">
                          <a:latin typeface="+mn-ea"/>
                          <a:ea typeface="+mn-ea"/>
                        </a:rPr>
                        <a:t>업체내역 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입찰포기신청서 조회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scwin.btn_bidAbndApfrSbmsn_onclick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입찰포기신청서 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해당 입찰공고에 다시 입찰 불가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11032434"/>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입찰포기신청서 팝업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3057026"/>
                  </a:ext>
                </a:extLst>
              </a:tr>
            </a:tbl>
          </a:graphicData>
        </a:graphic>
      </p:graphicFrame>
      <p:sp>
        <p:nvSpPr>
          <p:cNvPr id="2" name="TextBox 1">
            <a:extLst>
              <a:ext uri="{FF2B5EF4-FFF2-40B4-BE49-F238E27FC236}">
                <a16:creationId xmlns:a16="http://schemas.microsoft.com/office/drawing/2014/main" id="{6D9151FA-A795-8400-BA33-6B3FDBFB02D4}"/>
              </a:ext>
            </a:extLst>
          </p:cNvPr>
          <p:cNvSpPr txBox="1"/>
          <p:nvPr/>
        </p:nvSpPr>
        <p:spPr>
          <a:xfrm>
            <a:off x="458115" y="2820173"/>
            <a:ext cx="245636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품목내역 목록 데이터 영역 </a:t>
            </a:r>
            <a:r>
              <a:rPr lang="en-US" altLang="ko-KR" sz="900" b="1" dirty="0">
                <a:solidFill>
                  <a:prstClr val="black"/>
                </a:solidFill>
              </a:rPr>
              <a:t>(</a:t>
            </a:r>
            <a:r>
              <a:rPr lang="en-US" altLang="ko-KR" sz="900" b="1" dirty="0" err="1">
                <a:solidFill>
                  <a:prstClr val="black"/>
                </a:solidFill>
              </a:rPr>
              <a:t>dlt_itemList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D1A28356-E450-23EB-9D48-0512C61174E4}"/>
              </a:ext>
            </a:extLst>
          </p:cNvPr>
          <p:cNvGraphicFramePr>
            <a:graphicFrameLocks noGrp="1"/>
          </p:cNvGraphicFramePr>
          <p:nvPr/>
        </p:nvGraphicFramePr>
        <p:xfrm>
          <a:off x="452997" y="3033991"/>
          <a:ext cx="8994883" cy="1939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조회 번호</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입찰방법이 단가제인 경우 보이기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a:latin typeface="+mn-ea"/>
                          <a:ea typeface="+mn-ea"/>
                        </a:rPr>
                        <a:t>항목번호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분류번호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a:latin typeface="+mn-ea"/>
                          <a:ea typeface="+mn-ea"/>
                        </a:rPr>
                        <a:t>재고번호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fscCdNtnItemIdntfNo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군급분류코드</a:t>
                      </a:r>
                      <a:r>
                        <a:rPr lang="en-US" altLang="ko-KR" sz="800" dirty="0">
                          <a:latin typeface="+mn-ea"/>
                          <a:ea typeface="+mn-ea"/>
                        </a:rPr>
                        <a:t>, </a:t>
                      </a:r>
                      <a:r>
                        <a:rPr lang="ko-KR" altLang="en-US" sz="800" dirty="0">
                          <a:latin typeface="+mn-ea"/>
                          <a:ea typeface="+mn-ea"/>
                        </a:rPr>
                        <a:t>국가품목식별번호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err="1">
                          <a:latin typeface="+mn-ea"/>
                          <a:ea typeface="+mn-ea"/>
                        </a:rPr>
                        <a:t>군급분류코드</a:t>
                      </a:r>
                      <a:r>
                        <a:rPr lang="en-US" altLang="ko-KR" sz="800" dirty="0">
                          <a:latin typeface="+mn-ea"/>
                          <a:ea typeface="+mn-ea"/>
                        </a:rPr>
                        <a:t>+</a:t>
                      </a:r>
                      <a:r>
                        <a:rPr lang="ko-KR" altLang="en-US" sz="800" dirty="0">
                          <a:latin typeface="+mn-ea"/>
                          <a:ea typeface="+mn-ea"/>
                        </a:rPr>
                        <a:t>국가품목식별번호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a:latin typeface="+mn-ea"/>
                          <a:ea typeface="+mn-ea"/>
                        </a:rPr>
                        <a:t>품명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품목명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a:latin typeface="+mn-ea"/>
                          <a:ea typeface="+mn-ea"/>
                        </a:rPr>
                        <a:t>규격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a:latin typeface="+mn-ea"/>
                          <a:ea typeface="+mn-ea"/>
                        </a:rPr>
                        <a:t>단위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a:latin typeface="+mn-ea"/>
                          <a:ea typeface="+mn-ea"/>
                        </a:rPr>
                        <a:t>수량</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a:latin typeface="+mn-ea"/>
                          <a:ea typeface="+mn-ea"/>
                        </a:rPr>
                        <a:t>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bl>
          </a:graphicData>
        </a:graphic>
      </p:graphicFrame>
      <p:sp>
        <p:nvSpPr>
          <p:cNvPr id="8" name="Text Box 73">
            <a:extLst>
              <a:ext uri="{FF2B5EF4-FFF2-40B4-BE49-F238E27FC236}">
                <a16:creationId xmlns:a16="http://schemas.microsoft.com/office/drawing/2014/main" id="{CF2BB7F5-E2DF-3D20-92BA-884705E8C6B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9" name="TextBox 8">
            <a:extLst>
              <a:ext uri="{FF2B5EF4-FFF2-40B4-BE49-F238E27FC236}">
                <a16:creationId xmlns:a16="http://schemas.microsoft.com/office/drawing/2014/main" id="{49F10F53-A8AD-9ADD-420D-F397D72AC277}"/>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Tree>
    <p:extLst>
      <p:ext uri="{BB962C8B-B14F-4D97-AF65-F5344CB8AC3E}">
        <p14:creationId xmlns:p14="http://schemas.microsoft.com/office/powerpoint/2010/main" val="200391417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상세정보 팝업</a:t>
            </a:r>
            <a:r>
              <a:rPr lang="en-US" altLang="ko-KR" dirty="0"/>
              <a:t> – </a:t>
            </a:r>
            <a:r>
              <a:rPr lang="ko-KR" altLang="en-US" dirty="0"/>
              <a:t>세부 내역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70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입찰취소신청서작성</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입찰취소신청서 작성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입찰취소신청서작성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MUI-BD-03-P04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2" name="양쪽 모서리가 둥근 사각형 321"/>
          <p:cNvSpPr/>
          <p:nvPr/>
        </p:nvSpPr>
        <p:spPr>
          <a:xfrm>
            <a:off x="3795734" y="2108521"/>
            <a:ext cx="2712027" cy="413334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26" name="모서리가 둥근 직사각형 325"/>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27" name="그룹 326"/>
          <p:cNvGrpSpPr/>
          <p:nvPr/>
        </p:nvGrpSpPr>
        <p:grpSpPr>
          <a:xfrm>
            <a:off x="6284673" y="2273335"/>
            <a:ext cx="94010" cy="94010"/>
            <a:chOff x="6812560" y="3297172"/>
            <a:chExt cx="94010" cy="94010"/>
          </a:xfrm>
        </p:grpSpPr>
        <p:cxnSp>
          <p:nvCxnSpPr>
            <p:cNvPr id="328" name="직선 연결선 3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9" name="직선 연결선 3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latin typeface="+mn-ea"/>
              </a:rPr>
              <a:t>입찰취소신청서</a:t>
            </a:r>
          </a:p>
        </p:txBody>
      </p:sp>
      <p:cxnSp>
        <p:nvCxnSpPr>
          <p:cNvPr id="331" name="직선 연결선 330">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r>
              <a:rPr lang="ko-KR" altLang="en-US" sz="900" dirty="0">
                <a:latin typeface="+mn-ea"/>
              </a:rPr>
              <a:t>입찰취소신청서</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23032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3795734" y="5614711"/>
            <a:ext cx="2712027" cy="617588"/>
            <a:chOff x="675399" y="5614711"/>
            <a:chExt cx="2712027" cy="617588"/>
          </a:xfrm>
        </p:grpSpPr>
        <p:sp>
          <p:nvSpPr>
            <p:cNvPr id="129" name="직사각형 128">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827499"/>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827499"/>
            <a:ext cx="792000" cy="1723549"/>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판단번호</a:t>
            </a:r>
            <a:r>
              <a:rPr lang="en-US" altLang="ko-KR" sz="700" dirty="0">
                <a:latin typeface="+mn-ea"/>
              </a:rPr>
              <a:t>/</a:t>
            </a:r>
            <a:r>
              <a:rPr lang="ko-KR" altLang="en-US" sz="700" dirty="0" err="1">
                <a:latin typeface="+mn-ea"/>
              </a:rPr>
              <a:t>공사번호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827499"/>
            <a:ext cx="1784088" cy="1723549"/>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56349</a:t>
            </a:r>
          </a:p>
          <a:p>
            <a:pPr>
              <a:lnSpc>
                <a:spcPct val="200000"/>
              </a:lnSpc>
            </a:pPr>
            <a:r>
              <a:rPr lang="en-US" altLang="ko-KR" sz="700" dirty="0">
                <a:latin typeface="+mn-ea"/>
              </a:rPr>
              <a:t>2025LDG56349</a:t>
            </a:r>
          </a:p>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123-56-78901</a:t>
            </a:r>
          </a:p>
        </p:txBody>
      </p:sp>
      <p:grpSp>
        <p:nvGrpSpPr>
          <p:cNvPr id="166" name="그룹 165"/>
          <p:cNvGrpSpPr/>
          <p:nvPr/>
        </p:nvGrpSpPr>
        <p:grpSpPr>
          <a:xfrm>
            <a:off x="720139" y="3827499"/>
            <a:ext cx="2630093" cy="1723549"/>
            <a:chOff x="701175" y="1835481"/>
            <a:chExt cx="2630093" cy="1723549"/>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81" name="모서리가 둥근 직사각형 180"/>
          <p:cNvSpPr/>
          <p:nvPr/>
        </p:nvSpPr>
        <p:spPr>
          <a:xfrm>
            <a:off x="3859820" y="4503918"/>
            <a:ext cx="2579992" cy="987891"/>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2" name="TextBox 181">
            <a:extLst>
              <a:ext uri="{FF2B5EF4-FFF2-40B4-BE49-F238E27FC236}">
                <a16:creationId xmlns:a16="http://schemas.microsoft.com/office/drawing/2014/main" id="{FFC49AEA-2A8F-250C-A86A-A7751D9706C3}"/>
              </a:ext>
            </a:extLst>
          </p:cNvPr>
          <p:cNvSpPr txBox="1"/>
          <p:nvPr/>
        </p:nvSpPr>
        <p:spPr>
          <a:xfrm>
            <a:off x="3997244" y="4674698"/>
            <a:ext cx="2305144" cy="646331"/>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부대에 제출한 전자입찰서를 </a:t>
            </a:r>
            <a:r>
              <a:rPr lang="ko-KR" altLang="en-US" sz="700" dirty="0" err="1">
                <a:latin typeface="맑은 고딕" panose="020B0503020000020004" pitchFamily="50" charset="-127"/>
              </a:rPr>
              <a:t>취소하오니</a:t>
            </a:r>
            <a:r>
              <a:rPr lang="en-US" altLang="ko-KR" sz="700" dirty="0">
                <a:latin typeface="맑은 고딕" panose="020B0503020000020004" pitchFamily="50" charset="-127"/>
              </a:rPr>
              <a:t>, </a:t>
            </a:r>
            <a:r>
              <a:rPr lang="ko-KR" altLang="en-US" sz="700" dirty="0">
                <a:latin typeface="맑은 고딕" panose="020B0503020000020004" pitchFamily="50" charset="-127"/>
              </a:rPr>
              <a:t>무효 처리하여 주시기 바랍니다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000000</a:t>
            </a:r>
            <a:r>
              <a:rPr lang="ko-KR" altLang="en-US" sz="700" dirty="0">
                <a:latin typeface="맑은 고딕" panose="020B0503020000020004" pitchFamily="50" charset="-127"/>
              </a:rPr>
              <a:t> 재무관 귀하</a:t>
            </a:r>
            <a:endParaRPr lang="en-US" altLang="ko-KR" sz="700" dirty="0">
              <a:latin typeface="맑은 고딕" panose="020B0503020000020004" pitchFamily="50" charset="-127"/>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3924557" y="2779801"/>
            <a:ext cx="2454126" cy="181140"/>
          </a:xfrm>
          <a:prstGeom prst="rect">
            <a:avLst/>
          </a:prstGeom>
          <a:noFill/>
        </p:spPr>
        <p:txBody>
          <a:bodyPr wrap="square" lIns="0" tIns="0" rIns="0" bIns="0" rtlCol="0">
            <a:spAutoFit/>
          </a:bodyPr>
          <a:lstStyle/>
          <a:p>
            <a:pPr>
              <a:lnSpc>
                <a:spcPct val="200000"/>
              </a:lnSpc>
            </a:pPr>
            <a:r>
              <a:rPr lang="ko-KR" altLang="en-US" sz="700" dirty="0">
                <a:solidFill>
                  <a:schemeClr val="bg1">
                    <a:lumMod val="75000"/>
                  </a:schemeClr>
                </a:solidFill>
                <a:latin typeface="+mn-ea"/>
              </a:rPr>
              <a:t>내용을 입력하세요</a:t>
            </a:r>
            <a:r>
              <a:rPr lang="en-US" altLang="ko-KR" sz="700" dirty="0">
                <a:solidFill>
                  <a:schemeClr val="bg1">
                    <a:lumMod val="75000"/>
                  </a:schemeClr>
                </a:solidFill>
                <a:latin typeface="+mn-ea"/>
              </a:rPr>
              <a:t>.</a:t>
            </a:r>
          </a:p>
        </p:txBody>
      </p:sp>
      <p:grpSp>
        <p:nvGrpSpPr>
          <p:cNvPr id="200" name="그룹 199"/>
          <p:cNvGrpSpPr/>
          <p:nvPr/>
        </p:nvGrpSpPr>
        <p:grpSpPr>
          <a:xfrm>
            <a:off x="3835401" y="2778927"/>
            <a:ext cx="2630093" cy="1553280"/>
            <a:chOff x="701175" y="1835481"/>
            <a:chExt cx="2630093" cy="1553280"/>
          </a:xfrm>
        </p:grpSpPr>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3388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8" name="모서리가 둥근 직사각형 357"/>
          <p:cNvSpPr/>
          <p:nvPr/>
        </p:nvSpPr>
        <p:spPr>
          <a:xfrm rot="5400000">
            <a:off x="5782577" y="4897719"/>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3859820" y="2522263"/>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취소사유</a:t>
            </a:r>
            <a:r>
              <a:rPr lang="ko-KR" altLang="en-US" sz="700" dirty="0">
                <a:latin typeface="+mn-ea"/>
              </a:rPr>
              <a:t> </a:t>
            </a:r>
            <a:r>
              <a:rPr lang="en-US" altLang="ko-KR" sz="700" dirty="0">
                <a:solidFill>
                  <a:srgbClr val="FF0000"/>
                </a:solidFill>
                <a:latin typeface="+mn-ea"/>
              </a:rPr>
              <a:t>*</a:t>
            </a:r>
            <a:endParaRPr lang="ko-KR" altLang="en-US" sz="700" dirty="0">
              <a:solidFill>
                <a:srgbClr val="FF0000"/>
              </a:solidFill>
              <a:latin typeface="+mn-ea"/>
            </a:endParaRPr>
          </a:p>
        </p:txBody>
      </p:sp>
    </p:spTree>
    <p:extLst>
      <p:ext uri="{BB962C8B-B14F-4D97-AF65-F5344CB8AC3E}">
        <p14:creationId xmlns:p14="http://schemas.microsoft.com/office/powerpoint/2010/main" val="24844978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71</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bl>
          </a:graphicData>
        </a:graphic>
      </p:graphicFrame>
      <p:sp>
        <p:nvSpPr>
          <p:cNvPr id="4" name="TextBox 3">
            <a:extLst>
              <a:ext uri="{FF2B5EF4-FFF2-40B4-BE49-F238E27FC236}">
                <a16:creationId xmlns:a16="http://schemas.microsoft.com/office/drawing/2014/main" id="{7E629CCF-A9E0-CB28-6B33-88629597C422}"/>
              </a:ext>
            </a:extLst>
          </p:cNvPr>
          <p:cNvSpPr txBox="1"/>
          <p:nvPr/>
        </p:nvSpPr>
        <p:spPr>
          <a:xfrm>
            <a:off x="452291" y="3827144"/>
            <a:ext cx="1206178" cy="226591"/>
          </a:xfrm>
          <a:prstGeom prst="rect">
            <a:avLst/>
          </a:prstGeom>
          <a:noFill/>
          <a:ln>
            <a:noFill/>
          </a:ln>
        </p:spPr>
        <p:txBody>
          <a:bodyPr wrap="square" lIns="36000" tIns="36000" rIns="36000" bIns="36000" rtlCol="0">
            <a:spAutoFit/>
          </a:bodyPr>
          <a:lstStyle/>
          <a:p>
            <a:r>
              <a:rPr lang="en-US" altLang="ko-KR" sz="1000" b="1" dirty="0">
                <a:solidFill>
                  <a:prstClr val="black"/>
                </a:solidFill>
              </a:rPr>
              <a:t>2. </a:t>
            </a:r>
            <a:r>
              <a:rPr lang="ko-KR" altLang="en-US" sz="1000" b="1" dirty="0">
                <a:solidFill>
                  <a:prstClr val="black"/>
                </a:solidFill>
              </a:rPr>
              <a:t>이벤트 설명</a:t>
            </a:r>
          </a:p>
        </p:txBody>
      </p:sp>
      <p:graphicFrame>
        <p:nvGraphicFramePr>
          <p:cNvPr id="5" name="표 4">
            <a:extLst>
              <a:ext uri="{FF2B5EF4-FFF2-40B4-BE49-F238E27FC236}">
                <a16:creationId xmlns:a16="http://schemas.microsoft.com/office/drawing/2014/main" id="{FB5D07D1-0B08-23C2-B52D-CACE42A3CDAA}"/>
              </a:ext>
            </a:extLst>
          </p:cNvPr>
          <p:cNvGraphicFramePr>
            <a:graphicFrameLocks noGrp="1"/>
          </p:cNvGraphicFramePr>
          <p:nvPr/>
        </p:nvGraphicFramePr>
        <p:xfrm>
          <a:off x="452292" y="4061254"/>
          <a:ext cx="8996300" cy="1141440"/>
        </p:xfrm>
        <a:graphic>
          <a:graphicData uri="http://schemas.openxmlformats.org/drawingml/2006/table">
            <a:tbl>
              <a:tblPr>
                <a:tableStyleId>{616DA210-FB5B-4158-B5E0-FEB733F419BA}</a:tableStyleId>
              </a:tblPr>
              <a:tblGrid>
                <a:gridCol w="964311">
                  <a:extLst>
                    <a:ext uri="{9D8B030D-6E8A-4147-A177-3AD203B41FA5}">
                      <a16:colId xmlns:a16="http://schemas.microsoft.com/office/drawing/2014/main" val="20000"/>
                    </a:ext>
                  </a:extLst>
                </a:gridCol>
                <a:gridCol w="964311">
                  <a:extLst>
                    <a:ext uri="{9D8B030D-6E8A-4147-A177-3AD203B41FA5}">
                      <a16:colId xmlns:a16="http://schemas.microsoft.com/office/drawing/2014/main" val="3103963203"/>
                    </a:ext>
                  </a:extLst>
                </a:gridCol>
                <a:gridCol w="3703270">
                  <a:extLst>
                    <a:ext uri="{9D8B030D-6E8A-4147-A177-3AD203B41FA5}">
                      <a16:colId xmlns:a16="http://schemas.microsoft.com/office/drawing/2014/main" val="20001"/>
                    </a:ext>
                  </a:extLst>
                </a:gridCol>
                <a:gridCol w="336440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a:t>
                      </a:r>
                      <a:r>
                        <a:rPr lang="en-US" altLang="ko-KR" sz="800" dirty="0">
                          <a:latin typeface="+mn-ea"/>
                          <a:ea typeface="+mn-ea"/>
                        </a:rPr>
                        <a:t>, </a:t>
                      </a:r>
                      <a:r>
                        <a:rPr lang="ko-KR" altLang="en-US" sz="800" dirty="0">
                          <a:latin typeface="+mn-ea"/>
                          <a:ea typeface="+mn-ea"/>
                        </a:rPr>
                        <a:t>업체내역 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입찰취소신청서 조회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scwin.btn_bidRtrcnApfrSbmsn_onclick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입찰취소신청서 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해당 입찰공고에 다시 입찰 불가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11032434"/>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입찰취소신청서 팝업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3057026"/>
                  </a:ext>
                </a:extLst>
              </a:tr>
            </a:tbl>
          </a:graphicData>
        </a:graphic>
      </p:graphicFrame>
      <p:sp>
        <p:nvSpPr>
          <p:cNvPr id="2" name="TextBox 1">
            <a:extLst>
              <a:ext uri="{FF2B5EF4-FFF2-40B4-BE49-F238E27FC236}">
                <a16:creationId xmlns:a16="http://schemas.microsoft.com/office/drawing/2014/main" id="{6D9151FA-A795-8400-BA33-6B3FDBFB02D4}"/>
              </a:ext>
            </a:extLst>
          </p:cNvPr>
          <p:cNvSpPr txBox="1"/>
          <p:nvPr/>
        </p:nvSpPr>
        <p:spPr>
          <a:xfrm>
            <a:off x="458115" y="2820173"/>
            <a:ext cx="2738498"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취소사유 데이터 영역 </a:t>
            </a:r>
            <a:r>
              <a:rPr lang="en-US" altLang="ko-KR" sz="900" b="1" dirty="0">
                <a:solidFill>
                  <a:prstClr val="black"/>
                </a:solidFill>
              </a:rPr>
              <a:t>(</a:t>
            </a:r>
            <a:r>
              <a:rPr lang="en-US" altLang="ko-KR" sz="900" b="1" dirty="0" err="1">
                <a:solidFill>
                  <a:prstClr val="black"/>
                </a:solidFill>
              </a:rPr>
              <a:t>dmt_bidRtrcnAplyRsn</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D1A28356-E450-23EB-9D48-0512C61174E4}"/>
              </a:ext>
            </a:extLst>
          </p:cNvPr>
          <p:cNvGraphicFramePr>
            <a:graphicFrameLocks noGrp="1"/>
          </p:cNvGraphicFramePr>
          <p:nvPr/>
        </p:nvGraphicFramePr>
        <p:xfrm>
          <a:off x="452997" y="3033991"/>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bidRtrcnAplyRsn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입찰취소신청 취소사유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8" name="Text Box 73">
            <a:extLst>
              <a:ext uri="{FF2B5EF4-FFF2-40B4-BE49-F238E27FC236}">
                <a16:creationId xmlns:a16="http://schemas.microsoft.com/office/drawing/2014/main" id="{3BC7F79D-55A4-3267-AD34-4BB9D76D0A0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9" name="TextBox 8">
            <a:extLst>
              <a:ext uri="{FF2B5EF4-FFF2-40B4-BE49-F238E27FC236}">
                <a16:creationId xmlns:a16="http://schemas.microsoft.com/office/drawing/2014/main" id="{849D03C3-295D-A535-628D-D64D33CAFED4}"/>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Tree>
    <p:extLst>
      <p:ext uri="{BB962C8B-B14F-4D97-AF65-F5344CB8AC3E}">
        <p14:creationId xmlns:p14="http://schemas.microsoft.com/office/powerpoint/2010/main" val="171905945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업무도움</a:t>
            </a:r>
            <a:r>
              <a:rPr lang="ko-KR" altLang="en-US" dirty="0"/>
              <a:t> 내용이 있는 경우 표시</a:t>
            </a:r>
            <a:endParaRPr lang="en-US" altLang="ko-KR" dirty="0"/>
          </a:p>
          <a:p>
            <a:pPr marL="228600" indent="-228600">
              <a:buFont typeface="+mj-lt"/>
              <a:buAutoNum type="arabicPeriod"/>
            </a:pPr>
            <a:r>
              <a:rPr lang="ko-KR" altLang="en-US" dirty="0"/>
              <a:t>공고 일반 내용 표시</a:t>
            </a:r>
            <a:endParaRPr lang="en-US" altLang="ko-KR" dirty="0"/>
          </a:p>
          <a:p>
            <a:pPr marL="228600" indent="-228600">
              <a:buFont typeface="+mj-lt"/>
              <a:buAutoNum type="arabicPeriod"/>
            </a:pPr>
            <a:r>
              <a:rPr lang="ko-KR" altLang="en-US" dirty="0"/>
              <a:t>업체 내역 표시</a:t>
            </a:r>
            <a:endParaRPr lang="en-US" altLang="ko-KR" dirty="0"/>
          </a:p>
          <a:p>
            <a:pPr marL="228600" indent="-228600">
              <a:buFont typeface="+mj-lt"/>
              <a:buAutoNum type="arabicPeriod"/>
            </a:pPr>
            <a:r>
              <a:rPr lang="ko-KR" altLang="en-US" dirty="0"/>
              <a:t>입찰보증금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72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입찰등록심사 </a:t>
            </a:r>
            <a:r>
              <a:rPr lang="ko-KR" altLang="en-US" dirty="0" err="1">
                <a:latin typeface="+mn-ea"/>
              </a:rPr>
              <a:t>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입찰등록심사 결과를 조회하는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입찰등록심사 </a:t>
            </a:r>
            <a:r>
              <a:rPr lang="ko-KR" altLang="en-US" dirty="0" err="1">
                <a:latin typeface="+mn-ea"/>
              </a:rPr>
              <a:t>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MUI-BD-03-M05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184514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7935" y="1936620"/>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280613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2498651"/>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252999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2611982"/>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3" name="TextBox 152">
            <a:extLst>
              <a:ext uri="{FF2B5EF4-FFF2-40B4-BE49-F238E27FC236}">
                <a16:creationId xmlns:a16="http://schemas.microsoft.com/office/drawing/2014/main" id="{FFC49AEA-2A8F-250C-A86A-A7751D9706C3}"/>
              </a:ext>
            </a:extLst>
          </p:cNvPr>
          <p:cNvSpPr txBox="1"/>
          <p:nvPr/>
        </p:nvSpPr>
        <p:spPr>
          <a:xfrm>
            <a:off x="781109" y="2849748"/>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157233"/>
            <a:ext cx="792000" cy="235867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157233"/>
            <a:ext cx="792000" cy="2369880"/>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a:latin typeface="+mn-ea"/>
              </a:rPr>
              <a:t>총수량</a:t>
            </a:r>
            <a:endParaRPr lang="en-US" altLang="ko-KR" sz="700" dirty="0">
              <a:latin typeface="+mn-ea"/>
            </a:endParaRPr>
          </a:p>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적격심사</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157233"/>
            <a:ext cx="1784088" cy="2369880"/>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ko-KR" altLang="en-US" sz="700" dirty="0">
                <a:latin typeface="+mn-ea"/>
              </a:rPr>
              <a:t>일반확정계약</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2025-12-24 10:30</a:t>
            </a:r>
          </a:p>
        </p:txBody>
      </p:sp>
      <p:grpSp>
        <p:nvGrpSpPr>
          <p:cNvPr id="166" name="그룹 165"/>
          <p:cNvGrpSpPr/>
          <p:nvPr/>
        </p:nvGrpSpPr>
        <p:grpSpPr>
          <a:xfrm>
            <a:off x="720139" y="3157233"/>
            <a:ext cx="2630093" cy="2358676"/>
            <a:chOff x="701175" y="1835481"/>
            <a:chExt cx="2630093" cy="2358676"/>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7590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9737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41941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16668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입찰등록심사 </a:t>
            </a:r>
            <a:r>
              <a:rPr lang="ko-KR" altLang="en-US" sz="800" dirty="0" err="1">
                <a:latin typeface="+mn-ea"/>
              </a:rPr>
              <a:t>결과조회</a:t>
            </a:r>
            <a:endParaRPr lang="ko-KR" altLang="en-US" sz="800" dirty="0">
              <a:latin typeface="+mn-ea"/>
            </a:endParaRPr>
          </a:p>
        </p:txBody>
      </p:sp>
      <p:grpSp>
        <p:nvGrpSpPr>
          <p:cNvPr id="113" name="그룹 112"/>
          <p:cNvGrpSpPr/>
          <p:nvPr/>
        </p:nvGrpSpPr>
        <p:grpSpPr>
          <a:xfrm rot="5400000">
            <a:off x="755013" y="1640499"/>
            <a:ext cx="94010" cy="47005"/>
            <a:chOff x="6812560" y="3297172"/>
            <a:chExt cx="94010" cy="47005"/>
          </a:xfrm>
        </p:grpSpPr>
        <p:cxnSp>
          <p:nvCxnSpPr>
            <p:cNvPr id="119" name="직선 연결선 1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5" name="타원 124"/>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타원 115">
            <a:extLst>
              <a:ext uri="{FF2B5EF4-FFF2-40B4-BE49-F238E27FC236}">
                <a16:creationId xmlns:a16="http://schemas.microsoft.com/office/drawing/2014/main" id="{37A7FF4F-0EAA-1463-560A-D5EC24416103}"/>
              </a:ext>
            </a:extLst>
          </p:cNvPr>
          <p:cNvSpPr/>
          <p:nvPr/>
        </p:nvSpPr>
        <p:spPr>
          <a:xfrm>
            <a:off x="577700" y="253976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1" name="타원 150">
            <a:extLst>
              <a:ext uri="{FF2B5EF4-FFF2-40B4-BE49-F238E27FC236}">
                <a16:creationId xmlns:a16="http://schemas.microsoft.com/office/drawing/2014/main" id="{37A7FF4F-0EAA-1463-560A-D5EC24416103}"/>
              </a:ext>
            </a:extLst>
          </p:cNvPr>
          <p:cNvSpPr/>
          <p:nvPr/>
        </p:nvSpPr>
        <p:spPr>
          <a:xfrm>
            <a:off x="589334" y="289022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0" name="TextBox 149">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58" name="직사각형 157">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5" name="그룹 194"/>
          <p:cNvGrpSpPr/>
          <p:nvPr/>
        </p:nvGrpSpPr>
        <p:grpSpPr>
          <a:xfrm>
            <a:off x="3844632" y="2086048"/>
            <a:ext cx="2630093" cy="1815590"/>
            <a:chOff x="3844632" y="3774686"/>
            <a:chExt cx="2630093" cy="1815590"/>
          </a:xfrm>
        </p:grpSpPr>
        <p:sp>
          <p:nvSpPr>
            <p:cNvPr id="196" name="TextBox 195">
              <a:extLst>
                <a:ext uri="{FF2B5EF4-FFF2-40B4-BE49-F238E27FC236}">
                  <a16:creationId xmlns:a16="http://schemas.microsoft.com/office/drawing/2014/main" id="{FFC49AEA-2A8F-250C-A86A-A7751D9706C3}"/>
                </a:ext>
              </a:extLst>
            </p:cNvPr>
            <p:cNvSpPr txBox="1"/>
            <p:nvPr/>
          </p:nvSpPr>
          <p:spPr>
            <a:xfrm>
              <a:off x="3905603" y="377468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197" name="직사각형 196"/>
            <p:cNvSpPr/>
            <p:nvPr/>
          </p:nvSpPr>
          <p:spPr>
            <a:xfrm>
              <a:off x="3846725" y="4082172"/>
              <a:ext cx="792000" cy="1494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8" name="직선 연결선 197">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9" name="TextBox 198">
              <a:extLst>
                <a:ext uri="{FF2B5EF4-FFF2-40B4-BE49-F238E27FC236}">
                  <a16:creationId xmlns:a16="http://schemas.microsoft.com/office/drawing/2014/main" id="{FFC49AEA-2A8F-250C-A86A-A7751D9706C3}"/>
                </a:ext>
              </a:extLst>
            </p:cNvPr>
            <p:cNvSpPr txBox="1"/>
            <p:nvPr/>
          </p:nvSpPr>
          <p:spPr>
            <a:xfrm>
              <a:off x="3933789" y="4082171"/>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주민등록번호</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4690637" y="4082171"/>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800123-2******</a:t>
              </a:r>
            </a:p>
            <a:p>
              <a:pPr>
                <a:lnSpc>
                  <a:spcPct val="200000"/>
                </a:lnSpc>
              </a:pPr>
              <a:r>
                <a:rPr lang="en-US" altLang="ko-KR" sz="700" dirty="0">
                  <a:latin typeface="+mn-ea"/>
                </a:rPr>
                <a:t>123-56-78901</a:t>
              </a: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3846725" y="49543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3846725" y="5168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3846725" y="5381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3846725" y="55768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08" name="직선 연결선 207">
            <a:extLst>
              <a:ext uri="{FF2B5EF4-FFF2-40B4-BE49-F238E27FC236}">
                <a16:creationId xmlns:a16="http://schemas.microsoft.com/office/drawing/2014/main" id="{E9293055-D5CD-4B9E-7F64-64B2D2CA7A52}"/>
              </a:ext>
            </a:extLst>
          </p:cNvPr>
          <p:cNvCxnSpPr/>
          <p:nvPr/>
        </p:nvCxnSpPr>
        <p:spPr>
          <a:xfrm>
            <a:off x="3795734" y="39853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9" name="타원 208">
            <a:extLst>
              <a:ext uri="{FF2B5EF4-FFF2-40B4-BE49-F238E27FC236}">
                <a16:creationId xmlns:a16="http://schemas.microsoft.com/office/drawing/2014/main" id="{37A7FF4F-0EAA-1463-560A-D5EC24416103}"/>
              </a:ext>
            </a:extLst>
          </p:cNvPr>
          <p:cNvSpPr/>
          <p:nvPr/>
        </p:nvSpPr>
        <p:spPr>
          <a:xfrm>
            <a:off x="3711091" y="211471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213" name="그룹 212"/>
          <p:cNvGrpSpPr/>
          <p:nvPr/>
        </p:nvGrpSpPr>
        <p:grpSpPr>
          <a:xfrm>
            <a:off x="3844632" y="4057596"/>
            <a:ext cx="2630093" cy="1182047"/>
            <a:chOff x="3844632" y="3774686"/>
            <a:chExt cx="2630093" cy="1182047"/>
          </a:xfrm>
        </p:grpSpPr>
        <p:sp>
          <p:nvSpPr>
            <p:cNvPr id="214" name="TextBox 213">
              <a:extLst>
                <a:ext uri="{FF2B5EF4-FFF2-40B4-BE49-F238E27FC236}">
                  <a16:creationId xmlns:a16="http://schemas.microsoft.com/office/drawing/2014/main" id="{FFC49AEA-2A8F-250C-A86A-A7751D9706C3}"/>
                </a:ext>
              </a:extLst>
            </p:cNvPr>
            <p:cNvSpPr txBox="1"/>
            <p:nvPr/>
          </p:nvSpPr>
          <p:spPr>
            <a:xfrm>
              <a:off x="3905603" y="3774686"/>
              <a:ext cx="1586887" cy="181140"/>
            </a:xfrm>
            <a:prstGeom prst="rect">
              <a:avLst/>
            </a:prstGeom>
            <a:noFill/>
          </p:spPr>
          <p:txBody>
            <a:bodyPr wrap="square" lIns="0" tIns="0" rIns="0" bIns="0" rtlCol="0">
              <a:spAutoFit/>
            </a:bodyPr>
            <a:lstStyle/>
            <a:p>
              <a:pPr>
                <a:lnSpc>
                  <a:spcPct val="200000"/>
                </a:lnSpc>
              </a:pPr>
              <a:r>
                <a:rPr lang="ko-KR" altLang="en-US" sz="700" dirty="0">
                  <a:latin typeface="+mn-ea"/>
                </a:rPr>
                <a:t>입찰보증금</a:t>
              </a:r>
            </a:p>
          </p:txBody>
        </p:sp>
        <p:sp>
          <p:nvSpPr>
            <p:cNvPr id="215" name="직사각형 214"/>
            <p:cNvSpPr/>
            <p:nvPr/>
          </p:nvSpPr>
          <p:spPr>
            <a:xfrm>
              <a:off x="3846725" y="4082171"/>
              <a:ext cx="792000" cy="874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6" name="직선 연결선 215">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3933789" y="4082171"/>
              <a:ext cx="756848" cy="861774"/>
            </a:xfrm>
            <a:prstGeom prst="rect">
              <a:avLst/>
            </a:prstGeom>
            <a:noFill/>
          </p:spPr>
          <p:txBody>
            <a:bodyPr wrap="square" lIns="0" tIns="0" rIns="0" bIns="0" rtlCol="0">
              <a:spAutoFit/>
            </a:bodyPr>
            <a:lstStyle/>
            <a:p>
              <a:pPr>
                <a:lnSpc>
                  <a:spcPct val="200000"/>
                </a:lnSpc>
              </a:pPr>
              <a:r>
                <a:rPr lang="ko-KR" altLang="en-US" sz="700" dirty="0">
                  <a:latin typeface="+mn-ea"/>
                </a:rPr>
                <a:t>보증금납부방법</a:t>
              </a:r>
              <a:endParaRPr lang="en-US" altLang="ko-KR" sz="700" dirty="0">
                <a:latin typeface="+mn-ea"/>
              </a:endParaRPr>
            </a:p>
            <a:p>
              <a:pPr>
                <a:lnSpc>
                  <a:spcPct val="200000"/>
                </a:lnSpc>
              </a:pPr>
              <a:r>
                <a:rPr lang="ko-KR" altLang="en-US" sz="700" dirty="0">
                  <a:latin typeface="+mn-ea"/>
                </a:rPr>
                <a:t>보증금면제사유</a:t>
              </a:r>
              <a:endParaRPr lang="en-US" altLang="ko-KR" sz="700" dirty="0">
                <a:latin typeface="+mn-ea"/>
              </a:endParaRPr>
            </a:p>
            <a:p>
              <a:pPr>
                <a:lnSpc>
                  <a:spcPct val="200000"/>
                </a:lnSpc>
              </a:pPr>
              <a:r>
                <a:rPr lang="ko-KR" altLang="en-US" sz="700" dirty="0">
                  <a:latin typeface="+mn-ea"/>
                </a:rPr>
                <a:t>입찰보증금</a:t>
              </a:r>
              <a:endParaRPr lang="en-US" altLang="ko-KR" sz="700" dirty="0">
                <a:latin typeface="+mn-ea"/>
              </a:endParaRPr>
            </a:p>
            <a:p>
              <a:pPr>
                <a:lnSpc>
                  <a:spcPct val="200000"/>
                </a:lnSpc>
              </a:pPr>
              <a:r>
                <a:rPr lang="ko-KR" altLang="en-US" sz="700" dirty="0" err="1">
                  <a:latin typeface="+mn-ea"/>
                </a:rPr>
                <a:t>증권번호</a:t>
              </a:r>
              <a:endParaRPr lang="en-US" altLang="ko-KR" sz="700" dirty="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4690637" y="4082171"/>
              <a:ext cx="1784088" cy="861774"/>
            </a:xfrm>
            <a:prstGeom prst="rect">
              <a:avLst/>
            </a:prstGeom>
            <a:noFill/>
          </p:spPr>
          <p:txBody>
            <a:bodyPr wrap="square" lIns="0" tIns="0" rIns="0" bIns="0" rtlCol="0">
              <a:spAutoFit/>
            </a:bodyPr>
            <a:lstStyle/>
            <a:p>
              <a:pPr>
                <a:lnSpc>
                  <a:spcPct val="200000"/>
                </a:lnSpc>
              </a:pPr>
              <a:r>
                <a:rPr lang="ko-KR" altLang="en-US" sz="700" dirty="0">
                  <a:latin typeface="+mn-ea"/>
                </a:rPr>
                <a:t>납부방법 표시</a:t>
              </a:r>
              <a:endParaRPr lang="en-US" altLang="ko-KR" sz="700" dirty="0">
                <a:latin typeface="+mn-ea"/>
              </a:endParaRPr>
            </a:p>
            <a:p>
              <a:pPr>
                <a:lnSpc>
                  <a:spcPct val="200000"/>
                </a:lnSpc>
              </a:pPr>
              <a:r>
                <a:rPr lang="ko-KR" altLang="en-US" sz="700" dirty="0">
                  <a:latin typeface="+mn-ea"/>
                </a:rPr>
                <a:t>면제사유 표시</a:t>
              </a:r>
              <a:endParaRPr lang="en-US" altLang="ko-KR" sz="700" dirty="0">
                <a:latin typeface="+mn-ea"/>
              </a:endParaRPr>
            </a:p>
            <a:p>
              <a:pPr algn="r">
                <a:lnSpc>
                  <a:spcPct val="200000"/>
                </a:lnSpc>
              </a:pPr>
              <a:r>
                <a:rPr lang="en-US" altLang="ko-KR" sz="700" dirty="0">
                  <a:latin typeface="+mn-ea"/>
                </a:rPr>
                <a:t>000,000,000,000</a:t>
              </a:r>
              <a:r>
                <a:rPr lang="ko-KR" altLang="en-US" sz="700" dirty="0">
                  <a:latin typeface="+mn-ea"/>
                </a:rPr>
                <a:t> 원</a:t>
              </a:r>
              <a:endParaRPr lang="en-US" altLang="ko-KR" sz="700" dirty="0">
                <a:latin typeface="+mn-ea"/>
              </a:endParaRPr>
            </a:p>
            <a:p>
              <a:pPr>
                <a:lnSpc>
                  <a:spcPct val="200000"/>
                </a:lnSpc>
              </a:pPr>
              <a:r>
                <a:rPr lang="en-US" altLang="ko-KR" sz="700" dirty="0">
                  <a:latin typeface="+mn-ea"/>
                </a:rPr>
                <a:t>0000 0000 0000</a:t>
              </a:r>
            </a:p>
          </p:txBody>
        </p:sp>
        <p:cxnSp>
          <p:nvCxnSpPr>
            <p:cNvPr id="219" name="직선 연결선 218">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3846725" y="49567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22" name="타원 221">
            <a:extLst>
              <a:ext uri="{FF2B5EF4-FFF2-40B4-BE49-F238E27FC236}">
                <a16:creationId xmlns:a16="http://schemas.microsoft.com/office/drawing/2014/main" id="{37A7FF4F-0EAA-1463-560A-D5EC24416103}"/>
              </a:ext>
            </a:extLst>
          </p:cNvPr>
          <p:cNvSpPr/>
          <p:nvPr/>
        </p:nvSpPr>
        <p:spPr>
          <a:xfrm>
            <a:off x="3711091" y="409582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23" name="모서리가 둥근 직사각형 222"/>
          <p:cNvSpPr/>
          <p:nvPr/>
        </p:nvSpPr>
        <p:spPr>
          <a:xfrm rot="5400000">
            <a:off x="5782577" y="544604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24" name="그룹 223"/>
          <p:cNvGrpSpPr/>
          <p:nvPr/>
        </p:nvGrpSpPr>
        <p:grpSpPr>
          <a:xfrm>
            <a:off x="3797156" y="1572247"/>
            <a:ext cx="2712027" cy="508898"/>
            <a:chOff x="697390" y="2606886"/>
            <a:chExt cx="2712027" cy="508898"/>
          </a:xfrm>
        </p:grpSpPr>
        <p:sp>
          <p:nvSpPr>
            <p:cNvPr id="225"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26" name="모서리가 둥근 직사각형 225"/>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27" name="모서리가 둥근 직사각형 226"/>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28" name="직선 연결선 227">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1" name="모서리가 둥근 직사각형 230"/>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232" name="모서리가 둥근 직사각형 231"/>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234" name="직선 연결선 233">
            <a:extLst>
              <a:ext uri="{FF2B5EF4-FFF2-40B4-BE49-F238E27FC236}">
                <a16:creationId xmlns:a16="http://schemas.microsoft.com/office/drawing/2014/main" id="{E9293055-D5CD-4B9E-7F64-64B2D2CA7A52}"/>
              </a:ext>
            </a:extLst>
          </p:cNvPr>
          <p:cNvCxnSpPr/>
          <p:nvPr/>
        </p:nvCxnSpPr>
        <p:spPr>
          <a:xfrm>
            <a:off x="3795734" y="534734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187303437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공동수급협정 </a:t>
            </a:r>
            <a:r>
              <a:rPr lang="ko-KR" altLang="en-US" dirty="0" err="1"/>
              <a:t>업체명</a:t>
            </a:r>
            <a:r>
              <a:rPr lang="en-US" altLang="ko-KR" dirty="0"/>
              <a:t>, </a:t>
            </a:r>
            <a:r>
              <a:rPr lang="ko-KR" altLang="en-US" dirty="0"/>
              <a:t>출자비율 표시</a:t>
            </a:r>
            <a:endParaRPr lang="en-US" altLang="ko-KR" dirty="0"/>
          </a:p>
          <a:p>
            <a:pPr marL="228600" indent="-228600">
              <a:buFont typeface="+mj-lt"/>
              <a:buAutoNum type="arabicPeriod"/>
            </a:pPr>
            <a:r>
              <a:rPr lang="ko-KR" altLang="en-US" dirty="0" err="1"/>
              <a:t>등록결과</a:t>
            </a:r>
            <a:r>
              <a:rPr lang="ko-KR" altLang="en-US" dirty="0"/>
              <a:t>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73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입찰등록심사 </a:t>
            </a:r>
            <a:r>
              <a:rPr lang="ko-KR" altLang="en-US" dirty="0" err="1">
                <a:latin typeface="+mn-ea"/>
              </a:rPr>
              <a:t>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입찰등록심사 결과를 조회하는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입찰등록심사 </a:t>
            </a:r>
            <a:r>
              <a:rPr lang="ko-KR" altLang="en-US" dirty="0" err="1">
                <a:latin typeface="+mn-ea"/>
              </a:rPr>
              <a:t>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lIns="72000" tIns="36000" rIns="72000" bIns="36000"/>
          <a:lstStyle/>
          <a:p>
            <a:r>
              <a:rPr lang="en-US" altLang="ko-KR" dirty="0">
                <a:latin typeface="+mn-ea"/>
              </a:rPr>
              <a:t>MUI-BD-03-M05</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65784" y="2120250"/>
            <a:ext cx="1384615" cy="181140"/>
          </a:xfrm>
          <a:prstGeom prst="rect">
            <a:avLst/>
          </a:prstGeom>
          <a:noFill/>
        </p:spPr>
        <p:txBody>
          <a:bodyPr wrap="square" lIns="0" tIns="0" rIns="0" bIns="0" rtlCol="0">
            <a:spAutoFit/>
          </a:bodyPr>
          <a:lstStyle/>
          <a:p>
            <a:pPr>
              <a:lnSpc>
                <a:spcPct val="200000"/>
              </a:lnSpc>
            </a:pPr>
            <a:r>
              <a:rPr lang="ko-KR" altLang="en-US" sz="700" dirty="0">
                <a:latin typeface="+mn-ea"/>
              </a:rPr>
              <a:t>공동수급협정</a:t>
            </a:r>
          </a:p>
        </p:txBody>
      </p:sp>
      <p:sp>
        <p:nvSpPr>
          <p:cNvPr id="118" name="모서리가 둥근 직사각형 117"/>
          <p:cNvSpPr/>
          <p:nvPr/>
        </p:nvSpPr>
        <p:spPr>
          <a:xfrm>
            <a:off x="719254" y="251863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8" name="TextBox 127">
            <a:extLst>
              <a:ext uri="{FF2B5EF4-FFF2-40B4-BE49-F238E27FC236}">
                <a16:creationId xmlns:a16="http://schemas.microsoft.com/office/drawing/2014/main" id="{FFC49AEA-2A8F-250C-A86A-A7751D9706C3}"/>
              </a:ext>
            </a:extLst>
          </p:cNvPr>
          <p:cNvSpPr txBox="1"/>
          <p:nvPr/>
        </p:nvSpPr>
        <p:spPr>
          <a:xfrm>
            <a:off x="1219922" y="2593157"/>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업체명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이행방심</a:t>
            </a:r>
            <a:r>
              <a:rPr lang="ko-KR" altLang="en-US" sz="700" dirty="0">
                <a:solidFill>
                  <a:schemeClr val="tx1">
                    <a:lumMod val="85000"/>
                    <a:lumOff val="15000"/>
                  </a:schemeClr>
                </a:solidFill>
                <a:latin typeface="맑은 고딕" panose="020B0503020000020004" pitchFamily="50" charset="-127"/>
              </a:rPr>
              <a:t> 내역</a:t>
            </a:r>
            <a:endParaRPr lang="en-US" altLang="ko-KR" sz="700" dirty="0">
              <a:solidFill>
                <a:schemeClr val="tx1">
                  <a:lumMod val="85000"/>
                  <a:lumOff val="15000"/>
                </a:schemeClr>
              </a:solidFill>
              <a:latin typeface="맑은 고딕" panose="020B0503020000020004" pitchFamily="50" charset="-127"/>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797450" y="2647018"/>
            <a:ext cx="247786" cy="107722"/>
          </a:xfrm>
          <a:prstGeom prst="rect">
            <a:avLst/>
          </a:prstGeom>
          <a:noFill/>
        </p:spPr>
        <p:txBody>
          <a:bodyPr wrap="square" lIns="0" tIns="0" rIns="0" bIns="0" rtlCol="0">
            <a:spAutoFit/>
          </a:bodyPr>
          <a:lstStyle/>
          <a:p>
            <a:pPr algn="ctr"/>
            <a:r>
              <a:rPr lang="ko-KR" altLang="en-US" sz="700" dirty="0">
                <a:solidFill>
                  <a:schemeClr val="tx1">
                    <a:lumMod val="85000"/>
                    <a:lumOff val="15000"/>
                  </a:schemeClr>
                </a:solidFill>
                <a:latin typeface="맑은 고딕" panose="020B0503020000020004" pitchFamily="50" charset="-127"/>
              </a:rPr>
              <a:t>대표</a:t>
            </a:r>
            <a:endParaRPr lang="en-US" altLang="ko-KR" sz="700" dirty="0">
              <a:solidFill>
                <a:schemeClr val="tx1">
                  <a:lumMod val="85000"/>
                  <a:lumOff val="15000"/>
                </a:schemeClr>
              </a:solidFill>
              <a:latin typeface="맑은 고딕" panose="020B0503020000020004" pitchFamily="50" charset="-127"/>
            </a:endParaRPr>
          </a:p>
        </p:txBody>
      </p:sp>
      <p:sp>
        <p:nvSpPr>
          <p:cNvPr id="132" name="모서리가 둥근 직사각형 131"/>
          <p:cNvSpPr/>
          <p:nvPr/>
        </p:nvSpPr>
        <p:spPr>
          <a:xfrm>
            <a:off x="719254" y="292532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4" name="TextBox 133">
            <a:extLst>
              <a:ext uri="{FF2B5EF4-FFF2-40B4-BE49-F238E27FC236}">
                <a16:creationId xmlns:a16="http://schemas.microsoft.com/office/drawing/2014/main" id="{FFC49AEA-2A8F-250C-A86A-A7751D9706C3}"/>
              </a:ext>
            </a:extLst>
          </p:cNvPr>
          <p:cNvSpPr txBox="1"/>
          <p:nvPr/>
        </p:nvSpPr>
        <p:spPr>
          <a:xfrm>
            <a:off x="1219922" y="299984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업체명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이행방심</a:t>
            </a:r>
            <a:r>
              <a:rPr lang="ko-KR" altLang="en-US" sz="700" dirty="0">
                <a:solidFill>
                  <a:schemeClr val="tx1">
                    <a:lumMod val="85000"/>
                    <a:lumOff val="15000"/>
                  </a:schemeClr>
                </a:solidFill>
                <a:latin typeface="맑은 고딕" panose="020B0503020000020004" pitchFamily="50" charset="-127"/>
              </a:rPr>
              <a:t> 내역</a:t>
            </a:r>
            <a:endParaRPr lang="en-US" altLang="ko-KR" sz="700" dirty="0">
              <a:solidFill>
                <a:schemeClr val="tx1">
                  <a:lumMod val="85000"/>
                  <a:lumOff val="15000"/>
                </a:schemeClr>
              </a:solidFill>
              <a:latin typeface="맑은 고딕" panose="020B0503020000020004" pitchFamily="50" charset="-127"/>
            </a:endParaRPr>
          </a:p>
        </p:txBody>
      </p:sp>
      <p:sp>
        <p:nvSpPr>
          <p:cNvPr id="138" name="TextBox 137">
            <a:extLst>
              <a:ext uri="{FF2B5EF4-FFF2-40B4-BE49-F238E27FC236}">
                <a16:creationId xmlns:a16="http://schemas.microsoft.com/office/drawing/2014/main" id="{FFC49AEA-2A8F-250C-A86A-A7751D9706C3}"/>
              </a:ext>
            </a:extLst>
          </p:cNvPr>
          <p:cNvSpPr txBox="1"/>
          <p:nvPr/>
        </p:nvSpPr>
        <p:spPr>
          <a:xfrm>
            <a:off x="797450" y="3053704"/>
            <a:ext cx="247786" cy="107722"/>
          </a:xfrm>
          <a:prstGeom prst="rect">
            <a:avLst/>
          </a:prstGeom>
          <a:noFill/>
        </p:spPr>
        <p:txBody>
          <a:bodyPr wrap="square" lIns="0" tIns="0" rIns="0" bIns="0" rtlCol="0">
            <a:spAutoFit/>
          </a:bodyPr>
          <a:lstStyle/>
          <a:p>
            <a:pPr algn="ctr"/>
            <a:r>
              <a:rPr lang="ko-KR" altLang="en-US" sz="700" dirty="0">
                <a:solidFill>
                  <a:schemeClr val="tx1">
                    <a:lumMod val="85000"/>
                    <a:lumOff val="15000"/>
                  </a:schemeClr>
                </a:solidFill>
                <a:latin typeface="맑은 고딕" panose="020B0503020000020004" pitchFamily="50" charset="-127"/>
              </a:rPr>
              <a:t>구성</a:t>
            </a:r>
            <a:endParaRPr lang="en-US" altLang="ko-KR" sz="700" dirty="0">
              <a:solidFill>
                <a:schemeClr val="tx1">
                  <a:lumMod val="85000"/>
                  <a:lumOff val="15000"/>
                </a:schemeClr>
              </a:solidFill>
              <a:latin typeface="맑은 고딕" panose="020B0503020000020004" pitchFamily="50" charset="-127"/>
            </a:endParaRPr>
          </a:p>
        </p:txBody>
      </p:sp>
      <p:sp>
        <p:nvSpPr>
          <p:cNvPr id="148" name="TextBox 147">
            <a:extLst>
              <a:ext uri="{FF2B5EF4-FFF2-40B4-BE49-F238E27FC236}">
                <a16:creationId xmlns:a16="http://schemas.microsoft.com/office/drawing/2014/main" id="{FFC49AEA-2A8F-250C-A86A-A7751D9706C3}"/>
              </a:ext>
            </a:extLst>
          </p:cNvPr>
          <p:cNvSpPr txBox="1"/>
          <p:nvPr/>
        </p:nvSpPr>
        <p:spPr>
          <a:xfrm>
            <a:off x="1219922" y="2383518"/>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업체명</a:t>
            </a:r>
            <a:endParaRPr lang="en-US" altLang="ko-KR" sz="600" dirty="0">
              <a:solidFill>
                <a:schemeClr val="tx1">
                  <a:lumMod val="85000"/>
                  <a:lumOff val="15000"/>
                </a:schemeClr>
              </a:solidFill>
              <a:latin typeface="맑은 고딕" panose="020B0503020000020004" pitchFamily="50" charset="-127"/>
            </a:endParaRPr>
          </a:p>
        </p:txBody>
      </p:sp>
      <p:sp>
        <p:nvSpPr>
          <p:cNvPr id="149" name="TextBox 148">
            <a:extLst>
              <a:ext uri="{FF2B5EF4-FFF2-40B4-BE49-F238E27FC236}">
                <a16:creationId xmlns:a16="http://schemas.microsoft.com/office/drawing/2014/main" id="{FFC49AEA-2A8F-250C-A86A-A7751D9706C3}"/>
              </a:ext>
            </a:extLst>
          </p:cNvPr>
          <p:cNvSpPr txBox="1"/>
          <p:nvPr/>
        </p:nvSpPr>
        <p:spPr>
          <a:xfrm>
            <a:off x="2961180" y="2383518"/>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출자비율</a:t>
            </a:r>
            <a:endParaRPr lang="en-US" altLang="ko-KR" sz="600" dirty="0">
              <a:solidFill>
                <a:schemeClr val="tx1">
                  <a:lumMod val="85000"/>
                  <a:lumOff val="15000"/>
                </a:schemeClr>
              </a:solidFill>
              <a:latin typeface="맑은 고딕" panose="020B0503020000020004" pitchFamily="50" charset="-127"/>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726018" y="2383518"/>
            <a:ext cx="390650"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구분</a:t>
            </a:r>
            <a:endParaRPr lang="en-US" altLang="ko-KR" sz="600" dirty="0">
              <a:solidFill>
                <a:schemeClr val="tx1">
                  <a:lumMod val="85000"/>
                  <a:lumOff val="15000"/>
                </a:schemeClr>
              </a:solidFill>
              <a:latin typeface="맑은 고딕" panose="020B0503020000020004" pitchFamily="50" charset="-127"/>
            </a:endParaRPr>
          </a:p>
        </p:txBody>
      </p:sp>
      <p:cxnSp>
        <p:nvCxnSpPr>
          <p:cNvPr id="195" name="직선 연결선 194">
            <a:extLst>
              <a:ext uri="{FF2B5EF4-FFF2-40B4-BE49-F238E27FC236}">
                <a16:creationId xmlns:a16="http://schemas.microsoft.com/office/drawing/2014/main" id="{E9293055-D5CD-4B9E-7F64-64B2D2CA7A52}"/>
              </a:ext>
            </a:extLst>
          </p:cNvPr>
          <p:cNvCxnSpPr/>
          <p:nvPr/>
        </p:nvCxnSpPr>
        <p:spPr>
          <a:xfrm>
            <a:off x="683438" y="338828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7" name="타원 196">
            <a:extLst>
              <a:ext uri="{FF2B5EF4-FFF2-40B4-BE49-F238E27FC236}">
                <a16:creationId xmlns:a16="http://schemas.microsoft.com/office/drawing/2014/main" id="{37A7FF4F-0EAA-1463-560A-D5EC24416103}"/>
              </a:ext>
            </a:extLst>
          </p:cNvPr>
          <p:cNvSpPr/>
          <p:nvPr/>
        </p:nvSpPr>
        <p:spPr>
          <a:xfrm>
            <a:off x="598795" y="216572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199" name="그룹 198"/>
          <p:cNvGrpSpPr/>
          <p:nvPr/>
        </p:nvGrpSpPr>
        <p:grpSpPr>
          <a:xfrm>
            <a:off x="732336" y="3460539"/>
            <a:ext cx="2630093" cy="978170"/>
            <a:chOff x="3844632" y="3774686"/>
            <a:chExt cx="2630093" cy="978170"/>
          </a:xfrm>
        </p:grpSpPr>
        <p:sp>
          <p:nvSpPr>
            <p:cNvPr id="200" name="TextBox 199">
              <a:extLst>
                <a:ext uri="{FF2B5EF4-FFF2-40B4-BE49-F238E27FC236}">
                  <a16:creationId xmlns:a16="http://schemas.microsoft.com/office/drawing/2014/main" id="{FFC49AEA-2A8F-250C-A86A-A7751D9706C3}"/>
                </a:ext>
              </a:extLst>
            </p:cNvPr>
            <p:cNvSpPr txBox="1"/>
            <p:nvPr/>
          </p:nvSpPr>
          <p:spPr>
            <a:xfrm>
              <a:off x="3905603" y="3774686"/>
              <a:ext cx="1586887" cy="215444"/>
            </a:xfrm>
            <a:prstGeom prst="rect">
              <a:avLst/>
            </a:prstGeom>
            <a:noFill/>
          </p:spPr>
          <p:txBody>
            <a:bodyPr wrap="square" lIns="0" tIns="0" rIns="0" bIns="0" rtlCol="0">
              <a:spAutoFit/>
            </a:bodyPr>
            <a:lstStyle/>
            <a:p>
              <a:pPr>
                <a:lnSpc>
                  <a:spcPct val="200000"/>
                </a:lnSpc>
              </a:pPr>
              <a:r>
                <a:rPr lang="ko-KR" altLang="en-US" sz="700" dirty="0" err="1">
                  <a:latin typeface="+mn-ea"/>
                </a:rPr>
                <a:t>등록결과</a:t>
              </a:r>
              <a:endParaRPr lang="ko-KR" altLang="en-US" sz="700" dirty="0">
                <a:latin typeface="+mn-ea"/>
              </a:endParaRPr>
            </a:p>
          </p:txBody>
        </p:sp>
        <p:sp>
          <p:nvSpPr>
            <p:cNvPr id="201" name="직사각형 200"/>
            <p:cNvSpPr/>
            <p:nvPr/>
          </p:nvSpPr>
          <p:spPr>
            <a:xfrm>
              <a:off x="3846725" y="4082172"/>
              <a:ext cx="792000" cy="670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02" name="직선 연결선 201">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3" name="TextBox 202">
              <a:extLst>
                <a:ext uri="{FF2B5EF4-FFF2-40B4-BE49-F238E27FC236}">
                  <a16:creationId xmlns:a16="http://schemas.microsoft.com/office/drawing/2014/main" id="{FFC49AEA-2A8F-250C-A86A-A7751D9706C3}"/>
                </a:ext>
              </a:extLst>
            </p:cNvPr>
            <p:cNvSpPr txBox="1"/>
            <p:nvPr/>
          </p:nvSpPr>
          <p:spPr>
            <a:xfrm>
              <a:off x="3933789" y="4082171"/>
              <a:ext cx="756848" cy="646331"/>
            </a:xfrm>
            <a:prstGeom prst="rect">
              <a:avLst/>
            </a:prstGeom>
            <a:noFill/>
          </p:spPr>
          <p:txBody>
            <a:bodyPr wrap="square" lIns="0" tIns="0" rIns="0" bIns="0" rtlCol="0">
              <a:spAutoFit/>
            </a:bodyPr>
            <a:lstStyle/>
            <a:p>
              <a:pPr>
                <a:lnSpc>
                  <a:spcPct val="200000"/>
                </a:lnSpc>
              </a:pPr>
              <a:r>
                <a:rPr lang="ko-KR" altLang="en-US" sz="700" dirty="0">
                  <a:latin typeface="+mn-ea"/>
                </a:rPr>
                <a:t>등록확정여부</a:t>
              </a:r>
              <a:endParaRPr lang="en-US" altLang="ko-KR" sz="700" dirty="0">
                <a:latin typeface="+mn-ea"/>
              </a:endParaRPr>
            </a:p>
            <a:p>
              <a:pPr>
                <a:lnSpc>
                  <a:spcPct val="200000"/>
                </a:lnSpc>
              </a:pPr>
              <a:r>
                <a:rPr lang="ko-KR" altLang="en-US" sz="700" dirty="0">
                  <a:latin typeface="+mn-ea"/>
                </a:rPr>
                <a:t>등록불가사유</a:t>
              </a:r>
              <a:endParaRPr lang="en-US" altLang="ko-KR" sz="700" dirty="0">
                <a:latin typeface="+mn-ea"/>
              </a:endParaRPr>
            </a:p>
            <a:p>
              <a:pPr>
                <a:lnSpc>
                  <a:spcPct val="200000"/>
                </a:lnSpc>
              </a:pPr>
              <a:r>
                <a:rPr lang="ko-KR" altLang="en-US" sz="700" dirty="0">
                  <a:latin typeface="+mn-ea"/>
                </a:rPr>
                <a:t>등록확정일자</a:t>
              </a:r>
              <a:endParaRPr lang="en-US" altLang="ko-KR" sz="700" dirty="0">
                <a:latin typeface="+mn-ea"/>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4690637" y="4082171"/>
              <a:ext cx="1784088" cy="612027"/>
            </a:xfrm>
            <a:prstGeom prst="rect">
              <a:avLst/>
            </a:prstGeom>
            <a:noFill/>
          </p:spPr>
          <p:txBody>
            <a:bodyPr wrap="square" lIns="0" tIns="0" rIns="0" bIns="0" rtlCol="0">
              <a:spAutoFit/>
            </a:bodyPr>
            <a:lstStyle/>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2025-12-24 10:30</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08" name="타원 207">
            <a:extLst>
              <a:ext uri="{FF2B5EF4-FFF2-40B4-BE49-F238E27FC236}">
                <a16:creationId xmlns:a16="http://schemas.microsoft.com/office/drawing/2014/main" id="{37A7FF4F-0EAA-1463-560A-D5EC24416103}"/>
              </a:ext>
            </a:extLst>
          </p:cNvPr>
          <p:cNvSpPr/>
          <p:nvPr/>
        </p:nvSpPr>
        <p:spPr>
          <a:xfrm>
            <a:off x="598795" y="350385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09" name="모서리가 둥근 직사각형 208"/>
          <p:cNvSpPr/>
          <p:nvPr/>
        </p:nvSpPr>
        <p:spPr>
          <a:xfrm rot="5400000">
            <a:off x="2670281" y="544604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11" name="그룹 210"/>
          <p:cNvGrpSpPr/>
          <p:nvPr/>
        </p:nvGrpSpPr>
        <p:grpSpPr>
          <a:xfrm>
            <a:off x="684860" y="1572247"/>
            <a:ext cx="2712027" cy="508898"/>
            <a:chOff x="697390" y="2606886"/>
            <a:chExt cx="2712027" cy="508898"/>
          </a:xfrm>
        </p:grpSpPr>
        <p:sp>
          <p:nvSpPr>
            <p:cNvPr id="212"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13" name="모서리가 둥근 직사각형 212"/>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14" name="모서리가 둥근 직사각형 213"/>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15" name="직선 연결선 214">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8" name="모서리가 둥근 직사각형 217"/>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219" name="모서리가 둥근 직사각형 218"/>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sp>
        <p:nvSpPr>
          <p:cNvPr id="220" name="TextBox 219">
            <a:extLst>
              <a:ext uri="{FF2B5EF4-FFF2-40B4-BE49-F238E27FC236}">
                <a16:creationId xmlns:a16="http://schemas.microsoft.com/office/drawing/2014/main" id="{FFC49AEA-2A8F-250C-A86A-A7751D9706C3}"/>
              </a:ext>
            </a:extLst>
          </p:cNvPr>
          <p:cNvSpPr txBox="1"/>
          <p:nvPr/>
        </p:nvSpPr>
        <p:spPr>
          <a:xfrm>
            <a:off x="2984263" y="264701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60 %</a:t>
            </a:r>
          </a:p>
        </p:txBody>
      </p:sp>
      <p:sp>
        <p:nvSpPr>
          <p:cNvPr id="221" name="TextBox 220">
            <a:extLst>
              <a:ext uri="{FF2B5EF4-FFF2-40B4-BE49-F238E27FC236}">
                <a16:creationId xmlns:a16="http://schemas.microsoft.com/office/drawing/2014/main" id="{FFC49AEA-2A8F-250C-A86A-A7751D9706C3}"/>
              </a:ext>
            </a:extLst>
          </p:cNvPr>
          <p:cNvSpPr txBox="1"/>
          <p:nvPr/>
        </p:nvSpPr>
        <p:spPr>
          <a:xfrm>
            <a:off x="2984263" y="3049707"/>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40 %</a:t>
            </a:r>
          </a:p>
        </p:txBody>
      </p:sp>
    </p:spTree>
    <p:extLst>
      <p:ext uri="{BB962C8B-B14F-4D97-AF65-F5344CB8AC3E}">
        <p14:creationId xmlns:p14="http://schemas.microsoft.com/office/powerpoint/2010/main" val="388062317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74</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402926"/>
            <a:ext cx="250445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2327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사업유형명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적격심사실시여부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1396896"/>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1934767"/>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615417"/>
          <a:ext cx="8995589" cy="135744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bzentyAddr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업체주소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9BFB27AC-54AB-B3AC-0730-391BA5D8290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83949D16-7F33-F36B-A7EF-B897AB026308}"/>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Tree>
    <p:extLst>
      <p:ext uri="{BB962C8B-B14F-4D97-AF65-F5344CB8AC3E}">
        <p14:creationId xmlns:p14="http://schemas.microsoft.com/office/powerpoint/2010/main" val="34489676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75</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422705"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입찰보증금 데이터 영역 </a:t>
            </a:r>
            <a:r>
              <a:rPr lang="en-US" altLang="ko-KR" sz="900" b="1" dirty="0">
                <a:solidFill>
                  <a:prstClr val="black"/>
                </a:solidFill>
              </a:rPr>
              <a:t>(</a:t>
            </a:r>
            <a:r>
              <a:rPr lang="en-US" altLang="ko-KR" sz="900" b="1" dirty="0" err="1">
                <a:solidFill>
                  <a:prstClr val="black"/>
                </a:solidFill>
              </a:rPr>
              <a:t>dmt_bidGrnte</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2031327"/>
            <a:ext cx="2698422"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공동수급업체 데이터 영역 </a:t>
            </a:r>
            <a:r>
              <a:rPr lang="en-US" altLang="ko-KR" sz="900" b="1" dirty="0">
                <a:solidFill>
                  <a:prstClr val="black"/>
                </a:solidFill>
              </a:rPr>
              <a:t>(</a:t>
            </a:r>
            <a:r>
              <a:rPr lang="en-US" altLang="ko-KR" sz="900" b="1" dirty="0" err="1">
                <a:solidFill>
                  <a:prstClr val="black"/>
                </a:solidFill>
              </a:rPr>
              <a:t>dlt_jsdBzentyList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보증금납부방법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depsPayMthdCd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보증금납부방법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:GMCB</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보증금면제사유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depsExmptnRncd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보증금면제사유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:ERGA</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bidGrnteAmt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입찰보증금액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a:latin typeface="+mn-ea"/>
                          <a:ea typeface="+mn-ea"/>
                        </a:rPr>
                        <a:t>증권번호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scrtNo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증권번호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2243818"/>
          <a:ext cx="8995589" cy="96960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jsdBzentyNm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공동수급업체설정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대표</a:t>
                      </a:r>
                      <a:r>
                        <a:rPr lang="en-US" altLang="ko-KR" sz="800" dirty="0">
                          <a:latin typeface="+mn-ea"/>
                          <a:ea typeface="+mn-ea"/>
                        </a:rPr>
                        <a:t>, </a:t>
                      </a:r>
                      <a:r>
                        <a:rPr lang="ko-KR" altLang="en-US" sz="800" dirty="0">
                          <a:latin typeface="+mn-ea"/>
                          <a:ea typeface="+mn-ea"/>
                        </a:rPr>
                        <a:t>구성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공동수급업체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r h="0">
                <a:tc>
                  <a:txBody>
                    <a:bodyPr/>
                    <a:lstStyle/>
                    <a:p>
                      <a:pPr latinLnBrk="1"/>
                      <a:r>
                        <a:rPr lang="ko-KR" altLang="en-US" sz="800" dirty="0">
                          <a:latin typeface="+mn-ea"/>
                          <a:ea typeface="+mn-ea"/>
                        </a:rPr>
                        <a:t>이행방식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jsdShNm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공동수급형태명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:UB13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출자비율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invstRt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출자비율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bl>
          </a:graphicData>
        </a:graphic>
      </p:graphicFrame>
      <p:sp>
        <p:nvSpPr>
          <p:cNvPr id="4" name="TextBox 3">
            <a:extLst>
              <a:ext uri="{FF2B5EF4-FFF2-40B4-BE49-F238E27FC236}">
                <a16:creationId xmlns:a16="http://schemas.microsoft.com/office/drawing/2014/main" id="{3640B13D-584B-8416-67F8-3DBDF632D167}"/>
              </a:ext>
            </a:extLst>
          </p:cNvPr>
          <p:cNvSpPr txBox="1"/>
          <p:nvPr/>
        </p:nvSpPr>
        <p:spPr>
          <a:xfrm>
            <a:off x="453832" y="3286393"/>
            <a:ext cx="2669568"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등록결과 데이터 영역 </a:t>
            </a:r>
            <a:r>
              <a:rPr lang="en-US" altLang="ko-KR" sz="900" b="1" dirty="0">
                <a:solidFill>
                  <a:prstClr val="black"/>
                </a:solidFill>
              </a:rPr>
              <a:t>(</a:t>
            </a:r>
            <a:r>
              <a:rPr lang="en-US" altLang="ko-KR" sz="900" b="1" dirty="0" err="1">
                <a:solidFill>
                  <a:prstClr val="black"/>
                </a:solidFill>
              </a:rPr>
              <a:t>dmt_bidRegSrngRslt</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9A5F43F4-CB5F-C531-B843-B6D2FC2FA0D8}"/>
              </a:ext>
            </a:extLst>
          </p:cNvPr>
          <p:cNvGraphicFramePr>
            <a:graphicFrameLocks noGrp="1"/>
          </p:cNvGraphicFramePr>
          <p:nvPr/>
        </p:nvGraphicFramePr>
        <p:xfrm>
          <a:off x="452293" y="3498884"/>
          <a:ext cx="8995589" cy="77568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등록확정여부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bidRegCfmtnYn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입찰등록확정여부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4747051"/>
                  </a:ext>
                </a:extLst>
              </a:tr>
              <a:tr h="0">
                <a:tc>
                  <a:txBody>
                    <a:bodyPr/>
                    <a:lstStyle/>
                    <a:p>
                      <a:pPr latinLnBrk="1"/>
                      <a:r>
                        <a:rPr lang="ko-KR" altLang="en-US" sz="800" dirty="0">
                          <a:latin typeface="+mn-ea"/>
                          <a:ea typeface="+mn-ea"/>
                        </a:rPr>
                        <a:t>등록불가사유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bidRegImpsRsn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등록심사 결과가 등록불가인 경우 입찰등록불가사유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등록확정일시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bidRegCfmtnDt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등록심사 결과가 등록확정인 경우 </a:t>
                      </a:r>
                      <a:r>
                        <a:rPr lang="ko-KR" altLang="en-US" sz="800" dirty="0" err="1">
                          <a:latin typeface="+mn-ea"/>
                          <a:ea typeface="+mn-ea"/>
                        </a:rPr>
                        <a:t>입찰등록확정일시</a:t>
                      </a:r>
                      <a:r>
                        <a:rPr lang="ko-KR" altLang="en-US" sz="800" dirty="0">
                          <a:latin typeface="+mn-ea"/>
                          <a:ea typeface="+mn-ea"/>
                        </a:rPr>
                        <a:t>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bl>
          </a:graphicData>
        </a:graphic>
      </p:graphicFrame>
      <p:sp>
        <p:nvSpPr>
          <p:cNvPr id="9" name="Text Box 73">
            <a:extLst>
              <a:ext uri="{FF2B5EF4-FFF2-40B4-BE49-F238E27FC236}">
                <a16:creationId xmlns:a16="http://schemas.microsoft.com/office/drawing/2014/main" id="{A80B7376-B3E4-03C3-D724-E776D8A21FC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1" name="TextBox 10">
            <a:extLst>
              <a:ext uri="{FF2B5EF4-FFF2-40B4-BE49-F238E27FC236}">
                <a16:creationId xmlns:a16="http://schemas.microsoft.com/office/drawing/2014/main" id="{2F370640-7818-D7DD-8684-CAF5EEC34E97}"/>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Tree>
    <p:extLst>
      <p:ext uri="{BB962C8B-B14F-4D97-AF65-F5344CB8AC3E}">
        <p14:creationId xmlns:p14="http://schemas.microsoft.com/office/powerpoint/2010/main" val="37681483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76</a:t>
            </a:fld>
            <a:endParaRPr lang="ko-KR" altLang="en-US" dirty="0"/>
          </a:p>
        </p:txBody>
      </p:sp>
      <p:sp>
        <p:nvSpPr>
          <p:cNvPr id="2" name="TextBox 1">
            <a:extLst>
              <a:ext uri="{FF2B5EF4-FFF2-40B4-BE49-F238E27FC236}">
                <a16:creationId xmlns:a16="http://schemas.microsoft.com/office/drawing/2014/main" id="{769272C9-4DC2-7CDF-03D2-31A9053C5F88}"/>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6" name="표 5">
            <a:extLst>
              <a:ext uri="{FF2B5EF4-FFF2-40B4-BE49-F238E27FC236}">
                <a16:creationId xmlns:a16="http://schemas.microsoft.com/office/drawing/2014/main" id="{6CC12831-F7E6-2592-CB01-850C9650B7E6}"/>
              </a:ext>
            </a:extLst>
          </p:cNvPr>
          <p:cNvGraphicFramePr>
            <a:graphicFrameLocks noGrp="1"/>
          </p:cNvGraphicFramePr>
          <p:nvPr/>
        </p:nvGraphicFramePr>
        <p:xfrm>
          <a:off x="453000" y="1039042"/>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a:t>
                      </a:r>
                      <a:r>
                        <a:rPr lang="en-US" altLang="ko-KR" sz="800" dirty="0">
                          <a:latin typeface="+mn-ea"/>
                          <a:ea typeface="+mn-ea"/>
                        </a:rPr>
                        <a:t>, </a:t>
                      </a:r>
                      <a:r>
                        <a:rPr lang="ko-KR" altLang="en-US" sz="800" dirty="0">
                          <a:latin typeface="+mn-ea"/>
                          <a:ea typeface="+mn-ea"/>
                        </a:rPr>
                        <a:t>입찰참가신청서</a:t>
                      </a:r>
                      <a:r>
                        <a:rPr lang="en-US" altLang="ko-KR" sz="800" dirty="0">
                          <a:latin typeface="+mn-ea"/>
                          <a:ea typeface="+mn-ea"/>
                        </a:rPr>
                        <a:t>, </a:t>
                      </a:r>
                      <a:r>
                        <a:rPr lang="ko-KR" altLang="en-US" sz="800" dirty="0">
                          <a:latin typeface="+mn-ea"/>
                          <a:ea typeface="+mn-ea"/>
                        </a:rPr>
                        <a:t>입찰등록심사결과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입찰등록심사결과조회</a:t>
                      </a:r>
                      <a:r>
                        <a:rPr lang="ko-KR" altLang="en-US" sz="800" dirty="0">
                          <a:latin typeface="+mn-ea"/>
                          <a:ea typeface="+mn-ea"/>
                        </a:rPr>
                        <a:t>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0" name="Text Box 73">
            <a:extLst>
              <a:ext uri="{FF2B5EF4-FFF2-40B4-BE49-F238E27FC236}">
                <a16:creationId xmlns:a16="http://schemas.microsoft.com/office/drawing/2014/main" id="{885BC312-108F-5D55-F06B-B05A95D67BCE}"/>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31956028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업무도움</a:t>
            </a:r>
            <a:r>
              <a:rPr lang="ko-KR" altLang="en-US" dirty="0"/>
              <a:t> 내용이 있는 경우 표시</a:t>
            </a:r>
            <a:endParaRPr lang="en-US" altLang="ko-KR" dirty="0"/>
          </a:p>
          <a:p>
            <a:pPr marL="228600" indent="-228600">
              <a:buFont typeface="+mj-lt"/>
              <a:buAutoNum type="arabicPeriod"/>
            </a:pPr>
            <a:r>
              <a:rPr lang="ko-KR" altLang="en-US" dirty="0"/>
              <a:t>공고 일반 내용 표시</a:t>
            </a:r>
            <a:endParaRPr lang="en-US" altLang="ko-KR" dirty="0"/>
          </a:p>
          <a:p>
            <a:pPr marL="228600" indent="-228600">
              <a:buFont typeface="+mj-lt"/>
              <a:buAutoNum type="arabicPeriod"/>
            </a:pPr>
            <a:r>
              <a:rPr lang="ko-KR" altLang="en-US" dirty="0"/>
              <a:t>업체 내역 표시</a:t>
            </a:r>
            <a:endParaRPr lang="en-US" altLang="ko-KR" dirty="0"/>
          </a:p>
          <a:p>
            <a:pPr marL="228600" indent="-228600">
              <a:buFont typeface="+mj-lt"/>
              <a:buAutoNum type="arabicPeriod"/>
            </a:pPr>
            <a:r>
              <a:rPr lang="ko-KR" altLang="en-US" dirty="0"/>
              <a:t>첨부파일 내역 표시</a:t>
            </a:r>
            <a:endParaRPr lang="en-US" altLang="ko-KR" dirty="0"/>
          </a:p>
          <a:p>
            <a:pPr marL="228600" indent="-228600">
              <a:buFont typeface="+mj-lt"/>
              <a:buAutoNum type="arabicPeriod"/>
            </a:pPr>
            <a:r>
              <a:rPr lang="ko-KR" altLang="en-US" dirty="0"/>
              <a:t>사전심사결과 표시</a:t>
            </a:r>
            <a:r>
              <a:rPr lang="en-US" altLang="ko-KR" dirty="0"/>
              <a:t/>
            </a:r>
            <a:br>
              <a:rPr lang="en-US" altLang="ko-KR" dirty="0"/>
            </a:br>
            <a:r>
              <a:rPr lang="en-US" altLang="ko-KR" dirty="0"/>
              <a:t>- </a:t>
            </a:r>
            <a:r>
              <a:rPr lang="ko-KR" altLang="en-US" dirty="0"/>
              <a:t>사전심사 결과가 나오기 전에는 내용 숨김</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77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사전심사 </a:t>
            </a:r>
            <a:r>
              <a:rPr lang="ko-KR" altLang="en-US" dirty="0" err="1">
                <a:latin typeface="+mn-ea"/>
              </a:rPr>
              <a:t>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사전심사 결과를 조회하는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사전심사</a:t>
            </a:r>
            <a:r>
              <a:rPr lang="en-US" altLang="ko-KR" dirty="0">
                <a:latin typeface="+mn-ea"/>
              </a:rPr>
              <a:t> </a:t>
            </a:r>
            <a:r>
              <a:rPr lang="ko-KR" altLang="en-US" dirty="0" err="1">
                <a:latin typeface="+mn-ea"/>
              </a:rPr>
              <a:t>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lIns="72000" tIns="36000" rIns="72000" bIns="36000"/>
          <a:lstStyle/>
          <a:p>
            <a:r>
              <a:rPr lang="en-US" altLang="ko-KR" dirty="0">
                <a:latin typeface="+mn-ea"/>
              </a:rPr>
              <a:t>MUI-BD-02-M02</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184514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7935" y="1936620"/>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280613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2498651"/>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252999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2611982"/>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3" name="TextBox 152">
            <a:extLst>
              <a:ext uri="{FF2B5EF4-FFF2-40B4-BE49-F238E27FC236}">
                <a16:creationId xmlns:a16="http://schemas.microsoft.com/office/drawing/2014/main" id="{FFC49AEA-2A8F-250C-A86A-A7751D9706C3}"/>
              </a:ext>
            </a:extLst>
          </p:cNvPr>
          <p:cNvSpPr txBox="1"/>
          <p:nvPr/>
        </p:nvSpPr>
        <p:spPr>
          <a:xfrm>
            <a:off x="781109" y="2849748"/>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157233"/>
            <a:ext cx="792000" cy="235867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157233"/>
            <a:ext cx="792000" cy="2369880"/>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a:latin typeface="+mn-ea"/>
              </a:rPr>
              <a:t>총수량</a:t>
            </a:r>
            <a:endParaRPr lang="en-US" altLang="ko-KR" sz="700" dirty="0">
              <a:latin typeface="+mn-ea"/>
            </a:endParaRPr>
          </a:p>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적격심사</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157233"/>
            <a:ext cx="1784088" cy="2369880"/>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ko-KR" altLang="en-US" sz="700" dirty="0">
                <a:latin typeface="+mn-ea"/>
              </a:rPr>
              <a:t>일반확정계약</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2025-12-24 10:30</a:t>
            </a:r>
          </a:p>
        </p:txBody>
      </p:sp>
      <p:grpSp>
        <p:nvGrpSpPr>
          <p:cNvPr id="166" name="그룹 165"/>
          <p:cNvGrpSpPr/>
          <p:nvPr/>
        </p:nvGrpSpPr>
        <p:grpSpPr>
          <a:xfrm>
            <a:off x="720139" y="3157233"/>
            <a:ext cx="2630093" cy="2358676"/>
            <a:chOff x="701175" y="1835481"/>
            <a:chExt cx="2630093" cy="2358676"/>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7590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9737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41941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16668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89" name="TextBox 88">
            <a:extLst>
              <a:ext uri="{FF2B5EF4-FFF2-40B4-BE49-F238E27FC236}">
                <a16:creationId xmlns:a16="http://schemas.microsoft.com/office/drawing/2014/main" id="{FFC49AEA-2A8F-250C-A86A-A7751D9706C3}"/>
              </a:ext>
            </a:extLst>
          </p:cNvPr>
          <p:cNvSpPr txBox="1"/>
          <p:nvPr/>
        </p:nvSpPr>
        <p:spPr>
          <a:xfrm>
            <a:off x="3878080" y="3981195"/>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3" name="모서리가 둥근 직사각형 102"/>
          <p:cNvSpPr/>
          <p:nvPr/>
        </p:nvSpPr>
        <p:spPr>
          <a:xfrm>
            <a:off x="3831550" y="437958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4332218" y="4454102"/>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3909746" y="450796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06" name="타원 105"/>
          <p:cNvSpPr/>
          <p:nvPr/>
        </p:nvSpPr>
        <p:spPr>
          <a:xfrm>
            <a:off x="6163960" y="448982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모서리가 둥근 직사각형 106"/>
          <p:cNvSpPr/>
          <p:nvPr/>
        </p:nvSpPr>
        <p:spPr>
          <a:xfrm>
            <a:off x="3831550" y="478626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8" name="TextBox 107">
            <a:extLst>
              <a:ext uri="{FF2B5EF4-FFF2-40B4-BE49-F238E27FC236}">
                <a16:creationId xmlns:a16="http://schemas.microsoft.com/office/drawing/2014/main" id="{FFC49AEA-2A8F-250C-A86A-A7751D9706C3}"/>
              </a:ext>
            </a:extLst>
          </p:cNvPr>
          <p:cNvSpPr txBox="1"/>
          <p:nvPr/>
        </p:nvSpPr>
        <p:spPr>
          <a:xfrm>
            <a:off x="4332218" y="4860788"/>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909746" y="491464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10" name="타원 109"/>
          <p:cNvSpPr/>
          <p:nvPr/>
        </p:nvSpPr>
        <p:spPr>
          <a:xfrm>
            <a:off x="6163960" y="489651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TextBox 113">
            <a:extLst>
              <a:ext uri="{FF2B5EF4-FFF2-40B4-BE49-F238E27FC236}">
                <a16:creationId xmlns:a16="http://schemas.microsoft.com/office/drawing/2014/main" id="{FFC49AEA-2A8F-250C-A86A-A7751D9706C3}"/>
              </a:ext>
            </a:extLst>
          </p:cNvPr>
          <p:cNvSpPr txBox="1"/>
          <p:nvPr/>
        </p:nvSpPr>
        <p:spPr>
          <a:xfrm>
            <a:off x="4332218" y="4244463"/>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6073476" y="4244463"/>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3838314" y="4244463"/>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grpSp>
        <p:nvGrpSpPr>
          <p:cNvPr id="3" name="그룹 2"/>
          <p:cNvGrpSpPr/>
          <p:nvPr/>
        </p:nvGrpSpPr>
        <p:grpSpPr>
          <a:xfrm>
            <a:off x="3844632" y="2086048"/>
            <a:ext cx="2630093" cy="1815590"/>
            <a:chOff x="3844632" y="3774686"/>
            <a:chExt cx="2630093" cy="1815590"/>
          </a:xfrm>
        </p:grpSpPr>
        <p:sp>
          <p:nvSpPr>
            <p:cNvPr id="161" name="TextBox 160">
              <a:extLst>
                <a:ext uri="{FF2B5EF4-FFF2-40B4-BE49-F238E27FC236}">
                  <a16:creationId xmlns:a16="http://schemas.microsoft.com/office/drawing/2014/main" id="{FFC49AEA-2A8F-250C-A86A-A7751D9706C3}"/>
                </a:ext>
              </a:extLst>
            </p:cNvPr>
            <p:cNvSpPr txBox="1"/>
            <p:nvPr/>
          </p:nvSpPr>
          <p:spPr>
            <a:xfrm>
              <a:off x="3905603" y="377468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162" name="직사각형 161"/>
            <p:cNvSpPr/>
            <p:nvPr/>
          </p:nvSpPr>
          <p:spPr>
            <a:xfrm>
              <a:off x="3846725" y="4082172"/>
              <a:ext cx="792000" cy="1494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3933789" y="4082171"/>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주민등록번호</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76" name="TextBox 175">
              <a:extLst>
                <a:ext uri="{FF2B5EF4-FFF2-40B4-BE49-F238E27FC236}">
                  <a16:creationId xmlns:a16="http://schemas.microsoft.com/office/drawing/2014/main" id="{FFC49AEA-2A8F-250C-A86A-A7751D9706C3}"/>
                </a:ext>
              </a:extLst>
            </p:cNvPr>
            <p:cNvSpPr txBox="1"/>
            <p:nvPr/>
          </p:nvSpPr>
          <p:spPr>
            <a:xfrm>
              <a:off x="4690637" y="4082171"/>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800123-2******</a:t>
              </a:r>
            </a:p>
            <a:p>
              <a:pPr>
                <a:lnSpc>
                  <a:spcPct val="200000"/>
                </a:lnSpc>
              </a:pPr>
              <a:r>
                <a:rPr lang="en-US" altLang="ko-KR" sz="700" dirty="0">
                  <a:latin typeface="+mn-ea"/>
                </a:rPr>
                <a:t>123-56-78901</a:t>
              </a: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3846725" y="49543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3846725" y="5168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3846725" y="5381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3846725" y="55768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2" name="TextBox 101">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사전심사 </a:t>
            </a:r>
            <a:r>
              <a:rPr lang="ko-KR" altLang="en-US" sz="800" dirty="0" err="1">
                <a:latin typeface="+mn-ea"/>
              </a:rPr>
              <a:t>결과조회</a:t>
            </a:r>
            <a:endParaRPr lang="ko-KR" altLang="en-US" sz="800" dirty="0">
              <a:latin typeface="+mn-ea"/>
            </a:endParaRPr>
          </a:p>
        </p:txBody>
      </p:sp>
      <p:grpSp>
        <p:nvGrpSpPr>
          <p:cNvPr id="113" name="그룹 112"/>
          <p:cNvGrpSpPr/>
          <p:nvPr/>
        </p:nvGrpSpPr>
        <p:grpSpPr>
          <a:xfrm rot="5400000">
            <a:off x="755013" y="1640499"/>
            <a:ext cx="94010" cy="47005"/>
            <a:chOff x="6812560" y="3297172"/>
            <a:chExt cx="94010" cy="47005"/>
          </a:xfrm>
        </p:grpSpPr>
        <p:cxnSp>
          <p:nvCxnSpPr>
            <p:cNvPr id="119" name="직선 연결선 1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5" name="타원 124"/>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타원 115">
            <a:extLst>
              <a:ext uri="{FF2B5EF4-FFF2-40B4-BE49-F238E27FC236}">
                <a16:creationId xmlns:a16="http://schemas.microsoft.com/office/drawing/2014/main" id="{37A7FF4F-0EAA-1463-560A-D5EC24416103}"/>
              </a:ext>
            </a:extLst>
          </p:cNvPr>
          <p:cNvSpPr/>
          <p:nvPr/>
        </p:nvSpPr>
        <p:spPr>
          <a:xfrm>
            <a:off x="577700" y="253976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1" name="타원 150">
            <a:extLst>
              <a:ext uri="{FF2B5EF4-FFF2-40B4-BE49-F238E27FC236}">
                <a16:creationId xmlns:a16="http://schemas.microsoft.com/office/drawing/2014/main" id="{37A7FF4F-0EAA-1463-560A-D5EC24416103}"/>
              </a:ext>
            </a:extLst>
          </p:cNvPr>
          <p:cNvSpPr/>
          <p:nvPr/>
        </p:nvSpPr>
        <p:spPr>
          <a:xfrm>
            <a:off x="589334" y="289022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cxnSp>
        <p:nvCxnSpPr>
          <p:cNvPr id="139" name="직선 연결선 138">
            <a:extLst>
              <a:ext uri="{FF2B5EF4-FFF2-40B4-BE49-F238E27FC236}">
                <a16:creationId xmlns:a16="http://schemas.microsoft.com/office/drawing/2014/main" id="{E9293055-D5CD-4B9E-7F64-64B2D2CA7A52}"/>
              </a:ext>
            </a:extLst>
          </p:cNvPr>
          <p:cNvCxnSpPr/>
          <p:nvPr/>
        </p:nvCxnSpPr>
        <p:spPr>
          <a:xfrm>
            <a:off x="3795734" y="52492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4" name="타원 143">
            <a:extLst>
              <a:ext uri="{FF2B5EF4-FFF2-40B4-BE49-F238E27FC236}">
                <a16:creationId xmlns:a16="http://schemas.microsoft.com/office/drawing/2014/main" id="{37A7FF4F-0EAA-1463-560A-D5EC24416103}"/>
              </a:ext>
            </a:extLst>
          </p:cNvPr>
          <p:cNvSpPr/>
          <p:nvPr/>
        </p:nvSpPr>
        <p:spPr>
          <a:xfrm>
            <a:off x="3711091" y="211471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45" name="타원 144">
            <a:extLst>
              <a:ext uri="{FF2B5EF4-FFF2-40B4-BE49-F238E27FC236}">
                <a16:creationId xmlns:a16="http://schemas.microsoft.com/office/drawing/2014/main" id="{37A7FF4F-0EAA-1463-560A-D5EC24416103}"/>
              </a:ext>
            </a:extLst>
          </p:cNvPr>
          <p:cNvSpPr/>
          <p:nvPr/>
        </p:nvSpPr>
        <p:spPr>
          <a:xfrm>
            <a:off x="3711091" y="402667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cxnSp>
        <p:nvCxnSpPr>
          <p:cNvPr id="95" name="직선 연결선 94">
            <a:extLst>
              <a:ext uri="{FF2B5EF4-FFF2-40B4-BE49-F238E27FC236}">
                <a16:creationId xmlns:a16="http://schemas.microsoft.com/office/drawing/2014/main" id="{E9293055-D5CD-4B9E-7F64-64B2D2CA7A52}"/>
              </a:ext>
            </a:extLst>
          </p:cNvPr>
          <p:cNvCxnSpPr/>
          <p:nvPr/>
        </p:nvCxnSpPr>
        <p:spPr>
          <a:xfrm>
            <a:off x="3795734" y="396302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6" name="그룹 95"/>
          <p:cNvGrpSpPr/>
          <p:nvPr/>
        </p:nvGrpSpPr>
        <p:grpSpPr>
          <a:xfrm>
            <a:off x="3844632" y="5321484"/>
            <a:ext cx="2630093" cy="978170"/>
            <a:chOff x="3844632" y="3774686"/>
            <a:chExt cx="2630093" cy="978170"/>
          </a:xfrm>
        </p:grpSpPr>
        <p:sp>
          <p:nvSpPr>
            <p:cNvPr id="97" name="TextBox 96">
              <a:extLst>
                <a:ext uri="{FF2B5EF4-FFF2-40B4-BE49-F238E27FC236}">
                  <a16:creationId xmlns:a16="http://schemas.microsoft.com/office/drawing/2014/main" id="{FFC49AEA-2A8F-250C-A86A-A7751D9706C3}"/>
                </a:ext>
              </a:extLst>
            </p:cNvPr>
            <p:cNvSpPr txBox="1"/>
            <p:nvPr/>
          </p:nvSpPr>
          <p:spPr>
            <a:xfrm>
              <a:off x="3905603" y="3774686"/>
              <a:ext cx="1586887" cy="215444"/>
            </a:xfrm>
            <a:prstGeom prst="rect">
              <a:avLst/>
            </a:prstGeom>
            <a:noFill/>
          </p:spPr>
          <p:txBody>
            <a:bodyPr wrap="square" lIns="0" tIns="0" rIns="0" bIns="0" rtlCol="0">
              <a:spAutoFit/>
            </a:bodyPr>
            <a:lstStyle/>
            <a:p>
              <a:pPr>
                <a:lnSpc>
                  <a:spcPct val="200000"/>
                </a:lnSpc>
              </a:pPr>
              <a:r>
                <a:rPr lang="ko-KR" altLang="en-US" sz="700" dirty="0">
                  <a:latin typeface="+mn-ea"/>
                </a:rPr>
                <a:t>사전심사결과</a:t>
              </a:r>
            </a:p>
          </p:txBody>
        </p:sp>
        <p:sp>
          <p:nvSpPr>
            <p:cNvPr id="98" name="직사각형 97"/>
            <p:cNvSpPr/>
            <p:nvPr/>
          </p:nvSpPr>
          <p:spPr>
            <a:xfrm>
              <a:off x="3846725" y="4082172"/>
              <a:ext cx="792000" cy="670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TextBox 99">
              <a:extLst>
                <a:ext uri="{FF2B5EF4-FFF2-40B4-BE49-F238E27FC236}">
                  <a16:creationId xmlns:a16="http://schemas.microsoft.com/office/drawing/2014/main" id="{FFC49AEA-2A8F-250C-A86A-A7751D9706C3}"/>
                </a:ext>
              </a:extLst>
            </p:cNvPr>
            <p:cNvSpPr txBox="1"/>
            <p:nvPr/>
          </p:nvSpPr>
          <p:spPr>
            <a:xfrm>
              <a:off x="3933789" y="4082171"/>
              <a:ext cx="756848" cy="612027"/>
            </a:xfrm>
            <a:prstGeom prst="rect">
              <a:avLst/>
            </a:prstGeom>
            <a:noFill/>
          </p:spPr>
          <p:txBody>
            <a:bodyPr wrap="square" lIns="0" tIns="0" rIns="0" bIns="0" rtlCol="0">
              <a:spAutoFit/>
            </a:bodyPr>
            <a:lstStyle/>
            <a:p>
              <a:pPr>
                <a:lnSpc>
                  <a:spcPct val="200000"/>
                </a:lnSpc>
              </a:pPr>
              <a:r>
                <a:rPr lang="ko-KR" altLang="en-US" sz="700" dirty="0" err="1">
                  <a:latin typeface="+mn-ea"/>
                </a:rPr>
                <a:t>심사점수</a:t>
              </a:r>
              <a:endParaRPr lang="en-US" altLang="ko-KR" sz="700" dirty="0">
                <a:latin typeface="+mn-ea"/>
              </a:endParaRPr>
            </a:p>
            <a:p>
              <a:pPr>
                <a:lnSpc>
                  <a:spcPct val="200000"/>
                </a:lnSpc>
              </a:pPr>
              <a:r>
                <a:rPr lang="ko-KR" altLang="en-US" sz="700" dirty="0" err="1">
                  <a:latin typeface="+mn-ea"/>
                </a:rPr>
                <a:t>합격여부</a:t>
              </a:r>
              <a:endParaRPr lang="en-US" altLang="ko-KR" sz="700" dirty="0">
                <a:latin typeface="+mn-ea"/>
              </a:endParaRPr>
            </a:p>
            <a:p>
              <a:pPr>
                <a:lnSpc>
                  <a:spcPct val="200000"/>
                </a:lnSpc>
              </a:pPr>
              <a:r>
                <a:rPr lang="ko-KR" altLang="en-US" sz="700" dirty="0">
                  <a:latin typeface="+mn-ea"/>
                </a:rPr>
                <a:t>심사확정일자</a:t>
              </a:r>
              <a:endParaRPr lang="en-US" altLang="ko-KR"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4690637" y="4082171"/>
              <a:ext cx="1784088" cy="646331"/>
            </a:xfrm>
            <a:prstGeom prst="rect">
              <a:avLst/>
            </a:prstGeom>
            <a:noFill/>
          </p:spPr>
          <p:txBody>
            <a:bodyPr wrap="square" lIns="0" tIns="0" rIns="0" bIns="0" rtlCol="0">
              <a:spAutoFit/>
            </a:bodyPr>
            <a:lstStyle/>
            <a:p>
              <a:pPr>
                <a:lnSpc>
                  <a:spcPct val="200000"/>
                </a:lnSpc>
              </a:pPr>
              <a:r>
                <a:rPr lang="en-US" altLang="ko-KR" sz="700" dirty="0">
                  <a:latin typeface="+mn-ea"/>
                </a:rPr>
                <a:t>99</a:t>
              </a:r>
            </a:p>
            <a:p>
              <a:pPr>
                <a:lnSpc>
                  <a:spcPct val="200000"/>
                </a:lnSpc>
              </a:pPr>
              <a:r>
                <a:rPr lang="ko-KR" altLang="en-US" sz="700" dirty="0">
                  <a:latin typeface="+mn-ea"/>
                </a:rPr>
                <a:t>합격</a:t>
              </a:r>
              <a:endParaRPr lang="en-US" altLang="ko-KR" sz="700" dirty="0">
                <a:latin typeface="+mn-ea"/>
              </a:endParaRPr>
            </a:p>
            <a:p>
              <a:pPr>
                <a:lnSpc>
                  <a:spcPct val="200000"/>
                </a:lnSpc>
              </a:pPr>
              <a:r>
                <a:rPr lang="en-US" altLang="ko-KR" sz="700" dirty="0">
                  <a:latin typeface="+mn-ea"/>
                </a:rPr>
                <a:t>2025-12-24 10:30</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7" name="타원 146">
            <a:extLst>
              <a:ext uri="{FF2B5EF4-FFF2-40B4-BE49-F238E27FC236}">
                <a16:creationId xmlns:a16="http://schemas.microsoft.com/office/drawing/2014/main" id="{37A7FF4F-0EAA-1463-560A-D5EC24416103}"/>
              </a:ext>
            </a:extLst>
          </p:cNvPr>
          <p:cNvSpPr/>
          <p:nvPr/>
        </p:nvSpPr>
        <p:spPr>
          <a:xfrm>
            <a:off x="3711091" y="55962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
        <p:nvSpPr>
          <p:cNvPr id="358" name="모서리가 둥근 직사각형 357"/>
          <p:cNvSpPr/>
          <p:nvPr/>
        </p:nvSpPr>
        <p:spPr>
          <a:xfrm rot="5400000">
            <a:off x="5782577" y="544604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4" name="그룹 93"/>
          <p:cNvGrpSpPr/>
          <p:nvPr/>
        </p:nvGrpSpPr>
        <p:grpSpPr>
          <a:xfrm>
            <a:off x="3797156" y="1572247"/>
            <a:ext cx="2712027" cy="508898"/>
            <a:chOff x="697390" y="2606886"/>
            <a:chExt cx="2712027" cy="508898"/>
          </a:xfrm>
        </p:grpSpPr>
        <p:sp>
          <p:nvSpPr>
            <p:cNvPr id="11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18" name="모서리가 둥근 직사각형 117"/>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28" name="모서리가 둥근 직사각형 127"/>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29" name="직선 연결선 128">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모서리가 둥근 직사각형 133"/>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38" name="모서리가 둥근 직사각형 137"/>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spTree>
    <p:extLst>
      <p:ext uri="{BB962C8B-B14F-4D97-AF65-F5344CB8AC3E}">
        <p14:creationId xmlns:p14="http://schemas.microsoft.com/office/powerpoint/2010/main" val="2061365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78</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공사내역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555322"/>
            <a:ext cx="250445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25209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발주기관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공사구분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cstrnSenm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공사구분명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1396896"/>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1934767"/>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6981706"/>
                  </a:ext>
                </a:extLst>
              </a:tr>
              <a:tr h="0">
                <a:tc>
                  <a:txBody>
                    <a:bodyPr/>
                    <a:lstStyle/>
                    <a:p>
                      <a:pPr latinLnBrk="1"/>
                      <a:r>
                        <a:rPr lang="ko-KR" altLang="en-US" sz="800" dirty="0">
                          <a:latin typeface="+mn-ea"/>
                          <a:ea typeface="+mn-ea"/>
                        </a:rPr>
                        <a:t>사전심사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사전심사실시여부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9956263"/>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5465182"/>
                  </a:ext>
                </a:extLst>
              </a:tr>
              <a:tr h="0">
                <a:tc>
                  <a:txBody>
                    <a:bodyPr/>
                    <a:lstStyle/>
                    <a:p>
                      <a:pPr latinLnBrk="1"/>
                      <a:r>
                        <a:rPr lang="ko-KR" altLang="en-US" sz="800" dirty="0">
                          <a:latin typeface="+mn-ea"/>
                          <a:ea typeface="+mn-ea"/>
                        </a:rPr>
                        <a:t>신청마감일시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bfhdSrngAplyDdlnDt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사전심사신청마감일시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767813"/>
          <a:ext cx="8995589" cy="135744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bzentyAddr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업체주소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57250F06-1B6F-1A14-ADDE-D8CA155178BC}"/>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B53B5F6D-8C54-2C6F-EBAC-2C7F5A68199E}"/>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Tree>
    <p:extLst>
      <p:ext uri="{BB962C8B-B14F-4D97-AF65-F5344CB8AC3E}">
        <p14:creationId xmlns:p14="http://schemas.microsoft.com/office/powerpoint/2010/main" val="40312482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79</a:t>
            </a:fld>
            <a:endParaRPr lang="ko-KR" altLang="en-US" dirty="0"/>
          </a:p>
        </p:txBody>
      </p:sp>
      <p:sp>
        <p:nvSpPr>
          <p:cNvPr id="4" name="TextBox 3">
            <a:extLst>
              <a:ext uri="{FF2B5EF4-FFF2-40B4-BE49-F238E27FC236}">
                <a16:creationId xmlns:a16="http://schemas.microsoft.com/office/drawing/2014/main" id="{8AD62ED2-6573-FBFD-A141-728376028F5F}"/>
              </a:ext>
            </a:extLst>
          </p:cNvPr>
          <p:cNvSpPr txBox="1"/>
          <p:nvPr/>
        </p:nvSpPr>
        <p:spPr>
          <a:xfrm>
            <a:off x="453831" y="776270"/>
            <a:ext cx="2361791"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첨부파일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dlt_atchFileList</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F1948FDD-E55A-AC80-14E3-8851A4E295E2}"/>
              </a:ext>
            </a:extLst>
          </p:cNvPr>
          <p:cNvGraphicFramePr>
            <a:graphicFrameLocks noGrp="1"/>
          </p:cNvGraphicFramePr>
          <p:nvPr/>
        </p:nvGraphicFramePr>
        <p:xfrm>
          <a:off x="453000" y="988761"/>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첨부파일 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918839"/>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파일크기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파일크기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2" name="TextBox 1">
            <a:extLst>
              <a:ext uri="{FF2B5EF4-FFF2-40B4-BE49-F238E27FC236}">
                <a16:creationId xmlns:a16="http://schemas.microsoft.com/office/drawing/2014/main" id="{E496B8EB-54D2-3023-5305-2EC389DB8853}"/>
              </a:ext>
            </a:extLst>
          </p:cNvPr>
          <p:cNvSpPr txBox="1"/>
          <p:nvPr/>
        </p:nvSpPr>
        <p:spPr>
          <a:xfrm>
            <a:off x="453832" y="1995474"/>
            <a:ext cx="2770558"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사전심사결과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dmt_bfhdSrngRslt</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A3449504-8617-9A02-A15D-8FBB5B71CB9D}"/>
              </a:ext>
            </a:extLst>
          </p:cNvPr>
          <p:cNvGraphicFramePr>
            <a:graphicFrameLocks noGrp="1"/>
          </p:cNvGraphicFramePr>
          <p:nvPr/>
        </p:nvGraphicFramePr>
        <p:xfrm>
          <a:off x="453001" y="2207965"/>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심사점수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사전심사점수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합격여부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srngPassYn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사전심사합격여부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918839"/>
                  </a:ext>
                </a:extLst>
              </a:tr>
              <a:tr h="0">
                <a:tc>
                  <a:txBody>
                    <a:bodyPr/>
                    <a:lstStyle/>
                    <a:p>
                      <a:pPr latinLnBrk="1"/>
                      <a:r>
                        <a:rPr lang="ko-KR" altLang="en-US" sz="800" dirty="0">
                          <a:latin typeface="+mn-ea"/>
                          <a:ea typeface="+mn-ea"/>
                        </a:rPr>
                        <a:t>심사확정일시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bfhdSrngCfmtnDt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사전심사확정일시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bl>
          </a:graphicData>
        </a:graphic>
      </p:graphicFrame>
      <p:sp>
        <p:nvSpPr>
          <p:cNvPr id="6" name="Text Box 73">
            <a:extLst>
              <a:ext uri="{FF2B5EF4-FFF2-40B4-BE49-F238E27FC236}">
                <a16:creationId xmlns:a16="http://schemas.microsoft.com/office/drawing/2014/main" id="{2239D400-60B9-5380-9783-770A3296792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3" name="TextBox 12">
            <a:extLst>
              <a:ext uri="{FF2B5EF4-FFF2-40B4-BE49-F238E27FC236}">
                <a16:creationId xmlns:a16="http://schemas.microsoft.com/office/drawing/2014/main" id="{2D3516FD-E0F2-AAC5-4F0A-487CCE865878}"/>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Tree>
    <p:extLst>
      <p:ext uri="{BB962C8B-B14F-4D97-AF65-F5344CB8AC3E}">
        <p14:creationId xmlns:p14="http://schemas.microsoft.com/office/powerpoint/2010/main" val="66161598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80</a:t>
            </a:fld>
            <a:endParaRPr lang="ko-KR" altLang="en-US" dirty="0"/>
          </a:p>
        </p:txBody>
      </p:sp>
      <p:sp>
        <p:nvSpPr>
          <p:cNvPr id="8" name="TextBox 7">
            <a:extLst>
              <a:ext uri="{FF2B5EF4-FFF2-40B4-BE49-F238E27FC236}">
                <a16:creationId xmlns:a16="http://schemas.microsoft.com/office/drawing/2014/main" id="{08C1012F-B7D9-54D0-F889-F3DD6C7ED26C}"/>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9" name="표 8">
            <a:extLst>
              <a:ext uri="{FF2B5EF4-FFF2-40B4-BE49-F238E27FC236}">
                <a16:creationId xmlns:a16="http://schemas.microsoft.com/office/drawing/2014/main" id="{9196099B-4391-0B72-CEBB-9E4B2F4E63FE}"/>
              </a:ext>
            </a:extLst>
          </p:cNvPr>
          <p:cNvGraphicFramePr>
            <a:graphicFrameLocks noGrp="1"/>
          </p:cNvGraphicFramePr>
          <p:nvPr/>
        </p:nvGraphicFramePr>
        <p:xfrm>
          <a:off x="453000" y="1039042"/>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사전심사신청서</a:t>
                      </a:r>
                      <a:r>
                        <a:rPr lang="en-US" altLang="ko-KR" sz="800" dirty="0">
                          <a:latin typeface="+mn-ea"/>
                          <a:ea typeface="+mn-ea"/>
                        </a:rPr>
                        <a:t>, </a:t>
                      </a:r>
                      <a:r>
                        <a:rPr lang="ko-KR" altLang="en-US" sz="800" dirty="0">
                          <a:latin typeface="+mn-ea"/>
                          <a:ea typeface="+mn-ea"/>
                        </a:rPr>
                        <a:t>사전심사결과 조회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altLang="ko-KR" sz="800" dirty="0" err="1"/>
                        <a:t>scwin.btn_close_onclick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사전심사신청상세</a:t>
                      </a:r>
                      <a:r>
                        <a:rPr lang="ko-KR" altLang="en-US" sz="800" dirty="0">
                          <a:latin typeface="+mn-ea"/>
                          <a:ea typeface="+mn-ea"/>
                        </a:rPr>
                        <a:t> 팝업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1" name="Text Box 73">
            <a:extLst>
              <a:ext uri="{FF2B5EF4-FFF2-40B4-BE49-F238E27FC236}">
                <a16:creationId xmlns:a16="http://schemas.microsoft.com/office/drawing/2014/main" id="{5441796B-5464-E016-6555-6FFCA7173392}"/>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73554915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기술평가 결과를 조회</a:t>
            </a:r>
            <a:endParaRPr lang="en-US" altLang="ko-KR" dirty="0"/>
          </a:p>
          <a:p>
            <a:pPr marL="228600" indent="-228600">
              <a:buFont typeface="+mj-lt"/>
              <a:buAutoNum type="arabicPeriod"/>
            </a:pPr>
            <a:r>
              <a:rPr lang="ko-KR" altLang="en-US" dirty="0"/>
              <a:t>기술평가 결과를 내용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81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기술평가결과조회</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기술평가결과조회</a:t>
            </a:r>
            <a:r>
              <a:rPr lang="ko-KR" altLang="en-US" dirty="0"/>
              <a:t>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기술평가결과조회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MUI-BD-07-P01</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r>
              <a:rPr lang="ko-KR" altLang="en-US" sz="900" dirty="0">
                <a:latin typeface="+mn-ea"/>
              </a:rPr>
              <a:t>기술평가결과조회</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23032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1" name="타원 150">
            <a:extLst>
              <a:ext uri="{FF2B5EF4-FFF2-40B4-BE49-F238E27FC236}">
                <a16:creationId xmlns:a16="http://schemas.microsoft.com/office/drawing/2014/main" id="{37A7FF4F-0EAA-1463-560A-D5EC24416103}"/>
              </a:ext>
            </a:extLst>
          </p:cNvPr>
          <p:cNvSpPr/>
          <p:nvPr/>
        </p:nvSpPr>
        <p:spPr>
          <a:xfrm>
            <a:off x="589334" y="356049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latin typeface="+mn-ea"/>
              </a:rPr>
              <a:t>00</a:t>
            </a:r>
            <a:r>
              <a:rPr lang="ko-KR" altLang="en-US" sz="700" dirty="0">
                <a:latin typeface="+mn-ea"/>
              </a:rPr>
              <a:t>건</a:t>
            </a:r>
          </a:p>
        </p:txBody>
      </p:sp>
      <p:sp>
        <p:nvSpPr>
          <p:cNvPr id="154" name="직사각형 153"/>
          <p:cNvSpPr/>
          <p:nvPr/>
        </p:nvSpPr>
        <p:spPr>
          <a:xfrm>
            <a:off x="722232" y="3827499"/>
            <a:ext cx="792000" cy="19235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4" y="3827499"/>
            <a:ext cx="808191" cy="193899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공사번호</a:t>
            </a:r>
            <a:endParaRPr lang="en-US" altLang="ko-KR" sz="700" dirty="0">
              <a:latin typeface="+mn-ea"/>
            </a:endParaRPr>
          </a:p>
          <a:p>
            <a:pPr>
              <a:lnSpc>
                <a:spcPct val="200000"/>
              </a:lnSpc>
            </a:pPr>
            <a:r>
              <a:rPr lang="ko-KR" altLang="en-US" sz="700" dirty="0" err="1">
                <a:latin typeface="+mn-ea"/>
              </a:rPr>
              <a:t>공사명</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견적서제출마감일시</a:t>
            </a:r>
            <a:endParaRPr lang="en-US" altLang="ko-KR" sz="700" dirty="0">
              <a:latin typeface="+mn-ea"/>
            </a:endParaRPr>
          </a:p>
          <a:p>
            <a:pPr>
              <a:lnSpc>
                <a:spcPct val="200000"/>
              </a:lnSpc>
            </a:pPr>
            <a:r>
              <a:rPr lang="ko-KR" altLang="en-US" sz="700" dirty="0">
                <a:latin typeface="+mn-ea"/>
              </a:rPr>
              <a:t>기술평가점수</a:t>
            </a:r>
            <a:endParaRPr lang="en-US" altLang="ko-KR" sz="700" dirty="0">
              <a:latin typeface="+mn-ea"/>
            </a:endParaRPr>
          </a:p>
          <a:p>
            <a:pPr>
              <a:lnSpc>
                <a:spcPct val="200000"/>
              </a:lnSpc>
            </a:pPr>
            <a:r>
              <a:rPr lang="ko-KR" altLang="en-US" sz="700" dirty="0">
                <a:latin typeface="+mn-ea"/>
              </a:rPr>
              <a:t>기술평가결과</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827499"/>
            <a:ext cx="1784088" cy="1938992"/>
          </a:xfrm>
          <a:prstGeom prst="rect">
            <a:avLst/>
          </a:prstGeom>
          <a:noFill/>
        </p:spPr>
        <p:txBody>
          <a:bodyPr wrap="square" lIns="0" tIns="0" rIns="0" bIns="0" rtlCol="0">
            <a:spAutoFit/>
          </a:bodyPr>
          <a:lstStyle/>
          <a:p>
            <a:pPr>
              <a:lnSpc>
                <a:spcPct val="200000"/>
              </a:lnSpc>
            </a:pPr>
            <a:r>
              <a:rPr lang="en-US" altLang="ko-KR" sz="700" dirty="0">
                <a:latin typeface="+mn-ea"/>
              </a:rPr>
              <a:t>R0001-000</a:t>
            </a:r>
          </a:p>
          <a:p>
            <a:pPr>
              <a:lnSpc>
                <a:spcPct val="200000"/>
              </a:lnSpc>
            </a:pPr>
            <a:r>
              <a:rPr lang="en-US" altLang="ko-KR" sz="700" dirty="0">
                <a:latin typeface="+mn-ea"/>
              </a:rPr>
              <a:t>2025R0001-0001</a:t>
            </a:r>
          </a:p>
          <a:p>
            <a:pPr>
              <a:lnSpc>
                <a:spcPct val="200000"/>
              </a:lnSpc>
            </a:pPr>
            <a:r>
              <a:rPr lang="en-US" altLang="ko-KR" sz="700" dirty="0">
                <a:latin typeface="+mn-ea"/>
              </a:rPr>
              <a:t>2025-0001</a:t>
            </a:r>
          </a:p>
          <a:p>
            <a:pPr>
              <a:lnSpc>
                <a:spcPct val="200000"/>
              </a:lnSpc>
            </a:pPr>
            <a:r>
              <a:rPr lang="ko-KR" altLang="en-US" sz="700" dirty="0">
                <a:latin typeface="+mn-ea"/>
              </a:rPr>
              <a:t>국방전자조달시스템 테스트</a:t>
            </a:r>
            <a:endParaRPr lang="en-US" altLang="ko-KR" sz="700" dirty="0">
              <a:latin typeface="+mn-ea"/>
            </a:endParaRPr>
          </a:p>
          <a:p>
            <a:pPr>
              <a:lnSpc>
                <a:spcPct val="200000"/>
              </a:lnSpc>
            </a:pPr>
            <a:r>
              <a:rPr lang="ko-KR" altLang="en-US" sz="700" dirty="0" err="1">
                <a:latin typeface="+mn-ea"/>
              </a:rPr>
              <a:t>방위사업청</a:t>
            </a:r>
            <a:endParaRPr lang="en-US" altLang="ko-KR" sz="700" dirty="0">
              <a:latin typeface="+mn-ea"/>
            </a:endParaRPr>
          </a:p>
          <a:p>
            <a:pPr>
              <a:lnSpc>
                <a:spcPct val="200000"/>
              </a:lnSpc>
            </a:pPr>
            <a:r>
              <a:rPr lang="ko-KR" altLang="en-US" sz="700" dirty="0" err="1">
                <a:latin typeface="+mn-ea"/>
              </a:rPr>
              <a:t>총액제</a:t>
            </a:r>
            <a:endParaRPr lang="en-US" altLang="ko-KR" sz="700" dirty="0">
              <a:latin typeface="+mn-ea"/>
            </a:endParaRPr>
          </a:p>
          <a:p>
            <a:pPr>
              <a:lnSpc>
                <a:spcPct val="200000"/>
              </a:lnSpc>
            </a:pPr>
            <a:r>
              <a:rPr lang="en-US" altLang="ko-KR" sz="700" dirty="0">
                <a:latin typeface="+mn-ea"/>
              </a:rPr>
              <a:t>   2026-01-15 10:00:00</a:t>
            </a:r>
          </a:p>
          <a:p>
            <a:pPr>
              <a:lnSpc>
                <a:spcPct val="200000"/>
              </a:lnSpc>
            </a:pPr>
            <a:r>
              <a:rPr lang="en-US" altLang="ko-KR" sz="700" dirty="0">
                <a:latin typeface="+mn-ea"/>
              </a:rPr>
              <a:t>77.3</a:t>
            </a:r>
          </a:p>
          <a:p>
            <a:pPr>
              <a:lnSpc>
                <a:spcPct val="200000"/>
              </a:lnSpc>
            </a:pPr>
            <a:r>
              <a:rPr lang="ko-KR" altLang="en-US" sz="700" dirty="0">
                <a:latin typeface="+mn-ea"/>
              </a:rPr>
              <a:t>합격</a:t>
            </a:r>
            <a:endParaRPr lang="en-US" altLang="ko-KR" sz="700" dirty="0">
              <a:latin typeface="+mn-ea"/>
            </a:endParaRPr>
          </a:p>
        </p:txBody>
      </p:sp>
      <p:grpSp>
        <p:nvGrpSpPr>
          <p:cNvPr id="166" name="그룹 165"/>
          <p:cNvGrpSpPr/>
          <p:nvPr/>
        </p:nvGrpSpPr>
        <p:grpSpPr>
          <a:xfrm>
            <a:off x="720139" y="3827499"/>
            <a:ext cx="2630093" cy="1923567"/>
            <a:chOff x="701175" y="1835481"/>
            <a:chExt cx="2630093" cy="1923567"/>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7590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4" name="그룹 93"/>
          <p:cNvGrpSpPr/>
          <p:nvPr/>
        </p:nvGrpSpPr>
        <p:grpSpPr>
          <a:xfrm>
            <a:off x="3795734" y="5614711"/>
            <a:ext cx="2712027" cy="617588"/>
            <a:chOff x="675399" y="5614711"/>
            <a:chExt cx="2712027" cy="617588"/>
          </a:xfrm>
        </p:grpSpPr>
        <p:sp>
          <p:nvSpPr>
            <p:cNvPr id="102" name="직사각형 10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3" name="사각형: 둥근 모서리 15">
              <a:extLst>
                <a:ext uri="{FF2B5EF4-FFF2-40B4-BE49-F238E27FC236}">
                  <a16:creationId xmlns:a16="http://schemas.microsoft.com/office/drawing/2014/main" id="{E2B61CFB-AD16-68D0-8752-50D9C5E01971}"/>
                </a:ext>
              </a:extLst>
            </p:cNvPr>
            <p:cNvSpPr/>
            <p:nvPr/>
          </p:nvSpPr>
          <p:spPr>
            <a:xfrm>
              <a:off x="767702" y="5745391"/>
              <a:ext cx="252741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sp>
        <p:nvSpPr>
          <p:cNvPr id="125" name="직사각형 124">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7" name="그룹 126">
            <a:extLst>
              <a:ext uri="{FF2B5EF4-FFF2-40B4-BE49-F238E27FC236}">
                <a16:creationId xmlns:a16="http://schemas.microsoft.com/office/drawing/2014/main" id="{22BC05EE-C648-7CA2-4CCC-6E1C1A7E9BDA}"/>
              </a:ext>
            </a:extLst>
          </p:cNvPr>
          <p:cNvGrpSpPr/>
          <p:nvPr/>
        </p:nvGrpSpPr>
        <p:grpSpPr>
          <a:xfrm>
            <a:off x="5132807" y="4639202"/>
            <a:ext cx="76863" cy="292489"/>
            <a:chOff x="3750067" y="4683795"/>
            <a:chExt cx="76863" cy="292489"/>
          </a:xfrm>
        </p:grpSpPr>
        <p:sp>
          <p:nvSpPr>
            <p:cNvPr id="131" name="타원 130">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33" name="타원 132">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34" name="타원 133">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38" name="사각형: 둥근 모서리 15">
            <a:extLst>
              <a:ext uri="{FF2B5EF4-FFF2-40B4-BE49-F238E27FC236}">
                <a16:creationId xmlns:a16="http://schemas.microsoft.com/office/drawing/2014/main" id="{E2B61CFB-AD16-68D0-8752-50D9C5E01971}"/>
              </a:ext>
            </a:extLst>
          </p:cNvPr>
          <p:cNvSpPr/>
          <p:nvPr/>
        </p:nvSpPr>
        <p:spPr>
          <a:xfrm>
            <a:off x="3843514" y="5103531"/>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39" name="직사각형 138"/>
          <p:cNvSpPr/>
          <p:nvPr/>
        </p:nvSpPr>
        <p:spPr>
          <a:xfrm>
            <a:off x="3842214" y="2567366"/>
            <a:ext cx="792000" cy="19235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a:extLst>
              <a:ext uri="{FF2B5EF4-FFF2-40B4-BE49-F238E27FC236}">
                <a16:creationId xmlns:a16="http://schemas.microsoft.com/office/drawing/2014/main" id="{FFC49AEA-2A8F-250C-A86A-A7751D9706C3}"/>
              </a:ext>
            </a:extLst>
          </p:cNvPr>
          <p:cNvSpPr txBox="1"/>
          <p:nvPr/>
        </p:nvSpPr>
        <p:spPr>
          <a:xfrm>
            <a:off x="3929276" y="2567366"/>
            <a:ext cx="808191" cy="193899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공사번호</a:t>
            </a:r>
            <a:endParaRPr lang="en-US" altLang="ko-KR" sz="700" dirty="0">
              <a:latin typeface="+mn-ea"/>
            </a:endParaRPr>
          </a:p>
          <a:p>
            <a:pPr>
              <a:lnSpc>
                <a:spcPct val="200000"/>
              </a:lnSpc>
            </a:pPr>
            <a:r>
              <a:rPr lang="ko-KR" altLang="en-US" sz="700" dirty="0" err="1">
                <a:latin typeface="+mn-ea"/>
              </a:rPr>
              <a:t>공사명</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견적서제출마감일시</a:t>
            </a:r>
            <a:endParaRPr lang="en-US" altLang="ko-KR" sz="700" dirty="0">
              <a:latin typeface="+mn-ea"/>
            </a:endParaRPr>
          </a:p>
          <a:p>
            <a:pPr>
              <a:lnSpc>
                <a:spcPct val="200000"/>
              </a:lnSpc>
            </a:pPr>
            <a:r>
              <a:rPr lang="ko-KR" altLang="en-US" sz="700" dirty="0">
                <a:latin typeface="+mn-ea"/>
              </a:rPr>
              <a:t>기술평가점수</a:t>
            </a:r>
            <a:endParaRPr lang="en-US" altLang="ko-KR" sz="700" dirty="0">
              <a:latin typeface="+mn-ea"/>
            </a:endParaRPr>
          </a:p>
          <a:p>
            <a:pPr>
              <a:lnSpc>
                <a:spcPct val="200000"/>
              </a:lnSpc>
            </a:pPr>
            <a:r>
              <a:rPr lang="ko-KR" altLang="en-US" sz="700" dirty="0">
                <a:latin typeface="+mn-ea"/>
              </a:rPr>
              <a:t>기술평가결과</a:t>
            </a:r>
            <a:endParaRPr lang="en-US" altLang="ko-KR" sz="700" dirty="0">
              <a:latin typeface="+mn-ea"/>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4686126" y="2567366"/>
            <a:ext cx="1784088" cy="1938992"/>
          </a:xfrm>
          <a:prstGeom prst="rect">
            <a:avLst/>
          </a:prstGeom>
          <a:noFill/>
        </p:spPr>
        <p:txBody>
          <a:bodyPr wrap="square" lIns="0" tIns="0" rIns="0" bIns="0" rtlCol="0">
            <a:spAutoFit/>
          </a:bodyPr>
          <a:lstStyle/>
          <a:p>
            <a:pPr>
              <a:lnSpc>
                <a:spcPct val="200000"/>
              </a:lnSpc>
            </a:pPr>
            <a:r>
              <a:rPr lang="en-US" altLang="ko-KR" sz="700" dirty="0">
                <a:latin typeface="+mn-ea"/>
              </a:rPr>
              <a:t>R0001-000</a:t>
            </a:r>
          </a:p>
          <a:p>
            <a:pPr>
              <a:lnSpc>
                <a:spcPct val="200000"/>
              </a:lnSpc>
            </a:pPr>
            <a:r>
              <a:rPr lang="en-US" altLang="ko-KR" sz="700" dirty="0">
                <a:latin typeface="+mn-ea"/>
              </a:rPr>
              <a:t>2025R0001-0001</a:t>
            </a:r>
          </a:p>
          <a:p>
            <a:pPr>
              <a:lnSpc>
                <a:spcPct val="200000"/>
              </a:lnSpc>
            </a:pPr>
            <a:r>
              <a:rPr lang="en-US" altLang="ko-KR" sz="700" dirty="0">
                <a:latin typeface="+mn-ea"/>
              </a:rPr>
              <a:t>2025-0001</a:t>
            </a:r>
          </a:p>
          <a:p>
            <a:pPr>
              <a:lnSpc>
                <a:spcPct val="200000"/>
              </a:lnSpc>
            </a:pPr>
            <a:r>
              <a:rPr lang="ko-KR" altLang="en-US" sz="700" dirty="0">
                <a:latin typeface="+mn-ea"/>
              </a:rPr>
              <a:t>국방전자조달시스템 테스트</a:t>
            </a:r>
            <a:endParaRPr lang="en-US" altLang="ko-KR" sz="700" dirty="0">
              <a:latin typeface="+mn-ea"/>
            </a:endParaRPr>
          </a:p>
          <a:p>
            <a:pPr>
              <a:lnSpc>
                <a:spcPct val="200000"/>
              </a:lnSpc>
            </a:pPr>
            <a:r>
              <a:rPr lang="ko-KR" altLang="en-US" sz="700" dirty="0" err="1">
                <a:latin typeface="+mn-ea"/>
              </a:rPr>
              <a:t>방위사업청</a:t>
            </a:r>
            <a:endParaRPr lang="en-US" altLang="ko-KR" sz="700" dirty="0">
              <a:latin typeface="+mn-ea"/>
            </a:endParaRPr>
          </a:p>
          <a:p>
            <a:pPr>
              <a:lnSpc>
                <a:spcPct val="200000"/>
              </a:lnSpc>
            </a:pPr>
            <a:r>
              <a:rPr lang="ko-KR" altLang="en-US" sz="700" dirty="0" err="1">
                <a:latin typeface="+mn-ea"/>
              </a:rPr>
              <a:t>총액제</a:t>
            </a:r>
            <a:endParaRPr lang="en-US" altLang="ko-KR" sz="700" dirty="0">
              <a:latin typeface="+mn-ea"/>
            </a:endParaRPr>
          </a:p>
          <a:p>
            <a:pPr>
              <a:lnSpc>
                <a:spcPct val="200000"/>
              </a:lnSpc>
            </a:pPr>
            <a:r>
              <a:rPr lang="en-US" altLang="ko-KR" sz="700" dirty="0">
                <a:latin typeface="+mn-ea"/>
              </a:rPr>
              <a:t>   2026-01-15 10:00:00</a:t>
            </a:r>
          </a:p>
          <a:p>
            <a:pPr>
              <a:lnSpc>
                <a:spcPct val="200000"/>
              </a:lnSpc>
            </a:pPr>
            <a:r>
              <a:rPr lang="en-US" altLang="ko-KR" sz="700" dirty="0">
                <a:latin typeface="+mn-ea"/>
              </a:rPr>
              <a:t>77.3</a:t>
            </a:r>
          </a:p>
          <a:p>
            <a:pPr>
              <a:lnSpc>
                <a:spcPct val="200000"/>
              </a:lnSpc>
            </a:pPr>
            <a:r>
              <a:rPr lang="ko-KR" altLang="en-US" sz="700" dirty="0">
                <a:latin typeface="+mn-ea"/>
              </a:rPr>
              <a:t>합격</a:t>
            </a:r>
            <a:endParaRPr lang="en-US" altLang="ko-KR" sz="700" dirty="0">
              <a:latin typeface="+mn-ea"/>
            </a:endParaRPr>
          </a:p>
        </p:txBody>
      </p:sp>
      <p:grpSp>
        <p:nvGrpSpPr>
          <p:cNvPr id="145" name="그룹 144"/>
          <p:cNvGrpSpPr/>
          <p:nvPr/>
        </p:nvGrpSpPr>
        <p:grpSpPr>
          <a:xfrm>
            <a:off x="3840121" y="2567366"/>
            <a:ext cx="2630093" cy="1923567"/>
            <a:chOff x="701175" y="1835481"/>
            <a:chExt cx="2630093" cy="1923567"/>
          </a:xfrm>
        </p:grpSpPr>
        <p:cxnSp>
          <p:nvCxnSpPr>
            <p:cNvPr id="147" name="직선 연결선 14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0" name="직선 연결선 14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9" name="직선 연결선 158">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7" name="직선 연결선 186">
              <a:extLst>
                <a:ext uri="{FF2B5EF4-FFF2-40B4-BE49-F238E27FC236}">
                  <a16:creationId xmlns:a16="http://schemas.microsoft.com/office/drawing/2014/main" id="{E9293055-D5CD-4B9E-7F64-64B2D2CA7A52}"/>
                </a:ext>
              </a:extLst>
            </p:cNvPr>
            <p:cNvCxnSpPr/>
            <p:nvPr/>
          </p:nvCxnSpPr>
          <p:spPr>
            <a:xfrm>
              <a:off x="701175" y="37590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8" name="양쪽 모서리가 둥근 사각형 187"/>
          <p:cNvSpPr/>
          <p:nvPr/>
        </p:nvSpPr>
        <p:spPr>
          <a:xfrm>
            <a:off x="3804197"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89" name="모서리가 둥근 직사각형 188"/>
          <p:cNvSpPr/>
          <p:nvPr/>
        </p:nvSpPr>
        <p:spPr>
          <a:xfrm>
            <a:off x="4890210"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90" name="그룹 189"/>
          <p:cNvGrpSpPr/>
          <p:nvPr/>
        </p:nvGrpSpPr>
        <p:grpSpPr>
          <a:xfrm>
            <a:off x="6293136" y="2273335"/>
            <a:ext cx="94010" cy="94010"/>
            <a:chOff x="6812560" y="3297172"/>
            <a:chExt cx="94010" cy="94010"/>
          </a:xfrm>
        </p:grpSpPr>
        <p:cxnSp>
          <p:nvCxnSpPr>
            <p:cNvPr id="191" name="직선 연결선 190"/>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92" name="직선 연결선 19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93" name="TextBox 192">
            <a:extLst>
              <a:ext uri="{FF2B5EF4-FFF2-40B4-BE49-F238E27FC236}">
                <a16:creationId xmlns:a16="http://schemas.microsoft.com/office/drawing/2014/main" id="{FFC49AEA-2A8F-250C-A86A-A7751D9706C3}"/>
              </a:ext>
            </a:extLst>
          </p:cNvPr>
          <p:cNvSpPr txBox="1"/>
          <p:nvPr/>
        </p:nvSpPr>
        <p:spPr>
          <a:xfrm>
            <a:off x="3933274" y="2254014"/>
            <a:ext cx="1798758" cy="138499"/>
          </a:xfrm>
          <a:prstGeom prst="rect">
            <a:avLst/>
          </a:prstGeom>
          <a:noFill/>
        </p:spPr>
        <p:txBody>
          <a:bodyPr wrap="square" lIns="0" tIns="0" rIns="0" bIns="0" rtlCol="0">
            <a:spAutoFit/>
          </a:bodyPr>
          <a:lstStyle/>
          <a:p>
            <a:r>
              <a:rPr lang="ko-KR" altLang="en-US" sz="900" dirty="0">
                <a:latin typeface="+mn-ea"/>
              </a:rPr>
              <a:t>기술평가결과조회</a:t>
            </a:r>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804197"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62469535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82</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376036"/>
            <a:ext cx="250445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2327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사업유형명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5606574"/>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적격심사실시여부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7916429"/>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588527"/>
          <a:ext cx="8995589" cy="77568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bl>
          </a:graphicData>
        </a:graphic>
      </p:graphicFrame>
      <p:sp>
        <p:nvSpPr>
          <p:cNvPr id="7" name="TextBox 6">
            <a:extLst>
              <a:ext uri="{FF2B5EF4-FFF2-40B4-BE49-F238E27FC236}">
                <a16:creationId xmlns:a16="http://schemas.microsoft.com/office/drawing/2014/main" id="{670C8401-924A-5371-0F87-C9E2F69E0022}"/>
              </a:ext>
            </a:extLst>
          </p:cNvPr>
          <p:cNvSpPr txBox="1"/>
          <p:nvPr/>
        </p:nvSpPr>
        <p:spPr>
          <a:xfrm>
            <a:off x="453829" y="4433877"/>
            <a:ext cx="2700025" cy="211203"/>
          </a:xfrm>
          <a:prstGeom prst="rect">
            <a:avLst/>
          </a:prstGeom>
          <a:noFill/>
        </p:spPr>
        <p:txBody>
          <a:bodyPr wrap="none" lIns="36000" tIns="36000" rIns="36000" bIns="36000" rtlCol="0">
            <a:spAutoFit/>
          </a:bodyPr>
          <a:lstStyle/>
          <a:p>
            <a:r>
              <a:rPr lang="en-US" altLang="ko-KR" sz="900" b="1" dirty="0">
                <a:solidFill>
                  <a:prstClr val="black"/>
                </a:solidFill>
              </a:rPr>
              <a:t>1.</a:t>
            </a:r>
            <a:r>
              <a:rPr lang="ko-KR" altLang="en-US" sz="900" b="1" dirty="0">
                <a:solidFill>
                  <a:prstClr val="black"/>
                </a:solidFill>
              </a:rPr>
              <a:t>３</a:t>
            </a:r>
            <a:r>
              <a:rPr lang="en-US" altLang="ko-KR" sz="900" b="1" dirty="0">
                <a:solidFill>
                  <a:prstClr val="black"/>
                </a:solidFill>
              </a:rPr>
              <a:t>. </a:t>
            </a:r>
            <a:r>
              <a:rPr lang="ko-KR" altLang="en-US" sz="900" b="1" dirty="0">
                <a:solidFill>
                  <a:prstClr val="black"/>
                </a:solidFill>
              </a:rPr>
              <a:t>기술평가결과 데이터 영역 </a:t>
            </a:r>
            <a:r>
              <a:rPr lang="en-US" altLang="ko-KR" sz="900" b="1" dirty="0">
                <a:solidFill>
                  <a:prstClr val="black"/>
                </a:solidFill>
              </a:rPr>
              <a:t>(</a:t>
            </a:r>
            <a:r>
              <a:rPr lang="en-US" altLang="ko-KR" sz="900" b="1" dirty="0" err="1">
                <a:solidFill>
                  <a:prstClr val="black"/>
                </a:solidFill>
              </a:rPr>
              <a:t>dmt_techEvlRslt</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F2A930D0-DA63-4992-CA95-E67E946F7E43}"/>
              </a:ext>
            </a:extLst>
          </p:cNvPr>
          <p:cNvGraphicFramePr>
            <a:graphicFrameLocks noGrp="1"/>
          </p:cNvGraphicFramePr>
          <p:nvPr/>
        </p:nvGraphicFramePr>
        <p:xfrm>
          <a:off x="452290" y="4646368"/>
          <a:ext cx="8995589" cy="58176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기술평가점수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기술평가점수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기술평가결과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techEvlPasYn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기술평가통과여부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bl>
          </a:graphicData>
        </a:graphic>
      </p:graphicFrame>
      <p:sp>
        <p:nvSpPr>
          <p:cNvPr id="10" name="TextBox 9">
            <a:extLst>
              <a:ext uri="{FF2B5EF4-FFF2-40B4-BE49-F238E27FC236}">
                <a16:creationId xmlns:a16="http://schemas.microsoft.com/office/drawing/2014/main" id="{AFC191B0-9002-6F6F-0B28-C27403F5F797}"/>
              </a:ext>
            </a:extLst>
          </p:cNvPr>
          <p:cNvSpPr txBox="1"/>
          <p:nvPr/>
        </p:nvSpPr>
        <p:spPr>
          <a:xfrm>
            <a:off x="452291" y="5413897"/>
            <a:ext cx="1206178" cy="226591"/>
          </a:xfrm>
          <a:prstGeom prst="rect">
            <a:avLst/>
          </a:prstGeom>
          <a:noFill/>
          <a:ln>
            <a:noFill/>
          </a:ln>
        </p:spPr>
        <p:txBody>
          <a:bodyPr wrap="square" lIns="36000" tIns="36000" rIns="36000" bIns="36000" rtlCol="0">
            <a:spAutoFit/>
          </a:bodyPr>
          <a:lstStyle/>
          <a:p>
            <a:r>
              <a:rPr lang="en-US" altLang="ko-KR" sz="1000" b="1" dirty="0">
                <a:solidFill>
                  <a:prstClr val="black"/>
                </a:solidFill>
              </a:rPr>
              <a:t>2. </a:t>
            </a:r>
            <a:r>
              <a:rPr lang="ko-KR" altLang="en-US" sz="1000" b="1" dirty="0">
                <a:solidFill>
                  <a:prstClr val="black"/>
                </a:solidFill>
              </a:rPr>
              <a:t>이벤트 설명</a:t>
            </a:r>
          </a:p>
        </p:txBody>
      </p:sp>
      <p:graphicFrame>
        <p:nvGraphicFramePr>
          <p:cNvPr id="11" name="표 10">
            <a:extLst>
              <a:ext uri="{FF2B5EF4-FFF2-40B4-BE49-F238E27FC236}">
                <a16:creationId xmlns:a16="http://schemas.microsoft.com/office/drawing/2014/main" id="{20E495AB-10C0-2FDB-F956-51304922B582}"/>
              </a:ext>
            </a:extLst>
          </p:cNvPr>
          <p:cNvGraphicFramePr>
            <a:graphicFrameLocks noGrp="1"/>
          </p:cNvGraphicFramePr>
          <p:nvPr/>
        </p:nvGraphicFramePr>
        <p:xfrm>
          <a:off x="452292" y="5648009"/>
          <a:ext cx="8996300" cy="703680"/>
        </p:xfrm>
        <a:graphic>
          <a:graphicData uri="http://schemas.openxmlformats.org/drawingml/2006/table">
            <a:tbl>
              <a:tblPr>
                <a:tableStyleId>{616DA210-FB5B-4158-B5E0-FEB733F419BA}</a:tableStyleId>
              </a:tblPr>
              <a:tblGrid>
                <a:gridCol w="964311">
                  <a:extLst>
                    <a:ext uri="{9D8B030D-6E8A-4147-A177-3AD203B41FA5}">
                      <a16:colId xmlns:a16="http://schemas.microsoft.com/office/drawing/2014/main" val="20000"/>
                    </a:ext>
                  </a:extLst>
                </a:gridCol>
                <a:gridCol w="964311">
                  <a:extLst>
                    <a:ext uri="{9D8B030D-6E8A-4147-A177-3AD203B41FA5}">
                      <a16:colId xmlns:a16="http://schemas.microsoft.com/office/drawing/2014/main" val="3103963203"/>
                    </a:ext>
                  </a:extLst>
                </a:gridCol>
                <a:gridCol w="3703270">
                  <a:extLst>
                    <a:ext uri="{9D8B030D-6E8A-4147-A177-3AD203B41FA5}">
                      <a16:colId xmlns:a16="http://schemas.microsoft.com/office/drawing/2014/main" val="20001"/>
                    </a:ext>
                  </a:extLst>
                </a:gridCol>
                <a:gridCol w="336440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기술평가결과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기술평가결과조회 팝업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04990108"/>
                  </a:ext>
                </a:extLst>
              </a:tr>
            </a:tbl>
          </a:graphicData>
        </a:graphic>
      </p:graphicFrame>
      <p:sp>
        <p:nvSpPr>
          <p:cNvPr id="4" name="Text Box 73">
            <a:extLst>
              <a:ext uri="{FF2B5EF4-FFF2-40B4-BE49-F238E27FC236}">
                <a16:creationId xmlns:a16="http://schemas.microsoft.com/office/drawing/2014/main" id="{0AA3DA4A-54C6-CDA6-E109-EF5C503E6DE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779A9BF7-5C75-69E5-A015-1A27D1328042}"/>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Tree>
    <p:extLst>
      <p:ext uri="{BB962C8B-B14F-4D97-AF65-F5344CB8AC3E}">
        <p14:creationId xmlns:p14="http://schemas.microsoft.com/office/powerpoint/2010/main" val="35919496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상세정보 팝업</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83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생산능력서류 제출</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생산능력서류 제출</a:t>
            </a:r>
            <a:r>
              <a:rPr lang="ko-KR" altLang="en-US" dirty="0"/>
              <a:t>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a:latin typeface="+mn-ea"/>
              </a:rPr>
              <a:t>생산능력서류 제출</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MUI-BD-03-P06</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2" name="양쪽 모서리가 둥근 사각형 321"/>
          <p:cNvSpPr/>
          <p:nvPr/>
        </p:nvSpPr>
        <p:spPr>
          <a:xfrm>
            <a:off x="3795734" y="1612043"/>
            <a:ext cx="2712027" cy="4629826"/>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26" name="모서리가 둥근 직사각형 325"/>
          <p:cNvSpPr/>
          <p:nvPr/>
        </p:nvSpPr>
        <p:spPr>
          <a:xfrm>
            <a:off x="4881747" y="1642441"/>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27" name="그룹 326"/>
          <p:cNvGrpSpPr/>
          <p:nvPr/>
        </p:nvGrpSpPr>
        <p:grpSpPr>
          <a:xfrm>
            <a:off x="6284673" y="1776857"/>
            <a:ext cx="94010" cy="94010"/>
            <a:chOff x="6812560" y="3297172"/>
            <a:chExt cx="94010" cy="94010"/>
          </a:xfrm>
        </p:grpSpPr>
        <p:cxnSp>
          <p:nvCxnSpPr>
            <p:cNvPr id="328" name="직선 연결선 3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9" name="직선 연결선 3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FFC49AEA-2A8F-250C-A86A-A7751D9706C3}"/>
              </a:ext>
            </a:extLst>
          </p:cNvPr>
          <p:cNvSpPr txBox="1"/>
          <p:nvPr/>
        </p:nvSpPr>
        <p:spPr>
          <a:xfrm>
            <a:off x="3924811" y="1757536"/>
            <a:ext cx="1798758" cy="138499"/>
          </a:xfrm>
          <a:prstGeom prst="rect">
            <a:avLst/>
          </a:prstGeom>
          <a:noFill/>
        </p:spPr>
        <p:txBody>
          <a:bodyPr wrap="square" lIns="0" tIns="0" rIns="0" bIns="0" rtlCol="0">
            <a:spAutoFit/>
          </a:bodyPr>
          <a:lstStyle/>
          <a:p>
            <a:r>
              <a:rPr lang="ko-KR" altLang="en-US" sz="900" dirty="0">
                <a:latin typeface="+mn-ea"/>
              </a:rPr>
              <a:t>생산능력서류 제출</a:t>
            </a:r>
          </a:p>
        </p:txBody>
      </p:sp>
      <p:cxnSp>
        <p:nvCxnSpPr>
          <p:cNvPr id="331" name="직선 연결선 330">
            <a:extLst>
              <a:ext uri="{FF2B5EF4-FFF2-40B4-BE49-F238E27FC236}">
                <a16:creationId xmlns:a16="http://schemas.microsoft.com/office/drawing/2014/main" id="{E9293055-D5CD-4B9E-7F64-64B2D2CA7A52}"/>
              </a:ext>
            </a:extLst>
          </p:cNvPr>
          <p:cNvCxnSpPr/>
          <p:nvPr/>
        </p:nvCxnSpPr>
        <p:spPr>
          <a:xfrm>
            <a:off x="3795734" y="201893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r>
              <a:rPr lang="ko-KR" altLang="en-US" sz="900" dirty="0">
                <a:latin typeface="+mn-ea"/>
              </a:rPr>
              <a:t>생산능력서류 제출</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23032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3795734" y="5614711"/>
            <a:ext cx="2712027" cy="617588"/>
            <a:chOff x="675399" y="5614711"/>
            <a:chExt cx="2712027" cy="617588"/>
          </a:xfrm>
        </p:grpSpPr>
        <p:sp>
          <p:nvSpPr>
            <p:cNvPr id="129" name="직사각형 128">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827499"/>
            <a:ext cx="792000" cy="235867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827499"/>
            <a:ext cx="792000" cy="2369880"/>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a:latin typeface="+mn-ea"/>
              </a:rPr>
              <a:t>총수량</a:t>
            </a:r>
            <a:endParaRPr lang="en-US" altLang="ko-KR" sz="700" dirty="0">
              <a:latin typeface="+mn-ea"/>
            </a:endParaRPr>
          </a:p>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적격심사</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827499"/>
            <a:ext cx="1784088" cy="2369880"/>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ko-KR" altLang="en-US" sz="700" dirty="0">
                <a:latin typeface="+mn-ea"/>
              </a:rPr>
              <a:t>일반확정계약</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2025-12-24 10:30</a:t>
            </a:r>
          </a:p>
        </p:txBody>
      </p:sp>
      <p:grpSp>
        <p:nvGrpSpPr>
          <p:cNvPr id="166" name="그룹 165"/>
          <p:cNvGrpSpPr/>
          <p:nvPr/>
        </p:nvGrpSpPr>
        <p:grpSpPr>
          <a:xfrm>
            <a:off x="720139" y="3827499"/>
            <a:ext cx="2630093" cy="2358676"/>
            <a:chOff x="701175" y="1835481"/>
            <a:chExt cx="2630093" cy="2358676"/>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7590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9737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41941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89" name="TextBox 88">
            <a:extLst>
              <a:ext uri="{FF2B5EF4-FFF2-40B4-BE49-F238E27FC236}">
                <a16:creationId xmlns:a16="http://schemas.microsoft.com/office/drawing/2014/main" id="{FFC49AEA-2A8F-250C-A86A-A7751D9706C3}"/>
              </a:ext>
            </a:extLst>
          </p:cNvPr>
          <p:cNvSpPr txBox="1"/>
          <p:nvPr/>
        </p:nvSpPr>
        <p:spPr>
          <a:xfrm>
            <a:off x="3878080" y="3968989"/>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입찰서 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3" name="모서리가 둥근 직사각형 102"/>
          <p:cNvSpPr/>
          <p:nvPr/>
        </p:nvSpPr>
        <p:spPr>
          <a:xfrm>
            <a:off x="3831550" y="469316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4332218" y="4767687"/>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3909746" y="482154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07" name="모서리가 둥근 직사각형 106"/>
          <p:cNvSpPr/>
          <p:nvPr/>
        </p:nvSpPr>
        <p:spPr>
          <a:xfrm>
            <a:off x="3831550" y="509985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8" name="TextBox 107">
            <a:extLst>
              <a:ext uri="{FF2B5EF4-FFF2-40B4-BE49-F238E27FC236}">
                <a16:creationId xmlns:a16="http://schemas.microsoft.com/office/drawing/2014/main" id="{FFC49AEA-2A8F-250C-A86A-A7751D9706C3}"/>
              </a:ext>
            </a:extLst>
          </p:cNvPr>
          <p:cNvSpPr txBox="1"/>
          <p:nvPr/>
        </p:nvSpPr>
        <p:spPr>
          <a:xfrm>
            <a:off x="4332218" y="517437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909746" y="522823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11" name="사각형: 둥근 모서리 15">
            <a:extLst>
              <a:ext uri="{FF2B5EF4-FFF2-40B4-BE49-F238E27FC236}">
                <a16:creationId xmlns:a16="http://schemas.microsoft.com/office/drawing/2014/main" id="{E2B61CFB-AD16-68D0-8752-50D9C5E01971}"/>
              </a:ext>
            </a:extLst>
          </p:cNvPr>
          <p:cNvSpPr/>
          <p:nvPr/>
        </p:nvSpPr>
        <p:spPr>
          <a:xfrm>
            <a:off x="3831550" y="4257533"/>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4332218" y="4558048"/>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6053706" y="4558048"/>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3838314" y="4558048"/>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18" name="사각형: 둥근 모서리 15">
            <a:extLst>
              <a:ext uri="{FF2B5EF4-FFF2-40B4-BE49-F238E27FC236}">
                <a16:creationId xmlns:a16="http://schemas.microsoft.com/office/drawing/2014/main" id="{E2B61CFB-AD16-68D0-8752-50D9C5E01971}"/>
              </a:ext>
            </a:extLst>
          </p:cNvPr>
          <p:cNvSpPr/>
          <p:nvPr/>
        </p:nvSpPr>
        <p:spPr>
          <a:xfrm>
            <a:off x="6074127" y="5204653"/>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358" name="모서리가 둥근 직사각형 357"/>
          <p:cNvSpPr/>
          <p:nvPr/>
        </p:nvSpPr>
        <p:spPr>
          <a:xfrm rot="5400000">
            <a:off x="5782577" y="4897719"/>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 name="그룹 2"/>
          <p:cNvGrpSpPr/>
          <p:nvPr/>
        </p:nvGrpSpPr>
        <p:grpSpPr>
          <a:xfrm>
            <a:off x="3844632" y="2030017"/>
            <a:ext cx="2630093" cy="1815590"/>
            <a:chOff x="3844632" y="3774686"/>
            <a:chExt cx="2630093" cy="1815590"/>
          </a:xfrm>
        </p:grpSpPr>
        <p:sp>
          <p:nvSpPr>
            <p:cNvPr id="161" name="TextBox 160">
              <a:extLst>
                <a:ext uri="{FF2B5EF4-FFF2-40B4-BE49-F238E27FC236}">
                  <a16:creationId xmlns:a16="http://schemas.microsoft.com/office/drawing/2014/main" id="{FFC49AEA-2A8F-250C-A86A-A7751D9706C3}"/>
                </a:ext>
              </a:extLst>
            </p:cNvPr>
            <p:cNvSpPr txBox="1"/>
            <p:nvPr/>
          </p:nvSpPr>
          <p:spPr>
            <a:xfrm>
              <a:off x="3905603" y="377468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162" name="직사각형 161"/>
            <p:cNvSpPr/>
            <p:nvPr/>
          </p:nvSpPr>
          <p:spPr>
            <a:xfrm>
              <a:off x="3846725" y="4082172"/>
              <a:ext cx="792000" cy="1494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3933789" y="4082171"/>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주민등록번호</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76" name="TextBox 175">
              <a:extLst>
                <a:ext uri="{FF2B5EF4-FFF2-40B4-BE49-F238E27FC236}">
                  <a16:creationId xmlns:a16="http://schemas.microsoft.com/office/drawing/2014/main" id="{FFC49AEA-2A8F-250C-A86A-A7751D9706C3}"/>
                </a:ext>
              </a:extLst>
            </p:cNvPr>
            <p:cNvSpPr txBox="1"/>
            <p:nvPr/>
          </p:nvSpPr>
          <p:spPr>
            <a:xfrm>
              <a:off x="4690637" y="4082171"/>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800123-2******</a:t>
              </a:r>
            </a:p>
            <a:p>
              <a:pPr>
                <a:lnSpc>
                  <a:spcPct val="200000"/>
                </a:lnSpc>
              </a:pPr>
              <a:r>
                <a:rPr lang="en-US" altLang="ko-KR" sz="700" dirty="0">
                  <a:latin typeface="+mn-ea"/>
                </a:rPr>
                <a:t>123-56-78901</a:t>
              </a: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3846725" y="49543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3846725" y="5168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3846725" y="5381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3846725" y="55768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94" name="사각형: 둥근 모서리 15">
            <a:extLst>
              <a:ext uri="{FF2B5EF4-FFF2-40B4-BE49-F238E27FC236}">
                <a16:creationId xmlns:a16="http://schemas.microsoft.com/office/drawing/2014/main" id="{E2B61CFB-AD16-68D0-8752-50D9C5E01971}"/>
              </a:ext>
            </a:extLst>
          </p:cNvPr>
          <p:cNvSpPr/>
          <p:nvPr/>
        </p:nvSpPr>
        <p:spPr>
          <a:xfrm>
            <a:off x="6074127" y="4787861"/>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Tree>
    <p:extLst>
      <p:ext uri="{BB962C8B-B14F-4D97-AF65-F5344CB8AC3E}">
        <p14:creationId xmlns:p14="http://schemas.microsoft.com/office/powerpoint/2010/main" val="7764969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84</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376036"/>
            <a:ext cx="250445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2327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사업유형명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5606574"/>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적격심사실시여부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7916429"/>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588527"/>
          <a:ext cx="8995589" cy="135744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bzentyAddr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업체주소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Box 3">
            <a:extLst>
              <a:ext uri="{FF2B5EF4-FFF2-40B4-BE49-F238E27FC236}">
                <a16:creationId xmlns:a16="http://schemas.microsoft.com/office/drawing/2014/main" id="{123AF279-9584-E5FA-4D97-5D2B41ECDDC5}"/>
              </a:ext>
            </a:extLst>
          </p:cNvPr>
          <p:cNvSpPr txBox="1"/>
          <p:nvPr/>
        </p:nvSpPr>
        <p:spPr>
          <a:xfrm>
            <a:off x="453830" y="5205534"/>
            <a:ext cx="3493511"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생산능력서류 첨부파일 데이터 영역 </a:t>
            </a:r>
            <a:r>
              <a:rPr lang="en-US" altLang="ko-KR" sz="900" b="1" dirty="0">
                <a:solidFill>
                  <a:prstClr val="black"/>
                </a:solidFill>
              </a:rPr>
              <a:t>(</a:t>
            </a:r>
            <a:r>
              <a:rPr lang="en-US" altLang="ko-KR" sz="900" b="1" dirty="0" err="1">
                <a:solidFill>
                  <a:prstClr val="black"/>
                </a:solidFill>
              </a:rPr>
              <a:t>dlt_prdcpAtchFileList</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A4ABA1CF-D2B3-505A-0E66-4350E82C73EC}"/>
              </a:ext>
            </a:extLst>
          </p:cNvPr>
          <p:cNvGraphicFramePr>
            <a:graphicFrameLocks noGrp="1"/>
          </p:cNvGraphicFramePr>
          <p:nvPr/>
        </p:nvGraphicFramePr>
        <p:xfrm>
          <a:off x="452291" y="5418025"/>
          <a:ext cx="8995589" cy="96960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4747051"/>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구분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4101079"/>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파일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 크기 계산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bl>
          </a:graphicData>
        </a:graphic>
      </p:graphicFrame>
      <p:sp>
        <p:nvSpPr>
          <p:cNvPr id="7" name="Text Box 73">
            <a:extLst>
              <a:ext uri="{FF2B5EF4-FFF2-40B4-BE49-F238E27FC236}">
                <a16:creationId xmlns:a16="http://schemas.microsoft.com/office/drawing/2014/main" id="{F595C776-3D87-0A73-ADF3-0DC0B66A1294}"/>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8" name="TextBox 7">
            <a:extLst>
              <a:ext uri="{FF2B5EF4-FFF2-40B4-BE49-F238E27FC236}">
                <a16:creationId xmlns:a16="http://schemas.microsoft.com/office/drawing/2014/main" id="{7F83E209-09E8-F9DE-57BF-7064471EEF05}"/>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Tree>
    <p:extLst>
      <p:ext uri="{BB962C8B-B14F-4D97-AF65-F5344CB8AC3E}">
        <p14:creationId xmlns:p14="http://schemas.microsoft.com/office/powerpoint/2010/main" val="109393862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85</a:t>
            </a:fld>
            <a:endParaRPr lang="ko-KR" altLang="en-US" dirty="0"/>
          </a:p>
        </p:txBody>
      </p:sp>
      <p:sp>
        <p:nvSpPr>
          <p:cNvPr id="2" name="TextBox 1">
            <a:extLst>
              <a:ext uri="{FF2B5EF4-FFF2-40B4-BE49-F238E27FC236}">
                <a16:creationId xmlns:a16="http://schemas.microsoft.com/office/drawing/2014/main" id="{DDA49C32-F6E2-9483-5ED4-B2B17A483DC0}"/>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7BD21460-3155-D6D5-A052-699C456EDC16}"/>
              </a:ext>
            </a:extLst>
          </p:cNvPr>
          <p:cNvGraphicFramePr>
            <a:graphicFrameLocks noGrp="1"/>
          </p:cNvGraphicFramePr>
          <p:nvPr/>
        </p:nvGraphicFramePr>
        <p:xfrm>
          <a:off x="453000" y="1039042"/>
          <a:ext cx="8995591" cy="11414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a:t>
                      </a:r>
                      <a:r>
                        <a:rPr lang="en-US" altLang="ko-KR" sz="800" dirty="0">
                          <a:latin typeface="+mn-ea"/>
                          <a:ea typeface="+mn-ea"/>
                        </a:rPr>
                        <a:t>, </a:t>
                      </a:r>
                      <a:r>
                        <a:rPr lang="ko-KR" altLang="en-US" sz="800" dirty="0">
                          <a:latin typeface="+mn-ea"/>
                          <a:ea typeface="+mn-ea"/>
                        </a:rPr>
                        <a:t>업체내역</a:t>
                      </a:r>
                      <a:r>
                        <a:rPr lang="en-US" altLang="ko-KR" sz="800" dirty="0">
                          <a:latin typeface="+mn-ea"/>
                          <a:ea typeface="+mn-ea"/>
                        </a:rPr>
                        <a:t> </a:t>
                      </a:r>
                      <a:r>
                        <a:rPr lang="ko-KR" altLang="en-US" sz="800" dirty="0">
                          <a:latin typeface="+mn-ea"/>
                          <a:ea typeface="+mn-ea"/>
                        </a:rPr>
                        <a:t>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생산능력서류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제출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scwin.btn_sbmsn_onclick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생산능력서류 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2402367"/>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생산능력서류제출 팝업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Box 73">
            <a:extLst>
              <a:ext uri="{FF2B5EF4-FFF2-40B4-BE49-F238E27FC236}">
                <a16:creationId xmlns:a16="http://schemas.microsoft.com/office/drawing/2014/main" id="{C7861A2A-97DA-F161-CE03-F5FD4A5804C1}"/>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31623786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상세정보 팝업</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86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입찰참가등록반려신청</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입찰참가등록반려신청</a:t>
            </a:r>
            <a:r>
              <a:rPr lang="ko-KR" altLang="en-US" dirty="0"/>
              <a:t> 작성 </a:t>
            </a:r>
            <a:r>
              <a:rPr lang="ko-KR" altLang="en-US" dirty="0" err="1"/>
              <a:t>팝업화면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상세 </a:t>
            </a:r>
            <a:r>
              <a:rPr lang="en-US" altLang="ko-KR" dirty="0">
                <a:latin typeface="+mn-ea"/>
              </a:rPr>
              <a:t>&gt; </a:t>
            </a:r>
            <a:r>
              <a:rPr lang="ko-KR" altLang="en-US" dirty="0" err="1">
                <a:latin typeface="+mn-ea"/>
              </a:rPr>
              <a:t>입찰참가등록반려신청</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MUI-BD-03-P07</a:t>
            </a:r>
            <a:endParaRPr lang="ko-KR" altLang="en-US" dirty="0">
              <a:latin typeface="+mn-ea"/>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2" name="양쪽 모서리가 둥근 사각형 321"/>
          <p:cNvSpPr/>
          <p:nvPr/>
        </p:nvSpPr>
        <p:spPr>
          <a:xfrm>
            <a:off x="3795734" y="2108521"/>
            <a:ext cx="2712027" cy="413334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26" name="모서리가 둥근 직사각형 325"/>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27" name="그룹 326"/>
          <p:cNvGrpSpPr/>
          <p:nvPr/>
        </p:nvGrpSpPr>
        <p:grpSpPr>
          <a:xfrm>
            <a:off x="6284673" y="2273335"/>
            <a:ext cx="94010" cy="94010"/>
            <a:chOff x="6812560" y="3297172"/>
            <a:chExt cx="94010" cy="94010"/>
          </a:xfrm>
        </p:grpSpPr>
        <p:cxnSp>
          <p:nvCxnSpPr>
            <p:cNvPr id="328" name="직선 연결선 3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9" name="직선 연결선 3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pPr fontAlgn="ctr"/>
            <a:r>
              <a:rPr lang="ko-KR" altLang="en-US" sz="900" dirty="0">
                <a:latin typeface="+mn-ea"/>
              </a:rPr>
              <a:t>입찰참가등록반려</a:t>
            </a:r>
          </a:p>
        </p:txBody>
      </p:sp>
      <p:cxnSp>
        <p:nvCxnSpPr>
          <p:cNvPr id="331" name="직선 연결선 330">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pPr fontAlgn="ctr"/>
            <a:r>
              <a:rPr lang="ko-KR" altLang="en-US" sz="900" dirty="0">
                <a:latin typeface="+mn-ea"/>
              </a:rPr>
              <a:t>입찰참가등록반려</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230321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3795734" y="5614711"/>
            <a:ext cx="2712027" cy="617588"/>
            <a:chOff x="675399" y="5614711"/>
            <a:chExt cx="2712027" cy="617588"/>
          </a:xfrm>
        </p:grpSpPr>
        <p:sp>
          <p:nvSpPr>
            <p:cNvPr id="129" name="직사각형 128">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827499"/>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827499"/>
            <a:ext cx="792000" cy="1723549"/>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판단번호</a:t>
            </a:r>
            <a:r>
              <a:rPr lang="en-US" altLang="ko-KR" sz="700" dirty="0">
                <a:latin typeface="+mn-ea"/>
              </a:rPr>
              <a:t>/</a:t>
            </a:r>
            <a:r>
              <a:rPr lang="ko-KR" altLang="en-US" sz="700" dirty="0" err="1">
                <a:latin typeface="+mn-ea"/>
              </a:rPr>
              <a:t>공사번호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827499"/>
            <a:ext cx="1784088" cy="1723549"/>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56349</a:t>
            </a:r>
          </a:p>
          <a:p>
            <a:pPr>
              <a:lnSpc>
                <a:spcPct val="200000"/>
              </a:lnSpc>
            </a:pPr>
            <a:r>
              <a:rPr lang="en-US" altLang="ko-KR" sz="700" dirty="0">
                <a:latin typeface="+mn-ea"/>
              </a:rPr>
              <a:t>2025LDG56349</a:t>
            </a:r>
          </a:p>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123-56-78901</a:t>
            </a:r>
          </a:p>
        </p:txBody>
      </p:sp>
      <p:grpSp>
        <p:nvGrpSpPr>
          <p:cNvPr id="166" name="그룹 165"/>
          <p:cNvGrpSpPr/>
          <p:nvPr/>
        </p:nvGrpSpPr>
        <p:grpSpPr>
          <a:xfrm>
            <a:off x="720139" y="3827499"/>
            <a:ext cx="2630093" cy="1723549"/>
            <a:chOff x="701175" y="1835481"/>
            <a:chExt cx="2630093" cy="1723549"/>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81" name="모서리가 둥근 직사각형 180"/>
          <p:cNvSpPr/>
          <p:nvPr/>
        </p:nvSpPr>
        <p:spPr>
          <a:xfrm>
            <a:off x="3859820" y="2621838"/>
            <a:ext cx="2579992" cy="987891"/>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2" name="TextBox 181">
            <a:extLst>
              <a:ext uri="{FF2B5EF4-FFF2-40B4-BE49-F238E27FC236}">
                <a16:creationId xmlns:a16="http://schemas.microsoft.com/office/drawing/2014/main" id="{FFC49AEA-2A8F-250C-A86A-A7751D9706C3}"/>
              </a:ext>
            </a:extLst>
          </p:cNvPr>
          <p:cNvSpPr txBox="1"/>
          <p:nvPr/>
        </p:nvSpPr>
        <p:spPr>
          <a:xfrm>
            <a:off x="3997244" y="2792618"/>
            <a:ext cx="2305144" cy="646331"/>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부대에 제출한 전자입찰서를 </a:t>
            </a:r>
            <a:r>
              <a:rPr lang="ko-KR" altLang="en-US" sz="700" dirty="0" err="1">
                <a:latin typeface="맑은 고딕" panose="020B0503020000020004" pitchFamily="50" charset="-127"/>
              </a:rPr>
              <a:t>취소하오니</a:t>
            </a:r>
            <a:r>
              <a:rPr lang="en-US" altLang="ko-KR" sz="700" dirty="0">
                <a:latin typeface="맑은 고딕" panose="020B0503020000020004" pitchFamily="50" charset="-127"/>
              </a:rPr>
              <a:t>, </a:t>
            </a:r>
            <a:r>
              <a:rPr lang="ko-KR" altLang="en-US" sz="700" dirty="0">
                <a:latin typeface="맑은 고딕" panose="020B0503020000020004" pitchFamily="50" charset="-127"/>
              </a:rPr>
              <a:t>무효 처리하여 주시기 바랍니다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000000</a:t>
            </a:r>
            <a:r>
              <a:rPr lang="ko-KR" altLang="en-US" sz="700" dirty="0">
                <a:latin typeface="맑은 고딕" panose="020B0503020000020004" pitchFamily="50" charset="-127"/>
              </a:rPr>
              <a:t> 재무관 귀하</a:t>
            </a:r>
            <a:endParaRPr lang="en-US" altLang="ko-KR" sz="700" dirty="0">
              <a:latin typeface="맑은 고딕" panose="020B0503020000020004" pitchFamily="50" charset="-127"/>
            </a:endParaRPr>
          </a:p>
        </p:txBody>
      </p:sp>
      <p:sp>
        <p:nvSpPr>
          <p:cNvPr id="358" name="모서리가 둥근 직사각형 357"/>
          <p:cNvSpPr/>
          <p:nvPr/>
        </p:nvSpPr>
        <p:spPr>
          <a:xfrm rot="5400000">
            <a:off x="5782577" y="4897719"/>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361766805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87</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bl>
          </a:graphicData>
        </a:graphic>
      </p:graphicFrame>
      <p:sp>
        <p:nvSpPr>
          <p:cNvPr id="4" name="TextBox 3">
            <a:extLst>
              <a:ext uri="{FF2B5EF4-FFF2-40B4-BE49-F238E27FC236}">
                <a16:creationId xmlns:a16="http://schemas.microsoft.com/office/drawing/2014/main" id="{7E629CCF-A9E0-CB28-6B33-88629597C422}"/>
              </a:ext>
            </a:extLst>
          </p:cNvPr>
          <p:cNvSpPr txBox="1"/>
          <p:nvPr/>
        </p:nvSpPr>
        <p:spPr>
          <a:xfrm>
            <a:off x="452291" y="2885851"/>
            <a:ext cx="1206178" cy="226591"/>
          </a:xfrm>
          <a:prstGeom prst="rect">
            <a:avLst/>
          </a:prstGeom>
          <a:noFill/>
          <a:ln>
            <a:noFill/>
          </a:ln>
        </p:spPr>
        <p:txBody>
          <a:bodyPr wrap="square" lIns="36000" tIns="36000" rIns="36000" bIns="36000" rtlCol="0">
            <a:spAutoFit/>
          </a:bodyPr>
          <a:lstStyle/>
          <a:p>
            <a:r>
              <a:rPr lang="en-US" altLang="ko-KR" sz="1000" b="1" dirty="0">
                <a:solidFill>
                  <a:prstClr val="black"/>
                </a:solidFill>
              </a:rPr>
              <a:t>2. </a:t>
            </a:r>
            <a:r>
              <a:rPr lang="ko-KR" altLang="en-US" sz="1000" b="1" dirty="0">
                <a:solidFill>
                  <a:prstClr val="black"/>
                </a:solidFill>
              </a:rPr>
              <a:t>이벤트 설명</a:t>
            </a:r>
          </a:p>
        </p:txBody>
      </p:sp>
      <p:graphicFrame>
        <p:nvGraphicFramePr>
          <p:cNvPr id="5" name="표 4">
            <a:extLst>
              <a:ext uri="{FF2B5EF4-FFF2-40B4-BE49-F238E27FC236}">
                <a16:creationId xmlns:a16="http://schemas.microsoft.com/office/drawing/2014/main" id="{FB5D07D1-0B08-23C2-B52D-CACE42A3CDAA}"/>
              </a:ext>
            </a:extLst>
          </p:cNvPr>
          <p:cNvGraphicFramePr>
            <a:graphicFrameLocks noGrp="1"/>
          </p:cNvGraphicFramePr>
          <p:nvPr/>
        </p:nvGraphicFramePr>
        <p:xfrm>
          <a:off x="452292" y="3119961"/>
          <a:ext cx="8996300" cy="1579200"/>
        </p:xfrm>
        <a:graphic>
          <a:graphicData uri="http://schemas.openxmlformats.org/drawingml/2006/table">
            <a:tbl>
              <a:tblPr>
                <a:tableStyleId>{616DA210-FB5B-4158-B5E0-FEB733F419BA}</a:tableStyleId>
              </a:tblPr>
              <a:tblGrid>
                <a:gridCol w="964311">
                  <a:extLst>
                    <a:ext uri="{9D8B030D-6E8A-4147-A177-3AD203B41FA5}">
                      <a16:colId xmlns:a16="http://schemas.microsoft.com/office/drawing/2014/main" val="20000"/>
                    </a:ext>
                  </a:extLst>
                </a:gridCol>
                <a:gridCol w="964311">
                  <a:extLst>
                    <a:ext uri="{9D8B030D-6E8A-4147-A177-3AD203B41FA5}">
                      <a16:colId xmlns:a16="http://schemas.microsoft.com/office/drawing/2014/main" val="3103963203"/>
                    </a:ext>
                  </a:extLst>
                </a:gridCol>
                <a:gridCol w="3703270">
                  <a:extLst>
                    <a:ext uri="{9D8B030D-6E8A-4147-A177-3AD203B41FA5}">
                      <a16:colId xmlns:a16="http://schemas.microsoft.com/office/drawing/2014/main" val="20001"/>
                    </a:ext>
                  </a:extLst>
                </a:gridCol>
                <a:gridCol w="336440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 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입찰참가등록반려</a:t>
                      </a:r>
                      <a:r>
                        <a:rPr lang="ko-KR" altLang="en-US" sz="800" dirty="0">
                          <a:latin typeface="+mn-ea"/>
                          <a:ea typeface="+mn-ea"/>
                        </a:rPr>
                        <a:t> 조회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신청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scwin.btn_bidPrtcpRegRjctAply_onclick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입찰참가등록반려</a:t>
                      </a:r>
                      <a:r>
                        <a:rPr lang="ko-KR" altLang="en-US" sz="800" dirty="0">
                          <a:latin typeface="+mn-ea"/>
                          <a:ea typeface="+mn-ea"/>
                        </a:rPr>
                        <a:t> 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2649935"/>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출력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scwin.btn_print_onclick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입찰참가등록반려</a:t>
                      </a:r>
                      <a:r>
                        <a:rPr lang="ko-KR" altLang="en-US" sz="800" dirty="0">
                          <a:latin typeface="+mn-ea"/>
                          <a:ea typeface="+mn-ea"/>
                        </a:rPr>
                        <a:t> 신청서 출력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11032434"/>
                  </a:ext>
                </a:extLst>
              </a:tr>
              <a:tr h="11517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입찰참가등록반려</a:t>
                      </a:r>
                      <a:r>
                        <a:rPr lang="ko-KR" altLang="en-US" sz="800" dirty="0">
                          <a:latin typeface="+mn-ea"/>
                          <a:ea typeface="+mn-ea"/>
                        </a:rPr>
                        <a:t> 팝업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2532704"/>
                  </a:ext>
                </a:extLst>
              </a:tr>
            </a:tbl>
          </a:graphicData>
        </a:graphic>
      </p:graphicFrame>
      <p:sp>
        <p:nvSpPr>
          <p:cNvPr id="2" name="Text Box 73">
            <a:extLst>
              <a:ext uri="{FF2B5EF4-FFF2-40B4-BE49-F238E27FC236}">
                <a16:creationId xmlns:a16="http://schemas.microsoft.com/office/drawing/2014/main" id="{963B2929-6FCD-AD10-AECD-B565B16C47AC}"/>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9F9F76A9-DCCB-1744-CF12-5F6A3CAE9DAC}"/>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Tree>
    <p:extLst>
      <p:ext uri="{BB962C8B-B14F-4D97-AF65-F5344CB8AC3E}">
        <p14:creationId xmlns:p14="http://schemas.microsoft.com/office/powerpoint/2010/main" val="175712522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업무도움</a:t>
            </a:r>
            <a:r>
              <a:rPr lang="ko-KR" altLang="en-US" dirty="0"/>
              <a:t> 내용이 있는 경우 표시</a:t>
            </a:r>
            <a:endParaRPr lang="en-US" altLang="ko-KR" dirty="0"/>
          </a:p>
          <a:p>
            <a:pPr marL="228600" indent="-228600">
              <a:buFont typeface="+mj-lt"/>
              <a:buAutoNum type="arabicPeriod"/>
            </a:pPr>
            <a:r>
              <a:rPr lang="ko-KR" altLang="en-US" dirty="0"/>
              <a:t>공고 일반 내용 표시</a:t>
            </a:r>
            <a:endParaRPr lang="en-US" altLang="ko-KR" dirty="0"/>
          </a:p>
          <a:p>
            <a:pPr marL="228600" indent="-228600">
              <a:buFont typeface="+mj-lt"/>
              <a:buAutoNum type="arabicPeriod"/>
            </a:pPr>
            <a:r>
              <a:rPr lang="ko-KR" altLang="en-US" dirty="0"/>
              <a:t>업체 내역 표시</a:t>
            </a:r>
            <a:endParaRPr lang="en-US" altLang="ko-KR" dirty="0"/>
          </a:p>
          <a:p>
            <a:pPr marL="228600" indent="-228600">
              <a:buFont typeface="+mj-lt"/>
              <a:buAutoNum type="arabicPeriod"/>
            </a:pPr>
            <a:r>
              <a:rPr lang="ko-KR" altLang="en-US" dirty="0"/>
              <a:t>첨부파일 내역 표시</a:t>
            </a:r>
            <a:endParaRPr lang="en-US" altLang="ko-KR" dirty="0"/>
          </a:p>
          <a:p>
            <a:pPr marL="228600" indent="-228600">
              <a:buFont typeface="+mj-lt"/>
              <a:buAutoNum type="arabicPeriod"/>
            </a:pPr>
            <a:r>
              <a:rPr lang="ko-KR" altLang="en-US" dirty="0"/>
              <a:t>동의서</a:t>
            </a:r>
            <a:r>
              <a:rPr lang="en-US" altLang="ko-KR" dirty="0"/>
              <a:t>, </a:t>
            </a:r>
            <a:r>
              <a:rPr lang="ko-KR" altLang="en-US" dirty="0"/>
              <a:t>확약서 내용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88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사전심사신청</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사전심사 대상인 공고에 사전심사를 신청하는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사전심사</a:t>
            </a:r>
            <a:r>
              <a:rPr lang="en-US" altLang="ko-KR" dirty="0">
                <a:latin typeface="+mn-ea"/>
              </a:rPr>
              <a:t> </a:t>
            </a:r>
            <a:r>
              <a:rPr lang="ko-KR" altLang="en-US" dirty="0">
                <a:latin typeface="+mn-ea"/>
              </a:rPr>
              <a:t>진행</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MUI-BD-02-M01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184514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7935" y="1936620"/>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280613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2498651"/>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252999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2611982"/>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3795734" y="5914953"/>
            <a:ext cx="2712027" cy="617588"/>
            <a:chOff x="675399" y="5614711"/>
            <a:chExt cx="2712027" cy="617588"/>
          </a:xfrm>
        </p:grpSpPr>
        <p:sp>
          <p:nvSpPr>
            <p:cNvPr id="129" name="직사각형 128">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신청하기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53" name="TextBox 152">
            <a:extLst>
              <a:ext uri="{FF2B5EF4-FFF2-40B4-BE49-F238E27FC236}">
                <a16:creationId xmlns:a16="http://schemas.microsoft.com/office/drawing/2014/main" id="{FFC49AEA-2A8F-250C-A86A-A7751D9706C3}"/>
              </a:ext>
            </a:extLst>
          </p:cNvPr>
          <p:cNvSpPr txBox="1"/>
          <p:nvPr/>
        </p:nvSpPr>
        <p:spPr>
          <a:xfrm>
            <a:off x="781109" y="2849748"/>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공고일반</a:t>
            </a:r>
            <a:endParaRPr lang="ko-KR" altLang="en-US" sz="700" dirty="0">
              <a:latin typeface="+mn-ea"/>
            </a:endParaRPr>
          </a:p>
        </p:txBody>
      </p:sp>
      <p:sp>
        <p:nvSpPr>
          <p:cNvPr id="154" name="직사각형 153"/>
          <p:cNvSpPr/>
          <p:nvPr/>
        </p:nvSpPr>
        <p:spPr>
          <a:xfrm>
            <a:off x="722232" y="3157233"/>
            <a:ext cx="792000" cy="235867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3157233"/>
            <a:ext cx="792000" cy="2369880"/>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a:latin typeface="+mn-ea"/>
              </a:rPr>
              <a:t>총수량</a:t>
            </a:r>
            <a:endParaRPr lang="en-US" altLang="ko-KR" sz="700" dirty="0">
              <a:latin typeface="+mn-ea"/>
            </a:endParaRPr>
          </a:p>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적격심사</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566144" y="3157233"/>
            <a:ext cx="1784088" cy="2369880"/>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ko-KR" altLang="en-US" sz="700" dirty="0">
                <a:latin typeface="+mn-ea"/>
              </a:rPr>
              <a:t>일반확정계약</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2025-12-24 10:30</a:t>
            </a:r>
          </a:p>
        </p:txBody>
      </p:sp>
      <p:grpSp>
        <p:nvGrpSpPr>
          <p:cNvPr id="166" name="그룹 165"/>
          <p:cNvGrpSpPr/>
          <p:nvPr/>
        </p:nvGrpSpPr>
        <p:grpSpPr>
          <a:xfrm>
            <a:off x="720139" y="3157233"/>
            <a:ext cx="2630093" cy="2358676"/>
            <a:chOff x="701175" y="1835481"/>
            <a:chExt cx="2630093" cy="2358676"/>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7590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9737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41941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16668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89" name="TextBox 88">
            <a:extLst>
              <a:ext uri="{FF2B5EF4-FFF2-40B4-BE49-F238E27FC236}">
                <a16:creationId xmlns:a16="http://schemas.microsoft.com/office/drawing/2014/main" id="{FFC49AEA-2A8F-250C-A86A-A7751D9706C3}"/>
              </a:ext>
            </a:extLst>
          </p:cNvPr>
          <p:cNvSpPr txBox="1"/>
          <p:nvPr/>
        </p:nvSpPr>
        <p:spPr>
          <a:xfrm>
            <a:off x="3878080" y="3420082"/>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3" name="모서리가 둥근 직사각형 102"/>
          <p:cNvSpPr/>
          <p:nvPr/>
        </p:nvSpPr>
        <p:spPr>
          <a:xfrm>
            <a:off x="3831550" y="411791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4332218" y="4192440"/>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3909746" y="424630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07" name="모서리가 둥근 직사각형 106"/>
          <p:cNvSpPr/>
          <p:nvPr/>
        </p:nvSpPr>
        <p:spPr>
          <a:xfrm>
            <a:off x="3831550" y="4524605"/>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8" name="TextBox 107">
            <a:extLst>
              <a:ext uri="{FF2B5EF4-FFF2-40B4-BE49-F238E27FC236}">
                <a16:creationId xmlns:a16="http://schemas.microsoft.com/office/drawing/2014/main" id="{FFC49AEA-2A8F-250C-A86A-A7751D9706C3}"/>
              </a:ext>
            </a:extLst>
          </p:cNvPr>
          <p:cNvSpPr txBox="1"/>
          <p:nvPr/>
        </p:nvSpPr>
        <p:spPr>
          <a:xfrm>
            <a:off x="4332218" y="4599126"/>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909746" y="4652987"/>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11" name="사각형: 둥근 모서리 15">
            <a:extLst>
              <a:ext uri="{FF2B5EF4-FFF2-40B4-BE49-F238E27FC236}">
                <a16:creationId xmlns:a16="http://schemas.microsoft.com/office/drawing/2014/main" id="{E2B61CFB-AD16-68D0-8752-50D9C5E01971}"/>
              </a:ext>
            </a:extLst>
          </p:cNvPr>
          <p:cNvSpPr/>
          <p:nvPr/>
        </p:nvSpPr>
        <p:spPr>
          <a:xfrm>
            <a:off x="3831550" y="3689671"/>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4332218" y="3982801"/>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6070642" y="3982801"/>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3838314" y="3982801"/>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18" name="사각형: 둥근 모서리 15">
            <a:extLst>
              <a:ext uri="{FF2B5EF4-FFF2-40B4-BE49-F238E27FC236}">
                <a16:creationId xmlns:a16="http://schemas.microsoft.com/office/drawing/2014/main" id="{E2B61CFB-AD16-68D0-8752-50D9C5E01971}"/>
              </a:ext>
            </a:extLst>
          </p:cNvPr>
          <p:cNvSpPr/>
          <p:nvPr/>
        </p:nvSpPr>
        <p:spPr>
          <a:xfrm>
            <a:off x="6091063" y="4629406"/>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358" name="모서리가 둥근 직사각형 357"/>
          <p:cNvSpPr/>
          <p:nvPr/>
        </p:nvSpPr>
        <p:spPr>
          <a:xfrm rot="5400000">
            <a:off x="5782577" y="4897719"/>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 name="그룹 2"/>
          <p:cNvGrpSpPr/>
          <p:nvPr/>
        </p:nvGrpSpPr>
        <p:grpSpPr>
          <a:xfrm>
            <a:off x="3844632" y="1537723"/>
            <a:ext cx="2630093" cy="1815590"/>
            <a:chOff x="3844632" y="3774686"/>
            <a:chExt cx="2630093" cy="1815590"/>
          </a:xfrm>
        </p:grpSpPr>
        <p:sp>
          <p:nvSpPr>
            <p:cNvPr id="161" name="TextBox 160">
              <a:extLst>
                <a:ext uri="{FF2B5EF4-FFF2-40B4-BE49-F238E27FC236}">
                  <a16:creationId xmlns:a16="http://schemas.microsoft.com/office/drawing/2014/main" id="{FFC49AEA-2A8F-250C-A86A-A7751D9706C3}"/>
                </a:ext>
              </a:extLst>
            </p:cNvPr>
            <p:cNvSpPr txBox="1"/>
            <p:nvPr/>
          </p:nvSpPr>
          <p:spPr>
            <a:xfrm>
              <a:off x="3905603" y="377468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162" name="직사각형 161"/>
            <p:cNvSpPr/>
            <p:nvPr/>
          </p:nvSpPr>
          <p:spPr>
            <a:xfrm>
              <a:off x="3846725" y="4082172"/>
              <a:ext cx="792000" cy="1494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3933789" y="4082171"/>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주민등록번호</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76" name="TextBox 175">
              <a:extLst>
                <a:ext uri="{FF2B5EF4-FFF2-40B4-BE49-F238E27FC236}">
                  <a16:creationId xmlns:a16="http://schemas.microsoft.com/office/drawing/2014/main" id="{FFC49AEA-2A8F-250C-A86A-A7751D9706C3}"/>
                </a:ext>
              </a:extLst>
            </p:cNvPr>
            <p:cNvSpPr txBox="1"/>
            <p:nvPr/>
          </p:nvSpPr>
          <p:spPr>
            <a:xfrm>
              <a:off x="4690637" y="4082171"/>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800123-2******</a:t>
              </a:r>
            </a:p>
            <a:p>
              <a:pPr>
                <a:lnSpc>
                  <a:spcPct val="200000"/>
                </a:lnSpc>
              </a:pPr>
              <a:r>
                <a:rPr lang="en-US" altLang="ko-KR" sz="700" dirty="0">
                  <a:latin typeface="+mn-ea"/>
                </a:rPr>
                <a:t>123-56-78901</a:t>
              </a: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3846725" y="49543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3846725" y="5168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3846725" y="5381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3846725" y="55768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94" name="사각형: 둥근 모서리 15">
            <a:extLst>
              <a:ext uri="{FF2B5EF4-FFF2-40B4-BE49-F238E27FC236}">
                <a16:creationId xmlns:a16="http://schemas.microsoft.com/office/drawing/2014/main" id="{E2B61CFB-AD16-68D0-8752-50D9C5E01971}"/>
              </a:ext>
            </a:extLst>
          </p:cNvPr>
          <p:cNvSpPr/>
          <p:nvPr/>
        </p:nvSpPr>
        <p:spPr>
          <a:xfrm>
            <a:off x="6091063" y="4212614"/>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사전심사 신청</a:t>
            </a:r>
          </a:p>
        </p:txBody>
      </p:sp>
      <p:grpSp>
        <p:nvGrpSpPr>
          <p:cNvPr id="113" name="그룹 112"/>
          <p:cNvGrpSpPr/>
          <p:nvPr/>
        </p:nvGrpSpPr>
        <p:grpSpPr>
          <a:xfrm rot="5400000">
            <a:off x="755013" y="1640499"/>
            <a:ext cx="94010" cy="47005"/>
            <a:chOff x="6812560" y="3297172"/>
            <a:chExt cx="94010" cy="47005"/>
          </a:xfrm>
        </p:grpSpPr>
        <p:cxnSp>
          <p:nvCxnSpPr>
            <p:cNvPr id="119" name="직선 연결선 1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5" name="타원 124"/>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타원 115">
            <a:extLst>
              <a:ext uri="{FF2B5EF4-FFF2-40B4-BE49-F238E27FC236}">
                <a16:creationId xmlns:a16="http://schemas.microsoft.com/office/drawing/2014/main" id="{37A7FF4F-0EAA-1463-560A-D5EC24416103}"/>
              </a:ext>
            </a:extLst>
          </p:cNvPr>
          <p:cNvSpPr/>
          <p:nvPr/>
        </p:nvSpPr>
        <p:spPr>
          <a:xfrm>
            <a:off x="577700" y="253976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1" name="타원 150">
            <a:extLst>
              <a:ext uri="{FF2B5EF4-FFF2-40B4-BE49-F238E27FC236}">
                <a16:creationId xmlns:a16="http://schemas.microsoft.com/office/drawing/2014/main" id="{37A7FF4F-0EAA-1463-560A-D5EC24416103}"/>
              </a:ext>
            </a:extLst>
          </p:cNvPr>
          <p:cNvSpPr/>
          <p:nvPr/>
        </p:nvSpPr>
        <p:spPr>
          <a:xfrm>
            <a:off x="589334" y="289022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cxnSp>
        <p:nvCxnSpPr>
          <p:cNvPr id="139" name="직선 연결선 138">
            <a:extLst>
              <a:ext uri="{FF2B5EF4-FFF2-40B4-BE49-F238E27FC236}">
                <a16:creationId xmlns:a16="http://schemas.microsoft.com/office/drawing/2014/main" id="{E9293055-D5CD-4B9E-7F64-64B2D2CA7A52}"/>
              </a:ext>
            </a:extLst>
          </p:cNvPr>
          <p:cNvCxnSpPr/>
          <p:nvPr/>
        </p:nvCxnSpPr>
        <p:spPr>
          <a:xfrm>
            <a:off x="3837207" y="50142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0" name="TextBox 139">
            <a:extLst>
              <a:ext uri="{FF2B5EF4-FFF2-40B4-BE49-F238E27FC236}">
                <a16:creationId xmlns:a16="http://schemas.microsoft.com/office/drawing/2014/main" id="{FFC49AEA-2A8F-250C-A86A-A7751D9706C3}"/>
              </a:ext>
            </a:extLst>
          </p:cNvPr>
          <p:cNvSpPr txBox="1"/>
          <p:nvPr/>
        </p:nvSpPr>
        <p:spPr>
          <a:xfrm>
            <a:off x="3905672" y="5136703"/>
            <a:ext cx="2473940" cy="646331"/>
          </a:xfrm>
          <a:prstGeom prst="rect">
            <a:avLst/>
          </a:prstGeom>
          <a:noFill/>
        </p:spPr>
        <p:txBody>
          <a:bodyPr wrap="square" lIns="0" tIns="0" rIns="0" bIns="0" rtlCol="0">
            <a:spAutoFit/>
          </a:bodyPr>
          <a:lstStyle/>
          <a:p>
            <a:r>
              <a:rPr lang="ko-KR" altLang="en-US" sz="700" dirty="0">
                <a:latin typeface="맑은 고딕" panose="020B0503020000020004" pitchFamily="50" charset="-127"/>
              </a:rPr>
              <a:t>위 공사에 대한 </a:t>
            </a:r>
            <a:r>
              <a:rPr lang="ko-KR" altLang="en-US" sz="700" dirty="0" err="1">
                <a:latin typeface="맑은 고딕" panose="020B0503020000020004" pitchFamily="50" charset="-127"/>
              </a:rPr>
              <a:t>입찰참가자격심사서류를</a:t>
            </a:r>
            <a:r>
              <a:rPr lang="ko-KR" altLang="en-US" sz="700" dirty="0">
                <a:latin typeface="맑은 고딕" panose="020B0503020000020004" pitchFamily="50" charset="-127"/>
              </a:rPr>
              <a:t> 붙임과 같이 </a:t>
            </a:r>
            <a:r>
              <a:rPr lang="ko-KR" altLang="en-US" sz="700" dirty="0" err="1">
                <a:latin typeface="맑은 고딕" panose="020B0503020000020004" pitchFamily="50" charset="-127"/>
              </a:rPr>
              <a:t>제출하오니</a:t>
            </a:r>
            <a:r>
              <a:rPr lang="ko-KR" altLang="en-US" sz="700" dirty="0">
                <a:latin typeface="맑은 고딕" panose="020B0503020000020004" pitchFamily="50" charset="-127"/>
              </a:rPr>
              <a:t> 우리회사</a:t>
            </a:r>
            <a:r>
              <a:rPr lang="en-US" altLang="ko-KR" sz="700" dirty="0">
                <a:latin typeface="맑은 고딕" panose="020B0503020000020004" pitchFamily="50" charset="-127"/>
              </a:rPr>
              <a:t>(</a:t>
            </a:r>
            <a:r>
              <a:rPr lang="ko-KR" altLang="en-US" sz="700" dirty="0">
                <a:latin typeface="맑은 고딕" panose="020B0503020000020004" pitchFamily="50" charset="-127"/>
              </a:rPr>
              <a:t>공동수급체구성원 포함</a:t>
            </a:r>
            <a:r>
              <a:rPr lang="en-US" altLang="ko-KR" sz="700" dirty="0">
                <a:latin typeface="맑은 고딕" panose="020B0503020000020004" pitchFamily="50" charset="-127"/>
              </a:rPr>
              <a:t>)</a:t>
            </a:r>
            <a:r>
              <a:rPr lang="ko-KR" altLang="en-US" sz="700" dirty="0">
                <a:latin typeface="맑은 고딕" panose="020B0503020000020004" pitchFamily="50" charset="-127"/>
              </a:rPr>
              <a:t>에 대하여 붙임 자료에 의거 입찰참가자격을 심사</a:t>
            </a:r>
            <a:r>
              <a:rPr lang="en-US" altLang="ko-KR" sz="700" dirty="0">
                <a:latin typeface="맑은 고딕" panose="020B0503020000020004" pitchFamily="50" charset="-127"/>
              </a:rPr>
              <a:t>(</a:t>
            </a:r>
            <a:r>
              <a:rPr lang="ko-KR" altLang="en-US" sz="700" dirty="0">
                <a:latin typeface="맑은 고딕" panose="020B0503020000020004" pitchFamily="50" charset="-127"/>
              </a:rPr>
              <a:t>향후 적격심사 포함</a:t>
            </a:r>
            <a:r>
              <a:rPr lang="en-US" altLang="ko-KR" sz="700" dirty="0">
                <a:latin typeface="맑은 고딕" panose="020B0503020000020004" pitchFamily="50" charset="-127"/>
              </a:rPr>
              <a:t>)</a:t>
            </a:r>
            <a:r>
              <a:rPr lang="ko-KR" altLang="en-US" sz="700" dirty="0">
                <a:latin typeface="맑은 고딕" panose="020B0503020000020004" pitchFamily="50" charset="-127"/>
              </a:rPr>
              <a:t>하여 주시기 바라며</a:t>
            </a:r>
            <a:r>
              <a:rPr lang="en-US" altLang="ko-KR" sz="700" dirty="0">
                <a:latin typeface="맑은 고딕" panose="020B0503020000020004" pitchFamily="50" charset="-127"/>
              </a:rPr>
              <a:t>, </a:t>
            </a:r>
            <a:r>
              <a:rPr lang="ko-KR" altLang="en-US" sz="700" dirty="0">
                <a:latin typeface="맑은 고딕" panose="020B0503020000020004" pitchFamily="50" charset="-127"/>
              </a:rPr>
              <a:t>만일 제출 서류가 귀 부대 심사기준 제</a:t>
            </a:r>
            <a:r>
              <a:rPr lang="en-US" altLang="ko-KR" sz="700" dirty="0">
                <a:latin typeface="맑은 고딕" panose="020B0503020000020004" pitchFamily="50" charset="-127"/>
              </a:rPr>
              <a:t>10</a:t>
            </a:r>
            <a:r>
              <a:rPr lang="ko-KR" altLang="en-US" sz="700" dirty="0">
                <a:latin typeface="맑은 고딕" panose="020B0503020000020004" pitchFamily="50" charset="-127"/>
              </a:rPr>
              <a:t>조 제</a:t>
            </a:r>
            <a:r>
              <a:rPr lang="en-US" altLang="ko-KR" sz="700" dirty="0">
                <a:latin typeface="맑은 고딕" panose="020B0503020000020004" pitchFamily="50" charset="-127"/>
              </a:rPr>
              <a:t>2</a:t>
            </a:r>
            <a:r>
              <a:rPr lang="ko-KR" altLang="en-US" sz="700" dirty="0">
                <a:latin typeface="맑은 고딕" panose="020B0503020000020004" pitchFamily="50" charset="-127"/>
              </a:rPr>
              <a:t>항의 기준에 저촉되면 귀 부대 심사기준에 따라 조치하여도 아무런 이의를 제기하지 않겠음을 확약합니다</a:t>
            </a:r>
            <a:r>
              <a:rPr lang="en-US" altLang="ko-KR" sz="700" dirty="0">
                <a:latin typeface="맑은 고딕" panose="020B0503020000020004" pitchFamily="50" charset="-127"/>
              </a:rPr>
              <a:t>.</a:t>
            </a:r>
            <a:endParaRPr lang="ko-KR" altLang="en-US" sz="700" dirty="0">
              <a:latin typeface="+mn-ea"/>
            </a:endParaRPr>
          </a:p>
        </p:txBody>
      </p:sp>
      <p:sp>
        <p:nvSpPr>
          <p:cNvPr id="144" name="타원 143">
            <a:extLst>
              <a:ext uri="{FF2B5EF4-FFF2-40B4-BE49-F238E27FC236}">
                <a16:creationId xmlns:a16="http://schemas.microsoft.com/office/drawing/2014/main" id="{37A7FF4F-0EAA-1463-560A-D5EC24416103}"/>
              </a:ext>
            </a:extLst>
          </p:cNvPr>
          <p:cNvSpPr/>
          <p:nvPr/>
        </p:nvSpPr>
        <p:spPr>
          <a:xfrm>
            <a:off x="3711091" y="156639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45" name="타원 144">
            <a:extLst>
              <a:ext uri="{FF2B5EF4-FFF2-40B4-BE49-F238E27FC236}">
                <a16:creationId xmlns:a16="http://schemas.microsoft.com/office/drawing/2014/main" id="{37A7FF4F-0EAA-1463-560A-D5EC24416103}"/>
              </a:ext>
            </a:extLst>
          </p:cNvPr>
          <p:cNvSpPr/>
          <p:nvPr/>
        </p:nvSpPr>
        <p:spPr>
          <a:xfrm>
            <a:off x="3711091" y="346556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147" name="타원 146">
            <a:extLst>
              <a:ext uri="{FF2B5EF4-FFF2-40B4-BE49-F238E27FC236}">
                <a16:creationId xmlns:a16="http://schemas.microsoft.com/office/drawing/2014/main" id="{37A7FF4F-0EAA-1463-560A-D5EC24416103}"/>
              </a:ext>
            </a:extLst>
          </p:cNvPr>
          <p:cNvSpPr/>
          <p:nvPr/>
        </p:nvSpPr>
        <p:spPr>
          <a:xfrm>
            <a:off x="3711091" y="50351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Tree>
    <p:extLst>
      <p:ext uri="{BB962C8B-B14F-4D97-AF65-F5344CB8AC3E}">
        <p14:creationId xmlns:p14="http://schemas.microsoft.com/office/powerpoint/2010/main" val="369698323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89</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공사내역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555322"/>
            <a:ext cx="2501253"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25209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발주기관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공사구분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cstrnSenm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공사구분명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1396896"/>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1934767"/>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6981706"/>
                  </a:ext>
                </a:extLst>
              </a:tr>
              <a:tr h="0">
                <a:tc>
                  <a:txBody>
                    <a:bodyPr/>
                    <a:lstStyle/>
                    <a:p>
                      <a:pPr latinLnBrk="1"/>
                      <a:r>
                        <a:rPr lang="ko-KR" altLang="en-US" sz="800" dirty="0">
                          <a:latin typeface="+mn-ea"/>
                          <a:ea typeface="+mn-ea"/>
                        </a:rPr>
                        <a:t>사전심사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bfhdSrngEnfrcYn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사전심사실시여부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9956263"/>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대상</a:t>
                      </a:r>
                      <a:r>
                        <a:rPr lang="en-US" altLang="ko-KR" sz="800" dirty="0">
                          <a:latin typeface="+mn-ea"/>
                          <a:ea typeface="+mn-ea"/>
                        </a:rPr>
                        <a:t>/</a:t>
                      </a:r>
                      <a:r>
                        <a:rPr lang="ko-KR" altLang="en-US" sz="800" dirty="0">
                          <a:latin typeface="+mn-ea"/>
                          <a:ea typeface="+mn-ea"/>
                        </a:rPr>
                        <a:t>비대상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5465182"/>
                  </a:ext>
                </a:extLst>
              </a:tr>
              <a:tr h="0">
                <a:tc>
                  <a:txBody>
                    <a:bodyPr/>
                    <a:lstStyle/>
                    <a:p>
                      <a:pPr latinLnBrk="1"/>
                      <a:r>
                        <a:rPr lang="ko-KR" altLang="en-US" sz="800" dirty="0">
                          <a:latin typeface="+mn-ea"/>
                          <a:ea typeface="+mn-ea"/>
                        </a:rPr>
                        <a:t>신청마감일시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bfhdSrngAplyDdlnDt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사전심사신청마감일시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767813"/>
          <a:ext cx="8995589" cy="135744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7827154"/>
                  </a:ext>
                </a:extLst>
              </a:tr>
              <a:tr h="0">
                <a:tc>
                  <a:txBody>
                    <a:bodyPr/>
                    <a:lstStyle/>
                    <a:p>
                      <a:pPr latinLnBrk="1"/>
                      <a:r>
                        <a:rPr lang="ko-KR" altLang="en-US" sz="800" dirty="0">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bzentyTelno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latinLnBrk="1"/>
                      <a:r>
                        <a:rPr lang="en-US" altLang="ko-KR" sz="800" dirty="0" err="1">
                          <a:latin typeface="+mn-ea"/>
                          <a:ea typeface="+mn-ea"/>
                        </a:rPr>
                        <a:t>bzentyAddr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업체주소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1D5B5A78-FE0E-8E59-A09D-B6F1C8A1678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A228B1F2-BAB0-1838-0B64-9AD1B2EB135E}"/>
              </a:ext>
            </a:extLst>
          </p:cNvPr>
          <p:cNvSpPr txBox="1"/>
          <p:nvPr/>
        </p:nvSpPr>
        <p:spPr>
          <a:xfrm>
            <a:off x="453831" y="5375164"/>
            <a:ext cx="2361791"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첨부파일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dlt_atchFileList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1C379D2-0A15-975F-1540-33D05BFDB741}"/>
              </a:ext>
            </a:extLst>
          </p:cNvPr>
          <p:cNvGraphicFramePr>
            <a:graphicFrameLocks noGrp="1"/>
          </p:cNvGraphicFramePr>
          <p:nvPr/>
        </p:nvGraphicFramePr>
        <p:xfrm>
          <a:off x="453000" y="5587655"/>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첨부파일 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918839"/>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파일크기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파일크기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7" name="TextBox 6">
            <a:extLst>
              <a:ext uri="{FF2B5EF4-FFF2-40B4-BE49-F238E27FC236}">
                <a16:creationId xmlns:a16="http://schemas.microsoft.com/office/drawing/2014/main" id="{6F4353C2-F64F-6E1C-0936-80B45A6E8C76}"/>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Tree>
    <p:extLst>
      <p:ext uri="{BB962C8B-B14F-4D97-AF65-F5344CB8AC3E}">
        <p14:creationId xmlns:p14="http://schemas.microsoft.com/office/powerpoint/2010/main" val="10498812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90</a:t>
            </a:fld>
            <a:endParaRPr lang="ko-KR" altLang="en-US" dirty="0"/>
          </a:p>
        </p:txBody>
      </p:sp>
      <p:sp>
        <p:nvSpPr>
          <p:cNvPr id="6" name="TextBox 5">
            <a:extLst>
              <a:ext uri="{FF2B5EF4-FFF2-40B4-BE49-F238E27FC236}">
                <a16:creationId xmlns:a16="http://schemas.microsoft.com/office/drawing/2014/main" id="{5C58389F-61E2-5619-D9C6-D58513D49583}"/>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D7BFA1AA-8CA0-706E-80C6-61EAE92193D8}"/>
              </a:ext>
            </a:extLst>
          </p:cNvPr>
          <p:cNvGraphicFramePr>
            <a:graphicFrameLocks noGrp="1"/>
          </p:cNvGraphicFramePr>
          <p:nvPr/>
        </p:nvGraphicFramePr>
        <p:xfrm>
          <a:off x="453000" y="1039042"/>
          <a:ext cx="8995591" cy="11414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공사내역</a:t>
                      </a:r>
                      <a:r>
                        <a:rPr lang="en-US" altLang="ko-KR" sz="800" dirty="0">
                          <a:latin typeface="+mn-ea"/>
                          <a:ea typeface="+mn-ea"/>
                        </a:rPr>
                        <a:t>, </a:t>
                      </a:r>
                      <a:r>
                        <a:rPr lang="ko-KR" altLang="en-US" sz="800" dirty="0">
                          <a:latin typeface="+mn-ea"/>
                          <a:ea typeface="+mn-ea"/>
                        </a:rPr>
                        <a:t>업체내역</a:t>
                      </a:r>
                      <a:r>
                        <a:rPr lang="en-US" altLang="ko-KR" sz="800" dirty="0">
                          <a:latin typeface="+mn-ea"/>
                          <a:ea typeface="+mn-ea"/>
                        </a:rPr>
                        <a:t> </a:t>
                      </a:r>
                      <a:r>
                        <a:rPr lang="ko-KR" altLang="en-US" sz="800" dirty="0">
                          <a:latin typeface="+mn-ea"/>
                          <a:ea typeface="+mn-ea"/>
                        </a:rPr>
                        <a:t>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사전심사신청서 조회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신청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altLang="ko-KR" sz="800" dirty="0" err="1"/>
                        <a:t>scwin.btn_bfhdSrngAply_onclick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사전심사신청서 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984890"/>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사전심사신청서 팝업 화면 종료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Box 73">
            <a:extLst>
              <a:ext uri="{FF2B5EF4-FFF2-40B4-BE49-F238E27FC236}">
                <a16:creationId xmlns:a16="http://schemas.microsoft.com/office/drawing/2014/main" id="{9A2CE3B3-3D64-3D30-84A2-65970639BD3D}"/>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85793668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진행단계</a:t>
            </a:r>
            <a:r>
              <a:rPr lang="ko-KR" altLang="en-US" dirty="0"/>
              <a:t> 표시</a:t>
            </a:r>
            <a:r>
              <a:rPr lang="en-US" altLang="ko-KR" dirty="0"/>
              <a:t/>
            </a:r>
            <a:br>
              <a:rPr lang="en-US" altLang="ko-KR" dirty="0"/>
            </a:br>
            <a:r>
              <a:rPr lang="en-US" altLang="ko-KR" dirty="0"/>
              <a:t>- </a:t>
            </a:r>
            <a:r>
              <a:rPr lang="ko-KR" altLang="en-US" dirty="0"/>
              <a:t>사전심사</a:t>
            </a:r>
            <a:r>
              <a:rPr lang="en-US" altLang="ko-KR" dirty="0"/>
              <a:t>(PQ) </a:t>
            </a:r>
            <a:r>
              <a:rPr lang="ko-KR" altLang="en-US" dirty="0"/>
              <a:t>신청 시에는 </a:t>
            </a:r>
            <a:r>
              <a:rPr lang="ko-KR" altLang="en-US" dirty="0" err="1"/>
              <a:t>진행단계</a:t>
            </a:r>
            <a:r>
              <a:rPr lang="ko-KR" altLang="en-US" dirty="0"/>
              <a:t> </a:t>
            </a:r>
            <a:r>
              <a:rPr lang="ko-KR" altLang="en-US" dirty="0" err="1"/>
              <a:t>미표시</a:t>
            </a:r>
            <a:endParaRPr lang="en-US" altLang="ko-KR" dirty="0"/>
          </a:p>
          <a:p>
            <a:pPr marL="228600" indent="-228600">
              <a:buFont typeface="+mj-lt"/>
              <a:buAutoNum type="arabicPeriod"/>
            </a:pPr>
            <a:r>
              <a:rPr lang="ko-KR" altLang="en-US" dirty="0"/>
              <a:t>서약서 동의</a:t>
            </a:r>
            <a:r>
              <a:rPr lang="en-US" altLang="ko-KR" dirty="0"/>
              <a:t/>
            </a:r>
            <a:br>
              <a:rPr lang="en-US" altLang="ko-KR" dirty="0"/>
            </a:br>
            <a:r>
              <a:rPr lang="en-US" altLang="ko-KR" dirty="0"/>
              <a:t>- </a:t>
            </a:r>
            <a:r>
              <a:rPr lang="ko-KR" altLang="en-US" dirty="0"/>
              <a:t>팝업을 통해 내용 확인 및 동의</a:t>
            </a:r>
            <a:endParaRPr lang="en-US" altLang="ko-KR" dirty="0"/>
          </a:p>
          <a:p>
            <a:pPr marL="228600" indent="-228600">
              <a:buFont typeface="+mj-lt"/>
              <a:buAutoNum type="arabicPeriod"/>
            </a:pPr>
            <a:r>
              <a:rPr lang="ko-KR" altLang="en-US" dirty="0"/>
              <a:t>사후심사대상인 경우 추가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서약서 동의 목록</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서약서 동의 목록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MUI-BD-04-M01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입찰참가신청서 작성</a:t>
            </a:r>
          </a:p>
        </p:txBody>
      </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20449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9" name="그룹 148"/>
          <p:cNvGrpSpPr/>
          <p:nvPr/>
        </p:nvGrpSpPr>
        <p:grpSpPr>
          <a:xfrm rot="5400000">
            <a:off x="755013" y="1640499"/>
            <a:ext cx="94010" cy="47005"/>
            <a:chOff x="6812560" y="3297172"/>
            <a:chExt cx="94010" cy="47005"/>
          </a:xfrm>
        </p:grpSpPr>
        <p:cxnSp>
          <p:nvCxnSpPr>
            <p:cNvPr id="150" name="직선 연결선 1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3" name="직선 연결선 1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4" name="타원 153"/>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258076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283208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524595"/>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55594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2637926"/>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5" name="타원 194">
            <a:extLst>
              <a:ext uri="{FF2B5EF4-FFF2-40B4-BE49-F238E27FC236}">
                <a16:creationId xmlns:a16="http://schemas.microsoft.com/office/drawing/2014/main" id="{37A7FF4F-0EAA-1463-560A-D5EC24416103}"/>
              </a:ext>
            </a:extLst>
          </p:cNvPr>
          <p:cNvSpPr/>
          <p:nvPr/>
        </p:nvSpPr>
        <p:spPr>
          <a:xfrm>
            <a:off x="571127" y="32783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3" name="그룹 2"/>
          <p:cNvGrpSpPr/>
          <p:nvPr/>
        </p:nvGrpSpPr>
        <p:grpSpPr>
          <a:xfrm>
            <a:off x="747926" y="2932253"/>
            <a:ext cx="2570733" cy="187961"/>
            <a:chOff x="747926" y="2310331"/>
            <a:chExt cx="2570733" cy="187961"/>
          </a:xfrm>
        </p:grpSpPr>
        <p:grpSp>
          <p:nvGrpSpPr>
            <p:cNvPr id="97" name="그룹 96"/>
            <p:cNvGrpSpPr/>
            <p:nvPr/>
          </p:nvGrpSpPr>
          <p:grpSpPr>
            <a:xfrm rot="16200000">
              <a:off x="1250698" y="2380810"/>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0" name="그룹 99"/>
            <p:cNvGrpSpPr/>
            <p:nvPr/>
          </p:nvGrpSpPr>
          <p:grpSpPr>
            <a:xfrm>
              <a:off x="1404036" y="2310331"/>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신청서</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latin typeface="+mn-ea"/>
                    </a:rPr>
                    <a:t>2</a:t>
                  </a:r>
                  <a:endParaRPr lang="ko-KR" altLang="en-US" sz="700" dirty="0">
                    <a:latin typeface="+mn-ea"/>
                  </a:endParaRPr>
                </a:p>
              </p:txBody>
            </p:sp>
          </p:grpSp>
        </p:grpSp>
        <p:grpSp>
          <p:nvGrpSpPr>
            <p:cNvPr id="105" name="그룹 104"/>
            <p:cNvGrpSpPr/>
            <p:nvPr/>
          </p:nvGrpSpPr>
          <p:grpSpPr>
            <a:xfrm rot="16200000">
              <a:off x="1906809" y="2380810"/>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8" name="그룹 107"/>
            <p:cNvGrpSpPr/>
            <p:nvPr/>
          </p:nvGrpSpPr>
          <p:grpSpPr>
            <a:xfrm rot="16200000">
              <a:off x="2562921" y="2380810"/>
              <a:ext cx="94010" cy="47005"/>
              <a:chOff x="6812560" y="3297172"/>
              <a:chExt cx="94010" cy="47005"/>
            </a:xfrm>
          </p:grpSpPr>
          <p:cxnSp>
            <p:nvCxnSpPr>
              <p:cNvPr id="109" name="직선 연결선 1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0" name="직선 연결선 1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11" name="그룹 110"/>
            <p:cNvGrpSpPr/>
            <p:nvPr/>
          </p:nvGrpSpPr>
          <p:grpSpPr>
            <a:xfrm>
              <a:off x="747926" y="2310331"/>
              <a:ext cx="601001" cy="187961"/>
              <a:chOff x="747925" y="3237230"/>
              <a:chExt cx="601001" cy="187961"/>
            </a:xfrm>
          </p:grpSpPr>
          <p:grpSp>
            <p:nvGrpSpPr>
              <p:cNvPr id="112" name="그룹 111"/>
              <p:cNvGrpSpPr/>
              <p:nvPr/>
            </p:nvGrpSpPr>
            <p:grpSpPr>
              <a:xfrm>
                <a:off x="747925" y="3237230"/>
                <a:ext cx="187961" cy="187961"/>
                <a:chOff x="747925" y="3237230"/>
                <a:chExt cx="187961" cy="187961"/>
              </a:xfrm>
            </p:grpSpPr>
            <p:sp>
              <p:nvSpPr>
                <p:cNvPr id="114" name="타원 113"/>
                <p:cNvSpPr/>
                <p:nvPr/>
              </p:nvSpPr>
              <p:spPr>
                <a:xfrm>
                  <a:off x="747925"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1</a:t>
                  </a:r>
                  <a:endParaRPr lang="ko-KR" altLang="en-US" sz="700" dirty="0">
                    <a:solidFill>
                      <a:schemeClr val="bg1"/>
                    </a:solidFill>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서약서</a:t>
                </a:r>
              </a:p>
            </p:txBody>
          </p:sp>
        </p:grpSp>
        <p:grpSp>
          <p:nvGrpSpPr>
            <p:cNvPr id="116" name="그룹 115"/>
            <p:cNvGrpSpPr/>
            <p:nvPr/>
          </p:nvGrpSpPr>
          <p:grpSpPr>
            <a:xfrm>
              <a:off x="2058750" y="2310331"/>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서명</a:t>
                </a:r>
              </a:p>
            </p:txBody>
          </p:sp>
        </p:grpSp>
        <p:grpSp>
          <p:nvGrpSpPr>
            <p:cNvPr id="121" name="그룹 120"/>
            <p:cNvGrpSpPr/>
            <p:nvPr/>
          </p:nvGrpSpPr>
          <p:grpSpPr>
            <a:xfrm>
              <a:off x="2714861" y="2310331"/>
              <a:ext cx="603798" cy="187961"/>
              <a:chOff x="2714860" y="3237230"/>
              <a:chExt cx="603798" cy="187961"/>
            </a:xfrm>
          </p:grpSpPr>
          <p:grpSp>
            <p:nvGrpSpPr>
              <p:cNvPr id="122" name="그룹 121"/>
              <p:cNvGrpSpPr/>
              <p:nvPr/>
            </p:nvGrpSpPr>
            <p:grpSpPr>
              <a:xfrm>
                <a:off x="2714860" y="3237230"/>
                <a:ext cx="187961" cy="187961"/>
                <a:chOff x="2714860" y="3237230"/>
                <a:chExt cx="187961" cy="187961"/>
              </a:xfrm>
            </p:grpSpPr>
            <p:sp>
              <p:nvSpPr>
                <p:cNvPr id="124" name="타원 123"/>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23" name="TextBox 122">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sp>
        <p:nvSpPr>
          <p:cNvPr id="130" name="사각형: 둥근 모서리 15">
            <a:extLst>
              <a:ext uri="{FF2B5EF4-FFF2-40B4-BE49-F238E27FC236}">
                <a16:creationId xmlns:a16="http://schemas.microsoft.com/office/drawing/2014/main" id="{E2B61CFB-AD16-68D0-8752-50D9C5E01971}"/>
              </a:ext>
            </a:extLst>
          </p:cNvPr>
          <p:cNvSpPr/>
          <p:nvPr/>
        </p:nvSpPr>
        <p:spPr>
          <a:xfrm>
            <a:off x="767702" y="3306478"/>
            <a:ext cx="2522014" cy="342712"/>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endParaRPr kumimoji="1" lang="en-US" sz="700" kern="0" dirty="0">
              <a:solidFill>
                <a:srgbClr val="0070C0"/>
              </a:solidFill>
              <a:latin typeface="맑은 고딕"/>
            </a:endParaRPr>
          </a:p>
        </p:txBody>
      </p:sp>
      <p:sp>
        <p:nvSpPr>
          <p:cNvPr id="166" name="TextBox 58">
            <a:extLst>
              <a:ext uri="{FF2B5EF4-FFF2-40B4-BE49-F238E27FC236}">
                <a16:creationId xmlns:a16="http://schemas.microsoft.com/office/drawing/2014/main" id="{02FC114B-B48B-345F-BD70-2B5A196F5B3E}"/>
              </a:ext>
            </a:extLst>
          </p:cNvPr>
          <p:cNvSpPr txBox="1"/>
          <p:nvPr/>
        </p:nvSpPr>
        <p:spPr>
          <a:xfrm>
            <a:off x="865539" y="3416279"/>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1</a:t>
            </a:r>
            <a:endParaRPr lang="ko-KR" altLang="en-US" sz="800" b="1" dirty="0"/>
          </a:p>
        </p:txBody>
      </p:sp>
      <p:sp>
        <p:nvSpPr>
          <p:cNvPr id="131" name="TextBox 58">
            <a:extLst>
              <a:ext uri="{FF2B5EF4-FFF2-40B4-BE49-F238E27FC236}">
                <a16:creationId xmlns:a16="http://schemas.microsoft.com/office/drawing/2014/main" id="{02FC114B-B48B-345F-BD70-2B5A196F5B3E}"/>
              </a:ext>
            </a:extLst>
          </p:cNvPr>
          <p:cNvSpPr txBox="1"/>
          <p:nvPr/>
        </p:nvSpPr>
        <p:spPr>
          <a:xfrm>
            <a:off x="981277" y="3354724"/>
            <a:ext cx="1631857" cy="24622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latin typeface="맑은 고딕" panose="020B0503020000020004" pitchFamily="50" charset="-127"/>
              </a:rPr>
              <a:t>‘</a:t>
            </a:r>
            <a:r>
              <a:rPr lang="ko-KR" altLang="en-US" sz="800" dirty="0">
                <a:latin typeface="맑은 고딕" panose="020B0503020000020004" pitchFamily="50" charset="-127"/>
              </a:rPr>
              <a:t>조세포탈</a:t>
            </a:r>
            <a:r>
              <a:rPr lang="en-US" altLang="ko-KR" sz="800" dirty="0">
                <a:latin typeface="맑은 고딕" panose="020B0503020000020004" pitchFamily="50" charset="-127"/>
              </a:rPr>
              <a:t>’ </a:t>
            </a:r>
            <a:r>
              <a:rPr lang="ko-KR" altLang="en-US" sz="800" dirty="0">
                <a:latin typeface="맑은 고딕" panose="020B0503020000020004" pitchFamily="50" charset="-127"/>
              </a:rPr>
              <a:t>사실이 없음을 확약하는 </a:t>
            </a:r>
            <a:endParaRPr lang="en-US" altLang="ko-KR" sz="800" dirty="0">
              <a:latin typeface="맑은 고딕" panose="020B0503020000020004" pitchFamily="50" charset="-127"/>
            </a:endParaRPr>
          </a:p>
          <a:p>
            <a:r>
              <a:rPr lang="ko-KR" altLang="en-US" sz="800" dirty="0">
                <a:latin typeface="맑은 고딕" panose="020B0503020000020004" pitchFamily="50" charset="-127"/>
              </a:rPr>
              <a:t>서약서</a:t>
            </a:r>
            <a:endParaRPr lang="en-US" altLang="ko-KR" sz="800" dirty="0">
              <a:latin typeface="맑은 고딕" panose="020B0503020000020004" pitchFamily="50" charset="-127"/>
            </a:endParaRPr>
          </a:p>
        </p:txBody>
      </p:sp>
      <p:sp>
        <p:nvSpPr>
          <p:cNvPr id="132" name="모서리가 둥근 직사각형 131"/>
          <p:cNvSpPr/>
          <p:nvPr/>
        </p:nvSpPr>
        <p:spPr>
          <a:xfrm>
            <a:off x="2958909" y="3418134"/>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40" name="사각형: 둥근 모서리 15">
            <a:extLst>
              <a:ext uri="{FF2B5EF4-FFF2-40B4-BE49-F238E27FC236}">
                <a16:creationId xmlns:a16="http://schemas.microsoft.com/office/drawing/2014/main" id="{E2B61CFB-AD16-68D0-8752-50D9C5E01971}"/>
              </a:ext>
            </a:extLst>
          </p:cNvPr>
          <p:cNvSpPr/>
          <p:nvPr/>
        </p:nvSpPr>
        <p:spPr>
          <a:xfrm>
            <a:off x="767702" y="3739997"/>
            <a:ext cx="2522014" cy="294671"/>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41" name="TextBox 58">
            <a:extLst>
              <a:ext uri="{FF2B5EF4-FFF2-40B4-BE49-F238E27FC236}">
                <a16:creationId xmlns:a16="http://schemas.microsoft.com/office/drawing/2014/main" id="{02FC114B-B48B-345F-BD70-2B5A196F5B3E}"/>
              </a:ext>
            </a:extLst>
          </p:cNvPr>
          <p:cNvSpPr txBox="1"/>
          <p:nvPr/>
        </p:nvSpPr>
        <p:spPr>
          <a:xfrm>
            <a:off x="865539" y="3820923"/>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2</a:t>
            </a:r>
            <a:endParaRPr lang="ko-KR" altLang="en-US" sz="800" b="1" dirty="0"/>
          </a:p>
        </p:txBody>
      </p:sp>
      <p:sp>
        <p:nvSpPr>
          <p:cNvPr id="142" name="TextBox 58">
            <a:extLst>
              <a:ext uri="{FF2B5EF4-FFF2-40B4-BE49-F238E27FC236}">
                <a16:creationId xmlns:a16="http://schemas.microsoft.com/office/drawing/2014/main" id="{02FC114B-B48B-345F-BD70-2B5A196F5B3E}"/>
              </a:ext>
            </a:extLst>
          </p:cNvPr>
          <p:cNvSpPr txBox="1"/>
          <p:nvPr/>
        </p:nvSpPr>
        <p:spPr>
          <a:xfrm>
            <a:off x="981277" y="3820923"/>
            <a:ext cx="1033937"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t>청렴 계약 이행 서약서</a:t>
            </a:r>
          </a:p>
        </p:txBody>
      </p:sp>
      <p:sp>
        <p:nvSpPr>
          <p:cNvPr id="143" name="모서리가 둥근 직사각형 142"/>
          <p:cNvSpPr/>
          <p:nvPr/>
        </p:nvSpPr>
        <p:spPr>
          <a:xfrm>
            <a:off x="2958909" y="3822778"/>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98" name="타원 197"/>
          <p:cNvSpPr/>
          <p:nvPr/>
        </p:nvSpPr>
        <p:spPr>
          <a:xfrm>
            <a:off x="2764330" y="3419977"/>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sp>
        <p:nvSpPr>
          <p:cNvPr id="199" name="사각형: 둥근 모서리 15">
            <a:extLst>
              <a:ext uri="{FF2B5EF4-FFF2-40B4-BE49-F238E27FC236}">
                <a16:creationId xmlns:a16="http://schemas.microsoft.com/office/drawing/2014/main" id="{E2B61CFB-AD16-68D0-8752-50D9C5E01971}"/>
              </a:ext>
            </a:extLst>
          </p:cNvPr>
          <p:cNvSpPr/>
          <p:nvPr/>
        </p:nvSpPr>
        <p:spPr>
          <a:xfrm>
            <a:off x="767702" y="4126577"/>
            <a:ext cx="2522014" cy="34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200" name="TextBox 58">
            <a:extLst>
              <a:ext uri="{FF2B5EF4-FFF2-40B4-BE49-F238E27FC236}">
                <a16:creationId xmlns:a16="http://schemas.microsoft.com/office/drawing/2014/main" id="{02FC114B-B48B-345F-BD70-2B5A196F5B3E}"/>
              </a:ext>
            </a:extLst>
          </p:cNvPr>
          <p:cNvSpPr txBox="1"/>
          <p:nvPr/>
        </p:nvSpPr>
        <p:spPr>
          <a:xfrm>
            <a:off x="865539" y="4236022"/>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3</a:t>
            </a:r>
            <a:endParaRPr lang="ko-KR" altLang="en-US" sz="800" b="1" dirty="0"/>
          </a:p>
        </p:txBody>
      </p:sp>
      <p:sp>
        <p:nvSpPr>
          <p:cNvPr id="202" name="TextBox 58">
            <a:extLst>
              <a:ext uri="{FF2B5EF4-FFF2-40B4-BE49-F238E27FC236}">
                <a16:creationId xmlns:a16="http://schemas.microsoft.com/office/drawing/2014/main" id="{02FC114B-B48B-345F-BD70-2B5A196F5B3E}"/>
              </a:ext>
            </a:extLst>
          </p:cNvPr>
          <p:cNvSpPr txBox="1"/>
          <p:nvPr/>
        </p:nvSpPr>
        <p:spPr>
          <a:xfrm>
            <a:off x="981277" y="4174467"/>
            <a:ext cx="16318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하도급대금의 지급관련 확인 및 </a:t>
            </a:r>
            <a:endParaRPr lang="en-US" altLang="ko-KR" sz="800" dirty="0">
              <a:latin typeface="맑은 고딕" panose="020B0503020000020004" pitchFamily="50" charset="-127"/>
            </a:endParaRPr>
          </a:p>
          <a:p>
            <a:r>
              <a:rPr lang="ko-KR" altLang="en-US" sz="800" dirty="0">
                <a:latin typeface="맑은 고딕" panose="020B0503020000020004" pitchFamily="50" charset="-127"/>
              </a:rPr>
              <a:t>확약서</a:t>
            </a:r>
            <a:endParaRPr lang="en-US" altLang="ko-KR" sz="800" dirty="0">
              <a:latin typeface="맑은 고딕" panose="020B0503020000020004" pitchFamily="50" charset="-127"/>
            </a:endParaRPr>
          </a:p>
        </p:txBody>
      </p:sp>
      <p:sp>
        <p:nvSpPr>
          <p:cNvPr id="203" name="모서리가 둥근 직사각형 202"/>
          <p:cNvSpPr/>
          <p:nvPr/>
        </p:nvSpPr>
        <p:spPr>
          <a:xfrm>
            <a:off x="2958909" y="4237877"/>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675399" y="455885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5399" y="1936620"/>
            <a:ext cx="2712027" cy="508898"/>
            <a:chOff x="3795734" y="1602341"/>
            <a:chExt cx="2712027" cy="508898"/>
          </a:xfrm>
        </p:grpSpPr>
        <p:sp>
          <p:nvSpPr>
            <p:cNvPr id="146"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51" name="모서리가 둥근 직사각형 150"/>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52" name="모서리가 둥근 직사각형 151"/>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7" name="직사각형 126">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TextBox 138">
            <a:extLst>
              <a:ext uri="{FF2B5EF4-FFF2-40B4-BE49-F238E27FC236}">
                <a16:creationId xmlns:a16="http://schemas.microsoft.com/office/drawing/2014/main" id="{FFC49AEA-2A8F-250C-A86A-A7751D9706C3}"/>
              </a:ext>
            </a:extLst>
          </p:cNvPr>
          <p:cNvSpPr txBox="1"/>
          <p:nvPr/>
        </p:nvSpPr>
        <p:spPr>
          <a:xfrm>
            <a:off x="4051236" y="1608356"/>
            <a:ext cx="2305144" cy="123111"/>
          </a:xfrm>
          <a:prstGeom prst="rect">
            <a:avLst/>
          </a:prstGeom>
          <a:noFill/>
        </p:spPr>
        <p:txBody>
          <a:bodyPr wrap="square" lIns="0" tIns="0" rIns="0" bIns="0" rtlCol="0">
            <a:spAutoFit/>
          </a:bodyPr>
          <a:lstStyle/>
          <a:p>
            <a:r>
              <a:rPr lang="ko-KR" altLang="en-US" sz="800" dirty="0">
                <a:latin typeface="+mn-ea"/>
              </a:rPr>
              <a:t>입찰참가신청서 작성</a:t>
            </a:r>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3795734"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57" name="그룹 156"/>
          <p:cNvGrpSpPr/>
          <p:nvPr/>
        </p:nvGrpSpPr>
        <p:grpSpPr>
          <a:xfrm rot="5400000">
            <a:off x="3870177" y="1640499"/>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타원 159"/>
          <p:cNvSpPr/>
          <p:nvPr/>
        </p:nvSpPr>
        <p:spPr>
          <a:xfrm>
            <a:off x="6159701"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2" name="그룹 161"/>
          <p:cNvGrpSpPr/>
          <p:nvPr/>
        </p:nvGrpSpPr>
        <p:grpSpPr>
          <a:xfrm>
            <a:off x="3795733" y="5614711"/>
            <a:ext cx="2712027" cy="617588"/>
            <a:chOff x="675399" y="5614711"/>
            <a:chExt cx="2712027" cy="617588"/>
          </a:xfrm>
        </p:grpSpPr>
        <p:sp>
          <p:nvSpPr>
            <p:cNvPr id="163" name="직사각형 1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85" name="모서리가 둥근 직사각형 184"/>
          <p:cNvSpPr/>
          <p:nvPr/>
        </p:nvSpPr>
        <p:spPr>
          <a:xfrm>
            <a:off x="3825414" y="2425710"/>
            <a:ext cx="2652743" cy="1601238"/>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4184" y="2523994"/>
            <a:ext cx="2475203" cy="1400383"/>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사후심사대상 </a:t>
            </a:r>
            <a:r>
              <a:rPr lang="ko-KR" altLang="en-US" sz="700" dirty="0" err="1">
                <a:solidFill>
                  <a:schemeClr val="tx1">
                    <a:lumMod val="85000"/>
                    <a:lumOff val="15000"/>
                  </a:schemeClr>
                </a:solidFill>
                <a:latin typeface="맑은 고딕" panose="020B0503020000020004" pitchFamily="50" charset="-127"/>
              </a:rPr>
              <a:t>입찰안내</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입찰전</a:t>
            </a:r>
            <a:r>
              <a:rPr lang="ko-KR" altLang="en-US" sz="700" dirty="0">
                <a:solidFill>
                  <a:schemeClr val="tx1">
                    <a:lumMod val="85000"/>
                    <a:lumOff val="15000"/>
                  </a:schemeClr>
                </a:solidFill>
                <a:latin typeface="맑은 고딕" panose="020B0503020000020004" pitchFamily="50" charset="-127"/>
              </a:rPr>
              <a:t> 꼭 확인 하시기 바랍니다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r>
              <a:rPr lang="ko-KR" altLang="en-US" sz="700" dirty="0" err="1">
                <a:solidFill>
                  <a:srgbClr val="000000"/>
                </a:solidFill>
                <a:latin typeface="+mn-ea"/>
              </a:rPr>
              <a:t>해당입찰</a:t>
            </a:r>
            <a:r>
              <a:rPr lang="ko-KR" altLang="en-US" sz="700" dirty="0">
                <a:solidFill>
                  <a:srgbClr val="000000"/>
                </a:solidFill>
                <a:latin typeface="+mn-ea"/>
              </a:rPr>
              <a:t> 건은 </a:t>
            </a:r>
            <a:r>
              <a:rPr lang="en-US" altLang="ko-KR" sz="700" dirty="0">
                <a:solidFill>
                  <a:srgbClr val="000000"/>
                </a:solidFill>
                <a:latin typeface="+mn-ea"/>
              </a:rPr>
              <a:t>[</a:t>
            </a:r>
            <a:r>
              <a:rPr lang="ko-KR" altLang="en-US" sz="700" dirty="0" err="1">
                <a:solidFill>
                  <a:srgbClr val="000000"/>
                </a:solidFill>
                <a:latin typeface="+mn-ea"/>
              </a:rPr>
              <a:t>입찰서제출</a:t>
            </a:r>
            <a:r>
              <a:rPr lang="ko-KR" altLang="en-US" sz="700" dirty="0">
                <a:solidFill>
                  <a:srgbClr val="000000"/>
                </a:solidFill>
                <a:latin typeface="+mn-ea"/>
              </a:rPr>
              <a:t> 마감</a:t>
            </a:r>
            <a:r>
              <a:rPr lang="en-US" altLang="ko-KR" sz="700" dirty="0">
                <a:solidFill>
                  <a:srgbClr val="000000"/>
                </a:solidFill>
                <a:latin typeface="+mn-ea"/>
              </a:rPr>
              <a:t>] </a:t>
            </a:r>
            <a:r>
              <a:rPr lang="ko-KR" altLang="en-US" sz="700" dirty="0">
                <a:solidFill>
                  <a:srgbClr val="000000"/>
                </a:solidFill>
                <a:latin typeface="+mn-ea"/>
              </a:rPr>
              <a:t>후 </a:t>
            </a:r>
            <a:r>
              <a:rPr lang="en-US" altLang="ko-KR" sz="700" dirty="0">
                <a:solidFill>
                  <a:srgbClr val="000000"/>
                </a:solidFill>
                <a:latin typeface="+mn-ea"/>
              </a:rPr>
              <a:t>[</a:t>
            </a:r>
            <a:r>
              <a:rPr lang="ko-KR" altLang="en-US" sz="700" dirty="0" err="1">
                <a:solidFill>
                  <a:srgbClr val="000000"/>
                </a:solidFill>
                <a:latin typeface="+mn-ea"/>
              </a:rPr>
              <a:t>등록심사</a:t>
            </a:r>
            <a:r>
              <a:rPr lang="en-US" altLang="ko-KR" sz="700" dirty="0">
                <a:solidFill>
                  <a:srgbClr val="000000"/>
                </a:solidFill>
                <a:latin typeface="+mn-ea"/>
              </a:rPr>
              <a:t>]</a:t>
            </a:r>
            <a:r>
              <a:rPr lang="ko-KR" altLang="en-US" sz="700" dirty="0">
                <a:solidFill>
                  <a:srgbClr val="000000"/>
                </a:solidFill>
                <a:latin typeface="+mn-ea"/>
              </a:rPr>
              <a:t>를 진행하는 </a:t>
            </a:r>
            <a:r>
              <a:rPr lang="ko-KR" altLang="en-US" sz="700" dirty="0" err="1">
                <a:solidFill>
                  <a:srgbClr val="000000"/>
                </a:solidFill>
                <a:latin typeface="+mn-ea"/>
              </a:rPr>
              <a:t>입찰건으로</a:t>
            </a:r>
            <a:r>
              <a:rPr lang="ko-KR" altLang="en-US" sz="700" dirty="0">
                <a:solidFill>
                  <a:srgbClr val="000000"/>
                </a:solidFill>
                <a:latin typeface="+mn-ea"/>
              </a:rPr>
              <a:t> 참가신청서 작성 후 </a:t>
            </a:r>
            <a:r>
              <a:rPr lang="ko-KR" altLang="en-US" sz="700" dirty="0" err="1">
                <a:solidFill>
                  <a:srgbClr val="000000"/>
                </a:solidFill>
                <a:latin typeface="+mn-ea"/>
              </a:rPr>
              <a:t>등록심사</a:t>
            </a:r>
            <a:r>
              <a:rPr lang="ko-KR" altLang="en-US" sz="700" dirty="0">
                <a:solidFill>
                  <a:srgbClr val="000000"/>
                </a:solidFill>
                <a:latin typeface="+mn-ea"/>
              </a:rPr>
              <a:t> 없이 입찰서를 제출합니다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a:t>
            </a:r>
            <a:r>
              <a:rPr lang="ko-KR" altLang="en-US" sz="700" dirty="0">
                <a:solidFill>
                  <a:srgbClr val="000000"/>
                </a:solidFill>
                <a:latin typeface="+mn-ea"/>
              </a:rPr>
              <a:t>공동이행방식</a:t>
            </a:r>
            <a:r>
              <a:rPr lang="en-US" altLang="ko-KR" sz="700" dirty="0">
                <a:solidFill>
                  <a:srgbClr val="000000"/>
                </a:solidFill>
                <a:latin typeface="+mn-ea"/>
              </a:rPr>
              <a:t>]</a:t>
            </a:r>
            <a:r>
              <a:rPr lang="ko-KR" altLang="en-US" sz="700" dirty="0">
                <a:solidFill>
                  <a:srgbClr val="000000"/>
                </a:solidFill>
                <a:latin typeface="+mn-ea"/>
              </a:rPr>
              <a:t>의 입찰은 </a:t>
            </a:r>
            <a:r>
              <a:rPr lang="en-US" altLang="ko-KR" sz="700" dirty="0">
                <a:solidFill>
                  <a:srgbClr val="000000"/>
                </a:solidFill>
                <a:latin typeface="+mn-ea"/>
              </a:rPr>
              <a:t>[</a:t>
            </a:r>
            <a:r>
              <a:rPr lang="ko-KR" altLang="en-US" sz="700" dirty="0" err="1">
                <a:solidFill>
                  <a:srgbClr val="000000"/>
                </a:solidFill>
                <a:latin typeface="+mn-ea"/>
              </a:rPr>
              <a:t>협정서제출</a:t>
            </a:r>
            <a:r>
              <a:rPr lang="en-US" altLang="ko-KR" sz="700" dirty="0">
                <a:solidFill>
                  <a:srgbClr val="000000"/>
                </a:solidFill>
                <a:latin typeface="+mn-ea"/>
              </a:rPr>
              <a:t>] </a:t>
            </a:r>
            <a:r>
              <a:rPr lang="ko-KR" altLang="en-US" sz="700" dirty="0">
                <a:solidFill>
                  <a:srgbClr val="000000"/>
                </a:solidFill>
                <a:latin typeface="+mn-ea"/>
              </a:rPr>
              <a:t>시 입찰서를 제출할 수 있습니다</a:t>
            </a:r>
            <a:r>
              <a:rPr lang="en-US" altLang="ko-KR" sz="700" dirty="0">
                <a:solidFill>
                  <a:srgbClr val="000000"/>
                </a:solidFill>
                <a:latin typeface="+mn-ea"/>
              </a:rPr>
              <a:t>.</a:t>
            </a:r>
          </a:p>
          <a:p>
            <a:pPr marL="92075" indent="-92075">
              <a:buFont typeface="Arial" panose="020B0604020202020204" pitchFamily="34" charset="0"/>
              <a:buChar char="•"/>
            </a:pPr>
            <a:r>
              <a:rPr lang="ko-KR" altLang="en-US" sz="700" dirty="0">
                <a:solidFill>
                  <a:srgbClr val="FF0000"/>
                </a:solidFill>
                <a:latin typeface="+mn-ea"/>
              </a:rPr>
              <a:t>주의</a:t>
            </a:r>
            <a:r>
              <a:rPr lang="en-US" altLang="ko-KR" sz="700" dirty="0">
                <a:solidFill>
                  <a:srgbClr val="FF0000"/>
                </a:solidFill>
                <a:latin typeface="+mn-ea"/>
              </a:rPr>
              <a:t>) </a:t>
            </a:r>
            <a:r>
              <a:rPr lang="ko-KR" altLang="en-US" sz="700" dirty="0">
                <a:solidFill>
                  <a:srgbClr val="FF0000"/>
                </a:solidFill>
                <a:latin typeface="+mn-ea"/>
              </a:rPr>
              <a:t>입찰서를 제출 후에는 참가신청서</a:t>
            </a:r>
            <a:r>
              <a:rPr lang="en-US" altLang="ko-KR" sz="700" dirty="0">
                <a:solidFill>
                  <a:srgbClr val="FF0000"/>
                </a:solidFill>
                <a:latin typeface="+mn-ea"/>
              </a:rPr>
              <a:t>, </a:t>
            </a:r>
            <a:r>
              <a:rPr lang="ko-KR" altLang="en-US" sz="700" dirty="0">
                <a:solidFill>
                  <a:srgbClr val="FF0000"/>
                </a:solidFill>
                <a:latin typeface="+mn-ea"/>
              </a:rPr>
              <a:t>공동수급협정서</a:t>
            </a:r>
            <a:r>
              <a:rPr lang="en-US" altLang="ko-KR" sz="700" dirty="0">
                <a:solidFill>
                  <a:srgbClr val="FF0000"/>
                </a:solidFill>
                <a:latin typeface="+mn-ea"/>
              </a:rPr>
              <a:t>, </a:t>
            </a:r>
            <a:r>
              <a:rPr lang="ko-KR" altLang="en-US" sz="700" dirty="0">
                <a:solidFill>
                  <a:srgbClr val="FF0000"/>
                </a:solidFill>
                <a:latin typeface="+mn-ea"/>
              </a:rPr>
              <a:t>입찰서를 변경 할 수 없습니다</a:t>
            </a:r>
            <a:r>
              <a:rPr lang="en-US" altLang="ko-KR" sz="700" dirty="0">
                <a:solidFill>
                  <a:srgbClr val="FF0000"/>
                </a:solidFill>
                <a:latin typeface="+mn-ea"/>
              </a:rPr>
              <a:t>.</a:t>
            </a:r>
          </a:p>
          <a:p>
            <a:pPr marL="92075" indent="-92075">
              <a:buFont typeface="Arial" panose="020B0604020202020204" pitchFamily="34" charset="0"/>
              <a:buChar char="•"/>
            </a:pPr>
            <a:r>
              <a:rPr lang="ko-KR" altLang="en-US" sz="700" dirty="0">
                <a:solidFill>
                  <a:srgbClr val="000000"/>
                </a:solidFill>
                <a:latin typeface="+mn-ea"/>
              </a:rPr>
              <a:t>입찰서제출이 마감 후에 등록심사에서 탈락 시 개찰대상에서 제외됩니다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 </a:t>
            </a:r>
            <a:r>
              <a:rPr lang="ko-KR" altLang="en-US" sz="700" dirty="0">
                <a:solidFill>
                  <a:srgbClr val="000000"/>
                </a:solidFill>
                <a:latin typeface="+mn-ea"/>
              </a:rPr>
              <a:t>문의 </a:t>
            </a:r>
            <a:r>
              <a:rPr lang="en-US" altLang="ko-KR" sz="700" dirty="0">
                <a:solidFill>
                  <a:srgbClr val="000000"/>
                </a:solidFill>
                <a:latin typeface="+mn-ea"/>
              </a:rPr>
              <a:t>:1577-1118(①)(</a:t>
            </a:r>
            <a:r>
              <a:rPr lang="ko-KR" altLang="en-US" sz="700" dirty="0">
                <a:solidFill>
                  <a:srgbClr val="000000"/>
                </a:solidFill>
                <a:latin typeface="+mn-ea"/>
              </a:rPr>
              <a:t>전자입찰서비스 데스크</a:t>
            </a:r>
            <a:r>
              <a:rPr lang="en-US" altLang="ko-KR" sz="700" dirty="0">
                <a:solidFill>
                  <a:srgbClr val="000000"/>
                </a:solidFill>
                <a:latin typeface="+mn-ea"/>
              </a:rPr>
              <a:t>)</a:t>
            </a:r>
            <a:endParaRPr lang="en-US" altLang="ko-KR" sz="700" dirty="0">
              <a:latin typeface="+mn-ea"/>
            </a:endParaRPr>
          </a:p>
        </p:txBody>
      </p:sp>
      <p:sp>
        <p:nvSpPr>
          <p:cNvPr id="194" name="타원 193"/>
          <p:cNvSpPr/>
          <p:nvPr/>
        </p:nvSpPr>
        <p:spPr>
          <a:xfrm>
            <a:off x="3910226" y="251434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1" name="그룹 200"/>
          <p:cNvGrpSpPr/>
          <p:nvPr/>
        </p:nvGrpSpPr>
        <p:grpSpPr>
          <a:xfrm flipV="1">
            <a:off x="6259047" y="2562841"/>
            <a:ext cx="94010" cy="47005"/>
            <a:chOff x="6812560" y="3297172"/>
            <a:chExt cx="94010" cy="47005"/>
          </a:xfrm>
        </p:grpSpPr>
        <p:cxnSp>
          <p:nvCxnSpPr>
            <p:cNvPr id="204" name="직선 연결선 20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5" name="직선 연결선 20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0" name="직선 연결선 209">
            <a:extLst>
              <a:ext uri="{FF2B5EF4-FFF2-40B4-BE49-F238E27FC236}">
                <a16:creationId xmlns:a16="http://schemas.microsoft.com/office/drawing/2014/main" id="{E9293055-D5CD-4B9E-7F64-64B2D2CA7A52}"/>
              </a:ext>
            </a:extLst>
          </p:cNvPr>
          <p:cNvCxnSpPr/>
          <p:nvPr/>
        </p:nvCxnSpPr>
        <p:spPr>
          <a:xfrm>
            <a:off x="3795734" y="231033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12" name="타원 211">
            <a:extLst>
              <a:ext uri="{FF2B5EF4-FFF2-40B4-BE49-F238E27FC236}">
                <a16:creationId xmlns:a16="http://schemas.microsoft.com/office/drawing/2014/main" id="{37A7FF4F-0EAA-1463-560A-D5EC24416103}"/>
              </a:ext>
            </a:extLst>
          </p:cNvPr>
          <p:cNvSpPr/>
          <p:nvPr/>
        </p:nvSpPr>
        <p:spPr>
          <a:xfrm>
            <a:off x="3709669" y="242315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91229677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신청일 당일 날짜 표시</a:t>
            </a:r>
            <a:endParaRPr lang="en-US" altLang="ko-KR" dirty="0"/>
          </a:p>
          <a:p>
            <a:pPr marL="228600" indent="-228600">
              <a:buFont typeface="+mj-lt"/>
              <a:buAutoNum type="arabicPeriod"/>
            </a:pPr>
            <a:r>
              <a:rPr lang="ko-KR" altLang="en-US" dirty="0" err="1"/>
              <a:t>서약자</a:t>
            </a:r>
            <a:r>
              <a:rPr lang="en-US" altLang="ko-KR" dirty="0"/>
              <a:t> </a:t>
            </a:r>
            <a:r>
              <a:rPr lang="ko-KR" altLang="en-US" dirty="0"/>
              <a:t>및 공고</a:t>
            </a:r>
            <a:r>
              <a:rPr lang="en-US" altLang="ko-KR" dirty="0"/>
              <a:t> </a:t>
            </a:r>
            <a:r>
              <a:rPr lang="ko-KR" altLang="en-US" dirty="0"/>
              <a:t>담당 정보 표시</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서약서 </a:t>
            </a:r>
            <a:r>
              <a:rPr lang="en-US" altLang="ko-KR" dirty="0">
                <a:latin typeface="+mn-ea"/>
              </a:rPr>
              <a:t>1</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서약서 중 </a:t>
            </a:r>
            <a:r>
              <a:rPr lang="en-US" altLang="ko-KR" dirty="0">
                <a:latin typeface="+mn-ea"/>
              </a:rPr>
              <a:t>‘</a:t>
            </a:r>
            <a:r>
              <a:rPr lang="ko-KR" altLang="en-US" dirty="0">
                <a:latin typeface="+mn-ea"/>
              </a:rPr>
              <a:t>조세포탈</a:t>
            </a:r>
            <a:r>
              <a:rPr lang="en-US" altLang="ko-KR" dirty="0">
                <a:latin typeface="+mn-ea"/>
              </a:rPr>
              <a:t>’ </a:t>
            </a:r>
            <a:r>
              <a:rPr lang="ko-KR" altLang="en-US" dirty="0">
                <a:latin typeface="+mn-ea"/>
              </a:rPr>
              <a:t>사실이 없음을 확약하는 서약서 내용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 </a:t>
            </a:r>
            <a:r>
              <a:rPr lang="en-US" altLang="ko-KR" dirty="0">
                <a:latin typeface="+mn-ea"/>
              </a:rPr>
              <a:t>&gt; </a:t>
            </a:r>
            <a:r>
              <a:rPr lang="ko-KR" altLang="en-US" dirty="0">
                <a:latin typeface="+mn-ea"/>
              </a:rPr>
              <a:t>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MUI-BD-04-P02</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949252" cy="123111"/>
          </a:xfrm>
          <a:prstGeom prst="rect">
            <a:avLst/>
          </a:prstGeom>
          <a:noFill/>
        </p:spPr>
        <p:txBody>
          <a:bodyPr wrap="none" lIns="0" tIns="0" rIns="0" bIns="0" rtlCol="0">
            <a:spAutoFit/>
          </a:bodyPr>
          <a:lstStyle/>
          <a:p>
            <a:r>
              <a:rPr lang="en-US" altLang="ko-KR" sz="800" b="1" dirty="0">
                <a:latin typeface="맑은 고딕" panose="020B0503020000020004" pitchFamily="50" charset="-127"/>
              </a:rPr>
              <a:t>‘</a:t>
            </a:r>
            <a:r>
              <a:rPr lang="ko-KR" altLang="en-US" sz="800" b="1" dirty="0">
                <a:latin typeface="맑은 고딕" panose="020B0503020000020004" pitchFamily="50" charset="-127"/>
              </a:rPr>
              <a:t>조세포탈</a:t>
            </a:r>
            <a:r>
              <a:rPr lang="en-US" altLang="ko-KR" sz="800" b="1" dirty="0">
                <a:latin typeface="맑은 고딕" panose="020B0503020000020004" pitchFamily="50" charset="-127"/>
              </a:rPr>
              <a:t>’ </a:t>
            </a:r>
            <a:r>
              <a:rPr lang="ko-KR" altLang="en-US" sz="800" b="1" dirty="0">
                <a:latin typeface="맑은 고딕" panose="020B0503020000020004" pitchFamily="50" charset="-127"/>
              </a:rPr>
              <a:t>사실이 없음을 확약하는 서약서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646331"/>
          </a:xfrm>
          <a:prstGeom prst="rect">
            <a:avLst/>
          </a:prstGeom>
          <a:noFill/>
        </p:spPr>
        <p:txBody>
          <a:bodyPr wrap="square" lIns="0" tIns="0" rIns="0" bIns="0" rtlCol="0">
            <a:spAutoFit/>
          </a:bodyPr>
          <a:lstStyle/>
          <a:p>
            <a:r>
              <a:rPr lang="ko-KR" altLang="en-US" sz="700" dirty="0"/>
              <a:t>당사는 </a:t>
            </a:r>
            <a:r>
              <a:rPr lang="en-US" altLang="ko-KR" sz="700" dirty="0"/>
              <a:t>[</a:t>
            </a:r>
            <a:r>
              <a:rPr lang="ko-KR" altLang="en-US" sz="700" dirty="0"/>
              <a:t>국가계약법</a:t>
            </a:r>
            <a:r>
              <a:rPr lang="en-US" altLang="ko-KR" sz="700" dirty="0"/>
              <a:t>] </a:t>
            </a:r>
            <a:r>
              <a:rPr lang="ko-KR" altLang="en-US" sz="700" dirty="0">
                <a:solidFill>
                  <a:srgbClr val="000000"/>
                </a:solidFill>
              </a:rPr>
              <a:t>제</a:t>
            </a:r>
            <a:r>
              <a:rPr lang="en-US" altLang="ko-KR" sz="700" dirty="0">
                <a:solidFill>
                  <a:srgbClr val="000000"/>
                </a:solidFill>
              </a:rPr>
              <a:t>27</a:t>
            </a:r>
            <a:r>
              <a:rPr lang="ko-KR" altLang="en-US" sz="700" dirty="0">
                <a:solidFill>
                  <a:srgbClr val="000000"/>
                </a:solidFill>
              </a:rPr>
              <a:t>조의</a:t>
            </a:r>
            <a:r>
              <a:rPr lang="en-US" altLang="ko-KR" sz="700" dirty="0">
                <a:solidFill>
                  <a:srgbClr val="000000"/>
                </a:solidFill>
              </a:rPr>
              <a:t>5</a:t>
            </a:r>
            <a:r>
              <a:rPr lang="ko-KR" altLang="en-US" sz="700" dirty="0">
                <a:solidFill>
                  <a:srgbClr val="000000"/>
                </a:solidFill>
              </a:rPr>
              <a:t>제</a:t>
            </a:r>
            <a:r>
              <a:rPr lang="en-US" altLang="ko-KR" sz="700" dirty="0">
                <a:solidFill>
                  <a:srgbClr val="000000"/>
                </a:solidFill>
              </a:rPr>
              <a:t>1</a:t>
            </a:r>
            <a:r>
              <a:rPr lang="ko-KR" altLang="en-US" sz="700" dirty="0">
                <a:solidFill>
                  <a:srgbClr val="000000"/>
                </a:solidFill>
              </a:rPr>
              <a:t>항에 따른 조세포탈 등을 한 자가 아님을 서약합니다</a:t>
            </a:r>
            <a:r>
              <a:rPr lang="en-US" altLang="ko-KR" sz="700" dirty="0">
                <a:solidFill>
                  <a:srgbClr val="000000"/>
                </a:solidFill>
              </a:rPr>
              <a:t>. </a:t>
            </a:r>
            <a:r>
              <a:rPr lang="ko-KR" altLang="en-US" sz="700" dirty="0">
                <a:solidFill>
                  <a:srgbClr val="000000"/>
                </a:solidFill>
              </a:rPr>
              <a:t>만일 다음 각 호의 사유에 해당되어 유죄판결이 확정된 날부터 </a:t>
            </a:r>
            <a:r>
              <a:rPr lang="en-US" altLang="ko-KR" sz="700" dirty="0">
                <a:solidFill>
                  <a:srgbClr val="000000"/>
                </a:solidFill>
              </a:rPr>
              <a:t>2</a:t>
            </a:r>
            <a:r>
              <a:rPr lang="ko-KR" altLang="en-US" sz="700" dirty="0">
                <a:solidFill>
                  <a:srgbClr val="000000"/>
                </a:solidFill>
              </a:rPr>
              <a:t>년이 지나지 않은 사실이 발견된 때에는 계약의 </a:t>
            </a:r>
            <a:r>
              <a:rPr lang="ko-KR" altLang="en-US" sz="700" dirty="0" err="1">
                <a:solidFill>
                  <a:srgbClr val="000000"/>
                </a:solidFill>
              </a:rPr>
              <a:t>해제ㆍ해지를</a:t>
            </a:r>
            <a:r>
              <a:rPr lang="ko-KR" altLang="en-US" sz="700" dirty="0">
                <a:solidFill>
                  <a:srgbClr val="000000"/>
                </a:solidFill>
              </a:rPr>
              <a:t> 당하는 등의 불이익을 감수하겠으며</a:t>
            </a:r>
            <a:r>
              <a:rPr lang="en-US" altLang="ko-KR" sz="700" dirty="0">
                <a:solidFill>
                  <a:srgbClr val="000000"/>
                </a:solidFill>
              </a:rPr>
              <a:t>, </a:t>
            </a:r>
            <a:r>
              <a:rPr lang="ko-KR" altLang="en-US" sz="700" dirty="0">
                <a:solidFill>
                  <a:srgbClr val="000000"/>
                </a:solidFill>
              </a:rPr>
              <a:t>「국가계약법 </a:t>
            </a:r>
            <a:r>
              <a:rPr lang="ko-KR" altLang="en-US" sz="700" dirty="0" err="1">
                <a:solidFill>
                  <a:srgbClr val="000000"/>
                </a:solidFill>
              </a:rPr>
              <a:t>시행령」제</a:t>
            </a:r>
            <a:r>
              <a:rPr lang="en-US" altLang="ko-KR" sz="700" dirty="0">
                <a:solidFill>
                  <a:srgbClr val="000000"/>
                </a:solidFill>
              </a:rPr>
              <a:t>76</a:t>
            </a:r>
            <a:r>
              <a:rPr lang="ko-KR" altLang="en-US" sz="700" dirty="0">
                <a:solidFill>
                  <a:srgbClr val="000000"/>
                </a:solidFill>
              </a:rPr>
              <a:t>조제</a:t>
            </a:r>
            <a:r>
              <a:rPr lang="en-US" altLang="ko-KR" sz="700" dirty="0">
                <a:solidFill>
                  <a:srgbClr val="000000"/>
                </a:solidFill>
              </a:rPr>
              <a:t>1</a:t>
            </a:r>
            <a:r>
              <a:rPr lang="ko-KR" altLang="en-US" sz="700" dirty="0" err="1">
                <a:solidFill>
                  <a:srgbClr val="000000"/>
                </a:solidFill>
              </a:rPr>
              <a:t>항제</a:t>
            </a:r>
            <a:r>
              <a:rPr lang="en-US" altLang="ko-KR" sz="700" dirty="0">
                <a:solidFill>
                  <a:srgbClr val="000000"/>
                </a:solidFill>
              </a:rPr>
              <a:t>1</a:t>
            </a:r>
            <a:r>
              <a:rPr lang="ko-KR" altLang="en-US" sz="700" dirty="0" err="1">
                <a:solidFill>
                  <a:srgbClr val="000000"/>
                </a:solidFill>
              </a:rPr>
              <a:t>호가목에</a:t>
            </a:r>
            <a:r>
              <a:rPr lang="ko-KR" altLang="en-US" sz="700" dirty="0">
                <a:solidFill>
                  <a:srgbClr val="000000"/>
                </a:solidFill>
              </a:rPr>
              <a:t> 따라 부정당업자의 입찰참가자격제한 처분을 받겠습니다</a:t>
            </a:r>
            <a:r>
              <a:rPr lang="en-US" altLang="ko-KR" sz="700" dirty="0">
                <a:solidFill>
                  <a:srgbClr val="000000"/>
                </a:solidFill>
              </a:rPr>
              <a:t>.</a:t>
            </a:r>
            <a:endParaRPr lang="en-US" altLang="ko-KR" sz="700" dirty="0"/>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717412" y="31138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17412" y="46469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17412" y="51029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0" name="직선 연결선 209">
            <a:extLst>
              <a:ext uri="{FF2B5EF4-FFF2-40B4-BE49-F238E27FC236}">
                <a16:creationId xmlns:a16="http://schemas.microsoft.com/office/drawing/2014/main" id="{E9293055-D5CD-4B9E-7F64-64B2D2CA7A52}"/>
              </a:ext>
            </a:extLst>
          </p:cNvPr>
          <p:cNvCxnSpPr/>
          <p:nvPr/>
        </p:nvCxnSpPr>
        <p:spPr>
          <a:xfrm>
            <a:off x="717412" y="53434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2" name="직선 연결선 211">
            <a:extLst>
              <a:ext uri="{FF2B5EF4-FFF2-40B4-BE49-F238E27FC236}">
                <a16:creationId xmlns:a16="http://schemas.microsoft.com/office/drawing/2014/main" id="{E9293055-D5CD-4B9E-7F64-64B2D2CA7A52}"/>
              </a:ext>
            </a:extLst>
          </p:cNvPr>
          <p:cNvCxnSpPr/>
          <p:nvPr/>
        </p:nvCxnSpPr>
        <p:spPr>
          <a:xfrm>
            <a:off x="717412" y="56917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804476" y="3180219"/>
            <a:ext cx="2473940" cy="1400383"/>
          </a:xfrm>
          <a:prstGeom prst="rect">
            <a:avLst/>
          </a:prstGeom>
          <a:noFill/>
        </p:spPr>
        <p:txBody>
          <a:bodyPr wrap="square" lIns="0" tIns="0" rIns="0" bIns="0" rtlCol="0">
            <a:spAutoFit/>
          </a:bodyPr>
          <a:lstStyle/>
          <a:p>
            <a:pPr marL="228600" indent="-228600">
              <a:buAutoNum type="arabicPeriod"/>
            </a:pPr>
            <a:r>
              <a:rPr lang="en-US" altLang="ko-KR" sz="700" dirty="0">
                <a:latin typeface="맑은 고딕" panose="020B0503020000020004" pitchFamily="50" charset="-127"/>
              </a:rPr>
              <a:t>[</a:t>
            </a:r>
            <a:r>
              <a:rPr lang="ko-KR" altLang="en-US" sz="700" dirty="0">
                <a:latin typeface="맑은 고딕" panose="020B0503020000020004" pitchFamily="50" charset="-127"/>
              </a:rPr>
              <a:t>조세범처벌법</a:t>
            </a:r>
            <a:r>
              <a:rPr lang="en-US" altLang="ko-KR" sz="700" dirty="0">
                <a:latin typeface="맑은 고딕" panose="020B0503020000020004" pitchFamily="50" charset="-127"/>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조에 따른 조세 포탈세액이나 환급</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공제받은 세액이 </a:t>
            </a:r>
            <a:r>
              <a:rPr lang="en-US" altLang="ko-KR" sz="700" dirty="0">
                <a:solidFill>
                  <a:srgbClr val="000000"/>
                </a:solidFill>
                <a:latin typeface="Consolas" panose="020B0609020204030204" pitchFamily="49" charset="0"/>
              </a:rPr>
              <a:t>5</a:t>
            </a:r>
            <a:r>
              <a:rPr lang="ko-KR" altLang="en-US" sz="700" dirty="0">
                <a:solidFill>
                  <a:srgbClr val="000000"/>
                </a:solidFill>
                <a:latin typeface="Consolas" panose="020B0609020204030204" pitchFamily="49" charset="0"/>
              </a:rPr>
              <a:t>억원 이상인 자</a:t>
            </a:r>
            <a:endParaRPr lang="en-US" altLang="ko-KR" sz="700" dirty="0">
              <a:solidFill>
                <a:srgbClr val="000000"/>
              </a:solidFill>
              <a:latin typeface="맑은 고딕" panose="020B0503020000020004" pitchFamily="50" charset="-127"/>
            </a:endParaRPr>
          </a:p>
          <a:p>
            <a:pPr marL="228600" indent="-228600">
              <a:buAutoNum type="arabicPeriod"/>
            </a:pP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관세법</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270</a:t>
            </a:r>
            <a:r>
              <a:rPr lang="ko-KR" altLang="en-US" sz="700" dirty="0">
                <a:solidFill>
                  <a:srgbClr val="000000"/>
                </a:solidFill>
                <a:latin typeface="Consolas" panose="020B0609020204030204" pitchFamily="49" charset="0"/>
              </a:rPr>
              <a:t>조에 다른 부정한 방법으로 관세를 </a:t>
            </a:r>
            <a:r>
              <a:rPr lang="ko-KR" altLang="en-US" sz="700" dirty="0" err="1">
                <a:solidFill>
                  <a:srgbClr val="000000"/>
                </a:solidFill>
                <a:latin typeface="Consolas" panose="020B0609020204030204" pitchFamily="49" charset="0"/>
              </a:rPr>
              <a:t>감면받거나</a:t>
            </a:r>
            <a:r>
              <a:rPr lang="ko-KR" altLang="en-US"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면탈하거나</a:t>
            </a:r>
            <a:r>
              <a:rPr lang="ko-KR" altLang="en-US"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환급받은</a:t>
            </a:r>
            <a:r>
              <a:rPr lang="ko-KR" altLang="en-US" sz="700" dirty="0">
                <a:solidFill>
                  <a:srgbClr val="000000"/>
                </a:solidFill>
                <a:latin typeface="Consolas" panose="020B0609020204030204" pitchFamily="49" charset="0"/>
              </a:rPr>
              <a:t> 세액이 </a:t>
            </a:r>
            <a:r>
              <a:rPr lang="en-US" altLang="ko-KR" sz="700" dirty="0">
                <a:solidFill>
                  <a:srgbClr val="000000"/>
                </a:solidFill>
                <a:latin typeface="Consolas" panose="020B0609020204030204" pitchFamily="49" charset="0"/>
              </a:rPr>
              <a:t>5</a:t>
            </a:r>
            <a:r>
              <a:rPr lang="ko-KR" altLang="en-US" sz="700" dirty="0">
                <a:solidFill>
                  <a:srgbClr val="000000"/>
                </a:solidFill>
                <a:latin typeface="Consolas" panose="020B0609020204030204" pitchFamily="49" charset="0"/>
              </a:rPr>
              <a:t>억원 이상인 자</a:t>
            </a:r>
            <a:endParaRPr lang="en-US" altLang="ko-KR" sz="700" dirty="0">
              <a:solidFill>
                <a:srgbClr val="000000"/>
              </a:solidFill>
              <a:latin typeface="Consolas" panose="020B0609020204030204" pitchFamily="49" charset="0"/>
            </a:endParaRPr>
          </a:p>
          <a:p>
            <a:pPr marL="228600" indent="-228600">
              <a:buAutoNum type="arabicPeriod"/>
            </a:pP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지방세기본법</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102</a:t>
            </a:r>
            <a:r>
              <a:rPr lang="ko-KR" altLang="en-US" sz="700" dirty="0">
                <a:solidFill>
                  <a:srgbClr val="000000"/>
                </a:solidFill>
                <a:latin typeface="Consolas" panose="020B0609020204030204" pitchFamily="49" charset="0"/>
              </a:rPr>
              <a:t>조에 따른 지방세 포탈세액이나 환급</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공제 세액이 </a:t>
            </a:r>
            <a:r>
              <a:rPr lang="en-US" altLang="ko-KR" sz="700" dirty="0">
                <a:solidFill>
                  <a:srgbClr val="000000"/>
                </a:solidFill>
                <a:latin typeface="Consolas" panose="020B0609020204030204" pitchFamily="49" charset="0"/>
              </a:rPr>
              <a:t>5</a:t>
            </a:r>
            <a:r>
              <a:rPr lang="ko-KR" altLang="en-US" sz="700" dirty="0">
                <a:solidFill>
                  <a:srgbClr val="000000"/>
                </a:solidFill>
                <a:latin typeface="Consolas" panose="020B0609020204030204" pitchFamily="49" charset="0"/>
              </a:rPr>
              <a:t>억원 이상인 자</a:t>
            </a:r>
            <a:endParaRPr lang="en-US" altLang="ko-KR" sz="700" dirty="0">
              <a:solidFill>
                <a:srgbClr val="000000"/>
              </a:solidFill>
              <a:latin typeface="Consolas" panose="020B0609020204030204" pitchFamily="49" charset="0"/>
            </a:endParaRPr>
          </a:p>
          <a:p>
            <a:pPr marL="228600" indent="-228600">
              <a:buAutoNum type="arabicPeriod"/>
            </a:pP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국제조세조정에 관한 법률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53</a:t>
            </a:r>
            <a:r>
              <a:rPr lang="ko-KR" altLang="en-US" sz="700" dirty="0">
                <a:solidFill>
                  <a:srgbClr val="000000"/>
                </a:solidFill>
                <a:latin typeface="Consolas" panose="020B0609020204030204" pitchFamily="49" charset="0"/>
              </a:rPr>
              <a:t>조에 따른 해외금융계좌의 신고의무를 위반하고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그 신고의무 </a:t>
            </a:r>
            <a:r>
              <a:rPr lang="ko-KR" altLang="en-US" sz="700" dirty="0" err="1">
                <a:solidFill>
                  <a:srgbClr val="000000"/>
                </a:solidFill>
                <a:latin typeface="Consolas" panose="020B0609020204030204" pitchFamily="49" charset="0"/>
              </a:rPr>
              <a:t>위반금액이</a:t>
            </a:r>
            <a:r>
              <a:rPr lang="ko-KR" altLang="en-US" sz="700" dirty="0">
                <a:solidFill>
                  <a:srgbClr val="000000"/>
                </a:solidFill>
                <a:latin typeface="Consolas" panose="020B0609020204030204" pitchFamily="49" charset="0"/>
              </a:rPr>
              <a:t> 같은 법 제 </a:t>
            </a:r>
            <a:r>
              <a:rPr lang="en-US" altLang="ko-KR" sz="700" dirty="0">
                <a:solidFill>
                  <a:srgbClr val="000000"/>
                </a:solidFill>
                <a:latin typeface="Consolas" panose="020B0609020204030204" pitchFamily="49" charset="0"/>
              </a:rPr>
              <a:t>16</a:t>
            </a:r>
            <a:r>
              <a:rPr lang="ko-KR" altLang="en-US" sz="700" dirty="0">
                <a:solidFill>
                  <a:srgbClr val="000000"/>
                </a:solidFill>
                <a:latin typeface="Consolas" panose="020B0609020204030204" pitchFamily="49" charset="0"/>
              </a:rPr>
              <a:t>조제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항에 따른 금액을 초과하는 자</a:t>
            </a:r>
            <a:endParaRPr lang="en-US" altLang="ko-KR" sz="700" dirty="0">
              <a:solidFill>
                <a:srgbClr val="000000"/>
              </a:solidFill>
              <a:latin typeface="Consolas" panose="020B0609020204030204" pitchFamily="49" charset="0"/>
            </a:endParaRPr>
          </a:p>
          <a:p>
            <a:pPr marL="228600" indent="-228600">
              <a:buAutoNum type="arabicPeriod"/>
            </a:pP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외국환거래법</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제</a:t>
            </a:r>
            <a:r>
              <a:rPr lang="en-US" altLang="ko-KR" sz="700" dirty="0">
                <a:solidFill>
                  <a:srgbClr val="000000"/>
                </a:solidFill>
                <a:latin typeface="Consolas" panose="020B0609020204030204" pitchFamily="49" charset="0"/>
              </a:rPr>
              <a:t>18</a:t>
            </a:r>
            <a:r>
              <a:rPr lang="ko-KR" altLang="en-US" sz="700" dirty="0">
                <a:solidFill>
                  <a:srgbClr val="000000"/>
                </a:solidFill>
                <a:latin typeface="Consolas" panose="020B0609020204030204" pitchFamily="49" charset="0"/>
              </a:rPr>
              <a:t>조에 따른 자본거래의 신고의무를 위반하고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그 신고의무 </a:t>
            </a:r>
            <a:r>
              <a:rPr lang="ko-KR" altLang="en-US" sz="700" dirty="0" err="1">
                <a:solidFill>
                  <a:srgbClr val="000000"/>
                </a:solidFill>
                <a:latin typeface="Consolas" panose="020B0609020204030204" pitchFamily="49" charset="0"/>
              </a:rPr>
              <a:t>위반금액이</a:t>
            </a:r>
            <a:r>
              <a:rPr lang="ko-KR" altLang="en-US" sz="700" dirty="0">
                <a:solidFill>
                  <a:srgbClr val="000000"/>
                </a:solidFill>
                <a:latin typeface="Consolas" panose="020B0609020204030204" pitchFamily="49" charset="0"/>
              </a:rPr>
              <a:t> 같은 법 제</a:t>
            </a:r>
            <a:r>
              <a:rPr lang="en-US" altLang="ko-KR" sz="700" dirty="0">
                <a:solidFill>
                  <a:srgbClr val="000000"/>
                </a:solidFill>
                <a:latin typeface="Consolas" panose="020B0609020204030204" pitchFamily="49" charset="0"/>
              </a:rPr>
              <a:t>29</a:t>
            </a:r>
            <a:r>
              <a:rPr lang="ko-KR" altLang="en-US" sz="700" dirty="0">
                <a:solidFill>
                  <a:srgbClr val="000000"/>
                </a:solidFill>
                <a:latin typeface="Consolas" panose="020B0609020204030204" pitchFamily="49" charset="0"/>
              </a:rPr>
              <a:t>조제</a:t>
            </a:r>
            <a:r>
              <a:rPr lang="en-US" altLang="ko-KR" sz="700" dirty="0">
                <a:solidFill>
                  <a:srgbClr val="000000"/>
                </a:solidFill>
                <a:latin typeface="Consolas" panose="020B0609020204030204" pitchFamily="49" charset="0"/>
              </a:rPr>
              <a:t>1</a:t>
            </a:r>
            <a:r>
              <a:rPr lang="ko-KR" altLang="en-US" sz="700" dirty="0" err="1">
                <a:solidFill>
                  <a:srgbClr val="000000"/>
                </a:solidFill>
                <a:latin typeface="Consolas" panose="020B0609020204030204" pitchFamily="49" charset="0"/>
              </a:rPr>
              <a:t>항제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호에 해당하는 자</a:t>
            </a:r>
            <a:endParaRPr lang="en-US" altLang="ko-KR" sz="700" dirty="0">
              <a:latin typeface="맑은 고딕" panose="020B0503020000020004" pitchFamily="50" charset="-127"/>
            </a:endParaRPr>
          </a:p>
        </p:txBody>
      </p:sp>
      <p:sp>
        <p:nvSpPr>
          <p:cNvPr id="255" name="TextBox 254">
            <a:extLst>
              <a:ext uri="{FF2B5EF4-FFF2-40B4-BE49-F238E27FC236}">
                <a16:creationId xmlns:a16="http://schemas.microsoft.com/office/drawing/2014/main" id="{FFC49AEA-2A8F-250C-A86A-A7751D9706C3}"/>
              </a:ext>
            </a:extLst>
          </p:cNvPr>
          <p:cNvSpPr txBox="1"/>
          <p:nvPr/>
        </p:nvSpPr>
        <p:spPr>
          <a:xfrm>
            <a:off x="804476" y="4713394"/>
            <a:ext cx="2473940" cy="323165"/>
          </a:xfrm>
          <a:prstGeom prst="rect">
            <a:avLst/>
          </a:prstGeom>
          <a:noFill/>
        </p:spPr>
        <p:txBody>
          <a:bodyPr wrap="square" lIns="0" tIns="0" rIns="0" bIns="0" rtlCol="0">
            <a:spAutoFit/>
          </a:bodyPr>
          <a:lstStyle/>
          <a:p>
            <a:r>
              <a:rPr lang="ko-KR" altLang="en-US" sz="700" dirty="0">
                <a:latin typeface="맑은 고딕" panose="020B0503020000020004" pitchFamily="50" charset="-127"/>
              </a:rPr>
              <a:t>또한</a:t>
            </a:r>
            <a:r>
              <a:rPr lang="en-US" altLang="ko-KR" sz="700" dirty="0">
                <a:latin typeface="맑은 고딕" panose="020B0503020000020004" pitchFamily="50" charset="-127"/>
              </a:rPr>
              <a:t>, </a:t>
            </a:r>
            <a:r>
              <a:rPr lang="ko-KR" altLang="en-US" sz="700" dirty="0">
                <a:latin typeface="맑은 고딕" panose="020B0503020000020004" pitchFamily="50" charset="-127"/>
              </a:rPr>
              <a:t>당사는 계약담당공무원이 요구할 경우 </a:t>
            </a:r>
            <a:r>
              <a:rPr lang="en-US" altLang="ko-KR" sz="700" dirty="0">
                <a:latin typeface="맑은 고딕" panose="020B0503020000020004" pitchFamily="50" charset="-127"/>
              </a:rPr>
              <a:t>‘</a:t>
            </a:r>
            <a:r>
              <a:rPr lang="ko-KR" altLang="en-US" sz="700" dirty="0">
                <a:latin typeface="맑은 고딕" panose="020B0503020000020004" pitchFamily="50" charset="-127"/>
              </a:rPr>
              <a:t>조세포탈</a:t>
            </a:r>
            <a:r>
              <a:rPr lang="en-US" altLang="ko-KR" sz="700" dirty="0">
                <a:latin typeface="맑은 고딕" panose="020B0503020000020004" pitchFamily="50" charset="-127"/>
              </a:rPr>
              <a:t>’</a:t>
            </a:r>
            <a:r>
              <a:rPr lang="ko-KR" altLang="en-US" sz="700" dirty="0">
                <a:solidFill>
                  <a:srgbClr val="000000"/>
                </a:solidFill>
                <a:latin typeface="Consolas" panose="020B0609020204030204" pitchFamily="49" charset="0"/>
              </a:rPr>
              <a:t>을 한 사실이 없음을 입증하는 증빙서류</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범죄경력자료 </a:t>
            </a:r>
            <a:r>
              <a:rPr lang="ko-KR" altLang="en-US" sz="700" dirty="0" err="1">
                <a:solidFill>
                  <a:srgbClr val="000000"/>
                </a:solidFill>
                <a:latin typeface="Consolas" panose="020B0609020204030204" pitchFamily="49" charset="0"/>
              </a:rPr>
              <a:t>회보서나</a:t>
            </a:r>
            <a:r>
              <a:rPr lang="ko-KR" altLang="en-US" sz="700" dirty="0">
                <a:solidFill>
                  <a:srgbClr val="000000"/>
                </a:solidFill>
                <a:latin typeface="Consolas" panose="020B0609020204030204" pitchFamily="49" charset="0"/>
              </a:rPr>
              <a:t> 판결문 등</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를 즉시 제출할 것을 서약합니다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sp>
        <p:nvSpPr>
          <p:cNvPr id="256" name="TextBox 255">
            <a:extLst>
              <a:ext uri="{FF2B5EF4-FFF2-40B4-BE49-F238E27FC236}">
                <a16:creationId xmlns:a16="http://schemas.microsoft.com/office/drawing/2014/main" id="{FFC49AEA-2A8F-250C-A86A-A7751D9706C3}"/>
              </a:ext>
            </a:extLst>
          </p:cNvPr>
          <p:cNvSpPr txBox="1"/>
          <p:nvPr/>
        </p:nvSpPr>
        <p:spPr>
          <a:xfrm>
            <a:off x="804476" y="5169351"/>
            <a:ext cx="2473940" cy="107722"/>
          </a:xfrm>
          <a:prstGeom prst="rect">
            <a:avLst/>
          </a:prstGeom>
          <a:noFill/>
        </p:spPr>
        <p:txBody>
          <a:bodyPr wrap="square" lIns="0" tIns="0" rIns="0" bIns="0" rtlCol="0">
            <a:spAutoFit/>
          </a:bodyPr>
          <a:lstStyle/>
          <a:p>
            <a:pPr algn="ctr"/>
            <a:r>
              <a:rPr lang="en-US" altLang="ko-KR" sz="700" dirty="0">
                <a:latin typeface="맑은 고딕" panose="020B0503020000020004" pitchFamily="50" charset="-127"/>
              </a:rPr>
              <a:t>YYYY</a:t>
            </a:r>
            <a:r>
              <a:rPr lang="ko-KR" altLang="en-US" sz="700" dirty="0">
                <a:latin typeface="맑은 고딕" panose="020B0503020000020004" pitchFamily="50" charset="-127"/>
              </a:rPr>
              <a:t> 년  </a:t>
            </a:r>
            <a:r>
              <a:rPr lang="en-US" altLang="ko-KR" sz="700" dirty="0">
                <a:latin typeface="맑은 고딕" panose="020B0503020000020004" pitchFamily="50" charset="-127"/>
              </a:rPr>
              <a:t>MM</a:t>
            </a:r>
            <a:r>
              <a:rPr lang="ko-KR" altLang="en-US" sz="700" dirty="0">
                <a:latin typeface="맑은 고딕" panose="020B0503020000020004" pitchFamily="50" charset="-127"/>
              </a:rPr>
              <a:t> 월  </a:t>
            </a:r>
            <a:r>
              <a:rPr lang="en-US" altLang="ko-KR" sz="700" dirty="0">
                <a:latin typeface="맑은 고딕" panose="020B0503020000020004" pitchFamily="50" charset="-127"/>
              </a:rPr>
              <a:t>DD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p:txBody>
      </p:sp>
      <p:sp>
        <p:nvSpPr>
          <p:cNvPr id="257" name="TextBox 256">
            <a:extLst>
              <a:ext uri="{FF2B5EF4-FFF2-40B4-BE49-F238E27FC236}">
                <a16:creationId xmlns:a16="http://schemas.microsoft.com/office/drawing/2014/main" id="{FFC49AEA-2A8F-250C-A86A-A7751D9706C3}"/>
              </a:ext>
            </a:extLst>
          </p:cNvPr>
          <p:cNvSpPr txBox="1"/>
          <p:nvPr/>
        </p:nvSpPr>
        <p:spPr>
          <a:xfrm>
            <a:off x="804476" y="5409865"/>
            <a:ext cx="2473940" cy="215444"/>
          </a:xfrm>
          <a:prstGeom prst="rect">
            <a:avLst/>
          </a:prstGeom>
          <a:noFill/>
        </p:spPr>
        <p:txBody>
          <a:bodyPr wrap="square" lIns="0" tIns="0" rIns="0" bIns="0" rtlCol="0">
            <a:spAutoFit/>
          </a:bodyPr>
          <a:lstStyle/>
          <a:p>
            <a:r>
              <a:rPr lang="ko-KR" altLang="en-US" sz="700" dirty="0" err="1">
                <a:latin typeface="맑은 고딕" panose="020B0503020000020004" pitchFamily="50" charset="-127"/>
              </a:rPr>
              <a:t>서약자</a:t>
            </a:r>
            <a:r>
              <a:rPr lang="ko-KR" altLang="en-US" sz="700" dirty="0">
                <a:latin typeface="맑은 고딕" panose="020B0503020000020004" pitchFamily="50" charset="-127"/>
              </a:rPr>
              <a:t> </a:t>
            </a:r>
            <a:r>
              <a:rPr lang="en-US" altLang="ko-KR" sz="700" dirty="0">
                <a:latin typeface="맑은 고딕" panose="020B0503020000020004" pitchFamily="50" charset="-127"/>
              </a:rPr>
              <a:t>: ###(</a:t>
            </a:r>
            <a:r>
              <a:rPr lang="ko-KR" altLang="en-US" sz="700" dirty="0">
                <a:latin typeface="맑은 고딕" panose="020B0503020000020004" pitchFamily="50" charset="-127"/>
              </a:rPr>
              <a:t>업체담당자명</a:t>
            </a:r>
            <a:r>
              <a:rPr lang="en-US" altLang="ko-KR" sz="700" dirty="0">
                <a:latin typeface="맑은 고딕" panose="020B0503020000020004" pitchFamily="50" charset="-127"/>
              </a:rPr>
              <a:t>) [</a:t>
            </a:r>
            <a:r>
              <a:rPr lang="ko-KR" altLang="en-US" sz="700" dirty="0" err="1">
                <a:latin typeface="맑은 고딕" panose="020B0503020000020004" pitchFamily="50" charset="-127"/>
              </a:rPr>
              <a:t>업체명</a:t>
            </a:r>
            <a:r>
              <a:rPr lang="en-US" altLang="ko-KR" sz="700" dirty="0">
                <a:latin typeface="맑은 고딕" panose="020B0503020000020004" pitchFamily="50" charset="-127"/>
              </a:rPr>
              <a:t>]</a:t>
            </a:r>
          </a:p>
          <a:p>
            <a:r>
              <a:rPr lang="ko-KR" altLang="en-US" sz="700" dirty="0">
                <a:latin typeface="맑은 고딕" panose="020B0503020000020004" pitchFamily="50" charset="-127"/>
              </a:rPr>
              <a:t>방위사업청장 귀하 </a:t>
            </a:r>
            <a:r>
              <a:rPr lang="en-US" altLang="ko-KR" sz="700" dirty="0">
                <a:latin typeface="맑은 고딕" panose="020B0503020000020004" pitchFamily="50" charset="-127"/>
              </a:rPr>
              <a:t>OR ####</a:t>
            </a:r>
            <a:r>
              <a:rPr lang="ko-KR" altLang="en-US" sz="700" dirty="0">
                <a:latin typeface="맑은 고딕" panose="020B0503020000020004" pitchFamily="50" charset="-127"/>
              </a:rPr>
              <a:t>부대 귀하</a:t>
            </a:r>
            <a:endParaRPr lang="en-US" altLang="ko-KR" sz="700" dirty="0">
              <a:latin typeface="맑은 고딕" panose="020B0503020000020004" pitchFamily="50" charset="-127"/>
            </a:endParaRPr>
          </a:p>
        </p:txBody>
      </p:sp>
      <p:grpSp>
        <p:nvGrpSpPr>
          <p:cNvPr id="7" name="그룹 6"/>
          <p:cNvGrpSpPr/>
          <p:nvPr/>
        </p:nvGrpSpPr>
        <p:grpSpPr>
          <a:xfrm>
            <a:off x="1432789" y="5769652"/>
            <a:ext cx="1197246" cy="107722"/>
            <a:chOff x="4526323" y="5902014"/>
            <a:chExt cx="1197246" cy="107722"/>
          </a:xfrm>
        </p:grpSpPr>
        <p:sp>
          <p:nvSpPr>
            <p:cNvPr id="258" name="타원 257"/>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타원 258"/>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0" name="TextBox 259">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262" name="그룹 261"/>
          <p:cNvGrpSpPr/>
          <p:nvPr/>
        </p:nvGrpSpPr>
        <p:grpSpPr>
          <a:xfrm>
            <a:off x="675399" y="5949967"/>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95" name="타원 194">
            <a:extLst>
              <a:ext uri="{FF2B5EF4-FFF2-40B4-BE49-F238E27FC236}">
                <a16:creationId xmlns:a16="http://schemas.microsoft.com/office/drawing/2014/main" id="{37A7FF4F-0EAA-1463-560A-D5EC24416103}"/>
              </a:ext>
            </a:extLst>
          </p:cNvPr>
          <p:cNvSpPr/>
          <p:nvPr/>
        </p:nvSpPr>
        <p:spPr>
          <a:xfrm>
            <a:off x="571127" y="512240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03" name="타원 202">
            <a:extLst>
              <a:ext uri="{FF2B5EF4-FFF2-40B4-BE49-F238E27FC236}">
                <a16:creationId xmlns:a16="http://schemas.microsoft.com/office/drawing/2014/main" id="{37A7FF4F-0EAA-1463-560A-D5EC24416103}"/>
              </a:ext>
            </a:extLst>
          </p:cNvPr>
          <p:cNvSpPr/>
          <p:nvPr/>
        </p:nvSpPr>
        <p:spPr>
          <a:xfrm>
            <a:off x="571127" y="541963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04" name="타원 203">
            <a:extLst>
              <a:ext uri="{FF2B5EF4-FFF2-40B4-BE49-F238E27FC236}">
                <a16:creationId xmlns:a16="http://schemas.microsoft.com/office/drawing/2014/main" id="{37A7FF4F-0EAA-1463-560A-D5EC24416103}"/>
              </a:ext>
            </a:extLst>
          </p:cNvPr>
          <p:cNvSpPr/>
          <p:nvPr/>
        </p:nvSpPr>
        <p:spPr>
          <a:xfrm>
            <a:off x="571127" y="57374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Tree>
    <p:extLst>
      <p:ext uri="{BB962C8B-B14F-4D97-AF65-F5344CB8AC3E}">
        <p14:creationId xmlns:p14="http://schemas.microsoft.com/office/powerpoint/2010/main" val="7075823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신청일 당일 날짜 표시</a:t>
            </a:r>
            <a:endParaRPr lang="en-US" altLang="ko-KR" dirty="0"/>
          </a:p>
          <a:p>
            <a:pPr marL="228600" indent="-228600">
              <a:buFont typeface="+mj-lt"/>
              <a:buAutoNum type="arabicPeriod"/>
            </a:pPr>
            <a:r>
              <a:rPr lang="ko-KR" altLang="en-US" dirty="0" err="1"/>
              <a:t>서약자</a:t>
            </a:r>
            <a:r>
              <a:rPr lang="en-US" altLang="ko-KR" dirty="0"/>
              <a:t> </a:t>
            </a:r>
            <a:r>
              <a:rPr lang="ko-KR" altLang="en-US" dirty="0"/>
              <a:t>및 공고</a:t>
            </a:r>
            <a:r>
              <a:rPr lang="en-US" altLang="ko-KR" dirty="0"/>
              <a:t> </a:t>
            </a:r>
            <a:r>
              <a:rPr lang="ko-KR" altLang="en-US" dirty="0"/>
              <a:t>담당 정보 표시</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서약서 </a:t>
            </a:r>
            <a:r>
              <a:rPr lang="en-US" altLang="ko-KR" dirty="0">
                <a:latin typeface="+mn-ea"/>
              </a:rPr>
              <a:t>2</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서약서 중 청렴 계약 이행 서약서 내용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 </a:t>
            </a:r>
            <a:r>
              <a:rPr lang="en-US" altLang="ko-KR" dirty="0">
                <a:latin typeface="+mn-ea"/>
              </a:rPr>
              <a:t>&gt; </a:t>
            </a:r>
            <a:r>
              <a:rPr lang="ko-KR" altLang="en-US" dirty="0">
                <a:latin typeface="+mn-ea"/>
              </a:rPr>
              <a:t>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MUI-BD-04-P03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033936"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청렴 계약 이행 서약서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754053"/>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우리회사는 </a:t>
            </a:r>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부패없는</a:t>
            </a:r>
            <a:r>
              <a:rPr lang="ko-KR" altLang="en-US" sz="700" dirty="0">
                <a:solidFill>
                  <a:srgbClr val="000000"/>
                </a:solidFill>
                <a:latin typeface="Consolas" panose="020B0609020204030204" pitchFamily="49" charset="0"/>
              </a:rPr>
              <a:t> 투명한 기업경영과 공정한 행정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이 사회발전과 국가 경쟁력에 중요한 관건이 됨을 깊이 인식하며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국제적으로도 </a:t>
            </a:r>
            <a:r>
              <a:rPr lang="en-US" altLang="ko-KR" sz="700" dirty="0">
                <a:solidFill>
                  <a:srgbClr val="000000"/>
                </a:solidFill>
                <a:latin typeface="Consolas" panose="020B0609020204030204" pitchFamily="49" charset="0"/>
              </a:rPr>
              <a:t>OECD</a:t>
            </a:r>
            <a:r>
              <a:rPr lang="ko-KR" altLang="en-US" sz="700" dirty="0">
                <a:solidFill>
                  <a:srgbClr val="000000"/>
                </a:solidFill>
                <a:latin typeface="Consolas" panose="020B0609020204030204" pitchFamily="49" charset="0"/>
              </a:rPr>
              <a:t>뇌물방지 협약이 발효되고 </a:t>
            </a:r>
            <a:r>
              <a:rPr lang="ko-KR" altLang="en-US" sz="700" dirty="0" err="1">
                <a:solidFill>
                  <a:srgbClr val="000000"/>
                </a:solidFill>
                <a:latin typeface="Consolas" panose="020B0609020204030204" pitchFamily="49" charset="0"/>
              </a:rPr>
              <a:t>부패기업</a:t>
            </a:r>
            <a:r>
              <a:rPr lang="ko-KR" altLang="en-US" sz="700" dirty="0">
                <a:solidFill>
                  <a:srgbClr val="000000"/>
                </a:solidFill>
                <a:latin typeface="Consolas" panose="020B0609020204030204" pitchFamily="49" charset="0"/>
              </a:rPr>
              <a:t> 및 국가에 대한 제재가 강화되는 추세에 맞추어 청렴계약 취지에 적극적으로 호응하여 </a:t>
            </a:r>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발주기관명</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이</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가</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발주하는 모든 공사</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용역</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물품구매 등의 입찰에 참여함에 있어 우리 회사의 임</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직원과 대리인은</a:t>
            </a:r>
            <a:endParaRPr lang="en-US" altLang="ko-KR" sz="700" dirty="0">
              <a:latin typeface="맑은 고딕" panose="020B0503020000020004" pitchFamily="50" charset="-127"/>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717412" y="31975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804476" y="3263926"/>
            <a:ext cx="2473940" cy="2477601"/>
          </a:xfrm>
          <a:prstGeom prst="rect">
            <a:avLst/>
          </a:prstGeom>
          <a:noFill/>
        </p:spPr>
        <p:txBody>
          <a:bodyPr wrap="square" lIns="0" tIns="0" rIns="0" bIns="0" rtlCol="0">
            <a:spAutoFit/>
          </a:bodyPr>
          <a:lstStyle/>
          <a:p>
            <a:pPr marL="228600" indent="-228600">
              <a:buAutoNum type="arabicPeriod"/>
            </a:pPr>
            <a:r>
              <a:rPr lang="ko-KR" altLang="en-US" sz="700" dirty="0">
                <a:solidFill>
                  <a:srgbClr val="000000"/>
                </a:solidFill>
                <a:latin typeface="Consolas" panose="020B0609020204030204" pitchFamily="49" charset="0"/>
              </a:rPr>
              <a:t>입찰가격의 사전협의나 특정인의 낙찰을 위한 담합 및 </a:t>
            </a:r>
            <a:r>
              <a:rPr lang="ko-KR" altLang="en-US" sz="700" dirty="0" err="1">
                <a:solidFill>
                  <a:srgbClr val="000000"/>
                </a:solidFill>
                <a:latin typeface="Consolas" panose="020B0609020204030204" pitchFamily="49" charset="0"/>
              </a:rPr>
              <a:t>다른업체와</a:t>
            </a:r>
            <a:r>
              <a:rPr lang="ko-KR" altLang="en-US" sz="700" dirty="0">
                <a:solidFill>
                  <a:srgbClr val="000000"/>
                </a:solidFill>
                <a:latin typeface="Consolas" panose="020B0609020204030204" pitchFamily="49" charset="0"/>
              </a:rPr>
              <a:t> 협정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결의</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협의하여 입찰의 자유경쟁을 부당하게 저해하는 일체의 불공정한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a:t>
            </a:r>
            <a:r>
              <a:rPr lang="en-US" altLang="ko-KR" sz="700" dirty="0">
                <a:solidFill>
                  <a:srgbClr val="2A00FF"/>
                </a:solidFill>
                <a:latin typeface="Consolas" panose="020B0609020204030204" pitchFamily="49" charset="0"/>
              </a:rPr>
              <a:t>‘</a:t>
            </a:r>
            <a:r>
              <a:rPr lang="ko-KR" altLang="en-US" sz="700" dirty="0" err="1">
                <a:solidFill>
                  <a:srgbClr val="000000"/>
                </a:solidFill>
                <a:latin typeface="Consolas" panose="020B0609020204030204" pitchFamily="49" charset="0"/>
              </a:rPr>
              <a:t>독점규제및공정거래에관한법률</a:t>
            </a:r>
            <a:r>
              <a:rPr lang="en-US" altLang="ko-KR" sz="700" dirty="0">
                <a:solidFill>
                  <a:srgbClr val="2A00FF"/>
                </a:solidFill>
                <a:latin typeface="Consolas" panose="020B0609020204030204" pitchFamily="49" charset="0"/>
              </a:rPr>
              <a:t>’</a:t>
            </a:r>
            <a:r>
              <a:rPr lang="ko-KR" altLang="en-US" sz="700" dirty="0">
                <a:solidFill>
                  <a:srgbClr val="000000"/>
                </a:solidFill>
                <a:latin typeface="Consolas" panose="020B0609020204030204" pitchFamily="49" charset="0"/>
              </a:rPr>
              <a:t>에 따른 공정거래위원회고발 및 형사고발과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a:pPr>
            <a:r>
              <a:rPr lang="ko-KR" altLang="en-US" sz="700" dirty="0">
                <a:solidFill>
                  <a:srgbClr val="000000"/>
                </a:solidFill>
                <a:latin typeface="Consolas" panose="020B0609020204030204" pitchFamily="49" charset="0"/>
              </a:rPr>
              <a:t>입찰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계약체결 및 계약이행과정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준공</a:t>
            </a:r>
            <a:r>
              <a:rPr lang="en-US" altLang="ko-KR"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납품이후를</a:t>
            </a:r>
            <a:r>
              <a:rPr lang="ko-KR" altLang="en-US" sz="700" dirty="0">
                <a:solidFill>
                  <a:srgbClr val="000000"/>
                </a:solidFill>
                <a:latin typeface="Consolas" panose="020B0609020204030204" pitchFamily="49" charset="0"/>
              </a:rPr>
              <a:t> 포함</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에서 관계공무원에게 직</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간접적으로 금품</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향응 등의 뇌물을 제공하거나 제공함을 약속하지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a:pP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a:t>
            </a:r>
            <a:endParaRPr lang="en-US" altLang="ko-KR" sz="700" dirty="0">
              <a:latin typeface="맑은 고딕" panose="020B0503020000020004" pitchFamily="50" charset="-127"/>
            </a:endParaRPr>
          </a:p>
        </p:txBody>
      </p:sp>
      <p:grpSp>
        <p:nvGrpSpPr>
          <p:cNvPr id="262" name="그룹 261"/>
          <p:cNvGrpSpPr/>
          <p:nvPr/>
        </p:nvGrpSpPr>
        <p:grpSpPr>
          <a:xfrm>
            <a:off x="675399" y="5614711"/>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46" name="양쪽 모서리가 둥근 사각형 145"/>
          <p:cNvSpPr/>
          <p:nvPr/>
        </p:nvSpPr>
        <p:spPr>
          <a:xfrm>
            <a:off x="3793783"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99" name="모서리가 둥근 직사각형 198"/>
          <p:cNvSpPr/>
          <p:nvPr/>
        </p:nvSpPr>
        <p:spPr>
          <a:xfrm>
            <a:off x="4879796"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00" name="그룹 199"/>
          <p:cNvGrpSpPr/>
          <p:nvPr/>
        </p:nvGrpSpPr>
        <p:grpSpPr>
          <a:xfrm>
            <a:off x="6282722" y="1773925"/>
            <a:ext cx="94010" cy="94010"/>
            <a:chOff x="6812560" y="3297172"/>
            <a:chExt cx="94010" cy="94010"/>
          </a:xfrm>
        </p:grpSpPr>
        <p:cxnSp>
          <p:nvCxnSpPr>
            <p:cNvPr id="202" name="직선 연결선 20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04" name="TextBox 203">
            <a:extLst>
              <a:ext uri="{FF2B5EF4-FFF2-40B4-BE49-F238E27FC236}">
                <a16:creationId xmlns:a16="http://schemas.microsoft.com/office/drawing/2014/main" id="{FFC49AEA-2A8F-250C-A86A-A7751D9706C3}"/>
              </a:ext>
            </a:extLst>
          </p:cNvPr>
          <p:cNvSpPr txBox="1"/>
          <p:nvPr/>
        </p:nvSpPr>
        <p:spPr>
          <a:xfrm>
            <a:off x="3922860"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3783"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22860" y="2033176"/>
            <a:ext cx="2473940" cy="1508105"/>
          </a:xfrm>
          <a:prstGeom prst="rect">
            <a:avLst/>
          </a:prstGeom>
          <a:noFill/>
        </p:spPr>
        <p:txBody>
          <a:bodyPr wrap="square" lIns="0" tIns="0" rIns="0" bIns="0" rtlCol="0">
            <a:spAutoFit/>
          </a:bodyPr>
          <a:lstStyle/>
          <a:p>
            <a:pPr marL="228600" indent="-228600">
              <a:buFont typeface="+mj-lt"/>
              <a:buAutoNum type="arabicPeriod" startAt="3"/>
            </a:pP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startAt="3"/>
            </a:pPr>
            <a:r>
              <a:rPr lang="ko-KR" altLang="en-US" sz="700" dirty="0">
                <a:solidFill>
                  <a:srgbClr val="000000"/>
                </a:solidFill>
                <a:latin typeface="Consolas" panose="020B0609020204030204" pitchFamily="49" charset="0"/>
              </a:rPr>
              <a:t>우리회사 임</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직원이 관계공무원에게 뇌물을 제공하거나 담합 등 불공정 행위를 하지 않도록 하고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내부 비리 제보자에 대해서도 일체의 불이익을 받지 않도록 노력하겠습니다</a:t>
            </a:r>
            <a:r>
              <a:rPr lang="en-US" altLang="ko-KR" sz="700" dirty="0">
                <a:solidFill>
                  <a:srgbClr val="000000"/>
                </a:solidFill>
                <a:latin typeface="Consolas" panose="020B0609020204030204" pitchFamily="49" charset="0"/>
              </a:rPr>
              <a:t>.</a:t>
            </a:r>
          </a:p>
          <a:p>
            <a:pPr marL="228600" indent="-228600">
              <a:buAutoNum type="arabicPeriod" startAt="3"/>
            </a:pPr>
            <a:r>
              <a:rPr lang="ko-KR" altLang="en-US" sz="700" dirty="0">
                <a:solidFill>
                  <a:srgbClr val="000000"/>
                </a:solidFill>
                <a:latin typeface="Consolas" panose="020B0609020204030204" pitchFamily="49" charset="0"/>
              </a:rPr>
              <a:t>본 건과 관련한 하도급 계약의 체결 및 이행에 있어서 </a:t>
            </a:r>
            <a:r>
              <a:rPr lang="ko-KR" altLang="en-US" sz="700" dirty="0" err="1">
                <a:solidFill>
                  <a:srgbClr val="000000"/>
                </a:solidFill>
                <a:latin typeface="Consolas" panose="020B0609020204030204" pitchFamily="49" charset="0"/>
              </a:rPr>
              <a:t>원도급자로서의</a:t>
            </a:r>
            <a:r>
              <a:rPr lang="ko-KR" altLang="en-US" sz="700" dirty="0">
                <a:solidFill>
                  <a:srgbClr val="000000"/>
                </a:solidFill>
                <a:latin typeface="Consolas" panose="020B0609020204030204" pitchFamily="49" charset="0"/>
              </a:rPr>
              <a:t> 우월한 지위를 이용하여 </a:t>
            </a:r>
            <a:r>
              <a:rPr lang="ko-KR" altLang="en-US" sz="700" dirty="0" err="1">
                <a:solidFill>
                  <a:srgbClr val="000000"/>
                </a:solidFill>
                <a:latin typeface="Consolas" panose="020B0609020204030204" pitchFamily="49" charset="0"/>
              </a:rPr>
              <a:t>하도급자에게로부터</a:t>
            </a:r>
            <a:r>
              <a:rPr lang="ko-KR" altLang="en-US" sz="700" dirty="0">
                <a:solidFill>
                  <a:srgbClr val="000000"/>
                </a:solidFill>
                <a:latin typeface="Consolas" panose="020B0609020204030204" pitchFamily="49" charset="0"/>
              </a:rPr>
              <a:t> 금품을 수수하거나 부당 또는 불공정한 행위를 하지 아니하겠습니다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grpSp>
        <p:nvGrpSpPr>
          <p:cNvPr id="211" name="그룹 210"/>
          <p:cNvGrpSpPr/>
          <p:nvPr/>
        </p:nvGrpSpPr>
        <p:grpSpPr>
          <a:xfrm>
            <a:off x="3793783" y="5614711"/>
            <a:ext cx="2712027" cy="617588"/>
            <a:chOff x="675399" y="5614711"/>
            <a:chExt cx="2712027" cy="617588"/>
          </a:xfrm>
        </p:grpSpPr>
        <p:sp>
          <p:nvSpPr>
            <p:cNvPr id="213" name="직사각형 21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5"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16"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cxnSp>
        <p:nvCxnSpPr>
          <p:cNvPr id="217" name="직선 연결선 216">
            <a:extLst>
              <a:ext uri="{FF2B5EF4-FFF2-40B4-BE49-F238E27FC236}">
                <a16:creationId xmlns:a16="http://schemas.microsoft.com/office/drawing/2014/main" id="{E9293055-D5CD-4B9E-7F64-64B2D2CA7A52}"/>
              </a:ext>
            </a:extLst>
          </p:cNvPr>
          <p:cNvCxnSpPr/>
          <p:nvPr/>
        </p:nvCxnSpPr>
        <p:spPr>
          <a:xfrm>
            <a:off x="3835796" y="3573476"/>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8" name="TextBox 217">
            <a:extLst>
              <a:ext uri="{FF2B5EF4-FFF2-40B4-BE49-F238E27FC236}">
                <a16:creationId xmlns:a16="http://schemas.microsoft.com/office/drawing/2014/main" id="{FFC49AEA-2A8F-250C-A86A-A7751D9706C3}"/>
              </a:ext>
            </a:extLst>
          </p:cNvPr>
          <p:cNvSpPr txBox="1"/>
          <p:nvPr/>
        </p:nvSpPr>
        <p:spPr>
          <a:xfrm>
            <a:off x="3922860" y="3639872"/>
            <a:ext cx="2473940" cy="861774"/>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위 청렴계약이행 서약은 상호 신뢰를 바탕으로 한 </a:t>
            </a:r>
            <a:r>
              <a:rPr lang="ko-KR" altLang="en-US" sz="700" dirty="0" err="1">
                <a:solidFill>
                  <a:srgbClr val="000000"/>
                </a:solidFill>
                <a:latin typeface="Consolas" panose="020B0609020204030204" pitchFamily="49" charset="0"/>
              </a:rPr>
              <a:t>약속으로서</a:t>
            </a:r>
            <a:r>
              <a:rPr lang="ko-KR" altLang="en-US" sz="700" dirty="0">
                <a:solidFill>
                  <a:srgbClr val="000000"/>
                </a:solidFill>
                <a:latin typeface="Consolas" panose="020B0609020204030204" pitchFamily="49" charset="0"/>
              </a:rPr>
              <a:t> 반드시 지킬 것이며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우리회사가 낙찰자로 결정될 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이 서약 내용을 그대로 계약특수조건으로 계약하여 이행하고</a:t>
            </a:r>
            <a:r>
              <a:rPr lang="en-US" altLang="ko-KR"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불이행시</a:t>
            </a:r>
            <a:r>
              <a:rPr lang="ko-KR" altLang="en-US"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귀부대가</a:t>
            </a:r>
            <a:r>
              <a:rPr lang="ko-KR" altLang="en-US" sz="700" dirty="0">
                <a:solidFill>
                  <a:srgbClr val="000000"/>
                </a:solidFill>
                <a:latin typeface="Consolas" panose="020B0609020204030204" pitchFamily="49" charset="0"/>
              </a:rPr>
              <a:t> 입찰참가 자격제한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입찰 및 낙찰 취소</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계약해제</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해지</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등의 조치 또는 우리 회사를 배제하는 입찰에 관한 조치를 하더라도 우리 회사는 </a:t>
            </a:r>
            <a:r>
              <a:rPr lang="ko-KR" altLang="en-US" sz="700" dirty="0" err="1">
                <a:solidFill>
                  <a:srgbClr val="000000"/>
                </a:solidFill>
                <a:latin typeface="Consolas" panose="020B0609020204030204" pitchFamily="49" charset="0"/>
              </a:rPr>
              <a:t>귀부대를</a:t>
            </a:r>
            <a:r>
              <a:rPr lang="ko-KR" altLang="en-US" sz="700" dirty="0">
                <a:solidFill>
                  <a:srgbClr val="000000"/>
                </a:solidFill>
                <a:latin typeface="Consolas" panose="020B0609020204030204" pitchFamily="49" charset="0"/>
              </a:rPr>
              <a:t> 상대로 손해배상을 청구하거나 민</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형사상 이의를 제기하지 않을 것을 서약합니다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cxnSp>
        <p:nvCxnSpPr>
          <p:cNvPr id="219" name="직선 연결선 218">
            <a:extLst>
              <a:ext uri="{FF2B5EF4-FFF2-40B4-BE49-F238E27FC236}">
                <a16:creationId xmlns:a16="http://schemas.microsoft.com/office/drawing/2014/main" id="{E9293055-D5CD-4B9E-7F64-64B2D2CA7A52}"/>
              </a:ext>
            </a:extLst>
          </p:cNvPr>
          <p:cNvCxnSpPr/>
          <p:nvPr/>
        </p:nvCxnSpPr>
        <p:spPr>
          <a:xfrm>
            <a:off x="3835796" y="45586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3835796" y="48025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3835796" y="51507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2" name="TextBox 221">
            <a:extLst>
              <a:ext uri="{FF2B5EF4-FFF2-40B4-BE49-F238E27FC236}">
                <a16:creationId xmlns:a16="http://schemas.microsoft.com/office/drawing/2014/main" id="{FFC49AEA-2A8F-250C-A86A-A7751D9706C3}"/>
              </a:ext>
            </a:extLst>
          </p:cNvPr>
          <p:cNvSpPr txBox="1"/>
          <p:nvPr/>
        </p:nvSpPr>
        <p:spPr>
          <a:xfrm>
            <a:off x="3922860" y="4628442"/>
            <a:ext cx="2473940" cy="107722"/>
          </a:xfrm>
          <a:prstGeom prst="rect">
            <a:avLst/>
          </a:prstGeom>
          <a:noFill/>
        </p:spPr>
        <p:txBody>
          <a:bodyPr wrap="square" lIns="0" tIns="0" rIns="0" bIns="0" rtlCol="0">
            <a:spAutoFit/>
          </a:bodyPr>
          <a:lstStyle/>
          <a:p>
            <a:pPr algn="ctr"/>
            <a:r>
              <a:rPr lang="en-US" altLang="ko-KR" sz="700" dirty="0">
                <a:latin typeface="맑은 고딕" panose="020B0503020000020004" pitchFamily="50" charset="-127"/>
              </a:rPr>
              <a:t>YYYY</a:t>
            </a:r>
            <a:r>
              <a:rPr lang="ko-KR" altLang="en-US" sz="700" dirty="0">
                <a:latin typeface="맑은 고딕" panose="020B0503020000020004" pitchFamily="50" charset="-127"/>
              </a:rPr>
              <a:t> 년  </a:t>
            </a:r>
            <a:r>
              <a:rPr lang="en-US" altLang="ko-KR" sz="700" dirty="0">
                <a:latin typeface="맑은 고딕" panose="020B0503020000020004" pitchFamily="50" charset="-127"/>
              </a:rPr>
              <a:t>MM</a:t>
            </a:r>
            <a:r>
              <a:rPr lang="ko-KR" altLang="en-US" sz="700" dirty="0">
                <a:latin typeface="맑은 고딕" panose="020B0503020000020004" pitchFamily="50" charset="-127"/>
              </a:rPr>
              <a:t> 월  </a:t>
            </a:r>
            <a:r>
              <a:rPr lang="en-US" altLang="ko-KR" sz="700" dirty="0">
                <a:latin typeface="맑은 고딕" panose="020B0503020000020004" pitchFamily="50" charset="-127"/>
              </a:rPr>
              <a:t>DD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p:txBody>
      </p:sp>
      <p:sp>
        <p:nvSpPr>
          <p:cNvPr id="223" name="TextBox 222">
            <a:extLst>
              <a:ext uri="{FF2B5EF4-FFF2-40B4-BE49-F238E27FC236}">
                <a16:creationId xmlns:a16="http://schemas.microsoft.com/office/drawing/2014/main" id="{FFC49AEA-2A8F-250C-A86A-A7751D9706C3}"/>
              </a:ext>
            </a:extLst>
          </p:cNvPr>
          <p:cNvSpPr txBox="1"/>
          <p:nvPr/>
        </p:nvSpPr>
        <p:spPr>
          <a:xfrm>
            <a:off x="3922860" y="4868956"/>
            <a:ext cx="2473940" cy="215444"/>
          </a:xfrm>
          <a:prstGeom prst="rect">
            <a:avLst/>
          </a:prstGeom>
          <a:noFill/>
        </p:spPr>
        <p:txBody>
          <a:bodyPr wrap="square" lIns="0" tIns="0" rIns="0" bIns="0" rtlCol="0">
            <a:spAutoFit/>
          </a:bodyPr>
          <a:lstStyle/>
          <a:p>
            <a:r>
              <a:rPr lang="ko-KR" altLang="en-US" sz="700" dirty="0" err="1">
                <a:latin typeface="맑은 고딕" panose="020B0503020000020004" pitchFamily="50" charset="-127"/>
              </a:rPr>
              <a:t>서약자</a:t>
            </a:r>
            <a:r>
              <a:rPr lang="ko-KR" altLang="en-US" sz="700" dirty="0">
                <a:latin typeface="맑은 고딕" panose="020B0503020000020004" pitchFamily="50" charset="-127"/>
              </a:rPr>
              <a:t> </a:t>
            </a:r>
            <a:r>
              <a:rPr lang="en-US" altLang="ko-KR" sz="700" dirty="0">
                <a:latin typeface="맑은 고딕" panose="020B0503020000020004" pitchFamily="50" charset="-127"/>
              </a:rPr>
              <a:t>: ###(</a:t>
            </a:r>
            <a:r>
              <a:rPr lang="ko-KR" altLang="en-US" sz="700" dirty="0">
                <a:latin typeface="맑은 고딕" panose="020B0503020000020004" pitchFamily="50" charset="-127"/>
              </a:rPr>
              <a:t>업체담당자명</a:t>
            </a:r>
            <a:r>
              <a:rPr lang="en-US" altLang="ko-KR" sz="700" dirty="0">
                <a:latin typeface="맑은 고딕" panose="020B0503020000020004" pitchFamily="50" charset="-127"/>
              </a:rPr>
              <a:t>)[</a:t>
            </a:r>
            <a:r>
              <a:rPr lang="ko-KR" altLang="en-US" sz="700" dirty="0" err="1">
                <a:latin typeface="맑은 고딕" panose="020B0503020000020004" pitchFamily="50" charset="-127"/>
              </a:rPr>
              <a:t>업체명</a:t>
            </a:r>
            <a:r>
              <a:rPr lang="en-US" altLang="ko-KR" sz="700" dirty="0">
                <a:latin typeface="맑은 고딕" panose="020B0503020000020004" pitchFamily="50" charset="-127"/>
              </a:rPr>
              <a:t>]</a:t>
            </a:r>
          </a:p>
          <a:p>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발주기관명</a:t>
            </a:r>
            <a:r>
              <a:rPr lang="en-US" altLang="ko-KR" sz="700" dirty="0">
                <a:solidFill>
                  <a:srgbClr val="000000"/>
                </a:solidFill>
                <a:latin typeface="Consolas" panose="020B0609020204030204" pitchFamily="49" charset="0"/>
              </a:rPr>
              <a:t>)</a:t>
            </a:r>
            <a:r>
              <a:rPr lang="ko-KR" altLang="en-US" sz="700" dirty="0">
                <a:latin typeface="맑은 고딕" panose="020B0503020000020004" pitchFamily="50" charset="-127"/>
              </a:rPr>
              <a:t> 귀하</a:t>
            </a:r>
            <a:endParaRPr lang="en-US" altLang="ko-KR" sz="700" dirty="0">
              <a:latin typeface="맑은 고딕" panose="020B0503020000020004" pitchFamily="50" charset="-127"/>
            </a:endParaRPr>
          </a:p>
        </p:txBody>
      </p:sp>
      <p:grpSp>
        <p:nvGrpSpPr>
          <p:cNvPr id="224" name="그룹 223"/>
          <p:cNvGrpSpPr/>
          <p:nvPr/>
        </p:nvGrpSpPr>
        <p:grpSpPr>
          <a:xfrm>
            <a:off x="4551173" y="5228743"/>
            <a:ext cx="1197246" cy="107722"/>
            <a:chOff x="4526323" y="5902014"/>
            <a:chExt cx="1197246" cy="107722"/>
          </a:xfrm>
        </p:grpSpPr>
        <p:sp>
          <p:nvSpPr>
            <p:cNvPr id="225" name="타원 224"/>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6" name="타원 225"/>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7" name="TextBox 226">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sp>
        <p:nvSpPr>
          <p:cNvPr id="229" name="TextBox 228">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54" name="타원 53">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타원 54">
            <a:extLst>
              <a:ext uri="{FF2B5EF4-FFF2-40B4-BE49-F238E27FC236}">
                <a16:creationId xmlns:a16="http://schemas.microsoft.com/office/drawing/2014/main" id="{37A7FF4F-0EAA-1463-560A-D5EC24416103}"/>
              </a:ext>
            </a:extLst>
          </p:cNvPr>
          <p:cNvSpPr/>
          <p:nvPr/>
        </p:nvSpPr>
        <p:spPr>
          <a:xfrm>
            <a:off x="3701811" y="461565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56" name="타원 55">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7" name="타원 56">
            <a:extLst>
              <a:ext uri="{FF2B5EF4-FFF2-40B4-BE49-F238E27FC236}">
                <a16:creationId xmlns:a16="http://schemas.microsoft.com/office/drawing/2014/main" id="{37A7FF4F-0EAA-1463-560A-D5EC24416103}"/>
              </a:ext>
            </a:extLst>
          </p:cNvPr>
          <p:cNvSpPr/>
          <p:nvPr/>
        </p:nvSpPr>
        <p:spPr>
          <a:xfrm>
            <a:off x="3701811" y="491288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58" name="타원 57">
            <a:extLst>
              <a:ext uri="{FF2B5EF4-FFF2-40B4-BE49-F238E27FC236}">
                <a16:creationId xmlns:a16="http://schemas.microsoft.com/office/drawing/2014/main" id="{37A7FF4F-0EAA-1463-560A-D5EC24416103}"/>
              </a:ext>
            </a:extLst>
          </p:cNvPr>
          <p:cNvSpPr/>
          <p:nvPr/>
        </p:nvSpPr>
        <p:spPr>
          <a:xfrm>
            <a:off x="3701811" y="52307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Tree>
    <p:extLst>
      <p:ext uri="{BB962C8B-B14F-4D97-AF65-F5344CB8AC3E}">
        <p14:creationId xmlns:p14="http://schemas.microsoft.com/office/powerpoint/2010/main" val="223393069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선택한 내역은 입찰 마지막에 동일한 내용으로 재 안내 됨</a:t>
            </a:r>
            <a:r>
              <a:rPr lang="en-US" altLang="ko-KR" dirty="0"/>
              <a:t>.</a:t>
            </a:r>
          </a:p>
          <a:p>
            <a:pPr marL="0" indent="0">
              <a:buNone/>
            </a:pPr>
            <a:endParaRPr lang="en-US" altLang="ko-KR" dirty="0"/>
          </a:p>
          <a:p>
            <a:pPr marL="0" indent="0">
              <a:buNone/>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서약서 </a:t>
            </a:r>
            <a:r>
              <a:rPr lang="en-US" altLang="ko-KR" dirty="0">
                <a:latin typeface="+mn-ea"/>
              </a:rPr>
              <a:t>3</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서약서 중 하도급대금의 지급관련 확인 및 확약서 내용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 </a:t>
            </a:r>
            <a:r>
              <a:rPr lang="en-US" altLang="ko-KR" dirty="0">
                <a:latin typeface="+mn-ea"/>
              </a:rPr>
              <a:t>&gt; </a:t>
            </a:r>
            <a:r>
              <a:rPr lang="ko-KR" altLang="en-US" dirty="0">
                <a:latin typeface="+mn-ea"/>
              </a:rPr>
              <a:t>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MUI-BD-04-P04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788951"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하도급대금의 지급관련 확인 및 확약서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538609"/>
          </a:xfrm>
          <a:prstGeom prst="rect">
            <a:avLst/>
          </a:prstGeom>
          <a:noFill/>
        </p:spPr>
        <p:txBody>
          <a:bodyPr wrap="square" lIns="0" tIns="0" rIns="0" bIns="0" rtlCol="0">
            <a:spAutoFit/>
          </a:bodyPr>
          <a:lstStyle/>
          <a:p>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선택</a:t>
            </a:r>
            <a:r>
              <a:rPr lang="en-US" altLang="ko-KR" sz="700" dirty="0">
                <a:solidFill>
                  <a:srgbClr val="000000"/>
                </a:solidFill>
                <a:latin typeface="Consolas" panose="020B0609020204030204" pitchFamily="49" charset="0"/>
              </a:rPr>
              <a:t>1]</a:t>
            </a:r>
          </a:p>
          <a:p>
            <a:endParaRPr lang="en-US" altLang="ko-KR" sz="700" dirty="0">
              <a:solidFill>
                <a:srgbClr val="000000"/>
              </a:solidFill>
              <a:latin typeface="Consolas" panose="020B0609020204030204" pitchFamily="49" charset="0"/>
            </a:endParaRPr>
          </a:p>
          <a:p>
            <a:r>
              <a:rPr lang="ko-KR" altLang="en-US" sz="700" dirty="0">
                <a:solidFill>
                  <a:srgbClr val="000000"/>
                </a:solidFill>
                <a:latin typeface="Consolas" panose="020B0609020204030204" pitchFamily="49" charset="0"/>
              </a:rPr>
              <a:t>당사는 </a:t>
            </a:r>
            <a:r>
              <a:rPr lang="ko-KR" altLang="en-US" sz="700" dirty="0" err="1">
                <a:solidFill>
                  <a:srgbClr val="000000"/>
                </a:solidFill>
                <a:latin typeface="Consolas" panose="020B0609020204030204" pitchFamily="49" charset="0"/>
              </a:rPr>
              <a:t>해당입찰의</a:t>
            </a:r>
            <a:r>
              <a:rPr lang="ko-KR" altLang="en-US" sz="700" dirty="0">
                <a:solidFill>
                  <a:srgbClr val="000000"/>
                </a:solidFill>
                <a:latin typeface="Consolas" panose="020B0609020204030204" pitchFamily="49" charset="0"/>
              </a:rPr>
              <a:t> 공고일로부터 </a:t>
            </a:r>
            <a:r>
              <a:rPr lang="en-US" altLang="ko-KR" sz="700" dirty="0">
                <a:solidFill>
                  <a:srgbClr val="000000"/>
                </a:solidFill>
                <a:latin typeface="Consolas" panose="020B0609020204030204" pitchFamily="49" charset="0"/>
              </a:rPr>
              <a:t>1</a:t>
            </a:r>
            <a:r>
              <a:rPr lang="ko-KR" altLang="en-US" sz="700" dirty="0" err="1">
                <a:solidFill>
                  <a:srgbClr val="000000"/>
                </a:solidFill>
                <a:latin typeface="Consolas" panose="020B0609020204030204" pitchFamily="49" charset="0"/>
              </a:rPr>
              <a:t>년이내</a:t>
            </a:r>
            <a:r>
              <a:rPr lang="ko-KR" altLang="en-US" sz="700" dirty="0">
                <a:solidFill>
                  <a:srgbClr val="000000"/>
                </a:solidFill>
                <a:latin typeface="Consolas" panose="020B0609020204030204" pitchFamily="49" charset="0"/>
              </a:rPr>
              <a:t> 「건설산업기본법」 제</a:t>
            </a:r>
            <a:r>
              <a:rPr lang="en-US" altLang="ko-KR" sz="700" dirty="0">
                <a:solidFill>
                  <a:srgbClr val="000000"/>
                </a:solidFill>
                <a:latin typeface="Consolas" panose="020B0609020204030204" pitchFamily="49" charset="0"/>
              </a:rPr>
              <a:t>34</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 또는 「하도급거래 공정화에 관한 법률」 제</a:t>
            </a:r>
            <a:r>
              <a:rPr lang="en-US" altLang="ko-KR" sz="700" dirty="0">
                <a:solidFill>
                  <a:srgbClr val="000000"/>
                </a:solidFill>
                <a:latin typeface="Consolas" panose="020B0609020204030204" pitchFamily="49" charset="0"/>
              </a:rPr>
              <a:t>13</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항이나 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항을 위반한 사실이 없습니다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62" name="그룹 261"/>
          <p:cNvGrpSpPr/>
          <p:nvPr/>
        </p:nvGrpSpPr>
        <p:grpSpPr>
          <a:xfrm>
            <a:off x="675399" y="5614711"/>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cxnSp>
        <p:nvCxnSpPr>
          <p:cNvPr id="230" name="직선 연결선 229">
            <a:extLst>
              <a:ext uri="{FF2B5EF4-FFF2-40B4-BE49-F238E27FC236}">
                <a16:creationId xmlns:a16="http://schemas.microsoft.com/office/drawing/2014/main" id="{E9293055-D5CD-4B9E-7F64-64B2D2CA7A52}"/>
              </a:ext>
            </a:extLst>
          </p:cNvPr>
          <p:cNvCxnSpPr/>
          <p:nvPr/>
        </p:nvCxnSpPr>
        <p:spPr>
          <a:xfrm>
            <a:off x="717412" y="29914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1" name="TextBox 230">
            <a:extLst>
              <a:ext uri="{FF2B5EF4-FFF2-40B4-BE49-F238E27FC236}">
                <a16:creationId xmlns:a16="http://schemas.microsoft.com/office/drawing/2014/main" id="{FFC49AEA-2A8F-250C-A86A-A7751D9706C3}"/>
              </a:ext>
            </a:extLst>
          </p:cNvPr>
          <p:cNvSpPr txBox="1"/>
          <p:nvPr/>
        </p:nvSpPr>
        <p:spPr>
          <a:xfrm>
            <a:off x="804476" y="3054889"/>
            <a:ext cx="2473940" cy="861774"/>
          </a:xfrm>
          <a:prstGeom prst="rect">
            <a:avLst/>
          </a:prstGeom>
          <a:noFill/>
        </p:spPr>
        <p:txBody>
          <a:bodyPr wrap="square" lIns="0" tIns="0" rIns="0" bIns="0" rtlCol="0">
            <a:spAutoFit/>
          </a:bodyPr>
          <a:lstStyle/>
          <a:p>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선택</a:t>
            </a:r>
            <a:r>
              <a:rPr lang="en-US" altLang="ko-KR" sz="700" dirty="0">
                <a:solidFill>
                  <a:srgbClr val="000000"/>
                </a:solidFill>
                <a:latin typeface="Consolas" panose="020B0609020204030204" pitchFamily="49" charset="0"/>
              </a:rPr>
              <a:t>2]</a:t>
            </a:r>
          </a:p>
          <a:p>
            <a:endParaRPr lang="en-US" altLang="ko-KR" sz="700" dirty="0">
              <a:solidFill>
                <a:srgbClr val="000000"/>
              </a:solidFill>
              <a:latin typeface="Consolas" panose="020B0609020204030204" pitchFamily="49" charset="0"/>
            </a:endParaRPr>
          </a:p>
          <a:p>
            <a:r>
              <a:rPr lang="ko-KR" altLang="en-US" sz="700" dirty="0">
                <a:solidFill>
                  <a:srgbClr val="000000"/>
                </a:solidFill>
                <a:latin typeface="Consolas" panose="020B0609020204030204" pitchFamily="49" charset="0"/>
              </a:rPr>
              <a:t>당사는 </a:t>
            </a:r>
            <a:r>
              <a:rPr lang="ko-KR" altLang="en-US" sz="700" dirty="0" err="1">
                <a:solidFill>
                  <a:srgbClr val="000000"/>
                </a:solidFill>
                <a:latin typeface="Consolas" panose="020B0609020204030204" pitchFamily="49" charset="0"/>
              </a:rPr>
              <a:t>해당입찰의</a:t>
            </a:r>
            <a:r>
              <a:rPr lang="ko-KR" altLang="en-US" sz="700" dirty="0">
                <a:solidFill>
                  <a:srgbClr val="000000"/>
                </a:solidFill>
                <a:latin typeface="Consolas" panose="020B0609020204030204" pitchFamily="49" charset="0"/>
              </a:rPr>
              <a:t> 공고일로부터 </a:t>
            </a:r>
            <a:r>
              <a:rPr lang="en-US" altLang="ko-KR" sz="700" dirty="0">
                <a:solidFill>
                  <a:srgbClr val="000000"/>
                </a:solidFill>
                <a:latin typeface="Consolas" panose="020B0609020204030204" pitchFamily="49" charset="0"/>
              </a:rPr>
              <a:t>1</a:t>
            </a:r>
            <a:r>
              <a:rPr lang="ko-KR" altLang="en-US" sz="700" dirty="0" err="1">
                <a:solidFill>
                  <a:srgbClr val="000000"/>
                </a:solidFill>
                <a:latin typeface="Consolas" panose="020B0609020204030204" pitchFamily="49" charset="0"/>
              </a:rPr>
              <a:t>년이내</a:t>
            </a:r>
            <a:r>
              <a:rPr lang="ko-KR" altLang="en-US" sz="700" dirty="0">
                <a:solidFill>
                  <a:srgbClr val="000000"/>
                </a:solidFill>
                <a:latin typeface="Consolas" panose="020B0609020204030204" pitchFamily="49" charset="0"/>
              </a:rPr>
              <a:t> 「건설산업기본법」 제</a:t>
            </a:r>
            <a:r>
              <a:rPr lang="en-US" altLang="ko-KR" sz="700" dirty="0">
                <a:solidFill>
                  <a:srgbClr val="000000"/>
                </a:solidFill>
                <a:latin typeface="Consolas" panose="020B0609020204030204" pitchFamily="49" charset="0"/>
              </a:rPr>
              <a:t>34</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 또는 「하도급거래 공정화에 관한 법률」 제</a:t>
            </a:r>
            <a:r>
              <a:rPr lang="en-US" altLang="ko-KR" sz="700" dirty="0">
                <a:solidFill>
                  <a:srgbClr val="000000"/>
                </a:solidFill>
                <a:latin typeface="Consolas" panose="020B0609020204030204" pitchFamily="49" charset="0"/>
              </a:rPr>
              <a:t>13</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항이나 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항을 위반한 사실이 있으므로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본 입찰에 계약상대자로 결정되어 </a:t>
            </a:r>
            <a:r>
              <a:rPr lang="ko-KR" altLang="en-US" sz="700" dirty="0" err="1">
                <a:solidFill>
                  <a:srgbClr val="000000"/>
                </a:solidFill>
                <a:latin typeface="Consolas" panose="020B0609020204030204" pitchFamily="49" charset="0"/>
              </a:rPr>
              <a:t>계약시</a:t>
            </a:r>
            <a:r>
              <a:rPr lang="ko-KR" altLang="en-US" sz="700" dirty="0">
                <a:solidFill>
                  <a:srgbClr val="000000"/>
                </a:solidFill>
                <a:latin typeface="Consolas" panose="020B0609020204030204" pitchFamily="49" charset="0"/>
              </a:rPr>
              <a:t> 「국가계약법」 제</a:t>
            </a:r>
            <a:r>
              <a:rPr lang="en-US" altLang="ko-KR" sz="700" dirty="0">
                <a:solidFill>
                  <a:srgbClr val="000000"/>
                </a:solidFill>
                <a:latin typeface="Consolas" panose="020B0609020204030204" pitchFamily="49" charset="0"/>
              </a:rPr>
              <a:t>15</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항에 따른 대가 지급 시 하도급대금은 발주기관이 하수급인에게 직접 지급하는 것을 합의할 것을 확약합니다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cxnSp>
        <p:nvCxnSpPr>
          <p:cNvPr id="232" name="직선 연결선 231">
            <a:extLst>
              <a:ext uri="{FF2B5EF4-FFF2-40B4-BE49-F238E27FC236}">
                <a16:creationId xmlns:a16="http://schemas.microsoft.com/office/drawing/2014/main" id="{E9293055-D5CD-4B9E-7F64-64B2D2CA7A52}"/>
              </a:ext>
            </a:extLst>
          </p:cNvPr>
          <p:cNvCxnSpPr/>
          <p:nvPr/>
        </p:nvCxnSpPr>
        <p:spPr>
          <a:xfrm>
            <a:off x="717412" y="39736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33" name="그룹 232"/>
          <p:cNvGrpSpPr/>
          <p:nvPr/>
        </p:nvGrpSpPr>
        <p:grpSpPr>
          <a:xfrm>
            <a:off x="1432789" y="4135294"/>
            <a:ext cx="1189232" cy="107722"/>
            <a:chOff x="4526323" y="5902014"/>
            <a:chExt cx="1189232" cy="107722"/>
          </a:xfrm>
        </p:grpSpPr>
        <p:sp>
          <p:nvSpPr>
            <p:cNvPr id="234" name="타원 233"/>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타원 234"/>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6" name="TextBox 235">
              <a:extLst>
                <a:ext uri="{FF2B5EF4-FFF2-40B4-BE49-F238E27FC236}">
                  <a16:creationId xmlns:a16="http://schemas.microsoft.com/office/drawing/2014/main" id="{FFC49AEA-2A8F-250C-A86A-A7751D9706C3}"/>
                </a:ext>
              </a:extLst>
            </p:cNvPr>
            <p:cNvSpPr txBox="1"/>
            <p:nvPr/>
          </p:nvSpPr>
          <p:spPr>
            <a:xfrm>
              <a:off x="4694755" y="5902014"/>
              <a:ext cx="261290" cy="107722"/>
            </a:xfrm>
            <a:prstGeom prst="rect">
              <a:avLst/>
            </a:prstGeom>
            <a:noFill/>
          </p:spPr>
          <p:txBody>
            <a:bodyPr wrap="none" lIns="0" tIns="0" rIns="0" bIns="0" rtlCol="0">
              <a:spAutoFit/>
            </a:bodyPr>
            <a:lstStyle/>
            <a:p>
              <a:r>
                <a:rPr lang="ko-KR" altLang="en-US" sz="700" dirty="0">
                  <a:latin typeface="+mn-ea"/>
                </a:rPr>
                <a:t>선택 </a:t>
              </a:r>
              <a:r>
                <a:rPr lang="en-US" altLang="ko-KR" sz="700" dirty="0">
                  <a:latin typeface="+mn-ea"/>
                </a:rPr>
                <a:t>1</a:t>
              </a:r>
              <a:endParaRPr lang="ko-KR" altLang="en-US" sz="700" dirty="0">
                <a:latin typeface="+mn-ea"/>
              </a:endParaRPr>
            </a:p>
          </p:txBody>
        </p:sp>
        <p:sp>
          <p:nvSpPr>
            <p:cNvPr id="237" name="TextBox 236">
              <a:extLst>
                <a:ext uri="{FF2B5EF4-FFF2-40B4-BE49-F238E27FC236}">
                  <a16:creationId xmlns:a16="http://schemas.microsoft.com/office/drawing/2014/main" id="{FFC49AEA-2A8F-250C-A86A-A7751D9706C3}"/>
                </a:ext>
              </a:extLst>
            </p:cNvPr>
            <p:cNvSpPr txBox="1"/>
            <p:nvPr/>
          </p:nvSpPr>
          <p:spPr>
            <a:xfrm>
              <a:off x="5454265" y="5902014"/>
              <a:ext cx="261290" cy="107722"/>
            </a:xfrm>
            <a:prstGeom prst="rect">
              <a:avLst/>
            </a:prstGeom>
            <a:noFill/>
          </p:spPr>
          <p:txBody>
            <a:bodyPr wrap="none" lIns="0" tIns="0" rIns="0" bIns="0" rtlCol="0">
              <a:spAutoFit/>
            </a:bodyPr>
            <a:lstStyle/>
            <a:p>
              <a:r>
                <a:rPr lang="ko-KR" altLang="en-US" sz="700" dirty="0">
                  <a:latin typeface="+mn-ea"/>
                </a:rPr>
                <a:t>선택 </a:t>
              </a:r>
              <a:r>
                <a:rPr lang="en-US" altLang="ko-KR" sz="700" dirty="0">
                  <a:latin typeface="+mn-ea"/>
                </a:rPr>
                <a:t>2</a:t>
              </a:r>
              <a:endParaRPr lang="ko-KR" altLang="en-US" sz="700" dirty="0">
                <a:latin typeface="+mn-ea"/>
              </a:endParaRPr>
            </a:p>
          </p:txBody>
        </p:sp>
      </p:grpSp>
      <p:sp>
        <p:nvSpPr>
          <p:cNvPr id="34" name="타원 33">
            <a:extLst>
              <a:ext uri="{FF2B5EF4-FFF2-40B4-BE49-F238E27FC236}">
                <a16:creationId xmlns:a16="http://schemas.microsoft.com/office/drawing/2014/main" id="{37A7FF4F-0EAA-1463-560A-D5EC24416103}"/>
              </a:ext>
            </a:extLst>
          </p:cNvPr>
          <p:cNvSpPr/>
          <p:nvPr/>
        </p:nvSpPr>
        <p:spPr>
          <a:xfrm>
            <a:off x="571127" y="409156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09730250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95</a:t>
            </a:fld>
            <a:endParaRPr lang="ko-KR" altLang="en-US" dirty="0"/>
          </a:p>
        </p:txBody>
      </p:sp>
      <p:sp>
        <p:nvSpPr>
          <p:cNvPr id="2" name="TextBox 1">
            <a:extLst>
              <a:ext uri="{FF2B5EF4-FFF2-40B4-BE49-F238E27FC236}">
                <a16:creationId xmlns:a16="http://schemas.microsoft.com/office/drawing/2014/main" id="{07D6A41E-0D94-47F3-F9FC-FDE27FFC3AEA}"/>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1.</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14BA5116-CE16-A86C-DFE1-E004134F9825}"/>
              </a:ext>
            </a:extLst>
          </p:cNvPr>
          <p:cNvGraphicFramePr>
            <a:graphicFrameLocks noGrp="1"/>
          </p:cNvGraphicFramePr>
          <p:nvPr/>
        </p:nvGraphicFramePr>
        <p:xfrm>
          <a:off x="453000" y="1039042"/>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동의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scwin.btn_arge_onclick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서약서동의 팝업 화면 종료 후 입찰참가신청서 팝업 화면 또는 견적서제출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8752916"/>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서약서동의 팝업 화면 종료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Box 73">
            <a:extLst>
              <a:ext uri="{FF2B5EF4-FFF2-40B4-BE49-F238E27FC236}">
                <a16:creationId xmlns:a16="http://schemas.microsoft.com/office/drawing/2014/main" id="{48E2A323-D605-C365-9B90-5C67461FBA1F}"/>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1170692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공지사항이 있는 경우 표시</a:t>
            </a:r>
            <a:r>
              <a:rPr lang="en-US" altLang="ko-KR" dirty="0"/>
              <a:t/>
            </a:r>
            <a:br>
              <a:rPr lang="en-US" altLang="ko-KR" dirty="0"/>
            </a:br>
            <a:r>
              <a:rPr lang="en-US" altLang="ko-KR" dirty="0"/>
              <a:t>- </a:t>
            </a:r>
            <a:r>
              <a:rPr lang="ko-KR" altLang="en-US" dirty="0"/>
              <a:t>공지사항은 입찰참가신청서 조회</a:t>
            </a:r>
            <a:r>
              <a:rPr lang="en-US" altLang="ko-KR" dirty="0"/>
              <a:t>/</a:t>
            </a:r>
            <a:r>
              <a:rPr lang="ko-KR" altLang="en-US" dirty="0"/>
              <a:t>수정 시</a:t>
            </a:r>
            <a:r>
              <a:rPr lang="en-US" altLang="ko-KR" dirty="0"/>
              <a:t> </a:t>
            </a:r>
            <a:r>
              <a:rPr lang="ko-KR" altLang="en-US" dirty="0" err="1"/>
              <a:t>연기공고</a:t>
            </a:r>
            <a:r>
              <a:rPr lang="ko-KR" altLang="en-US" dirty="0"/>
              <a:t> 처리 된 경우 보이기</a:t>
            </a:r>
            <a:endParaRPr lang="en-US" altLang="ko-KR" dirty="0"/>
          </a:p>
          <a:p>
            <a:pPr marL="228600" indent="-228600">
              <a:buFont typeface="+mj-lt"/>
              <a:buAutoNum type="arabicPeriod"/>
            </a:pPr>
            <a:r>
              <a:rPr lang="ko-KR" altLang="en-US" dirty="0"/>
              <a:t>업무 도움 표시</a:t>
            </a:r>
            <a:endParaRPr lang="en-US" altLang="ko-KR" dirty="0"/>
          </a:p>
          <a:p>
            <a:pPr marL="228600" indent="-228600">
              <a:buFont typeface="+mj-lt"/>
              <a:buAutoNum type="arabicPeriod"/>
            </a:pPr>
            <a:r>
              <a:rPr lang="ko-KR" altLang="en-US" dirty="0"/>
              <a:t>신청서 작성 내역 탭</a:t>
            </a:r>
            <a:r>
              <a:rPr lang="en-US" altLang="ko-KR" dirty="0"/>
              <a:t/>
            </a:r>
            <a:br>
              <a:rPr lang="en-US" altLang="ko-KR" dirty="0"/>
            </a:br>
            <a:r>
              <a:rPr lang="en-US" altLang="ko-KR" dirty="0"/>
              <a:t>1- </a:t>
            </a:r>
            <a:r>
              <a:rPr lang="ko-KR" altLang="en-US" dirty="0"/>
              <a:t>일반정보</a:t>
            </a:r>
            <a:r>
              <a:rPr lang="en-US" altLang="ko-KR" dirty="0"/>
              <a:t/>
            </a:r>
            <a:br>
              <a:rPr lang="en-US" altLang="ko-KR" dirty="0"/>
            </a:br>
            <a:r>
              <a:rPr lang="en-US" altLang="ko-KR" dirty="0"/>
              <a:t>2- </a:t>
            </a:r>
            <a:r>
              <a:rPr lang="ko-KR" altLang="en-US" dirty="0" err="1"/>
              <a:t>품목내역</a:t>
            </a:r>
            <a:r>
              <a:rPr lang="ko-KR" altLang="en-US" dirty="0"/>
              <a:t> </a:t>
            </a:r>
            <a:r>
              <a:rPr lang="en-US" altLang="ko-KR" dirty="0"/>
              <a:t>(</a:t>
            </a:r>
            <a:r>
              <a:rPr lang="ko-KR" altLang="en-US" dirty="0" err="1"/>
              <a:t>단가제인</a:t>
            </a:r>
            <a:r>
              <a:rPr lang="ko-KR" altLang="en-US" dirty="0"/>
              <a:t> 경우 표시</a:t>
            </a:r>
            <a:r>
              <a:rPr lang="en-US" altLang="ko-KR" dirty="0"/>
              <a:t>)</a:t>
            </a:r>
            <a:br>
              <a:rPr lang="en-US" altLang="ko-KR" dirty="0"/>
            </a:br>
            <a:r>
              <a:rPr lang="en-US" altLang="ko-KR" dirty="0"/>
              <a:t>3- </a:t>
            </a:r>
            <a:r>
              <a:rPr lang="ko-KR" altLang="en-US" dirty="0" err="1"/>
              <a:t>공종</a:t>
            </a:r>
            <a:r>
              <a:rPr lang="ko-KR" altLang="en-US" dirty="0"/>
              <a:t> 및 면허 </a:t>
            </a:r>
            <a:r>
              <a:rPr lang="en-US" altLang="ko-KR" dirty="0"/>
              <a:t>(</a:t>
            </a:r>
            <a:r>
              <a:rPr lang="ko-KR" altLang="en-US" dirty="0" err="1"/>
              <a:t>업무구분</a:t>
            </a:r>
            <a:r>
              <a:rPr lang="ko-KR" altLang="en-US" dirty="0"/>
              <a:t> </a:t>
            </a:r>
            <a:r>
              <a:rPr lang="en-US" altLang="ko-KR" dirty="0"/>
              <a:t>– </a:t>
            </a:r>
            <a:r>
              <a:rPr lang="ko-KR" altLang="en-US" dirty="0"/>
              <a:t>공사</a:t>
            </a:r>
            <a:r>
              <a:rPr lang="en-US" altLang="ko-KR" dirty="0"/>
              <a:t>, </a:t>
            </a:r>
            <a:r>
              <a:rPr lang="ko-KR" altLang="en-US" dirty="0" err="1"/>
              <a:t>공종정보</a:t>
            </a:r>
            <a:r>
              <a:rPr lang="ko-KR" altLang="en-US" dirty="0"/>
              <a:t> 있는 경우 표시</a:t>
            </a:r>
            <a:r>
              <a:rPr lang="en-US" altLang="ko-KR" dirty="0"/>
              <a:t>)</a:t>
            </a:r>
            <a:br>
              <a:rPr lang="en-US" altLang="ko-KR" dirty="0"/>
            </a:br>
            <a:r>
              <a:rPr lang="en-US" altLang="ko-KR" dirty="0"/>
              <a:t>4- </a:t>
            </a:r>
            <a:r>
              <a:rPr lang="ko-KR" altLang="en-US" dirty="0"/>
              <a:t>입찰보증금 </a:t>
            </a:r>
            <a:r>
              <a:rPr lang="en-US" altLang="ko-KR" dirty="0"/>
              <a:t>(</a:t>
            </a:r>
            <a:r>
              <a:rPr lang="ko-KR" altLang="en-US" dirty="0" err="1"/>
              <a:t>분담이행</a:t>
            </a:r>
            <a:r>
              <a:rPr lang="ko-KR" altLang="en-US" dirty="0"/>
              <a:t> 방식인 경우 표시</a:t>
            </a:r>
            <a:r>
              <a:rPr lang="en-US" altLang="ko-KR" dirty="0"/>
              <a:t>)</a:t>
            </a:r>
            <a:br>
              <a:rPr lang="en-US" altLang="ko-KR" dirty="0"/>
            </a:br>
            <a:r>
              <a:rPr lang="en-US" altLang="ko-KR" dirty="0"/>
              <a:t>5- </a:t>
            </a:r>
            <a:r>
              <a:rPr lang="ko-KR" altLang="en-US" dirty="0"/>
              <a:t>공동수급업체 </a:t>
            </a:r>
            <a:r>
              <a:rPr lang="en-US" altLang="ko-KR" dirty="0"/>
              <a:t>(</a:t>
            </a:r>
            <a:r>
              <a:rPr lang="ko-KR" altLang="en-US" dirty="0"/>
              <a:t>단독인 경우 숨김</a:t>
            </a:r>
            <a:r>
              <a:rPr lang="en-US" altLang="ko-KR" dirty="0"/>
              <a:t>)</a:t>
            </a:r>
            <a:br>
              <a:rPr lang="en-US" altLang="ko-KR" dirty="0"/>
            </a:br>
            <a:r>
              <a:rPr lang="en-US" altLang="ko-KR" dirty="0"/>
              <a:t>6- </a:t>
            </a:r>
            <a:r>
              <a:rPr lang="ko-KR" altLang="en-US" dirty="0"/>
              <a:t>파일첨부</a:t>
            </a:r>
            <a:r>
              <a:rPr lang="en-US" altLang="ko-KR" dirty="0"/>
              <a:t/>
            </a:r>
            <a:br>
              <a:rPr lang="en-US" altLang="ko-KR" dirty="0"/>
            </a:br>
            <a:r>
              <a:rPr lang="en-US" altLang="ko-KR" dirty="0"/>
              <a:t>7- </a:t>
            </a:r>
            <a:r>
              <a:rPr lang="ko-KR" altLang="en-US" dirty="0"/>
              <a:t>문의 및 동의</a:t>
            </a:r>
            <a:endParaRPr lang="en-US" altLang="ko-KR" dirty="0"/>
          </a:p>
          <a:p>
            <a:pPr marL="228600" indent="-228600">
              <a:buFont typeface="+mj-lt"/>
              <a:buAutoNum type="arabicPeriod"/>
            </a:pPr>
            <a:r>
              <a:rPr lang="ko-KR" altLang="en-US" dirty="0"/>
              <a:t>공고 일반정보 표시</a:t>
            </a:r>
            <a:r>
              <a:rPr lang="en-US" altLang="ko-KR" dirty="0"/>
              <a:t/>
            </a:r>
            <a:br>
              <a:rPr lang="en-US" altLang="ko-KR" dirty="0"/>
            </a:br>
            <a:r>
              <a:rPr lang="ko-KR" altLang="en-US" dirty="0" err="1"/>
              <a:t>업무구분에</a:t>
            </a:r>
            <a:r>
              <a:rPr lang="ko-KR" altLang="en-US" dirty="0"/>
              <a:t> 따라 </a:t>
            </a:r>
            <a:r>
              <a:rPr lang="en-US" altLang="ko-KR" dirty="0"/>
              <a:t>(</a:t>
            </a:r>
            <a:r>
              <a:rPr lang="ko-KR" altLang="en-US" dirty="0"/>
              <a:t>물품 </a:t>
            </a:r>
            <a:r>
              <a:rPr lang="en-US" altLang="ko-KR" dirty="0"/>
              <a:t>/ </a:t>
            </a:r>
            <a:r>
              <a:rPr lang="ko-KR" altLang="en-US" dirty="0"/>
              <a:t>공사</a:t>
            </a:r>
            <a:r>
              <a:rPr lang="en-US" altLang="ko-KR" dirty="0"/>
              <a:t>) </a:t>
            </a:r>
            <a:r>
              <a:rPr lang="ko-KR" altLang="en-US" dirty="0"/>
              <a:t>정보</a:t>
            </a:r>
            <a:r>
              <a:rPr lang="en-US" altLang="ko-KR" dirty="0"/>
              <a:t/>
            </a:r>
            <a:br>
              <a:rPr lang="en-US" altLang="ko-KR" dirty="0"/>
            </a:br>
            <a:r>
              <a:rPr lang="en-US" altLang="ko-KR" dirty="0"/>
              <a:t>- </a:t>
            </a:r>
            <a:r>
              <a:rPr lang="ko-KR" altLang="en-US" dirty="0" err="1"/>
              <a:t>입찰건명</a:t>
            </a:r>
            <a:r>
              <a:rPr lang="ko-KR" altLang="en-US" dirty="0"/>
              <a:t> </a:t>
            </a:r>
            <a:r>
              <a:rPr lang="en-US" altLang="ko-KR" dirty="0"/>
              <a:t>/ </a:t>
            </a:r>
            <a:r>
              <a:rPr lang="ko-KR" altLang="en-US" dirty="0" err="1"/>
              <a:t>공사명</a:t>
            </a:r>
            <a:r>
              <a:rPr lang="en-US" altLang="ko-KR" dirty="0"/>
              <a:t/>
            </a:r>
            <a:br>
              <a:rPr lang="en-US" altLang="ko-KR" dirty="0"/>
            </a:br>
            <a:r>
              <a:rPr lang="en-US" altLang="ko-KR" dirty="0"/>
              <a:t>- </a:t>
            </a:r>
            <a:r>
              <a:rPr lang="ko-KR" altLang="en-US" dirty="0" err="1"/>
              <a:t>판단번호</a:t>
            </a:r>
            <a:r>
              <a:rPr lang="ko-KR" altLang="en-US" dirty="0"/>
              <a:t> </a:t>
            </a:r>
            <a:r>
              <a:rPr lang="en-US" altLang="ko-KR" dirty="0"/>
              <a:t>/ </a:t>
            </a:r>
            <a:r>
              <a:rPr lang="ko-KR" altLang="en-US" dirty="0" err="1"/>
              <a:t>공사번호</a:t>
            </a:r>
            <a:r>
              <a:rPr lang="en-US" altLang="ko-KR" dirty="0"/>
              <a:t/>
            </a:r>
            <a:br>
              <a:rPr lang="en-US" altLang="ko-KR" dirty="0"/>
            </a:br>
            <a:r>
              <a:rPr lang="en-US" altLang="ko-KR" dirty="0"/>
              <a:t>- </a:t>
            </a:r>
            <a:r>
              <a:rPr lang="ko-KR" altLang="en-US" dirty="0" err="1"/>
              <a:t>집행유형</a:t>
            </a:r>
            <a:r>
              <a:rPr lang="ko-KR" altLang="en-US" dirty="0"/>
              <a:t> </a:t>
            </a:r>
            <a:r>
              <a:rPr lang="en-US" altLang="ko-KR" dirty="0"/>
              <a:t>/ </a:t>
            </a:r>
            <a:r>
              <a:rPr lang="ko-KR" altLang="en-US" dirty="0" err="1"/>
              <a:t>공사구분</a:t>
            </a:r>
            <a:r>
              <a:rPr lang="en-US" altLang="ko-KR" dirty="0"/>
              <a:t/>
            </a:r>
            <a:br>
              <a:rPr lang="en-US" altLang="ko-KR" dirty="0"/>
            </a:br>
            <a:r>
              <a:rPr lang="en-US" altLang="ko-KR" dirty="0"/>
              <a:t>- </a:t>
            </a:r>
            <a:r>
              <a:rPr lang="ko-KR" altLang="en-US" dirty="0" err="1"/>
              <a:t>개찰일시</a:t>
            </a:r>
            <a:r>
              <a:rPr lang="ko-KR" altLang="en-US" dirty="0"/>
              <a:t> </a:t>
            </a:r>
            <a:r>
              <a:rPr lang="en-US" altLang="ko-KR" dirty="0"/>
              <a:t>/ </a:t>
            </a:r>
            <a:r>
              <a:rPr lang="ko-KR" altLang="en-US" dirty="0" err="1"/>
              <a:t>입찰일시</a:t>
            </a:r>
            <a:r>
              <a:rPr lang="en-US" altLang="ko-KR" dirty="0"/>
              <a:t/>
            </a:r>
            <a:br>
              <a:rPr lang="en-US" altLang="ko-KR" dirty="0"/>
            </a:br>
            <a:r>
              <a:rPr lang="en-US" altLang="ko-KR" dirty="0"/>
              <a:t>- (</a:t>
            </a:r>
            <a:r>
              <a:rPr lang="ko-KR" altLang="en-US" dirty="0"/>
              <a:t>총수량</a:t>
            </a:r>
            <a:r>
              <a:rPr lang="en-US" altLang="ko-KR" dirty="0"/>
              <a:t>/</a:t>
            </a:r>
            <a:r>
              <a:rPr lang="ko-KR" altLang="en-US" dirty="0" err="1"/>
              <a:t>단가제유형</a:t>
            </a:r>
            <a:r>
              <a:rPr lang="en-US" altLang="ko-KR" dirty="0"/>
              <a:t>) / </a:t>
            </a:r>
            <a:r>
              <a:rPr lang="ko-KR" altLang="en-US" dirty="0"/>
              <a:t>사전심사</a:t>
            </a:r>
            <a:r>
              <a:rPr lang="en-US" altLang="ko-KR" dirty="0"/>
              <a:t/>
            </a:r>
            <a:br>
              <a:rPr lang="en-US" altLang="ko-KR" dirty="0"/>
            </a:br>
            <a:r>
              <a:rPr lang="en-US" altLang="ko-KR" dirty="0"/>
              <a:t/>
            </a:r>
            <a:br>
              <a:rPr lang="en-US" altLang="ko-KR" dirty="0"/>
            </a:br>
            <a:r>
              <a:rPr lang="en-US" altLang="ko-KR" dirty="0"/>
              <a:t>- </a:t>
            </a:r>
            <a:r>
              <a:rPr lang="ko-KR" altLang="en-US" dirty="0" err="1"/>
              <a:t>입찰방법이</a:t>
            </a:r>
            <a:r>
              <a:rPr lang="ko-KR" altLang="en-US" dirty="0"/>
              <a:t> </a:t>
            </a:r>
            <a:r>
              <a:rPr lang="en-US" altLang="ko-KR" dirty="0"/>
              <a:t>‘B(</a:t>
            </a:r>
            <a:r>
              <a:rPr lang="ko-KR" altLang="en-US" dirty="0" err="1"/>
              <a:t>단가제</a:t>
            </a:r>
            <a:r>
              <a:rPr lang="en-US" altLang="ko-KR" dirty="0"/>
              <a:t>)’</a:t>
            </a:r>
            <a:r>
              <a:rPr lang="ko-KR" altLang="en-US" dirty="0"/>
              <a:t>인 경우 </a:t>
            </a:r>
            <a:r>
              <a:rPr lang="ko-KR" altLang="en-US" dirty="0" err="1"/>
              <a:t>단가제유형</a:t>
            </a:r>
            <a:r>
              <a:rPr lang="en-US" altLang="ko-KR" dirty="0"/>
              <a:t>, </a:t>
            </a:r>
            <a:r>
              <a:rPr lang="ko-KR" altLang="en-US" dirty="0"/>
              <a:t>그 외 총수량</a:t>
            </a:r>
            <a:r>
              <a:rPr lang="en-US" altLang="ko-KR" dirty="0"/>
              <a:t/>
            </a:r>
            <a:br>
              <a:rPr lang="en-US" altLang="ko-KR" dirty="0"/>
            </a:br>
            <a:r>
              <a:rPr lang="en-US" altLang="ko-KR" dirty="0"/>
              <a:t>- </a:t>
            </a:r>
            <a:r>
              <a:rPr lang="ko-KR" altLang="en-US" dirty="0"/>
              <a:t>입찰방법</a:t>
            </a:r>
            <a:r>
              <a:rPr lang="en-US" altLang="ko-KR" dirty="0"/>
              <a:t>(BDTC)</a:t>
            </a:r>
            <a:r>
              <a:rPr lang="ko-KR" altLang="en-US" dirty="0"/>
              <a:t>이 </a:t>
            </a:r>
            <a:r>
              <a:rPr lang="en-US" altLang="ko-KR" dirty="0"/>
              <a:t>‘H(</a:t>
            </a:r>
            <a:r>
              <a:rPr lang="ko-KR" altLang="en-US" dirty="0" err="1"/>
              <a:t>내역입찰</a:t>
            </a:r>
            <a:r>
              <a:rPr lang="en-US" altLang="ko-KR" dirty="0"/>
              <a:t>(</a:t>
            </a:r>
            <a:r>
              <a:rPr lang="ko-KR" altLang="en-US" dirty="0"/>
              <a:t>설계시공일괄입찰</a:t>
            </a:r>
            <a:r>
              <a:rPr lang="en-US" altLang="ko-KR" dirty="0"/>
              <a:t>))’</a:t>
            </a:r>
            <a:r>
              <a:rPr lang="ko-KR" altLang="en-US" dirty="0"/>
              <a:t>인 경우 </a:t>
            </a:r>
            <a:r>
              <a:rPr lang="en-US" altLang="ko-KR" dirty="0"/>
              <a:t>‘</a:t>
            </a:r>
            <a:r>
              <a:rPr lang="ko-KR" altLang="en-US" dirty="0" err="1"/>
              <a:t>낙찰자기준</a:t>
            </a:r>
            <a:r>
              <a:rPr lang="en-US" altLang="ko-KR" dirty="0"/>
              <a:t>’ </a:t>
            </a:r>
            <a:r>
              <a:rPr lang="ko-KR" altLang="en-US" dirty="0"/>
              <a:t>보이기</a:t>
            </a:r>
            <a:r>
              <a:rPr lang="en-US" altLang="ko-KR" dirty="0"/>
              <a:t>, </a:t>
            </a:r>
            <a:r>
              <a:rPr lang="ko-KR" altLang="en-US" dirty="0"/>
              <a:t>그 외 숨기기</a:t>
            </a:r>
            <a:r>
              <a:rPr lang="en-US" altLang="ko-KR" dirty="0"/>
              <a:t/>
            </a:r>
            <a:br>
              <a:rPr lang="en-US" altLang="ko-KR" dirty="0"/>
            </a:br>
            <a:r>
              <a:rPr lang="en-US" altLang="ko-KR" dirty="0"/>
              <a:t>- </a:t>
            </a:r>
            <a:r>
              <a:rPr lang="ko-KR" altLang="en-US" dirty="0" err="1"/>
              <a:t>입찰방법이</a:t>
            </a:r>
            <a:r>
              <a:rPr lang="ko-KR" altLang="en-US" dirty="0"/>
              <a:t> </a:t>
            </a:r>
            <a:r>
              <a:rPr lang="ko-KR" altLang="en-US" dirty="0" err="1"/>
              <a:t>단가제인</a:t>
            </a:r>
            <a:r>
              <a:rPr lang="ko-KR" altLang="en-US" dirty="0"/>
              <a:t> 경우 </a:t>
            </a:r>
            <a:r>
              <a:rPr lang="ko-KR" altLang="en-US" dirty="0" err="1"/>
              <a:t>품목내역</a:t>
            </a:r>
            <a:r>
              <a:rPr lang="ko-KR" altLang="en-US" dirty="0"/>
              <a:t> 탭 표기</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일반정보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MUI-BD-04-M05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입찰참가신청서 작성</a:t>
            </a: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9" name="그룹 148"/>
          <p:cNvGrpSpPr/>
          <p:nvPr/>
        </p:nvGrpSpPr>
        <p:grpSpPr>
          <a:xfrm rot="5400000">
            <a:off x="755013" y="1640499"/>
            <a:ext cx="94010" cy="47005"/>
            <a:chOff x="6812560" y="3297172"/>
            <a:chExt cx="94010" cy="47005"/>
          </a:xfrm>
        </p:grpSpPr>
        <p:cxnSp>
          <p:nvCxnSpPr>
            <p:cNvPr id="150" name="직선 연결선 1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3" name="직선 연결선 1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4" name="타원 153"/>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25461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27974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489972"/>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52131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2603303"/>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5" name="타원 194">
            <a:extLst>
              <a:ext uri="{FF2B5EF4-FFF2-40B4-BE49-F238E27FC236}">
                <a16:creationId xmlns:a16="http://schemas.microsoft.com/office/drawing/2014/main" id="{37A7FF4F-0EAA-1463-560A-D5EC24416103}"/>
              </a:ext>
            </a:extLst>
          </p:cNvPr>
          <p:cNvSpPr/>
          <p:nvPr/>
        </p:nvSpPr>
        <p:spPr>
          <a:xfrm>
            <a:off x="571127" y="327865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 name="그룹 7"/>
          <p:cNvGrpSpPr/>
          <p:nvPr/>
        </p:nvGrpSpPr>
        <p:grpSpPr>
          <a:xfrm>
            <a:off x="747926" y="2897630"/>
            <a:ext cx="2570733" cy="187961"/>
            <a:chOff x="747926" y="2310331"/>
            <a:chExt cx="2570733" cy="187961"/>
          </a:xfrm>
        </p:grpSpPr>
        <p:grpSp>
          <p:nvGrpSpPr>
            <p:cNvPr id="97" name="그룹 96"/>
            <p:cNvGrpSpPr/>
            <p:nvPr/>
          </p:nvGrpSpPr>
          <p:grpSpPr>
            <a:xfrm rot="16200000">
              <a:off x="1250698" y="2380810"/>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0" name="그룹 99"/>
            <p:cNvGrpSpPr/>
            <p:nvPr/>
          </p:nvGrpSpPr>
          <p:grpSpPr>
            <a:xfrm>
              <a:off x="1404036" y="2310331"/>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신청서</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105" name="그룹 104"/>
            <p:cNvGrpSpPr/>
            <p:nvPr/>
          </p:nvGrpSpPr>
          <p:grpSpPr>
            <a:xfrm rot="16200000">
              <a:off x="1906809" y="2380810"/>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8" name="그룹 107"/>
            <p:cNvGrpSpPr/>
            <p:nvPr/>
          </p:nvGrpSpPr>
          <p:grpSpPr>
            <a:xfrm rot="16200000">
              <a:off x="2562921" y="2380810"/>
              <a:ext cx="94010" cy="47005"/>
              <a:chOff x="6812560" y="3297172"/>
              <a:chExt cx="94010" cy="47005"/>
            </a:xfrm>
          </p:grpSpPr>
          <p:cxnSp>
            <p:nvCxnSpPr>
              <p:cNvPr id="109" name="직선 연결선 1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0" name="직선 연결선 1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7" name="그룹 6"/>
            <p:cNvGrpSpPr/>
            <p:nvPr/>
          </p:nvGrpSpPr>
          <p:grpSpPr>
            <a:xfrm>
              <a:off x="747926" y="2310331"/>
              <a:ext cx="601001" cy="187961"/>
              <a:chOff x="747926" y="2310331"/>
              <a:chExt cx="601001" cy="187961"/>
            </a:xfrm>
          </p:grpSpPr>
          <p:grpSp>
            <p:nvGrpSpPr>
              <p:cNvPr id="6" name="그룹 5"/>
              <p:cNvGrpSpPr/>
              <p:nvPr/>
            </p:nvGrpSpPr>
            <p:grpSpPr>
              <a:xfrm>
                <a:off x="747926" y="2310331"/>
                <a:ext cx="187961" cy="187961"/>
                <a:chOff x="747926" y="2310331"/>
                <a:chExt cx="187961" cy="187961"/>
              </a:xfrm>
            </p:grpSpPr>
            <p:sp>
              <p:nvSpPr>
                <p:cNvPr id="114" name="타원 113"/>
                <p:cNvSpPr/>
                <p:nvPr/>
              </p:nvSpPr>
              <p:spPr>
                <a:xfrm>
                  <a:off x="747926" y="2310331"/>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3" y="2350450"/>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1" y="2350450"/>
                <a:ext cx="397576" cy="107722"/>
              </a:xfrm>
              <a:prstGeom prst="rect">
                <a:avLst/>
              </a:prstGeom>
              <a:noFill/>
            </p:spPr>
            <p:txBody>
              <a:bodyPr wrap="square" lIns="0" tIns="0" rIns="0" bIns="0" rtlCol="0">
                <a:spAutoFit/>
              </a:bodyPr>
              <a:lstStyle/>
              <a:p>
                <a:r>
                  <a:rPr lang="ko-KR" altLang="en-US" sz="700" dirty="0">
                    <a:latin typeface="+mn-ea"/>
                  </a:rPr>
                  <a:t>서약서</a:t>
                </a:r>
              </a:p>
            </p:txBody>
          </p:sp>
        </p:grpSp>
        <p:grpSp>
          <p:nvGrpSpPr>
            <p:cNvPr id="116" name="그룹 115"/>
            <p:cNvGrpSpPr/>
            <p:nvPr/>
          </p:nvGrpSpPr>
          <p:grpSpPr>
            <a:xfrm>
              <a:off x="2058750" y="2310331"/>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서명</a:t>
                </a:r>
              </a:p>
            </p:txBody>
          </p:sp>
        </p:grpSp>
        <p:grpSp>
          <p:nvGrpSpPr>
            <p:cNvPr id="121" name="그룹 120"/>
            <p:cNvGrpSpPr/>
            <p:nvPr/>
          </p:nvGrpSpPr>
          <p:grpSpPr>
            <a:xfrm>
              <a:off x="2714861" y="2310331"/>
              <a:ext cx="603798" cy="187961"/>
              <a:chOff x="2714860" y="3237230"/>
              <a:chExt cx="603798" cy="187961"/>
            </a:xfrm>
          </p:grpSpPr>
          <p:grpSp>
            <p:nvGrpSpPr>
              <p:cNvPr id="122" name="그룹 121"/>
              <p:cNvGrpSpPr/>
              <p:nvPr/>
            </p:nvGrpSpPr>
            <p:grpSpPr>
              <a:xfrm>
                <a:off x="2714860" y="3237230"/>
                <a:ext cx="187961" cy="187961"/>
                <a:chOff x="2714860" y="3237230"/>
                <a:chExt cx="187961" cy="187961"/>
              </a:xfrm>
            </p:grpSpPr>
            <p:sp>
              <p:nvSpPr>
                <p:cNvPr id="124" name="타원 123"/>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23" name="TextBox 122">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139" name="TextBox 138">
            <a:extLst>
              <a:ext uri="{FF2B5EF4-FFF2-40B4-BE49-F238E27FC236}">
                <a16:creationId xmlns:a16="http://schemas.microsoft.com/office/drawing/2014/main" id="{FFC49AEA-2A8F-250C-A86A-A7751D9706C3}"/>
              </a:ext>
            </a:extLst>
          </p:cNvPr>
          <p:cNvSpPr txBox="1"/>
          <p:nvPr/>
        </p:nvSpPr>
        <p:spPr>
          <a:xfrm>
            <a:off x="781461" y="4333977"/>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5" name="직사각형 154"/>
          <p:cNvSpPr/>
          <p:nvPr/>
        </p:nvSpPr>
        <p:spPr>
          <a:xfrm>
            <a:off x="722583" y="4641462"/>
            <a:ext cx="792000" cy="15908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20490" y="464146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809647" y="4641462"/>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1566495" y="4641462"/>
            <a:ext cx="1784088" cy="1508105"/>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en-US" altLang="ko-KR" sz="700" dirty="0">
                <a:latin typeface="+mn-ea"/>
              </a:rPr>
              <a:t>2025-12-24 10:30</a:t>
            </a:r>
          </a:p>
          <a:p>
            <a:pPr>
              <a:lnSpc>
                <a:spcPct val="200000"/>
              </a:lnSpc>
            </a:pPr>
            <a:r>
              <a:rPr lang="ko-KR" altLang="en-US" sz="700" dirty="0">
                <a:latin typeface="+mn-ea"/>
              </a:rPr>
              <a:t>일반확정계약</a:t>
            </a:r>
            <a:endParaRPr lang="en-US" altLang="ko-KR" sz="700" dirty="0">
              <a:latin typeface="+mn-ea"/>
            </a:endParaRP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2583" y="48725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508627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22583" y="52999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22583" y="55136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22583" y="57273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22583" y="59411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20490" y="428699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4070384"/>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8631" y="4070384"/>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1860138" y="4070384"/>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2561532" y="4070384"/>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4286991"/>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4032261"/>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200">
            <a:extLst>
              <a:ext uri="{FF2B5EF4-FFF2-40B4-BE49-F238E27FC236}">
                <a16:creationId xmlns:a16="http://schemas.microsoft.com/office/drawing/2014/main" id="{FFC49AEA-2A8F-250C-A86A-A7751D9706C3}"/>
              </a:ext>
            </a:extLst>
          </p:cNvPr>
          <p:cNvSpPr txBox="1"/>
          <p:nvPr/>
        </p:nvSpPr>
        <p:spPr>
          <a:xfrm>
            <a:off x="1019814" y="3642345"/>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204" name="타원 203"/>
          <p:cNvSpPr/>
          <p:nvPr/>
        </p:nvSpPr>
        <p:spPr>
          <a:xfrm>
            <a:off x="783686" y="367369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5" name="그룹 204"/>
          <p:cNvGrpSpPr/>
          <p:nvPr/>
        </p:nvGrpSpPr>
        <p:grpSpPr>
          <a:xfrm>
            <a:off x="3143548" y="3755676"/>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39" name="직선 연결선 238">
            <a:extLst>
              <a:ext uri="{FF2B5EF4-FFF2-40B4-BE49-F238E27FC236}">
                <a16:creationId xmlns:a16="http://schemas.microsoft.com/office/drawing/2014/main" id="{E9293055-D5CD-4B9E-7F64-64B2D2CA7A52}"/>
              </a:ext>
            </a:extLst>
          </p:cNvPr>
          <p:cNvCxnSpPr/>
          <p:nvPr/>
        </p:nvCxnSpPr>
        <p:spPr>
          <a:xfrm>
            <a:off x="675399" y="394983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40" name="그룹 239"/>
          <p:cNvGrpSpPr/>
          <p:nvPr/>
        </p:nvGrpSpPr>
        <p:grpSpPr>
          <a:xfrm>
            <a:off x="675399" y="1936620"/>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50" name="직선 연결선 249">
            <a:extLst>
              <a:ext uri="{FF2B5EF4-FFF2-40B4-BE49-F238E27FC236}">
                <a16:creationId xmlns:a16="http://schemas.microsoft.com/office/drawing/2014/main" id="{E9293055-D5CD-4B9E-7F64-64B2D2CA7A52}"/>
              </a:ext>
            </a:extLst>
          </p:cNvPr>
          <p:cNvCxnSpPr/>
          <p:nvPr/>
        </p:nvCxnSpPr>
        <p:spPr>
          <a:xfrm>
            <a:off x="722583" y="613614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56" name="그룹 255"/>
          <p:cNvGrpSpPr/>
          <p:nvPr/>
        </p:nvGrpSpPr>
        <p:grpSpPr>
          <a:xfrm>
            <a:off x="3795733"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82" name="직사각형 281"/>
          <p:cNvSpPr/>
          <p:nvPr/>
        </p:nvSpPr>
        <p:spPr>
          <a:xfrm>
            <a:off x="3840473" y="2427792"/>
            <a:ext cx="792000" cy="121811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83" name="직선 연결선 282">
            <a:extLst>
              <a:ext uri="{FF2B5EF4-FFF2-40B4-BE49-F238E27FC236}">
                <a16:creationId xmlns:a16="http://schemas.microsoft.com/office/drawing/2014/main" id="{E9293055-D5CD-4B9E-7F64-64B2D2CA7A52}"/>
              </a:ext>
            </a:extLst>
          </p:cNvPr>
          <p:cNvCxnSpPr/>
          <p:nvPr/>
        </p:nvCxnSpPr>
        <p:spPr>
          <a:xfrm>
            <a:off x="3838380" y="277368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4" name="TextBox 283">
            <a:extLst>
              <a:ext uri="{FF2B5EF4-FFF2-40B4-BE49-F238E27FC236}">
                <a16:creationId xmlns:a16="http://schemas.microsoft.com/office/drawing/2014/main" id="{FFC49AEA-2A8F-250C-A86A-A7751D9706C3}"/>
              </a:ext>
            </a:extLst>
          </p:cNvPr>
          <p:cNvSpPr txBox="1"/>
          <p:nvPr/>
        </p:nvSpPr>
        <p:spPr>
          <a:xfrm>
            <a:off x="3927537" y="2353497"/>
            <a:ext cx="756848" cy="1292662"/>
          </a:xfrm>
          <a:prstGeom prst="rect">
            <a:avLst/>
          </a:prstGeom>
          <a:noFill/>
        </p:spPr>
        <p:txBody>
          <a:bodyPr wrap="square" lIns="0" tIns="0" rIns="0" bIns="0" rtlCol="0">
            <a:spAutoFit/>
          </a:bodyPr>
          <a:lstStyle/>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a:latin typeface="+mn-ea"/>
              </a:rPr>
              <a:t>총수량</a:t>
            </a:r>
            <a:r>
              <a:rPr lang="en-US" altLang="ko-KR" sz="700" dirty="0">
                <a:latin typeface="+mn-ea"/>
              </a:rPr>
              <a:t>/</a:t>
            </a:r>
            <a:r>
              <a:rPr lang="ko-KR" altLang="en-US" sz="700" dirty="0" err="1">
                <a:latin typeface="+mn-ea"/>
              </a:rPr>
              <a:t>단가제유형</a:t>
            </a:r>
            <a:endParaRPr lang="en-US" altLang="ko-KR" sz="700" dirty="0">
              <a:latin typeface="+mn-ea"/>
            </a:endParaRPr>
          </a:p>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낙찰자결정방법</a:t>
            </a:r>
            <a:endParaRPr lang="en-US" altLang="ko-KR" sz="700" dirty="0">
              <a:latin typeface="+mn-ea"/>
            </a:endParaRPr>
          </a:p>
          <a:p>
            <a:pPr>
              <a:lnSpc>
                <a:spcPct val="200000"/>
              </a:lnSpc>
            </a:pPr>
            <a:r>
              <a:rPr lang="ko-KR" altLang="en-US" sz="700" dirty="0">
                <a:latin typeface="+mn-ea"/>
              </a:rPr>
              <a:t>적격심사 여부</a:t>
            </a:r>
            <a:endParaRPr lang="en-US" altLang="ko-KR" sz="700" dirty="0">
              <a:latin typeface="+mn-ea"/>
            </a:endParaRPr>
          </a:p>
          <a:p>
            <a:pPr>
              <a:lnSpc>
                <a:spcPct val="200000"/>
              </a:lnSpc>
            </a:pPr>
            <a:r>
              <a:rPr lang="ko-KR" altLang="en-US" sz="700" dirty="0">
                <a:latin typeface="+mn-ea"/>
              </a:rPr>
              <a:t>낙찰자 기준</a:t>
            </a:r>
            <a:endParaRPr lang="en-US" altLang="ko-KR" sz="700" dirty="0">
              <a:latin typeface="+mn-ea"/>
            </a:endParaRPr>
          </a:p>
        </p:txBody>
      </p:sp>
      <p:sp>
        <p:nvSpPr>
          <p:cNvPr id="285" name="TextBox 284">
            <a:extLst>
              <a:ext uri="{FF2B5EF4-FFF2-40B4-BE49-F238E27FC236}">
                <a16:creationId xmlns:a16="http://schemas.microsoft.com/office/drawing/2014/main" id="{FFC49AEA-2A8F-250C-A86A-A7751D9706C3}"/>
              </a:ext>
            </a:extLst>
          </p:cNvPr>
          <p:cNvSpPr txBox="1"/>
          <p:nvPr/>
        </p:nvSpPr>
        <p:spPr>
          <a:xfrm>
            <a:off x="4684385" y="2353497"/>
            <a:ext cx="1770899" cy="1292662"/>
          </a:xfrm>
          <a:prstGeom prst="rect">
            <a:avLst/>
          </a:prstGeom>
          <a:noFill/>
        </p:spPr>
        <p:txBody>
          <a:bodyPr wrap="square" lIns="0" tIns="0" rIns="0" bIns="0" rtlCol="0">
            <a:spAutoFit/>
          </a:bodyPr>
          <a:lstStyle/>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r>
              <a:rPr lang="ko-KR" altLang="en-US" sz="700" dirty="0" err="1">
                <a:latin typeface="+mn-ea"/>
              </a:rPr>
              <a:t>적격심사제</a:t>
            </a:r>
            <a:endParaRPr lang="en-US" altLang="ko-KR" sz="700" dirty="0">
              <a:latin typeface="+mn-ea"/>
            </a:endParaRPr>
          </a:p>
          <a:p>
            <a:pPr>
              <a:lnSpc>
                <a:spcPct val="200000"/>
              </a:lnSpc>
            </a:pPr>
            <a:r>
              <a:rPr lang="ko-KR" altLang="en-US" sz="700" dirty="0">
                <a:latin typeface="+mn-ea"/>
              </a:rPr>
              <a:t>대상</a:t>
            </a:r>
            <a:endParaRPr lang="en-US" altLang="ko-KR" sz="700" dirty="0">
              <a:latin typeface="+mn-ea"/>
            </a:endParaRPr>
          </a:p>
          <a:p>
            <a:pPr>
              <a:lnSpc>
                <a:spcPct val="200000"/>
              </a:lnSpc>
            </a:pPr>
            <a:endParaRPr lang="en-US" altLang="ko-KR" sz="700" dirty="0">
              <a:latin typeface="+mn-ea"/>
            </a:endParaRPr>
          </a:p>
        </p:txBody>
      </p:sp>
      <p:cxnSp>
        <p:nvCxnSpPr>
          <p:cNvPr id="286" name="직선 연결선 285">
            <a:extLst>
              <a:ext uri="{FF2B5EF4-FFF2-40B4-BE49-F238E27FC236}">
                <a16:creationId xmlns:a16="http://schemas.microsoft.com/office/drawing/2014/main" id="{E9293055-D5CD-4B9E-7F64-64B2D2CA7A52}"/>
              </a:ext>
            </a:extLst>
          </p:cNvPr>
          <p:cNvCxnSpPr/>
          <p:nvPr/>
        </p:nvCxnSpPr>
        <p:spPr>
          <a:xfrm>
            <a:off x="3840473" y="30047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7" name="직선 연결선 286">
            <a:extLst>
              <a:ext uri="{FF2B5EF4-FFF2-40B4-BE49-F238E27FC236}">
                <a16:creationId xmlns:a16="http://schemas.microsoft.com/office/drawing/2014/main" id="{E9293055-D5CD-4B9E-7F64-64B2D2CA7A52}"/>
              </a:ext>
            </a:extLst>
          </p:cNvPr>
          <p:cNvCxnSpPr/>
          <p:nvPr/>
        </p:nvCxnSpPr>
        <p:spPr>
          <a:xfrm>
            <a:off x="3840473" y="32184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8" name="직선 연결선 287">
            <a:extLst>
              <a:ext uri="{FF2B5EF4-FFF2-40B4-BE49-F238E27FC236}">
                <a16:creationId xmlns:a16="http://schemas.microsoft.com/office/drawing/2014/main" id="{E9293055-D5CD-4B9E-7F64-64B2D2CA7A52}"/>
              </a:ext>
            </a:extLst>
          </p:cNvPr>
          <p:cNvCxnSpPr/>
          <p:nvPr/>
        </p:nvCxnSpPr>
        <p:spPr>
          <a:xfrm>
            <a:off x="3840473" y="34322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9" name="직선 연결선 288">
            <a:extLst>
              <a:ext uri="{FF2B5EF4-FFF2-40B4-BE49-F238E27FC236}">
                <a16:creationId xmlns:a16="http://schemas.microsoft.com/office/drawing/2014/main" id="{E9293055-D5CD-4B9E-7F64-64B2D2CA7A52}"/>
              </a:ext>
            </a:extLst>
          </p:cNvPr>
          <p:cNvCxnSpPr/>
          <p:nvPr/>
        </p:nvCxnSpPr>
        <p:spPr>
          <a:xfrm>
            <a:off x="3840473" y="36459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95" name="TextBox 294">
            <a:extLst>
              <a:ext uri="{FF2B5EF4-FFF2-40B4-BE49-F238E27FC236}">
                <a16:creationId xmlns:a16="http://schemas.microsoft.com/office/drawing/2014/main" id="{FFC49AEA-2A8F-250C-A86A-A7751D9706C3}"/>
              </a:ext>
            </a:extLst>
          </p:cNvPr>
          <p:cNvSpPr txBox="1"/>
          <p:nvPr/>
        </p:nvSpPr>
        <p:spPr>
          <a:xfrm>
            <a:off x="3905603" y="3774686"/>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300" name="직사각형 299"/>
          <p:cNvSpPr/>
          <p:nvPr/>
        </p:nvSpPr>
        <p:spPr>
          <a:xfrm>
            <a:off x="3846725" y="4082172"/>
            <a:ext cx="792000" cy="1494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1" name="직선 연결선 300">
            <a:extLst>
              <a:ext uri="{FF2B5EF4-FFF2-40B4-BE49-F238E27FC236}">
                <a16:creationId xmlns:a16="http://schemas.microsoft.com/office/drawing/2014/main" id="{E9293055-D5CD-4B9E-7F64-64B2D2CA7A52}"/>
              </a:ext>
            </a:extLst>
          </p:cNvPr>
          <p:cNvCxnSpPr/>
          <p:nvPr/>
        </p:nvCxnSpPr>
        <p:spPr>
          <a:xfrm>
            <a:off x="3844632" y="40821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2" name="TextBox 301">
            <a:extLst>
              <a:ext uri="{FF2B5EF4-FFF2-40B4-BE49-F238E27FC236}">
                <a16:creationId xmlns:a16="http://schemas.microsoft.com/office/drawing/2014/main" id="{FFC49AEA-2A8F-250C-A86A-A7751D9706C3}"/>
              </a:ext>
            </a:extLst>
          </p:cNvPr>
          <p:cNvSpPr txBox="1"/>
          <p:nvPr/>
        </p:nvSpPr>
        <p:spPr>
          <a:xfrm>
            <a:off x="3933789" y="4082171"/>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주민등록번호</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3" name="TextBox 302">
            <a:extLst>
              <a:ext uri="{FF2B5EF4-FFF2-40B4-BE49-F238E27FC236}">
                <a16:creationId xmlns:a16="http://schemas.microsoft.com/office/drawing/2014/main" id="{FFC49AEA-2A8F-250C-A86A-A7751D9706C3}"/>
              </a:ext>
            </a:extLst>
          </p:cNvPr>
          <p:cNvSpPr txBox="1"/>
          <p:nvPr/>
        </p:nvSpPr>
        <p:spPr>
          <a:xfrm>
            <a:off x="4690637" y="4082171"/>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800123-2******</a:t>
            </a:r>
          </a:p>
          <a:p>
            <a:pPr>
              <a:lnSpc>
                <a:spcPct val="200000"/>
              </a:lnSpc>
            </a:pPr>
            <a:r>
              <a:rPr lang="en-US" altLang="ko-KR" sz="700" dirty="0">
                <a:latin typeface="+mn-ea"/>
              </a:rPr>
              <a:t>123-56-78901</a:t>
            </a: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304" name="직선 연결선 303">
            <a:extLst>
              <a:ext uri="{FF2B5EF4-FFF2-40B4-BE49-F238E27FC236}">
                <a16:creationId xmlns:a16="http://schemas.microsoft.com/office/drawing/2014/main" id="{E9293055-D5CD-4B9E-7F64-64B2D2CA7A52}"/>
              </a:ext>
            </a:extLst>
          </p:cNvPr>
          <p:cNvCxnSpPr/>
          <p:nvPr/>
        </p:nvCxnSpPr>
        <p:spPr>
          <a:xfrm>
            <a:off x="3846725" y="431327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5" name="직선 연결선 304">
            <a:extLst>
              <a:ext uri="{FF2B5EF4-FFF2-40B4-BE49-F238E27FC236}">
                <a16:creationId xmlns:a16="http://schemas.microsoft.com/office/drawing/2014/main" id="{E9293055-D5CD-4B9E-7F64-64B2D2CA7A52}"/>
              </a:ext>
            </a:extLst>
          </p:cNvPr>
          <p:cNvCxnSpPr/>
          <p:nvPr/>
        </p:nvCxnSpPr>
        <p:spPr>
          <a:xfrm>
            <a:off x="3846725" y="4526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6" name="직선 연결선 305">
            <a:extLst>
              <a:ext uri="{FF2B5EF4-FFF2-40B4-BE49-F238E27FC236}">
                <a16:creationId xmlns:a16="http://schemas.microsoft.com/office/drawing/2014/main" id="{E9293055-D5CD-4B9E-7F64-64B2D2CA7A52}"/>
              </a:ext>
            </a:extLst>
          </p:cNvPr>
          <p:cNvCxnSpPr/>
          <p:nvPr/>
        </p:nvCxnSpPr>
        <p:spPr>
          <a:xfrm>
            <a:off x="3846725" y="47406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46725" y="49543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46725" y="5168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3846725" y="5381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5733" y="372770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1" name="직선 연결선 310">
            <a:extLst>
              <a:ext uri="{FF2B5EF4-FFF2-40B4-BE49-F238E27FC236}">
                <a16:creationId xmlns:a16="http://schemas.microsoft.com/office/drawing/2014/main" id="{E9293055-D5CD-4B9E-7F64-64B2D2CA7A52}"/>
              </a:ext>
            </a:extLst>
          </p:cNvPr>
          <p:cNvCxnSpPr/>
          <p:nvPr/>
        </p:nvCxnSpPr>
        <p:spPr>
          <a:xfrm>
            <a:off x="3846725" y="55768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cxnSp>
        <p:nvCxnSpPr>
          <p:cNvPr id="316" name="직선 연결선 315">
            <a:extLst>
              <a:ext uri="{FF2B5EF4-FFF2-40B4-BE49-F238E27FC236}">
                <a16:creationId xmlns:a16="http://schemas.microsoft.com/office/drawing/2014/main" id="{E9293055-D5CD-4B9E-7F64-64B2D2CA7A52}"/>
              </a:ext>
            </a:extLst>
          </p:cNvPr>
          <p:cNvCxnSpPr/>
          <p:nvPr/>
        </p:nvCxnSpPr>
        <p:spPr>
          <a:xfrm>
            <a:off x="675399" y="316987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3252083"/>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3283428"/>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365414"/>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320" name="직선 연결선 319">
            <a:extLst>
              <a:ext uri="{FF2B5EF4-FFF2-40B4-BE49-F238E27FC236}">
                <a16:creationId xmlns:a16="http://schemas.microsoft.com/office/drawing/2014/main" id="{E9293055-D5CD-4B9E-7F64-64B2D2CA7A52}"/>
              </a:ext>
            </a:extLst>
          </p:cNvPr>
          <p:cNvCxnSpPr/>
          <p:nvPr/>
        </p:nvCxnSpPr>
        <p:spPr>
          <a:xfrm>
            <a:off x="675399" y="355956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3" name="타원 322">
            <a:extLst>
              <a:ext uri="{FF2B5EF4-FFF2-40B4-BE49-F238E27FC236}">
                <a16:creationId xmlns:a16="http://schemas.microsoft.com/office/drawing/2014/main" id="{37A7FF4F-0EAA-1463-560A-D5EC24416103}"/>
              </a:ext>
            </a:extLst>
          </p:cNvPr>
          <p:cNvSpPr/>
          <p:nvPr/>
        </p:nvSpPr>
        <p:spPr>
          <a:xfrm>
            <a:off x="571127" y="368692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24" name="타원 323">
            <a:extLst>
              <a:ext uri="{FF2B5EF4-FFF2-40B4-BE49-F238E27FC236}">
                <a16:creationId xmlns:a16="http://schemas.microsoft.com/office/drawing/2014/main" id="{37A7FF4F-0EAA-1463-560A-D5EC24416103}"/>
              </a:ext>
            </a:extLst>
          </p:cNvPr>
          <p:cNvSpPr/>
          <p:nvPr/>
        </p:nvSpPr>
        <p:spPr>
          <a:xfrm>
            <a:off x="571127" y="402879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cxnSp>
        <p:nvCxnSpPr>
          <p:cNvPr id="325" name="직선 연결선 324">
            <a:extLst>
              <a:ext uri="{FF2B5EF4-FFF2-40B4-BE49-F238E27FC236}">
                <a16:creationId xmlns:a16="http://schemas.microsoft.com/office/drawing/2014/main" id="{E9293055-D5CD-4B9E-7F64-64B2D2CA7A52}"/>
              </a:ext>
            </a:extLst>
          </p:cNvPr>
          <p:cNvCxnSpPr/>
          <p:nvPr/>
        </p:nvCxnSpPr>
        <p:spPr>
          <a:xfrm>
            <a:off x="3840473" y="25577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6" name="타원 325">
            <a:extLst>
              <a:ext uri="{FF2B5EF4-FFF2-40B4-BE49-F238E27FC236}">
                <a16:creationId xmlns:a16="http://schemas.microsoft.com/office/drawing/2014/main" id="{37A7FF4F-0EAA-1463-560A-D5EC24416103}"/>
              </a:ext>
            </a:extLst>
          </p:cNvPr>
          <p:cNvSpPr/>
          <p:nvPr/>
        </p:nvSpPr>
        <p:spPr>
          <a:xfrm>
            <a:off x="571127" y="438997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3840473"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3884151" y="2201247"/>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4438614" y="2201247"/>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331" name="TextBox 330">
            <a:extLst>
              <a:ext uri="{FF2B5EF4-FFF2-40B4-BE49-F238E27FC236}">
                <a16:creationId xmlns:a16="http://schemas.microsoft.com/office/drawing/2014/main" id="{FFC49AEA-2A8F-250C-A86A-A7751D9706C3}"/>
              </a:ext>
            </a:extLst>
          </p:cNvPr>
          <p:cNvSpPr txBox="1"/>
          <p:nvPr/>
        </p:nvSpPr>
        <p:spPr>
          <a:xfrm>
            <a:off x="4980121"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5681515" y="2201247"/>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3840473"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6044069"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51" name="모서리가 둥근 직사각형 150"/>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834388"/>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10454576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입찰공고에 첨부된 서류 항목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일반정보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MUI-BD-04-M05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300" name="직사각형 299"/>
          <p:cNvSpPr/>
          <p:nvPr/>
        </p:nvSpPr>
        <p:spPr>
          <a:xfrm>
            <a:off x="728046" y="2457339"/>
            <a:ext cx="792000" cy="1494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1" name="직선 연결선 300">
            <a:extLst>
              <a:ext uri="{FF2B5EF4-FFF2-40B4-BE49-F238E27FC236}">
                <a16:creationId xmlns:a16="http://schemas.microsoft.com/office/drawing/2014/main" id="{E9293055-D5CD-4B9E-7F64-64B2D2CA7A52}"/>
              </a:ext>
            </a:extLst>
          </p:cNvPr>
          <p:cNvCxnSpPr/>
          <p:nvPr/>
        </p:nvCxnSpPr>
        <p:spPr>
          <a:xfrm>
            <a:off x="725953" y="245733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2" name="TextBox 301">
            <a:extLst>
              <a:ext uri="{FF2B5EF4-FFF2-40B4-BE49-F238E27FC236}">
                <a16:creationId xmlns:a16="http://schemas.microsoft.com/office/drawing/2014/main" id="{FFC49AEA-2A8F-250C-A86A-A7751D9706C3}"/>
              </a:ext>
            </a:extLst>
          </p:cNvPr>
          <p:cNvSpPr txBox="1"/>
          <p:nvPr/>
        </p:nvSpPr>
        <p:spPr>
          <a:xfrm>
            <a:off x="815110" y="2457338"/>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주민등록번호</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3" name="TextBox 302">
            <a:extLst>
              <a:ext uri="{FF2B5EF4-FFF2-40B4-BE49-F238E27FC236}">
                <a16:creationId xmlns:a16="http://schemas.microsoft.com/office/drawing/2014/main" id="{FFC49AEA-2A8F-250C-A86A-A7751D9706C3}"/>
              </a:ext>
            </a:extLst>
          </p:cNvPr>
          <p:cNvSpPr txBox="1"/>
          <p:nvPr/>
        </p:nvSpPr>
        <p:spPr>
          <a:xfrm>
            <a:off x="1571958" y="2457338"/>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800123-2******</a:t>
            </a:r>
          </a:p>
          <a:p>
            <a:pPr>
              <a:lnSpc>
                <a:spcPct val="200000"/>
              </a:lnSpc>
            </a:pPr>
            <a:r>
              <a:rPr lang="en-US" altLang="ko-KR" sz="700" dirty="0">
                <a:latin typeface="+mn-ea"/>
              </a:rPr>
              <a:t>123-56-78901</a:t>
            </a: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304" name="직선 연결선 303">
            <a:extLst>
              <a:ext uri="{FF2B5EF4-FFF2-40B4-BE49-F238E27FC236}">
                <a16:creationId xmlns:a16="http://schemas.microsoft.com/office/drawing/2014/main" id="{E9293055-D5CD-4B9E-7F64-64B2D2CA7A52}"/>
              </a:ext>
            </a:extLst>
          </p:cNvPr>
          <p:cNvCxnSpPr/>
          <p:nvPr/>
        </p:nvCxnSpPr>
        <p:spPr>
          <a:xfrm>
            <a:off x="728046" y="26884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5" name="직선 연결선 304">
            <a:extLst>
              <a:ext uri="{FF2B5EF4-FFF2-40B4-BE49-F238E27FC236}">
                <a16:creationId xmlns:a16="http://schemas.microsoft.com/office/drawing/2014/main" id="{E9293055-D5CD-4B9E-7F64-64B2D2CA7A52}"/>
              </a:ext>
            </a:extLst>
          </p:cNvPr>
          <p:cNvCxnSpPr/>
          <p:nvPr/>
        </p:nvCxnSpPr>
        <p:spPr>
          <a:xfrm>
            <a:off x="728046" y="29021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6" name="직선 연결선 305">
            <a:extLst>
              <a:ext uri="{FF2B5EF4-FFF2-40B4-BE49-F238E27FC236}">
                <a16:creationId xmlns:a16="http://schemas.microsoft.com/office/drawing/2014/main" id="{E9293055-D5CD-4B9E-7F64-64B2D2CA7A52}"/>
              </a:ext>
            </a:extLst>
          </p:cNvPr>
          <p:cNvCxnSpPr/>
          <p:nvPr/>
        </p:nvCxnSpPr>
        <p:spPr>
          <a:xfrm>
            <a:off x="728046" y="31158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728046" y="33295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728046" y="35432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728046" y="37569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1" name="직선 연결선 310">
            <a:extLst>
              <a:ext uri="{FF2B5EF4-FFF2-40B4-BE49-F238E27FC236}">
                <a16:creationId xmlns:a16="http://schemas.microsoft.com/office/drawing/2014/main" id="{E9293055-D5CD-4B9E-7F64-64B2D2CA7A52}"/>
              </a:ext>
            </a:extLst>
          </p:cNvPr>
          <p:cNvCxnSpPr/>
          <p:nvPr/>
        </p:nvCxnSpPr>
        <p:spPr>
          <a:xfrm>
            <a:off x="728046" y="39520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65" name="그룹 164"/>
          <p:cNvGrpSpPr/>
          <p:nvPr/>
        </p:nvGrpSpPr>
        <p:grpSpPr>
          <a:xfrm>
            <a:off x="675399" y="1578465"/>
            <a:ext cx="2712027" cy="508898"/>
            <a:chOff x="3795734" y="1602341"/>
            <a:chExt cx="2712027" cy="508898"/>
          </a:xfrm>
        </p:grpSpPr>
        <p:sp>
          <p:nvSpPr>
            <p:cNvPr id="166"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67" name="모서리가 둥근 직사각형 166"/>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68" name="모서리가 둥근 직사각형 167"/>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6" name="TextBox 195">
            <a:extLst>
              <a:ext uri="{FF2B5EF4-FFF2-40B4-BE49-F238E27FC236}">
                <a16:creationId xmlns:a16="http://schemas.microsoft.com/office/drawing/2014/main" id="{FFC49AEA-2A8F-250C-A86A-A7751D9706C3}"/>
              </a:ext>
            </a:extLst>
          </p:cNvPr>
          <p:cNvSpPr txBox="1"/>
          <p:nvPr/>
        </p:nvSpPr>
        <p:spPr>
          <a:xfrm>
            <a:off x="764551" y="4096050"/>
            <a:ext cx="1298086" cy="215444"/>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입찰공고 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200" name="모서리가 둥근 직사각형 199"/>
          <p:cNvSpPr/>
          <p:nvPr/>
        </p:nvSpPr>
        <p:spPr>
          <a:xfrm>
            <a:off x="718021" y="449443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a:extLst>
              <a:ext uri="{FF2B5EF4-FFF2-40B4-BE49-F238E27FC236}">
                <a16:creationId xmlns:a16="http://schemas.microsoft.com/office/drawing/2014/main" id="{FFC49AEA-2A8F-250C-A86A-A7751D9706C3}"/>
              </a:ext>
            </a:extLst>
          </p:cNvPr>
          <p:cNvSpPr txBox="1"/>
          <p:nvPr/>
        </p:nvSpPr>
        <p:spPr>
          <a:xfrm>
            <a:off x="1218689" y="4568957"/>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제안요청서</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796217" y="462281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208" name="타원 207"/>
          <p:cNvSpPr/>
          <p:nvPr/>
        </p:nvSpPr>
        <p:spPr>
          <a:xfrm>
            <a:off x="3078140" y="460467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9" name="모서리가 둥근 직사각형 208"/>
          <p:cNvSpPr/>
          <p:nvPr/>
        </p:nvSpPr>
        <p:spPr>
          <a:xfrm>
            <a:off x="718021" y="490112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0" name="TextBox 209">
            <a:extLst>
              <a:ext uri="{FF2B5EF4-FFF2-40B4-BE49-F238E27FC236}">
                <a16:creationId xmlns:a16="http://schemas.microsoft.com/office/drawing/2014/main" id="{FFC49AEA-2A8F-250C-A86A-A7751D9706C3}"/>
              </a:ext>
            </a:extLst>
          </p:cNvPr>
          <p:cNvSpPr txBox="1"/>
          <p:nvPr/>
        </p:nvSpPr>
        <p:spPr>
          <a:xfrm>
            <a:off x="1218689" y="497564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a:solidFill>
                  <a:schemeClr val="tx1">
                    <a:lumMod val="85000"/>
                    <a:lumOff val="15000"/>
                  </a:schemeClr>
                </a:solidFill>
                <a:latin typeface="맑은 고딕" panose="020B0503020000020004" pitchFamily="50" charset="-127"/>
              </a:rPr>
              <a:t>공고문</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11" name="TextBox 210">
            <a:extLst>
              <a:ext uri="{FF2B5EF4-FFF2-40B4-BE49-F238E27FC236}">
                <a16:creationId xmlns:a16="http://schemas.microsoft.com/office/drawing/2014/main" id="{FFC49AEA-2A8F-250C-A86A-A7751D9706C3}"/>
              </a:ext>
            </a:extLst>
          </p:cNvPr>
          <p:cNvSpPr txBox="1"/>
          <p:nvPr/>
        </p:nvSpPr>
        <p:spPr>
          <a:xfrm>
            <a:off x="796217" y="502950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212" name="타원 211"/>
          <p:cNvSpPr/>
          <p:nvPr/>
        </p:nvSpPr>
        <p:spPr>
          <a:xfrm>
            <a:off x="3078140" y="501136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5" name="직선 연결선 214">
            <a:extLst>
              <a:ext uri="{FF2B5EF4-FFF2-40B4-BE49-F238E27FC236}">
                <a16:creationId xmlns:a16="http://schemas.microsoft.com/office/drawing/2014/main" id="{E9293055-D5CD-4B9E-7F64-64B2D2CA7A52}"/>
              </a:ext>
            </a:extLst>
          </p:cNvPr>
          <p:cNvCxnSpPr/>
          <p:nvPr/>
        </p:nvCxnSpPr>
        <p:spPr>
          <a:xfrm>
            <a:off x="682206" y="405739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6" name="TextBox 215">
            <a:extLst>
              <a:ext uri="{FF2B5EF4-FFF2-40B4-BE49-F238E27FC236}">
                <a16:creationId xmlns:a16="http://schemas.microsoft.com/office/drawing/2014/main" id="{FFC49AEA-2A8F-250C-A86A-A7751D9706C3}"/>
              </a:ext>
            </a:extLst>
          </p:cNvPr>
          <p:cNvSpPr txBox="1"/>
          <p:nvPr/>
        </p:nvSpPr>
        <p:spPr>
          <a:xfrm>
            <a:off x="1218689" y="4359318"/>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217" name="TextBox 216">
            <a:extLst>
              <a:ext uri="{FF2B5EF4-FFF2-40B4-BE49-F238E27FC236}">
                <a16:creationId xmlns:a16="http://schemas.microsoft.com/office/drawing/2014/main" id="{FFC49AEA-2A8F-250C-A86A-A7751D9706C3}"/>
              </a:ext>
            </a:extLst>
          </p:cNvPr>
          <p:cNvSpPr txBox="1"/>
          <p:nvPr/>
        </p:nvSpPr>
        <p:spPr>
          <a:xfrm>
            <a:off x="2987656" y="4359318"/>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724785" y="4359318"/>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219" name="타원 218">
            <a:extLst>
              <a:ext uri="{FF2B5EF4-FFF2-40B4-BE49-F238E27FC236}">
                <a16:creationId xmlns:a16="http://schemas.microsoft.com/office/drawing/2014/main" id="{37A7FF4F-0EAA-1463-560A-D5EC24416103}"/>
              </a:ext>
            </a:extLst>
          </p:cNvPr>
          <p:cNvSpPr/>
          <p:nvPr/>
        </p:nvSpPr>
        <p:spPr>
          <a:xfrm>
            <a:off x="571127" y="413283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220" name="직선 연결선 219">
            <a:extLst>
              <a:ext uri="{FF2B5EF4-FFF2-40B4-BE49-F238E27FC236}">
                <a16:creationId xmlns:a16="http://schemas.microsoft.com/office/drawing/2014/main" id="{E9293055-D5CD-4B9E-7F64-64B2D2CA7A52}"/>
              </a:ext>
            </a:extLst>
          </p:cNvPr>
          <p:cNvCxnSpPr/>
          <p:nvPr/>
        </p:nvCxnSpPr>
        <p:spPr>
          <a:xfrm>
            <a:off x="721348"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1" name="TextBox 220">
            <a:extLst>
              <a:ext uri="{FF2B5EF4-FFF2-40B4-BE49-F238E27FC236}">
                <a16:creationId xmlns:a16="http://schemas.microsoft.com/office/drawing/2014/main" id="{FFC49AEA-2A8F-250C-A86A-A7751D9706C3}"/>
              </a:ext>
            </a:extLst>
          </p:cNvPr>
          <p:cNvSpPr txBox="1"/>
          <p:nvPr/>
        </p:nvSpPr>
        <p:spPr>
          <a:xfrm>
            <a:off x="765026" y="2201247"/>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1319489" y="2201247"/>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225" name="TextBox 224">
            <a:extLst>
              <a:ext uri="{FF2B5EF4-FFF2-40B4-BE49-F238E27FC236}">
                <a16:creationId xmlns:a16="http://schemas.microsoft.com/office/drawing/2014/main" id="{FFC49AEA-2A8F-250C-A86A-A7751D9706C3}"/>
              </a:ext>
            </a:extLst>
          </p:cNvPr>
          <p:cNvSpPr txBox="1"/>
          <p:nvPr/>
        </p:nvSpPr>
        <p:spPr>
          <a:xfrm>
            <a:off x="1860996"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2562390" y="2201247"/>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253" name="직선 연결선 252">
            <a:extLst>
              <a:ext uri="{FF2B5EF4-FFF2-40B4-BE49-F238E27FC236}">
                <a16:creationId xmlns:a16="http://schemas.microsoft.com/office/drawing/2014/main" id="{E9293055-D5CD-4B9E-7F64-64B2D2CA7A52}"/>
              </a:ext>
            </a:extLst>
          </p:cNvPr>
          <p:cNvCxnSpPr/>
          <p:nvPr/>
        </p:nvCxnSpPr>
        <p:spPr>
          <a:xfrm>
            <a:off x="721348"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90" name="그룹 289"/>
          <p:cNvGrpSpPr/>
          <p:nvPr/>
        </p:nvGrpSpPr>
        <p:grpSpPr>
          <a:xfrm>
            <a:off x="2924944" y="2163124"/>
            <a:ext cx="422853" cy="187961"/>
            <a:chOff x="3641308" y="2234886"/>
            <a:chExt cx="422853" cy="187961"/>
          </a:xfrm>
        </p:grpSpPr>
        <p:sp>
          <p:nvSpPr>
            <p:cNvPr id="291" name="타원 29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2" name="그룹 291"/>
            <p:cNvGrpSpPr/>
            <p:nvPr/>
          </p:nvGrpSpPr>
          <p:grpSpPr>
            <a:xfrm rot="5400000" flipH="1">
              <a:off x="3679895" y="2305364"/>
              <a:ext cx="94010" cy="47005"/>
              <a:chOff x="6812560" y="3297172"/>
              <a:chExt cx="94010" cy="47005"/>
            </a:xfrm>
          </p:grpSpPr>
          <p:cxnSp>
            <p:nvCxnSpPr>
              <p:cNvPr id="315" name="직선 연결선 31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6" name="직선 연결선 31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93" name="타원 29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4" name="그룹 293"/>
            <p:cNvGrpSpPr/>
            <p:nvPr/>
          </p:nvGrpSpPr>
          <p:grpSpPr>
            <a:xfrm rot="16200000">
              <a:off x="3931564" y="2305364"/>
              <a:ext cx="94010" cy="47005"/>
              <a:chOff x="6812560" y="3297172"/>
              <a:chExt cx="94010" cy="47005"/>
            </a:xfrm>
          </p:grpSpPr>
          <p:cxnSp>
            <p:nvCxnSpPr>
              <p:cNvPr id="312" name="직선 연결선 31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3" name="직선 연결선 31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60" name="모서리가 둥근 직사각형 59"/>
          <p:cNvSpPr/>
          <p:nvPr/>
        </p:nvSpPr>
        <p:spPr>
          <a:xfrm rot="5400000">
            <a:off x="2662242" y="4877088"/>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128028970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품목 내역 총 건수 표시</a:t>
            </a:r>
            <a:r>
              <a:rPr lang="en-US" altLang="ko-KR" dirty="0"/>
              <a:t/>
            </a:r>
            <a:br>
              <a:rPr lang="en-US" altLang="ko-KR" dirty="0"/>
            </a:br>
            <a:r>
              <a:rPr lang="en-US" altLang="ko-KR" dirty="0"/>
              <a:t>- </a:t>
            </a:r>
            <a:r>
              <a:rPr lang="ko-KR" altLang="en-US" dirty="0"/>
              <a:t>최초 </a:t>
            </a:r>
            <a:r>
              <a:rPr lang="en-US" altLang="ko-KR" dirty="0"/>
              <a:t>10</a:t>
            </a:r>
            <a:r>
              <a:rPr lang="ko-KR" altLang="en-US" dirty="0"/>
              <a:t>개 로드</a:t>
            </a:r>
            <a:endParaRPr lang="en-US" altLang="ko-KR" dirty="0"/>
          </a:p>
          <a:p>
            <a:pPr marL="228600" indent="-228600">
              <a:buFont typeface="+mj-lt"/>
              <a:buAutoNum type="arabicPeriod"/>
            </a:pPr>
            <a:r>
              <a:rPr lang="ko-KR" altLang="en-US" dirty="0" err="1"/>
              <a:t>더보기</a:t>
            </a:r>
            <a:r>
              <a:rPr lang="ko-KR" altLang="en-US" dirty="0"/>
              <a:t> 버튼 클릭을 통한 추가 항목 로드</a:t>
            </a:r>
            <a:r>
              <a:rPr lang="en-US" altLang="ko-KR" dirty="0"/>
              <a:t/>
            </a:r>
            <a:br>
              <a:rPr lang="en-US" altLang="ko-KR" dirty="0"/>
            </a:br>
            <a:r>
              <a:rPr lang="en-US" altLang="ko-KR" dirty="0"/>
              <a:t>- </a:t>
            </a:r>
            <a:r>
              <a:rPr lang="ko-KR" altLang="en-US" dirty="0" err="1"/>
              <a:t>더보기</a:t>
            </a:r>
            <a:r>
              <a:rPr lang="ko-KR" altLang="en-US" dirty="0"/>
              <a:t> 버튼이 추가 건수 표시</a:t>
            </a:r>
            <a:r>
              <a:rPr lang="en-US" altLang="ko-KR" dirty="0"/>
              <a:t/>
            </a:r>
            <a:br>
              <a:rPr lang="en-US" altLang="ko-KR" dirty="0"/>
            </a:br>
            <a:r>
              <a:rPr lang="en-US" altLang="ko-KR" dirty="0"/>
              <a:t>- </a:t>
            </a:r>
            <a:r>
              <a:rPr lang="ko-KR" altLang="en-US" dirty="0"/>
              <a:t>추가 항목이 없는 경우 </a:t>
            </a:r>
            <a:r>
              <a:rPr lang="ko-KR" altLang="en-US" dirty="0" err="1"/>
              <a:t>더보기</a:t>
            </a:r>
            <a:r>
              <a:rPr lang="ko-KR" altLang="en-US" dirty="0"/>
              <a:t> 버튼 숨김</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err="1">
                <a:latin typeface="+mn-ea"/>
              </a:rPr>
              <a:t>품목내역</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err="1"/>
              <a:t>품목내역</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err="1">
                <a:latin typeface="+mn-ea"/>
              </a:rPr>
              <a:t>품목내역</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MUI-BD-04-M06</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086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a:t>
            </a:r>
            <a:r>
              <a:rPr lang="ko-KR" altLang="en-US" sz="700" b="1" dirty="0" err="1">
                <a:latin typeface="+mn-ea"/>
              </a:rPr>
              <a:t>품목내역</a:t>
            </a:r>
            <a:endParaRPr lang="ko-KR" altLang="en-US" sz="700" b="1" dirty="0">
              <a:latin typeface="+mn-ea"/>
            </a:endParaRP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301324"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65" name="TextBox 164">
            <a:extLst>
              <a:ext uri="{FF2B5EF4-FFF2-40B4-BE49-F238E27FC236}">
                <a16:creationId xmlns:a16="http://schemas.microsoft.com/office/drawing/2014/main" id="{FFC49AEA-2A8F-250C-A86A-A7751D9706C3}"/>
              </a:ext>
            </a:extLst>
          </p:cNvPr>
          <p:cNvSpPr txBox="1"/>
          <p:nvPr/>
        </p:nvSpPr>
        <p:spPr>
          <a:xfrm>
            <a:off x="781109" y="2468189"/>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품목내역</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69" name="직사각형 168"/>
          <p:cNvSpPr/>
          <p:nvPr/>
        </p:nvSpPr>
        <p:spPr>
          <a:xfrm>
            <a:off x="722232" y="2775674"/>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2775674"/>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277567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172" name="그룹 171"/>
          <p:cNvGrpSpPr/>
          <p:nvPr/>
        </p:nvGrpSpPr>
        <p:grpSpPr>
          <a:xfrm>
            <a:off x="720139" y="2775674"/>
            <a:ext cx="2630093" cy="1723549"/>
            <a:chOff x="701175" y="1835481"/>
            <a:chExt cx="2630093" cy="1723549"/>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08" name="직사각형 207"/>
          <p:cNvSpPr/>
          <p:nvPr/>
        </p:nvSpPr>
        <p:spPr>
          <a:xfrm>
            <a:off x="722232" y="4590582"/>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9" name="TextBox 208">
            <a:extLst>
              <a:ext uri="{FF2B5EF4-FFF2-40B4-BE49-F238E27FC236}">
                <a16:creationId xmlns:a16="http://schemas.microsoft.com/office/drawing/2014/main" id="{FFC49AEA-2A8F-250C-A86A-A7751D9706C3}"/>
              </a:ext>
            </a:extLst>
          </p:cNvPr>
          <p:cNvSpPr txBox="1"/>
          <p:nvPr/>
        </p:nvSpPr>
        <p:spPr>
          <a:xfrm>
            <a:off x="809295" y="4590582"/>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1566144" y="4590582"/>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211" name="그룹 210"/>
          <p:cNvGrpSpPr/>
          <p:nvPr/>
        </p:nvGrpSpPr>
        <p:grpSpPr>
          <a:xfrm>
            <a:off x="720139" y="4590582"/>
            <a:ext cx="2630093" cy="1723549"/>
            <a:chOff x="701175" y="1835481"/>
            <a:chExt cx="2630093" cy="1723549"/>
          </a:xfrm>
        </p:grpSpPr>
        <p:cxnSp>
          <p:nvCxnSpPr>
            <p:cNvPr id="212" name="직선 연결선 21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3" name="직선 연결선 21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4" name="직선 연결선 21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5" name="직선 연결선 21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7" name="직선 연결선 216">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21" name="그룹 220">
            <a:extLst>
              <a:ext uri="{FF2B5EF4-FFF2-40B4-BE49-F238E27FC236}">
                <a16:creationId xmlns:a16="http://schemas.microsoft.com/office/drawing/2014/main" id="{22BC05EE-C648-7CA2-4CCC-6E1C1A7E9BDA}"/>
              </a:ext>
            </a:extLst>
          </p:cNvPr>
          <p:cNvGrpSpPr/>
          <p:nvPr/>
        </p:nvGrpSpPr>
        <p:grpSpPr>
          <a:xfrm>
            <a:off x="5130062" y="5152030"/>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78" name="직선 연결선 277">
            <a:extLst>
              <a:ext uri="{FF2B5EF4-FFF2-40B4-BE49-F238E27FC236}">
                <a16:creationId xmlns:a16="http://schemas.microsoft.com/office/drawing/2014/main" id="{E9293055-D5CD-4B9E-7F64-64B2D2CA7A52}"/>
              </a:ext>
            </a:extLst>
          </p:cNvPr>
          <p:cNvCxnSpPr/>
          <p:nvPr/>
        </p:nvCxnSpPr>
        <p:spPr>
          <a:xfrm>
            <a:off x="3840474"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9" name="TextBox 278">
            <a:extLst>
              <a:ext uri="{FF2B5EF4-FFF2-40B4-BE49-F238E27FC236}">
                <a16:creationId xmlns:a16="http://schemas.microsoft.com/office/drawing/2014/main" id="{FFC49AEA-2A8F-250C-A86A-A7751D9706C3}"/>
              </a:ext>
            </a:extLst>
          </p:cNvPr>
          <p:cNvSpPr txBox="1"/>
          <p:nvPr/>
        </p:nvSpPr>
        <p:spPr>
          <a:xfrm>
            <a:off x="3884152"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4438615" y="2201247"/>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a:t>
            </a:r>
            <a:r>
              <a:rPr lang="ko-KR" altLang="en-US" sz="700" b="1" dirty="0" err="1">
                <a:latin typeface="+mn-ea"/>
              </a:rPr>
              <a:t>품목내역</a:t>
            </a:r>
            <a:endParaRPr lang="ko-KR" altLang="en-US" sz="700" b="1" dirty="0">
              <a:latin typeface="+mn-ea"/>
            </a:endParaRPr>
          </a:p>
        </p:txBody>
      </p:sp>
      <p:sp>
        <p:nvSpPr>
          <p:cNvPr id="281" name="TextBox 280">
            <a:extLst>
              <a:ext uri="{FF2B5EF4-FFF2-40B4-BE49-F238E27FC236}">
                <a16:creationId xmlns:a16="http://schemas.microsoft.com/office/drawing/2014/main" id="{FFC49AEA-2A8F-250C-A86A-A7751D9706C3}"/>
              </a:ext>
            </a:extLst>
          </p:cNvPr>
          <p:cNvSpPr txBox="1"/>
          <p:nvPr/>
        </p:nvSpPr>
        <p:spPr>
          <a:xfrm>
            <a:off x="4980122"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290" name="TextBox 289">
            <a:extLst>
              <a:ext uri="{FF2B5EF4-FFF2-40B4-BE49-F238E27FC236}">
                <a16:creationId xmlns:a16="http://schemas.microsoft.com/office/drawing/2014/main" id="{FFC49AEA-2A8F-250C-A86A-A7751D9706C3}"/>
              </a:ext>
            </a:extLst>
          </p:cNvPr>
          <p:cNvSpPr txBox="1"/>
          <p:nvPr/>
        </p:nvSpPr>
        <p:spPr>
          <a:xfrm>
            <a:off x="5681516" y="2201247"/>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291" name="직선 연결선 290">
            <a:extLst>
              <a:ext uri="{FF2B5EF4-FFF2-40B4-BE49-F238E27FC236}">
                <a16:creationId xmlns:a16="http://schemas.microsoft.com/office/drawing/2014/main" id="{E9293055-D5CD-4B9E-7F64-64B2D2CA7A52}"/>
              </a:ext>
            </a:extLst>
          </p:cNvPr>
          <p:cNvCxnSpPr/>
          <p:nvPr/>
        </p:nvCxnSpPr>
        <p:spPr>
          <a:xfrm>
            <a:off x="4421659"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92" name="그룹 291"/>
          <p:cNvGrpSpPr/>
          <p:nvPr/>
        </p:nvGrpSpPr>
        <p:grpSpPr>
          <a:xfrm>
            <a:off x="6044070" y="2163124"/>
            <a:ext cx="422853" cy="187961"/>
            <a:chOff x="3641308" y="2234886"/>
            <a:chExt cx="422853" cy="187961"/>
          </a:xfrm>
        </p:grpSpPr>
        <p:sp>
          <p:nvSpPr>
            <p:cNvPr id="293" name="타원 29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4" name="그룹 293"/>
            <p:cNvGrpSpPr/>
            <p:nvPr/>
          </p:nvGrpSpPr>
          <p:grpSpPr>
            <a:xfrm rot="5400000" flipH="1">
              <a:off x="3679895" y="2305364"/>
              <a:ext cx="94010" cy="47005"/>
              <a:chOff x="6812560" y="3297172"/>
              <a:chExt cx="94010" cy="47005"/>
            </a:xfrm>
          </p:grpSpPr>
          <p:cxnSp>
            <p:nvCxnSpPr>
              <p:cNvPr id="344" name="직선 연결선 3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5" name="직선 연결선 3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12" name="타원 31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3" name="그룹 312"/>
            <p:cNvGrpSpPr/>
            <p:nvPr/>
          </p:nvGrpSpPr>
          <p:grpSpPr>
            <a:xfrm rot="16200000">
              <a:off x="3931564" y="2305364"/>
              <a:ext cx="94010" cy="47005"/>
              <a:chOff x="6812560" y="3297172"/>
              <a:chExt cx="94010" cy="47005"/>
            </a:xfrm>
          </p:grpSpPr>
          <p:cxnSp>
            <p:nvCxnSpPr>
              <p:cNvPr id="315" name="직선 연결선 31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3" name="직선 연결선 3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46" name="직사각형 345"/>
          <p:cNvSpPr/>
          <p:nvPr/>
        </p:nvSpPr>
        <p:spPr>
          <a:xfrm>
            <a:off x="3834318" y="2968670"/>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7" name="TextBox 346">
            <a:extLst>
              <a:ext uri="{FF2B5EF4-FFF2-40B4-BE49-F238E27FC236}">
                <a16:creationId xmlns:a16="http://schemas.microsoft.com/office/drawing/2014/main" id="{FFC49AEA-2A8F-250C-A86A-A7751D9706C3}"/>
              </a:ext>
            </a:extLst>
          </p:cNvPr>
          <p:cNvSpPr txBox="1"/>
          <p:nvPr/>
        </p:nvSpPr>
        <p:spPr>
          <a:xfrm>
            <a:off x="3921381" y="2968670"/>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348" name="TextBox 347">
            <a:extLst>
              <a:ext uri="{FF2B5EF4-FFF2-40B4-BE49-F238E27FC236}">
                <a16:creationId xmlns:a16="http://schemas.microsoft.com/office/drawing/2014/main" id="{FFC49AEA-2A8F-250C-A86A-A7751D9706C3}"/>
              </a:ext>
            </a:extLst>
          </p:cNvPr>
          <p:cNvSpPr txBox="1"/>
          <p:nvPr/>
        </p:nvSpPr>
        <p:spPr>
          <a:xfrm>
            <a:off x="4678230" y="2968670"/>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10</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349" name="그룹 348"/>
          <p:cNvGrpSpPr/>
          <p:nvPr/>
        </p:nvGrpSpPr>
        <p:grpSpPr>
          <a:xfrm>
            <a:off x="3832225" y="2968670"/>
            <a:ext cx="2630093" cy="1723549"/>
            <a:chOff x="701175" y="1835481"/>
            <a:chExt cx="2630093" cy="1723549"/>
          </a:xfrm>
        </p:grpSpPr>
        <p:cxnSp>
          <p:nvCxnSpPr>
            <p:cNvPr id="350" name="직선 연결선 34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1" name="직선 연결선 35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2" name="직선 연결선 35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3" name="직선 연결선 35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4" name="직선 연결선 35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5" name="직선 연결선 354">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6" name="직선 연결선 355">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7" name="직선 연결선 356">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8" name="직선 연결선 357">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024" y="4791008"/>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360" name="타원 359">
            <a:extLst>
              <a:ext uri="{FF2B5EF4-FFF2-40B4-BE49-F238E27FC236}">
                <a16:creationId xmlns:a16="http://schemas.microsoft.com/office/drawing/2014/main" id="{37A7FF4F-0EAA-1463-560A-D5EC24416103}"/>
              </a:ext>
            </a:extLst>
          </p:cNvPr>
          <p:cNvSpPr/>
          <p:nvPr/>
        </p:nvSpPr>
        <p:spPr>
          <a:xfrm>
            <a:off x="3712022" y="477203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105" name="그룹 104">
            <a:extLst>
              <a:ext uri="{FF2B5EF4-FFF2-40B4-BE49-F238E27FC236}">
                <a16:creationId xmlns:a16="http://schemas.microsoft.com/office/drawing/2014/main" id="{22BC05EE-C648-7CA2-4CCC-6E1C1A7E9BDA}"/>
              </a:ext>
            </a:extLst>
          </p:cNvPr>
          <p:cNvGrpSpPr/>
          <p:nvPr/>
        </p:nvGrpSpPr>
        <p:grpSpPr>
          <a:xfrm>
            <a:off x="5130062" y="2543512"/>
            <a:ext cx="76863" cy="292489"/>
            <a:chOff x="3750067" y="4683795"/>
            <a:chExt cx="76863" cy="292489"/>
          </a:xfrm>
        </p:grpSpPr>
        <p:sp>
          <p:nvSpPr>
            <p:cNvPr id="106" name="타원 105">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7" name="타원 106">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8" name="타원 107">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09" name="모서리가 둥근 직사각형 108"/>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모서리가 둥근 직사각형 109"/>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31741002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공종및</a:t>
            </a:r>
            <a:r>
              <a:rPr lang="ko-KR" altLang="en-US" dirty="0"/>
              <a:t> </a:t>
            </a:r>
            <a:r>
              <a:rPr lang="ko-KR" altLang="en-US" dirty="0" err="1"/>
              <a:t>면허정보</a:t>
            </a:r>
            <a:r>
              <a:rPr lang="ko-KR" altLang="en-US" dirty="0"/>
              <a:t> 표시</a:t>
            </a:r>
            <a:r>
              <a:rPr lang="en-US" altLang="ko-KR" dirty="0"/>
              <a:t/>
            </a:r>
            <a:br>
              <a:rPr lang="en-US" altLang="ko-KR" dirty="0"/>
            </a:br>
            <a:r>
              <a:rPr lang="en-US" altLang="ko-KR" dirty="0"/>
              <a:t>- </a:t>
            </a:r>
            <a:r>
              <a:rPr lang="ko-KR" altLang="en-US" dirty="0" err="1"/>
              <a:t>업무구분이</a:t>
            </a:r>
            <a:r>
              <a:rPr lang="ko-KR" altLang="en-US" dirty="0"/>
              <a:t> 공사이고</a:t>
            </a:r>
            <a:r>
              <a:rPr lang="en-US" altLang="ko-KR" dirty="0"/>
              <a:t>, </a:t>
            </a:r>
            <a:r>
              <a:rPr lang="ko-KR" altLang="en-US" dirty="0" err="1"/>
              <a:t>공종정보가</a:t>
            </a:r>
            <a:r>
              <a:rPr lang="ko-KR" altLang="en-US" dirty="0"/>
              <a:t> 있는 경우 </a:t>
            </a:r>
            <a:r>
              <a:rPr lang="ko-KR" altLang="en-US" dirty="0" err="1"/>
              <a:t>공종</a:t>
            </a:r>
            <a:r>
              <a:rPr lang="ko-KR" altLang="en-US" dirty="0"/>
              <a:t> 및 </a:t>
            </a:r>
            <a:r>
              <a:rPr lang="ko-KR" altLang="en-US" dirty="0" err="1"/>
              <a:t>면허정보</a:t>
            </a:r>
            <a:r>
              <a:rPr lang="ko-KR" altLang="en-US" dirty="0"/>
              <a:t> 목록 보이기</a:t>
            </a:r>
            <a:r>
              <a:rPr lang="en-US" altLang="ko-KR" dirty="0"/>
              <a:t/>
            </a:r>
            <a:br>
              <a:rPr lang="en-US" altLang="ko-KR" dirty="0"/>
            </a:br>
            <a:r>
              <a:rPr lang="en-US" altLang="ko-KR" dirty="0"/>
              <a:t>- </a:t>
            </a:r>
            <a:r>
              <a:rPr lang="ko-KR" altLang="en-US" dirty="0" err="1"/>
              <a:t>나라장터바로가기는</a:t>
            </a:r>
            <a:r>
              <a:rPr lang="ko-KR" altLang="en-US" dirty="0"/>
              <a:t> </a:t>
            </a:r>
            <a:r>
              <a:rPr lang="en-US" altLang="ko-KR" dirty="0">
                <a:hlinkClick r:id="rId2"/>
              </a:rPr>
              <a:t>http://www.g2b.go.kr</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99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err="1">
                <a:latin typeface="+mn-ea"/>
              </a:rPr>
              <a:t>공종</a:t>
            </a:r>
            <a:r>
              <a:rPr lang="ko-KR" altLang="en-US" dirty="0">
                <a:latin typeface="+mn-ea"/>
              </a:rPr>
              <a:t> 및 면허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err="1">
                <a:latin typeface="+mn-ea"/>
              </a:rPr>
              <a:t>공종</a:t>
            </a:r>
            <a:r>
              <a:rPr lang="ko-KR" altLang="en-US" dirty="0">
                <a:latin typeface="+mn-ea"/>
              </a:rPr>
              <a:t> 및 면허</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err="1">
                <a:latin typeface="+mn-ea"/>
              </a:rPr>
              <a:t>공종</a:t>
            </a:r>
            <a:r>
              <a:rPr lang="ko-KR" altLang="en-US" dirty="0">
                <a:latin typeface="+mn-ea"/>
              </a:rPr>
              <a:t> 및 면허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MUI-BD-04-M07</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371521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err="1">
                <a:latin typeface="+mn-ea"/>
              </a:rPr>
              <a:t>공종</a:t>
            </a:r>
            <a:r>
              <a:rPr lang="ko-KR" altLang="en-US" sz="700" b="1" dirty="0">
                <a:latin typeface="+mn-ea"/>
              </a:rPr>
              <a:t> 및 면허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835170"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65" name="TextBox 164">
            <a:extLst>
              <a:ext uri="{FF2B5EF4-FFF2-40B4-BE49-F238E27FC236}">
                <a16:creationId xmlns:a16="http://schemas.microsoft.com/office/drawing/2014/main" id="{FFC49AEA-2A8F-250C-A86A-A7751D9706C3}"/>
              </a:ext>
            </a:extLst>
          </p:cNvPr>
          <p:cNvSpPr txBox="1"/>
          <p:nvPr/>
        </p:nvSpPr>
        <p:spPr>
          <a:xfrm>
            <a:off x="781109" y="3674736"/>
            <a:ext cx="1757861" cy="215444"/>
          </a:xfrm>
          <a:prstGeom prst="rect">
            <a:avLst/>
          </a:prstGeom>
          <a:noFill/>
        </p:spPr>
        <p:txBody>
          <a:bodyPr wrap="square" lIns="0" tIns="0" rIns="0" bIns="0" rtlCol="0">
            <a:spAutoFit/>
          </a:bodyPr>
          <a:lstStyle/>
          <a:p>
            <a:pPr>
              <a:lnSpc>
                <a:spcPct val="200000"/>
              </a:lnSpc>
            </a:pPr>
            <a:r>
              <a:rPr lang="ko-KR" altLang="en-US" sz="700" dirty="0" err="1">
                <a:latin typeface="+mn-ea"/>
              </a:rPr>
              <a:t>공종</a:t>
            </a:r>
            <a:r>
              <a:rPr lang="ko-KR" altLang="en-US" sz="700" dirty="0">
                <a:latin typeface="+mn-ea"/>
              </a:rPr>
              <a:t> 및 </a:t>
            </a:r>
            <a:r>
              <a:rPr lang="ko-KR" altLang="en-US" sz="700" dirty="0" err="1">
                <a:latin typeface="+mn-ea"/>
              </a:rPr>
              <a:t>면허정보</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69" name="직사각형 168"/>
          <p:cNvSpPr/>
          <p:nvPr/>
        </p:nvSpPr>
        <p:spPr>
          <a:xfrm>
            <a:off x="722232" y="3982222"/>
            <a:ext cx="792000" cy="15031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982221"/>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번호</a:t>
            </a:r>
            <a:endParaRPr lang="en-US" altLang="ko-KR" sz="700" dirty="0">
              <a:latin typeface="+mn-ea"/>
            </a:endParaRPr>
          </a:p>
          <a:p>
            <a:pPr>
              <a:lnSpc>
                <a:spcPct val="200000"/>
              </a:lnSpc>
            </a:pPr>
            <a:r>
              <a:rPr lang="ko-KR" altLang="en-US" sz="700" dirty="0" err="1">
                <a:latin typeface="+mn-ea"/>
              </a:rPr>
              <a:t>공종명</a:t>
            </a:r>
            <a:r>
              <a:rPr lang="en-US" altLang="ko-KR" sz="700" dirty="0">
                <a:latin typeface="+mn-ea"/>
              </a:rPr>
              <a:t>/</a:t>
            </a:r>
            <a:r>
              <a:rPr lang="ko-KR" altLang="en-US" sz="700" dirty="0" err="1">
                <a:latin typeface="+mn-ea"/>
              </a:rPr>
              <a:t>업종코드</a:t>
            </a:r>
            <a:endParaRPr lang="en-US" altLang="ko-KR" sz="700" dirty="0">
              <a:latin typeface="+mn-ea"/>
            </a:endParaRPr>
          </a:p>
          <a:p>
            <a:pPr>
              <a:lnSpc>
                <a:spcPct val="200000"/>
              </a:lnSpc>
            </a:pPr>
            <a:r>
              <a:rPr lang="ko-KR" altLang="en-US" sz="700" dirty="0" err="1">
                <a:latin typeface="+mn-ea"/>
              </a:rPr>
              <a:t>면허정보</a:t>
            </a:r>
            <a:endParaRPr lang="en-US" altLang="ko-KR" sz="700" dirty="0">
              <a:latin typeface="+mn-ea"/>
            </a:endParaRPr>
          </a:p>
          <a:p>
            <a:pPr>
              <a:lnSpc>
                <a:spcPct val="200000"/>
              </a:lnSpc>
            </a:pPr>
            <a:r>
              <a:rPr lang="ko-KR" altLang="en-US" sz="700" dirty="0">
                <a:latin typeface="+mn-ea"/>
              </a:rPr>
              <a:t>행정처분기관구분</a:t>
            </a:r>
            <a:endParaRPr lang="en-US" altLang="ko-KR" sz="700" dirty="0">
              <a:latin typeface="+mn-ea"/>
            </a:endParaRPr>
          </a:p>
          <a:p>
            <a:pPr>
              <a:lnSpc>
                <a:spcPct val="200000"/>
              </a:lnSpc>
            </a:pPr>
            <a:r>
              <a:rPr lang="ko-KR" altLang="en-US" sz="700" dirty="0">
                <a:latin typeface="+mn-ea"/>
              </a:rPr>
              <a:t>등록일자</a:t>
            </a:r>
            <a:endParaRPr lang="en-US" altLang="ko-KR" sz="700" dirty="0">
              <a:latin typeface="+mn-ea"/>
            </a:endParaRPr>
          </a:p>
          <a:p>
            <a:pPr>
              <a:lnSpc>
                <a:spcPct val="200000"/>
              </a:lnSpc>
            </a:pPr>
            <a:r>
              <a:rPr lang="ko-KR" altLang="en-US" sz="700" dirty="0">
                <a:latin typeface="+mn-ea"/>
              </a:rPr>
              <a:t>시공능력평가액</a:t>
            </a:r>
            <a:endParaRPr lang="en-US" altLang="ko-KR" sz="700" dirty="0">
              <a:latin typeface="+mn-ea"/>
            </a:endParaRPr>
          </a:p>
          <a:p>
            <a:pPr>
              <a:lnSpc>
                <a:spcPct val="200000"/>
              </a:lnSpc>
            </a:pPr>
            <a:r>
              <a:rPr lang="ko-KR" altLang="en-US" sz="700" dirty="0">
                <a:latin typeface="+mn-ea"/>
              </a:rPr>
              <a:t>기준년도</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982221"/>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0000</a:t>
            </a:r>
          </a:p>
          <a:p>
            <a:pPr>
              <a:lnSpc>
                <a:spcPct val="200000"/>
              </a:lnSpc>
            </a:pPr>
            <a:r>
              <a:rPr lang="ko-KR" altLang="en-US" sz="700" dirty="0" err="1">
                <a:latin typeface="+mn-ea"/>
              </a:rPr>
              <a:t>면허명</a:t>
            </a:r>
            <a:endParaRPr lang="en-US" altLang="ko-KR" sz="700" dirty="0">
              <a:latin typeface="+mn-ea"/>
            </a:endParaRPr>
          </a:p>
          <a:p>
            <a:pPr>
              <a:lnSpc>
                <a:spcPct val="200000"/>
              </a:lnSpc>
            </a:pPr>
            <a:r>
              <a:rPr lang="ko-KR" altLang="en-US" sz="700" dirty="0" err="1">
                <a:latin typeface="+mn-ea"/>
              </a:rPr>
              <a:t>기관명</a:t>
            </a:r>
            <a:endParaRPr lang="en-US" altLang="ko-KR" sz="700" dirty="0">
              <a:latin typeface="+mn-ea"/>
            </a:endParaRPr>
          </a:p>
          <a:p>
            <a:pPr>
              <a:lnSpc>
                <a:spcPct val="200000"/>
              </a:lnSpc>
            </a:pPr>
            <a:r>
              <a:rPr lang="en-US" altLang="ko-KR" sz="700" dirty="0">
                <a:latin typeface="+mn-ea"/>
              </a:rPr>
              <a:t>2025-11-25</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2025</a:t>
            </a:r>
          </a:p>
        </p:txBody>
      </p:sp>
      <p:grpSp>
        <p:nvGrpSpPr>
          <p:cNvPr id="172" name="그룹 171"/>
          <p:cNvGrpSpPr/>
          <p:nvPr/>
        </p:nvGrpSpPr>
        <p:grpSpPr>
          <a:xfrm>
            <a:off x="720139" y="3982221"/>
            <a:ext cx="2630093" cy="1503180"/>
            <a:chOff x="701175" y="1835481"/>
            <a:chExt cx="2630093" cy="150318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4801557"/>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173195"/>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grpSp>
        <p:nvGrpSpPr>
          <p:cNvPr id="105" name="그룹 104">
            <a:extLst>
              <a:ext uri="{FF2B5EF4-FFF2-40B4-BE49-F238E27FC236}">
                <a16:creationId xmlns:a16="http://schemas.microsoft.com/office/drawing/2014/main" id="{22BC05EE-C648-7CA2-4CCC-6E1C1A7E9BDA}"/>
              </a:ext>
            </a:extLst>
          </p:cNvPr>
          <p:cNvGrpSpPr/>
          <p:nvPr/>
        </p:nvGrpSpPr>
        <p:grpSpPr>
          <a:xfrm>
            <a:off x="5130062" y="2543512"/>
            <a:ext cx="76863" cy="292489"/>
            <a:chOff x="3750067" y="4683795"/>
            <a:chExt cx="76863" cy="292489"/>
          </a:xfrm>
        </p:grpSpPr>
        <p:sp>
          <p:nvSpPr>
            <p:cNvPr id="106" name="타원 105">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7" name="타원 106">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8" name="타원 107">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09" name="모서리가 둥근 직사각형 108"/>
          <p:cNvSpPr/>
          <p:nvPr/>
        </p:nvSpPr>
        <p:spPr>
          <a:xfrm>
            <a:off x="705041" y="2534410"/>
            <a:ext cx="2652743" cy="1076517"/>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3811" y="2632694"/>
            <a:ext cx="2475203" cy="969496"/>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a:latin typeface="맑은 고딕" panose="020B0503020000020004" pitchFamily="50" charset="-127"/>
              </a:rPr>
              <a:t>상기 시공능력 </a:t>
            </a:r>
            <a:r>
              <a:rPr lang="ko-KR" altLang="en-US" sz="700" dirty="0" err="1">
                <a:latin typeface="맑은 고딕" panose="020B0503020000020004" pitchFamily="50" charset="-127"/>
              </a:rPr>
              <a:t>평가액은</a:t>
            </a:r>
            <a:r>
              <a:rPr lang="ko-KR" altLang="en-US" sz="700" dirty="0">
                <a:latin typeface="맑은 고딕" panose="020B0503020000020004" pitchFamily="50" charset="-127"/>
              </a:rPr>
              <a:t> </a:t>
            </a:r>
            <a:r>
              <a:rPr lang="en-US" altLang="ko-KR" sz="700" dirty="0">
                <a:latin typeface="맑은 고딕" panose="020B0503020000020004" pitchFamily="50" charset="-127"/>
              </a:rPr>
              <a:t>G2B(</a:t>
            </a:r>
            <a:r>
              <a:rPr lang="ko-KR" altLang="en-US" sz="700" dirty="0">
                <a:latin typeface="맑은 고딕" panose="020B0503020000020004" pitchFamily="50" charset="-127"/>
              </a:rPr>
              <a:t>나라장터</a:t>
            </a:r>
            <a:r>
              <a:rPr lang="en-US" altLang="ko-KR" sz="700" dirty="0">
                <a:latin typeface="맑은 고딕" panose="020B0503020000020004" pitchFamily="50" charset="-127"/>
              </a:rPr>
              <a:t>)</a:t>
            </a:r>
            <a:r>
              <a:rPr lang="ko-KR" altLang="en-US" sz="700" dirty="0">
                <a:latin typeface="맑은 고딕" panose="020B0503020000020004" pitchFamily="50" charset="-127"/>
              </a:rPr>
              <a:t>에서 제공하는 자료입니다</a:t>
            </a:r>
            <a:r>
              <a:rPr lang="en-US" altLang="ko-KR" sz="700" dirty="0">
                <a:latin typeface="맑은 고딕" panose="020B0503020000020004" pitchFamily="50" charset="-127"/>
              </a:rPr>
              <a:t>.</a:t>
            </a:r>
          </a:p>
          <a:p>
            <a:pPr marL="92075" indent="-92075">
              <a:buFont typeface="Arial" panose="020B0604020202020204" pitchFamily="34" charset="0"/>
              <a:buChar char="•"/>
            </a:pPr>
            <a:r>
              <a:rPr lang="ko-KR" altLang="en-US" sz="700" dirty="0">
                <a:latin typeface="맑은 고딕" panose="020B0503020000020004" pitchFamily="50" charset="-127"/>
              </a:rPr>
              <a:t>시공능력평가액이 틀릴 경우 먼저 </a:t>
            </a:r>
            <a:r>
              <a:rPr lang="en-US" altLang="ko-KR" sz="700" dirty="0">
                <a:latin typeface="맑은 고딕" panose="020B0503020000020004" pitchFamily="50" charset="-127"/>
              </a:rPr>
              <a:t>G2B(</a:t>
            </a:r>
            <a:r>
              <a:rPr lang="en-US" altLang="ko-KR" sz="700" dirty="0">
                <a:latin typeface="맑은 고딕" panose="020B0503020000020004" pitchFamily="50" charset="-127"/>
                <a:hlinkClick r:id="rId2"/>
              </a:rPr>
              <a:t>www.g2b.go.kr</a:t>
            </a:r>
            <a:r>
              <a:rPr lang="en-US" altLang="ko-KR" sz="700" dirty="0">
                <a:latin typeface="맑은 고딕" panose="020B0503020000020004" pitchFamily="50" charset="-127"/>
              </a:rPr>
              <a:t>)</a:t>
            </a:r>
            <a:r>
              <a:rPr lang="ko-KR" altLang="en-US" sz="700" dirty="0">
                <a:latin typeface="맑은 고딕" panose="020B0503020000020004" pitchFamily="50" charset="-127"/>
              </a:rPr>
              <a:t>에서 확인 후 수정 </a:t>
            </a:r>
            <a:r>
              <a:rPr lang="ko-KR" altLang="en-US" sz="700" dirty="0">
                <a:solidFill>
                  <a:srgbClr val="000000"/>
                </a:solidFill>
                <a:latin typeface="Consolas" panose="020B0609020204030204" pitchFamily="49" charset="0"/>
              </a:rPr>
              <a:t>☞</a:t>
            </a:r>
            <a:r>
              <a:rPr lang="ko-KR" altLang="en-US" sz="700" dirty="0">
                <a:latin typeface="맑은 고딕" panose="020B0503020000020004" pitchFamily="50" charset="-127"/>
              </a:rPr>
              <a:t> 방위사업청은 익일 반영 </a:t>
            </a:r>
            <a:r>
              <a:rPr lang="ko-KR" altLang="en-US" sz="700" dirty="0" err="1">
                <a:solidFill>
                  <a:schemeClr val="accent5">
                    <a:lumMod val="75000"/>
                  </a:schemeClr>
                </a:solidFill>
                <a:latin typeface="맑은 고딕" panose="020B0503020000020004" pitchFamily="50" charset="-127"/>
              </a:rPr>
              <a:t>나라장터바로가기</a:t>
            </a:r>
            <a:endParaRPr lang="en-US" altLang="ko-KR" sz="700" dirty="0">
              <a:solidFill>
                <a:schemeClr val="accent5">
                  <a:lumMod val="75000"/>
                </a:schemeClr>
              </a:solidFill>
              <a:latin typeface="맑은 고딕" panose="020B0503020000020004" pitchFamily="50" charset="-127"/>
            </a:endParaRPr>
          </a:p>
          <a:p>
            <a:pPr marL="92075" indent="-92075">
              <a:buFont typeface="Arial" panose="020B0604020202020204" pitchFamily="34" charset="0"/>
              <a:buChar char="•"/>
            </a:pPr>
            <a:r>
              <a:rPr lang="en-US" altLang="ko-KR" sz="700" dirty="0">
                <a:solidFill>
                  <a:srgbClr val="000000"/>
                </a:solidFill>
                <a:latin typeface="+mn-ea"/>
              </a:rPr>
              <a:t>G2B(</a:t>
            </a:r>
            <a:r>
              <a:rPr lang="ko-KR" altLang="en-US" sz="700" dirty="0">
                <a:solidFill>
                  <a:srgbClr val="000000"/>
                </a:solidFill>
                <a:latin typeface="+mn-ea"/>
              </a:rPr>
              <a:t>나라장터</a:t>
            </a:r>
            <a:r>
              <a:rPr lang="en-US" altLang="ko-KR" sz="700" dirty="0">
                <a:solidFill>
                  <a:srgbClr val="000000"/>
                </a:solidFill>
                <a:latin typeface="+mn-ea"/>
              </a:rPr>
              <a:t>)</a:t>
            </a:r>
            <a:r>
              <a:rPr lang="ko-KR" altLang="en-US" sz="700" dirty="0">
                <a:solidFill>
                  <a:srgbClr val="000000"/>
                </a:solidFill>
                <a:latin typeface="+mn-ea"/>
              </a:rPr>
              <a:t>와 방위사업청이 틀릴 경우 </a:t>
            </a:r>
            <a:r>
              <a:rPr lang="ko-KR" altLang="en-US" sz="700" dirty="0" err="1">
                <a:solidFill>
                  <a:srgbClr val="000000"/>
                </a:solidFill>
                <a:latin typeface="+mn-ea"/>
              </a:rPr>
              <a:t>방위사업청</a:t>
            </a:r>
            <a:r>
              <a:rPr lang="en-US" altLang="ko-KR" sz="700" dirty="0">
                <a:solidFill>
                  <a:srgbClr val="000000"/>
                </a:solidFill>
                <a:latin typeface="+mn-ea"/>
              </a:rPr>
              <a:t>(1577-1118(①))</a:t>
            </a:r>
            <a:r>
              <a:rPr lang="ko-KR" altLang="en-US" sz="700" dirty="0">
                <a:solidFill>
                  <a:srgbClr val="000000"/>
                </a:solidFill>
                <a:latin typeface="+mn-ea"/>
              </a:rPr>
              <a:t>으로 연락 해 주시기 바랍니다</a:t>
            </a:r>
            <a:r>
              <a:rPr lang="en-US" altLang="ko-KR" sz="700" dirty="0">
                <a:solidFill>
                  <a:srgbClr val="000000"/>
                </a:solidFill>
                <a:latin typeface="+mn-ea"/>
              </a:rPr>
              <a:t>.</a:t>
            </a:r>
            <a:endParaRPr lang="en-US" altLang="ko-KR" sz="700" dirty="0">
              <a:latin typeface="+mn-ea"/>
            </a:endParaRPr>
          </a:p>
          <a:p>
            <a:pPr marL="92075" indent="-92075">
              <a:buFont typeface="Arial" panose="020B0604020202020204" pitchFamily="34" charset="0"/>
              <a:buChar char="•"/>
            </a:pPr>
            <a:endParaRPr lang="en-US" altLang="ko-KR" sz="700" dirty="0">
              <a:latin typeface="+mn-ea"/>
            </a:endParaRPr>
          </a:p>
        </p:txBody>
      </p:sp>
      <p:sp>
        <p:nvSpPr>
          <p:cNvPr id="111" name="타원 110"/>
          <p:cNvSpPr/>
          <p:nvPr/>
        </p:nvSpPr>
        <p:spPr>
          <a:xfrm>
            <a:off x="789853" y="262304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2" name="그룹 111"/>
          <p:cNvGrpSpPr/>
          <p:nvPr/>
        </p:nvGrpSpPr>
        <p:grpSpPr>
          <a:xfrm flipV="1">
            <a:off x="3138674" y="2671541"/>
            <a:ext cx="94010" cy="47005"/>
            <a:chOff x="6812560" y="3297172"/>
            <a:chExt cx="94010" cy="47005"/>
          </a:xfrm>
        </p:grpSpPr>
        <p:cxnSp>
          <p:nvCxnSpPr>
            <p:cNvPr id="113" name="직선 연결선 1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5" name="직사각형 114"/>
          <p:cNvSpPr/>
          <p:nvPr/>
        </p:nvSpPr>
        <p:spPr>
          <a:xfrm>
            <a:off x="3835468" y="2963467"/>
            <a:ext cx="792000" cy="15031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TextBox 115">
            <a:extLst>
              <a:ext uri="{FF2B5EF4-FFF2-40B4-BE49-F238E27FC236}">
                <a16:creationId xmlns:a16="http://schemas.microsoft.com/office/drawing/2014/main" id="{FFC49AEA-2A8F-250C-A86A-A7751D9706C3}"/>
              </a:ext>
            </a:extLst>
          </p:cNvPr>
          <p:cNvSpPr txBox="1"/>
          <p:nvPr/>
        </p:nvSpPr>
        <p:spPr>
          <a:xfrm>
            <a:off x="3922531" y="2963466"/>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번호</a:t>
            </a:r>
            <a:endParaRPr lang="en-US" altLang="ko-KR" sz="700" dirty="0">
              <a:latin typeface="+mn-ea"/>
            </a:endParaRPr>
          </a:p>
          <a:p>
            <a:pPr>
              <a:lnSpc>
                <a:spcPct val="200000"/>
              </a:lnSpc>
            </a:pPr>
            <a:r>
              <a:rPr lang="ko-KR" altLang="en-US" sz="700" dirty="0" err="1">
                <a:latin typeface="+mn-ea"/>
              </a:rPr>
              <a:t>공종명</a:t>
            </a:r>
            <a:r>
              <a:rPr lang="en-US" altLang="ko-KR" sz="700" dirty="0">
                <a:latin typeface="+mn-ea"/>
              </a:rPr>
              <a:t>/</a:t>
            </a:r>
            <a:r>
              <a:rPr lang="ko-KR" altLang="en-US" sz="700" dirty="0" err="1">
                <a:latin typeface="+mn-ea"/>
              </a:rPr>
              <a:t>업종코드</a:t>
            </a:r>
            <a:endParaRPr lang="en-US" altLang="ko-KR" sz="700" dirty="0">
              <a:latin typeface="+mn-ea"/>
            </a:endParaRPr>
          </a:p>
          <a:p>
            <a:pPr>
              <a:lnSpc>
                <a:spcPct val="200000"/>
              </a:lnSpc>
            </a:pPr>
            <a:r>
              <a:rPr lang="ko-KR" altLang="en-US" sz="700" dirty="0" err="1">
                <a:latin typeface="+mn-ea"/>
              </a:rPr>
              <a:t>면허정보</a:t>
            </a:r>
            <a:endParaRPr lang="en-US" altLang="ko-KR" sz="700" dirty="0">
              <a:latin typeface="+mn-ea"/>
            </a:endParaRPr>
          </a:p>
          <a:p>
            <a:pPr>
              <a:lnSpc>
                <a:spcPct val="200000"/>
              </a:lnSpc>
            </a:pPr>
            <a:r>
              <a:rPr lang="ko-KR" altLang="en-US" sz="700" dirty="0">
                <a:latin typeface="+mn-ea"/>
              </a:rPr>
              <a:t>행정처분기관구분</a:t>
            </a:r>
            <a:endParaRPr lang="en-US" altLang="ko-KR" sz="700" dirty="0">
              <a:latin typeface="+mn-ea"/>
            </a:endParaRPr>
          </a:p>
          <a:p>
            <a:pPr>
              <a:lnSpc>
                <a:spcPct val="200000"/>
              </a:lnSpc>
            </a:pPr>
            <a:r>
              <a:rPr lang="ko-KR" altLang="en-US" sz="700" dirty="0">
                <a:latin typeface="+mn-ea"/>
              </a:rPr>
              <a:t>등록일자</a:t>
            </a:r>
            <a:endParaRPr lang="en-US" altLang="ko-KR" sz="700" dirty="0">
              <a:latin typeface="+mn-ea"/>
            </a:endParaRPr>
          </a:p>
          <a:p>
            <a:pPr>
              <a:lnSpc>
                <a:spcPct val="200000"/>
              </a:lnSpc>
            </a:pPr>
            <a:r>
              <a:rPr lang="ko-KR" altLang="en-US" sz="700" dirty="0">
                <a:latin typeface="+mn-ea"/>
              </a:rPr>
              <a:t>시공능력평가액</a:t>
            </a:r>
            <a:endParaRPr lang="en-US" altLang="ko-KR" sz="700" dirty="0">
              <a:latin typeface="+mn-ea"/>
            </a:endParaRPr>
          </a:p>
          <a:p>
            <a:pPr>
              <a:lnSpc>
                <a:spcPct val="200000"/>
              </a:lnSpc>
            </a:pPr>
            <a:r>
              <a:rPr lang="ko-KR" altLang="en-US" sz="700" dirty="0">
                <a:latin typeface="+mn-ea"/>
              </a:rPr>
              <a:t>기준년도</a:t>
            </a:r>
            <a:endParaRPr lang="en-US" altLang="ko-KR" sz="700" dirty="0">
              <a:latin typeface="+mn-ea"/>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4679380" y="2963466"/>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10</a:t>
            </a:r>
          </a:p>
          <a:p>
            <a:pPr>
              <a:lnSpc>
                <a:spcPct val="200000"/>
              </a:lnSpc>
            </a:pPr>
            <a:r>
              <a:rPr lang="en-US" altLang="ko-KR" sz="700" dirty="0">
                <a:latin typeface="+mn-ea"/>
              </a:rPr>
              <a:t>0000</a:t>
            </a:r>
          </a:p>
          <a:p>
            <a:pPr>
              <a:lnSpc>
                <a:spcPct val="200000"/>
              </a:lnSpc>
            </a:pPr>
            <a:r>
              <a:rPr lang="ko-KR" altLang="en-US" sz="700" dirty="0" err="1">
                <a:latin typeface="+mn-ea"/>
              </a:rPr>
              <a:t>면허명</a:t>
            </a:r>
            <a:endParaRPr lang="en-US" altLang="ko-KR" sz="700" dirty="0">
              <a:latin typeface="+mn-ea"/>
            </a:endParaRPr>
          </a:p>
          <a:p>
            <a:pPr>
              <a:lnSpc>
                <a:spcPct val="200000"/>
              </a:lnSpc>
            </a:pPr>
            <a:r>
              <a:rPr lang="ko-KR" altLang="en-US" sz="700" dirty="0" err="1">
                <a:latin typeface="+mn-ea"/>
              </a:rPr>
              <a:t>기관명</a:t>
            </a:r>
            <a:endParaRPr lang="en-US" altLang="ko-KR" sz="700" dirty="0">
              <a:latin typeface="+mn-ea"/>
            </a:endParaRPr>
          </a:p>
          <a:p>
            <a:pPr>
              <a:lnSpc>
                <a:spcPct val="200000"/>
              </a:lnSpc>
            </a:pPr>
            <a:r>
              <a:rPr lang="en-US" altLang="ko-KR" sz="700" dirty="0">
                <a:latin typeface="+mn-ea"/>
              </a:rPr>
              <a:t>2025-11-25</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2025</a:t>
            </a:r>
          </a:p>
        </p:txBody>
      </p:sp>
      <p:grpSp>
        <p:nvGrpSpPr>
          <p:cNvPr id="118" name="그룹 117"/>
          <p:cNvGrpSpPr/>
          <p:nvPr/>
        </p:nvGrpSpPr>
        <p:grpSpPr>
          <a:xfrm>
            <a:off x="3833375" y="2963466"/>
            <a:ext cx="2630093" cy="1503180"/>
            <a:chOff x="701175" y="1835481"/>
            <a:chExt cx="2630093" cy="1503180"/>
          </a:xfrm>
        </p:grpSpPr>
        <p:cxnSp>
          <p:nvCxnSpPr>
            <p:cNvPr id="119" name="직선 연결선 11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4" name="직선 연결선 12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841315"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3884993"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4439456"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4980963"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err="1">
                <a:latin typeface="+mn-ea"/>
              </a:rPr>
              <a:t>공종</a:t>
            </a:r>
            <a:r>
              <a:rPr lang="ko-KR" altLang="en-US" sz="700" b="1" dirty="0">
                <a:latin typeface="+mn-ea"/>
              </a:rPr>
              <a:t> 및 면허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682357" y="2201247"/>
            <a:ext cx="546219" cy="107722"/>
          </a:xfrm>
          <a:prstGeom prst="rect">
            <a:avLst/>
          </a:prstGeom>
          <a:noFill/>
        </p:spPr>
        <p:txBody>
          <a:bodyPr wrap="square" lIns="0" tIns="0" rIns="0" bIns="0" rtlCol="0">
            <a:spAutoFit/>
          </a:bodyPr>
          <a:lstStyle/>
          <a:p>
            <a:pPr algn="ctr"/>
            <a:r>
              <a:rPr lang="en-US" altLang="ko-KR" sz="700" dirty="0">
                <a:latin typeface="+mn-ea"/>
              </a:rPr>
              <a:t>4</a:t>
            </a:r>
            <a:r>
              <a:rPr lang="en-US" altLang="ko-KR" sz="700">
                <a:latin typeface="+mn-ea"/>
              </a:rPr>
              <a:t>. </a:t>
            </a:r>
            <a:r>
              <a:rPr lang="ko-KR" altLang="en-US" sz="700" dirty="0">
                <a:latin typeface="+mn-ea"/>
              </a:rPr>
              <a:t>입찰보증금</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4956346"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44911" y="2163124"/>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3" name="직선 연결선 14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0" name="그룹 139"/>
            <p:cNvGrpSpPr/>
            <p:nvPr/>
          </p:nvGrpSpPr>
          <p:grpSpPr>
            <a:xfrm rot="16200000">
              <a:off x="3931564" y="2305364"/>
              <a:ext cx="94010" cy="47005"/>
              <a:chOff x="6812560" y="3297172"/>
              <a:chExt cx="94010" cy="47005"/>
            </a:xfrm>
          </p:grpSpPr>
          <p:cxnSp>
            <p:nvCxnSpPr>
              <p:cNvPr id="141" name="직선 연결선 1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2" name="직선 연결선 1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423444615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보증금납부방법 선택 후 입찰보증금을 입력하면 </a:t>
            </a:r>
            <a:r>
              <a:rPr lang="ko-KR" altLang="en-US" dirty="0" err="1"/>
              <a:t>투찰가능금액이</a:t>
            </a:r>
            <a:r>
              <a:rPr lang="ko-KR" altLang="en-US" dirty="0"/>
              <a:t> 계산 됨</a:t>
            </a:r>
            <a:r>
              <a:rPr lang="en-US" altLang="ko-KR" dirty="0"/>
              <a:t/>
            </a:r>
            <a:br>
              <a:rPr lang="en-US" altLang="ko-KR" dirty="0"/>
            </a:br>
            <a:r>
              <a:rPr lang="en-US" altLang="ko-KR" dirty="0"/>
              <a:t>- </a:t>
            </a:r>
            <a:r>
              <a:rPr lang="ko-KR" altLang="en-US" dirty="0"/>
              <a:t>보증금납부방법을 </a:t>
            </a:r>
            <a:r>
              <a:rPr lang="en-US" altLang="ko-KR" dirty="0"/>
              <a:t>‘</a:t>
            </a:r>
            <a:r>
              <a:rPr lang="ko-KR" altLang="en-US" dirty="0" err="1"/>
              <a:t>보증금면제</a:t>
            </a:r>
            <a:r>
              <a:rPr lang="en-US" altLang="ko-KR" dirty="0"/>
              <a:t>’</a:t>
            </a:r>
            <a:r>
              <a:rPr lang="ko-KR" altLang="en-US" dirty="0"/>
              <a:t>로 선택할 경우 보증금면제사유가 활성화되고 선택 가능</a:t>
            </a:r>
            <a:r>
              <a:rPr lang="en-US" altLang="ko-KR" dirty="0"/>
              <a:t/>
            </a:r>
            <a:br>
              <a:rPr lang="en-US" altLang="ko-KR" dirty="0"/>
            </a:br>
            <a:r>
              <a:rPr lang="en-US" altLang="ko-KR" dirty="0"/>
              <a:t>- </a:t>
            </a:r>
            <a:r>
              <a:rPr lang="ko-KR" altLang="en-US" dirty="0"/>
              <a:t>조회된 </a:t>
            </a:r>
            <a:r>
              <a:rPr lang="ko-KR" altLang="en-US" dirty="0" err="1"/>
              <a:t>증권번호가</a:t>
            </a:r>
            <a:r>
              <a:rPr lang="ko-KR" altLang="en-US" dirty="0"/>
              <a:t> </a:t>
            </a:r>
            <a:r>
              <a:rPr lang="en-US" altLang="ko-KR" dirty="0"/>
              <a:t>1</a:t>
            </a:r>
            <a:r>
              <a:rPr lang="ko-KR" altLang="en-US" dirty="0"/>
              <a:t>개인 경우 </a:t>
            </a:r>
            <a:r>
              <a:rPr lang="ko-KR" altLang="en-US" dirty="0" err="1"/>
              <a:t>증권번호</a:t>
            </a:r>
            <a:r>
              <a:rPr lang="ko-KR" altLang="en-US" dirty="0"/>
              <a:t> 자동 입력</a:t>
            </a:r>
            <a:r>
              <a:rPr lang="en-US" altLang="ko-KR" dirty="0"/>
              <a:t>, 2</a:t>
            </a:r>
            <a:r>
              <a:rPr lang="ko-KR" altLang="en-US" dirty="0"/>
              <a:t>개 이상인 경우 </a:t>
            </a:r>
            <a:r>
              <a:rPr lang="ko-KR" altLang="en-US" dirty="0" err="1"/>
              <a:t>셀렉트박스로</a:t>
            </a:r>
            <a:r>
              <a:rPr lang="ko-KR" altLang="en-US" dirty="0"/>
              <a:t> </a:t>
            </a:r>
            <a:r>
              <a:rPr lang="ko-KR" altLang="en-US" dirty="0" err="1"/>
              <a:t>증권번호</a:t>
            </a:r>
            <a:r>
              <a:rPr lang="ko-KR" altLang="en-US" dirty="0"/>
              <a:t> 선택</a:t>
            </a:r>
            <a:r>
              <a:rPr lang="en-US" altLang="ko-KR" dirty="0"/>
              <a:t>, </a:t>
            </a:r>
            <a:r>
              <a:rPr lang="ko-KR" altLang="en-US" dirty="0"/>
              <a:t>없는 경우 직접 입력</a:t>
            </a:r>
            <a:r>
              <a:rPr lang="en-US" altLang="ko-KR" dirty="0"/>
              <a:t/>
            </a:r>
            <a:br>
              <a:rPr lang="en-US" altLang="ko-KR" dirty="0"/>
            </a:br>
            <a:r>
              <a:rPr lang="en-US" altLang="ko-KR" dirty="0"/>
              <a:t>- </a:t>
            </a:r>
            <a:r>
              <a:rPr lang="ko-KR" altLang="en-US" dirty="0"/>
              <a:t>조회된 </a:t>
            </a:r>
            <a:r>
              <a:rPr lang="ko-KR" altLang="en-US" dirty="0" err="1"/>
              <a:t>증권번호가</a:t>
            </a:r>
            <a:r>
              <a:rPr lang="ko-KR" altLang="en-US" dirty="0"/>
              <a:t> </a:t>
            </a:r>
            <a:r>
              <a:rPr lang="en-US" altLang="ko-KR" dirty="0"/>
              <a:t>1</a:t>
            </a:r>
            <a:r>
              <a:rPr lang="ko-KR" altLang="en-US" dirty="0"/>
              <a:t>개 이상인 경우 </a:t>
            </a:r>
            <a:r>
              <a:rPr lang="ko-KR" altLang="en-US" dirty="0" err="1"/>
              <a:t>개찰일자</a:t>
            </a:r>
            <a:r>
              <a:rPr lang="en-US" altLang="ko-KR" dirty="0"/>
              <a:t>/</a:t>
            </a:r>
            <a:r>
              <a:rPr lang="ko-KR" altLang="en-US" dirty="0" err="1"/>
              <a:t>입찰일자</a:t>
            </a:r>
            <a:r>
              <a:rPr lang="en-US" altLang="ko-KR" dirty="0"/>
              <a:t>, </a:t>
            </a:r>
            <a:r>
              <a:rPr lang="ko-KR" altLang="en-US" dirty="0"/>
              <a:t>보증금액</a:t>
            </a:r>
            <a:r>
              <a:rPr lang="en-US" altLang="ko-KR" dirty="0"/>
              <a:t>, </a:t>
            </a:r>
            <a:r>
              <a:rPr lang="ko-KR" altLang="en-US" dirty="0"/>
              <a:t>계약자</a:t>
            </a:r>
            <a:r>
              <a:rPr lang="en-US" altLang="ko-KR" dirty="0"/>
              <a:t>, </a:t>
            </a:r>
            <a:r>
              <a:rPr lang="ko-KR" altLang="en-US" dirty="0"/>
              <a:t>발행자 보이기</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입찰보증금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a:latin typeface="+mn-ea"/>
              </a:rPr>
              <a:t>입찰보증금 입력</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입찰보증금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MUI-BD-04-M08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464978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612546"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88487" y="2201247"/>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입찰보증금</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956375" y="2201247"/>
            <a:ext cx="655640"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624138" y="2201247"/>
            <a:ext cx="483262"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388487" y="2417854"/>
            <a:ext cx="555764"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65" name="TextBox 164">
            <a:extLst>
              <a:ext uri="{FF2B5EF4-FFF2-40B4-BE49-F238E27FC236}">
                <a16:creationId xmlns:a16="http://schemas.microsoft.com/office/drawing/2014/main" id="{FFC49AEA-2A8F-250C-A86A-A7751D9706C3}"/>
              </a:ext>
            </a:extLst>
          </p:cNvPr>
          <p:cNvSpPr txBox="1"/>
          <p:nvPr/>
        </p:nvSpPr>
        <p:spPr>
          <a:xfrm>
            <a:off x="781109" y="4609303"/>
            <a:ext cx="2451575" cy="181140"/>
          </a:xfrm>
          <a:prstGeom prst="rect">
            <a:avLst/>
          </a:prstGeom>
          <a:noFill/>
        </p:spPr>
        <p:txBody>
          <a:bodyPr wrap="square" lIns="0" tIns="0" rIns="0" bIns="0" rtlCol="0">
            <a:spAutoFit/>
          </a:bodyPr>
          <a:lstStyle/>
          <a:p>
            <a:pPr>
              <a:lnSpc>
                <a:spcPct val="200000"/>
              </a:lnSpc>
            </a:pPr>
            <a:r>
              <a:rPr lang="ko-KR" altLang="en-US" sz="700" dirty="0">
                <a:latin typeface="+mn-ea"/>
              </a:rPr>
              <a:t>입찰보증금</a:t>
            </a:r>
          </a:p>
        </p:txBody>
      </p:sp>
      <p:sp>
        <p:nvSpPr>
          <p:cNvPr id="169" name="직사각형 168"/>
          <p:cNvSpPr/>
          <p:nvPr/>
        </p:nvSpPr>
        <p:spPr>
          <a:xfrm>
            <a:off x="722232" y="4916789"/>
            <a:ext cx="792000" cy="13113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4916788"/>
            <a:ext cx="725552" cy="1292662"/>
          </a:xfrm>
          <a:prstGeom prst="rect">
            <a:avLst/>
          </a:prstGeom>
          <a:noFill/>
        </p:spPr>
        <p:txBody>
          <a:bodyPr wrap="square" lIns="0" tIns="0" rIns="0" bIns="0" rtlCol="0">
            <a:spAutoFit/>
          </a:bodyPr>
          <a:lstStyle/>
          <a:p>
            <a:pPr>
              <a:lnSpc>
                <a:spcPct val="200000"/>
              </a:lnSpc>
            </a:pPr>
            <a:r>
              <a:rPr lang="ko-KR" altLang="en-US" sz="700" dirty="0">
                <a:latin typeface="+mn-ea"/>
              </a:rPr>
              <a:t>보증금 납부방법</a:t>
            </a:r>
            <a:endParaRPr lang="en-US" altLang="ko-KR" sz="700" dirty="0">
              <a:latin typeface="+mn-ea"/>
            </a:endParaRPr>
          </a:p>
          <a:p>
            <a:pPr>
              <a:lnSpc>
                <a:spcPct val="200000"/>
              </a:lnSpc>
            </a:pPr>
            <a:r>
              <a:rPr lang="ko-KR" altLang="en-US" sz="700" dirty="0" err="1">
                <a:latin typeface="+mn-ea"/>
              </a:rPr>
              <a:t>증권번호</a:t>
            </a:r>
            <a:endParaRPr lang="en-US" altLang="ko-KR" sz="700" dirty="0">
              <a:latin typeface="+mn-ea"/>
            </a:endParaRPr>
          </a:p>
          <a:p>
            <a:pPr>
              <a:lnSpc>
                <a:spcPct val="200000"/>
              </a:lnSpc>
            </a:pPr>
            <a:r>
              <a:rPr lang="ko-KR" altLang="en-US" sz="700" dirty="0" err="1">
                <a:latin typeface="+mn-ea"/>
              </a:rPr>
              <a:t>개찰일자</a:t>
            </a:r>
            <a:endParaRPr lang="en-US" altLang="ko-KR" sz="700" dirty="0">
              <a:latin typeface="+mn-ea"/>
            </a:endParaRPr>
          </a:p>
          <a:p>
            <a:pPr>
              <a:lnSpc>
                <a:spcPct val="200000"/>
              </a:lnSpc>
            </a:pPr>
            <a:r>
              <a:rPr lang="ko-KR" altLang="en-US" sz="700" dirty="0">
                <a:latin typeface="+mn-ea"/>
              </a:rPr>
              <a:t>보증금액</a:t>
            </a:r>
            <a:endParaRPr lang="en-US" altLang="ko-KR" sz="700" dirty="0">
              <a:latin typeface="+mn-ea"/>
            </a:endParaRPr>
          </a:p>
          <a:p>
            <a:pPr>
              <a:lnSpc>
                <a:spcPct val="200000"/>
              </a:lnSpc>
            </a:pPr>
            <a:r>
              <a:rPr lang="ko-KR" altLang="en-US" sz="700" dirty="0">
                <a:latin typeface="+mn-ea"/>
              </a:rPr>
              <a:t>계약자</a:t>
            </a:r>
            <a:endParaRPr lang="en-US" altLang="ko-KR" sz="700" dirty="0">
              <a:latin typeface="+mn-ea"/>
            </a:endParaRPr>
          </a:p>
          <a:p>
            <a:pPr>
              <a:lnSpc>
                <a:spcPct val="200000"/>
              </a:lnSpc>
            </a:pPr>
            <a:r>
              <a:rPr lang="ko-KR" altLang="en-US" sz="700" dirty="0">
                <a:latin typeface="+mn-ea"/>
              </a:rPr>
              <a:t>발행자</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4916788"/>
            <a:ext cx="1784088" cy="1292662"/>
          </a:xfrm>
          <a:prstGeom prst="rect">
            <a:avLst/>
          </a:prstGeom>
          <a:noFill/>
        </p:spPr>
        <p:txBody>
          <a:bodyPr wrap="square" lIns="0" tIns="0" rIns="0" bIns="0" rtlCol="0">
            <a:spAutoFit/>
          </a:bodyPr>
          <a:lstStyle/>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2025-11-25 13:00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ko-KR" altLang="en-US" sz="700" dirty="0" err="1">
                <a:latin typeface="+mn-ea"/>
              </a:rPr>
              <a:t>기관명</a:t>
            </a:r>
            <a:endParaRPr lang="en-US" altLang="ko-KR" sz="700" dirty="0">
              <a:latin typeface="+mn-ea"/>
            </a:endParaRPr>
          </a:p>
        </p:txBody>
      </p:sp>
      <p:grpSp>
        <p:nvGrpSpPr>
          <p:cNvPr id="172" name="그룹 171"/>
          <p:cNvGrpSpPr/>
          <p:nvPr/>
        </p:nvGrpSpPr>
        <p:grpSpPr>
          <a:xfrm>
            <a:off x="720139" y="4916788"/>
            <a:ext cx="2630093" cy="1288440"/>
            <a:chOff x="701175" y="1835481"/>
            <a:chExt cx="2630093" cy="128844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9" name="모서리가 둥근 직사각형 108"/>
          <p:cNvSpPr/>
          <p:nvPr/>
        </p:nvSpPr>
        <p:spPr>
          <a:xfrm>
            <a:off x="705041" y="2534410"/>
            <a:ext cx="2652743" cy="2026741"/>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3811" y="2632694"/>
            <a:ext cx="2475203" cy="1938992"/>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r>
              <a:rPr lang="ko-KR" altLang="en-US" sz="700" dirty="0">
                <a:latin typeface="맑은 고딕" panose="020B0503020000020004" pitchFamily="50" charset="-127"/>
              </a:rPr>
              <a:t>보증금면제사유는 발주기관으로 문의하시기 바랍니다。</a:t>
            </a:r>
            <a:endParaRPr lang="en-US" altLang="ko-KR" sz="700" dirty="0">
              <a:latin typeface="맑은 고딕" panose="020B0503020000020004" pitchFamily="50" charset="-127"/>
            </a:endParaRPr>
          </a:p>
          <a:p>
            <a:r>
              <a:rPr lang="ko-KR" altLang="en-US" sz="700" dirty="0">
                <a:latin typeface="맑은 고딕" panose="020B0503020000020004" pitchFamily="50" charset="-127"/>
              </a:rPr>
              <a:t>전자보증서를 신청하신 경우</a:t>
            </a:r>
            <a:r>
              <a:rPr lang="en-US" altLang="ko-KR" sz="700" dirty="0">
                <a:latin typeface="맑은 고딕" panose="020B0503020000020004" pitchFamily="50" charset="-127"/>
              </a:rPr>
              <a:t>, </a:t>
            </a:r>
            <a:r>
              <a:rPr lang="ko-KR" altLang="en-US" sz="700" dirty="0">
                <a:latin typeface="맑은 고딕" panose="020B0503020000020004" pitchFamily="50" charset="-127"/>
              </a:rPr>
              <a:t>납부방법을 전자보증서로 선택하면 전자보증서가 자동으로 입력됩니다</a:t>
            </a:r>
            <a:r>
              <a:rPr lang="en-US" altLang="ko-KR" sz="700" dirty="0">
                <a:latin typeface="맑은 고딕" panose="020B0503020000020004" pitchFamily="50" charset="-127"/>
              </a:rPr>
              <a:t>.</a:t>
            </a:r>
          </a:p>
          <a:p>
            <a:r>
              <a:rPr lang="en-US" altLang="ko-KR" sz="700" dirty="0">
                <a:latin typeface="맑은 고딕" panose="020B0503020000020004" pitchFamily="50" charset="-127"/>
              </a:rPr>
              <a:t>(</a:t>
            </a:r>
            <a:r>
              <a:rPr lang="ko-KR" altLang="en-US" sz="700" dirty="0">
                <a:latin typeface="맑은 고딕" panose="020B0503020000020004" pitchFamily="50" charset="-127"/>
              </a:rPr>
              <a:t>여러 개의 보증서를 신청하신 경우 그 중 한 개를 선택하셔야 합니다</a:t>
            </a:r>
            <a:r>
              <a:rPr lang="en-US" altLang="ko-KR" sz="700" dirty="0">
                <a:latin typeface="맑은 고딕" panose="020B0503020000020004" pitchFamily="50" charset="-127"/>
              </a:rPr>
              <a:t>.)</a:t>
            </a:r>
          </a:p>
          <a:p>
            <a:r>
              <a:rPr lang="ko-KR" altLang="en-US" sz="700" dirty="0" err="1">
                <a:latin typeface="맑은 고딕" panose="020B0503020000020004" pitchFamily="50" charset="-127"/>
              </a:rPr>
              <a:t>전자보증서</a:t>
            </a:r>
            <a:r>
              <a:rPr lang="ko-KR" altLang="en-US" sz="700" dirty="0">
                <a:latin typeface="맑은 고딕" panose="020B0503020000020004" pitchFamily="50" charset="-127"/>
              </a:rPr>
              <a:t> 발급 이후</a:t>
            </a:r>
            <a:r>
              <a:rPr lang="en-US" altLang="ko-KR" sz="700" dirty="0">
                <a:latin typeface="맑은 고딕" panose="020B0503020000020004" pitchFamily="50" charset="-127"/>
              </a:rPr>
              <a:t>, </a:t>
            </a:r>
            <a:r>
              <a:rPr lang="ko-KR" altLang="en-US" sz="700" dirty="0">
                <a:latin typeface="맑은 고딕" panose="020B0503020000020004" pitchFamily="50" charset="-127"/>
              </a:rPr>
              <a:t>해당 </a:t>
            </a:r>
            <a:r>
              <a:rPr lang="ko-KR" altLang="en-US" sz="700" dirty="0" err="1">
                <a:latin typeface="맑은 고딕" panose="020B0503020000020004" pitchFamily="50" charset="-127"/>
              </a:rPr>
              <a:t>전자보증서</a:t>
            </a:r>
            <a:r>
              <a:rPr lang="ko-KR" altLang="en-US" sz="700" dirty="0">
                <a:latin typeface="맑은 고딕" panose="020B0503020000020004" pitchFamily="50" charset="-127"/>
              </a:rPr>
              <a:t> 정보에 대한 수신은 약 </a:t>
            </a:r>
            <a:r>
              <a:rPr lang="en-US" altLang="ko-KR" sz="700" dirty="0">
                <a:latin typeface="맑은 고딕" panose="020B0503020000020004" pitchFamily="50" charset="-127"/>
              </a:rPr>
              <a:t>15</a:t>
            </a:r>
            <a:r>
              <a:rPr lang="ko-KR" altLang="en-US" sz="700" dirty="0">
                <a:latin typeface="맑은 고딕" panose="020B0503020000020004" pitchFamily="50" charset="-127"/>
              </a:rPr>
              <a:t>분 정도 소요됩니다</a:t>
            </a:r>
            <a:r>
              <a:rPr lang="en-US" altLang="ko-KR" sz="700" dirty="0">
                <a:latin typeface="맑은 고딕" panose="020B0503020000020004" pitchFamily="50" charset="-127"/>
              </a:rPr>
              <a:t>.</a:t>
            </a:r>
          </a:p>
          <a:p>
            <a:r>
              <a:rPr lang="ko-KR" altLang="en-US" sz="700" dirty="0">
                <a:latin typeface="맑은 고딕" panose="020B0503020000020004" pitchFamily="50" charset="-127"/>
              </a:rPr>
              <a:t>전자보증서가 아닌 경우에는 보증금 납부방법을 보증보험으로 선택하시고 </a:t>
            </a:r>
            <a:r>
              <a:rPr lang="ko-KR" altLang="en-US" sz="700" dirty="0" err="1">
                <a:latin typeface="맑은 고딕" panose="020B0503020000020004" pitchFamily="50" charset="-127"/>
              </a:rPr>
              <a:t>증권번호와</a:t>
            </a:r>
            <a:r>
              <a:rPr lang="ko-KR" altLang="en-US" sz="700" dirty="0">
                <a:latin typeface="맑은 고딕" panose="020B0503020000020004" pitchFamily="50" charset="-127"/>
              </a:rPr>
              <a:t> 입찰보증급을 직접 입력하시면 됩니다</a:t>
            </a:r>
            <a:r>
              <a:rPr lang="en-US" altLang="ko-KR" sz="700" dirty="0">
                <a:latin typeface="맑은 고딕" panose="020B0503020000020004" pitchFamily="50" charset="-127"/>
              </a:rPr>
              <a:t>.</a:t>
            </a:r>
            <a:endParaRPr lang="ko-KR" altLang="en-US" sz="700" dirty="0">
              <a:latin typeface="맑은 고딕" panose="020B0503020000020004" pitchFamily="50" charset="-127"/>
            </a:endParaRPr>
          </a:p>
          <a:p>
            <a:pPr marL="92075" indent="-92075">
              <a:buFont typeface="Arial" panose="020B0604020202020204" pitchFamily="34" charset="0"/>
              <a:buChar char="•"/>
            </a:pPr>
            <a:endParaRPr lang="en-US" altLang="ko-KR" sz="700" dirty="0">
              <a:latin typeface="+mn-ea"/>
            </a:endParaRPr>
          </a:p>
          <a:p>
            <a:r>
              <a:rPr lang="ko-KR" altLang="en-US" sz="700" dirty="0" err="1">
                <a:latin typeface="+mn-ea"/>
              </a:rPr>
              <a:t>분담이행</a:t>
            </a:r>
            <a:r>
              <a:rPr lang="ko-KR" altLang="en-US" sz="700" dirty="0">
                <a:latin typeface="+mn-ea"/>
              </a:rPr>
              <a:t> 방식 입찰보증금 </a:t>
            </a:r>
            <a:r>
              <a:rPr lang="ko-KR" altLang="en-US" sz="700" dirty="0" err="1">
                <a:latin typeface="+mn-ea"/>
              </a:rPr>
              <a:t>입력방법</a:t>
            </a:r>
            <a:endParaRPr lang="en-US" altLang="ko-KR" sz="700" dirty="0">
              <a:latin typeface="+mn-ea"/>
            </a:endParaRPr>
          </a:p>
          <a:p>
            <a:r>
              <a:rPr lang="ko-KR" altLang="en-US" sz="700" dirty="0" err="1">
                <a:latin typeface="+mn-ea"/>
              </a:rPr>
              <a:t>업체명</a:t>
            </a:r>
            <a:r>
              <a:rPr lang="en-US" altLang="ko-KR" sz="700" dirty="0">
                <a:latin typeface="+mn-ea"/>
              </a:rPr>
              <a:t>, </a:t>
            </a:r>
            <a:r>
              <a:rPr lang="ko-KR" altLang="en-US" sz="700" dirty="0" err="1">
                <a:latin typeface="+mn-ea"/>
              </a:rPr>
              <a:t>분담비율</a:t>
            </a:r>
            <a:r>
              <a:rPr lang="en-US" altLang="ko-KR" sz="700" dirty="0">
                <a:latin typeface="+mn-ea"/>
              </a:rPr>
              <a:t>, </a:t>
            </a:r>
            <a:r>
              <a:rPr lang="ko-KR" altLang="en-US" sz="700" dirty="0">
                <a:latin typeface="+mn-ea"/>
              </a:rPr>
              <a:t>입찰보증금이 각각 아래와 같은 경우</a:t>
            </a:r>
            <a:endParaRPr lang="en-US" altLang="ko-KR" sz="700" dirty="0">
              <a:latin typeface="+mn-ea"/>
            </a:endParaRPr>
          </a:p>
          <a:p>
            <a:r>
              <a:rPr lang="en-US" altLang="ko-KR" sz="700" dirty="0">
                <a:solidFill>
                  <a:srgbClr val="000000"/>
                </a:solidFill>
                <a:latin typeface="+mn-ea"/>
              </a:rPr>
              <a:t>A</a:t>
            </a:r>
            <a:r>
              <a:rPr lang="ko-KR" altLang="en-US" sz="700" dirty="0">
                <a:solidFill>
                  <a:srgbClr val="000000"/>
                </a:solidFill>
                <a:latin typeface="+mn-ea"/>
              </a:rPr>
              <a:t>업체 </a:t>
            </a:r>
            <a:r>
              <a:rPr lang="en-US" altLang="ko-KR" sz="700" dirty="0">
                <a:solidFill>
                  <a:srgbClr val="000000"/>
                </a:solidFill>
                <a:latin typeface="+mn-ea"/>
              </a:rPr>
              <a:t>20%(1,000</a:t>
            </a:r>
            <a:r>
              <a:rPr lang="ko-KR" altLang="en-US" sz="700" dirty="0">
                <a:solidFill>
                  <a:srgbClr val="000000"/>
                </a:solidFill>
                <a:latin typeface="+mn-ea"/>
              </a:rPr>
              <a:t>원</a:t>
            </a:r>
            <a:r>
              <a:rPr lang="en-US" altLang="ko-KR" sz="700" dirty="0">
                <a:solidFill>
                  <a:srgbClr val="000000"/>
                </a:solidFill>
                <a:latin typeface="+mn-ea"/>
              </a:rPr>
              <a:t>), B</a:t>
            </a:r>
            <a:r>
              <a:rPr lang="ko-KR" altLang="en-US" sz="700" dirty="0">
                <a:solidFill>
                  <a:srgbClr val="000000"/>
                </a:solidFill>
                <a:latin typeface="+mn-ea"/>
              </a:rPr>
              <a:t>업체 </a:t>
            </a:r>
            <a:r>
              <a:rPr lang="en-US" altLang="ko-KR" sz="700" dirty="0">
                <a:solidFill>
                  <a:srgbClr val="000000"/>
                </a:solidFill>
                <a:latin typeface="+mn-ea"/>
              </a:rPr>
              <a:t>30%(1,500</a:t>
            </a:r>
            <a:r>
              <a:rPr lang="ko-KR" altLang="en-US" sz="700" dirty="0">
                <a:solidFill>
                  <a:srgbClr val="000000"/>
                </a:solidFill>
                <a:latin typeface="+mn-ea"/>
              </a:rPr>
              <a:t>원</a:t>
            </a:r>
            <a:r>
              <a:rPr lang="en-US" altLang="ko-KR" sz="700" dirty="0">
                <a:solidFill>
                  <a:srgbClr val="000000"/>
                </a:solidFill>
                <a:latin typeface="+mn-ea"/>
              </a:rPr>
              <a:t>), C</a:t>
            </a:r>
            <a:r>
              <a:rPr lang="ko-KR" altLang="en-US" sz="700" dirty="0">
                <a:solidFill>
                  <a:srgbClr val="000000"/>
                </a:solidFill>
                <a:latin typeface="+mn-ea"/>
              </a:rPr>
              <a:t>업체 </a:t>
            </a:r>
            <a:r>
              <a:rPr lang="en-US" altLang="ko-KR" sz="700" dirty="0">
                <a:solidFill>
                  <a:srgbClr val="000000"/>
                </a:solidFill>
                <a:latin typeface="+mn-ea"/>
              </a:rPr>
              <a:t>50%(2,500</a:t>
            </a:r>
            <a:r>
              <a:rPr lang="ko-KR" altLang="en-US" sz="700" dirty="0">
                <a:solidFill>
                  <a:srgbClr val="000000"/>
                </a:solidFill>
                <a:latin typeface="+mn-ea"/>
              </a:rPr>
              <a:t>원</a:t>
            </a:r>
            <a:r>
              <a:rPr lang="en-US" altLang="ko-KR" sz="700" dirty="0">
                <a:solidFill>
                  <a:srgbClr val="000000"/>
                </a:solidFill>
                <a:latin typeface="+mn-ea"/>
              </a:rPr>
              <a:t>)</a:t>
            </a:r>
            <a:r>
              <a:rPr lang="ko-KR" altLang="en-US" sz="700" dirty="0">
                <a:solidFill>
                  <a:srgbClr val="000000"/>
                </a:solidFill>
                <a:latin typeface="+mn-ea"/>
              </a:rPr>
              <a:t>의 입찰보증금을 등록하면</a:t>
            </a:r>
            <a:r>
              <a:rPr lang="en-US" altLang="ko-KR" sz="700" dirty="0">
                <a:solidFill>
                  <a:srgbClr val="000000"/>
                </a:solidFill>
                <a:latin typeface="+mn-ea"/>
              </a:rPr>
              <a:t> </a:t>
            </a:r>
            <a:r>
              <a:rPr lang="ko-KR" altLang="en-US" sz="700" dirty="0">
                <a:solidFill>
                  <a:srgbClr val="000000"/>
                </a:solidFill>
                <a:latin typeface="+mn-ea"/>
              </a:rPr>
              <a:t>합계인 </a:t>
            </a:r>
            <a:r>
              <a:rPr lang="en-US" altLang="ko-KR" sz="700" dirty="0">
                <a:solidFill>
                  <a:srgbClr val="000000"/>
                </a:solidFill>
                <a:latin typeface="+mn-ea"/>
              </a:rPr>
              <a:t>5,000</a:t>
            </a:r>
            <a:r>
              <a:rPr lang="ko-KR" altLang="en-US" sz="700" dirty="0">
                <a:solidFill>
                  <a:srgbClr val="000000"/>
                </a:solidFill>
                <a:latin typeface="+mn-ea"/>
              </a:rPr>
              <a:t>원의 </a:t>
            </a:r>
            <a:r>
              <a:rPr lang="en-US" altLang="ko-KR" sz="700" dirty="0">
                <a:solidFill>
                  <a:srgbClr val="000000"/>
                </a:solidFill>
                <a:latin typeface="+mn-ea"/>
              </a:rPr>
              <a:t>20</a:t>
            </a:r>
            <a:r>
              <a:rPr lang="ko-KR" altLang="en-US" sz="700" dirty="0">
                <a:solidFill>
                  <a:srgbClr val="000000"/>
                </a:solidFill>
                <a:latin typeface="+mn-ea"/>
              </a:rPr>
              <a:t>배 </a:t>
            </a:r>
            <a:r>
              <a:rPr lang="en-US" altLang="ko-KR" sz="700" dirty="0">
                <a:solidFill>
                  <a:srgbClr val="000000"/>
                </a:solidFill>
                <a:latin typeface="+mn-ea"/>
              </a:rPr>
              <a:t>100,000</a:t>
            </a:r>
            <a:r>
              <a:rPr lang="ko-KR" altLang="en-US" sz="700" dirty="0">
                <a:solidFill>
                  <a:srgbClr val="000000"/>
                </a:solidFill>
                <a:latin typeface="+mn-ea"/>
              </a:rPr>
              <a:t>원까지 </a:t>
            </a:r>
            <a:r>
              <a:rPr lang="ko-KR" altLang="en-US" sz="700" dirty="0" err="1">
                <a:solidFill>
                  <a:srgbClr val="000000"/>
                </a:solidFill>
                <a:latin typeface="+mn-ea"/>
              </a:rPr>
              <a:t>투찰</a:t>
            </a:r>
            <a:r>
              <a:rPr lang="ko-KR" altLang="en-US" sz="700" dirty="0">
                <a:solidFill>
                  <a:srgbClr val="000000"/>
                </a:solidFill>
                <a:latin typeface="+mn-ea"/>
              </a:rPr>
              <a:t> 가능 합니다</a:t>
            </a:r>
            <a:r>
              <a:rPr lang="en-US" altLang="ko-KR" sz="700" dirty="0">
                <a:solidFill>
                  <a:srgbClr val="000000"/>
                </a:solidFill>
                <a:latin typeface="+mn-ea"/>
              </a:rPr>
              <a:t>.</a:t>
            </a:r>
            <a:endParaRPr lang="en-US" altLang="ko-KR" sz="700" dirty="0">
              <a:latin typeface="+mn-ea"/>
            </a:endParaRPr>
          </a:p>
          <a:p>
            <a:pPr marL="92075" indent="-92075">
              <a:buFont typeface="Arial" panose="020B0604020202020204" pitchFamily="34" charset="0"/>
              <a:buChar char="•"/>
            </a:pPr>
            <a:endParaRPr lang="en-US" altLang="ko-KR" sz="700" dirty="0">
              <a:latin typeface="+mn-ea"/>
            </a:endParaRPr>
          </a:p>
        </p:txBody>
      </p:sp>
      <p:sp>
        <p:nvSpPr>
          <p:cNvPr id="111" name="타원 110"/>
          <p:cNvSpPr/>
          <p:nvPr/>
        </p:nvSpPr>
        <p:spPr>
          <a:xfrm>
            <a:off x="789853" y="262304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2" name="그룹 111"/>
          <p:cNvGrpSpPr/>
          <p:nvPr/>
        </p:nvGrpSpPr>
        <p:grpSpPr>
          <a:xfrm flipV="1">
            <a:off x="3138674" y="2671541"/>
            <a:ext cx="94010" cy="47005"/>
            <a:chOff x="6812560" y="3297172"/>
            <a:chExt cx="94010" cy="47005"/>
          </a:xfrm>
        </p:grpSpPr>
        <p:cxnSp>
          <p:nvCxnSpPr>
            <p:cNvPr id="113" name="직선 연결선 1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5" name="직사각형 114"/>
          <p:cNvSpPr/>
          <p:nvPr/>
        </p:nvSpPr>
        <p:spPr>
          <a:xfrm>
            <a:off x="3835468" y="2484625"/>
            <a:ext cx="792000" cy="8761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TextBox 115">
            <a:extLst>
              <a:ext uri="{FF2B5EF4-FFF2-40B4-BE49-F238E27FC236}">
                <a16:creationId xmlns:a16="http://schemas.microsoft.com/office/drawing/2014/main" id="{FFC49AEA-2A8F-250C-A86A-A7751D9706C3}"/>
              </a:ext>
            </a:extLst>
          </p:cNvPr>
          <p:cNvSpPr txBox="1"/>
          <p:nvPr/>
        </p:nvSpPr>
        <p:spPr>
          <a:xfrm>
            <a:off x="3922531" y="2484624"/>
            <a:ext cx="725552" cy="861774"/>
          </a:xfrm>
          <a:prstGeom prst="rect">
            <a:avLst/>
          </a:prstGeom>
          <a:noFill/>
        </p:spPr>
        <p:txBody>
          <a:bodyPr wrap="square" lIns="0" tIns="0" rIns="0" bIns="0" rtlCol="0">
            <a:spAutoFit/>
          </a:bodyPr>
          <a:lstStyle/>
          <a:p>
            <a:pPr>
              <a:lnSpc>
                <a:spcPct val="200000"/>
              </a:lnSpc>
            </a:pPr>
            <a:r>
              <a:rPr lang="ko-KR" altLang="en-US" sz="700" dirty="0">
                <a:latin typeface="+mn-ea"/>
              </a:rPr>
              <a:t>보증금면제사유</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입찰보증금</a:t>
            </a:r>
            <a:endParaRPr lang="en-US" altLang="ko-KR" sz="700" dirty="0">
              <a:latin typeface="+mn-ea"/>
            </a:endParaRPr>
          </a:p>
          <a:p>
            <a:pPr>
              <a:lnSpc>
                <a:spcPct val="200000"/>
              </a:lnSpc>
            </a:pPr>
            <a:r>
              <a:rPr lang="ko-KR" altLang="en-US" sz="700" dirty="0" err="1">
                <a:latin typeface="+mn-ea"/>
              </a:rPr>
              <a:t>투찰가능금액</a:t>
            </a:r>
            <a:endParaRPr lang="en-US" altLang="ko-KR" sz="700" dirty="0">
              <a:latin typeface="+mn-ea"/>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4679380" y="2484624"/>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grpSp>
        <p:nvGrpSpPr>
          <p:cNvPr id="118" name="그룹 117"/>
          <p:cNvGrpSpPr/>
          <p:nvPr/>
        </p:nvGrpSpPr>
        <p:grpSpPr>
          <a:xfrm>
            <a:off x="3833375" y="2484624"/>
            <a:ext cx="2630093" cy="858960"/>
            <a:chOff x="701175" y="1835481"/>
            <a:chExt cx="2630093" cy="858960"/>
          </a:xfrm>
        </p:grpSpPr>
        <p:cxnSp>
          <p:nvCxnSpPr>
            <p:cNvPr id="119" name="직선 연결선 11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97" name="사각형: 둥근 모서리 15">
            <a:extLst>
              <a:ext uri="{FF2B5EF4-FFF2-40B4-BE49-F238E27FC236}">
                <a16:creationId xmlns:a16="http://schemas.microsoft.com/office/drawing/2014/main" id="{E2B61CFB-AD16-68D0-8752-50D9C5E01971}"/>
              </a:ext>
            </a:extLst>
          </p:cNvPr>
          <p:cNvSpPr/>
          <p:nvPr/>
        </p:nvSpPr>
        <p:spPr>
          <a:xfrm>
            <a:off x="1561065" y="4947873"/>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선택해주세요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grpSp>
        <p:nvGrpSpPr>
          <p:cNvPr id="98" name="그룹 97"/>
          <p:cNvGrpSpPr/>
          <p:nvPr/>
        </p:nvGrpSpPr>
        <p:grpSpPr>
          <a:xfrm>
            <a:off x="3138674" y="5005371"/>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1" name="사각형: 둥근 모서리 15">
            <a:extLst>
              <a:ext uri="{FF2B5EF4-FFF2-40B4-BE49-F238E27FC236}">
                <a16:creationId xmlns:a16="http://schemas.microsoft.com/office/drawing/2014/main" id="{E2B61CFB-AD16-68D0-8752-50D9C5E01971}"/>
              </a:ext>
            </a:extLst>
          </p:cNvPr>
          <p:cNvSpPr/>
          <p:nvPr/>
        </p:nvSpPr>
        <p:spPr>
          <a:xfrm>
            <a:off x="1561065" y="5160009"/>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선택해주세요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grpSp>
        <p:nvGrpSpPr>
          <p:cNvPr id="102" name="그룹 101"/>
          <p:cNvGrpSpPr/>
          <p:nvPr/>
        </p:nvGrpSpPr>
        <p:grpSpPr>
          <a:xfrm>
            <a:off x="3138674" y="5217507"/>
            <a:ext cx="94010" cy="47005"/>
            <a:chOff x="6812560" y="3297172"/>
            <a:chExt cx="94010" cy="47005"/>
          </a:xfrm>
        </p:grpSpPr>
        <p:cxnSp>
          <p:nvCxnSpPr>
            <p:cNvPr id="103" name="직선 연결선 10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4" name="직선 연결선 10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8" name="사각형: 둥근 모서리 15">
            <a:extLst>
              <a:ext uri="{FF2B5EF4-FFF2-40B4-BE49-F238E27FC236}">
                <a16:creationId xmlns:a16="http://schemas.microsoft.com/office/drawing/2014/main" id="{E2B61CFB-AD16-68D0-8752-50D9C5E01971}"/>
              </a:ext>
            </a:extLst>
          </p:cNvPr>
          <p:cNvSpPr/>
          <p:nvPr/>
        </p:nvSpPr>
        <p:spPr>
          <a:xfrm>
            <a:off x="4681400" y="2520291"/>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선택해주세요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grpSp>
        <p:nvGrpSpPr>
          <p:cNvPr id="129" name="그룹 128"/>
          <p:cNvGrpSpPr/>
          <p:nvPr/>
        </p:nvGrpSpPr>
        <p:grpSpPr>
          <a:xfrm>
            <a:off x="6259009" y="2577789"/>
            <a:ext cx="94010" cy="47005"/>
            <a:chOff x="6812560" y="3297172"/>
            <a:chExt cx="94010" cy="47005"/>
          </a:xfrm>
        </p:grpSpPr>
        <p:cxnSp>
          <p:nvCxnSpPr>
            <p:cNvPr id="130" name="직선 연결선 12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1" name="직선 연결선 13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2" name="사각형: 둥근 모서리 15">
            <a:extLst>
              <a:ext uri="{FF2B5EF4-FFF2-40B4-BE49-F238E27FC236}">
                <a16:creationId xmlns:a16="http://schemas.microsoft.com/office/drawing/2014/main" id="{E2B61CFB-AD16-68D0-8752-50D9C5E01971}"/>
              </a:ext>
            </a:extLst>
          </p:cNvPr>
          <p:cNvSpPr/>
          <p:nvPr/>
        </p:nvSpPr>
        <p:spPr>
          <a:xfrm>
            <a:off x="4681400" y="2724258"/>
            <a:ext cx="1780918"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err="1">
                <a:solidFill>
                  <a:srgbClr val="0070C0"/>
                </a:solidFill>
                <a:latin typeface="맑은 고딕"/>
                <a:ea typeface="맑은 고딕" panose="020B0503020000020004" pitchFamily="50" charset="-127"/>
              </a:rPr>
              <a:t>면제여부</a:t>
            </a:r>
            <a:r>
              <a:rPr kumimoji="1" lang="ko-KR" altLang="en-US" sz="700" kern="0" dirty="0">
                <a:solidFill>
                  <a:srgbClr val="0070C0"/>
                </a:solidFill>
                <a:latin typeface="맑은 고딕"/>
                <a:ea typeface="맑은 고딕" panose="020B0503020000020004" pitchFamily="50" charset="-127"/>
              </a:rPr>
              <a:t> 상세설명 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4679380" y="2898646"/>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sp>
        <p:nvSpPr>
          <p:cNvPr id="134" name="사각형: 둥근 모서리 15">
            <a:extLst>
              <a:ext uri="{FF2B5EF4-FFF2-40B4-BE49-F238E27FC236}">
                <a16:creationId xmlns:a16="http://schemas.microsoft.com/office/drawing/2014/main" id="{E2B61CFB-AD16-68D0-8752-50D9C5E01971}"/>
              </a:ext>
            </a:extLst>
          </p:cNvPr>
          <p:cNvSpPr/>
          <p:nvPr/>
        </p:nvSpPr>
        <p:spPr>
          <a:xfrm>
            <a:off x="4681400" y="2934313"/>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38" name="사각형: 둥근 모서리 15">
            <a:extLst>
              <a:ext uri="{FF2B5EF4-FFF2-40B4-BE49-F238E27FC236}">
                <a16:creationId xmlns:a16="http://schemas.microsoft.com/office/drawing/2014/main" id="{E2B61CFB-AD16-68D0-8752-50D9C5E01971}"/>
              </a:ext>
            </a:extLst>
          </p:cNvPr>
          <p:cNvSpPr/>
          <p:nvPr/>
        </p:nvSpPr>
        <p:spPr>
          <a:xfrm>
            <a:off x="4681400" y="3149052"/>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lvl="0" fontAlgn="base" latinLnBrk="0">
              <a:spcBef>
                <a:spcPct val="0"/>
              </a:spcBef>
              <a:spcAft>
                <a:spcPct val="0"/>
              </a:spcAft>
              <a:defRPr/>
            </a:pPr>
            <a:r>
              <a:rPr kumimoji="1" lang="ko-KR" altLang="en-US" sz="700" kern="0" dirty="0">
                <a:solidFill>
                  <a:schemeClr val="bg1">
                    <a:lumMod val="75000"/>
                  </a:schemeClr>
                </a:solidFill>
              </a:rPr>
              <a:t>입력해주세요</a:t>
            </a:r>
            <a:r>
              <a:rPr kumimoji="1" lang="en-US" altLang="ko-KR" sz="700" kern="0" dirty="0">
                <a:solidFill>
                  <a:schemeClr val="bg1">
                    <a:lumMod val="75000"/>
                  </a:schemeClr>
                </a:solidFill>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6106160" y="2892701"/>
            <a:ext cx="298674" cy="430887"/>
          </a:xfrm>
          <a:prstGeom prst="rect">
            <a:avLst/>
          </a:prstGeom>
          <a:noFill/>
        </p:spPr>
        <p:txBody>
          <a:bodyPr wrap="square" lIns="0" tIns="0" rIns="0" bIns="0" rtlCol="0">
            <a:spAutoFit/>
          </a:bodyPr>
          <a:lstStyle/>
          <a:p>
            <a:pPr algn="r">
              <a:lnSpc>
                <a:spcPct val="200000"/>
              </a:lnSpc>
            </a:pPr>
            <a:r>
              <a:rPr lang="ko-KR" altLang="en-US" sz="700" dirty="0">
                <a:latin typeface="+mn-ea"/>
              </a:rPr>
              <a:t>원</a:t>
            </a:r>
            <a:endParaRPr lang="en-US" altLang="ko-KR" sz="700" dirty="0">
              <a:latin typeface="+mn-ea"/>
            </a:endParaRPr>
          </a:p>
          <a:p>
            <a:pPr algn="r">
              <a:lnSpc>
                <a:spcPct val="200000"/>
              </a:lnSpc>
            </a:pPr>
            <a:r>
              <a:rPr lang="ko-KR" altLang="en-US" sz="700" dirty="0">
                <a:latin typeface="+mn-ea"/>
              </a:rPr>
              <a:t>원</a:t>
            </a:r>
            <a:endParaRPr lang="en-US" altLang="ko-KR" sz="700" dirty="0">
              <a:latin typeface="+mn-ea"/>
            </a:endParaRPr>
          </a:p>
        </p:txBody>
      </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41" name="모서리가 둥근 직사각형 140"/>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3829664"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3" name="TextBox 142">
            <a:extLst>
              <a:ext uri="{FF2B5EF4-FFF2-40B4-BE49-F238E27FC236}">
                <a16:creationId xmlns:a16="http://schemas.microsoft.com/office/drawing/2014/main" id="{FFC49AEA-2A8F-250C-A86A-A7751D9706C3}"/>
              </a:ext>
            </a:extLst>
          </p:cNvPr>
          <p:cNvSpPr txBox="1"/>
          <p:nvPr/>
        </p:nvSpPr>
        <p:spPr>
          <a:xfrm>
            <a:off x="3873342" y="2201247"/>
            <a:ext cx="612546"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4498012" y="2201247"/>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입찰보증금</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5065900" y="2201247"/>
            <a:ext cx="655640"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5733663" y="2201247"/>
            <a:ext cx="483262"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4498012" y="2417854"/>
            <a:ext cx="555764"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8" name="그룹 147"/>
          <p:cNvGrpSpPr/>
          <p:nvPr/>
        </p:nvGrpSpPr>
        <p:grpSpPr>
          <a:xfrm>
            <a:off x="6033260" y="2163124"/>
            <a:ext cx="422853" cy="187961"/>
            <a:chOff x="3641308" y="2234886"/>
            <a:chExt cx="422853" cy="187961"/>
          </a:xfrm>
        </p:grpSpPr>
        <p:sp>
          <p:nvSpPr>
            <p:cNvPr id="149" name="타원 148"/>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0" name="그룹 149"/>
            <p:cNvGrpSpPr/>
            <p:nvPr/>
          </p:nvGrpSpPr>
          <p:grpSpPr>
            <a:xfrm rot="5400000" flipH="1">
              <a:off x="3679895" y="2305364"/>
              <a:ext cx="94010" cy="47005"/>
              <a:chOff x="6812560" y="3297172"/>
              <a:chExt cx="94010" cy="47005"/>
            </a:xfrm>
          </p:grpSpPr>
          <p:cxnSp>
            <p:nvCxnSpPr>
              <p:cNvPr id="155" name="직선 연결선 15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6" name="직선 연결선 15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1" name="타원 150"/>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2" name="그룹 151"/>
            <p:cNvGrpSpPr/>
            <p:nvPr/>
          </p:nvGrpSpPr>
          <p:grpSpPr>
            <a:xfrm rot="16200000">
              <a:off x="3931564" y="2305364"/>
              <a:ext cx="94010" cy="47005"/>
              <a:chOff x="6812560" y="3297172"/>
              <a:chExt cx="94010" cy="47005"/>
            </a:xfrm>
          </p:grpSpPr>
          <p:cxnSp>
            <p:nvCxnSpPr>
              <p:cNvPr id="153" name="직선 연결선 1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4" name="직선 연결선 15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49272812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보증금면제사유 데이터</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보증금면제사유 상세</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보증금면제사유 설명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MUI-BD-04-P09</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보증금면제사유</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275990"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보증금 면제 사유 상세 설명</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804476" y="2401096"/>
            <a:ext cx="2473940" cy="4201150"/>
          </a:xfrm>
          <a:prstGeom prst="rect">
            <a:avLst/>
          </a:prstGeom>
          <a:noFill/>
        </p:spPr>
        <p:txBody>
          <a:bodyPr wrap="square" lIns="0" tIns="0" rIns="0" bIns="0" rtlCol="0">
            <a:spAutoFit/>
          </a:bodyPr>
          <a:lstStyle/>
          <a:p>
            <a:pPr marL="228600" indent="-228600">
              <a:buFontTx/>
              <a:buAutoNum type="arabicPeriod"/>
            </a:pPr>
            <a:r>
              <a:rPr lang="en-US" altLang="ko-KR" sz="700" b="1" dirty="0"/>
              <a:t>1</a:t>
            </a:r>
            <a:r>
              <a:rPr lang="ko-KR" altLang="en-US" sz="700" b="1" dirty="0"/>
              <a:t>호 </a:t>
            </a:r>
            <a:r>
              <a:rPr lang="en-US" altLang="ko-KR" sz="700" b="1" dirty="0"/>
              <a:t>: </a:t>
            </a:r>
            <a:r>
              <a:rPr lang="ko-KR" altLang="en-US" sz="700" b="1" dirty="0" err="1"/>
              <a:t>국가기관및지방자치단체</a:t>
            </a:r>
            <a:r>
              <a:rPr lang="en-US" altLang="ko-KR" sz="700" dirty="0"/>
              <a:t/>
            </a:r>
            <a:br>
              <a:rPr lang="en-US" altLang="ko-KR" sz="700" dirty="0"/>
            </a:br>
            <a:r>
              <a:rPr lang="ko-KR" altLang="en-US" sz="700" dirty="0"/>
              <a:t>국가를 당사자로 하는 계약에 관한 법률 시행령 제</a:t>
            </a:r>
            <a:r>
              <a:rPr lang="en-US" altLang="ko-KR" sz="700" dirty="0"/>
              <a:t>37</a:t>
            </a:r>
            <a:r>
              <a:rPr lang="ko-KR" altLang="en-US" sz="700" dirty="0"/>
              <a:t>조 ③항 </a:t>
            </a:r>
            <a:r>
              <a:rPr lang="en-US" altLang="ko-KR" sz="700" dirty="0"/>
              <a:t>1</a:t>
            </a:r>
            <a:r>
              <a:rPr lang="ko-KR" altLang="en-US" sz="700" dirty="0"/>
              <a:t>호 </a:t>
            </a:r>
            <a:r>
              <a:rPr lang="en-US" altLang="ko-KR" sz="700" dirty="0"/>
              <a:t>: </a:t>
            </a:r>
            <a:r>
              <a:rPr lang="ko-KR" altLang="en-US" sz="700" dirty="0"/>
              <a:t>국가기관 및 지방자치단체</a:t>
            </a:r>
          </a:p>
          <a:p>
            <a:pPr marL="228600" indent="-228600">
              <a:buAutoNum type="arabicPeriod"/>
            </a:pPr>
            <a:endParaRPr lang="en-US" altLang="ko-KR" sz="700" dirty="0">
              <a:solidFill>
                <a:srgbClr val="000000"/>
              </a:solidFill>
              <a:latin typeface="Consolas" panose="020B0609020204030204" pitchFamily="49" charset="0"/>
            </a:endParaRPr>
          </a:p>
          <a:p>
            <a:pPr marL="228600" indent="-228600">
              <a:buAutoNum type="arabicPeriod"/>
            </a:pPr>
            <a:r>
              <a:rPr lang="en-US" altLang="ko-KR" sz="700" b="1" dirty="0"/>
              <a:t>2</a:t>
            </a:r>
            <a:r>
              <a:rPr lang="ko-KR" altLang="en-US" sz="700" b="1" dirty="0"/>
              <a:t>호 </a:t>
            </a:r>
            <a:r>
              <a:rPr lang="en-US" altLang="ko-KR" sz="700" b="1" dirty="0"/>
              <a:t>: </a:t>
            </a:r>
            <a:r>
              <a:rPr lang="ko-KR" altLang="en-US" sz="700" b="1" dirty="0"/>
              <a:t>공공기관</a:t>
            </a:r>
            <a:r>
              <a:rPr lang="en-US" altLang="ko-KR" sz="700" dirty="0"/>
              <a:t/>
            </a:r>
            <a:br>
              <a:rPr lang="en-US" altLang="ko-KR" sz="700" dirty="0"/>
            </a:br>
            <a:r>
              <a:rPr lang="ko-KR" altLang="en-US" sz="700" dirty="0"/>
              <a:t>국가를 당사자로 하는 계약에 관한 법률 시행령 제</a:t>
            </a:r>
            <a:r>
              <a:rPr lang="en-US" altLang="ko-KR" sz="700" dirty="0"/>
              <a:t>37</a:t>
            </a:r>
            <a:r>
              <a:rPr lang="ko-KR" altLang="en-US" sz="700" dirty="0"/>
              <a:t>조 ③항 </a:t>
            </a:r>
            <a:r>
              <a:rPr lang="en-US" altLang="ko-KR" sz="700" dirty="0"/>
              <a:t>2</a:t>
            </a:r>
            <a:r>
              <a:rPr lang="ko-KR" altLang="en-US" sz="700" dirty="0"/>
              <a:t>호 </a:t>
            </a:r>
            <a:r>
              <a:rPr lang="en-US" altLang="ko-KR" sz="700" dirty="0"/>
              <a:t>: </a:t>
            </a:r>
            <a:r>
              <a:rPr lang="ko-KR" altLang="en-US" sz="700" dirty="0"/>
              <a:t>「공공기관의 운영에 관한 </a:t>
            </a:r>
            <a:r>
              <a:rPr lang="ko-KR" altLang="en-US" sz="700" dirty="0" err="1"/>
              <a:t>법률」에</a:t>
            </a:r>
            <a:r>
              <a:rPr lang="ko-KR" altLang="en-US" sz="700" dirty="0"/>
              <a:t> 따른 공공기관</a:t>
            </a:r>
            <a:endParaRPr lang="en-US" altLang="ko-KR" sz="700" dirty="0"/>
          </a:p>
          <a:p>
            <a:pPr marL="228600" indent="-228600">
              <a:buAutoNum type="arabicPeriod"/>
            </a:pPr>
            <a:endParaRPr lang="en-US" altLang="ko-KR" sz="700" dirty="0"/>
          </a:p>
          <a:p>
            <a:pPr marL="228600" indent="-228600">
              <a:buFontTx/>
              <a:buAutoNum type="arabicPeriod"/>
            </a:pPr>
            <a:r>
              <a:rPr lang="en-US" altLang="ko-KR" sz="700" b="1" dirty="0"/>
              <a:t>3</a:t>
            </a:r>
            <a:r>
              <a:rPr lang="ko-KR" altLang="en-US" sz="700" b="1" dirty="0"/>
              <a:t>호 </a:t>
            </a:r>
            <a:r>
              <a:rPr lang="en-US" altLang="ko-KR" sz="700" b="1" dirty="0"/>
              <a:t>: </a:t>
            </a:r>
            <a:r>
              <a:rPr lang="ko-KR" altLang="en-US" sz="700" b="1" dirty="0"/>
              <a:t>정부출연법인</a:t>
            </a:r>
            <a:r>
              <a:rPr lang="en-US" altLang="ko-KR" sz="700" dirty="0"/>
              <a:t/>
            </a:r>
            <a:br>
              <a:rPr lang="en-US" altLang="ko-KR" sz="700" dirty="0"/>
            </a:br>
            <a:r>
              <a:rPr lang="ko-KR" altLang="en-US" sz="700" dirty="0"/>
              <a:t>국가를 당사자로 하는 계약에 관한 법률 시행령 제</a:t>
            </a:r>
            <a:r>
              <a:rPr lang="en-US" altLang="ko-KR" sz="700" dirty="0"/>
              <a:t>37</a:t>
            </a:r>
            <a:r>
              <a:rPr lang="ko-KR" altLang="en-US" sz="700" dirty="0"/>
              <a:t>조 ③항 </a:t>
            </a:r>
            <a:r>
              <a:rPr lang="en-US" altLang="ko-KR" sz="700" dirty="0"/>
              <a:t>3</a:t>
            </a:r>
            <a:r>
              <a:rPr lang="ko-KR" altLang="en-US" sz="700" dirty="0"/>
              <a:t>호 </a:t>
            </a:r>
            <a:r>
              <a:rPr lang="en-US" altLang="ko-KR" sz="700" dirty="0"/>
              <a:t>: </a:t>
            </a:r>
            <a:r>
              <a:rPr lang="ko-KR" altLang="en-US" sz="700" dirty="0"/>
              <a:t>정부가 기본재산의 </a:t>
            </a:r>
            <a:r>
              <a:rPr lang="en-US" altLang="ko-KR" sz="700" dirty="0"/>
              <a:t>100</a:t>
            </a:r>
            <a:r>
              <a:rPr lang="ko-KR" altLang="en-US" sz="700" dirty="0"/>
              <a:t>분의 </a:t>
            </a:r>
            <a:r>
              <a:rPr lang="en-US" altLang="ko-KR" sz="700" dirty="0"/>
              <a:t>50</a:t>
            </a:r>
            <a:r>
              <a:rPr lang="ko-KR" altLang="en-US" sz="700" dirty="0"/>
              <a:t>이상을 출연</a:t>
            </a:r>
            <a:r>
              <a:rPr lang="en-US" altLang="ko-KR" sz="700" dirty="0"/>
              <a:t>(</a:t>
            </a:r>
            <a:r>
              <a:rPr lang="ko-KR" altLang="en-US" sz="700" dirty="0"/>
              <a:t>법률의 규정에 의하여 귀속시킨 경우를 포함한다</a:t>
            </a:r>
            <a:r>
              <a:rPr lang="en-US" altLang="ko-KR" sz="700" dirty="0"/>
              <a:t>. </a:t>
            </a:r>
            <a:r>
              <a:rPr lang="ko-KR" altLang="en-US" sz="700" dirty="0"/>
              <a:t>이하 같다</a:t>
            </a:r>
            <a:r>
              <a:rPr lang="en-US" altLang="ko-KR" sz="700" dirty="0"/>
              <a:t>)</a:t>
            </a:r>
            <a:r>
              <a:rPr lang="ko-KR" altLang="en-US" sz="700" dirty="0"/>
              <a:t>한 법인</a:t>
            </a:r>
            <a:endParaRPr lang="en-US" altLang="ko-KR" sz="700" dirty="0"/>
          </a:p>
          <a:p>
            <a:pPr marL="228600" indent="-228600">
              <a:buAutoNum type="arabicPeriod"/>
            </a:pPr>
            <a:endParaRPr lang="en-US" altLang="ko-KR" sz="700" dirty="0">
              <a:latin typeface="맑은 고딕" panose="020B0503020000020004" pitchFamily="50" charset="-127"/>
            </a:endParaRPr>
          </a:p>
          <a:p>
            <a:pPr marL="228600" indent="-228600">
              <a:buFontTx/>
              <a:buAutoNum type="arabicPeriod"/>
            </a:pPr>
            <a:r>
              <a:rPr lang="en-US" altLang="ko-KR" sz="700" b="1" dirty="0"/>
              <a:t>4</a:t>
            </a:r>
            <a:r>
              <a:rPr lang="ko-KR" altLang="en-US" sz="700" b="1" dirty="0"/>
              <a:t>호 </a:t>
            </a:r>
            <a:r>
              <a:rPr lang="en-US" altLang="ko-KR" sz="700" b="1" dirty="0"/>
              <a:t>: </a:t>
            </a:r>
            <a:r>
              <a:rPr lang="ko-KR" altLang="en-US" sz="700" b="1" dirty="0" err="1"/>
              <a:t>농협수협</a:t>
            </a:r>
            <a:r>
              <a:rPr lang="en-US" altLang="ko-KR" sz="700" b="1" dirty="0"/>
              <a:t>,</a:t>
            </a:r>
            <a:r>
              <a:rPr lang="ko-KR" altLang="en-US" sz="700" b="1" dirty="0"/>
              <a:t>산림조합</a:t>
            </a:r>
            <a:r>
              <a:rPr lang="en-US" altLang="ko-KR" sz="700" b="1" dirty="0"/>
              <a:t>,</a:t>
            </a:r>
            <a:r>
              <a:rPr lang="ko-KR" altLang="en-US" sz="700" b="1" dirty="0" err="1"/>
              <a:t>중소기업협동조합및중앙회</a:t>
            </a:r>
            <a:r>
              <a:rPr lang="en-US" altLang="ko-KR" sz="700" b="1" dirty="0"/>
              <a:t>,</a:t>
            </a:r>
            <a:r>
              <a:rPr lang="ko-KR" altLang="en-US" sz="700" b="1" dirty="0"/>
              <a:t>한국농어촌공사</a:t>
            </a:r>
            <a:r>
              <a:rPr lang="en-US" altLang="ko-KR" sz="700" dirty="0"/>
              <a:t/>
            </a:r>
            <a:br>
              <a:rPr lang="en-US" altLang="ko-KR" sz="700" dirty="0"/>
            </a:br>
            <a:r>
              <a:rPr lang="ko-KR" altLang="en-US" sz="700" dirty="0"/>
              <a:t>국가를 당사자로 하는 계약에 관한 법률 시행령 제</a:t>
            </a:r>
            <a:r>
              <a:rPr lang="en-US" altLang="ko-KR" sz="700" dirty="0"/>
              <a:t>37</a:t>
            </a:r>
            <a:r>
              <a:rPr lang="ko-KR" altLang="en-US" sz="700" dirty="0"/>
              <a:t>조 ③항 </a:t>
            </a:r>
            <a:r>
              <a:rPr lang="en-US" altLang="ko-KR" sz="700" dirty="0"/>
              <a:t>4</a:t>
            </a:r>
            <a:r>
              <a:rPr lang="ko-KR" altLang="en-US" sz="700" dirty="0"/>
              <a:t>호 </a:t>
            </a:r>
            <a:r>
              <a:rPr lang="en-US" altLang="ko-KR" sz="700" dirty="0"/>
              <a:t>: </a:t>
            </a:r>
            <a:r>
              <a:rPr lang="ko-KR" altLang="en-US" sz="700" dirty="0"/>
              <a:t>「</a:t>
            </a:r>
            <a:r>
              <a:rPr lang="ko-KR" altLang="en-US" sz="700" dirty="0" err="1"/>
              <a:t>농업협동조합법」에</a:t>
            </a:r>
            <a:r>
              <a:rPr lang="ko-KR" altLang="en-US" sz="700" dirty="0"/>
              <a:t> 의한 조합</a:t>
            </a:r>
            <a:r>
              <a:rPr lang="en-US" altLang="ko-KR" sz="700" dirty="0"/>
              <a:t>·</a:t>
            </a:r>
            <a:r>
              <a:rPr lang="ko-KR" altLang="en-US" sz="700" dirty="0"/>
              <a:t>조합공동사업법인 및 그 중앙회</a:t>
            </a:r>
            <a:r>
              <a:rPr lang="en-US" altLang="ko-KR" sz="700" dirty="0"/>
              <a:t>, </a:t>
            </a:r>
            <a:r>
              <a:rPr lang="ko-KR" altLang="en-US" sz="700" dirty="0"/>
              <a:t>「</a:t>
            </a:r>
            <a:r>
              <a:rPr lang="ko-KR" altLang="en-US" sz="700" dirty="0" err="1"/>
              <a:t>수산업협동조합법」에</a:t>
            </a:r>
            <a:r>
              <a:rPr lang="ko-KR" altLang="en-US" sz="700" dirty="0"/>
              <a:t> 의한 </a:t>
            </a:r>
            <a:r>
              <a:rPr lang="ko-KR" altLang="en-US" sz="700" dirty="0" err="1"/>
              <a:t>어촌계</a:t>
            </a:r>
            <a:r>
              <a:rPr lang="en-US" altLang="ko-KR" sz="700" dirty="0"/>
              <a:t>·</a:t>
            </a:r>
            <a:r>
              <a:rPr lang="ko-KR" altLang="en-US" sz="700" dirty="0"/>
              <a:t>수산업협동조합 및 그 중앙회</a:t>
            </a:r>
            <a:r>
              <a:rPr lang="en-US" altLang="ko-KR" sz="700" dirty="0"/>
              <a:t>, </a:t>
            </a:r>
            <a:r>
              <a:rPr lang="ko-KR" altLang="en-US" sz="700" dirty="0"/>
              <a:t>「</a:t>
            </a:r>
            <a:r>
              <a:rPr lang="ko-KR" altLang="en-US" sz="700" dirty="0" err="1"/>
              <a:t>산림조합법」에</a:t>
            </a:r>
            <a:r>
              <a:rPr lang="ko-KR" altLang="en-US" sz="700" dirty="0"/>
              <a:t> 의한 산림조합 및 그 중앙회</a:t>
            </a:r>
            <a:r>
              <a:rPr lang="en-US" altLang="ko-KR" sz="700" dirty="0"/>
              <a:t>, </a:t>
            </a:r>
            <a:r>
              <a:rPr lang="ko-KR" altLang="en-US" sz="700" dirty="0"/>
              <a:t>「</a:t>
            </a:r>
            <a:r>
              <a:rPr lang="ko-KR" altLang="en-US" sz="700" dirty="0" err="1"/>
              <a:t>중소기업협동조합법」에</a:t>
            </a:r>
            <a:r>
              <a:rPr lang="ko-KR" altLang="en-US" sz="700" dirty="0"/>
              <a:t> 의한 중소기업협동조합 및 그 중앙회와 「한국농어촌공사 및 </a:t>
            </a:r>
            <a:r>
              <a:rPr lang="ko-KR" altLang="en-US" sz="700" dirty="0" err="1"/>
              <a:t>농지관리기금법」에</a:t>
            </a:r>
            <a:r>
              <a:rPr lang="ko-KR" altLang="en-US" sz="700" dirty="0"/>
              <a:t> 따른 한국농어촌공사</a:t>
            </a:r>
          </a:p>
          <a:p>
            <a:pPr marL="228600" indent="-228600">
              <a:buAutoNum type="arabicPeriod"/>
            </a:pPr>
            <a:endParaRPr lang="en-US" altLang="ko-KR" sz="700" dirty="0">
              <a:latin typeface="맑은 고딕" panose="020B0503020000020004" pitchFamily="50" charset="-127"/>
            </a:endParaRPr>
          </a:p>
          <a:p>
            <a:pPr marL="228600" indent="-228600">
              <a:buFontTx/>
              <a:buAutoNum type="arabicPeriod"/>
            </a:pPr>
            <a:r>
              <a:rPr lang="en-US" altLang="ko-KR" sz="700" b="1" dirty="0"/>
              <a:t>5</a:t>
            </a:r>
            <a:r>
              <a:rPr lang="ko-KR" altLang="en-US" sz="700" b="1" dirty="0"/>
              <a:t>호 </a:t>
            </a:r>
            <a:r>
              <a:rPr lang="en-US" altLang="ko-KR" sz="700" b="1" dirty="0"/>
              <a:t>: </a:t>
            </a:r>
            <a:r>
              <a:rPr lang="ko-KR" altLang="en-US" sz="700" b="1" dirty="0"/>
              <a:t>건설산업기본법 등에 따른 등록법인</a:t>
            </a:r>
            <a:r>
              <a:rPr lang="en-US" altLang="ko-KR" sz="700" b="1" dirty="0"/>
              <a:t>,</a:t>
            </a:r>
            <a:r>
              <a:rPr lang="ko-KR" altLang="en-US" sz="700" b="1" dirty="0"/>
              <a:t>저탄소녹색성장기본법 해당</a:t>
            </a:r>
            <a:r>
              <a:rPr lang="en-US" altLang="ko-KR" sz="700" dirty="0"/>
              <a:t/>
            </a:r>
            <a:br>
              <a:rPr lang="en-US" altLang="ko-KR" sz="700" dirty="0"/>
            </a:br>
            <a:r>
              <a:rPr lang="ko-KR" altLang="en-US" sz="700" dirty="0"/>
              <a:t>국가를 당사자로 하는 계약에 관한 법률 시행령 제</a:t>
            </a:r>
            <a:r>
              <a:rPr lang="en-US" altLang="ko-KR" sz="700" dirty="0"/>
              <a:t>37</a:t>
            </a:r>
            <a:r>
              <a:rPr lang="ko-KR" altLang="en-US" sz="700" dirty="0"/>
              <a:t>조 ③항 </a:t>
            </a:r>
            <a:r>
              <a:rPr lang="en-US" altLang="ko-KR" sz="700" dirty="0"/>
              <a:t>5</a:t>
            </a:r>
            <a:r>
              <a:rPr lang="ko-KR" altLang="en-US" sz="700" dirty="0"/>
              <a:t>호 </a:t>
            </a:r>
            <a:r>
              <a:rPr lang="en-US" altLang="ko-KR" sz="700" dirty="0"/>
              <a:t>: </a:t>
            </a:r>
            <a:r>
              <a:rPr lang="ko-KR" altLang="en-US" sz="700" dirty="0"/>
              <a:t>「건설산업기본법」</a:t>
            </a:r>
            <a:r>
              <a:rPr lang="en-US" altLang="ko-KR" sz="700" dirty="0"/>
              <a:t>·</a:t>
            </a:r>
            <a:r>
              <a:rPr lang="ko-KR" altLang="en-US" sz="700" dirty="0"/>
              <a:t>「전기공사업법」</a:t>
            </a:r>
            <a:r>
              <a:rPr lang="en-US" altLang="ko-KR" sz="700" dirty="0"/>
              <a:t>·</a:t>
            </a:r>
            <a:r>
              <a:rPr lang="ko-KR" altLang="en-US" sz="700" dirty="0"/>
              <a:t>「정보통신공사업법」</a:t>
            </a:r>
            <a:r>
              <a:rPr lang="en-US" altLang="ko-KR" sz="700" dirty="0"/>
              <a:t>·</a:t>
            </a:r>
            <a:r>
              <a:rPr lang="ko-KR" altLang="en-US" sz="700" dirty="0"/>
              <a:t>「건설폐기물의 재활용촉진에 관한 법률」</a:t>
            </a:r>
            <a:r>
              <a:rPr lang="en-US" altLang="ko-KR" sz="700" dirty="0"/>
              <a:t>·</a:t>
            </a:r>
            <a:r>
              <a:rPr lang="ko-KR" altLang="en-US" sz="700" dirty="0"/>
              <a:t>「</a:t>
            </a:r>
            <a:r>
              <a:rPr lang="ko-KR" altLang="en-US" sz="700" dirty="0" err="1"/>
              <a:t>골재채취법</a:t>
            </a:r>
            <a:r>
              <a:rPr lang="ko-KR" altLang="en-US" sz="700" dirty="0"/>
              <a:t>」 또는 「문화재수리 등에 관한 법률」 등의 법령에 의하여 </a:t>
            </a:r>
            <a:r>
              <a:rPr lang="ko-KR" altLang="en-US" sz="700" dirty="0" err="1"/>
              <a:t>등록등을</a:t>
            </a:r>
            <a:r>
              <a:rPr lang="ko-KR" altLang="en-US" sz="700" dirty="0"/>
              <a:t> 한 법인으로서 기획재정부장관이 정하는 기준에 해당되는 자</a:t>
            </a:r>
            <a:r>
              <a:rPr lang="en-US" altLang="ko-KR" sz="700" dirty="0"/>
              <a:t/>
            </a:r>
            <a:br>
              <a:rPr lang="en-US" altLang="ko-KR" sz="700" dirty="0"/>
            </a:br>
            <a:r>
              <a:rPr lang="en-US" altLang="ko-KR" sz="700" dirty="0"/>
              <a:t>5</a:t>
            </a:r>
            <a:r>
              <a:rPr lang="ko-KR" altLang="en-US" sz="700" dirty="0"/>
              <a:t>의</a:t>
            </a:r>
            <a:r>
              <a:rPr lang="en-US" altLang="ko-KR" sz="700" dirty="0"/>
              <a:t>2. </a:t>
            </a:r>
            <a:r>
              <a:rPr lang="ko-KR" altLang="en-US" sz="700" dirty="0"/>
              <a:t>「</a:t>
            </a:r>
            <a:r>
              <a:rPr lang="ko-KR" altLang="en-US" sz="700" dirty="0" err="1"/>
              <a:t>저탄소</a:t>
            </a:r>
            <a:r>
              <a:rPr lang="ko-KR" altLang="en-US" sz="700" dirty="0"/>
              <a:t> 녹색성장 기본법」 제</a:t>
            </a:r>
            <a:r>
              <a:rPr lang="en-US" altLang="ko-KR" sz="700" dirty="0"/>
              <a:t>32</a:t>
            </a:r>
            <a:r>
              <a:rPr lang="ko-KR" altLang="en-US" sz="700" dirty="0"/>
              <a:t>조제</a:t>
            </a:r>
            <a:r>
              <a:rPr lang="en-US" altLang="ko-KR" sz="700" dirty="0"/>
              <a:t>2</a:t>
            </a:r>
            <a:r>
              <a:rPr lang="ko-KR" altLang="en-US" sz="700" dirty="0"/>
              <a:t>항에 따라 녹색기술</a:t>
            </a:r>
            <a:r>
              <a:rPr lang="en-US" altLang="ko-KR" sz="700" dirty="0"/>
              <a:t>·</a:t>
            </a:r>
            <a:r>
              <a:rPr lang="ko-KR" altLang="en-US" sz="700" dirty="0" err="1"/>
              <a:t>녹색사업에</a:t>
            </a:r>
            <a:r>
              <a:rPr lang="ko-KR" altLang="en-US" sz="700" dirty="0"/>
              <a:t> 대한 적합성 인증을 받거나 녹색전문기업으로 확인을 받은 자 중 기획재정부장관이 정하는 기준에 해당하는 자</a:t>
            </a:r>
          </a:p>
          <a:p>
            <a:pPr marL="228600" indent="-228600">
              <a:buAutoNum type="arabicPeriod"/>
            </a:pPr>
            <a:endParaRPr lang="en-US" altLang="ko-KR" sz="700" dirty="0">
              <a:latin typeface="맑은 고딕" panose="020B0503020000020004" pitchFamily="50" charset="-127"/>
            </a:endParaRPr>
          </a:p>
        </p:txBody>
      </p:sp>
      <p:sp>
        <p:nvSpPr>
          <p:cNvPr id="146" name="양쪽 모서리가 둥근 사각형 145"/>
          <p:cNvSpPr/>
          <p:nvPr/>
        </p:nvSpPr>
        <p:spPr>
          <a:xfrm>
            <a:off x="3793783"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99" name="모서리가 둥근 직사각형 198"/>
          <p:cNvSpPr/>
          <p:nvPr/>
        </p:nvSpPr>
        <p:spPr>
          <a:xfrm>
            <a:off x="4879796"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00" name="그룹 199"/>
          <p:cNvGrpSpPr/>
          <p:nvPr/>
        </p:nvGrpSpPr>
        <p:grpSpPr>
          <a:xfrm>
            <a:off x="6282722" y="1773925"/>
            <a:ext cx="94010" cy="94010"/>
            <a:chOff x="6812560" y="3297172"/>
            <a:chExt cx="94010" cy="94010"/>
          </a:xfrm>
        </p:grpSpPr>
        <p:cxnSp>
          <p:nvCxnSpPr>
            <p:cNvPr id="202" name="직선 연결선 20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04" name="TextBox 203">
            <a:extLst>
              <a:ext uri="{FF2B5EF4-FFF2-40B4-BE49-F238E27FC236}">
                <a16:creationId xmlns:a16="http://schemas.microsoft.com/office/drawing/2014/main" id="{FFC49AEA-2A8F-250C-A86A-A7751D9706C3}"/>
              </a:ext>
            </a:extLst>
          </p:cNvPr>
          <p:cNvSpPr txBox="1"/>
          <p:nvPr/>
        </p:nvSpPr>
        <p:spPr>
          <a:xfrm>
            <a:off x="3922860" y="1754604"/>
            <a:ext cx="1798758" cy="138499"/>
          </a:xfrm>
          <a:prstGeom prst="rect">
            <a:avLst/>
          </a:prstGeom>
          <a:noFill/>
        </p:spPr>
        <p:txBody>
          <a:bodyPr wrap="square" lIns="0" tIns="0" rIns="0" bIns="0" rtlCol="0">
            <a:spAutoFit/>
          </a:bodyPr>
          <a:lstStyle/>
          <a:p>
            <a:r>
              <a:rPr lang="ko-KR" altLang="en-US" sz="900" dirty="0">
                <a:latin typeface="+mn-ea"/>
              </a:rPr>
              <a:t>보증금면제사유</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3783"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22860" y="2033176"/>
            <a:ext cx="2473940" cy="4201150"/>
          </a:xfrm>
          <a:prstGeom prst="rect">
            <a:avLst/>
          </a:prstGeom>
          <a:noFill/>
        </p:spPr>
        <p:txBody>
          <a:bodyPr wrap="square" lIns="0" tIns="0" rIns="0" bIns="0" rtlCol="0">
            <a:spAutoFit/>
          </a:bodyPr>
          <a:lstStyle/>
          <a:p>
            <a:pPr marL="228600" indent="-228600">
              <a:buFont typeface="+mj-lt"/>
              <a:buAutoNum type="arabicPeriod" startAt="6"/>
            </a:pPr>
            <a:r>
              <a:rPr lang="en-US" altLang="ko-KR" sz="700" b="1" dirty="0"/>
              <a:t>6</a:t>
            </a:r>
            <a:r>
              <a:rPr lang="ko-KR" altLang="en-US" sz="700" b="1" dirty="0"/>
              <a:t>호 </a:t>
            </a:r>
            <a:r>
              <a:rPr lang="en-US" altLang="ko-KR" sz="700" b="1" dirty="0"/>
              <a:t>: </a:t>
            </a:r>
            <a:r>
              <a:rPr lang="ko-KR" altLang="en-US" sz="700" b="1" dirty="0"/>
              <a:t>낙찰자로 결정된 후 계약체결을 기피할 우려가 없다고 인정되는 자</a:t>
            </a:r>
            <a:r>
              <a:rPr lang="en-US" altLang="ko-KR" sz="700" dirty="0"/>
              <a:t/>
            </a:r>
            <a:br>
              <a:rPr lang="en-US" altLang="ko-KR" sz="700" dirty="0"/>
            </a:br>
            <a:r>
              <a:rPr lang="ko-KR" altLang="en-US" sz="700" dirty="0"/>
              <a:t>국가를 당사자로 하는 계약에 관한 법률 시행령 제</a:t>
            </a:r>
            <a:r>
              <a:rPr lang="en-US" altLang="ko-KR" sz="700" dirty="0"/>
              <a:t>37</a:t>
            </a:r>
            <a:r>
              <a:rPr lang="ko-KR" altLang="en-US" sz="700" dirty="0"/>
              <a:t>조 ③항 </a:t>
            </a:r>
            <a:r>
              <a:rPr lang="en-US" altLang="ko-KR" sz="700" dirty="0"/>
              <a:t>6</a:t>
            </a:r>
            <a:r>
              <a:rPr lang="ko-KR" altLang="en-US" sz="700" dirty="0"/>
              <a:t>호 </a:t>
            </a:r>
            <a:r>
              <a:rPr lang="en-US" altLang="ko-KR" sz="700" dirty="0"/>
              <a:t>: </a:t>
            </a:r>
            <a:r>
              <a:rPr lang="ko-KR" altLang="en-US" sz="700" dirty="0"/>
              <a:t>기타 경쟁입찰에서 낙찰자로 결정된 후 계약체결을 기피할 우려가 없다고 인정되는 자</a:t>
            </a:r>
            <a:endParaRPr lang="en-US" altLang="ko-KR" sz="700" dirty="0"/>
          </a:p>
          <a:p>
            <a:pPr marL="228600" indent="-228600">
              <a:buFont typeface="+mj-lt"/>
              <a:buAutoNum type="arabicPeriod" startAt="6"/>
            </a:pPr>
            <a:endParaRPr lang="en-US" altLang="ko-KR" sz="700" dirty="0">
              <a:latin typeface="맑은 고딕" panose="020B0503020000020004" pitchFamily="50" charset="-127"/>
            </a:endParaRPr>
          </a:p>
          <a:p>
            <a:pPr marL="228600" indent="-228600">
              <a:buFont typeface="+mj-lt"/>
              <a:buAutoNum type="arabicPeriod" startAt="6"/>
            </a:pPr>
            <a:r>
              <a:rPr lang="ko-KR" altLang="en-US" sz="700" b="1" dirty="0"/>
              <a:t>물품구매</a:t>
            </a:r>
            <a:r>
              <a:rPr lang="en-US" altLang="ko-KR" sz="700" b="1" dirty="0"/>
              <a:t>(</a:t>
            </a:r>
            <a:r>
              <a:rPr lang="ko-KR" altLang="en-US" sz="700" b="1" dirty="0"/>
              <a:t>제조</a:t>
            </a:r>
            <a:r>
              <a:rPr lang="en-US" altLang="ko-KR" sz="700" b="1" dirty="0"/>
              <a:t>)</a:t>
            </a:r>
            <a:r>
              <a:rPr lang="ko-KR" altLang="en-US" sz="700" b="1" dirty="0"/>
              <a:t>입찰유의서 제</a:t>
            </a:r>
            <a:r>
              <a:rPr lang="en-US" altLang="ko-KR" sz="700" b="1" dirty="0"/>
              <a:t>6</a:t>
            </a:r>
            <a:r>
              <a:rPr lang="ko-KR" altLang="en-US" sz="700" b="1" dirty="0"/>
              <a:t>조 ④항 </a:t>
            </a:r>
            <a:r>
              <a:rPr lang="en-US" altLang="ko-KR" sz="700" b="1" dirty="0"/>
              <a:t>2</a:t>
            </a:r>
            <a:r>
              <a:rPr lang="ko-KR" altLang="en-US" sz="700" b="1" dirty="0"/>
              <a:t>호에 해당하는 법인</a:t>
            </a:r>
            <a:r>
              <a:rPr lang="en-US" altLang="ko-KR" sz="700" dirty="0"/>
              <a:t/>
            </a:r>
            <a:br>
              <a:rPr lang="en-US" altLang="ko-KR" sz="700" dirty="0"/>
            </a:br>
            <a:r>
              <a:rPr lang="ko-KR" altLang="en-US" sz="700" dirty="0" err="1"/>
              <a:t>계약예규</a:t>
            </a:r>
            <a:r>
              <a:rPr lang="ko-KR" altLang="en-US" sz="700" dirty="0"/>
              <a:t> 물품구매</a:t>
            </a:r>
            <a:r>
              <a:rPr lang="en-US" altLang="ko-KR" sz="700" dirty="0"/>
              <a:t>(</a:t>
            </a:r>
            <a:r>
              <a:rPr lang="ko-KR" altLang="en-US" sz="700" dirty="0"/>
              <a:t>제조</a:t>
            </a:r>
            <a:r>
              <a:rPr lang="en-US" altLang="ko-KR" sz="700" dirty="0"/>
              <a:t>)</a:t>
            </a:r>
            <a:r>
              <a:rPr lang="ko-KR" altLang="en-US" sz="700" dirty="0"/>
              <a:t>입찰유의서 제</a:t>
            </a:r>
            <a:r>
              <a:rPr lang="en-US" altLang="ko-KR" sz="700" dirty="0"/>
              <a:t>6</a:t>
            </a:r>
            <a:r>
              <a:rPr lang="ko-KR" altLang="en-US" sz="700" dirty="0"/>
              <a:t>조 ④항 </a:t>
            </a:r>
            <a:r>
              <a:rPr lang="en-US" altLang="ko-KR" sz="700" dirty="0"/>
              <a:t>2. </a:t>
            </a:r>
            <a:r>
              <a:rPr lang="ko-KR" altLang="en-US" sz="700" dirty="0"/>
              <a:t>「식품위생법」 또는 「</a:t>
            </a:r>
            <a:r>
              <a:rPr lang="ko-KR" altLang="en-US" sz="700" dirty="0" err="1"/>
              <a:t>약사법」등</a:t>
            </a:r>
            <a:r>
              <a:rPr lang="ko-KR" altLang="en-US" sz="700" dirty="0"/>
              <a:t> </a:t>
            </a:r>
            <a:r>
              <a:rPr lang="ko-KR" altLang="en-US" sz="700" dirty="0" err="1"/>
              <a:t>제조업관련</a:t>
            </a:r>
            <a:r>
              <a:rPr lang="ko-KR" altLang="en-US" sz="700" dirty="0"/>
              <a:t> 법령에 의하여 국가기관 등으로부터 면허</a:t>
            </a:r>
            <a:r>
              <a:rPr lang="en-US" altLang="ko-KR" sz="700" dirty="0"/>
              <a:t>·</a:t>
            </a:r>
            <a:r>
              <a:rPr lang="ko-KR" altLang="en-US" sz="700" dirty="0"/>
              <a:t>허가 등을 받았거나 등록</a:t>
            </a:r>
            <a:r>
              <a:rPr lang="en-US" altLang="ko-KR" sz="700" dirty="0"/>
              <a:t>·</a:t>
            </a:r>
            <a:r>
              <a:rPr lang="ko-KR" altLang="en-US" sz="700" dirty="0"/>
              <a:t>신고 등을 마친 자로서 입찰참가신청마감일 현재 해당 제조업을 영위하고 있는 법인이 입찰에 참가하는 경우</a:t>
            </a:r>
            <a:r>
              <a:rPr lang="en-US" altLang="ko-KR" sz="700" dirty="0"/>
              <a:t>. </a:t>
            </a:r>
            <a:r>
              <a:rPr lang="ko-KR" altLang="en-US" sz="700" dirty="0"/>
              <a:t>단</a:t>
            </a:r>
            <a:r>
              <a:rPr lang="en-US" altLang="ko-KR" sz="700" dirty="0"/>
              <a:t>, </a:t>
            </a:r>
            <a:r>
              <a:rPr lang="ko-KR" altLang="en-US" sz="700" dirty="0"/>
              <a:t>입찰신청마감일 현재 사업영위기간이 </a:t>
            </a:r>
            <a:r>
              <a:rPr lang="en-US" altLang="ko-KR" sz="700" dirty="0"/>
              <a:t>1</a:t>
            </a:r>
            <a:r>
              <a:rPr lang="ko-KR" altLang="en-US" sz="700" dirty="0"/>
              <a:t>년 미만인 법인은 입찰참가자격제한 조치를 받은 사실이 없어야 함</a:t>
            </a:r>
            <a:endParaRPr lang="en-US" altLang="ko-KR" sz="700" dirty="0"/>
          </a:p>
          <a:p>
            <a:pPr marL="228600" indent="-228600">
              <a:buFont typeface="+mj-lt"/>
              <a:buAutoNum type="arabicPeriod" startAt="6"/>
            </a:pPr>
            <a:endParaRPr lang="en-US" altLang="ko-KR" sz="700" dirty="0">
              <a:latin typeface="맑은 고딕" panose="020B0503020000020004" pitchFamily="50" charset="-127"/>
            </a:endParaRPr>
          </a:p>
          <a:p>
            <a:pPr marL="228600" indent="-228600">
              <a:buFont typeface="+mj-lt"/>
              <a:buAutoNum type="arabicPeriod" startAt="6"/>
            </a:pPr>
            <a:r>
              <a:rPr lang="ko-KR" altLang="en-US" sz="700" b="1" dirty="0"/>
              <a:t>공사입찰유의서 제</a:t>
            </a:r>
            <a:r>
              <a:rPr lang="en-US" altLang="ko-KR" sz="700" b="1" dirty="0"/>
              <a:t>7</a:t>
            </a:r>
            <a:r>
              <a:rPr lang="ko-KR" altLang="en-US" sz="700" b="1" dirty="0"/>
              <a:t>조 ⑤항 </a:t>
            </a:r>
            <a:r>
              <a:rPr lang="en-US" altLang="ko-KR" sz="700" b="1" dirty="0"/>
              <a:t>2</a:t>
            </a:r>
            <a:r>
              <a:rPr lang="ko-KR" altLang="en-US" sz="700" b="1" dirty="0"/>
              <a:t>호에 해당하는 법인</a:t>
            </a:r>
            <a:r>
              <a:rPr lang="en-US" altLang="ko-KR" sz="700" dirty="0"/>
              <a:t/>
            </a:r>
            <a:br>
              <a:rPr lang="en-US" altLang="ko-KR" sz="700" dirty="0"/>
            </a:br>
            <a:r>
              <a:rPr lang="ko-KR" altLang="en-US" sz="700" dirty="0" err="1"/>
              <a:t>계약예규</a:t>
            </a:r>
            <a:r>
              <a:rPr lang="ko-KR" altLang="en-US" sz="700" dirty="0"/>
              <a:t> 공사입찰유의서 제</a:t>
            </a:r>
            <a:r>
              <a:rPr lang="en-US" altLang="ko-KR" sz="700" dirty="0"/>
              <a:t>7</a:t>
            </a:r>
            <a:r>
              <a:rPr lang="ko-KR" altLang="en-US" sz="700" dirty="0"/>
              <a:t>조 ⑤항 </a:t>
            </a:r>
            <a:r>
              <a:rPr lang="en-US" altLang="ko-KR" sz="700" dirty="0"/>
              <a:t>2. </a:t>
            </a:r>
            <a:r>
              <a:rPr lang="ko-KR" altLang="en-US" sz="700" dirty="0"/>
              <a:t>「건설산업기본법」</a:t>
            </a:r>
            <a:r>
              <a:rPr lang="en-US" altLang="ko-KR" sz="700" dirty="0"/>
              <a:t>·</a:t>
            </a:r>
            <a:r>
              <a:rPr lang="ko-KR" altLang="en-US" sz="700" dirty="0"/>
              <a:t>「전기공사업법」</a:t>
            </a:r>
            <a:r>
              <a:rPr lang="en-US" altLang="ko-KR" sz="700" dirty="0"/>
              <a:t>·</a:t>
            </a:r>
            <a:r>
              <a:rPr lang="ko-KR" altLang="en-US" sz="700" dirty="0"/>
              <a:t>「정보통신공사업법」 또는 「</a:t>
            </a:r>
            <a:r>
              <a:rPr lang="ko-KR" altLang="en-US" sz="700" dirty="0" err="1"/>
              <a:t>소방시설공사업법」등에</a:t>
            </a:r>
            <a:r>
              <a:rPr lang="ko-KR" altLang="en-US" sz="700" dirty="0"/>
              <a:t> 의하여 국가 또는 지방자치단체</a:t>
            </a:r>
            <a:r>
              <a:rPr lang="en-US" altLang="ko-KR" sz="700" dirty="0"/>
              <a:t>(</a:t>
            </a:r>
            <a:r>
              <a:rPr lang="ko-KR" altLang="en-US" sz="700" dirty="0"/>
              <a:t>이하 </a:t>
            </a:r>
            <a:r>
              <a:rPr lang="en-US" altLang="ko-KR" sz="700" dirty="0"/>
              <a:t>"</a:t>
            </a:r>
            <a:r>
              <a:rPr lang="ko-KR" altLang="en-US" sz="700" dirty="0"/>
              <a:t>국가기관 등</a:t>
            </a:r>
            <a:r>
              <a:rPr lang="en-US" altLang="ko-KR" sz="700" dirty="0"/>
              <a:t>"</a:t>
            </a:r>
            <a:r>
              <a:rPr lang="ko-KR" altLang="en-US" sz="700" dirty="0"/>
              <a:t>이라 한다</a:t>
            </a:r>
            <a:r>
              <a:rPr lang="en-US" altLang="ko-KR" sz="700" dirty="0"/>
              <a:t>)</a:t>
            </a:r>
            <a:r>
              <a:rPr lang="ko-KR" altLang="en-US" sz="700" dirty="0"/>
              <a:t>로부터 등록 등을 받아 입찰신청마감일 현재 해당 공사관련법령에 의한 사업을 영위하고 있는 법인이 입찰에 참가하는 경우 단</a:t>
            </a:r>
            <a:r>
              <a:rPr lang="en-US" altLang="ko-KR" sz="700" dirty="0"/>
              <a:t>, </a:t>
            </a:r>
            <a:r>
              <a:rPr lang="ko-KR" altLang="en-US" sz="700" dirty="0"/>
              <a:t>입찰신청마감일 현재 사업영위기간이 </a:t>
            </a:r>
            <a:r>
              <a:rPr lang="en-US" altLang="ko-KR" sz="700" dirty="0"/>
              <a:t>1</a:t>
            </a:r>
            <a:r>
              <a:rPr lang="ko-KR" altLang="en-US" sz="700" dirty="0"/>
              <a:t>년 미만인 법인은 입찰참가자격제한 조치를 받은 사실이 없어야 함</a:t>
            </a:r>
            <a:r>
              <a:rPr lang="en-US" altLang="ko-KR" sz="700" dirty="0"/>
              <a:t>.</a:t>
            </a:r>
            <a:endParaRPr lang="ko-KR" altLang="en-US" sz="700" dirty="0"/>
          </a:p>
          <a:p>
            <a:pPr marL="228600" indent="-228600">
              <a:buFont typeface="+mj-lt"/>
              <a:buAutoNum type="arabicPeriod" startAt="6"/>
            </a:pPr>
            <a:endParaRPr lang="en-US" altLang="ko-KR" sz="700" dirty="0">
              <a:latin typeface="맑은 고딕" panose="020B0503020000020004" pitchFamily="50" charset="-127"/>
            </a:endParaRPr>
          </a:p>
          <a:p>
            <a:pPr marL="228600" indent="-228600">
              <a:buFont typeface="+mj-lt"/>
              <a:buAutoNum type="arabicPeriod" startAt="6"/>
            </a:pPr>
            <a:r>
              <a:rPr lang="ko-KR" altLang="en-US" sz="700" b="1" dirty="0"/>
              <a:t>용역입찰유의서 제</a:t>
            </a:r>
            <a:r>
              <a:rPr lang="en-US" altLang="ko-KR" sz="700" b="1" dirty="0"/>
              <a:t>6</a:t>
            </a:r>
            <a:r>
              <a:rPr lang="ko-KR" altLang="en-US" sz="700" b="1" dirty="0"/>
              <a:t>조 ④항 </a:t>
            </a:r>
            <a:r>
              <a:rPr lang="en-US" altLang="ko-KR" sz="700" b="1" dirty="0"/>
              <a:t>2</a:t>
            </a:r>
            <a:r>
              <a:rPr lang="ko-KR" altLang="en-US" sz="700" b="1" dirty="0"/>
              <a:t>호에 해당하는 법인</a:t>
            </a:r>
            <a:r>
              <a:rPr lang="en-US" altLang="ko-KR" sz="700" dirty="0"/>
              <a:t/>
            </a:r>
            <a:br>
              <a:rPr lang="en-US" altLang="ko-KR" sz="700" dirty="0"/>
            </a:br>
            <a:r>
              <a:rPr lang="ko-KR" altLang="en-US" sz="700" dirty="0" err="1"/>
              <a:t>계약예규</a:t>
            </a:r>
            <a:r>
              <a:rPr lang="ko-KR" altLang="en-US" sz="700" dirty="0"/>
              <a:t> 용역입찰유의서 제</a:t>
            </a:r>
            <a:r>
              <a:rPr lang="en-US" altLang="ko-KR" sz="700" dirty="0"/>
              <a:t>6</a:t>
            </a:r>
            <a:r>
              <a:rPr lang="ko-KR" altLang="en-US" sz="700" dirty="0"/>
              <a:t>조 ④항 </a:t>
            </a:r>
            <a:r>
              <a:rPr lang="en-US" altLang="ko-KR" sz="700" dirty="0"/>
              <a:t>2.</a:t>
            </a:r>
            <a:r>
              <a:rPr lang="ko-KR" altLang="en-US" sz="700" dirty="0"/>
              <a:t>「건설기술관리법」</a:t>
            </a:r>
            <a:r>
              <a:rPr lang="en-US" altLang="ko-KR" sz="700" dirty="0"/>
              <a:t>·</a:t>
            </a:r>
            <a:r>
              <a:rPr lang="ko-KR" altLang="en-US" sz="700" dirty="0"/>
              <a:t>「엔지니어링기술진흥법」 또는 「건설폐기물의 재활용촉진에 관한 법률」 등 해당 용역관련법령에 의하여 국가기관 등으로부터 면허</a:t>
            </a:r>
            <a:r>
              <a:rPr lang="en-US" altLang="ko-KR" sz="700" dirty="0"/>
              <a:t>·</a:t>
            </a:r>
            <a:r>
              <a:rPr lang="ko-KR" altLang="en-US" sz="700" dirty="0"/>
              <a:t>허가 등을 받았거나 등록</a:t>
            </a:r>
            <a:r>
              <a:rPr lang="en-US" altLang="ko-KR" sz="700" dirty="0"/>
              <a:t>·</a:t>
            </a:r>
            <a:r>
              <a:rPr lang="ko-KR" altLang="en-US" sz="700" dirty="0"/>
              <a:t>신고 등을 하고 해당 용역관련법령상의 사업</a:t>
            </a:r>
            <a:r>
              <a:rPr lang="en-US" altLang="ko-KR" sz="700" dirty="0"/>
              <a:t>(</a:t>
            </a:r>
            <a:r>
              <a:rPr lang="ko-KR" altLang="en-US" sz="700" dirty="0"/>
              <a:t>해당 용역과 관계없는 면허</a:t>
            </a:r>
            <a:r>
              <a:rPr lang="en-US" altLang="ko-KR" sz="700" dirty="0"/>
              <a:t>·</a:t>
            </a:r>
            <a:r>
              <a:rPr lang="ko-KR" altLang="en-US" sz="700" dirty="0"/>
              <a:t>허가</a:t>
            </a:r>
            <a:r>
              <a:rPr lang="en-US" altLang="ko-KR" sz="700" dirty="0"/>
              <a:t>·</a:t>
            </a:r>
            <a:r>
              <a:rPr lang="ko-KR" altLang="en-US" sz="700" dirty="0"/>
              <a:t>등록</a:t>
            </a:r>
            <a:r>
              <a:rPr lang="en-US" altLang="ko-KR" sz="700" dirty="0"/>
              <a:t>·</a:t>
            </a:r>
            <a:r>
              <a:rPr lang="ko-KR" altLang="en-US" sz="700" dirty="0"/>
              <a:t>신고 등도 해당 용역관련법령상의 면허</a:t>
            </a:r>
            <a:r>
              <a:rPr lang="en-US" altLang="ko-KR" sz="700" dirty="0"/>
              <a:t>·</a:t>
            </a:r>
            <a:r>
              <a:rPr lang="ko-KR" altLang="en-US" sz="700" dirty="0"/>
              <a:t>허가</a:t>
            </a:r>
            <a:r>
              <a:rPr lang="en-US" altLang="ko-KR" sz="700" dirty="0"/>
              <a:t>·</a:t>
            </a:r>
            <a:r>
              <a:rPr lang="ko-KR" altLang="en-US" sz="700" dirty="0"/>
              <a:t>등록</a:t>
            </a:r>
            <a:r>
              <a:rPr lang="en-US" altLang="ko-KR" sz="700" dirty="0"/>
              <a:t>·</a:t>
            </a:r>
            <a:r>
              <a:rPr lang="ko-KR" altLang="en-US" sz="700" dirty="0"/>
              <a:t>신고 등은 포함</a:t>
            </a:r>
            <a:r>
              <a:rPr lang="en-US" altLang="ko-KR" sz="700" dirty="0"/>
              <a:t>)</a:t>
            </a:r>
            <a:r>
              <a:rPr lang="ko-KR" altLang="en-US" sz="700" dirty="0"/>
              <a:t>을 입찰참가신청마감일 현재 영위하고 있는 법인이 입찰에 참가하는 경우</a:t>
            </a:r>
            <a:r>
              <a:rPr lang="en-US" altLang="ko-KR" sz="700" dirty="0"/>
              <a:t>. </a:t>
            </a:r>
            <a:r>
              <a:rPr lang="ko-KR" altLang="en-US" sz="700" dirty="0"/>
              <a:t>단</a:t>
            </a:r>
            <a:r>
              <a:rPr lang="en-US" altLang="ko-KR" sz="700" dirty="0"/>
              <a:t>, </a:t>
            </a:r>
            <a:r>
              <a:rPr lang="ko-KR" altLang="en-US" sz="700" dirty="0"/>
              <a:t>입찰신청마감일 현재 사업영위기간이 </a:t>
            </a:r>
            <a:r>
              <a:rPr lang="en-US" altLang="ko-KR" sz="700" dirty="0"/>
              <a:t>1</a:t>
            </a:r>
            <a:r>
              <a:rPr lang="ko-KR" altLang="en-US" sz="700" dirty="0"/>
              <a:t>년 미만인 법인은 입찰참가자격제한 조치를 받은 사실이 없어야 함</a:t>
            </a:r>
          </a:p>
          <a:p>
            <a:pPr marL="228600" indent="-228600">
              <a:buFont typeface="+mj-lt"/>
              <a:buAutoNum type="arabicPeriod" startAt="6"/>
            </a:pPr>
            <a:endParaRPr lang="ko-KR" altLang="en-US" sz="700" dirty="0"/>
          </a:p>
          <a:p>
            <a:pPr marL="228600" indent="-228600">
              <a:buFont typeface="+mj-lt"/>
              <a:buAutoNum type="arabicPeriod" startAt="6"/>
            </a:pPr>
            <a:endParaRPr lang="en-US" altLang="ko-KR" sz="700" dirty="0">
              <a:latin typeface="맑은 고딕" panose="020B0503020000020004" pitchFamily="50" charset="-127"/>
            </a:endParaRPr>
          </a:p>
        </p:txBody>
      </p:sp>
      <p:grpSp>
        <p:nvGrpSpPr>
          <p:cNvPr id="211" name="그룹 210"/>
          <p:cNvGrpSpPr/>
          <p:nvPr/>
        </p:nvGrpSpPr>
        <p:grpSpPr>
          <a:xfrm>
            <a:off x="3793783" y="5614711"/>
            <a:ext cx="2712027" cy="617588"/>
            <a:chOff x="675399" y="5614711"/>
            <a:chExt cx="2712027" cy="617588"/>
          </a:xfrm>
        </p:grpSpPr>
        <p:sp>
          <p:nvSpPr>
            <p:cNvPr id="213" name="직사각형 21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229" name="TextBox 228">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34" name="타원 33">
            <a:extLst>
              <a:ext uri="{FF2B5EF4-FFF2-40B4-BE49-F238E27FC236}">
                <a16:creationId xmlns:a16="http://schemas.microsoft.com/office/drawing/2014/main" id="{37A7FF4F-0EAA-1463-560A-D5EC24416103}"/>
              </a:ext>
            </a:extLst>
          </p:cNvPr>
          <p:cNvSpPr/>
          <p:nvPr/>
        </p:nvSpPr>
        <p:spPr>
          <a:xfrm>
            <a:off x="589334" y="173061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6304647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102</a:t>
            </a:fld>
            <a:endParaRPr lang="ko-KR" altLang="en-US" dirty="0"/>
          </a:p>
        </p:txBody>
      </p:sp>
      <p:sp>
        <p:nvSpPr>
          <p:cNvPr id="2" name="TextBox 1">
            <a:extLst>
              <a:ext uri="{FF2B5EF4-FFF2-40B4-BE49-F238E27FC236}">
                <a16:creationId xmlns:a16="http://schemas.microsoft.com/office/drawing/2014/main" id="{CD839BCC-0B82-C9C8-B72C-43CB65CE08CA}"/>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1.</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A426CE47-88B3-C60D-B868-5ED3F63FB2D4}"/>
              </a:ext>
            </a:extLst>
          </p:cNvPr>
          <p:cNvGraphicFramePr>
            <a:graphicFrameLocks noGrp="1"/>
          </p:cNvGraphicFramePr>
          <p:nvPr/>
        </p:nvGraphicFramePr>
        <p:xfrm>
          <a:off x="453000" y="1039042"/>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t>보증금면제사유상세설명</a:t>
                      </a:r>
                      <a:r>
                        <a:rPr lang="ko-KR" altLang="en-US" sz="800" dirty="0">
                          <a:latin typeface="+mn-ea"/>
                          <a:ea typeface="+mn-ea"/>
                        </a:rPr>
                        <a:t> 팝업 화면 종료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Box 73">
            <a:extLst>
              <a:ext uri="{FF2B5EF4-FFF2-40B4-BE49-F238E27FC236}">
                <a16:creationId xmlns:a16="http://schemas.microsoft.com/office/drawing/2014/main" id="{3D34012B-4E55-6917-169D-4D32D7A384FC}"/>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65583340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공동수급업체 정보 입력</a:t>
            </a:r>
            <a:r>
              <a:rPr lang="en-US" altLang="ko-KR" dirty="0"/>
              <a:t/>
            </a:r>
            <a:br>
              <a:rPr lang="en-US" altLang="ko-KR" dirty="0"/>
            </a:br>
            <a:r>
              <a:rPr lang="ko-KR" altLang="en-US" dirty="0" err="1"/>
              <a:t>입력항목은</a:t>
            </a:r>
            <a:r>
              <a:rPr lang="ko-KR" altLang="en-US" dirty="0"/>
              <a:t> </a:t>
            </a:r>
            <a:r>
              <a:rPr lang="en-US" altLang="ko-KR" dirty="0"/>
              <a:t>input</a:t>
            </a:r>
            <a:r>
              <a:rPr lang="ko-KR" altLang="en-US" dirty="0"/>
              <a:t>으로 처리</a:t>
            </a:r>
            <a:r>
              <a:rPr lang="en-US" altLang="ko-KR" dirty="0"/>
              <a:t/>
            </a:r>
            <a:br>
              <a:rPr lang="en-US" altLang="ko-KR" dirty="0"/>
            </a:br>
            <a:r>
              <a:rPr lang="ko-KR" altLang="en-US" dirty="0"/>
              <a:t>대표 업체는 업체 삭제 불가</a:t>
            </a:r>
            <a:r>
              <a:rPr lang="en-US" altLang="ko-KR" dirty="0"/>
              <a:t/>
            </a:r>
            <a:br>
              <a:rPr lang="en-US" altLang="ko-KR" dirty="0"/>
            </a:br>
            <a:r>
              <a:rPr lang="en-US" altLang="ko-KR" dirty="0"/>
              <a:t>- </a:t>
            </a:r>
            <a:r>
              <a:rPr lang="ko-KR" altLang="en-US" dirty="0"/>
              <a:t>단일 업체는 동의</a:t>
            </a:r>
            <a:r>
              <a:rPr lang="en-US" altLang="ko-KR" dirty="0"/>
              <a:t>, </a:t>
            </a:r>
            <a:r>
              <a:rPr lang="ko-KR" altLang="en-US" dirty="0"/>
              <a:t>업체 삭제 숨김</a:t>
            </a:r>
            <a:r>
              <a:rPr lang="en-US" altLang="ko-KR" dirty="0"/>
              <a:t/>
            </a:r>
            <a:br>
              <a:rPr lang="en-US" altLang="ko-KR" dirty="0"/>
            </a:br>
            <a:r>
              <a:rPr lang="ko-KR" altLang="en-US" dirty="0"/>
              <a:t>앞서 입력된 항목이 있는 경우 그 값 표시 </a:t>
            </a:r>
            <a:r>
              <a:rPr lang="en-US" altLang="ko-KR" dirty="0"/>
              <a:t>(</a:t>
            </a:r>
            <a:r>
              <a:rPr lang="ko-KR" altLang="en-US" dirty="0"/>
              <a:t>입찰보증금 등</a:t>
            </a:r>
            <a:r>
              <a:rPr lang="en-US" altLang="ko-KR" dirty="0"/>
              <a:t>)</a:t>
            </a:r>
            <a:br>
              <a:rPr lang="en-US" altLang="ko-KR" dirty="0"/>
            </a:br>
            <a:endParaRPr lang="en-US" altLang="ko-KR" dirty="0"/>
          </a:p>
          <a:p>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공동수급업체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a:latin typeface="+mn-ea"/>
              </a:rPr>
              <a:t>공동수급업체 입력</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공동수급업체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MUI-BD-04-M10</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345885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612546"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88487" y="2201247"/>
            <a:ext cx="555764"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입찰보증금</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956375" y="2201247"/>
            <a:ext cx="655640" cy="107722"/>
          </a:xfrm>
          <a:prstGeom prst="rect">
            <a:avLst/>
          </a:prstGeom>
          <a:noFill/>
        </p:spPr>
        <p:txBody>
          <a:bodyPr wrap="square" lIns="0" tIns="0" rIns="0" bIns="0" rtlCol="0">
            <a:spAutoFit/>
          </a:bodyPr>
          <a:lstStyle/>
          <a:p>
            <a:pPr algn="ctr"/>
            <a:r>
              <a:rPr lang="en-US" altLang="ko-KR" sz="700" b="1" dirty="0">
                <a:latin typeface="+mn-ea"/>
              </a:rPr>
              <a:t>5. </a:t>
            </a:r>
            <a:r>
              <a:rPr lang="ko-KR" altLang="en-US" sz="700" b="1" dirty="0">
                <a:latin typeface="+mn-ea"/>
              </a:rPr>
              <a:t>공동수급업체</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624138" y="2201247"/>
            <a:ext cx="483262"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944251" y="2417854"/>
            <a:ext cx="6798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65" name="TextBox 164">
            <a:extLst>
              <a:ext uri="{FF2B5EF4-FFF2-40B4-BE49-F238E27FC236}">
                <a16:creationId xmlns:a16="http://schemas.microsoft.com/office/drawing/2014/main" id="{FFC49AEA-2A8F-250C-A86A-A7751D9706C3}"/>
              </a:ext>
            </a:extLst>
          </p:cNvPr>
          <p:cNvSpPr txBox="1"/>
          <p:nvPr/>
        </p:nvSpPr>
        <p:spPr>
          <a:xfrm>
            <a:off x="781109" y="3418371"/>
            <a:ext cx="2451575" cy="181140"/>
          </a:xfrm>
          <a:prstGeom prst="rect">
            <a:avLst/>
          </a:prstGeom>
          <a:noFill/>
        </p:spPr>
        <p:txBody>
          <a:bodyPr wrap="square" lIns="0" tIns="0" rIns="0" bIns="0" rtlCol="0">
            <a:spAutoFit/>
          </a:bodyPr>
          <a:lstStyle/>
          <a:p>
            <a:pPr>
              <a:lnSpc>
                <a:spcPct val="200000"/>
              </a:lnSpc>
            </a:pPr>
            <a:r>
              <a:rPr lang="ko-KR" altLang="en-US" sz="700" dirty="0">
                <a:latin typeface="+mn-ea"/>
              </a:rPr>
              <a:t>공동수급업체 </a:t>
            </a:r>
            <a:r>
              <a:rPr lang="en-US" altLang="ko-KR" sz="700" dirty="0">
                <a:latin typeface="+mn-ea"/>
              </a:rPr>
              <a:t>– </a:t>
            </a:r>
            <a:r>
              <a:rPr lang="ko-KR" altLang="en-US" sz="700" dirty="0">
                <a:latin typeface="+mn-ea"/>
              </a:rPr>
              <a:t>최대 </a:t>
            </a:r>
            <a:r>
              <a:rPr lang="ko-KR" altLang="en-US" sz="700" dirty="0" err="1">
                <a:latin typeface="+mn-ea"/>
              </a:rPr>
              <a:t>협정업체</a:t>
            </a:r>
            <a:r>
              <a:rPr lang="ko-KR" altLang="en-US" sz="700" dirty="0">
                <a:latin typeface="+mn-ea"/>
              </a:rPr>
              <a:t> 수 </a:t>
            </a:r>
            <a:r>
              <a:rPr lang="en-US" altLang="ko-KR" sz="700" dirty="0">
                <a:latin typeface="+mn-ea"/>
              </a:rPr>
              <a:t>: </a:t>
            </a:r>
            <a:r>
              <a:rPr lang="en-US" altLang="ko-KR" sz="700" dirty="0">
                <a:solidFill>
                  <a:srgbClr val="FF0000"/>
                </a:solidFill>
                <a:latin typeface="+mn-ea"/>
              </a:rPr>
              <a:t>3</a:t>
            </a:r>
            <a:r>
              <a:rPr lang="en-US" altLang="ko-KR" sz="700" dirty="0">
                <a:latin typeface="+mn-ea"/>
              </a:rPr>
              <a:t> (</a:t>
            </a:r>
            <a:r>
              <a:rPr lang="ko-KR" altLang="en-US" sz="700" dirty="0" err="1">
                <a:latin typeface="+mn-ea"/>
              </a:rPr>
              <a:t>대표업체</a:t>
            </a:r>
            <a:r>
              <a:rPr lang="en-US" altLang="ko-KR" sz="700" dirty="0">
                <a:latin typeface="+mn-ea"/>
              </a:rPr>
              <a:t>+</a:t>
            </a:r>
            <a:r>
              <a:rPr lang="ko-KR" altLang="en-US" sz="700" dirty="0" err="1">
                <a:latin typeface="+mn-ea"/>
              </a:rPr>
              <a:t>구성업체수</a:t>
            </a:r>
            <a:r>
              <a:rPr lang="en-US" altLang="ko-KR" sz="700" dirty="0">
                <a:latin typeface="+mn-ea"/>
              </a:rPr>
              <a:t>) </a:t>
            </a:r>
            <a:endParaRPr lang="ko-KR" altLang="en-US" sz="700" dirty="0">
              <a:latin typeface="+mn-ea"/>
            </a:endParaRPr>
          </a:p>
        </p:txBody>
      </p:sp>
      <p:sp>
        <p:nvSpPr>
          <p:cNvPr id="169" name="직사각형 168"/>
          <p:cNvSpPr/>
          <p:nvPr/>
        </p:nvSpPr>
        <p:spPr>
          <a:xfrm>
            <a:off x="722232" y="3725857"/>
            <a:ext cx="792000" cy="21369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725856"/>
            <a:ext cx="725552" cy="2154436"/>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공동수급업체</a:t>
            </a:r>
            <a:endParaRPr lang="en-US" altLang="ko-KR" sz="700" dirty="0">
              <a:latin typeface="+mn-ea"/>
            </a:endParaRPr>
          </a:p>
          <a:p>
            <a:pPr>
              <a:lnSpc>
                <a:spcPct val="200000"/>
              </a:lnSpc>
            </a:pPr>
            <a:r>
              <a:rPr lang="ko-KR" altLang="en-US" sz="700" dirty="0" err="1">
                <a:latin typeface="+mn-ea"/>
              </a:rPr>
              <a:t>이행방식</a:t>
            </a:r>
            <a:endParaRPr lang="en-US" altLang="ko-KR" sz="700" dirty="0">
              <a:latin typeface="+mn-ea"/>
            </a:endParaRPr>
          </a:p>
          <a:p>
            <a:pPr>
              <a:lnSpc>
                <a:spcPct val="200000"/>
              </a:lnSpc>
            </a:pPr>
            <a:r>
              <a:rPr lang="ko-KR" altLang="en-US" sz="700" dirty="0">
                <a:latin typeface="+mn-ea"/>
              </a:rPr>
              <a:t>공동분담업종</a:t>
            </a:r>
            <a:endParaRPr lang="en-US" altLang="ko-KR" sz="700" dirty="0">
              <a:latin typeface="+mn-ea"/>
            </a:endParaRPr>
          </a:p>
          <a:p>
            <a:pPr>
              <a:lnSpc>
                <a:spcPct val="200000"/>
              </a:lnSpc>
            </a:pPr>
            <a:r>
              <a:rPr lang="ko-KR" altLang="en-US" sz="700" dirty="0">
                <a:latin typeface="+mn-ea"/>
              </a:rPr>
              <a:t>출자비율</a:t>
            </a:r>
            <a:endParaRPr lang="en-US" altLang="ko-KR" sz="700" dirty="0">
              <a:latin typeface="+mn-ea"/>
            </a:endParaRPr>
          </a:p>
          <a:p>
            <a:pPr>
              <a:lnSpc>
                <a:spcPct val="200000"/>
              </a:lnSpc>
            </a:pPr>
            <a:r>
              <a:rPr lang="ko-KR" altLang="en-US" sz="700" dirty="0">
                <a:latin typeface="+mn-ea"/>
              </a:rPr>
              <a:t>입찰보증금</a:t>
            </a:r>
            <a:endParaRPr lang="en-US" altLang="ko-KR" sz="700" dirty="0">
              <a:latin typeface="+mn-ea"/>
            </a:endParaRPr>
          </a:p>
          <a:p>
            <a:pPr>
              <a:lnSpc>
                <a:spcPct val="200000"/>
              </a:lnSpc>
            </a:pPr>
            <a:r>
              <a:rPr lang="ko-KR" altLang="en-US" sz="700" dirty="0">
                <a:latin typeface="+mn-ea"/>
              </a:rPr>
              <a:t>납부방법</a:t>
            </a:r>
            <a:endParaRPr lang="en-US" altLang="ko-KR" sz="700" dirty="0">
              <a:latin typeface="+mn-ea"/>
            </a:endParaRPr>
          </a:p>
          <a:p>
            <a:pPr>
              <a:lnSpc>
                <a:spcPct val="200000"/>
              </a:lnSpc>
            </a:pPr>
            <a:r>
              <a:rPr lang="ko-KR" altLang="en-US" sz="700" dirty="0">
                <a:latin typeface="+mn-ea"/>
              </a:rPr>
              <a:t>시공능력평가액</a:t>
            </a:r>
            <a:endParaRPr lang="en-US" altLang="ko-KR" sz="700" dirty="0">
              <a:latin typeface="+mn-ea"/>
            </a:endParaRPr>
          </a:p>
          <a:p>
            <a:pPr>
              <a:lnSpc>
                <a:spcPct val="200000"/>
              </a:lnSpc>
            </a:pPr>
            <a:r>
              <a:rPr lang="ko-KR" altLang="en-US" sz="700" dirty="0">
                <a:latin typeface="+mn-ea"/>
              </a:rPr>
              <a:t>동의여부</a:t>
            </a:r>
            <a:endParaRPr lang="en-US" altLang="ko-KR" sz="700" dirty="0">
              <a:latin typeface="+mn-ea"/>
            </a:endParaRPr>
          </a:p>
          <a:p>
            <a:pPr>
              <a:lnSpc>
                <a:spcPct val="200000"/>
              </a:lnSpc>
            </a:pPr>
            <a:r>
              <a:rPr lang="ko-KR" altLang="en-US" sz="700" dirty="0">
                <a:latin typeface="+mn-ea"/>
              </a:rPr>
              <a:t>업체 삭제</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725856"/>
            <a:ext cx="1784088" cy="1723549"/>
          </a:xfrm>
          <a:prstGeom prst="rect">
            <a:avLst/>
          </a:prstGeom>
          <a:noFill/>
        </p:spPr>
        <p:txBody>
          <a:bodyPr wrap="square" lIns="0" tIns="0" rIns="0" bIns="0" rtlCol="0">
            <a:spAutoFit/>
          </a:bodyPr>
          <a:lstStyle/>
          <a:p>
            <a:pPr>
              <a:lnSpc>
                <a:spcPct val="200000"/>
              </a:lnSpc>
            </a:pPr>
            <a:r>
              <a:rPr lang="ko-KR" altLang="en-US" sz="700" dirty="0">
                <a:latin typeface="+mn-ea"/>
              </a:rPr>
              <a:t>대표</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gn="r">
              <a:lnSpc>
                <a:spcPct val="200000"/>
              </a:lnSpc>
            </a:pPr>
            <a:r>
              <a:rPr lang="en-US" altLang="ko-KR" sz="700" dirty="0">
                <a:latin typeface="+mn-ea"/>
              </a:rPr>
              <a:t>60 %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endParaRPr lang="en-US" altLang="ko-KR" sz="700" b="1"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172" name="그룹 171"/>
          <p:cNvGrpSpPr/>
          <p:nvPr/>
        </p:nvGrpSpPr>
        <p:grpSpPr>
          <a:xfrm>
            <a:off x="720139" y="3725856"/>
            <a:ext cx="2630093" cy="2145714"/>
            <a:chOff x="701175" y="1835481"/>
            <a:chExt cx="2630093" cy="2145714"/>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701175" y="33605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01175" y="35715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37701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1175" y="39811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9" name="모서리가 둥근 직사각형 108"/>
          <p:cNvSpPr/>
          <p:nvPr/>
        </p:nvSpPr>
        <p:spPr>
          <a:xfrm>
            <a:off x="705041" y="2534410"/>
            <a:ext cx="2652743" cy="829567"/>
          </a:xfrm>
          <a:prstGeom prst="roundRect">
            <a:avLst>
              <a:gd name="adj" fmla="val 12550"/>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3811" y="2632694"/>
            <a:ext cx="2475203" cy="646331"/>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r>
              <a:rPr lang="ko-KR" altLang="en-US" sz="700" dirty="0" err="1">
                <a:latin typeface="맑은 고딕" panose="020B0503020000020004" pitchFamily="50" charset="-127"/>
              </a:rPr>
              <a:t>공동수급인</a:t>
            </a:r>
            <a:r>
              <a:rPr lang="ko-KR" altLang="en-US" sz="700" dirty="0">
                <a:latin typeface="맑은 고딕" panose="020B0503020000020004" pitchFamily="50" charset="-127"/>
              </a:rPr>
              <a:t> 경우 공동수급업체란에 입찰참가신청업체</a:t>
            </a:r>
            <a:r>
              <a:rPr lang="en-US" altLang="ko-KR" sz="700" dirty="0">
                <a:latin typeface="맑은 고딕" panose="020B0503020000020004" pitchFamily="50" charset="-127"/>
              </a:rPr>
              <a:t>(</a:t>
            </a:r>
            <a:r>
              <a:rPr lang="ko-KR" altLang="en-US" sz="700" dirty="0" err="1">
                <a:latin typeface="맑은 고딕" panose="020B0503020000020004" pitchFamily="50" charset="-127"/>
              </a:rPr>
              <a:t>대표업체</a:t>
            </a:r>
            <a:r>
              <a:rPr lang="ko-KR" altLang="en-US" sz="700" dirty="0">
                <a:latin typeface="맑은 고딕" panose="020B0503020000020004" pitchFamily="50" charset="-127"/>
              </a:rPr>
              <a:t> 및 </a:t>
            </a:r>
            <a:r>
              <a:rPr lang="ko-KR" altLang="en-US" sz="700" dirty="0" err="1">
                <a:latin typeface="맑은 고딕" panose="020B0503020000020004" pitchFamily="50" charset="-127"/>
              </a:rPr>
              <a:t>구성업체</a:t>
            </a:r>
            <a:r>
              <a:rPr lang="en-US" altLang="ko-KR" sz="700" dirty="0">
                <a:latin typeface="맑은 고딕" panose="020B0503020000020004" pitchFamily="50" charset="-127"/>
              </a:rPr>
              <a:t>)</a:t>
            </a:r>
            <a:r>
              <a:rPr lang="ko-KR" altLang="en-US" sz="700" dirty="0">
                <a:latin typeface="맑은 고딕" panose="020B0503020000020004" pitchFamily="50" charset="-127"/>
              </a:rPr>
              <a:t>도 </a:t>
            </a:r>
            <a:r>
              <a:rPr lang="en-US" altLang="ko-KR" sz="700" dirty="0">
                <a:latin typeface="맑은 고딕" panose="020B0503020000020004" pitchFamily="50" charset="-127"/>
              </a:rPr>
              <a:t>[</a:t>
            </a:r>
            <a:r>
              <a:rPr lang="ko-KR" altLang="en-US" sz="700" dirty="0">
                <a:latin typeface="맑은 고딕" panose="020B0503020000020004" pitchFamily="50" charset="-127"/>
              </a:rPr>
              <a:t>추가</a:t>
            </a:r>
            <a:r>
              <a:rPr lang="en-US" altLang="ko-KR" sz="700" dirty="0">
                <a:latin typeface="맑은 고딕" panose="020B0503020000020004" pitchFamily="50" charset="-127"/>
              </a:rPr>
              <a:t>] </a:t>
            </a:r>
            <a:r>
              <a:rPr lang="ko-KR" altLang="en-US" sz="700" dirty="0">
                <a:latin typeface="맑은 고딕" panose="020B0503020000020004" pitchFamily="50" charset="-127"/>
              </a:rPr>
              <a:t>시켜야 합니다</a:t>
            </a:r>
            <a:r>
              <a:rPr lang="en-US" altLang="ko-KR" sz="700" dirty="0">
                <a:latin typeface="맑은 고딕" panose="020B0503020000020004" pitchFamily="50" charset="-127"/>
              </a:rPr>
              <a:t>.</a:t>
            </a:r>
          </a:p>
          <a:p>
            <a:r>
              <a:rPr lang="ko-KR" altLang="en-US" sz="700" dirty="0" err="1">
                <a:solidFill>
                  <a:srgbClr val="FF0000"/>
                </a:solidFill>
                <a:latin typeface="+mn-ea"/>
              </a:rPr>
              <a:t>구성업체</a:t>
            </a:r>
            <a:r>
              <a:rPr lang="ko-KR" altLang="en-US" sz="700" dirty="0">
                <a:solidFill>
                  <a:srgbClr val="FF0000"/>
                </a:solidFill>
                <a:latin typeface="+mn-ea"/>
              </a:rPr>
              <a:t> 제출서류는 </a:t>
            </a:r>
            <a:r>
              <a:rPr lang="ko-KR" altLang="en-US" sz="700" dirty="0" err="1">
                <a:solidFill>
                  <a:srgbClr val="FF0000"/>
                </a:solidFill>
                <a:latin typeface="+mn-ea"/>
              </a:rPr>
              <a:t>대표업체가</a:t>
            </a:r>
            <a:r>
              <a:rPr lang="ko-KR" altLang="en-US" sz="700" dirty="0">
                <a:solidFill>
                  <a:srgbClr val="FF0000"/>
                </a:solidFill>
                <a:latin typeface="+mn-ea"/>
              </a:rPr>
              <a:t> 참가신청서 제출시 </a:t>
            </a:r>
            <a:r>
              <a:rPr lang="ko-KR" altLang="en-US" sz="700" dirty="0" err="1">
                <a:solidFill>
                  <a:srgbClr val="FF0000"/>
                </a:solidFill>
                <a:latin typeface="+mn-ea"/>
              </a:rPr>
              <a:t>첨부해야합니다</a:t>
            </a:r>
            <a:r>
              <a:rPr lang="en-US" altLang="ko-KR" sz="700" dirty="0">
                <a:solidFill>
                  <a:srgbClr val="FF0000"/>
                </a:solidFill>
                <a:latin typeface="+mn-ea"/>
              </a:rPr>
              <a:t>. </a:t>
            </a:r>
          </a:p>
        </p:txBody>
      </p:sp>
      <p:sp>
        <p:nvSpPr>
          <p:cNvPr id="111" name="타원 110"/>
          <p:cNvSpPr/>
          <p:nvPr/>
        </p:nvSpPr>
        <p:spPr>
          <a:xfrm>
            <a:off x="789853" y="262304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2" name="그룹 111"/>
          <p:cNvGrpSpPr/>
          <p:nvPr/>
        </p:nvGrpSpPr>
        <p:grpSpPr>
          <a:xfrm flipV="1">
            <a:off x="3138674" y="2671541"/>
            <a:ext cx="94010" cy="47005"/>
            <a:chOff x="6812560" y="3297172"/>
            <a:chExt cx="94010" cy="47005"/>
          </a:xfrm>
        </p:grpSpPr>
        <p:cxnSp>
          <p:nvCxnSpPr>
            <p:cNvPr id="113" name="직선 연결선 1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1" name="사각형: 둥근 모서리 15">
            <a:extLst>
              <a:ext uri="{FF2B5EF4-FFF2-40B4-BE49-F238E27FC236}">
                <a16:creationId xmlns:a16="http://schemas.microsoft.com/office/drawing/2014/main" id="{E2B61CFB-AD16-68D0-8752-50D9C5E01971}"/>
              </a:ext>
            </a:extLst>
          </p:cNvPr>
          <p:cNvSpPr/>
          <p:nvPr/>
        </p:nvSpPr>
        <p:spPr>
          <a:xfrm>
            <a:off x="1561065" y="3969077"/>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선택해주세요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1561065" y="5683615"/>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06" name="타원 105"/>
          <p:cNvSpPr/>
          <p:nvPr/>
        </p:nvSpPr>
        <p:spPr>
          <a:xfrm>
            <a:off x="3124518" y="3978077"/>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8" name="사각형: 둥근 모서리 15">
            <a:extLst>
              <a:ext uri="{FF2B5EF4-FFF2-40B4-BE49-F238E27FC236}">
                <a16:creationId xmlns:a16="http://schemas.microsoft.com/office/drawing/2014/main" id="{E2B61CFB-AD16-68D0-8752-50D9C5E01971}"/>
              </a:ext>
            </a:extLst>
          </p:cNvPr>
          <p:cNvSpPr/>
          <p:nvPr/>
        </p:nvSpPr>
        <p:spPr>
          <a:xfrm>
            <a:off x="3825376" y="4699187"/>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en-US" altLang="ko-KR" sz="800" kern="0" dirty="0">
                <a:latin typeface="맑은 고딕"/>
                <a:ea typeface="맑은 고딕" panose="020B0503020000020004" pitchFamily="50" charset="-127"/>
              </a:rPr>
              <a:t>+ </a:t>
            </a:r>
            <a:r>
              <a:rPr kumimoji="1" lang="ko-KR" altLang="en-US" sz="800" kern="0" dirty="0">
                <a:latin typeface="맑은 고딕"/>
                <a:ea typeface="맑은 고딕" panose="020B0503020000020004" pitchFamily="50" charset="-127"/>
              </a:rPr>
              <a:t>추가하기</a:t>
            </a:r>
            <a:endParaRPr kumimoji="1" lang="en-US" sz="800" b="0" i="0" u="none" strike="noStrike" kern="0" cap="none" spc="0" normalizeH="0" baseline="0" noProof="0" dirty="0">
              <a:ln>
                <a:noFill/>
              </a:ln>
              <a:effectLst/>
              <a:uLnTx/>
              <a:uFillTx/>
              <a:latin typeface="맑은 고딕"/>
            </a:endParaRPr>
          </a:p>
        </p:txBody>
      </p:sp>
      <p:sp>
        <p:nvSpPr>
          <p:cNvPr id="150" name="사각형: 둥근 모서리 15">
            <a:extLst>
              <a:ext uri="{FF2B5EF4-FFF2-40B4-BE49-F238E27FC236}">
                <a16:creationId xmlns:a16="http://schemas.microsoft.com/office/drawing/2014/main" id="{E2B61CFB-AD16-68D0-8752-50D9C5E01971}"/>
              </a:ext>
            </a:extLst>
          </p:cNvPr>
          <p:cNvSpPr/>
          <p:nvPr/>
        </p:nvSpPr>
        <p:spPr>
          <a:xfrm>
            <a:off x="1561065" y="4615710"/>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51" name="사각형: 둥근 모서리 15">
            <a:extLst>
              <a:ext uri="{FF2B5EF4-FFF2-40B4-BE49-F238E27FC236}">
                <a16:creationId xmlns:a16="http://schemas.microsoft.com/office/drawing/2014/main" id="{E2B61CFB-AD16-68D0-8752-50D9C5E01971}"/>
              </a:ext>
            </a:extLst>
          </p:cNvPr>
          <p:cNvSpPr/>
          <p:nvPr/>
        </p:nvSpPr>
        <p:spPr>
          <a:xfrm>
            <a:off x="1561065" y="5474669"/>
            <a:ext cx="1780918"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a:solidFill>
                  <a:srgbClr val="0070C0"/>
                </a:solidFill>
                <a:latin typeface="맑은 고딕"/>
                <a:ea typeface="맑은 고딕" panose="020B0503020000020004" pitchFamily="50" charset="-127"/>
              </a:rPr>
              <a:t>동의하기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55" name="직사각형 154"/>
          <p:cNvSpPr/>
          <p:nvPr/>
        </p:nvSpPr>
        <p:spPr>
          <a:xfrm>
            <a:off x="3837098" y="2488668"/>
            <a:ext cx="792000" cy="21369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3924161" y="2488667"/>
            <a:ext cx="725552" cy="2154436"/>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공동수급업체</a:t>
            </a:r>
            <a:endParaRPr lang="en-US" altLang="ko-KR" sz="700" dirty="0">
              <a:latin typeface="+mn-ea"/>
            </a:endParaRPr>
          </a:p>
          <a:p>
            <a:pPr>
              <a:lnSpc>
                <a:spcPct val="200000"/>
              </a:lnSpc>
            </a:pPr>
            <a:r>
              <a:rPr lang="ko-KR" altLang="en-US" sz="700" dirty="0" err="1">
                <a:latin typeface="+mn-ea"/>
              </a:rPr>
              <a:t>이행방식</a:t>
            </a:r>
            <a:endParaRPr lang="en-US" altLang="ko-KR" sz="700" dirty="0">
              <a:latin typeface="+mn-ea"/>
            </a:endParaRPr>
          </a:p>
          <a:p>
            <a:pPr>
              <a:lnSpc>
                <a:spcPct val="200000"/>
              </a:lnSpc>
            </a:pPr>
            <a:r>
              <a:rPr lang="ko-KR" altLang="en-US" sz="700" dirty="0">
                <a:latin typeface="+mn-ea"/>
              </a:rPr>
              <a:t>공동분담업종</a:t>
            </a:r>
            <a:endParaRPr lang="en-US" altLang="ko-KR" sz="700" dirty="0">
              <a:latin typeface="+mn-ea"/>
            </a:endParaRPr>
          </a:p>
          <a:p>
            <a:pPr>
              <a:lnSpc>
                <a:spcPct val="200000"/>
              </a:lnSpc>
            </a:pPr>
            <a:r>
              <a:rPr lang="ko-KR" altLang="en-US" sz="700" dirty="0">
                <a:latin typeface="+mn-ea"/>
              </a:rPr>
              <a:t>출자비율</a:t>
            </a:r>
            <a:endParaRPr lang="en-US" altLang="ko-KR" sz="700" dirty="0">
              <a:latin typeface="+mn-ea"/>
            </a:endParaRPr>
          </a:p>
          <a:p>
            <a:pPr>
              <a:lnSpc>
                <a:spcPct val="200000"/>
              </a:lnSpc>
            </a:pPr>
            <a:r>
              <a:rPr lang="ko-KR" altLang="en-US" sz="700" dirty="0">
                <a:latin typeface="+mn-ea"/>
              </a:rPr>
              <a:t>입찰보증금</a:t>
            </a:r>
            <a:endParaRPr lang="en-US" altLang="ko-KR" sz="700" dirty="0">
              <a:latin typeface="+mn-ea"/>
            </a:endParaRPr>
          </a:p>
          <a:p>
            <a:pPr>
              <a:lnSpc>
                <a:spcPct val="200000"/>
              </a:lnSpc>
            </a:pPr>
            <a:r>
              <a:rPr lang="ko-KR" altLang="en-US" sz="700" dirty="0">
                <a:latin typeface="+mn-ea"/>
              </a:rPr>
              <a:t>납부방법</a:t>
            </a:r>
            <a:endParaRPr lang="en-US" altLang="ko-KR" sz="700" dirty="0">
              <a:latin typeface="+mn-ea"/>
            </a:endParaRPr>
          </a:p>
          <a:p>
            <a:pPr>
              <a:lnSpc>
                <a:spcPct val="200000"/>
              </a:lnSpc>
            </a:pPr>
            <a:r>
              <a:rPr lang="ko-KR" altLang="en-US" sz="700" dirty="0">
                <a:latin typeface="+mn-ea"/>
              </a:rPr>
              <a:t>시공능력평가액</a:t>
            </a:r>
            <a:endParaRPr lang="en-US" altLang="ko-KR" sz="700" dirty="0">
              <a:latin typeface="+mn-ea"/>
            </a:endParaRPr>
          </a:p>
          <a:p>
            <a:pPr>
              <a:lnSpc>
                <a:spcPct val="200000"/>
              </a:lnSpc>
            </a:pPr>
            <a:r>
              <a:rPr lang="ko-KR" altLang="en-US" sz="700" dirty="0">
                <a:latin typeface="+mn-ea"/>
              </a:rPr>
              <a:t>동의여부</a:t>
            </a:r>
            <a:endParaRPr lang="en-US" altLang="ko-KR" sz="700" dirty="0">
              <a:latin typeface="+mn-ea"/>
            </a:endParaRPr>
          </a:p>
          <a:p>
            <a:pPr>
              <a:lnSpc>
                <a:spcPct val="200000"/>
              </a:lnSpc>
            </a:pPr>
            <a:r>
              <a:rPr lang="ko-KR" altLang="en-US" sz="700" dirty="0">
                <a:latin typeface="+mn-ea"/>
              </a:rPr>
              <a:t>업체 삭제</a:t>
            </a:r>
            <a:endParaRPr lang="en-US" altLang="ko-KR"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4681010" y="2488667"/>
            <a:ext cx="1784088" cy="1723549"/>
          </a:xfrm>
          <a:prstGeom prst="rect">
            <a:avLst/>
          </a:prstGeom>
          <a:noFill/>
        </p:spPr>
        <p:txBody>
          <a:bodyPr wrap="square" lIns="0" tIns="0" rIns="0" bIns="0" rtlCol="0">
            <a:spAutoFit/>
          </a:bodyPr>
          <a:lstStyle/>
          <a:p>
            <a:pPr>
              <a:lnSpc>
                <a:spcPct val="200000"/>
              </a:lnSpc>
            </a:pPr>
            <a:r>
              <a:rPr lang="ko-KR" altLang="en-US" sz="700" dirty="0">
                <a:latin typeface="+mn-ea"/>
              </a:rPr>
              <a:t>구성</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gn="r">
              <a:lnSpc>
                <a:spcPct val="200000"/>
              </a:lnSpc>
            </a:pPr>
            <a:r>
              <a:rPr lang="en-US" altLang="ko-KR" sz="700" dirty="0">
                <a:latin typeface="+mn-ea"/>
              </a:rPr>
              <a:t>60 %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endParaRPr lang="en-US" altLang="ko-KR" sz="700" b="1"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158" name="그룹 157"/>
          <p:cNvGrpSpPr/>
          <p:nvPr/>
        </p:nvGrpSpPr>
        <p:grpSpPr>
          <a:xfrm>
            <a:off x="3835005" y="2488667"/>
            <a:ext cx="2630093" cy="2145714"/>
            <a:chOff x="701175" y="1835481"/>
            <a:chExt cx="2630093" cy="2145714"/>
          </a:xfrm>
        </p:grpSpPr>
        <p:cxnSp>
          <p:nvCxnSpPr>
            <p:cNvPr id="159" name="직선 연결선 15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33605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1175" y="35715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1175" y="37701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39811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2" name="사각형: 둥근 모서리 15">
            <a:extLst>
              <a:ext uri="{FF2B5EF4-FFF2-40B4-BE49-F238E27FC236}">
                <a16:creationId xmlns:a16="http://schemas.microsoft.com/office/drawing/2014/main" id="{E2B61CFB-AD16-68D0-8752-50D9C5E01971}"/>
              </a:ext>
            </a:extLst>
          </p:cNvPr>
          <p:cNvSpPr/>
          <p:nvPr/>
        </p:nvSpPr>
        <p:spPr>
          <a:xfrm>
            <a:off x="4675931" y="2731888"/>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선택해주세요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83" name="사각형: 둥근 모서리 15">
            <a:extLst>
              <a:ext uri="{FF2B5EF4-FFF2-40B4-BE49-F238E27FC236}">
                <a16:creationId xmlns:a16="http://schemas.microsoft.com/office/drawing/2014/main" id="{E2B61CFB-AD16-68D0-8752-50D9C5E01971}"/>
              </a:ext>
            </a:extLst>
          </p:cNvPr>
          <p:cNvSpPr/>
          <p:nvPr/>
        </p:nvSpPr>
        <p:spPr>
          <a:xfrm>
            <a:off x="4675931" y="4446426"/>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84" name="타원 183"/>
          <p:cNvSpPr/>
          <p:nvPr/>
        </p:nvSpPr>
        <p:spPr>
          <a:xfrm>
            <a:off x="6239384" y="2740888"/>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5" name="사각형: 둥근 모서리 15">
            <a:extLst>
              <a:ext uri="{FF2B5EF4-FFF2-40B4-BE49-F238E27FC236}">
                <a16:creationId xmlns:a16="http://schemas.microsoft.com/office/drawing/2014/main" id="{E2B61CFB-AD16-68D0-8752-50D9C5E01971}"/>
              </a:ext>
            </a:extLst>
          </p:cNvPr>
          <p:cNvSpPr/>
          <p:nvPr/>
        </p:nvSpPr>
        <p:spPr>
          <a:xfrm>
            <a:off x="4675931" y="3378521"/>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86" name="사각형: 둥근 모서리 15">
            <a:extLst>
              <a:ext uri="{FF2B5EF4-FFF2-40B4-BE49-F238E27FC236}">
                <a16:creationId xmlns:a16="http://schemas.microsoft.com/office/drawing/2014/main" id="{E2B61CFB-AD16-68D0-8752-50D9C5E01971}"/>
              </a:ext>
            </a:extLst>
          </p:cNvPr>
          <p:cNvSpPr/>
          <p:nvPr/>
        </p:nvSpPr>
        <p:spPr>
          <a:xfrm>
            <a:off x="4675931" y="4237480"/>
            <a:ext cx="1780918"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a:solidFill>
                  <a:srgbClr val="0070C0"/>
                </a:solidFill>
                <a:latin typeface="맑은 고딕"/>
                <a:ea typeface="맑은 고딕" panose="020B0503020000020004" pitchFamily="50" charset="-127"/>
              </a:rPr>
              <a:t>동의하기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41" name="모서리가 둥근 직사각형 140"/>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3835005"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8" name="TextBox 187">
            <a:extLst>
              <a:ext uri="{FF2B5EF4-FFF2-40B4-BE49-F238E27FC236}">
                <a16:creationId xmlns:a16="http://schemas.microsoft.com/office/drawing/2014/main" id="{FFC49AEA-2A8F-250C-A86A-A7751D9706C3}"/>
              </a:ext>
            </a:extLst>
          </p:cNvPr>
          <p:cNvSpPr txBox="1"/>
          <p:nvPr/>
        </p:nvSpPr>
        <p:spPr>
          <a:xfrm>
            <a:off x="3878683" y="2201247"/>
            <a:ext cx="612546"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공종</a:t>
            </a:r>
            <a:r>
              <a:rPr lang="ko-KR" altLang="en-US" sz="700" dirty="0">
                <a:latin typeface="+mn-ea"/>
              </a:rPr>
              <a:t> 및 면허</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4503353" y="2201247"/>
            <a:ext cx="555764"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입찰보증금</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5071241" y="2201247"/>
            <a:ext cx="655640" cy="107722"/>
          </a:xfrm>
          <a:prstGeom prst="rect">
            <a:avLst/>
          </a:prstGeom>
          <a:noFill/>
        </p:spPr>
        <p:txBody>
          <a:bodyPr wrap="square" lIns="0" tIns="0" rIns="0" bIns="0" rtlCol="0">
            <a:spAutoFit/>
          </a:bodyPr>
          <a:lstStyle/>
          <a:p>
            <a:pPr algn="ctr"/>
            <a:r>
              <a:rPr lang="en-US" altLang="ko-KR" sz="700" b="1" dirty="0">
                <a:latin typeface="+mn-ea"/>
              </a:rPr>
              <a:t>5. </a:t>
            </a:r>
            <a:r>
              <a:rPr lang="ko-KR" altLang="en-US" sz="700" b="1" dirty="0">
                <a:latin typeface="+mn-ea"/>
              </a:rPr>
              <a:t>공동수급업체</a:t>
            </a:r>
          </a:p>
        </p:txBody>
      </p:sp>
      <p:sp>
        <p:nvSpPr>
          <p:cNvPr id="191" name="TextBox 190">
            <a:extLst>
              <a:ext uri="{FF2B5EF4-FFF2-40B4-BE49-F238E27FC236}">
                <a16:creationId xmlns:a16="http://schemas.microsoft.com/office/drawing/2014/main" id="{FFC49AEA-2A8F-250C-A86A-A7751D9706C3}"/>
              </a:ext>
            </a:extLst>
          </p:cNvPr>
          <p:cNvSpPr txBox="1"/>
          <p:nvPr/>
        </p:nvSpPr>
        <p:spPr>
          <a:xfrm>
            <a:off x="5739004" y="2201247"/>
            <a:ext cx="483262"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cxnSp>
        <p:nvCxnSpPr>
          <p:cNvPr id="192" name="직선 연결선 191">
            <a:extLst>
              <a:ext uri="{FF2B5EF4-FFF2-40B4-BE49-F238E27FC236}">
                <a16:creationId xmlns:a16="http://schemas.microsoft.com/office/drawing/2014/main" id="{E9293055-D5CD-4B9E-7F64-64B2D2CA7A52}"/>
              </a:ext>
            </a:extLst>
          </p:cNvPr>
          <p:cNvCxnSpPr/>
          <p:nvPr/>
        </p:nvCxnSpPr>
        <p:spPr>
          <a:xfrm>
            <a:off x="5059117" y="2417854"/>
            <a:ext cx="6798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93" name="그룹 192"/>
          <p:cNvGrpSpPr/>
          <p:nvPr/>
        </p:nvGrpSpPr>
        <p:grpSpPr>
          <a:xfrm>
            <a:off x="6038601" y="2163124"/>
            <a:ext cx="422853" cy="187961"/>
            <a:chOff x="3641308" y="2234886"/>
            <a:chExt cx="422853" cy="187961"/>
          </a:xfrm>
        </p:grpSpPr>
        <p:sp>
          <p:nvSpPr>
            <p:cNvPr id="194" name="타원 19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5" name="그룹 194"/>
            <p:cNvGrpSpPr/>
            <p:nvPr/>
          </p:nvGrpSpPr>
          <p:grpSpPr>
            <a:xfrm rot="5400000" flipH="1">
              <a:off x="3679895" y="2305364"/>
              <a:ext cx="94010" cy="47005"/>
              <a:chOff x="6812560" y="3297172"/>
              <a:chExt cx="94010" cy="47005"/>
            </a:xfrm>
          </p:grpSpPr>
          <p:cxnSp>
            <p:nvCxnSpPr>
              <p:cNvPr id="200" name="직선 연결선 19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1" name="직선 연결선 20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6" name="타원 19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7" name="그룹 196"/>
            <p:cNvGrpSpPr/>
            <p:nvPr/>
          </p:nvGrpSpPr>
          <p:grpSpPr>
            <a:xfrm rot="16200000">
              <a:off x="3931564" y="2305364"/>
              <a:ext cx="94010" cy="47005"/>
              <a:chOff x="6812560" y="3297172"/>
              <a:chExt cx="94010" cy="47005"/>
            </a:xfrm>
          </p:grpSpPr>
          <p:cxnSp>
            <p:nvCxnSpPr>
              <p:cNvPr id="198" name="직선 연결선 1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9" name="직선 연결선 1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60577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드롭다운</a:t>
            </a:r>
            <a:r>
              <a:rPr lang="ko-KR" altLang="en-US" dirty="0"/>
              <a:t> </a:t>
            </a:r>
            <a:r>
              <a:rPr lang="en-US" altLang="ko-KR" dirty="0"/>
              <a:t>2</a:t>
            </a:r>
            <a:r>
              <a:rPr lang="ko-KR" altLang="en-US" dirty="0"/>
              <a:t>가지 구성</a:t>
            </a:r>
            <a:r>
              <a:rPr lang="en-US" altLang="ko-KR" dirty="0"/>
              <a:t/>
            </a:r>
            <a:br>
              <a:rPr lang="en-US" altLang="ko-KR" dirty="0"/>
            </a:br>
            <a:r>
              <a:rPr lang="en-US" altLang="ko-KR" dirty="0"/>
              <a:t>- </a:t>
            </a:r>
            <a:r>
              <a:rPr lang="ko-KR" altLang="en-US" dirty="0" err="1"/>
              <a:t>업체명</a:t>
            </a:r>
            <a:r>
              <a:rPr lang="en-US" altLang="ko-KR" dirty="0"/>
              <a:t>, </a:t>
            </a:r>
            <a:r>
              <a:rPr lang="ko-KR" altLang="en-US" dirty="0" err="1"/>
              <a:t>사업자번호</a:t>
            </a:r>
            <a:r>
              <a:rPr lang="en-US" altLang="ko-KR" dirty="0"/>
              <a:t/>
            </a:r>
            <a:br>
              <a:rPr lang="en-US" altLang="ko-KR" dirty="0"/>
            </a:br>
            <a:r>
              <a:rPr lang="en-US" altLang="ko-KR" dirty="0"/>
              <a:t>- </a:t>
            </a:r>
            <a:r>
              <a:rPr lang="ko-KR" altLang="en-US" dirty="0"/>
              <a:t>기본값</a:t>
            </a:r>
            <a:r>
              <a:rPr lang="en-US" altLang="ko-KR" dirty="0"/>
              <a:t>: </a:t>
            </a:r>
            <a:r>
              <a:rPr lang="ko-KR" altLang="en-US" dirty="0" err="1"/>
              <a:t>업체명</a:t>
            </a:r>
            <a:endParaRPr lang="en-US" altLang="ko-KR" dirty="0"/>
          </a:p>
          <a:p>
            <a:pPr marL="228600" indent="-228600">
              <a:buFont typeface="+mj-lt"/>
              <a:buAutoNum type="arabicPeriod"/>
            </a:pPr>
            <a:r>
              <a:rPr lang="ko-KR" altLang="en-US" dirty="0" err="1"/>
              <a:t>업체명</a:t>
            </a:r>
            <a:r>
              <a:rPr lang="ko-KR" altLang="en-US" dirty="0"/>
              <a:t> </a:t>
            </a:r>
            <a:r>
              <a:rPr lang="en-US" altLang="ko-KR" dirty="0"/>
              <a:t>input</a:t>
            </a:r>
            <a:r>
              <a:rPr lang="ko-KR" altLang="en-US" dirty="0"/>
              <a:t>으로 포커스 </a:t>
            </a:r>
            <a:r>
              <a:rPr lang="ko-KR" altLang="en-US" dirty="0" err="1"/>
              <a:t>자동이동</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활성화</a:t>
            </a:r>
            <a:r>
              <a:rPr lang="en-US" altLang="ko-KR" dirty="0"/>
              <a:t/>
            </a:r>
            <a:br>
              <a:rPr lang="en-US" altLang="ko-KR" dirty="0"/>
            </a:br>
            <a:r>
              <a:rPr lang="en-US" altLang="ko-KR" dirty="0"/>
              <a:t>- </a:t>
            </a:r>
            <a:r>
              <a:rPr lang="ko-KR" altLang="en-US" dirty="0"/>
              <a:t>입력이 있는 경우 내용 삭제 아이콘</a:t>
            </a:r>
            <a:endParaRPr lang="en-US" altLang="ko-KR" dirty="0"/>
          </a:p>
          <a:p>
            <a:pPr marL="228600" indent="-228600">
              <a:buFont typeface="+mj-lt"/>
              <a:buAutoNum type="arabicPeriod"/>
            </a:pPr>
            <a:r>
              <a:rPr lang="ko-KR" altLang="en-US" dirty="0"/>
              <a:t>입력 내용 기반 검색</a:t>
            </a:r>
            <a:r>
              <a:rPr lang="en-US" altLang="ko-KR" dirty="0"/>
              <a:t/>
            </a:r>
            <a:br>
              <a:rPr lang="en-US" altLang="ko-KR" dirty="0"/>
            </a:br>
            <a:r>
              <a:rPr lang="en-US" altLang="ko-KR" dirty="0"/>
              <a:t>- Like </a:t>
            </a:r>
            <a:r>
              <a:rPr lang="ko-KR" altLang="en-US" dirty="0"/>
              <a:t>검색</a:t>
            </a:r>
            <a:r>
              <a:rPr lang="en-US" altLang="ko-KR" dirty="0"/>
              <a:t/>
            </a:r>
            <a:br>
              <a:rPr lang="en-US" altLang="ko-KR" dirty="0"/>
            </a:br>
            <a:r>
              <a:rPr lang="en-US" altLang="ko-KR" dirty="0"/>
              <a:t>- </a:t>
            </a:r>
            <a:r>
              <a:rPr lang="ko-KR" altLang="en-US" dirty="0"/>
              <a:t>검색 버튼 클릭 시 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검색 버튼으로 동일 검색 기능 동작</a:t>
            </a:r>
            <a:endParaRPr lang="en-US" altLang="ko-KR" dirty="0"/>
          </a:p>
          <a:p>
            <a:pPr marL="228600" indent="-228600">
              <a:buFont typeface="+mj-lt"/>
              <a:buAutoNum type="arabicPeriod"/>
            </a:pPr>
            <a:r>
              <a:rPr lang="ko-KR" altLang="en-US" dirty="0"/>
              <a:t>검색 결과 표시</a:t>
            </a:r>
            <a:r>
              <a:rPr lang="en-US" altLang="ko-KR" dirty="0"/>
              <a:t/>
            </a:r>
            <a:br>
              <a:rPr lang="en-US" altLang="ko-KR" dirty="0"/>
            </a:br>
            <a:r>
              <a:rPr lang="en-US" altLang="ko-KR" dirty="0"/>
              <a:t>- </a:t>
            </a:r>
            <a:r>
              <a:rPr lang="ko-KR" altLang="en-US" dirty="0"/>
              <a:t>가상 </a:t>
            </a:r>
            <a:r>
              <a:rPr lang="ko-KR" altLang="en-US" dirty="0" err="1"/>
              <a:t>키패드</a:t>
            </a:r>
            <a:r>
              <a:rPr lang="ko-KR" altLang="en-US" dirty="0"/>
              <a:t> 숨김</a:t>
            </a:r>
            <a:r>
              <a:rPr lang="en-US" altLang="ko-KR" dirty="0"/>
              <a:t/>
            </a:r>
            <a:br>
              <a:rPr lang="en-US" altLang="ko-KR" dirty="0"/>
            </a:br>
            <a:r>
              <a:rPr lang="en-US" altLang="ko-KR" dirty="0"/>
              <a:t>- </a:t>
            </a:r>
            <a:r>
              <a:rPr lang="ko-KR" altLang="en-US" dirty="0"/>
              <a:t>타이틀 영역 제외 스크롤</a:t>
            </a:r>
            <a:endParaRPr lang="en-US" altLang="ko-KR" dirty="0"/>
          </a:p>
          <a:p>
            <a:pPr marL="228600" indent="-228600">
              <a:buFont typeface="+mj-lt"/>
              <a:buAutoNum type="arabicPeriod"/>
            </a:pPr>
            <a:r>
              <a:rPr lang="ko-KR" altLang="en-US" dirty="0"/>
              <a:t>결과 클릭을 통해 검색 필터에 </a:t>
            </a:r>
            <a:r>
              <a:rPr lang="ko-KR" altLang="en-US" dirty="0" err="1"/>
              <a:t>지역명</a:t>
            </a:r>
            <a:r>
              <a:rPr lang="ko-KR" altLang="en-US" dirty="0"/>
              <a:t> 반영</a:t>
            </a:r>
            <a:r>
              <a:rPr lang="en-US" altLang="ko-KR" dirty="0"/>
              <a:t/>
            </a:r>
            <a:br>
              <a:rPr lang="en-US" altLang="ko-KR" dirty="0"/>
            </a:br>
            <a:r>
              <a:rPr lang="en-US" altLang="ko-KR" dirty="0"/>
              <a:t>- </a:t>
            </a:r>
            <a:r>
              <a:rPr lang="ko-KR" altLang="en-US" dirty="0"/>
              <a:t>사용자 선택 시 </a:t>
            </a:r>
            <a:r>
              <a:rPr lang="ko-KR" altLang="en-US" dirty="0" err="1"/>
              <a:t>바텀</a:t>
            </a:r>
            <a:r>
              <a:rPr lang="ko-KR" altLang="en-US" dirty="0"/>
              <a:t> 시트 닫힘</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업체 검색</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공동수급업체 입력화면에서 </a:t>
            </a:r>
            <a:r>
              <a:rPr lang="ko-KR" altLang="en-US" dirty="0"/>
              <a:t>업체 검색을 선택하는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공동수급업체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MUI-BD-04-P11</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3011654"/>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3042051"/>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3176467"/>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3157146"/>
            <a:ext cx="1798758" cy="138499"/>
          </a:xfrm>
          <a:prstGeom prst="rect">
            <a:avLst/>
          </a:prstGeom>
          <a:noFill/>
        </p:spPr>
        <p:txBody>
          <a:bodyPr wrap="square" lIns="0" tIns="0" rIns="0" bIns="0" rtlCol="0">
            <a:spAutoFit/>
          </a:bodyPr>
          <a:lstStyle/>
          <a:p>
            <a:r>
              <a:rPr lang="ko-KR" altLang="en-US" sz="900" dirty="0">
                <a:latin typeface="+mn-ea"/>
              </a:rPr>
              <a:t>업체 검색</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341854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7" name="모서리가 둥근 직사각형 306"/>
          <p:cNvSpPr/>
          <p:nvPr/>
        </p:nvSpPr>
        <p:spPr>
          <a:xfrm>
            <a:off x="4564213" y="3557095"/>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업체</a:t>
            </a:r>
          </a:p>
        </p:txBody>
      </p:sp>
      <p:sp>
        <p:nvSpPr>
          <p:cNvPr id="308" name="TextBox 307">
            <a:extLst>
              <a:ext uri="{FF2B5EF4-FFF2-40B4-BE49-F238E27FC236}">
                <a16:creationId xmlns:a16="http://schemas.microsoft.com/office/drawing/2014/main" id="{FFC49AEA-2A8F-250C-A86A-A7751D9706C3}"/>
              </a:ext>
            </a:extLst>
          </p:cNvPr>
          <p:cNvSpPr txBox="1"/>
          <p:nvPr/>
        </p:nvSpPr>
        <p:spPr>
          <a:xfrm>
            <a:off x="3924811" y="3625408"/>
            <a:ext cx="670770" cy="107722"/>
          </a:xfrm>
          <a:prstGeom prst="rect">
            <a:avLst/>
          </a:prstGeom>
          <a:noFill/>
        </p:spPr>
        <p:txBody>
          <a:bodyPr wrap="square" lIns="0" tIns="0" rIns="0" bIns="0" rtlCol="0">
            <a:spAutoFit/>
          </a:bodyPr>
          <a:lstStyle/>
          <a:p>
            <a:r>
              <a:rPr lang="ko-KR" altLang="en-US" sz="700" dirty="0">
                <a:latin typeface="+mn-ea"/>
              </a:rPr>
              <a:t>입력</a:t>
            </a:r>
            <a:endParaRPr lang="en-US" altLang="ko-KR" sz="700" dirty="0">
              <a:latin typeface="+mn-ea"/>
            </a:endParaRPr>
          </a:p>
        </p:txBody>
      </p:sp>
      <p:sp>
        <p:nvSpPr>
          <p:cNvPr id="309" name="사각형: 둥근 모서리 15">
            <a:extLst>
              <a:ext uri="{FF2B5EF4-FFF2-40B4-BE49-F238E27FC236}">
                <a16:creationId xmlns:a16="http://schemas.microsoft.com/office/drawing/2014/main" id="{E2B61CFB-AD16-68D0-8752-50D9C5E01971}"/>
              </a:ext>
            </a:extLst>
          </p:cNvPr>
          <p:cNvSpPr/>
          <p:nvPr/>
        </p:nvSpPr>
        <p:spPr>
          <a:xfrm>
            <a:off x="3888037" y="3890810"/>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5" name="양쪽 모서리가 둥근 사각형 4"/>
          <p:cNvSpPr/>
          <p:nvPr/>
        </p:nvSpPr>
        <p:spPr>
          <a:xfrm>
            <a:off x="675399"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3182696"/>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3163375"/>
            <a:ext cx="1798758" cy="138499"/>
          </a:xfrm>
          <a:prstGeom prst="rect">
            <a:avLst/>
          </a:prstGeom>
          <a:noFill/>
        </p:spPr>
        <p:txBody>
          <a:bodyPr wrap="square" lIns="0" tIns="0" rIns="0" bIns="0" rtlCol="0">
            <a:spAutoFit/>
          </a:bodyPr>
          <a:lstStyle/>
          <a:p>
            <a:r>
              <a:rPr lang="ko-KR" altLang="en-US" sz="900" dirty="0">
                <a:latin typeface="+mn-ea"/>
              </a:rPr>
              <a:t>업체 검색</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타원 313"/>
          <p:cNvSpPr/>
          <p:nvPr/>
        </p:nvSpPr>
        <p:spPr>
          <a:xfrm>
            <a:off x="6240768" y="359991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5" name="그룹 314"/>
          <p:cNvGrpSpPr/>
          <p:nvPr/>
        </p:nvGrpSpPr>
        <p:grpSpPr>
          <a:xfrm>
            <a:off x="6284673" y="3643820"/>
            <a:ext cx="58075" cy="58074"/>
            <a:chOff x="6812560" y="3297172"/>
            <a:chExt cx="94010" cy="94010"/>
          </a:xfrm>
        </p:grpSpPr>
        <p:cxnSp>
          <p:nvCxnSpPr>
            <p:cNvPr id="316" name="직선 연결선 31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17" name="직선 연결선 31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cxnSp>
        <p:nvCxnSpPr>
          <p:cNvPr id="318" name="직선 연결선 317">
            <a:extLst>
              <a:ext uri="{FF2B5EF4-FFF2-40B4-BE49-F238E27FC236}">
                <a16:creationId xmlns:a16="http://schemas.microsoft.com/office/drawing/2014/main" id="{E9293055-D5CD-4B9E-7F64-64B2D2CA7A52}"/>
              </a:ext>
            </a:extLst>
          </p:cNvPr>
          <p:cNvCxnSpPr/>
          <p:nvPr/>
        </p:nvCxnSpPr>
        <p:spPr>
          <a:xfrm>
            <a:off x="3795734" y="427422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9" name="TextBox 318">
            <a:extLst>
              <a:ext uri="{FF2B5EF4-FFF2-40B4-BE49-F238E27FC236}">
                <a16:creationId xmlns:a16="http://schemas.microsoft.com/office/drawing/2014/main" id="{FFC49AEA-2A8F-250C-A86A-A7751D9706C3}"/>
              </a:ext>
            </a:extLst>
          </p:cNvPr>
          <p:cNvSpPr txBox="1"/>
          <p:nvPr/>
        </p:nvSpPr>
        <p:spPr>
          <a:xfrm>
            <a:off x="3924811" y="4381244"/>
            <a:ext cx="670770" cy="107722"/>
          </a:xfrm>
          <a:prstGeom prst="rect">
            <a:avLst/>
          </a:prstGeom>
          <a:noFill/>
        </p:spPr>
        <p:txBody>
          <a:bodyPr wrap="square" lIns="0" tIns="0" rIns="0" bIns="0" rtlCol="0">
            <a:spAutoFit/>
          </a:bodyPr>
          <a:lstStyle/>
          <a:p>
            <a:r>
              <a:rPr lang="ko-KR" altLang="en-US" sz="700" dirty="0">
                <a:latin typeface="+mn-ea"/>
              </a:rPr>
              <a:t>총 </a:t>
            </a:r>
            <a:r>
              <a:rPr lang="en-US" altLang="ko-KR" sz="700" dirty="0">
                <a:solidFill>
                  <a:srgbClr val="0070C0"/>
                </a:solidFill>
                <a:latin typeface="+mn-ea"/>
              </a:rPr>
              <a:t>000</a:t>
            </a:r>
            <a:r>
              <a:rPr lang="ko-KR" altLang="en-US" sz="700" dirty="0">
                <a:latin typeface="+mn-ea"/>
              </a:rPr>
              <a:t>건</a:t>
            </a:r>
            <a:endParaRPr lang="en-US" altLang="ko-KR" sz="700" dirty="0">
              <a:latin typeface="+mn-ea"/>
            </a:endParaRPr>
          </a:p>
        </p:txBody>
      </p:sp>
      <p:sp>
        <p:nvSpPr>
          <p:cNvPr id="320" name="TextBox 319">
            <a:extLst>
              <a:ext uri="{FF2B5EF4-FFF2-40B4-BE49-F238E27FC236}">
                <a16:creationId xmlns:a16="http://schemas.microsoft.com/office/drawing/2014/main" id="{FFC49AEA-2A8F-250C-A86A-A7751D9706C3}"/>
              </a:ext>
            </a:extLst>
          </p:cNvPr>
          <p:cNvSpPr txBox="1"/>
          <p:nvPr/>
        </p:nvSpPr>
        <p:spPr>
          <a:xfrm>
            <a:off x="5669385" y="4670045"/>
            <a:ext cx="670770" cy="107722"/>
          </a:xfrm>
          <a:prstGeom prst="rect">
            <a:avLst/>
          </a:prstGeom>
          <a:noFill/>
        </p:spPr>
        <p:txBody>
          <a:bodyPr wrap="square" lIns="0" tIns="0" rIns="0" bIns="0" rtlCol="0">
            <a:spAutoFit/>
          </a:bodyPr>
          <a:lstStyle/>
          <a:p>
            <a:pPr algn="r"/>
            <a:r>
              <a:rPr lang="ko-KR" altLang="en-US" sz="700" b="1" dirty="0" err="1">
                <a:latin typeface="+mn-ea"/>
              </a:rPr>
              <a:t>사업자번호</a:t>
            </a:r>
            <a:endParaRPr lang="en-US" altLang="ko-KR" sz="700" b="1" dirty="0">
              <a:latin typeface="+mn-ea"/>
            </a:endParaRPr>
          </a:p>
        </p:txBody>
      </p:sp>
      <p:sp>
        <p:nvSpPr>
          <p:cNvPr id="321" name="TextBox 320">
            <a:extLst>
              <a:ext uri="{FF2B5EF4-FFF2-40B4-BE49-F238E27FC236}">
                <a16:creationId xmlns:a16="http://schemas.microsoft.com/office/drawing/2014/main" id="{FFC49AEA-2A8F-250C-A86A-A7751D9706C3}"/>
              </a:ext>
            </a:extLst>
          </p:cNvPr>
          <p:cNvSpPr txBox="1"/>
          <p:nvPr/>
        </p:nvSpPr>
        <p:spPr>
          <a:xfrm>
            <a:off x="3924811" y="4670045"/>
            <a:ext cx="670770" cy="107722"/>
          </a:xfrm>
          <a:prstGeom prst="rect">
            <a:avLst/>
          </a:prstGeom>
          <a:noFill/>
        </p:spPr>
        <p:txBody>
          <a:bodyPr wrap="square" lIns="0" tIns="0" rIns="0" bIns="0" rtlCol="0">
            <a:spAutoFit/>
          </a:bodyPr>
          <a:lstStyle/>
          <a:p>
            <a:r>
              <a:rPr lang="ko-KR" altLang="en-US" sz="700" b="1" dirty="0" err="1">
                <a:latin typeface="+mn-ea"/>
              </a:rPr>
              <a:t>업체명</a:t>
            </a:r>
            <a:endParaRPr lang="en-US" altLang="ko-KR" sz="700" b="1" dirty="0">
              <a:latin typeface="+mn-ea"/>
            </a:endParaRPr>
          </a:p>
        </p:txBody>
      </p:sp>
      <p:cxnSp>
        <p:nvCxnSpPr>
          <p:cNvPr id="322" name="직선 연결선 321">
            <a:extLst>
              <a:ext uri="{FF2B5EF4-FFF2-40B4-BE49-F238E27FC236}">
                <a16:creationId xmlns:a16="http://schemas.microsoft.com/office/drawing/2014/main" id="{E9293055-D5CD-4B9E-7F64-64B2D2CA7A52}"/>
              </a:ext>
            </a:extLst>
          </p:cNvPr>
          <p:cNvCxnSpPr/>
          <p:nvPr/>
        </p:nvCxnSpPr>
        <p:spPr>
          <a:xfrm>
            <a:off x="3795734" y="455678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3" name="직선 연결선 322">
            <a:extLst>
              <a:ext uri="{FF2B5EF4-FFF2-40B4-BE49-F238E27FC236}">
                <a16:creationId xmlns:a16="http://schemas.microsoft.com/office/drawing/2014/main" id="{E9293055-D5CD-4B9E-7F64-64B2D2CA7A52}"/>
              </a:ext>
            </a:extLst>
          </p:cNvPr>
          <p:cNvCxnSpPr/>
          <p:nvPr/>
        </p:nvCxnSpPr>
        <p:spPr>
          <a:xfrm>
            <a:off x="3795734" y="48754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4" name="TextBox 323">
            <a:extLst>
              <a:ext uri="{FF2B5EF4-FFF2-40B4-BE49-F238E27FC236}">
                <a16:creationId xmlns:a16="http://schemas.microsoft.com/office/drawing/2014/main" id="{FFC49AEA-2A8F-250C-A86A-A7751D9706C3}"/>
              </a:ext>
            </a:extLst>
          </p:cNvPr>
          <p:cNvSpPr txBox="1"/>
          <p:nvPr/>
        </p:nvSpPr>
        <p:spPr>
          <a:xfrm>
            <a:off x="5669385" y="4886876"/>
            <a:ext cx="670770" cy="612027"/>
          </a:xfrm>
          <a:prstGeom prst="rect">
            <a:avLst/>
          </a:prstGeom>
          <a:noFill/>
        </p:spPr>
        <p:txBody>
          <a:bodyPr wrap="square" lIns="0" tIns="0" rIns="0" bIns="0" rtlCol="0">
            <a:spAutoFit/>
          </a:bodyPr>
          <a:lstStyle/>
          <a:p>
            <a:pPr algn="r">
              <a:lnSpc>
                <a:spcPct val="200000"/>
              </a:lnSpc>
            </a:pPr>
            <a:r>
              <a:rPr lang="en-US" altLang="ko-KR" sz="700" dirty="0">
                <a:latin typeface="+mn-ea"/>
              </a:rPr>
              <a:t>123-45-67890</a:t>
            </a:r>
          </a:p>
          <a:p>
            <a:pPr algn="r">
              <a:lnSpc>
                <a:spcPct val="200000"/>
              </a:lnSpc>
            </a:pPr>
            <a:r>
              <a:rPr lang="en-US" altLang="ko-KR" sz="700" dirty="0">
                <a:latin typeface="+mn-ea"/>
              </a:rPr>
              <a:t>234-56-78901</a:t>
            </a:r>
          </a:p>
          <a:p>
            <a:pPr algn="r">
              <a:lnSpc>
                <a:spcPct val="200000"/>
              </a:lnSpc>
            </a:pPr>
            <a:r>
              <a:rPr lang="en-US" altLang="ko-KR" sz="700" dirty="0">
                <a:latin typeface="+mn-ea"/>
              </a:rPr>
              <a:t>345-67-89012</a:t>
            </a:r>
          </a:p>
        </p:txBody>
      </p:sp>
      <p:sp>
        <p:nvSpPr>
          <p:cNvPr id="325" name="TextBox 324">
            <a:extLst>
              <a:ext uri="{FF2B5EF4-FFF2-40B4-BE49-F238E27FC236}">
                <a16:creationId xmlns:a16="http://schemas.microsoft.com/office/drawing/2014/main" id="{FFC49AEA-2A8F-250C-A86A-A7751D9706C3}"/>
              </a:ext>
            </a:extLst>
          </p:cNvPr>
          <p:cNvSpPr txBox="1"/>
          <p:nvPr/>
        </p:nvSpPr>
        <p:spPr>
          <a:xfrm>
            <a:off x="3924811" y="4886876"/>
            <a:ext cx="1814470" cy="646331"/>
          </a:xfrm>
          <a:prstGeom prst="rect">
            <a:avLst/>
          </a:prstGeom>
          <a:noFill/>
        </p:spPr>
        <p:txBody>
          <a:bodyPr wrap="square" lIns="0" tIns="0" rIns="0" bIns="0" rtlCol="0">
            <a:spAutoFit/>
          </a:bodyPr>
          <a:lstStyle/>
          <a:p>
            <a:pPr>
              <a:lnSpc>
                <a:spcPct val="200000"/>
              </a:lnSpc>
            </a:pPr>
            <a:r>
              <a:rPr lang="ko-KR" altLang="en-US" sz="700" dirty="0">
                <a:latin typeface="+mn-ea"/>
              </a:rPr>
              <a:t>㈜</a:t>
            </a:r>
            <a:r>
              <a:rPr lang="ko-KR" altLang="en-US" sz="700" dirty="0" err="1">
                <a:latin typeface="+mn-ea"/>
              </a:rPr>
              <a:t>업체명</a:t>
            </a:r>
            <a:r>
              <a:rPr lang="ko-KR" altLang="en-US" sz="700" dirty="0">
                <a:latin typeface="+mn-ea"/>
              </a:rPr>
              <a:t> 표시 영역</a:t>
            </a:r>
            <a:endParaRPr lang="en-US" altLang="ko-KR" sz="700" dirty="0">
              <a:latin typeface="+mn-ea"/>
            </a:endParaRPr>
          </a:p>
          <a:p>
            <a:pPr>
              <a:lnSpc>
                <a:spcPct val="200000"/>
              </a:lnSpc>
            </a:pPr>
            <a:r>
              <a:rPr lang="ko-KR" altLang="en-US" sz="700" dirty="0">
                <a:latin typeface="+mn-ea"/>
              </a:rPr>
              <a:t>㈜</a:t>
            </a:r>
            <a:r>
              <a:rPr lang="ko-KR" altLang="en-US" sz="700" dirty="0" err="1">
                <a:latin typeface="+mn-ea"/>
              </a:rPr>
              <a:t>업체명</a:t>
            </a:r>
            <a:r>
              <a:rPr lang="ko-KR" altLang="en-US" sz="700" dirty="0">
                <a:latin typeface="+mn-ea"/>
              </a:rPr>
              <a:t> 표시 영역</a:t>
            </a:r>
            <a:endParaRPr lang="en-US" altLang="ko-KR" sz="700" dirty="0">
              <a:latin typeface="+mn-ea"/>
            </a:endParaRPr>
          </a:p>
          <a:p>
            <a:pPr>
              <a:lnSpc>
                <a:spcPct val="200000"/>
              </a:lnSpc>
            </a:pPr>
            <a:r>
              <a:rPr lang="ko-KR" altLang="en-US" sz="700" dirty="0">
                <a:latin typeface="+mn-ea"/>
              </a:rPr>
              <a:t>㈜</a:t>
            </a:r>
            <a:r>
              <a:rPr lang="ko-KR" altLang="en-US" sz="700" dirty="0" err="1">
                <a:latin typeface="+mn-ea"/>
              </a:rPr>
              <a:t>업체명</a:t>
            </a:r>
            <a:r>
              <a:rPr lang="ko-KR" altLang="en-US" sz="700" dirty="0">
                <a:latin typeface="+mn-ea"/>
              </a:rPr>
              <a:t> 표시 영역</a:t>
            </a:r>
            <a:endParaRPr lang="en-US" altLang="ko-KR" sz="700" dirty="0">
              <a:latin typeface="+mn-ea"/>
            </a:endParaRPr>
          </a:p>
        </p:txBody>
      </p:sp>
      <p:cxnSp>
        <p:nvCxnSpPr>
          <p:cNvPr id="326" name="직선 연결선 325">
            <a:extLst>
              <a:ext uri="{FF2B5EF4-FFF2-40B4-BE49-F238E27FC236}">
                <a16:creationId xmlns:a16="http://schemas.microsoft.com/office/drawing/2014/main" id="{E9293055-D5CD-4B9E-7F64-64B2D2CA7A52}"/>
              </a:ext>
            </a:extLst>
          </p:cNvPr>
          <p:cNvCxnSpPr/>
          <p:nvPr/>
        </p:nvCxnSpPr>
        <p:spPr>
          <a:xfrm>
            <a:off x="3837747" y="51179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7" name="직선 연결선 326">
            <a:extLst>
              <a:ext uri="{FF2B5EF4-FFF2-40B4-BE49-F238E27FC236}">
                <a16:creationId xmlns:a16="http://schemas.microsoft.com/office/drawing/2014/main" id="{E9293055-D5CD-4B9E-7F64-64B2D2CA7A52}"/>
              </a:ext>
            </a:extLst>
          </p:cNvPr>
          <p:cNvCxnSpPr/>
          <p:nvPr/>
        </p:nvCxnSpPr>
        <p:spPr>
          <a:xfrm>
            <a:off x="3837747" y="53316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28" name="직선 연결선 327">
            <a:extLst>
              <a:ext uri="{FF2B5EF4-FFF2-40B4-BE49-F238E27FC236}">
                <a16:creationId xmlns:a16="http://schemas.microsoft.com/office/drawing/2014/main" id="{E9293055-D5CD-4B9E-7F64-64B2D2CA7A52}"/>
              </a:ext>
            </a:extLst>
          </p:cNvPr>
          <p:cNvCxnSpPr/>
          <p:nvPr/>
        </p:nvCxnSpPr>
        <p:spPr>
          <a:xfrm>
            <a:off x="3837747" y="55453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6" name="모서리가 둥근 직사각형 335"/>
          <p:cNvSpPr/>
          <p:nvPr/>
        </p:nvSpPr>
        <p:spPr>
          <a:xfrm rot="5400000">
            <a:off x="5782577" y="4149915"/>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3" name="타원 152">
            <a:extLst>
              <a:ext uri="{FF2B5EF4-FFF2-40B4-BE49-F238E27FC236}">
                <a16:creationId xmlns:a16="http://schemas.microsoft.com/office/drawing/2014/main" id="{37A7FF4F-0EAA-1463-560A-D5EC24416103}"/>
              </a:ext>
            </a:extLst>
          </p:cNvPr>
          <p:cNvSpPr/>
          <p:nvPr/>
        </p:nvSpPr>
        <p:spPr>
          <a:xfrm>
            <a:off x="573754" y="391074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37" name="직사각형 336">
            <a:extLst>
              <a:ext uri="{FF2B5EF4-FFF2-40B4-BE49-F238E27FC236}">
                <a16:creationId xmlns:a16="http://schemas.microsoft.com/office/drawing/2014/main" id="{F56F1743-11A0-EA94-9184-4E42C0A37F9C}"/>
              </a:ext>
            </a:extLst>
          </p:cNvPr>
          <p:cNvSpPr/>
          <p:nvPr/>
        </p:nvSpPr>
        <p:spPr>
          <a:xfrm>
            <a:off x="677960" y="4506743"/>
            <a:ext cx="2712027" cy="1720420"/>
          </a:xfrm>
          <a:prstGeom prst="rect">
            <a:avLst/>
          </a:prstGeom>
          <a:solidFill>
            <a:schemeClr val="bg1">
              <a:lumMod val="95000"/>
            </a:schemeClr>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ysClr val="windowText" lastClr="000000"/>
                </a:solidFill>
              </a:rPr>
              <a:t>가상 </a:t>
            </a:r>
            <a:r>
              <a:rPr lang="ko-KR" altLang="en-US" dirty="0" err="1">
                <a:solidFill>
                  <a:sysClr val="windowText" lastClr="000000"/>
                </a:solidFill>
              </a:rPr>
              <a:t>키패드</a:t>
            </a:r>
            <a:r>
              <a:rPr lang="ko-KR" altLang="en-US" dirty="0">
                <a:solidFill>
                  <a:sysClr val="windowText" lastClr="000000"/>
                </a:solidFill>
              </a:rPr>
              <a:t> 영역</a:t>
            </a:r>
          </a:p>
        </p:txBody>
      </p:sp>
      <p:sp>
        <p:nvSpPr>
          <p:cNvPr id="338" name="타원 337">
            <a:extLst>
              <a:ext uri="{FF2B5EF4-FFF2-40B4-BE49-F238E27FC236}">
                <a16:creationId xmlns:a16="http://schemas.microsoft.com/office/drawing/2014/main" id="{37A7FF4F-0EAA-1463-560A-D5EC24416103}"/>
              </a:ext>
            </a:extLst>
          </p:cNvPr>
          <p:cNvSpPr/>
          <p:nvPr/>
        </p:nvSpPr>
        <p:spPr>
          <a:xfrm>
            <a:off x="573754" y="423529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39" name="타원 338">
            <a:extLst>
              <a:ext uri="{FF2B5EF4-FFF2-40B4-BE49-F238E27FC236}">
                <a16:creationId xmlns:a16="http://schemas.microsoft.com/office/drawing/2014/main" id="{37A7FF4F-0EAA-1463-560A-D5EC24416103}"/>
              </a:ext>
            </a:extLst>
          </p:cNvPr>
          <p:cNvSpPr/>
          <p:nvPr/>
        </p:nvSpPr>
        <p:spPr>
          <a:xfrm>
            <a:off x="3684579" y="434459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340" name="타원 339">
            <a:extLst>
              <a:ext uri="{FF2B5EF4-FFF2-40B4-BE49-F238E27FC236}">
                <a16:creationId xmlns:a16="http://schemas.microsoft.com/office/drawing/2014/main" id="{37A7FF4F-0EAA-1463-560A-D5EC24416103}"/>
              </a:ext>
            </a:extLst>
          </p:cNvPr>
          <p:cNvSpPr/>
          <p:nvPr/>
        </p:nvSpPr>
        <p:spPr>
          <a:xfrm>
            <a:off x="3684579" y="510695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
        <p:nvSpPr>
          <p:cNvPr id="84" name="모서리가 둥근 직사각형 83"/>
          <p:cNvSpPr/>
          <p:nvPr/>
        </p:nvSpPr>
        <p:spPr>
          <a:xfrm>
            <a:off x="1443878" y="3862324"/>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정보를</a:t>
            </a:r>
            <a:r>
              <a:rPr lang="ko-KR" altLang="en-US" sz="700" dirty="0">
                <a:solidFill>
                  <a:schemeClr val="tx1"/>
                </a:solidFill>
              </a:rPr>
              <a:t> </a:t>
            </a:r>
            <a:r>
              <a:rPr lang="ko-KR" altLang="en-US" sz="700" dirty="0">
                <a:solidFill>
                  <a:schemeClr val="bg1">
                    <a:lumMod val="65000"/>
                  </a:schemeClr>
                </a:solidFill>
              </a:rPr>
              <a:t>입력해주세요</a:t>
            </a:r>
            <a:r>
              <a:rPr lang="en-US" altLang="ko-KR" sz="700" dirty="0">
                <a:solidFill>
                  <a:schemeClr val="tx1"/>
                </a:solidFill>
              </a:rPr>
              <a:t>.</a:t>
            </a:r>
            <a:endParaRPr lang="ko-KR" altLang="en-US" sz="700" dirty="0">
              <a:solidFill>
                <a:schemeClr val="tx1"/>
              </a:solidFill>
            </a:endParaRPr>
          </a:p>
        </p:txBody>
      </p:sp>
      <p:sp>
        <p:nvSpPr>
          <p:cNvPr id="85" name="TextBox 84">
            <a:extLst>
              <a:ext uri="{FF2B5EF4-FFF2-40B4-BE49-F238E27FC236}">
                <a16:creationId xmlns:a16="http://schemas.microsoft.com/office/drawing/2014/main" id="{FFC49AEA-2A8F-250C-A86A-A7751D9706C3}"/>
              </a:ext>
            </a:extLst>
          </p:cNvPr>
          <p:cNvSpPr txBox="1"/>
          <p:nvPr/>
        </p:nvSpPr>
        <p:spPr>
          <a:xfrm>
            <a:off x="804476" y="3930637"/>
            <a:ext cx="670770" cy="107722"/>
          </a:xfrm>
          <a:prstGeom prst="rect">
            <a:avLst/>
          </a:prstGeom>
          <a:noFill/>
        </p:spPr>
        <p:txBody>
          <a:bodyPr wrap="square" lIns="0" tIns="0" rIns="0" bIns="0" rtlCol="0">
            <a:spAutoFit/>
          </a:bodyPr>
          <a:lstStyle/>
          <a:p>
            <a:r>
              <a:rPr lang="ko-KR" altLang="en-US" sz="700" dirty="0">
                <a:latin typeface="+mn-ea"/>
              </a:rPr>
              <a:t>입력</a:t>
            </a:r>
            <a:endParaRPr lang="en-US" altLang="ko-KR" sz="700" dirty="0">
              <a:latin typeface="+mn-ea"/>
            </a:endParaRPr>
          </a:p>
        </p:txBody>
      </p:sp>
      <p:sp>
        <p:nvSpPr>
          <p:cNvPr id="89" name="사각형: 둥근 모서리 15">
            <a:extLst>
              <a:ext uri="{FF2B5EF4-FFF2-40B4-BE49-F238E27FC236}">
                <a16:creationId xmlns:a16="http://schemas.microsoft.com/office/drawing/2014/main" id="{E2B61CFB-AD16-68D0-8752-50D9C5E01971}"/>
              </a:ext>
            </a:extLst>
          </p:cNvPr>
          <p:cNvSpPr/>
          <p:nvPr/>
        </p:nvSpPr>
        <p:spPr>
          <a:xfrm>
            <a:off x="767702" y="4196039"/>
            <a:ext cx="2522014"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검색</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90" name="그룹 89"/>
          <p:cNvGrpSpPr/>
          <p:nvPr/>
        </p:nvGrpSpPr>
        <p:grpSpPr>
          <a:xfrm>
            <a:off x="3112794" y="3900610"/>
            <a:ext cx="145884" cy="145882"/>
            <a:chOff x="3112794" y="3984500"/>
            <a:chExt cx="145884" cy="145882"/>
          </a:xfrm>
        </p:grpSpPr>
        <p:sp>
          <p:nvSpPr>
            <p:cNvPr id="91" name="타원 90"/>
            <p:cNvSpPr/>
            <p:nvPr/>
          </p:nvSpPr>
          <p:spPr>
            <a:xfrm>
              <a:off x="3112794" y="3984500"/>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2" name="그룹 91"/>
            <p:cNvGrpSpPr/>
            <p:nvPr/>
          </p:nvGrpSpPr>
          <p:grpSpPr>
            <a:xfrm>
              <a:off x="3156699" y="4028404"/>
              <a:ext cx="58075" cy="58074"/>
              <a:chOff x="6812560" y="3297172"/>
              <a:chExt cx="94010" cy="94010"/>
            </a:xfrm>
          </p:grpSpPr>
          <p:cxnSp>
            <p:nvCxnSpPr>
              <p:cNvPr id="93" name="직선 연결선 92"/>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4" name="직선 연결선 93"/>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sp>
        <p:nvSpPr>
          <p:cNvPr id="95" name="모서리가 둥근 직사각형 94"/>
          <p:cNvSpPr/>
          <p:nvPr/>
        </p:nvSpPr>
        <p:spPr>
          <a:xfrm>
            <a:off x="1443878" y="3560849"/>
            <a:ext cx="1845838" cy="244348"/>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tx1"/>
                </a:solidFill>
              </a:rPr>
              <a:t>업체명</a:t>
            </a:r>
            <a:endParaRPr lang="ko-KR" altLang="en-US" sz="700" dirty="0">
              <a:solidFill>
                <a:schemeClr val="tx1"/>
              </a:solidFill>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804476" y="3629162"/>
            <a:ext cx="670770" cy="107722"/>
          </a:xfrm>
          <a:prstGeom prst="rect">
            <a:avLst/>
          </a:prstGeom>
          <a:noFill/>
        </p:spPr>
        <p:txBody>
          <a:bodyPr wrap="square" lIns="0" tIns="0" rIns="0" bIns="0" rtlCol="0">
            <a:spAutoFit/>
          </a:bodyPr>
          <a:lstStyle/>
          <a:p>
            <a:r>
              <a:rPr lang="ko-KR" altLang="en-US" sz="700" dirty="0">
                <a:latin typeface="+mn-ea"/>
              </a:rPr>
              <a:t>구분</a:t>
            </a:r>
            <a:endParaRPr lang="en-US" altLang="ko-KR" sz="700" dirty="0">
              <a:latin typeface="+mn-ea"/>
            </a:endParaRPr>
          </a:p>
        </p:txBody>
      </p:sp>
      <p:grpSp>
        <p:nvGrpSpPr>
          <p:cNvPr id="97" name="그룹 96"/>
          <p:cNvGrpSpPr/>
          <p:nvPr/>
        </p:nvGrpSpPr>
        <p:grpSpPr>
          <a:xfrm>
            <a:off x="3112794" y="3666333"/>
            <a:ext cx="91438" cy="45719"/>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0" name="타원 99">
            <a:extLst>
              <a:ext uri="{FF2B5EF4-FFF2-40B4-BE49-F238E27FC236}">
                <a16:creationId xmlns:a16="http://schemas.microsoft.com/office/drawing/2014/main" id="{37A7FF4F-0EAA-1463-560A-D5EC24416103}"/>
              </a:ext>
            </a:extLst>
          </p:cNvPr>
          <p:cNvSpPr/>
          <p:nvPr/>
        </p:nvSpPr>
        <p:spPr>
          <a:xfrm>
            <a:off x="573754" y="358618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04892701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입찰참가용</a:t>
            </a:r>
            <a:r>
              <a:rPr lang="ko-KR" altLang="en-US" dirty="0"/>
              <a:t> 서류가 있는 경우 </a:t>
            </a:r>
            <a:r>
              <a:rPr lang="ko-KR" altLang="en-US" dirty="0" err="1"/>
              <a:t>파일선택을</a:t>
            </a:r>
            <a:r>
              <a:rPr lang="ko-KR" altLang="en-US" dirty="0"/>
              <a:t> 클릭하여 입찰참가 서류를 첨부</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a:latin typeface="+mn-ea"/>
              </a:rPr>
              <a:t>파일첨부</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파일첨부</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MUI-BD-04-M12</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14" name="TextBox 313">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644712"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430194" y="2201247"/>
            <a:ext cx="555764" cy="107722"/>
          </a:xfrm>
          <a:prstGeom prst="rect">
            <a:avLst/>
          </a:prstGeom>
          <a:noFill/>
        </p:spPr>
        <p:txBody>
          <a:bodyPr wrap="square" lIns="0" tIns="0" rIns="0" bIns="0" rtlCol="0">
            <a:spAutoFit/>
          </a:bodyPr>
          <a:lstStyle/>
          <a:p>
            <a:pPr algn="ctr"/>
            <a:r>
              <a:rPr lang="en-US" altLang="ko-KR" sz="700" b="1" dirty="0">
                <a:latin typeface="+mn-ea"/>
              </a:rPr>
              <a:t>6. </a:t>
            </a:r>
            <a:r>
              <a:rPr lang="ko-KR" altLang="en-US" sz="700" b="1" dirty="0">
                <a:latin typeface="+mn-ea"/>
              </a:rPr>
              <a:t>파일첨부</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2007623" y="2201247"/>
            <a:ext cx="655640" cy="107722"/>
          </a:xfrm>
          <a:prstGeom prst="rect">
            <a:avLst/>
          </a:prstGeom>
          <a:noFill/>
        </p:spPr>
        <p:txBody>
          <a:bodyPr wrap="square" lIns="0" tIns="0" rIns="0" bIns="0" rtlCol="0">
            <a:spAutoFit/>
          </a:bodyPr>
          <a:lstStyle/>
          <a:p>
            <a:pPr algn="ctr"/>
            <a:r>
              <a:rPr lang="en-US" altLang="ko-KR" sz="700" dirty="0">
                <a:latin typeface="+mn-ea"/>
              </a:rPr>
              <a:t>7. </a:t>
            </a:r>
            <a:r>
              <a:rPr lang="ko-KR" altLang="en-US" sz="700" dirty="0">
                <a:latin typeface="+mn-ea"/>
              </a:rPr>
              <a:t>문의 및 동의</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455271" y="2417854"/>
            <a:ext cx="5306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9" name="모서리가 둥근 직사각형 108"/>
          <p:cNvSpPr/>
          <p:nvPr/>
        </p:nvSpPr>
        <p:spPr>
          <a:xfrm>
            <a:off x="705041" y="2534410"/>
            <a:ext cx="2652743" cy="1293707"/>
          </a:xfrm>
          <a:prstGeom prst="roundRect">
            <a:avLst>
              <a:gd name="adj" fmla="val 9584"/>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3811" y="2632694"/>
            <a:ext cx="2475203" cy="1077218"/>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8900" indent="-88900">
              <a:buFont typeface="Arial" panose="020B0604020202020204" pitchFamily="34" charset="0"/>
              <a:buChar char="•"/>
            </a:pPr>
            <a:r>
              <a:rPr lang="ko-KR" altLang="en-US" sz="700" dirty="0">
                <a:solidFill>
                  <a:srgbClr val="FF0000"/>
                </a:solidFill>
                <a:latin typeface="맑은 고딕" panose="020B0503020000020004" pitchFamily="50" charset="-127"/>
              </a:rPr>
              <a:t>대표 및 </a:t>
            </a:r>
            <a:r>
              <a:rPr lang="ko-KR" altLang="en-US" sz="700" dirty="0" err="1">
                <a:solidFill>
                  <a:srgbClr val="FF0000"/>
                </a:solidFill>
                <a:latin typeface="맑은 고딕" panose="020B0503020000020004" pitchFamily="50" charset="-127"/>
              </a:rPr>
              <a:t>등기임원의</a:t>
            </a:r>
            <a:r>
              <a:rPr lang="ko-KR" altLang="en-US" sz="700" dirty="0">
                <a:solidFill>
                  <a:srgbClr val="FF0000"/>
                </a:solidFill>
                <a:latin typeface="맑은 고딕" panose="020B0503020000020004" pitchFamily="50" charset="-127"/>
              </a:rPr>
              <a:t> 청렴서약서를 반드시 첨부하시기 바랍니다</a:t>
            </a:r>
            <a:r>
              <a:rPr lang="en-US" altLang="ko-KR" sz="700" dirty="0">
                <a:solidFill>
                  <a:srgbClr val="FF0000"/>
                </a:solidFill>
                <a:latin typeface="맑은 고딕" panose="020B0503020000020004" pitchFamily="50" charset="-127"/>
              </a:rPr>
              <a:t>.</a:t>
            </a:r>
          </a:p>
          <a:p>
            <a:pPr marL="88900" indent="-88900">
              <a:buFont typeface="Arial" panose="020B0604020202020204" pitchFamily="34" charset="0"/>
              <a:buChar char="•"/>
            </a:pPr>
            <a:r>
              <a:rPr lang="ko-KR" altLang="en-US" sz="700" dirty="0">
                <a:solidFill>
                  <a:srgbClr val="FF0000"/>
                </a:solidFill>
                <a:latin typeface="맑은 고딕" panose="020B0503020000020004" pitchFamily="50" charset="-127"/>
              </a:rPr>
              <a:t>법인등기부등본</a:t>
            </a:r>
            <a:r>
              <a:rPr lang="en-US" altLang="ko-KR" sz="700" dirty="0">
                <a:solidFill>
                  <a:srgbClr val="FF0000"/>
                </a:solidFill>
                <a:latin typeface="맑은 고딕" panose="020B0503020000020004" pitchFamily="50" charset="-127"/>
              </a:rPr>
              <a:t>(</a:t>
            </a:r>
            <a:r>
              <a:rPr lang="ko-KR" altLang="en-US" sz="700" dirty="0">
                <a:solidFill>
                  <a:srgbClr val="FF0000"/>
                </a:solidFill>
                <a:latin typeface="맑은 고딕" panose="020B0503020000020004" pitchFamily="50" charset="-127"/>
              </a:rPr>
              <a:t>등기사항 </a:t>
            </a:r>
            <a:r>
              <a:rPr lang="ko-KR" altLang="en-US" sz="700" dirty="0" err="1">
                <a:solidFill>
                  <a:srgbClr val="FF0000"/>
                </a:solidFill>
                <a:latin typeface="맑은 고딕" panose="020B0503020000020004" pitchFamily="50" charset="-127"/>
              </a:rPr>
              <a:t>전부증명서</a:t>
            </a:r>
            <a:r>
              <a:rPr lang="en-US" altLang="ko-KR" sz="700" dirty="0">
                <a:solidFill>
                  <a:srgbClr val="FF0000"/>
                </a:solidFill>
                <a:latin typeface="맑은 고딕" panose="020B0503020000020004" pitchFamily="50" charset="-127"/>
              </a:rPr>
              <a:t>)</a:t>
            </a:r>
            <a:r>
              <a:rPr lang="ko-KR" altLang="en-US" sz="700" dirty="0">
                <a:solidFill>
                  <a:srgbClr val="FF0000"/>
                </a:solidFill>
                <a:latin typeface="맑은 고딕" panose="020B0503020000020004" pitchFamily="50" charset="-127"/>
              </a:rPr>
              <a:t>을 반드시 첨부하시기 바랍니다</a:t>
            </a:r>
            <a:r>
              <a:rPr lang="en-US" altLang="ko-KR" sz="700" dirty="0">
                <a:solidFill>
                  <a:srgbClr val="FF0000"/>
                </a:solidFill>
                <a:latin typeface="맑은 고딕" panose="020B0503020000020004" pitchFamily="50" charset="-127"/>
              </a:rPr>
              <a:t>.</a:t>
            </a:r>
          </a:p>
          <a:p>
            <a:pPr marL="88900" indent="-88900">
              <a:buFont typeface="Arial" panose="020B0604020202020204" pitchFamily="34" charset="0"/>
              <a:buChar char="•"/>
            </a:pPr>
            <a:r>
              <a:rPr lang="ko-KR" altLang="en-US" sz="700" dirty="0">
                <a:latin typeface="맑은 고딕" panose="020B0503020000020004" pitchFamily="50" charset="-127"/>
              </a:rPr>
              <a:t>건당 크기 </a:t>
            </a:r>
            <a:r>
              <a:rPr lang="en-US" altLang="ko-KR" sz="700" dirty="0">
                <a:latin typeface="맑은 고딕" panose="020B0503020000020004" pitchFamily="50" charset="-127"/>
              </a:rPr>
              <a:t>10MB </a:t>
            </a:r>
            <a:r>
              <a:rPr lang="ko-KR" altLang="en-US" sz="700" dirty="0">
                <a:latin typeface="맑은 고딕" panose="020B0503020000020004" pitchFamily="50" charset="-127"/>
              </a:rPr>
              <a:t>미만 파일만 </a:t>
            </a:r>
            <a:r>
              <a:rPr lang="ko-KR" altLang="en-US" sz="700" dirty="0" err="1">
                <a:latin typeface="맑은 고딕" panose="020B0503020000020004" pitchFamily="50" charset="-127"/>
              </a:rPr>
              <a:t>첨부가능합니다</a:t>
            </a:r>
            <a:r>
              <a:rPr lang="en-US" altLang="ko-KR" sz="700" dirty="0">
                <a:latin typeface="맑은 고딕" panose="020B0503020000020004" pitchFamily="50" charset="-127"/>
              </a:rPr>
              <a:t>.</a:t>
            </a:r>
          </a:p>
          <a:p>
            <a:pPr marL="88900" indent="-88900">
              <a:buFont typeface="Arial" panose="020B0604020202020204" pitchFamily="34" charset="0"/>
              <a:buChar char="•"/>
            </a:pPr>
            <a:r>
              <a:rPr lang="ko-KR" altLang="en-US" sz="700" dirty="0">
                <a:latin typeface="맑은 고딕" panose="020B0503020000020004" pitchFamily="50" charset="-127"/>
              </a:rPr>
              <a:t>스캔 파일은 파일압축해서 업로드 부탁드립니다</a:t>
            </a:r>
            <a:r>
              <a:rPr lang="en-US" altLang="ko-KR" sz="700" dirty="0">
                <a:latin typeface="맑은 고딕" panose="020B0503020000020004" pitchFamily="50" charset="-127"/>
              </a:rPr>
              <a:t>.</a:t>
            </a:r>
            <a:endParaRPr lang="ko-KR" altLang="en-US" sz="700" dirty="0">
              <a:latin typeface="맑은 고딕" panose="020B0503020000020004" pitchFamily="50" charset="-127"/>
            </a:endParaRPr>
          </a:p>
          <a:p>
            <a:pPr marL="88900" indent="-88900">
              <a:buFont typeface="Arial" panose="020B0604020202020204" pitchFamily="34" charset="0"/>
              <a:buChar char="•"/>
            </a:pPr>
            <a:r>
              <a:rPr lang="ko-KR" altLang="en-US" sz="700" dirty="0" err="1">
                <a:solidFill>
                  <a:srgbClr val="FF0000"/>
                </a:solidFill>
                <a:latin typeface="맑은 고딕" panose="020B0503020000020004" pitchFamily="50" charset="-127"/>
              </a:rPr>
              <a:t>규격입찰서</a:t>
            </a:r>
            <a:r>
              <a:rPr lang="ko-KR" altLang="en-US" sz="700" dirty="0">
                <a:solidFill>
                  <a:srgbClr val="FF0000"/>
                </a:solidFill>
                <a:latin typeface="맑은 고딕" panose="020B0503020000020004" pitchFamily="50" charset="-127"/>
              </a:rPr>
              <a:t> 관련 </a:t>
            </a:r>
            <a:r>
              <a:rPr lang="ko-KR" altLang="en-US" sz="700" dirty="0" err="1">
                <a:solidFill>
                  <a:srgbClr val="FF0000"/>
                </a:solidFill>
                <a:latin typeface="맑은 고딕" panose="020B0503020000020004" pitchFamily="50" charset="-127"/>
              </a:rPr>
              <a:t>전자파일은</a:t>
            </a:r>
            <a:r>
              <a:rPr lang="ko-KR" altLang="en-US" sz="700" dirty="0">
                <a:solidFill>
                  <a:srgbClr val="FF0000"/>
                </a:solidFill>
                <a:latin typeface="맑은 고딕" panose="020B0503020000020004" pitchFamily="50" charset="-127"/>
              </a:rPr>
              <a:t> 입찰서 작성 시 제출해 주시기 바랍니다</a:t>
            </a:r>
            <a:r>
              <a:rPr lang="en-US" altLang="ko-KR" sz="700" dirty="0">
                <a:solidFill>
                  <a:srgbClr val="FF0000"/>
                </a:solidFill>
                <a:latin typeface="맑은 고딕" panose="020B0503020000020004" pitchFamily="50" charset="-127"/>
              </a:rPr>
              <a:t>.</a:t>
            </a:r>
            <a:endParaRPr lang="ko-KR" altLang="en-US" sz="700" dirty="0">
              <a:solidFill>
                <a:srgbClr val="FF0000"/>
              </a:solidFill>
              <a:latin typeface="맑은 고딕" panose="020B0503020000020004" pitchFamily="50" charset="-127"/>
            </a:endParaRPr>
          </a:p>
        </p:txBody>
      </p:sp>
      <p:sp>
        <p:nvSpPr>
          <p:cNvPr id="111" name="타원 110"/>
          <p:cNvSpPr/>
          <p:nvPr/>
        </p:nvSpPr>
        <p:spPr>
          <a:xfrm>
            <a:off x="789853" y="262304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2" name="그룹 111"/>
          <p:cNvGrpSpPr/>
          <p:nvPr/>
        </p:nvGrpSpPr>
        <p:grpSpPr>
          <a:xfrm flipV="1">
            <a:off x="3138674" y="2671541"/>
            <a:ext cx="94010" cy="47005"/>
            <a:chOff x="6812560" y="3297172"/>
            <a:chExt cx="94010" cy="47005"/>
          </a:xfrm>
        </p:grpSpPr>
        <p:cxnSp>
          <p:nvCxnSpPr>
            <p:cNvPr id="113" name="직선 연결선 11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4" name="직선 연결선 11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07" name="TextBox 106">
            <a:extLst>
              <a:ext uri="{FF2B5EF4-FFF2-40B4-BE49-F238E27FC236}">
                <a16:creationId xmlns:a16="http://schemas.microsoft.com/office/drawing/2014/main" id="{FFC49AEA-2A8F-250C-A86A-A7751D9706C3}"/>
              </a:ext>
            </a:extLst>
          </p:cNvPr>
          <p:cNvSpPr txBox="1"/>
          <p:nvPr/>
        </p:nvSpPr>
        <p:spPr>
          <a:xfrm>
            <a:off x="756845" y="3882245"/>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입찰서 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4607113"/>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4681634"/>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4735495"/>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8" name="모서리가 둥근 직사각형 117"/>
          <p:cNvSpPr/>
          <p:nvPr/>
        </p:nvSpPr>
        <p:spPr>
          <a:xfrm>
            <a:off x="710315" y="501379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5088320"/>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514218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2" name="사각형: 둥근 모서리 15">
            <a:extLst>
              <a:ext uri="{FF2B5EF4-FFF2-40B4-BE49-F238E27FC236}">
                <a16:creationId xmlns:a16="http://schemas.microsoft.com/office/drawing/2014/main" id="{E2B61CFB-AD16-68D0-8752-50D9C5E01971}"/>
              </a:ext>
            </a:extLst>
          </p:cNvPr>
          <p:cNvSpPr/>
          <p:nvPr/>
        </p:nvSpPr>
        <p:spPr>
          <a:xfrm>
            <a:off x="710315" y="4164628"/>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4471995"/>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4471995"/>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391311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6" name="TextBox 55">
            <a:extLst>
              <a:ext uri="{FF2B5EF4-FFF2-40B4-BE49-F238E27FC236}">
                <a16:creationId xmlns:a16="http://schemas.microsoft.com/office/drawing/2014/main" id="{FFC49AEA-2A8F-250C-A86A-A7751D9706C3}"/>
              </a:ext>
            </a:extLst>
          </p:cNvPr>
          <p:cNvSpPr txBox="1"/>
          <p:nvPr/>
        </p:nvSpPr>
        <p:spPr>
          <a:xfrm>
            <a:off x="2965403" y="4471995"/>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57" name="사각형: 둥근 모서리 15">
            <a:extLst>
              <a:ext uri="{FF2B5EF4-FFF2-40B4-BE49-F238E27FC236}">
                <a16:creationId xmlns:a16="http://schemas.microsoft.com/office/drawing/2014/main" id="{E2B61CFB-AD16-68D0-8752-50D9C5E01971}"/>
              </a:ext>
            </a:extLst>
          </p:cNvPr>
          <p:cNvSpPr/>
          <p:nvPr/>
        </p:nvSpPr>
        <p:spPr>
          <a:xfrm>
            <a:off x="2985824" y="5118600"/>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58" name="사각형: 둥근 모서리 15">
            <a:extLst>
              <a:ext uri="{FF2B5EF4-FFF2-40B4-BE49-F238E27FC236}">
                <a16:creationId xmlns:a16="http://schemas.microsoft.com/office/drawing/2014/main" id="{E2B61CFB-AD16-68D0-8752-50D9C5E01971}"/>
              </a:ext>
            </a:extLst>
          </p:cNvPr>
          <p:cNvSpPr/>
          <p:nvPr/>
        </p:nvSpPr>
        <p:spPr>
          <a:xfrm>
            <a:off x="2985824" y="4711914"/>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Tree>
    <p:extLst>
      <p:ext uri="{BB962C8B-B14F-4D97-AF65-F5344CB8AC3E}">
        <p14:creationId xmlns:p14="http://schemas.microsoft.com/office/powerpoint/2010/main" val="19274435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파일첨부</a:t>
            </a:r>
            <a:r>
              <a:rPr lang="en-US" altLang="ko-KR" dirty="0"/>
              <a:t>(</a:t>
            </a:r>
            <a:r>
              <a:rPr lang="ko-KR" altLang="en-US" dirty="0"/>
              <a:t>추가</a:t>
            </a:r>
            <a:r>
              <a:rPr lang="en-US" altLang="ko-KR" dirty="0"/>
              <a:t>) </a:t>
            </a:r>
            <a:r>
              <a:rPr lang="ko-KR" altLang="en-US" dirty="0"/>
              <a:t>방식 선택</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캐비닛 연결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첨부 파일</a:t>
            </a:r>
            <a:r>
              <a:rPr lang="en-US" altLang="ko-KR" dirty="0">
                <a:latin typeface="+mn-ea"/>
              </a:rPr>
              <a:t>, </a:t>
            </a:r>
            <a:r>
              <a:rPr lang="ko-KR" altLang="en-US" dirty="0">
                <a:latin typeface="+mn-ea"/>
              </a:rPr>
              <a:t>캐비닛 선택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850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파일첨부 방식 선택</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4676161"/>
            <a:ext cx="2712027" cy="155613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470655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484097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4821654"/>
            <a:ext cx="1798758" cy="138499"/>
          </a:xfrm>
          <a:prstGeom prst="rect">
            <a:avLst/>
          </a:prstGeom>
          <a:noFill/>
        </p:spPr>
        <p:txBody>
          <a:bodyPr wrap="square" lIns="0" tIns="0" rIns="0" bIns="0" rtlCol="0">
            <a:spAutoFit/>
          </a:bodyPr>
          <a:lstStyle/>
          <a:p>
            <a:r>
              <a:rPr lang="ko-KR" altLang="en-US" sz="900" dirty="0">
                <a:latin typeface="+mn-ea"/>
              </a:rPr>
              <a:t>파일첨부 방식 선택</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508305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4" name="사각형: 둥근 모서리 15">
            <a:extLst>
              <a:ext uri="{FF2B5EF4-FFF2-40B4-BE49-F238E27FC236}">
                <a16:creationId xmlns:a16="http://schemas.microsoft.com/office/drawing/2014/main" id="{E2B61CFB-AD16-68D0-8752-50D9C5E01971}"/>
              </a:ext>
            </a:extLst>
          </p:cNvPr>
          <p:cNvSpPr/>
          <p:nvPr/>
        </p:nvSpPr>
        <p:spPr>
          <a:xfrm>
            <a:off x="767703" y="5296114"/>
            <a:ext cx="252741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직업 업로드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3" y="5744634"/>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캐비닛 선택 업로드</a:t>
            </a:r>
            <a:endParaRPr kumimoji="1" lang="en-US" sz="1000" b="0" i="0" u="none" strike="noStrike" kern="0" cap="none" spc="0" normalizeH="0" baseline="0" noProof="0" dirty="0">
              <a:ln>
                <a:noFill/>
              </a:ln>
              <a:effectLst/>
              <a:uLnTx/>
              <a:uFillTx/>
              <a:latin typeface="맑은 고딕"/>
            </a:endParaRPr>
          </a:p>
        </p:txBody>
      </p:sp>
      <p:sp>
        <p:nvSpPr>
          <p:cNvPr id="161" name="타원 160">
            <a:extLst>
              <a:ext uri="{FF2B5EF4-FFF2-40B4-BE49-F238E27FC236}">
                <a16:creationId xmlns:a16="http://schemas.microsoft.com/office/drawing/2014/main" id="{37A7FF4F-0EAA-1463-560A-D5EC24416103}"/>
              </a:ext>
            </a:extLst>
          </p:cNvPr>
          <p:cNvSpPr/>
          <p:nvPr/>
        </p:nvSpPr>
        <p:spPr>
          <a:xfrm>
            <a:off x="571127" y="536816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75157914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문의처 담당자 연락처 정보 표시</a:t>
            </a:r>
            <a:endParaRPr lang="en-US" altLang="ko-KR" dirty="0"/>
          </a:p>
          <a:p>
            <a:pPr marL="228600" indent="-228600">
              <a:buFont typeface="+mj-lt"/>
              <a:buAutoNum type="arabicPeriod"/>
            </a:pPr>
            <a:r>
              <a:rPr lang="ko-KR" altLang="en-US" dirty="0"/>
              <a:t>약관 동의 항목 필요에 따라 노출</a:t>
            </a:r>
            <a:r>
              <a:rPr lang="en-US" altLang="ko-KR" dirty="0"/>
              <a:t/>
            </a:r>
            <a:br>
              <a:rPr lang="en-US" altLang="ko-KR" dirty="0"/>
            </a:br>
            <a:r>
              <a:rPr lang="en-US" altLang="ko-KR" dirty="0"/>
              <a:t>- </a:t>
            </a:r>
            <a:r>
              <a:rPr lang="ko-KR" altLang="en-US" dirty="0"/>
              <a:t>팝업에서 동의는 서약서와 동일</a:t>
            </a:r>
            <a:endParaRPr lang="en-US" altLang="ko-KR" dirty="0"/>
          </a:p>
          <a:p>
            <a:pPr marL="228600" indent="-228600">
              <a:buFont typeface="+mj-lt"/>
              <a:buAutoNum type="arabicPeriod"/>
            </a:pPr>
            <a:r>
              <a:rPr lang="ko-KR" altLang="en-US" dirty="0"/>
              <a:t>사후심사대상인 경우 안내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문의 및 동의</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a:latin typeface="+mn-ea"/>
              </a:rPr>
              <a:t>문의 및 동의</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문의 및 동의</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MUI-BD-04-M14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타원 194">
            <a:extLst>
              <a:ext uri="{FF2B5EF4-FFF2-40B4-BE49-F238E27FC236}">
                <a16:creationId xmlns:a16="http://schemas.microsoft.com/office/drawing/2014/main" id="{37A7FF4F-0EAA-1463-560A-D5EC24416103}"/>
              </a:ext>
            </a:extLst>
          </p:cNvPr>
          <p:cNvSpPr/>
          <p:nvPr/>
        </p:nvSpPr>
        <p:spPr>
          <a:xfrm>
            <a:off x="571127" y="393895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767702" y="3967085"/>
            <a:ext cx="2522014" cy="342712"/>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endParaRPr kumimoji="1" lang="en-US" sz="700" kern="0" dirty="0">
              <a:solidFill>
                <a:srgbClr val="0070C0"/>
              </a:solidFill>
              <a:latin typeface="맑은 고딕"/>
            </a:endParaRPr>
          </a:p>
        </p:txBody>
      </p:sp>
      <p:sp>
        <p:nvSpPr>
          <p:cNvPr id="166" name="TextBox 58">
            <a:extLst>
              <a:ext uri="{FF2B5EF4-FFF2-40B4-BE49-F238E27FC236}">
                <a16:creationId xmlns:a16="http://schemas.microsoft.com/office/drawing/2014/main" id="{02FC114B-B48B-345F-BD70-2B5A196F5B3E}"/>
              </a:ext>
            </a:extLst>
          </p:cNvPr>
          <p:cNvSpPr txBox="1"/>
          <p:nvPr/>
        </p:nvSpPr>
        <p:spPr>
          <a:xfrm>
            <a:off x="865539" y="4076886"/>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1</a:t>
            </a:r>
            <a:endParaRPr lang="ko-KR" altLang="en-US" sz="800" b="1" dirty="0"/>
          </a:p>
        </p:txBody>
      </p:sp>
      <p:sp>
        <p:nvSpPr>
          <p:cNvPr id="131" name="TextBox 58">
            <a:extLst>
              <a:ext uri="{FF2B5EF4-FFF2-40B4-BE49-F238E27FC236}">
                <a16:creationId xmlns:a16="http://schemas.microsoft.com/office/drawing/2014/main" id="{02FC114B-B48B-345F-BD70-2B5A196F5B3E}"/>
              </a:ext>
            </a:extLst>
          </p:cNvPr>
          <p:cNvSpPr txBox="1"/>
          <p:nvPr/>
        </p:nvSpPr>
        <p:spPr>
          <a:xfrm>
            <a:off x="981276" y="4015331"/>
            <a:ext cx="1681986"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err="1">
                <a:latin typeface="맑은 고딕" panose="020B0503020000020004" pitchFamily="50" charset="-127"/>
              </a:rPr>
              <a:t>국방규격</a:t>
            </a:r>
            <a:r>
              <a:rPr lang="ko-KR" altLang="en-US" sz="800" dirty="0">
                <a:latin typeface="맑은 고딕" panose="020B0503020000020004" pitchFamily="50" charset="-127"/>
              </a:rPr>
              <a:t> 및 계약이행 가능성</a:t>
            </a:r>
            <a:r>
              <a:rPr lang="en-US" altLang="ko-KR" sz="800" dirty="0">
                <a:latin typeface="맑은 고딕" panose="020B0503020000020004" pitchFamily="50" charset="-127"/>
              </a:rPr>
              <a:t> </a:t>
            </a:r>
            <a:r>
              <a:rPr lang="ko-KR" altLang="en-US" sz="800" dirty="0">
                <a:latin typeface="맑은 고딕" panose="020B0503020000020004" pitchFamily="50" charset="-127"/>
              </a:rPr>
              <a:t>확인 동의</a:t>
            </a:r>
            <a:endParaRPr lang="en-US" altLang="ko-KR" sz="800" dirty="0">
              <a:latin typeface="맑은 고딕" panose="020B0503020000020004" pitchFamily="50" charset="-127"/>
            </a:endParaRPr>
          </a:p>
        </p:txBody>
      </p:sp>
      <p:sp>
        <p:nvSpPr>
          <p:cNvPr id="132" name="모서리가 둥근 직사각형 131"/>
          <p:cNvSpPr/>
          <p:nvPr/>
        </p:nvSpPr>
        <p:spPr>
          <a:xfrm>
            <a:off x="2958909" y="4078741"/>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40" name="사각형: 둥근 모서리 15">
            <a:extLst>
              <a:ext uri="{FF2B5EF4-FFF2-40B4-BE49-F238E27FC236}">
                <a16:creationId xmlns:a16="http://schemas.microsoft.com/office/drawing/2014/main" id="{E2B61CFB-AD16-68D0-8752-50D9C5E01971}"/>
              </a:ext>
            </a:extLst>
          </p:cNvPr>
          <p:cNvSpPr/>
          <p:nvPr/>
        </p:nvSpPr>
        <p:spPr>
          <a:xfrm>
            <a:off x="767702" y="4400604"/>
            <a:ext cx="2522014" cy="294671"/>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41" name="TextBox 58">
            <a:extLst>
              <a:ext uri="{FF2B5EF4-FFF2-40B4-BE49-F238E27FC236}">
                <a16:creationId xmlns:a16="http://schemas.microsoft.com/office/drawing/2014/main" id="{02FC114B-B48B-345F-BD70-2B5A196F5B3E}"/>
              </a:ext>
            </a:extLst>
          </p:cNvPr>
          <p:cNvSpPr txBox="1"/>
          <p:nvPr/>
        </p:nvSpPr>
        <p:spPr>
          <a:xfrm>
            <a:off x="865539" y="4481530"/>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2</a:t>
            </a:r>
            <a:endParaRPr lang="ko-KR" altLang="en-US" sz="800" b="1" dirty="0"/>
          </a:p>
        </p:txBody>
      </p:sp>
      <p:sp>
        <p:nvSpPr>
          <p:cNvPr id="142" name="TextBox 58">
            <a:extLst>
              <a:ext uri="{FF2B5EF4-FFF2-40B4-BE49-F238E27FC236}">
                <a16:creationId xmlns:a16="http://schemas.microsoft.com/office/drawing/2014/main" id="{02FC114B-B48B-345F-BD70-2B5A196F5B3E}"/>
              </a:ext>
            </a:extLst>
          </p:cNvPr>
          <p:cNvSpPr txBox="1"/>
          <p:nvPr/>
        </p:nvSpPr>
        <p:spPr>
          <a:xfrm>
            <a:off x="981276" y="4481530"/>
            <a:ext cx="1681985"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약관동의</a:t>
            </a:r>
            <a:endParaRPr lang="ko-KR" altLang="en-US" sz="800" dirty="0"/>
          </a:p>
        </p:txBody>
      </p:sp>
      <p:sp>
        <p:nvSpPr>
          <p:cNvPr id="143" name="모서리가 둥근 직사각형 142"/>
          <p:cNvSpPr/>
          <p:nvPr/>
        </p:nvSpPr>
        <p:spPr>
          <a:xfrm>
            <a:off x="2958909" y="4483385"/>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98" name="타원 197"/>
          <p:cNvSpPr/>
          <p:nvPr/>
        </p:nvSpPr>
        <p:spPr>
          <a:xfrm>
            <a:off x="2764330" y="4080584"/>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sp>
        <p:nvSpPr>
          <p:cNvPr id="199" name="사각형: 둥근 모서리 15">
            <a:extLst>
              <a:ext uri="{FF2B5EF4-FFF2-40B4-BE49-F238E27FC236}">
                <a16:creationId xmlns:a16="http://schemas.microsoft.com/office/drawing/2014/main" id="{E2B61CFB-AD16-68D0-8752-50D9C5E01971}"/>
              </a:ext>
            </a:extLst>
          </p:cNvPr>
          <p:cNvSpPr/>
          <p:nvPr/>
        </p:nvSpPr>
        <p:spPr>
          <a:xfrm>
            <a:off x="767702" y="4787184"/>
            <a:ext cx="2522014" cy="34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200" name="TextBox 58">
            <a:extLst>
              <a:ext uri="{FF2B5EF4-FFF2-40B4-BE49-F238E27FC236}">
                <a16:creationId xmlns:a16="http://schemas.microsoft.com/office/drawing/2014/main" id="{02FC114B-B48B-345F-BD70-2B5A196F5B3E}"/>
              </a:ext>
            </a:extLst>
          </p:cNvPr>
          <p:cNvSpPr txBox="1"/>
          <p:nvPr/>
        </p:nvSpPr>
        <p:spPr>
          <a:xfrm>
            <a:off x="865539" y="4896629"/>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3</a:t>
            </a:r>
            <a:endParaRPr lang="ko-KR" altLang="en-US" sz="800" b="1" dirty="0"/>
          </a:p>
        </p:txBody>
      </p:sp>
      <p:sp>
        <p:nvSpPr>
          <p:cNvPr id="202" name="TextBox 58">
            <a:extLst>
              <a:ext uri="{FF2B5EF4-FFF2-40B4-BE49-F238E27FC236}">
                <a16:creationId xmlns:a16="http://schemas.microsoft.com/office/drawing/2014/main" id="{02FC114B-B48B-345F-BD70-2B5A196F5B3E}"/>
              </a:ext>
            </a:extLst>
          </p:cNvPr>
          <p:cNvSpPr txBox="1"/>
          <p:nvPr/>
        </p:nvSpPr>
        <p:spPr>
          <a:xfrm>
            <a:off x="981277" y="4835074"/>
            <a:ext cx="1681986"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하도급대금의 지급관련 확인 및 </a:t>
            </a:r>
            <a:endParaRPr lang="en-US" altLang="ko-KR" sz="800" dirty="0">
              <a:latin typeface="맑은 고딕" panose="020B0503020000020004" pitchFamily="50" charset="-127"/>
            </a:endParaRPr>
          </a:p>
          <a:p>
            <a:r>
              <a:rPr lang="ko-KR" altLang="en-US" sz="800" dirty="0">
                <a:latin typeface="맑은 고딕" panose="020B0503020000020004" pitchFamily="50" charset="-127"/>
              </a:rPr>
              <a:t>확약서</a:t>
            </a:r>
            <a:endParaRPr lang="en-US" altLang="ko-KR" sz="800" dirty="0">
              <a:latin typeface="맑은 고딕" panose="020B0503020000020004" pitchFamily="50" charset="-127"/>
            </a:endParaRPr>
          </a:p>
        </p:txBody>
      </p:sp>
      <p:sp>
        <p:nvSpPr>
          <p:cNvPr id="203" name="모서리가 둥근 직사각형 202"/>
          <p:cNvSpPr/>
          <p:nvPr/>
        </p:nvSpPr>
        <p:spPr>
          <a:xfrm>
            <a:off x="2958909" y="4898484"/>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27" name="직사각형 126">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2" name="그룹 161"/>
          <p:cNvGrpSpPr/>
          <p:nvPr/>
        </p:nvGrpSpPr>
        <p:grpSpPr>
          <a:xfrm>
            <a:off x="3795733" y="5614711"/>
            <a:ext cx="2712027" cy="617588"/>
            <a:chOff x="675399" y="5614711"/>
            <a:chExt cx="2712027" cy="617588"/>
          </a:xfrm>
        </p:grpSpPr>
        <p:sp>
          <p:nvSpPr>
            <p:cNvPr id="163" name="직사각형 1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전자서명하기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이전</a:t>
              </a:r>
              <a:endParaRPr kumimoji="1" lang="en-US" sz="1000" b="0" i="0" u="none" strike="noStrike" kern="0" cap="none" spc="0" normalizeH="0" baseline="0" noProof="0" dirty="0">
                <a:ln>
                  <a:noFill/>
                </a:ln>
                <a:effectLst/>
                <a:uLnTx/>
                <a:uFillTx/>
                <a:latin typeface="맑은 고딕"/>
              </a:endParaRPr>
            </a:p>
          </p:txBody>
        </p:sp>
      </p:grpSp>
      <p:sp>
        <p:nvSpPr>
          <p:cNvPr id="185" name="모서리가 둥근 직사각형 184"/>
          <p:cNvSpPr/>
          <p:nvPr/>
        </p:nvSpPr>
        <p:spPr>
          <a:xfrm>
            <a:off x="3825414" y="2587672"/>
            <a:ext cx="2652743" cy="1601238"/>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4184" y="2685956"/>
            <a:ext cx="2475203" cy="1400383"/>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사후심사대상 </a:t>
            </a:r>
            <a:r>
              <a:rPr lang="ko-KR" altLang="en-US" sz="700" dirty="0" err="1">
                <a:solidFill>
                  <a:schemeClr val="tx1">
                    <a:lumMod val="85000"/>
                    <a:lumOff val="15000"/>
                  </a:schemeClr>
                </a:solidFill>
                <a:latin typeface="맑은 고딕" panose="020B0503020000020004" pitchFamily="50" charset="-127"/>
              </a:rPr>
              <a:t>입찰안내</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입찰전</a:t>
            </a:r>
            <a:r>
              <a:rPr lang="ko-KR" altLang="en-US" sz="700" dirty="0">
                <a:solidFill>
                  <a:schemeClr val="tx1">
                    <a:lumMod val="85000"/>
                    <a:lumOff val="15000"/>
                  </a:schemeClr>
                </a:solidFill>
                <a:latin typeface="맑은 고딕" panose="020B0503020000020004" pitchFamily="50" charset="-127"/>
              </a:rPr>
              <a:t> 꼭 확인 하시기 바랍니다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r>
              <a:rPr lang="ko-KR" altLang="en-US" sz="700" dirty="0" err="1">
                <a:solidFill>
                  <a:srgbClr val="000000"/>
                </a:solidFill>
                <a:latin typeface="+mn-ea"/>
              </a:rPr>
              <a:t>해당입찰</a:t>
            </a:r>
            <a:r>
              <a:rPr lang="ko-KR" altLang="en-US" sz="700" dirty="0">
                <a:solidFill>
                  <a:srgbClr val="000000"/>
                </a:solidFill>
                <a:latin typeface="+mn-ea"/>
              </a:rPr>
              <a:t> 건은 </a:t>
            </a:r>
            <a:r>
              <a:rPr lang="en-US" altLang="ko-KR" sz="700" dirty="0">
                <a:solidFill>
                  <a:srgbClr val="000000"/>
                </a:solidFill>
                <a:latin typeface="+mn-ea"/>
              </a:rPr>
              <a:t>[</a:t>
            </a:r>
            <a:r>
              <a:rPr lang="ko-KR" altLang="en-US" sz="700" dirty="0" err="1">
                <a:solidFill>
                  <a:srgbClr val="000000"/>
                </a:solidFill>
                <a:latin typeface="+mn-ea"/>
              </a:rPr>
              <a:t>입찰서제출</a:t>
            </a:r>
            <a:r>
              <a:rPr lang="ko-KR" altLang="en-US" sz="700" dirty="0">
                <a:solidFill>
                  <a:srgbClr val="000000"/>
                </a:solidFill>
                <a:latin typeface="+mn-ea"/>
              </a:rPr>
              <a:t> 마감</a:t>
            </a:r>
            <a:r>
              <a:rPr lang="en-US" altLang="ko-KR" sz="700" dirty="0">
                <a:solidFill>
                  <a:srgbClr val="000000"/>
                </a:solidFill>
                <a:latin typeface="+mn-ea"/>
              </a:rPr>
              <a:t>] </a:t>
            </a:r>
            <a:r>
              <a:rPr lang="ko-KR" altLang="en-US" sz="700" dirty="0">
                <a:solidFill>
                  <a:srgbClr val="000000"/>
                </a:solidFill>
                <a:latin typeface="+mn-ea"/>
              </a:rPr>
              <a:t>후 </a:t>
            </a:r>
            <a:r>
              <a:rPr lang="en-US" altLang="ko-KR" sz="700" dirty="0">
                <a:solidFill>
                  <a:srgbClr val="000000"/>
                </a:solidFill>
                <a:latin typeface="+mn-ea"/>
              </a:rPr>
              <a:t>[</a:t>
            </a:r>
            <a:r>
              <a:rPr lang="ko-KR" altLang="en-US" sz="700" dirty="0" err="1">
                <a:solidFill>
                  <a:srgbClr val="000000"/>
                </a:solidFill>
                <a:latin typeface="+mn-ea"/>
              </a:rPr>
              <a:t>등록심사</a:t>
            </a:r>
            <a:r>
              <a:rPr lang="en-US" altLang="ko-KR" sz="700" dirty="0">
                <a:solidFill>
                  <a:srgbClr val="000000"/>
                </a:solidFill>
                <a:latin typeface="+mn-ea"/>
              </a:rPr>
              <a:t>]</a:t>
            </a:r>
            <a:r>
              <a:rPr lang="ko-KR" altLang="en-US" sz="700" dirty="0">
                <a:solidFill>
                  <a:srgbClr val="000000"/>
                </a:solidFill>
                <a:latin typeface="+mn-ea"/>
              </a:rPr>
              <a:t>를 진행하는 </a:t>
            </a:r>
            <a:r>
              <a:rPr lang="ko-KR" altLang="en-US" sz="700" dirty="0" err="1">
                <a:solidFill>
                  <a:srgbClr val="000000"/>
                </a:solidFill>
                <a:latin typeface="+mn-ea"/>
              </a:rPr>
              <a:t>입찰건으로</a:t>
            </a:r>
            <a:r>
              <a:rPr lang="ko-KR" altLang="en-US" sz="700" dirty="0">
                <a:solidFill>
                  <a:srgbClr val="000000"/>
                </a:solidFill>
                <a:latin typeface="+mn-ea"/>
              </a:rPr>
              <a:t> 참가신청서 작성 후 </a:t>
            </a:r>
            <a:r>
              <a:rPr lang="ko-KR" altLang="en-US" sz="700" dirty="0" err="1">
                <a:solidFill>
                  <a:srgbClr val="000000"/>
                </a:solidFill>
                <a:latin typeface="+mn-ea"/>
              </a:rPr>
              <a:t>등록심사</a:t>
            </a:r>
            <a:r>
              <a:rPr lang="ko-KR" altLang="en-US" sz="700" dirty="0">
                <a:solidFill>
                  <a:srgbClr val="000000"/>
                </a:solidFill>
                <a:latin typeface="+mn-ea"/>
              </a:rPr>
              <a:t> 없이 입찰서를 제출합니다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a:t>
            </a:r>
            <a:r>
              <a:rPr lang="ko-KR" altLang="en-US" sz="700" dirty="0">
                <a:solidFill>
                  <a:srgbClr val="000000"/>
                </a:solidFill>
                <a:latin typeface="+mn-ea"/>
              </a:rPr>
              <a:t>공동이행방식</a:t>
            </a:r>
            <a:r>
              <a:rPr lang="en-US" altLang="ko-KR" sz="700" dirty="0">
                <a:solidFill>
                  <a:srgbClr val="000000"/>
                </a:solidFill>
                <a:latin typeface="+mn-ea"/>
              </a:rPr>
              <a:t>]</a:t>
            </a:r>
            <a:r>
              <a:rPr lang="ko-KR" altLang="en-US" sz="700" dirty="0">
                <a:solidFill>
                  <a:srgbClr val="000000"/>
                </a:solidFill>
                <a:latin typeface="+mn-ea"/>
              </a:rPr>
              <a:t>의 입찰은 </a:t>
            </a:r>
            <a:r>
              <a:rPr lang="en-US" altLang="ko-KR" sz="700" dirty="0">
                <a:solidFill>
                  <a:srgbClr val="000000"/>
                </a:solidFill>
                <a:latin typeface="+mn-ea"/>
              </a:rPr>
              <a:t>[</a:t>
            </a:r>
            <a:r>
              <a:rPr lang="ko-KR" altLang="en-US" sz="700" dirty="0" err="1">
                <a:solidFill>
                  <a:srgbClr val="000000"/>
                </a:solidFill>
                <a:latin typeface="+mn-ea"/>
              </a:rPr>
              <a:t>협정서제출</a:t>
            </a:r>
            <a:r>
              <a:rPr lang="en-US" altLang="ko-KR" sz="700" dirty="0">
                <a:solidFill>
                  <a:srgbClr val="000000"/>
                </a:solidFill>
                <a:latin typeface="+mn-ea"/>
              </a:rPr>
              <a:t>] </a:t>
            </a:r>
            <a:r>
              <a:rPr lang="ko-KR" altLang="en-US" sz="700" dirty="0">
                <a:solidFill>
                  <a:srgbClr val="000000"/>
                </a:solidFill>
                <a:latin typeface="+mn-ea"/>
              </a:rPr>
              <a:t>시 입찰서를 제출할 수 있습니다</a:t>
            </a:r>
            <a:r>
              <a:rPr lang="en-US" altLang="ko-KR" sz="700" dirty="0">
                <a:solidFill>
                  <a:srgbClr val="000000"/>
                </a:solidFill>
                <a:latin typeface="+mn-ea"/>
              </a:rPr>
              <a:t>.</a:t>
            </a:r>
          </a:p>
          <a:p>
            <a:pPr marL="92075" indent="-92075">
              <a:buFont typeface="Arial" panose="020B0604020202020204" pitchFamily="34" charset="0"/>
              <a:buChar char="•"/>
            </a:pPr>
            <a:r>
              <a:rPr lang="ko-KR" altLang="en-US" sz="700" dirty="0">
                <a:solidFill>
                  <a:srgbClr val="FF0000"/>
                </a:solidFill>
                <a:latin typeface="+mn-ea"/>
              </a:rPr>
              <a:t>주의</a:t>
            </a:r>
            <a:r>
              <a:rPr lang="en-US" altLang="ko-KR" sz="700" dirty="0">
                <a:solidFill>
                  <a:srgbClr val="FF0000"/>
                </a:solidFill>
                <a:latin typeface="+mn-ea"/>
              </a:rPr>
              <a:t>) </a:t>
            </a:r>
            <a:r>
              <a:rPr lang="ko-KR" altLang="en-US" sz="700" dirty="0">
                <a:solidFill>
                  <a:srgbClr val="FF0000"/>
                </a:solidFill>
                <a:latin typeface="+mn-ea"/>
              </a:rPr>
              <a:t>입찰서를 제출 후에는 참가신청서</a:t>
            </a:r>
            <a:r>
              <a:rPr lang="en-US" altLang="ko-KR" sz="700" dirty="0">
                <a:solidFill>
                  <a:srgbClr val="FF0000"/>
                </a:solidFill>
                <a:latin typeface="+mn-ea"/>
              </a:rPr>
              <a:t>, </a:t>
            </a:r>
            <a:r>
              <a:rPr lang="ko-KR" altLang="en-US" sz="700" dirty="0">
                <a:solidFill>
                  <a:srgbClr val="FF0000"/>
                </a:solidFill>
                <a:latin typeface="+mn-ea"/>
              </a:rPr>
              <a:t>공동수급협정서</a:t>
            </a:r>
            <a:r>
              <a:rPr lang="en-US" altLang="ko-KR" sz="700" dirty="0">
                <a:solidFill>
                  <a:srgbClr val="FF0000"/>
                </a:solidFill>
                <a:latin typeface="+mn-ea"/>
              </a:rPr>
              <a:t>, </a:t>
            </a:r>
            <a:r>
              <a:rPr lang="ko-KR" altLang="en-US" sz="700" dirty="0">
                <a:solidFill>
                  <a:srgbClr val="FF0000"/>
                </a:solidFill>
                <a:latin typeface="+mn-ea"/>
              </a:rPr>
              <a:t>입찰서를 변경 할 수 없습니다</a:t>
            </a:r>
            <a:r>
              <a:rPr lang="en-US" altLang="ko-KR" sz="700" dirty="0">
                <a:solidFill>
                  <a:srgbClr val="FF0000"/>
                </a:solidFill>
                <a:latin typeface="+mn-ea"/>
              </a:rPr>
              <a:t>.</a:t>
            </a:r>
          </a:p>
          <a:p>
            <a:pPr marL="92075" indent="-92075">
              <a:buFont typeface="Arial" panose="020B0604020202020204" pitchFamily="34" charset="0"/>
              <a:buChar char="•"/>
            </a:pPr>
            <a:r>
              <a:rPr lang="ko-KR" altLang="en-US" sz="700" dirty="0">
                <a:solidFill>
                  <a:srgbClr val="000000"/>
                </a:solidFill>
                <a:latin typeface="+mn-ea"/>
              </a:rPr>
              <a:t>입찰서제출이 마감 후에 등록심사에서 탈락 시 개찰대상에서 제외됩니다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 </a:t>
            </a:r>
            <a:r>
              <a:rPr lang="ko-KR" altLang="en-US" sz="700" dirty="0">
                <a:solidFill>
                  <a:srgbClr val="000000"/>
                </a:solidFill>
                <a:latin typeface="+mn-ea"/>
              </a:rPr>
              <a:t>문의 </a:t>
            </a:r>
            <a:r>
              <a:rPr lang="en-US" altLang="ko-KR" sz="700" dirty="0">
                <a:solidFill>
                  <a:srgbClr val="000000"/>
                </a:solidFill>
                <a:latin typeface="+mn-ea"/>
              </a:rPr>
              <a:t>:1577-1118(①)(</a:t>
            </a:r>
            <a:r>
              <a:rPr lang="ko-KR" altLang="en-US" sz="700" dirty="0">
                <a:solidFill>
                  <a:srgbClr val="000000"/>
                </a:solidFill>
                <a:latin typeface="+mn-ea"/>
              </a:rPr>
              <a:t>전자입찰서비스 데스크</a:t>
            </a:r>
            <a:r>
              <a:rPr lang="en-US" altLang="ko-KR" sz="700" dirty="0">
                <a:solidFill>
                  <a:srgbClr val="000000"/>
                </a:solidFill>
                <a:latin typeface="+mn-ea"/>
              </a:rPr>
              <a:t>)</a:t>
            </a:r>
            <a:endParaRPr lang="en-US" altLang="ko-KR" sz="700" dirty="0">
              <a:latin typeface="+mn-ea"/>
            </a:endParaRPr>
          </a:p>
        </p:txBody>
      </p:sp>
      <p:sp>
        <p:nvSpPr>
          <p:cNvPr id="194" name="타원 193"/>
          <p:cNvSpPr/>
          <p:nvPr/>
        </p:nvSpPr>
        <p:spPr>
          <a:xfrm>
            <a:off x="3910226" y="267630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1" name="그룹 200"/>
          <p:cNvGrpSpPr/>
          <p:nvPr/>
        </p:nvGrpSpPr>
        <p:grpSpPr>
          <a:xfrm flipV="1">
            <a:off x="6259047" y="2724803"/>
            <a:ext cx="94010" cy="47005"/>
            <a:chOff x="6812560" y="3297172"/>
            <a:chExt cx="94010" cy="47005"/>
          </a:xfrm>
        </p:grpSpPr>
        <p:cxnSp>
          <p:nvCxnSpPr>
            <p:cNvPr id="204" name="직선 연결선 20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5" name="직선 연결선 20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TextBox 210">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12" name="타원 211">
            <a:extLst>
              <a:ext uri="{FF2B5EF4-FFF2-40B4-BE49-F238E27FC236}">
                <a16:creationId xmlns:a16="http://schemas.microsoft.com/office/drawing/2014/main" id="{37A7FF4F-0EAA-1463-560A-D5EC24416103}"/>
              </a:ext>
            </a:extLst>
          </p:cNvPr>
          <p:cNvSpPr/>
          <p:nvPr/>
        </p:nvSpPr>
        <p:spPr>
          <a:xfrm>
            <a:off x="3709669" y="25851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93" name="그룹 92"/>
          <p:cNvGrpSpPr/>
          <p:nvPr/>
        </p:nvGrpSpPr>
        <p:grpSpPr>
          <a:xfrm>
            <a:off x="675399" y="1578465"/>
            <a:ext cx="2712027" cy="508898"/>
            <a:chOff x="3795734" y="1602341"/>
            <a:chExt cx="2712027" cy="508898"/>
          </a:xfrm>
        </p:grpSpPr>
        <p:sp>
          <p:nvSpPr>
            <p:cNvPr id="9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95" name="모서리가 둥근 직사각형 9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96" name="모서리가 둥근 직사각형 9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29" name="직선 연결선 128">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763817" y="2201247"/>
            <a:ext cx="644712"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1430194" y="2201247"/>
            <a:ext cx="555764"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2007623" y="2201247"/>
            <a:ext cx="655640" cy="107722"/>
          </a:xfrm>
          <a:prstGeom prst="rect">
            <a:avLst/>
          </a:prstGeom>
          <a:noFill/>
        </p:spPr>
        <p:txBody>
          <a:bodyPr wrap="square" lIns="0" tIns="0" rIns="0" bIns="0" rtlCol="0">
            <a:spAutoFit/>
          </a:bodyPr>
          <a:lstStyle/>
          <a:p>
            <a:pPr algn="ctr"/>
            <a:r>
              <a:rPr lang="en-US" altLang="ko-KR" sz="700" b="1" dirty="0">
                <a:latin typeface="+mn-ea"/>
              </a:rPr>
              <a:t>7. </a:t>
            </a:r>
            <a:r>
              <a:rPr lang="ko-KR" altLang="en-US" sz="700" b="1" dirty="0">
                <a:latin typeface="+mn-ea"/>
              </a:rPr>
              <a:t>문의 및 동의</a:t>
            </a:r>
          </a:p>
        </p:txBody>
      </p:sp>
      <p:cxnSp>
        <p:nvCxnSpPr>
          <p:cNvPr id="138" name="직선 연결선 137">
            <a:extLst>
              <a:ext uri="{FF2B5EF4-FFF2-40B4-BE49-F238E27FC236}">
                <a16:creationId xmlns:a16="http://schemas.microsoft.com/office/drawing/2014/main" id="{E9293055-D5CD-4B9E-7F64-64B2D2CA7A52}"/>
              </a:ext>
            </a:extLst>
          </p:cNvPr>
          <p:cNvCxnSpPr/>
          <p:nvPr/>
        </p:nvCxnSpPr>
        <p:spPr>
          <a:xfrm>
            <a:off x="1985958" y="2417854"/>
            <a:ext cx="677305"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4" name="그룹 143"/>
          <p:cNvGrpSpPr/>
          <p:nvPr/>
        </p:nvGrpSpPr>
        <p:grpSpPr>
          <a:xfrm>
            <a:off x="2923735" y="2163124"/>
            <a:ext cx="422853" cy="187961"/>
            <a:chOff x="3641308" y="2234886"/>
            <a:chExt cx="422853" cy="187961"/>
          </a:xfrm>
        </p:grpSpPr>
        <p:sp>
          <p:nvSpPr>
            <p:cNvPr id="145" name="타원 14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7" name="그룹 146"/>
            <p:cNvGrpSpPr/>
            <p:nvPr/>
          </p:nvGrpSpPr>
          <p:grpSpPr>
            <a:xfrm rot="5400000" flipH="1">
              <a:off x="3679895" y="2305364"/>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5" name="타원 16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7" name="그룹 166"/>
            <p:cNvGrpSpPr/>
            <p:nvPr/>
          </p:nvGrpSpPr>
          <p:grpSpPr>
            <a:xfrm rot="16200000">
              <a:off x="3931564" y="2305364"/>
              <a:ext cx="94010" cy="47005"/>
              <a:chOff x="6812560" y="3297172"/>
              <a:chExt cx="94010" cy="47005"/>
            </a:xfrm>
          </p:grpSpPr>
          <p:cxnSp>
            <p:nvCxnSpPr>
              <p:cNvPr id="168" name="직선 연결선 16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9" name="직선 연결선 16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72" name="TextBox 171">
            <a:extLst>
              <a:ext uri="{FF2B5EF4-FFF2-40B4-BE49-F238E27FC236}">
                <a16:creationId xmlns:a16="http://schemas.microsoft.com/office/drawing/2014/main" id="{FFC49AEA-2A8F-250C-A86A-A7751D9706C3}"/>
              </a:ext>
            </a:extLst>
          </p:cNvPr>
          <p:cNvSpPr txBox="1"/>
          <p:nvPr/>
        </p:nvSpPr>
        <p:spPr>
          <a:xfrm>
            <a:off x="756845" y="2476862"/>
            <a:ext cx="1384615" cy="181140"/>
          </a:xfrm>
          <a:prstGeom prst="rect">
            <a:avLst/>
          </a:prstGeom>
          <a:noFill/>
        </p:spPr>
        <p:txBody>
          <a:bodyPr wrap="square" lIns="0" tIns="0" rIns="0" bIns="0" rtlCol="0">
            <a:spAutoFit/>
          </a:bodyPr>
          <a:lstStyle/>
          <a:p>
            <a:pPr>
              <a:lnSpc>
                <a:spcPct val="200000"/>
              </a:lnSpc>
            </a:pPr>
            <a:r>
              <a:rPr lang="ko-KR" altLang="en-US" sz="700" dirty="0">
                <a:latin typeface="+mn-ea"/>
              </a:rPr>
              <a:t>문의처</a:t>
            </a:r>
          </a:p>
        </p:txBody>
      </p:sp>
      <p:sp>
        <p:nvSpPr>
          <p:cNvPr id="173" name="사각형: 둥근 모서리 15">
            <a:extLst>
              <a:ext uri="{FF2B5EF4-FFF2-40B4-BE49-F238E27FC236}">
                <a16:creationId xmlns:a16="http://schemas.microsoft.com/office/drawing/2014/main" id="{E2B61CFB-AD16-68D0-8752-50D9C5E01971}"/>
              </a:ext>
            </a:extLst>
          </p:cNvPr>
          <p:cNvSpPr/>
          <p:nvPr/>
        </p:nvSpPr>
        <p:spPr>
          <a:xfrm>
            <a:off x="767702" y="2864853"/>
            <a:ext cx="2522014" cy="295200"/>
          </a:xfrm>
          <a:prstGeom prst="round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175" name="TextBox 58">
            <a:extLst>
              <a:ext uri="{FF2B5EF4-FFF2-40B4-BE49-F238E27FC236}">
                <a16:creationId xmlns:a16="http://schemas.microsoft.com/office/drawing/2014/main" id="{02FC114B-B48B-345F-BD70-2B5A196F5B3E}"/>
              </a:ext>
            </a:extLst>
          </p:cNvPr>
          <p:cNvSpPr txBox="1"/>
          <p:nvPr/>
        </p:nvSpPr>
        <p:spPr>
          <a:xfrm>
            <a:off x="919250" y="2738120"/>
            <a:ext cx="230832" cy="92333"/>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600" dirty="0">
                <a:latin typeface="맑은 고딕" panose="020B0503020000020004" pitchFamily="50" charset="-127"/>
              </a:rPr>
              <a:t>담당자</a:t>
            </a:r>
            <a:endParaRPr lang="en-US" altLang="ko-KR" sz="600" dirty="0">
              <a:latin typeface="맑은 고딕" panose="020B0503020000020004" pitchFamily="50" charset="-127"/>
            </a:endParaRPr>
          </a:p>
        </p:txBody>
      </p:sp>
      <p:cxnSp>
        <p:nvCxnSpPr>
          <p:cNvPr id="178" name="직선 연결선 177">
            <a:extLst>
              <a:ext uri="{FF2B5EF4-FFF2-40B4-BE49-F238E27FC236}">
                <a16:creationId xmlns:a16="http://schemas.microsoft.com/office/drawing/2014/main" id="{E9293055-D5CD-4B9E-7F64-64B2D2CA7A52}"/>
              </a:ext>
            </a:extLst>
          </p:cNvPr>
          <p:cNvCxnSpPr/>
          <p:nvPr/>
        </p:nvCxnSpPr>
        <p:spPr>
          <a:xfrm>
            <a:off x="675399" y="363352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9" name="TextBox 178">
            <a:extLst>
              <a:ext uri="{FF2B5EF4-FFF2-40B4-BE49-F238E27FC236}">
                <a16:creationId xmlns:a16="http://schemas.microsoft.com/office/drawing/2014/main" id="{FFC49AEA-2A8F-250C-A86A-A7751D9706C3}"/>
              </a:ext>
            </a:extLst>
          </p:cNvPr>
          <p:cNvSpPr txBox="1"/>
          <p:nvPr/>
        </p:nvSpPr>
        <p:spPr>
          <a:xfrm>
            <a:off x="756845" y="3681098"/>
            <a:ext cx="1384615" cy="181140"/>
          </a:xfrm>
          <a:prstGeom prst="rect">
            <a:avLst/>
          </a:prstGeom>
          <a:noFill/>
        </p:spPr>
        <p:txBody>
          <a:bodyPr wrap="square" lIns="0" tIns="0" rIns="0" bIns="0" rtlCol="0">
            <a:spAutoFit/>
          </a:bodyPr>
          <a:lstStyle/>
          <a:p>
            <a:pPr>
              <a:lnSpc>
                <a:spcPct val="200000"/>
              </a:lnSpc>
            </a:pPr>
            <a:r>
              <a:rPr lang="ko-KR" altLang="en-US" sz="700" dirty="0">
                <a:latin typeface="+mn-ea"/>
              </a:rPr>
              <a:t>약관 동의</a:t>
            </a:r>
          </a:p>
        </p:txBody>
      </p:sp>
      <p:sp>
        <p:nvSpPr>
          <p:cNvPr id="180" name="사각형: 둥근 모서리 15">
            <a:extLst>
              <a:ext uri="{FF2B5EF4-FFF2-40B4-BE49-F238E27FC236}">
                <a16:creationId xmlns:a16="http://schemas.microsoft.com/office/drawing/2014/main" id="{E2B61CFB-AD16-68D0-8752-50D9C5E01971}"/>
              </a:ext>
            </a:extLst>
          </p:cNvPr>
          <p:cNvSpPr/>
          <p:nvPr/>
        </p:nvSpPr>
        <p:spPr>
          <a:xfrm>
            <a:off x="767702" y="5215950"/>
            <a:ext cx="2522014" cy="2952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81" name="TextBox 58">
            <a:extLst>
              <a:ext uri="{FF2B5EF4-FFF2-40B4-BE49-F238E27FC236}">
                <a16:creationId xmlns:a16="http://schemas.microsoft.com/office/drawing/2014/main" id="{02FC114B-B48B-345F-BD70-2B5A196F5B3E}"/>
              </a:ext>
            </a:extLst>
          </p:cNvPr>
          <p:cNvSpPr txBox="1"/>
          <p:nvPr/>
        </p:nvSpPr>
        <p:spPr>
          <a:xfrm>
            <a:off x="865539" y="5301995"/>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4</a:t>
            </a:r>
            <a:endParaRPr lang="ko-KR" altLang="en-US" sz="800" b="1" dirty="0"/>
          </a:p>
        </p:txBody>
      </p:sp>
      <p:sp>
        <p:nvSpPr>
          <p:cNvPr id="182" name="TextBox 58">
            <a:extLst>
              <a:ext uri="{FF2B5EF4-FFF2-40B4-BE49-F238E27FC236}">
                <a16:creationId xmlns:a16="http://schemas.microsoft.com/office/drawing/2014/main" id="{02FC114B-B48B-345F-BD70-2B5A196F5B3E}"/>
              </a:ext>
            </a:extLst>
          </p:cNvPr>
          <p:cNvSpPr txBox="1"/>
          <p:nvPr/>
        </p:nvSpPr>
        <p:spPr>
          <a:xfrm>
            <a:off x="981277" y="5301995"/>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입찰보증금 </a:t>
            </a:r>
            <a:r>
              <a:rPr lang="ko-KR" altLang="en-US" sz="800" dirty="0" err="1">
                <a:latin typeface="맑은 고딕" panose="020B0503020000020004" pitchFamily="50" charset="-127"/>
              </a:rPr>
              <a:t>지급확약서</a:t>
            </a:r>
            <a:r>
              <a:rPr lang="ko-KR" altLang="en-US" sz="800" dirty="0">
                <a:latin typeface="맑은 고딕" panose="020B0503020000020004" pitchFamily="50" charset="-127"/>
              </a:rPr>
              <a:t> </a:t>
            </a:r>
            <a:r>
              <a:rPr lang="ko-KR" altLang="en-US" sz="800" dirty="0" err="1">
                <a:latin typeface="맑은 고딕" panose="020B0503020000020004" pitchFamily="50" charset="-127"/>
              </a:rPr>
              <a:t>동의문</a:t>
            </a:r>
            <a:endParaRPr lang="en-US" altLang="ko-KR" sz="800" dirty="0">
              <a:latin typeface="맑은 고딕" panose="020B0503020000020004" pitchFamily="50" charset="-127"/>
            </a:endParaRPr>
          </a:p>
        </p:txBody>
      </p:sp>
      <p:sp>
        <p:nvSpPr>
          <p:cNvPr id="184" name="모서리가 둥근 직사각형 183"/>
          <p:cNvSpPr/>
          <p:nvPr/>
        </p:nvSpPr>
        <p:spPr>
          <a:xfrm>
            <a:off x="2958909" y="5303850"/>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86" name="사각형: 둥근 모서리 15">
            <a:extLst>
              <a:ext uri="{FF2B5EF4-FFF2-40B4-BE49-F238E27FC236}">
                <a16:creationId xmlns:a16="http://schemas.microsoft.com/office/drawing/2014/main" id="{E2B61CFB-AD16-68D0-8752-50D9C5E01971}"/>
              </a:ext>
            </a:extLst>
          </p:cNvPr>
          <p:cNvSpPr/>
          <p:nvPr/>
        </p:nvSpPr>
        <p:spPr>
          <a:xfrm>
            <a:off x="767702" y="5597195"/>
            <a:ext cx="2522014" cy="2952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96" name="TextBox 58">
            <a:extLst>
              <a:ext uri="{FF2B5EF4-FFF2-40B4-BE49-F238E27FC236}">
                <a16:creationId xmlns:a16="http://schemas.microsoft.com/office/drawing/2014/main" id="{02FC114B-B48B-345F-BD70-2B5A196F5B3E}"/>
              </a:ext>
            </a:extLst>
          </p:cNvPr>
          <p:cNvSpPr txBox="1"/>
          <p:nvPr/>
        </p:nvSpPr>
        <p:spPr>
          <a:xfrm>
            <a:off x="865539" y="5683240"/>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5</a:t>
            </a:r>
            <a:endParaRPr lang="ko-KR" altLang="en-US" sz="800" b="1" dirty="0"/>
          </a:p>
        </p:txBody>
      </p:sp>
      <p:sp>
        <p:nvSpPr>
          <p:cNvPr id="197" name="TextBox 58">
            <a:extLst>
              <a:ext uri="{FF2B5EF4-FFF2-40B4-BE49-F238E27FC236}">
                <a16:creationId xmlns:a16="http://schemas.microsoft.com/office/drawing/2014/main" id="{02FC114B-B48B-345F-BD70-2B5A196F5B3E}"/>
              </a:ext>
            </a:extLst>
          </p:cNvPr>
          <p:cNvSpPr txBox="1"/>
          <p:nvPr/>
        </p:nvSpPr>
        <p:spPr>
          <a:xfrm>
            <a:off x="981277" y="5683240"/>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입찰보증금 </a:t>
            </a:r>
            <a:r>
              <a:rPr lang="ko-KR" altLang="en-US" sz="800" dirty="0" err="1">
                <a:latin typeface="맑은 고딕" panose="020B0503020000020004" pitchFamily="50" charset="-127"/>
              </a:rPr>
              <a:t>지급확약서</a:t>
            </a:r>
            <a:r>
              <a:rPr lang="ko-KR" altLang="en-US" sz="800" dirty="0">
                <a:latin typeface="맑은 고딕" panose="020B0503020000020004" pitchFamily="50" charset="-127"/>
              </a:rPr>
              <a:t> 관련 경고문</a:t>
            </a:r>
            <a:endParaRPr lang="en-US" altLang="ko-KR" sz="800" dirty="0">
              <a:latin typeface="맑은 고딕" panose="020B0503020000020004" pitchFamily="50" charset="-127"/>
            </a:endParaRPr>
          </a:p>
        </p:txBody>
      </p:sp>
      <p:sp>
        <p:nvSpPr>
          <p:cNvPr id="206" name="모서리가 둥근 직사각형 205"/>
          <p:cNvSpPr/>
          <p:nvPr/>
        </p:nvSpPr>
        <p:spPr>
          <a:xfrm>
            <a:off x="2958909" y="5685095"/>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207" name="사각형: 둥근 모서리 15">
            <a:extLst>
              <a:ext uri="{FF2B5EF4-FFF2-40B4-BE49-F238E27FC236}">
                <a16:creationId xmlns:a16="http://schemas.microsoft.com/office/drawing/2014/main" id="{E2B61CFB-AD16-68D0-8752-50D9C5E01971}"/>
              </a:ext>
            </a:extLst>
          </p:cNvPr>
          <p:cNvSpPr/>
          <p:nvPr/>
        </p:nvSpPr>
        <p:spPr>
          <a:xfrm>
            <a:off x="767702" y="5979659"/>
            <a:ext cx="2522014" cy="2952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208" name="TextBox 58">
            <a:extLst>
              <a:ext uri="{FF2B5EF4-FFF2-40B4-BE49-F238E27FC236}">
                <a16:creationId xmlns:a16="http://schemas.microsoft.com/office/drawing/2014/main" id="{02FC114B-B48B-345F-BD70-2B5A196F5B3E}"/>
              </a:ext>
            </a:extLst>
          </p:cNvPr>
          <p:cNvSpPr txBox="1"/>
          <p:nvPr/>
        </p:nvSpPr>
        <p:spPr>
          <a:xfrm>
            <a:off x="865539" y="6065704"/>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6</a:t>
            </a:r>
            <a:endParaRPr lang="ko-KR" altLang="en-US" sz="800" b="1" dirty="0"/>
          </a:p>
        </p:txBody>
      </p:sp>
      <p:sp>
        <p:nvSpPr>
          <p:cNvPr id="209" name="TextBox 58">
            <a:extLst>
              <a:ext uri="{FF2B5EF4-FFF2-40B4-BE49-F238E27FC236}">
                <a16:creationId xmlns:a16="http://schemas.microsoft.com/office/drawing/2014/main" id="{02FC114B-B48B-345F-BD70-2B5A196F5B3E}"/>
              </a:ext>
            </a:extLst>
          </p:cNvPr>
          <p:cNvSpPr txBox="1"/>
          <p:nvPr/>
        </p:nvSpPr>
        <p:spPr>
          <a:xfrm>
            <a:off x="981277" y="6065704"/>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입찰보증금 면제사유 확약서</a:t>
            </a:r>
            <a:endParaRPr lang="en-US" altLang="ko-KR" sz="800" dirty="0">
              <a:latin typeface="맑은 고딕" panose="020B0503020000020004" pitchFamily="50" charset="-127"/>
            </a:endParaRPr>
          </a:p>
        </p:txBody>
      </p:sp>
      <p:sp>
        <p:nvSpPr>
          <p:cNvPr id="213" name="모서리가 둥근 직사각형 212"/>
          <p:cNvSpPr/>
          <p:nvPr/>
        </p:nvSpPr>
        <p:spPr>
          <a:xfrm>
            <a:off x="2958909" y="6067559"/>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214" name="TextBox 58">
            <a:extLst>
              <a:ext uri="{FF2B5EF4-FFF2-40B4-BE49-F238E27FC236}">
                <a16:creationId xmlns:a16="http://schemas.microsoft.com/office/drawing/2014/main" id="{02FC114B-B48B-345F-BD70-2B5A196F5B3E}"/>
              </a:ext>
            </a:extLst>
          </p:cNvPr>
          <p:cNvSpPr txBox="1"/>
          <p:nvPr/>
        </p:nvSpPr>
        <p:spPr>
          <a:xfrm>
            <a:off x="919250" y="2904731"/>
            <a:ext cx="570669" cy="21544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latin typeface="맑은 고딕" panose="020B0503020000020004" pitchFamily="50" charset="-127"/>
              </a:rPr>
              <a:t>방위사업청</a:t>
            </a:r>
            <a:endParaRPr lang="en-US" altLang="ko-KR" sz="700" dirty="0">
              <a:latin typeface="맑은 고딕" panose="020B0503020000020004" pitchFamily="50" charset="-127"/>
            </a:endParaRPr>
          </a:p>
          <a:p>
            <a:r>
              <a:rPr lang="ko-KR" altLang="en-US" sz="700" dirty="0">
                <a:latin typeface="맑은 고딕" panose="020B0503020000020004" pitchFamily="50" charset="-127"/>
              </a:rPr>
              <a:t>홍길동 </a:t>
            </a:r>
            <a:r>
              <a:rPr lang="ko-KR" altLang="en-US" sz="700" dirty="0" err="1">
                <a:latin typeface="맑은 고딕" panose="020B0503020000020004" pitchFamily="50" charset="-127"/>
              </a:rPr>
              <a:t>주무관</a:t>
            </a:r>
            <a:endParaRPr lang="en-US" altLang="ko-KR" sz="700" dirty="0">
              <a:latin typeface="맑은 고딕" panose="020B0503020000020004" pitchFamily="50" charset="-127"/>
            </a:endParaRPr>
          </a:p>
        </p:txBody>
      </p:sp>
      <p:sp>
        <p:nvSpPr>
          <p:cNvPr id="215" name="TextBox 58">
            <a:extLst>
              <a:ext uri="{FF2B5EF4-FFF2-40B4-BE49-F238E27FC236}">
                <a16:creationId xmlns:a16="http://schemas.microsoft.com/office/drawing/2014/main" id="{02FC114B-B48B-345F-BD70-2B5A196F5B3E}"/>
              </a:ext>
            </a:extLst>
          </p:cNvPr>
          <p:cNvSpPr txBox="1"/>
          <p:nvPr/>
        </p:nvSpPr>
        <p:spPr>
          <a:xfrm>
            <a:off x="1919484" y="2738120"/>
            <a:ext cx="230832" cy="92333"/>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600" dirty="0">
                <a:latin typeface="맑은 고딕" panose="020B0503020000020004" pitchFamily="50" charset="-127"/>
              </a:rPr>
              <a:t>연락처</a:t>
            </a:r>
            <a:endParaRPr lang="en-US" altLang="ko-KR" sz="600" dirty="0">
              <a:latin typeface="맑은 고딕" panose="020B0503020000020004" pitchFamily="50" charset="-127"/>
            </a:endParaRPr>
          </a:p>
        </p:txBody>
      </p:sp>
      <p:sp>
        <p:nvSpPr>
          <p:cNvPr id="216" name="TextBox 58">
            <a:extLst>
              <a:ext uri="{FF2B5EF4-FFF2-40B4-BE49-F238E27FC236}">
                <a16:creationId xmlns:a16="http://schemas.microsoft.com/office/drawing/2014/main" id="{02FC114B-B48B-345F-BD70-2B5A196F5B3E}"/>
              </a:ext>
            </a:extLst>
          </p:cNvPr>
          <p:cNvSpPr txBox="1"/>
          <p:nvPr/>
        </p:nvSpPr>
        <p:spPr>
          <a:xfrm>
            <a:off x="1919484" y="2904731"/>
            <a:ext cx="819135" cy="21544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700" dirty="0">
                <a:latin typeface="맑은 고딕" panose="020B0503020000020004" pitchFamily="50" charset="-127"/>
              </a:rPr>
              <a:t>02-1234-5678</a:t>
            </a:r>
          </a:p>
          <a:p>
            <a:r>
              <a:rPr lang="en-US" altLang="ko-KR" sz="700" dirty="0">
                <a:latin typeface="맑은 고딕" panose="020B0503020000020004" pitchFamily="50" charset="-127"/>
              </a:rPr>
              <a:t>kukbang@g2b.go.kr</a:t>
            </a:r>
          </a:p>
        </p:txBody>
      </p:sp>
      <p:grpSp>
        <p:nvGrpSpPr>
          <p:cNvPr id="218" name="그룹 217"/>
          <p:cNvGrpSpPr/>
          <p:nvPr/>
        </p:nvGrpSpPr>
        <p:grpSpPr>
          <a:xfrm>
            <a:off x="3798618" y="1578465"/>
            <a:ext cx="2712027" cy="508898"/>
            <a:chOff x="3795734" y="1602341"/>
            <a:chExt cx="2712027" cy="508898"/>
          </a:xfrm>
        </p:grpSpPr>
        <p:sp>
          <p:nvSpPr>
            <p:cNvPr id="219"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20" name="모서리가 둥근 직사각형 219"/>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21" name="모서리가 둥근 직사각형 220"/>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22" name="직선 연결선 221">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23" name="직선 연결선 222">
            <a:extLst>
              <a:ext uri="{FF2B5EF4-FFF2-40B4-BE49-F238E27FC236}">
                <a16:creationId xmlns:a16="http://schemas.microsoft.com/office/drawing/2014/main" id="{E9293055-D5CD-4B9E-7F64-64B2D2CA7A52}"/>
              </a:ext>
            </a:extLst>
          </p:cNvPr>
          <p:cNvCxnSpPr/>
          <p:nvPr/>
        </p:nvCxnSpPr>
        <p:spPr>
          <a:xfrm>
            <a:off x="3843358"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3887036" y="2201247"/>
            <a:ext cx="644712" cy="107722"/>
          </a:xfrm>
          <a:prstGeom prst="rect">
            <a:avLst/>
          </a:prstGeom>
          <a:noFill/>
        </p:spPr>
        <p:txBody>
          <a:bodyPr wrap="square" lIns="0" tIns="0" rIns="0" bIns="0" rtlCol="0">
            <a:spAutoFit/>
          </a:bodyPr>
          <a:lstStyle/>
          <a:p>
            <a:pPr algn="ctr"/>
            <a:r>
              <a:rPr lang="en-US" altLang="ko-KR" sz="700" dirty="0">
                <a:latin typeface="+mn-ea"/>
              </a:rPr>
              <a:t>5. </a:t>
            </a:r>
            <a:r>
              <a:rPr lang="ko-KR" altLang="en-US" sz="700" dirty="0">
                <a:latin typeface="+mn-ea"/>
              </a:rPr>
              <a:t>공동수급업체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4553413" y="2201247"/>
            <a:ext cx="555764"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a:latin typeface="+mn-ea"/>
              </a:rPr>
              <a:t>파일첨부</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5130842" y="2201247"/>
            <a:ext cx="655640" cy="107722"/>
          </a:xfrm>
          <a:prstGeom prst="rect">
            <a:avLst/>
          </a:prstGeom>
          <a:noFill/>
        </p:spPr>
        <p:txBody>
          <a:bodyPr wrap="square" lIns="0" tIns="0" rIns="0" bIns="0" rtlCol="0">
            <a:spAutoFit/>
          </a:bodyPr>
          <a:lstStyle/>
          <a:p>
            <a:pPr algn="ctr"/>
            <a:r>
              <a:rPr lang="en-US" altLang="ko-KR" sz="700" b="1" dirty="0">
                <a:latin typeface="+mn-ea"/>
              </a:rPr>
              <a:t>7. </a:t>
            </a:r>
            <a:r>
              <a:rPr lang="ko-KR" altLang="en-US" sz="700" b="1" dirty="0">
                <a:latin typeface="+mn-ea"/>
              </a:rPr>
              <a:t>문의 및 동의</a:t>
            </a:r>
          </a:p>
        </p:txBody>
      </p:sp>
      <p:cxnSp>
        <p:nvCxnSpPr>
          <p:cNvPr id="228" name="직선 연결선 227">
            <a:extLst>
              <a:ext uri="{FF2B5EF4-FFF2-40B4-BE49-F238E27FC236}">
                <a16:creationId xmlns:a16="http://schemas.microsoft.com/office/drawing/2014/main" id="{E9293055-D5CD-4B9E-7F64-64B2D2CA7A52}"/>
              </a:ext>
            </a:extLst>
          </p:cNvPr>
          <p:cNvCxnSpPr/>
          <p:nvPr/>
        </p:nvCxnSpPr>
        <p:spPr>
          <a:xfrm>
            <a:off x="5109177" y="2417854"/>
            <a:ext cx="677305"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29" name="그룹 228"/>
          <p:cNvGrpSpPr/>
          <p:nvPr/>
        </p:nvGrpSpPr>
        <p:grpSpPr>
          <a:xfrm>
            <a:off x="6046954" y="2163124"/>
            <a:ext cx="422853" cy="187961"/>
            <a:chOff x="3641308" y="2234886"/>
            <a:chExt cx="422853" cy="187961"/>
          </a:xfrm>
        </p:grpSpPr>
        <p:sp>
          <p:nvSpPr>
            <p:cNvPr id="230" name="타원 22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1" name="그룹 230"/>
            <p:cNvGrpSpPr/>
            <p:nvPr/>
          </p:nvGrpSpPr>
          <p:grpSpPr>
            <a:xfrm rot="5400000" flipH="1">
              <a:off x="3679895" y="2305364"/>
              <a:ext cx="94010" cy="47005"/>
              <a:chOff x="6812560" y="3297172"/>
              <a:chExt cx="94010" cy="47005"/>
            </a:xfrm>
          </p:grpSpPr>
          <p:cxnSp>
            <p:nvCxnSpPr>
              <p:cNvPr id="236" name="직선 연결선 23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7" name="직선 연결선 23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2" name="타원 23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16200000">
              <a:off x="3931564" y="2305364"/>
              <a:ext cx="94010" cy="47005"/>
              <a:chOff x="6812560" y="3297172"/>
              <a:chExt cx="94010" cy="47005"/>
            </a:xfrm>
          </p:grpSpPr>
          <p:cxnSp>
            <p:nvCxnSpPr>
              <p:cNvPr id="234" name="직선 연결선 23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5" name="직선 연결선 23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38" name="모서리가 둥근 직사각형 23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39" name="모서리가 둥근 직사각형 238"/>
          <p:cNvSpPr/>
          <p:nvPr/>
        </p:nvSpPr>
        <p:spPr>
          <a:xfrm rot="5400000">
            <a:off x="5781678" y="471771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40" name="타원 239">
            <a:extLst>
              <a:ext uri="{FF2B5EF4-FFF2-40B4-BE49-F238E27FC236}">
                <a16:creationId xmlns:a16="http://schemas.microsoft.com/office/drawing/2014/main" id="{37A7FF4F-0EAA-1463-560A-D5EC24416103}"/>
              </a:ext>
            </a:extLst>
          </p:cNvPr>
          <p:cNvSpPr/>
          <p:nvPr/>
        </p:nvSpPr>
        <p:spPr>
          <a:xfrm>
            <a:off x="571127" y="285518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41" name="사각형: 둥근 모서리 15">
            <a:extLst>
              <a:ext uri="{FF2B5EF4-FFF2-40B4-BE49-F238E27FC236}">
                <a16:creationId xmlns:a16="http://schemas.microsoft.com/office/drawing/2014/main" id="{E2B61CFB-AD16-68D0-8752-50D9C5E01971}"/>
              </a:ext>
            </a:extLst>
          </p:cNvPr>
          <p:cNvSpPr/>
          <p:nvPr/>
        </p:nvSpPr>
        <p:spPr>
          <a:xfrm>
            <a:off x="767702" y="3243152"/>
            <a:ext cx="2522014" cy="295200"/>
          </a:xfrm>
          <a:prstGeom prst="round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lt1"/>
              </a:solidFill>
            </a:endParaRPr>
          </a:p>
        </p:txBody>
      </p:sp>
      <p:sp>
        <p:nvSpPr>
          <p:cNvPr id="242" name="TextBox 58">
            <a:extLst>
              <a:ext uri="{FF2B5EF4-FFF2-40B4-BE49-F238E27FC236}">
                <a16:creationId xmlns:a16="http://schemas.microsoft.com/office/drawing/2014/main" id="{02FC114B-B48B-345F-BD70-2B5A196F5B3E}"/>
              </a:ext>
            </a:extLst>
          </p:cNvPr>
          <p:cNvSpPr txBox="1"/>
          <p:nvPr/>
        </p:nvSpPr>
        <p:spPr>
          <a:xfrm>
            <a:off x="919250" y="3283030"/>
            <a:ext cx="570669" cy="21544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latin typeface="맑은 고딕" panose="020B0503020000020004" pitchFamily="50" charset="-127"/>
              </a:rPr>
              <a:t>방위사업청</a:t>
            </a:r>
            <a:endParaRPr lang="en-US" altLang="ko-KR" sz="700" dirty="0">
              <a:latin typeface="맑은 고딕" panose="020B0503020000020004" pitchFamily="50" charset="-127"/>
            </a:endParaRPr>
          </a:p>
          <a:p>
            <a:r>
              <a:rPr lang="ko-KR" altLang="en-US" sz="700" dirty="0">
                <a:latin typeface="맑은 고딕" panose="020B0503020000020004" pitchFamily="50" charset="-127"/>
              </a:rPr>
              <a:t>홍길순 사무관</a:t>
            </a:r>
            <a:endParaRPr lang="en-US" altLang="ko-KR" sz="700" dirty="0">
              <a:latin typeface="맑은 고딕" panose="020B0503020000020004" pitchFamily="50" charset="-127"/>
            </a:endParaRPr>
          </a:p>
        </p:txBody>
      </p:sp>
      <p:sp>
        <p:nvSpPr>
          <p:cNvPr id="243" name="TextBox 58">
            <a:extLst>
              <a:ext uri="{FF2B5EF4-FFF2-40B4-BE49-F238E27FC236}">
                <a16:creationId xmlns:a16="http://schemas.microsoft.com/office/drawing/2014/main" id="{02FC114B-B48B-345F-BD70-2B5A196F5B3E}"/>
              </a:ext>
            </a:extLst>
          </p:cNvPr>
          <p:cNvSpPr txBox="1"/>
          <p:nvPr/>
        </p:nvSpPr>
        <p:spPr>
          <a:xfrm>
            <a:off x="1919484" y="3283030"/>
            <a:ext cx="819135" cy="21544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700" dirty="0">
                <a:latin typeface="맑은 고딕" panose="020B0503020000020004" pitchFamily="50" charset="-127"/>
              </a:rPr>
              <a:t>02-5678-4321</a:t>
            </a:r>
          </a:p>
          <a:p>
            <a:r>
              <a:rPr lang="en-US" altLang="ko-KR" sz="700" dirty="0">
                <a:latin typeface="맑은 고딕" panose="020B0503020000020004" pitchFamily="50" charset="-127"/>
              </a:rPr>
              <a:t>kukbang@g2b.go.kr</a:t>
            </a:r>
          </a:p>
        </p:txBody>
      </p:sp>
    </p:spTree>
    <p:extLst>
      <p:ext uri="{BB962C8B-B14F-4D97-AF65-F5344CB8AC3E}">
        <p14:creationId xmlns:p14="http://schemas.microsoft.com/office/powerpoint/2010/main" val="399379259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동의서 </a:t>
            </a:r>
            <a:r>
              <a:rPr lang="en-US" altLang="ko-KR" dirty="0">
                <a:latin typeface="+mn-ea"/>
              </a:rPr>
              <a:t>1</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동의서 중 </a:t>
            </a:r>
            <a:r>
              <a:rPr lang="ko-KR" altLang="en-US" dirty="0" err="1">
                <a:latin typeface="+mn-ea"/>
              </a:rPr>
              <a:t>국방규격</a:t>
            </a:r>
            <a:r>
              <a:rPr lang="ko-KR" altLang="en-US" dirty="0">
                <a:latin typeface="+mn-ea"/>
              </a:rPr>
              <a:t> 및 계약이행 가능성 확인 동의서</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동의서 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825821" cy="123111"/>
          </a:xfrm>
          <a:prstGeom prst="rect">
            <a:avLst/>
          </a:prstGeom>
          <a:noFill/>
        </p:spPr>
        <p:txBody>
          <a:bodyPr wrap="none" lIns="0" tIns="0" rIns="0" bIns="0" rtlCol="0">
            <a:spAutoFit/>
          </a:bodyPr>
          <a:lstStyle/>
          <a:p>
            <a:r>
              <a:rPr lang="ko-KR" altLang="en-US" sz="800" b="1" dirty="0" err="1">
                <a:latin typeface="맑은 고딕" panose="020B0503020000020004" pitchFamily="50" charset="-127"/>
              </a:rPr>
              <a:t>국방규격</a:t>
            </a:r>
            <a:r>
              <a:rPr lang="ko-KR" altLang="en-US" sz="800" b="1" dirty="0">
                <a:latin typeface="맑은 고딕" panose="020B0503020000020004" pitchFamily="50" charset="-127"/>
              </a:rPr>
              <a:t> 및 계약이행 가능성 확인 동의</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754053"/>
          </a:xfrm>
          <a:prstGeom prst="rect">
            <a:avLst/>
          </a:prstGeom>
          <a:noFill/>
        </p:spPr>
        <p:txBody>
          <a:bodyPr wrap="square" lIns="0" tIns="0" rIns="0" bIns="0" rtlCol="0">
            <a:spAutoFit/>
          </a:bodyPr>
          <a:lstStyle/>
          <a:p>
            <a:r>
              <a:rPr lang="ko-KR" altLang="en-US" sz="700" dirty="0">
                <a:latin typeface="맑은 고딕" panose="020B0503020000020004" pitchFamily="50" charset="-127"/>
                <a:sym typeface="Wingdings 2" panose="05020102010507070707" pitchFamily="18" charset="2"/>
              </a:rPr>
              <a:t>본 입찰에 참여 시 계약목적물에 대한 규격</a:t>
            </a:r>
            <a:r>
              <a:rPr lang="en-US" altLang="ko-KR" sz="700" dirty="0">
                <a:latin typeface="맑은 고딕" panose="020B0503020000020004" pitchFamily="50" charset="-127"/>
                <a:sym typeface="Wingdings 2" panose="05020102010507070707" pitchFamily="18" charset="2"/>
              </a:rPr>
              <a:t>(</a:t>
            </a:r>
            <a:r>
              <a:rPr lang="ko-KR" altLang="en-US" sz="700" dirty="0" err="1">
                <a:latin typeface="맑은 고딕" panose="020B0503020000020004" pitchFamily="50" charset="-127"/>
                <a:sym typeface="Wingdings 2" panose="05020102010507070707" pitchFamily="18" charset="2"/>
              </a:rPr>
              <a:t>구매요구서</a:t>
            </a:r>
            <a:r>
              <a:rPr lang="ko-KR" altLang="en-US" sz="700" dirty="0">
                <a:latin typeface="맑은 고딕" panose="020B0503020000020004" pitchFamily="50" charset="-127"/>
                <a:sym typeface="Wingdings 2" panose="05020102010507070707" pitchFamily="18" charset="2"/>
              </a:rPr>
              <a:t> 포함</a:t>
            </a:r>
            <a:r>
              <a:rPr lang="en-US" altLang="ko-KR" sz="700" dirty="0">
                <a:latin typeface="맑은 고딕" panose="020B0503020000020004" pitchFamily="50" charset="-127"/>
                <a:sym typeface="Wingdings 2" panose="05020102010507070707" pitchFamily="18" charset="2"/>
              </a:rPr>
              <a:t>)</a:t>
            </a:r>
            <a:r>
              <a:rPr lang="ko-KR" altLang="en-US" sz="700" dirty="0">
                <a:latin typeface="맑은 고딕" panose="020B0503020000020004" pitchFamily="50" charset="-127"/>
                <a:sym typeface="Wingdings 2" panose="05020102010507070707" pitchFamily="18" charset="2"/>
              </a:rPr>
              <a:t>을 반드시 열람하여 </a:t>
            </a:r>
            <a:r>
              <a:rPr lang="ko-KR" altLang="en-US" sz="700" dirty="0" err="1">
                <a:latin typeface="맑은 고딕" panose="020B0503020000020004" pitchFamily="50" charset="-127"/>
                <a:sym typeface="Wingdings 2" panose="05020102010507070707" pitchFamily="18" charset="2"/>
              </a:rPr>
              <a:t>규격서상</a:t>
            </a:r>
            <a:r>
              <a:rPr lang="ko-KR" altLang="en-US" sz="700" dirty="0">
                <a:latin typeface="맑은 고딕" panose="020B0503020000020004" pitchFamily="50" charset="-127"/>
                <a:sym typeface="Wingdings 2" panose="05020102010507070707" pitchFamily="18" charset="2"/>
              </a:rPr>
              <a:t> 각종 성능시험 요건을 확인하고</a:t>
            </a:r>
            <a:r>
              <a:rPr lang="en-US" altLang="ko-KR" sz="700" dirty="0">
                <a:latin typeface="맑은 고딕" panose="020B0503020000020004" pitchFamily="50" charset="-127"/>
                <a:sym typeface="Wingdings 2" panose="05020102010507070707" pitchFamily="18" charset="2"/>
              </a:rPr>
              <a:t>, </a:t>
            </a:r>
          </a:p>
          <a:p>
            <a:r>
              <a:rPr lang="ko-KR" altLang="en-US" sz="700" dirty="0">
                <a:solidFill>
                  <a:srgbClr val="0070C0"/>
                </a:solidFill>
                <a:latin typeface="맑은 고딕" panose="020B0503020000020004" pitchFamily="50" charset="-127"/>
                <a:sym typeface="Wingdings 2" panose="05020102010507070707" pitchFamily="18" charset="2"/>
              </a:rPr>
              <a:t>납기 내 </a:t>
            </a:r>
            <a:r>
              <a:rPr lang="ko-KR" altLang="en-US" sz="700" dirty="0" err="1">
                <a:solidFill>
                  <a:srgbClr val="0070C0"/>
                </a:solidFill>
                <a:latin typeface="맑은 고딕" panose="020B0503020000020004" pitchFamily="50" charset="-127"/>
                <a:sym typeface="Wingdings 2" panose="05020102010507070707" pitchFamily="18" charset="2"/>
              </a:rPr>
              <a:t>납품가능</a:t>
            </a:r>
            <a:r>
              <a:rPr lang="ko-KR" altLang="en-US" sz="700" dirty="0">
                <a:solidFill>
                  <a:srgbClr val="0070C0"/>
                </a:solidFill>
                <a:latin typeface="맑은 고딕" panose="020B0503020000020004" pitchFamily="50" charset="-127"/>
                <a:sym typeface="Wingdings 2" panose="05020102010507070707" pitchFamily="18" charset="2"/>
              </a:rPr>
              <a:t> 여부 및 계약특수조건 등 확인하여 계약이행 가능성</a:t>
            </a:r>
            <a:r>
              <a:rPr lang="ko-KR" altLang="en-US" sz="700" dirty="0">
                <a:latin typeface="맑은 고딕" panose="020B0503020000020004" pitchFamily="50" charset="-127"/>
                <a:sym typeface="Wingdings 2" panose="05020102010507070707" pitchFamily="18" charset="2"/>
              </a:rPr>
              <a:t>을 사전에 주의 깊게 판단 후 입찰에 참가하시기 바랍니다</a:t>
            </a:r>
            <a:r>
              <a:rPr lang="en-US" altLang="ko-KR" sz="700" dirty="0">
                <a:latin typeface="맑은 고딕" panose="020B0503020000020004" pitchFamily="50" charset="-127"/>
                <a:sym typeface="Wingdings 2" panose="05020102010507070707" pitchFamily="18" charset="2"/>
              </a:rPr>
              <a:t>. </a:t>
            </a:r>
          </a:p>
          <a:p>
            <a:r>
              <a:rPr lang="ko-KR" altLang="en-US" sz="700" dirty="0">
                <a:latin typeface="맑은 고딕" panose="020B0503020000020004" pitchFamily="50" charset="-127"/>
                <a:sym typeface="Wingdings 2" panose="05020102010507070707" pitchFamily="18" charset="2"/>
              </a:rPr>
              <a:t>본 유의사항에도 불구하고 규격 </a:t>
            </a:r>
            <a:r>
              <a:rPr lang="ko-KR" altLang="en-US" sz="700" dirty="0" err="1">
                <a:latin typeface="맑은 고딕" panose="020B0503020000020004" pitchFamily="50" charset="-127"/>
                <a:sym typeface="Wingdings 2" panose="05020102010507070707" pitchFamily="18" charset="2"/>
              </a:rPr>
              <a:t>미열람</a:t>
            </a:r>
            <a:r>
              <a:rPr lang="ko-KR" altLang="en-US" sz="700" dirty="0">
                <a:latin typeface="맑은 고딕" panose="020B0503020000020004" pitchFamily="50" charset="-127"/>
                <a:sym typeface="Wingdings 2" panose="05020102010507070707" pitchFamily="18" charset="2"/>
              </a:rPr>
              <a:t> 등에 따라 발생하는 모든 책임은 입찰자에게 있습니다</a:t>
            </a:r>
            <a:r>
              <a:rPr lang="en-US" altLang="ko-KR" sz="700" dirty="0">
                <a:latin typeface="맑은 고딕" panose="020B0503020000020004" pitchFamily="50" charset="-127"/>
                <a:sym typeface="Wingdings 2" panose="05020102010507070707" pitchFamily="18" charset="2"/>
              </a:rPr>
              <a:t>.</a:t>
            </a:r>
            <a:endParaRPr lang="ko-KR" altLang="en-US" sz="700" dirty="0">
              <a:latin typeface="맑은 고딕" panose="020B0503020000020004" pitchFamily="50" charset="-127"/>
            </a:endParaRPr>
          </a:p>
        </p:txBody>
      </p:sp>
      <p:cxnSp>
        <p:nvCxnSpPr>
          <p:cNvPr id="212" name="직선 연결선 211">
            <a:extLst>
              <a:ext uri="{FF2B5EF4-FFF2-40B4-BE49-F238E27FC236}">
                <a16:creationId xmlns:a16="http://schemas.microsoft.com/office/drawing/2014/main" id="{E9293055-D5CD-4B9E-7F64-64B2D2CA7A52}"/>
              </a:ext>
            </a:extLst>
          </p:cNvPr>
          <p:cNvCxnSpPr/>
          <p:nvPr/>
        </p:nvCxnSpPr>
        <p:spPr>
          <a:xfrm>
            <a:off x="717412" y="36994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7" name="그룹 6"/>
          <p:cNvGrpSpPr/>
          <p:nvPr/>
        </p:nvGrpSpPr>
        <p:grpSpPr>
          <a:xfrm>
            <a:off x="1432789" y="3777379"/>
            <a:ext cx="1197246" cy="107722"/>
            <a:chOff x="4526323" y="5902014"/>
            <a:chExt cx="1197246" cy="107722"/>
          </a:xfrm>
        </p:grpSpPr>
        <p:sp>
          <p:nvSpPr>
            <p:cNvPr id="258" name="타원 257"/>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타원 258"/>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0" name="TextBox 259">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262" name="그룹 261"/>
          <p:cNvGrpSpPr/>
          <p:nvPr/>
        </p:nvGrpSpPr>
        <p:grpSpPr>
          <a:xfrm>
            <a:off x="675399" y="5613954"/>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04" name="타원 203">
            <a:extLst>
              <a:ext uri="{FF2B5EF4-FFF2-40B4-BE49-F238E27FC236}">
                <a16:creationId xmlns:a16="http://schemas.microsoft.com/office/drawing/2014/main" id="{37A7FF4F-0EAA-1463-560A-D5EC24416103}"/>
              </a:ext>
            </a:extLst>
          </p:cNvPr>
          <p:cNvSpPr/>
          <p:nvPr/>
        </p:nvSpPr>
        <p:spPr>
          <a:xfrm>
            <a:off x="571127" y="374517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44" name="사각형: 둥근 모서리 15">
            <a:extLst>
              <a:ext uri="{FF2B5EF4-FFF2-40B4-BE49-F238E27FC236}">
                <a16:creationId xmlns:a16="http://schemas.microsoft.com/office/drawing/2014/main" id="{E2B61CFB-AD16-68D0-8752-50D9C5E01971}"/>
              </a:ext>
            </a:extLst>
          </p:cNvPr>
          <p:cNvSpPr/>
          <p:nvPr/>
        </p:nvSpPr>
        <p:spPr>
          <a:xfrm>
            <a:off x="710315" y="3306967"/>
            <a:ext cx="2652742" cy="207774"/>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800" kern="0" dirty="0" err="1"/>
              <a:t>국방표준종합정보시스템</a:t>
            </a:r>
            <a:r>
              <a:rPr kumimoji="1" lang="ko-KR" altLang="en-US" sz="800" kern="0" dirty="0"/>
              <a:t> </a:t>
            </a:r>
            <a:r>
              <a:rPr kumimoji="1" lang="ko-KR" altLang="en-US" sz="800" kern="0" dirty="0" err="1"/>
              <a:t>바로가기</a:t>
            </a:r>
            <a:endParaRPr kumimoji="1" lang="en-US" sz="800" b="0" i="0" u="none" strike="noStrike" kern="0" cap="none" spc="0" normalizeH="0" baseline="0" noProof="0" dirty="0">
              <a:ln>
                <a:noFill/>
              </a:ln>
              <a:effectLst/>
              <a:uLnTx/>
              <a:uFillTx/>
              <a:latin typeface="맑은 고딕"/>
            </a:endParaRPr>
          </a:p>
        </p:txBody>
      </p:sp>
    </p:spTree>
    <p:extLst>
      <p:ext uri="{BB962C8B-B14F-4D97-AF65-F5344CB8AC3E}">
        <p14:creationId xmlns:p14="http://schemas.microsoft.com/office/powerpoint/2010/main" val="38139785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109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동의서 </a:t>
            </a:r>
            <a:r>
              <a:rPr lang="en-US" altLang="ko-KR" dirty="0">
                <a:latin typeface="+mn-ea"/>
              </a:rPr>
              <a:t>2</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동의서 중 약관 동의 동의서</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동의서 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MUI-BD-04-P16</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410369"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약관동의</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323165"/>
          </a:xfrm>
          <a:prstGeom prst="rect">
            <a:avLst/>
          </a:prstGeom>
          <a:noFill/>
        </p:spPr>
        <p:txBody>
          <a:bodyPr wrap="square" lIns="0" tIns="0" rIns="0" bIns="0" rtlCol="0">
            <a:spAutoFit/>
          </a:bodyPr>
          <a:lstStyle/>
          <a:p>
            <a:r>
              <a:rPr lang="ko-KR" altLang="en-US" sz="700" b="1" dirty="0">
                <a:solidFill>
                  <a:schemeClr val="accent5"/>
                </a:solidFill>
                <a:latin typeface="맑은 고딕" panose="020B0503020000020004" pitchFamily="50" charset="-127"/>
              </a:rPr>
              <a:t>국방전자조달시스템 이용에 관한 약관</a:t>
            </a:r>
            <a:r>
              <a:rPr lang="en-US" altLang="ko-KR" sz="700" dirty="0">
                <a:latin typeface="맑은 고딕" panose="020B0503020000020004" pitchFamily="50" charset="-127"/>
              </a:rPr>
              <a:t>, </a:t>
            </a:r>
            <a:r>
              <a:rPr lang="ko-KR" altLang="en-US" sz="700" b="1" dirty="0">
                <a:solidFill>
                  <a:schemeClr val="accent5"/>
                </a:solidFill>
                <a:latin typeface="맑은 고딕" panose="020B0503020000020004" pitchFamily="50" charset="-127"/>
              </a:rPr>
              <a:t>국방전자조달시스템 전자입찰 </a:t>
            </a:r>
            <a:r>
              <a:rPr lang="ko-KR" altLang="en-US" sz="700" b="1" dirty="0" err="1">
                <a:solidFill>
                  <a:schemeClr val="accent5"/>
                </a:solidFill>
                <a:latin typeface="맑은 고딕" panose="020B0503020000020004" pitchFamily="50" charset="-127"/>
              </a:rPr>
              <a:t>특별유의서</a:t>
            </a:r>
            <a:r>
              <a:rPr lang="en-US" altLang="ko-KR" sz="700" dirty="0">
                <a:latin typeface="맑은 고딕" panose="020B0503020000020004" pitchFamily="50" charset="-127"/>
              </a:rPr>
              <a:t>, </a:t>
            </a:r>
            <a:r>
              <a:rPr lang="ko-KR" altLang="en-US" sz="700" b="1" dirty="0">
                <a:solidFill>
                  <a:schemeClr val="accent5"/>
                </a:solidFill>
                <a:latin typeface="맑은 고딕" panose="020B0503020000020004" pitchFamily="50" charset="-127"/>
              </a:rPr>
              <a:t>행정정보 공동이용 사전동의서</a:t>
            </a:r>
            <a:r>
              <a:rPr lang="ko-KR" altLang="en-US" sz="700" dirty="0">
                <a:latin typeface="맑은 고딕" panose="020B0503020000020004" pitchFamily="50" charset="-127"/>
              </a:rPr>
              <a:t>에 동의함</a:t>
            </a:r>
          </a:p>
        </p:txBody>
      </p:sp>
      <p:cxnSp>
        <p:nvCxnSpPr>
          <p:cNvPr id="212" name="직선 연결선 211">
            <a:extLst>
              <a:ext uri="{FF2B5EF4-FFF2-40B4-BE49-F238E27FC236}">
                <a16:creationId xmlns:a16="http://schemas.microsoft.com/office/drawing/2014/main" id="{E9293055-D5CD-4B9E-7F64-64B2D2CA7A52}"/>
              </a:ext>
            </a:extLst>
          </p:cNvPr>
          <p:cNvCxnSpPr/>
          <p:nvPr/>
        </p:nvCxnSpPr>
        <p:spPr>
          <a:xfrm>
            <a:off x="717412" y="44674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1432789" y="4545370"/>
            <a:ext cx="1197246" cy="107722"/>
            <a:chOff x="4526323" y="5902014"/>
            <a:chExt cx="1197246" cy="107722"/>
          </a:xfrm>
        </p:grpSpPr>
        <p:sp>
          <p:nvSpPr>
            <p:cNvPr id="258" name="타원 257"/>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타원 258"/>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0" name="TextBox 259">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262" name="그룹 261"/>
          <p:cNvGrpSpPr/>
          <p:nvPr/>
        </p:nvGrpSpPr>
        <p:grpSpPr>
          <a:xfrm>
            <a:off x="675399" y="5613954"/>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04" name="타원 203">
            <a:extLst>
              <a:ext uri="{FF2B5EF4-FFF2-40B4-BE49-F238E27FC236}">
                <a16:creationId xmlns:a16="http://schemas.microsoft.com/office/drawing/2014/main" id="{37A7FF4F-0EAA-1463-560A-D5EC24416103}"/>
              </a:ext>
            </a:extLst>
          </p:cNvPr>
          <p:cNvSpPr/>
          <p:nvPr/>
        </p:nvSpPr>
        <p:spPr>
          <a:xfrm>
            <a:off x="571127" y="451316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4" name="모서리가 둥근 직사각형 33"/>
          <p:cNvSpPr/>
          <p:nvPr/>
        </p:nvSpPr>
        <p:spPr>
          <a:xfrm>
            <a:off x="703688" y="2894960"/>
            <a:ext cx="2652743" cy="1392050"/>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TextBox 34">
            <a:extLst>
              <a:ext uri="{FF2B5EF4-FFF2-40B4-BE49-F238E27FC236}">
                <a16:creationId xmlns:a16="http://schemas.microsoft.com/office/drawing/2014/main" id="{FFC49AEA-2A8F-250C-A86A-A7751D9706C3}"/>
              </a:ext>
            </a:extLst>
          </p:cNvPr>
          <p:cNvSpPr txBox="1"/>
          <p:nvPr/>
        </p:nvSpPr>
        <p:spPr>
          <a:xfrm>
            <a:off x="792458" y="2993244"/>
            <a:ext cx="2475203" cy="1184940"/>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유의사항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8900" indent="-88900">
              <a:buFont typeface="Arial" panose="020B0604020202020204" pitchFamily="34" charset="0"/>
              <a:buChar char="•"/>
            </a:pPr>
            <a:r>
              <a:rPr lang="ko-KR" altLang="en-US" sz="700" dirty="0" err="1">
                <a:solidFill>
                  <a:srgbClr val="0070C0"/>
                </a:solidFill>
                <a:latin typeface="맑은 고딕" panose="020B0503020000020004" pitchFamily="50" charset="-127"/>
              </a:rPr>
              <a:t>인증확인은</a:t>
            </a:r>
            <a:r>
              <a:rPr lang="ko-KR" altLang="en-US" sz="700" dirty="0">
                <a:solidFill>
                  <a:schemeClr val="tx2">
                    <a:lumMod val="75000"/>
                    <a:lumOff val="25000"/>
                  </a:schemeClr>
                </a:solidFill>
                <a:latin typeface="맑은 고딕" panose="020B0503020000020004" pitchFamily="50" charset="-127"/>
              </a:rPr>
              <a:t> </a:t>
            </a:r>
            <a:r>
              <a:rPr lang="ko-KR" altLang="en-US" sz="700" dirty="0">
                <a:solidFill>
                  <a:srgbClr val="FF0000"/>
                </a:solidFill>
                <a:latin typeface="맑은 고딕" panose="020B0503020000020004" pitchFamily="50" charset="-127"/>
              </a:rPr>
              <a:t>법인인증서</a:t>
            </a:r>
            <a:r>
              <a:rPr lang="ko-KR" altLang="en-US" sz="700" dirty="0">
                <a:solidFill>
                  <a:srgbClr val="0070C0"/>
                </a:solidFill>
                <a:latin typeface="맑은 고딕" panose="020B0503020000020004" pitchFamily="50" charset="-127"/>
              </a:rPr>
              <a:t>만 사용 가능합니다</a:t>
            </a:r>
            <a:r>
              <a:rPr lang="en-US" altLang="ko-KR" sz="700" dirty="0">
                <a:solidFill>
                  <a:srgbClr val="0070C0"/>
                </a:solidFill>
                <a:latin typeface="맑은 고딕" panose="020B0503020000020004" pitchFamily="50" charset="-127"/>
              </a:rPr>
              <a:t>.(</a:t>
            </a:r>
            <a:r>
              <a:rPr lang="ko-KR" altLang="en-US" sz="700" dirty="0">
                <a:solidFill>
                  <a:srgbClr val="0070C0"/>
                </a:solidFill>
                <a:latin typeface="맑은 고딕" panose="020B0503020000020004" pitchFamily="50" charset="-127"/>
              </a:rPr>
              <a:t>로그인 시 사용</a:t>
            </a:r>
            <a:r>
              <a:rPr lang="ko-KR" altLang="en-US" sz="700" dirty="0">
                <a:solidFill>
                  <a:schemeClr val="tx2">
                    <a:lumMod val="75000"/>
                    <a:lumOff val="25000"/>
                  </a:schemeClr>
                </a:solidFill>
                <a:latin typeface="맑은 고딕" panose="020B0503020000020004" pitchFamily="50" charset="-127"/>
              </a:rPr>
              <a:t> </a:t>
            </a:r>
            <a:r>
              <a:rPr lang="ko-KR" altLang="en-US" sz="700" dirty="0">
                <a:solidFill>
                  <a:srgbClr val="FF0000"/>
                </a:solidFill>
                <a:latin typeface="맑은 고딕" panose="020B0503020000020004" pitchFamily="50" charset="-127"/>
              </a:rPr>
              <a:t>인증서</a:t>
            </a:r>
            <a:r>
              <a:rPr lang="en-US" altLang="ko-KR" sz="700" dirty="0">
                <a:solidFill>
                  <a:srgbClr val="FF0000"/>
                </a:solidFill>
                <a:latin typeface="맑은 고딕" panose="020B0503020000020004" pitchFamily="50" charset="-127"/>
              </a:rPr>
              <a:t>(</a:t>
            </a:r>
            <a:r>
              <a:rPr lang="ko-KR" altLang="en-US" sz="700" dirty="0" err="1">
                <a:solidFill>
                  <a:srgbClr val="FF0000"/>
                </a:solidFill>
                <a:latin typeface="맑은 고딕" panose="020B0503020000020004" pitchFamily="50" charset="-127"/>
              </a:rPr>
              <a:t>법인인증서</a:t>
            </a:r>
            <a:r>
              <a:rPr lang="en-US" altLang="ko-KR" sz="700" dirty="0">
                <a:solidFill>
                  <a:srgbClr val="FF0000"/>
                </a:solidFill>
                <a:latin typeface="맑은 고딕" panose="020B0503020000020004" pitchFamily="50" charset="-127"/>
              </a:rPr>
              <a:t>)</a:t>
            </a:r>
            <a:r>
              <a:rPr lang="ko-KR" altLang="en-US" sz="700" dirty="0">
                <a:solidFill>
                  <a:srgbClr val="0070C0"/>
                </a:solidFill>
                <a:latin typeface="맑은 고딕" panose="020B0503020000020004" pitchFamily="50" charset="-127"/>
              </a:rPr>
              <a:t>로 모든 인증을 하셔야 합니다</a:t>
            </a:r>
            <a:r>
              <a:rPr lang="en-US" altLang="ko-KR" sz="700" dirty="0">
                <a:solidFill>
                  <a:srgbClr val="0070C0"/>
                </a:solidFill>
                <a:latin typeface="맑은 고딕" panose="020B0503020000020004" pitchFamily="50" charset="-127"/>
              </a:rPr>
              <a:t>.)</a:t>
            </a:r>
          </a:p>
          <a:p>
            <a:pPr marL="88900" indent="-88900">
              <a:buFont typeface="Arial" panose="020B0604020202020204" pitchFamily="34" charset="0"/>
              <a:buChar char="•"/>
            </a:pPr>
            <a:endParaRPr lang="en-US" altLang="ko-KR" sz="700" dirty="0">
              <a:solidFill>
                <a:srgbClr val="0070C0"/>
              </a:solidFill>
              <a:latin typeface="맑은 고딕" panose="020B0503020000020004" pitchFamily="50" charset="-127"/>
            </a:endParaRPr>
          </a:p>
          <a:p>
            <a:pPr marL="88900" indent="-88900">
              <a:buFont typeface="Arial" panose="020B0604020202020204" pitchFamily="34" charset="0"/>
              <a:buChar char="•"/>
            </a:pPr>
            <a:r>
              <a:rPr lang="en-US" altLang="ko-KR" sz="700" dirty="0">
                <a:solidFill>
                  <a:srgbClr val="FF0000"/>
                </a:solidFill>
                <a:latin typeface="맑은 고딕" panose="020B0503020000020004" pitchFamily="50" charset="-127"/>
              </a:rPr>
              <a:t>** </a:t>
            </a:r>
            <a:r>
              <a:rPr lang="ko-KR" altLang="en-US" sz="700" dirty="0">
                <a:solidFill>
                  <a:srgbClr val="FF0000"/>
                </a:solidFill>
                <a:latin typeface="맑은 고딕" panose="020B0503020000020004" pitchFamily="50" charset="-127"/>
              </a:rPr>
              <a:t>입찰참가신청이 되지 않거나 문의 사항은 도움말버튼을 클릭하세요</a:t>
            </a:r>
            <a:r>
              <a:rPr lang="en-US" altLang="ko-KR" sz="700" dirty="0">
                <a:solidFill>
                  <a:srgbClr val="FF0000"/>
                </a:solidFill>
                <a:latin typeface="맑은 고딕" panose="020B0503020000020004" pitchFamily="50" charset="-127"/>
              </a:rPr>
              <a:t>.</a:t>
            </a:r>
          </a:p>
          <a:p>
            <a:pPr marL="88900" indent="-88900">
              <a:buFont typeface="Arial" panose="020B0604020202020204" pitchFamily="34" charset="0"/>
              <a:buChar char="•"/>
            </a:pPr>
            <a:endParaRPr lang="en-US" altLang="ko-KR" sz="700" dirty="0">
              <a:solidFill>
                <a:srgbClr val="FF0000"/>
              </a:solidFill>
              <a:latin typeface="맑은 고딕" panose="020B0503020000020004" pitchFamily="50" charset="-127"/>
            </a:endParaRPr>
          </a:p>
          <a:p>
            <a:pPr marL="88900" indent="-88900">
              <a:buFont typeface="Arial" panose="020B0604020202020204" pitchFamily="34" charset="0"/>
              <a:buChar char="•"/>
            </a:pPr>
            <a:r>
              <a:rPr lang="en-US" altLang="ko-KR" sz="700" dirty="0">
                <a:solidFill>
                  <a:srgbClr val="FF0000"/>
                </a:solidFill>
                <a:latin typeface="맑은 고딕" panose="020B0503020000020004" pitchFamily="50" charset="-127"/>
              </a:rPr>
              <a:t>** </a:t>
            </a:r>
            <a:r>
              <a:rPr lang="ko-KR" altLang="en-US" sz="700" dirty="0">
                <a:solidFill>
                  <a:srgbClr val="FF0000"/>
                </a:solidFill>
                <a:latin typeface="맑은 고딕" panose="020B0503020000020004" pitchFamily="50" charset="-127"/>
              </a:rPr>
              <a:t>신청 후 입찰진행화면에서 입찰참가신청서 조회를 누르셔서 신청하신 입찰보증금</a:t>
            </a:r>
            <a:r>
              <a:rPr lang="en-US" altLang="ko-KR" sz="700" dirty="0">
                <a:solidFill>
                  <a:srgbClr val="FF0000"/>
                </a:solidFill>
                <a:latin typeface="맑은 고딕" panose="020B0503020000020004" pitchFamily="50" charset="-127"/>
              </a:rPr>
              <a:t>, </a:t>
            </a:r>
            <a:r>
              <a:rPr lang="ko-KR" altLang="en-US" sz="700" dirty="0">
                <a:solidFill>
                  <a:srgbClr val="FF0000"/>
                </a:solidFill>
                <a:latin typeface="맑은 고딕" panose="020B0503020000020004" pitchFamily="50" charset="-127"/>
              </a:rPr>
              <a:t>첨부서류가 정상적으로 신청되었는지 확인하시기 바랍니다</a:t>
            </a:r>
            <a:r>
              <a:rPr lang="en-US" altLang="ko-KR" sz="700" dirty="0">
                <a:solidFill>
                  <a:srgbClr val="FF0000"/>
                </a:solidFill>
                <a:latin typeface="맑은 고딕" panose="020B0503020000020004" pitchFamily="50" charset="-127"/>
              </a:rPr>
              <a:t>.</a:t>
            </a:r>
            <a:endParaRPr lang="en-US" altLang="ko-KR" sz="700" dirty="0">
              <a:latin typeface="+mn-ea"/>
            </a:endParaRPr>
          </a:p>
        </p:txBody>
      </p:sp>
      <p:sp>
        <p:nvSpPr>
          <p:cNvPr id="36" name="타원 35"/>
          <p:cNvSpPr/>
          <p:nvPr/>
        </p:nvSpPr>
        <p:spPr>
          <a:xfrm>
            <a:off x="788500" y="298359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226213436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r>
              <a:rPr lang="en-US" altLang="ko-KR" dirty="0"/>
              <a:t/>
            </a:r>
            <a:br>
              <a:rPr lang="en-US" altLang="ko-KR" dirty="0"/>
            </a:br>
            <a:r>
              <a:rPr lang="en-US" altLang="ko-KR" dirty="0"/>
              <a:t>- </a:t>
            </a:r>
            <a:r>
              <a:rPr lang="ko-KR" altLang="en-US" dirty="0"/>
              <a:t>공동수급협정 대상 업체는 동의 버튼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110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동의서 </a:t>
            </a:r>
            <a:r>
              <a:rPr lang="en-US" altLang="ko-KR" dirty="0">
                <a:latin typeface="+mn-ea"/>
              </a:rPr>
              <a:t>3</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동의서 중 하도급 대금의 지급관련 확인 및 확약서 동의서</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동의서 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MUI-BD-04-P17</a:t>
            </a:r>
            <a:endParaRPr lang="ko-KR" altLang="en-US" dirty="0">
              <a:solidFill>
                <a:srgbClr val="000000"/>
              </a:solidFill>
              <a:latin typeface="맑은 고딕" panose="020B0503020000020004" pitchFamily="50" charset="-127"/>
            </a:endParaRPr>
          </a:p>
          <a:p>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37" name="TextBox 36">
            <a:extLst>
              <a:ext uri="{FF2B5EF4-FFF2-40B4-BE49-F238E27FC236}">
                <a16:creationId xmlns:a16="http://schemas.microsoft.com/office/drawing/2014/main" id="{FFC49AEA-2A8F-250C-A86A-A7751D9706C3}"/>
              </a:ext>
            </a:extLst>
          </p:cNvPr>
          <p:cNvSpPr txBox="1"/>
          <p:nvPr/>
        </p:nvSpPr>
        <p:spPr>
          <a:xfrm>
            <a:off x="804476" y="2129261"/>
            <a:ext cx="1788951"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하도급대금의 지급관련 확인 및 확약서</a:t>
            </a:r>
            <a:endParaRPr lang="en-US" altLang="ko-KR" sz="800" b="1" dirty="0">
              <a:latin typeface="맑은 고딕" panose="020B0503020000020004" pitchFamily="50" charset="-127"/>
            </a:endParaRPr>
          </a:p>
        </p:txBody>
      </p:sp>
      <p:cxnSp>
        <p:nvCxnSpPr>
          <p:cNvPr id="38" name="직선 연결선 37">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9" name="TextBox 38">
            <a:extLst>
              <a:ext uri="{FF2B5EF4-FFF2-40B4-BE49-F238E27FC236}">
                <a16:creationId xmlns:a16="http://schemas.microsoft.com/office/drawing/2014/main" id="{FFC49AEA-2A8F-250C-A86A-A7751D9706C3}"/>
              </a:ext>
            </a:extLst>
          </p:cNvPr>
          <p:cNvSpPr txBox="1"/>
          <p:nvPr/>
        </p:nvSpPr>
        <p:spPr>
          <a:xfrm>
            <a:off x="804476" y="2401096"/>
            <a:ext cx="2473940" cy="538609"/>
          </a:xfrm>
          <a:prstGeom prst="rect">
            <a:avLst/>
          </a:prstGeom>
          <a:noFill/>
        </p:spPr>
        <p:txBody>
          <a:bodyPr wrap="square" lIns="0" tIns="0" rIns="0" bIns="0" rtlCol="0">
            <a:spAutoFit/>
          </a:bodyPr>
          <a:lstStyle/>
          <a:p>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선택</a:t>
            </a:r>
            <a:r>
              <a:rPr lang="en-US" altLang="ko-KR" sz="700" dirty="0">
                <a:solidFill>
                  <a:srgbClr val="000000"/>
                </a:solidFill>
                <a:latin typeface="Consolas" panose="020B0609020204030204" pitchFamily="49" charset="0"/>
              </a:rPr>
              <a:t>1]</a:t>
            </a:r>
          </a:p>
          <a:p>
            <a:endParaRPr lang="en-US" altLang="ko-KR" sz="700" dirty="0">
              <a:solidFill>
                <a:srgbClr val="000000"/>
              </a:solidFill>
              <a:latin typeface="Consolas" panose="020B0609020204030204" pitchFamily="49" charset="0"/>
            </a:endParaRPr>
          </a:p>
          <a:p>
            <a:r>
              <a:rPr lang="ko-KR" altLang="en-US" sz="700" dirty="0">
                <a:solidFill>
                  <a:srgbClr val="000000"/>
                </a:solidFill>
                <a:latin typeface="Consolas" panose="020B0609020204030204" pitchFamily="49" charset="0"/>
              </a:rPr>
              <a:t>당사는 </a:t>
            </a:r>
            <a:r>
              <a:rPr lang="ko-KR" altLang="en-US" sz="700" dirty="0" err="1">
                <a:solidFill>
                  <a:srgbClr val="000000"/>
                </a:solidFill>
                <a:latin typeface="Consolas" panose="020B0609020204030204" pitchFamily="49" charset="0"/>
              </a:rPr>
              <a:t>해당입찰의</a:t>
            </a:r>
            <a:r>
              <a:rPr lang="ko-KR" altLang="en-US" sz="700" dirty="0">
                <a:solidFill>
                  <a:srgbClr val="000000"/>
                </a:solidFill>
                <a:latin typeface="Consolas" panose="020B0609020204030204" pitchFamily="49" charset="0"/>
              </a:rPr>
              <a:t> 공고일로부터 </a:t>
            </a:r>
            <a:r>
              <a:rPr lang="en-US" altLang="ko-KR" sz="700" dirty="0">
                <a:solidFill>
                  <a:srgbClr val="000000"/>
                </a:solidFill>
                <a:latin typeface="Consolas" panose="020B0609020204030204" pitchFamily="49" charset="0"/>
              </a:rPr>
              <a:t>1</a:t>
            </a:r>
            <a:r>
              <a:rPr lang="ko-KR" altLang="en-US" sz="700" dirty="0" err="1">
                <a:solidFill>
                  <a:srgbClr val="000000"/>
                </a:solidFill>
                <a:latin typeface="Consolas" panose="020B0609020204030204" pitchFamily="49" charset="0"/>
              </a:rPr>
              <a:t>년이내</a:t>
            </a:r>
            <a:r>
              <a:rPr lang="ko-KR" altLang="en-US" sz="700" dirty="0">
                <a:solidFill>
                  <a:srgbClr val="000000"/>
                </a:solidFill>
                <a:latin typeface="Consolas" panose="020B0609020204030204" pitchFamily="49" charset="0"/>
              </a:rPr>
              <a:t> 「건설산업기본법」 제</a:t>
            </a:r>
            <a:r>
              <a:rPr lang="en-US" altLang="ko-KR" sz="700" dirty="0">
                <a:solidFill>
                  <a:srgbClr val="000000"/>
                </a:solidFill>
                <a:latin typeface="Consolas" panose="020B0609020204030204" pitchFamily="49" charset="0"/>
              </a:rPr>
              <a:t>34</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 또는 「하도급거래 공정화에 관한 법률」 제</a:t>
            </a:r>
            <a:r>
              <a:rPr lang="en-US" altLang="ko-KR" sz="700" dirty="0">
                <a:solidFill>
                  <a:srgbClr val="000000"/>
                </a:solidFill>
                <a:latin typeface="Consolas" panose="020B0609020204030204" pitchFamily="49" charset="0"/>
              </a:rPr>
              <a:t>13</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항이나 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항을 위반한 사실이 없습니다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sp>
        <p:nvSpPr>
          <p:cNvPr id="40" name="모서리가 둥근 직사각형 39"/>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41" name="직선 연결선 40">
            <a:extLst>
              <a:ext uri="{FF2B5EF4-FFF2-40B4-BE49-F238E27FC236}">
                <a16:creationId xmlns:a16="http://schemas.microsoft.com/office/drawing/2014/main" id="{E9293055-D5CD-4B9E-7F64-64B2D2CA7A52}"/>
              </a:ext>
            </a:extLst>
          </p:cNvPr>
          <p:cNvCxnSpPr/>
          <p:nvPr/>
        </p:nvCxnSpPr>
        <p:spPr>
          <a:xfrm>
            <a:off x="717412" y="29914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2" name="TextBox 41">
            <a:extLst>
              <a:ext uri="{FF2B5EF4-FFF2-40B4-BE49-F238E27FC236}">
                <a16:creationId xmlns:a16="http://schemas.microsoft.com/office/drawing/2014/main" id="{FFC49AEA-2A8F-250C-A86A-A7751D9706C3}"/>
              </a:ext>
            </a:extLst>
          </p:cNvPr>
          <p:cNvSpPr txBox="1"/>
          <p:nvPr/>
        </p:nvSpPr>
        <p:spPr>
          <a:xfrm>
            <a:off x="804476" y="3054889"/>
            <a:ext cx="2473940" cy="861774"/>
          </a:xfrm>
          <a:prstGeom prst="rect">
            <a:avLst/>
          </a:prstGeom>
          <a:noFill/>
        </p:spPr>
        <p:txBody>
          <a:bodyPr wrap="square" lIns="0" tIns="0" rIns="0" bIns="0" rtlCol="0">
            <a:spAutoFit/>
          </a:bodyPr>
          <a:lstStyle/>
          <a:p>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선택</a:t>
            </a:r>
            <a:r>
              <a:rPr lang="en-US" altLang="ko-KR" sz="700" dirty="0">
                <a:solidFill>
                  <a:srgbClr val="000000"/>
                </a:solidFill>
                <a:latin typeface="Consolas" panose="020B0609020204030204" pitchFamily="49" charset="0"/>
              </a:rPr>
              <a:t>2]</a:t>
            </a:r>
          </a:p>
          <a:p>
            <a:endParaRPr lang="en-US" altLang="ko-KR" sz="700" dirty="0">
              <a:solidFill>
                <a:srgbClr val="000000"/>
              </a:solidFill>
              <a:latin typeface="Consolas" panose="020B0609020204030204" pitchFamily="49" charset="0"/>
            </a:endParaRPr>
          </a:p>
          <a:p>
            <a:r>
              <a:rPr lang="ko-KR" altLang="en-US" sz="700" dirty="0">
                <a:solidFill>
                  <a:srgbClr val="000000"/>
                </a:solidFill>
                <a:latin typeface="Consolas" panose="020B0609020204030204" pitchFamily="49" charset="0"/>
              </a:rPr>
              <a:t>당사는 </a:t>
            </a:r>
            <a:r>
              <a:rPr lang="ko-KR" altLang="en-US" sz="700" dirty="0" err="1">
                <a:solidFill>
                  <a:srgbClr val="000000"/>
                </a:solidFill>
                <a:latin typeface="Consolas" panose="020B0609020204030204" pitchFamily="49" charset="0"/>
              </a:rPr>
              <a:t>해당입찰의</a:t>
            </a:r>
            <a:r>
              <a:rPr lang="ko-KR" altLang="en-US" sz="700" dirty="0">
                <a:solidFill>
                  <a:srgbClr val="000000"/>
                </a:solidFill>
                <a:latin typeface="Consolas" panose="020B0609020204030204" pitchFamily="49" charset="0"/>
              </a:rPr>
              <a:t> 공고일로부터 </a:t>
            </a:r>
            <a:r>
              <a:rPr lang="en-US" altLang="ko-KR" sz="700" dirty="0">
                <a:solidFill>
                  <a:srgbClr val="000000"/>
                </a:solidFill>
                <a:latin typeface="Consolas" panose="020B0609020204030204" pitchFamily="49" charset="0"/>
              </a:rPr>
              <a:t>1</a:t>
            </a:r>
            <a:r>
              <a:rPr lang="ko-KR" altLang="en-US" sz="700" dirty="0" err="1">
                <a:solidFill>
                  <a:srgbClr val="000000"/>
                </a:solidFill>
                <a:latin typeface="Consolas" panose="020B0609020204030204" pitchFamily="49" charset="0"/>
              </a:rPr>
              <a:t>년이내</a:t>
            </a:r>
            <a:r>
              <a:rPr lang="ko-KR" altLang="en-US" sz="700" dirty="0">
                <a:solidFill>
                  <a:srgbClr val="000000"/>
                </a:solidFill>
                <a:latin typeface="Consolas" panose="020B0609020204030204" pitchFamily="49" charset="0"/>
              </a:rPr>
              <a:t> 「건설산업기본법」 제</a:t>
            </a:r>
            <a:r>
              <a:rPr lang="en-US" altLang="ko-KR" sz="700" dirty="0">
                <a:solidFill>
                  <a:srgbClr val="000000"/>
                </a:solidFill>
                <a:latin typeface="Consolas" panose="020B0609020204030204" pitchFamily="49" charset="0"/>
              </a:rPr>
              <a:t>34</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 또는 「하도급거래 공정화에 관한 법률」 제</a:t>
            </a:r>
            <a:r>
              <a:rPr lang="en-US" altLang="ko-KR" sz="700" dirty="0">
                <a:solidFill>
                  <a:srgbClr val="000000"/>
                </a:solidFill>
                <a:latin typeface="Consolas" panose="020B0609020204030204" pitchFamily="49" charset="0"/>
              </a:rPr>
              <a:t>13</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항이나 제</a:t>
            </a:r>
            <a:r>
              <a:rPr lang="en-US" altLang="ko-KR" sz="700" dirty="0">
                <a:solidFill>
                  <a:srgbClr val="000000"/>
                </a:solidFill>
                <a:latin typeface="Consolas" panose="020B0609020204030204" pitchFamily="49" charset="0"/>
              </a:rPr>
              <a:t>3</a:t>
            </a:r>
            <a:r>
              <a:rPr lang="ko-KR" altLang="en-US" sz="700" dirty="0">
                <a:solidFill>
                  <a:srgbClr val="000000"/>
                </a:solidFill>
                <a:latin typeface="Consolas" panose="020B0609020204030204" pitchFamily="49" charset="0"/>
              </a:rPr>
              <a:t>항을 위반한 사실이 있으므로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본 입찰에 계약상대자로 결정되어 </a:t>
            </a:r>
            <a:r>
              <a:rPr lang="ko-KR" altLang="en-US" sz="700" dirty="0" err="1">
                <a:solidFill>
                  <a:srgbClr val="000000"/>
                </a:solidFill>
                <a:latin typeface="Consolas" panose="020B0609020204030204" pitchFamily="49" charset="0"/>
              </a:rPr>
              <a:t>계약시</a:t>
            </a:r>
            <a:r>
              <a:rPr lang="ko-KR" altLang="en-US" sz="700" dirty="0">
                <a:solidFill>
                  <a:srgbClr val="000000"/>
                </a:solidFill>
                <a:latin typeface="Consolas" panose="020B0609020204030204" pitchFamily="49" charset="0"/>
              </a:rPr>
              <a:t> 「국가계약법」 제</a:t>
            </a:r>
            <a:r>
              <a:rPr lang="en-US" altLang="ko-KR" sz="700" dirty="0">
                <a:solidFill>
                  <a:srgbClr val="000000"/>
                </a:solidFill>
                <a:latin typeface="Consolas" panose="020B0609020204030204" pitchFamily="49" charset="0"/>
              </a:rPr>
              <a:t>15</a:t>
            </a:r>
            <a:r>
              <a:rPr lang="ko-KR" altLang="en-US" sz="700" dirty="0">
                <a:solidFill>
                  <a:srgbClr val="000000"/>
                </a:solidFill>
                <a:latin typeface="Consolas" panose="020B0609020204030204" pitchFamily="49" charset="0"/>
              </a:rPr>
              <a:t>조 제</a:t>
            </a:r>
            <a:r>
              <a:rPr lang="en-US" altLang="ko-KR" sz="700" dirty="0">
                <a:solidFill>
                  <a:srgbClr val="000000"/>
                </a:solidFill>
                <a:latin typeface="Consolas" panose="020B0609020204030204" pitchFamily="49" charset="0"/>
              </a:rPr>
              <a:t>1</a:t>
            </a:r>
            <a:r>
              <a:rPr lang="ko-KR" altLang="en-US" sz="700" dirty="0">
                <a:solidFill>
                  <a:srgbClr val="000000"/>
                </a:solidFill>
                <a:latin typeface="Consolas" panose="020B0609020204030204" pitchFamily="49" charset="0"/>
              </a:rPr>
              <a:t>항에 따른 대가 지급 시 하도급대금은 발주기관이 하수급인에게 직접 지급하는 것을 합의할 것을 확약합니다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717412" y="39792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a:off x="1432789" y="4057160"/>
            <a:ext cx="1197246" cy="107722"/>
            <a:chOff x="4526323" y="5902014"/>
            <a:chExt cx="1197246" cy="107722"/>
          </a:xfrm>
        </p:grpSpPr>
        <p:sp>
          <p:nvSpPr>
            <p:cNvPr id="46" name="타원 45"/>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7" name="타원 46"/>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TextBox 47">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49" name="TextBox 48">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sp>
        <p:nvSpPr>
          <p:cNvPr id="50" name="타원 49">
            <a:extLst>
              <a:ext uri="{FF2B5EF4-FFF2-40B4-BE49-F238E27FC236}">
                <a16:creationId xmlns:a16="http://schemas.microsoft.com/office/drawing/2014/main" id="{37A7FF4F-0EAA-1463-560A-D5EC24416103}"/>
              </a:ext>
            </a:extLst>
          </p:cNvPr>
          <p:cNvSpPr/>
          <p:nvPr/>
        </p:nvSpPr>
        <p:spPr>
          <a:xfrm>
            <a:off x="571127" y="402495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51" name="그룹 50"/>
          <p:cNvGrpSpPr/>
          <p:nvPr/>
        </p:nvGrpSpPr>
        <p:grpSpPr>
          <a:xfrm>
            <a:off x="675399" y="5613954"/>
            <a:ext cx="2712027" cy="617588"/>
            <a:chOff x="675399" y="5614711"/>
            <a:chExt cx="2712027" cy="617588"/>
          </a:xfrm>
        </p:grpSpPr>
        <p:sp>
          <p:nvSpPr>
            <p:cNvPr id="52" name="직사각형 5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3"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54"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Tree>
    <p:extLst>
      <p:ext uri="{BB962C8B-B14F-4D97-AF65-F5344CB8AC3E}">
        <p14:creationId xmlns:p14="http://schemas.microsoft.com/office/powerpoint/2010/main" val="358808471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111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동의서 </a:t>
            </a:r>
            <a:r>
              <a:rPr lang="en-US" altLang="ko-KR" dirty="0">
                <a:latin typeface="+mn-ea"/>
              </a:rPr>
              <a:t>4</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동의서 중 보증금 </a:t>
            </a:r>
            <a:r>
              <a:rPr lang="ko-KR" altLang="en-US" dirty="0" err="1">
                <a:latin typeface="+mn-ea"/>
              </a:rPr>
              <a:t>지급확약서</a:t>
            </a:r>
            <a:r>
              <a:rPr lang="ko-KR" altLang="en-US" dirty="0">
                <a:latin typeface="+mn-ea"/>
              </a:rPr>
              <a:t> </a:t>
            </a:r>
            <a:r>
              <a:rPr lang="ko-KR" altLang="en-US" dirty="0" err="1">
                <a:latin typeface="+mn-ea"/>
              </a:rPr>
              <a:t>동의문</a:t>
            </a:r>
            <a:r>
              <a:rPr lang="ko-KR" altLang="en-US" dirty="0">
                <a:latin typeface="+mn-ea"/>
              </a:rPr>
              <a:t> </a:t>
            </a:r>
            <a:r>
              <a:rPr lang="en-US" altLang="ko-KR" dirty="0">
                <a:latin typeface="+mn-ea"/>
              </a:rPr>
              <a:t>(1/3)</a:t>
            </a:r>
            <a:r>
              <a:rPr lang="ko-KR" altLang="en-US" dirty="0">
                <a:latin typeface="+mn-ea"/>
              </a:rPr>
              <a:t> 동의서</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동의서 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062791"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입찰보증금 </a:t>
            </a:r>
            <a:r>
              <a:rPr lang="ko-KR" altLang="en-US" sz="800" b="1" dirty="0" err="1">
                <a:latin typeface="맑은 고딕" panose="020B0503020000020004" pitchFamily="50" charset="-127"/>
              </a:rPr>
              <a:t>지급확약서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969496"/>
          </a:xfrm>
          <a:prstGeom prst="rect">
            <a:avLst/>
          </a:prstGeom>
          <a:noFill/>
        </p:spPr>
        <p:txBody>
          <a:bodyPr wrap="square" lIns="0" tIns="0" rIns="0" bIns="0" rtlCol="0">
            <a:spAutoFit/>
          </a:bodyPr>
          <a:lstStyle/>
          <a:p>
            <a:pPr marL="88900" indent="-88900">
              <a:buFont typeface="Arial" panose="020B0604020202020204" pitchFamily="34" charset="0"/>
              <a:buChar char="•"/>
            </a:pPr>
            <a:r>
              <a:rPr lang="ko-KR" altLang="en-US" sz="700" dirty="0">
                <a:solidFill>
                  <a:srgbClr val="000000"/>
                </a:solidFill>
                <a:latin typeface="+mn-ea"/>
              </a:rPr>
              <a:t>상기 입찰에 참여함에 있어 낙찰된 이후 정당한 의무를 이행하지 못하여 입찰보증금을 국고에 귀속하여야 할 사유가 발생하였을 경우에는 국가를 당사자로 하는 계약에 관한 법률 시행령 제</a:t>
            </a:r>
            <a:r>
              <a:rPr lang="en-US" altLang="ko-KR" sz="700" dirty="0">
                <a:solidFill>
                  <a:srgbClr val="000000"/>
                </a:solidFill>
                <a:latin typeface="+mn-ea"/>
              </a:rPr>
              <a:t>38</a:t>
            </a:r>
            <a:r>
              <a:rPr lang="ko-KR" altLang="en-US" sz="700" dirty="0">
                <a:solidFill>
                  <a:srgbClr val="000000"/>
                </a:solidFill>
                <a:latin typeface="+mn-ea"/>
              </a:rPr>
              <a:t>조제</a:t>
            </a:r>
            <a:r>
              <a:rPr lang="en-US" altLang="ko-KR" sz="700" dirty="0">
                <a:solidFill>
                  <a:srgbClr val="000000"/>
                </a:solidFill>
                <a:latin typeface="+mn-ea"/>
              </a:rPr>
              <a:t>2</a:t>
            </a:r>
            <a:r>
              <a:rPr lang="ko-KR" altLang="en-US" sz="700" dirty="0">
                <a:solidFill>
                  <a:srgbClr val="000000"/>
                </a:solidFill>
                <a:latin typeface="+mn-ea"/>
              </a:rPr>
              <a:t>항에 의거 입찰보증금을 지체없이 현금으로 귀 부대</a:t>
            </a:r>
            <a:r>
              <a:rPr lang="en-US" altLang="ko-KR" sz="700" dirty="0">
                <a:solidFill>
                  <a:srgbClr val="000000"/>
                </a:solidFill>
                <a:latin typeface="+mn-ea"/>
              </a:rPr>
              <a:t>(</a:t>
            </a:r>
            <a:r>
              <a:rPr lang="ko-KR" altLang="en-US" sz="700" dirty="0">
                <a:solidFill>
                  <a:srgbClr val="000000"/>
                </a:solidFill>
                <a:latin typeface="+mn-ea"/>
              </a:rPr>
              <a:t>기관</a:t>
            </a:r>
            <a:r>
              <a:rPr lang="en-US" altLang="ko-KR" sz="700" dirty="0">
                <a:solidFill>
                  <a:srgbClr val="000000"/>
                </a:solidFill>
                <a:latin typeface="+mn-ea"/>
              </a:rPr>
              <a:t>)</a:t>
            </a:r>
            <a:r>
              <a:rPr lang="ko-KR" altLang="en-US" sz="700" dirty="0">
                <a:solidFill>
                  <a:srgbClr val="000000"/>
                </a:solidFill>
                <a:latin typeface="+mn-ea"/>
              </a:rPr>
              <a:t>에 납부할 것을 확약합니다</a:t>
            </a:r>
            <a:r>
              <a:rPr lang="en-US" altLang="ko-KR" sz="700" dirty="0">
                <a:solidFill>
                  <a:srgbClr val="000000"/>
                </a:solidFill>
                <a:latin typeface="+mn-ea"/>
              </a:rPr>
              <a:t>.</a:t>
            </a:r>
          </a:p>
          <a:p>
            <a:pPr marL="88900" indent="-88900">
              <a:buFont typeface="Arial" panose="020B0604020202020204" pitchFamily="34" charset="0"/>
              <a:buChar char="•"/>
            </a:pPr>
            <a:r>
              <a:rPr lang="ko-KR" altLang="en-US" sz="700" dirty="0">
                <a:solidFill>
                  <a:srgbClr val="000000"/>
                </a:solidFill>
                <a:latin typeface="+mn-ea"/>
              </a:rPr>
              <a:t>만일 귀 부대</a:t>
            </a:r>
            <a:r>
              <a:rPr lang="en-US" altLang="ko-KR" sz="700" dirty="0">
                <a:solidFill>
                  <a:srgbClr val="000000"/>
                </a:solidFill>
                <a:latin typeface="+mn-ea"/>
              </a:rPr>
              <a:t>(</a:t>
            </a:r>
            <a:r>
              <a:rPr lang="ko-KR" altLang="en-US" sz="700" dirty="0">
                <a:solidFill>
                  <a:srgbClr val="000000"/>
                </a:solidFill>
                <a:latin typeface="+mn-ea"/>
              </a:rPr>
              <a:t>기관</a:t>
            </a:r>
            <a:r>
              <a:rPr lang="en-US" altLang="ko-KR" sz="700" dirty="0">
                <a:solidFill>
                  <a:srgbClr val="000000"/>
                </a:solidFill>
                <a:latin typeface="+mn-ea"/>
              </a:rPr>
              <a:t>)</a:t>
            </a:r>
            <a:r>
              <a:rPr lang="ko-KR" altLang="en-US" sz="700" dirty="0">
                <a:solidFill>
                  <a:srgbClr val="000000"/>
                </a:solidFill>
                <a:latin typeface="+mn-ea"/>
              </a:rPr>
              <a:t>에서 지정하는 기일까지 입찰보증금을 납부하지 아니할 경우에는 귀 부대</a:t>
            </a:r>
            <a:r>
              <a:rPr lang="en-US" altLang="ko-KR" sz="700" dirty="0">
                <a:solidFill>
                  <a:srgbClr val="000000"/>
                </a:solidFill>
                <a:latin typeface="+mn-ea"/>
              </a:rPr>
              <a:t>(</a:t>
            </a:r>
            <a:r>
              <a:rPr lang="ko-KR" altLang="en-US" sz="700" dirty="0">
                <a:solidFill>
                  <a:srgbClr val="000000"/>
                </a:solidFill>
                <a:latin typeface="+mn-ea"/>
              </a:rPr>
              <a:t>기관</a:t>
            </a:r>
            <a:r>
              <a:rPr lang="en-US" altLang="ko-KR" sz="700" dirty="0">
                <a:solidFill>
                  <a:srgbClr val="000000"/>
                </a:solidFill>
                <a:latin typeface="+mn-ea"/>
              </a:rPr>
              <a:t>)</a:t>
            </a:r>
            <a:r>
              <a:rPr lang="ko-KR" altLang="en-US" sz="700" dirty="0">
                <a:solidFill>
                  <a:srgbClr val="000000"/>
                </a:solidFill>
                <a:latin typeface="+mn-ea"/>
              </a:rPr>
              <a:t>의 일방적인 </a:t>
            </a:r>
            <a:r>
              <a:rPr lang="ko-KR" altLang="en-US" sz="700" dirty="0" err="1">
                <a:solidFill>
                  <a:srgbClr val="000000"/>
                </a:solidFill>
                <a:latin typeface="+mn-ea"/>
              </a:rPr>
              <a:t>공제조치는</a:t>
            </a:r>
            <a:r>
              <a:rPr lang="ko-KR" altLang="en-US" sz="700" dirty="0">
                <a:solidFill>
                  <a:srgbClr val="000000"/>
                </a:solidFill>
                <a:latin typeface="+mn-ea"/>
              </a:rPr>
              <a:t> 물론 어떠한 법적 구상 및 제재 조치에도 하등의 이의가 없음을 확약합니다</a:t>
            </a:r>
            <a:r>
              <a:rPr lang="en-US" altLang="ko-KR" sz="700" dirty="0">
                <a:solidFill>
                  <a:srgbClr val="000000"/>
                </a:solidFill>
                <a:latin typeface="+mn-ea"/>
              </a:rPr>
              <a:t>.</a:t>
            </a:r>
            <a:endParaRPr lang="en-US" altLang="ko-KR" sz="700" dirty="0">
              <a:latin typeface="+mn-ea"/>
            </a:endParaRPr>
          </a:p>
        </p:txBody>
      </p:sp>
      <p:cxnSp>
        <p:nvCxnSpPr>
          <p:cNvPr id="212" name="직선 연결선 211">
            <a:extLst>
              <a:ext uri="{FF2B5EF4-FFF2-40B4-BE49-F238E27FC236}">
                <a16:creationId xmlns:a16="http://schemas.microsoft.com/office/drawing/2014/main" id="{E9293055-D5CD-4B9E-7F64-64B2D2CA7A52}"/>
              </a:ext>
            </a:extLst>
          </p:cNvPr>
          <p:cNvCxnSpPr/>
          <p:nvPr/>
        </p:nvCxnSpPr>
        <p:spPr>
          <a:xfrm>
            <a:off x="717412" y="34608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1432789" y="3538781"/>
            <a:ext cx="1197246" cy="107722"/>
            <a:chOff x="4526323" y="5902014"/>
            <a:chExt cx="1197246" cy="107722"/>
          </a:xfrm>
        </p:grpSpPr>
        <p:sp>
          <p:nvSpPr>
            <p:cNvPr id="258" name="타원 257"/>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타원 258"/>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0" name="TextBox 259">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262" name="그룹 261"/>
          <p:cNvGrpSpPr/>
          <p:nvPr/>
        </p:nvGrpSpPr>
        <p:grpSpPr>
          <a:xfrm>
            <a:off x="675399" y="5613954"/>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04" name="타원 203">
            <a:extLst>
              <a:ext uri="{FF2B5EF4-FFF2-40B4-BE49-F238E27FC236}">
                <a16:creationId xmlns:a16="http://schemas.microsoft.com/office/drawing/2014/main" id="{37A7FF4F-0EAA-1463-560A-D5EC24416103}"/>
              </a:ext>
            </a:extLst>
          </p:cNvPr>
          <p:cNvSpPr/>
          <p:nvPr/>
        </p:nvSpPr>
        <p:spPr>
          <a:xfrm>
            <a:off x="571127" y="350657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210833884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112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동의서 </a:t>
            </a:r>
            <a:r>
              <a:rPr lang="en-US" altLang="ko-KR" dirty="0">
                <a:latin typeface="+mn-ea"/>
              </a:rPr>
              <a:t>5</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동의서 중 보증금 </a:t>
            </a:r>
            <a:r>
              <a:rPr lang="ko-KR" altLang="en-US" dirty="0" err="1">
                <a:latin typeface="+mn-ea"/>
              </a:rPr>
              <a:t>지급확약서</a:t>
            </a:r>
            <a:r>
              <a:rPr lang="ko-KR" altLang="en-US" dirty="0">
                <a:latin typeface="+mn-ea"/>
              </a:rPr>
              <a:t> </a:t>
            </a:r>
            <a:r>
              <a:rPr lang="ko-KR" altLang="en-US" dirty="0" err="1">
                <a:latin typeface="+mn-ea"/>
              </a:rPr>
              <a:t>동의문</a:t>
            </a:r>
            <a:r>
              <a:rPr lang="ko-KR" altLang="en-US" dirty="0">
                <a:latin typeface="+mn-ea"/>
              </a:rPr>
              <a:t> 경고 </a:t>
            </a:r>
            <a:r>
              <a:rPr lang="en-US" altLang="ko-KR" dirty="0">
                <a:latin typeface="+mn-ea"/>
              </a:rPr>
              <a:t>(2/3)</a:t>
            </a:r>
            <a:r>
              <a:rPr lang="ko-KR" altLang="en-US" dirty="0">
                <a:latin typeface="+mn-ea"/>
              </a:rPr>
              <a:t> 동의서</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동의서 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MUI-BD-04-P19</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649491"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입찰보증금 </a:t>
            </a:r>
            <a:r>
              <a:rPr lang="ko-KR" altLang="en-US" sz="800" b="1" dirty="0" err="1">
                <a:latin typeface="맑은 고딕" panose="020B0503020000020004" pitchFamily="50" charset="-127"/>
              </a:rPr>
              <a:t>지급확약서</a:t>
            </a:r>
            <a:r>
              <a:rPr lang="ko-KR" altLang="en-US" sz="800" b="1" dirty="0">
                <a:latin typeface="맑은 고딕" panose="020B0503020000020004" pitchFamily="50" charset="-127"/>
              </a:rPr>
              <a:t> 관련 경고문</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969496"/>
          </a:xfrm>
          <a:prstGeom prst="rect">
            <a:avLst/>
          </a:prstGeom>
          <a:noFill/>
        </p:spPr>
        <p:txBody>
          <a:bodyPr wrap="square" lIns="0" tIns="0" rIns="0" bIns="0" rtlCol="0">
            <a:spAutoFit/>
          </a:bodyPr>
          <a:lstStyle/>
          <a:p>
            <a:pPr marL="88900" indent="-88900">
              <a:buFont typeface="Arial" panose="020B0604020202020204" pitchFamily="34" charset="0"/>
              <a:buChar char="•"/>
            </a:pPr>
            <a:r>
              <a:rPr lang="ko-KR" altLang="en-US" sz="700" dirty="0">
                <a:solidFill>
                  <a:srgbClr val="000000"/>
                </a:solidFill>
                <a:latin typeface="+mn-ea"/>
              </a:rPr>
              <a:t>입찰보증금 면제 등록 시 「국가계약법 </a:t>
            </a:r>
            <a:r>
              <a:rPr lang="ko-KR" altLang="en-US" sz="700" dirty="0" err="1">
                <a:solidFill>
                  <a:srgbClr val="000000"/>
                </a:solidFill>
                <a:latin typeface="+mn-ea"/>
              </a:rPr>
              <a:t>시행령」등에</a:t>
            </a:r>
            <a:r>
              <a:rPr lang="ko-KR" altLang="en-US" sz="700" dirty="0">
                <a:solidFill>
                  <a:srgbClr val="000000"/>
                </a:solidFill>
                <a:latin typeface="+mn-ea"/>
              </a:rPr>
              <a:t> 따른 면제사유 해당여부를 반드시 확인하여 주시기 바라며</a:t>
            </a:r>
            <a:r>
              <a:rPr lang="en-US" altLang="ko-KR" sz="700" dirty="0">
                <a:solidFill>
                  <a:srgbClr val="000000"/>
                </a:solidFill>
                <a:latin typeface="+mn-ea"/>
              </a:rPr>
              <a:t>, </a:t>
            </a:r>
            <a:r>
              <a:rPr lang="ko-KR" altLang="en-US" sz="700" dirty="0">
                <a:solidFill>
                  <a:srgbClr val="000000"/>
                </a:solidFill>
                <a:latin typeface="+mn-ea"/>
              </a:rPr>
              <a:t>방위사업관리규정 제</a:t>
            </a:r>
            <a:r>
              <a:rPr lang="en-US" altLang="ko-KR" sz="700" dirty="0">
                <a:solidFill>
                  <a:srgbClr val="000000"/>
                </a:solidFill>
                <a:latin typeface="+mn-ea"/>
              </a:rPr>
              <a:t>397</a:t>
            </a:r>
            <a:r>
              <a:rPr lang="ko-KR" altLang="en-US" sz="700" dirty="0" err="1">
                <a:solidFill>
                  <a:srgbClr val="000000"/>
                </a:solidFill>
                <a:latin typeface="+mn-ea"/>
              </a:rPr>
              <a:t>조②항에</a:t>
            </a:r>
            <a:r>
              <a:rPr lang="ko-KR" altLang="en-US" sz="700" dirty="0">
                <a:solidFill>
                  <a:srgbClr val="000000"/>
                </a:solidFill>
                <a:latin typeface="+mn-ea"/>
              </a:rPr>
              <a:t> 따라 아래 각 호의 입찰보증금 면제 </a:t>
            </a:r>
            <a:r>
              <a:rPr lang="ko-KR" altLang="en-US" sz="700" dirty="0" err="1">
                <a:solidFill>
                  <a:srgbClr val="000000"/>
                </a:solidFill>
                <a:latin typeface="+mn-ea"/>
              </a:rPr>
              <a:t>예외사유에</a:t>
            </a:r>
            <a:r>
              <a:rPr lang="ko-KR" altLang="en-US" sz="700" dirty="0">
                <a:solidFill>
                  <a:srgbClr val="000000"/>
                </a:solidFill>
                <a:latin typeface="+mn-ea"/>
              </a:rPr>
              <a:t> 해당함에도 면제 등록 시</a:t>
            </a:r>
            <a:r>
              <a:rPr lang="en-US" altLang="ko-KR" sz="700" dirty="0">
                <a:solidFill>
                  <a:srgbClr val="000000"/>
                </a:solidFill>
                <a:latin typeface="+mn-ea"/>
              </a:rPr>
              <a:t>, </a:t>
            </a:r>
            <a:r>
              <a:rPr lang="ko-KR" altLang="en-US" sz="700" dirty="0">
                <a:solidFill>
                  <a:srgbClr val="000000"/>
                </a:solidFill>
                <a:latin typeface="+mn-ea"/>
              </a:rPr>
              <a:t>입찰등록불가</a:t>
            </a:r>
            <a:r>
              <a:rPr lang="en-US" altLang="ko-KR" sz="700" dirty="0">
                <a:solidFill>
                  <a:srgbClr val="000000"/>
                </a:solidFill>
                <a:latin typeface="+mn-ea"/>
              </a:rPr>
              <a:t>(</a:t>
            </a:r>
            <a:r>
              <a:rPr lang="ko-KR" altLang="en-US" sz="700" dirty="0">
                <a:solidFill>
                  <a:srgbClr val="000000"/>
                </a:solidFill>
                <a:latin typeface="+mn-ea"/>
              </a:rPr>
              <a:t>부적격</a:t>
            </a:r>
            <a:r>
              <a:rPr lang="en-US" altLang="ko-KR" sz="700" dirty="0">
                <a:solidFill>
                  <a:srgbClr val="000000"/>
                </a:solidFill>
                <a:latin typeface="+mn-ea"/>
              </a:rPr>
              <a:t>) </a:t>
            </a:r>
            <a:r>
              <a:rPr lang="ko-KR" altLang="en-US" sz="700" dirty="0">
                <a:solidFill>
                  <a:srgbClr val="000000"/>
                </a:solidFill>
                <a:latin typeface="+mn-ea"/>
              </a:rPr>
              <a:t>처리 예정이니 입찰보증금 납부를 권장합니다</a:t>
            </a:r>
            <a:r>
              <a:rPr lang="en-US" altLang="ko-KR" sz="700" dirty="0">
                <a:solidFill>
                  <a:srgbClr val="000000"/>
                </a:solidFill>
                <a:latin typeface="+mn-ea"/>
              </a:rPr>
              <a:t>.</a:t>
            </a:r>
          </a:p>
          <a:p>
            <a:pPr marL="88900" indent="-88900">
              <a:buFont typeface="Arial" panose="020B0604020202020204" pitchFamily="34" charset="0"/>
              <a:buChar char="•"/>
            </a:pPr>
            <a:r>
              <a:rPr lang="en-US" altLang="ko-KR" sz="700" dirty="0">
                <a:solidFill>
                  <a:srgbClr val="000000"/>
                </a:solidFill>
                <a:latin typeface="+mn-ea"/>
              </a:rPr>
              <a:t>1. </a:t>
            </a:r>
            <a:r>
              <a:rPr lang="ko-KR" altLang="en-US" sz="700" dirty="0">
                <a:solidFill>
                  <a:srgbClr val="000000"/>
                </a:solidFill>
                <a:latin typeface="+mn-ea"/>
              </a:rPr>
              <a:t>방위사업청에 입찰보증금 등 국고귀속조치에 응하지 않고 있는 자</a:t>
            </a:r>
            <a:r>
              <a:rPr lang="en-US" altLang="ko-KR" sz="700" dirty="0">
                <a:solidFill>
                  <a:srgbClr val="000000"/>
                </a:solidFill>
                <a:latin typeface="+mn-ea"/>
              </a:rPr>
              <a:t>.</a:t>
            </a:r>
          </a:p>
          <a:p>
            <a:pPr marL="88900" indent="-88900">
              <a:buFont typeface="Arial" panose="020B0604020202020204" pitchFamily="34" charset="0"/>
              <a:buChar char="•"/>
            </a:pPr>
            <a:r>
              <a:rPr lang="en-US" altLang="ko-KR" sz="700" dirty="0">
                <a:solidFill>
                  <a:srgbClr val="000000"/>
                </a:solidFill>
                <a:latin typeface="+mn-ea"/>
              </a:rPr>
              <a:t>2. </a:t>
            </a:r>
            <a:r>
              <a:rPr lang="ko-KR" altLang="en-US" sz="700" dirty="0">
                <a:solidFill>
                  <a:srgbClr val="000000"/>
                </a:solidFill>
                <a:latin typeface="+mn-ea"/>
              </a:rPr>
              <a:t>부정당업자 </a:t>
            </a:r>
            <a:r>
              <a:rPr lang="ko-KR" altLang="en-US" sz="700" dirty="0" err="1">
                <a:solidFill>
                  <a:srgbClr val="000000"/>
                </a:solidFill>
                <a:latin typeface="+mn-ea"/>
              </a:rPr>
              <a:t>제재기간이</a:t>
            </a:r>
            <a:r>
              <a:rPr lang="ko-KR" altLang="en-US" sz="700" dirty="0">
                <a:solidFill>
                  <a:srgbClr val="000000"/>
                </a:solidFill>
                <a:latin typeface="+mn-ea"/>
              </a:rPr>
              <a:t> 만료된 날로부터 다시 그 제한처분기간에 해당하는 기간 중에 있는 자</a:t>
            </a:r>
            <a:endParaRPr lang="en-US" altLang="ko-KR" sz="700" dirty="0">
              <a:solidFill>
                <a:srgbClr val="000000"/>
              </a:solidFill>
              <a:latin typeface="+mn-ea"/>
            </a:endParaRPr>
          </a:p>
        </p:txBody>
      </p:sp>
      <p:cxnSp>
        <p:nvCxnSpPr>
          <p:cNvPr id="212" name="직선 연결선 211">
            <a:extLst>
              <a:ext uri="{FF2B5EF4-FFF2-40B4-BE49-F238E27FC236}">
                <a16:creationId xmlns:a16="http://schemas.microsoft.com/office/drawing/2014/main" id="{E9293055-D5CD-4B9E-7F64-64B2D2CA7A52}"/>
              </a:ext>
            </a:extLst>
          </p:cNvPr>
          <p:cNvCxnSpPr/>
          <p:nvPr/>
        </p:nvCxnSpPr>
        <p:spPr>
          <a:xfrm>
            <a:off x="717412" y="34608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1432789" y="3538781"/>
            <a:ext cx="1197246" cy="107722"/>
            <a:chOff x="4526323" y="5902014"/>
            <a:chExt cx="1197246" cy="107722"/>
          </a:xfrm>
        </p:grpSpPr>
        <p:sp>
          <p:nvSpPr>
            <p:cNvPr id="258" name="타원 257"/>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타원 258"/>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0" name="TextBox 259">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262" name="그룹 261"/>
          <p:cNvGrpSpPr/>
          <p:nvPr/>
        </p:nvGrpSpPr>
        <p:grpSpPr>
          <a:xfrm>
            <a:off x="675399" y="5613954"/>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04" name="타원 203">
            <a:extLst>
              <a:ext uri="{FF2B5EF4-FFF2-40B4-BE49-F238E27FC236}">
                <a16:creationId xmlns:a16="http://schemas.microsoft.com/office/drawing/2014/main" id="{37A7FF4F-0EAA-1463-560A-D5EC24416103}"/>
              </a:ext>
            </a:extLst>
          </p:cNvPr>
          <p:cNvSpPr/>
          <p:nvPr/>
        </p:nvSpPr>
        <p:spPr>
          <a:xfrm>
            <a:off x="571127" y="350657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108903665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113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동의서 </a:t>
            </a:r>
            <a:r>
              <a:rPr lang="en-US" altLang="ko-KR" dirty="0">
                <a:latin typeface="+mn-ea"/>
              </a:rPr>
              <a:t>6</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동의서 중 입찰 보증금 면제사유 확약서 </a:t>
            </a:r>
            <a:r>
              <a:rPr lang="en-US" altLang="ko-KR" dirty="0">
                <a:latin typeface="+mn-ea"/>
              </a:rPr>
              <a:t>(3/3)</a:t>
            </a:r>
            <a:r>
              <a:rPr lang="ko-KR" altLang="en-US" dirty="0">
                <a:latin typeface="+mn-ea"/>
              </a:rPr>
              <a:t> 동의서</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&gt; </a:t>
            </a:r>
            <a:r>
              <a:rPr lang="ko-KR" altLang="en-US" dirty="0">
                <a:latin typeface="+mn-ea"/>
              </a:rPr>
              <a:t>동의서 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MUI-BD-04-P20</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2701900"/>
            <a:ext cx="2712027" cy="353039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273229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2866714"/>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847393"/>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310879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3222050"/>
            <a:ext cx="1304844"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입찰보증금 면제사유 확약서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3427489"/>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3493885"/>
            <a:ext cx="2473940" cy="2477601"/>
          </a:xfrm>
          <a:prstGeom prst="rect">
            <a:avLst/>
          </a:prstGeom>
          <a:noFill/>
        </p:spPr>
        <p:txBody>
          <a:bodyPr wrap="square" lIns="0" tIns="0" rIns="0" bIns="0" rtlCol="0">
            <a:spAutoFit/>
          </a:bodyPr>
          <a:lstStyle/>
          <a:p>
            <a:r>
              <a:rPr lang="ko-KR" altLang="en-US" sz="700" dirty="0">
                <a:latin typeface="+mn-ea"/>
              </a:rPr>
              <a:t>시행령 </a:t>
            </a:r>
            <a:r>
              <a:rPr lang="en-US" altLang="ko-KR" sz="700" dirty="0">
                <a:latin typeface="+mn-ea"/>
              </a:rPr>
              <a:t>37</a:t>
            </a:r>
            <a:r>
              <a:rPr lang="ko-KR" altLang="en-US" sz="700" dirty="0">
                <a:latin typeface="+mn-ea"/>
              </a:rPr>
              <a:t>조 </a:t>
            </a:r>
            <a:r>
              <a:rPr lang="en-US" altLang="ko-KR" sz="700" dirty="0">
                <a:latin typeface="+mn-ea"/>
              </a:rPr>
              <a:t>3</a:t>
            </a:r>
            <a:r>
              <a:rPr lang="ko-KR" altLang="en-US" sz="700" dirty="0">
                <a:latin typeface="+mn-ea"/>
              </a:rPr>
              <a:t>항</a:t>
            </a:r>
            <a:endParaRPr lang="en-US" altLang="ko-KR" sz="700" dirty="0">
              <a:latin typeface="+mn-ea"/>
            </a:endParaRPr>
          </a:p>
          <a:p>
            <a:endParaRPr lang="en-US" altLang="ko-KR" sz="700" dirty="0">
              <a:solidFill>
                <a:srgbClr val="000000"/>
              </a:solidFill>
              <a:latin typeface="+mn-ea"/>
            </a:endParaRPr>
          </a:p>
          <a:p>
            <a:pPr marL="88900" indent="-88900">
              <a:buFont typeface="+mj-lt"/>
              <a:buAutoNum type="arabicPeriod"/>
            </a:pPr>
            <a:r>
              <a:rPr lang="ko-KR" altLang="en-US" sz="700" dirty="0">
                <a:latin typeface="+mn-ea"/>
              </a:rPr>
              <a:t>국가기관 및 지방자치단체</a:t>
            </a:r>
            <a:endParaRPr lang="en-US" altLang="ko-KR" sz="700" dirty="0">
              <a:latin typeface="+mn-ea"/>
            </a:endParaRPr>
          </a:p>
          <a:p>
            <a:pPr marL="88900" indent="-88900">
              <a:buFont typeface="+mj-lt"/>
              <a:buAutoNum type="arabicPeriod"/>
            </a:pPr>
            <a:r>
              <a:rPr lang="ko-KR" altLang="en-US" sz="700" dirty="0">
                <a:latin typeface="+mn-ea"/>
              </a:rPr>
              <a:t>「공공기관의 운영에 관한 </a:t>
            </a:r>
            <a:r>
              <a:rPr lang="ko-KR" altLang="en-US" sz="700" dirty="0" err="1">
                <a:latin typeface="+mn-ea"/>
              </a:rPr>
              <a:t>법률」에</a:t>
            </a:r>
            <a:r>
              <a:rPr lang="ko-KR" altLang="en-US" sz="700" dirty="0">
                <a:latin typeface="+mn-ea"/>
              </a:rPr>
              <a:t> 따른 공공기관</a:t>
            </a:r>
            <a:endParaRPr lang="en-US" altLang="ko-KR" sz="700" dirty="0">
              <a:latin typeface="+mn-ea"/>
            </a:endParaRPr>
          </a:p>
          <a:p>
            <a:pPr marL="88900" indent="-88900">
              <a:buFont typeface="+mj-lt"/>
              <a:buAutoNum type="arabicPeriod"/>
            </a:pPr>
            <a:r>
              <a:rPr lang="ko-KR" altLang="en-US" sz="700" dirty="0">
                <a:latin typeface="+mn-ea"/>
              </a:rPr>
              <a:t>국가 또는 지방자치단체가 기본재산의 </a:t>
            </a:r>
            <a:r>
              <a:rPr lang="en-US" altLang="ko-KR" sz="700" dirty="0">
                <a:latin typeface="+mn-ea"/>
              </a:rPr>
              <a:t>100</a:t>
            </a:r>
            <a:r>
              <a:rPr lang="ko-KR" altLang="en-US" sz="700" dirty="0">
                <a:latin typeface="+mn-ea"/>
              </a:rPr>
              <a:t>분의 </a:t>
            </a:r>
            <a:r>
              <a:rPr lang="en-US" altLang="ko-KR" sz="700" dirty="0">
                <a:latin typeface="+mn-ea"/>
              </a:rPr>
              <a:t>50</a:t>
            </a:r>
            <a:r>
              <a:rPr lang="ko-KR" altLang="en-US" sz="700" dirty="0">
                <a:latin typeface="+mn-ea"/>
              </a:rPr>
              <a:t>이상을 출연 또는 출자</a:t>
            </a:r>
            <a:r>
              <a:rPr lang="en-US" altLang="ko-KR" sz="700" dirty="0">
                <a:latin typeface="+mn-ea"/>
              </a:rPr>
              <a:t>(</a:t>
            </a:r>
            <a:r>
              <a:rPr lang="ko-KR" altLang="en-US" sz="700" dirty="0">
                <a:latin typeface="+mn-ea"/>
              </a:rPr>
              <a:t>법률의 규정에 의하여 귀속시킨 경우를 포함한다</a:t>
            </a:r>
            <a:r>
              <a:rPr lang="en-US" altLang="ko-KR" sz="700" dirty="0">
                <a:latin typeface="+mn-ea"/>
              </a:rPr>
              <a:t>. </a:t>
            </a:r>
            <a:r>
              <a:rPr lang="ko-KR" altLang="en-US" sz="700" dirty="0">
                <a:latin typeface="+mn-ea"/>
              </a:rPr>
              <a:t>이하 같다</a:t>
            </a:r>
            <a:r>
              <a:rPr lang="en-US" altLang="ko-KR" sz="700" dirty="0">
                <a:latin typeface="+mn-ea"/>
              </a:rPr>
              <a:t>)</a:t>
            </a:r>
            <a:r>
              <a:rPr lang="ko-KR" altLang="en-US" sz="700" dirty="0">
                <a:latin typeface="+mn-ea"/>
              </a:rPr>
              <a:t>한 법인</a:t>
            </a:r>
            <a:endParaRPr lang="en-US" altLang="ko-KR" sz="700" dirty="0">
              <a:latin typeface="+mn-ea"/>
            </a:endParaRPr>
          </a:p>
          <a:p>
            <a:pPr marL="88900" indent="-88900">
              <a:buFont typeface="+mj-lt"/>
              <a:buAutoNum type="arabicPeriod"/>
            </a:pPr>
            <a:r>
              <a:rPr lang="ko-KR" altLang="en-US" sz="700" dirty="0">
                <a:latin typeface="+mn-ea"/>
              </a:rPr>
              <a:t>「</a:t>
            </a:r>
            <a:r>
              <a:rPr lang="ko-KR" altLang="en-US" sz="700" dirty="0" err="1">
                <a:latin typeface="+mn-ea"/>
              </a:rPr>
              <a:t>농업협동조합법」에</a:t>
            </a:r>
            <a:r>
              <a:rPr lang="ko-KR" altLang="en-US" sz="700" dirty="0">
                <a:latin typeface="+mn-ea"/>
              </a:rPr>
              <a:t> 의한 조합 </a:t>
            </a:r>
            <a:r>
              <a:rPr lang="en-US" altLang="ko-KR" sz="700" dirty="0">
                <a:latin typeface="+mn-ea"/>
              </a:rPr>
              <a:t>· </a:t>
            </a:r>
            <a:r>
              <a:rPr lang="ko-KR" altLang="en-US" sz="700" dirty="0">
                <a:latin typeface="+mn-ea"/>
              </a:rPr>
              <a:t>조합공동사업법인 및 그 중앙회</a:t>
            </a:r>
            <a:r>
              <a:rPr lang="en-US" altLang="ko-KR" sz="700" dirty="0">
                <a:latin typeface="+mn-ea"/>
              </a:rPr>
              <a:t>(</a:t>
            </a:r>
            <a:r>
              <a:rPr lang="ko-KR" altLang="en-US" sz="700" dirty="0">
                <a:latin typeface="+mn-ea"/>
              </a:rPr>
              <a:t>농협경제지주회사 및 그 자회사를 포함한다</a:t>
            </a:r>
            <a:r>
              <a:rPr lang="en-US" altLang="ko-KR" sz="700" dirty="0">
                <a:latin typeface="+mn-ea"/>
              </a:rPr>
              <a:t>), </a:t>
            </a:r>
            <a:r>
              <a:rPr lang="ko-KR" altLang="en-US" sz="700" dirty="0">
                <a:latin typeface="+mn-ea"/>
              </a:rPr>
              <a:t>「</a:t>
            </a:r>
            <a:r>
              <a:rPr lang="ko-KR" altLang="en-US" sz="700" dirty="0" err="1">
                <a:latin typeface="+mn-ea"/>
              </a:rPr>
              <a:t>수산업협동조합법」에</a:t>
            </a:r>
            <a:r>
              <a:rPr lang="ko-KR" altLang="en-US" sz="700" dirty="0">
                <a:latin typeface="+mn-ea"/>
              </a:rPr>
              <a:t> 따른 </a:t>
            </a:r>
            <a:r>
              <a:rPr lang="ko-KR" altLang="en-US" sz="700" dirty="0" err="1">
                <a:latin typeface="+mn-ea"/>
              </a:rPr>
              <a:t>어촌계</a:t>
            </a:r>
            <a:r>
              <a:rPr lang="ko-KR" altLang="en-US" sz="700" dirty="0">
                <a:latin typeface="+mn-ea"/>
              </a:rPr>
              <a:t> </a:t>
            </a:r>
            <a:r>
              <a:rPr lang="en-US" altLang="ko-KR" sz="700" dirty="0">
                <a:latin typeface="+mn-ea"/>
              </a:rPr>
              <a:t>· </a:t>
            </a:r>
            <a:r>
              <a:rPr lang="ko-KR" altLang="en-US" sz="700" dirty="0">
                <a:latin typeface="+mn-ea"/>
              </a:rPr>
              <a:t>수산업협동조합 및 그 중앙회</a:t>
            </a:r>
            <a:r>
              <a:rPr lang="en-US" altLang="ko-KR" sz="700" dirty="0">
                <a:latin typeface="+mn-ea"/>
              </a:rPr>
              <a:t>, </a:t>
            </a:r>
            <a:r>
              <a:rPr lang="ko-KR" altLang="en-US" sz="700" dirty="0">
                <a:latin typeface="+mn-ea"/>
              </a:rPr>
              <a:t>「</a:t>
            </a:r>
            <a:r>
              <a:rPr lang="ko-KR" altLang="en-US" sz="700" dirty="0" err="1">
                <a:latin typeface="+mn-ea"/>
              </a:rPr>
              <a:t>산림조합법」에</a:t>
            </a:r>
            <a:r>
              <a:rPr lang="ko-KR" altLang="en-US" sz="700" dirty="0">
                <a:latin typeface="+mn-ea"/>
              </a:rPr>
              <a:t> 따른 산림조합 및 그 중앙회</a:t>
            </a:r>
            <a:r>
              <a:rPr lang="en-US" altLang="ko-KR" sz="700" dirty="0">
                <a:latin typeface="+mn-ea"/>
              </a:rPr>
              <a:t>, </a:t>
            </a:r>
            <a:r>
              <a:rPr lang="ko-KR" altLang="en-US" sz="700" dirty="0">
                <a:latin typeface="+mn-ea"/>
              </a:rPr>
              <a:t>「</a:t>
            </a:r>
            <a:r>
              <a:rPr lang="ko-KR" altLang="en-US" sz="700" dirty="0" err="1">
                <a:latin typeface="+mn-ea"/>
              </a:rPr>
              <a:t>중소기업협동조합법」에</a:t>
            </a:r>
            <a:r>
              <a:rPr lang="ko-KR" altLang="en-US" sz="700" dirty="0">
                <a:latin typeface="+mn-ea"/>
              </a:rPr>
              <a:t> 따른 중소기업협동조합 및 그 중앙회</a:t>
            </a:r>
            <a:endParaRPr lang="en-US" altLang="ko-KR" sz="700" dirty="0">
              <a:latin typeface="+mn-ea"/>
            </a:endParaRPr>
          </a:p>
          <a:p>
            <a:pPr marL="88900" indent="-88900">
              <a:buFont typeface="+mj-lt"/>
              <a:buAutoNum type="arabicPeriod"/>
            </a:pPr>
            <a:r>
              <a:rPr lang="ko-KR" altLang="en-US" sz="700" dirty="0">
                <a:latin typeface="+mn-ea"/>
              </a:rPr>
              <a:t>「건설산업기본법」 </a:t>
            </a:r>
            <a:r>
              <a:rPr lang="en-US" altLang="ko-KR" sz="700" dirty="0">
                <a:latin typeface="+mn-ea"/>
              </a:rPr>
              <a:t>· </a:t>
            </a:r>
            <a:r>
              <a:rPr lang="ko-KR" altLang="en-US" sz="700" dirty="0">
                <a:latin typeface="+mn-ea"/>
              </a:rPr>
              <a:t>「전기공사업법」 </a:t>
            </a:r>
            <a:r>
              <a:rPr lang="en-US" altLang="ko-KR" sz="700" dirty="0">
                <a:latin typeface="+mn-ea"/>
              </a:rPr>
              <a:t>· </a:t>
            </a:r>
            <a:r>
              <a:rPr lang="ko-KR" altLang="en-US" sz="700" dirty="0">
                <a:latin typeface="+mn-ea"/>
              </a:rPr>
              <a:t>「정보통신공사업법」 </a:t>
            </a:r>
            <a:r>
              <a:rPr lang="en-US" altLang="ko-KR" sz="700" dirty="0">
                <a:latin typeface="+mn-ea"/>
              </a:rPr>
              <a:t>· </a:t>
            </a:r>
            <a:r>
              <a:rPr lang="ko-KR" altLang="en-US" sz="700" dirty="0">
                <a:latin typeface="+mn-ea"/>
              </a:rPr>
              <a:t>「건설폐기물의 재활용촉진에 관한 법률」 </a:t>
            </a:r>
            <a:r>
              <a:rPr lang="en-US" altLang="ko-KR" sz="700" dirty="0">
                <a:latin typeface="+mn-ea"/>
              </a:rPr>
              <a:t>· </a:t>
            </a:r>
            <a:r>
              <a:rPr lang="ko-KR" altLang="en-US" sz="700" dirty="0">
                <a:latin typeface="+mn-ea"/>
              </a:rPr>
              <a:t>「</a:t>
            </a:r>
            <a:r>
              <a:rPr lang="ko-KR" altLang="en-US" sz="700" dirty="0" err="1">
                <a:latin typeface="+mn-ea"/>
              </a:rPr>
              <a:t>골재채취법</a:t>
            </a:r>
            <a:r>
              <a:rPr lang="ko-KR" altLang="en-US" sz="700" dirty="0">
                <a:latin typeface="+mn-ea"/>
              </a:rPr>
              <a:t>」 또는 「문화재수리 등에 관한 법률」 등의 법령에 의하여 </a:t>
            </a:r>
            <a:r>
              <a:rPr lang="ko-KR" altLang="en-US" sz="700" dirty="0" err="1">
                <a:latin typeface="+mn-ea"/>
              </a:rPr>
              <a:t>등록등을</a:t>
            </a:r>
            <a:r>
              <a:rPr lang="ko-KR" altLang="en-US" sz="700" dirty="0">
                <a:latin typeface="+mn-ea"/>
              </a:rPr>
              <a:t> 한 자로서 기획재정부장관이 정하는 기준에 해당되는 자</a:t>
            </a:r>
            <a:r>
              <a:rPr lang="en-US" altLang="ko-KR" sz="700" dirty="0">
                <a:latin typeface="+mn-ea"/>
              </a:rPr>
              <a:t/>
            </a:r>
            <a:br>
              <a:rPr lang="en-US" altLang="ko-KR" sz="700" dirty="0">
                <a:latin typeface="+mn-ea"/>
              </a:rPr>
            </a:br>
            <a:r>
              <a:rPr lang="en-US" altLang="ko-KR" sz="700" dirty="0">
                <a:latin typeface="+mn-ea"/>
              </a:rPr>
              <a:t>5</a:t>
            </a:r>
            <a:r>
              <a:rPr lang="ko-KR" altLang="en-US" sz="700" dirty="0">
                <a:latin typeface="+mn-ea"/>
              </a:rPr>
              <a:t>의</a:t>
            </a:r>
            <a:r>
              <a:rPr lang="en-US" altLang="ko-KR" sz="700" dirty="0">
                <a:latin typeface="+mn-ea"/>
              </a:rPr>
              <a:t>2. </a:t>
            </a:r>
            <a:r>
              <a:rPr lang="ko-KR" altLang="en-US" sz="700" dirty="0">
                <a:latin typeface="+mn-ea"/>
              </a:rPr>
              <a:t>「</a:t>
            </a:r>
            <a:r>
              <a:rPr lang="ko-KR" altLang="en-US" sz="700" dirty="0" err="1">
                <a:latin typeface="+mn-ea"/>
              </a:rPr>
              <a:t>저탄소</a:t>
            </a:r>
            <a:r>
              <a:rPr lang="ko-KR" altLang="en-US" sz="700" dirty="0">
                <a:latin typeface="+mn-ea"/>
              </a:rPr>
              <a:t> 녹색성장 기본법」 제</a:t>
            </a:r>
            <a:r>
              <a:rPr lang="en-US" altLang="ko-KR" sz="700" dirty="0">
                <a:latin typeface="+mn-ea"/>
              </a:rPr>
              <a:t>32</a:t>
            </a:r>
            <a:r>
              <a:rPr lang="ko-KR" altLang="en-US" sz="700" dirty="0">
                <a:latin typeface="+mn-ea"/>
              </a:rPr>
              <a:t>조제</a:t>
            </a:r>
            <a:r>
              <a:rPr lang="en-US" altLang="ko-KR" sz="700" dirty="0">
                <a:latin typeface="+mn-ea"/>
              </a:rPr>
              <a:t>2</a:t>
            </a:r>
            <a:r>
              <a:rPr lang="ko-KR" altLang="en-US" sz="700" dirty="0">
                <a:latin typeface="+mn-ea"/>
              </a:rPr>
              <a:t>항에 따라 녹색기술 </a:t>
            </a:r>
            <a:r>
              <a:rPr lang="en-US" altLang="ko-KR" sz="700" dirty="0">
                <a:latin typeface="+mn-ea"/>
              </a:rPr>
              <a:t>· </a:t>
            </a:r>
            <a:r>
              <a:rPr lang="ko-KR" altLang="en-US" sz="700" dirty="0" err="1">
                <a:latin typeface="+mn-ea"/>
              </a:rPr>
              <a:t>녹색사업에</a:t>
            </a:r>
            <a:r>
              <a:rPr lang="ko-KR" altLang="en-US" sz="700" dirty="0">
                <a:latin typeface="+mn-ea"/>
              </a:rPr>
              <a:t> 대한 적합성 인증을 받거나 녹색전문업으로 확인을 받은 자 중 기획재정부장관이 정하는 기준에 해당하는 자</a:t>
            </a:r>
            <a:endParaRPr lang="en-US" altLang="ko-KR" sz="700" dirty="0">
              <a:latin typeface="+mn-ea"/>
            </a:endParaRPr>
          </a:p>
          <a:p>
            <a:pPr marL="88900" indent="-88900">
              <a:buFont typeface="+mj-lt"/>
              <a:buAutoNum type="arabicPeriod"/>
            </a:pPr>
            <a:r>
              <a:rPr lang="ko-KR" altLang="en-US" sz="700" dirty="0">
                <a:latin typeface="+mn-ea"/>
              </a:rPr>
              <a:t>기타 경쟁입찰에서 낙찰자로 결정된 후 계약체결을 기피할 우려가 없다고 인정되는 자</a:t>
            </a:r>
          </a:p>
        </p:txBody>
      </p:sp>
      <p:cxnSp>
        <p:nvCxnSpPr>
          <p:cNvPr id="212" name="직선 연결선 211">
            <a:extLst>
              <a:ext uri="{FF2B5EF4-FFF2-40B4-BE49-F238E27FC236}">
                <a16:creationId xmlns:a16="http://schemas.microsoft.com/office/drawing/2014/main" id="{E9293055-D5CD-4B9E-7F64-64B2D2CA7A52}"/>
              </a:ext>
            </a:extLst>
          </p:cNvPr>
          <p:cNvCxnSpPr/>
          <p:nvPr/>
        </p:nvCxnSpPr>
        <p:spPr>
          <a:xfrm>
            <a:off x="3837207" y="51731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4552584" y="5251058"/>
            <a:ext cx="1197246" cy="107722"/>
            <a:chOff x="4526323" y="5902014"/>
            <a:chExt cx="1197246" cy="107722"/>
          </a:xfrm>
        </p:grpSpPr>
        <p:sp>
          <p:nvSpPr>
            <p:cNvPr id="258" name="타원 257"/>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타원 258"/>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0" name="TextBox 259">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262" name="그룹 261"/>
          <p:cNvGrpSpPr/>
          <p:nvPr/>
        </p:nvGrpSpPr>
        <p:grpSpPr>
          <a:xfrm>
            <a:off x="3795194" y="5614711"/>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61" name="타원 160">
            <a:extLst>
              <a:ext uri="{FF2B5EF4-FFF2-40B4-BE49-F238E27FC236}">
                <a16:creationId xmlns:a16="http://schemas.microsoft.com/office/drawing/2014/main" id="{37A7FF4F-0EAA-1463-560A-D5EC24416103}"/>
              </a:ext>
            </a:extLst>
          </p:cNvPr>
          <p:cNvSpPr/>
          <p:nvPr/>
        </p:nvSpPr>
        <p:spPr>
          <a:xfrm>
            <a:off x="571127" y="319250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2" name="타원 201">
            <a:extLst>
              <a:ext uri="{FF2B5EF4-FFF2-40B4-BE49-F238E27FC236}">
                <a16:creationId xmlns:a16="http://schemas.microsoft.com/office/drawing/2014/main" id="{37A7FF4F-0EAA-1463-560A-D5EC24416103}"/>
              </a:ext>
            </a:extLst>
          </p:cNvPr>
          <p:cNvSpPr/>
          <p:nvPr/>
        </p:nvSpPr>
        <p:spPr>
          <a:xfrm>
            <a:off x="571127" y="367447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14" name="모서리가 둥근 직사각형 213"/>
          <p:cNvSpPr/>
          <p:nvPr/>
        </p:nvSpPr>
        <p:spPr>
          <a:xfrm rot="5400000">
            <a:off x="2662242" y="3840162"/>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33" name="직사각형 3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양쪽 모서리가 둥근 사각형 33"/>
          <p:cNvSpPr/>
          <p:nvPr/>
        </p:nvSpPr>
        <p:spPr>
          <a:xfrm>
            <a:off x="3795464" y="2701900"/>
            <a:ext cx="2712027" cy="353039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5" name="모서리가 둥근 직사각형 34"/>
          <p:cNvSpPr/>
          <p:nvPr/>
        </p:nvSpPr>
        <p:spPr>
          <a:xfrm>
            <a:off x="4881477" y="273229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6" name="그룹 35"/>
          <p:cNvGrpSpPr/>
          <p:nvPr/>
        </p:nvGrpSpPr>
        <p:grpSpPr>
          <a:xfrm>
            <a:off x="6284403" y="2866714"/>
            <a:ext cx="94010" cy="94010"/>
            <a:chOff x="6812560" y="3297172"/>
            <a:chExt cx="94010" cy="94010"/>
          </a:xfrm>
        </p:grpSpPr>
        <p:cxnSp>
          <p:nvCxnSpPr>
            <p:cNvPr id="37" name="직선 연결선 36"/>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8" name="직선 연결선 37"/>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9" name="TextBox 38">
            <a:extLst>
              <a:ext uri="{FF2B5EF4-FFF2-40B4-BE49-F238E27FC236}">
                <a16:creationId xmlns:a16="http://schemas.microsoft.com/office/drawing/2014/main" id="{FFC49AEA-2A8F-250C-A86A-A7751D9706C3}"/>
              </a:ext>
            </a:extLst>
          </p:cNvPr>
          <p:cNvSpPr txBox="1"/>
          <p:nvPr/>
        </p:nvSpPr>
        <p:spPr>
          <a:xfrm>
            <a:off x="3924541" y="2847393"/>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40" name="직선 연결선 39">
            <a:extLst>
              <a:ext uri="{FF2B5EF4-FFF2-40B4-BE49-F238E27FC236}">
                <a16:creationId xmlns:a16="http://schemas.microsoft.com/office/drawing/2014/main" id="{E9293055-D5CD-4B9E-7F64-64B2D2CA7A52}"/>
              </a:ext>
            </a:extLst>
          </p:cNvPr>
          <p:cNvCxnSpPr/>
          <p:nvPr/>
        </p:nvCxnSpPr>
        <p:spPr>
          <a:xfrm>
            <a:off x="3795464" y="310879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타원 203">
            <a:extLst>
              <a:ext uri="{FF2B5EF4-FFF2-40B4-BE49-F238E27FC236}">
                <a16:creationId xmlns:a16="http://schemas.microsoft.com/office/drawing/2014/main" id="{37A7FF4F-0EAA-1463-560A-D5EC24416103}"/>
              </a:ext>
            </a:extLst>
          </p:cNvPr>
          <p:cNvSpPr/>
          <p:nvPr/>
        </p:nvSpPr>
        <p:spPr>
          <a:xfrm>
            <a:off x="3690922" y="5218854"/>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cxnSp>
        <p:nvCxnSpPr>
          <p:cNvPr id="41" name="직선 연결선 40">
            <a:extLst>
              <a:ext uri="{FF2B5EF4-FFF2-40B4-BE49-F238E27FC236}">
                <a16:creationId xmlns:a16="http://schemas.microsoft.com/office/drawing/2014/main" id="{E9293055-D5CD-4B9E-7F64-64B2D2CA7A52}"/>
              </a:ext>
            </a:extLst>
          </p:cNvPr>
          <p:cNvCxnSpPr/>
          <p:nvPr/>
        </p:nvCxnSpPr>
        <p:spPr>
          <a:xfrm>
            <a:off x="717412" y="60669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2" name="직선 연결선 41">
            <a:extLst>
              <a:ext uri="{FF2B5EF4-FFF2-40B4-BE49-F238E27FC236}">
                <a16:creationId xmlns:a16="http://schemas.microsoft.com/office/drawing/2014/main" id="{E9293055-D5CD-4B9E-7F64-64B2D2CA7A52}"/>
              </a:ext>
            </a:extLst>
          </p:cNvPr>
          <p:cNvCxnSpPr/>
          <p:nvPr/>
        </p:nvCxnSpPr>
        <p:spPr>
          <a:xfrm>
            <a:off x="3837207" y="471271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3" name="TextBox 42">
            <a:extLst>
              <a:ext uri="{FF2B5EF4-FFF2-40B4-BE49-F238E27FC236}">
                <a16:creationId xmlns:a16="http://schemas.microsoft.com/office/drawing/2014/main" id="{FFC49AEA-2A8F-250C-A86A-A7751D9706C3}"/>
              </a:ext>
            </a:extLst>
          </p:cNvPr>
          <p:cNvSpPr txBox="1"/>
          <p:nvPr/>
        </p:nvSpPr>
        <p:spPr>
          <a:xfrm>
            <a:off x="3905672" y="4835193"/>
            <a:ext cx="2473940" cy="215444"/>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본사</a:t>
            </a:r>
            <a:r>
              <a:rPr lang="en-US" altLang="ko-KR" sz="700" dirty="0">
                <a:latin typeface="맑은 고딕" panose="020B0503020000020004" pitchFamily="50" charset="-127"/>
              </a:rPr>
              <a:t>(</a:t>
            </a:r>
            <a:r>
              <a:rPr lang="ko-KR" altLang="en-US" sz="700" dirty="0">
                <a:latin typeface="맑은 고딕" panose="020B0503020000020004" pitchFamily="50" charset="-127"/>
              </a:rPr>
              <a:t>인</a:t>
            </a:r>
            <a:r>
              <a:rPr lang="en-US" altLang="ko-KR" sz="700" dirty="0">
                <a:latin typeface="맑은 고딕" panose="020B0503020000020004" pitchFamily="50" charset="-127"/>
              </a:rPr>
              <a:t>)</a:t>
            </a:r>
            <a:r>
              <a:rPr lang="ko-KR" altLang="en-US" sz="700" dirty="0">
                <a:latin typeface="맑은 고딕" panose="020B0503020000020004" pitchFamily="50" charset="-127"/>
              </a:rPr>
              <a:t>은 위의 입찰보증금 면제 사유에 해당됨을</a:t>
            </a:r>
            <a:endParaRPr lang="en-US" altLang="ko-KR" sz="700" dirty="0">
              <a:latin typeface="맑은 고딕" panose="020B0503020000020004" pitchFamily="50" charset="-127"/>
            </a:endParaRPr>
          </a:p>
          <a:p>
            <a:pPr algn="ctr"/>
            <a:r>
              <a:rPr lang="ko-KR" altLang="en-US" sz="700" dirty="0">
                <a:latin typeface="맑은 고딕" panose="020B0503020000020004" pitchFamily="50" charset="-127"/>
              </a:rPr>
              <a:t>확인 및 서약합니다</a:t>
            </a:r>
            <a:r>
              <a:rPr lang="en-US" altLang="ko-KR" sz="700" dirty="0">
                <a:latin typeface="맑은 고딕" panose="020B0503020000020004" pitchFamily="50" charset="-127"/>
              </a:rPr>
              <a:t>.</a:t>
            </a:r>
            <a:endParaRPr lang="ko-KR" altLang="en-US" sz="700" dirty="0">
              <a:latin typeface="+mn-ea"/>
            </a:endParaRPr>
          </a:p>
        </p:txBody>
      </p:sp>
      <p:sp>
        <p:nvSpPr>
          <p:cNvPr id="44" name="모서리가 둥근 직사각형 43"/>
          <p:cNvSpPr/>
          <p:nvPr/>
        </p:nvSpPr>
        <p:spPr>
          <a:xfrm rot="5400000">
            <a:off x="5771019" y="4760286"/>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45" name="TextBox 44">
            <a:extLst>
              <a:ext uri="{FF2B5EF4-FFF2-40B4-BE49-F238E27FC236}">
                <a16:creationId xmlns:a16="http://schemas.microsoft.com/office/drawing/2014/main" id="{FFC49AEA-2A8F-250C-A86A-A7751D9706C3}"/>
              </a:ext>
            </a:extLst>
          </p:cNvPr>
          <p:cNvSpPr txBox="1"/>
          <p:nvPr/>
        </p:nvSpPr>
        <p:spPr>
          <a:xfrm>
            <a:off x="3914777" y="3439560"/>
            <a:ext cx="2473940" cy="1184940"/>
          </a:xfrm>
          <a:prstGeom prst="rect">
            <a:avLst/>
          </a:prstGeom>
          <a:noFill/>
        </p:spPr>
        <p:txBody>
          <a:bodyPr wrap="square" lIns="0" tIns="0" rIns="0" bIns="0" rtlCol="0">
            <a:spAutoFit/>
          </a:bodyPr>
          <a:lstStyle/>
          <a:p>
            <a:r>
              <a:rPr lang="ko-KR" altLang="en-US" sz="700" dirty="0" err="1">
                <a:latin typeface="+mn-ea"/>
              </a:rPr>
              <a:t>계약예규</a:t>
            </a:r>
            <a:r>
              <a:rPr lang="ko-KR" altLang="en-US" sz="700" dirty="0">
                <a:latin typeface="+mn-ea"/>
              </a:rPr>
              <a:t> </a:t>
            </a:r>
            <a:r>
              <a:rPr lang="en-US" altLang="ko-KR" sz="700" dirty="0">
                <a:latin typeface="+mn-ea"/>
              </a:rPr>
              <a:t>(</a:t>
            </a:r>
            <a:r>
              <a:rPr lang="ko-KR" altLang="en-US" sz="700" dirty="0">
                <a:latin typeface="+mn-ea"/>
              </a:rPr>
              <a:t>공사입찰유의서</a:t>
            </a:r>
            <a:r>
              <a:rPr lang="en-US" altLang="ko-KR" sz="700" dirty="0">
                <a:latin typeface="+mn-ea"/>
              </a:rPr>
              <a:t>)</a:t>
            </a:r>
          </a:p>
          <a:p>
            <a:endParaRPr lang="en-US" altLang="ko-KR" sz="700" dirty="0">
              <a:solidFill>
                <a:srgbClr val="000000"/>
              </a:solidFill>
              <a:latin typeface="+mn-ea"/>
            </a:endParaRPr>
          </a:p>
          <a:p>
            <a:pPr marL="88900" indent="-88900">
              <a:buFont typeface="+mj-lt"/>
              <a:buAutoNum type="arabicPeriod"/>
            </a:pPr>
            <a:r>
              <a:rPr lang="ko-KR" altLang="en-US" sz="700" dirty="0">
                <a:latin typeface="+mn-ea"/>
              </a:rPr>
              <a:t>시행령 제</a:t>
            </a:r>
            <a:r>
              <a:rPr lang="en-US" altLang="ko-KR" sz="700" dirty="0">
                <a:latin typeface="+mn-ea"/>
              </a:rPr>
              <a:t>37</a:t>
            </a:r>
            <a:r>
              <a:rPr lang="ko-KR" altLang="en-US" sz="700" dirty="0">
                <a:latin typeface="+mn-ea"/>
              </a:rPr>
              <a:t>조제</a:t>
            </a:r>
            <a:r>
              <a:rPr lang="en-US" altLang="ko-KR" sz="700" dirty="0">
                <a:latin typeface="+mn-ea"/>
              </a:rPr>
              <a:t>3</a:t>
            </a:r>
            <a:r>
              <a:rPr lang="ko-KR" altLang="en-US" sz="700" dirty="0" err="1">
                <a:latin typeface="+mn-ea"/>
              </a:rPr>
              <a:t>항제</a:t>
            </a:r>
            <a:r>
              <a:rPr lang="en-US" altLang="ko-KR" sz="700" dirty="0">
                <a:latin typeface="+mn-ea"/>
              </a:rPr>
              <a:t>1</a:t>
            </a:r>
            <a:r>
              <a:rPr lang="ko-KR" altLang="en-US" sz="700" dirty="0">
                <a:latin typeface="+mn-ea"/>
              </a:rPr>
              <a:t>호 내지 제</a:t>
            </a:r>
            <a:r>
              <a:rPr lang="en-US" altLang="ko-KR" sz="700" dirty="0">
                <a:latin typeface="+mn-ea"/>
              </a:rPr>
              <a:t>4</a:t>
            </a:r>
            <a:r>
              <a:rPr lang="ko-KR" altLang="en-US" sz="700" dirty="0">
                <a:latin typeface="+mn-ea"/>
              </a:rPr>
              <a:t>호 및 제</a:t>
            </a:r>
            <a:r>
              <a:rPr lang="en-US" altLang="ko-KR" sz="700" dirty="0">
                <a:latin typeface="+mn-ea"/>
              </a:rPr>
              <a:t>6</a:t>
            </a:r>
            <a:r>
              <a:rPr lang="ko-KR" altLang="en-US" sz="700" dirty="0">
                <a:latin typeface="+mn-ea"/>
              </a:rPr>
              <a:t>호에 정한 자가 입찰에 참가하는 경우</a:t>
            </a:r>
          </a:p>
          <a:p>
            <a:pPr marL="88900" indent="-88900">
              <a:buFont typeface="+mj-lt"/>
              <a:buAutoNum type="arabicPeriod"/>
            </a:pPr>
            <a:r>
              <a:rPr lang="ko-KR" altLang="en-US" sz="700" dirty="0">
                <a:latin typeface="+mn-ea"/>
              </a:rPr>
              <a:t>「건설산업기본법」</a:t>
            </a:r>
            <a:r>
              <a:rPr lang="en-US" altLang="ko-KR" sz="700" dirty="0">
                <a:latin typeface="+mn-ea"/>
              </a:rPr>
              <a:t>·</a:t>
            </a:r>
            <a:r>
              <a:rPr lang="ko-KR" altLang="en-US" sz="700" dirty="0">
                <a:latin typeface="+mn-ea"/>
              </a:rPr>
              <a:t>「전기공사업법」</a:t>
            </a:r>
            <a:r>
              <a:rPr lang="en-US" altLang="ko-KR" sz="700" dirty="0">
                <a:latin typeface="+mn-ea"/>
              </a:rPr>
              <a:t>·</a:t>
            </a:r>
            <a:r>
              <a:rPr lang="ko-KR" altLang="en-US" sz="700" dirty="0">
                <a:latin typeface="+mn-ea"/>
              </a:rPr>
              <a:t>「정보통신공사업법」 또는 「</a:t>
            </a:r>
            <a:r>
              <a:rPr lang="ko-KR" altLang="en-US" sz="700" dirty="0" err="1">
                <a:latin typeface="+mn-ea"/>
              </a:rPr>
              <a:t>소방시설공사업법」등에</a:t>
            </a:r>
            <a:r>
              <a:rPr lang="ko-KR" altLang="en-US" sz="700" dirty="0">
                <a:latin typeface="+mn-ea"/>
              </a:rPr>
              <a:t> 의하여 국가 또는 지방자치단체</a:t>
            </a:r>
            <a:r>
              <a:rPr lang="en-US" altLang="ko-KR" sz="700" dirty="0">
                <a:latin typeface="+mn-ea"/>
              </a:rPr>
              <a:t>(</a:t>
            </a:r>
            <a:r>
              <a:rPr lang="ko-KR" altLang="en-US" sz="700" dirty="0">
                <a:latin typeface="+mn-ea"/>
              </a:rPr>
              <a:t>이하 </a:t>
            </a:r>
            <a:r>
              <a:rPr lang="en-US" altLang="ko-KR" sz="700" dirty="0">
                <a:latin typeface="+mn-ea"/>
              </a:rPr>
              <a:t>"</a:t>
            </a:r>
            <a:r>
              <a:rPr lang="ko-KR" altLang="en-US" sz="700" dirty="0">
                <a:latin typeface="+mn-ea"/>
              </a:rPr>
              <a:t>국가기관 등</a:t>
            </a:r>
            <a:r>
              <a:rPr lang="en-US" altLang="ko-KR" sz="700" dirty="0">
                <a:latin typeface="+mn-ea"/>
              </a:rPr>
              <a:t>"</a:t>
            </a:r>
            <a:r>
              <a:rPr lang="ko-KR" altLang="en-US" sz="700" dirty="0">
                <a:latin typeface="+mn-ea"/>
              </a:rPr>
              <a:t>이라 한다</a:t>
            </a:r>
            <a:r>
              <a:rPr lang="en-US" altLang="ko-KR" sz="700" dirty="0">
                <a:latin typeface="+mn-ea"/>
              </a:rPr>
              <a:t>)</a:t>
            </a:r>
            <a:r>
              <a:rPr lang="ko-KR" altLang="en-US" sz="700" dirty="0">
                <a:latin typeface="+mn-ea"/>
              </a:rPr>
              <a:t>로부터 등록 등을 받아 입찰신청마감일 현재 해당 공사관련법령에 의한 사업을 영위하고 있는 법인이 입찰에 참가하는 경우 단</a:t>
            </a:r>
            <a:r>
              <a:rPr lang="en-US" altLang="ko-KR" sz="700" dirty="0">
                <a:latin typeface="+mn-ea"/>
              </a:rPr>
              <a:t>, </a:t>
            </a:r>
            <a:r>
              <a:rPr lang="ko-KR" altLang="en-US" sz="700" dirty="0">
                <a:latin typeface="+mn-ea"/>
              </a:rPr>
              <a:t>입찰신청마감일 현재 사업영위기간이 </a:t>
            </a:r>
            <a:r>
              <a:rPr lang="en-US" altLang="ko-KR" sz="700" dirty="0">
                <a:latin typeface="+mn-ea"/>
              </a:rPr>
              <a:t>1</a:t>
            </a:r>
            <a:r>
              <a:rPr lang="ko-KR" altLang="en-US" sz="700" dirty="0">
                <a:latin typeface="+mn-ea"/>
              </a:rPr>
              <a:t>년 미만인 법인은 입찰참가자격제한 조치를 받은 사실이 없어야 함</a:t>
            </a:r>
            <a:r>
              <a:rPr lang="en-US" altLang="ko-KR" sz="700" dirty="0">
                <a:latin typeface="+mn-ea"/>
              </a:rPr>
              <a:t>.</a:t>
            </a:r>
            <a:endParaRPr lang="ko-KR" altLang="en-US" sz="700" dirty="0">
              <a:latin typeface="+mn-ea"/>
            </a:endParaRPr>
          </a:p>
        </p:txBody>
      </p:sp>
      <p:sp>
        <p:nvSpPr>
          <p:cNvPr id="46" name="TextBox 4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302061952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114</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4801420"/>
            <a:ext cx="250445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37470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700" dirty="0">
                          <a:latin typeface="+mn-ea"/>
                          <a:ea typeface="+mn-ea"/>
                        </a:rPr>
                        <a:t>공고구분</a:t>
                      </a:r>
                      <a:r>
                        <a:rPr lang="en-US" altLang="ko-KR" sz="700" dirty="0">
                          <a:latin typeface="+mn-ea"/>
                          <a:ea typeface="+mn-ea"/>
                        </a:rPr>
                        <a:t>(ANTC(</a:t>
                      </a:r>
                      <a:r>
                        <a:rPr lang="ko-KR" altLang="en-US" sz="700" dirty="0">
                          <a:latin typeface="+mn-ea"/>
                          <a:ea typeface="+mn-ea"/>
                        </a:rPr>
                        <a:t>공고유형부호</a:t>
                      </a:r>
                      <a:r>
                        <a:rPr lang="en-US" altLang="ko-KR" sz="700" dirty="0">
                          <a:latin typeface="+mn-ea"/>
                          <a:ea typeface="+mn-ea"/>
                        </a:rPr>
                        <a:t>))+</a:t>
                      </a:r>
                      <a:r>
                        <a:rPr lang="ko-KR" altLang="en-US" sz="700" dirty="0">
                          <a:latin typeface="+mn-ea"/>
                          <a:ea typeface="+mn-ea"/>
                        </a:rPr>
                        <a:t>공고번호</a:t>
                      </a:r>
                      <a:r>
                        <a:rPr lang="en-US" altLang="ko-KR" sz="700" dirty="0">
                          <a:latin typeface="+mn-ea"/>
                          <a:ea typeface="+mn-ea"/>
                        </a:rPr>
                        <a:t>+</a:t>
                      </a:r>
                      <a:r>
                        <a:rPr lang="ko-KR" altLang="en-US" sz="700" dirty="0" err="1">
                          <a:latin typeface="+mn-ea"/>
                          <a:ea typeface="+mn-ea"/>
                        </a:rPr>
                        <a:t>공고차수</a:t>
                      </a:r>
                      <a:endParaRPr lang="en-US" altLang="ko-KR" sz="700" dirty="0">
                        <a:latin typeface="+mn-ea"/>
                        <a:ea typeface="+mn-ea"/>
                      </a:endParaRPr>
                    </a:p>
                    <a:p>
                      <a:pPr algn="l" latinLnBrk="1"/>
                      <a:r>
                        <a:rPr lang="ko-KR" altLang="en-US" sz="800" dirty="0">
                          <a:latin typeface="+mn-ea"/>
                          <a:ea typeface="+mn-ea"/>
                        </a:rPr>
                        <a:t>조회</a:t>
                      </a:r>
                      <a:r>
                        <a:rPr lang="en-US" altLang="ko-KR" sz="800" dirty="0">
                          <a:latin typeface="+mn-ea"/>
                          <a:ea typeface="+mn-ea"/>
                        </a:rPr>
                        <a:t>/</a:t>
                      </a:r>
                      <a:r>
                        <a:rPr lang="ko-KR" altLang="en-US" sz="800" dirty="0">
                          <a:latin typeface="+mn-ea"/>
                          <a:ea typeface="+mn-ea"/>
                        </a:rPr>
                        <a:t>수정 시 연기공고</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사업유형명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집행유형</a:t>
                      </a:r>
                      <a:r>
                        <a:rPr lang="en-US" altLang="ko-KR" sz="800" dirty="0">
                          <a:latin typeface="+mn-ea"/>
                          <a:ea typeface="+mn-ea"/>
                        </a:rPr>
                        <a:t>/</a:t>
                      </a:r>
                      <a:r>
                        <a:rPr lang="ko-KR" altLang="en-US" sz="800" dirty="0">
                          <a:latin typeface="+mn-ea"/>
                          <a:ea typeface="+mn-ea"/>
                        </a:rPr>
                        <a:t>공사구분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개찰일시</a:t>
                      </a:r>
                      <a:r>
                        <a:rPr lang="en-US" altLang="ko-KR" sz="800" dirty="0">
                          <a:latin typeface="+mn-ea"/>
                          <a:ea typeface="+mn-ea"/>
                        </a:rPr>
                        <a:t>/ </a:t>
                      </a:r>
                      <a:r>
                        <a:rPr lang="ko-KR" altLang="en-US" sz="800" dirty="0">
                          <a:latin typeface="+mn-ea"/>
                          <a:ea typeface="+mn-ea"/>
                        </a:rPr>
                        <a:t>입찰일시</a:t>
                      </a:r>
                      <a:r>
                        <a:rPr lang="en-US" altLang="ko-KR" sz="800" dirty="0">
                          <a:latin typeface="+mn-ea"/>
                          <a:ea typeface="+mn-ea"/>
                        </a:rPr>
                        <a:t>, </a:t>
                      </a:r>
                      <a:r>
                        <a:rPr lang="en-US" altLang="ko-KR" sz="800" dirty="0" err="1">
                          <a:latin typeface="+mn-ea"/>
                          <a:ea typeface="+mn-ea"/>
                        </a:rPr>
                        <a:t>yyyy</a:t>
                      </a:r>
                      <a:r>
                        <a:rPr lang="en-US" altLang="ko-KR" sz="800" dirty="0">
                          <a:latin typeface="+mn-ea"/>
                          <a:ea typeface="+mn-ea"/>
                        </a:rPr>
                        <a:t>-MM-dd </a:t>
                      </a:r>
                      <a:r>
                        <a:rPr lang="en-US" altLang="ko-KR" sz="800" dirty="0" err="1">
                          <a:latin typeface="+mn-ea"/>
                          <a:ea typeface="+mn-ea"/>
                        </a:rPr>
                        <a:t>HH:mm</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조회</a:t>
                      </a:r>
                      <a:r>
                        <a:rPr lang="en-US" altLang="ko-KR" sz="800" dirty="0">
                          <a:latin typeface="+mn-ea"/>
                          <a:ea typeface="+mn-ea"/>
                        </a:rPr>
                        <a:t>/</a:t>
                      </a:r>
                      <a:r>
                        <a:rPr lang="ko-KR" altLang="en-US" sz="800" dirty="0">
                          <a:latin typeface="+mn-ea"/>
                          <a:ea typeface="+mn-ea"/>
                        </a:rPr>
                        <a:t>수정 시 연기공고</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t>
                      </a:r>
                      <a:r>
                        <a:rPr lang="ko-KR" altLang="en-US" sz="800" dirty="0">
                          <a:latin typeface="+mn-ea"/>
                          <a:ea typeface="+mn-ea"/>
                        </a:rPr>
                        <a:t>총수량</a:t>
                      </a:r>
                      <a:r>
                        <a:rPr lang="en-US" altLang="ko-KR" sz="800" dirty="0">
                          <a:latin typeface="+mn-ea"/>
                          <a:ea typeface="+mn-ea"/>
                        </a:rPr>
                        <a:t>/</a:t>
                      </a:r>
                      <a:r>
                        <a:rPr lang="ko-KR" altLang="en-US" sz="800" dirty="0">
                          <a:latin typeface="+mn-ea"/>
                          <a:ea typeface="+mn-ea"/>
                        </a:rPr>
                        <a:t>단가제유형</a:t>
                      </a:r>
                      <a:r>
                        <a:rPr lang="en-US" altLang="ko-KR" sz="800" dirty="0">
                          <a:latin typeface="+mn-ea"/>
                          <a:ea typeface="+mn-ea"/>
                        </a:rPr>
                        <a:t>)/</a:t>
                      </a:r>
                      <a:r>
                        <a:rPr lang="ko-KR" altLang="en-US" sz="800" dirty="0">
                          <a:latin typeface="+mn-ea"/>
                          <a:ea typeface="+mn-ea"/>
                        </a:rPr>
                        <a:t>사전심사</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  </a:t>
                      </a:r>
                      <a:r>
                        <a:rPr lang="en-US" altLang="ko-KR" sz="800" dirty="0">
                          <a:latin typeface="+mn-ea"/>
                          <a:ea typeface="+mn-ea"/>
                        </a:rPr>
                        <a:t>- </a:t>
                      </a:r>
                      <a:r>
                        <a:rPr lang="ko-KR" altLang="en-US" sz="800" dirty="0">
                          <a:latin typeface="+mn-ea"/>
                          <a:ea typeface="+mn-ea"/>
                        </a:rPr>
                        <a:t>입찰방법이 </a:t>
                      </a:r>
                      <a:r>
                        <a:rPr lang="en-US" altLang="ko-KR" sz="800" dirty="0">
                          <a:latin typeface="+mn-ea"/>
                          <a:ea typeface="+mn-ea"/>
                        </a:rPr>
                        <a:t>‘B(</a:t>
                      </a:r>
                      <a:r>
                        <a:rPr lang="ko-KR" altLang="en-US" sz="800" dirty="0" err="1">
                          <a:latin typeface="+mn-ea"/>
                          <a:ea typeface="+mn-ea"/>
                        </a:rPr>
                        <a:t>단가제</a:t>
                      </a:r>
                      <a:r>
                        <a:rPr lang="en-US" altLang="ko-KR" sz="800" dirty="0">
                          <a:latin typeface="+mn-ea"/>
                          <a:ea typeface="+mn-ea"/>
                        </a:rPr>
                        <a:t>)’</a:t>
                      </a:r>
                      <a:r>
                        <a:rPr lang="ko-KR" altLang="en-US" sz="800" dirty="0">
                          <a:latin typeface="+mn-ea"/>
                          <a:ea typeface="+mn-ea"/>
                        </a:rPr>
                        <a:t>인 경우 단가제유형</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  - </a:t>
                      </a:r>
                      <a:r>
                        <a:rPr lang="ko-KR" altLang="en-US" sz="800" dirty="0">
                          <a:latin typeface="+mn-ea"/>
                          <a:ea typeface="+mn-ea"/>
                        </a:rPr>
                        <a:t>사전심사 대상 공고인 경우 사전심사</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    - </a:t>
                      </a:r>
                      <a:r>
                        <a:rPr lang="ko-KR" altLang="en-US" sz="800" dirty="0">
                          <a:latin typeface="+mn-ea"/>
                          <a:ea typeface="+mn-ea"/>
                        </a:rPr>
                        <a:t>대상</a:t>
                      </a:r>
                      <a:r>
                        <a:rPr lang="en-US" altLang="ko-KR" sz="800" dirty="0">
                          <a:latin typeface="+mn-ea"/>
                          <a:ea typeface="+mn-ea"/>
                        </a:rPr>
                        <a:t>/</a:t>
                      </a:r>
                      <a:r>
                        <a:rPr lang="ko-KR" altLang="en-US" sz="800" dirty="0">
                          <a:latin typeface="+mn-ea"/>
                          <a:ea typeface="+mn-ea"/>
                        </a:rPr>
                        <a:t>비대상</a:t>
                      </a:r>
                      <a:r>
                        <a:rPr lang="en-US" altLang="ko-KR" sz="800" dirty="0">
                          <a:latin typeface="+mn-ea"/>
                          <a:ea typeface="+mn-ea"/>
                        </a:rPr>
                        <a:t>/</a:t>
                      </a:r>
                      <a:r>
                        <a:rPr lang="ko-KR" altLang="en-US" sz="800" dirty="0">
                          <a:latin typeface="+mn-ea"/>
                          <a:ea typeface="+mn-ea"/>
                        </a:rPr>
                        <a:t>대상</a:t>
                      </a:r>
                      <a:r>
                        <a:rPr lang="en-US" altLang="ko-KR" sz="800" dirty="0">
                          <a:latin typeface="+mn-ea"/>
                          <a:ea typeface="+mn-ea"/>
                        </a:rPr>
                        <a:t>(</a:t>
                      </a:r>
                      <a:r>
                        <a:rPr lang="ko-KR" altLang="en-US" sz="800" dirty="0">
                          <a:latin typeface="+mn-ea"/>
                          <a:ea typeface="+mn-ea"/>
                        </a:rPr>
                        <a:t>가격입찰 후</a:t>
                      </a:r>
                      <a:r>
                        <a:rPr lang="en-US" altLang="ko-KR" sz="800" dirty="0">
                          <a:latin typeface="+mn-ea"/>
                          <a:ea typeface="+mn-ea"/>
                        </a:rPr>
                        <a:t>)</a:t>
                      </a:r>
                      <a:endParaRPr lang="ko-KR" altLang="en-US"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  </a:t>
                      </a:r>
                      <a:r>
                        <a:rPr lang="en-US" altLang="ko-KR" sz="800" dirty="0">
                          <a:latin typeface="+mn-ea"/>
                          <a:ea typeface="+mn-ea"/>
                        </a:rPr>
                        <a:t>- </a:t>
                      </a:r>
                      <a:r>
                        <a:rPr lang="ko-KR" altLang="en-US" sz="800" dirty="0">
                          <a:latin typeface="+mn-ea"/>
                          <a:ea typeface="+mn-ea"/>
                        </a:rPr>
                        <a:t>그 외 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1934767"/>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낙찰방법명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9956263"/>
                  </a:ext>
                </a:extLst>
              </a:tr>
              <a:tr h="0">
                <a:tc>
                  <a:txBody>
                    <a:bodyPr/>
                    <a:lstStyle/>
                    <a:p>
                      <a:pPr latinLnBrk="1"/>
                      <a:r>
                        <a:rPr lang="ko-KR" altLang="en-US" sz="800" dirty="0">
                          <a:latin typeface="+mn-ea"/>
                          <a:ea typeface="+mn-ea"/>
                        </a:rPr>
                        <a:t>적격심사 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적격심사실시여부 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대상</a:t>
                      </a:r>
                      <a:r>
                        <a:rPr lang="en-US" altLang="ko-KR" sz="800" dirty="0">
                          <a:latin typeface="+mn-ea"/>
                          <a:ea typeface="+mn-ea"/>
                        </a:rPr>
                        <a:t>/</a:t>
                      </a:r>
                      <a:r>
                        <a:rPr lang="ko-KR" altLang="en-US" sz="800" dirty="0">
                          <a:latin typeface="+mn-ea"/>
                          <a:ea typeface="+mn-ea"/>
                        </a:rPr>
                        <a:t>비대상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5465182"/>
                  </a:ext>
                </a:extLst>
              </a:tr>
              <a:tr h="0">
                <a:tc>
                  <a:txBody>
                    <a:bodyPr/>
                    <a:lstStyle/>
                    <a:p>
                      <a:pPr latinLnBrk="1"/>
                      <a:r>
                        <a:rPr lang="ko-KR" altLang="en-US" sz="800" dirty="0">
                          <a:latin typeface="+mn-ea"/>
                          <a:ea typeface="+mn-ea"/>
                        </a:rPr>
                        <a:t>낙찰자기준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jsdShNm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공동수급형태명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t>입찰방법</a:t>
                      </a:r>
                      <a:r>
                        <a:rPr lang="en-US" altLang="ko-KR" sz="800" dirty="0"/>
                        <a:t>(BDTC)</a:t>
                      </a:r>
                      <a:r>
                        <a:rPr lang="ko-KR" altLang="en-US" sz="800" dirty="0"/>
                        <a:t>이 </a:t>
                      </a:r>
                      <a:r>
                        <a:rPr lang="en-US" altLang="ko-KR" sz="800" dirty="0"/>
                        <a:t>‘H(</a:t>
                      </a:r>
                      <a:r>
                        <a:rPr lang="ko-KR" altLang="en-US" sz="800" dirty="0"/>
                        <a:t>내역입찰</a:t>
                      </a:r>
                      <a:r>
                        <a:rPr lang="en-US" altLang="ko-KR" sz="800" dirty="0"/>
                        <a:t>(</a:t>
                      </a:r>
                      <a:r>
                        <a:rPr lang="ko-KR" altLang="en-US" sz="800" dirty="0" err="1"/>
                        <a:t>설계시공일괄입찰</a:t>
                      </a:r>
                      <a:r>
                        <a:rPr lang="en-US" altLang="ko-KR" sz="800" dirty="0"/>
                        <a:t>))’</a:t>
                      </a:r>
                      <a:r>
                        <a:rPr lang="ko-KR" altLang="en-US" sz="800" dirty="0"/>
                        <a:t>인 경우 </a:t>
                      </a:r>
                      <a:r>
                        <a:rPr lang="en-US" altLang="ko-KR" sz="800" dirty="0"/>
                        <a:t>‘</a:t>
                      </a:r>
                      <a:r>
                        <a:rPr lang="ko-KR" altLang="en-US" sz="800" dirty="0"/>
                        <a:t>낙찰자기준</a:t>
                      </a:r>
                      <a:r>
                        <a:rPr lang="en-US" altLang="ko-KR" sz="800" dirty="0"/>
                        <a:t>(CMCT)’ </a:t>
                      </a:r>
                      <a:r>
                        <a:rPr lang="ko-KR" altLang="en-US" sz="800" dirty="0"/>
                        <a:t>보이기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err="1">
                          <a:latin typeface="+mn-ea"/>
                          <a:ea typeface="+mn-ea"/>
                        </a:rPr>
                        <a:t>입찰건명</a:t>
                      </a:r>
                      <a:r>
                        <a:rPr lang="en-US" altLang="ko-KR" sz="800" dirty="0">
                          <a:latin typeface="+mn-ea"/>
                          <a:ea typeface="+mn-ea"/>
                        </a:rPr>
                        <a:t>/</a:t>
                      </a:r>
                      <a:r>
                        <a:rPr lang="ko-KR" altLang="en-US" sz="800" dirty="0" err="1">
                          <a:latin typeface="+mn-ea"/>
                          <a:ea typeface="+mn-ea"/>
                        </a:rPr>
                        <a:t>공사명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5013911"/>
          <a:ext cx="8995589" cy="135744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bzentyAddr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업체주소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EFB9A8D6-6B6D-6ADF-2FF7-0A9EB13C668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76E74D0B-76EB-6E56-C46D-EB0E2B06E049}"/>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(1/4)</a:t>
            </a:r>
            <a:endParaRPr lang="ko-KR" altLang="en-US" sz="1000" b="1" dirty="0">
              <a:solidFill>
                <a:prstClr val="black"/>
              </a:solidFill>
            </a:endParaRPr>
          </a:p>
        </p:txBody>
      </p:sp>
    </p:spTree>
    <p:extLst>
      <p:ext uri="{BB962C8B-B14F-4D97-AF65-F5344CB8AC3E}">
        <p14:creationId xmlns:p14="http://schemas.microsoft.com/office/powerpoint/2010/main" val="159269405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115</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459575"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품목내역 목록 데이터 영역 </a:t>
            </a:r>
            <a:r>
              <a:rPr lang="en-US" altLang="ko-KR" sz="900" b="1" dirty="0">
                <a:solidFill>
                  <a:prstClr val="black"/>
                </a:solidFill>
              </a:rPr>
              <a:t>(</a:t>
            </a:r>
            <a:r>
              <a:rPr lang="en-US" altLang="ko-KR" sz="900" b="1" dirty="0" err="1">
                <a:solidFill>
                  <a:prstClr val="black"/>
                </a:solidFill>
              </a:rPr>
              <a:t>dlt_itemList</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2999516"/>
            <a:ext cx="3187338"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err="1">
                <a:solidFill>
                  <a:prstClr val="black"/>
                </a:solidFill>
              </a:rPr>
              <a:t>공종</a:t>
            </a:r>
            <a:r>
              <a:rPr lang="ko-KR" altLang="en-US" sz="900" b="1" dirty="0">
                <a:solidFill>
                  <a:prstClr val="black"/>
                </a:solidFill>
              </a:rPr>
              <a:t> 및 면허정보 목록 데이터 영역 </a:t>
            </a:r>
            <a:r>
              <a:rPr lang="en-US" altLang="ko-KR" sz="900" b="1" dirty="0">
                <a:solidFill>
                  <a:prstClr val="black"/>
                </a:solidFill>
              </a:rPr>
              <a:t>(</a:t>
            </a:r>
            <a:r>
              <a:rPr lang="en-US" altLang="ko-KR" sz="900" b="1" dirty="0" err="1">
                <a:solidFill>
                  <a:prstClr val="black"/>
                </a:solidFill>
              </a:rPr>
              <a:t>dlt_gongJongList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939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조회 번호</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입찰방법이 단가제인 경우 보이기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a:latin typeface="+mn-ea"/>
                          <a:ea typeface="+mn-ea"/>
                        </a:rPr>
                        <a:t>항목번호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분류번호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a:latin typeface="+mn-ea"/>
                          <a:ea typeface="+mn-ea"/>
                        </a:rPr>
                        <a:t>재고번호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fscCdNtnItemIdntfNo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군급분류코드</a:t>
                      </a:r>
                      <a:r>
                        <a:rPr lang="en-US" altLang="ko-KR" sz="800" dirty="0">
                          <a:latin typeface="+mn-ea"/>
                          <a:ea typeface="+mn-ea"/>
                        </a:rPr>
                        <a:t>, </a:t>
                      </a:r>
                      <a:r>
                        <a:rPr lang="ko-KR" altLang="en-US" sz="800" dirty="0">
                          <a:latin typeface="+mn-ea"/>
                          <a:ea typeface="+mn-ea"/>
                        </a:rPr>
                        <a:t>국가품목식별번호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err="1">
                          <a:latin typeface="+mn-ea"/>
                          <a:ea typeface="+mn-ea"/>
                        </a:rPr>
                        <a:t>군급분류코드</a:t>
                      </a:r>
                      <a:r>
                        <a:rPr lang="en-US" altLang="ko-KR" sz="800" dirty="0">
                          <a:latin typeface="+mn-ea"/>
                          <a:ea typeface="+mn-ea"/>
                        </a:rPr>
                        <a:t>+</a:t>
                      </a:r>
                      <a:r>
                        <a:rPr lang="ko-KR" altLang="en-US" sz="800" dirty="0">
                          <a:latin typeface="+mn-ea"/>
                          <a:ea typeface="+mn-ea"/>
                        </a:rPr>
                        <a:t>국가품목식별번호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a:latin typeface="+mn-ea"/>
                          <a:ea typeface="+mn-ea"/>
                        </a:rPr>
                        <a:t>품명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품목명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a:latin typeface="+mn-ea"/>
                          <a:ea typeface="+mn-ea"/>
                        </a:rPr>
                        <a:t>규격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a:latin typeface="+mn-ea"/>
                          <a:ea typeface="+mn-ea"/>
                        </a:rPr>
                        <a:t>단위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a:latin typeface="+mn-ea"/>
                          <a:ea typeface="+mn-ea"/>
                        </a:rPr>
                        <a:t>수량</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a:latin typeface="+mn-ea"/>
                          <a:ea typeface="+mn-ea"/>
                        </a:rPr>
                        <a:t>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212007"/>
          <a:ext cx="8995589" cy="174528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조회 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700" dirty="0">
                          <a:latin typeface="+mn-ea"/>
                          <a:ea typeface="+mn-ea"/>
                        </a:rPr>
                        <a:t>업무구분이 공사이고</a:t>
                      </a:r>
                      <a:r>
                        <a:rPr lang="en-US" altLang="ko-KR" sz="700" dirty="0">
                          <a:latin typeface="+mn-ea"/>
                          <a:ea typeface="+mn-ea"/>
                        </a:rPr>
                        <a:t>, </a:t>
                      </a:r>
                      <a:r>
                        <a:rPr lang="ko-KR" altLang="en-US" sz="700" dirty="0">
                          <a:latin typeface="+mn-ea"/>
                          <a:ea typeface="+mn-ea"/>
                        </a:rPr>
                        <a:t>공종정보가 있는 경우 보이기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공종명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공종명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r h="0">
                <a:tc>
                  <a:txBody>
                    <a:bodyPr/>
                    <a:lstStyle/>
                    <a:p>
                      <a:pPr latinLnBrk="1"/>
                      <a:r>
                        <a:rPr lang="ko-KR" altLang="en-US" sz="800" dirty="0">
                          <a:latin typeface="+mn-ea"/>
                          <a:ea typeface="+mn-ea"/>
                        </a:rPr>
                        <a:t>업종코드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공종코드</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:GU9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면허정보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lcnsNo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면허번호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행정처분기관구분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업체상태명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:J11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7827154"/>
                  </a:ext>
                </a:extLst>
              </a:tr>
              <a:tr h="0">
                <a:tc>
                  <a:txBody>
                    <a:bodyPr/>
                    <a:lstStyle/>
                    <a:p>
                      <a:pPr latinLnBrk="1"/>
                      <a:r>
                        <a:rPr lang="ko-KR" altLang="en-US" sz="800" dirty="0">
                          <a:latin typeface="+mn-ea"/>
                          <a:ea typeface="+mn-ea"/>
                        </a:rPr>
                        <a:t>등록일자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lcnsAcqsYmd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면허취득일자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시공능력평가액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cnstAbltEvlAmt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시공능력평가금액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기준년도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evlAmtCrtrYr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평가금액기준년도</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Box 3">
            <a:extLst>
              <a:ext uri="{FF2B5EF4-FFF2-40B4-BE49-F238E27FC236}">
                <a16:creationId xmlns:a16="http://schemas.microsoft.com/office/drawing/2014/main" id="{3640B13D-584B-8416-67F8-3DBDF632D167}"/>
              </a:ext>
            </a:extLst>
          </p:cNvPr>
          <p:cNvSpPr txBox="1"/>
          <p:nvPr/>
        </p:nvSpPr>
        <p:spPr>
          <a:xfrm>
            <a:off x="453832" y="5016580"/>
            <a:ext cx="3453437"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입찰공고 첨부파일 데이터 영역 </a:t>
            </a:r>
            <a:r>
              <a:rPr lang="en-US" altLang="ko-KR" sz="900" b="1" dirty="0">
                <a:solidFill>
                  <a:prstClr val="black"/>
                </a:solidFill>
              </a:rPr>
              <a:t>(</a:t>
            </a:r>
            <a:r>
              <a:rPr lang="en-US" altLang="ko-KR" sz="900" b="1" dirty="0" err="1">
                <a:solidFill>
                  <a:prstClr val="black"/>
                </a:solidFill>
              </a:rPr>
              <a:t>dlt_bidPbancAtchFileList</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9A5F43F4-CB5F-C531-B843-B6D2FC2FA0D8}"/>
              </a:ext>
            </a:extLst>
          </p:cNvPr>
          <p:cNvGraphicFramePr>
            <a:graphicFrameLocks noGrp="1"/>
          </p:cNvGraphicFramePr>
          <p:nvPr/>
        </p:nvGraphicFramePr>
        <p:xfrm>
          <a:off x="452293" y="5229071"/>
          <a:ext cx="8995589" cy="96960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4747051"/>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첨부파일명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파일크기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bl>
          </a:graphicData>
        </a:graphic>
      </p:graphicFrame>
      <p:sp>
        <p:nvSpPr>
          <p:cNvPr id="7" name="Text Box 73">
            <a:extLst>
              <a:ext uri="{FF2B5EF4-FFF2-40B4-BE49-F238E27FC236}">
                <a16:creationId xmlns:a16="http://schemas.microsoft.com/office/drawing/2014/main" id="{53B56817-5B68-77AB-0BCE-E7C56C84D499}"/>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9" name="TextBox 8">
            <a:extLst>
              <a:ext uri="{FF2B5EF4-FFF2-40B4-BE49-F238E27FC236}">
                <a16:creationId xmlns:a16="http://schemas.microsoft.com/office/drawing/2014/main" id="{3C68C4AD-A85D-BB9C-6B07-373B1D2B5C3F}"/>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(2/4)</a:t>
            </a:r>
            <a:endParaRPr lang="ko-KR" altLang="en-US" sz="1000" b="1" dirty="0">
              <a:solidFill>
                <a:prstClr val="black"/>
              </a:solidFill>
            </a:endParaRPr>
          </a:p>
        </p:txBody>
      </p:sp>
    </p:spTree>
    <p:extLst>
      <p:ext uri="{BB962C8B-B14F-4D97-AF65-F5344CB8AC3E}">
        <p14:creationId xmlns:p14="http://schemas.microsoft.com/office/powerpoint/2010/main" val="33000754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116</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422705"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입찰보증금 데이터 영역 </a:t>
            </a:r>
            <a:r>
              <a:rPr lang="en-US" altLang="ko-KR" sz="900" b="1" dirty="0">
                <a:solidFill>
                  <a:prstClr val="black"/>
                </a:solidFill>
              </a:rPr>
              <a:t>(</a:t>
            </a:r>
            <a:r>
              <a:rPr lang="en-US" altLang="ko-KR" sz="900" b="1" dirty="0" err="1">
                <a:solidFill>
                  <a:prstClr val="black"/>
                </a:solidFill>
              </a:rPr>
              <a:t>dmt_bidGrnte</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591197"/>
            <a:ext cx="2698422"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공동수급업체 데이터 영역 </a:t>
            </a:r>
            <a:r>
              <a:rPr lang="en-US" altLang="ko-KR" sz="900" b="1" dirty="0">
                <a:solidFill>
                  <a:prstClr val="black"/>
                </a:solidFill>
              </a:rPr>
              <a:t>(</a:t>
            </a:r>
            <a:r>
              <a:rPr lang="en-US" altLang="ko-KR" sz="900" b="1" dirty="0" err="1">
                <a:solidFill>
                  <a:prstClr val="black"/>
                </a:solidFill>
              </a:rPr>
              <a:t>dlt_jsdBzentyList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26402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보증금납부방법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depsPayMthdCd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보증금납부방법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:GMCB</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증권번호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scrtNo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증권번호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조회 된 증권번호가 </a:t>
                      </a:r>
                      <a:r>
                        <a:rPr lang="en-US" altLang="ko-KR" sz="800" dirty="0">
                          <a:latin typeface="+mn-ea"/>
                          <a:ea typeface="+mn-ea"/>
                        </a:rPr>
                        <a:t>1</a:t>
                      </a:r>
                      <a:r>
                        <a:rPr lang="ko-KR" altLang="en-US" sz="800" dirty="0">
                          <a:latin typeface="+mn-ea"/>
                          <a:ea typeface="+mn-ea"/>
                        </a:rPr>
                        <a:t>개인 경우 증권번호 자동 입력</a:t>
                      </a:r>
                      <a:r>
                        <a:rPr lang="en-US" altLang="ko-KR" sz="800" dirty="0">
                          <a:latin typeface="+mn-ea"/>
                          <a:ea typeface="+mn-ea"/>
                        </a:rPr>
                        <a:t>, 2</a:t>
                      </a:r>
                      <a:r>
                        <a:rPr lang="ko-KR" altLang="en-US" sz="800" dirty="0">
                          <a:latin typeface="+mn-ea"/>
                          <a:ea typeface="+mn-ea"/>
                        </a:rPr>
                        <a:t>개 이상인 경우 </a:t>
                      </a:r>
                      <a:r>
                        <a:rPr lang="ko-KR" altLang="en-US" sz="800" dirty="0" err="1">
                          <a:latin typeface="+mn-ea"/>
                          <a:ea typeface="+mn-ea"/>
                        </a:rPr>
                        <a:t>셀렉트박스로</a:t>
                      </a:r>
                      <a:r>
                        <a:rPr lang="ko-KR" altLang="en-US" sz="800" dirty="0">
                          <a:latin typeface="+mn-ea"/>
                          <a:ea typeface="+mn-ea"/>
                        </a:rPr>
                        <a:t> 증권번호 선택</a:t>
                      </a:r>
                      <a:r>
                        <a:rPr lang="en-US" altLang="ko-KR" sz="800" dirty="0">
                          <a:latin typeface="+mn-ea"/>
                          <a:ea typeface="+mn-ea"/>
                        </a:rPr>
                        <a:t>, </a:t>
                      </a:r>
                      <a:r>
                        <a:rPr lang="ko-KR" altLang="en-US" sz="800" dirty="0">
                          <a:latin typeface="+mn-ea"/>
                          <a:ea typeface="+mn-ea"/>
                        </a:rPr>
                        <a:t>없는 경우 직접 입력</a:t>
                      </a:r>
                      <a:r>
                        <a:rPr lang="en-US" altLang="ko-KR" sz="800" dirty="0">
                          <a:latin typeface="+mn-ea"/>
                          <a:ea typeface="+mn-ea"/>
                        </a:rPr>
                        <a:t>.</a:t>
                      </a:r>
                    </a:p>
                    <a:p>
                      <a:pPr algn="l" latinLnBrk="1"/>
                      <a:r>
                        <a:rPr lang="ko-KR" altLang="en-US" sz="800" dirty="0">
                          <a:latin typeface="+mn-ea"/>
                          <a:ea typeface="+mn-ea"/>
                        </a:rPr>
                        <a:t>조회 된 증권번호가 </a:t>
                      </a:r>
                      <a:r>
                        <a:rPr lang="en-US" altLang="ko-KR" sz="800" dirty="0">
                          <a:latin typeface="+mn-ea"/>
                          <a:ea typeface="+mn-ea"/>
                        </a:rPr>
                        <a:t>1</a:t>
                      </a:r>
                      <a:r>
                        <a:rPr lang="ko-KR" altLang="en-US" sz="800" dirty="0">
                          <a:latin typeface="+mn-ea"/>
                          <a:ea typeface="+mn-ea"/>
                        </a:rPr>
                        <a:t>개 이상인 경우 개찰일자</a:t>
                      </a:r>
                      <a:r>
                        <a:rPr lang="en-US" altLang="ko-KR" sz="800" dirty="0">
                          <a:latin typeface="+mn-ea"/>
                          <a:ea typeface="+mn-ea"/>
                        </a:rPr>
                        <a:t>/</a:t>
                      </a:r>
                      <a:r>
                        <a:rPr lang="ko-KR" altLang="en-US" sz="800" dirty="0">
                          <a:latin typeface="+mn-ea"/>
                          <a:ea typeface="+mn-ea"/>
                        </a:rPr>
                        <a:t>입찰일자</a:t>
                      </a:r>
                      <a:r>
                        <a:rPr lang="en-US" altLang="ko-KR" sz="800" dirty="0">
                          <a:latin typeface="+mn-ea"/>
                          <a:ea typeface="+mn-ea"/>
                        </a:rPr>
                        <a:t>, </a:t>
                      </a:r>
                      <a:r>
                        <a:rPr lang="ko-KR" altLang="en-US" sz="800" dirty="0">
                          <a:latin typeface="+mn-ea"/>
                          <a:ea typeface="+mn-ea"/>
                        </a:rPr>
                        <a:t>보증금액</a:t>
                      </a:r>
                      <a:r>
                        <a:rPr lang="en-US" altLang="ko-KR" sz="800" dirty="0">
                          <a:latin typeface="+mn-ea"/>
                          <a:ea typeface="+mn-ea"/>
                        </a:rPr>
                        <a:t>, </a:t>
                      </a:r>
                      <a:r>
                        <a:rPr lang="ko-KR" altLang="en-US" sz="800" dirty="0">
                          <a:latin typeface="+mn-ea"/>
                          <a:ea typeface="+mn-ea"/>
                        </a:rPr>
                        <a:t>계약자</a:t>
                      </a:r>
                      <a:r>
                        <a:rPr lang="en-US" altLang="ko-KR" sz="800" dirty="0">
                          <a:latin typeface="+mn-ea"/>
                          <a:ea typeface="+mn-ea"/>
                        </a:rPr>
                        <a:t>, </a:t>
                      </a:r>
                      <a:r>
                        <a:rPr lang="ko-KR" altLang="en-US" sz="800" dirty="0">
                          <a:latin typeface="+mn-ea"/>
                          <a:ea typeface="+mn-ea"/>
                        </a:rPr>
                        <a:t>발행자 보이기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개찰일자</a:t>
                      </a:r>
                      <a:r>
                        <a:rPr lang="en-US" altLang="ko-KR" sz="800" dirty="0">
                          <a:latin typeface="+mn-ea"/>
                          <a:ea typeface="+mn-ea"/>
                        </a:rPr>
                        <a:t>/</a:t>
                      </a:r>
                      <a:r>
                        <a:rPr lang="ko-KR" altLang="en-US" sz="800" dirty="0">
                          <a:latin typeface="+mn-ea"/>
                          <a:ea typeface="+mn-ea"/>
                        </a:rPr>
                        <a:t>입찰일자</a:t>
                      </a:r>
                      <a:r>
                        <a:rPr lang="en-US" altLang="ko-KR" sz="800" dirty="0">
                          <a:latin typeface="+mn-ea"/>
                          <a:ea typeface="+mn-ea"/>
                        </a:rPr>
                        <a:t>. </a:t>
                      </a:r>
                    </a:p>
                    <a:p>
                      <a:pPr algn="l" latinLnBrk="1"/>
                      <a:r>
                        <a:rPr lang="ko-KR" altLang="en-US" sz="800" dirty="0">
                          <a:latin typeface="+mn-ea"/>
                          <a:ea typeface="+mn-ea"/>
                        </a:rPr>
                        <a:t>같은 컬럼</a:t>
                      </a:r>
                      <a:r>
                        <a:rPr lang="en-US" altLang="ko-KR" sz="800" dirty="0">
                          <a:latin typeface="+mn-ea"/>
                          <a:ea typeface="+mn-ea"/>
                        </a:rPr>
                        <a:t>, </a:t>
                      </a:r>
                      <a:r>
                        <a:rPr lang="ko-KR" altLang="en-US" sz="800" dirty="0">
                          <a:latin typeface="+mn-ea"/>
                          <a:ea typeface="+mn-ea"/>
                        </a:rPr>
                        <a:t>업무구분별 표기 다름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a:latin typeface="+mn-ea"/>
                          <a:ea typeface="+mn-ea"/>
                        </a:rPr>
                        <a:t>보증금액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grnteAmt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보증금액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계약자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ctrtrBzentyNm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계약자업체명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발행자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isrBzentyNm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발행자업체명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보증금면제사유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depsExmptnRncd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보증금면제사유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700" dirty="0">
                          <a:latin typeface="+mn-ea"/>
                          <a:ea typeface="+mn-ea"/>
                        </a:rPr>
                        <a:t>상위코드</a:t>
                      </a:r>
                      <a:r>
                        <a:rPr lang="en-US" altLang="ko-KR" sz="700" dirty="0">
                          <a:latin typeface="+mn-ea"/>
                          <a:ea typeface="+mn-ea"/>
                        </a:rPr>
                        <a:t>:ERGA</a:t>
                      </a:r>
                    </a:p>
                    <a:p>
                      <a:pPr algn="l" latinLnBrk="1"/>
                      <a:r>
                        <a:rPr lang="ko-KR" altLang="en-US" sz="700" dirty="0">
                          <a:latin typeface="+mn-ea"/>
                          <a:ea typeface="+mn-ea"/>
                        </a:rPr>
                        <a:t>보증금납부방법이 보증금면제인 경우 활성화</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bidGrnteAmt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입찰보증금액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err="1">
                          <a:latin typeface="+mn-ea"/>
                          <a:ea typeface="+mn-ea"/>
                        </a:rPr>
                        <a:t>투찰가능금액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bdngPsbltyAmt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입찰보증금 기준으로 계산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입찰보증금 입력 시 계산 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803688"/>
          <a:ext cx="8995589" cy="274272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이행방식이 단독인 경우 해당 영역 숨기기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jsdBzentyNm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공동수급업체 설정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대표</a:t>
                      </a:r>
                      <a:r>
                        <a:rPr lang="en-US" altLang="ko-KR" sz="800" dirty="0">
                          <a:latin typeface="+mn-ea"/>
                          <a:ea typeface="+mn-ea"/>
                        </a:rPr>
                        <a:t>/</a:t>
                      </a:r>
                      <a:r>
                        <a:rPr lang="ko-KR" altLang="en-US" sz="800" dirty="0">
                          <a:latin typeface="+mn-ea"/>
                          <a:ea typeface="+mn-ea"/>
                        </a:rPr>
                        <a:t>구성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r h="0">
                <a:tc>
                  <a:txBody>
                    <a:bodyPr/>
                    <a:lstStyle/>
                    <a:p>
                      <a:pPr latinLnBrk="1"/>
                      <a:r>
                        <a:rPr lang="ko-KR" altLang="en-US" sz="800" dirty="0">
                          <a:latin typeface="+mn-ea"/>
                          <a:ea typeface="+mn-ea"/>
                        </a:rPr>
                        <a:t>공동수급업체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검색하여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이행방식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jsdShNm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공동수급형태명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상위코드</a:t>
                      </a:r>
                      <a:r>
                        <a:rPr lang="en-US" altLang="ko-KR" sz="800" dirty="0">
                          <a:latin typeface="+mn-ea"/>
                          <a:ea typeface="+mn-ea"/>
                        </a:rPr>
                        <a:t>:UB13</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a:t>
                      </a:r>
                      <a:r>
                        <a:rPr lang="ko-KR" altLang="en-US" sz="800" dirty="0">
                          <a:latin typeface="+mn-ea"/>
                          <a:ea typeface="+mn-ea"/>
                        </a:rPr>
                        <a:t>분담</a:t>
                      </a:r>
                      <a:r>
                        <a:rPr lang="en-US" altLang="ko-KR" sz="800" dirty="0">
                          <a:latin typeface="+mn-ea"/>
                          <a:ea typeface="+mn-ea"/>
                        </a:rPr>
                        <a:t>), B(</a:t>
                      </a:r>
                      <a:r>
                        <a:rPr lang="ko-KR" altLang="en-US" sz="800" dirty="0">
                          <a:latin typeface="+mn-ea"/>
                          <a:ea typeface="+mn-ea"/>
                        </a:rPr>
                        <a:t>공동</a:t>
                      </a:r>
                      <a:r>
                        <a:rPr lang="en-US" altLang="ko-KR" sz="800" dirty="0">
                          <a:latin typeface="+mn-ea"/>
                          <a:ea typeface="+mn-ea"/>
                        </a:rPr>
                        <a:t>), C(</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공동</a:t>
                      </a:r>
                      <a:r>
                        <a:rPr lang="en-US" altLang="ko-KR" sz="800" dirty="0">
                          <a:latin typeface="+mn-ea"/>
                          <a:ea typeface="+mn-ea"/>
                        </a:rPr>
                        <a:t>), D(</a:t>
                      </a:r>
                      <a:r>
                        <a:rPr lang="ko-KR" altLang="en-US" sz="800" dirty="0">
                          <a:latin typeface="+mn-ea"/>
                          <a:ea typeface="+mn-ea"/>
                        </a:rPr>
                        <a:t>주계약자관리</a:t>
                      </a:r>
                      <a:r>
                        <a:rPr lang="en-US" altLang="ko-KR" sz="800" dirty="0">
                          <a:latin typeface="+mn-ea"/>
                          <a:ea typeface="+mn-ea"/>
                        </a:rPr>
                        <a:t>), N(</a:t>
                      </a:r>
                      <a:r>
                        <a:rPr lang="ko-KR" altLang="en-US" sz="800" dirty="0">
                          <a:latin typeface="+mn-ea"/>
                          <a:ea typeface="+mn-ea"/>
                        </a:rPr>
                        <a:t>단독</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공동분담업종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공종명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상위코드</a:t>
                      </a:r>
                      <a:r>
                        <a:rPr lang="en-US" altLang="ko-KR" sz="800" dirty="0">
                          <a:latin typeface="+mn-ea"/>
                          <a:ea typeface="+mn-ea"/>
                        </a:rPr>
                        <a:t>:GU9</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공사 </a:t>
                      </a:r>
                      <a:r>
                        <a:rPr lang="en-US" altLang="ko-KR" sz="800" dirty="0">
                          <a:latin typeface="+mn-ea"/>
                          <a:ea typeface="+mn-ea"/>
                        </a:rPr>
                        <a:t>: A, C, D | </a:t>
                      </a:r>
                      <a:r>
                        <a:rPr lang="ko-KR" altLang="en-US" sz="800" dirty="0">
                          <a:latin typeface="+mn-ea"/>
                          <a:ea typeface="+mn-ea"/>
                        </a:rPr>
                        <a:t>물품 </a:t>
                      </a:r>
                      <a:r>
                        <a:rPr lang="en-US" altLang="ko-KR" sz="800" dirty="0">
                          <a:latin typeface="+mn-ea"/>
                          <a:ea typeface="+mn-ea"/>
                        </a:rPr>
                        <a:t>: </a:t>
                      </a:r>
                      <a:r>
                        <a:rPr lang="ko-KR" altLang="en-US" sz="800" dirty="0">
                          <a:latin typeface="+mn-ea"/>
                          <a:ea typeface="+mn-ea"/>
                        </a:rPr>
                        <a:t>숨기기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7827154"/>
                  </a:ext>
                </a:extLst>
              </a:tr>
              <a:tr h="0">
                <a:tc>
                  <a:txBody>
                    <a:bodyPr/>
                    <a:lstStyle/>
                    <a:p>
                      <a:pPr latinLnBrk="1"/>
                      <a:r>
                        <a:rPr lang="ko-KR" altLang="en-US" sz="800" dirty="0">
                          <a:latin typeface="+mn-ea"/>
                          <a:ea typeface="+mn-ea"/>
                        </a:rPr>
                        <a:t>출자비율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invstRt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공동수급협정 출자비율</a:t>
                      </a:r>
                      <a:r>
                        <a:rPr lang="en-US" altLang="ko-KR" sz="800" dirty="0">
                          <a:latin typeface="+mn-ea"/>
                          <a:ea typeface="+mn-ea"/>
                        </a:rPr>
                        <a:t>/</a:t>
                      </a:r>
                      <a:r>
                        <a:rPr lang="ko-KR" altLang="en-US" sz="800" dirty="0">
                          <a:latin typeface="+mn-ea"/>
                          <a:ea typeface="+mn-ea"/>
                        </a:rPr>
                        <a:t>분담비율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공사 </a:t>
                      </a:r>
                      <a:r>
                        <a:rPr lang="en-US" altLang="ko-KR" sz="800" dirty="0">
                          <a:latin typeface="+mn-ea"/>
                          <a:ea typeface="+mn-ea"/>
                        </a:rPr>
                        <a:t>: B, C, D</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물품 </a:t>
                      </a:r>
                      <a:r>
                        <a:rPr lang="en-US" altLang="ko-KR" sz="800" dirty="0">
                          <a:latin typeface="+mn-ea"/>
                          <a:ea typeface="+mn-ea"/>
                        </a:rPr>
                        <a:t>: B-</a:t>
                      </a:r>
                      <a:r>
                        <a:rPr lang="ko-KR" altLang="en-US" sz="800" dirty="0">
                          <a:latin typeface="+mn-ea"/>
                          <a:ea typeface="+mn-ea"/>
                        </a:rPr>
                        <a:t>출자비율</a:t>
                      </a:r>
                      <a:r>
                        <a:rPr lang="en-US" altLang="ko-KR" sz="800" dirty="0">
                          <a:latin typeface="+mn-ea"/>
                          <a:ea typeface="+mn-ea"/>
                        </a:rPr>
                        <a:t> / A-</a:t>
                      </a:r>
                      <a:r>
                        <a:rPr lang="ko-KR" altLang="en-US" sz="800" dirty="0">
                          <a:latin typeface="+mn-ea"/>
                          <a:ea typeface="+mn-ea"/>
                        </a:rPr>
                        <a:t>분담비율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bidGrnteAmt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입찰보증금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10505831"/>
                  </a:ext>
                </a:extLst>
              </a:tr>
              <a:tr h="0">
                <a:tc>
                  <a:txBody>
                    <a:bodyPr/>
                    <a:lstStyle/>
                    <a:p>
                      <a:pPr latinLnBrk="1"/>
                      <a:r>
                        <a:rPr lang="ko-KR" altLang="en-US" sz="800" dirty="0">
                          <a:latin typeface="+mn-ea"/>
                          <a:ea typeface="+mn-ea"/>
                        </a:rPr>
                        <a:t>납부방법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depsPayMthdCd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납부방법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61408958"/>
                  </a:ext>
                </a:extLst>
              </a:tr>
              <a:tr h="0">
                <a:tc>
                  <a:txBody>
                    <a:bodyPr/>
                    <a:lstStyle/>
                    <a:p>
                      <a:pPr latinLnBrk="1"/>
                      <a:r>
                        <a:rPr lang="ko-KR" altLang="en-US" sz="800" dirty="0">
                          <a:latin typeface="+mn-ea"/>
                          <a:ea typeface="+mn-ea"/>
                        </a:rPr>
                        <a:t>시공능력평가액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cnstAbltEvlAmt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시공능력평가금액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공사</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물품 </a:t>
                      </a:r>
                      <a:r>
                        <a:rPr lang="en-US" altLang="ko-KR" sz="800" dirty="0">
                          <a:latin typeface="+mn-ea"/>
                          <a:ea typeface="+mn-ea"/>
                        </a:rPr>
                        <a:t>: </a:t>
                      </a:r>
                      <a:r>
                        <a:rPr lang="ko-KR" altLang="en-US" sz="800" dirty="0">
                          <a:latin typeface="+mn-ea"/>
                          <a:ea typeface="+mn-ea"/>
                        </a:rPr>
                        <a:t>숨기기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동의여부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argeYn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동의여부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7017933"/>
                  </a:ext>
                </a:extLst>
              </a:tr>
            </a:tbl>
          </a:graphicData>
        </a:graphic>
      </p:graphicFrame>
      <p:sp>
        <p:nvSpPr>
          <p:cNvPr id="4" name="Text Box 73">
            <a:extLst>
              <a:ext uri="{FF2B5EF4-FFF2-40B4-BE49-F238E27FC236}">
                <a16:creationId xmlns:a16="http://schemas.microsoft.com/office/drawing/2014/main" id="{1F9F1A68-05C9-37BF-F460-624EF6674B9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28F00CCC-08F7-4A4E-DDEB-BD864956DBA7}"/>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(3/4)</a:t>
            </a:r>
            <a:endParaRPr lang="ko-KR" altLang="en-US" sz="1000" b="1" dirty="0">
              <a:solidFill>
                <a:prstClr val="black"/>
              </a:solidFill>
            </a:endParaRPr>
          </a:p>
        </p:txBody>
      </p:sp>
    </p:spTree>
    <p:extLst>
      <p:ext uri="{BB962C8B-B14F-4D97-AF65-F5344CB8AC3E}">
        <p14:creationId xmlns:p14="http://schemas.microsoft.com/office/powerpoint/2010/main" val="222877911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117</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3347639" cy="211203"/>
          </a:xfrm>
          <a:prstGeom prst="rect">
            <a:avLst/>
          </a:prstGeom>
          <a:noFill/>
        </p:spPr>
        <p:txBody>
          <a:bodyPr wrap="none" lIns="36000" tIns="36000" rIns="36000" bIns="36000" rtlCol="0">
            <a:spAutoFit/>
          </a:bodyPr>
          <a:lstStyle/>
          <a:p>
            <a:r>
              <a:rPr lang="en-US" altLang="ko-KR" sz="900" b="1" dirty="0">
                <a:solidFill>
                  <a:prstClr val="black"/>
                </a:solidFill>
              </a:rPr>
              <a:t>1.8. </a:t>
            </a:r>
            <a:r>
              <a:rPr lang="ko-KR" altLang="en-US" sz="900" b="1" dirty="0">
                <a:solidFill>
                  <a:prstClr val="black"/>
                </a:solidFill>
              </a:rPr>
              <a:t>입찰참가 첨부파일 데이터 영역 </a:t>
            </a:r>
            <a:r>
              <a:rPr lang="en-US" altLang="ko-KR" sz="900" b="1" dirty="0">
                <a:solidFill>
                  <a:prstClr val="black"/>
                </a:solidFill>
              </a:rPr>
              <a:t>(</a:t>
            </a:r>
            <a:r>
              <a:rPr lang="en-US" altLang="ko-KR" sz="900" b="1" dirty="0" err="1">
                <a:solidFill>
                  <a:prstClr val="black"/>
                </a:solidFill>
              </a:rPr>
              <a:t>dlt_bidPrtcpAtchFileList</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2264413"/>
            <a:ext cx="2246375" cy="211203"/>
          </a:xfrm>
          <a:prstGeom prst="rect">
            <a:avLst/>
          </a:prstGeom>
          <a:noFill/>
        </p:spPr>
        <p:txBody>
          <a:bodyPr wrap="none" lIns="36000" tIns="36000" rIns="36000" bIns="36000" rtlCol="0">
            <a:spAutoFit/>
          </a:bodyPr>
          <a:lstStyle/>
          <a:p>
            <a:r>
              <a:rPr lang="en-US" altLang="ko-KR" sz="900" b="1" dirty="0">
                <a:solidFill>
                  <a:prstClr val="black"/>
                </a:solidFill>
              </a:rPr>
              <a:t>1.9. </a:t>
            </a:r>
            <a:r>
              <a:rPr lang="ko-KR" altLang="en-US" sz="900" b="1" dirty="0">
                <a:solidFill>
                  <a:prstClr val="black"/>
                </a:solidFill>
              </a:rPr>
              <a:t>문의처 데이터 영역 </a:t>
            </a:r>
            <a:r>
              <a:rPr lang="en-US" altLang="ko-KR" sz="900" b="1" dirty="0">
                <a:solidFill>
                  <a:prstClr val="black"/>
                </a:solidFill>
              </a:rPr>
              <a:t>(</a:t>
            </a:r>
            <a:r>
              <a:rPr lang="en-US" altLang="ko-KR" sz="900" b="1" dirty="0" err="1">
                <a:solidFill>
                  <a:prstClr val="black"/>
                </a:solidFill>
              </a:rPr>
              <a:t>dmt_ofcctrInfo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213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부서부호가 </a:t>
                      </a:r>
                      <a:r>
                        <a:rPr lang="en-US" altLang="ko-KR" sz="800" dirty="0">
                          <a:latin typeface="+mn-ea"/>
                          <a:ea typeface="+mn-ea"/>
                        </a:rPr>
                        <a:t>‘E’ </a:t>
                      </a:r>
                      <a:r>
                        <a:rPr lang="ko-KR" altLang="en-US" sz="800" dirty="0">
                          <a:latin typeface="+mn-ea"/>
                          <a:ea typeface="+mn-ea"/>
                        </a:rPr>
                        <a:t>또는 </a:t>
                      </a:r>
                      <a:r>
                        <a:rPr lang="en-US" altLang="ko-KR" sz="800" dirty="0">
                          <a:latin typeface="+mn-ea"/>
                          <a:ea typeface="+mn-ea"/>
                        </a:rPr>
                        <a:t>‘P’</a:t>
                      </a:r>
                      <a:r>
                        <a:rPr lang="ko-KR" altLang="en-US" sz="800" dirty="0">
                          <a:latin typeface="+mn-ea"/>
                          <a:ea typeface="+mn-ea"/>
                        </a:rPr>
                        <a:t>로 시작하는 경우 </a:t>
                      </a:r>
                      <a:endParaRPr lang="en-US" altLang="ko-KR" sz="800" dirty="0">
                        <a:latin typeface="+mn-ea"/>
                        <a:ea typeface="+mn-ea"/>
                      </a:endParaRPr>
                    </a:p>
                    <a:p>
                      <a:pPr algn="l" latinLnBrk="1"/>
                      <a:r>
                        <a:rPr lang="en-US" altLang="ko-KR" sz="800" dirty="0">
                          <a:latin typeface="+mn-ea"/>
                          <a:ea typeface="+mn-ea"/>
                        </a:rPr>
                        <a:t>  - </a:t>
                      </a:r>
                      <a:r>
                        <a:rPr lang="ko-KR" altLang="en-US" sz="800" dirty="0">
                          <a:latin typeface="+mn-ea"/>
                          <a:ea typeface="+mn-ea"/>
                        </a:rPr>
                        <a:t>청렴서약서</a:t>
                      </a:r>
                      <a:r>
                        <a:rPr lang="en-US" altLang="ko-KR" sz="800" dirty="0">
                          <a:latin typeface="+mn-ea"/>
                          <a:ea typeface="+mn-ea"/>
                        </a:rPr>
                        <a:t>, </a:t>
                      </a:r>
                      <a:r>
                        <a:rPr lang="ko-KR" altLang="en-US" sz="800" dirty="0">
                          <a:latin typeface="+mn-ea"/>
                          <a:ea typeface="+mn-ea"/>
                        </a:rPr>
                        <a:t>법인등기부등본</a:t>
                      </a:r>
                      <a:r>
                        <a:rPr lang="en-US" altLang="ko-KR" sz="800" dirty="0">
                          <a:latin typeface="+mn-ea"/>
                          <a:ea typeface="+mn-ea"/>
                        </a:rPr>
                        <a:t>(</a:t>
                      </a:r>
                      <a:r>
                        <a:rPr lang="ko-KR" altLang="en-US" sz="800" dirty="0">
                          <a:latin typeface="+mn-ea"/>
                          <a:ea typeface="+mn-ea"/>
                        </a:rPr>
                        <a:t>등기사항 전부</a:t>
                      </a:r>
                      <a:endParaRPr lang="en-US" altLang="ko-KR" sz="800" dirty="0">
                        <a:latin typeface="+mn-ea"/>
                        <a:ea typeface="+mn-ea"/>
                      </a:endParaRPr>
                    </a:p>
                    <a:p>
                      <a:pPr algn="l" latinLnBrk="1"/>
                      <a:r>
                        <a:rPr lang="en-US" altLang="ko-KR" sz="800" dirty="0">
                          <a:latin typeface="+mn-ea"/>
                          <a:ea typeface="+mn-ea"/>
                        </a:rPr>
                        <a:t>    </a:t>
                      </a:r>
                      <a:r>
                        <a:rPr lang="ko-KR" altLang="en-US" sz="800" dirty="0">
                          <a:latin typeface="+mn-ea"/>
                          <a:ea typeface="+mn-ea"/>
                        </a:rPr>
                        <a:t>증명서</a:t>
                      </a:r>
                      <a:r>
                        <a:rPr lang="en-US" altLang="ko-KR" sz="800" dirty="0">
                          <a:latin typeface="+mn-ea"/>
                          <a:ea typeface="+mn-ea"/>
                        </a:rPr>
                        <a:t>) </a:t>
                      </a:r>
                      <a:r>
                        <a:rPr lang="ko-KR" altLang="en-US" sz="800" dirty="0">
                          <a:latin typeface="+mn-ea"/>
                          <a:ea typeface="+mn-ea"/>
                        </a:rPr>
                        <a:t>필수 첨부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첨부파일 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파일크기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ASIS</a:t>
                      </a:r>
                      <a:r>
                        <a:rPr lang="ko-KR" altLang="en-US" sz="800" dirty="0">
                          <a:latin typeface="+mn-ea"/>
                          <a:ea typeface="+mn-ea"/>
                        </a:rPr>
                        <a:t> </a:t>
                      </a:r>
                      <a:r>
                        <a:rPr lang="en-US" altLang="ko-KR" sz="800" dirty="0">
                          <a:latin typeface="+mn-ea"/>
                          <a:ea typeface="+mn-ea"/>
                        </a:rPr>
                        <a:t>10MB</a:t>
                      </a:r>
                      <a:r>
                        <a:rPr lang="ko-KR" altLang="en-US" sz="800" dirty="0">
                          <a:latin typeface="+mn-ea"/>
                          <a:ea typeface="+mn-ea"/>
                        </a:rPr>
                        <a:t> 제한</a:t>
                      </a:r>
                      <a:r>
                        <a:rPr lang="en-US" altLang="ko-KR" sz="800" dirty="0">
                          <a:latin typeface="+mn-ea"/>
                          <a:ea typeface="+mn-ea"/>
                        </a:rPr>
                        <a:t>, TOBE </a:t>
                      </a:r>
                      <a:r>
                        <a:rPr lang="ko-KR" altLang="en-US" sz="800" dirty="0">
                          <a:latin typeface="+mn-ea"/>
                          <a:ea typeface="+mn-ea"/>
                        </a:rPr>
                        <a:t>제한 해제 또는 </a:t>
                      </a:r>
                      <a:r>
                        <a:rPr lang="en-US" altLang="ko-KR" sz="800" dirty="0">
                          <a:latin typeface="+mn-ea"/>
                          <a:ea typeface="+mn-ea"/>
                        </a:rPr>
                        <a:t>200MB</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2476904"/>
          <a:ext cx="8995589" cy="70368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ofcctrNm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ofcctrTelno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계약관전화번호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사용자구분이 </a:t>
                      </a:r>
                      <a:r>
                        <a:rPr lang="en-US" altLang="ko-KR" sz="800" dirty="0">
                          <a:latin typeface="+mn-ea"/>
                          <a:ea typeface="+mn-ea"/>
                        </a:rPr>
                        <a:t>21</a:t>
                      </a:r>
                      <a:r>
                        <a:rPr lang="ko-KR" altLang="en-US" sz="800" dirty="0">
                          <a:latin typeface="+mn-ea"/>
                          <a:ea typeface="+mn-ea"/>
                        </a:rPr>
                        <a:t>인 경우 </a:t>
                      </a:r>
                      <a:r>
                        <a:rPr lang="en-US" altLang="ko-KR" sz="800" dirty="0">
                          <a:latin typeface="+mn-ea"/>
                          <a:ea typeface="+mn-ea"/>
                        </a:rPr>
                        <a:t>02-2079-####, </a:t>
                      </a:r>
                      <a:r>
                        <a:rPr lang="ko-KR" altLang="en-US" sz="800" dirty="0">
                          <a:latin typeface="+mn-ea"/>
                          <a:ea typeface="+mn-ea"/>
                        </a:rPr>
                        <a:t>그 외는 형식 없음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bl>
          </a:graphicData>
        </a:graphic>
      </p:graphicFrame>
      <p:sp>
        <p:nvSpPr>
          <p:cNvPr id="4" name="Text Box 73">
            <a:extLst>
              <a:ext uri="{FF2B5EF4-FFF2-40B4-BE49-F238E27FC236}">
                <a16:creationId xmlns:a16="http://schemas.microsoft.com/office/drawing/2014/main" id="{410652AA-2885-80E3-1C2D-798295E11A94}"/>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452B1109-BD50-A274-B42D-8BDE00FC33FC}"/>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(4/4)</a:t>
            </a:r>
            <a:endParaRPr lang="ko-KR" altLang="en-US" sz="1000" b="1" dirty="0">
              <a:solidFill>
                <a:prstClr val="black"/>
              </a:solidFill>
            </a:endParaRPr>
          </a:p>
        </p:txBody>
      </p:sp>
    </p:spTree>
    <p:extLst>
      <p:ext uri="{BB962C8B-B14F-4D97-AF65-F5344CB8AC3E}">
        <p14:creationId xmlns:p14="http://schemas.microsoft.com/office/powerpoint/2010/main" val="195241269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118</a:t>
            </a:fld>
            <a:endParaRPr lang="ko-KR" altLang="en-US" dirty="0"/>
          </a:p>
        </p:txBody>
      </p:sp>
      <p:sp>
        <p:nvSpPr>
          <p:cNvPr id="6" name="TextBox 5">
            <a:extLst>
              <a:ext uri="{FF2B5EF4-FFF2-40B4-BE49-F238E27FC236}">
                <a16:creationId xmlns:a16="http://schemas.microsoft.com/office/drawing/2014/main" id="{9F3F3328-0E21-2B50-B957-D9B40649B859}"/>
              </a:ext>
            </a:extLst>
          </p:cNvPr>
          <p:cNvSpPr txBox="1"/>
          <p:nvPr/>
        </p:nvSpPr>
        <p:spPr>
          <a:xfrm>
            <a:off x="458117" y="689193"/>
            <a:ext cx="1207629"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r>
              <a:rPr lang="en-US" altLang="ko-KR" sz="1000" b="1" dirty="0">
                <a:solidFill>
                  <a:prstClr val="black"/>
                </a:solidFill>
                <a:latin typeface="+mn-ea"/>
              </a:rPr>
              <a:t>(1/2)</a:t>
            </a:r>
            <a:endParaRPr lang="ko-KR" altLang="en-US" sz="1000" b="1" dirty="0">
              <a:solidFill>
                <a:prstClr val="black"/>
              </a:solidFill>
              <a:latin typeface="+mn-ea"/>
            </a:endParaRPr>
          </a:p>
        </p:txBody>
      </p:sp>
      <p:graphicFrame>
        <p:nvGraphicFramePr>
          <p:cNvPr id="7" name="표 6">
            <a:extLst>
              <a:ext uri="{FF2B5EF4-FFF2-40B4-BE49-F238E27FC236}">
                <a16:creationId xmlns:a16="http://schemas.microsoft.com/office/drawing/2014/main" id="{B0DB02E6-4804-7B4E-E539-112783DC5994}"/>
              </a:ext>
            </a:extLst>
          </p:cNvPr>
          <p:cNvGraphicFramePr>
            <a:graphicFrameLocks noGrp="1"/>
          </p:cNvGraphicFramePr>
          <p:nvPr>
            <p:extLst>
              <p:ext uri="{D42A27DB-BD31-4B8C-83A1-F6EECF244321}">
                <p14:modId xmlns:p14="http://schemas.microsoft.com/office/powerpoint/2010/main" val="575514492"/>
              </p:ext>
            </p:extLst>
          </p:nvPr>
        </p:nvGraphicFramePr>
        <p:xfrm>
          <a:off x="453000" y="967324"/>
          <a:ext cx="8995591" cy="492966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a:t>
                      </a:r>
                      <a:r>
                        <a:rPr lang="en-US" altLang="ko-KR" sz="800" dirty="0">
                          <a:latin typeface="+mn-ea"/>
                          <a:ea typeface="+mn-ea"/>
                        </a:rPr>
                        <a:t>, </a:t>
                      </a:r>
                      <a:r>
                        <a:rPr lang="ko-KR" altLang="en-US" sz="800" dirty="0">
                          <a:latin typeface="+mn-ea"/>
                          <a:ea typeface="+mn-ea"/>
                        </a:rPr>
                        <a:t>업체내역</a:t>
                      </a:r>
                      <a:r>
                        <a:rPr lang="en-US" altLang="ko-KR" sz="800" dirty="0">
                          <a:latin typeface="+mn-ea"/>
                          <a:ea typeface="+mn-ea"/>
                        </a:rPr>
                        <a:t>, </a:t>
                      </a:r>
                      <a:r>
                        <a:rPr lang="ko-KR" altLang="en-US" sz="800" dirty="0" err="1">
                          <a:latin typeface="+mn-ea"/>
                          <a:ea typeface="+mn-ea"/>
                        </a:rPr>
                        <a:t>입찰공고첨부서류</a:t>
                      </a:r>
                      <a:r>
                        <a:rPr lang="en-US" altLang="ko-KR" sz="800" dirty="0">
                          <a:latin typeface="+mn-ea"/>
                          <a:ea typeface="+mn-ea"/>
                        </a:rPr>
                        <a:t>, </a:t>
                      </a:r>
                      <a:r>
                        <a:rPr lang="ko-KR" altLang="en-US" sz="800" dirty="0">
                          <a:latin typeface="+mn-ea"/>
                          <a:ea typeface="+mn-ea"/>
                        </a:rPr>
                        <a:t>문의처 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입찰참가신청서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연기공고 여부</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  - TBEPBP34(</a:t>
                      </a:r>
                      <a:r>
                        <a:rPr lang="ko-KR" altLang="en-US" sz="800" dirty="0">
                          <a:latin typeface="+mn-ea"/>
                          <a:ea typeface="+mn-ea"/>
                        </a:rPr>
                        <a:t>연기정정처리이력</a:t>
                      </a:r>
                      <a:r>
                        <a:rPr lang="en-US" altLang="ko-KR" sz="800" dirty="0">
                          <a:latin typeface="+mn-ea"/>
                          <a:ea typeface="+mn-ea"/>
                        </a:rPr>
                        <a:t>).</a:t>
                      </a:r>
                      <a:r>
                        <a:rPr lang="en-US" altLang="ko-KR" sz="800" kern="1200" dirty="0">
                          <a:solidFill>
                            <a:schemeClr val="tx1"/>
                          </a:solidFill>
                          <a:latin typeface="+mn-ea"/>
                          <a:ea typeface="+mn-ea"/>
                          <a:cs typeface="+mn-cs"/>
                        </a:rPr>
                        <a:t>PTCP_POPN_SEQN(</a:t>
                      </a:r>
                      <a:r>
                        <a:rPr lang="ko-KR" altLang="en-US" sz="800" kern="1200" dirty="0">
                          <a:solidFill>
                            <a:schemeClr val="tx1"/>
                          </a:solidFill>
                          <a:latin typeface="+mn-ea"/>
                          <a:ea typeface="+mn-ea"/>
                          <a:cs typeface="+mn-cs"/>
                        </a:rPr>
                        <a:t>입찰참가신청연</a:t>
                      </a:r>
                      <a:endParaRPr lang="en-US" altLang="ko-KR" sz="800" kern="1200" dirty="0">
                        <a:solidFill>
                          <a:schemeClr val="tx1"/>
                        </a:solidFill>
                        <a:latin typeface="+mn-ea"/>
                        <a:ea typeface="+mn-ea"/>
                        <a:cs typeface="+mn-cs"/>
                      </a:endParaRPr>
                    </a:p>
                    <a:p>
                      <a:pPr marL="0" indent="0" algn="l" latinLnBrk="1">
                        <a:buFont typeface="Arial" panose="020B0604020202020204" pitchFamily="34" charset="0"/>
                        <a:buNone/>
                      </a:pP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기정정이력순번</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가 </a:t>
                      </a:r>
                      <a:r>
                        <a:rPr lang="en-US" altLang="ko-KR" sz="800" kern="1200" dirty="0">
                          <a:solidFill>
                            <a:schemeClr val="tx1"/>
                          </a:solidFill>
                          <a:latin typeface="+mn-ea"/>
                          <a:ea typeface="+mn-ea"/>
                          <a:cs typeface="+mn-cs"/>
                        </a:rPr>
                        <a:t>‘N’</a:t>
                      </a:r>
                      <a:r>
                        <a:rPr lang="ko-KR" altLang="en-US" sz="800" kern="1200" dirty="0">
                          <a:solidFill>
                            <a:schemeClr val="tx1"/>
                          </a:solidFill>
                          <a:latin typeface="+mn-ea"/>
                          <a:ea typeface="+mn-ea"/>
                          <a:cs typeface="+mn-cs"/>
                        </a:rPr>
                        <a:t>이 아니고</a:t>
                      </a:r>
                      <a:r>
                        <a:rPr lang="en-US" altLang="ko-KR" sz="800" kern="1200" dirty="0">
                          <a:solidFill>
                            <a:schemeClr val="tx1"/>
                          </a:solidFill>
                          <a:latin typeface="+mn-ea"/>
                          <a:ea typeface="+mn-ea"/>
                          <a:cs typeface="+mn-cs"/>
                        </a:rPr>
                        <a:t>, </a:t>
                      </a:r>
                      <a:r>
                        <a:rPr lang="en-US" altLang="ko-KR" sz="800" dirty="0">
                          <a:latin typeface="+mn-ea"/>
                          <a:ea typeface="+mn-ea"/>
                        </a:rPr>
                        <a:t>TBEPBP34(</a:t>
                      </a:r>
                      <a:r>
                        <a:rPr lang="ko-KR" altLang="en-US" sz="800" dirty="0" err="1">
                          <a:latin typeface="+mn-ea"/>
                          <a:ea typeface="+mn-ea"/>
                        </a:rPr>
                        <a:t>연기정정처이</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    </a:t>
                      </a:r>
                      <a:r>
                        <a:rPr lang="ko-KR" altLang="en-US" sz="800" dirty="0">
                          <a:latin typeface="+mn-ea"/>
                          <a:ea typeface="+mn-ea"/>
                        </a:rPr>
                        <a:t>력</a:t>
                      </a:r>
                      <a:r>
                        <a:rPr lang="en-US" altLang="ko-KR" sz="800" dirty="0">
                          <a:latin typeface="+mn-ea"/>
                          <a:ea typeface="+mn-ea"/>
                        </a:rPr>
                        <a:t>).</a:t>
                      </a:r>
                      <a:r>
                        <a:rPr lang="en-US" altLang="ko-KR" sz="800" kern="1200" dirty="0">
                          <a:solidFill>
                            <a:schemeClr val="tx1"/>
                          </a:solidFill>
                          <a:latin typeface="+mn-ea"/>
                          <a:ea typeface="+mn-ea"/>
                          <a:cs typeface="+mn-cs"/>
                        </a:rPr>
                        <a:t>PTCP_BIDX_DATE(</a:t>
                      </a:r>
                      <a:r>
                        <a:rPr lang="ko-KR" altLang="en-US" sz="800" kern="1200" dirty="0" err="1">
                          <a:solidFill>
                            <a:schemeClr val="tx1"/>
                          </a:solidFill>
                          <a:latin typeface="+mn-ea"/>
                          <a:ea typeface="+mn-ea"/>
                          <a:cs typeface="+mn-cs"/>
                        </a:rPr>
                        <a:t>이전입찰참가신청입찰일자</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가 </a:t>
                      </a:r>
                      <a:r>
                        <a:rPr lang="en-US" altLang="ko-KR" sz="800" kern="1200" dirty="0">
                          <a:solidFill>
                            <a:schemeClr val="tx1"/>
                          </a:solidFill>
                          <a:latin typeface="+mn-ea"/>
                          <a:ea typeface="+mn-ea"/>
                          <a:cs typeface="+mn-cs"/>
                        </a:rPr>
                        <a:t>TBEPBA11 (</a:t>
                      </a:r>
                      <a:r>
                        <a:rPr lang="ko-KR" altLang="en-US" sz="800" kern="1200" dirty="0">
                          <a:solidFill>
                            <a:schemeClr val="tx1"/>
                          </a:solidFill>
                          <a:latin typeface="+mn-ea"/>
                          <a:ea typeface="+mn-ea"/>
                          <a:cs typeface="+mn-cs"/>
                        </a:rPr>
                        <a:t>공</a:t>
                      </a:r>
                      <a:endParaRPr lang="en-US" altLang="ko-KR" sz="800" kern="1200" dirty="0">
                        <a:solidFill>
                          <a:schemeClr val="tx1"/>
                        </a:solidFill>
                        <a:latin typeface="+mn-ea"/>
                        <a:ea typeface="+mn-ea"/>
                        <a:cs typeface="+mn-cs"/>
                      </a:endParaRPr>
                    </a:p>
                    <a:p>
                      <a:pPr marL="0" indent="0" algn="l" latinLnBrk="1">
                        <a:buFont typeface="Arial" panose="020B0604020202020204" pitchFamily="34" charset="0"/>
                        <a:buNone/>
                      </a:pP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고의뢰철</a:t>
                      </a:r>
                      <a:r>
                        <a:rPr lang="en-US" altLang="ko-KR" sz="800" kern="1200" dirty="0">
                          <a:solidFill>
                            <a:schemeClr val="tx1"/>
                          </a:solidFill>
                          <a:latin typeface="+mn-ea"/>
                          <a:ea typeface="+mn-ea"/>
                          <a:cs typeface="+mn-cs"/>
                        </a:rPr>
                        <a:t>).BIDX_DATE(</a:t>
                      </a:r>
                      <a:r>
                        <a:rPr lang="ko-KR" altLang="en-US" sz="800" kern="1200" dirty="0">
                          <a:solidFill>
                            <a:schemeClr val="tx1"/>
                          </a:solidFill>
                          <a:latin typeface="+mn-ea"/>
                          <a:ea typeface="+mn-ea"/>
                          <a:cs typeface="+mn-cs"/>
                        </a:rPr>
                        <a:t>개찰일자</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와 다른 경우</a:t>
                      </a:r>
                      <a:endParaRPr lang="en-US" altLang="ko-KR" sz="800" kern="1200" dirty="0">
                        <a:solidFill>
                          <a:schemeClr val="tx1"/>
                        </a:solidFill>
                        <a:latin typeface="+mn-ea"/>
                        <a:ea typeface="+mn-ea"/>
                        <a:cs typeface="+mn-cs"/>
                      </a:endParaRPr>
                    </a:p>
                    <a:p>
                      <a:pPr marL="0" indent="0" algn="l" latinLnBrk="1">
                        <a:buFont typeface="Arial" panose="020B0604020202020204" pitchFamily="34" charset="0"/>
                        <a:buNone/>
                      </a:pPr>
                      <a:r>
                        <a:rPr lang="ko-KR" altLang="en-US" sz="800" kern="1200" dirty="0">
                          <a:solidFill>
                            <a:schemeClr val="tx1"/>
                          </a:solidFill>
                          <a:latin typeface="+mn-ea"/>
                          <a:ea typeface="+mn-ea"/>
                          <a:cs typeface="+mn-cs"/>
                        </a:rPr>
                        <a:t>공지사항 보이기</a:t>
                      </a:r>
                      <a:endParaRPr lang="en-US" altLang="ko-KR" sz="800" kern="1200" dirty="0">
                        <a:solidFill>
                          <a:schemeClr val="tx1"/>
                        </a:solidFill>
                        <a:latin typeface="+mn-ea"/>
                        <a:ea typeface="+mn-ea"/>
                        <a:cs typeface="+mn-cs"/>
                      </a:endParaRPr>
                    </a:p>
                    <a:p>
                      <a:pPr marL="0" indent="0" algn="l" latinLnBrk="1">
                        <a:buFont typeface="Arial" panose="020B0604020202020204" pitchFamily="34" charset="0"/>
                        <a:buNone/>
                      </a:pPr>
                      <a:r>
                        <a:rPr lang="en-US" altLang="ko-KR" sz="800" kern="1200" dirty="0">
                          <a:solidFill>
                            <a:schemeClr val="tx1"/>
                          </a:solidFill>
                          <a:latin typeface="+mn-ea"/>
                          <a:ea typeface="+mn-ea"/>
                          <a:cs typeface="+mn-cs"/>
                        </a:rPr>
                        <a:t>  - </a:t>
                      </a:r>
                      <a:r>
                        <a:rPr lang="ko-KR" altLang="en-US" sz="800" kern="1200" dirty="0">
                          <a:solidFill>
                            <a:schemeClr val="tx1"/>
                          </a:solidFill>
                          <a:latin typeface="+mn-ea"/>
                          <a:ea typeface="+mn-ea"/>
                          <a:cs typeface="+mn-cs"/>
                        </a:rPr>
                        <a:t>입찰참가신청서 조회</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수정 시 연기공고 처리 된 경우</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err="1">
                          <a:latin typeface="+mn-ea"/>
                          <a:ea typeface="+mn-ea"/>
                        </a:rPr>
                        <a:t>pdb</a:t>
                      </a:r>
                      <a:r>
                        <a:rPr lang="en-US" altLang="ko-KR" sz="800" dirty="0">
                          <a:latin typeface="+mn-ea"/>
                          <a:ea typeface="+mn-ea"/>
                        </a:rPr>
                        <a:t> : </a:t>
                      </a:r>
                      <a:r>
                        <a:rPr lang="en-US" altLang="ko-KR" sz="800" dirty="0" err="1">
                          <a:latin typeface="+mn-ea"/>
                          <a:ea typeface="+mn-ea"/>
                        </a:rPr>
                        <a:t>bidApplyRegi.jsp</a:t>
                      </a:r>
                      <a:r>
                        <a:rPr lang="en-US" altLang="ko-KR" sz="800" dirty="0">
                          <a:latin typeface="+mn-ea"/>
                          <a:ea typeface="+mn-ea"/>
                        </a:rPr>
                        <a:t>, </a:t>
                      </a:r>
                      <a:r>
                        <a:rPr lang="en-US" altLang="ko-KR" sz="800" dirty="0" err="1">
                          <a:latin typeface="+mn-ea"/>
                          <a:ea typeface="+mn-ea"/>
                        </a:rPr>
                        <a:t>bidApplyMdf.jsp</a:t>
                      </a:r>
                      <a:r>
                        <a:rPr lang="en-US" altLang="ko-KR" sz="800" dirty="0">
                          <a:latin typeface="+mn-ea"/>
                          <a:ea typeface="+mn-ea"/>
                        </a:rPr>
                        <a:t>, </a:t>
                      </a:r>
                      <a:r>
                        <a:rPr lang="en-US" altLang="ko-KR" sz="800" dirty="0" err="1">
                          <a:latin typeface="+mn-ea"/>
                          <a:ea typeface="+mn-ea"/>
                        </a:rPr>
                        <a:t>bidApplyInfo.jsp</a:t>
                      </a:r>
                      <a:endParaRPr lang="ko-KR" altLang="en-US" sz="800" dirty="0">
                        <a:latin typeface="+mn-ea"/>
                        <a:ea typeface="+mn-ea"/>
                      </a:endParaRPr>
                    </a:p>
                    <a:p>
                      <a:pPr marL="0" indent="0" algn="l" latinLnBrk="1">
                        <a:buFont typeface="Arial" panose="020B0604020202020204" pitchFamily="34" charset="0"/>
                        <a:buNone/>
                      </a:pPr>
                      <a:r>
                        <a:rPr lang="en-US" altLang="ko-KR" sz="800" dirty="0" err="1">
                          <a:latin typeface="+mn-ea"/>
                          <a:ea typeface="+mn-ea"/>
                        </a:rPr>
                        <a:t>peb</a:t>
                      </a:r>
                      <a:r>
                        <a:rPr lang="en-US" altLang="ko-KR" sz="800" dirty="0">
                          <a:latin typeface="+mn-ea"/>
                          <a:ea typeface="+mn-ea"/>
                        </a:rPr>
                        <a:t> : </a:t>
                      </a:r>
                      <a:r>
                        <a:rPr lang="en-US" altLang="ko-KR" sz="800" dirty="0" err="1">
                          <a:latin typeface="+mn-ea"/>
                          <a:ea typeface="+mn-ea"/>
                        </a:rPr>
                        <a:t>bidApplyRegi.jsp</a:t>
                      </a:r>
                      <a:r>
                        <a:rPr lang="en-US" altLang="ko-KR" sz="800" dirty="0">
                          <a:latin typeface="+mn-ea"/>
                          <a:ea typeface="+mn-ea"/>
                        </a:rPr>
                        <a:t>, </a:t>
                      </a:r>
                      <a:r>
                        <a:rPr lang="en-US" altLang="ko-KR" sz="800" dirty="0" err="1">
                          <a:latin typeface="+mn-ea"/>
                          <a:ea typeface="+mn-ea"/>
                        </a:rPr>
                        <a:t>bidApplyMdf.jsp</a:t>
                      </a:r>
                      <a:r>
                        <a:rPr lang="en-US" altLang="ko-KR" sz="800" dirty="0">
                          <a:latin typeface="+mn-ea"/>
                          <a:ea typeface="+mn-ea"/>
                        </a:rPr>
                        <a:t>, </a:t>
                      </a:r>
                      <a:r>
                        <a:rPr lang="en-US" altLang="ko-KR" sz="800" dirty="0" err="1">
                          <a:latin typeface="+mn-ea"/>
                          <a:ea typeface="+mn-ea"/>
                        </a:rPr>
                        <a:t>bidApplyInfo.jsp</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latin typeface="+mn-ea"/>
                          <a:ea typeface="+mn-ea"/>
                        </a:rPr>
                        <a:t>보증금납부방법 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scwin.sbx_</a:t>
                      </a:r>
                      <a:r>
                        <a:rPr lang="en-US" altLang="ko-KR" sz="800" dirty="0" err="1">
                          <a:latin typeface="+mn-ea"/>
                          <a:ea typeface="+mn-ea"/>
                        </a:rPr>
                        <a:t>depsPayMthd</a:t>
                      </a:r>
                      <a:r>
                        <a:rPr lang="en-US" altLang="ko-KR" sz="800" dirty="0" err="1"/>
                        <a:t>_onchange</a:t>
                      </a:r>
                      <a:endParaRPr lang="en-US" altLang="ko-KR" sz="800" dirty="0"/>
                    </a:p>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보증금 면제 선택 시 보증금 지급확약서 </a:t>
                      </a:r>
                      <a:r>
                        <a:rPr lang="ko-KR" altLang="en-US" sz="800" dirty="0" err="1">
                          <a:latin typeface="+mn-ea"/>
                          <a:ea typeface="+mn-ea"/>
                        </a:rPr>
                        <a:t>동의문</a:t>
                      </a:r>
                      <a:r>
                        <a:rPr lang="en-US" altLang="ko-KR" sz="800" dirty="0">
                          <a:latin typeface="+mn-ea"/>
                          <a:ea typeface="+mn-ea"/>
                        </a:rPr>
                        <a:t>(</a:t>
                      </a:r>
                      <a:r>
                        <a:rPr lang="ko-KR" altLang="en-US" sz="800" dirty="0">
                          <a:latin typeface="+mn-ea"/>
                          <a:ea typeface="+mn-ea"/>
                        </a:rPr>
                        <a:t>보증금 </a:t>
                      </a:r>
                      <a:r>
                        <a:rPr lang="ko-KR" altLang="en-US" sz="800" dirty="0" err="1">
                          <a:latin typeface="+mn-ea"/>
                          <a:ea typeface="+mn-ea"/>
                        </a:rPr>
                        <a:t>동의문</a:t>
                      </a:r>
                      <a:r>
                        <a:rPr lang="en-US" altLang="ko-KR" sz="800" dirty="0">
                          <a:latin typeface="+mn-ea"/>
                          <a:ea typeface="+mn-ea"/>
                        </a:rPr>
                        <a:t>) </a:t>
                      </a:r>
                      <a:r>
                        <a:rPr lang="ko-KR" altLang="en-US" sz="800" dirty="0">
                          <a:latin typeface="+mn-ea"/>
                          <a:ea typeface="+mn-ea"/>
                        </a:rPr>
                        <a:t>알림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물품</a:t>
                      </a:r>
                      <a:r>
                        <a:rPr lang="en-US" altLang="ko-KR" sz="800" dirty="0">
                          <a:latin typeface="+mn-ea"/>
                          <a:ea typeface="+mn-ea"/>
                        </a:rPr>
                        <a:t>, </a:t>
                      </a:r>
                      <a:r>
                        <a:rPr lang="ko-KR" altLang="en-US" sz="800" dirty="0">
                          <a:latin typeface="+mn-ea"/>
                          <a:ea typeface="+mn-ea"/>
                        </a:rPr>
                        <a:t>부서부호가 </a:t>
                      </a:r>
                      <a:r>
                        <a:rPr lang="en-US" altLang="ko-KR" sz="800" dirty="0">
                          <a:latin typeface="+mn-ea"/>
                          <a:ea typeface="+mn-ea"/>
                        </a:rPr>
                        <a:t>‘E’ </a:t>
                      </a:r>
                      <a:r>
                        <a:rPr lang="ko-KR" altLang="en-US" sz="800" dirty="0">
                          <a:latin typeface="+mn-ea"/>
                          <a:ea typeface="+mn-ea"/>
                        </a:rPr>
                        <a:t>또는 </a:t>
                      </a:r>
                      <a:r>
                        <a:rPr lang="en-US" altLang="ko-KR" sz="800" dirty="0">
                          <a:latin typeface="+mn-ea"/>
                          <a:ea typeface="+mn-ea"/>
                        </a:rPr>
                        <a:t>‘P’</a:t>
                      </a:r>
                      <a:r>
                        <a:rPr lang="ko-KR" altLang="en-US" sz="800" dirty="0">
                          <a:latin typeface="+mn-ea"/>
                          <a:ea typeface="+mn-ea"/>
                        </a:rPr>
                        <a:t>로 시작하는 경우 </a:t>
                      </a:r>
                      <a:r>
                        <a:rPr lang="en-US" altLang="ko-KR" sz="800" dirty="0">
                          <a:latin typeface="+mn-ea"/>
                          <a:ea typeface="+mn-ea"/>
                        </a:rPr>
                        <a:t>‘</a:t>
                      </a:r>
                      <a:r>
                        <a:rPr lang="ko-KR" altLang="en-US" sz="800" dirty="0">
                          <a:latin typeface="+mn-ea"/>
                          <a:ea typeface="+mn-ea"/>
                        </a:rPr>
                        <a:t>보증금 지급확약서 </a:t>
                      </a:r>
                      <a:r>
                        <a:rPr lang="ko-KR" altLang="en-US" sz="800" dirty="0" err="1">
                          <a:latin typeface="+mn-ea"/>
                          <a:ea typeface="+mn-ea"/>
                        </a:rPr>
                        <a:t>동의문</a:t>
                      </a:r>
                      <a:r>
                        <a:rPr lang="en-US" altLang="ko-KR" sz="800" dirty="0">
                          <a:latin typeface="+mn-ea"/>
                          <a:ea typeface="+mn-ea"/>
                        </a:rPr>
                        <a:t>‘, </a:t>
                      </a:r>
                      <a:r>
                        <a:rPr lang="ko-KR" altLang="en-US" sz="800" dirty="0">
                          <a:latin typeface="+mn-ea"/>
                          <a:ea typeface="+mn-ea"/>
                        </a:rPr>
                        <a:t>그 외의 경우 </a:t>
                      </a:r>
                      <a:r>
                        <a:rPr lang="en-US" altLang="ko-KR" sz="800" dirty="0">
                          <a:latin typeface="+mn-ea"/>
                          <a:ea typeface="+mn-ea"/>
                        </a:rPr>
                        <a:t>‘</a:t>
                      </a:r>
                      <a:r>
                        <a:rPr lang="ko-KR" altLang="en-US" sz="800" dirty="0">
                          <a:latin typeface="+mn-ea"/>
                          <a:ea typeface="+mn-ea"/>
                        </a:rPr>
                        <a:t>보증금 </a:t>
                      </a:r>
                      <a:r>
                        <a:rPr lang="ko-KR" altLang="en-US" sz="800" dirty="0" err="1">
                          <a:latin typeface="+mn-ea"/>
                          <a:ea typeface="+mn-ea"/>
                        </a:rPr>
                        <a:t>동의문</a:t>
                      </a:r>
                      <a:r>
                        <a:rPr lang="en-US" altLang="ko-KR" sz="800" dirty="0">
                          <a:latin typeface="+mn-ea"/>
                          <a:ea typeface="+mn-ea"/>
                        </a:rPr>
                        <a:t>‘</a:t>
                      </a:r>
                      <a:r>
                        <a:rPr lang="ko-KR" altLang="en-US" sz="800" dirty="0">
                          <a:latin typeface="+mn-ea"/>
                          <a:ea typeface="+mn-ea"/>
                        </a:rPr>
                        <a:t> 알림</a:t>
                      </a:r>
                      <a:endParaRPr lang="en-US" altLang="ko-KR" sz="800" dirty="0">
                        <a:latin typeface="+mn-ea"/>
                        <a:ea typeface="+mn-ea"/>
                      </a:endParaRPr>
                    </a:p>
                    <a:p>
                      <a:pPr marL="0" indent="0" algn="l" latinLnBrk="1">
                        <a:buFont typeface="Arial" panose="020B0604020202020204" pitchFamily="34" charset="0"/>
                        <a:buNone/>
                      </a:pPr>
                      <a:r>
                        <a:rPr lang="ko-KR" altLang="en-US" sz="800" dirty="0">
                          <a:latin typeface="+mn-ea"/>
                          <a:ea typeface="+mn-ea"/>
                        </a:rPr>
                        <a:t>공사인 경우 </a:t>
                      </a:r>
                      <a:r>
                        <a:rPr lang="en-US" altLang="ko-KR" sz="800" dirty="0">
                          <a:latin typeface="+mn-ea"/>
                          <a:ea typeface="+mn-ea"/>
                        </a:rPr>
                        <a:t>‘</a:t>
                      </a:r>
                      <a:r>
                        <a:rPr lang="ko-KR" altLang="en-US" sz="800" dirty="0">
                          <a:latin typeface="+mn-ea"/>
                          <a:ea typeface="+mn-ea"/>
                        </a:rPr>
                        <a:t>보증금 </a:t>
                      </a:r>
                      <a:r>
                        <a:rPr lang="ko-KR" altLang="en-US" sz="800" dirty="0" err="1">
                          <a:latin typeface="+mn-ea"/>
                          <a:ea typeface="+mn-ea"/>
                        </a:rPr>
                        <a:t>동의문</a:t>
                      </a:r>
                      <a:r>
                        <a:rPr lang="en-US" altLang="ko-KR" sz="800" dirty="0">
                          <a:latin typeface="+mn-ea"/>
                          <a:ea typeface="+mn-ea"/>
                        </a:rPr>
                        <a:t>‘</a:t>
                      </a:r>
                      <a:r>
                        <a:rPr lang="ko-KR" altLang="en-US" sz="800" dirty="0">
                          <a:latin typeface="+mn-ea"/>
                          <a:ea typeface="+mn-ea"/>
                        </a:rPr>
                        <a:t> 알림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7005836"/>
                  </a:ext>
                </a:extLst>
              </a:tr>
              <a:tr h="0">
                <a:tc>
                  <a:txBody>
                    <a:bodyPr/>
                    <a:lstStyle/>
                    <a:p>
                      <a:r>
                        <a:rPr lang="ko-KR" altLang="en-US" sz="800" dirty="0">
                          <a:latin typeface="+mn-ea"/>
                          <a:ea typeface="+mn-ea"/>
                        </a:rPr>
                        <a:t>면제여부상세설명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scwin.btn_depsExmptnRsnDtlExpls_onclick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kern="1200" dirty="0" err="1">
                          <a:solidFill>
                            <a:schemeClr val="tx1"/>
                          </a:solidFill>
                          <a:latin typeface="+mn-ea"/>
                          <a:ea typeface="+mn-ea"/>
                          <a:cs typeface="+mn-cs"/>
                        </a:rPr>
                        <a:t>보증금면제사유상세설명</a:t>
                      </a:r>
                      <a:r>
                        <a:rPr lang="ko-KR" altLang="en-US" sz="800" dirty="0">
                          <a:latin typeface="+mn-ea"/>
                          <a:ea typeface="+mn-ea"/>
                        </a:rPr>
                        <a:t>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ea"/>
                          <a:ea typeface="+mn-ea"/>
                          <a:cs typeface="+mn-cs"/>
                        </a:rPr>
                        <a:t>(UI-BD-04-P03) </a:t>
                      </a:r>
                      <a:r>
                        <a:rPr lang="ko-KR" altLang="en-US" sz="800" b="0" i="0" kern="1200" dirty="0">
                          <a:solidFill>
                            <a:schemeClr val="tx1"/>
                          </a:solidFill>
                          <a:effectLst/>
                          <a:latin typeface="+mn-ea"/>
                          <a:ea typeface="+mn-ea"/>
                          <a:cs typeface="+mn-cs"/>
                        </a:rPr>
                        <a:t>보증금면제사유상세설명</a:t>
                      </a:r>
                      <a:endParaRPr lang="ko-KR" altLang="ko-KR" sz="800" dirty="0">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01782484"/>
                  </a:ext>
                </a:extLst>
              </a:tr>
              <a:tr h="0">
                <a:tc>
                  <a:txBody>
                    <a:bodyPr/>
                    <a:lstStyle/>
                    <a:p>
                      <a:r>
                        <a:rPr lang="ko-KR" altLang="en-US" sz="800" dirty="0">
                          <a:latin typeface="+mn-ea"/>
                          <a:ea typeface="+mn-ea"/>
                        </a:rPr>
                        <a:t>신청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scwin.btn_bidPrtcpAply_onclick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입찰참가신청서 저장 또는 수정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중복 신청 확인</a:t>
                      </a:r>
                      <a:endParaRPr lang="en-US" altLang="ko-KR" sz="800" dirty="0">
                        <a:latin typeface="+mn-ea"/>
                        <a:ea typeface="+mn-ea"/>
                      </a:endParaRPr>
                    </a:p>
                    <a:p>
                      <a:pPr marL="0" indent="0" algn="l" latinLnBrk="1">
                        <a:buFont typeface="Arial" panose="020B0604020202020204" pitchFamily="34" charset="0"/>
                        <a:buNone/>
                      </a:pPr>
                      <a:r>
                        <a:rPr lang="ko-KR" altLang="en-US" sz="750" dirty="0">
                          <a:latin typeface="+mn-ea"/>
                          <a:ea typeface="+mn-ea"/>
                        </a:rPr>
                        <a:t>입찰참가신청 완료 후 입찰등록심사 시점이 사후등록심사인 경우 알림</a:t>
                      </a:r>
                      <a:r>
                        <a:rPr lang="en-US" altLang="ko-KR" sz="750" dirty="0">
                          <a:latin typeface="+mn-ea"/>
                          <a:ea typeface="+mn-ea"/>
                        </a:rPr>
                        <a:t>(alert)</a:t>
                      </a:r>
                    </a:p>
                    <a:p>
                      <a:pPr marL="0" indent="0" algn="l" latinLnBrk="1">
                        <a:buFont typeface="Arial" panose="020B0604020202020204" pitchFamily="34" charset="0"/>
                        <a:buNone/>
                      </a:pPr>
                      <a:r>
                        <a:rPr lang="en-US" altLang="ko-KR" sz="800" dirty="0">
                          <a:latin typeface="+mn-ea"/>
                          <a:ea typeface="+mn-ea"/>
                        </a:rPr>
                        <a:t>  - </a:t>
                      </a:r>
                      <a:r>
                        <a:rPr lang="ko-KR" altLang="en-US" sz="800" dirty="0">
                          <a:latin typeface="+mn-ea"/>
                          <a:ea typeface="+mn-ea"/>
                        </a:rPr>
                        <a:t>입찰서제출 시점</a:t>
                      </a:r>
                      <a:r>
                        <a:rPr lang="en-US" altLang="ko-KR" sz="800" dirty="0">
                          <a:latin typeface="+mn-ea"/>
                          <a:ea typeface="+mn-ea"/>
                        </a:rPr>
                        <a:t>(TBEPBA11.APPL_INSP)</a:t>
                      </a:r>
                    </a:p>
                    <a:p>
                      <a:pPr marL="0" indent="0" algn="l" latinLnBrk="1">
                        <a:buFont typeface="Arial" panose="020B0604020202020204" pitchFamily="34" charset="0"/>
                        <a:buNone/>
                      </a:pPr>
                      <a:r>
                        <a:rPr lang="en-US" altLang="ko-KR" sz="800" dirty="0">
                          <a:latin typeface="+mn-ea"/>
                          <a:ea typeface="+mn-ea"/>
                        </a:rPr>
                        <a:t>    - Y : </a:t>
                      </a:r>
                      <a:r>
                        <a:rPr lang="ko-KR" altLang="en-US" sz="800" dirty="0">
                          <a:latin typeface="+mn-ea"/>
                          <a:ea typeface="+mn-ea"/>
                        </a:rPr>
                        <a:t>입찰참가신청</a:t>
                      </a:r>
                      <a:r>
                        <a:rPr lang="en-US" altLang="ko-KR" sz="800" dirty="0">
                          <a:latin typeface="+mn-ea"/>
                          <a:ea typeface="+mn-ea"/>
                        </a:rPr>
                        <a:t>, </a:t>
                      </a:r>
                      <a:r>
                        <a:rPr lang="ko-KR" altLang="en-US" sz="800" dirty="0">
                          <a:latin typeface="+mn-ea"/>
                          <a:ea typeface="+mn-ea"/>
                        </a:rPr>
                        <a:t>입찰서제출</a:t>
                      </a:r>
                      <a:r>
                        <a:rPr lang="en-US" altLang="ko-KR" sz="800" dirty="0">
                          <a:latin typeface="+mn-ea"/>
                          <a:ea typeface="+mn-ea"/>
                        </a:rPr>
                        <a:t> </a:t>
                      </a:r>
                      <a:r>
                        <a:rPr lang="ko-KR" altLang="en-US" sz="800" dirty="0">
                          <a:latin typeface="+mn-ea"/>
                          <a:ea typeface="+mn-ea"/>
                        </a:rPr>
                        <a:t>후</a:t>
                      </a:r>
                      <a:r>
                        <a:rPr lang="en-US" altLang="ko-KR" sz="800" dirty="0">
                          <a:latin typeface="+mn-ea"/>
                          <a:ea typeface="+mn-ea"/>
                        </a:rPr>
                        <a:t> </a:t>
                      </a:r>
                      <a:r>
                        <a:rPr lang="ko-KR" altLang="en-US" sz="800" dirty="0">
                          <a:latin typeface="+mn-ea"/>
                          <a:ea typeface="+mn-ea"/>
                        </a:rPr>
                        <a:t>입찰등록심사</a:t>
                      </a:r>
                      <a:r>
                        <a:rPr lang="en-US" altLang="ko-KR" sz="800" dirty="0">
                          <a:latin typeface="+mn-ea"/>
                          <a:ea typeface="+mn-ea"/>
                        </a:rPr>
                        <a:t>(</a:t>
                      </a:r>
                      <a:r>
                        <a:rPr lang="ko-KR" altLang="en-US" sz="800" dirty="0">
                          <a:latin typeface="+mn-ea"/>
                          <a:ea typeface="+mn-ea"/>
                        </a:rPr>
                        <a:t>사후등록심사</a:t>
                      </a:r>
                      <a:r>
                        <a:rPr lang="en-US" altLang="ko-KR" sz="800" dirty="0">
                          <a:latin typeface="+mn-ea"/>
                          <a:ea typeface="+mn-ea"/>
                        </a:rPr>
                        <a:t>)</a:t>
                      </a:r>
                    </a:p>
                    <a:p>
                      <a:pPr marL="0" indent="0" algn="l" latinLnBrk="1">
                        <a:buFont typeface="Arial" panose="020B0604020202020204" pitchFamily="34" charset="0"/>
                        <a:buNone/>
                      </a:pPr>
                      <a:r>
                        <a:rPr lang="en-US" altLang="ko-KR" sz="800" dirty="0">
                          <a:latin typeface="+mn-ea"/>
                          <a:ea typeface="+mn-ea"/>
                        </a:rPr>
                        <a:t>    - </a:t>
                      </a:r>
                      <a:r>
                        <a:rPr lang="en-US" altLang="ko-KR" sz="750" dirty="0">
                          <a:latin typeface="+mn-ea"/>
                          <a:ea typeface="+mn-ea"/>
                        </a:rPr>
                        <a:t>N : </a:t>
                      </a:r>
                      <a:r>
                        <a:rPr lang="ko-KR" altLang="en-US" sz="750" dirty="0">
                          <a:latin typeface="+mn-ea"/>
                          <a:ea typeface="+mn-ea"/>
                        </a:rPr>
                        <a:t>입찰참가신청</a:t>
                      </a:r>
                      <a:r>
                        <a:rPr lang="en-US" altLang="ko-KR" sz="750" dirty="0">
                          <a:latin typeface="+mn-ea"/>
                          <a:ea typeface="+mn-ea"/>
                        </a:rPr>
                        <a:t>, </a:t>
                      </a:r>
                      <a:r>
                        <a:rPr lang="ko-KR" altLang="en-US" sz="750" dirty="0">
                          <a:latin typeface="+mn-ea"/>
                          <a:ea typeface="+mn-ea"/>
                        </a:rPr>
                        <a:t>입찰등록심사 등록확정 후 입찰서 제출</a:t>
                      </a:r>
                      <a:r>
                        <a:rPr lang="en-US" altLang="ko-KR" sz="750" dirty="0">
                          <a:latin typeface="+mn-ea"/>
                          <a:ea typeface="+mn-ea"/>
                        </a:rPr>
                        <a:t>(</a:t>
                      </a:r>
                      <a:r>
                        <a:rPr lang="ko-KR" altLang="en-US" sz="750" dirty="0">
                          <a:latin typeface="+mn-ea"/>
                          <a:ea typeface="+mn-ea"/>
                        </a:rPr>
                        <a:t>사전등록심사</a:t>
                      </a:r>
                      <a:r>
                        <a:rPr lang="en-US" altLang="ko-KR" sz="75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8272934"/>
                  </a:ext>
                </a:extLst>
              </a:tr>
              <a:tr h="0">
                <a:tc>
                  <a:txBody>
                    <a:bodyPr/>
                    <a:lstStyle/>
                    <a:p>
                      <a:r>
                        <a:rPr lang="ko-KR" altLang="en-US" sz="800" dirty="0">
                          <a:latin typeface="+mn-ea"/>
                          <a:ea typeface="+mn-ea"/>
                        </a:rPr>
                        <a:t>협정서제출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scwin.btn_jtngpSbmsn_onclick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모든 구성업체 동의 후 대표업체가 협정서제출</a:t>
                      </a:r>
                      <a:r>
                        <a:rPr lang="en-US" altLang="ko-KR" sz="800" dirty="0">
                          <a:latin typeface="+mn-ea"/>
                          <a:ea typeface="+mn-ea"/>
                        </a:rPr>
                        <a:t>(</a:t>
                      </a:r>
                      <a:r>
                        <a:rPr lang="ko-KR" altLang="en-US" sz="800" dirty="0">
                          <a:latin typeface="+mn-ea"/>
                          <a:ea typeface="+mn-ea"/>
                        </a:rPr>
                        <a:t>입찰참가신청 완료</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71187369"/>
                  </a:ext>
                </a:extLst>
              </a:tr>
              <a:tr h="0">
                <a:tc>
                  <a:txBody>
                    <a:bodyPr/>
                    <a:lstStyle/>
                    <a:p>
                      <a:r>
                        <a:rPr lang="ko-KR" altLang="en-US" sz="800" dirty="0" err="1">
                          <a:latin typeface="+mn-ea"/>
                          <a:ea typeface="+mn-ea"/>
                        </a:rPr>
                        <a:t>등록반려</a:t>
                      </a:r>
                      <a:r>
                        <a:rPr lang="ko-KR" altLang="en-US" sz="800" dirty="0">
                          <a:latin typeface="+mn-ea"/>
                          <a:ea typeface="+mn-ea"/>
                        </a:rPr>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scwin.btn_bidPrtcpRegRjctAply_onclick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입찰참가등록반려</a:t>
                      </a:r>
                      <a:r>
                        <a:rPr lang="ko-KR" altLang="en-US" sz="800" dirty="0">
                          <a:latin typeface="+mn-ea"/>
                          <a:ea typeface="+mn-ea"/>
                        </a:rPr>
                        <a:t>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입찰등록심사 전 가능</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ea"/>
                          <a:ea typeface="+mn-ea"/>
                          <a:cs typeface="+mn-cs"/>
                        </a:rPr>
                        <a:t>(UI-BD-04-P04) </a:t>
                      </a:r>
                      <a:r>
                        <a:rPr lang="ko-KR" altLang="en-US" sz="800" b="0" i="0" kern="1200" dirty="0">
                          <a:solidFill>
                            <a:schemeClr val="tx1"/>
                          </a:solidFill>
                          <a:effectLst/>
                          <a:latin typeface="+mn-ea"/>
                          <a:ea typeface="+mn-ea"/>
                          <a:cs typeface="+mn-cs"/>
                        </a:rPr>
                        <a:t>입찰참가등록반려</a:t>
                      </a:r>
                      <a:endParaRPr lang="ko-KR" altLang="ko-KR" sz="800" dirty="0">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1084790"/>
                  </a:ext>
                </a:extLst>
              </a:tr>
              <a:tr h="0">
                <a:tc>
                  <a:txBody>
                    <a:bodyPr/>
                    <a:lstStyle/>
                    <a:p>
                      <a:r>
                        <a:rPr lang="ko-KR" altLang="en-US" sz="800" dirty="0">
                          <a:latin typeface="+mn-ea"/>
                          <a:ea typeface="+mn-ea"/>
                        </a:rPr>
                        <a:t>반려신청조회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scwin.btn_bidPrtcpRegRjctInc_onclick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입찰참가등록반려</a:t>
                      </a:r>
                      <a:r>
                        <a:rPr lang="ko-KR" altLang="en-US" sz="800" dirty="0">
                          <a:latin typeface="+mn-ea"/>
                          <a:ea typeface="+mn-ea"/>
                        </a:rPr>
                        <a:t>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입찰참가등록반려 신청 후 버튼 보이기</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ea"/>
                          <a:ea typeface="+mn-ea"/>
                          <a:cs typeface="+mn-cs"/>
                        </a:rPr>
                        <a:t>(UI-BD-04-P04) </a:t>
                      </a:r>
                      <a:r>
                        <a:rPr lang="ko-KR" altLang="en-US" sz="800" b="0" i="0" kern="1200" dirty="0">
                          <a:solidFill>
                            <a:schemeClr val="tx1"/>
                          </a:solidFill>
                          <a:effectLst/>
                          <a:latin typeface="+mn-ea"/>
                          <a:ea typeface="+mn-ea"/>
                          <a:cs typeface="+mn-cs"/>
                        </a:rPr>
                        <a:t>입찰참가등록반려</a:t>
                      </a:r>
                      <a:endParaRPr lang="ko-KR" altLang="ko-KR" sz="800" dirty="0">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015457"/>
                  </a:ext>
                </a:extLst>
              </a:tr>
              <a:tr h="0">
                <a:tc>
                  <a:txBody>
                    <a:bodyPr/>
                    <a:lstStyle/>
                    <a:p>
                      <a:r>
                        <a:rPr lang="ko-KR" altLang="en-US" sz="800" dirty="0">
                          <a:latin typeface="+mn-ea"/>
                          <a:ea typeface="+mn-ea"/>
                        </a:rPr>
                        <a:t>공동수급동의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scwin.btn_jtngpAgre_onclick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해당 입찰공고에 구성업체로 협정 맺은 경우 버튼이 보이고</a:t>
                      </a:r>
                      <a:r>
                        <a:rPr lang="en-US" altLang="ko-KR" sz="800" dirty="0">
                          <a:latin typeface="+mn-ea"/>
                          <a:ea typeface="+mn-ea"/>
                        </a:rPr>
                        <a:t>, </a:t>
                      </a:r>
                      <a:r>
                        <a:rPr lang="ko-KR" altLang="en-US" sz="800" dirty="0">
                          <a:latin typeface="+mn-ea"/>
                          <a:ea typeface="+mn-ea"/>
                        </a:rPr>
                        <a:t>협정에 동의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7603420"/>
                  </a:ext>
                </a:extLst>
              </a:tr>
              <a:tr h="0">
                <a:tc>
                  <a:txBody>
                    <a:bodyPr/>
                    <a:lstStyle/>
                    <a:p>
                      <a:r>
                        <a:rPr lang="ko-KR" altLang="en-US" sz="800" dirty="0">
                          <a:latin typeface="+mn-ea"/>
                          <a:ea typeface="+mn-ea"/>
                        </a:rPr>
                        <a:t>동의거부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scwin.btn_jtngpDsag_onclick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해당 입찰공고에 구성업체로 협정 맺은 경우 버튼이 보이고</a:t>
                      </a:r>
                      <a:r>
                        <a:rPr lang="en-US" altLang="ko-KR" sz="800" dirty="0">
                          <a:latin typeface="+mn-ea"/>
                          <a:ea typeface="+mn-ea"/>
                        </a:rPr>
                        <a:t>, </a:t>
                      </a:r>
                      <a:r>
                        <a:rPr lang="ko-KR" altLang="en-US" sz="800" dirty="0">
                          <a:latin typeface="+mn-ea"/>
                          <a:ea typeface="+mn-ea"/>
                        </a:rPr>
                        <a:t>협정 거부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49702224"/>
                  </a:ext>
                </a:extLst>
              </a:tr>
              <a:tr h="0">
                <a:tc>
                  <a:txBody>
                    <a:bodyPr/>
                    <a:lstStyle/>
                    <a:p>
                      <a:r>
                        <a:rPr lang="ko-KR" altLang="en-US" sz="800" dirty="0" err="1">
                          <a:latin typeface="+mn-ea"/>
                          <a:ea typeface="+mn-ea"/>
                        </a:rPr>
                        <a:t>공동수급협정서출력</a:t>
                      </a:r>
                      <a:r>
                        <a:rPr lang="ko-KR" altLang="en-US" sz="800" dirty="0">
                          <a:latin typeface="+mn-ea"/>
                          <a:ea typeface="+mn-ea"/>
                        </a:rPr>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scwin.btn_jtngpReport_onclick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공동수급협정서 출력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811346"/>
                  </a:ext>
                </a:extLst>
              </a:tr>
            </a:tbl>
          </a:graphicData>
        </a:graphic>
      </p:graphicFrame>
      <p:sp>
        <p:nvSpPr>
          <p:cNvPr id="8" name="Text Box 73">
            <a:extLst>
              <a:ext uri="{FF2B5EF4-FFF2-40B4-BE49-F238E27FC236}">
                <a16:creationId xmlns:a16="http://schemas.microsoft.com/office/drawing/2014/main" id="{1E80178B-A725-CAFD-DD9D-52D30EE7E405}"/>
              </a:ext>
            </a:extLst>
          </p:cNvPr>
          <p:cNvSpPr txBox="1">
            <a:spLocks noChangeArrowheads="1"/>
          </p:cNvSpPr>
          <p:nvPr/>
        </p:nvSpPr>
        <p:spPr bwMode="auto">
          <a:xfrm>
            <a:off x="7769866" y="756308"/>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2349046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119</a:t>
            </a:fld>
            <a:endParaRPr lang="ko-KR" altLang="en-US" dirty="0"/>
          </a:p>
        </p:txBody>
      </p:sp>
      <p:sp>
        <p:nvSpPr>
          <p:cNvPr id="6" name="TextBox 5">
            <a:extLst>
              <a:ext uri="{FF2B5EF4-FFF2-40B4-BE49-F238E27FC236}">
                <a16:creationId xmlns:a16="http://schemas.microsoft.com/office/drawing/2014/main" id="{9F3F3328-0E21-2B50-B957-D9B40649B859}"/>
              </a:ext>
            </a:extLst>
          </p:cNvPr>
          <p:cNvSpPr txBox="1"/>
          <p:nvPr/>
        </p:nvSpPr>
        <p:spPr>
          <a:xfrm>
            <a:off x="458117" y="689193"/>
            <a:ext cx="1252513"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r>
              <a:rPr lang="en-US" altLang="ko-KR" sz="1000" b="1" dirty="0">
                <a:solidFill>
                  <a:prstClr val="black"/>
                </a:solidFill>
                <a:latin typeface="+mn-ea"/>
              </a:rPr>
              <a:t> (2/2)</a:t>
            </a:r>
            <a:endParaRPr lang="ko-KR" altLang="en-US" sz="1000" b="1" dirty="0">
              <a:solidFill>
                <a:prstClr val="black"/>
              </a:solidFill>
              <a:latin typeface="+mn-ea"/>
            </a:endParaRPr>
          </a:p>
        </p:txBody>
      </p:sp>
      <p:graphicFrame>
        <p:nvGraphicFramePr>
          <p:cNvPr id="7" name="표 6">
            <a:extLst>
              <a:ext uri="{FF2B5EF4-FFF2-40B4-BE49-F238E27FC236}">
                <a16:creationId xmlns:a16="http://schemas.microsoft.com/office/drawing/2014/main" id="{B0DB02E6-4804-7B4E-E539-112783DC5994}"/>
              </a:ext>
            </a:extLst>
          </p:cNvPr>
          <p:cNvGraphicFramePr>
            <a:graphicFrameLocks noGrp="1"/>
          </p:cNvGraphicFramePr>
          <p:nvPr/>
        </p:nvGraphicFramePr>
        <p:xfrm>
          <a:off x="453000" y="967324"/>
          <a:ext cx="8995591" cy="14275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r>
                        <a:rPr lang="ko-KR" altLang="en-US" sz="800" dirty="0">
                          <a:latin typeface="+mn-ea"/>
                          <a:ea typeface="+mn-ea"/>
                        </a:rPr>
                        <a:t>동의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scwin.btn_arge_onclick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보증금 지급 확약서 </a:t>
                      </a:r>
                      <a:r>
                        <a:rPr lang="ko-KR" altLang="en-US" sz="800" dirty="0" err="1">
                          <a:latin typeface="+mn-ea"/>
                          <a:ea typeface="+mn-ea"/>
                        </a:rPr>
                        <a:t>동의문</a:t>
                      </a:r>
                      <a:r>
                        <a:rPr lang="ko-KR" altLang="en-US" sz="800" dirty="0">
                          <a:latin typeface="+mn-ea"/>
                          <a:ea typeface="+mn-ea"/>
                        </a:rPr>
                        <a:t> 동의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공통 </a:t>
                      </a:r>
                      <a:r>
                        <a:rPr lang="en-US" altLang="ko-KR" sz="800" dirty="0">
                          <a:latin typeface="+mn-ea"/>
                          <a:ea typeface="+mn-ea"/>
                        </a:rPr>
                        <a:t>- </a:t>
                      </a:r>
                      <a:r>
                        <a:rPr lang="ko-KR" altLang="en-US" sz="800" dirty="0">
                          <a:latin typeface="+mn-ea"/>
                          <a:ea typeface="+mn-ea"/>
                        </a:rPr>
                        <a:t>입찰보증금 지급확약서 보이기</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latin typeface="+mn-ea"/>
                          <a:ea typeface="+mn-ea"/>
                        </a:rPr>
                        <a:t>물품이고 부서부호가 </a:t>
                      </a:r>
                      <a:r>
                        <a:rPr lang="en-US" altLang="ko-KR" sz="800" dirty="0">
                          <a:latin typeface="+mn-ea"/>
                          <a:ea typeface="+mn-ea"/>
                        </a:rPr>
                        <a:t>‘E’</a:t>
                      </a:r>
                      <a:r>
                        <a:rPr lang="ko-KR" altLang="en-US" sz="800" dirty="0">
                          <a:latin typeface="+mn-ea"/>
                          <a:ea typeface="+mn-ea"/>
                        </a:rPr>
                        <a:t>또는 </a:t>
                      </a:r>
                      <a:r>
                        <a:rPr lang="en-US" altLang="ko-KR" sz="800" dirty="0">
                          <a:latin typeface="+mn-ea"/>
                          <a:ea typeface="+mn-ea"/>
                        </a:rPr>
                        <a:t>‘P’</a:t>
                      </a:r>
                      <a:r>
                        <a:rPr lang="ko-KR" altLang="en-US" sz="800" dirty="0">
                          <a:latin typeface="+mn-ea"/>
                          <a:ea typeface="+mn-ea"/>
                        </a:rPr>
                        <a:t>인 경우</a:t>
                      </a:r>
                      <a:r>
                        <a:rPr lang="en-US" altLang="ko-KR" sz="800" dirty="0">
                          <a:latin typeface="+mn-ea"/>
                          <a:ea typeface="+mn-ea"/>
                        </a:rPr>
                        <a:t> </a:t>
                      </a:r>
                      <a:r>
                        <a:rPr lang="ko-KR" altLang="en-US" sz="800" dirty="0">
                          <a:latin typeface="+mn-ea"/>
                          <a:ea typeface="+mn-ea"/>
                        </a:rPr>
                        <a:t>경고 영역</a:t>
                      </a:r>
                      <a:r>
                        <a:rPr lang="en-US" altLang="ko-KR" sz="800" dirty="0">
                          <a:latin typeface="+mn-ea"/>
                          <a:ea typeface="+mn-ea"/>
                        </a:rPr>
                        <a:t> </a:t>
                      </a:r>
                      <a:r>
                        <a:rPr lang="ko-KR" altLang="en-US" sz="800" dirty="0">
                          <a:latin typeface="+mn-ea"/>
                          <a:ea typeface="+mn-ea"/>
                        </a:rPr>
                        <a:t>보이기</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  - </a:t>
                      </a:r>
                      <a:r>
                        <a:rPr lang="ko-KR" altLang="en-US" sz="800" dirty="0">
                          <a:latin typeface="+mn-ea"/>
                          <a:ea typeface="+mn-ea"/>
                        </a:rPr>
                        <a:t>타이틀 </a:t>
                      </a:r>
                      <a:r>
                        <a:rPr lang="en-US" altLang="ko-KR" sz="800" dirty="0">
                          <a:latin typeface="+mn-ea"/>
                          <a:ea typeface="+mn-ea"/>
                        </a:rPr>
                        <a:t>: </a:t>
                      </a:r>
                      <a:r>
                        <a:rPr lang="ko-KR" altLang="en-US" sz="800" dirty="0">
                          <a:latin typeface="+mn-ea"/>
                          <a:ea typeface="+mn-ea"/>
                        </a:rPr>
                        <a:t>보증금 지급확약서 </a:t>
                      </a:r>
                      <a:r>
                        <a:rPr lang="ko-KR" altLang="en-US" sz="800" dirty="0" err="1">
                          <a:latin typeface="+mn-ea"/>
                          <a:ea typeface="+mn-ea"/>
                        </a:rPr>
                        <a:t>동의문</a:t>
                      </a:r>
                      <a:endParaRPr lang="en-US" altLang="ko-KR" sz="800" dirty="0">
                        <a:latin typeface="+mn-ea"/>
                        <a:ea typeface="+mn-ea"/>
                      </a:endParaRPr>
                    </a:p>
                    <a:p>
                      <a:pPr marL="0" indent="0" algn="l" latinLnBrk="1">
                        <a:buFont typeface="Arial" panose="020B0604020202020204" pitchFamily="34" charset="0"/>
                        <a:buNone/>
                      </a:pPr>
                      <a:r>
                        <a:rPr lang="ko-KR" altLang="en-US" sz="750" dirty="0">
                          <a:latin typeface="+mn-ea"/>
                          <a:ea typeface="+mn-ea"/>
                        </a:rPr>
                        <a:t>물품이고 부서부호가 그 외인 경우 입찰보증금 면제사유 확약서 영역 보이기</a:t>
                      </a:r>
                      <a:endParaRPr lang="en-US" altLang="ko-KR" sz="750" dirty="0">
                        <a:latin typeface="+mn-ea"/>
                        <a:ea typeface="+mn-ea"/>
                      </a:endParaRPr>
                    </a:p>
                    <a:p>
                      <a:pPr marL="0" indent="0" algn="l" latinLnBrk="1">
                        <a:buFont typeface="Arial" panose="020B0604020202020204" pitchFamily="34" charset="0"/>
                        <a:buNone/>
                      </a:pPr>
                      <a:r>
                        <a:rPr lang="en-US" altLang="ko-KR" sz="800" dirty="0">
                          <a:latin typeface="+mn-ea"/>
                          <a:ea typeface="+mn-ea"/>
                        </a:rPr>
                        <a:t>  - </a:t>
                      </a:r>
                      <a:r>
                        <a:rPr lang="ko-KR" altLang="en-US" sz="800" dirty="0">
                          <a:latin typeface="+mn-ea"/>
                          <a:ea typeface="+mn-ea"/>
                        </a:rPr>
                        <a:t>타이틀 </a:t>
                      </a:r>
                      <a:r>
                        <a:rPr lang="en-US" altLang="ko-KR" sz="800" dirty="0">
                          <a:latin typeface="+mn-ea"/>
                          <a:ea typeface="+mn-ea"/>
                        </a:rPr>
                        <a:t>: </a:t>
                      </a:r>
                      <a:r>
                        <a:rPr lang="ko-KR" altLang="en-US" sz="800" dirty="0">
                          <a:latin typeface="+mn-ea"/>
                          <a:ea typeface="+mn-ea"/>
                        </a:rPr>
                        <a:t>보증금 </a:t>
                      </a:r>
                      <a:r>
                        <a:rPr lang="ko-KR" altLang="en-US" sz="800" dirty="0" err="1">
                          <a:latin typeface="+mn-ea"/>
                          <a:ea typeface="+mn-ea"/>
                        </a:rPr>
                        <a:t>동의문</a:t>
                      </a:r>
                      <a:endParaRPr lang="en-US" altLang="ko-KR" sz="800" dirty="0">
                        <a:latin typeface="+mn-ea"/>
                        <a:ea typeface="+mn-ea"/>
                      </a:endParaRPr>
                    </a:p>
                    <a:p>
                      <a:pPr marL="0" indent="0" algn="l" latinLnBrk="1">
                        <a:buFont typeface="Arial" panose="020B0604020202020204" pitchFamily="34" charset="0"/>
                        <a:buNone/>
                      </a:pPr>
                      <a:r>
                        <a:rPr lang="ko-KR" altLang="en-US" sz="800" dirty="0">
                          <a:latin typeface="+mn-ea"/>
                          <a:ea typeface="+mn-ea"/>
                        </a:rPr>
                        <a:t>공사인 경우 입찰보증금 면제사유 확약서 영역 보이기</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  - </a:t>
                      </a:r>
                      <a:r>
                        <a:rPr lang="ko-KR" altLang="en-US" sz="800" dirty="0">
                          <a:latin typeface="+mn-ea"/>
                          <a:ea typeface="+mn-ea"/>
                        </a:rPr>
                        <a:t>타이틀 </a:t>
                      </a:r>
                      <a:r>
                        <a:rPr lang="en-US" altLang="ko-KR" sz="800" dirty="0">
                          <a:latin typeface="+mn-ea"/>
                          <a:ea typeface="+mn-ea"/>
                        </a:rPr>
                        <a:t>: </a:t>
                      </a:r>
                      <a:r>
                        <a:rPr lang="ko-KR" altLang="en-US" sz="800" dirty="0">
                          <a:latin typeface="+mn-ea"/>
                          <a:ea typeface="+mn-ea"/>
                        </a:rPr>
                        <a:t>보증금 </a:t>
                      </a:r>
                      <a:r>
                        <a:rPr lang="ko-KR" altLang="en-US" sz="800" dirty="0" err="1">
                          <a:latin typeface="+mn-ea"/>
                          <a:ea typeface="+mn-ea"/>
                        </a:rPr>
                        <a:t>동의문</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latin typeface="+mn-ea"/>
                          <a:ea typeface="+mn-ea"/>
                        </a:rPr>
                        <a:t>닫기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보증금 지급 확약서 동의문 닫기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7005836"/>
                  </a:ext>
                </a:extLst>
              </a:tr>
            </a:tbl>
          </a:graphicData>
        </a:graphic>
      </p:graphicFrame>
      <p:sp>
        <p:nvSpPr>
          <p:cNvPr id="8" name="Text Box 73">
            <a:extLst>
              <a:ext uri="{FF2B5EF4-FFF2-40B4-BE49-F238E27FC236}">
                <a16:creationId xmlns:a16="http://schemas.microsoft.com/office/drawing/2014/main" id="{1E80178B-A725-CAFD-DD9D-52D30EE7E405}"/>
              </a:ext>
            </a:extLst>
          </p:cNvPr>
          <p:cNvSpPr txBox="1">
            <a:spLocks noChangeArrowheads="1"/>
          </p:cNvSpPr>
          <p:nvPr/>
        </p:nvSpPr>
        <p:spPr bwMode="auto">
          <a:xfrm>
            <a:off x="7769866" y="756308"/>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0384081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공지사항이 있는 경우 표시</a:t>
            </a:r>
            <a:endParaRPr lang="en-US" altLang="ko-KR" dirty="0"/>
          </a:p>
          <a:p>
            <a:pPr marL="228600" indent="-228600">
              <a:buFont typeface="+mj-lt"/>
              <a:buAutoNum type="arabicPeriod"/>
            </a:pPr>
            <a:r>
              <a:rPr lang="ko-KR" altLang="en-US" dirty="0"/>
              <a:t>업무 도움 표시</a:t>
            </a:r>
            <a:endParaRPr lang="en-US" altLang="ko-KR" dirty="0"/>
          </a:p>
          <a:p>
            <a:pPr marL="228600" indent="-228600">
              <a:buFont typeface="+mj-lt"/>
              <a:buAutoNum type="arabicPeriod"/>
            </a:pPr>
            <a:r>
              <a:rPr lang="ko-KR" altLang="en-US" dirty="0"/>
              <a:t>신청서 작성 내역 탭</a:t>
            </a:r>
            <a:r>
              <a:rPr lang="en-US" altLang="ko-KR" dirty="0"/>
              <a:t/>
            </a:r>
            <a:br>
              <a:rPr lang="en-US" altLang="ko-KR" dirty="0"/>
            </a:br>
            <a:r>
              <a:rPr lang="en-US" altLang="ko-KR" dirty="0"/>
              <a:t>1- </a:t>
            </a:r>
            <a:r>
              <a:rPr lang="ko-KR" altLang="en-US" dirty="0"/>
              <a:t>일반정보</a:t>
            </a:r>
            <a:r>
              <a:rPr lang="en-US" altLang="ko-KR" dirty="0"/>
              <a:t/>
            </a:r>
            <a:br>
              <a:rPr lang="en-US" altLang="ko-KR" dirty="0"/>
            </a:br>
            <a:r>
              <a:rPr lang="en-US" altLang="ko-KR" dirty="0"/>
              <a:t>2- </a:t>
            </a:r>
            <a:r>
              <a:rPr lang="ko-KR" altLang="en-US" dirty="0" err="1"/>
              <a:t>품목내역</a:t>
            </a:r>
            <a:r>
              <a:rPr lang="ko-KR" altLang="en-US" dirty="0"/>
              <a:t> </a:t>
            </a:r>
            <a:r>
              <a:rPr lang="en-US" altLang="ko-KR" dirty="0"/>
              <a:t>(</a:t>
            </a:r>
            <a:r>
              <a:rPr lang="ko-KR" altLang="en-US" dirty="0" err="1"/>
              <a:t>단가제인</a:t>
            </a:r>
            <a:r>
              <a:rPr lang="ko-KR" altLang="en-US" dirty="0"/>
              <a:t> 경우 표시</a:t>
            </a:r>
            <a:r>
              <a:rPr lang="en-US" altLang="ko-KR" dirty="0"/>
              <a:t>)</a:t>
            </a:r>
            <a:br>
              <a:rPr lang="en-US" altLang="ko-KR" dirty="0"/>
            </a:br>
            <a:r>
              <a:rPr lang="en-US" altLang="ko-KR" dirty="0"/>
              <a:t>3- </a:t>
            </a:r>
            <a:r>
              <a:rPr lang="ko-KR" altLang="en-US" dirty="0" err="1"/>
              <a:t>투찰내역</a:t>
            </a:r>
            <a:r>
              <a:rPr lang="ko-KR" altLang="en-US" dirty="0"/>
              <a:t> </a:t>
            </a:r>
            <a:r>
              <a:rPr lang="en-US" altLang="ko-KR" dirty="0"/>
              <a:t>(</a:t>
            </a:r>
            <a:r>
              <a:rPr lang="ko-KR" altLang="en-US" dirty="0" err="1"/>
              <a:t>금액정보</a:t>
            </a:r>
            <a:r>
              <a:rPr lang="en-US" altLang="ko-KR" dirty="0"/>
              <a:t>)</a:t>
            </a:r>
            <a:br>
              <a:rPr lang="en-US" altLang="ko-KR" dirty="0"/>
            </a:br>
            <a:r>
              <a:rPr lang="en-US" altLang="ko-KR" dirty="0"/>
              <a:t>4- </a:t>
            </a:r>
            <a:r>
              <a:rPr lang="ko-KR" altLang="en-US" dirty="0"/>
              <a:t>복수예비가격</a:t>
            </a:r>
            <a:r>
              <a:rPr lang="en-US" altLang="ko-KR" dirty="0"/>
              <a:t/>
            </a:r>
            <a:br>
              <a:rPr lang="en-US" altLang="ko-KR" dirty="0"/>
            </a:br>
            <a:r>
              <a:rPr lang="en-US" altLang="ko-KR" dirty="0"/>
              <a:t>5- </a:t>
            </a:r>
            <a:r>
              <a:rPr lang="ko-KR" altLang="en-US" dirty="0"/>
              <a:t>파일첨부</a:t>
            </a:r>
            <a:r>
              <a:rPr lang="en-US" altLang="ko-KR" dirty="0"/>
              <a:t/>
            </a:r>
            <a:br>
              <a:rPr lang="en-US" altLang="ko-KR" dirty="0"/>
            </a:br>
            <a:r>
              <a:rPr lang="en-US" altLang="ko-KR" dirty="0"/>
              <a:t>6- </a:t>
            </a:r>
            <a:r>
              <a:rPr lang="ko-KR" altLang="en-US" dirty="0" err="1"/>
              <a:t>동가낙찰</a:t>
            </a:r>
            <a:r>
              <a:rPr lang="ko-KR" altLang="en-US" dirty="0"/>
              <a:t> </a:t>
            </a:r>
            <a:r>
              <a:rPr lang="ko-KR" altLang="en-US" dirty="0" err="1"/>
              <a:t>선추첨</a:t>
            </a:r>
            <a:r>
              <a:rPr lang="en-US" altLang="ko-KR" dirty="0"/>
              <a:t/>
            </a:r>
            <a:br>
              <a:rPr lang="en-US" altLang="ko-KR" dirty="0"/>
            </a:br>
            <a:r>
              <a:rPr lang="en-US" altLang="ko-KR" dirty="0"/>
              <a:t>7- </a:t>
            </a:r>
            <a:r>
              <a:rPr lang="ko-KR" altLang="en-US" dirty="0"/>
              <a:t>문의 및 동의</a:t>
            </a:r>
            <a:endParaRPr lang="en-US" altLang="ko-KR" dirty="0"/>
          </a:p>
          <a:p>
            <a:pPr marL="228600" indent="-228600">
              <a:buFont typeface="+mj-lt"/>
              <a:buAutoNum type="arabicPeriod"/>
            </a:pPr>
            <a:r>
              <a:rPr lang="ko-KR" altLang="en-US" dirty="0"/>
              <a:t>공고 일반정보 표시</a:t>
            </a:r>
            <a:r>
              <a:rPr lang="en-US" altLang="ko-KR" dirty="0"/>
              <a:t/>
            </a:r>
            <a:br>
              <a:rPr lang="en-US" altLang="ko-KR" dirty="0"/>
            </a:br>
            <a:r>
              <a:rPr lang="ko-KR" altLang="en-US" dirty="0" err="1"/>
              <a:t>업무구분에</a:t>
            </a:r>
            <a:r>
              <a:rPr lang="ko-KR" altLang="en-US" dirty="0"/>
              <a:t> 따라 </a:t>
            </a:r>
            <a:r>
              <a:rPr lang="en-US" altLang="ko-KR" dirty="0"/>
              <a:t>(</a:t>
            </a:r>
            <a:r>
              <a:rPr lang="ko-KR" altLang="en-US" dirty="0"/>
              <a:t>물품 </a:t>
            </a:r>
            <a:r>
              <a:rPr lang="en-US" altLang="ko-KR" dirty="0"/>
              <a:t>/ </a:t>
            </a:r>
            <a:r>
              <a:rPr lang="ko-KR" altLang="en-US" dirty="0"/>
              <a:t>공사</a:t>
            </a:r>
            <a:r>
              <a:rPr lang="en-US" altLang="ko-KR" dirty="0"/>
              <a:t>) </a:t>
            </a:r>
            <a:r>
              <a:rPr lang="ko-KR" altLang="en-US" dirty="0"/>
              <a:t>정보</a:t>
            </a:r>
            <a:r>
              <a:rPr lang="en-US" altLang="ko-KR" dirty="0"/>
              <a:t/>
            </a:r>
            <a:br>
              <a:rPr lang="en-US" altLang="ko-KR" dirty="0"/>
            </a:br>
            <a:r>
              <a:rPr lang="en-US" altLang="ko-KR" dirty="0"/>
              <a:t>- </a:t>
            </a:r>
            <a:r>
              <a:rPr lang="ko-KR" altLang="en-US" dirty="0" err="1"/>
              <a:t>입찰건명</a:t>
            </a:r>
            <a:r>
              <a:rPr lang="ko-KR" altLang="en-US" dirty="0"/>
              <a:t> </a:t>
            </a:r>
            <a:r>
              <a:rPr lang="en-US" altLang="ko-KR" dirty="0"/>
              <a:t>/ </a:t>
            </a:r>
            <a:r>
              <a:rPr lang="ko-KR" altLang="en-US" dirty="0" err="1"/>
              <a:t>공사명</a:t>
            </a:r>
            <a:r>
              <a:rPr lang="en-US" altLang="ko-KR" dirty="0"/>
              <a:t/>
            </a:r>
            <a:br>
              <a:rPr lang="en-US" altLang="ko-KR" dirty="0"/>
            </a:br>
            <a:r>
              <a:rPr lang="en-US" altLang="ko-KR" dirty="0"/>
              <a:t>- </a:t>
            </a:r>
            <a:r>
              <a:rPr lang="ko-KR" altLang="en-US" dirty="0" err="1"/>
              <a:t>판단번호</a:t>
            </a:r>
            <a:r>
              <a:rPr lang="ko-KR" altLang="en-US" dirty="0"/>
              <a:t> </a:t>
            </a:r>
            <a:r>
              <a:rPr lang="en-US" altLang="ko-KR" dirty="0"/>
              <a:t>/ </a:t>
            </a:r>
            <a:r>
              <a:rPr lang="ko-KR" altLang="en-US" dirty="0" err="1"/>
              <a:t>공사번호</a:t>
            </a:r>
            <a:r>
              <a:rPr lang="en-US" altLang="ko-KR" dirty="0"/>
              <a:t/>
            </a:r>
            <a:br>
              <a:rPr lang="en-US" altLang="ko-KR" dirty="0"/>
            </a:br>
            <a:r>
              <a:rPr lang="en-US" altLang="ko-KR" dirty="0"/>
              <a:t>- </a:t>
            </a:r>
            <a:r>
              <a:rPr lang="ko-KR" altLang="en-US" dirty="0" err="1"/>
              <a:t>집행유형</a:t>
            </a:r>
            <a:r>
              <a:rPr lang="ko-KR" altLang="en-US" dirty="0"/>
              <a:t> </a:t>
            </a:r>
            <a:r>
              <a:rPr lang="en-US" altLang="ko-KR" dirty="0"/>
              <a:t>/ </a:t>
            </a:r>
            <a:r>
              <a:rPr lang="ko-KR" altLang="en-US" dirty="0" err="1"/>
              <a:t>공사구분</a:t>
            </a:r>
            <a:r>
              <a:rPr lang="en-US" altLang="ko-KR" dirty="0"/>
              <a:t/>
            </a:r>
            <a:br>
              <a:rPr lang="en-US" altLang="ko-KR" dirty="0"/>
            </a:br>
            <a:r>
              <a:rPr lang="en-US" altLang="ko-KR" dirty="0"/>
              <a:t>- </a:t>
            </a:r>
            <a:r>
              <a:rPr lang="ko-KR" altLang="en-US" dirty="0" err="1"/>
              <a:t>개찰일시</a:t>
            </a:r>
            <a:r>
              <a:rPr lang="ko-KR" altLang="en-US" dirty="0"/>
              <a:t> </a:t>
            </a:r>
            <a:r>
              <a:rPr lang="en-US" altLang="ko-KR" dirty="0"/>
              <a:t>/ </a:t>
            </a:r>
            <a:r>
              <a:rPr lang="ko-KR" altLang="en-US" dirty="0" err="1"/>
              <a:t>입찰일시</a:t>
            </a:r>
            <a:r>
              <a:rPr lang="en-US" altLang="ko-KR" dirty="0"/>
              <a:t/>
            </a:r>
            <a:br>
              <a:rPr lang="en-US" altLang="ko-KR" dirty="0"/>
            </a:br>
            <a:r>
              <a:rPr lang="en-US" altLang="ko-KR" dirty="0"/>
              <a:t>- (</a:t>
            </a:r>
            <a:r>
              <a:rPr lang="ko-KR" altLang="en-US" dirty="0"/>
              <a:t>총수량</a:t>
            </a:r>
            <a:r>
              <a:rPr lang="en-US" altLang="ko-KR" dirty="0"/>
              <a:t>/</a:t>
            </a:r>
            <a:r>
              <a:rPr lang="ko-KR" altLang="en-US" dirty="0" err="1"/>
              <a:t>단가제유형</a:t>
            </a:r>
            <a:r>
              <a:rPr lang="en-US" altLang="ko-KR" dirty="0"/>
              <a:t>) / </a:t>
            </a:r>
            <a:r>
              <a:rPr lang="ko-KR" altLang="en-US" dirty="0"/>
              <a:t>사전심사</a:t>
            </a:r>
            <a:r>
              <a:rPr lang="en-US" altLang="ko-KR" dirty="0"/>
              <a:t/>
            </a:r>
            <a:br>
              <a:rPr lang="en-US" altLang="ko-KR" dirty="0"/>
            </a:br>
            <a:r>
              <a:rPr lang="en-US" altLang="ko-KR" dirty="0"/>
              <a:t>- </a:t>
            </a:r>
            <a:r>
              <a:rPr lang="ko-KR" altLang="en-US" dirty="0" err="1"/>
              <a:t>입찰방법이</a:t>
            </a:r>
            <a:r>
              <a:rPr lang="ko-KR" altLang="en-US" dirty="0"/>
              <a:t> </a:t>
            </a:r>
            <a:r>
              <a:rPr lang="en-US" altLang="ko-KR" dirty="0"/>
              <a:t>‘B(</a:t>
            </a:r>
            <a:r>
              <a:rPr lang="ko-KR" altLang="en-US" dirty="0" err="1"/>
              <a:t>단가제</a:t>
            </a:r>
            <a:r>
              <a:rPr lang="en-US" altLang="ko-KR" dirty="0"/>
              <a:t>)’</a:t>
            </a:r>
            <a:r>
              <a:rPr lang="ko-KR" altLang="en-US" dirty="0"/>
              <a:t>인 경우 </a:t>
            </a:r>
            <a:r>
              <a:rPr lang="ko-KR" altLang="en-US" dirty="0" err="1"/>
              <a:t>단가제유형</a:t>
            </a:r>
            <a:r>
              <a:rPr lang="en-US" altLang="ko-KR" dirty="0"/>
              <a:t>, </a:t>
            </a:r>
            <a:r>
              <a:rPr lang="ko-KR" altLang="en-US" dirty="0"/>
              <a:t>그 외 총수량</a:t>
            </a:r>
            <a:r>
              <a:rPr lang="en-US" altLang="ko-KR" dirty="0"/>
              <a:t/>
            </a:r>
            <a:br>
              <a:rPr lang="en-US" altLang="ko-KR" dirty="0"/>
            </a:br>
            <a:r>
              <a:rPr lang="en-US" altLang="ko-KR" dirty="0"/>
              <a:t>- </a:t>
            </a:r>
            <a:r>
              <a:rPr lang="ko-KR" altLang="en-US" dirty="0"/>
              <a:t>입찰방법</a:t>
            </a:r>
            <a:r>
              <a:rPr lang="en-US" altLang="ko-KR" dirty="0"/>
              <a:t>(BDTC)</a:t>
            </a:r>
            <a:r>
              <a:rPr lang="ko-KR" altLang="en-US" dirty="0"/>
              <a:t>이 </a:t>
            </a:r>
            <a:r>
              <a:rPr lang="en-US" altLang="ko-KR" dirty="0"/>
              <a:t>‘H(</a:t>
            </a:r>
            <a:r>
              <a:rPr lang="ko-KR" altLang="en-US" dirty="0" err="1"/>
              <a:t>내역입찰</a:t>
            </a:r>
            <a:r>
              <a:rPr lang="en-US" altLang="ko-KR" dirty="0"/>
              <a:t>(</a:t>
            </a:r>
            <a:r>
              <a:rPr lang="ko-KR" altLang="en-US" dirty="0"/>
              <a:t>설계시공일괄입찰</a:t>
            </a:r>
            <a:r>
              <a:rPr lang="en-US" altLang="ko-KR" dirty="0"/>
              <a:t>))’</a:t>
            </a:r>
            <a:r>
              <a:rPr lang="ko-KR" altLang="en-US" dirty="0"/>
              <a:t>인 경우 </a:t>
            </a:r>
            <a:r>
              <a:rPr lang="en-US" altLang="ko-KR" dirty="0"/>
              <a:t>‘</a:t>
            </a:r>
            <a:r>
              <a:rPr lang="ko-KR" altLang="en-US" dirty="0" err="1"/>
              <a:t>낙찰자기준</a:t>
            </a:r>
            <a:r>
              <a:rPr lang="en-US" altLang="ko-KR" dirty="0"/>
              <a:t>’ </a:t>
            </a:r>
            <a:r>
              <a:rPr lang="ko-KR" altLang="en-US" dirty="0"/>
              <a:t>보이기</a:t>
            </a:r>
            <a:r>
              <a:rPr lang="en-US" altLang="ko-KR" dirty="0"/>
              <a:t>, </a:t>
            </a:r>
            <a:r>
              <a:rPr lang="ko-KR" altLang="en-US" dirty="0"/>
              <a:t>그 외 숨기기</a:t>
            </a:r>
            <a:r>
              <a:rPr lang="en-US" altLang="ko-KR" dirty="0"/>
              <a:t/>
            </a:r>
            <a:br>
              <a:rPr lang="en-US" altLang="ko-KR" dirty="0"/>
            </a:br>
            <a:r>
              <a:rPr lang="en-US" altLang="ko-KR" dirty="0"/>
              <a:t>- </a:t>
            </a:r>
            <a:r>
              <a:rPr lang="ko-KR" altLang="en-US" dirty="0" err="1"/>
              <a:t>입찰방법이</a:t>
            </a:r>
            <a:r>
              <a:rPr lang="ko-KR" altLang="en-US" dirty="0"/>
              <a:t> </a:t>
            </a:r>
            <a:r>
              <a:rPr lang="ko-KR" altLang="en-US" dirty="0" err="1"/>
              <a:t>단가제인</a:t>
            </a:r>
            <a:r>
              <a:rPr lang="ko-KR" altLang="en-US" dirty="0"/>
              <a:t> 경우 </a:t>
            </a:r>
            <a:r>
              <a:rPr lang="ko-KR" altLang="en-US" dirty="0" err="1"/>
              <a:t>품목내역</a:t>
            </a:r>
            <a:r>
              <a:rPr lang="ko-KR" altLang="en-US" dirty="0"/>
              <a:t> 탭 표기</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err="1">
                <a:latin typeface="+mn-ea"/>
              </a:rPr>
              <a:t>스탭</a:t>
            </a:r>
            <a:r>
              <a:rPr lang="ko-KR" altLang="en-US" dirty="0">
                <a:latin typeface="+mn-ea"/>
              </a:rPr>
              <a:t> 중 일반정보 </a:t>
            </a:r>
            <a:r>
              <a:rPr lang="ko-KR" altLang="en-US" dirty="0"/>
              <a:t>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입찰서 작성</a:t>
            </a: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9" name="그룹 148"/>
          <p:cNvGrpSpPr/>
          <p:nvPr/>
        </p:nvGrpSpPr>
        <p:grpSpPr>
          <a:xfrm rot="5400000">
            <a:off x="755013" y="1640499"/>
            <a:ext cx="94010" cy="47005"/>
            <a:chOff x="6812560" y="3297172"/>
            <a:chExt cx="94010" cy="47005"/>
          </a:xfrm>
        </p:grpSpPr>
        <p:cxnSp>
          <p:nvCxnSpPr>
            <p:cNvPr id="150" name="직선 연결선 1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3" name="직선 연결선 1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4" name="타원 153"/>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타원 194">
            <a:extLst>
              <a:ext uri="{FF2B5EF4-FFF2-40B4-BE49-F238E27FC236}">
                <a16:creationId xmlns:a16="http://schemas.microsoft.com/office/drawing/2014/main" id="{37A7FF4F-0EAA-1463-560A-D5EC24416103}"/>
              </a:ext>
            </a:extLst>
          </p:cNvPr>
          <p:cNvSpPr/>
          <p:nvPr/>
        </p:nvSpPr>
        <p:spPr>
          <a:xfrm>
            <a:off x="571127" y="251090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TextBox 138">
            <a:extLst>
              <a:ext uri="{FF2B5EF4-FFF2-40B4-BE49-F238E27FC236}">
                <a16:creationId xmlns:a16="http://schemas.microsoft.com/office/drawing/2014/main" id="{FFC49AEA-2A8F-250C-A86A-A7751D9706C3}"/>
              </a:ext>
            </a:extLst>
          </p:cNvPr>
          <p:cNvSpPr txBox="1"/>
          <p:nvPr/>
        </p:nvSpPr>
        <p:spPr>
          <a:xfrm>
            <a:off x="781461" y="3566221"/>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5" name="직사각형 154"/>
          <p:cNvSpPr/>
          <p:nvPr/>
        </p:nvSpPr>
        <p:spPr>
          <a:xfrm>
            <a:off x="722583" y="3873706"/>
            <a:ext cx="792000" cy="23585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20490" y="387370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809647" y="3873706"/>
            <a:ext cx="756848" cy="2369880"/>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a:latin typeface="+mn-ea"/>
              </a:rPr>
              <a:t>총수량</a:t>
            </a:r>
            <a:r>
              <a:rPr lang="en-US" altLang="ko-KR" sz="700" dirty="0">
                <a:latin typeface="+mn-ea"/>
              </a:rPr>
              <a:t>/</a:t>
            </a:r>
            <a:r>
              <a:rPr lang="ko-KR" altLang="en-US" sz="700" dirty="0" err="1">
                <a:latin typeface="+mn-ea"/>
              </a:rPr>
              <a:t>단가제유형</a:t>
            </a:r>
            <a:endParaRPr lang="en-US" altLang="ko-KR" sz="700" dirty="0">
              <a:latin typeface="+mn-ea"/>
            </a:endParaRPr>
          </a:p>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낙찰자결정방법</a:t>
            </a:r>
            <a:endParaRPr lang="en-US" altLang="ko-KR"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1566495" y="3873706"/>
            <a:ext cx="1784088" cy="2369880"/>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56349</a:t>
            </a:r>
          </a:p>
          <a:p>
            <a:pPr>
              <a:lnSpc>
                <a:spcPct val="200000"/>
              </a:lnSpc>
            </a:pPr>
            <a:r>
              <a:rPr lang="ko-KR" altLang="en-US" sz="700" dirty="0">
                <a:latin typeface="+mn-ea"/>
              </a:rPr>
              <a:t>육군 탄약지원사령부</a:t>
            </a:r>
            <a:endParaRPr lang="en-US" altLang="ko-KR" sz="700" dirty="0">
              <a:latin typeface="+mn-ea"/>
            </a:endParaRPr>
          </a:p>
          <a:p>
            <a:pPr>
              <a:lnSpc>
                <a:spcPct val="200000"/>
              </a:lnSpc>
            </a:pPr>
            <a:r>
              <a:rPr lang="en-US" altLang="ko-KR" sz="700" dirty="0">
                <a:latin typeface="+mn-ea"/>
              </a:rPr>
              <a:t>2025LDG56349</a:t>
            </a:r>
          </a:p>
          <a:p>
            <a:pPr>
              <a:lnSpc>
                <a:spcPct val="200000"/>
              </a:lnSpc>
            </a:pPr>
            <a:r>
              <a:rPr lang="ko-KR" altLang="en-US" sz="700" dirty="0">
                <a:latin typeface="+mn-ea"/>
              </a:rPr>
              <a:t>제조</a:t>
            </a:r>
            <a:endParaRPr lang="en-US" altLang="ko-KR" sz="700" dirty="0">
              <a:latin typeface="+mn-ea"/>
            </a:endParaRPr>
          </a:p>
          <a:p>
            <a:pPr>
              <a:lnSpc>
                <a:spcPct val="200000"/>
              </a:lnSpc>
            </a:pPr>
            <a:r>
              <a:rPr lang="en-US" altLang="ko-KR" sz="700" dirty="0">
                <a:latin typeface="+mn-ea"/>
              </a:rPr>
              <a:t>2025-12-24 10:30</a:t>
            </a:r>
          </a:p>
          <a:p>
            <a:pPr>
              <a:lnSpc>
                <a:spcPct val="200000"/>
              </a:lnSpc>
            </a:pPr>
            <a:r>
              <a:rPr lang="ko-KR" altLang="en-US" sz="700" dirty="0">
                <a:latin typeface="+mn-ea"/>
              </a:rPr>
              <a:t>일반확정계약</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 AY</a:t>
            </a:r>
          </a:p>
          <a:p>
            <a:pPr algn="r">
              <a:lnSpc>
                <a:spcPct val="200000"/>
              </a:lnSpc>
            </a:pPr>
            <a:r>
              <a:rPr lang="en-US" altLang="ko-KR" sz="700" dirty="0">
                <a:latin typeface="+mn-ea"/>
              </a:rPr>
              <a:t>619,520,000 </a:t>
            </a:r>
            <a:r>
              <a:rPr lang="ko-KR" altLang="en-US" sz="700" dirty="0">
                <a:latin typeface="+mn-ea"/>
              </a:rPr>
              <a:t>원</a:t>
            </a:r>
            <a:endParaRPr lang="en-US" altLang="ko-KR" sz="700" dirty="0">
              <a:latin typeface="+mn-ea"/>
            </a:endParaRPr>
          </a:p>
          <a:p>
            <a:pPr>
              <a:lnSpc>
                <a:spcPct val="200000"/>
              </a:lnSpc>
            </a:pPr>
            <a:r>
              <a:rPr lang="ko-KR" altLang="en-US" sz="700" dirty="0" err="1">
                <a:latin typeface="+mn-ea"/>
              </a:rPr>
              <a:t>적격심사제</a:t>
            </a:r>
            <a:endParaRPr lang="en-US" altLang="ko-KR" sz="700" dirty="0">
              <a:latin typeface="+mn-ea"/>
            </a:endParaRP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2583" y="41048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431851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22583" y="45322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22583" y="47459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22583" y="49596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22583" y="517334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20490" y="351923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3302628"/>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25085" y="3302628"/>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1873046" y="3302628"/>
            <a:ext cx="468423"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투찰내역</a:t>
            </a:r>
            <a:endParaRPr lang="ko-KR" altLang="en-US" sz="700" dirty="0">
              <a:latin typeface="+mn-ea"/>
            </a:endParaRPr>
          </a:p>
        </p:txBody>
      </p:sp>
      <p:sp>
        <p:nvSpPr>
          <p:cNvPr id="228" name="TextBox 227">
            <a:extLst>
              <a:ext uri="{FF2B5EF4-FFF2-40B4-BE49-F238E27FC236}">
                <a16:creationId xmlns:a16="http://schemas.microsoft.com/office/drawing/2014/main" id="{FFC49AEA-2A8F-250C-A86A-A7751D9706C3}"/>
              </a:ext>
            </a:extLst>
          </p:cNvPr>
          <p:cNvSpPr txBox="1"/>
          <p:nvPr/>
        </p:nvSpPr>
        <p:spPr>
          <a:xfrm>
            <a:off x="2432834" y="3302628"/>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519235"/>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3264505"/>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27923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200">
            <a:extLst>
              <a:ext uri="{FF2B5EF4-FFF2-40B4-BE49-F238E27FC236}">
                <a16:creationId xmlns:a16="http://schemas.microsoft.com/office/drawing/2014/main" id="{FFC49AEA-2A8F-250C-A86A-A7751D9706C3}"/>
              </a:ext>
            </a:extLst>
          </p:cNvPr>
          <p:cNvSpPr txBox="1"/>
          <p:nvPr/>
        </p:nvSpPr>
        <p:spPr>
          <a:xfrm>
            <a:off x="1019814" y="287458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204" name="타원 203"/>
          <p:cNvSpPr/>
          <p:nvPr/>
        </p:nvSpPr>
        <p:spPr>
          <a:xfrm>
            <a:off x="783686" y="2905934"/>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5" name="그룹 204"/>
          <p:cNvGrpSpPr/>
          <p:nvPr/>
        </p:nvGrpSpPr>
        <p:grpSpPr>
          <a:xfrm>
            <a:off x="3143548" y="2987920"/>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39" name="직선 연결선 238">
            <a:extLst>
              <a:ext uri="{FF2B5EF4-FFF2-40B4-BE49-F238E27FC236}">
                <a16:creationId xmlns:a16="http://schemas.microsoft.com/office/drawing/2014/main" id="{E9293055-D5CD-4B9E-7F64-64B2D2CA7A52}"/>
              </a:ext>
            </a:extLst>
          </p:cNvPr>
          <p:cNvCxnSpPr/>
          <p:nvPr/>
        </p:nvCxnSpPr>
        <p:spPr>
          <a:xfrm>
            <a:off x="675399" y="31820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40" name="그룹 239"/>
          <p:cNvGrpSpPr/>
          <p:nvPr/>
        </p:nvGrpSpPr>
        <p:grpSpPr>
          <a:xfrm>
            <a:off x="675399" y="1936620"/>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50" name="직선 연결선 249">
            <a:extLst>
              <a:ext uri="{FF2B5EF4-FFF2-40B4-BE49-F238E27FC236}">
                <a16:creationId xmlns:a16="http://schemas.microsoft.com/office/drawing/2014/main" id="{E9293055-D5CD-4B9E-7F64-64B2D2CA7A52}"/>
              </a:ext>
            </a:extLst>
          </p:cNvPr>
          <p:cNvCxnSpPr/>
          <p:nvPr/>
        </p:nvCxnSpPr>
        <p:spPr>
          <a:xfrm>
            <a:off x="722583" y="53683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56" name="그룹 255"/>
          <p:cNvGrpSpPr/>
          <p:nvPr/>
        </p:nvGrpSpPr>
        <p:grpSpPr>
          <a:xfrm>
            <a:off x="3795733"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82" name="직사각형 281"/>
          <p:cNvSpPr/>
          <p:nvPr/>
        </p:nvSpPr>
        <p:spPr>
          <a:xfrm>
            <a:off x="3840473" y="2427792"/>
            <a:ext cx="792000" cy="12146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83" name="직선 연결선 282">
            <a:extLst>
              <a:ext uri="{FF2B5EF4-FFF2-40B4-BE49-F238E27FC236}">
                <a16:creationId xmlns:a16="http://schemas.microsoft.com/office/drawing/2014/main" id="{E9293055-D5CD-4B9E-7F64-64B2D2CA7A52}"/>
              </a:ext>
            </a:extLst>
          </p:cNvPr>
          <p:cNvCxnSpPr/>
          <p:nvPr/>
        </p:nvCxnSpPr>
        <p:spPr>
          <a:xfrm>
            <a:off x="3838380" y="277368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4" name="TextBox 283">
            <a:extLst>
              <a:ext uri="{FF2B5EF4-FFF2-40B4-BE49-F238E27FC236}">
                <a16:creationId xmlns:a16="http://schemas.microsoft.com/office/drawing/2014/main" id="{FFC49AEA-2A8F-250C-A86A-A7751D9706C3}"/>
              </a:ext>
            </a:extLst>
          </p:cNvPr>
          <p:cNvSpPr txBox="1"/>
          <p:nvPr/>
        </p:nvSpPr>
        <p:spPr>
          <a:xfrm>
            <a:off x="3927536" y="2353497"/>
            <a:ext cx="819573" cy="1292662"/>
          </a:xfrm>
          <a:prstGeom prst="rect">
            <a:avLst/>
          </a:prstGeom>
          <a:noFill/>
        </p:spPr>
        <p:txBody>
          <a:bodyPr wrap="square" lIns="0" tIns="0" rIns="0" bIns="0" rtlCol="0">
            <a:spAutoFit/>
          </a:bodyPr>
          <a:lstStyle/>
          <a:p>
            <a:pPr>
              <a:lnSpc>
                <a:spcPct val="200000"/>
              </a:lnSpc>
            </a:pPr>
            <a:r>
              <a:rPr lang="ko-KR" altLang="en-US" sz="700" dirty="0">
                <a:latin typeface="+mn-ea"/>
              </a:rPr>
              <a:t>적격심사 여부</a:t>
            </a:r>
            <a:endParaRPr lang="en-US" altLang="ko-KR" sz="700" dirty="0">
              <a:latin typeface="+mn-ea"/>
            </a:endParaRPr>
          </a:p>
          <a:p>
            <a:pPr>
              <a:lnSpc>
                <a:spcPct val="200000"/>
              </a:lnSpc>
            </a:pPr>
            <a:r>
              <a:rPr lang="ko-KR" altLang="en-US" sz="700" dirty="0">
                <a:latin typeface="+mn-ea"/>
              </a:rPr>
              <a:t>기초예비가격</a:t>
            </a:r>
            <a:endParaRPr lang="en-US" altLang="ko-KR" sz="700" dirty="0">
              <a:latin typeface="+mn-ea"/>
            </a:endParaRPr>
          </a:p>
          <a:p>
            <a:pPr>
              <a:lnSpc>
                <a:spcPct val="200000"/>
              </a:lnSpc>
            </a:pPr>
            <a:r>
              <a:rPr lang="ko-KR" altLang="en-US" sz="700" dirty="0" err="1">
                <a:latin typeface="+mn-ea"/>
              </a:rPr>
              <a:t>사정률</a:t>
            </a:r>
            <a:r>
              <a:rPr lang="en-US" altLang="ko-KR" sz="700" dirty="0">
                <a:latin typeface="+mn-ea"/>
              </a:rPr>
              <a:t>(%)</a:t>
            </a:r>
          </a:p>
          <a:p>
            <a:pPr>
              <a:lnSpc>
                <a:spcPct val="200000"/>
              </a:lnSpc>
            </a:pPr>
            <a:r>
              <a:rPr lang="ko-KR" altLang="en-US" sz="700" dirty="0">
                <a:latin typeface="+mn-ea"/>
              </a:rPr>
              <a:t>업체입찰보증금</a:t>
            </a:r>
            <a:endParaRPr lang="en-US" altLang="ko-KR" sz="700" dirty="0">
              <a:latin typeface="+mn-ea"/>
            </a:endParaRPr>
          </a:p>
          <a:p>
            <a:pPr>
              <a:lnSpc>
                <a:spcPct val="200000"/>
              </a:lnSpc>
            </a:pPr>
            <a:r>
              <a:rPr lang="en-US" altLang="ko-KR" sz="700" dirty="0">
                <a:latin typeface="+mn-ea"/>
              </a:rPr>
              <a:t>2</a:t>
            </a:r>
            <a:r>
              <a:rPr lang="ko-KR" altLang="en-US" sz="700" dirty="0" err="1">
                <a:latin typeface="+mn-ea"/>
              </a:rPr>
              <a:t>단계경쟁</a:t>
            </a:r>
            <a:endParaRPr lang="en-US" altLang="ko-KR" sz="700" dirty="0">
              <a:latin typeface="+mn-ea"/>
            </a:endParaRPr>
          </a:p>
          <a:p>
            <a:pPr>
              <a:lnSpc>
                <a:spcPct val="200000"/>
              </a:lnSpc>
            </a:pPr>
            <a:r>
              <a:rPr lang="ko-KR" altLang="en-US" sz="700" dirty="0">
                <a:latin typeface="+mn-ea"/>
              </a:rPr>
              <a:t>전자파일 제출 가능</a:t>
            </a:r>
            <a:endParaRPr lang="en-US" altLang="ko-KR" sz="700" dirty="0">
              <a:latin typeface="+mn-ea"/>
            </a:endParaRPr>
          </a:p>
        </p:txBody>
      </p:sp>
      <p:sp>
        <p:nvSpPr>
          <p:cNvPr id="285" name="TextBox 284">
            <a:extLst>
              <a:ext uri="{FF2B5EF4-FFF2-40B4-BE49-F238E27FC236}">
                <a16:creationId xmlns:a16="http://schemas.microsoft.com/office/drawing/2014/main" id="{FFC49AEA-2A8F-250C-A86A-A7751D9706C3}"/>
              </a:ext>
            </a:extLst>
          </p:cNvPr>
          <p:cNvSpPr txBox="1"/>
          <p:nvPr/>
        </p:nvSpPr>
        <p:spPr>
          <a:xfrm>
            <a:off x="4684385" y="2353497"/>
            <a:ext cx="1770899" cy="1077218"/>
          </a:xfrm>
          <a:prstGeom prst="rect">
            <a:avLst/>
          </a:prstGeom>
          <a:noFill/>
        </p:spPr>
        <p:txBody>
          <a:bodyPr wrap="square" lIns="0" tIns="0" rIns="0" bIns="0" rtlCol="0">
            <a:spAutoFit/>
          </a:bodyPr>
          <a:lstStyle/>
          <a:p>
            <a:pPr>
              <a:lnSpc>
                <a:spcPct val="200000"/>
              </a:lnSpc>
            </a:pPr>
            <a:r>
              <a:rPr lang="ko-KR" altLang="en-US" sz="700" dirty="0">
                <a:latin typeface="+mn-ea"/>
              </a:rPr>
              <a:t>대상</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endParaRPr lang="en-US" altLang="ko-KR" sz="700" dirty="0">
              <a:latin typeface="+mn-ea"/>
            </a:endParaRPr>
          </a:p>
        </p:txBody>
      </p:sp>
      <p:sp>
        <p:nvSpPr>
          <p:cNvPr id="295" name="TextBox 294">
            <a:extLst>
              <a:ext uri="{FF2B5EF4-FFF2-40B4-BE49-F238E27FC236}">
                <a16:creationId xmlns:a16="http://schemas.microsoft.com/office/drawing/2014/main" id="{FFC49AEA-2A8F-250C-A86A-A7751D9706C3}"/>
              </a:ext>
            </a:extLst>
          </p:cNvPr>
          <p:cNvSpPr txBox="1"/>
          <p:nvPr/>
        </p:nvSpPr>
        <p:spPr>
          <a:xfrm>
            <a:off x="3905603" y="3833183"/>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업체내역</a:t>
            </a:r>
            <a:endParaRPr lang="ko-KR" altLang="en-US" sz="700" dirty="0">
              <a:latin typeface="+mn-ea"/>
            </a:endParaRPr>
          </a:p>
        </p:txBody>
      </p:sp>
      <p:sp>
        <p:nvSpPr>
          <p:cNvPr id="300" name="직사각형 299"/>
          <p:cNvSpPr/>
          <p:nvPr/>
        </p:nvSpPr>
        <p:spPr>
          <a:xfrm>
            <a:off x="3846725" y="4140669"/>
            <a:ext cx="792000" cy="14946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1" name="직선 연결선 300">
            <a:extLst>
              <a:ext uri="{FF2B5EF4-FFF2-40B4-BE49-F238E27FC236}">
                <a16:creationId xmlns:a16="http://schemas.microsoft.com/office/drawing/2014/main" id="{E9293055-D5CD-4B9E-7F64-64B2D2CA7A52}"/>
              </a:ext>
            </a:extLst>
          </p:cNvPr>
          <p:cNvCxnSpPr/>
          <p:nvPr/>
        </p:nvCxnSpPr>
        <p:spPr>
          <a:xfrm>
            <a:off x="3844632" y="41406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2" name="TextBox 301">
            <a:extLst>
              <a:ext uri="{FF2B5EF4-FFF2-40B4-BE49-F238E27FC236}">
                <a16:creationId xmlns:a16="http://schemas.microsoft.com/office/drawing/2014/main" id="{FFC49AEA-2A8F-250C-A86A-A7751D9706C3}"/>
              </a:ext>
            </a:extLst>
          </p:cNvPr>
          <p:cNvSpPr txBox="1"/>
          <p:nvPr/>
        </p:nvSpPr>
        <p:spPr>
          <a:xfrm>
            <a:off x="3933789" y="4140668"/>
            <a:ext cx="756848" cy="150810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주민등록번호</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a:p>
            <a:pPr>
              <a:lnSpc>
                <a:spcPct val="200000"/>
              </a:lnSpc>
            </a:pPr>
            <a:r>
              <a:rPr lang="ko-KR" altLang="en-US" sz="700" dirty="0">
                <a:latin typeface="+mn-ea"/>
              </a:rPr>
              <a:t>전화번호</a:t>
            </a:r>
            <a:endParaRPr lang="en-US" altLang="ko-KR"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3" name="TextBox 302">
            <a:extLst>
              <a:ext uri="{FF2B5EF4-FFF2-40B4-BE49-F238E27FC236}">
                <a16:creationId xmlns:a16="http://schemas.microsoft.com/office/drawing/2014/main" id="{FFC49AEA-2A8F-250C-A86A-A7751D9706C3}"/>
              </a:ext>
            </a:extLst>
          </p:cNvPr>
          <p:cNvSpPr txBox="1"/>
          <p:nvPr/>
        </p:nvSpPr>
        <p:spPr>
          <a:xfrm>
            <a:off x="4690637" y="4140668"/>
            <a:ext cx="1784088" cy="1508105"/>
          </a:xfrm>
          <a:prstGeom prst="rect">
            <a:avLst/>
          </a:prstGeom>
          <a:noFill/>
        </p:spPr>
        <p:txBody>
          <a:bodyPr wrap="square" lIns="0" tIns="0" rIns="0" bIns="0" rtlCol="0">
            <a:spAutoFit/>
          </a:bodyPr>
          <a:lstStyle/>
          <a:p>
            <a:pPr>
              <a:lnSpc>
                <a:spcPct val="200000"/>
              </a:lnSpc>
            </a:pPr>
            <a:r>
              <a:rPr lang="en-US" altLang="ko-KR" sz="700" dirty="0">
                <a:latin typeface="+mn-ea"/>
              </a:rPr>
              <a:t>00000</a:t>
            </a:r>
          </a:p>
          <a:p>
            <a:pPr>
              <a:lnSpc>
                <a:spcPct val="200000"/>
              </a:lnSpc>
            </a:pPr>
            <a:r>
              <a:rPr lang="ko-KR" altLang="en-US" sz="700" dirty="0">
                <a:latin typeface="+mn-ea"/>
              </a:rPr>
              <a:t>㈜업체명표기영역</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800123-2******</a:t>
            </a:r>
          </a:p>
          <a:p>
            <a:pPr>
              <a:lnSpc>
                <a:spcPct val="200000"/>
              </a:lnSpc>
            </a:pPr>
            <a:r>
              <a:rPr lang="en-US" altLang="ko-KR" sz="700" dirty="0">
                <a:latin typeface="+mn-ea"/>
              </a:rPr>
              <a:t>123-56-78901</a:t>
            </a:r>
          </a:p>
          <a:p>
            <a:pPr>
              <a:lnSpc>
                <a:spcPct val="200000"/>
              </a:lnSpc>
            </a:pPr>
            <a:r>
              <a:rPr lang="en-US" altLang="ko-KR" sz="700" dirty="0">
                <a:latin typeface="+mn-ea"/>
              </a:rPr>
              <a:t>02-1234-5678</a:t>
            </a:r>
          </a:p>
          <a:p>
            <a:pPr>
              <a:lnSpc>
                <a:spcPct val="200000"/>
              </a:lnSpc>
            </a:pPr>
            <a:r>
              <a:rPr lang="ko-KR" altLang="en-US" sz="700" dirty="0">
                <a:latin typeface="+mn-ea"/>
              </a:rPr>
              <a:t>서울특별시 </a:t>
            </a:r>
            <a:r>
              <a:rPr lang="en-US" altLang="ko-KR" sz="700" dirty="0">
                <a:latin typeface="+mn-ea"/>
              </a:rPr>
              <a:t>…</a:t>
            </a:r>
          </a:p>
        </p:txBody>
      </p:sp>
      <p:cxnSp>
        <p:nvCxnSpPr>
          <p:cNvPr id="304" name="직선 연결선 303">
            <a:extLst>
              <a:ext uri="{FF2B5EF4-FFF2-40B4-BE49-F238E27FC236}">
                <a16:creationId xmlns:a16="http://schemas.microsoft.com/office/drawing/2014/main" id="{E9293055-D5CD-4B9E-7F64-64B2D2CA7A52}"/>
              </a:ext>
            </a:extLst>
          </p:cNvPr>
          <p:cNvCxnSpPr/>
          <p:nvPr/>
        </p:nvCxnSpPr>
        <p:spPr>
          <a:xfrm>
            <a:off x="3846725" y="43717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5" name="직선 연결선 304">
            <a:extLst>
              <a:ext uri="{FF2B5EF4-FFF2-40B4-BE49-F238E27FC236}">
                <a16:creationId xmlns:a16="http://schemas.microsoft.com/office/drawing/2014/main" id="{E9293055-D5CD-4B9E-7F64-64B2D2CA7A52}"/>
              </a:ext>
            </a:extLst>
          </p:cNvPr>
          <p:cNvCxnSpPr/>
          <p:nvPr/>
        </p:nvCxnSpPr>
        <p:spPr>
          <a:xfrm>
            <a:off x="3846725" y="45854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6" name="직선 연결선 305">
            <a:extLst>
              <a:ext uri="{FF2B5EF4-FFF2-40B4-BE49-F238E27FC236}">
                <a16:creationId xmlns:a16="http://schemas.microsoft.com/office/drawing/2014/main" id="{E9293055-D5CD-4B9E-7F64-64B2D2CA7A52}"/>
              </a:ext>
            </a:extLst>
          </p:cNvPr>
          <p:cNvCxnSpPr/>
          <p:nvPr/>
        </p:nvCxnSpPr>
        <p:spPr>
          <a:xfrm>
            <a:off x="3846725" y="47991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46725" y="50128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46725" y="52266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3846725" y="54403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5733" y="378619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1" name="직선 연결선 310">
            <a:extLst>
              <a:ext uri="{FF2B5EF4-FFF2-40B4-BE49-F238E27FC236}">
                <a16:creationId xmlns:a16="http://schemas.microsoft.com/office/drawing/2014/main" id="{E9293055-D5CD-4B9E-7F64-64B2D2CA7A52}"/>
              </a:ext>
            </a:extLst>
          </p:cNvPr>
          <p:cNvCxnSpPr/>
          <p:nvPr/>
        </p:nvCxnSpPr>
        <p:spPr>
          <a:xfrm>
            <a:off x="3846725" y="563535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2484327"/>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251567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2597658"/>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320" name="직선 연결선 319">
            <a:extLst>
              <a:ext uri="{FF2B5EF4-FFF2-40B4-BE49-F238E27FC236}">
                <a16:creationId xmlns:a16="http://schemas.microsoft.com/office/drawing/2014/main" id="{E9293055-D5CD-4B9E-7F64-64B2D2CA7A52}"/>
              </a:ext>
            </a:extLst>
          </p:cNvPr>
          <p:cNvCxnSpPr/>
          <p:nvPr/>
        </p:nvCxnSpPr>
        <p:spPr>
          <a:xfrm>
            <a:off x="675399" y="279181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3" name="타원 322">
            <a:extLst>
              <a:ext uri="{FF2B5EF4-FFF2-40B4-BE49-F238E27FC236}">
                <a16:creationId xmlns:a16="http://schemas.microsoft.com/office/drawing/2014/main" id="{37A7FF4F-0EAA-1463-560A-D5EC24416103}"/>
              </a:ext>
            </a:extLst>
          </p:cNvPr>
          <p:cNvSpPr/>
          <p:nvPr/>
        </p:nvSpPr>
        <p:spPr>
          <a:xfrm>
            <a:off x="571127" y="291916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4" name="타원 323">
            <a:extLst>
              <a:ext uri="{FF2B5EF4-FFF2-40B4-BE49-F238E27FC236}">
                <a16:creationId xmlns:a16="http://schemas.microsoft.com/office/drawing/2014/main" id="{37A7FF4F-0EAA-1463-560A-D5EC24416103}"/>
              </a:ext>
            </a:extLst>
          </p:cNvPr>
          <p:cNvSpPr/>
          <p:nvPr/>
        </p:nvSpPr>
        <p:spPr>
          <a:xfrm>
            <a:off x="571127" y="326104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cxnSp>
        <p:nvCxnSpPr>
          <p:cNvPr id="325" name="직선 연결선 324">
            <a:extLst>
              <a:ext uri="{FF2B5EF4-FFF2-40B4-BE49-F238E27FC236}">
                <a16:creationId xmlns:a16="http://schemas.microsoft.com/office/drawing/2014/main" id="{E9293055-D5CD-4B9E-7F64-64B2D2CA7A52}"/>
              </a:ext>
            </a:extLst>
          </p:cNvPr>
          <p:cNvCxnSpPr/>
          <p:nvPr/>
        </p:nvCxnSpPr>
        <p:spPr>
          <a:xfrm>
            <a:off x="3840473" y="25577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6" name="타원 325">
            <a:extLst>
              <a:ext uri="{FF2B5EF4-FFF2-40B4-BE49-F238E27FC236}">
                <a16:creationId xmlns:a16="http://schemas.microsoft.com/office/drawing/2014/main" id="{37A7FF4F-0EAA-1463-560A-D5EC24416103}"/>
              </a:ext>
            </a:extLst>
          </p:cNvPr>
          <p:cNvSpPr/>
          <p:nvPr/>
        </p:nvSpPr>
        <p:spPr>
          <a:xfrm>
            <a:off x="571127" y="362222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151" name="모서리가 둥근 직사각형 150"/>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485356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66" name="직선 연결선 165">
            <a:extLst>
              <a:ext uri="{FF2B5EF4-FFF2-40B4-BE49-F238E27FC236}">
                <a16:creationId xmlns:a16="http://schemas.microsoft.com/office/drawing/2014/main" id="{E9293055-D5CD-4B9E-7F64-64B2D2CA7A52}"/>
              </a:ext>
            </a:extLst>
          </p:cNvPr>
          <p:cNvCxnSpPr/>
          <p:nvPr/>
        </p:nvCxnSpPr>
        <p:spPr>
          <a:xfrm>
            <a:off x="722583" y="558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22583" y="579502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22583" y="600873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22583" y="62037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cxnSp>
        <p:nvCxnSpPr>
          <p:cNvPr id="171" name="직선 연결선 170">
            <a:extLst>
              <a:ext uri="{FF2B5EF4-FFF2-40B4-BE49-F238E27FC236}">
                <a16:creationId xmlns:a16="http://schemas.microsoft.com/office/drawing/2014/main" id="{E9293055-D5CD-4B9E-7F64-64B2D2CA7A52}"/>
              </a:ext>
            </a:extLst>
          </p:cNvPr>
          <p:cNvCxnSpPr/>
          <p:nvPr/>
        </p:nvCxnSpPr>
        <p:spPr>
          <a:xfrm>
            <a:off x="3838380" y="322010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3840473" y="30041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840473" y="36423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84082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6" name="TextBox 175">
            <a:extLst>
              <a:ext uri="{FF2B5EF4-FFF2-40B4-BE49-F238E27FC236}">
                <a16:creationId xmlns:a16="http://schemas.microsoft.com/office/drawing/2014/main" id="{FFC49AEA-2A8F-250C-A86A-A7751D9706C3}"/>
              </a:ext>
            </a:extLst>
          </p:cNvPr>
          <p:cNvSpPr txBox="1"/>
          <p:nvPr/>
        </p:nvSpPr>
        <p:spPr>
          <a:xfrm>
            <a:off x="3884502" y="2207916"/>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4445419" y="2207916"/>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178" name="TextBox 177">
            <a:extLst>
              <a:ext uri="{FF2B5EF4-FFF2-40B4-BE49-F238E27FC236}">
                <a16:creationId xmlns:a16="http://schemas.microsoft.com/office/drawing/2014/main" id="{FFC49AEA-2A8F-250C-A86A-A7751D9706C3}"/>
              </a:ext>
            </a:extLst>
          </p:cNvPr>
          <p:cNvSpPr txBox="1"/>
          <p:nvPr/>
        </p:nvSpPr>
        <p:spPr>
          <a:xfrm>
            <a:off x="4993380" y="2207916"/>
            <a:ext cx="468423"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투찰내역</a:t>
            </a:r>
            <a:endParaRPr lang="ko-KR" altLang="en-US" sz="700" dirty="0">
              <a:latin typeface="+mn-ea"/>
            </a:endParaRPr>
          </a:p>
        </p:txBody>
      </p:sp>
      <p:sp>
        <p:nvSpPr>
          <p:cNvPr id="179" name="TextBox 178">
            <a:extLst>
              <a:ext uri="{FF2B5EF4-FFF2-40B4-BE49-F238E27FC236}">
                <a16:creationId xmlns:a16="http://schemas.microsoft.com/office/drawing/2014/main" id="{FFC49AEA-2A8F-250C-A86A-A7751D9706C3}"/>
              </a:ext>
            </a:extLst>
          </p:cNvPr>
          <p:cNvSpPr txBox="1"/>
          <p:nvPr/>
        </p:nvSpPr>
        <p:spPr>
          <a:xfrm>
            <a:off x="5553168" y="2207916"/>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180" name="직선 연결선 179">
            <a:extLst>
              <a:ext uri="{FF2B5EF4-FFF2-40B4-BE49-F238E27FC236}">
                <a16:creationId xmlns:a16="http://schemas.microsoft.com/office/drawing/2014/main" id="{E9293055-D5CD-4B9E-7F64-64B2D2CA7A52}"/>
              </a:ext>
            </a:extLst>
          </p:cNvPr>
          <p:cNvCxnSpPr/>
          <p:nvPr/>
        </p:nvCxnSpPr>
        <p:spPr>
          <a:xfrm>
            <a:off x="3840824" y="242452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81" name="그룹 180"/>
          <p:cNvGrpSpPr/>
          <p:nvPr/>
        </p:nvGrpSpPr>
        <p:grpSpPr>
          <a:xfrm>
            <a:off x="6044420" y="2169793"/>
            <a:ext cx="422853" cy="187961"/>
            <a:chOff x="3641308" y="2234886"/>
            <a:chExt cx="422853" cy="187961"/>
          </a:xfrm>
        </p:grpSpPr>
        <p:sp>
          <p:nvSpPr>
            <p:cNvPr id="182" name="타원 18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5400000" flipH="1">
              <a:off x="3679895" y="2305364"/>
              <a:ext cx="94010" cy="47005"/>
              <a:chOff x="6812560" y="3297172"/>
              <a:chExt cx="94010" cy="47005"/>
            </a:xfrm>
          </p:grpSpPr>
          <p:cxnSp>
            <p:nvCxnSpPr>
              <p:cNvPr id="189" name="직선 연결선 18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0" name="직선 연결선 18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4" name="타원 18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6" name="그룹 185"/>
            <p:cNvGrpSpPr/>
            <p:nvPr/>
          </p:nvGrpSpPr>
          <p:grpSpPr>
            <a:xfrm rot="16200000">
              <a:off x="3931564" y="2305364"/>
              <a:ext cx="94010" cy="47005"/>
              <a:chOff x="6812560" y="3297172"/>
              <a:chExt cx="94010" cy="47005"/>
            </a:xfrm>
          </p:grpSpPr>
          <p:cxnSp>
            <p:nvCxnSpPr>
              <p:cNvPr id="187" name="직선 연결선 18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8" name="직선 연결선 18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3006586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품목 내역 총 건수 표시</a:t>
            </a:r>
            <a:r>
              <a:rPr lang="en-US" altLang="ko-KR" dirty="0"/>
              <a:t/>
            </a:r>
            <a:br>
              <a:rPr lang="en-US" altLang="ko-KR" dirty="0"/>
            </a:br>
            <a:r>
              <a:rPr lang="en-US" altLang="ko-KR" dirty="0"/>
              <a:t>- </a:t>
            </a:r>
            <a:r>
              <a:rPr lang="ko-KR" altLang="en-US" dirty="0"/>
              <a:t>입찰참가신청서작성 </a:t>
            </a:r>
            <a:r>
              <a:rPr lang="en-US" altLang="ko-KR" dirty="0"/>
              <a:t>– </a:t>
            </a:r>
            <a:r>
              <a:rPr lang="ko-KR" altLang="en-US" dirty="0" err="1"/>
              <a:t>품목내역과</a:t>
            </a:r>
            <a:r>
              <a:rPr lang="ko-KR" altLang="en-US" dirty="0"/>
              <a:t> 같은 </a:t>
            </a:r>
            <a:r>
              <a:rPr lang="ko-KR" altLang="en-US" dirty="0" err="1"/>
              <a:t>구성임</a:t>
            </a:r>
            <a:r>
              <a:rPr lang="en-US" altLang="ko-KR" dirty="0"/>
              <a:t/>
            </a:r>
            <a:br>
              <a:rPr lang="en-US" altLang="ko-KR" dirty="0"/>
            </a:br>
            <a:r>
              <a:rPr lang="en-US" altLang="ko-KR" dirty="0"/>
              <a:t>- </a:t>
            </a:r>
            <a:r>
              <a:rPr lang="ko-KR" altLang="en-US" dirty="0"/>
              <a:t>신청서 작성은 탭으로 구분하여 세부 </a:t>
            </a:r>
            <a:r>
              <a:rPr lang="ko-KR" altLang="en-US" dirty="0" err="1"/>
              <a:t>스탭</a:t>
            </a:r>
            <a:r>
              <a:rPr lang="ko-KR" altLang="en-US" dirty="0"/>
              <a:t> 구분</a:t>
            </a:r>
            <a:r>
              <a:rPr lang="en-US" altLang="ko-KR" dirty="0"/>
              <a:t/>
            </a:r>
            <a:br>
              <a:rPr lang="en-US" altLang="ko-KR" dirty="0"/>
            </a:br>
            <a:r>
              <a:rPr lang="en-US" altLang="ko-KR" dirty="0"/>
              <a:t>- </a:t>
            </a:r>
            <a:r>
              <a:rPr lang="ko-KR" altLang="en-US" dirty="0" err="1"/>
              <a:t>입찰방법이</a:t>
            </a:r>
            <a:r>
              <a:rPr lang="ko-KR" altLang="en-US" dirty="0"/>
              <a:t> </a:t>
            </a:r>
            <a:r>
              <a:rPr lang="ko-KR" altLang="en-US" dirty="0" err="1"/>
              <a:t>단가제인</a:t>
            </a:r>
            <a:r>
              <a:rPr lang="ko-KR" altLang="en-US" dirty="0"/>
              <a:t> 경우 </a:t>
            </a:r>
            <a:r>
              <a:rPr lang="ko-KR" altLang="en-US" dirty="0" err="1"/>
              <a:t>품목내역</a:t>
            </a:r>
            <a:r>
              <a:rPr lang="ko-KR" altLang="en-US" dirty="0"/>
              <a:t> 탭 표시</a:t>
            </a:r>
          </a:p>
          <a:p>
            <a:pPr marL="228600" indent="-228600">
              <a:buFont typeface="+mj-lt"/>
              <a:buAutoNum type="arabicPeriod"/>
            </a:pPr>
            <a:r>
              <a:rPr lang="ko-KR" altLang="en-US" dirty="0" err="1"/>
              <a:t>더보기</a:t>
            </a:r>
            <a:r>
              <a:rPr lang="ko-KR" altLang="en-US" dirty="0"/>
              <a:t> 버튼 클릭을 통한 추가 항목 로드</a:t>
            </a:r>
            <a:r>
              <a:rPr lang="en-US" altLang="ko-KR" dirty="0"/>
              <a:t/>
            </a:r>
            <a:br>
              <a:rPr lang="en-US" altLang="ko-KR" dirty="0"/>
            </a:br>
            <a:r>
              <a:rPr lang="en-US" altLang="ko-KR" dirty="0"/>
              <a:t>- </a:t>
            </a:r>
            <a:r>
              <a:rPr lang="ko-KR" altLang="en-US" dirty="0" err="1"/>
              <a:t>더보기</a:t>
            </a:r>
            <a:r>
              <a:rPr lang="ko-KR" altLang="en-US" dirty="0"/>
              <a:t> 버튼이 추가 건수 표시</a:t>
            </a:r>
            <a:r>
              <a:rPr lang="en-US" altLang="ko-KR" dirty="0"/>
              <a:t/>
            </a:r>
            <a:br>
              <a:rPr lang="en-US" altLang="ko-KR" dirty="0"/>
            </a:br>
            <a:r>
              <a:rPr lang="en-US" altLang="ko-KR" dirty="0"/>
              <a:t>- </a:t>
            </a:r>
            <a:r>
              <a:rPr lang="ko-KR" altLang="en-US" dirty="0"/>
              <a:t>추가 항목이 없는 경우 </a:t>
            </a:r>
            <a:r>
              <a:rPr lang="ko-KR" altLang="en-US" dirty="0" err="1"/>
              <a:t>더보기</a:t>
            </a:r>
            <a:r>
              <a:rPr lang="ko-KR" altLang="en-US" dirty="0"/>
              <a:t> 버튼 숨김</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품목내역</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err="1">
                <a:latin typeface="+mn-ea"/>
              </a:rPr>
              <a:t>스탭</a:t>
            </a:r>
            <a:r>
              <a:rPr lang="ko-KR" altLang="en-US" dirty="0">
                <a:latin typeface="+mn-ea"/>
              </a:rPr>
              <a:t> 중 </a:t>
            </a:r>
            <a:r>
              <a:rPr lang="ko-KR" altLang="en-US" dirty="0" err="1"/>
              <a:t>품목내역</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품목내역</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MUI-BD-06-M02</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086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2468189"/>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품목내역</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69" name="직사각형 168"/>
          <p:cNvSpPr/>
          <p:nvPr/>
        </p:nvSpPr>
        <p:spPr>
          <a:xfrm>
            <a:off x="722232" y="2775674"/>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2775674"/>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277567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172" name="그룹 171"/>
          <p:cNvGrpSpPr/>
          <p:nvPr/>
        </p:nvGrpSpPr>
        <p:grpSpPr>
          <a:xfrm>
            <a:off x="720139" y="2775674"/>
            <a:ext cx="2630093" cy="1723549"/>
            <a:chOff x="701175" y="1835481"/>
            <a:chExt cx="2630093" cy="1723549"/>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08" name="직사각형 207"/>
          <p:cNvSpPr/>
          <p:nvPr/>
        </p:nvSpPr>
        <p:spPr>
          <a:xfrm>
            <a:off x="722232" y="4590582"/>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9" name="TextBox 208">
            <a:extLst>
              <a:ext uri="{FF2B5EF4-FFF2-40B4-BE49-F238E27FC236}">
                <a16:creationId xmlns:a16="http://schemas.microsoft.com/office/drawing/2014/main" id="{FFC49AEA-2A8F-250C-A86A-A7751D9706C3}"/>
              </a:ext>
            </a:extLst>
          </p:cNvPr>
          <p:cNvSpPr txBox="1"/>
          <p:nvPr/>
        </p:nvSpPr>
        <p:spPr>
          <a:xfrm>
            <a:off x="809295" y="4590582"/>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1566144" y="4590582"/>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211" name="그룹 210"/>
          <p:cNvGrpSpPr/>
          <p:nvPr/>
        </p:nvGrpSpPr>
        <p:grpSpPr>
          <a:xfrm>
            <a:off x="720139" y="4590582"/>
            <a:ext cx="2630093" cy="1723549"/>
            <a:chOff x="701175" y="1835481"/>
            <a:chExt cx="2630093" cy="1723549"/>
          </a:xfrm>
        </p:grpSpPr>
        <p:cxnSp>
          <p:nvCxnSpPr>
            <p:cNvPr id="212" name="직선 연결선 21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3" name="직선 연결선 21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4" name="직선 연결선 21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5" name="직선 연결선 21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7" name="직선 연결선 216">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21" name="그룹 220">
            <a:extLst>
              <a:ext uri="{FF2B5EF4-FFF2-40B4-BE49-F238E27FC236}">
                <a16:creationId xmlns:a16="http://schemas.microsoft.com/office/drawing/2014/main" id="{22BC05EE-C648-7CA2-4CCC-6E1C1A7E9BDA}"/>
              </a:ext>
            </a:extLst>
          </p:cNvPr>
          <p:cNvGrpSpPr/>
          <p:nvPr/>
        </p:nvGrpSpPr>
        <p:grpSpPr>
          <a:xfrm>
            <a:off x="5130062" y="5152030"/>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46" name="직사각형 345"/>
          <p:cNvSpPr/>
          <p:nvPr/>
        </p:nvSpPr>
        <p:spPr>
          <a:xfrm>
            <a:off x="3834318" y="2968670"/>
            <a:ext cx="792000" cy="17235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7" name="TextBox 346">
            <a:extLst>
              <a:ext uri="{FF2B5EF4-FFF2-40B4-BE49-F238E27FC236}">
                <a16:creationId xmlns:a16="http://schemas.microsoft.com/office/drawing/2014/main" id="{FFC49AEA-2A8F-250C-A86A-A7751D9706C3}"/>
              </a:ext>
            </a:extLst>
          </p:cNvPr>
          <p:cNvSpPr txBox="1"/>
          <p:nvPr/>
        </p:nvSpPr>
        <p:spPr>
          <a:xfrm>
            <a:off x="3921381" y="2968670"/>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endParaRPr lang="en-US" altLang="ko-KR" sz="700" dirty="0">
              <a:latin typeface="+mn-ea"/>
            </a:endParaRPr>
          </a:p>
        </p:txBody>
      </p:sp>
      <p:sp>
        <p:nvSpPr>
          <p:cNvPr id="348" name="TextBox 347">
            <a:extLst>
              <a:ext uri="{FF2B5EF4-FFF2-40B4-BE49-F238E27FC236}">
                <a16:creationId xmlns:a16="http://schemas.microsoft.com/office/drawing/2014/main" id="{FFC49AEA-2A8F-250C-A86A-A7751D9706C3}"/>
              </a:ext>
            </a:extLst>
          </p:cNvPr>
          <p:cNvSpPr txBox="1"/>
          <p:nvPr/>
        </p:nvSpPr>
        <p:spPr>
          <a:xfrm>
            <a:off x="4678230" y="2968670"/>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10</a:t>
            </a:r>
          </a:p>
          <a:p>
            <a:pPr>
              <a:lnSpc>
                <a:spcPct val="200000"/>
              </a:lnSpc>
            </a:pPr>
            <a:r>
              <a:rPr lang="en-US" altLang="ko-KR" sz="700" dirty="0">
                <a:latin typeface="+mn-ea"/>
              </a:rPr>
              <a:t>000 000 000</a:t>
            </a:r>
          </a:p>
          <a:p>
            <a:pPr>
              <a:lnSpc>
                <a:spcPct val="200000"/>
              </a:lnSpc>
            </a:pPr>
            <a:r>
              <a:rPr lang="en-US" altLang="ko-KR" sz="700" dirty="0">
                <a:latin typeface="+mn-ea"/>
              </a:rPr>
              <a:t>-</a:t>
            </a:r>
          </a:p>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grpSp>
        <p:nvGrpSpPr>
          <p:cNvPr id="349" name="그룹 348"/>
          <p:cNvGrpSpPr/>
          <p:nvPr/>
        </p:nvGrpSpPr>
        <p:grpSpPr>
          <a:xfrm>
            <a:off x="3832225" y="2968670"/>
            <a:ext cx="2630093" cy="1723549"/>
            <a:chOff x="701175" y="1835481"/>
            <a:chExt cx="2630093" cy="1723549"/>
          </a:xfrm>
        </p:grpSpPr>
        <p:cxnSp>
          <p:nvCxnSpPr>
            <p:cNvPr id="350" name="직선 연결선 34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1" name="직선 연결선 35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2" name="직선 연결선 35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3" name="직선 연결선 35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4" name="직선 연결선 35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5" name="직선 연결선 354">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6" name="직선 연결선 355">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7" name="직선 연결선 356">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8" name="직선 연결선 357">
              <a:extLst>
                <a:ext uri="{FF2B5EF4-FFF2-40B4-BE49-F238E27FC236}">
                  <a16:creationId xmlns:a16="http://schemas.microsoft.com/office/drawing/2014/main" id="{E9293055-D5CD-4B9E-7F64-64B2D2CA7A52}"/>
                </a:ext>
              </a:extLst>
            </p:cNvPr>
            <p:cNvCxnSpPr/>
            <p:nvPr/>
          </p:nvCxnSpPr>
          <p:spPr>
            <a:xfrm>
              <a:off x="703268" y="3559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024" y="4791008"/>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360" name="타원 359">
            <a:extLst>
              <a:ext uri="{FF2B5EF4-FFF2-40B4-BE49-F238E27FC236}">
                <a16:creationId xmlns:a16="http://schemas.microsoft.com/office/drawing/2014/main" id="{37A7FF4F-0EAA-1463-560A-D5EC24416103}"/>
              </a:ext>
            </a:extLst>
          </p:cNvPr>
          <p:cNvSpPr/>
          <p:nvPr/>
        </p:nvSpPr>
        <p:spPr>
          <a:xfrm>
            <a:off x="3712022" y="477203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105" name="그룹 104">
            <a:extLst>
              <a:ext uri="{FF2B5EF4-FFF2-40B4-BE49-F238E27FC236}">
                <a16:creationId xmlns:a16="http://schemas.microsoft.com/office/drawing/2014/main" id="{22BC05EE-C648-7CA2-4CCC-6E1C1A7E9BDA}"/>
              </a:ext>
            </a:extLst>
          </p:cNvPr>
          <p:cNvGrpSpPr/>
          <p:nvPr/>
        </p:nvGrpSpPr>
        <p:grpSpPr>
          <a:xfrm>
            <a:off x="5130062" y="2543512"/>
            <a:ext cx="76863" cy="292489"/>
            <a:chOff x="3750067" y="4683795"/>
            <a:chExt cx="76863" cy="292489"/>
          </a:xfrm>
        </p:grpSpPr>
        <p:sp>
          <p:nvSpPr>
            <p:cNvPr id="106" name="타원 105">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7" name="타원 106">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8" name="타원 107">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09" name="모서리가 둥근 직사각형 108"/>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모서리가 둥근 직사각형 109"/>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384082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2" name="TextBox 111">
            <a:extLst>
              <a:ext uri="{FF2B5EF4-FFF2-40B4-BE49-F238E27FC236}">
                <a16:creationId xmlns:a16="http://schemas.microsoft.com/office/drawing/2014/main" id="{FFC49AEA-2A8F-250C-A86A-A7751D9706C3}"/>
              </a:ext>
            </a:extLst>
          </p:cNvPr>
          <p:cNvSpPr txBox="1"/>
          <p:nvPr/>
        </p:nvSpPr>
        <p:spPr>
          <a:xfrm>
            <a:off x="3884502" y="2207916"/>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13" name="TextBox 112">
            <a:extLst>
              <a:ext uri="{FF2B5EF4-FFF2-40B4-BE49-F238E27FC236}">
                <a16:creationId xmlns:a16="http://schemas.microsoft.com/office/drawing/2014/main" id="{FFC49AEA-2A8F-250C-A86A-A7751D9706C3}"/>
              </a:ext>
            </a:extLst>
          </p:cNvPr>
          <p:cNvSpPr txBox="1"/>
          <p:nvPr/>
        </p:nvSpPr>
        <p:spPr>
          <a:xfrm>
            <a:off x="4445419" y="2207916"/>
            <a:ext cx="464719"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a:t>
            </a:r>
            <a:r>
              <a:rPr lang="ko-KR" altLang="en-US" sz="700" b="1" dirty="0" err="1">
                <a:latin typeface="+mn-ea"/>
              </a:rPr>
              <a:t>품목내역</a:t>
            </a:r>
            <a:endParaRPr lang="ko-KR" altLang="en-US" sz="700" b="1" dirty="0">
              <a:latin typeface="+mn-ea"/>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4993380" y="2207916"/>
            <a:ext cx="468423"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투찰내역</a:t>
            </a:r>
            <a:endParaRPr lang="ko-KR" altLang="en-US"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5553168" y="2207916"/>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116" name="직선 연결선 115">
            <a:extLst>
              <a:ext uri="{FF2B5EF4-FFF2-40B4-BE49-F238E27FC236}">
                <a16:creationId xmlns:a16="http://schemas.microsoft.com/office/drawing/2014/main" id="{E9293055-D5CD-4B9E-7F64-64B2D2CA7A52}"/>
              </a:ext>
            </a:extLst>
          </p:cNvPr>
          <p:cNvCxnSpPr/>
          <p:nvPr/>
        </p:nvCxnSpPr>
        <p:spPr>
          <a:xfrm>
            <a:off x="4421849" y="242452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17" name="그룹 116"/>
          <p:cNvGrpSpPr/>
          <p:nvPr/>
        </p:nvGrpSpPr>
        <p:grpSpPr>
          <a:xfrm>
            <a:off x="6044420" y="2169793"/>
            <a:ext cx="422853" cy="187961"/>
            <a:chOff x="3641308" y="2234886"/>
            <a:chExt cx="422853" cy="187961"/>
          </a:xfrm>
        </p:grpSpPr>
        <p:sp>
          <p:nvSpPr>
            <p:cNvPr id="118" name="타원 11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9" name="그룹 118"/>
            <p:cNvGrpSpPr/>
            <p:nvPr/>
          </p:nvGrpSpPr>
          <p:grpSpPr>
            <a:xfrm rot="5400000" flipH="1">
              <a:off x="3679895" y="2305364"/>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0" name="타원 119"/>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1" name="그룹 120"/>
            <p:cNvGrpSpPr/>
            <p:nvPr/>
          </p:nvGrpSpPr>
          <p:grpSpPr>
            <a:xfrm rot="16200000">
              <a:off x="3931564" y="2305364"/>
              <a:ext cx="94010" cy="47005"/>
              <a:chOff x="6812560" y="3297172"/>
              <a:chExt cx="94010" cy="47005"/>
            </a:xfrm>
          </p:grpSpPr>
          <p:cxnSp>
            <p:nvCxnSpPr>
              <p:cNvPr id="122" name="직선 연결선 12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27" name="직선 연결선 126">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759212" y="2207916"/>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29" name="TextBox 128">
            <a:extLst>
              <a:ext uri="{FF2B5EF4-FFF2-40B4-BE49-F238E27FC236}">
                <a16:creationId xmlns:a16="http://schemas.microsoft.com/office/drawing/2014/main" id="{FFC49AEA-2A8F-250C-A86A-A7751D9706C3}"/>
              </a:ext>
            </a:extLst>
          </p:cNvPr>
          <p:cNvSpPr txBox="1"/>
          <p:nvPr/>
        </p:nvSpPr>
        <p:spPr>
          <a:xfrm>
            <a:off x="1320129" y="2207916"/>
            <a:ext cx="464719"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a:t>
            </a:r>
            <a:r>
              <a:rPr lang="ko-KR" altLang="en-US" sz="700" b="1" dirty="0" err="1">
                <a:latin typeface="+mn-ea"/>
              </a:rPr>
              <a:t>품목내역</a:t>
            </a:r>
            <a:endParaRPr lang="ko-KR" altLang="en-US" sz="700" b="1"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1868090" y="2207916"/>
            <a:ext cx="468423"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err="1">
                <a:latin typeface="+mn-ea"/>
              </a:rPr>
              <a:t>투찰내역</a:t>
            </a:r>
            <a:endParaRPr lang="ko-KR" altLang="en-US" sz="700"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2427878" y="2207916"/>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132" name="직선 연결선 131">
            <a:extLst>
              <a:ext uri="{FF2B5EF4-FFF2-40B4-BE49-F238E27FC236}">
                <a16:creationId xmlns:a16="http://schemas.microsoft.com/office/drawing/2014/main" id="{E9293055-D5CD-4B9E-7F64-64B2D2CA7A52}"/>
              </a:ext>
            </a:extLst>
          </p:cNvPr>
          <p:cNvCxnSpPr/>
          <p:nvPr/>
        </p:nvCxnSpPr>
        <p:spPr>
          <a:xfrm>
            <a:off x="1296559" y="242452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3" name="그룹 132"/>
          <p:cNvGrpSpPr/>
          <p:nvPr/>
        </p:nvGrpSpPr>
        <p:grpSpPr>
          <a:xfrm>
            <a:off x="2919130" y="2169793"/>
            <a:ext cx="422853" cy="187961"/>
            <a:chOff x="3641308" y="2234886"/>
            <a:chExt cx="422853" cy="187961"/>
          </a:xfrm>
        </p:grpSpPr>
        <p:sp>
          <p:nvSpPr>
            <p:cNvPr id="134" name="타원 13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5" name="그룹 134"/>
            <p:cNvGrpSpPr/>
            <p:nvPr/>
          </p:nvGrpSpPr>
          <p:grpSpPr>
            <a:xfrm rot="5400000" flipH="1">
              <a:off x="3679895" y="2305364"/>
              <a:ext cx="94010" cy="47005"/>
              <a:chOff x="6812560" y="3297172"/>
              <a:chExt cx="94010" cy="47005"/>
            </a:xfrm>
          </p:grpSpPr>
          <p:cxnSp>
            <p:nvCxnSpPr>
              <p:cNvPr id="140" name="직선 연결선 13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1" name="직선 연결선 14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6" name="타원 13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7" name="그룹 136"/>
            <p:cNvGrpSpPr/>
            <p:nvPr/>
          </p:nvGrpSpPr>
          <p:grpSpPr>
            <a:xfrm rot="16200000">
              <a:off x="3931564" y="2305364"/>
              <a:ext cx="94010" cy="47005"/>
              <a:chOff x="6812560" y="3297172"/>
              <a:chExt cx="94010" cy="47005"/>
            </a:xfrm>
          </p:grpSpPr>
          <p:cxnSp>
            <p:nvCxnSpPr>
              <p:cNvPr id="138" name="직선 연결선 13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9" name="직선 연결선 13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218205821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투찰내역</a:t>
            </a:r>
            <a:r>
              <a:rPr lang="en-US" altLang="ko-KR" dirty="0"/>
              <a:t/>
            </a:r>
            <a:br>
              <a:rPr lang="en-US" altLang="ko-KR" dirty="0"/>
            </a:br>
            <a:r>
              <a:rPr lang="en-US" altLang="ko-KR" dirty="0"/>
              <a:t>- </a:t>
            </a:r>
            <a:r>
              <a:rPr lang="ko-KR" altLang="en-US" dirty="0"/>
              <a:t>입찰참가신청서작성 </a:t>
            </a:r>
            <a:r>
              <a:rPr lang="en-US" altLang="ko-KR" dirty="0"/>
              <a:t>– </a:t>
            </a:r>
            <a:r>
              <a:rPr lang="ko-KR" altLang="en-US" dirty="0" err="1"/>
              <a:t>품목내역과</a:t>
            </a:r>
            <a:r>
              <a:rPr lang="ko-KR" altLang="en-US" dirty="0"/>
              <a:t> 같은 </a:t>
            </a:r>
            <a:r>
              <a:rPr lang="ko-KR" altLang="en-US" dirty="0" err="1"/>
              <a:t>구성임</a:t>
            </a:r>
            <a:r>
              <a:rPr lang="en-US" altLang="ko-KR" dirty="0"/>
              <a:t/>
            </a:r>
            <a:br>
              <a:rPr lang="en-US" altLang="ko-KR" dirty="0"/>
            </a:br>
            <a:r>
              <a:rPr lang="en-US" altLang="ko-KR" dirty="0"/>
              <a:t>- </a:t>
            </a:r>
            <a:r>
              <a:rPr lang="ko-KR" altLang="en-US" dirty="0"/>
              <a:t>신청서 작성은 탭으로 구분하여 세부 </a:t>
            </a:r>
            <a:r>
              <a:rPr lang="ko-KR" altLang="en-US" dirty="0" err="1"/>
              <a:t>스탭</a:t>
            </a:r>
            <a:r>
              <a:rPr lang="ko-KR" altLang="en-US" dirty="0"/>
              <a:t> 구분</a:t>
            </a:r>
            <a:r>
              <a:rPr lang="en-US" altLang="ko-KR" dirty="0"/>
              <a:t/>
            </a:r>
            <a:br>
              <a:rPr lang="en-US" altLang="ko-KR" dirty="0"/>
            </a:br>
            <a:r>
              <a:rPr lang="en-US" altLang="ko-KR" dirty="0"/>
              <a:t>- </a:t>
            </a:r>
            <a:r>
              <a:rPr lang="ko-KR" altLang="en-US" dirty="0"/>
              <a:t>입찰금액 입력 시 한글금액으로 변환되어 입력됨</a:t>
            </a:r>
            <a:r>
              <a:rPr lang="en-US" altLang="ko-KR" dirty="0"/>
              <a:t/>
            </a:r>
            <a:br>
              <a:rPr lang="en-US" altLang="ko-KR" dirty="0"/>
            </a:br>
            <a:r>
              <a:rPr lang="en-US" altLang="ko-KR" dirty="0"/>
              <a:t>- </a:t>
            </a:r>
            <a:r>
              <a:rPr lang="ko-KR" altLang="en-US" dirty="0" err="1"/>
              <a:t>입찰방법이</a:t>
            </a:r>
            <a:r>
              <a:rPr lang="ko-KR" altLang="en-US" dirty="0"/>
              <a:t> </a:t>
            </a:r>
            <a:r>
              <a:rPr lang="ko-KR" altLang="en-US" dirty="0" err="1"/>
              <a:t>단가제인</a:t>
            </a:r>
            <a:r>
              <a:rPr lang="ko-KR" altLang="en-US" dirty="0"/>
              <a:t> 경우 소수점 둘째자리까지 입력 가능</a:t>
            </a:r>
            <a:endParaRPr lang="en-US" altLang="ko-KR" dirty="0"/>
          </a:p>
          <a:p>
            <a:pPr marL="228600" indent="-228600">
              <a:buFont typeface="+mj-lt"/>
              <a:buAutoNum type="arabicPeriod"/>
            </a:pPr>
            <a:r>
              <a:rPr lang="ko-KR" altLang="en-US" dirty="0" err="1"/>
              <a:t>더보기</a:t>
            </a:r>
            <a:r>
              <a:rPr lang="ko-KR" altLang="en-US" dirty="0"/>
              <a:t> 버튼 클릭을 통한 추가 항목 로드</a:t>
            </a:r>
            <a:r>
              <a:rPr lang="en-US" altLang="ko-KR" dirty="0"/>
              <a:t/>
            </a:r>
            <a:br>
              <a:rPr lang="en-US" altLang="ko-KR" dirty="0"/>
            </a:br>
            <a:r>
              <a:rPr lang="en-US" altLang="ko-KR" dirty="0"/>
              <a:t>- </a:t>
            </a:r>
            <a:r>
              <a:rPr lang="ko-KR" altLang="en-US" dirty="0" err="1"/>
              <a:t>더보기</a:t>
            </a:r>
            <a:r>
              <a:rPr lang="ko-KR" altLang="en-US" dirty="0"/>
              <a:t> 버튼이 추가 건수 표시</a:t>
            </a:r>
            <a:r>
              <a:rPr lang="en-US" altLang="ko-KR" dirty="0"/>
              <a:t/>
            </a:r>
            <a:br>
              <a:rPr lang="en-US" altLang="ko-KR" dirty="0"/>
            </a:br>
            <a:r>
              <a:rPr lang="en-US" altLang="ko-KR" dirty="0"/>
              <a:t>- </a:t>
            </a:r>
            <a:r>
              <a:rPr lang="ko-KR" altLang="en-US" dirty="0"/>
              <a:t>추가 항목이 없는 경우 </a:t>
            </a:r>
            <a:r>
              <a:rPr lang="ko-KR" altLang="en-US" dirty="0" err="1"/>
              <a:t>더보기</a:t>
            </a:r>
            <a:r>
              <a:rPr lang="ko-KR" altLang="en-US" dirty="0"/>
              <a:t> 버튼 숨김</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투찰내역</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err="1">
                <a:latin typeface="+mn-ea"/>
              </a:rPr>
              <a:t>스탭</a:t>
            </a:r>
            <a:r>
              <a:rPr lang="ko-KR" altLang="en-US" dirty="0">
                <a:latin typeface="+mn-ea"/>
              </a:rPr>
              <a:t> 중 </a:t>
            </a:r>
            <a:r>
              <a:rPr lang="ko-KR" altLang="en-US" dirty="0" err="1"/>
              <a:t>품목내역</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투찰내역</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086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2468189"/>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투찰내역</a:t>
            </a:r>
            <a:endParaRPr lang="ko-KR" altLang="en-US" sz="700" dirty="0">
              <a:latin typeface="+mn-ea"/>
            </a:endParaRPr>
          </a:p>
        </p:txBody>
      </p:sp>
      <p:sp>
        <p:nvSpPr>
          <p:cNvPr id="169" name="직사각형 168"/>
          <p:cNvSpPr/>
          <p:nvPr/>
        </p:nvSpPr>
        <p:spPr>
          <a:xfrm>
            <a:off x="722232" y="2775674"/>
            <a:ext cx="792000" cy="107018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2775674"/>
            <a:ext cx="725552" cy="1077218"/>
          </a:xfrm>
          <a:prstGeom prst="rect">
            <a:avLst/>
          </a:prstGeom>
          <a:noFill/>
        </p:spPr>
        <p:txBody>
          <a:bodyPr wrap="square" lIns="0" tIns="0" rIns="0" bIns="0" rtlCol="0">
            <a:spAutoFit/>
          </a:bodyPr>
          <a:lstStyle/>
          <a:p>
            <a:pPr>
              <a:lnSpc>
                <a:spcPct val="200000"/>
              </a:lnSpc>
            </a:pPr>
            <a:r>
              <a:rPr lang="ko-KR" altLang="en-US" sz="700" dirty="0">
                <a:latin typeface="+mn-ea"/>
              </a:rPr>
              <a:t>입찰금액</a:t>
            </a:r>
            <a:r>
              <a:rPr lang="en-US" altLang="ko-KR" sz="700" dirty="0">
                <a:latin typeface="+mn-ea"/>
              </a:rPr>
              <a:t>(\) </a:t>
            </a:r>
            <a:r>
              <a:rPr lang="en-US" altLang="ko-KR" sz="700" dirty="0">
                <a:solidFill>
                  <a:srgbClr val="FF0000"/>
                </a:solidFill>
                <a:latin typeface="+mn-ea"/>
              </a:rPr>
              <a:t>*</a:t>
            </a:r>
          </a:p>
          <a:p>
            <a:pPr>
              <a:lnSpc>
                <a:spcPct val="200000"/>
              </a:lnSpc>
            </a:pPr>
            <a:r>
              <a:rPr lang="ko-KR" altLang="en-US" sz="700" dirty="0">
                <a:latin typeface="+mn-ea"/>
              </a:rPr>
              <a:t>입찰금액</a:t>
            </a:r>
            <a:r>
              <a:rPr lang="en-US" altLang="ko-KR" sz="700" dirty="0">
                <a:latin typeface="+mn-ea"/>
              </a:rPr>
              <a:t>(</a:t>
            </a:r>
            <a:r>
              <a:rPr lang="ko-KR" altLang="en-US" sz="700" dirty="0">
                <a:latin typeface="+mn-ea"/>
              </a:rPr>
              <a:t>원</a:t>
            </a:r>
            <a:r>
              <a:rPr lang="en-US" altLang="ko-KR" sz="700" dirty="0">
                <a:latin typeface="+mn-ea"/>
              </a:rPr>
              <a:t>)</a:t>
            </a:r>
            <a:endParaRPr lang="en-US" altLang="ko-KR" sz="700" dirty="0">
              <a:solidFill>
                <a:srgbClr val="FF0000"/>
              </a:solidFill>
              <a:latin typeface="+mn-ea"/>
            </a:endParaRPr>
          </a:p>
          <a:p>
            <a:pPr>
              <a:lnSpc>
                <a:spcPct val="200000"/>
              </a:lnSpc>
            </a:pPr>
            <a:r>
              <a:rPr lang="ko-KR" altLang="en-US" sz="700" dirty="0" err="1">
                <a:latin typeface="+mn-ea"/>
              </a:rPr>
              <a:t>입찰단가</a:t>
            </a:r>
            <a:r>
              <a:rPr lang="en-US" altLang="ko-KR" sz="700" dirty="0">
                <a:latin typeface="+mn-ea"/>
              </a:rPr>
              <a:t>(\) </a:t>
            </a:r>
            <a:r>
              <a:rPr lang="en-US" altLang="ko-KR" sz="700" dirty="0">
                <a:solidFill>
                  <a:srgbClr val="FF0000"/>
                </a:solidFill>
                <a:latin typeface="+mn-ea"/>
              </a:rPr>
              <a:t>*</a:t>
            </a:r>
          </a:p>
          <a:p>
            <a:pPr>
              <a:lnSpc>
                <a:spcPct val="200000"/>
              </a:lnSpc>
            </a:pPr>
            <a:r>
              <a:rPr lang="ko-KR" altLang="en-US" sz="700" dirty="0" err="1">
                <a:latin typeface="+mn-ea"/>
              </a:rPr>
              <a:t>입찰단가</a:t>
            </a:r>
            <a:r>
              <a:rPr lang="en-US" altLang="ko-KR" sz="700" dirty="0">
                <a:latin typeface="+mn-ea"/>
              </a:rPr>
              <a:t>(</a:t>
            </a:r>
            <a:r>
              <a:rPr lang="ko-KR" altLang="en-US" sz="700" dirty="0">
                <a:latin typeface="+mn-ea"/>
              </a:rPr>
              <a:t>원</a:t>
            </a:r>
            <a:r>
              <a:rPr lang="en-US" altLang="ko-KR" sz="700" dirty="0">
                <a:latin typeface="+mn-ea"/>
              </a:rPr>
              <a:t>)</a:t>
            </a:r>
            <a:endParaRPr lang="en-US" altLang="ko-KR" sz="700" dirty="0">
              <a:solidFill>
                <a:srgbClr val="FF0000"/>
              </a:solidFill>
              <a:latin typeface="+mn-ea"/>
            </a:endParaRPr>
          </a:p>
          <a:p>
            <a:pPr>
              <a:lnSpc>
                <a:spcPct val="200000"/>
              </a:lnSpc>
            </a:pPr>
            <a:r>
              <a:rPr lang="ko-KR" altLang="en-US" sz="700" dirty="0" err="1">
                <a:latin typeface="+mn-ea"/>
              </a:rPr>
              <a:t>입찰수량</a:t>
            </a:r>
            <a:endParaRPr lang="en-US" altLang="ko-KR" sz="700" dirty="0">
              <a:solidFill>
                <a:srgbClr val="FF0000"/>
              </a:solidFill>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2775674"/>
            <a:ext cx="1784088" cy="1077218"/>
          </a:xfrm>
          <a:prstGeom prst="rect">
            <a:avLst/>
          </a:prstGeom>
          <a:noFill/>
        </p:spPr>
        <p:txBody>
          <a:bodyPr wrap="square" lIns="0" tIns="0" rIns="0" bIns="0" rtlCol="0">
            <a:spAutoFit/>
          </a:bodyPr>
          <a:lstStyle/>
          <a:p>
            <a:pPr algn="r">
              <a:lnSpc>
                <a:spcPct val="200000"/>
              </a:lnSpc>
            </a:pPr>
            <a:endParaRPr lang="en-US" altLang="ko-KR" sz="700" dirty="0">
              <a:latin typeface="+mn-ea"/>
            </a:endParaRPr>
          </a:p>
          <a:p>
            <a:pPr>
              <a:lnSpc>
                <a:spcPct val="200000"/>
              </a:lnSpc>
            </a:pPr>
            <a:r>
              <a:rPr lang="ko-KR" altLang="en-US" sz="700" dirty="0">
                <a:latin typeface="+mn-ea"/>
              </a:rPr>
              <a:t>금 일백억 원</a:t>
            </a:r>
            <a:endParaRPr lang="en-US" altLang="ko-KR" sz="700" dirty="0">
              <a:latin typeface="+mn-ea"/>
            </a:endParaRPr>
          </a:p>
          <a:p>
            <a:pPr algn="r">
              <a:lnSpc>
                <a:spcPct val="200000"/>
              </a:lnSpc>
            </a:pPr>
            <a:endParaRPr lang="en-US" altLang="ko-KR" sz="700" dirty="0">
              <a:latin typeface="+mn-ea"/>
            </a:endParaRPr>
          </a:p>
          <a:p>
            <a:pPr>
              <a:lnSpc>
                <a:spcPct val="200000"/>
              </a:lnSpc>
            </a:pPr>
            <a:r>
              <a:rPr lang="en-US" altLang="ko-KR" sz="700" dirty="0">
                <a:latin typeface="+mn-ea"/>
              </a:rPr>
              <a:t>-</a:t>
            </a:r>
          </a:p>
          <a:p>
            <a:pPr>
              <a:lnSpc>
                <a:spcPct val="200000"/>
              </a:lnSpc>
            </a:pPr>
            <a:endParaRPr lang="en-US" altLang="ko-KR" sz="700" dirty="0">
              <a:latin typeface="+mn-ea"/>
            </a:endParaRPr>
          </a:p>
        </p:txBody>
      </p:sp>
      <p:grpSp>
        <p:nvGrpSpPr>
          <p:cNvPr id="172" name="그룹 171"/>
          <p:cNvGrpSpPr/>
          <p:nvPr/>
        </p:nvGrpSpPr>
        <p:grpSpPr>
          <a:xfrm>
            <a:off x="720139" y="2775674"/>
            <a:ext cx="2630093" cy="1073700"/>
            <a:chOff x="701175" y="1835481"/>
            <a:chExt cx="2630093" cy="107370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27" name="직선 연결선 126">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759212" y="2207916"/>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29" name="TextBox 128">
            <a:extLst>
              <a:ext uri="{FF2B5EF4-FFF2-40B4-BE49-F238E27FC236}">
                <a16:creationId xmlns:a16="http://schemas.microsoft.com/office/drawing/2014/main" id="{FFC49AEA-2A8F-250C-A86A-A7751D9706C3}"/>
              </a:ext>
            </a:extLst>
          </p:cNvPr>
          <p:cNvSpPr txBox="1"/>
          <p:nvPr/>
        </p:nvSpPr>
        <p:spPr>
          <a:xfrm>
            <a:off x="1320129" y="2207916"/>
            <a:ext cx="464719"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a:t>
            </a:r>
            <a:r>
              <a:rPr lang="ko-KR" altLang="en-US" sz="700" dirty="0" err="1">
                <a:latin typeface="+mn-ea"/>
              </a:rPr>
              <a:t>품목내역</a:t>
            </a:r>
            <a:endParaRPr lang="ko-KR" altLang="en-US"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1868090" y="2207916"/>
            <a:ext cx="468423"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err="1">
                <a:latin typeface="+mn-ea"/>
              </a:rPr>
              <a:t>투찰내역</a:t>
            </a:r>
            <a:endParaRPr lang="ko-KR" altLang="en-US" sz="700" b="1"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2427878" y="2207916"/>
            <a:ext cx="674918"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cxnSp>
        <p:nvCxnSpPr>
          <p:cNvPr id="132" name="직선 연결선 131">
            <a:extLst>
              <a:ext uri="{FF2B5EF4-FFF2-40B4-BE49-F238E27FC236}">
                <a16:creationId xmlns:a16="http://schemas.microsoft.com/office/drawing/2014/main" id="{E9293055-D5CD-4B9E-7F64-64B2D2CA7A52}"/>
              </a:ext>
            </a:extLst>
          </p:cNvPr>
          <p:cNvCxnSpPr/>
          <p:nvPr/>
        </p:nvCxnSpPr>
        <p:spPr>
          <a:xfrm>
            <a:off x="1868090" y="242452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3" name="그룹 132"/>
          <p:cNvGrpSpPr/>
          <p:nvPr/>
        </p:nvGrpSpPr>
        <p:grpSpPr>
          <a:xfrm>
            <a:off x="2919130" y="2169793"/>
            <a:ext cx="422853" cy="187961"/>
            <a:chOff x="3641308" y="2234886"/>
            <a:chExt cx="422853" cy="187961"/>
          </a:xfrm>
        </p:grpSpPr>
        <p:sp>
          <p:nvSpPr>
            <p:cNvPr id="134" name="타원 13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5" name="그룹 134"/>
            <p:cNvGrpSpPr/>
            <p:nvPr/>
          </p:nvGrpSpPr>
          <p:grpSpPr>
            <a:xfrm rot="5400000" flipH="1">
              <a:off x="3679895" y="2305364"/>
              <a:ext cx="94010" cy="47005"/>
              <a:chOff x="6812560" y="3297172"/>
              <a:chExt cx="94010" cy="47005"/>
            </a:xfrm>
          </p:grpSpPr>
          <p:cxnSp>
            <p:nvCxnSpPr>
              <p:cNvPr id="140" name="직선 연결선 13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1" name="직선 연결선 14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6" name="타원 13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7" name="그룹 136"/>
            <p:cNvGrpSpPr/>
            <p:nvPr/>
          </p:nvGrpSpPr>
          <p:grpSpPr>
            <a:xfrm rot="16200000">
              <a:off x="3931564" y="2305364"/>
              <a:ext cx="94010" cy="47005"/>
              <a:chOff x="6812560" y="3297172"/>
              <a:chExt cx="94010" cy="47005"/>
            </a:xfrm>
          </p:grpSpPr>
          <p:cxnSp>
            <p:nvCxnSpPr>
              <p:cNvPr id="138" name="직선 연결선 13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9" name="직선 연결선 13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2" name="사각형: 둥근 모서리 15">
            <a:extLst>
              <a:ext uri="{FF2B5EF4-FFF2-40B4-BE49-F238E27FC236}">
                <a16:creationId xmlns:a16="http://schemas.microsoft.com/office/drawing/2014/main" id="{E2B61CFB-AD16-68D0-8752-50D9C5E01971}"/>
              </a:ext>
            </a:extLst>
          </p:cNvPr>
          <p:cNvSpPr/>
          <p:nvPr/>
        </p:nvSpPr>
        <p:spPr>
          <a:xfrm>
            <a:off x="1561065" y="2806809"/>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43" name="사각형: 둥근 모서리 15">
            <a:extLst>
              <a:ext uri="{FF2B5EF4-FFF2-40B4-BE49-F238E27FC236}">
                <a16:creationId xmlns:a16="http://schemas.microsoft.com/office/drawing/2014/main" id="{E2B61CFB-AD16-68D0-8752-50D9C5E01971}"/>
              </a:ext>
            </a:extLst>
          </p:cNvPr>
          <p:cNvSpPr/>
          <p:nvPr/>
        </p:nvSpPr>
        <p:spPr>
          <a:xfrm>
            <a:off x="1561065" y="3234752"/>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lvl="0" fontAlgn="base" latinLnBrk="0">
              <a:spcBef>
                <a:spcPct val="0"/>
              </a:spcBef>
              <a:spcAft>
                <a:spcPct val="0"/>
              </a:spcAft>
              <a:defRPr/>
            </a:pPr>
            <a:r>
              <a:rPr kumimoji="1" lang="ko-KR" altLang="en-US" sz="700" kern="0" dirty="0">
                <a:solidFill>
                  <a:schemeClr val="bg1">
                    <a:lumMod val="75000"/>
                  </a:schemeClr>
                </a:solidFill>
              </a:rPr>
              <a:t>입력해주세요</a:t>
            </a:r>
            <a:r>
              <a:rPr kumimoji="1" lang="en-US" altLang="ko-KR" sz="700" kern="0" dirty="0">
                <a:solidFill>
                  <a:schemeClr val="bg1">
                    <a:lumMod val="75000"/>
                  </a:schemeClr>
                </a:solidFill>
              </a:rPr>
              <a:t>.</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2336513" y="2768911"/>
            <a:ext cx="964854" cy="861774"/>
          </a:xfrm>
          <a:prstGeom prst="rect">
            <a:avLst/>
          </a:prstGeom>
          <a:noFill/>
        </p:spPr>
        <p:txBody>
          <a:bodyPr wrap="square" lIns="0" tIns="0" rIns="0" bIns="0" rtlCol="0">
            <a:spAutoFit/>
          </a:bodyPr>
          <a:lstStyle/>
          <a:p>
            <a:pPr algn="r">
              <a:lnSpc>
                <a:spcPct val="200000"/>
              </a:lnSpc>
            </a:pPr>
            <a:r>
              <a:rPr lang="en-US" altLang="ko-KR" sz="700" dirty="0">
                <a:latin typeface="+mn-ea"/>
              </a:rPr>
              <a:t>10,000,000,000 </a:t>
            </a:r>
            <a:r>
              <a:rPr lang="ko-KR" altLang="en-US" sz="700" dirty="0">
                <a:latin typeface="+mn-ea"/>
              </a:rPr>
              <a:t>원</a:t>
            </a:r>
            <a:endParaRPr lang="en-US" altLang="ko-KR" sz="700" dirty="0">
              <a:latin typeface="+mn-ea"/>
            </a:endParaRPr>
          </a:p>
          <a:p>
            <a:pPr algn="r">
              <a:lnSpc>
                <a:spcPct val="200000"/>
              </a:lnSpc>
            </a:pPr>
            <a:endParaRPr lang="en-US" altLang="ko-KR" sz="700" dirty="0">
              <a:latin typeface="+mn-ea"/>
            </a:endParaRPr>
          </a:p>
          <a:p>
            <a:pPr algn="r">
              <a:lnSpc>
                <a:spcPct val="200000"/>
              </a:lnSpc>
            </a:pPr>
            <a:r>
              <a:rPr lang="ko-KR" altLang="en-US" sz="700" dirty="0">
                <a:latin typeface="+mn-ea"/>
              </a:rPr>
              <a:t>원</a:t>
            </a:r>
            <a:endParaRPr lang="en-US" altLang="ko-KR" sz="700" dirty="0">
              <a:latin typeface="+mn-ea"/>
            </a:endParaRPr>
          </a:p>
          <a:p>
            <a:pPr algn="r">
              <a:lnSpc>
                <a:spcPct val="200000"/>
              </a:lnSpc>
            </a:pPr>
            <a:endParaRPr lang="en-US" altLang="ko-KR" sz="700" dirty="0">
              <a:latin typeface="+mn-ea"/>
            </a:endParaRPr>
          </a:p>
        </p:txBody>
      </p:sp>
      <p:sp>
        <p:nvSpPr>
          <p:cNvPr id="156" name="사각형: 둥근 모서리 15">
            <a:extLst>
              <a:ext uri="{FF2B5EF4-FFF2-40B4-BE49-F238E27FC236}">
                <a16:creationId xmlns:a16="http://schemas.microsoft.com/office/drawing/2014/main" id="{E2B61CFB-AD16-68D0-8752-50D9C5E01971}"/>
              </a:ext>
            </a:extLst>
          </p:cNvPr>
          <p:cNvSpPr/>
          <p:nvPr/>
        </p:nvSpPr>
        <p:spPr>
          <a:xfrm>
            <a:off x="1561065" y="366269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lvl="0" fontAlgn="base" latinLnBrk="0">
              <a:spcBef>
                <a:spcPct val="0"/>
              </a:spcBef>
              <a:spcAft>
                <a:spcPct val="0"/>
              </a:spcAft>
              <a:defRPr/>
            </a:pPr>
            <a:r>
              <a:rPr kumimoji="1" lang="ko-KR" altLang="en-US" sz="700" kern="0" dirty="0">
                <a:solidFill>
                  <a:schemeClr val="bg1">
                    <a:lumMod val="75000"/>
                  </a:schemeClr>
                </a:solidFill>
              </a:rPr>
              <a:t>입력해주세요</a:t>
            </a:r>
            <a:r>
              <a:rPr kumimoji="1" lang="en-US" altLang="ko-KR" sz="700" kern="0" dirty="0">
                <a:solidFill>
                  <a:schemeClr val="bg1">
                    <a:lumMod val="75000"/>
                  </a:schemeClr>
                </a:solidFill>
              </a:rPr>
              <a:t>.</a:t>
            </a:r>
          </a:p>
        </p:txBody>
      </p:sp>
      <p:sp>
        <p:nvSpPr>
          <p:cNvPr id="49" name="타원 48">
            <a:extLst>
              <a:ext uri="{FF2B5EF4-FFF2-40B4-BE49-F238E27FC236}">
                <a16:creationId xmlns:a16="http://schemas.microsoft.com/office/drawing/2014/main" id="{37A7FF4F-0EAA-1463-560A-D5EC24416103}"/>
              </a:ext>
            </a:extLst>
          </p:cNvPr>
          <p:cNvSpPr/>
          <p:nvPr/>
        </p:nvSpPr>
        <p:spPr>
          <a:xfrm>
            <a:off x="589334" y="581329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Tree>
    <p:extLst>
      <p:ext uri="{BB962C8B-B14F-4D97-AF65-F5344CB8AC3E}">
        <p14:creationId xmlns:p14="http://schemas.microsoft.com/office/powerpoint/2010/main" val="378607506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복수예비가격 선택 화면</a:t>
            </a:r>
            <a:r>
              <a:rPr lang="en-US" altLang="ko-KR" dirty="0"/>
              <a:t/>
            </a:r>
            <a:br>
              <a:rPr lang="en-US" altLang="ko-KR" dirty="0"/>
            </a:br>
            <a:r>
              <a:rPr lang="en-US" altLang="ko-KR" dirty="0"/>
              <a:t>- </a:t>
            </a:r>
            <a:r>
              <a:rPr lang="ko-KR" altLang="en-US" dirty="0"/>
              <a:t>제목 표시</a:t>
            </a:r>
            <a:endParaRPr lang="en-US" altLang="ko-KR" dirty="0"/>
          </a:p>
          <a:p>
            <a:pPr marL="228600" indent="-228600">
              <a:buFont typeface="+mj-lt"/>
              <a:buAutoNum type="arabicPeriod"/>
            </a:pPr>
            <a:r>
              <a:rPr lang="en-US" altLang="ko-KR" dirty="0"/>
              <a:t>1</a:t>
            </a:r>
            <a:r>
              <a:rPr lang="ko-KR" altLang="en-US" dirty="0" err="1"/>
              <a:t>회차</a:t>
            </a:r>
            <a:r>
              <a:rPr lang="ko-KR" altLang="en-US" dirty="0"/>
              <a:t> 선택은 기본값 열림으로 표시</a:t>
            </a:r>
            <a:r>
              <a:rPr lang="en-US" altLang="ko-KR" dirty="0"/>
              <a:t/>
            </a:r>
            <a:br>
              <a:rPr lang="en-US" altLang="ko-KR" dirty="0"/>
            </a:br>
            <a:r>
              <a:rPr lang="en-US" altLang="ko-KR" dirty="0"/>
              <a:t>- </a:t>
            </a:r>
            <a:r>
              <a:rPr lang="ko-KR" altLang="en-US" dirty="0"/>
              <a:t>사용자 선택 버튼을 통해 아코디언 처리</a:t>
            </a:r>
            <a:r>
              <a:rPr lang="en-US" altLang="ko-KR" dirty="0"/>
              <a:t/>
            </a:r>
            <a:br>
              <a:rPr lang="en-US" altLang="ko-KR" dirty="0"/>
            </a:br>
            <a:r>
              <a:rPr lang="en-US" altLang="ko-KR" dirty="0"/>
              <a:t>- </a:t>
            </a:r>
            <a:r>
              <a:rPr lang="ko-KR" altLang="en-US" dirty="0"/>
              <a:t>선택 버튼으로 </a:t>
            </a:r>
            <a:r>
              <a:rPr lang="en-US" altLang="ko-KR" dirty="0"/>
              <a:t>1</a:t>
            </a:r>
            <a:r>
              <a:rPr lang="ko-KR" altLang="en-US" dirty="0"/>
              <a:t>회</a:t>
            </a:r>
            <a:r>
              <a:rPr lang="en-US" altLang="ko-KR" dirty="0"/>
              <a:t>, 2</a:t>
            </a:r>
            <a:r>
              <a:rPr lang="ko-KR" altLang="en-US" dirty="0"/>
              <a:t>회 각각 아코디언 동작</a:t>
            </a:r>
            <a:endParaRPr lang="en-US" altLang="ko-KR" dirty="0"/>
          </a:p>
          <a:p>
            <a:pPr marL="228600" indent="-228600">
              <a:buFont typeface="+mj-lt"/>
              <a:buAutoNum type="arabicPeriod"/>
            </a:pPr>
            <a:r>
              <a:rPr lang="ko-KR" altLang="en-US" dirty="0"/>
              <a:t>항목 선택 시 상단에 선택 번호 표시</a:t>
            </a:r>
            <a:r>
              <a:rPr lang="en-US" altLang="ko-KR" dirty="0"/>
              <a:t/>
            </a:r>
            <a:br>
              <a:rPr lang="en-US" altLang="ko-KR" dirty="0"/>
            </a:br>
            <a:r>
              <a:rPr lang="en-US" altLang="ko-KR" dirty="0"/>
              <a:t>- </a:t>
            </a:r>
            <a:r>
              <a:rPr lang="ko-KR" altLang="en-US" dirty="0"/>
              <a:t>선택 시 닫힘으로 변경</a:t>
            </a:r>
            <a:r>
              <a:rPr lang="en-US" altLang="ko-KR" dirty="0"/>
              <a:t/>
            </a:r>
            <a:br>
              <a:rPr lang="en-US" altLang="ko-KR" dirty="0"/>
            </a:br>
            <a:r>
              <a:rPr lang="en-US" altLang="ko-KR" dirty="0"/>
              <a:t>- 1</a:t>
            </a:r>
            <a:r>
              <a:rPr lang="ko-KR" altLang="en-US" dirty="0" err="1"/>
              <a:t>회차</a:t>
            </a:r>
            <a:r>
              <a:rPr lang="ko-KR" altLang="en-US" dirty="0"/>
              <a:t> 선택 후 </a:t>
            </a:r>
            <a:r>
              <a:rPr lang="en-US" altLang="ko-KR" dirty="0"/>
              <a:t>2</a:t>
            </a:r>
            <a:r>
              <a:rPr lang="ko-KR" altLang="en-US" dirty="0" err="1"/>
              <a:t>회차가</a:t>
            </a:r>
            <a:r>
              <a:rPr lang="ko-KR" altLang="en-US" dirty="0"/>
              <a:t> 선택되지 않은 경우 </a:t>
            </a:r>
            <a:r>
              <a:rPr lang="en-US" altLang="ko-KR" dirty="0"/>
              <a:t>2</a:t>
            </a:r>
            <a:r>
              <a:rPr lang="ko-KR" altLang="en-US" dirty="0" err="1"/>
              <a:t>회차</a:t>
            </a:r>
            <a:r>
              <a:rPr lang="ko-KR" altLang="en-US" dirty="0"/>
              <a:t> 선택 자동 열림</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복수예비가격</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err="1">
                <a:latin typeface="+mn-ea"/>
              </a:rPr>
              <a:t>스탭</a:t>
            </a:r>
            <a:r>
              <a:rPr lang="ko-KR" altLang="en-US" dirty="0">
                <a:latin typeface="+mn-ea"/>
              </a:rPr>
              <a:t> 중 복수예비가격 입력</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복수예비가격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316528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3131028"/>
            <a:ext cx="2451575" cy="181140"/>
          </a:xfrm>
          <a:prstGeom prst="rect">
            <a:avLst/>
          </a:prstGeom>
          <a:noFill/>
        </p:spPr>
        <p:txBody>
          <a:bodyPr wrap="square" lIns="0" tIns="0" rIns="0" bIns="0" rtlCol="0">
            <a:spAutoFit/>
          </a:bodyPr>
          <a:lstStyle/>
          <a:p>
            <a:pPr>
              <a:lnSpc>
                <a:spcPct val="200000"/>
              </a:lnSpc>
            </a:pPr>
            <a:r>
              <a:rPr lang="ko-KR" altLang="en-US" sz="700" dirty="0">
                <a:latin typeface="+mn-ea"/>
              </a:rPr>
              <a:t>복수예비가격 선택</a:t>
            </a:r>
          </a:p>
        </p:txBody>
      </p:sp>
      <p:sp>
        <p:nvSpPr>
          <p:cNvPr id="169" name="직사각형 168"/>
          <p:cNvSpPr/>
          <p:nvPr/>
        </p:nvSpPr>
        <p:spPr>
          <a:xfrm>
            <a:off x="722232" y="3422270"/>
            <a:ext cx="792000" cy="2147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422269"/>
            <a:ext cx="725552" cy="181140"/>
          </a:xfrm>
          <a:prstGeom prst="rect">
            <a:avLst/>
          </a:prstGeom>
          <a:noFill/>
        </p:spPr>
        <p:txBody>
          <a:bodyPr wrap="square" lIns="0" tIns="0" rIns="0" bIns="0" rtlCol="0">
            <a:spAutoFit/>
          </a:bodyPr>
          <a:lstStyle/>
          <a:p>
            <a:pPr>
              <a:lnSpc>
                <a:spcPct val="200000"/>
              </a:lnSpc>
            </a:pPr>
            <a:r>
              <a:rPr lang="en-US" altLang="ko-KR" sz="700" dirty="0">
                <a:latin typeface="+mn-ea"/>
              </a:rPr>
              <a:t>1</a:t>
            </a:r>
            <a:r>
              <a:rPr lang="ko-KR" altLang="en-US" sz="700" dirty="0">
                <a:latin typeface="+mn-ea"/>
              </a:rPr>
              <a:t>회</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422269"/>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15</a:t>
            </a:r>
            <a:r>
              <a:rPr lang="ko-KR" altLang="en-US" sz="700" dirty="0">
                <a:latin typeface="+mn-ea"/>
              </a:rPr>
              <a:t>번</a:t>
            </a:r>
            <a:endParaRPr lang="en-US" altLang="ko-KR" sz="700" dirty="0">
              <a:latin typeface="+mn-ea"/>
            </a:endParaRPr>
          </a:p>
        </p:txBody>
      </p:sp>
      <p:grpSp>
        <p:nvGrpSpPr>
          <p:cNvPr id="172" name="그룹 171"/>
          <p:cNvGrpSpPr/>
          <p:nvPr/>
        </p:nvGrpSpPr>
        <p:grpSpPr>
          <a:xfrm>
            <a:off x="720139" y="3422269"/>
            <a:ext cx="2630093" cy="214740"/>
            <a:chOff x="701175" y="1835481"/>
            <a:chExt cx="2630093" cy="21474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61" name="직선 연결선 160">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2" name="TextBox 161">
            <a:extLst>
              <a:ext uri="{FF2B5EF4-FFF2-40B4-BE49-F238E27FC236}">
                <a16:creationId xmlns:a16="http://schemas.microsoft.com/office/drawing/2014/main" id="{FFC49AEA-2A8F-250C-A86A-A7751D9706C3}"/>
              </a:ext>
            </a:extLst>
          </p:cNvPr>
          <p:cNvSpPr txBox="1"/>
          <p:nvPr/>
        </p:nvSpPr>
        <p:spPr>
          <a:xfrm>
            <a:off x="759212" y="2207916"/>
            <a:ext cx="652932"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복수예비가격</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52797" y="2207916"/>
            <a:ext cx="464719" cy="107722"/>
          </a:xfrm>
          <a:prstGeom prst="rect">
            <a:avLst/>
          </a:prstGeom>
          <a:noFill/>
        </p:spPr>
        <p:txBody>
          <a:bodyPr wrap="square" lIns="0" tIns="0" rIns="0" bIns="0" rtlCol="0">
            <a:spAutoFit/>
          </a:bodyPr>
          <a:lstStyle/>
          <a:p>
            <a:pPr algn="ctr"/>
            <a:r>
              <a:rPr lang="en-US" altLang="ko-KR" sz="700" dirty="0">
                <a:latin typeface="+mn-ea"/>
              </a:rPr>
              <a:t>5.</a:t>
            </a:r>
            <a:r>
              <a:rPr lang="ko-KR" altLang="en-US" sz="700" dirty="0">
                <a:latin typeface="+mn-ea"/>
              </a:rPr>
              <a:t> 파일첨부</a:t>
            </a:r>
          </a:p>
        </p:txBody>
      </p:sp>
      <p:sp>
        <p:nvSpPr>
          <p:cNvPr id="164" name="TextBox 163">
            <a:extLst>
              <a:ext uri="{FF2B5EF4-FFF2-40B4-BE49-F238E27FC236}">
                <a16:creationId xmlns:a16="http://schemas.microsoft.com/office/drawing/2014/main" id="{FFC49AEA-2A8F-250C-A86A-A7751D9706C3}"/>
              </a:ext>
            </a:extLst>
          </p:cNvPr>
          <p:cNvSpPr txBox="1"/>
          <p:nvPr/>
        </p:nvSpPr>
        <p:spPr>
          <a:xfrm>
            <a:off x="2158169" y="2207916"/>
            <a:ext cx="763277"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err="1">
                <a:latin typeface="+mn-ea"/>
              </a:rPr>
              <a:t>동가낙찰</a:t>
            </a:r>
            <a:r>
              <a:rPr lang="ko-KR" altLang="en-US" sz="700" dirty="0">
                <a:latin typeface="+mn-ea"/>
              </a:rPr>
              <a:t> </a:t>
            </a:r>
            <a:r>
              <a:rPr lang="ko-KR" altLang="en-US" sz="700" dirty="0" err="1">
                <a:latin typeface="+mn-ea"/>
              </a:rPr>
              <a:t>선추첨</a:t>
            </a:r>
            <a:endParaRPr lang="ko-KR" altLang="en-US" sz="700" dirty="0">
              <a:latin typeface="+mn-ea"/>
            </a:endParaRPr>
          </a:p>
        </p:txBody>
      </p:sp>
      <p:cxnSp>
        <p:nvCxnSpPr>
          <p:cNvPr id="167" name="직선 연결선 166">
            <a:extLst>
              <a:ext uri="{FF2B5EF4-FFF2-40B4-BE49-F238E27FC236}">
                <a16:creationId xmlns:a16="http://schemas.microsoft.com/office/drawing/2014/main" id="{E9293055-D5CD-4B9E-7F64-64B2D2CA7A52}"/>
              </a:ext>
            </a:extLst>
          </p:cNvPr>
          <p:cNvCxnSpPr/>
          <p:nvPr/>
        </p:nvCxnSpPr>
        <p:spPr>
          <a:xfrm>
            <a:off x="715534" y="2424523"/>
            <a:ext cx="6966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8" name="그룹 167"/>
          <p:cNvGrpSpPr/>
          <p:nvPr/>
        </p:nvGrpSpPr>
        <p:grpSpPr>
          <a:xfrm>
            <a:off x="2919130" y="2169793"/>
            <a:ext cx="422853" cy="187961"/>
            <a:chOff x="3641308" y="2234886"/>
            <a:chExt cx="422853" cy="187961"/>
          </a:xfrm>
        </p:grpSpPr>
        <p:sp>
          <p:nvSpPr>
            <p:cNvPr id="180" name="타원 17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1" name="그룹 180"/>
            <p:cNvGrpSpPr/>
            <p:nvPr/>
          </p:nvGrpSpPr>
          <p:grpSpPr>
            <a:xfrm rot="5400000" flipH="1">
              <a:off x="3679895" y="2305364"/>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2" name="타원 18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16200000">
              <a:off x="3931564" y="2305364"/>
              <a:ext cx="94010" cy="47005"/>
              <a:chOff x="6812560" y="3297172"/>
              <a:chExt cx="94010" cy="47005"/>
            </a:xfrm>
          </p:grpSpPr>
          <p:cxnSp>
            <p:nvCxnSpPr>
              <p:cNvPr id="184" name="직선 연결선 1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5" name="직선 연결선 1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3" name="그룹 2"/>
          <p:cNvGrpSpPr/>
          <p:nvPr/>
        </p:nvGrpSpPr>
        <p:grpSpPr>
          <a:xfrm>
            <a:off x="715534" y="3696437"/>
            <a:ext cx="2621844" cy="1440000"/>
            <a:chOff x="715534" y="3647256"/>
            <a:chExt cx="2621844" cy="1633032"/>
          </a:xfrm>
        </p:grpSpPr>
        <p:sp>
          <p:nvSpPr>
            <p:cNvPr id="109" name="모서리가 둥근 직사각형 108"/>
            <p:cNvSpPr/>
            <p:nvPr/>
          </p:nvSpPr>
          <p:spPr>
            <a:xfrm>
              <a:off x="715534"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1</a:t>
              </a:r>
              <a:r>
                <a:rPr lang="ko-KR" altLang="en-US" sz="800" dirty="0">
                  <a:solidFill>
                    <a:schemeClr val="tx1"/>
                  </a:solidFill>
                </a:rPr>
                <a:t>번</a:t>
              </a:r>
            </a:p>
          </p:txBody>
        </p:sp>
        <p:sp>
          <p:nvSpPr>
            <p:cNvPr id="188" name="모서리가 둥근 직사각형 187"/>
            <p:cNvSpPr/>
            <p:nvPr/>
          </p:nvSpPr>
          <p:spPr>
            <a:xfrm>
              <a:off x="1611553"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2</a:t>
              </a:r>
              <a:r>
                <a:rPr lang="ko-KR" altLang="en-US" sz="800" dirty="0">
                  <a:solidFill>
                    <a:prstClr val="black"/>
                  </a:solidFill>
                </a:rPr>
                <a:t>번</a:t>
              </a:r>
            </a:p>
          </p:txBody>
        </p:sp>
        <p:sp>
          <p:nvSpPr>
            <p:cNvPr id="189" name="모서리가 둥근 직사각형 188"/>
            <p:cNvSpPr/>
            <p:nvPr/>
          </p:nvSpPr>
          <p:spPr>
            <a:xfrm>
              <a:off x="2507572"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3</a:t>
              </a:r>
              <a:r>
                <a:rPr lang="ko-KR" altLang="en-US" sz="800" dirty="0">
                  <a:solidFill>
                    <a:prstClr val="black"/>
                  </a:solidFill>
                </a:rPr>
                <a:t>번</a:t>
              </a:r>
            </a:p>
          </p:txBody>
        </p:sp>
        <p:sp>
          <p:nvSpPr>
            <p:cNvPr id="190" name="모서리가 둥근 직사각형 189"/>
            <p:cNvSpPr/>
            <p:nvPr/>
          </p:nvSpPr>
          <p:spPr>
            <a:xfrm>
              <a:off x="715534" y="398481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4</a:t>
              </a:r>
              <a:r>
                <a:rPr lang="ko-KR" altLang="en-US" sz="800" dirty="0">
                  <a:solidFill>
                    <a:schemeClr val="tx1"/>
                  </a:solidFill>
                </a:rPr>
                <a:t>번</a:t>
              </a:r>
            </a:p>
          </p:txBody>
        </p:sp>
        <p:sp>
          <p:nvSpPr>
            <p:cNvPr id="191" name="모서리가 둥근 직사각형 190"/>
            <p:cNvSpPr/>
            <p:nvPr/>
          </p:nvSpPr>
          <p:spPr>
            <a:xfrm>
              <a:off x="1611553" y="398481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5</a:t>
              </a:r>
              <a:r>
                <a:rPr lang="ko-KR" altLang="en-US" sz="800" dirty="0">
                  <a:solidFill>
                    <a:prstClr val="black"/>
                  </a:solidFill>
                </a:rPr>
                <a:t>번</a:t>
              </a:r>
            </a:p>
          </p:txBody>
        </p:sp>
        <p:sp>
          <p:nvSpPr>
            <p:cNvPr id="192" name="모서리가 둥근 직사각형 191"/>
            <p:cNvSpPr/>
            <p:nvPr/>
          </p:nvSpPr>
          <p:spPr>
            <a:xfrm>
              <a:off x="2507572" y="398481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6</a:t>
              </a:r>
              <a:r>
                <a:rPr lang="ko-KR" altLang="en-US" sz="800" dirty="0">
                  <a:solidFill>
                    <a:prstClr val="black"/>
                  </a:solidFill>
                </a:rPr>
                <a:t>번</a:t>
              </a:r>
            </a:p>
          </p:txBody>
        </p:sp>
        <p:sp>
          <p:nvSpPr>
            <p:cNvPr id="193" name="모서리가 둥근 직사각형 192"/>
            <p:cNvSpPr/>
            <p:nvPr/>
          </p:nvSpPr>
          <p:spPr>
            <a:xfrm>
              <a:off x="715534" y="4320169"/>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7</a:t>
              </a:r>
              <a:r>
                <a:rPr lang="ko-KR" altLang="en-US" sz="800" dirty="0">
                  <a:solidFill>
                    <a:schemeClr val="tx1"/>
                  </a:solidFill>
                </a:rPr>
                <a:t>번</a:t>
              </a:r>
            </a:p>
          </p:txBody>
        </p:sp>
        <p:sp>
          <p:nvSpPr>
            <p:cNvPr id="194" name="모서리가 둥근 직사각형 193"/>
            <p:cNvSpPr/>
            <p:nvPr/>
          </p:nvSpPr>
          <p:spPr>
            <a:xfrm>
              <a:off x="1611553" y="4320169"/>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8</a:t>
              </a:r>
              <a:r>
                <a:rPr lang="ko-KR" altLang="en-US" sz="800" dirty="0">
                  <a:solidFill>
                    <a:prstClr val="black"/>
                  </a:solidFill>
                </a:rPr>
                <a:t>번</a:t>
              </a:r>
            </a:p>
          </p:txBody>
        </p:sp>
        <p:sp>
          <p:nvSpPr>
            <p:cNvPr id="195" name="모서리가 둥근 직사각형 194"/>
            <p:cNvSpPr/>
            <p:nvPr/>
          </p:nvSpPr>
          <p:spPr>
            <a:xfrm>
              <a:off x="2507572" y="4320169"/>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9</a:t>
              </a:r>
              <a:r>
                <a:rPr lang="ko-KR" altLang="en-US" sz="800" dirty="0">
                  <a:solidFill>
                    <a:prstClr val="black"/>
                  </a:solidFill>
                </a:rPr>
                <a:t>번</a:t>
              </a:r>
            </a:p>
          </p:txBody>
        </p:sp>
        <p:sp>
          <p:nvSpPr>
            <p:cNvPr id="196" name="모서리가 둥근 직사각형 195"/>
            <p:cNvSpPr/>
            <p:nvPr/>
          </p:nvSpPr>
          <p:spPr>
            <a:xfrm>
              <a:off x="715534" y="4657729"/>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10</a:t>
              </a:r>
              <a:r>
                <a:rPr lang="ko-KR" altLang="en-US" sz="800" dirty="0">
                  <a:solidFill>
                    <a:schemeClr val="tx1"/>
                  </a:solidFill>
                </a:rPr>
                <a:t>번</a:t>
              </a:r>
            </a:p>
          </p:txBody>
        </p:sp>
        <p:sp>
          <p:nvSpPr>
            <p:cNvPr id="197" name="모서리가 둥근 직사각형 196"/>
            <p:cNvSpPr/>
            <p:nvPr/>
          </p:nvSpPr>
          <p:spPr>
            <a:xfrm>
              <a:off x="1611553" y="4657729"/>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11</a:t>
              </a:r>
              <a:r>
                <a:rPr lang="ko-KR" altLang="en-US" sz="800" dirty="0">
                  <a:solidFill>
                    <a:prstClr val="black"/>
                  </a:solidFill>
                </a:rPr>
                <a:t>번</a:t>
              </a:r>
            </a:p>
          </p:txBody>
        </p:sp>
        <p:sp>
          <p:nvSpPr>
            <p:cNvPr id="198" name="모서리가 둥근 직사각형 197"/>
            <p:cNvSpPr/>
            <p:nvPr/>
          </p:nvSpPr>
          <p:spPr>
            <a:xfrm>
              <a:off x="2507572" y="4657729"/>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12</a:t>
              </a:r>
              <a:r>
                <a:rPr lang="ko-KR" altLang="en-US" sz="800" dirty="0">
                  <a:solidFill>
                    <a:prstClr val="black"/>
                  </a:solidFill>
                </a:rPr>
                <a:t>번</a:t>
              </a:r>
            </a:p>
          </p:txBody>
        </p:sp>
        <p:sp>
          <p:nvSpPr>
            <p:cNvPr id="199" name="모서리가 둥근 직사각형 198"/>
            <p:cNvSpPr/>
            <p:nvPr/>
          </p:nvSpPr>
          <p:spPr>
            <a:xfrm>
              <a:off x="715534" y="4992288"/>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13</a:t>
              </a:r>
              <a:r>
                <a:rPr lang="ko-KR" altLang="en-US" sz="800" dirty="0">
                  <a:solidFill>
                    <a:schemeClr val="tx1"/>
                  </a:solidFill>
                </a:rPr>
                <a:t>번</a:t>
              </a:r>
            </a:p>
          </p:txBody>
        </p:sp>
        <p:sp>
          <p:nvSpPr>
            <p:cNvPr id="200" name="모서리가 둥근 직사각형 199"/>
            <p:cNvSpPr/>
            <p:nvPr/>
          </p:nvSpPr>
          <p:spPr>
            <a:xfrm>
              <a:off x="1611553" y="4992288"/>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prstClr val="black"/>
                  </a:solidFill>
                </a:rPr>
                <a:t>14</a:t>
              </a:r>
              <a:r>
                <a:rPr lang="ko-KR" altLang="en-US" sz="800" dirty="0">
                  <a:solidFill>
                    <a:prstClr val="black"/>
                  </a:solidFill>
                </a:rPr>
                <a:t>번</a:t>
              </a:r>
            </a:p>
          </p:txBody>
        </p:sp>
        <p:sp>
          <p:nvSpPr>
            <p:cNvPr id="201" name="모서리가 둥근 직사각형 200"/>
            <p:cNvSpPr/>
            <p:nvPr/>
          </p:nvSpPr>
          <p:spPr>
            <a:xfrm>
              <a:off x="2507572" y="4992288"/>
              <a:ext cx="829806" cy="288000"/>
            </a:xfrm>
            <a:prstGeom prst="roundRect">
              <a:avLst>
                <a:gd name="adj" fmla="val 4645"/>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ko-KR" sz="800" dirty="0">
                  <a:solidFill>
                    <a:srgbClr val="0070C0"/>
                  </a:solidFill>
                </a:rPr>
                <a:t>15</a:t>
              </a:r>
              <a:r>
                <a:rPr lang="ko-KR" altLang="en-US" sz="800" dirty="0">
                  <a:solidFill>
                    <a:srgbClr val="0070C0"/>
                  </a:solidFill>
                </a:rPr>
                <a:t>번</a:t>
              </a:r>
            </a:p>
          </p:txBody>
        </p:sp>
      </p:grpSp>
      <p:sp>
        <p:nvSpPr>
          <p:cNvPr id="203" name="직사각형 202"/>
          <p:cNvSpPr/>
          <p:nvPr/>
        </p:nvSpPr>
        <p:spPr>
          <a:xfrm>
            <a:off x="722232" y="5193811"/>
            <a:ext cx="792000" cy="2147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4" name="TextBox 203">
            <a:extLst>
              <a:ext uri="{FF2B5EF4-FFF2-40B4-BE49-F238E27FC236}">
                <a16:creationId xmlns:a16="http://schemas.microsoft.com/office/drawing/2014/main" id="{FFC49AEA-2A8F-250C-A86A-A7751D9706C3}"/>
              </a:ext>
            </a:extLst>
          </p:cNvPr>
          <p:cNvSpPr txBox="1"/>
          <p:nvPr/>
        </p:nvSpPr>
        <p:spPr>
          <a:xfrm>
            <a:off x="809295" y="5193810"/>
            <a:ext cx="725552" cy="181140"/>
          </a:xfrm>
          <a:prstGeom prst="rect">
            <a:avLst/>
          </a:prstGeom>
          <a:noFill/>
        </p:spPr>
        <p:txBody>
          <a:bodyPr wrap="square" lIns="0" tIns="0" rIns="0" bIns="0" rtlCol="0">
            <a:spAutoFit/>
          </a:bodyPr>
          <a:lstStyle/>
          <a:p>
            <a:pPr>
              <a:lnSpc>
                <a:spcPct val="200000"/>
              </a:lnSpc>
            </a:pPr>
            <a:r>
              <a:rPr lang="en-US" altLang="ko-KR" sz="700" dirty="0">
                <a:latin typeface="+mn-ea"/>
              </a:rPr>
              <a:t>2</a:t>
            </a:r>
            <a:r>
              <a:rPr lang="ko-KR" altLang="en-US" sz="700" dirty="0">
                <a:latin typeface="+mn-ea"/>
              </a:rPr>
              <a:t>회</a:t>
            </a:r>
            <a:endParaRPr lang="en-US" altLang="ko-KR"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1566144" y="5193810"/>
            <a:ext cx="1784088" cy="215444"/>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grpSp>
        <p:nvGrpSpPr>
          <p:cNvPr id="206" name="그룹 205"/>
          <p:cNvGrpSpPr/>
          <p:nvPr/>
        </p:nvGrpSpPr>
        <p:grpSpPr>
          <a:xfrm>
            <a:off x="720139" y="5193810"/>
            <a:ext cx="2630093" cy="214740"/>
            <a:chOff x="701175" y="1835481"/>
            <a:chExt cx="2630093" cy="214740"/>
          </a:xfrm>
        </p:grpSpPr>
        <p:cxnSp>
          <p:nvCxnSpPr>
            <p:cNvPr id="207" name="직선 연결선 20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9" name="그룹 128"/>
          <p:cNvGrpSpPr/>
          <p:nvPr/>
        </p:nvGrpSpPr>
        <p:grpSpPr>
          <a:xfrm>
            <a:off x="3190451" y="5278356"/>
            <a:ext cx="94010" cy="47005"/>
            <a:chOff x="6812560" y="3297172"/>
            <a:chExt cx="94010" cy="47005"/>
          </a:xfrm>
        </p:grpSpPr>
        <p:cxnSp>
          <p:nvCxnSpPr>
            <p:cNvPr id="130" name="직선 연결선 129"/>
            <p:cNvCxnSpPr/>
            <p:nvPr/>
          </p:nvCxnSpPr>
          <p:spPr>
            <a:xfrm>
              <a:off x="6812560" y="3297172"/>
              <a:ext cx="47005" cy="47005"/>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131" name="직선 연결선 130"/>
            <p:cNvCxnSpPr/>
            <p:nvPr/>
          </p:nvCxnSpPr>
          <p:spPr>
            <a:xfrm flipH="1">
              <a:off x="6859565" y="3297172"/>
              <a:ext cx="47005" cy="47005"/>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grpSp>
      <p:sp>
        <p:nvSpPr>
          <p:cNvPr id="202" name="사각형: 둥근 모서리 15">
            <a:extLst>
              <a:ext uri="{FF2B5EF4-FFF2-40B4-BE49-F238E27FC236}">
                <a16:creationId xmlns:a16="http://schemas.microsoft.com/office/drawing/2014/main" id="{E2B61CFB-AD16-68D0-8752-50D9C5E01971}"/>
              </a:ext>
            </a:extLst>
          </p:cNvPr>
          <p:cNvSpPr/>
          <p:nvPr/>
        </p:nvSpPr>
        <p:spPr>
          <a:xfrm>
            <a:off x="2507572" y="3449317"/>
            <a:ext cx="816799"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선택</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209" name="사각형: 둥근 모서리 15">
            <a:extLst>
              <a:ext uri="{FF2B5EF4-FFF2-40B4-BE49-F238E27FC236}">
                <a16:creationId xmlns:a16="http://schemas.microsoft.com/office/drawing/2014/main" id="{E2B61CFB-AD16-68D0-8752-50D9C5E01971}"/>
              </a:ext>
            </a:extLst>
          </p:cNvPr>
          <p:cNvSpPr/>
          <p:nvPr/>
        </p:nvSpPr>
        <p:spPr>
          <a:xfrm>
            <a:off x="2507572" y="5220858"/>
            <a:ext cx="816799"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선택</a:t>
            </a:r>
            <a:endParaRPr kumimoji="1" lang="en-US" sz="700" b="0" i="0" u="none" strike="noStrike" kern="0" cap="none" spc="0" normalizeH="0" baseline="0" noProof="0" dirty="0">
              <a:ln>
                <a:noFill/>
              </a:ln>
              <a:solidFill>
                <a:srgbClr val="0070C0"/>
              </a:solidFill>
              <a:effectLst/>
              <a:uLnTx/>
              <a:uFillTx/>
              <a:latin typeface="맑은 고딕"/>
            </a:endParaRPr>
          </a:p>
        </p:txBody>
      </p:sp>
      <p:grpSp>
        <p:nvGrpSpPr>
          <p:cNvPr id="210" name="그룹 209"/>
          <p:cNvGrpSpPr/>
          <p:nvPr/>
        </p:nvGrpSpPr>
        <p:grpSpPr>
          <a:xfrm flipV="1">
            <a:off x="3190451" y="3506815"/>
            <a:ext cx="94010" cy="47005"/>
            <a:chOff x="6812560" y="3297172"/>
            <a:chExt cx="94010" cy="47005"/>
          </a:xfrm>
        </p:grpSpPr>
        <p:cxnSp>
          <p:nvCxnSpPr>
            <p:cNvPr id="211" name="직선 연결선 210"/>
            <p:cNvCxnSpPr/>
            <p:nvPr/>
          </p:nvCxnSpPr>
          <p:spPr>
            <a:xfrm>
              <a:off x="6812560" y="3297172"/>
              <a:ext cx="47005" cy="47005"/>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a:ln>
              <a:solidFill>
                <a:schemeClr val="accent1"/>
              </a:solidFill>
            </a:ln>
          </p:spPr>
          <p:style>
            <a:lnRef idx="1">
              <a:schemeClr val="dk1"/>
            </a:lnRef>
            <a:fillRef idx="0">
              <a:schemeClr val="dk1"/>
            </a:fillRef>
            <a:effectRef idx="0">
              <a:schemeClr val="dk1"/>
            </a:effectRef>
            <a:fontRef idx="minor">
              <a:schemeClr val="tx1"/>
            </a:fontRef>
          </p:style>
        </p:cxnSp>
      </p:grpSp>
      <p:sp>
        <p:nvSpPr>
          <p:cNvPr id="213" name="모서리가 둥근 직사각형 212"/>
          <p:cNvSpPr/>
          <p:nvPr/>
        </p:nvSpPr>
        <p:spPr>
          <a:xfrm>
            <a:off x="714576" y="2538293"/>
            <a:ext cx="2652743" cy="537711"/>
          </a:xfrm>
          <a:prstGeom prst="roundRect">
            <a:avLst>
              <a:gd name="adj" fmla="val 9584"/>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4" name="TextBox 213">
            <a:extLst>
              <a:ext uri="{FF2B5EF4-FFF2-40B4-BE49-F238E27FC236}">
                <a16:creationId xmlns:a16="http://schemas.microsoft.com/office/drawing/2014/main" id="{FFC49AEA-2A8F-250C-A86A-A7751D9706C3}"/>
              </a:ext>
            </a:extLst>
          </p:cNvPr>
          <p:cNvSpPr txBox="1"/>
          <p:nvPr/>
        </p:nvSpPr>
        <p:spPr>
          <a:xfrm>
            <a:off x="803346" y="2636577"/>
            <a:ext cx="2475203" cy="323165"/>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8900" indent="-88900">
              <a:buFont typeface="Arial" panose="020B0604020202020204" pitchFamily="34" charset="0"/>
              <a:buChar char="•"/>
            </a:pPr>
            <a:r>
              <a:rPr lang="ko-KR" altLang="en-US" sz="700" dirty="0">
                <a:latin typeface="맑은 고딕" panose="020B0503020000020004" pitchFamily="50" charset="-127"/>
              </a:rPr>
              <a:t>예정가격 결정을 위한 복수예비가격 </a:t>
            </a:r>
            <a:r>
              <a:rPr lang="en-US" altLang="ko-KR" sz="700" dirty="0">
                <a:latin typeface="맑은 고딕" panose="020B0503020000020004" pitchFamily="50" charset="-127"/>
              </a:rPr>
              <a:t>2</a:t>
            </a:r>
            <a:r>
              <a:rPr lang="ko-KR" altLang="en-US" sz="700" dirty="0">
                <a:latin typeface="맑은 고딕" panose="020B0503020000020004" pitchFamily="50" charset="-127"/>
              </a:rPr>
              <a:t>개를 추첨합니다</a:t>
            </a:r>
            <a:r>
              <a:rPr lang="en-US" altLang="ko-KR" sz="700" dirty="0">
                <a:latin typeface="맑은 고딕" panose="020B0503020000020004" pitchFamily="50" charset="-127"/>
              </a:rPr>
              <a:t>.</a:t>
            </a:r>
            <a:endParaRPr lang="ko-KR" altLang="en-US" sz="700" dirty="0">
              <a:latin typeface="맑은 고딕" panose="020B0503020000020004" pitchFamily="50" charset="-127"/>
            </a:endParaRPr>
          </a:p>
        </p:txBody>
      </p:sp>
      <p:sp>
        <p:nvSpPr>
          <p:cNvPr id="215" name="타원 214"/>
          <p:cNvSpPr/>
          <p:nvPr/>
        </p:nvSpPr>
        <p:spPr>
          <a:xfrm>
            <a:off x="799388" y="262692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16" name="그룹 215"/>
          <p:cNvGrpSpPr/>
          <p:nvPr/>
        </p:nvGrpSpPr>
        <p:grpSpPr>
          <a:xfrm flipV="1">
            <a:off x="3148209" y="2675424"/>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0" name="모서리가 둥근 직사각형 139"/>
          <p:cNvSpPr/>
          <p:nvPr/>
        </p:nvSpPr>
        <p:spPr>
          <a:xfrm rot="5400000">
            <a:off x="2662242" y="318767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31" name="타원 230">
            <a:extLst>
              <a:ext uri="{FF2B5EF4-FFF2-40B4-BE49-F238E27FC236}">
                <a16:creationId xmlns:a16="http://schemas.microsoft.com/office/drawing/2014/main" id="{37A7FF4F-0EAA-1463-560A-D5EC24416103}"/>
              </a:ext>
            </a:extLst>
          </p:cNvPr>
          <p:cNvSpPr/>
          <p:nvPr/>
        </p:nvSpPr>
        <p:spPr>
          <a:xfrm>
            <a:off x="589334" y="343502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32" name="타원 231">
            <a:extLst>
              <a:ext uri="{FF2B5EF4-FFF2-40B4-BE49-F238E27FC236}">
                <a16:creationId xmlns:a16="http://schemas.microsoft.com/office/drawing/2014/main" id="{37A7FF4F-0EAA-1463-560A-D5EC24416103}"/>
              </a:ext>
            </a:extLst>
          </p:cNvPr>
          <p:cNvSpPr/>
          <p:nvPr/>
        </p:nvSpPr>
        <p:spPr>
          <a:xfrm>
            <a:off x="589334" y="43170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357607203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latin typeface="+mn-ea"/>
              </a:rPr>
              <a:t>입찰참가신청서작성 </a:t>
            </a:r>
            <a:r>
              <a:rPr lang="en-US" altLang="ko-KR" dirty="0">
                <a:latin typeface="+mn-ea"/>
              </a:rPr>
              <a:t>– </a:t>
            </a:r>
            <a:r>
              <a:rPr lang="ko-KR" altLang="en-US" dirty="0" err="1">
                <a:latin typeface="+mn-ea"/>
              </a:rPr>
              <a:t>파일첨부와</a:t>
            </a:r>
            <a:r>
              <a:rPr lang="ko-KR" altLang="en-US" dirty="0">
                <a:latin typeface="+mn-ea"/>
              </a:rPr>
              <a:t> 같은 </a:t>
            </a:r>
            <a:r>
              <a:rPr lang="ko-KR" altLang="en-US" dirty="0" err="1">
                <a:latin typeface="+mn-ea"/>
              </a:rPr>
              <a:t>구성임</a:t>
            </a:r>
            <a:r>
              <a:rPr lang="ko-KR" altLang="en-US" dirty="0">
                <a:latin typeface="+mn-ea"/>
              </a:rPr>
              <a:t> </a:t>
            </a:r>
            <a:r>
              <a:rPr lang="en-US" altLang="ko-KR" dirty="0">
                <a:latin typeface="+mn-ea"/>
              </a:rPr>
              <a:t>(</a:t>
            </a:r>
            <a:r>
              <a:rPr lang="ko-KR" altLang="en-US" dirty="0" err="1">
                <a:latin typeface="+mn-ea"/>
              </a:rPr>
              <a:t>서류항목이</a:t>
            </a:r>
            <a:r>
              <a:rPr lang="ko-KR" altLang="en-US" dirty="0">
                <a:latin typeface="+mn-ea"/>
              </a:rPr>
              <a:t> 다름</a:t>
            </a:r>
            <a:r>
              <a:rPr lang="en-US" altLang="ko-KR" dirty="0">
                <a:latin typeface="+mn-ea"/>
              </a:rPr>
              <a:t>)</a:t>
            </a:r>
            <a:br>
              <a:rPr lang="en-US" altLang="ko-KR" dirty="0">
                <a:latin typeface="+mn-ea"/>
              </a:rPr>
            </a:br>
            <a:r>
              <a:rPr lang="en-US" altLang="ko-KR" dirty="0">
                <a:latin typeface="+mn-ea"/>
              </a:rPr>
              <a:t>- </a:t>
            </a:r>
            <a:r>
              <a:rPr lang="ko-KR" altLang="en-US" dirty="0"/>
              <a:t>입찰 서류가 있는 경우 </a:t>
            </a:r>
            <a:r>
              <a:rPr lang="ko-KR" altLang="en-US" dirty="0" err="1"/>
              <a:t>파일선택을</a:t>
            </a:r>
            <a:r>
              <a:rPr lang="ko-KR" altLang="en-US" dirty="0"/>
              <a:t> 클릭하여 입찰참가 서류를 첨부</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err="1">
                <a:latin typeface="+mn-ea"/>
              </a:rPr>
              <a:t>스탭</a:t>
            </a:r>
            <a:r>
              <a:rPr lang="ko-KR" altLang="en-US" dirty="0">
                <a:latin typeface="+mn-ea"/>
              </a:rPr>
              <a:t> 중 파일첨부</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파일첨부</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14" name="TextBox 313">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756845" y="2452467"/>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입찰서 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312311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319763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규격제안서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325149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8" name="모서리가 둥근 직사각형 117"/>
          <p:cNvSpPr/>
          <p:nvPr/>
        </p:nvSpPr>
        <p:spPr>
          <a:xfrm>
            <a:off x="710315" y="352979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3604319"/>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공종별</a:t>
            </a:r>
            <a:r>
              <a:rPr lang="ko-KR" altLang="en-US" sz="700" dirty="0">
                <a:solidFill>
                  <a:schemeClr val="tx1">
                    <a:lumMod val="85000"/>
                    <a:lumOff val="15000"/>
                  </a:schemeClr>
                </a:solidFill>
                <a:latin typeface="맑은 고딕" panose="020B0503020000020004" pitchFamily="50" charset="-127"/>
              </a:rPr>
              <a:t> 산출내역서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365818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2" name="사각형: 둥근 모서리 15">
            <a:extLst>
              <a:ext uri="{FF2B5EF4-FFF2-40B4-BE49-F238E27FC236}">
                <a16:creationId xmlns:a16="http://schemas.microsoft.com/office/drawing/2014/main" id="{E2B61CFB-AD16-68D0-8752-50D9C5E01971}"/>
              </a:ext>
            </a:extLst>
          </p:cNvPr>
          <p:cNvSpPr/>
          <p:nvPr/>
        </p:nvSpPr>
        <p:spPr>
          <a:xfrm>
            <a:off x="710315" y="2702249"/>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2987994"/>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49559" y="2987994"/>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2987994"/>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27" name="사각형: 둥근 모서리 15">
            <a:extLst>
              <a:ext uri="{FF2B5EF4-FFF2-40B4-BE49-F238E27FC236}">
                <a16:creationId xmlns:a16="http://schemas.microsoft.com/office/drawing/2014/main" id="{E2B61CFB-AD16-68D0-8752-50D9C5E01971}"/>
              </a:ext>
            </a:extLst>
          </p:cNvPr>
          <p:cNvSpPr/>
          <p:nvPr/>
        </p:nvSpPr>
        <p:spPr>
          <a:xfrm>
            <a:off x="2969980" y="3634599"/>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28" name="사각형: 둥근 모서리 15">
            <a:extLst>
              <a:ext uri="{FF2B5EF4-FFF2-40B4-BE49-F238E27FC236}">
                <a16:creationId xmlns:a16="http://schemas.microsoft.com/office/drawing/2014/main" id="{E2B61CFB-AD16-68D0-8752-50D9C5E01971}"/>
              </a:ext>
            </a:extLst>
          </p:cNvPr>
          <p:cNvSpPr/>
          <p:nvPr/>
        </p:nvSpPr>
        <p:spPr>
          <a:xfrm>
            <a:off x="2969980" y="3217807"/>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cxnSp>
        <p:nvCxnSpPr>
          <p:cNvPr id="55" name="직선 연결선 54">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6" name="TextBox 55">
            <a:extLst>
              <a:ext uri="{FF2B5EF4-FFF2-40B4-BE49-F238E27FC236}">
                <a16:creationId xmlns:a16="http://schemas.microsoft.com/office/drawing/2014/main" id="{FFC49AEA-2A8F-250C-A86A-A7751D9706C3}"/>
              </a:ext>
            </a:extLst>
          </p:cNvPr>
          <p:cNvSpPr txBox="1"/>
          <p:nvPr/>
        </p:nvSpPr>
        <p:spPr>
          <a:xfrm>
            <a:off x="759212" y="2207916"/>
            <a:ext cx="652932"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sp>
        <p:nvSpPr>
          <p:cNvPr id="57" name="TextBox 56">
            <a:extLst>
              <a:ext uri="{FF2B5EF4-FFF2-40B4-BE49-F238E27FC236}">
                <a16:creationId xmlns:a16="http://schemas.microsoft.com/office/drawing/2014/main" id="{FFC49AEA-2A8F-250C-A86A-A7751D9706C3}"/>
              </a:ext>
            </a:extLst>
          </p:cNvPr>
          <p:cNvSpPr txBox="1"/>
          <p:nvPr/>
        </p:nvSpPr>
        <p:spPr>
          <a:xfrm>
            <a:off x="1552797" y="2207916"/>
            <a:ext cx="464719" cy="107722"/>
          </a:xfrm>
          <a:prstGeom prst="rect">
            <a:avLst/>
          </a:prstGeom>
          <a:noFill/>
        </p:spPr>
        <p:txBody>
          <a:bodyPr wrap="square" lIns="0" tIns="0" rIns="0" bIns="0" rtlCol="0">
            <a:spAutoFit/>
          </a:bodyPr>
          <a:lstStyle/>
          <a:p>
            <a:pPr algn="ctr"/>
            <a:r>
              <a:rPr lang="en-US" altLang="ko-KR" sz="700" b="1" dirty="0">
                <a:latin typeface="+mn-ea"/>
              </a:rPr>
              <a:t>5.</a:t>
            </a:r>
            <a:r>
              <a:rPr lang="ko-KR" altLang="en-US" sz="700" b="1" dirty="0">
                <a:latin typeface="+mn-ea"/>
              </a:rPr>
              <a:t> 파일첨부</a:t>
            </a:r>
          </a:p>
        </p:txBody>
      </p:sp>
      <p:sp>
        <p:nvSpPr>
          <p:cNvPr id="58" name="TextBox 57">
            <a:extLst>
              <a:ext uri="{FF2B5EF4-FFF2-40B4-BE49-F238E27FC236}">
                <a16:creationId xmlns:a16="http://schemas.microsoft.com/office/drawing/2014/main" id="{FFC49AEA-2A8F-250C-A86A-A7751D9706C3}"/>
              </a:ext>
            </a:extLst>
          </p:cNvPr>
          <p:cNvSpPr txBox="1"/>
          <p:nvPr/>
        </p:nvSpPr>
        <p:spPr>
          <a:xfrm>
            <a:off x="2158169" y="2207916"/>
            <a:ext cx="763277"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err="1">
                <a:latin typeface="+mn-ea"/>
              </a:rPr>
              <a:t>동가낙찰</a:t>
            </a:r>
            <a:r>
              <a:rPr lang="ko-KR" altLang="en-US" sz="700" dirty="0">
                <a:latin typeface="+mn-ea"/>
              </a:rPr>
              <a:t> </a:t>
            </a:r>
            <a:r>
              <a:rPr lang="ko-KR" altLang="en-US" sz="700" dirty="0" err="1">
                <a:latin typeface="+mn-ea"/>
              </a:rPr>
              <a:t>선추첨</a:t>
            </a:r>
            <a:endParaRPr lang="ko-KR" altLang="en-US" sz="700" dirty="0">
              <a:latin typeface="+mn-ea"/>
            </a:endParaRPr>
          </a:p>
        </p:txBody>
      </p:sp>
      <p:cxnSp>
        <p:nvCxnSpPr>
          <p:cNvPr id="59" name="직선 연결선 58">
            <a:extLst>
              <a:ext uri="{FF2B5EF4-FFF2-40B4-BE49-F238E27FC236}">
                <a16:creationId xmlns:a16="http://schemas.microsoft.com/office/drawing/2014/main" id="{E9293055-D5CD-4B9E-7F64-64B2D2CA7A52}"/>
              </a:ext>
            </a:extLst>
          </p:cNvPr>
          <p:cNvCxnSpPr/>
          <p:nvPr/>
        </p:nvCxnSpPr>
        <p:spPr>
          <a:xfrm>
            <a:off x="1533063" y="2424523"/>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60" name="그룹 59"/>
          <p:cNvGrpSpPr/>
          <p:nvPr/>
        </p:nvGrpSpPr>
        <p:grpSpPr>
          <a:xfrm>
            <a:off x="2919130" y="2169793"/>
            <a:ext cx="422853" cy="187961"/>
            <a:chOff x="3641308" y="2234886"/>
            <a:chExt cx="422853" cy="187961"/>
          </a:xfrm>
        </p:grpSpPr>
        <p:sp>
          <p:nvSpPr>
            <p:cNvPr id="61" name="타원 6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2" name="그룹 61"/>
            <p:cNvGrpSpPr/>
            <p:nvPr/>
          </p:nvGrpSpPr>
          <p:grpSpPr>
            <a:xfrm rot="5400000" flipH="1">
              <a:off x="3679895" y="2305364"/>
              <a:ext cx="94010" cy="47005"/>
              <a:chOff x="6812560" y="3297172"/>
              <a:chExt cx="94010" cy="47005"/>
            </a:xfrm>
          </p:grpSpPr>
          <p:cxnSp>
            <p:nvCxnSpPr>
              <p:cNvPr id="67" name="직선 연결선 6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8" name="직선 연결선 6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63" name="타원 6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4" name="그룹 63"/>
            <p:cNvGrpSpPr/>
            <p:nvPr/>
          </p:nvGrpSpPr>
          <p:grpSpPr>
            <a:xfrm rot="16200000">
              <a:off x="3931564" y="2305364"/>
              <a:ext cx="94010" cy="47005"/>
              <a:chOff x="6812560" y="3297172"/>
              <a:chExt cx="94010" cy="47005"/>
            </a:xfrm>
          </p:grpSpPr>
          <p:cxnSp>
            <p:nvCxnSpPr>
              <p:cNvPr id="65" name="직선 연결선 6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6" name="직선 연결선 6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70" name="모서리가 둥근 직사각형 69"/>
          <p:cNvSpPr/>
          <p:nvPr/>
        </p:nvSpPr>
        <p:spPr>
          <a:xfrm>
            <a:off x="710315" y="393180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1" name="TextBox 70">
            <a:extLst>
              <a:ext uri="{FF2B5EF4-FFF2-40B4-BE49-F238E27FC236}">
                <a16:creationId xmlns:a16="http://schemas.microsoft.com/office/drawing/2014/main" id="{FFC49AEA-2A8F-250C-A86A-A7751D9706C3}"/>
              </a:ext>
            </a:extLst>
          </p:cNvPr>
          <p:cNvSpPr txBox="1"/>
          <p:nvPr/>
        </p:nvSpPr>
        <p:spPr>
          <a:xfrm>
            <a:off x="1210983" y="4006330"/>
            <a:ext cx="1682738" cy="215444"/>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자기평가기술서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72" name="TextBox 71">
            <a:extLst>
              <a:ext uri="{FF2B5EF4-FFF2-40B4-BE49-F238E27FC236}">
                <a16:creationId xmlns:a16="http://schemas.microsoft.com/office/drawing/2014/main" id="{FFC49AEA-2A8F-250C-A86A-A7751D9706C3}"/>
              </a:ext>
            </a:extLst>
          </p:cNvPr>
          <p:cNvSpPr txBox="1"/>
          <p:nvPr/>
        </p:nvSpPr>
        <p:spPr>
          <a:xfrm>
            <a:off x="788511" y="406019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74" name="모서리가 둥근 직사각형 73"/>
          <p:cNvSpPr/>
          <p:nvPr/>
        </p:nvSpPr>
        <p:spPr>
          <a:xfrm>
            <a:off x="710315" y="4338495"/>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5" name="TextBox 74">
            <a:extLst>
              <a:ext uri="{FF2B5EF4-FFF2-40B4-BE49-F238E27FC236}">
                <a16:creationId xmlns:a16="http://schemas.microsoft.com/office/drawing/2014/main" id="{FFC49AEA-2A8F-250C-A86A-A7751D9706C3}"/>
              </a:ext>
            </a:extLst>
          </p:cNvPr>
          <p:cNvSpPr txBox="1"/>
          <p:nvPr/>
        </p:nvSpPr>
        <p:spPr>
          <a:xfrm>
            <a:off x="1210983" y="4413016"/>
            <a:ext cx="1682738" cy="215444"/>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기타참조서류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76" name="TextBox 75">
            <a:extLst>
              <a:ext uri="{FF2B5EF4-FFF2-40B4-BE49-F238E27FC236}">
                <a16:creationId xmlns:a16="http://schemas.microsoft.com/office/drawing/2014/main" id="{FFC49AEA-2A8F-250C-A86A-A7751D9706C3}"/>
              </a:ext>
            </a:extLst>
          </p:cNvPr>
          <p:cNvSpPr txBox="1"/>
          <p:nvPr/>
        </p:nvSpPr>
        <p:spPr>
          <a:xfrm>
            <a:off x="788511" y="4466877"/>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78" name="사각형: 둥근 모서리 15">
            <a:extLst>
              <a:ext uri="{FF2B5EF4-FFF2-40B4-BE49-F238E27FC236}">
                <a16:creationId xmlns:a16="http://schemas.microsoft.com/office/drawing/2014/main" id="{E2B61CFB-AD16-68D0-8752-50D9C5E01971}"/>
              </a:ext>
            </a:extLst>
          </p:cNvPr>
          <p:cNvSpPr/>
          <p:nvPr/>
        </p:nvSpPr>
        <p:spPr>
          <a:xfrm>
            <a:off x="2969980" y="4443296"/>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79" name="사각형: 둥근 모서리 15">
            <a:extLst>
              <a:ext uri="{FF2B5EF4-FFF2-40B4-BE49-F238E27FC236}">
                <a16:creationId xmlns:a16="http://schemas.microsoft.com/office/drawing/2014/main" id="{E2B61CFB-AD16-68D0-8752-50D9C5E01971}"/>
              </a:ext>
            </a:extLst>
          </p:cNvPr>
          <p:cNvSpPr/>
          <p:nvPr/>
        </p:nvSpPr>
        <p:spPr>
          <a:xfrm>
            <a:off x="2969980" y="4026504"/>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09" name="타원 108">
            <a:extLst>
              <a:ext uri="{FF2B5EF4-FFF2-40B4-BE49-F238E27FC236}">
                <a16:creationId xmlns:a16="http://schemas.microsoft.com/office/drawing/2014/main" id="{37A7FF4F-0EAA-1463-560A-D5EC24416103}"/>
              </a:ext>
            </a:extLst>
          </p:cNvPr>
          <p:cNvSpPr/>
          <p:nvPr/>
        </p:nvSpPr>
        <p:spPr>
          <a:xfrm>
            <a:off x="589334" y="249129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01696380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복수예비가격 선택 화면</a:t>
            </a:r>
            <a:r>
              <a:rPr lang="en-US" altLang="ko-KR" dirty="0"/>
              <a:t/>
            </a:r>
            <a:br>
              <a:rPr lang="en-US" altLang="ko-KR" dirty="0"/>
            </a:br>
            <a:r>
              <a:rPr lang="en-US" altLang="ko-KR" dirty="0"/>
              <a:t>- </a:t>
            </a:r>
            <a:r>
              <a:rPr lang="ko-KR" altLang="en-US" dirty="0"/>
              <a:t>제목 표시</a:t>
            </a:r>
            <a:r>
              <a:rPr lang="en-US" altLang="ko-KR" dirty="0"/>
              <a:t/>
            </a:r>
            <a:br>
              <a:rPr lang="en-US" altLang="ko-KR" dirty="0"/>
            </a:br>
            <a:r>
              <a:rPr lang="en-US" altLang="ko-KR" dirty="0"/>
              <a:t>- </a:t>
            </a:r>
            <a:r>
              <a:rPr lang="ko-KR" altLang="en-US" dirty="0" err="1"/>
              <a:t>적격심사가</a:t>
            </a:r>
            <a:r>
              <a:rPr lang="ko-KR" altLang="en-US" dirty="0"/>
              <a:t> ‘</a:t>
            </a:r>
            <a:r>
              <a:rPr lang="en-US" altLang="ko-KR" dirty="0"/>
              <a:t>Y’ </a:t>
            </a:r>
            <a:r>
              <a:rPr lang="ko-KR" altLang="en-US" dirty="0"/>
              <a:t>또는 </a:t>
            </a:r>
            <a:r>
              <a:rPr lang="ko-KR" altLang="en-US" dirty="0" err="1"/>
              <a:t>계약방법이</a:t>
            </a:r>
            <a:r>
              <a:rPr lang="ko-KR" altLang="en-US" dirty="0"/>
              <a:t> ‘</a:t>
            </a:r>
            <a:r>
              <a:rPr lang="en-US" altLang="ko-KR" dirty="0"/>
              <a:t>F(</a:t>
            </a:r>
            <a:r>
              <a:rPr lang="ko-KR" altLang="en-US" dirty="0" err="1"/>
              <a:t>협상에의한계약</a:t>
            </a:r>
            <a:r>
              <a:rPr lang="en-US" altLang="ko-KR" dirty="0"/>
              <a:t>(</a:t>
            </a:r>
            <a:r>
              <a:rPr lang="ko-KR" altLang="en-US" dirty="0"/>
              <a:t>서류</a:t>
            </a:r>
            <a:r>
              <a:rPr lang="en-US" altLang="ko-KR" dirty="0"/>
              <a:t>))’</a:t>
            </a:r>
            <a:r>
              <a:rPr lang="ko-KR" altLang="en-US" dirty="0"/>
              <a:t>또는’</a:t>
            </a:r>
            <a:r>
              <a:rPr lang="en-US" altLang="ko-KR" dirty="0"/>
              <a:t>J(</a:t>
            </a:r>
            <a:r>
              <a:rPr lang="ko-KR" altLang="en-US" dirty="0" err="1"/>
              <a:t>종합낙찰제</a:t>
            </a:r>
            <a:r>
              <a:rPr lang="en-US" altLang="ko-KR" dirty="0"/>
              <a:t>)’</a:t>
            </a:r>
            <a:r>
              <a:rPr lang="ko-KR" altLang="en-US" dirty="0"/>
              <a:t>또는’</a:t>
            </a:r>
            <a:r>
              <a:rPr lang="en-US" altLang="ko-KR" dirty="0"/>
              <a:t>P(</a:t>
            </a:r>
            <a:r>
              <a:rPr lang="ko-KR" altLang="en-US" dirty="0" err="1"/>
              <a:t>협상에의한계약</a:t>
            </a:r>
            <a:r>
              <a:rPr lang="en-US" altLang="ko-KR" dirty="0"/>
              <a:t>(</a:t>
            </a:r>
            <a:r>
              <a:rPr lang="ko-KR" altLang="en-US" dirty="0"/>
              <a:t>전자</a:t>
            </a:r>
            <a:r>
              <a:rPr lang="en-US" altLang="ko-KR" dirty="0"/>
              <a:t>))’</a:t>
            </a:r>
            <a:r>
              <a:rPr lang="ko-KR" altLang="en-US" dirty="0"/>
              <a:t>이지 않고</a:t>
            </a:r>
            <a:r>
              <a:rPr lang="en-US" altLang="ko-KR" dirty="0"/>
              <a:t>, </a:t>
            </a:r>
            <a:r>
              <a:rPr lang="ko-KR" altLang="en-US" dirty="0" err="1"/>
              <a:t>공고일자가</a:t>
            </a:r>
            <a:r>
              <a:rPr lang="ko-KR" altLang="en-US" dirty="0"/>
              <a:t> </a:t>
            </a:r>
            <a:r>
              <a:rPr lang="en-US" altLang="ko-KR" dirty="0"/>
              <a:t>20210415 </a:t>
            </a:r>
            <a:r>
              <a:rPr lang="ko-KR" altLang="en-US" dirty="0"/>
              <a:t>이전인 경우</a:t>
            </a:r>
            <a:r>
              <a:rPr lang="en-US" altLang="ko-KR" dirty="0"/>
              <a:t>, </a:t>
            </a:r>
            <a:r>
              <a:rPr lang="ko-KR" altLang="en-US" dirty="0"/>
              <a:t>경우에 따라 </a:t>
            </a:r>
            <a:r>
              <a:rPr lang="ko-KR" altLang="en-US" dirty="0" err="1"/>
              <a:t>동가낙찰</a:t>
            </a:r>
            <a:r>
              <a:rPr lang="ko-KR" altLang="en-US" dirty="0"/>
              <a:t> </a:t>
            </a:r>
            <a:r>
              <a:rPr lang="ko-KR" altLang="en-US" dirty="0" err="1"/>
              <a:t>선추첨</a:t>
            </a:r>
            <a:r>
              <a:rPr lang="ko-KR" altLang="en-US" dirty="0"/>
              <a:t> 보이기</a:t>
            </a:r>
            <a:r>
              <a:rPr lang="en-US" altLang="ko-KR" dirty="0"/>
              <a:t/>
            </a:r>
            <a:br>
              <a:rPr lang="en-US" altLang="ko-KR" dirty="0"/>
            </a:br>
            <a:r>
              <a:rPr lang="en-US" altLang="ko-KR" dirty="0"/>
              <a:t>- </a:t>
            </a:r>
            <a:r>
              <a:rPr lang="ko-KR" altLang="en-US" dirty="0" err="1"/>
              <a:t>계약방법이</a:t>
            </a:r>
            <a:r>
              <a:rPr lang="ko-KR" altLang="en-US" dirty="0"/>
              <a:t> ‘</a:t>
            </a:r>
            <a:r>
              <a:rPr lang="en-US" altLang="ko-KR" dirty="0"/>
              <a:t>G’</a:t>
            </a:r>
            <a:r>
              <a:rPr lang="ko-KR" altLang="en-US" dirty="0"/>
              <a:t>또는‘</a:t>
            </a:r>
            <a:r>
              <a:rPr lang="en-US" altLang="ko-KR" dirty="0"/>
              <a:t>H’</a:t>
            </a:r>
            <a:r>
              <a:rPr lang="ko-KR" altLang="en-US" dirty="0"/>
              <a:t>이고 </a:t>
            </a:r>
            <a:r>
              <a:rPr lang="ko-KR" altLang="en-US" dirty="0" err="1"/>
              <a:t>공고일자가</a:t>
            </a:r>
            <a:r>
              <a:rPr lang="ko-KR" altLang="en-US" dirty="0"/>
              <a:t> </a:t>
            </a:r>
            <a:r>
              <a:rPr lang="en-US" altLang="ko-KR" dirty="0"/>
              <a:t>2020111 </a:t>
            </a:r>
            <a:r>
              <a:rPr lang="ko-KR" altLang="en-US" dirty="0"/>
              <a:t>이전인 경우 </a:t>
            </a:r>
            <a:r>
              <a:rPr lang="ko-KR" altLang="en-US" dirty="0" err="1"/>
              <a:t>동가낙찰</a:t>
            </a:r>
            <a:r>
              <a:rPr lang="ko-KR" altLang="en-US" dirty="0"/>
              <a:t> </a:t>
            </a:r>
            <a:r>
              <a:rPr lang="ko-KR" altLang="en-US" dirty="0" err="1"/>
              <a:t>선추첨</a:t>
            </a:r>
            <a:r>
              <a:rPr lang="ko-KR" altLang="en-US" dirty="0"/>
              <a:t> 숨기기</a:t>
            </a:r>
            <a:endParaRPr lang="en-US" altLang="ko-KR" dirty="0"/>
          </a:p>
          <a:p>
            <a:pPr marL="228600" indent="-228600">
              <a:buFont typeface="+mj-lt"/>
              <a:buAutoNum type="arabicPeriod"/>
            </a:pPr>
            <a:r>
              <a:rPr lang="ko-KR" altLang="en-US" dirty="0" err="1"/>
              <a:t>회차</a:t>
            </a:r>
            <a:r>
              <a:rPr lang="ko-KR" altLang="en-US" dirty="0"/>
              <a:t> 선택 값 표시</a:t>
            </a:r>
            <a:r>
              <a:rPr lang="en-US" altLang="ko-KR" dirty="0"/>
              <a:t/>
            </a:r>
            <a:br>
              <a:rPr lang="en-US" altLang="ko-KR" dirty="0"/>
            </a:br>
            <a:r>
              <a:rPr lang="en-US" altLang="ko-KR" dirty="0"/>
              <a:t>- </a:t>
            </a:r>
            <a:r>
              <a:rPr lang="ko-KR" altLang="en-US" dirty="0"/>
              <a:t>기본값 </a:t>
            </a:r>
            <a:r>
              <a:rPr lang="en-US" altLang="ko-KR" dirty="0"/>
              <a:t>: </a:t>
            </a:r>
            <a:r>
              <a:rPr lang="ko-KR" altLang="en-US" dirty="0" err="1"/>
              <a:t>미선택</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동가낙찰</a:t>
            </a:r>
            <a:r>
              <a:rPr lang="ko-KR" altLang="en-US" dirty="0">
                <a:latin typeface="+mn-ea"/>
              </a:rPr>
              <a:t> </a:t>
            </a:r>
            <a:r>
              <a:rPr lang="ko-KR" altLang="en-US" dirty="0" err="1">
                <a:latin typeface="+mn-ea"/>
              </a:rPr>
              <a:t>선추첨</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err="1">
                <a:latin typeface="+mn-ea"/>
              </a:rPr>
              <a:t>스탭</a:t>
            </a:r>
            <a:r>
              <a:rPr lang="ko-KR" altLang="en-US" dirty="0">
                <a:latin typeface="+mn-ea"/>
              </a:rPr>
              <a:t> 중 </a:t>
            </a:r>
            <a:r>
              <a:rPr lang="ko-KR" altLang="en-US" dirty="0" err="1">
                <a:latin typeface="+mn-ea"/>
              </a:rPr>
              <a:t>동가낙찰</a:t>
            </a:r>
            <a:r>
              <a:rPr lang="ko-KR" altLang="en-US" dirty="0">
                <a:latin typeface="+mn-ea"/>
              </a:rPr>
              <a:t> </a:t>
            </a:r>
            <a:r>
              <a:rPr lang="ko-KR" altLang="en-US" dirty="0" err="1">
                <a:latin typeface="+mn-ea"/>
              </a:rPr>
              <a:t>선추첨</a:t>
            </a:r>
            <a:r>
              <a:rPr lang="ko-KR" altLang="en-US" dirty="0">
                <a:latin typeface="+mn-ea"/>
              </a:rPr>
              <a:t> 입력</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동가낙찰</a:t>
            </a:r>
            <a:r>
              <a:rPr lang="ko-KR" altLang="en-US" dirty="0">
                <a:latin typeface="+mn-ea"/>
              </a:rPr>
              <a:t> </a:t>
            </a:r>
            <a:r>
              <a:rPr lang="ko-KR" altLang="en-US" dirty="0" err="1">
                <a:latin typeface="+mn-ea"/>
              </a:rPr>
              <a:t>선추첨</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MUI-BD-06-M06</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323792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3203671"/>
            <a:ext cx="2451575" cy="181140"/>
          </a:xfrm>
          <a:prstGeom prst="rect">
            <a:avLst/>
          </a:prstGeom>
          <a:noFill/>
        </p:spPr>
        <p:txBody>
          <a:bodyPr wrap="square" lIns="0" tIns="0" rIns="0" bIns="0" rtlCol="0">
            <a:spAutoFit/>
          </a:bodyPr>
          <a:lstStyle/>
          <a:p>
            <a:pPr>
              <a:lnSpc>
                <a:spcPct val="200000"/>
              </a:lnSpc>
            </a:pPr>
            <a:r>
              <a:rPr lang="ko-KR" altLang="en-US" sz="700" dirty="0" err="1">
                <a:latin typeface="+mn-ea"/>
              </a:rPr>
              <a:t>동가낙찰</a:t>
            </a:r>
            <a:r>
              <a:rPr lang="ko-KR" altLang="en-US" sz="700" dirty="0">
                <a:latin typeface="+mn-ea"/>
              </a:rPr>
              <a:t> </a:t>
            </a:r>
            <a:r>
              <a:rPr lang="ko-KR" altLang="en-US" sz="700" dirty="0" err="1">
                <a:latin typeface="+mn-ea"/>
              </a:rPr>
              <a:t>선추첨</a:t>
            </a:r>
            <a:endParaRPr lang="ko-KR" altLang="en-US" sz="700" dirty="0">
              <a:latin typeface="+mn-ea"/>
            </a:endParaRPr>
          </a:p>
        </p:txBody>
      </p:sp>
      <p:sp>
        <p:nvSpPr>
          <p:cNvPr id="169" name="직사각형 168"/>
          <p:cNvSpPr/>
          <p:nvPr/>
        </p:nvSpPr>
        <p:spPr>
          <a:xfrm>
            <a:off x="722232" y="3494913"/>
            <a:ext cx="792000" cy="2147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494912"/>
            <a:ext cx="725552" cy="181140"/>
          </a:xfrm>
          <a:prstGeom prst="rect">
            <a:avLst/>
          </a:prstGeom>
          <a:noFill/>
        </p:spPr>
        <p:txBody>
          <a:bodyPr wrap="square" lIns="0" tIns="0" rIns="0" bIns="0" rtlCol="0">
            <a:spAutoFit/>
          </a:bodyPr>
          <a:lstStyle/>
          <a:p>
            <a:pPr>
              <a:lnSpc>
                <a:spcPct val="200000"/>
              </a:lnSpc>
            </a:pPr>
            <a:r>
              <a:rPr lang="en-US" altLang="ko-KR" sz="700" dirty="0">
                <a:latin typeface="+mn-ea"/>
              </a:rPr>
              <a:t>1</a:t>
            </a:r>
            <a:r>
              <a:rPr lang="ko-KR" altLang="en-US" sz="700" dirty="0">
                <a:latin typeface="+mn-ea"/>
              </a:rPr>
              <a:t>차</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494912"/>
            <a:ext cx="1784088" cy="181140"/>
          </a:xfrm>
          <a:prstGeom prst="rect">
            <a:avLst/>
          </a:prstGeom>
          <a:noFill/>
        </p:spPr>
        <p:txBody>
          <a:bodyPr wrap="square" lIns="0" tIns="0" rIns="0" bIns="0" rtlCol="0">
            <a:spAutoFit/>
          </a:bodyPr>
          <a:lstStyle/>
          <a:p>
            <a:pPr>
              <a:lnSpc>
                <a:spcPct val="200000"/>
              </a:lnSpc>
            </a:pPr>
            <a:r>
              <a:rPr lang="ko-KR" altLang="en-US" sz="700" dirty="0">
                <a:latin typeface="+mn-ea"/>
              </a:rPr>
              <a:t>가위</a:t>
            </a:r>
            <a:endParaRPr lang="en-US" altLang="ko-KR" sz="700" dirty="0">
              <a:latin typeface="+mn-ea"/>
            </a:endParaRPr>
          </a:p>
        </p:txBody>
      </p:sp>
      <p:grpSp>
        <p:nvGrpSpPr>
          <p:cNvPr id="172" name="그룹 171"/>
          <p:cNvGrpSpPr/>
          <p:nvPr/>
        </p:nvGrpSpPr>
        <p:grpSpPr>
          <a:xfrm>
            <a:off x="720139" y="3494912"/>
            <a:ext cx="2630093" cy="214740"/>
            <a:chOff x="701175" y="1835481"/>
            <a:chExt cx="2630093" cy="21474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61" name="직선 연결선 160">
            <a:extLst>
              <a:ext uri="{FF2B5EF4-FFF2-40B4-BE49-F238E27FC236}">
                <a16:creationId xmlns:a16="http://schemas.microsoft.com/office/drawing/2014/main" id="{E9293055-D5CD-4B9E-7F64-64B2D2CA7A52}"/>
              </a:ext>
            </a:extLst>
          </p:cNvPr>
          <p:cNvCxnSpPr/>
          <p:nvPr/>
        </p:nvCxnSpPr>
        <p:spPr>
          <a:xfrm>
            <a:off x="715534" y="24245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2" name="TextBox 161">
            <a:extLst>
              <a:ext uri="{FF2B5EF4-FFF2-40B4-BE49-F238E27FC236}">
                <a16:creationId xmlns:a16="http://schemas.microsoft.com/office/drawing/2014/main" id="{FFC49AEA-2A8F-250C-A86A-A7751D9706C3}"/>
              </a:ext>
            </a:extLst>
          </p:cNvPr>
          <p:cNvSpPr txBox="1"/>
          <p:nvPr/>
        </p:nvSpPr>
        <p:spPr>
          <a:xfrm>
            <a:off x="759212" y="2207916"/>
            <a:ext cx="652932"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복수예비가격</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52797" y="2207916"/>
            <a:ext cx="464719" cy="107722"/>
          </a:xfrm>
          <a:prstGeom prst="rect">
            <a:avLst/>
          </a:prstGeom>
          <a:noFill/>
        </p:spPr>
        <p:txBody>
          <a:bodyPr wrap="square" lIns="0" tIns="0" rIns="0" bIns="0" rtlCol="0">
            <a:spAutoFit/>
          </a:bodyPr>
          <a:lstStyle/>
          <a:p>
            <a:pPr algn="ctr"/>
            <a:r>
              <a:rPr lang="en-US" altLang="ko-KR" sz="700" dirty="0">
                <a:latin typeface="+mn-ea"/>
              </a:rPr>
              <a:t>5.</a:t>
            </a:r>
            <a:r>
              <a:rPr lang="ko-KR" altLang="en-US" sz="700" dirty="0">
                <a:latin typeface="+mn-ea"/>
              </a:rPr>
              <a:t> 파일첨부</a:t>
            </a:r>
          </a:p>
        </p:txBody>
      </p:sp>
      <p:sp>
        <p:nvSpPr>
          <p:cNvPr id="164" name="TextBox 163">
            <a:extLst>
              <a:ext uri="{FF2B5EF4-FFF2-40B4-BE49-F238E27FC236}">
                <a16:creationId xmlns:a16="http://schemas.microsoft.com/office/drawing/2014/main" id="{FFC49AEA-2A8F-250C-A86A-A7751D9706C3}"/>
              </a:ext>
            </a:extLst>
          </p:cNvPr>
          <p:cNvSpPr txBox="1"/>
          <p:nvPr/>
        </p:nvSpPr>
        <p:spPr>
          <a:xfrm>
            <a:off x="2158169" y="2207916"/>
            <a:ext cx="763277" cy="107722"/>
          </a:xfrm>
          <a:prstGeom prst="rect">
            <a:avLst/>
          </a:prstGeom>
          <a:noFill/>
        </p:spPr>
        <p:txBody>
          <a:bodyPr wrap="square" lIns="0" tIns="0" rIns="0" bIns="0" rtlCol="0">
            <a:spAutoFit/>
          </a:bodyPr>
          <a:lstStyle/>
          <a:p>
            <a:pPr algn="ctr"/>
            <a:r>
              <a:rPr lang="en-US" altLang="ko-KR" sz="700" b="1" dirty="0">
                <a:latin typeface="+mn-ea"/>
              </a:rPr>
              <a:t>6. </a:t>
            </a:r>
            <a:r>
              <a:rPr lang="ko-KR" altLang="en-US" sz="700" b="1" dirty="0" err="1">
                <a:latin typeface="+mn-ea"/>
              </a:rPr>
              <a:t>동가낙찰</a:t>
            </a:r>
            <a:r>
              <a:rPr lang="ko-KR" altLang="en-US" sz="700" b="1" dirty="0">
                <a:latin typeface="+mn-ea"/>
              </a:rPr>
              <a:t> </a:t>
            </a:r>
            <a:r>
              <a:rPr lang="ko-KR" altLang="en-US" sz="700" b="1" dirty="0" err="1">
                <a:latin typeface="+mn-ea"/>
              </a:rPr>
              <a:t>선추첨</a:t>
            </a:r>
            <a:endParaRPr lang="ko-KR" altLang="en-US" sz="700" b="1" dirty="0">
              <a:latin typeface="+mn-ea"/>
            </a:endParaRPr>
          </a:p>
        </p:txBody>
      </p:sp>
      <p:cxnSp>
        <p:nvCxnSpPr>
          <p:cNvPr id="167" name="직선 연결선 166">
            <a:extLst>
              <a:ext uri="{FF2B5EF4-FFF2-40B4-BE49-F238E27FC236}">
                <a16:creationId xmlns:a16="http://schemas.microsoft.com/office/drawing/2014/main" id="{E9293055-D5CD-4B9E-7F64-64B2D2CA7A52}"/>
              </a:ext>
            </a:extLst>
          </p:cNvPr>
          <p:cNvCxnSpPr/>
          <p:nvPr/>
        </p:nvCxnSpPr>
        <p:spPr>
          <a:xfrm>
            <a:off x="2125944" y="2424523"/>
            <a:ext cx="793186"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8" name="그룹 167"/>
          <p:cNvGrpSpPr/>
          <p:nvPr/>
        </p:nvGrpSpPr>
        <p:grpSpPr>
          <a:xfrm>
            <a:off x="2919130" y="2169793"/>
            <a:ext cx="422853" cy="187961"/>
            <a:chOff x="3641308" y="2234886"/>
            <a:chExt cx="422853" cy="187961"/>
          </a:xfrm>
        </p:grpSpPr>
        <p:sp>
          <p:nvSpPr>
            <p:cNvPr id="180" name="타원 17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1" name="그룹 180"/>
            <p:cNvGrpSpPr/>
            <p:nvPr/>
          </p:nvGrpSpPr>
          <p:grpSpPr>
            <a:xfrm rot="5400000" flipH="1">
              <a:off x="3679895" y="2305364"/>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2" name="타원 18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16200000">
              <a:off x="3931564" y="2305364"/>
              <a:ext cx="94010" cy="47005"/>
              <a:chOff x="6812560" y="3297172"/>
              <a:chExt cx="94010" cy="47005"/>
            </a:xfrm>
          </p:grpSpPr>
          <p:cxnSp>
            <p:nvCxnSpPr>
              <p:cNvPr id="184" name="직선 연결선 1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5" name="직선 연결선 1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3" name="그룹 2"/>
          <p:cNvGrpSpPr/>
          <p:nvPr/>
        </p:nvGrpSpPr>
        <p:grpSpPr>
          <a:xfrm>
            <a:off x="715534" y="3769079"/>
            <a:ext cx="2621844" cy="253957"/>
            <a:chOff x="715534" y="3647256"/>
            <a:chExt cx="2621844" cy="288000"/>
          </a:xfrm>
        </p:grpSpPr>
        <p:sp>
          <p:nvSpPr>
            <p:cNvPr id="109" name="모서리가 둥근 직사각형 108"/>
            <p:cNvSpPr/>
            <p:nvPr/>
          </p:nvSpPr>
          <p:spPr>
            <a:xfrm>
              <a:off x="715534" y="3647256"/>
              <a:ext cx="829806" cy="288000"/>
            </a:xfrm>
            <a:prstGeom prst="roundRect">
              <a:avLst>
                <a:gd name="adj" fmla="val 4645"/>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rgbClr val="0070C0"/>
                  </a:solidFill>
                </a:rPr>
                <a:t>가위</a:t>
              </a:r>
            </a:p>
          </p:txBody>
        </p:sp>
        <p:sp>
          <p:nvSpPr>
            <p:cNvPr id="188" name="모서리가 둥근 직사각형 187"/>
            <p:cNvSpPr/>
            <p:nvPr/>
          </p:nvSpPr>
          <p:spPr>
            <a:xfrm>
              <a:off x="1611553"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800" dirty="0">
                  <a:solidFill>
                    <a:prstClr val="black"/>
                  </a:solidFill>
                </a:rPr>
                <a:t>바위</a:t>
              </a:r>
            </a:p>
          </p:txBody>
        </p:sp>
        <p:sp>
          <p:nvSpPr>
            <p:cNvPr id="189" name="모서리가 둥근 직사각형 188"/>
            <p:cNvSpPr/>
            <p:nvPr/>
          </p:nvSpPr>
          <p:spPr>
            <a:xfrm>
              <a:off x="2507572"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800" dirty="0">
                  <a:solidFill>
                    <a:prstClr val="black"/>
                  </a:solidFill>
                </a:rPr>
                <a:t>보</a:t>
              </a:r>
            </a:p>
          </p:txBody>
        </p:sp>
      </p:grpSp>
      <p:sp>
        <p:nvSpPr>
          <p:cNvPr id="213" name="모서리가 둥근 직사각형 212"/>
          <p:cNvSpPr/>
          <p:nvPr/>
        </p:nvSpPr>
        <p:spPr>
          <a:xfrm>
            <a:off x="714576" y="2538293"/>
            <a:ext cx="2652743" cy="626289"/>
          </a:xfrm>
          <a:prstGeom prst="roundRect">
            <a:avLst>
              <a:gd name="adj" fmla="val 9584"/>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4" name="TextBox 213">
            <a:extLst>
              <a:ext uri="{FF2B5EF4-FFF2-40B4-BE49-F238E27FC236}">
                <a16:creationId xmlns:a16="http://schemas.microsoft.com/office/drawing/2014/main" id="{FFC49AEA-2A8F-250C-A86A-A7751D9706C3}"/>
              </a:ext>
            </a:extLst>
          </p:cNvPr>
          <p:cNvSpPr txBox="1"/>
          <p:nvPr/>
        </p:nvSpPr>
        <p:spPr>
          <a:xfrm>
            <a:off x="803346" y="2636577"/>
            <a:ext cx="2475203" cy="430887"/>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안내사항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88900" indent="-88900">
              <a:buFont typeface="Arial" panose="020B0604020202020204" pitchFamily="34" charset="0"/>
              <a:buChar char="•"/>
            </a:pPr>
            <a:r>
              <a:rPr lang="ko-KR" altLang="en-US" sz="700" dirty="0" err="1">
                <a:latin typeface="맑은 고딕" panose="020B0503020000020004" pitchFamily="50" charset="-127"/>
              </a:rPr>
              <a:t>동가입찰시</a:t>
            </a:r>
            <a:r>
              <a:rPr lang="ko-KR" altLang="en-US" sz="700" dirty="0">
                <a:latin typeface="맑은 고딕" panose="020B0503020000020004" pitchFamily="50" charset="-127"/>
              </a:rPr>
              <a:t> 낙찰자 결정을 위해 </a:t>
            </a:r>
            <a:r>
              <a:rPr lang="en-US" altLang="ko-KR" sz="700" dirty="0">
                <a:latin typeface="맑은 고딕" panose="020B0503020000020004" pitchFamily="50" charset="-127"/>
              </a:rPr>
              <a:t>[</a:t>
            </a:r>
            <a:r>
              <a:rPr lang="ko-KR" altLang="en-US" sz="700" dirty="0">
                <a:latin typeface="맑은 고딕" panose="020B0503020000020004" pitchFamily="50" charset="-127"/>
              </a:rPr>
              <a:t>가위</a:t>
            </a:r>
            <a:r>
              <a:rPr lang="en-US" altLang="ko-KR" sz="700" dirty="0">
                <a:latin typeface="맑은 고딕" panose="020B0503020000020004" pitchFamily="50" charset="-127"/>
              </a:rPr>
              <a:t>, </a:t>
            </a:r>
            <a:r>
              <a:rPr lang="ko-KR" altLang="en-US" sz="700" dirty="0">
                <a:latin typeface="맑은 고딕" panose="020B0503020000020004" pitchFamily="50" charset="-127"/>
              </a:rPr>
              <a:t>바위</a:t>
            </a:r>
            <a:r>
              <a:rPr lang="en-US" altLang="ko-KR" sz="700" dirty="0">
                <a:latin typeface="맑은 고딕" panose="020B0503020000020004" pitchFamily="50" charset="-127"/>
              </a:rPr>
              <a:t>, </a:t>
            </a:r>
            <a:r>
              <a:rPr lang="ko-KR" altLang="en-US" sz="700" dirty="0">
                <a:latin typeface="맑은 고딕" panose="020B0503020000020004" pitchFamily="50" charset="-127"/>
              </a:rPr>
              <a:t>보</a:t>
            </a:r>
            <a:r>
              <a:rPr lang="en-US" altLang="ko-KR" sz="700" dirty="0">
                <a:latin typeface="맑은 고딕" panose="020B0503020000020004" pitchFamily="50" charset="-127"/>
              </a:rPr>
              <a:t>]</a:t>
            </a:r>
            <a:r>
              <a:rPr lang="ko-KR" altLang="en-US" sz="700" dirty="0">
                <a:latin typeface="맑은 고딕" panose="020B0503020000020004" pitchFamily="50" charset="-127"/>
              </a:rPr>
              <a:t>를 </a:t>
            </a:r>
            <a:r>
              <a:rPr lang="en-US" altLang="ko-KR" sz="700" dirty="0">
                <a:latin typeface="맑은 고딕" panose="020B0503020000020004" pitchFamily="50" charset="-127"/>
              </a:rPr>
              <a:t>5</a:t>
            </a:r>
            <a:r>
              <a:rPr lang="ko-KR" altLang="en-US" sz="700" dirty="0">
                <a:latin typeface="맑은 고딕" panose="020B0503020000020004" pitchFamily="50" charset="-127"/>
              </a:rPr>
              <a:t>차까지 선택합니다</a:t>
            </a:r>
            <a:r>
              <a:rPr lang="en-US" altLang="ko-KR" sz="700" dirty="0">
                <a:latin typeface="맑은 고딕" panose="020B0503020000020004" pitchFamily="50" charset="-127"/>
              </a:rPr>
              <a:t>.</a:t>
            </a:r>
            <a:endParaRPr lang="ko-KR" altLang="en-US" sz="700" dirty="0">
              <a:latin typeface="맑은 고딕" panose="020B0503020000020004" pitchFamily="50" charset="-127"/>
            </a:endParaRPr>
          </a:p>
        </p:txBody>
      </p:sp>
      <p:sp>
        <p:nvSpPr>
          <p:cNvPr id="215" name="타원 214"/>
          <p:cNvSpPr/>
          <p:nvPr/>
        </p:nvSpPr>
        <p:spPr>
          <a:xfrm>
            <a:off x="799388" y="262692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16" name="그룹 215"/>
          <p:cNvGrpSpPr/>
          <p:nvPr/>
        </p:nvGrpSpPr>
        <p:grpSpPr>
          <a:xfrm flipV="1">
            <a:off x="3148209" y="2675424"/>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0" name="모서리가 둥근 직사각형 139"/>
          <p:cNvSpPr/>
          <p:nvPr/>
        </p:nvSpPr>
        <p:spPr>
          <a:xfrm rot="5400000">
            <a:off x="2662242" y="318767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31" name="타원 230">
            <a:extLst>
              <a:ext uri="{FF2B5EF4-FFF2-40B4-BE49-F238E27FC236}">
                <a16:creationId xmlns:a16="http://schemas.microsoft.com/office/drawing/2014/main" id="{37A7FF4F-0EAA-1463-560A-D5EC24416103}"/>
              </a:ext>
            </a:extLst>
          </p:cNvPr>
          <p:cNvSpPr/>
          <p:nvPr/>
        </p:nvSpPr>
        <p:spPr>
          <a:xfrm>
            <a:off x="589334" y="350766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79" name="직사각형 78"/>
          <p:cNvSpPr/>
          <p:nvPr/>
        </p:nvSpPr>
        <p:spPr>
          <a:xfrm>
            <a:off x="722232" y="4079653"/>
            <a:ext cx="792000" cy="2147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0" name="TextBox 79">
            <a:extLst>
              <a:ext uri="{FF2B5EF4-FFF2-40B4-BE49-F238E27FC236}">
                <a16:creationId xmlns:a16="http://schemas.microsoft.com/office/drawing/2014/main" id="{FFC49AEA-2A8F-250C-A86A-A7751D9706C3}"/>
              </a:ext>
            </a:extLst>
          </p:cNvPr>
          <p:cNvSpPr txBox="1"/>
          <p:nvPr/>
        </p:nvSpPr>
        <p:spPr>
          <a:xfrm>
            <a:off x="809295" y="4079652"/>
            <a:ext cx="725552" cy="181140"/>
          </a:xfrm>
          <a:prstGeom prst="rect">
            <a:avLst/>
          </a:prstGeom>
          <a:noFill/>
        </p:spPr>
        <p:txBody>
          <a:bodyPr wrap="square" lIns="0" tIns="0" rIns="0" bIns="0" rtlCol="0">
            <a:spAutoFit/>
          </a:bodyPr>
          <a:lstStyle/>
          <a:p>
            <a:pPr>
              <a:lnSpc>
                <a:spcPct val="200000"/>
              </a:lnSpc>
            </a:pPr>
            <a:r>
              <a:rPr lang="en-US" altLang="ko-KR" sz="700" dirty="0">
                <a:latin typeface="+mn-ea"/>
              </a:rPr>
              <a:t>2</a:t>
            </a:r>
            <a:r>
              <a:rPr lang="ko-KR" altLang="en-US" sz="700" dirty="0">
                <a:latin typeface="+mn-ea"/>
              </a:rPr>
              <a:t>차</a:t>
            </a:r>
            <a:endParaRPr lang="en-US" altLang="ko-KR" sz="700" dirty="0">
              <a:latin typeface="+mn-ea"/>
            </a:endParaRPr>
          </a:p>
        </p:txBody>
      </p:sp>
      <p:sp>
        <p:nvSpPr>
          <p:cNvPr id="81" name="TextBox 80">
            <a:extLst>
              <a:ext uri="{FF2B5EF4-FFF2-40B4-BE49-F238E27FC236}">
                <a16:creationId xmlns:a16="http://schemas.microsoft.com/office/drawing/2014/main" id="{FFC49AEA-2A8F-250C-A86A-A7751D9706C3}"/>
              </a:ext>
            </a:extLst>
          </p:cNvPr>
          <p:cNvSpPr txBox="1"/>
          <p:nvPr/>
        </p:nvSpPr>
        <p:spPr>
          <a:xfrm>
            <a:off x="1566144" y="4079652"/>
            <a:ext cx="1784088" cy="181140"/>
          </a:xfrm>
          <a:prstGeom prst="rect">
            <a:avLst/>
          </a:prstGeom>
          <a:noFill/>
        </p:spPr>
        <p:txBody>
          <a:bodyPr wrap="square" lIns="0" tIns="0" rIns="0" bIns="0" rtlCol="0">
            <a:spAutoFit/>
          </a:bodyPr>
          <a:lstStyle/>
          <a:p>
            <a:pPr>
              <a:lnSpc>
                <a:spcPct val="200000"/>
              </a:lnSpc>
            </a:pPr>
            <a:r>
              <a:rPr lang="ko-KR" altLang="en-US" sz="700" dirty="0">
                <a:latin typeface="+mn-ea"/>
              </a:rPr>
              <a:t>바위</a:t>
            </a:r>
            <a:endParaRPr lang="en-US" altLang="ko-KR" sz="700" dirty="0">
              <a:latin typeface="+mn-ea"/>
            </a:endParaRPr>
          </a:p>
        </p:txBody>
      </p:sp>
      <p:grpSp>
        <p:nvGrpSpPr>
          <p:cNvPr id="82" name="그룹 81"/>
          <p:cNvGrpSpPr/>
          <p:nvPr/>
        </p:nvGrpSpPr>
        <p:grpSpPr>
          <a:xfrm>
            <a:off x="720139" y="4079652"/>
            <a:ext cx="2630093" cy="214740"/>
            <a:chOff x="701175" y="1835481"/>
            <a:chExt cx="2630093" cy="214740"/>
          </a:xfrm>
        </p:grpSpPr>
        <p:cxnSp>
          <p:nvCxnSpPr>
            <p:cNvPr id="83" name="직선 연결선 8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85" name="그룹 84"/>
          <p:cNvGrpSpPr/>
          <p:nvPr/>
        </p:nvGrpSpPr>
        <p:grpSpPr>
          <a:xfrm>
            <a:off x="715534" y="4353819"/>
            <a:ext cx="2621844" cy="253957"/>
            <a:chOff x="715534" y="3647256"/>
            <a:chExt cx="2621844" cy="288000"/>
          </a:xfrm>
        </p:grpSpPr>
        <p:sp>
          <p:nvSpPr>
            <p:cNvPr id="86" name="모서리가 둥근 직사각형 85"/>
            <p:cNvSpPr/>
            <p:nvPr/>
          </p:nvSpPr>
          <p:spPr>
            <a:xfrm>
              <a:off x="715534"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prstClr val="black"/>
                  </a:solidFill>
                </a:rPr>
                <a:t>가위</a:t>
              </a:r>
            </a:p>
          </p:txBody>
        </p:sp>
        <p:sp>
          <p:nvSpPr>
            <p:cNvPr id="87" name="모서리가 둥근 직사각형 86"/>
            <p:cNvSpPr/>
            <p:nvPr/>
          </p:nvSpPr>
          <p:spPr>
            <a:xfrm>
              <a:off x="1611553" y="3647256"/>
              <a:ext cx="829806" cy="288000"/>
            </a:xfrm>
            <a:prstGeom prst="roundRect">
              <a:avLst>
                <a:gd name="adj" fmla="val 4645"/>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rgbClr val="0070C0"/>
                  </a:solidFill>
                </a:rPr>
                <a:t>바위</a:t>
              </a:r>
            </a:p>
          </p:txBody>
        </p:sp>
        <p:sp>
          <p:nvSpPr>
            <p:cNvPr id="88" name="모서리가 둥근 직사각형 87"/>
            <p:cNvSpPr/>
            <p:nvPr/>
          </p:nvSpPr>
          <p:spPr>
            <a:xfrm>
              <a:off x="2507572"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800" dirty="0">
                  <a:solidFill>
                    <a:prstClr val="black"/>
                  </a:solidFill>
                </a:rPr>
                <a:t>보</a:t>
              </a:r>
            </a:p>
          </p:txBody>
        </p:sp>
      </p:grpSp>
      <p:sp>
        <p:nvSpPr>
          <p:cNvPr id="89" name="직사각형 88"/>
          <p:cNvSpPr/>
          <p:nvPr/>
        </p:nvSpPr>
        <p:spPr>
          <a:xfrm>
            <a:off x="722232" y="4644760"/>
            <a:ext cx="792000" cy="2147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809295" y="4644759"/>
            <a:ext cx="725552" cy="181140"/>
          </a:xfrm>
          <a:prstGeom prst="rect">
            <a:avLst/>
          </a:prstGeom>
          <a:noFill/>
        </p:spPr>
        <p:txBody>
          <a:bodyPr wrap="square" lIns="0" tIns="0" rIns="0" bIns="0" rtlCol="0">
            <a:spAutoFit/>
          </a:bodyPr>
          <a:lstStyle/>
          <a:p>
            <a:pPr>
              <a:lnSpc>
                <a:spcPct val="200000"/>
              </a:lnSpc>
            </a:pPr>
            <a:r>
              <a:rPr lang="en-US" altLang="ko-KR" sz="700" dirty="0">
                <a:latin typeface="+mn-ea"/>
              </a:rPr>
              <a:t>3</a:t>
            </a:r>
            <a:r>
              <a:rPr lang="ko-KR" altLang="en-US" sz="700" dirty="0">
                <a:latin typeface="+mn-ea"/>
              </a:rPr>
              <a:t>차</a:t>
            </a:r>
            <a:endParaRPr lang="en-US" altLang="ko-KR" sz="700" dirty="0">
              <a:latin typeface="+mn-ea"/>
            </a:endParaRPr>
          </a:p>
        </p:txBody>
      </p:sp>
      <p:sp>
        <p:nvSpPr>
          <p:cNvPr id="91" name="TextBox 90">
            <a:extLst>
              <a:ext uri="{FF2B5EF4-FFF2-40B4-BE49-F238E27FC236}">
                <a16:creationId xmlns:a16="http://schemas.microsoft.com/office/drawing/2014/main" id="{FFC49AEA-2A8F-250C-A86A-A7751D9706C3}"/>
              </a:ext>
            </a:extLst>
          </p:cNvPr>
          <p:cNvSpPr txBox="1"/>
          <p:nvPr/>
        </p:nvSpPr>
        <p:spPr>
          <a:xfrm>
            <a:off x="1566144" y="4644759"/>
            <a:ext cx="1784088" cy="181140"/>
          </a:xfrm>
          <a:prstGeom prst="rect">
            <a:avLst/>
          </a:prstGeom>
          <a:noFill/>
        </p:spPr>
        <p:txBody>
          <a:bodyPr wrap="square" lIns="0" tIns="0" rIns="0" bIns="0" rtlCol="0">
            <a:spAutoFit/>
          </a:bodyPr>
          <a:lstStyle/>
          <a:p>
            <a:pPr>
              <a:lnSpc>
                <a:spcPct val="200000"/>
              </a:lnSpc>
            </a:pPr>
            <a:r>
              <a:rPr lang="ko-KR" altLang="en-US" sz="700" dirty="0">
                <a:latin typeface="+mn-ea"/>
              </a:rPr>
              <a:t>가위</a:t>
            </a:r>
            <a:endParaRPr lang="en-US" altLang="ko-KR" sz="700" dirty="0">
              <a:latin typeface="+mn-ea"/>
            </a:endParaRPr>
          </a:p>
        </p:txBody>
      </p:sp>
      <p:grpSp>
        <p:nvGrpSpPr>
          <p:cNvPr id="92" name="그룹 91"/>
          <p:cNvGrpSpPr/>
          <p:nvPr/>
        </p:nvGrpSpPr>
        <p:grpSpPr>
          <a:xfrm>
            <a:off x="720139" y="4644759"/>
            <a:ext cx="2630093" cy="214740"/>
            <a:chOff x="701175" y="1835481"/>
            <a:chExt cx="2630093" cy="214740"/>
          </a:xfrm>
        </p:grpSpPr>
        <p:cxnSp>
          <p:nvCxnSpPr>
            <p:cNvPr id="93" name="직선 연결선 9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95" name="그룹 94"/>
          <p:cNvGrpSpPr/>
          <p:nvPr/>
        </p:nvGrpSpPr>
        <p:grpSpPr>
          <a:xfrm>
            <a:off x="715534" y="4918926"/>
            <a:ext cx="2621844" cy="253957"/>
            <a:chOff x="715534" y="3647256"/>
            <a:chExt cx="2621844" cy="288000"/>
          </a:xfrm>
        </p:grpSpPr>
        <p:sp>
          <p:nvSpPr>
            <p:cNvPr id="96" name="모서리가 둥근 직사각형 95"/>
            <p:cNvSpPr/>
            <p:nvPr/>
          </p:nvSpPr>
          <p:spPr>
            <a:xfrm>
              <a:off x="715534" y="3647256"/>
              <a:ext cx="829806" cy="288000"/>
            </a:xfrm>
            <a:prstGeom prst="roundRect">
              <a:avLst>
                <a:gd name="adj" fmla="val 4645"/>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srgbClr val="0070C0"/>
                  </a:solidFill>
                </a:rPr>
                <a:t>가위</a:t>
              </a:r>
            </a:p>
          </p:txBody>
        </p:sp>
        <p:sp>
          <p:nvSpPr>
            <p:cNvPr id="97" name="모서리가 둥근 직사각형 96"/>
            <p:cNvSpPr/>
            <p:nvPr/>
          </p:nvSpPr>
          <p:spPr>
            <a:xfrm>
              <a:off x="1611553"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800" dirty="0">
                  <a:solidFill>
                    <a:prstClr val="black"/>
                  </a:solidFill>
                </a:rPr>
                <a:t>바위</a:t>
              </a:r>
            </a:p>
          </p:txBody>
        </p:sp>
        <p:sp>
          <p:nvSpPr>
            <p:cNvPr id="98" name="모서리가 둥근 직사각형 97"/>
            <p:cNvSpPr/>
            <p:nvPr/>
          </p:nvSpPr>
          <p:spPr>
            <a:xfrm>
              <a:off x="2507572"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800" dirty="0">
                  <a:solidFill>
                    <a:prstClr val="black"/>
                  </a:solidFill>
                </a:rPr>
                <a:t>보</a:t>
              </a:r>
            </a:p>
          </p:txBody>
        </p:sp>
      </p:grpSp>
      <p:sp>
        <p:nvSpPr>
          <p:cNvPr id="99" name="직사각형 98"/>
          <p:cNvSpPr/>
          <p:nvPr/>
        </p:nvSpPr>
        <p:spPr>
          <a:xfrm>
            <a:off x="722232" y="5229500"/>
            <a:ext cx="792000" cy="2147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TextBox 99">
            <a:extLst>
              <a:ext uri="{FF2B5EF4-FFF2-40B4-BE49-F238E27FC236}">
                <a16:creationId xmlns:a16="http://schemas.microsoft.com/office/drawing/2014/main" id="{FFC49AEA-2A8F-250C-A86A-A7751D9706C3}"/>
              </a:ext>
            </a:extLst>
          </p:cNvPr>
          <p:cNvSpPr txBox="1"/>
          <p:nvPr/>
        </p:nvSpPr>
        <p:spPr>
          <a:xfrm>
            <a:off x="809295" y="5229499"/>
            <a:ext cx="725552" cy="181140"/>
          </a:xfrm>
          <a:prstGeom prst="rect">
            <a:avLst/>
          </a:prstGeom>
          <a:noFill/>
        </p:spPr>
        <p:txBody>
          <a:bodyPr wrap="square" lIns="0" tIns="0" rIns="0" bIns="0" rtlCol="0">
            <a:spAutoFit/>
          </a:bodyPr>
          <a:lstStyle/>
          <a:p>
            <a:pPr>
              <a:lnSpc>
                <a:spcPct val="200000"/>
              </a:lnSpc>
            </a:pPr>
            <a:r>
              <a:rPr lang="en-US" altLang="ko-KR" sz="700" dirty="0">
                <a:latin typeface="+mn-ea"/>
              </a:rPr>
              <a:t>4</a:t>
            </a:r>
            <a:r>
              <a:rPr lang="ko-KR" altLang="en-US" sz="700" dirty="0">
                <a:latin typeface="+mn-ea"/>
              </a:rPr>
              <a:t>차</a:t>
            </a:r>
            <a:endParaRPr lang="en-US" altLang="ko-KR" sz="700" dirty="0">
              <a:latin typeface="+mn-ea"/>
            </a:endParaRPr>
          </a:p>
        </p:txBody>
      </p:sp>
      <p:sp>
        <p:nvSpPr>
          <p:cNvPr id="101" name="TextBox 100">
            <a:extLst>
              <a:ext uri="{FF2B5EF4-FFF2-40B4-BE49-F238E27FC236}">
                <a16:creationId xmlns:a16="http://schemas.microsoft.com/office/drawing/2014/main" id="{FFC49AEA-2A8F-250C-A86A-A7751D9706C3}"/>
              </a:ext>
            </a:extLst>
          </p:cNvPr>
          <p:cNvSpPr txBox="1"/>
          <p:nvPr/>
        </p:nvSpPr>
        <p:spPr>
          <a:xfrm>
            <a:off x="1566144" y="5229499"/>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a:t>
            </a:r>
          </a:p>
        </p:txBody>
      </p:sp>
      <p:grpSp>
        <p:nvGrpSpPr>
          <p:cNvPr id="102" name="그룹 101"/>
          <p:cNvGrpSpPr/>
          <p:nvPr/>
        </p:nvGrpSpPr>
        <p:grpSpPr>
          <a:xfrm>
            <a:off x="720139" y="5229499"/>
            <a:ext cx="2630093" cy="214740"/>
            <a:chOff x="701175" y="1835481"/>
            <a:chExt cx="2630093" cy="214740"/>
          </a:xfrm>
        </p:grpSpPr>
        <p:cxnSp>
          <p:nvCxnSpPr>
            <p:cNvPr id="103" name="직선 연결선 10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05" name="그룹 104"/>
          <p:cNvGrpSpPr/>
          <p:nvPr/>
        </p:nvGrpSpPr>
        <p:grpSpPr>
          <a:xfrm>
            <a:off x="715534" y="5503666"/>
            <a:ext cx="2621844" cy="253957"/>
            <a:chOff x="715534" y="3647256"/>
            <a:chExt cx="2621844" cy="288000"/>
          </a:xfrm>
        </p:grpSpPr>
        <p:sp>
          <p:nvSpPr>
            <p:cNvPr id="106" name="모서리가 둥근 직사각형 105"/>
            <p:cNvSpPr/>
            <p:nvPr/>
          </p:nvSpPr>
          <p:spPr>
            <a:xfrm>
              <a:off x="715534"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prstClr val="black"/>
                  </a:solidFill>
                </a:rPr>
                <a:t>가위</a:t>
              </a:r>
            </a:p>
          </p:txBody>
        </p:sp>
        <p:sp>
          <p:nvSpPr>
            <p:cNvPr id="107" name="모서리가 둥근 직사각형 106"/>
            <p:cNvSpPr/>
            <p:nvPr/>
          </p:nvSpPr>
          <p:spPr>
            <a:xfrm>
              <a:off x="1611553"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prstClr val="black"/>
                  </a:solidFill>
                </a:rPr>
                <a:t>바위</a:t>
              </a:r>
            </a:p>
          </p:txBody>
        </p:sp>
        <p:sp>
          <p:nvSpPr>
            <p:cNvPr id="108" name="모서리가 둥근 직사각형 107"/>
            <p:cNvSpPr/>
            <p:nvPr/>
          </p:nvSpPr>
          <p:spPr>
            <a:xfrm>
              <a:off x="2507572" y="3647256"/>
              <a:ext cx="829806" cy="288000"/>
            </a:xfrm>
            <a:prstGeom prst="roundRect">
              <a:avLst>
                <a:gd name="adj" fmla="val 4645"/>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800" dirty="0">
                  <a:solidFill>
                    <a:prstClr val="black"/>
                  </a:solidFill>
                </a:rPr>
                <a:t>보</a:t>
              </a:r>
            </a:p>
          </p:txBody>
        </p:sp>
      </p:grpSp>
      <p:grpSp>
        <p:nvGrpSpPr>
          <p:cNvPr id="269" name="그룹 268"/>
          <p:cNvGrpSpPr/>
          <p:nvPr/>
        </p:nvGrpSpPr>
        <p:grpSpPr>
          <a:xfrm>
            <a:off x="675399"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Tree>
    <p:extLst>
      <p:ext uri="{BB962C8B-B14F-4D97-AF65-F5344CB8AC3E}">
        <p14:creationId xmlns:p14="http://schemas.microsoft.com/office/powerpoint/2010/main" val="135298005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0" indent="0">
              <a:buNone/>
            </a:pPr>
            <a:endParaRPr lang="en-US" altLang="ko-KR" dirty="0"/>
          </a:p>
          <a:p>
            <a:pPr marL="228600" indent="-228600">
              <a:buFont typeface="+mj-lt"/>
              <a:buAutoNum type="arabicPeriod"/>
            </a:pPr>
            <a:r>
              <a:rPr lang="ko-KR" altLang="en-US" dirty="0"/>
              <a:t>약관 동의 항목 필요에 따라 노출</a:t>
            </a:r>
            <a:r>
              <a:rPr lang="en-US" altLang="ko-KR" dirty="0"/>
              <a:t/>
            </a:r>
            <a:br>
              <a:rPr lang="en-US" altLang="ko-KR" dirty="0"/>
            </a:br>
            <a:r>
              <a:rPr lang="en-US" altLang="ko-KR" dirty="0"/>
              <a:t>- </a:t>
            </a:r>
            <a:r>
              <a:rPr lang="ko-KR" altLang="en-US" dirty="0"/>
              <a:t>팝업에서 동의는 서약서와 동일</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126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약관 동의</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a:t>
            </a:r>
            <a:r>
              <a:rPr lang="ko-KR" altLang="en-US" dirty="0"/>
              <a:t> 화면으로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a:t>프로세스 중 </a:t>
            </a:r>
            <a:r>
              <a:rPr lang="ko-KR" altLang="en-US" dirty="0">
                <a:latin typeface="+mn-ea"/>
              </a:rPr>
              <a:t>약관 동의</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약관 동의</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MUI-BD-06-M07</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타원 194">
            <a:extLst>
              <a:ext uri="{FF2B5EF4-FFF2-40B4-BE49-F238E27FC236}">
                <a16:creationId xmlns:a16="http://schemas.microsoft.com/office/drawing/2014/main" id="{37A7FF4F-0EAA-1463-560A-D5EC24416103}"/>
              </a:ext>
            </a:extLst>
          </p:cNvPr>
          <p:cNvSpPr/>
          <p:nvPr/>
        </p:nvSpPr>
        <p:spPr>
          <a:xfrm>
            <a:off x="571127" y="27313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767702" y="2759439"/>
            <a:ext cx="2522014" cy="295200"/>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endParaRPr kumimoji="1" lang="en-US" sz="700" kern="0" dirty="0">
              <a:solidFill>
                <a:srgbClr val="0070C0"/>
              </a:solidFill>
              <a:latin typeface="맑은 고딕"/>
            </a:endParaRPr>
          </a:p>
        </p:txBody>
      </p:sp>
      <p:sp>
        <p:nvSpPr>
          <p:cNvPr id="166" name="TextBox 58">
            <a:extLst>
              <a:ext uri="{FF2B5EF4-FFF2-40B4-BE49-F238E27FC236}">
                <a16:creationId xmlns:a16="http://schemas.microsoft.com/office/drawing/2014/main" id="{02FC114B-B48B-345F-BD70-2B5A196F5B3E}"/>
              </a:ext>
            </a:extLst>
          </p:cNvPr>
          <p:cNvSpPr txBox="1"/>
          <p:nvPr/>
        </p:nvSpPr>
        <p:spPr>
          <a:xfrm>
            <a:off x="865539" y="2845484"/>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1</a:t>
            </a:r>
            <a:endParaRPr lang="ko-KR" altLang="en-US" sz="800" b="1" dirty="0"/>
          </a:p>
        </p:txBody>
      </p:sp>
      <p:sp>
        <p:nvSpPr>
          <p:cNvPr id="131" name="TextBox 58">
            <a:extLst>
              <a:ext uri="{FF2B5EF4-FFF2-40B4-BE49-F238E27FC236}">
                <a16:creationId xmlns:a16="http://schemas.microsoft.com/office/drawing/2014/main" id="{02FC114B-B48B-345F-BD70-2B5A196F5B3E}"/>
              </a:ext>
            </a:extLst>
          </p:cNvPr>
          <p:cNvSpPr txBox="1"/>
          <p:nvPr/>
        </p:nvSpPr>
        <p:spPr>
          <a:xfrm>
            <a:off x="981276" y="2845484"/>
            <a:ext cx="1681986" cy="12311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latin typeface="맑은 고딕" panose="020B0503020000020004" pitchFamily="50" charset="-127"/>
              </a:rPr>
              <a:t>입찰보증금 </a:t>
            </a:r>
            <a:r>
              <a:rPr lang="ko-KR" altLang="en-US" sz="800" dirty="0" err="1">
                <a:latin typeface="맑은 고딕" panose="020B0503020000020004" pitchFamily="50" charset="-127"/>
              </a:rPr>
              <a:t>지급확약서</a:t>
            </a:r>
            <a:endParaRPr lang="en-US" altLang="ko-KR" sz="800" dirty="0">
              <a:latin typeface="맑은 고딕" panose="020B0503020000020004" pitchFamily="50" charset="-127"/>
            </a:endParaRPr>
          </a:p>
        </p:txBody>
      </p:sp>
      <p:sp>
        <p:nvSpPr>
          <p:cNvPr id="132" name="모서리가 둥근 직사각형 131"/>
          <p:cNvSpPr/>
          <p:nvPr/>
        </p:nvSpPr>
        <p:spPr>
          <a:xfrm>
            <a:off x="2958909" y="2847339"/>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98" name="타원 197"/>
          <p:cNvSpPr/>
          <p:nvPr/>
        </p:nvSpPr>
        <p:spPr>
          <a:xfrm>
            <a:off x="2764330" y="2849182"/>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grpSp>
        <p:nvGrpSpPr>
          <p:cNvPr id="162" name="그룹 161"/>
          <p:cNvGrpSpPr/>
          <p:nvPr/>
        </p:nvGrpSpPr>
        <p:grpSpPr>
          <a:xfrm>
            <a:off x="675399" y="5614711"/>
            <a:ext cx="2712027" cy="617588"/>
            <a:chOff x="675399" y="5614711"/>
            <a:chExt cx="2712027" cy="617588"/>
          </a:xfrm>
        </p:grpSpPr>
        <p:sp>
          <p:nvSpPr>
            <p:cNvPr id="163" name="직사각형 1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전자서명하기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이전</a:t>
              </a:r>
              <a:endParaRPr kumimoji="1" lang="en-US" sz="1000" b="0" i="0" u="none" strike="noStrike" kern="0" cap="none" spc="0" normalizeH="0" baseline="0" noProof="0" dirty="0">
                <a:ln>
                  <a:noFill/>
                </a:ln>
                <a:effectLst/>
                <a:uLnTx/>
                <a:uFillTx/>
                <a:latin typeface="맑은 고딕"/>
              </a:endParaRPr>
            </a:p>
          </p:txBody>
        </p:sp>
      </p:grpSp>
      <p:sp>
        <p:nvSpPr>
          <p:cNvPr id="185" name="모서리가 둥근 직사각형 184"/>
          <p:cNvSpPr/>
          <p:nvPr/>
        </p:nvSpPr>
        <p:spPr>
          <a:xfrm>
            <a:off x="698357" y="3332260"/>
            <a:ext cx="2652743" cy="1302029"/>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787127" y="3430544"/>
            <a:ext cx="2475203" cy="1077218"/>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유의사항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본인은 국가를 당사자로 하는 계약에 관한 법률시행규칙에 의한 공사 입찰유의서에 따라 응찰하여 이 입찰이 귀 기관에 의하여 수락되면 공사 계약일반조건</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계약특수조건</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설계서 및 현장 설명 사항에 따라 위의 입찰금액으로 준공기한내에 공사를 완공할 것을 </a:t>
            </a:r>
            <a:r>
              <a:rPr lang="ko-KR" altLang="en-US" sz="700" dirty="0" err="1">
                <a:solidFill>
                  <a:schemeClr val="tx1">
                    <a:lumMod val="85000"/>
                    <a:lumOff val="15000"/>
                  </a:schemeClr>
                </a:solidFill>
                <a:latin typeface="맑은 고딕" panose="020B0503020000020004" pitchFamily="50" charset="-127"/>
              </a:rPr>
              <a:t>확약하오며</a:t>
            </a:r>
            <a:r>
              <a:rPr lang="ko-KR" altLang="en-US" sz="700" dirty="0">
                <a:solidFill>
                  <a:schemeClr val="tx1">
                    <a:lumMod val="85000"/>
                    <a:lumOff val="15000"/>
                  </a:schemeClr>
                </a:solidFill>
                <a:latin typeface="맑은 고딕" panose="020B0503020000020004" pitchFamily="50" charset="-127"/>
              </a:rPr>
              <a:t> 입찰서를 제출합니다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입찰서는 포기 또는 취소 후 재입찰이 불가하니 </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입찰포기</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또는 </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입찰취소</a:t>
            </a:r>
            <a:r>
              <a:rPr lang="en-US" altLang="ko-KR" sz="700" dirty="0">
                <a:solidFill>
                  <a:schemeClr val="tx1">
                    <a:lumMod val="85000"/>
                    <a:lumOff val="15000"/>
                  </a:schemeClr>
                </a:solidFill>
                <a:latin typeface="맑은 고딕" panose="020B0503020000020004" pitchFamily="50" charset="-127"/>
              </a:rPr>
              <a:t>]</a:t>
            </a:r>
            <a:r>
              <a:rPr lang="ko-KR" altLang="en-US" sz="700" dirty="0">
                <a:solidFill>
                  <a:schemeClr val="tx1">
                    <a:lumMod val="85000"/>
                    <a:lumOff val="15000"/>
                  </a:schemeClr>
                </a:solidFill>
                <a:latin typeface="맑은 고딕" panose="020B0503020000020004" pitchFamily="50" charset="-127"/>
              </a:rPr>
              <a:t>시 유의하시기 바랍니다</a:t>
            </a:r>
            <a:r>
              <a:rPr lang="en-US" altLang="ko-KR" sz="700" dirty="0">
                <a:solidFill>
                  <a:schemeClr val="tx1">
                    <a:lumMod val="85000"/>
                    <a:lumOff val="15000"/>
                  </a:schemeClr>
                </a:solidFill>
                <a:latin typeface="맑은 고딕" panose="020B0503020000020004" pitchFamily="50" charset="-127"/>
              </a:rPr>
              <a:t>.</a:t>
            </a:r>
            <a:endParaRPr lang="en-US" altLang="ko-KR" sz="700" dirty="0">
              <a:latin typeface="+mn-ea"/>
            </a:endParaRPr>
          </a:p>
        </p:txBody>
      </p:sp>
      <p:sp>
        <p:nvSpPr>
          <p:cNvPr id="194" name="타원 193"/>
          <p:cNvSpPr/>
          <p:nvPr/>
        </p:nvSpPr>
        <p:spPr>
          <a:xfrm>
            <a:off x="783169" y="342089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1" name="그룹 200"/>
          <p:cNvGrpSpPr/>
          <p:nvPr/>
        </p:nvGrpSpPr>
        <p:grpSpPr>
          <a:xfrm flipV="1">
            <a:off x="3131990" y="3469391"/>
            <a:ext cx="94010" cy="47005"/>
            <a:chOff x="6812560" y="3297172"/>
            <a:chExt cx="94010" cy="47005"/>
          </a:xfrm>
        </p:grpSpPr>
        <p:cxnSp>
          <p:nvCxnSpPr>
            <p:cNvPr id="204" name="직선 연결선 20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5" name="직선 연결선 20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93" name="그룹 92"/>
          <p:cNvGrpSpPr/>
          <p:nvPr/>
        </p:nvGrpSpPr>
        <p:grpSpPr>
          <a:xfrm>
            <a:off x="675399" y="1578465"/>
            <a:ext cx="2712027" cy="508898"/>
            <a:chOff x="3795734" y="1602341"/>
            <a:chExt cx="2712027" cy="508898"/>
          </a:xfrm>
        </p:grpSpPr>
        <p:sp>
          <p:nvSpPr>
            <p:cNvPr id="9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95" name="모서리가 둥근 직사각형 9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96" name="모서리가 둥근 직사각형 9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29" name="직선 연결선 128">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2425310" y="2417854"/>
            <a:ext cx="5335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4" name="그룹 143"/>
          <p:cNvGrpSpPr/>
          <p:nvPr/>
        </p:nvGrpSpPr>
        <p:grpSpPr>
          <a:xfrm>
            <a:off x="2923735" y="2163124"/>
            <a:ext cx="422853" cy="187961"/>
            <a:chOff x="3641308" y="2234886"/>
            <a:chExt cx="422853" cy="187961"/>
          </a:xfrm>
        </p:grpSpPr>
        <p:sp>
          <p:nvSpPr>
            <p:cNvPr id="145" name="타원 14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7" name="그룹 146"/>
            <p:cNvGrpSpPr/>
            <p:nvPr/>
          </p:nvGrpSpPr>
          <p:grpSpPr>
            <a:xfrm rot="5400000" flipH="1">
              <a:off x="3679895" y="2305364"/>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5" name="타원 16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7" name="그룹 166"/>
            <p:cNvGrpSpPr/>
            <p:nvPr/>
          </p:nvGrpSpPr>
          <p:grpSpPr>
            <a:xfrm rot="16200000">
              <a:off x="3931564" y="2305364"/>
              <a:ext cx="94010" cy="47005"/>
              <a:chOff x="6812560" y="3297172"/>
              <a:chExt cx="94010" cy="47005"/>
            </a:xfrm>
          </p:grpSpPr>
          <p:cxnSp>
            <p:nvCxnSpPr>
              <p:cNvPr id="168" name="직선 연결선 16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9" name="직선 연결선 16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79" name="TextBox 178">
            <a:extLst>
              <a:ext uri="{FF2B5EF4-FFF2-40B4-BE49-F238E27FC236}">
                <a16:creationId xmlns:a16="http://schemas.microsoft.com/office/drawing/2014/main" id="{FFC49AEA-2A8F-250C-A86A-A7751D9706C3}"/>
              </a:ext>
            </a:extLst>
          </p:cNvPr>
          <p:cNvSpPr txBox="1"/>
          <p:nvPr/>
        </p:nvSpPr>
        <p:spPr>
          <a:xfrm>
            <a:off x="756845" y="2473452"/>
            <a:ext cx="1384615" cy="181140"/>
          </a:xfrm>
          <a:prstGeom prst="rect">
            <a:avLst/>
          </a:prstGeom>
          <a:noFill/>
        </p:spPr>
        <p:txBody>
          <a:bodyPr wrap="square" lIns="0" tIns="0" rIns="0" bIns="0" rtlCol="0">
            <a:spAutoFit/>
          </a:bodyPr>
          <a:lstStyle/>
          <a:p>
            <a:pPr>
              <a:lnSpc>
                <a:spcPct val="200000"/>
              </a:lnSpc>
            </a:pPr>
            <a:r>
              <a:rPr lang="ko-KR" altLang="en-US" sz="700" dirty="0">
                <a:latin typeface="+mn-ea"/>
              </a:rPr>
              <a:t>약관 동의</a:t>
            </a:r>
          </a:p>
        </p:txBody>
      </p:sp>
      <p:sp>
        <p:nvSpPr>
          <p:cNvPr id="238" name="모서리가 둥근 직사각형 23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00" name="직선 연결선 99">
            <a:extLst>
              <a:ext uri="{FF2B5EF4-FFF2-40B4-BE49-F238E27FC236}">
                <a16:creationId xmlns:a16="http://schemas.microsoft.com/office/drawing/2014/main" id="{E9293055-D5CD-4B9E-7F64-64B2D2CA7A52}"/>
              </a:ext>
            </a:extLst>
          </p:cNvPr>
          <p:cNvCxnSpPr/>
          <p:nvPr/>
        </p:nvCxnSpPr>
        <p:spPr>
          <a:xfrm>
            <a:off x="3837207" y="419386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1" name="그룹 100"/>
          <p:cNvGrpSpPr/>
          <p:nvPr/>
        </p:nvGrpSpPr>
        <p:grpSpPr>
          <a:xfrm>
            <a:off x="4552584" y="4271810"/>
            <a:ext cx="1197246" cy="107722"/>
            <a:chOff x="4526323" y="5902014"/>
            <a:chExt cx="1197246" cy="107722"/>
          </a:xfrm>
        </p:grpSpPr>
        <p:sp>
          <p:nvSpPr>
            <p:cNvPr id="102" name="타원 101"/>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grpSp>
        <p:nvGrpSpPr>
          <p:cNvPr id="106" name="그룹 105"/>
          <p:cNvGrpSpPr/>
          <p:nvPr/>
        </p:nvGrpSpPr>
        <p:grpSpPr>
          <a:xfrm>
            <a:off x="3795194" y="5614711"/>
            <a:ext cx="2712027" cy="617588"/>
            <a:chOff x="675399" y="5614711"/>
            <a:chExt cx="2712027" cy="617588"/>
          </a:xfrm>
        </p:grpSpPr>
        <p:sp>
          <p:nvSpPr>
            <p:cNvPr id="107" name="직사각형 106">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8"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09"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10" name="직사각형 109">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양쪽 모서리가 둥근 사각형 110"/>
          <p:cNvSpPr/>
          <p:nvPr/>
        </p:nvSpPr>
        <p:spPr>
          <a:xfrm>
            <a:off x="3795464" y="2701900"/>
            <a:ext cx="2712027" cy="353039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12" name="모서리가 둥근 직사각형 111"/>
          <p:cNvSpPr/>
          <p:nvPr/>
        </p:nvSpPr>
        <p:spPr>
          <a:xfrm>
            <a:off x="4881477" y="273229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13" name="그룹 112"/>
          <p:cNvGrpSpPr/>
          <p:nvPr/>
        </p:nvGrpSpPr>
        <p:grpSpPr>
          <a:xfrm>
            <a:off x="6284403" y="2866714"/>
            <a:ext cx="94010" cy="94010"/>
            <a:chOff x="6812560" y="3297172"/>
            <a:chExt cx="94010" cy="94010"/>
          </a:xfrm>
        </p:grpSpPr>
        <p:cxnSp>
          <p:nvCxnSpPr>
            <p:cNvPr id="114" name="직선 연결선 113"/>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16" name="TextBox 115">
            <a:extLst>
              <a:ext uri="{FF2B5EF4-FFF2-40B4-BE49-F238E27FC236}">
                <a16:creationId xmlns:a16="http://schemas.microsoft.com/office/drawing/2014/main" id="{FFC49AEA-2A8F-250C-A86A-A7751D9706C3}"/>
              </a:ext>
            </a:extLst>
          </p:cNvPr>
          <p:cNvSpPr txBox="1"/>
          <p:nvPr/>
        </p:nvSpPr>
        <p:spPr>
          <a:xfrm>
            <a:off x="3924541" y="2847393"/>
            <a:ext cx="1798758" cy="138499"/>
          </a:xfrm>
          <a:prstGeom prst="rect">
            <a:avLst/>
          </a:prstGeom>
          <a:noFill/>
        </p:spPr>
        <p:txBody>
          <a:bodyPr wrap="square" lIns="0" tIns="0" rIns="0" bIns="0" rtlCol="0">
            <a:spAutoFit/>
          </a:bodyPr>
          <a:lstStyle/>
          <a:p>
            <a:r>
              <a:rPr lang="ko-KR" altLang="en-US" sz="900" dirty="0">
                <a:latin typeface="+mn-ea"/>
              </a:rPr>
              <a:t>동의서 상세</a:t>
            </a:r>
          </a:p>
        </p:txBody>
      </p:sp>
      <p:cxnSp>
        <p:nvCxnSpPr>
          <p:cNvPr id="117" name="직선 연결선 116">
            <a:extLst>
              <a:ext uri="{FF2B5EF4-FFF2-40B4-BE49-F238E27FC236}">
                <a16:creationId xmlns:a16="http://schemas.microsoft.com/office/drawing/2014/main" id="{E9293055-D5CD-4B9E-7F64-64B2D2CA7A52}"/>
              </a:ext>
            </a:extLst>
          </p:cNvPr>
          <p:cNvCxnSpPr/>
          <p:nvPr/>
        </p:nvCxnSpPr>
        <p:spPr>
          <a:xfrm>
            <a:off x="3795464" y="310879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TextBox 120">
            <a:extLst>
              <a:ext uri="{FF2B5EF4-FFF2-40B4-BE49-F238E27FC236}">
                <a16:creationId xmlns:a16="http://schemas.microsoft.com/office/drawing/2014/main" id="{FFC49AEA-2A8F-250C-A86A-A7751D9706C3}"/>
              </a:ext>
            </a:extLst>
          </p:cNvPr>
          <p:cNvSpPr txBox="1"/>
          <p:nvPr/>
        </p:nvSpPr>
        <p:spPr>
          <a:xfrm>
            <a:off x="3914777" y="3564893"/>
            <a:ext cx="2473940" cy="430887"/>
          </a:xfrm>
          <a:prstGeom prst="rect">
            <a:avLst/>
          </a:prstGeom>
          <a:noFill/>
        </p:spPr>
        <p:txBody>
          <a:bodyPr wrap="square" lIns="0" tIns="0" rIns="0" bIns="0" rtlCol="0">
            <a:spAutoFit/>
          </a:bodyPr>
          <a:lstStyle/>
          <a:p>
            <a:r>
              <a:rPr lang="ko-KR" altLang="en-US" sz="700" dirty="0">
                <a:latin typeface="+mn-ea"/>
              </a:rPr>
              <a:t>입찰보증금 </a:t>
            </a:r>
            <a:r>
              <a:rPr lang="en-US" altLang="ko-KR" sz="700" dirty="0">
                <a:latin typeface="+mn-ea"/>
              </a:rPr>
              <a:t>\ 000,000,000 (</a:t>
            </a:r>
            <a:r>
              <a:rPr lang="ko-KR" altLang="en-US" sz="700" dirty="0">
                <a:latin typeface="+mn-ea"/>
              </a:rPr>
              <a:t>금 </a:t>
            </a:r>
            <a:r>
              <a:rPr lang="ko-KR" altLang="en-US" sz="700" dirty="0" err="1">
                <a:latin typeface="+mn-ea"/>
              </a:rPr>
              <a:t>일억구천구백구십만</a:t>
            </a:r>
            <a:r>
              <a:rPr lang="ko-KR" altLang="en-US" sz="700" dirty="0">
                <a:latin typeface="+mn-ea"/>
              </a:rPr>
              <a:t> 원</a:t>
            </a:r>
            <a:r>
              <a:rPr lang="en-US" altLang="ko-KR" sz="700" dirty="0">
                <a:latin typeface="+mn-ea"/>
              </a:rPr>
              <a:t>)</a:t>
            </a:r>
          </a:p>
          <a:p>
            <a:endParaRPr lang="en-US" altLang="ko-KR" sz="700" dirty="0">
              <a:latin typeface="+mn-ea"/>
            </a:endParaRPr>
          </a:p>
          <a:p>
            <a:r>
              <a:rPr lang="ko-KR" altLang="en-US" sz="700" dirty="0">
                <a:latin typeface="+mn-ea"/>
              </a:rPr>
              <a:t>본인은 낙찰 후 계약 </a:t>
            </a:r>
            <a:r>
              <a:rPr lang="ko-KR" altLang="en-US" sz="700" dirty="0" err="1">
                <a:latin typeface="+mn-ea"/>
              </a:rPr>
              <a:t>미체결시</a:t>
            </a:r>
            <a:r>
              <a:rPr lang="ko-KR" altLang="en-US" sz="700" dirty="0">
                <a:latin typeface="+mn-ea"/>
              </a:rPr>
              <a:t> </a:t>
            </a:r>
            <a:r>
              <a:rPr lang="ko-KR" altLang="en-US" sz="700" dirty="0" err="1">
                <a:latin typeface="+mn-ea"/>
              </a:rPr>
              <a:t>귀부대</a:t>
            </a:r>
            <a:r>
              <a:rPr lang="en-US" altLang="ko-KR" sz="700" dirty="0">
                <a:latin typeface="+mn-ea"/>
              </a:rPr>
              <a:t>(</a:t>
            </a:r>
            <a:r>
              <a:rPr lang="ko-KR" altLang="en-US" sz="700" dirty="0">
                <a:latin typeface="+mn-ea"/>
              </a:rPr>
              <a:t>기관</a:t>
            </a:r>
            <a:r>
              <a:rPr lang="en-US" altLang="ko-KR" sz="700" dirty="0">
                <a:latin typeface="+mn-ea"/>
              </a:rPr>
              <a:t>)</a:t>
            </a:r>
            <a:r>
              <a:rPr lang="ko-KR" altLang="en-US" sz="700" dirty="0">
                <a:latin typeface="+mn-ea"/>
              </a:rPr>
              <a:t>에 상기의 입찰보증금을 현금으로 납부할 것을 확약합니다</a:t>
            </a:r>
            <a:r>
              <a:rPr lang="en-US" altLang="ko-KR" sz="700" dirty="0">
                <a:latin typeface="+mn-ea"/>
              </a:rPr>
              <a:t>.</a:t>
            </a:r>
          </a:p>
        </p:txBody>
      </p:sp>
      <p:grpSp>
        <p:nvGrpSpPr>
          <p:cNvPr id="3" name="그룹 2"/>
          <p:cNvGrpSpPr/>
          <p:nvPr/>
        </p:nvGrpSpPr>
        <p:grpSpPr>
          <a:xfrm>
            <a:off x="3837207" y="3222050"/>
            <a:ext cx="2603018" cy="205439"/>
            <a:chOff x="3911972" y="3222050"/>
            <a:chExt cx="2603018" cy="205439"/>
          </a:xfrm>
        </p:grpSpPr>
        <p:sp>
          <p:nvSpPr>
            <p:cNvPr id="122" name="TextBox 121">
              <a:extLst>
                <a:ext uri="{FF2B5EF4-FFF2-40B4-BE49-F238E27FC236}">
                  <a16:creationId xmlns:a16="http://schemas.microsoft.com/office/drawing/2014/main" id="{FFC49AEA-2A8F-250C-A86A-A7751D9706C3}"/>
                </a:ext>
              </a:extLst>
            </p:cNvPr>
            <p:cNvSpPr txBox="1"/>
            <p:nvPr/>
          </p:nvSpPr>
          <p:spPr>
            <a:xfrm>
              <a:off x="3999036" y="3222050"/>
              <a:ext cx="997068" cy="123111"/>
            </a:xfrm>
            <a:prstGeom prst="rect">
              <a:avLst/>
            </a:prstGeom>
            <a:noFill/>
          </p:spPr>
          <p:txBody>
            <a:bodyPr wrap="none" lIns="0" tIns="0" rIns="0" bIns="0" rtlCol="0">
              <a:spAutoFit/>
            </a:bodyPr>
            <a:lstStyle/>
            <a:p>
              <a:r>
                <a:rPr lang="ko-KR" altLang="en-US" sz="800" b="1" dirty="0" err="1">
                  <a:latin typeface="맑은 고딕" panose="020B0503020000020004" pitchFamily="50" charset="-127"/>
                </a:rPr>
                <a:t>입찰보증</a:t>
              </a:r>
              <a:r>
                <a:rPr lang="ko-KR" altLang="en-US" sz="800" b="1" dirty="0">
                  <a:latin typeface="맑은 고딕" panose="020B0503020000020004" pitchFamily="50" charset="-127"/>
                </a:rPr>
                <a:t> 지급 확약서</a:t>
              </a:r>
              <a:endParaRPr lang="en-US" altLang="ko-KR" sz="800" b="1" dirty="0">
                <a:latin typeface="맑은 고딕" panose="020B0503020000020004" pitchFamily="50" charset="-127"/>
              </a:endParaRPr>
            </a:p>
          </p:txBody>
        </p:sp>
        <p:cxnSp>
          <p:nvCxnSpPr>
            <p:cNvPr id="123" name="직선 연결선 122">
              <a:extLst>
                <a:ext uri="{FF2B5EF4-FFF2-40B4-BE49-F238E27FC236}">
                  <a16:creationId xmlns:a16="http://schemas.microsoft.com/office/drawing/2014/main" id="{E9293055-D5CD-4B9E-7F64-64B2D2CA7A52}"/>
                </a:ext>
              </a:extLst>
            </p:cNvPr>
            <p:cNvCxnSpPr/>
            <p:nvPr/>
          </p:nvCxnSpPr>
          <p:spPr>
            <a:xfrm>
              <a:off x="3911972" y="3427489"/>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5" name="TextBox 124">
            <a:extLst>
              <a:ext uri="{FF2B5EF4-FFF2-40B4-BE49-F238E27FC236}">
                <a16:creationId xmlns:a16="http://schemas.microsoft.com/office/drawing/2014/main" id="{FFC49AEA-2A8F-250C-A86A-A7751D9706C3}"/>
              </a:ext>
            </a:extLst>
          </p:cNvPr>
          <p:cNvSpPr txBox="1"/>
          <p:nvPr/>
        </p:nvSpPr>
        <p:spPr>
          <a:xfrm>
            <a:off x="759212" y="2207916"/>
            <a:ext cx="485388" cy="107722"/>
          </a:xfrm>
          <a:prstGeom prst="rect">
            <a:avLst/>
          </a:prstGeom>
          <a:noFill/>
        </p:spPr>
        <p:txBody>
          <a:bodyPr wrap="square" lIns="0" tIns="0" rIns="0" bIns="0" rtlCol="0">
            <a:spAutoFit/>
          </a:bodyPr>
          <a:lstStyle/>
          <a:p>
            <a:pPr algn="ctr"/>
            <a:r>
              <a:rPr lang="en-US" altLang="ko-KR" sz="700" dirty="0">
                <a:latin typeface="+mn-ea"/>
              </a:rPr>
              <a:t>5.</a:t>
            </a:r>
            <a:r>
              <a:rPr lang="ko-KR" altLang="en-US" sz="700" dirty="0">
                <a:latin typeface="+mn-ea"/>
              </a:rPr>
              <a:t> 파일첨부</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1450280" y="2207916"/>
            <a:ext cx="772916" cy="107722"/>
          </a:xfrm>
          <a:prstGeom prst="rect">
            <a:avLst/>
          </a:prstGeom>
          <a:noFill/>
        </p:spPr>
        <p:txBody>
          <a:bodyPr wrap="square" lIns="0" tIns="0" rIns="0" bIns="0" rtlCol="0">
            <a:spAutoFit/>
          </a:bodyPr>
          <a:lstStyle/>
          <a:p>
            <a:pPr algn="ctr"/>
            <a:r>
              <a:rPr lang="en-US" altLang="ko-KR" sz="700" dirty="0">
                <a:latin typeface="+mn-ea"/>
              </a:rPr>
              <a:t>6. </a:t>
            </a:r>
            <a:r>
              <a:rPr lang="ko-KR" altLang="en-US" sz="700" dirty="0" err="1">
                <a:latin typeface="+mn-ea"/>
              </a:rPr>
              <a:t>동가낙찰</a:t>
            </a:r>
            <a:r>
              <a:rPr lang="ko-KR" altLang="en-US" sz="700" dirty="0">
                <a:latin typeface="+mn-ea"/>
              </a:rPr>
              <a:t> </a:t>
            </a:r>
            <a:r>
              <a:rPr lang="ko-KR" altLang="en-US" sz="700" dirty="0" err="1">
                <a:latin typeface="+mn-ea"/>
              </a:rPr>
              <a:t>선추첨</a:t>
            </a:r>
            <a:endParaRPr lang="ko-KR" altLang="en-US" sz="700" dirty="0">
              <a:latin typeface="+mn-ea"/>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2428875" y="2207916"/>
            <a:ext cx="492571" cy="107722"/>
          </a:xfrm>
          <a:prstGeom prst="rect">
            <a:avLst/>
          </a:prstGeom>
          <a:noFill/>
        </p:spPr>
        <p:txBody>
          <a:bodyPr wrap="square" lIns="0" tIns="0" rIns="0" bIns="0" rtlCol="0">
            <a:spAutoFit/>
          </a:bodyPr>
          <a:lstStyle/>
          <a:p>
            <a:pPr algn="ctr"/>
            <a:r>
              <a:rPr lang="en-US" altLang="ko-KR" sz="700" dirty="0">
                <a:latin typeface="+mn-ea"/>
              </a:rPr>
              <a:t>7. </a:t>
            </a:r>
            <a:r>
              <a:rPr lang="ko-KR" altLang="en-US" sz="700" dirty="0">
                <a:latin typeface="+mn-ea"/>
              </a:rPr>
              <a:t>약관동의</a:t>
            </a:r>
          </a:p>
        </p:txBody>
      </p:sp>
    </p:spTree>
    <p:extLst>
      <p:ext uri="{BB962C8B-B14F-4D97-AF65-F5344CB8AC3E}">
        <p14:creationId xmlns:p14="http://schemas.microsoft.com/office/powerpoint/2010/main" val="29717238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127</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55254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dmt_bidPbancInfo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4810391"/>
            <a:ext cx="250445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업체내역 데이터 영역 </a:t>
            </a:r>
            <a:r>
              <a:rPr lang="en-US" altLang="ko-KR" sz="900" b="1" dirty="0">
                <a:solidFill>
                  <a:prstClr val="black"/>
                </a:solidFill>
              </a:rPr>
              <a:t>(</a:t>
            </a:r>
            <a:r>
              <a:rPr lang="en-US" altLang="ko-KR" sz="900" b="1" dirty="0" err="1">
                <a:solidFill>
                  <a:prstClr val="black"/>
                </a:solidFill>
              </a:rPr>
              <a:t>dmt_bzentyInfo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3807552"/>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조달번호</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판단번호</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참조번호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사업유형명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집행유형</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5606574"/>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총수량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t>
                      </a:r>
                      <a:r>
                        <a:rPr lang="ko-KR" altLang="en-US" sz="800" dirty="0">
                          <a:latin typeface="+mn-ea"/>
                          <a:ea typeface="+mn-ea"/>
                        </a:rPr>
                        <a:t>총수량</a:t>
                      </a:r>
                      <a:r>
                        <a:rPr lang="en-US" altLang="ko-KR" sz="800" dirty="0">
                          <a:latin typeface="+mn-ea"/>
                          <a:ea typeface="+mn-ea"/>
                        </a:rPr>
                        <a:t>/</a:t>
                      </a:r>
                      <a:r>
                        <a:rPr lang="ko-KR" altLang="en-US" sz="800" dirty="0">
                          <a:latin typeface="+mn-ea"/>
                          <a:ea typeface="+mn-ea"/>
                        </a:rPr>
                        <a:t>단가제유형</a:t>
                      </a:r>
                      <a:r>
                        <a:rPr lang="en-US" altLang="ko-KR" sz="800" dirty="0">
                          <a:latin typeface="+mn-ea"/>
                          <a:ea typeface="+mn-ea"/>
                        </a:rPr>
                        <a:t>)/</a:t>
                      </a:r>
                      <a:r>
                        <a:rPr lang="ko-KR" altLang="en-US" sz="800" dirty="0">
                          <a:latin typeface="+mn-ea"/>
                          <a:ea typeface="+mn-ea"/>
                        </a:rPr>
                        <a:t>사전심사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scsbdMthdNm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낙찰방법명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7916429"/>
                  </a:ext>
                </a:extLst>
              </a:tr>
              <a:tr h="0">
                <a:tc>
                  <a:txBody>
                    <a:bodyPr/>
                    <a:lstStyle/>
                    <a:p>
                      <a:pPr latinLnBrk="1"/>
                      <a:r>
                        <a:rPr lang="ko-KR" altLang="en-US" sz="800" dirty="0">
                          <a:latin typeface="+mn-ea"/>
                          <a:ea typeface="+mn-ea"/>
                        </a:rPr>
                        <a:t>적격심사여부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elgbSrngEnfrcYn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적격심사실시여부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1396896"/>
                  </a:ext>
                </a:extLst>
              </a:tr>
              <a:tr h="0">
                <a:tc>
                  <a:txBody>
                    <a:bodyPr/>
                    <a:lstStyle/>
                    <a:p>
                      <a:pPr latinLnBrk="1"/>
                      <a:r>
                        <a:rPr lang="ko-KR" altLang="en-US" sz="800" dirty="0">
                          <a:latin typeface="+mn-ea"/>
                          <a:ea typeface="+mn-ea"/>
                        </a:rPr>
                        <a:t>기초예비가격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기초예비가격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6981706"/>
                  </a:ext>
                </a:extLst>
              </a:tr>
              <a:tr h="0">
                <a:tc>
                  <a:txBody>
                    <a:bodyPr/>
                    <a:lstStyle/>
                    <a:p>
                      <a:pPr latinLnBrk="1"/>
                      <a:r>
                        <a:rPr lang="ko-KR" altLang="en-US" sz="800" dirty="0" err="1">
                          <a:latin typeface="+mn-ea"/>
                          <a:ea typeface="+mn-ea"/>
                        </a:rPr>
                        <a:t>사정률</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assmLlmtRt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사정하한비율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9956263"/>
                  </a:ext>
                </a:extLst>
              </a:tr>
              <a:tr h="0">
                <a:tc>
                  <a:txBody>
                    <a:bodyPr/>
                    <a:lstStyle/>
                    <a:p>
                      <a:pPr latinLnBrk="1"/>
                      <a:r>
                        <a:rPr lang="ko-KR" altLang="en-US" sz="800" dirty="0">
                          <a:latin typeface="+mn-ea"/>
                          <a:ea typeface="+mn-ea"/>
                        </a:rPr>
                        <a:t>업체입찰보증금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bidGrnteAmt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입찰보증금액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5465182"/>
                  </a:ext>
                </a:extLst>
              </a:tr>
              <a:tr h="0">
                <a:tc>
                  <a:txBody>
                    <a:bodyPr/>
                    <a:lstStyle/>
                    <a:p>
                      <a:pPr latinLnBrk="1"/>
                      <a:r>
                        <a:rPr lang="en-US" altLang="ko-KR" sz="800" dirty="0">
                          <a:latin typeface="+mn-ea"/>
                          <a:ea typeface="+mn-ea"/>
                        </a:rPr>
                        <a:t>2</a:t>
                      </a:r>
                      <a:r>
                        <a:rPr lang="ko-KR" altLang="en-US" sz="800" dirty="0">
                          <a:latin typeface="+mn-ea"/>
                          <a:ea typeface="+mn-ea"/>
                        </a:rPr>
                        <a:t>단계경쟁 전자파일 제출 가능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stp2CmptFileSbmsnYn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2</a:t>
                      </a:r>
                      <a:r>
                        <a:rPr lang="ko-KR" altLang="en-US" sz="800" dirty="0" err="1">
                          <a:latin typeface="+mn-ea"/>
                          <a:ea typeface="+mn-ea"/>
                        </a:rPr>
                        <a:t>단계경쟁파일제출여부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720" dirty="0">
                          <a:latin typeface="+mn-ea"/>
                          <a:ea typeface="+mn-ea"/>
                        </a:rPr>
                        <a:t>2</a:t>
                      </a:r>
                      <a:r>
                        <a:rPr lang="ko-KR" altLang="en-US" sz="720" dirty="0">
                          <a:latin typeface="+mn-ea"/>
                          <a:ea typeface="+mn-ea"/>
                        </a:rPr>
                        <a:t>단계경쟁 전자파일 제출 가능</a:t>
                      </a:r>
                      <a:r>
                        <a:rPr lang="en-US" altLang="ko-KR" sz="720" dirty="0">
                          <a:latin typeface="+mn-ea"/>
                          <a:ea typeface="+mn-ea"/>
                        </a:rPr>
                        <a:t>/</a:t>
                      </a:r>
                      <a:r>
                        <a:rPr lang="ko-KR" altLang="en-US" sz="720" dirty="0">
                          <a:latin typeface="+mn-ea"/>
                          <a:ea typeface="+mn-ea"/>
                        </a:rPr>
                        <a:t>낙찰자기준</a:t>
                      </a:r>
                      <a:endParaRPr lang="en-US" altLang="ko-KR" sz="72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720" dirty="0">
                          <a:latin typeface="+mn-ea"/>
                          <a:ea typeface="+mn-ea"/>
                        </a:rPr>
                        <a:t>  - 2</a:t>
                      </a:r>
                      <a:r>
                        <a:rPr lang="ko-KR" altLang="en-US" sz="720" dirty="0">
                          <a:latin typeface="+mn-ea"/>
                          <a:ea typeface="+mn-ea"/>
                        </a:rPr>
                        <a:t>단계 </a:t>
                      </a:r>
                      <a:r>
                        <a:rPr lang="en-US" altLang="ko-KR" sz="720" dirty="0">
                          <a:latin typeface="+mn-ea"/>
                          <a:ea typeface="+mn-ea"/>
                        </a:rPr>
                        <a:t>: </a:t>
                      </a:r>
                      <a:r>
                        <a:rPr lang="ko-KR" altLang="en-US" sz="720" dirty="0">
                          <a:latin typeface="+mn-ea"/>
                          <a:ea typeface="+mn-ea"/>
                        </a:rPr>
                        <a:t>물품이고</a:t>
                      </a:r>
                      <a:r>
                        <a:rPr lang="en-US" altLang="ko-KR" sz="720" dirty="0">
                          <a:latin typeface="+mn-ea"/>
                          <a:ea typeface="+mn-ea"/>
                        </a:rPr>
                        <a:t>, 2</a:t>
                      </a:r>
                      <a:r>
                        <a:rPr lang="ko-KR" altLang="en-US" sz="720" dirty="0">
                          <a:latin typeface="+mn-ea"/>
                          <a:ea typeface="+mn-ea"/>
                        </a:rPr>
                        <a:t>단계경쟁</a:t>
                      </a:r>
                      <a:r>
                        <a:rPr lang="en-US" altLang="ko-KR" sz="720" dirty="0"/>
                        <a:t>(</a:t>
                      </a:r>
                      <a:r>
                        <a:rPr lang="ko-KR" altLang="en-US" sz="720" dirty="0"/>
                        <a:t>분리</a:t>
                      </a:r>
                      <a:r>
                        <a:rPr lang="en-US" altLang="ko-KR" sz="720" dirty="0"/>
                        <a:t>/</a:t>
                      </a:r>
                      <a:r>
                        <a:rPr lang="ko-KR" altLang="en-US" sz="720" dirty="0"/>
                        <a:t>동시</a:t>
                      </a:r>
                      <a:r>
                        <a:rPr lang="en-US" altLang="ko-KR" sz="720" dirty="0"/>
                        <a:t>)</a:t>
                      </a:r>
                      <a:r>
                        <a:rPr lang="ko-KR" altLang="en-US" sz="720" dirty="0">
                          <a:latin typeface="+mn-ea"/>
                          <a:ea typeface="+mn-ea"/>
                        </a:rPr>
                        <a:t>인</a:t>
                      </a:r>
                      <a:r>
                        <a:rPr lang="en-US" altLang="ko-KR" sz="720" dirty="0">
                          <a:latin typeface="+mn-ea"/>
                          <a:ea typeface="+mn-ea"/>
                        </a:rPr>
                        <a:t> </a:t>
                      </a:r>
                      <a:r>
                        <a:rPr lang="ko-KR" altLang="en-US" sz="720" dirty="0">
                          <a:latin typeface="+mn-ea"/>
                          <a:ea typeface="+mn-ea"/>
                        </a:rPr>
                        <a:t>경우</a:t>
                      </a:r>
                      <a:endParaRPr lang="en-US" altLang="ko-KR" sz="72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720" dirty="0">
                          <a:latin typeface="+mn-ea"/>
                          <a:ea typeface="+mn-ea"/>
                        </a:rPr>
                        <a:t>  - </a:t>
                      </a:r>
                      <a:r>
                        <a:rPr lang="ko-KR" altLang="en-US" sz="720" dirty="0">
                          <a:latin typeface="+mn-ea"/>
                          <a:ea typeface="+mn-ea"/>
                        </a:rPr>
                        <a:t>낙찰자 </a:t>
                      </a:r>
                      <a:r>
                        <a:rPr lang="en-US" altLang="ko-KR" sz="720" dirty="0">
                          <a:latin typeface="+mn-ea"/>
                          <a:ea typeface="+mn-ea"/>
                        </a:rPr>
                        <a:t>: </a:t>
                      </a:r>
                      <a:r>
                        <a:rPr lang="ko-KR" altLang="en-US" sz="720" dirty="0">
                          <a:latin typeface="+mn-ea"/>
                          <a:ea typeface="+mn-ea"/>
                        </a:rPr>
                        <a:t>공사이고</a:t>
                      </a:r>
                      <a:r>
                        <a:rPr lang="en-US" altLang="ko-KR" sz="720" dirty="0">
                          <a:latin typeface="+mn-ea"/>
                          <a:ea typeface="+mn-ea"/>
                        </a:rPr>
                        <a:t>, </a:t>
                      </a:r>
                      <a:r>
                        <a:rPr lang="ko-KR" altLang="en-US" sz="720" dirty="0">
                          <a:latin typeface="+mn-ea"/>
                          <a:ea typeface="+mn-ea"/>
                        </a:rPr>
                        <a:t>내역입찰</a:t>
                      </a:r>
                      <a:r>
                        <a:rPr lang="en-US" altLang="ko-KR" sz="720" dirty="0">
                          <a:latin typeface="+mn-ea"/>
                          <a:ea typeface="+mn-ea"/>
                        </a:rPr>
                        <a:t>(</a:t>
                      </a:r>
                      <a:r>
                        <a:rPr lang="ko-KR" altLang="en-US" sz="720" dirty="0" err="1">
                          <a:latin typeface="+mn-ea"/>
                          <a:ea typeface="+mn-ea"/>
                        </a:rPr>
                        <a:t>설계시공일괄입찰</a:t>
                      </a:r>
                      <a:r>
                        <a:rPr lang="en-US" altLang="ko-KR" sz="720" dirty="0">
                          <a:latin typeface="+mn-ea"/>
                          <a:ea typeface="+mn-ea"/>
                        </a:rPr>
                        <a:t>)</a:t>
                      </a:r>
                      <a:r>
                        <a:rPr lang="ko-KR" altLang="en-US" sz="720" dirty="0">
                          <a:latin typeface="+mn-ea"/>
                          <a:ea typeface="+mn-ea"/>
                        </a:rPr>
                        <a:t>인 </a:t>
                      </a:r>
                      <a:endParaRPr lang="en-US" altLang="ko-KR" sz="72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720" dirty="0">
                          <a:latin typeface="+mn-ea"/>
                          <a:ea typeface="+mn-ea"/>
                        </a:rPr>
                        <a:t>               </a:t>
                      </a:r>
                      <a:r>
                        <a:rPr lang="ko-KR" altLang="en-US" sz="720" dirty="0">
                          <a:latin typeface="+mn-ea"/>
                          <a:ea typeface="+mn-ea"/>
                        </a:rPr>
                        <a:t>경우</a:t>
                      </a:r>
                      <a:r>
                        <a:rPr lang="en-US" altLang="ko-KR" sz="720" dirty="0">
                          <a:latin typeface="+mn-ea"/>
                          <a:ea typeface="+mn-ea"/>
                        </a:rPr>
                        <a:t> </a:t>
                      </a:r>
                      <a:endParaRPr lang="ko-KR" altLang="en-US" sz="72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2319563"/>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입찰건명</a:t>
                      </a:r>
                      <a:r>
                        <a:rPr lang="en-US" altLang="ko-KR" sz="800" dirty="0">
                          <a:latin typeface="+mn-ea"/>
                          <a:ea typeface="+mn-ea"/>
                        </a:rPr>
                        <a:t>/</a:t>
                      </a:r>
                      <a:r>
                        <a:rPr lang="ko-KR" altLang="en-US" sz="800" dirty="0" err="1">
                          <a:latin typeface="+mn-ea"/>
                          <a:ea typeface="+mn-ea"/>
                        </a:rPr>
                        <a:t>공사명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6087276"/>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5022882"/>
          <a:ext cx="8995589" cy="135744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대표자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336139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437715"/>
                  </a:ext>
                </a:extLst>
              </a:tr>
              <a:tr h="0">
                <a:tc>
                  <a:txBody>
                    <a:bodyPr/>
                    <a:lstStyle/>
                    <a:p>
                      <a:pPr latinLnBrk="1"/>
                      <a:r>
                        <a:rPr lang="ko-KR" altLang="en-US" sz="800" dirty="0">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bzentyTelno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업체전화번호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bzentyAddr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업체주소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BB24F8B0-C6FE-F96C-8103-04B4B6A9CC7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4181BC9A-F38E-0760-F39F-9876EBA171F7}"/>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Tree>
    <p:extLst>
      <p:ext uri="{BB962C8B-B14F-4D97-AF65-F5344CB8AC3E}">
        <p14:creationId xmlns:p14="http://schemas.microsoft.com/office/powerpoint/2010/main" val="269192689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128</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456369"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품목내역 목록 데이터 영역 </a:t>
            </a:r>
            <a:r>
              <a:rPr lang="en-US" altLang="ko-KR" sz="900" b="1" dirty="0">
                <a:solidFill>
                  <a:prstClr val="black"/>
                </a:solidFill>
              </a:rPr>
              <a:t>(</a:t>
            </a:r>
            <a:r>
              <a:rPr lang="en-US" altLang="ko-KR" sz="900" b="1" dirty="0" err="1">
                <a:solidFill>
                  <a:prstClr val="black"/>
                </a:solidFill>
              </a:rPr>
              <a:t>dlt_itemList</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3830" y="3008481"/>
            <a:ext cx="2342555"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err="1">
                <a:solidFill>
                  <a:prstClr val="black"/>
                </a:solidFill>
              </a:rPr>
              <a:t>투찰내역</a:t>
            </a:r>
            <a:r>
              <a:rPr lang="ko-KR" altLang="en-US" sz="900" b="1" dirty="0">
                <a:solidFill>
                  <a:prstClr val="black"/>
                </a:solidFill>
              </a:rPr>
              <a:t> 데이터 영역 </a:t>
            </a:r>
            <a:r>
              <a:rPr lang="en-US" altLang="ko-KR" sz="900" b="1" dirty="0">
                <a:solidFill>
                  <a:prstClr val="black"/>
                </a:solidFill>
              </a:rPr>
              <a:t>(</a:t>
            </a:r>
            <a:r>
              <a:rPr lang="en-US" altLang="ko-KR" sz="900" b="1" dirty="0" err="1">
                <a:solidFill>
                  <a:prstClr val="black"/>
                </a:solidFill>
              </a:rPr>
              <a:t>dmt_bdngAmt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1939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조회 번호</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입찰방법이 단가제인 경우 보이기</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a:latin typeface="+mn-ea"/>
                          <a:ea typeface="+mn-ea"/>
                        </a:rPr>
                        <a:t>항목번호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분류번호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a:latin typeface="+mn-ea"/>
                          <a:ea typeface="+mn-ea"/>
                        </a:rPr>
                        <a:t>재고번호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fscCdNtnItemIdntfNo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군급분류코드</a:t>
                      </a:r>
                      <a:r>
                        <a:rPr lang="en-US" altLang="ko-KR" sz="800" dirty="0">
                          <a:latin typeface="+mn-ea"/>
                          <a:ea typeface="+mn-ea"/>
                        </a:rPr>
                        <a:t>, </a:t>
                      </a:r>
                      <a:r>
                        <a:rPr lang="ko-KR" altLang="en-US" sz="800" dirty="0">
                          <a:latin typeface="+mn-ea"/>
                          <a:ea typeface="+mn-ea"/>
                        </a:rPr>
                        <a:t>국가품목식별번호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err="1">
                          <a:latin typeface="+mn-ea"/>
                          <a:ea typeface="+mn-ea"/>
                        </a:rPr>
                        <a:t>군급분류코드</a:t>
                      </a:r>
                      <a:r>
                        <a:rPr lang="en-US" altLang="ko-KR" sz="800" dirty="0">
                          <a:latin typeface="+mn-ea"/>
                          <a:ea typeface="+mn-ea"/>
                        </a:rPr>
                        <a:t>+</a:t>
                      </a:r>
                      <a:r>
                        <a:rPr lang="ko-KR" altLang="en-US" sz="800" dirty="0">
                          <a:latin typeface="+mn-ea"/>
                          <a:ea typeface="+mn-ea"/>
                        </a:rPr>
                        <a:t>국가품목식별번호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a:latin typeface="+mn-ea"/>
                          <a:ea typeface="+mn-ea"/>
                        </a:rPr>
                        <a:t>품명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품목명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ko-KR" altLang="en-US" sz="800">
                          <a:latin typeface="+mn-ea"/>
                          <a:ea typeface="+mn-ea"/>
                        </a:rPr>
                        <a:t>규격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r h="0">
                <a:tc>
                  <a:txBody>
                    <a:bodyPr/>
                    <a:lstStyle/>
                    <a:p>
                      <a:pPr latinLnBrk="1"/>
                      <a:r>
                        <a:rPr lang="ko-KR" altLang="en-US" sz="800">
                          <a:latin typeface="+mn-ea"/>
                          <a:ea typeface="+mn-ea"/>
                        </a:rPr>
                        <a:t>단위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7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111074"/>
                  </a:ext>
                </a:extLst>
              </a:tr>
              <a:tr h="0">
                <a:tc>
                  <a:txBody>
                    <a:bodyPr/>
                    <a:lstStyle/>
                    <a:p>
                      <a:pPr latinLnBrk="1"/>
                      <a:r>
                        <a:rPr lang="ko-KR" altLang="en-US" sz="800">
                          <a:latin typeface="+mn-ea"/>
                          <a:ea typeface="+mn-ea"/>
                        </a:rPr>
                        <a:t>수량</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3259139"/>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2974785"/>
                  </a:ext>
                </a:extLst>
              </a:tr>
              <a:tr h="0">
                <a:tc>
                  <a:txBody>
                    <a:bodyPr/>
                    <a:lstStyle/>
                    <a:p>
                      <a:pPr latinLnBrk="1"/>
                      <a:r>
                        <a:rPr lang="ko-KR" altLang="en-US" sz="800">
                          <a:latin typeface="+mn-ea"/>
                          <a:ea typeface="+mn-ea"/>
                        </a:rPr>
                        <a:t>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drctnAmt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지시금액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339541"/>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291" y="3220972"/>
          <a:ext cx="8995589" cy="116352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입찰금액</a:t>
                      </a:r>
                      <a:r>
                        <a:rPr lang="en-US" altLang="ko-KR" sz="800" dirty="0">
                          <a:latin typeface="+mn-ea"/>
                          <a:ea typeface="+mn-ea"/>
                        </a:rPr>
                        <a:t>(</a:t>
                      </a:r>
                      <a:r>
                        <a:rPr lang="ko-KR" altLang="en-US" sz="800" dirty="0">
                          <a:latin typeface="+mn-ea"/>
                          <a:ea typeface="+mn-ea"/>
                        </a:rPr>
                        <a:t>￦</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투찰금액을</a:t>
                      </a:r>
                      <a:r>
                        <a:rPr lang="ko-KR" altLang="en-US" sz="800" dirty="0">
                          <a:latin typeface="+mn-ea"/>
                          <a:ea typeface="+mn-ea"/>
                        </a:rPr>
                        <a:t> 숫자로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단가제인 경우 소수점 둘째자리까지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입찰금액</a:t>
                      </a:r>
                      <a:r>
                        <a:rPr lang="en-US" altLang="ko-KR" sz="800" dirty="0">
                          <a:latin typeface="+mn-ea"/>
                          <a:ea typeface="+mn-ea"/>
                        </a:rPr>
                        <a:t>(</a:t>
                      </a:r>
                      <a:r>
                        <a:rPr lang="ko-KR" altLang="en-US" sz="800" dirty="0">
                          <a:latin typeface="+mn-ea"/>
                          <a:ea typeface="+mn-ea"/>
                        </a:rPr>
                        <a:t>원</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bdngAmtKor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입력된 </a:t>
                      </a:r>
                      <a:r>
                        <a:rPr lang="ko-KR" altLang="en-US" sz="800" dirty="0" err="1">
                          <a:latin typeface="+mn-ea"/>
                          <a:ea typeface="+mn-ea"/>
                        </a:rPr>
                        <a:t>투락금액을</a:t>
                      </a:r>
                      <a:r>
                        <a:rPr lang="ko-KR" altLang="en-US" sz="800" dirty="0">
                          <a:latin typeface="+mn-ea"/>
                          <a:ea typeface="+mn-ea"/>
                        </a:rPr>
                        <a:t> 한글금액으로 변환하여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r h="0">
                <a:tc>
                  <a:txBody>
                    <a:bodyPr/>
                    <a:lstStyle/>
                    <a:p>
                      <a:pPr latinLnBrk="1"/>
                      <a:r>
                        <a:rPr lang="ko-KR" altLang="en-US" sz="800" dirty="0">
                          <a:latin typeface="+mn-ea"/>
                          <a:ea typeface="+mn-ea"/>
                        </a:rPr>
                        <a:t>입찰수량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단가제인 경우 </a:t>
                      </a:r>
                      <a:r>
                        <a:rPr lang="ko-KR" altLang="en-US" sz="800" dirty="0" err="1">
                          <a:latin typeface="+mn-ea"/>
                          <a:ea typeface="+mn-ea"/>
                        </a:rPr>
                        <a:t>투찰수량을</a:t>
                      </a:r>
                      <a:r>
                        <a:rPr lang="ko-KR" altLang="en-US" sz="800" dirty="0">
                          <a:latin typeface="+mn-ea"/>
                          <a:ea typeface="+mn-ea"/>
                        </a:rPr>
                        <a:t> 숫자로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8023967"/>
                  </a:ext>
                </a:extLst>
              </a:tr>
              <a:tr h="0">
                <a:tc>
                  <a:txBody>
                    <a:bodyPr/>
                    <a:lstStyle/>
                    <a:p>
                      <a:pPr latinLnBrk="1"/>
                      <a:r>
                        <a:rPr lang="ko-KR" altLang="en-US" sz="800" dirty="0">
                          <a:latin typeface="+mn-ea"/>
                          <a:ea typeface="+mn-ea"/>
                        </a:rPr>
                        <a:t>입찰단가</a:t>
                      </a:r>
                      <a:r>
                        <a:rPr lang="en-US" altLang="ko-KR" sz="800" dirty="0">
                          <a:latin typeface="+mn-ea"/>
                          <a:ea typeface="+mn-ea"/>
                        </a:rPr>
                        <a:t>(</a:t>
                      </a:r>
                      <a:r>
                        <a:rPr lang="ko-KR" altLang="en-US" sz="800" dirty="0">
                          <a:latin typeface="+mn-ea"/>
                          <a:ea typeface="+mn-ea"/>
                        </a:rPr>
                        <a:t>￦</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투찰단가를</a:t>
                      </a:r>
                      <a:r>
                        <a:rPr lang="ko-KR" altLang="en-US" sz="800" dirty="0">
                          <a:latin typeface="+mn-ea"/>
                          <a:ea typeface="+mn-ea"/>
                        </a:rPr>
                        <a:t> 숫자로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단가제인 경우 소수점 둘째자리까지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4610569"/>
                  </a:ext>
                </a:extLst>
              </a:tr>
              <a:tr h="0">
                <a:tc>
                  <a:txBody>
                    <a:bodyPr/>
                    <a:lstStyle/>
                    <a:p>
                      <a:pPr latinLnBrk="1"/>
                      <a:r>
                        <a:rPr lang="ko-KR" altLang="en-US" sz="800" dirty="0">
                          <a:latin typeface="+mn-ea"/>
                          <a:ea typeface="+mn-ea"/>
                        </a:rPr>
                        <a:t>입찰단가</a:t>
                      </a:r>
                      <a:r>
                        <a:rPr lang="en-US" altLang="ko-KR" sz="800" dirty="0">
                          <a:latin typeface="+mn-ea"/>
                          <a:ea typeface="+mn-ea"/>
                        </a:rPr>
                        <a:t>(</a:t>
                      </a:r>
                      <a:r>
                        <a:rPr lang="ko-KR" altLang="en-US" sz="800" dirty="0">
                          <a:latin typeface="+mn-ea"/>
                          <a:ea typeface="+mn-ea"/>
                        </a:rPr>
                        <a:t>원</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bdngUntprcKor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입력된 </a:t>
                      </a:r>
                      <a:r>
                        <a:rPr lang="ko-KR" altLang="en-US" sz="800" dirty="0" err="1">
                          <a:latin typeface="+mn-ea"/>
                          <a:ea typeface="+mn-ea"/>
                        </a:rPr>
                        <a:t>투찰단가를</a:t>
                      </a:r>
                      <a:r>
                        <a:rPr lang="ko-KR" altLang="en-US" sz="800" dirty="0">
                          <a:latin typeface="+mn-ea"/>
                          <a:ea typeface="+mn-ea"/>
                        </a:rPr>
                        <a:t> 한글금액으로 변환하여 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4051878"/>
                  </a:ext>
                </a:extLst>
              </a:tr>
            </a:tbl>
          </a:graphicData>
        </a:graphic>
      </p:graphicFrame>
      <p:sp>
        <p:nvSpPr>
          <p:cNvPr id="4" name="TextBox 3">
            <a:extLst>
              <a:ext uri="{FF2B5EF4-FFF2-40B4-BE49-F238E27FC236}">
                <a16:creationId xmlns:a16="http://schemas.microsoft.com/office/drawing/2014/main" id="{3640B13D-584B-8416-67F8-3DBDF632D167}"/>
              </a:ext>
            </a:extLst>
          </p:cNvPr>
          <p:cNvSpPr txBox="1"/>
          <p:nvPr/>
        </p:nvSpPr>
        <p:spPr>
          <a:xfrm>
            <a:off x="453832" y="4693594"/>
            <a:ext cx="2868340"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복수예비가격선택 데이터 영역 </a:t>
            </a:r>
            <a:r>
              <a:rPr lang="en-US" altLang="ko-KR" sz="900" b="1" dirty="0">
                <a:solidFill>
                  <a:prstClr val="black"/>
                </a:solidFill>
              </a:rPr>
              <a:t>(</a:t>
            </a:r>
            <a:r>
              <a:rPr lang="en-US" altLang="ko-KR" sz="900" b="1" dirty="0" err="1">
                <a:solidFill>
                  <a:prstClr val="black"/>
                </a:solidFill>
              </a:rPr>
              <a:t>dmt_rsrbPrcChc</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9A5F43F4-CB5F-C531-B843-B6D2FC2FA0D8}"/>
              </a:ext>
            </a:extLst>
          </p:cNvPr>
          <p:cNvGraphicFramePr>
            <a:graphicFrameLocks noGrp="1"/>
          </p:cNvGraphicFramePr>
          <p:nvPr/>
        </p:nvGraphicFramePr>
        <p:xfrm>
          <a:off x="452293" y="4906085"/>
          <a:ext cx="8995589" cy="775680"/>
        </p:xfrm>
        <a:graphic>
          <a:graphicData uri="http://schemas.openxmlformats.org/drawingml/2006/table">
            <a:tbl>
              <a:tblPr>
                <a:tableStyleId>{616DA210-FB5B-4158-B5E0-FEB733F419BA}</a:tableStyleId>
              </a:tblPr>
              <a:tblGrid>
                <a:gridCol w="1124448">
                  <a:extLst>
                    <a:ext uri="{9D8B030D-6E8A-4147-A177-3AD203B41FA5}">
                      <a16:colId xmlns:a16="http://schemas.microsoft.com/office/drawing/2014/main" val="20000"/>
                    </a:ext>
                  </a:extLst>
                </a:gridCol>
                <a:gridCol w="1124448">
                  <a:extLst>
                    <a:ext uri="{9D8B030D-6E8A-4147-A177-3AD203B41FA5}">
                      <a16:colId xmlns:a16="http://schemas.microsoft.com/office/drawing/2014/main" val="1403555245"/>
                    </a:ext>
                  </a:extLst>
                </a:gridCol>
                <a:gridCol w="2998530">
                  <a:extLst>
                    <a:ext uri="{9D8B030D-6E8A-4147-A177-3AD203B41FA5}">
                      <a16:colId xmlns:a16="http://schemas.microsoft.com/office/drawing/2014/main" val="20001"/>
                    </a:ext>
                  </a:extLst>
                </a:gridCol>
                <a:gridCol w="449779">
                  <a:extLst>
                    <a:ext uri="{9D8B030D-6E8A-4147-A177-3AD203B41FA5}">
                      <a16:colId xmlns:a16="http://schemas.microsoft.com/office/drawing/2014/main" val="20002"/>
                    </a:ext>
                  </a:extLst>
                </a:gridCol>
                <a:gridCol w="524743">
                  <a:extLst>
                    <a:ext uri="{9D8B030D-6E8A-4147-A177-3AD203B41FA5}">
                      <a16:colId xmlns:a16="http://schemas.microsoft.com/office/drawing/2014/main" val="20003"/>
                    </a:ext>
                  </a:extLst>
                </a:gridCol>
                <a:gridCol w="524743">
                  <a:extLst>
                    <a:ext uri="{9D8B030D-6E8A-4147-A177-3AD203B41FA5}">
                      <a16:colId xmlns:a16="http://schemas.microsoft.com/office/drawing/2014/main" val="20004"/>
                    </a:ext>
                  </a:extLst>
                </a:gridCol>
                <a:gridCol w="2248898">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복수예비가격선택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rsrvPrcChcNo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2</a:t>
                      </a:r>
                      <a:r>
                        <a:rPr lang="ko-KR" altLang="en-US" sz="800" dirty="0">
                          <a:latin typeface="+mn-ea"/>
                          <a:ea typeface="+mn-ea"/>
                        </a:rPr>
                        <a:t>개의 추첨번호를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4747051"/>
                  </a:ext>
                </a:extLst>
              </a:tr>
              <a:tr h="0">
                <a:tc>
                  <a:txBody>
                    <a:bodyPr/>
                    <a:lstStyle/>
                    <a:p>
                      <a:pPr latinLnBrk="1"/>
                      <a:r>
                        <a:rPr lang="en-US" altLang="ko-KR" sz="800" dirty="0">
                          <a:latin typeface="+mn-ea"/>
                          <a:ea typeface="+mn-ea"/>
                        </a:rPr>
                        <a:t>1</a:t>
                      </a:r>
                      <a:r>
                        <a:rPr lang="ko-KR" altLang="en-US" sz="800" dirty="0">
                          <a:latin typeface="+mn-ea"/>
                          <a:ea typeface="+mn-ea"/>
                        </a:rPr>
                        <a:t>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rsrvPrcChcNo1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첫번째 추첨번호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예정가격생성 후 랜덤으로 변경 된 번호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en-US" altLang="ko-KR" sz="800" dirty="0">
                          <a:latin typeface="+mn-ea"/>
                          <a:ea typeface="+mn-ea"/>
                        </a:rPr>
                        <a:t>2</a:t>
                      </a:r>
                      <a:r>
                        <a:rPr lang="ko-KR" altLang="en-US" sz="800" dirty="0">
                          <a:latin typeface="+mn-ea"/>
                          <a:ea typeface="+mn-ea"/>
                        </a:rPr>
                        <a:t>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rsrvPrcChcNo2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두번째 추첨번호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예정가격생성 후 랜덤으로 변경 된 번호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120606"/>
                  </a:ext>
                </a:extLst>
              </a:tr>
            </a:tbl>
          </a:graphicData>
        </a:graphic>
      </p:graphicFrame>
      <p:sp>
        <p:nvSpPr>
          <p:cNvPr id="7" name="Text Box 73">
            <a:extLst>
              <a:ext uri="{FF2B5EF4-FFF2-40B4-BE49-F238E27FC236}">
                <a16:creationId xmlns:a16="http://schemas.microsoft.com/office/drawing/2014/main" id="{DEDBDEAA-0101-5D22-5B6B-0B88D173F36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9" name="TextBox 8">
            <a:extLst>
              <a:ext uri="{FF2B5EF4-FFF2-40B4-BE49-F238E27FC236}">
                <a16:creationId xmlns:a16="http://schemas.microsoft.com/office/drawing/2014/main" id="{B5E792CA-774B-3F68-CA58-BB0078F984A4}"/>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Tree>
    <p:extLst>
      <p:ext uri="{BB962C8B-B14F-4D97-AF65-F5344CB8AC3E}">
        <p14:creationId xmlns:p14="http://schemas.microsoft.com/office/powerpoint/2010/main" val="909553638"/>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129</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776218"/>
            <a:ext cx="2999786"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입찰서 첨부파일 데이터 영역 </a:t>
            </a:r>
            <a:r>
              <a:rPr lang="en-US" altLang="ko-KR" sz="900" b="1" dirty="0">
                <a:solidFill>
                  <a:prstClr val="black"/>
                </a:solidFill>
              </a:rPr>
              <a:t>(</a:t>
            </a:r>
            <a:r>
              <a:rPr lang="en-US" altLang="ko-KR" sz="900" b="1" dirty="0" err="1">
                <a:solidFill>
                  <a:prstClr val="black"/>
                </a:solidFill>
              </a:rPr>
              <a:t>dlt_tndrAtchFileList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990036"/>
          <a:ext cx="8994883" cy="30422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adocNm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구분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규격제안서</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  - </a:t>
                      </a:r>
                      <a:r>
                        <a:rPr lang="ko-KR" altLang="en-US" sz="800" dirty="0"/>
                        <a:t>부서부호가 </a:t>
                      </a:r>
                      <a:r>
                        <a:rPr lang="en-US" altLang="ko-KR" sz="800" dirty="0"/>
                        <a:t>‘E’</a:t>
                      </a:r>
                      <a:r>
                        <a:rPr lang="ko-KR" altLang="en-US" sz="800" dirty="0"/>
                        <a:t>로 시작하고</a:t>
                      </a:r>
                      <a:r>
                        <a:rPr lang="en-US" altLang="ko-KR" sz="800" dirty="0"/>
                        <a:t>, </a:t>
                      </a:r>
                      <a:r>
                        <a:rPr lang="ko-KR" altLang="en-US" sz="800" dirty="0"/>
                        <a:t>계약방법이 </a:t>
                      </a:r>
                      <a:r>
                        <a:rPr lang="en-US" altLang="ko-KR" sz="800" dirty="0"/>
                        <a:t>‘G’</a:t>
                      </a:r>
                    </a:p>
                    <a:p>
                      <a:pPr marL="0" indent="0" algn="l" latinLnBrk="1">
                        <a:buFont typeface="Arial" panose="020B0604020202020204" pitchFamily="34" charset="0"/>
                        <a:buNone/>
                      </a:pPr>
                      <a:r>
                        <a:rPr lang="en-US" altLang="ko-KR" sz="800" dirty="0"/>
                        <a:t>    </a:t>
                      </a:r>
                      <a:r>
                        <a:rPr lang="ko-KR" altLang="en-US" sz="800" dirty="0"/>
                        <a:t>또는</a:t>
                      </a:r>
                      <a:r>
                        <a:rPr lang="en-US" altLang="ko-KR" sz="800" dirty="0"/>
                        <a:t>‘H’</a:t>
                      </a:r>
                      <a:r>
                        <a:rPr lang="ko-KR" altLang="en-US" sz="800" dirty="0"/>
                        <a:t>이고</a:t>
                      </a:r>
                      <a:r>
                        <a:rPr lang="en-US" altLang="ko-KR" sz="800" dirty="0"/>
                        <a:t>, 2</a:t>
                      </a:r>
                      <a:r>
                        <a:rPr lang="ko-KR" altLang="en-US" sz="800" dirty="0"/>
                        <a:t>단계경쟁</a:t>
                      </a:r>
                      <a:r>
                        <a:rPr lang="en-US" altLang="ko-KR" sz="800" dirty="0"/>
                        <a:t>(</a:t>
                      </a:r>
                      <a:r>
                        <a:rPr lang="ko-KR" altLang="en-US" sz="800" dirty="0"/>
                        <a:t>분리</a:t>
                      </a:r>
                      <a:r>
                        <a:rPr lang="en-US" altLang="ko-KR" sz="800" dirty="0"/>
                        <a:t>/</a:t>
                      </a:r>
                      <a:r>
                        <a:rPr lang="ko-KR" altLang="en-US" sz="800" dirty="0"/>
                        <a:t>동시</a:t>
                      </a:r>
                      <a:r>
                        <a:rPr lang="en-US" altLang="ko-KR" sz="800" dirty="0"/>
                        <a:t>)</a:t>
                      </a:r>
                      <a:r>
                        <a:rPr lang="ko-KR" altLang="en-US" sz="800" dirty="0"/>
                        <a:t>첨부파일</a:t>
                      </a:r>
                      <a:endParaRPr lang="en-US" altLang="ko-KR" sz="800" dirty="0"/>
                    </a:p>
                    <a:p>
                      <a:pPr marL="0" indent="0" algn="l" latinLnBrk="1">
                        <a:buFont typeface="Arial" panose="020B0604020202020204" pitchFamily="34" charset="0"/>
                        <a:buNone/>
                      </a:pPr>
                      <a:r>
                        <a:rPr lang="en-US" altLang="ko-KR" sz="800" dirty="0"/>
                        <a:t>    </a:t>
                      </a:r>
                      <a:r>
                        <a:rPr lang="ko-KR" altLang="en-US" sz="800" dirty="0"/>
                        <a:t>제출여부가 </a:t>
                      </a:r>
                      <a:r>
                        <a:rPr lang="en-US" altLang="ko-KR" sz="800" dirty="0"/>
                        <a:t>‘Y’</a:t>
                      </a:r>
                      <a:r>
                        <a:rPr lang="ko-KR" altLang="en-US" sz="800" dirty="0"/>
                        <a:t>인 경우</a:t>
                      </a:r>
                      <a:endParaRPr lang="en-US" altLang="ko-KR" sz="800" dirty="0"/>
                    </a:p>
                    <a:p>
                      <a:pPr marL="0" indent="0" algn="l" latinLnBrk="1">
                        <a:buFont typeface="Arial" panose="020B0604020202020204" pitchFamily="34" charset="0"/>
                        <a:buNone/>
                      </a:pPr>
                      <a:r>
                        <a:rPr lang="ko-KR" altLang="en-US" sz="800" dirty="0" err="1"/>
                        <a:t>공종별</a:t>
                      </a:r>
                      <a:r>
                        <a:rPr lang="ko-KR" altLang="en-US" sz="800" dirty="0"/>
                        <a:t> 산출내역서</a:t>
                      </a:r>
                      <a:r>
                        <a:rPr lang="en-US" altLang="ko-KR" sz="800" dirty="0"/>
                        <a:t>, </a:t>
                      </a:r>
                      <a:r>
                        <a:rPr lang="ko-KR" altLang="en-US" sz="800" dirty="0"/>
                        <a:t>자기평가기술서</a:t>
                      </a:r>
                      <a:endParaRPr lang="en-US" altLang="ko-KR" sz="800" dirty="0"/>
                    </a:p>
                    <a:p>
                      <a:pPr marL="0" indent="0" algn="l" latinLnBrk="1">
                        <a:buFont typeface="Arial" panose="020B0604020202020204" pitchFamily="34" charset="0"/>
                        <a:buNone/>
                      </a:pPr>
                      <a:r>
                        <a:rPr lang="en-US" altLang="ko-KR" sz="800" dirty="0">
                          <a:latin typeface="+mn-ea"/>
                          <a:ea typeface="+mn-ea"/>
                        </a:rPr>
                        <a:t>  - </a:t>
                      </a:r>
                      <a:r>
                        <a:rPr lang="ko-KR" altLang="en-US" sz="800" dirty="0"/>
                        <a:t>입찰방법이 내역입찰</a:t>
                      </a:r>
                      <a:r>
                        <a:rPr lang="en-US" altLang="ko-KR" sz="800" dirty="0"/>
                        <a:t>(</a:t>
                      </a:r>
                      <a:r>
                        <a:rPr lang="ko-KR" altLang="en-US" sz="800" dirty="0"/>
                        <a:t>최저가</a:t>
                      </a:r>
                      <a:r>
                        <a:rPr lang="en-US" altLang="ko-KR" sz="800" dirty="0"/>
                        <a:t>) </a:t>
                      </a:r>
                      <a:r>
                        <a:rPr lang="ko-KR" altLang="en-US" sz="800" dirty="0"/>
                        <a:t>또는</a:t>
                      </a:r>
                      <a:r>
                        <a:rPr lang="en-US" altLang="ko-KR" sz="800" dirty="0"/>
                        <a:t> </a:t>
                      </a:r>
                      <a:r>
                        <a:rPr lang="ko-KR" altLang="en-US" sz="800" dirty="0"/>
                        <a:t>내역입찰</a:t>
                      </a:r>
                      <a:endParaRPr lang="en-US" altLang="ko-KR" sz="800" dirty="0"/>
                    </a:p>
                    <a:p>
                      <a:pPr marL="0" indent="0" algn="l" latinLnBrk="1">
                        <a:buFont typeface="Arial" panose="020B0604020202020204" pitchFamily="34" charset="0"/>
                        <a:buNone/>
                      </a:pPr>
                      <a:r>
                        <a:rPr lang="en-US" altLang="ko-KR" sz="800" dirty="0"/>
                        <a:t>    (</a:t>
                      </a:r>
                      <a:r>
                        <a:rPr lang="ko-KR" altLang="en-US" sz="800" dirty="0"/>
                        <a:t>적격심사</a:t>
                      </a:r>
                      <a:r>
                        <a:rPr lang="en-US" altLang="ko-KR" sz="800" dirty="0"/>
                        <a:t>)</a:t>
                      </a:r>
                      <a:r>
                        <a:rPr lang="ko-KR" altLang="en-US" sz="800" dirty="0"/>
                        <a:t>이고</a:t>
                      </a:r>
                      <a:r>
                        <a:rPr lang="en-US" altLang="ko-KR" sz="800" dirty="0"/>
                        <a:t>, TBEPPP30.CALC_YSNO</a:t>
                      </a:r>
                    </a:p>
                    <a:p>
                      <a:pPr marL="0" indent="0" algn="l" latinLnBrk="1">
                        <a:buFont typeface="Arial" panose="020B0604020202020204" pitchFamily="34" charset="0"/>
                        <a:buNone/>
                      </a:pPr>
                      <a:r>
                        <a:rPr lang="en-US" altLang="ko-KR" sz="800" dirty="0"/>
                        <a:t>    (</a:t>
                      </a:r>
                      <a:r>
                        <a:rPr lang="ko-KR" altLang="en-US" sz="800" dirty="0"/>
                        <a:t>산출내역서적용여부</a:t>
                      </a:r>
                      <a:r>
                        <a:rPr lang="en-US" altLang="ko-KR" sz="800" dirty="0"/>
                        <a:t>)</a:t>
                      </a:r>
                      <a:r>
                        <a:rPr lang="ko-KR" altLang="en-US" sz="800" dirty="0"/>
                        <a:t>인 경우</a:t>
                      </a:r>
                      <a:endParaRPr lang="en-US" altLang="ko-KR" sz="800" dirty="0"/>
                    </a:p>
                    <a:p>
                      <a:pPr marL="0" indent="0" algn="l" latinLnBrk="1">
                        <a:buFont typeface="Arial" panose="020B0604020202020204" pitchFamily="34" charset="0"/>
                        <a:buNone/>
                      </a:pPr>
                      <a:r>
                        <a:rPr lang="en-US" altLang="ko-KR" sz="800" dirty="0">
                          <a:latin typeface="+mn-ea"/>
                          <a:ea typeface="+mn-ea"/>
                        </a:rPr>
                        <a:t>  - </a:t>
                      </a:r>
                      <a:r>
                        <a:rPr lang="ko-KR" altLang="en-US" sz="800" dirty="0"/>
                        <a:t>입찰방법이 내역입찰</a:t>
                      </a:r>
                      <a:r>
                        <a:rPr lang="en-US" altLang="ko-KR" sz="800" dirty="0"/>
                        <a:t>(</a:t>
                      </a:r>
                      <a:r>
                        <a:rPr lang="ko-KR" altLang="en-US" sz="800" dirty="0"/>
                        <a:t>종합심사</a:t>
                      </a:r>
                      <a:r>
                        <a:rPr lang="en-US" altLang="ko-KR" sz="800" dirty="0"/>
                        <a:t>)</a:t>
                      </a:r>
                      <a:r>
                        <a:rPr lang="ko-KR" altLang="en-US" sz="800" dirty="0"/>
                        <a:t>이고</a:t>
                      </a:r>
                      <a:r>
                        <a:rPr lang="en-US" altLang="ko-KR" sz="800" dirty="0"/>
                        <a:t> </a:t>
                      </a:r>
                      <a:r>
                        <a:rPr lang="ko-KR" altLang="en-US" sz="800" dirty="0"/>
                        <a:t>공사</a:t>
                      </a:r>
                      <a:endParaRPr lang="en-US" altLang="ko-KR" sz="800" dirty="0"/>
                    </a:p>
                    <a:p>
                      <a:pPr marL="0" indent="0" algn="l" latinLnBrk="1">
                        <a:buFont typeface="Arial" panose="020B0604020202020204" pitchFamily="34" charset="0"/>
                        <a:buNone/>
                      </a:pPr>
                      <a:r>
                        <a:rPr lang="en-US" altLang="ko-KR" sz="800" dirty="0"/>
                        <a:t>    </a:t>
                      </a:r>
                      <a:r>
                        <a:rPr lang="ko-KR" altLang="en-US" sz="800" dirty="0"/>
                        <a:t>구분이 감리용역이 아닌 경우</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err="1"/>
                        <a:t>공종별</a:t>
                      </a:r>
                      <a:r>
                        <a:rPr lang="ko-KR" altLang="en-US" sz="800" dirty="0"/>
                        <a:t> 산출내역서</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latin typeface="+mn-ea"/>
                          <a:ea typeface="+mn-ea"/>
                        </a:rPr>
                        <a:t>  - </a:t>
                      </a:r>
                      <a:r>
                        <a:rPr lang="ko-KR" altLang="en-US" sz="800" dirty="0"/>
                        <a:t>입찰방법이 내역입찰</a:t>
                      </a:r>
                      <a:r>
                        <a:rPr lang="en-US" altLang="ko-KR" sz="800" dirty="0"/>
                        <a:t>(</a:t>
                      </a:r>
                      <a:r>
                        <a:rPr lang="ko-KR" altLang="en-US" sz="800" dirty="0"/>
                        <a:t>종합심사</a:t>
                      </a:r>
                      <a:r>
                        <a:rPr lang="en-US" altLang="ko-KR" sz="800" dirty="0"/>
                        <a:t>)</a:t>
                      </a:r>
                      <a:r>
                        <a:rPr lang="ko-KR" altLang="en-US" sz="800" dirty="0"/>
                        <a:t>이고</a:t>
                      </a:r>
                      <a:r>
                        <a:rPr lang="en-US" altLang="ko-KR" sz="800" dirty="0"/>
                        <a:t> </a:t>
                      </a:r>
                      <a:r>
                        <a:rPr lang="ko-KR" altLang="en-US" sz="800" dirty="0"/>
                        <a:t>공사</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t>    </a:t>
                      </a:r>
                      <a:r>
                        <a:rPr lang="ko-KR" altLang="en-US" sz="800" dirty="0"/>
                        <a:t>구분이 </a:t>
                      </a:r>
                      <a:r>
                        <a:rPr lang="ko-KR" altLang="en-US" sz="800" dirty="0" err="1"/>
                        <a:t>감리용역이고</a:t>
                      </a:r>
                      <a:r>
                        <a:rPr lang="en-US" altLang="ko-KR" sz="800" dirty="0"/>
                        <a:t>,</a:t>
                      </a:r>
                      <a:r>
                        <a:rPr lang="ko-KR" altLang="en-US" sz="800" dirty="0"/>
                        <a:t> 산출내역서 적용인 </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t>    </a:t>
                      </a:r>
                      <a:r>
                        <a:rPr lang="ko-KR" altLang="en-US" sz="800" dirty="0"/>
                        <a:t>경우</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t>기타 참조서류</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latin typeface="+mn-ea"/>
                          <a:ea typeface="+mn-ea"/>
                        </a:rPr>
                        <a:t>  - </a:t>
                      </a:r>
                      <a:r>
                        <a:rPr lang="ko-KR" altLang="en-US" sz="800" dirty="0"/>
                        <a:t>입찰방법이 내역입찰</a:t>
                      </a:r>
                      <a:r>
                        <a:rPr lang="en-US" altLang="ko-KR" sz="800" dirty="0"/>
                        <a:t>(</a:t>
                      </a:r>
                      <a:r>
                        <a:rPr lang="ko-KR" altLang="en-US" sz="800" dirty="0"/>
                        <a:t>종합심사</a:t>
                      </a:r>
                      <a:r>
                        <a:rPr lang="en-US" altLang="ko-KR" sz="800" dirty="0"/>
                        <a:t>)</a:t>
                      </a:r>
                      <a:r>
                        <a:rPr lang="ko-KR" altLang="en-US" sz="800" dirty="0"/>
                        <a:t>이고</a:t>
                      </a:r>
                      <a:r>
                        <a:rPr lang="en-US" altLang="ko-KR" sz="800" dirty="0"/>
                        <a:t> </a:t>
                      </a:r>
                      <a:r>
                        <a:rPr lang="ko-KR" altLang="en-US" sz="800" dirty="0"/>
                        <a:t>공사</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t>    </a:t>
                      </a:r>
                      <a:r>
                        <a:rPr lang="ko-KR" altLang="en-US" sz="800" dirty="0"/>
                        <a:t>구분이 </a:t>
                      </a:r>
                      <a:r>
                        <a:rPr lang="ko-KR" altLang="en-US" sz="800" dirty="0" err="1"/>
                        <a:t>감리용역이고</a:t>
                      </a:r>
                      <a:r>
                        <a:rPr lang="en-US" altLang="ko-KR" sz="800" dirty="0"/>
                        <a:t>,</a:t>
                      </a:r>
                      <a:r>
                        <a:rPr lang="ko-KR" altLang="en-US" sz="800" dirty="0"/>
                        <a:t> 산출내역서 비적용인 </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t>    </a:t>
                      </a:r>
                      <a:r>
                        <a:rPr lang="ko-KR" altLang="en-US" sz="800" dirty="0"/>
                        <a:t>경우</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파일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첨부한 파일 크기 계산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ASIS</a:t>
                      </a:r>
                      <a:r>
                        <a:rPr lang="ko-KR" altLang="en-US" sz="800" dirty="0">
                          <a:latin typeface="+mn-ea"/>
                          <a:ea typeface="+mn-ea"/>
                        </a:rPr>
                        <a:t> </a:t>
                      </a:r>
                      <a:r>
                        <a:rPr lang="en-US" altLang="ko-KR" sz="800" dirty="0">
                          <a:latin typeface="+mn-ea"/>
                          <a:ea typeface="+mn-ea"/>
                        </a:rPr>
                        <a:t>300MB,</a:t>
                      </a:r>
                      <a:r>
                        <a:rPr lang="ko-KR" altLang="en-US" sz="800" dirty="0">
                          <a:latin typeface="+mn-ea"/>
                          <a:ea typeface="+mn-ea"/>
                        </a:rPr>
                        <a:t> </a:t>
                      </a:r>
                      <a:r>
                        <a:rPr lang="en-US" altLang="ko-KR" sz="800" dirty="0">
                          <a:latin typeface="+mn-ea"/>
                          <a:ea typeface="+mn-ea"/>
                        </a:rPr>
                        <a:t>TOBE </a:t>
                      </a:r>
                      <a:r>
                        <a:rPr lang="ko-KR" altLang="en-US" sz="800" dirty="0">
                          <a:latin typeface="+mn-ea"/>
                          <a:ea typeface="+mn-ea"/>
                        </a:rPr>
                        <a:t>현행 유지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bl>
          </a:graphicData>
        </a:graphic>
      </p:graphicFrame>
      <p:sp>
        <p:nvSpPr>
          <p:cNvPr id="2" name="Text Box 73">
            <a:extLst>
              <a:ext uri="{FF2B5EF4-FFF2-40B4-BE49-F238E27FC236}">
                <a16:creationId xmlns:a16="http://schemas.microsoft.com/office/drawing/2014/main" id="{BD264276-4D60-CD16-4DCB-41E6AD75E4F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A69356F7-984F-4573-5E63-1763C014F4FA}"/>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7" name="TextBox 6">
            <a:extLst>
              <a:ext uri="{FF2B5EF4-FFF2-40B4-BE49-F238E27FC236}">
                <a16:creationId xmlns:a16="http://schemas.microsoft.com/office/drawing/2014/main" id="{B2656C1E-8F73-A3F2-DAAE-17ED7B6CF23C}"/>
              </a:ext>
            </a:extLst>
          </p:cNvPr>
          <p:cNvSpPr txBox="1"/>
          <p:nvPr/>
        </p:nvSpPr>
        <p:spPr>
          <a:xfrm>
            <a:off x="458117" y="4093161"/>
            <a:ext cx="3057495"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동가낙찰 </a:t>
            </a:r>
            <a:r>
              <a:rPr lang="ko-KR" altLang="en-US" sz="900" b="1" dirty="0" err="1">
                <a:solidFill>
                  <a:prstClr val="black"/>
                </a:solidFill>
              </a:rPr>
              <a:t>선추첨</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dmt_smprcScsbdChc</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33D4CD51-6869-553B-FA32-D6F27916ED31}"/>
              </a:ext>
            </a:extLst>
          </p:cNvPr>
          <p:cNvGraphicFramePr>
            <a:graphicFrameLocks noGrp="1"/>
          </p:cNvGraphicFramePr>
          <p:nvPr/>
        </p:nvGraphicFramePr>
        <p:xfrm>
          <a:off x="452999" y="4306979"/>
          <a:ext cx="8994883" cy="2260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err="1">
                          <a:latin typeface="+mn-ea"/>
                          <a:ea typeface="+mn-ea"/>
                        </a:rPr>
                        <a:t>자리수</a:t>
                      </a:r>
                      <a:r>
                        <a:rPr lang="en-US" altLang="ko-KR" sz="800" b="1" baseline="300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en-US" altLang="ko-KR" sz="800" dirty="0">
                          <a:latin typeface="+mn-ea"/>
                          <a:ea typeface="+mn-ea"/>
                        </a:rPr>
                        <a:t>1</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smprcScsbdChcCd1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1</a:t>
                      </a:r>
                      <a:r>
                        <a:rPr lang="ko-KR" altLang="en-US" sz="800" dirty="0">
                          <a:latin typeface="+mn-ea"/>
                          <a:ea typeface="+mn-ea"/>
                        </a:rPr>
                        <a:t>차 동가낙찰 </a:t>
                      </a:r>
                      <a:r>
                        <a:rPr lang="ko-KR" altLang="en-US" sz="800" dirty="0" err="1">
                          <a:latin typeface="+mn-ea"/>
                          <a:ea typeface="+mn-ea"/>
                        </a:rPr>
                        <a:t>선추첨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보이기</a:t>
                      </a:r>
                      <a:endParaRPr lang="en-US" altLang="ko-KR" sz="800" dirty="0">
                        <a:latin typeface="+mn-ea"/>
                        <a:ea typeface="+mn-ea"/>
                      </a:endParaRPr>
                    </a:p>
                    <a:p>
                      <a:pPr algn="l" latinLnBrk="1"/>
                      <a:r>
                        <a:rPr lang="en-US" altLang="ko-KR" sz="800" dirty="0">
                          <a:latin typeface="+mn-ea"/>
                          <a:ea typeface="+mn-ea"/>
                        </a:rPr>
                        <a:t>  - 20210415 </a:t>
                      </a:r>
                      <a:r>
                        <a:rPr lang="ko-KR" altLang="en-US" sz="800" dirty="0">
                          <a:latin typeface="+mn-ea"/>
                          <a:ea typeface="+mn-ea"/>
                        </a:rPr>
                        <a:t>이전 공고이고</a:t>
                      </a:r>
                      <a:r>
                        <a:rPr lang="en-US" altLang="ko-KR" sz="800" dirty="0">
                          <a:latin typeface="+mn-ea"/>
                          <a:ea typeface="+mn-ea"/>
                        </a:rPr>
                        <a:t>, </a:t>
                      </a:r>
                      <a:r>
                        <a:rPr lang="ko-KR" altLang="en-US" sz="800" dirty="0"/>
                        <a:t>적격심사가 </a:t>
                      </a:r>
                      <a:r>
                        <a:rPr lang="en-US" altLang="ko-KR" sz="800" dirty="0"/>
                        <a:t>‘Y’ </a:t>
                      </a:r>
                    </a:p>
                    <a:p>
                      <a:pPr algn="l" latinLnBrk="1"/>
                      <a:r>
                        <a:rPr lang="en-US" altLang="ko-KR" sz="800" dirty="0"/>
                        <a:t>    </a:t>
                      </a:r>
                      <a:r>
                        <a:rPr lang="ko-KR" altLang="en-US" sz="800" dirty="0"/>
                        <a:t>또는</a:t>
                      </a:r>
                      <a:r>
                        <a:rPr lang="en-US" altLang="ko-KR" sz="800" dirty="0"/>
                        <a:t> </a:t>
                      </a:r>
                      <a:r>
                        <a:rPr lang="ko-KR" altLang="en-US" sz="800" dirty="0"/>
                        <a:t>계약방법이 </a:t>
                      </a:r>
                      <a:r>
                        <a:rPr lang="en-US" altLang="ko-KR" sz="800" dirty="0"/>
                        <a:t>‘F(</a:t>
                      </a:r>
                      <a:r>
                        <a:rPr lang="ko-KR" altLang="en-US" sz="800" dirty="0" err="1"/>
                        <a:t>협상에의한계약</a:t>
                      </a:r>
                      <a:r>
                        <a:rPr lang="en-US" altLang="ko-KR" sz="800" dirty="0"/>
                        <a:t>(</a:t>
                      </a:r>
                      <a:r>
                        <a:rPr lang="ko-KR" altLang="en-US" sz="800" dirty="0"/>
                        <a:t>서류</a:t>
                      </a:r>
                      <a:r>
                        <a:rPr lang="en-US" altLang="ko-KR" sz="800" dirty="0"/>
                        <a:t>))’</a:t>
                      </a:r>
                    </a:p>
                    <a:p>
                      <a:pPr algn="l" latinLnBrk="1"/>
                      <a:r>
                        <a:rPr lang="en-US" altLang="ko-KR" sz="800" dirty="0"/>
                        <a:t>    </a:t>
                      </a:r>
                      <a:r>
                        <a:rPr lang="ko-KR" altLang="en-US" sz="800" dirty="0"/>
                        <a:t>또는 </a:t>
                      </a:r>
                      <a:r>
                        <a:rPr lang="en-US" altLang="ko-KR" sz="800" dirty="0"/>
                        <a:t>’J(</a:t>
                      </a:r>
                      <a:r>
                        <a:rPr lang="ko-KR" altLang="en-US" sz="800" dirty="0"/>
                        <a:t>종합낙찰제</a:t>
                      </a:r>
                      <a:r>
                        <a:rPr lang="en-US" altLang="ko-KR" sz="800" dirty="0"/>
                        <a:t>)’ </a:t>
                      </a:r>
                      <a:r>
                        <a:rPr lang="ko-KR" altLang="en-US" sz="800" dirty="0"/>
                        <a:t>또는 </a:t>
                      </a:r>
                      <a:endParaRPr lang="en-US" altLang="ko-KR" sz="800" dirty="0"/>
                    </a:p>
                    <a:p>
                      <a:pPr algn="l" latinLnBrk="1"/>
                      <a:r>
                        <a:rPr lang="en-US" altLang="ko-KR" sz="800" dirty="0"/>
                        <a:t>    ’P(</a:t>
                      </a:r>
                      <a:r>
                        <a:rPr lang="ko-KR" altLang="en-US" sz="800" dirty="0" err="1"/>
                        <a:t>협상에의한계약</a:t>
                      </a:r>
                      <a:r>
                        <a:rPr lang="en-US" altLang="ko-KR" sz="800" dirty="0"/>
                        <a:t>(</a:t>
                      </a:r>
                      <a:r>
                        <a:rPr lang="ko-KR" altLang="en-US" sz="800" dirty="0"/>
                        <a:t>전자</a:t>
                      </a:r>
                      <a:r>
                        <a:rPr lang="en-US" altLang="ko-KR" sz="800" dirty="0"/>
                        <a:t>))’</a:t>
                      </a:r>
                      <a:r>
                        <a:rPr lang="ko-KR" altLang="en-US" sz="800" dirty="0"/>
                        <a:t>이지 않은 경우 </a:t>
                      </a:r>
                      <a:endParaRPr lang="en-US" altLang="ko-KR" sz="800" dirty="0"/>
                    </a:p>
                    <a:p>
                      <a:pPr algn="l" latinLnBrk="1"/>
                      <a:endParaRPr lang="en-US" altLang="ko-KR" sz="800" dirty="0">
                        <a:latin typeface="+mn-ea"/>
                        <a:ea typeface="+mn-ea"/>
                      </a:endParaRPr>
                    </a:p>
                    <a:p>
                      <a:pPr algn="l" latinLnBrk="1"/>
                      <a:r>
                        <a:rPr lang="ko-KR" altLang="en-US" sz="800" dirty="0">
                          <a:latin typeface="+mn-ea"/>
                          <a:ea typeface="+mn-ea"/>
                        </a:rPr>
                        <a:t>숨기기</a:t>
                      </a:r>
                      <a:endParaRPr lang="en-US" altLang="ko-KR" sz="800" dirty="0">
                        <a:latin typeface="+mn-ea"/>
                        <a:ea typeface="+mn-ea"/>
                      </a:endParaRPr>
                    </a:p>
                    <a:p>
                      <a:pPr algn="l" latinLnBrk="1"/>
                      <a:r>
                        <a:rPr lang="ko-KR" altLang="en-US" sz="800" dirty="0"/>
                        <a:t>  </a:t>
                      </a:r>
                      <a:r>
                        <a:rPr lang="en-US" altLang="ko-KR" sz="800" dirty="0"/>
                        <a:t>- </a:t>
                      </a:r>
                      <a:r>
                        <a:rPr lang="ko-KR" altLang="en-US" sz="800" dirty="0"/>
                        <a:t>계약방법이 </a:t>
                      </a:r>
                      <a:r>
                        <a:rPr lang="en-US" altLang="ko-KR" sz="800" dirty="0"/>
                        <a:t>‘G’</a:t>
                      </a:r>
                      <a:r>
                        <a:rPr lang="ko-KR" altLang="en-US" sz="800" dirty="0"/>
                        <a:t>또는</a:t>
                      </a:r>
                      <a:r>
                        <a:rPr lang="en-US" altLang="ko-KR" sz="800" dirty="0"/>
                        <a:t>‘H’</a:t>
                      </a:r>
                      <a:r>
                        <a:rPr lang="ko-KR" altLang="en-US" sz="800" dirty="0"/>
                        <a:t>이고</a:t>
                      </a:r>
                      <a:r>
                        <a:rPr lang="en-US" altLang="ko-KR" sz="800" dirty="0"/>
                        <a:t> </a:t>
                      </a:r>
                      <a:r>
                        <a:rPr lang="ko-KR" altLang="en-US" sz="800" dirty="0"/>
                        <a:t>공고일자가 </a:t>
                      </a:r>
                      <a:endParaRPr lang="en-US" altLang="ko-KR" sz="800" dirty="0"/>
                    </a:p>
                    <a:p>
                      <a:pPr algn="l" latinLnBrk="1"/>
                      <a:r>
                        <a:rPr lang="en-US" altLang="ko-KR" sz="800" dirty="0"/>
                        <a:t>    2020111 </a:t>
                      </a:r>
                      <a:r>
                        <a:rPr lang="ko-KR" altLang="en-US" sz="800" dirty="0"/>
                        <a:t>이전인 경우 </a:t>
                      </a:r>
                      <a:endParaRPr lang="en-US" altLang="ko-KR" sz="800" dirty="0"/>
                    </a:p>
                    <a:p>
                      <a:pPr algn="l" latinLnBrk="1"/>
                      <a:r>
                        <a:rPr lang="en-US" altLang="ko-KR" sz="800" dirty="0">
                          <a:latin typeface="+mn-ea"/>
                          <a:ea typeface="+mn-ea"/>
                        </a:rPr>
                        <a:t>  - </a:t>
                      </a:r>
                      <a:r>
                        <a:rPr lang="ko-KR" altLang="en-US" sz="800" dirty="0">
                          <a:latin typeface="+mn-ea"/>
                          <a:ea typeface="+mn-ea"/>
                        </a:rPr>
                        <a:t>그 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en-US" altLang="ko-KR" sz="800" dirty="0">
                          <a:latin typeface="+mn-ea"/>
                          <a:ea typeface="+mn-ea"/>
                        </a:rPr>
                        <a:t>2</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smprcScsbdChcCd2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2</a:t>
                      </a:r>
                      <a:r>
                        <a:rPr lang="ko-KR" altLang="en-US" sz="800" dirty="0">
                          <a:latin typeface="+mn-ea"/>
                          <a:ea typeface="+mn-ea"/>
                        </a:rPr>
                        <a:t>차 동가낙찰 </a:t>
                      </a:r>
                      <a:r>
                        <a:rPr lang="ko-KR" altLang="en-US" sz="800" dirty="0" err="1">
                          <a:latin typeface="+mn-ea"/>
                          <a:ea typeface="+mn-ea"/>
                        </a:rPr>
                        <a:t>선추첨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246207"/>
                  </a:ext>
                </a:extLst>
              </a:tr>
              <a:tr h="0">
                <a:tc>
                  <a:txBody>
                    <a:bodyPr/>
                    <a:lstStyle/>
                    <a:p>
                      <a:pPr latinLnBrk="1"/>
                      <a:r>
                        <a:rPr lang="en-US" altLang="ko-KR" sz="800" dirty="0">
                          <a:latin typeface="+mn-ea"/>
                          <a:ea typeface="+mn-ea"/>
                        </a:rPr>
                        <a:t>3</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smprcScsbdChcCd3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3</a:t>
                      </a:r>
                      <a:r>
                        <a:rPr lang="ko-KR" altLang="en-US" sz="800" dirty="0">
                          <a:latin typeface="+mn-ea"/>
                          <a:ea typeface="+mn-ea"/>
                        </a:rPr>
                        <a:t>차 동가낙찰 </a:t>
                      </a:r>
                      <a:r>
                        <a:rPr lang="ko-KR" altLang="en-US" sz="800" dirty="0" err="1">
                          <a:latin typeface="+mn-ea"/>
                          <a:ea typeface="+mn-ea"/>
                        </a:rPr>
                        <a:t>선추첨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0365374"/>
                  </a:ext>
                </a:extLst>
              </a:tr>
              <a:tr h="0">
                <a:tc>
                  <a:txBody>
                    <a:bodyPr/>
                    <a:lstStyle/>
                    <a:p>
                      <a:pPr latinLnBrk="1"/>
                      <a:r>
                        <a:rPr lang="en-US" altLang="ko-KR" sz="800" dirty="0">
                          <a:latin typeface="+mn-ea"/>
                          <a:ea typeface="+mn-ea"/>
                        </a:rPr>
                        <a:t>4</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smprcScsbdChcCd4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4</a:t>
                      </a:r>
                      <a:r>
                        <a:rPr lang="ko-KR" altLang="en-US" sz="800" dirty="0">
                          <a:latin typeface="+mn-ea"/>
                          <a:ea typeface="+mn-ea"/>
                        </a:rPr>
                        <a:t>차 동가낙찰 </a:t>
                      </a:r>
                      <a:r>
                        <a:rPr lang="ko-KR" altLang="en-US" sz="800" dirty="0" err="1">
                          <a:latin typeface="+mn-ea"/>
                          <a:ea typeface="+mn-ea"/>
                        </a:rPr>
                        <a:t>선추첨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5503186"/>
                  </a:ext>
                </a:extLst>
              </a:tr>
              <a:tr h="0">
                <a:tc>
                  <a:txBody>
                    <a:bodyPr/>
                    <a:lstStyle/>
                    <a:p>
                      <a:pPr latinLnBrk="1"/>
                      <a:r>
                        <a:rPr lang="en-US" altLang="ko-KR" sz="800" dirty="0">
                          <a:latin typeface="+mn-ea"/>
                          <a:ea typeface="+mn-ea"/>
                        </a:rPr>
                        <a:t>5</a:t>
                      </a:r>
                      <a:r>
                        <a:rPr lang="ko-KR" altLang="en-US" sz="800" dirty="0">
                          <a:latin typeface="+mn-ea"/>
                          <a:ea typeface="+mn-ea"/>
                        </a:rPr>
                        <a:t>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smprcScsbdChcCd5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5</a:t>
                      </a:r>
                      <a:r>
                        <a:rPr lang="ko-KR" altLang="en-US" sz="800" dirty="0">
                          <a:latin typeface="+mn-ea"/>
                          <a:ea typeface="+mn-ea"/>
                        </a:rPr>
                        <a:t>차 동가낙찰 </a:t>
                      </a:r>
                      <a:r>
                        <a:rPr lang="ko-KR" altLang="en-US" sz="800" dirty="0" err="1">
                          <a:latin typeface="+mn-ea"/>
                          <a:ea typeface="+mn-ea"/>
                        </a:rPr>
                        <a:t>선추첨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4466983"/>
                  </a:ext>
                </a:extLst>
              </a:tr>
            </a:tbl>
          </a:graphicData>
        </a:graphic>
      </p:graphicFrame>
    </p:spTree>
    <p:extLst>
      <p:ext uri="{BB962C8B-B14F-4D97-AF65-F5344CB8AC3E}">
        <p14:creationId xmlns:p14="http://schemas.microsoft.com/office/powerpoint/2010/main" val="234020649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130</a:t>
            </a:fld>
            <a:endParaRPr lang="ko-KR" altLang="en-US" dirty="0"/>
          </a:p>
        </p:txBody>
      </p:sp>
      <p:sp>
        <p:nvSpPr>
          <p:cNvPr id="8" name="TextBox 7">
            <a:extLst>
              <a:ext uri="{FF2B5EF4-FFF2-40B4-BE49-F238E27FC236}">
                <a16:creationId xmlns:a16="http://schemas.microsoft.com/office/drawing/2014/main" id="{BE64A40E-36E5-D82E-982F-57A33FB9CD0D}"/>
              </a:ext>
            </a:extLst>
          </p:cNvPr>
          <p:cNvSpPr txBox="1"/>
          <p:nvPr/>
        </p:nvSpPr>
        <p:spPr>
          <a:xfrm>
            <a:off x="458117" y="760911"/>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9" name="표 8">
            <a:extLst>
              <a:ext uri="{FF2B5EF4-FFF2-40B4-BE49-F238E27FC236}">
                <a16:creationId xmlns:a16="http://schemas.microsoft.com/office/drawing/2014/main" id="{15AC88EF-EABE-8FA0-2ABC-A28F9B4F62F2}"/>
              </a:ext>
            </a:extLst>
          </p:cNvPr>
          <p:cNvGraphicFramePr>
            <a:graphicFrameLocks noGrp="1"/>
          </p:cNvGraphicFramePr>
          <p:nvPr>
            <p:extLst>
              <p:ext uri="{D42A27DB-BD31-4B8C-83A1-F6EECF244321}">
                <p14:modId xmlns:p14="http://schemas.microsoft.com/office/powerpoint/2010/main" val="1522633931"/>
              </p:ext>
            </p:extLst>
          </p:nvPr>
        </p:nvGraphicFramePr>
        <p:xfrm>
          <a:off x="453000" y="1039042"/>
          <a:ext cx="8995591" cy="277056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공고일반</a:t>
                      </a:r>
                      <a:r>
                        <a:rPr lang="en-US" altLang="ko-KR" sz="800" dirty="0">
                          <a:latin typeface="+mn-ea"/>
                          <a:ea typeface="+mn-ea"/>
                        </a:rPr>
                        <a:t>, </a:t>
                      </a:r>
                      <a:r>
                        <a:rPr lang="ko-KR" altLang="en-US" sz="800" dirty="0">
                          <a:latin typeface="+mn-ea"/>
                          <a:ea typeface="+mn-ea"/>
                        </a:rPr>
                        <a:t>업체내역</a:t>
                      </a:r>
                      <a:r>
                        <a:rPr lang="en-US" altLang="ko-KR" sz="800" dirty="0">
                          <a:latin typeface="+mn-ea"/>
                          <a:ea typeface="+mn-ea"/>
                        </a:rPr>
                        <a:t> </a:t>
                      </a:r>
                      <a:r>
                        <a:rPr lang="ko-KR" altLang="en-US" sz="800" dirty="0">
                          <a:latin typeface="+mn-ea"/>
                          <a:ea typeface="+mn-ea"/>
                        </a:rPr>
                        <a:t>조회</a:t>
                      </a:r>
                      <a:endParaRPr lang="en-US" altLang="ko-KR" sz="800" dirty="0">
                        <a:latin typeface="+mn-ea"/>
                        <a:ea typeface="+mn-ea"/>
                      </a:endParaRPr>
                    </a:p>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입찰서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err="1">
                          <a:latin typeface="+mn-ea"/>
                          <a:ea typeface="+mn-ea"/>
                        </a:rPr>
                        <a:t>pdb</a:t>
                      </a:r>
                      <a:r>
                        <a:rPr lang="en-US" altLang="ko-KR" sz="800" dirty="0">
                          <a:latin typeface="+mn-ea"/>
                          <a:ea typeface="+mn-ea"/>
                        </a:rPr>
                        <a:t> : </a:t>
                      </a:r>
                      <a:r>
                        <a:rPr lang="en-US" altLang="ko-KR" sz="800" dirty="0" err="1">
                          <a:latin typeface="+mn-ea"/>
                          <a:ea typeface="+mn-ea"/>
                        </a:rPr>
                        <a:t>bidInfoRebidRegi.jsp</a:t>
                      </a:r>
                      <a:r>
                        <a:rPr lang="en-US" altLang="ko-KR" sz="800" dirty="0">
                          <a:latin typeface="+mn-ea"/>
                          <a:ea typeface="+mn-ea"/>
                        </a:rPr>
                        <a:t>, </a:t>
                      </a:r>
                      <a:r>
                        <a:rPr lang="en-US" altLang="ko-KR" sz="800" dirty="0" err="1">
                          <a:latin typeface="+mn-ea"/>
                          <a:ea typeface="+mn-ea"/>
                        </a:rPr>
                        <a:t>bidInfoRebidView.jsp</a:t>
                      </a:r>
                      <a:endParaRPr lang="en-US" altLang="ko-KR" sz="800" dirty="0">
                        <a:latin typeface="+mn-ea"/>
                        <a:ea typeface="+mn-ea"/>
                      </a:endParaRPr>
                    </a:p>
                    <a:p>
                      <a:pPr marL="0" indent="0" algn="l" latinLnBrk="1">
                        <a:buFont typeface="Arial" panose="020B0604020202020204" pitchFamily="34" charset="0"/>
                        <a:buNone/>
                      </a:pPr>
                      <a:r>
                        <a:rPr lang="en-US" altLang="ko-KR" sz="800" kern="1200" dirty="0">
                          <a:solidFill>
                            <a:schemeClr val="tx1"/>
                          </a:solidFill>
                          <a:latin typeface="+mn-ea"/>
                          <a:ea typeface="+mn-ea"/>
                          <a:cs typeface="+mn-cs"/>
                        </a:rPr>
                        <a:t>       </a:t>
                      </a:r>
                      <a:r>
                        <a:rPr lang="en-US" altLang="ko-KR" sz="800" kern="1200" dirty="0" err="1">
                          <a:solidFill>
                            <a:schemeClr val="tx1"/>
                          </a:solidFill>
                          <a:latin typeface="+mn-ea"/>
                          <a:ea typeface="+mn-ea"/>
                          <a:cs typeface="+mn-cs"/>
                        </a:rPr>
                        <a:t>bidInfoUnitRebidRegi.jsp</a:t>
                      </a:r>
                      <a:r>
                        <a:rPr lang="en-US" altLang="ko-KR" sz="800" kern="1200" dirty="0">
                          <a:solidFill>
                            <a:schemeClr val="tx1"/>
                          </a:solidFill>
                          <a:latin typeface="+mn-ea"/>
                          <a:ea typeface="+mn-ea"/>
                          <a:cs typeface="+mn-cs"/>
                        </a:rPr>
                        <a:t>, </a:t>
                      </a:r>
                      <a:r>
                        <a:rPr lang="en-US" altLang="ko-KR" sz="800" kern="1200" dirty="0" err="1">
                          <a:solidFill>
                            <a:schemeClr val="tx1"/>
                          </a:solidFill>
                          <a:latin typeface="+mn-ea"/>
                          <a:ea typeface="+mn-ea"/>
                          <a:cs typeface="+mn-cs"/>
                        </a:rPr>
                        <a:t>bidInfoUnitRebidView.jsp</a:t>
                      </a:r>
                      <a:endParaRPr lang="en-US" altLang="ko-KR" sz="800" kern="1200" dirty="0">
                        <a:solidFill>
                          <a:schemeClr val="tx1"/>
                        </a:solidFill>
                        <a:latin typeface="+mn-ea"/>
                        <a:ea typeface="+mn-ea"/>
                        <a:cs typeface="+mn-cs"/>
                      </a:endParaRPr>
                    </a:p>
                    <a:p>
                      <a:pPr marL="0" indent="0" algn="l" latinLnBrk="1">
                        <a:buFont typeface="Arial" panose="020B0604020202020204" pitchFamily="34" charset="0"/>
                        <a:buNone/>
                      </a:pPr>
                      <a:r>
                        <a:rPr lang="en-US" altLang="ko-KR" sz="800" dirty="0" err="1">
                          <a:latin typeface="+mn-ea"/>
                          <a:ea typeface="+mn-ea"/>
                        </a:rPr>
                        <a:t>peb</a:t>
                      </a:r>
                      <a:r>
                        <a:rPr lang="en-US" altLang="ko-KR" sz="800" dirty="0">
                          <a:latin typeface="+mn-ea"/>
                          <a:ea typeface="+mn-ea"/>
                        </a:rPr>
                        <a:t> : </a:t>
                      </a:r>
                      <a:r>
                        <a:rPr lang="en-US" altLang="ko-KR" sz="800" kern="1200" dirty="0" err="1">
                          <a:solidFill>
                            <a:schemeClr val="tx1"/>
                          </a:solidFill>
                          <a:latin typeface="+mn-ea"/>
                          <a:ea typeface="+mn-ea"/>
                          <a:cs typeface="+mn-cs"/>
                        </a:rPr>
                        <a:t>bidInfoRebidRegi.jsp</a:t>
                      </a:r>
                      <a:r>
                        <a:rPr lang="en-US" altLang="ko-KR" sz="800" kern="1200" dirty="0">
                          <a:solidFill>
                            <a:schemeClr val="tx1"/>
                          </a:solidFill>
                          <a:latin typeface="+mn-ea"/>
                          <a:ea typeface="+mn-ea"/>
                          <a:cs typeface="+mn-cs"/>
                        </a:rPr>
                        <a:t>, </a:t>
                      </a:r>
                      <a:r>
                        <a:rPr lang="en-US" altLang="ko-KR" sz="800" kern="1200" dirty="0" err="1">
                          <a:solidFill>
                            <a:schemeClr val="tx1"/>
                          </a:solidFill>
                          <a:latin typeface="+mn-ea"/>
                          <a:ea typeface="+mn-ea"/>
                          <a:cs typeface="+mn-cs"/>
                        </a:rPr>
                        <a:t>bidInfoView.jsp</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제출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scwin.btn_tndrSbmsn_onclick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입찰서 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err="1">
                          <a:latin typeface="+mn-ea"/>
                          <a:ea typeface="+mn-ea"/>
                        </a:rPr>
                        <a:t>중복투찰제한</a:t>
                      </a:r>
                      <a:endParaRPr lang="en-US" altLang="ko-KR" sz="800" dirty="0">
                        <a:latin typeface="+mn-ea"/>
                        <a:ea typeface="+mn-ea"/>
                      </a:endParaRPr>
                    </a:p>
                    <a:p>
                      <a:pPr marL="0" indent="0" algn="l" latinLnBrk="1">
                        <a:buFont typeface="Arial" panose="020B0604020202020204" pitchFamily="34" charset="0"/>
                        <a:buNone/>
                      </a:pPr>
                      <a:r>
                        <a:rPr lang="ko-KR" altLang="en-US" sz="800" dirty="0" err="1">
                          <a:latin typeface="+mn-ea"/>
                          <a:ea typeface="+mn-ea"/>
                        </a:rPr>
                        <a:t>투찰금액</a:t>
                      </a:r>
                      <a:r>
                        <a:rPr lang="ko-KR" altLang="en-US" sz="800" dirty="0">
                          <a:latin typeface="+mn-ea"/>
                          <a:ea typeface="+mn-ea"/>
                        </a:rPr>
                        <a:t> 검증</a:t>
                      </a:r>
                      <a:endParaRPr lang="en-US" altLang="ko-KR" sz="800" dirty="0">
                        <a:latin typeface="+mn-ea"/>
                        <a:ea typeface="+mn-ea"/>
                      </a:endParaRPr>
                    </a:p>
                    <a:p>
                      <a:pPr marL="0" indent="0" algn="l" latinLnBrk="1">
                        <a:buFont typeface="Arial" panose="020B0604020202020204" pitchFamily="34" charset="0"/>
                        <a:buNone/>
                      </a:pPr>
                      <a:r>
                        <a:rPr lang="ko-KR" altLang="en-US" sz="800" dirty="0" err="1">
                          <a:latin typeface="+mn-ea"/>
                          <a:ea typeface="+mn-ea"/>
                        </a:rPr>
                        <a:t>투찰금액</a:t>
                      </a:r>
                      <a:r>
                        <a:rPr lang="ko-KR" altLang="en-US" sz="800" dirty="0">
                          <a:latin typeface="+mn-ea"/>
                          <a:ea typeface="+mn-ea"/>
                        </a:rPr>
                        <a:t> 암호화</a:t>
                      </a:r>
                      <a:endParaRPr lang="en-US" altLang="ko-KR" sz="800" dirty="0">
                        <a:latin typeface="+mn-ea"/>
                        <a:ea typeface="+mn-ea"/>
                      </a:endParaRPr>
                    </a:p>
                    <a:p>
                      <a:pPr marL="0" indent="0" algn="l" latinLnBrk="1">
                        <a:buFont typeface="Arial" panose="020B0604020202020204" pitchFamily="34" charset="0"/>
                        <a:buNone/>
                      </a:pPr>
                      <a:r>
                        <a:rPr lang="ko-KR" altLang="en-US" sz="800" dirty="0">
                          <a:latin typeface="+mn-ea"/>
                          <a:ea typeface="+mn-ea"/>
                        </a:rPr>
                        <a:t>입찰차수별 키 생성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1905917"/>
                  </a:ext>
                </a:extLst>
              </a:tr>
              <a:tr h="0">
                <a:tc>
                  <a:txBody>
                    <a:bodyPr/>
                    <a:lstStyle/>
                    <a:p>
                      <a:r>
                        <a:rPr lang="ko-KR" altLang="en-US" sz="800" dirty="0"/>
                        <a:t>입찰포기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scwin.btn_bidAbndAply_onclick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입찰포기신청서 작성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dirty="0">
                          <a:latin typeface="+mn-ea"/>
                          <a:ea typeface="+mn-ea"/>
                        </a:rPr>
                        <a:t>입찰서 제출 전</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ea"/>
                          <a:ea typeface="+mn-ea"/>
                          <a:cs typeface="+mn-cs"/>
                        </a:rPr>
                        <a:t>(UI-BD-06-P02) </a:t>
                      </a:r>
                      <a:r>
                        <a:rPr lang="ko-KR" altLang="en-US" sz="800" b="0" i="0" kern="1200" dirty="0">
                          <a:solidFill>
                            <a:schemeClr val="tx1"/>
                          </a:solidFill>
                          <a:effectLst/>
                          <a:latin typeface="+mn-ea"/>
                          <a:ea typeface="+mn-ea"/>
                          <a:cs typeface="+mn-cs"/>
                        </a:rPr>
                        <a:t>입찰포기신청서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0911127"/>
                  </a:ext>
                </a:extLst>
              </a:tr>
              <a:tr h="0">
                <a:tc>
                  <a:txBody>
                    <a:bodyPr/>
                    <a:lstStyle/>
                    <a:p>
                      <a:r>
                        <a:rPr lang="ko-KR" altLang="en-US" sz="800" dirty="0" err="1"/>
                        <a:t>입찰포기신청서조회</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scwin.btn_bidAbndApfrInq_onclick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입찰포기신청서 조회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ea"/>
                          <a:ea typeface="+mn-ea"/>
                          <a:cs typeface="+mn-cs"/>
                        </a:rPr>
                        <a:t>(UI-BD-06-P02) </a:t>
                      </a:r>
                      <a:r>
                        <a:rPr lang="ko-KR" altLang="en-US" sz="800" b="0" i="0" kern="1200" dirty="0">
                          <a:solidFill>
                            <a:schemeClr val="tx1"/>
                          </a:solidFill>
                          <a:effectLst/>
                          <a:latin typeface="+mn-ea"/>
                          <a:ea typeface="+mn-ea"/>
                          <a:cs typeface="+mn-cs"/>
                        </a:rPr>
                        <a:t>입찰포기신청서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6854654"/>
                  </a:ext>
                </a:extLst>
              </a:tr>
              <a:tr h="0">
                <a:tc>
                  <a:txBody>
                    <a:bodyPr/>
                    <a:lstStyle/>
                    <a:p>
                      <a:r>
                        <a:rPr lang="ko-KR" altLang="en-US" sz="800" dirty="0"/>
                        <a:t>입찰취소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scwin.btn_bidRtrcnAply_onclick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입찰취소신청서 작성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ko-KR" altLang="en-US" sz="800" dirty="0"/>
                        <a:t>입찰서 제출 후</a:t>
                      </a:r>
                      <a:r>
                        <a:rPr lang="en-US" altLang="ko-KR" sz="800" dirty="0"/>
                        <a:t>, </a:t>
                      </a:r>
                      <a:r>
                        <a:rPr lang="ko-KR" altLang="en-US" sz="800" dirty="0"/>
                        <a:t>개찰예정일시 전</a:t>
                      </a:r>
                      <a:endParaRPr lang="en-US" altLang="ko-KR" sz="800" dirty="0"/>
                    </a:p>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kern="1200" dirty="0">
                          <a:solidFill>
                            <a:schemeClr val="tx1"/>
                          </a:solidFill>
                          <a:effectLst/>
                          <a:latin typeface="+mn-ea"/>
                          <a:ea typeface="+mn-ea"/>
                          <a:cs typeface="+mn-cs"/>
                        </a:rPr>
                        <a:t>(UI-BD-06-P03) </a:t>
                      </a:r>
                      <a:r>
                        <a:rPr lang="ko-KR" altLang="en-US" sz="800" b="0" i="0" kern="1200" dirty="0">
                          <a:solidFill>
                            <a:schemeClr val="tx1"/>
                          </a:solidFill>
                          <a:effectLst/>
                          <a:latin typeface="+mn-ea"/>
                          <a:ea typeface="+mn-ea"/>
                          <a:cs typeface="+mn-cs"/>
                        </a:rPr>
                        <a:t>입찰취소신청서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2868905"/>
                  </a:ext>
                </a:extLst>
              </a:tr>
              <a:tr h="0">
                <a:tc>
                  <a:txBody>
                    <a:bodyPr/>
                    <a:lstStyle/>
                    <a:p>
                      <a:r>
                        <a:rPr lang="ko-KR" altLang="en-US" sz="800" dirty="0" err="1"/>
                        <a:t>입찰취소신청서조회</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scwin.btn_bidRtrcnApfrInq_onclick</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입찰취소신청서 조회 팝업 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b="0" i="0" kern="1200" dirty="0">
                          <a:solidFill>
                            <a:schemeClr val="tx1"/>
                          </a:solidFill>
                          <a:effectLst/>
                          <a:latin typeface="+mn-ea"/>
                          <a:ea typeface="+mn-ea"/>
                          <a:cs typeface="+mn-cs"/>
                        </a:rPr>
                        <a:t>(UI-BD-06-P03) </a:t>
                      </a:r>
                      <a:r>
                        <a:rPr lang="ko-KR" altLang="en-US" sz="800" b="0" i="0" kern="1200" dirty="0">
                          <a:solidFill>
                            <a:schemeClr val="tx1"/>
                          </a:solidFill>
                          <a:effectLst/>
                          <a:latin typeface="+mn-ea"/>
                          <a:ea typeface="+mn-ea"/>
                          <a:cs typeface="+mn-cs"/>
                        </a:rPr>
                        <a:t>입찰취소신청서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19856"/>
                  </a:ext>
                </a:extLst>
              </a:tr>
              <a:tr h="0">
                <a:tc>
                  <a:txBody>
                    <a:bodyPr/>
                    <a:lstStyle/>
                    <a:p>
                      <a:r>
                        <a:rPr lang="ko-KR" altLang="en-US" sz="800" dirty="0" err="1"/>
                        <a:t>다시쓰기</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t>scwin.btn_reset_onclick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입찰금액</a:t>
                      </a:r>
                      <a:r>
                        <a:rPr lang="en-US" altLang="ko-KR" sz="800" dirty="0">
                          <a:latin typeface="+mn-ea"/>
                          <a:ea typeface="+mn-ea"/>
                        </a:rPr>
                        <a:t>, </a:t>
                      </a:r>
                      <a:r>
                        <a:rPr lang="ko-KR" altLang="en-US" sz="800" dirty="0">
                          <a:latin typeface="+mn-ea"/>
                          <a:ea typeface="+mn-ea"/>
                        </a:rPr>
                        <a:t>복수예비가격 선택 초기화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3052272"/>
                  </a:ext>
                </a:extLst>
              </a:tr>
            </a:tbl>
          </a:graphicData>
        </a:graphic>
      </p:graphicFrame>
      <p:sp>
        <p:nvSpPr>
          <p:cNvPr id="10" name="Text Box 73">
            <a:extLst>
              <a:ext uri="{FF2B5EF4-FFF2-40B4-BE49-F238E27FC236}">
                <a16:creationId xmlns:a16="http://schemas.microsoft.com/office/drawing/2014/main" id="{DC7AE4E9-B4EB-D6F6-15F8-76DA74F8CD94}"/>
              </a:ext>
            </a:extLst>
          </p:cNvPr>
          <p:cNvSpPr txBox="1">
            <a:spLocks noChangeArrowheads="1"/>
          </p:cNvSpPr>
          <p:nvPr/>
        </p:nvSpPr>
        <p:spPr bwMode="auto">
          <a:xfrm>
            <a:off x="7769866" y="82802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3444380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0" indent="0">
              <a:buNone/>
            </a:pPr>
            <a:endParaRPr lang="en-US" altLang="ko-KR" dirty="0"/>
          </a:p>
          <a:p>
            <a:pPr marL="228600" indent="-228600">
              <a:buFont typeface="+mj-lt"/>
              <a:buAutoNum type="arabicPeriod"/>
            </a:pPr>
            <a:r>
              <a:rPr lang="ko-KR" altLang="en-US" dirty="0"/>
              <a:t>전자서명 진행 표시</a:t>
            </a:r>
            <a:r>
              <a:rPr lang="en-US" altLang="ko-KR" dirty="0"/>
              <a:t/>
            </a:r>
            <a:br>
              <a:rPr lang="en-US" altLang="ko-KR" dirty="0"/>
            </a:br>
            <a:r>
              <a:rPr lang="en-US" altLang="ko-KR" dirty="0"/>
              <a:t>- </a:t>
            </a:r>
            <a:r>
              <a:rPr lang="ko-KR" altLang="en-US" dirty="0"/>
              <a:t>사전심사</a:t>
            </a:r>
            <a:r>
              <a:rPr lang="en-US" altLang="ko-KR" dirty="0"/>
              <a:t>(PQ), </a:t>
            </a:r>
            <a:r>
              <a:rPr lang="ko-KR" altLang="en-US" dirty="0"/>
              <a:t>입찰참가신청</a:t>
            </a:r>
            <a:r>
              <a:rPr lang="en-US" altLang="ko-KR" dirty="0"/>
              <a:t>, </a:t>
            </a:r>
            <a:r>
              <a:rPr lang="ko-KR" altLang="en-US" dirty="0"/>
              <a:t>입찰서에 전자서명 처리 화면</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131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전자서명</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신청 </a:t>
            </a:r>
            <a:r>
              <a:rPr lang="ko-KR" altLang="en-US" dirty="0"/>
              <a:t>프로세스 중 </a:t>
            </a:r>
            <a:r>
              <a:rPr lang="ko-KR" altLang="en-US" dirty="0">
                <a:latin typeface="+mn-ea"/>
              </a:rPr>
              <a:t>전자서명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a:latin typeface="+mn-ea"/>
              </a:rPr>
              <a:t>전자서명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MUI-BD-04-M21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타원 194">
            <a:extLst>
              <a:ext uri="{FF2B5EF4-FFF2-40B4-BE49-F238E27FC236}">
                <a16:creationId xmlns:a16="http://schemas.microsoft.com/office/drawing/2014/main" id="{37A7FF4F-0EAA-1463-560A-D5EC24416103}"/>
              </a:ext>
            </a:extLst>
          </p:cNvPr>
          <p:cNvSpPr/>
          <p:nvPr/>
        </p:nvSpPr>
        <p:spPr>
          <a:xfrm>
            <a:off x="571127" y="27313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93" name="그룹 92"/>
          <p:cNvGrpSpPr/>
          <p:nvPr/>
        </p:nvGrpSpPr>
        <p:grpSpPr>
          <a:xfrm>
            <a:off x="675399" y="1578465"/>
            <a:ext cx="2712027" cy="508898"/>
            <a:chOff x="3795734" y="1602341"/>
            <a:chExt cx="2712027" cy="508898"/>
          </a:xfrm>
        </p:grpSpPr>
        <p:sp>
          <p:nvSpPr>
            <p:cNvPr id="9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95" name="모서리가 둥근 직사각형 9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96" name="모서리가 둥근 직사각형 9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9" name="TextBox 178">
            <a:extLst>
              <a:ext uri="{FF2B5EF4-FFF2-40B4-BE49-F238E27FC236}">
                <a16:creationId xmlns:a16="http://schemas.microsoft.com/office/drawing/2014/main" id="{FFC49AEA-2A8F-250C-A86A-A7751D9706C3}"/>
              </a:ext>
            </a:extLst>
          </p:cNvPr>
          <p:cNvSpPr txBox="1"/>
          <p:nvPr/>
        </p:nvSpPr>
        <p:spPr>
          <a:xfrm>
            <a:off x="764658" y="3127233"/>
            <a:ext cx="2497672" cy="396583"/>
          </a:xfrm>
          <a:prstGeom prst="rect">
            <a:avLst/>
          </a:prstGeom>
          <a:noFill/>
        </p:spPr>
        <p:txBody>
          <a:bodyPr wrap="square" lIns="0" tIns="0" rIns="0" bIns="0" rtlCol="0">
            <a:spAutoFit/>
          </a:bodyPr>
          <a:lstStyle/>
          <a:p>
            <a:pPr algn="ctr">
              <a:lnSpc>
                <a:spcPct val="200000"/>
              </a:lnSpc>
            </a:pPr>
            <a:r>
              <a:rPr lang="ko-KR" altLang="en-US" sz="700" dirty="0">
                <a:latin typeface="+mn-ea"/>
              </a:rPr>
              <a:t>전자서명 창이 닫혔을 경우 아래 버튼을 통해</a:t>
            </a:r>
            <a:endParaRPr lang="en-US" altLang="ko-KR" sz="700" dirty="0">
              <a:latin typeface="+mn-ea"/>
            </a:endParaRPr>
          </a:p>
          <a:p>
            <a:pPr algn="ctr">
              <a:lnSpc>
                <a:spcPct val="200000"/>
              </a:lnSpc>
            </a:pPr>
            <a:r>
              <a:rPr lang="ko-KR" altLang="en-US" sz="700" dirty="0">
                <a:latin typeface="+mn-ea"/>
              </a:rPr>
              <a:t>전자 서명을 다시 띄울 수 있습니다</a:t>
            </a:r>
            <a:r>
              <a:rPr lang="en-US" altLang="ko-KR" sz="700" dirty="0">
                <a:latin typeface="+mn-ea"/>
              </a:rPr>
              <a:t>.</a:t>
            </a:r>
            <a:endParaRPr lang="ko-KR" altLang="en-US" sz="700" dirty="0">
              <a:latin typeface="+mn-ea"/>
            </a:endParaRPr>
          </a:p>
        </p:txBody>
      </p:sp>
      <p:sp>
        <p:nvSpPr>
          <p:cNvPr id="238" name="모서리가 둥근 직사각형 23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68" name="TextBox 67">
            <a:extLst>
              <a:ext uri="{FF2B5EF4-FFF2-40B4-BE49-F238E27FC236}">
                <a16:creationId xmlns:a16="http://schemas.microsoft.com/office/drawing/2014/main" id="{FFC49AEA-2A8F-250C-A86A-A7751D9706C3}"/>
              </a:ext>
            </a:extLst>
          </p:cNvPr>
          <p:cNvSpPr txBox="1"/>
          <p:nvPr/>
        </p:nvSpPr>
        <p:spPr>
          <a:xfrm>
            <a:off x="764658" y="2690414"/>
            <a:ext cx="2497672" cy="258789"/>
          </a:xfrm>
          <a:prstGeom prst="rect">
            <a:avLst/>
          </a:prstGeom>
          <a:noFill/>
        </p:spPr>
        <p:txBody>
          <a:bodyPr wrap="square" lIns="0" tIns="0" rIns="0" bIns="0" rtlCol="0">
            <a:spAutoFit/>
          </a:bodyPr>
          <a:lstStyle/>
          <a:p>
            <a:pPr algn="ctr">
              <a:lnSpc>
                <a:spcPct val="200000"/>
              </a:lnSpc>
            </a:pPr>
            <a:r>
              <a:rPr lang="ko-KR" altLang="en-US" sz="1000" b="1" dirty="0">
                <a:latin typeface="+mn-ea"/>
              </a:rPr>
              <a:t>전자서명을 진행합니다</a:t>
            </a:r>
            <a:r>
              <a:rPr lang="en-US" altLang="ko-KR" sz="1000" b="1" dirty="0">
                <a:latin typeface="+mn-ea"/>
              </a:rPr>
              <a:t>.</a:t>
            </a:r>
            <a:endParaRPr lang="ko-KR" altLang="en-US" sz="1000" b="1" dirty="0">
              <a:latin typeface="+mn-ea"/>
            </a:endParaRPr>
          </a:p>
        </p:txBody>
      </p:sp>
      <p:sp>
        <p:nvSpPr>
          <p:cNvPr id="75" name="사각형: 둥근 모서리 15">
            <a:extLst>
              <a:ext uri="{FF2B5EF4-FFF2-40B4-BE49-F238E27FC236}">
                <a16:creationId xmlns:a16="http://schemas.microsoft.com/office/drawing/2014/main" id="{E2B61CFB-AD16-68D0-8752-50D9C5E01971}"/>
              </a:ext>
            </a:extLst>
          </p:cNvPr>
          <p:cNvSpPr/>
          <p:nvPr/>
        </p:nvSpPr>
        <p:spPr>
          <a:xfrm>
            <a:off x="1072005" y="4794205"/>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전자서명 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76" name="직사각형 7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7" name="직선 연결선 76">
            <a:extLst>
              <a:ext uri="{FF2B5EF4-FFF2-40B4-BE49-F238E27FC236}">
                <a16:creationId xmlns:a16="http://schemas.microsoft.com/office/drawing/2014/main" id="{E9293055-D5CD-4B9E-7F64-64B2D2CA7A52}"/>
              </a:ext>
            </a:extLst>
          </p:cNvPr>
          <p:cNvCxnSpPr/>
          <p:nvPr/>
        </p:nvCxnSpPr>
        <p:spPr>
          <a:xfrm>
            <a:off x="3795734"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8" name="그룹 77"/>
          <p:cNvGrpSpPr/>
          <p:nvPr/>
        </p:nvGrpSpPr>
        <p:grpSpPr>
          <a:xfrm>
            <a:off x="6258712" y="1650089"/>
            <a:ext cx="94010" cy="94010"/>
            <a:chOff x="6812560" y="3297172"/>
            <a:chExt cx="94010" cy="94010"/>
          </a:xfrm>
        </p:grpSpPr>
        <p:cxnSp>
          <p:nvCxnSpPr>
            <p:cNvPr id="79" name="직선 연결선 7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80" name="직선 연결선 7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81" name="TextBox 80">
            <a:extLst>
              <a:ext uri="{FF2B5EF4-FFF2-40B4-BE49-F238E27FC236}">
                <a16:creationId xmlns:a16="http://schemas.microsoft.com/office/drawing/2014/main" id="{FFC49AEA-2A8F-250C-A86A-A7751D9706C3}"/>
              </a:ext>
            </a:extLst>
          </p:cNvPr>
          <p:cNvSpPr txBox="1"/>
          <p:nvPr/>
        </p:nvSpPr>
        <p:spPr>
          <a:xfrm>
            <a:off x="3898850" y="1630768"/>
            <a:ext cx="1798758" cy="138499"/>
          </a:xfrm>
          <a:prstGeom prst="rect">
            <a:avLst/>
          </a:prstGeom>
          <a:noFill/>
        </p:spPr>
        <p:txBody>
          <a:bodyPr wrap="square" lIns="0" tIns="0" rIns="0" bIns="0" rtlCol="0">
            <a:spAutoFit/>
          </a:bodyPr>
          <a:lstStyle/>
          <a:p>
            <a:r>
              <a:rPr lang="ko-KR" altLang="en-US" sz="900" dirty="0">
                <a:latin typeface="+mn-ea"/>
              </a:rPr>
              <a:t>전자서명</a:t>
            </a:r>
          </a:p>
        </p:txBody>
      </p:sp>
      <p:sp>
        <p:nvSpPr>
          <p:cNvPr id="82" name="TextBox 81">
            <a:extLst>
              <a:ext uri="{FF2B5EF4-FFF2-40B4-BE49-F238E27FC236}">
                <a16:creationId xmlns:a16="http://schemas.microsoft.com/office/drawing/2014/main" id="{FFC49AEA-2A8F-250C-A86A-A7751D9706C3}"/>
              </a:ext>
            </a:extLst>
          </p:cNvPr>
          <p:cNvSpPr txBox="1"/>
          <p:nvPr/>
        </p:nvSpPr>
        <p:spPr>
          <a:xfrm>
            <a:off x="3898850" y="1956832"/>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인증서 목록</a:t>
            </a:r>
          </a:p>
        </p:txBody>
      </p:sp>
      <p:sp>
        <p:nvSpPr>
          <p:cNvPr id="83" name="TextBox 82">
            <a:extLst>
              <a:ext uri="{FF2B5EF4-FFF2-40B4-BE49-F238E27FC236}">
                <a16:creationId xmlns:a16="http://schemas.microsoft.com/office/drawing/2014/main" id="{FFC49AEA-2A8F-250C-A86A-A7751D9706C3}"/>
              </a:ext>
            </a:extLst>
          </p:cNvPr>
          <p:cNvSpPr txBox="1"/>
          <p:nvPr/>
        </p:nvSpPr>
        <p:spPr>
          <a:xfrm>
            <a:off x="3898850" y="2185197"/>
            <a:ext cx="670770" cy="678647"/>
          </a:xfrm>
          <a:prstGeom prst="rect">
            <a:avLst/>
          </a:prstGeom>
          <a:noFill/>
        </p:spPr>
        <p:txBody>
          <a:bodyPr wrap="square" lIns="0" tIns="0" rIns="0" bIns="0" rtlCol="0">
            <a:spAutoFit/>
          </a:bodyPr>
          <a:lstStyle/>
          <a:p>
            <a:pPr>
              <a:lnSpc>
                <a:spcPct val="210000"/>
              </a:lnSpc>
            </a:pPr>
            <a:r>
              <a:rPr lang="ko-KR" altLang="en-US" sz="700" dirty="0">
                <a:latin typeface="+mn-ea"/>
              </a:rPr>
              <a:t>인증서 </a:t>
            </a:r>
            <a:r>
              <a:rPr lang="en-US" altLang="ko-KR" sz="700" dirty="0">
                <a:latin typeface="+mn-ea"/>
              </a:rPr>
              <a:t>1</a:t>
            </a:r>
          </a:p>
          <a:p>
            <a:pPr>
              <a:lnSpc>
                <a:spcPct val="210000"/>
              </a:lnSpc>
            </a:pPr>
            <a:r>
              <a:rPr lang="ko-KR" altLang="en-US" sz="700" dirty="0">
                <a:latin typeface="+mn-ea"/>
              </a:rPr>
              <a:t>인증서 </a:t>
            </a:r>
            <a:r>
              <a:rPr lang="en-US" altLang="ko-KR" sz="700" dirty="0">
                <a:latin typeface="+mn-ea"/>
              </a:rPr>
              <a:t>2</a:t>
            </a:r>
          </a:p>
          <a:p>
            <a:pPr>
              <a:lnSpc>
                <a:spcPct val="210000"/>
              </a:lnSpc>
            </a:pPr>
            <a:r>
              <a:rPr lang="ko-KR" altLang="en-US" sz="700" dirty="0">
                <a:latin typeface="+mn-ea"/>
              </a:rPr>
              <a:t>인증서 </a:t>
            </a:r>
            <a:r>
              <a:rPr lang="en-US" altLang="ko-KR" sz="700" dirty="0">
                <a:latin typeface="+mn-ea"/>
              </a:rPr>
              <a:t>3</a:t>
            </a:r>
          </a:p>
        </p:txBody>
      </p:sp>
      <p:sp>
        <p:nvSpPr>
          <p:cNvPr id="84" name="TextBox 83">
            <a:extLst>
              <a:ext uri="{FF2B5EF4-FFF2-40B4-BE49-F238E27FC236}">
                <a16:creationId xmlns:a16="http://schemas.microsoft.com/office/drawing/2014/main" id="{FFC49AEA-2A8F-250C-A86A-A7751D9706C3}"/>
              </a:ext>
            </a:extLst>
          </p:cNvPr>
          <p:cNvSpPr txBox="1"/>
          <p:nvPr/>
        </p:nvSpPr>
        <p:spPr>
          <a:xfrm>
            <a:off x="5114610" y="2185197"/>
            <a:ext cx="1238112" cy="678647"/>
          </a:xfrm>
          <a:prstGeom prst="rect">
            <a:avLst/>
          </a:prstGeom>
          <a:noFill/>
        </p:spPr>
        <p:txBody>
          <a:bodyPr wrap="square" lIns="0" tIns="0" rIns="0" bIns="0" rtlCol="0">
            <a:spAutoFit/>
          </a:bodyPr>
          <a:lstStyle/>
          <a:p>
            <a:pPr algn="r">
              <a:lnSpc>
                <a:spcPct val="210000"/>
              </a:lnSpc>
            </a:pPr>
            <a:r>
              <a:rPr lang="ko-KR" altLang="en-US" sz="700" dirty="0">
                <a:latin typeface="+mn-ea"/>
              </a:rPr>
              <a:t>유효기간</a:t>
            </a:r>
            <a:r>
              <a:rPr lang="en-US" altLang="ko-KR" sz="700" dirty="0">
                <a:latin typeface="+mn-ea"/>
              </a:rPr>
              <a:t>: 2025-10-30</a:t>
            </a:r>
          </a:p>
          <a:p>
            <a:pPr algn="r">
              <a:lnSpc>
                <a:spcPct val="210000"/>
              </a:lnSpc>
            </a:pPr>
            <a:r>
              <a:rPr lang="ko-KR" altLang="en-US" sz="700" dirty="0">
                <a:latin typeface="+mn-ea"/>
              </a:rPr>
              <a:t>유효기간</a:t>
            </a:r>
            <a:r>
              <a:rPr lang="en-US" altLang="ko-KR" sz="700" dirty="0">
                <a:latin typeface="+mn-ea"/>
              </a:rPr>
              <a:t>: 2025-10-30</a:t>
            </a:r>
          </a:p>
          <a:p>
            <a:pPr algn="r">
              <a:lnSpc>
                <a:spcPct val="210000"/>
              </a:lnSpc>
            </a:pPr>
            <a:r>
              <a:rPr lang="ko-KR" altLang="en-US" sz="700" dirty="0">
                <a:latin typeface="+mn-ea"/>
              </a:rPr>
              <a:t>유효기간</a:t>
            </a:r>
            <a:r>
              <a:rPr lang="en-US" altLang="ko-KR" sz="700" dirty="0">
                <a:latin typeface="+mn-ea"/>
              </a:rPr>
              <a:t>: 2025-10-30</a:t>
            </a:r>
          </a:p>
        </p:txBody>
      </p:sp>
      <p:sp>
        <p:nvSpPr>
          <p:cNvPr id="85" name="사각형: 둥근 모서리 15">
            <a:extLst>
              <a:ext uri="{FF2B5EF4-FFF2-40B4-BE49-F238E27FC236}">
                <a16:creationId xmlns:a16="http://schemas.microsoft.com/office/drawing/2014/main" id="{E2B61CFB-AD16-68D0-8752-50D9C5E01971}"/>
              </a:ext>
            </a:extLst>
          </p:cNvPr>
          <p:cNvSpPr/>
          <p:nvPr/>
        </p:nvSpPr>
        <p:spPr>
          <a:xfrm>
            <a:off x="4567958" y="4020146"/>
            <a:ext cx="1845838" cy="244350"/>
          </a:xfrm>
          <a:prstGeom prst="roundRect">
            <a:avLst/>
          </a:prstGeom>
          <a:solidFill>
            <a:srgbClr val="0070C0"/>
          </a:solid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chemeClr val="bg1"/>
                </a:solidFill>
                <a:latin typeface="맑은 고딕"/>
                <a:ea typeface="맑은 고딕" panose="020B0503020000020004" pitchFamily="50" charset="-127"/>
              </a:rPr>
              <a:t>전자서명</a:t>
            </a:r>
            <a:endParaRPr kumimoji="1" lang="en-US" sz="800" b="0" i="0" u="none" strike="noStrike" kern="0" cap="none" spc="0" normalizeH="0" baseline="0" noProof="0" dirty="0">
              <a:ln>
                <a:noFill/>
              </a:ln>
              <a:solidFill>
                <a:schemeClr val="bg1"/>
              </a:solidFill>
              <a:effectLst/>
              <a:uLnTx/>
              <a:uFillTx/>
              <a:latin typeface="맑은 고딕"/>
            </a:endParaRPr>
          </a:p>
        </p:txBody>
      </p:sp>
      <p:sp>
        <p:nvSpPr>
          <p:cNvPr id="86" name="직사각형 85">
            <a:extLst>
              <a:ext uri="{FF2B5EF4-FFF2-40B4-BE49-F238E27FC236}">
                <a16:creationId xmlns:a16="http://schemas.microsoft.com/office/drawing/2014/main" id="{F56F1743-11A0-EA94-9184-4E42C0A37F9C}"/>
              </a:ext>
            </a:extLst>
          </p:cNvPr>
          <p:cNvSpPr/>
          <p:nvPr/>
        </p:nvSpPr>
        <p:spPr>
          <a:xfrm>
            <a:off x="3802040" y="4506743"/>
            <a:ext cx="2712027" cy="1720420"/>
          </a:xfrm>
          <a:prstGeom prst="rect">
            <a:avLst/>
          </a:prstGeom>
          <a:solidFill>
            <a:schemeClr val="bg1">
              <a:lumMod val="95000"/>
            </a:schemeClr>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ysClr val="windowText" lastClr="000000"/>
                </a:solidFill>
              </a:rPr>
              <a:t>가상 </a:t>
            </a:r>
            <a:r>
              <a:rPr lang="ko-KR" altLang="en-US" dirty="0" err="1">
                <a:solidFill>
                  <a:sysClr val="windowText" lastClr="000000"/>
                </a:solidFill>
              </a:rPr>
              <a:t>키패드</a:t>
            </a:r>
            <a:r>
              <a:rPr lang="ko-KR" altLang="en-US" dirty="0">
                <a:solidFill>
                  <a:sysClr val="windowText" lastClr="000000"/>
                </a:solidFill>
              </a:rPr>
              <a:t> 영역</a:t>
            </a:r>
          </a:p>
        </p:txBody>
      </p:sp>
      <p:sp>
        <p:nvSpPr>
          <p:cNvPr id="87" name="사각형: 둥근 모서리 15">
            <a:extLst>
              <a:ext uri="{FF2B5EF4-FFF2-40B4-BE49-F238E27FC236}">
                <a16:creationId xmlns:a16="http://schemas.microsoft.com/office/drawing/2014/main" id="{E2B61CFB-AD16-68D0-8752-50D9C5E01971}"/>
              </a:ext>
            </a:extLst>
          </p:cNvPr>
          <p:cNvSpPr/>
          <p:nvPr/>
        </p:nvSpPr>
        <p:spPr>
          <a:xfrm>
            <a:off x="3928556" y="4020146"/>
            <a:ext cx="586688" cy="24435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a:latin typeface="맑은 고딕"/>
                <a:ea typeface="맑은 고딕" panose="020B0503020000020004" pitchFamily="50" charset="-127"/>
              </a:rPr>
              <a:t>취소</a:t>
            </a:r>
            <a:endParaRPr kumimoji="1" lang="en-US" sz="800" b="0" i="0" u="none" strike="noStrike" kern="0" cap="none" spc="0" normalizeH="0" baseline="0" noProof="0" dirty="0">
              <a:ln>
                <a:noFill/>
              </a:ln>
              <a:effectLst/>
              <a:uLnTx/>
              <a:uFillTx/>
              <a:latin typeface="맑은 고딕"/>
            </a:endParaRPr>
          </a:p>
        </p:txBody>
      </p:sp>
      <p:sp>
        <p:nvSpPr>
          <p:cNvPr id="88" name="사각형: 둥근 모서리 15">
            <a:extLst>
              <a:ext uri="{FF2B5EF4-FFF2-40B4-BE49-F238E27FC236}">
                <a16:creationId xmlns:a16="http://schemas.microsoft.com/office/drawing/2014/main" id="{E2B61CFB-AD16-68D0-8752-50D9C5E01971}"/>
              </a:ext>
            </a:extLst>
          </p:cNvPr>
          <p:cNvSpPr/>
          <p:nvPr/>
        </p:nvSpPr>
        <p:spPr>
          <a:xfrm>
            <a:off x="3868242" y="2207142"/>
            <a:ext cx="2567010" cy="24435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89" name="TextBox 88">
            <a:extLst>
              <a:ext uri="{FF2B5EF4-FFF2-40B4-BE49-F238E27FC236}">
                <a16:creationId xmlns:a16="http://schemas.microsoft.com/office/drawing/2014/main" id="{FFC49AEA-2A8F-250C-A86A-A7751D9706C3}"/>
              </a:ext>
            </a:extLst>
          </p:cNvPr>
          <p:cNvSpPr txBox="1"/>
          <p:nvPr/>
        </p:nvSpPr>
        <p:spPr>
          <a:xfrm>
            <a:off x="3898850" y="3055173"/>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비밀번호 입력</a:t>
            </a:r>
          </a:p>
        </p:txBody>
      </p:sp>
      <p:sp>
        <p:nvSpPr>
          <p:cNvPr id="90" name="사각형: 둥근 모서리 15">
            <a:extLst>
              <a:ext uri="{FF2B5EF4-FFF2-40B4-BE49-F238E27FC236}">
                <a16:creationId xmlns:a16="http://schemas.microsoft.com/office/drawing/2014/main" id="{E2B61CFB-AD16-68D0-8752-50D9C5E01971}"/>
              </a:ext>
            </a:extLst>
          </p:cNvPr>
          <p:cNvSpPr/>
          <p:nvPr/>
        </p:nvSpPr>
        <p:spPr>
          <a:xfrm>
            <a:off x="3868242" y="3305483"/>
            <a:ext cx="2567010" cy="244350"/>
          </a:xfrm>
          <a:prstGeom prst="roundRect">
            <a:avLst/>
          </a:prstGeom>
          <a:noFill/>
          <a:ln w="12700" cap="flat" cmpd="sng" algn="ctr">
            <a:solidFill>
              <a:schemeClr val="bg1">
                <a:lumMod val="75000"/>
              </a:schemeClr>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35" name="직사각형 34"/>
          <p:cNvSpPr/>
          <p:nvPr/>
        </p:nvSpPr>
        <p:spPr>
          <a:xfrm>
            <a:off x="7056784" y="6395830"/>
            <a:ext cx="2378816" cy="69149"/>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500" dirty="0"/>
              <a:t>감리 추가 사항 </a:t>
            </a:r>
            <a:r>
              <a:rPr lang="en-US" altLang="ko-KR" sz="500" dirty="0"/>
              <a:t>2026-04-08</a:t>
            </a:r>
            <a:endParaRPr lang="ko-KR" altLang="en-US" sz="500" dirty="0"/>
          </a:p>
        </p:txBody>
      </p:sp>
    </p:spTree>
    <p:extLst>
      <p:ext uri="{BB962C8B-B14F-4D97-AF65-F5344CB8AC3E}">
        <p14:creationId xmlns:p14="http://schemas.microsoft.com/office/powerpoint/2010/main" val="410684400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0" indent="0">
              <a:buNone/>
            </a:pPr>
            <a:endParaRPr lang="en-US" altLang="ko-KR" dirty="0"/>
          </a:p>
          <a:p>
            <a:pPr marL="228600" indent="-228600">
              <a:buFont typeface="+mj-lt"/>
              <a:buAutoNum type="arabicPeriod"/>
            </a:pPr>
            <a:r>
              <a:rPr lang="ko-KR" altLang="en-US" dirty="0" err="1"/>
              <a:t>신청완료</a:t>
            </a:r>
            <a:r>
              <a:rPr lang="ko-KR" altLang="en-US" dirty="0"/>
              <a:t> 정보 표시</a:t>
            </a:r>
            <a:r>
              <a:rPr lang="en-US" altLang="ko-KR" dirty="0"/>
              <a:t/>
            </a:r>
            <a:br>
              <a:rPr lang="en-US" altLang="ko-KR" dirty="0"/>
            </a:br>
            <a:r>
              <a:rPr lang="en-US" altLang="ko-KR" dirty="0"/>
              <a:t>- </a:t>
            </a:r>
            <a:r>
              <a:rPr lang="ko-KR" altLang="en-US" dirty="0"/>
              <a:t>사전심사</a:t>
            </a:r>
            <a:r>
              <a:rPr lang="en-US" altLang="ko-KR" dirty="0"/>
              <a:t>(PQ), </a:t>
            </a:r>
            <a:r>
              <a:rPr lang="ko-KR" altLang="en-US" dirty="0"/>
              <a:t>입찰참가신청</a:t>
            </a:r>
            <a:r>
              <a:rPr lang="en-US" altLang="ko-KR" dirty="0"/>
              <a:t>, </a:t>
            </a:r>
            <a:r>
              <a:rPr lang="ko-KR" altLang="en-US" dirty="0"/>
              <a:t>입찰서에 따라 표시 텍스트 변경</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132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신청완료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a:t>
            </a:r>
            <a:r>
              <a:rPr lang="ko-KR" altLang="en-US" dirty="0"/>
              <a:t> 화면으로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ko-KR" altLang="en-US" dirty="0"/>
              <a:t>프로세스 중 </a:t>
            </a:r>
            <a:r>
              <a:rPr lang="ko-KR" altLang="en-US" dirty="0">
                <a:latin typeface="+mn-ea"/>
              </a:rPr>
              <a:t>약관 동의</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pPr fontAlgn="ctr"/>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입찰서</a:t>
            </a:r>
            <a:r>
              <a:rPr lang="en-US" altLang="ko-KR" dirty="0">
                <a:latin typeface="+mn-ea"/>
              </a:rPr>
              <a:t>(</a:t>
            </a:r>
            <a:r>
              <a:rPr lang="ko-KR" altLang="en-US" dirty="0">
                <a:latin typeface="+mn-ea"/>
              </a:rPr>
              <a:t>견적서</a:t>
            </a:r>
            <a:r>
              <a:rPr lang="en-US" altLang="ko-KR" dirty="0">
                <a:latin typeface="+mn-ea"/>
              </a:rPr>
              <a:t>)</a:t>
            </a:r>
            <a:r>
              <a:rPr lang="ko-KR" altLang="en-US" dirty="0">
                <a:latin typeface="+mn-ea"/>
              </a:rPr>
              <a:t>작성 </a:t>
            </a:r>
            <a:r>
              <a:rPr lang="en-US" altLang="ko-KR" dirty="0">
                <a:latin typeface="+mn-ea"/>
              </a:rPr>
              <a:t>- </a:t>
            </a:r>
            <a:r>
              <a:rPr lang="ko-KR" altLang="en-US" dirty="0" err="1">
                <a:latin typeface="+mn-ea"/>
              </a:rPr>
              <a:t>신청완료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MUI-BD-06-M08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타원 194">
            <a:extLst>
              <a:ext uri="{FF2B5EF4-FFF2-40B4-BE49-F238E27FC236}">
                <a16:creationId xmlns:a16="http://schemas.microsoft.com/office/drawing/2014/main" id="{37A7FF4F-0EAA-1463-560A-D5EC24416103}"/>
              </a:ext>
            </a:extLst>
          </p:cNvPr>
          <p:cNvSpPr/>
          <p:nvPr/>
        </p:nvSpPr>
        <p:spPr>
          <a:xfrm>
            <a:off x="571127" y="27313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162" name="그룹 161"/>
          <p:cNvGrpSpPr/>
          <p:nvPr/>
        </p:nvGrpSpPr>
        <p:grpSpPr>
          <a:xfrm>
            <a:off x="675399" y="5614711"/>
            <a:ext cx="2712027" cy="617588"/>
            <a:chOff x="675399" y="5614711"/>
            <a:chExt cx="2712027" cy="617588"/>
          </a:xfrm>
        </p:grpSpPr>
        <p:sp>
          <p:nvSpPr>
            <p:cNvPr id="163" name="직사각형 1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작성 내용 확인</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목록</a:t>
              </a:r>
              <a:endParaRPr kumimoji="1" lang="en-US" sz="1000" b="0" i="0" u="none" strike="noStrike" kern="0" cap="none" spc="0" normalizeH="0" baseline="0" noProof="0" dirty="0">
                <a:ln>
                  <a:noFill/>
                </a:ln>
                <a:effectLst/>
                <a:uLnTx/>
                <a:uFillTx/>
                <a:latin typeface="맑은 고딕"/>
              </a:endParaRPr>
            </a:p>
          </p:txBody>
        </p:sp>
      </p:grpSp>
      <p:grpSp>
        <p:nvGrpSpPr>
          <p:cNvPr id="93" name="그룹 92"/>
          <p:cNvGrpSpPr/>
          <p:nvPr/>
        </p:nvGrpSpPr>
        <p:grpSpPr>
          <a:xfrm>
            <a:off x="675399" y="1578465"/>
            <a:ext cx="2712027" cy="508898"/>
            <a:chOff x="3795734" y="1602341"/>
            <a:chExt cx="2712027" cy="508898"/>
          </a:xfrm>
        </p:grpSpPr>
        <p:sp>
          <p:nvSpPr>
            <p:cNvPr id="9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95" name="모서리가 둥근 직사각형 9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96" name="모서리가 둥근 직사각형 9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9" name="TextBox 178">
            <a:extLst>
              <a:ext uri="{FF2B5EF4-FFF2-40B4-BE49-F238E27FC236}">
                <a16:creationId xmlns:a16="http://schemas.microsoft.com/office/drawing/2014/main" id="{FFC49AEA-2A8F-250C-A86A-A7751D9706C3}"/>
              </a:ext>
            </a:extLst>
          </p:cNvPr>
          <p:cNvSpPr txBox="1"/>
          <p:nvPr/>
        </p:nvSpPr>
        <p:spPr>
          <a:xfrm>
            <a:off x="764658" y="3304378"/>
            <a:ext cx="2497672" cy="430887"/>
          </a:xfrm>
          <a:prstGeom prst="rect">
            <a:avLst/>
          </a:prstGeom>
          <a:noFill/>
        </p:spPr>
        <p:txBody>
          <a:bodyPr wrap="square" lIns="0" tIns="0" rIns="0" bIns="0" rtlCol="0">
            <a:spAutoFit/>
          </a:bodyPr>
          <a:lstStyle/>
          <a:p>
            <a:pPr algn="ctr">
              <a:lnSpc>
                <a:spcPct val="200000"/>
              </a:lnSpc>
            </a:pPr>
            <a:r>
              <a:rPr lang="ko-KR" altLang="en-US" sz="700" dirty="0">
                <a:latin typeface="+mn-ea"/>
              </a:rPr>
              <a:t>신청 번호 </a:t>
            </a:r>
            <a:r>
              <a:rPr lang="en-US" altLang="ko-KR" sz="700" dirty="0">
                <a:latin typeface="+mn-ea"/>
              </a:rPr>
              <a:t>0000 000 0000</a:t>
            </a:r>
          </a:p>
          <a:p>
            <a:pPr algn="ctr">
              <a:lnSpc>
                <a:spcPct val="200000"/>
              </a:lnSpc>
            </a:pPr>
            <a:r>
              <a:rPr lang="ko-KR" altLang="en-US" sz="700" dirty="0">
                <a:latin typeface="+mn-ea"/>
              </a:rPr>
              <a:t>신청 완료 일시 </a:t>
            </a:r>
            <a:r>
              <a:rPr lang="en-US" altLang="ko-KR" sz="700" dirty="0">
                <a:latin typeface="+mn-ea"/>
              </a:rPr>
              <a:t>2025-10-31 12:30</a:t>
            </a:r>
            <a:endParaRPr lang="ko-KR" altLang="en-US" sz="700" dirty="0">
              <a:latin typeface="+mn-ea"/>
            </a:endParaRPr>
          </a:p>
        </p:txBody>
      </p:sp>
      <p:sp>
        <p:nvSpPr>
          <p:cNvPr id="238" name="모서리가 둥근 직사각형 23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68" name="TextBox 67">
            <a:extLst>
              <a:ext uri="{FF2B5EF4-FFF2-40B4-BE49-F238E27FC236}">
                <a16:creationId xmlns:a16="http://schemas.microsoft.com/office/drawing/2014/main" id="{FFC49AEA-2A8F-250C-A86A-A7751D9706C3}"/>
              </a:ext>
            </a:extLst>
          </p:cNvPr>
          <p:cNvSpPr txBox="1"/>
          <p:nvPr/>
        </p:nvSpPr>
        <p:spPr>
          <a:xfrm>
            <a:off x="764658" y="2867559"/>
            <a:ext cx="2497672" cy="258789"/>
          </a:xfrm>
          <a:prstGeom prst="rect">
            <a:avLst/>
          </a:prstGeom>
          <a:noFill/>
        </p:spPr>
        <p:txBody>
          <a:bodyPr wrap="square" lIns="0" tIns="0" rIns="0" bIns="0" rtlCol="0">
            <a:spAutoFit/>
          </a:bodyPr>
          <a:lstStyle/>
          <a:p>
            <a:pPr algn="ctr">
              <a:lnSpc>
                <a:spcPct val="200000"/>
              </a:lnSpc>
            </a:pPr>
            <a:r>
              <a:rPr lang="ko-KR" altLang="en-US" sz="1000" b="1" dirty="0">
                <a:latin typeface="+mn-ea"/>
              </a:rPr>
              <a:t>입찰서</a:t>
            </a:r>
            <a:r>
              <a:rPr lang="en-US" altLang="ko-KR" sz="1000" b="1" dirty="0">
                <a:latin typeface="+mn-ea"/>
              </a:rPr>
              <a:t>(</a:t>
            </a:r>
            <a:r>
              <a:rPr lang="ko-KR" altLang="en-US" sz="1000" b="1" dirty="0">
                <a:latin typeface="+mn-ea"/>
              </a:rPr>
              <a:t>견적서</a:t>
            </a:r>
            <a:r>
              <a:rPr lang="en-US" altLang="ko-KR" sz="1000" b="1" dirty="0">
                <a:latin typeface="+mn-ea"/>
              </a:rPr>
              <a:t>) </a:t>
            </a:r>
            <a:r>
              <a:rPr lang="ko-KR" altLang="en-US" sz="1000" b="1" dirty="0">
                <a:latin typeface="+mn-ea"/>
              </a:rPr>
              <a:t>신청 완료</a:t>
            </a:r>
          </a:p>
        </p:txBody>
      </p:sp>
      <p:sp>
        <p:nvSpPr>
          <p:cNvPr id="69" name="모서리가 둥근 직사각형 68"/>
          <p:cNvSpPr/>
          <p:nvPr/>
        </p:nvSpPr>
        <p:spPr>
          <a:xfrm>
            <a:off x="698357" y="4218736"/>
            <a:ext cx="2652743" cy="1302029"/>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TextBox 69">
            <a:extLst>
              <a:ext uri="{FF2B5EF4-FFF2-40B4-BE49-F238E27FC236}">
                <a16:creationId xmlns:a16="http://schemas.microsoft.com/office/drawing/2014/main" id="{FFC49AEA-2A8F-250C-A86A-A7751D9706C3}"/>
              </a:ext>
            </a:extLst>
          </p:cNvPr>
          <p:cNvSpPr txBox="1"/>
          <p:nvPr/>
        </p:nvSpPr>
        <p:spPr>
          <a:xfrm>
            <a:off x="787127" y="4317020"/>
            <a:ext cx="2475203" cy="1077218"/>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유의사항</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본인은 국가를 당사자로 하는 계약에 관한 법률시행규칙에 의한 공사 입찰유의서에 따라 응찰하여 이 입찰이 귀 기관에 의하여 수락되면 공사 계약일반조건</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계약특수조건</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설계서 및 현장 설명 사항에 따라 위의 입찰금액으로 준공기한내에 공사를 완공할 것을 </a:t>
            </a:r>
            <a:r>
              <a:rPr lang="ko-KR" altLang="en-US" sz="700" dirty="0" err="1">
                <a:solidFill>
                  <a:schemeClr val="tx1">
                    <a:lumMod val="85000"/>
                    <a:lumOff val="15000"/>
                  </a:schemeClr>
                </a:solidFill>
                <a:latin typeface="맑은 고딕" panose="020B0503020000020004" pitchFamily="50" charset="-127"/>
              </a:rPr>
              <a:t>확약하오며</a:t>
            </a:r>
            <a:r>
              <a:rPr lang="ko-KR" altLang="en-US" sz="700" dirty="0">
                <a:solidFill>
                  <a:schemeClr val="tx1">
                    <a:lumMod val="85000"/>
                    <a:lumOff val="15000"/>
                  </a:schemeClr>
                </a:solidFill>
                <a:latin typeface="맑은 고딕" panose="020B0503020000020004" pitchFamily="50" charset="-127"/>
              </a:rPr>
              <a:t> 입찰서를 제출합니다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a:solidFill>
                  <a:schemeClr val="tx1">
                    <a:lumMod val="85000"/>
                    <a:lumOff val="15000"/>
                  </a:schemeClr>
                </a:solidFill>
                <a:latin typeface="맑은 고딕" panose="020B0503020000020004" pitchFamily="50" charset="-127"/>
              </a:rPr>
              <a:t>입찰서는 포기 또는 취소 후 재입찰이 불가하니 </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입찰포기</a:t>
            </a:r>
            <a:r>
              <a:rPr lang="en-US" altLang="ko-KR" sz="700" dirty="0">
                <a:solidFill>
                  <a:schemeClr val="tx1">
                    <a:lumMod val="85000"/>
                    <a:lumOff val="15000"/>
                  </a:schemeClr>
                </a:solidFill>
                <a:latin typeface="맑은 고딕" panose="020B0503020000020004" pitchFamily="50" charset="-127"/>
              </a:rPr>
              <a:t>] </a:t>
            </a:r>
            <a:r>
              <a:rPr lang="ko-KR" altLang="en-US" sz="700" dirty="0">
                <a:solidFill>
                  <a:schemeClr val="tx1">
                    <a:lumMod val="85000"/>
                    <a:lumOff val="15000"/>
                  </a:schemeClr>
                </a:solidFill>
                <a:latin typeface="맑은 고딕" panose="020B0503020000020004" pitchFamily="50" charset="-127"/>
              </a:rPr>
              <a:t>또는 </a:t>
            </a:r>
            <a:r>
              <a:rPr lang="en-US" altLang="ko-KR" sz="700" dirty="0">
                <a:solidFill>
                  <a:schemeClr val="tx1">
                    <a:lumMod val="85000"/>
                    <a:lumOff val="15000"/>
                  </a:schemeClr>
                </a:solidFill>
                <a:latin typeface="맑은 고딕" panose="020B0503020000020004" pitchFamily="50" charset="-127"/>
              </a:rPr>
              <a:t>[</a:t>
            </a:r>
            <a:r>
              <a:rPr lang="ko-KR" altLang="en-US" sz="700" dirty="0" err="1">
                <a:solidFill>
                  <a:schemeClr val="tx1">
                    <a:lumMod val="85000"/>
                    <a:lumOff val="15000"/>
                  </a:schemeClr>
                </a:solidFill>
                <a:latin typeface="맑은 고딕" panose="020B0503020000020004" pitchFamily="50" charset="-127"/>
              </a:rPr>
              <a:t>입찰취소</a:t>
            </a:r>
            <a:r>
              <a:rPr lang="en-US" altLang="ko-KR" sz="700" dirty="0">
                <a:solidFill>
                  <a:schemeClr val="tx1">
                    <a:lumMod val="85000"/>
                    <a:lumOff val="15000"/>
                  </a:schemeClr>
                </a:solidFill>
                <a:latin typeface="맑은 고딕" panose="020B0503020000020004" pitchFamily="50" charset="-127"/>
              </a:rPr>
              <a:t>]</a:t>
            </a:r>
            <a:r>
              <a:rPr lang="ko-KR" altLang="en-US" sz="700" dirty="0">
                <a:solidFill>
                  <a:schemeClr val="tx1">
                    <a:lumMod val="85000"/>
                    <a:lumOff val="15000"/>
                  </a:schemeClr>
                </a:solidFill>
                <a:latin typeface="맑은 고딕" panose="020B0503020000020004" pitchFamily="50" charset="-127"/>
              </a:rPr>
              <a:t>시 유의하시기 바랍니다</a:t>
            </a:r>
            <a:r>
              <a:rPr lang="en-US" altLang="ko-KR" sz="700" dirty="0">
                <a:solidFill>
                  <a:schemeClr val="tx1">
                    <a:lumMod val="85000"/>
                    <a:lumOff val="15000"/>
                  </a:schemeClr>
                </a:solidFill>
                <a:latin typeface="맑은 고딕" panose="020B0503020000020004" pitchFamily="50" charset="-127"/>
              </a:rPr>
              <a:t>.</a:t>
            </a:r>
            <a:endParaRPr lang="en-US" altLang="ko-KR" sz="700" dirty="0">
              <a:latin typeface="+mn-ea"/>
            </a:endParaRPr>
          </a:p>
        </p:txBody>
      </p:sp>
      <p:sp>
        <p:nvSpPr>
          <p:cNvPr id="71" name="타원 70"/>
          <p:cNvSpPr/>
          <p:nvPr/>
        </p:nvSpPr>
        <p:spPr>
          <a:xfrm>
            <a:off x="783169" y="430736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2" name="그룹 71"/>
          <p:cNvGrpSpPr/>
          <p:nvPr/>
        </p:nvGrpSpPr>
        <p:grpSpPr>
          <a:xfrm flipV="1">
            <a:off x="3131990" y="4355867"/>
            <a:ext cx="94010" cy="47005"/>
            <a:chOff x="6812560" y="3297172"/>
            <a:chExt cx="94010" cy="47005"/>
          </a:xfrm>
        </p:grpSpPr>
        <p:cxnSp>
          <p:nvCxnSpPr>
            <p:cNvPr id="73" name="직선 연결선 7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4" name="직선 연결선 7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0" name="직사각형 29"/>
          <p:cNvSpPr/>
          <p:nvPr/>
        </p:nvSpPr>
        <p:spPr>
          <a:xfrm>
            <a:off x="7056784" y="6395830"/>
            <a:ext cx="2378816" cy="69149"/>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ko-KR" altLang="en-US" sz="500" dirty="0"/>
              <a:t>감리 추가 사항 </a:t>
            </a:r>
            <a:r>
              <a:rPr lang="en-US" altLang="ko-KR" sz="500" dirty="0"/>
              <a:t>2026-04-08</a:t>
            </a:r>
            <a:endParaRPr lang="ko-KR" altLang="en-US" sz="500" dirty="0"/>
          </a:p>
        </p:txBody>
      </p:sp>
      <p:sp>
        <p:nvSpPr>
          <p:cNvPr id="29" name="타원 28"/>
          <p:cNvSpPr/>
          <p:nvPr/>
        </p:nvSpPr>
        <p:spPr>
          <a:xfrm>
            <a:off x="1821809" y="2349399"/>
            <a:ext cx="419206" cy="419206"/>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42837775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133</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6. </a:t>
            </a:r>
            <a:r>
              <a:rPr lang="ko-KR" altLang="en-US" dirty="0" err="1"/>
              <a:t>개찰목록</a:t>
            </a:r>
            <a:r>
              <a:rPr lang="ko-KR" altLang="en-US" dirty="0"/>
              <a:t> 및 이행</a:t>
            </a:r>
            <a:r>
              <a:rPr lang="en-US" altLang="ko-KR" dirty="0"/>
              <a:t>/</a:t>
            </a:r>
            <a:r>
              <a:rPr lang="ko-KR" altLang="en-US" dirty="0"/>
              <a:t>적격심사</a:t>
            </a:r>
            <a:endParaRPr lang="en-US" altLang="ko-KR" dirty="0"/>
          </a:p>
          <a:p>
            <a:r>
              <a:rPr lang="en-US" altLang="ko-KR" dirty="0"/>
              <a:t>6.1 </a:t>
            </a:r>
            <a:r>
              <a:rPr lang="ko-KR" altLang="en-US" dirty="0"/>
              <a:t>화면 목록 </a:t>
            </a:r>
            <a:r>
              <a:rPr lang="en-US" altLang="ko-KR" dirty="0"/>
              <a:t>(1/3)</a:t>
            </a:r>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2599772964"/>
              </p:ext>
            </p:extLst>
          </p:nvPr>
        </p:nvGraphicFramePr>
        <p:xfrm>
          <a:off x="635474" y="1420619"/>
          <a:ext cx="8701200" cy="492658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80526">
                  <a:extLst>
                    <a:ext uri="{9D8B030D-6E8A-4147-A177-3AD203B41FA5}">
                      <a16:colId xmlns:a16="http://schemas.microsoft.com/office/drawing/2014/main" val="20004"/>
                    </a:ext>
                  </a:extLst>
                </a:gridCol>
                <a:gridCol w="729074">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kern="1200" dirty="0">
                          <a:solidFill>
                            <a:schemeClr val="tx1"/>
                          </a:solidFill>
                          <a:latin typeface="+mn-ea"/>
                          <a:ea typeface="+mn-ea"/>
                          <a:cs typeface="+mn-cs"/>
                        </a:rPr>
                        <a:t>MUI-BD-08-M01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a:solidFill>
                            <a:schemeClr val="tx1"/>
                          </a:solidFill>
                          <a:latin typeface="+mn-ea"/>
                          <a:ea typeface="+mn-ea"/>
                          <a:cs typeface="+mn-cs"/>
                        </a:rPr>
                        <a:t>개찰목록</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900" b="0" i="0" u="none" strike="noStrike" dirty="0" err="1">
                          <a:solidFill>
                            <a:schemeClr val="tx1"/>
                          </a:solidFill>
                          <a:effectLst/>
                          <a:latin typeface="Calibri" panose="020F0502020204030204" pitchFamily="34" charset="0"/>
                        </a:rPr>
                        <a:t>BdopnListPage</a:t>
                      </a:r>
                      <a:endParaRPr lang="en-US" sz="900" b="0" i="0" u="none" strike="noStrike" dirty="0">
                        <a:solidFill>
                          <a:schemeClr val="tx1"/>
                        </a:solidFill>
                        <a:effectLst/>
                        <a:latin typeface="Calibri" panose="020F0502020204030204" pitchFamily="34" charset="0"/>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a:solidFill>
                            <a:schemeClr val="tx1"/>
                          </a:solidFill>
                          <a:latin typeface="+mn-ea"/>
                          <a:ea typeface="+mn-ea"/>
                          <a:cs typeface="+mn-cs"/>
                        </a:rPr>
                        <a:t>업체 신청 </a:t>
                      </a:r>
                      <a:r>
                        <a:rPr lang="ko-KR" altLang="en-US" sz="800" kern="1200" dirty="0" err="1">
                          <a:solidFill>
                            <a:schemeClr val="tx1"/>
                          </a:solidFill>
                          <a:latin typeface="+mn-ea"/>
                          <a:ea typeface="+mn-ea"/>
                          <a:cs typeface="+mn-cs"/>
                        </a:rPr>
                        <a:t>공고건</a:t>
                      </a:r>
                      <a:r>
                        <a:rPr lang="ko-KR" altLang="en-US" sz="800" kern="1200" dirty="0">
                          <a:solidFill>
                            <a:schemeClr val="tx1"/>
                          </a:solidFill>
                          <a:latin typeface="+mn-ea"/>
                          <a:ea typeface="+mn-ea"/>
                          <a:cs typeface="+mn-cs"/>
                        </a:rPr>
                        <a:t> 중에서 개찰 결과가 있는 건을 개찰 목록에서 표시</a:t>
                      </a:r>
                      <a:br>
                        <a:rPr lang="ko-KR" altLang="en-US" sz="800" kern="1200" dirty="0">
                          <a:solidFill>
                            <a:schemeClr val="tx1"/>
                          </a:solidFill>
                          <a:latin typeface="+mn-ea"/>
                          <a:ea typeface="+mn-ea"/>
                          <a:cs typeface="+mn-cs"/>
                        </a:rPr>
                      </a:br>
                      <a:r>
                        <a:rPr lang="ko-KR" altLang="en-US" sz="800" kern="1200" dirty="0">
                          <a:solidFill>
                            <a:schemeClr val="tx1"/>
                          </a:solidFill>
                          <a:latin typeface="+mn-ea"/>
                          <a:ea typeface="+mn-ea"/>
                          <a:cs typeface="+mn-cs"/>
                        </a:rPr>
                        <a:t>이행</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적격심사 내용 확인을 위한 개찰 목록 필요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b="0" i="0" u="none" strike="noStrike" dirty="0" err="1">
                          <a:solidFill>
                            <a:schemeClr val="tx1"/>
                          </a:solidFill>
                          <a:effectLst/>
                          <a:latin typeface="Calibri" panose="020F0502020204030204" pitchFamily="34" charset="0"/>
                        </a:rPr>
                        <a:t>bdopnList</a:t>
                      </a:r>
                      <a:r>
                        <a:rPr lang="en-US" altLang="ko-KR" sz="900" b="0" i="0" u="none" strike="noStrike" dirty="0">
                          <a:solidFill>
                            <a:schemeClr val="tx1"/>
                          </a:solidFill>
                          <a:effectLst/>
                          <a:latin typeface="Calibri" panose="020F0502020204030204" pitchFamily="34" charset="0"/>
                        </a:rPr>
                        <a:t>/</a:t>
                      </a:r>
                      <a:r>
                        <a:rPr lang="en-US" altLang="ko-KR" sz="900" b="0" i="0" u="none" strike="noStrike" dirty="0" err="1">
                          <a:solidFill>
                            <a:schemeClr val="tx1"/>
                          </a:solidFill>
                          <a:effectLst/>
                          <a:latin typeface="Calibri" panose="020F0502020204030204" pitchFamily="34" charset="0"/>
                        </a:rPr>
                        <a:t>BdopnListPage</a:t>
                      </a:r>
                      <a:r>
                        <a:rPr lang="en-US" altLang="ko-KR" sz="900" dirty="0" err="1">
                          <a:solidFill>
                            <a:schemeClr val="tx1"/>
                          </a:solidFill>
                          <a:latin typeface="+mn-ea"/>
                          <a:ea typeface="+mn-ea"/>
                        </a:rPr>
                        <a:t>.tsx</a:t>
                      </a:r>
                      <a:endParaRPr lang="en-US" altLang="ko-KR" sz="900" b="1"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UC-BD-13-01</a:t>
                      </a:r>
                    </a:p>
                    <a:p>
                      <a:pPr algn="ctr" latinLnBrk="1">
                        <a:defRPr/>
                      </a:pPr>
                      <a:r>
                        <a:rPr lang="en-US" altLang="ko-KR" sz="800" dirty="0">
                          <a:latin typeface="+mn-ea"/>
                          <a:ea typeface="+mn-ea"/>
                        </a:rPr>
                        <a:t>UC-BD-14-01</a:t>
                      </a:r>
                    </a:p>
                    <a:p>
                      <a:pPr algn="ctr" latinLnBrk="1">
                        <a:defRPr/>
                      </a:pPr>
                      <a:r>
                        <a:rPr lang="en-US" altLang="ko-KR" sz="800" dirty="0">
                          <a:latin typeface="+mn-ea"/>
                          <a:ea typeface="+mn-ea"/>
                        </a:rPr>
                        <a:t>UC-BD-14-02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algn="ctr" fontAlgn="ctr"/>
                      <a:r>
                        <a:rPr lang="en-US" sz="700" kern="1200" dirty="0">
                          <a:solidFill>
                            <a:schemeClr val="tx1"/>
                          </a:solidFill>
                          <a:latin typeface="+mn-ea"/>
                          <a:ea typeface="+mn-ea"/>
                          <a:cs typeface="+mn-cs"/>
                        </a:rPr>
                        <a:t>MUI-BD-09-M01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a:solidFill>
                            <a:schemeClr val="tx1"/>
                          </a:solidFill>
                          <a:latin typeface="+mn-ea"/>
                          <a:ea typeface="+mn-ea"/>
                          <a:cs typeface="+mn-cs"/>
                        </a:rPr>
                        <a:t>입찰결과상세 </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일반정보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err="1">
                          <a:solidFill>
                            <a:schemeClr val="tx1"/>
                          </a:solidFill>
                          <a:latin typeface="+mn-ea"/>
                          <a:ea typeface="+mn-ea"/>
                        </a:rPr>
                        <a:t>BidRsltDtl</a:t>
                      </a:r>
                      <a:r>
                        <a:rPr lang="en-US" altLang="ko-KR" sz="800" b="0" i="0" u="none" strike="noStrike" dirty="0" err="1">
                          <a:solidFill>
                            <a:schemeClr val="tx1"/>
                          </a:solidFill>
                          <a:effectLst/>
                          <a:latin typeface="Calibri" panose="020F0502020204030204" pitchFamily="34" charset="0"/>
                        </a:rPr>
                        <a:t>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a:solidFill>
                            <a:schemeClr val="tx1"/>
                          </a:solidFill>
                          <a:latin typeface="+mn-ea"/>
                          <a:ea typeface="+mn-ea"/>
                          <a:cs typeface="+mn-cs"/>
                        </a:rPr>
                        <a:t>경쟁입찰</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수의계약 건에 대해 개찰 및 낙찰 처리 후 입찰결과를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b="0" i="0" u="none" strike="noStrike" dirty="0" err="1">
                          <a:solidFill>
                            <a:schemeClr val="tx1"/>
                          </a:solidFill>
                          <a:effectLst/>
                          <a:latin typeface="Calibri" panose="020F0502020204030204" pitchFamily="34" charset="0"/>
                        </a:rPr>
                        <a:t>bdopnList</a:t>
                      </a:r>
                      <a:r>
                        <a:rPr lang="en-US" altLang="ko-KR" sz="900" b="0" i="0" u="none" strike="noStrike" dirty="0">
                          <a:solidFill>
                            <a:schemeClr val="tx1"/>
                          </a:solidFill>
                          <a:effectLst/>
                          <a:latin typeface="Calibri" panose="020F0502020204030204" pitchFamily="34" charset="0"/>
                        </a:rPr>
                        <a:t>/</a:t>
                      </a:r>
                      <a:r>
                        <a:rPr lang="en-US" altLang="ko-KR" sz="900" b="0" i="0" u="none" strike="noStrike" dirty="0" err="1">
                          <a:solidFill>
                            <a:schemeClr val="tx1"/>
                          </a:solidFill>
                          <a:effectLst/>
                          <a:latin typeface="Calibri" panose="020F0502020204030204" pitchFamily="34" charset="0"/>
                        </a:rPr>
                        <a:t>BdopnList</a:t>
                      </a:r>
                      <a:r>
                        <a:rPr lang="en-US" altLang="ko-KR" sz="900" dirty="0" err="1">
                          <a:solidFill>
                            <a:schemeClr val="tx1"/>
                          </a:solidFill>
                          <a:latin typeface="+mn-ea"/>
                          <a:ea typeface="+mn-ea"/>
                        </a:rPr>
                        <a:t>.tsx</a:t>
                      </a:r>
                      <a:endParaRPr lang="ko-KR" altLang="en-US" sz="9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UC-BD-13-01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43440042"/>
                  </a:ext>
                </a:extLst>
              </a:tr>
              <a:tr h="180000">
                <a:tc>
                  <a:txBody>
                    <a:bodyPr/>
                    <a:lstStyle/>
                    <a:p>
                      <a:pPr algn="ctr" fontAlgn="ctr"/>
                      <a:r>
                        <a:rPr lang="en-US" sz="700" kern="1200" dirty="0">
                          <a:solidFill>
                            <a:schemeClr val="tx1"/>
                          </a:solidFill>
                          <a:latin typeface="+mn-ea"/>
                          <a:ea typeface="+mn-ea"/>
                          <a:cs typeface="+mn-cs"/>
                        </a:rPr>
                        <a:t>MUI-BD-09-M02</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입찰결과상세 </a:t>
                      </a: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품목정보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BidRsltDtlList</a:t>
                      </a:r>
                      <a:r>
                        <a:rPr lang="en-US" altLang="ko-KR" sz="800" b="0" i="0" u="none" strike="noStrike" dirty="0" err="1">
                          <a:solidFill>
                            <a:schemeClr val="tx1"/>
                          </a:solidFill>
                          <a:effectLst/>
                          <a:latin typeface="Calibri" panose="020F0502020204030204" pitchFamily="34" charset="0"/>
                        </a:rPr>
                        <a:t>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err="1">
                          <a:solidFill>
                            <a:schemeClr val="tx1"/>
                          </a:solidFill>
                          <a:latin typeface="+mn-ea"/>
                          <a:ea typeface="+mn-ea"/>
                          <a:cs typeface="+mn-cs"/>
                        </a:rPr>
                        <a:t>품목정보</a:t>
                      </a:r>
                      <a:r>
                        <a:rPr lang="ko-KR" altLang="en-US" sz="800" kern="1200" dirty="0">
                          <a:solidFill>
                            <a:schemeClr val="tx1"/>
                          </a:solidFill>
                          <a:latin typeface="+mn-ea"/>
                          <a:ea typeface="+mn-ea"/>
                          <a:cs typeface="+mn-cs"/>
                        </a:rPr>
                        <a:t>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r>
                        <a:rPr lang="en-US" altLang="ko-KR" sz="900" b="0" i="0" u="none" strike="noStrike" dirty="0" err="1">
                          <a:solidFill>
                            <a:schemeClr val="tx1"/>
                          </a:solidFill>
                          <a:effectLst/>
                          <a:latin typeface="Calibri" panose="020F0502020204030204" pitchFamily="34" charset="0"/>
                        </a:rPr>
                        <a:t>Page</a:t>
                      </a:r>
                      <a:r>
                        <a:rPr lang="en-US" altLang="ko-KR" sz="900" dirty="0" err="1">
                          <a:solidFill>
                            <a:schemeClr val="tx1"/>
                          </a:solidFill>
                          <a:latin typeface="+mn-ea"/>
                          <a:ea typeface="+mn-ea"/>
                        </a:rPr>
                        <a:t>.tsx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39506035"/>
                  </a:ext>
                </a:extLst>
              </a:tr>
              <a:tr h="180000">
                <a:tc>
                  <a:txBody>
                    <a:bodyPr/>
                    <a:lstStyle/>
                    <a:p>
                      <a:pPr algn="ctr" fontAlgn="ctr"/>
                      <a:r>
                        <a:rPr lang="en-US" sz="700" kern="1200">
                          <a:solidFill>
                            <a:schemeClr val="tx1"/>
                          </a:solidFill>
                          <a:latin typeface="+mn-ea"/>
                          <a:ea typeface="+mn-ea"/>
                          <a:cs typeface="+mn-cs"/>
                        </a:rPr>
                        <a:t>MUI-BD-09-M03</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입찰결과상세 </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a:solidFill>
                            <a:schemeClr val="tx1"/>
                          </a:solidFill>
                          <a:latin typeface="+mn-ea"/>
                          <a:ea typeface="+mn-ea"/>
                          <a:cs typeface="+mn-cs"/>
                        </a:rPr>
                        <a:t>입찰결과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a:t>
                      </a:r>
                      <a:r>
                        <a:rPr lang="en-US" altLang="ko-KR" sz="900" dirty="0" err="1">
                          <a:solidFill>
                            <a:schemeClr val="tx1"/>
                          </a:solidFill>
                          <a:latin typeface="+mn-ea"/>
                          <a:ea typeface="+mn-ea"/>
                        </a:rPr>
                        <a:t>BidRsltDtl.tsx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5748861"/>
                  </a:ext>
                </a:extLst>
              </a:tr>
              <a:tr h="180000">
                <a:tc>
                  <a:txBody>
                    <a:bodyPr/>
                    <a:lstStyle/>
                    <a:p>
                      <a:pPr algn="ctr" fontAlgn="ctr"/>
                      <a:r>
                        <a:rPr lang="en-US" sz="700" kern="1200" dirty="0">
                          <a:solidFill>
                            <a:schemeClr val="tx1"/>
                          </a:solidFill>
                          <a:latin typeface="+mn-ea"/>
                          <a:ea typeface="+mn-ea"/>
                          <a:cs typeface="+mn-cs"/>
                        </a:rPr>
                        <a:t>MUI-BD-09-M04</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a:solidFill>
                            <a:schemeClr val="tx1"/>
                          </a:solidFill>
                          <a:latin typeface="+mn-ea"/>
                          <a:ea typeface="+mn-ea"/>
                          <a:cs typeface="+mn-cs"/>
                        </a:rPr>
                        <a:t>입찰결과상세 </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협상결과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BidRsltDtl2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a:solidFill>
                            <a:schemeClr val="tx1"/>
                          </a:solidFill>
                          <a:latin typeface="+mn-ea"/>
                          <a:ea typeface="+mn-ea"/>
                          <a:cs typeface="+mn-cs"/>
                        </a:rPr>
                        <a:t>협상결과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/BidRsltDtl2.tsx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2940625"/>
                  </a:ext>
                </a:extLst>
              </a:tr>
              <a:tr h="180000">
                <a:tc>
                  <a:txBody>
                    <a:bodyPr/>
                    <a:lstStyle/>
                    <a:p>
                      <a:pPr algn="ctr" fontAlgn="ctr"/>
                      <a:r>
                        <a:rPr lang="en-US" sz="700" kern="1200" dirty="0">
                          <a:solidFill>
                            <a:schemeClr val="tx1"/>
                          </a:solidFill>
                          <a:latin typeface="+mn-ea"/>
                          <a:ea typeface="+mn-ea"/>
                          <a:cs typeface="+mn-cs"/>
                        </a:rPr>
                        <a:t>MUI-BD-10-M01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이행</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적격심사상세 </a:t>
                      </a:r>
                      <a:endParaRPr lang="en-US" altLang="ko-KR" sz="800" kern="1200" dirty="0">
                        <a:solidFill>
                          <a:schemeClr val="tx1"/>
                        </a:solidFill>
                        <a:latin typeface="+mn-ea"/>
                        <a:ea typeface="+mn-ea"/>
                        <a:cs typeface="+mn-cs"/>
                      </a:endParaRPr>
                    </a:p>
                    <a:p>
                      <a:pPr algn="l" fontAlgn="ctr"/>
                      <a:r>
                        <a:rPr lang="en-US" altLang="ko-KR" sz="800" kern="1200" dirty="0">
                          <a:solidFill>
                            <a:schemeClr val="tx1"/>
                          </a:solidFill>
                          <a:latin typeface="+mn-ea"/>
                          <a:ea typeface="+mn-ea"/>
                          <a:cs typeface="+mn-cs"/>
                        </a:rPr>
                        <a:t>– 1 </a:t>
                      </a:r>
                      <a:r>
                        <a:rPr lang="ko-KR" altLang="en-US" sz="800" kern="1200" dirty="0">
                          <a:solidFill>
                            <a:schemeClr val="tx1"/>
                          </a:solidFill>
                          <a:latin typeface="+mn-ea"/>
                          <a:ea typeface="+mn-ea"/>
                          <a:cs typeface="+mn-cs"/>
                        </a:rPr>
                        <a:t>일반정보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ea"/>
                          <a:ea typeface="+mn-ea"/>
                        </a:rPr>
                        <a:t>Implt1</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적격심사 대상 공고에 심사 신청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/Implt1.tsx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kern="1200" dirty="0">
                          <a:solidFill>
                            <a:schemeClr val="tx1"/>
                          </a:solidFill>
                          <a:latin typeface="+mn-ea"/>
                          <a:ea typeface="+mn-ea"/>
                          <a:cs typeface="+mn-cs"/>
                        </a:rPr>
                        <a:t>UC-BD-14-01</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28435498"/>
                  </a:ext>
                </a:extLst>
              </a:tr>
              <a:tr h="180000">
                <a:tc>
                  <a:txBody>
                    <a:bodyPr/>
                    <a:lstStyle/>
                    <a:p>
                      <a:pPr algn="ctr" fontAlgn="ctr"/>
                      <a:r>
                        <a:rPr lang="en-US" sz="700" kern="1200" dirty="0">
                          <a:solidFill>
                            <a:schemeClr val="tx1"/>
                          </a:solidFill>
                          <a:latin typeface="+mn-ea"/>
                          <a:ea typeface="+mn-ea"/>
                          <a:cs typeface="+mn-cs"/>
                        </a:rPr>
                        <a:t>MUI-BD-10-M02</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a:solidFill>
                            <a:schemeClr val="tx1"/>
                          </a:solidFill>
                          <a:latin typeface="+mn-ea"/>
                          <a:ea typeface="+mn-ea"/>
                          <a:cs typeface="+mn-cs"/>
                        </a:rPr>
                        <a:t>이행</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적격심사상세 </a:t>
                      </a:r>
                      <a:endParaRPr lang="en-US" altLang="ko-KR" sz="800" kern="1200" dirty="0">
                        <a:solidFill>
                          <a:schemeClr val="tx1"/>
                        </a:solidFill>
                        <a:latin typeface="+mn-ea"/>
                        <a:ea typeface="+mn-ea"/>
                        <a:cs typeface="+mn-cs"/>
                      </a:endParaRPr>
                    </a:p>
                    <a:p>
                      <a:pPr algn="l" fontAlgn="ctr"/>
                      <a:r>
                        <a:rPr lang="en-US" altLang="ko-KR" sz="800" kern="1200" dirty="0">
                          <a:solidFill>
                            <a:schemeClr val="tx1"/>
                          </a:solidFill>
                          <a:latin typeface="+mn-ea"/>
                          <a:ea typeface="+mn-ea"/>
                          <a:cs typeface="+mn-cs"/>
                        </a:rPr>
                        <a:t>– 2 </a:t>
                      </a:r>
                      <a:r>
                        <a:rPr lang="ko-KR" altLang="en-US" sz="800" kern="1200" dirty="0">
                          <a:solidFill>
                            <a:schemeClr val="tx1"/>
                          </a:solidFill>
                          <a:latin typeface="+mn-ea"/>
                          <a:ea typeface="+mn-ea"/>
                          <a:cs typeface="+mn-cs"/>
                        </a:rPr>
                        <a:t>입찰</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반려 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a:solidFill>
                            <a:schemeClr val="tx1"/>
                          </a:solidFill>
                          <a:latin typeface="+mn-ea"/>
                          <a:ea typeface="+mn-ea"/>
                        </a:rPr>
                        <a:t>Implt2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a:solidFill>
                            <a:schemeClr val="tx1"/>
                          </a:solidFill>
                          <a:latin typeface="+mn-ea"/>
                          <a:ea typeface="+mn-ea"/>
                          <a:cs typeface="+mn-cs"/>
                        </a:rPr>
                        <a:t>적격심사 대상 공고에 심사 신청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/Implt2.tsx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kern="1200" dirty="0">
                          <a:solidFill>
                            <a:schemeClr val="tx1"/>
                          </a:solidFill>
                          <a:latin typeface="+mn-ea"/>
                          <a:ea typeface="+mn-ea"/>
                          <a:cs typeface="+mn-cs"/>
                        </a:rPr>
                        <a:t>UC-BD-14-01</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048609446"/>
                  </a:ext>
                </a:extLst>
              </a:tr>
              <a:tr h="180000">
                <a:tc>
                  <a:txBody>
                    <a:bodyPr/>
                    <a:lstStyle/>
                    <a:p>
                      <a:pPr algn="ctr" fontAlgn="ctr"/>
                      <a:r>
                        <a:rPr lang="en-US" sz="700" kern="1200" dirty="0">
                          <a:solidFill>
                            <a:schemeClr val="tx1"/>
                          </a:solidFill>
                          <a:latin typeface="+mn-ea"/>
                          <a:ea typeface="+mn-ea"/>
                          <a:cs typeface="+mn-cs"/>
                        </a:rPr>
                        <a:t>MUI-BD-10-M03</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a:solidFill>
                            <a:schemeClr val="tx1"/>
                          </a:solidFill>
                          <a:latin typeface="+mn-ea"/>
                          <a:ea typeface="+mn-ea"/>
                          <a:cs typeface="+mn-cs"/>
                        </a:rPr>
                        <a:t>이행</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적격심사상세 </a:t>
                      </a:r>
                      <a:endParaRPr lang="en-US" altLang="ko-KR" sz="800" kern="1200" dirty="0">
                        <a:solidFill>
                          <a:schemeClr val="tx1"/>
                        </a:solidFill>
                        <a:latin typeface="+mn-ea"/>
                        <a:ea typeface="+mn-ea"/>
                        <a:cs typeface="+mn-cs"/>
                      </a:endParaRPr>
                    </a:p>
                    <a:p>
                      <a:pPr algn="l" fontAlgn="ctr"/>
                      <a:r>
                        <a:rPr lang="en-US" altLang="ko-KR" sz="800" kern="1200" dirty="0">
                          <a:solidFill>
                            <a:schemeClr val="tx1"/>
                          </a:solidFill>
                          <a:latin typeface="+mn-ea"/>
                          <a:ea typeface="+mn-ea"/>
                          <a:cs typeface="+mn-cs"/>
                        </a:rPr>
                        <a:t>– 3 </a:t>
                      </a:r>
                      <a:r>
                        <a:rPr lang="ko-KR" altLang="en-US" sz="800" kern="1200" dirty="0">
                          <a:solidFill>
                            <a:schemeClr val="tx1"/>
                          </a:solidFill>
                          <a:latin typeface="+mn-ea"/>
                          <a:ea typeface="+mn-ea"/>
                          <a:cs typeface="+mn-cs"/>
                        </a:rPr>
                        <a:t>파일첨부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a:solidFill>
                            <a:schemeClr val="tx1"/>
                          </a:solidFill>
                          <a:latin typeface="+mn-ea"/>
                          <a:ea typeface="+mn-ea"/>
                        </a:rPr>
                        <a:t>Implt3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ko-KR" altLang="en-US" sz="800" kern="1200" dirty="0">
                          <a:solidFill>
                            <a:schemeClr val="tx1"/>
                          </a:solidFill>
                          <a:latin typeface="+mn-ea"/>
                          <a:ea typeface="+mn-ea"/>
                          <a:cs typeface="+mn-cs"/>
                        </a:rPr>
                        <a:t>적격심사 대상 공고에 심사 신청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/Implt3.tsx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kern="1200" dirty="0">
                          <a:solidFill>
                            <a:schemeClr val="tx1"/>
                          </a:solidFill>
                          <a:latin typeface="+mn-ea"/>
                          <a:ea typeface="+mn-ea"/>
                          <a:cs typeface="+mn-cs"/>
                        </a:rPr>
                        <a:t>UC-BD-14-01</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2425698238"/>
                  </a:ext>
                </a:extLst>
              </a:tr>
              <a:tr h="180000">
                <a:tc>
                  <a:txBody>
                    <a:bodyPr/>
                    <a:lstStyle/>
                    <a:p>
                      <a:pPr algn="l" fontAlgn="ctr"/>
                      <a:r>
                        <a:rPr lang="en-US" altLang="ko-KR" sz="700" kern="1200" dirty="0">
                          <a:solidFill>
                            <a:schemeClr val="tx1"/>
                          </a:solidFill>
                          <a:latin typeface="+mn-ea"/>
                          <a:ea typeface="+mn-ea"/>
                          <a:cs typeface="+mn-cs"/>
                        </a:rPr>
                        <a:t>MUI-BD-10-M04</a:t>
                      </a:r>
                      <a:endParaRPr lang="en-US" sz="7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이행</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적격심사결과상세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Implt</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lt"/>
                          <a:ea typeface="+mn-ea"/>
                        </a:rPr>
                        <a:t>아래 이행 적격심사 </a:t>
                      </a:r>
                      <a:r>
                        <a:rPr lang="ko-KR" altLang="en-US" sz="800" dirty="0" err="1">
                          <a:latin typeface="+mn-lt"/>
                          <a:ea typeface="+mn-ea"/>
                        </a:rPr>
                        <a:t>조건별</a:t>
                      </a:r>
                      <a:r>
                        <a:rPr lang="ko-KR" altLang="en-US" sz="800" dirty="0">
                          <a:latin typeface="+mn-lt"/>
                          <a:ea typeface="+mn-ea"/>
                        </a:rPr>
                        <a:t> 결과가 표시되는 구분 항목</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a:t>
                      </a:r>
                      <a:r>
                        <a:rPr lang="en-US" altLang="ko-KR" sz="900" dirty="0" err="1">
                          <a:solidFill>
                            <a:schemeClr val="tx1"/>
                          </a:solidFill>
                          <a:latin typeface="+mn-ea"/>
                          <a:ea typeface="+mn-ea"/>
                        </a:rPr>
                        <a:t>Implt.tsx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kern="1200" dirty="0">
                          <a:solidFill>
                            <a:schemeClr val="tx1"/>
                          </a:solidFill>
                          <a:latin typeface="+mn-ea"/>
                          <a:ea typeface="+mn-ea"/>
                          <a:cs typeface="+mn-cs"/>
                        </a:rPr>
                        <a:t>UC-BD-14-02</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434230572"/>
                  </a:ext>
                </a:extLst>
              </a:tr>
              <a:tr h="180000">
                <a:tc>
                  <a:txBody>
                    <a:bodyPr/>
                    <a:lstStyle/>
                    <a:p>
                      <a:pPr algn="ctr" fontAlgn="ctr"/>
                      <a:r>
                        <a:rPr lang="en-US" sz="700" kern="1200" dirty="0">
                          <a:solidFill>
                            <a:schemeClr val="tx1"/>
                          </a:solidFill>
                          <a:latin typeface="+mn-ea"/>
                          <a:ea typeface="+mn-ea"/>
                          <a:cs typeface="+mn-cs"/>
                        </a:rPr>
                        <a:t>MUI-BD-10-M04</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물품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err="1">
                          <a:solidFill>
                            <a:schemeClr val="tx1"/>
                          </a:solidFill>
                          <a:latin typeface="+mn-ea"/>
                          <a:ea typeface="+mn-ea"/>
                        </a:rPr>
                        <a:t>Cmdty</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ko-KR" altLang="en-US" sz="800" dirty="0"/>
                        <a:t>물품 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a:t>
                      </a:r>
                      <a:r>
                        <a:rPr lang="en-US" altLang="ko-KR" sz="900" dirty="0" err="1">
                          <a:solidFill>
                            <a:schemeClr val="tx1"/>
                          </a:solidFill>
                          <a:latin typeface="+mn-ea"/>
                          <a:ea typeface="+mn-ea"/>
                        </a:rPr>
                        <a:t>Cmdty.tsx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kern="1200" dirty="0">
                          <a:solidFill>
                            <a:schemeClr val="tx1"/>
                          </a:solidFill>
                          <a:latin typeface="+mn-ea"/>
                          <a:ea typeface="+mn-ea"/>
                          <a:cs typeface="+mn-cs"/>
                        </a:rPr>
                        <a:t>UC-BD-14-02</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6537186"/>
                  </a:ext>
                </a:extLst>
              </a:tr>
              <a:tr h="180000">
                <a:tc>
                  <a:txBody>
                    <a:bodyPr/>
                    <a:lstStyle/>
                    <a:p>
                      <a:pPr algn="ctr" fontAlgn="ctr"/>
                      <a:r>
                        <a:rPr lang="en-US" sz="700" kern="1200" dirty="0">
                          <a:solidFill>
                            <a:schemeClr val="tx1"/>
                          </a:solidFill>
                          <a:latin typeface="+mn-ea"/>
                          <a:ea typeface="+mn-ea"/>
                          <a:cs typeface="+mn-cs"/>
                        </a:rPr>
                        <a:t>MUI-BD-10-M05</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err="1">
                          <a:solidFill>
                            <a:schemeClr val="tx1"/>
                          </a:solidFill>
                          <a:latin typeface="+mn-ea"/>
                          <a:ea typeface="+mn-ea"/>
                        </a:rPr>
                        <a:t>Lbsvc</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ko-KR" altLang="en-US" sz="800" dirty="0"/>
                        <a:t>용역 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a:t>
                      </a:r>
                      <a:r>
                        <a:rPr lang="en-US" altLang="ko-KR" sz="900" dirty="0" err="1">
                          <a:solidFill>
                            <a:schemeClr val="tx1"/>
                          </a:solidFill>
                          <a:latin typeface="+mn-ea"/>
                          <a:ea typeface="+mn-ea"/>
                        </a:rPr>
                        <a:t>Lbsvc.tsx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078715850"/>
                  </a:ext>
                </a:extLst>
              </a:tr>
              <a:tr h="180000">
                <a:tc>
                  <a:txBody>
                    <a:bodyPr/>
                    <a:lstStyle/>
                    <a:p>
                      <a:pPr algn="ctr" fontAlgn="ctr"/>
                      <a:r>
                        <a:rPr lang="en-US" sz="700" kern="1200" dirty="0">
                          <a:solidFill>
                            <a:schemeClr val="tx1"/>
                          </a:solidFill>
                          <a:latin typeface="+mn-ea"/>
                          <a:ea typeface="+mn-ea"/>
                          <a:cs typeface="+mn-cs"/>
                        </a:rPr>
                        <a:t>MUI-BD-10-M06</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altLang="ko-KR" sz="800" kern="1200" dirty="0">
                          <a:solidFill>
                            <a:schemeClr val="tx1"/>
                          </a:solidFill>
                          <a:latin typeface="+mn-ea"/>
                          <a:ea typeface="+mn-ea"/>
                          <a:cs typeface="+mn-cs"/>
                        </a:rPr>
                        <a:t>- 10</a:t>
                      </a:r>
                      <a:r>
                        <a:rPr lang="ko-KR" altLang="en-US" sz="800" kern="1200" dirty="0">
                          <a:solidFill>
                            <a:schemeClr val="tx1"/>
                          </a:solidFill>
                          <a:latin typeface="+mn-ea"/>
                          <a:ea typeface="+mn-ea"/>
                          <a:cs typeface="+mn-cs"/>
                        </a:rPr>
                        <a:t>억원미만물품</a:t>
                      </a:r>
                      <a:r>
                        <a:rPr lang="en-US" altLang="ko-KR" sz="800" kern="1200" dirty="0">
                          <a:solidFill>
                            <a:schemeClr val="tx1"/>
                          </a:solidFill>
                          <a:latin typeface="+mn-ea"/>
                          <a:ea typeface="+mn-ea"/>
                          <a:cs typeface="+mn-cs"/>
                        </a:rPr>
                        <a:t>(</a:t>
                      </a:r>
                      <a:r>
                        <a:rPr lang="ko-KR" altLang="en-US" sz="800" kern="1200" dirty="0" err="1">
                          <a:solidFill>
                            <a:schemeClr val="tx1"/>
                          </a:solidFill>
                          <a:latin typeface="+mn-ea"/>
                          <a:ea typeface="+mn-ea"/>
                          <a:cs typeface="+mn-cs"/>
                        </a:rPr>
                        <a:t>중기청</a:t>
                      </a:r>
                      <a:r>
                        <a:rPr lang="en-US" altLang="ko-KR" sz="800" kern="1200" dirty="0">
                          <a:solidFill>
                            <a:schemeClr val="tx1"/>
                          </a:solidFill>
                          <a:latin typeface="+mn-ea"/>
                          <a:ea typeface="+mn-ea"/>
                          <a:cs typeface="+mn-cs"/>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a:solidFill>
                            <a:schemeClr val="tx1"/>
                          </a:solidFill>
                          <a:latin typeface="+mn-ea"/>
                          <a:ea typeface="+mn-ea"/>
                        </a:rPr>
                        <a:t>ItemsUnderKrw1B</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중기청</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lang="ko-KR" altLang="en-US" sz="800" dirty="0"/>
                        <a:t> 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/ItemsUnderKrw1B.tsx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075217970"/>
                  </a:ext>
                </a:extLst>
              </a:tr>
              <a:tr h="180000">
                <a:tc>
                  <a:txBody>
                    <a:bodyPr/>
                    <a:lstStyle/>
                    <a:p>
                      <a:pPr algn="ctr" fontAlgn="ctr"/>
                      <a:r>
                        <a:rPr lang="en-US" sz="700" kern="1200" dirty="0">
                          <a:solidFill>
                            <a:schemeClr val="tx1"/>
                          </a:solidFill>
                          <a:latin typeface="+mn-ea"/>
                          <a:ea typeface="+mn-ea"/>
                          <a:cs typeface="+mn-cs"/>
                        </a:rPr>
                        <a:t>MUI-BD-10-M07</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altLang="ko-KR" sz="800" kern="1200" dirty="0">
                          <a:solidFill>
                            <a:schemeClr val="tx1"/>
                          </a:solidFill>
                          <a:latin typeface="+mn-ea"/>
                          <a:ea typeface="+mn-ea"/>
                          <a:cs typeface="+mn-cs"/>
                        </a:rPr>
                        <a:t>- 10</a:t>
                      </a:r>
                      <a:r>
                        <a:rPr lang="ko-KR" altLang="en-US" sz="800" kern="1200" dirty="0">
                          <a:solidFill>
                            <a:schemeClr val="tx1"/>
                          </a:solidFill>
                          <a:latin typeface="+mn-ea"/>
                          <a:ea typeface="+mn-ea"/>
                          <a:cs typeface="+mn-cs"/>
                        </a:rPr>
                        <a:t>억원미만물품제조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a:solidFill>
                            <a:schemeClr val="tx1"/>
                          </a:solidFill>
                          <a:latin typeface="+mn-ea"/>
                          <a:ea typeface="+mn-ea"/>
                        </a:rPr>
                        <a:t>ManufacturingofItemsUnderKrw1B</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 제조</a:t>
                      </a:r>
                      <a:r>
                        <a:rPr lang="ko-KR" altLang="en-US" sz="800" dirty="0"/>
                        <a:t> 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err="1">
                          <a:solidFill>
                            <a:schemeClr val="tx1"/>
                          </a:solidFill>
                          <a:latin typeface="+mn-ea"/>
                          <a:ea typeface="+mn-ea"/>
                        </a:rPr>
                        <a:t>src</a:t>
                      </a:r>
                      <a:r>
                        <a:rPr lang="en-US" altLang="ko-KR" sz="900" dirty="0">
                          <a:solidFill>
                            <a:schemeClr val="tx1"/>
                          </a:solidFill>
                          <a:latin typeface="+mn-ea"/>
                          <a:ea typeface="+mn-ea"/>
                        </a:rPr>
                        <a:t>/</a:t>
                      </a:r>
                      <a:r>
                        <a:rPr lang="en-US" altLang="ko-KR" sz="900" dirty="0" err="1">
                          <a:solidFill>
                            <a:schemeClr val="tx1"/>
                          </a:solidFill>
                          <a:latin typeface="+mn-ea"/>
                          <a:ea typeface="+mn-ea"/>
                        </a:rPr>
                        <a:t>ui</a:t>
                      </a:r>
                      <a:r>
                        <a:rPr lang="en-US" altLang="ko-KR" sz="900" dirty="0">
                          <a:solidFill>
                            <a:schemeClr val="tx1"/>
                          </a:solidFill>
                          <a:latin typeface="+mn-ea"/>
                          <a:ea typeface="+mn-ea"/>
                        </a:rPr>
                        <a:t>/biz/</a:t>
                      </a:r>
                      <a:r>
                        <a:rPr lang="en-US" altLang="ko-KR" sz="900" dirty="0" err="1">
                          <a:solidFill>
                            <a:schemeClr val="tx1"/>
                          </a:solidFill>
                          <a:latin typeface="+mn-ea"/>
                          <a:ea typeface="+mn-ea"/>
                        </a:rPr>
                        <a:t>bd</a:t>
                      </a:r>
                      <a:r>
                        <a:rPr lang="en-US" altLang="ko-KR" sz="900" dirty="0">
                          <a:solidFill>
                            <a:schemeClr val="tx1"/>
                          </a:solidFill>
                          <a:latin typeface="+mn-ea"/>
                          <a:ea typeface="+mn-ea"/>
                        </a:rPr>
                        <a:t>/</a:t>
                      </a:r>
                      <a:r>
                        <a:rPr lang="en-US" altLang="ko-KR" sz="900" dirty="0" err="1">
                          <a:solidFill>
                            <a:schemeClr val="tx1"/>
                          </a:solidFill>
                          <a:latin typeface="+mn-ea"/>
                          <a:ea typeface="+mn-ea"/>
                        </a:rPr>
                        <a:t>bidRsltDtl</a:t>
                      </a:r>
                      <a:endParaRPr lang="ko-KR" altLang="en-US" sz="9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/ManufacturingofItemsUnderKrw1B.tsx</a:t>
                      </a:r>
                      <a:endParaRPr lang="ko-KR" altLang="en-US" sz="9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3606456915"/>
                  </a:ext>
                </a:extLst>
              </a:tr>
            </a:tbl>
          </a:graphicData>
        </a:graphic>
      </p:graphicFrame>
      <p:sp>
        <p:nvSpPr>
          <p:cNvPr id="5"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55074780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134</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6. </a:t>
            </a:r>
            <a:r>
              <a:rPr lang="ko-KR" altLang="en-US" dirty="0" err="1"/>
              <a:t>개찰목록</a:t>
            </a:r>
            <a:r>
              <a:rPr lang="ko-KR" altLang="en-US" dirty="0"/>
              <a:t> 및 이행</a:t>
            </a:r>
            <a:r>
              <a:rPr lang="en-US" altLang="ko-KR" dirty="0"/>
              <a:t>/</a:t>
            </a:r>
            <a:r>
              <a:rPr lang="ko-KR" altLang="en-US" dirty="0"/>
              <a:t>적격심사</a:t>
            </a:r>
            <a:endParaRPr lang="en-US" altLang="ko-KR" dirty="0"/>
          </a:p>
          <a:p>
            <a:r>
              <a:rPr lang="en-US" altLang="ko-KR" dirty="0"/>
              <a:t>6.1 </a:t>
            </a:r>
            <a:r>
              <a:rPr lang="ko-KR" altLang="en-US" dirty="0"/>
              <a:t>화면 목록 </a:t>
            </a:r>
            <a:r>
              <a:rPr lang="en-US" altLang="ko-KR" dirty="0"/>
              <a:t>(2/3)</a:t>
            </a:r>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1705912316"/>
              </p:ext>
            </p:extLst>
          </p:nvPr>
        </p:nvGraphicFramePr>
        <p:xfrm>
          <a:off x="635474" y="1413419"/>
          <a:ext cx="8701200" cy="483934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b="0" kern="1200" dirty="0">
                          <a:solidFill>
                            <a:schemeClr val="tx1"/>
                          </a:solidFill>
                          <a:latin typeface="+mn-ea"/>
                          <a:ea typeface="+mn-ea"/>
                          <a:cs typeface="+mn-cs"/>
                        </a:rPr>
                        <a:t>MUI-BD-10-M08</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altLang="ko-KR" sz="800" kern="1200" dirty="0">
                          <a:solidFill>
                            <a:schemeClr val="tx1"/>
                          </a:solidFill>
                          <a:latin typeface="+mn-ea"/>
                          <a:ea typeface="+mn-ea"/>
                          <a:cs typeface="+mn-cs"/>
                        </a:rPr>
                        <a:t>- 10</a:t>
                      </a:r>
                      <a:r>
                        <a:rPr lang="ko-KR" altLang="en-US" sz="800" kern="1200" dirty="0">
                          <a:solidFill>
                            <a:schemeClr val="tx1"/>
                          </a:solidFill>
                          <a:latin typeface="+mn-ea"/>
                          <a:ea typeface="+mn-ea"/>
                          <a:cs typeface="+mn-cs"/>
                        </a:rPr>
                        <a:t>억원미만물품제조</a:t>
                      </a:r>
                      <a:r>
                        <a:rPr lang="en-US" altLang="ko-KR" sz="800" kern="1200" dirty="0">
                          <a:solidFill>
                            <a:schemeClr val="tx1"/>
                          </a:solidFill>
                          <a:latin typeface="+mn-ea"/>
                          <a:ea typeface="+mn-ea"/>
                          <a:cs typeface="+mn-cs"/>
                        </a:rPr>
                        <a:t>2015</a:t>
                      </a:r>
                      <a:r>
                        <a:rPr lang="ko-KR" altLang="en-US" sz="800" kern="1200" dirty="0">
                          <a:solidFill>
                            <a:schemeClr val="tx1"/>
                          </a:solidFill>
                          <a:latin typeface="+mn-ea"/>
                          <a:ea typeface="+mn-ea"/>
                          <a:cs typeface="+mn-cs"/>
                        </a:rPr>
                        <a:t>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lt"/>
                          <a:ea typeface="+mn-ea"/>
                        </a:rPr>
                        <a:t>ManufacturingofItemsUnderKrw1B</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lang="en-US" altLang="ko-KR" sz="800" dirty="0"/>
                        <a:t>2015</a:t>
                      </a:r>
                      <a:r>
                        <a:rPr lang="ko-KR" altLang="en-US" sz="800" dirty="0"/>
                        <a:t>년 </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 제조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a:solidFill>
                            <a:schemeClr val="tx1"/>
                          </a:solidFill>
                          <a:latin typeface="+mn-lt"/>
                          <a:ea typeface="+mn-ea"/>
                        </a:rPr>
                        <a:t>ManufacturingofItemsUnderKrw1B</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288485399"/>
                  </a:ext>
                </a:extLst>
              </a:tr>
              <a:tr h="180000">
                <a:tc>
                  <a:txBody>
                    <a:bodyPr/>
                    <a:lstStyle/>
                    <a:p>
                      <a:pPr algn="ctr" fontAlgn="ctr"/>
                      <a:r>
                        <a:rPr lang="en-US" sz="700" kern="1200" dirty="0">
                          <a:solidFill>
                            <a:schemeClr val="tx1"/>
                          </a:solidFill>
                          <a:latin typeface="+mn-ea"/>
                          <a:ea typeface="+mn-ea"/>
                          <a:cs typeface="+mn-cs"/>
                        </a:rPr>
                        <a:t>MUI-BD-10-M09</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a:solidFill>
                            <a:schemeClr val="tx1"/>
                          </a:solidFill>
                          <a:latin typeface="+mn-ea"/>
                          <a:ea typeface="+mn-ea"/>
                          <a:cs typeface="+mn-cs"/>
                        </a:rPr>
                        <a:t>- 10</a:t>
                      </a:r>
                      <a:r>
                        <a:rPr lang="ko-KR" altLang="en-US" sz="800" kern="1200" dirty="0">
                          <a:solidFill>
                            <a:schemeClr val="tx1"/>
                          </a:solidFill>
                          <a:latin typeface="+mn-ea"/>
                          <a:ea typeface="+mn-ea"/>
                          <a:cs typeface="+mn-cs"/>
                        </a:rPr>
                        <a:t>억원미만물품구매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lt"/>
                          <a:ea typeface="+mn-ea"/>
                        </a:rPr>
                        <a:t>PurchaseofItemsUnderKrw1B</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 구매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a:solidFill>
                            <a:schemeClr val="tx1"/>
                          </a:solidFill>
                          <a:latin typeface="+mn-lt"/>
                          <a:ea typeface="+mn-ea"/>
                        </a:rPr>
                        <a:t>PurchaseofItemsUnderKrw1B</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5522575"/>
                  </a:ext>
                </a:extLst>
              </a:tr>
              <a:tr h="180000">
                <a:tc>
                  <a:txBody>
                    <a:bodyPr/>
                    <a:lstStyle/>
                    <a:p>
                      <a:pPr algn="ctr" fontAlgn="ctr"/>
                      <a:r>
                        <a:rPr lang="en-US" sz="700" kern="1200" dirty="0">
                          <a:solidFill>
                            <a:schemeClr val="tx1"/>
                          </a:solidFill>
                          <a:latin typeface="+mn-ea"/>
                          <a:ea typeface="+mn-ea"/>
                          <a:cs typeface="+mn-cs"/>
                        </a:rPr>
                        <a:t>MUI-BD-10-M10</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a:solidFill>
                            <a:schemeClr val="tx1"/>
                          </a:solidFill>
                          <a:latin typeface="+mn-ea"/>
                          <a:ea typeface="+mn-ea"/>
                          <a:cs typeface="+mn-cs"/>
                        </a:rPr>
                        <a:t>- 10</a:t>
                      </a:r>
                      <a:r>
                        <a:rPr lang="ko-KR" altLang="en-US" sz="800" kern="1200" dirty="0">
                          <a:solidFill>
                            <a:schemeClr val="tx1"/>
                          </a:solidFill>
                          <a:latin typeface="+mn-ea"/>
                          <a:ea typeface="+mn-ea"/>
                          <a:cs typeface="+mn-cs"/>
                        </a:rPr>
                        <a:t>억원미만물품구매</a:t>
                      </a:r>
                      <a:r>
                        <a:rPr lang="en-US" altLang="ko-KR" sz="800" kern="1200" dirty="0">
                          <a:solidFill>
                            <a:schemeClr val="tx1"/>
                          </a:solidFill>
                          <a:latin typeface="+mn-ea"/>
                          <a:ea typeface="+mn-ea"/>
                          <a:cs typeface="+mn-cs"/>
                        </a:rPr>
                        <a:t>2015</a:t>
                      </a:r>
                      <a:r>
                        <a:rPr lang="ko-KR" altLang="en-US" sz="800" kern="1200" dirty="0">
                          <a:solidFill>
                            <a:schemeClr val="tx1"/>
                          </a:solidFill>
                          <a:latin typeface="+mn-ea"/>
                          <a:ea typeface="+mn-ea"/>
                          <a:cs typeface="+mn-cs"/>
                        </a:rPr>
                        <a:t>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lt"/>
                          <a:ea typeface="+mn-ea"/>
                        </a:rPr>
                        <a:t>PurchaseofItemsUnderKrw1B</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t>2015</a:t>
                      </a:r>
                      <a:r>
                        <a:rPr lang="ko-KR" altLang="en-US" sz="800" dirty="0"/>
                        <a:t>년 </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 구매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a:solidFill>
                            <a:schemeClr val="tx1"/>
                          </a:solidFill>
                          <a:latin typeface="+mn-lt"/>
                          <a:ea typeface="+mn-ea"/>
                        </a:rPr>
                        <a:t>PurchaseofItemsUnderKrw1B</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40849787"/>
                  </a:ext>
                </a:extLst>
              </a:tr>
              <a:tr h="180000">
                <a:tc>
                  <a:txBody>
                    <a:bodyPr/>
                    <a:lstStyle/>
                    <a:p>
                      <a:pPr algn="ctr" fontAlgn="ctr"/>
                      <a:r>
                        <a:rPr lang="en-US" sz="700" kern="1200" dirty="0">
                          <a:solidFill>
                            <a:schemeClr val="tx1"/>
                          </a:solidFill>
                          <a:latin typeface="+mn-ea"/>
                          <a:ea typeface="+mn-ea"/>
                          <a:cs typeface="+mn-cs"/>
                        </a:rPr>
                        <a:t>MUI-BD-10-M11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a:solidFill>
                            <a:schemeClr val="tx1"/>
                          </a:solidFill>
                          <a:latin typeface="+mn-ea"/>
                          <a:ea typeface="+mn-ea"/>
                          <a:cs typeface="+mn-cs"/>
                        </a:rPr>
                        <a:t>- 10</a:t>
                      </a:r>
                      <a:r>
                        <a:rPr lang="ko-KR" altLang="en-US" sz="800" kern="1200" dirty="0">
                          <a:solidFill>
                            <a:schemeClr val="tx1"/>
                          </a:solidFill>
                          <a:latin typeface="+mn-ea"/>
                          <a:ea typeface="+mn-ea"/>
                          <a:cs typeface="+mn-cs"/>
                        </a:rPr>
                        <a:t>억원미만물품제조</a:t>
                      </a:r>
                      <a:r>
                        <a:rPr lang="en-US" altLang="ko-KR" sz="800" kern="1200" dirty="0">
                          <a:solidFill>
                            <a:schemeClr val="tx1"/>
                          </a:solidFill>
                          <a:latin typeface="+mn-ea"/>
                          <a:ea typeface="+mn-ea"/>
                          <a:cs typeface="+mn-cs"/>
                        </a:rPr>
                        <a:t>2018</a:t>
                      </a:r>
                      <a:r>
                        <a:rPr lang="ko-KR" altLang="en-US" sz="800" kern="1200" dirty="0">
                          <a:solidFill>
                            <a:schemeClr val="tx1"/>
                          </a:solidFill>
                          <a:latin typeface="+mn-ea"/>
                          <a:ea typeface="+mn-ea"/>
                          <a:cs typeface="+mn-cs"/>
                        </a:rPr>
                        <a:t>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lt"/>
                          <a:ea typeface="+mn-ea"/>
                        </a:rPr>
                        <a:t>ManufacturingofItemsUnderKrw1B</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t>2018</a:t>
                      </a:r>
                      <a:r>
                        <a:rPr lang="ko-KR" altLang="en-US" sz="800" dirty="0"/>
                        <a:t>년 </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 제조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a:solidFill>
                            <a:schemeClr val="tx1"/>
                          </a:solidFill>
                          <a:latin typeface="+mn-lt"/>
                          <a:ea typeface="+mn-ea"/>
                        </a:rPr>
                        <a:t>PurchaseofItemsUnderKrw1B</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00356552"/>
                  </a:ext>
                </a:extLst>
              </a:tr>
              <a:tr h="180000">
                <a:tc>
                  <a:txBody>
                    <a:bodyPr/>
                    <a:lstStyle/>
                    <a:p>
                      <a:pPr algn="ctr" fontAlgn="ctr"/>
                      <a:r>
                        <a:rPr lang="en-US" sz="700" kern="1200" dirty="0">
                          <a:solidFill>
                            <a:schemeClr val="tx1"/>
                          </a:solidFill>
                          <a:latin typeface="+mn-ea"/>
                          <a:ea typeface="+mn-ea"/>
                          <a:cs typeface="+mn-cs"/>
                        </a:rPr>
                        <a:t>MUI-BD-10-M12</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a:solidFill>
                            <a:schemeClr val="tx1"/>
                          </a:solidFill>
                          <a:latin typeface="+mn-ea"/>
                          <a:ea typeface="+mn-ea"/>
                          <a:cs typeface="+mn-cs"/>
                        </a:rPr>
                        <a:t>- 10</a:t>
                      </a:r>
                      <a:r>
                        <a:rPr lang="ko-KR" altLang="en-US" sz="800" kern="1200">
                          <a:solidFill>
                            <a:schemeClr val="tx1"/>
                          </a:solidFill>
                          <a:latin typeface="+mn-ea"/>
                          <a:ea typeface="+mn-ea"/>
                          <a:cs typeface="+mn-cs"/>
                        </a:rPr>
                        <a:t>억원미만물품구매</a:t>
                      </a:r>
                      <a:r>
                        <a:rPr lang="en-US" altLang="ko-KR" sz="800" kern="1200">
                          <a:solidFill>
                            <a:schemeClr val="tx1"/>
                          </a:solidFill>
                          <a:latin typeface="+mn-ea"/>
                          <a:ea typeface="+mn-ea"/>
                          <a:cs typeface="+mn-cs"/>
                        </a:rPr>
                        <a:t>2018</a:t>
                      </a:r>
                      <a:r>
                        <a:rPr lang="ko-KR" altLang="en-US" sz="800" kern="1200">
                          <a:solidFill>
                            <a:schemeClr val="tx1"/>
                          </a:solidFill>
                          <a:latin typeface="+mn-ea"/>
                          <a:ea typeface="+mn-ea"/>
                          <a:cs typeface="+mn-cs"/>
                        </a:rPr>
                        <a:t>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lt"/>
                          <a:ea typeface="+mn-ea"/>
                        </a:rPr>
                        <a:t>PurchaseofItemsUnderkrw1B</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t>2018</a:t>
                      </a:r>
                      <a:r>
                        <a:rPr lang="ko-KR" altLang="en-US" sz="800" dirty="0"/>
                        <a:t>년 </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 물품 구매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a:solidFill>
                            <a:schemeClr val="tx1"/>
                          </a:solidFill>
                          <a:latin typeface="+mn-lt"/>
                          <a:ea typeface="+mn-ea"/>
                        </a:rPr>
                        <a:t>PurchaseofItemsUnderKrw1B</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0486078"/>
                  </a:ext>
                </a:extLst>
              </a:tr>
              <a:tr h="180000">
                <a:tc>
                  <a:txBody>
                    <a:bodyPr/>
                    <a:lstStyle/>
                    <a:p>
                      <a:pPr algn="ctr" fontAlgn="ctr"/>
                      <a:r>
                        <a:rPr lang="en-US" sz="700" kern="1200" dirty="0">
                          <a:solidFill>
                            <a:schemeClr val="tx1"/>
                          </a:solidFill>
                          <a:latin typeface="+mn-ea"/>
                          <a:ea typeface="+mn-ea"/>
                          <a:cs typeface="+mn-cs"/>
                        </a:rPr>
                        <a:t>MUI-BD-10-M13</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고시금액미만</a:t>
                      </a:r>
                      <a:r>
                        <a:rPr lang="en-US" altLang="ko-KR" sz="800" kern="1200" dirty="0">
                          <a:solidFill>
                            <a:schemeClr val="tx1"/>
                          </a:solidFill>
                          <a:latin typeface="+mn-ea"/>
                          <a:ea typeface="+mn-ea"/>
                          <a:cs typeface="+mn-cs"/>
                        </a:rPr>
                        <a:t>(</a:t>
                      </a:r>
                      <a:r>
                        <a:rPr lang="ko-KR" altLang="en-US" sz="800" kern="1200" dirty="0" err="1">
                          <a:solidFill>
                            <a:schemeClr val="tx1"/>
                          </a:solidFill>
                          <a:latin typeface="+mn-ea"/>
                          <a:ea typeface="+mn-ea"/>
                          <a:cs typeface="+mn-cs"/>
                        </a:rPr>
                        <a:t>중기청</a:t>
                      </a:r>
                      <a:r>
                        <a:rPr lang="en-US" altLang="ko-KR" sz="800" kern="1200" dirty="0">
                          <a:solidFill>
                            <a:schemeClr val="tx1"/>
                          </a:solidFill>
                          <a:latin typeface="+mn-ea"/>
                          <a:ea typeface="+mn-ea"/>
                          <a:cs typeface="+mn-cs"/>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BelowThreshold</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ko-KR" altLang="en-US" sz="800" b="0" i="0" u="none" strike="noStrike" kern="1200" cap="none" spc="0" normalizeH="0" baseline="0" noProof="0" dirty="0">
                          <a:ln>
                            <a:noFill/>
                          </a:ln>
                          <a:solidFill>
                            <a:prstClr val="black"/>
                          </a:solidFill>
                          <a:effectLst/>
                          <a:uLnTx/>
                          <a:uFillTx/>
                          <a:latin typeface="+mn-lt"/>
                          <a:ea typeface="+mn-ea"/>
                          <a:cs typeface="+mn-cs"/>
                        </a:rPr>
                        <a:t>고시금액미만</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중기청</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물품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err="1">
                          <a:solidFill>
                            <a:schemeClr val="tx1"/>
                          </a:solidFill>
                          <a:latin typeface="+mn-lt"/>
                          <a:ea typeface="+mn-ea"/>
                        </a:rPr>
                        <a:t>BelowThreshold</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64873586"/>
                  </a:ext>
                </a:extLst>
              </a:tr>
              <a:tr h="180000">
                <a:tc>
                  <a:txBody>
                    <a:bodyPr/>
                    <a:lstStyle/>
                    <a:p>
                      <a:pPr algn="ctr" fontAlgn="ctr"/>
                      <a:r>
                        <a:rPr lang="en-US" sz="700" kern="1200" dirty="0">
                          <a:solidFill>
                            <a:schemeClr val="tx1"/>
                          </a:solidFill>
                          <a:latin typeface="+mn-ea"/>
                          <a:ea typeface="+mn-ea"/>
                          <a:cs typeface="+mn-cs"/>
                        </a:rPr>
                        <a:t>MUI-BD-10-M14</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고시금액이상</a:t>
                      </a:r>
                      <a:r>
                        <a:rPr lang="en-US" altLang="ko-KR" sz="800" kern="1200" dirty="0">
                          <a:solidFill>
                            <a:schemeClr val="tx1"/>
                          </a:solidFill>
                          <a:latin typeface="+mn-ea"/>
                          <a:ea typeface="+mn-ea"/>
                          <a:cs typeface="+mn-cs"/>
                        </a:rPr>
                        <a:t>10</a:t>
                      </a:r>
                      <a:r>
                        <a:rPr lang="ko-KR" altLang="en-US" sz="800" kern="1200" dirty="0" err="1">
                          <a:solidFill>
                            <a:schemeClr val="tx1"/>
                          </a:solidFill>
                          <a:latin typeface="+mn-ea"/>
                          <a:ea typeface="+mn-ea"/>
                          <a:cs typeface="+mn-cs"/>
                        </a:rPr>
                        <a:t>억원미만</a:t>
                      </a:r>
                      <a:r>
                        <a:rPr lang="en-US" altLang="ko-KR" sz="800" kern="1200" dirty="0">
                          <a:solidFill>
                            <a:schemeClr val="tx1"/>
                          </a:solidFill>
                          <a:latin typeface="+mn-ea"/>
                          <a:ea typeface="+mn-ea"/>
                          <a:cs typeface="+mn-cs"/>
                        </a:rPr>
                        <a:t>(</a:t>
                      </a:r>
                      <a:r>
                        <a:rPr lang="ko-KR" altLang="en-US" sz="800" kern="1200" dirty="0" err="1">
                          <a:solidFill>
                            <a:schemeClr val="tx1"/>
                          </a:solidFill>
                          <a:latin typeface="+mn-ea"/>
                          <a:ea typeface="+mn-ea"/>
                          <a:cs typeface="+mn-cs"/>
                        </a:rPr>
                        <a:t>중기청</a:t>
                      </a:r>
                      <a:r>
                        <a:rPr lang="en-US" altLang="ko-KR" sz="800" kern="1200" dirty="0">
                          <a:solidFill>
                            <a:schemeClr val="tx1"/>
                          </a:solidFill>
                          <a:latin typeface="+mn-ea"/>
                          <a:ea typeface="+mn-ea"/>
                          <a:cs typeface="+mn-cs"/>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a:solidFill>
                            <a:schemeClr val="tx1"/>
                          </a:solidFill>
                          <a:latin typeface="+mn-lt"/>
                          <a:ea typeface="+mn-ea"/>
                        </a:rPr>
                        <a:t>ThresholdKrw1B</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latinLnBrk="1">
                        <a:defRPr/>
                      </a:pPr>
                      <a:r>
                        <a:rPr kumimoji="0" lang="ko-KR" altLang="en-US" sz="800" b="0" i="0" u="none" strike="noStrike" kern="1200" cap="none" spc="0" normalizeH="0" baseline="0" noProof="0" dirty="0">
                          <a:ln>
                            <a:noFill/>
                          </a:ln>
                          <a:solidFill>
                            <a:prstClr val="black"/>
                          </a:solidFill>
                          <a:effectLst/>
                          <a:uLnTx/>
                          <a:uFillTx/>
                          <a:latin typeface="+mn-lt"/>
                          <a:ea typeface="+mn-ea"/>
                          <a:cs typeface="+mn-cs"/>
                        </a:rPr>
                        <a:t>고시금액이상</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억원미만</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중기청</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물품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a:solidFill>
                            <a:schemeClr val="tx1"/>
                          </a:solidFill>
                          <a:latin typeface="+mn-lt"/>
                          <a:ea typeface="+mn-ea"/>
                        </a:rPr>
                        <a:t>ThresholdKrw1B</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227836275"/>
                  </a:ext>
                </a:extLst>
              </a:tr>
              <a:tr h="180000">
                <a:tc>
                  <a:txBody>
                    <a:bodyPr/>
                    <a:lstStyle/>
                    <a:p>
                      <a:pPr algn="ctr" fontAlgn="ctr"/>
                      <a:r>
                        <a:rPr lang="en-US" sz="700" kern="1200" dirty="0">
                          <a:solidFill>
                            <a:schemeClr val="tx1"/>
                          </a:solidFill>
                          <a:latin typeface="+mn-ea"/>
                          <a:ea typeface="+mn-ea"/>
                          <a:cs typeface="+mn-cs"/>
                        </a:rPr>
                        <a:t>MUI-BD-10-M15</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fontAlgn="ctr"/>
                      <a:r>
                        <a:rPr lang="en-US" altLang="ko-KR" sz="800" kern="1200" dirty="0">
                          <a:solidFill>
                            <a:schemeClr val="tx1"/>
                          </a:solidFill>
                          <a:latin typeface="+mn-ea"/>
                          <a:ea typeface="+mn-ea"/>
                          <a:cs typeface="+mn-cs"/>
                        </a:rPr>
                        <a:t>- 10</a:t>
                      </a:r>
                      <a:r>
                        <a:rPr lang="ko-KR" altLang="en-US" sz="800" kern="1200" dirty="0" err="1">
                          <a:solidFill>
                            <a:schemeClr val="tx1"/>
                          </a:solidFill>
                          <a:latin typeface="+mn-ea"/>
                          <a:ea typeface="+mn-ea"/>
                          <a:cs typeface="+mn-cs"/>
                        </a:rPr>
                        <a:t>억원이상</a:t>
                      </a:r>
                      <a:r>
                        <a:rPr lang="en-US" altLang="ko-KR" sz="800" kern="1200" dirty="0">
                          <a:solidFill>
                            <a:schemeClr val="tx1"/>
                          </a:solidFill>
                          <a:latin typeface="+mn-ea"/>
                          <a:ea typeface="+mn-ea"/>
                          <a:cs typeface="+mn-cs"/>
                        </a:rPr>
                        <a:t>(</a:t>
                      </a:r>
                      <a:r>
                        <a:rPr lang="ko-KR" altLang="en-US" sz="800" kern="1200" dirty="0" err="1">
                          <a:solidFill>
                            <a:schemeClr val="tx1"/>
                          </a:solidFill>
                          <a:latin typeface="+mn-ea"/>
                          <a:ea typeface="+mn-ea"/>
                          <a:cs typeface="+mn-cs"/>
                        </a:rPr>
                        <a:t>중기청</a:t>
                      </a:r>
                      <a:r>
                        <a:rPr lang="en-US" altLang="ko-KR" sz="800" kern="1200" dirty="0">
                          <a:solidFill>
                            <a:schemeClr val="tx1"/>
                          </a:solidFill>
                          <a:latin typeface="+mn-ea"/>
                          <a:ea typeface="+mn-ea"/>
                          <a:cs typeface="+mn-cs"/>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l" latinLnBrk="1">
                        <a:defRPr/>
                      </a:pPr>
                      <a:r>
                        <a:rPr lang="en-US" altLang="ko-KR" sz="800" dirty="0">
                          <a:solidFill>
                            <a:schemeClr val="tx1"/>
                          </a:solidFill>
                          <a:latin typeface="+mn-lt"/>
                          <a:ea typeface="+mn-ea"/>
                        </a:rPr>
                        <a:t>OverKrw1B</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en-US" altLang="ko-KR" sz="800" b="0" i="0" u="none" strike="noStrike" kern="1200" cap="none" spc="0" normalizeH="0" baseline="0" noProof="0" dirty="0">
                          <a:ln>
                            <a:noFill/>
                          </a:ln>
                          <a:solidFill>
                            <a:prstClr val="black"/>
                          </a:solidFill>
                          <a:effectLst/>
                          <a:uLnTx/>
                          <a:uFillTx/>
                          <a:latin typeface="+mn-lt"/>
                          <a:ea typeface="+mn-ea"/>
                          <a:cs typeface="+mn-cs"/>
                        </a:rPr>
                        <a:t>10</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억원이상</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mn-lt"/>
                          <a:ea typeface="+mn-ea"/>
                          <a:cs typeface="+mn-cs"/>
                        </a:rPr>
                        <a:t>중기청</a:t>
                      </a:r>
                      <a:r>
                        <a:rPr kumimoji="0" lang="en-US" altLang="ko-KR" sz="800" b="0" i="0" u="none" strike="noStrike" kern="1200" cap="none" spc="0" normalizeH="0" baseline="0" noProof="0" dirty="0">
                          <a:ln>
                            <a:noFill/>
                          </a:ln>
                          <a:solidFill>
                            <a:prstClr val="black"/>
                          </a:solidFill>
                          <a:effectLst/>
                          <a:uLnTx/>
                          <a:uFillTx/>
                          <a:latin typeface="+mn-lt"/>
                          <a:ea typeface="+mn-ea"/>
                          <a:cs typeface="+mn-cs"/>
                        </a:rPr>
                        <a:t>)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물품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a:solidFill>
                            <a:schemeClr val="tx1"/>
                          </a:solidFill>
                          <a:latin typeface="+mn-lt"/>
                          <a:ea typeface="+mn-ea"/>
                        </a:rPr>
                        <a:t>OverKrw1B</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2203387012"/>
                  </a:ext>
                </a:extLst>
              </a:tr>
              <a:tr h="180000">
                <a:tc>
                  <a:txBody>
                    <a:bodyPr/>
                    <a:lstStyle/>
                    <a:p>
                      <a:pPr algn="ctr" fontAlgn="ctr"/>
                      <a:r>
                        <a:rPr lang="en-US" sz="700" kern="1200" dirty="0">
                          <a:solidFill>
                            <a:schemeClr val="tx1"/>
                          </a:solidFill>
                          <a:latin typeface="+mn-ea"/>
                          <a:ea typeface="+mn-ea"/>
                          <a:cs typeface="+mn-cs"/>
                        </a:rPr>
                        <a:t>MUI-BD-10-M16</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공사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ea typeface="맑은 고딕" panose="020B0503020000020004" pitchFamily="50" charset="-127"/>
                        </a:rPr>
                        <a:t>Cstrn</a:t>
                      </a:r>
                      <a:endParaRPr lang="en-US" sz="800" b="0" i="0" u="none" strike="noStrike" dirty="0">
                        <a:solidFill>
                          <a:schemeClr val="tx1"/>
                        </a:solidFill>
                        <a:effectLst/>
                        <a:latin typeface="+mn-lt"/>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ko-KR" altLang="en-US" sz="800" dirty="0"/>
                        <a:t>공사 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Cstrn</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ctr" fontAlgn="ctr"/>
                      <a:r>
                        <a:rPr lang="en-US" sz="700" kern="1200" dirty="0">
                          <a:solidFill>
                            <a:schemeClr val="tx1"/>
                          </a:solidFill>
                          <a:latin typeface="+mn-ea"/>
                          <a:ea typeface="+mn-ea"/>
                          <a:cs typeface="+mn-cs"/>
                        </a:rPr>
                        <a:t>MUI-BD-10-M17</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기술용역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ea typeface="맑은 고딕" panose="020B0503020000020004" pitchFamily="50" charset="-127"/>
                        </a:rPr>
                        <a:t>TechLbsvc</a:t>
                      </a:r>
                      <a:endParaRPr lang="en-US" sz="800" b="0" i="0" u="none" strike="noStrike" dirty="0">
                        <a:solidFill>
                          <a:schemeClr val="tx1"/>
                        </a:solidFill>
                        <a:effectLst/>
                        <a:latin typeface="+mn-lt"/>
                        <a:ea typeface="맑은 고딕" panose="020B0503020000020004" pitchFamily="50" charset="-127"/>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ko-KR" altLang="en-US" sz="800" dirty="0"/>
                        <a:t>기술용역 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TechLbsvc</a:t>
                      </a:r>
                      <a:endParaRPr lang="en-US" altLang="ko-KR" sz="800" b="0" i="0" u="none" strike="noStrike" dirty="0">
                        <a:solidFill>
                          <a:schemeClr val="tx1"/>
                        </a:solidFill>
                        <a:effectLst/>
                        <a:latin typeface="+mn-lt"/>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algn="ctr" fontAlgn="ctr"/>
                      <a:r>
                        <a:rPr lang="en-US" sz="700" kern="1200" dirty="0">
                          <a:solidFill>
                            <a:schemeClr val="tx1"/>
                          </a:solidFill>
                          <a:latin typeface="+mn-ea"/>
                          <a:ea typeface="+mn-ea"/>
                          <a:cs typeface="+mn-cs"/>
                        </a:rPr>
                        <a:t>MUI-BD-10-M18</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a:solidFill>
                            <a:schemeClr val="tx1"/>
                          </a:solidFill>
                          <a:latin typeface="+mn-ea"/>
                          <a:ea typeface="+mn-ea"/>
                          <a:cs typeface="+mn-cs"/>
                        </a:rPr>
                        <a:t>- 3</a:t>
                      </a:r>
                      <a:r>
                        <a:rPr lang="ko-KR" altLang="en-US" sz="800" kern="1200" dirty="0">
                          <a:solidFill>
                            <a:schemeClr val="tx1"/>
                          </a:solidFill>
                          <a:latin typeface="+mn-ea"/>
                          <a:ea typeface="+mn-ea"/>
                          <a:cs typeface="+mn-cs"/>
                        </a:rPr>
                        <a:t>억원미만공사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a:solidFill>
                            <a:schemeClr val="tx1"/>
                          </a:solidFill>
                          <a:latin typeface="+mn-lt"/>
                          <a:ea typeface="+mn-ea"/>
                        </a:rPr>
                        <a:t>Krw300MCstrn</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a:solidFill>
                            <a:prstClr val="black"/>
                          </a:solidFill>
                          <a:latin typeface="+mn-lt"/>
                          <a:ea typeface="+mn-ea"/>
                        </a:rPr>
                        <a:t>3</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억원 미만 공사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a:solidFill>
                            <a:schemeClr val="tx1"/>
                          </a:solidFill>
                          <a:latin typeface="+mn-lt"/>
                          <a:ea typeface="+mn-ea"/>
                        </a:rPr>
                        <a:t>Krw300MCstrn</a:t>
                      </a:r>
                      <a:endParaRPr lang="ko-KR" altLang="en-US" sz="800" dirty="0">
                        <a:solidFill>
                          <a:schemeClr val="tx1"/>
                        </a:solidFill>
                        <a:latin typeface="+mn-lt"/>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3731922"/>
                  </a:ext>
                </a:extLst>
              </a:tr>
              <a:tr h="180000">
                <a:tc>
                  <a:txBody>
                    <a:bodyPr/>
                    <a:lstStyle/>
                    <a:p>
                      <a:pPr algn="ctr" fontAlgn="ctr"/>
                      <a:r>
                        <a:rPr lang="en-US" sz="700" kern="1200" dirty="0">
                          <a:solidFill>
                            <a:schemeClr val="tx1"/>
                          </a:solidFill>
                          <a:latin typeface="+mn-ea"/>
                          <a:ea typeface="+mn-ea"/>
                          <a:cs typeface="+mn-cs"/>
                        </a:rPr>
                        <a:t>MUI-BD-10-M19</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고시금액미만용역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BelowThreshold</a:t>
                      </a:r>
                      <a:r>
                        <a:rPr lang="en-US" altLang="ko-KR" sz="800" b="0" i="0" u="none" strike="noStrike" dirty="0" err="1">
                          <a:solidFill>
                            <a:schemeClr val="tx1"/>
                          </a:solidFill>
                          <a:effectLst/>
                          <a:latin typeface="+mn-lt"/>
                          <a:ea typeface="+mn-ea"/>
                        </a:rPr>
                        <a:t>Lbsvc</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kumimoji="0" lang="ko-KR" altLang="en-US" sz="800" b="0" i="0" u="none" strike="noStrike" kern="1200" cap="none" spc="0" normalizeH="0" baseline="0" noProof="0" dirty="0">
                          <a:ln>
                            <a:noFill/>
                          </a:ln>
                          <a:solidFill>
                            <a:prstClr val="black"/>
                          </a:solidFill>
                          <a:effectLst/>
                          <a:uLnTx/>
                          <a:uFillTx/>
                          <a:latin typeface="+mn-lt"/>
                          <a:ea typeface="+mn-ea"/>
                          <a:cs typeface="+mn-cs"/>
                        </a:rPr>
                        <a:t>고시금액 미만 용역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err="1">
                          <a:solidFill>
                            <a:schemeClr val="tx1"/>
                          </a:solidFill>
                          <a:latin typeface="+mn-lt"/>
                          <a:ea typeface="+mn-ea"/>
                        </a:rPr>
                        <a:t>BelowThreshold</a:t>
                      </a:r>
                      <a:r>
                        <a:rPr lang="en-US" altLang="ko-KR" sz="800" b="0" i="0" u="none" strike="noStrike" dirty="0" err="1">
                          <a:solidFill>
                            <a:schemeClr val="tx1"/>
                          </a:solidFill>
                          <a:effectLst/>
                          <a:latin typeface="+mn-lt"/>
                          <a:ea typeface="+mn-ea"/>
                        </a:rPr>
                        <a:t>Lbsvc</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1725250"/>
                  </a:ext>
                </a:extLst>
              </a:tr>
            </a:tbl>
          </a:graphicData>
        </a:graphic>
      </p:graphicFrame>
      <p:sp>
        <p:nvSpPr>
          <p:cNvPr id="5"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96483457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135</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6. </a:t>
            </a:r>
            <a:r>
              <a:rPr lang="ko-KR" altLang="en-US" dirty="0" err="1"/>
              <a:t>개찰목록</a:t>
            </a:r>
            <a:r>
              <a:rPr lang="ko-KR" altLang="en-US" dirty="0"/>
              <a:t> 및 이행</a:t>
            </a:r>
            <a:r>
              <a:rPr lang="en-US" altLang="ko-KR" dirty="0"/>
              <a:t>/</a:t>
            </a:r>
            <a:r>
              <a:rPr lang="ko-KR" altLang="en-US" dirty="0"/>
              <a:t>적격심사</a:t>
            </a:r>
            <a:endParaRPr lang="en-US" altLang="ko-KR" dirty="0"/>
          </a:p>
          <a:p>
            <a:r>
              <a:rPr lang="en-US" altLang="ko-KR" dirty="0"/>
              <a:t>6.1 </a:t>
            </a:r>
            <a:r>
              <a:rPr lang="ko-KR" altLang="en-US" dirty="0"/>
              <a:t>화면 목록 </a:t>
            </a:r>
            <a:r>
              <a:rPr lang="en-US" altLang="ko-KR" dirty="0"/>
              <a:t>(3/3)</a:t>
            </a:r>
            <a:endParaRPr lang="ko-KR" altLang="en-US" dirty="0"/>
          </a:p>
        </p:txBody>
      </p:sp>
      <p:graphicFrame>
        <p:nvGraphicFramePr>
          <p:cNvPr id="6" name="표 5"/>
          <p:cNvGraphicFramePr>
            <a:graphicFrameLocks noGrp="1"/>
          </p:cNvGraphicFramePr>
          <p:nvPr>
            <p:extLst>
              <p:ext uri="{D42A27DB-BD31-4B8C-83A1-F6EECF244321}">
                <p14:modId xmlns:p14="http://schemas.microsoft.com/office/powerpoint/2010/main" val="3962214442"/>
              </p:ext>
            </p:extLst>
          </p:nvPr>
        </p:nvGraphicFramePr>
        <p:xfrm>
          <a:off x="635474" y="1413419"/>
          <a:ext cx="8701200" cy="1071345"/>
        </p:xfrm>
        <a:graphic>
          <a:graphicData uri="http://schemas.openxmlformats.org/drawingml/2006/table">
            <a:tbl>
              <a:tblPr>
                <a:tableStyleId>{616DA210-FB5B-4158-B5E0-FEB733F419BA}</a:tableStyleId>
              </a:tblPr>
              <a:tblGrid>
                <a:gridCol w="7776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kern="1200" dirty="0">
                          <a:solidFill>
                            <a:schemeClr val="tx1"/>
                          </a:solidFill>
                          <a:latin typeface="+mn-ea"/>
                          <a:ea typeface="+mn-ea"/>
                          <a:cs typeface="+mn-cs"/>
                        </a:rPr>
                        <a:t>MUI-BD-10-M20</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a:solidFill>
                            <a:schemeClr val="tx1"/>
                          </a:solidFill>
                          <a:latin typeface="+mn-ea"/>
                          <a:ea typeface="+mn-ea"/>
                          <a:cs typeface="+mn-cs"/>
                        </a:rPr>
                        <a:t>- </a:t>
                      </a:r>
                      <a:r>
                        <a:rPr lang="ko-KR" altLang="en-US" sz="800" kern="1200" dirty="0" err="1">
                          <a:solidFill>
                            <a:schemeClr val="tx1"/>
                          </a:solidFill>
                          <a:latin typeface="+mn-ea"/>
                          <a:ea typeface="+mn-ea"/>
                          <a:cs typeface="+mn-cs"/>
                        </a:rPr>
                        <a:t>고시금액미만폐기물용역</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lt"/>
                          <a:ea typeface="+mn-ea"/>
                        </a:rPr>
                        <a:t>BelowThresholdDspLbsvc</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kumimoji="0" lang="ko-KR" altLang="en-US" sz="800" b="0" i="0" u="none" strike="noStrike" kern="1200" cap="none" spc="0" normalizeH="0" baseline="0" noProof="0" dirty="0">
                          <a:ln>
                            <a:noFill/>
                          </a:ln>
                          <a:solidFill>
                            <a:prstClr val="black"/>
                          </a:solidFill>
                          <a:effectLst/>
                          <a:uLnTx/>
                          <a:uFillTx/>
                          <a:latin typeface="+mn-lt"/>
                          <a:ea typeface="+mn-ea"/>
                          <a:cs typeface="+mn-cs"/>
                        </a:rPr>
                        <a:t>고시금액 미만 폐기물 용역 </a:t>
                      </a:r>
                      <a:r>
                        <a:rPr lang="ko-KR" altLang="en-US" sz="800" dirty="0"/>
                        <a:t>적격심사제 공고 건에 대해 업체담당자가 신청한 이행</a:t>
                      </a:r>
                      <a:r>
                        <a:rPr lang="en-US" altLang="ko-KR" sz="800" dirty="0"/>
                        <a:t>/</a:t>
                      </a:r>
                      <a:r>
                        <a:rPr lang="ko-KR" altLang="en-US" sz="800" dirty="0"/>
                        <a:t>적격심사의 결과를 조회하기 위한 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err="1">
                          <a:solidFill>
                            <a:schemeClr val="tx1"/>
                          </a:solidFill>
                          <a:latin typeface="+mn-lt"/>
                          <a:ea typeface="+mn-ea"/>
                        </a:rPr>
                        <a:t>BelowThresholdDspLbsvc</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0572186"/>
                  </a:ext>
                </a:extLst>
              </a:tr>
              <a:tr h="180000">
                <a:tc>
                  <a:txBody>
                    <a:bodyPr/>
                    <a:lstStyle/>
                    <a:p>
                      <a:pPr algn="ctr" fontAlgn="ctr"/>
                      <a:r>
                        <a:rPr lang="en-US" sz="700" kern="1200" dirty="0">
                          <a:solidFill>
                            <a:schemeClr val="tx1"/>
                          </a:solidFill>
                          <a:latin typeface="+mn-ea"/>
                          <a:ea typeface="+mn-ea"/>
                          <a:cs typeface="+mn-cs"/>
                        </a:rPr>
                        <a:t>MUI-BD-10-P21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이행</a:t>
                      </a:r>
                      <a:r>
                        <a:rPr lang="en-US" altLang="ko-KR" sz="800" kern="1200" dirty="0">
                          <a:solidFill>
                            <a:schemeClr val="tx1"/>
                          </a:solidFill>
                          <a:latin typeface="+mn-ea"/>
                          <a:ea typeface="+mn-ea"/>
                          <a:cs typeface="+mn-cs"/>
                        </a:rPr>
                        <a:t>/</a:t>
                      </a:r>
                      <a:r>
                        <a:rPr lang="ko-KR" altLang="en-US" sz="800" kern="1200" dirty="0">
                          <a:solidFill>
                            <a:schemeClr val="tx1"/>
                          </a:solidFill>
                          <a:latin typeface="+mn-ea"/>
                          <a:ea typeface="+mn-ea"/>
                          <a:cs typeface="+mn-cs"/>
                        </a:rPr>
                        <a:t>적격심사포기신청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ImpltElgbSrngAbndAply</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ko-KR" altLang="en-US" sz="800" dirty="0"/>
                        <a:t>적격심사제 공고 건에 대해 업체담당자가 이행</a:t>
                      </a:r>
                      <a:r>
                        <a:rPr lang="en-US" altLang="ko-KR" sz="800" dirty="0"/>
                        <a:t>/</a:t>
                      </a:r>
                      <a:r>
                        <a:rPr lang="ko-KR" altLang="en-US" sz="800" dirty="0"/>
                        <a:t>적격심사 포기 신청하는 팝업화면이다</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bidRsltDtl</a:t>
                      </a:r>
                      <a:endParaRPr lang="ko-KR" altLang="en-US" sz="800" dirty="0">
                        <a:solidFill>
                          <a:schemeClr val="tx1"/>
                        </a:solidFill>
                        <a:latin typeface="+mn-ea"/>
                        <a:ea typeface="+mn-ea"/>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ea"/>
                          <a:ea typeface="+mn-ea"/>
                        </a:rPr>
                        <a:t>/</a:t>
                      </a:r>
                      <a:r>
                        <a:rPr lang="en-US" altLang="ko-KR" sz="800" dirty="0" err="1">
                          <a:solidFill>
                            <a:schemeClr val="tx1"/>
                          </a:solidFill>
                          <a:latin typeface="+mn-lt"/>
                          <a:ea typeface="+mn-ea"/>
                        </a:rPr>
                        <a:t>ImpltElgbSrngAbndAply</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UC-BD-14-01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8231804"/>
                  </a:ext>
                </a:extLst>
              </a:tr>
            </a:tbl>
          </a:graphicData>
        </a:graphic>
      </p:graphicFrame>
      <p:sp>
        <p:nvSpPr>
          <p:cNvPr id="5" name="Text Box 73">
            <a:extLst>
              <a:ext uri="{FF2B5EF4-FFF2-40B4-BE49-F238E27FC236}">
                <a16:creationId xmlns:a16="http://schemas.microsoft.com/office/drawing/2014/main" id="{AD7ECE73-1C00-0BE7-EBF7-4F2FAD6CFAC5}"/>
              </a:ext>
            </a:extLst>
          </p:cNvPr>
          <p:cNvSpPr txBox="1">
            <a:spLocks noChangeArrowheads="1"/>
          </p:cNvSpPr>
          <p:nvPr/>
        </p:nvSpPr>
        <p:spPr bwMode="auto">
          <a:xfrm>
            <a:off x="7706550" y="975196"/>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8879532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136</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6.2. </a:t>
            </a:r>
            <a:r>
              <a:rPr lang="ko-KR" altLang="en-US" dirty="0"/>
              <a:t>화면 흐름도 </a:t>
            </a:r>
            <a:r>
              <a:rPr lang="en-US" altLang="ko-KR" dirty="0"/>
              <a:t>– </a:t>
            </a:r>
            <a:r>
              <a:rPr lang="ko-KR" altLang="en-US" dirty="0"/>
              <a:t>입찰 공고 진입 및 신청</a:t>
            </a:r>
          </a:p>
        </p:txBody>
      </p:sp>
      <p:sp>
        <p:nvSpPr>
          <p:cNvPr id="6"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개찰목록</a:t>
            </a:r>
            <a:endParaRPr lang="ko-KR" altLang="en-US" sz="800" dirty="0">
              <a:solidFill>
                <a:schemeClr val="tx1"/>
              </a:solidFill>
            </a:endParaRP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6" idx="1"/>
          </p:cNvCxnSpPr>
          <p:nvPr/>
        </p:nvCxnSpPr>
        <p:spPr>
          <a:xfrm>
            <a:off x="143547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106" name="TextBox 105">
            <a:extLst>
              <a:ext uri="{FF2B5EF4-FFF2-40B4-BE49-F238E27FC236}">
                <a16:creationId xmlns:a16="http://schemas.microsoft.com/office/drawing/2014/main" id="{6619C48D-7E22-9D49-50C5-2404458A47CE}"/>
              </a:ext>
            </a:extLst>
          </p:cNvPr>
          <p:cNvSpPr txBox="1"/>
          <p:nvPr/>
        </p:nvSpPr>
        <p:spPr>
          <a:xfrm>
            <a:off x="777742" y="5837255"/>
            <a:ext cx="8640000" cy="663634"/>
          </a:xfrm>
          <a:prstGeom prst="rect">
            <a:avLst/>
          </a:prstGeom>
          <a:noFill/>
        </p:spPr>
        <p:txBody>
          <a:bodyPr wrap="square" lIns="36000" tIns="36000" rIns="36000" bIns="36000">
            <a:spAutoFit/>
          </a:bodyPr>
          <a:lstStyle/>
          <a:p>
            <a:pPr marL="87313" lvl="0" indent="-87313" fontAlgn="base" latinLnBrk="0">
              <a:lnSpc>
                <a:spcPct val="160000"/>
              </a:lnSpc>
              <a:buFont typeface="Wingdings" panose="05000000000000000000" pitchFamily="2" charset="2"/>
              <a:buChar char="v"/>
            </a:pPr>
            <a:r>
              <a:rPr lang="ko-KR" altLang="en-US" sz="800" kern="0" dirty="0" err="1">
                <a:solidFill>
                  <a:srgbClr val="0000FF"/>
                </a:solidFill>
                <a:latin typeface="+mn-ea"/>
              </a:rPr>
              <a:t>개찰일시가</a:t>
            </a:r>
            <a:r>
              <a:rPr lang="ko-KR" altLang="en-US" sz="800" kern="0" dirty="0">
                <a:solidFill>
                  <a:srgbClr val="0000FF"/>
                </a:solidFill>
                <a:latin typeface="+mn-ea"/>
              </a:rPr>
              <a:t> 지난 항목</a:t>
            </a:r>
            <a:r>
              <a:rPr lang="en-US" altLang="ko-KR" sz="800" kern="0" dirty="0">
                <a:solidFill>
                  <a:srgbClr val="0000FF"/>
                </a:solidFill>
                <a:latin typeface="+mn-ea"/>
              </a:rPr>
              <a:t>, </a:t>
            </a:r>
            <a:r>
              <a:rPr lang="ko-KR" altLang="en-US" sz="800" kern="0" dirty="0" err="1">
                <a:solidFill>
                  <a:srgbClr val="0000FF"/>
                </a:solidFill>
                <a:latin typeface="+mn-ea"/>
              </a:rPr>
              <a:t>개찰된</a:t>
            </a:r>
            <a:r>
              <a:rPr lang="ko-KR" altLang="en-US" sz="800" kern="0" dirty="0">
                <a:solidFill>
                  <a:srgbClr val="0000FF"/>
                </a:solidFill>
                <a:latin typeface="+mn-ea"/>
              </a:rPr>
              <a:t> 항목이 개찰 목록에 표시됩니다</a:t>
            </a:r>
            <a:r>
              <a:rPr lang="en-US" altLang="ko-KR" sz="800" kern="0" dirty="0">
                <a:solidFill>
                  <a:srgbClr val="0000FF"/>
                </a:solidFill>
                <a:latin typeface="+mn-ea"/>
              </a:rPr>
              <a:t>.</a:t>
            </a:r>
          </a:p>
          <a:p>
            <a:pPr marL="87313" lvl="0" indent="-87313" fontAlgn="base" latinLnBrk="0">
              <a:lnSpc>
                <a:spcPct val="160000"/>
              </a:lnSpc>
              <a:buFont typeface="Wingdings" panose="05000000000000000000" pitchFamily="2" charset="2"/>
              <a:buChar char="v"/>
            </a:pPr>
            <a:r>
              <a:rPr lang="ko-KR" altLang="en-US" sz="800" kern="0" dirty="0">
                <a:solidFill>
                  <a:srgbClr val="0000FF"/>
                </a:solidFill>
                <a:latin typeface="+mn-ea"/>
              </a:rPr>
              <a:t>앱에서는 업체가 신청한 대상 공고의 개찰 항목만 표시합니다</a:t>
            </a:r>
            <a:r>
              <a:rPr lang="en-US" altLang="ko-KR" sz="800" kern="0" dirty="0">
                <a:solidFill>
                  <a:srgbClr val="0000FF"/>
                </a:solidFill>
                <a:latin typeface="+mn-ea"/>
              </a:rPr>
              <a:t>. (</a:t>
            </a:r>
            <a:r>
              <a:rPr lang="ko-KR" altLang="en-US" sz="800" kern="0" dirty="0" err="1">
                <a:solidFill>
                  <a:srgbClr val="0000FF"/>
                </a:solidFill>
                <a:latin typeface="+mn-ea"/>
              </a:rPr>
              <a:t>계약관이</a:t>
            </a:r>
            <a:r>
              <a:rPr lang="ko-KR" altLang="en-US" sz="800" kern="0" dirty="0">
                <a:solidFill>
                  <a:srgbClr val="0000FF"/>
                </a:solidFill>
                <a:latin typeface="+mn-ea"/>
              </a:rPr>
              <a:t> 앱에 로그인하더라도 조회 정보가 없으며</a:t>
            </a:r>
            <a:r>
              <a:rPr lang="en-US" altLang="ko-KR" sz="800" kern="0" dirty="0">
                <a:solidFill>
                  <a:srgbClr val="0000FF"/>
                </a:solidFill>
                <a:latin typeface="+mn-ea"/>
              </a:rPr>
              <a:t>,</a:t>
            </a:r>
            <a:r>
              <a:rPr lang="ko-KR" altLang="en-US" sz="800" kern="0" dirty="0">
                <a:solidFill>
                  <a:srgbClr val="0000FF"/>
                </a:solidFill>
                <a:latin typeface="+mn-ea"/>
              </a:rPr>
              <a:t> </a:t>
            </a:r>
            <a:r>
              <a:rPr lang="en-US" altLang="ko-KR" sz="800" kern="0" dirty="0">
                <a:solidFill>
                  <a:srgbClr val="0000FF"/>
                </a:solidFill>
                <a:latin typeface="+mn-ea"/>
              </a:rPr>
              <a:t>PC</a:t>
            </a:r>
            <a:r>
              <a:rPr lang="ko-KR" altLang="en-US" sz="800" kern="0" dirty="0">
                <a:solidFill>
                  <a:srgbClr val="0000FF"/>
                </a:solidFill>
                <a:latin typeface="+mn-ea"/>
              </a:rPr>
              <a:t>에서 업무를 처리해야 합니다</a:t>
            </a:r>
            <a:r>
              <a:rPr lang="en-US" altLang="ko-KR" sz="800" kern="0" dirty="0">
                <a:solidFill>
                  <a:srgbClr val="0000FF"/>
                </a:solidFill>
                <a:latin typeface="+mn-ea"/>
              </a:rPr>
              <a:t>.)</a:t>
            </a:r>
          </a:p>
          <a:p>
            <a:pPr marL="87313" lvl="0" indent="-87313" fontAlgn="base" latinLnBrk="0">
              <a:lnSpc>
                <a:spcPct val="160000"/>
              </a:lnSpc>
              <a:buFont typeface="Wingdings" panose="05000000000000000000" pitchFamily="2" charset="2"/>
              <a:buChar char="v"/>
            </a:pPr>
            <a:r>
              <a:rPr lang="ko-KR" altLang="en-US" sz="800" kern="0" dirty="0">
                <a:solidFill>
                  <a:srgbClr val="0000FF"/>
                </a:solidFill>
                <a:latin typeface="+mn-ea"/>
              </a:rPr>
              <a:t>입찰결과상세와 이행</a:t>
            </a:r>
            <a:r>
              <a:rPr lang="en-US" altLang="ko-KR" sz="800" kern="0" dirty="0">
                <a:solidFill>
                  <a:srgbClr val="0000FF"/>
                </a:solidFill>
                <a:latin typeface="+mn-ea"/>
              </a:rPr>
              <a:t>/</a:t>
            </a:r>
            <a:r>
              <a:rPr lang="ko-KR" altLang="en-US" sz="800" kern="0" dirty="0">
                <a:solidFill>
                  <a:srgbClr val="0000FF"/>
                </a:solidFill>
                <a:latin typeface="+mn-ea"/>
              </a:rPr>
              <a:t>적격심사상세에서는 로그인한 사용자가 신청한 조건에 맞는 결과가 표시됩니다</a:t>
            </a:r>
            <a:r>
              <a:rPr lang="en-US" altLang="ko-KR" sz="800" kern="0" dirty="0">
                <a:solidFill>
                  <a:srgbClr val="0000FF"/>
                </a:solidFill>
                <a:latin typeface="+mn-ea"/>
              </a:rPr>
              <a:t>. (</a:t>
            </a:r>
            <a:r>
              <a:rPr lang="ko-KR" altLang="en-US" sz="800" kern="0" dirty="0">
                <a:solidFill>
                  <a:srgbClr val="0000FF"/>
                </a:solidFill>
                <a:latin typeface="+mn-ea"/>
              </a:rPr>
              <a:t>물품</a:t>
            </a:r>
            <a:r>
              <a:rPr lang="en-US" altLang="ko-KR" sz="800" kern="0" dirty="0">
                <a:solidFill>
                  <a:srgbClr val="0000FF"/>
                </a:solidFill>
                <a:latin typeface="+mn-ea"/>
              </a:rPr>
              <a:t>, </a:t>
            </a:r>
            <a:r>
              <a:rPr lang="ko-KR" altLang="en-US" sz="800" kern="0" dirty="0">
                <a:solidFill>
                  <a:srgbClr val="0000FF"/>
                </a:solidFill>
                <a:latin typeface="+mn-ea"/>
              </a:rPr>
              <a:t>제조</a:t>
            </a:r>
            <a:r>
              <a:rPr lang="en-US" altLang="ko-KR" sz="800" kern="0" dirty="0">
                <a:solidFill>
                  <a:srgbClr val="0000FF"/>
                </a:solidFill>
                <a:latin typeface="+mn-ea"/>
              </a:rPr>
              <a:t>, </a:t>
            </a:r>
            <a:r>
              <a:rPr lang="ko-KR" altLang="en-US" sz="800" kern="0" dirty="0">
                <a:solidFill>
                  <a:srgbClr val="0000FF"/>
                </a:solidFill>
                <a:latin typeface="+mn-ea"/>
              </a:rPr>
              <a:t>용역 등</a:t>
            </a:r>
            <a:r>
              <a:rPr lang="en-US" altLang="ko-KR" sz="800" kern="0" dirty="0">
                <a:solidFill>
                  <a:srgbClr val="0000FF"/>
                </a:solidFill>
                <a:latin typeface="+mn-ea"/>
              </a:rPr>
              <a:t>…)</a:t>
            </a:r>
            <a:endParaRPr lang="ko-KR" altLang="en-US" sz="800" kern="0" dirty="0">
              <a:solidFill>
                <a:srgbClr val="0000FF"/>
              </a:solidFill>
              <a:latin typeface="+mn-ea"/>
            </a:endParaRPr>
          </a:p>
        </p:txBody>
      </p:sp>
      <p:sp>
        <p:nvSpPr>
          <p:cNvPr id="69" name="사각형: 둥근 모서리 5">
            <a:extLst>
              <a:ext uri="{FF2B5EF4-FFF2-40B4-BE49-F238E27FC236}">
                <a16:creationId xmlns:a16="http://schemas.microsoft.com/office/drawing/2014/main" id="{410E5459-200D-7630-863C-88E5109259DF}"/>
              </a:ext>
            </a:extLst>
          </p:cNvPr>
          <p:cNvSpPr/>
          <p:nvPr/>
        </p:nvSpPr>
        <p:spPr>
          <a:xfrm>
            <a:off x="4197742"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입찰결과상세</a:t>
            </a:r>
          </a:p>
        </p:txBody>
      </p:sp>
      <p:cxnSp>
        <p:nvCxnSpPr>
          <p:cNvPr id="87" name="직선 화살표 연결선 86">
            <a:extLst>
              <a:ext uri="{FF2B5EF4-FFF2-40B4-BE49-F238E27FC236}">
                <a16:creationId xmlns:a16="http://schemas.microsoft.com/office/drawing/2014/main" id="{9A519F08-B829-E35F-09D8-DFCD1F68B911}"/>
              </a:ext>
            </a:extLst>
          </p:cNvPr>
          <p:cNvCxnSpPr>
            <a:cxnSpLocks/>
            <a:stCxn id="6" idx="3"/>
            <a:endCxn id="69" idx="1"/>
          </p:cNvCxnSpPr>
          <p:nvPr/>
        </p:nvCxnSpPr>
        <p:spPr>
          <a:xfrm>
            <a:off x="3266608" y="1772964"/>
            <a:ext cx="93113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3" name="직사각형 172">
            <a:extLst>
              <a:ext uri="{FF2B5EF4-FFF2-40B4-BE49-F238E27FC236}">
                <a16:creationId xmlns:a16="http://schemas.microsoft.com/office/drawing/2014/main" id="{23C86455-E84C-0CEA-5C6B-05BE50ADCEF5}"/>
              </a:ext>
            </a:extLst>
          </p:cNvPr>
          <p:cNvSpPr/>
          <p:nvPr/>
        </p:nvSpPr>
        <p:spPr>
          <a:xfrm>
            <a:off x="1019263" y="1514853"/>
            <a:ext cx="652423"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로그인 사용자</a:t>
            </a:r>
          </a:p>
        </p:txBody>
      </p:sp>
      <p:sp>
        <p:nvSpPr>
          <p:cNvPr id="23" name="사각형: 둥근 모서리 5">
            <a:extLst>
              <a:ext uri="{FF2B5EF4-FFF2-40B4-BE49-F238E27FC236}">
                <a16:creationId xmlns:a16="http://schemas.microsoft.com/office/drawing/2014/main" id="{410E5459-200D-7630-863C-88E5109259DF}"/>
              </a:ext>
            </a:extLst>
          </p:cNvPr>
          <p:cNvSpPr/>
          <p:nvPr/>
        </p:nvSpPr>
        <p:spPr>
          <a:xfrm>
            <a:off x="6028876" y="2987012"/>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이행</a:t>
            </a:r>
            <a:r>
              <a:rPr lang="en-US" altLang="ko-KR" sz="800" dirty="0">
                <a:solidFill>
                  <a:schemeClr val="tx1"/>
                </a:solidFill>
              </a:rPr>
              <a:t>/</a:t>
            </a:r>
            <a:r>
              <a:rPr lang="ko-KR" altLang="en-US" sz="800" dirty="0">
                <a:solidFill>
                  <a:schemeClr val="tx1"/>
                </a:solidFill>
              </a:rPr>
              <a:t>적격심사포기신청</a:t>
            </a:r>
          </a:p>
        </p:txBody>
      </p:sp>
      <p:sp>
        <p:nvSpPr>
          <p:cNvPr id="24" name="사각형: 둥근 모서리 5">
            <a:extLst>
              <a:ext uri="{FF2B5EF4-FFF2-40B4-BE49-F238E27FC236}">
                <a16:creationId xmlns:a16="http://schemas.microsoft.com/office/drawing/2014/main" id="{410E5459-200D-7630-863C-88E5109259DF}"/>
              </a:ext>
            </a:extLst>
          </p:cNvPr>
          <p:cNvSpPr/>
          <p:nvPr/>
        </p:nvSpPr>
        <p:spPr>
          <a:xfrm>
            <a:off x="6028876" y="1626026"/>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이행</a:t>
            </a:r>
            <a:r>
              <a:rPr lang="en-US" altLang="ko-KR" sz="800" dirty="0">
                <a:solidFill>
                  <a:schemeClr val="tx1"/>
                </a:solidFill>
              </a:rPr>
              <a:t>/</a:t>
            </a:r>
            <a:r>
              <a:rPr lang="ko-KR" altLang="en-US" sz="800" dirty="0">
                <a:solidFill>
                  <a:schemeClr val="tx1"/>
                </a:solidFill>
              </a:rPr>
              <a:t>적격심사상세</a:t>
            </a:r>
          </a:p>
        </p:txBody>
      </p:sp>
      <p:sp>
        <p:nvSpPr>
          <p:cNvPr id="25" name="사각형: 둥근 모서리 5">
            <a:extLst>
              <a:ext uri="{FF2B5EF4-FFF2-40B4-BE49-F238E27FC236}">
                <a16:creationId xmlns:a16="http://schemas.microsoft.com/office/drawing/2014/main" id="{410E5459-200D-7630-863C-88E5109259DF}"/>
              </a:ext>
            </a:extLst>
          </p:cNvPr>
          <p:cNvSpPr/>
          <p:nvPr/>
        </p:nvSpPr>
        <p:spPr>
          <a:xfrm>
            <a:off x="6028876" y="2308226"/>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이행</a:t>
            </a:r>
            <a:r>
              <a:rPr lang="en-US" altLang="ko-KR" sz="800" dirty="0">
                <a:solidFill>
                  <a:schemeClr val="tx1"/>
                </a:solidFill>
              </a:rPr>
              <a:t>/</a:t>
            </a:r>
            <a:r>
              <a:rPr lang="ko-KR" altLang="en-US" sz="800" dirty="0">
                <a:solidFill>
                  <a:schemeClr val="tx1"/>
                </a:solidFill>
              </a:rPr>
              <a:t>적격심사결과상세</a:t>
            </a:r>
          </a:p>
        </p:txBody>
      </p:sp>
      <p:cxnSp>
        <p:nvCxnSpPr>
          <p:cNvPr id="26" name="직선 화살표 연결선 25">
            <a:extLst>
              <a:ext uri="{FF2B5EF4-FFF2-40B4-BE49-F238E27FC236}">
                <a16:creationId xmlns:a16="http://schemas.microsoft.com/office/drawing/2014/main" id="{9A519F08-B829-E35F-09D8-DFCD1F68B911}"/>
              </a:ext>
            </a:extLst>
          </p:cNvPr>
          <p:cNvCxnSpPr>
            <a:cxnSpLocks/>
            <a:stCxn id="69" idx="3"/>
            <a:endCxn id="24" idx="1"/>
          </p:cNvCxnSpPr>
          <p:nvPr/>
        </p:nvCxnSpPr>
        <p:spPr>
          <a:xfrm flipV="1">
            <a:off x="5097742" y="1770026"/>
            <a:ext cx="931134" cy="2938"/>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연결선: 꺾임 7">
            <a:extLst>
              <a:ext uri="{FF2B5EF4-FFF2-40B4-BE49-F238E27FC236}">
                <a16:creationId xmlns:a16="http://schemas.microsoft.com/office/drawing/2014/main" id="{89A2D828-4C18-4F90-6B31-722E89773AA8}"/>
              </a:ext>
            </a:extLst>
          </p:cNvPr>
          <p:cNvCxnSpPr>
            <a:cxnSpLocks/>
            <a:stCxn id="69" idx="3"/>
            <a:endCxn id="25" idx="1"/>
          </p:cNvCxnSpPr>
          <p:nvPr/>
        </p:nvCxnSpPr>
        <p:spPr>
          <a:xfrm>
            <a:off x="5097742" y="1772964"/>
            <a:ext cx="931134" cy="679262"/>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연결선: 꺾임 7">
            <a:extLst>
              <a:ext uri="{FF2B5EF4-FFF2-40B4-BE49-F238E27FC236}">
                <a16:creationId xmlns:a16="http://schemas.microsoft.com/office/drawing/2014/main" id="{89A2D828-4C18-4F90-6B31-722E89773AA8}"/>
              </a:ext>
            </a:extLst>
          </p:cNvPr>
          <p:cNvCxnSpPr>
            <a:cxnSpLocks/>
            <a:stCxn id="69" idx="3"/>
            <a:endCxn id="23" idx="1"/>
          </p:cNvCxnSpPr>
          <p:nvPr/>
        </p:nvCxnSpPr>
        <p:spPr>
          <a:xfrm>
            <a:off x="5097742" y="1772964"/>
            <a:ext cx="931134" cy="1358048"/>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직사각형 51">
            <a:extLst>
              <a:ext uri="{FF2B5EF4-FFF2-40B4-BE49-F238E27FC236}">
                <a16:creationId xmlns:a16="http://schemas.microsoft.com/office/drawing/2014/main" id="{1318C69C-3BF9-3FF8-F913-DA1CC0300DED}"/>
              </a:ext>
            </a:extLst>
          </p:cNvPr>
          <p:cNvSpPr/>
          <p:nvPr/>
        </p:nvSpPr>
        <p:spPr>
          <a:xfrm>
            <a:off x="6028876" y="1514853"/>
            <a:ext cx="45409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ko-KR" altLang="en-US" sz="800" dirty="0">
                <a:solidFill>
                  <a:schemeClr val="tx1"/>
                </a:solidFill>
              </a:rPr>
              <a:t>심사신청</a:t>
            </a:r>
          </a:p>
        </p:txBody>
      </p:sp>
      <p:sp>
        <p:nvSpPr>
          <p:cNvPr id="54" name="직사각형 53">
            <a:extLst>
              <a:ext uri="{FF2B5EF4-FFF2-40B4-BE49-F238E27FC236}">
                <a16:creationId xmlns:a16="http://schemas.microsoft.com/office/drawing/2014/main" id="{258BB724-EC35-A0BF-4D6C-38BE241B5750}"/>
              </a:ext>
            </a:extLst>
          </p:cNvPr>
          <p:cNvSpPr/>
          <p:nvPr/>
        </p:nvSpPr>
        <p:spPr>
          <a:xfrm>
            <a:off x="6028876" y="2183646"/>
            <a:ext cx="45409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ko-KR" altLang="en-US" sz="800" dirty="0">
                <a:solidFill>
                  <a:schemeClr val="tx1"/>
                </a:solidFill>
              </a:rPr>
              <a:t>심사결과</a:t>
            </a:r>
          </a:p>
        </p:txBody>
      </p:sp>
      <p:sp>
        <p:nvSpPr>
          <p:cNvPr id="56" name="직사각형 55">
            <a:extLst>
              <a:ext uri="{FF2B5EF4-FFF2-40B4-BE49-F238E27FC236}">
                <a16:creationId xmlns:a16="http://schemas.microsoft.com/office/drawing/2014/main" id="{692BD357-31A7-FEC9-C94B-D5945BF4CD86}"/>
              </a:ext>
            </a:extLst>
          </p:cNvPr>
          <p:cNvSpPr/>
          <p:nvPr/>
        </p:nvSpPr>
        <p:spPr>
          <a:xfrm>
            <a:off x="6028875" y="2880457"/>
            <a:ext cx="454091"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ko-KR" altLang="en-US" sz="800" dirty="0">
                <a:solidFill>
                  <a:schemeClr val="tx1"/>
                </a:solidFill>
              </a:rPr>
              <a:t>심사포기</a:t>
            </a:r>
          </a:p>
        </p:txBody>
      </p:sp>
      <p:sp>
        <p:nvSpPr>
          <p:cNvPr id="57" name="직사각형 56">
            <a:extLst>
              <a:ext uri="{FF2B5EF4-FFF2-40B4-BE49-F238E27FC236}">
                <a16:creationId xmlns:a16="http://schemas.microsoft.com/office/drawing/2014/main" id="{7FFBDDBA-B26E-A1E6-4903-3B865873F886}"/>
              </a:ext>
            </a:extLst>
          </p:cNvPr>
          <p:cNvSpPr/>
          <p:nvPr/>
        </p:nvSpPr>
        <p:spPr>
          <a:xfrm>
            <a:off x="7860010" y="1886343"/>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58" name="그룹 57">
            <a:extLst>
              <a:ext uri="{FF2B5EF4-FFF2-40B4-BE49-F238E27FC236}">
                <a16:creationId xmlns:a16="http://schemas.microsoft.com/office/drawing/2014/main" id="{3B14FB42-9EA6-D6BE-9D79-80F84E59F0B5}"/>
              </a:ext>
            </a:extLst>
          </p:cNvPr>
          <p:cNvGrpSpPr/>
          <p:nvPr/>
        </p:nvGrpSpPr>
        <p:grpSpPr>
          <a:xfrm>
            <a:off x="7889007" y="1680026"/>
            <a:ext cx="180000" cy="180000"/>
            <a:chOff x="5058274" y="2498299"/>
            <a:chExt cx="180000" cy="180000"/>
          </a:xfrm>
        </p:grpSpPr>
        <p:sp>
          <p:nvSpPr>
            <p:cNvPr id="59" name="타원 58">
              <a:extLst>
                <a:ext uri="{FF2B5EF4-FFF2-40B4-BE49-F238E27FC236}">
                  <a16:creationId xmlns:a16="http://schemas.microsoft.com/office/drawing/2014/main" id="{C2B12807-6CAB-89AA-5B30-B0CAC9DEC5B4}"/>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타원 59">
              <a:extLst>
                <a:ext uri="{FF2B5EF4-FFF2-40B4-BE49-F238E27FC236}">
                  <a16:creationId xmlns:a16="http://schemas.microsoft.com/office/drawing/2014/main" id="{A2BFCECD-769F-358A-F7D7-332DE7E1B466}"/>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62" name="직선 화살표 연결선 61">
            <a:extLst>
              <a:ext uri="{FF2B5EF4-FFF2-40B4-BE49-F238E27FC236}">
                <a16:creationId xmlns:a16="http://schemas.microsoft.com/office/drawing/2014/main" id="{9A519F08-B829-E35F-09D8-DFCD1F68B911}"/>
              </a:ext>
            </a:extLst>
          </p:cNvPr>
          <p:cNvCxnSpPr>
            <a:cxnSpLocks/>
            <a:stCxn id="24" idx="3"/>
            <a:endCxn id="59" idx="2"/>
          </p:cNvCxnSpPr>
          <p:nvPr/>
        </p:nvCxnSpPr>
        <p:spPr>
          <a:xfrm>
            <a:off x="6928876" y="1770026"/>
            <a:ext cx="96013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3" name="직사각형 62">
            <a:extLst>
              <a:ext uri="{FF2B5EF4-FFF2-40B4-BE49-F238E27FC236}">
                <a16:creationId xmlns:a16="http://schemas.microsoft.com/office/drawing/2014/main" id="{1318C69C-3BF9-3FF8-F913-DA1CC0300DED}"/>
              </a:ext>
            </a:extLst>
          </p:cNvPr>
          <p:cNvSpPr/>
          <p:nvPr/>
        </p:nvSpPr>
        <p:spPr>
          <a:xfrm>
            <a:off x="4193651" y="1391743"/>
            <a:ext cx="454091"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ko-KR" altLang="en-US" sz="800" dirty="0">
                <a:solidFill>
                  <a:schemeClr val="tx1"/>
                </a:solidFill>
              </a:rPr>
              <a:t>입찰결과</a:t>
            </a:r>
            <a:endParaRPr lang="en-US" altLang="ko-KR" sz="800" dirty="0">
              <a:solidFill>
                <a:schemeClr val="tx1"/>
              </a:solidFill>
            </a:endParaRPr>
          </a:p>
          <a:p>
            <a:r>
              <a:rPr lang="ko-KR" altLang="en-US" sz="800" dirty="0">
                <a:solidFill>
                  <a:schemeClr val="tx1"/>
                </a:solidFill>
              </a:rPr>
              <a:t>협상결과</a:t>
            </a:r>
          </a:p>
        </p:txBody>
      </p:sp>
      <p:sp>
        <p:nvSpPr>
          <p:cNvPr id="64" name="직사각형 63">
            <a:extLst>
              <a:ext uri="{FF2B5EF4-FFF2-40B4-BE49-F238E27FC236}">
                <a16:creationId xmlns:a16="http://schemas.microsoft.com/office/drawing/2014/main" id="{1318C69C-3BF9-3FF8-F913-DA1CC0300DED}"/>
              </a:ext>
            </a:extLst>
          </p:cNvPr>
          <p:cNvSpPr/>
          <p:nvPr/>
        </p:nvSpPr>
        <p:spPr>
          <a:xfrm>
            <a:off x="2371683" y="1391743"/>
            <a:ext cx="549831"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신청건</a:t>
            </a:r>
            <a:r>
              <a:rPr lang="ko-KR" altLang="en-US" sz="800" dirty="0">
                <a:solidFill>
                  <a:schemeClr val="tx1"/>
                </a:solidFill>
              </a:rPr>
              <a:t> 보유</a:t>
            </a:r>
            <a:endParaRPr lang="en-US" altLang="ko-KR" sz="800" dirty="0">
              <a:solidFill>
                <a:schemeClr val="tx1"/>
              </a:solidFill>
            </a:endParaRPr>
          </a:p>
          <a:p>
            <a:r>
              <a:rPr lang="ko-KR" altLang="en-US" sz="800" dirty="0" err="1">
                <a:solidFill>
                  <a:schemeClr val="tx1"/>
                </a:solidFill>
              </a:rPr>
              <a:t>개찰건</a:t>
            </a:r>
            <a:r>
              <a:rPr lang="ko-KR" altLang="en-US" sz="800" dirty="0">
                <a:solidFill>
                  <a:schemeClr val="tx1"/>
                </a:solidFill>
              </a:rPr>
              <a:t> 보유</a:t>
            </a:r>
          </a:p>
        </p:txBody>
      </p:sp>
      <p:cxnSp>
        <p:nvCxnSpPr>
          <p:cNvPr id="65" name="연결선: 꺾임 7">
            <a:extLst>
              <a:ext uri="{FF2B5EF4-FFF2-40B4-BE49-F238E27FC236}">
                <a16:creationId xmlns:a16="http://schemas.microsoft.com/office/drawing/2014/main" id="{89A2D828-4C18-4F90-6B31-722E89773AA8}"/>
              </a:ext>
            </a:extLst>
          </p:cNvPr>
          <p:cNvCxnSpPr>
            <a:cxnSpLocks/>
            <a:stCxn id="25" idx="3"/>
            <a:endCxn id="59" idx="2"/>
          </p:cNvCxnSpPr>
          <p:nvPr/>
        </p:nvCxnSpPr>
        <p:spPr>
          <a:xfrm flipV="1">
            <a:off x="6928876" y="1770026"/>
            <a:ext cx="960131" cy="682200"/>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연결선: 꺾임 7">
            <a:extLst>
              <a:ext uri="{FF2B5EF4-FFF2-40B4-BE49-F238E27FC236}">
                <a16:creationId xmlns:a16="http://schemas.microsoft.com/office/drawing/2014/main" id="{89A2D828-4C18-4F90-6B31-722E89773AA8}"/>
              </a:ext>
            </a:extLst>
          </p:cNvPr>
          <p:cNvCxnSpPr>
            <a:cxnSpLocks/>
            <a:stCxn id="23" idx="3"/>
            <a:endCxn id="59" idx="2"/>
          </p:cNvCxnSpPr>
          <p:nvPr/>
        </p:nvCxnSpPr>
        <p:spPr>
          <a:xfrm flipV="1">
            <a:off x="6928876" y="1770026"/>
            <a:ext cx="960131" cy="1360986"/>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935583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137</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6.3 </a:t>
            </a:r>
            <a:r>
              <a:rPr lang="ko-KR" altLang="en-US" dirty="0"/>
              <a:t>앱 구성 다이어그램 </a:t>
            </a:r>
            <a:r>
              <a:rPr lang="en-US" altLang="ko-KR" dirty="0"/>
              <a:t>(1/5)</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265382" y="2170157"/>
            <a:ext cx="1727200" cy="63676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solidFill>
                  <a:schemeClr val="tx1"/>
                </a:solidFill>
              </a:rPr>
              <a:t>&lt;&lt;App Page&gt;&gt;</a:t>
            </a:r>
          </a:p>
          <a:p>
            <a:pPr algn="ctr"/>
            <a:r>
              <a:rPr lang="ko-KR" altLang="en-US" sz="1100" dirty="0" err="1">
                <a:solidFill>
                  <a:schemeClr val="tx1"/>
                </a:solidFill>
              </a:rPr>
              <a:t>개찰목록</a:t>
            </a:r>
            <a:endParaRPr lang="en-US" altLang="ko-KR" sz="1100" dirty="0">
              <a:solidFill>
                <a:schemeClr val="tx1"/>
              </a:solidFill>
            </a:endParaRPr>
          </a:p>
          <a:p>
            <a:pPr algn="ctr"/>
            <a:r>
              <a:rPr lang="en-US" altLang="ko-KR" sz="1100" dirty="0">
                <a:solidFill>
                  <a:schemeClr val="tx1"/>
                </a:solidFill>
                <a:latin typeface="Calibri" panose="020F0502020204030204" pitchFamily="34" charset="0"/>
              </a:rPr>
              <a:t>BdopnListPage</a:t>
            </a:r>
            <a:r>
              <a:rPr lang="en-US" altLang="ko-KR" sz="1100" dirty="0">
                <a:solidFill>
                  <a:schemeClr val="tx1"/>
                </a:solidFill>
              </a:rPr>
              <a:t>.tsx</a:t>
            </a:r>
            <a:r>
              <a:rPr lang="en-US" altLang="ko-KR" sz="1100" b="1" baseline="30000" dirty="0">
                <a:solidFill>
                  <a:schemeClr val="tx1"/>
                </a:solidFill>
                <a:latin typeface="+mn-ea"/>
              </a:rPr>
              <a:t>1)</a:t>
            </a:r>
            <a:endParaRPr lang="en-US" altLang="ko-KR" sz="110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3173422"/>
            <a:ext cx="1727200" cy="63676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solidFill>
                  <a:schemeClr val="tx1"/>
                </a:solidFill>
              </a:rPr>
              <a:t>&lt;&lt;App Page&gt;&gt;</a:t>
            </a:r>
          </a:p>
          <a:p>
            <a:pPr algn="ctr"/>
            <a:r>
              <a:rPr lang="ko-KR" altLang="en-US" sz="1100" dirty="0">
                <a:solidFill>
                  <a:schemeClr val="tx1"/>
                </a:solidFill>
              </a:rPr>
              <a:t>입찰결과상세</a:t>
            </a:r>
            <a:endParaRPr lang="en-US" altLang="ko-KR" sz="1100" dirty="0">
              <a:solidFill>
                <a:schemeClr val="tx1"/>
              </a:solidFill>
            </a:endParaRPr>
          </a:p>
          <a:p>
            <a:pPr algn="ctr"/>
            <a:r>
              <a:rPr lang="en-US" altLang="ko-KR" sz="1100" dirty="0">
                <a:solidFill>
                  <a:schemeClr val="tx1"/>
                </a:solidFill>
                <a:latin typeface="+mn-ea"/>
              </a:rPr>
              <a:t>BidRsltDtl</a:t>
            </a:r>
            <a:r>
              <a:rPr lang="en-US" altLang="ko-KR" sz="1100" dirty="0">
                <a:solidFill>
                  <a:schemeClr val="tx1"/>
                </a:solidFill>
                <a:latin typeface="Calibri" panose="020F0502020204030204" pitchFamily="34" charset="0"/>
              </a:rPr>
              <a:t>Page</a:t>
            </a:r>
            <a:r>
              <a:rPr lang="en-US" altLang="ko-KR" sz="1100" dirty="0">
                <a:solidFill>
                  <a:schemeClr val="tx1"/>
                </a:solidFill>
              </a:rPr>
              <a:t>.tsx</a:t>
            </a:r>
            <a:r>
              <a:rPr lang="en-US" altLang="ko-KR" sz="1100" b="1" baseline="30000" dirty="0">
                <a:solidFill>
                  <a:schemeClr val="tx1"/>
                </a:solidFill>
                <a:latin typeface="+mn-ea"/>
              </a:rPr>
              <a:t>1)</a:t>
            </a:r>
            <a:endParaRPr lang="en-US" altLang="ko-KR" sz="110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0" y="2170157"/>
            <a:ext cx="1819985"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381158"/>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err="1"/>
              <a:t>입찰실시</a:t>
            </a:r>
            <a:r>
              <a:rPr lang="en-US" altLang="ko-KR" sz="1100" dirty="0"/>
              <a:t>Controller&gt;&gt;</a:t>
            </a:r>
          </a:p>
          <a:p>
            <a:pPr algn="ctr"/>
            <a:r>
              <a:rPr lang="en-US" altLang="ko-KR" sz="1100" dirty="0" err="1" smtClean="0"/>
              <a:t>BidEnfrcController</a:t>
            </a:r>
            <a:endParaRPr lang="en-US" altLang="ko-KR" sz="1100" dirty="0"/>
          </a:p>
        </p:txBody>
      </p:sp>
      <p:sp>
        <p:nvSpPr>
          <p:cNvPr id="11" name="직사각형 10">
            <a:extLst>
              <a:ext uri="{FF2B5EF4-FFF2-40B4-BE49-F238E27FC236}">
                <a16:creationId xmlns:a16="http://schemas.microsoft.com/office/drawing/2014/main" id="{015A331E-505A-57E3-A763-CB0C8D48EC9A}"/>
              </a:ext>
            </a:extLst>
          </p:cNvPr>
          <p:cNvSpPr/>
          <p:nvPr/>
        </p:nvSpPr>
        <p:spPr>
          <a:xfrm>
            <a:off x="6913418" y="302701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입찰결과</a:t>
            </a:r>
            <a:r>
              <a:rPr lang="en-US" altLang="ko-KR" sz="1100" dirty="0"/>
              <a:t>Controller&gt;&gt;</a:t>
            </a:r>
          </a:p>
          <a:p>
            <a:pPr algn="ctr"/>
            <a:r>
              <a:rPr lang="en-US" altLang="ko-KR" sz="1100" dirty="0"/>
              <a:t>BidRsltController</a:t>
            </a:r>
            <a:r>
              <a:rPr lang="en-US" altLang="ko-KR" sz="1100" b="1" baseline="30000" dirty="0">
                <a:latin typeface="+mn-ea"/>
              </a:rPr>
              <a:t>1)</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2488541"/>
            <a:ext cx="967508" cy="50163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flipV="1">
            <a:off x="2992582" y="2990174"/>
            <a:ext cx="967508" cy="5016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flipV="1">
            <a:off x="5780075" y="2624138"/>
            <a:ext cx="1133343" cy="366036"/>
          </a:xfrm>
          <a:prstGeom prst="line">
            <a:avLst/>
          </a:prstGeom>
        </p:spPr>
        <p:style>
          <a:lnRef idx="1">
            <a:schemeClr val="dk1"/>
          </a:lnRef>
          <a:fillRef idx="0">
            <a:schemeClr val="dk1"/>
          </a:fillRef>
          <a:effectRef idx="0">
            <a:schemeClr val="dk1"/>
          </a:effectRef>
          <a:fontRef idx="minor">
            <a:schemeClr val="tx1"/>
          </a:fontRef>
        </p:style>
      </p:cxnSp>
      <p:cxnSp>
        <p:nvCxnSpPr>
          <p:cNvPr id="22" name="직선 연결선 21">
            <a:extLst>
              <a:ext uri="{FF2B5EF4-FFF2-40B4-BE49-F238E27FC236}">
                <a16:creationId xmlns:a16="http://schemas.microsoft.com/office/drawing/2014/main" id="{DB16E99B-0703-15BA-41A8-6D7E6BF1498E}"/>
              </a:ext>
            </a:extLst>
          </p:cNvPr>
          <p:cNvCxnSpPr>
            <a:cxnSpLocks/>
            <a:stCxn id="9" idx="3"/>
            <a:endCxn id="11" idx="1"/>
          </p:cNvCxnSpPr>
          <p:nvPr/>
        </p:nvCxnSpPr>
        <p:spPr>
          <a:xfrm>
            <a:off x="5780075" y="2990174"/>
            <a:ext cx="1133343" cy="279820"/>
          </a:xfrm>
          <a:prstGeom prst="line">
            <a:avLst/>
          </a:prstGeom>
        </p:spPr>
        <p:style>
          <a:lnRef idx="1">
            <a:schemeClr val="dk1"/>
          </a:lnRef>
          <a:fillRef idx="0">
            <a:schemeClr val="dk1"/>
          </a:fillRef>
          <a:effectRef idx="0">
            <a:schemeClr val="dk1"/>
          </a:effectRef>
          <a:fontRef idx="minor">
            <a:schemeClr val="tx1"/>
          </a:fontRef>
        </p:style>
      </p:cxnSp>
      <p:sp>
        <p:nvSpPr>
          <p:cNvPr id="23" name="직사각형 22">
            <a:extLst>
              <a:ext uri="{FF2B5EF4-FFF2-40B4-BE49-F238E27FC236}">
                <a16:creationId xmlns:a16="http://schemas.microsoft.com/office/drawing/2014/main" id="{17B04AF0-E40F-6C8E-32B2-175697C7E2BE}"/>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1.3.1 </a:t>
            </a:r>
            <a:r>
              <a:rPr lang="ko-KR" altLang="en-US" sz="1200" dirty="0" err="1">
                <a:solidFill>
                  <a:schemeClr val="tx1"/>
                </a:solidFill>
              </a:rPr>
              <a:t>개찰목록</a:t>
            </a:r>
            <a:endParaRPr lang="ko-KR" altLang="en-US" sz="1200" dirty="0">
              <a:solidFill>
                <a:schemeClr val="tx1"/>
              </a:solidFill>
            </a:endParaRPr>
          </a:p>
        </p:txBody>
      </p:sp>
      <p:sp>
        <p:nvSpPr>
          <p:cNvPr id="17"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443786109"/>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138</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6.3 </a:t>
            </a:r>
            <a:r>
              <a:rPr lang="ko-KR" altLang="en-US" dirty="0"/>
              <a:t>앱 구성 다이어그램 </a:t>
            </a:r>
            <a:r>
              <a:rPr lang="en-US" altLang="ko-KR" dirty="0"/>
              <a:t>(2/5)</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265382" y="2671789"/>
            <a:ext cx="1727200" cy="636768"/>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solidFill>
                  <a:schemeClr val="tx1"/>
                </a:solidFill>
              </a:rPr>
              <a:t>&lt;&lt;App Page&gt;&gt;</a:t>
            </a:r>
          </a:p>
          <a:p>
            <a:pPr algn="ctr"/>
            <a:r>
              <a:rPr lang="ko-KR" altLang="en-US" sz="1100" dirty="0">
                <a:solidFill>
                  <a:schemeClr val="tx1"/>
                </a:solidFill>
              </a:rPr>
              <a:t>입찰결과상세</a:t>
            </a:r>
            <a:endParaRPr lang="en-US" altLang="ko-KR" sz="1100" dirty="0">
              <a:solidFill>
                <a:schemeClr val="tx1"/>
              </a:solidFill>
            </a:endParaRPr>
          </a:p>
          <a:p>
            <a:pPr algn="ctr"/>
            <a:r>
              <a:rPr lang="en-US" altLang="ko-KR" sz="1100" dirty="0">
                <a:solidFill>
                  <a:schemeClr val="tx1"/>
                </a:solidFill>
                <a:latin typeface="+mn-ea"/>
              </a:rPr>
              <a:t>BidRsltDtl</a:t>
            </a:r>
            <a:r>
              <a:rPr lang="en-US" altLang="ko-KR" sz="1100" dirty="0">
                <a:solidFill>
                  <a:schemeClr val="tx1"/>
                </a:solidFill>
                <a:latin typeface="Calibri" panose="020F0502020204030204" pitchFamily="34" charset="0"/>
              </a:rPr>
              <a:t>Page</a:t>
            </a:r>
            <a:r>
              <a:rPr lang="en-US" altLang="ko-KR" sz="1100" dirty="0">
                <a:solidFill>
                  <a:schemeClr val="tx1"/>
                </a:solidFill>
              </a:rPr>
              <a:t>.tsx</a:t>
            </a:r>
            <a:r>
              <a:rPr lang="en-US" altLang="ko-KR" sz="1100" b="1" baseline="30000" dirty="0">
                <a:solidFill>
                  <a:schemeClr val="tx1"/>
                </a:solidFill>
                <a:latin typeface="+mn-ea"/>
              </a:rPr>
              <a:t>1)</a:t>
            </a:r>
            <a:endParaRPr lang="en-US" altLang="ko-KR" sz="110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73264"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1" name="직사각형 10">
            <a:extLst>
              <a:ext uri="{FF2B5EF4-FFF2-40B4-BE49-F238E27FC236}">
                <a16:creationId xmlns:a16="http://schemas.microsoft.com/office/drawing/2014/main" id="{015A331E-505A-57E3-A763-CB0C8D48EC9A}"/>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입찰결과</a:t>
            </a:r>
            <a:r>
              <a:rPr lang="en-US" altLang="ko-KR" sz="1100" dirty="0"/>
              <a:t>Controller&gt;&gt;</a:t>
            </a:r>
          </a:p>
          <a:p>
            <a:pPr algn="ctr"/>
            <a:r>
              <a:rPr lang="en-US" altLang="ko-KR" sz="1100" dirty="0" err="1" smtClean="0"/>
              <a:t>BidRsltController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2990173"/>
            <a:ext cx="967509"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직선 연결선 21">
            <a:extLst>
              <a:ext uri="{FF2B5EF4-FFF2-40B4-BE49-F238E27FC236}">
                <a16:creationId xmlns:a16="http://schemas.microsoft.com/office/drawing/2014/main" id="{DB16E99B-0703-15BA-41A8-6D7E6BF1498E}"/>
              </a:ext>
            </a:extLst>
          </p:cNvPr>
          <p:cNvCxnSpPr>
            <a:cxnSpLocks/>
            <a:stCxn id="9" idx="3"/>
            <a:endCxn id="11" idx="1"/>
          </p:cNvCxnSpPr>
          <p:nvPr/>
        </p:nvCxnSpPr>
        <p:spPr>
          <a:xfrm>
            <a:off x="5733355" y="2990174"/>
            <a:ext cx="1180063" cy="0"/>
          </a:xfrm>
          <a:prstGeom prst="line">
            <a:avLst/>
          </a:prstGeom>
        </p:spPr>
        <p:style>
          <a:lnRef idx="1">
            <a:schemeClr val="dk1"/>
          </a:lnRef>
          <a:fillRef idx="0">
            <a:schemeClr val="dk1"/>
          </a:fillRef>
          <a:effectRef idx="0">
            <a:schemeClr val="dk1"/>
          </a:effectRef>
          <a:fontRef idx="minor">
            <a:schemeClr val="tx1"/>
          </a:fontRef>
        </p:style>
      </p:cxnSp>
      <p:sp>
        <p:nvSpPr>
          <p:cNvPr id="17" name="직사각형 16">
            <a:extLst>
              <a:ext uri="{FF2B5EF4-FFF2-40B4-BE49-F238E27FC236}">
                <a16:creationId xmlns:a16="http://schemas.microsoft.com/office/drawing/2014/main" id="{232EA436-7A0D-DBDA-041F-31B51FACB133}"/>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1.3.2 </a:t>
            </a:r>
            <a:r>
              <a:rPr lang="ko-KR" altLang="en-US" sz="1200" dirty="0">
                <a:solidFill>
                  <a:schemeClr val="tx1"/>
                </a:solidFill>
              </a:rPr>
              <a:t>입찰결과</a:t>
            </a:r>
          </a:p>
        </p:txBody>
      </p:sp>
      <p:sp>
        <p:nvSpPr>
          <p:cNvPr id="14"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36183335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139</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6.3 </a:t>
            </a:r>
            <a:r>
              <a:rPr lang="ko-KR" altLang="en-US" dirty="0"/>
              <a:t>앱 구성 다이어그램 </a:t>
            </a:r>
            <a:r>
              <a:rPr lang="en-US" altLang="ko-KR" dirty="0"/>
              <a:t>(3/5)</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62996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t"/>
          <a:lstStyle/>
          <a:p>
            <a:pPr algn="ctr"/>
            <a:r>
              <a:rPr lang="en-US" altLang="ko-KR" sz="900" dirty="0">
                <a:solidFill>
                  <a:schemeClr val="tx1"/>
                </a:solidFill>
              </a:rPr>
              <a:t>&lt;&lt;App Page&gt;&gt;</a:t>
            </a:r>
          </a:p>
          <a:p>
            <a:pPr algn="ctr"/>
            <a:r>
              <a:rPr lang="ko-KR" altLang="en-US" sz="900" dirty="0">
                <a:solidFill>
                  <a:schemeClr val="tx1"/>
                </a:solidFill>
                <a:latin typeface="+mn-ea"/>
              </a:rPr>
              <a:t>이행</a:t>
            </a:r>
            <a:r>
              <a:rPr lang="en-US" altLang="ko-KR" sz="900" dirty="0">
                <a:solidFill>
                  <a:schemeClr val="tx1"/>
                </a:solidFill>
                <a:latin typeface="+mn-ea"/>
              </a:rPr>
              <a:t>/</a:t>
            </a:r>
            <a:r>
              <a:rPr lang="ko-KR" altLang="en-US" sz="900" dirty="0">
                <a:solidFill>
                  <a:schemeClr val="tx1"/>
                </a:solidFill>
                <a:latin typeface="+mn-ea"/>
              </a:rPr>
              <a:t>적격심사상세</a:t>
            </a:r>
            <a:endParaRPr lang="en-US" altLang="ko-KR" sz="900" dirty="0">
              <a:solidFill>
                <a:schemeClr val="tx1"/>
              </a:solidFill>
            </a:endParaRPr>
          </a:p>
          <a:p>
            <a:pPr algn="ctr"/>
            <a:r>
              <a:rPr lang="en-US" altLang="ko-KR" sz="900" dirty="0">
                <a:solidFill>
                  <a:schemeClr val="tx1"/>
                </a:solidFill>
                <a:latin typeface="+mn-ea"/>
              </a:rPr>
              <a:t>Implt1</a:t>
            </a:r>
            <a:r>
              <a:rPr lang="en-US" altLang="ko-KR" sz="900" dirty="0">
                <a:solidFill>
                  <a:schemeClr val="tx1"/>
                </a:solidFill>
              </a:rPr>
              <a:t>~3.tsx</a:t>
            </a:r>
            <a:r>
              <a:rPr lang="en-US" altLang="ko-KR" sz="900" b="1" baseline="30000" dirty="0">
                <a:solidFill>
                  <a:schemeClr val="tx1"/>
                </a:solidFill>
                <a:latin typeface="+mn-ea"/>
              </a:rPr>
              <a:t>1)</a:t>
            </a:r>
            <a:endParaRPr lang="en-US" altLang="ko-KR" sz="90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218187"/>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latin typeface="+mn-ea"/>
              </a:rPr>
              <a:t>물품</a:t>
            </a:r>
            <a:endParaRPr lang="en-US" altLang="ko-KR" sz="900" dirty="0">
              <a:solidFill>
                <a:schemeClr val="tx1"/>
              </a:solidFill>
            </a:endParaRPr>
          </a:p>
          <a:p>
            <a:pPr algn="ctr"/>
            <a:r>
              <a:rPr lang="en-US" altLang="ko-KR" sz="900" dirty="0">
                <a:solidFill>
                  <a:schemeClr val="tx1"/>
                </a:solidFill>
                <a:latin typeface="+mn-ea"/>
              </a:rPr>
              <a:t>Cmdty</a:t>
            </a: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Autofit/>
          </a:bodyPr>
          <a:lstStyle/>
          <a:p>
            <a:pPr algn="ctr"/>
            <a:r>
              <a:rPr lang="en-US" altLang="ko-KR" sz="800" dirty="0"/>
              <a:t>&lt;&lt; </a:t>
            </a:r>
            <a:r>
              <a:rPr lang="ko-KR" altLang="en-US" sz="800" dirty="0"/>
              <a:t>이행적격심사</a:t>
            </a:r>
            <a:r>
              <a:rPr lang="en-US" altLang="ko-KR" sz="800" dirty="0"/>
              <a:t>Controller&gt;&gt;</a:t>
            </a:r>
          </a:p>
          <a:p>
            <a:pPr algn="ctr"/>
            <a:r>
              <a:rPr lang="en-US" altLang="ko-KR" sz="800" dirty="0" err="1" smtClean="0"/>
              <a:t>ImpltElgbSrngController</a:t>
            </a:r>
            <a:endParaRPr lang="en-US" altLang="ko-KR" sz="8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1881961"/>
            <a:ext cx="967509" cy="110821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23" name="직사각형 22">
            <a:extLst>
              <a:ext uri="{FF2B5EF4-FFF2-40B4-BE49-F238E27FC236}">
                <a16:creationId xmlns:a16="http://schemas.microsoft.com/office/drawing/2014/main" id="{3FD7B626-4B5C-AE29-EFB9-628750B32B78}"/>
              </a:ext>
            </a:extLst>
          </p:cNvPr>
          <p:cNvSpPr/>
          <p:nvPr/>
        </p:nvSpPr>
        <p:spPr>
          <a:xfrm>
            <a:off x="1265382" y="2806413"/>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latin typeface="+mn-ea"/>
              </a:rPr>
              <a:t>용역</a:t>
            </a:r>
            <a:endParaRPr lang="en-US" altLang="ko-KR" sz="900" dirty="0">
              <a:solidFill>
                <a:schemeClr val="tx1"/>
              </a:solidFill>
            </a:endParaRPr>
          </a:p>
          <a:p>
            <a:pPr algn="ctr"/>
            <a:r>
              <a:rPr lang="en-US" altLang="ko-KR" sz="900" dirty="0" err="1">
                <a:solidFill>
                  <a:schemeClr val="tx1"/>
                </a:solidFill>
                <a:latin typeface="+mn-ea"/>
              </a:rPr>
              <a:t>Lbsvc.tsx</a:t>
            </a:r>
            <a:r>
              <a:rPr lang="ko-KR" altLang="en-US" sz="900" dirty="0">
                <a:solidFill>
                  <a:schemeClr val="tx1"/>
                </a:solidFill>
                <a:latin typeface="+mn-ea"/>
              </a:rPr>
              <a:t> </a:t>
            </a:r>
            <a:r>
              <a:rPr lang="en-US" altLang="ko-KR" sz="900" b="1" baseline="30000" dirty="0">
                <a:solidFill>
                  <a:schemeClr val="tx1"/>
                </a:solidFill>
                <a:latin typeface="+mn-ea"/>
              </a:rPr>
              <a:t>1)</a:t>
            </a:r>
            <a:endParaRPr lang="en-US" altLang="ko-KR" sz="900" dirty="0">
              <a:solidFill>
                <a:schemeClr val="tx1"/>
              </a:solidFill>
            </a:endParaRPr>
          </a:p>
        </p:txBody>
      </p:sp>
      <p:sp>
        <p:nvSpPr>
          <p:cNvPr id="24" name="직사각형 23">
            <a:extLst>
              <a:ext uri="{FF2B5EF4-FFF2-40B4-BE49-F238E27FC236}">
                <a16:creationId xmlns:a16="http://schemas.microsoft.com/office/drawing/2014/main" id="{04F2CFBC-290B-2E89-63C0-62C22747051D}"/>
              </a:ext>
            </a:extLst>
          </p:cNvPr>
          <p:cNvSpPr/>
          <p:nvPr/>
        </p:nvSpPr>
        <p:spPr>
          <a:xfrm>
            <a:off x="1265382" y="3394639"/>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a:t>
            </a:r>
            <a:r>
              <a:rPr lang="en-US" altLang="ko-KR" sz="900" dirty="0">
                <a:solidFill>
                  <a:schemeClr val="tx1"/>
                </a:solidFill>
              </a:rPr>
              <a:t>(</a:t>
            </a:r>
            <a:r>
              <a:rPr lang="ko-KR" altLang="en-US" sz="900" dirty="0" err="1">
                <a:solidFill>
                  <a:schemeClr val="tx1"/>
                </a:solidFill>
              </a:rPr>
              <a:t>중기청</a:t>
            </a:r>
            <a:r>
              <a:rPr lang="en-US" altLang="ko-KR" sz="900" dirty="0">
                <a:solidFill>
                  <a:schemeClr val="tx1"/>
                </a:solidFill>
              </a:rPr>
              <a:t>)</a:t>
            </a:r>
          </a:p>
          <a:p>
            <a:pPr algn="ctr"/>
            <a:r>
              <a:rPr lang="en-US" altLang="ko-KR" sz="900" dirty="0">
                <a:solidFill>
                  <a:schemeClr val="tx1"/>
                </a:solidFill>
                <a:latin typeface="+mn-ea"/>
              </a:rPr>
              <a:t>ItemsUnderKrw1B</a:t>
            </a: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27" name="직사각형 26">
            <a:extLst>
              <a:ext uri="{FF2B5EF4-FFF2-40B4-BE49-F238E27FC236}">
                <a16:creationId xmlns:a16="http://schemas.microsoft.com/office/drawing/2014/main" id="{3FD7B626-4B5C-AE29-EFB9-628750B32B78}"/>
              </a:ext>
            </a:extLst>
          </p:cNvPr>
          <p:cNvSpPr/>
          <p:nvPr/>
        </p:nvSpPr>
        <p:spPr>
          <a:xfrm>
            <a:off x="1265382" y="3982865"/>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억원미만물품제조</a:t>
            </a:r>
            <a:endParaRPr lang="en-US" altLang="ko-KR" sz="900" dirty="0">
              <a:solidFill>
                <a:schemeClr val="tx1"/>
              </a:solidFill>
            </a:endParaRPr>
          </a:p>
          <a:p>
            <a:pPr algn="ctr"/>
            <a:r>
              <a:rPr lang="en-US" altLang="ko-KR" sz="900" dirty="0">
                <a:solidFill>
                  <a:schemeClr val="tx1"/>
                </a:solidFill>
                <a:latin typeface="+mn-ea"/>
              </a:rPr>
              <a:t>ManufacturingofItemsUnderKrw1B</a:t>
            </a: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28" name="직사각형 27">
            <a:extLst>
              <a:ext uri="{FF2B5EF4-FFF2-40B4-BE49-F238E27FC236}">
                <a16:creationId xmlns:a16="http://schemas.microsoft.com/office/drawing/2014/main" id="{04F2CFBC-290B-2E89-63C0-62C22747051D}"/>
              </a:ext>
            </a:extLst>
          </p:cNvPr>
          <p:cNvSpPr/>
          <p:nvPr/>
        </p:nvSpPr>
        <p:spPr>
          <a:xfrm>
            <a:off x="1265382" y="457109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억원미만물품제조</a:t>
            </a:r>
            <a:r>
              <a:rPr lang="en-US" altLang="ko-KR" sz="900" dirty="0">
                <a:solidFill>
                  <a:schemeClr val="tx1"/>
                </a:solidFill>
              </a:rPr>
              <a:t>2015</a:t>
            </a:r>
            <a:r>
              <a:rPr lang="ko-KR" altLang="en-US" sz="900" dirty="0">
                <a:solidFill>
                  <a:schemeClr val="tx1"/>
                </a:solidFill>
              </a:rPr>
              <a:t>년</a:t>
            </a:r>
            <a:endParaRPr lang="en-US" altLang="ko-KR" sz="900" dirty="0">
              <a:solidFill>
                <a:schemeClr val="tx1"/>
              </a:solidFill>
            </a:endParaRPr>
          </a:p>
          <a:p>
            <a:pPr algn="ctr"/>
            <a:r>
              <a:rPr lang="en-US" altLang="ko-KR" sz="900" dirty="0">
                <a:solidFill>
                  <a:schemeClr val="tx1"/>
                </a:solidFill>
              </a:rPr>
              <a:t>ManufacturingofItemsUnderKrw1B.tsx</a:t>
            </a:r>
            <a:r>
              <a:rPr lang="en-US" altLang="ko-KR" sz="900" b="1" baseline="30000" dirty="0">
                <a:solidFill>
                  <a:schemeClr val="tx1"/>
                </a:solidFill>
                <a:latin typeface="+mn-ea"/>
              </a:rPr>
              <a:t>1)</a:t>
            </a:r>
            <a:endParaRPr lang="en-US" altLang="ko-KR" sz="900" dirty="0">
              <a:solidFill>
                <a:schemeClr val="tx1"/>
              </a:solidFill>
            </a:endParaRPr>
          </a:p>
        </p:txBody>
      </p:sp>
      <p:cxnSp>
        <p:nvCxnSpPr>
          <p:cNvPr id="34" name="직선 화살표 연결선 33">
            <a:extLst>
              <a:ext uri="{FF2B5EF4-FFF2-40B4-BE49-F238E27FC236}">
                <a16:creationId xmlns:a16="http://schemas.microsoft.com/office/drawing/2014/main" id="{AF6B56CB-1ACF-E509-9762-CFE025648775}"/>
              </a:ext>
            </a:extLst>
          </p:cNvPr>
          <p:cNvCxnSpPr>
            <a:cxnSpLocks/>
            <a:stCxn id="28" idx="3"/>
            <a:endCxn id="9" idx="1"/>
          </p:cNvCxnSpPr>
          <p:nvPr/>
        </p:nvCxnSpPr>
        <p:spPr>
          <a:xfrm flipV="1">
            <a:off x="2992582" y="2990174"/>
            <a:ext cx="967509" cy="18329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7" name="직사각형 36">
            <a:extLst>
              <a:ext uri="{FF2B5EF4-FFF2-40B4-BE49-F238E27FC236}">
                <a16:creationId xmlns:a16="http://schemas.microsoft.com/office/drawing/2014/main" id="{3549C3A0-99B5-8272-2427-EE10759356AC}"/>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1.3.3 </a:t>
            </a:r>
            <a:r>
              <a:rPr lang="ko-KR" altLang="en-US" sz="1200" dirty="0">
                <a:solidFill>
                  <a:schemeClr val="tx1"/>
                </a:solidFill>
              </a:rPr>
              <a:t>이행</a:t>
            </a:r>
            <a:r>
              <a:rPr lang="en-US" altLang="ko-KR" sz="1200" dirty="0">
                <a:solidFill>
                  <a:schemeClr val="tx1"/>
                </a:solidFill>
              </a:rPr>
              <a:t>/</a:t>
            </a:r>
            <a:r>
              <a:rPr lang="ko-KR" altLang="en-US" sz="1200" dirty="0">
                <a:solidFill>
                  <a:schemeClr val="tx1"/>
                </a:solidFill>
              </a:rPr>
              <a:t>적격심사 </a:t>
            </a:r>
            <a:r>
              <a:rPr lang="en-US" altLang="ko-KR" sz="1200" dirty="0">
                <a:solidFill>
                  <a:schemeClr val="tx1"/>
                </a:solidFill>
              </a:rPr>
              <a:t>(1/3)</a:t>
            </a:r>
            <a:endParaRPr lang="ko-KR" altLang="en-US" sz="1200" dirty="0">
              <a:solidFill>
                <a:schemeClr val="tx1"/>
              </a:solidFill>
            </a:endParaRPr>
          </a:p>
        </p:txBody>
      </p:sp>
      <p:cxnSp>
        <p:nvCxnSpPr>
          <p:cNvPr id="33" name="직선 화살표 연결선 32">
            <a:extLst>
              <a:ext uri="{FF2B5EF4-FFF2-40B4-BE49-F238E27FC236}">
                <a16:creationId xmlns:a16="http://schemas.microsoft.com/office/drawing/2014/main" id="{8DD2481F-89D8-25C0-6E6F-7535C857EB4B}"/>
              </a:ext>
            </a:extLst>
          </p:cNvPr>
          <p:cNvCxnSpPr>
            <a:stCxn id="7" idx="3"/>
            <a:endCxn id="9" idx="1"/>
          </p:cNvCxnSpPr>
          <p:nvPr/>
        </p:nvCxnSpPr>
        <p:spPr>
          <a:xfrm>
            <a:off x="2992582" y="2470187"/>
            <a:ext cx="967509" cy="5199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직선 화살표 연결선 34">
            <a:extLst>
              <a:ext uri="{FF2B5EF4-FFF2-40B4-BE49-F238E27FC236}">
                <a16:creationId xmlns:a16="http://schemas.microsoft.com/office/drawing/2014/main" id="{8DD2481F-89D8-25C0-6E6F-7535C857EB4B}"/>
              </a:ext>
            </a:extLst>
          </p:cNvPr>
          <p:cNvCxnSpPr>
            <a:stCxn id="23" idx="3"/>
            <a:endCxn id="9" idx="1"/>
          </p:cNvCxnSpPr>
          <p:nvPr/>
        </p:nvCxnSpPr>
        <p:spPr>
          <a:xfrm flipV="1">
            <a:off x="2992582" y="2990174"/>
            <a:ext cx="967509" cy="6823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직선 화살표 연결선 35">
            <a:extLst>
              <a:ext uri="{FF2B5EF4-FFF2-40B4-BE49-F238E27FC236}">
                <a16:creationId xmlns:a16="http://schemas.microsoft.com/office/drawing/2014/main" id="{8DD2481F-89D8-25C0-6E6F-7535C857EB4B}"/>
              </a:ext>
            </a:extLst>
          </p:cNvPr>
          <p:cNvCxnSpPr>
            <a:stCxn id="24" idx="3"/>
            <a:endCxn id="9" idx="1"/>
          </p:cNvCxnSpPr>
          <p:nvPr/>
        </p:nvCxnSpPr>
        <p:spPr>
          <a:xfrm flipV="1">
            <a:off x="2992582" y="2990174"/>
            <a:ext cx="967509" cy="6564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직선 화살표 연결선 38">
            <a:extLst>
              <a:ext uri="{FF2B5EF4-FFF2-40B4-BE49-F238E27FC236}">
                <a16:creationId xmlns:a16="http://schemas.microsoft.com/office/drawing/2014/main" id="{8DD2481F-89D8-25C0-6E6F-7535C857EB4B}"/>
              </a:ext>
            </a:extLst>
          </p:cNvPr>
          <p:cNvCxnSpPr>
            <a:stCxn id="27" idx="3"/>
            <a:endCxn id="9" idx="1"/>
          </p:cNvCxnSpPr>
          <p:nvPr/>
        </p:nvCxnSpPr>
        <p:spPr>
          <a:xfrm flipV="1">
            <a:off x="2992582" y="2990174"/>
            <a:ext cx="967509" cy="124469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23449171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407323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140</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6.3 </a:t>
            </a:r>
            <a:r>
              <a:rPr lang="ko-KR" altLang="en-US" dirty="0"/>
              <a:t>앱 구성 다이어그램 </a:t>
            </a:r>
            <a:r>
              <a:rPr lang="en-US" altLang="ko-KR" dirty="0"/>
              <a:t>(4/5)</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62996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억원미만물품구매</a:t>
            </a:r>
            <a:endParaRPr lang="en-US" altLang="ko-KR" sz="900" dirty="0">
              <a:solidFill>
                <a:schemeClr val="tx1"/>
              </a:solidFill>
            </a:endParaRPr>
          </a:p>
          <a:p>
            <a:pPr algn="ctr"/>
            <a:r>
              <a:rPr lang="en-US" altLang="ko-KR" sz="900" dirty="0">
                <a:solidFill>
                  <a:schemeClr val="tx1"/>
                </a:solidFill>
              </a:rPr>
              <a:t>PurchaseofItemsUnderKrw1B.tsx</a:t>
            </a:r>
            <a:r>
              <a:rPr lang="en-US" altLang="ko-KR" sz="900" b="1" baseline="30000" dirty="0">
                <a:solidFill>
                  <a:schemeClr val="tx1"/>
                </a:solidFill>
                <a:latin typeface="+mn-ea"/>
              </a:rPr>
              <a:t>1)</a:t>
            </a:r>
            <a:endParaRPr lang="en-US" altLang="ko-KR" sz="90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218187"/>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억원미만물품구매</a:t>
            </a:r>
            <a:r>
              <a:rPr lang="en-US" altLang="ko-KR" sz="900" dirty="0">
                <a:solidFill>
                  <a:schemeClr val="tx1"/>
                </a:solidFill>
              </a:rPr>
              <a:t>2015</a:t>
            </a:r>
            <a:r>
              <a:rPr lang="ko-KR" altLang="en-US" sz="900" dirty="0">
                <a:solidFill>
                  <a:schemeClr val="tx1"/>
                </a:solidFill>
              </a:rPr>
              <a:t>년</a:t>
            </a:r>
            <a:endParaRPr lang="en-US" altLang="ko-KR" sz="900" dirty="0">
              <a:solidFill>
                <a:schemeClr val="tx1"/>
              </a:solidFill>
            </a:endParaRPr>
          </a:p>
          <a:p>
            <a:pPr algn="ctr"/>
            <a:r>
              <a:rPr lang="en-US" altLang="ko-KR" sz="900" dirty="0">
                <a:solidFill>
                  <a:schemeClr val="tx1"/>
                </a:solidFill>
              </a:rPr>
              <a:t>PurchaseofItemsUnderKrw1B</a:t>
            </a:r>
            <a:endParaRPr lang="ko-KR" altLang="en-US" sz="900" dirty="0">
              <a:solidFill>
                <a:schemeClr val="tx1"/>
              </a:solidFill>
            </a:endParaRPr>
          </a:p>
          <a:p>
            <a:pPr algn="ct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1881961"/>
            <a:ext cx="967509" cy="110821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992582" y="2470187"/>
            <a:ext cx="967509" cy="5199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직사각형 22">
            <a:extLst>
              <a:ext uri="{FF2B5EF4-FFF2-40B4-BE49-F238E27FC236}">
                <a16:creationId xmlns:a16="http://schemas.microsoft.com/office/drawing/2014/main" id="{3FD7B626-4B5C-AE29-EFB9-628750B32B78}"/>
              </a:ext>
            </a:extLst>
          </p:cNvPr>
          <p:cNvSpPr/>
          <p:nvPr/>
        </p:nvSpPr>
        <p:spPr>
          <a:xfrm>
            <a:off x="1265382" y="2806413"/>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억원미만물품제조</a:t>
            </a:r>
            <a:r>
              <a:rPr lang="en-US" altLang="ko-KR" sz="900" dirty="0">
                <a:solidFill>
                  <a:schemeClr val="tx1"/>
                </a:solidFill>
              </a:rPr>
              <a:t>2018</a:t>
            </a:r>
            <a:r>
              <a:rPr lang="ko-KR" altLang="en-US" sz="900" dirty="0">
                <a:solidFill>
                  <a:schemeClr val="tx1"/>
                </a:solidFill>
              </a:rPr>
              <a:t>년</a:t>
            </a:r>
            <a:endParaRPr lang="en-US" altLang="ko-KR" sz="900" dirty="0">
              <a:solidFill>
                <a:schemeClr val="tx1"/>
              </a:solidFill>
            </a:endParaRPr>
          </a:p>
          <a:p>
            <a:pPr algn="ctr"/>
            <a:r>
              <a:rPr lang="en-US" altLang="ko-KR" sz="900" dirty="0">
                <a:solidFill>
                  <a:schemeClr val="tx1"/>
                </a:solidFill>
              </a:rPr>
              <a:t>ManufacturingofItemsUnderKrw1B</a:t>
            </a:r>
            <a:endParaRPr lang="ko-KR" altLang="en-US" sz="900" dirty="0">
              <a:solidFill>
                <a:schemeClr val="tx1"/>
              </a:solidFill>
            </a:endParaRPr>
          </a:p>
          <a:p>
            <a:pPr algn="ct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24" name="직사각형 23">
            <a:extLst>
              <a:ext uri="{FF2B5EF4-FFF2-40B4-BE49-F238E27FC236}">
                <a16:creationId xmlns:a16="http://schemas.microsoft.com/office/drawing/2014/main" id="{04F2CFBC-290B-2E89-63C0-62C22747051D}"/>
              </a:ext>
            </a:extLst>
          </p:cNvPr>
          <p:cNvSpPr/>
          <p:nvPr/>
        </p:nvSpPr>
        <p:spPr>
          <a:xfrm>
            <a:off x="1265382" y="3394639"/>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a:solidFill>
                  <a:schemeClr val="tx1"/>
                </a:solidFill>
              </a:rPr>
              <a:t>억원미만물품구매</a:t>
            </a:r>
            <a:r>
              <a:rPr lang="en-US" altLang="ko-KR" sz="900" dirty="0">
                <a:solidFill>
                  <a:schemeClr val="tx1"/>
                </a:solidFill>
              </a:rPr>
              <a:t>2018</a:t>
            </a:r>
            <a:r>
              <a:rPr lang="ko-KR" altLang="en-US" sz="900" dirty="0">
                <a:solidFill>
                  <a:schemeClr val="tx1"/>
                </a:solidFill>
              </a:rPr>
              <a:t>년</a:t>
            </a:r>
            <a:endParaRPr lang="en-US" altLang="ko-KR" sz="900" dirty="0">
              <a:solidFill>
                <a:schemeClr val="tx1"/>
              </a:solidFill>
            </a:endParaRPr>
          </a:p>
          <a:p>
            <a:pPr algn="ctr"/>
            <a:r>
              <a:rPr lang="en-US" altLang="ko-KR" sz="900" dirty="0">
                <a:solidFill>
                  <a:schemeClr val="tx1"/>
                </a:solidFill>
              </a:rPr>
              <a:t>PurchaseofItemsUnderkrw1B</a:t>
            </a:r>
            <a:endParaRPr lang="ko-KR" altLang="en-US" sz="900" dirty="0">
              <a:solidFill>
                <a:schemeClr val="tx1"/>
              </a:solidFill>
            </a:endParaRPr>
          </a:p>
          <a:p>
            <a:pPr algn="ct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27" name="직사각형 26">
            <a:extLst>
              <a:ext uri="{FF2B5EF4-FFF2-40B4-BE49-F238E27FC236}">
                <a16:creationId xmlns:a16="http://schemas.microsoft.com/office/drawing/2014/main" id="{3FD7B626-4B5C-AE29-EFB9-628750B32B78}"/>
              </a:ext>
            </a:extLst>
          </p:cNvPr>
          <p:cNvSpPr/>
          <p:nvPr/>
        </p:nvSpPr>
        <p:spPr>
          <a:xfrm>
            <a:off x="1265382" y="3982865"/>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rPr>
              <a:t>고시금액미만</a:t>
            </a:r>
            <a:r>
              <a:rPr lang="en-US" altLang="ko-KR" sz="900" dirty="0">
                <a:solidFill>
                  <a:schemeClr val="tx1"/>
                </a:solidFill>
              </a:rPr>
              <a:t>(</a:t>
            </a:r>
            <a:r>
              <a:rPr lang="ko-KR" altLang="en-US" sz="900" dirty="0" err="1">
                <a:solidFill>
                  <a:schemeClr val="tx1"/>
                </a:solidFill>
              </a:rPr>
              <a:t>중기청</a:t>
            </a:r>
            <a:r>
              <a:rPr lang="en-US" altLang="ko-KR" sz="900" dirty="0">
                <a:solidFill>
                  <a:schemeClr val="tx1"/>
                </a:solidFill>
              </a:rPr>
              <a:t>)</a:t>
            </a:r>
          </a:p>
          <a:p>
            <a:pPr algn="ctr"/>
            <a:r>
              <a:rPr lang="en-US" altLang="ko-KR" sz="900" dirty="0" err="1">
                <a:solidFill>
                  <a:schemeClr val="tx1"/>
                </a:solidFill>
              </a:rPr>
              <a:t>BelowThreshold</a:t>
            </a:r>
            <a:endParaRPr lang="ko-KR" altLang="en-US" sz="900" dirty="0">
              <a:solidFill>
                <a:schemeClr val="tx1"/>
              </a:solidFill>
            </a:endParaRPr>
          </a:p>
          <a:p>
            <a:pPr algn="ct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sp>
        <p:nvSpPr>
          <p:cNvPr id="28" name="직사각형 27">
            <a:extLst>
              <a:ext uri="{FF2B5EF4-FFF2-40B4-BE49-F238E27FC236}">
                <a16:creationId xmlns:a16="http://schemas.microsoft.com/office/drawing/2014/main" id="{04F2CFBC-290B-2E89-63C0-62C22747051D}"/>
              </a:ext>
            </a:extLst>
          </p:cNvPr>
          <p:cNvSpPr/>
          <p:nvPr/>
        </p:nvSpPr>
        <p:spPr>
          <a:xfrm>
            <a:off x="1265382" y="457109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rPr>
              <a:t>고시금액이상</a:t>
            </a:r>
            <a:r>
              <a:rPr lang="en-US" altLang="ko-KR" sz="900" dirty="0">
                <a:solidFill>
                  <a:schemeClr val="tx1"/>
                </a:solidFill>
              </a:rPr>
              <a:t>10</a:t>
            </a:r>
            <a:r>
              <a:rPr lang="ko-KR" altLang="en-US" sz="900" dirty="0" err="1">
                <a:solidFill>
                  <a:schemeClr val="tx1"/>
                </a:solidFill>
              </a:rPr>
              <a:t>억원미만</a:t>
            </a:r>
            <a:r>
              <a:rPr lang="en-US" altLang="ko-KR" sz="900" dirty="0">
                <a:solidFill>
                  <a:schemeClr val="tx1"/>
                </a:solidFill>
              </a:rPr>
              <a:t>(</a:t>
            </a:r>
            <a:r>
              <a:rPr lang="ko-KR" altLang="en-US" sz="900" dirty="0" err="1">
                <a:solidFill>
                  <a:schemeClr val="tx1"/>
                </a:solidFill>
              </a:rPr>
              <a:t>중기청</a:t>
            </a:r>
            <a:r>
              <a:rPr lang="en-US" altLang="ko-KR" sz="900" dirty="0">
                <a:solidFill>
                  <a:schemeClr val="tx1"/>
                </a:solidFill>
              </a:rPr>
              <a:t>)</a:t>
            </a:r>
          </a:p>
          <a:p>
            <a:pPr algn="ctr"/>
            <a:r>
              <a:rPr lang="en-US" altLang="ko-KR" sz="900" dirty="0">
                <a:solidFill>
                  <a:schemeClr val="tx1"/>
                </a:solidFill>
              </a:rPr>
              <a:t>ThresholdKrw1B.tsx</a:t>
            </a:r>
            <a:r>
              <a:rPr lang="en-US" altLang="ko-KR" sz="900" b="1" baseline="30000" dirty="0">
                <a:solidFill>
                  <a:schemeClr val="tx1"/>
                </a:solidFill>
                <a:latin typeface="+mn-ea"/>
              </a:rPr>
              <a:t>1)</a:t>
            </a:r>
            <a:endParaRPr lang="en-US" altLang="ko-KR" sz="900" dirty="0">
              <a:solidFill>
                <a:schemeClr val="tx1"/>
              </a:solidFill>
            </a:endParaRPr>
          </a:p>
        </p:txBody>
      </p:sp>
      <p:cxnSp>
        <p:nvCxnSpPr>
          <p:cNvPr id="29" name="직선 화살표 연결선 28">
            <a:extLst>
              <a:ext uri="{FF2B5EF4-FFF2-40B4-BE49-F238E27FC236}">
                <a16:creationId xmlns:a16="http://schemas.microsoft.com/office/drawing/2014/main" id="{AF6B56CB-1ACF-E509-9762-CFE025648775}"/>
              </a:ext>
            </a:extLst>
          </p:cNvPr>
          <p:cNvCxnSpPr>
            <a:cxnSpLocks/>
            <a:stCxn id="23" idx="3"/>
            <a:endCxn id="9" idx="1"/>
          </p:cNvCxnSpPr>
          <p:nvPr/>
        </p:nvCxnSpPr>
        <p:spPr>
          <a:xfrm flipV="1">
            <a:off x="2992582" y="2990174"/>
            <a:ext cx="967509" cy="6823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직선 화살표 연결선 29">
            <a:extLst>
              <a:ext uri="{FF2B5EF4-FFF2-40B4-BE49-F238E27FC236}">
                <a16:creationId xmlns:a16="http://schemas.microsoft.com/office/drawing/2014/main" id="{AF6B56CB-1ACF-E509-9762-CFE025648775}"/>
              </a:ext>
            </a:extLst>
          </p:cNvPr>
          <p:cNvCxnSpPr>
            <a:cxnSpLocks/>
            <a:stCxn id="24" idx="3"/>
            <a:endCxn id="9" idx="1"/>
          </p:cNvCxnSpPr>
          <p:nvPr/>
        </p:nvCxnSpPr>
        <p:spPr>
          <a:xfrm flipV="1">
            <a:off x="2992582" y="2990174"/>
            <a:ext cx="967509" cy="6564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AF6B56CB-1ACF-E509-9762-CFE025648775}"/>
              </a:ext>
            </a:extLst>
          </p:cNvPr>
          <p:cNvCxnSpPr>
            <a:cxnSpLocks/>
            <a:stCxn id="27" idx="3"/>
            <a:endCxn id="9" idx="1"/>
          </p:cNvCxnSpPr>
          <p:nvPr/>
        </p:nvCxnSpPr>
        <p:spPr>
          <a:xfrm flipV="1">
            <a:off x="2992582" y="2990174"/>
            <a:ext cx="967509" cy="124469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AF6B56CB-1ACF-E509-9762-CFE025648775}"/>
              </a:ext>
            </a:extLst>
          </p:cNvPr>
          <p:cNvCxnSpPr>
            <a:cxnSpLocks/>
            <a:stCxn id="28" idx="3"/>
            <a:endCxn id="9" idx="1"/>
          </p:cNvCxnSpPr>
          <p:nvPr/>
        </p:nvCxnSpPr>
        <p:spPr>
          <a:xfrm flipV="1">
            <a:off x="2992582" y="2990174"/>
            <a:ext cx="967509" cy="18329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7" name="직사각형 36">
            <a:extLst>
              <a:ext uri="{FF2B5EF4-FFF2-40B4-BE49-F238E27FC236}">
                <a16:creationId xmlns:a16="http://schemas.microsoft.com/office/drawing/2014/main" id="{3549C3A0-99B5-8272-2427-EE10759356AC}"/>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1.3.3 </a:t>
            </a:r>
            <a:r>
              <a:rPr lang="ko-KR" altLang="en-US" sz="1200" dirty="0">
                <a:solidFill>
                  <a:schemeClr val="tx1"/>
                </a:solidFill>
              </a:rPr>
              <a:t>이행</a:t>
            </a:r>
            <a:r>
              <a:rPr lang="en-US" altLang="ko-KR" sz="1200" dirty="0">
                <a:solidFill>
                  <a:schemeClr val="tx1"/>
                </a:solidFill>
              </a:rPr>
              <a:t>/</a:t>
            </a:r>
            <a:r>
              <a:rPr lang="ko-KR" altLang="en-US" sz="1200" dirty="0">
                <a:solidFill>
                  <a:schemeClr val="tx1"/>
                </a:solidFill>
              </a:rPr>
              <a:t>적격심사 </a:t>
            </a:r>
            <a:r>
              <a:rPr lang="en-US" altLang="ko-KR" sz="1200" dirty="0">
                <a:solidFill>
                  <a:schemeClr val="tx1"/>
                </a:solidFill>
              </a:rPr>
              <a:t>(2/3)</a:t>
            </a:r>
            <a:endParaRPr lang="ko-KR" altLang="en-US" sz="1200" dirty="0">
              <a:solidFill>
                <a:schemeClr val="tx1"/>
              </a:solidFill>
            </a:endParaRPr>
          </a:p>
        </p:txBody>
      </p:sp>
      <p:sp>
        <p:nvSpPr>
          <p:cNvPr id="33"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32" name="직사각형 31">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Autofit/>
          </a:bodyPr>
          <a:lstStyle/>
          <a:p>
            <a:pPr algn="ctr"/>
            <a:r>
              <a:rPr lang="en-US" altLang="ko-KR" sz="800" dirty="0"/>
              <a:t>&lt;&lt; </a:t>
            </a:r>
            <a:r>
              <a:rPr lang="ko-KR" altLang="en-US" sz="800" dirty="0"/>
              <a:t>이행적격심사</a:t>
            </a:r>
            <a:r>
              <a:rPr lang="en-US" altLang="ko-KR" sz="800" dirty="0"/>
              <a:t>Controller&gt;&gt;</a:t>
            </a:r>
          </a:p>
          <a:p>
            <a:pPr algn="ctr"/>
            <a:r>
              <a:rPr lang="en-US" altLang="ko-KR" sz="800" dirty="0" err="1" smtClean="0"/>
              <a:t>ImpltElgbSrngController</a:t>
            </a:r>
            <a:endParaRPr lang="en-US" altLang="ko-KR" sz="800" dirty="0"/>
          </a:p>
        </p:txBody>
      </p:sp>
      <p:cxnSp>
        <p:nvCxnSpPr>
          <p:cNvPr id="35" name="직선 연결선 34">
            <a:extLst>
              <a:ext uri="{FF2B5EF4-FFF2-40B4-BE49-F238E27FC236}">
                <a16:creationId xmlns:a16="http://schemas.microsoft.com/office/drawing/2014/main" id="{A8B10782-0A07-A41D-DB15-978B72410A31}"/>
              </a:ext>
            </a:extLst>
          </p:cNvPr>
          <p:cNvCxnSpPr>
            <a:endCxn id="32"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85110051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4"/>
            <a:ext cx="2743200" cy="4425323"/>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4"/>
            <a:ext cx="5181600" cy="4425323"/>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141</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6.3 </a:t>
            </a:r>
            <a:r>
              <a:rPr lang="ko-KR" altLang="en-US" dirty="0"/>
              <a:t>앱 구성 다이어그램 </a:t>
            </a:r>
            <a:r>
              <a:rPr lang="en-US" altLang="ko-KR" dirty="0"/>
              <a:t>(5/5)</a:t>
            </a:r>
            <a:endParaRPr lang="ko-KR" altLang="en-US" dirty="0"/>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62996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10</a:t>
            </a:r>
            <a:r>
              <a:rPr lang="ko-KR" altLang="en-US" sz="900" dirty="0" err="1">
                <a:solidFill>
                  <a:schemeClr val="tx1"/>
                </a:solidFill>
              </a:rPr>
              <a:t>억원이상</a:t>
            </a:r>
            <a:r>
              <a:rPr lang="en-US" altLang="ko-KR" sz="900" dirty="0">
                <a:solidFill>
                  <a:schemeClr val="tx1"/>
                </a:solidFill>
              </a:rPr>
              <a:t>(</a:t>
            </a:r>
            <a:r>
              <a:rPr lang="ko-KR" altLang="en-US" sz="900" dirty="0" err="1">
                <a:solidFill>
                  <a:schemeClr val="tx1"/>
                </a:solidFill>
              </a:rPr>
              <a:t>중기청</a:t>
            </a:r>
            <a:r>
              <a:rPr lang="en-US" altLang="ko-KR" sz="900" dirty="0">
                <a:solidFill>
                  <a:schemeClr val="tx1"/>
                </a:solidFill>
              </a:rPr>
              <a:t>)</a:t>
            </a:r>
          </a:p>
          <a:p>
            <a:pPr algn="ctr"/>
            <a:r>
              <a:rPr lang="en-US" altLang="ko-KR" sz="900" dirty="0">
                <a:solidFill>
                  <a:schemeClr val="tx1"/>
                </a:solidFill>
              </a:rPr>
              <a:t>OverKrw1B.tsx</a:t>
            </a:r>
            <a:r>
              <a:rPr lang="en-US" altLang="ko-KR" sz="900" b="1" baseline="30000" dirty="0">
                <a:solidFill>
                  <a:schemeClr val="tx1"/>
                </a:solidFill>
                <a:latin typeface="+mn-ea"/>
              </a:rPr>
              <a:t>1)</a:t>
            </a:r>
            <a:endParaRPr lang="en-US" altLang="ko-KR" sz="90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218187"/>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latin typeface="+mn-ea"/>
              </a:rPr>
              <a:t>공사</a:t>
            </a:r>
            <a:endParaRPr lang="en-US" altLang="ko-KR" sz="900" dirty="0">
              <a:solidFill>
                <a:schemeClr val="tx1"/>
              </a:solidFill>
            </a:endParaRPr>
          </a:p>
          <a:p>
            <a:pPr algn="ctr"/>
            <a:r>
              <a:rPr lang="en-US" altLang="ko-KR" sz="900" dirty="0">
                <a:solidFill>
                  <a:schemeClr val="tx1"/>
                </a:solidFill>
              </a:rPr>
              <a:t>Cstrn.tsx</a:t>
            </a:r>
            <a:r>
              <a:rPr lang="en-US" altLang="ko-KR" sz="900" b="1" baseline="30000" dirty="0">
                <a:solidFill>
                  <a:schemeClr val="tx1"/>
                </a:solidFill>
                <a:latin typeface="+mn-ea"/>
              </a:rPr>
              <a:t>1)</a:t>
            </a:r>
            <a:endParaRPr lang="en-US" altLang="ko-KR" sz="900" dirty="0">
              <a:solidFill>
                <a:schemeClr val="tx1"/>
              </a:solidFill>
            </a:endParaRP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1881961"/>
            <a:ext cx="967509" cy="110821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992582" y="2470187"/>
            <a:ext cx="967509" cy="5199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직사각형 22">
            <a:extLst>
              <a:ext uri="{FF2B5EF4-FFF2-40B4-BE49-F238E27FC236}">
                <a16:creationId xmlns:a16="http://schemas.microsoft.com/office/drawing/2014/main" id="{3FD7B626-4B5C-AE29-EFB9-628750B32B78}"/>
              </a:ext>
            </a:extLst>
          </p:cNvPr>
          <p:cNvSpPr/>
          <p:nvPr/>
        </p:nvSpPr>
        <p:spPr>
          <a:xfrm>
            <a:off x="1265382" y="2806413"/>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latin typeface="+mn-ea"/>
              </a:rPr>
              <a:t>기술용역</a:t>
            </a:r>
            <a:endParaRPr lang="en-US" altLang="ko-KR" sz="900" dirty="0">
              <a:solidFill>
                <a:schemeClr val="tx1"/>
              </a:solidFill>
            </a:endParaRPr>
          </a:p>
          <a:p>
            <a:pPr algn="ctr"/>
            <a:r>
              <a:rPr lang="en-US" altLang="ko-KR" sz="900" dirty="0">
                <a:solidFill>
                  <a:schemeClr val="tx1"/>
                </a:solidFill>
              </a:rPr>
              <a:t>TechLbsvc.tsx</a:t>
            </a:r>
            <a:r>
              <a:rPr lang="en-US" altLang="ko-KR" sz="900" b="1" baseline="30000" dirty="0">
                <a:solidFill>
                  <a:schemeClr val="tx1"/>
                </a:solidFill>
                <a:latin typeface="+mn-ea"/>
              </a:rPr>
              <a:t>1)</a:t>
            </a:r>
            <a:endParaRPr lang="en-US" altLang="ko-KR" sz="900" dirty="0">
              <a:solidFill>
                <a:schemeClr val="tx1"/>
              </a:solidFill>
            </a:endParaRPr>
          </a:p>
        </p:txBody>
      </p:sp>
      <p:sp>
        <p:nvSpPr>
          <p:cNvPr id="24" name="직사각형 23">
            <a:extLst>
              <a:ext uri="{FF2B5EF4-FFF2-40B4-BE49-F238E27FC236}">
                <a16:creationId xmlns:a16="http://schemas.microsoft.com/office/drawing/2014/main" id="{04F2CFBC-290B-2E89-63C0-62C22747051D}"/>
              </a:ext>
            </a:extLst>
          </p:cNvPr>
          <p:cNvSpPr/>
          <p:nvPr/>
        </p:nvSpPr>
        <p:spPr>
          <a:xfrm>
            <a:off x="1265382" y="3394639"/>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en-US" altLang="ko-KR" sz="900" dirty="0">
                <a:solidFill>
                  <a:schemeClr val="tx1"/>
                </a:solidFill>
              </a:rPr>
              <a:t>3</a:t>
            </a:r>
            <a:r>
              <a:rPr lang="ko-KR" altLang="en-US" sz="900" dirty="0">
                <a:solidFill>
                  <a:schemeClr val="tx1"/>
                </a:solidFill>
              </a:rPr>
              <a:t>억원미만공사</a:t>
            </a:r>
            <a:endParaRPr lang="en-US" altLang="ko-KR" sz="900" dirty="0">
              <a:solidFill>
                <a:schemeClr val="tx1"/>
              </a:solidFill>
            </a:endParaRPr>
          </a:p>
          <a:p>
            <a:pPr algn="ctr"/>
            <a:r>
              <a:rPr lang="en-US" altLang="ko-KR" sz="900" dirty="0">
                <a:solidFill>
                  <a:schemeClr val="tx1"/>
                </a:solidFill>
              </a:rPr>
              <a:t>Krw300MCstrn.tsx</a:t>
            </a:r>
            <a:r>
              <a:rPr lang="en-US" altLang="ko-KR" sz="900" b="1" baseline="30000" dirty="0">
                <a:solidFill>
                  <a:schemeClr val="tx1"/>
                </a:solidFill>
                <a:latin typeface="+mn-ea"/>
              </a:rPr>
              <a:t>1)</a:t>
            </a:r>
            <a:endParaRPr lang="en-US" altLang="ko-KR" sz="900" dirty="0">
              <a:solidFill>
                <a:schemeClr val="tx1"/>
              </a:solidFill>
            </a:endParaRPr>
          </a:p>
        </p:txBody>
      </p:sp>
      <p:sp>
        <p:nvSpPr>
          <p:cNvPr id="27" name="직사각형 26">
            <a:extLst>
              <a:ext uri="{FF2B5EF4-FFF2-40B4-BE49-F238E27FC236}">
                <a16:creationId xmlns:a16="http://schemas.microsoft.com/office/drawing/2014/main" id="{3FD7B626-4B5C-AE29-EFB9-628750B32B78}"/>
              </a:ext>
            </a:extLst>
          </p:cNvPr>
          <p:cNvSpPr/>
          <p:nvPr/>
        </p:nvSpPr>
        <p:spPr>
          <a:xfrm>
            <a:off x="1265382" y="3982865"/>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a:solidFill>
                  <a:schemeClr val="tx1"/>
                </a:solidFill>
              </a:rPr>
              <a:t>고시금액미만용역</a:t>
            </a:r>
            <a:endParaRPr lang="en-US" altLang="ko-KR" sz="900" dirty="0">
              <a:solidFill>
                <a:schemeClr val="tx1"/>
              </a:solidFill>
            </a:endParaRPr>
          </a:p>
          <a:p>
            <a:pPr algn="ctr"/>
            <a:r>
              <a:rPr lang="en-US" altLang="ko-KR" sz="900" dirty="0">
                <a:solidFill>
                  <a:schemeClr val="tx1"/>
                </a:solidFill>
              </a:rPr>
              <a:t>BelowThresholdLbsvc.tsx</a:t>
            </a:r>
            <a:r>
              <a:rPr lang="en-US" altLang="ko-KR" sz="900" b="1" baseline="30000" dirty="0">
                <a:solidFill>
                  <a:schemeClr val="tx1"/>
                </a:solidFill>
                <a:latin typeface="+mn-ea"/>
              </a:rPr>
              <a:t>1)</a:t>
            </a:r>
            <a:endParaRPr lang="en-US" altLang="ko-KR" sz="900" dirty="0">
              <a:solidFill>
                <a:schemeClr val="tx1"/>
              </a:solidFill>
            </a:endParaRPr>
          </a:p>
        </p:txBody>
      </p:sp>
      <p:sp>
        <p:nvSpPr>
          <p:cNvPr id="28" name="직사각형 27">
            <a:extLst>
              <a:ext uri="{FF2B5EF4-FFF2-40B4-BE49-F238E27FC236}">
                <a16:creationId xmlns:a16="http://schemas.microsoft.com/office/drawing/2014/main" id="{04F2CFBC-290B-2E89-63C0-62C22747051D}"/>
              </a:ext>
            </a:extLst>
          </p:cNvPr>
          <p:cNvSpPr/>
          <p:nvPr/>
        </p:nvSpPr>
        <p:spPr>
          <a:xfrm>
            <a:off x="1265382" y="457109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en-US" altLang="ko-KR" sz="900" dirty="0">
                <a:solidFill>
                  <a:schemeClr val="tx1"/>
                </a:solidFill>
                <a:latin typeface="+mn-ea"/>
              </a:rPr>
              <a:t>-</a:t>
            </a:r>
            <a:r>
              <a:rPr lang="ko-KR" altLang="en-US" sz="900" dirty="0" err="1">
                <a:solidFill>
                  <a:schemeClr val="tx1"/>
                </a:solidFill>
              </a:rPr>
              <a:t>고시금액미만폐기물용역</a:t>
            </a:r>
            <a:endParaRPr lang="en-US" altLang="ko-KR" sz="900" dirty="0">
              <a:solidFill>
                <a:schemeClr val="tx1"/>
              </a:solidFill>
            </a:endParaRPr>
          </a:p>
          <a:p>
            <a:pPr algn="ctr"/>
            <a:r>
              <a:rPr lang="en-US" altLang="ko-KR" sz="900" dirty="0" err="1">
                <a:solidFill>
                  <a:schemeClr val="tx1"/>
                </a:solidFill>
              </a:rPr>
              <a:t>BelowThresholdDspLbsvc</a:t>
            </a:r>
            <a:endParaRPr lang="ko-KR" altLang="en-US" sz="900" dirty="0">
              <a:solidFill>
                <a:schemeClr val="tx1"/>
              </a:solidFill>
            </a:endParaRPr>
          </a:p>
          <a:p>
            <a:pPr algn="ctr"/>
            <a:r>
              <a:rPr lang="en-US" altLang="ko-KR" sz="900" dirty="0">
                <a:solidFill>
                  <a:schemeClr val="tx1"/>
                </a:solidFill>
              </a:rPr>
              <a:t>.tsx</a:t>
            </a:r>
            <a:r>
              <a:rPr lang="en-US" altLang="ko-KR" sz="900" b="1" baseline="30000" dirty="0">
                <a:solidFill>
                  <a:schemeClr val="tx1"/>
                </a:solidFill>
                <a:latin typeface="+mn-ea"/>
              </a:rPr>
              <a:t>1)</a:t>
            </a:r>
            <a:endParaRPr lang="en-US" altLang="ko-KR" sz="900" dirty="0">
              <a:solidFill>
                <a:schemeClr val="tx1"/>
              </a:solidFill>
            </a:endParaRPr>
          </a:p>
        </p:txBody>
      </p:sp>
      <p:cxnSp>
        <p:nvCxnSpPr>
          <p:cNvPr id="29" name="직선 화살표 연결선 28">
            <a:extLst>
              <a:ext uri="{FF2B5EF4-FFF2-40B4-BE49-F238E27FC236}">
                <a16:creationId xmlns:a16="http://schemas.microsoft.com/office/drawing/2014/main" id="{AF6B56CB-1ACF-E509-9762-CFE025648775}"/>
              </a:ext>
            </a:extLst>
          </p:cNvPr>
          <p:cNvCxnSpPr>
            <a:cxnSpLocks/>
            <a:stCxn id="23" idx="3"/>
            <a:endCxn id="9" idx="1"/>
          </p:cNvCxnSpPr>
          <p:nvPr/>
        </p:nvCxnSpPr>
        <p:spPr>
          <a:xfrm flipV="1">
            <a:off x="2992582" y="2990174"/>
            <a:ext cx="967509" cy="6823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직선 화살표 연결선 29">
            <a:extLst>
              <a:ext uri="{FF2B5EF4-FFF2-40B4-BE49-F238E27FC236}">
                <a16:creationId xmlns:a16="http://schemas.microsoft.com/office/drawing/2014/main" id="{AF6B56CB-1ACF-E509-9762-CFE025648775}"/>
              </a:ext>
            </a:extLst>
          </p:cNvPr>
          <p:cNvCxnSpPr>
            <a:cxnSpLocks/>
            <a:stCxn id="24" idx="3"/>
            <a:endCxn id="9" idx="1"/>
          </p:cNvCxnSpPr>
          <p:nvPr/>
        </p:nvCxnSpPr>
        <p:spPr>
          <a:xfrm flipV="1">
            <a:off x="2992582" y="2990174"/>
            <a:ext cx="967509" cy="6564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AF6B56CB-1ACF-E509-9762-CFE025648775}"/>
              </a:ext>
            </a:extLst>
          </p:cNvPr>
          <p:cNvCxnSpPr>
            <a:cxnSpLocks/>
            <a:stCxn id="27" idx="3"/>
            <a:endCxn id="9" idx="1"/>
          </p:cNvCxnSpPr>
          <p:nvPr/>
        </p:nvCxnSpPr>
        <p:spPr>
          <a:xfrm flipV="1">
            <a:off x="2992582" y="2990174"/>
            <a:ext cx="967509" cy="124469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AF6B56CB-1ACF-E509-9762-CFE025648775}"/>
              </a:ext>
            </a:extLst>
          </p:cNvPr>
          <p:cNvCxnSpPr>
            <a:cxnSpLocks/>
            <a:stCxn id="28" idx="3"/>
            <a:endCxn id="9" idx="1"/>
          </p:cNvCxnSpPr>
          <p:nvPr/>
        </p:nvCxnSpPr>
        <p:spPr>
          <a:xfrm flipV="1">
            <a:off x="2992582" y="2990174"/>
            <a:ext cx="967509" cy="18329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7" name="직사각형 36">
            <a:extLst>
              <a:ext uri="{FF2B5EF4-FFF2-40B4-BE49-F238E27FC236}">
                <a16:creationId xmlns:a16="http://schemas.microsoft.com/office/drawing/2014/main" id="{3549C3A0-99B5-8272-2427-EE10759356AC}"/>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1.3.3 </a:t>
            </a:r>
            <a:r>
              <a:rPr lang="ko-KR" altLang="en-US" sz="1200" dirty="0">
                <a:solidFill>
                  <a:schemeClr val="tx1"/>
                </a:solidFill>
              </a:rPr>
              <a:t>이행</a:t>
            </a:r>
            <a:r>
              <a:rPr lang="en-US" altLang="ko-KR" sz="1200" dirty="0">
                <a:solidFill>
                  <a:schemeClr val="tx1"/>
                </a:solidFill>
              </a:rPr>
              <a:t>/</a:t>
            </a:r>
            <a:r>
              <a:rPr lang="ko-KR" altLang="en-US" sz="1200" dirty="0">
                <a:solidFill>
                  <a:schemeClr val="tx1"/>
                </a:solidFill>
              </a:rPr>
              <a:t>적격심사 </a:t>
            </a:r>
            <a:r>
              <a:rPr lang="en-US" altLang="ko-KR" sz="1200" dirty="0">
                <a:solidFill>
                  <a:schemeClr val="tx1"/>
                </a:solidFill>
              </a:rPr>
              <a:t>(3/3)</a:t>
            </a:r>
            <a:endParaRPr lang="ko-KR" altLang="en-US" sz="1200" dirty="0">
              <a:solidFill>
                <a:schemeClr val="tx1"/>
              </a:solidFill>
            </a:endParaRPr>
          </a:p>
        </p:txBody>
      </p:sp>
      <p:sp>
        <p:nvSpPr>
          <p:cNvPr id="32" name="직사각형 31">
            <a:extLst>
              <a:ext uri="{FF2B5EF4-FFF2-40B4-BE49-F238E27FC236}">
                <a16:creationId xmlns:a16="http://schemas.microsoft.com/office/drawing/2014/main" id="{04F2CFBC-290B-2E89-63C0-62C22747051D}"/>
              </a:ext>
            </a:extLst>
          </p:cNvPr>
          <p:cNvSpPr/>
          <p:nvPr/>
        </p:nvSpPr>
        <p:spPr>
          <a:xfrm>
            <a:off x="1265382" y="5153121"/>
            <a:ext cx="1727200" cy="504000"/>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solidFill>
                  <a:schemeClr val="tx1"/>
                </a:solidFill>
              </a:rPr>
              <a:t>&lt;&lt;App Page&gt;&gt;</a:t>
            </a:r>
          </a:p>
          <a:p>
            <a:pPr algn="ctr"/>
            <a:r>
              <a:rPr lang="ko-KR" altLang="en-US" sz="900" dirty="0">
                <a:solidFill>
                  <a:schemeClr val="tx1"/>
                </a:solidFill>
                <a:latin typeface="+mn-ea"/>
              </a:rPr>
              <a:t>이행</a:t>
            </a:r>
            <a:r>
              <a:rPr lang="en-US" altLang="ko-KR" sz="900" dirty="0">
                <a:solidFill>
                  <a:schemeClr val="tx1"/>
                </a:solidFill>
                <a:latin typeface="+mn-ea"/>
              </a:rPr>
              <a:t>/</a:t>
            </a:r>
            <a:r>
              <a:rPr lang="ko-KR" altLang="en-US" sz="900" dirty="0">
                <a:solidFill>
                  <a:schemeClr val="tx1"/>
                </a:solidFill>
                <a:latin typeface="+mn-ea"/>
              </a:rPr>
              <a:t>적격심사포기신청</a:t>
            </a:r>
            <a:endParaRPr lang="en-US" altLang="ko-KR" sz="900" dirty="0">
              <a:solidFill>
                <a:schemeClr val="tx1"/>
              </a:solidFill>
            </a:endParaRPr>
          </a:p>
          <a:p>
            <a:pPr algn="ctr"/>
            <a:r>
              <a:rPr lang="en-US" altLang="ko-KR" sz="900" dirty="0">
                <a:solidFill>
                  <a:schemeClr val="tx1"/>
                </a:solidFill>
              </a:rPr>
              <a:t>ImpltElgbSrngAbndAply.tsx</a:t>
            </a:r>
            <a:r>
              <a:rPr lang="en-US" altLang="ko-KR" sz="900" b="1" baseline="30000" dirty="0">
                <a:solidFill>
                  <a:schemeClr val="tx1"/>
                </a:solidFill>
                <a:latin typeface="+mn-ea"/>
              </a:rPr>
              <a:t>1)</a:t>
            </a:r>
            <a:endParaRPr lang="en-US" altLang="ko-KR" sz="900" dirty="0">
              <a:solidFill>
                <a:schemeClr val="tx1"/>
              </a:solidFill>
            </a:endParaRPr>
          </a:p>
        </p:txBody>
      </p:sp>
      <p:cxnSp>
        <p:nvCxnSpPr>
          <p:cNvPr id="33" name="직선 화살표 연결선 32">
            <a:extLst>
              <a:ext uri="{FF2B5EF4-FFF2-40B4-BE49-F238E27FC236}">
                <a16:creationId xmlns:a16="http://schemas.microsoft.com/office/drawing/2014/main" id="{AF6B56CB-1ACF-E509-9762-CFE025648775}"/>
              </a:ext>
            </a:extLst>
          </p:cNvPr>
          <p:cNvCxnSpPr>
            <a:cxnSpLocks/>
            <a:stCxn id="32" idx="3"/>
            <a:endCxn id="9" idx="1"/>
          </p:cNvCxnSpPr>
          <p:nvPr/>
        </p:nvCxnSpPr>
        <p:spPr>
          <a:xfrm flipV="1">
            <a:off x="2992582" y="2990174"/>
            <a:ext cx="967509" cy="241494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36" name="직사각형 35">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Autofit/>
          </a:bodyPr>
          <a:lstStyle/>
          <a:p>
            <a:pPr algn="ctr"/>
            <a:r>
              <a:rPr lang="en-US" altLang="ko-KR" sz="800" dirty="0"/>
              <a:t>&lt;&lt; </a:t>
            </a:r>
            <a:r>
              <a:rPr lang="ko-KR" altLang="en-US" sz="800" dirty="0"/>
              <a:t>이행적격심사</a:t>
            </a:r>
            <a:r>
              <a:rPr lang="en-US" altLang="ko-KR" sz="800" dirty="0"/>
              <a:t>Controller&gt;&gt;</a:t>
            </a:r>
          </a:p>
          <a:p>
            <a:pPr algn="ctr"/>
            <a:r>
              <a:rPr lang="en-US" altLang="ko-KR" sz="800" dirty="0" err="1" smtClean="0"/>
              <a:t>ImpltElgbSrngController</a:t>
            </a:r>
            <a:endParaRPr lang="en-US" altLang="ko-KR" sz="800" dirty="0"/>
          </a:p>
        </p:txBody>
      </p:sp>
      <p:cxnSp>
        <p:nvCxnSpPr>
          <p:cNvPr id="38" name="직선 연결선 37">
            <a:extLst>
              <a:ext uri="{FF2B5EF4-FFF2-40B4-BE49-F238E27FC236}">
                <a16:creationId xmlns:a16="http://schemas.microsoft.com/office/drawing/2014/main" id="{A8B10782-0A07-A41D-DB15-978B72410A31}"/>
              </a:ext>
            </a:extLst>
          </p:cNvPr>
          <p:cNvCxnSpPr>
            <a:endCxn id="36"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43371696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공고 상단 공지사항은 기본 값으로 접힘 상태로 정보 제공</a:t>
            </a:r>
            <a:r>
              <a:rPr lang="en-US" altLang="ko-KR" dirty="0"/>
              <a:t/>
            </a:r>
            <a:br>
              <a:rPr lang="en-US" altLang="ko-KR" dirty="0"/>
            </a:br>
            <a:r>
              <a:rPr lang="en-US" altLang="ko-KR" dirty="0"/>
              <a:t>- </a:t>
            </a:r>
            <a:r>
              <a:rPr lang="ko-KR" altLang="en-US" dirty="0"/>
              <a:t>기본값 </a:t>
            </a:r>
            <a:r>
              <a:rPr lang="en-US" altLang="ko-KR" dirty="0"/>
              <a:t>: </a:t>
            </a:r>
            <a:r>
              <a:rPr lang="ko-KR" altLang="en-US" dirty="0"/>
              <a:t>접힘</a:t>
            </a:r>
            <a:r>
              <a:rPr lang="en-US" altLang="ko-KR" dirty="0"/>
              <a:t/>
            </a:r>
            <a:br>
              <a:rPr lang="en-US" altLang="ko-KR" dirty="0"/>
            </a:br>
            <a:r>
              <a:rPr lang="en-US" altLang="ko-KR" dirty="0"/>
              <a:t>- </a:t>
            </a:r>
            <a:r>
              <a:rPr lang="ko-KR" altLang="en-US" dirty="0"/>
              <a:t>사용자 </a:t>
            </a:r>
            <a:r>
              <a:rPr lang="ko-KR" altLang="en-US" dirty="0" err="1"/>
              <a:t>클릭시</a:t>
            </a:r>
            <a:r>
              <a:rPr lang="ko-KR" altLang="en-US" dirty="0"/>
              <a:t> 확장하여 정보 표시</a:t>
            </a:r>
            <a:endParaRPr lang="en-US" altLang="ko-KR" dirty="0"/>
          </a:p>
          <a:p>
            <a:pPr marL="228600" indent="-228600">
              <a:buFont typeface="+mj-lt"/>
              <a:buAutoNum type="arabicPeriod"/>
            </a:pPr>
            <a:r>
              <a:rPr lang="ko-KR" altLang="en-US" dirty="0"/>
              <a:t>건수</a:t>
            </a:r>
            <a:r>
              <a:rPr lang="en-US" altLang="ko-KR" dirty="0"/>
              <a:t>, </a:t>
            </a:r>
            <a:r>
              <a:rPr lang="ko-KR" altLang="en-US" dirty="0"/>
              <a:t>개수 표시</a:t>
            </a:r>
            <a:endParaRPr lang="en-US" altLang="ko-KR" dirty="0"/>
          </a:p>
          <a:p>
            <a:pPr marL="228600" indent="-228600">
              <a:buFont typeface="+mj-lt"/>
              <a:buAutoNum type="arabicPeriod"/>
            </a:pPr>
            <a:r>
              <a:rPr lang="ko-KR" altLang="en-US" dirty="0"/>
              <a:t>목록 표시</a:t>
            </a:r>
            <a:r>
              <a:rPr lang="en-US" altLang="ko-KR" dirty="0"/>
              <a:t/>
            </a:r>
            <a:br>
              <a:rPr lang="en-US" altLang="ko-KR" dirty="0"/>
            </a:br>
            <a:r>
              <a:rPr lang="en-US" altLang="ko-KR" dirty="0"/>
              <a:t>- </a:t>
            </a:r>
            <a:r>
              <a:rPr lang="ko-KR" altLang="en-US" dirty="0"/>
              <a:t>상단 레이블을 통한 정보 제공</a:t>
            </a:r>
            <a:r>
              <a:rPr lang="en-US" altLang="ko-KR" dirty="0"/>
              <a:t/>
            </a:r>
            <a:br>
              <a:rPr lang="en-US" altLang="ko-KR" dirty="0"/>
            </a:br>
            <a:r>
              <a:rPr lang="en-US" altLang="ko-KR" dirty="0"/>
              <a:t>- </a:t>
            </a:r>
            <a:r>
              <a:rPr lang="ko-KR" altLang="en-US" dirty="0"/>
              <a:t>제목 </a:t>
            </a:r>
            <a:r>
              <a:rPr lang="en-US" altLang="ko-KR" dirty="0"/>
              <a:t>2</a:t>
            </a:r>
            <a:r>
              <a:rPr lang="ko-KR" altLang="en-US" dirty="0"/>
              <a:t>줄 표시 이후 </a:t>
            </a:r>
            <a:r>
              <a:rPr lang="ko-KR" altLang="en-US" dirty="0" err="1"/>
              <a:t>말줄임표</a:t>
            </a:r>
            <a:r>
              <a:rPr lang="en-US" altLang="ko-KR" dirty="0"/>
              <a:t>(…)</a:t>
            </a:r>
            <a:br>
              <a:rPr lang="en-US" altLang="ko-KR" dirty="0"/>
            </a:br>
            <a:r>
              <a:rPr lang="en-US" altLang="ko-KR" dirty="0"/>
              <a:t>- </a:t>
            </a:r>
            <a:r>
              <a:rPr lang="ko-KR" altLang="en-US" dirty="0"/>
              <a:t>카드 클릭으로 상세 이동</a:t>
            </a:r>
            <a:endParaRPr lang="en-US" altLang="ko-KR" dirty="0"/>
          </a:p>
          <a:p>
            <a:pPr marL="228600" indent="-228600">
              <a:buFont typeface="+mj-lt"/>
              <a:buAutoNum type="arabicPeriod"/>
            </a:pPr>
            <a:r>
              <a:rPr lang="en-US" altLang="ko-KR" dirty="0"/>
              <a:t>10</a:t>
            </a:r>
            <a:r>
              <a:rPr lang="ko-KR" altLang="en-US" dirty="0"/>
              <a:t>개 노출 이후 </a:t>
            </a:r>
            <a:r>
              <a:rPr lang="ko-KR" altLang="en-US" dirty="0" err="1"/>
              <a:t>더보기</a:t>
            </a:r>
            <a:r>
              <a:rPr lang="ko-KR" altLang="en-US" dirty="0"/>
              <a:t> 버튼 클릭으로 </a:t>
            </a:r>
            <a:r>
              <a:rPr lang="en-US" altLang="ko-KR" dirty="0"/>
              <a:t>10</a:t>
            </a:r>
            <a:r>
              <a:rPr lang="ko-KR" altLang="en-US" dirty="0"/>
              <a:t>개씩 추가 로드</a:t>
            </a:r>
            <a:endParaRPr lang="en-US" altLang="ko-KR" dirty="0"/>
          </a:p>
          <a:p>
            <a:pPr marL="228600" indent="-228600">
              <a:buFont typeface="+mj-lt"/>
              <a:buAutoNum type="arabicPeriod"/>
            </a:pPr>
            <a:r>
              <a:rPr lang="ko-KR" altLang="en-US" dirty="0"/>
              <a:t>표시 레이블</a:t>
            </a:r>
            <a:r>
              <a:rPr lang="en-US" altLang="ko-KR" dirty="0"/>
              <a:t/>
            </a:r>
            <a:br>
              <a:rPr lang="en-US" altLang="ko-KR" dirty="0"/>
            </a:br>
            <a:r>
              <a:rPr lang="en-US" altLang="ko-KR" dirty="0"/>
              <a:t>- </a:t>
            </a:r>
            <a:r>
              <a:rPr lang="ko-KR" altLang="en-US" dirty="0"/>
              <a:t>입찰 공고 목록과 동일하게 사용</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142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개찰목록</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t>개찰일시가</a:t>
            </a:r>
            <a:r>
              <a:rPr lang="ko-KR" altLang="en-US" dirty="0"/>
              <a:t> 도래한 이후 개찰 처리 및 결과를 확인하기 위한 통합 </a:t>
            </a:r>
            <a:r>
              <a:rPr lang="ko-KR" altLang="en-US" dirty="0" err="1"/>
              <a:t>목록조회</a:t>
            </a:r>
            <a:r>
              <a:rPr lang="ko-KR" altLang="en-US" dirty="0"/>
              <a:t> 화면이다</a:t>
            </a:r>
            <a:r>
              <a:rPr lang="en-US" altLang="ko-KR" dirty="0"/>
              <a:t>.</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a:xfrm>
            <a:off x="956623" y="762964"/>
            <a:ext cx="1404000" cy="193878"/>
          </a:xfrm>
        </p:spPr>
        <p:txBody>
          <a:bodyPr/>
          <a:lstStyle/>
          <a:p>
            <a:r>
              <a:rPr lang="en-US" altLang="ko-KR" dirty="0">
                <a:solidFill>
                  <a:srgbClr val="000000"/>
                </a:solidFill>
                <a:latin typeface="맑은 고딕" panose="020B0503020000020004" pitchFamily="50" charset="-127"/>
              </a:rPr>
              <a:t>MUI-BD-08-M01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err="1">
                <a:latin typeface="+mn-ea"/>
              </a:rPr>
              <a:t>개찰목록</a:t>
            </a:r>
            <a:endParaRPr lang="ko-KR" altLang="en-US" sz="800" dirty="0">
              <a:latin typeface="+mn-ea"/>
            </a:endParaRP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58844"/>
            <a:ext cx="172130" cy="172130"/>
          </a:xfrm>
          <a:prstGeom prst="ellipse">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1</a:t>
            </a:r>
            <a:endParaRPr lang="ko-KR" altLang="en-US" sz="1200" dirty="0"/>
          </a:p>
        </p:txBody>
      </p:sp>
      <p:sp>
        <p:nvSpPr>
          <p:cNvPr id="52" name="타원 51">
            <a:extLst>
              <a:ext uri="{FF2B5EF4-FFF2-40B4-BE49-F238E27FC236}">
                <a16:creationId xmlns:a16="http://schemas.microsoft.com/office/drawing/2014/main" id="{37A7FF4F-0EAA-1463-560A-D5EC24416103}"/>
              </a:ext>
            </a:extLst>
          </p:cNvPr>
          <p:cNvSpPr/>
          <p:nvPr/>
        </p:nvSpPr>
        <p:spPr>
          <a:xfrm>
            <a:off x="571127" y="2338252"/>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2</a:t>
            </a:r>
            <a:endParaRPr lang="ko-KR" altLang="en-US" sz="1200" dirty="0"/>
          </a:p>
        </p:txBody>
      </p:sp>
      <p:sp>
        <p:nvSpPr>
          <p:cNvPr id="54" name="사각형: 둥근 모서리 31">
            <a:extLst>
              <a:ext uri="{FF2B5EF4-FFF2-40B4-BE49-F238E27FC236}">
                <a16:creationId xmlns:a16="http://schemas.microsoft.com/office/drawing/2014/main" id="{2AC143EE-93CF-3518-F0CB-8469E98507E0}"/>
              </a:ext>
            </a:extLst>
          </p:cNvPr>
          <p:cNvSpPr/>
          <p:nvPr/>
        </p:nvSpPr>
        <p:spPr>
          <a:xfrm>
            <a:off x="808106"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6" name="그룹 5"/>
          <p:cNvGrpSpPr/>
          <p:nvPr/>
        </p:nvGrpSpPr>
        <p:grpSpPr>
          <a:xfrm>
            <a:off x="781461" y="3353530"/>
            <a:ext cx="2473257" cy="803737"/>
            <a:chOff x="781461" y="2610063"/>
            <a:chExt cx="2473257" cy="803737"/>
          </a:xfrm>
        </p:grpSpPr>
        <p:sp>
          <p:nvSpPr>
            <p:cNvPr id="55" name="TextBox 58">
              <a:extLst>
                <a:ext uri="{FF2B5EF4-FFF2-40B4-BE49-F238E27FC236}">
                  <a16:creationId xmlns:a16="http://schemas.microsoft.com/office/drawing/2014/main" id="{02FC114B-B48B-345F-BD70-2B5A196F5B3E}"/>
                </a:ext>
              </a:extLst>
            </p:cNvPr>
            <p:cNvSpPr txBox="1"/>
            <p:nvPr/>
          </p:nvSpPr>
          <p:spPr>
            <a:xfrm>
              <a:off x="781461" y="2794394"/>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smtClean="0">
                  <a:latin typeface="+mn-ea"/>
                </a:rPr>
                <a:t>통합참조번호 </a:t>
              </a:r>
              <a:r>
                <a:rPr lang="en-US" altLang="ko-KR" sz="700" dirty="0" smtClean="0"/>
                <a:t>2026LGM000604191-01</a:t>
              </a:r>
              <a:endParaRPr lang="en-US" altLang="ko-KR" sz="700" dirty="0"/>
            </a:p>
            <a:p>
              <a:r>
                <a:rPr lang="en-US" altLang="ko-KR" sz="900" b="1" dirty="0"/>
                <a:t>(26-</a:t>
              </a:r>
              <a:r>
                <a:rPr lang="ko-KR" altLang="en-US" sz="900" b="1" dirty="0">
                  <a:solidFill>
                    <a:schemeClr val="accent1">
                      <a:lumMod val="75000"/>
                    </a:schemeClr>
                  </a:solidFill>
                </a:rPr>
                <a:t>물품</a:t>
              </a:r>
              <a:r>
                <a:rPr lang="en-US" altLang="ko-KR" sz="900" b="1" dirty="0"/>
                <a:t>-04) </a:t>
              </a:r>
              <a:r>
                <a:rPr lang="ko-KR" altLang="en-US" sz="900" b="1" dirty="0"/>
                <a:t>간편한 </a:t>
              </a:r>
              <a:r>
                <a:rPr lang="ko-KR" altLang="en-US" sz="900" b="1" dirty="0" err="1"/>
                <a:t>아침식</a:t>
              </a:r>
              <a:r>
                <a:rPr lang="ko-KR" altLang="en-US" sz="900" b="1" dirty="0"/>
                <a:t> 제조 및 납품</a:t>
              </a:r>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3154626"/>
              <a:ext cx="307777"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3139237"/>
              <a:ext cx="609141"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2026-02-12</a:t>
              </a:r>
            </a:p>
            <a:p>
              <a:pPr>
                <a:lnSpc>
                  <a:spcPct val="150000"/>
                </a:lnSpc>
              </a:pPr>
              <a:r>
                <a:rPr lang="en-US" altLang="ko-KR" sz="600" dirty="0">
                  <a:latin typeface="+mn-ea"/>
                </a:rPr>
                <a:t>2026-03-26 11:00</a:t>
              </a:r>
              <a:endParaRPr lang="ko-KR" altLang="en-US" sz="600" dirty="0">
                <a:latin typeface="+mn-ea"/>
              </a:endParaRPr>
            </a:p>
          </p:txBody>
        </p:sp>
        <p:sp>
          <p:nvSpPr>
            <p:cNvPr id="67" name="모서리가 둥근 직사각형 66"/>
            <p:cNvSpPr/>
            <p:nvPr/>
          </p:nvSpPr>
          <p:spPr>
            <a:xfrm>
              <a:off x="781461" y="2610063"/>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grpSp>
      <p:grpSp>
        <p:nvGrpSpPr>
          <p:cNvPr id="69" name="그룹 68">
            <a:extLst>
              <a:ext uri="{FF2B5EF4-FFF2-40B4-BE49-F238E27FC236}">
                <a16:creationId xmlns:a16="http://schemas.microsoft.com/office/drawing/2014/main" id="{22BC05EE-C648-7CA2-4CCC-6E1C1A7E9BDA}"/>
              </a:ext>
            </a:extLst>
          </p:cNvPr>
          <p:cNvGrpSpPr/>
          <p:nvPr/>
        </p:nvGrpSpPr>
        <p:grpSpPr>
          <a:xfrm>
            <a:off x="1992981" y="5390761"/>
            <a:ext cx="76863" cy="292489"/>
            <a:chOff x="3750067" y="4683795"/>
            <a:chExt cx="76863" cy="292489"/>
          </a:xfrm>
        </p:grpSpPr>
        <p:sp>
          <p:nvSpPr>
            <p:cNvPr id="70" name="타원 6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1" name="타원 7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2" name="타원 7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73" name="그룹 72"/>
          <p:cNvGrpSpPr/>
          <p:nvPr/>
        </p:nvGrpSpPr>
        <p:grpSpPr>
          <a:xfrm>
            <a:off x="778515" y="4516123"/>
            <a:ext cx="2476203" cy="803737"/>
            <a:chOff x="778515" y="2610063"/>
            <a:chExt cx="2476203" cy="803737"/>
          </a:xfrm>
        </p:grpSpPr>
        <p:sp>
          <p:nvSpPr>
            <p:cNvPr id="74" name="TextBox 58">
              <a:extLst>
                <a:ext uri="{FF2B5EF4-FFF2-40B4-BE49-F238E27FC236}">
                  <a16:creationId xmlns:a16="http://schemas.microsoft.com/office/drawing/2014/main" id="{02FC114B-B48B-345F-BD70-2B5A196F5B3E}"/>
                </a:ext>
              </a:extLst>
            </p:cNvPr>
            <p:cNvSpPr txBox="1"/>
            <p:nvPr/>
          </p:nvSpPr>
          <p:spPr>
            <a:xfrm>
              <a:off x="781461" y="2794394"/>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latin typeface="+mn-ea"/>
                </a:rPr>
                <a:t>통합참조번호</a:t>
              </a:r>
              <a:r>
                <a:rPr lang="ko-KR" altLang="en-US" sz="700" dirty="0" smtClean="0"/>
                <a:t> </a:t>
              </a:r>
              <a:r>
                <a:rPr lang="en-US" altLang="ko-KR" sz="700" dirty="0"/>
                <a:t>2026LGM000604191-01</a:t>
              </a:r>
            </a:p>
            <a:p>
              <a:r>
                <a:rPr lang="en-US" altLang="ko-KR" sz="900" b="1" dirty="0"/>
                <a:t>(26-</a:t>
              </a:r>
              <a:r>
                <a:rPr lang="ko-KR" altLang="en-US" sz="900" b="1" dirty="0">
                  <a:solidFill>
                    <a:schemeClr val="accent1">
                      <a:lumMod val="75000"/>
                    </a:schemeClr>
                  </a:solidFill>
                </a:rPr>
                <a:t>물품</a:t>
              </a:r>
              <a:r>
                <a:rPr lang="en-US" altLang="ko-KR" sz="900" b="1" dirty="0"/>
                <a:t>-04) </a:t>
              </a:r>
              <a:r>
                <a:rPr lang="ko-KR" altLang="en-US" sz="900" b="1" dirty="0"/>
                <a:t>간편한 </a:t>
              </a:r>
              <a:r>
                <a:rPr lang="ko-KR" altLang="en-US" sz="900" b="1" dirty="0" err="1"/>
                <a:t>아침식</a:t>
              </a:r>
              <a:r>
                <a:rPr lang="ko-KR" altLang="en-US" sz="900" b="1" dirty="0"/>
                <a:t> 제조 및 납품</a:t>
              </a:r>
            </a:p>
          </p:txBody>
        </p:sp>
        <p:sp>
          <p:nvSpPr>
            <p:cNvPr id="75" name="TextBox 59">
              <a:extLst>
                <a:ext uri="{FF2B5EF4-FFF2-40B4-BE49-F238E27FC236}">
                  <a16:creationId xmlns:a16="http://schemas.microsoft.com/office/drawing/2014/main" id="{F77C802D-3BC8-270F-87FC-5F442BD8054D}"/>
                </a:ext>
              </a:extLst>
            </p:cNvPr>
            <p:cNvSpPr txBox="1"/>
            <p:nvPr/>
          </p:nvSpPr>
          <p:spPr>
            <a:xfrm>
              <a:off x="781461" y="3154626"/>
              <a:ext cx="307777"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76" name="TextBox 60">
              <a:extLst>
                <a:ext uri="{FF2B5EF4-FFF2-40B4-BE49-F238E27FC236}">
                  <a16:creationId xmlns:a16="http://schemas.microsoft.com/office/drawing/2014/main" id="{8F5E3227-69E6-C89F-B8C5-534226E95EA8}"/>
                </a:ext>
              </a:extLst>
            </p:cNvPr>
            <p:cNvSpPr txBox="1"/>
            <p:nvPr/>
          </p:nvSpPr>
          <p:spPr>
            <a:xfrm>
              <a:off x="2596303" y="3139237"/>
              <a:ext cx="609141"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2026-02-12</a:t>
              </a:r>
            </a:p>
            <a:p>
              <a:pPr>
                <a:lnSpc>
                  <a:spcPct val="150000"/>
                </a:lnSpc>
              </a:pPr>
              <a:r>
                <a:rPr lang="en-US" altLang="ko-KR" sz="600" dirty="0">
                  <a:latin typeface="+mn-ea"/>
                </a:rPr>
                <a:t>2026-03-26 11:00</a:t>
              </a:r>
              <a:endParaRPr lang="ko-KR" altLang="en-US" sz="600" dirty="0">
                <a:latin typeface="+mn-ea"/>
              </a:endParaRPr>
            </a:p>
          </p:txBody>
        </p:sp>
        <p:sp>
          <p:nvSpPr>
            <p:cNvPr id="77" name="모서리가 둥근 직사각형 76"/>
            <p:cNvSpPr/>
            <p:nvPr/>
          </p:nvSpPr>
          <p:spPr>
            <a:xfrm>
              <a:off x="778515" y="2610063"/>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78" name="모서리가 둥근 직사각형 77"/>
            <p:cNvSpPr/>
            <p:nvPr/>
          </p:nvSpPr>
          <p:spPr>
            <a:xfrm>
              <a:off x="1075655"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공개수의</a:t>
              </a:r>
              <a:endParaRPr lang="ko-KR" altLang="en-US" sz="600" dirty="0"/>
            </a:p>
          </p:txBody>
        </p:sp>
        <p:sp>
          <p:nvSpPr>
            <p:cNvPr id="81" name="모서리가 둥근 직사각형 80"/>
            <p:cNvSpPr/>
            <p:nvPr/>
          </p:nvSpPr>
          <p:spPr>
            <a:xfrm>
              <a:off x="1534668" y="261006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취소공고</a:t>
              </a:r>
              <a:endParaRPr lang="ko-KR" altLang="en-US" sz="600" dirty="0"/>
            </a:p>
          </p:txBody>
        </p:sp>
      </p:grpSp>
      <p:cxnSp>
        <p:nvCxnSpPr>
          <p:cNvPr id="79" name="직선 연결선 78">
            <a:extLst>
              <a:ext uri="{FF2B5EF4-FFF2-40B4-BE49-F238E27FC236}">
                <a16:creationId xmlns:a16="http://schemas.microsoft.com/office/drawing/2014/main" id="{E9293055-D5CD-4B9E-7F64-64B2D2CA7A52}"/>
              </a:ext>
            </a:extLst>
          </p:cNvPr>
          <p:cNvCxnSpPr/>
          <p:nvPr/>
        </p:nvCxnSpPr>
        <p:spPr>
          <a:xfrm>
            <a:off x="720490" y="432069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20490" y="317671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221015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1902673"/>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1934018"/>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2016004"/>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4" name="타원 133">
            <a:extLst>
              <a:ext uri="{FF2B5EF4-FFF2-40B4-BE49-F238E27FC236}">
                <a16:creationId xmlns:a16="http://schemas.microsoft.com/office/drawing/2014/main" id="{37A7FF4F-0EAA-1463-560A-D5EC24416103}"/>
              </a:ext>
            </a:extLst>
          </p:cNvPr>
          <p:cNvSpPr/>
          <p:nvPr/>
        </p:nvSpPr>
        <p:spPr>
          <a:xfrm>
            <a:off x="571127" y="3719412"/>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3</a:t>
            </a:r>
            <a:endParaRPr lang="ko-KR" altLang="en-US" sz="1200" dirty="0"/>
          </a:p>
        </p:txBody>
      </p:sp>
      <p:sp>
        <p:nvSpPr>
          <p:cNvPr id="135" name="타원 134">
            <a:extLst>
              <a:ext uri="{FF2B5EF4-FFF2-40B4-BE49-F238E27FC236}">
                <a16:creationId xmlns:a16="http://schemas.microsoft.com/office/drawing/2014/main" id="{37A7FF4F-0EAA-1463-560A-D5EC24416103}"/>
              </a:ext>
            </a:extLst>
          </p:cNvPr>
          <p:cNvSpPr/>
          <p:nvPr/>
        </p:nvSpPr>
        <p:spPr>
          <a:xfrm>
            <a:off x="571127" y="5881943"/>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4</a:t>
            </a:r>
            <a:endParaRPr lang="ko-KR" altLang="en-US" sz="1200" dirty="0"/>
          </a:p>
        </p:txBody>
      </p:sp>
      <p:sp>
        <p:nvSpPr>
          <p:cNvPr id="80" name="모서리가 둥근 직사각형 79"/>
          <p:cNvSpPr/>
          <p:nvPr/>
        </p:nvSpPr>
        <p:spPr>
          <a:xfrm>
            <a:off x="4614060" y="2544628"/>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82" name="모서리가 둥근 직사각형 81"/>
          <p:cNvSpPr/>
          <p:nvPr/>
        </p:nvSpPr>
        <p:spPr>
          <a:xfrm>
            <a:off x="4318635" y="287715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83" name="TextBox 82">
            <a:extLst>
              <a:ext uri="{FF2B5EF4-FFF2-40B4-BE49-F238E27FC236}">
                <a16:creationId xmlns:a16="http://schemas.microsoft.com/office/drawing/2014/main" id="{FFC49AEA-2A8F-250C-A86A-A7751D9706C3}"/>
              </a:ext>
            </a:extLst>
          </p:cNvPr>
          <p:cNvSpPr txBox="1"/>
          <p:nvPr/>
        </p:nvSpPr>
        <p:spPr>
          <a:xfrm>
            <a:off x="4318635" y="2025433"/>
            <a:ext cx="547346" cy="107722"/>
          </a:xfrm>
          <a:prstGeom prst="rect">
            <a:avLst/>
          </a:prstGeom>
          <a:noFill/>
        </p:spPr>
        <p:txBody>
          <a:bodyPr wrap="square" lIns="0" tIns="0" rIns="0" bIns="0" rtlCol="0">
            <a:spAutoFit/>
          </a:bodyPr>
          <a:lstStyle/>
          <a:p>
            <a:r>
              <a:rPr lang="ko-KR" altLang="en-US" sz="700" dirty="0">
                <a:latin typeface="+mn-ea"/>
              </a:rPr>
              <a:t>표시 레이블</a:t>
            </a:r>
          </a:p>
        </p:txBody>
      </p:sp>
      <p:sp>
        <p:nvSpPr>
          <p:cNvPr id="84" name="모서리가 둥근 직사각형 83"/>
          <p:cNvSpPr/>
          <p:nvPr/>
        </p:nvSpPr>
        <p:spPr>
          <a:xfrm>
            <a:off x="4914986" y="2544628"/>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용역</a:t>
            </a:r>
          </a:p>
        </p:txBody>
      </p:sp>
      <p:sp>
        <p:nvSpPr>
          <p:cNvPr id="85" name="모서리가 둥근 직사각형 84"/>
          <p:cNvSpPr/>
          <p:nvPr/>
        </p:nvSpPr>
        <p:spPr>
          <a:xfrm>
            <a:off x="5215975" y="2544628"/>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공사</a:t>
            </a:r>
          </a:p>
        </p:txBody>
      </p:sp>
      <p:sp>
        <p:nvSpPr>
          <p:cNvPr id="86" name="모서리가 둥근 직사각형 85"/>
          <p:cNvSpPr/>
          <p:nvPr/>
        </p:nvSpPr>
        <p:spPr>
          <a:xfrm>
            <a:off x="5519047" y="2544628"/>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87" name="모서리가 둥근 직사각형 86"/>
          <p:cNvSpPr/>
          <p:nvPr/>
        </p:nvSpPr>
        <p:spPr>
          <a:xfrm>
            <a:off x="4318635" y="2544628"/>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전체</a:t>
            </a:r>
          </a:p>
        </p:txBody>
      </p:sp>
      <p:sp>
        <p:nvSpPr>
          <p:cNvPr id="88" name="모서리가 둥근 직사각형 87"/>
          <p:cNvSpPr/>
          <p:nvPr/>
        </p:nvSpPr>
        <p:spPr>
          <a:xfrm>
            <a:off x="4777608" y="287860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공개수의</a:t>
            </a:r>
            <a:endParaRPr lang="ko-KR" altLang="en-US" sz="600" dirty="0"/>
          </a:p>
        </p:txBody>
      </p:sp>
      <p:sp>
        <p:nvSpPr>
          <p:cNvPr id="89" name="모서리가 둥근 직사각형 88"/>
          <p:cNvSpPr/>
          <p:nvPr/>
        </p:nvSpPr>
        <p:spPr>
          <a:xfrm>
            <a:off x="5236755" y="287860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90" name="모서리가 둥근 직사각형 89"/>
          <p:cNvSpPr/>
          <p:nvPr/>
        </p:nvSpPr>
        <p:spPr>
          <a:xfrm>
            <a:off x="4318635" y="32125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정상공고</a:t>
            </a:r>
            <a:endParaRPr lang="ko-KR" altLang="en-US" sz="600" dirty="0"/>
          </a:p>
        </p:txBody>
      </p:sp>
      <p:sp>
        <p:nvSpPr>
          <p:cNvPr id="91" name="모서리가 둥근 직사각형 90"/>
          <p:cNvSpPr/>
          <p:nvPr/>
        </p:nvSpPr>
        <p:spPr>
          <a:xfrm>
            <a:off x="4777608" y="32125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긴급공고</a:t>
            </a:r>
            <a:endParaRPr lang="ko-KR" altLang="en-US" sz="600" dirty="0"/>
          </a:p>
        </p:txBody>
      </p:sp>
      <p:sp>
        <p:nvSpPr>
          <p:cNvPr id="92" name="모서리가 둥근 직사각형 91"/>
          <p:cNvSpPr/>
          <p:nvPr/>
        </p:nvSpPr>
        <p:spPr>
          <a:xfrm>
            <a:off x="5236755" y="32125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정정공고</a:t>
            </a:r>
            <a:endParaRPr lang="ko-KR" altLang="en-US" sz="600" dirty="0"/>
          </a:p>
        </p:txBody>
      </p:sp>
      <p:sp>
        <p:nvSpPr>
          <p:cNvPr id="93" name="모서리가 둥근 직사각형 92"/>
          <p:cNvSpPr/>
          <p:nvPr/>
        </p:nvSpPr>
        <p:spPr>
          <a:xfrm>
            <a:off x="5701530" y="32125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취소공고</a:t>
            </a:r>
            <a:endParaRPr lang="ko-KR" altLang="en-US" sz="600" dirty="0"/>
          </a:p>
        </p:txBody>
      </p:sp>
      <p:sp>
        <p:nvSpPr>
          <p:cNvPr id="94" name="모서리가 둥근 직사각형 93"/>
          <p:cNvSpPr/>
          <p:nvPr/>
        </p:nvSpPr>
        <p:spPr>
          <a:xfrm>
            <a:off x="6160677" y="32125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연기공고</a:t>
            </a:r>
            <a:endParaRPr lang="ko-KR" altLang="en-US" sz="600" dirty="0"/>
          </a:p>
        </p:txBody>
      </p:sp>
      <p:sp>
        <p:nvSpPr>
          <p:cNvPr id="95" name="모서리가 둥근 직사각형 94"/>
          <p:cNvSpPr/>
          <p:nvPr/>
        </p:nvSpPr>
        <p:spPr>
          <a:xfrm>
            <a:off x="4318635" y="3393240"/>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재공고</a:t>
            </a:r>
            <a:endParaRPr lang="ko-KR" altLang="en-US" sz="600" dirty="0"/>
          </a:p>
        </p:txBody>
      </p:sp>
      <p:sp>
        <p:nvSpPr>
          <p:cNvPr id="96" name="모서리가 둥근 직사각형 95"/>
          <p:cNvSpPr/>
          <p:nvPr/>
        </p:nvSpPr>
        <p:spPr>
          <a:xfrm>
            <a:off x="4777608" y="3393240"/>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갱신공고</a:t>
            </a:r>
            <a:endParaRPr lang="ko-KR" altLang="en-US" sz="600" dirty="0"/>
          </a:p>
        </p:txBody>
      </p:sp>
      <p:sp>
        <p:nvSpPr>
          <p:cNvPr id="97" name="모서리가 둥근 직사각형 96"/>
          <p:cNvSpPr/>
          <p:nvPr/>
        </p:nvSpPr>
        <p:spPr>
          <a:xfrm>
            <a:off x="5236755" y="3393240"/>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긴급공고</a:t>
            </a:r>
            <a:endParaRPr lang="ko-KR" altLang="en-US" sz="600" dirty="0"/>
          </a:p>
        </p:txBody>
      </p:sp>
      <p:sp>
        <p:nvSpPr>
          <p:cNvPr id="98" name="모서리가 둥근 직사각형 97"/>
          <p:cNvSpPr/>
          <p:nvPr/>
        </p:nvSpPr>
        <p:spPr>
          <a:xfrm>
            <a:off x="5701530" y="3393240"/>
            <a:ext cx="466807"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재공고</a:t>
            </a:r>
            <a:r>
              <a:rPr lang="en-US" altLang="ko-KR" sz="600" dirty="0"/>
              <a:t>(3</a:t>
            </a:r>
            <a:r>
              <a:rPr lang="ko-KR" altLang="en-US" sz="600" dirty="0"/>
              <a:t>차</a:t>
            </a:r>
            <a:r>
              <a:rPr lang="en-US" altLang="ko-KR" sz="600" dirty="0"/>
              <a:t>)</a:t>
            </a:r>
            <a:endParaRPr lang="ko-KR" altLang="en-US" sz="600" dirty="0"/>
          </a:p>
        </p:txBody>
      </p:sp>
      <p:sp>
        <p:nvSpPr>
          <p:cNvPr id="99" name="모서리가 둥근 직사각형 98"/>
          <p:cNvSpPr/>
          <p:nvPr/>
        </p:nvSpPr>
        <p:spPr>
          <a:xfrm>
            <a:off x="6242203" y="3393240"/>
            <a:ext cx="67393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긴급갱신</a:t>
            </a:r>
            <a:r>
              <a:rPr lang="ko-KR" altLang="en-US" sz="600" dirty="0"/>
              <a:t> </a:t>
            </a:r>
            <a:r>
              <a:rPr lang="ko-KR" altLang="en-US" sz="600" dirty="0" err="1"/>
              <a:t>재공고</a:t>
            </a:r>
            <a:endParaRPr lang="ko-KR" altLang="en-US" sz="600" dirty="0"/>
          </a:p>
        </p:txBody>
      </p:sp>
      <p:sp>
        <p:nvSpPr>
          <p:cNvPr id="100" name="TextBox 99">
            <a:extLst>
              <a:ext uri="{FF2B5EF4-FFF2-40B4-BE49-F238E27FC236}">
                <a16:creationId xmlns:a16="http://schemas.microsoft.com/office/drawing/2014/main" id="{FFC49AEA-2A8F-250C-A86A-A7751D9706C3}"/>
              </a:ext>
            </a:extLst>
          </p:cNvPr>
          <p:cNvSpPr txBox="1"/>
          <p:nvPr/>
        </p:nvSpPr>
        <p:spPr>
          <a:xfrm>
            <a:off x="3840447" y="2550467"/>
            <a:ext cx="547346" cy="107722"/>
          </a:xfrm>
          <a:prstGeom prst="rect">
            <a:avLst/>
          </a:prstGeom>
          <a:noFill/>
        </p:spPr>
        <p:txBody>
          <a:bodyPr wrap="square" lIns="0" tIns="0" rIns="0" bIns="0" rtlCol="0">
            <a:spAutoFit/>
          </a:bodyPr>
          <a:lstStyle/>
          <a:p>
            <a:r>
              <a:rPr lang="ko-KR" altLang="en-US" sz="700" dirty="0" err="1">
                <a:latin typeface="+mn-ea"/>
              </a:rPr>
              <a:t>업무구분</a:t>
            </a:r>
            <a:endParaRPr lang="ko-KR" altLang="en-US" sz="700" dirty="0">
              <a:latin typeface="+mn-ea"/>
            </a:endParaRPr>
          </a:p>
        </p:txBody>
      </p:sp>
      <p:sp>
        <p:nvSpPr>
          <p:cNvPr id="101" name="TextBox 100">
            <a:extLst>
              <a:ext uri="{FF2B5EF4-FFF2-40B4-BE49-F238E27FC236}">
                <a16:creationId xmlns:a16="http://schemas.microsoft.com/office/drawing/2014/main" id="{FFC49AEA-2A8F-250C-A86A-A7751D9706C3}"/>
              </a:ext>
            </a:extLst>
          </p:cNvPr>
          <p:cNvSpPr txBox="1"/>
          <p:nvPr/>
        </p:nvSpPr>
        <p:spPr>
          <a:xfrm>
            <a:off x="3840447" y="2882998"/>
            <a:ext cx="547346" cy="107722"/>
          </a:xfrm>
          <a:prstGeom prst="rect">
            <a:avLst/>
          </a:prstGeom>
          <a:noFill/>
        </p:spPr>
        <p:txBody>
          <a:bodyPr wrap="square" lIns="0" tIns="0" rIns="0" bIns="0" rtlCol="0">
            <a:spAutoFit/>
          </a:bodyPr>
          <a:lstStyle/>
          <a:p>
            <a:r>
              <a:rPr lang="ko-KR" altLang="en-US" sz="700" dirty="0" err="1">
                <a:latin typeface="+mn-ea"/>
              </a:rPr>
              <a:t>입찰구분</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3840447" y="3218425"/>
            <a:ext cx="547346" cy="107722"/>
          </a:xfrm>
          <a:prstGeom prst="rect">
            <a:avLst/>
          </a:prstGeom>
          <a:noFill/>
        </p:spPr>
        <p:txBody>
          <a:bodyPr wrap="square" lIns="0" tIns="0" rIns="0" bIns="0" rtlCol="0">
            <a:spAutoFit/>
          </a:bodyPr>
          <a:lstStyle/>
          <a:p>
            <a:r>
              <a:rPr lang="ko-KR" altLang="en-US" sz="700" dirty="0" err="1">
                <a:latin typeface="+mn-ea"/>
              </a:rPr>
              <a:t>공고구분</a:t>
            </a:r>
            <a:endParaRPr lang="ko-KR" altLang="en-US" sz="700" dirty="0">
              <a:latin typeface="+mn-ea"/>
            </a:endParaRPr>
          </a:p>
        </p:txBody>
      </p:sp>
      <p:sp>
        <p:nvSpPr>
          <p:cNvPr id="103" name="모서리가 둥근 직사각형 102"/>
          <p:cNvSpPr/>
          <p:nvPr/>
        </p:nvSpPr>
        <p:spPr>
          <a:xfrm>
            <a:off x="4318635" y="3736024"/>
            <a:ext cx="32794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신기술</a:t>
            </a:r>
          </a:p>
        </p:txBody>
      </p:sp>
      <p:sp>
        <p:nvSpPr>
          <p:cNvPr id="104" name="TextBox 103">
            <a:extLst>
              <a:ext uri="{FF2B5EF4-FFF2-40B4-BE49-F238E27FC236}">
                <a16:creationId xmlns:a16="http://schemas.microsoft.com/office/drawing/2014/main" id="{FFC49AEA-2A8F-250C-A86A-A7751D9706C3}"/>
              </a:ext>
            </a:extLst>
          </p:cNvPr>
          <p:cNvSpPr txBox="1"/>
          <p:nvPr/>
        </p:nvSpPr>
        <p:spPr>
          <a:xfrm>
            <a:off x="3840447" y="3741863"/>
            <a:ext cx="547346" cy="107722"/>
          </a:xfrm>
          <a:prstGeom prst="rect">
            <a:avLst/>
          </a:prstGeom>
          <a:noFill/>
        </p:spPr>
        <p:txBody>
          <a:bodyPr wrap="square" lIns="0" tIns="0" rIns="0" bIns="0" rtlCol="0">
            <a:spAutoFit/>
          </a:bodyPr>
          <a:lstStyle/>
          <a:p>
            <a:r>
              <a:rPr lang="ko-KR" altLang="en-US" sz="700" dirty="0" err="1">
                <a:latin typeface="+mn-ea"/>
              </a:rPr>
              <a:t>신기술여부</a:t>
            </a:r>
            <a:endParaRPr lang="ko-KR" altLang="en-US" sz="700" dirty="0">
              <a:latin typeface="+mn-ea"/>
            </a:endParaRPr>
          </a:p>
        </p:txBody>
      </p:sp>
      <p:sp>
        <p:nvSpPr>
          <p:cNvPr id="105" name="모서리가 둥근 직사각형 104"/>
          <p:cNvSpPr/>
          <p:nvPr/>
        </p:nvSpPr>
        <p:spPr>
          <a:xfrm>
            <a:off x="4318635" y="407296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기능전체</a:t>
            </a:r>
            <a:endParaRPr lang="ko-KR" altLang="en-US" sz="600" dirty="0"/>
          </a:p>
        </p:txBody>
      </p:sp>
      <p:sp>
        <p:nvSpPr>
          <p:cNvPr id="106" name="TextBox 105">
            <a:extLst>
              <a:ext uri="{FF2B5EF4-FFF2-40B4-BE49-F238E27FC236}">
                <a16:creationId xmlns:a16="http://schemas.microsoft.com/office/drawing/2014/main" id="{FFC49AEA-2A8F-250C-A86A-A7751D9706C3}"/>
              </a:ext>
            </a:extLst>
          </p:cNvPr>
          <p:cNvSpPr txBox="1"/>
          <p:nvPr/>
        </p:nvSpPr>
        <p:spPr>
          <a:xfrm>
            <a:off x="3840447" y="4078808"/>
            <a:ext cx="547346" cy="107722"/>
          </a:xfrm>
          <a:prstGeom prst="rect">
            <a:avLst/>
          </a:prstGeom>
          <a:noFill/>
        </p:spPr>
        <p:txBody>
          <a:bodyPr wrap="square" lIns="0" tIns="0" rIns="0" bIns="0" rtlCol="0">
            <a:spAutoFit/>
          </a:bodyPr>
          <a:lstStyle/>
          <a:p>
            <a:r>
              <a:rPr lang="ko-KR" altLang="en-US" sz="700" dirty="0">
                <a:latin typeface="+mn-ea"/>
              </a:rPr>
              <a:t>기능</a:t>
            </a:r>
          </a:p>
        </p:txBody>
      </p:sp>
      <p:sp>
        <p:nvSpPr>
          <p:cNvPr id="107" name="모서리가 둥근 직사각형 106"/>
          <p:cNvSpPr/>
          <p:nvPr/>
        </p:nvSpPr>
        <p:spPr>
          <a:xfrm>
            <a:off x="4779973" y="4072969"/>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항공</a:t>
            </a:r>
            <a:endParaRPr lang="ko-KR" altLang="en-US" sz="600" dirty="0"/>
          </a:p>
        </p:txBody>
      </p:sp>
      <p:sp>
        <p:nvSpPr>
          <p:cNvPr id="108" name="모서리가 둥근 직사각형 107"/>
          <p:cNvSpPr/>
          <p:nvPr/>
        </p:nvSpPr>
        <p:spPr>
          <a:xfrm>
            <a:off x="5098543" y="4072969"/>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화력</a:t>
            </a:r>
            <a:endParaRPr lang="ko-KR" altLang="en-US" sz="600" dirty="0"/>
          </a:p>
        </p:txBody>
      </p:sp>
      <p:sp>
        <p:nvSpPr>
          <p:cNvPr id="109" name="모서리가 둥근 직사각형 108"/>
          <p:cNvSpPr/>
          <p:nvPr/>
        </p:nvSpPr>
        <p:spPr>
          <a:xfrm>
            <a:off x="5417113" y="4072969"/>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함정</a:t>
            </a:r>
            <a:endParaRPr lang="ko-KR" altLang="en-US" sz="600" dirty="0"/>
          </a:p>
        </p:txBody>
      </p:sp>
      <p:sp>
        <p:nvSpPr>
          <p:cNvPr id="110" name="모서리가 둥근 직사각형 109"/>
          <p:cNvSpPr/>
          <p:nvPr/>
        </p:nvSpPr>
        <p:spPr>
          <a:xfrm>
            <a:off x="5735683" y="4072969"/>
            <a:ext cx="51006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통신</a:t>
            </a:r>
            <a:r>
              <a:rPr lang="en-US" altLang="ko-KR" sz="600" dirty="0"/>
              <a:t>(</a:t>
            </a:r>
            <a:r>
              <a:rPr lang="ko-KR" altLang="en-US" sz="600" dirty="0"/>
              <a:t>건전지</a:t>
            </a:r>
            <a:r>
              <a:rPr lang="en-US" altLang="ko-KR" sz="600" dirty="0"/>
              <a:t>)</a:t>
            </a:r>
            <a:endParaRPr lang="ko-KR" altLang="en-US" sz="600" dirty="0"/>
          </a:p>
        </p:txBody>
      </p:sp>
      <p:sp>
        <p:nvSpPr>
          <p:cNvPr id="111" name="모서리가 둥근 직사각형 110"/>
          <p:cNvSpPr/>
          <p:nvPr/>
        </p:nvSpPr>
        <p:spPr>
          <a:xfrm>
            <a:off x="6310662" y="4072969"/>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공병</a:t>
            </a:r>
            <a:endParaRPr lang="ko-KR" altLang="en-US" sz="600" dirty="0"/>
          </a:p>
        </p:txBody>
      </p:sp>
      <p:sp>
        <p:nvSpPr>
          <p:cNvPr id="112" name="모서리가 둥근 직사각형 111"/>
          <p:cNvSpPr/>
          <p:nvPr/>
        </p:nvSpPr>
        <p:spPr>
          <a:xfrm>
            <a:off x="6629233" y="4072969"/>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방공</a:t>
            </a:r>
          </a:p>
        </p:txBody>
      </p:sp>
      <p:sp>
        <p:nvSpPr>
          <p:cNvPr id="113" name="모서리가 둥근 직사각형 112"/>
          <p:cNvSpPr/>
          <p:nvPr/>
        </p:nvSpPr>
        <p:spPr>
          <a:xfrm>
            <a:off x="4318635" y="4249363"/>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기동</a:t>
            </a:r>
          </a:p>
        </p:txBody>
      </p:sp>
      <p:sp>
        <p:nvSpPr>
          <p:cNvPr id="114" name="모서리가 둥근 직사각형 113"/>
          <p:cNvSpPr/>
          <p:nvPr/>
        </p:nvSpPr>
        <p:spPr>
          <a:xfrm>
            <a:off x="4632613" y="4249363"/>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유류</a:t>
            </a:r>
          </a:p>
        </p:txBody>
      </p:sp>
      <p:sp>
        <p:nvSpPr>
          <p:cNvPr id="115" name="모서리가 둥근 직사각형 114"/>
          <p:cNvSpPr/>
          <p:nvPr/>
        </p:nvSpPr>
        <p:spPr>
          <a:xfrm>
            <a:off x="4946591" y="4249363"/>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탄약</a:t>
            </a:r>
          </a:p>
        </p:txBody>
      </p:sp>
      <p:sp>
        <p:nvSpPr>
          <p:cNvPr id="116" name="모서리가 둥근 직사각형 115"/>
          <p:cNvSpPr/>
          <p:nvPr/>
        </p:nvSpPr>
        <p:spPr>
          <a:xfrm>
            <a:off x="5260569" y="4249363"/>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수송</a:t>
            </a:r>
          </a:p>
        </p:txBody>
      </p:sp>
      <p:sp>
        <p:nvSpPr>
          <p:cNvPr id="117" name="모서리가 둥근 직사각형 116"/>
          <p:cNvSpPr/>
          <p:nvPr/>
        </p:nvSpPr>
        <p:spPr>
          <a:xfrm>
            <a:off x="5574547" y="4249363"/>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화학</a:t>
            </a:r>
          </a:p>
        </p:txBody>
      </p:sp>
      <p:sp>
        <p:nvSpPr>
          <p:cNvPr id="118" name="모서리가 둥근 직사각형 117"/>
          <p:cNvSpPr/>
          <p:nvPr/>
        </p:nvSpPr>
        <p:spPr>
          <a:xfrm>
            <a:off x="5888525" y="4249363"/>
            <a:ext cx="58680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병참</a:t>
            </a:r>
            <a:r>
              <a:rPr lang="en-US" altLang="ko-KR" sz="600" dirty="0"/>
              <a:t>(</a:t>
            </a:r>
            <a:r>
              <a:rPr lang="ko-KR" altLang="en-US" sz="600" dirty="0" err="1"/>
              <a:t>일반물자</a:t>
            </a:r>
            <a:r>
              <a:rPr lang="en-US" altLang="ko-KR" sz="600" dirty="0"/>
              <a:t>)</a:t>
            </a:r>
            <a:endParaRPr lang="ko-KR" altLang="en-US" sz="600" dirty="0"/>
          </a:p>
        </p:txBody>
      </p:sp>
      <p:sp>
        <p:nvSpPr>
          <p:cNvPr id="119" name="모서리가 둥근 직사각형 118"/>
          <p:cNvSpPr/>
          <p:nvPr/>
        </p:nvSpPr>
        <p:spPr>
          <a:xfrm>
            <a:off x="4318635" y="4421592"/>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화공약품</a:t>
            </a:r>
          </a:p>
        </p:txBody>
      </p:sp>
      <p:sp>
        <p:nvSpPr>
          <p:cNvPr id="120" name="모서리가 둥근 직사각형 119"/>
          <p:cNvSpPr/>
          <p:nvPr/>
        </p:nvSpPr>
        <p:spPr>
          <a:xfrm>
            <a:off x="4770377" y="4421592"/>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기타</a:t>
            </a:r>
          </a:p>
        </p:txBody>
      </p:sp>
      <p:sp>
        <p:nvSpPr>
          <p:cNvPr id="123" name="모서리가 둥근 직사각형 122"/>
          <p:cNvSpPr/>
          <p:nvPr/>
        </p:nvSpPr>
        <p:spPr>
          <a:xfrm>
            <a:off x="5084355" y="4421592"/>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용역</a:t>
            </a:r>
          </a:p>
        </p:txBody>
      </p:sp>
      <p:sp>
        <p:nvSpPr>
          <p:cNvPr id="136" name="모서리가 둥근 직사각형 135"/>
          <p:cNvSpPr/>
          <p:nvPr/>
        </p:nvSpPr>
        <p:spPr>
          <a:xfrm>
            <a:off x="5398333" y="4421592"/>
            <a:ext cx="25365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의무</a:t>
            </a:r>
          </a:p>
        </p:txBody>
      </p:sp>
      <p:sp>
        <p:nvSpPr>
          <p:cNvPr id="137" name="모서리가 둥근 직사각형 136"/>
          <p:cNvSpPr/>
          <p:nvPr/>
        </p:nvSpPr>
        <p:spPr>
          <a:xfrm>
            <a:off x="5712311" y="4421592"/>
            <a:ext cx="43026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공통적용</a:t>
            </a:r>
            <a:endParaRPr lang="ko-KR" altLang="en-US" sz="600" dirty="0"/>
          </a:p>
        </p:txBody>
      </p:sp>
      <p:sp>
        <p:nvSpPr>
          <p:cNvPr id="138" name="모서리가 둥근 직사각형 137"/>
          <p:cNvSpPr/>
          <p:nvPr/>
        </p:nvSpPr>
        <p:spPr>
          <a:xfrm>
            <a:off x="4318635" y="477280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en-US" altLang="ko-KR" sz="600" dirty="0"/>
              <a:t>OCR</a:t>
            </a:r>
            <a:r>
              <a:rPr lang="ko-KR" altLang="en-US" sz="600" dirty="0"/>
              <a:t>입찰</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3840447" y="4778640"/>
            <a:ext cx="547346" cy="107722"/>
          </a:xfrm>
          <a:prstGeom prst="rect">
            <a:avLst/>
          </a:prstGeom>
          <a:noFill/>
        </p:spPr>
        <p:txBody>
          <a:bodyPr wrap="square" lIns="0" tIns="0" rIns="0" bIns="0" rtlCol="0">
            <a:spAutoFit/>
          </a:bodyPr>
          <a:lstStyle/>
          <a:p>
            <a:r>
              <a:rPr lang="ko-KR" altLang="en-US" sz="700" dirty="0" err="1">
                <a:latin typeface="+mn-ea"/>
              </a:rPr>
              <a:t>입찰매체</a:t>
            </a:r>
            <a:endParaRPr lang="ko-KR" altLang="en-US" sz="700" dirty="0">
              <a:latin typeface="+mn-ea"/>
            </a:endParaRPr>
          </a:p>
        </p:txBody>
      </p:sp>
      <p:sp>
        <p:nvSpPr>
          <p:cNvPr id="140" name="모서리가 둥근 직사각형 139"/>
          <p:cNvSpPr/>
          <p:nvPr/>
        </p:nvSpPr>
        <p:spPr>
          <a:xfrm>
            <a:off x="4774588" y="4772801"/>
            <a:ext cx="3994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일반입찰</a:t>
            </a:r>
            <a:endParaRPr lang="ko-KR" altLang="en-US" sz="600" dirty="0"/>
          </a:p>
        </p:txBody>
      </p:sp>
      <p:sp>
        <p:nvSpPr>
          <p:cNvPr id="141" name="모서리가 둥근 직사각형 140"/>
          <p:cNvSpPr/>
          <p:nvPr/>
        </p:nvSpPr>
        <p:spPr>
          <a:xfrm>
            <a:off x="5235244" y="4772801"/>
            <a:ext cx="3994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전자입찰</a:t>
            </a:r>
          </a:p>
        </p:txBody>
      </p:sp>
      <p:sp>
        <p:nvSpPr>
          <p:cNvPr id="142" name="모서리가 둥근 직사각형 141"/>
          <p:cNvSpPr/>
          <p:nvPr/>
        </p:nvSpPr>
        <p:spPr>
          <a:xfrm>
            <a:off x="5698510" y="4772801"/>
            <a:ext cx="43623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en-US" altLang="ko-KR" sz="600" dirty="0"/>
              <a:t>OMR</a:t>
            </a:r>
            <a:r>
              <a:rPr lang="ko-KR" altLang="en-US" sz="600" dirty="0"/>
              <a:t>입찰</a:t>
            </a:r>
          </a:p>
        </p:txBody>
      </p:sp>
      <p:sp>
        <p:nvSpPr>
          <p:cNvPr id="143" name="모서리가 둥근 직사각형 142"/>
          <p:cNvSpPr/>
          <p:nvPr/>
        </p:nvSpPr>
        <p:spPr>
          <a:xfrm>
            <a:off x="6203789" y="4772801"/>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역경매</a:t>
            </a:r>
            <a:endParaRPr lang="ko-KR" altLang="en-US" sz="600" dirty="0"/>
          </a:p>
        </p:txBody>
      </p:sp>
      <p:sp>
        <p:nvSpPr>
          <p:cNvPr id="144" name="모서리가 둥근 직사각형 143"/>
          <p:cNvSpPr/>
          <p:nvPr/>
        </p:nvSpPr>
        <p:spPr>
          <a:xfrm>
            <a:off x="6589589" y="4772801"/>
            <a:ext cx="3994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전산입찰</a:t>
            </a:r>
            <a:endParaRPr lang="ko-KR" altLang="en-US" sz="600" dirty="0"/>
          </a:p>
        </p:txBody>
      </p:sp>
      <p:sp>
        <p:nvSpPr>
          <p:cNvPr id="145" name="모서리가 둥근 직사각형 144"/>
          <p:cNvSpPr/>
          <p:nvPr/>
        </p:nvSpPr>
        <p:spPr>
          <a:xfrm>
            <a:off x="4318635" y="513553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일반경쟁</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3840447" y="5141375"/>
            <a:ext cx="547346" cy="107722"/>
          </a:xfrm>
          <a:prstGeom prst="rect">
            <a:avLst/>
          </a:prstGeom>
          <a:noFill/>
        </p:spPr>
        <p:txBody>
          <a:bodyPr wrap="square" lIns="0" tIns="0" rIns="0" bIns="0" rtlCol="0">
            <a:spAutoFit/>
          </a:bodyPr>
          <a:lstStyle/>
          <a:p>
            <a:r>
              <a:rPr lang="ko-KR" altLang="en-US" sz="700" dirty="0">
                <a:latin typeface="+mn-ea"/>
              </a:rPr>
              <a:t>계약방법</a:t>
            </a:r>
          </a:p>
        </p:txBody>
      </p:sp>
      <p:sp>
        <p:nvSpPr>
          <p:cNvPr id="147" name="모서리가 둥근 직사각형 146"/>
          <p:cNvSpPr/>
          <p:nvPr/>
        </p:nvSpPr>
        <p:spPr>
          <a:xfrm>
            <a:off x="4776097" y="513553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지명경쟁</a:t>
            </a:r>
          </a:p>
        </p:txBody>
      </p:sp>
      <p:sp>
        <p:nvSpPr>
          <p:cNvPr id="149" name="모서리가 둥근 직사각형 148"/>
          <p:cNvSpPr/>
          <p:nvPr/>
        </p:nvSpPr>
        <p:spPr>
          <a:xfrm>
            <a:off x="5232765" y="513553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제한경쟁</a:t>
            </a:r>
          </a:p>
        </p:txBody>
      </p:sp>
      <p:sp>
        <p:nvSpPr>
          <p:cNvPr id="150" name="모서리가 둥근 직사각형 149"/>
          <p:cNvSpPr/>
          <p:nvPr/>
        </p:nvSpPr>
        <p:spPr>
          <a:xfrm>
            <a:off x="5690227" y="513553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복수경쟁</a:t>
            </a:r>
            <a:endParaRPr lang="ko-KR" altLang="en-US" sz="600" dirty="0"/>
          </a:p>
        </p:txBody>
      </p:sp>
      <p:sp>
        <p:nvSpPr>
          <p:cNvPr id="151" name="모서리가 둥근 직사각형 150"/>
          <p:cNvSpPr/>
          <p:nvPr/>
        </p:nvSpPr>
        <p:spPr>
          <a:xfrm>
            <a:off x="6147576" y="513553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수의계약</a:t>
            </a:r>
          </a:p>
        </p:txBody>
      </p:sp>
      <p:sp>
        <p:nvSpPr>
          <p:cNvPr id="152" name="모서리가 둥근 직사각형 151"/>
          <p:cNvSpPr/>
          <p:nvPr/>
        </p:nvSpPr>
        <p:spPr>
          <a:xfrm>
            <a:off x="4318635" y="5307915"/>
            <a:ext cx="83407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협상에의한</a:t>
            </a:r>
            <a:r>
              <a:rPr lang="ko-KR" altLang="en-US" sz="600" dirty="0"/>
              <a:t> 계약</a:t>
            </a:r>
            <a:r>
              <a:rPr lang="en-US" altLang="ko-KR" sz="600" dirty="0"/>
              <a:t>(</a:t>
            </a:r>
            <a:r>
              <a:rPr lang="ko-KR" altLang="en-US" sz="600" dirty="0"/>
              <a:t>서류</a:t>
            </a:r>
            <a:r>
              <a:rPr lang="en-US" altLang="ko-KR" sz="600" dirty="0"/>
              <a:t>)</a:t>
            </a:r>
            <a:endParaRPr lang="ko-KR" altLang="en-US" sz="600" dirty="0"/>
          </a:p>
        </p:txBody>
      </p:sp>
      <p:sp>
        <p:nvSpPr>
          <p:cNvPr id="153" name="모서리가 둥근 직사각형 152"/>
          <p:cNvSpPr/>
          <p:nvPr/>
        </p:nvSpPr>
        <p:spPr>
          <a:xfrm>
            <a:off x="5199541" y="5307915"/>
            <a:ext cx="64459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en-US" altLang="ko-KR" sz="600" dirty="0"/>
              <a:t>2</a:t>
            </a:r>
            <a:r>
              <a:rPr lang="ko-KR" altLang="en-US" sz="600" dirty="0"/>
              <a:t>단계 경쟁</a:t>
            </a:r>
            <a:r>
              <a:rPr lang="en-US" altLang="ko-KR" sz="600" dirty="0"/>
              <a:t>(</a:t>
            </a:r>
            <a:r>
              <a:rPr lang="ko-KR" altLang="en-US" sz="600" dirty="0"/>
              <a:t>동시</a:t>
            </a:r>
            <a:r>
              <a:rPr lang="en-US" altLang="ko-KR" sz="600" dirty="0"/>
              <a:t>)</a:t>
            </a:r>
            <a:endParaRPr lang="ko-KR" altLang="en-US" sz="600" dirty="0"/>
          </a:p>
        </p:txBody>
      </p:sp>
      <p:sp>
        <p:nvSpPr>
          <p:cNvPr id="154" name="모서리가 둥근 직사각형 153"/>
          <p:cNvSpPr/>
          <p:nvPr/>
        </p:nvSpPr>
        <p:spPr>
          <a:xfrm>
            <a:off x="5885028" y="5307915"/>
            <a:ext cx="64459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en-US" altLang="ko-KR" sz="600" dirty="0"/>
              <a:t>2</a:t>
            </a:r>
            <a:r>
              <a:rPr lang="ko-KR" altLang="en-US" sz="600" dirty="0"/>
              <a:t>단계 경쟁</a:t>
            </a:r>
            <a:r>
              <a:rPr lang="en-US" altLang="ko-KR" sz="600" dirty="0"/>
              <a:t>(</a:t>
            </a:r>
            <a:r>
              <a:rPr lang="ko-KR" altLang="en-US" sz="600" dirty="0"/>
              <a:t>분리</a:t>
            </a:r>
            <a:r>
              <a:rPr lang="en-US" altLang="ko-KR" sz="600" dirty="0"/>
              <a:t>)</a:t>
            </a:r>
            <a:endParaRPr lang="ko-KR" altLang="en-US" sz="600" dirty="0"/>
          </a:p>
        </p:txBody>
      </p:sp>
      <p:sp>
        <p:nvSpPr>
          <p:cNvPr id="155" name="모서리가 둥근 직사각형 154"/>
          <p:cNvSpPr/>
          <p:nvPr/>
        </p:nvSpPr>
        <p:spPr>
          <a:xfrm>
            <a:off x="4318635" y="5475884"/>
            <a:ext cx="501313"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종합낙찰제</a:t>
            </a:r>
            <a:endParaRPr lang="ko-KR" altLang="en-US" sz="600" dirty="0"/>
          </a:p>
        </p:txBody>
      </p:sp>
      <p:sp>
        <p:nvSpPr>
          <p:cNvPr id="157" name="모서리가 둥근 직사각형 156"/>
          <p:cNvSpPr/>
          <p:nvPr/>
        </p:nvSpPr>
        <p:spPr>
          <a:xfrm>
            <a:off x="4876890" y="5475884"/>
            <a:ext cx="834071"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협상에의한</a:t>
            </a:r>
            <a:r>
              <a:rPr lang="ko-KR" altLang="en-US" sz="600" dirty="0"/>
              <a:t> 계약</a:t>
            </a:r>
            <a:r>
              <a:rPr lang="en-US" altLang="ko-KR" sz="600" dirty="0"/>
              <a:t>(</a:t>
            </a:r>
            <a:r>
              <a:rPr lang="ko-KR" altLang="en-US" sz="600" dirty="0"/>
              <a:t>전자</a:t>
            </a:r>
            <a:r>
              <a:rPr lang="en-US" altLang="ko-KR" sz="600" dirty="0"/>
              <a:t>)</a:t>
            </a:r>
            <a:endParaRPr lang="ko-KR" altLang="en-US" sz="600" dirty="0"/>
          </a:p>
        </p:txBody>
      </p:sp>
      <p:sp>
        <p:nvSpPr>
          <p:cNvPr id="158" name="모서리가 둥근 직사각형 157"/>
          <p:cNvSpPr/>
          <p:nvPr/>
        </p:nvSpPr>
        <p:spPr>
          <a:xfrm>
            <a:off x="5767485" y="5475884"/>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역경매</a:t>
            </a:r>
            <a:endParaRPr lang="ko-KR" altLang="en-US" sz="600" dirty="0"/>
          </a:p>
        </p:txBody>
      </p:sp>
      <p:sp>
        <p:nvSpPr>
          <p:cNvPr id="160" name="타원 159">
            <a:extLst>
              <a:ext uri="{FF2B5EF4-FFF2-40B4-BE49-F238E27FC236}">
                <a16:creationId xmlns:a16="http://schemas.microsoft.com/office/drawing/2014/main" id="{37A7FF4F-0EAA-1463-560A-D5EC24416103}"/>
              </a:ext>
            </a:extLst>
          </p:cNvPr>
          <p:cNvSpPr/>
          <p:nvPr/>
        </p:nvSpPr>
        <p:spPr>
          <a:xfrm>
            <a:off x="4304035" y="1759161"/>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5</a:t>
            </a:r>
            <a:endParaRPr lang="ko-KR" altLang="en-US" sz="1200" dirty="0"/>
          </a:p>
        </p:txBody>
      </p:sp>
      <p:sp>
        <p:nvSpPr>
          <p:cNvPr id="161" name="모서리가 둥근 직사각형 160"/>
          <p:cNvSpPr/>
          <p:nvPr/>
        </p:nvSpPr>
        <p:spPr>
          <a:xfrm>
            <a:off x="4318635" y="5847205"/>
            <a:ext cx="579917"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발주기관 전체</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3840447" y="5853044"/>
            <a:ext cx="547346" cy="107722"/>
          </a:xfrm>
          <a:prstGeom prst="rect">
            <a:avLst/>
          </a:prstGeom>
          <a:noFill/>
        </p:spPr>
        <p:txBody>
          <a:bodyPr wrap="square" lIns="0" tIns="0" rIns="0" bIns="0" rtlCol="0">
            <a:spAutoFit/>
          </a:bodyPr>
          <a:lstStyle/>
          <a:p>
            <a:r>
              <a:rPr lang="ko-KR" altLang="en-US" sz="700" dirty="0">
                <a:latin typeface="+mn-ea"/>
              </a:rPr>
              <a:t>발주기관</a:t>
            </a:r>
          </a:p>
        </p:txBody>
      </p:sp>
      <p:sp>
        <p:nvSpPr>
          <p:cNvPr id="163" name="모서리가 둥근 직사각형 162"/>
          <p:cNvSpPr/>
          <p:nvPr/>
        </p:nvSpPr>
        <p:spPr>
          <a:xfrm>
            <a:off x="4946591" y="5847205"/>
            <a:ext cx="470522"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방위사업청</a:t>
            </a:r>
            <a:endParaRPr lang="ko-KR" altLang="en-US" sz="600" dirty="0"/>
          </a:p>
        </p:txBody>
      </p:sp>
      <p:sp>
        <p:nvSpPr>
          <p:cNvPr id="164" name="모서리가 둥근 직사각형 163"/>
          <p:cNvSpPr/>
          <p:nvPr/>
        </p:nvSpPr>
        <p:spPr>
          <a:xfrm>
            <a:off x="5462635" y="5847205"/>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조달본부</a:t>
            </a:r>
          </a:p>
        </p:txBody>
      </p:sp>
      <p:sp>
        <p:nvSpPr>
          <p:cNvPr id="165" name="모서리가 둥근 직사각형 164"/>
          <p:cNvSpPr/>
          <p:nvPr/>
        </p:nvSpPr>
        <p:spPr>
          <a:xfrm>
            <a:off x="5909368" y="5849480"/>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경리단</a:t>
            </a:r>
            <a:endParaRPr lang="ko-KR" altLang="en-US" sz="600" dirty="0"/>
          </a:p>
        </p:txBody>
      </p:sp>
      <p:sp>
        <p:nvSpPr>
          <p:cNvPr id="166" name="모서리가 둥근 직사각형 165"/>
          <p:cNvSpPr/>
          <p:nvPr/>
        </p:nvSpPr>
        <p:spPr>
          <a:xfrm>
            <a:off x="6282921" y="5849480"/>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군수사</a:t>
            </a:r>
            <a:endParaRPr lang="ko-KR" altLang="en-US" sz="600" dirty="0"/>
          </a:p>
        </p:txBody>
      </p:sp>
      <p:sp>
        <p:nvSpPr>
          <p:cNvPr id="167" name="모서리가 둥근 직사각형 166"/>
          <p:cNvSpPr/>
          <p:nvPr/>
        </p:nvSpPr>
        <p:spPr>
          <a:xfrm>
            <a:off x="6658148" y="5849480"/>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교육사</a:t>
            </a:r>
          </a:p>
        </p:txBody>
      </p:sp>
      <p:sp>
        <p:nvSpPr>
          <p:cNvPr id="168" name="모서리가 둥근 직사각형 167"/>
          <p:cNvSpPr/>
          <p:nvPr/>
        </p:nvSpPr>
        <p:spPr>
          <a:xfrm>
            <a:off x="4321449" y="6010998"/>
            <a:ext cx="25083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학교</a:t>
            </a:r>
          </a:p>
        </p:txBody>
      </p:sp>
      <p:sp>
        <p:nvSpPr>
          <p:cNvPr id="169" name="모서리가 둥근 직사각형 168"/>
          <p:cNvSpPr/>
          <p:nvPr/>
        </p:nvSpPr>
        <p:spPr>
          <a:xfrm>
            <a:off x="4639917" y="6010998"/>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근지단</a:t>
            </a:r>
            <a:endParaRPr lang="ko-KR" altLang="en-US" sz="600" dirty="0"/>
          </a:p>
        </p:txBody>
      </p:sp>
      <p:sp>
        <p:nvSpPr>
          <p:cNvPr id="170" name="모서리가 둥근 직사각형 169"/>
          <p:cNvSpPr/>
          <p:nvPr/>
        </p:nvSpPr>
        <p:spPr>
          <a:xfrm>
            <a:off x="5025544" y="6010998"/>
            <a:ext cx="32323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군병원</a:t>
            </a:r>
            <a:endParaRPr lang="ko-KR" altLang="en-US" sz="600" dirty="0"/>
          </a:p>
        </p:txBody>
      </p:sp>
      <p:sp>
        <p:nvSpPr>
          <p:cNvPr id="172" name="모서리가 둥근 직사각형 171"/>
          <p:cNvSpPr/>
          <p:nvPr/>
        </p:nvSpPr>
        <p:spPr>
          <a:xfrm>
            <a:off x="5413995" y="6010998"/>
            <a:ext cx="25083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본부</a:t>
            </a:r>
          </a:p>
        </p:txBody>
      </p:sp>
      <p:sp>
        <p:nvSpPr>
          <p:cNvPr id="173" name="모서리가 둥근 직사각형 172"/>
          <p:cNvSpPr/>
          <p:nvPr/>
        </p:nvSpPr>
        <p:spPr>
          <a:xfrm>
            <a:off x="5727123" y="6010998"/>
            <a:ext cx="40761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국방부</a:t>
            </a:r>
            <a:r>
              <a:rPr lang="en-US" altLang="ko-KR" sz="600" dirty="0"/>
              <a:t>-9</a:t>
            </a:r>
            <a:endParaRPr lang="ko-KR" altLang="en-US" sz="600" dirty="0"/>
          </a:p>
        </p:txBody>
      </p:sp>
      <p:sp>
        <p:nvSpPr>
          <p:cNvPr id="174" name="모서리가 둥근 직사각형 173"/>
          <p:cNvSpPr/>
          <p:nvPr/>
        </p:nvSpPr>
        <p:spPr>
          <a:xfrm>
            <a:off x="6198542" y="6010998"/>
            <a:ext cx="40761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국방부</a:t>
            </a:r>
            <a:r>
              <a:rPr lang="en-US" altLang="ko-KR" sz="600" dirty="0"/>
              <a:t>-A</a:t>
            </a:r>
            <a:endParaRPr lang="ko-KR" altLang="en-US" sz="600" dirty="0"/>
          </a:p>
        </p:txBody>
      </p:sp>
      <p:sp>
        <p:nvSpPr>
          <p:cNvPr id="175" name="모서리가 둥근 직사각형 174"/>
          <p:cNvSpPr/>
          <p:nvPr/>
        </p:nvSpPr>
        <p:spPr>
          <a:xfrm>
            <a:off x="6669961" y="6010998"/>
            <a:ext cx="25083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기타</a:t>
            </a:r>
          </a:p>
        </p:txBody>
      </p:sp>
      <p:sp>
        <p:nvSpPr>
          <p:cNvPr id="148" name="모서리가 둥근 직사각형 147"/>
          <p:cNvSpPr/>
          <p:nvPr/>
        </p:nvSpPr>
        <p:spPr>
          <a:xfrm>
            <a:off x="4321056" y="2203671"/>
            <a:ext cx="521842"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r>
              <a:rPr lang="en-US" altLang="ko-KR" sz="600" dirty="0"/>
              <a:t>(PQ)</a:t>
            </a:r>
            <a:endParaRPr lang="ko-KR" altLang="en-US" sz="600" dirty="0"/>
          </a:p>
        </p:txBody>
      </p:sp>
      <p:sp>
        <p:nvSpPr>
          <p:cNvPr id="156" name="모서리가 둥근 직사각형 155"/>
          <p:cNvSpPr/>
          <p:nvPr/>
        </p:nvSpPr>
        <p:spPr>
          <a:xfrm>
            <a:off x="4905451" y="220367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sp>
        <p:nvSpPr>
          <p:cNvPr id="159" name="모서리가 둥근 직사각형 158"/>
          <p:cNvSpPr/>
          <p:nvPr/>
        </p:nvSpPr>
        <p:spPr>
          <a:xfrm>
            <a:off x="5364598" y="220367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견적서</a:t>
            </a:r>
          </a:p>
        </p:txBody>
      </p:sp>
      <p:sp>
        <p:nvSpPr>
          <p:cNvPr id="171" name="모서리가 둥근 직사각형 170"/>
          <p:cNvSpPr/>
          <p:nvPr/>
        </p:nvSpPr>
        <p:spPr>
          <a:xfrm>
            <a:off x="5818070" y="220367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기술평가</a:t>
            </a:r>
          </a:p>
        </p:txBody>
      </p:sp>
      <p:sp>
        <p:nvSpPr>
          <p:cNvPr id="176" name="모서리가 둥근 직사각형 175"/>
          <p:cNvSpPr/>
          <p:nvPr/>
        </p:nvSpPr>
        <p:spPr>
          <a:xfrm>
            <a:off x="6277293" y="220367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생산능력</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3840447" y="2209510"/>
            <a:ext cx="547346" cy="107722"/>
          </a:xfrm>
          <a:prstGeom prst="rect">
            <a:avLst/>
          </a:prstGeom>
          <a:noFill/>
        </p:spPr>
        <p:txBody>
          <a:bodyPr wrap="square" lIns="0" tIns="0" rIns="0" bIns="0" rtlCol="0">
            <a:spAutoFit/>
          </a:bodyPr>
          <a:lstStyle/>
          <a:p>
            <a:r>
              <a:rPr lang="ko-KR" altLang="en-US" sz="700" dirty="0" err="1">
                <a:latin typeface="+mn-ea"/>
              </a:rPr>
              <a:t>신청정보</a:t>
            </a:r>
            <a:endParaRPr lang="ko-KR" altLang="en-US" sz="700" dirty="0">
              <a:latin typeface="+mn-ea"/>
            </a:endParaRPr>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20490" y="547941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675399" y="28057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1" name="TextBox 180">
            <a:extLst>
              <a:ext uri="{FF2B5EF4-FFF2-40B4-BE49-F238E27FC236}">
                <a16:creationId xmlns:a16="http://schemas.microsoft.com/office/drawing/2014/main" id="{FFC49AEA-2A8F-250C-A86A-A7751D9706C3}"/>
              </a:ext>
            </a:extLst>
          </p:cNvPr>
          <p:cNvSpPr txBox="1"/>
          <p:nvPr/>
        </p:nvSpPr>
        <p:spPr>
          <a:xfrm>
            <a:off x="778515" y="2874722"/>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2,010</a:t>
            </a:r>
            <a:r>
              <a:rPr lang="en-US" altLang="ko-KR" sz="700" dirty="0">
                <a:latin typeface="+mn-ea"/>
              </a:rPr>
              <a:t> </a:t>
            </a:r>
            <a:r>
              <a:rPr lang="ko-KR" altLang="en-US" sz="700" dirty="0">
                <a:latin typeface="+mn-ea"/>
              </a:rPr>
              <a:t>건</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278206" y="2870668"/>
            <a:ext cx="393849" cy="181140"/>
          </a:xfrm>
          <a:prstGeom prst="rect">
            <a:avLst/>
          </a:prstGeom>
          <a:noFill/>
        </p:spPr>
        <p:txBody>
          <a:bodyPr wrap="square" lIns="0" tIns="0" rIns="0" bIns="0" rtlCol="0">
            <a:spAutoFit/>
          </a:bodyPr>
          <a:lstStyle/>
          <a:p>
            <a:pPr>
              <a:lnSpc>
                <a:spcPct val="200000"/>
              </a:lnSpc>
            </a:pPr>
            <a:r>
              <a:rPr lang="ko-KR" altLang="en-US" sz="700" b="1" dirty="0">
                <a:latin typeface="+mn-ea"/>
              </a:rPr>
              <a:t>표시 개수</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2727990" y="2870668"/>
            <a:ext cx="505710" cy="181140"/>
          </a:xfrm>
          <a:prstGeom prst="rect">
            <a:avLst/>
          </a:prstGeom>
          <a:noFill/>
        </p:spPr>
        <p:txBody>
          <a:bodyPr wrap="square" lIns="0" tIns="0" rIns="0" bIns="0" rtlCol="0">
            <a:spAutoFit/>
          </a:bodyPr>
          <a:lstStyle/>
          <a:p>
            <a:pPr>
              <a:lnSpc>
                <a:spcPct val="200000"/>
              </a:lnSpc>
            </a:pPr>
            <a:r>
              <a:rPr lang="en-US" altLang="ko-KR" sz="700" dirty="0">
                <a:latin typeface="+mn-ea"/>
              </a:rPr>
              <a:t>10 </a:t>
            </a:r>
            <a:r>
              <a:rPr lang="ko-KR" altLang="en-US" sz="700" dirty="0">
                <a:latin typeface="+mn-ea"/>
              </a:rPr>
              <a:t>개</a:t>
            </a:r>
          </a:p>
        </p:txBody>
      </p:sp>
      <p:grpSp>
        <p:nvGrpSpPr>
          <p:cNvPr id="184" name="그룹 183"/>
          <p:cNvGrpSpPr/>
          <p:nvPr/>
        </p:nvGrpSpPr>
        <p:grpSpPr>
          <a:xfrm>
            <a:off x="3143548" y="2972491"/>
            <a:ext cx="94010" cy="47005"/>
            <a:chOff x="6812560" y="3297172"/>
            <a:chExt cx="94010" cy="47005"/>
          </a:xfrm>
        </p:grpSpPr>
        <p:cxnSp>
          <p:nvCxnSpPr>
            <p:cNvPr id="185" name="직선 연결선 18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6" name="직선 연결선 18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87" name="그룹 186"/>
          <p:cNvGrpSpPr/>
          <p:nvPr/>
        </p:nvGrpSpPr>
        <p:grpSpPr>
          <a:xfrm>
            <a:off x="767702" y="2270279"/>
            <a:ext cx="2527420" cy="477995"/>
            <a:chOff x="786326" y="2270279"/>
            <a:chExt cx="2527420" cy="477995"/>
          </a:xfrm>
        </p:grpSpPr>
        <p:sp>
          <p:nvSpPr>
            <p:cNvPr id="188" name="모서리가 둥근 직사각형 187"/>
            <p:cNvSpPr/>
            <p:nvPr/>
          </p:nvSpPr>
          <p:spPr>
            <a:xfrm>
              <a:off x="786326" y="2481707"/>
              <a:ext cx="2527420" cy="266567"/>
            </a:xfrm>
            <a:prstGeom prst="roundRect">
              <a:avLst>
                <a:gd name="adj" fmla="val 5000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9" name="타원 188"/>
            <p:cNvSpPr/>
            <p:nvPr/>
          </p:nvSpPr>
          <p:spPr>
            <a:xfrm>
              <a:off x="3071451"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0" name="TextBox 189">
              <a:extLst>
                <a:ext uri="{FF2B5EF4-FFF2-40B4-BE49-F238E27FC236}">
                  <a16:creationId xmlns:a16="http://schemas.microsoft.com/office/drawing/2014/main" id="{FFC49AEA-2A8F-250C-A86A-A7751D9706C3}"/>
                </a:ext>
              </a:extLst>
            </p:cNvPr>
            <p:cNvSpPr txBox="1"/>
            <p:nvPr/>
          </p:nvSpPr>
          <p:spPr>
            <a:xfrm>
              <a:off x="890013" y="2561129"/>
              <a:ext cx="1886364" cy="107722"/>
            </a:xfrm>
            <a:prstGeom prst="rect">
              <a:avLst/>
            </a:prstGeom>
            <a:noFill/>
          </p:spPr>
          <p:txBody>
            <a:bodyPr wrap="square" lIns="0" tIns="0" rIns="0" bIns="0" rtlCol="0">
              <a:spAutoFit/>
            </a:bodyPr>
            <a:lstStyle/>
            <a:p>
              <a:r>
                <a:rPr lang="ko-KR" altLang="en-US" sz="700" dirty="0">
                  <a:solidFill>
                    <a:schemeClr val="bg1">
                      <a:lumMod val="50000"/>
                    </a:schemeClr>
                  </a:solidFill>
                  <a:latin typeface="+mn-ea"/>
                </a:rPr>
                <a:t>검색할 내용을 입력하세요</a:t>
              </a:r>
              <a:r>
                <a:rPr lang="en-US" altLang="ko-KR" sz="700" dirty="0">
                  <a:solidFill>
                    <a:schemeClr val="bg1">
                      <a:lumMod val="50000"/>
                    </a:schemeClr>
                  </a:solidFill>
                  <a:latin typeface="+mn-ea"/>
                </a:rPr>
                <a:t>.</a:t>
              </a:r>
              <a:endParaRPr lang="ko-KR" altLang="en-US" sz="700" dirty="0">
                <a:solidFill>
                  <a:schemeClr val="bg1">
                    <a:lumMod val="50000"/>
                  </a:schemeClr>
                </a:solidFill>
                <a:latin typeface="+mn-ea"/>
              </a:endParaRPr>
            </a:p>
          </p:txBody>
        </p:sp>
        <p:grpSp>
          <p:nvGrpSpPr>
            <p:cNvPr id="191" name="그룹 190"/>
            <p:cNvGrpSpPr/>
            <p:nvPr/>
          </p:nvGrpSpPr>
          <p:grpSpPr>
            <a:xfrm>
              <a:off x="795624" y="2274581"/>
              <a:ext cx="1299303" cy="155984"/>
              <a:chOff x="808107" y="2288229"/>
              <a:chExt cx="1189739" cy="168318"/>
            </a:xfrm>
          </p:grpSpPr>
          <p:sp>
            <p:nvSpPr>
              <p:cNvPr id="198" name="사각형: 둥근 모서리 31">
                <a:extLst>
                  <a:ext uri="{FF2B5EF4-FFF2-40B4-BE49-F238E27FC236}">
                    <a16:creationId xmlns:a16="http://schemas.microsoft.com/office/drawing/2014/main" id="{2AC143EE-93CF-3518-F0CB-8469E98507E0}"/>
                  </a:ext>
                </a:extLst>
              </p:cNvPr>
              <p:cNvSpPr/>
              <p:nvPr/>
            </p:nvSpPr>
            <p:spPr>
              <a:xfrm>
                <a:off x="808107" y="2288229"/>
                <a:ext cx="563494" cy="168318"/>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공고명</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99" name="사각형: 둥근 모서리 31">
                <a:extLst>
                  <a:ext uri="{FF2B5EF4-FFF2-40B4-BE49-F238E27FC236}">
                    <a16:creationId xmlns:a16="http://schemas.microsoft.com/office/drawing/2014/main" id="{2AC143EE-93CF-3518-F0CB-8469E98507E0}"/>
                  </a:ext>
                </a:extLst>
              </p:cNvPr>
              <p:cNvSpPr/>
              <p:nvPr/>
            </p:nvSpPr>
            <p:spPr>
              <a:xfrm>
                <a:off x="1434352" y="2288229"/>
                <a:ext cx="563494" cy="168318"/>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공고번호</a:t>
                </a:r>
                <a:endParaRPr kumimoji="1" lang="en-US" sz="800" b="0" i="0" u="none" strike="noStrike" kern="0" cap="none" spc="0" normalizeH="0" baseline="0" noProof="0" dirty="0">
                  <a:ln>
                    <a:noFill/>
                  </a:ln>
                  <a:effectLst/>
                  <a:uLnTx/>
                  <a:uFillTx/>
                  <a:latin typeface="맑은 고딕"/>
                </a:endParaRPr>
              </a:p>
            </p:txBody>
          </p:sp>
        </p:grpSp>
        <p:sp>
          <p:nvSpPr>
            <p:cNvPr id="192" name="타원 191"/>
            <p:cNvSpPr/>
            <p:nvPr/>
          </p:nvSpPr>
          <p:spPr>
            <a:xfrm>
              <a:off x="814969" y="2290708"/>
              <a:ext cx="108000" cy="108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dirty="0"/>
                <a:t>V</a:t>
              </a:r>
              <a:endParaRPr lang="ko-KR" altLang="en-US" sz="600" dirty="0"/>
            </a:p>
          </p:txBody>
        </p:sp>
        <p:sp>
          <p:nvSpPr>
            <p:cNvPr id="193" name="사각형: 둥근 모서리 31">
              <a:extLst>
                <a:ext uri="{FF2B5EF4-FFF2-40B4-BE49-F238E27FC236}">
                  <a16:creationId xmlns:a16="http://schemas.microsoft.com/office/drawing/2014/main" id="{2AC143EE-93CF-3518-F0CB-8469E98507E0}"/>
                </a:ext>
              </a:extLst>
            </p:cNvPr>
            <p:cNvSpPr/>
            <p:nvPr/>
          </p:nvSpPr>
          <p:spPr>
            <a:xfrm>
              <a:off x="2726021" y="2270279"/>
              <a:ext cx="582849" cy="154795"/>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검색필터</a:t>
              </a:r>
              <a:endParaRPr kumimoji="1" lang="en-US" sz="800" b="0" i="0" u="none" strike="noStrike" kern="0" cap="none" spc="0" normalizeH="0" baseline="0" noProof="0" dirty="0">
                <a:ln>
                  <a:noFill/>
                </a:ln>
                <a:effectLst/>
                <a:uLnTx/>
                <a:uFillTx/>
                <a:latin typeface="맑은 고딕"/>
              </a:endParaRPr>
            </a:p>
          </p:txBody>
        </p:sp>
        <p:sp>
          <p:nvSpPr>
            <p:cNvPr id="194" name="타원 193"/>
            <p:cNvSpPr/>
            <p:nvPr/>
          </p:nvSpPr>
          <p:spPr>
            <a:xfrm>
              <a:off x="2857726"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5" name="그룹 194"/>
            <p:cNvGrpSpPr/>
            <p:nvPr/>
          </p:nvGrpSpPr>
          <p:grpSpPr>
            <a:xfrm>
              <a:off x="2901631" y="2585953"/>
              <a:ext cx="58075" cy="58074"/>
              <a:chOff x="6812560" y="3297172"/>
              <a:chExt cx="94010" cy="94010"/>
            </a:xfrm>
          </p:grpSpPr>
          <p:cxnSp>
            <p:nvCxnSpPr>
              <p:cNvPr id="196" name="직선 연결선 19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97" name="직선 연결선 19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421891478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검색필터</a:t>
            </a:r>
            <a:r>
              <a:rPr lang="ko-KR" altLang="en-US" dirty="0"/>
              <a:t> 페이지 타이틀</a:t>
            </a:r>
            <a:r>
              <a:rPr lang="en-US" altLang="ko-KR" dirty="0"/>
              <a:t/>
            </a:r>
            <a:br>
              <a:rPr lang="en-US" altLang="ko-KR" dirty="0"/>
            </a:br>
            <a:r>
              <a:rPr lang="en-US" altLang="ko-KR" dirty="0"/>
              <a:t>- </a:t>
            </a:r>
            <a:r>
              <a:rPr lang="ko-KR" altLang="en-US" dirty="0"/>
              <a:t>초기화</a:t>
            </a:r>
            <a:r>
              <a:rPr lang="en-US" altLang="ko-KR" dirty="0"/>
              <a:t>, </a:t>
            </a:r>
            <a:r>
              <a:rPr lang="ko-KR" altLang="en-US" dirty="0"/>
              <a:t>닫기 버튼</a:t>
            </a:r>
            <a:endParaRPr lang="en-US" altLang="ko-KR" dirty="0"/>
          </a:p>
          <a:p>
            <a:pPr marL="228600" indent="-228600">
              <a:buFont typeface="+mj-lt"/>
              <a:buAutoNum type="arabicPeriod"/>
            </a:pPr>
            <a:r>
              <a:rPr lang="ko-KR" altLang="en-US" dirty="0"/>
              <a:t>업무 구분</a:t>
            </a:r>
            <a:r>
              <a:rPr lang="en-US" altLang="ko-KR" dirty="0"/>
              <a:t/>
            </a:r>
            <a:br>
              <a:rPr lang="en-US" altLang="ko-KR" dirty="0"/>
            </a:br>
            <a:r>
              <a:rPr lang="en-US" altLang="ko-KR" dirty="0"/>
              <a:t>- </a:t>
            </a:r>
            <a:r>
              <a:rPr lang="ko-KR" altLang="en-US" dirty="0"/>
              <a:t>전체 및 세부 항목 표시</a:t>
            </a:r>
            <a:r>
              <a:rPr lang="en-US" altLang="ko-KR" dirty="0"/>
              <a:t/>
            </a:r>
            <a:br>
              <a:rPr lang="en-US" altLang="ko-KR" dirty="0"/>
            </a:br>
            <a:r>
              <a:rPr lang="en-US" altLang="ko-KR" dirty="0"/>
              <a:t>- </a:t>
            </a:r>
            <a:r>
              <a:rPr lang="ko-KR" altLang="en-US" dirty="0"/>
              <a:t>항목별 </a:t>
            </a:r>
            <a:r>
              <a:rPr lang="ko-KR" altLang="en-US" dirty="0" err="1"/>
              <a:t>개수표시</a:t>
            </a:r>
            <a:r>
              <a:rPr lang="en-US" altLang="ko-KR" dirty="0"/>
              <a:t/>
            </a:r>
            <a:br>
              <a:rPr lang="en-US" altLang="ko-KR" dirty="0"/>
            </a:br>
            <a:r>
              <a:rPr lang="en-US" altLang="ko-KR" dirty="0"/>
              <a:t>- </a:t>
            </a:r>
            <a:r>
              <a:rPr lang="ko-KR" altLang="en-US" dirty="0"/>
              <a:t>전체가 아닌 경우</a:t>
            </a:r>
            <a:r>
              <a:rPr lang="en-US" altLang="ko-KR" dirty="0"/>
              <a:t/>
            </a:r>
            <a:br>
              <a:rPr lang="en-US" altLang="ko-KR" dirty="0"/>
            </a:br>
            <a:r>
              <a:rPr lang="en-US" altLang="ko-KR" dirty="0"/>
              <a:t>  &gt; </a:t>
            </a:r>
            <a:r>
              <a:rPr lang="ko-KR" altLang="en-US" dirty="0"/>
              <a:t>나머지 중에서 최소 </a:t>
            </a:r>
            <a:r>
              <a:rPr lang="en-US" altLang="ko-KR" dirty="0"/>
              <a:t>1</a:t>
            </a:r>
            <a:r>
              <a:rPr lang="ko-KR" altLang="en-US" dirty="0"/>
              <a:t>개 이상 선택 필요</a:t>
            </a:r>
            <a:r>
              <a:rPr lang="en-US" altLang="ko-KR" dirty="0"/>
              <a:t/>
            </a:r>
            <a:br>
              <a:rPr lang="en-US" altLang="ko-KR" dirty="0"/>
            </a:br>
            <a:r>
              <a:rPr lang="en-US" altLang="ko-KR" dirty="0"/>
              <a:t>  &gt; </a:t>
            </a:r>
            <a:r>
              <a:rPr lang="ko-KR" altLang="en-US" dirty="0"/>
              <a:t>물품</a:t>
            </a:r>
            <a:r>
              <a:rPr lang="en-US" altLang="ko-KR" dirty="0"/>
              <a:t>, </a:t>
            </a:r>
            <a:r>
              <a:rPr lang="ko-KR" altLang="en-US" dirty="0"/>
              <a:t>용역</a:t>
            </a:r>
            <a:r>
              <a:rPr lang="en-US" altLang="ko-KR" dirty="0"/>
              <a:t>, </a:t>
            </a:r>
            <a:r>
              <a:rPr lang="ko-KR" altLang="en-US" dirty="0"/>
              <a:t>공사</a:t>
            </a:r>
            <a:r>
              <a:rPr lang="en-US" altLang="ko-KR" dirty="0"/>
              <a:t>, </a:t>
            </a:r>
            <a:r>
              <a:rPr lang="ko-KR" altLang="en-US" dirty="0"/>
              <a:t>국외 모두 개별 선택 시 </a:t>
            </a:r>
            <a:r>
              <a:rPr lang="en-US" altLang="ko-KR" dirty="0">
                <a:sym typeface="Wingdings" panose="05000000000000000000" pitchFamily="2" charset="2"/>
              </a:rPr>
              <a:t> </a:t>
            </a:r>
            <a:r>
              <a:rPr lang="ko-KR" altLang="en-US" dirty="0">
                <a:sym typeface="Wingdings" panose="05000000000000000000" pitchFamily="2" charset="2"/>
              </a:rPr>
              <a:t>전체 활성화</a:t>
            </a:r>
            <a:endParaRPr lang="en-US" altLang="ko-KR" dirty="0"/>
          </a:p>
          <a:p>
            <a:pPr marL="228600" indent="-228600">
              <a:buFont typeface="+mj-lt"/>
              <a:buAutoNum type="arabicPeriod"/>
            </a:pPr>
            <a:r>
              <a:rPr lang="ko-KR" altLang="en-US" dirty="0"/>
              <a:t>일자 설정</a:t>
            </a:r>
            <a:r>
              <a:rPr lang="en-US" altLang="ko-KR" dirty="0"/>
              <a:t/>
            </a:r>
            <a:br>
              <a:rPr lang="en-US" altLang="ko-KR" dirty="0"/>
            </a:br>
            <a:r>
              <a:rPr lang="en-US" altLang="ko-KR" dirty="0"/>
              <a:t>- </a:t>
            </a:r>
            <a:r>
              <a:rPr lang="ko-KR" altLang="en-US" dirty="0" err="1"/>
              <a:t>개찰일자</a:t>
            </a:r>
            <a:r>
              <a:rPr lang="en-US" altLang="ko-KR" dirty="0"/>
              <a:t>, </a:t>
            </a:r>
            <a:r>
              <a:rPr lang="ko-KR" altLang="en-US" dirty="0" err="1"/>
              <a:t>협상일자</a:t>
            </a:r>
            <a:r>
              <a:rPr lang="ko-KR" altLang="en-US" dirty="0">
                <a:solidFill>
                  <a:srgbClr val="FF0000"/>
                </a:solidFill>
              </a:rPr>
              <a:t> </a:t>
            </a:r>
            <a:r>
              <a:rPr lang="ko-KR" altLang="en-US" dirty="0" err="1"/>
              <a:t>토글</a:t>
            </a:r>
            <a:r>
              <a:rPr lang="ko-KR" altLang="en-US" dirty="0"/>
              <a:t> 스위치</a:t>
            </a:r>
            <a:r>
              <a:rPr lang="en-US" altLang="ko-KR" dirty="0"/>
              <a:t/>
            </a:r>
            <a:br>
              <a:rPr lang="en-US" altLang="ko-KR" dirty="0"/>
            </a:br>
            <a:r>
              <a:rPr lang="en-US" altLang="ko-KR" dirty="0"/>
              <a:t>- </a:t>
            </a:r>
            <a:r>
              <a:rPr lang="ko-KR" altLang="en-US" dirty="0"/>
              <a:t>직접 입력 가능</a:t>
            </a:r>
            <a:r>
              <a:rPr lang="en-US" altLang="ko-KR" dirty="0"/>
              <a:t/>
            </a:r>
            <a:br>
              <a:rPr lang="en-US" altLang="ko-KR" dirty="0"/>
            </a:br>
            <a:r>
              <a:rPr lang="en-US" altLang="ko-KR" dirty="0"/>
              <a:t>- </a:t>
            </a:r>
            <a:r>
              <a:rPr lang="ko-KR" altLang="en-US" dirty="0"/>
              <a:t>아이콘 </a:t>
            </a:r>
            <a:r>
              <a:rPr lang="en-US" altLang="ko-KR" dirty="0">
                <a:sym typeface="Wingdings" panose="05000000000000000000" pitchFamily="2" charset="2"/>
              </a:rPr>
              <a:t> </a:t>
            </a:r>
            <a:r>
              <a:rPr lang="ko-KR" altLang="en-US" dirty="0">
                <a:sym typeface="Wingdings" panose="05000000000000000000" pitchFamily="2" charset="2"/>
              </a:rPr>
              <a:t>데이트 </a:t>
            </a:r>
            <a:r>
              <a:rPr lang="ko-KR" altLang="en-US" dirty="0" err="1">
                <a:sym typeface="Wingdings" panose="05000000000000000000" pitchFamily="2" charset="2"/>
              </a:rPr>
              <a:t>피커</a:t>
            </a:r>
            <a:r>
              <a:rPr lang="ko-KR" altLang="en-US" dirty="0">
                <a:sym typeface="Wingdings" panose="05000000000000000000" pitchFamily="2" charset="2"/>
              </a:rPr>
              <a:t> 호출</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지정 설정으로 날짜 즉시 업데이트</a:t>
            </a:r>
            <a:endParaRPr lang="en-US" altLang="ko-KR" dirty="0">
              <a:sym typeface="Wingdings" panose="05000000000000000000" pitchFamily="2" charset="2"/>
            </a:endParaRPr>
          </a:p>
          <a:p>
            <a:pPr marL="228600" indent="-228600">
              <a:buFont typeface="+mj-lt"/>
              <a:buAutoNum type="arabicPeriod"/>
            </a:pPr>
            <a:r>
              <a:rPr lang="ko-KR" altLang="en-US" dirty="0" err="1">
                <a:sym typeface="Wingdings" panose="05000000000000000000" pitchFamily="2" charset="2"/>
              </a:rPr>
              <a:t>검색어</a:t>
            </a:r>
            <a:r>
              <a:rPr lang="ko-KR" altLang="en-US" dirty="0">
                <a:sym typeface="Wingdings" panose="05000000000000000000" pitchFamily="2" charset="2"/>
              </a:rPr>
              <a:t> 영역</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사용자가 입력하고자 하는 내역만 입력 후 검색 가능</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번호 검색은 </a:t>
            </a:r>
            <a:r>
              <a:rPr lang="ko-KR" altLang="en-US" dirty="0" err="1">
                <a:sym typeface="Wingdings" panose="05000000000000000000" pitchFamily="2" charset="2"/>
              </a:rPr>
              <a:t>공고번호</a:t>
            </a:r>
            <a:r>
              <a:rPr lang="en-US" altLang="ko-KR" dirty="0">
                <a:sym typeface="Wingdings" panose="05000000000000000000" pitchFamily="2" charset="2"/>
              </a:rPr>
              <a:t>, </a:t>
            </a:r>
            <a:r>
              <a:rPr lang="ko-KR" altLang="en-US" dirty="0" err="1">
                <a:sym typeface="Wingdings" panose="05000000000000000000" pitchFamily="2" charset="2"/>
              </a:rPr>
              <a:t>통합참조</a:t>
            </a:r>
            <a:r>
              <a:rPr lang="ko-KR" altLang="en-US" dirty="0">
                <a:sym typeface="Wingdings" panose="05000000000000000000" pitchFamily="2" charset="2"/>
              </a:rPr>
              <a:t> 번호 </a:t>
            </a:r>
            <a:r>
              <a:rPr lang="ko-KR" altLang="en-US" dirty="0" err="1">
                <a:sym typeface="Wingdings" panose="05000000000000000000" pitchFamily="2" charset="2"/>
              </a:rPr>
              <a:t>토글</a:t>
            </a:r>
            <a:r>
              <a:rPr lang="ko-KR" altLang="en-US" dirty="0">
                <a:sym typeface="Wingdings" panose="05000000000000000000" pitchFamily="2" charset="2"/>
              </a:rPr>
              <a:t> 스위치로 설정</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지역 검색은 팝업을 통해 주소 검색 및 반영 </a:t>
            </a:r>
            <a:r>
              <a:rPr lang="en-US" altLang="ko-KR" dirty="0">
                <a:sym typeface="Wingdings" panose="05000000000000000000" pitchFamily="2" charset="2"/>
              </a:rPr>
              <a:t>(</a:t>
            </a:r>
            <a:r>
              <a:rPr lang="ko-KR" altLang="en-US" dirty="0" err="1">
                <a:sym typeface="Wingdings" panose="05000000000000000000" pitchFamily="2" charset="2"/>
              </a:rPr>
              <a:t>시군구까지</a:t>
            </a:r>
            <a:r>
              <a:rPr lang="ko-KR" altLang="en-US" dirty="0">
                <a:sym typeface="Wingdings" panose="05000000000000000000" pitchFamily="2" charset="2"/>
              </a:rPr>
              <a:t> 검색</a:t>
            </a:r>
            <a:r>
              <a:rPr lang="en-US" altLang="ko-KR" dirty="0">
                <a:sym typeface="Wingdings" panose="05000000000000000000" pitchFamily="2" charset="2"/>
              </a:rPr>
              <a:t>)</a:t>
            </a:r>
          </a:p>
          <a:p>
            <a:pPr marL="228600" indent="-228600">
              <a:buFont typeface="+mj-lt"/>
              <a:buAutoNum type="arabicPeriod"/>
            </a:pPr>
            <a:r>
              <a:rPr lang="ko-KR" altLang="en-US" dirty="0">
                <a:sym typeface="Wingdings" panose="05000000000000000000" pitchFamily="2" charset="2"/>
              </a:rPr>
              <a:t>구분 설정</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드롭 다운으로 각 </a:t>
            </a:r>
            <a:r>
              <a:rPr lang="ko-KR" altLang="en-US" dirty="0" err="1">
                <a:sym typeface="Wingdings" panose="05000000000000000000" pitchFamily="2" charset="2"/>
              </a:rPr>
              <a:t>구분값</a:t>
            </a:r>
            <a:r>
              <a:rPr lang="ko-KR" altLang="en-US" dirty="0">
                <a:sym typeface="Wingdings" panose="05000000000000000000" pitchFamily="2" charset="2"/>
              </a:rPr>
              <a:t> 설정</a:t>
            </a:r>
            <a:endParaRPr lang="en-US" altLang="ko-KR" dirty="0">
              <a:sym typeface="Wingdings" panose="05000000000000000000" pitchFamily="2" charset="2"/>
            </a:endParaRPr>
          </a:p>
          <a:p>
            <a:pPr marL="228600" indent="-228600">
              <a:buFont typeface="+mj-lt"/>
              <a:buAutoNum type="arabicPeriod"/>
            </a:pPr>
            <a:r>
              <a:rPr lang="ko-KR" altLang="en-US" dirty="0">
                <a:sym typeface="Wingdings" panose="05000000000000000000" pitchFamily="2" charset="2"/>
              </a:rPr>
              <a:t>가격 설정</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사용자 입력</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좌측이 낮은 값</a:t>
            </a:r>
            <a:r>
              <a:rPr lang="en-US" altLang="ko-KR" dirty="0">
                <a:sym typeface="Wingdings" panose="05000000000000000000" pitchFamily="2" charset="2"/>
              </a:rPr>
              <a:t>, </a:t>
            </a:r>
            <a:r>
              <a:rPr lang="ko-KR" altLang="en-US" dirty="0">
                <a:sym typeface="Wingdings" panose="05000000000000000000" pitchFamily="2" charset="2"/>
              </a:rPr>
              <a:t>우측이 높은 값</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다이얼을 통한 입력 </a:t>
            </a:r>
            <a:r>
              <a:rPr lang="en-US" altLang="ko-KR" dirty="0">
                <a:sym typeface="Wingdings" panose="05000000000000000000" pitchFamily="2" charset="2"/>
              </a:rPr>
              <a:t>(</a:t>
            </a:r>
            <a:r>
              <a:rPr lang="ko-KR" altLang="en-US" dirty="0">
                <a:sym typeface="Wingdings" panose="05000000000000000000" pitchFamily="2" charset="2"/>
              </a:rPr>
              <a:t>최소값 </a:t>
            </a:r>
            <a:r>
              <a:rPr lang="en-US" altLang="ko-KR" dirty="0">
                <a:sym typeface="Wingdings" panose="05000000000000000000" pitchFamily="2" charset="2"/>
              </a:rPr>
              <a:t>100</a:t>
            </a:r>
            <a:r>
              <a:rPr lang="ko-KR" altLang="en-US" dirty="0">
                <a:sym typeface="Wingdings" panose="05000000000000000000" pitchFamily="2" charset="2"/>
              </a:rPr>
              <a:t>만</a:t>
            </a:r>
            <a:r>
              <a:rPr lang="en-US" altLang="ko-KR" dirty="0">
                <a:sym typeface="Wingdings" panose="05000000000000000000" pitchFamily="2" charset="2"/>
              </a:rPr>
              <a:t>)</a:t>
            </a:r>
          </a:p>
          <a:p>
            <a:pPr marL="228600" indent="-228600">
              <a:buFont typeface="+mj-lt"/>
              <a:buAutoNum type="arabicPeriod"/>
            </a:pPr>
            <a:r>
              <a:rPr lang="ko-KR" altLang="en-US" dirty="0">
                <a:sym typeface="Wingdings" panose="05000000000000000000" pitchFamily="2" charset="2"/>
              </a:rPr>
              <a:t>신기술 여부</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기본값</a:t>
            </a:r>
            <a:r>
              <a:rPr lang="en-US" altLang="ko-KR" dirty="0">
                <a:sym typeface="Wingdings" panose="05000000000000000000" pitchFamily="2" charset="2"/>
              </a:rPr>
              <a:t>: </a:t>
            </a:r>
            <a:r>
              <a:rPr lang="ko-KR" altLang="en-US" dirty="0">
                <a:sym typeface="Wingdings" panose="05000000000000000000" pitchFamily="2" charset="2"/>
              </a:rPr>
              <a:t>아니오</a:t>
            </a:r>
            <a:endParaRPr lang="en-US" altLang="ko-KR" dirty="0">
              <a:sym typeface="Wingdings" panose="05000000000000000000" pitchFamily="2" charset="2"/>
            </a:endParaRPr>
          </a:p>
          <a:p>
            <a:pPr marL="228600" indent="-228600">
              <a:buFont typeface="+mj-lt"/>
              <a:buAutoNum type="arabicPeriod"/>
            </a:pPr>
            <a:r>
              <a:rPr lang="ko-KR" altLang="en-US" dirty="0">
                <a:sym typeface="Wingdings" panose="05000000000000000000" pitchFamily="2" charset="2"/>
              </a:rPr>
              <a:t>검색 버튼 영역은 화면 하단 </a:t>
            </a:r>
            <a:r>
              <a:rPr lang="ko-KR" altLang="en-US" dirty="0" err="1">
                <a:sym typeface="Wingdings" panose="05000000000000000000" pitchFamily="2" charset="2"/>
              </a:rPr>
              <a:t>플로팅</a:t>
            </a:r>
            <a:r>
              <a:rPr lang="ko-KR" altLang="en-US" dirty="0">
                <a:sym typeface="Wingdings" panose="05000000000000000000" pitchFamily="2" charset="2"/>
              </a:rPr>
              <a:t> 처리</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143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검색 필터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공고와 동일한 검색 필터로 상세 검색을 위한 검색 필터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latin typeface="+mn-ea"/>
              </a:rPr>
              <a:t>검색 필터</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MUI-BD-08-M02</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3795734"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5" name="그룹 84"/>
          <p:cNvGrpSpPr/>
          <p:nvPr/>
        </p:nvGrpSpPr>
        <p:grpSpPr>
          <a:xfrm>
            <a:off x="6258712" y="1650089"/>
            <a:ext cx="94010" cy="94010"/>
            <a:chOff x="6812560" y="3297172"/>
            <a:chExt cx="94010" cy="94010"/>
          </a:xfrm>
        </p:grpSpPr>
        <p:cxnSp>
          <p:nvCxnSpPr>
            <p:cNvPr id="86" name="직선 연결선 85"/>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87" name="직선 연결선 86"/>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88" name="타원 87"/>
          <p:cNvSpPr/>
          <p:nvPr/>
        </p:nvSpPr>
        <p:spPr>
          <a:xfrm>
            <a:off x="5893434"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3898850"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91" name="TextBox 90">
            <a:extLst>
              <a:ext uri="{FF2B5EF4-FFF2-40B4-BE49-F238E27FC236}">
                <a16:creationId xmlns:a16="http://schemas.microsoft.com/office/drawing/2014/main" id="{FFC49AEA-2A8F-250C-A86A-A7751D9706C3}"/>
              </a:ext>
            </a:extLst>
          </p:cNvPr>
          <p:cNvSpPr txBox="1"/>
          <p:nvPr/>
        </p:nvSpPr>
        <p:spPr>
          <a:xfrm>
            <a:off x="5567792"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16" name="타원 115">
            <a:extLst>
              <a:ext uri="{FF2B5EF4-FFF2-40B4-BE49-F238E27FC236}">
                <a16:creationId xmlns:a16="http://schemas.microsoft.com/office/drawing/2014/main" id="{37A7FF4F-0EAA-1463-560A-D5EC24416103}"/>
              </a:ext>
            </a:extLst>
          </p:cNvPr>
          <p:cNvSpPr/>
          <p:nvPr/>
        </p:nvSpPr>
        <p:spPr>
          <a:xfrm>
            <a:off x="3694089" y="1970873"/>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5</a:t>
            </a:r>
            <a:endParaRPr lang="ko-KR" altLang="en-US" sz="1200" dirty="0"/>
          </a:p>
        </p:txBody>
      </p:sp>
      <p:sp>
        <p:nvSpPr>
          <p:cNvPr id="117" name="타원 116">
            <a:extLst>
              <a:ext uri="{FF2B5EF4-FFF2-40B4-BE49-F238E27FC236}">
                <a16:creationId xmlns:a16="http://schemas.microsoft.com/office/drawing/2014/main" id="{37A7FF4F-0EAA-1463-560A-D5EC24416103}"/>
              </a:ext>
            </a:extLst>
          </p:cNvPr>
          <p:cNvSpPr/>
          <p:nvPr/>
        </p:nvSpPr>
        <p:spPr>
          <a:xfrm>
            <a:off x="3694089" y="4236955"/>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6</a:t>
            </a:r>
            <a:endParaRPr lang="ko-KR" altLang="en-US" sz="1200" dirty="0"/>
          </a:p>
        </p:txBody>
      </p:sp>
      <p:sp>
        <p:nvSpPr>
          <p:cNvPr id="120" name="타원 119">
            <a:extLst>
              <a:ext uri="{FF2B5EF4-FFF2-40B4-BE49-F238E27FC236}">
                <a16:creationId xmlns:a16="http://schemas.microsoft.com/office/drawing/2014/main" id="{37A7FF4F-0EAA-1463-560A-D5EC24416103}"/>
              </a:ext>
            </a:extLst>
          </p:cNvPr>
          <p:cNvSpPr/>
          <p:nvPr/>
        </p:nvSpPr>
        <p:spPr>
          <a:xfrm>
            <a:off x="3694089" y="4993453"/>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7</a:t>
            </a:r>
            <a:endParaRPr lang="ko-KR" altLang="en-US" sz="1200"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8" name="TextBox 127">
            <a:extLst>
              <a:ext uri="{FF2B5EF4-FFF2-40B4-BE49-F238E27FC236}">
                <a16:creationId xmlns:a16="http://schemas.microsoft.com/office/drawing/2014/main" id="{FFC49AEA-2A8F-250C-A86A-A7751D9706C3}"/>
              </a:ext>
            </a:extLst>
          </p:cNvPr>
          <p:cNvSpPr txBox="1"/>
          <p:nvPr/>
        </p:nvSpPr>
        <p:spPr>
          <a:xfrm>
            <a:off x="778515" y="1995937"/>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업무구분</a:t>
            </a:r>
            <a:endParaRPr lang="ko-KR" altLang="en-US" sz="700" b="1"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941620" y="2226095"/>
            <a:ext cx="2305144" cy="1077218"/>
          </a:xfrm>
          <a:prstGeom prst="rect">
            <a:avLst/>
          </a:prstGeom>
          <a:noFill/>
        </p:spPr>
        <p:txBody>
          <a:bodyPr wrap="square" lIns="0" tIns="0" rIns="0" bIns="0" rtlCol="0">
            <a:spAutoFit/>
          </a:bodyPr>
          <a:lstStyle/>
          <a:p>
            <a:pPr>
              <a:lnSpc>
                <a:spcPct val="200000"/>
              </a:lnSpc>
            </a:pPr>
            <a:r>
              <a:rPr lang="ko-KR" altLang="en-US" sz="700" dirty="0">
                <a:latin typeface="+mn-ea"/>
              </a:rPr>
              <a:t>전체</a:t>
            </a:r>
            <a:endParaRPr lang="en-US" altLang="ko-KR" sz="700" dirty="0">
              <a:latin typeface="+mn-ea"/>
            </a:endParaRPr>
          </a:p>
          <a:p>
            <a:pPr>
              <a:lnSpc>
                <a:spcPct val="200000"/>
              </a:lnSpc>
            </a:pPr>
            <a:r>
              <a:rPr lang="ko-KR" altLang="en-US" sz="700" dirty="0">
                <a:latin typeface="+mn-ea"/>
              </a:rPr>
              <a:t>물품</a:t>
            </a:r>
            <a:endParaRPr lang="en-US" altLang="ko-KR" sz="700" dirty="0">
              <a:latin typeface="+mn-ea"/>
            </a:endParaRPr>
          </a:p>
          <a:p>
            <a:pPr>
              <a:lnSpc>
                <a:spcPct val="200000"/>
              </a:lnSpc>
            </a:pPr>
            <a:r>
              <a:rPr lang="ko-KR" altLang="en-US" sz="700" dirty="0">
                <a:latin typeface="+mn-ea"/>
              </a:rPr>
              <a:t>용역</a:t>
            </a:r>
            <a:endParaRPr lang="en-US" altLang="ko-KR" sz="700" dirty="0">
              <a:latin typeface="+mn-ea"/>
            </a:endParaRPr>
          </a:p>
          <a:p>
            <a:pPr>
              <a:lnSpc>
                <a:spcPct val="200000"/>
              </a:lnSpc>
            </a:pPr>
            <a:r>
              <a:rPr lang="ko-KR" altLang="en-US" sz="700" dirty="0">
                <a:latin typeface="+mn-ea"/>
              </a:rPr>
              <a:t>공사</a:t>
            </a:r>
            <a:endParaRPr lang="en-US" altLang="ko-KR" sz="700" dirty="0">
              <a:latin typeface="+mn-ea"/>
            </a:endParaRPr>
          </a:p>
          <a:p>
            <a:pPr>
              <a:lnSpc>
                <a:spcPct val="200000"/>
              </a:lnSpc>
            </a:pPr>
            <a:r>
              <a:rPr lang="ko-KR" altLang="en-US" sz="700" dirty="0">
                <a:latin typeface="+mn-ea"/>
              </a:rPr>
              <a:t>국외</a:t>
            </a:r>
            <a:endParaRPr lang="en-US" altLang="ko-KR" sz="700" dirty="0">
              <a:latin typeface="+mn-ea"/>
            </a:endParaRPr>
          </a:p>
        </p:txBody>
      </p:sp>
      <p:sp>
        <p:nvSpPr>
          <p:cNvPr id="132" name="직사각형 131"/>
          <p:cNvSpPr/>
          <p:nvPr/>
        </p:nvSpPr>
        <p:spPr>
          <a:xfrm>
            <a:off x="772169" y="2292407"/>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직사각형 132"/>
          <p:cNvSpPr/>
          <p:nvPr/>
        </p:nvSpPr>
        <p:spPr>
          <a:xfrm>
            <a:off x="772169" y="2509633"/>
            <a:ext cx="107950" cy="107950"/>
          </a:xfrm>
          <a:prstGeom prst="rect">
            <a:avLst/>
          </a:prstGeom>
          <a:solidFill>
            <a:schemeClr val="accent1">
              <a:lumMod val="75000"/>
            </a:schemeClr>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4" name="그룹 133"/>
          <p:cNvGrpSpPr/>
          <p:nvPr/>
        </p:nvGrpSpPr>
        <p:grpSpPr>
          <a:xfrm flipV="1">
            <a:off x="3140949" y="2093627"/>
            <a:ext cx="91438" cy="45719"/>
            <a:chOff x="6812560" y="3297172"/>
            <a:chExt cx="94010" cy="47005"/>
          </a:xfrm>
        </p:grpSpPr>
        <p:cxnSp>
          <p:nvCxnSpPr>
            <p:cNvPr id="135" name="직선 연결선 1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6" name="직선 연결선 1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7" name="직사각형 136"/>
          <p:cNvSpPr/>
          <p:nvPr/>
        </p:nvSpPr>
        <p:spPr>
          <a:xfrm>
            <a:off x="772169" y="2706723"/>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직사각형 137"/>
          <p:cNvSpPr/>
          <p:nvPr/>
        </p:nvSpPr>
        <p:spPr>
          <a:xfrm>
            <a:off x="772169" y="2921384"/>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p:cNvSpPr/>
          <p:nvPr/>
        </p:nvSpPr>
        <p:spPr>
          <a:xfrm>
            <a:off x="772169" y="3133350"/>
            <a:ext cx="107950" cy="107950"/>
          </a:xfrm>
          <a:prstGeom prst="rect">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p:cNvSpPr txBox="1"/>
          <p:nvPr/>
        </p:nvSpPr>
        <p:spPr>
          <a:xfrm>
            <a:off x="712771" y="2471275"/>
            <a:ext cx="221536" cy="184666"/>
          </a:xfrm>
          <a:prstGeom prst="rect">
            <a:avLst/>
          </a:prstGeom>
          <a:noFill/>
        </p:spPr>
        <p:txBody>
          <a:bodyPr wrap="none" rtlCol="0">
            <a:spAutoFit/>
          </a:bodyPr>
          <a:lstStyle/>
          <a:p>
            <a:r>
              <a:rPr lang="en-US" altLang="ko-KR" sz="600" dirty="0">
                <a:solidFill>
                  <a:schemeClr val="bg1"/>
                </a:solidFill>
              </a:rPr>
              <a:t>v</a:t>
            </a:r>
            <a:endParaRPr lang="ko-KR" altLang="en-US" sz="600" dirty="0">
              <a:solidFill>
                <a:schemeClr val="bg1"/>
              </a:solidFill>
            </a:endParaRPr>
          </a:p>
        </p:txBody>
      </p:sp>
      <p:cxnSp>
        <p:nvCxnSpPr>
          <p:cNvPr id="143" name="직선 연결선 142">
            <a:extLst>
              <a:ext uri="{FF2B5EF4-FFF2-40B4-BE49-F238E27FC236}">
                <a16:creationId xmlns:a16="http://schemas.microsoft.com/office/drawing/2014/main" id="{E9293055-D5CD-4B9E-7F64-64B2D2CA7A52}"/>
              </a:ext>
            </a:extLst>
          </p:cNvPr>
          <p:cNvCxnSpPr/>
          <p:nvPr/>
        </p:nvCxnSpPr>
        <p:spPr>
          <a:xfrm>
            <a:off x="675399" y="339906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1592271"/>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1</a:t>
            </a:r>
            <a:endParaRPr lang="ko-KR" altLang="en-US" sz="1200" dirty="0"/>
          </a:p>
        </p:txBody>
      </p:sp>
      <p:sp>
        <p:nvSpPr>
          <p:cNvPr id="154" name="타원 153">
            <a:extLst>
              <a:ext uri="{FF2B5EF4-FFF2-40B4-BE49-F238E27FC236}">
                <a16:creationId xmlns:a16="http://schemas.microsoft.com/office/drawing/2014/main" id="{37A7FF4F-0EAA-1463-560A-D5EC24416103}"/>
              </a:ext>
            </a:extLst>
          </p:cNvPr>
          <p:cNvSpPr/>
          <p:nvPr/>
        </p:nvSpPr>
        <p:spPr>
          <a:xfrm>
            <a:off x="573754" y="2049192"/>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2</a:t>
            </a:r>
            <a:endParaRPr lang="ko-KR" altLang="en-US" sz="1200" dirty="0"/>
          </a:p>
        </p:txBody>
      </p:sp>
      <p:sp>
        <p:nvSpPr>
          <p:cNvPr id="155" name="타원 154">
            <a:extLst>
              <a:ext uri="{FF2B5EF4-FFF2-40B4-BE49-F238E27FC236}">
                <a16:creationId xmlns:a16="http://schemas.microsoft.com/office/drawing/2014/main" id="{37A7FF4F-0EAA-1463-560A-D5EC24416103}"/>
              </a:ext>
            </a:extLst>
          </p:cNvPr>
          <p:cNvSpPr/>
          <p:nvPr/>
        </p:nvSpPr>
        <p:spPr>
          <a:xfrm>
            <a:off x="573754" y="3508313"/>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3</a:t>
            </a:r>
            <a:endParaRPr lang="ko-KR" altLang="en-US" sz="1200" dirty="0"/>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778515" y="3490553"/>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일자 설정</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778515" y="3713091"/>
            <a:ext cx="670770" cy="430887"/>
          </a:xfrm>
          <a:prstGeom prst="rect">
            <a:avLst/>
          </a:prstGeom>
          <a:noFill/>
        </p:spPr>
        <p:txBody>
          <a:bodyPr wrap="square" lIns="0" tIns="0" rIns="0" bIns="0" rtlCol="0">
            <a:spAutoFit/>
          </a:bodyPr>
          <a:lstStyle/>
          <a:p>
            <a:pPr>
              <a:lnSpc>
                <a:spcPct val="200000"/>
              </a:lnSpc>
            </a:pPr>
            <a:r>
              <a:rPr lang="ko-KR" altLang="en-US" sz="700" dirty="0">
                <a:latin typeface="+mn-ea"/>
              </a:rPr>
              <a:t>일자 설정</a:t>
            </a:r>
            <a:endParaRPr lang="en-US" altLang="ko-KR" sz="700" dirty="0">
              <a:latin typeface="+mn-ea"/>
            </a:endParaRPr>
          </a:p>
          <a:p>
            <a:pPr>
              <a:lnSpc>
                <a:spcPct val="200000"/>
              </a:lnSpc>
            </a:pPr>
            <a:r>
              <a:rPr lang="ko-KR" altLang="en-US" sz="700" dirty="0">
                <a:latin typeface="+mn-ea"/>
              </a:rPr>
              <a:t>빠른 설정</a:t>
            </a:r>
            <a:endParaRPr lang="en-US" altLang="ko-KR" sz="700" dirty="0">
              <a:latin typeface="+mn-ea"/>
            </a:endParaRPr>
          </a:p>
        </p:txBody>
      </p:sp>
      <p:grpSp>
        <p:nvGrpSpPr>
          <p:cNvPr id="159" name="그룹 158"/>
          <p:cNvGrpSpPr/>
          <p:nvPr/>
        </p:nvGrpSpPr>
        <p:grpSpPr>
          <a:xfrm flipV="1">
            <a:off x="3140949" y="3588243"/>
            <a:ext cx="91438" cy="45719"/>
            <a:chOff x="6812560" y="3297172"/>
            <a:chExt cx="94010" cy="47005"/>
          </a:xfrm>
        </p:grpSpPr>
        <p:cxnSp>
          <p:nvCxnSpPr>
            <p:cNvPr id="160" name="직선 연결선 15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1" name="직선 연결선 1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모서리가 둥근 직사각형 172"/>
          <p:cNvSpPr/>
          <p:nvPr/>
        </p:nvSpPr>
        <p:spPr>
          <a:xfrm>
            <a:off x="1467218" y="3532735"/>
            <a:ext cx="606633" cy="149124"/>
          </a:xfrm>
          <a:prstGeom prst="roundRect">
            <a:avLst>
              <a:gd name="adj" fmla="val 50000"/>
            </a:avLst>
          </a:prstGeom>
          <a:solidFill>
            <a:schemeClr val="bg1">
              <a:lumMod val="50000"/>
            </a:schemeClr>
          </a:solidFill>
          <a:ln w="12700">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71" name="모서리가 둥근 직사각형 170"/>
          <p:cNvSpPr/>
          <p:nvPr/>
        </p:nvSpPr>
        <p:spPr>
          <a:xfrm>
            <a:off x="1467219" y="3532735"/>
            <a:ext cx="305007" cy="149124"/>
          </a:xfrm>
          <a:prstGeom prst="roundRect">
            <a:avLst>
              <a:gd name="adj" fmla="val 50000"/>
            </a:avLst>
          </a:prstGeom>
          <a:solidFill>
            <a:srgbClr val="0070C0"/>
          </a:solidFill>
          <a:ln w="12700" cap="flat" cmpd="sng" algn="ctr">
            <a:noFill/>
            <a:prstDash val="solid"/>
          </a:ln>
          <a:effectLst/>
        </p:spPr>
        <p:txBody>
          <a:bodyPr rtlCol="0" anchor="ctr"/>
          <a:lstStyle/>
          <a:p>
            <a:pPr algn="ctr" fontAlgn="base" latinLnBrk="0">
              <a:spcBef>
                <a:spcPct val="0"/>
              </a:spcBef>
              <a:spcAft>
                <a:spcPct val="0"/>
              </a:spcAft>
            </a:pPr>
            <a:endParaRPr kumimoji="1" lang="ko-KR" altLang="en-US" sz="800" kern="0">
              <a:solidFill>
                <a:prstClr val="white"/>
              </a:solidFill>
              <a:latin typeface="맑은 고딕"/>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1502989" y="3559275"/>
            <a:ext cx="233466"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개찰</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1793292" y="3559275"/>
            <a:ext cx="233466" cy="107722"/>
          </a:xfrm>
          <a:prstGeom prst="rect">
            <a:avLst/>
          </a:prstGeom>
          <a:noFill/>
        </p:spPr>
        <p:txBody>
          <a:bodyPr wrap="square" lIns="0" tIns="0" rIns="0" bIns="0" rtlCol="0">
            <a:spAutoFit/>
          </a:bodyPr>
          <a:lstStyle/>
          <a:p>
            <a:pPr algn="ctr"/>
            <a:r>
              <a:rPr lang="ko-KR" altLang="en-US" sz="700" dirty="0">
                <a:solidFill>
                  <a:schemeClr val="bg1"/>
                </a:solidFill>
                <a:latin typeface="+mn-ea"/>
              </a:rPr>
              <a:t>협상</a:t>
            </a:r>
          </a:p>
        </p:txBody>
      </p:sp>
      <p:grpSp>
        <p:nvGrpSpPr>
          <p:cNvPr id="176" name="그룹 175">
            <a:extLst>
              <a:ext uri="{FF2B5EF4-FFF2-40B4-BE49-F238E27FC236}">
                <a16:creationId xmlns:a16="http://schemas.microsoft.com/office/drawing/2014/main" id="{8F2F56C4-B606-212C-F131-A4A30AE19BC8}"/>
              </a:ext>
            </a:extLst>
          </p:cNvPr>
          <p:cNvGrpSpPr/>
          <p:nvPr/>
        </p:nvGrpSpPr>
        <p:grpSpPr>
          <a:xfrm>
            <a:off x="1464781" y="3740722"/>
            <a:ext cx="859319" cy="188244"/>
            <a:chOff x="5613534" y="2854836"/>
            <a:chExt cx="804671" cy="188244"/>
          </a:xfrm>
        </p:grpSpPr>
        <p:sp>
          <p:nvSpPr>
            <p:cNvPr id="181"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2025-10-15</a:t>
              </a:r>
              <a:endParaRPr kumimoji="1" lang="en-US" sz="700" b="0" i="0" u="none" strike="noStrike" kern="0" cap="none" spc="0" normalizeH="0" baseline="0" noProof="0" dirty="0">
                <a:ln>
                  <a:noFill/>
                </a:ln>
                <a:effectLst/>
                <a:uLnTx/>
                <a:uFillTx/>
                <a:latin typeface="맑은 고딕"/>
              </a:endParaRPr>
            </a:p>
          </p:txBody>
        </p:sp>
        <p:pic>
          <p:nvPicPr>
            <p:cNvPr id="182" name="그림 181">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sp>
        <p:nvSpPr>
          <p:cNvPr id="178" name="TextBox 91">
            <a:extLst>
              <a:ext uri="{FF2B5EF4-FFF2-40B4-BE49-F238E27FC236}">
                <a16:creationId xmlns:a16="http://schemas.microsoft.com/office/drawing/2014/main" id="{02490888-B81F-0F94-5D5F-078AEEB39DDB}"/>
              </a:ext>
            </a:extLst>
          </p:cNvPr>
          <p:cNvSpPr txBox="1"/>
          <p:nvPr/>
        </p:nvSpPr>
        <p:spPr>
          <a:xfrm>
            <a:off x="2347279" y="3760669"/>
            <a:ext cx="80150" cy="138499"/>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900" dirty="0">
                <a:solidFill>
                  <a:prstClr val="black"/>
                </a:solidFill>
                <a:cs typeface="Pretendard Medium" panose="02000603000000020004" pitchFamily="50" charset="-127"/>
              </a:rPr>
              <a:t>~</a:t>
            </a:r>
            <a:endParaRPr lang="ko-KR" altLang="en-US" sz="900" dirty="0">
              <a:solidFill>
                <a:prstClr val="black"/>
              </a:solidFill>
              <a:cs typeface="Pretendard Medium" panose="02000603000000020004" pitchFamily="50" charset="-127"/>
            </a:endParaRPr>
          </a:p>
        </p:txBody>
      </p:sp>
      <p:grpSp>
        <p:nvGrpSpPr>
          <p:cNvPr id="3" name="그룹 2"/>
          <p:cNvGrpSpPr/>
          <p:nvPr/>
        </p:nvGrpSpPr>
        <p:grpSpPr>
          <a:xfrm>
            <a:off x="1464781" y="3971391"/>
            <a:ext cx="1845146" cy="188135"/>
            <a:chOff x="1430277" y="4057651"/>
            <a:chExt cx="1845146" cy="188135"/>
          </a:xfrm>
        </p:grpSpPr>
        <p:sp>
          <p:nvSpPr>
            <p:cNvPr id="189" name="사각형: 둥근 모서리 169">
              <a:extLst>
                <a:ext uri="{FF2B5EF4-FFF2-40B4-BE49-F238E27FC236}">
                  <a16:creationId xmlns:a16="http://schemas.microsoft.com/office/drawing/2014/main" id="{A28DD831-0E4B-31EE-CB08-9E188754698D}"/>
                </a:ext>
              </a:extLst>
            </p:cNvPr>
            <p:cNvSpPr/>
            <p:nvPr/>
          </p:nvSpPr>
          <p:spPr>
            <a:xfrm>
              <a:off x="1430277" y="4057651"/>
              <a:ext cx="582017" cy="188135"/>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solidFill>
                    <a:srgbClr val="0070C0"/>
                  </a:solidFill>
                  <a:latin typeface="맑은 고딕"/>
                  <a:ea typeface="맑은 고딕" panose="020B0503020000020004" pitchFamily="50" charset="-127"/>
                </a:rPr>
                <a:t>최근 </a:t>
              </a:r>
              <a:r>
                <a:rPr kumimoji="1" lang="en-US" altLang="ko-KR" sz="700" kern="0" dirty="0">
                  <a:solidFill>
                    <a:srgbClr val="0070C0"/>
                  </a:solidFill>
                  <a:latin typeface="맑은 고딕"/>
                  <a:ea typeface="맑은 고딕" panose="020B0503020000020004" pitchFamily="50" charset="-127"/>
                </a:rPr>
                <a:t>1</a:t>
              </a:r>
              <a:r>
                <a:rPr kumimoji="1" lang="ko-KR" altLang="en-US" sz="700" kern="0" dirty="0">
                  <a:solidFill>
                    <a:srgbClr val="0070C0"/>
                  </a:solidFill>
                  <a:latin typeface="맑은 고딕"/>
                  <a:ea typeface="맑은 고딕" panose="020B0503020000020004" pitchFamily="50" charset="-127"/>
                </a:rPr>
                <a:t>개월</a:t>
              </a:r>
              <a:endParaRPr kumimoji="1" lang="en-US" sz="700" kern="0" dirty="0">
                <a:solidFill>
                  <a:srgbClr val="0070C0"/>
                </a:solidFill>
                <a:latin typeface="맑은 고딕"/>
                <a:ea typeface="맑은 고딕" panose="020B0503020000020004" pitchFamily="50" charset="-127"/>
              </a:endParaRPr>
            </a:p>
          </p:txBody>
        </p:sp>
        <p:sp>
          <p:nvSpPr>
            <p:cNvPr id="190" name="사각형: 둥근 모서리 171">
              <a:extLst>
                <a:ext uri="{FF2B5EF4-FFF2-40B4-BE49-F238E27FC236}">
                  <a16:creationId xmlns:a16="http://schemas.microsoft.com/office/drawing/2014/main" id="{75BECEC6-4045-95B1-98C2-242CA0FC5A06}"/>
                </a:ext>
              </a:extLst>
            </p:cNvPr>
            <p:cNvSpPr/>
            <p:nvPr/>
          </p:nvSpPr>
          <p:spPr>
            <a:xfrm>
              <a:off x="2061841" y="4057651"/>
              <a:ext cx="582017" cy="188135"/>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latin typeface="+mn-ea"/>
                </a:rPr>
                <a:t>최근 </a:t>
              </a:r>
              <a:r>
                <a:rPr kumimoji="1" lang="en-US" altLang="ko-KR" sz="700" kern="0" dirty="0">
                  <a:latin typeface="+mn-ea"/>
                </a:rPr>
                <a:t>3</a:t>
              </a:r>
              <a:r>
                <a:rPr kumimoji="1" lang="ko-KR" altLang="en-US" sz="700" kern="0" dirty="0">
                  <a:latin typeface="+mn-ea"/>
                </a:rPr>
                <a:t>개월</a:t>
              </a:r>
              <a:endParaRPr kumimoji="1" lang="en-US" altLang="ko-KR" sz="700" kern="0" dirty="0">
                <a:latin typeface="+mn-ea"/>
              </a:endParaRPr>
            </a:p>
          </p:txBody>
        </p:sp>
        <p:sp>
          <p:nvSpPr>
            <p:cNvPr id="191" name="사각형: 둥근 모서리 172">
              <a:extLst>
                <a:ext uri="{FF2B5EF4-FFF2-40B4-BE49-F238E27FC236}">
                  <a16:creationId xmlns:a16="http://schemas.microsoft.com/office/drawing/2014/main" id="{7F182F00-C81F-5F02-6A1E-826222B231A9}"/>
                </a:ext>
              </a:extLst>
            </p:cNvPr>
            <p:cNvSpPr/>
            <p:nvPr/>
          </p:nvSpPr>
          <p:spPr>
            <a:xfrm>
              <a:off x="2693406" y="4057651"/>
              <a:ext cx="582017" cy="188135"/>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pPr>
              <a:r>
                <a:rPr kumimoji="1" lang="ko-KR" altLang="en-US" sz="700" kern="0" dirty="0">
                  <a:solidFill>
                    <a:prstClr val="black"/>
                  </a:solidFill>
                  <a:latin typeface="+mn-ea"/>
                </a:rPr>
                <a:t>최근 </a:t>
              </a:r>
              <a:r>
                <a:rPr kumimoji="1" lang="en-US" altLang="ko-KR" sz="700" kern="0" dirty="0">
                  <a:solidFill>
                    <a:prstClr val="black"/>
                  </a:solidFill>
                  <a:latin typeface="+mn-ea"/>
                </a:rPr>
                <a:t>6</a:t>
              </a:r>
              <a:r>
                <a:rPr kumimoji="1" lang="ko-KR" altLang="en-US" sz="700" kern="0" dirty="0">
                  <a:solidFill>
                    <a:prstClr val="black"/>
                  </a:solidFill>
                  <a:latin typeface="+mn-ea"/>
                </a:rPr>
                <a:t>개월</a:t>
              </a:r>
              <a:endParaRPr kumimoji="1" lang="en-US" altLang="ko-KR" sz="700" kern="0" dirty="0">
                <a:solidFill>
                  <a:prstClr val="black"/>
                </a:solidFill>
                <a:latin typeface="+mn-ea"/>
              </a:endParaRPr>
            </a:p>
          </p:txBody>
        </p:sp>
      </p:grpSp>
      <p:grpSp>
        <p:nvGrpSpPr>
          <p:cNvPr id="195" name="그룹 194">
            <a:extLst>
              <a:ext uri="{FF2B5EF4-FFF2-40B4-BE49-F238E27FC236}">
                <a16:creationId xmlns:a16="http://schemas.microsoft.com/office/drawing/2014/main" id="{8F2F56C4-B606-212C-F131-A4A30AE19BC8}"/>
              </a:ext>
            </a:extLst>
          </p:cNvPr>
          <p:cNvGrpSpPr/>
          <p:nvPr/>
        </p:nvGrpSpPr>
        <p:grpSpPr>
          <a:xfrm>
            <a:off x="2450608" y="3740722"/>
            <a:ext cx="859319" cy="188244"/>
            <a:chOff x="5613534" y="2854836"/>
            <a:chExt cx="804671" cy="188244"/>
          </a:xfrm>
        </p:grpSpPr>
        <p:sp>
          <p:nvSpPr>
            <p:cNvPr id="196"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2026-01-15</a:t>
              </a:r>
              <a:endParaRPr kumimoji="1" lang="en-US" sz="700" b="0" i="0" u="none" strike="noStrike" kern="0" cap="none" spc="0" normalizeH="0" baseline="0" noProof="0" dirty="0">
                <a:ln>
                  <a:noFill/>
                </a:ln>
                <a:effectLst/>
                <a:uLnTx/>
                <a:uFillTx/>
                <a:latin typeface="맑은 고딕"/>
              </a:endParaRPr>
            </a:p>
          </p:txBody>
        </p:sp>
        <p:pic>
          <p:nvPicPr>
            <p:cNvPr id="197" name="그림 196">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cxnSp>
        <p:nvCxnSpPr>
          <p:cNvPr id="199" name="직선 연결선 198">
            <a:extLst>
              <a:ext uri="{FF2B5EF4-FFF2-40B4-BE49-F238E27FC236}">
                <a16:creationId xmlns:a16="http://schemas.microsoft.com/office/drawing/2014/main" id="{E9293055-D5CD-4B9E-7F64-64B2D2CA7A52}"/>
              </a:ext>
            </a:extLst>
          </p:cNvPr>
          <p:cNvCxnSpPr/>
          <p:nvPr/>
        </p:nvCxnSpPr>
        <p:spPr>
          <a:xfrm>
            <a:off x="675399" y="428814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0" name="TextBox 199">
            <a:extLst>
              <a:ext uri="{FF2B5EF4-FFF2-40B4-BE49-F238E27FC236}">
                <a16:creationId xmlns:a16="http://schemas.microsoft.com/office/drawing/2014/main" id="{FFC49AEA-2A8F-250C-A86A-A7751D9706C3}"/>
              </a:ext>
            </a:extLst>
          </p:cNvPr>
          <p:cNvSpPr txBox="1"/>
          <p:nvPr/>
        </p:nvSpPr>
        <p:spPr>
          <a:xfrm>
            <a:off x="778515" y="4388257"/>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검색어</a:t>
            </a:r>
            <a:r>
              <a:rPr lang="ko-KR" altLang="en-US" sz="700" b="1" dirty="0">
                <a:latin typeface="+mn-ea"/>
              </a:rPr>
              <a:t> </a:t>
            </a:r>
            <a:r>
              <a:rPr lang="en-US" altLang="ko-KR" sz="700" b="1" dirty="0">
                <a:latin typeface="+mn-ea"/>
              </a:rPr>
              <a:t>(</a:t>
            </a:r>
            <a:r>
              <a:rPr lang="ko-KR" altLang="en-US" sz="700" b="1" dirty="0">
                <a:latin typeface="+mn-ea"/>
              </a:rPr>
              <a:t>일부 입력 가능</a:t>
            </a:r>
            <a:r>
              <a:rPr lang="en-US" altLang="ko-KR" sz="700" b="1" dirty="0">
                <a:latin typeface="+mn-ea"/>
              </a:rPr>
              <a:t>)</a:t>
            </a:r>
            <a:endParaRPr lang="ko-KR" altLang="en-US" sz="700" b="1" dirty="0">
              <a:latin typeface="+mn-ea"/>
            </a:endParaRPr>
          </a:p>
        </p:txBody>
      </p:sp>
      <p:grpSp>
        <p:nvGrpSpPr>
          <p:cNvPr id="201" name="그룹 200"/>
          <p:cNvGrpSpPr/>
          <p:nvPr/>
        </p:nvGrpSpPr>
        <p:grpSpPr>
          <a:xfrm flipV="1">
            <a:off x="3140949" y="4485947"/>
            <a:ext cx="91438" cy="45719"/>
            <a:chOff x="6812560" y="3297172"/>
            <a:chExt cx="94010" cy="47005"/>
          </a:xfrm>
        </p:grpSpPr>
        <p:cxnSp>
          <p:nvCxnSpPr>
            <p:cNvPr id="202" name="직선 연결선 20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4" name="모서리가 둥근 직사각형 203"/>
          <p:cNvSpPr/>
          <p:nvPr/>
        </p:nvSpPr>
        <p:spPr>
          <a:xfrm>
            <a:off x="1449284" y="4668748"/>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bg1">
                    <a:lumMod val="65000"/>
                  </a:schemeClr>
                </a:solidFill>
              </a:rPr>
              <a:t>입찰건명을</a:t>
            </a:r>
            <a:r>
              <a:rPr lang="ko-KR" altLang="en-US" sz="700" dirty="0">
                <a:solidFill>
                  <a:schemeClr val="bg1">
                    <a:lumMod val="65000"/>
                  </a:schemeClr>
                </a:solidFill>
              </a:rPr>
              <a:t>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778515" y="4625248"/>
            <a:ext cx="670770" cy="1508105"/>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a:latin typeface="+mn-ea"/>
              </a:rPr>
              <a:t>번호 검색</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면허정보</a:t>
            </a:r>
            <a:endParaRPr lang="en-US" altLang="ko-KR" sz="700" dirty="0">
              <a:latin typeface="+mn-ea"/>
            </a:endParaRPr>
          </a:p>
          <a:p>
            <a:pPr>
              <a:lnSpc>
                <a:spcPct val="200000"/>
              </a:lnSpc>
            </a:pPr>
            <a:r>
              <a:rPr lang="ko-KR" altLang="en-US" sz="700" dirty="0">
                <a:latin typeface="+mn-ea"/>
              </a:rPr>
              <a:t>지역</a:t>
            </a:r>
            <a:endParaRPr lang="en-US" altLang="ko-KR" sz="700" dirty="0">
              <a:latin typeface="+mn-ea"/>
            </a:endParaRPr>
          </a:p>
        </p:txBody>
      </p:sp>
      <p:sp>
        <p:nvSpPr>
          <p:cNvPr id="207" name="모서리가 둥근 직사각형 206"/>
          <p:cNvSpPr/>
          <p:nvPr/>
        </p:nvSpPr>
        <p:spPr>
          <a:xfrm>
            <a:off x="1449284" y="506380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08" name="모서리가 둥근 직사각형 207"/>
          <p:cNvSpPr/>
          <p:nvPr/>
        </p:nvSpPr>
        <p:spPr>
          <a:xfrm>
            <a:off x="1449284" y="550916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bg1">
                    <a:lumMod val="65000"/>
                  </a:schemeClr>
                </a:solidFill>
              </a:rPr>
              <a:t>발주기관을</a:t>
            </a:r>
            <a:r>
              <a:rPr lang="ko-KR" altLang="en-US" sz="700" dirty="0">
                <a:solidFill>
                  <a:schemeClr val="bg1">
                    <a:lumMod val="65000"/>
                  </a:schemeClr>
                </a:solidFill>
              </a:rPr>
              <a:t>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12" name="모서리가 둥근 직사각형 211"/>
          <p:cNvSpPr/>
          <p:nvPr/>
        </p:nvSpPr>
        <p:spPr>
          <a:xfrm>
            <a:off x="1452235" y="5745391"/>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err="1">
                <a:solidFill>
                  <a:schemeClr val="bg1">
                    <a:lumMod val="65000"/>
                  </a:schemeClr>
                </a:solidFill>
              </a:rPr>
              <a:t>면허정보를</a:t>
            </a:r>
            <a:r>
              <a:rPr lang="ko-KR" altLang="en-US" sz="700" dirty="0">
                <a:solidFill>
                  <a:schemeClr val="bg1">
                    <a:lumMod val="65000"/>
                  </a:schemeClr>
                </a:solidFill>
              </a:rPr>
              <a:t>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grpSp>
        <p:nvGrpSpPr>
          <p:cNvPr id="213" name="그룹 212"/>
          <p:cNvGrpSpPr/>
          <p:nvPr/>
        </p:nvGrpSpPr>
        <p:grpSpPr>
          <a:xfrm rot="16200000">
            <a:off x="3140950" y="5816132"/>
            <a:ext cx="91438" cy="45719"/>
            <a:chOff x="6812560" y="3297172"/>
            <a:chExt cx="94010" cy="47005"/>
          </a:xfrm>
        </p:grpSpPr>
        <p:cxnSp>
          <p:nvCxnSpPr>
            <p:cNvPr id="214" name="직선 연결선 2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5" name="직선 연결선 2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6" name="모서리가 둥근 직사각형 215"/>
          <p:cNvSpPr/>
          <p:nvPr/>
        </p:nvSpPr>
        <p:spPr>
          <a:xfrm>
            <a:off x="1467218" y="4894922"/>
            <a:ext cx="920382" cy="149124"/>
          </a:xfrm>
          <a:prstGeom prst="roundRect">
            <a:avLst>
              <a:gd name="adj" fmla="val 50000"/>
            </a:avLst>
          </a:prstGeom>
          <a:solidFill>
            <a:schemeClr val="bg1">
              <a:lumMod val="50000"/>
            </a:schemeClr>
          </a:solidFill>
          <a:ln w="12700">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17" name="모서리가 둥근 직사각형 216"/>
          <p:cNvSpPr/>
          <p:nvPr/>
        </p:nvSpPr>
        <p:spPr>
          <a:xfrm>
            <a:off x="1467219" y="4894922"/>
            <a:ext cx="462756" cy="149124"/>
          </a:xfrm>
          <a:prstGeom prst="roundRect">
            <a:avLst>
              <a:gd name="adj" fmla="val 50000"/>
            </a:avLst>
          </a:prstGeom>
          <a:solidFill>
            <a:srgbClr val="0070C0"/>
          </a:solidFill>
          <a:ln w="12700" cap="flat" cmpd="sng" algn="ctr">
            <a:noFill/>
            <a:prstDash val="solid"/>
          </a:ln>
          <a:effectLst/>
        </p:spPr>
        <p:txBody>
          <a:bodyPr rtlCol="0" anchor="ctr"/>
          <a:lstStyle/>
          <a:p>
            <a:pPr algn="ctr" fontAlgn="base" latinLnBrk="0">
              <a:spcBef>
                <a:spcPct val="0"/>
              </a:spcBef>
              <a:spcAft>
                <a:spcPct val="0"/>
              </a:spcAft>
            </a:pPr>
            <a:endParaRPr kumimoji="1" lang="ko-KR" altLang="en-US" sz="800" kern="0">
              <a:solidFill>
                <a:prstClr val="white"/>
              </a:solidFill>
              <a:latin typeface="맑은 고딕"/>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1502989" y="4921462"/>
            <a:ext cx="388806" cy="107722"/>
          </a:xfrm>
          <a:prstGeom prst="rect">
            <a:avLst/>
          </a:prstGeom>
          <a:noFill/>
        </p:spPr>
        <p:txBody>
          <a:bodyPr wrap="square" lIns="0" tIns="0" rIns="0" bIns="0" rtlCol="0">
            <a:spAutoFit/>
          </a:bodyPr>
          <a:lstStyle/>
          <a:p>
            <a:pPr algn="ctr"/>
            <a:r>
              <a:rPr lang="ko-KR" altLang="en-US" sz="700" dirty="0" err="1">
                <a:solidFill>
                  <a:schemeClr val="bg1"/>
                </a:solidFill>
                <a:latin typeface="+mn-ea"/>
              </a:rPr>
              <a:t>공고번호</a:t>
            </a:r>
            <a:endParaRPr lang="ko-KR" altLang="en-US" sz="700" dirty="0">
              <a:solidFill>
                <a:schemeClr val="bg1"/>
              </a:solidFill>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1965745" y="4921462"/>
            <a:ext cx="363180" cy="107722"/>
          </a:xfrm>
          <a:prstGeom prst="rect">
            <a:avLst/>
          </a:prstGeom>
          <a:noFill/>
        </p:spPr>
        <p:txBody>
          <a:bodyPr wrap="square" lIns="0" tIns="0" rIns="0" bIns="0" rtlCol="0">
            <a:spAutoFit/>
          </a:bodyPr>
          <a:lstStyle/>
          <a:p>
            <a:pPr algn="ctr"/>
            <a:r>
              <a:rPr lang="ko-KR" altLang="en-US" sz="700">
                <a:solidFill>
                  <a:schemeClr val="bg1"/>
                </a:solidFill>
                <a:latin typeface="+mn-ea"/>
              </a:rPr>
              <a:t>통합참조</a:t>
            </a:r>
            <a:endParaRPr lang="ko-KR" altLang="en-US" sz="700" dirty="0">
              <a:solidFill>
                <a:schemeClr val="bg1"/>
              </a:solidFill>
              <a:latin typeface="+mn-ea"/>
            </a:endParaRPr>
          </a:p>
        </p:txBody>
      </p:sp>
      <p:grpSp>
        <p:nvGrpSpPr>
          <p:cNvPr id="221" name="그룹 220"/>
          <p:cNvGrpSpPr/>
          <p:nvPr/>
        </p:nvGrpSpPr>
        <p:grpSpPr>
          <a:xfrm>
            <a:off x="3795734" y="5614711"/>
            <a:ext cx="2712027" cy="617588"/>
            <a:chOff x="675399" y="5614711"/>
            <a:chExt cx="2712027" cy="617588"/>
          </a:xfrm>
        </p:grpSpPr>
        <p:sp>
          <p:nvSpPr>
            <p:cNvPr id="222" name="직사각형 22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검색</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24"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225" name="TextBox 224">
            <a:extLst>
              <a:ext uri="{FF2B5EF4-FFF2-40B4-BE49-F238E27FC236}">
                <a16:creationId xmlns:a16="http://schemas.microsoft.com/office/drawing/2014/main" id="{FFC49AEA-2A8F-250C-A86A-A7751D9706C3}"/>
              </a:ext>
            </a:extLst>
          </p:cNvPr>
          <p:cNvSpPr txBox="1"/>
          <p:nvPr/>
        </p:nvSpPr>
        <p:spPr>
          <a:xfrm>
            <a:off x="3898850" y="1956832"/>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구분 설정</a:t>
            </a:r>
          </a:p>
        </p:txBody>
      </p:sp>
      <p:grpSp>
        <p:nvGrpSpPr>
          <p:cNvPr id="226" name="그룹 225"/>
          <p:cNvGrpSpPr/>
          <p:nvPr/>
        </p:nvGrpSpPr>
        <p:grpSpPr>
          <a:xfrm flipV="1">
            <a:off x="6261284" y="2054522"/>
            <a:ext cx="91438" cy="45719"/>
            <a:chOff x="6812560" y="3297172"/>
            <a:chExt cx="94010" cy="47005"/>
          </a:xfrm>
        </p:grpSpPr>
        <p:cxnSp>
          <p:nvCxnSpPr>
            <p:cNvPr id="227" name="직선 연결선 22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8" name="직선 연결선 22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29" name="모서리가 둥근 직사각형 228"/>
          <p:cNvSpPr/>
          <p:nvPr/>
        </p:nvSpPr>
        <p:spPr>
          <a:xfrm>
            <a:off x="4569619" y="223732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3898850" y="2185197"/>
            <a:ext cx="670770" cy="1809726"/>
          </a:xfrm>
          <a:prstGeom prst="rect">
            <a:avLst/>
          </a:prstGeom>
          <a:noFill/>
        </p:spPr>
        <p:txBody>
          <a:bodyPr wrap="square" lIns="0" tIns="0" rIns="0" bIns="0" rtlCol="0">
            <a:spAutoFit/>
          </a:bodyPr>
          <a:lstStyle/>
          <a:p>
            <a:pPr>
              <a:lnSpc>
                <a:spcPct val="210000"/>
              </a:lnSpc>
            </a:pPr>
            <a:r>
              <a:rPr lang="ko-KR" altLang="en-US" sz="700" dirty="0" err="1">
                <a:latin typeface="+mn-ea"/>
              </a:rPr>
              <a:t>입찰구분</a:t>
            </a:r>
            <a:endParaRPr lang="en-US" altLang="ko-KR" sz="700" dirty="0">
              <a:latin typeface="+mn-ea"/>
            </a:endParaRPr>
          </a:p>
          <a:p>
            <a:pPr>
              <a:lnSpc>
                <a:spcPct val="210000"/>
              </a:lnSpc>
            </a:pPr>
            <a:r>
              <a:rPr lang="ko-KR" altLang="en-US" sz="700" dirty="0" err="1">
                <a:latin typeface="+mn-ea"/>
              </a:rPr>
              <a:t>공고구분</a:t>
            </a:r>
            <a:endParaRPr lang="en-US" altLang="ko-KR" sz="700" dirty="0">
              <a:latin typeface="+mn-ea"/>
            </a:endParaRPr>
          </a:p>
          <a:p>
            <a:pPr>
              <a:lnSpc>
                <a:spcPct val="210000"/>
              </a:lnSpc>
            </a:pPr>
            <a:r>
              <a:rPr lang="ko-KR" altLang="en-US" sz="700" dirty="0">
                <a:latin typeface="+mn-ea"/>
              </a:rPr>
              <a:t>진행상태</a:t>
            </a:r>
            <a:endParaRPr lang="en-US" altLang="ko-KR" sz="700" dirty="0">
              <a:latin typeface="+mn-ea"/>
            </a:endParaRPr>
          </a:p>
          <a:p>
            <a:pPr>
              <a:lnSpc>
                <a:spcPct val="210000"/>
              </a:lnSpc>
            </a:pPr>
            <a:r>
              <a:rPr lang="ko-KR" altLang="en-US" sz="700" dirty="0">
                <a:latin typeface="+mn-ea"/>
              </a:rPr>
              <a:t>기능</a:t>
            </a:r>
            <a:endParaRPr lang="en-US" altLang="ko-KR" sz="700" dirty="0">
              <a:latin typeface="+mn-ea"/>
            </a:endParaRPr>
          </a:p>
          <a:p>
            <a:pPr>
              <a:lnSpc>
                <a:spcPct val="210000"/>
              </a:lnSpc>
            </a:pPr>
            <a:r>
              <a:rPr lang="ko-KR" altLang="en-US" sz="700" dirty="0" err="1">
                <a:latin typeface="+mn-ea"/>
              </a:rPr>
              <a:t>입찰매체</a:t>
            </a:r>
            <a:endParaRPr lang="en-US" altLang="ko-KR" sz="700" dirty="0">
              <a:latin typeface="+mn-ea"/>
            </a:endParaRPr>
          </a:p>
          <a:p>
            <a:pPr>
              <a:lnSpc>
                <a:spcPct val="210000"/>
              </a:lnSpc>
            </a:pPr>
            <a:r>
              <a:rPr lang="ko-KR" altLang="en-US" sz="700" dirty="0" err="1">
                <a:latin typeface="+mn-ea"/>
              </a:rPr>
              <a:t>입찰형태</a:t>
            </a:r>
            <a:endParaRPr lang="en-US" altLang="ko-KR" sz="700" dirty="0">
              <a:latin typeface="+mn-ea"/>
            </a:endParaRPr>
          </a:p>
          <a:p>
            <a:pPr>
              <a:lnSpc>
                <a:spcPct val="210000"/>
              </a:lnSpc>
            </a:pPr>
            <a:r>
              <a:rPr lang="ko-KR" altLang="en-US" sz="700" dirty="0">
                <a:latin typeface="+mn-ea"/>
              </a:rPr>
              <a:t>계약방법</a:t>
            </a:r>
            <a:endParaRPr lang="en-US" altLang="ko-KR" sz="700" dirty="0">
              <a:latin typeface="+mn-ea"/>
            </a:endParaRPr>
          </a:p>
          <a:p>
            <a:pPr>
              <a:lnSpc>
                <a:spcPct val="210000"/>
              </a:lnSpc>
            </a:pPr>
            <a:r>
              <a:rPr lang="ko-KR" altLang="en-US" sz="700" dirty="0" err="1">
                <a:latin typeface="+mn-ea"/>
              </a:rPr>
              <a:t>낙찰방법</a:t>
            </a:r>
            <a:endParaRPr lang="en-US" altLang="ko-KR" sz="700" dirty="0">
              <a:latin typeface="+mn-ea"/>
            </a:endParaRPr>
          </a:p>
        </p:txBody>
      </p:sp>
      <p:sp>
        <p:nvSpPr>
          <p:cNvPr id="231" name="모서리가 둥근 직사각형 230"/>
          <p:cNvSpPr/>
          <p:nvPr/>
        </p:nvSpPr>
        <p:spPr>
          <a:xfrm>
            <a:off x="4569619" y="2460260"/>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32" name="모서리가 둥근 직사각형 231"/>
          <p:cNvSpPr/>
          <p:nvPr/>
        </p:nvSpPr>
        <p:spPr>
          <a:xfrm>
            <a:off x="4569619" y="2681834"/>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33" name="모서리가 둥근 직사각형 232"/>
          <p:cNvSpPr/>
          <p:nvPr/>
        </p:nvSpPr>
        <p:spPr>
          <a:xfrm>
            <a:off x="4572570" y="2918059"/>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grpSp>
        <p:nvGrpSpPr>
          <p:cNvPr id="234" name="그룹 233"/>
          <p:cNvGrpSpPr/>
          <p:nvPr/>
        </p:nvGrpSpPr>
        <p:grpSpPr>
          <a:xfrm>
            <a:off x="6261284" y="2988800"/>
            <a:ext cx="91438" cy="45719"/>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41" name="그룹 240"/>
          <p:cNvGrpSpPr/>
          <p:nvPr/>
        </p:nvGrpSpPr>
        <p:grpSpPr>
          <a:xfrm>
            <a:off x="6261284" y="2754912"/>
            <a:ext cx="91438" cy="45719"/>
            <a:chOff x="6812560" y="3297172"/>
            <a:chExt cx="94010" cy="47005"/>
          </a:xfrm>
        </p:grpSpPr>
        <p:cxnSp>
          <p:nvCxnSpPr>
            <p:cNvPr id="242" name="직선 연결선 2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3" name="직선 연결선 2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44" name="그룹 243"/>
          <p:cNvGrpSpPr/>
          <p:nvPr/>
        </p:nvGrpSpPr>
        <p:grpSpPr>
          <a:xfrm>
            <a:off x="6261284" y="2538745"/>
            <a:ext cx="91438" cy="45719"/>
            <a:chOff x="6812560" y="3297172"/>
            <a:chExt cx="94010" cy="47005"/>
          </a:xfrm>
        </p:grpSpPr>
        <p:cxnSp>
          <p:nvCxnSpPr>
            <p:cNvPr id="245" name="직선 연결선 24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6" name="직선 연결선 24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47" name="그룹 246"/>
          <p:cNvGrpSpPr/>
          <p:nvPr/>
        </p:nvGrpSpPr>
        <p:grpSpPr>
          <a:xfrm>
            <a:off x="6261284" y="2308063"/>
            <a:ext cx="91438" cy="45719"/>
            <a:chOff x="6812560" y="3297172"/>
            <a:chExt cx="94010" cy="47005"/>
          </a:xfrm>
        </p:grpSpPr>
        <p:cxnSp>
          <p:nvCxnSpPr>
            <p:cNvPr id="248" name="직선 연결선 24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9" name="직선 연결선 24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50" name="모서리가 둥근 직사각형 249"/>
          <p:cNvSpPr/>
          <p:nvPr/>
        </p:nvSpPr>
        <p:spPr>
          <a:xfrm>
            <a:off x="4569619" y="313418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51" name="모서리가 둥근 직사각형 250"/>
          <p:cNvSpPr/>
          <p:nvPr/>
        </p:nvSpPr>
        <p:spPr>
          <a:xfrm>
            <a:off x="4569619" y="3357123"/>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52" name="모서리가 둥근 직사각형 251"/>
          <p:cNvSpPr/>
          <p:nvPr/>
        </p:nvSpPr>
        <p:spPr>
          <a:xfrm>
            <a:off x="4569619" y="3578697"/>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53" name="모서리가 둥근 직사각형 252"/>
          <p:cNvSpPr/>
          <p:nvPr/>
        </p:nvSpPr>
        <p:spPr>
          <a:xfrm>
            <a:off x="4572570" y="3814922"/>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grpSp>
        <p:nvGrpSpPr>
          <p:cNvPr id="254" name="그룹 253"/>
          <p:cNvGrpSpPr/>
          <p:nvPr/>
        </p:nvGrpSpPr>
        <p:grpSpPr>
          <a:xfrm>
            <a:off x="6261284" y="3885663"/>
            <a:ext cx="91438" cy="45719"/>
            <a:chOff x="6812560" y="3297172"/>
            <a:chExt cx="94010" cy="47005"/>
          </a:xfrm>
        </p:grpSpPr>
        <p:cxnSp>
          <p:nvCxnSpPr>
            <p:cNvPr id="255" name="직선 연결선 25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6" name="직선 연결선 25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57" name="그룹 256"/>
          <p:cNvGrpSpPr/>
          <p:nvPr/>
        </p:nvGrpSpPr>
        <p:grpSpPr>
          <a:xfrm>
            <a:off x="6261284" y="3651775"/>
            <a:ext cx="91438" cy="45719"/>
            <a:chOff x="6812560" y="3297172"/>
            <a:chExt cx="94010" cy="47005"/>
          </a:xfrm>
        </p:grpSpPr>
        <p:cxnSp>
          <p:nvCxnSpPr>
            <p:cNvPr id="258" name="직선 연결선 2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9" name="직선 연결선 2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60" name="그룹 259"/>
          <p:cNvGrpSpPr/>
          <p:nvPr/>
        </p:nvGrpSpPr>
        <p:grpSpPr>
          <a:xfrm>
            <a:off x="6261284" y="3435608"/>
            <a:ext cx="91438" cy="45719"/>
            <a:chOff x="6812560" y="3297172"/>
            <a:chExt cx="94010" cy="47005"/>
          </a:xfrm>
        </p:grpSpPr>
        <p:cxnSp>
          <p:nvCxnSpPr>
            <p:cNvPr id="261" name="직선 연결선 26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2" name="직선 연결선 26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63" name="그룹 262"/>
          <p:cNvGrpSpPr/>
          <p:nvPr/>
        </p:nvGrpSpPr>
        <p:grpSpPr>
          <a:xfrm>
            <a:off x="6261284" y="3204926"/>
            <a:ext cx="91438" cy="45719"/>
            <a:chOff x="6812560" y="3297172"/>
            <a:chExt cx="94010" cy="47005"/>
          </a:xfrm>
        </p:grpSpPr>
        <p:cxnSp>
          <p:nvCxnSpPr>
            <p:cNvPr id="264" name="직선 연결선 26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5" name="직선 연결선 26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6" name="모서리가 둥근 직사각형 265"/>
          <p:cNvSpPr/>
          <p:nvPr/>
        </p:nvSpPr>
        <p:spPr>
          <a:xfrm>
            <a:off x="1449284" y="5286522"/>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품명을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cxnSp>
        <p:nvCxnSpPr>
          <p:cNvPr id="267" name="직선 연결선 266">
            <a:extLst>
              <a:ext uri="{FF2B5EF4-FFF2-40B4-BE49-F238E27FC236}">
                <a16:creationId xmlns:a16="http://schemas.microsoft.com/office/drawing/2014/main" id="{E9293055-D5CD-4B9E-7F64-64B2D2CA7A52}"/>
              </a:ext>
            </a:extLst>
          </p:cNvPr>
          <p:cNvCxnSpPr/>
          <p:nvPr/>
        </p:nvCxnSpPr>
        <p:spPr>
          <a:xfrm>
            <a:off x="3795734" y="417328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8" name="TextBox 267">
            <a:extLst>
              <a:ext uri="{FF2B5EF4-FFF2-40B4-BE49-F238E27FC236}">
                <a16:creationId xmlns:a16="http://schemas.microsoft.com/office/drawing/2014/main" id="{FFC49AEA-2A8F-250C-A86A-A7751D9706C3}"/>
              </a:ext>
            </a:extLst>
          </p:cNvPr>
          <p:cNvSpPr txBox="1"/>
          <p:nvPr/>
        </p:nvSpPr>
        <p:spPr>
          <a:xfrm>
            <a:off x="3898850" y="4206052"/>
            <a:ext cx="2305144" cy="215444"/>
          </a:xfrm>
          <a:prstGeom prst="rect">
            <a:avLst/>
          </a:prstGeom>
          <a:noFill/>
        </p:spPr>
        <p:txBody>
          <a:bodyPr wrap="square" lIns="0" tIns="0" rIns="0" bIns="0" rtlCol="0">
            <a:spAutoFit/>
          </a:bodyPr>
          <a:lstStyle/>
          <a:p>
            <a:pPr>
              <a:lnSpc>
                <a:spcPct val="200000"/>
              </a:lnSpc>
            </a:pPr>
            <a:r>
              <a:rPr lang="ko-KR" altLang="en-US" sz="700" b="1" dirty="0">
                <a:latin typeface="+mn-ea"/>
              </a:rPr>
              <a:t>가격 설정</a:t>
            </a:r>
          </a:p>
        </p:txBody>
      </p:sp>
      <p:sp>
        <p:nvSpPr>
          <p:cNvPr id="269" name="TextBox 268">
            <a:extLst>
              <a:ext uri="{FF2B5EF4-FFF2-40B4-BE49-F238E27FC236}">
                <a16:creationId xmlns:a16="http://schemas.microsoft.com/office/drawing/2014/main" id="{FFC49AEA-2A8F-250C-A86A-A7751D9706C3}"/>
              </a:ext>
            </a:extLst>
          </p:cNvPr>
          <p:cNvSpPr txBox="1"/>
          <p:nvPr/>
        </p:nvSpPr>
        <p:spPr>
          <a:xfrm>
            <a:off x="3898850" y="4428590"/>
            <a:ext cx="670770" cy="181140"/>
          </a:xfrm>
          <a:prstGeom prst="rect">
            <a:avLst/>
          </a:prstGeom>
          <a:noFill/>
        </p:spPr>
        <p:txBody>
          <a:bodyPr wrap="square" lIns="0" tIns="0" rIns="0" bIns="0" rtlCol="0">
            <a:spAutoFit/>
          </a:bodyPr>
          <a:lstStyle/>
          <a:p>
            <a:pPr>
              <a:lnSpc>
                <a:spcPct val="200000"/>
              </a:lnSpc>
            </a:pPr>
            <a:r>
              <a:rPr lang="ko-KR" altLang="en-US" sz="700" dirty="0">
                <a:latin typeface="+mn-ea"/>
              </a:rPr>
              <a:t>추정가격</a:t>
            </a:r>
            <a:endParaRPr lang="en-US" altLang="ko-KR" sz="700" dirty="0">
              <a:latin typeface="+mn-ea"/>
            </a:endParaRPr>
          </a:p>
        </p:txBody>
      </p:sp>
      <p:grpSp>
        <p:nvGrpSpPr>
          <p:cNvPr id="270" name="그룹 269"/>
          <p:cNvGrpSpPr/>
          <p:nvPr/>
        </p:nvGrpSpPr>
        <p:grpSpPr>
          <a:xfrm flipV="1">
            <a:off x="6261284" y="4303742"/>
            <a:ext cx="91438" cy="45719"/>
            <a:chOff x="6812560" y="3297172"/>
            <a:chExt cx="94010" cy="47005"/>
          </a:xfrm>
        </p:grpSpPr>
        <p:cxnSp>
          <p:nvCxnSpPr>
            <p:cNvPr id="271" name="직선 연결선 27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72" name="직선 연결선 27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4" name="사각형: 둥근 모서리 86">
            <a:extLst>
              <a:ext uri="{FF2B5EF4-FFF2-40B4-BE49-F238E27FC236}">
                <a16:creationId xmlns:a16="http://schemas.microsoft.com/office/drawing/2014/main" id="{C84908FA-11D4-E687-3603-3EA5852F6FAE}"/>
              </a:ext>
            </a:extLst>
          </p:cNvPr>
          <p:cNvSpPr/>
          <p:nvPr/>
        </p:nvSpPr>
        <p:spPr>
          <a:xfrm>
            <a:off x="4585116" y="4456221"/>
            <a:ext cx="859319"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10,000,000 </a:t>
            </a:r>
            <a:r>
              <a:rPr kumimoji="1" lang="ko-KR" altLang="en-US" sz="700" kern="0" dirty="0">
                <a:latin typeface="맑은 고딕"/>
              </a:rPr>
              <a:t>원</a:t>
            </a:r>
            <a:endParaRPr kumimoji="1" lang="en-US" sz="700" b="0" i="0" u="none" strike="noStrike" kern="0" cap="none" spc="0" normalizeH="0" baseline="0" noProof="0" dirty="0">
              <a:ln>
                <a:noFill/>
              </a:ln>
              <a:effectLst/>
              <a:uLnTx/>
              <a:uFillTx/>
              <a:latin typeface="맑은 고딕"/>
            </a:endParaRPr>
          </a:p>
        </p:txBody>
      </p:sp>
      <p:sp>
        <p:nvSpPr>
          <p:cNvPr id="276" name="TextBox 91">
            <a:extLst>
              <a:ext uri="{FF2B5EF4-FFF2-40B4-BE49-F238E27FC236}">
                <a16:creationId xmlns:a16="http://schemas.microsoft.com/office/drawing/2014/main" id="{02490888-B81F-0F94-5D5F-078AEEB39DDB}"/>
              </a:ext>
            </a:extLst>
          </p:cNvPr>
          <p:cNvSpPr txBox="1"/>
          <p:nvPr/>
        </p:nvSpPr>
        <p:spPr>
          <a:xfrm>
            <a:off x="5467614" y="4476168"/>
            <a:ext cx="80150" cy="138499"/>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900" dirty="0">
                <a:solidFill>
                  <a:prstClr val="black"/>
                </a:solidFill>
                <a:cs typeface="Pretendard Medium" panose="02000603000000020004" pitchFamily="50" charset="-127"/>
              </a:rPr>
              <a:t>~</a:t>
            </a:r>
            <a:endParaRPr lang="ko-KR" altLang="en-US" sz="900" dirty="0">
              <a:solidFill>
                <a:prstClr val="black"/>
              </a:solidFill>
              <a:cs typeface="Pretendard Medium" panose="02000603000000020004" pitchFamily="50" charset="-127"/>
            </a:endParaRPr>
          </a:p>
        </p:txBody>
      </p:sp>
      <p:sp>
        <p:nvSpPr>
          <p:cNvPr id="278" name="사각형: 둥근 모서리 86">
            <a:extLst>
              <a:ext uri="{FF2B5EF4-FFF2-40B4-BE49-F238E27FC236}">
                <a16:creationId xmlns:a16="http://schemas.microsoft.com/office/drawing/2014/main" id="{C84908FA-11D4-E687-3603-3EA5852F6FAE}"/>
              </a:ext>
            </a:extLst>
          </p:cNvPr>
          <p:cNvSpPr/>
          <p:nvPr/>
        </p:nvSpPr>
        <p:spPr>
          <a:xfrm>
            <a:off x="5570943" y="4456221"/>
            <a:ext cx="859319"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20,000,000 </a:t>
            </a:r>
            <a:r>
              <a:rPr kumimoji="1" lang="ko-KR" altLang="en-US" sz="700" kern="0" dirty="0">
                <a:latin typeface="맑은 고딕"/>
              </a:rPr>
              <a:t>원</a:t>
            </a:r>
            <a:endParaRPr kumimoji="1" lang="en-US" sz="700" b="0" i="0" u="none" strike="noStrike" kern="0" cap="none" spc="0" normalizeH="0" baseline="0" noProof="0" dirty="0">
              <a:ln>
                <a:noFill/>
              </a:ln>
              <a:effectLst/>
              <a:uLnTx/>
              <a:uFillTx/>
              <a:latin typeface="맑은 고딕"/>
            </a:endParaRPr>
          </a:p>
        </p:txBody>
      </p:sp>
      <p:cxnSp>
        <p:nvCxnSpPr>
          <p:cNvPr id="280" name="직선 연결선 279">
            <a:extLst>
              <a:ext uri="{FF2B5EF4-FFF2-40B4-BE49-F238E27FC236}">
                <a16:creationId xmlns:a16="http://schemas.microsoft.com/office/drawing/2014/main" id="{E9293055-D5CD-4B9E-7F64-64B2D2CA7A52}"/>
              </a:ext>
            </a:extLst>
          </p:cNvPr>
          <p:cNvCxnSpPr/>
          <p:nvPr/>
        </p:nvCxnSpPr>
        <p:spPr>
          <a:xfrm>
            <a:off x="3795734" y="491983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1" name="TextBox 280">
            <a:extLst>
              <a:ext uri="{FF2B5EF4-FFF2-40B4-BE49-F238E27FC236}">
                <a16:creationId xmlns:a16="http://schemas.microsoft.com/office/drawing/2014/main" id="{FFC49AEA-2A8F-250C-A86A-A7751D9706C3}"/>
              </a:ext>
            </a:extLst>
          </p:cNvPr>
          <p:cNvSpPr txBox="1"/>
          <p:nvPr/>
        </p:nvSpPr>
        <p:spPr>
          <a:xfrm>
            <a:off x="3898850" y="4935824"/>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신기술여부</a:t>
            </a:r>
            <a:endParaRPr lang="ko-KR" altLang="en-US" sz="700" b="1" dirty="0">
              <a:latin typeface="+mn-ea"/>
            </a:endParaRPr>
          </a:p>
        </p:txBody>
      </p:sp>
      <p:grpSp>
        <p:nvGrpSpPr>
          <p:cNvPr id="283" name="그룹 282"/>
          <p:cNvGrpSpPr/>
          <p:nvPr/>
        </p:nvGrpSpPr>
        <p:grpSpPr>
          <a:xfrm flipV="1">
            <a:off x="6261284" y="5033514"/>
            <a:ext cx="91438" cy="45719"/>
            <a:chOff x="6812560" y="3297172"/>
            <a:chExt cx="94010" cy="47005"/>
          </a:xfrm>
        </p:grpSpPr>
        <p:cxnSp>
          <p:nvCxnSpPr>
            <p:cNvPr id="284" name="직선 연결선 2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5" name="직선 연결선 2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89" name="TextBox 288">
            <a:extLst>
              <a:ext uri="{FF2B5EF4-FFF2-40B4-BE49-F238E27FC236}">
                <a16:creationId xmlns:a16="http://schemas.microsoft.com/office/drawing/2014/main" id="{FFC49AEA-2A8F-250C-A86A-A7751D9706C3}"/>
              </a:ext>
            </a:extLst>
          </p:cNvPr>
          <p:cNvSpPr txBox="1"/>
          <p:nvPr/>
        </p:nvSpPr>
        <p:spPr>
          <a:xfrm>
            <a:off x="4061955" y="5179649"/>
            <a:ext cx="2305144" cy="396583"/>
          </a:xfrm>
          <a:prstGeom prst="rect">
            <a:avLst/>
          </a:prstGeom>
          <a:noFill/>
        </p:spPr>
        <p:txBody>
          <a:bodyPr wrap="square" lIns="0" tIns="0" rIns="0" bIns="0" rtlCol="0">
            <a:spAutoFit/>
          </a:bodyPr>
          <a:lstStyle/>
          <a:p>
            <a:pPr>
              <a:lnSpc>
                <a:spcPct val="200000"/>
              </a:lnSpc>
            </a:pPr>
            <a:r>
              <a:rPr lang="ko-KR" altLang="en-US" sz="700" dirty="0">
                <a:latin typeface="+mn-ea"/>
              </a:rPr>
              <a:t>예</a:t>
            </a:r>
            <a:endParaRPr lang="en-US" altLang="ko-KR" sz="700" dirty="0">
              <a:latin typeface="+mn-ea"/>
            </a:endParaRPr>
          </a:p>
          <a:p>
            <a:pPr>
              <a:lnSpc>
                <a:spcPct val="200000"/>
              </a:lnSpc>
            </a:pPr>
            <a:r>
              <a:rPr lang="ko-KR" altLang="en-US" sz="700" dirty="0">
                <a:latin typeface="+mn-ea"/>
              </a:rPr>
              <a:t>아니오</a:t>
            </a:r>
          </a:p>
        </p:txBody>
      </p:sp>
      <p:sp>
        <p:nvSpPr>
          <p:cNvPr id="290" name="타원 289"/>
          <p:cNvSpPr/>
          <p:nvPr/>
        </p:nvSpPr>
        <p:spPr>
          <a:xfrm>
            <a:off x="3892504" y="5253063"/>
            <a:ext cx="107950" cy="10795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1" name="타원 290"/>
          <p:cNvSpPr/>
          <p:nvPr/>
        </p:nvSpPr>
        <p:spPr>
          <a:xfrm>
            <a:off x="3892504" y="5473623"/>
            <a:ext cx="107950" cy="107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2" name="타원 291">
            <a:extLst>
              <a:ext uri="{FF2B5EF4-FFF2-40B4-BE49-F238E27FC236}">
                <a16:creationId xmlns:a16="http://schemas.microsoft.com/office/drawing/2014/main" id="{37A7FF4F-0EAA-1463-560A-D5EC24416103}"/>
              </a:ext>
            </a:extLst>
          </p:cNvPr>
          <p:cNvSpPr/>
          <p:nvPr/>
        </p:nvSpPr>
        <p:spPr>
          <a:xfrm>
            <a:off x="573754" y="4416759"/>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4</a:t>
            </a:r>
            <a:endParaRPr lang="ko-KR" altLang="en-US" sz="1200" dirty="0"/>
          </a:p>
        </p:txBody>
      </p:sp>
      <p:sp>
        <p:nvSpPr>
          <p:cNvPr id="293" name="타원 292">
            <a:extLst>
              <a:ext uri="{FF2B5EF4-FFF2-40B4-BE49-F238E27FC236}">
                <a16:creationId xmlns:a16="http://schemas.microsoft.com/office/drawing/2014/main" id="{37A7FF4F-0EAA-1463-560A-D5EC24416103}"/>
              </a:ext>
            </a:extLst>
          </p:cNvPr>
          <p:cNvSpPr/>
          <p:nvPr/>
        </p:nvSpPr>
        <p:spPr>
          <a:xfrm>
            <a:off x="3694089" y="5817867"/>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8</a:t>
            </a:r>
            <a:endParaRPr lang="ko-KR" altLang="en-US" sz="1200" dirty="0"/>
          </a:p>
        </p:txBody>
      </p:sp>
      <p:grpSp>
        <p:nvGrpSpPr>
          <p:cNvPr id="141" name="그룹 140"/>
          <p:cNvGrpSpPr/>
          <p:nvPr/>
        </p:nvGrpSpPr>
        <p:grpSpPr>
          <a:xfrm rot="16200000">
            <a:off x="3140951" y="5579906"/>
            <a:ext cx="91438" cy="45719"/>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5" name="모서리가 둥근 직사각형 144"/>
          <p:cNvSpPr/>
          <p:nvPr/>
        </p:nvSpPr>
        <p:spPr>
          <a:xfrm>
            <a:off x="1452235" y="597066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지역을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grpSp>
        <p:nvGrpSpPr>
          <p:cNvPr id="146" name="그룹 145"/>
          <p:cNvGrpSpPr/>
          <p:nvPr/>
        </p:nvGrpSpPr>
        <p:grpSpPr>
          <a:xfrm rot="16200000">
            <a:off x="3140950" y="6041407"/>
            <a:ext cx="91438" cy="45719"/>
            <a:chOff x="6812560" y="3297172"/>
            <a:chExt cx="94010" cy="47005"/>
          </a:xfrm>
        </p:grpSpPr>
        <p:cxnSp>
          <p:nvCxnSpPr>
            <p:cNvPr id="147" name="직선 연결선 1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8" name="직선 연결선 1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0" name="직선 연결선 149">
            <a:extLst>
              <a:ext uri="{FF2B5EF4-FFF2-40B4-BE49-F238E27FC236}">
                <a16:creationId xmlns:a16="http://schemas.microsoft.com/office/drawing/2014/main" id="{E9293055-D5CD-4B9E-7F64-64B2D2CA7A52}"/>
              </a:ext>
            </a:extLst>
          </p:cNvPr>
          <p:cNvCxnSpPr/>
          <p:nvPr/>
        </p:nvCxnSpPr>
        <p:spPr>
          <a:xfrm>
            <a:off x="4585116" y="4777666"/>
            <a:ext cx="184514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9" name="타원 148"/>
          <p:cNvSpPr/>
          <p:nvPr/>
        </p:nvSpPr>
        <p:spPr>
          <a:xfrm>
            <a:off x="4901594" y="4723691"/>
            <a:ext cx="107950" cy="107950"/>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타원 151"/>
          <p:cNvSpPr/>
          <p:nvPr/>
        </p:nvSpPr>
        <p:spPr>
          <a:xfrm>
            <a:off x="5643633" y="4723691"/>
            <a:ext cx="107950" cy="107950"/>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2" name="직선 연결선 161">
            <a:extLst>
              <a:ext uri="{FF2B5EF4-FFF2-40B4-BE49-F238E27FC236}">
                <a16:creationId xmlns:a16="http://schemas.microsoft.com/office/drawing/2014/main" id="{E9293055-D5CD-4B9E-7F64-64B2D2CA7A52}"/>
              </a:ext>
            </a:extLst>
          </p:cNvPr>
          <p:cNvCxnSpPr>
            <a:stCxn id="149" idx="6"/>
            <a:endCxn id="152" idx="2"/>
          </p:cNvCxnSpPr>
          <p:nvPr/>
        </p:nvCxnSpPr>
        <p:spPr>
          <a:xfrm>
            <a:off x="5009544" y="4777666"/>
            <a:ext cx="63408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155034520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144</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(1/4)</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671171"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개찰목록</a:t>
            </a:r>
            <a:r>
              <a:rPr lang="en-US" altLang="ko-KR" sz="900" b="1" dirty="0">
                <a:solidFill>
                  <a:prstClr val="black"/>
                </a:solidFill>
              </a:rPr>
              <a:t> </a:t>
            </a:r>
            <a:r>
              <a:rPr lang="ko-KR" altLang="en-US" sz="900" b="1" dirty="0">
                <a:solidFill>
                  <a:prstClr val="black"/>
                </a:solidFill>
              </a:rPr>
              <a:t>검색조건 </a:t>
            </a:r>
            <a:r>
              <a:rPr lang="en-US" altLang="ko-KR" sz="900" b="1" dirty="0">
                <a:solidFill>
                  <a:prstClr val="black"/>
                </a:solidFill>
              </a:rPr>
              <a:t>(</a:t>
            </a:r>
            <a:r>
              <a:rPr lang="en-US" altLang="ko-KR" sz="900" b="1" dirty="0" err="1">
                <a:solidFill>
                  <a:prstClr val="black"/>
                </a:solidFill>
              </a:rPr>
              <a:t>dmt_bdopnListSrchCnd</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7123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개찰</a:t>
                      </a:r>
                      <a:r>
                        <a:rPr lang="en-US" altLang="ko-KR" sz="800" dirty="0">
                          <a:latin typeface="+mn-ea"/>
                          <a:ea typeface="+mn-ea"/>
                        </a:rPr>
                        <a:t>/</a:t>
                      </a:r>
                      <a:r>
                        <a:rPr lang="ko-KR" altLang="en-US" sz="800" dirty="0">
                          <a:latin typeface="+mn-ea"/>
                          <a:ea typeface="+mn-ea"/>
                        </a:rPr>
                        <a:t>협상일자</a:t>
                      </a:r>
                      <a:r>
                        <a:rPr lang="en-US" altLang="ko-KR" sz="800" dirty="0">
                          <a:latin typeface="+mn-ea"/>
                          <a:ea typeface="+mn-ea"/>
                        </a:rPr>
                        <a:t>from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bdopnYmdFrom</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개찰일자 </a:t>
                      </a:r>
                      <a:r>
                        <a:rPr lang="en-US" altLang="ko-KR" sz="800" dirty="0">
                          <a:latin typeface="+mn-ea"/>
                          <a:ea typeface="+mn-ea"/>
                        </a:rPr>
                        <a:t>from</a:t>
                      </a:r>
                      <a:r>
                        <a:rPr lang="ko-KR" altLang="en-US" sz="800" dirty="0">
                          <a:latin typeface="+mn-ea"/>
                          <a:ea typeface="+mn-ea"/>
                        </a:rPr>
                        <a:t>을 달력을 이용하여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개찰</a:t>
                      </a:r>
                      <a:r>
                        <a:rPr lang="en-US" altLang="ko-KR" sz="800" dirty="0">
                          <a:latin typeface="+mn-ea"/>
                          <a:ea typeface="+mn-ea"/>
                        </a:rPr>
                        <a:t>/</a:t>
                      </a:r>
                      <a:r>
                        <a:rPr lang="ko-KR" altLang="en-US" sz="800" dirty="0">
                          <a:latin typeface="+mn-ea"/>
                          <a:ea typeface="+mn-ea"/>
                        </a:rPr>
                        <a:t>협상일자</a:t>
                      </a:r>
                      <a:r>
                        <a:rPr lang="en-US" altLang="ko-KR" sz="800" dirty="0">
                          <a:latin typeface="+mn-ea"/>
                          <a:ea typeface="+mn-ea"/>
                        </a:rPr>
                        <a:t>to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bdopnYmdTo</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개찰일자 </a:t>
                      </a:r>
                      <a:r>
                        <a:rPr lang="en-US" altLang="ko-KR" sz="800" dirty="0">
                          <a:latin typeface="+mn-ea"/>
                          <a:ea typeface="+mn-ea"/>
                        </a:rPr>
                        <a:t>to</a:t>
                      </a:r>
                      <a:r>
                        <a:rPr lang="ko-KR" altLang="en-US" sz="800" dirty="0">
                          <a:latin typeface="+mn-ea"/>
                          <a:ea typeface="+mn-ea"/>
                        </a:rPr>
                        <a:t>를 달력을 이용하여 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2785069"/>
                  </a:ext>
                </a:extLst>
              </a:tr>
              <a:tr h="0">
                <a:tc>
                  <a:txBody>
                    <a:bodyPr/>
                    <a:lstStyle/>
                    <a:p>
                      <a:pPr latinLnBrk="1"/>
                      <a:r>
                        <a:rPr lang="ko-KR" altLang="en-US" sz="800" dirty="0">
                          <a:latin typeface="+mn-ea"/>
                          <a:ea typeface="+mn-ea"/>
                        </a:rPr>
                        <a:t>업무구분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bizSecd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업무구분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8825031"/>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rfrncNo</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통합참조번호</a:t>
                      </a:r>
                      <a:r>
                        <a:rPr lang="ko-KR" altLang="en-US" sz="800" dirty="0">
                          <a:latin typeface="+mn-ea"/>
                          <a:ea typeface="+mn-ea"/>
                        </a:rPr>
                        <a:t> 입력항목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4849820"/>
                  </a:ext>
                </a:extLst>
              </a:tr>
              <a:tr h="0">
                <a:tc>
                  <a:txBody>
                    <a:bodyPr/>
                    <a:lstStyle/>
                    <a:p>
                      <a:pPr latinLnBrk="1"/>
                      <a:r>
                        <a:rPr lang="ko-KR" altLang="en-US" sz="800" dirty="0">
                          <a:latin typeface="+mn-ea"/>
                          <a:ea typeface="+mn-ea"/>
                        </a:rPr>
                        <a:t>판단</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err="1">
                          <a:solidFill>
                            <a:schemeClr val="tx1"/>
                          </a:solidFill>
                          <a:latin typeface="+mn-lt"/>
                          <a:ea typeface="+mn-ea"/>
                          <a:cs typeface="+mn-cs"/>
                        </a:rPr>
                        <a:t>prcmNo</a:t>
                      </a:r>
                      <a:endParaRPr lang="ko-KR" alt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 입력항목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0791306"/>
                  </a:ext>
                </a:extLst>
              </a:tr>
              <a:tr h="0">
                <a:tc>
                  <a:txBody>
                    <a:bodyPr/>
                    <a:lstStyle/>
                    <a:p>
                      <a:pPr latinLnBrk="1"/>
                      <a:r>
                        <a:rPr lang="en-US" altLang="ko-KR" sz="800" dirty="0">
                          <a:latin typeface="+mn-ea"/>
                          <a:ea typeface="+mn-ea"/>
                        </a:rPr>
                        <a:t>G2B </a:t>
                      </a:r>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a:solidFill>
                            <a:schemeClr val="tx1"/>
                          </a:solidFill>
                          <a:latin typeface="+mn-lt"/>
                          <a:ea typeface="+mn-ea"/>
                          <a:cs typeface="+mn-cs"/>
                        </a:rPr>
                        <a:t>g2BBidPbancNo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G2B </a:t>
                      </a:r>
                      <a:r>
                        <a:rPr lang="ko-KR" altLang="en-US" sz="800" dirty="0">
                          <a:latin typeface="+mn-ea"/>
                          <a:ea typeface="+mn-ea"/>
                        </a:rPr>
                        <a:t>공고번호 입력항목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6284370"/>
                  </a:ext>
                </a:extLst>
              </a:tr>
              <a:tr h="0">
                <a:tc>
                  <a:txBody>
                    <a:bodyPr/>
                    <a:lstStyle/>
                    <a:p>
                      <a:pPr latinLnBrk="1"/>
                      <a:r>
                        <a:rPr lang="ko-KR" altLang="en-US" sz="800" dirty="0">
                          <a:latin typeface="+mn-ea"/>
                          <a:ea typeface="+mn-ea"/>
                        </a:rPr>
                        <a:t>입찰</a:t>
                      </a:r>
                      <a:r>
                        <a:rPr lang="en-US" altLang="ko-KR" sz="800" dirty="0">
                          <a:latin typeface="+mn-ea"/>
                          <a:ea typeface="+mn-ea"/>
                        </a:rPr>
                        <a:t>/</a:t>
                      </a:r>
                      <a:r>
                        <a:rPr lang="ko-KR" altLang="en-US" sz="800" dirty="0" err="1">
                          <a:latin typeface="+mn-ea"/>
                          <a:ea typeface="+mn-ea"/>
                        </a:rPr>
                        <a:t>협상건명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bidNm</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입찰건명</a:t>
                      </a:r>
                      <a:r>
                        <a:rPr lang="ko-KR" altLang="en-US" sz="800" dirty="0">
                          <a:latin typeface="+mn-ea"/>
                          <a:ea typeface="+mn-ea"/>
                        </a:rPr>
                        <a:t> 입력항목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3300958"/>
                  </a:ext>
                </a:extLst>
              </a:tr>
              <a:tr h="0">
                <a:tc>
                  <a:txBody>
                    <a:bodyPr/>
                    <a:lstStyle/>
                    <a:p>
                      <a:pPr latinLnBrk="1"/>
                      <a:r>
                        <a:rPr lang="ko-KR" altLang="en-US" sz="800" dirty="0">
                          <a:latin typeface="+mn-ea"/>
                          <a:ea typeface="+mn-ea"/>
                        </a:rPr>
                        <a:t>입찰구분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bidSecd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입찰구분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경쟁입찰</a:t>
                      </a:r>
                      <a:r>
                        <a:rPr lang="en-US" altLang="ko-KR" sz="800" dirty="0">
                          <a:latin typeface="+mn-ea"/>
                          <a:ea typeface="+mn-ea"/>
                        </a:rPr>
                        <a:t>, </a:t>
                      </a:r>
                      <a:r>
                        <a:rPr lang="ko-KR" altLang="en-US" sz="800" dirty="0">
                          <a:latin typeface="+mn-ea"/>
                          <a:ea typeface="+mn-ea"/>
                        </a:rPr>
                        <a:t>공개수의</a:t>
                      </a:r>
                      <a:r>
                        <a:rPr lang="en-US" altLang="ko-KR" sz="800" dirty="0">
                          <a:latin typeface="+mn-ea"/>
                          <a:ea typeface="+mn-ea"/>
                        </a:rPr>
                        <a:t>, </a:t>
                      </a:r>
                      <a:r>
                        <a:rPr lang="ko-KR" altLang="en-US" sz="800" dirty="0">
                          <a:latin typeface="+mn-ea"/>
                          <a:ea typeface="+mn-ea"/>
                        </a:rPr>
                        <a:t>비공개수의</a:t>
                      </a:r>
                      <a:r>
                        <a:rPr lang="en-US" altLang="ko-KR" sz="800" dirty="0">
                          <a:latin typeface="+mn-ea"/>
                          <a:ea typeface="+mn-ea"/>
                        </a:rPr>
                        <a:t> </a:t>
                      </a:r>
                      <a:r>
                        <a:rPr lang="ko-KR" altLang="en-US" sz="800" dirty="0">
                          <a:latin typeface="+mn-ea"/>
                          <a:ea typeface="+mn-ea"/>
                        </a:rPr>
                        <a:t>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0715507"/>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ctrtMthdCd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일반경쟁</a:t>
                      </a:r>
                      <a:r>
                        <a:rPr lang="en-US" altLang="ko-KR" sz="800" dirty="0">
                          <a:latin typeface="+mn-ea"/>
                          <a:ea typeface="+mn-ea"/>
                        </a:rPr>
                        <a:t>, </a:t>
                      </a:r>
                      <a:r>
                        <a:rPr lang="ko-KR" altLang="en-US" sz="800" dirty="0">
                          <a:latin typeface="+mn-ea"/>
                          <a:ea typeface="+mn-ea"/>
                        </a:rPr>
                        <a:t>지명경쟁</a:t>
                      </a:r>
                      <a:r>
                        <a:rPr lang="en-US" altLang="ko-KR" sz="800" dirty="0">
                          <a:latin typeface="+mn-ea"/>
                          <a:ea typeface="+mn-ea"/>
                        </a:rPr>
                        <a:t>, </a:t>
                      </a:r>
                      <a:r>
                        <a:rPr lang="ko-KR" altLang="en-US" sz="800" dirty="0">
                          <a:latin typeface="+mn-ea"/>
                          <a:ea typeface="+mn-ea"/>
                        </a:rPr>
                        <a:t>제한경쟁</a:t>
                      </a:r>
                      <a:r>
                        <a:rPr lang="en-US" altLang="ko-KR" sz="800" dirty="0">
                          <a:latin typeface="+mn-ea"/>
                          <a:ea typeface="+mn-ea"/>
                        </a:rPr>
                        <a:t>, </a:t>
                      </a:r>
                      <a:r>
                        <a:rPr lang="ko-KR" altLang="en-US" sz="800" dirty="0">
                          <a:latin typeface="+mn-ea"/>
                          <a:ea typeface="+mn-ea"/>
                        </a:rPr>
                        <a:t>복수경쟁</a:t>
                      </a:r>
                    </a:p>
                    <a:p>
                      <a:pPr algn="l" latinLnBrk="1"/>
                      <a:r>
                        <a:rPr lang="ko-KR" altLang="en-US" sz="800" dirty="0">
                          <a:latin typeface="+mn-ea"/>
                          <a:ea typeface="+mn-ea"/>
                        </a:rPr>
                        <a:t>수의계약</a:t>
                      </a:r>
                      <a:r>
                        <a:rPr lang="en-US" altLang="ko-KR" sz="800" dirty="0">
                          <a:latin typeface="+mn-ea"/>
                          <a:ea typeface="+mn-ea"/>
                        </a:rPr>
                        <a:t>, </a:t>
                      </a:r>
                      <a:r>
                        <a:rPr lang="ko-KR" altLang="en-US" sz="800" dirty="0" err="1">
                          <a:latin typeface="+mn-ea"/>
                          <a:ea typeface="+mn-ea"/>
                        </a:rPr>
                        <a:t>협상에의한계약</a:t>
                      </a:r>
                      <a:r>
                        <a:rPr lang="en-US" altLang="ko-KR" sz="800" dirty="0">
                          <a:latin typeface="+mn-ea"/>
                          <a:ea typeface="+mn-ea"/>
                        </a:rPr>
                        <a:t>(</a:t>
                      </a:r>
                      <a:r>
                        <a:rPr lang="ko-KR" altLang="en-US" sz="800" dirty="0">
                          <a:latin typeface="+mn-ea"/>
                          <a:ea typeface="+mn-ea"/>
                        </a:rPr>
                        <a:t>전자</a:t>
                      </a:r>
                      <a:r>
                        <a:rPr lang="en-US" altLang="ko-KR" sz="800" dirty="0">
                          <a:latin typeface="+mn-ea"/>
                          <a:ea typeface="+mn-ea"/>
                        </a:rPr>
                        <a:t>), </a:t>
                      </a:r>
                      <a:r>
                        <a:rPr lang="ko-KR" altLang="en-US" sz="800" dirty="0">
                          <a:latin typeface="+mn-ea"/>
                          <a:ea typeface="+mn-ea"/>
                        </a:rPr>
                        <a:t>종합낙찰제</a:t>
                      </a:r>
                      <a:r>
                        <a:rPr lang="en-US" altLang="ko-KR" sz="800" dirty="0">
                          <a:latin typeface="+mn-ea"/>
                          <a:ea typeface="+mn-ea"/>
                        </a:rPr>
                        <a:t>, </a:t>
                      </a:r>
                      <a:r>
                        <a:rPr lang="ko-KR" altLang="en-US" sz="800" dirty="0" err="1">
                          <a:latin typeface="+mn-ea"/>
                          <a:ea typeface="+mn-ea"/>
                        </a:rPr>
                        <a:t>협상에의한계약</a:t>
                      </a:r>
                      <a:r>
                        <a:rPr lang="en-US" altLang="ko-KR" sz="800" dirty="0">
                          <a:latin typeface="+mn-ea"/>
                          <a:ea typeface="+mn-ea"/>
                        </a:rPr>
                        <a:t>(</a:t>
                      </a:r>
                      <a:r>
                        <a:rPr lang="ko-KR" altLang="en-US" sz="800" dirty="0">
                          <a:latin typeface="+mn-ea"/>
                          <a:ea typeface="+mn-ea"/>
                        </a:rPr>
                        <a:t>서류</a:t>
                      </a:r>
                      <a:r>
                        <a:rPr lang="en-US" altLang="ko-KR" sz="800" dirty="0">
                          <a:latin typeface="+mn-ea"/>
                          <a:ea typeface="+mn-ea"/>
                        </a:rPr>
                        <a:t>), 2</a:t>
                      </a:r>
                      <a:r>
                        <a:rPr lang="ko-KR" altLang="en-US" sz="800" dirty="0">
                          <a:latin typeface="+mn-ea"/>
                          <a:ea typeface="+mn-ea"/>
                        </a:rPr>
                        <a:t>단계경쟁</a:t>
                      </a:r>
                      <a:r>
                        <a:rPr lang="en-US" altLang="ko-KR" sz="800" dirty="0">
                          <a:latin typeface="+mn-ea"/>
                          <a:ea typeface="+mn-ea"/>
                        </a:rPr>
                        <a:t>(</a:t>
                      </a:r>
                      <a:r>
                        <a:rPr lang="ko-KR" altLang="en-US" sz="800" dirty="0">
                          <a:latin typeface="+mn-ea"/>
                          <a:ea typeface="+mn-ea"/>
                        </a:rPr>
                        <a:t>동시</a:t>
                      </a:r>
                      <a:r>
                        <a:rPr lang="en-US" altLang="ko-KR" sz="800" dirty="0">
                          <a:latin typeface="+mn-ea"/>
                          <a:ea typeface="+mn-ea"/>
                        </a:rPr>
                        <a:t>), 2</a:t>
                      </a:r>
                      <a:r>
                        <a:rPr lang="ko-KR" altLang="en-US" sz="800" dirty="0">
                          <a:latin typeface="+mn-ea"/>
                          <a:ea typeface="+mn-ea"/>
                        </a:rPr>
                        <a:t>단계경쟁</a:t>
                      </a:r>
                      <a:r>
                        <a:rPr lang="en-US" altLang="ko-KR" sz="800" dirty="0">
                          <a:latin typeface="+mn-ea"/>
                          <a:ea typeface="+mn-ea"/>
                        </a:rPr>
                        <a:t>(</a:t>
                      </a:r>
                      <a:r>
                        <a:rPr lang="ko-KR" altLang="en-US" sz="800" dirty="0">
                          <a:latin typeface="+mn-ea"/>
                          <a:ea typeface="+mn-ea"/>
                        </a:rPr>
                        <a:t>분리</a:t>
                      </a:r>
                      <a:r>
                        <a:rPr lang="en-US" altLang="ko-KR" sz="800" dirty="0">
                          <a:latin typeface="+mn-ea"/>
                          <a:ea typeface="+mn-ea"/>
                        </a:rPr>
                        <a:t>), </a:t>
                      </a:r>
                      <a:r>
                        <a:rPr lang="ko-KR" altLang="en-US" sz="800" dirty="0" err="1">
                          <a:latin typeface="+mn-ea"/>
                          <a:ea typeface="+mn-ea"/>
                        </a:rPr>
                        <a:t>역경매</a:t>
                      </a:r>
                      <a:r>
                        <a:rPr lang="ko-KR" altLang="en-US" sz="800" dirty="0">
                          <a:latin typeface="+mn-ea"/>
                          <a:ea typeface="+mn-ea"/>
                        </a:rPr>
                        <a:t>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9651977"/>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scsbdMthdCd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낙찰자결정방법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협상</a:t>
                      </a:r>
                      <a:r>
                        <a:rPr lang="en-US" altLang="ko-KR" sz="800" dirty="0">
                          <a:latin typeface="+mn-ea"/>
                          <a:ea typeface="+mn-ea"/>
                        </a:rPr>
                        <a:t>, </a:t>
                      </a:r>
                      <a:r>
                        <a:rPr lang="ko-KR" altLang="en-US" sz="800" dirty="0">
                          <a:latin typeface="+mn-ea"/>
                          <a:ea typeface="+mn-ea"/>
                        </a:rPr>
                        <a:t>최저가격제</a:t>
                      </a:r>
                      <a:r>
                        <a:rPr lang="en-US" altLang="ko-KR" sz="800" dirty="0">
                          <a:latin typeface="+mn-ea"/>
                          <a:ea typeface="+mn-ea"/>
                        </a:rPr>
                        <a:t>, </a:t>
                      </a:r>
                      <a:r>
                        <a:rPr lang="ko-KR" altLang="en-US" sz="800" dirty="0">
                          <a:latin typeface="+mn-ea"/>
                          <a:ea typeface="+mn-ea"/>
                        </a:rPr>
                        <a:t>제한적최저가격제</a:t>
                      </a:r>
                      <a:r>
                        <a:rPr lang="en-US" altLang="ko-KR" sz="800" dirty="0">
                          <a:latin typeface="+mn-ea"/>
                          <a:ea typeface="+mn-ea"/>
                        </a:rPr>
                        <a:t>, </a:t>
                      </a:r>
                      <a:r>
                        <a:rPr lang="ko-KR" altLang="en-US" sz="800" dirty="0">
                          <a:latin typeface="+mn-ea"/>
                          <a:ea typeface="+mn-ea"/>
                        </a:rPr>
                        <a:t>적격심사제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05650719"/>
                  </a:ext>
                </a:extLst>
              </a:tr>
              <a:tr h="0">
                <a:tc>
                  <a:txBody>
                    <a:bodyPr/>
                    <a:lstStyle/>
                    <a:p>
                      <a:pPr latinLnBrk="1"/>
                      <a:r>
                        <a:rPr lang="ko-KR" altLang="en-US" sz="800" dirty="0">
                          <a:latin typeface="+mn-ea"/>
                          <a:ea typeface="+mn-ea"/>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bidRsltCd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입찰결과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낙찰</a:t>
                      </a:r>
                      <a:r>
                        <a:rPr lang="en-US" altLang="ko-KR" sz="800" dirty="0">
                          <a:latin typeface="+mn-ea"/>
                          <a:ea typeface="+mn-ea"/>
                        </a:rPr>
                        <a:t>, </a:t>
                      </a:r>
                      <a:r>
                        <a:rPr lang="ko-KR" altLang="en-US" sz="800" dirty="0">
                          <a:latin typeface="+mn-ea"/>
                          <a:ea typeface="+mn-ea"/>
                        </a:rPr>
                        <a:t>순위확정</a:t>
                      </a:r>
                      <a:r>
                        <a:rPr lang="en-US" altLang="ko-KR" sz="800" dirty="0">
                          <a:latin typeface="+mn-ea"/>
                          <a:ea typeface="+mn-ea"/>
                        </a:rPr>
                        <a:t>, </a:t>
                      </a:r>
                      <a:r>
                        <a:rPr lang="ko-KR" altLang="en-US" sz="800" dirty="0">
                          <a:latin typeface="+mn-ea"/>
                          <a:ea typeface="+mn-ea"/>
                        </a:rPr>
                        <a:t>공고취소</a:t>
                      </a:r>
                      <a:r>
                        <a:rPr lang="en-US" altLang="ko-KR" sz="800" dirty="0">
                          <a:latin typeface="+mn-ea"/>
                          <a:ea typeface="+mn-ea"/>
                        </a:rPr>
                        <a:t>, </a:t>
                      </a:r>
                      <a:r>
                        <a:rPr lang="ko-KR" altLang="en-US" sz="800" dirty="0">
                          <a:latin typeface="+mn-ea"/>
                          <a:ea typeface="+mn-ea"/>
                        </a:rPr>
                        <a:t>낙찰취소</a:t>
                      </a:r>
                      <a:r>
                        <a:rPr lang="en-US" altLang="ko-KR" sz="800" dirty="0">
                          <a:latin typeface="+mn-ea"/>
                          <a:ea typeface="+mn-ea"/>
                        </a:rPr>
                        <a:t>, </a:t>
                      </a:r>
                      <a:r>
                        <a:rPr lang="ko-KR" altLang="en-US" sz="800" dirty="0" err="1">
                          <a:latin typeface="+mn-ea"/>
                          <a:ea typeface="+mn-ea"/>
                        </a:rPr>
                        <a:t>심사중</a:t>
                      </a:r>
                      <a:r>
                        <a:rPr lang="en-US" altLang="ko-KR" sz="800" dirty="0">
                          <a:latin typeface="+mn-ea"/>
                          <a:ea typeface="+mn-ea"/>
                        </a:rPr>
                        <a:t>, </a:t>
                      </a:r>
                      <a:r>
                        <a:rPr lang="ko-KR" altLang="en-US" sz="800" dirty="0">
                          <a:latin typeface="+mn-ea"/>
                          <a:ea typeface="+mn-ea"/>
                        </a:rPr>
                        <a:t>유찰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85012989"/>
                  </a:ext>
                </a:extLst>
              </a:tr>
              <a:tr h="0">
                <a:tc>
                  <a:txBody>
                    <a:bodyPr/>
                    <a:lstStyle/>
                    <a:p>
                      <a:pPr latinLnBrk="1"/>
                      <a:r>
                        <a:rPr lang="ko-KR" altLang="en-US" sz="800" dirty="0">
                          <a:latin typeface="+mn-ea"/>
                          <a:ea typeface="+mn-ea"/>
                        </a:rPr>
                        <a:t>진행상태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prgrsStcd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진행상태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순위확정</a:t>
                      </a:r>
                      <a:r>
                        <a:rPr lang="en-US" altLang="ko-KR" sz="800" dirty="0">
                          <a:latin typeface="+mn-ea"/>
                          <a:ea typeface="+mn-ea"/>
                        </a:rPr>
                        <a:t>, </a:t>
                      </a:r>
                      <a:r>
                        <a:rPr lang="ko-KR" altLang="en-US" sz="800" dirty="0">
                          <a:latin typeface="+mn-ea"/>
                          <a:ea typeface="+mn-ea"/>
                        </a:rPr>
                        <a:t>계획등록</a:t>
                      </a:r>
                      <a:r>
                        <a:rPr lang="en-US" altLang="ko-KR" sz="800" dirty="0">
                          <a:latin typeface="+mn-ea"/>
                          <a:ea typeface="+mn-ea"/>
                        </a:rPr>
                        <a:t>, </a:t>
                      </a:r>
                      <a:r>
                        <a:rPr lang="ko-KR" altLang="en-US" sz="800" dirty="0">
                          <a:latin typeface="+mn-ea"/>
                          <a:ea typeface="+mn-ea"/>
                        </a:rPr>
                        <a:t>협상완료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15880653"/>
                  </a:ext>
                </a:extLst>
              </a:tr>
              <a:tr h="0">
                <a:tc>
                  <a:txBody>
                    <a:bodyPr/>
                    <a:lstStyle/>
                    <a:p>
                      <a:pPr latinLnBrk="1"/>
                      <a:r>
                        <a:rPr lang="ko-KR" altLang="en-US" sz="800" dirty="0">
                          <a:latin typeface="+mn-ea"/>
                          <a:ea typeface="+mn-ea"/>
                        </a:rPr>
                        <a:t>협상진행상태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ngtnStcd</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협상진행상태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전체</a:t>
                      </a:r>
                      <a:r>
                        <a:rPr lang="en-US" altLang="ko-KR" sz="800" dirty="0">
                          <a:latin typeface="+mn-ea"/>
                          <a:ea typeface="+mn-ea"/>
                        </a:rPr>
                        <a:t>, </a:t>
                      </a:r>
                      <a:r>
                        <a:rPr lang="ko-KR" altLang="en-US" sz="800" dirty="0">
                          <a:latin typeface="+mn-ea"/>
                          <a:ea typeface="+mn-ea"/>
                        </a:rPr>
                        <a:t>계획확정</a:t>
                      </a:r>
                      <a:r>
                        <a:rPr lang="en-US" altLang="ko-KR" sz="800" dirty="0">
                          <a:latin typeface="+mn-ea"/>
                          <a:ea typeface="+mn-ea"/>
                        </a:rPr>
                        <a:t>, </a:t>
                      </a:r>
                      <a:r>
                        <a:rPr lang="ko-KR" altLang="en-US" sz="800" dirty="0">
                          <a:latin typeface="+mn-ea"/>
                          <a:ea typeface="+mn-ea"/>
                        </a:rPr>
                        <a:t>협상연기</a:t>
                      </a:r>
                      <a:r>
                        <a:rPr lang="en-US" altLang="ko-KR" sz="800" dirty="0">
                          <a:latin typeface="+mn-ea"/>
                          <a:ea typeface="+mn-ea"/>
                        </a:rPr>
                        <a:t>, </a:t>
                      </a:r>
                      <a:r>
                        <a:rPr lang="ko-KR" altLang="en-US" sz="800" dirty="0">
                          <a:latin typeface="+mn-ea"/>
                          <a:ea typeface="+mn-ea"/>
                        </a:rPr>
                        <a:t>협상취소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2693080"/>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orderInstNm</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 </a:t>
                      </a:r>
                      <a:r>
                        <a:rPr lang="ko-KR" altLang="en-US" sz="800" dirty="0" err="1">
                          <a:latin typeface="+mn-ea"/>
                          <a:ea typeface="+mn-ea"/>
                        </a:rPr>
                        <a:t>공통팝업을</a:t>
                      </a:r>
                      <a:r>
                        <a:rPr lang="ko-KR" altLang="en-US" sz="800" dirty="0">
                          <a:latin typeface="+mn-ea"/>
                          <a:ea typeface="+mn-ea"/>
                        </a:rPr>
                        <a:t> 통해 조회하여 선택한 값</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latinLnBrk="1"/>
                      <a:r>
                        <a:rPr lang="ko-KR" altLang="en-US" sz="800" dirty="0">
                          <a:latin typeface="+mn-ea"/>
                          <a:ea typeface="+mn-ea"/>
                        </a:rPr>
                        <a:t>품목명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kern="1200" dirty="0" err="1">
                          <a:solidFill>
                            <a:schemeClr val="tx1"/>
                          </a:solidFill>
                          <a:latin typeface="+mn-lt"/>
                          <a:ea typeface="+mn-ea"/>
                          <a:cs typeface="+mn-cs"/>
                        </a:rPr>
                        <a:t>itemNm</a:t>
                      </a:r>
                      <a:endParaRPr lang="en-US" sz="800" kern="1200" dirty="0">
                        <a:solidFill>
                          <a:schemeClr val="tx1"/>
                        </a:solidFill>
                        <a:latin typeface="+mn-lt"/>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품목 </a:t>
                      </a:r>
                      <a:r>
                        <a:rPr lang="ko-KR" altLang="en-US" sz="800" dirty="0" err="1">
                          <a:latin typeface="+mn-ea"/>
                          <a:ea typeface="+mn-ea"/>
                        </a:rPr>
                        <a:t>공통팝업을</a:t>
                      </a:r>
                      <a:r>
                        <a:rPr lang="ko-KR" altLang="en-US" sz="800" dirty="0">
                          <a:latin typeface="+mn-ea"/>
                          <a:ea typeface="+mn-ea"/>
                        </a:rPr>
                        <a:t> 통해 조회하여 선택한 값</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6" name="TextBox 5">
            <a:extLst>
              <a:ext uri="{FF2B5EF4-FFF2-40B4-BE49-F238E27FC236}">
                <a16:creationId xmlns:a16="http://schemas.microsoft.com/office/drawing/2014/main" id="{517A0773-3C90-4900-FD26-1D4BE696EB5A}"/>
              </a:ext>
            </a:extLst>
          </p:cNvPr>
          <p:cNvSpPr txBox="1"/>
          <p:nvPr/>
        </p:nvSpPr>
        <p:spPr>
          <a:xfrm>
            <a:off x="458117" y="4873811"/>
            <a:ext cx="3875026"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검색결과</a:t>
            </a:r>
            <a:r>
              <a:rPr lang="en-US" altLang="ko-KR" sz="900" b="1" dirty="0">
                <a:solidFill>
                  <a:prstClr val="black"/>
                </a:solidFill>
              </a:rPr>
              <a:t>(</a:t>
            </a:r>
            <a:r>
              <a:rPr lang="ko-KR" altLang="en-US" sz="900" b="1" dirty="0">
                <a:solidFill>
                  <a:prstClr val="black"/>
                </a:solidFill>
              </a:rPr>
              <a:t>조달업무담당자</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dlt_prcmTaskPicBdopnList</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49C690CC-6FCC-972B-2863-B2CCE89A50E8}"/>
              </a:ext>
            </a:extLst>
          </p:cNvPr>
          <p:cNvGraphicFramePr>
            <a:graphicFrameLocks noGrp="1"/>
          </p:cNvGraphicFramePr>
          <p:nvPr/>
        </p:nvGraphicFramePr>
        <p:xfrm>
          <a:off x="452999" y="5157565"/>
          <a:ext cx="8994883" cy="1163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rnum</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err="1">
                          <a:solidFill>
                            <a:schemeClr val="tx1"/>
                          </a:solidFill>
                          <a:latin typeface="+mn-lt"/>
                          <a:ea typeface="+mn-ea"/>
                          <a:cs typeface="+mn-cs"/>
                        </a:rPr>
                        <a:t>bizSecd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업무구분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3694876"/>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pbancNo</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34675181"/>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clsfNo</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4403841"/>
                  </a:ext>
                </a:extLst>
              </a:tr>
              <a:tr h="0">
                <a:tc>
                  <a:txBody>
                    <a:bodyPr/>
                    <a:lstStyle/>
                    <a:p>
                      <a:pPr latinLnBrk="1"/>
                      <a:r>
                        <a:rPr lang="ko-KR" altLang="en-US" sz="800" dirty="0">
                          <a:latin typeface="+mn-ea"/>
                          <a:ea typeface="+mn-ea"/>
                        </a:rPr>
                        <a:t>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bidCycl</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차수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0208478"/>
                  </a:ext>
                </a:extLst>
              </a:tr>
            </a:tbl>
          </a:graphicData>
        </a:graphic>
      </p:graphicFrame>
      <p:sp>
        <p:nvSpPr>
          <p:cNvPr id="2" name="Text Box 73">
            <a:extLst>
              <a:ext uri="{FF2B5EF4-FFF2-40B4-BE49-F238E27FC236}">
                <a16:creationId xmlns:a16="http://schemas.microsoft.com/office/drawing/2014/main" id="{BC0A6F9B-FBD4-D832-8BA6-F2C855422D6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08700633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145</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45600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pbancTpCd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pbancYmd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2785069"/>
                  </a:ext>
                </a:extLst>
              </a:tr>
              <a:tr h="0">
                <a:tc>
                  <a:txBody>
                    <a:bodyPr/>
                    <a:lstStyle/>
                    <a:p>
                      <a:pPr latinLnBrk="1"/>
                      <a:r>
                        <a:rPr lang="ko-KR" altLang="en-US" sz="800" dirty="0">
                          <a:latin typeface="+mn-ea"/>
                          <a:ea typeface="+mn-ea"/>
                        </a:rPr>
                        <a:t>판단</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err="1">
                          <a:solidFill>
                            <a:srgbClr val="000000"/>
                          </a:solidFill>
                          <a:effectLst/>
                          <a:latin typeface="+mn-lt"/>
                          <a:ea typeface="+mn-ea"/>
                        </a:rPr>
                        <a:t>prcmNo</a:t>
                      </a:r>
                      <a:endParaRPr lang="ko-KR" alt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a:t>
                      </a:r>
                      <a:r>
                        <a:rPr lang="en-US" altLang="ko-KR" sz="800" dirty="0">
                          <a:latin typeface="+mn-ea"/>
                          <a:ea typeface="+mn-ea"/>
                        </a:rPr>
                        <a:t>/</a:t>
                      </a:r>
                      <a:r>
                        <a:rPr lang="ko-KR" altLang="en-US" sz="800" dirty="0">
                          <a:latin typeface="+mn-ea"/>
                          <a:ea typeface="+mn-ea"/>
                        </a:rPr>
                        <a:t>공사번호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업무구분이 공사인 경우 공사번호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8825031"/>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rfrncNo</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통합참조번호</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7543318"/>
                  </a:ext>
                </a:extLst>
              </a:tr>
              <a:tr h="0">
                <a:tc>
                  <a:txBody>
                    <a:bodyPr/>
                    <a:lstStyle/>
                    <a:p>
                      <a:pPr latinLnBrk="1"/>
                      <a:r>
                        <a:rPr lang="ko-KR" altLang="en-US" sz="800" dirty="0">
                          <a:latin typeface="+mn-ea"/>
                          <a:ea typeface="+mn-ea"/>
                        </a:rPr>
                        <a:t>입찰</a:t>
                      </a:r>
                      <a:r>
                        <a:rPr lang="en-US" altLang="ko-KR" sz="800" dirty="0">
                          <a:latin typeface="+mn-ea"/>
                          <a:ea typeface="+mn-ea"/>
                        </a:rPr>
                        <a:t>/</a:t>
                      </a:r>
                      <a:r>
                        <a:rPr lang="ko-KR" altLang="en-US" sz="800" dirty="0" err="1">
                          <a:latin typeface="+mn-ea"/>
                          <a:ea typeface="+mn-ea"/>
                        </a:rPr>
                        <a:t>협상건명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bidNm</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a:t>
                      </a:r>
                      <a:r>
                        <a:rPr lang="en-US" altLang="ko-KR" sz="800" dirty="0">
                          <a:latin typeface="+mn-ea"/>
                          <a:ea typeface="+mn-ea"/>
                        </a:rPr>
                        <a:t>/</a:t>
                      </a:r>
                      <a:r>
                        <a:rPr lang="ko-KR" altLang="en-US" sz="800" dirty="0" err="1">
                          <a:latin typeface="+mn-ea"/>
                          <a:ea typeface="+mn-ea"/>
                        </a:rPr>
                        <a:t>협상건명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8730929"/>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orderInstNm</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1565023"/>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elgbSrngYn</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249138"/>
                  </a:ext>
                </a:extLst>
              </a:tr>
              <a:tr h="0">
                <a:tc>
                  <a:txBody>
                    <a:bodyPr/>
                    <a:lstStyle/>
                    <a:p>
                      <a:pPr latinLnBrk="1"/>
                      <a:r>
                        <a:rPr lang="ko-KR" altLang="en-US" sz="800" dirty="0">
                          <a:latin typeface="+mn-ea"/>
                          <a:ea typeface="+mn-ea"/>
                        </a:rPr>
                        <a:t>재입찰여부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err="1">
                          <a:solidFill>
                            <a:srgbClr val="000000"/>
                          </a:solidFill>
                          <a:effectLst/>
                          <a:latin typeface="+mn-lt"/>
                          <a:ea typeface="맑은 고딕" panose="020B0503020000020004" pitchFamily="50" charset="-127"/>
                        </a:rPr>
                        <a:t>rebidYn</a:t>
                      </a:r>
                      <a:endParaRPr lang="ko-KR" alt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재입찰여부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440566"/>
                  </a:ext>
                </a:extLst>
              </a:tr>
              <a:tr h="0">
                <a:tc>
                  <a:txBody>
                    <a:bodyPr/>
                    <a:lstStyle/>
                    <a:p>
                      <a:pPr latinLnBrk="1"/>
                      <a:r>
                        <a:rPr lang="ko-KR" altLang="en-US" sz="800" dirty="0">
                          <a:latin typeface="+mn-ea"/>
                          <a:ea typeface="+mn-ea"/>
                        </a:rPr>
                        <a:t>입찰서제출마감일자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bidClrsYmd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입찰서제출마감일자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64416585"/>
                  </a:ext>
                </a:extLst>
              </a:tr>
              <a:tr h="0">
                <a:tc>
                  <a:txBody>
                    <a:bodyPr/>
                    <a:lstStyle/>
                    <a:p>
                      <a:pPr latinLnBrk="1"/>
                      <a:r>
                        <a:rPr lang="ko-KR" altLang="en-US" sz="800" dirty="0">
                          <a:latin typeface="+mn-ea"/>
                          <a:ea typeface="+mn-ea"/>
                        </a:rPr>
                        <a:t>개찰</a:t>
                      </a:r>
                      <a:r>
                        <a:rPr lang="en-US" altLang="ko-KR" sz="800" dirty="0">
                          <a:latin typeface="+mn-ea"/>
                          <a:ea typeface="+mn-ea"/>
                        </a:rPr>
                        <a:t>/</a:t>
                      </a:r>
                      <a:r>
                        <a:rPr lang="ko-KR" altLang="en-US" sz="800" dirty="0">
                          <a:latin typeface="+mn-ea"/>
                          <a:ea typeface="+mn-ea"/>
                        </a:rPr>
                        <a:t>협상일자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bdopnYmd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a:t>
                      </a:r>
                      <a:r>
                        <a:rPr lang="en-US" altLang="ko-KR" sz="800" dirty="0">
                          <a:latin typeface="+mn-ea"/>
                          <a:ea typeface="+mn-ea"/>
                        </a:rPr>
                        <a:t>/</a:t>
                      </a:r>
                      <a:r>
                        <a:rPr lang="ko-KR" altLang="en-US" sz="800" dirty="0">
                          <a:latin typeface="+mn-ea"/>
                          <a:ea typeface="+mn-ea"/>
                        </a:rPr>
                        <a:t>협상일자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0884651"/>
                  </a:ext>
                </a:extLst>
              </a:tr>
              <a:tr h="0">
                <a:tc>
                  <a:txBody>
                    <a:bodyPr/>
                    <a:lstStyle/>
                    <a:p>
                      <a:pPr latinLnBrk="1"/>
                      <a:r>
                        <a:rPr lang="ko-KR" altLang="en-US" sz="800" dirty="0" err="1">
                          <a:latin typeface="+mn-ea"/>
                          <a:ea typeface="+mn-ea"/>
                        </a:rPr>
                        <a:t>투찰업체수</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bidPrtcpBzentyCnt</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투찰업체수</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2604741"/>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bgtAmt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9173542"/>
                  </a:ext>
                </a:extLst>
              </a:tr>
              <a:tr h="0">
                <a:tc>
                  <a:txBody>
                    <a:bodyPr/>
                    <a:lstStyle/>
                    <a:p>
                      <a:pPr latinLnBrk="1"/>
                      <a:r>
                        <a:rPr lang="ko-KR" altLang="en-US" sz="800" dirty="0">
                          <a:latin typeface="+mn-ea"/>
                          <a:ea typeface="+mn-ea"/>
                        </a:rPr>
                        <a:t>입찰구분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bidSecd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2015299"/>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ctrtMthdCd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41684296"/>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scsbdMthdCd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낙찰자결정방법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5543671"/>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bidRsltCd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19835340"/>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bidPrcs</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 처리 및 결과를 제공하는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계약구분과 입찰상태에 따라 </a:t>
                      </a:r>
                      <a:r>
                        <a:rPr lang="en-US" altLang="ko-KR" sz="800" dirty="0">
                          <a:latin typeface="+mn-ea"/>
                          <a:ea typeface="+mn-ea"/>
                        </a:rPr>
                        <a:t>[</a:t>
                      </a:r>
                      <a:r>
                        <a:rPr lang="ko-KR" altLang="en-US" sz="800" dirty="0">
                          <a:latin typeface="+mn-ea"/>
                          <a:ea typeface="+mn-ea"/>
                        </a:rPr>
                        <a:t>입찰실시</a:t>
                      </a:r>
                      <a:r>
                        <a:rPr lang="en-US" altLang="ko-KR" sz="800" dirty="0">
                          <a:latin typeface="+mn-ea"/>
                          <a:ea typeface="+mn-ea"/>
                        </a:rPr>
                        <a:t>], [</a:t>
                      </a:r>
                      <a:r>
                        <a:rPr lang="ko-KR" altLang="en-US" sz="800" dirty="0">
                          <a:latin typeface="+mn-ea"/>
                          <a:ea typeface="+mn-ea"/>
                        </a:rPr>
                        <a:t>입찰결과</a:t>
                      </a:r>
                      <a:r>
                        <a:rPr lang="en-US" altLang="ko-KR" sz="800" dirty="0">
                          <a:latin typeface="+mn-ea"/>
                          <a:ea typeface="+mn-ea"/>
                        </a:rPr>
                        <a:t>], [</a:t>
                      </a:r>
                      <a:r>
                        <a:rPr lang="ko-KR" altLang="en-US" sz="800" dirty="0">
                          <a:latin typeface="+mn-ea"/>
                          <a:ea typeface="+mn-ea"/>
                        </a:rPr>
                        <a:t>협상실시</a:t>
                      </a:r>
                      <a:r>
                        <a:rPr lang="en-US" altLang="ko-KR" sz="800" dirty="0">
                          <a:latin typeface="+mn-ea"/>
                          <a:ea typeface="+mn-ea"/>
                        </a:rPr>
                        <a:t>], [</a:t>
                      </a:r>
                      <a:r>
                        <a:rPr lang="ko-KR" altLang="en-US" sz="800" dirty="0">
                          <a:latin typeface="+mn-ea"/>
                          <a:ea typeface="+mn-ea"/>
                        </a:rPr>
                        <a:t>협상결과</a:t>
                      </a:r>
                      <a:r>
                        <a:rPr lang="en-US" altLang="ko-KR" sz="800" dirty="0">
                          <a:latin typeface="+mn-ea"/>
                          <a:ea typeface="+mn-ea"/>
                        </a:rPr>
                        <a:t>] </a:t>
                      </a:r>
                      <a:r>
                        <a:rPr lang="ko-KR" altLang="en-US" sz="800" dirty="0">
                          <a:latin typeface="+mn-ea"/>
                          <a:ea typeface="+mn-ea"/>
                        </a:rPr>
                        <a:t>버튼을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647449"/>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공개협상심사결과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rlsNgtnSrngRslt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공개수의협상인 경우 개찰완료 후 낙찰</a:t>
                      </a:r>
                      <a:r>
                        <a:rPr lang="en-US" altLang="ko-KR" sz="800" dirty="0">
                          <a:latin typeface="+mn-ea"/>
                          <a:ea typeface="+mn-ea"/>
                        </a:rPr>
                        <a:t>(</a:t>
                      </a:r>
                      <a:r>
                        <a:rPr lang="ko-KR" altLang="en-US" sz="800" dirty="0">
                          <a:latin typeface="+mn-ea"/>
                          <a:ea typeface="+mn-ea"/>
                        </a:rPr>
                        <a:t>심사결과</a:t>
                      </a:r>
                      <a:r>
                        <a:rPr lang="en-US" altLang="ko-KR" sz="800" dirty="0">
                          <a:latin typeface="+mn-ea"/>
                          <a:ea typeface="+mn-ea"/>
                        </a:rPr>
                        <a:t>)</a:t>
                      </a:r>
                      <a:r>
                        <a:rPr lang="ko-KR" altLang="en-US" sz="800" dirty="0">
                          <a:latin typeface="+mn-ea"/>
                          <a:ea typeface="+mn-ea"/>
                        </a:rPr>
                        <a:t>처리 및 결과조회하기 위한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t>
                      </a:r>
                      <a:r>
                        <a:rPr lang="ko-KR" altLang="en-US" sz="800" dirty="0">
                          <a:latin typeface="+mn-ea"/>
                          <a:ea typeface="+mn-ea"/>
                        </a:rPr>
                        <a:t>협상심사</a:t>
                      </a:r>
                      <a:r>
                        <a:rPr lang="en-US" altLang="ko-KR" sz="800" dirty="0">
                          <a:latin typeface="+mn-ea"/>
                          <a:ea typeface="+mn-ea"/>
                        </a:rPr>
                        <a:t>] </a:t>
                      </a:r>
                      <a:r>
                        <a:rPr lang="ko-KR" altLang="en-US" sz="800" dirty="0">
                          <a:latin typeface="+mn-ea"/>
                          <a:ea typeface="+mn-ea"/>
                        </a:rPr>
                        <a:t>버튼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7404645"/>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협상에 의한 계약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ngtnCtrt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협상에 의한 계약인 경우 개찰완료 후 가격협상하기 위한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t>
                      </a:r>
                      <a:r>
                        <a:rPr lang="ko-KR" altLang="en-US" sz="800" dirty="0">
                          <a:latin typeface="+mn-ea"/>
                          <a:ea typeface="+mn-ea"/>
                        </a:rPr>
                        <a:t>가격협상</a:t>
                      </a:r>
                      <a:r>
                        <a:rPr lang="en-US" altLang="ko-KR" sz="800" dirty="0">
                          <a:latin typeface="+mn-ea"/>
                          <a:ea typeface="+mn-ea"/>
                        </a:rPr>
                        <a:t>] </a:t>
                      </a:r>
                      <a:r>
                        <a:rPr lang="ko-KR" altLang="en-US" sz="800" dirty="0">
                          <a:latin typeface="+mn-ea"/>
                          <a:ea typeface="+mn-ea"/>
                        </a:rPr>
                        <a:t>버튼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931039"/>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수의계약배제업체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vltrnsCtrtExclBzenty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수의계약배제업체 대상을 관리하기 위한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부대조달정보체계 시스템인 경우 </a:t>
                      </a:r>
                      <a:r>
                        <a:rPr lang="en-US" altLang="ko-KR" sz="800" dirty="0">
                          <a:latin typeface="+mn-ea"/>
                          <a:ea typeface="+mn-ea"/>
                        </a:rPr>
                        <a:t>[</a:t>
                      </a:r>
                      <a:r>
                        <a:rPr lang="ko-KR" altLang="en-US" sz="800" dirty="0">
                          <a:latin typeface="+mn-ea"/>
                          <a:ea typeface="+mn-ea"/>
                        </a:rPr>
                        <a:t>상세조회</a:t>
                      </a:r>
                      <a:r>
                        <a:rPr lang="en-US" altLang="ko-KR" sz="800" dirty="0">
                          <a:latin typeface="+mn-ea"/>
                          <a:ea typeface="+mn-ea"/>
                        </a:rPr>
                        <a:t>] </a:t>
                      </a:r>
                      <a:r>
                        <a:rPr lang="ko-KR" altLang="en-US" sz="800" dirty="0">
                          <a:latin typeface="+mn-ea"/>
                          <a:ea typeface="+mn-ea"/>
                        </a:rPr>
                        <a:t>버튼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1916311"/>
                  </a:ext>
                </a:extLst>
              </a:tr>
            </a:tbl>
          </a:graphicData>
        </a:graphic>
      </p:graphicFrame>
      <p:sp>
        <p:nvSpPr>
          <p:cNvPr id="2" name="TextBox 1">
            <a:extLst>
              <a:ext uri="{FF2B5EF4-FFF2-40B4-BE49-F238E27FC236}">
                <a16:creationId xmlns:a16="http://schemas.microsoft.com/office/drawing/2014/main" id="{5677BC4E-D32C-4D4B-E9BF-1AA274225B8A}"/>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(2/4)</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19E0FB53-C3E2-1404-BB2C-B1241E81279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8961773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146</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163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rnum</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kern="1200" dirty="0" err="1">
                          <a:solidFill>
                            <a:schemeClr val="tx1"/>
                          </a:solidFill>
                          <a:latin typeface="+mn-lt"/>
                          <a:ea typeface="+mn-ea"/>
                          <a:cs typeface="+mn-cs"/>
                        </a:rPr>
                        <a:t>bizSecd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업무구분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9745003"/>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pbancNo</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3429639"/>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clsfNo</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2462476"/>
                  </a:ext>
                </a:extLst>
              </a:tr>
              <a:tr h="0">
                <a:tc>
                  <a:txBody>
                    <a:bodyPr/>
                    <a:lstStyle/>
                    <a:p>
                      <a:pPr latinLnBrk="1"/>
                      <a:r>
                        <a:rPr lang="ko-KR" altLang="en-US" sz="800" dirty="0">
                          <a:latin typeface="+mn-ea"/>
                          <a:ea typeface="+mn-ea"/>
                        </a:rPr>
                        <a:t>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bidCycl</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차수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8171950"/>
                  </a:ext>
                </a:extLst>
              </a:tr>
              <a:tr h="0">
                <a:tc>
                  <a:txBody>
                    <a:bodyPr/>
                    <a:lstStyle/>
                    <a:p>
                      <a:pPr latinLnBrk="1"/>
                      <a:r>
                        <a:rPr lang="ko-KR" altLang="en-US" sz="800" dirty="0">
                          <a:latin typeface="+mn-ea"/>
                          <a:ea typeface="+mn-ea"/>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pbancTpNm</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01562520"/>
                  </a:ext>
                </a:extLst>
              </a:tr>
              <a:tr h="0">
                <a:tc>
                  <a:txBody>
                    <a:bodyPr/>
                    <a:lstStyle/>
                    <a:p>
                      <a:pPr latinLnBrk="1"/>
                      <a:r>
                        <a:rPr lang="ko-KR" altLang="en-US" sz="800" dirty="0">
                          <a:latin typeface="+mn-ea"/>
                          <a:ea typeface="+mn-ea"/>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pbancYmd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8813947"/>
                  </a:ext>
                </a:extLst>
              </a:tr>
              <a:tr h="0">
                <a:tc>
                  <a:txBody>
                    <a:bodyPr/>
                    <a:lstStyle/>
                    <a:p>
                      <a:pPr latinLnBrk="1"/>
                      <a:r>
                        <a:rPr lang="ko-KR" altLang="en-US" sz="800" dirty="0">
                          <a:latin typeface="+mn-ea"/>
                          <a:ea typeface="+mn-ea"/>
                        </a:rPr>
                        <a:t>판단</a:t>
                      </a:r>
                      <a:r>
                        <a:rPr lang="en-US" altLang="ko-KR" sz="800" dirty="0">
                          <a:latin typeface="+mn-ea"/>
                          <a:ea typeface="+mn-ea"/>
                        </a:rPr>
                        <a:t>/</a:t>
                      </a:r>
                      <a:r>
                        <a:rPr lang="ko-KR" altLang="en-US" sz="800" dirty="0">
                          <a:latin typeface="+mn-ea"/>
                          <a:ea typeface="+mn-ea"/>
                        </a:rPr>
                        <a:t>공사번호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err="1">
                          <a:solidFill>
                            <a:srgbClr val="000000"/>
                          </a:solidFill>
                          <a:effectLst/>
                          <a:latin typeface="+mn-lt"/>
                          <a:ea typeface="+mn-ea"/>
                        </a:rPr>
                        <a:t>prcmNo</a:t>
                      </a:r>
                      <a:endParaRPr lang="ko-KR" alt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a:t>
                      </a:r>
                      <a:r>
                        <a:rPr lang="en-US" altLang="ko-KR" sz="800" dirty="0">
                          <a:latin typeface="+mn-ea"/>
                          <a:ea typeface="+mn-ea"/>
                        </a:rPr>
                        <a:t>/</a:t>
                      </a:r>
                      <a:r>
                        <a:rPr lang="ko-KR" altLang="en-US" sz="800" dirty="0">
                          <a:latin typeface="+mn-ea"/>
                          <a:ea typeface="+mn-ea"/>
                        </a:rPr>
                        <a:t>공사번호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업무구분이 공사인 경우 공사번호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46254548"/>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통합참조번호</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0416942"/>
                  </a:ext>
                </a:extLst>
              </a:tr>
              <a:tr h="0">
                <a:tc>
                  <a:txBody>
                    <a:bodyPr/>
                    <a:lstStyle/>
                    <a:p>
                      <a:pPr latinLnBrk="1"/>
                      <a:r>
                        <a:rPr lang="ko-KR" altLang="en-US" sz="800" dirty="0">
                          <a:latin typeface="+mn-ea"/>
                          <a:ea typeface="+mn-ea"/>
                        </a:rPr>
                        <a:t>입찰</a:t>
                      </a:r>
                      <a:r>
                        <a:rPr lang="en-US" altLang="ko-KR" sz="800" dirty="0">
                          <a:latin typeface="+mn-ea"/>
                          <a:ea typeface="+mn-ea"/>
                        </a:rPr>
                        <a:t>/</a:t>
                      </a:r>
                      <a:r>
                        <a:rPr lang="ko-KR" altLang="en-US" sz="800" dirty="0" err="1">
                          <a:latin typeface="+mn-ea"/>
                          <a:ea typeface="+mn-ea"/>
                        </a:rPr>
                        <a:t>협상건명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bidNm</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a:t>
                      </a:r>
                      <a:r>
                        <a:rPr lang="en-US" altLang="ko-KR" sz="800" dirty="0">
                          <a:latin typeface="+mn-ea"/>
                          <a:ea typeface="+mn-ea"/>
                        </a:rPr>
                        <a:t>/</a:t>
                      </a:r>
                      <a:r>
                        <a:rPr lang="ko-KR" altLang="en-US" sz="800" dirty="0" err="1">
                          <a:latin typeface="+mn-ea"/>
                          <a:ea typeface="+mn-ea"/>
                        </a:rPr>
                        <a:t>협상건명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4662128"/>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orderInstNm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48200667"/>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elgbSrngYn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01733713"/>
                  </a:ext>
                </a:extLst>
              </a:tr>
              <a:tr h="0">
                <a:tc>
                  <a:txBody>
                    <a:bodyPr/>
                    <a:lstStyle/>
                    <a:p>
                      <a:pPr latinLnBrk="1"/>
                      <a:r>
                        <a:rPr lang="ko-KR" altLang="en-US" sz="800" dirty="0">
                          <a:latin typeface="+mn-ea"/>
                          <a:ea typeface="+mn-ea"/>
                        </a:rPr>
                        <a:t>재입찰여부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err="1">
                          <a:solidFill>
                            <a:srgbClr val="000000"/>
                          </a:solidFill>
                          <a:effectLst/>
                          <a:latin typeface="+mn-lt"/>
                          <a:ea typeface="+mn-ea"/>
                        </a:rPr>
                        <a:t>rebidYn</a:t>
                      </a:r>
                      <a:endParaRPr lang="ko-KR" alt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재입찰여부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055691"/>
                  </a:ext>
                </a:extLst>
              </a:tr>
              <a:tr h="0">
                <a:tc>
                  <a:txBody>
                    <a:bodyPr/>
                    <a:lstStyle/>
                    <a:p>
                      <a:pPr latinLnBrk="1"/>
                      <a:r>
                        <a:rPr lang="ko-KR" altLang="en-US" sz="800" dirty="0">
                          <a:latin typeface="+mn-ea"/>
                          <a:ea typeface="+mn-ea"/>
                        </a:rPr>
                        <a:t>입찰서제출마감일자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bidClrsYmd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입찰서제출마감일자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45466342"/>
                  </a:ext>
                </a:extLst>
              </a:tr>
              <a:tr h="0">
                <a:tc>
                  <a:txBody>
                    <a:bodyPr/>
                    <a:lstStyle/>
                    <a:p>
                      <a:pPr latinLnBrk="1"/>
                      <a:r>
                        <a:rPr lang="ko-KR" altLang="en-US" sz="800">
                          <a:latin typeface="+mn-ea"/>
                          <a:ea typeface="+mn-ea"/>
                        </a:rPr>
                        <a:t>개찰</a:t>
                      </a:r>
                      <a:r>
                        <a:rPr lang="en-US" altLang="ko-KR" sz="800">
                          <a:latin typeface="+mn-ea"/>
                          <a:ea typeface="+mn-ea"/>
                        </a:rPr>
                        <a:t>/</a:t>
                      </a:r>
                      <a:r>
                        <a:rPr lang="ko-KR" altLang="en-US" sz="800">
                          <a:latin typeface="+mn-ea"/>
                          <a:ea typeface="+mn-ea"/>
                        </a:rPr>
                        <a:t>협상일자</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a:t>
                      </a:r>
                      <a:r>
                        <a:rPr lang="en-US" altLang="ko-KR" sz="800" dirty="0">
                          <a:latin typeface="+mn-ea"/>
                          <a:ea typeface="+mn-ea"/>
                        </a:rPr>
                        <a:t>/</a:t>
                      </a:r>
                      <a:r>
                        <a:rPr lang="ko-KR" altLang="en-US" sz="800" dirty="0">
                          <a:latin typeface="+mn-ea"/>
                          <a:ea typeface="+mn-ea"/>
                        </a:rPr>
                        <a:t>협상일자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548100"/>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bgtAmt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05551686"/>
                  </a:ext>
                </a:extLst>
              </a:tr>
              <a:tr h="0">
                <a:tc>
                  <a:txBody>
                    <a:bodyPr/>
                    <a:lstStyle/>
                    <a:p>
                      <a:pPr latinLnBrk="1"/>
                      <a:r>
                        <a:rPr lang="ko-KR" altLang="en-US" sz="800" dirty="0">
                          <a:latin typeface="+mn-ea"/>
                          <a:ea typeface="+mn-ea"/>
                        </a:rPr>
                        <a:t>입찰구분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bidSecd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1948729"/>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ctrtMthdCd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2785069"/>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scsbdMthdCd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낙찰자결정방법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8825031"/>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지시년도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drctnYr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지시년도</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7311315"/>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투찰단가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bdngAmt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로그인한 업체의 </a:t>
                      </a:r>
                      <a:r>
                        <a:rPr lang="ko-KR" altLang="en-US" sz="800" dirty="0" err="1">
                          <a:latin typeface="+mn-ea"/>
                          <a:ea typeface="+mn-ea"/>
                        </a:rPr>
                        <a:t>투찰단가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9222300"/>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bidRsltCd</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5422751"/>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낙찰순위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lt"/>
                          <a:ea typeface="맑은 고딕" panose="020B0503020000020004" pitchFamily="50" charset="-127"/>
                        </a:rPr>
                        <a:t>scsbdRnk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로그인한 업체의 낙찰순위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00376560"/>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총점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mn-lt"/>
                          <a:ea typeface="맑은 고딕" panose="020B0503020000020004" pitchFamily="50" charset="-127"/>
                        </a:rPr>
                        <a:t>tscr</a:t>
                      </a:r>
                      <a:endParaRPr lang="en-US" sz="800" b="0" i="0" u="none" strike="noStrike" dirty="0">
                        <a:solidFill>
                          <a:srgbClr val="000000"/>
                        </a:solidFill>
                        <a:effectLst/>
                        <a:latin typeface="+mn-lt"/>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로그인한 업체의 이행</a:t>
                      </a:r>
                      <a:r>
                        <a:rPr lang="en-US" altLang="ko-KR" sz="800" dirty="0">
                          <a:latin typeface="+mn-ea"/>
                          <a:ea typeface="+mn-ea"/>
                        </a:rPr>
                        <a:t>/</a:t>
                      </a:r>
                      <a:r>
                        <a:rPr lang="ko-KR" altLang="en-US" sz="800" dirty="0">
                          <a:latin typeface="+mn-ea"/>
                          <a:ea typeface="+mn-ea"/>
                        </a:rPr>
                        <a:t>적격심사 총점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99765296"/>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srngPrgrsStcd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77888309"/>
                  </a:ext>
                </a:extLst>
              </a:tr>
            </a:tbl>
          </a:graphicData>
        </a:graphic>
      </p:graphicFrame>
      <p:sp>
        <p:nvSpPr>
          <p:cNvPr id="2" name="TextBox 1">
            <a:extLst>
              <a:ext uri="{FF2B5EF4-FFF2-40B4-BE49-F238E27FC236}">
                <a16:creationId xmlns:a16="http://schemas.microsoft.com/office/drawing/2014/main" id="{895CA6CF-76CA-B609-4652-5BED7035BE89}"/>
              </a:ext>
            </a:extLst>
          </p:cNvPr>
          <p:cNvSpPr txBox="1"/>
          <p:nvPr/>
        </p:nvSpPr>
        <p:spPr>
          <a:xfrm>
            <a:off x="458117" y="803113"/>
            <a:ext cx="3482291"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검색결과</a:t>
            </a:r>
            <a:r>
              <a:rPr lang="en-US" altLang="ko-KR" sz="900" b="1" dirty="0">
                <a:solidFill>
                  <a:prstClr val="black"/>
                </a:solidFill>
              </a:rPr>
              <a:t>(</a:t>
            </a:r>
            <a:r>
              <a:rPr lang="ko-KR" altLang="en-US" sz="900" b="1" dirty="0">
                <a:solidFill>
                  <a:prstClr val="black"/>
                </a:solidFill>
              </a:rPr>
              <a:t>업체담당자</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dlt_bzentyPicBdopnList</a:t>
            </a:r>
            <a:r>
              <a:rPr lang="en-US" altLang="ko-KR" sz="900" b="1" dirty="0">
                <a:solidFill>
                  <a:prstClr val="black"/>
                </a:solidFill>
              </a:rPr>
              <a:t>)</a:t>
            </a:r>
            <a:endParaRPr lang="ko-KR" altLang="en-US" sz="900" b="1" dirty="0">
              <a:solidFill>
                <a:prstClr val="black"/>
              </a:solidFill>
            </a:endParaRPr>
          </a:p>
        </p:txBody>
      </p:sp>
      <p:sp>
        <p:nvSpPr>
          <p:cNvPr id="4" name="TextBox 3">
            <a:extLst>
              <a:ext uri="{FF2B5EF4-FFF2-40B4-BE49-F238E27FC236}">
                <a16:creationId xmlns:a16="http://schemas.microsoft.com/office/drawing/2014/main" id="{0B492A64-237C-FA85-C801-7DDAA9C0FE14}"/>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(3/4)</a:t>
            </a:r>
            <a:endParaRPr lang="ko-KR" altLang="en-US" sz="1000" b="1" dirty="0">
              <a:solidFill>
                <a:prstClr val="black"/>
              </a:solidFill>
            </a:endParaRPr>
          </a:p>
        </p:txBody>
      </p:sp>
      <p:sp>
        <p:nvSpPr>
          <p:cNvPr id="5" name="Text Box 73">
            <a:extLst>
              <a:ext uri="{FF2B5EF4-FFF2-40B4-BE49-F238E27FC236}">
                <a16:creationId xmlns:a16="http://schemas.microsoft.com/office/drawing/2014/main" id="{E05BE4AC-F306-16A2-182B-6A592E8C3D6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70922748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147</a:t>
            </a:fld>
            <a:endParaRPr lang="ko-KR" altLang="en-US" dirty="0"/>
          </a:p>
        </p:txBody>
      </p:sp>
      <p:graphicFrame>
        <p:nvGraphicFramePr>
          <p:cNvPr id="7" name="표 6">
            <a:extLst>
              <a:ext uri="{FF2B5EF4-FFF2-40B4-BE49-F238E27FC236}">
                <a16:creationId xmlns:a16="http://schemas.microsoft.com/office/drawing/2014/main" id="{24EA1FAA-2BCB-9B11-BA6C-5D4B50E48178}"/>
              </a:ext>
            </a:extLst>
          </p:cNvPr>
          <p:cNvGraphicFramePr>
            <a:graphicFrameLocks noGrp="1"/>
          </p:cNvGraphicFramePr>
          <p:nvPr>
            <p:extLst>
              <p:ext uri="{D42A27DB-BD31-4B8C-83A1-F6EECF244321}">
                <p14:modId xmlns:p14="http://schemas.microsoft.com/office/powerpoint/2010/main" val="2635192454"/>
              </p:ext>
            </p:extLst>
          </p:nvPr>
        </p:nvGraphicFramePr>
        <p:xfrm>
          <a:off x="452999" y="1014316"/>
          <a:ext cx="8994883" cy="897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bidPrcs</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입찰결과를 제공하는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계약구분과 입찰상태에 따라 </a:t>
                      </a:r>
                      <a:r>
                        <a:rPr lang="en-US" altLang="ko-KR" sz="800" dirty="0">
                          <a:latin typeface="+mn-ea"/>
                          <a:ea typeface="+mn-ea"/>
                        </a:rPr>
                        <a:t>[</a:t>
                      </a:r>
                      <a:r>
                        <a:rPr lang="ko-KR" altLang="en-US" sz="800" dirty="0">
                          <a:latin typeface="+mn-ea"/>
                          <a:ea typeface="+mn-ea"/>
                        </a:rPr>
                        <a:t>입찰결과</a:t>
                      </a:r>
                      <a:r>
                        <a:rPr lang="en-US" altLang="ko-KR" sz="800" dirty="0">
                          <a:latin typeface="+mn-ea"/>
                          <a:ea typeface="+mn-ea"/>
                        </a:rPr>
                        <a:t>], [</a:t>
                      </a:r>
                      <a:r>
                        <a:rPr lang="ko-KR" altLang="en-US" sz="800" dirty="0">
                          <a:latin typeface="+mn-ea"/>
                          <a:ea typeface="+mn-ea"/>
                        </a:rPr>
                        <a:t>협상실시</a:t>
                      </a:r>
                      <a:r>
                        <a:rPr lang="en-US" altLang="ko-KR" sz="800" dirty="0">
                          <a:latin typeface="+mn-ea"/>
                          <a:ea typeface="+mn-ea"/>
                        </a:rPr>
                        <a:t>], [</a:t>
                      </a:r>
                      <a:r>
                        <a:rPr lang="ko-KR" altLang="en-US" sz="800" dirty="0">
                          <a:latin typeface="+mn-ea"/>
                          <a:ea typeface="+mn-ea"/>
                        </a:rPr>
                        <a:t>협상결과</a:t>
                      </a:r>
                      <a:r>
                        <a:rPr lang="en-US" altLang="ko-KR" sz="800" dirty="0">
                          <a:latin typeface="+mn-ea"/>
                          <a:ea typeface="+mn-ea"/>
                        </a:rPr>
                        <a:t>] </a:t>
                      </a:r>
                      <a:r>
                        <a:rPr lang="ko-KR" altLang="en-US" sz="800" dirty="0">
                          <a:latin typeface="+mn-ea"/>
                          <a:ea typeface="+mn-ea"/>
                        </a:rPr>
                        <a:t>버튼을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5627409"/>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적격심사신청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impltElgbSrngAply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적격심사신청 및 결과조회하기 위한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t>
                      </a:r>
                      <a:r>
                        <a:rPr lang="ko-KR" altLang="en-US" sz="800" dirty="0">
                          <a:latin typeface="+mn-ea"/>
                          <a:ea typeface="+mn-ea"/>
                        </a:rPr>
                        <a:t>심사신청</a:t>
                      </a:r>
                      <a:r>
                        <a:rPr lang="en-US" altLang="ko-KR" sz="800" dirty="0">
                          <a:latin typeface="+mn-ea"/>
                          <a:ea typeface="+mn-ea"/>
                        </a:rPr>
                        <a:t>], [</a:t>
                      </a:r>
                      <a:r>
                        <a:rPr lang="ko-KR" altLang="en-US" sz="800" dirty="0">
                          <a:latin typeface="+mn-ea"/>
                          <a:ea typeface="+mn-ea"/>
                        </a:rPr>
                        <a:t>심사결과</a:t>
                      </a:r>
                      <a:r>
                        <a:rPr lang="en-US" altLang="ko-KR" sz="800" dirty="0">
                          <a:latin typeface="+mn-ea"/>
                          <a:ea typeface="+mn-ea"/>
                        </a:rPr>
                        <a:t>] </a:t>
                      </a:r>
                      <a:r>
                        <a:rPr lang="ko-KR" altLang="en-US" sz="800" dirty="0">
                          <a:latin typeface="+mn-ea"/>
                          <a:ea typeface="+mn-ea"/>
                        </a:rPr>
                        <a:t>버튼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3630144"/>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impltElgbSrngAbnd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적격심사포기하기 위한 버튼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a:t>
                      </a:r>
                      <a:r>
                        <a:rPr lang="ko-KR" altLang="en-US" sz="800" dirty="0">
                          <a:latin typeface="+mn-ea"/>
                          <a:ea typeface="+mn-ea"/>
                        </a:rPr>
                        <a:t>심사포기</a:t>
                      </a:r>
                      <a:r>
                        <a:rPr lang="en-US" altLang="ko-KR" sz="800" dirty="0">
                          <a:latin typeface="+mn-ea"/>
                          <a:ea typeface="+mn-ea"/>
                        </a:rPr>
                        <a:t>] </a:t>
                      </a:r>
                      <a:r>
                        <a:rPr lang="ko-KR" altLang="en-US" sz="800" dirty="0">
                          <a:latin typeface="+mn-ea"/>
                          <a:ea typeface="+mn-ea"/>
                        </a:rPr>
                        <a:t>버튼 제공</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7054663"/>
                  </a:ext>
                </a:extLst>
              </a:tr>
            </a:tbl>
          </a:graphicData>
        </a:graphic>
      </p:graphicFrame>
      <p:sp>
        <p:nvSpPr>
          <p:cNvPr id="2" name="TextBox 1">
            <a:extLst>
              <a:ext uri="{FF2B5EF4-FFF2-40B4-BE49-F238E27FC236}">
                <a16:creationId xmlns:a16="http://schemas.microsoft.com/office/drawing/2014/main" id="{367502D6-3923-9242-6222-571062EB83AB}"/>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(4/4)</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7C617114-1DFD-1415-B519-F597022670B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39277518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148</a:t>
            </a:fld>
            <a:endParaRPr lang="ko-KR" altLang="en-US" dirty="0"/>
          </a:p>
        </p:txBody>
      </p:sp>
      <p:sp>
        <p:nvSpPr>
          <p:cNvPr id="10" name="TextBox 9">
            <a:extLst>
              <a:ext uri="{FF2B5EF4-FFF2-40B4-BE49-F238E27FC236}">
                <a16:creationId xmlns:a16="http://schemas.microsoft.com/office/drawing/2014/main" id="{B4E9886C-0490-14E5-5E1F-FF41A474EDD3}"/>
              </a:ext>
            </a:extLst>
          </p:cNvPr>
          <p:cNvSpPr txBox="1"/>
          <p:nvPr/>
        </p:nvSpPr>
        <p:spPr>
          <a:xfrm>
            <a:off x="460321" y="736185"/>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1" name="표 10">
            <a:extLst>
              <a:ext uri="{FF2B5EF4-FFF2-40B4-BE49-F238E27FC236}">
                <a16:creationId xmlns:a16="http://schemas.microsoft.com/office/drawing/2014/main" id="{7CA2CB13-9C7B-4E11-AAF6-25DDEBB58548}"/>
              </a:ext>
            </a:extLst>
          </p:cNvPr>
          <p:cNvGraphicFramePr>
            <a:graphicFrameLocks noGrp="1"/>
          </p:cNvGraphicFramePr>
          <p:nvPr>
            <p:extLst>
              <p:ext uri="{D42A27DB-BD31-4B8C-83A1-F6EECF244321}">
                <p14:modId xmlns:p14="http://schemas.microsoft.com/office/powerpoint/2010/main" val="3215158284"/>
              </p:ext>
            </p:extLst>
          </p:nvPr>
        </p:nvGraphicFramePr>
        <p:xfrm>
          <a:off x="455204" y="1014316"/>
          <a:ext cx="8995591" cy="157920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페이지 오픈 시 실행되는 이벤트로 조회조건의 업무구분</a:t>
                      </a:r>
                      <a:r>
                        <a:rPr lang="en-US" altLang="ko-KR" sz="800" dirty="0">
                          <a:latin typeface="+mn-ea"/>
                          <a:ea typeface="+mn-ea"/>
                        </a:rPr>
                        <a:t>, </a:t>
                      </a:r>
                      <a:r>
                        <a:rPr lang="ko-KR" altLang="en-US" sz="800" dirty="0">
                          <a:latin typeface="+mn-ea"/>
                          <a:ea typeface="+mn-ea"/>
                        </a:rPr>
                        <a:t>입찰구분</a:t>
                      </a:r>
                      <a:r>
                        <a:rPr lang="en-US" altLang="ko-KR" sz="800" dirty="0">
                          <a:latin typeface="+mn-ea"/>
                          <a:ea typeface="+mn-ea"/>
                        </a:rPr>
                        <a:t>, </a:t>
                      </a:r>
                      <a:r>
                        <a:rPr lang="ko-KR" altLang="en-US" sz="800" dirty="0">
                          <a:latin typeface="+mn-ea"/>
                          <a:ea typeface="+mn-ea"/>
                        </a:rPr>
                        <a:t>계약방법</a:t>
                      </a:r>
                      <a:r>
                        <a:rPr lang="en-US" altLang="ko-KR" sz="800" dirty="0">
                          <a:latin typeface="+mn-ea"/>
                          <a:ea typeface="+mn-ea"/>
                        </a:rPr>
                        <a:t>, </a:t>
                      </a:r>
                      <a:r>
                        <a:rPr lang="ko-KR" altLang="en-US" sz="800" dirty="0">
                          <a:latin typeface="+mn-ea"/>
                          <a:ea typeface="+mn-ea"/>
                        </a:rPr>
                        <a:t>입찰결과</a:t>
                      </a:r>
                      <a:r>
                        <a:rPr lang="en-US" altLang="ko-KR" sz="800" dirty="0">
                          <a:latin typeface="+mn-ea"/>
                          <a:ea typeface="+mn-ea"/>
                        </a:rPr>
                        <a:t>, </a:t>
                      </a:r>
                      <a:r>
                        <a:rPr lang="ko-KR" altLang="en-US" sz="800" dirty="0">
                          <a:latin typeface="+mn-ea"/>
                          <a:ea typeface="+mn-ea"/>
                        </a:rPr>
                        <a:t>낙찰방법</a:t>
                      </a:r>
                      <a:r>
                        <a:rPr lang="en-US" altLang="ko-KR" sz="800" dirty="0">
                          <a:latin typeface="+mn-ea"/>
                          <a:ea typeface="+mn-ea"/>
                        </a:rPr>
                        <a:t>, </a:t>
                      </a:r>
                      <a:r>
                        <a:rPr lang="ko-KR" altLang="en-US" sz="800" dirty="0">
                          <a:latin typeface="+mn-ea"/>
                          <a:ea typeface="+mn-ea"/>
                        </a:rPr>
                        <a:t>진행상태의 공통코드를 조회하여 해당 값을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검색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scwin.btn_srch_onclick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조회조건에 해당하는 개찰목록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4719220"/>
                  </a:ext>
                </a:extLst>
              </a:tr>
              <a:tr h="0">
                <a:tc>
                  <a:txBody>
                    <a:bodyPr/>
                    <a:lstStyle/>
                    <a:p>
                      <a:r>
                        <a:rPr lang="ko-KR" altLang="en-US" sz="800" dirty="0"/>
                        <a:t>입찰결과 </a:t>
                      </a:r>
                      <a:r>
                        <a:rPr lang="ko-KR" altLang="en-US" sz="800" dirty="0">
                          <a:latin typeface="+mn-ea"/>
                          <a:ea typeface="+mn-ea"/>
                        </a:rPr>
                        <a:t>버튼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scwin.btn_bidRslt_onclick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경쟁입찰 건에 대해 </a:t>
                      </a:r>
                      <a:r>
                        <a:rPr lang="en-US" altLang="ko-KR" sz="800" dirty="0">
                          <a:latin typeface="+mn-ea"/>
                          <a:ea typeface="+mn-ea"/>
                        </a:rPr>
                        <a:t>ROW</a:t>
                      </a:r>
                      <a:r>
                        <a:rPr lang="ko-KR" altLang="en-US" sz="800" dirty="0">
                          <a:latin typeface="+mn-ea"/>
                          <a:ea typeface="+mn-ea"/>
                        </a:rPr>
                        <a:t>에 해당하는 입찰결과 상세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(UI-BD-09-M01) </a:t>
                      </a:r>
                      <a:r>
                        <a:rPr lang="ko-KR" altLang="en-US" sz="800" dirty="0" err="1">
                          <a:latin typeface="+mn-ea"/>
                          <a:ea typeface="+mn-ea"/>
                        </a:rPr>
                        <a:t>입찰결과상세</a:t>
                      </a:r>
                      <a:r>
                        <a:rPr lang="en-US" altLang="ko-KR" sz="800" dirty="0">
                          <a:latin typeface="+mn-ea"/>
                          <a:ea typeface="+mn-ea"/>
                        </a:rPr>
                        <a:t>(</a:t>
                      </a:r>
                      <a:r>
                        <a:rPr lang="ko-KR" altLang="en-US" sz="800" dirty="0">
                          <a:latin typeface="+mn-ea"/>
                          <a:ea typeface="+mn-ea"/>
                        </a:rPr>
                        <a:t>국내</a:t>
                      </a:r>
                      <a:r>
                        <a:rPr lang="en-US" altLang="ko-KR" sz="800" dirty="0">
                          <a:latin typeface="+mn-ea"/>
                          <a:ea typeface="+mn-ea"/>
                        </a:rPr>
                        <a:t>)</a:t>
                      </a:r>
                    </a:p>
                    <a:p>
                      <a:pPr marL="0" indent="0" algn="l" latinLnBrk="1">
                        <a:buFont typeface="Arial" panose="020B0604020202020204" pitchFamily="34" charset="0"/>
                        <a:buNone/>
                      </a:pPr>
                      <a:r>
                        <a:rPr lang="en-US" altLang="ko-KR" sz="800" dirty="0">
                          <a:latin typeface="+mn-ea"/>
                          <a:ea typeface="+mn-ea"/>
                        </a:rPr>
                        <a:t>(UI-BD-09-M71) </a:t>
                      </a:r>
                      <a:r>
                        <a:rPr lang="ko-KR" altLang="en-US" sz="800" dirty="0">
                          <a:latin typeface="+mn-ea"/>
                          <a:ea typeface="+mn-ea"/>
                        </a:rPr>
                        <a:t>입찰결과상세조회</a:t>
                      </a:r>
                      <a:r>
                        <a:rPr lang="en-US" altLang="ko-KR" sz="800" dirty="0">
                          <a:latin typeface="+mn-ea"/>
                          <a:ea typeface="+mn-ea"/>
                        </a:rPr>
                        <a:t>(</a:t>
                      </a:r>
                      <a:r>
                        <a:rPr lang="ko-KR" altLang="en-US" sz="800" dirty="0">
                          <a:latin typeface="+mn-ea"/>
                          <a:ea typeface="+mn-ea"/>
                        </a:rPr>
                        <a:t>계약관</a:t>
                      </a:r>
                      <a:r>
                        <a:rPr lang="en-US" altLang="ko-KR" sz="800" dirty="0">
                          <a:latin typeface="+mn-ea"/>
                          <a:ea typeface="+mn-ea"/>
                        </a:rPr>
                        <a:t>)(</a:t>
                      </a:r>
                      <a:r>
                        <a:rPr lang="ko-KR" altLang="en-US" sz="800" dirty="0">
                          <a:latin typeface="+mn-ea"/>
                          <a:ea typeface="+mn-ea"/>
                        </a:rPr>
                        <a:t>국외</a:t>
                      </a:r>
                      <a:r>
                        <a:rPr lang="en-US" altLang="ko-KR" sz="800" dirty="0">
                          <a:latin typeface="+mn-ea"/>
                          <a:ea typeface="+mn-ea"/>
                        </a:rPr>
                        <a:t>)</a:t>
                      </a:r>
                    </a:p>
                    <a:p>
                      <a:pPr marL="0" indent="0" algn="l" latinLnBrk="1">
                        <a:buFont typeface="Arial" panose="020B0604020202020204" pitchFamily="34" charset="0"/>
                        <a:buNone/>
                      </a:pPr>
                      <a:r>
                        <a:rPr lang="en-US" altLang="ko-KR" sz="800" dirty="0">
                          <a:latin typeface="+mn-ea"/>
                          <a:ea typeface="+mn-ea"/>
                        </a:rPr>
                        <a:t>(UI-BD-09-M72) </a:t>
                      </a:r>
                      <a:r>
                        <a:rPr lang="ko-KR" altLang="en-US" sz="800" dirty="0">
                          <a:latin typeface="+mn-ea"/>
                          <a:ea typeface="+mn-ea"/>
                        </a:rPr>
                        <a:t>입찰결과상세조회</a:t>
                      </a:r>
                      <a:r>
                        <a:rPr lang="en-US" altLang="ko-KR" sz="800" dirty="0">
                          <a:latin typeface="+mn-ea"/>
                          <a:ea typeface="+mn-ea"/>
                        </a:rPr>
                        <a:t>(</a:t>
                      </a:r>
                      <a:r>
                        <a:rPr lang="ko-KR" altLang="en-US" sz="800" dirty="0">
                          <a:latin typeface="+mn-ea"/>
                          <a:ea typeface="+mn-ea"/>
                        </a:rPr>
                        <a:t>조달업체</a:t>
                      </a:r>
                      <a:r>
                        <a:rPr lang="en-US" altLang="ko-KR" sz="800" dirty="0">
                          <a:latin typeface="+mn-ea"/>
                          <a:ea typeface="+mn-ea"/>
                        </a:rPr>
                        <a:t>)(</a:t>
                      </a:r>
                      <a:r>
                        <a:rPr lang="ko-KR" altLang="en-US" sz="800" dirty="0">
                          <a:latin typeface="+mn-ea"/>
                          <a:ea typeface="+mn-ea"/>
                        </a:rPr>
                        <a:t>국외</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4468946"/>
                  </a:ext>
                </a:extLst>
              </a:tr>
              <a:tr h="0">
                <a:tc>
                  <a:txBody>
                    <a:bodyPr/>
                    <a:lstStyle/>
                    <a:p>
                      <a:pPr latinLnBrk="1"/>
                      <a:r>
                        <a:rPr lang="ko-KR" altLang="en-US" sz="800" dirty="0">
                          <a:latin typeface="+mn-ea"/>
                          <a:ea typeface="+mn-ea"/>
                        </a:rPr>
                        <a:t>심사포기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altLang="ko-KR" sz="800" dirty="0" err="1">
                          <a:latin typeface="+mn-ea"/>
                          <a:ea typeface="+mn-ea"/>
                        </a:rPr>
                        <a:t>scwin.btn_srngAbnd_onclick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적격심사제 건에 대해 개찰 후 </a:t>
                      </a:r>
                      <a:r>
                        <a:rPr lang="en-US" altLang="ko-KR" sz="800" dirty="0">
                          <a:latin typeface="+mn-ea"/>
                          <a:ea typeface="+mn-ea"/>
                        </a:rPr>
                        <a:t>ROW</a:t>
                      </a:r>
                      <a:r>
                        <a:rPr lang="ko-KR" altLang="en-US" sz="800" dirty="0">
                          <a:latin typeface="+mn-ea"/>
                          <a:ea typeface="+mn-ea"/>
                        </a:rPr>
                        <a:t>에 해당하는 이행</a:t>
                      </a:r>
                      <a:r>
                        <a:rPr lang="en-US" altLang="ko-KR" sz="800" dirty="0">
                          <a:latin typeface="+mn-ea"/>
                          <a:ea typeface="+mn-ea"/>
                        </a:rPr>
                        <a:t>/</a:t>
                      </a:r>
                      <a:r>
                        <a:rPr lang="ko-KR" altLang="en-US" sz="800" dirty="0">
                          <a:latin typeface="+mn-ea"/>
                          <a:ea typeface="+mn-ea"/>
                        </a:rPr>
                        <a:t>적격심사 포기 신청 팝업화면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(UI-BD-10-P19) </a:t>
                      </a:r>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적격심사포기신청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49839002"/>
                  </a:ext>
                </a:extLst>
              </a:tr>
            </a:tbl>
          </a:graphicData>
        </a:graphic>
      </p:graphicFrame>
      <p:sp>
        <p:nvSpPr>
          <p:cNvPr id="5" name="Text Box 73">
            <a:extLst>
              <a:ext uri="{FF2B5EF4-FFF2-40B4-BE49-F238E27FC236}">
                <a16:creationId xmlns:a16="http://schemas.microsoft.com/office/drawing/2014/main" id="{9887C528-0210-8DD1-9ED5-E224C4396F5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09605050"/>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p:cNvSpPr/>
          <p:nvPr/>
        </p:nvSpPr>
        <p:spPr>
          <a:xfrm>
            <a:off x="722583" y="4333493"/>
            <a:ext cx="792000" cy="19056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33349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333493"/>
            <a:ext cx="670770" cy="1904689"/>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단가제유형</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333493"/>
            <a:ext cx="1814470" cy="1938992"/>
          </a:xfrm>
          <a:prstGeom prst="rect">
            <a:avLst/>
          </a:prstGeom>
          <a:noFill/>
        </p:spPr>
        <p:txBody>
          <a:bodyPr wrap="square" lIns="0" tIns="0" rIns="0" bIns="0" rtlCol="0">
            <a:spAutoFit/>
          </a:bodyPr>
          <a:lstStyle/>
          <a:p>
            <a:pPr>
              <a:lnSpc>
                <a:spcPct val="200000"/>
              </a:lnSpc>
            </a:pPr>
            <a:r>
              <a:rPr lang="ko-KR" altLang="en-US" sz="700" dirty="0" err="1">
                <a:latin typeface="+mn-ea"/>
              </a:rPr>
              <a:t>테스트공고</a:t>
            </a:r>
            <a:endParaRPr lang="en-US" altLang="ko-KR" sz="700" dirty="0">
              <a:latin typeface="+mn-ea"/>
            </a:endParaRPr>
          </a:p>
          <a:p>
            <a:pPr lvl="0">
              <a:lnSpc>
                <a:spcPct val="200000"/>
              </a:lnSpc>
            </a:pPr>
            <a:r>
              <a:rPr lang="en-US" altLang="ko-KR" sz="700" dirty="0">
                <a:latin typeface="+mn-ea"/>
              </a:rPr>
              <a:t>MST0001-1</a:t>
            </a:r>
          </a:p>
          <a:p>
            <a:pPr>
              <a:lnSpc>
                <a:spcPct val="200000"/>
              </a:lnSpc>
            </a:pPr>
            <a:r>
              <a:rPr lang="en-US" altLang="ko-KR" sz="700" dirty="0">
                <a:latin typeface="+mn-ea"/>
              </a:rPr>
              <a:t>10000</a:t>
            </a:r>
          </a:p>
          <a:p>
            <a:pPr>
              <a:lnSpc>
                <a:spcPct val="200000"/>
              </a:lnSpc>
            </a:pPr>
            <a:r>
              <a:rPr lang="ko-KR" altLang="en-US" sz="700" dirty="0">
                <a:latin typeface="+mn-ea"/>
              </a:rPr>
              <a:t>테스트발주기관</a:t>
            </a:r>
            <a:endParaRPr lang="en-US" altLang="ko-KR" sz="700" dirty="0">
              <a:latin typeface="+mn-ea"/>
            </a:endParaRPr>
          </a:p>
          <a:p>
            <a:pPr>
              <a:lnSpc>
                <a:spcPct val="200000"/>
              </a:lnSpc>
            </a:pPr>
            <a:r>
              <a:rPr lang="en-US" altLang="ko-KR" sz="700" dirty="0">
                <a:latin typeface="+mn-ea"/>
              </a:rPr>
              <a:t>2025MST0001</a:t>
            </a:r>
          </a:p>
          <a:p>
            <a:pPr>
              <a:lnSpc>
                <a:spcPct val="200000"/>
              </a:lnSpc>
            </a:pPr>
            <a:r>
              <a:rPr lang="ko-KR" altLang="en-US" sz="700" dirty="0">
                <a:latin typeface="+mn-ea"/>
              </a:rPr>
              <a:t>구매</a:t>
            </a:r>
            <a:endParaRPr lang="en-US" altLang="ko-KR" sz="700" dirty="0">
              <a:latin typeface="+mn-ea"/>
            </a:endParaRPr>
          </a:p>
          <a:p>
            <a:pPr>
              <a:lnSpc>
                <a:spcPct val="200000"/>
              </a:lnSpc>
            </a:pPr>
            <a:endParaRPr lang="en-US" altLang="ko-KR" sz="700" dirty="0">
              <a:latin typeface="+mn-ea"/>
            </a:endParaRPr>
          </a:p>
          <a:p>
            <a:pPr lvl="0">
              <a:lnSpc>
                <a:spcPct val="200000"/>
              </a:lnSpc>
            </a:pPr>
            <a:r>
              <a:rPr lang="en-US" altLang="ko-KR" sz="700" dirty="0">
                <a:latin typeface="+mn-ea"/>
              </a:rPr>
              <a:t>2</a:t>
            </a:r>
            <a:r>
              <a:rPr lang="ko-KR" altLang="en-US" sz="700" dirty="0" err="1">
                <a:latin typeface="+mn-ea"/>
              </a:rPr>
              <a:t>단계경쟁</a:t>
            </a:r>
            <a:r>
              <a:rPr lang="en-US" altLang="ko-KR" sz="700" dirty="0">
                <a:latin typeface="+mn-ea"/>
              </a:rPr>
              <a:t>(</a:t>
            </a:r>
            <a:r>
              <a:rPr lang="ko-KR" altLang="en-US" sz="700" dirty="0">
                <a:latin typeface="+mn-ea"/>
              </a:rPr>
              <a:t>분리</a:t>
            </a:r>
            <a:r>
              <a:rPr lang="en-US" altLang="ko-KR" sz="700" dirty="0">
                <a:latin typeface="+mn-ea"/>
              </a:rPr>
              <a:t>)</a:t>
            </a:r>
          </a:p>
          <a:p>
            <a:pPr>
              <a:lnSpc>
                <a:spcPct val="200000"/>
              </a:lnSpc>
            </a:pPr>
            <a:r>
              <a:rPr lang="ko-KR" altLang="en-US" sz="700" dirty="0" err="1">
                <a:latin typeface="+mn-ea"/>
              </a:rPr>
              <a:t>총액제</a:t>
            </a:r>
            <a:endParaRPr lang="en-US" altLang="ko-KR" sz="700" dirty="0">
              <a:latin typeface="+mn-ea"/>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5645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47783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499201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52057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4194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6331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58468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722583" y="60335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smtClean="0"/>
              <a:t>입찰공고 </a:t>
            </a:r>
            <a:r>
              <a:rPr lang="ko-KR" altLang="en-US" dirty="0"/>
              <a:t>상세 화면 상단에 입찰 공고 정보 </a:t>
            </a:r>
            <a:r>
              <a:rPr lang="ko-KR" altLang="en-US" dirty="0" smtClean="0"/>
              <a:t>표시</a:t>
            </a:r>
            <a:endParaRPr lang="en-US" altLang="ko-KR" dirty="0"/>
          </a:p>
          <a:p>
            <a:pPr marL="228600" indent="-228600">
              <a:buFont typeface="+mj-lt"/>
              <a:buAutoNum type="arabicPeriod"/>
            </a:pPr>
            <a:r>
              <a:rPr lang="ko-KR" altLang="en-US" dirty="0" smtClean="0"/>
              <a:t>공고의 </a:t>
            </a:r>
            <a:r>
              <a:rPr lang="ko-KR" altLang="en-US" dirty="0"/>
              <a:t>공지사항이 있는 경우 표시</a:t>
            </a:r>
            <a:r>
              <a:rPr lang="en-US" altLang="ko-KR" dirty="0"/>
              <a:t/>
            </a:r>
            <a:br>
              <a:rPr lang="en-US" altLang="ko-KR" dirty="0"/>
            </a:br>
            <a:r>
              <a:rPr lang="en-US" altLang="ko-KR" dirty="0"/>
              <a:t>- </a:t>
            </a:r>
            <a:r>
              <a:rPr lang="ko-KR" altLang="en-US" dirty="0"/>
              <a:t>공지사항은 기본으로 닫힘</a:t>
            </a:r>
            <a:r>
              <a:rPr lang="en-US" altLang="ko-KR" dirty="0"/>
              <a:t/>
            </a:r>
            <a:br>
              <a:rPr lang="en-US" altLang="ko-KR" dirty="0"/>
            </a:br>
            <a:r>
              <a:rPr lang="en-US" altLang="ko-KR" dirty="0"/>
              <a:t>- </a:t>
            </a:r>
            <a:r>
              <a:rPr lang="ko-KR" altLang="en-US" dirty="0"/>
              <a:t>클릭으로 열리고 닫힘 처리</a:t>
            </a:r>
            <a:endParaRPr lang="en-US" altLang="ko-KR" dirty="0"/>
          </a:p>
          <a:p>
            <a:pPr marL="228600" indent="-228600">
              <a:buFont typeface="+mj-lt"/>
              <a:buAutoNum type="arabicPeriod"/>
            </a:pPr>
            <a:r>
              <a:rPr lang="ko-KR" altLang="en-US" dirty="0"/>
              <a:t>탭 메뉴</a:t>
            </a:r>
            <a:r>
              <a:rPr lang="en-US" altLang="ko-KR" dirty="0"/>
              <a:t/>
            </a:r>
            <a:br>
              <a:rPr lang="en-US" altLang="ko-KR" dirty="0"/>
            </a:br>
            <a:r>
              <a:rPr lang="en-US" altLang="ko-KR" dirty="0"/>
              <a:t>- </a:t>
            </a:r>
            <a:r>
              <a:rPr lang="ko-KR" altLang="en-US" dirty="0"/>
              <a:t>좌우 </a:t>
            </a:r>
            <a:r>
              <a:rPr lang="ko-KR" altLang="en-US" dirty="0" err="1"/>
              <a:t>스와이프</a:t>
            </a:r>
            <a:r>
              <a:rPr lang="en-US" altLang="ko-KR" dirty="0"/>
              <a:t/>
            </a:r>
            <a:br>
              <a:rPr lang="en-US" altLang="ko-KR" dirty="0"/>
            </a:br>
            <a:r>
              <a:rPr lang="en-US" altLang="ko-KR" dirty="0"/>
              <a:t>- </a:t>
            </a:r>
            <a:r>
              <a:rPr lang="ko-KR" altLang="en-US" dirty="0"/>
              <a:t>좌우 이동 버튼 </a:t>
            </a:r>
            <a:r>
              <a:rPr lang="en-US" altLang="ko-KR" dirty="0"/>
              <a:t>(</a:t>
            </a:r>
            <a:r>
              <a:rPr lang="ko-KR" altLang="en-US" dirty="0"/>
              <a:t>좌우 스크롤</a:t>
            </a:r>
            <a:r>
              <a:rPr lang="en-US" altLang="ko-KR" dirty="0" smtClean="0"/>
              <a:t>)</a:t>
            </a:r>
            <a:br>
              <a:rPr lang="en-US" altLang="ko-KR" dirty="0" smtClean="0"/>
            </a:br>
            <a:r>
              <a:rPr lang="en-US" altLang="ko-KR" dirty="0" smtClean="0">
                <a:solidFill>
                  <a:srgbClr val="FF0000"/>
                </a:solidFill>
              </a:rPr>
              <a:t>- [</a:t>
            </a:r>
            <a:r>
              <a:rPr lang="ko-KR" altLang="en-US" dirty="0" smtClean="0">
                <a:solidFill>
                  <a:srgbClr val="FF0000"/>
                </a:solidFill>
              </a:rPr>
              <a:t>협상결과</a:t>
            </a:r>
            <a:r>
              <a:rPr lang="en-US" altLang="ko-KR" dirty="0">
                <a:solidFill>
                  <a:srgbClr val="FF0000"/>
                </a:solidFill>
              </a:rPr>
              <a:t>: MUI-BD-09-T04]</a:t>
            </a:r>
            <a:r>
              <a:rPr lang="ko-KR" altLang="en-US" dirty="0" smtClean="0">
                <a:solidFill>
                  <a:srgbClr val="FF0000"/>
                </a:solidFill>
              </a:rPr>
              <a:t> 및 </a:t>
            </a:r>
            <a:r>
              <a:rPr lang="en-US" altLang="ko-KR" dirty="0" smtClean="0">
                <a:solidFill>
                  <a:srgbClr val="FF0000"/>
                </a:solidFill>
              </a:rPr>
              <a:t>[</a:t>
            </a:r>
            <a:r>
              <a:rPr lang="ko-KR" altLang="en-US" dirty="0" smtClean="0">
                <a:solidFill>
                  <a:srgbClr val="FF0000"/>
                </a:solidFill>
              </a:rPr>
              <a:t>이행</a:t>
            </a:r>
            <a:r>
              <a:rPr lang="en-US" altLang="ko-KR" dirty="0" smtClean="0">
                <a:solidFill>
                  <a:srgbClr val="FF0000"/>
                </a:solidFill>
              </a:rPr>
              <a:t>/</a:t>
            </a:r>
            <a:r>
              <a:rPr lang="ko-KR" altLang="en-US" dirty="0" smtClean="0">
                <a:solidFill>
                  <a:srgbClr val="FF0000"/>
                </a:solidFill>
              </a:rPr>
              <a:t>적격심사결과</a:t>
            </a:r>
            <a:r>
              <a:rPr lang="en-US" altLang="ko-KR" dirty="0" smtClean="0">
                <a:solidFill>
                  <a:srgbClr val="FF0000"/>
                </a:solidFill>
              </a:rPr>
              <a:t>]</a:t>
            </a:r>
            <a:r>
              <a:rPr lang="ko-KR" altLang="en-US" dirty="0" smtClean="0">
                <a:solidFill>
                  <a:srgbClr val="FF0000"/>
                </a:solidFill>
              </a:rPr>
              <a:t>는 정보가 있으면 추가되는 </a:t>
            </a:r>
            <a:r>
              <a:rPr lang="ko-KR" altLang="en-US" dirty="0" err="1" smtClean="0">
                <a:solidFill>
                  <a:srgbClr val="FF0000"/>
                </a:solidFill>
              </a:rPr>
              <a:t>탭임</a:t>
            </a:r>
            <a:r>
              <a:rPr lang="en-US" altLang="ko-KR" dirty="0" smtClean="0">
                <a:solidFill>
                  <a:srgbClr val="FF0000"/>
                </a:solidFill>
              </a:rPr>
              <a:t>.</a:t>
            </a:r>
            <a:r>
              <a:rPr lang="ko-KR" altLang="en-US" dirty="0" smtClean="0">
                <a:solidFill>
                  <a:srgbClr val="FF0000"/>
                </a:solidFill>
              </a:rPr>
              <a:t> 유동적으로 추가됨</a:t>
            </a:r>
            <a:r>
              <a:rPr lang="en-US" altLang="ko-KR" dirty="0" smtClean="0">
                <a:solidFill>
                  <a:srgbClr val="FF0000"/>
                </a:solidFill>
              </a:rPr>
              <a:t>.</a:t>
            </a:r>
            <a:br>
              <a:rPr lang="en-US" altLang="ko-KR" dirty="0" smtClean="0">
                <a:solidFill>
                  <a:srgbClr val="FF0000"/>
                </a:solidFill>
              </a:rPr>
            </a:br>
            <a:r>
              <a:rPr lang="en-US" altLang="ko-KR" dirty="0" smtClean="0">
                <a:solidFill>
                  <a:srgbClr val="FF0000"/>
                </a:solidFill>
              </a:rPr>
              <a:t>  &gt; </a:t>
            </a:r>
            <a:r>
              <a:rPr lang="ko-KR" altLang="en-US" dirty="0" smtClean="0">
                <a:solidFill>
                  <a:srgbClr val="FF0000"/>
                </a:solidFill>
              </a:rPr>
              <a:t>이행적격심사결과는 조건에 따라 노출 정보가 상이함</a:t>
            </a:r>
            <a:r>
              <a:rPr lang="en-US" altLang="ko-KR" dirty="0" smtClean="0">
                <a:solidFill>
                  <a:srgbClr val="FF0000"/>
                </a:solidFill>
              </a:rPr>
              <a:t>.</a:t>
            </a:r>
            <a:endParaRPr lang="en-US" altLang="ko-KR" dirty="0">
              <a:solidFill>
                <a:srgbClr val="FF0000"/>
              </a:solidFill>
            </a:endParaRPr>
          </a:p>
          <a:p>
            <a:pPr marL="228600" indent="-228600">
              <a:buFont typeface="+mj-lt"/>
              <a:buAutoNum type="arabicPeriod"/>
            </a:pPr>
            <a:r>
              <a:rPr lang="ko-KR" altLang="en-US" dirty="0" smtClean="0"/>
              <a:t>공고 </a:t>
            </a:r>
            <a:r>
              <a:rPr lang="ko-KR" altLang="en-US" dirty="0"/>
              <a:t>내용</a:t>
            </a:r>
            <a:r>
              <a:rPr lang="en-US" altLang="ko-KR" dirty="0"/>
              <a:t/>
            </a:r>
            <a:br>
              <a:rPr lang="en-US" altLang="ko-KR" dirty="0"/>
            </a:br>
            <a:r>
              <a:rPr lang="en-US" altLang="ko-KR" dirty="0"/>
              <a:t>- </a:t>
            </a:r>
            <a:r>
              <a:rPr lang="ko-KR" altLang="en-US" dirty="0" smtClean="0"/>
              <a:t>다음 페이지 참조</a:t>
            </a:r>
            <a:endParaRPr lang="en-US" altLang="ko-KR" dirty="0" smtClean="0"/>
          </a:p>
          <a:p>
            <a:pPr marL="228600" indent="-228600">
              <a:buFont typeface="+mj-lt"/>
              <a:buAutoNum type="arabicPeriod"/>
            </a:pPr>
            <a:r>
              <a:rPr lang="ko-KR" altLang="en-US" dirty="0" smtClean="0"/>
              <a:t>이행적격심사 대상인 </a:t>
            </a:r>
            <a:r>
              <a:rPr lang="ko-KR" altLang="en-US" dirty="0" err="1" smtClean="0"/>
              <a:t>입찰건은</a:t>
            </a:r>
            <a:r>
              <a:rPr lang="ko-KR" altLang="en-US" dirty="0" smtClean="0"/>
              <a:t> 버튼 노출</a:t>
            </a:r>
            <a:r>
              <a:rPr lang="en-US" altLang="ko-KR" dirty="0" smtClean="0"/>
              <a:t/>
            </a:r>
            <a:br>
              <a:rPr lang="en-US" altLang="ko-KR" dirty="0" smtClean="0"/>
            </a:br>
            <a:r>
              <a:rPr lang="en-US" altLang="ko-KR" dirty="0" smtClean="0"/>
              <a:t>- </a:t>
            </a:r>
            <a:r>
              <a:rPr lang="ko-KR" altLang="en-US" dirty="0" smtClean="0"/>
              <a:t>신청 버튼 클릭 </a:t>
            </a:r>
            <a:r>
              <a:rPr lang="ko-KR" altLang="en-US" dirty="0"/>
              <a:t>시 </a:t>
            </a:r>
            <a:r>
              <a:rPr lang="en-US" altLang="ko-KR" dirty="0" smtClean="0"/>
              <a:t>(</a:t>
            </a:r>
            <a:r>
              <a:rPr lang="ko-KR" altLang="en-US" dirty="0" smtClean="0"/>
              <a:t>이행</a:t>
            </a:r>
            <a:r>
              <a:rPr lang="en-US" altLang="ko-KR" dirty="0"/>
              <a:t>/</a:t>
            </a:r>
            <a:r>
              <a:rPr lang="ko-KR" altLang="en-US" dirty="0" smtClean="0"/>
              <a:t>적격심사상세</a:t>
            </a:r>
            <a:r>
              <a:rPr lang="ko-KR" altLang="en-US" dirty="0" smtClean="0">
                <a:latin typeface="+mn-ea"/>
              </a:rPr>
              <a:t> </a:t>
            </a:r>
            <a:r>
              <a:rPr lang="en-US" altLang="ko-KR" dirty="0" smtClean="0">
                <a:latin typeface="+mn-ea"/>
              </a:rPr>
              <a:t>MUI-BD-10-M01) </a:t>
            </a:r>
            <a:r>
              <a:rPr lang="ko-KR" altLang="en-US" dirty="0" smtClean="0">
                <a:latin typeface="+mn-ea"/>
              </a:rPr>
              <a:t>이동</a:t>
            </a:r>
            <a:r>
              <a:rPr lang="en-US" altLang="ko-KR" dirty="0" smtClean="0">
                <a:latin typeface="+mn-ea"/>
              </a:rPr>
              <a:t/>
            </a:r>
            <a:br>
              <a:rPr lang="en-US" altLang="ko-KR" dirty="0" smtClean="0">
                <a:latin typeface="+mn-ea"/>
              </a:rPr>
            </a:br>
            <a:r>
              <a:rPr lang="en-US" altLang="ko-KR" dirty="0" smtClean="0">
                <a:latin typeface="+mn-ea"/>
              </a:rPr>
              <a:t>- </a:t>
            </a:r>
            <a:r>
              <a:rPr lang="ko-KR" altLang="en-US" dirty="0" smtClean="0">
                <a:latin typeface="+mn-ea"/>
              </a:rPr>
              <a:t>포기 버튼 클릭 시 </a:t>
            </a:r>
            <a:r>
              <a:rPr lang="en-US" altLang="ko-KR" dirty="0" smtClean="0">
                <a:latin typeface="+mn-ea"/>
              </a:rPr>
              <a:t>(</a:t>
            </a:r>
            <a:r>
              <a:rPr lang="ko-KR" altLang="en-US" dirty="0"/>
              <a:t>이행</a:t>
            </a:r>
            <a:r>
              <a:rPr lang="en-US" altLang="ko-KR" dirty="0"/>
              <a:t>/</a:t>
            </a:r>
            <a:r>
              <a:rPr lang="ko-KR" altLang="en-US" dirty="0" smtClean="0"/>
              <a:t>적격심사포기신청</a:t>
            </a:r>
            <a:r>
              <a:rPr lang="en-US" altLang="ko-KR" dirty="0"/>
              <a:t>MUI-BD-10-P02</a:t>
            </a:r>
            <a:r>
              <a:rPr lang="en-US" altLang="ko-KR" dirty="0" smtClean="0">
                <a:latin typeface="+mn-ea"/>
              </a:rPr>
              <a:t>) </a:t>
            </a:r>
            <a:r>
              <a:rPr lang="ko-KR" altLang="en-US" dirty="0" smtClean="0">
                <a:latin typeface="+mn-ea"/>
              </a:rPr>
              <a:t>팝업 호출</a:t>
            </a:r>
            <a:r>
              <a:rPr lang="en-US" altLang="ko-KR" dirty="0" smtClean="0">
                <a:solidFill>
                  <a:srgbClr val="FF0000"/>
                </a:solidFill>
              </a:rPr>
              <a:t/>
            </a:r>
            <a:br>
              <a:rPr lang="en-US" altLang="ko-KR" dirty="0" smtClean="0">
                <a:solidFill>
                  <a:srgbClr val="FF0000"/>
                </a:solidFill>
              </a:rPr>
            </a:br>
            <a:r>
              <a:rPr lang="en-US" altLang="ko-KR" dirty="0" smtClean="0">
                <a:solidFill>
                  <a:srgbClr val="FF0000"/>
                </a:solidFill>
              </a:rPr>
              <a:t>- </a:t>
            </a:r>
            <a:r>
              <a:rPr lang="ko-KR" altLang="en-US" dirty="0" smtClean="0">
                <a:solidFill>
                  <a:srgbClr val="FF0000"/>
                </a:solidFill>
              </a:rPr>
              <a:t>신청</a:t>
            </a:r>
            <a:r>
              <a:rPr lang="en-US" altLang="ko-KR" dirty="0" smtClean="0">
                <a:solidFill>
                  <a:srgbClr val="FF0000"/>
                </a:solidFill>
              </a:rPr>
              <a:t> </a:t>
            </a:r>
            <a:r>
              <a:rPr lang="ko-KR" altLang="en-US" dirty="0" smtClean="0">
                <a:solidFill>
                  <a:srgbClr val="FF0000"/>
                </a:solidFill>
              </a:rPr>
              <a:t>또는</a:t>
            </a:r>
            <a:r>
              <a:rPr lang="en-US" altLang="ko-KR" dirty="0" smtClean="0">
                <a:solidFill>
                  <a:srgbClr val="FF0000"/>
                </a:solidFill>
              </a:rPr>
              <a:t> </a:t>
            </a:r>
            <a:r>
              <a:rPr lang="ko-KR" altLang="en-US" dirty="0">
                <a:solidFill>
                  <a:srgbClr val="FF0000"/>
                </a:solidFill>
              </a:rPr>
              <a:t>포기가 발생한 </a:t>
            </a:r>
            <a:r>
              <a:rPr lang="ko-KR" altLang="en-US" dirty="0" smtClean="0">
                <a:solidFill>
                  <a:srgbClr val="FF0000"/>
                </a:solidFill>
              </a:rPr>
              <a:t>경우</a:t>
            </a:r>
            <a:r>
              <a:rPr lang="en-US" altLang="ko-KR" dirty="0" smtClean="0">
                <a:solidFill>
                  <a:srgbClr val="FF0000"/>
                </a:solidFill>
              </a:rPr>
              <a:t/>
            </a:r>
            <a:br>
              <a:rPr lang="en-US" altLang="ko-KR" dirty="0" smtClean="0">
                <a:solidFill>
                  <a:srgbClr val="FF0000"/>
                </a:solidFill>
              </a:rPr>
            </a:br>
            <a:r>
              <a:rPr lang="en-US" altLang="ko-KR" dirty="0" smtClean="0">
                <a:solidFill>
                  <a:srgbClr val="FF0000"/>
                </a:solidFill>
              </a:rPr>
              <a:t>  &gt;</a:t>
            </a:r>
            <a:r>
              <a:rPr lang="ko-KR" altLang="en-US" dirty="0" smtClean="0">
                <a:solidFill>
                  <a:srgbClr val="FF0000"/>
                </a:solidFill>
              </a:rPr>
              <a:t> </a:t>
            </a:r>
            <a:r>
              <a:rPr lang="ko-KR" altLang="en-US" dirty="0">
                <a:solidFill>
                  <a:srgbClr val="FF0000"/>
                </a:solidFill>
              </a:rPr>
              <a:t>신청한 이후 포기할 수 </a:t>
            </a:r>
            <a:r>
              <a:rPr lang="ko-KR" altLang="en-US" dirty="0" smtClean="0">
                <a:solidFill>
                  <a:srgbClr val="FF0000"/>
                </a:solidFill>
              </a:rPr>
              <a:t>없음</a:t>
            </a:r>
            <a:r>
              <a:rPr lang="en-US" altLang="ko-KR" dirty="0" smtClean="0">
                <a:solidFill>
                  <a:srgbClr val="FF0000"/>
                </a:solidFill>
              </a:rPr>
              <a:t/>
            </a:r>
            <a:br>
              <a:rPr lang="en-US" altLang="ko-KR" dirty="0" smtClean="0">
                <a:solidFill>
                  <a:srgbClr val="FF0000"/>
                </a:solidFill>
              </a:rPr>
            </a:br>
            <a:r>
              <a:rPr lang="en-US" altLang="ko-KR" dirty="0" smtClean="0">
                <a:solidFill>
                  <a:srgbClr val="FF0000"/>
                </a:solidFill>
              </a:rPr>
              <a:t>  &gt; </a:t>
            </a:r>
            <a:r>
              <a:rPr lang="ko-KR" altLang="en-US" dirty="0" smtClean="0">
                <a:solidFill>
                  <a:srgbClr val="FF0000"/>
                </a:solidFill>
              </a:rPr>
              <a:t>포기한 이후 신청할 수 없음</a:t>
            </a:r>
            <a:endParaRPr lang="en-US" altLang="ko-KR" dirty="0"/>
          </a:p>
          <a:p>
            <a:pPr marL="228600" indent="-228600">
              <a:buFont typeface="+mj-lt"/>
              <a:buAutoNum type="arabicPeriod"/>
            </a:pPr>
            <a:r>
              <a:rPr lang="ko-KR" altLang="en-US" dirty="0" smtClean="0"/>
              <a:t>이행적격심사에 신청 또는 포기한 경우 버튼 표시 변경</a:t>
            </a:r>
            <a:r>
              <a:rPr lang="en-US" altLang="ko-KR" dirty="0" smtClean="0"/>
              <a:t/>
            </a:r>
            <a:br>
              <a:rPr lang="en-US" altLang="ko-KR" dirty="0" smtClean="0"/>
            </a:br>
            <a:r>
              <a:rPr lang="en-US" altLang="ko-KR" dirty="0" smtClean="0"/>
              <a:t>- </a:t>
            </a:r>
            <a:r>
              <a:rPr lang="ko-KR" altLang="en-US" dirty="0" smtClean="0"/>
              <a:t>신청 정보에 맞는 화면 또는 팝업 호출하여 정보 표시</a:t>
            </a:r>
            <a:endParaRPr lang="en-US" altLang="ko-KR" dirty="0"/>
          </a:p>
          <a:p>
            <a:pPr marL="228600" indent="-228600">
              <a:buFont typeface="+mj-lt"/>
              <a:buAutoNum type="arabicPeriod"/>
            </a:pPr>
            <a:r>
              <a:rPr lang="ko-KR" altLang="en-US" dirty="0" err="1"/>
              <a:t>플로팅</a:t>
            </a:r>
            <a:r>
              <a:rPr lang="ko-KR" altLang="en-US" dirty="0"/>
              <a:t> 버튼</a:t>
            </a:r>
            <a:r>
              <a:rPr lang="en-US" altLang="ko-KR" dirty="0"/>
              <a:t/>
            </a:r>
            <a:br>
              <a:rPr lang="en-US" altLang="ko-KR" dirty="0"/>
            </a:br>
            <a:r>
              <a:rPr lang="ko-KR" altLang="en-US" dirty="0" err="1"/>
              <a:t>플로팅</a:t>
            </a:r>
            <a:r>
              <a:rPr lang="ko-KR" altLang="en-US" dirty="0"/>
              <a:t> 버튼은 후술함</a:t>
            </a:r>
            <a:r>
              <a:rPr lang="en-US" altLang="ko-KR" dirty="0"/>
              <a:t>.</a:t>
            </a:r>
            <a:br>
              <a:rPr lang="en-US" altLang="ko-KR" dirty="0"/>
            </a:br>
            <a:r>
              <a:rPr lang="en-US" altLang="ko-KR" dirty="0"/>
              <a:t>- </a:t>
            </a:r>
            <a:r>
              <a:rPr lang="ko-KR" altLang="en-US" dirty="0"/>
              <a:t>상단 아이콘</a:t>
            </a:r>
            <a:r>
              <a:rPr lang="en-US" altLang="ko-KR" dirty="0"/>
              <a:t> - </a:t>
            </a:r>
            <a:r>
              <a:rPr lang="ko-KR" altLang="en-US" dirty="0" err="1"/>
              <a:t>최상단</a:t>
            </a:r>
            <a:r>
              <a:rPr lang="ko-KR" altLang="en-US" dirty="0"/>
              <a:t> </a:t>
            </a:r>
            <a:r>
              <a:rPr lang="en-US" altLang="ko-KR" dirty="0"/>
              <a:t>(</a:t>
            </a:r>
            <a:r>
              <a:rPr lang="ko-KR" altLang="en-US" dirty="0"/>
              <a:t>전체 화면 공통</a:t>
            </a:r>
            <a:r>
              <a:rPr lang="en-US" altLang="ko-KR" dirty="0"/>
              <a:t>)</a:t>
            </a:r>
            <a:br>
              <a:rPr lang="en-US" altLang="ko-KR" dirty="0"/>
            </a:br>
            <a:r>
              <a:rPr lang="en-US" altLang="ko-KR" dirty="0"/>
              <a:t>- </a:t>
            </a:r>
            <a:r>
              <a:rPr lang="ko-KR" altLang="en-US" dirty="0"/>
              <a:t>더하기 아이콘 </a:t>
            </a:r>
            <a:r>
              <a:rPr lang="en-US" altLang="ko-KR" dirty="0"/>
              <a:t>- </a:t>
            </a:r>
            <a:r>
              <a:rPr lang="ko-KR" altLang="en-US" dirty="0"/>
              <a:t>버튼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149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a:t>일반정보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개찰 및 낙찰 처리 후 입찰결과를 조회할 수 있는 화면이다</a:t>
            </a:r>
            <a:r>
              <a:rPr lang="en-US" altLang="ko-KR" dirty="0"/>
              <a:t>.</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일반정보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t>입찰결과 상세</a:t>
            </a:r>
            <a:endParaRPr lang="ko-KR" altLang="en-US" sz="800" dirty="0">
              <a:latin typeface="+mn-ea"/>
            </a:endParaRP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08510"/>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1</a:t>
            </a:r>
            <a:endParaRPr lang="ko-KR" altLang="en-US" sz="1200"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158410"/>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493475"/>
            <a:ext cx="307777"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478086"/>
            <a:ext cx="609141"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2025-12-22</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1974079"/>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197407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22403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56526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257779"/>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3289124"/>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3371110"/>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 name="포인트가 5개인 별 2"/>
          <p:cNvSpPr/>
          <p:nvPr/>
        </p:nvSpPr>
        <p:spPr>
          <a:xfrm>
            <a:off x="3058821" y="1949976"/>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39196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703070"/>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28223" y="3703070"/>
            <a:ext cx="365390" cy="107722"/>
          </a:xfrm>
          <a:prstGeom prst="rect">
            <a:avLst/>
          </a:prstGeom>
          <a:noFill/>
        </p:spPr>
        <p:txBody>
          <a:bodyPr wrap="square" lIns="0" tIns="0" rIns="0" bIns="0" rtlCol="0">
            <a:spAutoFit/>
          </a:bodyPr>
          <a:lstStyle/>
          <a:p>
            <a:pPr algn="ctr"/>
            <a:r>
              <a:rPr lang="ko-KR" altLang="en-US" sz="700">
                <a:latin typeface="+mn-ea"/>
              </a:rPr>
              <a:t>품목정보</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1697870" y="3703070"/>
            <a:ext cx="375860" cy="107722"/>
          </a:xfrm>
          <a:prstGeom prst="rect">
            <a:avLst/>
          </a:prstGeom>
          <a:noFill/>
        </p:spPr>
        <p:txBody>
          <a:bodyPr wrap="square" lIns="0" tIns="0" rIns="0" bIns="0" rtlCol="0">
            <a:spAutoFit/>
          </a:bodyPr>
          <a:lstStyle/>
          <a:p>
            <a:pPr algn="ctr"/>
            <a:r>
              <a:rPr lang="ko-KR" altLang="en-US" sz="700" dirty="0">
                <a:latin typeface="+mn-ea"/>
              </a:rPr>
              <a:t>입찰결과</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181874" y="3703070"/>
            <a:ext cx="379003" cy="107722"/>
          </a:xfrm>
          <a:prstGeom prst="rect">
            <a:avLst/>
          </a:prstGeom>
          <a:noFill/>
        </p:spPr>
        <p:txBody>
          <a:bodyPr wrap="square" lIns="0" tIns="0" rIns="0" bIns="0" rtlCol="0">
            <a:spAutoFit/>
          </a:bodyPr>
          <a:lstStyle/>
          <a:p>
            <a:pPr algn="ctr"/>
            <a:r>
              <a:rPr lang="ko-KR" altLang="en-US" sz="700" dirty="0">
                <a:latin typeface="+mn-ea"/>
              </a:rPr>
              <a:t>협상결과</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3919677"/>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FFC49AEA-2A8F-250C-A86A-A7751D9706C3}"/>
              </a:ext>
            </a:extLst>
          </p:cNvPr>
          <p:cNvSpPr txBox="1"/>
          <p:nvPr/>
        </p:nvSpPr>
        <p:spPr>
          <a:xfrm>
            <a:off x="781461" y="4026008"/>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139339"/>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3" name="직선 연결선 192">
            <a:extLst>
              <a:ext uri="{FF2B5EF4-FFF2-40B4-BE49-F238E27FC236}">
                <a16:creationId xmlns:a16="http://schemas.microsoft.com/office/drawing/2014/main" id="{E9293055-D5CD-4B9E-7F64-64B2D2CA7A52}"/>
              </a:ext>
            </a:extLst>
          </p:cNvPr>
          <p:cNvCxnSpPr/>
          <p:nvPr/>
        </p:nvCxnSpPr>
        <p:spPr>
          <a:xfrm>
            <a:off x="3795734" y="15018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8" name="TextBox 217">
            <a:extLst>
              <a:ext uri="{FF2B5EF4-FFF2-40B4-BE49-F238E27FC236}">
                <a16:creationId xmlns:a16="http://schemas.microsoft.com/office/drawing/2014/main" id="{FFC49AEA-2A8F-250C-A86A-A7751D9706C3}"/>
              </a:ext>
            </a:extLst>
          </p:cNvPr>
          <p:cNvSpPr txBox="1"/>
          <p:nvPr/>
        </p:nvSpPr>
        <p:spPr>
          <a:xfrm>
            <a:off x="3884993" y="1964163"/>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219" name="그룹 218"/>
          <p:cNvGrpSpPr/>
          <p:nvPr/>
        </p:nvGrpSpPr>
        <p:grpSpPr>
          <a:xfrm flipV="1">
            <a:off x="6247080" y="2077494"/>
            <a:ext cx="94010" cy="47005"/>
            <a:chOff x="6812560" y="3297172"/>
            <a:chExt cx="94010" cy="47005"/>
          </a:xfrm>
        </p:grpSpPr>
        <p:cxnSp>
          <p:nvCxnSpPr>
            <p:cNvPr id="220" name="직선 연결선 2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1" name="직선 연결선 22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22" name="직사각형 221"/>
          <p:cNvSpPr/>
          <p:nvPr/>
        </p:nvSpPr>
        <p:spPr>
          <a:xfrm>
            <a:off x="3826115" y="2271648"/>
            <a:ext cx="792000" cy="10925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3824022" y="22716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3913179" y="2271648"/>
            <a:ext cx="670770" cy="1077218"/>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en-US" altLang="ko-KR" sz="700" dirty="0">
                <a:latin typeface="+mn-ea"/>
              </a:rPr>
              <a:t>⁞</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4670027" y="2271648"/>
            <a:ext cx="1814470" cy="1077218"/>
          </a:xfrm>
          <a:prstGeom prst="rect">
            <a:avLst/>
          </a:prstGeom>
          <a:noFill/>
        </p:spPr>
        <p:txBody>
          <a:bodyPr wrap="square" lIns="0" tIns="0" rIns="0" bIns="0" rtlCol="0">
            <a:spAutoFit/>
          </a:bodyPr>
          <a:lstStyle/>
          <a:p>
            <a:pPr>
              <a:lnSpc>
                <a:spcPct val="200000"/>
              </a:lnSpc>
            </a:pPr>
            <a:r>
              <a:rPr lang="ko-KR" altLang="en-US" sz="700" dirty="0" err="1">
                <a:latin typeface="+mn-ea"/>
              </a:rPr>
              <a:t>테스트공고</a:t>
            </a:r>
            <a:endParaRPr lang="en-US" altLang="ko-KR" sz="700" dirty="0">
              <a:latin typeface="+mn-ea"/>
            </a:endParaRPr>
          </a:p>
          <a:p>
            <a:pPr lvl="0">
              <a:lnSpc>
                <a:spcPct val="200000"/>
              </a:lnSpc>
            </a:pPr>
            <a:r>
              <a:rPr lang="en-US" altLang="ko-KR" sz="700" dirty="0">
                <a:latin typeface="+mn-ea"/>
              </a:rPr>
              <a:t>MST0001-1</a:t>
            </a:r>
          </a:p>
          <a:p>
            <a:pPr>
              <a:lnSpc>
                <a:spcPct val="200000"/>
              </a:lnSpc>
            </a:pPr>
            <a:r>
              <a:rPr lang="en-US" altLang="ko-KR" sz="700" dirty="0">
                <a:latin typeface="+mn-ea"/>
              </a:rPr>
              <a:t>10000</a:t>
            </a:r>
          </a:p>
          <a:p>
            <a:pPr>
              <a:lnSpc>
                <a:spcPct val="200000"/>
              </a:lnSpc>
            </a:pPr>
            <a:r>
              <a:rPr lang="ko-KR" altLang="en-US" sz="700" dirty="0">
                <a:latin typeface="+mn-ea"/>
              </a:rPr>
              <a:t>테스트발주기관</a:t>
            </a:r>
            <a:endParaRPr lang="en-US" altLang="ko-KR" sz="700" dirty="0">
              <a:latin typeface="+mn-ea"/>
            </a:endParaRPr>
          </a:p>
          <a:p>
            <a:pPr>
              <a:lnSpc>
                <a:spcPct val="200000"/>
              </a:lnSpc>
            </a:pPr>
            <a:r>
              <a:rPr lang="en-US" altLang="ko-KR" sz="700" dirty="0">
                <a:latin typeface="+mn-ea"/>
              </a:rPr>
              <a:t>⁞</a:t>
            </a:r>
          </a:p>
        </p:txBody>
      </p:sp>
      <p:cxnSp>
        <p:nvCxnSpPr>
          <p:cNvPr id="226" name="직선 연결선 225">
            <a:extLst>
              <a:ext uri="{FF2B5EF4-FFF2-40B4-BE49-F238E27FC236}">
                <a16:creationId xmlns:a16="http://schemas.microsoft.com/office/drawing/2014/main" id="{E9293055-D5CD-4B9E-7F64-64B2D2CA7A52}"/>
              </a:ext>
            </a:extLst>
          </p:cNvPr>
          <p:cNvCxnSpPr/>
          <p:nvPr/>
        </p:nvCxnSpPr>
        <p:spPr>
          <a:xfrm>
            <a:off x="3826115" y="250275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7" name="직선 연결선 226">
            <a:extLst>
              <a:ext uri="{FF2B5EF4-FFF2-40B4-BE49-F238E27FC236}">
                <a16:creationId xmlns:a16="http://schemas.microsoft.com/office/drawing/2014/main" id="{E9293055-D5CD-4B9E-7F64-64B2D2CA7A52}"/>
              </a:ext>
            </a:extLst>
          </p:cNvPr>
          <p:cNvCxnSpPr/>
          <p:nvPr/>
        </p:nvCxnSpPr>
        <p:spPr>
          <a:xfrm>
            <a:off x="3826115" y="27164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8" name="직선 연결선 227">
            <a:extLst>
              <a:ext uri="{FF2B5EF4-FFF2-40B4-BE49-F238E27FC236}">
                <a16:creationId xmlns:a16="http://schemas.microsoft.com/office/drawing/2014/main" id="{E9293055-D5CD-4B9E-7F64-64B2D2CA7A52}"/>
              </a:ext>
            </a:extLst>
          </p:cNvPr>
          <p:cNvCxnSpPr/>
          <p:nvPr/>
        </p:nvCxnSpPr>
        <p:spPr>
          <a:xfrm>
            <a:off x="3826115" y="29301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9" name="직선 연결선 228">
            <a:extLst>
              <a:ext uri="{FF2B5EF4-FFF2-40B4-BE49-F238E27FC236}">
                <a16:creationId xmlns:a16="http://schemas.microsoft.com/office/drawing/2014/main" id="{E9293055-D5CD-4B9E-7F64-64B2D2CA7A52}"/>
              </a:ext>
            </a:extLst>
          </p:cNvPr>
          <p:cNvCxnSpPr/>
          <p:nvPr/>
        </p:nvCxnSpPr>
        <p:spPr>
          <a:xfrm>
            <a:off x="3826115" y="314387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0" name="직선 연결선 229">
            <a:extLst>
              <a:ext uri="{FF2B5EF4-FFF2-40B4-BE49-F238E27FC236}">
                <a16:creationId xmlns:a16="http://schemas.microsoft.com/office/drawing/2014/main" id="{E9293055-D5CD-4B9E-7F64-64B2D2CA7A52}"/>
              </a:ext>
            </a:extLst>
          </p:cNvPr>
          <p:cNvCxnSpPr/>
          <p:nvPr/>
        </p:nvCxnSpPr>
        <p:spPr>
          <a:xfrm>
            <a:off x="3826115" y="3357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5" name="모서리가 둥근 직사각형 234"/>
          <p:cNvSpPr/>
          <p:nvPr/>
        </p:nvSpPr>
        <p:spPr>
          <a:xfrm rot="5400000">
            <a:off x="6098765" y="2517418"/>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254" name="직선 연결선 253">
            <a:extLst>
              <a:ext uri="{FF2B5EF4-FFF2-40B4-BE49-F238E27FC236}">
                <a16:creationId xmlns:a16="http://schemas.microsoft.com/office/drawing/2014/main" id="{E9293055-D5CD-4B9E-7F64-64B2D2CA7A52}"/>
              </a:ext>
            </a:extLst>
          </p:cNvPr>
          <p:cNvCxnSpPr/>
          <p:nvPr/>
        </p:nvCxnSpPr>
        <p:spPr>
          <a:xfrm>
            <a:off x="3795734" y="348965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타원 270">
            <a:extLst>
              <a:ext uri="{FF2B5EF4-FFF2-40B4-BE49-F238E27FC236}">
                <a16:creationId xmlns:a16="http://schemas.microsoft.com/office/drawing/2014/main" id="{37A7FF4F-0EAA-1463-560A-D5EC24416103}"/>
              </a:ext>
            </a:extLst>
          </p:cNvPr>
          <p:cNvSpPr/>
          <p:nvPr/>
        </p:nvSpPr>
        <p:spPr>
          <a:xfrm>
            <a:off x="571127" y="3289124"/>
            <a:ext cx="172130" cy="1721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t>2</a:t>
            </a:r>
            <a:endParaRPr lang="ko-KR" altLang="en-US" sz="1200" dirty="0"/>
          </a:p>
        </p:txBody>
      </p:sp>
      <p:sp>
        <p:nvSpPr>
          <p:cNvPr id="272" name="타원 271">
            <a:extLst>
              <a:ext uri="{FF2B5EF4-FFF2-40B4-BE49-F238E27FC236}">
                <a16:creationId xmlns:a16="http://schemas.microsoft.com/office/drawing/2014/main" id="{37A7FF4F-0EAA-1463-560A-D5EC24416103}"/>
              </a:ext>
            </a:extLst>
          </p:cNvPr>
          <p:cNvSpPr/>
          <p:nvPr/>
        </p:nvSpPr>
        <p:spPr>
          <a:xfrm>
            <a:off x="571127" y="366686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73" name="타원 272">
            <a:extLst>
              <a:ext uri="{FF2B5EF4-FFF2-40B4-BE49-F238E27FC236}">
                <a16:creationId xmlns:a16="http://schemas.microsoft.com/office/drawing/2014/main" id="{37A7FF4F-0EAA-1463-560A-D5EC24416103}"/>
              </a:ext>
            </a:extLst>
          </p:cNvPr>
          <p:cNvSpPr/>
          <p:nvPr/>
        </p:nvSpPr>
        <p:spPr>
          <a:xfrm>
            <a:off x="571127" y="405666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77" name="타원 276"/>
          <p:cNvSpPr/>
          <p:nvPr/>
        </p:nvSpPr>
        <p:spPr>
          <a:xfrm>
            <a:off x="6596790" y="5154989"/>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5272060"/>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640239"/>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769705"/>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294" name="타원 293">
            <a:extLst>
              <a:ext uri="{FF2B5EF4-FFF2-40B4-BE49-F238E27FC236}">
                <a16:creationId xmlns:a16="http://schemas.microsoft.com/office/drawing/2014/main" id="{37A7FF4F-0EAA-1463-560A-D5EC24416103}"/>
              </a:ext>
            </a:extLst>
          </p:cNvPr>
          <p:cNvSpPr/>
          <p:nvPr/>
        </p:nvSpPr>
        <p:spPr>
          <a:xfrm>
            <a:off x="6688284" y="48530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7</a:t>
            </a:r>
            <a:endParaRPr lang="ko-KR" altLang="en-US" sz="900" b="1" dirty="0"/>
          </a:p>
        </p:txBody>
      </p:sp>
      <p:cxnSp>
        <p:nvCxnSpPr>
          <p:cNvPr id="295" name="직선 연결선 294">
            <a:extLst>
              <a:ext uri="{FF2B5EF4-FFF2-40B4-BE49-F238E27FC236}">
                <a16:creationId xmlns:a16="http://schemas.microsoft.com/office/drawing/2014/main" id="{E9293055-D5CD-4B9E-7F64-64B2D2CA7A52}"/>
              </a:ext>
            </a:extLst>
          </p:cNvPr>
          <p:cNvCxnSpPr/>
          <p:nvPr/>
        </p:nvCxnSpPr>
        <p:spPr>
          <a:xfrm>
            <a:off x="675399" y="286634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82" name="그룹 181"/>
          <p:cNvGrpSpPr/>
          <p:nvPr/>
        </p:nvGrpSpPr>
        <p:grpSpPr>
          <a:xfrm rot="16200000">
            <a:off x="1250697" y="3019171"/>
            <a:ext cx="94010" cy="47005"/>
            <a:chOff x="6812560" y="3297172"/>
            <a:chExt cx="94010" cy="47005"/>
          </a:xfrm>
        </p:grpSpPr>
        <p:cxnSp>
          <p:nvCxnSpPr>
            <p:cNvPr id="183" name="직선 연결선 1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4" name="직선 연결선 1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85" name="그룹 184"/>
          <p:cNvGrpSpPr/>
          <p:nvPr/>
        </p:nvGrpSpPr>
        <p:grpSpPr>
          <a:xfrm>
            <a:off x="1404035" y="2948692"/>
            <a:ext cx="601002" cy="187961"/>
            <a:chOff x="1335163" y="3237230"/>
            <a:chExt cx="601002" cy="187961"/>
          </a:xfrm>
        </p:grpSpPr>
        <p:sp>
          <p:nvSpPr>
            <p:cNvPr id="186" name="TextBox 185">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입찰</a:t>
              </a:r>
            </a:p>
          </p:txBody>
        </p:sp>
        <p:grpSp>
          <p:nvGrpSpPr>
            <p:cNvPr id="187" name="그룹 186"/>
            <p:cNvGrpSpPr/>
            <p:nvPr/>
          </p:nvGrpSpPr>
          <p:grpSpPr>
            <a:xfrm>
              <a:off x="1335163" y="3237230"/>
              <a:ext cx="187961" cy="187961"/>
              <a:chOff x="1485163" y="3237230"/>
              <a:chExt cx="187961" cy="187961"/>
            </a:xfrm>
          </p:grpSpPr>
          <p:sp>
            <p:nvSpPr>
              <p:cNvPr id="189" name="타원 188"/>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0" name="TextBox 189">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194" name="그룹 193"/>
          <p:cNvGrpSpPr/>
          <p:nvPr/>
        </p:nvGrpSpPr>
        <p:grpSpPr>
          <a:xfrm rot="16200000">
            <a:off x="1906808" y="3019171"/>
            <a:ext cx="94010" cy="47005"/>
            <a:chOff x="6812560" y="3297172"/>
            <a:chExt cx="94010" cy="47005"/>
          </a:xfrm>
        </p:grpSpPr>
        <p:cxnSp>
          <p:nvCxnSpPr>
            <p:cNvPr id="195" name="직선 연결선 19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6" name="직선 연결선 19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97" name="그룹 196"/>
          <p:cNvGrpSpPr/>
          <p:nvPr/>
        </p:nvGrpSpPr>
        <p:grpSpPr>
          <a:xfrm rot="16200000">
            <a:off x="2562920" y="3019171"/>
            <a:ext cx="94010" cy="47005"/>
            <a:chOff x="6812560" y="3297172"/>
            <a:chExt cx="94010" cy="47005"/>
          </a:xfrm>
        </p:grpSpPr>
        <p:cxnSp>
          <p:nvCxnSpPr>
            <p:cNvPr id="198" name="직선 연결선 1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9" name="직선 연결선 1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31" name="그룹 230"/>
          <p:cNvGrpSpPr/>
          <p:nvPr/>
        </p:nvGrpSpPr>
        <p:grpSpPr>
          <a:xfrm>
            <a:off x="747925" y="2948692"/>
            <a:ext cx="601001" cy="187961"/>
            <a:chOff x="747925" y="3237230"/>
            <a:chExt cx="601001" cy="187961"/>
          </a:xfrm>
        </p:grpSpPr>
        <p:grpSp>
          <p:nvGrpSpPr>
            <p:cNvPr id="232" name="그룹 231"/>
            <p:cNvGrpSpPr/>
            <p:nvPr/>
          </p:nvGrpSpPr>
          <p:grpSpPr>
            <a:xfrm>
              <a:off x="747925" y="3237230"/>
              <a:ext cx="187961" cy="187961"/>
              <a:chOff x="747925" y="3237230"/>
              <a:chExt cx="187961" cy="187961"/>
            </a:xfrm>
          </p:grpSpPr>
          <p:sp>
            <p:nvSpPr>
              <p:cNvPr id="234" name="타원 233"/>
              <p:cNvSpPr/>
              <p:nvPr/>
            </p:nvSpPr>
            <p:spPr>
              <a:xfrm>
                <a:off x="747925" y="3237230"/>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0" name="TextBox 239">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233" name="TextBox 232">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조달</a:t>
              </a:r>
            </a:p>
          </p:txBody>
        </p:sp>
      </p:grpSp>
      <p:grpSp>
        <p:nvGrpSpPr>
          <p:cNvPr id="241" name="그룹 240"/>
          <p:cNvGrpSpPr/>
          <p:nvPr/>
        </p:nvGrpSpPr>
        <p:grpSpPr>
          <a:xfrm>
            <a:off x="2058749" y="2948692"/>
            <a:ext cx="603798" cy="187961"/>
            <a:chOff x="2058749" y="3237230"/>
            <a:chExt cx="603798" cy="187961"/>
          </a:xfrm>
        </p:grpSpPr>
        <p:grpSp>
          <p:nvGrpSpPr>
            <p:cNvPr id="242" name="그룹 241"/>
            <p:cNvGrpSpPr/>
            <p:nvPr/>
          </p:nvGrpSpPr>
          <p:grpSpPr>
            <a:xfrm>
              <a:off x="2058749" y="3237230"/>
              <a:ext cx="187961" cy="187961"/>
              <a:chOff x="2058749" y="3237230"/>
              <a:chExt cx="187961" cy="187961"/>
            </a:xfrm>
          </p:grpSpPr>
          <p:sp>
            <p:nvSpPr>
              <p:cNvPr id="244" name="타원 243"/>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5" name="TextBox 244">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243" name="TextBox 242">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계약</a:t>
              </a:r>
            </a:p>
          </p:txBody>
        </p:sp>
      </p:grpSp>
      <p:sp>
        <p:nvSpPr>
          <p:cNvPr id="255" name="TextBox 254">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56" name="TextBox 255">
            <a:extLst>
              <a:ext uri="{FF2B5EF4-FFF2-40B4-BE49-F238E27FC236}">
                <a16:creationId xmlns:a16="http://schemas.microsoft.com/office/drawing/2014/main" id="{FFC49AEA-2A8F-250C-A86A-A7751D9706C3}"/>
              </a:ext>
            </a:extLst>
          </p:cNvPr>
          <p:cNvSpPr txBox="1"/>
          <p:nvPr/>
        </p:nvSpPr>
        <p:spPr>
          <a:xfrm>
            <a:off x="3878080" y="3557036"/>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261" name="그룹 260"/>
          <p:cNvGrpSpPr/>
          <p:nvPr/>
        </p:nvGrpSpPr>
        <p:grpSpPr>
          <a:xfrm flipV="1">
            <a:off x="6240167" y="3670367"/>
            <a:ext cx="94010" cy="47005"/>
            <a:chOff x="6812560" y="3297172"/>
            <a:chExt cx="94010" cy="47005"/>
          </a:xfrm>
        </p:grpSpPr>
        <p:cxnSp>
          <p:nvCxnSpPr>
            <p:cNvPr id="262" name="직선 연결선 26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3" name="직선 연결선 26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4" name="모서리가 둥근 직사각형 263"/>
          <p:cNvSpPr/>
          <p:nvPr/>
        </p:nvSpPr>
        <p:spPr>
          <a:xfrm>
            <a:off x="3831550" y="395542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4332218" y="402994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3909746" y="408380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268" name="모서리가 둥근 직사각형 267"/>
          <p:cNvSpPr/>
          <p:nvPr/>
        </p:nvSpPr>
        <p:spPr>
          <a:xfrm>
            <a:off x="3831550" y="436210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9" name="TextBox 268">
            <a:extLst>
              <a:ext uri="{FF2B5EF4-FFF2-40B4-BE49-F238E27FC236}">
                <a16:creationId xmlns:a16="http://schemas.microsoft.com/office/drawing/2014/main" id="{FFC49AEA-2A8F-250C-A86A-A7751D9706C3}"/>
              </a:ext>
            </a:extLst>
          </p:cNvPr>
          <p:cNvSpPr txBox="1"/>
          <p:nvPr/>
        </p:nvSpPr>
        <p:spPr>
          <a:xfrm>
            <a:off x="4332218" y="4436629"/>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78" name="TextBox 277">
            <a:extLst>
              <a:ext uri="{FF2B5EF4-FFF2-40B4-BE49-F238E27FC236}">
                <a16:creationId xmlns:a16="http://schemas.microsoft.com/office/drawing/2014/main" id="{FFC49AEA-2A8F-250C-A86A-A7751D9706C3}"/>
              </a:ext>
            </a:extLst>
          </p:cNvPr>
          <p:cNvSpPr txBox="1"/>
          <p:nvPr/>
        </p:nvSpPr>
        <p:spPr>
          <a:xfrm>
            <a:off x="3909746" y="449049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282" name="TextBox 281">
            <a:extLst>
              <a:ext uri="{FF2B5EF4-FFF2-40B4-BE49-F238E27FC236}">
                <a16:creationId xmlns:a16="http://schemas.microsoft.com/office/drawing/2014/main" id="{FFC49AEA-2A8F-250C-A86A-A7751D9706C3}"/>
              </a:ext>
            </a:extLst>
          </p:cNvPr>
          <p:cNvSpPr txBox="1"/>
          <p:nvPr/>
        </p:nvSpPr>
        <p:spPr>
          <a:xfrm>
            <a:off x="4332218" y="3820304"/>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285" name="TextBox 284">
            <a:extLst>
              <a:ext uri="{FF2B5EF4-FFF2-40B4-BE49-F238E27FC236}">
                <a16:creationId xmlns:a16="http://schemas.microsoft.com/office/drawing/2014/main" id="{FFC49AEA-2A8F-250C-A86A-A7751D9706C3}"/>
              </a:ext>
            </a:extLst>
          </p:cNvPr>
          <p:cNvSpPr txBox="1"/>
          <p:nvPr/>
        </p:nvSpPr>
        <p:spPr>
          <a:xfrm>
            <a:off x="3838314" y="3820304"/>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286" name="타원 285"/>
          <p:cNvSpPr/>
          <p:nvPr/>
        </p:nvSpPr>
        <p:spPr>
          <a:xfrm>
            <a:off x="6206587" y="406566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7" name="TextBox 286">
            <a:extLst>
              <a:ext uri="{FF2B5EF4-FFF2-40B4-BE49-F238E27FC236}">
                <a16:creationId xmlns:a16="http://schemas.microsoft.com/office/drawing/2014/main" id="{FFC49AEA-2A8F-250C-A86A-A7751D9706C3}"/>
              </a:ext>
            </a:extLst>
          </p:cNvPr>
          <p:cNvSpPr txBox="1"/>
          <p:nvPr/>
        </p:nvSpPr>
        <p:spPr>
          <a:xfrm>
            <a:off x="6116103" y="3823917"/>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290" name="타원 289"/>
          <p:cNvSpPr/>
          <p:nvPr/>
        </p:nvSpPr>
        <p:spPr>
          <a:xfrm>
            <a:off x="6206587" y="4472351"/>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1" name="TextBox 290">
            <a:extLst>
              <a:ext uri="{FF2B5EF4-FFF2-40B4-BE49-F238E27FC236}">
                <a16:creationId xmlns:a16="http://schemas.microsoft.com/office/drawing/2014/main" id="{FFC49AEA-2A8F-250C-A86A-A7751D9706C3}"/>
              </a:ext>
            </a:extLst>
          </p:cNvPr>
          <p:cNvSpPr txBox="1"/>
          <p:nvPr/>
        </p:nvSpPr>
        <p:spPr>
          <a:xfrm>
            <a:off x="2672495" y="3703070"/>
            <a:ext cx="424394" cy="107722"/>
          </a:xfrm>
          <a:prstGeom prst="rect">
            <a:avLst/>
          </a:prstGeom>
          <a:noFill/>
        </p:spPr>
        <p:txBody>
          <a:bodyPr wrap="square" lIns="0" tIns="0" rIns="0" bIns="0" rtlCol="0">
            <a:spAutoFit/>
          </a:bodyPr>
          <a:lstStyle/>
          <a:p>
            <a:pPr algn="ctr"/>
            <a:r>
              <a:rPr lang="ko-KR" altLang="en-US" sz="700" dirty="0">
                <a:latin typeface="+mn-ea"/>
              </a:rPr>
              <a:t>이행</a:t>
            </a:r>
            <a:r>
              <a:rPr lang="en-US" altLang="ko-KR" sz="700" dirty="0">
                <a:latin typeface="+mn-ea"/>
              </a:rPr>
              <a:t>/</a:t>
            </a:r>
            <a:r>
              <a:rPr lang="ko-KR" altLang="en-US" sz="700" dirty="0">
                <a:latin typeface="+mn-ea"/>
              </a:rPr>
              <a:t>적격</a:t>
            </a:r>
          </a:p>
        </p:txBody>
      </p:sp>
      <p:grpSp>
        <p:nvGrpSpPr>
          <p:cNvPr id="7" name="그룹 6"/>
          <p:cNvGrpSpPr/>
          <p:nvPr/>
        </p:nvGrpSpPr>
        <p:grpSpPr>
          <a:xfrm>
            <a:off x="2924086" y="3664947"/>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93" name="직선 연결선 292">
            <a:extLst>
              <a:ext uri="{FF2B5EF4-FFF2-40B4-BE49-F238E27FC236}">
                <a16:creationId xmlns:a16="http://schemas.microsoft.com/office/drawing/2014/main" id="{E9293055-D5CD-4B9E-7F64-64B2D2CA7A52}"/>
              </a:ext>
            </a:extLst>
          </p:cNvPr>
          <p:cNvCxnSpPr/>
          <p:nvPr/>
        </p:nvCxnSpPr>
        <p:spPr>
          <a:xfrm>
            <a:off x="3830188" y="185047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96" name="TextBox 295">
            <a:extLst>
              <a:ext uri="{FF2B5EF4-FFF2-40B4-BE49-F238E27FC236}">
                <a16:creationId xmlns:a16="http://schemas.microsoft.com/office/drawing/2014/main" id="{FFC49AEA-2A8F-250C-A86A-A7751D9706C3}"/>
              </a:ext>
            </a:extLst>
          </p:cNvPr>
          <p:cNvSpPr txBox="1"/>
          <p:nvPr/>
        </p:nvSpPr>
        <p:spPr>
          <a:xfrm>
            <a:off x="3873867" y="1633872"/>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297" name="TextBox 296">
            <a:extLst>
              <a:ext uri="{FF2B5EF4-FFF2-40B4-BE49-F238E27FC236}">
                <a16:creationId xmlns:a16="http://schemas.microsoft.com/office/drawing/2014/main" id="{FFC49AEA-2A8F-250C-A86A-A7751D9706C3}"/>
              </a:ext>
            </a:extLst>
          </p:cNvPr>
          <p:cNvSpPr txBox="1"/>
          <p:nvPr/>
        </p:nvSpPr>
        <p:spPr>
          <a:xfrm>
            <a:off x="4337921" y="1633872"/>
            <a:ext cx="365390" cy="107722"/>
          </a:xfrm>
          <a:prstGeom prst="rect">
            <a:avLst/>
          </a:prstGeom>
          <a:noFill/>
        </p:spPr>
        <p:txBody>
          <a:bodyPr wrap="square" lIns="0" tIns="0" rIns="0" bIns="0" rtlCol="0">
            <a:spAutoFit/>
          </a:bodyPr>
          <a:lstStyle/>
          <a:p>
            <a:pPr algn="ctr"/>
            <a:r>
              <a:rPr lang="ko-KR" altLang="en-US" sz="700">
                <a:latin typeface="+mn-ea"/>
              </a:rPr>
              <a:t>품목정보</a:t>
            </a:r>
            <a:endParaRPr lang="ko-KR" altLang="en-US" sz="700" dirty="0">
              <a:latin typeface="+mn-ea"/>
            </a:endParaRPr>
          </a:p>
        </p:txBody>
      </p:sp>
      <p:sp>
        <p:nvSpPr>
          <p:cNvPr id="298" name="TextBox 297">
            <a:extLst>
              <a:ext uri="{FF2B5EF4-FFF2-40B4-BE49-F238E27FC236}">
                <a16:creationId xmlns:a16="http://schemas.microsoft.com/office/drawing/2014/main" id="{FFC49AEA-2A8F-250C-A86A-A7751D9706C3}"/>
              </a:ext>
            </a:extLst>
          </p:cNvPr>
          <p:cNvSpPr txBox="1"/>
          <p:nvPr/>
        </p:nvSpPr>
        <p:spPr>
          <a:xfrm>
            <a:off x="4807568" y="1633872"/>
            <a:ext cx="375860" cy="107722"/>
          </a:xfrm>
          <a:prstGeom prst="rect">
            <a:avLst/>
          </a:prstGeom>
          <a:noFill/>
        </p:spPr>
        <p:txBody>
          <a:bodyPr wrap="square" lIns="0" tIns="0" rIns="0" bIns="0" rtlCol="0">
            <a:spAutoFit/>
          </a:bodyPr>
          <a:lstStyle/>
          <a:p>
            <a:pPr algn="ctr"/>
            <a:r>
              <a:rPr lang="ko-KR" altLang="en-US" sz="700" dirty="0">
                <a:latin typeface="+mn-ea"/>
              </a:rPr>
              <a:t>입찰결과</a:t>
            </a:r>
          </a:p>
        </p:txBody>
      </p:sp>
      <p:sp>
        <p:nvSpPr>
          <p:cNvPr id="299" name="TextBox 298">
            <a:extLst>
              <a:ext uri="{FF2B5EF4-FFF2-40B4-BE49-F238E27FC236}">
                <a16:creationId xmlns:a16="http://schemas.microsoft.com/office/drawing/2014/main" id="{FFC49AEA-2A8F-250C-A86A-A7751D9706C3}"/>
              </a:ext>
            </a:extLst>
          </p:cNvPr>
          <p:cNvSpPr txBox="1"/>
          <p:nvPr/>
        </p:nvSpPr>
        <p:spPr>
          <a:xfrm>
            <a:off x="5291572" y="1633872"/>
            <a:ext cx="379003" cy="107722"/>
          </a:xfrm>
          <a:prstGeom prst="rect">
            <a:avLst/>
          </a:prstGeom>
          <a:noFill/>
        </p:spPr>
        <p:txBody>
          <a:bodyPr wrap="square" lIns="0" tIns="0" rIns="0" bIns="0" rtlCol="0">
            <a:spAutoFit/>
          </a:bodyPr>
          <a:lstStyle/>
          <a:p>
            <a:pPr algn="ctr"/>
            <a:r>
              <a:rPr lang="ko-KR" altLang="en-US" sz="700" dirty="0">
                <a:latin typeface="+mn-ea"/>
              </a:rPr>
              <a:t>협상결과</a:t>
            </a:r>
          </a:p>
        </p:txBody>
      </p:sp>
      <p:cxnSp>
        <p:nvCxnSpPr>
          <p:cNvPr id="300" name="직선 연결선 299">
            <a:extLst>
              <a:ext uri="{FF2B5EF4-FFF2-40B4-BE49-F238E27FC236}">
                <a16:creationId xmlns:a16="http://schemas.microsoft.com/office/drawing/2014/main" id="{E9293055-D5CD-4B9E-7F64-64B2D2CA7A52}"/>
              </a:ext>
            </a:extLst>
          </p:cNvPr>
          <p:cNvCxnSpPr/>
          <p:nvPr/>
        </p:nvCxnSpPr>
        <p:spPr>
          <a:xfrm>
            <a:off x="3830188" y="1850479"/>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sp>
        <p:nvSpPr>
          <p:cNvPr id="301" name="TextBox 300">
            <a:extLst>
              <a:ext uri="{FF2B5EF4-FFF2-40B4-BE49-F238E27FC236}">
                <a16:creationId xmlns:a16="http://schemas.microsoft.com/office/drawing/2014/main" id="{FFC49AEA-2A8F-250C-A86A-A7751D9706C3}"/>
              </a:ext>
            </a:extLst>
          </p:cNvPr>
          <p:cNvSpPr txBox="1"/>
          <p:nvPr/>
        </p:nvSpPr>
        <p:spPr>
          <a:xfrm>
            <a:off x="5782193" y="1633872"/>
            <a:ext cx="424394" cy="107722"/>
          </a:xfrm>
          <a:prstGeom prst="rect">
            <a:avLst/>
          </a:prstGeom>
          <a:noFill/>
        </p:spPr>
        <p:txBody>
          <a:bodyPr wrap="square" lIns="0" tIns="0" rIns="0" bIns="0" rtlCol="0">
            <a:spAutoFit/>
          </a:bodyPr>
          <a:lstStyle/>
          <a:p>
            <a:pPr algn="ctr"/>
            <a:r>
              <a:rPr lang="ko-KR" altLang="en-US" sz="700">
                <a:latin typeface="+mn-ea"/>
              </a:rPr>
              <a:t>이행</a:t>
            </a:r>
            <a:r>
              <a:rPr lang="en-US" altLang="ko-KR" sz="700" dirty="0">
                <a:latin typeface="+mn-ea"/>
              </a:rPr>
              <a:t>/</a:t>
            </a:r>
            <a:r>
              <a:rPr lang="ko-KR" altLang="en-US" sz="700" dirty="0">
                <a:latin typeface="+mn-ea"/>
              </a:rPr>
              <a:t>적격</a:t>
            </a:r>
          </a:p>
        </p:txBody>
      </p:sp>
      <p:grpSp>
        <p:nvGrpSpPr>
          <p:cNvPr id="302" name="그룹 301"/>
          <p:cNvGrpSpPr/>
          <p:nvPr/>
        </p:nvGrpSpPr>
        <p:grpSpPr>
          <a:xfrm>
            <a:off x="6033784" y="1595749"/>
            <a:ext cx="422853" cy="187961"/>
            <a:chOff x="3641308" y="2234886"/>
            <a:chExt cx="422853" cy="187961"/>
          </a:xfrm>
        </p:grpSpPr>
        <p:sp>
          <p:nvSpPr>
            <p:cNvPr id="303" name="타원 30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04" name="그룹 303"/>
            <p:cNvGrpSpPr/>
            <p:nvPr/>
          </p:nvGrpSpPr>
          <p:grpSpPr>
            <a:xfrm rot="5400000" flipH="1">
              <a:off x="3679895" y="2305364"/>
              <a:ext cx="94010" cy="47005"/>
              <a:chOff x="6812560" y="3297172"/>
              <a:chExt cx="94010" cy="47005"/>
            </a:xfrm>
          </p:grpSpPr>
          <p:cxnSp>
            <p:nvCxnSpPr>
              <p:cNvPr id="309" name="직선 연결선 3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0" name="직선 연결선 3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05" name="타원 30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06" name="그룹 305"/>
            <p:cNvGrpSpPr/>
            <p:nvPr/>
          </p:nvGrpSpPr>
          <p:grpSpPr>
            <a:xfrm rot="16200000">
              <a:off x="3931564" y="2305364"/>
              <a:ext cx="94010" cy="47005"/>
              <a:chOff x="6812560" y="3297172"/>
              <a:chExt cx="94010" cy="47005"/>
            </a:xfrm>
          </p:grpSpPr>
          <p:cxnSp>
            <p:nvCxnSpPr>
              <p:cNvPr id="307" name="직선 연결선 30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08" name="직선 연결선 30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312" name="직선 연결선 311">
            <a:extLst>
              <a:ext uri="{FF2B5EF4-FFF2-40B4-BE49-F238E27FC236}">
                <a16:creationId xmlns:a16="http://schemas.microsoft.com/office/drawing/2014/main" id="{E9293055-D5CD-4B9E-7F64-64B2D2CA7A52}"/>
              </a:ext>
            </a:extLst>
          </p:cNvPr>
          <p:cNvCxnSpPr/>
          <p:nvPr/>
        </p:nvCxnSpPr>
        <p:spPr>
          <a:xfrm>
            <a:off x="3795734" y="516213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3" name="TextBox 312">
            <a:extLst>
              <a:ext uri="{FF2B5EF4-FFF2-40B4-BE49-F238E27FC236}">
                <a16:creationId xmlns:a16="http://schemas.microsoft.com/office/drawing/2014/main" id="{FFC49AEA-2A8F-250C-A86A-A7751D9706C3}"/>
              </a:ext>
            </a:extLst>
          </p:cNvPr>
          <p:cNvSpPr txBox="1"/>
          <p:nvPr/>
        </p:nvSpPr>
        <p:spPr>
          <a:xfrm>
            <a:off x="3878080" y="5229519"/>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169" name="그룹 168"/>
          <p:cNvGrpSpPr/>
          <p:nvPr/>
        </p:nvGrpSpPr>
        <p:grpSpPr>
          <a:xfrm>
            <a:off x="2714860" y="2951256"/>
            <a:ext cx="603798" cy="187961"/>
            <a:chOff x="2714860" y="3237230"/>
            <a:chExt cx="603798" cy="187961"/>
          </a:xfrm>
        </p:grpSpPr>
        <p:grpSp>
          <p:nvGrpSpPr>
            <p:cNvPr id="170" name="그룹 169"/>
            <p:cNvGrpSpPr/>
            <p:nvPr/>
          </p:nvGrpSpPr>
          <p:grpSpPr>
            <a:xfrm>
              <a:off x="2714860" y="3237230"/>
              <a:ext cx="187961" cy="187961"/>
              <a:chOff x="2714860" y="3237230"/>
              <a:chExt cx="187961" cy="187961"/>
            </a:xfrm>
          </p:grpSpPr>
          <p:sp>
            <p:nvSpPr>
              <p:cNvPr id="172" name="타원 171"/>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3" name="TextBox 172">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71" name="TextBox 170">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이행</a:t>
              </a:r>
            </a:p>
          </p:txBody>
        </p:sp>
      </p:grpSp>
      <p:grpSp>
        <p:nvGrpSpPr>
          <p:cNvPr id="174" name="그룹 173"/>
          <p:cNvGrpSpPr/>
          <p:nvPr/>
        </p:nvGrpSpPr>
        <p:grpSpPr>
          <a:xfrm rot="5400000">
            <a:off x="3158978" y="2946621"/>
            <a:ext cx="187961" cy="187961"/>
            <a:chOff x="3876200" y="2234886"/>
            <a:chExt cx="187961" cy="187961"/>
          </a:xfrm>
        </p:grpSpPr>
        <p:sp>
          <p:nvSpPr>
            <p:cNvPr id="175" name="타원 17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6" name="그룹 175"/>
            <p:cNvGrpSpPr/>
            <p:nvPr/>
          </p:nvGrpSpPr>
          <p:grpSpPr>
            <a:xfrm rot="16200000">
              <a:off x="3931564" y="2305364"/>
              <a:ext cx="94010" cy="47005"/>
              <a:chOff x="6812560" y="3297172"/>
              <a:chExt cx="94010" cy="47005"/>
            </a:xfrm>
          </p:grpSpPr>
          <p:cxnSp>
            <p:nvCxnSpPr>
              <p:cNvPr id="177" name="직선 연결선 17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8" name="직선 연결선 17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168" name="그룹 167"/>
          <p:cNvGrpSpPr/>
          <p:nvPr/>
        </p:nvGrpSpPr>
        <p:grpSpPr>
          <a:xfrm>
            <a:off x="3795734" y="5614711"/>
            <a:ext cx="2712027" cy="617588"/>
            <a:chOff x="675399" y="5614711"/>
            <a:chExt cx="2712027" cy="617588"/>
          </a:xfrm>
        </p:grpSpPr>
        <p:sp>
          <p:nvSpPr>
            <p:cNvPr id="179" name="직사각형 178">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0" name="사각형: 둥근 모서리 15">
              <a:extLst>
                <a:ext uri="{FF2B5EF4-FFF2-40B4-BE49-F238E27FC236}">
                  <a16:creationId xmlns:a16="http://schemas.microsoft.com/office/drawing/2014/main" id="{E2B61CFB-AD16-68D0-8752-50D9C5E01971}"/>
                </a:ext>
              </a:extLst>
            </p:cNvPr>
            <p:cNvSpPr/>
            <p:nvPr/>
          </p:nvSpPr>
          <p:spPr>
            <a:xfrm>
              <a:off x="2075942" y="5745391"/>
              <a:ext cx="121917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smtClean="0">
                  <a:solidFill>
                    <a:srgbClr val="0070C0"/>
                  </a:solidFill>
                  <a:latin typeface="맑은 고딕"/>
                  <a:ea typeface="맑은 고딕" panose="020B0503020000020004" pitchFamily="50" charset="-127"/>
                </a:rPr>
                <a:t>이행적격심사 신청하기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1" name="사각형: 둥근 모서리 15">
              <a:extLst>
                <a:ext uri="{FF2B5EF4-FFF2-40B4-BE49-F238E27FC236}">
                  <a16:creationId xmlns:a16="http://schemas.microsoft.com/office/drawing/2014/main" id="{E2B61CFB-AD16-68D0-8752-50D9C5E01971}"/>
                </a:ext>
              </a:extLst>
            </p:cNvPr>
            <p:cNvSpPr/>
            <p:nvPr/>
          </p:nvSpPr>
          <p:spPr>
            <a:xfrm>
              <a:off x="767701" y="5745391"/>
              <a:ext cx="1215935"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이행적격심사 </a:t>
              </a:r>
              <a:r>
                <a:rPr kumimoji="1" lang="ko-KR" altLang="en-US" sz="1000" kern="0" dirty="0" smtClean="0">
                  <a:latin typeface="맑은 고딕"/>
                  <a:ea typeface="맑은 고딕" panose="020B0503020000020004" pitchFamily="50" charset="-127"/>
                </a:rPr>
                <a:t>포기하기</a:t>
              </a:r>
              <a:endParaRPr kumimoji="1" lang="en-US" sz="1000" b="0" i="0" u="none" strike="noStrike" kern="0" cap="none" spc="0" normalizeH="0" baseline="0" noProof="0" dirty="0">
                <a:ln>
                  <a:noFill/>
                </a:ln>
                <a:effectLst/>
                <a:uLnTx/>
                <a:uFillTx/>
                <a:latin typeface="맑은 고딕"/>
              </a:endParaRPr>
            </a:p>
          </p:txBody>
        </p:sp>
      </p:grpSp>
      <p:grpSp>
        <p:nvGrpSpPr>
          <p:cNvPr id="201" name="그룹 200"/>
          <p:cNvGrpSpPr/>
          <p:nvPr/>
        </p:nvGrpSpPr>
        <p:grpSpPr>
          <a:xfrm>
            <a:off x="3795734" y="6223005"/>
            <a:ext cx="2712027" cy="617588"/>
            <a:chOff x="675399" y="5614711"/>
            <a:chExt cx="2712027" cy="617588"/>
          </a:xfrm>
        </p:grpSpPr>
        <p:sp>
          <p:nvSpPr>
            <p:cNvPr id="202" name="직사각형 20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4" name="사각형: 둥근 모서리 15">
              <a:extLst>
                <a:ext uri="{FF2B5EF4-FFF2-40B4-BE49-F238E27FC236}">
                  <a16:creationId xmlns:a16="http://schemas.microsoft.com/office/drawing/2014/main" id="{E2B61CFB-AD16-68D0-8752-50D9C5E01971}"/>
                </a:ext>
              </a:extLst>
            </p:cNvPr>
            <p:cNvSpPr/>
            <p:nvPr/>
          </p:nvSpPr>
          <p:spPr>
            <a:xfrm>
              <a:off x="767701" y="5745391"/>
              <a:ext cx="252742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이행적격심사 </a:t>
              </a:r>
              <a:r>
                <a:rPr kumimoji="1" lang="ko-KR" altLang="en-US" sz="1000" kern="0" dirty="0" err="1" smtClean="0">
                  <a:latin typeface="맑은 고딕"/>
                  <a:ea typeface="맑은 고딕" panose="020B0503020000020004" pitchFamily="50" charset="-127"/>
                </a:rPr>
                <a:t>제출내용</a:t>
              </a:r>
              <a:r>
                <a:rPr kumimoji="1" lang="ko-KR" altLang="en-US" sz="1000" kern="0" dirty="0" smtClean="0">
                  <a:latin typeface="맑은 고딕"/>
                  <a:ea typeface="맑은 고딕" panose="020B0503020000020004" pitchFamily="50" charset="-127"/>
                </a:rPr>
                <a:t> 확인</a:t>
              </a:r>
              <a:endParaRPr kumimoji="1" lang="en-US" sz="1000" b="0" i="0" u="none" strike="noStrike" kern="0" cap="none" spc="0" normalizeH="0" baseline="0" noProof="0" dirty="0">
                <a:ln>
                  <a:noFill/>
                </a:ln>
                <a:effectLst/>
                <a:uLnTx/>
                <a:uFillTx/>
                <a:latin typeface="맑은 고딕"/>
              </a:endParaRPr>
            </a:p>
          </p:txBody>
        </p:sp>
      </p:grpSp>
      <p:sp>
        <p:nvSpPr>
          <p:cNvPr id="331" name="TextBox 58">
            <a:extLst>
              <a:ext uri="{FF2B5EF4-FFF2-40B4-BE49-F238E27FC236}">
                <a16:creationId xmlns:a16="http://schemas.microsoft.com/office/drawing/2014/main" id="{02FC114B-B48B-345F-BD70-2B5A196F5B3E}"/>
              </a:ext>
            </a:extLst>
          </p:cNvPr>
          <p:cNvSpPr txBox="1"/>
          <p:nvPr/>
        </p:nvSpPr>
        <p:spPr>
          <a:xfrm>
            <a:off x="3800816" y="1336107"/>
            <a:ext cx="247325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스크롤 시 표시 영역 상단 달라붙음 처리 </a:t>
            </a:r>
            <a:r>
              <a:rPr lang="en-US" altLang="ko-KR" sz="700" dirty="0"/>
              <a:t>(sticky)</a:t>
            </a:r>
            <a:endParaRPr lang="ko-KR" altLang="en-US" sz="900" b="1" dirty="0"/>
          </a:p>
        </p:txBody>
      </p:sp>
      <p:sp>
        <p:nvSpPr>
          <p:cNvPr id="332" name="평행 사변형 331"/>
          <p:cNvSpPr/>
          <p:nvPr/>
        </p:nvSpPr>
        <p:spPr>
          <a:xfrm rot="16200000" flipH="1">
            <a:off x="2386190" y="2503093"/>
            <a:ext cx="2410786" cy="408308"/>
          </a:xfrm>
          <a:prstGeom prst="parallelogram">
            <a:avLst>
              <a:gd name="adj" fmla="val 499411"/>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3" name="타원 332">
            <a:extLst>
              <a:ext uri="{FF2B5EF4-FFF2-40B4-BE49-F238E27FC236}">
                <a16:creationId xmlns:a16="http://schemas.microsoft.com/office/drawing/2014/main" id="{37A7FF4F-0EAA-1463-560A-D5EC24416103}"/>
              </a:ext>
            </a:extLst>
          </p:cNvPr>
          <p:cNvSpPr/>
          <p:nvPr/>
        </p:nvSpPr>
        <p:spPr>
          <a:xfrm>
            <a:off x="3677103" y="555181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5</a:t>
            </a:r>
            <a:endParaRPr lang="ko-KR" altLang="en-US" sz="900" b="1" dirty="0"/>
          </a:p>
        </p:txBody>
      </p:sp>
      <p:sp>
        <p:nvSpPr>
          <p:cNvPr id="334" name="타원 333">
            <a:extLst>
              <a:ext uri="{FF2B5EF4-FFF2-40B4-BE49-F238E27FC236}">
                <a16:creationId xmlns:a16="http://schemas.microsoft.com/office/drawing/2014/main" id="{37A7FF4F-0EAA-1463-560A-D5EC24416103}"/>
              </a:ext>
            </a:extLst>
          </p:cNvPr>
          <p:cNvSpPr/>
          <p:nvPr/>
        </p:nvSpPr>
        <p:spPr>
          <a:xfrm>
            <a:off x="3677103" y="642459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6</a:t>
            </a:r>
            <a:endParaRPr lang="ko-KR" altLang="en-US" sz="900" b="1" dirty="0"/>
          </a:p>
        </p:txBody>
      </p:sp>
      <p:grpSp>
        <p:nvGrpSpPr>
          <p:cNvPr id="335" name="그룹 334"/>
          <p:cNvGrpSpPr/>
          <p:nvPr/>
        </p:nvGrpSpPr>
        <p:grpSpPr>
          <a:xfrm>
            <a:off x="8223250" y="569392"/>
            <a:ext cx="3365500" cy="634511"/>
            <a:chOff x="8223250" y="569392"/>
            <a:chExt cx="3365500" cy="634511"/>
          </a:xfrm>
        </p:grpSpPr>
        <p:sp>
          <p:nvSpPr>
            <p:cNvPr id="336" name="직사각형 33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337" name="직사각형 336"/>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버튼 추가</a:t>
              </a:r>
              <a:r>
                <a:rPr lang="en-US" altLang="ko-KR" sz="700" dirty="0" smtClean="0"/>
                <a:t>,</a:t>
              </a:r>
              <a:endParaRPr lang="ko-KR" altLang="en-US" sz="700" dirty="0"/>
            </a:p>
          </p:txBody>
        </p:sp>
      </p:grpSp>
    </p:spTree>
    <p:extLst>
      <p:ext uri="{BB962C8B-B14F-4D97-AF65-F5344CB8AC3E}">
        <p14:creationId xmlns:p14="http://schemas.microsoft.com/office/powerpoint/2010/main" val="410345127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err="1"/>
              <a:t>공고일반</a:t>
            </a:r>
            <a:r>
              <a:rPr lang="ko-KR" altLang="en-US" dirty="0"/>
              <a:t> 정보</a:t>
            </a:r>
            <a:r>
              <a:rPr lang="en-US" altLang="ko-KR" dirty="0"/>
              <a:t> </a:t>
            </a: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150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a:t>일반정보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일반정보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일반정보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60475" cy="4704303"/>
            <a:chOff x="701175" y="1527996"/>
            <a:chExt cx="2660475" cy="4704303"/>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43968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819868" cy="4308872"/>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a:p>
              <a:pPr>
                <a:lnSpc>
                  <a:spcPct val="200000"/>
                </a:lnSpc>
              </a:pPr>
              <a:r>
                <a:rPr lang="ko-KR" altLang="en-US" sz="700" dirty="0" err="1">
                  <a:latin typeface="+mn-ea"/>
                </a:rPr>
                <a:t>단가제유형</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a:latin typeface="+mn-ea"/>
                </a:rPr>
                <a:t>낙찰자결정방법</a:t>
              </a:r>
              <a:endParaRPr lang="en-US" altLang="ko-KR" sz="700" dirty="0">
                <a:latin typeface="+mn-ea"/>
              </a:endParaRPr>
            </a:p>
            <a:p>
              <a:pPr>
                <a:lnSpc>
                  <a:spcPct val="200000"/>
                </a:lnSpc>
              </a:pPr>
              <a:r>
                <a:rPr lang="ko-KR" altLang="en-US" sz="700" dirty="0" err="1">
                  <a:latin typeface="+mn-ea"/>
                </a:rPr>
                <a:t>예산금액</a:t>
              </a:r>
              <a:endParaRPr lang="en-US" altLang="ko-KR" sz="700" dirty="0">
                <a:latin typeface="+mn-ea"/>
              </a:endParaRPr>
            </a:p>
            <a:p>
              <a:pPr>
                <a:lnSpc>
                  <a:spcPct val="200000"/>
                </a:lnSpc>
              </a:pPr>
              <a:r>
                <a:rPr lang="ko-KR" altLang="en-US" sz="700" dirty="0">
                  <a:latin typeface="+mn-ea"/>
                </a:rPr>
                <a:t>기초예가적용여부</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적격심사</a:t>
              </a:r>
              <a:endParaRPr lang="en-US" altLang="ko-KR" sz="700" dirty="0">
                <a:latin typeface="+mn-ea"/>
              </a:endParaRPr>
            </a:p>
            <a:p>
              <a:pPr>
                <a:lnSpc>
                  <a:spcPct val="200000"/>
                </a:lnSpc>
              </a:pPr>
              <a:r>
                <a:rPr lang="ko-KR" altLang="en-US" sz="700" dirty="0">
                  <a:latin typeface="+mn-ea"/>
                </a:rPr>
                <a:t>입찰서제출마감일시</a:t>
              </a:r>
              <a:endParaRPr lang="en-US" altLang="ko-KR" sz="700" dirty="0">
                <a:latin typeface="+mn-ea"/>
              </a:endParaRPr>
            </a:p>
            <a:p>
              <a:pPr>
                <a:lnSpc>
                  <a:spcPct val="200000"/>
                </a:lnSpc>
              </a:pPr>
              <a:r>
                <a:rPr lang="ko-KR" altLang="en-US" sz="700" dirty="0">
                  <a:latin typeface="+mn-ea"/>
                </a:rPr>
                <a:t>등록심사시점</a:t>
              </a:r>
              <a:endParaRPr lang="en-US" altLang="ko-KR" sz="700" dirty="0">
                <a:latin typeface="+mn-ea"/>
              </a:endParaRPr>
            </a:p>
            <a:p>
              <a:pPr>
                <a:lnSpc>
                  <a:spcPct val="200000"/>
                </a:lnSpc>
              </a:pPr>
              <a:r>
                <a:rPr lang="ko-KR" altLang="en-US" sz="700" dirty="0">
                  <a:latin typeface="+mn-ea"/>
                </a:rPr>
                <a:t>기초예비가격</a:t>
              </a:r>
              <a:endParaRPr lang="en-US" altLang="ko-KR" sz="700" dirty="0">
                <a:latin typeface="+mn-ea"/>
              </a:endParaRPr>
            </a:p>
            <a:p>
              <a:pPr lvl="0">
                <a:lnSpc>
                  <a:spcPct val="200000"/>
                </a:lnSpc>
              </a:pPr>
              <a:r>
                <a:rPr lang="ko-KR" altLang="en-US" sz="700" dirty="0" err="1">
                  <a:latin typeface="+mn-ea"/>
                </a:rPr>
                <a:t>사정률</a:t>
              </a:r>
              <a:r>
                <a:rPr lang="en-US" altLang="ko-KR" sz="700" dirty="0">
                  <a:latin typeface="+mn-ea"/>
                </a:rPr>
                <a:t>(%)</a:t>
              </a:r>
              <a:endParaRPr lang="ko-KR" altLang="en-US" sz="700" dirty="0">
                <a:latin typeface="+mn-ea"/>
              </a:endParaRPr>
            </a:p>
            <a:p>
              <a:pPr>
                <a:lnSpc>
                  <a:spcPct val="200000"/>
                </a:lnSpc>
              </a:pPr>
              <a:r>
                <a:rPr lang="ko-KR" altLang="en-US" sz="700" dirty="0" err="1">
                  <a:latin typeface="+mn-ea"/>
                </a:rPr>
                <a:t>낙찰하한율</a:t>
              </a:r>
              <a:endParaRPr lang="en-US" altLang="ko-KR" sz="700" dirty="0">
                <a:latin typeface="+mn-ea"/>
              </a:endParaRPr>
            </a:p>
            <a:p>
              <a:pPr>
                <a:lnSpc>
                  <a:spcPct val="200000"/>
                </a:lnSpc>
              </a:pPr>
              <a:r>
                <a:rPr lang="ko-KR" altLang="en-US" sz="700" dirty="0" err="1">
                  <a:latin typeface="+mn-ea"/>
                </a:rPr>
                <a:t>공사개요</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99540" y="1835481"/>
              <a:ext cx="1762110" cy="4062651"/>
            </a:xfrm>
            <a:prstGeom prst="rect">
              <a:avLst/>
            </a:prstGeom>
            <a:noFill/>
          </p:spPr>
          <p:txBody>
            <a:bodyPr wrap="square" lIns="0" tIns="0" rIns="0" bIns="0" rtlCol="0">
              <a:spAutoFit/>
            </a:bodyPr>
            <a:lstStyle/>
            <a:p>
              <a:pPr>
                <a:lnSpc>
                  <a:spcPct val="200000"/>
                </a:lnSpc>
              </a:pPr>
              <a:r>
                <a:rPr lang="ko-KR" altLang="en-US" sz="700" dirty="0" err="1">
                  <a:latin typeface="+mn-ea"/>
                </a:rPr>
                <a:t>테스트공고</a:t>
              </a:r>
              <a:endParaRPr lang="en-US" altLang="ko-KR" sz="700" dirty="0">
                <a:latin typeface="+mn-ea"/>
              </a:endParaRPr>
            </a:p>
            <a:p>
              <a:pPr lvl="0">
                <a:lnSpc>
                  <a:spcPct val="200000"/>
                </a:lnSpc>
              </a:pPr>
              <a:r>
                <a:rPr lang="en-US" altLang="ko-KR" sz="700" dirty="0">
                  <a:latin typeface="+mn-ea"/>
                </a:rPr>
                <a:t>MST0001-1</a:t>
              </a:r>
            </a:p>
            <a:p>
              <a:pPr>
                <a:lnSpc>
                  <a:spcPct val="200000"/>
                </a:lnSpc>
              </a:pPr>
              <a:r>
                <a:rPr lang="en-US" altLang="ko-KR" sz="700" dirty="0">
                  <a:latin typeface="+mn-ea"/>
                </a:rPr>
                <a:t>10000</a:t>
              </a:r>
            </a:p>
            <a:p>
              <a:pPr>
                <a:lnSpc>
                  <a:spcPct val="200000"/>
                </a:lnSpc>
              </a:pPr>
              <a:r>
                <a:rPr lang="ko-KR" altLang="en-US" sz="700" dirty="0">
                  <a:latin typeface="+mn-ea"/>
                </a:rPr>
                <a:t>테스트발주기관</a:t>
              </a:r>
              <a:endParaRPr lang="en-US" altLang="ko-KR" sz="700" dirty="0">
                <a:latin typeface="+mn-ea"/>
              </a:endParaRPr>
            </a:p>
            <a:p>
              <a:pPr>
                <a:lnSpc>
                  <a:spcPct val="200000"/>
                </a:lnSpc>
              </a:pPr>
              <a:r>
                <a:rPr lang="en-US" altLang="ko-KR" sz="700" dirty="0">
                  <a:latin typeface="+mn-ea"/>
                </a:rPr>
                <a:t>2025MST0001</a:t>
              </a:r>
            </a:p>
            <a:p>
              <a:pPr>
                <a:lnSpc>
                  <a:spcPct val="200000"/>
                </a:lnSpc>
              </a:pPr>
              <a:r>
                <a:rPr lang="ko-KR" altLang="en-US" sz="700" dirty="0">
                  <a:latin typeface="+mn-ea"/>
                </a:rPr>
                <a:t>구매</a:t>
              </a:r>
              <a:endParaRPr lang="en-US" altLang="ko-KR" sz="700" dirty="0">
                <a:latin typeface="+mn-ea"/>
              </a:endParaRPr>
            </a:p>
            <a:p>
              <a:pPr>
                <a:lnSpc>
                  <a:spcPct val="200000"/>
                </a:lnSpc>
              </a:pPr>
              <a:endParaRPr lang="en-US" altLang="ko-KR" sz="700" dirty="0">
                <a:latin typeface="+mn-ea"/>
              </a:endParaRPr>
            </a:p>
            <a:p>
              <a:pPr lvl="0">
                <a:lnSpc>
                  <a:spcPct val="200000"/>
                </a:lnSpc>
              </a:pPr>
              <a:r>
                <a:rPr lang="en-US" altLang="ko-KR" sz="700" dirty="0">
                  <a:latin typeface="+mn-ea"/>
                </a:rPr>
                <a:t>2</a:t>
              </a:r>
              <a:r>
                <a:rPr lang="ko-KR" altLang="en-US" sz="700" dirty="0" err="1">
                  <a:latin typeface="+mn-ea"/>
                </a:rPr>
                <a:t>단계경쟁</a:t>
              </a:r>
              <a:r>
                <a:rPr lang="en-US" altLang="ko-KR" sz="700" dirty="0">
                  <a:latin typeface="+mn-ea"/>
                </a:rPr>
                <a:t>(</a:t>
              </a:r>
              <a:r>
                <a:rPr lang="ko-KR" altLang="en-US" sz="700" dirty="0">
                  <a:latin typeface="+mn-ea"/>
                </a:rPr>
                <a:t>분리</a:t>
              </a:r>
              <a:r>
                <a:rPr lang="en-US" altLang="ko-KR" sz="700" dirty="0">
                  <a:latin typeface="+mn-ea"/>
                </a:rPr>
                <a:t>)</a:t>
              </a:r>
            </a:p>
            <a:p>
              <a:pPr>
                <a:lnSpc>
                  <a:spcPct val="200000"/>
                </a:lnSpc>
              </a:pPr>
              <a:r>
                <a:rPr lang="ko-KR" altLang="en-US" sz="700" dirty="0" err="1">
                  <a:latin typeface="+mn-ea"/>
                </a:rPr>
                <a:t>총액제</a:t>
              </a:r>
              <a:endParaRPr lang="en-US" altLang="ko-KR" sz="700" dirty="0">
                <a:latin typeface="+mn-ea"/>
              </a:endParaRPr>
            </a:p>
            <a:p>
              <a:pPr>
                <a:lnSpc>
                  <a:spcPct val="200000"/>
                </a:lnSpc>
              </a:pPr>
              <a:r>
                <a:rPr lang="ko-KR" altLang="en-US" sz="700" dirty="0" err="1">
                  <a:latin typeface="+mn-ea"/>
                </a:rPr>
                <a:t>최저가격제</a:t>
              </a:r>
              <a:endParaRPr lang="en-US" altLang="ko-KR" sz="700" dirty="0">
                <a:latin typeface="+mn-ea"/>
              </a:endParaRPr>
            </a:p>
            <a:p>
              <a:pPr lvl="0">
                <a:lnSpc>
                  <a:spcPct val="200000"/>
                </a:lnSpc>
              </a:pPr>
              <a:r>
                <a:rPr lang="en-US" altLang="ko-KR" sz="700" dirty="0">
                  <a:latin typeface="+mn-ea"/>
                </a:rPr>
                <a:t>100,000,000</a:t>
              </a:r>
              <a:r>
                <a:rPr lang="ko-KR" altLang="en-US" sz="700" dirty="0">
                  <a:latin typeface="+mn-ea"/>
                </a:rPr>
                <a:t>원</a:t>
              </a:r>
              <a:endParaRPr lang="en-US" altLang="ko-KR" sz="700" dirty="0">
                <a:latin typeface="+mn-ea"/>
              </a:endParaRPr>
            </a:p>
            <a:p>
              <a:pPr>
                <a:lnSpc>
                  <a:spcPct val="200000"/>
                </a:lnSpc>
              </a:pPr>
              <a:r>
                <a:rPr lang="ko-KR" altLang="en-US" sz="700" dirty="0">
                  <a:latin typeface="+mn-ea"/>
                </a:rPr>
                <a:t>적용</a:t>
              </a:r>
              <a:endParaRPr lang="en-US" altLang="ko-KR" sz="700" dirty="0">
                <a:latin typeface="+mn-ea"/>
              </a:endParaRPr>
            </a:p>
            <a:p>
              <a:pPr lvl="0">
                <a:lnSpc>
                  <a:spcPct val="200000"/>
                </a:lnSpc>
              </a:pPr>
              <a:r>
                <a:rPr lang="en-US" altLang="ko-KR" sz="700" dirty="0">
                  <a:latin typeface="+mn-ea"/>
                </a:rPr>
                <a:t>2025-12-01 10:00</a:t>
              </a:r>
            </a:p>
            <a:p>
              <a:pPr>
                <a:lnSpc>
                  <a:spcPct val="200000"/>
                </a:lnSpc>
              </a:pPr>
              <a:r>
                <a:rPr lang="ko-KR" altLang="en-US" sz="700" dirty="0">
                  <a:latin typeface="+mn-ea"/>
                </a:rPr>
                <a:t>비대상</a:t>
              </a:r>
              <a:endParaRPr lang="en-US" altLang="ko-KR" sz="700" dirty="0">
                <a:latin typeface="+mn-ea"/>
              </a:endParaRPr>
            </a:p>
            <a:p>
              <a:pPr lvl="0">
                <a:lnSpc>
                  <a:spcPct val="200000"/>
                </a:lnSpc>
              </a:pPr>
              <a:r>
                <a:rPr lang="en-US" altLang="ko-KR" sz="700" dirty="0">
                  <a:latin typeface="+mn-ea"/>
                </a:rPr>
                <a:t>2025-12-01 09:00</a:t>
              </a:r>
            </a:p>
            <a:p>
              <a:pPr>
                <a:lnSpc>
                  <a:spcPct val="200000"/>
                </a:lnSpc>
              </a:pPr>
              <a:endParaRPr lang="en-US" altLang="ko-KR" sz="700" dirty="0">
                <a:latin typeface="+mn-ea"/>
              </a:endParaRPr>
            </a:p>
            <a:p>
              <a:pPr lvl="0">
                <a:lnSpc>
                  <a:spcPct val="200000"/>
                </a:lnSpc>
              </a:pPr>
              <a:r>
                <a:rPr lang="en-US" altLang="ko-KR" sz="700" dirty="0">
                  <a:latin typeface="+mn-ea"/>
                </a:rPr>
                <a:t>98,000,000</a:t>
              </a:r>
              <a:r>
                <a:rPr lang="ko-KR" altLang="en-US" sz="700" dirty="0">
                  <a:latin typeface="+mn-ea"/>
                </a:rPr>
                <a:t>원</a:t>
              </a:r>
              <a:endParaRPr lang="en-US" altLang="ko-KR" sz="700" dirty="0">
                <a:latin typeface="+mn-ea"/>
              </a:endParaRPr>
            </a:p>
            <a:p>
              <a:pPr lvl="0">
                <a:lnSpc>
                  <a:spcPct val="200000"/>
                </a:lnSpc>
              </a:pPr>
              <a:r>
                <a:rPr lang="en-US" altLang="ko-KR" sz="700" dirty="0">
                  <a:latin typeface="+mn-ea"/>
                </a:rPr>
                <a:t>-3 ~ 3</a:t>
              </a:r>
            </a:p>
            <a:p>
              <a:pPr>
                <a:lnSpc>
                  <a:spcPct val="200000"/>
                </a:lnSpc>
              </a:pPr>
              <a:endParaRPr lang="en-US" altLang="ko-KR" sz="700" dirty="0">
                <a:latin typeface="+mn-ea"/>
              </a:endParaRPr>
            </a:p>
          </p:txBody>
        </p:sp>
        <p:grpSp>
          <p:nvGrpSpPr>
            <p:cNvPr id="17" name="그룹 16"/>
            <p:cNvGrpSpPr/>
            <p:nvPr/>
          </p:nvGrpSpPr>
          <p:grpSpPr>
            <a:xfrm>
              <a:off x="701175" y="1835481"/>
              <a:ext cx="2630093" cy="4292023"/>
              <a:chOff x="701175" y="1835481"/>
              <a:chExt cx="2630093" cy="4292023"/>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5486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7" name="직선 연결선 186">
                <a:extLst>
                  <a:ext uri="{FF2B5EF4-FFF2-40B4-BE49-F238E27FC236}">
                    <a16:creationId xmlns:a16="http://schemas.microsoft.com/office/drawing/2014/main" id="{E9293055-D5CD-4B9E-7F64-64B2D2CA7A52}"/>
                  </a:ext>
                </a:extLst>
              </p:cNvPr>
              <p:cNvCxnSpPr/>
              <p:nvPr/>
            </p:nvCxnSpPr>
            <p:spPr>
              <a:xfrm>
                <a:off x="703268" y="56980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9" name="직선 연결선 188">
                <a:extLst>
                  <a:ext uri="{FF2B5EF4-FFF2-40B4-BE49-F238E27FC236}">
                    <a16:creationId xmlns:a16="http://schemas.microsoft.com/office/drawing/2014/main" id="{E9293055-D5CD-4B9E-7F64-64B2D2CA7A52}"/>
                  </a:ext>
                </a:extLst>
              </p:cNvPr>
              <p:cNvCxnSpPr/>
              <p:nvPr/>
            </p:nvCxnSpPr>
            <p:spPr>
              <a:xfrm>
                <a:off x="703268" y="591276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61275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97" name="직사각형 196"/>
          <p:cNvSpPr/>
          <p:nvPr/>
        </p:nvSpPr>
        <p:spPr>
          <a:xfrm>
            <a:off x="3823602" y="1493785"/>
            <a:ext cx="792000" cy="28112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8" name="TextBox 197">
            <a:extLst>
              <a:ext uri="{FF2B5EF4-FFF2-40B4-BE49-F238E27FC236}">
                <a16:creationId xmlns:a16="http://schemas.microsoft.com/office/drawing/2014/main" id="{FFC49AEA-2A8F-250C-A86A-A7751D9706C3}"/>
              </a:ext>
            </a:extLst>
          </p:cNvPr>
          <p:cNvSpPr txBox="1"/>
          <p:nvPr/>
        </p:nvSpPr>
        <p:spPr>
          <a:xfrm>
            <a:off x="3910664" y="1493784"/>
            <a:ext cx="893348" cy="2800767"/>
          </a:xfrm>
          <a:prstGeom prst="rect">
            <a:avLst/>
          </a:prstGeom>
          <a:noFill/>
        </p:spPr>
        <p:txBody>
          <a:bodyPr wrap="square" lIns="0" tIns="0" rIns="0" bIns="0" rtlCol="0">
            <a:spAutoFit/>
          </a:bodyPr>
          <a:lstStyle/>
          <a:p>
            <a:pPr>
              <a:lnSpc>
                <a:spcPct val="200000"/>
              </a:lnSpc>
            </a:pPr>
            <a:r>
              <a:rPr lang="ko-KR" altLang="en-US" sz="700" dirty="0">
                <a:latin typeface="+mn-ea"/>
              </a:rPr>
              <a:t>위치</a:t>
            </a:r>
            <a:endParaRPr lang="en-US" altLang="ko-KR" sz="700" dirty="0">
              <a:latin typeface="+mn-ea"/>
            </a:endParaRPr>
          </a:p>
          <a:p>
            <a:pPr>
              <a:lnSpc>
                <a:spcPct val="200000"/>
              </a:lnSpc>
            </a:pPr>
            <a:r>
              <a:rPr lang="ko-KR" altLang="en-US" sz="700" dirty="0">
                <a:latin typeface="+mn-ea"/>
              </a:rPr>
              <a:t>공사기간</a:t>
            </a:r>
            <a:endParaRPr lang="en-US" altLang="ko-KR" sz="700" dirty="0">
              <a:latin typeface="+mn-ea"/>
            </a:endParaRPr>
          </a:p>
          <a:p>
            <a:pPr lvl="0">
              <a:lnSpc>
                <a:spcPct val="200000"/>
              </a:lnSpc>
            </a:pPr>
            <a:r>
              <a:rPr lang="ko-KR" altLang="en-US" sz="700" dirty="0">
                <a:latin typeface="+mn-ea"/>
              </a:rPr>
              <a:t>예정가격 순공사원가의 </a:t>
            </a:r>
            <a:r>
              <a:rPr lang="en-US" altLang="ko-KR" sz="700" dirty="0">
                <a:latin typeface="+mn-ea"/>
              </a:rPr>
              <a:t>100</a:t>
            </a:r>
            <a:r>
              <a:rPr lang="ko-KR" altLang="en-US" sz="700" dirty="0">
                <a:latin typeface="+mn-ea"/>
              </a:rPr>
              <a:t>분의 </a:t>
            </a:r>
            <a:r>
              <a:rPr lang="en-US" altLang="ko-KR" sz="700" dirty="0">
                <a:latin typeface="+mn-ea"/>
              </a:rPr>
              <a:t>98</a:t>
            </a:r>
          </a:p>
          <a:p>
            <a:pPr>
              <a:lnSpc>
                <a:spcPct val="200000"/>
              </a:lnSpc>
            </a:pPr>
            <a:r>
              <a:rPr lang="ko-KR" altLang="en-US" sz="700" dirty="0">
                <a:latin typeface="+mn-ea"/>
              </a:rPr>
              <a:t>예정가격</a:t>
            </a:r>
            <a:endParaRPr lang="en-US" altLang="ko-KR" sz="700" dirty="0">
              <a:latin typeface="+mn-ea"/>
            </a:endParaRPr>
          </a:p>
          <a:p>
            <a:pPr>
              <a:lnSpc>
                <a:spcPct val="200000"/>
              </a:lnSpc>
            </a:pPr>
            <a:r>
              <a:rPr lang="ko-KR" altLang="en-US" sz="700" dirty="0">
                <a:latin typeface="+mn-ea"/>
              </a:rPr>
              <a:t>가격평가비중</a:t>
            </a:r>
            <a:endParaRPr lang="en-US" altLang="ko-KR" sz="700" dirty="0">
              <a:latin typeface="+mn-ea"/>
            </a:endParaRPr>
          </a:p>
          <a:p>
            <a:pPr>
              <a:lnSpc>
                <a:spcPct val="200000"/>
              </a:lnSpc>
            </a:pPr>
            <a:r>
              <a:rPr lang="ko-KR" altLang="en-US" sz="700" dirty="0">
                <a:latin typeface="+mn-ea"/>
              </a:rPr>
              <a:t>입찰결과</a:t>
            </a:r>
            <a:endParaRPr lang="en-US" altLang="ko-KR" sz="700" dirty="0">
              <a:latin typeface="+mn-ea"/>
            </a:endParaRPr>
          </a:p>
          <a:p>
            <a:pPr>
              <a:lnSpc>
                <a:spcPct val="200000"/>
              </a:lnSpc>
            </a:pPr>
            <a:r>
              <a:rPr lang="ko-KR" altLang="en-US" sz="700" dirty="0" err="1">
                <a:latin typeface="+mn-ea"/>
              </a:rPr>
              <a:t>협상형태</a:t>
            </a:r>
            <a:endParaRPr lang="en-US" altLang="ko-KR" sz="700" dirty="0">
              <a:latin typeface="+mn-ea"/>
            </a:endParaRPr>
          </a:p>
          <a:p>
            <a:pPr>
              <a:lnSpc>
                <a:spcPct val="200000"/>
              </a:lnSpc>
            </a:pPr>
            <a:r>
              <a:rPr lang="ko-KR" altLang="en-US" sz="700" dirty="0" err="1">
                <a:latin typeface="+mn-ea"/>
              </a:rPr>
              <a:t>협상장소</a:t>
            </a:r>
            <a:endParaRPr lang="en-US" altLang="ko-KR" sz="700" dirty="0">
              <a:latin typeface="+mn-ea"/>
            </a:endParaRPr>
          </a:p>
          <a:p>
            <a:pPr>
              <a:lnSpc>
                <a:spcPct val="200000"/>
              </a:lnSpc>
            </a:pPr>
            <a:r>
              <a:rPr lang="ko-KR" altLang="en-US" sz="700" dirty="0">
                <a:latin typeface="+mn-ea"/>
              </a:rPr>
              <a:t>협상결과</a:t>
            </a:r>
            <a:endParaRPr lang="en-US" altLang="ko-KR" sz="700" dirty="0">
              <a:latin typeface="+mn-ea"/>
            </a:endParaRPr>
          </a:p>
          <a:p>
            <a:pPr>
              <a:lnSpc>
                <a:spcPct val="200000"/>
              </a:lnSpc>
            </a:pPr>
            <a:r>
              <a:rPr lang="ko-KR" altLang="en-US" sz="700" dirty="0">
                <a:latin typeface="+mn-ea"/>
              </a:rPr>
              <a:t>재입찰대상구분</a:t>
            </a:r>
            <a:endParaRPr lang="en-US" altLang="ko-KR" sz="700" dirty="0">
              <a:latin typeface="+mn-ea"/>
            </a:endParaRPr>
          </a:p>
          <a:p>
            <a:pPr>
              <a:lnSpc>
                <a:spcPct val="200000"/>
              </a:lnSpc>
            </a:pPr>
            <a:r>
              <a:rPr lang="ko-KR" altLang="en-US" sz="700" dirty="0">
                <a:latin typeface="+mn-ea"/>
              </a:rPr>
              <a:t>재입찰 차수</a:t>
            </a:r>
            <a:endParaRPr lang="en-US" altLang="ko-KR" sz="700" dirty="0">
              <a:latin typeface="+mn-ea"/>
            </a:endParaRPr>
          </a:p>
          <a:p>
            <a:pPr>
              <a:lnSpc>
                <a:spcPct val="200000"/>
              </a:lnSpc>
            </a:pPr>
            <a:r>
              <a:rPr lang="ko-KR" altLang="en-US" sz="700" dirty="0" err="1">
                <a:latin typeface="+mn-ea"/>
              </a:rPr>
              <a:t>유찰사유</a:t>
            </a:r>
            <a:endParaRPr lang="en-US" altLang="ko-KR"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4831880" y="1493784"/>
            <a:ext cx="1619722" cy="2800767"/>
          </a:xfrm>
          <a:prstGeom prst="rect">
            <a:avLst/>
          </a:prstGeom>
          <a:noFill/>
        </p:spPr>
        <p:txBody>
          <a:bodyPr wrap="square" lIns="0" tIns="0" rIns="0" bIns="0" rtlCol="0">
            <a:spAutoFit/>
          </a:bodyPr>
          <a:lstStyle>
            <a:defPPr>
              <a:defRPr lang="ko-KR"/>
            </a:defPPr>
            <a:lvl1pPr>
              <a:lnSpc>
                <a:spcPct val="200000"/>
              </a:lnSpc>
              <a:defRPr sz="700">
                <a:latin typeface="+mn-ea"/>
              </a:defRPr>
            </a:lvl1pPr>
          </a:lstStyle>
          <a:p>
            <a:r>
              <a:rPr lang="ko-KR" altLang="en-US" dirty="0"/>
              <a:t>서울 용산</a:t>
            </a:r>
            <a:endParaRPr lang="en-US" altLang="ko-KR" dirty="0"/>
          </a:p>
          <a:p>
            <a:endParaRPr lang="en-US" altLang="ko-KR" dirty="0"/>
          </a:p>
          <a:p>
            <a:endParaRPr lang="en-US" altLang="ko-KR" dirty="0"/>
          </a:p>
          <a:p>
            <a:endParaRPr lang="en-US" altLang="ko-KR" dirty="0"/>
          </a:p>
          <a:p>
            <a:r>
              <a:rPr lang="en-US" altLang="ko-KR" dirty="0"/>
              <a:t>98,000,000</a:t>
            </a:r>
            <a:r>
              <a:rPr lang="ko-KR" altLang="en-US" dirty="0"/>
              <a:t>원</a:t>
            </a:r>
            <a:endParaRPr lang="en-US" altLang="ko-KR" dirty="0"/>
          </a:p>
          <a:p>
            <a:endParaRPr lang="en-US" altLang="ko-KR" dirty="0"/>
          </a:p>
          <a:p>
            <a:endParaRPr lang="en-US" altLang="ko-KR" dirty="0"/>
          </a:p>
          <a:p>
            <a:r>
              <a:rPr lang="ko-KR" altLang="en-US" dirty="0" err="1"/>
              <a:t>전자협상</a:t>
            </a:r>
            <a:endParaRPr lang="en-US" altLang="ko-KR" dirty="0"/>
          </a:p>
          <a:p>
            <a:r>
              <a:rPr lang="ko-KR" altLang="en-US" dirty="0" err="1"/>
              <a:t>테스트장소</a:t>
            </a:r>
            <a:endParaRPr lang="en-US" altLang="ko-KR" dirty="0"/>
          </a:p>
          <a:p>
            <a:endParaRPr lang="en-US" altLang="ko-KR" dirty="0"/>
          </a:p>
          <a:p>
            <a:pPr lvl="0"/>
            <a:r>
              <a:rPr lang="ko-KR" altLang="en-US" dirty="0"/>
              <a:t>재입찰 대상</a:t>
            </a:r>
            <a:endParaRPr lang="en-US" altLang="ko-KR" dirty="0"/>
          </a:p>
          <a:p>
            <a:pPr lvl="0"/>
            <a:r>
              <a:rPr lang="en-US" altLang="ko-KR" dirty="0"/>
              <a:t>01 </a:t>
            </a:r>
            <a:r>
              <a:rPr lang="ko-KR" altLang="en-US" dirty="0"/>
              <a:t>차수</a:t>
            </a:r>
            <a:endParaRPr lang="en-US" altLang="ko-KR" dirty="0"/>
          </a:p>
          <a:p>
            <a:endParaRPr lang="en-US" altLang="ko-KR" dirty="0"/>
          </a:p>
        </p:txBody>
      </p:sp>
      <p:grpSp>
        <p:nvGrpSpPr>
          <p:cNvPr id="231" name="그룹 230"/>
          <p:cNvGrpSpPr/>
          <p:nvPr/>
        </p:nvGrpSpPr>
        <p:grpSpPr>
          <a:xfrm>
            <a:off x="3821509" y="1493784"/>
            <a:ext cx="2630093" cy="2811240"/>
            <a:chOff x="701175" y="1835481"/>
            <a:chExt cx="2630093" cy="2811240"/>
          </a:xfrm>
        </p:grpSpPr>
        <p:cxnSp>
          <p:nvCxnSpPr>
            <p:cNvPr id="232" name="직선 연결선 23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4" name="직선 연결선 23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7" name="직선 연결선 23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8" name="직선 연결선 23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703268" y="35766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5" name="직선 연결선 244">
              <a:extLst>
                <a:ext uri="{FF2B5EF4-FFF2-40B4-BE49-F238E27FC236}">
                  <a16:creationId xmlns:a16="http://schemas.microsoft.com/office/drawing/2014/main" id="{E9293055-D5CD-4B9E-7F64-64B2D2CA7A52}"/>
                </a:ext>
              </a:extLst>
            </p:cNvPr>
            <p:cNvCxnSpPr/>
            <p:nvPr/>
          </p:nvCxnSpPr>
          <p:spPr>
            <a:xfrm>
              <a:off x="701175" y="379138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6" name="직선 연결선 245">
              <a:extLst>
                <a:ext uri="{FF2B5EF4-FFF2-40B4-BE49-F238E27FC236}">
                  <a16:creationId xmlns:a16="http://schemas.microsoft.com/office/drawing/2014/main" id="{E9293055-D5CD-4B9E-7F64-64B2D2CA7A52}"/>
                </a:ext>
              </a:extLst>
            </p:cNvPr>
            <p:cNvCxnSpPr/>
            <p:nvPr/>
          </p:nvCxnSpPr>
          <p:spPr>
            <a:xfrm>
              <a:off x="703268" y="400612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8" name="직선 연결선 247">
              <a:extLst>
                <a:ext uri="{FF2B5EF4-FFF2-40B4-BE49-F238E27FC236}">
                  <a16:creationId xmlns:a16="http://schemas.microsoft.com/office/drawing/2014/main" id="{E9293055-D5CD-4B9E-7F64-64B2D2CA7A52}"/>
                </a:ext>
              </a:extLst>
            </p:cNvPr>
            <p:cNvCxnSpPr/>
            <p:nvPr/>
          </p:nvCxnSpPr>
          <p:spPr>
            <a:xfrm>
              <a:off x="703268" y="42172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9" name="직선 연결선 248">
              <a:extLst>
                <a:ext uri="{FF2B5EF4-FFF2-40B4-BE49-F238E27FC236}">
                  <a16:creationId xmlns:a16="http://schemas.microsoft.com/office/drawing/2014/main" id="{E9293055-D5CD-4B9E-7F64-64B2D2CA7A52}"/>
                </a:ext>
              </a:extLst>
            </p:cNvPr>
            <p:cNvCxnSpPr/>
            <p:nvPr/>
          </p:nvCxnSpPr>
          <p:spPr>
            <a:xfrm>
              <a:off x="703268" y="4431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0" name="직선 연결선 249">
              <a:extLst>
                <a:ext uri="{FF2B5EF4-FFF2-40B4-BE49-F238E27FC236}">
                  <a16:creationId xmlns:a16="http://schemas.microsoft.com/office/drawing/2014/main" id="{E9293055-D5CD-4B9E-7F64-64B2D2CA7A52}"/>
                </a:ext>
              </a:extLst>
            </p:cNvPr>
            <p:cNvCxnSpPr/>
            <p:nvPr/>
          </p:nvCxnSpPr>
          <p:spPr>
            <a:xfrm>
              <a:off x="703268" y="46467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71" name="TextBox 70">
            <a:extLst>
              <a:ext uri="{FF2B5EF4-FFF2-40B4-BE49-F238E27FC236}">
                <a16:creationId xmlns:a16="http://schemas.microsoft.com/office/drawing/2014/main" id="{FFC49AEA-2A8F-250C-A86A-A7751D9706C3}"/>
              </a:ext>
            </a:extLst>
          </p:cNvPr>
          <p:cNvSpPr txBox="1"/>
          <p:nvPr/>
        </p:nvSpPr>
        <p:spPr>
          <a:xfrm>
            <a:off x="3878080" y="4537095"/>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72" name="그룹 71"/>
          <p:cNvGrpSpPr/>
          <p:nvPr/>
        </p:nvGrpSpPr>
        <p:grpSpPr>
          <a:xfrm flipV="1">
            <a:off x="6240167" y="4650426"/>
            <a:ext cx="94010" cy="47005"/>
            <a:chOff x="6812560" y="3297172"/>
            <a:chExt cx="94010" cy="47005"/>
          </a:xfrm>
        </p:grpSpPr>
        <p:cxnSp>
          <p:nvCxnSpPr>
            <p:cNvPr id="73" name="직선 연결선 7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4" name="직선 연결선 7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5" name="모서리가 둥근 직사각형 74"/>
          <p:cNvSpPr/>
          <p:nvPr/>
        </p:nvSpPr>
        <p:spPr>
          <a:xfrm>
            <a:off x="3831550" y="493548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6" name="TextBox 75">
            <a:extLst>
              <a:ext uri="{FF2B5EF4-FFF2-40B4-BE49-F238E27FC236}">
                <a16:creationId xmlns:a16="http://schemas.microsoft.com/office/drawing/2014/main" id="{FFC49AEA-2A8F-250C-A86A-A7751D9706C3}"/>
              </a:ext>
            </a:extLst>
          </p:cNvPr>
          <p:cNvSpPr txBox="1"/>
          <p:nvPr/>
        </p:nvSpPr>
        <p:spPr>
          <a:xfrm>
            <a:off x="4332218" y="5010002"/>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77" name="TextBox 76">
            <a:extLst>
              <a:ext uri="{FF2B5EF4-FFF2-40B4-BE49-F238E27FC236}">
                <a16:creationId xmlns:a16="http://schemas.microsoft.com/office/drawing/2014/main" id="{FFC49AEA-2A8F-250C-A86A-A7751D9706C3}"/>
              </a:ext>
            </a:extLst>
          </p:cNvPr>
          <p:cNvSpPr txBox="1"/>
          <p:nvPr/>
        </p:nvSpPr>
        <p:spPr>
          <a:xfrm>
            <a:off x="3909746" y="506386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79" name="모서리가 둥근 직사각형 78"/>
          <p:cNvSpPr/>
          <p:nvPr/>
        </p:nvSpPr>
        <p:spPr>
          <a:xfrm>
            <a:off x="3831550" y="534216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0" name="TextBox 79">
            <a:extLst>
              <a:ext uri="{FF2B5EF4-FFF2-40B4-BE49-F238E27FC236}">
                <a16:creationId xmlns:a16="http://schemas.microsoft.com/office/drawing/2014/main" id="{FFC49AEA-2A8F-250C-A86A-A7751D9706C3}"/>
              </a:ext>
            </a:extLst>
          </p:cNvPr>
          <p:cNvSpPr txBox="1"/>
          <p:nvPr/>
        </p:nvSpPr>
        <p:spPr>
          <a:xfrm>
            <a:off x="4332218" y="5416688"/>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81" name="TextBox 80">
            <a:extLst>
              <a:ext uri="{FF2B5EF4-FFF2-40B4-BE49-F238E27FC236}">
                <a16:creationId xmlns:a16="http://schemas.microsoft.com/office/drawing/2014/main" id="{FFC49AEA-2A8F-250C-A86A-A7751D9706C3}"/>
              </a:ext>
            </a:extLst>
          </p:cNvPr>
          <p:cNvSpPr txBox="1"/>
          <p:nvPr/>
        </p:nvSpPr>
        <p:spPr>
          <a:xfrm>
            <a:off x="3909746" y="547054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cxnSp>
        <p:nvCxnSpPr>
          <p:cNvPr id="86" name="직선 연결선 85">
            <a:extLst>
              <a:ext uri="{FF2B5EF4-FFF2-40B4-BE49-F238E27FC236}">
                <a16:creationId xmlns:a16="http://schemas.microsoft.com/office/drawing/2014/main" id="{E9293055-D5CD-4B9E-7F64-64B2D2CA7A52}"/>
              </a:ext>
            </a:extLst>
          </p:cNvPr>
          <p:cNvCxnSpPr/>
          <p:nvPr/>
        </p:nvCxnSpPr>
        <p:spPr>
          <a:xfrm>
            <a:off x="3795735" y="441292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7" name="TextBox 86">
            <a:extLst>
              <a:ext uri="{FF2B5EF4-FFF2-40B4-BE49-F238E27FC236}">
                <a16:creationId xmlns:a16="http://schemas.microsoft.com/office/drawing/2014/main" id="{FFC49AEA-2A8F-250C-A86A-A7751D9706C3}"/>
              </a:ext>
            </a:extLst>
          </p:cNvPr>
          <p:cNvSpPr txBox="1"/>
          <p:nvPr/>
        </p:nvSpPr>
        <p:spPr>
          <a:xfrm>
            <a:off x="4332218" y="4800363"/>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89" name="TextBox 88">
            <a:extLst>
              <a:ext uri="{FF2B5EF4-FFF2-40B4-BE49-F238E27FC236}">
                <a16:creationId xmlns:a16="http://schemas.microsoft.com/office/drawing/2014/main" id="{FFC49AEA-2A8F-250C-A86A-A7751D9706C3}"/>
              </a:ext>
            </a:extLst>
          </p:cNvPr>
          <p:cNvSpPr txBox="1"/>
          <p:nvPr/>
        </p:nvSpPr>
        <p:spPr>
          <a:xfrm>
            <a:off x="3838314" y="4800363"/>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90" name="타원 89"/>
          <p:cNvSpPr/>
          <p:nvPr/>
        </p:nvSpPr>
        <p:spPr>
          <a:xfrm>
            <a:off x="6206587" y="504572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1" name="TextBox 90">
            <a:extLst>
              <a:ext uri="{FF2B5EF4-FFF2-40B4-BE49-F238E27FC236}">
                <a16:creationId xmlns:a16="http://schemas.microsoft.com/office/drawing/2014/main" id="{FFC49AEA-2A8F-250C-A86A-A7751D9706C3}"/>
              </a:ext>
            </a:extLst>
          </p:cNvPr>
          <p:cNvSpPr txBox="1"/>
          <p:nvPr/>
        </p:nvSpPr>
        <p:spPr>
          <a:xfrm>
            <a:off x="6116103" y="4803976"/>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93" name="타원 92"/>
          <p:cNvSpPr/>
          <p:nvPr/>
        </p:nvSpPr>
        <p:spPr>
          <a:xfrm>
            <a:off x="6206587" y="545241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8" name="그룹 77"/>
          <p:cNvGrpSpPr/>
          <p:nvPr/>
        </p:nvGrpSpPr>
        <p:grpSpPr>
          <a:xfrm>
            <a:off x="3795734" y="5614711"/>
            <a:ext cx="2712027" cy="617588"/>
            <a:chOff x="675399" y="5614711"/>
            <a:chExt cx="2712027" cy="617588"/>
          </a:xfrm>
        </p:grpSpPr>
        <p:sp>
          <p:nvSpPr>
            <p:cNvPr id="82" name="직사각형 8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3" name="사각형: 둥근 모서리 15">
              <a:extLst>
                <a:ext uri="{FF2B5EF4-FFF2-40B4-BE49-F238E27FC236}">
                  <a16:creationId xmlns:a16="http://schemas.microsoft.com/office/drawing/2014/main" id="{E2B61CFB-AD16-68D0-8752-50D9C5E01971}"/>
                </a:ext>
              </a:extLst>
            </p:cNvPr>
            <p:cNvSpPr/>
            <p:nvPr/>
          </p:nvSpPr>
          <p:spPr>
            <a:xfrm>
              <a:off x="2075942" y="5745391"/>
              <a:ext cx="121917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smtClean="0">
                  <a:solidFill>
                    <a:srgbClr val="0070C0"/>
                  </a:solidFill>
                  <a:latin typeface="맑은 고딕"/>
                  <a:ea typeface="맑은 고딕" panose="020B0503020000020004" pitchFamily="50" charset="-127"/>
                </a:rPr>
                <a:t>이행적격심사 신청하기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84" name="사각형: 둥근 모서리 15">
              <a:extLst>
                <a:ext uri="{FF2B5EF4-FFF2-40B4-BE49-F238E27FC236}">
                  <a16:creationId xmlns:a16="http://schemas.microsoft.com/office/drawing/2014/main" id="{E2B61CFB-AD16-68D0-8752-50D9C5E01971}"/>
                </a:ext>
              </a:extLst>
            </p:cNvPr>
            <p:cNvSpPr/>
            <p:nvPr/>
          </p:nvSpPr>
          <p:spPr>
            <a:xfrm>
              <a:off x="767701" y="5745391"/>
              <a:ext cx="1215935"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이행적격심사 </a:t>
              </a:r>
              <a:r>
                <a:rPr kumimoji="1" lang="ko-KR" altLang="en-US" sz="1000" kern="0" dirty="0" smtClean="0">
                  <a:latin typeface="맑은 고딕"/>
                  <a:ea typeface="맑은 고딕" panose="020B0503020000020004" pitchFamily="50" charset="-127"/>
                </a:rPr>
                <a:t>포기하기</a:t>
              </a:r>
              <a:endParaRPr kumimoji="1" lang="en-US" sz="1000" b="0" i="0" u="none" strike="noStrike" kern="0" cap="none" spc="0" normalizeH="0" baseline="0" noProof="0" dirty="0">
                <a:ln>
                  <a:noFill/>
                </a:ln>
                <a:effectLst/>
                <a:uLnTx/>
                <a:uFillTx/>
                <a:latin typeface="맑은 고딕"/>
              </a:endParaRPr>
            </a:p>
          </p:txBody>
        </p:sp>
      </p:grpSp>
      <p:grpSp>
        <p:nvGrpSpPr>
          <p:cNvPr id="85" name="그룹 84"/>
          <p:cNvGrpSpPr/>
          <p:nvPr/>
        </p:nvGrpSpPr>
        <p:grpSpPr>
          <a:xfrm>
            <a:off x="3795734" y="6223005"/>
            <a:ext cx="2712027" cy="617588"/>
            <a:chOff x="675399" y="5614711"/>
            <a:chExt cx="2712027" cy="617588"/>
          </a:xfrm>
        </p:grpSpPr>
        <p:sp>
          <p:nvSpPr>
            <p:cNvPr id="88" name="직사각형 87">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사각형: 둥근 모서리 15">
              <a:extLst>
                <a:ext uri="{FF2B5EF4-FFF2-40B4-BE49-F238E27FC236}">
                  <a16:creationId xmlns:a16="http://schemas.microsoft.com/office/drawing/2014/main" id="{E2B61CFB-AD16-68D0-8752-50D9C5E01971}"/>
                </a:ext>
              </a:extLst>
            </p:cNvPr>
            <p:cNvSpPr/>
            <p:nvPr/>
          </p:nvSpPr>
          <p:spPr>
            <a:xfrm>
              <a:off x="767701" y="5745391"/>
              <a:ext cx="252742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이행적격심사 </a:t>
              </a:r>
              <a:r>
                <a:rPr kumimoji="1" lang="ko-KR" altLang="en-US" sz="1000" kern="0" dirty="0" err="1" smtClean="0">
                  <a:latin typeface="맑은 고딕"/>
                  <a:ea typeface="맑은 고딕" panose="020B0503020000020004" pitchFamily="50" charset="-127"/>
                </a:rPr>
                <a:t>제출내용</a:t>
              </a:r>
              <a:r>
                <a:rPr kumimoji="1" lang="ko-KR" altLang="en-US" sz="1000" kern="0" dirty="0" smtClean="0">
                  <a:latin typeface="맑은 고딕"/>
                  <a:ea typeface="맑은 고딕" panose="020B0503020000020004" pitchFamily="50" charset="-127"/>
                </a:rPr>
                <a:t> 확인</a:t>
              </a:r>
              <a:endParaRPr kumimoji="1" lang="en-US" sz="1000" b="0" i="0" u="none" strike="noStrike" kern="0" cap="none" spc="0" normalizeH="0" baseline="0" noProof="0" dirty="0">
                <a:ln>
                  <a:noFill/>
                </a:ln>
                <a:effectLst/>
                <a:uLnTx/>
                <a:uFillTx/>
                <a:latin typeface="맑은 고딕"/>
              </a:endParaRPr>
            </a:p>
          </p:txBody>
        </p:sp>
      </p:grpSp>
      <p:grpSp>
        <p:nvGrpSpPr>
          <p:cNvPr id="94" name="그룹 93"/>
          <p:cNvGrpSpPr/>
          <p:nvPr/>
        </p:nvGrpSpPr>
        <p:grpSpPr>
          <a:xfrm>
            <a:off x="8223250" y="569392"/>
            <a:ext cx="3365500" cy="634511"/>
            <a:chOff x="8223250" y="569392"/>
            <a:chExt cx="3365500" cy="634511"/>
          </a:xfrm>
        </p:grpSpPr>
        <p:sp>
          <p:nvSpPr>
            <p:cNvPr id="95" name="직사각형 94"/>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96" name="직사각형 95"/>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버튼 추가</a:t>
              </a:r>
              <a:r>
                <a:rPr lang="en-US" altLang="ko-KR" sz="700" dirty="0" smtClean="0"/>
                <a:t>,</a:t>
              </a:r>
              <a:endParaRPr lang="ko-KR" altLang="en-US" sz="700" dirty="0"/>
            </a:p>
          </p:txBody>
        </p:sp>
      </p:grpSp>
    </p:spTree>
    <p:extLst>
      <p:ext uri="{BB962C8B-B14F-4D97-AF65-F5344CB8AC3E}">
        <p14:creationId xmlns:p14="http://schemas.microsoft.com/office/powerpoint/2010/main" val="384327898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담당자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151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a:t>일반정보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일반정보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일반정보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225456" cy="215444"/>
          </a:xfrm>
          <a:prstGeom prst="rect">
            <a:avLst/>
          </a:prstGeom>
          <a:noFill/>
        </p:spPr>
        <p:txBody>
          <a:bodyPr wrap="square" lIns="0" tIns="0" rIns="0" bIns="0" rtlCol="0">
            <a:spAutoFit/>
          </a:bodyPr>
          <a:lstStyle/>
          <a:p>
            <a:pPr>
              <a:lnSpc>
                <a:spcPct val="200000"/>
              </a:lnSpc>
            </a:pPr>
            <a:r>
              <a:rPr lang="ko-KR" altLang="en-US" sz="700" dirty="0">
                <a:latin typeface="+mn-ea"/>
              </a:rPr>
              <a:t>담당자 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82" name="TextBox 81">
            <a:extLst>
              <a:ext uri="{FF2B5EF4-FFF2-40B4-BE49-F238E27FC236}">
                <a16:creationId xmlns:a16="http://schemas.microsoft.com/office/drawing/2014/main" id="{FFC49AEA-2A8F-250C-A86A-A7751D9706C3}"/>
              </a:ext>
            </a:extLst>
          </p:cNvPr>
          <p:cNvSpPr txBox="1"/>
          <p:nvPr/>
        </p:nvSpPr>
        <p:spPr>
          <a:xfrm>
            <a:off x="833510" y="1843658"/>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업무</a:t>
            </a:r>
            <a:endParaRPr lang="en-US" altLang="ko-KR" sz="600" dirty="0">
              <a:solidFill>
                <a:schemeClr val="tx1">
                  <a:lumMod val="85000"/>
                  <a:lumOff val="15000"/>
                </a:schemeClr>
              </a:solidFill>
              <a:latin typeface="맑은 고딕" panose="020B0503020000020004" pitchFamily="50" charset="-127"/>
            </a:endParaRPr>
          </a:p>
        </p:txBody>
      </p:sp>
      <p:sp>
        <p:nvSpPr>
          <p:cNvPr id="83" name="TextBox 82">
            <a:extLst>
              <a:ext uri="{FF2B5EF4-FFF2-40B4-BE49-F238E27FC236}">
                <a16:creationId xmlns:a16="http://schemas.microsoft.com/office/drawing/2014/main" id="{FFC49AEA-2A8F-250C-A86A-A7751D9706C3}"/>
              </a:ext>
            </a:extLst>
          </p:cNvPr>
          <p:cNvSpPr txBox="1"/>
          <p:nvPr/>
        </p:nvSpPr>
        <p:spPr>
          <a:xfrm>
            <a:off x="1626518" y="1843658"/>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85" name="TextBox 84">
            <a:extLst>
              <a:ext uri="{FF2B5EF4-FFF2-40B4-BE49-F238E27FC236}">
                <a16:creationId xmlns:a16="http://schemas.microsoft.com/office/drawing/2014/main" id="{FFC49AEA-2A8F-250C-A86A-A7751D9706C3}"/>
              </a:ext>
            </a:extLst>
          </p:cNvPr>
          <p:cNvSpPr txBox="1"/>
          <p:nvPr/>
        </p:nvSpPr>
        <p:spPr>
          <a:xfrm>
            <a:off x="2539080" y="1843658"/>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sp>
        <p:nvSpPr>
          <p:cNvPr id="92" name="모서리가 둥근 직사각형 91"/>
          <p:cNvSpPr/>
          <p:nvPr/>
        </p:nvSpPr>
        <p:spPr>
          <a:xfrm>
            <a:off x="701175" y="2003750"/>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TextBox 93">
            <a:extLst>
              <a:ext uri="{FF2B5EF4-FFF2-40B4-BE49-F238E27FC236}">
                <a16:creationId xmlns:a16="http://schemas.microsoft.com/office/drawing/2014/main" id="{FFC49AEA-2A8F-250C-A86A-A7751D9706C3}"/>
              </a:ext>
            </a:extLst>
          </p:cNvPr>
          <p:cNvSpPr txBox="1"/>
          <p:nvPr/>
        </p:nvSpPr>
        <p:spPr>
          <a:xfrm>
            <a:off x="833510" y="2122294"/>
            <a:ext cx="493904" cy="107722"/>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구매담당</a:t>
            </a:r>
            <a:endParaRPr lang="en-US" altLang="ko-KR" sz="700" dirty="0">
              <a:solidFill>
                <a:schemeClr val="tx1">
                  <a:lumMod val="85000"/>
                  <a:lumOff val="15000"/>
                </a:schemeClr>
              </a:solidFill>
              <a:latin typeface="맑은 고딕" panose="020B0503020000020004" pitchFamily="50" charset="-127"/>
            </a:endParaRPr>
          </a:p>
        </p:txBody>
      </p:sp>
      <p:sp>
        <p:nvSpPr>
          <p:cNvPr id="95" name="TextBox 94">
            <a:extLst>
              <a:ext uri="{FF2B5EF4-FFF2-40B4-BE49-F238E27FC236}">
                <a16:creationId xmlns:a16="http://schemas.microsoft.com/office/drawing/2014/main" id="{FFC49AEA-2A8F-250C-A86A-A7751D9706C3}"/>
              </a:ext>
            </a:extLst>
          </p:cNvPr>
          <p:cNvSpPr txBox="1"/>
          <p:nvPr/>
        </p:nvSpPr>
        <p:spPr>
          <a:xfrm>
            <a:off x="1626518" y="2122294"/>
            <a:ext cx="638280" cy="107722"/>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홍길동 대령</a:t>
            </a:r>
            <a:endParaRPr lang="en-US" altLang="ko-KR" sz="700" dirty="0">
              <a:solidFill>
                <a:schemeClr val="tx1">
                  <a:lumMod val="85000"/>
                  <a:lumOff val="15000"/>
                </a:schemeClr>
              </a:solidFill>
              <a:latin typeface="맑은 고딕" panose="020B0503020000020004" pitchFamily="50" charset="-127"/>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2539080" y="2068433"/>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sp>
        <p:nvSpPr>
          <p:cNvPr id="98" name="모서리가 둥근 직사각형 97"/>
          <p:cNvSpPr/>
          <p:nvPr/>
        </p:nvSpPr>
        <p:spPr>
          <a:xfrm>
            <a:off x="701175" y="2429491"/>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833510" y="2548035"/>
            <a:ext cx="493904"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협상담당</a:t>
            </a:r>
            <a:endParaRPr lang="en-US" altLang="ko-KR" sz="700" dirty="0">
              <a:solidFill>
                <a:schemeClr val="tx1">
                  <a:lumMod val="85000"/>
                  <a:lumOff val="15000"/>
                </a:schemeClr>
              </a:solidFill>
              <a:latin typeface="맑은 고딕" panose="020B0503020000020004" pitchFamily="50" charset="-127"/>
            </a:endParaRPr>
          </a:p>
        </p:txBody>
      </p:sp>
      <p:sp>
        <p:nvSpPr>
          <p:cNvPr id="100" name="TextBox 99">
            <a:extLst>
              <a:ext uri="{FF2B5EF4-FFF2-40B4-BE49-F238E27FC236}">
                <a16:creationId xmlns:a16="http://schemas.microsoft.com/office/drawing/2014/main" id="{FFC49AEA-2A8F-250C-A86A-A7751D9706C3}"/>
              </a:ext>
            </a:extLst>
          </p:cNvPr>
          <p:cNvSpPr txBox="1"/>
          <p:nvPr/>
        </p:nvSpPr>
        <p:spPr>
          <a:xfrm>
            <a:off x="1626517" y="2548035"/>
            <a:ext cx="734105" cy="107722"/>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홍길순 </a:t>
            </a:r>
            <a:r>
              <a:rPr lang="ko-KR" altLang="en-US" sz="700" dirty="0" err="1">
                <a:solidFill>
                  <a:schemeClr val="tx1">
                    <a:lumMod val="85000"/>
                    <a:lumOff val="15000"/>
                  </a:schemeClr>
                </a:solidFill>
                <a:latin typeface="맑은 고딕" panose="020B0503020000020004" pitchFamily="50" charset="-127"/>
              </a:rPr>
              <a:t>주무관</a:t>
            </a:r>
            <a:r>
              <a:rPr lang="en-US" altLang="ko-KR" sz="700" dirty="0">
                <a:solidFill>
                  <a:schemeClr val="tx1">
                    <a:lumMod val="85000"/>
                    <a:lumOff val="15000"/>
                  </a:schemeClr>
                </a:solidFill>
                <a:latin typeface="맑은 고딕" panose="020B0503020000020004" pitchFamily="50" charset="-127"/>
              </a:rPr>
              <a:t>(7</a:t>
            </a:r>
            <a:r>
              <a:rPr lang="ko-KR" altLang="en-US" sz="700" dirty="0">
                <a:solidFill>
                  <a:schemeClr val="tx1">
                    <a:lumMod val="85000"/>
                    <a:lumOff val="15000"/>
                  </a:schemeClr>
                </a:solidFill>
                <a:latin typeface="맑은 고딕" panose="020B0503020000020004" pitchFamily="50" charset="-127"/>
              </a:rPr>
              <a:t>급</a:t>
            </a:r>
            <a:r>
              <a:rPr lang="en-US" altLang="ko-KR" sz="700" dirty="0">
                <a:solidFill>
                  <a:schemeClr val="tx1">
                    <a:lumMod val="85000"/>
                    <a:lumOff val="15000"/>
                  </a:schemeClr>
                </a:solidFill>
                <a:latin typeface="맑은 고딕" panose="020B0503020000020004" pitchFamily="50" charset="-127"/>
              </a:rPr>
              <a:t>)</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2539080" y="2494174"/>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102" name="직선 연결선 101">
            <a:extLst>
              <a:ext uri="{FF2B5EF4-FFF2-40B4-BE49-F238E27FC236}">
                <a16:creationId xmlns:a16="http://schemas.microsoft.com/office/drawing/2014/main" id="{E9293055-D5CD-4B9E-7F64-64B2D2CA7A52}"/>
              </a:ext>
            </a:extLst>
          </p:cNvPr>
          <p:cNvCxnSpPr/>
          <p:nvPr/>
        </p:nvCxnSpPr>
        <p:spPr>
          <a:xfrm>
            <a:off x="665360" y="3282370"/>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모서리가 둥근 직사각형 102"/>
          <p:cNvSpPr/>
          <p:nvPr/>
        </p:nvSpPr>
        <p:spPr>
          <a:xfrm>
            <a:off x="701175" y="2855232"/>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833510" y="2973776"/>
            <a:ext cx="493904"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입회관</a:t>
            </a:r>
            <a:endParaRPr lang="en-US" altLang="ko-KR" sz="700" dirty="0">
              <a:solidFill>
                <a:schemeClr val="tx1">
                  <a:lumMod val="85000"/>
                  <a:lumOff val="15000"/>
                </a:schemeClr>
              </a:solidFill>
              <a:latin typeface="맑은 고딕" panose="020B0503020000020004" pitchFamily="50" charset="-127"/>
            </a:endParaRPr>
          </a:p>
        </p:txBody>
      </p:sp>
      <p:sp>
        <p:nvSpPr>
          <p:cNvPr id="105" name="TextBox 104">
            <a:extLst>
              <a:ext uri="{FF2B5EF4-FFF2-40B4-BE49-F238E27FC236}">
                <a16:creationId xmlns:a16="http://schemas.microsoft.com/office/drawing/2014/main" id="{FFC49AEA-2A8F-250C-A86A-A7751D9706C3}"/>
              </a:ext>
            </a:extLst>
          </p:cNvPr>
          <p:cNvSpPr txBox="1"/>
          <p:nvPr/>
        </p:nvSpPr>
        <p:spPr>
          <a:xfrm>
            <a:off x="1626517" y="2973776"/>
            <a:ext cx="734105" cy="107722"/>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2539080" y="2973776"/>
            <a:ext cx="647514" cy="107722"/>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a:t>
            </a:r>
          </a:p>
        </p:txBody>
      </p:sp>
      <p:grpSp>
        <p:nvGrpSpPr>
          <p:cNvPr id="30" name="그룹 29"/>
          <p:cNvGrpSpPr/>
          <p:nvPr/>
        </p:nvGrpSpPr>
        <p:grpSpPr>
          <a:xfrm>
            <a:off x="675399" y="5614711"/>
            <a:ext cx="2712027" cy="617588"/>
            <a:chOff x="675399" y="5614711"/>
            <a:chExt cx="2712027" cy="617588"/>
          </a:xfrm>
        </p:grpSpPr>
        <p:sp>
          <p:nvSpPr>
            <p:cNvPr id="31" name="직사각형 30">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사각형: 둥근 모서리 15">
              <a:extLst>
                <a:ext uri="{FF2B5EF4-FFF2-40B4-BE49-F238E27FC236}">
                  <a16:creationId xmlns:a16="http://schemas.microsoft.com/office/drawing/2014/main" id="{E2B61CFB-AD16-68D0-8752-50D9C5E01971}"/>
                </a:ext>
              </a:extLst>
            </p:cNvPr>
            <p:cNvSpPr/>
            <p:nvPr/>
          </p:nvSpPr>
          <p:spPr>
            <a:xfrm>
              <a:off x="2075942" y="5745391"/>
              <a:ext cx="121917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smtClean="0">
                  <a:solidFill>
                    <a:srgbClr val="0070C0"/>
                  </a:solidFill>
                  <a:latin typeface="맑은 고딕"/>
                  <a:ea typeface="맑은 고딕" panose="020B0503020000020004" pitchFamily="50" charset="-127"/>
                </a:rPr>
                <a:t>이행적격심사 신청하기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33" name="사각형: 둥근 모서리 15">
              <a:extLst>
                <a:ext uri="{FF2B5EF4-FFF2-40B4-BE49-F238E27FC236}">
                  <a16:creationId xmlns:a16="http://schemas.microsoft.com/office/drawing/2014/main" id="{E2B61CFB-AD16-68D0-8752-50D9C5E01971}"/>
                </a:ext>
              </a:extLst>
            </p:cNvPr>
            <p:cNvSpPr/>
            <p:nvPr/>
          </p:nvSpPr>
          <p:spPr>
            <a:xfrm>
              <a:off x="767701" y="5745391"/>
              <a:ext cx="1215935"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이행적격심사 </a:t>
              </a:r>
              <a:r>
                <a:rPr kumimoji="1" lang="ko-KR" altLang="en-US" sz="1000" kern="0" dirty="0" smtClean="0">
                  <a:latin typeface="맑은 고딕"/>
                  <a:ea typeface="맑은 고딕" panose="020B0503020000020004" pitchFamily="50" charset="-127"/>
                </a:rPr>
                <a:t>포기하기</a:t>
              </a:r>
              <a:endParaRPr kumimoji="1" lang="en-US" sz="1000" b="0" i="0" u="none" strike="noStrike" kern="0" cap="none" spc="0" normalizeH="0" baseline="0" noProof="0" dirty="0">
                <a:ln>
                  <a:noFill/>
                </a:ln>
                <a:effectLst/>
                <a:uLnTx/>
                <a:uFillTx/>
                <a:latin typeface="맑은 고딕"/>
              </a:endParaRPr>
            </a:p>
          </p:txBody>
        </p:sp>
      </p:grpSp>
      <p:grpSp>
        <p:nvGrpSpPr>
          <p:cNvPr id="34" name="그룹 33"/>
          <p:cNvGrpSpPr/>
          <p:nvPr/>
        </p:nvGrpSpPr>
        <p:grpSpPr>
          <a:xfrm>
            <a:off x="675399" y="6223005"/>
            <a:ext cx="2712027" cy="617588"/>
            <a:chOff x="675399" y="5614711"/>
            <a:chExt cx="2712027" cy="617588"/>
          </a:xfrm>
        </p:grpSpPr>
        <p:sp>
          <p:nvSpPr>
            <p:cNvPr id="35" name="직사각형 34">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사각형: 둥근 모서리 15">
              <a:extLst>
                <a:ext uri="{FF2B5EF4-FFF2-40B4-BE49-F238E27FC236}">
                  <a16:creationId xmlns:a16="http://schemas.microsoft.com/office/drawing/2014/main" id="{E2B61CFB-AD16-68D0-8752-50D9C5E01971}"/>
                </a:ext>
              </a:extLst>
            </p:cNvPr>
            <p:cNvSpPr/>
            <p:nvPr/>
          </p:nvSpPr>
          <p:spPr>
            <a:xfrm>
              <a:off x="767701" y="5745391"/>
              <a:ext cx="252742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이행적격심사 </a:t>
              </a:r>
              <a:r>
                <a:rPr kumimoji="1" lang="ko-KR" altLang="en-US" sz="1000" kern="0" dirty="0" err="1" smtClean="0">
                  <a:latin typeface="맑은 고딕"/>
                  <a:ea typeface="맑은 고딕" panose="020B0503020000020004" pitchFamily="50" charset="-127"/>
                </a:rPr>
                <a:t>제출내용</a:t>
              </a:r>
              <a:r>
                <a:rPr kumimoji="1" lang="ko-KR" altLang="en-US" sz="1000" kern="0" dirty="0" smtClean="0">
                  <a:latin typeface="맑은 고딕"/>
                  <a:ea typeface="맑은 고딕" panose="020B0503020000020004" pitchFamily="50" charset="-127"/>
                </a:rPr>
                <a:t> 확인</a:t>
              </a:r>
              <a:endParaRPr kumimoji="1" lang="en-US" sz="1000" b="0" i="0" u="none" strike="noStrike" kern="0" cap="none" spc="0" normalizeH="0" baseline="0" noProof="0" dirty="0">
                <a:ln>
                  <a:noFill/>
                </a:ln>
                <a:effectLst/>
                <a:uLnTx/>
                <a:uFillTx/>
                <a:latin typeface="맑은 고딕"/>
              </a:endParaRPr>
            </a:p>
          </p:txBody>
        </p:sp>
      </p:grpSp>
      <p:grpSp>
        <p:nvGrpSpPr>
          <p:cNvPr id="37" name="그룹 36"/>
          <p:cNvGrpSpPr/>
          <p:nvPr/>
        </p:nvGrpSpPr>
        <p:grpSpPr>
          <a:xfrm>
            <a:off x="8223250" y="569392"/>
            <a:ext cx="3365500" cy="634511"/>
            <a:chOff x="8223250" y="569392"/>
            <a:chExt cx="3365500" cy="634511"/>
          </a:xfrm>
        </p:grpSpPr>
        <p:sp>
          <p:nvSpPr>
            <p:cNvPr id="38" name="직사각형 37"/>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39" name="직사각형 38"/>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버튼 추가</a:t>
              </a:r>
              <a:r>
                <a:rPr lang="en-US" altLang="ko-KR" sz="700" dirty="0" smtClean="0"/>
                <a:t>,</a:t>
              </a:r>
              <a:endParaRPr lang="ko-KR" altLang="en-US" sz="700" dirty="0"/>
            </a:p>
          </p:txBody>
        </p:sp>
      </p:grpSp>
    </p:spTree>
    <p:extLst>
      <p:ext uri="{BB962C8B-B14F-4D97-AF65-F5344CB8AC3E}">
        <p14:creationId xmlns:p14="http://schemas.microsoft.com/office/powerpoint/2010/main" val="28767568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en-US" altLang="ko-KR" dirty="0"/>
              <a:t>10</a:t>
            </a:r>
            <a:r>
              <a:rPr lang="ko-KR" altLang="en-US" dirty="0"/>
              <a:t>개씩 노출되며</a:t>
            </a:r>
            <a:r>
              <a:rPr lang="en-US" altLang="ko-KR" dirty="0"/>
              <a:t>, </a:t>
            </a:r>
            <a:r>
              <a:rPr lang="ko-KR" altLang="en-US" dirty="0" err="1"/>
              <a:t>더보기</a:t>
            </a:r>
            <a:r>
              <a:rPr lang="ko-KR" altLang="en-US" dirty="0"/>
              <a:t> 버튼을 클릭하여 추가 로드</a:t>
            </a:r>
            <a:r>
              <a:rPr lang="en-US" altLang="ko-KR" dirty="0"/>
              <a:t/>
            </a:r>
            <a:br>
              <a:rPr lang="en-US" altLang="ko-KR" dirty="0"/>
            </a:br>
            <a:r>
              <a:rPr lang="en-US" altLang="ko-KR" dirty="0"/>
              <a:t>- 10</a:t>
            </a:r>
            <a:r>
              <a:rPr lang="ko-KR" altLang="en-US" dirty="0"/>
              <a:t>개 미만인 경우 </a:t>
            </a:r>
            <a:r>
              <a:rPr lang="ko-KR" altLang="en-US" dirty="0" err="1"/>
              <a:t>더보기</a:t>
            </a:r>
            <a:r>
              <a:rPr lang="ko-KR" altLang="en-US" dirty="0"/>
              <a:t> 버튼 숨김</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152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err="1"/>
              <a:t>품목정보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err="1"/>
              <a:t>품목정보</a:t>
            </a:r>
            <a:r>
              <a:rPr lang="ko-KR" altLang="en-US" dirty="0"/>
              <a:t>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err="1"/>
              <a:t>품목정보</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MUI-BD-09-M02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grpSp>
        <p:nvGrpSpPr>
          <p:cNvPr id="83" name="그룹 82"/>
          <p:cNvGrpSpPr/>
          <p:nvPr/>
        </p:nvGrpSpPr>
        <p:grpSpPr>
          <a:xfrm>
            <a:off x="701175" y="1527996"/>
            <a:ext cx="2630093" cy="2031034"/>
            <a:chOff x="701175" y="1527996"/>
            <a:chExt cx="2630093" cy="2031034"/>
          </a:xfrm>
        </p:grpSpPr>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err="1">
                  <a:latin typeface="+mn-ea"/>
                </a:rPr>
                <a:t>품목정보</a:t>
              </a:r>
              <a:r>
                <a:rPr lang="ko-KR" altLang="en-US" sz="700" dirty="0">
                  <a:latin typeface="+mn-ea"/>
                </a:rPr>
                <a:t> </a:t>
              </a:r>
              <a:r>
                <a:rPr lang="en-US" altLang="ko-KR" sz="700" dirty="0">
                  <a:latin typeface="+mn-ea"/>
                </a:rPr>
                <a:t>– </a:t>
              </a:r>
              <a:r>
                <a:rPr lang="ko-KR" altLang="en-US" sz="700" dirty="0">
                  <a:latin typeface="+mn-ea"/>
                </a:rPr>
                <a:t>총</a:t>
              </a:r>
              <a:r>
                <a:rPr lang="en-US" altLang="ko-KR" sz="700" dirty="0">
                  <a:latin typeface="+mn-ea"/>
                </a:rPr>
                <a:t> 000</a:t>
              </a:r>
              <a:r>
                <a:rPr lang="ko-KR" altLang="en-US" sz="700" dirty="0">
                  <a:latin typeface="+mn-ea"/>
                </a:rPr>
                <a:t>건</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2" name="직사각형 91"/>
            <p:cNvSpPr/>
            <p:nvPr/>
          </p:nvSpPr>
          <p:spPr>
            <a:xfrm>
              <a:off x="703268" y="1835481"/>
              <a:ext cx="792000" cy="17179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1723549"/>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규격</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p>
            <a:p>
              <a:pPr>
                <a:lnSpc>
                  <a:spcPct val="200000"/>
                </a:lnSpc>
              </a:pPr>
              <a:r>
                <a:rPr lang="ko-KR" altLang="en-US" sz="700" dirty="0">
                  <a:latin typeface="+mn-ea"/>
                </a:rPr>
                <a:t>단가</a:t>
              </a:r>
              <a:endParaRPr lang="en-US" altLang="ko-KR" sz="700" dirty="0">
                <a:latin typeface="+mn-ea"/>
              </a:endParaRPr>
            </a:p>
            <a:p>
              <a:pPr>
                <a:lnSpc>
                  <a:spcPct val="200000"/>
                </a:lnSpc>
              </a:pPr>
              <a:r>
                <a:rPr lang="ko-KR" altLang="en-US" sz="700" dirty="0">
                  <a:latin typeface="+mn-ea"/>
                </a:rPr>
                <a:t>금액</a:t>
              </a: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75839" cy="1723549"/>
            </a:xfrm>
            <a:prstGeom prst="rect">
              <a:avLst/>
            </a:prstGeom>
            <a:noFill/>
          </p:spPr>
          <p:txBody>
            <a:bodyPr wrap="square" lIns="0" tIns="0" rIns="0" bIns="0" rtlCol="0">
              <a:spAutoFit/>
            </a:bodyPr>
            <a:lstStyle/>
            <a:p>
              <a:pPr>
                <a:lnSpc>
                  <a:spcPct val="200000"/>
                </a:lnSpc>
              </a:pPr>
              <a:r>
                <a:rPr lang="en-US" altLang="ko-KR" sz="700" dirty="0">
                  <a:latin typeface="+mn-ea"/>
                </a:rPr>
                <a:t>001</a:t>
              </a:r>
            </a:p>
            <a:p>
              <a:pPr>
                <a:lnSpc>
                  <a:spcPct val="200000"/>
                </a:lnSpc>
              </a:pPr>
              <a:r>
                <a:rPr lang="en-US" altLang="ko-KR" sz="700" dirty="0">
                  <a:latin typeface="+mn-ea"/>
                </a:rPr>
                <a:t>123-123123</a:t>
              </a:r>
            </a:p>
            <a:p>
              <a:pPr>
                <a:lnSpc>
                  <a:spcPct val="200000"/>
                </a:lnSpc>
              </a:pPr>
              <a:r>
                <a:rPr lang="ko-KR" altLang="en-US" sz="700" dirty="0" err="1">
                  <a:latin typeface="+mn-ea"/>
                </a:rPr>
                <a:t>테스트품명</a:t>
              </a:r>
              <a:endParaRPr lang="en-US" altLang="ko-KR" sz="700" dirty="0">
                <a:latin typeface="+mn-ea"/>
              </a:endParaRPr>
            </a:p>
            <a:p>
              <a:pPr>
                <a:lnSpc>
                  <a:spcPct val="200000"/>
                </a:lnSpc>
              </a:pPr>
              <a:r>
                <a:rPr lang="en-US" altLang="ko-KR" sz="700" dirty="0">
                  <a:latin typeface="+mn-ea"/>
                </a:rPr>
                <a:t>111-1111</a:t>
              </a:r>
            </a:p>
            <a:p>
              <a:pPr>
                <a:lnSpc>
                  <a:spcPct val="200000"/>
                </a:lnSpc>
              </a:pPr>
              <a:r>
                <a:rPr lang="en-US" altLang="ko-KR" sz="700" dirty="0">
                  <a:latin typeface="+mn-ea"/>
                </a:rPr>
                <a:t>EA</a:t>
              </a:r>
            </a:p>
            <a:p>
              <a:pPr algn="r">
                <a:lnSpc>
                  <a:spcPct val="200000"/>
                </a:lnSpc>
              </a:pPr>
              <a:r>
                <a:rPr lang="en-US" altLang="ko-KR" sz="700" dirty="0">
                  <a:latin typeface="+mn-ea"/>
                </a:rPr>
                <a:t>10</a:t>
              </a:r>
            </a:p>
            <a:p>
              <a:pPr algn="r">
                <a:lnSpc>
                  <a:spcPct val="200000"/>
                </a:lnSpc>
              </a:pPr>
              <a:r>
                <a:rPr lang="en-US" altLang="ko-KR" sz="700" dirty="0">
                  <a:latin typeface="+mn-ea"/>
                </a:rPr>
                <a:t>9,800,000.00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9,800,000.00 </a:t>
              </a:r>
              <a:r>
                <a:rPr lang="ko-KR" altLang="en-US" sz="700" dirty="0">
                  <a:latin typeface="+mn-ea"/>
                </a:rPr>
                <a:t>원</a:t>
              </a:r>
            </a:p>
          </p:txBody>
        </p:sp>
        <p:grpSp>
          <p:nvGrpSpPr>
            <p:cNvPr id="95" name="그룹 94"/>
            <p:cNvGrpSpPr/>
            <p:nvPr/>
          </p:nvGrpSpPr>
          <p:grpSpPr>
            <a:xfrm>
              <a:off x="701175" y="1835481"/>
              <a:ext cx="2630093" cy="1717920"/>
              <a:chOff x="701175" y="1835481"/>
              <a:chExt cx="2630093" cy="1717920"/>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8" name="직선 연결선 117">
            <a:extLst>
              <a:ext uri="{FF2B5EF4-FFF2-40B4-BE49-F238E27FC236}">
                <a16:creationId xmlns:a16="http://schemas.microsoft.com/office/drawing/2014/main" id="{E9293055-D5CD-4B9E-7F64-64B2D2CA7A52}"/>
              </a:ext>
            </a:extLst>
          </p:cNvPr>
          <p:cNvCxnSpPr/>
          <p:nvPr/>
        </p:nvCxnSpPr>
        <p:spPr>
          <a:xfrm>
            <a:off x="675399" y="36859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545888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20" name="사각형: 둥근 모서리 31">
            <a:extLst>
              <a:ext uri="{FF2B5EF4-FFF2-40B4-BE49-F238E27FC236}">
                <a16:creationId xmlns:a16="http://schemas.microsoft.com/office/drawing/2014/main" id="{2AC143EE-93CF-3518-F0CB-8469E98507E0}"/>
              </a:ext>
            </a:extLst>
          </p:cNvPr>
          <p:cNvSpPr/>
          <p:nvPr/>
        </p:nvSpPr>
        <p:spPr>
          <a:xfrm>
            <a:off x="808106" y="5405206"/>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121" name="그룹 120">
            <a:extLst>
              <a:ext uri="{FF2B5EF4-FFF2-40B4-BE49-F238E27FC236}">
                <a16:creationId xmlns:a16="http://schemas.microsoft.com/office/drawing/2014/main" id="{22BC05EE-C648-7CA2-4CCC-6E1C1A7E9BDA}"/>
              </a:ext>
            </a:extLst>
          </p:cNvPr>
          <p:cNvGrpSpPr/>
          <p:nvPr/>
        </p:nvGrpSpPr>
        <p:grpSpPr>
          <a:xfrm>
            <a:off x="1992981" y="4544878"/>
            <a:ext cx="76863" cy="292489"/>
            <a:chOff x="3750067" y="4683795"/>
            <a:chExt cx="76863" cy="292489"/>
          </a:xfrm>
        </p:grpSpPr>
        <p:sp>
          <p:nvSpPr>
            <p:cNvPr id="122" name="타원 1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3" name="타원 122">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4" name="타원 123">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35" name="그룹 34"/>
          <p:cNvGrpSpPr/>
          <p:nvPr/>
        </p:nvGrpSpPr>
        <p:grpSpPr>
          <a:xfrm>
            <a:off x="675399" y="5614711"/>
            <a:ext cx="2712027" cy="617588"/>
            <a:chOff x="675399" y="5614711"/>
            <a:chExt cx="2712027" cy="617588"/>
          </a:xfrm>
        </p:grpSpPr>
        <p:sp>
          <p:nvSpPr>
            <p:cNvPr id="36" name="직사각형 3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 name="사각형: 둥근 모서리 15">
              <a:extLst>
                <a:ext uri="{FF2B5EF4-FFF2-40B4-BE49-F238E27FC236}">
                  <a16:creationId xmlns:a16="http://schemas.microsoft.com/office/drawing/2014/main" id="{E2B61CFB-AD16-68D0-8752-50D9C5E01971}"/>
                </a:ext>
              </a:extLst>
            </p:cNvPr>
            <p:cNvSpPr/>
            <p:nvPr/>
          </p:nvSpPr>
          <p:spPr>
            <a:xfrm>
              <a:off x="2075942" y="5745391"/>
              <a:ext cx="121917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smtClean="0">
                  <a:solidFill>
                    <a:srgbClr val="0070C0"/>
                  </a:solidFill>
                  <a:latin typeface="맑은 고딕"/>
                  <a:ea typeface="맑은 고딕" panose="020B0503020000020004" pitchFamily="50" charset="-127"/>
                </a:rPr>
                <a:t>이행적격심사 신청하기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38" name="사각형: 둥근 모서리 15">
              <a:extLst>
                <a:ext uri="{FF2B5EF4-FFF2-40B4-BE49-F238E27FC236}">
                  <a16:creationId xmlns:a16="http://schemas.microsoft.com/office/drawing/2014/main" id="{E2B61CFB-AD16-68D0-8752-50D9C5E01971}"/>
                </a:ext>
              </a:extLst>
            </p:cNvPr>
            <p:cNvSpPr/>
            <p:nvPr/>
          </p:nvSpPr>
          <p:spPr>
            <a:xfrm>
              <a:off x="767701" y="5745391"/>
              <a:ext cx="1215935"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이행적격심사 </a:t>
              </a:r>
              <a:r>
                <a:rPr kumimoji="1" lang="ko-KR" altLang="en-US" sz="1000" kern="0" dirty="0" smtClean="0">
                  <a:latin typeface="맑은 고딕"/>
                  <a:ea typeface="맑은 고딕" panose="020B0503020000020004" pitchFamily="50" charset="-127"/>
                </a:rPr>
                <a:t>포기하기</a:t>
              </a:r>
              <a:endParaRPr kumimoji="1" lang="en-US" sz="1000" b="0" i="0" u="none" strike="noStrike" kern="0" cap="none" spc="0" normalizeH="0" baseline="0" noProof="0" dirty="0">
                <a:ln>
                  <a:noFill/>
                </a:ln>
                <a:effectLst/>
                <a:uLnTx/>
                <a:uFillTx/>
                <a:latin typeface="맑은 고딕"/>
              </a:endParaRPr>
            </a:p>
          </p:txBody>
        </p:sp>
      </p:grpSp>
      <p:grpSp>
        <p:nvGrpSpPr>
          <p:cNvPr id="39" name="그룹 38"/>
          <p:cNvGrpSpPr/>
          <p:nvPr/>
        </p:nvGrpSpPr>
        <p:grpSpPr>
          <a:xfrm>
            <a:off x="675399" y="6223005"/>
            <a:ext cx="2712027" cy="617588"/>
            <a:chOff x="675399" y="5614711"/>
            <a:chExt cx="2712027" cy="617588"/>
          </a:xfrm>
        </p:grpSpPr>
        <p:sp>
          <p:nvSpPr>
            <p:cNvPr id="40" name="직사각형 3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사각형: 둥근 모서리 15">
              <a:extLst>
                <a:ext uri="{FF2B5EF4-FFF2-40B4-BE49-F238E27FC236}">
                  <a16:creationId xmlns:a16="http://schemas.microsoft.com/office/drawing/2014/main" id="{E2B61CFB-AD16-68D0-8752-50D9C5E01971}"/>
                </a:ext>
              </a:extLst>
            </p:cNvPr>
            <p:cNvSpPr/>
            <p:nvPr/>
          </p:nvSpPr>
          <p:spPr>
            <a:xfrm>
              <a:off x="767701" y="5745391"/>
              <a:ext cx="252742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이행적격심사 </a:t>
              </a:r>
              <a:r>
                <a:rPr kumimoji="1" lang="ko-KR" altLang="en-US" sz="1000" kern="0" dirty="0" err="1" smtClean="0">
                  <a:latin typeface="맑은 고딕"/>
                  <a:ea typeface="맑은 고딕" panose="020B0503020000020004" pitchFamily="50" charset="-127"/>
                </a:rPr>
                <a:t>제출내용</a:t>
              </a:r>
              <a:r>
                <a:rPr kumimoji="1" lang="ko-KR" altLang="en-US" sz="1000" kern="0" dirty="0" smtClean="0">
                  <a:latin typeface="맑은 고딕"/>
                  <a:ea typeface="맑은 고딕" panose="020B0503020000020004" pitchFamily="50" charset="-127"/>
                </a:rPr>
                <a:t> 확인</a:t>
              </a:r>
              <a:endParaRPr kumimoji="1" lang="en-US" sz="1000" b="0" i="0" u="none" strike="noStrike" kern="0" cap="none" spc="0" normalizeH="0" baseline="0" noProof="0" dirty="0">
                <a:ln>
                  <a:noFill/>
                </a:ln>
                <a:effectLst/>
                <a:uLnTx/>
                <a:uFillTx/>
                <a:latin typeface="맑은 고딕"/>
              </a:endParaRPr>
            </a:p>
          </p:txBody>
        </p:sp>
      </p:grpSp>
      <p:grpSp>
        <p:nvGrpSpPr>
          <p:cNvPr id="42" name="그룹 41"/>
          <p:cNvGrpSpPr/>
          <p:nvPr/>
        </p:nvGrpSpPr>
        <p:grpSpPr>
          <a:xfrm>
            <a:off x="8223250" y="569392"/>
            <a:ext cx="3365500" cy="634511"/>
            <a:chOff x="8223250" y="569392"/>
            <a:chExt cx="3365500" cy="634511"/>
          </a:xfrm>
        </p:grpSpPr>
        <p:sp>
          <p:nvSpPr>
            <p:cNvPr id="43" name="직사각형 42"/>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44" name="직사각형 43"/>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버튼 추가</a:t>
              </a:r>
              <a:r>
                <a:rPr lang="en-US" altLang="ko-KR" sz="700" dirty="0" smtClean="0"/>
                <a:t>,</a:t>
              </a:r>
              <a:endParaRPr lang="ko-KR" altLang="en-US" sz="700" dirty="0"/>
            </a:p>
          </p:txBody>
        </p:sp>
      </p:grpSp>
    </p:spTree>
    <p:extLst>
      <p:ext uri="{BB962C8B-B14F-4D97-AF65-F5344CB8AC3E}">
        <p14:creationId xmlns:p14="http://schemas.microsoft.com/office/powerpoint/2010/main" val="20233248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입찰 결과 정보 표시</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153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a:t>입찰결과</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입찰결과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입찰결과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MUI-BD-09-M03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60475" cy="2461921"/>
            <a:chOff x="701175" y="1527996"/>
            <a:chExt cx="2660475" cy="2461921"/>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421496" cy="181140"/>
            </a:xfrm>
            <a:prstGeom prst="rect">
              <a:avLst/>
            </a:prstGeom>
            <a:noFill/>
          </p:spPr>
          <p:txBody>
            <a:bodyPr wrap="square" lIns="0" tIns="0" rIns="0" bIns="0" rtlCol="0">
              <a:spAutoFit/>
            </a:bodyPr>
            <a:lstStyle/>
            <a:p>
              <a:pPr>
                <a:lnSpc>
                  <a:spcPct val="200000"/>
                </a:lnSpc>
              </a:pPr>
              <a:r>
                <a:rPr lang="ko-KR" altLang="en-US" sz="700" dirty="0">
                  <a:latin typeface="+mn-ea"/>
                </a:rPr>
                <a:t>입찰결과</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21544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819868" cy="2154436"/>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a:latin typeface="+mn-ea"/>
                </a:rPr>
                <a:t>사업자등록번호</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en-US" altLang="ko-KR" sz="700" dirty="0">
                  <a:latin typeface="+mn-ea"/>
                </a:rPr>
                <a:t>⁞</a:t>
              </a:r>
            </a:p>
            <a:p>
              <a:pPr>
                <a:lnSpc>
                  <a:spcPct val="200000"/>
                </a:lnSpc>
              </a:pPr>
              <a:r>
                <a:rPr lang="ko-KR" altLang="en-US" sz="700" dirty="0">
                  <a:latin typeface="+mn-ea"/>
                </a:rPr>
                <a:t>결과</a:t>
              </a:r>
              <a:endParaRPr lang="en-US" altLang="ko-KR" sz="700" dirty="0">
                <a:latin typeface="+mn-ea"/>
              </a:endParaRPr>
            </a:p>
            <a:p>
              <a:pPr>
                <a:lnSpc>
                  <a:spcPct val="200000"/>
                </a:lnSpc>
              </a:pPr>
              <a:r>
                <a:rPr lang="ko-KR" altLang="en-US" sz="700" dirty="0">
                  <a:latin typeface="+mn-ea"/>
                </a:rPr>
                <a:t>첨부서류</a:t>
              </a:r>
              <a:endParaRPr lang="en-US" altLang="ko-KR" sz="700" dirty="0">
                <a:latin typeface="+mn-ea"/>
              </a:endParaRPr>
            </a:p>
            <a:p>
              <a:pPr>
                <a:lnSpc>
                  <a:spcPct val="200000"/>
                </a:lnSpc>
              </a:pPr>
              <a:r>
                <a:rPr lang="ko-KR" altLang="en-US" sz="700" dirty="0">
                  <a:latin typeface="+mn-ea"/>
                </a:rPr>
                <a:t>서약서</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99540" y="1835481"/>
              <a:ext cx="1762110" cy="1723549"/>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01</a:t>
              </a:r>
            </a:p>
            <a:p>
              <a:pPr>
                <a:lnSpc>
                  <a:spcPct val="200000"/>
                </a:lnSpc>
              </a:pPr>
              <a:r>
                <a:rPr lang="en-US" altLang="ko-KR" sz="700" dirty="0">
                  <a:latin typeface="+mn-ea"/>
                </a:rPr>
                <a:t>123</a:t>
              </a:r>
            </a:p>
            <a:p>
              <a:pPr>
                <a:lnSpc>
                  <a:spcPct val="200000"/>
                </a:lnSpc>
              </a:pPr>
              <a:r>
                <a:rPr lang="en-US" altLang="ko-KR" sz="700" dirty="0">
                  <a:latin typeface="+mn-ea"/>
                </a:rPr>
                <a:t>111-11-11111</a:t>
              </a:r>
            </a:p>
            <a:p>
              <a:pPr>
                <a:lnSpc>
                  <a:spcPct val="200000"/>
                </a:lnSpc>
              </a:pPr>
              <a:r>
                <a:rPr lang="ko-KR" altLang="en-US" sz="700" u="sng" dirty="0">
                  <a:solidFill>
                    <a:srgbClr val="0070C0"/>
                  </a:solidFill>
                  <a:latin typeface="+mn-ea"/>
                </a:rPr>
                <a:t>테스트</a:t>
              </a:r>
              <a:endParaRPr lang="en-US" altLang="ko-KR" sz="700" u="sng" dirty="0">
                <a:solidFill>
                  <a:srgbClr val="0070C0"/>
                </a:solidFill>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1</a:t>
              </a:r>
              <a:r>
                <a:rPr lang="ko-KR" altLang="en-US" sz="700" dirty="0">
                  <a:latin typeface="+mn-ea"/>
                </a:rPr>
                <a:t>순위</a:t>
              </a:r>
              <a:endParaRPr lang="en-US" altLang="ko-KR" sz="700" dirty="0">
                <a:latin typeface="+mn-ea"/>
              </a:endParaRPr>
            </a:p>
          </p:txBody>
        </p:sp>
        <p:grpSp>
          <p:nvGrpSpPr>
            <p:cNvPr id="17" name="그룹 16"/>
            <p:cNvGrpSpPr/>
            <p:nvPr/>
          </p:nvGrpSpPr>
          <p:grpSpPr>
            <a:xfrm>
              <a:off x="701175" y="1835481"/>
              <a:ext cx="2630093" cy="2147400"/>
              <a:chOff x="701175" y="1835481"/>
              <a:chExt cx="2630093" cy="214740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9" name="TextBox 25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a:solidFill>
                  <a:srgbClr val="0070C0"/>
                </a:solidFill>
                <a:latin typeface="+mn-ea"/>
              </a:rPr>
              <a:t>다음에 </a:t>
            </a:r>
            <a:r>
              <a:rPr lang="ko-KR" altLang="en-US" sz="900" b="1" dirty="0">
                <a:solidFill>
                  <a:srgbClr val="0070C0"/>
                </a:solidFill>
                <a:latin typeface="+mn-ea"/>
              </a:rPr>
              <a:t>계속</a:t>
            </a:r>
          </a:p>
        </p:txBody>
      </p:sp>
      <p:sp>
        <p:nvSpPr>
          <p:cNvPr id="83" name="사각형: 둥근 모서리 15">
            <a:extLst>
              <a:ext uri="{FF2B5EF4-FFF2-40B4-BE49-F238E27FC236}">
                <a16:creationId xmlns:a16="http://schemas.microsoft.com/office/drawing/2014/main" id="{E2B61CFB-AD16-68D0-8752-50D9C5E01971}"/>
              </a:ext>
            </a:extLst>
          </p:cNvPr>
          <p:cNvSpPr/>
          <p:nvPr/>
        </p:nvSpPr>
        <p:spPr>
          <a:xfrm>
            <a:off x="2832796" y="2724232"/>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90" name="사각형: 둥근 모서리 15">
            <a:extLst>
              <a:ext uri="{FF2B5EF4-FFF2-40B4-BE49-F238E27FC236}">
                <a16:creationId xmlns:a16="http://schemas.microsoft.com/office/drawing/2014/main" id="{E2B61CFB-AD16-68D0-8752-50D9C5E01971}"/>
              </a:ext>
            </a:extLst>
          </p:cNvPr>
          <p:cNvSpPr/>
          <p:nvPr/>
        </p:nvSpPr>
        <p:spPr>
          <a:xfrm>
            <a:off x="2832796" y="3588820"/>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91" name="사각형: 둥근 모서리 15">
            <a:extLst>
              <a:ext uri="{FF2B5EF4-FFF2-40B4-BE49-F238E27FC236}">
                <a16:creationId xmlns:a16="http://schemas.microsoft.com/office/drawing/2014/main" id="{E2B61CFB-AD16-68D0-8752-50D9C5E01971}"/>
              </a:ext>
            </a:extLst>
          </p:cNvPr>
          <p:cNvSpPr/>
          <p:nvPr/>
        </p:nvSpPr>
        <p:spPr>
          <a:xfrm>
            <a:off x="2832796" y="3793392"/>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92" name="사각형: 둥근 모서리 31">
            <a:extLst>
              <a:ext uri="{FF2B5EF4-FFF2-40B4-BE49-F238E27FC236}">
                <a16:creationId xmlns:a16="http://schemas.microsoft.com/office/drawing/2014/main" id="{2AC143EE-93CF-3518-F0CB-8469E98507E0}"/>
              </a:ext>
            </a:extLst>
          </p:cNvPr>
          <p:cNvSpPr/>
          <p:nvPr/>
        </p:nvSpPr>
        <p:spPr>
          <a:xfrm>
            <a:off x="808106" y="5392936"/>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93" name="그룹 92">
            <a:extLst>
              <a:ext uri="{FF2B5EF4-FFF2-40B4-BE49-F238E27FC236}">
                <a16:creationId xmlns:a16="http://schemas.microsoft.com/office/drawing/2014/main" id="{22BC05EE-C648-7CA2-4CCC-6E1C1A7E9BDA}"/>
              </a:ext>
            </a:extLst>
          </p:cNvPr>
          <p:cNvGrpSpPr/>
          <p:nvPr/>
        </p:nvGrpSpPr>
        <p:grpSpPr>
          <a:xfrm>
            <a:off x="1992981" y="4544878"/>
            <a:ext cx="76863" cy="292489"/>
            <a:chOff x="3750067" y="4683795"/>
            <a:chExt cx="76863" cy="292489"/>
          </a:xfrm>
        </p:grpSpPr>
        <p:sp>
          <p:nvSpPr>
            <p:cNvPr id="94" name="타원 9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95" name="타원 9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96" name="타원 9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39" name="그룹 38"/>
          <p:cNvGrpSpPr/>
          <p:nvPr/>
        </p:nvGrpSpPr>
        <p:grpSpPr>
          <a:xfrm>
            <a:off x="675399" y="5614711"/>
            <a:ext cx="2712027" cy="617588"/>
            <a:chOff x="675399" y="5614711"/>
            <a:chExt cx="2712027" cy="617588"/>
          </a:xfrm>
        </p:grpSpPr>
        <p:sp>
          <p:nvSpPr>
            <p:cNvPr id="40" name="직사각형 3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사각형: 둥근 모서리 15">
              <a:extLst>
                <a:ext uri="{FF2B5EF4-FFF2-40B4-BE49-F238E27FC236}">
                  <a16:creationId xmlns:a16="http://schemas.microsoft.com/office/drawing/2014/main" id="{E2B61CFB-AD16-68D0-8752-50D9C5E01971}"/>
                </a:ext>
              </a:extLst>
            </p:cNvPr>
            <p:cNvSpPr/>
            <p:nvPr/>
          </p:nvSpPr>
          <p:spPr>
            <a:xfrm>
              <a:off x="2075942" y="5745391"/>
              <a:ext cx="121917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smtClean="0">
                  <a:solidFill>
                    <a:srgbClr val="0070C0"/>
                  </a:solidFill>
                  <a:latin typeface="맑은 고딕"/>
                  <a:ea typeface="맑은 고딕" panose="020B0503020000020004" pitchFamily="50" charset="-127"/>
                </a:rPr>
                <a:t>이행적격심사 신청하기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42" name="사각형: 둥근 모서리 15">
              <a:extLst>
                <a:ext uri="{FF2B5EF4-FFF2-40B4-BE49-F238E27FC236}">
                  <a16:creationId xmlns:a16="http://schemas.microsoft.com/office/drawing/2014/main" id="{E2B61CFB-AD16-68D0-8752-50D9C5E01971}"/>
                </a:ext>
              </a:extLst>
            </p:cNvPr>
            <p:cNvSpPr/>
            <p:nvPr/>
          </p:nvSpPr>
          <p:spPr>
            <a:xfrm>
              <a:off x="767701" y="5745391"/>
              <a:ext cx="1215935"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이행적격심사 </a:t>
              </a:r>
              <a:r>
                <a:rPr kumimoji="1" lang="ko-KR" altLang="en-US" sz="1000" kern="0" dirty="0" smtClean="0">
                  <a:latin typeface="맑은 고딕"/>
                  <a:ea typeface="맑은 고딕" panose="020B0503020000020004" pitchFamily="50" charset="-127"/>
                </a:rPr>
                <a:t>포기하기</a:t>
              </a:r>
              <a:endParaRPr kumimoji="1" lang="en-US" sz="1000" b="0" i="0" u="none" strike="noStrike" kern="0" cap="none" spc="0" normalizeH="0" baseline="0" noProof="0" dirty="0">
                <a:ln>
                  <a:noFill/>
                </a:ln>
                <a:effectLst/>
                <a:uLnTx/>
                <a:uFillTx/>
                <a:latin typeface="맑은 고딕"/>
              </a:endParaRPr>
            </a:p>
          </p:txBody>
        </p:sp>
      </p:grpSp>
      <p:grpSp>
        <p:nvGrpSpPr>
          <p:cNvPr id="43" name="그룹 42"/>
          <p:cNvGrpSpPr/>
          <p:nvPr/>
        </p:nvGrpSpPr>
        <p:grpSpPr>
          <a:xfrm>
            <a:off x="675399" y="6223005"/>
            <a:ext cx="2712027" cy="617588"/>
            <a:chOff x="675399" y="5614711"/>
            <a:chExt cx="2712027" cy="617588"/>
          </a:xfrm>
        </p:grpSpPr>
        <p:sp>
          <p:nvSpPr>
            <p:cNvPr id="44" name="직사각형 43">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5" name="사각형: 둥근 모서리 15">
              <a:extLst>
                <a:ext uri="{FF2B5EF4-FFF2-40B4-BE49-F238E27FC236}">
                  <a16:creationId xmlns:a16="http://schemas.microsoft.com/office/drawing/2014/main" id="{E2B61CFB-AD16-68D0-8752-50D9C5E01971}"/>
                </a:ext>
              </a:extLst>
            </p:cNvPr>
            <p:cNvSpPr/>
            <p:nvPr/>
          </p:nvSpPr>
          <p:spPr>
            <a:xfrm>
              <a:off x="767701" y="5745391"/>
              <a:ext cx="252742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이행적격심사 </a:t>
              </a:r>
              <a:r>
                <a:rPr kumimoji="1" lang="ko-KR" altLang="en-US" sz="1000" kern="0" dirty="0" err="1" smtClean="0">
                  <a:latin typeface="맑은 고딕"/>
                  <a:ea typeface="맑은 고딕" panose="020B0503020000020004" pitchFamily="50" charset="-127"/>
                </a:rPr>
                <a:t>제출내용</a:t>
              </a:r>
              <a:r>
                <a:rPr kumimoji="1" lang="ko-KR" altLang="en-US" sz="1000" kern="0" dirty="0" smtClean="0">
                  <a:latin typeface="맑은 고딕"/>
                  <a:ea typeface="맑은 고딕" panose="020B0503020000020004" pitchFamily="50" charset="-127"/>
                </a:rPr>
                <a:t> 확인</a:t>
              </a:r>
              <a:endParaRPr kumimoji="1" lang="en-US" sz="1000" b="0" i="0" u="none" strike="noStrike" kern="0" cap="none" spc="0" normalizeH="0" baseline="0" noProof="0" dirty="0">
                <a:ln>
                  <a:noFill/>
                </a:ln>
                <a:effectLst/>
                <a:uLnTx/>
                <a:uFillTx/>
                <a:latin typeface="맑은 고딕"/>
              </a:endParaRPr>
            </a:p>
          </p:txBody>
        </p:sp>
      </p:grpSp>
      <p:grpSp>
        <p:nvGrpSpPr>
          <p:cNvPr id="46" name="그룹 45"/>
          <p:cNvGrpSpPr/>
          <p:nvPr/>
        </p:nvGrpSpPr>
        <p:grpSpPr>
          <a:xfrm>
            <a:off x="8223250" y="569392"/>
            <a:ext cx="3365500" cy="634511"/>
            <a:chOff x="8223250" y="569392"/>
            <a:chExt cx="3365500" cy="634511"/>
          </a:xfrm>
        </p:grpSpPr>
        <p:sp>
          <p:nvSpPr>
            <p:cNvPr id="47" name="직사각형 46"/>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48" name="직사각형 47"/>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버튼 추가</a:t>
              </a:r>
              <a:r>
                <a:rPr lang="en-US" altLang="ko-KR" sz="700" dirty="0" smtClean="0"/>
                <a:t>,</a:t>
              </a:r>
              <a:endParaRPr lang="ko-KR" altLang="en-US" sz="700" dirty="0"/>
            </a:p>
          </p:txBody>
        </p:sp>
      </p:grpSp>
    </p:spTree>
    <p:extLst>
      <p:ext uri="{BB962C8B-B14F-4D97-AF65-F5344CB8AC3E}">
        <p14:creationId xmlns:p14="http://schemas.microsoft.com/office/powerpoint/2010/main" val="124081381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입찰 결과 정보 표시</a:t>
            </a:r>
            <a:r>
              <a:rPr lang="en-US" altLang="ko-KR" dirty="0"/>
              <a:t/>
            </a:r>
            <a:br>
              <a:rPr lang="en-US" altLang="ko-KR" dirty="0"/>
            </a:br>
            <a:r>
              <a:rPr lang="en-US" altLang="ko-KR" dirty="0"/>
              <a:t>- </a:t>
            </a:r>
            <a:r>
              <a:rPr lang="ko-KR" altLang="en-US" dirty="0"/>
              <a:t>내 업체 정보만 표시함</a:t>
            </a:r>
            <a:r>
              <a:rPr lang="en-US" altLang="ko-KR" dirty="0" smtClean="0"/>
              <a:t>.</a:t>
            </a:r>
            <a:br>
              <a:rPr lang="en-US" altLang="ko-KR" dirty="0" smtClean="0"/>
            </a:br>
            <a:r>
              <a:rPr lang="en-US" altLang="ko-KR" dirty="0" smtClean="0">
                <a:solidFill>
                  <a:srgbClr val="FF0000"/>
                </a:solidFill>
              </a:rPr>
              <a:t>- </a:t>
            </a:r>
            <a:r>
              <a:rPr lang="ko-KR" altLang="en-US" dirty="0" smtClean="0">
                <a:solidFill>
                  <a:srgbClr val="FF0000"/>
                </a:solidFill>
              </a:rPr>
              <a:t>협상 경과가 있는 경우에만 표시되는 탭</a:t>
            </a:r>
            <a:endParaRPr lang="en-US" altLang="ko-KR" dirty="0">
              <a:solidFill>
                <a:srgbClr val="FF0000"/>
              </a:solidFill>
            </a:endParaRP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154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입찰결과상세 </a:t>
            </a:r>
            <a:r>
              <a:rPr lang="en-US" altLang="ko-KR" dirty="0"/>
              <a:t>- </a:t>
            </a:r>
            <a:r>
              <a:rPr lang="ko-KR" altLang="en-US" dirty="0"/>
              <a:t>협상결과</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협상결과 탭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협상결과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MUI-BD-09-M04</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3" name="그룹 82"/>
          <p:cNvGrpSpPr/>
          <p:nvPr/>
        </p:nvGrpSpPr>
        <p:grpSpPr>
          <a:xfrm>
            <a:off x="701175" y="1527996"/>
            <a:ext cx="2630093" cy="1815590"/>
            <a:chOff x="701175" y="1527996"/>
            <a:chExt cx="2630093" cy="1815590"/>
          </a:xfrm>
        </p:grpSpPr>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협상결과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2" name="직사각형 91"/>
            <p:cNvSpPr/>
            <p:nvPr/>
          </p:nvSpPr>
          <p:spPr>
            <a:xfrm>
              <a:off x="703268" y="1835481"/>
              <a:ext cx="792000" cy="15031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업체코드</a:t>
              </a:r>
              <a:endParaRPr lang="en-US" altLang="ko-KR" sz="700" dirty="0">
                <a:latin typeface="+mn-ea"/>
              </a:endParaRPr>
            </a:p>
            <a:p>
              <a:pPr>
                <a:lnSpc>
                  <a:spcPct val="200000"/>
                </a:lnSpc>
              </a:pPr>
              <a:r>
                <a:rPr lang="ko-KR" altLang="en-US" sz="700" dirty="0" err="1">
                  <a:latin typeface="+mn-ea"/>
                </a:rPr>
                <a:t>업체명</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err="1">
                  <a:latin typeface="+mn-ea"/>
                </a:rPr>
                <a:t>견적단가</a:t>
              </a:r>
              <a:endParaRPr lang="en-US" altLang="ko-KR" sz="700" dirty="0">
                <a:latin typeface="+mn-ea"/>
              </a:endParaRPr>
            </a:p>
            <a:p>
              <a:pPr>
                <a:lnSpc>
                  <a:spcPct val="200000"/>
                </a:lnSpc>
              </a:pPr>
              <a:r>
                <a:rPr lang="ko-KR" altLang="en-US" sz="700" dirty="0" err="1">
                  <a:latin typeface="+mn-ea"/>
                </a:rPr>
                <a:t>낙찰률</a:t>
              </a:r>
              <a:endParaRPr lang="en-US" altLang="ko-KR" sz="700" dirty="0">
                <a:latin typeface="+mn-ea"/>
              </a:endParaRPr>
            </a:p>
            <a:p>
              <a:pPr>
                <a:lnSpc>
                  <a:spcPct val="200000"/>
                </a:lnSpc>
              </a:pPr>
              <a:r>
                <a:rPr lang="ko-KR" altLang="en-US" sz="700" dirty="0">
                  <a:latin typeface="+mn-ea"/>
                </a:rPr>
                <a:t>결과</a:t>
              </a: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75839" cy="1508105"/>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123</a:t>
              </a:r>
            </a:p>
            <a:p>
              <a:pPr>
                <a:lnSpc>
                  <a:spcPct val="200000"/>
                </a:lnSpc>
              </a:pPr>
              <a:r>
                <a:rPr lang="ko-KR" altLang="en-US" sz="700" dirty="0" err="1">
                  <a:latin typeface="+mn-ea"/>
                </a:rPr>
                <a:t>테스트업체</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gn="r">
                <a:lnSpc>
                  <a:spcPct val="200000"/>
                </a:lnSpc>
              </a:pPr>
              <a:r>
                <a:rPr lang="en-US" altLang="ko-KR" sz="700" dirty="0">
                  <a:latin typeface="+mn-ea"/>
                </a:rPr>
                <a:t>9,800,000.00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98.9796</a:t>
              </a:r>
            </a:p>
            <a:p>
              <a:pPr algn="r">
                <a:lnSpc>
                  <a:spcPct val="200000"/>
                </a:lnSpc>
              </a:pPr>
              <a:r>
                <a:rPr lang="ko-KR" altLang="en-US" sz="700" dirty="0">
                  <a:latin typeface="+mn-ea"/>
                </a:rPr>
                <a:t>낙찰</a:t>
              </a:r>
              <a:endParaRPr lang="en-US" altLang="ko-KR" sz="700" dirty="0">
                <a:latin typeface="+mn-ea"/>
              </a:endParaRPr>
            </a:p>
          </p:txBody>
        </p:sp>
        <p:grpSp>
          <p:nvGrpSpPr>
            <p:cNvPr id="95" name="그룹 94"/>
            <p:cNvGrpSpPr/>
            <p:nvPr/>
          </p:nvGrpSpPr>
          <p:grpSpPr>
            <a:xfrm>
              <a:off x="701175" y="1835481"/>
              <a:ext cx="2630093" cy="1503180"/>
              <a:chOff x="701175" y="1835481"/>
              <a:chExt cx="2630093" cy="1503180"/>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8" name="직선 연결선 117">
            <a:extLst>
              <a:ext uri="{FF2B5EF4-FFF2-40B4-BE49-F238E27FC236}">
                <a16:creationId xmlns:a16="http://schemas.microsoft.com/office/drawing/2014/main" id="{E9293055-D5CD-4B9E-7F64-64B2D2CA7A52}"/>
              </a:ext>
            </a:extLst>
          </p:cNvPr>
          <p:cNvCxnSpPr/>
          <p:nvPr/>
        </p:nvCxnSpPr>
        <p:spPr>
          <a:xfrm>
            <a:off x="675399" y="343343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6" name="사각형: 둥근 모서리 31">
            <a:extLst>
              <a:ext uri="{FF2B5EF4-FFF2-40B4-BE49-F238E27FC236}">
                <a16:creationId xmlns:a16="http://schemas.microsoft.com/office/drawing/2014/main" id="{2AC143EE-93CF-3518-F0CB-8469E98507E0}"/>
              </a:ext>
            </a:extLst>
          </p:cNvPr>
          <p:cNvSpPr/>
          <p:nvPr/>
        </p:nvSpPr>
        <p:spPr>
          <a:xfrm>
            <a:off x="808106" y="5429794"/>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37" name="그룹 36">
            <a:extLst>
              <a:ext uri="{FF2B5EF4-FFF2-40B4-BE49-F238E27FC236}">
                <a16:creationId xmlns:a16="http://schemas.microsoft.com/office/drawing/2014/main" id="{22BC05EE-C648-7CA2-4CCC-6E1C1A7E9BDA}"/>
              </a:ext>
            </a:extLst>
          </p:cNvPr>
          <p:cNvGrpSpPr/>
          <p:nvPr/>
        </p:nvGrpSpPr>
        <p:grpSpPr>
          <a:xfrm>
            <a:off x="1992981" y="4544878"/>
            <a:ext cx="76863" cy="292489"/>
            <a:chOff x="3750067" y="4683795"/>
            <a:chExt cx="76863" cy="292489"/>
          </a:xfrm>
        </p:grpSpPr>
        <p:sp>
          <p:nvSpPr>
            <p:cNvPr id="38" name="타원 37">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39" name="타원 38">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40" name="타원 39">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33" name="그룹 32"/>
          <p:cNvGrpSpPr/>
          <p:nvPr/>
        </p:nvGrpSpPr>
        <p:grpSpPr>
          <a:xfrm>
            <a:off x="675399" y="5614711"/>
            <a:ext cx="2712027" cy="617588"/>
            <a:chOff x="675399" y="5614711"/>
            <a:chExt cx="2712027" cy="617588"/>
          </a:xfrm>
        </p:grpSpPr>
        <p:sp>
          <p:nvSpPr>
            <p:cNvPr id="34" name="직사각형 33">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사각형: 둥근 모서리 15">
              <a:extLst>
                <a:ext uri="{FF2B5EF4-FFF2-40B4-BE49-F238E27FC236}">
                  <a16:creationId xmlns:a16="http://schemas.microsoft.com/office/drawing/2014/main" id="{E2B61CFB-AD16-68D0-8752-50D9C5E01971}"/>
                </a:ext>
              </a:extLst>
            </p:cNvPr>
            <p:cNvSpPr/>
            <p:nvPr/>
          </p:nvSpPr>
          <p:spPr>
            <a:xfrm>
              <a:off x="2075942" y="5745391"/>
              <a:ext cx="1219179"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smtClean="0">
                  <a:solidFill>
                    <a:srgbClr val="0070C0"/>
                  </a:solidFill>
                  <a:latin typeface="맑은 고딕"/>
                  <a:ea typeface="맑은 고딕" panose="020B0503020000020004" pitchFamily="50" charset="-127"/>
                </a:rPr>
                <a:t>이행적격심사 신청하기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41" name="사각형: 둥근 모서리 15">
              <a:extLst>
                <a:ext uri="{FF2B5EF4-FFF2-40B4-BE49-F238E27FC236}">
                  <a16:creationId xmlns:a16="http://schemas.microsoft.com/office/drawing/2014/main" id="{E2B61CFB-AD16-68D0-8752-50D9C5E01971}"/>
                </a:ext>
              </a:extLst>
            </p:cNvPr>
            <p:cNvSpPr/>
            <p:nvPr/>
          </p:nvSpPr>
          <p:spPr>
            <a:xfrm>
              <a:off x="767701" y="5745391"/>
              <a:ext cx="1215935"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이행적격심사 </a:t>
              </a:r>
              <a:r>
                <a:rPr kumimoji="1" lang="ko-KR" altLang="en-US" sz="1000" kern="0" dirty="0" smtClean="0">
                  <a:latin typeface="맑은 고딕"/>
                  <a:ea typeface="맑은 고딕" panose="020B0503020000020004" pitchFamily="50" charset="-127"/>
                </a:rPr>
                <a:t>포기하기</a:t>
              </a:r>
              <a:endParaRPr kumimoji="1" lang="en-US" sz="1000" b="0" i="0" u="none" strike="noStrike" kern="0" cap="none" spc="0" normalizeH="0" baseline="0" noProof="0" dirty="0">
                <a:ln>
                  <a:noFill/>
                </a:ln>
                <a:effectLst/>
                <a:uLnTx/>
                <a:uFillTx/>
                <a:latin typeface="맑은 고딕"/>
              </a:endParaRPr>
            </a:p>
          </p:txBody>
        </p:sp>
      </p:grpSp>
      <p:grpSp>
        <p:nvGrpSpPr>
          <p:cNvPr id="42" name="그룹 41"/>
          <p:cNvGrpSpPr/>
          <p:nvPr/>
        </p:nvGrpSpPr>
        <p:grpSpPr>
          <a:xfrm>
            <a:off x="675399" y="6223005"/>
            <a:ext cx="2712027" cy="617588"/>
            <a:chOff x="675399" y="5614711"/>
            <a:chExt cx="2712027" cy="617588"/>
          </a:xfrm>
        </p:grpSpPr>
        <p:sp>
          <p:nvSpPr>
            <p:cNvPr id="43" name="직사각형 4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사각형: 둥근 모서리 15">
              <a:extLst>
                <a:ext uri="{FF2B5EF4-FFF2-40B4-BE49-F238E27FC236}">
                  <a16:creationId xmlns:a16="http://schemas.microsoft.com/office/drawing/2014/main" id="{E2B61CFB-AD16-68D0-8752-50D9C5E01971}"/>
                </a:ext>
              </a:extLst>
            </p:cNvPr>
            <p:cNvSpPr/>
            <p:nvPr/>
          </p:nvSpPr>
          <p:spPr>
            <a:xfrm>
              <a:off x="767701" y="5745391"/>
              <a:ext cx="252742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이행적격심사 </a:t>
              </a:r>
              <a:r>
                <a:rPr kumimoji="1" lang="ko-KR" altLang="en-US" sz="1000" kern="0" dirty="0" err="1" smtClean="0">
                  <a:latin typeface="맑은 고딕"/>
                  <a:ea typeface="맑은 고딕" panose="020B0503020000020004" pitchFamily="50" charset="-127"/>
                </a:rPr>
                <a:t>제출내용</a:t>
              </a:r>
              <a:r>
                <a:rPr kumimoji="1" lang="ko-KR" altLang="en-US" sz="1000" kern="0" dirty="0" smtClean="0">
                  <a:latin typeface="맑은 고딕"/>
                  <a:ea typeface="맑은 고딕" panose="020B0503020000020004" pitchFamily="50" charset="-127"/>
                </a:rPr>
                <a:t> 확인</a:t>
              </a:r>
              <a:endParaRPr kumimoji="1" lang="en-US" sz="1000" b="0" i="0" u="none" strike="noStrike" kern="0" cap="none" spc="0" normalizeH="0" baseline="0" noProof="0" dirty="0">
                <a:ln>
                  <a:noFill/>
                </a:ln>
                <a:effectLst/>
                <a:uLnTx/>
                <a:uFillTx/>
                <a:latin typeface="맑은 고딕"/>
              </a:endParaRPr>
            </a:p>
          </p:txBody>
        </p:sp>
      </p:grpSp>
      <p:grpSp>
        <p:nvGrpSpPr>
          <p:cNvPr id="45" name="그룹 44"/>
          <p:cNvGrpSpPr/>
          <p:nvPr/>
        </p:nvGrpSpPr>
        <p:grpSpPr>
          <a:xfrm>
            <a:off x="8223250" y="569392"/>
            <a:ext cx="3365500" cy="634511"/>
            <a:chOff x="8223250" y="569392"/>
            <a:chExt cx="3365500" cy="634511"/>
          </a:xfrm>
        </p:grpSpPr>
        <p:sp>
          <p:nvSpPr>
            <p:cNvPr id="46" name="직사각형 45"/>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47" name="직사각형 46"/>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이행적격심사 신청과 포기 버튼 추가</a:t>
              </a:r>
              <a:r>
                <a:rPr lang="en-US" altLang="ko-KR" sz="700" dirty="0" smtClean="0"/>
                <a:t>,</a:t>
              </a:r>
              <a:endParaRPr lang="ko-KR" altLang="en-US" sz="700" dirty="0"/>
            </a:p>
          </p:txBody>
        </p:sp>
      </p:grpSp>
    </p:spTree>
    <p:extLst>
      <p:ext uri="{BB962C8B-B14F-4D97-AF65-F5344CB8AC3E}">
        <p14:creationId xmlns:p14="http://schemas.microsoft.com/office/powerpoint/2010/main" val="215536464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155</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7621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공고정보</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291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입찰건명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비공개 수의협상인 경우 </a:t>
                      </a:r>
                      <a:r>
                        <a:rPr lang="ko-KR" altLang="en-US" sz="800" dirty="0" err="1">
                          <a:latin typeface="+mn-ea"/>
                          <a:ea typeface="+mn-ea"/>
                        </a:rPr>
                        <a:t>협상건명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5378503"/>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업무구분이 공사인 경우 공사번호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84742976"/>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0284220"/>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통합참조번호</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3325672"/>
                  </a:ext>
                </a:extLst>
              </a:tr>
              <a:tr h="0">
                <a:tc>
                  <a:txBody>
                    <a:bodyPr/>
                    <a:lstStyle/>
                    <a:p>
                      <a:pPr latinLnBrk="1"/>
                      <a:r>
                        <a:rPr lang="ko-KR" altLang="en-US" sz="800" dirty="0">
                          <a:latin typeface="+mn-ea"/>
                          <a:ea typeface="+mn-ea"/>
                        </a:rPr>
                        <a:t>집행유형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bizTpcd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집행유형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업무구분이 공사인 경우 공사구분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4948226"/>
                  </a:ext>
                </a:extLst>
              </a:tr>
              <a:tr h="0">
                <a:tc>
                  <a:txBody>
                    <a:bodyPr/>
                    <a:lstStyle/>
                    <a:p>
                      <a:pPr latinLnBrk="1"/>
                      <a:r>
                        <a:rPr lang="ko-KR" altLang="en-US" sz="800" dirty="0">
                          <a:latin typeface="+mn-ea"/>
                          <a:ea typeface="+mn-ea"/>
                        </a:rPr>
                        <a:t>단가제유형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bidTpcd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단가제유형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업무구분이 물품인 경우에는 단가제유형 항목 조회 결과</a:t>
                      </a:r>
                      <a:r>
                        <a:rPr lang="en-US" altLang="ko-KR" sz="800" dirty="0">
                          <a:latin typeface="+mn-ea"/>
                          <a:ea typeface="+mn-ea"/>
                        </a:rPr>
                        <a:t>, </a:t>
                      </a:r>
                      <a:r>
                        <a:rPr lang="ko-KR" altLang="en-US" sz="800" dirty="0">
                          <a:latin typeface="+mn-ea"/>
                          <a:ea typeface="+mn-ea"/>
                        </a:rPr>
                        <a:t>업무구분이 공사이고 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a:t>
                      </a:r>
                      <a:r>
                        <a:rPr lang="ko-KR" altLang="en-US" sz="800" dirty="0">
                          <a:latin typeface="+mn-ea"/>
                          <a:ea typeface="+mn-ea"/>
                        </a:rPr>
                        <a:t>인 경우 낙찰자기준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6668359"/>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129065"/>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8568022"/>
                  </a:ext>
                </a:extLst>
              </a:tr>
              <a:tr h="0">
                <a:tc>
                  <a:txBody>
                    <a:bodyPr/>
                    <a:lstStyle/>
                    <a:p>
                      <a:pPr latinLnBrk="1"/>
                      <a:r>
                        <a:rPr lang="ko-KR" altLang="en-US" sz="800" dirty="0">
                          <a:latin typeface="+mn-ea"/>
                          <a:ea typeface="+mn-ea"/>
                        </a:rPr>
                        <a:t>낙찰자결정방법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낙찰자결정방법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195814"/>
                  </a:ext>
                </a:extLst>
              </a:tr>
              <a:tr h="0">
                <a:tc>
                  <a:txBody>
                    <a:bodyPr/>
                    <a:lstStyle/>
                    <a:p>
                      <a:pPr latinLnBrk="1"/>
                      <a:r>
                        <a:rPr lang="ko-KR" altLang="en-US" sz="800" dirty="0">
                          <a:latin typeface="+mn-ea"/>
                          <a:ea typeface="+mn-ea"/>
                        </a:rPr>
                        <a:t>예산금액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bgtAmt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예산금액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696840"/>
                  </a:ext>
                </a:extLst>
              </a:tr>
              <a:tr h="0">
                <a:tc>
                  <a:txBody>
                    <a:bodyPr/>
                    <a:lstStyle/>
                    <a:p>
                      <a:pPr latinLnBrk="1"/>
                      <a:r>
                        <a:rPr lang="ko-KR" altLang="en-US" sz="800" dirty="0" err="1">
                          <a:latin typeface="+mn-ea"/>
                          <a:ea typeface="+mn-ea"/>
                        </a:rPr>
                        <a:t>기초예가적용여부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bidPrtcpQlfcYn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기초예가적용여부</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580170"/>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수의협상인 경우 협상일시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873934"/>
                  </a:ext>
                </a:extLst>
              </a:tr>
              <a:tr h="0">
                <a:tc>
                  <a:txBody>
                    <a:bodyPr/>
                    <a:lstStyle/>
                    <a:p>
                      <a:pPr latinLnBrk="1"/>
                      <a:r>
                        <a:rPr lang="ko-KR" altLang="en-US" sz="800" dirty="0">
                          <a:latin typeface="+mn-ea"/>
                          <a:ea typeface="+mn-ea"/>
                        </a:rPr>
                        <a:t>적격심사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아닌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02242"/>
                  </a:ext>
                </a:extLst>
              </a:tr>
              <a:tr h="0">
                <a:tc>
                  <a:txBody>
                    <a:bodyPr/>
                    <a:lstStyle/>
                    <a:p>
                      <a:pPr latinLnBrk="1"/>
                      <a:r>
                        <a:rPr lang="ko-KR" altLang="en-US" sz="800" dirty="0">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bidClrsYmd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입찰서제출마감일시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아닌 경우 보여줌</a:t>
                      </a:r>
                      <a:endParaRPr lang="en-US" altLang="ko-KR" sz="800" dirty="0">
                        <a:latin typeface="+mn-ea"/>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공개 수의협상 건인 경우 견적서제출마감일시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627943"/>
                  </a:ext>
                </a:extLst>
              </a:tr>
              <a:tr h="0">
                <a:tc>
                  <a:txBody>
                    <a:bodyPr/>
                    <a:lstStyle/>
                    <a:p>
                      <a:pPr latinLnBrk="1"/>
                      <a:r>
                        <a:rPr lang="ko-KR" altLang="en-US" sz="800" dirty="0">
                          <a:latin typeface="+mn-ea"/>
                          <a:ea typeface="+mn-ea"/>
                        </a:rPr>
                        <a:t>등록심사시점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tndrSbmsnPntmCd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등록심사시점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아닌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8532535"/>
                  </a:ext>
                </a:extLst>
              </a:tr>
              <a:tr h="0">
                <a:tc>
                  <a:txBody>
                    <a:bodyPr/>
                    <a:lstStyle/>
                    <a:p>
                      <a:pPr latinLnBrk="1"/>
                      <a:r>
                        <a:rPr lang="ko-KR" altLang="en-US" sz="800" dirty="0">
                          <a:latin typeface="+mn-ea"/>
                          <a:ea typeface="+mn-ea"/>
                        </a:rPr>
                        <a:t>기초예비가격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기초예비가격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1529287"/>
                  </a:ext>
                </a:extLst>
              </a:tr>
              <a:tr h="0">
                <a:tc>
                  <a:txBody>
                    <a:bodyPr/>
                    <a:lstStyle/>
                    <a:p>
                      <a:pPr latinLnBrk="1"/>
                      <a:r>
                        <a:rPr lang="ko-KR" altLang="en-US" sz="800" dirty="0" err="1">
                          <a:latin typeface="+mn-ea"/>
                          <a:ea typeface="+mn-ea"/>
                        </a:rPr>
                        <a:t>사정률</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uplmtLlmtRt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사정률</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1603112"/>
                  </a:ext>
                </a:extLst>
              </a:tr>
              <a:tr h="0">
                <a:tc>
                  <a:txBody>
                    <a:bodyPr/>
                    <a:lstStyle/>
                    <a:p>
                      <a:pPr latinLnBrk="1"/>
                      <a:r>
                        <a:rPr lang="ko-KR" altLang="en-US" sz="800" dirty="0">
                          <a:latin typeface="+mn-ea"/>
                          <a:ea typeface="+mn-ea"/>
                        </a:rPr>
                        <a:t>낙찰하한율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scsbdLlmtRt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낙찰하한율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아닌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8888914"/>
                  </a:ext>
                </a:extLst>
              </a:tr>
              <a:tr h="0">
                <a:tc>
                  <a:txBody>
                    <a:bodyPr/>
                    <a:lstStyle/>
                    <a:p>
                      <a:pPr latinLnBrk="1"/>
                      <a:r>
                        <a:rPr lang="ko-KR" altLang="en-US" sz="800" dirty="0">
                          <a:latin typeface="+mn-ea"/>
                          <a:ea typeface="+mn-ea"/>
                        </a:rPr>
                        <a:t>공사개요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cstrnOtln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공사개요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아니고 업무구분이 공사인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56210795"/>
                  </a:ext>
                </a:extLst>
              </a:tr>
            </a:tbl>
          </a:graphicData>
        </a:graphic>
      </p:graphicFrame>
      <p:sp>
        <p:nvSpPr>
          <p:cNvPr id="2" name="TextBox 1">
            <a:extLst>
              <a:ext uri="{FF2B5EF4-FFF2-40B4-BE49-F238E27FC236}">
                <a16:creationId xmlns:a16="http://schemas.microsoft.com/office/drawing/2014/main" id="{358F9E66-1FEC-393F-6AF3-28A6DEC3916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(1/5)</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522ACAC6-ADFA-65E6-4604-3C45665B6F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27601324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156</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008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위치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cstrnPstnNm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위치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아니고 업무구분이 공사인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79466785"/>
                  </a:ext>
                </a:extLst>
              </a:tr>
              <a:tr h="0">
                <a:tc>
                  <a:txBody>
                    <a:bodyPr/>
                    <a:lstStyle/>
                    <a:p>
                      <a:pPr latinLnBrk="1"/>
                      <a:r>
                        <a:rPr lang="ko-KR" altLang="en-US" sz="800" dirty="0">
                          <a:latin typeface="+mn-ea"/>
                          <a:ea typeface="+mn-ea"/>
                        </a:rPr>
                        <a:t>공사기간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cstrnPrdCn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공사기간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아니고 업무구분이 공사인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99644314"/>
                  </a:ext>
                </a:extLst>
              </a:tr>
              <a:tr h="0">
                <a:tc>
                  <a:txBody>
                    <a:bodyPr/>
                    <a:lstStyle/>
                    <a:p>
                      <a:pPr latinLnBrk="1"/>
                      <a:r>
                        <a:rPr lang="ko-KR" altLang="en-US" sz="800" dirty="0">
                          <a:latin typeface="+mn-ea"/>
                          <a:ea typeface="+mn-ea"/>
                        </a:rPr>
                        <a:t>예정가격 순공사원가의 </a:t>
                      </a:r>
                      <a:r>
                        <a:rPr lang="en-US" altLang="ko-KR" sz="800" dirty="0">
                          <a:latin typeface="+mn-ea"/>
                          <a:ea typeface="+mn-ea"/>
                        </a:rPr>
                        <a:t>100</a:t>
                      </a:r>
                      <a:r>
                        <a:rPr lang="ko-KR" altLang="en-US" sz="800" dirty="0">
                          <a:latin typeface="+mn-ea"/>
                          <a:ea typeface="+mn-ea"/>
                        </a:rPr>
                        <a:t>분의 </a:t>
                      </a:r>
                      <a:r>
                        <a:rPr lang="en-US" altLang="ko-KR" sz="800" dirty="0">
                          <a:latin typeface="+mn-ea"/>
                          <a:ea typeface="+mn-ea"/>
                        </a:rPr>
                        <a:t>98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cstrnPrmco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순공사원가의 </a:t>
                      </a:r>
                      <a:r>
                        <a:rPr lang="en-US" altLang="ko-KR" sz="800" dirty="0">
                          <a:latin typeface="+mn-ea"/>
                          <a:ea typeface="+mn-ea"/>
                        </a:rPr>
                        <a:t>100</a:t>
                      </a:r>
                      <a:r>
                        <a:rPr lang="ko-KR" altLang="en-US" sz="800" dirty="0">
                          <a:latin typeface="+mn-ea"/>
                          <a:ea typeface="+mn-ea"/>
                        </a:rPr>
                        <a:t>분의 </a:t>
                      </a:r>
                      <a:r>
                        <a:rPr lang="en-US" altLang="ko-KR" sz="800" dirty="0">
                          <a:latin typeface="+mn-ea"/>
                          <a:ea typeface="+mn-ea"/>
                        </a:rPr>
                        <a:t>98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비공개 수의협상 건이 아니고 업무구분이 공사인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6606004"/>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공개수의협상인 경우 </a:t>
                      </a:r>
                      <a:r>
                        <a:rPr lang="ko-KR" altLang="en-US" sz="800" dirty="0" err="1">
                          <a:latin typeface="+mn-ea"/>
                          <a:ea typeface="+mn-ea"/>
                        </a:rPr>
                        <a:t>기초예가적용대상이거나</a:t>
                      </a:r>
                      <a:r>
                        <a:rPr lang="ko-KR" altLang="en-US" sz="800" dirty="0">
                          <a:latin typeface="+mn-ea"/>
                          <a:ea typeface="+mn-ea"/>
                        </a:rPr>
                        <a:t> 낙찰까지 완료된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10925088"/>
                  </a:ext>
                </a:extLst>
              </a:tr>
              <a:tr h="0">
                <a:tc>
                  <a:txBody>
                    <a:bodyPr/>
                    <a:lstStyle/>
                    <a:p>
                      <a:pPr latinLnBrk="1"/>
                      <a:r>
                        <a:rPr lang="ko-KR" altLang="en-US" sz="800" dirty="0">
                          <a:latin typeface="+mn-ea"/>
                          <a:ea typeface="+mn-ea"/>
                        </a:rPr>
                        <a:t>가격평가비중</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prcEvlRlimp</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가격평가비중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경쟁입찰인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2427121"/>
                  </a:ext>
                </a:extLst>
              </a:tr>
              <a:tr h="0">
                <a:tc>
                  <a:txBody>
                    <a:bodyPr/>
                    <a:lstStyle/>
                    <a:p>
                      <a:pPr latinLnBrk="1"/>
                      <a:r>
                        <a:rPr lang="ko-KR" altLang="en-US" sz="800" dirty="0">
                          <a:latin typeface="+mn-ea"/>
                          <a:ea typeface="+mn-ea"/>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경쟁입찰인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5575642"/>
                  </a:ext>
                </a:extLst>
              </a:tr>
              <a:tr h="0">
                <a:tc>
                  <a:txBody>
                    <a:bodyPr/>
                    <a:lstStyle/>
                    <a:p>
                      <a:pPr latinLnBrk="1"/>
                      <a:r>
                        <a:rPr lang="ko-KR" altLang="en-US" sz="800" dirty="0">
                          <a:latin typeface="+mn-ea"/>
                          <a:ea typeface="+mn-ea"/>
                        </a:rPr>
                        <a:t>협상형태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ngtnShcd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협상형태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수의협상인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1980886"/>
                  </a:ext>
                </a:extLst>
              </a:tr>
              <a:tr h="0">
                <a:tc>
                  <a:txBody>
                    <a:bodyPr/>
                    <a:lstStyle/>
                    <a:p>
                      <a:pPr latinLnBrk="1"/>
                      <a:r>
                        <a:rPr lang="ko-KR" altLang="en-US" sz="800" dirty="0">
                          <a:latin typeface="+mn-ea"/>
                          <a:ea typeface="+mn-ea"/>
                        </a:rPr>
                        <a:t>협상장소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ngtnPlcNm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협상장소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수의협상인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11208843"/>
                  </a:ext>
                </a:extLst>
              </a:tr>
              <a:tr h="0">
                <a:tc>
                  <a:txBody>
                    <a:bodyPr/>
                    <a:lstStyle/>
                    <a:p>
                      <a:pPr latinLnBrk="1"/>
                      <a:r>
                        <a:rPr lang="ko-KR" altLang="en-US" sz="800" dirty="0">
                          <a:latin typeface="+mn-ea"/>
                          <a:ea typeface="+mn-ea"/>
                        </a:rPr>
                        <a:t>협상결과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ngtnRsltCd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협상결과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수의협상인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0078463"/>
                  </a:ext>
                </a:extLst>
              </a:tr>
              <a:tr h="0">
                <a:tc>
                  <a:txBody>
                    <a:bodyPr/>
                    <a:lstStyle/>
                    <a:p>
                      <a:pPr latinLnBrk="1"/>
                      <a:r>
                        <a:rPr lang="ko-KR" altLang="en-US" sz="800" dirty="0">
                          <a:latin typeface="+mn-ea"/>
                          <a:ea typeface="+mn-ea"/>
                        </a:rPr>
                        <a:t>재입찰대상구분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rebidYn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b="0" dirty="0">
                          <a:solidFill>
                            <a:schemeClr val="tx1"/>
                          </a:solidFill>
                        </a:rPr>
                        <a:t>재입찰</a:t>
                      </a:r>
                      <a:r>
                        <a:rPr lang="en-US" altLang="ko-KR" sz="800" b="0" dirty="0">
                          <a:solidFill>
                            <a:schemeClr val="tx1"/>
                          </a:solidFill>
                        </a:rPr>
                        <a:t> </a:t>
                      </a:r>
                      <a:r>
                        <a:rPr lang="ko-KR" altLang="en-US" sz="800" b="0" dirty="0">
                          <a:solidFill>
                            <a:schemeClr val="tx1"/>
                          </a:solidFill>
                        </a:rPr>
                        <a:t>대상으로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재입찰인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88189093"/>
                  </a:ext>
                </a:extLst>
              </a:tr>
              <a:tr h="0">
                <a:tc>
                  <a:txBody>
                    <a:bodyPr/>
                    <a:lstStyle/>
                    <a:p>
                      <a:pPr latinLnBrk="1"/>
                      <a:r>
                        <a:rPr lang="ko-KR" altLang="en-US" sz="800" dirty="0">
                          <a:latin typeface="+mn-ea"/>
                          <a:ea typeface="+mn-ea"/>
                        </a:rPr>
                        <a:t>재입찰 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bidCycl</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재입찰 차수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재입찰인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1911956"/>
                  </a:ext>
                </a:extLst>
              </a:tr>
              <a:tr h="0">
                <a:tc>
                  <a:txBody>
                    <a:bodyPr/>
                    <a:lstStyle/>
                    <a:p>
                      <a:pPr latinLnBrk="1"/>
                      <a:r>
                        <a:rPr lang="ko-KR" altLang="en-US" sz="800" dirty="0">
                          <a:latin typeface="+mn-ea"/>
                          <a:ea typeface="+mn-ea"/>
                        </a:rPr>
                        <a:t>유찰사유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flbdRsn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유찰사유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유찰인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7426943"/>
                  </a:ext>
                </a:extLst>
              </a:tr>
            </a:tbl>
          </a:graphicData>
        </a:graphic>
      </p:graphicFrame>
      <p:sp>
        <p:nvSpPr>
          <p:cNvPr id="2" name="TextBox 1">
            <a:extLst>
              <a:ext uri="{FF2B5EF4-FFF2-40B4-BE49-F238E27FC236}">
                <a16:creationId xmlns:a16="http://schemas.microsoft.com/office/drawing/2014/main" id="{5CCF0A13-2676-0A6F-4581-806ED00DD384}"/>
              </a:ext>
            </a:extLst>
          </p:cNvPr>
          <p:cNvSpPr txBox="1"/>
          <p:nvPr/>
        </p:nvSpPr>
        <p:spPr>
          <a:xfrm>
            <a:off x="460676" y="4166607"/>
            <a:ext cx="222072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품목정보</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dlt_itemInfo</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163DA194-A824-E2D7-5460-745A54572D8A}"/>
              </a:ext>
            </a:extLst>
          </p:cNvPr>
          <p:cNvGraphicFramePr>
            <a:graphicFrameLocks noGrp="1"/>
          </p:cNvGraphicFramePr>
          <p:nvPr/>
        </p:nvGraphicFramePr>
        <p:xfrm>
          <a:off x="455558" y="4450361"/>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invtNo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2688830"/>
                  </a:ext>
                </a:extLst>
              </a:tr>
              <a:tr h="0">
                <a:tc>
                  <a:txBody>
                    <a:bodyPr/>
                    <a:lstStyle/>
                    <a:p>
                      <a:pPr latinLnBrk="1"/>
                      <a:r>
                        <a:rPr lang="ko-KR" altLang="en-US" sz="800" dirty="0">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itemNm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품명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3431568"/>
                  </a:ext>
                </a:extLst>
              </a:tr>
              <a:tr h="0">
                <a:tc>
                  <a:txBody>
                    <a:bodyPr/>
                    <a:lstStyle/>
                    <a:p>
                      <a:pPr latinLnBrk="1"/>
                      <a:r>
                        <a:rPr lang="ko-KR" altLang="en-US" sz="800" dirty="0">
                          <a:latin typeface="+mn-ea"/>
                          <a:ea typeface="+mn-ea"/>
                        </a:rPr>
                        <a:t>규격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spcfctNm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규격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1882365"/>
                  </a:ext>
                </a:extLst>
              </a:tr>
              <a:tr h="0">
                <a:tc>
                  <a:txBody>
                    <a:bodyPr/>
                    <a:lstStyle/>
                    <a:p>
                      <a:pPr latinLnBrk="1"/>
                      <a:r>
                        <a:rPr lang="ko-KR" altLang="en-US" sz="800" dirty="0">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unitNm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3322843"/>
                  </a:ext>
                </a:extLst>
              </a:tr>
              <a:tr h="0">
                <a:tc>
                  <a:txBody>
                    <a:bodyPr/>
                    <a:lstStyle/>
                    <a:p>
                      <a:pPr latinLnBrk="1"/>
                      <a:r>
                        <a:rPr lang="ko-KR" altLang="en-US" sz="800" dirty="0">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bidItemCnt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2101104"/>
                  </a:ext>
                </a:extLst>
              </a:tr>
              <a:tr h="0">
                <a:tc>
                  <a:txBody>
                    <a:bodyPr/>
                    <a:lstStyle/>
                    <a:p>
                      <a:pPr latinLnBrk="1"/>
                      <a:r>
                        <a:rPr lang="ko-KR" altLang="en-US" sz="800" dirty="0">
                          <a:latin typeface="+mn-ea"/>
                          <a:ea typeface="+mn-ea"/>
                        </a:rPr>
                        <a:t>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7812960"/>
                  </a:ext>
                </a:extLst>
              </a:tr>
              <a:tr h="0">
                <a:tc>
                  <a:txBody>
                    <a:bodyPr/>
                    <a:lstStyle/>
                    <a:p>
                      <a:pPr latinLnBrk="1"/>
                      <a:r>
                        <a:rPr lang="ko-KR" altLang="en-US" sz="800" dirty="0">
                          <a:latin typeface="+mn-ea"/>
                          <a:ea typeface="+mn-ea"/>
                        </a:rPr>
                        <a:t>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3709498"/>
                  </a:ext>
                </a:extLst>
              </a:tr>
            </a:tbl>
          </a:graphicData>
        </a:graphic>
      </p:graphicFrame>
      <p:sp>
        <p:nvSpPr>
          <p:cNvPr id="6" name="TextBox 5">
            <a:extLst>
              <a:ext uri="{FF2B5EF4-FFF2-40B4-BE49-F238E27FC236}">
                <a16:creationId xmlns:a16="http://schemas.microsoft.com/office/drawing/2014/main" id="{9008A869-65B1-D766-6A4C-2B097D0B9C3C}"/>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(2/5)</a:t>
            </a:r>
            <a:endParaRPr lang="ko-KR" altLang="en-US" sz="1000" b="1" dirty="0">
              <a:solidFill>
                <a:prstClr val="black"/>
              </a:solidFill>
            </a:endParaRPr>
          </a:p>
        </p:txBody>
      </p:sp>
      <p:sp>
        <p:nvSpPr>
          <p:cNvPr id="7" name="Text Box 73">
            <a:extLst>
              <a:ext uri="{FF2B5EF4-FFF2-40B4-BE49-F238E27FC236}">
                <a16:creationId xmlns:a16="http://schemas.microsoft.com/office/drawing/2014/main" id="{1FC662B0-0061-209B-21A5-5D4F432CA6E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88650150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157</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453163"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err="1">
                <a:solidFill>
                  <a:prstClr val="black"/>
                </a:solidFill>
              </a:rPr>
              <a:t>입찰결과상세</a:t>
            </a:r>
            <a:r>
              <a:rPr lang="en-US" altLang="ko-KR" sz="900" b="1" dirty="0">
                <a:solidFill>
                  <a:prstClr val="black"/>
                </a:solidFill>
              </a:rPr>
              <a:t> </a:t>
            </a:r>
            <a:r>
              <a:rPr lang="ko-KR" altLang="en-US" sz="900" b="1" dirty="0">
                <a:solidFill>
                  <a:prstClr val="black"/>
                </a:solidFill>
              </a:rPr>
              <a:t>검색조건 </a:t>
            </a:r>
            <a:r>
              <a:rPr lang="en-US" altLang="ko-KR" sz="900" b="1" dirty="0">
                <a:solidFill>
                  <a:prstClr val="black"/>
                </a:solidFill>
              </a:rPr>
              <a:t>(</a:t>
            </a:r>
            <a:r>
              <a:rPr lang="en-US" altLang="ko-KR" sz="900" b="1" dirty="0" err="1">
                <a:solidFill>
                  <a:prstClr val="black"/>
                </a:solidFill>
              </a:rPr>
              <a:t>dmt_pbancInfo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검색업체명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입력항목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출력물구분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prnotSe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보고서 종류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입찰비교표</a:t>
                      </a:r>
                      <a:r>
                        <a:rPr lang="en-US" altLang="ko-KR" sz="800" dirty="0">
                          <a:latin typeface="+mn-ea"/>
                          <a:ea typeface="+mn-ea"/>
                        </a:rPr>
                        <a:t>, </a:t>
                      </a:r>
                      <a:r>
                        <a:rPr lang="ko-KR" altLang="en-US" sz="800" dirty="0">
                          <a:latin typeface="+mn-ea"/>
                          <a:ea typeface="+mn-ea"/>
                        </a:rPr>
                        <a:t>입찰결과보고 세팅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8888914"/>
                  </a:ext>
                </a:extLst>
              </a:tr>
            </a:tbl>
          </a:graphicData>
        </a:graphic>
      </p:graphicFrame>
      <p:sp>
        <p:nvSpPr>
          <p:cNvPr id="5" name="TextBox 4">
            <a:extLst>
              <a:ext uri="{FF2B5EF4-FFF2-40B4-BE49-F238E27FC236}">
                <a16:creationId xmlns:a16="http://schemas.microsoft.com/office/drawing/2014/main" id="{FB81A89C-B815-F9F2-666B-6B03ACC098A5}"/>
              </a:ext>
            </a:extLst>
          </p:cNvPr>
          <p:cNvSpPr txBox="1"/>
          <p:nvPr/>
        </p:nvSpPr>
        <p:spPr>
          <a:xfrm>
            <a:off x="460676" y="1747257"/>
            <a:ext cx="2130959"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입찰결과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dlt_bidRslt</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DE613704-52D5-13E9-BC67-0B3AED1171AB}"/>
              </a:ext>
            </a:extLst>
          </p:cNvPr>
          <p:cNvGraphicFramePr>
            <a:graphicFrameLocks noGrp="1"/>
          </p:cNvGraphicFramePr>
          <p:nvPr/>
        </p:nvGraphicFramePr>
        <p:xfrm>
          <a:off x="455558" y="2031011"/>
          <a:ext cx="8994883" cy="42220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bidCycl</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차수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150389"/>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50188953"/>
                  </a:ext>
                </a:extLst>
              </a:tr>
              <a:tr h="0">
                <a:tc>
                  <a:txBody>
                    <a:bodyPr/>
                    <a:lstStyle/>
                    <a:p>
                      <a:pPr latinLnBrk="1"/>
                      <a:r>
                        <a:rPr lang="ko-KR" altLang="en-US" sz="800" dirty="0">
                          <a:latin typeface="+mn-ea"/>
                          <a:ea typeface="+mn-ea"/>
                        </a:rPr>
                        <a:t>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brno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사업자등록번호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33505811"/>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2688830"/>
                  </a:ext>
                </a:extLst>
              </a:tr>
              <a:tr h="0">
                <a:tc>
                  <a:txBody>
                    <a:bodyPr/>
                    <a:lstStyle/>
                    <a:p>
                      <a:pPr latinLnBrk="1"/>
                      <a:r>
                        <a:rPr lang="ko-KR" altLang="en-US" sz="800" dirty="0">
                          <a:latin typeface="+mn-ea"/>
                          <a:ea typeface="+mn-ea"/>
                        </a:rPr>
                        <a:t>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3431568"/>
                  </a:ext>
                </a:extLst>
              </a:tr>
              <a:tr h="0">
                <a:tc>
                  <a:txBody>
                    <a:bodyPr/>
                    <a:lstStyle/>
                    <a:p>
                      <a:pPr latinLnBrk="1"/>
                      <a:r>
                        <a:rPr lang="ko-KR" altLang="en-US" sz="800" dirty="0">
                          <a:latin typeface="+mn-ea"/>
                          <a:ea typeface="+mn-ea"/>
                        </a:rPr>
                        <a:t>기술점수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협상에 의한 계약</a:t>
                      </a:r>
                      <a:r>
                        <a:rPr lang="en-US" altLang="ko-KR" sz="800" dirty="0">
                          <a:latin typeface="+mn-ea"/>
                          <a:ea typeface="+mn-ea"/>
                        </a:rPr>
                        <a:t>, 2</a:t>
                      </a:r>
                      <a:r>
                        <a:rPr lang="ko-KR" altLang="en-US" sz="800" dirty="0">
                          <a:latin typeface="+mn-ea"/>
                          <a:ea typeface="+mn-ea"/>
                        </a:rPr>
                        <a:t>단계경쟁입찰</a:t>
                      </a:r>
                      <a:r>
                        <a:rPr lang="en-US" altLang="ko-KR" sz="800" dirty="0">
                          <a:latin typeface="+mn-ea"/>
                          <a:ea typeface="+mn-ea"/>
                        </a:rPr>
                        <a:t>, </a:t>
                      </a:r>
                      <a:r>
                        <a:rPr lang="ko-KR" altLang="en-US" sz="800" dirty="0">
                          <a:latin typeface="+mn-ea"/>
                          <a:ea typeface="+mn-ea"/>
                        </a:rPr>
                        <a:t>종합낙찰제인 경우 항목 보여줌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1882365"/>
                  </a:ext>
                </a:extLst>
              </a:tr>
              <a:tr h="0">
                <a:tc>
                  <a:txBody>
                    <a:bodyPr/>
                    <a:lstStyle/>
                    <a:p>
                      <a:pPr latinLnBrk="1"/>
                      <a:r>
                        <a:rPr lang="ko-KR" altLang="en-US" sz="800" dirty="0">
                          <a:latin typeface="+mn-ea"/>
                          <a:ea typeface="+mn-ea"/>
                        </a:rPr>
                        <a:t>투찰금액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투찰금액</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단가제인 경우 </a:t>
                      </a:r>
                      <a:r>
                        <a:rPr lang="ko-KR" altLang="en-US" sz="800" dirty="0" err="1">
                          <a:latin typeface="+mn-ea"/>
                          <a:ea typeface="+mn-ea"/>
                        </a:rPr>
                        <a:t>투찰단가로</a:t>
                      </a:r>
                      <a:r>
                        <a:rPr lang="ko-KR" altLang="en-US" sz="800" dirty="0">
                          <a:latin typeface="+mn-ea"/>
                          <a:ea typeface="+mn-ea"/>
                        </a:rPr>
                        <a:t> 보여줌</a:t>
                      </a:r>
                      <a:endParaRPr lang="en-US" altLang="ko-KR" sz="800" dirty="0">
                        <a:latin typeface="+mn-ea"/>
                        <a:ea typeface="+mn-ea"/>
                      </a:endParaRPr>
                    </a:p>
                    <a:p>
                      <a:pPr algn="l" latinLnBrk="1"/>
                      <a:r>
                        <a:rPr lang="ko-KR" altLang="en-US" sz="800" dirty="0">
                          <a:latin typeface="+mn-ea"/>
                          <a:ea typeface="+mn-ea"/>
                        </a:rPr>
                        <a:t>수의계약인 경우 견적금액으로 보여줌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3322843"/>
                  </a:ext>
                </a:extLst>
              </a:tr>
              <a:tr h="0">
                <a:tc>
                  <a:txBody>
                    <a:bodyPr/>
                    <a:lstStyle/>
                    <a:p>
                      <a:pPr latinLnBrk="1"/>
                      <a:r>
                        <a:rPr lang="ko-KR" altLang="en-US" sz="800" dirty="0" err="1">
                          <a:latin typeface="+mn-ea"/>
                          <a:ea typeface="+mn-ea"/>
                        </a:rPr>
                        <a:t>투찰수량</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투찰수량</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경쟁입찰이고 </a:t>
                      </a:r>
                      <a:r>
                        <a:rPr lang="ko-KR" altLang="en-US" sz="800" dirty="0" err="1">
                          <a:latin typeface="+mn-ea"/>
                          <a:ea typeface="+mn-ea"/>
                        </a:rPr>
                        <a:t>희망수량단가제인</a:t>
                      </a:r>
                      <a:r>
                        <a:rPr lang="ko-KR" altLang="en-US" sz="800" dirty="0">
                          <a:latin typeface="+mn-ea"/>
                          <a:ea typeface="+mn-ea"/>
                        </a:rPr>
                        <a:t>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2101104"/>
                  </a:ext>
                </a:extLst>
              </a:tr>
              <a:tr h="0">
                <a:tc>
                  <a:txBody>
                    <a:bodyPr/>
                    <a:lstStyle/>
                    <a:p>
                      <a:pPr latinLnBrk="1"/>
                      <a:r>
                        <a:rPr lang="ko-KR" altLang="en-US" sz="800" dirty="0">
                          <a:latin typeface="+mn-ea"/>
                          <a:ea typeface="+mn-ea"/>
                        </a:rPr>
                        <a:t>낙찰수량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scsbdQty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낙찰수량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경쟁입찰이고 </a:t>
                      </a:r>
                      <a:r>
                        <a:rPr lang="ko-KR" altLang="en-US" sz="800" dirty="0" err="1">
                          <a:latin typeface="+mn-ea"/>
                          <a:ea typeface="+mn-ea"/>
                        </a:rPr>
                        <a:t>희망수량단가제인</a:t>
                      </a:r>
                      <a:r>
                        <a:rPr lang="ko-KR" altLang="en-US" sz="800" dirty="0">
                          <a:latin typeface="+mn-ea"/>
                          <a:ea typeface="+mn-ea"/>
                        </a:rPr>
                        <a:t>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7812960"/>
                  </a:ext>
                </a:extLst>
              </a:tr>
              <a:tr h="0">
                <a:tc>
                  <a:txBody>
                    <a:bodyPr/>
                    <a:lstStyle/>
                    <a:p>
                      <a:pPr latinLnBrk="1"/>
                      <a:r>
                        <a:rPr lang="ko-KR" altLang="en-US" sz="800" dirty="0" err="1">
                          <a:latin typeface="+mn-ea"/>
                          <a:ea typeface="+mn-ea"/>
                        </a:rPr>
                        <a:t>투찰률</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scbrt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투찰률</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협상에 의한 계약</a:t>
                      </a:r>
                      <a:r>
                        <a:rPr lang="en-US" altLang="ko-KR" sz="800" dirty="0">
                          <a:latin typeface="+mn-ea"/>
                          <a:ea typeface="+mn-ea"/>
                        </a:rPr>
                        <a:t>, </a:t>
                      </a:r>
                      <a:r>
                        <a:rPr lang="ko-KR" altLang="en-US" sz="800" dirty="0">
                          <a:latin typeface="+mn-ea"/>
                          <a:ea typeface="+mn-ea"/>
                        </a:rPr>
                        <a:t>종합낙찰제가 아닌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3709498"/>
                  </a:ext>
                </a:extLst>
              </a:tr>
              <a:tr h="0">
                <a:tc>
                  <a:txBody>
                    <a:bodyPr/>
                    <a:lstStyle/>
                    <a:p>
                      <a:pPr latinLnBrk="1"/>
                      <a:r>
                        <a:rPr lang="en-US" altLang="ko-KR" sz="800" dirty="0">
                          <a:latin typeface="+mn-ea"/>
                          <a:ea typeface="+mn-ea"/>
                        </a:rPr>
                        <a:t>(</a:t>
                      </a:r>
                      <a:r>
                        <a:rPr lang="ko-KR" altLang="en-US" sz="800" dirty="0">
                          <a:latin typeface="+mn-ea"/>
                          <a:ea typeface="+mn-ea"/>
                        </a:rPr>
                        <a:t>입찰가격</a:t>
                      </a:r>
                      <a:r>
                        <a:rPr lang="en-US" altLang="ko-KR" sz="800" dirty="0">
                          <a:latin typeface="+mn-ea"/>
                          <a:ea typeface="+mn-ea"/>
                        </a:rPr>
                        <a:t>-A)/(</a:t>
                      </a:r>
                      <a:r>
                        <a:rPr lang="ko-KR" altLang="en-US" sz="800" dirty="0">
                          <a:latin typeface="+mn-ea"/>
                          <a:ea typeface="+mn-ea"/>
                        </a:rPr>
                        <a:t>예정가격</a:t>
                      </a:r>
                      <a:r>
                        <a:rPr lang="en-US" altLang="ko-KR" sz="800" dirty="0">
                          <a:latin typeface="+mn-ea"/>
                          <a:ea typeface="+mn-ea"/>
                        </a:rPr>
                        <a:t>-A)*100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vlAplcnRt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A</a:t>
                      </a:r>
                      <a:r>
                        <a:rPr lang="ko-KR" altLang="en-US" sz="800" dirty="0">
                          <a:latin typeface="+mn-ea"/>
                          <a:ea typeface="+mn-ea"/>
                        </a:rPr>
                        <a:t>값 </a:t>
                      </a:r>
                      <a:r>
                        <a:rPr lang="ko-KR" altLang="en-US" sz="800" dirty="0" err="1">
                          <a:latin typeface="+mn-ea"/>
                          <a:ea typeface="+mn-ea"/>
                        </a:rPr>
                        <a:t>적용율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공사이고 적격심사제인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33819588"/>
                  </a:ext>
                </a:extLst>
              </a:tr>
              <a:tr h="0">
                <a:tc>
                  <a:txBody>
                    <a:bodyPr/>
                    <a:lstStyle/>
                    <a:p>
                      <a:pPr latinLnBrk="1"/>
                      <a:r>
                        <a:rPr lang="ko-KR" altLang="en-US" sz="800" dirty="0" err="1">
                          <a:latin typeface="+mn-ea"/>
                          <a:ea typeface="+mn-ea"/>
                        </a:rPr>
                        <a:t>투찰금액</a:t>
                      </a:r>
                      <a:r>
                        <a:rPr lang="en-US" altLang="ko-KR" sz="800" dirty="0">
                          <a:latin typeface="+mn-ea"/>
                          <a:ea typeface="+mn-ea"/>
                        </a:rPr>
                        <a:t>/</a:t>
                      </a:r>
                      <a:r>
                        <a:rPr lang="ko-KR" altLang="en-US" sz="800" dirty="0">
                          <a:latin typeface="+mn-ea"/>
                          <a:ea typeface="+mn-ea"/>
                        </a:rPr>
                        <a:t>기술점수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bdngAmtRt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투찰금액</a:t>
                      </a:r>
                      <a:r>
                        <a:rPr lang="en-US" altLang="ko-KR" sz="800" dirty="0">
                          <a:latin typeface="+mn-ea"/>
                          <a:ea typeface="+mn-ea"/>
                        </a:rPr>
                        <a:t>/</a:t>
                      </a:r>
                      <a:r>
                        <a:rPr lang="ko-KR" altLang="en-US" sz="800" dirty="0">
                          <a:latin typeface="+mn-ea"/>
                          <a:ea typeface="+mn-ea"/>
                        </a:rPr>
                        <a:t>기술점수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종합낙찰제인 경우 항목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1163029"/>
                  </a:ext>
                </a:extLst>
              </a:tr>
              <a:tr h="0">
                <a:tc>
                  <a:txBody>
                    <a:bodyPr/>
                    <a:lstStyle/>
                    <a:p>
                      <a:pPr latinLnBrk="1"/>
                      <a:r>
                        <a:rPr lang="ko-KR" altLang="en-US" sz="800" dirty="0">
                          <a:latin typeface="+mn-ea"/>
                          <a:ea typeface="+mn-ea"/>
                        </a:rPr>
                        <a:t>가격점수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협상에 의한 계약인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4111726"/>
                  </a:ext>
                </a:extLst>
              </a:tr>
              <a:tr h="0">
                <a:tc>
                  <a:txBody>
                    <a:bodyPr/>
                    <a:lstStyle/>
                    <a:p>
                      <a:pPr latinLnBrk="1"/>
                      <a:r>
                        <a:rPr lang="ko-KR" altLang="en-US" sz="800" dirty="0">
                          <a:latin typeface="+mn-ea"/>
                          <a:ea typeface="+mn-ea"/>
                        </a:rPr>
                        <a:t>중소기업가점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mdEvlScr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중소기업가점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협상에 의한 계약인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6850944"/>
                  </a:ext>
                </a:extLst>
              </a:tr>
              <a:tr h="0">
                <a:tc>
                  <a:txBody>
                    <a:bodyPr/>
                    <a:lstStyle/>
                    <a:p>
                      <a:pPr latinLnBrk="1"/>
                      <a:r>
                        <a:rPr lang="ko-KR" altLang="en-US" sz="800" dirty="0">
                          <a:latin typeface="+mn-ea"/>
                          <a:ea typeface="+mn-ea"/>
                        </a:rPr>
                        <a:t>합계점수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합계점수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협상에 의한 계약인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9671561"/>
                  </a:ext>
                </a:extLst>
              </a:tr>
              <a:tr h="0">
                <a:tc>
                  <a:txBody>
                    <a:bodyPr/>
                    <a:lstStyle/>
                    <a:p>
                      <a:pPr latinLnBrk="1"/>
                      <a:r>
                        <a:rPr lang="ko-KR" altLang="en-US" sz="800" dirty="0">
                          <a:latin typeface="+mn-ea"/>
                          <a:ea typeface="+mn-ea"/>
                        </a:rPr>
                        <a:t>입찰금액평가점수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bidAmtEvlScr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입찰금액평가점수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공사이고 적격심사제인 경우 보여줌 </a:t>
                      </a:r>
                      <a:r>
                        <a:rPr lang="en-US" altLang="ko-KR" sz="800" dirty="0">
                          <a:latin typeface="+mn-ea"/>
                          <a:ea typeface="+mn-ea"/>
                        </a:rPr>
                        <a:t>(</a:t>
                      </a:r>
                      <a:r>
                        <a:rPr lang="ko-KR" altLang="en-US" sz="800" dirty="0">
                          <a:latin typeface="+mn-ea"/>
                          <a:ea typeface="+mn-ea"/>
                        </a:rPr>
                        <a:t>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 </a:t>
                      </a:r>
                      <a:r>
                        <a:rPr lang="ko-KR" altLang="en-US" sz="800" dirty="0">
                          <a:latin typeface="+mn-ea"/>
                          <a:ea typeface="+mn-ea"/>
                        </a:rPr>
                        <a:t>제외</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49739686"/>
                  </a:ext>
                </a:extLst>
              </a:tr>
            </a:tbl>
          </a:graphicData>
        </a:graphic>
      </p:graphicFrame>
      <p:sp>
        <p:nvSpPr>
          <p:cNvPr id="2" name="TextBox 1">
            <a:extLst>
              <a:ext uri="{FF2B5EF4-FFF2-40B4-BE49-F238E27FC236}">
                <a16:creationId xmlns:a16="http://schemas.microsoft.com/office/drawing/2014/main" id="{E218C239-E57A-461A-7BE6-C4D7F219E543}"/>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(3/5)</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27C983D9-0E6B-71D6-FEBF-20FB25E6ED7C}"/>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194998348"/>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158</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4859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공사수행평가점수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공사수행평가점수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공사이고 적격심사제인 경우 보여줌 </a:t>
                      </a:r>
                      <a:r>
                        <a:rPr lang="en-US" altLang="ko-KR" sz="800" dirty="0">
                          <a:latin typeface="+mn-ea"/>
                          <a:ea typeface="+mn-ea"/>
                        </a:rPr>
                        <a:t>(</a:t>
                      </a:r>
                      <a:r>
                        <a:rPr lang="ko-KR" altLang="en-US" sz="800" dirty="0">
                          <a:latin typeface="+mn-ea"/>
                          <a:ea typeface="+mn-ea"/>
                        </a:rPr>
                        <a:t>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 </a:t>
                      </a:r>
                      <a:r>
                        <a:rPr lang="ko-KR" altLang="en-US" sz="800" dirty="0">
                          <a:latin typeface="+mn-ea"/>
                          <a:ea typeface="+mn-ea"/>
                        </a:rPr>
                        <a:t>제외</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1356339"/>
                  </a:ext>
                </a:extLst>
              </a:tr>
              <a:tr h="0">
                <a:tc>
                  <a:txBody>
                    <a:bodyPr/>
                    <a:lstStyle/>
                    <a:p>
                      <a:pPr latinLnBrk="1"/>
                      <a:r>
                        <a:rPr lang="ko-KR" altLang="en-US" sz="800" dirty="0">
                          <a:latin typeface="+mn-ea"/>
                          <a:ea typeface="+mn-ea"/>
                        </a:rPr>
                        <a:t>설계점수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designScr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설계점수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a:t>
                      </a:r>
                      <a:r>
                        <a:rPr lang="ko-KR" altLang="en-US" sz="800" dirty="0">
                          <a:latin typeface="+mn-ea"/>
                          <a:ea typeface="+mn-ea"/>
                        </a:rPr>
                        <a:t>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설계점수</a:t>
                      </a:r>
                      <a:r>
                        <a:rPr lang="en-US" altLang="ko-KR" sz="800" dirty="0">
                          <a:latin typeface="+mn-ea"/>
                          <a:ea typeface="+mn-ea"/>
                        </a:rPr>
                        <a:t>(</a:t>
                      </a:r>
                      <a:r>
                        <a:rPr lang="ko-KR" altLang="en-US" sz="800" dirty="0">
                          <a:latin typeface="+mn-ea"/>
                          <a:ea typeface="+mn-ea"/>
                        </a:rPr>
                        <a:t>가중치반영</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wgvlRfltDesignScr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설계점수</a:t>
                      </a:r>
                      <a:r>
                        <a:rPr lang="en-US" altLang="ko-KR" sz="800" dirty="0">
                          <a:latin typeface="+mn-ea"/>
                          <a:ea typeface="+mn-ea"/>
                        </a:rPr>
                        <a:t>(</a:t>
                      </a:r>
                      <a:r>
                        <a:rPr lang="ko-KR" altLang="en-US" sz="800" dirty="0">
                          <a:latin typeface="+mn-ea"/>
                          <a:ea typeface="+mn-ea"/>
                        </a:rPr>
                        <a:t>가중치반영</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a:t>
                      </a:r>
                      <a:r>
                        <a:rPr lang="ko-KR" altLang="en-US" sz="800" dirty="0">
                          <a:latin typeface="+mn-ea"/>
                          <a:ea typeface="+mn-ea"/>
                        </a:rPr>
                        <a:t>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8837303"/>
                  </a:ext>
                </a:extLst>
              </a:tr>
              <a:tr h="0">
                <a:tc>
                  <a:txBody>
                    <a:bodyPr/>
                    <a:lstStyle/>
                    <a:p>
                      <a:pPr latinLnBrk="1"/>
                      <a:r>
                        <a:rPr lang="ko-KR" altLang="en-US" sz="800" dirty="0">
                          <a:latin typeface="+mn-ea"/>
                          <a:ea typeface="+mn-ea"/>
                        </a:rPr>
                        <a:t>가격점수</a:t>
                      </a:r>
                      <a:r>
                        <a:rPr lang="en-US" altLang="ko-KR" sz="800" dirty="0">
                          <a:latin typeface="+mn-ea"/>
                          <a:ea typeface="+mn-ea"/>
                        </a:rPr>
                        <a:t>(</a:t>
                      </a:r>
                      <a:r>
                        <a:rPr lang="ko-KR" altLang="en-US" sz="800" dirty="0">
                          <a:latin typeface="+mn-ea"/>
                          <a:ea typeface="+mn-ea"/>
                        </a:rPr>
                        <a:t>가중치반영</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wgvlRfltPrcScr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a:t>
                      </a:r>
                      <a:r>
                        <a:rPr lang="en-US" altLang="ko-KR" sz="800" dirty="0">
                          <a:latin typeface="+mn-ea"/>
                          <a:ea typeface="+mn-ea"/>
                        </a:rPr>
                        <a:t>(</a:t>
                      </a:r>
                      <a:r>
                        <a:rPr lang="ko-KR" altLang="en-US" sz="800" dirty="0">
                          <a:latin typeface="+mn-ea"/>
                          <a:ea typeface="+mn-ea"/>
                        </a:rPr>
                        <a:t>가중치반영</a:t>
                      </a:r>
                      <a:r>
                        <a:rPr lang="en-US" altLang="ko-KR" sz="800" dirty="0">
                          <a:latin typeface="+mn-ea"/>
                          <a:ea typeface="+mn-ea"/>
                        </a:rPr>
                        <a:t>)</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a:t>
                      </a:r>
                      <a:r>
                        <a:rPr lang="ko-KR" altLang="en-US" sz="800" dirty="0">
                          <a:latin typeface="+mn-ea"/>
                          <a:ea typeface="+mn-ea"/>
                        </a:rPr>
                        <a:t>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1080628"/>
                  </a:ext>
                </a:extLst>
              </a:tr>
              <a:tr h="0">
                <a:tc>
                  <a:txBody>
                    <a:bodyPr/>
                    <a:lstStyle/>
                    <a:p>
                      <a:pPr latinLnBrk="1"/>
                      <a:r>
                        <a:rPr lang="ko-KR" altLang="en-US" sz="800" dirty="0">
                          <a:latin typeface="+mn-ea"/>
                          <a:ea typeface="+mn-ea"/>
                        </a:rPr>
                        <a:t>종합평점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종합평점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a:t>
                      </a:r>
                      <a:r>
                        <a:rPr lang="ko-KR" altLang="en-US" sz="800" dirty="0">
                          <a:latin typeface="+mn-ea"/>
                          <a:ea typeface="+mn-ea"/>
                        </a:rPr>
                        <a:t>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9218280"/>
                  </a:ext>
                </a:extLst>
              </a:tr>
              <a:tr h="0">
                <a:tc>
                  <a:txBody>
                    <a:bodyPr/>
                    <a:lstStyle/>
                    <a:p>
                      <a:pPr latinLnBrk="1"/>
                      <a:r>
                        <a:rPr lang="ko-KR" altLang="en-US" sz="800" dirty="0">
                          <a:latin typeface="+mn-ea"/>
                          <a:ea typeface="+mn-ea"/>
                        </a:rPr>
                        <a:t>실시설계 적격자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enfrcDesignElgbPicYn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실시설계 적격자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내역입찰</a:t>
                      </a:r>
                      <a:r>
                        <a:rPr lang="en-US" altLang="ko-KR" sz="800" dirty="0">
                          <a:latin typeface="+mn-ea"/>
                          <a:ea typeface="+mn-ea"/>
                        </a:rPr>
                        <a:t>(</a:t>
                      </a:r>
                      <a:r>
                        <a:rPr lang="ko-KR" altLang="en-US" sz="800" dirty="0" err="1">
                          <a:latin typeface="+mn-ea"/>
                          <a:ea typeface="+mn-ea"/>
                        </a:rPr>
                        <a:t>설계시공일괄입찰</a:t>
                      </a:r>
                      <a:r>
                        <a:rPr lang="en-US" altLang="ko-KR" sz="800" dirty="0">
                          <a:latin typeface="+mn-ea"/>
                          <a:ea typeface="+mn-ea"/>
                        </a:rPr>
                        <a:t>)</a:t>
                      </a:r>
                      <a:r>
                        <a:rPr lang="ko-KR" altLang="en-US" sz="800" dirty="0">
                          <a:latin typeface="+mn-ea"/>
                          <a:ea typeface="+mn-ea"/>
                        </a:rPr>
                        <a:t>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8888914"/>
                  </a:ext>
                </a:extLst>
              </a:tr>
              <a:tr h="0">
                <a:tc>
                  <a:txBody>
                    <a:bodyPr/>
                    <a:lstStyle/>
                    <a:p>
                      <a:pPr latinLnBrk="1"/>
                      <a:r>
                        <a:rPr lang="ko-KR" altLang="en-US" sz="800" dirty="0">
                          <a:latin typeface="+mn-ea"/>
                          <a:ea typeface="+mn-ea"/>
                        </a:rPr>
                        <a:t>입찰서제출일시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regDt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입찰서제출일시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공개 수의협상 건인 경우 견적서제출일시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6537252"/>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0135163"/>
                  </a:ext>
                </a:extLst>
              </a:tr>
              <a:tr h="0">
                <a:tc>
                  <a:txBody>
                    <a:bodyPr/>
                    <a:lstStyle/>
                    <a:p>
                      <a:pPr latinLnBrk="1"/>
                      <a:r>
                        <a:rPr lang="ko-KR" altLang="en-US" sz="800" dirty="0">
                          <a:latin typeface="+mn-ea"/>
                          <a:ea typeface="+mn-ea"/>
                        </a:rPr>
                        <a:t>첨부서류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docId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버튼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공개 수의협상 건이고 해당건의 담당부서인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584244"/>
                  </a:ext>
                </a:extLst>
              </a:tr>
              <a:tr h="0">
                <a:tc>
                  <a:txBody>
                    <a:bodyPr/>
                    <a:lstStyle/>
                    <a:p>
                      <a:pPr latinLnBrk="1"/>
                      <a:r>
                        <a:rPr lang="ko-KR" altLang="en-US" sz="800" dirty="0">
                          <a:latin typeface="+mn-ea"/>
                          <a:ea typeface="+mn-ea"/>
                        </a:rPr>
                        <a:t>서약서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wrot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버튼항목으로 서약서 출력물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물품인 경우 해당건의 담당자인 경우에만 보여주고 나머지는 해당건의 담당부서인 경우에만 보여줌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4863763"/>
                  </a:ext>
                </a:extLst>
              </a:tr>
              <a:tr h="0">
                <a:tc>
                  <a:txBody>
                    <a:bodyPr/>
                    <a:lstStyle/>
                    <a:p>
                      <a:pPr latinLnBrk="1"/>
                      <a:r>
                        <a:rPr lang="ko-KR" altLang="en-US" sz="800" dirty="0">
                          <a:latin typeface="+mn-ea"/>
                          <a:ea typeface="+mn-ea"/>
                        </a:rPr>
                        <a:t>내역서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dtsm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버튼항목으로 내역서 출력물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공사이고 내역입찰</a:t>
                      </a:r>
                      <a:r>
                        <a:rPr lang="en-US" altLang="ko-KR" sz="800" dirty="0">
                          <a:latin typeface="+mn-ea"/>
                          <a:ea typeface="+mn-ea"/>
                        </a:rPr>
                        <a:t>(</a:t>
                      </a:r>
                      <a:r>
                        <a:rPr lang="ko-KR" altLang="en-US" sz="800" dirty="0">
                          <a:latin typeface="+mn-ea"/>
                          <a:ea typeface="+mn-ea"/>
                        </a:rPr>
                        <a:t>최저가</a:t>
                      </a:r>
                      <a:r>
                        <a:rPr lang="en-US" altLang="ko-KR" sz="800" dirty="0">
                          <a:latin typeface="+mn-ea"/>
                          <a:ea typeface="+mn-ea"/>
                        </a:rPr>
                        <a:t>)</a:t>
                      </a:r>
                      <a:r>
                        <a:rPr lang="ko-KR" altLang="en-US" sz="800" dirty="0">
                          <a:latin typeface="+mn-ea"/>
                          <a:ea typeface="+mn-ea"/>
                        </a:rPr>
                        <a:t>이거나 내역입찰</a:t>
                      </a:r>
                      <a:r>
                        <a:rPr lang="en-US" altLang="ko-KR" sz="800" dirty="0">
                          <a:latin typeface="+mn-ea"/>
                          <a:ea typeface="+mn-ea"/>
                        </a:rPr>
                        <a:t>(</a:t>
                      </a:r>
                      <a:r>
                        <a:rPr lang="ko-KR" altLang="en-US" sz="800" dirty="0">
                          <a:latin typeface="+mn-ea"/>
                          <a:ea typeface="+mn-ea"/>
                        </a:rPr>
                        <a:t>적격심사</a:t>
                      </a:r>
                      <a:r>
                        <a:rPr lang="en-US" altLang="ko-KR" sz="800" dirty="0">
                          <a:latin typeface="+mn-ea"/>
                          <a:ea typeface="+mn-ea"/>
                        </a:rPr>
                        <a:t>)</a:t>
                      </a:r>
                      <a:r>
                        <a:rPr lang="ko-KR" altLang="en-US" sz="800" dirty="0">
                          <a:latin typeface="+mn-ea"/>
                          <a:ea typeface="+mn-ea"/>
                        </a:rPr>
                        <a:t>인 경우 해당 건의 담당자인 경우에만 보여줌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44006387"/>
                  </a:ext>
                </a:extLst>
              </a:tr>
              <a:tr h="0">
                <a:tc>
                  <a:txBody>
                    <a:bodyPr/>
                    <a:lstStyle/>
                    <a:p>
                      <a:pPr latinLnBrk="1"/>
                      <a:r>
                        <a:rPr lang="ko-KR" altLang="en-US" sz="800" dirty="0">
                          <a:latin typeface="+mn-ea"/>
                          <a:ea typeface="+mn-ea"/>
                        </a:rPr>
                        <a:t>진행상태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srngPrgrsStcd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적격심사 진행상태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물품이고 </a:t>
                      </a:r>
                      <a:r>
                        <a:rPr lang="ko-KR" altLang="en-US" sz="800" dirty="0" err="1">
                          <a:latin typeface="+mn-ea"/>
                          <a:ea typeface="+mn-ea"/>
                        </a:rPr>
                        <a:t>적격심사제이고</a:t>
                      </a:r>
                      <a:r>
                        <a:rPr lang="ko-KR" altLang="en-US" sz="800" dirty="0">
                          <a:latin typeface="+mn-ea"/>
                          <a:ea typeface="+mn-ea"/>
                        </a:rPr>
                        <a:t> 방위사업청에서 작성한 건인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64849"/>
                  </a:ext>
                </a:extLst>
              </a:tr>
              <a:tr h="0">
                <a:tc>
                  <a:txBody>
                    <a:bodyPr/>
                    <a:lstStyle/>
                    <a:p>
                      <a:pPr latinLnBrk="1"/>
                      <a:r>
                        <a:rPr lang="ko-KR" altLang="en-US" sz="800" dirty="0">
                          <a:latin typeface="+mn-ea"/>
                          <a:ea typeface="+mn-ea"/>
                        </a:rPr>
                        <a:t>복수예가 선택번호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rsrvPrcChcNo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복수예가 선택번호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27501944"/>
                  </a:ext>
                </a:extLst>
              </a:tr>
              <a:tr h="0">
                <a:tc>
                  <a:txBody>
                    <a:bodyPr/>
                    <a:lstStyle/>
                    <a:p>
                      <a:pPr latinLnBrk="1"/>
                      <a:r>
                        <a:rPr lang="ko-KR" altLang="en-US" sz="800" dirty="0">
                          <a:latin typeface="+mn-ea"/>
                          <a:ea typeface="+mn-ea"/>
                        </a:rPr>
                        <a:t>예정가격 순공사원가의 </a:t>
                      </a:r>
                      <a:r>
                        <a:rPr lang="en-US" altLang="ko-KR" sz="800" dirty="0">
                          <a:latin typeface="+mn-ea"/>
                          <a:ea typeface="+mn-ea"/>
                        </a:rPr>
                        <a:t>100</a:t>
                      </a:r>
                      <a:r>
                        <a:rPr lang="ko-KR" altLang="en-US" sz="800" dirty="0">
                          <a:latin typeface="+mn-ea"/>
                          <a:ea typeface="+mn-ea"/>
                        </a:rPr>
                        <a:t>분의 </a:t>
                      </a:r>
                      <a:r>
                        <a:rPr lang="en-US" altLang="ko-KR" sz="800" dirty="0">
                          <a:latin typeface="+mn-ea"/>
                          <a:ea typeface="+mn-ea"/>
                        </a:rPr>
                        <a:t>98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cstrnPrmco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순공사원가의 </a:t>
                      </a:r>
                      <a:r>
                        <a:rPr lang="en-US" altLang="ko-KR" sz="800" dirty="0">
                          <a:latin typeface="+mn-ea"/>
                          <a:ea typeface="+mn-ea"/>
                        </a:rPr>
                        <a:t>100</a:t>
                      </a:r>
                      <a:r>
                        <a:rPr lang="ko-KR" altLang="en-US" sz="800" dirty="0">
                          <a:latin typeface="+mn-ea"/>
                          <a:ea typeface="+mn-ea"/>
                        </a:rPr>
                        <a:t>분의 </a:t>
                      </a:r>
                      <a:r>
                        <a:rPr lang="en-US" altLang="ko-KR" sz="800" dirty="0">
                          <a:latin typeface="+mn-ea"/>
                          <a:ea typeface="+mn-ea"/>
                        </a:rPr>
                        <a:t>98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경쟁입찰 건에 대해 업무구분이 공사이고 예정가격이 </a:t>
                      </a:r>
                      <a:r>
                        <a:rPr lang="en-US" altLang="ko-KR" sz="800" dirty="0">
                          <a:latin typeface="+mn-ea"/>
                          <a:ea typeface="+mn-ea"/>
                        </a:rPr>
                        <a:t>100</a:t>
                      </a:r>
                      <a:r>
                        <a:rPr lang="ko-KR" altLang="en-US" sz="800" dirty="0">
                          <a:latin typeface="+mn-ea"/>
                          <a:ea typeface="+mn-ea"/>
                        </a:rPr>
                        <a:t>억원 미만인 경우 보여줌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3347748"/>
                  </a:ext>
                </a:extLst>
              </a:tr>
            </a:tbl>
          </a:graphicData>
        </a:graphic>
      </p:graphicFrame>
      <p:sp>
        <p:nvSpPr>
          <p:cNvPr id="5" name="TextBox 4">
            <a:extLst>
              <a:ext uri="{FF2B5EF4-FFF2-40B4-BE49-F238E27FC236}">
                <a16:creationId xmlns:a16="http://schemas.microsoft.com/office/drawing/2014/main" id="{207CB033-FD6A-E406-4666-94E8B4A9EA55}"/>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(4/5)</a:t>
            </a:r>
            <a:endParaRPr lang="ko-KR" altLang="en-US" sz="1000" b="1" dirty="0">
              <a:solidFill>
                <a:prstClr val="black"/>
              </a:solidFill>
            </a:endParaRPr>
          </a:p>
        </p:txBody>
      </p:sp>
      <p:sp>
        <p:nvSpPr>
          <p:cNvPr id="7" name="Text Box 73">
            <a:extLst>
              <a:ext uri="{FF2B5EF4-FFF2-40B4-BE49-F238E27FC236}">
                <a16:creationId xmlns:a16="http://schemas.microsoft.com/office/drawing/2014/main" id="{937398ED-9CDB-45AC-CEA8-96285625B1C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95721198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159</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구매담당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prchsPicNm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구매담당 성명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1356339"/>
                  </a:ext>
                </a:extLst>
              </a:tr>
              <a:tr h="0">
                <a:tc>
                  <a:txBody>
                    <a:bodyPr/>
                    <a:lstStyle/>
                    <a:p>
                      <a:pPr latinLnBrk="1"/>
                      <a:r>
                        <a:rPr lang="ko-KR" altLang="en-US" sz="800" dirty="0">
                          <a:latin typeface="+mn-ea"/>
                          <a:ea typeface="+mn-ea"/>
                        </a:rPr>
                        <a:t>구매담당 계급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prchrEchlnCd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구매담당 계급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협상담당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ngttrNm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a:latin typeface="+mn-ea"/>
                          <a:ea typeface="+mn-ea"/>
                        </a:rPr>
                        <a:t>협상담당 성명 항목 조회 결과</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5148970"/>
                  </a:ext>
                </a:extLst>
              </a:tr>
              <a:tr h="0">
                <a:tc>
                  <a:txBody>
                    <a:bodyPr/>
                    <a:lstStyle/>
                    <a:p>
                      <a:pPr latinLnBrk="1"/>
                      <a:r>
                        <a:rPr lang="ko-KR" altLang="en-US" sz="800" dirty="0">
                          <a:latin typeface="+mn-ea"/>
                          <a:ea typeface="+mn-ea"/>
                        </a:rPr>
                        <a:t>협상담당 계급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ngttrEchlnCd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협상담당 계급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8178023"/>
                  </a:ext>
                </a:extLst>
              </a:tr>
              <a:tr h="0">
                <a:tc>
                  <a:txBody>
                    <a:bodyPr/>
                    <a:lstStyle/>
                    <a:p>
                      <a:pPr latinLnBrk="1"/>
                      <a:r>
                        <a:rPr lang="ko-KR" altLang="en-US" sz="800" dirty="0">
                          <a:latin typeface="+mn-ea"/>
                          <a:ea typeface="+mn-ea"/>
                        </a:rPr>
                        <a:t>입회관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ctspNm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입회관 성명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0044967"/>
                  </a:ext>
                </a:extLst>
              </a:tr>
              <a:tr h="0">
                <a:tc>
                  <a:txBody>
                    <a:bodyPr/>
                    <a:lstStyle/>
                    <a:p>
                      <a:pPr latinLnBrk="1"/>
                      <a:r>
                        <a:rPr lang="ko-KR" altLang="en-US" sz="800" dirty="0">
                          <a:latin typeface="+mn-ea"/>
                          <a:ea typeface="+mn-ea"/>
                        </a:rPr>
                        <a:t>입회관 계급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ctspEchlnCd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입회관 계급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1957008"/>
                  </a:ext>
                </a:extLst>
              </a:tr>
            </a:tbl>
          </a:graphicData>
        </a:graphic>
      </p:graphicFrame>
      <p:sp>
        <p:nvSpPr>
          <p:cNvPr id="5" name="TextBox 4">
            <a:extLst>
              <a:ext uri="{FF2B5EF4-FFF2-40B4-BE49-F238E27FC236}">
                <a16:creationId xmlns:a16="http://schemas.microsoft.com/office/drawing/2014/main" id="{207CB033-FD6A-E406-4666-94E8B4A9EA55}"/>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(5/5)</a:t>
            </a:r>
            <a:endParaRPr lang="ko-KR" altLang="en-US" sz="1000" b="1" dirty="0">
              <a:solidFill>
                <a:prstClr val="black"/>
              </a:solidFill>
            </a:endParaRPr>
          </a:p>
        </p:txBody>
      </p:sp>
      <p:sp>
        <p:nvSpPr>
          <p:cNvPr id="7" name="Text Box 73">
            <a:extLst>
              <a:ext uri="{FF2B5EF4-FFF2-40B4-BE49-F238E27FC236}">
                <a16:creationId xmlns:a16="http://schemas.microsoft.com/office/drawing/2014/main" id="{937398ED-9CDB-45AC-CEA8-96285625B1C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C5F35594-4603-E3F1-E6DB-45D5EBE5CD31}"/>
              </a:ext>
            </a:extLst>
          </p:cNvPr>
          <p:cNvSpPr txBox="1"/>
          <p:nvPr/>
        </p:nvSpPr>
        <p:spPr>
          <a:xfrm>
            <a:off x="458117" y="803113"/>
            <a:ext cx="2724070"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조달업무담당자</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dmt_pbancInfo</a:t>
            </a:r>
            <a:r>
              <a:rPr lang="en-US" altLang="ko-KR" sz="900" b="1" dirty="0">
                <a:solidFill>
                  <a:prstClr val="black"/>
                </a:solidFill>
              </a:rPr>
              <a:t>)</a:t>
            </a:r>
            <a:endParaRPr lang="ko-KR" altLang="en-US" sz="900" b="1" dirty="0">
              <a:solidFill>
                <a:prstClr val="black"/>
              </a:solidFill>
            </a:endParaRPr>
          </a:p>
        </p:txBody>
      </p:sp>
      <p:sp>
        <p:nvSpPr>
          <p:cNvPr id="8" name="TextBox 7">
            <a:extLst>
              <a:ext uri="{FF2B5EF4-FFF2-40B4-BE49-F238E27FC236}">
                <a16:creationId xmlns:a16="http://schemas.microsoft.com/office/drawing/2014/main" id="{587A009A-249C-569B-B487-A792B020FE7D}"/>
              </a:ext>
            </a:extLst>
          </p:cNvPr>
          <p:cNvSpPr txBox="1"/>
          <p:nvPr/>
        </p:nvSpPr>
        <p:spPr>
          <a:xfrm>
            <a:off x="460676" y="2653212"/>
            <a:ext cx="3355653"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비공개수의협상결과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dlt_prvtVltrnsNgtnRslt</a:t>
            </a:r>
            <a:r>
              <a:rPr lang="en-US" altLang="ko-KR" sz="900" b="1" dirty="0">
                <a:solidFill>
                  <a:prstClr val="black"/>
                </a:solidFill>
              </a:rPr>
              <a: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A34B3211-0C23-2674-413C-CC46191E2A15}"/>
              </a:ext>
            </a:extLst>
          </p:cNvPr>
          <p:cNvGraphicFramePr>
            <a:graphicFrameLocks noGrp="1"/>
          </p:cNvGraphicFramePr>
          <p:nvPr/>
        </p:nvGraphicFramePr>
        <p:xfrm>
          <a:off x="455558" y="2936966"/>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ngtnCycl</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차수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업체코드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8505521"/>
                  </a:ext>
                </a:extLst>
              </a:tr>
              <a:tr h="0">
                <a:tc>
                  <a:txBody>
                    <a:bodyPr/>
                    <a:lstStyle/>
                    <a:p>
                      <a:pPr latinLnBrk="1"/>
                      <a:r>
                        <a:rPr lang="ko-KR" altLang="en-US" sz="800" dirty="0">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업체명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0179676"/>
                  </a:ext>
                </a:extLst>
              </a:tr>
              <a:tr h="0">
                <a:tc>
                  <a:txBody>
                    <a:bodyPr/>
                    <a:lstStyle/>
                    <a:p>
                      <a:pPr latinLnBrk="1"/>
                      <a:r>
                        <a:rPr lang="ko-KR" altLang="en-US" sz="800" dirty="0">
                          <a:latin typeface="+mn-ea"/>
                          <a:ea typeface="+mn-ea"/>
                        </a:rPr>
                        <a:t>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rprsvNm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대표자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6783406"/>
                  </a:ext>
                </a:extLst>
              </a:tr>
              <a:tr h="0">
                <a:tc>
                  <a:txBody>
                    <a:bodyPr/>
                    <a:lstStyle/>
                    <a:p>
                      <a:pPr latinLnBrk="1"/>
                      <a:r>
                        <a:rPr lang="ko-KR" altLang="en-US" sz="800" dirty="0">
                          <a:latin typeface="+mn-ea"/>
                          <a:ea typeface="+mn-ea"/>
                        </a:rPr>
                        <a:t>견적단가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estmtUntprc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견적단가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0150389"/>
                  </a:ext>
                </a:extLst>
              </a:tr>
              <a:tr h="0">
                <a:tc>
                  <a:txBody>
                    <a:bodyPr/>
                    <a:lstStyle/>
                    <a:p>
                      <a:pPr latinLnBrk="1"/>
                      <a:r>
                        <a:rPr lang="ko-KR" altLang="en-US" sz="800" dirty="0" err="1">
                          <a:latin typeface="+mn-ea"/>
                          <a:ea typeface="+mn-ea"/>
                        </a:rPr>
                        <a:t>낙찰률</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scbrt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낙찰률</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50188953"/>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ngtnRsltCd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협상결과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33505811"/>
                  </a:ext>
                </a:extLst>
              </a:tr>
            </a:tbl>
          </a:graphicData>
        </a:graphic>
      </p:graphicFrame>
      <p:sp>
        <p:nvSpPr>
          <p:cNvPr id="10" name="TextBox 9">
            <a:extLst>
              <a:ext uri="{FF2B5EF4-FFF2-40B4-BE49-F238E27FC236}">
                <a16:creationId xmlns:a16="http://schemas.microsoft.com/office/drawing/2014/main" id="{F39B00BA-8A51-2138-5DE8-37F6691FD3F2}"/>
              </a:ext>
            </a:extLst>
          </p:cNvPr>
          <p:cNvSpPr txBox="1"/>
          <p:nvPr/>
        </p:nvSpPr>
        <p:spPr>
          <a:xfrm>
            <a:off x="465794" y="4747702"/>
            <a:ext cx="2026764"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첨부서류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dlt_aDoc</a:t>
            </a:r>
            <a:r>
              <a:rPr lang="en-US" altLang="ko-KR" sz="900" b="1" dirty="0">
                <a:solidFill>
                  <a:prstClr val="black"/>
                </a:solidFill>
              </a:rPr>
              <a:t>)</a:t>
            </a:r>
            <a:endParaRPr lang="ko-KR" altLang="en-US" sz="900" b="1" dirty="0">
              <a:solidFill>
                <a:prstClr val="black"/>
              </a:solidFill>
            </a:endParaRPr>
          </a:p>
        </p:txBody>
      </p:sp>
      <p:graphicFrame>
        <p:nvGraphicFramePr>
          <p:cNvPr id="11" name="표 10">
            <a:extLst>
              <a:ext uri="{FF2B5EF4-FFF2-40B4-BE49-F238E27FC236}">
                <a16:creationId xmlns:a16="http://schemas.microsoft.com/office/drawing/2014/main" id="{4242899C-6D54-696D-CC5F-8B2A573878D7}"/>
              </a:ext>
            </a:extLst>
          </p:cNvPr>
          <p:cNvGraphicFramePr>
            <a:graphicFrameLocks noGrp="1"/>
          </p:cNvGraphicFramePr>
          <p:nvPr/>
        </p:nvGraphicFramePr>
        <p:xfrm>
          <a:off x="460676" y="5031456"/>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rnum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8505521"/>
                  </a:ext>
                </a:extLst>
              </a:tr>
              <a:tr h="0">
                <a:tc>
                  <a:txBody>
                    <a:bodyPr/>
                    <a:lstStyle/>
                    <a:p>
                      <a:pPr latinLnBrk="1"/>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첨부파일명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0179676"/>
                  </a:ext>
                </a:extLst>
              </a:tr>
            </a:tbl>
          </a:graphicData>
        </a:graphic>
      </p:graphicFrame>
    </p:spTree>
    <p:extLst>
      <p:ext uri="{BB962C8B-B14F-4D97-AF65-F5344CB8AC3E}">
        <p14:creationId xmlns:p14="http://schemas.microsoft.com/office/powerpoint/2010/main" val="233274830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표 6">
            <a:extLst>
              <a:ext uri="{FF2B5EF4-FFF2-40B4-BE49-F238E27FC236}">
                <a16:creationId xmlns:a16="http://schemas.microsoft.com/office/drawing/2014/main" id="{A3DD87FA-555D-941B-A77D-B922C9BF6D2C}"/>
              </a:ext>
            </a:extLst>
          </p:cNvPr>
          <p:cNvGraphicFramePr>
            <a:graphicFrameLocks noGrp="1"/>
          </p:cNvGraphicFramePr>
          <p:nvPr>
            <p:extLst>
              <p:ext uri="{D42A27DB-BD31-4B8C-83A1-F6EECF244321}">
                <p14:modId xmlns:p14="http://schemas.microsoft.com/office/powerpoint/2010/main" val="62110546"/>
              </p:ext>
            </p:extLst>
          </p:nvPr>
        </p:nvGraphicFramePr>
        <p:xfrm>
          <a:off x="452291" y="1014316"/>
          <a:ext cx="8995591" cy="218880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입찰결과 정보 조회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40959132"/>
                  </a:ext>
                </a:extLst>
              </a:tr>
              <a:tr h="0">
                <a:tc>
                  <a:txBody>
                    <a:bodyPr/>
                    <a:lstStyle/>
                    <a:p>
                      <a:pPr latinLnBrk="1"/>
                      <a:r>
                        <a:rPr lang="ko-KR" altLang="en-US" sz="800" dirty="0">
                          <a:latin typeface="+mn-ea"/>
                          <a:ea typeface="+mn-ea"/>
                        </a:rPr>
                        <a:t>입찰결과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scwin.getBidRsltInfo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공고정보</a:t>
                      </a:r>
                      <a:r>
                        <a:rPr lang="en-US" altLang="ko-KR" sz="800" dirty="0">
                          <a:latin typeface="+mn-ea"/>
                          <a:ea typeface="+mn-ea"/>
                        </a:rPr>
                        <a:t>,</a:t>
                      </a:r>
                      <a:r>
                        <a:rPr lang="ko-KR" altLang="en-US" sz="800" dirty="0">
                          <a:latin typeface="+mn-ea"/>
                          <a:ea typeface="+mn-ea"/>
                        </a:rPr>
                        <a:t> 품목정보</a:t>
                      </a:r>
                      <a:r>
                        <a:rPr lang="en-US" altLang="ko-KR" sz="800" dirty="0">
                          <a:latin typeface="+mn-ea"/>
                          <a:ea typeface="+mn-ea"/>
                        </a:rPr>
                        <a:t>, </a:t>
                      </a:r>
                      <a:r>
                        <a:rPr lang="ko-KR" altLang="en-US" sz="800" dirty="0">
                          <a:latin typeface="+mn-ea"/>
                          <a:ea typeface="+mn-ea"/>
                        </a:rPr>
                        <a:t>입찰결과목록</a:t>
                      </a:r>
                      <a:r>
                        <a:rPr lang="en-US" altLang="ko-KR" sz="800" dirty="0">
                          <a:latin typeface="+mn-ea"/>
                          <a:ea typeface="+mn-ea"/>
                        </a:rPr>
                        <a:t>, </a:t>
                      </a:r>
                      <a:r>
                        <a:rPr lang="ko-KR" altLang="en-US" sz="800" dirty="0">
                          <a:latin typeface="+mn-ea"/>
                          <a:ea typeface="+mn-ea"/>
                        </a:rPr>
                        <a:t>조달업무담당자</a:t>
                      </a:r>
                      <a:r>
                        <a:rPr lang="en-US" altLang="ko-KR" sz="800" dirty="0">
                          <a:latin typeface="+mn-ea"/>
                          <a:ea typeface="+mn-ea"/>
                        </a:rPr>
                        <a:t>, </a:t>
                      </a:r>
                      <a:r>
                        <a:rPr lang="ko-KR" altLang="en-US" sz="800" dirty="0">
                          <a:latin typeface="+mn-ea"/>
                          <a:ea typeface="+mn-ea"/>
                        </a:rPr>
                        <a:t>비공개수의협상결과를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9190186"/>
                  </a:ext>
                </a:extLst>
              </a:tr>
              <a:tr h="0">
                <a:tc>
                  <a:txBody>
                    <a:bodyPr/>
                    <a:lstStyle/>
                    <a:p>
                      <a:pPr latinLnBrk="1"/>
                      <a:r>
                        <a:rPr lang="ko-KR" altLang="en-US" sz="800" dirty="0">
                          <a:latin typeface="+mn-ea"/>
                          <a:ea typeface="+mn-ea"/>
                        </a:rPr>
                        <a:t>출력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scwin.btn_otpt_onclick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선택된 출력물구분에 해당하는 출력물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(UI-BD-09-R02) </a:t>
                      </a:r>
                      <a:r>
                        <a:rPr lang="ko-KR" altLang="en-US" sz="800" dirty="0" err="1">
                          <a:latin typeface="+mn-ea"/>
                          <a:ea typeface="+mn-ea"/>
                        </a:rPr>
                        <a:t>입찰비교표출력물</a:t>
                      </a:r>
                      <a:r>
                        <a:rPr lang="en-US" altLang="ko-KR" sz="800" dirty="0">
                          <a:latin typeface="+mn-ea"/>
                          <a:ea typeface="+mn-ea"/>
                        </a:rPr>
                        <a:t>-</a:t>
                      </a:r>
                      <a:r>
                        <a:rPr lang="ko-KR" altLang="en-US" sz="800" dirty="0">
                          <a:latin typeface="+mn-ea"/>
                          <a:ea typeface="+mn-ea"/>
                        </a:rPr>
                        <a:t>물품</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a:t>
                      </a:r>
                      <a:r>
                        <a:rPr lang="en-US" altLang="ko-KR" sz="800" dirty="0"/>
                        <a:t>UI-BD-09-R03)</a:t>
                      </a:r>
                      <a:r>
                        <a:rPr lang="ko-KR" altLang="en-US" sz="800" dirty="0">
                          <a:latin typeface="+mn-ea"/>
                          <a:ea typeface="+mn-ea"/>
                        </a:rPr>
                        <a:t> </a:t>
                      </a:r>
                      <a:r>
                        <a:rPr lang="ko-KR" altLang="en-US" sz="800" dirty="0" err="1">
                          <a:latin typeface="+mn-ea"/>
                          <a:ea typeface="+mn-ea"/>
                        </a:rPr>
                        <a:t>입찰비교표출력물</a:t>
                      </a:r>
                      <a:r>
                        <a:rPr lang="en-US" altLang="ko-KR" sz="800" dirty="0">
                          <a:latin typeface="+mn-ea"/>
                          <a:ea typeface="+mn-ea"/>
                        </a:rPr>
                        <a:t>-</a:t>
                      </a:r>
                      <a:r>
                        <a:rPr lang="ko-KR" altLang="en-US" sz="800" dirty="0">
                          <a:latin typeface="+mn-ea"/>
                          <a:ea typeface="+mn-ea"/>
                        </a:rPr>
                        <a:t>리스입찰</a:t>
                      </a:r>
                      <a:endParaRPr lang="en-US" altLang="ko-KR" sz="800" dirty="0">
                        <a:latin typeface="+mn-ea"/>
                        <a:ea typeface="+mn-ea"/>
                      </a:endParaRPr>
                    </a:p>
                    <a:p>
                      <a:pPr marL="0" indent="0" algn="l" latinLnBrk="1">
                        <a:buFont typeface="Arial" panose="020B0604020202020204" pitchFamily="34" charset="0"/>
                        <a:buNone/>
                      </a:pPr>
                      <a:r>
                        <a:rPr lang="en-US" altLang="ko-KR" sz="800" dirty="0">
                          <a:latin typeface="+mn-ea"/>
                          <a:ea typeface="+mn-ea"/>
                        </a:rPr>
                        <a:t>(</a:t>
                      </a:r>
                      <a:r>
                        <a:rPr lang="en-US" altLang="ko-KR" sz="800" dirty="0"/>
                        <a:t>UI-BD-09-R04) </a:t>
                      </a:r>
                      <a:r>
                        <a:rPr lang="ko-KR" altLang="en-US" sz="800" dirty="0" err="1">
                          <a:latin typeface="+mn-ea"/>
                          <a:ea typeface="+mn-ea"/>
                        </a:rPr>
                        <a:t>입찰비교표출력물</a:t>
                      </a:r>
                      <a:r>
                        <a:rPr lang="en-US" altLang="ko-KR" sz="800" dirty="0">
                          <a:latin typeface="+mn-ea"/>
                          <a:ea typeface="+mn-ea"/>
                        </a:rPr>
                        <a:t>-</a:t>
                      </a:r>
                      <a:r>
                        <a:rPr lang="ko-KR" altLang="en-US" sz="800" dirty="0">
                          <a:latin typeface="+mn-ea"/>
                          <a:ea typeface="+mn-ea"/>
                        </a:rPr>
                        <a:t>공사</a:t>
                      </a:r>
                      <a:endParaRPr lang="en-US" altLang="ko-KR" sz="800" dirty="0"/>
                    </a:p>
                    <a:p>
                      <a:pPr marL="0" indent="0" algn="l" latinLnBrk="1">
                        <a:buFont typeface="Arial" panose="020B0604020202020204" pitchFamily="34" charset="0"/>
                        <a:buNone/>
                      </a:pPr>
                      <a:r>
                        <a:rPr lang="en-US" altLang="ko-KR" sz="800" dirty="0"/>
                        <a:t>(UI-BD-09-R05) </a:t>
                      </a:r>
                      <a:r>
                        <a:rPr lang="ko-KR" altLang="en-US" sz="800" dirty="0" err="1"/>
                        <a:t>입찰결과보고출력물</a:t>
                      </a:r>
                      <a:r>
                        <a:rPr lang="en-US" altLang="ko-KR" sz="800" dirty="0"/>
                        <a:t>-</a:t>
                      </a:r>
                      <a:r>
                        <a:rPr lang="ko-KR" altLang="en-US" sz="800" dirty="0"/>
                        <a:t>물품</a:t>
                      </a:r>
                      <a:r>
                        <a:rPr lang="en-US" altLang="ko-KR" sz="800" dirty="0"/>
                        <a:t> </a:t>
                      </a:r>
                    </a:p>
                    <a:p>
                      <a:pPr marL="0" indent="0" algn="l" latinLnBrk="1">
                        <a:buFont typeface="Arial" panose="020B0604020202020204" pitchFamily="34" charset="0"/>
                        <a:buNone/>
                      </a:pPr>
                      <a:r>
                        <a:rPr lang="en-US" altLang="ko-KR" sz="800" dirty="0"/>
                        <a:t>(UI-BD-09-R06) </a:t>
                      </a:r>
                      <a:r>
                        <a:rPr lang="ko-KR" altLang="en-US" sz="800" dirty="0" err="1"/>
                        <a:t>입찰결과보고출력물</a:t>
                      </a:r>
                      <a:r>
                        <a:rPr lang="en-US" altLang="ko-KR" sz="800" dirty="0"/>
                        <a:t>-</a:t>
                      </a:r>
                      <a:r>
                        <a:rPr lang="ko-KR" altLang="en-US" sz="800" dirty="0"/>
                        <a:t>공사</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43272"/>
                  </a:ext>
                </a:extLst>
              </a:tr>
              <a:tr h="0">
                <a:tc>
                  <a:txBody>
                    <a:bodyPr/>
                    <a:lstStyle/>
                    <a:p>
                      <a:r>
                        <a:rPr lang="ko-KR" altLang="en-US" sz="800" dirty="0"/>
                        <a:t>서약서 출력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scwin.btn_wrotOtpt_onclick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입찰결과 그리드의 </a:t>
                      </a:r>
                      <a:r>
                        <a:rPr lang="en-US" altLang="ko-KR" sz="800" dirty="0">
                          <a:latin typeface="+mn-ea"/>
                          <a:ea typeface="+mn-ea"/>
                        </a:rPr>
                        <a:t>ROW</a:t>
                      </a:r>
                      <a:r>
                        <a:rPr lang="ko-KR" altLang="en-US" sz="800" dirty="0">
                          <a:latin typeface="+mn-ea"/>
                          <a:ea typeface="+mn-ea"/>
                        </a:rPr>
                        <a:t>에 해당하는 업체가 동의한 서약서 또는 내역서 출력물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(UI-BD-09-R07) </a:t>
                      </a:r>
                      <a:r>
                        <a:rPr lang="ko-KR" altLang="en-US" sz="800" dirty="0"/>
                        <a:t>서약서출력물</a:t>
                      </a:r>
                      <a:r>
                        <a:rPr lang="en-US" altLang="ko-KR" sz="800" dirty="0"/>
                        <a:t>-</a:t>
                      </a:r>
                      <a:r>
                        <a:rPr lang="ko-KR" altLang="en-US" sz="800" dirty="0" err="1"/>
                        <a:t>경쟁입찰물품통합사업관리시스템</a:t>
                      </a:r>
                      <a:endParaRPr lang="en-US" altLang="ko-KR" sz="800" dirty="0"/>
                    </a:p>
                    <a:p>
                      <a:pPr marL="0" indent="0" algn="l" latinLnBrk="1">
                        <a:buFont typeface="Arial" panose="020B0604020202020204" pitchFamily="34" charset="0"/>
                        <a:buNone/>
                      </a:pPr>
                      <a:r>
                        <a:rPr lang="en-US" altLang="ko-KR" sz="800" dirty="0"/>
                        <a:t>(UI-BD-09-R08) </a:t>
                      </a:r>
                      <a:r>
                        <a:rPr lang="ko-KR" altLang="en-US" sz="800" dirty="0"/>
                        <a:t>서약서출력물</a:t>
                      </a:r>
                      <a:r>
                        <a:rPr lang="en-US" altLang="ko-KR" sz="800" dirty="0"/>
                        <a:t>-</a:t>
                      </a:r>
                      <a:r>
                        <a:rPr lang="ko-KR" altLang="en-US" sz="800" dirty="0" err="1"/>
                        <a:t>경쟁입찰물품부대조달정보체계</a:t>
                      </a:r>
                      <a:endParaRPr lang="en-US" altLang="ko-KR" sz="800" dirty="0"/>
                    </a:p>
                    <a:p>
                      <a:pPr marL="0" indent="0" algn="l" latinLnBrk="1">
                        <a:buFont typeface="Arial" panose="020B0604020202020204" pitchFamily="34" charset="0"/>
                        <a:buNone/>
                      </a:pPr>
                      <a:r>
                        <a:rPr lang="en-US" altLang="ko-KR" sz="800" dirty="0"/>
                        <a:t>(UI-BD-09-R09) </a:t>
                      </a:r>
                      <a:r>
                        <a:rPr lang="ko-KR" altLang="en-US" sz="800" dirty="0"/>
                        <a:t>서약서출력물</a:t>
                      </a:r>
                      <a:r>
                        <a:rPr lang="en-US" altLang="ko-KR" sz="800" dirty="0"/>
                        <a:t>-</a:t>
                      </a:r>
                      <a:r>
                        <a:rPr lang="ko-KR" altLang="en-US" sz="800" dirty="0"/>
                        <a:t>경쟁입찰공사</a:t>
                      </a:r>
                      <a:endParaRPr lang="en-US" altLang="ko-KR" sz="800" dirty="0"/>
                    </a:p>
                    <a:p>
                      <a:pPr marL="0" indent="0" algn="l" latinLnBrk="1">
                        <a:buFont typeface="Arial" panose="020B0604020202020204" pitchFamily="34" charset="0"/>
                        <a:buNone/>
                      </a:pPr>
                      <a:r>
                        <a:rPr lang="en-US" altLang="ko-KR" sz="800" dirty="0"/>
                        <a:t>(UI-BD-09-R10) </a:t>
                      </a:r>
                      <a:r>
                        <a:rPr lang="ko-KR" altLang="en-US" sz="800" dirty="0"/>
                        <a:t>서약서출력물</a:t>
                      </a:r>
                      <a:r>
                        <a:rPr lang="en-US" altLang="ko-KR" sz="800" dirty="0"/>
                        <a:t>-</a:t>
                      </a:r>
                      <a:r>
                        <a:rPr lang="ko-KR" altLang="en-US" sz="800" dirty="0" err="1"/>
                        <a:t>공개수의협상물품통합사업관리시스템</a:t>
                      </a:r>
                      <a:endParaRPr lang="en-US" altLang="ko-KR" sz="800" dirty="0"/>
                    </a:p>
                    <a:p>
                      <a:pPr marL="0" indent="0" algn="l" latinLnBrk="1">
                        <a:buFont typeface="Arial" panose="020B0604020202020204" pitchFamily="34" charset="0"/>
                        <a:buNone/>
                      </a:pPr>
                      <a:r>
                        <a:rPr lang="en-US" altLang="ko-KR" sz="800" dirty="0"/>
                        <a:t>(UI-BD-09-R11) </a:t>
                      </a:r>
                      <a:r>
                        <a:rPr lang="ko-KR" altLang="en-US" sz="800" dirty="0">
                          <a:latin typeface="+mn-ea"/>
                          <a:ea typeface="+mn-ea"/>
                        </a:rPr>
                        <a:t>서약서출력물</a:t>
                      </a:r>
                      <a:r>
                        <a:rPr lang="en-US" altLang="ko-KR" sz="800" dirty="0">
                          <a:latin typeface="+mn-ea"/>
                          <a:ea typeface="+mn-ea"/>
                        </a:rPr>
                        <a:t>-</a:t>
                      </a:r>
                      <a:r>
                        <a:rPr lang="ko-KR" altLang="en-US" sz="800" dirty="0" err="1">
                          <a:latin typeface="+mn-ea"/>
                          <a:ea typeface="+mn-ea"/>
                        </a:rPr>
                        <a:t>공개수의협상물품부대조달정보체계</a:t>
                      </a:r>
                      <a:endParaRPr lang="en-US" altLang="ko-KR" sz="800" dirty="0"/>
                    </a:p>
                    <a:p>
                      <a:pPr marL="0" indent="0" algn="l" latinLnBrk="1">
                        <a:buFont typeface="Arial" panose="020B0604020202020204" pitchFamily="34" charset="0"/>
                        <a:buNone/>
                      </a:pPr>
                      <a:r>
                        <a:rPr lang="en-US" altLang="ko-KR" sz="800" dirty="0"/>
                        <a:t>(UI-BD-09-R12) </a:t>
                      </a:r>
                      <a:r>
                        <a:rPr lang="ko-KR" altLang="en-US" sz="800" dirty="0">
                          <a:latin typeface="+mn-ea"/>
                          <a:ea typeface="+mn-ea"/>
                        </a:rPr>
                        <a:t>서약서출력물</a:t>
                      </a:r>
                      <a:r>
                        <a:rPr lang="en-US" altLang="ko-KR" sz="800" dirty="0">
                          <a:latin typeface="+mn-ea"/>
                          <a:ea typeface="+mn-ea"/>
                        </a:rPr>
                        <a:t>-</a:t>
                      </a:r>
                      <a:r>
                        <a:rPr lang="ko-KR" altLang="en-US" sz="800" dirty="0">
                          <a:latin typeface="+mn-ea"/>
                          <a:ea typeface="+mn-ea"/>
                        </a:rPr>
                        <a:t>공개수의협상공사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4705806"/>
                  </a:ext>
                </a:extLst>
              </a:tr>
            </a:tbl>
          </a:graphicData>
        </a:graphic>
      </p:graphicFrame>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160</a:t>
            </a:fld>
            <a:endParaRPr lang="ko-KR" altLang="en-US" dirty="0"/>
          </a:p>
        </p:txBody>
      </p:sp>
      <p:sp>
        <p:nvSpPr>
          <p:cNvPr id="9" name="TextBox 8">
            <a:extLst>
              <a:ext uri="{FF2B5EF4-FFF2-40B4-BE49-F238E27FC236}">
                <a16:creationId xmlns:a16="http://schemas.microsoft.com/office/drawing/2014/main" id="{BC2B7D68-6A34-FC31-A073-EC144B851D3E}"/>
              </a:ext>
            </a:extLst>
          </p:cNvPr>
          <p:cNvSpPr txBox="1"/>
          <p:nvPr/>
        </p:nvSpPr>
        <p:spPr>
          <a:xfrm>
            <a:off x="457408" y="736185"/>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2" name="Text Box 73">
            <a:extLst>
              <a:ext uri="{FF2B5EF4-FFF2-40B4-BE49-F238E27FC236}">
                <a16:creationId xmlns:a16="http://schemas.microsoft.com/office/drawing/2014/main" id="{680F6E90-61A8-83D6-9628-CBF568C2D57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4923979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p:cNvSpPr/>
          <p:nvPr/>
        </p:nvSpPr>
        <p:spPr>
          <a:xfrm>
            <a:off x="722583" y="3975903"/>
            <a:ext cx="792000" cy="225639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397590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3975903"/>
            <a:ext cx="670770" cy="2154436"/>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err="1">
                <a:latin typeface="+mn-ea"/>
              </a:rPr>
              <a:t>대표품명</a:t>
            </a:r>
            <a:endParaRPr lang="en-US" altLang="ko-KR" sz="700" dirty="0">
              <a:latin typeface="+mn-ea"/>
            </a:endParaRPr>
          </a:p>
          <a:p>
            <a:pPr>
              <a:lnSpc>
                <a:spcPct val="200000"/>
              </a:lnSpc>
            </a:pPr>
            <a:r>
              <a:rPr lang="ko-KR" altLang="en-US" sz="700" dirty="0" err="1">
                <a:latin typeface="+mn-ea"/>
              </a:rPr>
              <a:t>지시년도</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en-US" altLang="ko-KR" sz="700" dirty="0">
                <a:latin typeface="+mn-ea"/>
              </a:rPr>
              <a:t>⁞</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3975903"/>
            <a:ext cx="1814470" cy="2154436"/>
          </a:xfrm>
          <a:prstGeom prst="rect">
            <a:avLst/>
          </a:prstGeom>
          <a:noFill/>
        </p:spPr>
        <p:txBody>
          <a:bodyPr wrap="square" lIns="0" tIns="0" rIns="0" bIns="0" rtlCol="0">
            <a:spAutoFit/>
          </a:bodyPr>
          <a:lstStyle/>
          <a:p>
            <a:pPr>
              <a:lnSpc>
                <a:spcPct val="200000"/>
              </a:lnSpc>
            </a:pPr>
            <a:r>
              <a:rPr lang="ko-KR" altLang="en-US" sz="700" dirty="0" err="1">
                <a:latin typeface="+mn-ea"/>
              </a:rPr>
              <a:t>테스트공고</a:t>
            </a:r>
            <a:endParaRPr lang="en-US" altLang="ko-KR" sz="700" dirty="0">
              <a:latin typeface="+mn-ea"/>
            </a:endParaRPr>
          </a:p>
          <a:p>
            <a:pPr>
              <a:lnSpc>
                <a:spcPct val="200000"/>
              </a:lnSpc>
            </a:pPr>
            <a:r>
              <a:rPr lang="ko-KR" altLang="en-US" sz="700" dirty="0" err="1">
                <a:latin typeface="+mn-ea"/>
              </a:rPr>
              <a:t>테스트품목</a:t>
            </a:r>
            <a:endParaRPr lang="en-US" altLang="ko-KR" sz="700" dirty="0">
              <a:latin typeface="+mn-ea"/>
            </a:endParaRPr>
          </a:p>
          <a:p>
            <a:pPr>
              <a:lnSpc>
                <a:spcPct val="200000"/>
              </a:lnSpc>
            </a:pPr>
            <a:r>
              <a:rPr lang="en-US" altLang="ko-KR" sz="700" dirty="0">
                <a:latin typeface="+mn-ea"/>
              </a:rPr>
              <a:t>2025</a:t>
            </a:r>
          </a:p>
          <a:p>
            <a:pPr lvl="0">
              <a:lnSpc>
                <a:spcPct val="200000"/>
              </a:lnSpc>
            </a:pPr>
            <a:r>
              <a:rPr lang="en-US" altLang="ko-KR" sz="700" dirty="0">
                <a:latin typeface="+mn-ea"/>
              </a:rPr>
              <a:t>MST0001-1</a:t>
            </a:r>
          </a:p>
          <a:p>
            <a:pPr>
              <a:lnSpc>
                <a:spcPct val="200000"/>
              </a:lnSpc>
            </a:pPr>
            <a:r>
              <a:rPr lang="en-US" altLang="ko-KR" sz="700" dirty="0">
                <a:latin typeface="+mn-ea"/>
              </a:rPr>
              <a:t>2025MST0001</a:t>
            </a:r>
          </a:p>
          <a:p>
            <a:pPr>
              <a:lnSpc>
                <a:spcPct val="200000"/>
              </a:lnSpc>
            </a:pPr>
            <a:r>
              <a:rPr lang="ko-KR" altLang="en-US" sz="700" dirty="0">
                <a:latin typeface="+mn-ea"/>
              </a:rPr>
              <a:t>테스트발주기관</a:t>
            </a:r>
            <a:endParaRPr lang="en-US" altLang="ko-KR" sz="700" dirty="0">
              <a:latin typeface="+mn-ea"/>
            </a:endParaRPr>
          </a:p>
          <a:p>
            <a:pPr>
              <a:lnSpc>
                <a:spcPct val="200000"/>
              </a:lnSpc>
            </a:pPr>
            <a:r>
              <a:rPr lang="en-US" altLang="ko-KR" sz="700" dirty="0">
                <a:latin typeface="+mn-ea"/>
              </a:rPr>
              <a:t>10000</a:t>
            </a:r>
          </a:p>
          <a:p>
            <a:pPr>
              <a:lnSpc>
                <a:spcPct val="200000"/>
              </a:lnSpc>
            </a:pPr>
            <a:r>
              <a:rPr lang="en-US" altLang="ko-KR" sz="700" dirty="0">
                <a:latin typeface="+mn-ea"/>
              </a:rPr>
              <a:t>001</a:t>
            </a:r>
          </a:p>
          <a:p>
            <a:pPr lvl="0">
              <a:lnSpc>
                <a:spcPct val="200000"/>
              </a:lnSpc>
            </a:pPr>
            <a:r>
              <a:rPr lang="en-US" altLang="ko-KR" sz="700" dirty="0">
                <a:latin typeface="+mn-ea"/>
              </a:rPr>
              <a:t>2</a:t>
            </a:r>
            <a:r>
              <a:rPr lang="ko-KR" altLang="en-US" sz="700" dirty="0" err="1">
                <a:latin typeface="+mn-ea"/>
              </a:rPr>
              <a:t>단계경쟁</a:t>
            </a:r>
            <a:r>
              <a:rPr lang="en-US" altLang="ko-KR" sz="700" dirty="0">
                <a:latin typeface="+mn-ea"/>
              </a:rPr>
              <a:t>(</a:t>
            </a:r>
            <a:r>
              <a:rPr lang="ko-KR" altLang="en-US" sz="700" dirty="0">
                <a:latin typeface="+mn-ea"/>
              </a:rPr>
              <a:t>분리</a:t>
            </a:r>
            <a:r>
              <a:rPr lang="en-US" altLang="ko-KR" sz="700" dirty="0">
                <a:latin typeface="+mn-ea"/>
              </a:rPr>
              <a:t>)</a:t>
            </a:r>
          </a:p>
          <a:p>
            <a:pPr lvl="0">
              <a:lnSpc>
                <a:spcPct val="200000"/>
              </a:lnSpc>
            </a:pPr>
            <a:r>
              <a:rPr lang="en-US" altLang="ko-KR" sz="700" dirty="0">
                <a:latin typeface="+mn-ea"/>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207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44207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46344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48481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0618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2755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54892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722583" y="56759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입찰공고 상세 화면 상단에 입찰 공고 정보 표시</a:t>
            </a:r>
            <a:r>
              <a:rPr lang="en-US" altLang="ko-KR" dirty="0"/>
              <a:t/>
            </a:r>
            <a:br>
              <a:rPr lang="en-US" altLang="ko-KR" dirty="0"/>
            </a:br>
            <a:r>
              <a:rPr lang="en-US" altLang="ko-KR" dirty="0"/>
              <a:t>1-1 – </a:t>
            </a:r>
            <a:r>
              <a:rPr lang="ko-KR" altLang="en-US" dirty="0"/>
              <a:t>최초 확장하여 목록과 동일한 정보 표시</a:t>
            </a:r>
            <a:r>
              <a:rPr lang="en-US" altLang="ko-KR" dirty="0"/>
              <a:t/>
            </a:r>
            <a:br>
              <a:rPr lang="en-US" altLang="ko-KR" dirty="0"/>
            </a:br>
            <a:r>
              <a:rPr lang="en-US" altLang="ko-KR" dirty="0"/>
              <a:t>2-2 – </a:t>
            </a:r>
            <a:r>
              <a:rPr lang="ko-KR" altLang="en-US" dirty="0"/>
              <a:t>스크롤이 발생하는 경우 최소화하여 품목</a:t>
            </a:r>
            <a:r>
              <a:rPr lang="en-US" altLang="ko-KR" dirty="0"/>
              <a:t>, </a:t>
            </a:r>
            <a:r>
              <a:rPr lang="ko-KR" altLang="en-US" dirty="0"/>
              <a:t>제목 정보만 상단 상시 노출</a:t>
            </a:r>
            <a:endParaRPr lang="en-US" altLang="ko-KR" dirty="0"/>
          </a:p>
          <a:p>
            <a:pPr marL="228600" indent="-228600">
              <a:buFont typeface="+mj-lt"/>
              <a:buAutoNum type="arabicPeriod"/>
            </a:pPr>
            <a:r>
              <a:rPr lang="ko-KR" altLang="en-US" dirty="0"/>
              <a:t>공고의 공지사항이 있는 경우 표시</a:t>
            </a:r>
            <a:r>
              <a:rPr lang="en-US" altLang="ko-KR" dirty="0"/>
              <a:t/>
            </a:r>
            <a:br>
              <a:rPr lang="en-US" altLang="ko-KR" dirty="0"/>
            </a:br>
            <a:r>
              <a:rPr lang="en-US" altLang="ko-KR" dirty="0"/>
              <a:t>- </a:t>
            </a:r>
            <a:r>
              <a:rPr lang="ko-KR" altLang="en-US" dirty="0"/>
              <a:t>공지사항은 기본으로 닫힘</a:t>
            </a:r>
            <a:r>
              <a:rPr lang="en-US" altLang="ko-KR" dirty="0"/>
              <a:t/>
            </a:r>
            <a:br>
              <a:rPr lang="en-US" altLang="ko-KR" dirty="0"/>
            </a:br>
            <a:r>
              <a:rPr lang="en-US" altLang="ko-KR" dirty="0"/>
              <a:t>- </a:t>
            </a:r>
            <a:r>
              <a:rPr lang="ko-KR" altLang="en-US" dirty="0"/>
              <a:t>클릭으로 열리고 닫힘 처리</a:t>
            </a:r>
            <a:endParaRPr lang="en-US" altLang="ko-KR" dirty="0"/>
          </a:p>
          <a:p>
            <a:pPr marL="228600" indent="-228600">
              <a:buFont typeface="+mj-lt"/>
              <a:buAutoNum type="arabicPeriod"/>
            </a:pPr>
            <a:r>
              <a:rPr lang="ko-KR" altLang="en-US" dirty="0"/>
              <a:t>탭 메뉴</a:t>
            </a:r>
            <a:r>
              <a:rPr lang="en-US" altLang="ko-KR" dirty="0"/>
              <a:t/>
            </a:r>
            <a:br>
              <a:rPr lang="en-US" altLang="ko-KR" dirty="0"/>
            </a:br>
            <a:r>
              <a:rPr lang="en-US" altLang="ko-KR" dirty="0"/>
              <a:t>- </a:t>
            </a:r>
            <a:r>
              <a:rPr lang="ko-KR" altLang="en-US" dirty="0"/>
              <a:t>좌우 </a:t>
            </a:r>
            <a:r>
              <a:rPr lang="ko-KR" altLang="en-US" dirty="0" err="1"/>
              <a:t>스와이프</a:t>
            </a:r>
            <a:r>
              <a:rPr lang="en-US" altLang="ko-KR" dirty="0"/>
              <a:t/>
            </a:r>
            <a:br>
              <a:rPr lang="en-US" altLang="ko-KR" dirty="0"/>
            </a:br>
            <a:r>
              <a:rPr lang="en-US" altLang="ko-KR" dirty="0"/>
              <a:t>- </a:t>
            </a:r>
            <a:r>
              <a:rPr lang="ko-KR" altLang="en-US" dirty="0"/>
              <a:t>좌우 이동 버튼 </a:t>
            </a:r>
            <a:r>
              <a:rPr lang="en-US" altLang="ko-KR" dirty="0"/>
              <a:t>(</a:t>
            </a:r>
            <a:r>
              <a:rPr lang="ko-KR" altLang="en-US" dirty="0"/>
              <a:t>좌우 스크롤</a:t>
            </a:r>
            <a:r>
              <a:rPr lang="en-US" altLang="ko-KR" dirty="0"/>
              <a:t>)</a:t>
            </a:r>
          </a:p>
          <a:p>
            <a:pPr marL="228600" indent="-228600">
              <a:buFont typeface="+mj-lt"/>
              <a:buAutoNum type="arabicPeriod"/>
            </a:pPr>
            <a:r>
              <a:rPr lang="ko-KR" altLang="en-US" dirty="0"/>
              <a:t>공고 내용</a:t>
            </a:r>
            <a:r>
              <a:rPr lang="en-US" altLang="ko-KR" dirty="0"/>
              <a:t/>
            </a:r>
            <a:br>
              <a:rPr lang="en-US" altLang="ko-KR" dirty="0"/>
            </a:br>
            <a:r>
              <a:rPr lang="en-US" altLang="ko-KR" dirty="0"/>
              <a:t>- </a:t>
            </a:r>
            <a:r>
              <a:rPr lang="ko-KR" altLang="en-US" dirty="0"/>
              <a:t>각 공고에 맞춰 폼 변화에 유의</a:t>
            </a:r>
            <a:r>
              <a:rPr lang="en-US" altLang="ko-KR" dirty="0"/>
              <a:t/>
            </a:r>
            <a:br>
              <a:rPr lang="en-US" altLang="ko-KR" dirty="0"/>
            </a:br>
            <a:r>
              <a:rPr lang="en-US" altLang="ko-KR" dirty="0"/>
              <a:t>- </a:t>
            </a:r>
            <a:r>
              <a:rPr lang="ko-KR" altLang="en-US" dirty="0"/>
              <a:t>노출 정보 폼 변화는 별도 입찰 공고 흐름에서 정의</a:t>
            </a:r>
            <a:endParaRPr lang="en-US" altLang="ko-KR" dirty="0"/>
          </a:p>
          <a:p>
            <a:pPr marL="228600" indent="-228600">
              <a:buFont typeface="+mj-lt"/>
              <a:buAutoNum type="arabicPeriod"/>
            </a:pPr>
            <a:r>
              <a:rPr lang="ko-KR" altLang="en-US" dirty="0"/>
              <a:t>스크롤 발생 시 변화</a:t>
            </a:r>
            <a:r>
              <a:rPr lang="en-US" altLang="ko-KR" dirty="0"/>
              <a:t/>
            </a:r>
            <a:br>
              <a:rPr lang="en-US" altLang="ko-KR" dirty="0"/>
            </a:br>
            <a:r>
              <a:rPr lang="en-US" altLang="ko-KR" dirty="0"/>
              <a:t>- </a:t>
            </a:r>
            <a:r>
              <a:rPr lang="ko-KR" altLang="en-US" dirty="0"/>
              <a:t>상단 타이틀 영역 최소화</a:t>
            </a:r>
            <a:r>
              <a:rPr lang="en-US" altLang="ko-KR" dirty="0"/>
              <a:t/>
            </a:r>
            <a:br>
              <a:rPr lang="en-US" altLang="ko-KR" dirty="0"/>
            </a:br>
            <a:r>
              <a:rPr lang="en-US" altLang="ko-KR" dirty="0"/>
              <a:t>- </a:t>
            </a:r>
            <a:r>
              <a:rPr lang="ko-KR" altLang="en-US" dirty="0"/>
              <a:t>공지사항 단계 표시기는 스크롤</a:t>
            </a:r>
            <a:r>
              <a:rPr lang="en-US" altLang="ko-KR" dirty="0"/>
              <a:t/>
            </a:r>
            <a:br>
              <a:rPr lang="en-US" altLang="ko-KR" dirty="0"/>
            </a:br>
            <a:r>
              <a:rPr lang="en-US" altLang="ko-KR" dirty="0"/>
              <a:t>- </a:t>
            </a:r>
            <a:r>
              <a:rPr lang="ko-KR" altLang="en-US" dirty="0"/>
              <a:t>스크롤 시 탭 메뉴 타이틀 </a:t>
            </a:r>
            <a:r>
              <a:rPr lang="ko-KR" altLang="en-US" dirty="0" err="1"/>
              <a:t>하단고정</a:t>
            </a:r>
            <a:r>
              <a:rPr lang="en-US" altLang="ko-KR" dirty="0"/>
              <a:t/>
            </a:r>
            <a:br>
              <a:rPr lang="en-US" altLang="ko-KR" dirty="0"/>
            </a:br>
            <a:r>
              <a:rPr lang="en-US" altLang="ko-KR" dirty="0"/>
              <a:t>  &gt; </a:t>
            </a:r>
            <a:r>
              <a:rPr lang="ko-KR" altLang="en-US" dirty="0"/>
              <a:t>현재 탭 선택 시 </a:t>
            </a:r>
            <a:r>
              <a:rPr lang="ko-KR" altLang="en-US" dirty="0" err="1"/>
              <a:t>최상단</a:t>
            </a:r>
            <a:r>
              <a:rPr lang="ko-KR" altLang="en-US" dirty="0"/>
              <a:t> 이동</a:t>
            </a:r>
            <a:r>
              <a:rPr lang="en-US" altLang="ko-KR" dirty="0"/>
              <a:t/>
            </a:r>
            <a:br>
              <a:rPr lang="en-US" altLang="ko-KR" dirty="0"/>
            </a:br>
            <a:r>
              <a:rPr lang="en-US" altLang="ko-KR" dirty="0"/>
              <a:t>- </a:t>
            </a:r>
            <a:r>
              <a:rPr lang="ko-KR" altLang="en-US" dirty="0"/>
              <a:t>탭 메뉴 하단은 전부 스크롤 </a:t>
            </a:r>
            <a:r>
              <a:rPr lang="ko-KR" altLang="en-US" dirty="0" smtClean="0"/>
              <a:t>이동</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161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적격심사상세</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이행</a:t>
            </a:r>
            <a:r>
              <a:rPr lang="en-US" altLang="ko-KR" dirty="0"/>
              <a:t>/</a:t>
            </a:r>
            <a:r>
              <a:rPr lang="ko-KR" altLang="en-US" dirty="0"/>
              <a:t>적격심사를 신청하는 화면</a:t>
            </a:r>
            <a:endParaRPr lang="en-US" altLang="ko-KR"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&gt; </a:t>
            </a:r>
            <a:r>
              <a:rPr lang="ko-KR" altLang="en-US" dirty="0"/>
              <a:t>이행</a:t>
            </a:r>
            <a:r>
              <a:rPr lang="en-US" altLang="ko-KR" dirty="0"/>
              <a:t>/</a:t>
            </a:r>
            <a:r>
              <a:rPr lang="ko-KR" altLang="en-US" dirty="0"/>
              <a:t>적격심사상세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t>이행</a:t>
            </a:r>
            <a:r>
              <a:rPr lang="en-US" altLang="ko-KR" sz="800" dirty="0"/>
              <a:t>/</a:t>
            </a:r>
            <a:r>
              <a:rPr lang="ko-KR" altLang="en-US" sz="800" dirty="0"/>
              <a:t>적격심사</a:t>
            </a:r>
            <a:endParaRPr lang="ko-KR" altLang="en-US" sz="800" dirty="0">
              <a:latin typeface="+mn-ea"/>
            </a:endParaRP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085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158410"/>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493475"/>
            <a:ext cx="307777"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478086"/>
            <a:ext cx="609141" cy="259174"/>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2025-12-22</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1974079"/>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68" name="모서리가 둥근 직사각형 67"/>
          <p:cNvSpPr/>
          <p:nvPr/>
        </p:nvSpPr>
        <p:spPr>
          <a:xfrm>
            <a:off x="1075655" y="197407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286644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675399" y="32076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2900189"/>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2931534"/>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3013520"/>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356208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345480"/>
            <a:ext cx="479756"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368330" y="3345480"/>
            <a:ext cx="711015" cy="107722"/>
          </a:xfrm>
          <a:prstGeom prst="rect">
            <a:avLst/>
          </a:prstGeom>
          <a:noFill/>
        </p:spPr>
        <p:txBody>
          <a:bodyPr wrap="square" lIns="0" tIns="0" rIns="0" bIns="0" rtlCol="0">
            <a:spAutoFit/>
          </a:bodyPr>
          <a:lstStyle/>
          <a:p>
            <a:pPr algn="ctr"/>
            <a:r>
              <a:rPr lang="en-US" altLang="ko-KR" sz="700" dirty="0">
                <a:latin typeface="+mn-ea"/>
              </a:rPr>
              <a:t>2. </a:t>
            </a:r>
            <a:r>
              <a:rPr lang="ko-KR" altLang="en-US" sz="700" dirty="0">
                <a:latin typeface="+mn-ea"/>
              </a:rPr>
              <a:t>입찰</a:t>
            </a:r>
            <a:r>
              <a:rPr lang="en-US" altLang="ko-KR" sz="700" dirty="0">
                <a:latin typeface="+mn-ea"/>
              </a:rPr>
              <a:t>/</a:t>
            </a:r>
            <a:r>
              <a:rPr lang="ko-KR" altLang="en-US" sz="700" dirty="0">
                <a:latin typeface="+mn-ea"/>
              </a:rPr>
              <a:t>반려 정보</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2203749" y="3345480"/>
            <a:ext cx="479010"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파일첨부</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3562087"/>
            <a:ext cx="523435"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FFC49AEA-2A8F-250C-A86A-A7751D9706C3}"/>
              </a:ext>
            </a:extLst>
          </p:cNvPr>
          <p:cNvSpPr txBox="1"/>
          <p:nvPr/>
        </p:nvSpPr>
        <p:spPr>
          <a:xfrm>
            <a:off x="781461" y="3668418"/>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3781749"/>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3" name="직선 연결선 192">
            <a:extLst>
              <a:ext uri="{FF2B5EF4-FFF2-40B4-BE49-F238E27FC236}">
                <a16:creationId xmlns:a16="http://schemas.microsoft.com/office/drawing/2014/main" id="{E9293055-D5CD-4B9E-7F64-64B2D2CA7A52}"/>
              </a:ext>
            </a:extLst>
          </p:cNvPr>
          <p:cNvCxnSpPr/>
          <p:nvPr/>
        </p:nvCxnSpPr>
        <p:spPr>
          <a:xfrm>
            <a:off x="3795734" y="150090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4" name="직선 연결선 253">
            <a:extLst>
              <a:ext uri="{FF2B5EF4-FFF2-40B4-BE49-F238E27FC236}">
                <a16:creationId xmlns:a16="http://schemas.microsoft.com/office/drawing/2014/main" id="{E9293055-D5CD-4B9E-7F64-64B2D2CA7A52}"/>
              </a:ext>
            </a:extLst>
          </p:cNvPr>
          <p:cNvCxnSpPr/>
          <p:nvPr/>
        </p:nvCxnSpPr>
        <p:spPr>
          <a:xfrm>
            <a:off x="3795734" y="195307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타원 270">
            <a:extLst>
              <a:ext uri="{FF2B5EF4-FFF2-40B4-BE49-F238E27FC236}">
                <a16:creationId xmlns:a16="http://schemas.microsoft.com/office/drawing/2014/main" id="{37A7FF4F-0EAA-1463-560A-D5EC24416103}"/>
              </a:ext>
            </a:extLst>
          </p:cNvPr>
          <p:cNvSpPr/>
          <p:nvPr/>
        </p:nvSpPr>
        <p:spPr>
          <a:xfrm>
            <a:off x="571127" y="293153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72" name="타원 271">
            <a:extLst>
              <a:ext uri="{FF2B5EF4-FFF2-40B4-BE49-F238E27FC236}">
                <a16:creationId xmlns:a16="http://schemas.microsoft.com/office/drawing/2014/main" id="{37A7FF4F-0EAA-1463-560A-D5EC24416103}"/>
              </a:ext>
            </a:extLst>
          </p:cNvPr>
          <p:cNvSpPr/>
          <p:nvPr/>
        </p:nvSpPr>
        <p:spPr>
          <a:xfrm>
            <a:off x="571127" y="330927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73" name="타원 272">
            <a:extLst>
              <a:ext uri="{FF2B5EF4-FFF2-40B4-BE49-F238E27FC236}">
                <a16:creationId xmlns:a16="http://schemas.microsoft.com/office/drawing/2014/main" id="{37A7FF4F-0EAA-1463-560A-D5EC24416103}"/>
              </a:ext>
            </a:extLst>
          </p:cNvPr>
          <p:cNvSpPr/>
          <p:nvPr/>
        </p:nvSpPr>
        <p:spPr>
          <a:xfrm>
            <a:off x="571127" y="369907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274" name="사각형: 둥근 모서리 25">
            <a:extLst>
              <a:ext uri="{FF2B5EF4-FFF2-40B4-BE49-F238E27FC236}">
                <a16:creationId xmlns:a16="http://schemas.microsoft.com/office/drawing/2014/main" id="{D17B50F9-89DD-C80C-4195-7E69A48DBE7F}"/>
              </a:ext>
            </a:extLst>
          </p:cNvPr>
          <p:cNvSpPr/>
          <p:nvPr/>
        </p:nvSpPr>
        <p:spPr>
          <a:xfrm>
            <a:off x="439443" y="2231333"/>
            <a:ext cx="327084" cy="146280"/>
          </a:xfrm>
          <a:prstGeom prst="roundRect">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1-1</a:t>
            </a:r>
            <a:endParaRPr lang="ko-KR" altLang="en-US" sz="900" b="1" dirty="0"/>
          </a:p>
        </p:txBody>
      </p:sp>
      <p:sp>
        <p:nvSpPr>
          <p:cNvPr id="277" name="타원 276"/>
          <p:cNvSpPr/>
          <p:nvPr/>
        </p:nvSpPr>
        <p:spPr>
          <a:xfrm>
            <a:off x="6596790" y="5154989"/>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5272060"/>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55" name="TextBox 254">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56" name="TextBox 255">
            <a:extLst>
              <a:ext uri="{FF2B5EF4-FFF2-40B4-BE49-F238E27FC236}">
                <a16:creationId xmlns:a16="http://schemas.microsoft.com/office/drawing/2014/main" id="{FFC49AEA-2A8F-250C-A86A-A7751D9706C3}"/>
              </a:ext>
            </a:extLst>
          </p:cNvPr>
          <p:cNvSpPr txBox="1"/>
          <p:nvPr/>
        </p:nvSpPr>
        <p:spPr>
          <a:xfrm>
            <a:off x="3878080" y="2020457"/>
            <a:ext cx="728875" cy="215444"/>
          </a:xfrm>
          <a:prstGeom prst="rect">
            <a:avLst/>
          </a:prstGeom>
          <a:noFill/>
        </p:spPr>
        <p:txBody>
          <a:bodyPr wrap="square" lIns="0" tIns="0" rIns="0" bIns="0" rtlCol="0">
            <a:spAutoFit/>
          </a:bodyPr>
          <a:lstStyle/>
          <a:p>
            <a:pPr>
              <a:lnSpc>
                <a:spcPct val="200000"/>
              </a:lnSpc>
            </a:pPr>
            <a:r>
              <a:rPr lang="ko-KR" altLang="en-US" sz="700" spc="-52" dirty="0" err="1">
                <a:solidFill>
                  <a:schemeClr val="tx1">
                    <a:lumMod val="75000"/>
                    <a:lumOff val="25000"/>
                  </a:schemeClr>
                </a:solidFill>
                <a:latin typeface="맑은 고딕" panose="020B0503020000020004" pitchFamily="50" charset="-127"/>
              </a:rPr>
              <a:t>참고서류</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261" name="그룹 260"/>
          <p:cNvGrpSpPr/>
          <p:nvPr/>
        </p:nvGrpSpPr>
        <p:grpSpPr>
          <a:xfrm flipV="1">
            <a:off x="6240167" y="2133788"/>
            <a:ext cx="94010" cy="47005"/>
            <a:chOff x="6812560" y="3297172"/>
            <a:chExt cx="94010" cy="47005"/>
          </a:xfrm>
        </p:grpSpPr>
        <p:cxnSp>
          <p:nvCxnSpPr>
            <p:cNvPr id="262" name="직선 연결선 26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3" name="직선 연결선 26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4" name="모서리가 둥근 직사각형 263"/>
          <p:cNvSpPr/>
          <p:nvPr/>
        </p:nvSpPr>
        <p:spPr>
          <a:xfrm>
            <a:off x="3831550" y="2418843"/>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4332218" y="2493364"/>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3909746" y="2547225"/>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268" name="모서리가 둥근 직사각형 267"/>
          <p:cNvSpPr/>
          <p:nvPr/>
        </p:nvSpPr>
        <p:spPr>
          <a:xfrm>
            <a:off x="3831550" y="282552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9" name="TextBox 268">
            <a:extLst>
              <a:ext uri="{FF2B5EF4-FFF2-40B4-BE49-F238E27FC236}">
                <a16:creationId xmlns:a16="http://schemas.microsoft.com/office/drawing/2014/main" id="{FFC49AEA-2A8F-250C-A86A-A7751D9706C3}"/>
              </a:ext>
            </a:extLst>
          </p:cNvPr>
          <p:cNvSpPr txBox="1"/>
          <p:nvPr/>
        </p:nvSpPr>
        <p:spPr>
          <a:xfrm>
            <a:off x="4332218" y="2900050"/>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278" name="TextBox 277">
            <a:extLst>
              <a:ext uri="{FF2B5EF4-FFF2-40B4-BE49-F238E27FC236}">
                <a16:creationId xmlns:a16="http://schemas.microsoft.com/office/drawing/2014/main" id="{FFC49AEA-2A8F-250C-A86A-A7751D9706C3}"/>
              </a:ext>
            </a:extLst>
          </p:cNvPr>
          <p:cNvSpPr txBox="1"/>
          <p:nvPr/>
        </p:nvSpPr>
        <p:spPr>
          <a:xfrm>
            <a:off x="3909746" y="295391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282" name="TextBox 281">
            <a:extLst>
              <a:ext uri="{FF2B5EF4-FFF2-40B4-BE49-F238E27FC236}">
                <a16:creationId xmlns:a16="http://schemas.microsoft.com/office/drawing/2014/main" id="{FFC49AEA-2A8F-250C-A86A-A7751D9706C3}"/>
              </a:ext>
            </a:extLst>
          </p:cNvPr>
          <p:cNvSpPr txBox="1"/>
          <p:nvPr/>
        </p:nvSpPr>
        <p:spPr>
          <a:xfrm>
            <a:off x="4332218" y="2283725"/>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285" name="TextBox 284">
            <a:extLst>
              <a:ext uri="{FF2B5EF4-FFF2-40B4-BE49-F238E27FC236}">
                <a16:creationId xmlns:a16="http://schemas.microsoft.com/office/drawing/2014/main" id="{FFC49AEA-2A8F-250C-A86A-A7751D9706C3}"/>
              </a:ext>
            </a:extLst>
          </p:cNvPr>
          <p:cNvSpPr txBox="1"/>
          <p:nvPr/>
        </p:nvSpPr>
        <p:spPr>
          <a:xfrm>
            <a:off x="3838314" y="2283725"/>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286" name="타원 285"/>
          <p:cNvSpPr/>
          <p:nvPr/>
        </p:nvSpPr>
        <p:spPr>
          <a:xfrm>
            <a:off x="6206587" y="252908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7" name="TextBox 286">
            <a:extLst>
              <a:ext uri="{FF2B5EF4-FFF2-40B4-BE49-F238E27FC236}">
                <a16:creationId xmlns:a16="http://schemas.microsoft.com/office/drawing/2014/main" id="{FFC49AEA-2A8F-250C-A86A-A7751D9706C3}"/>
              </a:ext>
            </a:extLst>
          </p:cNvPr>
          <p:cNvSpPr txBox="1"/>
          <p:nvPr/>
        </p:nvSpPr>
        <p:spPr>
          <a:xfrm>
            <a:off x="6116103" y="2287338"/>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290" name="타원 289"/>
          <p:cNvSpPr/>
          <p:nvPr/>
        </p:nvSpPr>
        <p:spPr>
          <a:xfrm>
            <a:off x="6206587" y="2935772"/>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 name="그룹 6"/>
          <p:cNvGrpSpPr/>
          <p:nvPr/>
        </p:nvGrpSpPr>
        <p:grpSpPr>
          <a:xfrm>
            <a:off x="2924086" y="3307357"/>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312" name="직선 연결선 311">
            <a:extLst>
              <a:ext uri="{FF2B5EF4-FFF2-40B4-BE49-F238E27FC236}">
                <a16:creationId xmlns:a16="http://schemas.microsoft.com/office/drawing/2014/main" id="{E9293055-D5CD-4B9E-7F64-64B2D2CA7A52}"/>
              </a:ext>
            </a:extLst>
          </p:cNvPr>
          <p:cNvCxnSpPr/>
          <p:nvPr/>
        </p:nvCxnSpPr>
        <p:spPr>
          <a:xfrm>
            <a:off x="3795734" y="36990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22583" y="58972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22583" y="60840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1" name="TextBox 170">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175" name="직선 연결선 174">
            <a:extLst>
              <a:ext uri="{FF2B5EF4-FFF2-40B4-BE49-F238E27FC236}">
                <a16:creationId xmlns:a16="http://schemas.microsoft.com/office/drawing/2014/main" id="{E9293055-D5CD-4B9E-7F64-64B2D2CA7A52}"/>
              </a:ext>
            </a:extLst>
          </p:cNvPr>
          <p:cNvCxnSpPr/>
          <p:nvPr/>
        </p:nvCxnSpPr>
        <p:spPr>
          <a:xfrm>
            <a:off x="3840825" y="185531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6" name="TextBox 175">
            <a:extLst>
              <a:ext uri="{FF2B5EF4-FFF2-40B4-BE49-F238E27FC236}">
                <a16:creationId xmlns:a16="http://schemas.microsoft.com/office/drawing/2014/main" id="{FFC49AEA-2A8F-250C-A86A-A7751D9706C3}"/>
              </a:ext>
            </a:extLst>
          </p:cNvPr>
          <p:cNvSpPr txBox="1"/>
          <p:nvPr/>
        </p:nvSpPr>
        <p:spPr>
          <a:xfrm>
            <a:off x="3884504" y="1638706"/>
            <a:ext cx="479756"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4488665" y="1638706"/>
            <a:ext cx="711015" cy="107722"/>
          </a:xfrm>
          <a:prstGeom prst="rect">
            <a:avLst/>
          </a:prstGeom>
          <a:noFill/>
        </p:spPr>
        <p:txBody>
          <a:bodyPr wrap="square" lIns="0" tIns="0" rIns="0" bIns="0" rtlCol="0">
            <a:spAutoFit/>
          </a:bodyPr>
          <a:lstStyle/>
          <a:p>
            <a:pPr algn="ctr"/>
            <a:r>
              <a:rPr lang="en-US" altLang="ko-KR" sz="700" dirty="0">
                <a:latin typeface="+mn-ea"/>
              </a:rPr>
              <a:t>2. </a:t>
            </a:r>
            <a:r>
              <a:rPr lang="ko-KR" altLang="en-US" sz="700" dirty="0">
                <a:latin typeface="+mn-ea"/>
              </a:rPr>
              <a:t>입찰</a:t>
            </a:r>
            <a:r>
              <a:rPr lang="en-US" altLang="ko-KR" sz="700" dirty="0">
                <a:latin typeface="+mn-ea"/>
              </a:rPr>
              <a:t>/</a:t>
            </a:r>
            <a:r>
              <a:rPr lang="ko-KR" altLang="en-US" sz="700" dirty="0">
                <a:latin typeface="+mn-ea"/>
              </a:rPr>
              <a:t>반려 정보</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5324084" y="1638706"/>
            <a:ext cx="479010"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파일첨부</a:t>
            </a:r>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3840825" y="1855313"/>
            <a:ext cx="523435"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80" name="그룹 179"/>
          <p:cNvGrpSpPr/>
          <p:nvPr/>
        </p:nvGrpSpPr>
        <p:grpSpPr>
          <a:xfrm>
            <a:off x="6044421" y="1600583"/>
            <a:ext cx="422853" cy="187961"/>
            <a:chOff x="3641308" y="2234886"/>
            <a:chExt cx="422853" cy="187961"/>
          </a:xfrm>
        </p:grpSpPr>
        <p:sp>
          <p:nvSpPr>
            <p:cNvPr id="181" name="타원 18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3" name="그룹 202"/>
            <p:cNvGrpSpPr/>
            <p:nvPr/>
          </p:nvGrpSpPr>
          <p:grpSpPr>
            <a:xfrm rot="5400000" flipH="1">
              <a:off x="3679895" y="2305364"/>
              <a:ext cx="94010" cy="47005"/>
              <a:chOff x="6812560" y="3297172"/>
              <a:chExt cx="94010" cy="47005"/>
            </a:xfrm>
          </p:grpSpPr>
          <p:cxnSp>
            <p:nvCxnSpPr>
              <p:cNvPr id="208" name="직선 연결선 2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9" name="직선 연결선 2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4" name="타원 20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5" name="그룹 204"/>
            <p:cNvGrpSpPr/>
            <p:nvPr/>
          </p:nvGrpSpPr>
          <p:grpSpPr>
            <a:xfrm rot="16200000">
              <a:off x="3931564" y="2305364"/>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36" name="모서리가 둥근 직사각형 235"/>
          <p:cNvSpPr/>
          <p:nvPr/>
        </p:nvSpPr>
        <p:spPr>
          <a:xfrm>
            <a:off x="3831550" y="3236323"/>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7" name="TextBox 236">
            <a:extLst>
              <a:ext uri="{FF2B5EF4-FFF2-40B4-BE49-F238E27FC236}">
                <a16:creationId xmlns:a16="http://schemas.microsoft.com/office/drawing/2014/main" id="{FFC49AEA-2A8F-250C-A86A-A7751D9706C3}"/>
              </a:ext>
            </a:extLst>
          </p:cNvPr>
          <p:cNvSpPr txBox="1"/>
          <p:nvPr/>
        </p:nvSpPr>
        <p:spPr>
          <a:xfrm>
            <a:off x="4332218" y="3364705"/>
            <a:ext cx="1682738" cy="107722"/>
          </a:xfrm>
          <a:prstGeom prst="rect">
            <a:avLst/>
          </a:prstGeom>
          <a:noFill/>
        </p:spPr>
        <p:txBody>
          <a:bodyPr wrap="square" lIns="0" tIns="0" rIns="0" bIns="0" rtlCol="0">
            <a:spAutoFit/>
          </a:bodyPr>
          <a:lstStyle/>
          <a:p>
            <a:r>
              <a:rPr lang="ko-KR" altLang="en-US" sz="700">
                <a:solidFill>
                  <a:schemeClr val="tx1">
                    <a:lumMod val="85000"/>
                    <a:lumOff val="15000"/>
                  </a:schemeClr>
                </a:solidFill>
                <a:latin typeface="맑은 고딕" panose="020B0503020000020004" pitchFamily="50" charset="-127"/>
              </a:rPr>
              <a:t>법 위반 </a:t>
            </a:r>
            <a:r>
              <a:rPr lang="ko-KR" altLang="en-US" sz="700" dirty="0" err="1">
                <a:solidFill>
                  <a:schemeClr val="tx1">
                    <a:lumMod val="85000"/>
                    <a:lumOff val="15000"/>
                  </a:schemeClr>
                </a:solidFill>
                <a:latin typeface="맑은 고딕" panose="020B0503020000020004" pitchFamily="50" charset="-127"/>
              </a:rPr>
              <a:t>처벌이력</a:t>
            </a:r>
            <a:r>
              <a:rPr lang="ko-KR" altLang="en-US" sz="700" dirty="0">
                <a:solidFill>
                  <a:schemeClr val="tx1">
                    <a:lumMod val="85000"/>
                    <a:lumOff val="15000"/>
                  </a:schemeClr>
                </a:solidFill>
                <a:latin typeface="맑은 고딕" panose="020B0503020000020004" pitchFamily="50" charset="-127"/>
              </a:rPr>
              <a:t> 확인서 양식</a:t>
            </a:r>
            <a:endParaRPr lang="en-US" altLang="ko-KR" sz="700" dirty="0">
              <a:solidFill>
                <a:schemeClr val="tx1">
                  <a:lumMod val="85000"/>
                  <a:lumOff val="15000"/>
                </a:schemeClr>
              </a:solidFill>
              <a:latin typeface="맑은 고딕" panose="020B0503020000020004" pitchFamily="50" charset="-127"/>
            </a:endParaRPr>
          </a:p>
        </p:txBody>
      </p:sp>
      <p:sp>
        <p:nvSpPr>
          <p:cNvPr id="238" name="TextBox 237">
            <a:extLst>
              <a:ext uri="{FF2B5EF4-FFF2-40B4-BE49-F238E27FC236}">
                <a16:creationId xmlns:a16="http://schemas.microsoft.com/office/drawing/2014/main" id="{FFC49AEA-2A8F-250C-A86A-A7751D9706C3}"/>
              </a:ext>
            </a:extLst>
          </p:cNvPr>
          <p:cNvSpPr txBox="1"/>
          <p:nvPr/>
        </p:nvSpPr>
        <p:spPr>
          <a:xfrm>
            <a:off x="3909746" y="3364705"/>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a:t>
            </a:r>
          </a:p>
        </p:txBody>
      </p:sp>
      <p:sp>
        <p:nvSpPr>
          <p:cNvPr id="239" name="타원 238"/>
          <p:cNvSpPr/>
          <p:nvPr/>
        </p:nvSpPr>
        <p:spPr>
          <a:xfrm>
            <a:off x="6206587" y="3346566"/>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4" name="그룹 123"/>
          <p:cNvGrpSpPr/>
          <p:nvPr/>
        </p:nvGrpSpPr>
        <p:grpSpPr>
          <a:xfrm>
            <a:off x="3795734" y="5614711"/>
            <a:ext cx="2712027" cy="617588"/>
            <a:chOff x="675399" y="5614711"/>
            <a:chExt cx="2712027" cy="617588"/>
          </a:xfrm>
        </p:grpSpPr>
        <p:sp>
          <p:nvSpPr>
            <p:cNvPr id="125" name="직사각형 124">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34" name="TextBox 58">
            <a:extLst>
              <a:ext uri="{FF2B5EF4-FFF2-40B4-BE49-F238E27FC236}">
                <a16:creationId xmlns:a16="http://schemas.microsoft.com/office/drawing/2014/main" id="{02FC114B-B48B-345F-BD70-2B5A196F5B3E}"/>
              </a:ext>
            </a:extLst>
          </p:cNvPr>
          <p:cNvSpPr txBox="1"/>
          <p:nvPr/>
        </p:nvSpPr>
        <p:spPr>
          <a:xfrm>
            <a:off x="3800816" y="1336107"/>
            <a:ext cx="2473257" cy="107722"/>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스크롤 시 표시 영역 상단 달라붙음 처리 </a:t>
            </a:r>
            <a:r>
              <a:rPr lang="en-US" altLang="ko-KR" sz="700" dirty="0"/>
              <a:t>(sticky)</a:t>
            </a:r>
            <a:endParaRPr lang="ko-KR" altLang="en-US" sz="900" b="1" dirty="0"/>
          </a:p>
        </p:txBody>
      </p:sp>
      <p:sp>
        <p:nvSpPr>
          <p:cNvPr id="135" name="평행 사변형 134"/>
          <p:cNvSpPr/>
          <p:nvPr/>
        </p:nvSpPr>
        <p:spPr>
          <a:xfrm rot="16200000" flipH="1">
            <a:off x="2561466" y="2327817"/>
            <a:ext cx="2060233" cy="408308"/>
          </a:xfrm>
          <a:prstGeom prst="parallelogram">
            <a:avLst>
              <a:gd name="adj" fmla="val 414097"/>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54543801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세부 항목 정보</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162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적격심사상세 </a:t>
            </a:r>
            <a:r>
              <a:rPr lang="en-US" altLang="ko-KR" dirty="0"/>
              <a:t>- </a:t>
            </a:r>
            <a:r>
              <a:rPr lang="ko-KR" altLang="en-US" dirty="0"/>
              <a:t>일반정보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이행</a:t>
            </a:r>
            <a:r>
              <a:rPr lang="en-US" altLang="ko-KR" dirty="0"/>
              <a:t>/</a:t>
            </a:r>
            <a:r>
              <a:rPr lang="ko-KR" altLang="en-US" dirty="0"/>
              <a:t>적격심사 </a:t>
            </a:r>
            <a:r>
              <a:rPr lang="en-US" altLang="ko-KR" dirty="0"/>
              <a:t>- </a:t>
            </a:r>
            <a:r>
              <a:rPr lang="ko-KR" altLang="en-US" dirty="0"/>
              <a:t>일반정보 탭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&gt; </a:t>
            </a:r>
            <a:r>
              <a:rPr lang="ko-KR" altLang="en-US" dirty="0"/>
              <a:t>이행</a:t>
            </a:r>
            <a:r>
              <a:rPr lang="en-US" altLang="ko-KR" dirty="0"/>
              <a:t>/</a:t>
            </a:r>
            <a:r>
              <a:rPr lang="ko-KR" altLang="en-US" dirty="0"/>
              <a:t>적격심사상세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60475" cy="3323695"/>
            <a:chOff x="701175" y="1527996"/>
            <a:chExt cx="2660475" cy="3323695"/>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300323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819868" cy="3016210"/>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en-US" altLang="ko-KR" sz="700" dirty="0">
                <a:latin typeface="+mn-ea"/>
              </a:endParaRPr>
            </a:p>
            <a:p>
              <a:pPr>
                <a:lnSpc>
                  <a:spcPct val="200000"/>
                </a:lnSpc>
              </a:pPr>
              <a:r>
                <a:rPr lang="ko-KR" altLang="en-US" sz="700" dirty="0" err="1">
                  <a:latin typeface="+mn-ea"/>
                </a:rPr>
                <a:t>대표품명</a:t>
              </a:r>
              <a:endParaRPr lang="en-US" altLang="ko-KR" sz="700" dirty="0">
                <a:latin typeface="+mn-ea"/>
              </a:endParaRPr>
            </a:p>
            <a:p>
              <a:pPr>
                <a:lnSpc>
                  <a:spcPct val="200000"/>
                </a:lnSpc>
              </a:pPr>
              <a:r>
                <a:rPr lang="ko-KR" altLang="en-US" sz="700" dirty="0" err="1">
                  <a:latin typeface="+mn-ea"/>
                </a:rPr>
                <a:t>지시년도</a:t>
              </a:r>
              <a:endParaRPr lang="en-US" altLang="ko-KR" sz="700" dirty="0">
                <a:latin typeface="+mn-ea"/>
              </a:endParaRPr>
            </a:p>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발주기관</a:t>
              </a:r>
              <a:endParaRPr lang="en-US" altLang="ko-KR" sz="700" dirty="0">
                <a:latin typeface="+mn-ea"/>
              </a:endParaRPr>
            </a:p>
            <a:p>
              <a:pPr>
                <a:lnSpc>
                  <a:spcPct val="200000"/>
                </a:lnSpc>
              </a:pPr>
              <a:r>
                <a:rPr lang="ko-KR" altLang="en-US" sz="700" dirty="0" err="1">
                  <a:latin typeface="+mn-ea"/>
                </a:rPr>
                <a:t>판단번호</a:t>
              </a:r>
              <a:endParaRPr lang="en-US" altLang="ko-KR" sz="700" dirty="0">
                <a:latin typeface="+mn-ea"/>
              </a:endParaRPr>
            </a:p>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a:latin typeface="+mn-ea"/>
                </a:rPr>
                <a:t>계약방법</a:t>
              </a:r>
              <a:endParaRPr lang="en-US" altLang="ko-KR" sz="700" dirty="0">
                <a:latin typeface="+mn-ea"/>
              </a:endParaRPr>
            </a:p>
            <a:p>
              <a:pPr>
                <a:lnSpc>
                  <a:spcPct val="200000"/>
                </a:lnSpc>
              </a:pPr>
              <a:r>
                <a:rPr lang="ko-KR" altLang="en-US" sz="700" dirty="0">
                  <a:latin typeface="+mn-ea"/>
                </a:rPr>
                <a:t>입찰방법</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신청마감일시</a:t>
              </a:r>
              <a:endParaRPr lang="en-US" altLang="ko-KR" sz="700" dirty="0">
                <a:latin typeface="+mn-ea"/>
              </a:endParaRPr>
            </a:p>
            <a:p>
              <a:pPr>
                <a:lnSpc>
                  <a:spcPct val="200000"/>
                </a:lnSpc>
              </a:pPr>
              <a:r>
                <a:rPr lang="ko-KR" altLang="en-US" sz="700" dirty="0" err="1">
                  <a:latin typeface="+mn-ea"/>
                </a:rPr>
                <a:t>적용양식</a:t>
              </a:r>
              <a:endParaRPr lang="en-US" altLang="ko-KR" sz="700" dirty="0">
                <a:latin typeface="+mn-ea"/>
              </a:endParaRPr>
            </a:p>
            <a:p>
              <a:pPr>
                <a:lnSpc>
                  <a:spcPct val="200000"/>
                </a:lnSpc>
              </a:pPr>
              <a:r>
                <a:rPr lang="ko-KR" altLang="en-US" sz="700" dirty="0">
                  <a:latin typeface="+mn-ea"/>
                </a:rPr>
                <a:t>비고</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99540" y="1835481"/>
              <a:ext cx="1762110" cy="2585323"/>
            </a:xfrm>
            <a:prstGeom prst="rect">
              <a:avLst/>
            </a:prstGeom>
            <a:noFill/>
          </p:spPr>
          <p:txBody>
            <a:bodyPr wrap="square" lIns="0" tIns="0" rIns="0" bIns="0" rtlCol="0">
              <a:spAutoFit/>
            </a:bodyPr>
            <a:lstStyle/>
            <a:p>
              <a:pPr>
                <a:lnSpc>
                  <a:spcPct val="200000"/>
                </a:lnSpc>
              </a:pPr>
              <a:r>
                <a:rPr lang="ko-KR" altLang="en-US" sz="700" dirty="0" err="1">
                  <a:latin typeface="+mn-ea"/>
                </a:rPr>
                <a:t>테스트공고</a:t>
              </a:r>
              <a:endParaRPr lang="en-US" altLang="ko-KR" sz="700" dirty="0">
                <a:latin typeface="+mn-ea"/>
              </a:endParaRPr>
            </a:p>
            <a:p>
              <a:pPr>
                <a:lnSpc>
                  <a:spcPct val="200000"/>
                </a:lnSpc>
              </a:pPr>
              <a:r>
                <a:rPr lang="ko-KR" altLang="en-US" sz="700" dirty="0" err="1">
                  <a:latin typeface="+mn-ea"/>
                </a:rPr>
                <a:t>테스트품목</a:t>
              </a:r>
              <a:endParaRPr lang="en-US" altLang="ko-KR" sz="700" dirty="0">
                <a:latin typeface="+mn-ea"/>
              </a:endParaRPr>
            </a:p>
            <a:p>
              <a:pPr>
                <a:lnSpc>
                  <a:spcPct val="200000"/>
                </a:lnSpc>
              </a:pPr>
              <a:r>
                <a:rPr lang="en-US" altLang="ko-KR" sz="700" dirty="0">
                  <a:latin typeface="+mn-ea"/>
                </a:rPr>
                <a:t>2025</a:t>
              </a:r>
            </a:p>
            <a:p>
              <a:pPr lvl="0">
                <a:lnSpc>
                  <a:spcPct val="200000"/>
                </a:lnSpc>
              </a:pPr>
              <a:r>
                <a:rPr lang="en-US" altLang="ko-KR" sz="700" dirty="0">
                  <a:latin typeface="+mn-ea"/>
                </a:rPr>
                <a:t>MST0001-1</a:t>
              </a:r>
            </a:p>
            <a:p>
              <a:pPr>
                <a:lnSpc>
                  <a:spcPct val="200000"/>
                </a:lnSpc>
              </a:pPr>
              <a:r>
                <a:rPr lang="en-US" altLang="ko-KR" sz="700" dirty="0">
                  <a:latin typeface="+mn-ea"/>
                </a:rPr>
                <a:t>2025MST0001</a:t>
              </a:r>
            </a:p>
            <a:p>
              <a:pPr>
                <a:lnSpc>
                  <a:spcPct val="200000"/>
                </a:lnSpc>
              </a:pPr>
              <a:r>
                <a:rPr lang="ko-KR" altLang="en-US" sz="700" dirty="0">
                  <a:latin typeface="+mn-ea"/>
                </a:rPr>
                <a:t>테스트발주기관</a:t>
              </a:r>
              <a:endParaRPr lang="en-US" altLang="ko-KR" sz="700" dirty="0">
                <a:latin typeface="+mn-ea"/>
              </a:endParaRPr>
            </a:p>
            <a:p>
              <a:pPr>
                <a:lnSpc>
                  <a:spcPct val="200000"/>
                </a:lnSpc>
              </a:pPr>
              <a:r>
                <a:rPr lang="en-US" altLang="ko-KR" sz="700" dirty="0">
                  <a:latin typeface="+mn-ea"/>
                </a:rPr>
                <a:t>10000</a:t>
              </a:r>
            </a:p>
            <a:p>
              <a:pPr>
                <a:lnSpc>
                  <a:spcPct val="200000"/>
                </a:lnSpc>
              </a:pPr>
              <a:r>
                <a:rPr lang="en-US" altLang="ko-KR" sz="700" dirty="0">
                  <a:latin typeface="+mn-ea"/>
                </a:rPr>
                <a:t>001</a:t>
              </a:r>
            </a:p>
            <a:p>
              <a:pPr lvl="0">
                <a:lnSpc>
                  <a:spcPct val="200000"/>
                </a:lnSpc>
              </a:pPr>
              <a:r>
                <a:rPr lang="en-US" altLang="ko-KR" sz="700" dirty="0">
                  <a:latin typeface="+mn-ea"/>
                </a:rPr>
                <a:t>2</a:t>
              </a:r>
              <a:r>
                <a:rPr lang="ko-KR" altLang="en-US" sz="700" dirty="0" err="1">
                  <a:latin typeface="+mn-ea"/>
                </a:rPr>
                <a:t>단계경쟁</a:t>
              </a:r>
              <a:r>
                <a:rPr lang="en-US" altLang="ko-KR" sz="700" dirty="0">
                  <a:latin typeface="+mn-ea"/>
                </a:rPr>
                <a:t>(</a:t>
              </a:r>
              <a:r>
                <a:rPr lang="ko-KR" altLang="en-US" sz="700" dirty="0">
                  <a:latin typeface="+mn-ea"/>
                </a:rPr>
                <a:t>분리</a:t>
              </a:r>
              <a:r>
                <a:rPr lang="en-US" altLang="ko-KR" sz="700" dirty="0">
                  <a:latin typeface="+mn-ea"/>
                </a:rPr>
                <a:t>)</a:t>
              </a:r>
            </a:p>
            <a:p>
              <a:pPr lvl="0">
                <a:lnSpc>
                  <a:spcPct val="200000"/>
                </a:lnSpc>
              </a:pPr>
              <a:r>
                <a:rPr lang="ko-KR" altLang="en-US" sz="700" dirty="0" err="1">
                  <a:latin typeface="+mn-ea"/>
                </a:rPr>
                <a:t>총액제</a:t>
              </a:r>
              <a:endParaRPr lang="en-US" altLang="ko-KR" sz="700" dirty="0">
                <a:latin typeface="+mn-ea"/>
              </a:endParaRPr>
            </a:p>
            <a:p>
              <a:pPr>
                <a:lnSpc>
                  <a:spcPct val="200000"/>
                </a:lnSpc>
              </a:pPr>
              <a:r>
                <a:rPr lang="en-US" altLang="ko-KR" sz="700" dirty="0">
                  <a:latin typeface="+mn-ea"/>
                </a:rPr>
                <a:t>2025-12-01 10:00</a:t>
              </a:r>
            </a:p>
            <a:p>
              <a:pPr lvl="0">
                <a:lnSpc>
                  <a:spcPct val="200000"/>
                </a:lnSpc>
              </a:pPr>
              <a:endParaRPr lang="en-US" altLang="ko-KR" sz="700" dirty="0">
                <a:latin typeface="+mn-ea"/>
              </a:endParaRPr>
            </a:p>
          </p:txBody>
        </p:sp>
        <p:grpSp>
          <p:nvGrpSpPr>
            <p:cNvPr id="17" name="그룹 16"/>
            <p:cNvGrpSpPr/>
            <p:nvPr/>
          </p:nvGrpSpPr>
          <p:grpSpPr>
            <a:xfrm>
              <a:off x="701175" y="1835481"/>
              <a:ext cx="2630093" cy="3006360"/>
              <a:chOff x="701175" y="1835481"/>
              <a:chExt cx="2630093" cy="300636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82" name="직선 연결선 81">
            <a:extLst>
              <a:ext uri="{FF2B5EF4-FFF2-40B4-BE49-F238E27FC236}">
                <a16:creationId xmlns:a16="http://schemas.microsoft.com/office/drawing/2014/main" id="{E9293055-D5CD-4B9E-7F64-64B2D2CA7A52}"/>
              </a:ext>
            </a:extLst>
          </p:cNvPr>
          <p:cNvCxnSpPr/>
          <p:nvPr/>
        </p:nvCxnSpPr>
        <p:spPr>
          <a:xfrm>
            <a:off x="3795734" y="156832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3" name="TextBox 82">
            <a:extLst>
              <a:ext uri="{FF2B5EF4-FFF2-40B4-BE49-F238E27FC236}">
                <a16:creationId xmlns:a16="http://schemas.microsoft.com/office/drawing/2014/main" id="{FFC49AEA-2A8F-250C-A86A-A7751D9706C3}"/>
              </a:ext>
            </a:extLst>
          </p:cNvPr>
          <p:cNvSpPr txBox="1"/>
          <p:nvPr/>
        </p:nvSpPr>
        <p:spPr>
          <a:xfrm>
            <a:off x="3878080" y="1635710"/>
            <a:ext cx="728875" cy="215444"/>
          </a:xfrm>
          <a:prstGeom prst="rect">
            <a:avLst/>
          </a:prstGeom>
          <a:noFill/>
        </p:spPr>
        <p:txBody>
          <a:bodyPr wrap="square" lIns="0" tIns="0" rIns="0" bIns="0" rtlCol="0">
            <a:spAutoFit/>
          </a:bodyPr>
          <a:lstStyle/>
          <a:p>
            <a:pPr>
              <a:lnSpc>
                <a:spcPct val="200000"/>
              </a:lnSpc>
            </a:pPr>
            <a:r>
              <a:rPr lang="ko-KR" altLang="en-US" sz="700" spc="-52" dirty="0" err="1">
                <a:solidFill>
                  <a:schemeClr val="tx1">
                    <a:lumMod val="75000"/>
                    <a:lumOff val="25000"/>
                  </a:schemeClr>
                </a:solidFill>
                <a:latin typeface="맑은 고딕" panose="020B0503020000020004" pitchFamily="50" charset="-127"/>
              </a:rPr>
              <a:t>참고서류</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85" name="그룹 84"/>
          <p:cNvGrpSpPr/>
          <p:nvPr/>
        </p:nvGrpSpPr>
        <p:grpSpPr>
          <a:xfrm flipV="1">
            <a:off x="6240167" y="1749041"/>
            <a:ext cx="94010" cy="47005"/>
            <a:chOff x="6812560" y="3297172"/>
            <a:chExt cx="94010" cy="47005"/>
          </a:xfrm>
        </p:grpSpPr>
        <p:cxnSp>
          <p:nvCxnSpPr>
            <p:cNvPr id="88" name="직선 연결선 8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2" name="직선 연결선 9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4" name="모서리가 둥근 직사각형 93"/>
          <p:cNvSpPr/>
          <p:nvPr/>
        </p:nvSpPr>
        <p:spPr>
          <a:xfrm>
            <a:off x="3831550" y="203409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a:extLst>
              <a:ext uri="{FF2B5EF4-FFF2-40B4-BE49-F238E27FC236}">
                <a16:creationId xmlns:a16="http://schemas.microsoft.com/office/drawing/2014/main" id="{FFC49AEA-2A8F-250C-A86A-A7751D9706C3}"/>
              </a:ext>
            </a:extLst>
          </p:cNvPr>
          <p:cNvSpPr txBox="1"/>
          <p:nvPr/>
        </p:nvSpPr>
        <p:spPr>
          <a:xfrm>
            <a:off x="4332218" y="2108617"/>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97" name="TextBox 96">
            <a:extLst>
              <a:ext uri="{FF2B5EF4-FFF2-40B4-BE49-F238E27FC236}">
                <a16:creationId xmlns:a16="http://schemas.microsoft.com/office/drawing/2014/main" id="{FFC49AEA-2A8F-250C-A86A-A7751D9706C3}"/>
              </a:ext>
            </a:extLst>
          </p:cNvPr>
          <p:cNvSpPr txBox="1"/>
          <p:nvPr/>
        </p:nvSpPr>
        <p:spPr>
          <a:xfrm>
            <a:off x="3909746" y="216247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98" name="모서리가 둥근 직사각형 97"/>
          <p:cNvSpPr/>
          <p:nvPr/>
        </p:nvSpPr>
        <p:spPr>
          <a:xfrm>
            <a:off x="3831550" y="244078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4332218" y="251530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0" name="TextBox 99">
            <a:extLst>
              <a:ext uri="{FF2B5EF4-FFF2-40B4-BE49-F238E27FC236}">
                <a16:creationId xmlns:a16="http://schemas.microsoft.com/office/drawing/2014/main" id="{FFC49AEA-2A8F-250C-A86A-A7751D9706C3}"/>
              </a:ext>
            </a:extLst>
          </p:cNvPr>
          <p:cNvSpPr txBox="1"/>
          <p:nvPr/>
        </p:nvSpPr>
        <p:spPr>
          <a:xfrm>
            <a:off x="3909746" y="256916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4332218" y="1898978"/>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03" name="TextBox 102">
            <a:extLst>
              <a:ext uri="{FF2B5EF4-FFF2-40B4-BE49-F238E27FC236}">
                <a16:creationId xmlns:a16="http://schemas.microsoft.com/office/drawing/2014/main" id="{FFC49AEA-2A8F-250C-A86A-A7751D9706C3}"/>
              </a:ext>
            </a:extLst>
          </p:cNvPr>
          <p:cNvSpPr txBox="1"/>
          <p:nvPr/>
        </p:nvSpPr>
        <p:spPr>
          <a:xfrm>
            <a:off x="3838314" y="1898978"/>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04" name="타원 103"/>
          <p:cNvSpPr/>
          <p:nvPr/>
        </p:nvSpPr>
        <p:spPr>
          <a:xfrm>
            <a:off x="6206587" y="214433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6116103" y="1902591"/>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06" name="타원 105"/>
          <p:cNvSpPr/>
          <p:nvPr/>
        </p:nvSpPr>
        <p:spPr>
          <a:xfrm>
            <a:off x="6206587" y="255102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7" name="직선 연결선 106">
            <a:extLst>
              <a:ext uri="{FF2B5EF4-FFF2-40B4-BE49-F238E27FC236}">
                <a16:creationId xmlns:a16="http://schemas.microsoft.com/office/drawing/2014/main" id="{E9293055-D5CD-4B9E-7F64-64B2D2CA7A52}"/>
              </a:ext>
            </a:extLst>
          </p:cNvPr>
          <p:cNvCxnSpPr/>
          <p:nvPr/>
        </p:nvCxnSpPr>
        <p:spPr>
          <a:xfrm>
            <a:off x="3795734" y="330889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8" name="모서리가 둥근 직사각형 107"/>
          <p:cNvSpPr/>
          <p:nvPr/>
        </p:nvSpPr>
        <p:spPr>
          <a:xfrm>
            <a:off x="3831550" y="285157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9" name="TextBox 108">
            <a:extLst>
              <a:ext uri="{FF2B5EF4-FFF2-40B4-BE49-F238E27FC236}">
                <a16:creationId xmlns:a16="http://schemas.microsoft.com/office/drawing/2014/main" id="{FFC49AEA-2A8F-250C-A86A-A7751D9706C3}"/>
              </a:ext>
            </a:extLst>
          </p:cNvPr>
          <p:cNvSpPr txBox="1"/>
          <p:nvPr/>
        </p:nvSpPr>
        <p:spPr>
          <a:xfrm>
            <a:off x="4332218" y="2979958"/>
            <a:ext cx="1682738" cy="107722"/>
          </a:xfrm>
          <a:prstGeom prst="rect">
            <a:avLst/>
          </a:prstGeom>
          <a:noFill/>
        </p:spPr>
        <p:txBody>
          <a:bodyPr wrap="square" lIns="0" tIns="0" rIns="0" bIns="0" rtlCol="0">
            <a:spAutoFit/>
          </a:bodyPr>
          <a:lstStyle/>
          <a:p>
            <a:r>
              <a:rPr lang="ko-KR" altLang="en-US" sz="700">
                <a:solidFill>
                  <a:schemeClr val="tx1">
                    <a:lumMod val="85000"/>
                    <a:lumOff val="15000"/>
                  </a:schemeClr>
                </a:solidFill>
                <a:latin typeface="맑은 고딕" panose="020B0503020000020004" pitchFamily="50" charset="-127"/>
              </a:rPr>
              <a:t>법 위반 </a:t>
            </a:r>
            <a:r>
              <a:rPr lang="ko-KR" altLang="en-US" sz="700" dirty="0" err="1">
                <a:solidFill>
                  <a:schemeClr val="tx1">
                    <a:lumMod val="85000"/>
                    <a:lumOff val="15000"/>
                  </a:schemeClr>
                </a:solidFill>
                <a:latin typeface="맑은 고딕" panose="020B0503020000020004" pitchFamily="50" charset="-127"/>
              </a:rPr>
              <a:t>처벌이력</a:t>
            </a:r>
            <a:r>
              <a:rPr lang="ko-KR" altLang="en-US" sz="700" dirty="0">
                <a:solidFill>
                  <a:schemeClr val="tx1">
                    <a:lumMod val="85000"/>
                    <a:lumOff val="15000"/>
                  </a:schemeClr>
                </a:solidFill>
                <a:latin typeface="맑은 고딕" panose="020B0503020000020004" pitchFamily="50" charset="-127"/>
              </a:rPr>
              <a:t> 확인서 양식</a:t>
            </a:r>
            <a:endParaRPr lang="en-US" altLang="ko-KR" sz="700" dirty="0">
              <a:solidFill>
                <a:schemeClr val="tx1">
                  <a:lumMod val="85000"/>
                  <a:lumOff val="15000"/>
                </a:schemeClr>
              </a:solidFill>
              <a:latin typeface="맑은 고딕" panose="020B0503020000020004" pitchFamily="50" charset="-127"/>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3909746" y="297995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a:t>
            </a:r>
          </a:p>
        </p:txBody>
      </p:sp>
      <p:sp>
        <p:nvSpPr>
          <p:cNvPr id="111" name="타원 110"/>
          <p:cNvSpPr/>
          <p:nvPr/>
        </p:nvSpPr>
        <p:spPr>
          <a:xfrm>
            <a:off x="6206587" y="296181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5" name="그룹 64"/>
          <p:cNvGrpSpPr/>
          <p:nvPr/>
        </p:nvGrpSpPr>
        <p:grpSpPr>
          <a:xfrm>
            <a:off x="3795734" y="5614711"/>
            <a:ext cx="2712027" cy="617588"/>
            <a:chOff x="675399" y="5614711"/>
            <a:chExt cx="2712027" cy="617588"/>
          </a:xfrm>
        </p:grpSpPr>
        <p:sp>
          <p:nvSpPr>
            <p:cNvPr id="66" name="직사각형 6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6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Tree>
    <p:extLst>
      <p:ext uri="{BB962C8B-B14F-4D97-AF65-F5344CB8AC3E}">
        <p14:creationId xmlns:p14="http://schemas.microsoft.com/office/powerpoint/2010/main" val="4141594370"/>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입찰 결과 항목 </a:t>
            </a:r>
            <a:r>
              <a:rPr lang="ko-KR" altLang="en-US" dirty="0" smtClean="0"/>
              <a:t>정보</a:t>
            </a:r>
            <a:endParaRPr lang="en-US" altLang="ko-KR" dirty="0" smtClean="0"/>
          </a:p>
          <a:p>
            <a:pPr marL="228600" indent="-228600">
              <a:buFont typeface="+mj-ea"/>
              <a:buAutoNum type="arabicPeriod"/>
            </a:pPr>
            <a:r>
              <a:rPr lang="ko-KR" altLang="en-US" dirty="0" smtClean="0"/>
              <a:t>반려 사유</a:t>
            </a:r>
            <a:r>
              <a:rPr lang="en-US" altLang="ko-KR" dirty="0" smtClean="0"/>
              <a:t/>
            </a:r>
            <a:br>
              <a:rPr lang="en-US" altLang="ko-KR" dirty="0" smtClean="0"/>
            </a:br>
            <a:r>
              <a:rPr lang="en-US" altLang="ko-KR" dirty="0" smtClean="0"/>
              <a:t>- </a:t>
            </a:r>
            <a:r>
              <a:rPr lang="ko-KR" altLang="en-US" dirty="0" smtClean="0"/>
              <a:t>사용자가 신청한 이후 관리자에 의해 반려 내용이 작성된 경우 표시되는 </a:t>
            </a:r>
            <a:r>
              <a:rPr lang="ko-KR" altLang="en-US" dirty="0" err="1" smtClean="0"/>
              <a:t>항목임</a:t>
            </a:r>
            <a:r>
              <a:rPr lang="en-US" altLang="ko-KR" dirty="0" smtClean="0"/>
              <a:t>.</a:t>
            </a:r>
            <a:br>
              <a:rPr lang="en-US" altLang="ko-KR" dirty="0" smtClean="0"/>
            </a:br>
            <a:r>
              <a:rPr lang="en-US" altLang="ko-KR" dirty="0" smtClean="0"/>
              <a:t>- </a:t>
            </a:r>
            <a:r>
              <a:rPr lang="ko-KR" altLang="en-US" dirty="0" smtClean="0"/>
              <a:t>최초 신청시점에는 표시되지 않는 항목</a:t>
            </a:r>
            <a:r>
              <a:rPr lang="en-US" altLang="ko-KR" dirty="0" smtClean="0"/>
              <a:t>.</a:t>
            </a:r>
            <a:br>
              <a:rPr lang="en-US" altLang="ko-KR" dirty="0" smtClean="0"/>
            </a:br>
            <a:r>
              <a:rPr lang="en-US" altLang="ko-KR" dirty="0" smtClean="0"/>
              <a:t>- </a:t>
            </a:r>
            <a:r>
              <a:rPr lang="ko-KR" altLang="en-US" dirty="0" smtClean="0"/>
              <a:t>내용 확인을 위한 재진입 시에도 반려 사유가 없는 경우 </a:t>
            </a:r>
            <a:r>
              <a:rPr lang="ko-KR" altLang="en-US" dirty="0" err="1" smtClean="0"/>
              <a:t>미표시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163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적격심사상세 </a:t>
            </a:r>
            <a:r>
              <a:rPr lang="en-US" altLang="ko-KR" dirty="0"/>
              <a:t>– </a:t>
            </a:r>
            <a:r>
              <a:rPr lang="ko-KR" altLang="en-US" dirty="0"/>
              <a:t>입찰</a:t>
            </a:r>
            <a:r>
              <a:rPr lang="en-US" altLang="ko-KR" dirty="0"/>
              <a:t>/</a:t>
            </a:r>
            <a:r>
              <a:rPr lang="ko-KR" altLang="en-US" dirty="0"/>
              <a:t>반려 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적격심사상세 </a:t>
            </a:r>
            <a:r>
              <a:rPr lang="en-US" altLang="ko-KR" dirty="0"/>
              <a:t>- </a:t>
            </a:r>
            <a:r>
              <a:rPr lang="ko-KR" altLang="en-US" dirty="0"/>
              <a:t>입찰</a:t>
            </a:r>
            <a:r>
              <a:rPr lang="en-US" altLang="ko-KR" dirty="0"/>
              <a:t>/</a:t>
            </a:r>
            <a:r>
              <a:rPr lang="ko-KR" altLang="en-US" dirty="0"/>
              <a:t>반려 정보 탭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&gt; </a:t>
            </a:r>
            <a:r>
              <a:rPr lang="ko-KR" altLang="en-US" dirty="0"/>
              <a:t>이행</a:t>
            </a:r>
            <a:r>
              <a:rPr lang="en-US" altLang="ko-KR" dirty="0"/>
              <a:t>/</a:t>
            </a:r>
            <a:r>
              <a:rPr lang="ko-KR" altLang="en-US" dirty="0"/>
              <a:t>적격심사상세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1600147"/>
            <a:chOff x="701175" y="1527996"/>
            <a:chExt cx="2630093" cy="1600147"/>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530678" cy="181140"/>
            </a:xfrm>
            <a:prstGeom prst="rect">
              <a:avLst/>
            </a:prstGeom>
            <a:noFill/>
          </p:spPr>
          <p:txBody>
            <a:bodyPr wrap="square" lIns="0" tIns="0" rIns="0" bIns="0" rtlCol="0">
              <a:spAutoFit/>
            </a:bodyPr>
            <a:lstStyle/>
            <a:p>
              <a:pPr>
                <a:lnSpc>
                  <a:spcPct val="200000"/>
                </a:lnSpc>
              </a:pPr>
              <a:r>
                <a:rPr lang="ko-KR" altLang="en-US" sz="700" dirty="0">
                  <a:latin typeface="+mn-ea"/>
                </a:rPr>
                <a:t>입찰결과</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1288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819868" cy="1292662"/>
            </a:xfrm>
            <a:prstGeom prst="rect">
              <a:avLst/>
            </a:prstGeom>
            <a:noFill/>
          </p:spPr>
          <p:txBody>
            <a:bodyPr wrap="square" lIns="0" tIns="0" rIns="0" bIns="0" rtlCol="0">
              <a:spAutoFit/>
            </a:bodyPr>
            <a:lstStyle/>
            <a:p>
              <a:pPr>
                <a:lnSpc>
                  <a:spcPct val="200000"/>
                </a:lnSpc>
              </a:pPr>
              <a:r>
                <a:rPr lang="ko-KR" altLang="en-US" sz="700" dirty="0" err="1">
                  <a:latin typeface="+mn-ea"/>
                </a:rPr>
                <a:t>낙찰순위</a:t>
              </a:r>
              <a:endParaRPr lang="en-US" altLang="ko-KR" sz="700" dirty="0">
                <a:latin typeface="+mn-ea"/>
              </a:endParaRPr>
            </a:p>
            <a:p>
              <a:pPr>
                <a:lnSpc>
                  <a:spcPct val="200000"/>
                </a:lnSpc>
              </a:pPr>
              <a:r>
                <a:rPr lang="ko-KR" altLang="en-US" sz="700" dirty="0" err="1">
                  <a:latin typeface="+mn-ea"/>
                </a:rPr>
                <a:t>투찰금액</a:t>
              </a:r>
              <a:endParaRPr lang="en-US" altLang="ko-KR" sz="700" dirty="0">
                <a:latin typeface="+mn-ea"/>
              </a:endParaRPr>
            </a:p>
            <a:p>
              <a:pPr>
                <a:lnSpc>
                  <a:spcPct val="200000"/>
                </a:lnSpc>
              </a:pPr>
              <a:r>
                <a:rPr lang="ko-KR" altLang="en-US" sz="700" dirty="0" err="1">
                  <a:latin typeface="+mn-ea"/>
                </a:rPr>
                <a:t>투찰률</a:t>
              </a:r>
              <a:endParaRPr lang="en-US" altLang="ko-KR" sz="700" dirty="0">
                <a:latin typeface="+mn-ea"/>
              </a:endParaRPr>
            </a:p>
            <a:p>
              <a:pPr>
                <a:lnSpc>
                  <a:spcPct val="200000"/>
                </a:lnSpc>
              </a:pPr>
              <a:r>
                <a:rPr lang="en-US" altLang="ko-KR" sz="700" dirty="0">
                  <a:latin typeface="+mn-ea"/>
                </a:rPr>
                <a:t>(</a:t>
              </a:r>
              <a:r>
                <a:rPr lang="ko-KR" altLang="en-US" sz="700" dirty="0">
                  <a:latin typeface="+mn-ea"/>
                </a:rPr>
                <a:t>입찰가격</a:t>
              </a:r>
              <a:r>
                <a:rPr lang="en-US" altLang="ko-KR" sz="700" dirty="0">
                  <a:latin typeface="+mn-ea"/>
                </a:rPr>
                <a:t>-A)/(</a:t>
              </a:r>
              <a:r>
                <a:rPr lang="ko-KR" altLang="en-US" sz="700" dirty="0">
                  <a:latin typeface="+mn-ea"/>
                </a:rPr>
                <a:t>예정가격</a:t>
              </a:r>
              <a:r>
                <a:rPr lang="en-US" altLang="ko-KR" sz="700" dirty="0">
                  <a:latin typeface="+mn-ea"/>
                </a:rPr>
                <a:t>-A)*100</a:t>
              </a:r>
            </a:p>
            <a:p>
              <a:pPr>
                <a:lnSpc>
                  <a:spcPct val="200000"/>
                </a:lnSpc>
              </a:pPr>
              <a:r>
                <a:rPr lang="ko-KR" altLang="en-US" sz="700" dirty="0">
                  <a:latin typeface="+mn-ea"/>
                </a:rPr>
                <a:t>상태</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99540" y="1835481"/>
              <a:ext cx="1731728" cy="1292662"/>
            </a:xfrm>
            <a:prstGeom prst="rect">
              <a:avLst/>
            </a:prstGeom>
            <a:noFill/>
          </p:spPr>
          <p:txBody>
            <a:bodyPr wrap="square" lIns="0" tIns="0" rIns="0" bIns="0" rtlCol="0">
              <a:spAutoFit/>
            </a:bodyPr>
            <a:lstStyle/>
            <a:p>
              <a:pPr>
                <a:lnSpc>
                  <a:spcPct val="200000"/>
                </a:lnSpc>
              </a:pPr>
              <a:r>
                <a:rPr lang="en-US" altLang="ko-KR" sz="700" dirty="0">
                  <a:latin typeface="+mn-ea"/>
                </a:rPr>
                <a:t>1</a:t>
              </a:r>
              <a:r>
                <a:rPr lang="ko-KR" altLang="en-US" sz="700" dirty="0">
                  <a:latin typeface="+mn-ea"/>
                </a:rPr>
                <a:t>순위</a:t>
              </a:r>
              <a:endParaRPr lang="en-US" altLang="ko-KR" sz="700" dirty="0">
                <a:latin typeface="+mn-ea"/>
              </a:endParaRPr>
            </a:p>
            <a:p>
              <a:pPr algn="r">
                <a:lnSpc>
                  <a:spcPct val="200000"/>
                </a:lnSpc>
              </a:pPr>
              <a:r>
                <a:rPr lang="en-US" altLang="ko-KR" sz="700" dirty="0">
                  <a:latin typeface="+mn-ea"/>
                </a:rPr>
                <a:t>89,000,000</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89.8 %</a:t>
              </a: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대상통보</a:t>
              </a:r>
              <a:endParaRPr lang="en-US" altLang="ko-KR" sz="700" dirty="0">
                <a:latin typeface="+mn-ea"/>
              </a:endParaRPr>
            </a:p>
          </p:txBody>
        </p:sp>
        <p:grpSp>
          <p:nvGrpSpPr>
            <p:cNvPr id="17" name="그룹 16"/>
            <p:cNvGrpSpPr/>
            <p:nvPr/>
          </p:nvGrpSpPr>
          <p:grpSpPr>
            <a:xfrm>
              <a:off x="701175" y="1835481"/>
              <a:ext cx="2630093" cy="1288440"/>
              <a:chOff x="701175" y="1835481"/>
              <a:chExt cx="2630093" cy="12884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61" name="TextBox 60">
            <a:extLst>
              <a:ext uri="{FF2B5EF4-FFF2-40B4-BE49-F238E27FC236}">
                <a16:creationId xmlns:a16="http://schemas.microsoft.com/office/drawing/2014/main" id="{FFC49AEA-2A8F-250C-A86A-A7751D9706C3}"/>
              </a:ext>
            </a:extLst>
          </p:cNvPr>
          <p:cNvSpPr txBox="1"/>
          <p:nvPr/>
        </p:nvSpPr>
        <p:spPr>
          <a:xfrm>
            <a:off x="762146" y="3343148"/>
            <a:ext cx="1530678" cy="181140"/>
          </a:xfrm>
          <a:prstGeom prst="rect">
            <a:avLst/>
          </a:prstGeom>
          <a:noFill/>
        </p:spPr>
        <p:txBody>
          <a:bodyPr wrap="square" lIns="0" tIns="0" rIns="0" bIns="0" rtlCol="0">
            <a:spAutoFit/>
          </a:bodyPr>
          <a:lstStyle/>
          <a:p>
            <a:pPr>
              <a:lnSpc>
                <a:spcPct val="200000"/>
              </a:lnSpc>
            </a:pPr>
            <a:r>
              <a:rPr lang="ko-KR" altLang="en-US" sz="700" dirty="0">
                <a:latin typeface="+mn-ea"/>
              </a:rPr>
              <a:t>반려 사유</a:t>
            </a:r>
          </a:p>
        </p:txBody>
      </p:sp>
      <p:grpSp>
        <p:nvGrpSpPr>
          <p:cNvPr id="62" name="그룹 61"/>
          <p:cNvGrpSpPr/>
          <p:nvPr/>
        </p:nvGrpSpPr>
        <p:grpSpPr>
          <a:xfrm flipV="1">
            <a:off x="3124233" y="3456479"/>
            <a:ext cx="94010" cy="47005"/>
            <a:chOff x="6812560" y="3297172"/>
            <a:chExt cx="94010" cy="47005"/>
          </a:xfrm>
        </p:grpSpPr>
        <p:cxnSp>
          <p:nvCxnSpPr>
            <p:cNvPr id="73" name="직선 연결선 7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4" name="직선 연결선 7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75" name="직선 연결선 74">
            <a:extLst>
              <a:ext uri="{FF2B5EF4-FFF2-40B4-BE49-F238E27FC236}">
                <a16:creationId xmlns:a16="http://schemas.microsoft.com/office/drawing/2014/main" id="{E9293055-D5CD-4B9E-7F64-64B2D2CA7A52}"/>
              </a:ext>
            </a:extLst>
          </p:cNvPr>
          <p:cNvCxnSpPr/>
          <p:nvPr/>
        </p:nvCxnSpPr>
        <p:spPr>
          <a:xfrm>
            <a:off x="675399" y="326064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6" name="직사각형 75"/>
          <p:cNvSpPr/>
          <p:nvPr/>
        </p:nvSpPr>
        <p:spPr>
          <a:xfrm>
            <a:off x="715155" y="3649760"/>
            <a:ext cx="2621844" cy="10485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7" name="TextBox 76">
            <a:extLst>
              <a:ext uri="{FF2B5EF4-FFF2-40B4-BE49-F238E27FC236}">
                <a16:creationId xmlns:a16="http://schemas.microsoft.com/office/drawing/2014/main" id="{FFC49AEA-2A8F-250C-A86A-A7751D9706C3}"/>
              </a:ext>
            </a:extLst>
          </p:cNvPr>
          <p:cNvSpPr txBox="1"/>
          <p:nvPr/>
        </p:nvSpPr>
        <p:spPr>
          <a:xfrm>
            <a:off x="804311" y="3650633"/>
            <a:ext cx="2454126" cy="181140"/>
          </a:xfrm>
          <a:prstGeom prst="rect">
            <a:avLst/>
          </a:prstGeom>
          <a:noFill/>
        </p:spPr>
        <p:txBody>
          <a:bodyPr wrap="square" lIns="0" tIns="0" rIns="0" bIns="0" rtlCol="0">
            <a:spAutoFit/>
          </a:bodyPr>
          <a:lstStyle/>
          <a:p>
            <a:pPr>
              <a:lnSpc>
                <a:spcPct val="200000"/>
              </a:lnSpc>
            </a:pPr>
            <a:r>
              <a:rPr lang="ko-KR" altLang="en-US" sz="700" dirty="0">
                <a:latin typeface="+mn-ea"/>
              </a:rPr>
              <a:t>반려 사유 표시</a:t>
            </a:r>
            <a:endParaRPr lang="en-US" altLang="ko-KR" sz="700" dirty="0">
              <a:latin typeface="+mn-ea"/>
            </a:endParaRPr>
          </a:p>
        </p:txBody>
      </p:sp>
      <p:grpSp>
        <p:nvGrpSpPr>
          <p:cNvPr id="78" name="그룹 77"/>
          <p:cNvGrpSpPr/>
          <p:nvPr/>
        </p:nvGrpSpPr>
        <p:grpSpPr>
          <a:xfrm>
            <a:off x="715155" y="3649759"/>
            <a:ext cx="2630093" cy="1048572"/>
            <a:chOff x="701175" y="1835481"/>
            <a:chExt cx="2630093" cy="1048572"/>
          </a:xfrm>
        </p:grpSpPr>
        <p:cxnSp>
          <p:nvCxnSpPr>
            <p:cNvPr id="79" name="직선 연결선 7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0" name="직선 연결선 79">
              <a:extLst>
                <a:ext uri="{FF2B5EF4-FFF2-40B4-BE49-F238E27FC236}">
                  <a16:creationId xmlns:a16="http://schemas.microsoft.com/office/drawing/2014/main" id="{E9293055-D5CD-4B9E-7F64-64B2D2CA7A52}"/>
                </a:ext>
              </a:extLst>
            </p:cNvPr>
            <p:cNvCxnSpPr/>
            <p:nvPr/>
          </p:nvCxnSpPr>
          <p:spPr>
            <a:xfrm>
              <a:off x="703268" y="288405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81" name="직선 연결선 80">
            <a:extLst>
              <a:ext uri="{FF2B5EF4-FFF2-40B4-BE49-F238E27FC236}">
                <a16:creationId xmlns:a16="http://schemas.microsoft.com/office/drawing/2014/main" id="{E9293055-D5CD-4B9E-7F64-64B2D2CA7A52}"/>
              </a:ext>
            </a:extLst>
          </p:cNvPr>
          <p:cNvCxnSpPr/>
          <p:nvPr/>
        </p:nvCxnSpPr>
        <p:spPr>
          <a:xfrm>
            <a:off x="675488" y="47867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0" name="타원 39">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45" name="그룹 44"/>
          <p:cNvGrpSpPr/>
          <p:nvPr/>
        </p:nvGrpSpPr>
        <p:grpSpPr>
          <a:xfrm>
            <a:off x="675399" y="5614711"/>
            <a:ext cx="2712027" cy="617588"/>
            <a:chOff x="675399" y="5614711"/>
            <a:chExt cx="2712027" cy="617588"/>
          </a:xfrm>
        </p:grpSpPr>
        <p:sp>
          <p:nvSpPr>
            <p:cNvPr id="46" name="직사각형 4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4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49" name="그룹 48"/>
          <p:cNvGrpSpPr/>
          <p:nvPr/>
        </p:nvGrpSpPr>
        <p:grpSpPr>
          <a:xfrm>
            <a:off x="8223250" y="569392"/>
            <a:ext cx="3365500" cy="634511"/>
            <a:chOff x="8223250" y="569392"/>
            <a:chExt cx="3365500" cy="634511"/>
          </a:xfrm>
        </p:grpSpPr>
        <p:sp>
          <p:nvSpPr>
            <p:cNvPr id="50" name="직사각형 49"/>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51" name="직사각형 50"/>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반려 사유 정보 설명 추가</a:t>
              </a:r>
              <a:endParaRPr lang="ko-KR" altLang="en-US" sz="700" dirty="0"/>
            </a:p>
          </p:txBody>
        </p:sp>
      </p:grpSp>
      <p:sp>
        <p:nvSpPr>
          <p:cNvPr id="52" name="타원 51">
            <a:extLst>
              <a:ext uri="{FF2B5EF4-FFF2-40B4-BE49-F238E27FC236}">
                <a16:creationId xmlns:a16="http://schemas.microsoft.com/office/drawing/2014/main" id="{37A7FF4F-0EAA-1463-560A-D5EC24416103}"/>
              </a:ext>
            </a:extLst>
          </p:cNvPr>
          <p:cNvSpPr/>
          <p:nvPr/>
        </p:nvSpPr>
        <p:spPr>
          <a:xfrm>
            <a:off x="571127" y="33794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Tree>
    <p:extLst>
      <p:ext uri="{BB962C8B-B14F-4D97-AF65-F5344CB8AC3E}">
        <p14:creationId xmlns:p14="http://schemas.microsoft.com/office/powerpoint/2010/main" val="320769974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파일첨부</a:t>
            </a:r>
            <a:r>
              <a:rPr lang="en-US" altLang="ko-KR" dirty="0"/>
              <a:t>, </a:t>
            </a:r>
            <a:r>
              <a:rPr lang="ko-KR" altLang="en-US" dirty="0"/>
              <a:t>추가첨부서류 </a:t>
            </a:r>
            <a:r>
              <a:rPr lang="ko-KR" altLang="en-US" dirty="0" smtClean="0"/>
              <a:t>등록</a:t>
            </a:r>
            <a:r>
              <a:rPr lang="en-US" altLang="ko-KR" dirty="0" smtClean="0"/>
              <a:t/>
            </a:r>
            <a:br>
              <a:rPr lang="en-US" altLang="ko-KR" dirty="0" smtClean="0"/>
            </a:br>
            <a:r>
              <a:rPr lang="en-US" altLang="ko-KR" dirty="0" smtClean="0"/>
              <a:t>- </a:t>
            </a:r>
            <a:r>
              <a:rPr lang="ko-KR" altLang="en-US" dirty="0" err="1" smtClean="0"/>
              <a:t>파일추가한</a:t>
            </a:r>
            <a:r>
              <a:rPr lang="ko-KR" altLang="en-US" dirty="0" smtClean="0"/>
              <a:t> 내용을 저장할 수 있음</a:t>
            </a:r>
            <a:r>
              <a:rPr lang="en-US" altLang="ko-KR" dirty="0" smtClean="0"/>
              <a:t>.</a:t>
            </a:r>
            <a:br>
              <a:rPr lang="en-US" altLang="ko-KR" dirty="0" smtClean="0"/>
            </a:br>
            <a:r>
              <a:rPr lang="en-US" altLang="ko-KR" dirty="0" smtClean="0">
                <a:solidFill>
                  <a:srgbClr val="FF0000"/>
                </a:solidFill>
              </a:rPr>
              <a:t>- </a:t>
            </a:r>
            <a:r>
              <a:rPr lang="ko-KR" altLang="en-US" dirty="0" smtClean="0">
                <a:solidFill>
                  <a:srgbClr val="FF0000"/>
                </a:solidFill>
              </a:rPr>
              <a:t>이행적격심사 파일을 제출하거나</a:t>
            </a:r>
            <a:r>
              <a:rPr lang="en-US" altLang="ko-KR" dirty="0" smtClean="0">
                <a:solidFill>
                  <a:srgbClr val="FF0000"/>
                </a:solidFill>
              </a:rPr>
              <a:t>, </a:t>
            </a:r>
            <a:r>
              <a:rPr lang="ko-KR" altLang="en-US" dirty="0" smtClean="0">
                <a:solidFill>
                  <a:srgbClr val="FF0000"/>
                </a:solidFill>
              </a:rPr>
              <a:t>기간이 종료된 이후</a:t>
            </a:r>
            <a:r>
              <a:rPr lang="en-US" altLang="ko-KR" dirty="0" smtClean="0">
                <a:solidFill>
                  <a:srgbClr val="FF0000"/>
                </a:solidFill>
              </a:rPr>
              <a:t/>
            </a:r>
            <a:br>
              <a:rPr lang="en-US" altLang="ko-KR" dirty="0" smtClean="0">
                <a:solidFill>
                  <a:srgbClr val="FF0000"/>
                </a:solidFill>
              </a:rPr>
            </a:br>
            <a:r>
              <a:rPr lang="en-US" altLang="ko-KR" dirty="0" smtClean="0">
                <a:solidFill>
                  <a:srgbClr val="FF0000"/>
                </a:solidFill>
              </a:rPr>
              <a:t>  &gt;</a:t>
            </a:r>
            <a:r>
              <a:rPr lang="ko-KR" altLang="en-US" dirty="0" smtClean="0">
                <a:solidFill>
                  <a:srgbClr val="FF0000"/>
                </a:solidFill>
              </a:rPr>
              <a:t> 파일은 추가</a:t>
            </a:r>
            <a:r>
              <a:rPr lang="en-US" altLang="ko-KR" dirty="0" smtClean="0">
                <a:solidFill>
                  <a:srgbClr val="FF0000"/>
                </a:solidFill>
              </a:rPr>
              <a:t>, </a:t>
            </a:r>
            <a:r>
              <a:rPr lang="ko-KR" altLang="en-US" dirty="0" smtClean="0">
                <a:solidFill>
                  <a:srgbClr val="FF0000"/>
                </a:solidFill>
              </a:rPr>
              <a:t>삭제</a:t>
            </a:r>
            <a:r>
              <a:rPr lang="en-US" altLang="ko-KR" dirty="0" smtClean="0">
                <a:solidFill>
                  <a:srgbClr val="FF0000"/>
                </a:solidFill>
              </a:rPr>
              <a:t>, </a:t>
            </a:r>
            <a:r>
              <a:rPr lang="ko-KR" altLang="en-US" dirty="0" smtClean="0">
                <a:solidFill>
                  <a:srgbClr val="FF0000"/>
                </a:solidFill>
              </a:rPr>
              <a:t>저장할 수 없음</a:t>
            </a:r>
            <a:r>
              <a:rPr lang="en-US" altLang="ko-KR" dirty="0" smtClean="0"/>
              <a:t/>
            </a:r>
            <a:br>
              <a:rPr lang="en-US" altLang="ko-KR" dirty="0" smtClean="0"/>
            </a:br>
            <a:r>
              <a:rPr lang="en-US" altLang="ko-KR" dirty="0"/>
              <a:t> </a:t>
            </a:r>
            <a:r>
              <a:rPr lang="en-US" altLang="ko-KR" dirty="0" smtClean="0"/>
              <a:t> &gt; </a:t>
            </a:r>
            <a:r>
              <a:rPr lang="ko-KR" altLang="en-US" dirty="0" smtClean="0"/>
              <a:t>삭제 버튼 및 기능을 대신하여 다운로드 버튼으로 변경 노출</a:t>
            </a:r>
            <a:r>
              <a:rPr lang="en-US" altLang="ko-KR" dirty="0" smtClean="0"/>
              <a:t/>
            </a:r>
            <a:br>
              <a:rPr lang="en-US" altLang="ko-KR" dirty="0" smtClean="0"/>
            </a:br>
            <a:r>
              <a:rPr lang="en-US" altLang="ko-KR" dirty="0" smtClean="0"/>
              <a:t>  &gt; </a:t>
            </a:r>
            <a:r>
              <a:rPr lang="ko-KR" altLang="en-US" dirty="0" err="1" smtClean="0"/>
              <a:t>파일추가</a:t>
            </a:r>
            <a:r>
              <a:rPr lang="en-US" altLang="ko-KR" dirty="0" smtClean="0"/>
              <a:t>, </a:t>
            </a:r>
            <a:r>
              <a:rPr lang="ko-KR" altLang="en-US" dirty="0" smtClean="0"/>
              <a:t>저장하기 버튼은 </a:t>
            </a:r>
            <a:r>
              <a:rPr lang="ko-KR" altLang="en-US" dirty="0" err="1" smtClean="0"/>
              <a:t>숨김처리</a:t>
            </a:r>
            <a:endParaRPr lang="en-US" altLang="ko-KR" dirty="0" smtClean="0"/>
          </a:p>
          <a:p>
            <a:pPr marL="228600" indent="-228600">
              <a:buFont typeface="+mj-ea"/>
              <a:buAutoNum type="arabicPeriod"/>
            </a:pPr>
            <a:r>
              <a:rPr lang="ko-KR" altLang="en-US" dirty="0">
                <a:solidFill>
                  <a:srgbClr val="FF0000"/>
                </a:solidFill>
              </a:rPr>
              <a:t>이행적격심사 파일을 제출하거나</a:t>
            </a:r>
            <a:r>
              <a:rPr lang="en-US" altLang="ko-KR" dirty="0">
                <a:solidFill>
                  <a:srgbClr val="FF0000"/>
                </a:solidFill>
              </a:rPr>
              <a:t>, </a:t>
            </a:r>
            <a:r>
              <a:rPr lang="ko-KR" altLang="en-US" dirty="0">
                <a:solidFill>
                  <a:srgbClr val="FF0000"/>
                </a:solidFill>
              </a:rPr>
              <a:t>기간이 종료된 이후</a:t>
            </a:r>
            <a:r>
              <a:rPr lang="en-US" altLang="ko-KR" dirty="0" smtClean="0"/>
              <a:t/>
            </a:r>
            <a:br>
              <a:rPr lang="en-US" altLang="ko-KR" dirty="0" smtClean="0"/>
            </a:br>
            <a:r>
              <a:rPr lang="en-US" altLang="ko-KR" dirty="0" smtClean="0"/>
              <a:t> - [</a:t>
            </a:r>
            <a:r>
              <a:rPr lang="ko-KR" altLang="en-US" dirty="0" smtClean="0"/>
              <a:t>이전</a:t>
            </a:r>
            <a:r>
              <a:rPr lang="en-US" altLang="ko-KR" dirty="0" smtClean="0"/>
              <a:t>], [</a:t>
            </a:r>
            <a:r>
              <a:rPr lang="ko-KR" altLang="en-US" dirty="0" smtClean="0"/>
              <a:t>제출</a:t>
            </a:r>
            <a:r>
              <a:rPr lang="en-US" altLang="ko-KR" dirty="0" smtClean="0"/>
              <a:t>]</a:t>
            </a:r>
            <a:r>
              <a:rPr lang="ko-KR" altLang="en-US" dirty="0" smtClean="0"/>
              <a:t> 버튼 및 이전 탭에서 존재하는 </a:t>
            </a:r>
            <a:r>
              <a:rPr lang="en-US" altLang="ko-KR" dirty="0" smtClean="0"/>
              <a:t>[</a:t>
            </a:r>
            <a:r>
              <a:rPr lang="ko-KR" altLang="en-US" dirty="0" smtClean="0"/>
              <a:t>이전</a:t>
            </a:r>
            <a:r>
              <a:rPr lang="en-US" altLang="ko-KR" dirty="0" smtClean="0"/>
              <a:t>], [</a:t>
            </a:r>
            <a:r>
              <a:rPr lang="ko-KR" altLang="en-US" dirty="0" smtClean="0"/>
              <a:t>다음</a:t>
            </a:r>
            <a:r>
              <a:rPr lang="en-US" altLang="ko-KR" dirty="0" smtClean="0"/>
              <a:t>] </a:t>
            </a:r>
            <a:r>
              <a:rPr lang="ko-KR" altLang="en-US" dirty="0" smtClean="0"/>
              <a:t>버튼들은</a:t>
            </a:r>
            <a:r>
              <a:rPr lang="en-US" altLang="ko-KR" dirty="0" smtClean="0"/>
              <a:t> </a:t>
            </a:r>
            <a:r>
              <a:rPr lang="ko-KR" altLang="en-US" dirty="0" smtClean="0"/>
              <a:t>모두 노출하지 않음</a:t>
            </a:r>
            <a:r>
              <a:rPr lang="en-US" altLang="ko-KR" dirty="0" smtClean="0"/>
              <a:t>.</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164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적격심사상세 </a:t>
            </a:r>
            <a:r>
              <a:rPr lang="en-US" altLang="ko-KR" dirty="0"/>
              <a:t>– </a:t>
            </a:r>
            <a:r>
              <a:rPr lang="ko-KR" altLang="en-US" dirty="0"/>
              <a:t>파일첨부</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적격심사상세 </a:t>
            </a:r>
            <a:r>
              <a:rPr lang="en-US" altLang="ko-KR" dirty="0"/>
              <a:t>- </a:t>
            </a:r>
            <a:r>
              <a:rPr lang="ko-KR" altLang="en-US" dirty="0"/>
              <a:t>파일첨부 탭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&gt; </a:t>
            </a:r>
            <a:r>
              <a:rPr lang="ko-KR" altLang="en-US" dirty="0"/>
              <a:t>이행</a:t>
            </a:r>
            <a:r>
              <a:rPr lang="en-US" altLang="ko-KR" dirty="0"/>
              <a:t>/</a:t>
            </a:r>
            <a:r>
              <a:rPr lang="ko-KR" altLang="en-US" dirty="0"/>
              <a:t>적격심사상세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530678" cy="181140"/>
          </a:xfrm>
          <a:prstGeom prst="rect">
            <a:avLst/>
          </a:prstGeom>
          <a:noFill/>
        </p:spPr>
        <p:txBody>
          <a:bodyPr wrap="square" lIns="0" tIns="0" rIns="0" bIns="0" rtlCol="0">
            <a:spAutoFit/>
          </a:bodyPr>
          <a:lstStyle/>
          <a:p>
            <a:pPr>
              <a:lnSpc>
                <a:spcPct val="200000"/>
              </a:lnSpc>
            </a:pPr>
            <a:r>
              <a:rPr lang="ko-KR" altLang="en-US" sz="700" dirty="0">
                <a:latin typeface="+mn-ea"/>
              </a:rPr>
              <a:t>파일첨부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7" name="TextBox 36">
            <a:extLst>
              <a:ext uri="{FF2B5EF4-FFF2-40B4-BE49-F238E27FC236}">
                <a16:creationId xmlns:a16="http://schemas.microsoft.com/office/drawing/2014/main" id="{FFC49AEA-2A8F-250C-A86A-A7751D9706C3}"/>
              </a:ext>
            </a:extLst>
          </p:cNvPr>
          <p:cNvSpPr txBox="1"/>
          <p:nvPr/>
        </p:nvSpPr>
        <p:spPr>
          <a:xfrm>
            <a:off x="762146" y="3260647"/>
            <a:ext cx="1530678" cy="181140"/>
          </a:xfrm>
          <a:prstGeom prst="rect">
            <a:avLst/>
          </a:prstGeom>
          <a:noFill/>
        </p:spPr>
        <p:txBody>
          <a:bodyPr wrap="square" lIns="0" tIns="0" rIns="0" bIns="0" rtlCol="0">
            <a:spAutoFit/>
          </a:bodyPr>
          <a:lstStyle/>
          <a:p>
            <a:pPr>
              <a:lnSpc>
                <a:spcPct val="200000"/>
              </a:lnSpc>
            </a:pPr>
            <a:r>
              <a:rPr lang="ko-KR" altLang="en-US" sz="700" dirty="0">
                <a:latin typeface="+mn-ea"/>
              </a:rPr>
              <a:t>추가첨부서류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grpSp>
        <p:nvGrpSpPr>
          <p:cNvPr id="38" name="그룹 37"/>
          <p:cNvGrpSpPr/>
          <p:nvPr/>
        </p:nvGrpSpPr>
        <p:grpSpPr>
          <a:xfrm flipV="1">
            <a:off x="3124233" y="3373978"/>
            <a:ext cx="94010" cy="47005"/>
            <a:chOff x="6812560" y="3297172"/>
            <a:chExt cx="94010" cy="47005"/>
          </a:xfrm>
        </p:grpSpPr>
        <p:cxnSp>
          <p:nvCxnSpPr>
            <p:cNvPr id="49" name="직선 연결선 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50" name="직선 연결선 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2" name="모서리가 둥근 직사각형 51"/>
          <p:cNvSpPr/>
          <p:nvPr/>
        </p:nvSpPr>
        <p:spPr>
          <a:xfrm>
            <a:off x="710315" y="228591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3" name="TextBox 52">
            <a:extLst>
              <a:ext uri="{FF2B5EF4-FFF2-40B4-BE49-F238E27FC236}">
                <a16:creationId xmlns:a16="http://schemas.microsoft.com/office/drawing/2014/main" id="{FFC49AEA-2A8F-250C-A86A-A7751D9706C3}"/>
              </a:ext>
            </a:extLst>
          </p:cNvPr>
          <p:cNvSpPr txBox="1"/>
          <p:nvPr/>
        </p:nvSpPr>
        <p:spPr>
          <a:xfrm>
            <a:off x="1210983" y="2360439"/>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54" name="TextBox 53">
            <a:extLst>
              <a:ext uri="{FF2B5EF4-FFF2-40B4-BE49-F238E27FC236}">
                <a16:creationId xmlns:a16="http://schemas.microsoft.com/office/drawing/2014/main" id="{FFC49AEA-2A8F-250C-A86A-A7751D9706C3}"/>
              </a:ext>
            </a:extLst>
          </p:cNvPr>
          <p:cNvSpPr txBox="1"/>
          <p:nvPr/>
        </p:nvSpPr>
        <p:spPr>
          <a:xfrm>
            <a:off x="788511" y="241430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56" name="모서리가 둥근 직사각형 55"/>
          <p:cNvSpPr/>
          <p:nvPr/>
        </p:nvSpPr>
        <p:spPr>
          <a:xfrm>
            <a:off x="710315" y="2692604"/>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TextBox 56">
            <a:extLst>
              <a:ext uri="{FF2B5EF4-FFF2-40B4-BE49-F238E27FC236}">
                <a16:creationId xmlns:a16="http://schemas.microsoft.com/office/drawing/2014/main" id="{FFC49AEA-2A8F-250C-A86A-A7751D9706C3}"/>
              </a:ext>
            </a:extLst>
          </p:cNvPr>
          <p:cNvSpPr txBox="1"/>
          <p:nvPr/>
        </p:nvSpPr>
        <p:spPr>
          <a:xfrm>
            <a:off x="1210983" y="2767125"/>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58" name="TextBox 57">
            <a:extLst>
              <a:ext uri="{FF2B5EF4-FFF2-40B4-BE49-F238E27FC236}">
                <a16:creationId xmlns:a16="http://schemas.microsoft.com/office/drawing/2014/main" id="{FFC49AEA-2A8F-250C-A86A-A7751D9706C3}"/>
              </a:ext>
            </a:extLst>
          </p:cNvPr>
          <p:cNvSpPr txBox="1"/>
          <p:nvPr/>
        </p:nvSpPr>
        <p:spPr>
          <a:xfrm>
            <a:off x="788511" y="2820986"/>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60" name="사각형: 둥근 모서리 15">
            <a:extLst>
              <a:ext uri="{FF2B5EF4-FFF2-40B4-BE49-F238E27FC236}">
                <a16:creationId xmlns:a16="http://schemas.microsoft.com/office/drawing/2014/main" id="{E2B61CFB-AD16-68D0-8752-50D9C5E01971}"/>
              </a:ext>
            </a:extLst>
          </p:cNvPr>
          <p:cNvSpPr/>
          <p:nvPr/>
        </p:nvSpPr>
        <p:spPr>
          <a:xfrm>
            <a:off x="710315" y="1797646"/>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63" name="TextBox 62">
            <a:extLst>
              <a:ext uri="{FF2B5EF4-FFF2-40B4-BE49-F238E27FC236}">
                <a16:creationId xmlns:a16="http://schemas.microsoft.com/office/drawing/2014/main" id="{FFC49AEA-2A8F-250C-A86A-A7751D9706C3}"/>
              </a:ext>
            </a:extLst>
          </p:cNvPr>
          <p:cNvSpPr txBox="1"/>
          <p:nvPr/>
        </p:nvSpPr>
        <p:spPr>
          <a:xfrm>
            <a:off x="1210983" y="2150800"/>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65" name="TextBox 64">
            <a:extLst>
              <a:ext uri="{FF2B5EF4-FFF2-40B4-BE49-F238E27FC236}">
                <a16:creationId xmlns:a16="http://schemas.microsoft.com/office/drawing/2014/main" id="{FFC49AEA-2A8F-250C-A86A-A7751D9706C3}"/>
              </a:ext>
            </a:extLst>
          </p:cNvPr>
          <p:cNvSpPr txBox="1"/>
          <p:nvPr/>
        </p:nvSpPr>
        <p:spPr>
          <a:xfrm>
            <a:off x="717079" y="2150800"/>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68" name="모서리가 둥근 직사각형 67"/>
          <p:cNvSpPr/>
          <p:nvPr/>
        </p:nvSpPr>
        <p:spPr>
          <a:xfrm>
            <a:off x="710315" y="400766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TextBox 68">
            <a:extLst>
              <a:ext uri="{FF2B5EF4-FFF2-40B4-BE49-F238E27FC236}">
                <a16:creationId xmlns:a16="http://schemas.microsoft.com/office/drawing/2014/main" id="{FFC49AEA-2A8F-250C-A86A-A7751D9706C3}"/>
              </a:ext>
            </a:extLst>
          </p:cNvPr>
          <p:cNvSpPr txBox="1"/>
          <p:nvPr/>
        </p:nvSpPr>
        <p:spPr>
          <a:xfrm>
            <a:off x="1210983" y="4082189"/>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70" name="TextBox 69">
            <a:extLst>
              <a:ext uri="{FF2B5EF4-FFF2-40B4-BE49-F238E27FC236}">
                <a16:creationId xmlns:a16="http://schemas.microsoft.com/office/drawing/2014/main" id="{FFC49AEA-2A8F-250C-A86A-A7751D9706C3}"/>
              </a:ext>
            </a:extLst>
          </p:cNvPr>
          <p:cNvSpPr txBox="1"/>
          <p:nvPr/>
        </p:nvSpPr>
        <p:spPr>
          <a:xfrm>
            <a:off x="788511" y="413605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72" name="모서리가 둥근 직사각형 71"/>
          <p:cNvSpPr/>
          <p:nvPr/>
        </p:nvSpPr>
        <p:spPr>
          <a:xfrm>
            <a:off x="710315" y="4414354"/>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a:extLst>
              <a:ext uri="{FF2B5EF4-FFF2-40B4-BE49-F238E27FC236}">
                <a16:creationId xmlns:a16="http://schemas.microsoft.com/office/drawing/2014/main" id="{FFC49AEA-2A8F-250C-A86A-A7751D9706C3}"/>
              </a:ext>
            </a:extLst>
          </p:cNvPr>
          <p:cNvSpPr txBox="1"/>
          <p:nvPr/>
        </p:nvSpPr>
        <p:spPr>
          <a:xfrm>
            <a:off x="1210983" y="4488875"/>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83" name="TextBox 82">
            <a:extLst>
              <a:ext uri="{FF2B5EF4-FFF2-40B4-BE49-F238E27FC236}">
                <a16:creationId xmlns:a16="http://schemas.microsoft.com/office/drawing/2014/main" id="{FFC49AEA-2A8F-250C-A86A-A7751D9706C3}"/>
              </a:ext>
            </a:extLst>
          </p:cNvPr>
          <p:cNvSpPr txBox="1"/>
          <p:nvPr/>
        </p:nvSpPr>
        <p:spPr>
          <a:xfrm>
            <a:off x="788511" y="4542736"/>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85" name="사각형: 둥근 모서리 15">
            <a:extLst>
              <a:ext uri="{FF2B5EF4-FFF2-40B4-BE49-F238E27FC236}">
                <a16:creationId xmlns:a16="http://schemas.microsoft.com/office/drawing/2014/main" id="{E2B61CFB-AD16-68D0-8752-50D9C5E01971}"/>
              </a:ext>
            </a:extLst>
          </p:cNvPr>
          <p:cNvSpPr/>
          <p:nvPr/>
        </p:nvSpPr>
        <p:spPr>
          <a:xfrm>
            <a:off x="710315" y="3545044"/>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86" name="TextBox 85">
            <a:extLst>
              <a:ext uri="{FF2B5EF4-FFF2-40B4-BE49-F238E27FC236}">
                <a16:creationId xmlns:a16="http://schemas.microsoft.com/office/drawing/2014/main" id="{FFC49AEA-2A8F-250C-A86A-A7751D9706C3}"/>
              </a:ext>
            </a:extLst>
          </p:cNvPr>
          <p:cNvSpPr txBox="1"/>
          <p:nvPr/>
        </p:nvSpPr>
        <p:spPr>
          <a:xfrm>
            <a:off x="1210983" y="3872550"/>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88" name="TextBox 87">
            <a:extLst>
              <a:ext uri="{FF2B5EF4-FFF2-40B4-BE49-F238E27FC236}">
                <a16:creationId xmlns:a16="http://schemas.microsoft.com/office/drawing/2014/main" id="{FFC49AEA-2A8F-250C-A86A-A7751D9706C3}"/>
              </a:ext>
            </a:extLst>
          </p:cNvPr>
          <p:cNvSpPr txBox="1"/>
          <p:nvPr/>
        </p:nvSpPr>
        <p:spPr>
          <a:xfrm>
            <a:off x="717079" y="3872550"/>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2128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1" name="타원 6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3" name="그룹 2"/>
          <p:cNvGrpSpPr/>
          <p:nvPr/>
        </p:nvGrpSpPr>
        <p:grpSpPr>
          <a:xfrm>
            <a:off x="2928637" y="2150800"/>
            <a:ext cx="324968" cy="801489"/>
            <a:chOff x="6053706" y="4232257"/>
            <a:chExt cx="324968" cy="801489"/>
          </a:xfrm>
        </p:grpSpPr>
        <p:sp>
          <p:nvSpPr>
            <p:cNvPr id="51" name="TextBox 50">
              <a:extLst>
                <a:ext uri="{FF2B5EF4-FFF2-40B4-BE49-F238E27FC236}">
                  <a16:creationId xmlns:a16="http://schemas.microsoft.com/office/drawing/2014/main" id="{FFC49AEA-2A8F-250C-A86A-A7751D9706C3}"/>
                </a:ext>
              </a:extLst>
            </p:cNvPr>
            <p:cNvSpPr txBox="1"/>
            <p:nvPr/>
          </p:nvSpPr>
          <p:spPr>
            <a:xfrm>
              <a:off x="6053706" y="4232257"/>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62" name="사각형: 둥근 모서리 15">
              <a:extLst>
                <a:ext uri="{FF2B5EF4-FFF2-40B4-BE49-F238E27FC236}">
                  <a16:creationId xmlns:a16="http://schemas.microsoft.com/office/drawing/2014/main" id="{E2B61CFB-AD16-68D0-8752-50D9C5E01971}"/>
                </a:ext>
              </a:extLst>
            </p:cNvPr>
            <p:cNvSpPr/>
            <p:nvPr/>
          </p:nvSpPr>
          <p:spPr>
            <a:xfrm>
              <a:off x="6074127" y="4878862"/>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73" name="사각형: 둥근 모서리 15">
              <a:extLst>
                <a:ext uri="{FF2B5EF4-FFF2-40B4-BE49-F238E27FC236}">
                  <a16:creationId xmlns:a16="http://schemas.microsoft.com/office/drawing/2014/main" id="{E2B61CFB-AD16-68D0-8752-50D9C5E01971}"/>
                </a:ext>
              </a:extLst>
            </p:cNvPr>
            <p:cNvSpPr/>
            <p:nvPr/>
          </p:nvSpPr>
          <p:spPr>
            <a:xfrm>
              <a:off x="6074127" y="4462070"/>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grpSp>
      <p:grpSp>
        <p:nvGrpSpPr>
          <p:cNvPr id="74" name="그룹 73"/>
          <p:cNvGrpSpPr/>
          <p:nvPr/>
        </p:nvGrpSpPr>
        <p:grpSpPr>
          <a:xfrm>
            <a:off x="2928637" y="3872550"/>
            <a:ext cx="324968" cy="801489"/>
            <a:chOff x="6053706" y="4232257"/>
            <a:chExt cx="324968" cy="801489"/>
          </a:xfrm>
        </p:grpSpPr>
        <p:sp>
          <p:nvSpPr>
            <p:cNvPr id="75" name="TextBox 74">
              <a:extLst>
                <a:ext uri="{FF2B5EF4-FFF2-40B4-BE49-F238E27FC236}">
                  <a16:creationId xmlns:a16="http://schemas.microsoft.com/office/drawing/2014/main" id="{FFC49AEA-2A8F-250C-A86A-A7751D9706C3}"/>
                </a:ext>
              </a:extLst>
            </p:cNvPr>
            <p:cNvSpPr txBox="1"/>
            <p:nvPr/>
          </p:nvSpPr>
          <p:spPr>
            <a:xfrm>
              <a:off x="6053706" y="4232257"/>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76" name="사각형: 둥근 모서리 15">
              <a:extLst>
                <a:ext uri="{FF2B5EF4-FFF2-40B4-BE49-F238E27FC236}">
                  <a16:creationId xmlns:a16="http://schemas.microsoft.com/office/drawing/2014/main" id="{E2B61CFB-AD16-68D0-8752-50D9C5E01971}"/>
                </a:ext>
              </a:extLst>
            </p:cNvPr>
            <p:cNvSpPr/>
            <p:nvPr/>
          </p:nvSpPr>
          <p:spPr>
            <a:xfrm>
              <a:off x="6074127" y="4878862"/>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77" name="사각형: 둥근 모서리 15">
              <a:extLst>
                <a:ext uri="{FF2B5EF4-FFF2-40B4-BE49-F238E27FC236}">
                  <a16:creationId xmlns:a16="http://schemas.microsoft.com/office/drawing/2014/main" id="{E2B61CFB-AD16-68D0-8752-50D9C5E01971}"/>
                </a:ext>
              </a:extLst>
            </p:cNvPr>
            <p:cNvSpPr/>
            <p:nvPr/>
          </p:nvSpPr>
          <p:spPr>
            <a:xfrm>
              <a:off x="6074127" y="4462070"/>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grpSp>
      <p:sp>
        <p:nvSpPr>
          <p:cNvPr id="55" name="사각형: 둥근 모서리 15">
            <a:extLst>
              <a:ext uri="{FF2B5EF4-FFF2-40B4-BE49-F238E27FC236}">
                <a16:creationId xmlns:a16="http://schemas.microsoft.com/office/drawing/2014/main" id="{E2B61CFB-AD16-68D0-8752-50D9C5E01971}"/>
              </a:ext>
            </a:extLst>
          </p:cNvPr>
          <p:cNvSpPr/>
          <p:nvPr/>
        </p:nvSpPr>
        <p:spPr>
          <a:xfrm>
            <a:off x="710315" y="5030908"/>
            <a:ext cx="2652742" cy="323212"/>
          </a:xfrm>
          <a:prstGeom prst="roundRect">
            <a:avLst/>
          </a:prstGeom>
          <a:solidFill>
            <a:srgbClr val="0070C0"/>
          </a:solid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900" kern="0" smtClean="0">
                <a:solidFill>
                  <a:schemeClr val="bg1"/>
                </a:solidFill>
                <a:latin typeface="맑은 고딕"/>
                <a:ea typeface="맑은 고딕" panose="020B0503020000020004" pitchFamily="50" charset="-127"/>
              </a:rPr>
              <a:t>저장히기</a:t>
            </a:r>
            <a:endParaRPr kumimoji="1" lang="en-US" sz="900" b="0" i="0" u="none" strike="noStrike" kern="0" cap="none" spc="0" normalizeH="0" baseline="0" noProof="0" dirty="0">
              <a:ln>
                <a:noFill/>
              </a:ln>
              <a:solidFill>
                <a:schemeClr val="bg1"/>
              </a:solidFill>
              <a:effectLst/>
              <a:uLnTx/>
              <a:uFillTx/>
              <a:latin typeface="맑은 고딕"/>
            </a:endParaRPr>
          </a:p>
        </p:txBody>
      </p:sp>
      <p:grpSp>
        <p:nvGrpSpPr>
          <p:cNvPr id="71" name="그룹 70"/>
          <p:cNvGrpSpPr/>
          <p:nvPr/>
        </p:nvGrpSpPr>
        <p:grpSpPr>
          <a:xfrm>
            <a:off x="675399" y="5614711"/>
            <a:ext cx="2712027" cy="617588"/>
            <a:chOff x="675399" y="5614711"/>
            <a:chExt cx="2712027" cy="617588"/>
          </a:xfrm>
        </p:grpSpPr>
        <p:sp>
          <p:nvSpPr>
            <p:cNvPr id="78" name="직사각형 77">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9"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80"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smtClean="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81" name="그룹 80"/>
          <p:cNvGrpSpPr/>
          <p:nvPr/>
        </p:nvGrpSpPr>
        <p:grpSpPr>
          <a:xfrm>
            <a:off x="8223250" y="569392"/>
            <a:ext cx="3365500" cy="634511"/>
            <a:chOff x="8223250" y="569392"/>
            <a:chExt cx="3365500" cy="634511"/>
          </a:xfrm>
        </p:grpSpPr>
        <p:sp>
          <p:nvSpPr>
            <p:cNvPr id="84" name="직사각형 83"/>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2026-06-29 </a:t>
              </a:r>
              <a:r>
                <a:rPr lang="ko-KR" altLang="en-US" dirty="0"/>
                <a:t>화면 수정</a:t>
              </a:r>
            </a:p>
          </p:txBody>
        </p:sp>
        <p:sp>
          <p:nvSpPr>
            <p:cNvPr id="87" name="직사각형 86"/>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기간 종료에 따른 버튼 </a:t>
              </a:r>
              <a:r>
                <a:rPr lang="ko-KR" altLang="en-US" sz="700" smtClean="0"/>
                <a:t>표시 </a:t>
              </a:r>
              <a:r>
                <a:rPr lang="ko-KR" altLang="en-US" sz="700" smtClean="0"/>
                <a:t>변경 설명 추가</a:t>
              </a:r>
              <a:endParaRPr lang="ko-KR" altLang="en-US" sz="700" dirty="0"/>
            </a:p>
          </p:txBody>
        </p:sp>
      </p:grpSp>
      <p:sp>
        <p:nvSpPr>
          <p:cNvPr id="89" name="타원 88">
            <a:extLst>
              <a:ext uri="{FF2B5EF4-FFF2-40B4-BE49-F238E27FC236}">
                <a16:creationId xmlns:a16="http://schemas.microsoft.com/office/drawing/2014/main" id="{37A7FF4F-0EAA-1463-560A-D5EC24416103}"/>
              </a:ext>
            </a:extLst>
          </p:cNvPr>
          <p:cNvSpPr/>
          <p:nvPr/>
        </p:nvSpPr>
        <p:spPr>
          <a:xfrm>
            <a:off x="571127" y="581234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smtClean="0"/>
              <a:t>2</a:t>
            </a:r>
            <a:endParaRPr lang="ko-KR" altLang="en-US" sz="900" b="1" dirty="0"/>
          </a:p>
        </p:txBody>
      </p:sp>
    </p:spTree>
    <p:extLst>
      <p:ext uri="{BB962C8B-B14F-4D97-AF65-F5344CB8AC3E}">
        <p14:creationId xmlns:p14="http://schemas.microsoft.com/office/powerpoint/2010/main" val="55048917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165</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76219"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t>공고정보</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8867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입찰건명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입찰건명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지시년도</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drctnYr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지시년도</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err="1">
                          <a:latin typeface="+mn-ea"/>
                          <a:ea typeface="+mn-ea"/>
                        </a:rPr>
                        <a:t>통합참조번호</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rfrncNo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통합참조번호</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r h="0">
                <a:tc>
                  <a:txBody>
                    <a:bodyPr/>
                    <a:lstStyle/>
                    <a:p>
                      <a:pPr latinLnBrk="1"/>
                      <a:r>
                        <a:rPr lang="ko-KR" altLang="en-US" sz="800" dirty="0">
                          <a:latin typeface="+mn-ea"/>
                          <a:ea typeface="+mn-ea"/>
                        </a:rPr>
                        <a:t>발주기관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orderInstNm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발주기관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250776"/>
                  </a:ext>
                </a:extLst>
              </a:tr>
              <a:tr h="0">
                <a:tc>
                  <a:txBody>
                    <a:bodyPr/>
                    <a:lstStyle/>
                    <a:p>
                      <a:pPr latinLnBrk="1"/>
                      <a:r>
                        <a:rPr lang="ko-KR" altLang="en-US" sz="800" dirty="0">
                          <a:latin typeface="+mn-ea"/>
                          <a:ea typeface="+mn-ea"/>
                        </a:rPr>
                        <a:t>판단번호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prcmNo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판단번호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업무구분이 공사인 경우 공사번호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37816"/>
                  </a:ext>
                </a:extLst>
              </a:tr>
              <a:tr h="0">
                <a:tc>
                  <a:txBody>
                    <a:bodyPr/>
                    <a:lstStyle/>
                    <a:p>
                      <a:pPr latinLnBrk="1"/>
                      <a:r>
                        <a:rPr lang="ko-KR" altLang="en-US" sz="800" dirty="0">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clsfNo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항목번호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업무구분이 공사인 경우 공사구분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ctrtMthdCd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입찰방법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bidMthdCd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입찰방법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r h="0">
                <a:tc>
                  <a:txBody>
                    <a:bodyPr/>
                    <a:lstStyle/>
                    <a:p>
                      <a:pPr latinLnBrk="1"/>
                      <a:r>
                        <a:rPr lang="ko-KR" altLang="en-US" sz="800" dirty="0">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bdopnDt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3229525"/>
                  </a:ext>
                </a:extLst>
              </a:tr>
              <a:tr h="0">
                <a:tc>
                  <a:txBody>
                    <a:bodyPr/>
                    <a:lstStyle/>
                    <a:p>
                      <a:pPr latinLnBrk="1"/>
                      <a:r>
                        <a:rPr lang="ko-KR" altLang="en-US" sz="800" dirty="0">
                          <a:latin typeface="+mn-ea"/>
                          <a:ea typeface="+mn-ea"/>
                        </a:rPr>
                        <a:t>신청마감일시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srngPrgrsDdlnDt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신청마감일시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924314"/>
                  </a:ext>
                </a:extLst>
              </a:tr>
              <a:tr h="0">
                <a:tc>
                  <a:txBody>
                    <a:bodyPr/>
                    <a:lstStyle/>
                    <a:p>
                      <a:pPr latinLnBrk="1"/>
                      <a:r>
                        <a:rPr lang="ko-KR" altLang="en-US" sz="800" dirty="0">
                          <a:latin typeface="+mn-ea"/>
                          <a:ea typeface="+mn-ea"/>
                        </a:rPr>
                        <a:t>적용양식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cmdtyLbsvcElgbSrngCd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적용양식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0524342"/>
                  </a:ext>
                </a:extLst>
              </a:tr>
            </a:tbl>
          </a:graphicData>
        </a:graphic>
      </p:graphicFrame>
      <p:sp>
        <p:nvSpPr>
          <p:cNvPr id="2" name="TextBox 1">
            <a:extLst>
              <a:ext uri="{FF2B5EF4-FFF2-40B4-BE49-F238E27FC236}">
                <a16:creationId xmlns:a16="http://schemas.microsoft.com/office/drawing/2014/main" id="{7FD110F8-FCE4-74B6-57EF-F923AF98D986}"/>
              </a:ext>
            </a:extLst>
          </p:cNvPr>
          <p:cNvSpPr txBox="1"/>
          <p:nvPr/>
        </p:nvSpPr>
        <p:spPr>
          <a:xfrm>
            <a:off x="460676" y="4104144"/>
            <a:ext cx="220469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입찰결과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dmt_bidRslt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BD5C1784-D5E1-078B-8770-509B485215E2}"/>
              </a:ext>
            </a:extLst>
          </p:cNvPr>
          <p:cNvGraphicFramePr>
            <a:graphicFrameLocks noGrp="1"/>
          </p:cNvGraphicFramePr>
          <p:nvPr/>
        </p:nvGraphicFramePr>
        <p:xfrm>
          <a:off x="455558" y="4387898"/>
          <a:ext cx="8994883" cy="1285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낙찰순위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scsbdRnk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낙찰순위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투찰금액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bdngAmt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투찰금액</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투찰률</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scbrt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투찰률</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447505"/>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t>
                      </a:r>
                      <a:r>
                        <a:rPr lang="ko-KR" altLang="en-US" sz="800" dirty="0">
                          <a:latin typeface="+mn-ea"/>
                          <a:ea typeface="+mn-ea"/>
                        </a:rPr>
                        <a:t>입찰가격</a:t>
                      </a:r>
                      <a:r>
                        <a:rPr lang="en-US" altLang="ko-KR" sz="800" dirty="0">
                          <a:latin typeface="+mn-ea"/>
                          <a:ea typeface="+mn-ea"/>
                        </a:rPr>
                        <a:t>-A) / (</a:t>
                      </a:r>
                      <a:r>
                        <a:rPr lang="ko-KR" altLang="en-US" sz="800" dirty="0">
                          <a:latin typeface="+mn-ea"/>
                          <a:ea typeface="+mn-ea"/>
                        </a:rPr>
                        <a:t>예정가격</a:t>
                      </a:r>
                      <a:r>
                        <a:rPr lang="en-US" altLang="ko-KR" sz="800" dirty="0">
                          <a:latin typeface="+mn-ea"/>
                          <a:ea typeface="+mn-ea"/>
                        </a:rPr>
                        <a:t>-A) * 100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vlAplcnRt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A</a:t>
                      </a:r>
                      <a:r>
                        <a:rPr lang="ko-KR" altLang="en-US" sz="800" dirty="0">
                          <a:latin typeface="+mn-ea"/>
                          <a:ea typeface="+mn-ea"/>
                        </a:rPr>
                        <a:t>값 </a:t>
                      </a:r>
                      <a:r>
                        <a:rPr lang="ko-KR" altLang="en-US" sz="800" dirty="0" err="1">
                          <a:latin typeface="+mn-ea"/>
                          <a:ea typeface="+mn-ea"/>
                        </a:rPr>
                        <a:t>적용율</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6380110"/>
                  </a:ext>
                </a:extLst>
              </a:tr>
              <a:tr h="0">
                <a:tc>
                  <a:txBody>
                    <a:bodyPr/>
                    <a:lstStyle/>
                    <a:p>
                      <a:pPr latinLnBrk="1"/>
                      <a:r>
                        <a:rPr lang="ko-KR" altLang="en-US" sz="800" dirty="0">
                          <a:latin typeface="+mn-ea"/>
                          <a:ea typeface="+mn-ea"/>
                        </a:rPr>
                        <a:t>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srngPrgrsStcd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8773227"/>
                  </a:ext>
                </a:extLst>
              </a:tr>
            </a:tbl>
          </a:graphicData>
        </a:graphic>
      </p:graphicFrame>
      <p:sp>
        <p:nvSpPr>
          <p:cNvPr id="6" name="TextBox 5">
            <a:extLst>
              <a:ext uri="{FF2B5EF4-FFF2-40B4-BE49-F238E27FC236}">
                <a16:creationId xmlns:a16="http://schemas.microsoft.com/office/drawing/2014/main" id="{31C3AF3E-24D1-8357-0AF4-2261A05B1D98}"/>
              </a:ext>
            </a:extLst>
          </p:cNvPr>
          <p:cNvSpPr txBox="1"/>
          <p:nvPr/>
        </p:nvSpPr>
        <p:spPr>
          <a:xfrm>
            <a:off x="458117" y="5804446"/>
            <a:ext cx="220469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반려사유</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dmt_bidRslt</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8760284B-065B-C479-BE5C-93CF10E527F8}"/>
              </a:ext>
            </a:extLst>
          </p:cNvPr>
          <p:cNvGraphicFramePr>
            <a:graphicFrameLocks noGrp="1"/>
          </p:cNvGraphicFramePr>
          <p:nvPr/>
        </p:nvGraphicFramePr>
        <p:xfrm>
          <a:off x="452999" y="6088200"/>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반려사유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rjctRsn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반려사유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4000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TextBox 8">
            <a:extLst>
              <a:ext uri="{FF2B5EF4-FFF2-40B4-BE49-F238E27FC236}">
                <a16:creationId xmlns:a16="http://schemas.microsoft.com/office/drawing/2014/main" id="{546C509D-7C12-6CE6-85EA-25714A5A183F}"/>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10" name="Text Box 73">
            <a:extLst>
              <a:ext uri="{FF2B5EF4-FFF2-40B4-BE49-F238E27FC236}">
                <a16:creationId xmlns:a16="http://schemas.microsoft.com/office/drawing/2014/main" id="{7025CAA2-FE61-7164-D233-5EC944EBE04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655067076"/>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166</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96069"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t>참고서류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dlt_refDcmnt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서류명</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서류명</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첨부문서명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첨부문서명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파일크기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bl>
          </a:graphicData>
        </a:graphic>
      </p:graphicFrame>
      <p:sp>
        <p:nvSpPr>
          <p:cNvPr id="9" name="TextBox 8">
            <a:extLst>
              <a:ext uri="{FF2B5EF4-FFF2-40B4-BE49-F238E27FC236}">
                <a16:creationId xmlns:a16="http://schemas.microsoft.com/office/drawing/2014/main" id="{9C3FC40B-6DC8-16E8-DC02-74DB38C85C84}"/>
              </a:ext>
            </a:extLst>
          </p:cNvPr>
          <p:cNvSpPr txBox="1"/>
          <p:nvPr/>
        </p:nvSpPr>
        <p:spPr>
          <a:xfrm>
            <a:off x="458117" y="2001199"/>
            <a:ext cx="2012337"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첨부서류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dlt_adoc</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1ED0BF1C-1208-0523-7FA9-36368FF1B1B2}"/>
              </a:ext>
            </a:extLst>
          </p:cNvPr>
          <p:cNvGraphicFramePr>
            <a:graphicFrameLocks noGrp="1"/>
          </p:cNvGraphicFramePr>
          <p:nvPr/>
        </p:nvGraphicFramePr>
        <p:xfrm>
          <a:off x="452999" y="2212402"/>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 체크선택항목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첨부파일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docId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첨부파일종류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19</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등록된 첨부파일인 경우 조회</a:t>
                      </a:r>
                      <a:r>
                        <a:rPr lang="ko-KR" altLang="en-US" sz="800" dirty="0"/>
                        <a:t>항목으로 변경</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5526057"/>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그리드의 첨부파일명</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 파일크기</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bl>
          </a:graphicData>
        </a:graphic>
      </p:graphicFrame>
      <p:sp>
        <p:nvSpPr>
          <p:cNvPr id="12" name="TextBox 11">
            <a:extLst>
              <a:ext uri="{FF2B5EF4-FFF2-40B4-BE49-F238E27FC236}">
                <a16:creationId xmlns:a16="http://schemas.microsoft.com/office/drawing/2014/main" id="{9C570BBF-010C-689A-C4F8-049F61A405CB}"/>
              </a:ext>
            </a:extLst>
          </p:cNvPr>
          <p:cNvSpPr txBox="1"/>
          <p:nvPr/>
        </p:nvSpPr>
        <p:spPr>
          <a:xfrm>
            <a:off x="460676" y="3391662"/>
            <a:ext cx="2488429"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err="1">
                <a:solidFill>
                  <a:prstClr val="black"/>
                </a:solidFill>
              </a:rPr>
              <a:t>추가첨부서류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dlt_addAdoc</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EEE1F128-FEB1-7779-518D-4089B11EEE82}"/>
              </a:ext>
            </a:extLst>
          </p:cNvPr>
          <p:cNvGraphicFramePr>
            <a:graphicFrameLocks noGrp="1"/>
          </p:cNvGraphicFramePr>
          <p:nvPr/>
        </p:nvGraphicFramePr>
        <p:xfrm>
          <a:off x="455558" y="3602865"/>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추가첨부서류</a:t>
                      </a:r>
                      <a:r>
                        <a:rPr lang="ko-KR" altLang="en-US" sz="800" dirty="0">
                          <a:latin typeface="+mn-ea"/>
                          <a:ea typeface="+mn-ea"/>
                        </a:rPr>
                        <a:t> 그리드의 첨부파일 체크선택항목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추가첨부서류</a:t>
                      </a:r>
                      <a:r>
                        <a:rPr lang="ko-KR" altLang="en-US" sz="800" dirty="0">
                          <a:latin typeface="+mn-ea"/>
                          <a:ea typeface="+mn-ea"/>
                        </a:rPr>
                        <a:t> 그리드의 첨부파일명</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추가첨부서류</a:t>
                      </a:r>
                      <a:r>
                        <a:rPr lang="ko-KR" altLang="en-US" sz="800" dirty="0">
                          <a:latin typeface="+mn-ea"/>
                          <a:ea typeface="+mn-ea"/>
                        </a:rPr>
                        <a:t> 그리드의 첨부파일 파일크기</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bl>
          </a:graphicData>
        </a:graphic>
      </p:graphicFrame>
      <p:sp>
        <p:nvSpPr>
          <p:cNvPr id="2" name="TextBox 1">
            <a:extLst>
              <a:ext uri="{FF2B5EF4-FFF2-40B4-BE49-F238E27FC236}">
                <a16:creationId xmlns:a16="http://schemas.microsoft.com/office/drawing/2014/main" id="{B86B4A9E-316D-FEAC-B50A-F986D7EFCEC2}"/>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01E69BE4-4A52-6501-3134-DD79FE97973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46375042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167</a:t>
            </a:fld>
            <a:endParaRPr lang="ko-KR" altLang="en-US" dirty="0"/>
          </a:p>
        </p:txBody>
      </p:sp>
      <p:graphicFrame>
        <p:nvGraphicFramePr>
          <p:cNvPr id="18" name="표 17">
            <a:extLst>
              <a:ext uri="{FF2B5EF4-FFF2-40B4-BE49-F238E27FC236}">
                <a16:creationId xmlns:a16="http://schemas.microsoft.com/office/drawing/2014/main" id="{39FF4FA3-2661-D5DD-9AC7-D3BD306A5181}"/>
              </a:ext>
            </a:extLst>
          </p:cNvPr>
          <p:cNvGraphicFramePr>
            <a:graphicFrameLocks noGrp="1"/>
          </p:cNvGraphicFramePr>
          <p:nvPr>
            <p:extLst>
              <p:ext uri="{D42A27DB-BD31-4B8C-83A1-F6EECF244321}">
                <p14:modId xmlns:p14="http://schemas.microsoft.com/office/powerpoint/2010/main" val="3696230035"/>
              </p:ext>
            </p:extLst>
          </p:nvPr>
        </p:nvGraphicFramePr>
        <p:xfrm>
          <a:off x="452291" y="1014316"/>
          <a:ext cx="8995591" cy="398400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상세 정보 조회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9324242"/>
                  </a:ext>
                </a:extLst>
              </a:tr>
              <a:tr h="0">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공고정보</a:t>
                      </a:r>
                      <a:r>
                        <a:rPr lang="en-US" altLang="ko-KR" sz="800" dirty="0">
                          <a:latin typeface="+mn-ea"/>
                          <a:ea typeface="+mn-ea"/>
                        </a:rPr>
                        <a:t>,</a:t>
                      </a:r>
                      <a:r>
                        <a:rPr lang="ko-KR" altLang="en-US" sz="800" dirty="0">
                          <a:latin typeface="+mn-ea"/>
                          <a:ea typeface="+mn-ea"/>
                        </a:rPr>
                        <a:t> 입찰결과</a:t>
                      </a:r>
                      <a:r>
                        <a:rPr lang="en-US" altLang="ko-KR" sz="800" dirty="0">
                          <a:latin typeface="+mn-ea"/>
                          <a:ea typeface="+mn-ea"/>
                        </a:rPr>
                        <a:t>, </a:t>
                      </a:r>
                      <a:r>
                        <a:rPr lang="ko-KR" altLang="en-US" sz="800" dirty="0">
                          <a:latin typeface="+mn-ea"/>
                          <a:ea typeface="+mn-ea"/>
                        </a:rPr>
                        <a:t>반려사유</a:t>
                      </a:r>
                      <a:r>
                        <a:rPr lang="en-US" altLang="ko-KR" sz="800" dirty="0">
                          <a:latin typeface="+mn-ea"/>
                          <a:ea typeface="+mn-ea"/>
                        </a:rPr>
                        <a:t>, </a:t>
                      </a:r>
                      <a:r>
                        <a:rPr lang="ko-KR" altLang="en-US" sz="800" dirty="0">
                          <a:latin typeface="+mn-ea"/>
                          <a:ea typeface="+mn-ea"/>
                        </a:rPr>
                        <a:t>참고서류</a:t>
                      </a:r>
                      <a:r>
                        <a:rPr lang="en-US" altLang="ko-KR" sz="800" dirty="0">
                          <a:latin typeface="+mn-ea"/>
                          <a:ea typeface="+mn-ea"/>
                        </a:rPr>
                        <a:t>, </a:t>
                      </a:r>
                      <a:r>
                        <a:rPr lang="ko-KR" altLang="en-US" sz="800" dirty="0">
                          <a:latin typeface="+mn-ea"/>
                          <a:ea typeface="+mn-ea"/>
                        </a:rPr>
                        <a:t>첨부서류를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9040093"/>
                  </a:ext>
                </a:extLst>
              </a:tr>
              <a:tr h="0">
                <a:tc>
                  <a:txBody>
                    <a:bodyPr/>
                    <a:lstStyle/>
                    <a:p>
                      <a:r>
                        <a:rPr lang="ko-KR" altLang="en-US" sz="800" dirty="0"/>
                        <a:t>참고서류의 첨부파일명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scwin.btn_atchFileNm_onclick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참고서류 그리드의 클릭한 첨부파일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4384020"/>
                  </a:ext>
                </a:extLst>
              </a:tr>
              <a:tr h="0">
                <a:tc>
                  <a:txBody>
                    <a:bodyPr/>
                    <a:lstStyle/>
                    <a:p>
                      <a:pPr latinLnBrk="1"/>
                      <a:r>
                        <a:rPr lang="ko-KR" altLang="en-US" sz="800" dirty="0">
                          <a:latin typeface="+mn-ea"/>
                          <a:ea typeface="+mn-ea"/>
                        </a:rPr>
                        <a:t>파일추가 버튼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scwin.btn_fileAdd_onclick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그리드의 첨부할 파일을 선택하기 위한 모듈 호출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84753"/>
                  </a:ext>
                </a:extLst>
              </a:tr>
              <a:tr h="0">
                <a:tc>
                  <a:txBody>
                    <a:bodyPr/>
                    <a:lstStyle/>
                    <a:p>
                      <a:r>
                        <a:rPr lang="ko-KR" altLang="en-US" sz="800" dirty="0"/>
                        <a:t>선택삭제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scwin.btn_chcDel_onclick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선택한 </a:t>
                      </a:r>
                      <a:r>
                        <a:rPr lang="en-US" altLang="ko-KR" sz="800" dirty="0">
                          <a:latin typeface="+mn-ea"/>
                          <a:ea typeface="+mn-ea"/>
                        </a:rPr>
                        <a:t>ROW</a:t>
                      </a:r>
                      <a:r>
                        <a:rPr lang="ko-KR" altLang="en-US" sz="800" dirty="0">
                          <a:latin typeface="+mn-ea"/>
                          <a:ea typeface="+mn-ea"/>
                        </a:rPr>
                        <a:t>의</a:t>
                      </a:r>
                      <a:r>
                        <a:rPr lang="en-US" altLang="ko-KR" sz="800" dirty="0">
                          <a:latin typeface="+mn-ea"/>
                          <a:ea typeface="+mn-ea"/>
                        </a:rPr>
                        <a:t> </a:t>
                      </a:r>
                      <a:r>
                        <a:rPr lang="ko-KR" altLang="en-US" sz="800" dirty="0">
                          <a:latin typeface="+mn-ea"/>
                          <a:ea typeface="+mn-ea"/>
                        </a:rPr>
                        <a:t>첨부파일 삭제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4113051"/>
                  </a:ext>
                </a:extLst>
              </a:tr>
              <a:tr h="0">
                <a:tc>
                  <a:txBody>
                    <a:bodyPr/>
                    <a:lstStyle/>
                    <a:p>
                      <a:r>
                        <a:rPr lang="ko-KR" altLang="en-US" sz="800" dirty="0"/>
                        <a:t>첨부서류의 파일명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scwin.btn_fileNm_onclick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클릭한 첨부파일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파일추가 버튼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scwin.btn_addAdocFileAdd_onclick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추가첨부서류</a:t>
                      </a:r>
                      <a:r>
                        <a:rPr lang="ko-KR" altLang="en-US" sz="800" dirty="0">
                          <a:latin typeface="+mn-ea"/>
                          <a:ea typeface="+mn-ea"/>
                        </a:rPr>
                        <a:t> 그리드의 첨부할 파일을 선택하기 위한 모듈 호출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836001"/>
                  </a:ext>
                </a:extLst>
              </a:tr>
              <a:tr h="0">
                <a:tc>
                  <a:txBody>
                    <a:bodyPr/>
                    <a:lstStyle/>
                    <a:p>
                      <a:r>
                        <a:rPr lang="ko-KR" altLang="en-US" sz="800" dirty="0"/>
                        <a:t>선택삭제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scwin.btn_addAdocChcDel_onclick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추가첨부서류</a:t>
                      </a:r>
                      <a:r>
                        <a:rPr lang="ko-KR" altLang="en-US" sz="800" dirty="0">
                          <a:latin typeface="+mn-ea"/>
                          <a:ea typeface="+mn-ea"/>
                        </a:rPr>
                        <a:t> 그리드의 선택한 </a:t>
                      </a:r>
                      <a:r>
                        <a:rPr lang="en-US" altLang="ko-KR" sz="800" dirty="0">
                          <a:latin typeface="+mn-ea"/>
                          <a:ea typeface="+mn-ea"/>
                        </a:rPr>
                        <a:t>ROW</a:t>
                      </a:r>
                      <a:r>
                        <a:rPr lang="ko-KR" altLang="en-US" sz="800" dirty="0">
                          <a:latin typeface="+mn-ea"/>
                          <a:ea typeface="+mn-ea"/>
                        </a:rPr>
                        <a:t>의</a:t>
                      </a:r>
                      <a:r>
                        <a:rPr lang="en-US" altLang="ko-KR" sz="800" dirty="0">
                          <a:latin typeface="+mn-ea"/>
                          <a:ea typeface="+mn-ea"/>
                        </a:rPr>
                        <a:t> </a:t>
                      </a:r>
                      <a:r>
                        <a:rPr lang="ko-KR" altLang="en-US" sz="800" dirty="0">
                          <a:latin typeface="+mn-ea"/>
                          <a:ea typeface="+mn-ea"/>
                        </a:rPr>
                        <a:t>첨부파일 삭제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806275"/>
                  </a:ext>
                </a:extLst>
              </a:tr>
              <a:tr h="0">
                <a:tc>
                  <a:txBody>
                    <a:bodyPr/>
                    <a:lstStyle/>
                    <a:p>
                      <a:r>
                        <a:rPr lang="ko-KR" altLang="en-US" sz="800" dirty="0" err="1"/>
                        <a:t>추가첨부서류의</a:t>
                      </a:r>
                      <a:r>
                        <a:rPr lang="ko-KR" altLang="en-US" sz="800" dirty="0"/>
                        <a:t> 첨부파일명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scwin.btn_addAdocFileNm_onclick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추가첨부서류</a:t>
                      </a:r>
                      <a:r>
                        <a:rPr lang="ko-KR" altLang="en-US" sz="800" dirty="0">
                          <a:latin typeface="+mn-ea"/>
                          <a:ea typeface="+mn-ea"/>
                        </a:rPr>
                        <a:t> 그리드의 클릭한 첨부파일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4206061"/>
                  </a:ext>
                </a:extLst>
              </a:tr>
              <a:tr h="0">
                <a:tc>
                  <a:txBody>
                    <a:bodyPr/>
                    <a:lstStyle/>
                    <a:p>
                      <a:r>
                        <a:rPr lang="ko-KR" altLang="en-US" sz="800" dirty="0"/>
                        <a:t>법 위반 처벌이력 확인서 양식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scwin.btn_lawVltnHstryCnfdocForm_onclick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클릭한 양식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저장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scwin.btn_strg_onclick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신청 내역 임시 저장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r h="0">
                <a:tc>
                  <a:txBody>
                    <a:bodyPr/>
                    <a:lstStyle/>
                    <a:p>
                      <a:r>
                        <a:rPr lang="ko-KR" altLang="en-US" sz="800" dirty="0"/>
                        <a:t>적격심사신청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scwin.btn_elgbSrngAply_onclick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신청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9095636"/>
                  </a:ext>
                </a:extLst>
              </a:tr>
            </a:tbl>
          </a:graphicData>
        </a:graphic>
      </p:graphicFrame>
      <p:sp>
        <p:nvSpPr>
          <p:cNvPr id="17" name="TextBox 16">
            <a:extLst>
              <a:ext uri="{FF2B5EF4-FFF2-40B4-BE49-F238E27FC236}">
                <a16:creationId xmlns:a16="http://schemas.microsoft.com/office/drawing/2014/main" id="{C27A91D1-AAE3-587F-1E4B-51AEB57A3BCD}"/>
              </a:ext>
            </a:extLst>
          </p:cNvPr>
          <p:cNvSpPr txBox="1"/>
          <p:nvPr/>
        </p:nvSpPr>
        <p:spPr>
          <a:xfrm>
            <a:off x="457408" y="736185"/>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4" name="Text Box 73">
            <a:extLst>
              <a:ext uri="{FF2B5EF4-FFF2-40B4-BE49-F238E27FC236}">
                <a16:creationId xmlns:a16="http://schemas.microsoft.com/office/drawing/2014/main" id="{43DADA0B-DEA5-F6AA-928E-0BEB2A99876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96244573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168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적격심사결과상세 </a:t>
            </a:r>
            <a:r>
              <a:rPr lang="en-US" altLang="ko-KR" dirty="0"/>
              <a:t>- </a:t>
            </a:r>
            <a:r>
              <a:rPr lang="ko-KR" altLang="en-US" dirty="0"/>
              <a:t>물품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물품일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MUI-BD-10-M04</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3" name="그룹 82"/>
          <p:cNvGrpSpPr/>
          <p:nvPr/>
        </p:nvGrpSpPr>
        <p:grpSpPr>
          <a:xfrm>
            <a:off x="701175" y="1527996"/>
            <a:ext cx="2670082" cy="2461921"/>
            <a:chOff x="701175" y="1527996"/>
            <a:chExt cx="2670082" cy="2461921"/>
          </a:xfrm>
        </p:grpSpPr>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2" name="직사각형 91"/>
            <p:cNvSpPr/>
            <p:nvPr/>
          </p:nvSpPr>
          <p:spPr>
            <a:xfrm>
              <a:off x="703268" y="1835480"/>
              <a:ext cx="792000" cy="213264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2120132"/>
            </a:xfrm>
            <a:prstGeom prst="rect">
              <a:avLst/>
            </a:prstGeom>
            <a:noFill/>
          </p:spPr>
          <p:txBody>
            <a:bodyPr wrap="square" lIns="0" tIns="0" rIns="0" bIns="0" rtlCol="0">
              <a:spAutoFit/>
            </a:bodyPr>
            <a:lstStyle/>
            <a:p>
              <a:pPr>
                <a:lnSpc>
                  <a:spcPct val="200000"/>
                </a:lnSpc>
              </a:pPr>
              <a:r>
                <a:rPr lang="ko-KR" altLang="en-US" sz="700" dirty="0">
                  <a:latin typeface="+mn-ea"/>
                </a:rPr>
                <a:t>이행실적</a:t>
              </a:r>
              <a:endParaRPr lang="en-US" altLang="ko-KR" sz="700" dirty="0">
                <a:latin typeface="+mn-ea"/>
              </a:endParaRPr>
            </a:p>
            <a:p>
              <a:pPr>
                <a:lnSpc>
                  <a:spcPct val="200000"/>
                </a:lnSpc>
              </a:pPr>
              <a:r>
                <a:rPr lang="ko-KR" altLang="en-US" sz="700" dirty="0">
                  <a:latin typeface="+mn-ea"/>
                </a:rPr>
                <a:t>제조능력</a:t>
              </a:r>
              <a:endParaRPr lang="en-US" altLang="ko-KR" sz="700" dirty="0">
                <a:latin typeface="+mn-ea"/>
              </a:endParaRPr>
            </a:p>
            <a:p>
              <a:pPr>
                <a:lnSpc>
                  <a:spcPct val="200000"/>
                </a:lnSpc>
              </a:pPr>
              <a:r>
                <a:rPr lang="ko-KR" altLang="en-US" sz="700" dirty="0">
                  <a:latin typeface="+mn-ea"/>
                </a:rPr>
                <a:t>재무상태</a:t>
              </a:r>
              <a:endParaRPr lang="en-US" altLang="ko-KR" sz="700" dirty="0">
                <a:latin typeface="+mn-ea"/>
              </a:endParaRPr>
            </a:p>
            <a:p>
              <a:pPr>
                <a:lnSpc>
                  <a:spcPct val="200000"/>
                </a:lnSpc>
              </a:pPr>
              <a:r>
                <a:rPr lang="ko-KR" altLang="en-US" sz="700" dirty="0">
                  <a:latin typeface="+mn-ea"/>
                </a:rPr>
                <a:t>입찰가격</a:t>
              </a:r>
              <a:endParaRPr lang="en-US" altLang="ko-KR" sz="700" dirty="0">
                <a:latin typeface="+mn-ea"/>
              </a:endParaRPr>
            </a:p>
            <a:p>
              <a:pPr>
                <a:lnSpc>
                  <a:spcPct val="200000"/>
                </a:lnSpc>
              </a:pPr>
              <a:r>
                <a:rPr lang="ko-KR" altLang="en-US" sz="700" dirty="0">
                  <a:latin typeface="+mn-ea"/>
                </a:rPr>
                <a:t>신인도</a:t>
              </a:r>
              <a:endParaRPr lang="en-US" altLang="ko-KR" sz="700" dirty="0">
                <a:latin typeface="+mn-ea"/>
              </a:endParaRPr>
            </a:p>
            <a:p>
              <a:pPr>
                <a:lnSpc>
                  <a:spcPct val="200000"/>
                </a:lnSpc>
              </a:pPr>
              <a:r>
                <a:rPr lang="ko-KR" altLang="en-US" sz="700" dirty="0">
                  <a:latin typeface="+mn-ea"/>
                </a:rPr>
                <a:t>결격사유</a:t>
              </a:r>
              <a:endParaRPr lang="en-US" altLang="ko-KR" sz="700" dirty="0">
                <a:latin typeface="+mn-ea"/>
              </a:endParaRPr>
            </a:p>
            <a:p>
              <a:pPr lvl="0">
                <a:lnSpc>
                  <a:spcPct val="200000"/>
                </a:lnSpc>
              </a:pPr>
              <a:r>
                <a:rPr lang="ko-KR" altLang="en-US" sz="700" dirty="0">
                  <a:latin typeface="+mn-ea"/>
                </a:rPr>
                <a:t>기타</a:t>
              </a:r>
              <a:r>
                <a:rPr lang="en-US" altLang="ko-KR" sz="700" dirty="0">
                  <a:latin typeface="+mn-ea"/>
                </a:rPr>
                <a:t>1</a:t>
              </a:r>
              <a:endParaRPr lang="ko-KR" altLang="en-US" sz="700" dirty="0">
                <a:latin typeface="+mn-ea"/>
              </a:endParaRPr>
            </a:p>
            <a:p>
              <a:pPr lvl="0">
                <a:lnSpc>
                  <a:spcPct val="200000"/>
                </a:lnSpc>
              </a:pPr>
              <a:r>
                <a:rPr lang="ko-KR" altLang="en-US" sz="700" dirty="0">
                  <a:latin typeface="+mn-ea"/>
                </a:rPr>
                <a:t>기타</a:t>
              </a:r>
              <a:r>
                <a:rPr lang="en-US" altLang="ko-KR" sz="700" dirty="0">
                  <a:latin typeface="+mn-ea"/>
                </a:rPr>
                <a:t>2</a:t>
              </a:r>
              <a:endParaRPr lang="ko-KR" altLang="en-US" sz="700" dirty="0">
                <a:latin typeface="+mn-ea"/>
              </a:endParaRPr>
            </a:p>
            <a:p>
              <a:pPr>
                <a:lnSpc>
                  <a:spcPct val="200000"/>
                </a:lnSpc>
              </a:pPr>
              <a:r>
                <a:rPr lang="ko-KR" altLang="en-US" sz="700" dirty="0" err="1">
                  <a:latin typeface="+mn-ea"/>
                </a:rPr>
                <a:t>점수총계</a:t>
              </a:r>
              <a:endParaRPr lang="en-US" altLang="ko-KR" sz="700" dirty="0">
                <a:latin typeface="+mn-ea"/>
              </a:endParaRPr>
            </a:p>
            <a:p>
              <a:pPr>
                <a:lnSpc>
                  <a:spcPct val="200000"/>
                </a:lnSpc>
              </a:pPr>
              <a:r>
                <a:rPr lang="ko-KR" altLang="en-US" sz="700" dirty="0">
                  <a:latin typeface="+mn-ea"/>
                </a:rPr>
                <a:t>판정결과</a:t>
              </a:r>
              <a:endParaRPr lang="en-US" altLang="ko-KR" sz="700" dirty="0">
                <a:latin typeface="+mn-ea"/>
              </a:endParaRP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75839" cy="2154436"/>
            </a:xfrm>
            <a:prstGeom prst="rect">
              <a:avLst/>
            </a:prstGeom>
            <a:noFill/>
          </p:spPr>
          <p:txBody>
            <a:bodyPr wrap="square" lIns="0" tIns="0" rIns="0" bIns="0" rtlCol="0">
              <a:spAutoFit/>
            </a:bodyPr>
            <a:lstStyle/>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0000</a:t>
              </a:r>
            </a:p>
            <a:p>
              <a:pPr algn="r">
                <a:lnSpc>
                  <a:spcPct val="200000"/>
                </a:lnSpc>
              </a:pPr>
              <a:r>
                <a:rPr lang="en-US" altLang="ko-KR" sz="700" dirty="0">
                  <a:latin typeface="+mn-ea"/>
                </a:rPr>
                <a:t>9,800,000.00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0000 0000</a:t>
              </a: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gn="r">
                <a:lnSpc>
                  <a:spcPct val="200000"/>
                </a:lnSpc>
              </a:pPr>
              <a:r>
                <a:rPr lang="en-US" altLang="ko-KR" sz="700" dirty="0">
                  <a:latin typeface="+mn-ea"/>
                </a:rPr>
                <a:t>00.00 </a:t>
              </a:r>
              <a:r>
                <a:rPr lang="ko-KR" altLang="en-US" sz="700" dirty="0">
                  <a:latin typeface="+mn-ea"/>
                </a:rPr>
                <a:t>점</a:t>
              </a:r>
              <a:endParaRPr lang="en-US" altLang="ko-KR" sz="700" dirty="0">
                <a:latin typeface="+mn-ea"/>
              </a:endParaRPr>
            </a:p>
            <a:p>
              <a:pPr>
                <a:lnSpc>
                  <a:spcPct val="200000"/>
                </a:lnSpc>
              </a:pPr>
              <a:r>
                <a:rPr lang="en-US" altLang="ko-KR" sz="700" dirty="0">
                  <a:latin typeface="+mn-ea"/>
                </a:rPr>
                <a:t>00</a:t>
              </a:r>
            </a:p>
          </p:txBody>
        </p:sp>
        <p:grpSp>
          <p:nvGrpSpPr>
            <p:cNvPr id="95" name="그룹 94"/>
            <p:cNvGrpSpPr/>
            <p:nvPr/>
          </p:nvGrpSpPr>
          <p:grpSpPr>
            <a:xfrm>
              <a:off x="701175" y="1835481"/>
              <a:ext cx="2670082" cy="2137801"/>
              <a:chOff x="701175" y="1835481"/>
              <a:chExt cx="2670082" cy="2137801"/>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43257"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 name="직선 연결선 32">
                <a:extLst>
                  <a:ext uri="{FF2B5EF4-FFF2-40B4-BE49-F238E27FC236}">
                    <a16:creationId xmlns:a16="http://schemas.microsoft.com/office/drawing/2014/main" id="{E9293055-D5CD-4B9E-7F64-64B2D2CA7A52}"/>
                  </a:ext>
                </a:extLst>
              </p:cNvPr>
              <p:cNvCxnSpPr/>
              <p:nvPr/>
            </p:nvCxnSpPr>
            <p:spPr>
              <a:xfrm>
                <a:off x="703268" y="35438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 name="직선 연결선 33">
                <a:extLst>
                  <a:ext uri="{FF2B5EF4-FFF2-40B4-BE49-F238E27FC236}">
                    <a16:creationId xmlns:a16="http://schemas.microsoft.com/office/drawing/2014/main" id="{E9293055-D5CD-4B9E-7F64-64B2D2CA7A52}"/>
                  </a:ext>
                </a:extLst>
              </p:cNvPr>
              <p:cNvCxnSpPr/>
              <p:nvPr/>
            </p:nvCxnSpPr>
            <p:spPr>
              <a:xfrm>
                <a:off x="701175" y="375854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 name="직선 연결선 34">
                <a:extLst>
                  <a:ext uri="{FF2B5EF4-FFF2-40B4-BE49-F238E27FC236}">
                    <a16:creationId xmlns:a16="http://schemas.microsoft.com/office/drawing/2014/main" id="{E9293055-D5CD-4B9E-7F64-64B2D2CA7A52}"/>
                  </a:ext>
                </a:extLst>
              </p:cNvPr>
              <p:cNvCxnSpPr/>
              <p:nvPr/>
            </p:nvCxnSpPr>
            <p:spPr>
              <a:xfrm>
                <a:off x="703268" y="39732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8" name="직선 연결선 117">
            <a:extLst>
              <a:ext uri="{FF2B5EF4-FFF2-40B4-BE49-F238E27FC236}">
                <a16:creationId xmlns:a16="http://schemas.microsoft.com/office/drawing/2014/main" id="{E9293055-D5CD-4B9E-7F64-64B2D2CA7A52}"/>
              </a:ext>
            </a:extLst>
          </p:cNvPr>
          <p:cNvCxnSpPr/>
          <p:nvPr/>
        </p:nvCxnSpPr>
        <p:spPr>
          <a:xfrm>
            <a:off x="675399" y="409535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 name="타원 3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44086290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169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133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이행실적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기술능력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수행능력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수행능력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소계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r h="0">
                <a:tc>
                  <a:txBody>
                    <a:bodyPr/>
                    <a:lstStyle/>
                    <a:p>
                      <a:pPr latinLnBrk="1"/>
                      <a:r>
                        <a:rPr lang="ko-KR" altLang="en-US" sz="800" dirty="0">
                          <a:latin typeface="+mn-ea"/>
                          <a:ea typeface="+mn-ea"/>
                        </a:rPr>
                        <a:t>입찰가격</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2990251"/>
                  </a:ext>
                </a:extLst>
              </a:tr>
              <a:tr h="0">
                <a:tc>
                  <a:txBody>
                    <a:bodyPr/>
                    <a:lstStyle/>
                    <a:p>
                      <a:pPr latinLnBrk="1"/>
                      <a:r>
                        <a:rPr lang="ko-KR" altLang="en-US" sz="800" dirty="0">
                          <a:latin typeface="+mn-ea"/>
                          <a:ea typeface="+mn-ea"/>
                        </a:rPr>
                        <a:t>결격여부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결격여부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점수총계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점수총계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판정결과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판정결과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5698955"/>
                  </a:ext>
                </a:extLst>
              </a:tr>
            </a:tbl>
          </a:graphicData>
        </a:graphic>
      </p:graphicFrame>
      <p:sp>
        <p:nvSpPr>
          <p:cNvPr id="5" name="TextBox 4">
            <a:extLst>
              <a:ext uri="{FF2B5EF4-FFF2-40B4-BE49-F238E27FC236}">
                <a16:creationId xmlns:a16="http://schemas.microsoft.com/office/drawing/2014/main" id="{A6878851-3560-FF6A-6D77-C18C165B2840}"/>
              </a:ext>
            </a:extLst>
          </p:cNvPr>
          <p:cNvSpPr txBox="1"/>
          <p:nvPr/>
        </p:nvSpPr>
        <p:spPr>
          <a:xfrm>
            <a:off x="457408" y="3352117"/>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5A68445E-A3F2-23D6-4E24-C6809118F464}"/>
              </a:ext>
            </a:extLst>
          </p:cNvPr>
          <p:cNvGraphicFramePr>
            <a:graphicFrameLocks noGrp="1"/>
          </p:cNvGraphicFramePr>
          <p:nvPr/>
        </p:nvGraphicFramePr>
        <p:xfrm>
          <a:off x="452291" y="3618175"/>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목록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scwin.btn_list_onclick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개찰목록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(UI-BD-08-M01)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개찰목록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2" name="Text Box 73">
            <a:extLst>
              <a:ext uri="{FF2B5EF4-FFF2-40B4-BE49-F238E27FC236}">
                <a16:creationId xmlns:a16="http://schemas.microsoft.com/office/drawing/2014/main" id="{7DAF7B6B-8D5F-A006-EA56-86FF87B491D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2385834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170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적격심사결과상세 </a:t>
            </a:r>
            <a:r>
              <a:rPr lang="en-US" altLang="ko-KR" dirty="0"/>
              <a:t>- </a:t>
            </a:r>
            <a:r>
              <a:rPr lang="ko-KR" altLang="en-US" dirty="0"/>
              <a:t>용역</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용역일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MUI-BD-10-M05</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3" name="그룹 82"/>
          <p:cNvGrpSpPr/>
          <p:nvPr/>
        </p:nvGrpSpPr>
        <p:grpSpPr>
          <a:xfrm>
            <a:off x="701175" y="1527996"/>
            <a:ext cx="2670082" cy="2461921"/>
            <a:chOff x="701175" y="1527996"/>
            <a:chExt cx="2670082" cy="2461921"/>
          </a:xfrm>
        </p:grpSpPr>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2" name="직사각형 91"/>
            <p:cNvSpPr/>
            <p:nvPr/>
          </p:nvSpPr>
          <p:spPr>
            <a:xfrm>
              <a:off x="703268" y="1835480"/>
              <a:ext cx="792000" cy="213264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2154436"/>
            </a:xfrm>
            <a:prstGeom prst="rect">
              <a:avLst/>
            </a:prstGeom>
            <a:noFill/>
          </p:spPr>
          <p:txBody>
            <a:bodyPr wrap="square" lIns="0" tIns="0" rIns="0" bIns="0" rtlCol="0">
              <a:spAutoFit/>
            </a:bodyPr>
            <a:lstStyle/>
            <a:p>
              <a:pPr>
                <a:lnSpc>
                  <a:spcPct val="200000"/>
                </a:lnSpc>
              </a:pPr>
              <a:r>
                <a:rPr lang="ko-KR" altLang="en-US" sz="700" dirty="0">
                  <a:latin typeface="+mn-ea"/>
                </a:rPr>
                <a:t>수행능력</a:t>
              </a:r>
              <a:endParaRPr lang="en-US" altLang="ko-KR" sz="700" dirty="0">
                <a:latin typeface="+mn-ea"/>
              </a:endParaRPr>
            </a:p>
            <a:p>
              <a:pPr>
                <a:lnSpc>
                  <a:spcPct val="200000"/>
                </a:lnSpc>
              </a:pPr>
              <a:r>
                <a:rPr lang="ko-KR" altLang="en-US" sz="700" dirty="0">
                  <a:latin typeface="+mn-ea"/>
                </a:rPr>
                <a:t>경영상태</a:t>
              </a:r>
              <a:endParaRPr lang="en-US" altLang="ko-KR" sz="700" dirty="0">
                <a:latin typeface="+mn-ea"/>
              </a:endParaRPr>
            </a:p>
            <a:p>
              <a:pPr>
                <a:lnSpc>
                  <a:spcPct val="200000"/>
                </a:lnSpc>
              </a:pPr>
              <a:r>
                <a:rPr lang="ko-KR" altLang="en-US" sz="700" dirty="0">
                  <a:latin typeface="+mn-ea"/>
                </a:rPr>
                <a:t>입찰가격</a:t>
              </a:r>
              <a:endParaRPr lang="en-US" altLang="ko-KR" sz="700" dirty="0">
                <a:latin typeface="+mn-ea"/>
              </a:endParaRPr>
            </a:p>
            <a:p>
              <a:pPr>
                <a:lnSpc>
                  <a:spcPct val="200000"/>
                </a:lnSpc>
              </a:pPr>
              <a:r>
                <a:rPr lang="ko-KR" altLang="en-US" sz="700" dirty="0">
                  <a:latin typeface="+mn-ea"/>
                </a:rPr>
                <a:t>신인도</a:t>
              </a:r>
              <a:endParaRPr lang="en-US" altLang="ko-KR" sz="700" dirty="0">
                <a:latin typeface="+mn-ea"/>
              </a:endParaRPr>
            </a:p>
            <a:p>
              <a:pPr>
                <a:lnSpc>
                  <a:spcPct val="200000"/>
                </a:lnSpc>
              </a:pPr>
              <a:r>
                <a:rPr lang="ko-KR" altLang="en-US" sz="700" dirty="0" err="1">
                  <a:latin typeface="+mn-ea"/>
                </a:rPr>
                <a:t>특별신인도</a:t>
              </a:r>
              <a:endParaRPr lang="en-US" altLang="ko-KR" sz="700" dirty="0">
                <a:latin typeface="+mn-ea"/>
              </a:endParaRPr>
            </a:p>
            <a:p>
              <a:pPr>
                <a:lnSpc>
                  <a:spcPct val="200000"/>
                </a:lnSpc>
              </a:pPr>
              <a:r>
                <a:rPr lang="ko-KR" altLang="en-US" sz="700" dirty="0">
                  <a:latin typeface="+mn-ea"/>
                </a:rPr>
                <a:t>결격사유</a:t>
              </a:r>
              <a:endParaRPr lang="en-US" altLang="ko-KR" sz="700" dirty="0">
                <a:latin typeface="+mn-ea"/>
              </a:endParaRPr>
            </a:p>
            <a:p>
              <a:pPr>
                <a:lnSpc>
                  <a:spcPct val="200000"/>
                </a:lnSpc>
              </a:pPr>
              <a:r>
                <a:rPr lang="ko-KR" altLang="en-US" sz="700" dirty="0">
                  <a:latin typeface="+mn-ea"/>
                </a:rPr>
                <a:t>기타</a:t>
              </a:r>
              <a:r>
                <a:rPr lang="en-US" altLang="ko-KR" sz="700" dirty="0">
                  <a:latin typeface="+mn-ea"/>
                </a:rPr>
                <a:t>1</a:t>
              </a:r>
            </a:p>
            <a:p>
              <a:pPr>
                <a:lnSpc>
                  <a:spcPct val="200000"/>
                </a:lnSpc>
              </a:pPr>
              <a:r>
                <a:rPr lang="ko-KR" altLang="en-US" sz="700" dirty="0">
                  <a:latin typeface="+mn-ea"/>
                </a:rPr>
                <a:t>기타</a:t>
              </a:r>
              <a:r>
                <a:rPr lang="en-US" altLang="ko-KR" sz="700" dirty="0">
                  <a:latin typeface="+mn-ea"/>
                </a:rPr>
                <a:t>2</a:t>
              </a:r>
            </a:p>
            <a:p>
              <a:pPr>
                <a:lnSpc>
                  <a:spcPct val="200000"/>
                </a:lnSpc>
              </a:pPr>
              <a:r>
                <a:rPr lang="ko-KR" altLang="en-US" sz="700" dirty="0" err="1">
                  <a:latin typeface="+mn-ea"/>
                </a:rPr>
                <a:t>점수총계</a:t>
              </a:r>
              <a:endParaRPr lang="en-US" altLang="ko-KR" sz="700" dirty="0">
                <a:latin typeface="+mn-ea"/>
              </a:endParaRPr>
            </a:p>
            <a:p>
              <a:pPr>
                <a:lnSpc>
                  <a:spcPct val="200000"/>
                </a:lnSpc>
              </a:pPr>
              <a:r>
                <a:rPr lang="ko-KR" altLang="en-US" sz="700" dirty="0">
                  <a:latin typeface="+mn-ea"/>
                </a:rPr>
                <a:t>판정결과</a:t>
              </a:r>
              <a:endParaRPr lang="en-US" altLang="ko-KR" sz="700" dirty="0">
                <a:latin typeface="+mn-ea"/>
              </a:endParaRP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75839" cy="2154436"/>
            </a:xfrm>
            <a:prstGeom prst="rect">
              <a:avLst/>
            </a:prstGeom>
            <a:noFill/>
          </p:spPr>
          <p:txBody>
            <a:bodyPr wrap="square" lIns="0" tIns="0" rIns="0" bIns="0" rtlCol="0">
              <a:spAutoFit/>
            </a:bodyPr>
            <a:lstStyle/>
            <a:p>
              <a:pPr>
                <a:lnSpc>
                  <a:spcPct val="200000"/>
                </a:lnSpc>
              </a:pPr>
              <a:r>
                <a:rPr lang="en-US" altLang="ko-KR" sz="700" dirty="0">
                  <a:latin typeface="+mn-ea"/>
                </a:rPr>
                <a:t>00</a:t>
              </a:r>
            </a:p>
            <a:p>
              <a:pPr>
                <a:lnSpc>
                  <a:spcPct val="200000"/>
                </a:lnSpc>
              </a:pPr>
              <a:r>
                <a:rPr lang="en-US" altLang="ko-KR" sz="700" dirty="0">
                  <a:latin typeface="+mn-ea"/>
                </a:rPr>
                <a:t>000</a:t>
              </a:r>
            </a:p>
            <a:p>
              <a:pPr algn="r">
                <a:lnSpc>
                  <a:spcPct val="200000"/>
                </a:lnSpc>
              </a:pPr>
              <a:r>
                <a:rPr lang="en-US" altLang="ko-KR" sz="700" dirty="0">
                  <a:latin typeface="+mn-ea"/>
                </a:rPr>
                <a:t>9,800,000.00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0000</a:t>
              </a:r>
            </a:p>
            <a:p>
              <a:pPr>
                <a:lnSpc>
                  <a:spcPct val="200000"/>
                </a:lnSpc>
              </a:pPr>
              <a:r>
                <a:rPr lang="en-US" altLang="ko-KR" sz="700" dirty="0">
                  <a:latin typeface="+mn-ea"/>
                </a:rPr>
                <a:t>0000 0000</a:t>
              </a: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gn="r">
                <a:lnSpc>
                  <a:spcPct val="200000"/>
                </a:lnSpc>
              </a:pPr>
              <a:r>
                <a:rPr lang="en-US" altLang="ko-KR" sz="700" dirty="0">
                  <a:latin typeface="+mn-ea"/>
                </a:rPr>
                <a:t>00.00 </a:t>
              </a:r>
              <a:r>
                <a:rPr lang="ko-KR" altLang="en-US" sz="700" dirty="0">
                  <a:latin typeface="+mn-ea"/>
                </a:rPr>
                <a:t>점</a:t>
              </a:r>
              <a:endParaRPr lang="en-US" altLang="ko-KR" sz="700" dirty="0">
                <a:latin typeface="+mn-ea"/>
              </a:endParaRPr>
            </a:p>
            <a:p>
              <a:pPr>
                <a:lnSpc>
                  <a:spcPct val="200000"/>
                </a:lnSpc>
              </a:pPr>
              <a:r>
                <a:rPr lang="en-US" altLang="ko-KR" sz="700" dirty="0">
                  <a:latin typeface="+mn-ea"/>
                </a:rPr>
                <a:t>00</a:t>
              </a:r>
            </a:p>
          </p:txBody>
        </p:sp>
        <p:grpSp>
          <p:nvGrpSpPr>
            <p:cNvPr id="95" name="그룹 94"/>
            <p:cNvGrpSpPr/>
            <p:nvPr/>
          </p:nvGrpSpPr>
          <p:grpSpPr>
            <a:xfrm>
              <a:off x="701175" y="1835481"/>
              <a:ext cx="2670082" cy="2137801"/>
              <a:chOff x="701175" y="1835481"/>
              <a:chExt cx="2670082" cy="2137801"/>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43257"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 name="직선 연결선 32">
                <a:extLst>
                  <a:ext uri="{FF2B5EF4-FFF2-40B4-BE49-F238E27FC236}">
                    <a16:creationId xmlns:a16="http://schemas.microsoft.com/office/drawing/2014/main" id="{E9293055-D5CD-4B9E-7F64-64B2D2CA7A52}"/>
                  </a:ext>
                </a:extLst>
              </p:cNvPr>
              <p:cNvCxnSpPr/>
              <p:nvPr/>
            </p:nvCxnSpPr>
            <p:spPr>
              <a:xfrm>
                <a:off x="703268" y="35438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 name="직선 연결선 33">
                <a:extLst>
                  <a:ext uri="{FF2B5EF4-FFF2-40B4-BE49-F238E27FC236}">
                    <a16:creationId xmlns:a16="http://schemas.microsoft.com/office/drawing/2014/main" id="{E9293055-D5CD-4B9E-7F64-64B2D2CA7A52}"/>
                  </a:ext>
                </a:extLst>
              </p:cNvPr>
              <p:cNvCxnSpPr/>
              <p:nvPr/>
            </p:nvCxnSpPr>
            <p:spPr>
              <a:xfrm>
                <a:off x="701175" y="375854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 name="직선 연결선 34">
                <a:extLst>
                  <a:ext uri="{FF2B5EF4-FFF2-40B4-BE49-F238E27FC236}">
                    <a16:creationId xmlns:a16="http://schemas.microsoft.com/office/drawing/2014/main" id="{E9293055-D5CD-4B9E-7F64-64B2D2CA7A52}"/>
                  </a:ext>
                </a:extLst>
              </p:cNvPr>
              <p:cNvCxnSpPr/>
              <p:nvPr/>
            </p:nvCxnSpPr>
            <p:spPr>
              <a:xfrm>
                <a:off x="703268" y="39732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8" name="직선 연결선 117">
            <a:extLst>
              <a:ext uri="{FF2B5EF4-FFF2-40B4-BE49-F238E27FC236}">
                <a16:creationId xmlns:a16="http://schemas.microsoft.com/office/drawing/2014/main" id="{E9293055-D5CD-4B9E-7F64-64B2D2CA7A52}"/>
              </a:ext>
            </a:extLst>
          </p:cNvPr>
          <p:cNvCxnSpPr/>
          <p:nvPr/>
        </p:nvCxnSpPr>
        <p:spPr>
          <a:xfrm>
            <a:off x="675399" y="409535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 name="타원 3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106884607"/>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171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133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수행능력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수행능력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a:latin typeface="+mn-ea"/>
                          <a:ea typeface="+mn-ea"/>
                        </a:rPr>
                        <a:t>srngScr2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신인도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a:latin typeface="+mn-ea"/>
                          <a:ea typeface="+mn-ea"/>
                        </a:rPr>
                        <a:t>srngScr4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r h="0">
                <a:tc>
                  <a:txBody>
                    <a:bodyPr/>
                    <a:lstStyle/>
                    <a:p>
                      <a:pPr latinLnBrk="1"/>
                      <a:r>
                        <a:rPr lang="ko-KR" altLang="en-US" sz="800" dirty="0">
                          <a:latin typeface="+mn-ea"/>
                          <a:ea typeface="+mn-ea"/>
                        </a:rPr>
                        <a:t>특별신인도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a:latin typeface="+mn-ea"/>
                          <a:ea typeface="+mn-ea"/>
                        </a:rPr>
                        <a:t>srngScr5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특별신인도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250776"/>
                  </a:ext>
                </a:extLst>
              </a:tr>
              <a:tr h="0">
                <a:tc>
                  <a:txBody>
                    <a:bodyPr/>
                    <a:lstStyle/>
                    <a:p>
                      <a:pPr latinLnBrk="1"/>
                      <a:r>
                        <a:rPr lang="ko-KR" altLang="en-US" sz="800" dirty="0">
                          <a:latin typeface="+mn-ea"/>
                          <a:ea typeface="+mn-ea"/>
                        </a:rPr>
                        <a:t>결격사유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37816"/>
                  </a:ext>
                </a:extLst>
              </a:tr>
              <a:tr h="0">
                <a:tc>
                  <a:txBody>
                    <a:bodyPr/>
                    <a:lstStyle/>
                    <a:p>
                      <a:pPr latinLnBrk="1"/>
                      <a:r>
                        <a:rPr lang="ko-KR" altLang="en-US" sz="800" dirty="0">
                          <a:latin typeface="+mn-ea"/>
                          <a:ea typeface="+mn-ea"/>
                        </a:rPr>
                        <a:t>기타</a:t>
                      </a:r>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a:latin typeface="+mn-ea"/>
                          <a:ea typeface="+mn-ea"/>
                        </a:rPr>
                        <a:t>srngScr7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기타</a:t>
                      </a:r>
                      <a:r>
                        <a:rPr lang="en-US" altLang="ko-KR" sz="800" dirty="0">
                          <a:latin typeface="+mn-ea"/>
                          <a:ea typeface="+mn-ea"/>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2</a:t>
                      </a:r>
                      <a:r>
                        <a:rPr lang="ko-KR" altLang="en-US" sz="800" dirty="0">
                          <a:latin typeface="+mn-ea"/>
                          <a:ea typeface="+mn-ea"/>
                        </a:rPr>
                        <a:t>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점수총계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점수총계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r h="0">
                <a:tc>
                  <a:txBody>
                    <a:bodyPr/>
                    <a:lstStyle/>
                    <a:p>
                      <a:pPr latinLnBrk="1"/>
                      <a:r>
                        <a:rPr lang="ko-KR" altLang="en-US" sz="800" dirty="0">
                          <a:latin typeface="+mn-ea"/>
                          <a:ea typeface="+mn-ea"/>
                        </a:rPr>
                        <a:t>판정결과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3229525"/>
                  </a:ext>
                </a:extLst>
              </a:tr>
            </a:tbl>
          </a:graphicData>
        </a:graphic>
      </p:graphicFrame>
      <p:sp>
        <p:nvSpPr>
          <p:cNvPr id="9" name="TextBox 8">
            <a:extLst>
              <a:ext uri="{FF2B5EF4-FFF2-40B4-BE49-F238E27FC236}">
                <a16:creationId xmlns:a16="http://schemas.microsoft.com/office/drawing/2014/main" id="{98AFBB7F-8F35-89FD-C1FD-182D84BCEDE9}"/>
              </a:ext>
            </a:extLst>
          </p:cNvPr>
          <p:cNvSpPr txBox="1"/>
          <p:nvPr/>
        </p:nvSpPr>
        <p:spPr>
          <a:xfrm>
            <a:off x="457408" y="3277009"/>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0" name="표 9">
            <a:extLst>
              <a:ext uri="{FF2B5EF4-FFF2-40B4-BE49-F238E27FC236}">
                <a16:creationId xmlns:a16="http://schemas.microsoft.com/office/drawing/2014/main" id="{D97AAD46-6BB7-4752-2D87-11D121746F0E}"/>
              </a:ext>
            </a:extLst>
          </p:cNvPr>
          <p:cNvGraphicFramePr>
            <a:graphicFrameLocks noGrp="1"/>
          </p:cNvGraphicFramePr>
          <p:nvPr/>
        </p:nvGraphicFramePr>
        <p:xfrm>
          <a:off x="452291" y="3555140"/>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목록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scwin.btn_list_onclick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개찰목록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(UI-BD-08-M01)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개찰목록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2" name="Text Box 73">
            <a:extLst>
              <a:ext uri="{FF2B5EF4-FFF2-40B4-BE49-F238E27FC236}">
                <a16:creationId xmlns:a16="http://schemas.microsoft.com/office/drawing/2014/main" id="{F86617E5-8FED-A97D-1F54-F50F0E5EBFF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0574228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172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p:cNvSpPr/>
          <p:nvPr/>
        </p:nvSpPr>
        <p:spPr>
          <a:xfrm>
            <a:off x="3823602" y="1981278"/>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TextBox 40">
            <a:extLst>
              <a:ext uri="{FF2B5EF4-FFF2-40B4-BE49-F238E27FC236}">
                <a16:creationId xmlns:a16="http://schemas.microsoft.com/office/drawing/2014/main" id="{FFC49AEA-2A8F-250C-A86A-A7751D9706C3}"/>
              </a:ext>
            </a:extLst>
          </p:cNvPr>
          <p:cNvSpPr txBox="1"/>
          <p:nvPr/>
        </p:nvSpPr>
        <p:spPr>
          <a:xfrm>
            <a:off x="3910665" y="1981279"/>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42" name="TextBox 41">
            <a:extLst>
              <a:ext uri="{FF2B5EF4-FFF2-40B4-BE49-F238E27FC236}">
                <a16:creationId xmlns:a16="http://schemas.microsoft.com/office/drawing/2014/main" id="{FFC49AEA-2A8F-250C-A86A-A7751D9706C3}"/>
              </a:ext>
            </a:extLst>
          </p:cNvPr>
          <p:cNvSpPr txBox="1"/>
          <p:nvPr/>
        </p:nvSpPr>
        <p:spPr>
          <a:xfrm>
            <a:off x="5492833" y="1981279"/>
            <a:ext cx="325410"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 ~ -2</a:t>
            </a:r>
          </a:p>
        </p:txBody>
      </p:sp>
      <p:grpSp>
        <p:nvGrpSpPr>
          <p:cNvPr id="43" name="그룹 42"/>
          <p:cNvGrpSpPr/>
          <p:nvPr/>
        </p:nvGrpSpPr>
        <p:grpSpPr>
          <a:xfrm>
            <a:off x="3821510" y="1981279"/>
            <a:ext cx="2630093" cy="429480"/>
            <a:chOff x="701175" y="1835481"/>
            <a:chExt cx="2630093" cy="429480"/>
          </a:xfrm>
        </p:grpSpPr>
        <p:cxnSp>
          <p:nvCxnSpPr>
            <p:cNvPr id="44" name="직선 연결선 4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5" name="직선 연결선 4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6" name="직선 연결선 4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8" name="TextBox 57">
            <a:extLst>
              <a:ext uri="{FF2B5EF4-FFF2-40B4-BE49-F238E27FC236}">
                <a16:creationId xmlns:a16="http://schemas.microsoft.com/office/drawing/2014/main" id="{FFC49AEA-2A8F-250C-A86A-A7751D9706C3}"/>
              </a:ext>
            </a:extLst>
          </p:cNvPr>
          <p:cNvSpPr txBox="1"/>
          <p:nvPr/>
        </p:nvSpPr>
        <p:spPr>
          <a:xfrm>
            <a:off x="3882481" y="1493927"/>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III.</a:t>
            </a:r>
            <a:r>
              <a:rPr lang="ko-KR" altLang="en-US" dirty="0"/>
              <a:t>신인도</a:t>
            </a:r>
          </a:p>
        </p:txBody>
      </p:sp>
      <p:sp>
        <p:nvSpPr>
          <p:cNvPr id="60" name="TextBox 59">
            <a:extLst>
              <a:ext uri="{FF2B5EF4-FFF2-40B4-BE49-F238E27FC236}">
                <a16:creationId xmlns:a16="http://schemas.microsoft.com/office/drawing/2014/main" id="{FFC49AEA-2A8F-250C-A86A-A7751D9706C3}"/>
              </a:ext>
            </a:extLst>
          </p:cNvPr>
          <p:cNvSpPr txBox="1"/>
          <p:nvPr/>
        </p:nvSpPr>
        <p:spPr>
          <a:xfrm>
            <a:off x="3882481" y="169416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61" name="TextBox 60">
            <a:extLst>
              <a:ext uri="{FF2B5EF4-FFF2-40B4-BE49-F238E27FC236}">
                <a16:creationId xmlns:a16="http://schemas.microsoft.com/office/drawing/2014/main" id="{FFC49AEA-2A8F-250C-A86A-A7751D9706C3}"/>
              </a:ext>
            </a:extLst>
          </p:cNvPr>
          <p:cNvSpPr txBox="1"/>
          <p:nvPr/>
        </p:nvSpPr>
        <p:spPr>
          <a:xfrm>
            <a:off x="6059077" y="1981279"/>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28683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 </a:t>
            </a: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a:t>
            </a:r>
            <a:r>
              <a:rPr lang="ko-KR" altLang="en-US" sz="700" dirty="0">
                <a:latin typeface="+mn-ea"/>
              </a:rPr>
              <a:t>기업신용평가</a:t>
            </a:r>
            <a:r>
              <a:rPr lang="en-US" altLang="ko-KR" sz="700" dirty="0">
                <a:latin typeface="+mn-ea"/>
              </a:rPr>
              <a:t>)</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a:t>
            </a:r>
            <a:r>
              <a:rPr lang="ko-KR" altLang="en-US" dirty="0" err="1"/>
              <a:t>당해물품납품이행능력</a:t>
            </a:r>
            <a:endParaRPr lang="ko-KR" altLang="en-US" dirty="0"/>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경영상태</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676741" y="494865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704609" y="547850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791672" y="5478506"/>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2519714" y="5478506"/>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70</a:t>
            </a:r>
          </a:p>
        </p:txBody>
      </p:sp>
      <p:grpSp>
        <p:nvGrpSpPr>
          <p:cNvPr id="162" name="그룹 161"/>
          <p:cNvGrpSpPr/>
          <p:nvPr/>
        </p:nvGrpSpPr>
        <p:grpSpPr>
          <a:xfrm>
            <a:off x="702517" y="5478506"/>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763488" y="4991154"/>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763488" y="519139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2940020" y="5478506"/>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직사각형 169"/>
          <p:cNvSpPr/>
          <p:nvPr/>
        </p:nvSpPr>
        <p:spPr>
          <a:xfrm>
            <a:off x="3823602" y="2737961"/>
            <a:ext cx="1639886" cy="149961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1" name="TextBox 170">
            <a:extLst>
              <a:ext uri="{FF2B5EF4-FFF2-40B4-BE49-F238E27FC236}">
                <a16:creationId xmlns:a16="http://schemas.microsoft.com/office/drawing/2014/main" id="{FFC49AEA-2A8F-250C-A86A-A7751D9706C3}"/>
              </a:ext>
            </a:extLst>
          </p:cNvPr>
          <p:cNvSpPr txBox="1"/>
          <p:nvPr/>
        </p:nvSpPr>
        <p:spPr>
          <a:xfrm>
            <a:off x="3910665" y="2737962"/>
            <a:ext cx="1480199" cy="1508105"/>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lvl="0">
              <a:lnSpc>
                <a:spcPct val="200000"/>
              </a:lnSpc>
            </a:pPr>
            <a:r>
              <a:rPr lang="ko-KR" altLang="en-US" sz="700" dirty="0">
                <a:latin typeface="+mn-ea"/>
              </a:rPr>
              <a:t>가</a:t>
            </a:r>
            <a:r>
              <a:rPr lang="en-US" altLang="ko-KR" sz="700" dirty="0">
                <a:latin typeface="+mn-ea"/>
              </a:rPr>
              <a:t>. </a:t>
            </a:r>
            <a:r>
              <a:rPr lang="ko-KR" altLang="en-US" sz="700" dirty="0">
                <a:latin typeface="+mn-ea"/>
              </a:rPr>
              <a:t>기술 및 디자인 </a:t>
            </a:r>
            <a:r>
              <a:rPr lang="ko-KR" altLang="en-US" sz="700" dirty="0" err="1">
                <a:latin typeface="+mn-ea"/>
              </a:rPr>
              <a:t>인증보유</a:t>
            </a:r>
            <a:endParaRPr lang="en-US" altLang="ko-KR" sz="700" dirty="0">
              <a:latin typeface="+mn-ea"/>
            </a:endParaRPr>
          </a:p>
          <a:p>
            <a:pPr>
              <a:lnSpc>
                <a:spcPct val="200000"/>
              </a:lnSpc>
            </a:pPr>
            <a:r>
              <a:rPr lang="ko-KR" altLang="en-US" sz="700" dirty="0">
                <a:latin typeface="+mn-ea"/>
              </a:rPr>
              <a:t>나</a:t>
            </a:r>
            <a:r>
              <a:rPr lang="en-US" altLang="ko-KR" sz="700" dirty="0">
                <a:latin typeface="+mn-ea"/>
              </a:rPr>
              <a:t>. </a:t>
            </a:r>
            <a:r>
              <a:rPr lang="ko-KR" altLang="en-US" sz="700" dirty="0">
                <a:latin typeface="+mn-ea"/>
              </a:rPr>
              <a:t>품질보증</a:t>
            </a:r>
            <a:endParaRPr lang="en-US" altLang="ko-KR" sz="700" dirty="0">
              <a:latin typeface="+mn-ea"/>
            </a:endParaRPr>
          </a:p>
          <a:p>
            <a:pPr>
              <a:lnSpc>
                <a:spcPct val="200000"/>
              </a:lnSpc>
            </a:pPr>
            <a:r>
              <a:rPr lang="ko-KR" altLang="en-US" sz="700" dirty="0">
                <a:latin typeface="+mn-ea"/>
              </a:rPr>
              <a:t>다</a:t>
            </a:r>
            <a:r>
              <a:rPr lang="en-US" altLang="ko-KR" sz="700" dirty="0">
                <a:latin typeface="+mn-ea"/>
              </a:rPr>
              <a:t>. </a:t>
            </a:r>
            <a:r>
              <a:rPr lang="ko-KR" altLang="en-US" sz="700" dirty="0">
                <a:latin typeface="+mn-ea"/>
              </a:rPr>
              <a:t>환경관리</a:t>
            </a:r>
            <a:endParaRPr lang="en-US" altLang="ko-KR" sz="700" dirty="0">
              <a:latin typeface="+mn-ea"/>
            </a:endParaRPr>
          </a:p>
          <a:p>
            <a:pPr>
              <a:lnSpc>
                <a:spcPct val="200000"/>
              </a:lnSpc>
            </a:pPr>
            <a:r>
              <a:rPr lang="ko-KR" altLang="en-US" sz="700" dirty="0">
                <a:latin typeface="+mn-ea"/>
              </a:rPr>
              <a:t>라</a:t>
            </a:r>
            <a:r>
              <a:rPr lang="en-US" altLang="ko-KR" sz="700" dirty="0">
                <a:latin typeface="+mn-ea"/>
              </a:rPr>
              <a:t>. </a:t>
            </a:r>
            <a:r>
              <a:rPr lang="ko-KR" altLang="en-US" sz="700" dirty="0">
                <a:latin typeface="+mn-ea"/>
              </a:rPr>
              <a:t>사후관리</a:t>
            </a:r>
            <a:endParaRPr lang="en-US" altLang="ko-KR" sz="700" dirty="0">
              <a:latin typeface="+mn-ea"/>
            </a:endParaRPr>
          </a:p>
          <a:p>
            <a:pPr>
              <a:lnSpc>
                <a:spcPct val="200000"/>
              </a:lnSpc>
            </a:pPr>
            <a:r>
              <a:rPr lang="ko-KR" altLang="en-US" sz="700" dirty="0">
                <a:latin typeface="+mn-ea"/>
              </a:rPr>
              <a:t>마</a:t>
            </a:r>
            <a:r>
              <a:rPr lang="en-US" altLang="ko-KR" sz="700" dirty="0">
                <a:latin typeface="+mn-ea"/>
              </a:rPr>
              <a:t>. </a:t>
            </a:r>
            <a:r>
              <a:rPr lang="ko-KR" altLang="en-US" sz="700" dirty="0">
                <a:latin typeface="+mn-ea"/>
              </a:rPr>
              <a:t>영세기업 지원</a:t>
            </a:r>
            <a:endParaRPr lang="en-US" altLang="ko-KR" sz="700" dirty="0">
              <a:latin typeface="+mn-ea"/>
            </a:endParaRPr>
          </a:p>
          <a:p>
            <a:pPr>
              <a:lnSpc>
                <a:spcPct val="200000"/>
              </a:lnSpc>
            </a:pPr>
            <a:r>
              <a:rPr lang="ko-KR" altLang="en-US" sz="700" dirty="0">
                <a:latin typeface="+mn-ea"/>
              </a:rPr>
              <a:t>바</a:t>
            </a:r>
            <a:r>
              <a:rPr lang="en-US" altLang="ko-KR" sz="700" dirty="0">
                <a:latin typeface="+mn-ea"/>
              </a:rPr>
              <a:t>. </a:t>
            </a:r>
            <a:r>
              <a:rPr lang="ko-KR" altLang="en-US" sz="700" dirty="0">
                <a:latin typeface="+mn-ea"/>
              </a:rPr>
              <a:t>기타</a:t>
            </a:r>
            <a:endParaRPr lang="en-US" altLang="ko-KR"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5638643" y="2737962"/>
            <a:ext cx="179600" cy="1508105"/>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a:t>
            </a:r>
          </a:p>
          <a:p>
            <a:pPr algn="r">
              <a:lnSpc>
                <a:spcPct val="200000"/>
              </a:lnSpc>
            </a:pPr>
            <a:r>
              <a:rPr lang="en-US" altLang="ko-KR" sz="700" dirty="0">
                <a:latin typeface="+mn-ea"/>
              </a:rPr>
              <a:t>1</a:t>
            </a:r>
          </a:p>
          <a:p>
            <a:pPr algn="r">
              <a:lnSpc>
                <a:spcPct val="200000"/>
              </a:lnSpc>
            </a:pPr>
            <a:r>
              <a:rPr lang="en-US" altLang="ko-KR" sz="700" dirty="0">
                <a:latin typeface="+mn-ea"/>
              </a:rPr>
              <a:t>1</a:t>
            </a:r>
          </a:p>
          <a:p>
            <a:pPr algn="r">
              <a:lnSpc>
                <a:spcPct val="200000"/>
              </a:lnSpc>
            </a:pPr>
            <a:r>
              <a:rPr lang="en-US" altLang="ko-KR" sz="700" dirty="0">
                <a:latin typeface="+mn-ea"/>
              </a:rPr>
              <a:t>1</a:t>
            </a:r>
          </a:p>
          <a:p>
            <a:pPr algn="r">
              <a:lnSpc>
                <a:spcPct val="200000"/>
              </a:lnSpc>
            </a:pPr>
            <a:r>
              <a:rPr lang="en-US" altLang="ko-KR" sz="700" dirty="0">
                <a:latin typeface="+mn-ea"/>
              </a:rPr>
              <a:t>1</a:t>
            </a:r>
          </a:p>
          <a:p>
            <a:pPr algn="r">
              <a:lnSpc>
                <a:spcPct val="200000"/>
              </a:lnSpc>
            </a:pPr>
            <a:r>
              <a:rPr lang="en-US" altLang="ko-KR" sz="700" dirty="0">
                <a:latin typeface="+mn-ea"/>
              </a:rPr>
              <a:t>1.5</a:t>
            </a:r>
          </a:p>
        </p:txBody>
      </p:sp>
      <p:grpSp>
        <p:nvGrpSpPr>
          <p:cNvPr id="173" name="그룹 172"/>
          <p:cNvGrpSpPr/>
          <p:nvPr/>
        </p:nvGrpSpPr>
        <p:grpSpPr>
          <a:xfrm>
            <a:off x="3821510" y="2737962"/>
            <a:ext cx="2630093" cy="1499614"/>
            <a:chOff x="701175" y="1835481"/>
            <a:chExt cx="2630093" cy="1499614"/>
          </a:xfrm>
        </p:grpSpPr>
        <p:cxnSp>
          <p:nvCxnSpPr>
            <p:cNvPr id="174" name="직선 연결선 17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24639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26787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3268" y="28934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31203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33350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3882481" y="245084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품질관리 등</a:t>
            </a:r>
            <a:r>
              <a:rPr lang="en-US" altLang="ko-KR" sz="700" dirty="0">
                <a:latin typeface="+mn-ea"/>
              </a:rPr>
              <a:t> </a:t>
            </a:r>
            <a:r>
              <a:rPr lang="ko-KR" altLang="en-US" sz="700" dirty="0" err="1">
                <a:latin typeface="+mn-ea"/>
              </a:rPr>
              <a:t>신뢰정도</a:t>
            </a:r>
            <a:endParaRPr lang="ko-KR" altLang="en-US" sz="700" dirty="0">
              <a:latin typeface="+mn-ea"/>
            </a:endParaRPr>
          </a:p>
        </p:txBody>
      </p:sp>
      <p:sp>
        <p:nvSpPr>
          <p:cNvPr id="178" name="TextBox 177">
            <a:extLst>
              <a:ext uri="{FF2B5EF4-FFF2-40B4-BE49-F238E27FC236}">
                <a16:creationId xmlns:a16="http://schemas.microsoft.com/office/drawing/2014/main" id="{FFC49AEA-2A8F-250C-A86A-A7751D9706C3}"/>
              </a:ext>
            </a:extLst>
          </p:cNvPr>
          <p:cNvSpPr txBox="1"/>
          <p:nvPr/>
        </p:nvSpPr>
        <p:spPr>
          <a:xfrm>
            <a:off x="6059077" y="2737962"/>
            <a:ext cx="359073" cy="1508105"/>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sp>
        <p:nvSpPr>
          <p:cNvPr id="185" name="직사각형 184"/>
          <p:cNvSpPr/>
          <p:nvPr/>
        </p:nvSpPr>
        <p:spPr>
          <a:xfrm>
            <a:off x="3823602" y="4566330"/>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TextBox 185">
            <a:extLst>
              <a:ext uri="{FF2B5EF4-FFF2-40B4-BE49-F238E27FC236}">
                <a16:creationId xmlns:a16="http://schemas.microsoft.com/office/drawing/2014/main" id="{FFC49AEA-2A8F-250C-A86A-A7751D9706C3}"/>
              </a:ext>
            </a:extLst>
          </p:cNvPr>
          <p:cNvSpPr txBox="1"/>
          <p:nvPr/>
        </p:nvSpPr>
        <p:spPr>
          <a:xfrm>
            <a:off x="3910665" y="4566331"/>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a:t>
            </a:r>
            <a:r>
              <a:rPr lang="ko-KR" altLang="en-US" sz="700" dirty="0" err="1">
                <a:latin typeface="+mn-ea"/>
              </a:rPr>
              <a:t>납품지연</a:t>
            </a:r>
            <a:endParaRPr lang="en-US" altLang="ko-KR" sz="700" dirty="0">
              <a:latin typeface="+mn-ea"/>
            </a:endParaRPr>
          </a:p>
        </p:txBody>
      </p:sp>
      <p:sp>
        <p:nvSpPr>
          <p:cNvPr id="187" name="TextBox 186">
            <a:extLst>
              <a:ext uri="{FF2B5EF4-FFF2-40B4-BE49-F238E27FC236}">
                <a16:creationId xmlns:a16="http://schemas.microsoft.com/office/drawing/2014/main" id="{FFC49AEA-2A8F-250C-A86A-A7751D9706C3}"/>
              </a:ext>
            </a:extLst>
          </p:cNvPr>
          <p:cNvSpPr txBox="1"/>
          <p:nvPr/>
        </p:nvSpPr>
        <p:spPr>
          <a:xfrm>
            <a:off x="5638707" y="4566331"/>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-2.0</a:t>
            </a:r>
          </a:p>
        </p:txBody>
      </p:sp>
      <p:grpSp>
        <p:nvGrpSpPr>
          <p:cNvPr id="188" name="그룹 187"/>
          <p:cNvGrpSpPr/>
          <p:nvPr/>
        </p:nvGrpSpPr>
        <p:grpSpPr>
          <a:xfrm>
            <a:off x="3821510" y="4566331"/>
            <a:ext cx="2630093" cy="429480"/>
            <a:chOff x="701175" y="1835481"/>
            <a:chExt cx="2630093" cy="429480"/>
          </a:xfrm>
        </p:grpSpPr>
        <p:cxnSp>
          <p:nvCxnSpPr>
            <p:cNvPr id="189" name="직선 연결선 18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3" name="TextBox 192">
            <a:extLst>
              <a:ext uri="{FF2B5EF4-FFF2-40B4-BE49-F238E27FC236}">
                <a16:creationId xmlns:a16="http://schemas.microsoft.com/office/drawing/2014/main" id="{FFC49AEA-2A8F-250C-A86A-A7751D9706C3}"/>
              </a:ext>
            </a:extLst>
          </p:cNvPr>
          <p:cNvSpPr txBox="1"/>
          <p:nvPr/>
        </p:nvSpPr>
        <p:spPr>
          <a:xfrm>
            <a:off x="3882481" y="427921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6059077" y="4566331"/>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95" name="직사각형 194"/>
          <p:cNvSpPr/>
          <p:nvPr/>
        </p:nvSpPr>
        <p:spPr>
          <a:xfrm>
            <a:off x="3823602" y="5624020"/>
            <a:ext cx="1639886" cy="6082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6" name="TextBox 195">
            <a:extLst>
              <a:ext uri="{FF2B5EF4-FFF2-40B4-BE49-F238E27FC236}">
                <a16:creationId xmlns:a16="http://schemas.microsoft.com/office/drawing/2014/main" id="{FFC49AEA-2A8F-250C-A86A-A7751D9706C3}"/>
              </a:ext>
            </a:extLst>
          </p:cNvPr>
          <p:cNvSpPr txBox="1"/>
          <p:nvPr/>
        </p:nvSpPr>
        <p:spPr>
          <a:xfrm>
            <a:off x="3910665" y="5624021"/>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5638707" y="562402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grpSp>
        <p:nvGrpSpPr>
          <p:cNvPr id="198" name="그룹 197"/>
          <p:cNvGrpSpPr/>
          <p:nvPr/>
        </p:nvGrpSpPr>
        <p:grpSpPr>
          <a:xfrm>
            <a:off x="3821510" y="5624021"/>
            <a:ext cx="2630093" cy="214740"/>
            <a:chOff x="701175" y="1835481"/>
            <a:chExt cx="2630093" cy="214740"/>
          </a:xfrm>
        </p:grpSpPr>
        <p:cxnSp>
          <p:nvCxnSpPr>
            <p:cNvPr id="199" name="직선 연결선 1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02" name="TextBox 201">
            <a:extLst>
              <a:ext uri="{FF2B5EF4-FFF2-40B4-BE49-F238E27FC236}">
                <a16:creationId xmlns:a16="http://schemas.microsoft.com/office/drawing/2014/main" id="{FFC49AEA-2A8F-250C-A86A-A7751D9706C3}"/>
              </a:ext>
            </a:extLst>
          </p:cNvPr>
          <p:cNvSpPr txBox="1"/>
          <p:nvPr/>
        </p:nvSpPr>
        <p:spPr>
          <a:xfrm>
            <a:off x="3882481" y="5136669"/>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IV.</a:t>
            </a:r>
            <a:r>
              <a:rPr lang="ko-KR" altLang="en-US" dirty="0"/>
              <a:t>결격사유</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3882481" y="533690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납품이행능력 </a:t>
            </a:r>
            <a:r>
              <a:rPr lang="ko-KR" altLang="en-US" sz="700" dirty="0" err="1">
                <a:latin typeface="+mn-ea"/>
              </a:rPr>
              <a:t>결격여부</a:t>
            </a:r>
            <a:endParaRPr lang="ko-KR" altLang="en-US" sz="700" dirty="0">
              <a:latin typeface="+mn-ea"/>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6059077" y="562402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5734" y="508207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5934097"/>
            <a:ext cx="1480199"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 </a:t>
            </a:r>
            <a:r>
              <a:rPr lang="ko-KR" altLang="en-US" sz="700" dirty="0">
                <a:latin typeface="+mn-ea"/>
              </a:rPr>
              <a:t>부도 또는 파산상태로 당해 계약이행이 어렵다고 판단되는 경우</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516" y="5987958"/>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6390176" y="598795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8" name="타원 10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72355526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173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TextBox 35">
            <a:extLst>
              <a:ext uri="{FF2B5EF4-FFF2-40B4-BE49-F238E27FC236}">
                <a16:creationId xmlns:a16="http://schemas.microsoft.com/office/drawing/2014/main" id="{FFC49AEA-2A8F-250C-A86A-A7751D9706C3}"/>
              </a:ext>
            </a:extLst>
          </p:cNvPr>
          <p:cNvSpPr txBox="1"/>
          <p:nvPr/>
        </p:nvSpPr>
        <p:spPr>
          <a:xfrm>
            <a:off x="3882481"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신인도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-2</a:t>
            </a:r>
          </a:p>
        </p:txBody>
      </p:sp>
      <p:grpSp>
        <p:nvGrpSpPr>
          <p:cNvPr id="37" name="그룹 36"/>
          <p:cNvGrpSpPr/>
          <p:nvPr/>
        </p:nvGrpSpPr>
        <p:grpSpPr>
          <a:xfrm flipV="1">
            <a:off x="6244568" y="1641327"/>
            <a:ext cx="94010" cy="47005"/>
            <a:chOff x="6812560" y="3297172"/>
            <a:chExt cx="94010" cy="47005"/>
          </a:xfrm>
        </p:grpSpPr>
        <p:cxnSp>
          <p:nvCxnSpPr>
            <p:cNvPr id="38" name="직선 연결선 3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9" name="직선 연결선 3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1" name="직선 연결선 120">
            <a:extLst>
              <a:ext uri="{FF2B5EF4-FFF2-40B4-BE49-F238E27FC236}">
                <a16:creationId xmlns:a16="http://schemas.microsoft.com/office/drawing/2014/main" id="{E9293055-D5CD-4B9E-7F64-64B2D2CA7A52}"/>
              </a:ext>
            </a:extLst>
          </p:cNvPr>
          <p:cNvCxnSpPr/>
          <p:nvPr/>
        </p:nvCxnSpPr>
        <p:spPr>
          <a:xfrm>
            <a:off x="3795734"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2268636" cy="181140"/>
          </a:xfrm>
          <a:prstGeom prst="rect">
            <a:avLst/>
          </a:prstGeom>
          <a:noFill/>
        </p:spPr>
        <p:txBody>
          <a:bodyPr wrap="square" lIns="0" tIns="0" rIns="0" bIns="0" rtlCol="0">
            <a:spAutoFit/>
          </a:bodyPr>
          <a:lstStyle/>
          <a:p>
            <a:pPr>
              <a:lnSpc>
                <a:spcPct val="200000"/>
              </a:lnSpc>
            </a:pPr>
            <a:r>
              <a:rPr lang="ko-KR" altLang="en-US" sz="700" dirty="0" err="1">
                <a:latin typeface="+mn-ea"/>
              </a:rPr>
              <a:t>당해물품납품이행능력</a:t>
            </a:r>
            <a:r>
              <a:rPr lang="en-US" altLang="ko-KR" sz="700" dirty="0">
                <a:latin typeface="+mn-ea"/>
              </a:rPr>
              <a:t>(30</a:t>
            </a:r>
            <a:r>
              <a:rPr lang="ko-KR" altLang="en-US" sz="700" dirty="0">
                <a:latin typeface="+mn-ea"/>
              </a:rPr>
              <a:t>점</a:t>
            </a:r>
            <a:r>
              <a:rPr lang="en-US" altLang="ko-KR" sz="700" dirty="0">
                <a:latin typeface="+mn-ea"/>
              </a:rPr>
              <a:t>)</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8" name="직선 연결선 157">
            <a:extLst>
              <a:ext uri="{FF2B5EF4-FFF2-40B4-BE49-F238E27FC236}">
                <a16:creationId xmlns:a16="http://schemas.microsoft.com/office/drawing/2014/main" id="{E9293055-D5CD-4B9E-7F64-64B2D2CA7A52}"/>
              </a:ext>
            </a:extLst>
          </p:cNvPr>
          <p:cNvCxnSpPr/>
          <p:nvPr/>
        </p:nvCxnSpPr>
        <p:spPr>
          <a:xfrm>
            <a:off x="676741" y="26148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10" name="그룹 109"/>
          <p:cNvGrpSpPr/>
          <p:nvPr/>
        </p:nvGrpSpPr>
        <p:grpSpPr>
          <a:xfrm>
            <a:off x="701175" y="1876425"/>
            <a:ext cx="2630093" cy="646331"/>
            <a:chOff x="701175" y="1835481"/>
            <a:chExt cx="2630093" cy="646331"/>
          </a:xfrm>
        </p:grpSpPr>
        <p:sp>
          <p:nvSpPr>
            <p:cNvPr id="113" name="직사각형 112"/>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TextBox 113">
              <a:extLst>
                <a:ext uri="{FF2B5EF4-FFF2-40B4-BE49-F238E27FC236}">
                  <a16:creationId xmlns:a16="http://schemas.microsoft.com/office/drawing/2014/main" id="{FFC49AEA-2A8F-250C-A86A-A7751D9706C3}"/>
                </a:ext>
              </a:extLst>
            </p:cNvPr>
            <p:cNvSpPr txBox="1"/>
            <p:nvPr/>
          </p:nvSpPr>
          <p:spPr>
            <a:xfrm>
              <a:off x="790331" y="1835481"/>
              <a:ext cx="725552" cy="612027"/>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a:p>
              <a:pPr>
                <a:lnSpc>
                  <a:spcPct val="200000"/>
                </a:lnSpc>
              </a:pPr>
              <a:r>
                <a:rPr lang="ko-KR" altLang="en-US" sz="700" dirty="0" err="1">
                  <a:latin typeface="+mn-ea"/>
                </a:rPr>
                <a:t>심사평점</a:t>
              </a:r>
              <a:endParaRPr lang="en-US" altLang="ko-KR"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en-US" altLang="ko-KR" sz="700" dirty="0">
                  <a:latin typeface="+mn-ea"/>
                </a:rPr>
                <a:t>-</a:t>
              </a:r>
            </a:p>
            <a:p>
              <a:pPr>
                <a:lnSpc>
                  <a:spcPct val="200000"/>
                </a:lnSpc>
              </a:pPr>
              <a:r>
                <a:rPr lang="en-US" altLang="ko-KR" sz="700" dirty="0">
                  <a:latin typeface="+mn-ea"/>
                </a:rPr>
                <a:t>-</a:t>
              </a:r>
            </a:p>
            <a:p>
              <a:pPr algn="r">
                <a:lnSpc>
                  <a:spcPct val="200000"/>
                </a:lnSpc>
              </a:pPr>
              <a:r>
                <a:rPr lang="en-US" altLang="ko-KR" sz="700" dirty="0">
                  <a:latin typeface="+mn-ea"/>
                </a:rPr>
                <a:t>-</a:t>
              </a:r>
            </a:p>
          </p:txBody>
        </p:sp>
        <p:grpSp>
          <p:nvGrpSpPr>
            <p:cNvPr id="116" name="그룹 115"/>
            <p:cNvGrpSpPr/>
            <p:nvPr/>
          </p:nvGrpSpPr>
          <p:grpSpPr>
            <a:xfrm>
              <a:off x="701175" y="1835481"/>
              <a:ext cx="2630093" cy="644220"/>
              <a:chOff x="701175" y="1835481"/>
              <a:chExt cx="2630093" cy="644220"/>
            </a:xfrm>
          </p:grpSpPr>
          <p:cxnSp>
            <p:nvCxnSpPr>
              <p:cNvPr id="117" name="직선 연결선 11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15" name="TextBox 214">
            <a:extLst>
              <a:ext uri="{FF2B5EF4-FFF2-40B4-BE49-F238E27FC236}">
                <a16:creationId xmlns:a16="http://schemas.microsoft.com/office/drawing/2014/main" id="{FFC49AEA-2A8F-250C-A86A-A7751D9706C3}"/>
              </a:ext>
            </a:extLst>
          </p:cNvPr>
          <p:cNvSpPr txBox="1"/>
          <p:nvPr/>
        </p:nvSpPr>
        <p:spPr>
          <a:xfrm>
            <a:off x="763488" y="2656994"/>
            <a:ext cx="2268636" cy="181140"/>
          </a:xfrm>
          <a:prstGeom prst="rect">
            <a:avLst/>
          </a:prstGeom>
          <a:noFill/>
        </p:spPr>
        <p:txBody>
          <a:bodyPr wrap="square" lIns="0" tIns="0" rIns="0" bIns="0" rtlCol="0">
            <a:spAutoFit/>
          </a:bodyPr>
          <a:lstStyle/>
          <a:p>
            <a:pPr>
              <a:lnSpc>
                <a:spcPct val="200000"/>
              </a:lnSpc>
            </a:pPr>
            <a:r>
              <a:rPr lang="ko-KR" altLang="en-US" sz="700" dirty="0">
                <a:latin typeface="+mn-ea"/>
              </a:rPr>
              <a:t>입찰가격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70</a:t>
            </a:r>
          </a:p>
        </p:txBody>
      </p:sp>
      <p:grpSp>
        <p:nvGrpSpPr>
          <p:cNvPr id="216" name="그룹 215"/>
          <p:cNvGrpSpPr/>
          <p:nvPr/>
        </p:nvGrpSpPr>
        <p:grpSpPr>
          <a:xfrm flipV="1">
            <a:off x="3125575" y="2770325"/>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9" name="직선 연결선 218">
            <a:extLst>
              <a:ext uri="{FF2B5EF4-FFF2-40B4-BE49-F238E27FC236}">
                <a16:creationId xmlns:a16="http://schemas.microsoft.com/office/drawing/2014/main" id="{E9293055-D5CD-4B9E-7F64-64B2D2CA7A52}"/>
              </a:ext>
            </a:extLst>
          </p:cNvPr>
          <p:cNvCxnSpPr/>
          <p:nvPr/>
        </p:nvCxnSpPr>
        <p:spPr>
          <a:xfrm>
            <a:off x="676741" y="46378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676741" y="29438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22" name="그룹 221"/>
          <p:cNvGrpSpPr/>
          <p:nvPr/>
        </p:nvGrpSpPr>
        <p:grpSpPr>
          <a:xfrm>
            <a:off x="701175" y="3005422"/>
            <a:ext cx="2630093" cy="1094598"/>
            <a:chOff x="701175" y="1835480"/>
            <a:chExt cx="2630093" cy="1094598"/>
          </a:xfrm>
        </p:grpSpPr>
        <p:sp>
          <p:nvSpPr>
            <p:cNvPr id="223" name="직사각형 222"/>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4" name="TextBox 223">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225" name="TextBox 224">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70 - 4 X | 0.91 - </a:t>
              </a:r>
              <a:r>
                <a:rPr lang="ko-KR" altLang="en-US" sz="650" dirty="0">
                  <a:latin typeface="+mn-ea"/>
                </a:rPr>
                <a:t>입찰가격 </a:t>
              </a:r>
              <a:r>
                <a:rPr lang="en-US" altLang="ko-KR" sz="650" dirty="0">
                  <a:latin typeface="+mn-ea"/>
                </a:rPr>
                <a:t>/ </a:t>
              </a:r>
              <a:r>
                <a:rPr lang="ko-KR" altLang="en-US" sz="650" dirty="0">
                  <a:latin typeface="+mn-ea"/>
                </a:rPr>
                <a:t>예정가격 </a:t>
              </a:r>
              <a:r>
                <a:rPr lang="en-US" altLang="ko-KR" sz="650" dirty="0">
                  <a:latin typeface="+mn-ea"/>
                </a:rPr>
                <a:t>| X 100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226" name="그룹 225"/>
            <p:cNvGrpSpPr/>
            <p:nvPr/>
          </p:nvGrpSpPr>
          <p:grpSpPr>
            <a:xfrm>
              <a:off x="701175" y="1835481"/>
              <a:ext cx="2630093" cy="1094597"/>
              <a:chOff x="701175" y="1835481"/>
              <a:chExt cx="2630093" cy="1094597"/>
            </a:xfrm>
          </p:grpSpPr>
          <p:cxnSp>
            <p:nvCxnSpPr>
              <p:cNvPr id="227" name="직선 연결선 22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8" name="직선 연결선 22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9" name="직선 연결선 22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0" name="직선 연결선 22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1" name="직선 연결선 230">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33" name="TextBox 232">
            <a:extLst>
              <a:ext uri="{FF2B5EF4-FFF2-40B4-BE49-F238E27FC236}">
                <a16:creationId xmlns:a16="http://schemas.microsoft.com/office/drawing/2014/main" id="{FFC49AEA-2A8F-250C-A86A-A7751D9706C3}"/>
              </a:ext>
            </a:extLst>
          </p:cNvPr>
          <p:cNvSpPr txBox="1"/>
          <p:nvPr/>
        </p:nvSpPr>
        <p:spPr>
          <a:xfrm>
            <a:off x="763487" y="4216728"/>
            <a:ext cx="2456097" cy="323165"/>
          </a:xfrm>
          <a:prstGeom prst="rect">
            <a:avLst/>
          </a:prstGeom>
          <a:noFill/>
        </p:spPr>
        <p:txBody>
          <a:bodyPr wrap="square" lIns="0" tIns="0" rIns="0" bIns="0" rtlCol="0">
            <a:spAutoFit/>
          </a:bodyPr>
          <a:lstStyle>
            <a:defPPr>
              <a:defRPr lang="ko-KR"/>
            </a:defPPr>
            <a:lvl1pPr>
              <a:defRPr sz="700">
                <a:latin typeface="+mn-ea"/>
              </a:defRPr>
            </a:lvl1pPr>
          </a:lstStyle>
          <a:p>
            <a:pPr algn="ctr"/>
            <a:r>
              <a:rPr lang="ko-KR" altLang="en-US" dirty="0"/>
              <a:t>입찰가격이 예정가격 이하로서</a:t>
            </a:r>
            <a:endParaRPr lang="en-US" altLang="ko-KR" dirty="0"/>
          </a:p>
          <a:p>
            <a:pPr algn="ctr"/>
            <a:r>
              <a:rPr lang="ko-KR" altLang="en-US" dirty="0"/>
              <a:t>예정가격의 </a:t>
            </a:r>
            <a:r>
              <a:rPr lang="en-US" altLang="ko-KR" dirty="0"/>
              <a:t>100</a:t>
            </a:r>
            <a:r>
              <a:rPr lang="ko-KR" altLang="en-US" dirty="0"/>
              <a:t>분의 </a:t>
            </a:r>
            <a:r>
              <a:rPr lang="en-US" altLang="ko-KR" dirty="0"/>
              <a:t>94</a:t>
            </a:r>
            <a:r>
              <a:rPr lang="ko-KR" altLang="en-US" dirty="0"/>
              <a:t>인 경우 평점은 </a:t>
            </a:r>
            <a:r>
              <a:rPr lang="en-US" altLang="ko-KR" dirty="0"/>
              <a:t>58</a:t>
            </a:r>
            <a:r>
              <a:rPr lang="ko-KR" altLang="en-US" dirty="0"/>
              <a:t>점</a:t>
            </a:r>
            <a:r>
              <a:rPr lang="en-US" altLang="ko-KR" dirty="0"/>
              <a:t/>
            </a:r>
            <a:br>
              <a:rPr lang="en-US" altLang="ko-KR" dirty="0"/>
            </a:br>
            <a:r>
              <a:rPr lang="ko-KR" altLang="en-US" dirty="0" err="1"/>
              <a:t>최저평점</a:t>
            </a:r>
            <a:r>
              <a:rPr lang="ko-KR" altLang="en-US" dirty="0"/>
              <a:t> </a:t>
            </a:r>
            <a:r>
              <a:rPr lang="en-US" altLang="ko-KR" dirty="0"/>
              <a:t>: 2</a:t>
            </a:r>
            <a:r>
              <a:rPr lang="ko-KR" altLang="en-US" dirty="0"/>
              <a:t>점</a:t>
            </a:r>
          </a:p>
        </p:txBody>
      </p:sp>
      <p:sp>
        <p:nvSpPr>
          <p:cNvPr id="234" name="직사각형 233"/>
          <p:cNvSpPr/>
          <p:nvPr/>
        </p:nvSpPr>
        <p:spPr>
          <a:xfrm>
            <a:off x="3832497" y="2555584"/>
            <a:ext cx="1639886" cy="13087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TextBox 234">
            <a:extLst>
              <a:ext uri="{FF2B5EF4-FFF2-40B4-BE49-F238E27FC236}">
                <a16:creationId xmlns:a16="http://schemas.microsoft.com/office/drawing/2014/main" id="{FFC49AEA-2A8F-250C-A86A-A7751D9706C3}"/>
              </a:ext>
            </a:extLst>
          </p:cNvPr>
          <p:cNvSpPr txBox="1"/>
          <p:nvPr/>
        </p:nvSpPr>
        <p:spPr>
          <a:xfrm>
            <a:off x="3919560" y="2555585"/>
            <a:ext cx="1480199" cy="1292662"/>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B. </a:t>
            </a:r>
            <a:r>
              <a:rPr lang="ko-KR" altLang="en-US" sz="700" dirty="0">
                <a:latin typeface="+mn-ea"/>
              </a:rPr>
              <a:t>특허</a:t>
            </a:r>
            <a:r>
              <a:rPr lang="en-US" altLang="ko-KR" sz="700" dirty="0">
                <a:latin typeface="+mn-ea"/>
              </a:rPr>
              <a:t>, GD</a:t>
            </a:r>
            <a:r>
              <a:rPr lang="ko-KR" altLang="en-US" sz="700" dirty="0">
                <a:latin typeface="+mn-ea"/>
              </a:rPr>
              <a:t>인증 보유자</a:t>
            </a:r>
          </a:p>
          <a:p>
            <a:pPr>
              <a:lnSpc>
                <a:spcPct val="200000"/>
              </a:lnSpc>
            </a:pPr>
            <a:r>
              <a:rPr lang="en-US" altLang="ko-KR" sz="700" dirty="0">
                <a:latin typeface="+mn-ea"/>
              </a:rPr>
              <a:t>C. </a:t>
            </a:r>
            <a:r>
              <a:rPr lang="ko-KR" altLang="en-US" sz="700" dirty="0">
                <a:latin typeface="+mn-ea"/>
              </a:rPr>
              <a:t>실용신안등록</a:t>
            </a:r>
            <a:r>
              <a:rPr lang="en-US" altLang="ko-KR" sz="700" dirty="0">
                <a:latin typeface="+mn-ea"/>
              </a:rPr>
              <a:t>, </a:t>
            </a:r>
            <a:r>
              <a:rPr lang="ko-KR" altLang="en-US" sz="700" dirty="0" err="1">
                <a:latin typeface="+mn-ea"/>
              </a:rPr>
              <a:t>의장등록</a:t>
            </a:r>
            <a:r>
              <a:rPr lang="ko-KR" altLang="en-US" sz="700" dirty="0">
                <a:latin typeface="+mn-ea"/>
              </a:rPr>
              <a:t> 보유자</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5647538" y="2555585"/>
            <a:ext cx="179600" cy="1292662"/>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endParaRPr lang="en-US" altLang="ko-KR" sz="700" dirty="0">
              <a:latin typeface="+mn-ea"/>
            </a:endParaRPr>
          </a:p>
          <a:p>
            <a:pPr algn="r">
              <a:lnSpc>
                <a:spcPct val="200000"/>
              </a:lnSpc>
            </a:pPr>
            <a:endParaRPr lang="en-US" altLang="ko-KR" sz="700" dirty="0">
              <a:latin typeface="+mn-ea"/>
            </a:endParaRPr>
          </a:p>
          <a:p>
            <a:pPr algn="r">
              <a:lnSpc>
                <a:spcPct val="200000"/>
              </a:lnSpc>
            </a:pPr>
            <a:endParaRPr lang="en-US" altLang="ko-KR" sz="700" dirty="0">
              <a:latin typeface="+mn-ea"/>
            </a:endParaRPr>
          </a:p>
          <a:p>
            <a:pPr algn="r">
              <a:lnSpc>
                <a:spcPct val="200000"/>
              </a:lnSpc>
            </a:pPr>
            <a:r>
              <a:rPr lang="en-US" altLang="ko-KR" sz="700" dirty="0">
                <a:latin typeface="+mn-ea"/>
              </a:rPr>
              <a:t>1.0</a:t>
            </a:r>
          </a:p>
          <a:p>
            <a:pPr algn="r">
              <a:lnSpc>
                <a:spcPct val="200000"/>
              </a:lnSpc>
            </a:pPr>
            <a:r>
              <a:rPr lang="en-US" altLang="ko-KR" sz="700" dirty="0">
                <a:latin typeface="+mn-ea"/>
              </a:rPr>
              <a:t>0.5</a:t>
            </a:r>
          </a:p>
        </p:txBody>
      </p:sp>
      <p:cxnSp>
        <p:nvCxnSpPr>
          <p:cNvPr id="238" name="직선 연결선 237">
            <a:extLst>
              <a:ext uri="{FF2B5EF4-FFF2-40B4-BE49-F238E27FC236}">
                <a16:creationId xmlns:a16="http://schemas.microsoft.com/office/drawing/2014/main" id="{E9293055-D5CD-4B9E-7F64-64B2D2CA7A52}"/>
              </a:ext>
            </a:extLst>
          </p:cNvPr>
          <p:cNvCxnSpPr/>
          <p:nvPr/>
        </p:nvCxnSpPr>
        <p:spPr>
          <a:xfrm>
            <a:off x="3830405" y="25555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3832498" y="27703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3832498" y="344908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8" name="직선 연결선 257">
            <a:extLst>
              <a:ext uri="{FF2B5EF4-FFF2-40B4-BE49-F238E27FC236}">
                <a16:creationId xmlns:a16="http://schemas.microsoft.com/office/drawing/2014/main" id="{E9293055-D5CD-4B9E-7F64-64B2D2CA7A52}"/>
              </a:ext>
            </a:extLst>
          </p:cNvPr>
          <p:cNvCxnSpPr/>
          <p:nvPr/>
        </p:nvCxnSpPr>
        <p:spPr>
          <a:xfrm>
            <a:off x="3830405" y="3649643"/>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9" name="직선 연결선 258">
            <a:extLst>
              <a:ext uri="{FF2B5EF4-FFF2-40B4-BE49-F238E27FC236}">
                <a16:creationId xmlns:a16="http://schemas.microsoft.com/office/drawing/2014/main" id="{E9293055-D5CD-4B9E-7F64-64B2D2CA7A52}"/>
              </a:ext>
            </a:extLst>
          </p:cNvPr>
          <p:cNvCxnSpPr/>
          <p:nvPr/>
        </p:nvCxnSpPr>
        <p:spPr>
          <a:xfrm>
            <a:off x="3832498" y="38643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2" name="TextBox 241">
            <a:extLst>
              <a:ext uri="{FF2B5EF4-FFF2-40B4-BE49-F238E27FC236}">
                <a16:creationId xmlns:a16="http://schemas.microsoft.com/office/drawing/2014/main" id="{FFC49AEA-2A8F-250C-A86A-A7751D9706C3}"/>
              </a:ext>
            </a:extLst>
          </p:cNvPr>
          <p:cNvSpPr txBox="1"/>
          <p:nvPr/>
        </p:nvSpPr>
        <p:spPr>
          <a:xfrm>
            <a:off x="3891376" y="1869398"/>
            <a:ext cx="2535669" cy="181140"/>
          </a:xfrm>
          <a:prstGeom prst="rect">
            <a:avLst/>
          </a:prstGeom>
          <a:noFill/>
        </p:spPr>
        <p:txBody>
          <a:bodyPr wrap="square" lIns="0" tIns="0" rIns="0" bIns="0" rtlCol="0">
            <a:spAutoFit/>
          </a:bodyPr>
          <a:lstStyle/>
          <a:p>
            <a:pPr>
              <a:lnSpc>
                <a:spcPct val="200000"/>
              </a:lnSpc>
            </a:pPr>
            <a:r>
              <a:rPr lang="en-US" altLang="ko-KR" sz="700" b="1" dirty="0">
                <a:latin typeface="+mn-ea"/>
              </a:rPr>
              <a:t>1. </a:t>
            </a:r>
            <a:r>
              <a:rPr lang="ko-KR" altLang="en-US" sz="700" b="1" dirty="0">
                <a:latin typeface="+mn-ea"/>
              </a:rPr>
              <a:t>품질관리 등 </a:t>
            </a:r>
            <a:r>
              <a:rPr lang="ko-KR" altLang="en-US" sz="700" b="1" dirty="0" err="1">
                <a:latin typeface="+mn-ea"/>
              </a:rPr>
              <a:t>신뢰정도</a:t>
            </a:r>
            <a:endParaRPr lang="ko-KR" altLang="en-US" sz="700" b="1" dirty="0">
              <a:latin typeface="+mn-ea"/>
            </a:endParaRPr>
          </a:p>
        </p:txBody>
      </p:sp>
      <p:sp>
        <p:nvSpPr>
          <p:cNvPr id="243" name="TextBox 242">
            <a:extLst>
              <a:ext uri="{FF2B5EF4-FFF2-40B4-BE49-F238E27FC236}">
                <a16:creationId xmlns:a16="http://schemas.microsoft.com/office/drawing/2014/main" id="{FFC49AEA-2A8F-250C-A86A-A7751D9706C3}"/>
              </a:ext>
            </a:extLst>
          </p:cNvPr>
          <p:cNvSpPr txBox="1"/>
          <p:nvPr/>
        </p:nvSpPr>
        <p:spPr>
          <a:xfrm>
            <a:off x="3891376" y="2069635"/>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 </a:t>
            </a:r>
            <a:r>
              <a:rPr lang="ko-KR" altLang="en-US" sz="700" dirty="0">
                <a:latin typeface="+mn-ea"/>
              </a:rPr>
              <a:t>기술 및 디자인 </a:t>
            </a:r>
            <a:r>
              <a:rPr lang="ko-KR" altLang="en-US" sz="700" dirty="0" err="1">
                <a:latin typeface="+mn-ea"/>
              </a:rPr>
              <a:t>인증보유</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기술 및 디자인 인증</a:t>
            </a:r>
          </a:p>
        </p:txBody>
      </p:sp>
      <p:sp>
        <p:nvSpPr>
          <p:cNvPr id="244" name="TextBox 243">
            <a:extLst>
              <a:ext uri="{FF2B5EF4-FFF2-40B4-BE49-F238E27FC236}">
                <a16:creationId xmlns:a16="http://schemas.microsoft.com/office/drawing/2014/main" id="{FFC49AEA-2A8F-250C-A86A-A7751D9706C3}"/>
              </a:ext>
            </a:extLst>
          </p:cNvPr>
          <p:cNvSpPr txBox="1"/>
          <p:nvPr/>
        </p:nvSpPr>
        <p:spPr>
          <a:xfrm>
            <a:off x="6067972" y="255558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56" name="TextBox 255">
            <a:extLst>
              <a:ext uri="{FF2B5EF4-FFF2-40B4-BE49-F238E27FC236}">
                <a16:creationId xmlns:a16="http://schemas.microsoft.com/office/drawing/2014/main" id="{FFC49AEA-2A8F-250C-A86A-A7751D9706C3}"/>
              </a:ext>
            </a:extLst>
          </p:cNvPr>
          <p:cNvSpPr txBox="1"/>
          <p:nvPr/>
        </p:nvSpPr>
        <p:spPr>
          <a:xfrm>
            <a:off x="3919560" y="2845534"/>
            <a:ext cx="1480199" cy="538609"/>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주무부 장관 등이 인증한 신기술</a:t>
            </a:r>
            <a:r>
              <a:rPr lang="en-US" altLang="ko-KR" sz="700" dirty="0">
                <a:latin typeface="+mn-ea"/>
              </a:rPr>
              <a:t>(KT, NT, IT, </a:t>
            </a:r>
            <a:r>
              <a:rPr lang="ko-KR" altLang="en-US" sz="700" dirty="0" err="1">
                <a:latin typeface="+mn-ea"/>
              </a:rPr>
              <a:t>전력신기술</a:t>
            </a:r>
            <a:r>
              <a:rPr lang="en-US" altLang="ko-KR" sz="700" dirty="0">
                <a:latin typeface="+mn-ea"/>
              </a:rPr>
              <a:t>, </a:t>
            </a:r>
            <a:r>
              <a:rPr lang="ko-KR" altLang="en-US" sz="700" dirty="0" err="1">
                <a:latin typeface="+mn-ea"/>
              </a:rPr>
              <a:t>건설신기술</a:t>
            </a:r>
            <a:r>
              <a:rPr lang="en-US" altLang="ko-KR" sz="700" dirty="0">
                <a:latin typeface="+mn-ea"/>
              </a:rPr>
              <a:t>, </a:t>
            </a:r>
            <a:r>
              <a:rPr lang="ko-KR" altLang="en-US" sz="700" dirty="0" err="1">
                <a:latin typeface="+mn-ea"/>
              </a:rPr>
              <a:t>환경신기술</a:t>
            </a:r>
            <a:r>
              <a:rPr lang="en-US" altLang="ko-KR" sz="700" dirty="0">
                <a:latin typeface="+mn-ea"/>
              </a:rPr>
              <a:t>)</a:t>
            </a:r>
            <a:r>
              <a:rPr lang="ko-KR" altLang="en-US" sz="700" dirty="0">
                <a:latin typeface="+mn-ea"/>
              </a:rPr>
              <a:t>인증</a:t>
            </a:r>
            <a:r>
              <a:rPr lang="en-US" altLang="ko-KR" sz="700" dirty="0">
                <a:latin typeface="+mn-ea"/>
              </a:rPr>
              <a:t>, </a:t>
            </a:r>
            <a:r>
              <a:rPr lang="ko-KR" altLang="en-US" sz="700" dirty="0">
                <a:latin typeface="+mn-ea"/>
              </a:rPr>
              <a:t>중소기업 기술개발제품 </a:t>
            </a:r>
            <a:r>
              <a:rPr lang="ko-KR" altLang="en-US" sz="700" dirty="0" err="1">
                <a:latin typeface="+mn-ea"/>
              </a:rPr>
              <a:t>성능인증</a:t>
            </a:r>
            <a:r>
              <a:rPr lang="ko-KR" altLang="en-US" sz="700" dirty="0">
                <a:latin typeface="+mn-ea"/>
              </a:rPr>
              <a:t>  및 </a:t>
            </a:r>
            <a:r>
              <a:rPr lang="en-US" altLang="ko-KR" sz="700" dirty="0">
                <a:latin typeface="+mn-ea"/>
              </a:rPr>
              <a:t>GS(</a:t>
            </a:r>
            <a:r>
              <a:rPr lang="ko-KR" altLang="en-US" sz="700" dirty="0">
                <a:latin typeface="+mn-ea"/>
              </a:rPr>
              <a:t>국산 우수 </a:t>
            </a:r>
            <a:r>
              <a:rPr lang="en-US" altLang="ko-KR" sz="700" dirty="0">
                <a:latin typeface="+mn-ea"/>
              </a:rPr>
              <a:t>S/W)</a:t>
            </a:r>
            <a:r>
              <a:rPr lang="ko-KR" altLang="en-US" sz="700" dirty="0">
                <a:latin typeface="+mn-ea"/>
              </a:rPr>
              <a:t>마크 보유자</a:t>
            </a:r>
          </a:p>
        </p:txBody>
      </p:sp>
      <p:sp>
        <p:nvSpPr>
          <p:cNvPr id="257" name="TextBox 256">
            <a:extLst>
              <a:ext uri="{FF2B5EF4-FFF2-40B4-BE49-F238E27FC236}">
                <a16:creationId xmlns:a16="http://schemas.microsoft.com/office/drawing/2014/main" id="{FFC49AEA-2A8F-250C-A86A-A7751D9706C3}"/>
              </a:ext>
            </a:extLst>
          </p:cNvPr>
          <p:cNvSpPr txBox="1"/>
          <p:nvPr/>
        </p:nvSpPr>
        <p:spPr>
          <a:xfrm>
            <a:off x="5708516" y="3060977"/>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60" name="직사각형 259"/>
          <p:cNvSpPr/>
          <p:nvPr/>
        </p:nvSpPr>
        <p:spPr>
          <a:xfrm>
            <a:off x="3832497" y="4429540"/>
            <a:ext cx="1639886" cy="13087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1" name="TextBox 260">
            <a:extLst>
              <a:ext uri="{FF2B5EF4-FFF2-40B4-BE49-F238E27FC236}">
                <a16:creationId xmlns:a16="http://schemas.microsoft.com/office/drawing/2014/main" id="{FFC49AEA-2A8F-250C-A86A-A7751D9706C3}"/>
              </a:ext>
            </a:extLst>
          </p:cNvPr>
          <p:cNvSpPr txBox="1"/>
          <p:nvPr/>
        </p:nvSpPr>
        <p:spPr>
          <a:xfrm>
            <a:off x="3919560" y="4429541"/>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62" name="TextBox 261">
            <a:extLst>
              <a:ext uri="{FF2B5EF4-FFF2-40B4-BE49-F238E27FC236}">
                <a16:creationId xmlns:a16="http://schemas.microsoft.com/office/drawing/2014/main" id="{FFC49AEA-2A8F-250C-A86A-A7751D9706C3}"/>
              </a:ext>
            </a:extLst>
          </p:cNvPr>
          <p:cNvSpPr txBox="1"/>
          <p:nvPr/>
        </p:nvSpPr>
        <p:spPr>
          <a:xfrm>
            <a:off x="5647602" y="442954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4" name="직선 연결선 263">
            <a:extLst>
              <a:ext uri="{FF2B5EF4-FFF2-40B4-BE49-F238E27FC236}">
                <a16:creationId xmlns:a16="http://schemas.microsoft.com/office/drawing/2014/main" id="{E9293055-D5CD-4B9E-7F64-64B2D2CA7A52}"/>
              </a:ext>
            </a:extLst>
          </p:cNvPr>
          <p:cNvCxnSpPr/>
          <p:nvPr/>
        </p:nvCxnSpPr>
        <p:spPr>
          <a:xfrm>
            <a:off x="3830405" y="44295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5" name="직선 연결선 264">
            <a:extLst>
              <a:ext uri="{FF2B5EF4-FFF2-40B4-BE49-F238E27FC236}">
                <a16:creationId xmlns:a16="http://schemas.microsoft.com/office/drawing/2014/main" id="{E9293055-D5CD-4B9E-7F64-64B2D2CA7A52}"/>
              </a:ext>
            </a:extLst>
          </p:cNvPr>
          <p:cNvCxnSpPr/>
          <p:nvPr/>
        </p:nvCxnSpPr>
        <p:spPr>
          <a:xfrm>
            <a:off x="3832498" y="46442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6" name="직선 연결선 265">
            <a:extLst>
              <a:ext uri="{FF2B5EF4-FFF2-40B4-BE49-F238E27FC236}">
                <a16:creationId xmlns:a16="http://schemas.microsoft.com/office/drawing/2014/main" id="{E9293055-D5CD-4B9E-7F64-64B2D2CA7A52}"/>
              </a:ext>
            </a:extLst>
          </p:cNvPr>
          <p:cNvCxnSpPr/>
          <p:nvPr/>
        </p:nvCxnSpPr>
        <p:spPr>
          <a:xfrm>
            <a:off x="3832498" y="500896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7" name="직선 연결선 266">
            <a:extLst>
              <a:ext uri="{FF2B5EF4-FFF2-40B4-BE49-F238E27FC236}">
                <a16:creationId xmlns:a16="http://schemas.microsoft.com/office/drawing/2014/main" id="{E9293055-D5CD-4B9E-7F64-64B2D2CA7A52}"/>
              </a:ext>
            </a:extLst>
          </p:cNvPr>
          <p:cNvCxnSpPr/>
          <p:nvPr/>
        </p:nvCxnSpPr>
        <p:spPr>
          <a:xfrm>
            <a:off x="3830405" y="5373653"/>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8" name="직선 연결선 267">
            <a:extLst>
              <a:ext uri="{FF2B5EF4-FFF2-40B4-BE49-F238E27FC236}">
                <a16:creationId xmlns:a16="http://schemas.microsoft.com/office/drawing/2014/main" id="{E9293055-D5CD-4B9E-7F64-64B2D2CA7A52}"/>
              </a:ext>
            </a:extLst>
          </p:cNvPr>
          <p:cNvCxnSpPr/>
          <p:nvPr/>
        </p:nvCxnSpPr>
        <p:spPr>
          <a:xfrm>
            <a:off x="3832498" y="5738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9" name="TextBox 268">
            <a:extLst>
              <a:ext uri="{FF2B5EF4-FFF2-40B4-BE49-F238E27FC236}">
                <a16:creationId xmlns:a16="http://schemas.microsoft.com/office/drawing/2014/main" id="{FFC49AEA-2A8F-250C-A86A-A7751D9706C3}"/>
              </a:ext>
            </a:extLst>
          </p:cNvPr>
          <p:cNvSpPr txBox="1"/>
          <p:nvPr/>
        </p:nvSpPr>
        <p:spPr>
          <a:xfrm>
            <a:off x="3891376" y="3943591"/>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 </a:t>
            </a:r>
            <a:r>
              <a:rPr lang="ko-KR" altLang="en-US" sz="700" dirty="0">
                <a:latin typeface="+mn-ea"/>
              </a:rPr>
              <a:t>품질보증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품질</a:t>
            </a:r>
            <a:r>
              <a:rPr lang="en-US" altLang="ko-KR" sz="700" dirty="0">
                <a:latin typeface="+mn-ea"/>
              </a:rPr>
              <a:t>, </a:t>
            </a:r>
            <a:r>
              <a:rPr lang="ko-KR" altLang="en-US" sz="700" dirty="0">
                <a:latin typeface="+mn-ea"/>
              </a:rPr>
              <a:t>규격 등에 대한 인증</a:t>
            </a:r>
          </a:p>
        </p:txBody>
      </p:sp>
      <p:sp>
        <p:nvSpPr>
          <p:cNvPr id="270" name="TextBox 269">
            <a:extLst>
              <a:ext uri="{FF2B5EF4-FFF2-40B4-BE49-F238E27FC236}">
                <a16:creationId xmlns:a16="http://schemas.microsoft.com/office/drawing/2014/main" id="{FFC49AEA-2A8F-250C-A86A-A7751D9706C3}"/>
              </a:ext>
            </a:extLst>
          </p:cNvPr>
          <p:cNvSpPr txBox="1"/>
          <p:nvPr/>
        </p:nvSpPr>
        <p:spPr>
          <a:xfrm>
            <a:off x="6067972" y="4429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1" name="TextBox 270">
            <a:extLst>
              <a:ext uri="{FF2B5EF4-FFF2-40B4-BE49-F238E27FC236}">
                <a16:creationId xmlns:a16="http://schemas.microsoft.com/office/drawing/2014/main" id="{FFC49AEA-2A8F-250C-A86A-A7751D9706C3}"/>
              </a:ext>
            </a:extLst>
          </p:cNvPr>
          <p:cNvSpPr txBox="1"/>
          <p:nvPr/>
        </p:nvSpPr>
        <p:spPr>
          <a:xfrm>
            <a:off x="3919560" y="4718902"/>
            <a:ext cx="1480199" cy="215444"/>
          </a:xfrm>
          <a:prstGeom prst="rect">
            <a:avLst/>
          </a:prstGeom>
          <a:noFill/>
        </p:spPr>
        <p:txBody>
          <a:bodyPr wrap="square" lIns="0" tIns="0" rIns="0" bIns="0" rtlCol="0">
            <a:spAutoFit/>
          </a:bodyPr>
          <a:lstStyle/>
          <a:p>
            <a:r>
              <a:rPr lang="en-US" altLang="ko-KR" sz="700" dirty="0">
                <a:latin typeface="+mn-ea"/>
              </a:rPr>
              <a:t>A. EM, </a:t>
            </a:r>
            <a:r>
              <a:rPr lang="ko-KR" altLang="en-US" sz="700" dirty="0">
                <a:latin typeface="+mn-ea"/>
              </a:rPr>
              <a:t>싱글 </a:t>
            </a:r>
            <a:r>
              <a:rPr lang="en-US" altLang="ko-KR" sz="700" dirty="0">
                <a:latin typeface="+mn-ea"/>
              </a:rPr>
              <a:t>PPM, </a:t>
            </a:r>
            <a:r>
              <a:rPr lang="ko-KR" altLang="en-US" sz="700" dirty="0">
                <a:latin typeface="+mn-ea"/>
              </a:rPr>
              <a:t>고효율에너지기자재 인증</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5708516" y="4772763"/>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3" name="TextBox 272">
            <a:extLst>
              <a:ext uri="{FF2B5EF4-FFF2-40B4-BE49-F238E27FC236}">
                <a16:creationId xmlns:a16="http://schemas.microsoft.com/office/drawing/2014/main" id="{FFC49AEA-2A8F-250C-A86A-A7751D9706C3}"/>
              </a:ext>
            </a:extLst>
          </p:cNvPr>
          <p:cNvSpPr txBox="1"/>
          <p:nvPr/>
        </p:nvSpPr>
        <p:spPr>
          <a:xfrm>
            <a:off x="3919560" y="5083588"/>
            <a:ext cx="1480199" cy="215444"/>
          </a:xfrm>
          <a:prstGeom prst="rect">
            <a:avLst/>
          </a:prstGeom>
          <a:noFill/>
        </p:spPr>
        <p:txBody>
          <a:bodyPr wrap="square" lIns="0" tIns="0" rIns="0" bIns="0" rtlCol="0">
            <a:spAutoFit/>
          </a:bodyPr>
          <a:lstStyle/>
          <a:p>
            <a:r>
              <a:rPr lang="en-US" altLang="ko-KR" sz="700" dirty="0">
                <a:latin typeface="+mn-ea"/>
              </a:rPr>
              <a:t>B. KS, CE (</a:t>
            </a:r>
            <a:r>
              <a:rPr lang="ko-KR" altLang="en-US" sz="700" dirty="0">
                <a:latin typeface="+mn-ea"/>
              </a:rPr>
              <a:t>모듈 </a:t>
            </a:r>
            <a:r>
              <a:rPr lang="en-US" altLang="ko-KR" sz="700" dirty="0">
                <a:latin typeface="+mn-ea"/>
              </a:rPr>
              <a:t>A </a:t>
            </a:r>
            <a:r>
              <a:rPr lang="ko-KR" altLang="en-US" sz="700" dirty="0">
                <a:latin typeface="+mn-ea"/>
              </a:rPr>
              <a:t>방식에 의한 경우 제외</a:t>
            </a:r>
            <a:r>
              <a:rPr lang="en-US" altLang="ko-KR" sz="700" dirty="0">
                <a:latin typeface="+mn-ea"/>
              </a:rPr>
              <a:t>), UL </a:t>
            </a:r>
            <a:r>
              <a:rPr lang="ko-KR" altLang="en-US" sz="700" dirty="0">
                <a:latin typeface="+mn-ea"/>
              </a:rPr>
              <a:t>인증을 </a:t>
            </a:r>
            <a:r>
              <a:rPr lang="ko-KR" altLang="en-US" sz="700" dirty="0" err="1">
                <a:latin typeface="+mn-ea"/>
              </a:rPr>
              <a:t>받은자</a:t>
            </a:r>
            <a:endParaRPr lang="ko-KR" altLang="en-US" sz="700" dirty="0">
              <a:latin typeface="+mn-ea"/>
            </a:endParaRPr>
          </a:p>
        </p:txBody>
      </p:sp>
      <p:sp>
        <p:nvSpPr>
          <p:cNvPr id="274" name="TextBox 273">
            <a:extLst>
              <a:ext uri="{FF2B5EF4-FFF2-40B4-BE49-F238E27FC236}">
                <a16:creationId xmlns:a16="http://schemas.microsoft.com/office/drawing/2014/main" id="{FFC49AEA-2A8F-250C-A86A-A7751D9706C3}"/>
              </a:ext>
            </a:extLst>
          </p:cNvPr>
          <p:cNvSpPr txBox="1"/>
          <p:nvPr/>
        </p:nvSpPr>
        <p:spPr>
          <a:xfrm>
            <a:off x="3919560" y="5448274"/>
            <a:ext cx="1480199" cy="215444"/>
          </a:xfrm>
          <a:prstGeom prst="rect">
            <a:avLst/>
          </a:prstGeom>
          <a:noFill/>
        </p:spPr>
        <p:txBody>
          <a:bodyPr wrap="square" lIns="0" tIns="0" rIns="0" bIns="0" rtlCol="0">
            <a:spAutoFit/>
          </a:bodyPr>
          <a:lstStyle/>
          <a:p>
            <a:r>
              <a:rPr lang="en-US" altLang="ko-KR" sz="700" dirty="0">
                <a:latin typeface="+mn-ea"/>
              </a:rPr>
              <a:t>C.”</a:t>
            </a:r>
            <a:r>
              <a:rPr lang="ko-KR" altLang="en-US" sz="700" dirty="0">
                <a:latin typeface="+mn-ea"/>
              </a:rPr>
              <a:t>건” 자 마크</a:t>
            </a:r>
            <a:r>
              <a:rPr lang="en-US" altLang="ko-KR" sz="700" dirty="0">
                <a:latin typeface="+mn-ea"/>
              </a:rPr>
              <a:t>, Q</a:t>
            </a:r>
            <a:r>
              <a:rPr lang="ko-KR" altLang="en-US" sz="700" dirty="0">
                <a:latin typeface="+mn-ea"/>
              </a:rPr>
              <a:t>마크</a:t>
            </a:r>
            <a:r>
              <a:rPr lang="en-US" altLang="ko-KR" sz="700" dirty="0">
                <a:latin typeface="+mn-ea"/>
              </a:rPr>
              <a:t>, K</a:t>
            </a:r>
            <a:r>
              <a:rPr lang="ko-KR" altLang="en-US" sz="700" dirty="0">
                <a:latin typeface="+mn-ea"/>
              </a:rPr>
              <a:t>마크</a:t>
            </a:r>
            <a:r>
              <a:rPr lang="en-US" altLang="ko-KR" sz="700" dirty="0">
                <a:latin typeface="+mn-ea"/>
              </a:rPr>
              <a:t>, </a:t>
            </a:r>
            <a:r>
              <a:rPr lang="ko-KR" altLang="en-US" sz="700" dirty="0" err="1">
                <a:latin typeface="+mn-ea"/>
              </a:rPr>
              <a:t>국방품질경영시스템인증을</a:t>
            </a:r>
            <a:r>
              <a:rPr lang="ko-KR" altLang="en-US" sz="700" dirty="0">
                <a:latin typeface="+mn-ea"/>
              </a:rPr>
              <a:t> 받은 자</a:t>
            </a:r>
          </a:p>
        </p:txBody>
      </p:sp>
      <p:sp>
        <p:nvSpPr>
          <p:cNvPr id="275" name="TextBox 274">
            <a:extLst>
              <a:ext uri="{FF2B5EF4-FFF2-40B4-BE49-F238E27FC236}">
                <a16:creationId xmlns:a16="http://schemas.microsoft.com/office/drawing/2014/main" id="{FFC49AEA-2A8F-250C-A86A-A7751D9706C3}"/>
              </a:ext>
            </a:extLst>
          </p:cNvPr>
          <p:cNvSpPr txBox="1"/>
          <p:nvPr/>
        </p:nvSpPr>
        <p:spPr>
          <a:xfrm>
            <a:off x="6390176" y="327211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78" name="TextBox 277">
            <a:extLst>
              <a:ext uri="{FF2B5EF4-FFF2-40B4-BE49-F238E27FC236}">
                <a16:creationId xmlns:a16="http://schemas.microsoft.com/office/drawing/2014/main" id="{FFC49AEA-2A8F-250C-A86A-A7751D9706C3}"/>
              </a:ext>
            </a:extLst>
          </p:cNvPr>
          <p:cNvSpPr txBox="1"/>
          <p:nvPr/>
        </p:nvSpPr>
        <p:spPr>
          <a:xfrm>
            <a:off x="5708516" y="5125081"/>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9" name="TextBox 278">
            <a:extLst>
              <a:ext uri="{FF2B5EF4-FFF2-40B4-BE49-F238E27FC236}">
                <a16:creationId xmlns:a16="http://schemas.microsoft.com/office/drawing/2014/main" id="{FFC49AEA-2A8F-250C-A86A-A7751D9706C3}"/>
              </a:ext>
            </a:extLst>
          </p:cNvPr>
          <p:cNvSpPr txBox="1"/>
          <p:nvPr/>
        </p:nvSpPr>
        <p:spPr>
          <a:xfrm>
            <a:off x="5708515" y="548658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1" name="TextBox 28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3224464202"/>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174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85" name="직사각형 84"/>
          <p:cNvSpPr/>
          <p:nvPr/>
        </p:nvSpPr>
        <p:spPr>
          <a:xfrm>
            <a:off x="719049" y="1979876"/>
            <a:ext cx="1639886" cy="9607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TextBox 85">
            <a:extLst>
              <a:ext uri="{FF2B5EF4-FFF2-40B4-BE49-F238E27FC236}">
                <a16:creationId xmlns:a16="http://schemas.microsoft.com/office/drawing/2014/main" id="{FFC49AEA-2A8F-250C-A86A-A7751D9706C3}"/>
              </a:ext>
            </a:extLst>
          </p:cNvPr>
          <p:cNvSpPr txBox="1"/>
          <p:nvPr/>
        </p:nvSpPr>
        <p:spPr>
          <a:xfrm>
            <a:off x="806112" y="1979877"/>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87" name="TextBox 86">
            <a:extLst>
              <a:ext uri="{FF2B5EF4-FFF2-40B4-BE49-F238E27FC236}">
                <a16:creationId xmlns:a16="http://schemas.microsoft.com/office/drawing/2014/main" id="{FFC49AEA-2A8F-250C-A86A-A7751D9706C3}"/>
              </a:ext>
            </a:extLst>
          </p:cNvPr>
          <p:cNvSpPr txBox="1"/>
          <p:nvPr/>
        </p:nvSpPr>
        <p:spPr>
          <a:xfrm>
            <a:off x="2534154" y="1979877"/>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89" name="직선 연결선 88">
            <a:extLst>
              <a:ext uri="{FF2B5EF4-FFF2-40B4-BE49-F238E27FC236}">
                <a16:creationId xmlns:a16="http://schemas.microsoft.com/office/drawing/2014/main" id="{E9293055-D5CD-4B9E-7F64-64B2D2CA7A52}"/>
              </a:ext>
            </a:extLst>
          </p:cNvPr>
          <p:cNvCxnSpPr/>
          <p:nvPr/>
        </p:nvCxnSpPr>
        <p:spPr>
          <a:xfrm>
            <a:off x="716957" y="19798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19050" y="21946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19050" y="256763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719050" y="29406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4" name="TextBox 93">
            <a:extLst>
              <a:ext uri="{FF2B5EF4-FFF2-40B4-BE49-F238E27FC236}">
                <a16:creationId xmlns:a16="http://schemas.microsoft.com/office/drawing/2014/main" id="{FFC49AEA-2A8F-250C-A86A-A7751D9706C3}"/>
              </a:ext>
            </a:extLst>
          </p:cNvPr>
          <p:cNvSpPr txBox="1"/>
          <p:nvPr/>
        </p:nvSpPr>
        <p:spPr>
          <a:xfrm>
            <a:off x="777928" y="1493927"/>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 </a:t>
            </a:r>
            <a:r>
              <a:rPr lang="ko-KR" altLang="en-US" sz="700" dirty="0">
                <a:latin typeface="+mn-ea"/>
              </a:rPr>
              <a:t>환경관리</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환경오염 억제와 자원절약 기여</a:t>
            </a:r>
          </a:p>
        </p:txBody>
      </p:sp>
      <p:sp>
        <p:nvSpPr>
          <p:cNvPr id="95" name="TextBox 94">
            <a:extLst>
              <a:ext uri="{FF2B5EF4-FFF2-40B4-BE49-F238E27FC236}">
                <a16:creationId xmlns:a16="http://schemas.microsoft.com/office/drawing/2014/main" id="{FFC49AEA-2A8F-250C-A86A-A7751D9706C3}"/>
              </a:ext>
            </a:extLst>
          </p:cNvPr>
          <p:cNvSpPr txBox="1"/>
          <p:nvPr/>
        </p:nvSpPr>
        <p:spPr>
          <a:xfrm>
            <a:off x="2954524" y="197987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806112" y="2273405"/>
            <a:ext cx="1480199" cy="215444"/>
          </a:xfrm>
          <a:prstGeom prst="rect">
            <a:avLst/>
          </a:prstGeom>
          <a:noFill/>
        </p:spPr>
        <p:txBody>
          <a:bodyPr wrap="square" lIns="0" tIns="0" rIns="0" bIns="0" rtlCol="0">
            <a:spAutoFit/>
          </a:bodyPr>
          <a:lstStyle/>
          <a:p>
            <a:r>
              <a:rPr lang="en-US" altLang="ko-KR" sz="700" dirty="0">
                <a:latin typeface="+mn-ea"/>
              </a:rPr>
              <a:t>A. GR, </a:t>
            </a:r>
            <a:r>
              <a:rPr lang="ko-KR" altLang="en-US" sz="700" dirty="0" err="1">
                <a:latin typeface="+mn-ea"/>
              </a:rPr>
              <a:t>환경표지의</a:t>
            </a:r>
            <a:r>
              <a:rPr lang="ko-KR" altLang="en-US" sz="700" dirty="0">
                <a:latin typeface="+mn-ea"/>
              </a:rPr>
              <a:t> 인증</a:t>
            </a:r>
            <a:r>
              <a:rPr lang="en-US" altLang="ko-KR" sz="700" dirty="0">
                <a:latin typeface="+mn-ea"/>
              </a:rPr>
              <a:t>(E</a:t>
            </a:r>
            <a:r>
              <a:rPr lang="ko-KR" altLang="en-US" sz="700" dirty="0">
                <a:latin typeface="+mn-ea"/>
              </a:rPr>
              <a:t>마크</a:t>
            </a:r>
            <a:r>
              <a:rPr lang="en-US" altLang="ko-KR" sz="700" dirty="0">
                <a:latin typeface="+mn-ea"/>
              </a:rPr>
              <a:t>) </a:t>
            </a:r>
            <a:r>
              <a:rPr lang="ko-KR" altLang="en-US" sz="700" dirty="0">
                <a:latin typeface="+mn-ea"/>
              </a:rPr>
              <a:t>보유자</a:t>
            </a:r>
          </a:p>
        </p:txBody>
      </p:sp>
      <p:sp>
        <p:nvSpPr>
          <p:cNvPr id="97" name="TextBox 96">
            <a:extLst>
              <a:ext uri="{FF2B5EF4-FFF2-40B4-BE49-F238E27FC236}">
                <a16:creationId xmlns:a16="http://schemas.microsoft.com/office/drawing/2014/main" id="{FFC49AEA-2A8F-250C-A86A-A7751D9706C3}"/>
              </a:ext>
            </a:extLst>
          </p:cNvPr>
          <p:cNvSpPr txBox="1"/>
          <p:nvPr/>
        </p:nvSpPr>
        <p:spPr>
          <a:xfrm>
            <a:off x="2595068" y="2327266"/>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98" name="직사각형 97"/>
          <p:cNvSpPr/>
          <p:nvPr/>
        </p:nvSpPr>
        <p:spPr>
          <a:xfrm>
            <a:off x="719049" y="3476828"/>
            <a:ext cx="1639886" cy="57570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806112" y="347682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00" name="TextBox 99">
            <a:extLst>
              <a:ext uri="{FF2B5EF4-FFF2-40B4-BE49-F238E27FC236}">
                <a16:creationId xmlns:a16="http://schemas.microsoft.com/office/drawing/2014/main" id="{FFC49AEA-2A8F-250C-A86A-A7751D9706C3}"/>
              </a:ext>
            </a:extLst>
          </p:cNvPr>
          <p:cNvSpPr txBox="1"/>
          <p:nvPr/>
        </p:nvSpPr>
        <p:spPr>
          <a:xfrm>
            <a:off x="2534154" y="347682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716957" y="347682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19050" y="36915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19050" y="40562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FFC49AEA-2A8F-250C-A86A-A7751D9706C3}"/>
              </a:ext>
            </a:extLst>
          </p:cNvPr>
          <p:cNvSpPr txBox="1"/>
          <p:nvPr/>
        </p:nvSpPr>
        <p:spPr>
          <a:xfrm>
            <a:off x="777928" y="2990878"/>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라</a:t>
            </a:r>
            <a:r>
              <a:rPr lang="en-US" altLang="ko-KR" sz="700" dirty="0">
                <a:latin typeface="+mn-ea"/>
              </a:rPr>
              <a:t>.</a:t>
            </a:r>
            <a:r>
              <a:rPr lang="ko-KR" altLang="en-US" sz="700" dirty="0">
                <a:latin typeface="+mn-ea"/>
              </a:rPr>
              <a:t>사후관리</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사후관리에 필요한 조직 및 능력</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2954524" y="347682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806112" y="3766189"/>
            <a:ext cx="1480199" cy="215444"/>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정부로부터 </a:t>
            </a:r>
            <a:r>
              <a:rPr lang="ko-KR" altLang="en-US" sz="700" dirty="0" err="1">
                <a:latin typeface="+mn-ea"/>
              </a:rPr>
              <a:t>사후봉사</a:t>
            </a:r>
            <a:r>
              <a:rPr lang="en-US" altLang="ko-KR" sz="700" dirty="0">
                <a:latin typeface="+mn-ea"/>
              </a:rPr>
              <a:t>(A/S)</a:t>
            </a:r>
            <a:r>
              <a:rPr lang="ko-KR" altLang="en-US" sz="700" dirty="0">
                <a:latin typeface="+mn-ea"/>
              </a:rPr>
              <a:t>우수기업으로 인증 받은 자</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2595068" y="3820050"/>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26" name="TextBox 125">
            <a:extLst>
              <a:ext uri="{FF2B5EF4-FFF2-40B4-BE49-F238E27FC236}">
                <a16:creationId xmlns:a16="http://schemas.microsoft.com/office/drawing/2014/main" id="{FFC49AEA-2A8F-250C-A86A-A7751D9706C3}"/>
              </a:ext>
            </a:extLst>
          </p:cNvPr>
          <p:cNvSpPr txBox="1"/>
          <p:nvPr/>
        </p:nvSpPr>
        <p:spPr>
          <a:xfrm>
            <a:off x="3276728" y="252002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806112" y="2646425"/>
            <a:ext cx="1480199" cy="215444"/>
          </a:xfrm>
          <a:prstGeom prst="rect">
            <a:avLst/>
          </a:prstGeom>
          <a:noFill/>
        </p:spPr>
        <p:txBody>
          <a:bodyPr wrap="square" lIns="0" tIns="0" rIns="0" bIns="0" rtlCol="0">
            <a:spAutoFit/>
          </a:bodyPr>
          <a:lstStyle/>
          <a:p>
            <a:r>
              <a:rPr lang="en-US" altLang="ko-KR" sz="700" dirty="0">
                <a:latin typeface="+mn-ea"/>
              </a:rPr>
              <a:t>B. </a:t>
            </a:r>
            <a:r>
              <a:rPr lang="ko-KR" altLang="en-US" sz="700" dirty="0">
                <a:latin typeface="+mn-ea"/>
              </a:rPr>
              <a:t>환경친화기업 지정자 또는 환경설비 품질인증</a:t>
            </a:r>
            <a:r>
              <a:rPr lang="en-US" altLang="ko-KR" sz="700" dirty="0">
                <a:latin typeface="+mn-ea"/>
              </a:rPr>
              <a:t>(EEC </a:t>
            </a:r>
            <a:r>
              <a:rPr lang="ko-KR" altLang="en-US" sz="700" dirty="0">
                <a:latin typeface="+mn-ea"/>
              </a:rPr>
              <a:t>보유자</a:t>
            </a:r>
            <a:r>
              <a:rPr lang="en-US" altLang="ko-KR" sz="700" dirty="0">
                <a:latin typeface="+mn-ea"/>
              </a:rPr>
              <a:t>)</a:t>
            </a:r>
          </a:p>
        </p:txBody>
      </p:sp>
      <p:sp>
        <p:nvSpPr>
          <p:cNvPr id="130" name="TextBox 129">
            <a:extLst>
              <a:ext uri="{FF2B5EF4-FFF2-40B4-BE49-F238E27FC236}">
                <a16:creationId xmlns:a16="http://schemas.microsoft.com/office/drawing/2014/main" id="{FFC49AEA-2A8F-250C-A86A-A7751D9706C3}"/>
              </a:ext>
            </a:extLst>
          </p:cNvPr>
          <p:cNvSpPr txBox="1"/>
          <p:nvPr/>
        </p:nvSpPr>
        <p:spPr>
          <a:xfrm>
            <a:off x="2595068" y="2700286"/>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3276728" y="382005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2" name="직사각형 131"/>
          <p:cNvSpPr/>
          <p:nvPr/>
        </p:nvSpPr>
        <p:spPr>
          <a:xfrm>
            <a:off x="719049" y="4692708"/>
            <a:ext cx="1639886" cy="152897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806112" y="469270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2534154" y="469270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716957" y="469270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19050" y="49074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19050" y="53698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TextBox 138">
            <a:extLst>
              <a:ext uri="{FF2B5EF4-FFF2-40B4-BE49-F238E27FC236}">
                <a16:creationId xmlns:a16="http://schemas.microsoft.com/office/drawing/2014/main" id="{FFC49AEA-2A8F-250C-A86A-A7751D9706C3}"/>
              </a:ext>
            </a:extLst>
          </p:cNvPr>
          <p:cNvSpPr txBox="1"/>
          <p:nvPr/>
        </p:nvSpPr>
        <p:spPr>
          <a:xfrm>
            <a:off x="777928" y="4107598"/>
            <a:ext cx="2535669" cy="538609"/>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마</a:t>
            </a:r>
            <a:r>
              <a:rPr lang="en-US" altLang="ko-KR" sz="700" dirty="0">
                <a:latin typeface="+mn-ea"/>
              </a:rPr>
              <a:t>. </a:t>
            </a:r>
            <a:r>
              <a:rPr lang="ko-KR" altLang="en-US" sz="700" dirty="0">
                <a:latin typeface="+mn-ea"/>
              </a:rPr>
              <a:t>영세기업 지원</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소기업</a:t>
            </a:r>
            <a:r>
              <a:rPr lang="en-US" altLang="ko-KR" sz="700" dirty="0">
                <a:latin typeface="+mn-ea"/>
              </a:rPr>
              <a:t>, </a:t>
            </a:r>
            <a:r>
              <a:rPr lang="ko-KR" altLang="en-US" sz="700" dirty="0">
                <a:latin typeface="+mn-ea"/>
              </a:rPr>
              <a:t>소상공인 및 지역업체 참가</a:t>
            </a:r>
            <a:endParaRPr lang="en-US" altLang="ko-KR" sz="700" dirty="0">
              <a:latin typeface="+mn-ea"/>
            </a:endParaRPr>
          </a:p>
          <a:p>
            <a:r>
              <a:rPr lang="ko-KR" altLang="en-US" sz="700" dirty="0">
                <a:latin typeface="+mn-ea"/>
              </a:rPr>
              <a:t>                </a:t>
            </a:r>
            <a:r>
              <a:rPr lang="en-US" altLang="ko-KR" sz="700" dirty="0">
                <a:latin typeface="+mn-ea"/>
              </a:rPr>
              <a:t>(</a:t>
            </a:r>
            <a:r>
              <a:rPr lang="ko-KR" altLang="en-US" sz="700" dirty="0">
                <a:latin typeface="+mn-ea"/>
              </a:rPr>
              <a:t>공동계약 허용한 경우만 평가함</a:t>
            </a:r>
            <a:r>
              <a:rPr lang="en-US" altLang="ko-KR" sz="700" dirty="0">
                <a:latin typeface="+mn-ea"/>
              </a:rPr>
              <a:t>)</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2954524" y="469270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806112" y="4942254"/>
            <a:ext cx="1480199" cy="107722"/>
          </a:xfrm>
          <a:prstGeom prst="rect">
            <a:avLst/>
          </a:prstGeom>
          <a:noFill/>
        </p:spPr>
        <p:txBody>
          <a:bodyPr wrap="square" lIns="0" tIns="0" rIns="0" bIns="0" rtlCol="0">
            <a:spAutoFit/>
          </a:bodyPr>
          <a:lstStyle/>
          <a:p>
            <a:r>
              <a:rPr lang="en-US" altLang="ko-KR" sz="700" dirty="0">
                <a:latin typeface="+mn-ea"/>
              </a:rPr>
              <a:t>A.</a:t>
            </a:r>
            <a:r>
              <a:rPr lang="ko-KR" altLang="en-US" sz="700" dirty="0" err="1">
                <a:latin typeface="+mn-ea"/>
              </a:rPr>
              <a:t>공동수급체</a:t>
            </a:r>
            <a:r>
              <a:rPr lang="ko-KR" altLang="en-US" sz="700" dirty="0">
                <a:latin typeface="+mn-ea"/>
              </a:rPr>
              <a:t> 구성</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2676821" y="493623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3276728" y="591827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806112" y="5404640"/>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a:t>
            </a:r>
            <a:r>
              <a:rPr lang="ko-KR" altLang="en-US" sz="700" dirty="0">
                <a:latin typeface="+mn-ea"/>
              </a:rPr>
              <a:t>개 이상 업체</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2595068" y="5404640"/>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806112" y="558197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a:t>
            </a:r>
            <a:r>
              <a:rPr lang="ko-KR" altLang="en-US" sz="700" dirty="0">
                <a:latin typeface="+mn-ea"/>
              </a:rPr>
              <a:t>개 이상 업체</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806112" y="5759304"/>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소기업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806112" y="593663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.10% </a:t>
            </a:r>
            <a:r>
              <a:rPr lang="ko-KR" altLang="en-US" sz="700" dirty="0">
                <a:latin typeface="+mn-ea"/>
              </a:rPr>
              <a:t>이상</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806112" y="611396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.5% </a:t>
            </a:r>
            <a:r>
              <a:rPr lang="ko-KR" altLang="en-US" sz="700" dirty="0">
                <a:latin typeface="+mn-ea"/>
              </a:rPr>
              <a:t>이상 </a:t>
            </a:r>
            <a:r>
              <a:rPr lang="en-US" altLang="ko-KR" sz="700" dirty="0">
                <a:latin typeface="+mn-ea"/>
              </a:rPr>
              <a:t>10% </a:t>
            </a:r>
            <a:r>
              <a:rPr lang="ko-KR" altLang="en-US" sz="700" dirty="0">
                <a:latin typeface="+mn-ea"/>
              </a:rPr>
              <a:t>미만</a:t>
            </a:r>
          </a:p>
        </p:txBody>
      </p:sp>
      <p:cxnSp>
        <p:nvCxnSpPr>
          <p:cNvPr id="150" name="직선 연결선 149">
            <a:extLst>
              <a:ext uri="{FF2B5EF4-FFF2-40B4-BE49-F238E27FC236}">
                <a16:creationId xmlns:a16="http://schemas.microsoft.com/office/drawing/2014/main" id="{E9293055-D5CD-4B9E-7F64-64B2D2CA7A52}"/>
              </a:ext>
            </a:extLst>
          </p:cNvPr>
          <p:cNvCxnSpPr/>
          <p:nvPr/>
        </p:nvCxnSpPr>
        <p:spPr>
          <a:xfrm>
            <a:off x="719050" y="554716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1" name="직선 연결선 150">
            <a:extLst>
              <a:ext uri="{FF2B5EF4-FFF2-40B4-BE49-F238E27FC236}">
                <a16:creationId xmlns:a16="http://schemas.microsoft.com/office/drawing/2014/main" id="{E9293055-D5CD-4B9E-7F64-64B2D2CA7A52}"/>
              </a:ext>
            </a:extLst>
          </p:cNvPr>
          <p:cNvCxnSpPr/>
          <p:nvPr/>
        </p:nvCxnSpPr>
        <p:spPr>
          <a:xfrm>
            <a:off x="719050" y="5724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2" name="직선 연결선 151">
            <a:extLst>
              <a:ext uri="{FF2B5EF4-FFF2-40B4-BE49-F238E27FC236}">
                <a16:creationId xmlns:a16="http://schemas.microsoft.com/office/drawing/2014/main" id="{E9293055-D5CD-4B9E-7F64-64B2D2CA7A52}"/>
              </a:ext>
            </a:extLst>
          </p:cNvPr>
          <p:cNvCxnSpPr/>
          <p:nvPr/>
        </p:nvCxnSpPr>
        <p:spPr>
          <a:xfrm>
            <a:off x="719050" y="590183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19050" y="607916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4" name="TextBox 153">
            <a:extLst>
              <a:ext uri="{FF2B5EF4-FFF2-40B4-BE49-F238E27FC236}">
                <a16:creationId xmlns:a16="http://schemas.microsoft.com/office/drawing/2014/main" id="{FFC49AEA-2A8F-250C-A86A-A7751D9706C3}"/>
              </a:ext>
            </a:extLst>
          </p:cNvPr>
          <p:cNvSpPr txBox="1"/>
          <p:nvPr/>
        </p:nvSpPr>
        <p:spPr>
          <a:xfrm>
            <a:off x="2595067" y="558197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2676821" y="575930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6" name="TextBox 155">
            <a:extLst>
              <a:ext uri="{FF2B5EF4-FFF2-40B4-BE49-F238E27FC236}">
                <a16:creationId xmlns:a16="http://schemas.microsoft.com/office/drawing/2014/main" id="{FFC49AEA-2A8F-250C-A86A-A7751D9706C3}"/>
              </a:ext>
            </a:extLst>
          </p:cNvPr>
          <p:cNvSpPr txBox="1"/>
          <p:nvPr/>
        </p:nvSpPr>
        <p:spPr>
          <a:xfrm>
            <a:off x="2595067" y="593663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2545374" y="6113963"/>
            <a:ext cx="168316"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sp>
        <p:nvSpPr>
          <p:cNvPr id="159" name="직사각형 158"/>
          <p:cNvSpPr/>
          <p:nvPr/>
        </p:nvSpPr>
        <p:spPr>
          <a:xfrm>
            <a:off x="3835002" y="1504396"/>
            <a:ext cx="1639886" cy="1204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835003" y="27084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3835003" y="168941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6" name="TextBox 165">
            <a:extLst>
              <a:ext uri="{FF2B5EF4-FFF2-40B4-BE49-F238E27FC236}">
                <a16:creationId xmlns:a16="http://schemas.microsoft.com/office/drawing/2014/main" id="{FFC49AEA-2A8F-250C-A86A-A7751D9706C3}"/>
              </a:ext>
            </a:extLst>
          </p:cNvPr>
          <p:cNvSpPr txBox="1"/>
          <p:nvPr/>
        </p:nvSpPr>
        <p:spPr>
          <a:xfrm>
            <a:off x="3922065" y="1529323"/>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지역업체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sp>
        <p:nvSpPr>
          <p:cNvPr id="170" name="TextBox 169">
            <a:extLst>
              <a:ext uri="{FF2B5EF4-FFF2-40B4-BE49-F238E27FC236}">
                <a16:creationId xmlns:a16="http://schemas.microsoft.com/office/drawing/2014/main" id="{FFC49AEA-2A8F-250C-A86A-A7751D9706C3}"/>
              </a:ext>
            </a:extLst>
          </p:cNvPr>
          <p:cNvSpPr txBox="1"/>
          <p:nvPr/>
        </p:nvSpPr>
        <p:spPr>
          <a:xfrm>
            <a:off x="3922065" y="1747387"/>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.10% </a:t>
            </a:r>
            <a:r>
              <a:rPr lang="ko-KR" altLang="en-US" sz="700" dirty="0">
                <a:latin typeface="+mn-ea"/>
              </a:rPr>
              <a:t>이상</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5711021" y="1747387"/>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3922065" y="194126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.5% </a:t>
            </a:r>
            <a:r>
              <a:rPr lang="ko-KR" altLang="en-US" sz="700" dirty="0">
                <a:latin typeface="+mn-ea"/>
              </a:rPr>
              <a:t>이상 </a:t>
            </a:r>
            <a:r>
              <a:rPr lang="en-US" altLang="ko-KR" sz="700" dirty="0">
                <a:latin typeface="+mn-ea"/>
              </a:rPr>
              <a:t>10% </a:t>
            </a:r>
            <a:r>
              <a:rPr lang="ko-KR" altLang="en-US" sz="700" dirty="0">
                <a:latin typeface="+mn-ea"/>
              </a:rPr>
              <a:t>미만</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3922065" y="2145076"/>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소기업 또는 소상공인</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3922065" y="234888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소상공인</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3922065" y="255269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소기업</a:t>
            </a: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3835003" y="189322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3835003" y="2097032"/>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3835003" y="230084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835003" y="250465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5711020" y="194126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81" name="TextBox 180">
            <a:extLst>
              <a:ext uri="{FF2B5EF4-FFF2-40B4-BE49-F238E27FC236}">
                <a16:creationId xmlns:a16="http://schemas.microsoft.com/office/drawing/2014/main" id="{FFC49AEA-2A8F-250C-A86A-A7751D9706C3}"/>
              </a:ext>
            </a:extLst>
          </p:cNvPr>
          <p:cNvSpPr txBox="1"/>
          <p:nvPr/>
        </p:nvSpPr>
        <p:spPr>
          <a:xfrm>
            <a:off x="5792774" y="214507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2" name="TextBox 181">
            <a:extLst>
              <a:ext uri="{FF2B5EF4-FFF2-40B4-BE49-F238E27FC236}">
                <a16:creationId xmlns:a16="http://schemas.microsoft.com/office/drawing/2014/main" id="{FFC49AEA-2A8F-250C-A86A-A7751D9706C3}"/>
              </a:ext>
            </a:extLst>
          </p:cNvPr>
          <p:cNvSpPr txBox="1"/>
          <p:nvPr/>
        </p:nvSpPr>
        <p:spPr>
          <a:xfrm>
            <a:off x="5711020" y="234888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83" name="TextBox 182">
            <a:extLst>
              <a:ext uri="{FF2B5EF4-FFF2-40B4-BE49-F238E27FC236}">
                <a16:creationId xmlns:a16="http://schemas.microsoft.com/office/drawing/2014/main" id="{FFC49AEA-2A8F-250C-A86A-A7751D9706C3}"/>
              </a:ext>
            </a:extLst>
          </p:cNvPr>
          <p:cNvSpPr txBox="1"/>
          <p:nvPr/>
        </p:nvSpPr>
        <p:spPr>
          <a:xfrm>
            <a:off x="5661327" y="2552696"/>
            <a:ext cx="168316"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5792774" y="153199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6" name="직사각형 185"/>
          <p:cNvSpPr/>
          <p:nvPr/>
        </p:nvSpPr>
        <p:spPr>
          <a:xfrm>
            <a:off x="3832497" y="3242456"/>
            <a:ext cx="1639886" cy="298984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9560" y="3242457"/>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5647602" y="3242457"/>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3830405" y="32424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3832498" y="34571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3832498" y="375009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3830405" y="4335902"/>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2498" y="41507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3891376" y="2756507"/>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바</a:t>
            </a:r>
            <a:r>
              <a:rPr lang="en-US" altLang="ko-KR" sz="700" dirty="0">
                <a:latin typeface="+mn-ea"/>
              </a:rPr>
              <a:t>. </a:t>
            </a:r>
            <a:r>
              <a:rPr lang="ko-KR" altLang="en-US" sz="700" dirty="0">
                <a:latin typeface="+mn-ea"/>
              </a:rPr>
              <a:t>기타</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여성기업</a:t>
            </a:r>
            <a:r>
              <a:rPr lang="en-US" altLang="ko-KR" sz="700" dirty="0">
                <a:latin typeface="+mn-ea"/>
              </a:rPr>
              <a:t>, </a:t>
            </a:r>
            <a:r>
              <a:rPr lang="ko-KR" altLang="en-US" sz="700" dirty="0">
                <a:latin typeface="+mn-ea"/>
              </a:rPr>
              <a:t>장애인고용 기업지원 등</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6067972" y="324245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3919560" y="3495926"/>
            <a:ext cx="1480199" cy="215444"/>
          </a:xfrm>
          <a:prstGeom prst="rect">
            <a:avLst/>
          </a:prstGeom>
          <a:noFill/>
        </p:spPr>
        <p:txBody>
          <a:bodyPr wrap="square" lIns="0" tIns="0" rIns="0" bIns="0" rtlCol="0">
            <a:spAutoFit/>
          </a:bodyPr>
          <a:lstStyle/>
          <a:p>
            <a:r>
              <a:rPr lang="en-US" altLang="ko-KR" sz="700" dirty="0">
                <a:latin typeface="+mn-ea"/>
              </a:rPr>
              <a:t>A.</a:t>
            </a:r>
            <a:r>
              <a:rPr lang="ko-KR" altLang="en-US" sz="700" dirty="0" err="1">
                <a:latin typeface="+mn-ea"/>
              </a:rPr>
              <a:t>행정용품</a:t>
            </a:r>
            <a:r>
              <a:rPr lang="ko-KR" altLang="en-US" sz="700" dirty="0">
                <a:latin typeface="+mn-ea"/>
              </a:rPr>
              <a:t> 우수품질인증</a:t>
            </a:r>
            <a:r>
              <a:rPr lang="en-US" altLang="ko-KR" sz="700" dirty="0">
                <a:latin typeface="+mn-ea"/>
              </a:rPr>
              <a:t>(</a:t>
            </a:r>
            <a:r>
              <a:rPr lang="ko-KR" altLang="en-US" sz="700" dirty="0">
                <a:latin typeface="+mn-ea"/>
              </a:rPr>
              <a:t>조달청중앙보급창</a:t>
            </a:r>
            <a:r>
              <a:rPr lang="en-US" altLang="ko-KR" sz="700" dirty="0">
                <a:latin typeface="+mn-ea"/>
              </a:rPr>
              <a:t>) </a:t>
            </a:r>
            <a:r>
              <a:rPr lang="ko-KR" altLang="en-US" sz="700" dirty="0">
                <a:latin typeface="+mn-ea"/>
              </a:rPr>
              <a:t>소지자</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5708515" y="3549787"/>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3919560" y="3788828"/>
            <a:ext cx="1480199" cy="323165"/>
          </a:xfrm>
          <a:prstGeom prst="rect">
            <a:avLst/>
          </a:prstGeom>
          <a:noFill/>
        </p:spPr>
        <p:txBody>
          <a:bodyPr wrap="square" lIns="0" tIns="0" rIns="0" bIns="0" rtlCol="0">
            <a:spAutoFit/>
          </a:bodyPr>
          <a:lstStyle/>
          <a:p>
            <a:r>
              <a:rPr lang="en-US" altLang="ko-KR" sz="700" dirty="0">
                <a:latin typeface="+mn-ea"/>
              </a:rPr>
              <a:t>A-1.</a:t>
            </a:r>
            <a:r>
              <a:rPr lang="ko-KR" altLang="en-US" sz="700" dirty="0">
                <a:latin typeface="+mn-ea"/>
              </a:rPr>
              <a:t>조달업무 우수업체로서 중소기업청장 또는 조달청장 표창을 받은 업체</a:t>
            </a:r>
          </a:p>
        </p:txBody>
      </p:sp>
      <p:sp>
        <p:nvSpPr>
          <p:cNvPr id="199" name="TextBox 198">
            <a:extLst>
              <a:ext uri="{FF2B5EF4-FFF2-40B4-BE49-F238E27FC236}">
                <a16:creationId xmlns:a16="http://schemas.microsoft.com/office/drawing/2014/main" id="{FFC49AEA-2A8F-250C-A86A-A7751D9706C3}"/>
              </a:ext>
            </a:extLst>
          </p:cNvPr>
          <p:cNvSpPr txBox="1"/>
          <p:nvPr/>
        </p:nvSpPr>
        <p:spPr>
          <a:xfrm>
            <a:off x="3919560" y="4189451"/>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여성기업지원 및 여성고용촉진</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5708516" y="3896549"/>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01" name="TextBox 200">
            <a:extLst>
              <a:ext uri="{FF2B5EF4-FFF2-40B4-BE49-F238E27FC236}">
                <a16:creationId xmlns:a16="http://schemas.microsoft.com/office/drawing/2014/main" id="{FFC49AEA-2A8F-250C-A86A-A7751D9706C3}"/>
              </a:ext>
            </a:extLst>
          </p:cNvPr>
          <p:cNvSpPr txBox="1"/>
          <p:nvPr/>
        </p:nvSpPr>
        <p:spPr>
          <a:xfrm>
            <a:off x="5790269" y="418945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2" name="TextBox 201">
            <a:extLst>
              <a:ext uri="{FF2B5EF4-FFF2-40B4-BE49-F238E27FC236}">
                <a16:creationId xmlns:a16="http://schemas.microsoft.com/office/drawing/2014/main" id="{FFC49AEA-2A8F-250C-A86A-A7751D9706C3}"/>
              </a:ext>
            </a:extLst>
          </p:cNvPr>
          <p:cNvSpPr txBox="1"/>
          <p:nvPr/>
        </p:nvSpPr>
        <p:spPr>
          <a:xfrm>
            <a:off x="3276728" y="52372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3" name="TextBox 202">
            <a:extLst>
              <a:ext uri="{FF2B5EF4-FFF2-40B4-BE49-F238E27FC236}">
                <a16:creationId xmlns:a16="http://schemas.microsoft.com/office/drawing/2014/main" id="{FFC49AEA-2A8F-250C-A86A-A7751D9706C3}"/>
              </a:ext>
            </a:extLst>
          </p:cNvPr>
          <p:cNvSpPr txBox="1"/>
          <p:nvPr/>
        </p:nvSpPr>
        <p:spPr>
          <a:xfrm>
            <a:off x="6390176" y="175002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6390176" y="235034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6390176" y="375672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4374631"/>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여성이 대표인 기업</a:t>
            </a:r>
            <a:r>
              <a:rPr lang="en-US" altLang="ko-KR" sz="700" dirty="0">
                <a:latin typeface="+mn-ea"/>
              </a:rPr>
              <a:t>(‘</a:t>
            </a:r>
            <a:r>
              <a:rPr lang="ko-KR" altLang="en-US" sz="700" dirty="0">
                <a:latin typeface="+mn-ea"/>
              </a:rPr>
              <a:t>여성기업지원에 관한 </a:t>
            </a:r>
            <a:r>
              <a:rPr lang="ko-KR" altLang="en-US" sz="700" dirty="0" err="1">
                <a:latin typeface="+mn-ea"/>
              </a:rPr>
              <a:t>법률’에서</a:t>
            </a:r>
            <a:r>
              <a:rPr lang="ko-KR" altLang="en-US" sz="700" dirty="0">
                <a:latin typeface="+mn-ea"/>
              </a:rPr>
              <a:t> 정한 기업으로서 한국여성경제인협회에서 확인해 준 경우에만 인정</a:t>
            </a:r>
            <a:r>
              <a:rPr lang="en-US" altLang="ko-KR" sz="700" dirty="0">
                <a:latin typeface="+mn-ea"/>
              </a:rPr>
              <a:t>)</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515" y="4536213"/>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0" name="직선 연결선 209">
            <a:extLst>
              <a:ext uri="{FF2B5EF4-FFF2-40B4-BE49-F238E27FC236}">
                <a16:creationId xmlns:a16="http://schemas.microsoft.com/office/drawing/2014/main" id="{E9293055-D5CD-4B9E-7F64-64B2D2CA7A52}"/>
              </a:ext>
            </a:extLst>
          </p:cNvPr>
          <p:cNvCxnSpPr/>
          <p:nvPr/>
        </p:nvCxnSpPr>
        <p:spPr>
          <a:xfrm>
            <a:off x="3830405" y="4844247"/>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FFC49AEA-2A8F-250C-A86A-A7751D9706C3}"/>
              </a:ext>
            </a:extLst>
          </p:cNvPr>
          <p:cNvSpPr txBox="1"/>
          <p:nvPr/>
        </p:nvSpPr>
        <p:spPr>
          <a:xfrm>
            <a:off x="3919560" y="4882976"/>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여성고용 우수기업</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708516" y="5122017"/>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13" name="직선 연결선 212">
            <a:extLst>
              <a:ext uri="{FF2B5EF4-FFF2-40B4-BE49-F238E27FC236}">
                <a16:creationId xmlns:a16="http://schemas.microsoft.com/office/drawing/2014/main" id="{E9293055-D5CD-4B9E-7F64-64B2D2CA7A52}"/>
              </a:ext>
            </a:extLst>
          </p:cNvPr>
          <p:cNvCxnSpPr/>
          <p:nvPr/>
        </p:nvCxnSpPr>
        <p:spPr>
          <a:xfrm>
            <a:off x="3830405" y="561523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TextBox 213">
            <a:extLst>
              <a:ext uri="{FF2B5EF4-FFF2-40B4-BE49-F238E27FC236}">
                <a16:creationId xmlns:a16="http://schemas.microsoft.com/office/drawing/2014/main" id="{FFC49AEA-2A8F-250C-A86A-A7751D9706C3}"/>
              </a:ext>
            </a:extLst>
          </p:cNvPr>
          <p:cNvSpPr txBox="1"/>
          <p:nvPr/>
        </p:nvSpPr>
        <p:spPr>
          <a:xfrm>
            <a:off x="3919560" y="5653960"/>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노동부장관에 의해 남녀고용평등 우수기업으로 지정 받은 자</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5708516" y="5707821"/>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45" name="직선 연결선 244">
            <a:extLst>
              <a:ext uri="{FF2B5EF4-FFF2-40B4-BE49-F238E27FC236}">
                <a16:creationId xmlns:a16="http://schemas.microsoft.com/office/drawing/2014/main" id="{E9293055-D5CD-4B9E-7F64-64B2D2CA7A52}"/>
              </a:ext>
            </a:extLst>
          </p:cNvPr>
          <p:cNvCxnSpPr/>
          <p:nvPr/>
        </p:nvCxnSpPr>
        <p:spPr>
          <a:xfrm>
            <a:off x="3832498" y="59081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3919560" y="5946862"/>
            <a:ext cx="1480199" cy="215444"/>
          </a:xfrm>
          <a:prstGeom prst="rect">
            <a:avLst/>
          </a:prstGeom>
          <a:noFill/>
        </p:spPr>
        <p:txBody>
          <a:bodyPr wrap="square" lIns="0" tIns="0" rIns="0" bIns="0" rtlCol="0">
            <a:spAutoFit/>
          </a:bodyPr>
          <a:lstStyle/>
          <a:p>
            <a:r>
              <a:rPr lang="en-US" altLang="ko-KR" sz="700" dirty="0">
                <a:latin typeface="+mn-ea"/>
              </a:rPr>
              <a:t>C.</a:t>
            </a:r>
            <a:r>
              <a:rPr lang="ko-KR" altLang="en-US" sz="700" dirty="0">
                <a:latin typeface="+mn-ea"/>
              </a:rPr>
              <a:t>장애인기업 및 장애인고용 우수기업</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5790269" y="600072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8" name="직선 연결선 247">
            <a:extLst>
              <a:ext uri="{FF2B5EF4-FFF2-40B4-BE49-F238E27FC236}">
                <a16:creationId xmlns:a16="http://schemas.microsoft.com/office/drawing/2014/main" id="{E9293055-D5CD-4B9E-7F64-64B2D2CA7A52}"/>
              </a:ext>
            </a:extLst>
          </p:cNvPr>
          <p:cNvCxnSpPr/>
          <p:nvPr/>
        </p:nvCxnSpPr>
        <p:spPr>
          <a:xfrm>
            <a:off x="3830405" y="6201038"/>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9" name="TextBox 248">
            <a:extLst>
              <a:ext uri="{FF2B5EF4-FFF2-40B4-BE49-F238E27FC236}">
                <a16:creationId xmlns:a16="http://schemas.microsoft.com/office/drawing/2014/main" id="{FFC49AEA-2A8F-250C-A86A-A7751D9706C3}"/>
              </a:ext>
            </a:extLst>
          </p:cNvPr>
          <p:cNvSpPr txBox="1"/>
          <p:nvPr/>
        </p:nvSpPr>
        <p:spPr>
          <a:xfrm>
            <a:off x="6390176" y="497493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0" name="TextBox 249">
            <a:extLst>
              <a:ext uri="{FF2B5EF4-FFF2-40B4-BE49-F238E27FC236}">
                <a16:creationId xmlns:a16="http://schemas.microsoft.com/office/drawing/2014/main" id="{FFC49AEA-2A8F-250C-A86A-A7751D9706C3}"/>
              </a:ext>
            </a:extLst>
          </p:cNvPr>
          <p:cNvSpPr txBox="1"/>
          <p:nvPr/>
        </p:nvSpPr>
        <p:spPr>
          <a:xfrm>
            <a:off x="806112" y="511958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 </a:t>
            </a:r>
            <a:r>
              <a:rPr lang="ko-KR" altLang="en-US" sz="700" dirty="0" err="1">
                <a:latin typeface="+mn-ea"/>
              </a:rPr>
              <a:t>공동수급체</a:t>
            </a:r>
            <a:r>
              <a:rPr lang="ko-KR" altLang="en-US" sz="700" dirty="0">
                <a:latin typeface="+mn-ea"/>
              </a:rPr>
              <a:t> 각각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한 비율이 </a:t>
            </a:r>
            <a:r>
              <a:rPr lang="en-US" altLang="ko-KR" sz="700" dirty="0">
                <a:latin typeface="+mn-ea"/>
              </a:rPr>
              <a:t>20% </a:t>
            </a:r>
            <a:r>
              <a:rPr lang="ko-KR" altLang="en-US" sz="700" dirty="0">
                <a:latin typeface="+mn-ea"/>
              </a:rPr>
              <a:t>이상인 업체</a:t>
            </a:r>
          </a:p>
        </p:txBody>
      </p:sp>
      <p:cxnSp>
        <p:nvCxnSpPr>
          <p:cNvPr id="251" name="직선 연결선 250">
            <a:extLst>
              <a:ext uri="{FF2B5EF4-FFF2-40B4-BE49-F238E27FC236}">
                <a16:creationId xmlns:a16="http://schemas.microsoft.com/office/drawing/2014/main" id="{E9293055-D5CD-4B9E-7F64-64B2D2CA7A52}"/>
              </a:ext>
            </a:extLst>
          </p:cNvPr>
          <p:cNvCxnSpPr/>
          <p:nvPr/>
        </p:nvCxnSpPr>
        <p:spPr>
          <a:xfrm>
            <a:off x="719050" y="50847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2" name="TextBox 251">
            <a:extLst>
              <a:ext uri="{FF2B5EF4-FFF2-40B4-BE49-F238E27FC236}">
                <a16:creationId xmlns:a16="http://schemas.microsoft.com/office/drawing/2014/main" id="{FFC49AEA-2A8F-250C-A86A-A7751D9706C3}"/>
              </a:ext>
            </a:extLst>
          </p:cNvPr>
          <p:cNvSpPr txBox="1"/>
          <p:nvPr/>
        </p:nvSpPr>
        <p:spPr>
          <a:xfrm>
            <a:off x="2676821" y="517344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3" name="TextBox 252">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3919560" y="506815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10%</a:t>
            </a:r>
            <a:r>
              <a:rPr lang="ko-KR" altLang="en-US" sz="700" dirty="0">
                <a:latin typeface="+mn-ea"/>
              </a:rPr>
              <a:t>이상이고 여성종업원이 </a:t>
            </a:r>
            <a:r>
              <a:rPr lang="en-US" altLang="ko-KR" sz="700" dirty="0">
                <a:latin typeface="+mn-ea"/>
              </a:rPr>
              <a:t>10</a:t>
            </a:r>
            <a:r>
              <a:rPr lang="ko-KR" altLang="en-US" sz="700" dirty="0">
                <a:latin typeface="+mn-ea"/>
              </a:rPr>
              <a:t>인 이상인 기업</a:t>
            </a:r>
          </a:p>
        </p:txBody>
      </p:sp>
      <p:sp>
        <p:nvSpPr>
          <p:cNvPr id="255" name="TextBox 254">
            <a:extLst>
              <a:ext uri="{FF2B5EF4-FFF2-40B4-BE49-F238E27FC236}">
                <a16:creationId xmlns:a16="http://schemas.microsoft.com/office/drawing/2014/main" id="{FFC49AEA-2A8F-250C-A86A-A7751D9706C3}"/>
              </a:ext>
            </a:extLst>
          </p:cNvPr>
          <p:cNvSpPr txBox="1"/>
          <p:nvPr/>
        </p:nvSpPr>
        <p:spPr>
          <a:xfrm>
            <a:off x="3919560" y="5361058"/>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5%</a:t>
            </a:r>
            <a:r>
              <a:rPr lang="ko-KR" altLang="en-US" sz="700" dirty="0">
                <a:latin typeface="+mn-ea"/>
              </a:rPr>
              <a:t>이상이고 여성종업원이 </a:t>
            </a:r>
            <a:r>
              <a:rPr lang="en-US" altLang="ko-KR" sz="700" dirty="0">
                <a:latin typeface="+mn-ea"/>
              </a:rPr>
              <a:t>5</a:t>
            </a:r>
            <a:r>
              <a:rPr lang="ko-KR" altLang="en-US" sz="700" dirty="0">
                <a:latin typeface="+mn-ea"/>
              </a:rPr>
              <a:t>인 이상인 기업</a:t>
            </a:r>
          </a:p>
        </p:txBody>
      </p:sp>
      <p:cxnSp>
        <p:nvCxnSpPr>
          <p:cNvPr id="263" name="직선 연결선 262">
            <a:extLst>
              <a:ext uri="{FF2B5EF4-FFF2-40B4-BE49-F238E27FC236}">
                <a16:creationId xmlns:a16="http://schemas.microsoft.com/office/drawing/2014/main" id="{E9293055-D5CD-4B9E-7F64-64B2D2CA7A52}"/>
              </a:ext>
            </a:extLst>
          </p:cNvPr>
          <p:cNvCxnSpPr/>
          <p:nvPr/>
        </p:nvCxnSpPr>
        <p:spPr>
          <a:xfrm>
            <a:off x="3830405" y="5322329"/>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0" name="직선 연결선 279">
            <a:extLst>
              <a:ext uri="{FF2B5EF4-FFF2-40B4-BE49-F238E27FC236}">
                <a16:creationId xmlns:a16="http://schemas.microsoft.com/office/drawing/2014/main" id="{E9293055-D5CD-4B9E-7F64-64B2D2CA7A52}"/>
              </a:ext>
            </a:extLst>
          </p:cNvPr>
          <p:cNvCxnSpPr/>
          <p:nvPr/>
        </p:nvCxnSpPr>
        <p:spPr>
          <a:xfrm>
            <a:off x="3830405" y="5029427"/>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1" name="TextBox 280">
            <a:extLst>
              <a:ext uri="{FF2B5EF4-FFF2-40B4-BE49-F238E27FC236}">
                <a16:creationId xmlns:a16="http://schemas.microsoft.com/office/drawing/2014/main" id="{FFC49AEA-2A8F-250C-A86A-A7751D9706C3}"/>
              </a:ext>
            </a:extLst>
          </p:cNvPr>
          <p:cNvSpPr txBox="1"/>
          <p:nvPr/>
        </p:nvSpPr>
        <p:spPr>
          <a:xfrm>
            <a:off x="5708516" y="5414919"/>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2" name="TextBox 281">
            <a:extLst>
              <a:ext uri="{FF2B5EF4-FFF2-40B4-BE49-F238E27FC236}">
                <a16:creationId xmlns:a16="http://schemas.microsoft.com/office/drawing/2014/main" id="{FFC49AEA-2A8F-250C-A86A-A7751D9706C3}"/>
              </a:ext>
            </a:extLst>
          </p:cNvPr>
          <p:cNvSpPr txBox="1"/>
          <p:nvPr/>
        </p:nvSpPr>
        <p:spPr>
          <a:xfrm>
            <a:off x="5790269" y="488122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3" name="타원 122">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078487876"/>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175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2" name="직사각형 131"/>
          <p:cNvSpPr/>
          <p:nvPr/>
        </p:nvSpPr>
        <p:spPr>
          <a:xfrm>
            <a:off x="719049" y="1504395"/>
            <a:ext cx="1639886" cy="47279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6" name="직선 연결선 135">
            <a:extLst>
              <a:ext uri="{FF2B5EF4-FFF2-40B4-BE49-F238E27FC236}">
                <a16:creationId xmlns:a16="http://schemas.microsoft.com/office/drawing/2014/main" id="{E9293055-D5CD-4B9E-7F64-64B2D2CA7A52}"/>
              </a:ext>
            </a:extLst>
          </p:cNvPr>
          <p:cNvCxnSpPr/>
          <p:nvPr/>
        </p:nvCxnSpPr>
        <p:spPr>
          <a:xfrm>
            <a:off x="719050" y="40402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19050" y="198538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1" name="TextBox 140">
            <a:extLst>
              <a:ext uri="{FF2B5EF4-FFF2-40B4-BE49-F238E27FC236}">
                <a16:creationId xmlns:a16="http://schemas.microsoft.com/office/drawing/2014/main" id="{FFC49AEA-2A8F-250C-A86A-A7751D9706C3}"/>
              </a:ext>
            </a:extLst>
          </p:cNvPr>
          <p:cNvSpPr txBox="1"/>
          <p:nvPr/>
        </p:nvSpPr>
        <p:spPr>
          <a:xfrm>
            <a:off x="806112" y="1510601"/>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장애인이 대표인 기업</a:t>
            </a:r>
            <a:r>
              <a:rPr lang="en-US" altLang="ko-KR" sz="700" dirty="0">
                <a:latin typeface="+mn-ea"/>
              </a:rPr>
              <a:t>(‘</a:t>
            </a:r>
            <a:r>
              <a:rPr lang="ko-KR" altLang="en-US" sz="700" dirty="0" err="1">
                <a:latin typeface="+mn-ea"/>
              </a:rPr>
              <a:t>장애인기업활동촉진법’에서</a:t>
            </a:r>
            <a:r>
              <a:rPr lang="ko-KR" altLang="en-US" sz="700" dirty="0">
                <a:latin typeface="+mn-ea"/>
              </a:rPr>
              <a:t> 정한 기업으로서 한국장애경제인협회에서 확인해 준 경우에만 인정</a:t>
            </a:r>
            <a:r>
              <a:rPr lang="en-US" altLang="ko-KR" sz="700" dirty="0">
                <a:latin typeface="+mn-ea"/>
              </a:rPr>
              <a:t>)</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2676821" y="161832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3276728" y="326219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806112" y="2029290"/>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장애인고용율이 </a:t>
            </a:r>
            <a:r>
              <a:rPr lang="en-US" altLang="ko-KR" sz="700" dirty="0">
                <a:latin typeface="+mn-ea"/>
              </a:rPr>
              <a:t>3%</a:t>
            </a:r>
            <a:r>
              <a:rPr lang="ko-KR" altLang="en-US" sz="700" dirty="0">
                <a:latin typeface="+mn-ea"/>
              </a:rPr>
              <a:t>이상이고 장애인종업원이 </a:t>
            </a:r>
            <a:r>
              <a:rPr lang="en-US" altLang="ko-KR" sz="700" dirty="0">
                <a:latin typeface="+mn-ea"/>
              </a:rPr>
              <a:t>6</a:t>
            </a:r>
            <a:r>
              <a:rPr lang="ko-KR" altLang="en-US" sz="700" dirty="0">
                <a:latin typeface="+mn-ea"/>
              </a:rPr>
              <a:t>인 이상인 기업</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2595068" y="2083151"/>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806112" y="2332536"/>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장애인고용율이 </a:t>
            </a:r>
            <a:r>
              <a:rPr lang="en-US" altLang="ko-KR" sz="700" dirty="0">
                <a:latin typeface="+mn-ea"/>
              </a:rPr>
              <a:t>1.5%</a:t>
            </a:r>
            <a:r>
              <a:rPr lang="ko-KR" altLang="en-US" sz="700" dirty="0">
                <a:latin typeface="+mn-ea"/>
              </a:rPr>
              <a:t>이상이고 장애인종업원이 </a:t>
            </a:r>
            <a:r>
              <a:rPr lang="en-US" altLang="ko-KR" sz="700" dirty="0">
                <a:latin typeface="+mn-ea"/>
              </a:rPr>
              <a:t>3</a:t>
            </a:r>
            <a:r>
              <a:rPr lang="ko-KR" altLang="en-US" sz="700" dirty="0">
                <a:latin typeface="+mn-ea"/>
              </a:rPr>
              <a:t>인 이상인 기업</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806112" y="2635782"/>
            <a:ext cx="1480199" cy="107722"/>
          </a:xfrm>
          <a:prstGeom prst="rect">
            <a:avLst/>
          </a:prstGeom>
          <a:noFill/>
        </p:spPr>
        <p:txBody>
          <a:bodyPr wrap="square" lIns="0" tIns="0" rIns="0" bIns="0" rtlCol="0">
            <a:spAutoFit/>
          </a:bodyPr>
          <a:lstStyle/>
          <a:p>
            <a:r>
              <a:rPr lang="en-US" altLang="ko-KR" sz="700" dirty="0">
                <a:latin typeface="+mn-ea"/>
              </a:rPr>
              <a:t>D.</a:t>
            </a:r>
            <a:r>
              <a:rPr lang="ko-KR" altLang="en-US" sz="700" dirty="0">
                <a:latin typeface="+mn-ea"/>
              </a:rPr>
              <a:t>신규채용 우수기업</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806112" y="2830913"/>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5%</a:t>
            </a:r>
            <a:r>
              <a:rPr lang="ko-KR" altLang="en-US" sz="700" dirty="0">
                <a:latin typeface="+mn-ea"/>
              </a:rPr>
              <a:t>이상 증가하고 그 </a:t>
            </a:r>
            <a:r>
              <a:rPr lang="ko-KR" altLang="en-US" sz="700" dirty="0" err="1">
                <a:latin typeface="+mn-ea"/>
              </a:rPr>
              <a:t>증가인원이</a:t>
            </a:r>
            <a:r>
              <a:rPr lang="ko-KR" altLang="en-US" sz="700" dirty="0">
                <a:latin typeface="+mn-ea"/>
              </a:rPr>
              <a:t> </a:t>
            </a:r>
            <a:r>
              <a:rPr lang="en-US" altLang="ko-KR" sz="700" dirty="0">
                <a:latin typeface="+mn-ea"/>
              </a:rPr>
              <a:t>6</a:t>
            </a:r>
            <a:r>
              <a:rPr lang="ko-KR" altLang="en-US" sz="700" dirty="0">
                <a:latin typeface="+mn-ea"/>
              </a:rPr>
              <a:t>인 이상인 기업</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806112" y="3457717"/>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2.5%</a:t>
            </a:r>
            <a:r>
              <a:rPr lang="ko-KR" altLang="en-US" sz="700" dirty="0">
                <a:latin typeface="+mn-ea"/>
              </a:rPr>
              <a:t>이상 증가하고 그 증가 인원이 </a:t>
            </a:r>
            <a:r>
              <a:rPr lang="en-US" altLang="ko-KR" sz="700" dirty="0">
                <a:latin typeface="+mn-ea"/>
              </a:rPr>
              <a:t>3</a:t>
            </a:r>
            <a:r>
              <a:rPr lang="ko-KR" altLang="en-US" sz="700" dirty="0">
                <a:latin typeface="+mn-ea"/>
              </a:rPr>
              <a:t>인 이상인 기업</a:t>
            </a:r>
          </a:p>
        </p:txBody>
      </p:sp>
      <p:cxnSp>
        <p:nvCxnSpPr>
          <p:cNvPr id="150" name="직선 연결선 149">
            <a:extLst>
              <a:ext uri="{FF2B5EF4-FFF2-40B4-BE49-F238E27FC236}">
                <a16:creationId xmlns:a16="http://schemas.microsoft.com/office/drawing/2014/main" id="{E9293055-D5CD-4B9E-7F64-64B2D2CA7A52}"/>
              </a:ext>
            </a:extLst>
          </p:cNvPr>
          <p:cNvCxnSpPr/>
          <p:nvPr/>
        </p:nvCxnSpPr>
        <p:spPr>
          <a:xfrm>
            <a:off x="719050" y="22886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1" name="직선 연결선 150">
            <a:extLst>
              <a:ext uri="{FF2B5EF4-FFF2-40B4-BE49-F238E27FC236}">
                <a16:creationId xmlns:a16="http://schemas.microsoft.com/office/drawing/2014/main" id="{E9293055-D5CD-4B9E-7F64-64B2D2CA7A52}"/>
              </a:ext>
            </a:extLst>
          </p:cNvPr>
          <p:cNvCxnSpPr/>
          <p:nvPr/>
        </p:nvCxnSpPr>
        <p:spPr>
          <a:xfrm>
            <a:off x="719050" y="2591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2" name="직선 연결선 151">
            <a:extLst>
              <a:ext uri="{FF2B5EF4-FFF2-40B4-BE49-F238E27FC236}">
                <a16:creationId xmlns:a16="http://schemas.microsoft.com/office/drawing/2014/main" id="{E9293055-D5CD-4B9E-7F64-64B2D2CA7A52}"/>
              </a:ext>
            </a:extLst>
          </p:cNvPr>
          <p:cNvCxnSpPr/>
          <p:nvPr/>
        </p:nvCxnSpPr>
        <p:spPr>
          <a:xfrm>
            <a:off x="719050" y="278740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19050" y="3413816"/>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4" name="TextBox 153">
            <a:extLst>
              <a:ext uri="{FF2B5EF4-FFF2-40B4-BE49-F238E27FC236}">
                <a16:creationId xmlns:a16="http://schemas.microsoft.com/office/drawing/2014/main" id="{FFC49AEA-2A8F-250C-A86A-A7751D9706C3}"/>
              </a:ext>
            </a:extLst>
          </p:cNvPr>
          <p:cNvSpPr txBox="1"/>
          <p:nvPr/>
        </p:nvSpPr>
        <p:spPr>
          <a:xfrm>
            <a:off x="2595067" y="2386397"/>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2676821" y="262754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6" name="TextBox 155">
            <a:extLst>
              <a:ext uri="{FF2B5EF4-FFF2-40B4-BE49-F238E27FC236}">
                <a16:creationId xmlns:a16="http://schemas.microsoft.com/office/drawing/2014/main" id="{FFC49AEA-2A8F-250C-A86A-A7751D9706C3}"/>
              </a:ext>
            </a:extLst>
          </p:cNvPr>
          <p:cNvSpPr txBox="1"/>
          <p:nvPr/>
        </p:nvSpPr>
        <p:spPr>
          <a:xfrm>
            <a:off x="2595067" y="3046356"/>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2595068" y="3673160"/>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59" name="직사각형 158"/>
          <p:cNvSpPr/>
          <p:nvPr/>
        </p:nvSpPr>
        <p:spPr>
          <a:xfrm>
            <a:off x="3835002" y="1504396"/>
            <a:ext cx="1639886" cy="26294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3922065" y="1529323"/>
            <a:ext cx="1480199" cy="215444"/>
          </a:xfrm>
          <a:prstGeom prst="rect">
            <a:avLst/>
          </a:prstGeom>
          <a:noFill/>
        </p:spPr>
        <p:txBody>
          <a:bodyPr wrap="square" lIns="0" tIns="0" rIns="0" bIns="0" rtlCol="0">
            <a:spAutoFit/>
          </a:bodyPr>
          <a:lstStyle/>
          <a:p>
            <a:r>
              <a:rPr lang="en-US" altLang="ko-KR" sz="700" dirty="0">
                <a:latin typeface="+mn-ea"/>
              </a:rPr>
              <a:t>J.</a:t>
            </a:r>
            <a:r>
              <a:rPr lang="ko-KR" altLang="en-US" sz="700" dirty="0">
                <a:latin typeface="+mn-ea"/>
              </a:rPr>
              <a:t>비상기획위원장이 확인해 준 ‘비상대비중점관리 대상업체’</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35003" y="1767339"/>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4" name="TextBox 183">
            <a:extLst>
              <a:ext uri="{FF2B5EF4-FFF2-40B4-BE49-F238E27FC236}">
                <a16:creationId xmlns:a16="http://schemas.microsoft.com/office/drawing/2014/main" id="{FFC49AEA-2A8F-250C-A86A-A7751D9706C3}"/>
              </a:ext>
            </a:extLst>
          </p:cNvPr>
          <p:cNvSpPr txBox="1"/>
          <p:nvPr/>
        </p:nvSpPr>
        <p:spPr>
          <a:xfrm>
            <a:off x="5792774" y="15831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6" name="직사각형 185"/>
          <p:cNvSpPr/>
          <p:nvPr/>
        </p:nvSpPr>
        <p:spPr>
          <a:xfrm>
            <a:off x="3832497" y="2518332"/>
            <a:ext cx="1639886" cy="18288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9560" y="2518332"/>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5647602" y="2518332"/>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3830405" y="25183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3832498" y="27330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3832498" y="314836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3830405" y="3548065"/>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2498" y="334821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3891376" y="1834024"/>
            <a:ext cx="2535669" cy="646331"/>
          </a:xfrm>
          <a:prstGeom prst="rect">
            <a:avLst/>
          </a:prstGeom>
          <a:noFill/>
        </p:spPr>
        <p:txBody>
          <a:bodyPr wrap="square" lIns="0" tIns="0" rIns="0" bIns="0" rtlCol="0">
            <a:spAutoFit/>
          </a:bodyPr>
          <a:lstStyle/>
          <a:p>
            <a:pPr>
              <a:lnSpc>
                <a:spcPct val="200000"/>
              </a:lnSpc>
            </a:pPr>
            <a:r>
              <a:rPr lang="en-US" altLang="ko-KR" sz="700" b="1" dirty="0">
                <a:latin typeface="+mn-ea"/>
              </a:rPr>
              <a:t>2. </a:t>
            </a:r>
            <a:r>
              <a:rPr lang="ko-KR" altLang="en-US" sz="700" b="1" dirty="0">
                <a:latin typeface="+mn-ea"/>
              </a:rPr>
              <a:t>계약이행 성실도</a:t>
            </a:r>
            <a:endParaRPr lang="en-US" altLang="ko-KR" sz="700" b="1"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 </a:t>
            </a:r>
            <a:r>
              <a:rPr lang="ko-KR" altLang="en-US" sz="700" dirty="0" err="1">
                <a:latin typeface="+mn-ea"/>
              </a:rPr>
              <a:t>납품지연</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지체일수</a:t>
            </a:r>
            <a:endParaRPr lang="ko-KR" altLang="en-US" sz="700" dirty="0">
              <a:latin typeface="+mn-ea"/>
            </a:endParaRPr>
          </a:p>
        </p:txBody>
      </p:sp>
      <p:sp>
        <p:nvSpPr>
          <p:cNvPr id="195" name="TextBox 194">
            <a:extLst>
              <a:ext uri="{FF2B5EF4-FFF2-40B4-BE49-F238E27FC236}">
                <a16:creationId xmlns:a16="http://schemas.microsoft.com/office/drawing/2014/main" id="{FFC49AEA-2A8F-250C-A86A-A7751D9706C3}"/>
              </a:ext>
            </a:extLst>
          </p:cNvPr>
          <p:cNvSpPr txBox="1"/>
          <p:nvPr/>
        </p:nvSpPr>
        <p:spPr>
          <a:xfrm>
            <a:off x="6067972" y="251833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3919560" y="2779136"/>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6</a:t>
            </a:r>
            <a:r>
              <a:rPr lang="ko-KR" altLang="en-US" sz="700" dirty="0">
                <a:latin typeface="+mn-ea"/>
              </a:rPr>
              <a:t>개월 이내에 조달청</a:t>
            </a:r>
            <a:r>
              <a:rPr lang="en-US" altLang="ko-KR" sz="700" dirty="0">
                <a:latin typeface="+mn-ea"/>
              </a:rPr>
              <a:t>(</a:t>
            </a:r>
            <a:r>
              <a:rPr lang="ko-KR" altLang="en-US" sz="700" dirty="0">
                <a:latin typeface="+mn-ea"/>
              </a:rPr>
              <a:t>또는 당해 </a:t>
            </a:r>
            <a:r>
              <a:rPr lang="ko-KR" altLang="en-US" sz="700" dirty="0" err="1">
                <a:latin typeface="+mn-ea"/>
              </a:rPr>
              <a:t>구매기관</a:t>
            </a:r>
            <a:r>
              <a:rPr lang="en-US" altLang="ko-KR" sz="700" dirty="0">
                <a:latin typeface="+mn-ea"/>
              </a:rPr>
              <a:t>)</a:t>
            </a:r>
            <a:r>
              <a:rPr lang="ko-KR" altLang="en-US" sz="700" dirty="0">
                <a:latin typeface="+mn-ea"/>
              </a:rPr>
              <a:t>과의 계약이행 과정에서 지체상금 부과를 받은 자</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5790269" y="283526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3919560" y="319442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75</a:t>
            </a:r>
            <a:r>
              <a:rPr lang="ko-KR" altLang="en-US" sz="700" dirty="0">
                <a:latin typeface="+mn-ea"/>
              </a:rPr>
              <a:t>일 이상</a:t>
            </a:r>
          </a:p>
        </p:txBody>
      </p:sp>
      <p:sp>
        <p:nvSpPr>
          <p:cNvPr id="199" name="TextBox 198">
            <a:extLst>
              <a:ext uri="{FF2B5EF4-FFF2-40B4-BE49-F238E27FC236}">
                <a16:creationId xmlns:a16="http://schemas.microsoft.com/office/drawing/2014/main" id="{FFC49AEA-2A8F-250C-A86A-A7751D9706C3}"/>
              </a:ext>
            </a:extLst>
          </p:cNvPr>
          <p:cNvSpPr txBox="1"/>
          <p:nvPr/>
        </p:nvSpPr>
        <p:spPr>
          <a:xfrm>
            <a:off x="3919560" y="339427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60</a:t>
            </a:r>
            <a:r>
              <a:rPr lang="ko-KR" altLang="en-US" sz="700" dirty="0">
                <a:latin typeface="+mn-ea"/>
              </a:rPr>
              <a:t>일 이상 </a:t>
            </a:r>
            <a:r>
              <a:rPr lang="en-US" altLang="ko-KR" sz="700" dirty="0">
                <a:latin typeface="+mn-ea"/>
              </a:rPr>
              <a:t>75</a:t>
            </a:r>
            <a:r>
              <a:rPr lang="ko-KR" altLang="en-US" sz="700" dirty="0">
                <a:latin typeface="+mn-ea"/>
              </a:rPr>
              <a:t>일 미만</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5671646" y="3201232"/>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201" name="TextBox 200">
            <a:extLst>
              <a:ext uri="{FF2B5EF4-FFF2-40B4-BE49-F238E27FC236}">
                <a16:creationId xmlns:a16="http://schemas.microsoft.com/office/drawing/2014/main" id="{FFC49AEA-2A8F-250C-A86A-A7751D9706C3}"/>
              </a:ext>
            </a:extLst>
          </p:cNvPr>
          <p:cNvSpPr txBox="1"/>
          <p:nvPr/>
        </p:nvSpPr>
        <p:spPr>
          <a:xfrm>
            <a:off x="5621953" y="3398431"/>
            <a:ext cx="205185" cy="107722"/>
          </a:xfrm>
          <a:prstGeom prst="rect">
            <a:avLst/>
          </a:prstGeom>
          <a:noFill/>
        </p:spPr>
        <p:txBody>
          <a:bodyPr wrap="none" lIns="0" tIns="0" rIns="0" bIns="0" rtlCol="0">
            <a:spAutoFit/>
          </a:bodyPr>
          <a:lstStyle/>
          <a:p>
            <a:pPr algn="r"/>
            <a:r>
              <a:rPr lang="en-US" altLang="ko-KR" sz="700" dirty="0">
                <a:latin typeface="+mn-ea"/>
              </a:rPr>
              <a:t>-1.75</a:t>
            </a:r>
            <a:endParaRPr lang="ko-KR" altLang="en-US" sz="700" dirty="0">
              <a:latin typeface="+mn-ea"/>
            </a:endParaRPr>
          </a:p>
        </p:txBody>
      </p:sp>
      <p:sp>
        <p:nvSpPr>
          <p:cNvPr id="202" name="TextBox 201">
            <a:extLst>
              <a:ext uri="{FF2B5EF4-FFF2-40B4-BE49-F238E27FC236}">
                <a16:creationId xmlns:a16="http://schemas.microsoft.com/office/drawing/2014/main" id="{FFC49AEA-2A8F-250C-A86A-A7751D9706C3}"/>
              </a:ext>
            </a:extLst>
          </p:cNvPr>
          <p:cNvSpPr txBox="1"/>
          <p:nvPr/>
        </p:nvSpPr>
        <p:spPr>
          <a:xfrm>
            <a:off x="3276728" y="194389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3" name="TextBox 202">
            <a:extLst>
              <a:ext uri="{FF2B5EF4-FFF2-40B4-BE49-F238E27FC236}">
                <a16:creationId xmlns:a16="http://schemas.microsoft.com/office/drawing/2014/main" id="{FFC49AEA-2A8F-250C-A86A-A7751D9706C3}"/>
              </a:ext>
            </a:extLst>
          </p:cNvPr>
          <p:cNvSpPr txBox="1"/>
          <p:nvPr/>
        </p:nvSpPr>
        <p:spPr>
          <a:xfrm>
            <a:off x="6390176" y="15831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6390176" y="348625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5" name="직선 연결선 244">
            <a:extLst>
              <a:ext uri="{FF2B5EF4-FFF2-40B4-BE49-F238E27FC236}">
                <a16:creationId xmlns:a16="http://schemas.microsoft.com/office/drawing/2014/main" id="{E9293055-D5CD-4B9E-7F64-64B2D2CA7A52}"/>
              </a:ext>
            </a:extLst>
          </p:cNvPr>
          <p:cNvCxnSpPr/>
          <p:nvPr/>
        </p:nvCxnSpPr>
        <p:spPr>
          <a:xfrm>
            <a:off x="3832498" y="43471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19050" y="49254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3276728" y="442897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806112" y="4084130"/>
            <a:ext cx="1480199" cy="107722"/>
          </a:xfrm>
          <a:prstGeom prst="rect">
            <a:avLst/>
          </a:prstGeom>
          <a:noFill/>
        </p:spPr>
        <p:txBody>
          <a:bodyPr wrap="square" lIns="0" tIns="0" rIns="0" bIns="0" rtlCol="0">
            <a:spAutoFit/>
          </a:bodyPr>
          <a:lstStyle/>
          <a:p>
            <a:r>
              <a:rPr lang="en-US" altLang="ko-KR" sz="700" dirty="0">
                <a:latin typeface="+mn-ea"/>
              </a:rPr>
              <a:t>E.</a:t>
            </a:r>
            <a:r>
              <a:rPr lang="ko-KR" altLang="en-US" sz="700" dirty="0">
                <a:latin typeface="+mn-ea"/>
              </a:rPr>
              <a:t>기술혁신 중소</a:t>
            </a:r>
            <a:r>
              <a:rPr lang="en-US" altLang="ko-KR" sz="700" dirty="0">
                <a:latin typeface="+mn-ea"/>
              </a:rPr>
              <a:t>.</a:t>
            </a:r>
            <a:r>
              <a:rPr lang="ko-KR" altLang="en-US" sz="700" dirty="0">
                <a:latin typeface="+mn-ea"/>
              </a:rPr>
              <a:t>벤처기업</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806112" y="4279261"/>
            <a:ext cx="1480199" cy="323165"/>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중소기업청장</a:t>
            </a:r>
            <a:r>
              <a:rPr lang="en-US" altLang="ko-KR" sz="700" dirty="0">
                <a:latin typeface="+mn-ea"/>
              </a:rPr>
              <a:t>(</a:t>
            </a:r>
            <a:r>
              <a:rPr lang="ko-KR" altLang="en-US" sz="700" dirty="0">
                <a:latin typeface="+mn-ea"/>
              </a:rPr>
              <a:t>또는 위임 받은 자</a:t>
            </a:r>
            <a:r>
              <a:rPr lang="en-US" altLang="ko-KR" sz="700" dirty="0">
                <a:latin typeface="+mn-ea"/>
              </a:rPr>
              <a:t>)</a:t>
            </a:r>
            <a:r>
              <a:rPr lang="ko-KR" altLang="en-US" sz="700" dirty="0">
                <a:latin typeface="+mn-ea"/>
              </a:rPr>
              <a:t>에 의해 ‘</a:t>
            </a:r>
            <a:r>
              <a:rPr lang="ko-KR" altLang="en-US" sz="700" dirty="0" err="1">
                <a:latin typeface="+mn-ea"/>
              </a:rPr>
              <a:t>기술혁신형</a:t>
            </a:r>
            <a:r>
              <a:rPr lang="ko-KR" altLang="en-US" sz="700" dirty="0">
                <a:latin typeface="+mn-ea"/>
              </a:rPr>
              <a:t> 중소기업</a:t>
            </a:r>
            <a:r>
              <a:rPr lang="en-US" altLang="ko-KR" sz="700" dirty="0">
                <a:latin typeface="+mn-ea"/>
              </a:rPr>
              <a:t>(INNO-BIZ)’</a:t>
            </a:r>
            <a:r>
              <a:rPr lang="ko-KR" altLang="en-US" sz="700" dirty="0">
                <a:latin typeface="+mn-ea"/>
              </a:rPr>
              <a:t>으로 지정 받은 자</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806112" y="4662588"/>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중소기업청장</a:t>
            </a:r>
            <a:r>
              <a:rPr lang="en-US" altLang="ko-KR" sz="700" dirty="0">
                <a:latin typeface="+mn-ea"/>
              </a:rPr>
              <a:t>(</a:t>
            </a:r>
            <a:r>
              <a:rPr lang="ko-KR" altLang="en-US" sz="700" dirty="0">
                <a:latin typeface="+mn-ea"/>
              </a:rPr>
              <a:t>또는 위임 받은 자</a:t>
            </a:r>
            <a:r>
              <a:rPr lang="en-US" altLang="ko-KR" sz="700" dirty="0">
                <a:latin typeface="+mn-ea"/>
              </a:rPr>
              <a:t>)</a:t>
            </a:r>
            <a:r>
              <a:rPr lang="ko-KR" altLang="en-US" sz="700" dirty="0">
                <a:latin typeface="+mn-ea"/>
              </a:rPr>
              <a:t>에 의해 벤처기업 확인을 </a:t>
            </a:r>
            <a:r>
              <a:rPr lang="ko-KR" altLang="en-US" sz="700" dirty="0" err="1">
                <a:latin typeface="+mn-ea"/>
              </a:rPr>
              <a:t>받은자</a:t>
            </a:r>
            <a:endParaRPr lang="ko-KR" altLang="en-US" sz="700" dirty="0">
              <a:latin typeface="+mn-ea"/>
            </a:endParaRPr>
          </a:p>
        </p:txBody>
      </p:sp>
      <p:cxnSp>
        <p:nvCxnSpPr>
          <p:cNvPr id="118" name="직선 연결선 117">
            <a:extLst>
              <a:ext uri="{FF2B5EF4-FFF2-40B4-BE49-F238E27FC236}">
                <a16:creationId xmlns:a16="http://schemas.microsoft.com/office/drawing/2014/main" id="{E9293055-D5CD-4B9E-7F64-64B2D2CA7A52}"/>
              </a:ext>
            </a:extLst>
          </p:cNvPr>
          <p:cNvCxnSpPr/>
          <p:nvPr/>
        </p:nvCxnSpPr>
        <p:spPr>
          <a:xfrm>
            <a:off x="719050" y="423575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19050" y="461868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2676821" y="407589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2595067" y="4386982"/>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22" name="TextBox 121">
            <a:extLst>
              <a:ext uri="{FF2B5EF4-FFF2-40B4-BE49-F238E27FC236}">
                <a16:creationId xmlns:a16="http://schemas.microsoft.com/office/drawing/2014/main" id="{FFC49AEA-2A8F-250C-A86A-A7751D9706C3}"/>
              </a:ext>
            </a:extLst>
          </p:cNvPr>
          <p:cNvSpPr txBox="1"/>
          <p:nvPr/>
        </p:nvSpPr>
        <p:spPr>
          <a:xfrm>
            <a:off x="2595068" y="4716449"/>
            <a:ext cx="11862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3276728" y="511976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806112" y="4985359"/>
            <a:ext cx="1480199" cy="107722"/>
          </a:xfrm>
          <a:prstGeom prst="rect">
            <a:avLst/>
          </a:prstGeom>
          <a:noFill/>
        </p:spPr>
        <p:txBody>
          <a:bodyPr wrap="square" lIns="0" tIns="0" rIns="0" bIns="0" rtlCol="0">
            <a:spAutoFit/>
          </a:bodyPr>
          <a:lstStyle/>
          <a:p>
            <a:r>
              <a:rPr lang="en-US" altLang="ko-KR" sz="700" dirty="0">
                <a:latin typeface="+mn-ea"/>
              </a:rPr>
              <a:t>F.’</a:t>
            </a:r>
            <a:r>
              <a:rPr lang="ko-KR" altLang="en-US" sz="700" dirty="0" err="1">
                <a:latin typeface="+mn-ea"/>
              </a:rPr>
              <a:t>신노사문화우수기업</a:t>
            </a:r>
            <a:r>
              <a:rPr lang="ko-KR" altLang="en-US" sz="700" dirty="0">
                <a:latin typeface="+mn-ea"/>
              </a:rPr>
              <a:t>’ </a:t>
            </a:r>
            <a:r>
              <a:rPr lang="en-US" altLang="ko-KR" sz="700" dirty="0">
                <a:latin typeface="+mn-ea"/>
              </a:rPr>
              <a:t>(</a:t>
            </a:r>
            <a:r>
              <a:rPr lang="ko-KR" altLang="en-US" sz="700" dirty="0">
                <a:latin typeface="+mn-ea"/>
              </a:rPr>
              <a:t>노동부 선정</a:t>
            </a:r>
            <a:r>
              <a:rPr lang="en-US" altLang="ko-KR" sz="700" dirty="0">
                <a:latin typeface="+mn-ea"/>
              </a:rPr>
              <a:t>)</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806112" y="5180490"/>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대상기업</a:t>
            </a:r>
            <a:br>
              <a:rPr lang="ko-KR" altLang="en-US" sz="700" dirty="0">
                <a:latin typeface="+mn-ea"/>
              </a:rPr>
            </a:br>
            <a:r>
              <a:rPr lang="ko-KR" altLang="en-US" sz="700" dirty="0">
                <a:latin typeface="+mn-ea"/>
              </a:rPr>
              <a:t>  </a:t>
            </a:r>
            <a:r>
              <a:rPr lang="en-US" altLang="ko-KR" sz="700" dirty="0">
                <a:latin typeface="+mn-ea"/>
              </a:rPr>
              <a:t>- </a:t>
            </a:r>
            <a:r>
              <a:rPr lang="ko-KR" altLang="en-US" sz="700" dirty="0">
                <a:latin typeface="+mn-ea"/>
              </a:rPr>
              <a:t>우수기업</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719050" y="513698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8" name="TextBox 137">
            <a:extLst>
              <a:ext uri="{FF2B5EF4-FFF2-40B4-BE49-F238E27FC236}">
                <a16:creationId xmlns:a16="http://schemas.microsoft.com/office/drawing/2014/main" id="{FFC49AEA-2A8F-250C-A86A-A7751D9706C3}"/>
              </a:ext>
            </a:extLst>
          </p:cNvPr>
          <p:cNvSpPr txBox="1"/>
          <p:nvPr/>
        </p:nvSpPr>
        <p:spPr>
          <a:xfrm>
            <a:off x="2676821" y="497711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2595003" y="5180490"/>
            <a:ext cx="118687" cy="215444"/>
          </a:xfrm>
          <a:prstGeom prst="rect">
            <a:avLst/>
          </a:prstGeom>
          <a:noFill/>
        </p:spPr>
        <p:txBody>
          <a:bodyPr wrap="none" lIns="0" tIns="0" rIns="0" bIns="0" rtlCol="0">
            <a:spAutoFit/>
          </a:bodyPr>
          <a:lstStyle/>
          <a:p>
            <a:pPr algn="r"/>
            <a:r>
              <a:rPr lang="en-US" altLang="ko-KR" sz="700" dirty="0">
                <a:latin typeface="+mn-ea"/>
              </a:rPr>
              <a:t>1.0</a:t>
            </a:r>
          </a:p>
          <a:p>
            <a:pPr algn="r"/>
            <a:r>
              <a:rPr lang="en-US" altLang="ko-KR" sz="700" dirty="0">
                <a:latin typeface="+mn-ea"/>
              </a:rPr>
              <a:t>0.5</a:t>
            </a:r>
            <a:endParaRPr lang="ko-KR" altLang="en-US" sz="700" dirty="0">
              <a:latin typeface="+mn-ea"/>
            </a:endParaRPr>
          </a:p>
        </p:txBody>
      </p:sp>
      <p:cxnSp>
        <p:nvCxnSpPr>
          <p:cNvPr id="162" name="직선 연결선 161">
            <a:extLst>
              <a:ext uri="{FF2B5EF4-FFF2-40B4-BE49-F238E27FC236}">
                <a16:creationId xmlns:a16="http://schemas.microsoft.com/office/drawing/2014/main" id="{E9293055-D5CD-4B9E-7F64-64B2D2CA7A52}"/>
              </a:ext>
            </a:extLst>
          </p:cNvPr>
          <p:cNvCxnSpPr/>
          <p:nvPr/>
        </p:nvCxnSpPr>
        <p:spPr>
          <a:xfrm>
            <a:off x="719050" y="54218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5" name="TextBox 164">
            <a:extLst>
              <a:ext uri="{FF2B5EF4-FFF2-40B4-BE49-F238E27FC236}">
                <a16:creationId xmlns:a16="http://schemas.microsoft.com/office/drawing/2014/main" id="{FFC49AEA-2A8F-250C-A86A-A7751D9706C3}"/>
              </a:ext>
            </a:extLst>
          </p:cNvPr>
          <p:cNvSpPr txBox="1"/>
          <p:nvPr/>
        </p:nvSpPr>
        <p:spPr>
          <a:xfrm>
            <a:off x="806112" y="5469941"/>
            <a:ext cx="1480199" cy="215444"/>
          </a:xfrm>
          <a:prstGeom prst="rect">
            <a:avLst/>
          </a:prstGeom>
          <a:noFill/>
        </p:spPr>
        <p:txBody>
          <a:bodyPr wrap="square" lIns="0" tIns="0" rIns="0" bIns="0" rtlCol="0">
            <a:spAutoFit/>
          </a:bodyPr>
          <a:lstStyle/>
          <a:p>
            <a:r>
              <a:rPr lang="en-US" altLang="ko-KR" sz="700" dirty="0">
                <a:latin typeface="+mn-ea"/>
              </a:rPr>
              <a:t>G.’</a:t>
            </a:r>
            <a:r>
              <a:rPr lang="ko-KR" altLang="en-US" sz="700" dirty="0" err="1">
                <a:latin typeface="+mn-ea"/>
              </a:rPr>
              <a:t>세계일류상품인증기업</a:t>
            </a:r>
            <a:r>
              <a:rPr lang="ko-KR" altLang="en-US" sz="700" dirty="0">
                <a:latin typeface="+mn-ea"/>
              </a:rPr>
              <a:t>’ </a:t>
            </a:r>
            <a:r>
              <a:rPr lang="en-US" altLang="ko-KR" sz="700" dirty="0">
                <a:latin typeface="+mn-ea"/>
              </a:rPr>
              <a:t>(</a:t>
            </a:r>
            <a:r>
              <a:rPr lang="ko-KR" altLang="en-US" sz="700" dirty="0" err="1">
                <a:latin typeface="+mn-ea"/>
              </a:rPr>
              <a:t>산자부</a:t>
            </a:r>
            <a:r>
              <a:rPr lang="ko-KR" altLang="en-US" sz="700" dirty="0">
                <a:latin typeface="+mn-ea"/>
              </a:rPr>
              <a:t> 선정</a:t>
            </a:r>
            <a:r>
              <a:rPr lang="en-US" altLang="ko-KR" sz="700" dirty="0">
                <a:latin typeface="+mn-ea"/>
              </a:rPr>
              <a:t>)</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2595067" y="552380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719050" y="57195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3276728" y="55222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806112" y="5784599"/>
            <a:ext cx="1480199" cy="215444"/>
          </a:xfrm>
          <a:prstGeom prst="rect">
            <a:avLst/>
          </a:prstGeom>
          <a:noFill/>
        </p:spPr>
        <p:txBody>
          <a:bodyPr wrap="square" lIns="0" tIns="0" rIns="0" bIns="0" rtlCol="0">
            <a:spAutoFit/>
          </a:bodyPr>
          <a:lstStyle/>
          <a:p>
            <a:r>
              <a:rPr lang="en-US" altLang="ko-KR" sz="700" dirty="0">
                <a:latin typeface="+mn-ea"/>
              </a:rPr>
              <a:t>H.’</a:t>
            </a:r>
            <a:r>
              <a:rPr lang="ko-KR" altLang="en-US" sz="700" dirty="0">
                <a:latin typeface="+mn-ea"/>
              </a:rPr>
              <a:t>중소기업청장이 지정한 수출유망중소기업’</a:t>
            </a:r>
          </a:p>
        </p:txBody>
      </p:sp>
      <p:sp>
        <p:nvSpPr>
          <p:cNvPr id="215" name="TextBox 214">
            <a:extLst>
              <a:ext uri="{FF2B5EF4-FFF2-40B4-BE49-F238E27FC236}">
                <a16:creationId xmlns:a16="http://schemas.microsoft.com/office/drawing/2014/main" id="{FFC49AEA-2A8F-250C-A86A-A7751D9706C3}"/>
              </a:ext>
            </a:extLst>
          </p:cNvPr>
          <p:cNvSpPr txBox="1"/>
          <p:nvPr/>
        </p:nvSpPr>
        <p:spPr>
          <a:xfrm>
            <a:off x="2595067" y="5838460"/>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6" name="직선 연결선 215">
            <a:extLst>
              <a:ext uri="{FF2B5EF4-FFF2-40B4-BE49-F238E27FC236}">
                <a16:creationId xmlns:a16="http://schemas.microsoft.com/office/drawing/2014/main" id="{E9293055-D5CD-4B9E-7F64-64B2D2CA7A52}"/>
              </a:ext>
            </a:extLst>
          </p:cNvPr>
          <p:cNvCxnSpPr/>
          <p:nvPr/>
        </p:nvCxnSpPr>
        <p:spPr>
          <a:xfrm>
            <a:off x="719050" y="60341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3276728" y="583685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806112" y="6076897"/>
            <a:ext cx="1480199" cy="215444"/>
          </a:xfrm>
          <a:prstGeom prst="rect">
            <a:avLst/>
          </a:prstGeom>
          <a:noFill/>
        </p:spPr>
        <p:txBody>
          <a:bodyPr wrap="square" lIns="0" tIns="0" rIns="0" bIns="0" rtlCol="0">
            <a:spAutoFit/>
          </a:bodyPr>
          <a:lstStyle/>
          <a:p>
            <a:r>
              <a:rPr lang="en-US" altLang="ko-KR" sz="700" dirty="0">
                <a:latin typeface="+mn-ea"/>
              </a:rPr>
              <a:t>I.</a:t>
            </a:r>
            <a:r>
              <a:rPr lang="ko-KR" altLang="en-US" sz="700" dirty="0">
                <a:latin typeface="+mn-ea"/>
              </a:rPr>
              <a:t>국세청장</a:t>
            </a:r>
            <a:r>
              <a:rPr lang="en-US" altLang="ko-KR" sz="700" dirty="0">
                <a:latin typeface="+mn-ea"/>
              </a:rPr>
              <a:t>(</a:t>
            </a:r>
            <a:r>
              <a:rPr lang="ko-KR" altLang="en-US" sz="700" dirty="0">
                <a:latin typeface="+mn-ea"/>
              </a:rPr>
              <a:t>관세청장</a:t>
            </a:r>
            <a:r>
              <a:rPr lang="en-US" altLang="ko-KR" sz="700" dirty="0">
                <a:latin typeface="+mn-ea"/>
              </a:rPr>
              <a:t>)</a:t>
            </a:r>
            <a:r>
              <a:rPr lang="ko-KR" altLang="en-US" sz="700" dirty="0">
                <a:latin typeface="+mn-ea"/>
              </a:rPr>
              <a:t>이 지정한 ‘모범성실납세자’</a:t>
            </a:r>
            <a:r>
              <a:rPr lang="en-US" altLang="ko-KR" sz="700" dirty="0">
                <a:latin typeface="+mn-ea"/>
              </a:rPr>
              <a:t>(</a:t>
            </a:r>
            <a:r>
              <a:rPr lang="ko-KR" altLang="en-US" sz="700" dirty="0">
                <a:latin typeface="+mn-ea"/>
              </a:rPr>
              <a:t>아름다운관세행정파트너</a:t>
            </a:r>
            <a:r>
              <a:rPr lang="en-US" altLang="ko-KR" sz="700" dirty="0">
                <a:latin typeface="+mn-ea"/>
              </a:rPr>
              <a:t>)</a:t>
            </a:r>
          </a:p>
        </p:txBody>
      </p:sp>
      <p:sp>
        <p:nvSpPr>
          <p:cNvPr id="219" name="TextBox 218">
            <a:extLst>
              <a:ext uri="{FF2B5EF4-FFF2-40B4-BE49-F238E27FC236}">
                <a16:creationId xmlns:a16="http://schemas.microsoft.com/office/drawing/2014/main" id="{FFC49AEA-2A8F-250C-A86A-A7751D9706C3}"/>
              </a:ext>
            </a:extLst>
          </p:cNvPr>
          <p:cNvSpPr txBox="1"/>
          <p:nvPr/>
        </p:nvSpPr>
        <p:spPr>
          <a:xfrm>
            <a:off x="2595067" y="6130758"/>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20" name="TextBox 219">
            <a:extLst>
              <a:ext uri="{FF2B5EF4-FFF2-40B4-BE49-F238E27FC236}">
                <a16:creationId xmlns:a16="http://schemas.microsoft.com/office/drawing/2014/main" id="{FFC49AEA-2A8F-250C-A86A-A7751D9706C3}"/>
              </a:ext>
            </a:extLst>
          </p:cNvPr>
          <p:cNvSpPr txBox="1"/>
          <p:nvPr/>
        </p:nvSpPr>
        <p:spPr>
          <a:xfrm>
            <a:off x="3276728" y="612915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830405" y="3947765"/>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3832498" y="374791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3" name="TextBox 222">
            <a:extLst>
              <a:ext uri="{FF2B5EF4-FFF2-40B4-BE49-F238E27FC236}">
                <a16:creationId xmlns:a16="http://schemas.microsoft.com/office/drawing/2014/main" id="{FFC49AEA-2A8F-250C-A86A-A7751D9706C3}"/>
              </a:ext>
            </a:extLst>
          </p:cNvPr>
          <p:cNvSpPr txBox="1"/>
          <p:nvPr/>
        </p:nvSpPr>
        <p:spPr>
          <a:xfrm>
            <a:off x="3919560" y="359412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45</a:t>
            </a:r>
            <a:r>
              <a:rPr lang="ko-KR" altLang="en-US" sz="700" dirty="0">
                <a:latin typeface="+mn-ea"/>
              </a:rPr>
              <a:t>일 이상 </a:t>
            </a:r>
            <a:r>
              <a:rPr lang="en-US" altLang="ko-KR" sz="700" dirty="0">
                <a:latin typeface="+mn-ea"/>
              </a:rPr>
              <a:t>60</a:t>
            </a:r>
            <a:r>
              <a:rPr lang="ko-KR" altLang="en-US" sz="700" dirty="0">
                <a:latin typeface="+mn-ea"/>
              </a:rPr>
              <a:t>일 미만</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3919560" y="379397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30</a:t>
            </a:r>
            <a:r>
              <a:rPr lang="ko-KR" altLang="en-US" sz="700" dirty="0">
                <a:latin typeface="+mn-ea"/>
              </a:rPr>
              <a:t>일 이상 </a:t>
            </a:r>
            <a:r>
              <a:rPr lang="en-US" altLang="ko-KR" sz="700" dirty="0">
                <a:latin typeface="+mn-ea"/>
              </a:rPr>
              <a:t>45</a:t>
            </a:r>
            <a:r>
              <a:rPr lang="ko-KR" altLang="en-US" sz="700" dirty="0">
                <a:latin typeface="+mn-ea"/>
              </a:rPr>
              <a:t>일 미만</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5671646" y="3591083"/>
            <a:ext cx="15549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226" name="TextBox 225">
            <a:extLst>
              <a:ext uri="{FF2B5EF4-FFF2-40B4-BE49-F238E27FC236}">
                <a16:creationId xmlns:a16="http://schemas.microsoft.com/office/drawing/2014/main" id="{FFC49AEA-2A8F-250C-A86A-A7751D9706C3}"/>
              </a:ext>
            </a:extLst>
          </p:cNvPr>
          <p:cNvSpPr txBox="1"/>
          <p:nvPr/>
        </p:nvSpPr>
        <p:spPr>
          <a:xfrm>
            <a:off x="5671646" y="3788282"/>
            <a:ext cx="15549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28" name="직선 연결선 227">
            <a:extLst>
              <a:ext uri="{FF2B5EF4-FFF2-40B4-BE49-F238E27FC236}">
                <a16:creationId xmlns:a16="http://schemas.microsoft.com/office/drawing/2014/main" id="{E9293055-D5CD-4B9E-7F64-64B2D2CA7A52}"/>
              </a:ext>
            </a:extLst>
          </p:cNvPr>
          <p:cNvCxnSpPr/>
          <p:nvPr/>
        </p:nvCxnSpPr>
        <p:spPr>
          <a:xfrm>
            <a:off x="3832498" y="414761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9" name="TextBox 228">
            <a:extLst>
              <a:ext uri="{FF2B5EF4-FFF2-40B4-BE49-F238E27FC236}">
                <a16:creationId xmlns:a16="http://schemas.microsoft.com/office/drawing/2014/main" id="{FFC49AEA-2A8F-250C-A86A-A7751D9706C3}"/>
              </a:ext>
            </a:extLst>
          </p:cNvPr>
          <p:cNvSpPr txBox="1"/>
          <p:nvPr/>
        </p:nvSpPr>
        <p:spPr>
          <a:xfrm>
            <a:off x="3919560" y="399382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이상 </a:t>
            </a:r>
            <a:r>
              <a:rPr lang="en-US" altLang="ko-KR" sz="700" dirty="0">
                <a:latin typeface="+mn-ea"/>
              </a:rPr>
              <a:t>30</a:t>
            </a:r>
            <a:r>
              <a:rPr lang="ko-KR" altLang="en-US" sz="700" dirty="0">
                <a:latin typeface="+mn-ea"/>
              </a:rPr>
              <a:t>일 미만</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3919560" y="419367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미만</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5671646" y="3992930"/>
            <a:ext cx="15549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32" name="TextBox 231">
            <a:extLst>
              <a:ext uri="{FF2B5EF4-FFF2-40B4-BE49-F238E27FC236}">
                <a16:creationId xmlns:a16="http://schemas.microsoft.com/office/drawing/2014/main" id="{FFC49AEA-2A8F-250C-A86A-A7751D9706C3}"/>
              </a:ext>
            </a:extLst>
          </p:cNvPr>
          <p:cNvSpPr txBox="1"/>
          <p:nvPr/>
        </p:nvSpPr>
        <p:spPr>
          <a:xfrm>
            <a:off x="5621953" y="4190129"/>
            <a:ext cx="205185"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cxnSp>
        <p:nvCxnSpPr>
          <p:cNvPr id="236" name="직선 연결선 235">
            <a:extLst>
              <a:ext uri="{FF2B5EF4-FFF2-40B4-BE49-F238E27FC236}">
                <a16:creationId xmlns:a16="http://schemas.microsoft.com/office/drawing/2014/main" id="{E9293055-D5CD-4B9E-7F64-64B2D2CA7A52}"/>
              </a:ext>
            </a:extLst>
          </p:cNvPr>
          <p:cNvCxnSpPr/>
          <p:nvPr/>
        </p:nvCxnSpPr>
        <p:spPr>
          <a:xfrm>
            <a:off x="3789889" y="467309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7" name="TextBox 236">
            <a:extLst>
              <a:ext uri="{FF2B5EF4-FFF2-40B4-BE49-F238E27FC236}">
                <a16:creationId xmlns:a16="http://schemas.microsoft.com/office/drawing/2014/main" id="{FFC49AEA-2A8F-250C-A86A-A7751D9706C3}"/>
              </a:ext>
            </a:extLst>
          </p:cNvPr>
          <p:cNvSpPr txBox="1"/>
          <p:nvPr/>
        </p:nvSpPr>
        <p:spPr>
          <a:xfrm>
            <a:off x="3876635" y="4393427"/>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단</a:t>
            </a:r>
            <a:r>
              <a:rPr lang="en-US" altLang="ko-KR" sz="700" dirty="0">
                <a:latin typeface="+mn-ea"/>
              </a:rPr>
              <a:t>, </a:t>
            </a:r>
            <a:r>
              <a:rPr lang="ko-KR" altLang="en-US" sz="700" dirty="0">
                <a:latin typeface="+mn-ea"/>
              </a:rPr>
              <a:t>여러 건의 </a:t>
            </a:r>
            <a:r>
              <a:rPr lang="ko-KR" altLang="en-US" sz="700" dirty="0" err="1">
                <a:latin typeface="+mn-ea"/>
              </a:rPr>
              <a:t>지체상금이</a:t>
            </a:r>
            <a:r>
              <a:rPr lang="ko-KR" altLang="en-US" sz="700" dirty="0">
                <a:latin typeface="+mn-ea"/>
              </a:rPr>
              <a:t> 중복 부과된 경우의</a:t>
            </a:r>
            <a:endParaRPr lang="en-US" altLang="ko-KR" sz="700" dirty="0">
              <a:latin typeface="+mn-ea"/>
            </a:endParaRPr>
          </a:p>
          <a:p>
            <a:pPr lvl="0" algn="ctr" defTabSz="1013612">
              <a:defRPr/>
            </a:pPr>
            <a:r>
              <a:rPr lang="ko-KR" altLang="en-US" sz="700" dirty="0" err="1">
                <a:latin typeface="+mn-ea"/>
              </a:rPr>
              <a:t>지체일수</a:t>
            </a:r>
            <a:r>
              <a:rPr lang="ko-KR" altLang="en-US" sz="700" dirty="0">
                <a:latin typeface="+mn-ea"/>
              </a:rPr>
              <a:t> 계산은 합산한 기간으로 한다</a:t>
            </a:r>
            <a:r>
              <a:rPr lang="en-US" altLang="ko-KR" sz="700" dirty="0">
                <a:latin typeface="+mn-ea"/>
              </a:rPr>
              <a:t>.</a:t>
            </a:r>
          </a:p>
        </p:txBody>
      </p:sp>
      <p:sp>
        <p:nvSpPr>
          <p:cNvPr id="238" name="TextBox 237">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96" name="타원 9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76708283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176</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008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err="1">
                          <a:latin typeface="+mn-ea"/>
                          <a:ea typeface="+mn-ea"/>
                        </a:rPr>
                        <a:t>당해물품납품이행능력</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당해물품납품이행능력</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r h="0">
                <a:tc>
                  <a:txBody>
                    <a:bodyPr/>
                    <a:lstStyle/>
                    <a:p>
                      <a:pPr latinLnBrk="1"/>
                      <a:r>
                        <a:rPr lang="ko-KR" altLang="en-US" sz="800" dirty="0">
                          <a:latin typeface="+mn-ea"/>
                          <a:ea typeface="+mn-ea"/>
                        </a:rPr>
                        <a:t>신인도 심사평점 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250776"/>
                  </a:ext>
                </a:extLst>
              </a:tr>
              <a:tr h="0">
                <a:tc>
                  <a:txBody>
                    <a:bodyPr/>
                    <a:lstStyle/>
                    <a:p>
                      <a:pPr latinLnBrk="1"/>
                      <a:r>
                        <a:rPr lang="ko-KR" altLang="en-US" sz="800" dirty="0">
                          <a:latin typeface="+mn-ea"/>
                          <a:ea typeface="+mn-ea"/>
                        </a:rPr>
                        <a:t>기술 및 디자인 인증보유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 및 디자인 인증보유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37816"/>
                  </a:ext>
                </a:extLst>
              </a:tr>
              <a:tr h="0">
                <a:tc>
                  <a:txBody>
                    <a:bodyPr/>
                    <a:lstStyle/>
                    <a:p>
                      <a:pPr latinLnBrk="1"/>
                      <a:r>
                        <a:rPr lang="ko-KR" altLang="en-US" sz="800" dirty="0">
                          <a:latin typeface="+mn-ea"/>
                          <a:ea typeface="+mn-ea"/>
                        </a:rPr>
                        <a:t>품질보증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품질보증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환경관리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환경관리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사후관리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사후관리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r h="0">
                <a:tc>
                  <a:txBody>
                    <a:bodyPr/>
                    <a:lstStyle/>
                    <a:p>
                      <a:pPr latinLnBrk="1"/>
                      <a:r>
                        <a:rPr lang="ko-KR" altLang="en-US" sz="800" dirty="0">
                          <a:latin typeface="+mn-ea"/>
                          <a:ea typeface="+mn-ea"/>
                        </a:rPr>
                        <a:t>영세기업 지원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영세기업 지원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3229525"/>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5823915"/>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5026696"/>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4112855"/>
            <a:ext cx="2961314"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err="1">
                <a:solidFill>
                  <a:prstClr val="black"/>
                </a:solidFill>
              </a:rPr>
              <a:t>당해물품납품이행능력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4396609"/>
          <a:ext cx="8994883" cy="703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신용평가등급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신용평가등급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신용평가등급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신용평가등급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5" name="TextBox 4">
            <a:extLst>
              <a:ext uri="{FF2B5EF4-FFF2-40B4-BE49-F238E27FC236}">
                <a16:creationId xmlns:a16="http://schemas.microsoft.com/office/drawing/2014/main" id="{6D947E84-6084-15F8-26CB-99F0F0FA6507}"/>
              </a:ext>
            </a:extLst>
          </p:cNvPr>
          <p:cNvSpPr txBox="1"/>
          <p:nvPr/>
        </p:nvSpPr>
        <p:spPr>
          <a:xfrm>
            <a:off x="465794" y="5162967"/>
            <a:ext cx="2810632"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입찰가격 산출 내역</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ED0EAE2-A020-1A3E-9D07-8A45456FE1AC}"/>
              </a:ext>
            </a:extLst>
          </p:cNvPr>
          <p:cNvGraphicFramePr>
            <a:graphicFrameLocks noGrp="1"/>
          </p:cNvGraphicFramePr>
          <p:nvPr/>
        </p:nvGraphicFramePr>
        <p:xfrm>
          <a:off x="460676" y="5439101"/>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5057242"/>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38184506"/>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9" name="TextBox 8">
            <a:extLst>
              <a:ext uri="{FF2B5EF4-FFF2-40B4-BE49-F238E27FC236}">
                <a16:creationId xmlns:a16="http://schemas.microsoft.com/office/drawing/2014/main" id="{1FAF1FB3-E4F7-0868-1F03-AFF1173675D9}"/>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10" name="Text Box 73">
            <a:extLst>
              <a:ext uri="{FF2B5EF4-FFF2-40B4-BE49-F238E27FC236}">
                <a16:creationId xmlns:a16="http://schemas.microsoft.com/office/drawing/2014/main" id="{11028B87-74C9-34EE-BBDD-A89B343C602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68183222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177</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695216"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신인도 산출 내역</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297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 및 디자인 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 및 디자인 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품질</a:t>
                      </a:r>
                      <a:r>
                        <a:rPr lang="en-US" altLang="ko-KR" sz="800" dirty="0">
                          <a:latin typeface="+mn-ea"/>
                          <a:ea typeface="+mn-ea"/>
                        </a:rPr>
                        <a:t>, </a:t>
                      </a:r>
                      <a:r>
                        <a:rPr lang="ko-KR" altLang="en-US" sz="800" dirty="0">
                          <a:latin typeface="+mn-ea"/>
                          <a:ea typeface="+mn-ea"/>
                        </a:rPr>
                        <a:t>규격 등에 대한 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a:t>
                      </a:r>
                      <a:r>
                        <a:rPr lang="en-US" altLang="ko-KR" sz="800" dirty="0">
                          <a:latin typeface="+mn-ea"/>
                          <a:ea typeface="+mn-ea"/>
                        </a:rPr>
                        <a:t>, </a:t>
                      </a:r>
                      <a:r>
                        <a:rPr lang="ko-KR" altLang="en-US" sz="800" dirty="0">
                          <a:latin typeface="+mn-ea"/>
                          <a:ea typeface="+mn-ea"/>
                        </a:rPr>
                        <a:t>규격 등에 대한 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환경오염 억제와 자원절약 기여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환경오염 억제와 자원절약 기여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사후관리에 필요한 조직 및 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사후관리에 필요한 조직 및 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r h="0">
                <a:tc>
                  <a:txBody>
                    <a:bodyPr/>
                    <a:lstStyle/>
                    <a:p>
                      <a:pPr latinLnBrk="1"/>
                      <a:r>
                        <a:rPr lang="ko-KR" altLang="en-US" sz="800" dirty="0">
                          <a:latin typeface="+mn-ea"/>
                          <a:ea typeface="+mn-ea"/>
                        </a:rPr>
                        <a:t>공동수급체 각각 출자</a:t>
                      </a:r>
                      <a:r>
                        <a:rPr lang="en-US" altLang="ko-KR" sz="800" dirty="0">
                          <a:latin typeface="+mn-ea"/>
                          <a:ea typeface="+mn-ea"/>
                        </a:rPr>
                        <a:t>(</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한 비율이 </a:t>
                      </a:r>
                      <a:r>
                        <a:rPr lang="en-US" altLang="ko-KR" sz="800" dirty="0">
                          <a:latin typeface="+mn-ea"/>
                          <a:ea typeface="+mn-ea"/>
                        </a:rPr>
                        <a:t>20% </a:t>
                      </a:r>
                      <a:r>
                        <a:rPr lang="ko-KR" altLang="en-US" sz="800" dirty="0">
                          <a:latin typeface="+mn-ea"/>
                          <a:ea typeface="+mn-ea"/>
                        </a:rPr>
                        <a:t>이상인 업체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공동수급체 각각 출자</a:t>
                      </a:r>
                      <a:r>
                        <a:rPr lang="en-US" altLang="ko-KR" sz="800" dirty="0">
                          <a:latin typeface="+mn-ea"/>
                          <a:ea typeface="+mn-ea"/>
                        </a:rPr>
                        <a:t>(</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한 비율이 </a:t>
                      </a:r>
                      <a:r>
                        <a:rPr lang="en-US" altLang="ko-KR" sz="800" dirty="0">
                          <a:latin typeface="+mn-ea"/>
                          <a:ea typeface="+mn-ea"/>
                        </a:rPr>
                        <a:t>20% </a:t>
                      </a:r>
                      <a:r>
                        <a:rPr lang="ko-KR" altLang="en-US" sz="800" dirty="0">
                          <a:latin typeface="+mn-ea"/>
                          <a:ea typeface="+mn-ea"/>
                        </a:rPr>
                        <a:t>이상인 업체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250776"/>
                  </a:ext>
                </a:extLst>
              </a:tr>
              <a:tr h="0">
                <a:tc>
                  <a:txBody>
                    <a:bodyPr/>
                    <a:lstStyle/>
                    <a:p>
                      <a:pPr latinLnBrk="1"/>
                      <a:r>
                        <a:rPr lang="ko-KR" altLang="en-US" sz="800" dirty="0">
                          <a:latin typeface="+mn-ea"/>
                          <a:ea typeface="+mn-ea"/>
                        </a:rPr>
                        <a:t>소기업 출자</a:t>
                      </a:r>
                      <a:r>
                        <a:rPr lang="en-US" altLang="ko-KR" sz="800" dirty="0">
                          <a:latin typeface="+mn-ea"/>
                          <a:ea typeface="+mn-ea"/>
                        </a:rPr>
                        <a:t>(</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비율 심사평점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출자</a:t>
                      </a:r>
                      <a:r>
                        <a:rPr lang="en-US" altLang="ko-KR" sz="800" dirty="0">
                          <a:latin typeface="+mn-ea"/>
                          <a:ea typeface="+mn-ea"/>
                        </a:rPr>
                        <a:t>(</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비율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37816"/>
                  </a:ext>
                </a:extLst>
              </a:tr>
              <a:tr h="0">
                <a:tc>
                  <a:txBody>
                    <a:bodyPr/>
                    <a:lstStyle/>
                    <a:p>
                      <a:pPr latinLnBrk="1"/>
                      <a:r>
                        <a:rPr lang="ko-KR" altLang="en-US" sz="800" dirty="0">
                          <a:latin typeface="+mn-ea"/>
                          <a:ea typeface="+mn-ea"/>
                        </a:rPr>
                        <a:t>지역업체 출자</a:t>
                      </a:r>
                      <a:r>
                        <a:rPr lang="en-US" altLang="ko-KR" sz="800" dirty="0">
                          <a:latin typeface="+mn-ea"/>
                          <a:ea typeface="+mn-ea"/>
                        </a:rPr>
                        <a:t>(</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비율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rgnBzentyInvstExmgrdScr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지역업체 출자</a:t>
                      </a:r>
                      <a:r>
                        <a:rPr lang="en-US" altLang="ko-KR" sz="800" dirty="0">
                          <a:latin typeface="+mn-ea"/>
                          <a:ea typeface="+mn-ea"/>
                        </a:rPr>
                        <a:t>(</a:t>
                      </a:r>
                      <a:r>
                        <a:rPr lang="ko-KR" altLang="en-US" sz="800" dirty="0">
                          <a:latin typeface="+mn-ea"/>
                          <a:ea typeface="+mn-ea"/>
                        </a:rPr>
                        <a:t>분담</a:t>
                      </a:r>
                      <a:r>
                        <a:rPr lang="en-US" altLang="ko-KR" sz="800" dirty="0">
                          <a:latin typeface="+mn-ea"/>
                          <a:ea typeface="+mn-ea"/>
                        </a:rPr>
                        <a:t>)</a:t>
                      </a:r>
                      <a:r>
                        <a:rPr lang="ko-KR" altLang="en-US" sz="800" dirty="0">
                          <a:latin typeface="+mn-ea"/>
                          <a:ea typeface="+mn-ea"/>
                        </a:rPr>
                        <a:t>비율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소기업 또는 소상공인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또는 소상공인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행정용품 우수품질인증</a:t>
                      </a:r>
                      <a:r>
                        <a:rPr lang="en-US" altLang="ko-KR" sz="800" dirty="0">
                          <a:latin typeface="+mn-ea"/>
                          <a:ea typeface="+mn-ea"/>
                        </a:rPr>
                        <a:t>(</a:t>
                      </a:r>
                      <a:r>
                        <a:rPr lang="ko-KR" altLang="en-US" sz="800" dirty="0">
                          <a:latin typeface="+mn-ea"/>
                          <a:ea typeface="+mn-ea"/>
                        </a:rPr>
                        <a:t>조달청중앙보급창</a:t>
                      </a:r>
                      <a:r>
                        <a:rPr lang="en-US" altLang="ko-KR" sz="800" dirty="0">
                          <a:latin typeface="+mn-ea"/>
                          <a:ea typeface="+mn-ea"/>
                        </a:rPr>
                        <a:t>) </a:t>
                      </a:r>
                      <a:r>
                        <a:rPr lang="ko-KR" altLang="en-US" sz="800" dirty="0">
                          <a:latin typeface="+mn-ea"/>
                          <a:ea typeface="+mn-ea"/>
                        </a:rPr>
                        <a:t>소지자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행정용품 우수품질인증</a:t>
                      </a:r>
                      <a:r>
                        <a:rPr lang="en-US" altLang="ko-KR" sz="800" dirty="0">
                          <a:latin typeface="+mn-ea"/>
                          <a:ea typeface="+mn-ea"/>
                        </a:rPr>
                        <a:t>(</a:t>
                      </a:r>
                      <a:r>
                        <a:rPr lang="ko-KR" altLang="en-US" sz="800" dirty="0">
                          <a:latin typeface="+mn-ea"/>
                          <a:ea typeface="+mn-ea"/>
                        </a:rPr>
                        <a:t>조달청중앙보급창</a:t>
                      </a:r>
                      <a:r>
                        <a:rPr lang="en-US" altLang="ko-KR" sz="800" dirty="0">
                          <a:latin typeface="+mn-ea"/>
                          <a:ea typeface="+mn-ea"/>
                        </a:rPr>
                        <a:t>) </a:t>
                      </a:r>
                      <a:r>
                        <a:rPr lang="ko-KR" altLang="en-US" sz="800" dirty="0">
                          <a:latin typeface="+mn-ea"/>
                          <a:ea typeface="+mn-ea"/>
                        </a:rPr>
                        <a:t>소지자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r h="0">
                <a:tc>
                  <a:txBody>
                    <a:bodyPr/>
                    <a:lstStyle/>
                    <a:p>
                      <a:pPr latinLnBrk="1"/>
                      <a:r>
                        <a:rPr lang="ko-KR" altLang="en-US" sz="800" dirty="0">
                          <a:latin typeface="+mn-ea"/>
                          <a:ea typeface="+mn-ea"/>
                        </a:rPr>
                        <a:t>여성기업지원 및 여성고용촉진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fmlSprtExmgrdScr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여성기업지원 및 여성고용촉진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3229525"/>
                  </a:ext>
                </a:extLst>
              </a:tr>
              <a:tr h="0">
                <a:tc>
                  <a:txBody>
                    <a:bodyPr/>
                    <a:lstStyle/>
                    <a:p>
                      <a:pPr latinLnBrk="1"/>
                      <a:r>
                        <a:rPr lang="ko-KR" altLang="en-US" sz="800" dirty="0">
                          <a:latin typeface="+mn-ea"/>
                          <a:ea typeface="+mn-ea"/>
                        </a:rPr>
                        <a:t>장애인기업 및 장애인고용 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pwdbsSprtExmgrdScr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장애인기업 및 장애인고용 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5823915"/>
                  </a:ext>
                </a:extLst>
              </a:tr>
              <a:tr h="0">
                <a:tc>
                  <a:txBody>
                    <a:bodyPr/>
                    <a:lstStyle/>
                    <a:p>
                      <a:pPr latinLnBrk="1"/>
                      <a:r>
                        <a:rPr lang="ko-KR" altLang="en-US" sz="800" dirty="0">
                          <a:latin typeface="+mn-ea"/>
                          <a:ea typeface="+mn-ea"/>
                        </a:rPr>
                        <a:t>신규채용 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신규채용 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5026696"/>
                  </a:ext>
                </a:extLst>
              </a:tr>
              <a:tr h="0">
                <a:tc>
                  <a:txBody>
                    <a:bodyPr/>
                    <a:lstStyle/>
                    <a:p>
                      <a:pPr latinLnBrk="1"/>
                      <a:r>
                        <a:rPr lang="ko-KR" altLang="en-US" sz="800" dirty="0">
                          <a:latin typeface="+mn-ea"/>
                          <a:ea typeface="+mn-ea"/>
                        </a:rPr>
                        <a:t>기술혁신 중소</a:t>
                      </a:r>
                      <a:r>
                        <a:rPr lang="en-US" altLang="ko-KR" sz="800" dirty="0">
                          <a:latin typeface="+mn-ea"/>
                          <a:ea typeface="+mn-ea"/>
                        </a:rPr>
                        <a:t>.</a:t>
                      </a:r>
                      <a:r>
                        <a:rPr lang="ko-KR" altLang="en-US" sz="800" dirty="0">
                          <a:latin typeface="+mn-ea"/>
                          <a:ea typeface="+mn-ea"/>
                        </a:rPr>
                        <a:t>벤처기업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기술혁신 중소</a:t>
                      </a:r>
                      <a:r>
                        <a:rPr lang="en-US" altLang="ko-KR" sz="800" dirty="0">
                          <a:latin typeface="+mn-ea"/>
                          <a:ea typeface="+mn-ea"/>
                        </a:rPr>
                        <a:t>.</a:t>
                      </a:r>
                      <a:r>
                        <a:rPr lang="ko-KR" altLang="en-US" sz="800" dirty="0">
                          <a:latin typeface="+mn-ea"/>
                          <a:ea typeface="+mn-ea"/>
                        </a:rPr>
                        <a:t>벤처기업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6507781"/>
                  </a:ext>
                </a:extLst>
              </a:tr>
              <a:tr h="0">
                <a:tc>
                  <a:txBody>
                    <a:bodyPr/>
                    <a:lstStyle/>
                    <a:p>
                      <a:pPr latinLnBrk="1"/>
                      <a:r>
                        <a:rPr lang="ko-KR" altLang="en-US" sz="800" dirty="0" err="1">
                          <a:latin typeface="+mn-ea"/>
                          <a:ea typeface="+mn-ea"/>
                        </a:rPr>
                        <a:t>신노사문화우수기업</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lbmgtCultrExmgrdScr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신노사문화우수기업</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2192422"/>
                  </a:ext>
                </a:extLst>
              </a:tr>
              <a:tr h="0">
                <a:tc>
                  <a:txBody>
                    <a:bodyPr/>
                    <a:lstStyle/>
                    <a:p>
                      <a:pPr latinLnBrk="1"/>
                      <a:r>
                        <a:rPr lang="ko-KR" altLang="en-US" sz="800" dirty="0" err="1">
                          <a:latin typeface="+mn-ea"/>
                          <a:ea typeface="+mn-ea"/>
                        </a:rPr>
                        <a:t>세계일류상품인증기업</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frclsGdsExmgrdScr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세계일류상품인증기업</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955780"/>
                  </a:ext>
                </a:extLst>
              </a:tr>
            </a:tbl>
          </a:graphicData>
        </a:graphic>
      </p:graphicFrame>
      <p:sp>
        <p:nvSpPr>
          <p:cNvPr id="2" name="TextBox 1">
            <a:extLst>
              <a:ext uri="{FF2B5EF4-FFF2-40B4-BE49-F238E27FC236}">
                <a16:creationId xmlns:a16="http://schemas.microsoft.com/office/drawing/2014/main" id="{4A406AE4-109F-44C9-528E-85576A2A870C}"/>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1DD3EDE2-5A46-E720-0C9E-82D9D41F767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01739308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178</a:t>
            </a:fld>
            <a:endParaRPr lang="ko-KR" altLang="en-US" dirty="0"/>
          </a:p>
        </p:txBody>
      </p:sp>
      <p:graphicFrame>
        <p:nvGraphicFramePr>
          <p:cNvPr id="2" name="표 1">
            <a:extLst>
              <a:ext uri="{FF2B5EF4-FFF2-40B4-BE49-F238E27FC236}">
                <a16:creationId xmlns:a16="http://schemas.microsoft.com/office/drawing/2014/main" id="{5D6CB316-6F69-7621-79B3-10A44D8BAE13}"/>
              </a:ext>
            </a:extLst>
          </p:cNvPr>
          <p:cNvGraphicFramePr>
            <a:graphicFrameLocks noGrp="1"/>
          </p:cNvGraphicFramePr>
          <p:nvPr/>
        </p:nvGraphicFramePr>
        <p:xfrm>
          <a:off x="452999" y="1014316"/>
          <a:ext cx="8994883" cy="1457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중소기업청장이 지정한 </a:t>
                      </a:r>
                      <a:r>
                        <a:rPr lang="ko-KR" altLang="en-US" sz="800" dirty="0" err="1">
                          <a:latin typeface="+mn-ea"/>
                          <a:ea typeface="+mn-ea"/>
                        </a:rPr>
                        <a:t>수출유망중소기업</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중소기업청장이 지정한 </a:t>
                      </a:r>
                      <a:r>
                        <a:rPr lang="ko-KR" altLang="en-US" sz="800" dirty="0" err="1">
                          <a:latin typeface="+mn-ea"/>
                          <a:ea typeface="+mn-ea"/>
                        </a:rPr>
                        <a:t>수출유망중소기업</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6612891"/>
                  </a:ext>
                </a:extLst>
              </a:tr>
              <a:tr h="0">
                <a:tc>
                  <a:txBody>
                    <a:bodyPr/>
                    <a:lstStyle/>
                    <a:p>
                      <a:pPr latinLnBrk="1"/>
                      <a:r>
                        <a:rPr lang="ko-KR" altLang="en-US" sz="800" dirty="0">
                          <a:latin typeface="+mn-ea"/>
                          <a:ea typeface="+mn-ea"/>
                        </a:rPr>
                        <a:t>모범성실납세자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모범성실납세자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0589904"/>
                  </a:ext>
                </a:extLst>
              </a:tr>
              <a:tr h="0">
                <a:tc>
                  <a:txBody>
                    <a:bodyPr/>
                    <a:lstStyle/>
                    <a:p>
                      <a:pPr latinLnBrk="1"/>
                      <a:r>
                        <a:rPr lang="ko-KR" altLang="en-US" sz="800" dirty="0" err="1">
                          <a:latin typeface="+mn-ea"/>
                          <a:ea typeface="+mn-ea"/>
                        </a:rPr>
                        <a:t>비상대비중점관리</a:t>
                      </a:r>
                      <a:r>
                        <a:rPr lang="ko-KR" altLang="en-US" sz="800" dirty="0">
                          <a:latin typeface="+mn-ea"/>
                          <a:ea typeface="+mn-ea"/>
                        </a:rPr>
                        <a:t> 대상업체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비상대비중점관리</a:t>
                      </a:r>
                      <a:r>
                        <a:rPr lang="ko-KR" altLang="en-US" sz="800" dirty="0">
                          <a:latin typeface="+mn-ea"/>
                          <a:ea typeface="+mn-ea"/>
                        </a:rPr>
                        <a:t> 대상업체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3519588"/>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5752466"/>
                  </a:ext>
                </a:extLst>
              </a:tr>
            </a:tbl>
          </a:graphicData>
        </a:graphic>
      </p:graphicFrame>
      <p:sp>
        <p:nvSpPr>
          <p:cNvPr id="6" name="TextBox 5">
            <a:extLst>
              <a:ext uri="{FF2B5EF4-FFF2-40B4-BE49-F238E27FC236}">
                <a16:creationId xmlns:a16="http://schemas.microsoft.com/office/drawing/2014/main" id="{88D722F3-F47E-1E84-AAD5-78FB1033B7A8}"/>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7" name="Text Box 73">
            <a:extLst>
              <a:ext uri="{FF2B5EF4-FFF2-40B4-BE49-F238E27FC236}">
                <a16:creationId xmlns:a16="http://schemas.microsoft.com/office/drawing/2014/main" id="{633AB7A8-6FF8-E19A-5FB5-8D50715F869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91207822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179</a:t>
            </a:fld>
            <a:endParaRPr lang="ko-KR" altLang="en-US" dirty="0"/>
          </a:p>
        </p:txBody>
      </p:sp>
      <p:sp>
        <p:nvSpPr>
          <p:cNvPr id="4" name="TextBox 3">
            <a:extLst>
              <a:ext uri="{FF2B5EF4-FFF2-40B4-BE49-F238E27FC236}">
                <a16:creationId xmlns:a16="http://schemas.microsoft.com/office/drawing/2014/main" id="{98AFBB7F-8F35-89FD-C1FD-182D84BCEDE9}"/>
              </a:ext>
            </a:extLst>
          </p:cNvPr>
          <p:cNvSpPr txBox="1"/>
          <p:nvPr/>
        </p:nvSpPr>
        <p:spPr>
          <a:xfrm>
            <a:off x="459613" y="751519"/>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5" name="표 4">
            <a:extLst>
              <a:ext uri="{FF2B5EF4-FFF2-40B4-BE49-F238E27FC236}">
                <a16:creationId xmlns:a16="http://schemas.microsoft.com/office/drawing/2014/main" id="{D97AAD46-6BB7-4752-2D87-11D121746F0E}"/>
              </a:ext>
            </a:extLst>
          </p:cNvPr>
          <p:cNvGraphicFramePr>
            <a:graphicFrameLocks noGrp="1"/>
          </p:cNvGraphicFramePr>
          <p:nvPr>
            <p:extLst>
              <p:ext uri="{D42A27DB-BD31-4B8C-83A1-F6EECF244321}">
                <p14:modId xmlns:p14="http://schemas.microsoft.com/office/powerpoint/2010/main" val="707088676"/>
              </p:ext>
            </p:extLst>
          </p:nvPr>
        </p:nvGraphicFramePr>
        <p:xfrm>
          <a:off x="455204"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7" name="Text Box 73">
            <a:extLst>
              <a:ext uri="{FF2B5EF4-FFF2-40B4-BE49-F238E27FC236}">
                <a16:creationId xmlns:a16="http://schemas.microsoft.com/office/drawing/2014/main" id="{D036AF71-9184-F4D6-9F8D-3FA0EF4E2F1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6516422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억원미만물품제조일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28683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45</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가</a:t>
            </a:r>
            <a:r>
              <a:rPr lang="en-US" altLang="ko-KR" dirty="0"/>
              <a:t>)</a:t>
            </a:r>
            <a:r>
              <a:rPr lang="ko-KR" altLang="en-US" dirty="0" err="1"/>
              <a:t>당해물품</a:t>
            </a:r>
            <a:r>
              <a:rPr lang="ko-KR" altLang="en-US" dirty="0"/>
              <a:t> </a:t>
            </a:r>
            <a:r>
              <a:rPr lang="ko-KR" altLang="en-US" dirty="0" err="1"/>
              <a:t>납품이행</a:t>
            </a:r>
            <a:r>
              <a:rPr lang="ko-KR" altLang="en-US" dirty="0"/>
              <a:t> 능력</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3801111" y="30670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3828979" y="3596861"/>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16042" y="3596862"/>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5644084" y="3596862"/>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58</a:t>
            </a:r>
          </a:p>
        </p:txBody>
      </p:sp>
      <p:grpSp>
        <p:nvGrpSpPr>
          <p:cNvPr id="162" name="그룹 161"/>
          <p:cNvGrpSpPr/>
          <p:nvPr/>
        </p:nvGrpSpPr>
        <p:grpSpPr>
          <a:xfrm>
            <a:off x="3826887" y="3596862"/>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3887858" y="3109510"/>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나</a:t>
            </a:r>
            <a:r>
              <a:rPr lang="en-US" altLang="ko-KR" dirty="0"/>
              <a:t>)</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3887858" y="330974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064390" y="3596862"/>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887857" y="4100000"/>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평정산식참조</a:t>
            </a:r>
          </a:p>
        </p:txBody>
      </p:sp>
      <p:sp>
        <p:nvSpPr>
          <p:cNvPr id="110" name="직사각형 109"/>
          <p:cNvSpPr/>
          <p:nvPr/>
        </p:nvSpPr>
        <p:spPr>
          <a:xfrm>
            <a:off x="704609" y="5224495"/>
            <a:ext cx="1639886" cy="5563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1672" y="5224496"/>
            <a:ext cx="1570293" cy="18094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kumimoji="1" lang="en-US" altLang="ko-KR" sz="700" spc="-60" dirty="0">
              <a:solidFill>
                <a:srgbClr val="000000">
                  <a:lumMod val="65000"/>
                  <a:lumOff val="35000"/>
                </a:srgbClr>
              </a:solidFill>
              <a:latin typeface="Verdana" panose="020B0604030504040204" pitchFamily="34" charset="0"/>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2519714" y="522449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702517" y="522449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4610" y="54392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4610" y="57836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763488" y="493738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납품실적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2940084" y="522449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791672" y="5503711"/>
            <a:ext cx="1480199" cy="21544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계약목적물과 </a:t>
            </a:r>
            <a:r>
              <a:rPr lang="ko-KR" altLang="en-US" sz="700" dirty="0" err="1">
                <a:latin typeface="+mn-ea"/>
              </a:rPr>
              <a:t>동등이상</a:t>
            </a:r>
            <a:r>
              <a:rPr lang="ko-KR" altLang="en-US" sz="700" dirty="0">
                <a:latin typeface="+mn-ea"/>
              </a:rPr>
              <a:t> 물품</a:t>
            </a:r>
            <a:br>
              <a:rPr lang="ko-KR" altLang="en-US" sz="700" dirty="0">
                <a:latin typeface="+mn-ea"/>
              </a:rPr>
            </a:br>
            <a:r>
              <a:rPr lang="en-US" altLang="ko-KR" sz="700" dirty="0">
                <a:latin typeface="+mn-ea"/>
              </a:rPr>
              <a:t>2.</a:t>
            </a:r>
            <a:r>
              <a:rPr lang="ko-KR" altLang="en-US" sz="700" dirty="0">
                <a:latin typeface="+mn-ea"/>
              </a:rPr>
              <a:t>계약목적물과 </a:t>
            </a:r>
            <a:r>
              <a:rPr lang="ko-KR" altLang="en-US" sz="700" dirty="0" err="1">
                <a:latin typeface="+mn-ea"/>
              </a:rPr>
              <a:t>유사물품</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2599863" y="5557572"/>
            <a:ext cx="99387"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3262288" y="555757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6" name="직사각형 245"/>
          <p:cNvSpPr/>
          <p:nvPr/>
        </p:nvSpPr>
        <p:spPr>
          <a:xfrm>
            <a:off x="3828979" y="1784364"/>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7" name="TextBox 246">
            <a:extLst>
              <a:ext uri="{FF2B5EF4-FFF2-40B4-BE49-F238E27FC236}">
                <a16:creationId xmlns:a16="http://schemas.microsoft.com/office/drawing/2014/main" id="{FFC49AEA-2A8F-250C-A86A-A7751D9706C3}"/>
              </a:ext>
            </a:extLst>
          </p:cNvPr>
          <p:cNvSpPr txBox="1"/>
          <p:nvPr/>
        </p:nvSpPr>
        <p:spPr>
          <a:xfrm>
            <a:off x="3916042" y="1784365"/>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기술인력보유</a:t>
            </a:r>
            <a:endParaRPr lang="en-US" altLang="ko-KR" sz="700" dirty="0">
              <a:latin typeface="+mn-ea"/>
            </a:endParaRPr>
          </a:p>
        </p:txBody>
      </p:sp>
      <p:sp>
        <p:nvSpPr>
          <p:cNvPr id="248" name="TextBox 247">
            <a:extLst>
              <a:ext uri="{FF2B5EF4-FFF2-40B4-BE49-F238E27FC236}">
                <a16:creationId xmlns:a16="http://schemas.microsoft.com/office/drawing/2014/main" id="{FFC49AEA-2A8F-250C-A86A-A7751D9706C3}"/>
              </a:ext>
            </a:extLst>
          </p:cNvPr>
          <p:cNvSpPr txBox="1"/>
          <p:nvPr/>
        </p:nvSpPr>
        <p:spPr>
          <a:xfrm>
            <a:off x="5644084" y="1784365"/>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7</a:t>
            </a:r>
          </a:p>
        </p:txBody>
      </p:sp>
      <p:grpSp>
        <p:nvGrpSpPr>
          <p:cNvPr id="249" name="그룹 248"/>
          <p:cNvGrpSpPr/>
          <p:nvPr/>
        </p:nvGrpSpPr>
        <p:grpSpPr>
          <a:xfrm>
            <a:off x="3826887" y="1784365"/>
            <a:ext cx="2630093" cy="429480"/>
            <a:chOff x="701175" y="1835481"/>
            <a:chExt cx="2630093" cy="429480"/>
          </a:xfrm>
        </p:grpSpPr>
        <p:cxnSp>
          <p:nvCxnSpPr>
            <p:cNvPr id="250" name="직선 연결선 24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53" name="TextBox 252">
            <a:extLst>
              <a:ext uri="{FF2B5EF4-FFF2-40B4-BE49-F238E27FC236}">
                <a16:creationId xmlns:a16="http://schemas.microsoft.com/office/drawing/2014/main" id="{FFC49AEA-2A8F-250C-A86A-A7751D9706C3}"/>
              </a:ext>
            </a:extLst>
          </p:cNvPr>
          <p:cNvSpPr txBox="1"/>
          <p:nvPr/>
        </p:nvSpPr>
        <p:spPr>
          <a:xfrm>
            <a:off x="3887858" y="14972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err="1">
                <a:latin typeface="+mn-ea"/>
              </a:rPr>
              <a:t>기술실적</a:t>
            </a:r>
            <a:endParaRPr lang="ko-KR" altLang="en-US" sz="700" dirty="0">
              <a:latin typeface="+mn-ea"/>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6064390" y="1784365"/>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255" name="직사각형 254"/>
          <p:cNvSpPr/>
          <p:nvPr/>
        </p:nvSpPr>
        <p:spPr>
          <a:xfrm>
            <a:off x="3828979" y="257264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FFC49AEA-2A8F-250C-A86A-A7751D9706C3}"/>
              </a:ext>
            </a:extLst>
          </p:cNvPr>
          <p:cNvSpPr txBox="1"/>
          <p:nvPr/>
        </p:nvSpPr>
        <p:spPr>
          <a:xfrm>
            <a:off x="3916042" y="2572648"/>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신용평가등급에 의한 평가</a:t>
            </a:r>
          </a:p>
        </p:txBody>
      </p:sp>
      <p:sp>
        <p:nvSpPr>
          <p:cNvPr id="257" name="TextBox 256">
            <a:extLst>
              <a:ext uri="{FF2B5EF4-FFF2-40B4-BE49-F238E27FC236}">
                <a16:creationId xmlns:a16="http://schemas.microsoft.com/office/drawing/2014/main" id="{FFC49AEA-2A8F-250C-A86A-A7751D9706C3}"/>
              </a:ext>
            </a:extLst>
          </p:cNvPr>
          <p:cNvSpPr txBox="1"/>
          <p:nvPr/>
        </p:nvSpPr>
        <p:spPr>
          <a:xfrm>
            <a:off x="5644084" y="257264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25</a:t>
            </a:r>
          </a:p>
        </p:txBody>
      </p:sp>
      <p:grpSp>
        <p:nvGrpSpPr>
          <p:cNvPr id="258" name="그룹 257"/>
          <p:cNvGrpSpPr/>
          <p:nvPr/>
        </p:nvGrpSpPr>
        <p:grpSpPr>
          <a:xfrm>
            <a:off x="3826887" y="2572648"/>
            <a:ext cx="2630093" cy="429480"/>
            <a:chOff x="701175" y="1835481"/>
            <a:chExt cx="2630093" cy="429480"/>
          </a:xfrm>
        </p:grpSpPr>
        <p:cxnSp>
          <p:nvCxnSpPr>
            <p:cNvPr id="259" name="직선 연결선 25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0" name="직선 연결선 25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1" name="직선 연결선 26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62" name="TextBox 261">
            <a:extLst>
              <a:ext uri="{FF2B5EF4-FFF2-40B4-BE49-F238E27FC236}">
                <a16:creationId xmlns:a16="http://schemas.microsoft.com/office/drawing/2014/main" id="{FFC49AEA-2A8F-250C-A86A-A7751D9706C3}"/>
              </a:ext>
            </a:extLst>
          </p:cNvPr>
          <p:cNvSpPr txBox="1"/>
          <p:nvPr/>
        </p:nvSpPr>
        <p:spPr>
          <a:xfrm>
            <a:off x="3887858" y="228553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재무상태</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6064390" y="257264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264" name="직사각형 263"/>
          <p:cNvSpPr/>
          <p:nvPr/>
        </p:nvSpPr>
        <p:spPr>
          <a:xfrm>
            <a:off x="3823602" y="4914956"/>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3910665" y="4914957"/>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66" name="TextBox 265">
            <a:extLst>
              <a:ext uri="{FF2B5EF4-FFF2-40B4-BE49-F238E27FC236}">
                <a16:creationId xmlns:a16="http://schemas.microsoft.com/office/drawing/2014/main" id="{FFC49AEA-2A8F-250C-A86A-A7751D9706C3}"/>
              </a:ext>
            </a:extLst>
          </p:cNvPr>
          <p:cNvSpPr txBox="1"/>
          <p:nvPr/>
        </p:nvSpPr>
        <p:spPr>
          <a:xfrm>
            <a:off x="5638707" y="4914957"/>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1510" y="49149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3603" y="51296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23603" y="55575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3882481" y="4427605"/>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다</a:t>
            </a:r>
            <a:r>
              <a:rPr lang="en-US" altLang="ko-KR" dirty="0"/>
              <a:t>)</a:t>
            </a:r>
            <a:r>
              <a:rPr lang="ko-KR" altLang="en-US" dirty="0"/>
              <a:t>신인도</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3882481" y="462784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물품 </a:t>
            </a:r>
            <a:r>
              <a:rPr lang="ko-KR" altLang="en-US" sz="700" dirty="0" err="1">
                <a:latin typeface="+mn-ea"/>
              </a:rPr>
              <a:t>품질정도</a:t>
            </a:r>
            <a:endParaRPr lang="ko-KR" altLang="en-US" sz="700" dirty="0">
              <a:latin typeface="+mn-ea"/>
            </a:endParaRPr>
          </a:p>
        </p:txBody>
      </p:sp>
      <p:sp>
        <p:nvSpPr>
          <p:cNvPr id="273" name="TextBox 272">
            <a:extLst>
              <a:ext uri="{FF2B5EF4-FFF2-40B4-BE49-F238E27FC236}">
                <a16:creationId xmlns:a16="http://schemas.microsoft.com/office/drawing/2014/main" id="{FFC49AEA-2A8F-250C-A86A-A7751D9706C3}"/>
              </a:ext>
            </a:extLst>
          </p:cNvPr>
          <p:cNvSpPr txBox="1"/>
          <p:nvPr/>
        </p:nvSpPr>
        <p:spPr>
          <a:xfrm>
            <a:off x="6059077" y="491495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99" name="직선 연결선 298">
            <a:extLst>
              <a:ext uri="{FF2B5EF4-FFF2-40B4-BE49-F238E27FC236}">
                <a16:creationId xmlns:a16="http://schemas.microsoft.com/office/drawing/2014/main" id="{E9293055-D5CD-4B9E-7F64-64B2D2CA7A52}"/>
              </a:ext>
            </a:extLst>
          </p:cNvPr>
          <p:cNvCxnSpPr/>
          <p:nvPr/>
        </p:nvCxnSpPr>
        <p:spPr>
          <a:xfrm>
            <a:off x="3801111" y="43795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0" name="TextBox 299">
            <a:extLst>
              <a:ext uri="{FF2B5EF4-FFF2-40B4-BE49-F238E27FC236}">
                <a16:creationId xmlns:a16="http://schemas.microsoft.com/office/drawing/2014/main" id="{FFC49AEA-2A8F-250C-A86A-A7751D9706C3}"/>
              </a:ext>
            </a:extLst>
          </p:cNvPr>
          <p:cNvSpPr txBox="1"/>
          <p:nvPr/>
        </p:nvSpPr>
        <p:spPr>
          <a:xfrm>
            <a:off x="3910665" y="5182052"/>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품질관리</a:t>
            </a:r>
            <a:br>
              <a:rPr lang="ko-KR" altLang="en-US" sz="700" dirty="0">
                <a:latin typeface="+mn-ea"/>
              </a:rPr>
            </a:br>
            <a:r>
              <a:rPr lang="en-US" altLang="ko-KR" sz="700" dirty="0">
                <a:latin typeface="+mn-ea"/>
              </a:rPr>
              <a:t>2.</a:t>
            </a:r>
            <a:r>
              <a:rPr lang="ko-KR" altLang="en-US" sz="700" dirty="0">
                <a:latin typeface="+mn-ea"/>
              </a:rPr>
              <a:t>기술보유</a:t>
            </a:r>
            <a:br>
              <a:rPr lang="ko-KR" altLang="en-US" sz="700" dirty="0">
                <a:latin typeface="+mn-ea"/>
              </a:rPr>
            </a:br>
            <a:r>
              <a:rPr lang="en-US" altLang="ko-KR" sz="700" dirty="0">
                <a:latin typeface="+mn-ea"/>
              </a:rPr>
              <a:t>3.</a:t>
            </a:r>
            <a:r>
              <a:rPr lang="ko-KR" altLang="en-US" sz="700" dirty="0">
                <a:latin typeface="+mn-ea"/>
              </a:rPr>
              <a:t>환경관리</a:t>
            </a:r>
          </a:p>
        </p:txBody>
      </p:sp>
      <p:sp>
        <p:nvSpPr>
          <p:cNvPr id="301" name="TextBox 300">
            <a:extLst>
              <a:ext uri="{FF2B5EF4-FFF2-40B4-BE49-F238E27FC236}">
                <a16:creationId xmlns:a16="http://schemas.microsoft.com/office/drawing/2014/main" id="{FFC49AEA-2A8F-250C-A86A-A7751D9706C3}"/>
              </a:ext>
            </a:extLst>
          </p:cNvPr>
          <p:cNvSpPr txBox="1"/>
          <p:nvPr/>
        </p:nvSpPr>
        <p:spPr>
          <a:xfrm>
            <a:off x="5492833" y="5289773"/>
            <a:ext cx="325410" cy="107722"/>
          </a:xfrm>
          <a:prstGeom prst="rect">
            <a:avLst/>
          </a:prstGeom>
          <a:noFill/>
        </p:spPr>
        <p:txBody>
          <a:bodyPr wrap="none" lIns="0" tIns="0" rIns="0" bIns="0" rtlCol="0">
            <a:spAutoFit/>
          </a:bodyPr>
          <a:lstStyle/>
          <a:p>
            <a:pPr algn="r"/>
            <a:r>
              <a:rPr lang="en-US" altLang="ko-KR" sz="700" dirty="0">
                <a:latin typeface="+mn-ea"/>
              </a:rPr>
              <a:t>+3 ~ -3</a:t>
            </a:r>
            <a:endParaRPr lang="ko-KR" altLang="en-US" sz="700" dirty="0">
              <a:latin typeface="+mn-ea"/>
            </a:endParaRPr>
          </a:p>
        </p:txBody>
      </p:sp>
      <p:sp>
        <p:nvSpPr>
          <p:cNvPr id="302" name="TextBox 301">
            <a:extLst>
              <a:ext uri="{FF2B5EF4-FFF2-40B4-BE49-F238E27FC236}">
                <a16:creationId xmlns:a16="http://schemas.microsoft.com/office/drawing/2014/main" id="{FFC49AEA-2A8F-250C-A86A-A7751D9706C3}"/>
              </a:ext>
            </a:extLst>
          </p:cNvPr>
          <p:cNvSpPr txBox="1"/>
          <p:nvPr/>
        </p:nvSpPr>
        <p:spPr>
          <a:xfrm>
            <a:off x="6381281" y="528977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3" name="직사각형 302"/>
          <p:cNvSpPr/>
          <p:nvPr/>
        </p:nvSpPr>
        <p:spPr>
          <a:xfrm>
            <a:off x="3823602" y="5899174"/>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3910665" y="5899175"/>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5638707" y="589917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21510" y="589917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23603" y="61139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23603" y="65417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3882481" y="561206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310" name="TextBox 309">
            <a:extLst>
              <a:ext uri="{FF2B5EF4-FFF2-40B4-BE49-F238E27FC236}">
                <a16:creationId xmlns:a16="http://schemas.microsoft.com/office/drawing/2014/main" id="{FFC49AEA-2A8F-250C-A86A-A7751D9706C3}"/>
              </a:ext>
            </a:extLst>
          </p:cNvPr>
          <p:cNvSpPr txBox="1"/>
          <p:nvPr/>
        </p:nvSpPr>
        <p:spPr>
          <a:xfrm>
            <a:off x="6059077" y="589917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3910665" y="6166270"/>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하자발생</a:t>
            </a:r>
            <a:br>
              <a:rPr lang="ko-KR" altLang="en-US" sz="700" dirty="0">
                <a:latin typeface="+mn-ea"/>
              </a:rPr>
            </a:br>
            <a:r>
              <a:rPr lang="en-US" altLang="ko-KR" sz="700" dirty="0">
                <a:latin typeface="+mn-ea"/>
              </a:rPr>
              <a:t>2.</a:t>
            </a:r>
            <a:r>
              <a:rPr lang="ko-KR" altLang="en-US" sz="700" dirty="0" err="1">
                <a:latin typeface="+mn-ea"/>
              </a:rPr>
              <a:t>납품지연</a:t>
            </a:r>
            <a:r>
              <a:rPr lang="ko-KR" altLang="en-US" sz="700" dirty="0">
                <a:latin typeface="+mn-ea"/>
              </a:rPr>
              <a:t/>
            </a:r>
            <a:br>
              <a:rPr lang="ko-KR" altLang="en-US" sz="700" dirty="0">
                <a:latin typeface="+mn-ea"/>
              </a:rPr>
            </a:br>
            <a:r>
              <a:rPr lang="en-US" altLang="ko-KR" sz="700" dirty="0">
                <a:latin typeface="+mn-ea"/>
              </a:rPr>
              <a:t>3.</a:t>
            </a:r>
            <a:r>
              <a:rPr lang="ko-KR" altLang="en-US" sz="700" dirty="0">
                <a:latin typeface="+mn-ea"/>
              </a:rPr>
              <a:t>노사협력관계</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5492833" y="6273991"/>
            <a:ext cx="325410" cy="107722"/>
          </a:xfrm>
          <a:prstGeom prst="rect">
            <a:avLst/>
          </a:prstGeom>
          <a:noFill/>
        </p:spPr>
        <p:txBody>
          <a:bodyPr wrap="none" lIns="0" tIns="0" rIns="0" bIns="0" rtlCol="0">
            <a:spAutoFit/>
          </a:bodyPr>
          <a:lstStyle/>
          <a:p>
            <a:pPr algn="r"/>
            <a:r>
              <a:rPr lang="en-US" altLang="ko-KR" sz="700" dirty="0">
                <a:latin typeface="+mn-ea"/>
              </a:rPr>
              <a:t>+3 ~ -3</a:t>
            </a:r>
            <a:endParaRPr lang="ko-KR" altLang="en-US"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6381281" y="627399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0" name="타원 169">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60613182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억원미만물품제조일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303" name="직사각형 302"/>
          <p:cNvSpPr/>
          <p:nvPr/>
        </p:nvSpPr>
        <p:spPr>
          <a:xfrm>
            <a:off x="718458" y="1778282"/>
            <a:ext cx="1639886" cy="11661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805521" y="1778283"/>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2533563" y="1778283"/>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716366" y="177828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718459" y="19930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718459" y="29471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777337" y="149116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기타</a:t>
            </a:r>
          </a:p>
        </p:txBody>
      </p:sp>
      <p:sp>
        <p:nvSpPr>
          <p:cNvPr id="310" name="TextBox 309">
            <a:extLst>
              <a:ext uri="{FF2B5EF4-FFF2-40B4-BE49-F238E27FC236}">
                <a16:creationId xmlns:a16="http://schemas.microsoft.com/office/drawing/2014/main" id="{FFC49AEA-2A8F-250C-A86A-A7751D9706C3}"/>
              </a:ext>
            </a:extLst>
          </p:cNvPr>
          <p:cNvSpPr txBox="1"/>
          <p:nvPr/>
        </p:nvSpPr>
        <p:spPr>
          <a:xfrm>
            <a:off x="2953933" y="177828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805521" y="2039214"/>
            <a:ext cx="1480199" cy="86177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기술혁신여부</a:t>
            </a:r>
            <a:br>
              <a:rPr lang="ko-KR" altLang="en-US" sz="700" dirty="0">
                <a:latin typeface="+mn-ea"/>
              </a:rPr>
            </a:br>
            <a:r>
              <a:rPr lang="en-US" altLang="ko-KR" sz="700" dirty="0">
                <a:latin typeface="+mn-ea"/>
              </a:rPr>
              <a:t>2.</a:t>
            </a:r>
            <a:r>
              <a:rPr lang="ko-KR" altLang="en-US" sz="700" dirty="0">
                <a:latin typeface="+mn-ea"/>
              </a:rPr>
              <a:t>품질향상여부</a:t>
            </a:r>
            <a:br>
              <a:rPr lang="ko-KR" altLang="en-US" sz="700" dirty="0">
                <a:latin typeface="+mn-ea"/>
              </a:rPr>
            </a:br>
            <a:r>
              <a:rPr lang="en-US" altLang="ko-KR" sz="700" dirty="0">
                <a:latin typeface="+mn-ea"/>
              </a:rPr>
              <a:t>3.</a:t>
            </a:r>
            <a:r>
              <a:rPr lang="ko-KR" altLang="en-US" sz="700" dirty="0">
                <a:latin typeface="+mn-ea"/>
              </a:rPr>
              <a:t>성실납세여부</a:t>
            </a:r>
            <a:br>
              <a:rPr lang="ko-KR" altLang="en-US" sz="700" dirty="0">
                <a:latin typeface="+mn-ea"/>
              </a:rPr>
            </a:br>
            <a:r>
              <a:rPr lang="en-US" altLang="ko-KR" sz="700" dirty="0">
                <a:latin typeface="+mn-ea"/>
              </a:rPr>
              <a:t>4.</a:t>
            </a:r>
            <a:r>
              <a:rPr lang="ko-KR" altLang="en-US" sz="700" dirty="0">
                <a:latin typeface="+mn-ea"/>
              </a:rPr>
              <a:t>비상대비 </a:t>
            </a:r>
            <a:r>
              <a:rPr lang="ko-KR" altLang="en-US" sz="700" dirty="0" err="1">
                <a:latin typeface="+mn-ea"/>
              </a:rPr>
              <a:t>중점관대상</a:t>
            </a:r>
            <a:r>
              <a:rPr lang="ko-KR" altLang="en-US" sz="700" dirty="0">
                <a:latin typeface="+mn-ea"/>
              </a:rPr>
              <a:t/>
            </a:r>
            <a:br>
              <a:rPr lang="ko-KR" altLang="en-US" sz="700" dirty="0">
                <a:latin typeface="+mn-ea"/>
              </a:rPr>
            </a:br>
            <a:r>
              <a:rPr lang="en-US" altLang="ko-KR" sz="700" dirty="0">
                <a:latin typeface="+mn-ea"/>
              </a:rPr>
              <a:t>5.</a:t>
            </a:r>
            <a:r>
              <a:rPr lang="ko-KR" altLang="en-US" sz="700" dirty="0">
                <a:latin typeface="+mn-ea"/>
              </a:rPr>
              <a:t>가족친화 사회환경 조성 여부</a:t>
            </a:r>
            <a:br>
              <a:rPr lang="ko-KR" altLang="en-US" sz="700" dirty="0">
                <a:latin typeface="+mn-ea"/>
              </a:rPr>
            </a:br>
            <a:r>
              <a:rPr lang="en-US" altLang="ko-KR" sz="700" dirty="0">
                <a:latin typeface="+mn-ea"/>
              </a:rPr>
              <a:t>6.</a:t>
            </a:r>
            <a:r>
              <a:rPr lang="ko-KR" altLang="en-US" sz="700" dirty="0">
                <a:latin typeface="+mn-ea"/>
              </a:rPr>
              <a:t>고용창출 </a:t>
            </a:r>
            <a:r>
              <a:rPr lang="en-US" altLang="ko-KR" sz="700" dirty="0">
                <a:latin typeface="+mn-ea"/>
              </a:rPr>
              <a:t>100</a:t>
            </a:r>
            <a:r>
              <a:rPr lang="ko-KR" altLang="en-US" sz="700" dirty="0">
                <a:latin typeface="+mn-ea"/>
              </a:rPr>
              <a:t>대 우수기업여부</a:t>
            </a:r>
            <a:br>
              <a:rPr lang="ko-KR" altLang="en-US" sz="700" dirty="0">
                <a:latin typeface="+mn-ea"/>
              </a:rPr>
            </a:br>
            <a:r>
              <a:rPr lang="en-US" altLang="ko-KR" sz="700" dirty="0">
                <a:latin typeface="+mn-ea"/>
              </a:rPr>
              <a:t>7.</a:t>
            </a:r>
            <a:r>
              <a:rPr lang="ko-KR" altLang="en-US" sz="700" dirty="0">
                <a:latin typeface="+mn-ea"/>
              </a:rPr>
              <a:t>장애인고용 </a:t>
            </a:r>
            <a:r>
              <a:rPr lang="ko-KR" altLang="en-US" sz="700" dirty="0" err="1">
                <a:latin typeface="+mn-ea"/>
              </a:rPr>
              <a:t>우수사업주</a:t>
            </a:r>
            <a:r>
              <a:rPr lang="ko-KR" altLang="en-US" sz="700" dirty="0">
                <a:latin typeface="+mn-ea"/>
              </a:rPr>
              <a:t> 또는 장애인표준사업장 여부</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2387689" y="2416240"/>
            <a:ext cx="325410" cy="107722"/>
          </a:xfrm>
          <a:prstGeom prst="rect">
            <a:avLst/>
          </a:prstGeom>
          <a:noFill/>
        </p:spPr>
        <p:txBody>
          <a:bodyPr wrap="none" lIns="0" tIns="0" rIns="0" bIns="0" rtlCol="0">
            <a:spAutoFit/>
          </a:bodyPr>
          <a:lstStyle/>
          <a:p>
            <a:pPr algn="r"/>
            <a:r>
              <a:rPr lang="en-US" altLang="ko-KR" sz="700" dirty="0">
                <a:latin typeface="+mn-ea"/>
              </a:rPr>
              <a:t>+3 ~ -3</a:t>
            </a:r>
            <a:endParaRPr lang="ko-KR" altLang="en-US"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3276137" y="241624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0" name="직선 연결선 169">
            <a:extLst>
              <a:ext uri="{FF2B5EF4-FFF2-40B4-BE49-F238E27FC236}">
                <a16:creationId xmlns:a16="http://schemas.microsoft.com/office/drawing/2014/main" id="{E9293055-D5CD-4B9E-7F64-64B2D2CA7A52}"/>
              </a:ext>
            </a:extLst>
          </p:cNvPr>
          <p:cNvCxnSpPr/>
          <p:nvPr/>
        </p:nvCxnSpPr>
        <p:spPr>
          <a:xfrm>
            <a:off x="676741" y="336145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1" name="TextBox 170">
            <a:extLst>
              <a:ext uri="{FF2B5EF4-FFF2-40B4-BE49-F238E27FC236}">
                <a16:creationId xmlns:a16="http://schemas.microsoft.com/office/drawing/2014/main" id="{FFC49AEA-2A8F-250C-A86A-A7751D9706C3}"/>
              </a:ext>
            </a:extLst>
          </p:cNvPr>
          <p:cNvSpPr txBox="1"/>
          <p:nvPr/>
        </p:nvSpPr>
        <p:spPr>
          <a:xfrm>
            <a:off x="763487" y="2987781"/>
            <a:ext cx="2456097" cy="323165"/>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신인도 배점은 </a:t>
            </a:r>
            <a:r>
              <a:rPr lang="en-US" altLang="ko-KR" sz="700" dirty="0">
                <a:latin typeface="+mn-ea"/>
              </a:rPr>
              <a:t>1~3</a:t>
            </a:r>
            <a:r>
              <a:rPr lang="ko-KR" altLang="en-US" sz="700" dirty="0">
                <a:latin typeface="+mn-ea"/>
              </a:rPr>
              <a:t>번 항을 합하여</a:t>
            </a:r>
            <a:endParaRPr lang="en-US" altLang="ko-KR" sz="700" dirty="0">
              <a:latin typeface="+mn-ea"/>
            </a:endParaRPr>
          </a:p>
          <a:p>
            <a:pPr lvl="0" algn="ctr" defTabSz="1013612">
              <a:defRPr/>
            </a:pPr>
            <a:r>
              <a:rPr lang="en-US" altLang="ko-KR" sz="700" dirty="0">
                <a:latin typeface="+mn-ea"/>
              </a:rPr>
              <a:t>+3 ~ -3</a:t>
            </a:r>
            <a:r>
              <a:rPr lang="ko-KR" altLang="en-US" sz="700" dirty="0">
                <a:latin typeface="+mn-ea"/>
              </a:rPr>
              <a:t>의 사이 값이 </a:t>
            </a:r>
            <a:r>
              <a:rPr lang="ko-KR" altLang="en-US" sz="700" dirty="0" err="1">
                <a:latin typeface="+mn-ea"/>
              </a:rPr>
              <a:t>배점됩니다</a:t>
            </a:r>
            <a:r>
              <a:rPr lang="en-US" altLang="ko-KR" sz="700" dirty="0">
                <a:latin typeface="+mn-ea"/>
              </a:rPr>
              <a:t>.</a:t>
            </a:r>
            <a:endParaRPr lang="ko-KR" altLang="en-US" sz="700" dirty="0">
              <a:latin typeface="+mn-ea"/>
            </a:endParaRPr>
          </a:p>
        </p:txBody>
      </p:sp>
      <p:sp>
        <p:nvSpPr>
          <p:cNvPr id="173" name="직사각형 172"/>
          <p:cNvSpPr/>
          <p:nvPr/>
        </p:nvSpPr>
        <p:spPr>
          <a:xfrm>
            <a:off x="704608" y="3894038"/>
            <a:ext cx="1639886" cy="123165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791671" y="3894039"/>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19713" y="389403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701911" y="389403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4004" y="41087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4004" y="51302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763487" y="3406687"/>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라</a:t>
            </a:r>
            <a:r>
              <a:rPr lang="en-US" altLang="ko-KR" dirty="0"/>
              <a:t>)</a:t>
            </a:r>
            <a:r>
              <a:rPr lang="ko-KR" altLang="en-US" dirty="0"/>
              <a:t>결격사유</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763487" y="360692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a:t>
            </a:r>
            <a:r>
              <a:rPr lang="ko-KR" altLang="en-US" sz="700" dirty="0" err="1">
                <a:latin typeface="+mn-ea"/>
              </a:rPr>
              <a:t>납품이행</a:t>
            </a:r>
            <a:r>
              <a:rPr lang="ko-KR" altLang="en-US" sz="700" dirty="0">
                <a:latin typeface="+mn-ea"/>
              </a:rPr>
              <a:t> 능력 결격 여부</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940083" y="389403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6740" y="520318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5521" y="4175627"/>
            <a:ext cx="1480199" cy="538609"/>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현재 부도상태에 있거나</a:t>
            </a:r>
            <a:r>
              <a:rPr lang="en-US" altLang="ko-KR" sz="700" dirty="0">
                <a:latin typeface="+mn-ea"/>
              </a:rPr>
              <a:t>, </a:t>
            </a:r>
            <a:r>
              <a:rPr lang="ko-KR" altLang="en-US" sz="700" dirty="0">
                <a:latin typeface="+mn-ea"/>
              </a:rPr>
              <a:t>부도 또는 </a:t>
            </a:r>
            <a:r>
              <a:rPr lang="ko-KR" altLang="en-US" sz="700" dirty="0" err="1">
                <a:latin typeface="+mn-ea"/>
              </a:rPr>
              <a:t>파산우려가</a:t>
            </a:r>
            <a:r>
              <a:rPr lang="ko-KR" altLang="en-US" sz="700" dirty="0">
                <a:latin typeface="+mn-ea"/>
              </a:rPr>
              <a:t> 있어 당해계약이행이 어렵다고 판단되는 경우</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판정을 받은 경우는 제외</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2576843" y="4391070"/>
            <a:ext cx="13625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endParaRPr lang="ko-KR" altLang="en-US" dirty="0"/>
          </a:p>
        </p:txBody>
      </p:sp>
      <p:sp>
        <p:nvSpPr>
          <p:cNvPr id="187" name="TextBox 186">
            <a:extLst>
              <a:ext uri="{FF2B5EF4-FFF2-40B4-BE49-F238E27FC236}">
                <a16:creationId xmlns:a16="http://schemas.microsoft.com/office/drawing/2014/main" id="{FFC49AEA-2A8F-250C-A86A-A7751D9706C3}"/>
              </a:ext>
            </a:extLst>
          </p:cNvPr>
          <p:cNvSpPr txBox="1"/>
          <p:nvPr/>
        </p:nvSpPr>
        <p:spPr>
          <a:xfrm>
            <a:off x="3276137" y="456564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19050" y="4781086"/>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805521" y="4847936"/>
            <a:ext cx="1480199" cy="215444"/>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생산능력 부족으로 당해 계약 이행이 어렵다고 판단되는 경우</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2576843" y="4901797"/>
            <a:ext cx="136256"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883823" y="152799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가</a:t>
            </a:r>
            <a:r>
              <a:rPr lang="en-US" altLang="ko-KR" sz="700" dirty="0">
                <a:latin typeface="+mn-ea"/>
              </a:rPr>
              <a:t>)</a:t>
            </a:r>
            <a:r>
              <a:rPr lang="ko-KR" altLang="en-US" sz="700" dirty="0" err="1">
                <a:latin typeface="+mn-ea"/>
              </a:rPr>
              <a:t>당해물품납품이행</a:t>
            </a:r>
            <a:endParaRPr lang="en-US" altLang="ko-KR" sz="700" dirty="0">
              <a:latin typeface="+mn-ea"/>
            </a:endParaRPr>
          </a:p>
        </p:txBody>
      </p:sp>
      <p:grpSp>
        <p:nvGrpSpPr>
          <p:cNvPr id="209" name="그룹 208"/>
          <p:cNvGrpSpPr/>
          <p:nvPr/>
        </p:nvGrpSpPr>
        <p:grpSpPr>
          <a:xfrm flipV="1">
            <a:off x="6245910" y="1641327"/>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7076"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3910665" y="1864633"/>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 </a:t>
            </a:r>
            <a:r>
              <a:rPr lang="ko-KR" altLang="en-US" dirty="0"/>
              <a:t>납품실적</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910665" y="206487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4435522" y="2138158"/>
            <a:ext cx="2010812" cy="215444"/>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최근 </a:t>
            </a:r>
            <a:r>
              <a:rPr lang="en-US" altLang="ko-KR" sz="700" dirty="0">
                <a:latin typeface="+mn-ea"/>
              </a:rPr>
              <a:t>3</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3910665" y="237226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4435522" y="2445550"/>
            <a:ext cx="2010812" cy="215444"/>
          </a:xfrm>
          <a:prstGeom prst="rect">
            <a:avLst/>
          </a:prstGeom>
          <a:noFill/>
        </p:spPr>
        <p:txBody>
          <a:bodyPr wrap="square" lIns="0" tIns="0" rIns="0" bIns="0" rtlCol="0">
            <a:spAutoFit/>
          </a:bodyPr>
          <a:lstStyle/>
          <a:p>
            <a:r>
              <a:rPr lang="ko-KR" altLang="en-US" sz="700" dirty="0">
                <a:latin typeface="+mn-ea"/>
              </a:rPr>
              <a:t>금액  </a:t>
            </a:r>
            <a:r>
              <a:rPr lang="en-US" altLang="ko-KR" sz="700" dirty="0">
                <a:latin typeface="+mn-ea"/>
              </a:rPr>
              <a:t>(</a:t>
            </a:r>
            <a:r>
              <a:rPr lang="ko-KR" altLang="en-US" sz="700" dirty="0">
                <a:latin typeface="+mn-ea"/>
              </a:rPr>
              <a:t>납품가격 </a:t>
            </a:r>
            <a:r>
              <a:rPr lang="en-US" altLang="ko-KR" sz="700" dirty="0">
                <a:latin typeface="+mn-ea"/>
              </a:rPr>
              <a:t>/ </a:t>
            </a:r>
            <a:r>
              <a:rPr lang="ko-KR" altLang="en-US" sz="700" dirty="0">
                <a:latin typeface="+mn-ea"/>
              </a:rPr>
              <a:t>예정가격</a:t>
            </a:r>
            <a:r>
              <a:rPr lang="en-US" altLang="ko-KR" sz="700" dirty="0">
                <a:latin typeface="+mn-ea"/>
              </a:rPr>
              <a:t>)</a:t>
            </a:r>
          </a:p>
          <a:p>
            <a:r>
              <a:rPr lang="ko-KR" altLang="en-US" sz="700" dirty="0">
                <a:latin typeface="+mn-ea"/>
              </a:rPr>
              <a:t>수량  </a:t>
            </a:r>
            <a:r>
              <a:rPr lang="en-US" altLang="ko-KR" sz="700" dirty="0">
                <a:latin typeface="+mn-ea"/>
              </a:rPr>
              <a:t>(</a:t>
            </a:r>
            <a:r>
              <a:rPr lang="ko-KR" altLang="en-US" sz="700" dirty="0" err="1">
                <a:latin typeface="+mn-ea"/>
              </a:rPr>
              <a:t>납품수량</a:t>
            </a:r>
            <a:r>
              <a:rPr lang="ko-KR" altLang="en-US" sz="700" dirty="0">
                <a:latin typeface="+mn-ea"/>
              </a:rPr>
              <a:t> </a:t>
            </a:r>
            <a:r>
              <a:rPr lang="en-US" altLang="ko-KR" sz="700" dirty="0">
                <a:latin typeface="+mn-ea"/>
              </a:rPr>
              <a:t>/ </a:t>
            </a:r>
            <a:r>
              <a:rPr lang="ko-KR" altLang="en-US" sz="700" dirty="0" err="1">
                <a:latin typeface="+mn-ea"/>
              </a:rPr>
              <a:t>예정수량</a:t>
            </a:r>
            <a:r>
              <a:rPr lang="en-US" altLang="ko-KR" sz="700" dirty="0">
                <a:latin typeface="+mn-ea"/>
              </a:rPr>
              <a:t>)</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6036814" y="249941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3910665" y="369012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7" name="TextBox 236">
            <a:extLst>
              <a:ext uri="{FF2B5EF4-FFF2-40B4-BE49-F238E27FC236}">
                <a16:creationId xmlns:a16="http://schemas.microsoft.com/office/drawing/2014/main" id="{FFC49AEA-2A8F-250C-A86A-A7751D9706C3}"/>
              </a:ext>
            </a:extLst>
          </p:cNvPr>
          <p:cNvSpPr txBox="1"/>
          <p:nvPr/>
        </p:nvSpPr>
        <p:spPr>
          <a:xfrm>
            <a:off x="4435522" y="3763410"/>
            <a:ext cx="2010812" cy="215444"/>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최근 </a:t>
            </a:r>
            <a:r>
              <a:rPr lang="en-US" altLang="ko-KR" sz="700" dirty="0">
                <a:latin typeface="+mn-ea"/>
              </a:rPr>
              <a:t>3</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유사 물품</a:t>
            </a:r>
            <a:r>
              <a:rPr lang="en-US" altLang="ko-KR" sz="700" dirty="0">
                <a:latin typeface="+mn-ea"/>
              </a:rPr>
              <a:t>)</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3910665" y="399751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4435522" y="4070802"/>
            <a:ext cx="2010812" cy="215444"/>
          </a:xfrm>
          <a:prstGeom prst="rect">
            <a:avLst/>
          </a:prstGeom>
          <a:noFill/>
        </p:spPr>
        <p:txBody>
          <a:bodyPr wrap="square" lIns="0" tIns="0" rIns="0" bIns="0" rtlCol="0">
            <a:spAutoFit/>
          </a:bodyPr>
          <a:lstStyle/>
          <a:p>
            <a:r>
              <a:rPr lang="ko-KR" altLang="en-US" sz="700" dirty="0">
                <a:latin typeface="+mn-ea"/>
              </a:rPr>
              <a:t>금액  </a:t>
            </a:r>
            <a:r>
              <a:rPr lang="en-US" altLang="ko-KR" sz="700" dirty="0">
                <a:latin typeface="+mn-ea"/>
              </a:rPr>
              <a:t>(</a:t>
            </a:r>
            <a:r>
              <a:rPr lang="ko-KR" altLang="en-US" sz="700" dirty="0">
                <a:latin typeface="+mn-ea"/>
              </a:rPr>
              <a:t>납품가격 </a:t>
            </a:r>
            <a:r>
              <a:rPr lang="en-US" altLang="ko-KR" sz="700" dirty="0">
                <a:latin typeface="+mn-ea"/>
              </a:rPr>
              <a:t>/ </a:t>
            </a:r>
            <a:r>
              <a:rPr lang="ko-KR" altLang="en-US" sz="700" dirty="0">
                <a:latin typeface="+mn-ea"/>
              </a:rPr>
              <a:t>예정가격</a:t>
            </a:r>
            <a:r>
              <a:rPr lang="en-US" altLang="ko-KR" sz="700" dirty="0">
                <a:latin typeface="+mn-ea"/>
              </a:rPr>
              <a:t>)</a:t>
            </a:r>
          </a:p>
          <a:p>
            <a:r>
              <a:rPr lang="ko-KR" altLang="en-US" sz="700" dirty="0">
                <a:latin typeface="+mn-ea"/>
              </a:rPr>
              <a:t>수량  </a:t>
            </a:r>
            <a:r>
              <a:rPr lang="en-US" altLang="ko-KR" sz="700" dirty="0">
                <a:latin typeface="+mn-ea"/>
              </a:rPr>
              <a:t>(</a:t>
            </a:r>
            <a:r>
              <a:rPr lang="ko-KR" altLang="en-US" sz="700" dirty="0" err="1">
                <a:latin typeface="+mn-ea"/>
              </a:rPr>
              <a:t>납품수량</a:t>
            </a:r>
            <a:r>
              <a:rPr lang="ko-KR" altLang="en-US" sz="700" dirty="0">
                <a:latin typeface="+mn-ea"/>
              </a:rPr>
              <a:t> </a:t>
            </a:r>
            <a:r>
              <a:rPr lang="en-US" altLang="ko-KR" sz="700" dirty="0">
                <a:latin typeface="+mn-ea"/>
              </a:rPr>
              <a:t>/ </a:t>
            </a:r>
            <a:r>
              <a:rPr lang="ko-KR" altLang="en-US" sz="700" dirty="0" err="1">
                <a:latin typeface="+mn-ea"/>
              </a:rPr>
              <a:t>예정수량</a:t>
            </a:r>
            <a:r>
              <a:rPr lang="en-US" altLang="ko-KR" sz="700" dirty="0">
                <a:latin typeface="+mn-ea"/>
              </a:rPr>
              <a:t>)</a:t>
            </a:r>
          </a:p>
        </p:txBody>
      </p:sp>
      <p:sp>
        <p:nvSpPr>
          <p:cNvPr id="240" name="TextBox 239">
            <a:extLst>
              <a:ext uri="{FF2B5EF4-FFF2-40B4-BE49-F238E27FC236}">
                <a16:creationId xmlns:a16="http://schemas.microsoft.com/office/drawing/2014/main" id="{FFC49AEA-2A8F-250C-A86A-A7751D9706C3}"/>
              </a:ext>
            </a:extLst>
          </p:cNvPr>
          <p:cNvSpPr txBox="1"/>
          <p:nvPr/>
        </p:nvSpPr>
        <p:spPr>
          <a:xfrm>
            <a:off x="6036814" y="4124663"/>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9</a:t>
            </a:r>
          </a:p>
        </p:txBody>
      </p:sp>
      <p:sp>
        <p:nvSpPr>
          <p:cNvPr id="243" name="직사각형 242"/>
          <p:cNvSpPr/>
          <p:nvPr/>
        </p:nvSpPr>
        <p:spPr>
          <a:xfrm>
            <a:off x="3835134" y="2752726"/>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4" name="TextBox 243">
            <a:extLst>
              <a:ext uri="{FF2B5EF4-FFF2-40B4-BE49-F238E27FC236}">
                <a16:creationId xmlns:a16="http://schemas.microsoft.com/office/drawing/2014/main" id="{FFC49AEA-2A8F-250C-A86A-A7751D9706C3}"/>
              </a:ext>
            </a:extLst>
          </p:cNvPr>
          <p:cNvSpPr txBox="1"/>
          <p:nvPr/>
        </p:nvSpPr>
        <p:spPr>
          <a:xfrm>
            <a:off x="3922197" y="275272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5650239" y="275272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7" name="직선 연결선 266">
            <a:extLst>
              <a:ext uri="{FF2B5EF4-FFF2-40B4-BE49-F238E27FC236}">
                <a16:creationId xmlns:a16="http://schemas.microsoft.com/office/drawing/2014/main" id="{E9293055-D5CD-4B9E-7F64-64B2D2CA7A52}"/>
              </a:ext>
            </a:extLst>
          </p:cNvPr>
          <p:cNvCxnSpPr/>
          <p:nvPr/>
        </p:nvCxnSpPr>
        <p:spPr>
          <a:xfrm>
            <a:off x="3832437" y="275272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3834530" y="29674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5" name="직선 연결선 274">
            <a:extLst>
              <a:ext uri="{FF2B5EF4-FFF2-40B4-BE49-F238E27FC236}">
                <a16:creationId xmlns:a16="http://schemas.microsoft.com/office/drawing/2014/main" id="{E9293055-D5CD-4B9E-7F64-64B2D2CA7A52}"/>
              </a:ext>
            </a:extLst>
          </p:cNvPr>
          <p:cNvCxnSpPr/>
          <p:nvPr/>
        </p:nvCxnSpPr>
        <p:spPr>
          <a:xfrm>
            <a:off x="3834530" y="36397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6070609" y="275272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533884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8" name="TextBox 277">
            <a:extLst>
              <a:ext uri="{FF2B5EF4-FFF2-40B4-BE49-F238E27FC236}">
                <a16:creationId xmlns:a16="http://schemas.microsoft.com/office/drawing/2014/main" id="{FFC49AEA-2A8F-250C-A86A-A7751D9706C3}"/>
              </a:ext>
            </a:extLst>
          </p:cNvPr>
          <p:cNvSpPr txBox="1"/>
          <p:nvPr/>
        </p:nvSpPr>
        <p:spPr>
          <a:xfrm>
            <a:off x="3936047" y="3034314"/>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100% </a:t>
            </a:r>
            <a:r>
              <a:rPr lang="ko-KR" altLang="en-US" dirty="0"/>
              <a:t>이상</a:t>
            </a:r>
            <a:r>
              <a:rPr lang="en-US" altLang="ko-KR" dirty="0"/>
              <a:t/>
            </a:r>
            <a:br>
              <a:rPr lang="en-US" altLang="ko-KR" dirty="0"/>
            </a:br>
            <a:r>
              <a:rPr lang="en-US" altLang="ko-KR" dirty="0"/>
              <a:t>B. 50% </a:t>
            </a:r>
            <a:r>
              <a:rPr lang="ko-KR" altLang="en-US" dirty="0"/>
              <a:t>이상 </a:t>
            </a:r>
            <a:r>
              <a:rPr lang="en-US" altLang="ko-KR" dirty="0"/>
              <a:t>~ 100% </a:t>
            </a:r>
            <a:r>
              <a:rPr lang="ko-KR" altLang="en-US" dirty="0"/>
              <a:t>미만</a:t>
            </a:r>
            <a:r>
              <a:rPr lang="en-US" altLang="ko-KR" dirty="0"/>
              <a:t/>
            </a:r>
            <a:br>
              <a:rPr lang="en-US" altLang="ko-KR" dirty="0"/>
            </a:br>
            <a:r>
              <a:rPr lang="en-US" altLang="ko-KR" dirty="0"/>
              <a:t>C. 30% </a:t>
            </a:r>
            <a:r>
              <a:rPr lang="ko-KR" altLang="en-US" dirty="0"/>
              <a:t>이상 </a:t>
            </a:r>
            <a:r>
              <a:rPr lang="en-US" altLang="ko-KR" dirty="0"/>
              <a:t>~ 50% </a:t>
            </a:r>
            <a:r>
              <a:rPr lang="ko-KR" altLang="en-US" dirty="0"/>
              <a:t>미만</a:t>
            </a:r>
            <a:r>
              <a:rPr lang="en-US" altLang="ko-KR" dirty="0"/>
              <a:t/>
            </a:r>
            <a:br>
              <a:rPr lang="en-US" altLang="ko-KR" dirty="0"/>
            </a:br>
            <a:r>
              <a:rPr lang="en-US" altLang="ko-KR" dirty="0"/>
              <a:t>D. 5% </a:t>
            </a:r>
            <a:r>
              <a:rPr lang="ko-KR" altLang="en-US" dirty="0"/>
              <a:t>이상 </a:t>
            </a:r>
            <a:r>
              <a:rPr lang="en-US" altLang="ko-KR" dirty="0"/>
              <a:t>~ 30% </a:t>
            </a:r>
            <a:r>
              <a:rPr lang="ko-KR" altLang="en-US" dirty="0"/>
              <a:t>미만</a:t>
            </a:r>
            <a:r>
              <a:rPr lang="en-US" altLang="ko-KR" dirty="0"/>
              <a:t/>
            </a:r>
            <a:br>
              <a:rPr lang="en-US" altLang="ko-KR" dirty="0"/>
            </a:br>
            <a:r>
              <a:rPr lang="en-US" altLang="ko-KR" dirty="0"/>
              <a:t>E. 1% </a:t>
            </a:r>
            <a:r>
              <a:rPr lang="ko-KR" altLang="en-US" dirty="0"/>
              <a:t>이상 </a:t>
            </a:r>
            <a:r>
              <a:rPr lang="en-US" altLang="ko-KR" dirty="0"/>
              <a:t>~ 5% </a:t>
            </a:r>
            <a:r>
              <a:rPr lang="ko-KR" altLang="en-US" dirty="0"/>
              <a:t>미만</a:t>
            </a:r>
            <a:endParaRPr lang="en-US" altLang="ko-KR" dirty="0"/>
          </a:p>
        </p:txBody>
      </p:sp>
      <p:sp>
        <p:nvSpPr>
          <p:cNvPr id="279" name="TextBox 278">
            <a:extLst>
              <a:ext uri="{FF2B5EF4-FFF2-40B4-BE49-F238E27FC236}">
                <a16:creationId xmlns:a16="http://schemas.microsoft.com/office/drawing/2014/main" id="{FFC49AEA-2A8F-250C-A86A-A7751D9706C3}"/>
              </a:ext>
            </a:extLst>
          </p:cNvPr>
          <p:cNvSpPr txBox="1"/>
          <p:nvPr/>
        </p:nvSpPr>
        <p:spPr>
          <a:xfrm>
            <a:off x="5725003" y="3034314"/>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9.5</a:t>
            </a:r>
            <a:br>
              <a:rPr lang="en-US" altLang="ko-KR" dirty="0"/>
            </a:br>
            <a:r>
              <a:rPr lang="en-US" altLang="ko-KR" dirty="0"/>
              <a:t>9</a:t>
            </a:r>
            <a:br>
              <a:rPr lang="en-US" altLang="ko-KR" dirty="0"/>
            </a:br>
            <a:r>
              <a:rPr lang="en-US" altLang="ko-KR" dirty="0"/>
              <a:t>8.5</a:t>
            </a:r>
            <a:br>
              <a:rPr lang="en-US" altLang="ko-KR" dirty="0"/>
            </a:br>
            <a:r>
              <a:rPr lang="en-US" altLang="ko-KR" dirty="0"/>
              <a:t>8</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6406663" y="32663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4" name="직사각형 283"/>
          <p:cNvSpPr/>
          <p:nvPr/>
        </p:nvSpPr>
        <p:spPr>
          <a:xfrm>
            <a:off x="3835134" y="4382250"/>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5" name="TextBox 284">
            <a:extLst>
              <a:ext uri="{FF2B5EF4-FFF2-40B4-BE49-F238E27FC236}">
                <a16:creationId xmlns:a16="http://schemas.microsoft.com/office/drawing/2014/main" id="{FFC49AEA-2A8F-250C-A86A-A7751D9706C3}"/>
              </a:ext>
            </a:extLst>
          </p:cNvPr>
          <p:cNvSpPr txBox="1"/>
          <p:nvPr/>
        </p:nvSpPr>
        <p:spPr>
          <a:xfrm>
            <a:off x="3922197" y="438225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86" name="TextBox 285">
            <a:extLst>
              <a:ext uri="{FF2B5EF4-FFF2-40B4-BE49-F238E27FC236}">
                <a16:creationId xmlns:a16="http://schemas.microsoft.com/office/drawing/2014/main" id="{FFC49AEA-2A8F-250C-A86A-A7751D9706C3}"/>
              </a:ext>
            </a:extLst>
          </p:cNvPr>
          <p:cNvSpPr txBox="1"/>
          <p:nvPr/>
        </p:nvSpPr>
        <p:spPr>
          <a:xfrm>
            <a:off x="5650239" y="438225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87" name="직선 연결선 286">
            <a:extLst>
              <a:ext uri="{FF2B5EF4-FFF2-40B4-BE49-F238E27FC236}">
                <a16:creationId xmlns:a16="http://schemas.microsoft.com/office/drawing/2014/main" id="{E9293055-D5CD-4B9E-7F64-64B2D2CA7A52}"/>
              </a:ext>
            </a:extLst>
          </p:cNvPr>
          <p:cNvCxnSpPr/>
          <p:nvPr/>
        </p:nvCxnSpPr>
        <p:spPr>
          <a:xfrm>
            <a:off x="3832437" y="43822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3834530" y="45969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8" name="직선 연결선 297">
            <a:extLst>
              <a:ext uri="{FF2B5EF4-FFF2-40B4-BE49-F238E27FC236}">
                <a16:creationId xmlns:a16="http://schemas.microsoft.com/office/drawing/2014/main" id="{E9293055-D5CD-4B9E-7F64-64B2D2CA7A52}"/>
              </a:ext>
            </a:extLst>
          </p:cNvPr>
          <p:cNvCxnSpPr/>
          <p:nvPr/>
        </p:nvCxnSpPr>
        <p:spPr>
          <a:xfrm>
            <a:off x="3834530" y="52692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FFC49AEA-2A8F-250C-A86A-A7751D9706C3}"/>
              </a:ext>
            </a:extLst>
          </p:cNvPr>
          <p:cNvSpPr txBox="1"/>
          <p:nvPr/>
        </p:nvSpPr>
        <p:spPr>
          <a:xfrm>
            <a:off x="6070609" y="438225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5" name="TextBox 314">
            <a:extLst>
              <a:ext uri="{FF2B5EF4-FFF2-40B4-BE49-F238E27FC236}">
                <a16:creationId xmlns:a16="http://schemas.microsoft.com/office/drawing/2014/main" id="{FFC49AEA-2A8F-250C-A86A-A7751D9706C3}"/>
              </a:ext>
            </a:extLst>
          </p:cNvPr>
          <p:cNvSpPr txBox="1"/>
          <p:nvPr/>
        </p:nvSpPr>
        <p:spPr>
          <a:xfrm>
            <a:off x="3936047" y="4663838"/>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100% </a:t>
            </a:r>
            <a:r>
              <a:rPr lang="ko-KR" altLang="en-US" dirty="0"/>
              <a:t>이상</a:t>
            </a:r>
            <a:r>
              <a:rPr lang="en-US" altLang="ko-KR" dirty="0"/>
              <a:t/>
            </a:r>
            <a:br>
              <a:rPr lang="en-US" altLang="ko-KR" dirty="0"/>
            </a:br>
            <a:r>
              <a:rPr lang="en-US" altLang="ko-KR" dirty="0"/>
              <a:t>B. 50% </a:t>
            </a:r>
            <a:r>
              <a:rPr lang="ko-KR" altLang="en-US" dirty="0"/>
              <a:t>이상 </a:t>
            </a:r>
            <a:r>
              <a:rPr lang="en-US" altLang="ko-KR" dirty="0"/>
              <a:t>~ 100% </a:t>
            </a:r>
            <a:r>
              <a:rPr lang="ko-KR" altLang="en-US" dirty="0"/>
              <a:t>미만</a:t>
            </a:r>
            <a:r>
              <a:rPr lang="en-US" altLang="ko-KR" dirty="0"/>
              <a:t/>
            </a:r>
            <a:br>
              <a:rPr lang="en-US" altLang="ko-KR" dirty="0"/>
            </a:br>
            <a:r>
              <a:rPr lang="en-US" altLang="ko-KR" dirty="0"/>
              <a:t>C. 30% </a:t>
            </a:r>
            <a:r>
              <a:rPr lang="ko-KR" altLang="en-US" dirty="0"/>
              <a:t>이상 </a:t>
            </a:r>
            <a:r>
              <a:rPr lang="en-US" altLang="ko-KR" dirty="0"/>
              <a:t>~ 50% </a:t>
            </a:r>
            <a:r>
              <a:rPr lang="ko-KR" altLang="en-US" dirty="0"/>
              <a:t>미만</a:t>
            </a:r>
            <a:r>
              <a:rPr lang="en-US" altLang="ko-KR" dirty="0"/>
              <a:t/>
            </a:r>
            <a:br>
              <a:rPr lang="en-US" altLang="ko-KR" dirty="0"/>
            </a:br>
            <a:r>
              <a:rPr lang="en-US" altLang="ko-KR" dirty="0"/>
              <a:t>D. 5% </a:t>
            </a:r>
            <a:r>
              <a:rPr lang="ko-KR" altLang="en-US" dirty="0"/>
              <a:t>이상 </a:t>
            </a:r>
            <a:r>
              <a:rPr lang="en-US" altLang="ko-KR" dirty="0"/>
              <a:t>~ 30% </a:t>
            </a:r>
            <a:r>
              <a:rPr lang="ko-KR" altLang="en-US" dirty="0"/>
              <a:t>미만</a:t>
            </a:r>
            <a:r>
              <a:rPr lang="en-US" altLang="ko-KR" dirty="0"/>
              <a:t/>
            </a:r>
            <a:br>
              <a:rPr lang="en-US" altLang="ko-KR" dirty="0"/>
            </a:br>
            <a:r>
              <a:rPr lang="en-US" altLang="ko-KR" dirty="0"/>
              <a:t>E. 1% </a:t>
            </a:r>
            <a:r>
              <a:rPr lang="ko-KR" altLang="en-US" dirty="0"/>
              <a:t>이상 </a:t>
            </a:r>
            <a:r>
              <a:rPr lang="en-US" altLang="ko-KR" dirty="0"/>
              <a:t>~ 5% </a:t>
            </a:r>
            <a:r>
              <a:rPr lang="ko-KR" altLang="en-US" dirty="0"/>
              <a:t>미만</a:t>
            </a:r>
            <a:endParaRPr lang="en-US" altLang="ko-KR" dirty="0"/>
          </a:p>
        </p:txBody>
      </p:sp>
      <p:sp>
        <p:nvSpPr>
          <p:cNvPr id="316" name="TextBox 315">
            <a:extLst>
              <a:ext uri="{FF2B5EF4-FFF2-40B4-BE49-F238E27FC236}">
                <a16:creationId xmlns:a16="http://schemas.microsoft.com/office/drawing/2014/main" id="{FFC49AEA-2A8F-250C-A86A-A7751D9706C3}"/>
              </a:ext>
            </a:extLst>
          </p:cNvPr>
          <p:cNvSpPr txBox="1"/>
          <p:nvPr/>
        </p:nvSpPr>
        <p:spPr>
          <a:xfrm>
            <a:off x="5725003" y="4663838"/>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9.5</a:t>
            </a:r>
            <a:br>
              <a:rPr lang="en-US" altLang="ko-KR" dirty="0"/>
            </a:br>
            <a:r>
              <a:rPr lang="en-US" altLang="ko-KR" dirty="0"/>
              <a:t>9</a:t>
            </a:r>
            <a:br>
              <a:rPr lang="en-US" altLang="ko-KR" dirty="0"/>
            </a:br>
            <a:r>
              <a:rPr lang="en-US" altLang="ko-KR" dirty="0"/>
              <a:t>8.5</a:t>
            </a:r>
            <a:br>
              <a:rPr lang="en-US" altLang="ko-KR" dirty="0"/>
            </a:br>
            <a:r>
              <a:rPr lang="en-US" altLang="ko-KR" dirty="0"/>
              <a:t>8</a:t>
            </a:r>
          </a:p>
        </p:txBody>
      </p:sp>
      <p:sp>
        <p:nvSpPr>
          <p:cNvPr id="317" name="TextBox 316">
            <a:extLst>
              <a:ext uri="{FF2B5EF4-FFF2-40B4-BE49-F238E27FC236}">
                <a16:creationId xmlns:a16="http://schemas.microsoft.com/office/drawing/2014/main" id="{FFC49AEA-2A8F-250C-A86A-A7751D9706C3}"/>
              </a:ext>
            </a:extLst>
          </p:cNvPr>
          <p:cNvSpPr txBox="1"/>
          <p:nvPr/>
        </p:nvSpPr>
        <p:spPr>
          <a:xfrm>
            <a:off x="6406663" y="489591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22" name="TextBox 321">
            <a:extLst>
              <a:ext uri="{FF2B5EF4-FFF2-40B4-BE49-F238E27FC236}">
                <a16:creationId xmlns:a16="http://schemas.microsoft.com/office/drawing/2014/main" id="{FFC49AEA-2A8F-250C-A86A-A7751D9706C3}"/>
              </a:ext>
            </a:extLst>
          </p:cNvPr>
          <p:cNvSpPr txBox="1"/>
          <p:nvPr/>
        </p:nvSpPr>
        <p:spPr>
          <a:xfrm>
            <a:off x="5475020" y="1864633"/>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10</a:t>
            </a:r>
            <a:r>
              <a:rPr lang="ko-KR" altLang="en-US" dirty="0"/>
              <a:t>점</a:t>
            </a:r>
          </a:p>
        </p:txBody>
      </p:sp>
      <p:sp>
        <p:nvSpPr>
          <p:cNvPr id="89" name="타원 88">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412189874"/>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억원미만물품제조일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790330" y="1491157"/>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a:t>
            </a:r>
            <a:r>
              <a:rPr lang="ko-KR" altLang="en-US" dirty="0"/>
              <a:t>기술능력</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790330" y="169139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5187" y="1764682"/>
            <a:ext cx="2010812" cy="107722"/>
          </a:xfrm>
          <a:prstGeom prst="rect">
            <a:avLst/>
          </a:prstGeom>
          <a:noFill/>
        </p:spPr>
        <p:txBody>
          <a:bodyPr wrap="square" lIns="0" tIns="0" rIns="0" bIns="0" rtlCol="0">
            <a:spAutoFit/>
          </a:bodyPr>
          <a:lstStyle/>
          <a:p>
            <a:r>
              <a:rPr lang="ko-KR" altLang="en-US" sz="700" dirty="0">
                <a:latin typeface="+mn-ea"/>
              </a:rPr>
              <a:t>기술 인력 보유</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790330" y="18751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1315187" y="1948462"/>
            <a:ext cx="2010812" cy="107722"/>
          </a:xfrm>
          <a:prstGeom prst="rect">
            <a:avLst/>
          </a:prstGeom>
          <a:noFill/>
        </p:spPr>
        <p:txBody>
          <a:bodyPr wrap="square" lIns="0" tIns="0" rIns="0" bIns="0" rtlCol="0">
            <a:spAutoFit/>
          </a:bodyPr>
          <a:lstStyle/>
          <a:p>
            <a:r>
              <a:rPr lang="ko-KR" altLang="en-US" sz="700" dirty="0">
                <a:latin typeface="+mn-ea"/>
              </a:rPr>
              <a:t>기술인력 보유 정도</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2916479" y="194846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43" name="직사각형 242"/>
          <p:cNvSpPr/>
          <p:nvPr/>
        </p:nvSpPr>
        <p:spPr>
          <a:xfrm>
            <a:off x="714799" y="2109540"/>
            <a:ext cx="1639886" cy="180144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4" name="TextBox 243">
            <a:extLst>
              <a:ext uri="{FF2B5EF4-FFF2-40B4-BE49-F238E27FC236}">
                <a16:creationId xmlns:a16="http://schemas.microsoft.com/office/drawing/2014/main" id="{FFC49AEA-2A8F-250C-A86A-A7751D9706C3}"/>
              </a:ext>
            </a:extLst>
          </p:cNvPr>
          <p:cNvSpPr txBox="1"/>
          <p:nvPr/>
        </p:nvSpPr>
        <p:spPr>
          <a:xfrm>
            <a:off x="801862" y="210954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2529904" y="210954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7" name="직선 연결선 266">
            <a:extLst>
              <a:ext uri="{FF2B5EF4-FFF2-40B4-BE49-F238E27FC236}">
                <a16:creationId xmlns:a16="http://schemas.microsoft.com/office/drawing/2014/main" id="{E9293055-D5CD-4B9E-7F64-64B2D2CA7A52}"/>
              </a:ext>
            </a:extLst>
          </p:cNvPr>
          <p:cNvCxnSpPr/>
          <p:nvPr/>
        </p:nvCxnSpPr>
        <p:spPr>
          <a:xfrm>
            <a:off x="712102" y="21095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714195" y="2324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5" name="직선 연결선 274">
            <a:extLst>
              <a:ext uri="{FF2B5EF4-FFF2-40B4-BE49-F238E27FC236}">
                <a16:creationId xmlns:a16="http://schemas.microsoft.com/office/drawing/2014/main" id="{E9293055-D5CD-4B9E-7F64-64B2D2CA7A52}"/>
              </a:ext>
            </a:extLst>
          </p:cNvPr>
          <p:cNvCxnSpPr/>
          <p:nvPr/>
        </p:nvCxnSpPr>
        <p:spPr>
          <a:xfrm>
            <a:off x="714195" y="39109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2950274" y="2109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675399" y="500631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8" name="TextBox 277">
            <a:extLst>
              <a:ext uri="{FF2B5EF4-FFF2-40B4-BE49-F238E27FC236}">
                <a16:creationId xmlns:a16="http://schemas.microsoft.com/office/drawing/2014/main" id="{FFC49AEA-2A8F-250C-A86A-A7751D9706C3}"/>
              </a:ext>
            </a:extLst>
          </p:cNvPr>
          <p:cNvSpPr txBox="1"/>
          <p:nvPr/>
        </p:nvSpPr>
        <p:spPr>
          <a:xfrm>
            <a:off x="815712" y="236067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기술사 또는 </a:t>
            </a:r>
            <a:r>
              <a:rPr lang="ko-KR" altLang="en-US" dirty="0" err="1"/>
              <a:t>기능장</a:t>
            </a:r>
            <a:r>
              <a:rPr lang="ko-KR" altLang="en-US" dirty="0"/>
              <a:t> 보유</a:t>
            </a:r>
          </a:p>
        </p:txBody>
      </p:sp>
      <p:sp>
        <p:nvSpPr>
          <p:cNvPr id="279" name="TextBox 278">
            <a:extLst>
              <a:ext uri="{FF2B5EF4-FFF2-40B4-BE49-F238E27FC236}">
                <a16:creationId xmlns:a16="http://schemas.microsoft.com/office/drawing/2014/main" id="{FFC49AEA-2A8F-250C-A86A-A7751D9706C3}"/>
              </a:ext>
            </a:extLst>
          </p:cNvPr>
          <p:cNvSpPr txBox="1"/>
          <p:nvPr/>
        </p:nvSpPr>
        <p:spPr>
          <a:xfrm>
            <a:off x="2604667" y="2541177"/>
            <a:ext cx="118623"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7</a:t>
            </a:r>
            <a:br>
              <a:rPr lang="en-US" altLang="ko-KR" dirty="0"/>
            </a:br>
            <a:r>
              <a:rPr lang="en-US" altLang="ko-KR" dirty="0"/>
              <a:t>6.5</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3286328" y="306377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89" name="TextBox 88">
            <a:extLst>
              <a:ext uri="{FF2B5EF4-FFF2-40B4-BE49-F238E27FC236}">
                <a16:creationId xmlns:a16="http://schemas.microsoft.com/office/drawing/2014/main" id="{FFC49AEA-2A8F-250C-A86A-A7751D9706C3}"/>
              </a:ext>
            </a:extLst>
          </p:cNvPr>
          <p:cNvSpPr txBox="1"/>
          <p:nvPr/>
        </p:nvSpPr>
        <p:spPr>
          <a:xfrm>
            <a:off x="815712" y="2541177"/>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 미만</a:t>
            </a:r>
          </a:p>
        </p:txBody>
      </p:sp>
      <p:sp>
        <p:nvSpPr>
          <p:cNvPr id="90" name="TextBox 89">
            <a:extLst>
              <a:ext uri="{FF2B5EF4-FFF2-40B4-BE49-F238E27FC236}">
                <a16:creationId xmlns:a16="http://schemas.microsoft.com/office/drawing/2014/main" id="{FFC49AEA-2A8F-250C-A86A-A7751D9706C3}"/>
              </a:ext>
            </a:extLst>
          </p:cNvPr>
          <p:cNvSpPr txBox="1"/>
          <p:nvPr/>
        </p:nvSpPr>
        <p:spPr>
          <a:xfrm>
            <a:off x="815712" y="2829405"/>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기사 또는 산업기사 보유</a:t>
            </a:r>
          </a:p>
        </p:txBody>
      </p:sp>
      <p:sp>
        <p:nvSpPr>
          <p:cNvPr id="91" name="TextBox 90">
            <a:extLst>
              <a:ext uri="{FF2B5EF4-FFF2-40B4-BE49-F238E27FC236}">
                <a16:creationId xmlns:a16="http://schemas.microsoft.com/office/drawing/2014/main" id="{FFC49AEA-2A8F-250C-A86A-A7751D9706C3}"/>
              </a:ext>
            </a:extLst>
          </p:cNvPr>
          <p:cNvSpPr txBox="1"/>
          <p:nvPr/>
        </p:nvSpPr>
        <p:spPr>
          <a:xfrm>
            <a:off x="815712" y="3009911"/>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 미만</a:t>
            </a:r>
          </a:p>
        </p:txBody>
      </p:sp>
      <p:sp>
        <p:nvSpPr>
          <p:cNvPr id="92" name="TextBox 91">
            <a:extLst>
              <a:ext uri="{FF2B5EF4-FFF2-40B4-BE49-F238E27FC236}">
                <a16:creationId xmlns:a16="http://schemas.microsoft.com/office/drawing/2014/main" id="{FFC49AEA-2A8F-250C-A86A-A7751D9706C3}"/>
              </a:ext>
            </a:extLst>
          </p:cNvPr>
          <p:cNvSpPr txBox="1"/>
          <p:nvPr/>
        </p:nvSpPr>
        <p:spPr>
          <a:xfrm>
            <a:off x="815712" y="3298139"/>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기능사 보유</a:t>
            </a:r>
          </a:p>
        </p:txBody>
      </p:sp>
      <p:sp>
        <p:nvSpPr>
          <p:cNvPr id="93" name="TextBox 92">
            <a:extLst>
              <a:ext uri="{FF2B5EF4-FFF2-40B4-BE49-F238E27FC236}">
                <a16:creationId xmlns:a16="http://schemas.microsoft.com/office/drawing/2014/main" id="{FFC49AEA-2A8F-250C-A86A-A7751D9706C3}"/>
              </a:ext>
            </a:extLst>
          </p:cNvPr>
          <p:cNvSpPr txBox="1"/>
          <p:nvPr/>
        </p:nvSpPr>
        <p:spPr>
          <a:xfrm>
            <a:off x="815712" y="347864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 미만</a:t>
            </a:r>
          </a:p>
        </p:txBody>
      </p:sp>
      <p:sp>
        <p:nvSpPr>
          <p:cNvPr id="94" name="TextBox 93">
            <a:extLst>
              <a:ext uri="{FF2B5EF4-FFF2-40B4-BE49-F238E27FC236}">
                <a16:creationId xmlns:a16="http://schemas.microsoft.com/office/drawing/2014/main" id="{FFC49AEA-2A8F-250C-A86A-A7751D9706C3}"/>
              </a:ext>
            </a:extLst>
          </p:cNvPr>
          <p:cNvSpPr txBox="1"/>
          <p:nvPr/>
        </p:nvSpPr>
        <p:spPr>
          <a:xfrm>
            <a:off x="815712" y="3766873"/>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D. </a:t>
            </a:r>
            <a:r>
              <a:rPr lang="ko-KR" altLang="en-US" dirty="0" err="1"/>
              <a:t>미보유</a:t>
            </a:r>
            <a:endParaRPr lang="ko-KR" altLang="en-US" dirty="0"/>
          </a:p>
        </p:txBody>
      </p:sp>
      <p:cxnSp>
        <p:nvCxnSpPr>
          <p:cNvPr id="95" name="직선 연결선 94">
            <a:extLst>
              <a:ext uri="{FF2B5EF4-FFF2-40B4-BE49-F238E27FC236}">
                <a16:creationId xmlns:a16="http://schemas.microsoft.com/office/drawing/2014/main" id="{E9293055-D5CD-4B9E-7F64-64B2D2CA7A52}"/>
              </a:ext>
            </a:extLst>
          </p:cNvPr>
          <p:cNvCxnSpPr/>
          <p:nvPr/>
        </p:nvCxnSpPr>
        <p:spPr>
          <a:xfrm>
            <a:off x="719050" y="37304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19050" y="326174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19050" y="279301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19050" y="344225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19050" y="29735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19050" y="250478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1" name="TextBox 100">
            <a:extLst>
              <a:ext uri="{FF2B5EF4-FFF2-40B4-BE49-F238E27FC236}">
                <a16:creationId xmlns:a16="http://schemas.microsoft.com/office/drawing/2014/main" id="{FFC49AEA-2A8F-250C-A86A-A7751D9706C3}"/>
              </a:ext>
            </a:extLst>
          </p:cNvPr>
          <p:cNvSpPr txBox="1"/>
          <p:nvPr/>
        </p:nvSpPr>
        <p:spPr>
          <a:xfrm>
            <a:off x="2604667" y="3009911"/>
            <a:ext cx="118623"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6</a:t>
            </a:r>
            <a:br>
              <a:rPr lang="en-US" altLang="ko-KR" dirty="0"/>
            </a:br>
            <a:r>
              <a:rPr lang="en-US" altLang="ko-KR" dirty="0"/>
              <a:t>5.5</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2604667" y="3478645"/>
            <a:ext cx="118623"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5</a:t>
            </a:r>
            <a:br>
              <a:rPr lang="en-US" altLang="ko-KR" dirty="0"/>
            </a:br>
            <a:r>
              <a:rPr lang="en-US" altLang="ko-KR" dirty="0"/>
              <a:t>4.5</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673597" y="3766873"/>
            <a:ext cx="4969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4</a:t>
            </a:r>
          </a:p>
        </p:txBody>
      </p:sp>
      <p:grpSp>
        <p:nvGrpSpPr>
          <p:cNvPr id="105" name="그룹 104"/>
          <p:cNvGrpSpPr/>
          <p:nvPr/>
        </p:nvGrpSpPr>
        <p:grpSpPr>
          <a:xfrm>
            <a:off x="701175" y="4297746"/>
            <a:ext cx="2630093" cy="646331"/>
            <a:chOff x="701175" y="1835481"/>
            <a:chExt cx="2630093" cy="646331"/>
          </a:xfrm>
        </p:grpSpPr>
        <p:sp>
          <p:nvSpPr>
            <p:cNvPr id="106" name="직사각형 105"/>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a:extLst>
                <a:ext uri="{FF2B5EF4-FFF2-40B4-BE49-F238E27FC236}">
                  <a16:creationId xmlns:a16="http://schemas.microsoft.com/office/drawing/2014/main" id="{FFC49AEA-2A8F-250C-A86A-A7751D9706C3}"/>
                </a:ext>
              </a:extLst>
            </p:cNvPr>
            <p:cNvSpPr txBox="1"/>
            <p:nvPr/>
          </p:nvSpPr>
          <p:spPr>
            <a:xfrm>
              <a:off x="790331" y="1835481"/>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109" name="그룹 108"/>
            <p:cNvGrpSpPr/>
            <p:nvPr/>
          </p:nvGrpSpPr>
          <p:grpSpPr>
            <a:xfrm>
              <a:off x="701175" y="1835481"/>
              <a:ext cx="2630093" cy="644220"/>
              <a:chOff x="701175" y="1835481"/>
              <a:chExt cx="2630093" cy="644220"/>
            </a:xfrm>
          </p:grpSpPr>
          <p:cxnSp>
            <p:nvCxnSpPr>
              <p:cNvPr id="110" name="직선 연결선 10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4" name="직선 연결선 113">
            <a:extLst>
              <a:ext uri="{FF2B5EF4-FFF2-40B4-BE49-F238E27FC236}">
                <a16:creationId xmlns:a16="http://schemas.microsoft.com/office/drawing/2014/main" id="{E9293055-D5CD-4B9E-7F64-64B2D2CA7A52}"/>
              </a:ext>
            </a:extLst>
          </p:cNvPr>
          <p:cNvCxnSpPr/>
          <p:nvPr/>
        </p:nvCxnSpPr>
        <p:spPr>
          <a:xfrm>
            <a:off x="675399" y="398468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5" name="TextBox 114">
            <a:extLst>
              <a:ext uri="{FF2B5EF4-FFF2-40B4-BE49-F238E27FC236}">
                <a16:creationId xmlns:a16="http://schemas.microsoft.com/office/drawing/2014/main" id="{FFC49AEA-2A8F-250C-A86A-A7751D9706C3}"/>
              </a:ext>
            </a:extLst>
          </p:cNvPr>
          <p:cNvSpPr txBox="1"/>
          <p:nvPr/>
        </p:nvSpPr>
        <p:spPr>
          <a:xfrm>
            <a:off x="790330" y="4016629"/>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재무상태</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354685" y="4016629"/>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25</a:t>
            </a:r>
            <a:r>
              <a:rPr lang="ko-KR" altLang="en-US" dirty="0"/>
              <a:t>점</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2354685" y="1491157"/>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7</a:t>
            </a:r>
            <a:r>
              <a:rPr lang="ko-KR" altLang="en-US" dirty="0"/>
              <a:t>점</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3883823" y="152799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나</a:t>
            </a:r>
            <a:r>
              <a:rPr lang="en-US" altLang="ko-KR" sz="700" dirty="0">
                <a:latin typeface="+mn-ea"/>
              </a:rPr>
              <a:t>) </a:t>
            </a:r>
            <a:r>
              <a:rPr lang="ko-KR" altLang="en-US" sz="700" dirty="0">
                <a:latin typeface="+mn-ea"/>
              </a:rPr>
              <a:t>입찰가격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58</a:t>
            </a:r>
            <a:r>
              <a:rPr lang="ko-KR" altLang="en-US" sz="700" dirty="0">
                <a:latin typeface="+mn-ea"/>
              </a:rPr>
              <a:t>점</a:t>
            </a:r>
          </a:p>
        </p:txBody>
      </p:sp>
      <p:grpSp>
        <p:nvGrpSpPr>
          <p:cNvPr id="119" name="그룹 118"/>
          <p:cNvGrpSpPr/>
          <p:nvPr/>
        </p:nvGrpSpPr>
        <p:grpSpPr>
          <a:xfrm flipV="1">
            <a:off x="6245910" y="1641327"/>
            <a:ext cx="94010" cy="47005"/>
            <a:chOff x="6812560" y="3297172"/>
            <a:chExt cx="94010" cy="47005"/>
          </a:xfrm>
        </p:grpSpPr>
        <p:cxnSp>
          <p:nvCxnSpPr>
            <p:cNvPr id="120" name="직선 연결선 1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1" name="직선 연결선 12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2" name="직선 연결선 121">
            <a:extLst>
              <a:ext uri="{FF2B5EF4-FFF2-40B4-BE49-F238E27FC236}">
                <a16:creationId xmlns:a16="http://schemas.microsoft.com/office/drawing/2014/main" id="{E9293055-D5CD-4B9E-7F64-64B2D2CA7A52}"/>
              </a:ext>
            </a:extLst>
          </p:cNvPr>
          <p:cNvCxnSpPr/>
          <p:nvPr/>
        </p:nvCxnSpPr>
        <p:spPr>
          <a:xfrm>
            <a:off x="3797076"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직선 연결선 155">
            <a:extLst>
              <a:ext uri="{FF2B5EF4-FFF2-40B4-BE49-F238E27FC236}">
                <a16:creationId xmlns:a16="http://schemas.microsoft.com/office/drawing/2014/main" id="{E9293055-D5CD-4B9E-7F64-64B2D2CA7A52}"/>
              </a:ext>
            </a:extLst>
          </p:cNvPr>
          <p:cNvCxnSpPr/>
          <p:nvPr/>
        </p:nvCxnSpPr>
        <p:spPr>
          <a:xfrm>
            <a:off x="3797076" y="351131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57" name="그룹 156"/>
          <p:cNvGrpSpPr/>
          <p:nvPr/>
        </p:nvGrpSpPr>
        <p:grpSpPr>
          <a:xfrm>
            <a:off x="3838043" y="1878921"/>
            <a:ext cx="2630093" cy="1094598"/>
            <a:chOff x="701175" y="1835480"/>
            <a:chExt cx="2630093" cy="1094598"/>
          </a:xfrm>
        </p:grpSpPr>
        <p:sp>
          <p:nvSpPr>
            <p:cNvPr id="158" name="직사각형 157"/>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9" name="TextBox 158">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58 - | (88/100 – </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 100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161" name="그룹 160"/>
            <p:cNvGrpSpPr/>
            <p:nvPr/>
          </p:nvGrpSpPr>
          <p:grpSpPr>
            <a:xfrm>
              <a:off x="701175" y="1835481"/>
              <a:ext cx="2630093" cy="1094597"/>
              <a:chOff x="701175" y="1835481"/>
              <a:chExt cx="2630093" cy="1094597"/>
            </a:xfrm>
          </p:grpSpPr>
          <p:cxnSp>
            <p:nvCxnSpPr>
              <p:cNvPr id="162" name="직선 연결선 16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68" name="TextBox 167">
            <a:extLst>
              <a:ext uri="{FF2B5EF4-FFF2-40B4-BE49-F238E27FC236}">
                <a16:creationId xmlns:a16="http://schemas.microsoft.com/office/drawing/2014/main" id="{FFC49AEA-2A8F-250C-A86A-A7751D9706C3}"/>
              </a:ext>
            </a:extLst>
          </p:cNvPr>
          <p:cNvSpPr txBox="1"/>
          <p:nvPr/>
        </p:nvSpPr>
        <p:spPr>
          <a:xfrm>
            <a:off x="3925041" y="3090227"/>
            <a:ext cx="2456097" cy="323165"/>
          </a:xfrm>
          <a:prstGeom prst="rect">
            <a:avLst/>
          </a:prstGeom>
          <a:noFill/>
        </p:spPr>
        <p:txBody>
          <a:bodyPr wrap="square" lIns="0" tIns="0" rIns="0" bIns="0" rtlCol="0">
            <a:spAutoFit/>
          </a:bodyPr>
          <a:lstStyle/>
          <a:p>
            <a:pPr lvl="0" algn="ctr" defTabSz="1013612">
              <a:defRPr/>
            </a:pPr>
            <a:r>
              <a:rPr kumimoji="1" lang="ko-KR" altLang="en-US" sz="700" spc="-60" dirty="0">
                <a:solidFill>
                  <a:srgbClr val="000000">
                    <a:lumMod val="65000"/>
                    <a:lumOff val="35000"/>
                  </a:srgbClr>
                </a:solidFill>
                <a:latin typeface="Verdana" panose="020B0604030504040204" pitchFamily="34" charset="0"/>
              </a:rPr>
              <a:t>입찰가격이 예정가격 이하로서</a:t>
            </a:r>
            <a:endParaRPr kumimoji="1" lang="en-US" altLang="ko-KR" sz="700" spc="-60" dirty="0">
              <a:solidFill>
                <a:srgbClr val="000000">
                  <a:lumMod val="65000"/>
                  <a:lumOff val="35000"/>
                </a:srgbClr>
              </a:solidFill>
              <a:latin typeface="Verdana" panose="020B0604030504040204" pitchFamily="34" charset="0"/>
            </a:endParaRPr>
          </a:p>
          <a:p>
            <a:pPr lvl="0" algn="ctr" defTabSz="1013612">
              <a:defRPr/>
            </a:pPr>
            <a:r>
              <a:rPr kumimoji="1" lang="ko-KR" altLang="en-US" sz="700" spc="-60" dirty="0">
                <a:solidFill>
                  <a:srgbClr val="000000">
                    <a:lumMod val="65000"/>
                    <a:lumOff val="35000"/>
                  </a:srgbClr>
                </a:solidFill>
                <a:latin typeface="Verdana" panose="020B0604030504040204" pitchFamily="34" charset="0"/>
              </a:rPr>
              <a:t>예정가격의 </a:t>
            </a:r>
            <a:r>
              <a:rPr kumimoji="1" lang="en-US" altLang="ko-KR" sz="700" spc="-60" dirty="0">
                <a:solidFill>
                  <a:srgbClr val="000000">
                    <a:lumMod val="65000"/>
                    <a:lumOff val="35000"/>
                  </a:srgbClr>
                </a:solidFill>
                <a:latin typeface="Verdana" panose="020B0604030504040204" pitchFamily="34" charset="0"/>
              </a:rPr>
              <a:t>100</a:t>
            </a:r>
            <a:r>
              <a:rPr kumimoji="1" lang="ko-KR" altLang="en-US" sz="700" spc="-60" dirty="0">
                <a:solidFill>
                  <a:srgbClr val="000000">
                    <a:lumMod val="65000"/>
                    <a:lumOff val="35000"/>
                  </a:srgbClr>
                </a:solidFill>
                <a:latin typeface="Verdana" panose="020B0604030504040204" pitchFamily="34" charset="0"/>
              </a:rPr>
              <a:t>분의 </a:t>
            </a:r>
            <a:r>
              <a:rPr kumimoji="1" lang="en-US" altLang="ko-KR" sz="700" spc="-60" dirty="0">
                <a:solidFill>
                  <a:srgbClr val="000000">
                    <a:lumMod val="65000"/>
                    <a:lumOff val="35000"/>
                  </a:srgbClr>
                </a:solidFill>
                <a:latin typeface="Verdana" panose="020B0604030504040204" pitchFamily="34" charset="0"/>
              </a:rPr>
              <a:t>93</a:t>
            </a:r>
            <a:r>
              <a:rPr kumimoji="1" lang="ko-KR" altLang="en-US" sz="700" spc="-60" dirty="0">
                <a:solidFill>
                  <a:srgbClr val="000000">
                    <a:lumMod val="65000"/>
                    <a:lumOff val="35000"/>
                  </a:srgbClr>
                </a:solidFill>
                <a:latin typeface="Verdana" panose="020B0604030504040204" pitchFamily="34" charset="0"/>
              </a:rPr>
              <a:t>인 경우 평점은 </a:t>
            </a:r>
            <a:r>
              <a:rPr kumimoji="1" lang="en-US" altLang="ko-KR" sz="700" spc="-60" dirty="0">
                <a:solidFill>
                  <a:srgbClr val="000000">
                    <a:lumMod val="65000"/>
                    <a:lumOff val="35000"/>
                  </a:srgbClr>
                </a:solidFill>
                <a:latin typeface="Verdana" panose="020B0604030504040204" pitchFamily="34" charset="0"/>
              </a:rPr>
              <a:t>53</a:t>
            </a:r>
            <a:r>
              <a:rPr kumimoji="1" lang="ko-KR" altLang="en-US" sz="700" spc="-60" dirty="0">
                <a:solidFill>
                  <a:srgbClr val="000000">
                    <a:lumMod val="65000"/>
                    <a:lumOff val="35000"/>
                  </a:srgbClr>
                </a:solidFill>
                <a:latin typeface="Verdana" panose="020B0604030504040204" pitchFamily="34" charset="0"/>
              </a:rPr>
              <a:t>점</a:t>
            </a:r>
            <a:r>
              <a:rPr kumimoji="1" lang="en-US" altLang="ko-KR" sz="700" spc="-60" dirty="0">
                <a:solidFill>
                  <a:srgbClr val="000000">
                    <a:lumMod val="65000"/>
                    <a:lumOff val="35000"/>
                  </a:srgbClr>
                </a:solidFill>
                <a:latin typeface="Verdana" panose="020B0604030504040204" pitchFamily="34" charset="0"/>
              </a:rPr>
              <a:t/>
            </a:r>
            <a:br>
              <a:rPr kumimoji="1" lang="en-US" altLang="ko-KR" sz="700" spc="-60" dirty="0">
                <a:solidFill>
                  <a:srgbClr val="000000">
                    <a:lumMod val="65000"/>
                    <a:lumOff val="35000"/>
                  </a:srgbClr>
                </a:solidFill>
                <a:latin typeface="Verdana" panose="020B0604030504040204" pitchFamily="34" charset="0"/>
              </a:rPr>
            </a:br>
            <a:r>
              <a:rPr kumimoji="1" lang="ko-KR" altLang="en-US" sz="700" spc="-60" dirty="0" err="1">
                <a:solidFill>
                  <a:srgbClr val="000000">
                    <a:lumMod val="65000"/>
                    <a:lumOff val="35000"/>
                  </a:srgbClr>
                </a:solidFill>
                <a:latin typeface="Verdana" panose="020B0604030504040204" pitchFamily="34" charset="0"/>
              </a:rPr>
              <a:t>최저평점</a:t>
            </a:r>
            <a:r>
              <a:rPr kumimoji="1" lang="ko-KR" altLang="en-US" sz="700" spc="-60" dirty="0">
                <a:solidFill>
                  <a:srgbClr val="000000">
                    <a:lumMod val="65000"/>
                    <a:lumOff val="35000"/>
                  </a:srgbClr>
                </a:solidFill>
                <a:latin typeface="Verdana" panose="020B0604030504040204" pitchFamily="34" charset="0"/>
              </a:rPr>
              <a:t> </a:t>
            </a:r>
            <a:r>
              <a:rPr kumimoji="1" lang="en-US" altLang="ko-KR" sz="700" spc="-60" dirty="0">
                <a:solidFill>
                  <a:srgbClr val="000000">
                    <a:lumMod val="65000"/>
                    <a:lumOff val="35000"/>
                  </a:srgbClr>
                </a:solidFill>
                <a:latin typeface="Verdana" panose="020B0604030504040204" pitchFamily="34" charset="0"/>
              </a:rPr>
              <a:t>: 2</a:t>
            </a:r>
            <a:r>
              <a:rPr kumimoji="1" lang="ko-KR" altLang="en-US" sz="700" spc="-60" dirty="0">
                <a:solidFill>
                  <a:srgbClr val="000000">
                    <a:lumMod val="65000"/>
                    <a:lumOff val="35000"/>
                  </a:srgbClr>
                </a:solidFill>
                <a:latin typeface="Verdana" panose="020B0604030504040204" pitchFamily="34" charset="0"/>
              </a:rPr>
              <a:t>점</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3883823" y="3547884"/>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다</a:t>
            </a:r>
            <a:r>
              <a:rPr lang="en-US" altLang="ko-KR" sz="700" dirty="0">
                <a:latin typeface="+mn-ea"/>
              </a:rPr>
              <a:t>) </a:t>
            </a:r>
            <a:r>
              <a:rPr lang="ko-KR" altLang="en-US" sz="700" dirty="0">
                <a:latin typeface="+mn-ea"/>
              </a:rPr>
              <a:t>신인도 </a:t>
            </a:r>
            <a:r>
              <a:rPr lang="ko-KR" altLang="en-US" sz="700" dirty="0" err="1">
                <a:latin typeface="+mn-ea"/>
              </a:rPr>
              <a:t>산출내역</a:t>
            </a:r>
            <a:r>
              <a:rPr lang="ko-KR" altLang="en-US" sz="700" dirty="0">
                <a:latin typeface="+mn-ea"/>
              </a:rPr>
              <a:t>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-3</a:t>
            </a:r>
          </a:p>
        </p:txBody>
      </p:sp>
      <p:grpSp>
        <p:nvGrpSpPr>
          <p:cNvPr id="172" name="그룹 171"/>
          <p:cNvGrpSpPr/>
          <p:nvPr/>
        </p:nvGrpSpPr>
        <p:grpSpPr>
          <a:xfrm flipV="1">
            <a:off x="6245910" y="3661215"/>
            <a:ext cx="94010" cy="47005"/>
            <a:chOff x="6812560" y="3297172"/>
            <a:chExt cx="94010" cy="47005"/>
          </a:xfrm>
        </p:grpSpPr>
        <p:cxnSp>
          <p:nvCxnSpPr>
            <p:cNvPr id="176" name="직선 연결선 17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3" name="직선 연결선 18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91" name="직선 연결선 190">
            <a:extLst>
              <a:ext uri="{FF2B5EF4-FFF2-40B4-BE49-F238E27FC236}">
                <a16:creationId xmlns:a16="http://schemas.microsoft.com/office/drawing/2014/main" id="{E9293055-D5CD-4B9E-7F64-64B2D2CA7A52}"/>
              </a:ext>
            </a:extLst>
          </p:cNvPr>
          <p:cNvCxnSpPr/>
          <p:nvPr/>
        </p:nvCxnSpPr>
        <p:spPr>
          <a:xfrm>
            <a:off x="3797076" y="383469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2" name="TextBox 191">
            <a:extLst>
              <a:ext uri="{FF2B5EF4-FFF2-40B4-BE49-F238E27FC236}">
                <a16:creationId xmlns:a16="http://schemas.microsoft.com/office/drawing/2014/main" id="{FFC49AEA-2A8F-250C-A86A-A7751D9706C3}"/>
              </a:ext>
            </a:extLst>
          </p:cNvPr>
          <p:cNvSpPr txBox="1"/>
          <p:nvPr/>
        </p:nvSpPr>
        <p:spPr>
          <a:xfrm>
            <a:off x="3910665" y="3843467"/>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a:t>
            </a:r>
            <a:r>
              <a:rPr lang="ko-KR" altLang="en-US" dirty="0"/>
              <a:t>물품 </a:t>
            </a:r>
            <a:r>
              <a:rPr lang="ko-KR" altLang="en-US" dirty="0" err="1"/>
              <a:t>품질정도</a:t>
            </a:r>
            <a:endParaRPr lang="ko-KR" altLang="en-US" dirty="0"/>
          </a:p>
        </p:txBody>
      </p:sp>
      <p:sp>
        <p:nvSpPr>
          <p:cNvPr id="193" name="TextBox 192">
            <a:extLst>
              <a:ext uri="{FF2B5EF4-FFF2-40B4-BE49-F238E27FC236}">
                <a16:creationId xmlns:a16="http://schemas.microsoft.com/office/drawing/2014/main" id="{FFC49AEA-2A8F-250C-A86A-A7751D9706C3}"/>
              </a:ext>
            </a:extLst>
          </p:cNvPr>
          <p:cNvSpPr txBox="1"/>
          <p:nvPr/>
        </p:nvSpPr>
        <p:spPr>
          <a:xfrm>
            <a:off x="3910665" y="404370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4435522" y="4116992"/>
            <a:ext cx="2010812" cy="107722"/>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품질관리</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3910665" y="422748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435522" y="4300772"/>
            <a:ext cx="2010812" cy="107722"/>
          </a:xfrm>
          <a:prstGeom prst="rect">
            <a:avLst/>
          </a:prstGeom>
          <a:noFill/>
        </p:spPr>
        <p:txBody>
          <a:bodyPr wrap="square" lIns="0" tIns="0" rIns="0" bIns="0" rtlCol="0">
            <a:spAutoFit/>
          </a:bodyPr>
          <a:lstStyle/>
          <a:p>
            <a:r>
              <a:rPr lang="ko-KR" altLang="en-US" sz="700" dirty="0">
                <a:latin typeface="+mn-ea"/>
              </a:rPr>
              <a:t>품질보증을 </a:t>
            </a:r>
            <a:r>
              <a:rPr lang="ko-KR" altLang="en-US" sz="700" dirty="0" err="1">
                <a:latin typeface="+mn-ea"/>
              </a:rPr>
              <a:t>받은자</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6036814" y="430077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98" name="직사각형 197"/>
          <p:cNvSpPr/>
          <p:nvPr/>
        </p:nvSpPr>
        <p:spPr>
          <a:xfrm>
            <a:off x="3835134" y="4461850"/>
            <a:ext cx="1639886" cy="10391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3922197" y="446185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5650239" y="446185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2437" y="446184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3834530" y="46765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3834530" y="55039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TextBox 203">
            <a:extLst>
              <a:ext uri="{FF2B5EF4-FFF2-40B4-BE49-F238E27FC236}">
                <a16:creationId xmlns:a16="http://schemas.microsoft.com/office/drawing/2014/main" id="{FFC49AEA-2A8F-250C-A86A-A7751D9706C3}"/>
              </a:ext>
            </a:extLst>
          </p:cNvPr>
          <p:cNvSpPr txBox="1"/>
          <p:nvPr/>
        </p:nvSpPr>
        <p:spPr>
          <a:xfrm>
            <a:off x="6070609" y="446185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3936047" y="4721851"/>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국방품질경영시스템 인증</a:t>
            </a:r>
            <a:r>
              <a:rPr lang="en-US" altLang="ko-KR" dirty="0"/>
              <a:t>, KS </a:t>
            </a:r>
            <a:r>
              <a:rPr lang="ko-KR" altLang="en-US" dirty="0" err="1"/>
              <a:t>표시허가</a:t>
            </a:r>
            <a:r>
              <a:rPr lang="en-US" altLang="ko-KR" dirty="0"/>
              <a:t>, GQ</a:t>
            </a:r>
            <a:r>
              <a:rPr lang="ko-KR" altLang="en-US" dirty="0"/>
              <a:t>인증</a:t>
            </a:r>
            <a:r>
              <a:rPr lang="en-US" altLang="ko-KR" dirty="0"/>
              <a:t>, </a:t>
            </a:r>
            <a:r>
              <a:rPr lang="ko-KR" altLang="en-US" dirty="0"/>
              <a:t>단체표준규격인증 중 </a:t>
            </a:r>
            <a:r>
              <a:rPr lang="en-US" altLang="ko-KR" dirty="0"/>
              <a:t>1</a:t>
            </a:r>
            <a:r>
              <a:rPr lang="ko-KR" altLang="en-US" dirty="0"/>
              <a:t>개를 </a:t>
            </a:r>
            <a:r>
              <a:rPr lang="ko-KR" altLang="en-US" dirty="0" err="1"/>
              <a:t>받은자</a:t>
            </a:r>
            <a:r>
              <a:rPr lang="en-US" altLang="ko-KR" dirty="0"/>
              <a:t>, CE, UL, </a:t>
            </a:r>
            <a:r>
              <a:rPr lang="ko-KR" altLang="en-US" dirty="0"/>
              <a:t>해당국의 국가산업표준규격 인증을 </a:t>
            </a:r>
            <a:r>
              <a:rPr lang="ko-KR" altLang="en-US" dirty="0" err="1"/>
              <a:t>받은자</a:t>
            </a:r>
            <a:r>
              <a:rPr lang="ko-KR" altLang="en-US" dirty="0"/>
              <a:t> 또는 </a:t>
            </a:r>
            <a:r>
              <a:rPr lang="en-US" altLang="ko-KR" dirty="0"/>
              <a:t>HACCP </a:t>
            </a:r>
            <a:r>
              <a:rPr lang="ko-KR" altLang="en-US" dirty="0" err="1"/>
              <a:t>지정업소</a:t>
            </a:r>
            <a:endParaRPr lang="ko-KR" altLang="en-US" dirty="0"/>
          </a:p>
        </p:txBody>
      </p:sp>
      <p:sp>
        <p:nvSpPr>
          <p:cNvPr id="206" name="TextBox 205">
            <a:extLst>
              <a:ext uri="{FF2B5EF4-FFF2-40B4-BE49-F238E27FC236}">
                <a16:creationId xmlns:a16="http://schemas.microsoft.com/office/drawing/2014/main" id="{FFC49AEA-2A8F-250C-A86A-A7751D9706C3}"/>
              </a:ext>
            </a:extLst>
          </p:cNvPr>
          <p:cNvSpPr txBox="1"/>
          <p:nvPr/>
        </p:nvSpPr>
        <p:spPr>
          <a:xfrm>
            <a:off x="5725002" y="493729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6406663" y="503641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6" name="TextBox 215">
            <a:extLst>
              <a:ext uri="{FF2B5EF4-FFF2-40B4-BE49-F238E27FC236}">
                <a16:creationId xmlns:a16="http://schemas.microsoft.com/office/drawing/2014/main" id="{FFC49AEA-2A8F-250C-A86A-A7751D9706C3}"/>
              </a:ext>
            </a:extLst>
          </p:cNvPr>
          <p:cNvSpPr txBox="1"/>
          <p:nvPr/>
        </p:nvSpPr>
        <p:spPr>
          <a:xfrm>
            <a:off x="3936047" y="535098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Q </a:t>
            </a:r>
            <a:r>
              <a:rPr lang="ko-KR" altLang="en-US" dirty="0"/>
              <a:t>또는 </a:t>
            </a:r>
            <a:r>
              <a:rPr lang="en-US" altLang="ko-KR" dirty="0"/>
              <a:t>K</a:t>
            </a:r>
            <a:r>
              <a:rPr lang="ko-KR" altLang="en-US" dirty="0"/>
              <a:t>마크를 </a:t>
            </a:r>
            <a:r>
              <a:rPr lang="ko-KR" altLang="en-US" dirty="0" err="1"/>
              <a:t>받은자</a:t>
            </a:r>
            <a:endParaRPr lang="ko-KR" altLang="en-US" dirty="0"/>
          </a:p>
        </p:txBody>
      </p:sp>
      <p:cxnSp>
        <p:nvCxnSpPr>
          <p:cNvPr id="231" name="직선 연결선 230">
            <a:extLst>
              <a:ext uri="{FF2B5EF4-FFF2-40B4-BE49-F238E27FC236}">
                <a16:creationId xmlns:a16="http://schemas.microsoft.com/office/drawing/2014/main" id="{E9293055-D5CD-4B9E-7F64-64B2D2CA7A52}"/>
              </a:ext>
            </a:extLst>
          </p:cNvPr>
          <p:cNvCxnSpPr/>
          <p:nvPr/>
        </p:nvCxnSpPr>
        <p:spPr>
          <a:xfrm>
            <a:off x="3839385" y="530572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3" name="TextBox 232">
            <a:extLst>
              <a:ext uri="{FF2B5EF4-FFF2-40B4-BE49-F238E27FC236}">
                <a16:creationId xmlns:a16="http://schemas.microsoft.com/office/drawing/2014/main" id="{FFC49AEA-2A8F-250C-A86A-A7751D9706C3}"/>
              </a:ext>
            </a:extLst>
          </p:cNvPr>
          <p:cNvSpPr txBox="1"/>
          <p:nvPr/>
        </p:nvSpPr>
        <p:spPr>
          <a:xfrm>
            <a:off x="5725002" y="535098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23" name="타원 122">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42216455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억원미만물품제조일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93" name="TextBox 192">
            <a:extLst>
              <a:ext uri="{FF2B5EF4-FFF2-40B4-BE49-F238E27FC236}">
                <a16:creationId xmlns:a16="http://schemas.microsoft.com/office/drawing/2014/main" id="{FFC49AEA-2A8F-250C-A86A-A7751D9706C3}"/>
              </a:ext>
            </a:extLst>
          </p:cNvPr>
          <p:cNvSpPr txBox="1"/>
          <p:nvPr/>
        </p:nvSpPr>
        <p:spPr>
          <a:xfrm>
            <a:off x="793517" y="14994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1318374" y="1572746"/>
            <a:ext cx="2010812" cy="107722"/>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기술보유</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793517" y="16832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1318374" y="1756526"/>
            <a:ext cx="2010812" cy="107722"/>
          </a:xfrm>
          <a:prstGeom prst="rect">
            <a:avLst/>
          </a:prstGeom>
          <a:noFill/>
        </p:spPr>
        <p:txBody>
          <a:bodyPr wrap="square" lIns="0" tIns="0" rIns="0" bIns="0" rtlCol="0">
            <a:spAutoFit/>
          </a:bodyPr>
          <a:lstStyle/>
          <a:p>
            <a:r>
              <a:rPr lang="ko-KR" altLang="en-US" sz="700" dirty="0" err="1">
                <a:latin typeface="+mn-ea"/>
              </a:rPr>
              <a:t>기술인증을</a:t>
            </a:r>
            <a:r>
              <a:rPr lang="ko-KR" altLang="en-US" sz="700" dirty="0">
                <a:latin typeface="+mn-ea"/>
              </a:rPr>
              <a:t> </a:t>
            </a:r>
            <a:r>
              <a:rPr lang="ko-KR" altLang="en-US" sz="700" dirty="0" err="1">
                <a:latin typeface="+mn-ea"/>
              </a:rPr>
              <a:t>받은자</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2919666" y="17565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98" name="직사각형 197"/>
          <p:cNvSpPr/>
          <p:nvPr/>
        </p:nvSpPr>
        <p:spPr>
          <a:xfrm>
            <a:off x="717986" y="1917604"/>
            <a:ext cx="1639886" cy="5235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805049" y="191760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2533091" y="191760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715289" y="191760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17382" y="21323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17382" y="24411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TextBox 203">
            <a:extLst>
              <a:ext uri="{FF2B5EF4-FFF2-40B4-BE49-F238E27FC236}">
                <a16:creationId xmlns:a16="http://schemas.microsoft.com/office/drawing/2014/main" id="{FFC49AEA-2A8F-250C-A86A-A7751D9706C3}"/>
              </a:ext>
            </a:extLst>
          </p:cNvPr>
          <p:cNvSpPr txBox="1"/>
          <p:nvPr/>
        </p:nvSpPr>
        <p:spPr>
          <a:xfrm>
            <a:off x="2953461" y="191760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818899" y="217760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주무부 장관 등이 인증한 신기술 </a:t>
            </a:r>
            <a:r>
              <a:rPr lang="en-US" altLang="ko-KR" dirty="0"/>
              <a:t>(NET, NEP, </a:t>
            </a:r>
            <a:r>
              <a:rPr lang="ko-KR" altLang="en-US" dirty="0" err="1"/>
              <a:t>전력신기술</a:t>
            </a:r>
            <a:r>
              <a:rPr lang="en-US" altLang="ko-KR" dirty="0"/>
              <a:t>) </a:t>
            </a:r>
            <a:r>
              <a:rPr lang="ko-KR" altLang="en-US" dirty="0"/>
              <a:t>인증</a:t>
            </a:r>
          </a:p>
        </p:txBody>
      </p:sp>
      <p:sp>
        <p:nvSpPr>
          <p:cNvPr id="206" name="TextBox 205">
            <a:extLst>
              <a:ext uri="{FF2B5EF4-FFF2-40B4-BE49-F238E27FC236}">
                <a16:creationId xmlns:a16="http://schemas.microsoft.com/office/drawing/2014/main" id="{FFC49AEA-2A8F-250C-A86A-A7751D9706C3}"/>
              </a:ext>
            </a:extLst>
          </p:cNvPr>
          <p:cNvSpPr txBox="1"/>
          <p:nvPr/>
        </p:nvSpPr>
        <p:spPr>
          <a:xfrm>
            <a:off x="2607854" y="2231466"/>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3289515" y="223146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1" name="직선 연결선 240">
            <a:extLst>
              <a:ext uri="{FF2B5EF4-FFF2-40B4-BE49-F238E27FC236}">
                <a16:creationId xmlns:a16="http://schemas.microsoft.com/office/drawing/2014/main" id="{E9293055-D5CD-4B9E-7F64-64B2D2CA7A52}"/>
              </a:ext>
            </a:extLst>
          </p:cNvPr>
          <p:cNvCxnSpPr/>
          <p:nvPr/>
        </p:nvCxnSpPr>
        <p:spPr>
          <a:xfrm>
            <a:off x="675399" y="354116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3" name="TextBox 122">
            <a:extLst>
              <a:ext uri="{FF2B5EF4-FFF2-40B4-BE49-F238E27FC236}">
                <a16:creationId xmlns:a16="http://schemas.microsoft.com/office/drawing/2014/main" id="{FFC49AEA-2A8F-250C-A86A-A7751D9706C3}"/>
              </a:ext>
            </a:extLst>
          </p:cNvPr>
          <p:cNvSpPr txBox="1"/>
          <p:nvPr/>
        </p:nvSpPr>
        <p:spPr>
          <a:xfrm>
            <a:off x="793517" y="253612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1318374" y="2609409"/>
            <a:ext cx="2010812" cy="107722"/>
          </a:xfrm>
          <a:prstGeom prst="rect">
            <a:avLst/>
          </a:prstGeom>
          <a:noFill/>
        </p:spPr>
        <p:txBody>
          <a:bodyPr wrap="square" lIns="0" tIns="0" rIns="0" bIns="0" rtlCol="0">
            <a:spAutoFit/>
          </a:bodyPr>
          <a:lstStyle/>
          <a:p>
            <a:r>
              <a:rPr lang="en-US" altLang="ko-KR" sz="700" dirty="0">
                <a:latin typeface="+mn-ea"/>
              </a:rPr>
              <a:t>3. </a:t>
            </a:r>
            <a:r>
              <a:rPr lang="ko-KR" altLang="en-US" sz="700" dirty="0">
                <a:latin typeface="+mn-ea"/>
              </a:rPr>
              <a:t>환경관리</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793517" y="271990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26" name="TextBox 125">
            <a:extLst>
              <a:ext uri="{FF2B5EF4-FFF2-40B4-BE49-F238E27FC236}">
                <a16:creationId xmlns:a16="http://schemas.microsoft.com/office/drawing/2014/main" id="{FFC49AEA-2A8F-250C-A86A-A7751D9706C3}"/>
              </a:ext>
            </a:extLst>
          </p:cNvPr>
          <p:cNvSpPr txBox="1"/>
          <p:nvPr/>
        </p:nvSpPr>
        <p:spPr>
          <a:xfrm>
            <a:off x="1318374" y="2793189"/>
            <a:ext cx="2010812" cy="107722"/>
          </a:xfrm>
          <a:prstGeom prst="rect">
            <a:avLst/>
          </a:prstGeom>
          <a:noFill/>
        </p:spPr>
        <p:txBody>
          <a:bodyPr wrap="square" lIns="0" tIns="0" rIns="0" bIns="0" rtlCol="0">
            <a:spAutoFit/>
          </a:bodyPr>
          <a:lstStyle/>
          <a:p>
            <a:r>
              <a:rPr lang="ko-KR" altLang="en-US" sz="700" dirty="0">
                <a:latin typeface="+mn-ea"/>
              </a:rPr>
              <a:t>환경오염 억제와 자원절약 기여자</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2919666" y="2793189"/>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28" name="직사각형 127"/>
          <p:cNvSpPr/>
          <p:nvPr/>
        </p:nvSpPr>
        <p:spPr>
          <a:xfrm>
            <a:off x="717986" y="2954267"/>
            <a:ext cx="1639886" cy="5235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805049" y="295426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533091" y="295426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1" name="직선 연결선 130">
            <a:extLst>
              <a:ext uri="{FF2B5EF4-FFF2-40B4-BE49-F238E27FC236}">
                <a16:creationId xmlns:a16="http://schemas.microsoft.com/office/drawing/2014/main" id="{E9293055-D5CD-4B9E-7F64-64B2D2CA7A52}"/>
              </a:ext>
            </a:extLst>
          </p:cNvPr>
          <p:cNvCxnSpPr/>
          <p:nvPr/>
        </p:nvCxnSpPr>
        <p:spPr>
          <a:xfrm>
            <a:off x="715289" y="295426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17382" y="31690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17382" y="34777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2953461" y="29542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5" name="TextBox 134">
            <a:extLst>
              <a:ext uri="{FF2B5EF4-FFF2-40B4-BE49-F238E27FC236}">
                <a16:creationId xmlns:a16="http://schemas.microsoft.com/office/drawing/2014/main" id="{FFC49AEA-2A8F-250C-A86A-A7751D9706C3}"/>
              </a:ext>
            </a:extLst>
          </p:cNvPr>
          <p:cNvSpPr txBox="1"/>
          <p:nvPr/>
        </p:nvSpPr>
        <p:spPr>
          <a:xfrm>
            <a:off x="818899" y="321426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환경표지</a:t>
            </a:r>
            <a:r>
              <a:rPr lang="en-US" altLang="ko-KR" dirty="0"/>
              <a:t>(GR</a:t>
            </a:r>
            <a:r>
              <a:rPr lang="ko-KR" altLang="en-US" dirty="0" err="1"/>
              <a:t>마크포함</a:t>
            </a:r>
            <a:r>
              <a:rPr lang="en-US" altLang="ko-KR" dirty="0"/>
              <a:t>) </a:t>
            </a:r>
            <a:r>
              <a:rPr lang="ko-KR" altLang="en-US" dirty="0"/>
              <a:t>인증을 받거나 환경친화기업 지정자</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2607854" y="3268129"/>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3289515" y="326812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9" name="TextBox 138">
            <a:extLst>
              <a:ext uri="{FF2B5EF4-FFF2-40B4-BE49-F238E27FC236}">
                <a16:creationId xmlns:a16="http://schemas.microsoft.com/office/drawing/2014/main" id="{FFC49AEA-2A8F-250C-A86A-A7751D9706C3}"/>
              </a:ext>
            </a:extLst>
          </p:cNvPr>
          <p:cNvSpPr txBox="1"/>
          <p:nvPr/>
        </p:nvSpPr>
        <p:spPr>
          <a:xfrm>
            <a:off x="790330" y="360456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 </a:t>
            </a:r>
            <a:r>
              <a:rPr lang="ko-KR" altLang="en-US" dirty="0"/>
              <a:t>계약이행 성실도</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790330" y="380480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1315187" y="3878091"/>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품질하자</a:t>
            </a:r>
            <a:endParaRPr lang="ko-KR" altLang="en-US" sz="700" dirty="0">
              <a:latin typeface="+mn-ea"/>
            </a:endParaRPr>
          </a:p>
        </p:txBody>
      </p:sp>
      <p:sp>
        <p:nvSpPr>
          <p:cNvPr id="142" name="TextBox 141">
            <a:extLst>
              <a:ext uri="{FF2B5EF4-FFF2-40B4-BE49-F238E27FC236}">
                <a16:creationId xmlns:a16="http://schemas.microsoft.com/office/drawing/2014/main" id="{FFC49AEA-2A8F-250C-A86A-A7751D9706C3}"/>
              </a:ext>
            </a:extLst>
          </p:cNvPr>
          <p:cNvSpPr txBox="1"/>
          <p:nvPr/>
        </p:nvSpPr>
        <p:spPr>
          <a:xfrm>
            <a:off x="790330" y="398858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1315187" y="4061871"/>
            <a:ext cx="2010812" cy="107722"/>
          </a:xfrm>
          <a:prstGeom prst="rect">
            <a:avLst/>
          </a:prstGeom>
          <a:noFill/>
        </p:spPr>
        <p:txBody>
          <a:bodyPr wrap="square" lIns="0" tIns="0" rIns="0" bIns="0" rtlCol="0">
            <a:spAutoFit/>
          </a:bodyPr>
          <a:lstStyle/>
          <a:p>
            <a:r>
              <a:rPr lang="ko-KR" altLang="en-US" sz="700" dirty="0">
                <a:latin typeface="+mn-ea"/>
              </a:rPr>
              <a:t>하자발생 유</a:t>
            </a:r>
            <a:r>
              <a:rPr lang="en-US" altLang="ko-KR" sz="700" dirty="0">
                <a:latin typeface="+mn-ea"/>
              </a:rPr>
              <a:t>/</a:t>
            </a:r>
            <a:r>
              <a:rPr lang="ko-KR" altLang="en-US" sz="700" dirty="0">
                <a:latin typeface="+mn-ea"/>
              </a:rPr>
              <a:t>무</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2916479" y="406187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45" name="직사각형 144"/>
          <p:cNvSpPr/>
          <p:nvPr/>
        </p:nvSpPr>
        <p:spPr>
          <a:xfrm>
            <a:off x="714799" y="4222949"/>
            <a:ext cx="1639886" cy="12671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6" name="TextBox 145">
            <a:extLst>
              <a:ext uri="{FF2B5EF4-FFF2-40B4-BE49-F238E27FC236}">
                <a16:creationId xmlns:a16="http://schemas.microsoft.com/office/drawing/2014/main" id="{FFC49AEA-2A8F-250C-A86A-A7751D9706C3}"/>
              </a:ext>
            </a:extLst>
          </p:cNvPr>
          <p:cNvSpPr txBox="1"/>
          <p:nvPr/>
        </p:nvSpPr>
        <p:spPr>
          <a:xfrm>
            <a:off x="801862" y="422295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2529904" y="422295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712102" y="42229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14195" y="44376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0" name="직선 연결선 149">
            <a:extLst>
              <a:ext uri="{FF2B5EF4-FFF2-40B4-BE49-F238E27FC236}">
                <a16:creationId xmlns:a16="http://schemas.microsoft.com/office/drawing/2014/main" id="{E9293055-D5CD-4B9E-7F64-64B2D2CA7A52}"/>
              </a:ext>
            </a:extLst>
          </p:cNvPr>
          <p:cNvCxnSpPr/>
          <p:nvPr/>
        </p:nvCxnSpPr>
        <p:spPr>
          <a:xfrm>
            <a:off x="714195" y="549284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1" name="TextBox 150">
            <a:extLst>
              <a:ext uri="{FF2B5EF4-FFF2-40B4-BE49-F238E27FC236}">
                <a16:creationId xmlns:a16="http://schemas.microsoft.com/office/drawing/2014/main" id="{FFC49AEA-2A8F-250C-A86A-A7751D9706C3}"/>
              </a:ext>
            </a:extLst>
          </p:cNvPr>
          <p:cNvSpPr txBox="1"/>
          <p:nvPr/>
        </p:nvSpPr>
        <p:spPr>
          <a:xfrm>
            <a:off x="2950274" y="422295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2" name="TextBox 151">
            <a:extLst>
              <a:ext uri="{FF2B5EF4-FFF2-40B4-BE49-F238E27FC236}">
                <a16:creationId xmlns:a16="http://schemas.microsoft.com/office/drawing/2014/main" id="{FFC49AEA-2A8F-250C-A86A-A7751D9706C3}"/>
              </a:ext>
            </a:extLst>
          </p:cNvPr>
          <p:cNvSpPr txBox="1"/>
          <p:nvPr/>
        </p:nvSpPr>
        <p:spPr>
          <a:xfrm>
            <a:off x="815712" y="4486034"/>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0.5% </a:t>
            </a:r>
            <a:r>
              <a:rPr lang="ko-KR" altLang="en-US" dirty="0"/>
              <a:t>이상 하자발생 또는 감액 받은 사실이 있는 자</a:t>
            </a:r>
          </a:p>
        </p:txBody>
      </p:sp>
      <p:sp>
        <p:nvSpPr>
          <p:cNvPr id="153" name="TextBox 152">
            <a:extLst>
              <a:ext uri="{FF2B5EF4-FFF2-40B4-BE49-F238E27FC236}">
                <a16:creationId xmlns:a16="http://schemas.microsoft.com/office/drawing/2014/main" id="{FFC49AEA-2A8F-250C-A86A-A7751D9706C3}"/>
              </a:ext>
            </a:extLst>
          </p:cNvPr>
          <p:cNvSpPr txBox="1"/>
          <p:nvPr/>
        </p:nvSpPr>
        <p:spPr>
          <a:xfrm>
            <a:off x="2567798" y="4647616"/>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3286328" y="491140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815712" y="5013613"/>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0.1% </a:t>
            </a:r>
            <a:r>
              <a:rPr lang="ko-KR" altLang="en-US" dirty="0"/>
              <a:t>이상 </a:t>
            </a:r>
            <a:r>
              <a:rPr lang="en-US" altLang="ko-KR" dirty="0"/>
              <a:t>0.5% </a:t>
            </a:r>
            <a:r>
              <a:rPr lang="ko-KR" altLang="en-US" dirty="0"/>
              <a:t>미만 하자발생 또는 감액 받은 사실이 있는 자</a:t>
            </a:r>
          </a:p>
        </p:txBody>
      </p:sp>
      <p:cxnSp>
        <p:nvCxnSpPr>
          <p:cNvPr id="170" name="직선 연결선 169">
            <a:extLst>
              <a:ext uri="{FF2B5EF4-FFF2-40B4-BE49-F238E27FC236}">
                <a16:creationId xmlns:a16="http://schemas.microsoft.com/office/drawing/2014/main" id="{E9293055-D5CD-4B9E-7F64-64B2D2CA7A52}"/>
              </a:ext>
            </a:extLst>
          </p:cNvPr>
          <p:cNvCxnSpPr/>
          <p:nvPr/>
        </p:nvCxnSpPr>
        <p:spPr>
          <a:xfrm>
            <a:off x="719050" y="496526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1" name="TextBox 170">
            <a:extLst>
              <a:ext uri="{FF2B5EF4-FFF2-40B4-BE49-F238E27FC236}">
                <a16:creationId xmlns:a16="http://schemas.microsoft.com/office/drawing/2014/main" id="{FFC49AEA-2A8F-250C-A86A-A7751D9706C3}"/>
              </a:ext>
            </a:extLst>
          </p:cNvPr>
          <p:cNvSpPr txBox="1"/>
          <p:nvPr/>
        </p:nvSpPr>
        <p:spPr>
          <a:xfrm>
            <a:off x="2518106" y="5175195"/>
            <a:ext cx="205184"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75" name="TextBox 74">
            <a:extLst>
              <a:ext uri="{FF2B5EF4-FFF2-40B4-BE49-F238E27FC236}">
                <a16:creationId xmlns:a16="http://schemas.microsoft.com/office/drawing/2014/main" id="{FFC49AEA-2A8F-250C-A86A-A7751D9706C3}"/>
              </a:ext>
            </a:extLst>
          </p:cNvPr>
          <p:cNvSpPr txBox="1"/>
          <p:nvPr/>
        </p:nvSpPr>
        <p:spPr>
          <a:xfrm>
            <a:off x="3910665" y="14994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76" name="TextBox 75">
            <a:extLst>
              <a:ext uri="{FF2B5EF4-FFF2-40B4-BE49-F238E27FC236}">
                <a16:creationId xmlns:a16="http://schemas.microsoft.com/office/drawing/2014/main" id="{FFC49AEA-2A8F-250C-A86A-A7751D9706C3}"/>
              </a:ext>
            </a:extLst>
          </p:cNvPr>
          <p:cNvSpPr txBox="1"/>
          <p:nvPr/>
        </p:nvSpPr>
        <p:spPr>
          <a:xfrm>
            <a:off x="4435522" y="1572746"/>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77" name="TextBox 76">
            <a:extLst>
              <a:ext uri="{FF2B5EF4-FFF2-40B4-BE49-F238E27FC236}">
                <a16:creationId xmlns:a16="http://schemas.microsoft.com/office/drawing/2014/main" id="{FFC49AEA-2A8F-250C-A86A-A7751D9706C3}"/>
              </a:ext>
            </a:extLst>
          </p:cNvPr>
          <p:cNvSpPr txBox="1"/>
          <p:nvPr/>
        </p:nvSpPr>
        <p:spPr>
          <a:xfrm>
            <a:off x="3910665" y="16832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78" name="TextBox 77">
            <a:extLst>
              <a:ext uri="{FF2B5EF4-FFF2-40B4-BE49-F238E27FC236}">
                <a16:creationId xmlns:a16="http://schemas.microsoft.com/office/drawing/2014/main" id="{FFC49AEA-2A8F-250C-A86A-A7751D9706C3}"/>
              </a:ext>
            </a:extLst>
          </p:cNvPr>
          <p:cNvSpPr txBox="1"/>
          <p:nvPr/>
        </p:nvSpPr>
        <p:spPr>
          <a:xfrm>
            <a:off x="4435522" y="1756526"/>
            <a:ext cx="2010812" cy="107722"/>
          </a:xfrm>
          <a:prstGeom prst="rect">
            <a:avLst/>
          </a:prstGeom>
          <a:noFill/>
        </p:spPr>
        <p:txBody>
          <a:bodyPr wrap="square" lIns="0" tIns="0" rIns="0" bIns="0" rtlCol="0">
            <a:spAutoFit/>
          </a:bodyPr>
          <a:lstStyle/>
          <a:p>
            <a:r>
              <a:rPr lang="ko-KR" altLang="en-US" sz="700" dirty="0">
                <a:latin typeface="+mn-ea"/>
              </a:rPr>
              <a:t>지체상금</a:t>
            </a:r>
          </a:p>
        </p:txBody>
      </p:sp>
      <p:sp>
        <p:nvSpPr>
          <p:cNvPr id="79" name="TextBox 78">
            <a:extLst>
              <a:ext uri="{FF2B5EF4-FFF2-40B4-BE49-F238E27FC236}">
                <a16:creationId xmlns:a16="http://schemas.microsoft.com/office/drawing/2014/main" id="{FFC49AEA-2A8F-250C-A86A-A7751D9706C3}"/>
              </a:ext>
            </a:extLst>
          </p:cNvPr>
          <p:cNvSpPr txBox="1"/>
          <p:nvPr/>
        </p:nvSpPr>
        <p:spPr>
          <a:xfrm>
            <a:off x="6036814" y="17565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80" name="직사각형 79"/>
          <p:cNvSpPr/>
          <p:nvPr/>
        </p:nvSpPr>
        <p:spPr>
          <a:xfrm>
            <a:off x="3835134" y="1917604"/>
            <a:ext cx="1639886" cy="12671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TextBox 80">
            <a:extLst>
              <a:ext uri="{FF2B5EF4-FFF2-40B4-BE49-F238E27FC236}">
                <a16:creationId xmlns:a16="http://schemas.microsoft.com/office/drawing/2014/main" id="{FFC49AEA-2A8F-250C-A86A-A7751D9706C3}"/>
              </a:ext>
            </a:extLst>
          </p:cNvPr>
          <p:cNvSpPr txBox="1"/>
          <p:nvPr/>
        </p:nvSpPr>
        <p:spPr>
          <a:xfrm>
            <a:off x="3922197" y="191760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82" name="TextBox 81">
            <a:extLst>
              <a:ext uri="{FF2B5EF4-FFF2-40B4-BE49-F238E27FC236}">
                <a16:creationId xmlns:a16="http://schemas.microsoft.com/office/drawing/2014/main" id="{FFC49AEA-2A8F-250C-A86A-A7751D9706C3}"/>
              </a:ext>
            </a:extLst>
          </p:cNvPr>
          <p:cNvSpPr txBox="1"/>
          <p:nvPr/>
        </p:nvSpPr>
        <p:spPr>
          <a:xfrm>
            <a:off x="5650239" y="191760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83" name="직선 연결선 82">
            <a:extLst>
              <a:ext uri="{FF2B5EF4-FFF2-40B4-BE49-F238E27FC236}">
                <a16:creationId xmlns:a16="http://schemas.microsoft.com/office/drawing/2014/main" id="{E9293055-D5CD-4B9E-7F64-64B2D2CA7A52}"/>
              </a:ext>
            </a:extLst>
          </p:cNvPr>
          <p:cNvCxnSpPr/>
          <p:nvPr/>
        </p:nvCxnSpPr>
        <p:spPr>
          <a:xfrm>
            <a:off x="3832437" y="191760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3834530" y="21323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5" name="직선 연결선 84">
            <a:extLst>
              <a:ext uri="{FF2B5EF4-FFF2-40B4-BE49-F238E27FC236}">
                <a16:creationId xmlns:a16="http://schemas.microsoft.com/office/drawing/2014/main" id="{E9293055-D5CD-4B9E-7F64-64B2D2CA7A52}"/>
              </a:ext>
            </a:extLst>
          </p:cNvPr>
          <p:cNvCxnSpPr/>
          <p:nvPr/>
        </p:nvCxnSpPr>
        <p:spPr>
          <a:xfrm>
            <a:off x="3834530" y="31875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TextBox 85">
            <a:extLst>
              <a:ext uri="{FF2B5EF4-FFF2-40B4-BE49-F238E27FC236}">
                <a16:creationId xmlns:a16="http://schemas.microsoft.com/office/drawing/2014/main" id="{FFC49AEA-2A8F-250C-A86A-A7751D9706C3}"/>
              </a:ext>
            </a:extLst>
          </p:cNvPr>
          <p:cNvSpPr txBox="1"/>
          <p:nvPr/>
        </p:nvSpPr>
        <p:spPr>
          <a:xfrm>
            <a:off x="6070609" y="191760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87" name="TextBox 86">
            <a:extLst>
              <a:ext uri="{FF2B5EF4-FFF2-40B4-BE49-F238E27FC236}">
                <a16:creationId xmlns:a16="http://schemas.microsoft.com/office/drawing/2014/main" id="{FFC49AEA-2A8F-250C-A86A-A7751D9706C3}"/>
              </a:ext>
            </a:extLst>
          </p:cNvPr>
          <p:cNvSpPr txBox="1"/>
          <p:nvPr/>
        </p:nvSpPr>
        <p:spPr>
          <a:xfrm>
            <a:off x="3936047" y="2180689"/>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0.5% </a:t>
            </a:r>
            <a:r>
              <a:rPr lang="ko-KR" altLang="en-US" dirty="0"/>
              <a:t>이상 하자발생 또는 감액 받은 사실이 있는 자</a:t>
            </a:r>
          </a:p>
        </p:txBody>
      </p:sp>
      <p:sp>
        <p:nvSpPr>
          <p:cNvPr id="88" name="TextBox 87">
            <a:extLst>
              <a:ext uri="{FF2B5EF4-FFF2-40B4-BE49-F238E27FC236}">
                <a16:creationId xmlns:a16="http://schemas.microsoft.com/office/drawing/2014/main" id="{FFC49AEA-2A8F-250C-A86A-A7751D9706C3}"/>
              </a:ext>
            </a:extLst>
          </p:cNvPr>
          <p:cNvSpPr txBox="1"/>
          <p:nvPr/>
        </p:nvSpPr>
        <p:spPr>
          <a:xfrm>
            <a:off x="5688133" y="2342271"/>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89" name="TextBox 88">
            <a:extLst>
              <a:ext uri="{FF2B5EF4-FFF2-40B4-BE49-F238E27FC236}">
                <a16:creationId xmlns:a16="http://schemas.microsoft.com/office/drawing/2014/main" id="{FFC49AEA-2A8F-250C-A86A-A7751D9706C3}"/>
              </a:ext>
            </a:extLst>
          </p:cNvPr>
          <p:cNvSpPr txBox="1"/>
          <p:nvPr/>
        </p:nvSpPr>
        <p:spPr>
          <a:xfrm>
            <a:off x="6406663" y="26060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90" name="TextBox 89">
            <a:extLst>
              <a:ext uri="{FF2B5EF4-FFF2-40B4-BE49-F238E27FC236}">
                <a16:creationId xmlns:a16="http://schemas.microsoft.com/office/drawing/2014/main" id="{FFC49AEA-2A8F-250C-A86A-A7751D9706C3}"/>
              </a:ext>
            </a:extLst>
          </p:cNvPr>
          <p:cNvSpPr txBox="1"/>
          <p:nvPr/>
        </p:nvSpPr>
        <p:spPr>
          <a:xfrm>
            <a:off x="3936047" y="2708268"/>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0.1% </a:t>
            </a:r>
            <a:r>
              <a:rPr lang="ko-KR" altLang="en-US" dirty="0"/>
              <a:t>이상 </a:t>
            </a:r>
            <a:r>
              <a:rPr lang="en-US" altLang="ko-KR" dirty="0"/>
              <a:t>0.5% </a:t>
            </a:r>
            <a:r>
              <a:rPr lang="ko-KR" altLang="en-US" dirty="0"/>
              <a:t>미만 하자발생 또는 감액 받은 사실이 있는 자</a:t>
            </a:r>
          </a:p>
        </p:txBody>
      </p:sp>
      <p:cxnSp>
        <p:nvCxnSpPr>
          <p:cNvPr id="91" name="직선 연결선 90">
            <a:extLst>
              <a:ext uri="{FF2B5EF4-FFF2-40B4-BE49-F238E27FC236}">
                <a16:creationId xmlns:a16="http://schemas.microsoft.com/office/drawing/2014/main" id="{E9293055-D5CD-4B9E-7F64-64B2D2CA7A52}"/>
              </a:ext>
            </a:extLst>
          </p:cNvPr>
          <p:cNvCxnSpPr/>
          <p:nvPr/>
        </p:nvCxnSpPr>
        <p:spPr>
          <a:xfrm>
            <a:off x="3839385" y="265992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5638441" y="2869850"/>
            <a:ext cx="205184"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95" name="TextBox 94">
            <a:extLst>
              <a:ext uri="{FF2B5EF4-FFF2-40B4-BE49-F238E27FC236}">
                <a16:creationId xmlns:a16="http://schemas.microsoft.com/office/drawing/2014/main" id="{FFC49AEA-2A8F-250C-A86A-A7751D9706C3}"/>
              </a:ext>
            </a:extLst>
          </p:cNvPr>
          <p:cNvSpPr txBox="1"/>
          <p:nvPr/>
        </p:nvSpPr>
        <p:spPr>
          <a:xfrm>
            <a:off x="3910665" y="329438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96" name="TextBox 95">
            <a:extLst>
              <a:ext uri="{FF2B5EF4-FFF2-40B4-BE49-F238E27FC236}">
                <a16:creationId xmlns:a16="http://schemas.microsoft.com/office/drawing/2014/main" id="{FFC49AEA-2A8F-250C-A86A-A7751D9706C3}"/>
              </a:ext>
            </a:extLst>
          </p:cNvPr>
          <p:cNvSpPr txBox="1"/>
          <p:nvPr/>
        </p:nvSpPr>
        <p:spPr>
          <a:xfrm>
            <a:off x="4435522" y="3367670"/>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노사협력관계</a:t>
            </a:r>
          </a:p>
        </p:txBody>
      </p:sp>
      <p:sp>
        <p:nvSpPr>
          <p:cNvPr id="97" name="TextBox 96">
            <a:extLst>
              <a:ext uri="{FF2B5EF4-FFF2-40B4-BE49-F238E27FC236}">
                <a16:creationId xmlns:a16="http://schemas.microsoft.com/office/drawing/2014/main" id="{FFC49AEA-2A8F-250C-A86A-A7751D9706C3}"/>
              </a:ext>
            </a:extLst>
          </p:cNvPr>
          <p:cNvSpPr txBox="1"/>
          <p:nvPr/>
        </p:nvSpPr>
        <p:spPr>
          <a:xfrm>
            <a:off x="3910665" y="347816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98" name="TextBox 97">
            <a:extLst>
              <a:ext uri="{FF2B5EF4-FFF2-40B4-BE49-F238E27FC236}">
                <a16:creationId xmlns:a16="http://schemas.microsoft.com/office/drawing/2014/main" id="{FFC49AEA-2A8F-250C-A86A-A7751D9706C3}"/>
              </a:ext>
            </a:extLst>
          </p:cNvPr>
          <p:cNvSpPr txBox="1"/>
          <p:nvPr/>
        </p:nvSpPr>
        <p:spPr>
          <a:xfrm>
            <a:off x="4435522" y="3551450"/>
            <a:ext cx="2010812" cy="107722"/>
          </a:xfrm>
          <a:prstGeom prst="rect">
            <a:avLst/>
          </a:prstGeom>
          <a:noFill/>
        </p:spPr>
        <p:txBody>
          <a:bodyPr wrap="square" lIns="0" tIns="0" rIns="0" bIns="0" rtlCol="0">
            <a:spAutoFit/>
          </a:bodyPr>
          <a:lstStyle/>
          <a:p>
            <a:r>
              <a:rPr lang="ko-KR" altLang="en-US" sz="700" dirty="0">
                <a:latin typeface="+mn-ea"/>
              </a:rPr>
              <a:t>노사협력우량기업</a:t>
            </a:r>
          </a:p>
        </p:txBody>
      </p:sp>
      <p:sp>
        <p:nvSpPr>
          <p:cNvPr id="99" name="TextBox 98">
            <a:extLst>
              <a:ext uri="{FF2B5EF4-FFF2-40B4-BE49-F238E27FC236}">
                <a16:creationId xmlns:a16="http://schemas.microsoft.com/office/drawing/2014/main" id="{FFC49AEA-2A8F-250C-A86A-A7751D9706C3}"/>
              </a:ext>
            </a:extLst>
          </p:cNvPr>
          <p:cNvSpPr txBox="1"/>
          <p:nvPr/>
        </p:nvSpPr>
        <p:spPr>
          <a:xfrm>
            <a:off x="6036814" y="3551450"/>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00" name="직사각형 99"/>
          <p:cNvSpPr/>
          <p:nvPr/>
        </p:nvSpPr>
        <p:spPr>
          <a:xfrm>
            <a:off x="3835134" y="3712528"/>
            <a:ext cx="1639886" cy="6391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3922197" y="3712529"/>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5650239" y="371252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3832437" y="371252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3834530" y="39272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3834530" y="43475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FFC49AEA-2A8F-250C-A86A-A7751D9706C3}"/>
              </a:ext>
            </a:extLst>
          </p:cNvPr>
          <p:cNvSpPr txBox="1"/>
          <p:nvPr/>
        </p:nvSpPr>
        <p:spPr>
          <a:xfrm>
            <a:off x="6070609" y="371252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07" name="TextBox 106">
            <a:extLst>
              <a:ext uri="{FF2B5EF4-FFF2-40B4-BE49-F238E27FC236}">
                <a16:creationId xmlns:a16="http://schemas.microsoft.com/office/drawing/2014/main" id="{FFC49AEA-2A8F-250C-A86A-A7751D9706C3}"/>
              </a:ext>
            </a:extLst>
          </p:cNvPr>
          <p:cNvSpPr txBox="1"/>
          <p:nvPr/>
        </p:nvSpPr>
        <p:spPr>
          <a:xfrm>
            <a:off x="3936047" y="397561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err="1"/>
              <a:t>신노사문화우수기업</a:t>
            </a:r>
            <a:r>
              <a:rPr lang="en-US" altLang="ko-KR" dirty="0"/>
              <a:t>(</a:t>
            </a:r>
            <a:r>
              <a:rPr lang="ko-KR" altLang="en-US" dirty="0"/>
              <a:t>대상기업 포함</a:t>
            </a:r>
            <a:r>
              <a:rPr lang="en-US" altLang="ko-KR" dirty="0"/>
              <a:t>)</a:t>
            </a:r>
            <a:r>
              <a:rPr lang="ko-KR" altLang="en-US" dirty="0"/>
              <a:t>으로 선정된 업체</a:t>
            </a:r>
            <a:r>
              <a:rPr lang="en-US" altLang="ko-KR" dirty="0"/>
              <a:t>(</a:t>
            </a:r>
            <a:r>
              <a:rPr lang="ko-KR" altLang="en-US" dirty="0"/>
              <a:t>유효기간 내에 한함</a:t>
            </a:r>
            <a:r>
              <a:rPr lang="en-US" altLang="ko-KR" dirty="0"/>
              <a:t>) </a:t>
            </a:r>
            <a:r>
              <a:rPr lang="ko-KR" altLang="en-US" dirty="0"/>
              <a:t>단</a:t>
            </a:r>
            <a:r>
              <a:rPr lang="en-US" altLang="ko-KR" dirty="0"/>
              <a:t>, </a:t>
            </a:r>
            <a:r>
              <a:rPr lang="ko-KR" altLang="en-US" dirty="0" err="1"/>
              <a:t>급식분야는</a:t>
            </a:r>
            <a:r>
              <a:rPr lang="ko-KR" altLang="en-US" dirty="0"/>
              <a:t> </a:t>
            </a:r>
            <a:r>
              <a:rPr lang="en-US" altLang="ko-KR" dirty="0"/>
              <a:t>0.25</a:t>
            </a:r>
            <a:r>
              <a:rPr lang="ko-KR" altLang="en-US" dirty="0"/>
              <a:t>점</a:t>
            </a:r>
          </a:p>
        </p:txBody>
      </p:sp>
      <p:sp>
        <p:nvSpPr>
          <p:cNvPr id="108" name="TextBox 107">
            <a:extLst>
              <a:ext uri="{FF2B5EF4-FFF2-40B4-BE49-F238E27FC236}">
                <a16:creationId xmlns:a16="http://schemas.microsoft.com/office/drawing/2014/main" id="{FFC49AEA-2A8F-250C-A86A-A7751D9706C3}"/>
              </a:ext>
            </a:extLst>
          </p:cNvPr>
          <p:cNvSpPr txBox="1"/>
          <p:nvPr/>
        </p:nvSpPr>
        <p:spPr>
          <a:xfrm>
            <a:off x="5725003" y="4083334"/>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6406663" y="408333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13" name="직선 연결선 112">
            <a:extLst>
              <a:ext uri="{FF2B5EF4-FFF2-40B4-BE49-F238E27FC236}">
                <a16:creationId xmlns:a16="http://schemas.microsoft.com/office/drawing/2014/main" id="{E9293055-D5CD-4B9E-7F64-64B2D2CA7A52}"/>
              </a:ext>
            </a:extLst>
          </p:cNvPr>
          <p:cNvCxnSpPr/>
          <p:nvPr/>
        </p:nvCxnSpPr>
        <p:spPr>
          <a:xfrm>
            <a:off x="3795734" y="442123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3910665" y="4482932"/>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 </a:t>
            </a:r>
            <a:r>
              <a:rPr lang="ko-KR" altLang="en-US" dirty="0"/>
              <a:t>기타</a:t>
            </a:r>
          </a:p>
        </p:txBody>
      </p:sp>
      <p:sp>
        <p:nvSpPr>
          <p:cNvPr id="115" name="TextBox 114">
            <a:extLst>
              <a:ext uri="{FF2B5EF4-FFF2-40B4-BE49-F238E27FC236}">
                <a16:creationId xmlns:a16="http://schemas.microsoft.com/office/drawing/2014/main" id="{FFC49AEA-2A8F-250C-A86A-A7751D9706C3}"/>
              </a:ext>
            </a:extLst>
          </p:cNvPr>
          <p:cNvSpPr txBox="1"/>
          <p:nvPr/>
        </p:nvSpPr>
        <p:spPr>
          <a:xfrm>
            <a:off x="3910665" y="468316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4435522" y="4756457"/>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노사협력관계</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3910665" y="486694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4435522" y="4940237"/>
            <a:ext cx="2010812" cy="107722"/>
          </a:xfrm>
          <a:prstGeom prst="rect">
            <a:avLst/>
          </a:prstGeom>
          <a:noFill/>
        </p:spPr>
        <p:txBody>
          <a:bodyPr wrap="square" lIns="0" tIns="0" rIns="0" bIns="0" rtlCol="0">
            <a:spAutoFit/>
          </a:bodyPr>
          <a:lstStyle/>
          <a:p>
            <a:r>
              <a:rPr lang="ko-KR" altLang="en-US" sz="700" dirty="0">
                <a:latin typeface="+mn-ea"/>
              </a:rPr>
              <a:t>기술혁신여부</a:t>
            </a:r>
          </a:p>
        </p:txBody>
      </p:sp>
      <p:sp>
        <p:nvSpPr>
          <p:cNvPr id="119" name="TextBox 118">
            <a:extLst>
              <a:ext uri="{FF2B5EF4-FFF2-40B4-BE49-F238E27FC236}">
                <a16:creationId xmlns:a16="http://schemas.microsoft.com/office/drawing/2014/main" id="{FFC49AEA-2A8F-250C-A86A-A7751D9706C3}"/>
              </a:ext>
            </a:extLst>
          </p:cNvPr>
          <p:cNvSpPr txBox="1"/>
          <p:nvPr/>
        </p:nvSpPr>
        <p:spPr>
          <a:xfrm>
            <a:off x="6036814" y="494023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20" name="직사각형 119"/>
          <p:cNvSpPr/>
          <p:nvPr/>
        </p:nvSpPr>
        <p:spPr>
          <a:xfrm>
            <a:off x="3835134" y="5101315"/>
            <a:ext cx="1639886" cy="65574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1" name="TextBox 120">
            <a:extLst>
              <a:ext uri="{FF2B5EF4-FFF2-40B4-BE49-F238E27FC236}">
                <a16:creationId xmlns:a16="http://schemas.microsoft.com/office/drawing/2014/main" id="{FFC49AEA-2A8F-250C-A86A-A7751D9706C3}"/>
              </a:ext>
            </a:extLst>
          </p:cNvPr>
          <p:cNvSpPr txBox="1"/>
          <p:nvPr/>
        </p:nvSpPr>
        <p:spPr>
          <a:xfrm>
            <a:off x="3922197" y="510131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22" name="TextBox 121">
            <a:extLst>
              <a:ext uri="{FF2B5EF4-FFF2-40B4-BE49-F238E27FC236}">
                <a16:creationId xmlns:a16="http://schemas.microsoft.com/office/drawing/2014/main" id="{FFC49AEA-2A8F-250C-A86A-A7751D9706C3}"/>
              </a:ext>
            </a:extLst>
          </p:cNvPr>
          <p:cNvSpPr txBox="1"/>
          <p:nvPr/>
        </p:nvSpPr>
        <p:spPr>
          <a:xfrm>
            <a:off x="5650239" y="510131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3832437" y="51013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3834530" y="53160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3834530" y="57570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TextBox 158">
            <a:extLst>
              <a:ext uri="{FF2B5EF4-FFF2-40B4-BE49-F238E27FC236}">
                <a16:creationId xmlns:a16="http://schemas.microsoft.com/office/drawing/2014/main" id="{FFC49AEA-2A8F-250C-A86A-A7751D9706C3}"/>
              </a:ext>
            </a:extLst>
          </p:cNvPr>
          <p:cNvSpPr txBox="1"/>
          <p:nvPr/>
        </p:nvSpPr>
        <p:spPr>
          <a:xfrm>
            <a:off x="6070609" y="510131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3936047" y="5364400"/>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중소기업청장</a:t>
            </a:r>
            <a:r>
              <a:rPr lang="en-US" altLang="ko-KR" dirty="0"/>
              <a:t>(</a:t>
            </a:r>
            <a:r>
              <a:rPr lang="ko-KR" altLang="en-US" dirty="0"/>
              <a:t>또는 </a:t>
            </a:r>
            <a:r>
              <a:rPr lang="ko-KR" altLang="en-US" dirty="0" err="1"/>
              <a:t>위임받은자</a:t>
            </a:r>
            <a:r>
              <a:rPr lang="en-US" altLang="ko-KR" dirty="0"/>
              <a:t>)</a:t>
            </a:r>
            <a:r>
              <a:rPr lang="ko-KR" altLang="en-US" dirty="0"/>
              <a:t>에 의해 ‘</a:t>
            </a:r>
            <a:r>
              <a:rPr lang="ko-KR" altLang="en-US" dirty="0" err="1"/>
              <a:t>기술혁신형</a:t>
            </a:r>
            <a:r>
              <a:rPr lang="ko-KR" altLang="en-US" dirty="0"/>
              <a:t> 중소기업</a:t>
            </a:r>
            <a:r>
              <a:rPr lang="en-US" altLang="ko-KR" dirty="0"/>
              <a:t>(INNO-BIZ)’</a:t>
            </a:r>
            <a:r>
              <a:rPr lang="ko-KR" altLang="en-US" dirty="0"/>
              <a:t>으로 지정 </a:t>
            </a:r>
            <a:r>
              <a:rPr lang="ko-KR" altLang="en-US" dirty="0" err="1"/>
              <a:t>받은자</a:t>
            </a:r>
            <a:endParaRPr lang="ko-KR" altLang="en-US" dirty="0"/>
          </a:p>
        </p:txBody>
      </p:sp>
      <p:sp>
        <p:nvSpPr>
          <p:cNvPr id="161" name="TextBox 160">
            <a:extLst>
              <a:ext uri="{FF2B5EF4-FFF2-40B4-BE49-F238E27FC236}">
                <a16:creationId xmlns:a16="http://schemas.microsoft.com/office/drawing/2014/main" id="{FFC49AEA-2A8F-250C-A86A-A7751D9706C3}"/>
              </a:ext>
            </a:extLst>
          </p:cNvPr>
          <p:cNvSpPr txBox="1"/>
          <p:nvPr/>
        </p:nvSpPr>
        <p:spPr>
          <a:xfrm>
            <a:off x="5688133" y="5472121"/>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6406663" y="547212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8" name="타원 13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26494961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억원미만물품제조일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93" name="TextBox 192">
            <a:extLst>
              <a:ext uri="{FF2B5EF4-FFF2-40B4-BE49-F238E27FC236}">
                <a16:creationId xmlns:a16="http://schemas.microsoft.com/office/drawing/2014/main" id="{FFC49AEA-2A8F-250C-A86A-A7751D9706C3}"/>
              </a:ext>
            </a:extLst>
          </p:cNvPr>
          <p:cNvSpPr txBox="1"/>
          <p:nvPr/>
        </p:nvSpPr>
        <p:spPr>
          <a:xfrm>
            <a:off x="793517" y="14994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1318374" y="1572746"/>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품질형상기여</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793517" y="16832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1318374" y="1756526"/>
            <a:ext cx="2010812" cy="107722"/>
          </a:xfrm>
          <a:prstGeom prst="rect">
            <a:avLst/>
          </a:prstGeom>
          <a:noFill/>
        </p:spPr>
        <p:txBody>
          <a:bodyPr wrap="square" lIns="0" tIns="0" rIns="0" bIns="0" rtlCol="0">
            <a:spAutoFit/>
          </a:bodyPr>
          <a:lstStyle/>
          <a:p>
            <a:r>
              <a:rPr lang="ko-KR" altLang="en-US" sz="700" dirty="0">
                <a:latin typeface="+mn-ea"/>
              </a:rPr>
              <a:t>품질향상기여</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2919666" y="17565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98" name="직사각형 197"/>
          <p:cNvSpPr/>
          <p:nvPr/>
        </p:nvSpPr>
        <p:spPr>
          <a:xfrm>
            <a:off x="717986" y="1917604"/>
            <a:ext cx="1639886" cy="5235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805049" y="191760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2533091" y="191760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715289" y="191760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17382" y="21323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17382" y="24411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TextBox 203">
            <a:extLst>
              <a:ext uri="{FF2B5EF4-FFF2-40B4-BE49-F238E27FC236}">
                <a16:creationId xmlns:a16="http://schemas.microsoft.com/office/drawing/2014/main" id="{FFC49AEA-2A8F-250C-A86A-A7751D9706C3}"/>
              </a:ext>
            </a:extLst>
          </p:cNvPr>
          <p:cNvSpPr txBox="1"/>
          <p:nvPr/>
        </p:nvSpPr>
        <p:spPr>
          <a:xfrm>
            <a:off x="2953461" y="191760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818899" y="217760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산업자원부장관이 선정한 ’세계인류상품생산기업’</a:t>
            </a:r>
          </a:p>
        </p:txBody>
      </p:sp>
      <p:sp>
        <p:nvSpPr>
          <p:cNvPr id="206" name="TextBox 205">
            <a:extLst>
              <a:ext uri="{FF2B5EF4-FFF2-40B4-BE49-F238E27FC236}">
                <a16:creationId xmlns:a16="http://schemas.microsoft.com/office/drawing/2014/main" id="{FFC49AEA-2A8F-250C-A86A-A7751D9706C3}"/>
              </a:ext>
            </a:extLst>
          </p:cNvPr>
          <p:cNvSpPr txBox="1"/>
          <p:nvPr/>
        </p:nvSpPr>
        <p:spPr>
          <a:xfrm>
            <a:off x="2607854" y="2231466"/>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3289515" y="223146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793517" y="253612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1318374" y="2609409"/>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성실납세여부</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793517" y="271990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26" name="TextBox 125">
            <a:extLst>
              <a:ext uri="{FF2B5EF4-FFF2-40B4-BE49-F238E27FC236}">
                <a16:creationId xmlns:a16="http://schemas.microsoft.com/office/drawing/2014/main" id="{FFC49AEA-2A8F-250C-A86A-A7751D9706C3}"/>
              </a:ext>
            </a:extLst>
          </p:cNvPr>
          <p:cNvSpPr txBox="1"/>
          <p:nvPr/>
        </p:nvSpPr>
        <p:spPr>
          <a:xfrm>
            <a:off x="1318374" y="2793189"/>
            <a:ext cx="2010812" cy="107722"/>
          </a:xfrm>
          <a:prstGeom prst="rect">
            <a:avLst/>
          </a:prstGeom>
          <a:noFill/>
        </p:spPr>
        <p:txBody>
          <a:bodyPr wrap="square" lIns="0" tIns="0" rIns="0" bIns="0" rtlCol="0">
            <a:spAutoFit/>
          </a:bodyPr>
          <a:lstStyle/>
          <a:p>
            <a:r>
              <a:rPr lang="ko-KR" altLang="en-US" sz="700" dirty="0">
                <a:latin typeface="+mn-ea"/>
              </a:rPr>
              <a:t>성실납세여부</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2919666" y="2793189"/>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0.25</a:t>
            </a:r>
          </a:p>
        </p:txBody>
      </p:sp>
      <p:sp>
        <p:nvSpPr>
          <p:cNvPr id="128" name="직사각형 127"/>
          <p:cNvSpPr/>
          <p:nvPr/>
        </p:nvSpPr>
        <p:spPr>
          <a:xfrm>
            <a:off x="717986" y="2954267"/>
            <a:ext cx="1639886" cy="42672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805049" y="295426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533091" y="295426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1" name="직선 연결선 130">
            <a:extLst>
              <a:ext uri="{FF2B5EF4-FFF2-40B4-BE49-F238E27FC236}">
                <a16:creationId xmlns:a16="http://schemas.microsoft.com/office/drawing/2014/main" id="{E9293055-D5CD-4B9E-7F64-64B2D2CA7A52}"/>
              </a:ext>
            </a:extLst>
          </p:cNvPr>
          <p:cNvCxnSpPr/>
          <p:nvPr/>
        </p:nvCxnSpPr>
        <p:spPr>
          <a:xfrm>
            <a:off x="715289" y="295426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17382" y="31690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17382" y="33822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2953461" y="29542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5" name="TextBox 134">
            <a:extLst>
              <a:ext uri="{FF2B5EF4-FFF2-40B4-BE49-F238E27FC236}">
                <a16:creationId xmlns:a16="http://schemas.microsoft.com/office/drawing/2014/main" id="{FFC49AEA-2A8F-250C-A86A-A7751D9706C3}"/>
              </a:ext>
            </a:extLst>
          </p:cNvPr>
          <p:cNvSpPr txBox="1"/>
          <p:nvPr/>
        </p:nvSpPr>
        <p:spPr>
          <a:xfrm>
            <a:off x="818899" y="3214268"/>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국세청장이 지정한 모범성실납세자</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2558161" y="3214268"/>
            <a:ext cx="16831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3289515" y="32142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66" name="직선 연결선 165">
            <a:extLst>
              <a:ext uri="{FF2B5EF4-FFF2-40B4-BE49-F238E27FC236}">
                <a16:creationId xmlns:a16="http://schemas.microsoft.com/office/drawing/2014/main" id="{E9293055-D5CD-4B9E-7F64-64B2D2CA7A52}"/>
              </a:ext>
            </a:extLst>
          </p:cNvPr>
          <p:cNvCxnSpPr/>
          <p:nvPr/>
        </p:nvCxnSpPr>
        <p:spPr>
          <a:xfrm>
            <a:off x="3795734" y="644490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793517" y="34863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1318374" y="3559638"/>
            <a:ext cx="2010812" cy="107722"/>
          </a:xfrm>
          <a:prstGeom prst="rect">
            <a:avLst/>
          </a:prstGeom>
          <a:noFill/>
        </p:spPr>
        <p:txBody>
          <a:bodyPr wrap="square" lIns="0" tIns="0" rIns="0" bIns="0" rtlCol="0">
            <a:spAutoFit/>
          </a:bodyPr>
          <a:lstStyle/>
          <a:p>
            <a:r>
              <a:rPr lang="en-US" altLang="ko-KR" sz="700" dirty="0">
                <a:latin typeface="+mn-ea"/>
              </a:rPr>
              <a:t>4.</a:t>
            </a:r>
            <a:r>
              <a:rPr lang="ko-KR" altLang="en-US" sz="700" dirty="0">
                <a:latin typeface="+mn-ea"/>
              </a:rPr>
              <a:t>비상대비 중점관리 </a:t>
            </a:r>
            <a:r>
              <a:rPr lang="ko-KR" altLang="en-US" sz="700" dirty="0" err="1">
                <a:latin typeface="+mn-ea"/>
              </a:rPr>
              <a:t>대상여부</a:t>
            </a:r>
            <a:endParaRPr lang="ko-KR" altLang="en-US"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793517" y="367013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1318374" y="3743418"/>
            <a:ext cx="2010812" cy="107722"/>
          </a:xfrm>
          <a:prstGeom prst="rect">
            <a:avLst/>
          </a:prstGeom>
          <a:noFill/>
        </p:spPr>
        <p:txBody>
          <a:bodyPr wrap="square" lIns="0" tIns="0" rIns="0" bIns="0" rtlCol="0">
            <a:spAutoFit/>
          </a:bodyPr>
          <a:lstStyle/>
          <a:p>
            <a:r>
              <a:rPr lang="ko-KR" altLang="en-US" sz="700" dirty="0">
                <a:latin typeface="+mn-ea"/>
              </a:rPr>
              <a:t>비상대비 중점관리 </a:t>
            </a:r>
            <a:r>
              <a:rPr lang="ko-KR" altLang="en-US" sz="700" dirty="0" err="1">
                <a:latin typeface="+mn-ea"/>
              </a:rPr>
              <a:t>대상여부</a:t>
            </a:r>
            <a:endParaRPr lang="ko-KR" altLang="en-US" sz="700" dirty="0">
              <a:latin typeface="+mn-ea"/>
            </a:endParaRPr>
          </a:p>
        </p:txBody>
      </p:sp>
      <p:sp>
        <p:nvSpPr>
          <p:cNvPr id="169" name="TextBox 168">
            <a:extLst>
              <a:ext uri="{FF2B5EF4-FFF2-40B4-BE49-F238E27FC236}">
                <a16:creationId xmlns:a16="http://schemas.microsoft.com/office/drawing/2014/main" id="{FFC49AEA-2A8F-250C-A86A-A7751D9706C3}"/>
              </a:ext>
            </a:extLst>
          </p:cNvPr>
          <p:cNvSpPr txBox="1"/>
          <p:nvPr/>
        </p:nvSpPr>
        <p:spPr>
          <a:xfrm>
            <a:off x="2919666" y="374341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72" name="직사각형 171"/>
          <p:cNvSpPr/>
          <p:nvPr/>
        </p:nvSpPr>
        <p:spPr>
          <a:xfrm>
            <a:off x="717986" y="3904496"/>
            <a:ext cx="1639886" cy="5235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805049" y="3904497"/>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33091" y="3904497"/>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715289" y="39044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17382" y="411923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17382" y="44279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9" name="TextBox 178">
            <a:extLst>
              <a:ext uri="{FF2B5EF4-FFF2-40B4-BE49-F238E27FC236}">
                <a16:creationId xmlns:a16="http://schemas.microsoft.com/office/drawing/2014/main" id="{FFC49AEA-2A8F-250C-A86A-A7751D9706C3}"/>
              </a:ext>
            </a:extLst>
          </p:cNvPr>
          <p:cNvSpPr txBox="1"/>
          <p:nvPr/>
        </p:nvSpPr>
        <p:spPr>
          <a:xfrm>
            <a:off x="2953461" y="390449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0" name="TextBox 179">
            <a:extLst>
              <a:ext uri="{FF2B5EF4-FFF2-40B4-BE49-F238E27FC236}">
                <a16:creationId xmlns:a16="http://schemas.microsoft.com/office/drawing/2014/main" id="{FFC49AEA-2A8F-250C-A86A-A7751D9706C3}"/>
              </a:ext>
            </a:extLst>
          </p:cNvPr>
          <p:cNvSpPr txBox="1"/>
          <p:nvPr/>
        </p:nvSpPr>
        <p:spPr>
          <a:xfrm>
            <a:off x="818899" y="4164497"/>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행정안전부장관이 확인한 비상대비 중점관리대상업체</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2607854" y="4218358"/>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3289515" y="421835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3" name="TextBox 182">
            <a:extLst>
              <a:ext uri="{FF2B5EF4-FFF2-40B4-BE49-F238E27FC236}">
                <a16:creationId xmlns:a16="http://schemas.microsoft.com/office/drawing/2014/main" id="{FFC49AEA-2A8F-250C-A86A-A7751D9706C3}"/>
              </a:ext>
            </a:extLst>
          </p:cNvPr>
          <p:cNvSpPr txBox="1"/>
          <p:nvPr/>
        </p:nvSpPr>
        <p:spPr>
          <a:xfrm>
            <a:off x="793517" y="454421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84" name="TextBox 183">
            <a:extLst>
              <a:ext uri="{FF2B5EF4-FFF2-40B4-BE49-F238E27FC236}">
                <a16:creationId xmlns:a16="http://schemas.microsoft.com/office/drawing/2014/main" id="{FFC49AEA-2A8F-250C-A86A-A7751D9706C3}"/>
              </a:ext>
            </a:extLst>
          </p:cNvPr>
          <p:cNvSpPr txBox="1"/>
          <p:nvPr/>
        </p:nvSpPr>
        <p:spPr>
          <a:xfrm>
            <a:off x="1318374" y="4617505"/>
            <a:ext cx="2010812" cy="107722"/>
          </a:xfrm>
          <a:prstGeom prst="rect">
            <a:avLst/>
          </a:prstGeom>
          <a:noFill/>
        </p:spPr>
        <p:txBody>
          <a:bodyPr wrap="square" lIns="0" tIns="0" rIns="0" bIns="0" rtlCol="0">
            <a:spAutoFit/>
          </a:bodyPr>
          <a:lstStyle/>
          <a:p>
            <a:r>
              <a:rPr lang="en-US" altLang="ko-KR" sz="700" dirty="0">
                <a:latin typeface="+mn-ea"/>
              </a:rPr>
              <a:t>5.</a:t>
            </a:r>
            <a:r>
              <a:rPr lang="ko-KR" altLang="en-US" sz="700" dirty="0">
                <a:latin typeface="+mn-ea"/>
              </a:rPr>
              <a:t>가족친화 사회환경 조성여부</a:t>
            </a:r>
          </a:p>
        </p:txBody>
      </p:sp>
      <p:sp>
        <p:nvSpPr>
          <p:cNvPr id="185" name="TextBox 184">
            <a:extLst>
              <a:ext uri="{FF2B5EF4-FFF2-40B4-BE49-F238E27FC236}">
                <a16:creationId xmlns:a16="http://schemas.microsoft.com/office/drawing/2014/main" id="{FFC49AEA-2A8F-250C-A86A-A7751D9706C3}"/>
              </a:ext>
            </a:extLst>
          </p:cNvPr>
          <p:cNvSpPr txBox="1"/>
          <p:nvPr/>
        </p:nvSpPr>
        <p:spPr>
          <a:xfrm>
            <a:off x="793517" y="472799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1318374" y="4801285"/>
            <a:ext cx="2010812" cy="107722"/>
          </a:xfrm>
          <a:prstGeom prst="rect">
            <a:avLst/>
          </a:prstGeom>
          <a:noFill/>
        </p:spPr>
        <p:txBody>
          <a:bodyPr wrap="square" lIns="0" tIns="0" rIns="0" bIns="0" rtlCol="0">
            <a:spAutoFit/>
          </a:bodyPr>
          <a:lstStyle/>
          <a:p>
            <a:r>
              <a:rPr lang="ko-KR" altLang="en-US" sz="700" dirty="0">
                <a:latin typeface="+mn-ea"/>
              </a:rPr>
              <a:t>가족친화 사회환경 조성여부</a:t>
            </a:r>
          </a:p>
        </p:txBody>
      </p:sp>
      <p:sp>
        <p:nvSpPr>
          <p:cNvPr id="187" name="TextBox 186">
            <a:extLst>
              <a:ext uri="{FF2B5EF4-FFF2-40B4-BE49-F238E27FC236}">
                <a16:creationId xmlns:a16="http://schemas.microsoft.com/office/drawing/2014/main" id="{FFC49AEA-2A8F-250C-A86A-A7751D9706C3}"/>
              </a:ext>
            </a:extLst>
          </p:cNvPr>
          <p:cNvSpPr txBox="1"/>
          <p:nvPr/>
        </p:nvSpPr>
        <p:spPr>
          <a:xfrm>
            <a:off x="2919666" y="480128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88" name="직사각형 187"/>
          <p:cNvSpPr/>
          <p:nvPr/>
        </p:nvSpPr>
        <p:spPr>
          <a:xfrm>
            <a:off x="717986" y="4962363"/>
            <a:ext cx="1639886" cy="5235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9" name="TextBox 188">
            <a:extLst>
              <a:ext uri="{FF2B5EF4-FFF2-40B4-BE49-F238E27FC236}">
                <a16:creationId xmlns:a16="http://schemas.microsoft.com/office/drawing/2014/main" id="{FFC49AEA-2A8F-250C-A86A-A7751D9706C3}"/>
              </a:ext>
            </a:extLst>
          </p:cNvPr>
          <p:cNvSpPr txBox="1"/>
          <p:nvPr/>
        </p:nvSpPr>
        <p:spPr>
          <a:xfrm>
            <a:off x="805049" y="496236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90" name="TextBox 189">
            <a:extLst>
              <a:ext uri="{FF2B5EF4-FFF2-40B4-BE49-F238E27FC236}">
                <a16:creationId xmlns:a16="http://schemas.microsoft.com/office/drawing/2014/main" id="{FFC49AEA-2A8F-250C-A86A-A7751D9706C3}"/>
              </a:ext>
            </a:extLst>
          </p:cNvPr>
          <p:cNvSpPr txBox="1"/>
          <p:nvPr/>
        </p:nvSpPr>
        <p:spPr>
          <a:xfrm>
            <a:off x="2533091" y="496236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715289" y="496236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17382" y="51771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17382" y="548586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9" name="TextBox 208">
            <a:extLst>
              <a:ext uri="{FF2B5EF4-FFF2-40B4-BE49-F238E27FC236}">
                <a16:creationId xmlns:a16="http://schemas.microsoft.com/office/drawing/2014/main" id="{FFC49AEA-2A8F-250C-A86A-A7751D9706C3}"/>
              </a:ext>
            </a:extLst>
          </p:cNvPr>
          <p:cNvSpPr txBox="1"/>
          <p:nvPr/>
        </p:nvSpPr>
        <p:spPr>
          <a:xfrm>
            <a:off x="2953461" y="496236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818899" y="5222364"/>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여성가족부장관이 선정한 가족친화인증 기업</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2607854" y="5276225"/>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3289515" y="527622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5" name="TextBox 214">
            <a:extLst>
              <a:ext uri="{FF2B5EF4-FFF2-40B4-BE49-F238E27FC236}">
                <a16:creationId xmlns:a16="http://schemas.microsoft.com/office/drawing/2014/main" id="{FFC49AEA-2A8F-250C-A86A-A7751D9706C3}"/>
              </a:ext>
            </a:extLst>
          </p:cNvPr>
          <p:cNvSpPr txBox="1"/>
          <p:nvPr/>
        </p:nvSpPr>
        <p:spPr>
          <a:xfrm>
            <a:off x="3914929" y="14994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4439786" y="1572746"/>
            <a:ext cx="2010812" cy="107722"/>
          </a:xfrm>
          <a:prstGeom prst="rect">
            <a:avLst/>
          </a:prstGeom>
          <a:noFill/>
        </p:spPr>
        <p:txBody>
          <a:bodyPr wrap="square" lIns="0" tIns="0" rIns="0" bIns="0" rtlCol="0">
            <a:spAutoFit/>
          </a:bodyPr>
          <a:lstStyle/>
          <a:p>
            <a:r>
              <a:rPr lang="en-US" altLang="ko-KR" sz="700" dirty="0">
                <a:latin typeface="+mn-ea"/>
              </a:rPr>
              <a:t>6.</a:t>
            </a:r>
            <a:r>
              <a:rPr lang="ko-KR" altLang="en-US" sz="700" dirty="0">
                <a:latin typeface="+mn-ea"/>
              </a:rPr>
              <a:t>고용창출 </a:t>
            </a:r>
            <a:r>
              <a:rPr lang="en-US" altLang="ko-KR" sz="700" dirty="0">
                <a:latin typeface="+mn-ea"/>
              </a:rPr>
              <a:t>100</a:t>
            </a:r>
            <a:r>
              <a:rPr lang="ko-KR" altLang="en-US" sz="700" dirty="0">
                <a:latin typeface="+mn-ea"/>
              </a:rPr>
              <a:t>대 우수기업여부</a:t>
            </a:r>
          </a:p>
        </p:txBody>
      </p:sp>
      <p:sp>
        <p:nvSpPr>
          <p:cNvPr id="217" name="TextBox 216">
            <a:extLst>
              <a:ext uri="{FF2B5EF4-FFF2-40B4-BE49-F238E27FC236}">
                <a16:creationId xmlns:a16="http://schemas.microsoft.com/office/drawing/2014/main" id="{FFC49AEA-2A8F-250C-A86A-A7751D9706C3}"/>
              </a:ext>
            </a:extLst>
          </p:cNvPr>
          <p:cNvSpPr txBox="1"/>
          <p:nvPr/>
        </p:nvSpPr>
        <p:spPr>
          <a:xfrm>
            <a:off x="3914929" y="16832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18" name="TextBox 217">
            <a:extLst>
              <a:ext uri="{FF2B5EF4-FFF2-40B4-BE49-F238E27FC236}">
                <a16:creationId xmlns:a16="http://schemas.microsoft.com/office/drawing/2014/main" id="{FFC49AEA-2A8F-250C-A86A-A7751D9706C3}"/>
              </a:ext>
            </a:extLst>
          </p:cNvPr>
          <p:cNvSpPr txBox="1"/>
          <p:nvPr/>
        </p:nvSpPr>
        <p:spPr>
          <a:xfrm>
            <a:off x="4439786" y="1756526"/>
            <a:ext cx="2010812" cy="107722"/>
          </a:xfrm>
          <a:prstGeom prst="rect">
            <a:avLst/>
          </a:prstGeom>
          <a:noFill/>
        </p:spPr>
        <p:txBody>
          <a:bodyPr wrap="square" lIns="0" tIns="0" rIns="0" bIns="0" rtlCol="0">
            <a:spAutoFit/>
          </a:bodyPr>
          <a:lstStyle/>
          <a:p>
            <a:r>
              <a:rPr lang="ko-KR" altLang="en-US" sz="700" dirty="0">
                <a:latin typeface="+mn-ea"/>
              </a:rPr>
              <a:t>고용창출 </a:t>
            </a:r>
            <a:r>
              <a:rPr lang="en-US" altLang="ko-KR" sz="700" dirty="0">
                <a:latin typeface="+mn-ea"/>
              </a:rPr>
              <a:t>100</a:t>
            </a:r>
            <a:r>
              <a:rPr lang="ko-KR" altLang="en-US" sz="700" dirty="0">
                <a:latin typeface="+mn-ea"/>
              </a:rPr>
              <a:t>대 우수기업여부</a:t>
            </a:r>
          </a:p>
        </p:txBody>
      </p:sp>
      <p:sp>
        <p:nvSpPr>
          <p:cNvPr id="219" name="TextBox 218">
            <a:extLst>
              <a:ext uri="{FF2B5EF4-FFF2-40B4-BE49-F238E27FC236}">
                <a16:creationId xmlns:a16="http://schemas.microsoft.com/office/drawing/2014/main" id="{FFC49AEA-2A8F-250C-A86A-A7751D9706C3}"/>
              </a:ext>
            </a:extLst>
          </p:cNvPr>
          <p:cNvSpPr txBox="1"/>
          <p:nvPr/>
        </p:nvSpPr>
        <p:spPr>
          <a:xfrm>
            <a:off x="6041078" y="17565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20" name="직사각형 219"/>
          <p:cNvSpPr/>
          <p:nvPr/>
        </p:nvSpPr>
        <p:spPr>
          <a:xfrm>
            <a:off x="3839398" y="1917604"/>
            <a:ext cx="1639886" cy="5235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1" name="TextBox 220">
            <a:extLst>
              <a:ext uri="{FF2B5EF4-FFF2-40B4-BE49-F238E27FC236}">
                <a16:creationId xmlns:a16="http://schemas.microsoft.com/office/drawing/2014/main" id="{FFC49AEA-2A8F-250C-A86A-A7751D9706C3}"/>
              </a:ext>
            </a:extLst>
          </p:cNvPr>
          <p:cNvSpPr txBox="1"/>
          <p:nvPr/>
        </p:nvSpPr>
        <p:spPr>
          <a:xfrm>
            <a:off x="3926461" y="191760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22" name="TextBox 221">
            <a:extLst>
              <a:ext uri="{FF2B5EF4-FFF2-40B4-BE49-F238E27FC236}">
                <a16:creationId xmlns:a16="http://schemas.microsoft.com/office/drawing/2014/main" id="{FFC49AEA-2A8F-250C-A86A-A7751D9706C3}"/>
              </a:ext>
            </a:extLst>
          </p:cNvPr>
          <p:cNvSpPr txBox="1"/>
          <p:nvPr/>
        </p:nvSpPr>
        <p:spPr>
          <a:xfrm>
            <a:off x="5654503" y="191760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3836701" y="191760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3838794" y="21323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5" name="직선 연결선 224">
            <a:extLst>
              <a:ext uri="{FF2B5EF4-FFF2-40B4-BE49-F238E27FC236}">
                <a16:creationId xmlns:a16="http://schemas.microsoft.com/office/drawing/2014/main" id="{E9293055-D5CD-4B9E-7F64-64B2D2CA7A52}"/>
              </a:ext>
            </a:extLst>
          </p:cNvPr>
          <p:cNvCxnSpPr/>
          <p:nvPr/>
        </p:nvCxnSpPr>
        <p:spPr>
          <a:xfrm>
            <a:off x="3838794" y="24411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6" name="TextBox 225">
            <a:extLst>
              <a:ext uri="{FF2B5EF4-FFF2-40B4-BE49-F238E27FC236}">
                <a16:creationId xmlns:a16="http://schemas.microsoft.com/office/drawing/2014/main" id="{FFC49AEA-2A8F-250C-A86A-A7751D9706C3}"/>
              </a:ext>
            </a:extLst>
          </p:cNvPr>
          <p:cNvSpPr txBox="1"/>
          <p:nvPr/>
        </p:nvSpPr>
        <p:spPr>
          <a:xfrm>
            <a:off x="6074873" y="191760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3940311" y="217760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고용노동부장관이 선정한 고용창출 </a:t>
            </a:r>
            <a:r>
              <a:rPr lang="en-US" altLang="ko-KR" dirty="0"/>
              <a:t>100</a:t>
            </a:r>
            <a:r>
              <a:rPr lang="ko-KR" altLang="en-US" dirty="0"/>
              <a:t>대 우수기업여부</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5729266" y="2231466"/>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29" name="TextBox 228">
            <a:extLst>
              <a:ext uri="{FF2B5EF4-FFF2-40B4-BE49-F238E27FC236}">
                <a16:creationId xmlns:a16="http://schemas.microsoft.com/office/drawing/2014/main" id="{FFC49AEA-2A8F-250C-A86A-A7751D9706C3}"/>
              </a:ext>
            </a:extLst>
          </p:cNvPr>
          <p:cNvSpPr txBox="1"/>
          <p:nvPr/>
        </p:nvSpPr>
        <p:spPr>
          <a:xfrm>
            <a:off x="6410927" y="223146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30" name="TextBox 229">
            <a:extLst>
              <a:ext uri="{FF2B5EF4-FFF2-40B4-BE49-F238E27FC236}">
                <a16:creationId xmlns:a16="http://schemas.microsoft.com/office/drawing/2014/main" id="{FFC49AEA-2A8F-250C-A86A-A7751D9706C3}"/>
              </a:ext>
            </a:extLst>
          </p:cNvPr>
          <p:cNvSpPr txBox="1"/>
          <p:nvPr/>
        </p:nvSpPr>
        <p:spPr>
          <a:xfrm>
            <a:off x="3914929" y="253612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4439786" y="2609409"/>
            <a:ext cx="2010812" cy="215444"/>
          </a:xfrm>
          <a:prstGeom prst="rect">
            <a:avLst/>
          </a:prstGeom>
          <a:noFill/>
        </p:spPr>
        <p:txBody>
          <a:bodyPr wrap="square" lIns="0" tIns="0" rIns="0" bIns="0" rtlCol="0">
            <a:spAutoFit/>
          </a:bodyPr>
          <a:lstStyle/>
          <a:p>
            <a:r>
              <a:rPr lang="en-US" altLang="ko-KR" sz="700" dirty="0">
                <a:latin typeface="+mn-ea"/>
              </a:rPr>
              <a:t>7.</a:t>
            </a:r>
            <a:r>
              <a:rPr lang="ko-KR" altLang="en-US" sz="700" dirty="0">
                <a:latin typeface="+mn-ea"/>
              </a:rPr>
              <a:t>장애인 고용 </a:t>
            </a:r>
            <a:r>
              <a:rPr lang="ko-KR" altLang="en-US" sz="700" dirty="0" err="1">
                <a:latin typeface="+mn-ea"/>
              </a:rPr>
              <a:t>우수사업주</a:t>
            </a:r>
            <a:r>
              <a:rPr lang="ko-KR" altLang="en-US" sz="700" dirty="0">
                <a:latin typeface="+mn-ea"/>
              </a:rPr>
              <a:t> 또는 장애인 표준 사업장 여부</a:t>
            </a:r>
          </a:p>
        </p:txBody>
      </p:sp>
      <p:sp>
        <p:nvSpPr>
          <p:cNvPr id="232" name="TextBox 231">
            <a:extLst>
              <a:ext uri="{FF2B5EF4-FFF2-40B4-BE49-F238E27FC236}">
                <a16:creationId xmlns:a16="http://schemas.microsoft.com/office/drawing/2014/main" id="{FFC49AEA-2A8F-250C-A86A-A7751D9706C3}"/>
              </a:ext>
            </a:extLst>
          </p:cNvPr>
          <p:cNvSpPr txBox="1"/>
          <p:nvPr/>
        </p:nvSpPr>
        <p:spPr>
          <a:xfrm>
            <a:off x="3914929" y="280861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33" name="TextBox 232">
            <a:extLst>
              <a:ext uri="{FF2B5EF4-FFF2-40B4-BE49-F238E27FC236}">
                <a16:creationId xmlns:a16="http://schemas.microsoft.com/office/drawing/2014/main" id="{FFC49AEA-2A8F-250C-A86A-A7751D9706C3}"/>
              </a:ext>
            </a:extLst>
          </p:cNvPr>
          <p:cNvSpPr txBox="1"/>
          <p:nvPr/>
        </p:nvSpPr>
        <p:spPr>
          <a:xfrm>
            <a:off x="4439786" y="2881901"/>
            <a:ext cx="1445245" cy="323165"/>
          </a:xfrm>
          <a:prstGeom prst="rect">
            <a:avLst/>
          </a:prstGeom>
          <a:noFill/>
        </p:spPr>
        <p:txBody>
          <a:bodyPr wrap="square" lIns="0" tIns="0" rIns="0" bIns="0" rtlCol="0">
            <a:spAutoFit/>
          </a:bodyPr>
          <a:lstStyle/>
          <a:p>
            <a:r>
              <a:rPr lang="ko-KR" altLang="en-US" sz="700" dirty="0">
                <a:latin typeface="+mn-ea"/>
              </a:rPr>
              <a:t>장애인고용 </a:t>
            </a:r>
            <a:r>
              <a:rPr lang="ko-KR" altLang="en-US" sz="700" dirty="0" err="1">
                <a:latin typeface="+mn-ea"/>
              </a:rPr>
              <a:t>우수사업주</a:t>
            </a:r>
            <a:r>
              <a:rPr lang="ko-KR" altLang="en-US" sz="700" dirty="0">
                <a:latin typeface="+mn-ea"/>
              </a:rPr>
              <a:t> 또는 장애인 표준사업장여부</a:t>
            </a:r>
          </a:p>
          <a:p>
            <a:endParaRPr lang="ko-KR" altLang="en-US" sz="700" dirty="0">
              <a:latin typeface="+mn-ea"/>
            </a:endParaRPr>
          </a:p>
        </p:txBody>
      </p:sp>
      <p:sp>
        <p:nvSpPr>
          <p:cNvPr id="234" name="TextBox 233">
            <a:extLst>
              <a:ext uri="{FF2B5EF4-FFF2-40B4-BE49-F238E27FC236}">
                <a16:creationId xmlns:a16="http://schemas.microsoft.com/office/drawing/2014/main" id="{FFC49AEA-2A8F-250C-A86A-A7751D9706C3}"/>
              </a:ext>
            </a:extLst>
          </p:cNvPr>
          <p:cNvSpPr txBox="1"/>
          <p:nvPr/>
        </p:nvSpPr>
        <p:spPr>
          <a:xfrm>
            <a:off x="6041078" y="288190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35" name="직사각형 234"/>
          <p:cNvSpPr/>
          <p:nvPr/>
        </p:nvSpPr>
        <p:spPr>
          <a:xfrm>
            <a:off x="3839398" y="3158987"/>
            <a:ext cx="1639886" cy="42672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6" name="TextBox 235">
            <a:extLst>
              <a:ext uri="{FF2B5EF4-FFF2-40B4-BE49-F238E27FC236}">
                <a16:creationId xmlns:a16="http://schemas.microsoft.com/office/drawing/2014/main" id="{FFC49AEA-2A8F-250C-A86A-A7751D9706C3}"/>
              </a:ext>
            </a:extLst>
          </p:cNvPr>
          <p:cNvSpPr txBox="1"/>
          <p:nvPr/>
        </p:nvSpPr>
        <p:spPr>
          <a:xfrm>
            <a:off x="3926461" y="315898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37" name="TextBox 236">
            <a:extLst>
              <a:ext uri="{FF2B5EF4-FFF2-40B4-BE49-F238E27FC236}">
                <a16:creationId xmlns:a16="http://schemas.microsoft.com/office/drawing/2014/main" id="{FFC49AEA-2A8F-250C-A86A-A7751D9706C3}"/>
              </a:ext>
            </a:extLst>
          </p:cNvPr>
          <p:cNvSpPr txBox="1"/>
          <p:nvPr/>
        </p:nvSpPr>
        <p:spPr>
          <a:xfrm>
            <a:off x="5654503" y="315898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38" name="직선 연결선 237">
            <a:extLst>
              <a:ext uri="{FF2B5EF4-FFF2-40B4-BE49-F238E27FC236}">
                <a16:creationId xmlns:a16="http://schemas.microsoft.com/office/drawing/2014/main" id="{E9293055-D5CD-4B9E-7F64-64B2D2CA7A52}"/>
              </a:ext>
            </a:extLst>
          </p:cNvPr>
          <p:cNvCxnSpPr/>
          <p:nvPr/>
        </p:nvCxnSpPr>
        <p:spPr>
          <a:xfrm>
            <a:off x="3836701" y="315898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3838794" y="33737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3838794" y="35869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2" name="TextBox 241">
            <a:extLst>
              <a:ext uri="{FF2B5EF4-FFF2-40B4-BE49-F238E27FC236}">
                <a16:creationId xmlns:a16="http://schemas.microsoft.com/office/drawing/2014/main" id="{FFC49AEA-2A8F-250C-A86A-A7751D9706C3}"/>
              </a:ext>
            </a:extLst>
          </p:cNvPr>
          <p:cNvSpPr txBox="1"/>
          <p:nvPr/>
        </p:nvSpPr>
        <p:spPr>
          <a:xfrm>
            <a:off x="6074873" y="315898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43" name="TextBox 242">
            <a:extLst>
              <a:ext uri="{FF2B5EF4-FFF2-40B4-BE49-F238E27FC236}">
                <a16:creationId xmlns:a16="http://schemas.microsoft.com/office/drawing/2014/main" id="{FFC49AEA-2A8F-250C-A86A-A7751D9706C3}"/>
              </a:ext>
            </a:extLst>
          </p:cNvPr>
          <p:cNvSpPr txBox="1"/>
          <p:nvPr/>
        </p:nvSpPr>
        <p:spPr>
          <a:xfrm>
            <a:off x="3940311" y="3418988"/>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국세청장이 지정한 모범성실납세자</a:t>
            </a:r>
          </a:p>
        </p:txBody>
      </p:sp>
      <p:sp>
        <p:nvSpPr>
          <p:cNvPr id="244" name="TextBox 243">
            <a:extLst>
              <a:ext uri="{FF2B5EF4-FFF2-40B4-BE49-F238E27FC236}">
                <a16:creationId xmlns:a16="http://schemas.microsoft.com/office/drawing/2014/main" id="{FFC49AEA-2A8F-250C-A86A-A7751D9706C3}"/>
              </a:ext>
            </a:extLst>
          </p:cNvPr>
          <p:cNvSpPr txBox="1"/>
          <p:nvPr/>
        </p:nvSpPr>
        <p:spPr>
          <a:xfrm>
            <a:off x="5729267" y="3418988"/>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6410927" y="34189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6" name="직선 연결선 245">
            <a:extLst>
              <a:ext uri="{FF2B5EF4-FFF2-40B4-BE49-F238E27FC236}">
                <a16:creationId xmlns:a16="http://schemas.microsoft.com/office/drawing/2014/main" id="{E9293055-D5CD-4B9E-7F64-64B2D2CA7A52}"/>
              </a:ext>
            </a:extLst>
          </p:cNvPr>
          <p:cNvCxnSpPr/>
          <p:nvPr/>
        </p:nvCxnSpPr>
        <p:spPr>
          <a:xfrm>
            <a:off x="3795734" y="36673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타원 11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54835970"/>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185</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061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 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mnftrAbltExmgrdScr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r h="0">
                <a:tc>
                  <a:txBody>
                    <a:bodyPr/>
                    <a:lstStyle/>
                    <a:p>
                      <a:pPr latinLnBrk="1"/>
                      <a:r>
                        <a:rPr lang="ko-KR" altLang="en-US" sz="800" dirty="0">
                          <a:latin typeface="+mn-ea"/>
                          <a:ea typeface="+mn-ea"/>
                        </a:rPr>
                        <a:t>기술실적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250776"/>
                  </a:ext>
                </a:extLst>
              </a:tr>
              <a:tr h="0">
                <a:tc>
                  <a:txBody>
                    <a:bodyPr/>
                    <a:lstStyle/>
                    <a:p>
                      <a:pPr latinLnBrk="1"/>
                      <a:r>
                        <a:rPr lang="ko-KR" altLang="en-US" sz="800" dirty="0">
                          <a:latin typeface="+mn-ea"/>
                          <a:ea typeface="+mn-ea"/>
                        </a:rPr>
                        <a:t>재무상태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재무상태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37816"/>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3250694"/>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납품실적</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3534448"/>
          <a:ext cx="8994883" cy="825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계약목적물과 동등이상 물품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etcExmgrdScr1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계약목적물과 동등이상 물품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계약목적물과 유사 물품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etcExmgrdScr2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계약목적물과 유사 물품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5" name="TextBox 4">
            <a:extLst>
              <a:ext uri="{FF2B5EF4-FFF2-40B4-BE49-F238E27FC236}">
                <a16:creationId xmlns:a16="http://schemas.microsoft.com/office/drawing/2014/main" id="{6D947E84-6084-15F8-26CB-99F0F0FA6507}"/>
              </a:ext>
            </a:extLst>
          </p:cNvPr>
          <p:cNvSpPr txBox="1"/>
          <p:nvPr/>
        </p:nvSpPr>
        <p:spPr>
          <a:xfrm>
            <a:off x="465794" y="4571871"/>
            <a:ext cx="226881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기술능력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ED0EAE2-A020-1A3E-9D07-8A45456FE1AC}"/>
              </a:ext>
            </a:extLst>
          </p:cNvPr>
          <p:cNvGraphicFramePr>
            <a:graphicFrameLocks noGrp="1"/>
          </p:cNvGraphicFramePr>
          <p:nvPr/>
        </p:nvGraphicFramePr>
        <p:xfrm>
          <a:off x="460676" y="4855625"/>
          <a:ext cx="8994883"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 인력 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 인력 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TextBox 8">
            <a:extLst>
              <a:ext uri="{FF2B5EF4-FFF2-40B4-BE49-F238E27FC236}">
                <a16:creationId xmlns:a16="http://schemas.microsoft.com/office/drawing/2014/main" id="{6A94C7A5-4920-2DAD-F345-491E9CFC39F4}"/>
              </a:ext>
            </a:extLst>
          </p:cNvPr>
          <p:cNvSpPr txBox="1"/>
          <p:nvPr/>
        </p:nvSpPr>
        <p:spPr>
          <a:xfrm>
            <a:off x="465794" y="5559930"/>
            <a:ext cx="2268817"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재무상태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442141FB-2714-F2BE-5EF8-E5513AAF340D}"/>
              </a:ext>
            </a:extLst>
          </p:cNvPr>
          <p:cNvGraphicFramePr>
            <a:graphicFrameLocks noGrp="1"/>
          </p:cNvGraphicFramePr>
          <p:nvPr/>
        </p:nvGraphicFramePr>
        <p:xfrm>
          <a:off x="460676" y="5843684"/>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평가요소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평가요소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6722966"/>
                  </a:ext>
                </a:extLst>
              </a:tr>
            </a:tbl>
          </a:graphicData>
        </a:graphic>
      </p:graphicFrame>
      <p:sp>
        <p:nvSpPr>
          <p:cNvPr id="13" name="TextBox 12">
            <a:extLst>
              <a:ext uri="{FF2B5EF4-FFF2-40B4-BE49-F238E27FC236}">
                <a16:creationId xmlns:a16="http://schemas.microsoft.com/office/drawing/2014/main" id="{9843A915-2A8F-D58A-4AED-D2316FB90755}"/>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12" name="Text Box 73">
            <a:extLst>
              <a:ext uri="{FF2B5EF4-FFF2-40B4-BE49-F238E27FC236}">
                <a16:creationId xmlns:a16="http://schemas.microsoft.com/office/drawing/2014/main" id="{A0103961-2718-80B9-CA24-E982F249058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20363057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186</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입찰가격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bl>
          </a:graphicData>
        </a:graphic>
      </p:graphicFrame>
      <p:sp>
        <p:nvSpPr>
          <p:cNvPr id="12" name="TextBox 11">
            <a:extLst>
              <a:ext uri="{FF2B5EF4-FFF2-40B4-BE49-F238E27FC236}">
                <a16:creationId xmlns:a16="http://schemas.microsoft.com/office/drawing/2014/main" id="{322DF05B-6D0C-3FA4-2092-E4209AB31AA4}"/>
              </a:ext>
            </a:extLst>
          </p:cNvPr>
          <p:cNvSpPr txBox="1"/>
          <p:nvPr/>
        </p:nvSpPr>
        <p:spPr>
          <a:xfrm>
            <a:off x="460676" y="2135991"/>
            <a:ext cx="2539725"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물품 품질정도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DF8D73E-3442-E04C-7824-D8896B9FBE6E}"/>
              </a:ext>
            </a:extLst>
          </p:cNvPr>
          <p:cNvGraphicFramePr>
            <a:graphicFrameLocks noGrp="1"/>
          </p:cNvGraphicFramePr>
          <p:nvPr/>
        </p:nvGraphicFramePr>
        <p:xfrm>
          <a:off x="455558" y="2419745"/>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기술보유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환경관리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환경관리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6667907"/>
                  </a:ext>
                </a:extLst>
              </a:tr>
            </a:tbl>
          </a:graphicData>
        </a:graphic>
      </p:graphicFrame>
      <p:sp>
        <p:nvSpPr>
          <p:cNvPr id="17" name="TextBox 16">
            <a:extLst>
              <a:ext uri="{FF2B5EF4-FFF2-40B4-BE49-F238E27FC236}">
                <a16:creationId xmlns:a16="http://schemas.microsoft.com/office/drawing/2014/main" id="{B02A9D14-C2EA-FF08-7FA2-7489FB32FDFD}"/>
              </a:ext>
            </a:extLst>
          </p:cNvPr>
          <p:cNvSpPr txBox="1"/>
          <p:nvPr/>
        </p:nvSpPr>
        <p:spPr>
          <a:xfrm>
            <a:off x="458117" y="3400694"/>
            <a:ext cx="2655141"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계약이행 성실도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8" name="표 17">
            <a:extLst>
              <a:ext uri="{FF2B5EF4-FFF2-40B4-BE49-F238E27FC236}">
                <a16:creationId xmlns:a16="http://schemas.microsoft.com/office/drawing/2014/main" id="{D72DC22B-D4B7-0E04-30F6-7FA61CC84278}"/>
              </a:ext>
            </a:extLst>
          </p:cNvPr>
          <p:cNvGraphicFramePr>
            <a:graphicFrameLocks noGrp="1"/>
          </p:cNvGraphicFramePr>
          <p:nvPr/>
        </p:nvGraphicFramePr>
        <p:xfrm>
          <a:off x="452999" y="3684448"/>
          <a:ext cx="8994883" cy="897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품질하자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품질하자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노사협력관계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lbmgtCultrExmgrdScr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노사협력관계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6667907"/>
                  </a:ext>
                </a:extLst>
              </a:tr>
            </a:tbl>
          </a:graphicData>
        </a:graphic>
      </p:graphicFrame>
      <p:sp>
        <p:nvSpPr>
          <p:cNvPr id="20" name="TextBox 19">
            <a:extLst>
              <a:ext uri="{FF2B5EF4-FFF2-40B4-BE49-F238E27FC236}">
                <a16:creationId xmlns:a16="http://schemas.microsoft.com/office/drawing/2014/main" id="{3A5C2B46-FFF1-DC07-4596-2DA38FF0A806}"/>
              </a:ext>
            </a:extLst>
          </p:cNvPr>
          <p:cNvSpPr txBox="1"/>
          <p:nvPr/>
        </p:nvSpPr>
        <p:spPr>
          <a:xfrm>
            <a:off x="458117" y="4809415"/>
            <a:ext cx="2037985" cy="211203"/>
          </a:xfrm>
          <a:prstGeom prst="rect">
            <a:avLst/>
          </a:prstGeom>
          <a:noFill/>
        </p:spPr>
        <p:txBody>
          <a:bodyPr wrap="none" lIns="36000" tIns="36000" rIns="36000" bIns="36000" rtlCol="0">
            <a:spAutoFit/>
          </a:bodyPr>
          <a:lstStyle/>
          <a:p>
            <a:r>
              <a:rPr lang="en-US" altLang="ko-KR" sz="900" b="1" dirty="0">
                <a:solidFill>
                  <a:prstClr val="black"/>
                </a:solidFill>
              </a:rPr>
              <a:t>1.8. </a:t>
            </a:r>
            <a:r>
              <a:rPr lang="ko-KR" altLang="en-US" sz="900" b="1" dirty="0">
                <a:solidFill>
                  <a:prstClr val="black"/>
                </a:solidFill>
              </a:rPr>
              <a:t>기타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3" name="표 22">
            <a:extLst>
              <a:ext uri="{FF2B5EF4-FFF2-40B4-BE49-F238E27FC236}">
                <a16:creationId xmlns:a16="http://schemas.microsoft.com/office/drawing/2014/main" id="{C9FEB825-B51F-CFF0-2B10-DD4828DDDCB8}"/>
              </a:ext>
            </a:extLst>
          </p:cNvPr>
          <p:cNvGraphicFramePr>
            <a:graphicFrameLocks noGrp="1"/>
          </p:cNvGraphicFramePr>
          <p:nvPr/>
        </p:nvGraphicFramePr>
        <p:xfrm>
          <a:off x="452999" y="5093169"/>
          <a:ext cx="8994883" cy="1335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노사협력관계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노사협력관계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err="1">
                          <a:latin typeface="+mn-ea"/>
                          <a:ea typeface="+mn-ea"/>
                        </a:rPr>
                        <a:t>품질형상기여</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품질형상기여</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성실납세여부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성실납세여부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6667907"/>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12525100"/>
                  </a:ext>
                </a:extLst>
              </a:tr>
            </a:tbl>
          </a:graphicData>
        </a:graphic>
      </p:graphicFrame>
      <p:sp>
        <p:nvSpPr>
          <p:cNvPr id="2" name="TextBox 1">
            <a:extLst>
              <a:ext uri="{FF2B5EF4-FFF2-40B4-BE49-F238E27FC236}">
                <a16:creationId xmlns:a16="http://schemas.microsoft.com/office/drawing/2014/main" id="{E57FA470-C593-B4EA-FC00-557444397CA7}"/>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F6277361-BEA6-883D-3165-79816D8B5E5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23730617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187</a:t>
            </a:fld>
            <a:endParaRPr lang="ko-KR" altLang="en-US" dirty="0"/>
          </a:p>
        </p:txBody>
      </p:sp>
      <p:sp>
        <p:nvSpPr>
          <p:cNvPr id="2" name="TextBox 1">
            <a:extLst>
              <a:ext uri="{FF2B5EF4-FFF2-40B4-BE49-F238E27FC236}">
                <a16:creationId xmlns:a16="http://schemas.microsoft.com/office/drawing/2014/main" id="{8963E566-325E-902C-857A-3863F791906F}"/>
              </a:ext>
            </a:extLst>
          </p:cNvPr>
          <p:cNvSpPr txBox="1"/>
          <p:nvPr/>
        </p:nvSpPr>
        <p:spPr>
          <a:xfrm>
            <a:off x="456700" y="751519"/>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98CD88C9-3621-9A2B-944C-4577223A9D59}"/>
              </a:ext>
            </a:extLst>
          </p:cNvPr>
          <p:cNvGraphicFramePr>
            <a:graphicFrameLocks noGrp="1"/>
          </p:cNvGraphicFramePr>
          <p:nvPr>
            <p:extLst>
              <p:ext uri="{D42A27DB-BD31-4B8C-83A1-F6EECF244321}">
                <p14:modId xmlns:p14="http://schemas.microsoft.com/office/powerpoint/2010/main" val="662197454"/>
              </p:ext>
            </p:extLst>
          </p:nvPr>
        </p:nvGraphicFramePr>
        <p:xfrm>
          <a:off x="452291"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6" name="Text Box 73">
            <a:extLst>
              <a:ext uri="{FF2B5EF4-FFF2-40B4-BE49-F238E27FC236}">
                <a16:creationId xmlns:a16="http://schemas.microsoft.com/office/drawing/2014/main" id="{128A427C-19B3-C67F-B8AE-C3971751EA1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77925099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가</a:t>
            </a:r>
            <a:r>
              <a:rPr lang="en-US" altLang="ko-KR" dirty="0"/>
              <a:t>)</a:t>
            </a:r>
            <a:r>
              <a:rPr lang="ko-KR" altLang="en-US" dirty="0" err="1"/>
              <a:t>당해물품</a:t>
            </a:r>
            <a:r>
              <a:rPr lang="ko-KR" altLang="en-US" dirty="0"/>
              <a:t> </a:t>
            </a:r>
            <a:r>
              <a:rPr lang="ko-KR" altLang="en-US" dirty="0" err="1"/>
              <a:t>납품이행</a:t>
            </a:r>
            <a:r>
              <a:rPr lang="ko-KR" altLang="en-US" dirty="0"/>
              <a:t> 능력</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3801111" y="31489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3828979" y="3678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16042" y="367875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5644084" y="367875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50</a:t>
            </a:r>
          </a:p>
        </p:txBody>
      </p:sp>
      <p:grpSp>
        <p:nvGrpSpPr>
          <p:cNvPr id="162" name="그룹 161"/>
          <p:cNvGrpSpPr/>
          <p:nvPr/>
        </p:nvGrpSpPr>
        <p:grpSpPr>
          <a:xfrm>
            <a:off x="3826887" y="3678750"/>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3887858" y="319139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나</a:t>
            </a:r>
            <a:r>
              <a:rPr lang="en-US" altLang="ko-KR" dirty="0"/>
              <a:t>)</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3887858" y="3391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064390" y="367875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887857" y="4181888"/>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평정산식참조</a:t>
            </a:r>
          </a:p>
        </p:txBody>
      </p:sp>
      <p:sp>
        <p:nvSpPr>
          <p:cNvPr id="110" name="직사각형 109"/>
          <p:cNvSpPr/>
          <p:nvPr/>
        </p:nvSpPr>
        <p:spPr>
          <a:xfrm>
            <a:off x="704609" y="5224495"/>
            <a:ext cx="1639886" cy="5563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1672" y="5224496"/>
            <a:ext cx="1570293" cy="18094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kumimoji="1" lang="en-US" altLang="ko-KR" sz="700" spc="-60" dirty="0">
              <a:solidFill>
                <a:srgbClr val="000000">
                  <a:lumMod val="65000"/>
                  <a:lumOff val="35000"/>
                </a:srgbClr>
              </a:solidFill>
              <a:latin typeface="Verdana" panose="020B0604030504040204" pitchFamily="34" charset="0"/>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2519714" y="522449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702517" y="522449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4610" y="54392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4610" y="57836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763488" y="493738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납품실적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2940084" y="522449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791672" y="5503711"/>
            <a:ext cx="1480199" cy="21544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계약목적물과 </a:t>
            </a:r>
            <a:r>
              <a:rPr lang="ko-KR" altLang="en-US" sz="700" dirty="0" err="1">
                <a:latin typeface="+mn-ea"/>
              </a:rPr>
              <a:t>동등이상</a:t>
            </a:r>
            <a:r>
              <a:rPr lang="ko-KR" altLang="en-US" sz="700" dirty="0">
                <a:latin typeface="+mn-ea"/>
              </a:rPr>
              <a:t> 물품</a:t>
            </a:r>
            <a:br>
              <a:rPr lang="ko-KR" altLang="en-US" sz="700" dirty="0">
                <a:latin typeface="+mn-ea"/>
              </a:rPr>
            </a:br>
            <a:r>
              <a:rPr lang="en-US" altLang="ko-KR" sz="700" dirty="0">
                <a:latin typeface="+mn-ea"/>
              </a:rPr>
              <a:t>2.</a:t>
            </a:r>
            <a:r>
              <a:rPr lang="ko-KR" altLang="en-US" sz="700" dirty="0">
                <a:latin typeface="+mn-ea"/>
              </a:rPr>
              <a:t>계약목적물과 </a:t>
            </a:r>
            <a:r>
              <a:rPr lang="ko-KR" altLang="en-US" sz="700" dirty="0" err="1">
                <a:latin typeface="+mn-ea"/>
              </a:rPr>
              <a:t>유사물품</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2599863" y="5557572"/>
            <a:ext cx="99387"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3262288" y="555757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6" name="직사각형 245"/>
          <p:cNvSpPr/>
          <p:nvPr/>
        </p:nvSpPr>
        <p:spPr>
          <a:xfrm>
            <a:off x="3828979" y="1784364"/>
            <a:ext cx="1639886" cy="51701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7" name="TextBox 246">
            <a:extLst>
              <a:ext uri="{FF2B5EF4-FFF2-40B4-BE49-F238E27FC236}">
                <a16:creationId xmlns:a16="http://schemas.microsoft.com/office/drawing/2014/main" id="{FFC49AEA-2A8F-250C-A86A-A7751D9706C3}"/>
              </a:ext>
            </a:extLst>
          </p:cNvPr>
          <p:cNvSpPr txBox="1"/>
          <p:nvPr/>
        </p:nvSpPr>
        <p:spPr>
          <a:xfrm>
            <a:off x="3916042" y="1784365"/>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48" name="TextBox 247">
            <a:extLst>
              <a:ext uri="{FF2B5EF4-FFF2-40B4-BE49-F238E27FC236}">
                <a16:creationId xmlns:a16="http://schemas.microsoft.com/office/drawing/2014/main" id="{FFC49AEA-2A8F-250C-A86A-A7751D9706C3}"/>
              </a:ext>
            </a:extLst>
          </p:cNvPr>
          <p:cNvSpPr txBox="1"/>
          <p:nvPr/>
        </p:nvSpPr>
        <p:spPr>
          <a:xfrm>
            <a:off x="5644084" y="178436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50" name="직선 연결선 249">
            <a:extLst>
              <a:ext uri="{FF2B5EF4-FFF2-40B4-BE49-F238E27FC236}">
                <a16:creationId xmlns:a16="http://schemas.microsoft.com/office/drawing/2014/main" id="{E9293055-D5CD-4B9E-7F64-64B2D2CA7A52}"/>
              </a:ext>
            </a:extLst>
          </p:cNvPr>
          <p:cNvCxnSpPr/>
          <p:nvPr/>
        </p:nvCxnSpPr>
        <p:spPr>
          <a:xfrm>
            <a:off x="3826887" y="178436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3828980" y="19991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3828980" y="22957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3" name="TextBox 252">
            <a:extLst>
              <a:ext uri="{FF2B5EF4-FFF2-40B4-BE49-F238E27FC236}">
                <a16:creationId xmlns:a16="http://schemas.microsoft.com/office/drawing/2014/main" id="{FFC49AEA-2A8F-250C-A86A-A7751D9706C3}"/>
              </a:ext>
            </a:extLst>
          </p:cNvPr>
          <p:cNvSpPr txBox="1"/>
          <p:nvPr/>
        </p:nvSpPr>
        <p:spPr>
          <a:xfrm>
            <a:off x="3887858" y="14972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err="1">
                <a:latin typeface="+mn-ea"/>
              </a:rPr>
              <a:t>기술실적</a:t>
            </a:r>
            <a:endParaRPr lang="ko-KR" altLang="en-US" sz="700" dirty="0">
              <a:latin typeface="+mn-ea"/>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6064454" y="178436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55" name="직사각형 254"/>
          <p:cNvSpPr/>
          <p:nvPr/>
        </p:nvSpPr>
        <p:spPr>
          <a:xfrm>
            <a:off x="3828979" y="265453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FFC49AEA-2A8F-250C-A86A-A7751D9706C3}"/>
              </a:ext>
            </a:extLst>
          </p:cNvPr>
          <p:cNvSpPr txBox="1"/>
          <p:nvPr/>
        </p:nvSpPr>
        <p:spPr>
          <a:xfrm>
            <a:off x="3916042" y="2654536"/>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신용평가등급</a:t>
            </a:r>
          </a:p>
        </p:txBody>
      </p:sp>
      <p:sp>
        <p:nvSpPr>
          <p:cNvPr id="257" name="TextBox 256">
            <a:extLst>
              <a:ext uri="{FF2B5EF4-FFF2-40B4-BE49-F238E27FC236}">
                <a16:creationId xmlns:a16="http://schemas.microsoft.com/office/drawing/2014/main" id="{FFC49AEA-2A8F-250C-A86A-A7751D9706C3}"/>
              </a:ext>
            </a:extLst>
          </p:cNvPr>
          <p:cNvSpPr txBox="1"/>
          <p:nvPr/>
        </p:nvSpPr>
        <p:spPr>
          <a:xfrm>
            <a:off x="5644084" y="2654536"/>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258" name="그룹 257"/>
          <p:cNvGrpSpPr/>
          <p:nvPr/>
        </p:nvGrpSpPr>
        <p:grpSpPr>
          <a:xfrm>
            <a:off x="3826887" y="2654536"/>
            <a:ext cx="2630093" cy="429480"/>
            <a:chOff x="701175" y="1835481"/>
            <a:chExt cx="2630093" cy="429480"/>
          </a:xfrm>
        </p:grpSpPr>
        <p:cxnSp>
          <p:nvCxnSpPr>
            <p:cNvPr id="259" name="직선 연결선 25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0" name="직선 연결선 25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1" name="직선 연결선 26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62" name="TextBox 261">
            <a:extLst>
              <a:ext uri="{FF2B5EF4-FFF2-40B4-BE49-F238E27FC236}">
                <a16:creationId xmlns:a16="http://schemas.microsoft.com/office/drawing/2014/main" id="{FFC49AEA-2A8F-250C-A86A-A7751D9706C3}"/>
              </a:ext>
            </a:extLst>
          </p:cNvPr>
          <p:cNvSpPr txBox="1"/>
          <p:nvPr/>
        </p:nvSpPr>
        <p:spPr>
          <a:xfrm>
            <a:off x="3887858" y="236742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재무상태</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6064390" y="2654536"/>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264" name="직사각형 263"/>
          <p:cNvSpPr/>
          <p:nvPr/>
        </p:nvSpPr>
        <p:spPr>
          <a:xfrm>
            <a:off x="3823602" y="4996844"/>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3910665" y="4996845"/>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66" name="TextBox 265">
            <a:extLst>
              <a:ext uri="{FF2B5EF4-FFF2-40B4-BE49-F238E27FC236}">
                <a16:creationId xmlns:a16="http://schemas.microsoft.com/office/drawing/2014/main" id="{FFC49AEA-2A8F-250C-A86A-A7751D9706C3}"/>
              </a:ext>
            </a:extLst>
          </p:cNvPr>
          <p:cNvSpPr txBox="1"/>
          <p:nvPr/>
        </p:nvSpPr>
        <p:spPr>
          <a:xfrm>
            <a:off x="5638707" y="499684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1510" y="499684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3603" y="52115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23603" y="56394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3882481" y="4509493"/>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다</a:t>
            </a:r>
            <a:r>
              <a:rPr lang="en-US" altLang="ko-KR" dirty="0"/>
              <a:t>)</a:t>
            </a:r>
            <a:r>
              <a:rPr lang="ko-KR" altLang="en-US" dirty="0"/>
              <a:t>신인도</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3882481" y="470973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물품 </a:t>
            </a:r>
            <a:r>
              <a:rPr lang="ko-KR" altLang="en-US" sz="700" dirty="0" err="1">
                <a:latin typeface="+mn-ea"/>
              </a:rPr>
              <a:t>품질정도</a:t>
            </a:r>
            <a:endParaRPr lang="ko-KR" altLang="en-US" sz="700" dirty="0">
              <a:latin typeface="+mn-ea"/>
            </a:endParaRPr>
          </a:p>
        </p:txBody>
      </p:sp>
      <p:sp>
        <p:nvSpPr>
          <p:cNvPr id="273" name="TextBox 272">
            <a:extLst>
              <a:ext uri="{FF2B5EF4-FFF2-40B4-BE49-F238E27FC236}">
                <a16:creationId xmlns:a16="http://schemas.microsoft.com/office/drawing/2014/main" id="{FFC49AEA-2A8F-250C-A86A-A7751D9706C3}"/>
              </a:ext>
            </a:extLst>
          </p:cNvPr>
          <p:cNvSpPr txBox="1"/>
          <p:nvPr/>
        </p:nvSpPr>
        <p:spPr>
          <a:xfrm>
            <a:off x="6059077" y="499684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99" name="직선 연결선 298">
            <a:extLst>
              <a:ext uri="{FF2B5EF4-FFF2-40B4-BE49-F238E27FC236}">
                <a16:creationId xmlns:a16="http://schemas.microsoft.com/office/drawing/2014/main" id="{E9293055-D5CD-4B9E-7F64-64B2D2CA7A52}"/>
              </a:ext>
            </a:extLst>
          </p:cNvPr>
          <p:cNvCxnSpPr/>
          <p:nvPr/>
        </p:nvCxnSpPr>
        <p:spPr>
          <a:xfrm>
            <a:off x="3828979" y="4461390"/>
            <a:ext cx="262262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0" name="TextBox 299">
            <a:extLst>
              <a:ext uri="{FF2B5EF4-FFF2-40B4-BE49-F238E27FC236}">
                <a16:creationId xmlns:a16="http://schemas.microsoft.com/office/drawing/2014/main" id="{FFC49AEA-2A8F-250C-A86A-A7751D9706C3}"/>
              </a:ext>
            </a:extLst>
          </p:cNvPr>
          <p:cNvSpPr txBox="1"/>
          <p:nvPr/>
        </p:nvSpPr>
        <p:spPr>
          <a:xfrm>
            <a:off x="3910665" y="5263940"/>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품질관리</a:t>
            </a:r>
            <a:br>
              <a:rPr lang="ko-KR" altLang="en-US" sz="700" dirty="0">
                <a:latin typeface="+mn-ea"/>
              </a:rPr>
            </a:br>
            <a:r>
              <a:rPr lang="en-US" altLang="ko-KR" sz="700" dirty="0">
                <a:latin typeface="+mn-ea"/>
              </a:rPr>
              <a:t>2.</a:t>
            </a:r>
            <a:r>
              <a:rPr lang="ko-KR" altLang="en-US" sz="700" dirty="0">
                <a:latin typeface="+mn-ea"/>
              </a:rPr>
              <a:t>기술보유</a:t>
            </a:r>
            <a:br>
              <a:rPr lang="ko-KR" altLang="en-US" sz="700" dirty="0">
                <a:latin typeface="+mn-ea"/>
              </a:rPr>
            </a:br>
            <a:r>
              <a:rPr lang="en-US" altLang="ko-KR" sz="700" dirty="0">
                <a:latin typeface="+mn-ea"/>
              </a:rPr>
              <a:t>3.</a:t>
            </a:r>
            <a:r>
              <a:rPr lang="ko-KR" altLang="en-US" sz="700" dirty="0">
                <a:latin typeface="+mn-ea"/>
              </a:rPr>
              <a:t>환경관리</a:t>
            </a:r>
          </a:p>
        </p:txBody>
      </p:sp>
      <p:sp>
        <p:nvSpPr>
          <p:cNvPr id="301" name="TextBox 300">
            <a:extLst>
              <a:ext uri="{FF2B5EF4-FFF2-40B4-BE49-F238E27FC236}">
                <a16:creationId xmlns:a16="http://schemas.microsoft.com/office/drawing/2014/main" id="{FFC49AEA-2A8F-250C-A86A-A7751D9706C3}"/>
              </a:ext>
            </a:extLst>
          </p:cNvPr>
          <p:cNvSpPr txBox="1"/>
          <p:nvPr/>
        </p:nvSpPr>
        <p:spPr>
          <a:xfrm>
            <a:off x="5492833" y="5371661"/>
            <a:ext cx="325410" cy="107722"/>
          </a:xfrm>
          <a:prstGeom prst="rect">
            <a:avLst/>
          </a:prstGeom>
          <a:noFill/>
        </p:spPr>
        <p:txBody>
          <a:bodyPr wrap="none" lIns="0" tIns="0" rIns="0" bIns="0" rtlCol="0">
            <a:spAutoFit/>
          </a:bodyPr>
          <a:lstStyle/>
          <a:p>
            <a:pPr algn="r"/>
            <a:r>
              <a:rPr lang="en-US" altLang="ko-KR" sz="700" dirty="0">
                <a:latin typeface="+mn-ea"/>
              </a:rPr>
              <a:t>+3 ~ -5</a:t>
            </a:r>
            <a:endParaRPr lang="ko-KR" altLang="en-US" sz="700" dirty="0">
              <a:latin typeface="+mn-ea"/>
            </a:endParaRPr>
          </a:p>
        </p:txBody>
      </p:sp>
      <p:sp>
        <p:nvSpPr>
          <p:cNvPr id="302" name="TextBox 301">
            <a:extLst>
              <a:ext uri="{FF2B5EF4-FFF2-40B4-BE49-F238E27FC236}">
                <a16:creationId xmlns:a16="http://schemas.microsoft.com/office/drawing/2014/main" id="{FFC49AEA-2A8F-250C-A86A-A7751D9706C3}"/>
              </a:ext>
            </a:extLst>
          </p:cNvPr>
          <p:cNvSpPr txBox="1"/>
          <p:nvPr/>
        </p:nvSpPr>
        <p:spPr>
          <a:xfrm>
            <a:off x="6381281" y="53716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3" name="직사각형 302"/>
          <p:cNvSpPr/>
          <p:nvPr/>
        </p:nvSpPr>
        <p:spPr>
          <a:xfrm>
            <a:off x="3823602" y="5981062"/>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3910665" y="5981063"/>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5638707" y="5981063"/>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21510" y="598106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23603" y="619580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23603" y="66236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3882481" y="569394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310" name="TextBox 309">
            <a:extLst>
              <a:ext uri="{FF2B5EF4-FFF2-40B4-BE49-F238E27FC236}">
                <a16:creationId xmlns:a16="http://schemas.microsoft.com/office/drawing/2014/main" id="{FFC49AEA-2A8F-250C-A86A-A7751D9706C3}"/>
              </a:ext>
            </a:extLst>
          </p:cNvPr>
          <p:cNvSpPr txBox="1"/>
          <p:nvPr/>
        </p:nvSpPr>
        <p:spPr>
          <a:xfrm>
            <a:off x="6059077" y="598106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3910665" y="6248158"/>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하자발생</a:t>
            </a:r>
            <a:br>
              <a:rPr lang="ko-KR" altLang="en-US" sz="700" dirty="0">
                <a:latin typeface="+mn-ea"/>
              </a:rPr>
            </a:br>
            <a:r>
              <a:rPr lang="en-US" altLang="ko-KR" sz="700" dirty="0">
                <a:latin typeface="+mn-ea"/>
              </a:rPr>
              <a:t>2.</a:t>
            </a:r>
            <a:r>
              <a:rPr lang="ko-KR" altLang="en-US" sz="700" dirty="0" err="1">
                <a:latin typeface="+mn-ea"/>
              </a:rPr>
              <a:t>납품지연</a:t>
            </a:r>
            <a:r>
              <a:rPr lang="ko-KR" altLang="en-US" sz="700" dirty="0">
                <a:latin typeface="+mn-ea"/>
              </a:rPr>
              <a:t/>
            </a:r>
            <a:br>
              <a:rPr lang="ko-KR" altLang="en-US" sz="700" dirty="0">
                <a:latin typeface="+mn-ea"/>
              </a:rPr>
            </a:br>
            <a:r>
              <a:rPr lang="en-US" altLang="ko-KR" sz="700" dirty="0">
                <a:latin typeface="+mn-ea"/>
              </a:rPr>
              <a:t>3.</a:t>
            </a:r>
            <a:r>
              <a:rPr lang="ko-KR" altLang="en-US" sz="700" dirty="0">
                <a:latin typeface="+mn-ea"/>
              </a:rPr>
              <a:t>부정당업자 제재</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5492833" y="6355879"/>
            <a:ext cx="325410" cy="107722"/>
          </a:xfrm>
          <a:prstGeom prst="rect">
            <a:avLst/>
          </a:prstGeom>
          <a:noFill/>
        </p:spPr>
        <p:txBody>
          <a:bodyPr wrap="none" lIns="0" tIns="0" rIns="0" bIns="0" rtlCol="0">
            <a:spAutoFit/>
          </a:bodyPr>
          <a:lstStyle/>
          <a:p>
            <a:pPr algn="r"/>
            <a:r>
              <a:rPr lang="en-US" altLang="ko-KR" sz="700" dirty="0">
                <a:latin typeface="+mn-ea"/>
              </a:rPr>
              <a:t>+3 ~ -5</a:t>
            </a:r>
            <a:endParaRPr lang="ko-KR" altLang="en-US"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6381281" y="635587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3910665" y="2042171"/>
            <a:ext cx="1480199" cy="21544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기술인력 보유</a:t>
            </a:r>
            <a:br>
              <a:rPr lang="ko-KR" altLang="en-US" sz="700" dirty="0">
                <a:latin typeface="+mn-ea"/>
              </a:rPr>
            </a:br>
            <a:r>
              <a:rPr lang="en-US" altLang="ko-KR" sz="700" dirty="0">
                <a:latin typeface="+mn-ea"/>
              </a:rPr>
              <a:t>2.</a:t>
            </a:r>
            <a:r>
              <a:rPr lang="ko-KR" altLang="en-US" sz="700" dirty="0">
                <a:latin typeface="+mn-ea"/>
              </a:rPr>
              <a:t>생산기술 </a:t>
            </a:r>
            <a:r>
              <a:rPr lang="ko-KR" altLang="en-US" sz="700" dirty="0" err="1">
                <a:latin typeface="+mn-ea"/>
              </a:rPr>
              <a:t>축적정도</a:t>
            </a:r>
            <a:endParaRPr lang="ko-KR" altLang="en-US"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5718856" y="2096032"/>
            <a:ext cx="99387"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6381281" y="209603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3" name="타원 132">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78386099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189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303" name="직사각형 302"/>
          <p:cNvSpPr/>
          <p:nvPr/>
        </p:nvSpPr>
        <p:spPr>
          <a:xfrm>
            <a:off x="718458" y="1778282"/>
            <a:ext cx="1639886" cy="127964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805521" y="1778283"/>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2533563" y="1778283"/>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716366" y="177828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718459" y="19930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718459" y="30631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777337" y="149116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err="1">
                <a:latin typeface="+mn-ea"/>
              </a:rPr>
              <a:t>사회적책임</a:t>
            </a:r>
            <a:r>
              <a:rPr lang="ko-KR" altLang="en-US" sz="700" dirty="0">
                <a:latin typeface="+mn-ea"/>
              </a:rPr>
              <a:t> 등 </a:t>
            </a:r>
            <a:r>
              <a:rPr lang="ko-KR" altLang="en-US" sz="700" dirty="0" err="1">
                <a:latin typeface="+mn-ea"/>
              </a:rPr>
              <a:t>신뢰정도</a:t>
            </a:r>
            <a:endParaRPr lang="ko-KR" altLang="en-US" sz="700" dirty="0">
              <a:latin typeface="+mn-ea"/>
            </a:endParaRPr>
          </a:p>
        </p:txBody>
      </p:sp>
      <p:sp>
        <p:nvSpPr>
          <p:cNvPr id="310" name="TextBox 309">
            <a:extLst>
              <a:ext uri="{FF2B5EF4-FFF2-40B4-BE49-F238E27FC236}">
                <a16:creationId xmlns:a16="http://schemas.microsoft.com/office/drawing/2014/main" id="{FFC49AEA-2A8F-250C-A86A-A7751D9706C3}"/>
              </a:ext>
            </a:extLst>
          </p:cNvPr>
          <p:cNvSpPr txBox="1"/>
          <p:nvPr/>
        </p:nvSpPr>
        <p:spPr>
          <a:xfrm>
            <a:off x="2953933" y="177828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805521" y="2039214"/>
            <a:ext cx="1480199" cy="969496"/>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혁신형</a:t>
            </a:r>
            <a:r>
              <a:rPr lang="ko-KR" altLang="en-US" sz="700" dirty="0">
                <a:latin typeface="+mn-ea"/>
              </a:rPr>
              <a:t> 중소기업</a:t>
            </a:r>
            <a:br>
              <a:rPr lang="ko-KR" altLang="en-US" sz="700" dirty="0">
                <a:latin typeface="+mn-ea"/>
              </a:rPr>
            </a:br>
            <a:r>
              <a:rPr lang="en-US" altLang="ko-KR" sz="700" dirty="0">
                <a:latin typeface="+mn-ea"/>
              </a:rPr>
              <a:t>2.</a:t>
            </a:r>
            <a:r>
              <a:rPr lang="ko-KR" altLang="en-US" sz="700" dirty="0">
                <a:latin typeface="+mn-ea"/>
              </a:rPr>
              <a:t>노사협력우수</a:t>
            </a:r>
            <a:br>
              <a:rPr lang="ko-KR" altLang="en-US" sz="700" dirty="0">
                <a:latin typeface="+mn-ea"/>
              </a:rPr>
            </a:br>
            <a:r>
              <a:rPr lang="en-US" altLang="ko-KR" sz="700" dirty="0">
                <a:latin typeface="+mn-ea"/>
              </a:rPr>
              <a:t>3.</a:t>
            </a:r>
            <a:r>
              <a:rPr lang="ko-KR" altLang="en-US" sz="700" dirty="0">
                <a:latin typeface="+mn-ea"/>
              </a:rPr>
              <a:t>비상대비 중점관리</a:t>
            </a:r>
            <a:br>
              <a:rPr lang="ko-KR" altLang="en-US" sz="700" dirty="0">
                <a:latin typeface="+mn-ea"/>
              </a:rPr>
            </a:br>
            <a:r>
              <a:rPr lang="en-US" altLang="ko-KR" sz="700" dirty="0">
                <a:latin typeface="+mn-ea"/>
              </a:rPr>
              <a:t>4.</a:t>
            </a:r>
            <a:r>
              <a:rPr lang="ko-KR" altLang="en-US" sz="700" dirty="0">
                <a:latin typeface="+mn-ea"/>
              </a:rPr>
              <a:t>장애인기업</a:t>
            </a:r>
            <a:br>
              <a:rPr lang="ko-KR" altLang="en-US" sz="700" dirty="0">
                <a:latin typeface="+mn-ea"/>
              </a:rPr>
            </a:br>
            <a:r>
              <a:rPr lang="en-US" altLang="ko-KR" sz="700" dirty="0">
                <a:latin typeface="+mn-ea"/>
              </a:rPr>
              <a:t>5.</a:t>
            </a:r>
            <a:r>
              <a:rPr lang="ko-KR" altLang="en-US" sz="700" dirty="0">
                <a:latin typeface="+mn-ea"/>
              </a:rPr>
              <a:t>가족친화</a:t>
            </a:r>
            <a:br>
              <a:rPr lang="ko-KR" altLang="en-US" sz="700" dirty="0">
                <a:latin typeface="+mn-ea"/>
              </a:rPr>
            </a:br>
            <a:r>
              <a:rPr lang="en-US" altLang="ko-KR" sz="700" dirty="0">
                <a:latin typeface="+mn-ea"/>
              </a:rPr>
              <a:t>6.</a:t>
            </a:r>
            <a:r>
              <a:rPr lang="ko-KR" altLang="en-US" sz="700" dirty="0">
                <a:latin typeface="+mn-ea"/>
              </a:rPr>
              <a:t>고용창출</a:t>
            </a:r>
            <a:br>
              <a:rPr lang="ko-KR" altLang="en-US" sz="700" dirty="0">
                <a:latin typeface="+mn-ea"/>
              </a:rPr>
            </a:br>
            <a:r>
              <a:rPr lang="en-US" altLang="ko-KR" sz="700" dirty="0">
                <a:latin typeface="+mn-ea"/>
              </a:rPr>
              <a:t>7.</a:t>
            </a:r>
            <a:r>
              <a:rPr lang="ko-KR" altLang="en-US" sz="700" dirty="0">
                <a:latin typeface="+mn-ea"/>
              </a:rPr>
              <a:t>여성기업 지원 등</a:t>
            </a:r>
            <a:br>
              <a:rPr lang="ko-KR" altLang="en-US" sz="700" dirty="0">
                <a:latin typeface="+mn-ea"/>
              </a:rPr>
            </a:br>
            <a:r>
              <a:rPr lang="en-US" altLang="ko-KR" sz="700" dirty="0">
                <a:latin typeface="+mn-ea"/>
              </a:rPr>
              <a:t>8.</a:t>
            </a:r>
            <a:r>
              <a:rPr lang="ko-KR" altLang="en-US" sz="700" dirty="0" err="1">
                <a:latin typeface="+mn-ea"/>
              </a:rPr>
              <a:t>사회적기업</a:t>
            </a:r>
            <a:r>
              <a:rPr lang="ko-KR" altLang="en-US" sz="700" dirty="0">
                <a:latin typeface="+mn-ea"/>
              </a:rPr>
              <a:t/>
            </a:r>
            <a:br>
              <a:rPr lang="ko-KR" altLang="en-US" sz="700" dirty="0">
                <a:latin typeface="+mn-ea"/>
              </a:rPr>
            </a:br>
            <a:r>
              <a:rPr lang="en-US" altLang="ko-KR" sz="700" dirty="0">
                <a:latin typeface="+mn-ea"/>
              </a:rPr>
              <a:t>9.</a:t>
            </a:r>
            <a:r>
              <a:rPr lang="ko-KR" altLang="en-US" sz="700" dirty="0" err="1">
                <a:latin typeface="+mn-ea"/>
              </a:rPr>
              <a:t>모범납세</a:t>
            </a:r>
            <a:endParaRPr lang="ko-KR" altLang="en-US" sz="700" dirty="0">
              <a:latin typeface="+mn-ea"/>
            </a:endParaRPr>
          </a:p>
        </p:txBody>
      </p:sp>
      <p:sp>
        <p:nvSpPr>
          <p:cNvPr id="312" name="TextBox 311">
            <a:extLst>
              <a:ext uri="{FF2B5EF4-FFF2-40B4-BE49-F238E27FC236}">
                <a16:creationId xmlns:a16="http://schemas.microsoft.com/office/drawing/2014/main" id="{FFC49AEA-2A8F-250C-A86A-A7751D9706C3}"/>
              </a:ext>
            </a:extLst>
          </p:cNvPr>
          <p:cNvSpPr txBox="1"/>
          <p:nvPr/>
        </p:nvSpPr>
        <p:spPr>
          <a:xfrm>
            <a:off x="2387689" y="2416240"/>
            <a:ext cx="325410" cy="107722"/>
          </a:xfrm>
          <a:prstGeom prst="rect">
            <a:avLst/>
          </a:prstGeom>
          <a:noFill/>
        </p:spPr>
        <p:txBody>
          <a:bodyPr wrap="none" lIns="0" tIns="0" rIns="0" bIns="0" rtlCol="0">
            <a:spAutoFit/>
          </a:bodyPr>
          <a:lstStyle/>
          <a:p>
            <a:pPr algn="r"/>
            <a:r>
              <a:rPr lang="en-US" altLang="ko-KR" sz="700" dirty="0">
                <a:latin typeface="+mn-ea"/>
              </a:rPr>
              <a:t>+3 ~ -5</a:t>
            </a:r>
            <a:endParaRPr lang="ko-KR" altLang="en-US"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3276137" y="241624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0" name="직선 연결선 169">
            <a:extLst>
              <a:ext uri="{FF2B5EF4-FFF2-40B4-BE49-F238E27FC236}">
                <a16:creationId xmlns:a16="http://schemas.microsoft.com/office/drawing/2014/main" id="{E9293055-D5CD-4B9E-7F64-64B2D2CA7A52}"/>
              </a:ext>
            </a:extLst>
          </p:cNvPr>
          <p:cNvCxnSpPr/>
          <p:nvPr/>
        </p:nvCxnSpPr>
        <p:spPr>
          <a:xfrm>
            <a:off x="676741" y="34948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3" name="직사각형 172"/>
          <p:cNvSpPr/>
          <p:nvPr/>
        </p:nvSpPr>
        <p:spPr>
          <a:xfrm>
            <a:off x="704608" y="4027435"/>
            <a:ext cx="1639886" cy="1321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791671" y="4027436"/>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19713" y="402743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701911" y="402743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4004" y="424217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4004" y="53455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763487" y="3540084"/>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라</a:t>
            </a:r>
            <a:r>
              <a:rPr lang="en-US" altLang="ko-KR" dirty="0"/>
              <a:t>)</a:t>
            </a:r>
            <a:r>
              <a:rPr lang="ko-KR" altLang="en-US" dirty="0"/>
              <a:t>결격사유</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763487" y="374032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a:t>
            </a:r>
            <a:r>
              <a:rPr lang="ko-KR" altLang="en-US" sz="700" dirty="0" err="1">
                <a:latin typeface="+mn-ea"/>
              </a:rPr>
              <a:t>납품이행</a:t>
            </a:r>
            <a:r>
              <a:rPr lang="ko-KR" altLang="en-US" sz="700" dirty="0">
                <a:latin typeface="+mn-ea"/>
              </a:rPr>
              <a:t> 능력 결격 여부</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940083" y="402743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6740" y="541847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5521" y="4309024"/>
            <a:ext cx="1480199" cy="646331"/>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부도 등 및 부정당업자제재 상태인 경우 또는 부도 등의 우려가 있어 해당 계약이행이 어렵다고 판단되는 경우</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판정을 받은 경우는 제외</a:t>
            </a:r>
            <a:r>
              <a:rPr lang="en-US" altLang="ko-KR" sz="700" dirty="0">
                <a:latin typeface="+mn-ea"/>
              </a:rPr>
              <a:t>)</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2576843" y="4524467"/>
            <a:ext cx="13625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endParaRPr lang="ko-KR" altLang="en-US" dirty="0"/>
          </a:p>
        </p:txBody>
      </p:sp>
      <p:sp>
        <p:nvSpPr>
          <p:cNvPr id="187" name="TextBox 186">
            <a:extLst>
              <a:ext uri="{FF2B5EF4-FFF2-40B4-BE49-F238E27FC236}">
                <a16:creationId xmlns:a16="http://schemas.microsoft.com/office/drawing/2014/main" id="{FFC49AEA-2A8F-250C-A86A-A7751D9706C3}"/>
              </a:ext>
            </a:extLst>
          </p:cNvPr>
          <p:cNvSpPr txBox="1"/>
          <p:nvPr/>
        </p:nvSpPr>
        <p:spPr>
          <a:xfrm>
            <a:off x="3276137" y="454109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19050" y="499637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805521" y="5063221"/>
            <a:ext cx="1480199" cy="215444"/>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생산능력 부족으로 당해 계약 이행이 어렵다고 판단되는 경우</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2576843" y="5117082"/>
            <a:ext cx="136256"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883823" y="1527996"/>
            <a:ext cx="2268636" cy="181140"/>
          </a:xfrm>
          <a:prstGeom prst="rect">
            <a:avLst/>
          </a:prstGeom>
          <a:noFill/>
        </p:spPr>
        <p:txBody>
          <a:bodyPr wrap="square" lIns="0" tIns="0" rIns="0" bIns="0" rtlCol="0">
            <a:spAutoFit/>
          </a:bodyPr>
          <a:lstStyle/>
          <a:p>
            <a:pPr>
              <a:lnSpc>
                <a:spcPct val="200000"/>
              </a:lnSpc>
            </a:pPr>
            <a:r>
              <a:rPr lang="en-US" altLang="ko-KR" sz="700">
                <a:latin typeface="+mn-ea"/>
              </a:rPr>
              <a:t>(</a:t>
            </a:r>
            <a:r>
              <a:rPr lang="ko-KR" altLang="en-US" sz="700">
                <a:latin typeface="+mn-ea"/>
              </a:rPr>
              <a:t>가</a:t>
            </a:r>
            <a:r>
              <a:rPr lang="en-US" altLang="ko-KR" sz="700">
                <a:latin typeface="+mn-ea"/>
              </a:rPr>
              <a:t>)</a:t>
            </a:r>
            <a:r>
              <a:rPr lang="ko-KR" altLang="en-US" sz="700">
                <a:latin typeface="+mn-ea"/>
              </a:rPr>
              <a:t>당해물품납품이행</a:t>
            </a:r>
            <a:endParaRPr lang="en-US" altLang="ko-KR" sz="700" dirty="0">
              <a:latin typeface="+mn-ea"/>
            </a:endParaRPr>
          </a:p>
        </p:txBody>
      </p:sp>
      <p:grpSp>
        <p:nvGrpSpPr>
          <p:cNvPr id="209" name="그룹 208"/>
          <p:cNvGrpSpPr/>
          <p:nvPr/>
        </p:nvGrpSpPr>
        <p:grpSpPr>
          <a:xfrm flipV="1">
            <a:off x="6245910" y="1641327"/>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7076"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3910665" y="1864633"/>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 </a:t>
            </a:r>
            <a:r>
              <a:rPr lang="ko-KR" altLang="en-US" dirty="0"/>
              <a:t>납품실적</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910665" y="206487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4435522" y="2138158"/>
            <a:ext cx="2010812" cy="215444"/>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3910665" y="237226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4435522" y="2445550"/>
            <a:ext cx="2010812" cy="215444"/>
          </a:xfrm>
          <a:prstGeom prst="rect">
            <a:avLst/>
          </a:prstGeom>
          <a:noFill/>
        </p:spPr>
        <p:txBody>
          <a:bodyPr wrap="square" lIns="0" tIns="0" rIns="0" bIns="0" rtlCol="0">
            <a:spAutoFit/>
          </a:bodyPr>
          <a:lstStyle/>
          <a:p>
            <a:r>
              <a:rPr lang="ko-KR" altLang="en-US" sz="700" dirty="0">
                <a:latin typeface="+mn-ea"/>
              </a:rPr>
              <a:t>금액  </a:t>
            </a:r>
            <a:r>
              <a:rPr lang="en-US" altLang="ko-KR" sz="700" dirty="0">
                <a:latin typeface="+mn-ea"/>
              </a:rPr>
              <a:t>(</a:t>
            </a:r>
            <a:r>
              <a:rPr lang="ko-KR" altLang="en-US" sz="700" dirty="0">
                <a:latin typeface="+mn-ea"/>
              </a:rPr>
              <a:t>납품가격 </a:t>
            </a:r>
            <a:r>
              <a:rPr lang="en-US" altLang="ko-KR" sz="700" dirty="0">
                <a:latin typeface="+mn-ea"/>
              </a:rPr>
              <a:t>/ </a:t>
            </a:r>
            <a:r>
              <a:rPr lang="ko-KR" altLang="en-US" sz="700" dirty="0">
                <a:latin typeface="+mn-ea"/>
              </a:rPr>
              <a:t>예정가격</a:t>
            </a:r>
            <a:r>
              <a:rPr lang="en-US" altLang="ko-KR" sz="700" dirty="0">
                <a:latin typeface="+mn-ea"/>
              </a:rPr>
              <a:t>)</a:t>
            </a:r>
          </a:p>
          <a:p>
            <a:r>
              <a:rPr lang="ko-KR" altLang="en-US" sz="700" dirty="0">
                <a:latin typeface="+mn-ea"/>
              </a:rPr>
              <a:t>수량  </a:t>
            </a:r>
            <a:r>
              <a:rPr lang="en-US" altLang="ko-KR" sz="700" dirty="0">
                <a:latin typeface="+mn-ea"/>
              </a:rPr>
              <a:t>(</a:t>
            </a:r>
            <a:r>
              <a:rPr lang="ko-KR" altLang="en-US" sz="700" dirty="0" err="1">
                <a:latin typeface="+mn-ea"/>
              </a:rPr>
              <a:t>납품수량</a:t>
            </a:r>
            <a:r>
              <a:rPr lang="ko-KR" altLang="en-US" sz="700" dirty="0">
                <a:latin typeface="+mn-ea"/>
              </a:rPr>
              <a:t> </a:t>
            </a:r>
            <a:r>
              <a:rPr lang="en-US" altLang="ko-KR" sz="700" dirty="0">
                <a:latin typeface="+mn-ea"/>
              </a:rPr>
              <a:t>/ </a:t>
            </a:r>
            <a:r>
              <a:rPr lang="ko-KR" altLang="en-US" sz="700" dirty="0" err="1">
                <a:latin typeface="+mn-ea"/>
              </a:rPr>
              <a:t>예정수량</a:t>
            </a:r>
            <a:r>
              <a:rPr lang="en-US" altLang="ko-KR" sz="700" dirty="0">
                <a:latin typeface="+mn-ea"/>
              </a:rPr>
              <a:t>)</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6036814" y="249941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3910665" y="369012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7" name="TextBox 236">
            <a:extLst>
              <a:ext uri="{FF2B5EF4-FFF2-40B4-BE49-F238E27FC236}">
                <a16:creationId xmlns:a16="http://schemas.microsoft.com/office/drawing/2014/main" id="{FFC49AEA-2A8F-250C-A86A-A7751D9706C3}"/>
              </a:ext>
            </a:extLst>
          </p:cNvPr>
          <p:cNvSpPr txBox="1"/>
          <p:nvPr/>
        </p:nvSpPr>
        <p:spPr>
          <a:xfrm>
            <a:off x="4435522" y="3763410"/>
            <a:ext cx="2010812" cy="215444"/>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유사 물품</a:t>
            </a:r>
            <a:r>
              <a:rPr lang="en-US" altLang="ko-KR" sz="700" dirty="0">
                <a:latin typeface="+mn-ea"/>
              </a:rPr>
              <a:t>)</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3910665" y="399751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4435522" y="4070802"/>
            <a:ext cx="2010812" cy="215444"/>
          </a:xfrm>
          <a:prstGeom prst="rect">
            <a:avLst/>
          </a:prstGeom>
          <a:noFill/>
        </p:spPr>
        <p:txBody>
          <a:bodyPr wrap="square" lIns="0" tIns="0" rIns="0" bIns="0" rtlCol="0">
            <a:spAutoFit/>
          </a:bodyPr>
          <a:lstStyle/>
          <a:p>
            <a:r>
              <a:rPr lang="ko-KR" altLang="en-US" sz="700" dirty="0">
                <a:latin typeface="+mn-ea"/>
              </a:rPr>
              <a:t>금액  </a:t>
            </a:r>
            <a:r>
              <a:rPr lang="en-US" altLang="ko-KR" sz="700" dirty="0">
                <a:latin typeface="+mn-ea"/>
              </a:rPr>
              <a:t>(</a:t>
            </a:r>
            <a:r>
              <a:rPr lang="ko-KR" altLang="en-US" sz="700" dirty="0">
                <a:latin typeface="+mn-ea"/>
              </a:rPr>
              <a:t>납품가격 </a:t>
            </a:r>
            <a:r>
              <a:rPr lang="en-US" altLang="ko-KR" sz="700" dirty="0">
                <a:latin typeface="+mn-ea"/>
              </a:rPr>
              <a:t>/ </a:t>
            </a:r>
            <a:r>
              <a:rPr lang="ko-KR" altLang="en-US" sz="700" dirty="0">
                <a:latin typeface="+mn-ea"/>
              </a:rPr>
              <a:t>예정가격</a:t>
            </a:r>
            <a:r>
              <a:rPr lang="en-US" altLang="ko-KR" sz="700" dirty="0">
                <a:latin typeface="+mn-ea"/>
              </a:rPr>
              <a:t>)</a:t>
            </a:r>
          </a:p>
          <a:p>
            <a:r>
              <a:rPr lang="ko-KR" altLang="en-US" sz="700" dirty="0">
                <a:latin typeface="+mn-ea"/>
              </a:rPr>
              <a:t>수량  </a:t>
            </a:r>
            <a:r>
              <a:rPr lang="en-US" altLang="ko-KR" sz="700" dirty="0">
                <a:latin typeface="+mn-ea"/>
              </a:rPr>
              <a:t>(</a:t>
            </a:r>
            <a:r>
              <a:rPr lang="ko-KR" altLang="en-US" sz="700" dirty="0" err="1">
                <a:latin typeface="+mn-ea"/>
              </a:rPr>
              <a:t>납품수량</a:t>
            </a:r>
            <a:r>
              <a:rPr lang="ko-KR" altLang="en-US" sz="700" dirty="0">
                <a:latin typeface="+mn-ea"/>
              </a:rPr>
              <a:t> </a:t>
            </a:r>
            <a:r>
              <a:rPr lang="en-US" altLang="ko-KR" sz="700" dirty="0">
                <a:latin typeface="+mn-ea"/>
              </a:rPr>
              <a:t>/ </a:t>
            </a:r>
            <a:r>
              <a:rPr lang="ko-KR" altLang="en-US" sz="700" dirty="0" err="1">
                <a:latin typeface="+mn-ea"/>
              </a:rPr>
              <a:t>예정수량</a:t>
            </a:r>
            <a:r>
              <a:rPr lang="en-US" altLang="ko-KR" sz="700" dirty="0">
                <a:latin typeface="+mn-ea"/>
              </a:rPr>
              <a:t>)</a:t>
            </a:r>
          </a:p>
        </p:txBody>
      </p:sp>
      <p:sp>
        <p:nvSpPr>
          <p:cNvPr id="240" name="TextBox 239">
            <a:extLst>
              <a:ext uri="{FF2B5EF4-FFF2-40B4-BE49-F238E27FC236}">
                <a16:creationId xmlns:a16="http://schemas.microsoft.com/office/drawing/2014/main" id="{FFC49AEA-2A8F-250C-A86A-A7751D9706C3}"/>
              </a:ext>
            </a:extLst>
          </p:cNvPr>
          <p:cNvSpPr txBox="1"/>
          <p:nvPr/>
        </p:nvSpPr>
        <p:spPr>
          <a:xfrm>
            <a:off x="6036814" y="4124663"/>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2.5</a:t>
            </a:r>
          </a:p>
        </p:txBody>
      </p:sp>
      <p:sp>
        <p:nvSpPr>
          <p:cNvPr id="243" name="직사각형 242"/>
          <p:cNvSpPr/>
          <p:nvPr/>
        </p:nvSpPr>
        <p:spPr>
          <a:xfrm>
            <a:off x="3835134" y="2752726"/>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4" name="TextBox 243">
            <a:extLst>
              <a:ext uri="{FF2B5EF4-FFF2-40B4-BE49-F238E27FC236}">
                <a16:creationId xmlns:a16="http://schemas.microsoft.com/office/drawing/2014/main" id="{FFC49AEA-2A8F-250C-A86A-A7751D9706C3}"/>
              </a:ext>
            </a:extLst>
          </p:cNvPr>
          <p:cNvSpPr txBox="1"/>
          <p:nvPr/>
        </p:nvSpPr>
        <p:spPr>
          <a:xfrm>
            <a:off x="3922197" y="275272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5650239" y="275272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7" name="직선 연결선 266">
            <a:extLst>
              <a:ext uri="{FF2B5EF4-FFF2-40B4-BE49-F238E27FC236}">
                <a16:creationId xmlns:a16="http://schemas.microsoft.com/office/drawing/2014/main" id="{E9293055-D5CD-4B9E-7F64-64B2D2CA7A52}"/>
              </a:ext>
            </a:extLst>
          </p:cNvPr>
          <p:cNvCxnSpPr/>
          <p:nvPr/>
        </p:nvCxnSpPr>
        <p:spPr>
          <a:xfrm>
            <a:off x="3832437" y="275272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3834530" y="29674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5" name="직선 연결선 274">
            <a:extLst>
              <a:ext uri="{FF2B5EF4-FFF2-40B4-BE49-F238E27FC236}">
                <a16:creationId xmlns:a16="http://schemas.microsoft.com/office/drawing/2014/main" id="{E9293055-D5CD-4B9E-7F64-64B2D2CA7A52}"/>
              </a:ext>
            </a:extLst>
          </p:cNvPr>
          <p:cNvCxnSpPr/>
          <p:nvPr/>
        </p:nvCxnSpPr>
        <p:spPr>
          <a:xfrm>
            <a:off x="3834530" y="36397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6070609" y="275272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533884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8" name="TextBox 277">
            <a:extLst>
              <a:ext uri="{FF2B5EF4-FFF2-40B4-BE49-F238E27FC236}">
                <a16:creationId xmlns:a16="http://schemas.microsoft.com/office/drawing/2014/main" id="{FFC49AEA-2A8F-250C-A86A-A7751D9706C3}"/>
              </a:ext>
            </a:extLst>
          </p:cNvPr>
          <p:cNvSpPr txBox="1"/>
          <p:nvPr/>
        </p:nvSpPr>
        <p:spPr>
          <a:xfrm>
            <a:off x="3936047" y="3034314"/>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100% </a:t>
            </a:r>
            <a:r>
              <a:rPr lang="ko-KR" altLang="en-US" dirty="0"/>
              <a:t>이상</a:t>
            </a:r>
            <a:r>
              <a:rPr lang="en-US" altLang="ko-KR" dirty="0"/>
              <a:t/>
            </a:r>
            <a:br>
              <a:rPr lang="en-US" altLang="ko-KR" dirty="0"/>
            </a:br>
            <a:r>
              <a:rPr lang="en-US" altLang="ko-KR" dirty="0"/>
              <a:t>B. 50% </a:t>
            </a:r>
            <a:r>
              <a:rPr lang="ko-KR" altLang="en-US" dirty="0"/>
              <a:t>이상 </a:t>
            </a:r>
            <a:r>
              <a:rPr lang="en-US" altLang="ko-KR" dirty="0"/>
              <a:t>~ 100% </a:t>
            </a:r>
            <a:r>
              <a:rPr lang="ko-KR" altLang="en-US" dirty="0"/>
              <a:t>미만</a:t>
            </a:r>
            <a:r>
              <a:rPr lang="en-US" altLang="ko-KR" dirty="0"/>
              <a:t/>
            </a:r>
            <a:br>
              <a:rPr lang="en-US" altLang="ko-KR" dirty="0"/>
            </a:br>
            <a:r>
              <a:rPr lang="en-US" altLang="ko-KR" dirty="0"/>
              <a:t>C. 30% </a:t>
            </a:r>
            <a:r>
              <a:rPr lang="ko-KR" altLang="en-US" dirty="0"/>
              <a:t>이상 </a:t>
            </a:r>
            <a:r>
              <a:rPr lang="en-US" altLang="ko-KR" dirty="0"/>
              <a:t>~ 50% </a:t>
            </a:r>
            <a:r>
              <a:rPr lang="ko-KR" altLang="en-US" dirty="0"/>
              <a:t>미만</a:t>
            </a:r>
            <a:r>
              <a:rPr lang="en-US" altLang="ko-KR" dirty="0"/>
              <a:t/>
            </a:r>
            <a:br>
              <a:rPr lang="en-US" altLang="ko-KR" dirty="0"/>
            </a:br>
            <a:r>
              <a:rPr lang="en-US" altLang="ko-KR" dirty="0"/>
              <a:t>D. 5% </a:t>
            </a:r>
            <a:r>
              <a:rPr lang="ko-KR" altLang="en-US" dirty="0"/>
              <a:t>이상 </a:t>
            </a:r>
            <a:r>
              <a:rPr lang="en-US" altLang="ko-KR" dirty="0"/>
              <a:t>~ 30% </a:t>
            </a:r>
            <a:r>
              <a:rPr lang="ko-KR" altLang="en-US" dirty="0"/>
              <a:t>미만</a:t>
            </a:r>
            <a:r>
              <a:rPr lang="en-US" altLang="ko-KR" dirty="0"/>
              <a:t/>
            </a:r>
            <a:br>
              <a:rPr lang="en-US" altLang="ko-KR" dirty="0"/>
            </a:br>
            <a:r>
              <a:rPr lang="en-US" altLang="ko-KR" dirty="0"/>
              <a:t>E. 1% </a:t>
            </a:r>
            <a:r>
              <a:rPr lang="ko-KR" altLang="en-US" dirty="0"/>
              <a:t>이상 </a:t>
            </a:r>
            <a:r>
              <a:rPr lang="en-US" altLang="ko-KR" dirty="0"/>
              <a:t>~ 5% </a:t>
            </a:r>
            <a:r>
              <a:rPr lang="ko-KR" altLang="en-US" dirty="0"/>
              <a:t>미만</a:t>
            </a:r>
            <a:endParaRPr lang="en-US" altLang="ko-KR" dirty="0"/>
          </a:p>
        </p:txBody>
      </p:sp>
      <p:sp>
        <p:nvSpPr>
          <p:cNvPr id="279" name="TextBox 278">
            <a:extLst>
              <a:ext uri="{FF2B5EF4-FFF2-40B4-BE49-F238E27FC236}">
                <a16:creationId xmlns:a16="http://schemas.microsoft.com/office/drawing/2014/main" id="{FFC49AEA-2A8F-250C-A86A-A7751D9706C3}"/>
              </a:ext>
            </a:extLst>
          </p:cNvPr>
          <p:cNvSpPr txBox="1"/>
          <p:nvPr/>
        </p:nvSpPr>
        <p:spPr>
          <a:xfrm>
            <a:off x="5725003" y="3034314"/>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9.5</a:t>
            </a:r>
            <a:br>
              <a:rPr lang="en-US" altLang="ko-KR" dirty="0"/>
            </a:br>
            <a:r>
              <a:rPr lang="en-US" altLang="ko-KR" dirty="0"/>
              <a:t>9</a:t>
            </a:r>
            <a:br>
              <a:rPr lang="en-US" altLang="ko-KR" dirty="0"/>
            </a:br>
            <a:r>
              <a:rPr lang="en-US" altLang="ko-KR" dirty="0"/>
              <a:t>8.5</a:t>
            </a:r>
            <a:br>
              <a:rPr lang="en-US" altLang="ko-KR" dirty="0"/>
            </a:br>
            <a:r>
              <a:rPr lang="en-US" altLang="ko-KR" dirty="0"/>
              <a:t>8</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6406663" y="32663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4" name="직사각형 283"/>
          <p:cNvSpPr/>
          <p:nvPr/>
        </p:nvSpPr>
        <p:spPr>
          <a:xfrm>
            <a:off x="3835134" y="4382250"/>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5" name="TextBox 284">
            <a:extLst>
              <a:ext uri="{FF2B5EF4-FFF2-40B4-BE49-F238E27FC236}">
                <a16:creationId xmlns:a16="http://schemas.microsoft.com/office/drawing/2014/main" id="{FFC49AEA-2A8F-250C-A86A-A7751D9706C3}"/>
              </a:ext>
            </a:extLst>
          </p:cNvPr>
          <p:cNvSpPr txBox="1"/>
          <p:nvPr/>
        </p:nvSpPr>
        <p:spPr>
          <a:xfrm>
            <a:off x="3922197" y="438225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86" name="TextBox 285">
            <a:extLst>
              <a:ext uri="{FF2B5EF4-FFF2-40B4-BE49-F238E27FC236}">
                <a16:creationId xmlns:a16="http://schemas.microsoft.com/office/drawing/2014/main" id="{FFC49AEA-2A8F-250C-A86A-A7751D9706C3}"/>
              </a:ext>
            </a:extLst>
          </p:cNvPr>
          <p:cNvSpPr txBox="1"/>
          <p:nvPr/>
        </p:nvSpPr>
        <p:spPr>
          <a:xfrm>
            <a:off x="5650239" y="438225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87" name="직선 연결선 286">
            <a:extLst>
              <a:ext uri="{FF2B5EF4-FFF2-40B4-BE49-F238E27FC236}">
                <a16:creationId xmlns:a16="http://schemas.microsoft.com/office/drawing/2014/main" id="{E9293055-D5CD-4B9E-7F64-64B2D2CA7A52}"/>
              </a:ext>
            </a:extLst>
          </p:cNvPr>
          <p:cNvCxnSpPr/>
          <p:nvPr/>
        </p:nvCxnSpPr>
        <p:spPr>
          <a:xfrm>
            <a:off x="3832437" y="43822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3834530" y="45969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8" name="직선 연결선 297">
            <a:extLst>
              <a:ext uri="{FF2B5EF4-FFF2-40B4-BE49-F238E27FC236}">
                <a16:creationId xmlns:a16="http://schemas.microsoft.com/office/drawing/2014/main" id="{E9293055-D5CD-4B9E-7F64-64B2D2CA7A52}"/>
              </a:ext>
            </a:extLst>
          </p:cNvPr>
          <p:cNvCxnSpPr/>
          <p:nvPr/>
        </p:nvCxnSpPr>
        <p:spPr>
          <a:xfrm>
            <a:off x="3834530" y="52692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FFC49AEA-2A8F-250C-A86A-A7751D9706C3}"/>
              </a:ext>
            </a:extLst>
          </p:cNvPr>
          <p:cNvSpPr txBox="1"/>
          <p:nvPr/>
        </p:nvSpPr>
        <p:spPr>
          <a:xfrm>
            <a:off x="6070609" y="438225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5" name="TextBox 314">
            <a:extLst>
              <a:ext uri="{FF2B5EF4-FFF2-40B4-BE49-F238E27FC236}">
                <a16:creationId xmlns:a16="http://schemas.microsoft.com/office/drawing/2014/main" id="{FFC49AEA-2A8F-250C-A86A-A7751D9706C3}"/>
              </a:ext>
            </a:extLst>
          </p:cNvPr>
          <p:cNvSpPr txBox="1"/>
          <p:nvPr/>
        </p:nvSpPr>
        <p:spPr>
          <a:xfrm>
            <a:off x="3936047" y="4663838"/>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100% </a:t>
            </a:r>
            <a:r>
              <a:rPr lang="ko-KR" altLang="en-US" dirty="0"/>
              <a:t>이상</a:t>
            </a:r>
            <a:r>
              <a:rPr lang="en-US" altLang="ko-KR" dirty="0"/>
              <a:t/>
            </a:r>
            <a:br>
              <a:rPr lang="en-US" altLang="ko-KR" dirty="0"/>
            </a:br>
            <a:r>
              <a:rPr lang="en-US" altLang="ko-KR" dirty="0"/>
              <a:t>B. 50% </a:t>
            </a:r>
            <a:r>
              <a:rPr lang="ko-KR" altLang="en-US" dirty="0"/>
              <a:t>이상 </a:t>
            </a:r>
            <a:r>
              <a:rPr lang="en-US" altLang="ko-KR" dirty="0"/>
              <a:t>~ 100% </a:t>
            </a:r>
            <a:r>
              <a:rPr lang="ko-KR" altLang="en-US" dirty="0"/>
              <a:t>미만</a:t>
            </a:r>
            <a:r>
              <a:rPr lang="en-US" altLang="ko-KR" dirty="0"/>
              <a:t/>
            </a:r>
            <a:br>
              <a:rPr lang="en-US" altLang="ko-KR" dirty="0"/>
            </a:br>
            <a:r>
              <a:rPr lang="en-US" altLang="ko-KR" dirty="0"/>
              <a:t>C. 30% </a:t>
            </a:r>
            <a:r>
              <a:rPr lang="ko-KR" altLang="en-US" dirty="0"/>
              <a:t>이상 </a:t>
            </a:r>
            <a:r>
              <a:rPr lang="en-US" altLang="ko-KR" dirty="0"/>
              <a:t>~ 50% </a:t>
            </a:r>
            <a:r>
              <a:rPr lang="ko-KR" altLang="en-US" dirty="0"/>
              <a:t>미만</a:t>
            </a:r>
            <a:r>
              <a:rPr lang="en-US" altLang="ko-KR" dirty="0"/>
              <a:t/>
            </a:r>
            <a:br>
              <a:rPr lang="en-US" altLang="ko-KR" dirty="0"/>
            </a:br>
            <a:r>
              <a:rPr lang="en-US" altLang="ko-KR" dirty="0"/>
              <a:t>D. 5% </a:t>
            </a:r>
            <a:r>
              <a:rPr lang="ko-KR" altLang="en-US" dirty="0"/>
              <a:t>이상 </a:t>
            </a:r>
            <a:r>
              <a:rPr lang="en-US" altLang="ko-KR" dirty="0"/>
              <a:t>~ 30% </a:t>
            </a:r>
            <a:r>
              <a:rPr lang="ko-KR" altLang="en-US" dirty="0"/>
              <a:t>미만</a:t>
            </a:r>
            <a:r>
              <a:rPr lang="en-US" altLang="ko-KR" dirty="0"/>
              <a:t/>
            </a:r>
            <a:br>
              <a:rPr lang="en-US" altLang="ko-KR" dirty="0"/>
            </a:br>
            <a:r>
              <a:rPr lang="en-US" altLang="ko-KR" dirty="0"/>
              <a:t>E. 1% </a:t>
            </a:r>
            <a:r>
              <a:rPr lang="ko-KR" altLang="en-US" dirty="0"/>
              <a:t>이상 </a:t>
            </a:r>
            <a:r>
              <a:rPr lang="en-US" altLang="ko-KR" dirty="0"/>
              <a:t>~ 5% </a:t>
            </a:r>
            <a:r>
              <a:rPr lang="ko-KR" altLang="en-US" dirty="0"/>
              <a:t>미만</a:t>
            </a:r>
            <a:endParaRPr lang="en-US" altLang="ko-KR" dirty="0"/>
          </a:p>
        </p:txBody>
      </p:sp>
      <p:sp>
        <p:nvSpPr>
          <p:cNvPr id="316" name="TextBox 315">
            <a:extLst>
              <a:ext uri="{FF2B5EF4-FFF2-40B4-BE49-F238E27FC236}">
                <a16:creationId xmlns:a16="http://schemas.microsoft.com/office/drawing/2014/main" id="{FFC49AEA-2A8F-250C-A86A-A7751D9706C3}"/>
              </a:ext>
            </a:extLst>
          </p:cNvPr>
          <p:cNvSpPr txBox="1"/>
          <p:nvPr/>
        </p:nvSpPr>
        <p:spPr>
          <a:xfrm>
            <a:off x="5725003" y="4663838"/>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2.5</a:t>
            </a:r>
            <a:br>
              <a:rPr lang="en-US" altLang="ko-KR" dirty="0"/>
            </a:br>
            <a:r>
              <a:rPr lang="en-US" altLang="ko-KR" dirty="0"/>
              <a:t>2.0</a:t>
            </a:r>
            <a:br>
              <a:rPr lang="en-US" altLang="ko-KR" dirty="0"/>
            </a:br>
            <a:r>
              <a:rPr lang="en-US" altLang="ko-KR" dirty="0"/>
              <a:t>1.5</a:t>
            </a:r>
            <a:br>
              <a:rPr lang="en-US" altLang="ko-KR" dirty="0"/>
            </a:br>
            <a:r>
              <a:rPr lang="en-US" altLang="ko-KR" dirty="0"/>
              <a:t>1.0</a:t>
            </a:r>
            <a:br>
              <a:rPr lang="en-US" altLang="ko-KR" dirty="0"/>
            </a:br>
            <a:r>
              <a:rPr lang="en-US" altLang="ko-KR" dirty="0"/>
              <a:t>0.5</a:t>
            </a:r>
          </a:p>
        </p:txBody>
      </p:sp>
      <p:sp>
        <p:nvSpPr>
          <p:cNvPr id="317" name="TextBox 316">
            <a:extLst>
              <a:ext uri="{FF2B5EF4-FFF2-40B4-BE49-F238E27FC236}">
                <a16:creationId xmlns:a16="http://schemas.microsoft.com/office/drawing/2014/main" id="{FFC49AEA-2A8F-250C-A86A-A7751D9706C3}"/>
              </a:ext>
            </a:extLst>
          </p:cNvPr>
          <p:cNvSpPr txBox="1"/>
          <p:nvPr/>
        </p:nvSpPr>
        <p:spPr>
          <a:xfrm>
            <a:off x="6406663" y="489591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22" name="TextBox 321">
            <a:extLst>
              <a:ext uri="{FF2B5EF4-FFF2-40B4-BE49-F238E27FC236}">
                <a16:creationId xmlns:a16="http://schemas.microsoft.com/office/drawing/2014/main" id="{FFC49AEA-2A8F-250C-A86A-A7751D9706C3}"/>
              </a:ext>
            </a:extLst>
          </p:cNvPr>
          <p:cNvSpPr txBox="1"/>
          <p:nvPr/>
        </p:nvSpPr>
        <p:spPr>
          <a:xfrm>
            <a:off x="5475020" y="1864633"/>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10</a:t>
            </a:r>
            <a:r>
              <a:rPr lang="ko-KR" altLang="en-US" dirty="0"/>
              <a:t>점</a:t>
            </a:r>
          </a:p>
        </p:txBody>
      </p:sp>
      <p:sp>
        <p:nvSpPr>
          <p:cNvPr id="90" name="TextBox 89">
            <a:extLst>
              <a:ext uri="{FF2B5EF4-FFF2-40B4-BE49-F238E27FC236}">
                <a16:creationId xmlns:a16="http://schemas.microsoft.com/office/drawing/2014/main" id="{FFC49AEA-2A8F-250C-A86A-A7751D9706C3}"/>
              </a:ext>
            </a:extLst>
          </p:cNvPr>
          <p:cNvSpPr txBox="1"/>
          <p:nvPr/>
        </p:nvSpPr>
        <p:spPr>
          <a:xfrm>
            <a:off x="763487" y="3122128"/>
            <a:ext cx="2456097" cy="323165"/>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신인도 배점은 </a:t>
            </a:r>
            <a:r>
              <a:rPr lang="en-US" altLang="ko-KR" sz="700" dirty="0">
                <a:latin typeface="+mn-ea"/>
              </a:rPr>
              <a:t>1~3</a:t>
            </a:r>
            <a:r>
              <a:rPr lang="ko-KR" altLang="en-US" sz="700" dirty="0">
                <a:latin typeface="+mn-ea"/>
              </a:rPr>
              <a:t>번 항을 합하여</a:t>
            </a:r>
            <a:endParaRPr lang="en-US" altLang="ko-KR" sz="700" dirty="0">
              <a:latin typeface="+mn-ea"/>
            </a:endParaRPr>
          </a:p>
          <a:p>
            <a:pPr lvl="0" algn="ctr" defTabSz="1013612">
              <a:defRPr/>
            </a:pPr>
            <a:r>
              <a:rPr lang="en-US" altLang="ko-KR" sz="700" dirty="0">
                <a:latin typeface="+mn-ea"/>
              </a:rPr>
              <a:t>+3 ~ -5</a:t>
            </a:r>
            <a:r>
              <a:rPr lang="ko-KR" altLang="en-US" sz="700" dirty="0">
                <a:latin typeface="+mn-ea"/>
              </a:rPr>
              <a:t>의 사이 값이 </a:t>
            </a:r>
            <a:r>
              <a:rPr lang="ko-KR" altLang="en-US" sz="700" dirty="0" err="1">
                <a:latin typeface="+mn-ea"/>
              </a:rPr>
              <a:t>배점됩니다</a:t>
            </a:r>
            <a:r>
              <a:rPr lang="en-US" altLang="ko-KR" sz="700" dirty="0">
                <a:latin typeface="+mn-ea"/>
              </a:rPr>
              <a:t>.</a:t>
            </a:r>
            <a:endParaRPr lang="ko-KR" altLang="en-US" sz="700" dirty="0">
              <a:latin typeface="+mn-ea"/>
            </a:endParaRPr>
          </a:p>
        </p:txBody>
      </p:sp>
      <p:sp>
        <p:nvSpPr>
          <p:cNvPr id="89" name="타원 88">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40497123"/>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직사각형 138"/>
          <p:cNvSpPr/>
          <p:nvPr/>
        </p:nvSpPr>
        <p:spPr>
          <a:xfrm>
            <a:off x="714799" y="4684148"/>
            <a:ext cx="1639886" cy="90111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190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790330" y="1491157"/>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a:t>
            </a:r>
            <a:r>
              <a:rPr lang="ko-KR" altLang="en-US" dirty="0"/>
              <a:t>기술능력</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790330" y="169139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5187" y="1764682"/>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기술 인력 보유</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790330" y="18751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1315187" y="1948462"/>
            <a:ext cx="2010812" cy="107722"/>
          </a:xfrm>
          <a:prstGeom prst="rect">
            <a:avLst/>
          </a:prstGeom>
          <a:noFill/>
        </p:spPr>
        <p:txBody>
          <a:bodyPr wrap="square" lIns="0" tIns="0" rIns="0" bIns="0" rtlCol="0">
            <a:spAutoFit/>
          </a:bodyPr>
          <a:lstStyle/>
          <a:p>
            <a:r>
              <a:rPr lang="ko-KR" altLang="en-US" sz="700" dirty="0">
                <a:latin typeface="+mn-ea"/>
              </a:rPr>
              <a:t>기술인력 보유 정도</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2916479" y="194846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6.0</a:t>
            </a:r>
          </a:p>
        </p:txBody>
      </p:sp>
      <p:sp>
        <p:nvSpPr>
          <p:cNvPr id="243" name="직사각형 242"/>
          <p:cNvSpPr/>
          <p:nvPr/>
        </p:nvSpPr>
        <p:spPr>
          <a:xfrm>
            <a:off x="714799" y="2109540"/>
            <a:ext cx="1639886" cy="20892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4" name="TextBox 243">
            <a:extLst>
              <a:ext uri="{FF2B5EF4-FFF2-40B4-BE49-F238E27FC236}">
                <a16:creationId xmlns:a16="http://schemas.microsoft.com/office/drawing/2014/main" id="{FFC49AEA-2A8F-250C-A86A-A7751D9706C3}"/>
              </a:ext>
            </a:extLst>
          </p:cNvPr>
          <p:cNvSpPr txBox="1"/>
          <p:nvPr/>
        </p:nvSpPr>
        <p:spPr>
          <a:xfrm>
            <a:off x="801862" y="210954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2529904" y="210954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7" name="직선 연결선 266">
            <a:extLst>
              <a:ext uri="{FF2B5EF4-FFF2-40B4-BE49-F238E27FC236}">
                <a16:creationId xmlns:a16="http://schemas.microsoft.com/office/drawing/2014/main" id="{E9293055-D5CD-4B9E-7F64-64B2D2CA7A52}"/>
              </a:ext>
            </a:extLst>
          </p:cNvPr>
          <p:cNvCxnSpPr/>
          <p:nvPr/>
        </p:nvCxnSpPr>
        <p:spPr>
          <a:xfrm>
            <a:off x="712102" y="21095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714195" y="2324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5" name="직선 연결선 274">
            <a:extLst>
              <a:ext uri="{FF2B5EF4-FFF2-40B4-BE49-F238E27FC236}">
                <a16:creationId xmlns:a16="http://schemas.microsoft.com/office/drawing/2014/main" id="{E9293055-D5CD-4B9E-7F64-64B2D2CA7A52}"/>
              </a:ext>
            </a:extLst>
          </p:cNvPr>
          <p:cNvCxnSpPr/>
          <p:nvPr/>
        </p:nvCxnSpPr>
        <p:spPr>
          <a:xfrm>
            <a:off x="714195" y="41907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2950274" y="2109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8" name="TextBox 277">
            <a:extLst>
              <a:ext uri="{FF2B5EF4-FFF2-40B4-BE49-F238E27FC236}">
                <a16:creationId xmlns:a16="http://schemas.microsoft.com/office/drawing/2014/main" id="{FFC49AEA-2A8F-250C-A86A-A7751D9706C3}"/>
              </a:ext>
            </a:extLst>
          </p:cNvPr>
          <p:cNvSpPr txBox="1"/>
          <p:nvPr/>
        </p:nvSpPr>
        <p:spPr>
          <a:xfrm>
            <a:off x="815712" y="236067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기술사 또는 </a:t>
            </a:r>
            <a:r>
              <a:rPr lang="ko-KR" altLang="en-US" dirty="0" err="1"/>
              <a:t>기능장</a:t>
            </a:r>
            <a:r>
              <a:rPr lang="ko-KR" altLang="en-US" dirty="0"/>
              <a:t> 보유</a:t>
            </a:r>
          </a:p>
        </p:txBody>
      </p:sp>
      <p:sp>
        <p:nvSpPr>
          <p:cNvPr id="279" name="TextBox 278">
            <a:extLst>
              <a:ext uri="{FF2B5EF4-FFF2-40B4-BE49-F238E27FC236}">
                <a16:creationId xmlns:a16="http://schemas.microsoft.com/office/drawing/2014/main" id="{FFC49AEA-2A8F-250C-A86A-A7751D9706C3}"/>
              </a:ext>
            </a:extLst>
          </p:cNvPr>
          <p:cNvSpPr txBox="1"/>
          <p:nvPr/>
        </p:nvSpPr>
        <p:spPr>
          <a:xfrm>
            <a:off x="2604668" y="2541177"/>
            <a:ext cx="118622"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br>
              <a:rPr lang="en-US" altLang="ko-KR" dirty="0"/>
            </a:br>
            <a:r>
              <a:rPr lang="en-US" altLang="ko-KR" dirty="0"/>
              <a:t>2.0</a:t>
            </a:r>
            <a:br>
              <a:rPr lang="en-US" altLang="ko-KR" dirty="0"/>
            </a:br>
            <a:r>
              <a:rPr lang="en-US" altLang="ko-KR" dirty="0"/>
              <a:t>1.0</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3286328" y="320366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89" name="TextBox 88">
            <a:extLst>
              <a:ext uri="{FF2B5EF4-FFF2-40B4-BE49-F238E27FC236}">
                <a16:creationId xmlns:a16="http://schemas.microsoft.com/office/drawing/2014/main" id="{FFC49AEA-2A8F-250C-A86A-A7751D9706C3}"/>
              </a:ext>
            </a:extLst>
          </p:cNvPr>
          <p:cNvSpPr txBox="1"/>
          <p:nvPr/>
        </p:nvSpPr>
        <p:spPr>
          <a:xfrm>
            <a:off x="815712" y="2541177"/>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a:t>
            </a:r>
            <a:endParaRPr lang="en-US" altLang="ko-KR" dirty="0"/>
          </a:p>
          <a:p>
            <a:r>
              <a:rPr lang="en-US" altLang="ko-KR" dirty="0"/>
              <a:t>  3. 1</a:t>
            </a:r>
            <a:r>
              <a:rPr lang="ko-KR" altLang="en-US" dirty="0"/>
              <a:t>인</a:t>
            </a:r>
          </a:p>
        </p:txBody>
      </p:sp>
      <p:sp>
        <p:nvSpPr>
          <p:cNvPr id="90" name="TextBox 89">
            <a:extLst>
              <a:ext uri="{FF2B5EF4-FFF2-40B4-BE49-F238E27FC236}">
                <a16:creationId xmlns:a16="http://schemas.microsoft.com/office/drawing/2014/main" id="{FFC49AEA-2A8F-250C-A86A-A7751D9706C3}"/>
              </a:ext>
            </a:extLst>
          </p:cNvPr>
          <p:cNvSpPr txBox="1"/>
          <p:nvPr/>
        </p:nvSpPr>
        <p:spPr>
          <a:xfrm>
            <a:off x="815712" y="292494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기사 또는 산업기사 보유</a:t>
            </a:r>
          </a:p>
        </p:txBody>
      </p:sp>
      <p:sp>
        <p:nvSpPr>
          <p:cNvPr id="91" name="TextBox 90">
            <a:extLst>
              <a:ext uri="{FF2B5EF4-FFF2-40B4-BE49-F238E27FC236}">
                <a16:creationId xmlns:a16="http://schemas.microsoft.com/office/drawing/2014/main" id="{FFC49AEA-2A8F-250C-A86A-A7751D9706C3}"/>
              </a:ext>
            </a:extLst>
          </p:cNvPr>
          <p:cNvSpPr txBox="1"/>
          <p:nvPr/>
        </p:nvSpPr>
        <p:spPr>
          <a:xfrm>
            <a:off x="815712" y="3105447"/>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a:t>
            </a:r>
            <a:endParaRPr lang="en-US" altLang="ko-KR" dirty="0"/>
          </a:p>
          <a:p>
            <a:r>
              <a:rPr lang="en-US" altLang="ko-KR" dirty="0"/>
              <a:t>  3. 1</a:t>
            </a:r>
            <a:r>
              <a:rPr lang="ko-KR" altLang="en-US" dirty="0"/>
              <a:t>인</a:t>
            </a:r>
          </a:p>
        </p:txBody>
      </p:sp>
      <p:sp>
        <p:nvSpPr>
          <p:cNvPr id="92" name="TextBox 91">
            <a:extLst>
              <a:ext uri="{FF2B5EF4-FFF2-40B4-BE49-F238E27FC236}">
                <a16:creationId xmlns:a16="http://schemas.microsoft.com/office/drawing/2014/main" id="{FFC49AEA-2A8F-250C-A86A-A7751D9706C3}"/>
              </a:ext>
            </a:extLst>
          </p:cNvPr>
          <p:cNvSpPr txBox="1"/>
          <p:nvPr/>
        </p:nvSpPr>
        <p:spPr>
          <a:xfrm>
            <a:off x="815712" y="348921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기능사 보유</a:t>
            </a:r>
          </a:p>
        </p:txBody>
      </p:sp>
      <p:sp>
        <p:nvSpPr>
          <p:cNvPr id="93" name="TextBox 92">
            <a:extLst>
              <a:ext uri="{FF2B5EF4-FFF2-40B4-BE49-F238E27FC236}">
                <a16:creationId xmlns:a16="http://schemas.microsoft.com/office/drawing/2014/main" id="{FFC49AEA-2A8F-250C-A86A-A7751D9706C3}"/>
              </a:ext>
            </a:extLst>
          </p:cNvPr>
          <p:cNvSpPr txBox="1"/>
          <p:nvPr/>
        </p:nvSpPr>
        <p:spPr>
          <a:xfrm>
            <a:off x="815712" y="3669717"/>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a:t>
            </a:r>
            <a:endParaRPr lang="en-US" altLang="ko-KR" dirty="0"/>
          </a:p>
          <a:p>
            <a:r>
              <a:rPr lang="en-US" altLang="ko-KR" dirty="0"/>
              <a:t>  3. 1</a:t>
            </a:r>
            <a:r>
              <a:rPr lang="ko-KR" altLang="en-US" dirty="0"/>
              <a:t>인</a:t>
            </a:r>
          </a:p>
        </p:txBody>
      </p:sp>
      <p:sp>
        <p:nvSpPr>
          <p:cNvPr id="94" name="TextBox 93">
            <a:extLst>
              <a:ext uri="{FF2B5EF4-FFF2-40B4-BE49-F238E27FC236}">
                <a16:creationId xmlns:a16="http://schemas.microsoft.com/office/drawing/2014/main" id="{FFC49AEA-2A8F-250C-A86A-A7751D9706C3}"/>
              </a:ext>
            </a:extLst>
          </p:cNvPr>
          <p:cNvSpPr txBox="1"/>
          <p:nvPr/>
        </p:nvSpPr>
        <p:spPr>
          <a:xfrm>
            <a:off x="815712" y="4046657"/>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D. </a:t>
            </a:r>
            <a:r>
              <a:rPr lang="ko-KR" altLang="en-US" dirty="0" err="1"/>
              <a:t>미보유</a:t>
            </a:r>
            <a:endParaRPr lang="ko-KR" altLang="en-US" dirty="0"/>
          </a:p>
        </p:txBody>
      </p:sp>
      <p:cxnSp>
        <p:nvCxnSpPr>
          <p:cNvPr id="95" name="직선 연결선 94">
            <a:extLst>
              <a:ext uri="{FF2B5EF4-FFF2-40B4-BE49-F238E27FC236}">
                <a16:creationId xmlns:a16="http://schemas.microsoft.com/office/drawing/2014/main" id="{E9293055-D5CD-4B9E-7F64-64B2D2CA7A52}"/>
              </a:ext>
            </a:extLst>
          </p:cNvPr>
          <p:cNvCxnSpPr/>
          <p:nvPr/>
        </p:nvCxnSpPr>
        <p:spPr>
          <a:xfrm>
            <a:off x="719050" y="401026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19050" y="34528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19050" y="288854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19050" y="363332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19050" y="306905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19050" y="250478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1" name="TextBox 100">
            <a:extLst>
              <a:ext uri="{FF2B5EF4-FFF2-40B4-BE49-F238E27FC236}">
                <a16:creationId xmlns:a16="http://schemas.microsoft.com/office/drawing/2014/main" id="{FFC49AEA-2A8F-250C-A86A-A7751D9706C3}"/>
              </a:ext>
            </a:extLst>
          </p:cNvPr>
          <p:cNvSpPr txBox="1"/>
          <p:nvPr/>
        </p:nvSpPr>
        <p:spPr>
          <a:xfrm>
            <a:off x="2604668" y="3105447"/>
            <a:ext cx="118622"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br>
              <a:rPr lang="en-US" altLang="ko-KR" dirty="0"/>
            </a:br>
            <a:r>
              <a:rPr lang="en-US" altLang="ko-KR" dirty="0"/>
              <a:t>1.0</a:t>
            </a:r>
            <a:br>
              <a:rPr lang="en-US" altLang="ko-KR" dirty="0"/>
            </a:br>
            <a:r>
              <a:rPr lang="en-US" altLang="ko-KR" dirty="0"/>
              <a:t>0.5</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2554974" y="3669717"/>
            <a:ext cx="168316"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0.75</a:t>
            </a:r>
            <a:br>
              <a:rPr lang="en-US" altLang="ko-KR" dirty="0"/>
            </a:br>
            <a:r>
              <a:rPr lang="en-US" altLang="ko-KR" dirty="0"/>
              <a:t>0.5</a:t>
            </a:r>
            <a:br>
              <a:rPr lang="en-US" altLang="ko-KR" dirty="0"/>
            </a:br>
            <a:r>
              <a:rPr lang="en-US" altLang="ko-KR" dirty="0"/>
              <a:t>0.25</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673597" y="4046657"/>
            <a:ext cx="4969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a:t>
            </a: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675399" y="564289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3795734" y="1504908"/>
            <a:ext cx="2712027" cy="989687"/>
            <a:chOff x="675399" y="5188802"/>
            <a:chExt cx="2712027" cy="989687"/>
          </a:xfrm>
        </p:grpSpPr>
        <p:cxnSp>
          <p:nvCxnSpPr>
            <p:cNvPr id="277" name="직선 연결선 276">
              <a:extLst>
                <a:ext uri="{FF2B5EF4-FFF2-40B4-BE49-F238E27FC236}">
                  <a16:creationId xmlns:a16="http://schemas.microsoft.com/office/drawing/2014/main" id="{E9293055-D5CD-4B9E-7F64-64B2D2CA7A52}"/>
                </a:ext>
              </a:extLst>
            </p:cNvPr>
            <p:cNvCxnSpPr/>
            <p:nvPr/>
          </p:nvCxnSpPr>
          <p:spPr>
            <a:xfrm>
              <a:off x="675399" y="617848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5" name="그룹 104"/>
            <p:cNvGrpSpPr/>
            <p:nvPr/>
          </p:nvGrpSpPr>
          <p:grpSpPr>
            <a:xfrm>
              <a:off x="701175" y="5469919"/>
              <a:ext cx="2630093" cy="646331"/>
              <a:chOff x="701175" y="1835481"/>
              <a:chExt cx="2630093" cy="646331"/>
            </a:xfrm>
          </p:grpSpPr>
          <p:sp>
            <p:nvSpPr>
              <p:cNvPr id="106" name="직사각형 105"/>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a:extLst>
                  <a:ext uri="{FF2B5EF4-FFF2-40B4-BE49-F238E27FC236}">
                    <a16:creationId xmlns:a16="http://schemas.microsoft.com/office/drawing/2014/main" id="{FFC49AEA-2A8F-250C-A86A-A7751D9706C3}"/>
                  </a:ext>
                </a:extLst>
              </p:cNvPr>
              <p:cNvSpPr txBox="1"/>
              <p:nvPr/>
            </p:nvSpPr>
            <p:spPr>
              <a:xfrm>
                <a:off x="790331" y="1835481"/>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109" name="그룹 108"/>
              <p:cNvGrpSpPr/>
              <p:nvPr/>
            </p:nvGrpSpPr>
            <p:grpSpPr>
              <a:xfrm>
                <a:off x="701175" y="1835481"/>
                <a:ext cx="2630093" cy="644220"/>
                <a:chOff x="701175" y="1835481"/>
                <a:chExt cx="2630093" cy="644220"/>
              </a:xfrm>
            </p:grpSpPr>
            <p:cxnSp>
              <p:nvCxnSpPr>
                <p:cNvPr id="110" name="직선 연결선 10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15" name="TextBox 114">
              <a:extLst>
                <a:ext uri="{FF2B5EF4-FFF2-40B4-BE49-F238E27FC236}">
                  <a16:creationId xmlns:a16="http://schemas.microsoft.com/office/drawing/2014/main" id="{FFC49AEA-2A8F-250C-A86A-A7751D9706C3}"/>
                </a:ext>
              </a:extLst>
            </p:cNvPr>
            <p:cNvSpPr txBox="1"/>
            <p:nvPr/>
          </p:nvSpPr>
          <p:spPr>
            <a:xfrm>
              <a:off x="790330" y="5188802"/>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경영상태</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354685" y="5188802"/>
              <a:ext cx="971314"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30</a:t>
              </a:r>
              <a:r>
                <a:rPr lang="ko-KR" altLang="en-US" dirty="0"/>
                <a:t>점</a:t>
              </a:r>
            </a:p>
          </p:txBody>
        </p:sp>
      </p:grpSp>
      <p:sp>
        <p:nvSpPr>
          <p:cNvPr id="117" name="TextBox 116">
            <a:extLst>
              <a:ext uri="{FF2B5EF4-FFF2-40B4-BE49-F238E27FC236}">
                <a16:creationId xmlns:a16="http://schemas.microsoft.com/office/drawing/2014/main" id="{FFC49AEA-2A8F-250C-A86A-A7751D9706C3}"/>
              </a:ext>
            </a:extLst>
          </p:cNvPr>
          <p:cNvSpPr txBox="1"/>
          <p:nvPr/>
        </p:nvSpPr>
        <p:spPr>
          <a:xfrm>
            <a:off x="2354685" y="1491157"/>
            <a:ext cx="971314"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10</a:t>
            </a:r>
            <a:r>
              <a:rPr lang="ko-KR" altLang="en-US" dirty="0"/>
              <a:t>점</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3883823" y="2529426"/>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나</a:t>
            </a:r>
            <a:r>
              <a:rPr lang="en-US" altLang="ko-KR" sz="700" dirty="0">
                <a:latin typeface="+mn-ea"/>
              </a:rPr>
              <a:t>) </a:t>
            </a:r>
            <a:r>
              <a:rPr lang="ko-KR" altLang="en-US" sz="700" dirty="0">
                <a:latin typeface="+mn-ea"/>
              </a:rPr>
              <a:t>입찰가격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50</a:t>
            </a:r>
            <a:r>
              <a:rPr lang="ko-KR" altLang="en-US" sz="700" dirty="0">
                <a:latin typeface="+mn-ea"/>
              </a:rPr>
              <a:t>점</a:t>
            </a:r>
          </a:p>
        </p:txBody>
      </p:sp>
      <p:grpSp>
        <p:nvGrpSpPr>
          <p:cNvPr id="119" name="그룹 118"/>
          <p:cNvGrpSpPr/>
          <p:nvPr/>
        </p:nvGrpSpPr>
        <p:grpSpPr>
          <a:xfrm flipV="1">
            <a:off x="6245910" y="2642757"/>
            <a:ext cx="94010" cy="47005"/>
            <a:chOff x="6812560" y="3297172"/>
            <a:chExt cx="94010" cy="47005"/>
          </a:xfrm>
        </p:grpSpPr>
        <p:cxnSp>
          <p:nvCxnSpPr>
            <p:cNvPr id="120" name="직선 연결선 1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1" name="직선 연결선 12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2" name="직선 연결선 121">
            <a:extLst>
              <a:ext uri="{FF2B5EF4-FFF2-40B4-BE49-F238E27FC236}">
                <a16:creationId xmlns:a16="http://schemas.microsoft.com/office/drawing/2014/main" id="{E9293055-D5CD-4B9E-7F64-64B2D2CA7A52}"/>
              </a:ext>
            </a:extLst>
          </p:cNvPr>
          <p:cNvCxnSpPr/>
          <p:nvPr/>
        </p:nvCxnSpPr>
        <p:spPr>
          <a:xfrm>
            <a:off x="3797076" y="281623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직선 연결선 155">
            <a:extLst>
              <a:ext uri="{FF2B5EF4-FFF2-40B4-BE49-F238E27FC236}">
                <a16:creationId xmlns:a16="http://schemas.microsoft.com/office/drawing/2014/main" id="{E9293055-D5CD-4B9E-7F64-64B2D2CA7A52}"/>
              </a:ext>
            </a:extLst>
          </p:cNvPr>
          <p:cNvCxnSpPr/>
          <p:nvPr/>
        </p:nvCxnSpPr>
        <p:spPr>
          <a:xfrm>
            <a:off x="3797076" y="451274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57" name="그룹 156"/>
          <p:cNvGrpSpPr/>
          <p:nvPr/>
        </p:nvGrpSpPr>
        <p:grpSpPr>
          <a:xfrm>
            <a:off x="3838043" y="2880351"/>
            <a:ext cx="2630093" cy="1094598"/>
            <a:chOff x="701175" y="1835480"/>
            <a:chExt cx="2630093" cy="1094598"/>
          </a:xfrm>
        </p:grpSpPr>
        <p:sp>
          <p:nvSpPr>
            <p:cNvPr id="158" name="직사각형 157"/>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9" name="TextBox 158">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50 - | (88/100 – </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 100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161" name="그룹 160"/>
            <p:cNvGrpSpPr/>
            <p:nvPr/>
          </p:nvGrpSpPr>
          <p:grpSpPr>
            <a:xfrm>
              <a:off x="701175" y="1835481"/>
              <a:ext cx="2630093" cy="1094597"/>
              <a:chOff x="701175" y="1835481"/>
              <a:chExt cx="2630093" cy="1094597"/>
            </a:xfrm>
          </p:grpSpPr>
          <p:cxnSp>
            <p:nvCxnSpPr>
              <p:cNvPr id="162" name="직선 연결선 16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68" name="TextBox 167">
            <a:extLst>
              <a:ext uri="{FF2B5EF4-FFF2-40B4-BE49-F238E27FC236}">
                <a16:creationId xmlns:a16="http://schemas.microsoft.com/office/drawing/2014/main" id="{FFC49AEA-2A8F-250C-A86A-A7751D9706C3}"/>
              </a:ext>
            </a:extLst>
          </p:cNvPr>
          <p:cNvSpPr txBox="1"/>
          <p:nvPr/>
        </p:nvSpPr>
        <p:spPr>
          <a:xfrm>
            <a:off x="3925041" y="4091657"/>
            <a:ext cx="2456097" cy="323165"/>
          </a:xfrm>
          <a:prstGeom prst="rect">
            <a:avLst/>
          </a:prstGeom>
          <a:noFill/>
        </p:spPr>
        <p:txBody>
          <a:bodyPr wrap="square" lIns="0" tIns="0" rIns="0" bIns="0" rtlCol="0">
            <a:spAutoFit/>
          </a:bodyPr>
          <a:lstStyle/>
          <a:p>
            <a:pPr lvl="0" algn="ctr" defTabSz="1013612">
              <a:defRPr/>
            </a:pPr>
            <a:r>
              <a:rPr kumimoji="1" lang="ko-KR" altLang="en-US" sz="700" spc="-60" dirty="0">
                <a:solidFill>
                  <a:srgbClr val="000000">
                    <a:lumMod val="65000"/>
                    <a:lumOff val="35000"/>
                  </a:srgbClr>
                </a:solidFill>
                <a:latin typeface="Verdana" panose="020B0604030504040204" pitchFamily="34" charset="0"/>
              </a:rPr>
              <a:t>입찰가격이 예정가격 이하로서</a:t>
            </a:r>
            <a:endParaRPr kumimoji="1" lang="en-US" altLang="ko-KR" sz="700" spc="-60" dirty="0">
              <a:solidFill>
                <a:srgbClr val="000000">
                  <a:lumMod val="65000"/>
                  <a:lumOff val="35000"/>
                </a:srgbClr>
              </a:solidFill>
              <a:latin typeface="Verdana" panose="020B0604030504040204" pitchFamily="34" charset="0"/>
            </a:endParaRPr>
          </a:p>
          <a:p>
            <a:pPr lvl="0" algn="ctr" defTabSz="1013612">
              <a:defRPr/>
            </a:pPr>
            <a:r>
              <a:rPr kumimoji="1" lang="ko-KR" altLang="en-US" sz="700" spc="-60" dirty="0">
                <a:solidFill>
                  <a:srgbClr val="000000">
                    <a:lumMod val="65000"/>
                    <a:lumOff val="35000"/>
                  </a:srgbClr>
                </a:solidFill>
                <a:latin typeface="Verdana" panose="020B0604030504040204" pitchFamily="34" charset="0"/>
              </a:rPr>
              <a:t>예정가격의 </a:t>
            </a:r>
            <a:r>
              <a:rPr kumimoji="1" lang="en-US" altLang="ko-KR" sz="700" spc="-60" dirty="0">
                <a:solidFill>
                  <a:srgbClr val="000000">
                    <a:lumMod val="65000"/>
                    <a:lumOff val="35000"/>
                  </a:srgbClr>
                </a:solidFill>
                <a:latin typeface="Verdana" panose="020B0604030504040204" pitchFamily="34" charset="0"/>
              </a:rPr>
              <a:t>100</a:t>
            </a:r>
            <a:r>
              <a:rPr kumimoji="1" lang="ko-KR" altLang="en-US" sz="700" spc="-60" dirty="0">
                <a:solidFill>
                  <a:srgbClr val="000000">
                    <a:lumMod val="65000"/>
                    <a:lumOff val="35000"/>
                  </a:srgbClr>
                </a:solidFill>
                <a:latin typeface="Verdana" panose="020B0604030504040204" pitchFamily="34" charset="0"/>
              </a:rPr>
              <a:t>분의 </a:t>
            </a:r>
            <a:r>
              <a:rPr kumimoji="1" lang="en-US" altLang="ko-KR" sz="700" spc="-60" dirty="0">
                <a:solidFill>
                  <a:srgbClr val="000000">
                    <a:lumMod val="65000"/>
                    <a:lumOff val="35000"/>
                  </a:srgbClr>
                </a:solidFill>
                <a:latin typeface="Verdana" panose="020B0604030504040204" pitchFamily="34" charset="0"/>
              </a:rPr>
              <a:t>93</a:t>
            </a:r>
            <a:r>
              <a:rPr kumimoji="1" lang="ko-KR" altLang="en-US" sz="700" spc="-60" dirty="0">
                <a:solidFill>
                  <a:srgbClr val="000000">
                    <a:lumMod val="65000"/>
                    <a:lumOff val="35000"/>
                  </a:srgbClr>
                </a:solidFill>
                <a:latin typeface="Verdana" panose="020B0604030504040204" pitchFamily="34" charset="0"/>
              </a:rPr>
              <a:t>인 경우 평점은 </a:t>
            </a:r>
            <a:r>
              <a:rPr kumimoji="1" lang="en-US" altLang="ko-KR" sz="700" spc="-60" dirty="0">
                <a:solidFill>
                  <a:srgbClr val="000000">
                    <a:lumMod val="65000"/>
                    <a:lumOff val="35000"/>
                  </a:srgbClr>
                </a:solidFill>
                <a:latin typeface="Verdana" panose="020B0604030504040204" pitchFamily="34" charset="0"/>
              </a:rPr>
              <a:t>45</a:t>
            </a:r>
            <a:r>
              <a:rPr kumimoji="1" lang="ko-KR" altLang="en-US" sz="700" spc="-60" dirty="0">
                <a:solidFill>
                  <a:srgbClr val="000000">
                    <a:lumMod val="65000"/>
                    <a:lumOff val="35000"/>
                  </a:srgbClr>
                </a:solidFill>
                <a:latin typeface="Verdana" panose="020B0604030504040204" pitchFamily="34" charset="0"/>
              </a:rPr>
              <a:t>점</a:t>
            </a:r>
            <a:r>
              <a:rPr kumimoji="1" lang="en-US" altLang="ko-KR" sz="700" spc="-60" dirty="0">
                <a:solidFill>
                  <a:srgbClr val="000000">
                    <a:lumMod val="65000"/>
                    <a:lumOff val="35000"/>
                  </a:srgbClr>
                </a:solidFill>
                <a:latin typeface="Verdana" panose="020B0604030504040204" pitchFamily="34" charset="0"/>
              </a:rPr>
              <a:t/>
            </a:r>
            <a:br>
              <a:rPr kumimoji="1" lang="en-US" altLang="ko-KR" sz="700" spc="-60" dirty="0">
                <a:solidFill>
                  <a:srgbClr val="000000">
                    <a:lumMod val="65000"/>
                    <a:lumOff val="35000"/>
                  </a:srgbClr>
                </a:solidFill>
                <a:latin typeface="Verdana" panose="020B0604030504040204" pitchFamily="34" charset="0"/>
              </a:rPr>
            </a:br>
            <a:r>
              <a:rPr kumimoji="1" lang="ko-KR" altLang="en-US" sz="700" spc="-60" dirty="0" err="1">
                <a:solidFill>
                  <a:srgbClr val="000000">
                    <a:lumMod val="65000"/>
                    <a:lumOff val="35000"/>
                  </a:srgbClr>
                </a:solidFill>
                <a:latin typeface="Verdana" panose="020B0604030504040204" pitchFamily="34" charset="0"/>
              </a:rPr>
              <a:t>최저평점</a:t>
            </a:r>
            <a:r>
              <a:rPr kumimoji="1" lang="ko-KR" altLang="en-US" sz="700" spc="-60" dirty="0">
                <a:solidFill>
                  <a:srgbClr val="000000">
                    <a:lumMod val="65000"/>
                    <a:lumOff val="35000"/>
                  </a:srgbClr>
                </a:solidFill>
                <a:latin typeface="Verdana" panose="020B0604030504040204" pitchFamily="34" charset="0"/>
              </a:rPr>
              <a:t> </a:t>
            </a:r>
            <a:r>
              <a:rPr kumimoji="1" lang="en-US" altLang="ko-KR" sz="700" spc="-60" dirty="0">
                <a:solidFill>
                  <a:srgbClr val="000000">
                    <a:lumMod val="65000"/>
                    <a:lumOff val="35000"/>
                  </a:srgbClr>
                </a:solidFill>
                <a:latin typeface="Verdana" panose="020B0604030504040204" pitchFamily="34" charset="0"/>
              </a:rPr>
              <a:t>: 2</a:t>
            </a:r>
            <a:r>
              <a:rPr kumimoji="1" lang="ko-KR" altLang="en-US" sz="700" spc="-60" dirty="0">
                <a:solidFill>
                  <a:srgbClr val="000000">
                    <a:lumMod val="65000"/>
                    <a:lumOff val="35000"/>
                  </a:srgbClr>
                </a:solidFill>
                <a:latin typeface="Verdana" panose="020B0604030504040204" pitchFamily="34" charset="0"/>
              </a:rPr>
              <a:t>점</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3883823" y="4549314"/>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다</a:t>
            </a:r>
            <a:r>
              <a:rPr lang="en-US" altLang="ko-KR" sz="700" dirty="0">
                <a:latin typeface="+mn-ea"/>
              </a:rPr>
              <a:t>) </a:t>
            </a:r>
            <a:r>
              <a:rPr lang="ko-KR" altLang="en-US" sz="700" dirty="0">
                <a:latin typeface="+mn-ea"/>
              </a:rPr>
              <a:t>신인도 </a:t>
            </a:r>
            <a:r>
              <a:rPr lang="ko-KR" altLang="en-US" sz="700" dirty="0" err="1">
                <a:latin typeface="+mn-ea"/>
              </a:rPr>
              <a:t>산출내역</a:t>
            </a:r>
            <a:r>
              <a:rPr lang="ko-KR" altLang="en-US" sz="700" dirty="0">
                <a:latin typeface="+mn-ea"/>
              </a:rPr>
              <a:t>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-5</a:t>
            </a:r>
          </a:p>
        </p:txBody>
      </p:sp>
      <p:grpSp>
        <p:nvGrpSpPr>
          <p:cNvPr id="172" name="그룹 171"/>
          <p:cNvGrpSpPr/>
          <p:nvPr/>
        </p:nvGrpSpPr>
        <p:grpSpPr>
          <a:xfrm flipV="1">
            <a:off x="6245910" y="4662645"/>
            <a:ext cx="94010" cy="47005"/>
            <a:chOff x="6812560" y="3297172"/>
            <a:chExt cx="94010" cy="47005"/>
          </a:xfrm>
        </p:grpSpPr>
        <p:cxnSp>
          <p:nvCxnSpPr>
            <p:cNvPr id="176" name="직선 연결선 17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3" name="직선 연결선 18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91" name="직선 연결선 190">
            <a:extLst>
              <a:ext uri="{FF2B5EF4-FFF2-40B4-BE49-F238E27FC236}">
                <a16:creationId xmlns:a16="http://schemas.microsoft.com/office/drawing/2014/main" id="{E9293055-D5CD-4B9E-7F64-64B2D2CA7A52}"/>
              </a:ext>
            </a:extLst>
          </p:cNvPr>
          <p:cNvCxnSpPr/>
          <p:nvPr/>
        </p:nvCxnSpPr>
        <p:spPr>
          <a:xfrm>
            <a:off x="3797076" y="48361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2" name="TextBox 191">
            <a:extLst>
              <a:ext uri="{FF2B5EF4-FFF2-40B4-BE49-F238E27FC236}">
                <a16:creationId xmlns:a16="http://schemas.microsoft.com/office/drawing/2014/main" id="{FFC49AEA-2A8F-250C-A86A-A7751D9706C3}"/>
              </a:ext>
            </a:extLst>
          </p:cNvPr>
          <p:cNvSpPr txBox="1"/>
          <p:nvPr/>
        </p:nvSpPr>
        <p:spPr>
          <a:xfrm>
            <a:off x="3910665" y="4844897"/>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a:t>
            </a:r>
            <a:r>
              <a:rPr lang="ko-KR" altLang="en-US" dirty="0"/>
              <a:t>물품 </a:t>
            </a:r>
            <a:r>
              <a:rPr lang="ko-KR" altLang="en-US" dirty="0" err="1"/>
              <a:t>품질정도</a:t>
            </a:r>
            <a:endParaRPr lang="ko-KR" altLang="en-US" dirty="0"/>
          </a:p>
        </p:txBody>
      </p:sp>
      <p:sp>
        <p:nvSpPr>
          <p:cNvPr id="193" name="TextBox 192">
            <a:extLst>
              <a:ext uri="{FF2B5EF4-FFF2-40B4-BE49-F238E27FC236}">
                <a16:creationId xmlns:a16="http://schemas.microsoft.com/office/drawing/2014/main" id="{FFC49AEA-2A8F-250C-A86A-A7751D9706C3}"/>
              </a:ext>
            </a:extLst>
          </p:cNvPr>
          <p:cNvSpPr txBox="1"/>
          <p:nvPr/>
        </p:nvSpPr>
        <p:spPr>
          <a:xfrm>
            <a:off x="3910665" y="504513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4435522" y="5118422"/>
            <a:ext cx="2010812" cy="107722"/>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품질관리</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3910665" y="522891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435522" y="5302202"/>
            <a:ext cx="2010812" cy="107722"/>
          </a:xfrm>
          <a:prstGeom prst="rect">
            <a:avLst/>
          </a:prstGeom>
          <a:noFill/>
        </p:spPr>
        <p:txBody>
          <a:bodyPr wrap="square" lIns="0" tIns="0" rIns="0" bIns="0" rtlCol="0">
            <a:spAutoFit/>
          </a:bodyPr>
          <a:lstStyle/>
          <a:p>
            <a:r>
              <a:rPr lang="ko-KR" altLang="en-US" sz="700" dirty="0">
                <a:latin typeface="+mn-ea"/>
              </a:rPr>
              <a:t>품질보증</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6036814" y="530220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98" name="직사각형 197"/>
          <p:cNvSpPr/>
          <p:nvPr/>
        </p:nvSpPr>
        <p:spPr>
          <a:xfrm>
            <a:off x="3835134" y="5463280"/>
            <a:ext cx="1639886" cy="7690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3922197" y="546328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5650239" y="546328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2437" y="546327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3834530" y="56780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TextBox 203">
            <a:extLst>
              <a:ext uri="{FF2B5EF4-FFF2-40B4-BE49-F238E27FC236}">
                <a16:creationId xmlns:a16="http://schemas.microsoft.com/office/drawing/2014/main" id="{FFC49AEA-2A8F-250C-A86A-A7751D9706C3}"/>
              </a:ext>
            </a:extLst>
          </p:cNvPr>
          <p:cNvSpPr txBox="1"/>
          <p:nvPr/>
        </p:nvSpPr>
        <p:spPr>
          <a:xfrm>
            <a:off x="6070609" y="546328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3936047" y="572328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KS, CE, UL </a:t>
            </a:r>
            <a:r>
              <a:rPr lang="ko-KR" altLang="en-US" dirty="0"/>
              <a:t>및 </a:t>
            </a:r>
            <a:r>
              <a:rPr lang="en-US" altLang="ko-KR" dirty="0"/>
              <a:t>KS</a:t>
            </a:r>
            <a:r>
              <a:rPr lang="ko-KR" altLang="en-US" dirty="0"/>
              <a:t>에 상응하는 해당국의 국가산업표준규격인증</a:t>
            </a:r>
            <a:r>
              <a:rPr lang="en-US" altLang="ko-KR" dirty="0"/>
              <a:t>, </a:t>
            </a:r>
            <a:r>
              <a:rPr lang="ko-KR" altLang="en-US" dirty="0"/>
              <a:t>국방품질경영시스템  인증 및 </a:t>
            </a:r>
            <a:r>
              <a:rPr lang="ko-KR" altLang="en-US" dirty="0" err="1"/>
              <a:t>당해품목</a:t>
            </a:r>
            <a:r>
              <a:rPr lang="ko-KR" altLang="en-US" dirty="0"/>
              <a:t> </a:t>
            </a:r>
            <a:r>
              <a:rPr lang="en-US" altLang="ko-KR" dirty="0"/>
              <a:t>HACCP </a:t>
            </a:r>
            <a:r>
              <a:rPr lang="ko-KR" altLang="en-US" dirty="0"/>
              <a:t>인증 보유자</a:t>
            </a:r>
          </a:p>
        </p:txBody>
      </p:sp>
      <p:sp>
        <p:nvSpPr>
          <p:cNvPr id="206" name="TextBox 205">
            <a:extLst>
              <a:ext uri="{FF2B5EF4-FFF2-40B4-BE49-F238E27FC236}">
                <a16:creationId xmlns:a16="http://schemas.microsoft.com/office/drawing/2014/main" id="{FFC49AEA-2A8F-250C-A86A-A7751D9706C3}"/>
              </a:ext>
            </a:extLst>
          </p:cNvPr>
          <p:cNvSpPr txBox="1"/>
          <p:nvPr/>
        </p:nvSpPr>
        <p:spPr>
          <a:xfrm>
            <a:off x="5725002" y="593872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6406663" y="603784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31" name="직선 연결선 230">
            <a:extLst>
              <a:ext uri="{FF2B5EF4-FFF2-40B4-BE49-F238E27FC236}">
                <a16:creationId xmlns:a16="http://schemas.microsoft.com/office/drawing/2014/main" id="{E9293055-D5CD-4B9E-7F64-64B2D2CA7A52}"/>
              </a:ext>
            </a:extLst>
          </p:cNvPr>
          <p:cNvCxnSpPr/>
          <p:nvPr/>
        </p:nvCxnSpPr>
        <p:spPr>
          <a:xfrm>
            <a:off x="3839385" y="621844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3" name="TextBox 122">
            <a:extLst>
              <a:ext uri="{FF2B5EF4-FFF2-40B4-BE49-F238E27FC236}">
                <a16:creationId xmlns:a16="http://schemas.microsoft.com/office/drawing/2014/main" id="{FFC49AEA-2A8F-250C-A86A-A7751D9706C3}"/>
              </a:ext>
            </a:extLst>
          </p:cNvPr>
          <p:cNvSpPr txBox="1"/>
          <p:nvPr/>
        </p:nvSpPr>
        <p:spPr>
          <a:xfrm>
            <a:off x="790330" y="425921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1315187" y="4332507"/>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생산기술축적정도</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790330" y="444299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26" name="TextBox 125">
            <a:extLst>
              <a:ext uri="{FF2B5EF4-FFF2-40B4-BE49-F238E27FC236}">
                <a16:creationId xmlns:a16="http://schemas.microsoft.com/office/drawing/2014/main" id="{FFC49AEA-2A8F-250C-A86A-A7751D9706C3}"/>
              </a:ext>
            </a:extLst>
          </p:cNvPr>
          <p:cNvSpPr txBox="1"/>
          <p:nvPr/>
        </p:nvSpPr>
        <p:spPr>
          <a:xfrm>
            <a:off x="1315187" y="4516287"/>
            <a:ext cx="2010812" cy="107722"/>
          </a:xfrm>
          <a:prstGeom prst="rect">
            <a:avLst/>
          </a:prstGeom>
          <a:noFill/>
        </p:spPr>
        <p:txBody>
          <a:bodyPr wrap="square" lIns="0" tIns="0" rIns="0" bIns="0" rtlCol="0">
            <a:spAutoFit/>
          </a:bodyPr>
          <a:lstStyle/>
          <a:p>
            <a:r>
              <a:rPr lang="ko-KR" altLang="en-US" sz="700" dirty="0">
                <a:latin typeface="+mn-ea"/>
              </a:rPr>
              <a:t>공장등록연수평가</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2916479" y="451628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4.0</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801862" y="467736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2529904" y="467736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712102" y="467736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14195" y="48921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2" name="TextBox 131">
            <a:extLst>
              <a:ext uri="{FF2B5EF4-FFF2-40B4-BE49-F238E27FC236}">
                <a16:creationId xmlns:a16="http://schemas.microsoft.com/office/drawing/2014/main" id="{FFC49AEA-2A8F-250C-A86A-A7751D9706C3}"/>
              </a:ext>
            </a:extLst>
          </p:cNvPr>
          <p:cNvSpPr txBox="1"/>
          <p:nvPr/>
        </p:nvSpPr>
        <p:spPr>
          <a:xfrm>
            <a:off x="2950274" y="467736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815712" y="4928496"/>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기술사 또는 </a:t>
            </a:r>
            <a:r>
              <a:rPr lang="ko-KR" altLang="en-US" dirty="0" err="1"/>
              <a:t>기능장</a:t>
            </a:r>
            <a:r>
              <a:rPr lang="ko-KR" altLang="en-US" dirty="0"/>
              <a:t> 보유</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2604668" y="5109002"/>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4.0</a:t>
            </a:r>
            <a:br>
              <a:rPr lang="en-US" altLang="ko-KR" dirty="0"/>
            </a:br>
            <a:r>
              <a:rPr lang="en-US" altLang="ko-KR" dirty="0"/>
              <a:t>3.5</a:t>
            </a:r>
            <a:br>
              <a:rPr lang="en-US" altLang="ko-KR" dirty="0"/>
            </a:br>
            <a:r>
              <a:rPr lang="en-US" altLang="ko-KR" dirty="0"/>
              <a:t>3.0</a:t>
            </a:r>
            <a:br>
              <a:rPr lang="en-US" altLang="ko-KR" dirty="0"/>
            </a:br>
            <a:r>
              <a:rPr lang="en-US" altLang="ko-KR" dirty="0"/>
              <a:t>2.5</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815712" y="5109002"/>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A.5</a:t>
            </a:r>
            <a:r>
              <a:rPr lang="ko-KR" altLang="en-US" dirty="0"/>
              <a:t>년 이상</a:t>
            </a:r>
            <a:br>
              <a:rPr lang="ko-KR" altLang="en-US" dirty="0"/>
            </a:br>
            <a:r>
              <a:rPr lang="en-US" altLang="ko-KR" dirty="0"/>
              <a:t>B.3</a:t>
            </a:r>
            <a:r>
              <a:rPr lang="ko-KR" altLang="en-US" dirty="0" err="1"/>
              <a:t>년이상</a:t>
            </a:r>
            <a:r>
              <a:rPr lang="ko-KR" altLang="en-US" dirty="0"/>
              <a:t> </a:t>
            </a:r>
            <a:r>
              <a:rPr lang="en-US" altLang="ko-KR" dirty="0"/>
              <a:t>5</a:t>
            </a:r>
            <a:r>
              <a:rPr lang="ko-KR" altLang="en-US" dirty="0" err="1"/>
              <a:t>년미만</a:t>
            </a:r>
            <a:r>
              <a:rPr lang="ko-KR" altLang="en-US" dirty="0"/>
              <a:t/>
            </a:r>
            <a:br>
              <a:rPr lang="ko-KR" altLang="en-US" dirty="0"/>
            </a:br>
            <a:r>
              <a:rPr lang="en-US" altLang="ko-KR" dirty="0"/>
              <a:t>C.1</a:t>
            </a:r>
            <a:r>
              <a:rPr lang="ko-KR" altLang="en-US" dirty="0" err="1"/>
              <a:t>년이상</a:t>
            </a:r>
            <a:r>
              <a:rPr lang="ko-KR" altLang="en-US" dirty="0"/>
              <a:t> </a:t>
            </a:r>
            <a:r>
              <a:rPr lang="en-US" altLang="ko-KR" dirty="0"/>
              <a:t>3</a:t>
            </a:r>
            <a:r>
              <a:rPr lang="ko-KR" altLang="en-US" dirty="0" err="1"/>
              <a:t>년미만</a:t>
            </a:r>
            <a:r>
              <a:rPr lang="ko-KR" altLang="en-US" dirty="0"/>
              <a:t/>
            </a:r>
            <a:br>
              <a:rPr lang="ko-KR" altLang="en-US" dirty="0"/>
            </a:br>
            <a:r>
              <a:rPr lang="en-US" altLang="ko-KR" dirty="0"/>
              <a:t>D.1</a:t>
            </a:r>
            <a:r>
              <a:rPr lang="ko-KR" altLang="en-US" dirty="0" err="1"/>
              <a:t>년미만</a:t>
            </a:r>
            <a:endParaRPr lang="ko-KR" altLang="en-US" dirty="0"/>
          </a:p>
        </p:txBody>
      </p:sp>
      <p:cxnSp>
        <p:nvCxnSpPr>
          <p:cNvPr id="137" name="직선 연결선 136">
            <a:extLst>
              <a:ext uri="{FF2B5EF4-FFF2-40B4-BE49-F238E27FC236}">
                <a16:creationId xmlns:a16="http://schemas.microsoft.com/office/drawing/2014/main" id="{E9293055-D5CD-4B9E-7F64-64B2D2CA7A52}"/>
              </a:ext>
            </a:extLst>
          </p:cNvPr>
          <p:cNvCxnSpPr/>
          <p:nvPr/>
        </p:nvCxnSpPr>
        <p:spPr>
          <a:xfrm>
            <a:off x="719050" y="507261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714195" y="55881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0" name="TextBox 139">
            <a:extLst>
              <a:ext uri="{FF2B5EF4-FFF2-40B4-BE49-F238E27FC236}">
                <a16:creationId xmlns:a16="http://schemas.microsoft.com/office/drawing/2014/main" id="{FFC49AEA-2A8F-250C-A86A-A7751D9706C3}"/>
              </a:ext>
            </a:extLst>
          </p:cNvPr>
          <p:cNvSpPr txBox="1"/>
          <p:nvPr/>
        </p:nvSpPr>
        <p:spPr>
          <a:xfrm>
            <a:off x="3286328" y="51862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6" name="타원 13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70392703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191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36" name="직사각형 135"/>
          <p:cNvSpPr/>
          <p:nvPr/>
        </p:nvSpPr>
        <p:spPr>
          <a:xfrm>
            <a:off x="719063" y="1508077"/>
            <a:ext cx="1639886" cy="94882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4" name="직선 연결선 143">
            <a:extLst>
              <a:ext uri="{FF2B5EF4-FFF2-40B4-BE49-F238E27FC236}">
                <a16:creationId xmlns:a16="http://schemas.microsoft.com/office/drawing/2014/main" id="{E9293055-D5CD-4B9E-7F64-64B2D2CA7A52}"/>
              </a:ext>
            </a:extLst>
          </p:cNvPr>
          <p:cNvCxnSpPr/>
          <p:nvPr/>
        </p:nvCxnSpPr>
        <p:spPr>
          <a:xfrm>
            <a:off x="718459" y="2459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6" name="TextBox 145">
            <a:extLst>
              <a:ext uri="{FF2B5EF4-FFF2-40B4-BE49-F238E27FC236}">
                <a16:creationId xmlns:a16="http://schemas.microsoft.com/office/drawing/2014/main" id="{FFC49AEA-2A8F-250C-A86A-A7751D9706C3}"/>
              </a:ext>
            </a:extLst>
          </p:cNvPr>
          <p:cNvSpPr txBox="1"/>
          <p:nvPr/>
        </p:nvSpPr>
        <p:spPr>
          <a:xfrm>
            <a:off x="819976" y="157792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우수단체표준</a:t>
            </a:r>
            <a:r>
              <a:rPr lang="en-US" altLang="ko-KR" dirty="0"/>
              <a:t>, </a:t>
            </a:r>
            <a:r>
              <a:rPr lang="ko-KR" altLang="en-US" dirty="0"/>
              <a:t>한국공인제품인증</a:t>
            </a:r>
            <a:r>
              <a:rPr lang="en-US" altLang="ko-KR" dirty="0"/>
              <a:t>(KAS), </a:t>
            </a:r>
            <a:r>
              <a:rPr lang="ko-KR" altLang="en-US" dirty="0"/>
              <a:t>싱글</a:t>
            </a:r>
            <a:r>
              <a:rPr lang="en-US" altLang="ko-KR" dirty="0"/>
              <a:t>PPM, </a:t>
            </a:r>
            <a:r>
              <a:rPr lang="ko-KR" altLang="en-US" dirty="0" err="1"/>
              <a:t>자가품질</a:t>
            </a:r>
            <a:r>
              <a:rPr lang="ko-KR" altLang="en-US" dirty="0"/>
              <a:t> </a:t>
            </a:r>
            <a:r>
              <a:rPr lang="ko-KR" altLang="en-US" dirty="0" err="1"/>
              <a:t>보증물품</a:t>
            </a:r>
            <a:r>
              <a:rPr lang="ko-KR" altLang="en-US" dirty="0"/>
              <a:t> 지정</a:t>
            </a:r>
            <a:r>
              <a:rPr lang="en-US" altLang="ko-KR" dirty="0"/>
              <a:t>, </a:t>
            </a:r>
            <a:r>
              <a:rPr lang="ko-KR" altLang="en-US" dirty="0"/>
              <a:t>세계일류상품인증</a:t>
            </a:r>
            <a:r>
              <a:rPr lang="en-US" altLang="ko-KR" dirty="0"/>
              <a:t>, “</a:t>
            </a:r>
            <a:r>
              <a:rPr lang="ko-KR" altLang="en-US" dirty="0"/>
              <a:t>건”자 마크</a:t>
            </a:r>
            <a:r>
              <a:rPr lang="en-US" altLang="ko-KR" dirty="0"/>
              <a:t>·K</a:t>
            </a:r>
            <a:r>
              <a:rPr lang="ko-KR" altLang="en-US" dirty="0"/>
              <a:t>마크</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2608931" y="1739503"/>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0.7</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3290592" y="173950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49" name="직선 연결선 148">
            <a:extLst>
              <a:ext uri="{FF2B5EF4-FFF2-40B4-BE49-F238E27FC236}">
                <a16:creationId xmlns:a16="http://schemas.microsoft.com/office/drawing/2014/main" id="{E9293055-D5CD-4B9E-7F64-64B2D2CA7A52}"/>
              </a:ext>
            </a:extLst>
          </p:cNvPr>
          <p:cNvCxnSpPr/>
          <p:nvPr/>
        </p:nvCxnSpPr>
        <p:spPr>
          <a:xfrm>
            <a:off x="723314" y="207308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0" name="TextBox 149">
            <a:extLst>
              <a:ext uri="{FF2B5EF4-FFF2-40B4-BE49-F238E27FC236}">
                <a16:creationId xmlns:a16="http://schemas.microsoft.com/office/drawing/2014/main" id="{FFC49AEA-2A8F-250C-A86A-A7751D9706C3}"/>
              </a:ext>
            </a:extLst>
          </p:cNvPr>
          <p:cNvSpPr txBox="1"/>
          <p:nvPr/>
        </p:nvSpPr>
        <p:spPr>
          <a:xfrm>
            <a:off x="819976" y="2143530"/>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a:t>
            </a:r>
            <a:r>
              <a:rPr lang="ko-KR" altLang="en-US" dirty="0"/>
              <a:t>산업통상자원부장관이 선정한 “</a:t>
            </a:r>
            <a:r>
              <a:rPr lang="ko-KR" altLang="en-US" dirty="0" err="1"/>
              <a:t>세계일류상</a:t>
            </a:r>
            <a:r>
              <a:rPr lang="ko-KR" altLang="en-US" dirty="0"/>
              <a:t> </a:t>
            </a:r>
            <a:r>
              <a:rPr lang="ko-KR" altLang="en-US" dirty="0" err="1"/>
              <a:t>품생산기업</a:t>
            </a:r>
            <a:r>
              <a:rPr lang="ko-KR" altLang="en-US" dirty="0"/>
              <a:t>”</a:t>
            </a:r>
          </a:p>
        </p:txBody>
      </p:sp>
      <p:sp>
        <p:nvSpPr>
          <p:cNvPr id="151" name="TextBox 150">
            <a:extLst>
              <a:ext uri="{FF2B5EF4-FFF2-40B4-BE49-F238E27FC236}">
                <a16:creationId xmlns:a16="http://schemas.microsoft.com/office/drawing/2014/main" id="{FFC49AEA-2A8F-250C-A86A-A7751D9706C3}"/>
              </a:ext>
            </a:extLst>
          </p:cNvPr>
          <p:cNvSpPr txBox="1"/>
          <p:nvPr/>
        </p:nvSpPr>
        <p:spPr>
          <a:xfrm>
            <a:off x="2608931" y="2197391"/>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p>
        </p:txBody>
      </p:sp>
      <p:sp>
        <p:nvSpPr>
          <p:cNvPr id="152" name="TextBox 151">
            <a:extLst>
              <a:ext uri="{FF2B5EF4-FFF2-40B4-BE49-F238E27FC236}">
                <a16:creationId xmlns:a16="http://schemas.microsoft.com/office/drawing/2014/main" id="{FFC49AEA-2A8F-250C-A86A-A7751D9706C3}"/>
              </a:ext>
            </a:extLst>
          </p:cNvPr>
          <p:cNvSpPr txBox="1"/>
          <p:nvPr/>
        </p:nvSpPr>
        <p:spPr>
          <a:xfrm>
            <a:off x="794594" y="249515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53" name="TextBox 152">
            <a:extLst>
              <a:ext uri="{FF2B5EF4-FFF2-40B4-BE49-F238E27FC236}">
                <a16:creationId xmlns:a16="http://schemas.microsoft.com/office/drawing/2014/main" id="{FFC49AEA-2A8F-250C-A86A-A7751D9706C3}"/>
              </a:ext>
            </a:extLst>
          </p:cNvPr>
          <p:cNvSpPr txBox="1"/>
          <p:nvPr/>
        </p:nvSpPr>
        <p:spPr>
          <a:xfrm>
            <a:off x="1319451" y="2568442"/>
            <a:ext cx="2010812" cy="107722"/>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기술보유</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794594" y="267893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55" name="TextBox 154">
            <a:extLst>
              <a:ext uri="{FF2B5EF4-FFF2-40B4-BE49-F238E27FC236}">
                <a16:creationId xmlns:a16="http://schemas.microsoft.com/office/drawing/2014/main" id="{FFC49AEA-2A8F-250C-A86A-A7751D9706C3}"/>
              </a:ext>
            </a:extLst>
          </p:cNvPr>
          <p:cNvSpPr txBox="1"/>
          <p:nvPr/>
        </p:nvSpPr>
        <p:spPr>
          <a:xfrm>
            <a:off x="1319451" y="2752222"/>
            <a:ext cx="2010812" cy="107722"/>
          </a:xfrm>
          <a:prstGeom prst="rect">
            <a:avLst/>
          </a:prstGeom>
          <a:noFill/>
        </p:spPr>
        <p:txBody>
          <a:bodyPr wrap="square" lIns="0" tIns="0" rIns="0" bIns="0" rtlCol="0">
            <a:spAutoFit/>
          </a:bodyPr>
          <a:lstStyle/>
          <a:p>
            <a:r>
              <a:rPr lang="ko-KR" altLang="en-US" sz="700" dirty="0" err="1">
                <a:latin typeface="+mn-ea"/>
              </a:rPr>
              <a:t>기술인증</a:t>
            </a:r>
            <a:endParaRPr lang="ko-KR" altLang="en-US"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2920743" y="275222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71" name="직사각형 170"/>
          <p:cNvSpPr/>
          <p:nvPr/>
        </p:nvSpPr>
        <p:spPr>
          <a:xfrm>
            <a:off x="719063" y="2913300"/>
            <a:ext cx="1639886" cy="98167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3" name="TextBox 172">
            <a:extLst>
              <a:ext uri="{FF2B5EF4-FFF2-40B4-BE49-F238E27FC236}">
                <a16:creationId xmlns:a16="http://schemas.microsoft.com/office/drawing/2014/main" id="{FFC49AEA-2A8F-250C-A86A-A7751D9706C3}"/>
              </a:ext>
            </a:extLst>
          </p:cNvPr>
          <p:cNvSpPr txBox="1"/>
          <p:nvPr/>
        </p:nvSpPr>
        <p:spPr>
          <a:xfrm>
            <a:off x="806126" y="291330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4" name="TextBox 173">
            <a:extLst>
              <a:ext uri="{FF2B5EF4-FFF2-40B4-BE49-F238E27FC236}">
                <a16:creationId xmlns:a16="http://schemas.microsoft.com/office/drawing/2014/main" id="{FFC49AEA-2A8F-250C-A86A-A7751D9706C3}"/>
              </a:ext>
            </a:extLst>
          </p:cNvPr>
          <p:cNvSpPr txBox="1"/>
          <p:nvPr/>
        </p:nvSpPr>
        <p:spPr>
          <a:xfrm>
            <a:off x="2534168" y="291330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5" name="직선 연결선 174">
            <a:extLst>
              <a:ext uri="{FF2B5EF4-FFF2-40B4-BE49-F238E27FC236}">
                <a16:creationId xmlns:a16="http://schemas.microsoft.com/office/drawing/2014/main" id="{E9293055-D5CD-4B9E-7F64-64B2D2CA7A52}"/>
              </a:ext>
            </a:extLst>
          </p:cNvPr>
          <p:cNvCxnSpPr/>
          <p:nvPr/>
        </p:nvCxnSpPr>
        <p:spPr>
          <a:xfrm>
            <a:off x="716366" y="291329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18459" y="31280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8" name="TextBox 177">
            <a:extLst>
              <a:ext uri="{FF2B5EF4-FFF2-40B4-BE49-F238E27FC236}">
                <a16:creationId xmlns:a16="http://schemas.microsoft.com/office/drawing/2014/main" id="{FFC49AEA-2A8F-250C-A86A-A7751D9706C3}"/>
              </a:ext>
            </a:extLst>
          </p:cNvPr>
          <p:cNvSpPr txBox="1"/>
          <p:nvPr/>
        </p:nvSpPr>
        <p:spPr>
          <a:xfrm>
            <a:off x="2954538" y="291330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79" name="TextBox 178">
            <a:extLst>
              <a:ext uri="{FF2B5EF4-FFF2-40B4-BE49-F238E27FC236}">
                <a16:creationId xmlns:a16="http://schemas.microsoft.com/office/drawing/2014/main" id="{FFC49AEA-2A8F-250C-A86A-A7751D9706C3}"/>
              </a:ext>
            </a:extLst>
          </p:cNvPr>
          <p:cNvSpPr txBox="1"/>
          <p:nvPr/>
        </p:nvSpPr>
        <p:spPr>
          <a:xfrm>
            <a:off x="819976" y="318581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주무부 장관 등이 인증한 신기술 </a:t>
            </a:r>
            <a:r>
              <a:rPr lang="en-US" altLang="ko-KR" dirty="0"/>
              <a:t>(NET, NEP, </a:t>
            </a:r>
            <a:r>
              <a:rPr lang="ko-KR" altLang="en-US" dirty="0" err="1"/>
              <a:t>전력신기술</a:t>
            </a:r>
            <a:r>
              <a:rPr lang="en-US" altLang="ko-KR" dirty="0"/>
              <a:t>) </a:t>
            </a:r>
            <a:r>
              <a:rPr lang="ko-KR" altLang="en-US" dirty="0"/>
              <a:t>인증</a:t>
            </a:r>
            <a:r>
              <a:rPr lang="en-US" altLang="ko-KR" dirty="0"/>
              <a:t>, </a:t>
            </a:r>
            <a:r>
              <a:rPr lang="ko-KR" altLang="en-US" dirty="0"/>
              <a:t>중소기업기술개발제품 </a:t>
            </a:r>
            <a:r>
              <a:rPr lang="ko-KR" altLang="en-US" dirty="0" err="1"/>
              <a:t>성능인증</a:t>
            </a:r>
            <a:r>
              <a:rPr lang="ko-KR" altLang="en-US" dirty="0"/>
              <a:t> 보유자</a:t>
            </a:r>
          </a:p>
        </p:txBody>
      </p:sp>
      <p:sp>
        <p:nvSpPr>
          <p:cNvPr id="180" name="TextBox 179">
            <a:extLst>
              <a:ext uri="{FF2B5EF4-FFF2-40B4-BE49-F238E27FC236}">
                <a16:creationId xmlns:a16="http://schemas.microsoft.com/office/drawing/2014/main" id="{FFC49AEA-2A8F-250C-A86A-A7751D9706C3}"/>
              </a:ext>
            </a:extLst>
          </p:cNvPr>
          <p:cNvSpPr txBox="1"/>
          <p:nvPr/>
        </p:nvSpPr>
        <p:spPr>
          <a:xfrm>
            <a:off x="2608931" y="329353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cxnSp>
        <p:nvCxnSpPr>
          <p:cNvPr id="181" name="직선 연결선 180">
            <a:extLst>
              <a:ext uri="{FF2B5EF4-FFF2-40B4-BE49-F238E27FC236}">
                <a16:creationId xmlns:a16="http://schemas.microsoft.com/office/drawing/2014/main" id="{E9293055-D5CD-4B9E-7F64-64B2D2CA7A52}"/>
              </a:ext>
            </a:extLst>
          </p:cNvPr>
          <p:cNvCxnSpPr/>
          <p:nvPr/>
        </p:nvCxnSpPr>
        <p:spPr>
          <a:xfrm>
            <a:off x="723314" y="356675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2" name="TextBox 181">
            <a:extLst>
              <a:ext uri="{FF2B5EF4-FFF2-40B4-BE49-F238E27FC236}">
                <a16:creationId xmlns:a16="http://schemas.microsoft.com/office/drawing/2014/main" id="{FFC49AEA-2A8F-250C-A86A-A7751D9706C3}"/>
              </a:ext>
            </a:extLst>
          </p:cNvPr>
          <p:cNvSpPr txBox="1"/>
          <p:nvPr/>
        </p:nvSpPr>
        <p:spPr>
          <a:xfrm>
            <a:off x="819976" y="3624526"/>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특허</a:t>
            </a:r>
            <a:r>
              <a:rPr lang="en-US" altLang="ko-KR" dirty="0"/>
              <a:t>, GD</a:t>
            </a:r>
            <a:r>
              <a:rPr lang="ko-KR" altLang="en-US" dirty="0"/>
              <a:t>인증</a:t>
            </a:r>
            <a:r>
              <a:rPr lang="en-US" altLang="ko-KR" dirty="0"/>
              <a:t>, GS(</a:t>
            </a:r>
            <a:r>
              <a:rPr lang="ko-KR" altLang="en-US" dirty="0"/>
              <a:t>국산 우수 </a:t>
            </a:r>
            <a:r>
              <a:rPr lang="en-US" altLang="ko-KR" dirty="0"/>
              <a:t>S/W)</a:t>
            </a:r>
            <a:r>
              <a:rPr lang="ko-KR" altLang="en-US" dirty="0"/>
              <a:t>마크 보유자</a:t>
            </a:r>
          </a:p>
        </p:txBody>
      </p:sp>
      <p:sp>
        <p:nvSpPr>
          <p:cNvPr id="184" name="TextBox 183">
            <a:extLst>
              <a:ext uri="{FF2B5EF4-FFF2-40B4-BE49-F238E27FC236}">
                <a16:creationId xmlns:a16="http://schemas.microsoft.com/office/drawing/2014/main" id="{FFC49AEA-2A8F-250C-A86A-A7751D9706C3}"/>
              </a:ext>
            </a:extLst>
          </p:cNvPr>
          <p:cNvSpPr txBox="1"/>
          <p:nvPr/>
        </p:nvSpPr>
        <p:spPr>
          <a:xfrm>
            <a:off x="2608931" y="3678387"/>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185" name="직선 연결선 184">
            <a:extLst>
              <a:ext uri="{FF2B5EF4-FFF2-40B4-BE49-F238E27FC236}">
                <a16:creationId xmlns:a16="http://schemas.microsoft.com/office/drawing/2014/main" id="{E9293055-D5CD-4B9E-7F64-64B2D2CA7A52}"/>
              </a:ext>
            </a:extLst>
          </p:cNvPr>
          <p:cNvCxnSpPr/>
          <p:nvPr/>
        </p:nvCxnSpPr>
        <p:spPr>
          <a:xfrm>
            <a:off x="718459" y="38977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8" name="TextBox 187">
            <a:extLst>
              <a:ext uri="{FF2B5EF4-FFF2-40B4-BE49-F238E27FC236}">
                <a16:creationId xmlns:a16="http://schemas.microsoft.com/office/drawing/2014/main" id="{FFC49AEA-2A8F-250C-A86A-A7751D9706C3}"/>
              </a:ext>
            </a:extLst>
          </p:cNvPr>
          <p:cNvSpPr txBox="1"/>
          <p:nvPr/>
        </p:nvSpPr>
        <p:spPr>
          <a:xfrm>
            <a:off x="3290592" y="345903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9" name="TextBox 188">
            <a:extLst>
              <a:ext uri="{FF2B5EF4-FFF2-40B4-BE49-F238E27FC236}">
                <a16:creationId xmlns:a16="http://schemas.microsoft.com/office/drawing/2014/main" id="{FFC49AEA-2A8F-250C-A86A-A7751D9706C3}"/>
              </a:ext>
            </a:extLst>
          </p:cNvPr>
          <p:cNvSpPr txBox="1"/>
          <p:nvPr/>
        </p:nvSpPr>
        <p:spPr>
          <a:xfrm>
            <a:off x="794594" y="392870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1319451" y="4001989"/>
            <a:ext cx="2010812" cy="107722"/>
          </a:xfrm>
          <a:prstGeom prst="rect">
            <a:avLst/>
          </a:prstGeom>
          <a:noFill/>
        </p:spPr>
        <p:txBody>
          <a:bodyPr wrap="square" lIns="0" tIns="0" rIns="0" bIns="0" rtlCol="0">
            <a:spAutoFit/>
          </a:bodyPr>
          <a:lstStyle/>
          <a:p>
            <a:r>
              <a:rPr lang="en-US" altLang="ko-KR" sz="700" dirty="0">
                <a:latin typeface="+mn-ea"/>
              </a:rPr>
              <a:t>3. </a:t>
            </a:r>
            <a:r>
              <a:rPr lang="ko-KR" altLang="en-US" sz="700" dirty="0">
                <a:latin typeface="+mn-ea"/>
              </a:rPr>
              <a:t>환경관리</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794594" y="411248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1319451" y="4185769"/>
            <a:ext cx="2010812" cy="107722"/>
          </a:xfrm>
          <a:prstGeom prst="rect">
            <a:avLst/>
          </a:prstGeom>
          <a:noFill/>
        </p:spPr>
        <p:txBody>
          <a:bodyPr wrap="square" lIns="0" tIns="0" rIns="0" bIns="0" rtlCol="0">
            <a:spAutoFit/>
          </a:bodyPr>
          <a:lstStyle/>
          <a:p>
            <a:r>
              <a:rPr lang="ko-KR" altLang="en-US" sz="700" dirty="0">
                <a:latin typeface="+mn-ea"/>
              </a:rPr>
              <a:t>환경오염 억제와 자원절약 기여자</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2920743" y="4185769"/>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210" name="직사각형 209"/>
          <p:cNvSpPr/>
          <p:nvPr/>
        </p:nvSpPr>
        <p:spPr>
          <a:xfrm>
            <a:off x="719063" y="4346847"/>
            <a:ext cx="1639886" cy="111366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2" name="TextBox 211">
            <a:extLst>
              <a:ext uri="{FF2B5EF4-FFF2-40B4-BE49-F238E27FC236}">
                <a16:creationId xmlns:a16="http://schemas.microsoft.com/office/drawing/2014/main" id="{FFC49AEA-2A8F-250C-A86A-A7751D9706C3}"/>
              </a:ext>
            </a:extLst>
          </p:cNvPr>
          <p:cNvSpPr txBox="1"/>
          <p:nvPr/>
        </p:nvSpPr>
        <p:spPr>
          <a:xfrm>
            <a:off x="806126" y="434684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14" name="TextBox 213">
            <a:extLst>
              <a:ext uri="{FF2B5EF4-FFF2-40B4-BE49-F238E27FC236}">
                <a16:creationId xmlns:a16="http://schemas.microsoft.com/office/drawing/2014/main" id="{FFC49AEA-2A8F-250C-A86A-A7751D9706C3}"/>
              </a:ext>
            </a:extLst>
          </p:cNvPr>
          <p:cNvSpPr txBox="1"/>
          <p:nvPr/>
        </p:nvSpPr>
        <p:spPr>
          <a:xfrm>
            <a:off x="2534168" y="434684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15" name="직선 연결선 214">
            <a:extLst>
              <a:ext uri="{FF2B5EF4-FFF2-40B4-BE49-F238E27FC236}">
                <a16:creationId xmlns:a16="http://schemas.microsoft.com/office/drawing/2014/main" id="{E9293055-D5CD-4B9E-7F64-64B2D2CA7A52}"/>
              </a:ext>
            </a:extLst>
          </p:cNvPr>
          <p:cNvCxnSpPr/>
          <p:nvPr/>
        </p:nvCxnSpPr>
        <p:spPr>
          <a:xfrm>
            <a:off x="716366" y="43468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718459" y="45615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2954538" y="434684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819976" y="4622100"/>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환경표지</a:t>
            </a:r>
            <a:r>
              <a:rPr lang="en-US" altLang="ko-KR" dirty="0"/>
              <a:t>(GR</a:t>
            </a:r>
            <a:r>
              <a:rPr lang="ko-KR" altLang="en-US" dirty="0" err="1"/>
              <a:t>마크포함</a:t>
            </a:r>
            <a:r>
              <a:rPr lang="en-US" altLang="ko-KR" dirty="0"/>
              <a:t>) </a:t>
            </a:r>
            <a:r>
              <a:rPr lang="ko-KR" altLang="en-US" dirty="0"/>
              <a:t>인증을 받거나 환경친화기업 지정자</a:t>
            </a:r>
          </a:p>
        </p:txBody>
      </p:sp>
      <p:sp>
        <p:nvSpPr>
          <p:cNvPr id="219" name="TextBox 218">
            <a:extLst>
              <a:ext uri="{FF2B5EF4-FFF2-40B4-BE49-F238E27FC236}">
                <a16:creationId xmlns:a16="http://schemas.microsoft.com/office/drawing/2014/main" id="{FFC49AEA-2A8F-250C-A86A-A7751D9706C3}"/>
              </a:ext>
            </a:extLst>
          </p:cNvPr>
          <p:cNvSpPr txBox="1"/>
          <p:nvPr/>
        </p:nvSpPr>
        <p:spPr>
          <a:xfrm>
            <a:off x="2608931" y="4675961"/>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220" name="직선 연결선 219">
            <a:extLst>
              <a:ext uri="{FF2B5EF4-FFF2-40B4-BE49-F238E27FC236}">
                <a16:creationId xmlns:a16="http://schemas.microsoft.com/office/drawing/2014/main" id="{E9293055-D5CD-4B9E-7F64-64B2D2CA7A52}"/>
              </a:ext>
            </a:extLst>
          </p:cNvPr>
          <p:cNvCxnSpPr/>
          <p:nvPr/>
        </p:nvCxnSpPr>
        <p:spPr>
          <a:xfrm>
            <a:off x="723314" y="489805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1" name="TextBox 220">
            <a:extLst>
              <a:ext uri="{FF2B5EF4-FFF2-40B4-BE49-F238E27FC236}">
                <a16:creationId xmlns:a16="http://schemas.microsoft.com/office/drawing/2014/main" id="{FFC49AEA-2A8F-250C-A86A-A7751D9706C3}"/>
              </a:ext>
            </a:extLst>
          </p:cNvPr>
          <p:cNvSpPr txBox="1"/>
          <p:nvPr/>
        </p:nvSpPr>
        <p:spPr>
          <a:xfrm>
            <a:off x="819976" y="4958572"/>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a:t>
            </a:r>
            <a:r>
              <a:rPr lang="ko-KR" altLang="en-US" dirty="0"/>
              <a:t>녹색기술</a:t>
            </a:r>
            <a:r>
              <a:rPr lang="en-US" altLang="ko-KR" dirty="0"/>
              <a:t>(</a:t>
            </a:r>
            <a:r>
              <a:rPr lang="ko-KR" altLang="en-US" dirty="0"/>
              <a:t>녹색사업</a:t>
            </a:r>
            <a:r>
              <a:rPr lang="en-US" altLang="ko-KR" dirty="0"/>
              <a:t>) </a:t>
            </a:r>
            <a:r>
              <a:rPr lang="ko-KR" altLang="en-US" dirty="0"/>
              <a:t>인증 및  녹색전문기업 확인서 보유자</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2608931" y="5012433"/>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718459" y="5463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9" name="TextBox 228">
            <a:extLst>
              <a:ext uri="{FF2B5EF4-FFF2-40B4-BE49-F238E27FC236}">
                <a16:creationId xmlns:a16="http://schemas.microsoft.com/office/drawing/2014/main" id="{FFC49AEA-2A8F-250C-A86A-A7751D9706C3}"/>
              </a:ext>
            </a:extLst>
          </p:cNvPr>
          <p:cNvSpPr txBox="1"/>
          <p:nvPr/>
        </p:nvSpPr>
        <p:spPr>
          <a:xfrm>
            <a:off x="3290592" y="495857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32" name="TextBox 231">
            <a:extLst>
              <a:ext uri="{FF2B5EF4-FFF2-40B4-BE49-F238E27FC236}">
                <a16:creationId xmlns:a16="http://schemas.microsoft.com/office/drawing/2014/main" id="{FFC49AEA-2A8F-250C-A86A-A7751D9706C3}"/>
              </a:ext>
            </a:extLst>
          </p:cNvPr>
          <p:cNvSpPr txBox="1"/>
          <p:nvPr/>
        </p:nvSpPr>
        <p:spPr>
          <a:xfrm>
            <a:off x="819976" y="529504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고효율에너지기자재 </a:t>
            </a:r>
            <a:r>
              <a:rPr lang="ko-KR" altLang="en-US" dirty="0" err="1"/>
              <a:t>인증보유자</a:t>
            </a:r>
            <a:endParaRPr lang="ko-KR" altLang="en-US" dirty="0"/>
          </a:p>
        </p:txBody>
      </p:sp>
      <p:sp>
        <p:nvSpPr>
          <p:cNvPr id="233" name="TextBox 232">
            <a:extLst>
              <a:ext uri="{FF2B5EF4-FFF2-40B4-BE49-F238E27FC236}">
                <a16:creationId xmlns:a16="http://schemas.microsoft.com/office/drawing/2014/main" id="{FFC49AEA-2A8F-250C-A86A-A7751D9706C3}"/>
              </a:ext>
            </a:extLst>
          </p:cNvPr>
          <p:cNvSpPr txBox="1"/>
          <p:nvPr/>
        </p:nvSpPr>
        <p:spPr>
          <a:xfrm>
            <a:off x="2608931" y="529504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236" name="직선 연결선 235">
            <a:extLst>
              <a:ext uri="{FF2B5EF4-FFF2-40B4-BE49-F238E27FC236}">
                <a16:creationId xmlns:a16="http://schemas.microsoft.com/office/drawing/2014/main" id="{E9293055-D5CD-4B9E-7F64-64B2D2CA7A52}"/>
              </a:ext>
            </a:extLst>
          </p:cNvPr>
          <p:cNvCxnSpPr/>
          <p:nvPr/>
        </p:nvCxnSpPr>
        <p:spPr>
          <a:xfrm>
            <a:off x="723314" y="523453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7" name="TextBox 236">
            <a:extLst>
              <a:ext uri="{FF2B5EF4-FFF2-40B4-BE49-F238E27FC236}">
                <a16:creationId xmlns:a16="http://schemas.microsoft.com/office/drawing/2014/main" id="{FFC49AEA-2A8F-250C-A86A-A7751D9706C3}"/>
              </a:ext>
            </a:extLst>
          </p:cNvPr>
          <p:cNvSpPr txBox="1"/>
          <p:nvPr/>
        </p:nvSpPr>
        <p:spPr>
          <a:xfrm>
            <a:off x="3914929" y="1492521"/>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 </a:t>
            </a:r>
            <a:r>
              <a:rPr lang="ko-KR" altLang="en-US" dirty="0"/>
              <a:t>계약이행 성실도</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3914929" y="16927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4439786" y="1766046"/>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품질하자</a:t>
            </a:r>
            <a:endParaRPr lang="ko-KR" altLang="en-US" sz="700" dirty="0">
              <a:latin typeface="+mn-ea"/>
            </a:endParaRPr>
          </a:p>
        </p:txBody>
      </p:sp>
      <p:sp>
        <p:nvSpPr>
          <p:cNvPr id="240" name="TextBox 239">
            <a:extLst>
              <a:ext uri="{FF2B5EF4-FFF2-40B4-BE49-F238E27FC236}">
                <a16:creationId xmlns:a16="http://schemas.microsoft.com/office/drawing/2014/main" id="{FFC49AEA-2A8F-250C-A86A-A7751D9706C3}"/>
              </a:ext>
            </a:extLst>
          </p:cNvPr>
          <p:cNvSpPr txBox="1"/>
          <p:nvPr/>
        </p:nvSpPr>
        <p:spPr>
          <a:xfrm>
            <a:off x="3914929" y="18765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4439786" y="1949826"/>
            <a:ext cx="2010812" cy="107722"/>
          </a:xfrm>
          <a:prstGeom prst="rect">
            <a:avLst/>
          </a:prstGeom>
          <a:noFill/>
        </p:spPr>
        <p:txBody>
          <a:bodyPr wrap="square" lIns="0" tIns="0" rIns="0" bIns="0" rtlCol="0">
            <a:spAutoFit/>
          </a:bodyPr>
          <a:lstStyle/>
          <a:p>
            <a:r>
              <a:rPr lang="ko-KR" altLang="en-US" sz="700" dirty="0">
                <a:latin typeface="+mn-ea"/>
              </a:rPr>
              <a:t>하자발생 유</a:t>
            </a:r>
            <a:r>
              <a:rPr lang="en-US" altLang="ko-KR" sz="700" dirty="0">
                <a:latin typeface="+mn-ea"/>
              </a:rPr>
              <a:t>/</a:t>
            </a:r>
            <a:r>
              <a:rPr lang="ko-KR" altLang="en-US" sz="700" dirty="0">
                <a:latin typeface="+mn-ea"/>
              </a:rPr>
              <a:t>무</a:t>
            </a:r>
          </a:p>
        </p:txBody>
      </p:sp>
      <p:sp>
        <p:nvSpPr>
          <p:cNvPr id="242" name="TextBox 241">
            <a:extLst>
              <a:ext uri="{FF2B5EF4-FFF2-40B4-BE49-F238E27FC236}">
                <a16:creationId xmlns:a16="http://schemas.microsoft.com/office/drawing/2014/main" id="{FFC49AEA-2A8F-250C-A86A-A7751D9706C3}"/>
              </a:ext>
            </a:extLst>
          </p:cNvPr>
          <p:cNvSpPr txBox="1"/>
          <p:nvPr/>
        </p:nvSpPr>
        <p:spPr>
          <a:xfrm>
            <a:off x="6041078" y="19498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-2.0</a:t>
            </a:r>
          </a:p>
        </p:txBody>
      </p:sp>
      <p:sp>
        <p:nvSpPr>
          <p:cNvPr id="246" name="직사각형 245"/>
          <p:cNvSpPr/>
          <p:nvPr/>
        </p:nvSpPr>
        <p:spPr>
          <a:xfrm>
            <a:off x="3839398" y="2110904"/>
            <a:ext cx="1639886" cy="2347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7" name="TextBox 246">
            <a:extLst>
              <a:ext uri="{FF2B5EF4-FFF2-40B4-BE49-F238E27FC236}">
                <a16:creationId xmlns:a16="http://schemas.microsoft.com/office/drawing/2014/main" id="{FFC49AEA-2A8F-250C-A86A-A7751D9706C3}"/>
              </a:ext>
            </a:extLst>
          </p:cNvPr>
          <p:cNvSpPr txBox="1"/>
          <p:nvPr/>
        </p:nvSpPr>
        <p:spPr>
          <a:xfrm>
            <a:off x="3926461" y="211090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8" name="TextBox 247">
            <a:extLst>
              <a:ext uri="{FF2B5EF4-FFF2-40B4-BE49-F238E27FC236}">
                <a16:creationId xmlns:a16="http://schemas.microsoft.com/office/drawing/2014/main" id="{FFC49AEA-2A8F-250C-A86A-A7751D9706C3}"/>
              </a:ext>
            </a:extLst>
          </p:cNvPr>
          <p:cNvSpPr txBox="1"/>
          <p:nvPr/>
        </p:nvSpPr>
        <p:spPr>
          <a:xfrm>
            <a:off x="5654503" y="211090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49" name="직선 연결선 248">
            <a:extLst>
              <a:ext uri="{FF2B5EF4-FFF2-40B4-BE49-F238E27FC236}">
                <a16:creationId xmlns:a16="http://schemas.microsoft.com/office/drawing/2014/main" id="{E9293055-D5CD-4B9E-7F64-64B2D2CA7A52}"/>
              </a:ext>
            </a:extLst>
          </p:cNvPr>
          <p:cNvCxnSpPr/>
          <p:nvPr/>
        </p:nvCxnSpPr>
        <p:spPr>
          <a:xfrm>
            <a:off x="3836701" y="211090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0" name="직선 연결선 249">
            <a:extLst>
              <a:ext uri="{FF2B5EF4-FFF2-40B4-BE49-F238E27FC236}">
                <a16:creationId xmlns:a16="http://schemas.microsoft.com/office/drawing/2014/main" id="{E9293055-D5CD-4B9E-7F64-64B2D2CA7A52}"/>
              </a:ext>
            </a:extLst>
          </p:cNvPr>
          <p:cNvCxnSpPr/>
          <p:nvPr/>
        </p:nvCxnSpPr>
        <p:spPr>
          <a:xfrm>
            <a:off x="3838794" y="23256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3838794" y="44597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2" name="TextBox 251">
            <a:extLst>
              <a:ext uri="{FF2B5EF4-FFF2-40B4-BE49-F238E27FC236}">
                <a16:creationId xmlns:a16="http://schemas.microsoft.com/office/drawing/2014/main" id="{FFC49AEA-2A8F-250C-A86A-A7751D9706C3}"/>
              </a:ext>
            </a:extLst>
          </p:cNvPr>
          <p:cNvSpPr txBox="1"/>
          <p:nvPr/>
        </p:nvSpPr>
        <p:spPr>
          <a:xfrm>
            <a:off x="6074873" y="211090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53" name="TextBox 252">
            <a:extLst>
              <a:ext uri="{FF2B5EF4-FFF2-40B4-BE49-F238E27FC236}">
                <a16:creationId xmlns:a16="http://schemas.microsoft.com/office/drawing/2014/main" id="{FFC49AEA-2A8F-250C-A86A-A7751D9706C3}"/>
              </a:ext>
            </a:extLst>
          </p:cNvPr>
          <p:cNvSpPr txBox="1"/>
          <p:nvPr/>
        </p:nvSpPr>
        <p:spPr>
          <a:xfrm>
            <a:off x="3940311" y="2374421"/>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하자</a:t>
            </a:r>
            <a:r>
              <a:rPr lang="en-US" altLang="ko-KR" dirty="0"/>
              <a:t>, </a:t>
            </a:r>
            <a:r>
              <a:rPr lang="ko-KR" altLang="en-US" dirty="0"/>
              <a:t>발생사실이 있는 자로서 하자가 발생한 계약</a:t>
            </a:r>
            <a:r>
              <a:rPr lang="en-US" altLang="ko-KR" dirty="0"/>
              <a:t>(</a:t>
            </a:r>
            <a:r>
              <a:rPr lang="ko-KR" altLang="en-US" dirty="0" err="1"/>
              <a:t>단기계약시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하자금액</a:t>
            </a:r>
            <a:r>
              <a:rPr lang="ko-KR" altLang="en-US" dirty="0"/>
              <a:t> 비율에 따라</a:t>
            </a:r>
            <a:br>
              <a:rPr lang="ko-KR" altLang="en-US" dirty="0"/>
            </a:br>
            <a:r>
              <a:rPr lang="ko-KR" altLang="en-US" dirty="0"/>
              <a:t>① </a:t>
            </a:r>
            <a:r>
              <a:rPr lang="en-US" altLang="ko-KR" dirty="0"/>
              <a:t>5%</a:t>
            </a:r>
            <a:r>
              <a:rPr lang="ko-KR" altLang="en-US" dirty="0"/>
              <a:t>이상</a:t>
            </a:r>
            <a:br>
              <a:rPr lang="ko-KR" altLang="en-US" dirty="0"/>
            </a:br>
            <a:r>
              <a:rPr lang="ko-KR" altLang="en-US" dirty="0"/>
              <a:t>② </a:t>
            </a:r>
            <a:r>
              <a:rPr lang="en-US" altLang="ko-KR" dirty="0"/>
              <a:t>3%</a:t>
            </a:r>
            <a:r>
              <a:rPr lang="ko-KR" altLang="en-US" dirty="0"/>
              <a:t>이상 ∼ </a:t>
            </a:r>
            <a:r>
              <a:rPr lang="en-US" altLang="ko-KR" dirty="0"/>
              <a:t>5%</a:t>
            </a:r>
            <a:r>
              <a:rPr lang="ko-KR" altLang="en-US" dirty="0"/>
              <a:t>미만</a:t>
            </a:r>
            <a:br>
              <a:rPr lang="ko-KR" altLang="en-US" dirty="0"/>
            </a:br>
            <a:r>
              <a:rPr lang="ko-KR" altLang="en-US" dirty="0"/>
              <a:t>③ </a:t>
            </a:r>
            <a:r>
              <a:rPr lang="en-US" altLang="ko-KR" dirty="0"/>
              <a:t>1%</a:t>
            </a:r>
            <a:r>
              <a:rPr lang="ko-KR" altLang="en-US" dirty="0"/>
              <a:t>이상 ∼ </a:t>
            </a:r>
            <a:r>
              <a:rPr lang="en-US" altLang="ko-KR" dirty="0"/>
              <a:t>3% </a:t>
            </a:r>
            <a:r>
              <a:rPr lang="ko-KR" altLang="en-US" dirty="0"/>
              <a:t>미만</a:t>
            </a:r>
            <a:br>
              <a:rPr lang="ko-KR" altLang="en-US" dirty="0"/>
            </a:br>
            <a:r>
              <a:rPr lang="ko-KR" altLang="en-US" dirty="0"/>
              <a:t>④ </a:t>
            </a:r>
            <a:r>
              <a:rPr lang="en-US" altLang="ko-KR" dirty="0"/>
              <a:t>0.1%</a:t>
            </a:r>
            <a:r>
              <a:rPr lang="ko-KR" altLang="en-US" dirty="0"/>
              <a:t>이상 ∼ </a:t>
            </a:r>
            <a:r>
              <a:rPr lang="en-US" altLang="ko-KR" dirty="0"/>
              <a:t>1% </a:t>
            </a:r>
            <a:r>
              <a:rPr lang="ko-KR" altLang="en-US" dirty="0"/>
              <a:t>미만</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5692397" y="2913030"/>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
        <p:nvSpPr>
          <p:cNvPr id="255" name="TextBox 254">
            <a:extLst>
              <a:ext uri="{FF2B5EF4-FFF2-40B4-BE49-F238E27FC236}">
                <a16:creationId xmlns:a16="http://schemas.microsoft.com/office/drawing/2014/main" id="{FFC49AEA-2A8F-250C-A86A-A7751D9706C3}"/>
              </a:ext>
            </a:extLst>
          </p:cNvPr>
          <p:cNvSpPr txBox="1"/>
          <p:nvPr/>
        </p:nvSpPr>
        <p:spPr>
          <a:xfrm>
            <a:off x="6410927" y="333883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6" name="TextBox 255">
            <a:extLst>
              <a:ext uri="{FF2B5EF4-FFF2-40B4-BE49-F238E27FC236}">
                <a16:creationId xmlns:a16="http://schemas.microsoft.com/office/drawing/2014/main" id="{FFC49AEA-2A8F-250C-A86A-A7751D9706C3}"/>
              </a:ext>
            </a:extLst>
          </p:cNvPr>
          <p:cNvSpPr txBox="1"/>
          <p:nvPr/>
        </p:nvSpPr>
        <p:spPr>
          <a:xfrm>
            <a:off x="3940311" y="3441473"/>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최근 </a:t>
            </a:r>
            <a:r>
              <a:rPr lang="en-US" altLang="ko-KR" dirty="0"/>
              <a:t>1</a:t>
            </a:r>
            <a:r>
              <a:rPr lang="ko-KR" altLang="en-US" dirty="0"/>
              <a:t>년 이내 국방관서와의 계약이행과정에서 감액 사실이 있는 자로서 감액이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감액비율에</a:t>
            </a:r>
            <a:r>
              <a:rPr lang="ko-KR" altLang="en-US" dirty="0"/>
              <a:t> 따라</a:t>
            </a:r>
            <a:br>
              <a:rPr lang="ko-KR" altLang="en-US" dirty="0"/>
            </a:br>
            <a:r>
              <a:rPr lang="ko-KR" altLang="en-US" dirty="0"/>
              <a:t>① </a:t>
            </a:r>
            <a:r>
              <a:rPr lang="en-US" altLang="ko-KR" dirty="0"/>
              <a:t>20%</a:t>
            </a:r>
            <a:r>
              <a:rPr lang="ko-KR" altLang="en-US" dirty="0"/>
              <a:t>이상</a:t>
            </a:r>
            <a:br>
              <a:rPr lang="ko-KR" altLang="en-US" dirty="0"/>
            </a:br>
            <a:r>
              <a:rPr lang="ko-KR" altLang="en-US" dirty="0"/>
              <a:t>② </a:t>
            </a:r>
            <a:r>
              <a:rPr lang="en-US" altLang="ko-KR" dirty="0"/>
              <a:t>10%</a:t>
            </a:r>
            <a:r>
              <a:rPr lang="ko-KR" altLang="en-US" dirty="0"/>
              <a:t>이상 ∼ </a:t>
            </a:r>
            <a:r>
              <a:rPr lang="en-US" altLang="ko-KR" dirty="0"/>
              <a:t>20%</a:t>
            </a:r>
            <a:r>
              <a:rPr lang="ko-KR" altLang="en-US" dirty="0"/>
              <a:t>미만</a:t>
            </a:r>
            <a:br>
              <a:rPr lang="ko-KR" altLang="en-US" dirty="0"/>
            </a:br>
            <a:r>
              <a:rPr lang="ko-KR" altLang="en-US" dirty="0"/>
              <a:t>③ </a:t>
            </a:r>
            <a:r>
              <a:rPr lang="en-US" altLang="ko-KR" dirty="0"/>
              <a:t>1%</a:t>
            </a:r>
            <a:r>
              <a:rPr lang="ko-KR" altLang="en-US" dirty="0"/>
              <a:t>이상 ∼ </a:t>
            </a:r>
            <a:r>
              <a:rPr lang="en-US" altLang="ko-KR" dirty="0"/>
              <a:t>10%</a:t>
            </a:r>
            <a:r>
              <a:rPr lang="ko-KR" altLang="en-US" dirty="0"/>
              <a:t>미만</a:t>
            </a:r>
            <a:br>
              <a:rPr lang="ko-KR" altLang="en-US" dirty="0"/>
            </a:br>
            <a:r>
              <a:rPr lang="ko-KR" altLang="en-US" dirty="0"/>
              <a:t>④ </a:t>
            </a:r>
            <a:r>
              <a:rPr lang="en-US" altLang="ko-KR" dirty="0"/>
              <a:t>0.1%</a:t>
            </a:r>
            <a:r>
              <a:rPr lang="ko-KR" altLang="en-US" dirty="0"/>
              <a:t>이상 ∼ </a:t>
            </a:r>
            <a:r>
              <a:rPr lang="en-US" altLang="ko-KR" dirty="0"/>
              <a:t>1%</a:t>
            </a:r>
            <a:r>
              <a:rPr lang="ko-KR" altLang="en-US" dirty="0"/>
              <a:t>미만</a:t>
            </a:r>
          </a:p>
        </p:txBody>
      </p:sp>
      <p:cxnSp>
        <p:nvCxnSpPr>
          <p:cNvPr id="257" name="직선 연결선 256">
            <a:extLst>
              <a:ext uri="{FF2B5EF4-FFF2-40B4-BE49-F238E27FC236}">
                <a16:creationId xmlns:a16="http://schemas.microsoft.com/office/drawing/2014/main" id="{E9293055-D5CD-4B9E-7F64-64B2D2CA7A52}"/>
              </a:ext>
            </a:extLst>
          </p:cNvPr>
          <p:cNvCxnSpPr/>
          <p:nvPr/>
        </p:nvCxnSpPr>
        <p:spPr>
          <a:xfrm>
            <a:off x="3843649" y="339269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8" name="TextBox 257">
            <a:extLst>
              <a:ext uri="{FF2B5EF4-FFF2-40B4-BE49-F238E27FC236}">
                <a16:creationId xmlns:a16="http://schemas.microsoft.com/office/drawing/2014/main" id="{FFC49AEA-2A8F-250C-A86A-A7751D9706C3}"/>
              </a:ext>
            </a:extLst>
          </p:cNvPr>
          <p:cNvSpPr txBox="1"/>
          <p:nvPr/>
        </p:nvSpPr>
        <p:spPr>
          <a:xfrm>
            <a:off x="5692397" y="3980082"/>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cxnSp>
        <p:nvCxnSpPr>
          <p:cNvPr id="259" name="직선 연결선 258">
            <a:extLst>
              <a:ext uri="{FF2B5EF4-FFF2-40B4-BE49-F238E27FC236}">
                <a16:creationId xmlns:a16="http://schemas.microsoft.com/office/drawing/2014/main" id="{E9293055-D5CD-4B9E-7F64-64B2D2CA7A52}"/>
              </a:ext>
            </a:extLst>
          </p:cNvPr>
          <p:cNvCxnSpPr/>
          <p:nvPr/>
        </p:nvCxnSpPr>
        <p:spPr>
          <a:xfrm>
            <a:off x="675399" y="552829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0" name="TextBox 259">
            <a:extLst>
              <a:ext uri="{FF2B5EF4-FFF2-40B4-BE49-F238E27FC236}">
                <a16:creationId xmlns:a16="http://schemas.microsoft.com/office/drawing/2014/main" id="{FFC49AEA-2A8F-250C-A86A-A7751D9706C3}"/>
              </a:ext>
            </a:extLst>
          </p:cNvPr>
          <p:cNvSpPr txBox="1"/>
          <p:nvPr/>
        </p:nvSpPr>
        <p:spPr>
          <a:xfrm>
            <a:off x="3914929" y="450147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4439786" y="4574764"/>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262" name="TextBox 261">
            <a:extLst>
              <a:ext uri="{FF2B5EF4-FFF2-40B4-BE49-F238E27FC236}">
                <a16:creationId xmlns:a16="http://schemas.microsoft.com/office/drawing/2014/main" id="{FFC49AEA-2A8F-250C-A86A-A7751D9706C3}"/>
              </a:ext>
            </a:extLst>
          </p:cNvPr>
          <p:cNvSpPr txBox="1"/>
          <p:nvPr/>
        </p:nvSpPr>
        <p:spPr>
          <a:xfrm>
            <a:off x="3914929" y="468525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4439786" y="4758544"/>
            <a:ext cx="2010812" cy="107722"/>
          </a:xfrm>
          <a:prstGeom prst="rect">
            <a:avLst/>
          </a:prstGeom>
          <a:noFill/>
        </p:spPr>
        <p:txBody>
          <a:bodyPr wrap="square" lIns="0" tIns="0" rIns="0" bIns="0" rtlCol="0">
            <a:spAutoFit/>
          </a:bodyPr>
          <a:lstStyle/>
          <a:p>
            <a:r>
              <a:rPr lang="ko-KR" altLang="en-US" sz="700" dirty="0">
                <a:latin typeface="+mn-ea"/>
              </a:rPr>
              <a:t>지체상금</a:t>
            </a:r>
          </a:p>
        </p:txBody>
      </p:sp>
      <p:sp>
        <p:nvSpPr>
          <p:cNvPr id="264" name="TextBox 263">
            <a:extLst>
              <a:ext uri="{FF2B5EF4-FFF2-40B4-BE49-F238E27FC236}">
                <a16:creationId xmlns:a16="http://schemas.microsoft.com/office/drawing/2014/main" id="{FFC49AEA-2A8F-250C-A86A-A7751D9706C3}"/>
              </a:ext>
            </a:extLst>
          </p:cNvPr>
          <p:cNvSpPr txBox="1"/>
          <p:nvPr/>
        </p:nvSpPr>
        <p:spPr>
          <a:xfrm>
            <a:off x="6041078" y="4758544"/>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65" name="직사각형 264"/>
          <p:cNvSpPr/>
          <p:nvPr/>
        </p:nvSpPr>
        <p:spPr>
          <a:xfrm>
            <a:off x="3839398" y="4919622"/>
            <a:ext cx="1639886" cy="13713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6" name="TextBox 265">
            <a:extLst>
              <a:ext uri="{FF2B5EF4-FFF2-40B4-BE49-F238E27FC236}">
                <a16:creationId xmlns:a16="http://schemas.microsoft.com/office/drawing/2014/main" id="{FFC49AEA-2A8F-250C-A86A-A7751D9706C3}"/>
              </a:ext>
            </a:extLst>
          </p:cNvPr>
          <p:cNvSpPr txBox="1"/>
          <p:nvPr/>
        </p:nvSpPr>
        <p:spPr>
          <a:xfrm>
            <a:off x="3926461" y="49196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68" name="TextBox 267">
            <a:extLst>
              <a:ext uri="{FF2B5EF4-FFF2-40B4-BE49-F238E27FC236}">
                <a16:creationId xmlns:a16="http://schemas.microsoft.com/office/drawing/2014/main" id="{FFC49AEA-2A8F-250C-A86A-A7751D9706C3}"/>
              </a:ext>
            </a:extLst>
          </p:cNvPr>
          <p:cNvSpPr txBox="1"/>
          <p:nvPr/>
        </p:nvSpPr>
        <p:spPr>
          <a:xfrm>
            <a:off x="5654503" y="49196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9" name="직선 연결선 268">
            <a:extLst>
              <a:ext uri="{FF2B5EF4-FFF2-40B4-BE49-F238E27FC236}">
                <a16:creationId xmlns:a16="http://schemas.microsoft.com/office/drawing/2014/main" id="{E9293055-D5CD-4B9E-7F64-64B2D2CA7A52}"/>
              </a:ext>
            </a:extLst>
          </p:cNvPr>
          <p:cNvCxnSpPr/>
          <p:nvPr/>
        </p:nvCxnSpPr>
        <p:spPr>
          <a:xfrm>
            <a:off x="3836701" y="49196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38794" y="51343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1" name="직선 연결선 270">
            <a:extLst>
              <a:ext uri="{FF2B5EF4-FFF2-40B4-BE49-F238E27FC236}">
                <a16:creationId xmlns:a16="http://schemas.microsoft.com/office/drawing/2014/main" id="{E9293055-D5CD-4B9E-7F64-64B2D2CA7A52}"/>
              </a:ext>
            </a:extLst>
          </p:cNvPr>
          <p:cNvCxnSpPr/>
          <p:nvPr/>
        </p:nvCxnSpPr>
        <p:spPr>
          <a:xfrm>
            <a:off x="3838794" y="62923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2" name="TextBox 271">
            <a:extLst>
              <a:ext uri="{FF2B5EF4-FFF2-40B4-BE49-F238E27FC236}">
                <a16:creationId xmlns:a16="http://schemas.microsoft.com/office/drawing/2014/main" id="{FFC49AEA-2A8F-250C-A86A-A7751D9706C3}"/>
              </a:ext>
            </a:extLst>
          </p:cNvPr>
          <p:cNvSpPr txBox="1"/>
          <p:nvPr/>
        </p:nvSpPr>
        <p:spPr>
          <a:xfrm>
            <a:off x="6074873" y="49196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3" name="TextBox 272">
            <a:extLst>
              <a:ext uri="{FF2B5EF4-FFF2-40B4-BE49-F238E27FC236}">
                <a16:creationId xmlns:a16="http://schemas.microsoft.com/office/drawing/2014/main" id="{FFC49AEA-2A8F-250C-A86A-A7751D9706C3}"/>
              </a:ext>
            </a:extLst>
          </p:cNvPr>
          <p:cNvSpPr txBox="1"/>
          <p:nvPr/>
        </p:nvSpPr>
        <p:spPr>
          <a:xfrm>
            <a:off x="3940311" y="5183139"/>
            <a:ext cx="1480199" cy="1077218"/>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지체상금 부과대상자로서 </a:t>
            </a:r>
            <a:r>
              <a:rPr lang="ko-KR" altLang="en-US" dirty="0" err="1"/>
              <a:t>지체상금이</a:t>
            </a:r>
            <a:r>
              <a:rPr lang="ko-KR" altLang="en-US" dirty="0"/>
              <a:t> 발생한 계약 </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지체상금 </a:t>
            </a:r>
            <a:r>
              <a:rPr lang="ko-KR" altLang="en-US" dirty="0" err="1"/>
              <a:t>부과율에</a:t>
            </a:r>
            <a:r>
              <a:rPr lang="ko-KR" altLang="en-US" dirty="0"/>
              <a:t> 따라</a:t>
            </a:r>
            <a:br>
              <a:rPr lang="ko-KR" altLang="en-US" dirty="0"/>
            </a:br>
            <a:r>
              <a:rPr lang="en-US" altLang="ko-KR" dirty="0"/>
              <a:t>- 7%</a:t>
            </a:r>
            <a:r>
              <a:rPr lang="ko-KR" altLang="en-US" dirty="0"/>
              <a:t>이상</a:t>
            </a:r>
            <a:br>
              <a:rPr lang="ko-KR" altLang="en-US" dirty="0"/>
            </a:br>
            <a:r>
              <a:rPr lang="en-US" altLang="ko-KR" dirty="0"/>
              <a:t>- 5%</a:t>
            </a:r>
            <a:r>
              <a:rPr lang="ko-KR" altLang="en-US" dirty="0"/>
              <a:t>이상 ∼ </a:t>
            </a:r>
            <a:r>
              <a:rPr lang="en-US" altLang="ko-KR" dirty="0"/>
              <a:t>7%</a:t>
            </a:r>
            <a:r>
              <a:rPr lang="ko-KR" altLang="en-US" dirty="0"/>
              <a:t>미만</a:t>
            </a:r>
            <a:br>
              <a:rPr lang="ko-KR" altLang="en-US" dirty="0"/>
            </a:br>
            <a:r>
              <a:rPr lang="en-US" altLang="ko-KR" dirty="0"/>
              <a:t>- 3%</a:t>
            </a:r>
            <a:r>
              <a:rPr lang="ko-KR" altLang="en-US" dirty="0"/>
              <a:t>이상 ∼ </a:t>
            </a:r>
            <a:r>
              <a:rPr lang="en-US" altLang="ko-KR" dirty="0"/>
              <a:t>5%</a:t>
            </a:r>
            <a:r>
              <a:rPr lang="ko-KR" altLang="en-US" dirty="0"/>
              <a:t>미만</a:t>
            </a:r>
            <a:br>
              <a:rPr lang="ko-KR" altLang="en-US" dirty="0"/>
            </a:br>
            <a:r>
              <a:rPr lang="en-US" altLang="ko-KR" dirty="0"/>
              <a:t>- 1%</a:t>
            </a:r>
            <a:r>
              <a:rPr lang="ko-KR" altLang="en-US" dirty="0"/>
              <a:t>이상 ∼ </a:t>
            </a:r>
            <a:r>
              <a:rPr lang="en-US" altLang="ko-KR" dirty="0"/>
              <a:t>3%</a:t>
            </a:r>
            <a:r>
              <a:rPr lang="ko-KR" altLang="en-US" dirty="0"/>
              <a:t>미만</a:t>
            </a:r>
            <a:br>
              <a:rPr lang="ko-KR" altLang="en-US" dirty="0"/>
            </a:br>
            <a:r>
              <a:rPr lang="en-US" altLang="ko-KR" dirty="0"/>
              <a:t>- 0.1%</a:t>
            </a:r>
            <a:r>
              <a:rPr lang="ko-KR" altLang="en-US" dirty="0"/>
              <a:t>이상 ∼ </a:t>
            </a:r>
            <a:r>
              <a:rPr lang="en-US" altLang="ko-KR" dirty="0"/>
              <a:t>1%</a:t>
            </a:r>
            <a:r>
              <a:rPr lang="ko-KR" altLang="en-US" dirty="0"/>
              <a:t>미만</a:t>
            </a:r>
          </a:p>
        </p:txBody>
      </p:sp>
      <p:sp>
        <p:nvSpPr>
          <p:cNvPr id="281" name="TextBox 280">
            <a:extLst>
              <a:ext uri="{FF2B5EF4-FFF2-40B4-BE49-F238E27FC236}">
                <a16:creationId xmlns:a16="http://schemas.microsoft.com/office/drawing/2014/main" id="{FFC49AEA-2A8F-250C-A86A-A7751D9706C3}"/>
              </a:ext>
            </a:extLst>
          </p:cNvPr>
          <p:cNvSpPr txBox="1"/>
          <p:nvPr/>
        </p:nvSpPr>
        <p:spPr>
          <a:xfrm>
            <a:off x="5692397" y="5721748"/>
            <a:ext cx="15549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-0.8</a:t>
            </a:r>
            <a:br>
              <a:rPr lang="en-US" altLang="ko-KR" dirty="0"/>
            </a:br>
            <a:r>
              <a:rPr lang="en-US" altLang="ko-KR" dirty="0"/>
              <a:t>-0.6</a:t>
            </a:r>
            <a:br>
              <a:rPr lang="en-US" altLang="ko-KR" dirty="0"/>
            </a:br>
            <a:r>
              <a:rPr lang="en-US" altLang="ko-KR" dirty="0"/>
              <a:t>-0.4</a:t>
            </a:r>
            <a:br>
              <a:rPr lang="en-US" altLang="ko-KR" dirty="0"/>
            </a:br>
            <a:r>
              <a:rPr lang="en-US" altLang="ko-KR" dirty="0"/>
              <a:t>-0.2</a:t>
            </a:r>
          </a:p>
        </p:txBody>
      </p:sp>
      <p:sp>
        <p:nvSpPr>
          <p:cNvPr id="282" name="TextBox 281">
            <a:extLst>
              <a:ext uri="{FF2B5EF4-FFF2-40B4-BE49-F238E27FC236}">
                <a16:creationId xmlns:a16="http://schemas.microsoft.com/office/drawing/2014/main" id="{FFC49AEA-2A8F-250C-A86A-A7751D9706C3}"/>
              </a:ext>
            </a:extLst>
          </p:cNvPr>
          <p:cNvSpPr txBox="1"/>
          <p:nvPr/>
        </p:nvSpPr>
        <p:spPr>
          <a:xfrm>
            <a:off x="6410927" y="565949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4" name="타원 10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43570190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192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37" name="TextBox 236">
            <a:extLst>
              <a:ext uri="{FF2B5EF4-FFF2-40B4-BE49-F238E27FC236}">
                <a16:creationId xmlns:a16="http://schemas.microsoft.com/office/drawing/2014/main" id="{FFC49AEA-2A8F-250C-A86A-A7751D9706C3}"/>
              </a:ext>
            </a:extLst>
          </p:cNvPr>
          <p:cNvSpPr txBox="1"/>
          <p:nvPr/>
        </p:nvSpPr>
        <p:spPr>
          <a:xfrm>
            <a:off x="3914929" y="1492521"/>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기타</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3914929" y="16927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4439786" y="1766046"/>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혁신형중소기업</a:t>
            </a:r>
          </a:p>
        </p:txBody>
      </p:sp>
      <p:sp>
        <p:nvSpPr>
          <p:cNvPr id="240" name="TextBox 239">
            <a:extLst>
              <a:ext uri="{FF2B5EF4-FFF2-40B4-BE49-F238E27FC236}">
                <a16:creationId xmlns:a16="http://schemas.microsoft.com/office/drawing/2014/main" id="{FFC49AEA-2A8F-250C-A86A-A7751D9706C3}"/>
              </a:ext>
            </a:extLst>
          </p:cNvPr>
          <p:cNvSpPr txBox="1"/>
          <p:nvPr/>
        </p:nvSpPr>
        <p:spPr>
          <a:xfrm>
            <a:off x="3914929" y="18765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4439786" y="1949826"/>
            <a:ext cx="2010812" cy="107722"/>
          </a:xfrm>
          <a:prstGeom prst="rect">
            <a:avLst/>
          </a:prstGeom>
          <a:noFill/>
        </p:spPr>
        <p:txBody>
          <a:bodyPr wrap="square" lIns="0" tIns="0" rIns="0" bIns="0" rtlCol="0">
            <a:spAutoFit/>
          </a:bodyPr>
          <a:lstStyle/>
          <a:p>
            <a:r>
              <a:rPr lang="ko-KR" altLang="en-US" sz="700" dirty="0">
                <a:latin typeface="+mn-ea"/>
              </a:rPr>
              <a:t>혁신형중소기업</a:t>
            </a:r>
          </a:p>
        </p:txBody>
      </p:sp>
      <p:sp>
        <p:nvSpPr>
          <p:cNvPr id="242" name="TextBox 241">
            <a:extLst>
              <a:ext uri="{FF2B5EF4-FFF2-40B4-BE49-F238E27FC236}">
                <a16:creationId xmlns:a16="http://schemas.microsoft.com/office/drawing/2014/main" id="{FFC49AEA-2A8F-250C-A86A-A7751D9706C3}"/>
              </a:ext>
            </a:extLst>
          </p:cNvPr>
          <p:cNvSpPr txBox="1"/>
          <p:nvPr/>
        </p:nvSpPr>
        <p:spPr>
          <a:xfrm>
            <a:off x="6041078" y="19498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cxnSp>
        <p:nvCxnSpPr>
          <p:cNvPr id="259" name="직선 연결선 258">
            <a:extLst>
              <a:ext uri="{FF2B5EF4-FFF2-40B4-BE49-F238E27FC236}">
                <a16:creationId xmlns:a16="http://schemas.microsoft.com/office/drawing/2014/main" id="{E9293055-D5CD-4B9E-7F64-64B2D2CA7A52}"/>
              </a:ext>
            </a:extLst>
          </p:cNvPr>
          <p:cNvCxnSpPr/>
          <p:nvPr/>
        </p:nvCxnSpPr>
        <p:spPr>
          <a:xfrm>
            <a:off x="675399" y="377455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0" name="TextBox 259">
            <a:extLst>
              <a:ext uri="{FF2B5EF4-FFF2-40B4-BE49-F238E27FC236}">
                <a16:creationId xmlns:a16="http://schemas.microsoft.com/office/drawing/2014/main" id="{FFC49AEA-2A8F-250C-A86A-A7751D9706C3}"/>
              </a:ext>
            </a:extLst>
          </p:cNvPr>
          <p:cNvSpPr txBox="1"/>
          <p:nvPr/>
        </p:nvSpPr>
        <p:spPr>
          <a:xfrm>
            <a:off x="794594" y="149373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1319451" y="1567027"/>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부정당업자제재</a:t>
            </a:r>
          </a:p>
        </p:txBody>
      </p:sp>
      <p:sp>
        <p:nvSpPr>
          <p:cNvPr id="262" name="TextBox 261">
            <a:extLst>
              <a:ext uri="{FF2B5EF4-FFF2-40B4-BE49-F238E27FC236}">
                <a16:creationId xmlns:a16="http://schemas.microsoft.com/office/drawing/2014/main" id="{FFC49AEA-2A8F-250C-A86A-A7751D9706C3}"/>
              </a:ext>
            </a:extLst>
          </p:cNvPr>
          <p:cNvSpPr txBox="1"/>
          <p:nvPr/>
        </p:nvSpPr>
        <p:spPr>
          <a:xfrm>
            <a:off x="794594" y="167751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1319451" y="1750807"/>
            <a:ext cx="2010812" cy="107722"/>
          </a:xfrm>
          <a:prstGeom prst="rect">
            <a:avLst/>
          </a:prstGeom>
          <a:noFill/>
        </p:spPr>
        <p:txBody>
          <a:bodyPr wrap="square" lIns="0" tIns="0" rIns="0" bIns="0" rtlCol="0">
            <a:spAutoFit/>
          </a:bodyPr>
          <a:lstStyle/>
          <a:p>
            <a:r>
              <a:rPr lang="ko-KR" altLang="en-US" sz="700" dirty="0">
                <a:latin typeface="+mn-ea"/>
              </a:rPr>
              <a:t>부정당업자로 제재 받은 </a:t>
            </a:r>
            <a:r>
              <a:rPr lang="ko-KR" altLang="en-US" sz="700" dirty="0" err="1">
                <a:latin typeface="+mn-ea"/>
              </a:rPr>
              <a:t>총제재기간</a:t>
            </a:r>
            <a:endParaRPr lang="ko-KR" altLang="en-US" sz="700" dirty="0">
              <a:latin typeface="+mn-ea"/>
            </a:endParaRPr>
          </a:p>
        </p:txBody>
      </p:sp>
      <p:sp>
        <p:nvSpPr>
          <p:cNvPr id="264" name="TextBox 263">
            <a:extLst>
              <a:ext uri="{FF2B5EF4-FFF2-40B4-BE49-F238E27FC236}">
                <a16:creationId xmlns:a16="http://schemas.microsoft.com/office/drawing/2014/main" id="{FFC49AEA-2A8F-250C-A86A-A7751D9706C3}"/>
              </a:ext>
            </a:extLst>
          </p:cNvPr>
          <p:cNvSpPr txBox="1"/>
          <p:nvPr/>
        </p:nvSpPr>
        <p:spPr>
          <a:xfrm>
            <a:off x="2920743" y="175080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-2.0</a:t>
            </a:r>
          </a:p>
        </p:txBody>
      </p:sp>
      <p:sp>
        <p:nvSpPr>
          <p:cNvPr id="265" name="직사각형 264"/>
          <p:cNvSpPr/>
          <p:nvPr/>
        </p:nvSpPr>
        <p:spPr>
          <a:xfrm>
            <a:off x="719063" y="1911885"/>
            <a:ext cx="1639886" cy="180356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6" name="TextBox 265">
            <a:extLst>
              <a:ext uri="{FF2B5EF4-FFF2-40B4-BE49-F238E27FC236}">
                <a16:creationId xmlns:a16="http://schemas.microsoft.com/office/drawing/2014/main" id="{FFC49AEA-2A8F-250C-A86A-A7751D9706C3}"/>
              </a:ext>
            </a:extLst>
          </p:cNvPr>
          <p:cNvSpPr txBox="1"/>
          <p:nvPr/>
        </p:nvSpPr>
        <p:spPr>
          <a:xfrm>
            <a:off x="806126" y="191188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68" name="TextBox 267">
            <a:extLst>
              <a:ext uri="{FF2B5EF4-FFF2-40B4-BE49-F238E27FC236}">
                <a16:creationId xmlns:a16="http://schemas.microsoft.com/office/drawing/2014/main" id="{FFC49AEA-2A8F-250C-A86A-A7751D9706C3}"/>
              </a:ext>
            </a:extLst>
          </p:cNvPr>
          <p:cNvSpPr txBox="1"/>
          <p:nvPr/>
        </p:nvSpPr>
        <p:spPr>
          <a:xfrm>
            <a:off x="2534168" y="191188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9" name="직선 연결선 268">
            <a:extLst>
              <a:ext uri="{FF2B5EF4-FFF2-40B4-BE49-F238E27FC236}">
                <a16:creationId xmlns:a16="http://schemas.microsoft.com/office/drawing/2014/main" id="{E9293055-D5CD-4B9E-7F64-64B2D2CA7A52}"/>
              </a:ext>
            </a:extLst>
          </p:cNvPr>
          <p:cNvCxnSpPr/>
          <p:nvPr/>
        </p:nvCxnSpPr>
        <p:spPr>
          <a:xfrm>
            <a:off x="716366" y="191188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718459" y="212662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1" name="직선 연결선 270">
            <a:extLst>
              <a:ext uri="{FF2B5EF4-FFF2-40B4-BE49-F238E27FC236}">
                <a16:creationId xmlns:a16="http://schemas.microsoft.com/office/drawing/2014/main" id="{E9293055-D5CD-4B9E-7F64-64B2D2CA7A52}"/>
              </a:ext>
            </a:extLst>
          </p:cNvPr>
          <p:cNvCxnSpPr/>
          <p:nvPr/>
        </p:nvCxnSpPr>
        <p:spPr>
          <a:xfrm>
            <a:off x="718459" y="37154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2" name="TextBox 271">
            <a:extLst>
              <a:ext uri="{FF2B5EF4-FFF2-40B4-BE49-F238E27FC236}">
                <a16:creationId xmlns:a16="http://schemas.microsoft.com/office/drawing/2014/main" id="{FFC49AEA-2A8F-250C-A86A-A7751D9706C3}"/>
              </a:ext>
            </a:extLst>
          </p:cNvPr>
          <p:cNvSpPr txBox="1"/>
          <p:nvPr/>
        </p:nvSpPr>
        <p:spPr>
          <a:xfrm>
            <a:off x="2954538" y="191188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3" name="TextBox 272">
            <a:extLst>
              <a:ext uri="{FF2B5EF4-FFF2-40B4-BE49-F238E27FC236}">
                <a16:creationId xmlns:a16="http://schemas.microsoft.com/office/drawing/2014/main" id="{FFC49AEA-2A8F-250C-A86A-A7751D9706C3}"/>
              </a:ext>
            </a:extLst>
          </p:cNvPr>
          <p:cNvSpPr txBox="1"/>
          <p:nvPr/>
        </p:nvSpPr>
        <p:spPr>
          <a:xfrm>
            <a:off x="819976" y="2167013"/>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2</a:t>
            </a:r>
            <a:r>
              <a:rPr lang="ko-KR" altLang="en-US" dirty="0"/>
              <a:t>년 이내에 부정당업자 제재를 받은 자로서 부정당업자 </a:t>
            </a:r>
            <a:r>
              <a:rPr lang="ko-KR" altLang="en-US" dirty="0" err="1"/>
              <a:t>제재기간</a:t>
            </a:r>
            <a:r>
              <a:rPr lang="ko-KR" altLang="en-US" dirty="0"/>
              <a:t> 종료일이 입찰공고일로부터 </a:t>
            </a:r>
            <a:r>
              <a:rPr lang="en-US" altLang="ko-KR" dirty="0"/>
              <a:t>2</a:t>
            </a:r>
            <a:r>
              <a:rPr lang="ko-KR" altLang="en-US" dirty="0"/>
              <a:t>년 이내에 포함된 전체 부정당업자 제재 건의 총제재기간에 따라</a:t>
            </a:r>
          </a:p>
        </p:txBody>
      </p:sp>
      <p:sp>
        <p:nvSpPr>
          <p:cNvPr id="281" name="TextBox 280">
            <a:extLst>
              <a:ext uri="{FF2B5EF4-FFF2-40B4-BE49-F238E27FC236}">
                <a16:creationId xmlns:a16="http://schemas.microsoft.com/office/drawing/2014/main" id="{FFC49AEA-2A8F-250C-A86A-A7751D9706C3}"/>
              </a:ext>
            </a:extLst>
          </p:cNvPr>
          <p:cNvSpPr txBox="1"/>
          <p:nvPr/>
        </p:nvSpPr>
        <p:spPr>
          <a:xfrm>
            <a:off x="2572062" y="2786400"/>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-2.0</a:t>
            </a:r>
          </a:p>
        </p:txBody>
      </p:sp>
      <p:sp>
        <p:nvSpPr>
          <p:cNvPr id="282" name="TextBox 281">
            <a:extLst>
              <a:ext uri="{FF2B5EF4-FFF2-40B4-BE49-F238E27FC236}">
                <a16:creationId xmlns:a16="http://schemas.microsoft.com/office/drawing/2014/main" id="{FFC49AEA-2A8F-250C-A86A-A7751D9706C3}"/>
              </a:ext>
            </a:extLst>
          </p:cNvPr>
          <p:cNvSpPr txBox="1"/>
          <p:nvPr/>
        </p:nvSpPr>
        <p:spPr>
          <a:xfrm>
            <a:off x="3290592" y="286717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5" name="TextBox 104">
            <a:extLst>
              <a:ext uri="{FF2B5EF4-FFF2-40B4-BE49-F238E27FC236}">
                <a16:creationId xmlns:a16="http://schemas.microsoft.com/office/drawing/2014/main" id="{FFC49AEA-2A8F-250C-A86A-A7751D9706C3}"/>
              </a:ext>
            </a:extLst>
          </p:cNvPr>
          <p:cNvSpPr txBox="1"/>
          <p:nvPr/>
        </p:nvSpPr>
        <p:spPr>
          <a:xfrm>
            <a:off x="819976" y="2786400"/>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2</a:t>
            </a:r>
            <a:r>
              <a:rPr lang="ko-KR" altLang="en-US" dirty="0"/>
              <a:t>년 이상인 경우</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819976" y="2974900"/>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1</a:t>
            </a:r>
            <a:r>
              <a:rPr lang="ko-KR" altLang="en-US" dirty="0"/>
              <a:t>년 이상 ∼ </a:t>
            </a:r>
            <a:r>
              <a:rPr lang="en-US" altLang="ko-KR" dirty="0"/>
              <a:t>2</a:t>
            </a:r>
            <a:r>
              <a:rPr lang="ko-KR" altLang="en-US" dirty="0"/>
              <a:t>년 미만인 경우</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819976" y="3271122"/>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6</a:t>
            </a:r>
            <a:r>
              <a:rPr lang="ko-KR" altLang="en-US" dirty="0"/>
              <a:t>개월 이상 ∼ </a:t>
            </a:r>
            <a:r>
              <a:rPr lang="en-US" altLang="ko-KR" dirty="0"/>
              <a:t>1</a:t>
            </a:r>
            <a:r>
              <a:rPr lang="ko-KR" altLang="en-US" dirty="0"/>
              <a:t>년 미만인 경우</a:t>
            </a:r>
          </a:p>
        </p:txBody>
      </p:sp>
      <p:sp>
        <p:nvSpPr>
          <p:cNvPr id="108" name="TextBox 107">
            <a:extLst>
              <a:ext uri="{FF2B5EF4-FFF2-40B4-BE49-F238E27FC236}">
                <a16:creationId xmlns:a16="http://schemas.microsoft.com/office/drawing/2014/main" id="{FFC49AEA-2A8F-250C-A86A-A7751D9706C3}"/>
              </a:ext>
            </a:extLst>
          </p:cNvPr>
          <p:cNvSpPr txBox="1"/>
          <p:nvPr/>
        </p:nvSpPr>
        <p:spPr>
          <a:xfrm>
            <a:off x="819976" y="356734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6</a:t>
            </a:r>
            <a:r>
              <a:rPr lang="ko-KR" altLang="en-US" dirty="0"/>
              <a:t>개월 미만인 경우</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2572062" y="3028761"/>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p>
        </p:txBody>
      </p:sp>
      <p:sp>
        <p:nvSpPr>
          <p:cNvPr id="110" name="TextBox 109">
            <a:extLst>
              <a:ext uri="{FF2B5EF4-FFF2-40B4-BE49-F238E27FC236}">
                <a16:creationId xmlns:a16="http://schemas.microsoft.com/office/drawing/2014/main" id="{FFC49AEA-2A8F-250C-A86A-A7751D9706C3}"/>
              </a:ext>
            </a:extLst>
          </p:cNvPr>
          <p:cNvSpPr txBox="1"/>
          <p:nvPr/>
        </p:nvSpPr>
        <p:spPr>
          <a:xfrm>
            <a:off x="2572062" y="3324983"/>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sp>
        <p:nvSpPr>
          <p:cNvPr id="111" name="TextBox 110">
            <a:extLst>
              <a:ext uri="{FF2B5EF4-FFF2-40B4-BE49-F238E27FC236}">
                <a16:creationId xmlns:a16="http://schemas.microsoft.com/office/drawing/2014/main" id="{FFC49AEA-2A8F-250C-A86A-A7751D9706C3}"/>
              </a:ext>
            </a:extLst>
          </p:cNvPr>
          <p:cNvSpPr txBox="1"/>
          <p:nvPr/>
        </p:nvSpPr>
        <p:spPr>
          <a:xfrm>
            <a:off x="2572062" y="3567344"/>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112" name="직선 연결선 111">
            <a:extLst>
              <a:ext uri="{FF2B5EF4-FFF2-40B4-BE49-F238E27FC236}">
                <a16:creationId xmlns:a16="http://schemas.microsoft.com/office/drawing/2014/main" id="{E9293055-D5CD-4B9E-7F64-64B2D2CA7A52}"/>
              </a:ext>
            </a:extLst>
          </p:cNvPr>
          <p:cNvCxnSpPr/>
          <p:nvPr/>
        </p:nvCxnSpPr>
        <p:spPr>
          <a:xfrm>
            <a:off x="718459" y="274601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18459" y="293451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18459" y="323073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18459" y="352695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직사각형 115"/>
          <p:cNvSpPr/>
          <p:nvPr/>
        </p:nvSpPr>
        <p:spPr>
          <a:xfrm>
            <a:off x="3835134" y="2105659"/>
            <a:ext cx="1639886" cy="10398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7" name="TextBox 116">
            <a:extLst>
              <a:ext uri="{FF2B5EF4-FFF2-40B4-BE49-F238E27FC236}">
                <a16:creationId xmlns:a16="http://schemas.microsoft.com/office/drawing/2014/main" id="{FFC49AEA-2A8F-250C-A86A-A7751D9706C3}"/>
              </a:ext>
            </a:extLst>
          </p:cNvPr>
          <p:cNvSpPr txBox="1"/>
          <p:nvPr/>
        </p:nvSpPr>
        <p:spPr>
          <a:xfrm>
            <a:off x="3922197" y="210566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18" name="TextBox 117">
            <a:extLst>
              <a:ext uri="{FF2B5EF4-FFF2-40B4-BE49-F238E27FC236}">
                <a16:creationId xmlns:a16="http://schemas.microsoft.com/office/drawing/2014/main" id="{FFC49AEA-2A8F-250C-A86A-A7751D9706C3}"/>
              </a:ext>
            </a:extLst>
          </p:cNvPr>
          <p:cNvSpPr txBox="1"/>
          <p:nvPr/>
        </p:nvSpPr>
        <p:spPr>
          <a:xfrm>
            <a:off x="5650239" y="210566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3832437" y="210565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3834530" y="23203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3834530" y="315511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2" name="TextBox 121">
            <a:extLst>
              <a:ext uri="{FF2B5EF4-FFF2-40B4-BE49-F238E27FC236}">
                <a16:creationId xmlns:a16="http://schemas.microsoft.com/office/drawing/2014/main" id="{FFC49AEA-2A8F-250C-A86A-A7751D9706C3}"/>
              </a:ext>
            </a:extLst>
          </p:cNvPr>
          <p:cNvSpPr txBox="1"/>
          <p:nvPr/>
        </p:nvSpPr>
        <p:spPr>
          <a:xfrm>
            <a:off x="6070609" y="210566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3936047" y="236874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중소기업청장</a:t>
            </a:r>
            <a:r>
              <a:rPr lang="en-US" altLang="ko-KR" dirty="0"/>
              <a:t>(</a:t>
            </a:r>
            <a:r>
              <a:rPr lang="ko-KR" altLang="en-US" dirty="0"/>
              <a:t>또는 </a:t>
            </a:r>
            <a:r>
              <a:rPr lang="ko-KR" altLang="en-US" dirty="0" err="1"/>
              <a:t>위임받은자</a:t>
            </a:r>
            <a:r>
              <a:rPr lang="en-US" altLang="ko-KR" dirty="0"/>
              <a:t>)</a:t>
            </a:r>
            <a:r>
              <a:rPr lang="ko-KR" altLang="en-US" dirty="0"/>
              <a:t>에 의해 ‘</a:t>
            </a:r>
            <a:r>
              <a:rPr lang="ko-KR" altLang="en-US" dirty="0" err="1"/>
              <a:t>기술혁신형</a:t>
            </a:r>
            <a:r>
              <a:rPr lang="ko-KR" altLang="en-US" dirty="0"/>
              <a:t> 중소기업</a:t>
            </a:r>
            <a:r>
              <a:rPr lang="en-US" altLang="ko-KR" dirty="0"/>
              <a:t>(INNO-BIZ)’</a:t>
            </a:r>
            <a:r>
              <a:rPr lang="ko-KR" altLang="en-US" dirty="0"/>
              <a:t>으로 지정 </a:t>
            </a:r>
            <a:r>
              <a:rPr lang="ko-KR" altLang="en-US" dirty="0" err="1"/>
              <a:t>받은자</a:t>
            </a:r>
            <a:endParaRPr lang="ko-KR" altLang="en-US" dirty="0"/>
          </a:p>
        </p:txBody>
      </p:sp>
      <p:sp>
        <p:nvSpPr>
          <p:cNvPr id="125" name="TextBox 124">
            <a:extLst>
              <a:ext uri="{FF2B5EF4-FFF2-40B4-BE49-F238E27FC236}">
                <a16:creationId xmlns:a16="http://schemas.microsoft.com/office/drawing/2014/main" id="{FFC49AEA-2A8F-250C-A86A-A7751D9706C3}"/>
              </a:ext>
            </a:extLst>
          </p:cNvPr>
          <p:cNvSpPr txBox="1"/>
          <p:nvPr/>
        </p:nvSpPr>
        <p:spPr>
          <a:xfrm>
            <a:off x="6406663" y="268389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6" name="TextBox 125">
            <a:extLst>
              <a:ext uri="{FF2B5EF4-FFF2-40B4-BE49-F238E27FC236}">
                <a16:creationId xmlns:a16="http://schemas.microsoft.com/office/drawing/2014/main" id="{FFC49AEA-2A8F-250C-A86A-A7751D9706C3}"/>
              </a:ext>
            </a:extLst>
          </p:cNvPr>
          <p:cNvSpPr txBox="1"/>
          <p:nvPr/>
        </p:nvSpPr>
        <p:spPr>
          <a:xfrm>
            <a:off x="5725003" y="2797832"/>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3936047" y="2797832"/>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err="1"/>
              <a:t>혁신형기업이면서</a:t>
            </a:r>
            <a:r>
              <a:rPr lang="ko-KR" altLang="en-US" dirty="0"/>
              <a:t> 제조기업</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3936047" y="2986332"/>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err="1"/>
              <a:t>혁신형기업</a:t>
            </a:r>
            <a:endParaRPr lang="ko-KR" altLang="en-US" dirty="0"/>
          </a:p>
        </p:txBody>
      </p:sp>
      <p:sp>
        <p:nvSpPr>
          <p:cNvPr id="129" name="TextBox 128">
            <a:extLst>
              <a:ext uri="{FF2B5EF4-FFF2-40B4-BE49-F238E27FC236}">
                <a16:creationId xmlns:a16="http://schemas.microsoft.com/office/drawing/2014/main" id="{FFC49AEA-2A8F-250C-A86A-A7751D9706C3}"/>
              </a:ext>
            </a:extLst>
          </p:cNvPr>
          <p:cNvSpPr txBox="1"/>
          <p:nvPr/>
        </p:nvSpPr>
        <p:spPr>
          <a:xfrm>
            <a:off x="5725002" y="2986332"/>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0.3</a:t>
            </a: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834530" y="275744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3834530" y="294594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6" name="TextBox 165">
            <a:extLst>
              <a:ext uri="{FF2B5EF4-FFF2-40B4-BE49-F238E27FC236}">
                <a16:creationId xmlns:a16="http://schemas.microsoft.com/office/drawing/2014/main" id="{FFC49AEA-2A8F-250C-A86A-A7751D9706C3}"/>
              </a:ext>
            </a:extLst>
          </p:cNvPr>
          <p:cNvSpPr txBox="1"/>
          <p:nvPr/>
        </p:nvSpPr>
        <p:spPr>
          <a:xfrm>
            <a:off x="5725002" y="4031768"/>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3914929" y="319420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4439786" y="3267488"/>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노사협력우수</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3914929" y="337798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4439786" y="3451268"/>
            <a:ext cx="2010812" cy="107722"/>
          </a:xfrm>
          <a:prstGeom prst="rect">
            <a:avLst/>
          </a:prstGeom>
          <a:noFill/>
        </p:spPr>
        <p:txBody>
          <a:bodyPr wrap="square" lIns="0" tIns="0" rIns="0" bIns="0" rtlCol="0">
            <a:spAutoFit/>
          </a:bodyPr>
          <a:lstStyle/>
          <a:p>
            <a:r>
              <a:rPr lang="ko-KR" altLang="en-US" sz="700" dirty="0">
                <a:latin typeface="+mn-ea"/>
              </a:rPr>
              <a:t>노사협력우수</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6041078" y="345126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39" name="직사각형 138"/>
          <p:cNvSpPr/>
          <p:nvPr/>
        </p:nvSpPr>
        <p:spPr>
          <a:xfrm>
            <a:off x="3835134" y="3607101"/>
            <a:ext cx="1639886" cy="7491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a:extLst>
              <a:ext uri="{FF2B5EF4-FFF2-40B4-BE49-F238E27FC236}">
                <a16:creationId xmlns:a16="http://schemas.microsoft.com/office/drawing/2014/main" id="{FFC49AEA-2A8F-250C-A86A-A7751D9706C3}"/>
              </a:ext>
            </a:extLst>
          </p:cNvPr>
          <p:cNvSpPr txBox="1"/>
          <p:nvPr/>
        </p:nvSpPr>
        <p:spPr>
          <a:xfrm>
            <a:off x="3922197" y="360710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5650239" y="360710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3832437" y="360710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3834530" y="38218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3834530" y="43563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TextBox 155">
            <a:extLst>
              <a:ext uri="{FF2B5EF4-FFF2-40B4-BE49-F238E27FC236}">
                <a16:creationId xmlns:a16="http://schemas.microsoft.com/office/drawing/2014/main" id="{FFC49AEA-2A8F-250C-A86A-A7751D9706C3}"/>
              </a:ext>
            </a:extLst>
          </p:cNvPr>
          <p:cNvSpPr txBox="1"/>
          <p:nvPr/>
        </p:nvSpPr>
        <p:spPr>
          <a:xfrm>
            <a:off x="6070609" y="360710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3936047" y="3870186"/>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고용노동부장관으로부터 ‘노사문화우수기업’</a:t>
            </a:r>
            <a:r>
              <a:rPr lang="en-US" altLang="ko-KR" dirty="0"/>
              <a:t>(</a:t>
            </a:r>
            <a:r>
              <a:rPr lang="ko-KR" altLang="en-US" dirty="0"/>
              <a:t>대상기업포함</a:t>
            </a:r>
            <a:r>
              <a:rPr lang="en-US" altLang="ko-KR" dirty="0"/>
              <a:t>)</a:t>
            </a:r>
            <a:r>
              <a:rPr lang="ko-KR" altLang="en-US" dirty="0"/>
              <a:t>으로 선정된 업체</a:t>
            </a:r>
            <a:r>
              <a:rPr lang="en-US" altLang="ko-KR" dirty="0"/>
              <a:t>(</a:t>
            </a:r>
            <a:r>
              <a:rPr lang="ko-KR" altLang="en-US" dirty="0"/>
              <a:t>유효기간 내에 한함</a:t>
            </a:r>
            <a:r>
              <a:rPr lang="en-US" altLang="ko-KR" dirty="0"/>
              <a:t>)</a:t>
            </a:r>
            <a:br>
              <a:rPr lang="en-US" altLang="ko-KR" dirty="0"/>
            </a:br>
            <a:r>
              <a:rPr lang="en-US" altLang="ko-KR" dirty="0"/>
              <a:t>* </a:t>
            </a:r>
            <a:r>
              <a:rPr lang="ko-KR" altLang="en-US" dirty="0"/>
              <a:t>다만</a:t>
            </a:r>
            <a:r>
              <a:rPr lang="en-US" altLang="ko-KR" dirty="0"/>
              <a:t>, </a:t>
            </a:r>
            <a:r>
              <a:rPr lang="ko-KR" altLang="en-US" dirty="0" err="1"/>
              <a:t>급식분야는</a:t>
            </a:r>
            <a:r>
              <a:rPr lang="ko-KR" altLang="en-US" dirty="0"/>
              <a:t> </a:t>
            </a:r>
            <a:r>
              <a:rPr lang="en-US" altLang="ko-KR" dirty="0"/>
              <a:t>0.25</a:t>
            </a:r>
            <a:r>
              <a:rPr lang="ko-KR" altLang="en-US" dirty="0"/>
              <a:t>점</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6406663" y="40317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5725002" y="5124276"/>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3914929" y="439442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4439786" y="4467717"/>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비상대비</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3914929" y="457820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4439786" y="4651497"/>
            <a:ext cx="2010812" cy="107722"/>
          </a:xfrm>
          <a:prstGeom prst="rect">
            <a:avLst/>
          </a:prstGeom>
          <a:noFill/>
        </p:spPr>
        <p:txBody>
          <a:bodyPr wrap="square" lIns="0" tIns="0" rIns="0" bIns="0" rtlCol="0">
            <a:spAutoFit/>
          </a:bodyPr>
          <a:lstStyle/>
          <a:p>
            <a:r>
              <a:rPr lang="ko-KR" altLang="en-US" sz="700" dirty="0">
                <a:latin typeface="+mn-ea"/>
              </a:rPr>
              <a:t>비상대비중점관리</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6041078" y="465149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86" name="직사각형 185"/>
          <p:cNvSpPr/>
          <p:nvPr/>
        </p:nvSpPr>
        <p:spPr>
          <a:xfrm>
            <a:off x="3835134" y="4807331"/>
            <a:ext cx="1639886" cy="51574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22197" y="480733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91" name="TextBox 190">
            <a:extLst>
              <a:ext uri="{FF2B5EF4-FFF2-40B4-BE49-F238E27FC236}">
                <a16:creationId xmlns:a16="http://schemas.microsoft.com/office/drawing/2014/main" id="{FFC49AEA-2A8F-250C-A86A-A7751D9706C3}"/>
              </a:ext>
            </a:extLst>
          </p:cNvPr>
          <p:cNvSpPr txBox="1"/>
          <p:nvPr/>
        </p:nvSpPr>
        <p:spPr>
          <a:xfrm>
            <a:off x="5650239" y="480733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92" name="직선 연결선 191">
            <a:extLst>
              <a:ext uri="{FF2B5EF4-FFF2-40B4-BE49-F238E27FC236}">
                <a16:creationId xmlns:a16="http://schemas.microsoft.com/office/drawing/2014/main" id="{E9293055-D5CD-4B9E-7F64-64B2D2CA7A52}"/>
              </a:ext>
            </a:extLst>
          </p:cNvPr>
          <p:cNvCxnSpPr/>
          <p:nvPr/>
        </p:nvCxnSpPr>
        <p:spPr>
          <a:xfrm>
            <a:off x="3832437" y="480732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4530" y="50220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34530" y="532869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6070609" y="480733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3936047" y="507041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국민안전처장관이 확인한 비상대비 중점관리 업체</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6406663" y="512427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99" name="타원 98">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486711456"/>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193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66" name="TextBox 165">
            <a:extLst>
              <a:ext uri="{FF2B5EF4-FFF2-40B4-BE49-F238E27FC236}">
                <a16:creationId xmlns:a16="http://schemas.microsoft.com/office/drawing/2014/main" id="{FFC49AEA-2A8F-250C-A86A-A7751D9706C3}"/>
              </a:ext>
            </a:extLst>
          </p:cNvPr>
          <p:cNvSpPr txBox="1"/>
          <p:nvPr/>
        </p:nvSpPr>
        <p:spPr>
          <a:xfrm>
            <a:off x="2608931" y="227486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798858" y="149115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1323715" y="1564445"/>
            <a:ext cx="2010812" cy="107722"/>
          </a:xfrm>
          <a:prstGeom prst="rect">
            <a:avLst/>
          </a:prstGeom>
          <a:noFill/>
        </p:spPr>
        <p:txBody>
          <a:bodyPr wrap="square" lIns="0" tIns="0" rIns="0" bIns="0" rtlCol="0">
            <a:spAutoFit/>
          </a:bodyPr>
          <a:lstStyle/>
          <a:p>
            <a:r>
              <a:rPr lang="en-US" altLang="ko-KR" sz="700" dirty="0">
                <a:latin typeface="+mn-ea"/>
              </a:rPr>
              <a:t>4.</a:t>
            </a:r>
            <a:r>
              <a:rPr lang="ko-KR" altLang="en-US" sz="700" dirty="0">
                <a:latin typeface="+mn-ea"/>
              </a:rPr>
              <a:t>장애인기업</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98858" y="167493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1323715" y="1748225"/>
            <a:ext cx="2010812" cy="107722"/>
          </a:xfrm>
          <a:prstGeom prst="rect">
            <a:avLst/>
          </a:prstGeom>
          <a:noFill/>
        </p:spPr>
        <p:txBody>
          <a:bodyPr wrap="square" lIns="0" tIns="0" rIns="0" bIns="0" rtlCol="0">
            <a:spAutoFit/>
          </a:bodyPr>
          <a:lstStyle/>
          <a:p>
            <a:r>
              <a:rPr lang="ko-KR" altLang="en-US" sz="700" dirty="0">
                <a:latin typeface="+mn-ea"/>
              </a:rPr>
              <a:t>장애인기업지원</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2925007" y="174822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39" name="직사각형 138"/>
          <p:cNvSpPr/>
          <p:nvPr/>
        </p:nvSpPr>
        <p:spPr>
          <a:xfrm>
            <a:off x="719063" y="1904058"/>
            <a:ext cx="1639886" cy="10808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a:extLst>
              <a:ext uri="{FF2B5EF4-FFF2-40B4-BE49-F238E27FC236}">
                <a16:creationId xmlns:a16="http://schemas.microsoft.com/office/drawing/2014/main" id="{FFC49AEA-2A8F-250C-A86A-A7751D9706C3}"/>
              </a:ext>
            </a:extLst>
          </p:cNvPr>
          <p:cNvSpPr txBox="1"/>
          <p:nvPr/>
        </p:nvSpPr>
        <p:spPr>
          <a:xfrm>
            <a:off x="806126" y="1904059"/>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2534168" y="190405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716366" y="19040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18459" y="21187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18459" y="29876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TextBox 155">
            <a:extLst>
              <a:ext uri="{FF2B5EF4-FFF2-40B4-BE49-F238E27FC236}">
                <a16:creationId xmlns:a16="http://schemas.microsoft.com/office/drawing/2014/main" id="{FFC49AEA-2A8F-250C-A86A-A7751D9706C3}"/>
              </a:ext>
            </a:extLst>
          </p:cNvPr>
          <p:cNvSpPr txBox="1"/>
          <p:nvPr/>
        </p:nvSpPr>
        <p:spPr>
          <a:xfrm>
            <a:off x="2954538" y="190405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819976" y="216714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장애인고용촉진 및 </a:t>
            </a:r>
            <a:r>
              <a:rPr lang="ko-KR" altLang="en-US" dirty="0" err="1"/>
              <a:t>직업재활법</a:t>
            </a:r>
            <a:r>
              <a:rPr lang="ko-KR" altLang="en-US" dirty="0"/>
              <a:t> 제</a:t>
            </a:r>
            <a:r>
              <a:rPr lang="en-US" altLang="ko-KR" dirty="0"/>
              <a:t>24</a:t>
            </a:r>
            <a:r>
              <a:rPr lang="ko-KR" altLang="en-US" dirty="0"/>
              <a:t>조에 따른 장애인 고용우수사업주 또는 장애인 표준사업장</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3290592" y="249935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0" name="TextBox 99">
            <a:extLst>
              <a:ext uri="{FF2B5EF4-FFF2-40B4-BE49-F238E27FC236}">
                <a16:creationId xmlns:a16="http://schemas.microsoft.com/office/drawing/2014/main" id="{FFC49AEA-2A8F-250C-A86A-A7751D9706C3}"/>
              </a:ext>
            </a:extLst>
          </p:cNvPr>
          <p:cNvSpPr txBox="1"/>
          <p:nvPr/>
        </p:nvSpPr>
        <p:spPr>
          <a:xfrm>
            <a:off x="819976" y="260079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장애인기업활동 촉진법에서 정한 기업으로서 중소기업청장이 확인한 장애인기업</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718459" y="2538726"/>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2" name="TextBox 101">
            <a:extLst>
              <a:ext uri="{FF2B5EF4-FFF2-40B4-BE49-F238E27FC236}">
                <a16:creationId xmlns:a16="http://schemas.microsoft.com/office/drawing/2014/main" id="{FFC49AEA-2A8F-250C-A86A-A7751D9706C3}"/>
              </a:ext>
            </a:extLst>
          </p:cNvPr>
          <p:cNvSpPr txBox="1"/>
          <p:nvPr/>
        </p:nvSpPr>
        <p:spPr>
          <a:xfrm>
            <a:off x="2608931" y="270851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2608931" y="3811517"/>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04" name="TextBox 103">
            <a:extLst>
              <a:ext uri="{FF2B5EF4-FFF2-40B4-BE49-F238E27FC236}">
                <a16:creationId xmlns:a16="http://schemas.microsoft.com/office/drawing/2014/main" id="{FFC49AEA-2A8F-250C-A86A-A7751D9706C3}"/>
              </a:ext>
            </a:extLst>
          </p:cNvPr>
          <p:cNvSpPr txBox="1"/>
          <p:nvPr/>
        </p:nvSpPr>
        <p:spPr>
          <a:xfrm>
            <a:off x="798858" y="302781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1323715" y="3101098"/>
            <a:ext cx="2010812" cy="107722"/>
          </a:xfrm>
          <a:prstGeom prst="rect">
            <a:avLst/>
          </a:prstGeom>
          <a:noFill/>
        </p:spPr>
        <p:txBody>
          <a:bodyPr wrap="square" lIns="0" tIns="0" rIns="0" bIns="0" rtlCol="0">
            <a:spAutoFit/>
          </a:bodyPr>
          <a:lstStyle/>
          <a:p>
            <a:r>
              <a:rPr lang="en-US" altLang="ko-KR" sz="700" dirty="0">
                <a:latin typeface="+mn-ea"/>
              </a:rPr>
              <a:t>5.</a:t>
            </a:r>
            <a:r>
              <a:rPr lang="ko-KR" altLang="en-US" sz="700" dirty="0">
                <a:latin typeface="+mn-ea"/>
              </a:rPr>
              <a:t>가족친화</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798858" y="321159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1323715" y="3284878"/>
            <a:ext cx="2010812" cy="107722"/>
          </a:xfrm>
          <a:prstGeom prst="rect">
            <a:avLst/>
          </a:prstGeom>
          <a:noFill/>
        </p:spPr>
        <p:txBody>
          <a:bodyPr wrap="square" lIns="0" tIns="0" rIns="0" bIns="0" rtlCol="0">
            <a:spAutoFit/>
          </a:bodyPr>
          <a:lstStyle/>
          <a:p>
            <a:r>
              <a:rPr lang="ko-KR" altLang="en-US" sz="700" dirty="0">
                <a:latin typeface="+mn-ea"/>
              </a:rPr>
              <a:t>가족친화인증</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2925007" y="328487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46" name="직사각형 145"/>
          <p:cNvSpPr/>
          <p:nvPr/>
        </p:nvSpPr>
        <p:spPr>
          <a:xfrm>
            <a:off x="719063" y="3440711"/>
            <a:ext cx="1639886" cy="6319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7" name="TextBox 146">
            <a:extLst>
              <a:ext uri="{FF2B5EF4-FFF2-40B4-BE49-F238E27FC236}">
                <a16:creationId xmlns:a16="http://schemas.microsoft.com/office/drawing/2014/main" id="{FFC49AEA-2A8F-250C-A86A-A7751D9706C3}"/>
              </a:ext>
            </a:extLst>
          </p:cNvPr>
          <p:cNvSpPr txBox="1"/>
          <p:nvPr/>
        </p:nvSpPr>
        <p:spPr>
          <a:xfrm>
            <a:off x="806126" y="344071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8" name="TextBox 147">
            <a:extLst>
              <a:ext uri="{FF2B5EF4-FFF2-40B4-BE49-F238E27FC236}">
                <a16:creationId xmlns:a16="http://schemas.microsoft.com/office/drawing/2014/main" id="{FFC49AEA-2A8F-250C-A86A-A7751D9706C3}"/>
              </a:ext>
            </a:extLst>
          </p:cNvPr>
          <p:cNvSpPr txBox="1"/>
          <p:nvPr/>
        </p:nvSpPr>
        <p:spPr>
          <a:xfrm>
            <a:off x="2534168" y="344071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9" name="직선 연결선 148">
            <a:extLst>
              <a:ext uri="{FF2B5EF4-FFF2-40B4-BE49-F238E27FC236}">
                <a16:creationId xmlns:a16="http://schemas.microsoft.com/office/drawing/2014/main" id="{E9293055-D5CD-4B9E-7F64-64B2D2CA7A52}"/>
              </a:ext>
            </a:extLst>
          </p:cNvPr>
          <p:cNvCxnSpPr/>
          <p:nvPr/>
        </p:nvCxnSpPr>
        <p:spPr>
          <a:xfrm>
            <a:off x="716366" y="344071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0" name="직선 연결선 149">
            <a:extLst>
              <a:ext uri="{FF2B5EF4-FFF2-40B4-BE49-F238E27FC236}">
                <a16:creationId xmlns:a16="http://schemas.microsoft.com/office/drawing/2014/main" id="{E9293055-D5CD-4B9E-7F64-64B2D2CA7A52}"/>
              </a:ext>
            </a:extLst>
          </p:cNvPr>
          <p:cNvCxnSpPr/>
          <p:nvPr/>
        </p:nvCxnSpPr>
        <p:spPr>
          <a:xfrm>
            <a:off x="718459" y="36554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1" name="직선 연결선 150">
            <a:extLst>
              <a:ext uri="{FF2B5EF4-FFF2-40B4-BE49-F238E27FC236}">
                <a16:creationId xmlns:a16="http://schemas.microsoft.com/office/drawing/2014/main" id="{E9293055-D5CD-4B9E-7F64-64B2D2CA7A52}"/>
              </a:ext>
            </a:extLst>
          </p:cNvPr>
          <p:cNvCxnSpPr/>
          <p:nvPr/>
        </p:nvCxnSpPr>
        <p:spPr>
          <a:xfrm>
            <a:off x="718459" y="40754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2" name="TextBox 151">
            <a:extLst>
              <a:ext uri="{FF2B5EF4-FFF2-40B4-BE49-F238E27FC236}">
                <a16:creationId xmlns:a16="http://schemas.microsoft.com/office/drawing/2014/main" id="{FFC49AEA-2A8F-250C-A86A-A7751D9706C3}"/>
              </a:ext>
            </a:extLst>
          </p:cNvPr>
          <p:cNvSpPr txBox="1"/>
          <p:nvPr/>
        </p:nvSpPr>
        <p:spPr>
          <a:xfrm>
            <a:off x="2954538" y="344071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3" name="TextBox 152">
            <a:extLst>
              <a:ext uri="{FF2B5EF4-FFF2-40B4-BE49-F238E27FC236}">
                <a16:creationId xmlns:a16="http://schemas.microsoft.com/office/drawing/2014/main" id="{FFC49AEA-2A8F-250C-A86A-A7751D9706C3}"/>
              </a:ext>
            </a:extLst>
          </p:cNvPr>
          <p:cNvSpPr txBox="1"/>
          <p:nvPr/>
        </p:nvSpPr>
        <p:spPr>
          <a:xfrm>
            <a:off x="819976" y="3703796"/>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「가족친화 사회환경의 </a:t>
            </a:r>
            <a:r>
              <a:rPr lang="ko-KR" altLang="en-US" dirty="0" err="1"/>
              <a:t>조성촉진에</a:t>
            </a:r>
            <a:r>
              <a:rPr lang="ko-KR" altLang="en-US" dirty="0"/>
              <a:t> 관한 법률」 제</a:t>
            </a:r>
            <a:r>
              <a:rPr lang="en-US" altLang="ko-KR" dirty="0"/>
              <a:t>15</a:t>
            </a:r>
            <a:r>
              <a:rPr lang="ko-KR" altLang="en-US" dirty="0"/>
              <a:t>조에 따른 가족친화인증을 받은 기업</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3290592" y="381151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1" name="TextBox 160">
            <a:extLst>
              <a:ext uri="{FF2B5EF4-FFF2-40B4-BE49-F238E27FC236}">
                <a16:creationId xmlns:a16="http://schemas.microsoft.com/office/drawing/2014/main" id="{FFC49AEA-2A8F-250C-A86A-A7751D9706C3}"/>
              </a:ext>
            </a:extLst>
          </p:cNvPr>
          <p:cNvSpPr txBox="1"/>
          <p:nvPr/>
        </p:nvSpPr>
        <p:spPr>
          <a:xfrm>
            <a:off x="2608931" y="4843290"/>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798858" y="411344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323715" y="4186731"/>
            <a:ext cx="2010812" cy="107722"/>
          </a:xfrm>
          <a:prstGeom prst="rect">
            <a:avLst/>
          </a:prstGeom>
          <a:noFill/>
        </p:spPr>
        <p:txBody>
          <a:bodyPr wrap="square" lIns="0" tIns="0" rIns="0" bIns="0" rtlCol="0">
            <a:spAutoFit/>
          </a:bodyPr>
          <a:lstStyle/>
          <a:p>
            <a:r>
              <a:rPr lang="en-US" altLang="ko-KR" sz="700" dirty="0">
                <a:latin typeface="+mn-ea"/>
              </a:rPr>
              <a:t>6.</a:t>
            </a:r>
            <a:r>
              <a:rPr lang="ko-KR" altLang="en-US" sz="700" dirty="0">
                <a:latin typeface="+mn-ea"/>
              </a:rPr>
              <a:t>고용창출</a:t>
            </a:r>
          </a:p>
        </p:txBody>
      </p:sp>
      <p:sp>
        <p:nvSpPr>
          <p:cNvPr id="164" name="TextBox 163">
            <a:extLst>
              <a:ext uri="{FF2B5EF4-FFF2-40B4-BE49-F238E27FC236}">
                <a16:creationId xmlns:a16="http://schemas.microsoft.com/office/drawing/2014/main" id="{FFC49AEA-2A8F-250C-A86A-A7751D9706C3}"/>
              </a:ext>
            </a:extLst>
          </p:cNvPr>
          <p:cNvSpPr txBox="1"/>
          <p:nvPr/>
        </p:nvSpPr>
        <p:spPr>
          <a:xfrm>
            <a:off x="798858" y="429722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1323715" y="4370511"/>
            <a:ext cx="2010812" cy="107722"/>
          </a:xfrm>
          <a:prstGeom prst="rect">
            <a:avLst/>
          </a:prstGeom>
          <a:noFill/>
        </p:spPr>
        <p:txBody>
          <a:bodyPr wrap="square" lIns="0" tIns="0" rIns="0" bIns="0" rtlCol="0">
            <a:spAutoFit/>
          </a:bodyPr>
          <a:lstStyle/>
          <a:p>
            <a:r>
              <a:rPr lang="ko-KR" altLang="en-US" sz="700" dirty="0">
                <a:latin typeface="+mn-ea"/>
              </a:rPr>
              <a:t>고용창출 우수</a:t>
            </a:r>
          </a:p>
        </p:txBody>
      </p:sp>
      <p:sp>
        <p:nvSpPr>
          <p:cNvPr id="170" name="TextBox 169">
            <a:extLst>
              <a:ext uri="{FF2B5EF4-FFF2-40B4-BE49-F238E27FC236}">
                <a16:creationId xmlns:a16="http://schemas.microsoft.com/office/drawing/2014/main" id="{FFC49AEA-2A8F-250C-A86A-A7751D9706C3}"/>
              </a:ext>
            </a:extLst>
          </p:cNvPr>
          <p:cNvSpPr txBox="1"/>
          <p:nvPr/>
        </p:nvSpPr>
        <p:spPr>
          <a:xfrm>
            <a:off x="2925007" y="437051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71" name="직사각형 170"/>
          <p:cNvSpPr/>
          <p:nvPr/>
        </p:nvSpPr>
        <p:spPr>
          <a:xfrm>
            <a:off x="719063" y="4526344"/>
            <a:ext cx="1639886" cy="5255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3" name="TextBox 172">
            <a:extLst>
              <a:ext uri="{FF2B5EF4-FFF2-40B4-BE49-F238E27FC236}">
                <a16:creationId xmlns:a16="http://schemas.microsoft.com/office/drawing/2014/main" id="{FFC49AEA-2A8F-250C-A86A-A7751D9706C3}"/>
              </a:ext>
            </a:extLst>
          </p:cNvPr>
          <p:cNvSpPr txBox="1"/>
          <p:nvPr/>
        </p:nvSpPr>
        <p:spPr>
          <a:xfrm>
            <a:off x="806126" y="452634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4" name="TextBox 173">
            <a:extLst>
              <a:ext uri="{FF2B5EF4-FFF2-40B4-BE49-F238E27FC236}">
                <a16:creationId xmlns:a16="http://schemas.microsoft.com/office/drawing/2014/main" id="{FFC49AEA-2A8F-250C-A86A-A7751D9706C3}"/>
              </a:ext>
            </a:extLst>
          </p:cNvPr>
          <p:cNvSpPr txBox="1"/>
          <p:nvPr/>
        </p:nvSpPr>
        <p:spPr>
          <a:xfrm>
            <a:off x="2534168" y="452634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5" name="직선 연결선 174">
            <a:extLst>
              <a:ext uri="{FF2B5EF4-FFF2-40B4-BE49-F238E27FC236}">
                <a16:creationId xmlns:a16="http://schemas.microsoft.com/office/drawing/2014/main" id="{E9293055-D5CD-4B9E-7F64-64B2D2CA7A52}"/>
              </a:ext>
            </a:extLst>
          </p:cNvPr>
          <p:cNvCxnSpPr/>
          <p:nvPr/>
        </p:nvCxnSpPr>
        <p:spPr>
          <a:xfrm>
            <a:off x="716366" y="452634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18459" y="47410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18459" y="50518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9" name="TextBox 178">
            <a:extLst>
              <a:ext uri="{FF2B5EF4-FFF2-40B4-BE49-F238E27FC236}">
                <a16:creationId xmlns:a16="http://schemas.microsoft.com/office/drawing/2014/main" id="{FFC49AEA-2A8F-250C-A86A-A7751D9706C3}"/>
              </a:ext>
            </a:extLst>
          </p:cNvPr>
          <p:cNvSpPr txBox="1"/>
          <p:nvPr/>
        </p:nvSpPr>
        <p:spPr>
          <a:xfrm>
            <a:off x="2954538" y="452634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0" name="TextBox 179">
            <a:extLst>
              <a:ext uri="{FF2B5EF4-FFF2-40B4-BE49-F238E27FC236}">
                <a16:creationId xmlns:a16="http://schemas.microsoft.com/office/drawing/2014/main" id="{FFC49AEA-2A8F-250C-A86A-A7751D9706C3}"/>
              </a:ext>
            </a:extLst>
          </p:cNvPr>
          <p:cNvSpPr txBox="1"/>
          <p:nvPr/>
        </p:nvSpPr>
        <p:spPr>
          <a:xfrm>
            <a:off x="819976" y="4789429"/>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고용노동부장관이 선정한 고용창출 </a:t>
            </a:r>
            <a:r>
              <a:rPr lang="en-US" altLang="ko-KR" dirty="0"/>
              <a:t>100</a:t>
            </a:r>
            <a:r>
              <a:rPr lang="ko-KR" altLang="en-US" dirty="0"/>
              <a:t>대 우수기업</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3290592" y="484329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2" name="TextBox 181">
            <a:extLst>
              <a:ext uri="{FF2B5EF4-FFF2-40B4-BE49-F238E27FC236}">
                <a16:creationId xmlns:a16="http://schemas.microsoft.com/office/drawing/2014/main" id="{FFC49AEA-2A8F-250C-A86A-A7751D9706C3}"/>
              </a:ext>
            </a:extLst>
          </p:cNvPr>
          <p:cNvSpPr txBox="1"/>
          <p:nvPr/>
        </p:nvSpPr>
        <p:spPr>
          <a:xfrm>
            <a:off x="798858" y="509701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84" name="TextBox 183">
            <a:extLst>
              <a:ext uri="{FF2B5EF4-FFF2-40B4-BE49-F238E27FC236}">
                <a16:creationId xmlns:a16="http://schemas.microsoft.com/office/drawing/2014/main" id="{FFC49AEA-2A8F-250C-A86A-A7751D9706C3}"/>
              </a:ext>
            </a:extLst>
          </p:cNvPr>
          <p:cNvSpPr txBox="1"/>
          <p:nvPr/>
        </p:nvSpPr>
        <p:spPr>
          <a:xfrm>
            <a:off x="1323715" y="5170302"/>
            <a:ext cx="2010812" cy="107722"/>
          </a:xfrm>
          <a:prstGeom prst="rect">
            <a:avLst/>
          </a:prstGeom>
          <a:noFill/>
        </p:spPr>
        <p:txBody>
          <a:bodyPr wrap="square" lIns="0" tIns="0" rIns="0" bIns="0" rtlCol="0">
            <a:spAutoFit/>
          </a:bodyPr>
          <a:lstStyle/>
          <a:p>
            <a:r>
              <a:rPr lang="en-US" altLang="ko-KR" sz="700" dirty="0">
                <a:latin typeface="+mn-ea"/>
              </a:rPr>
              <a:t>7.</a:t>
            </a:r>
            <a:r>
              <a:rPr lang="ko-KR" altLang="en-US" sz="700" dirty="0">
                <a:latin typeface="+mn-ea"/>
              </a:rPr>
              <a:t>여성기업지원 등</a:t>
            </a:r>
          </a:p>
        </p:txBody>
      </p:sp>
      <p:sp>
        <p:nvSpPr>
          <p:cNvPr id="185" name="TextBox 184">
            <a:extLst>
              <a:ext uri="{FF2B5EF4-FFF2-40B4-BE49-F238E27FC236}">
                <a16:creationId xmlns:a16="http://schemas.microsoft.com/office/drawing/2014/main" id="{FFC49AEA-2A8F-250C-A86A-A7751D9706C3}"/>
              </a:ext>
            </a:extLst>
          </p:cNvPr>
          <p:cNvSpPr txBox="1"/>
          <p:nvPr/>
        </p:nvSpPr>
        <p:spPr>
          <a:xfrm>
            <a:off x="798858" y="528079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1323715" y="5354082"/>
            <a:ext cx="2010812" cy="107722"/>
          </a:xfrm>
          <a:prstGeom prst="rect">
            <a:avLst/>
          </a:prstGeom>
          <a:noFill/>
        </p:spPr>
        <p:txBody>
          <a:bodyPr wrap="square" lIns="0" tIns="0" rIns="0" bIns="0" rtlCol="0">
            <a:spAutoFit/>
          </a:bodyPr>
          <a:lstStyle/>
          <a:p>
            <a:r>
              <a:rPr lang="ko-KR" altLang="en-US" sz="700" dirty="0">
                <a:latin typeface="+mn-ea"/>
              </a:rPr>
              <a:t>여성기업 지원 및 고용촉진</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2925007" y="535408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90" name="직사각형 189"/>
          <p:cNvSpPr/>
          <p:nvPr/>
        </p:nvSpPr>
        <p:spPr>
          <a:xfrm>
            <a:off x="3839398" y="1511625"/>
            <a:ext cx="1639886" cy="13713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8" name="TextBox 197">
            <a:extLst>
              <a:ext uri="{FF2B5EF4-FFF2-40B4-BE49-F238E27FC236}">
                <a16:creationId xmlns:a16="http://schemas.microsoft.com/office/drawing/2014/main" id="{FFC49AEA-2A8F-250C-A86A-A7751D9706C3}"/>
              </a:ext>
            </a:extLst>
          </p:cNvPr>
          <p:cNvSpPr txBox="1"/>
          <p:nvPr/>
        </p:nvSpPr>
        <p:spPr>
          <a:xfrm>
            <a:off x="3926461" y="151162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5654503" y="151162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00" name="직선 연결선 199">
            <a:extLst>
              <a:ext uri="{FF2B5EF4-FFF2-40B4-BE49-F238E27FC236}">
                <a16:creationId xmlns:a16="http://schemas.microsoft.com/office/drawing/2014/main" id="{E9293055-D5CD-4B9E-7F64-64B2D2CA7A52}"/>
              </a:ext>
            </a:extLst>
          </p:cNvPr>
          <p:cNvCxnSpPr/>
          <p:nvPr/>
        </p:nvCxnSpPr>
        <p:spPr>
          <a:xfrm>
            <a:off x="3836701" y="151162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8794" y="17263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3838794" y="28843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3" name="TextBox 202">
            <a:extLst>
              <a:ext uri="{FF2B5EF4-FFF2-40B4-BE49-F238E27FC236}">
                <a16:creationId xmlns:a16="http://schemas.microsoft.com/office/drawing/2014/main" id="{FFC49AEA-2A8F-250C-A86A-A7751D9706C3}"/>
              </a:ext>
            </a:extLst>
          </p:cNvPr>
          <p:cNvSpPr txBox="1"/>
          <p:nvPr/>
        </p:nvSpPr>
        <p:spPr>
          <a:xfrm>
            <a:off x="6074873" y="151162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3940311" y="1773489"/>
            <a:ext cx="1480199" cy="754053"/>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「여성기업지원에 관한 </a:t>
            </a:r>
            <a:r>
              <a:rPr lang="ko-KR" altLang="en-US" dirty="0" err="1"/>
              <a:t>법률」에서</a:t>
            </a:r>
            <a:r>
              <a:rPr lang="ko-KR" altLang="en-US" dirty="0"/>
              <a:t> 정한 기업으로서 중소기업청장</a:t>
            </a:r>
            <a:r>
              <a:rPr lang="en-US" altLang="ko-KR" dirty="0"/>
              <a:t>(</a:t>
            </a:r>
            <a:r>
              <a:rPr lang="ko-KR" altLang="en-US" dirty="0" err="1"/>
              <a:t>수임권자</a:t>
            </a:r>
            <a:r>
              <a:rPr lang="ko-KR" altLang="en-US" dirty="0"/>
              <a:t> 포함</a:t>
            </a:r>
            <a:r>
              <a:rPr lang="en-US" altLang="ko-KR" dirty="0"/>
              <a:t>)</a:t>
            </a:r>
            <a:r>
              <a:rPr lang="ko-KR" altLang="en-US" dirty="0"/>
              <a:t>에 의해 확인서를 받은 여성기업으로서 그 존속기간에 따라</a:t>
            </a:r>
            <a:br>
              <a:rPr lang="ko-KR" altLang="en-US" dirty="0"/>
            </a:br>
            <a:r>
              <a:rPr lang="en-US" altLang="ko-KR" dirty="0"/>
              <a:t>- 10</a:t>
            </a:r>
            <a:r>
              <a:rPr lang="ko-KR" altLang="en-US" dirty="0"/>
              <a:t>년 이상</a:t>
            </a:r>
          </a:p>
          <a:p>
            <a:r>
              <a:rPr lang="en-US" altLang="ko-KR" dirty="0"/>
              <a:t>- 5</a:t>
            </a:r>
            <a:r>
              <a:rPr lang="ko-KR" altLang="en-US" dirty="0"/>
              <a:t>년 이상 </a:t>
            </a:r>
            <a:r>
              <a:rPr lang="en-US" altLang="ko-KR" dirty="0"/>
              <a:t>~ 10</a:t>
            </a:r>
            <a:r>
              <a:rPr lang="ko-KR" altLang="en-US" dirty="0"/>
              <a:t>년 미만</a:t>
            </a:r>
          </a:p>
          <a:p>
            <a:r>
              <a:rPr lang="en-US" altLang="ko-KR" dirty="0"/>
              <a:t>- 5</a:t>
            </a:r>
            <a:r>
              <a:rPr lang="ko-KR" altLang="en-US" dirty="0"/>
              <a:t>년 미만</a:t>
            </a:r>
          </a:p>
        </p:txBody>
      </p:sp>
      <p:sp>
        <p:nvSpPr>
          <p:cNvPr id="205" name="TextBox 204">
            <a:extLst>
              <a:ext uri="{FF2B5EF4-FFF2-40B4-BE49-F238E27FC236}">
                <a16:creationId xmlns:a16="http://schemas.microsoft.com/office/drawing/2014/main" id="{FFC49AEA-2A8F-250C-A86A-A7751D9706C3}"/>
              </a:ext>
            </a:extLst>
          </p:cNvPr>
          <p:cNvSpPr txBox="1"/>
          <p:nvPr/>
        </p:nvSpPr>
        <p:spPr>
          <a:xfrm>
            <a:off x="5673482" y="2204377"/>
            <a:ext cx="174407"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br>
              <a:rPr lang="en-US" altLang="ko-KR" dirty="0"/>
            </a:br>
            <a:r>
              <a:rPr lang="en-US" altLang="ko-KR" dirty="0"/>
              <a:t>0.35</a:t>
            </a:r>
            <a:br>
              <a:rPr lang="en-US" altLang="ko-KR" dirty="0"/>
            </a:br>
            <a:r>
              <a:rPr lang="en-US" altLang="ko-KR" dirty="0"/>
              <a:t>0.30</a:t>
            </a:r>
          </a:p>
        </p:txBody>
      </p:sp>
      <p:sp>
        <p:nvSpPr>
          <p:cNvPr id="206" name="TextBox 205">
            <a:extLst>
              <a:ext uri="{FF2B5EF4-FFF2-40B4-BE49-F238E27FC236}">
                <a16:creationId xmlns:a16="http://schemas.microsoft.com/office/drawing/2014/main" id="{FFC49AEA-2A8F-250C-A86A-A7751D9706C3}"/>
              </a:ext>
            </a:extLst>
          </p:cNvPr>
          <p:cNvSpPr txBox="1"/>
          <p:nvPr/>
        </p:nvSpPr>
        <p:spPr>
          <a:xfrm>
            <a:off x="6410927" y="225150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40311" y="2621794"/>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고용노동부장관에 의해 남녀고용평등 우수기업으로 </a:t>
            </a:r>
            <a:r>
              <a:rPr lang="ko-KR" altLang="en-US" dirty="0" err="1"/>
              <a:t>지정받은</a:t>
            </a:r>
            <a:r>
              <a:rPr lang="ko-KR" altLang="en-US" dirty="0"/>
              <a:t> 자</a:t>
            </a:r>
          </a:p>
        </p:txBody>
      </p:sp>
      <p:cxnSp>
        <p:nvCxnSpPr>
          <p:cNvPr id="209" name="직선 연결선 208">
            <a:extLst>
              <a:ext uri="{FF2B5EF4-FFF2-40B4-BE49-F238E27FC236}">
                <a16:creationId xmlns:a16="http://schemas.microsoft.com/office/drawing/2014/main" id="{E9293055-D5CD-4B9E-7F64-64B2D2CA7A52}"/>
              </a:ext>
            </a:extLst>
          </p:cNvPr>
          <p:cNvCxnSpPr/>
          <p:nvPr/>
        </p:nvCxnSpPr>
        <p:spPr>
          <a:xfrm>
            <a:off x="3834530" y="257466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0" name="TextBox 209">
            <a:extLst>
              <a:ext uri="{FF2B5EF4-FFF2-40B4-BE49-F238E27FC236}">
                <a16:creationId xmlns:a16="http://schemas.microsoft.com/office/drawing/2014/main" id="{FFC49AEA-2A8F-250C-A86A-A7751D9706C3}"/>
              </a:ext>
            </a:extLst>
          </p:cNvPr>
          <p:cNvSpPr txBox="1"/>
          <p:nvPr/>
        </p:nvSpPr>
        <p:spPr>
          <a:xfrm>
            <a:off x="5729267" y="267565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729266" y="3652529"/>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3919193" y="292268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4444050" y="2995970"/>
            <a:ext cx="2010812" cy="107722"/>
          </a:xfrm>
          <a:prstGeom prst="rect">
            <a:avLst/>
          </a:prstGeom>
          <a:noFill/>
        </p:spPr>
        <p:txBody>
          <a:bodyPr wrap="square" lIns="0" tIns="0" rIns="0" bIns="0" rtlCol="0">
            <a:spAutoFit/>
          </a:bodyPr>
          <a:lstStyle/>
          <a:p>
            <a:r>
              <a:rPr lang="en-US" altLang="ko-KR" sz="700" dirty="0">
                <a:latin typeface="+mn-ea"/>
              </a:rPr>
              <a:t>8.</a:t>
            </a:r>
            <a:r>
              <a:rPr lang="ko-KR" altLang="en-US" sz="700" dirty="0" err="1">
                <a:latin typeface="+mn-ea"/>
              </a:rPr>
              <a:t>사회적기업</a:t>
            </a:r>
            <a:endParaRPr lang="ko-KR" altLang="en-US" sz="700" dirty="0">
              <a:latin typeface="+mn-ea"/>
            </a:endParaRPr>
          </a:p>
        </p:txBody>
      </p:sp>
      <p:sp>
        <p:nvSpPr>
          <p:cNvPr id="215" name="TextBox 214">
            <a:extLst>
              <a:ext uri="{FF2B5EF4-FFF2-40B4-BE49-F238E27FC236}">
                <a16:creationId xmlns:a16="http://schemas.microsoft.com/office/drawing/2014/main" id="{FFC49AEA-2A8F-250C-A86A-A7751D9706C3}"/>
              </a:ext>
            </a:extLst>
          </p:cNvPr>
          <p:cNvSpPr txBox="1"/>
          <p:nvPr/>
        </p:nvSpPr>
        <p:spPr>
          <a:xfrm>
            <a:off x="3919193" y="310646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4444050" y="3179750"/>
            <a:ext cx="2010812" cy="107722"/>
          </a:xfrm>
          <a:prstGeom prst="rect">
            <a:avLst/>
          </a:prstGeom>
          <a:noFill/>
        </p:spPr>
        <p:txBody>
          <a:bodyPr wrap="square" lIns="0" tIns="0" rIns="0" bIns="0" rtlCol="0">
            <a:spAutoFit/>
          </a:bodyPr>
          <a:lstStyle/>
          <a:p>
            <a:r>
              <a:rPr lang="ko-KR" altLang="en-US" sz="700" dirty="0">
                <a:latin typeface="+mn-ea"/>
              </a:rPr>
              <a:t>사회적기업여부</a:t>
            </a:r>
          </a:p>
        </p:txBody>
      </p:sp>
      <p:sp>
        <p:nvSpPr>
          <p:cNvPr id="217" name="TextBox 216">
            <a:extLst>
              <a:ext uri="{FF2B5EF4-FFF2-40B4-BE49-F238E27FC236}">
                <a16:creationId xmlns:a16="http://schemas.microsoft.com/office/drawing/2014/main" id="{FFC49AEA-2A8F-250C-A86A-A7751D9706C3}"/>
              </a:ext>
            </a:extLst>
          </p:cNvPr>
          <p:cNvSpPr txBox="1"/>
          <p:nvPr/>
        </p:nvSpPr>
        <p:spPr>
          <a:xfrm>
            <a:off x="6045342" y="3179750"/>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18" name="직사각형 217"/>
          <p:cNvSpPr/>
          <p:nvPr/>
        </p:nvSpPr>
        <p:spPr>
          <a:xfrm>
            <a:off x="3839398" y="3335583"/>
            <a:ext cx="1639886" cy="5255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9" name="TextBox 218">
            <a:extLst>
              <a:ext uri="{FF2B5EF4-FFF2-40B4-BE49-F238E27FC236}">
                <a16:creationId xmlns:a16="http://schemas.microsoft.com/office/drawing/2014/main" id="{FFC49AEA-2A8F-250C-A86A-A7751D9706C3}"/>
              </a:ext>
            </a:extLst>
          </p:cNvPr>
          <p:cNvSpPr txBox="1"/>
          <p:nvPr/>
        </p:nvSpPr>
        <p:spPr>
          <a:xfrm>
            <a:off x="3926461" y="333558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20" name="TextBox 219">
            <a:extLst>
              <a:ext uri="{FF2B5EF4-FFF2-40B4-BE49-F238E27FC236}">
                <a16:creationId xmlns:a16="http://schemas.microsoft.com/office/drawing/2014/main" id="{FFC49AEA-2A8F-250C-A86A-A7751D9706C3}"/>
              </a:ext>
            </a:extLst>
          </p:cNvPr>
          <p:cNvSpPr txBox="1"/>
          <p:nvPr/>
        </p:nvSpPr>
        <p:spPr>
          <a:xfrm>
            <a:off x="5654503" y="333558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836701" y="333558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3838794" y="35503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3838794" y="386111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6074873" y="333558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25" name="TextBox 224">
            <a:extLst>
              <a:ext uri="{FF2B5EF4-FFF2-40B4-BE49-F238E27FC236}">
                <a16:creationId xmlns:a16="http://schemas.microsoft.com/office/drawing/2014/main" id="{FFC49AEA-2A8F-250C-A86A-A7751D9706C3}"/>
              </a:ext>
            </a:extLst>
          </p:cNvPr>
          <p:cNvSpPr txBox="1"/>
          <p:nvPr/>
        </p:nvSpPr>
        <p:spPr>
          <a:xfrm>
            <a:off x="3940311" y="359866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a:t>
            </a:r>
            <a:r>
              <a:rPr lang="ko-KR" altLang="en-US" dirty="0" err="1"/>
              <a:t>사회적기업</a:t>
            </a:r>
            <a:r>
              <a:rPr lang="ko-KR" altLang="en-US" dirty="0"/>
              <a:t> </a:t>
            </a:r>
            <a:r>
              <a:rPr lang="ko-KR" altLang="en-US" dirty="0" err="1"/>
              <a:t>육성법」제</a:t>
            </a:r>
            <a:r>
              <a:rPr lang="en-US" altLang="ko-KR" dirty="0"/>
              <a:t>7</a:t>
            </a:r>
            <a:r>
              <a:rPr lang="ko-KR" altLang="en-US" dirty="0"/>
              <a:t>조에 따른 고용노동부장관의 인증을 받은 기업</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6410927" y="365252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5679573" y="4635601"/>
            <a:ext cx="16831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3919193" y="390575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9" name="TextBox 228">
            <a:extLst>
              <a:ext uri="{FF2B5EF4-FFF2-40B4-BE49-F238E27FC236}">
                <a16:creationId xmlns:a16="http://schemas.microsoft.com/office/drawing/2014/main" id="{FFC49AEA-2A8F-250C-A86A-A7751D9706C3}"/>
              </a:ext>
            </a:extLst>
          </p:cNvPr>
          <p:cNvSpPr txBox="1"/>
          <p:nvPr/>
        </p:nvSpPr>
        <p:spPr>
          <a:xfrm>
            <a:off x="4444050" y="3979042"/>
            <a:ext cx="2010812" cy="107722"/>
          </a:xfrm>
          <a:prstGeom prst="rect">
            <a:avLst/>
          </a:prstGeom>
          <a:noFill/>
        </p:spPr>
        <p:txBody>
          <a:bodyPr wrap="square" lIns="0" tIns="0" rIns="0" bIns="0" rtlCol="0">
            <a:spAutoFit/>
          </a:bodyPr>
          <a:lstStyle/>
          <a:p>
            <a:r>
              <a:rPr lang="en-US" altLang="ko-KR" sz="700" dirty="0">
                <a:latin typeface="+mn-ea"/>
              </a:rPr>
              <a:t>9.</a:t>
            </a:r>
            <a:r>
              <a:rPr lang="ko-KR" altLang="en-US" sz="700" dirty="0" err="1">
                <a:latin typeface="+mn-ea"/>
              </a:rPr>
              <a:t>모범납세</a:t>
            </a:r>
            <a:endParaRPr lang="ko-KR" altLang="en-US" sz="700" dirty="0">
              <a:latin typeface="+mn-ea"/>
            </a:endParaRPr>
          </a:p>
        </p:txBody>
      </p:sp>
      <p:sp>
        <p:nvSpPr>
          <p:cNvPr id="230" name="TextBox 229">
            <a:extLst>
              <a:ext uri="{FF2B5EF4-FFF2-40B4-BE49-F238E27FC236}">
                <a16:creationId xmlns:a16="http://schemas.microsoft.com/office/drawing/2014/main" id="{FFC49AEA-2A8F-250C-A86A-A7751D9706C3}"/>
              </a:ext>
            </a:extLst>
          </p:cNvPr>
          <p:cNvSpPr txBox="1"/>
          <p:nvPr/>
        </p:nvSpPr>
        <p:spPr>
          <a:xfrm>
            <a:off x="3919193" y="408953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4444050" y="4162822"/>
            <a:ext cx="2010812" cy="107722"/>
          </a:xfrm>
          <a:prstGeom prst="rect">
            <a:avLst/>
          </a:prstGeom>
          <a:noFill/>
        </p:spPr>
        <p:txBody>
          <a:bodyPr wrap="square" lIns="0" tIns="0" rIns="0" bIns="0" rtlCol="0">
            <a:spAutoFit/>
          </a:bodyPr>
          <a:lstStyle/>
          <a:p>
            <a:r>
              <a:rPr lang="ko-KR" altLang="en-US" sz="700" dirty="0">
                <a:latin typeface="+mn-ea"/>
              </a:rPr>
              <a:t>모범납세여부</a:t>
            </a:r>
          </a:p>
        </p:txBody>
      </p:sp>
      <p:sp>
        <p:nvSpPr>
          <p:cNvPr id="232" name="TextBox 231">
            <a:extLst>
              <a:ext uri="{FF2B5EF4-FFF2-40B4-BE49-F238E27FC236}">
                <a16:creationId xmlns:a16="http://schemas.microsoft.com/office/drawing/2014/main" id="{FFC49AEA-2A8F-250C-A86A-A7751D9706C3}"/>
              </a:ext>
            </a:extLst>
          </p:cNvPr>
          <p:cNvSpPr txBox="1"/>
          <p:nvPr/>
        </p:nvSpPr>
        <p:spPr>
          <a:xfrm>
            <a:off x="6045342" y="416282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0.25</a:t>
            </a:r>
          </a:p>
        </p:txBody>
      </p:sp>
      <p:sp>
        <p:nvSpPr>
          <p:cNvPr id="233" name="직사각형 232"/>
          <p:cNvSpPr/>
          <p:nvPr/>
        </p:nvSpPr>
        <p:spPr>
          <a:xfrm>
            <a:off x="3839398" y="4318655"/>
            <a:ext cx="1639886" cy="5255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4" name="TextBox 233">
            <a:extLst>
              <a:ext uri="{FF2B5EF4-FFF2-40B4-BE49-F238E27FC236}">
                <a16:creationId xmlns:a16="http://schemas.microsoft.com/office/drawing/2014/main" id="{FFC49AEA-2A8F-250C-A86A-A7751D9706C3}"/>
              </a:ext>
            </a:extLst>
          </p:cNvPr>
          <p:cNvSpPr txBox="1"/>
          <p:nvPr/>
        </p:nvSpPr>
        <p:spPr>
          <a:xfrm>
            <a:off x="3926461" y="431865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35" name="TextBox 234">
            <a:extLst>
              <a:ext uri="{FF2B5EF4-FFF2-40B4-BE49-F238E27FC236}">
                <a16:creationId xmlns:a16="http://schemas.microsoft.com/office/drawing/2014/main" id="{FFC49AEA-2A8F-250C-A86A-A7751D9706C3}"/>
              </a:ext>
            </a:extLst>
          </p:cNvPr>
          <p:cNvSpPr txBox="1"/>
          <p:nvPr/>
        </p:nvSpPr>
        <p:spPr>
          <a:xfrm>
            <a:off x="5654503" y="431865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36" name="직선 연결선 235">
            <a:extLst>
              <a:ext uri="{FF2B5EF4-FFF2-40B4-BE49-F238E27FC236}">
                <a16:creationId xmlns:a16="http://schemas.microsoft.com/office/drawing/2014/main" id="{E9293055-D5CD-4B9E-7F64-64B2D2CA7A52}"/>
              </a:ext>
            </a:extLst>
          </p:cNvPr>
          <p:cNvCxnSpPr/>
          <p:nvPr/>
        </p:nvCxnSpPr>
        <p:spPr>
          <a:xfrm>
            <a:off x="3836701" y="43186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3" name="직선 연결선 242">
            <a:extLst>
              <a:ext uri="{FF2B5EF4-FFF2-40B4-BE49-F238E27FC236}">
                <a16:creationId xmlns:a16="http://schemas.microsoft.com/office/drawing/2014/main" id="{E9293055-D5CD-4B9E-7F64-64B2D2CA7A52}"/>
              </a:ext>
            </a:extLst>
          </p:cNvPr>
          <p:cNvCxnSpPr/>
          <p:nvPr/>
        </p:nvCxnSpPr>
        <p:spPr>
          <a:xfrm>
            <a:off x="3838794" y="45333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3838794" y="48441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5" name="TextBox 244">
            <a:extLst>
              <a:ext uri="{FF2B5EF4-FFF2-40B4-BE49-F238E27FC236}">
                <a16:creationId xmlns:a16="http://schemas.microsoft.com/office/drawing/2014/main" id="{FFC49AEA-2A8F-250C-A86A-A7751D9706C3}"/>
              </a:ext>
            </a:extLst>
          </p:cNvPr>
          <p:cNvSpPr txBox="1"/>
          <p:nvPr/>
        </p:nvSpPr>
        <p:spPr>
          <a:xfrm>
            <a:off x="6074873" y="431865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46" name="TextBox 245">
            <a:extLst>
              <a:ext uri="{FF2B5EF4-FFF2-40B4-BE49-F238E27FC236}">
                <a16:creationId xmlns:a16="http://schemas.microsoft.com/office/drawing/2014/main" id="{FFC49AEA-2A8F-250C-A86A-A7751D9706C3}"/>
              </a:ext>
            </a:extLst>
          </p:cNvPr>
          <p:cNvSpPr txBox="1"/>
          <p:nvPr/>
        </p:nvSpPr>
        <p:spPr>
          <a:xfrm>
            <a:off x="3940311" y="4581740"/>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「모범납세자관리규정</a:t>
            </a:r>
            <a:r>
              <a:rPr lang="en-US" altLang="ko-KR" dirty="0"/>
              <a:t>(</a:t>
            </a:r>
            <a:r>
              <a:rPr lang="ko-KR" altLang="en-US" dirty="0" err="1"/>
              <a:t>국세청훈령</a:t>
            </a:r>
            <a:r>
              <a:rPr lang="en-US" altLang="ko-KR" dirty="0"/>
              <a:t>)</a:t>
            </a:r>
            <a:r>
              <a:rPr lang="ko-KR" altLang="en-US" dirty="0"/>
              <a:t>」제</a:t>
            </a:r>
            <a:r>
              <a:rPr lang="en-US" altLang="ko-KR" dirty="0"/>
              <a:t>5</a:t>
            </a:r>
            <a:r>
              <a:rPr lang="ko-KR" altLang="en-US" dirty="0"/>
              <a:t>조제</a:t>
            </a:r>
            <a:r>
              <a:rPr lang="en-US" altLang="ko-KR" dirty="0"/>
              <a:t>3</a:t>
            </a:r>
            <a:r>
              <a:rPr lang="ko-KR" altLang="en-US" dirty="0" err="1"/>
              <a:t>호제</a:t>
            </a:r>
            <a:r>
              <a:rPr lang="en-US" altLang="ko-KR" dirty="0"/>
              <a:t>1</a:t>
            </a:r>
            <a:r>
              <a:rPr lang="ko-KR" altLang="en-US" dirty="0"/>
              <a:t>항에 따른 모범납세자</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6410927" y="46356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7" name="타원 116">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04343178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194</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061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 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mnftrAbltExmgrdScr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r h="0">
                <a:tc>
                  <a:txBody>
                    <a:bodyPr/>
                    <a:lstStyle/>
                    <a:p>
                      <a:pPr latinLnBrk="1"/>
                      <a:r>
                        <a:rPr lang="ko-KR" altLang="en-US" sz="800" dirty="0">
                          <a:latin typeface="+mn-ea"/>
                          <a:ea typeface="+mn-ea"/>
                        </a:rPr>
                        <a:t>기술실적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250776"/>
                  </a:ext>
                </a:extLst>
              </a:tr>
              <a:tr h="0">
                <a:tc>
                  <a:txBody>
                    <a:bodyPr/>
                    <a:lstStyle/>
                    <a:p>
                      <a:pPr latinLnBrk="1"/>
                      <a:r>
                        <a:rPr lang="ko-KR" altLang="en-US" sz="800" dirty="0">
                          <a:latin typeface="+mn-ea"/>
                          <a:ea typeface="+mn-ea"/>
                        </a:rPr>
                        <a:t>경영상태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8937816"/>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3235382"/>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납품실적</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3519136"/>
          <a:ext cx="8994883" cy="825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계약목적물과 동등이상 물품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etcExmgrdScr1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계약목적물과 동등이상 물품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계약목적물과 유사 물품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etcExmgrdScr2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계약목적물과 유사 물품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5" name="TextBox 4">
            <a:extLst>
              <a:ext uri="{FF2B5EF4-FFF2-40B4-BE49-F238E27FC236}">
                <a16:creationId xmlns:a16="http://schemas.microsoft.com/office/drawing/2014/main" id="{6D947E84-6084-15F8-26CB-99F0F0FA6507}"/>
              </a:ext>
            </a:extLst>
          </p:cNvPr>
          <p:cNvSpPr txBox="1"/>
          <p:nvPr/>
        </p:nvSpPr>
        <p:spPr>
          <a:xfrm>
            <a:off x="465794" y="4519645"/>
            <a:ext cx="226881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기술능력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ED0EAE2-A020-1A3E-9D07-8A45456FE1AC}"/>
              </a:ext>
            </a:extLst>
          </p:cNvPr>
          <p:cNvGraphicFramePr>
            <a:graphicFrameLocks noGrp="1"/>
          </p:cNvGraphicFramePr>
          <p:nvPr/>
        </p:nvGraphicFramePr>
        <p:xfrm>
          <a:off x="460676" y="4803399"/>
          <a:ext cx="8994883"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 인력 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 인력 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TextBox 8">
            <a:extLst>
              <a:ext uri="{FF2B5EF4-FFF2-40B4-BE49-F238E27FC236}">
                <a16:creationId xmlns:a16="http://schemas.microsoft.com/office/drawing/2014/main" id="{6A94C7A5-4920-2DAD-F345-491E9CFC39F4}"/>
              </a:ext>
            </a:extLst>
          </p:cNvPr>
          <p:cNvSpPr txBox="1"/>
          <p:nvPr/>
        </p:nvSpPr>
        <p:spPr>
          <a:xfrm>
            <a:off x="465794" y="5535884"/>
            <a:ext cx="2268817"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경영상태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442141FB-2714-F2BE-5EF8-E5513AAF340D}"/>
              </a:ext>
            </a:extLst>
          </p:cNvPr>
          <p:cNvGraphicFramePr>
            <a:graphicFrameLocks noGrp="1"/>
          </p:cNvGraphicFramePr>
          <p:nvPr/>
        </p:nvGraphicFramePr>
        <p:xfrm>
          <a:off x="460676" y="5819638"/>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6722966"/>
                  </a:ext>
                </a:extLst>
              </a:tr>
            </a:tbl>
          </a:graphicData>
        </a:graphic>
      </p:graphicFrame>
      <p:sp>
        <p:nvSpPr>
          <p:cNvPr id="12" name="TextBox 11">
            <a:extLst>
              <a:ext uri="{FF2B5EF4-FFF2-40B4-BE49-F238E27FC236}">
                <a16:creationId xmlns:a16="http://schemas.microsoft.com/office/drawing/2014/main" id="{6557AFCF-AAE9-EBCD-10AB-872B47199BD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13" name="Text Box 73">
            <a:extLst>
              <a:ext uri="{FF2B5EF4-FFF2-40B4-BE49-F238E27FC236}">
                <a16:creationId xmlns:a16="http://schemas.microsoft.com/office/drawing/2014/main" id="{5DC6C708-EC77-3074-2A82-11DA3D8CA6D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74531108"/>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195</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입찰가격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805603"/>
                  </a:ext>
                </a:extLst>
              </a:tr>
            </a:tbl>
          </a:graphicData>
        </a:graphic>
      </p:graphicFrame>
      <p:sp>
        <p:nvSpPr>
          <p:cNvPr id="12" name="TextBox 11">
            <a:extLst>
              <a:ext uri="{FF2B5EF4-FFF2-40B4-BE49-F238E27FC236}">
                <a16:creationId xmlns:a16="http://schemas.microsoft.com/office/drawing/2014/main" id="{322DF05B-6D0C-3FA4-2092-E4209AB31AA4}"/>
              </a:ext>
            </a:extLst>
          </p:cNvPr>
          <p:cNvSpPr txBox="1"/>
          <p:nvPr/>
        </p:nvSpPr>
        <p:spPr>
          <a:xfrm>
            <a:off x="460676" y="2162118"/>
            <a:ext cx="2539725"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물품 품질정도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DF8D73E-3442-E04C-7824-D8896B9FBE6E}"/>
              </a:ext>
            </a:extLst>
          </p:cNvPr>
          <p:cNvGraphicFramePr>
            <a:graphicFrameLocks noGrp="1"/>
          </p:cNvGraphicFramePr>
          <p:nvPr/>
        </p:nvGraphicFramePr>
        <p:xfrm>
          <a:off x="455558" y="2445872"/>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기술보유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환경관리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환경관리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6667907"/>
                  </a:ext>
                </a:extLst>
              </a:tr>
            </a:tbl>
          </a:graphicData>
        </a:graphic>
      </p:graphicFrame>
      <p:sp>
        <p:nvSpPr>
          <p:cNvPr id="17" name="TextBox 16">
            <a:extLst>
              <a:ext uri="{FF2B5EF4-FFF2-40B4-BE49-F238E27FC236}">
                <a16:creationId xmlns:a16="http://schemas.microsoft.com/office/drawing/2014/main" id="{B02A9D14-C2EA-FF08-7FA2-7489FB32FDFD}"/>
              </a:ext>
            </a:extLst>
          </p:cNvPr>
          <p:cNvSpPr txBox="1"/>
          <p:nvPr/>
        </p:nvSpPr>
        <p:spPr>
          <a:xfrm>
            <a:off x="458117" y="3461657"/>
            <a:ext cx="2655141"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계약이행 성실도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8" name="표 17">
            <a:extLst>
              <a:ext uri="{FF2B5EF4-FFF2-40B4-BE49-F238E27FC236}">
                <a16:creationId xmlns:a16="http://schemas.microsoft.com/office/drawing/2014/main" id="{D72DC22B-D4B7-0E04-30F6-7FA61CC84278}"/>
              </a:ext>
            </a:extLst>
          </p:cNvPr>
          <p:cNvGraphicFramePr>
            <a:graphicFrameLocks noGrp="1"/>
          </p:cNvGraphicFramePr>
          <p:nvPr/>
        </p:nvGraphicFramePr>
        <p:xfrm>
          <a:off x="452999" y="3745411"/>
          <a:ext cx="8994883" cy="897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품질하자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품질하자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부정당업자제재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lbmgtCultrExmgrdScr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부정당업자제재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6667907"/>
                  </a:ext>
                </a:extLst>
              </a:tr>
            </a:tbl>
          </a:graphicData>
        </a:graphic>
      </p:graphicFrame>
      <p:sp>
        <p:nvSpPr>
          <p:cNvPr id="20" name="TextBox 19">
            <a:extLst>
              <a:ext uri="{FF2B5EF4-FFF2-40B4-BE49-F238E27FC236}">
                <a16:creationId xmlns:a16="http://schemas.microsoft.com/office/drawing/2014/main" id="{3A5C2B46-FFF1-DC07-4596-2DA38FF0A806}"/>
              </a:ext>
            </a:extLst>
          </p:cNvPr>
          <p:cNvSpPr txBox="1"/>
          <p:nvPr/>
        </p:nvSpPr>
        <p:spPr>
          <a:xfrm>
            <a:off x="458117" y="4887796"/>
            <a:ext cx="2037985" cy="211203"/>
          </a:xfrm>
          <a:prstGeom prst="rect">
            <a:avLst/>
          </a:prstGeom>
          <a:noFill/>
        </p:spPr>
        <p:txBody>
          <a:bodyPr wrap="none" lIns="36000" tIns="36000" rIns="36000" bIns="36000" rtlCol="0">
            <a:spAutoFit/>
          </a:bodyPr>
          <a:lstStyle/>
          <a:p>
            <a:r>
              <a:rPr lang="en-US" altLang="ko-KR" sz="900" b="1" dirty="0">
                <a:solidFill>
                  <a:prstClr val="black"/>
                </a:solidFill>
              </a:rPr>
              <a:t>1.8. </a:t>
            </a:r>
            <a:r>
              <a:rPr lang="ko-KR" altLang="en-US" sz="900" b="1" dirty="0">
                <a:solidFill>
                  <a:prstClr val="black"/>
                </a:solidFill>
              </a:rPr>
              <a:t>기타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3" name="표 22">
            <a:extLst>
              <a:ext uri="{FF2B5EF4-FFF2-40B4-BE49-F238E27FC236}">
                <a16:creationId xmlns:a16="http://schemas.microsoft.com/office/drawing/2014/main" id="{C9FEB825-B51F-CFF0-2B10-DD4828DDDCB8}"/>
              </a:ext>
            </a:extLst>
          </p:cNvPr>
          <p:cNvGraphicFramePr>
            <a:graphicFrameLocks noGrp="1"/>
          </p:cNvGraphicFramePr>
          <p:nvPr/>
        </p:nvGraphicFramePr>
        <p:xfrm>
          <a:off x="452999" y="5171550"/>
          <a:ext cx="8994883" cy="1213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혁신형중소기업</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혁신형중소기업</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노사협력우수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노사협력우수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비상대비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비상대비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6667907"/>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69068027"/>
                  </a:ext>
                </a:extLst>
              </a:tr>
            </a:tbl>
          </a:graphicData>
        </a:graphic>
      </p:graphicFrame>
      <p:sp>
        <p:nvSpPr>
          <p:cNvPr id="2" name="TextBox 1">
            <a:extLst>
              <a:ext uri="{FF2B5EF4-FFF2-40B4-BE49-F238E27FC236}">
                <a16:creationId xmlns:a16="http://schemas.microsoft.com/office/drawing/2014/main" id="{2A045708-CF5E-3F15-AF31-23E5CE637994}"/>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66A28C04-B3F7-445B-9DC2-37049B8D762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99847362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196</a:t>
            </a:fld>
            <a:endParaRPr lang="ko-KR" altLang="en-US" dirty="0"/>
          </a:p>
        </p:txBody>
      </p:sp>
      <p:sp>
        <p:nvSpPr>
          <p:cNvPr id="2" name="TextBox 1">
            <a:extLst>
              <a:ext uri="{FF2B5EF4-FFF2-40B4-BE49-F238E27FC236}">
                <a16:creationId xmlns:a16="http://schemas.microsoft.com/office/drawing/2014/main" id="{8963E566-325E-902C-857A-3863F791906F}"/>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98CD88C9-3621-9A2B-944C-4577223A9D59}"/>
              </a:ext>
            </a:extLst>
          </p:cNvPr>
          <p:cNvGraphicFramePr>
            <a:graphicFrameLocks noGrp="1"/>
          </p:cNvGraphicFramePr>
          <p:nvPr/>
        </p:nvGraphicFramePr>
        <p:xfrm>
          <a:off x="452291" y="1014316"/>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목록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scwin.btn_list_onclick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개찰목록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(UI-BD-08-M01)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개찰목록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5" name="Text Box 73">
            <a:extLst>
              <a:ext uri="{FF2B5EF4-FFF2-40B4-BE49-F238E27FC236}">
                <a16:creationId xmlns:a16="http://schemas.microsoft.com/office/drawing/2014/main" id="{77E3BE83-3C18-D876-889D-C968FF0B286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741067972"/>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197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억원미만물품구매일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MUI-BD-10-M09</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신용평가등급에 의한 평가</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가</a:t>
            </a:r>
            <a:r>
              <a:rPr lang="en-US" altLang="ko-KR" dirty="0"/>
              <a:t>)</a:t>
            </a:r>
            <a:r>
              <a:rPr lang="ko-KR" altLang="en-US" dirty="0" err="1"/>
              <a:t>당해물품</a:t>
            </a:r>
            <a:r>
              <a:rPr lang="ko-KR" altLang="en-US" dirty="0"/>
              <a:t> </a:t>
            </a:r>
            <a:r>
              <a:rPr lang="ko-KR" altLang="en-US" dirty="0" err="1"/>
              <a:t>납품이행</a:t>
            </a:r>
            <a:r>
              <a:rPr lang="ko-KR" altLang="en-US" dirty="0"/>
              <a:t> 능력</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재무상태</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59" name="직사각형 158"/>
          <p:cNvSpPr/>
          <p:nvPr/>
        </p:nvSpPr>
        <p:spPr>
          <a:xfrm>
            <a:off x="3828979" y="1979872"/>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16042" y="1979873"/>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5644084" y="1979873"/>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70</a:t>
            </a:r>
          </a:p>
        </p:txBody>
      </p:sp>
      <p:grpSp>
        <p:nvGrpSpPr>
          <p:cNvPr id="162" name="그룹 161"/>
          <p:cNvGrpSpPr/>
          <p:nvPr/>
        </p:nvGrpSpPr>
        <p:grpSpPr>
          <a:xfrm>
            <a:off x="3826887" y="1979873"/>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3887858" y="1492521"/>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나</a:t>
            </a:r>
            <a:r>
              <a:rPr lang="en-US" altLang="ko-KR" dirty="0"/>
              <a:t>)</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3887858" y="169275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064390" y="1979873"/>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887857" y="2483011"/>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평정산식참조</a:t>
            </a:r>
          </a:p>
        </p:txBody>
      </p:sp>
      <p:sp>
        <p:nvSpPr>
          <p:cNvPr id="264" name="직사각형 263"/>
          <p:cNvSpPr/>
          <p:nvPr/>
        </p:nvSpPr>
        <p:spPr>
          <a:xfrm>
            <a:off x="3823602" y="3297967"/>
            <a:ext cx="1639886" cy="52383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3910665" y="3297968"/>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66" name="TextBox 265">
            <a:extLst>
              <a:ext uri="{FF2B5EF4-FFF2-40B4-BE49-F238E27FC236}">
                <a16:creationId xmlns:a16="http://schemas.microsoft.com/office/drawing/2014/main" id="{FFC49AEA-2A8F-250C-A86A-A7751D9706C3}"/>
              </a:ext>
            </a:extLst>
          </p:cNvPr>
          <p:cNvSpPr txBox="1"/>
          <p:nvPr/>
        </p:nvSpPr>
        <p:spPr>
          <a:xfrm>
            <a:off x="5638707" y="32979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1510" y="32979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3603" y="35127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23603" y="38313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3882481" y="2810616"/>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다</a:t>
            </a:r>
            <a:r>
              <a:rPr lang="en-US" altLang="ko-KR" dirty="0"/>
              <a:t>)</a:t>
            </a:r>
            <a:r>
              <a:rPr lang="ko-KR" altLang="en-US" dirty="0"/>
              <a:t>신인도</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3882481" y="301085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계약이행 성실도</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6059077" y="32979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99" name="직선 연결선 298">
            <a:extLst>
              <a:ext uri="{FF2B5EF4-FFF2-40B4-BE49-F238E27FC236}">
                <a16:creationId xmlns:a16="http://schemas.microsoft.com/office/drawing/2014/main" id="{E9293055-D5CD-4B9E-7F64-64B2D2CA7A52}"/>
              </a:ext>
            </a:extLst>
          </p:cNvPr>
          <p:cNvCxnSpPr/>
          <p:nvPr/>
        </p:nvCxnSpPr>
        <p:spPr>
          <a:xfrm>
            <a:off x="3828979" y="2762513"/>
            <a:ext cx="262262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0" name="TextBox 299">
            <a:extLst>
              <a:ext uri="{FF2B5EF4-FFF2-40B4-BE49-F238E27FC236}">
                <a16:creationId xmlns:a16="http://schemas.microsoft.com/office/drawing/2014/main" id="{FFC49AEA-2A8F-250C-A86A-A7751D9706C3}"/>
              </a:ext>
            </a:extLst>
          </p:cNvPr>
          <p:cNvSpPr txBox="1"/>
          <p:nvPr/>
        </p:nvSpPr>
        <p:spPr>
          <a:xfrm>
            <a:off x="3910665" y="3565063"/>
            <a:ext cx="1480199" cy="21544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하자발생</a:t>
            </a:r>
            <a:br>
              <a:rPr lang="ko-KR" altLang="en-US" sz="700" dirty="0">
                <a:latin typeface="+mn-ea"/>
              </a:rPr>
            </a:br>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301" name="TextBox 300">
            <a:extLst>
              <a:ext uri="{FF2B5EF4-FFF2-40B4-BE49-F238E27FC236}">
                <a16:creationId xmlns:a16="http://schemas.microsoft.com/office/drawing/2014/main" id="{FFC49AEA-2A8F-250C-A86A-A7751D9706C3}"/>
              </a:ext>
            </a:extLst>
          </p:cNvPr>
          <p:cNvSpPr txBox="1"/>
          <p:nvPr/>
        </p:nvSpPr>
        <p:spPr>
          <a:xfrm>
            <a:off x="5374211" y="3618924"/>
            <a:ext cx="444032" cy="107722"/>
          </a:xfrm>
          <a:prstGeom prst="rect">
            <a:avLst/>
          </a:prstGeom>
          <a:noFill/>
        </p:spPr>
        <p:txBody>
          <a:bodyPr wrap="none" lIns="0" tIns="0" rIns="0" bIns="0" rtlCol="0">
            <a:spAutoFit/>
          </a:bodyPr>
          <a:lstStyle/>
          <a:p>
            <a:pPr algn="r"/>
            <a:r>
              <a:rPr lang="en-US" altLang="ko-KR" sz="700" dirty="0">
                <a:latin typeface="+mn-ea"/>
              </a:rPr>
              <a:t>+1.15 ~ -3</a:t>
            </a:r>
          </a:p>
        </p:txBody>
      </p:sp>
      <p:sp>
        <p:nvSpPr>
          <p:cNvPr id="302" name="TextBox 301">
            <a:extLst>
              <a:ext uri="{FF2B5EF4-FFF2-40B4-BE49-F238E27FC236}">
                <a16:creationId xmlns:a16="http://schemas.microsoft.com/office/drawing/2014/main" id="{FFC49AEA-2A8F-250C-A86A-A7751D9706C3}"/>
              </a:ext>
            </a:extLst>
          </p:cNvPr>
          <p:cNvSpPr txBox="1"/>
          <p:nvPr/>
        </p:nvSpPr>
        <p:spPr>
          <a:xfrm>
            <a:off x="6381281" y="36189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3" name="직사각형 302"/>
          <p:cNvSpPr/>
          <p:nvPr/>
        </p:nvSpPr>
        <p:spPr>
          <a:xfrm>
            <a:off x="3823602" y="4282185"/>
            <a:ext cx="1639886" cy="106327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3910665" y="4282186"/>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5638707" y="428218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21510" y="428218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23603" y="44969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23603" y="53478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3882481" y="399507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기타</a:t>
            </a:r>
          </a:p>
        </p:txBody>
      </p:sp>
      <p:sp>
        <p:nvSpPr>
          <p:cNvPr id="310" name="TextBox 309">
            <a:extLst>
              <a:ext uri="{FF2B5EF4-FFF2-40B4-BE49-F238E27FC236}">
                <a16:creationId xmlns:a16="http://schemas.microsoft.com/office/drawing/2014/main" id="{FFC49AEA-2A8F-250C-A86A-A7751D9706C3}"/>
              </a:ext>
            </a:extLst>
          </p:cNvPr>
          <p:cNvSpPr txBox="1"/>
          <p:nvPr/>
        </p:nvSpPr>
        <p:spPr>
          <a:xfrm>
            <a:off x="6059077" y="428218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3910665" y="4549281"/>
            <a:ext cx="1480199" cy="754053"/>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성실납세여부</a:t>
            </a:r>
            <a:br>
              <a:rPr lang="ko-KR" altLang="en-US" sz="700" dirty="0">
                <a:latin typeface="+mn-ea"/>
              </a:rPr>
            </a:br>
            <a:r>
              <a:rPr lang="en-US" altLang="ko-KR" sz="700" dirty="0">
                <a:latin typeface="+mn-ea"/>
              </a:rPr>
              <a:t>2.</a:t>
            </a:r>
            <a:r>
              <a:rPr lang="ko-KR" altLang="en-US" sz="700" dirty="0">
                <a:latin typeface="+mn-ea"/>
              </a:rPr>
              <a:t>중점관대상여부</a:t>
            </a:r>
            <a:br>
              <a:rPr lang="ko-KR" altLang="en-US" sz="700" dirty="0">
                <a:latin typeface="+mn-ea"/>
              </a:rPr>
            </a:br>
            <a:r>
              <a:rPr lang="en-US" altLang="ko-KR" sz="700" dirty="0">
                <a:latin typeface="+mn-ea"/>
              </a:rPr>
              <a:t>4.</a:t>
            </a:r>
            <a:r>
              <a:rPr lang="ko-KR" altLang="en-US" sz="700" dirty="0">
                <a:latin typeface="+mn-ea"/>
              </a:rPr>
              <a:t>비상대비 </a:t>
            </a:r>
            <a:r>
              <a:rPr lang="ko-KR" altLang="en-US" sz="700" dirty="0" err="1">
                <a:latin typeface="+mn-ea"/>
              </a:rPr>
              <a:t>중점관대상</a:t>
            </a:r>
            <a:r>
              <a:rPr lang="ko-KR" altLang="en-US" sz="700" dirty="0">
                <a:latin typeface="+mn-ea"/>
              </a:rPr>
              <a:t/>
            </a:r>
            <a:br>
              <a:rPr lang="ko-KR" altLang="en-US" sz="700" dirty="0">
                <a:latin typeface="+mn-ea"/>
              </a:rPr>
            </a:br>
            <a:r>
              <a:rPr lang="en-US" altLang="ko-KR" sz="700" dirty="0">
                <a:latin typeface="+mn-ea"/>
              </a:rPr>
              <a:t>5.</a:t>
            </a:r>
            <a:r>
              <a:rPr lang="ko-KR" altLang="en-US" sz="700" dirty="0">
                <a:latin typeface="+mn-ea"/>
              </a:rPr>
              <a:t>가족친화 사회환경 조성 여부</a:t>
            </a:r>
            <a:br>
              <a:rPr lang="ko-KR" altLang="en-US" sz="700" dirty="0">
                <a:latin typeface="+mn-ea"/>
              </a:rPr>
            </a:br>
            <a:r>
              <a:rPr lang="en-US" altLang="ko-KR" sz="700" dirty="0">
                <a:latin typeface="+mn-ea"/>
              </a:rPr>
              <a:t>6.</a:t>
            </a:r>
            <a:r>
              <a:rPr lang="ko-KR" altLang="en-US" sz="700" dirty="0">
                <a:latin typeface="+mn-ea"/>
              </a:rPr>
              <a:t>고용창출 </a:t>
            </a:r>
            <a:r>
              <a:rPr lang="en-US" altLang="ko-KR" sz="700" dirty="0">
                <a:latin typeface="+mn-ea"/>
              </a:rPr>
              <a:t>100</a:t>
            </a:r>
            <a:r>
              <a:rPr lang="ko-KR" altLang="en-US" sz="700" dirty="0">
                <a:latin typeface="+mn-ea"/>
              </a:rPr>
              <a:t>대 우수기업여부</a:t>
            </a:r>
            <a:br>
              <a:rPr lang="ko-KR" altLang="en-US" sz="700" dirty="0">
                <a:latin typeface="+mn-ea"/>
              </a:rPr>
            </a:br>
            <a:r>
              <a:rPr lang="en-US" altLang="ko-KR" sz="700" dirty="0">
                <a:latin typeface="+mn-ea"/>
              </a:rPr>
              <a:t>7.</a:t>
            </a:r>
            <a:r>
              <a:rPr lang="ko-KR" altLang="en-US" sz="700" dirty="0">
                <a:latin typeface="+mn-ea"/>
              </a:rPr>
              <a:t>장애인고용 </a:t>
            </a:r>
            <a:r>
              <a:rPr lang="ko-KR" altLang="en-US" sz="700" dirty="0" err="1">
                <a:latin typeface="+mn-ea"/>
              </a:rPr>
              <a:t>우수사업주</a:t>
            </a:r>
            <a:r>
              <a:rPr lang="ko-KR" altLang="en-US" sz="700" dirty="0">
                <a:latin typeface="+mn-ea"/>
              </a:rPr>
              <a:t> 또는 장애인표준사업장 여부</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5492833" y="4872446"/>
            <a:ext cx="325410" cy="107722"/>
          </a:xfrm>
          <a:prstGeom prst="rect">
            <a:avLst/>
          </a:prstGeom>
          <a:noFill/>
        </p:spPr>
        <p:txBody>
          <a:bodyPr wrap="none" lIns="0" tIns="0" rIns="0" bIns="0" rtlCol="0">
            <a:spAutoFit/>
          </a:bodyPr>
          <a:lstStyle/>
          <a:p>
            <a:pPr algn="r"/>
            <a:r>
              <a:rPr lang="en-US" altLang="ko-KR" sz="700" dirty="0">
                <a:latin typeface="+mn-ea"/>
              </a:rPr>
              <a:t>+3 ~ -5</a:t>
            </a:r>
            <a:endParaRPr lang="ko-KR" altLang="en-US"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6381281" y="487244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49458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3" name="그룹 2"/>
          <p:cNvGrpSpPr/>
          <p:nvPr/>
        </p:nvGrpSpPr>
        <p:grpSpPr>
          <a:xfrm>
            <a:off x="3795734" y="5423522"/>
            <a:ext cx="2712027" cy="372724"/>
            <a:chOff x="676741" y="3122128"/>
            <a:chExt cx="2712027" cy="372724"/>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676741" y="34948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4" name="TextBox 173">
              <a:extLst>
                <a:ext uri="{FF2B5EF4-FFF2-40B4-BE49-F238E27FC236}">
                  <a16:creationId xmlns:a16="http://schemas.microsoft.com/office/drawing/2014/main" id="{FFC49AEA-2A8F-250C-A86A-A7751D9706C3}"/>
                </a:ext>
              </a:extLst>
            </p:cNvPr>
            <p:cNvSpPr txBox="1"/>
            <p:nvPr/>
          </p:nvSpPr>
          <p:spPr>
            <a:xfrm>
              <a:off x="763487" y="3122128"/>
              <a:ext cx="2456097" cy="323165"/>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신인도 배점은 </a:t>
              </a:r>
              <a:r>
                <a:rPr lang="en-US" altLang="ko-KR" sz="700" dirty="0">
                  <a:latin typeface="+mn-ea"/>
                </a:rPr>
                <a:t>1~2</a:t>
              </a:r>
              <a:r>
                <a:rPr lang="ko-KR" altLang="en-US" sz="700" dirty="0">
                  <a:latin typeface="+mn-ea"/>
                </a:rPr>
                <a:t>번 항을 합하여</a:t>
              </a:r>
              <a:endParaRPr lang="en-US" altLang="ko-KR" sz="700" dirty="0">
                <a:latin typeface="+mn-ea"/>
              </a:endParaRPr>
            </a:p>
            <a:p>
              <a:pPr algn="ctr" defTabSz="1013612">
                <a:defRPr/>
              </a:pPr>
              <a:r>
                <a:rPr lang="en-US" altLang="ko-KR" sz="700" dirty="0">
                  <a:latin typeface="+mn-ea"/>
                </a:rPr>
                <a:t>+3 ~ -5</a:t>
              </a:r>
              <a:r>
                <a:rPr lang="ko-KR" altLang="en-US" sz="700" dirty="0">
                  <a:latin typeface="+mn-ea"/>
                </a:rPr>
                <a:t>의 사이 값이 </a:t>
              </a:r>
              <a:r>
                <a:rPr lang="ko-KR" altLang="en-US" sz="700" dirty="0" err="1">
                  <a:latin typeface="+mn-ea"/>
                </a:rPr>
                <a:t>배점됩니다</a:t>
              </a:r>
              <a:r>
                <a:rPr lang="en-US" altLang="ko-KR" sz="700" dirty="0">
                  <a:latin typeface="+mn-ea"/>
                </a:rPr>
                <a:t>.</a:t>
              </a:r>
              <a:endParaRPr lang="ko-KR" altLang="en-US" sz="700" dirty="0">
                <a:latin typeface="+mn-ea"/>
              </a:endParaRPr>
            </a:p>
          </p:txBody>
        </p:sp>
      </p:grpSp>
      <p:sp>
        <p:nvSpPr>
          <p:cNvPr id="98" name="타원 9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623352277"/>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198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억원미만물품구매일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MUI-BD-10-M09</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3" name="직사각형 172"/>
          <p:cNvSpPr/>
          <p:nvPr/>
        </p:nvSpPr>
        <p:spPr>
          <a:xfrm>
            <a:off x="704608" y="2015347"/>
            <a:ext cx="1639886" cy="87452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791671" y="2015348"/>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19713" y="201534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701911" y="20153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4004" y="22300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4004" y="28898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763487" y="152799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라</a:t>
            </a:r>
            <a:r>
              <a:rPr lang="en-US" altLang="ko-KR" dirty="0"/>
              <a:t>)</a:t>
            </a:r>
            <a:r>
              <a:rPr lang="ko-KR" altLang="en-US" dirty="0"/>
              <a:t>결격사유</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763487" y="172823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a:t>
            </a:r>
            <a:r>
              <a:rPr lang="ko-KR" altLang="en-US" sz="700" dirty="0" err="1">
                <a:latin typeface="+mn-ea"/>
              </a:rPr>
              <a:t>납품이행</a:t>
            </a:r>
            <a:r>
              <a:rPr lang="ko-KR" altLang="en-US" sz="700" dirty="0">
                <a:latin typeface="+mn-ea"/>
              </a:rPr>
              <a:t> 능력 결격 여부</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940083" y="201534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6740" y="29628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5521" y="2290674"/>
            <a:ext cx="1480199" cy="538609"/>
          </a:xfrm>
          <a:prstGeom prst="rect">
            <a:avLst/>
          </a:prstGeom>
          <a:noFill/>
        </p:spPr>
        <p:txBody>
          <a:bodyPr wrap="square" lIns="0" tIns="0" rIns="0" bIns="0" rtlCol="0">
            <a:spAutoFit/>
          </a:bodyPr>
          <a:lstStyle/>
          <a:p>
            <a:r>
              <a:rPr lang="ko-KR" altLang="en-US" sz="700" dirty="0">
                <a:latin typeface="+mn-ea"/>
              </a:rPr>
              <a:t>현재 부도상태에 있거나</a:t>
            </a:r>
            <a:r>
              <a:rPr lang="en-US" altLang="ko-KR" sz="700" dirty="0">
                <a:latin typeface="+mn-ea"/>
              </a:rPr>
              <a:t>, </a:t>
            </a:r>
            <a:r>
              <a:rPr lang="ko-KR" altLang="en-US" sz="700" dirty="0">
                <a:latin typeface="+mn-ea"/>
              </a:rPr>
              <a:t>부도 또는 </a:t>
            </a:r>
            <a:r>
              <a:rPr lang="ko-KR" altLang="en-US" sz="700" dirty="0" err="1">
                <a:latin typeface="+mn-ea"/>
              </a:rPr>
              <a:t>파산우려가</a:t>
            </a:r>
            <a:r>
              <a:rPr lang="ko-KR" altLang="en-US" sz="700" dirty="0">
                <a:latin typeface="+mn-ea"/>
              </a:rPr>
              <a:t> 있어 당해계약이행이 어렵다고 판단되는 경우</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판정을 받은 경우는 제외</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2576843" y="2506117"/>
            <a:ext cx="13625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endParaRPr lang="ko-KR" altLang="en-US" dirty="0"/>
          </a:p>
        </p:txBody>
      </p:sp>
      <p:sp>
        <p:nvSpPr>
          <p:cNvPr id="187" name="TextBox 186">
            <a:extLst>
              <a:ext uri="{FF2B5EF4-FFF2-40B4-BE49-F238E27FC236}">
                <a16:creationId xmlns:a16="http://schemas.microsoft.com/office/drawing/2014/main" id="{FFC49AEA-2A8F-250C-A86A-A7751D9706C3}"/>
              </a:ext>
            </a:extLst>
          </p:cNvPr>
          <p:cNvSpPr txBox="1"/>
          <p:nvPr/>
        </p:nvSpPr>
        <p:spPr>
          <a:xfrm>
            <a:off x="3276137" y="250611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3" name="그룹 2"/>
          <p:cNvGrpSpPr/>
          <p:nvPr/>
        </p:nvGrpSpPr>
        <p:grpSpPr>
          <a:xfrm>
            <a:off x="675399" y="3006457"/>
            <a:ext cx="2713369" cy="3067770"/>
            <a:chOff x="682785" y="3077369"/>
            <a:chExt cx="2713369" cy="3067770"/>
          </a:xfrm>
        </p:grpSpPr>
        <p:sp>
          <p:nvSpPr>
            <p:cNvPr id="208" name="TextBox 207">
              <a:extLst>
                <a:ext uri="{FF2B5EF4-FFF2-40B4-BE49-F238E27FC236}">
                  <a16:creationId xmlns:a16="http://schemas.microsoft.com/office/drawing/2014/main" id="{FFC49AEA-2A8F-250C-A86A-A7751D9706C3}"/>
                </a:ext>
              </a:extLst>
            </p:cNvPr>
            <p:cNvSpPr txBox="1"/>
            <p:nvPr/>
          </p:nvSpPr>
          <p:spPr>
            <a:xfrm>
              <a:off x="770874" y="3077369"/>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가</a:t>
              </a:r>
              <a:r>
                <a:rPr lang="en-US" altLang="ko-KR" sz="700" dirty="0">
                  <a:latin typeface="+mn-ea"/>
                </a:rPr>
                <a:t>) </a:t>
              </a:r>
              <a:r>
                <a:rPr lang="ko-KR" altLang="en-US" sz="700" dirty="0">
                  <a:latin typeface="+mn-ea"/>
                </a:rPr>
                <a:t>재무상태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30</a:t>
              </a:r>
              <a:r>
                <a:rPr lang="ko-KR" altLang="en-US" sz="700" dirty="0">
                  <a:latin typeface="+mn-ea"/>
                </a:rPr>
                <a:t>점</a:t>
              </a:r>
            </a:p>
          </p:txBody>
        </p:sp>
        <p:grpSp>
          <p:nvGrpSpPr>
            <p:cNvPr id="209" name="그룹 208"/>
            <p:cNvGrpSpPr/>
            <p:nvPr/>
          </p:nvGrpSpPr>
          <p:grpSpPr>
            <a:xfrm flipV="1">
              <a:off x="3132961" y="3190700"/>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684127" y="3364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9" name="그룹 88"/>
            <p:cNvGrpSpPr/>
            <p:nvPr/>
          </p:nvGrpSpPr>
          <p:grpSpPr>
            <a:xfrm>
              <a:off x="682785" y="3418417"/>
              <a:ext cx="2712027" cy="708570"/>
              <a:chOff x="675399" y="5469919"/>
              <a:chExt cx="2712027" cy="708570"/>
            </a:xfrm>
          </p:grpSpPr>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617848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2" name="그룹 91"/>
              <p:cNvGrpSpPr/>
              <p:nvPr/>
            </p:nvGrpSpPr>
            <p:grpSpPr>
              <a:xfrm>
                <a:off x="701175" y="5469919"/>
                <a:ext cx="2630093" cy="646331"/>
                <a:chOff x="701175" y="1835481"/>
                <a:chExt cx="2630093" cy="646331"/>
              </a:xfrm>
            </p:grpSpPr>
            <p:sp>
              <p:nvSpPr>
                <p:cNvPr id="95" name="직사각형 94"/>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a:extLst>
                    <a:ext uri="{FF2B5EF4-FFF2-40B4-BE49-F238E27FC236}">
                      <a16:creationId xmlns:a16="http://schemas.microsoft.com/office/drawing/2014/main" id="{FFC49AEA-2A8F-250C-A86A-A7751D9706C3}"/>
                    </a:ext>
                  </a:extLst>
                </p:cNvPr>
                <p:cNvSpPr txBox="1"/>
                <p:nvPr/>
              </p:nvSpPr>
              <p:spPr>
                <a:xfrm>
                  <a:off x="790331" y="1835481"/>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p:txBody>
            </p:sp>
            <p:sp>
              <p:nvSpPr>
                <p:cNvPr id="97" name="TextBox 96">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98" name="그룹 97"/>
                <p:cNvGrpSpPr/>
                <p:nvPr/>
              </p:nvGrpSpPr>
              <p:grpSpPr>
                <a:xfrm>
                  <a:off x="701175" y="1835481"/>
                  <a:ext cx="2630093" cy="644220"/>
                  <a:chOff x="701175" y="1835481"/>
                  <a:chExt cx="2630093" cy="644220"/>
                </a:xfrm>
              </p:grpSpPr>
              <p:cxnSp>
                <p:nvCxnSpPr>
                  <p:cNvPr id="99" name="직선 연결선 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sp>
          <p:nvSpPr>
            <p:cNvPr id="103" name="TextBox 102">
              <a:extLst>
                <a:ext uri="{FF2B5EF4-FFF2-40B4-BE49-F238E27FC236}">
                  <a16:creationId xmlns:a16="http://schemas.microsoft.com/office/drawing/2014/main" id="{FFC49AEA-2A8F-250C-A86A-A7751D9706C3}"/>
                </a:ext>
              </a:extLst>
            </p:cNvPr>
            <p:cNvSpPr txBox="1"/>
            <p:nvPr/>
          </p:nvSpPr>
          <p:spPr>
            <a:xfrm>
              <a:off x="770874" y="4161818"/>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나</a:t>
              </a:r>
              <a:r>
                <a:rPr lang="en-US" altLang="ko-KR" sz="700" dirty="0">
                  <a:latin typeface="+mn-ea"/>
                </a:rPr>
                <a:t>) </a:t>
              </a:r>
              <a:r>
                <a:rPr lang="ko-KR" altLang="en-US" sz="700" dirty="0">
                  <a:latin typeface="+mn-ea"/>
                </a:rPr>
                <a:t>입찰가격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70</a:t>
              </a:r>
              <a:r>
                <a:rPr lang="ko-KR" altLang="en-US" sz="700" dirty="0">
                  <a:latin typeface="+mn-ea"/>
                </a:rPr>
                <a:t>점</a:t>
              </a:r>
            </a:p>
          </p:txBody>
        </p:sp>
        <p:grpSp>
          <p:nvGrpSpPr>
            <p:cNvPr id="104" name="그룹 103"/>
            <p:cNvGrpSpPr/>
            <p:nvPr/>
          </p:nvGrpSpPr>
          <p:grpSpPr>
            <a:xfrm flipV="1">
              <a:off x="3132961" y="4275149"/>
              <a:ext cx="94010" cy="47005"/>
              <a:chOff x="6812560" y="3297172"/>
              <a:chExt cx="94010" cy="47005"/>
            </a:xfrm>
          </p:grpSpPr>
          <p:cxnSp>
            <p:nvCxnSpPr>
              <p:cNvPr id="105" name="직선 연결선 10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6" name="직선 연결선 10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7" name="직선 연결선 106">
              <a:extLst>
                <a:ext uri="{FF2B5EF4-FFF2-40B4-BE49-F238E27FC236}">
                  <a16:creationId xmlns:a16="http://schemas.microsoft.com/office/drawing/2014/main" id="{E9293055-D5CD-4B9E-7F64-64B2D2CA7A52}"/>
                </a:ext>
              </a:extLst>
            </p:cNvPr>
            <p:cNvCxnSpPr/>
            <p:nvPr/>
          </p:nvCxnSpPr>
          <p:spPr>
            <a:xfrm>
              <a:off x="684127" y="44486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684127" y="61451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9" name="그룹 108"/>
            <p:cNvGrpSpPr/>
            <p:nvPr/>
          </p:nvGrpSpPr>
          <p:grpSpPr>
            <a:xfrm>
              <a:off x="725094" y="4512743"/>
              <a:ext cx="2630093" cy="1094598"/>
              <a:chOff x="701175" y="1835480"/>
              <a:chExt cx="2630093" cy="1094598"/>
            </a:xfrm>
          </p:grpSpPr>
          <p:sp>
            <p:nvSpPr>
              <p:cNvPr id="110" name="직사각형 109"/>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70 - | (88/100 – </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 100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113" name="그룹 112"/>
              <p:cNvGrpSpPr/>
              <p:nvPr/>
            </p:nvGrpSpPr>
            <p:grpSpPr>
              <a:xfrm>
                <a:off x="701175" y="1835481"/>
                <a:ext cx="2630093" cy="1094597"/>
                <a:chOff x="701175" y="1835481"/>
                <a:chExt cx="2630093" cy="1094597"/>
              </a:xfrm>
            </p:grpSpPr>
            <p:cxnSp>
              <p:nvCxnSpPr>
                <p:cNvPr id="114" name="직선 연결선 11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20" name="TextBox 119">
              <a:extLst>
                <a:ext uri="{FF2B5EF4-FFF2-40B4-BE49-F238E27FC236}">
                  <a16:creationId xmlns:a16="http://schemas.microsoft.com/office/drawing/2014/main" id="{FFC49AEA-2A8F-250C-A86A-A7751D9706C3}"/>
                </a:ext>
              </a:extLst>
            </p:cNvPr>
            <p:cNvSpPr txBox="1"/>
            <p:nvPr/>
          </p:nvSpPr>
          <p:spPr>
            <a:xfrm>
              <a:off x="812092" y="5724049"/>
              <a:ext cx="2456097" cy="323165"/>
            </a:xfrm>
            <a:prstGeom prst="rect">
              <a:avLst/>
            </a:prstGeom>
            <a:noFill/>
          </p:spPr>
          <p:txBody>
            <a:bodyPr wrap="square" lIns="0" tIns="0" rIns="0" bIns="0" rtlCol="0">
              <a:spAutoFit/>
            </a:bodyPr>
            <a:lstStyle/>
            <a:p>
              <a:pPr lvl="0" algn="ctr" defTabSz="1013612">
                <a:defRPr/>
              </a:pPr>
              <a:r>
                <a:rPr kumimoji="1" lang="ko-KR" altLang="en-US" sz="700" spc="-60" dirty="0">
                  <a:solidFill>
                    <a:srgbClr val="000000">
                      <a:lumMod val="65000"/>
                      <a:lumOff val="35000"/>
                    </a:srgbClr>
                  </a:solidFill>
                  <a:latin typeface="Verdana" panose="020B0604030504040204" pitchFamily="34" charset="0"/>
                </a:rPr>
                <a:t>입찰가격이 예정가격 이하로서</a:t>
              </a:r>
              <a:endParaRPr kumimoji="1" lang="en-US" altLang="ko-KR" sz="700" spc="-60" dirty="0">
                <a:solidFill>
                  <a:srgbClr val="000000">
                    <a:lumMod val="65000"/>
                    <a:lumOff val="35000"/>
                  </a:srgbClr>
                </a:solidFill>
                <a:latin typeface="Verdana" panose="020B0604030504040204" pitchFamily="34" charset="0"/>
              </a:endParaRPr>
            </a:p>
            <a:p>
              <a:pPr lvl="0" algn="ctr" defTabSz="1013612">
                <a:defRPr/>
              </a:pPr>
              <a:r>
                <a:rPr kumimoji="1" lang="ko-KR" altLang="en-US" sz="700" spc="-60" dirty="0">
                  <a:solidFill>
                    <a:srgbClr val="000000">
                      <a:lumMod val="65000"/>
                      <a:lumOff val="35000"/>
                    </a:srgbClr>
                  </a:solidFill>
                  <a:latin typeface="Verdana" panose="020B0604030504040204" pitchFamily="34" charset="0"/>
                </a:rPr>
                <a:t>예정가격의 </a:t>
              </a:r>
              <a:r>
                <a:rPr kumimoji="1" lang="en-US" altLang="ko-KR" sz="700" spc="-60" dirty="0">
                  <a:solidFill>
                    <a:srgbClr val="000000">
                      <a:lumMod val="65000"/>
                      <a:lumOff val="35000"/>
                    </a:srgbClr>
                  </a:solidFill>
                  <a:latin typeface="Verdana" panose="020B0604030504040204" pitchFamily="34" charset="0"/>
                </a:rPr>
                <a:t>100</a:t>
              </a:r>
              <a:r>
                <a:rPr kumimoji="1" lang="ko-KR" altLang="en-US" sz="700" spc="-60" dirty="0">
                  <a:solidFill>
                    <a:srgbClr val="000000">
                      <a:lumMod val="65000"/>
                      <a:lumOff val="35000"/>
                    </a:srgbClr>
                  </a:solidFill>
                  <a:latin typeface="Verdana" panose="020B0604030504040204" pitchFamily="34" charset="0"/>
                </a:rPr>
                <a:t>분의 </a:t>
              </a:r>
              <a:r>
                <a:rPr kumimoji="1" lang="en-US" altLang="ko-KR" sz="700" spc="-60" dirty="0">
                  <a:solidFill>
                    <a:srgbClr val="000000">
                      <a:lumMod val="65000"/>
                      <a:lumOff val="35000"/>
                    </a:srgbClr>
                  </a:solidFill>
                  <a:latin typeface="Verdana" panose="020B0604030504040204" pitchFamily="34" charset="0"/>
                </a:rPr>
                <a:t>93</a:t>
              </a:r>
              <a:r>
                <a:rPr kumimoji="1" lang="ko-KR" altLang="en-US" sz="700" spc="-60" dirty="0">
                  <a:solidFill>
                    <a:srgbClr val="000000">
                      <a:lumMod val="65000"/>
                      <a:lumOff val="35000"/>
                    </a:srgbClr>
                  </a:solidFill>
                  <a:latin typeface="Verdana" panose="020B0604030504040204" pitchFamily="34" charset="0"/>
                </a:rPr>
                <a:t>인 경우 평점은 </a:t>
              </a:r>
              <a:r>
                <a:rPr kumimoji="1" lang="en-US" altLang="ko-KR" sz="700" spc="-60" dirty="0">
                  <a:solidFill>
                    <a:srgbClr val="000000">
                      <a:lumMod val="65000"/>
                      <a:lumOff val="35000"/>
                    </a:srgbClr>
                  </a:solidFill>
                  <a:latin typeface="Verdana" panose="020B0604030504040204" pitchFamily="34" charset="0"/>
                </a:rPr>
                <a:t>65</a:t>
              </a:r>
              <a:r>
                <a:rPr kumimoji="1" lang="ko-KR" altLang="en-US" sz="700" spc="-60" dirty="0">
                  <a:solidFill>
                    <a:srgbClr val="000000">
                      <a:lumMod val="65000"/>
                      <a:lumOff val="35000"/>
                    </a:srgbClr>
                  </a:solidFill>
                  <a:latin typeface="Verdana" panose="020B0604030504040204" pitchFamily="34" charset="0"/>
                </a:rPr>
                <a:t>점</a:t>
              </a:r>
              <a:r>
                <a:rPr kumimoji="1" lang="en-US" altLang="ko-KR" sz="700" spc="-60" dirty="0">
                  <a:solidFill>
                    <a:srgbClr val="000000">
                      <a:lumMod val="65000"/>
                      <a:lumOff val="35000"/>
                    </a:srgbClr>
                  </a:solidFill>
                  <a:latin typeface="Verdana" panose="020B0604030504040204" pitchFamily="34" charset="0"/>
                </a:rPr>
                <a:t/>
              </a:r>
              <a:br>
                <a:rPr kumimoji="1" lang="en-US" altLang="ko-KR" sz="700" spc="-60" dirty="0">
                  <a:solidFill>
                    <a:srgbClr val="000000">
                      <a:lumMod val="65000"/>
                      <a:lumOff val="35000"/>
                    </a:srgbClr>
                  </a:solidFill>
                  <a:latin typeface="Verdana" panose="020B0604030504040204" pitchFamily="34" charset="0"/>
                </a:rPr>
              </a:br>
              <a:r>
                <a:rPr kumimoji="1" lang="ko-KR" altLang="en-US" sz="700" spc="-60" dirty="0" err="1">
                  <a:solidFill>
                    <a:srgbClr val="000000">
                      <a:lumMod val="65000"/>
                      <a:lumOff val="35000"/>
                    </a:srgbClr>
                  </a:solidFill>
                  <a:latin typeface="Verdana" panose="020B0604030504040204" pitchFamily="34" charset="0"/>
                </a:rPr>
                <a:t>최저평점</a:t>
              </a:r>
              <a:r>
                <a:rPr kumimoji="1" lang="ko-KR" altLang="en-US" sz="700" spc="-60" dirty="0">
                  <a:solidFill>
                    <a:srgbClr val="000000">
                      <a:lumMod val="65000"/>
                      <a:lumOff val="35000"/>
                    </a:srgbClr>
                  </a:solidFill>
                  <a:latin typeface="Verdana" panose="020B0604030504040204" pitchFamily="34" charset="0"/>
                </a:rPr>
                <a:t> </a:t>
              </a:r>
              <a:r>
                <a:rPr kumimoji="1" lang="en-US" altLang="ko-KR" sz="700" spc="-60" dirty="0">
                  <a:solidFill>
                    <a:srgbClr val="000000">
                      <a:lumMod val="65000"/>
                      <a:lumOff val="35000"/>
                    </a:srgbClr>
                  </a:solidFill>
                  <a:latin typeface="Verdana" panose="020B0604030504040204" pitchFamily="34" charset="0"/>
                </a:rPr>
                <a:t>: 2</a:t>
              </a:r>
              <a:r>
                <a:rPr kumimoji="1" lang="ko-KR" altLang="en-US" sz="700" spc="-60" dirty="0">
                  <a:solidFill>
                    <a:srgbClr val="000000">
                      <a:lumMod val="65000"/>
                      <a:lumOff val="35000"/>
                    </a:srgbClr>
                  </a:solidFill>
                  <a:latin typeface="Verdana" panose="020B0604030504040204" pitchFamily="34" charset="0"/>
                </a:rPr>
                <a:t>점</a:t>
              </a:r>
            </a:p>
          </p:txBody>
        </p:sp>
      </p:grpSp>
      <p:sp>
        <p:nvSpPr>
          <p:cNvPr id="122" name="TextBox 121">
            <a:extLst>
              <a:ext uri="{FF2B5EF4-FFF2-40B4-BE49-F238E27FC236}">
                <a16:creationId xmlns:a16="http://schemas.microsoft.com/office/drawing/2014/main" id="{FFC49AEA-2A8F-250C-A86A-A7751D9706C3}"/>
              </a:ext>
            </a:extLst>
          </p:cNvPr>
          <p:cNvSpPr txBox="1"/>
          <p:nvPr/>
        </p:nvSpPr>
        <p:spPr>
          <a:xfrm>
            <a:off x="3883823" y="153087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다</a:t>
            </a:r>
            <a:r>
              <a:rPr lang="en-US" altLang="ko-KR" sz="700" dirty="0">
                <a:latin typeface="+mn-ea"/>
              </a:rPr>
              <a:t>) </a:t>
            </a:r>
            <a:r>
              <a:rPr lang="ko-KR" altLang="en-US" sz="700" dirty="0">
                <a:latin typeface="+mn-ea"/>
              </a:rPr>
              <a:t>신인도 </a:t>
            </a:r>
            <a:r>
              <a:rPr lang="ko-KR" altLang="en-US" sz="700" dirty="0" err="1">
                <a:latin typeface="+mn-ea"/>
              </a:rPr>
              <a:t>산출내역</a:t>
            </a:r>
            <a:r>
              <a:rPr lang="ko-KR" altLang="en-US" sz="700" dirty="0">
                <a:latin typeface="+mn-ea"/>
              </a:rPr>
              <a:t>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+1.15 ~ -3</a:t>
            </a:r>
            <a:r>
              <a:rPr lang="ko-KR" altLang="en-US" sz="700" dirty="0">
                <a:latin typeface="+mn-ea"/>
              </a:rPr>
              <a:t>점</a:t>
            </a:r>
          </a:p>
        </p:txBody>
      </p:sp>
      <p:grpSp>
        <p:nvGrpSpPr>
          <p:cNvPr id="123" name="그룹 122"/>
          <p:cNvGrpSpPr/>
          <p:nvPr/>
        </p:nvGrpSpPr>
        <p:grpSpPr>
          <a:xfrm flipV="1">
            <a:off x="6245910" y="164420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6" name="직선 연결선 125">
            <a:extLst>
              <a:ext uri="{FF2B5EF4-FFF2-40B4-BE49-F238E27FC236}">
                <a16:creationId xmlns:a16="http://schemas.microsoft.com/office/drawing/2014/main" id="{E9293055-D5CD-4B9E-7F64-64B2D2CA7A52}"/>
              </a:ext>
            </a:extLst>
          </p:cNvPr>
          <p:cNvCxnSpPr/>
          <p:nvPr/>
        </p:nvCxnSpPr>
        <p:spPr>
          <a:xfrm>
            <a:off x="3797076" y="181768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FFC49AEA-2A8F-250C-A86A-A7751D9706C3}"/>
              </a:ext>
            </a:extLst>
          </p:cNvPr>
          <p:cNvSpPr txBox="1"/>
          <p:nvPr/>
        </p:nvSpPr>
        <p:spPr>
          <a:xfrm>
            <a:off x="3910665" y="1826459"/>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a:t>
            </a:r>
            <a:r>
              <a:rPr lang="ko-KR" altLang="en-US" dirty="0"/>
              <a:t>계약이행 성실도</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3910665" y="202669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9" name="TextBox 128">
            <a:extLst>
              <a:ext uri="{FF2B5EF4-FFF2-40B4-BE49-F238E27FC236}">
                <a16:creationId xmlns:a16="http://schemas.microsoft.com/office/drawing/2014/main" id="{FFC49AEA-2A8F-250C-A86A-A7751D9706C3}"/>
              </a:ext>
            </a:extLst>
          </p:cNvPr>
          <p:cNvSpPr txBox="1"/>
          <p:nvPr/>
        </p:nvSpPr>
        <p:spPr>
          <a:xfrm>
            <a:off x="4435522" y="2099984"/>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하자발생</a:t>
            </a:r>
          </a:p>
        </p:txBody>
      </p:sp>
      <p:sp>
        <p:nvSpPr>
          <p:cNvPr id="130" name="TextBox 129">
            <a:extLst>
              <a:ext uri="{FF2B5EF4-FFF2-40B4-BE49-F238E27FC236}">
                <a16:creationId xmlns:a16="http://schemas.microsoft.com/office/drawing/2014/main" id="{FFC49AEA-2A8F-250C-A86A-A7751D9706C3}"/>
              </a:ext>
            </a:extLst>
          </p:cNvPr>
          <p:cNvSpPr txBox="1"/>
          <p:nvPr/>
        </p:nvSpPr>
        <p:spPr>
          <a:xfrm>
            <a:off x="3910665" y="221047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4435522" y="2283764"/>
            <a:ext cx="2010812" cy="107722"/>
          </a:xfrm>
          <a:prstGeom prst="rect">
            <a:avLst/>
          </a:prstGeom>
          <a:noFill/>
        </p:spPr>
        <p:txBody>
          <a:bodyPr wrap="square" lIns="0" tIns="0" rIns="0" bIns="0" rtlCol="0">
            <a:spAutoFit/>
          </a:bodyPr>
          <a:lstStyle/>
          <a:p>
            <a:r>
              <a:rPr lang="ko-KR" altLang="en-US" sz="700" dirty="0">
                <a:latin typeface="+mn-ea"/>
              </a:rPr>
              <a:t>하자발생 유</a:t>
            </a:r>
            <a:r>
              <a:rPr lang="en-US" altLang="ko-KR" sz="700" dirty="0">
                <a:latin typeface="+mn-ea"/>
              </a:rPr>
              <a:t>/</a:t>
            </a:r>
            <a:r>
              <a:rPr lang="ko-KR" altLang="en-US" sz="700" dirty="0">
                <a:latin typeface="+mn-ea"/>
              </a:rPr>
              <a:t>무</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6036814" y="2283764"/>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33" name="직사각형 132"/>
          <p:cNvSpPr/>
          <p:nvPr/>
        </p:nvSpPr>
        <p:spPr>
          <a:xfrm>
            <a:off x="3835134" y="2444842"/>
            <a:ext cx="1639886" cy="12813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4" name="TextBox 133">
            <a:extLst>
              <a:ext uri="{FF2B5EF4-FFF2-40B4-BE49-F238E27FC236}">
                <a16:creationId xmlns:a16="http://schemas.microsoft.com/office/drawing/2014/main" id="{FFC49AEA-2A8F-250C-A86A-A7751D9706C3}"/>
              </a:ext>
            </a:extLst>
          </p:cNvPr>
          <p:cNvSpPr txBox="1"/>
          <p:nvPr/>
        </p:nvSpPr>
        <p:spPr>
          <a:xfrm>
            <a:off x="3922197" y="244484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35" name="TextBox 134">
            <a:extLst>
              <a:ext uri="{FF2B5EF4-FFF2-40B4-BE49-F238E27FC236}">
                <a16:creationId xmlns:a16="http://schemas.microsoft.com/office/drawing/2014/main" id="{FFC49AEA-2A8F-250C-A86A-A7751D9706C3}"/>
              </a:ext>
            </a:extLst>
          </p:cNvPr>
          <p:cNvSpPr txBox="1"/>
          <p:nvPr/>
        </p:nvSpPr>
        <p:spPr>
          <a:xfrm>
            <a:off x="5650239" y="244484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6" name="직선 연결선 135">
            <a:extLst>
              <a:ext uri="{FF2B5EF4-FFF2-40B4-BE49-F238E27FC236}">
                <a16:creationId xmlns:a16="http://schemas.microsoft.com/office/drawing/2014/main" id="{E9293055-D5CD-4B9E-7F64-64B2D2CA7A52}"/>
              </a:ext>
            </a:extLst>
          </p:cNvPr>
          <p:cNvCxnSpPr/>
          <p:nvPr/>
        </p:nvCxnSpPr>
        <p:spPr>
          <a:xfrm>
            <a:off x="3832437" y="24448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3834530" y="2659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8" name="TextBox 137">
            <a:extLst>
              <a:ext uri="{FF2B5EF4-FFF2-40B4-BE49-F238E27FC236}">
                <a16:creationId xmlns:a16="http://schemas.microsoft.com/office/drawing/2014/main" id="{FFC49AEA-2A8F-250C-A86A-A7751D9706C3}"/>
              </a:ext>
            </a:extLst>
          </p:cNvPr>
          <p:cNvSpPr txBox="1"/>
          <p:nvPr/>
        </p:nvSpPr>
        <p:spPr>
          <a:xfrm>
            <a:off x="6070609" y="244484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9" name="TextBox 138">
            <a:extLst>
              <a:ext uri="{FF2B5EF4-FFF2-40B4-BE49-F238E27FC236}">
                <a16:creationId xmlns:a16="http://schemas.microsoft.com/office/drawing/2014/main" id="{FFC49AEA-2A8F-250C-A86A-A7751D9706C3}"/>
              </a:ext>
            </a:extLst>
          </p:cNvPr>
          <p:cNvSpPr txBox="1"/>
          <p:nvPr/>
        </p:nvSpPr>
        <p:spPr>
          <a:xfrm>
            <a:off x="3936047" y="2704843"/>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0.5% </a:t>
            </a:r>
            <a:r>
              <a:rPr lang="ko-KR" altLang="en-US" dirty="0"/>
              <a:t>이상 하자발생 또는 감액 받은 사실이 있는 자</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5688133" y="2920286"/>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6406663" y="31438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3839385" y="320000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3838794" y="37357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5" name="TextBox 144">
            <a:extLst>
              <a:ext uri="{FF2B5EF4-FFF2-40B4-BE49-F238E27FC236}">
                <a16:creationId xmlns:a16="http://schemas.microsoft.com/office/drawing/2014/main" id="{FFC49AEA-2A8F-250C-A86A-A7751D9706C3}"/>
              </a:ext>
            </a:extLst>
          </p:cNvPr>
          <p:cNvSpPr txBox="1"/>
          <p:nvPr/>
        </p:nvSpPr>
        <p:spPr>
          <a:xfrm>
            <a:off x="3914929" y="37712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4439786" y="3844538"/>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3914929" y="395503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4439786" y="4028318"/>
            <a:ext cx="2010812" cy="107722"/>
          </a:xfrm>
          <a:prstGeom prst="rect">
            <a:avLst/>
          </a:prstGeom>
          <a:noFill/>
        </p:spPr>
        <p:txBody>
          <a:bodyPr wrap="square" lIns="0" tIns="0" rIns="0" bIns="0" rtlCol="0">
            <a:spAutoFit/>
          </a:bodyPr>
          <a:lstStyle/>
          <a:p>
            <a:r>
              <a:rPr lang="ko-KR" altLang="en-US" sz="700" dirty="0">
                <a:latin typeface="+mn-ea"/>
              </a:rPr>
              <a:t>지체상금</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6041078" y="402831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50" name="직사각형 149"/>
          <p:cNvSpPr/>
          <p:nvPr/>
        </p:nvSpPr>
        <p:spPr>
          <a:xfrm>
            <a:off x="3839398" y="4189396"/>
            <a:ext cx="1639886" cy="128172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1" name="TextBox 150">
            <a:extLst>
              <a:ext uri="{FF2B5EF4-FFF2-40B4-BE49-F238E27FC236}">
                <a16:creationId xmlns:a16="http://schemas.microsoft.com/office/drawing/2014/main" id="{FFC49AEA-2A8F-250C-A86A-A7751D9706C3}"/>
              </a:ext>
            </a:extLst>
          </p:cNvPr>
          <p:cNvSpPr txBox="1"/>
          <p:nvPr/>
        </p:nvSpPr>
        <p:spPr>
          <a:xfrm>
            <a:off x="3926461" y="4189397"/>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52" name="TextBox 151">
            <a:extLst>
              <a:ext uri="{FF2B5EF4-FFF2-40B4-BE49-F238E27FC236}">
                <a16:creationId xmlns:a16="http://schemas.microsoft.com/office/drawing/2014/main" id="{FFC49AEA-2A8F-250C-A86A-A7751D9706C3}"/>
              </a:ext>
            </a:extLst>
          </p:cNvPr>
          <p:cNvSpPr txBox="1"/>
          <p:nvPr/>
        </p:nvSpPr>
        <p:spPr>
          <a:xfrm>
            <a:off x="5654503" y="4189397"/>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53" name="직선 연결선 152">
            <a:extLst>
              <a:ext uri="{FF2B5EF4-FFF2-40B4-BE49-F238E27FC236}">
                <a16:creationId xmlns:a16="http://schemas.microsoft.com/office/drawing/2014/main" id="{E9293055-D5CD-4B9E-7F64-64B2D2CA7A52}"/>
              </a:ext>
            </a:extLst>
          </p:cNvPr>
          <p:cNvCxnSpPr/>
          <p:nvPr/>
        </p:nvCxnSpPr>
        <p:spPr>
          <a:xfrm>
            <a:off x="3836701" y="41893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3838794" y="440413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5" name="TextBox 154">
            <a:extLst>
              <a:ext uri="{FF2B5EF4-FFF2-40B4-BE49-F238E27FC236}">
                <a16:creationId xmlns:a16="http://schemas.microsoft.com/office/drawing/2014/main" id="{FFC49AEA-2A8F-250C-A86A-A7751D9706C3}"/>
              </a:ext>
            </a:extLst>
          </p:cNvPr>
          <p:cNvSpPr txBox="1"/>
          <p:nvPr/>
        </p:nvSpPr>
        <p:spPr>
          <a:xfrm>
            <a:off x="6074873" y="418939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6" name="TextBox 155">
            <a:extLst>
              <a:ext uri="{FF2B5EF4-FFF2-40B4-BE49-F238E27FC236}">
                <a16:creationId xmlns:a16="http://schemas.microsoft.com/office/drawing/2014/main" id="{FFC49AEA-2A8F-250C-A86A-A7751D9706C3}"/>
              </a:ext>
            </a:extLst>
          </p:cNvPr>
          <p:cNvSpPr txBox="1"/>
          <p:nvPr/>
        </p:nvSpPr>
        <p:spPr>
          <a:xfrm>
            <a:off x="3940311" y="4461909"/>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0.5% </a:t>
            </a:r>
            <a:r>
              <a:rPr lang="ko-KR" altLang="en-US" dirty="0"/>
              <a:t>이상 하자발생 또는 감액 받은 사실이 있는 자</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5692397" y="4623491"/>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3843649" y="4924736"/>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TextBox 158">
            <a:extLst>
              <a:ext uri="{FF2B5EF4-FFF2-40B4-BE49-F238E27FC236}">
                <a16:creationId xmlns:a16="http://schemas.microsoft.com/office/drawing/2014/main" id="{FFC49AEA-2A8F-250C-A86A-A7751D9706C3}"/>
              </a:ext>
            </a:extLst>
          </p:cNvPr>
          <p:cNvSpPr txBox="1"/>
          <p:nvPr/>
        </p:nvSpPr>
        <p:spPr>
          <a:xfrm>
            <a:off x="3940311" y="4982510"/>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0.1% </a:t>
            </a:r>
            <a:r>
              <a:rPr lang="ko-KR" altLang="en-US" dirty="0"/>
              <a:t>이상 </a:t>
            </a:r>
            <a:r>
              <a:rPr lang="en-US" altLang="ko-KR" dirty="0"/>
              <a:t>0.5% </a:t>
            </a:r>
            <a:r>
              <a:rPr lang="ko-KR" altLang="en-US" dirty="0"/>
              <a:t>미만 하자발생 또는 감액 받은 사실이 있는 자</a:t>
            </a:r>
          </a:p>
        </p:txBody>
      </p:sp>
      <p:sp>
        <p:nvSpPr>
          <p:cNvPr id="160" name="TextBox 159">
            <a:extLst>
              <a:ext uri="{FF2B5EF4-FFF2-40B4-BE49-F238E27FC236}">
                <a16:creationId xmlns:a16="http://schemas.microsoft.com/office/drawing/2014/main" id="{FFC49AEA-2A8F-250C-A86A-A7751D9706C3}"/>
              </a:ext>
            </a:extLst>
          </p:cNvPr>
          <p:cNvSpPr txBox="1"/>
          <p:nvPr/>
        </p:nvSpPr>
        <p:spPr>
          <a:xfrm>
            <a:off x="5642705" y="5144092"/>
            <a:ext cx="205184"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cxnSp>
        <p:nvCxnSpPr>
          <p:cNvPr id="161" name="직선 연결선 160">
            <a:extLst>
              <a:ext uri="{FF2B5EF4-FFF2-40B4-BE49-F238E27FC236}">
                <a16:creationId xmlns:a16="http://schemas.microsoft.com/office/drawing/2014/main" id="{E9293055-D5CD-4B9E-7F64-64B2D2CA7A52}"/>
              </a:ext>
            </a:extLst>
          </p:cNvPr>
          <p:cNvCxnSpPr/>
          <p:nvPr/>
        </p:nvCxnSpPr>
        <p:spPr>
          <a:xfrm>
            <a:off x="3838794" y="54740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2" name="TextBox 161">
            <a:extLst>
              <a:ext uri="{FF2B5EF4-FFF2-40B4-BE49-F238E27FC236}">
                <a16:creationId xmlns:a16="http://schemas.microsoft.com/office/drawing/2014/main" id="{FFC49AEA-2A8F-250C-A86A-A7751D9706C3}"/>
              </a:ext>
            </a:extLst>
          </p:cNvPr>
          <p:cNvSpPr txBox="1"/>
          <p:nvPr/>
        </p:nvSpPr>
        <p:spPr>
          <a:xfrm>
            <a:off x="6410927" y="48852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4" name="TextBox 163">
            <a:extLst>
              <a:ext uri="{FF2B5EF4-FFF2-40B4-BE49-F238E27FC236}">
                <a16:creationId xmlns:a16="http://schemas.microsoft.com/office/drawing/2014/main" id="{FFC49AEA-2A8F-250C-A86A-A7751D9706C3}"/>
              </a:ext>
            </a:extLst>
          </p:cNvPr>
          <p:cNvSpPr txBox="1"/>
          <p:nvPr/>
        </p:nvSpPr>
        <p:spPr>
          <a:xfrm>
            <a:off x="3936047" y="326486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해당 발주기관에 기 납품한 품목 중에서 최근 </a:t>
            </a:r>
            <a:r>
              <a:rPr lang="en-US" altLang="ko-KR" dirty="0"/>
              <a:t>1</a:t>
            </a:r>
            <a:r>
              <a:rPr lang="ko-KR" altLang="en-US" dirty="0" err="1"/>
              <a:t>년내에</a:t>
            </a:r>
            <a:r>
              <a:rPr lang="ko-KR" altLang="en-US" dirty="0"/>
              <a:t> 계약금액의 </a:t>
            </a:r>
            <a:r>
              <a:rPr lang="en-US" altLang="ko-KR" dirty="0"/>
              <a:t>0.1% </a:t>
            </a:r>
            <a:r>
              <a:rPr lang="ko-KR" altLang="en-US" dirty="0"/>
              <a:t>이상 </a:t>
            </a:r>
            <a:r>
              <a:rPr lang="en-US" altLang="ko-KR" dirty="0"/>
              <a:t>0.5% </a:t>
            </a:r>
            <a:r>
              <a:rPr lang="ko-KR" altLang="en-US" dirty="0"/>
              <a:t>미만 하자발생 또는 감액 받은 사실이 있는 자</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5638440" y="3480304"/>
            <a:ext cx="205185"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121" name="타원 12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069052902"/>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199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억원미만물품구매일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MUI-BD-10-M09</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792462" y="1491157"/>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a:t>
            </a:r>
            <a:r>
              <a:rPr lang="ko-KR" altLang="en-US" dirty="0"/>
              <a:t>기타</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792462" y="169139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317319" y="1764682"/>
            <a:ext cx="2010812"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1.</a:t>
            </a:r>
            <a:r>
              <a:rPr lang="ko-KR" altLang="en-US" dirty="0"/>
              <a:t>성실납세여부</a:t>
            </a:r>
          </a:p>
        </p:txBody>
      </p:sp>
      <p:sp>
        <p:nvSpPr>
          <p:cNvPr id="166" name="TextBox 165">
            <a:extLst>
              <a:ext uri="{FF2B5EF4-FFF2-40B4-BE49-F238E27FC236}">
                <a16:creationId xmlns:a16="http://schemas.microsoft.com/office/drawing/2014/main" id="{FFC49AEA-2A8F-250C-A86A-A7751D9706C3}"/>
              </a:ext>
            </a:extLst>
          </p:cNvPr>
          <p:cNvSpPr txBox="1"/>
          <p:nvPr/>
        </p:nvSpPr>
        <p:spPr>
          <a:xfrm>
            <a:off x="792462" y="18751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1317319" y="1948462"/>
            <a:ext cx="2010812" cy="107722"/>
          </a:xfrm>
          <a:prstGeom prst="rect">
            <a:avLst/>
          </a:prstGeom>
          <a:noFill/>
        </p:spPr>
        <p:txBody>
          <a:bodyPr wrap="square" lIns="0" tIns="0" rIns="0" bIns="0" rtlCol="0">
            <a:spAutoFit/>
          </a:bodyPr>
          <a:lstStyle/>
          <a:p>
            <a:r>
              <a:rPr lang="ko-KR" altLang="en-US" sz="700" dirty="0">
                <a:latin typeface="+mn-ea"/>
              </a:rPr>
              <a:t>성실납세여부</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2918611" y="194846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0.25</a:t>
            </a:r>
          </a:p>
        </p:txBody>
      </p:sp>
      <p:sp>
        <p:nvSpPr>
          <p:cNvPr id="169" name="직사각형 168"/>
          <p:cNvSpPr/>
          <p:nvPr/>
        </p:nvSpPr>
        <p:spPr>
          <a:xfrm>
            <a:off x="716931" y="2109540"/>
            <a:ext cx="1639886" cy="41668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3994" y="210954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2532036" y="210954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2" name="직선 연결선 171">
            <a:extLst>
              <a:ext uri="{FF2B5EF4-FFF2-40B4-BE49-F238E27FC236}">
                <a16:creationId xmlns:a16="http://schemas.microsoft.com/office/drawing/2014/main" id="{E9293055-D5CD-4B9E-7F64-64B2D2CA7A52}"/>
              </a:ext>
            </a:extLst>
          </p:cNvPr>
          <p:cNvCxnSpPr/>
          <p:nvPr/>
        </p:nvCxnSpPr>
        <p:spPr>
          <a:xfrm>
            <a:off x="714234" y="21095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16327" y="2324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3" name="TextBox 182">
            <a:extLst>
              <a:ext uri="{FF2B5EF4-FFF2-40B4-BE49-F238E27FC236}">
                <a16:creationId xmlns:a16="http://schemas.microsoft.com/office/drawing/2014/main" id="{FFC49AEA-2A8F-250C-A86A-A7751D9706C3}"/>
              </a:ext>
            </a:extLst>
          </p:cNvPr>
          <p:cNvSpPr txBox="1"/>
          <p:nvPr/>
        </p:nvSpPr>
        <p:spPr>
          <a:xfrm>
            <a:off x="2952406" y="2109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8" name="TextBox 187">
            <a:extLst>
              <a:ext uri="{FF2B5EF4-FFF2-40B4-BE49-F238E27FC236}">
                <a16:creationId xmlns:a16="http://schemas.microsoft.com/office/drawing/2014/main" id="{FFC49AEA-2A8F-250C-A86A-A7751D9706C3}"/>
              </a:ext>
            </a:extLst>
          </p:cNvPr>
          <p:cNvSpPr txBox="1"/>
          <p:nvPr/>
        </p:nvSpPr>
        <p:spPr>
          <a:xfrm>
            <a:off x="817844" y="236954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국세청장이 지정한 모범성실납세자</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2557106" y="2369541"/>
            <a:ext cx="16831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3288460" y="236954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92" name="직선 연결선 191">
            <a:extLst>
              <a:ext uri="{FF2B5EF4-FFF2-40B4-BE49-F238E27FC236}">
                <a16:creationId xmlns:a16="http://schemas.microsoft.com/office/drawing/2014/main" id="{E9293055-D5CD-4B9E-7F64-64B2D2CA7A52}"/>
              </a:ext>
            </a:extLst>
          </p:cNvPr>
          <p:cNvCxnSpPr/>
          <p:nvPr/>
        </p:nvCxnSpPr>
        <p:spPr>
          <a:xfrm>
            <a:off x="720591" y="2527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0" name="TextBox 219">
            <a:extLst>
              <a:ext uri="{FF2B5EF4-FFF2-40B4-BE49-F238E27FC236}">
                <a16:creationId xmlns:a16="http://schemas.microsoft.com/office/drawing/2014/main" id="{FFC49AEA-2A8F-250C-A86A-A7751D9706C3}"/>
              </a:ext>
            </a:extLst>
          </p:cNvPr>
          <p:cNvSpPr txBox="1"/>
          <p:nvPr/>
        </p:nvSpPr>
        <p:spPr>
          <a:xfrm>
            <a:off x="792462" y="258614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1" name="TextBox 220">
            <a:extLst>
              <a:ext uri="{FF2B5EF4-FFF2-40B4-BE49-F238E27FC236}">
                <a16:creationId xmlns:a16="http://schemas.microsoft.com/office/drawing/2014/main" id="{FFC49AEA-2A8F-250C-A86A-A7751D9706C3}"/>
              </a:ext>
            </a:extLst>
          </p:cNvPr>
          <p:cNvSpPr txBox="1"/>
          <p:nvPr/>
        </p:nvSpPr>
        <p:spPr>
          <a:xfrm>
            <a:off x="1317319" y="2659435"/>
            <a:ext cx="2010812"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2.</a:t>
            </a:r>
            <a:r>
              <a:rPr lang="ko-KR" altLang="en-US" dirty="0"/>
              <a:t>비상대비 중점관리 </a:t>
            </a:r>
            <a:r>
              <a:rPr lang="ko-KR" altLang="en-US" dirty="0" err="1"/>
              <a:t>대상여부</a:t>
            </a:r>
            <a:endParaRPr lang="ko-KR" altLang="en-US" dirty="0"/>
          </a:p>
        </p:txBody>
      </p:sp>
      <p:sp>
        <p:nvSpPr>
          <p:cNvPr id="222" name="TextBox 221">
            <a:extLst>
              <a:ext uri="{FF2B5EF4-FFF2-40B4-BE49-F238E27FC236}">
                <a16:creationId xmlns:a16="http://schemas.microsoft.com/office/drawing/2014/main" id="{FFC49AEA-2A8F-250C-A86A-A7751D9706C3}"/>
              </a:ext>
            </a:extLst>
          </p:cNvPr>
          <p:cNvSpPr txBox="1"/>
          <p:nvPr/>
        </p:nvSpPr>
        <p:spPr>
          <a:xfrm>
            <a:off x="792462" y="276992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3" name="TextBox 222">
            <a:extLst>
              <a:ext uri="{FF2B5EF4-FFF2-40B4-BE49-F238E27FC236}">
                <a16:creationId xmlns:a16="http://schemas.microsoft.com/office/drawing/2014/main" id="{FFC49AEA-2A8F-250C-A86A-A7751D9706C3}"/>
              </a:ext>
            </a:extLst>
          </p:cNvPr>
          <p:cNvSpPr txBox="1"/>
          <p:nvPr/>
        </p:nvSpPr>
        <p:spPr>
          <a:xfrm>
            <a:off x="1317319" y="2843215"/>
            <a:ext cx="2010812" cy="107722"/>
          </a:xfrm>
          <a:prstGeom prst="rect">
            <a:avLst/>
          </a:prstGeom>
          <a:noFill/>
        </p:spPr>
        <p:txBody>
          <a:bodyPr wrap="square" lIns="0" tIns="0" rIns="0" bIns="0" rtlCol="0">
            <a:spAutoFit/>
          </a:bodyPr>
          <a:lstStyle/>
          <a:p>
            <a:r>
              <a:rPr lang="ko-KR" altLang="en-US" sz="700" dirty="0">
                <a:latin typeface="+mn-ea"/>
              </a:rPr>
              <a:t>비상대비 중점관리 </a:t>
            </a:r>
            <a:r>
              <a:rPr lang="ko-KR" altLang="en-US" sz="700" dirty="0" err="1">
                <a:latin typeface="+mn-ea"/>
              </a:rPr>
              <a:t>대상여부</a:t>
            </a:r>
            <a:endParaRPr lang="ko-KR" altLang="en-US"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2918611" y="284321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225" name="직사각형 224"/>
          <p:cNvSpPr/>
          <p:nvPr/>
        </p:nvSpPr>
        <p:spPr>
          <a:xfrm>
            <a:off x="716931" y="3004293"/>
            <a:ext cx="1639886" cy="51705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6" name="TextBox 225">
            <a:extLst>
              <a:ext uri="{FF2B5EF4-FFF2-40B4-BE49-F238E27FC236}">
                <a16:creationId xmlns:a16="http://schemas.microsoft.com/office/drawing/2014/main" id="{FFC49AEA-2A8F-250C-A86A-A7751D9706C3}"/>
              </a:ext>
            </a:extLst>
          </p:cNvPr>
          <p:cNvSpPr txBox="1"/>
          <p:nvPr/>
        </p:nvSpPr>
        <p:spPr>
          <a:xfrm>
            <a:off x="803994" y="300429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2532036" y="300429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28" name="직선 연결선 227">
            <a:extLst>
              <a:ext uri="{FF2B5EF4-FFF2-40B4-BE49-F238E27FC236}">
                <a16:creationId xmlns:a16="http://schemas.microsoft.com/office/drawing/2014/main" id="{E9293055-D5CD-4B9E-7F64-64B2D2CA7A52}"/>
              </a:ext>
            </a:extLst>
          </p:cNvPr>
          <p:cNvCxnSpPr/>
          <p:nvPr/>
        </p:nvCxnSpPr>
        <p:spPr>
          <a:xfrm>
            <a:off x="714234" y="30042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9" name="직선 연결선 228">
            <a:extLst>
              <a:ext uri="{FF2B5EF4-FFF2-40B4-BE49-F238E27FC236}">
                <a16:creationId xmlns:a16="http://schemas.microsoft.com/office/drawing/2014/main" id="{E9293055-D5CD-4B9E-7F64-64B2D2CA7A52}"/>
              </a:ext>
            </a:extLst>
          </p:cNvPr>
          <p:cNvCxnSpPr/>
          <p:nvPr/>
        </p:nvCxnSpPr>
        <p:spPr>
          <a:xfrm>
            <a:off x="716327" y="32190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0" name="TextBox 229">
            <a:extLst>
              <a:ext uri="{FF2B5EF4-FFF2-40B4-BE49-F238E27FC236}">
                <a16:creationId xmlns:a16="http://schemas.microsoft.com/office/drawing/2014/main" id="{FFC49AEA-2A8F-250C-A86A-A7751D9706C3}"/>
              </a:ext>
            </a:extLst>
          </p:cNvPr>
          <p:cNvSpPr txBox="1"/>
          <p:nvPr/>
        </p:nvSpPr>
        <p:spPr>
          <a:xfrm>
            <a:off x="2952406" y="300429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31" name="TextBox 230">
            <a:extLst>
              <a:ext uri="{FF2B5EF4-FFF2-40B4-BE49-F238E27FC236}">
                <a16:creationId xmlns:a16="http://schemas.microsoft.com/office/drawing/2014/main" id="{FFC49AEA-2A8F-250C-A86A-A7751D9706C3}"/>
              </a:ext>
            </a:extLst>
          </p:cNvPr>
          <p:cNvSpPr txBox="1"/>
          <p:nvPr/>
        </p:nvSpPr>
        <p:spPr>
          <a:xfrm>
            <a:off x="817844" y="327111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행정안전부장관이 확인한 비상대비 중점관리대상업체</a:t>
            </a:r>
          </a:p>
        </p:txBody>
      </p:sp>
      <p:sp>
        <p:nvSpPr>
          <p:cNvPr id="232" name="TextBox 231">
            <a:extLst>
              <a:ext uri="{FF2B5EF4-FFF2-40B4-BE49-F238E27FC236}">
                <a16:creationId xmlns:a16="http://schemas.microsoft.com/office/drawing/2014/main" id="{FFC49AEA-2A8F-250C-A86A-A7751D9706C3}"/>
              </a:ext>
            </a:extLst>
          </p:cNvPr>
          <p:cNvSpPr txBox="1"/>
          <p:nvPr/>
        </p:nvSpPr>
        <p:spPr>
          <a:xfrm>
            <a:off x="2606800" y="3324979"/>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33" name="TextBox 232">
            <a:extLst>
              <a:ext uri="{FF2B5EF4-FFF2-40B4-BE49-F238E27FC236}">
                <a16:creationId xmlns:a16="http://schemas.microsoft.com/office/drawing/2014/main" id="{FFC49AEA-2A8F-250C-A86A-A7751D9706C3}"/>
              </a:ext>
            </a:extLst>
          </p:cNvPr>
          <p:cNvSpPr txBox="1"/>
          <p:nvPr/>
        </p:nvSpPr>
        <p:spPr>
          <a:xfrm>
            <a:off x="3288460" y="332497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34" name="직선 연결선 233">
            <a:extLst>
              <a:ext uri="{FF2B5EF4-FFF2-40B4-BE49-F238E27FC236}">
                <a16:creationId xmlns:a16="http://schemas.microsoft.com/office/drawing/2014/main" id="{E9293055-D5CD-4B9E-7F64-64B2D2CA7A52}"/>
              </a:ext>
            </a:extLst>
          </p:cNvPr>
          <p:cNvCxnSpPr/>
          <p:nvPr/>
        </p:nvCxnSpPr>
        <p:spPr>
          <a:xfrm>
            <a:off x="720591" y="35241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5" name="TextBox 234">
            <a:extLst>
              <a:ext uri="{FF2B5EF4-FFF2-40B4-BE49-F238E27FC236}">
                <a16:creationId xmlns:a16="http://schemas.microsoft.com/office/drawing/2014/main" id="{FFC49AEA-2A8F-250C-A86A-A7751D9706C3}"/>
              </a:ext>
            </a:extLst>
          </p:cNvPr>
          <p:cNvSpPr txBox="1"/>
          <p:nvPr/>
        </p:nvSpPr>
        <p:spPr>
          <a:xfrm>
            <a:off x="792462" y="357343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1317319" y="3646724"/>
            <a:ext cx="2010812"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3.</a:t>
            </a:r>
            <a:r>
              <a:rPr lang="ko-KR" altLang="en-US" dirty="0"/>
              <a:t>가족친화 사회환경 조성여부</a:t>
            </a:r>
          </a:p>
        </p:txBody>
      </p:sp>
      <p:sp>
        <p:nvSpPr>
          <p:cNvPr id="237" name="TextBox 236">
            <a:extLst>
              <a:ext uri="{FF2B5EF4-FFF2-40B4-BE49-F238E27FC236}">
                <a16:creationId xmlns:a16="http://schemas.microsoft.com/office/drawing/2014/main" id="{FFC49AEA-2A8F-250C-A86A-A7751D9706C3}"/>
              </a:ext>
            </a:extLst>
          </p:cNvPr>
          <p:cNvSpPr txBox="1"/>
          <p:nvPr/>
        </p:nvSpPr>
        <p:spPr>
          <a:xfrm>
            <a:off x="792462" y="375721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1317319" y="3830504"/>
            <a:ext cx="2010812" cy="107722"/>
          </a:xfrm>
          <a:prstGeom prst="rect">
            <a:avLst/>
          </a:prstGeom>
          <a:noFill/>
        </p:spPr>
        <p:txBody>
          <a:bodyPr wrap="square" lIns="0" tIns="0" rIns="0" bIns="0" rtlCol="0">
            <a:spAutoFit/>
          </a:bodyPr>
          <a:lstStyle/>
          <a:p>
            <a:r>
              <a:rPr lang="ko-KR" altLang="en-US" sz="700" dirty="0">
                <a:latin typeface="+mn-ea"/>
              </a:rPr>
              <a:t>가족친화 사회환경 조성여부</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2918611" y="3830504"/>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40" name="직사각형 239"/>
          <p:cNvSpPr/>
          <p:nvPr/>
        </p:nvSpPr>
        <p:spPr>
          <a:xfrm>
            <a:off x="716931" y="3991582"/>
            <a:ext cx="1639886" cy="51705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1" name="TextBox 240">
            <a:extLst>
              <a:ext uri="{FF2B5EF4-FFF2-40B4-BE49-F238E27FC236}">
                <a16:creationId xmlns:a16="http://schemas.microsoft.com/office/drawing/2014/main" id="{FFC49AEA-2A8F-250C-A86A-A7751D9706C3}"/>
              </a:ext>
            </a:extLst>
          </p:cNvPr>
          <p:cNvSpPr txBox="1"/>
          <p:nvPr/>
        </p:nvSpPr>
        <p:spPr>
          <a:xfrm>
            <a:off x="803994" y="399158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2" name="TextBox 241">
            <a:extLst>
              <a:ext uri="{FF2B5EF4-FFF2-40B4-BE49-F238E27FC236}">
                <a16:creationId xmlns:a16="http://schemas.microsoft.com/office/drawing/2014/main" id="{FFC49AEA-2A8F-250C-A86A-A7751D9706C3}"/>
              </a:ext>
            </a:extLst>
          </p:cNvPr>
          <p:cNvSpPr txBox="1"/>
          <p:nvPr/>
        </p:nvSpPr>
        <p:spPr>
          <a:xfrm>
            <a:off x="2532036" y="399158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43" name="직선 연결선 242">
            <a:extLst>
              <a:ext uri="{FF2B5EF4-FFF2-40B4-BE49-F238E27FC236}">
                <a16:creationId xmlns:a16="http://schemas.microsoft.com/office/drawing/2014/main" id="{E9293055-D5CD-4B9E-7F64-64B2D2CA7A52}"/>
              </a:ext>
            </a:extLst>
          </p:cNvPr>
          <p:cNvCxnSpPr/>
          <p:nvPr/>
        </p:nvCxnSpPr>
        <p:spPr>
          <a:xfrm>
            <a:off x="714234" y="39915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716327" y="4206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5" name="TextBox 244">
            <a:extLst>
              <a:ext uri="{FF2B5EF4-FFF2-40B4-BE49-F238E27FC236}">
                <a16:creationId xmlns:a16="http://schemas.microsoft.com/office/drawing/2014/main" id="{FFC49AEA-2A8F-250C-A86A-A7751D9706C3}"/>
              </a:ext>
            </a:extLst>
          </p:cNvPr>
          <p:cNvSpPr txBox="1"/>
          <p:nvPr/>
        </p:nvSpPr>
        <p:spPr>
          <a:xfrm>
            <a:off x="2952406" y="399158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46" name="TextBox 245">
            <a:extLst>
              <a:ext uri="{FF2B5EF4-FFF2-40B4-BE49-F238E27FC236}">
                <a16:creationId xmlns:a16="http://schemas.microsoft.com/office/drawing/2014/main" id="{FFC49AEA-2A8F-250C-A86A-A7751D9706C3}"/>
              </a:ext>
            </a:extLst>
          </p:cNvPr>
          <p:cNvSpPr txBox="1"/>
          <p:nvPr/>
        </p:nvSpPr>
        <p:spPr>
          <a:xfrm>
            <a:off x="817844" y="4258407"/>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여성가족부장관이 선정한 가족친화인증 기업</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2606800" y="4312268"/>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48" name="TextBox 247">
            <a:extLst>
              <a:ext uri="{FF2B5EF4-FFF2-40B4-BE49-F238E27FC236}">
                <a16:creationId xmlns:a16="http://schemas.microsoft.com/office/drawing/2014/main" id="{FFC49AEA-2A8F-250C-A86A-A7751D9706C3}"/>
              </a:ext>
            </a:extLst>
          </p:cNvPr>
          <p:cNvSpPr txBox="1"/>
          <p:nvPr/>
        </p:nvSpPr>
        <p:spPr>
          <a:xfrm>
            <a:off x="3288460" y="43122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9" name="직선 연결선 248">
            <a:extLst>
              <a:ext uri="{FF2B5EF4-FFF2-40B4-BE49-F238E27FC236}">
                <a16:creationId xmlns:a16="http://schemas.microsoft.com/office/drawing/2014/main" id="{E9293055-D5CD-4B9E-7F64-64B2D2CA7A52}"/>
              </a:ext>
            </a:extLst>
          </p:cNvPr>
          <p:cNvCxnSpPr/>
          <p:nvPr/>
        </p:nvCxnSpPr>
        <p:spPr>
          <a:xfrm>
            <a:off x="720591" y="451141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0" name="TextBox 249">
            <a:extLst>
              <a:ext uri="{FF2B5EF4-FFF2-40B4-BE49-F238E27FC236}">
                <a16:creationId xmlns:a16="http://schemas.microsoft.com/office/drawing/2014/main" id="{FFC49AEA-2A8F-250C-A86A-A7751D9706C3}"/>
              </a:ext>
            </a:extLst>
          </p:cNvPr>
          <p:cNvSpPr txBox="1"/>
          <p:nvPr/>
        </p:nvSpPr>
        <p:spPr>
          <a:xfrm>
            <a:off x="792462" y="457909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51" name="TextBox 250">
            <a:extLst>
              <a:ext uri="{FF2B5EF4-FFF2-40B4-BE49-F238E27FC236}">
                <a16:creationId xmlns:a16="http://schemas.microsoft.com/office/drawing/2014/main" id="{FFC49AEA-2A8F-250C-A86A-A7751D9706C3}"/>
              </a:ext>
            </a:extLst>
          </p:cNvPr>
          <p:cNvSpPr txBox="1"/>
          <p:nvPr/>
        </p:nvSpPr>
        <p:spPr>
          <a:xfrm>
            <a:off x="1317319" y="4652380"/>
            <a:ext cx="2010812"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4.</a:t>
            </a:r>
            <a:r>
              <a:rPr lang="ko-KR" altLang="en-US" dirty="0"/>
              <a:t>고용창출 </a:t>
            </a:r>
            <a:r>
              <a:rPr lang="en-US" altLang="ko-KR" dirty="0"/>
              <a:t>100</a:t>
            </a:r>
            <a:r>
              <a:rPr lang="ko-KR" altLang="en-US" dirty="0"/>
              <a:t>대 우수기업여부</a:t>
            </a:r>
          </a:p>
        </p:txBody>
      </p:sp>
      <p:sp>
        <p:nvSpPr>
          <p:cNvPr id="252" name="TextBox 251">
            <a:extLst>
              <a:ext uri="{FF2B5EF4-FFF2-40B4-BE49-F238E27FC236}">
                <a16:creationId xmlns:a16="http://schemas.microsoft.com/office/drawing/2014/main" id="{FFC49AEA-2A8F-250C-A86A-A7751D9706C3}"/>
              </a:ext>
            </a:extLst>
          </p:cNvPr>
          <p:cNvSpPr txBox="1"/>
          <p:nvPr/>
        </p:nvSpPr>
        <p:spPr>
          <a:xfrm>
            <a:off x="792462" y="476287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53" name="TextBox 252">
            <a:extLst>
              <a:ext uri="{FF2B5EF4-FFF2-40B4-BE49-F238E27FC236}">
                <a16:creationId xmlns:a16="http://schemas.microsoft.com/office/drawing/2014/main" id="{FFC49AEA-2A8F-250C-A86A-A7751D9706C3}"/>
              </a:ext>
            </a:extLst>
          </p:cNvPr>
          <p:cNvSpPr txBox="1"/>
          <p:nvPr/>
        </p:nvSpPr>
        <p:spPr>
          <a:xfrm>
            <a:off x="1317319" y="4836160"/>
            <a:ext cx="2010812" cy="107722"/>
          </a:xfrm>
          <a:prstGeom prst="rect">
            <a:avLst/>
          </a:prstGeom>
          <a:noFill/>
        </p:spPr>
        <p:txBody>
          <a:bodyPr wrap="square" lIns="0" tIns="0" rIns="0" bIns="0" rtlCol="0">
            <a:spAutoFit/>
          </a:bodyPr>
          <a:lstStyle/>
          <a:p>
            <a:r>
              <a:rPr lang="ko-KR" altLang="en-US" sz="700" dirty="0">
                <a:latin typeface="+mn-ea"/>
              </a:rPr>
              <a:t>고용창출 </a:t>
            </a:r>
            <a:r>
              <a:rPr lang="en-US" altLang="ko-KR" sz="700" dirty="0">
                <a:latin typeface="+mn-ea"/>
              </a:rPr>
              <a:t>100</a:t>
            </a:r>
            <a:r>
              <a:rPr lang="ko-KR" altLang="en-US" sz="700" dirty="0">
                <a:latin typeface="+mn-ea"/>
              </a:rPr>
              <a:t>대 우수기업여부</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2918611" y="4836160"/>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55" name="직사각형 254"/>
          <p:cNvSpPr/>
          <p:nvPr/>
        </p:nvSpPr>
        <p:spPr>
          <a:xfrm>
            <a:off x="716931" y="4997238"/>
            <a:ext cx="1639886" cy="51705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FFC49AEA-2A8F-250C-A86A-A7751D9706C3}"/>
              </a:ext>
            </a:extLst>
          </p:cNvPr>
          <p:cNvSpPr txBox="1"/>
          <p:nvPr/>
        </p:nvSpPr>
        <p:spPr>
          <a:xfrm>
            <a:off x="803994" y="4997239"/>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57" name="TextBox 256">
            <a:extLst>
              <a:ext uri="{FF2B5EF4-FFF2-40B4-BE49-F238E27FC236}">
                <a16:creationId xmlns:a16="http://schemas.microsoft.com/office/drawing/2014/main" id="{FFC49AEA-2A8F-250C-A86A-A7751D9706C3}"/>
              </a:ext>
            </a:extLst>
          </p:cNvPr>
          <p:cNvSpPr txBox="1"/>
          <p:nvPr/>
        </p:nvSpPr>
        <p:spPr>
          <a:xfrm>
            <a:off x="2532036" y="499723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58" name="직선 연결선 257">
            <a:extLst>
              <a:ext uri="{FF2B5EF4-FFF2-40B4-BE49-F238E27FC236}">
                <a16:creationId xmlns:a16="http://schemas.microsoft.com/office/drawing/2014/main" id="{E9293055-D5CD-4B9E-7F64-64B2D2CA7A52}"/>
              </a:ext>
            </a:extLst>
          </p:cNvPr>
          <p:cNvCxnSpPr/>
          <p:nvPr/>
        </p:nvCxnSpPr>
        <p:spPr>
          <a:xfrm>
            <a:off x="714234" y="499723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9" name="직선 연결선 258">
            <a:extLst>
              <a:ext uri="{FF2B5EF4-FFF2-40B4-BE49-F238E27FC236}">
                <a16:creationId xmlns:a16="http://schemas.microsoft.com/office/drawing/2014/main" id="{E9293055-D5CD-4B9E-7F64-64B2D2CA7A52}"/>
              </a:ext>
            </a:extLst>
          </p:cNvPr>
          <p:cNvCxnSpPr/>
          <p:nvPr/>
        </p:nvCxnSpPr>
        <p:spPr>
          <a:xfrm>
            <a:off x="716327" y="52119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0" name="TextBox 259">
            <a:extLst>
              <a:ext uri="{FF2B5EF4-FFF2-40B4-BE49-F238E27FC236}">
                <a16:creationId xmlns:a16="http://schemas.microsoft.com/office/drawing/2014/main" id="{FFC49AEA-2A8F-250C-A86A-A7751D9706C3}"/>
              </a:ext>
            </a:extLst>
          </p:cNvPr>
          <p:cNvSpPr txBox="1"/>
          <p:nvPr/>
        </p:nvSpPr>
        <p:spPr>
          <a:xfrm>
            <a:off x="2952406" y="499723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61" name="TextBox 260">
            <a:extLst>
              <a:ext uri="{FF2B5EF4-FFF2-40B4-BE49-F238E27FC236}">
                <a16:creationId xmlns:a16="http://schemas.microsoft.com/office/drawing/2014/main" id="{FFC49AEA-2A8F-250C-A86A-A7751D9706C3}"/>
              </a:ext>
            </a:extLst>
          </p:cNvPr>
          <p:cNvSpPr txBox="1"/>
          <p:nvPr/>
        </p:nvSpPr>
        <p:spPr>
          <a:xfrm>
            <a:off x="817844" y="5264063"/>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고용노동부장관이 선정한 고용창출 </a:t>
            </a:r>
            <a:r>
              <a:rPr lang="en-US" altLang="ko-KR" dirty="0"/>
              <a:t>100</a:t>
            </a:r>
            <a:r>
              <a:rPr lang="ko-KR" altLang="en-US" dirty="0"/>
              <a:t>대 우수기업여부</a:t>
            </a:r>
          </a:p>
        </p:txBody>
      </p:sp>
      <p:sp>
        <p:nvSpPr>
          <p:cNvPr id="262" name="TextBox 261">
            <a:extLst>
              <a:ext uri="{FF2B5EF4-FFF2-40B4-BE49-F238E27FC236}">
                <a16:creationId xmlns:a16="http://schemas.microsoft.com/office/drawing/2014/main" id="{FFC49AEA-2A8F-250C-A86A-A7751D9706C3}"/>
              </a:ext>
            </a:extLst>
          </p:cNvPr>
          <p:cNvSpPr txBox="1"/>
          <p:nvPr/>
        </p:nvSpPr>
        <p:spPr>
          <a:xfrm>
            <a:off x="2606800" y="5317924"/>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3288460" y="53179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64" name="직선 연결선 263">
            <a:extLst>
              <a:ext uri="{FF2B5EF4-FFF2-40B4-BE49-F238E27FC236}">
                <a16:creationId xmlns:a16="http://schemas.microsoft.com/office/drawing/2014/main" id="{E9293055-D5CD-4B9E-7F64-64B2D2CA7A52}"/>
              </a:ext>
            </a:extLst>
          </p:cNvPr>
          <p:cNvCxnSpPr/>
          <p:nvPr/>
        </p:nvCxnSpPr>
        <p:spPr>
          <a:xfrm>
            <a:off x="720591" y="551706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3912797" y="150490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4437654" y="1578196"/>
            <a:ext cx="2010812"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5.</a:t>
            </a:r>
            <a:r>
              <a:rPr lang="ko-KR" altLang="en-US" dirty="0"/>
              <a:t>장애인 고용 </a:t>
            </a:r>
            <a:r>
              <a:rPr lang="ko-KR" altLang="en-US" dirty="0" err="1"/>
              <a:t>우수사업주</a:t>
            </a:r>
            <a:r>
              <a:rPr lang="ko-KR" altLang="en-US" dirty="0"/>
              <a:t> 또는 장애인 표준 사업장 여부</a:t>
            </a:r>
          </a:p>
        </p:txBody>
      </p:sp>
      <p:sp>
        <p:nvSpPr>
          <p:cNvPr id="267" name="TextBox 266">
            <a:extLst>
              <a:ext uri="{FF2B5EF4-FFF2-40B4-BE49-F238E27FC236}">
                <a16:creationId xmlns:a16="http://schemas.microsoft.com/office/drawing/2014/main" id="{FFC49AEA-2A8F-250C-A86A-A7751D9706C3}"/>
              </a:ext>
            </a:extLst>
          </p:cNvPr>
          <p:cNvSpPr txBox="1"/>
          <p:nvPr/>
        </p:nvSpPr>
        <p:spPr>
          <a:xfrm>
            <a:off x="3912797" y="178422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68" name="TextBox 267">
            <a:extLst>
              <a:ext uri="{FF2B5EF4-FFF2-40B4-BE49-F238E27FC236}">
                <a16:creationId xmlns:a16="http://schemas.microsoft.com/office/drawing/2014/main" id="{FFC49AEA-2A8F-250C-A86A-A7751D9706C3}"/>
              </a:ext>
            </a:extLst>
          </p:cNvPr>
          <p:cNvSpPr txBox="1"/>
          <p:nvPr/>
        </p:nvSpPr>
        <p:spPr>
          <a:xfrm>
            <a:off x="4437654" y="1857512"/>
            <a:ext cx="1462715" cy="215444"/>
          </a:xfrm>
          <a:prstGeom prst="rect">
            <a:avLst/>
          </a:prstGeom>
          <a:noFill/>
        </p:spPr>
        <p:txBody>
          <a:bodyPr wrap="square" lIns="0" tIns="0" rIns="0" bIns="0" rtlCol="0">
            <a:spAutoFit/>
          </a:bodyPr>
          <a:lstStyle/>
          <a:p>
            <a:r>
              <a:rPr lang="ko-KR" altLang="en-US" sz="700" dirty="0">
                <a:latin typeface="+mn-ea"/>
              </a:rPr>
              <a:t>장애인고용 </a:t>
            </a:r>
            <a:r>
              <a:rPr lang="ko-KR" altLang="en-US" sz="700" dirty="0" err="1">
                <a:latin typeface="+mn-ea"/>
              </a:rPr>
              <a:t>우수사업주</a:t>
            </a:r>
            <a:r>
              <a:rPr lang="ko-KR" altLang="en-US" sz="700" dirty="0">
                <a:latin typeface="+mn-ea"/>
              </a:rPr>
              <a:t> 또는 장애인 표준사업장여부</a:t>
            </a:r>
          </a:p>
        </p:txBody>
      </p:sp>
      <p:sp>
        <p:nvSpPr>
          <p:cNvPr id="269" name="TextBox 268">
            <a:extLst>
              <a:ext uri="{FF2B5EF4-FFF2-40B4-BE49-F238E27FC236}">
                <a16:creationId xmlns:a16="http://schemas.microsoft.com/office/drawing/2014/main" id="{FFC49AEA-2A8F-250C-A86A-A7751D9706C3}"/>
              </a:ext>
            </a:extLst>
          </p:cNvPr>
          <p:cNvSpPr txBox="1"/>
          <p:nvPr/>
        </p:nvSpPr>
        <p:spPr>
          <a:xfrm>
            <a:off x="6038946" y="185751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70" name="직사각형 269"/>
          <p:cNvSpPr/>
          <p:nvPr/>
        </p:nvSpPr>
        <p:spPr>
          <a:xfrm>
            <a:off x="3837266" y="2127773"/>
            <a:ext cx="1639886" cy="63951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TextBox 270">
            <a:extLst>
              <a:ext uri="{FF2B5EF4-FFF2-40B4-BE49-F238E27FC236}">
                <a16:creationId xmlns:a16="http://schemas.microsoft.com/office/drawing/2014/main" id="{FFC49AEA-2A8F-250C-A86A-A7751D9706C3}"/>
              </a:ext>
            </a:extLst>
          </p:cNvPr>
          <p:cNvSpPr txBox="1"/>
          <p:nvPr/>
        </p:nvSpPr>
        <p:spPr>
          <a:xfrm>
            <a:off x="3924329" y="212777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72" name="TextBox 271">
            <a:extLst>
              <a:ext uri="{FF2B5EF4-FFF2-40B4-BE49-F238E27FC236}">
                <a16:creationId xmlns:a16="http://schemas.microsoft.com/office/drawing/2014/main" id="{FFC49AEA-2A8F-250C-A86A-A7751D9706C3}"/>
              </a:ext>
            </a:extLst>
          </p:cNvPr>
          <p:cNvSpPr txBox="1"/>
          <p:nvPr/>
        </p:nvSpPr>
        <p:spPr>
          <a:xfrm>
            <a:off x="5652371" y="212777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73" name="직선 연결선 272">
            <a:extLst>
              <a:ext uri="{FF2B5EF4-FFF2-40B4-BE49-F238E27FC236}">
                <a16:creationId xmlns:a16="http://schemas.microsoft.com/office/drawing/2014/main" id="{E9293055-D5CD-4B9E-7F64-64B2D2CA7A52}"/>
              </a:ext>
            </a:extLst>
          </p:cNvPr>
          <p:cNvCxnSpPr/>
          <p:nvPr/>
        </p:nvCxnSpPr>
        <p:spPr>
          <a:xfrm>
            <a:off x="3834569" y="212777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3836662" y="23425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5" name="TextBox 274">
            <a:extLst>
              <a:ext uri="{FF2B5EF4-FFF2-40B4-BE49-F238E27FC236}">
                <a16:creationId xmlns:a16="http://schemas.microsoft.com/office/drawing/2014/main" id="{FFC49AEA-2A8F-250C-A86A-A7751D9706C3}"/>
              </a:ext>
            </a:extLst>
          </p:cNvPr>
          <p:cNvSpPr txBox="1"/>
          <p:nvPr/>
        </p:nvSpPr>
        <p:spPr>
          <a:xfrm>
            <a:off x="6072741" y="212777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6" name="TextBox 275">
            <a:extLst>
              <a:ext uri="{FF2B5EF4-FFF2-40B4-BE49-F238E27FC236}">
                <a16:creationId xmlns:a16="http://schemas.microsoft.com/office/drawing/2014/main" id="{FFC49AEA-2A8F-250C-A86A-A7751D9706C3}"/>
              </a:ext>
            </a:extLst>
          </p:cNvPr>
          <p:cNvSpPr txBox="1"/>
          <p:nvPr/>
        </p:nvSpPr>
        <p:spPr>
          <a:xfrm>
            <a:off x="3938179" y="2394599"/>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고용노동부장관이 선정한 장애인 고용 </a:t>
            </a:r>
            <a:r>
              <a:rPr lang="ko-KR" altLang="en-US" dirty="0" err="1"/>
              <a:t>우수사업주</a:t>
            </a:r>
            <a:r>
              <a:rPr lang="ko-KR" altLang="en-US" dirty="0"/>
              <a:t> 또는 </a:t>
            </a:r>
            <a:r>
              <a:rPr lang="ko-KR" altLang="en-US" dirty="0" err="1"/>
              <a:t>장애인표준</a:t>
            </a:r>
            <a:r>
              <a:rPr lang="ko-KR" altLang="en-US" dirty="0"/>
              <a:t> 사업장 여부</a:t>
            </a:r>
          </a:p>
        </p:txBody>
      </p:sp>
      <p:sp>
        <p:nvSpPr>
          <p:cNvPr id="277" name="TextBox 276">
            <a:extLst>
              <a:ext uri="{FF2B5EF4-FFF2-40B4-BE49-F238E27FC236}">
                <a16:creationId xmlns:a16="http://schemas.microsoft.com/office/drawing/2014/main" id="{FFC49AEA-2A8F-250C-A86A-A7751D9706C3}"/>
              </a:ext>
            </a:extLst>
          </p:cNvPr>
          <p:cNvSpPr txBox="1"/>
          <p:nvPr/>
        </p:nvSpPr>
        <p:spPr>
          <a:xfrm>
            <a:off x="5727135" y="2502320"/>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78" name="TextBox 277">
            <a:extLst>
              <a:ext uri="{FF2B5EF4-FFF2-40B4-BE49-F238E27FC236}">
                <a16:creationId xmlns:a16="http://schemas.microsoft.com/office/drawing/2014/main" id="{FFC49AEA-2A8F-250C-A86A-A7751D9706C3}"/>
              </a:ext>
            </a:extLst>
          </p:cNvPr>
          <p:cNvSpPr txBox="1"/>
          <p:nvPr/>
        </p:nvSpPr>
        <p:spPr>
          <a:xfrm>
            <a:off x="6408795" y="250232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79" name="직선 연결선 278">
            <a:extLst>
              <a:ext uri="{FF2B5EF4-FFF2-40B4-BE49-F238E27FC236}">
                <a16:creationId xmlns:a16="http://schemas.microsoft.com/office/drawing/2014/main" id="{E9293055-D5CD-4B9E-7F64-64B2D2CA7A52}"/>
              </a:ext>
            </a:extLst>
          </p:cNvPr>
          <p:cNvCxnSpPr/>
          <p:nvPr/>
        </p:nvCxnSpPr>
        <p:spPr>
          <a:xfrm>
            <a:off x="3840926" y="27704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타원 9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841982817"/>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200</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479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2668311"/>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재무상태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2952065"/>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5" name="TextBox 4">
            <a:extLst>
              <a:ext uri="{FF2B5EF4-FFF2-40B4-BE49-F238E27FC236}">
                <a16:creationId xmlns:a16="http://schemas.microsoft.com/office/drawing/2014/main" id="{6D947E84-6084-15F8-26CB-99F0F0FA6507}"/>
              </a:ext>
            </a:extLst>
          </p:cNvPr>
          <p:cNvSpPr txBox="1"/>
          <p:nvPr/>
        </p:nvSpPr>
        <p:spPr>
          <a:xfrm>
            <a:off x="465794" y="375979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입찰가격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ED0EAE2-A020-1A3E-9D07-8A45456FE1AC}"/>
              </a:ext>
            </a:extLst>
          </p:cNvPr>
          <p:cNvGraphicFramePr>
            <a:graphicFrameLocks noGrp="1"/>
          </p:cNvGraphicFramePr>
          <p:nvPr/>
        </p:nvGraphicFramePr>
        <p:xfrm>
          <a:off x="460676" y="4043547"/>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565733"/>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860510"/>
                  </a:ext>
                </a:extLst>
              </a:tr>
            </a:tbl>
          </a:graphicData>
        </a:graphic>
      </p:graphicFrame>
      <p:sp>
        <p:nvSpPr>
          <p:cNvPr id="9" name="TextBox 8">
            <a:extLst>
              <a:ext uri="{FF2B5EF4-FFF2-40B4-BE49-F238E27FC236}">
                <a16:creationId xmlns:a16="http://schemas.microsoft.com/office/drawing/2014/main" id="{6A94C7A5-4920-2DAD-F345-491E9CFC39F4}"/>
              </a:ext>
            </a:extLst>
          </p:cNvPr>
          <p:cNvSpPr txBox="1"/>
          <p:nvPr/>
        </p:nvSpPr>
        <p:spPr>
          <a:xfrm>
            <a:off x="465794" y="5240977"/>
            <a:ext cx="2268817"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계약이행</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442141FB-2714-F2BE-5EF8-E5513AAF340D}"/>
              </a:ext>
            </a:extLst>
          </p:cNvPr>
          <p:cNvGraphicFramePr>
            <a:graphicFrameLocks noGrp="1"/>
          </p:cNvGraphicFramePr>
          <p:nvPr/>
        </p:nvGraphicFramePr>
        <p:xfrm>
          <a:off x="460676" y="5524731"/>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하자발생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하자발생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6722966"/>
                  </a:ext>
                </a:extLst>
              </a:tr>
            </a:tbl>
          </a:graphicData>
        </a:graphic>
      </p:graphicFrame>
      <p:sp>
        <p:nvSpPr>
          <p:cNvPr id="12" name="TextBox 11">
            <a:extLst>
              <a:ext uri="{FF2B5EF4-FFF2-40B4-BE49-F238E27FC236}">
                <a16:creationId xmlns:a16="http://schemas.microsoft.com/office/drawing/2014/main" id="{21094B69-5C2F-8DC6-A9E9-CD1F7427DE2C}"/>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13" name="Text Box 73">
            <a:extLst>
              <a:ext uri="{FF2B5EF4-FFF2-40B4-BE49-F238E27FC236}">
                <a16:creationId xmlns:a16="http://schemas.microsoft.com/office/drawing/2014/main" id="{545F9176-FFDA-C26E-2E97-84941C8EF77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243581387"/>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201</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37985"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기타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703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성실납세여부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성실납세여부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1754B9BA-4A2E-FC1C-6D9C-A87E37A11D68}"/>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E66E55D8-4428-3EF5-719F-23B08504C8D9}"/>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86975501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202</a:t>
            </a:fld>
            <a:endParaRPr lang="ko-KR" altLang="en-US" dirty="0"/>
          </a:p>
        </p:txBody>
      </p:sp>
      <p:sp>
        <p:nvSpPr>
          <p:cNvPr id="12" name="TextBox 11">
            <a:extLst>
              <a:ext uri="{FF2B5EF4-FFF2-40B4-BE49-F238E27FC236}">
                <a16:creationId xmlns:a16="http://schemas.microsoft.com/office/drawing/2014/main" id="{DDAEDC2E-5E9F-B1E0-A87F-7307CAB1C281}"/>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3" name="표 12">
            <a:extLst>
              <a:ext uri="{FF2B5EF4-FFF2-40B4-BE49-F238E27FC236}">
                <a16:creationId xmlns:a16="http://schemas.microsoft.com/office/drawing/2014/main" id="{D629202E-7CF1-29EA-23C9-CCFB0CE8B911}"/>
              </a:ext>
            </a:extLst>
          </p:cNvPr>
          <p:cNvGraphicFramePr>
            <a:graphicFrameLocks noGrp="1"/>
          </p:cNvGraphicFramePr>
          <p:nvPr/>
        </p:nvGraphicFramePr>
        <p:xfrm>
          <a:off x="452291" y="1014316"/>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목록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scwin.btn_list_onclick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개찰목록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(UI-BD-08-M01)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개찰목록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4" name="Text Box 73">
            <a:extLst>
              <a:ext uri="{FF2B5EF4-FFF2-40B4-BE49-F238E27FC236}">
                <a16:creationId xmlns:a16="http://schemas.microsoft.com/office/drawing/2014/main" id="{B489788C-D4F9-1033-7C88-89B1508FFDA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19918411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203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MUI-BD-10-M10</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신용평가등급</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가</a:t>
            </a:r>
            <a:r>
              <a:rPr lang="en-US" altLang="ko-KR" dirty="0"/>
              <a:t>)</a:t>
            </a:r>
            <a:r>
              <a:rPr lang="ko-KR" altLang="en-US" dirty="0" err="1"/>
              <a:t>당해물품</a:t>
            </a:r>
            <a:r>
              <a:rPr lang="ko-KR" altLang="en-US" dirty="0"/>
              <a:t> </a:t>
            </a:r>
            <a:r>
              <a:rPr lang="ko-KR" altLang="en-US" dirty="0" err="1"/>
              <a:t>납품이행</a:t>
            </a:r>
            <a:r>
              <a:rPr lang="ko-KR" altLang="en-US" dirty="0"/>
              <a:t> 능력</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 경영상태</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59" name="직사각형 158"/>
          <p:cNvSpPr/>
          <p:nvPr/>
        </p:nvSpPr>
        <p:spPr>
          <a:xfrm>
            <a:off x="3828979" y="1979872"/>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16042" y="1979873"/>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5644084" y="1979873"/>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70</a:t>
            </a:r>
          </a:p>
        </p:txBody>
      </p:sp>
      <p:grpSp>
        <p:nvGrpSpPr>
          <p:cNvPr id="162" name="그룹 161"/>
          <p:cNvGrpSpPr/>
          <p:nvPr/>
        </p:nvGrpSpPr>
        <p:grpSpPr>
          <a:xfrm>
            <a:off x="3826887" y="1979873"/>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3887858" y="1492521"/>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나</a:t>
            </a:r>
            <a:r>
              <a:rPr lang="en-US" altLang="ko-KR" dirty="0"/>
              <a:t>)</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3887858" y="169275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064390" y="1979873"/>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887857" y="2483011"/>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평정산식참조</a:t>
            </a:r>
          </a:p>
        </p:txBody>
      </p:sp>
      <p:sp>
        <p:nvSpPr>
          <p:cNvPr id="264" name="직사각형 263"/>
          <p:cNvSpPr/>
          <p:nvPr/>
        </p:nvSpPr>
        <p:spPr>
          <a:xfrm>
            <a:off x="3823602" y="3297967"/>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3910665" y="3297968"/>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66" name="TextBox 265">
            <a:extLst>
              <a:ext uri="{FF2B5EF4-FFF2-40B4-BE49-F238E27FC236}">
                <a16:creationId xmlns:a16="http://schemas.microsoft.com/office/drawing/2014/main" id="{FFC49AEA-2A8F-250C-A86A-A7751D9706C3}"/>
              </a:ext>
            </a:extLst>
          </p:cNvPr>
          <p:cNvSpPr txBox="1"/>
          <p:nvPr/>
        </p:nvSpPr>
        <p:spPr>
          <a:xfrm>
            <a:off x="5638707" y="32979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1510" y="32979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3603" y="35127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23603" y="39405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3882481" y="2810616"/>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다</a:t>
            </a:r>
            <a:r>
              <a:rPr lang="en-US" altLang="ko-KR" dirty="0"/>
              <a:t>)</a:t>
            </a:r>
            <a:r>
              <a:rPr lang="ko-KR" altLang="en-US" dirty="0"/>
              <a:t>신인도</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3882481" y="301085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계약이행 성실도</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6059077" y="32979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99" name="직선 연결선 298">
            <a:extLst>
              <a:ext uri="{FF2B5EF4-FFF2-40B4-BE49-F238E27FC236}">
                <a16:creationId xmlns:a16="http://schemas.microsoft.com/office/drawing/2014/main" id="{E9293055-D5CD-4B9E-7F64-64B2D2CA7A52}"/>
              </a:ext>
            </a:extLst>
          </p:cNvPr>
          <p:cNvCxnSpPr/>
          <p:nvPr/>
        </p:nvCxnSpPr>
        <p:spPr>
          <a:xfrm>
            <a:off x="3828979" y="2762513"/>
            <a:ext cx="262262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0" name="TextBox 299">
            <a:extLst>
              <a:ext uri="{FF2B5EF4-FFF2-40B4-BE49-F238E27FC236}">
                <a16:creationId xmlns:a16="http://schemas.microsoft.com/office/drawing/2014/main" id="{FFC49AEA-2A8F-250C-A86A-A7751D9706C3}"/>
              </a:ext>
            </a:extLst>
          </p:cNvPr>
          <p:cNvSpPr txBox="1"/>
          <p:nvPr/>
        </p:nvSpPr>
        <p:spPr>
          <a:xfrm>
            <a:off x="3910665" y="3565063"/>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품질하자</a:t>
            </a:r>
            <a:endParaRPr lang="ko-KR" altLang="en-US" sz="700" dirty="0">
              <a:latin typeface="+mn-ea"/>
            </a:endParaRPr>
          </a:p>
          <a:p>
            <a:r>
              <a:rPr lang="en-US" altLang="ko-KR" sz="700" dirty="0">
                <a:latin typeface="+mn-ea"/>
              </a:rPr>
              <a:t>2.</a:t>
            </a:r>
            <a:r>
              <a:rPr lang="ko-KR" altLang="en-US" sz="700" dirty="0" err="1">
                <a:latin typeface="+mn-ea"/>
              </a:rPr>
              <a:t>납품지연</a:t>
            </a:r>
            <a:endParaRPr lang="ko-KR" altLang="en-US" sz="700" dirty="0">
              <a:latin typeface="+mn-ea"/>
            </a:endParaRPr>
          </a:p>
          <a:p>
            <a:r>
              <a:rPr lang="en-US" altLang="ko-KR" sz="700" dirty="0">
                <a:latin typeface="+mn-ea"/>
              </a:rPr>
              <a:t>3.</a:t>
            </a:r>
            <a:r>
              <a:rPr lang="ko-KR" altLang="en-US" sz="700" dirty="0">
                <a:latin typeface="+mn-ea"/>
              </a:rPr>
              <a:t>부정당업자 제재</a:t>
            </a:r>
          </a:p>
        </p:txBody>
      </p:sp>
      <p:sp>
        <p:nvSpPr>
          <p:cNvPr id="301" name="TextBox 300">
            <a:extLst>
              <a:ext uri="{FF2B5EF4-FFF2-40B4-BE49-F238E27FC236}">
                <a16:creationId xmlns:a16="http://schemas.microsoft.com/office/drawing/2014/main" id="{FFC49AEA-2A8F-250C-A86A-A7751D9706C3}"/>
              </a:ext>
            </a:extLst>
          </p:cNvPr>
          <p:cNvSpPr txBox="1"/>
          <p:nvPr/>
        </p:nvSpPr>
        <p:spPr>
          <a:xfrm>
            <a:off x="5374211" y="3672784"/>
            <a:ext cx="444032" cy="107722"/>
          </a:xfrm>
          <a:prstGeom prst="rect">
            <a:avLst/>
          </a:prstGeom>
          <a:noFill/>
        </p:spPr>
        <p:txBody>
          <a:bodyPr wrap="none" lIns="0" tIns="0" rIns="0" bIns="0" rtlCol="0">
            <a:spAutoFit/>
          </a:bodyPr>
          <a:lstStyle/>
          <a:p>
            <a:pPr algn="r"/>
            <a:r>
              <a:rPr lang="en-US" altLang="ko-KR" sz="700" dirty="0">
                <a:latin typeface="+mn-ea"/>
              </a:rPr>
              <a:t>+1.15 ~ -5</a:t>
            </a:r>
          </a:p>
        </p:txBody>
      </p:sp>
      <p:sp>
        <p:nvSpPr>
          <p:cNvPr id="302" name="TextBox 301">
            <a:extLst>
              <a:ext uri="{FF2B5EF4-FFF2-40B4-BE49-F238E27FC236}">
                <a16:creationId xmlns:a16="http://schemas.microsoft.com/office/drawing/2014/main" id="{FFC49AEA-2A8F-250C-A86A-A7751D9706C3}"/>
              </a:ext>
            </a:extLst>
          </p:cNvPr>
          <p:cNvSpPr txBox="1"/>
          <p:nvPr/>
        </p:nvSpPr>
        <p:spPr>
          <a:xfrm>
            <a:off x="6381281" y="36727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3" name="직사각형 302"/>
          <p:cNvSpPr/>
          <p:nvPr/>
        </p:nvSpPr>
        <p:spPr>
          <a:xfrm>
            <a:off x="3823602" y="4282184"/>
            <a:ext cx="1639886" cy="12830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3910665" y="4282186"/>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5638707" y="428218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21510" y="428218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23603" y="44969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23603" y="556625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3882481" y="399507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 </a:t>
            </a:r>
            <a:r>
              <a:rPr lang="ko-KR" altLang="en-US" sz="700" dirty="0" err="1">
                <a:latin typeface="+mn-ea"/>
              </a:rPr>
              <a:t>사회적책임</a:t>
            </a:r>
            <a:r>
              <a:rPr lang="ko-KR" altLang="en-US" sz="700" dirty="0">
                <a:latin typeface="+mn-ea"/>
              </a:rPr>
              <a:t> 등 </a:t>
            </a:r>
            <a:r>
              <a:rPr lang="ko-KR" altLang="en-US" sz="700" dirty="0" err="1">
                <a:latin typeface="+mn-ea"/>
              </a:rPr>
              <a:t>신뢰정도</a:t>
            </a:r>
            <a:endParaRPr lang="ko-KR" altLang="en-US" sz="700" dirty="0">
              <a:latin typeface="+mn-ea"/>
            </a:endParaRPr>
          </a:p>
        </p:txBody>
      </p:sp>
      <p:sp>
        <p:nvSpPr>
          <p:cNvPr id="310" name="TextBox 309">
            <a:extLst>
              <a:ext uri="{FF2B5EF4-FFF2-40B4-BE49-F238E27FC236}">
                <a16:creationId xmlns:a16="http://schemas.microsoft.com/office/drawing/2014/main" id="{FFC49AEA-2A8F-250C-A86A-A7751D9706C3}"/>
              </a:ext>
            </a:extLst>
          </p:cNvPr>
          <p:cNvSpPr txBox="1"/>
          <p:nvPr/>
        </p:nvSpPr>
        <p:spPr>
          <a:xfrm>
            <a:off x="6059077" y="428218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3910665" y="4549281"/>
            <a:ext cx="1480199" cy="969496"/>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혁신형</a:t>
            </a:r>
            <a:r>
              <a:rPr lang="ko-KR" altLang="en-US" sz="700" dirty="0">
                <a:latin typeface="+mn-ea"/>
              </a:rPr>
              <a:t> 중소기업</a:t>
            </a:r>
          </a:p>
          <a:p>
            <a:r>
              <a:rPr lang="en-US" altLang="ko-KR" sz="700" dirty="0">
                <a:latin typeface="+mn-ea"/>
              </a:rPr>
              <a:t>2.</a:t>
            </a:r>
            <a:r>
              <a:rPr lang="ko-KR" altLang="en-US" sz="700" dirty="0">
                <a:latin typeface="+mn-ea"/>
              </a:rPr>
              <a:t>노사협력우수</a:t>
            </a:r>
          </a:p>
          <a:p>
            <a:r>
              <a:rPr lang="en-US" altLang="ko-KR" sz="700" dirty="0">
                <a:latin typeface="+mn-ea"/>
              </a:rPr>
              <a:t>3.</a:t>
            </a:r>
            <a:r>
              <a:rPr lang="ko-KR" altLang="en-US" sz="700" dirty="0">
                <a:latin typeface="+mn-ea"/>
              </a:rPr>
              <a:t>비상대비 중점관리</a:t>
            </a:r>
          </a:p>
          <a:p>
            <a:r>
              <a:rPr lang="en-US" altLang="ko-KR" sz="700" dirty="0">
                <a:latin typeface="+mn-ea"/>
              </a:rPr>
              <a:t>4.</a:t>
            </a:r>
            <a:r>
              <a:rPr lang="ko-KR" altLang="en-US" sz="700" dirty="0">
                <a:latin typeface="+mn-ea"/>
              </a:rPr>
              <a:t>장애인기업</a:t>
            </a:r>
          </a:p>
          <a:p>
            <a:r>
              <a:rPr lang="en-US" altLang="ko-KR" sz="700" dirty="0">
                <a:latin typeface="+mn-ea"/>
              </a:rPr>
              <a:t>5.</a:t>
            </a:r>
            <a:r>
              <a:rPr lang="ko-KR" altLang="en-US" sz="700" dirty="0">
                <a:latin typeface="+mn-ea"/>
              </a:rPr>
              <a:t>가족친화</a:t>
            </a:r>
          </a:p>
          <a:p>
            <a:r>
              <a:rPr lang="en-US" altLang="ko-KR" sz="700" dirty="0">
                <a:latin typeface="+mn-ea"/>
              </a:rPr>
              <a:t>6.</a:t>
            </a:r>
            <a:r>
              <a:rPr lang="ko-KR" altLang="en-US" sz="700" dirty="0">
                <a:latin typeface="+mn-ea"/>
              </a:rPr>
              <a:t>고용창출</a:t>
            </a:r>
          </a:p>
          <a:p>
            <a:r>
              <a:rPr lang="en-US" altLang="ko-KR" sz="700" dirty="0">
                <a:latin typeface="+mn-ea"/>
              </a:rPr>
              <a:t>7.</a:t>
            </a:r>
            <a:r>
              <a:rPr lang="ko-KR" altLang="en-US" sz="700" dirty="0">
                <a:latin typeface="+mn-ea"/>
              </a:rPr>
              <a:t>여성기업 지원 등</a:t>
            </a:r>
          </a:p>
          <a:p>
            <a:r>
              <a:rPr lang="en-US" altLang="ko-KR" sz="700" dirty="0">
                <a:latin typeface="+mn-ea"/>
              </a:rPr>
              <a:t>8.</a:t>
            </a:r>
            <a:r>
              <a:rPr lang="ko-KR" altLang="en-US" sz="700" dirty="0" err="1">
                <a:latin typeface="+mn-ea"/>
              </a:rPr>
              <a:t>사회적기업</a:t>
            </a:r>
            <a:endParaRPr lang="ko-KR" altLang="en-US" sz="700" dirty="0">
              <a:latin typeface="+mn-ea"/>
            </a:endParaRPr>
          </a:p>
          <a:p>
            <a:r>
              <a:rPr lang="en-US" altLang="ko-KR" sz="700" dirty="0">
                <a:latin typeface="+mn-ea"/>
              </a:rPr>
              <a:t>9.</a:t>
            </a:r>
            <a:r>
              <a:rPr lang="ko-KR" altLang="en-US" sz="700" dirty="0" err="1">
                <a:latin typeface="+mn-ea"/>
              </a:rPr>
              <a:t>모범납세</a:t>
            </a:r>
            <a:endParaRPr lang="ko-KR" altLang="en-US" sz="700" dirty="0">
              <a:latin typeface="+mn-ea"/>
            </a:endParaRPr>
          </a:p>
        </p:txBody>
      </p:sp>
      <p:sp>
        <p:nvSpPr>
          <p:cNvPr id="312" name="TextBox 311">
            <a:extLst>
              <a:ext uri="{FF2B5EF4-FFF2-40B4-BE49-F238E27FC236}">
                <a16:creationId xmlns:a16="http://schemas.microsoft.com/office/drawing/2014/main" id="{FFC49AEA-2A8F-250C-A86A-A7751D9706C3}"/>
              </a:ext>
            </a:extLst>
          </p:cNvPr>
          <p:cNvSpPr txBox="1"/>
          <p:nvPr/>
        </p:nvSpPr>
        <p:spPr>
          <a:xfrm>
            <a:off x="5492833" y="4980168"/>
            <a:ext cx="325410" cy="107722"/>
          </a:xfrm>
          <a:prstGeom prst="rect">
            <a:avLst/>
          </a:prstGeom>
          <a:noFill/>
        </p:spPr>
        <p:txBody>
          <a:bodyPr wrap="none" lIns="0" tIns="0" rIns="0" bIns="0" rtlCol="0">
            <a:spAutoFit/>
          </a:bodyPr>
          <a:lstStyle/>
          <a:p>
            <a:pPr algn="r"/>
            <a:r>
              <a:rPr lang="en-US" altLang="ko-KR" sz="700" dirty="0">
                <a:latin typeface="+mn-ea"/>
              </a:rPr>
              <a:t>+3 ~ -5</a:t>
            </a:r>
            <a:endParaRPr lang="ko-KR" altLang="en-US"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6381281" y="49801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49458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3" name="그룹 2"/>
          <p:cNvGrpSpPr/>
          <p:nvPr/>
        </p:nvGrpSpPr>
        <p:grpSpPr>
          <a:xfrm>
            <a:off x="3795734" y="5641890"/>
            <a:ext cx="2712027" cy="372724"/>
            <a:chOff x="676741" y="3122128"/>
            <a:chExt cx="2712027" cy="372724"/>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676741" y="34948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4" name="TextBox 173">
              <a:extLst>
                <a:ext uri="{FF2B5EF4-FFF2-40B4-BE49-F238E27FC236}">
                  <a16:creationId xmlns:a16="http://schemas.microsoft.com/office/drawing/2014/main" id="{FFC49AEA-2A8F-250C-A86A-A7751D9706C3}"/>
                </a:ext>
              </a:extLst>
            </p:cNvPr>
            <p:cNvSpPr txBox="1"/>
            <p:nvPr/>
          </p:nvSpPr>
          <p:spPr>
            <a:xfrm>
              <a:off x="763487" y="3122128"/>
              <a:ext cx="2456097" cy="323165"/>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신인도 배점은 </a:t>
              </a:r>
              <a:r>
                <a:rPr lang="en-US" altLang="ko-KR" sz="700" dirty="0">
                  <a:latin typeface="+mn-ea"/>
                </a:rPr>
                <a:t>1~2</a:t>
              </a:r>
              <a:r>
                <a:rPr lang="ko-KR" altLang="en-US" sz="700" dirty="0">
                  <a:latin typeface="+mn-ea"/>
                </a:rPr>
                <a:t>번 항을 합하여</a:t>
              </a:r>
              <a:endParaRPr lang="en-US" altLang="ko-KR" sz="700" dirty="0">
                <a:latin typeface="+mn-ea"/>
              </a:endParaRPr>
            </a:p>
            <a:p>
              <a:pPr algn="ctr" defTabSz="1013612">
                <a:defRPr/>
              </a:pPr>
              <a:r>
                <a:rPr lang="en-US" altLang="ko-KR" sz="700" dirty="0">
                  <a:latin typeface="+mn-ea"/>
                </a:rPr>
                <a:t>+1.15 ~ -5</a:t>
              </a:r>
              <a:r>
                <a:rPr lang="ko-KR" altLang="en-US" sz="700" dirty="0">
                  <a:latin typeface="+mn-ea"/>
                </a:rPr>
                <a:t>의 사이 값이 </a:t>
              </a:r>
              <a:r>
                <a:rPr lang="ko-KR" altLang="en-US" sz="700" dirty="0" err="1">
                  <a:latin typeface="+mn-ea"/>
                </a:rPr>
                <a:t>배점됩니다</a:t>
              </a:r>
              <a:r>
                <a:rPr lang="en-US" altLang="ko-KR" sz="700" dirty="0">
                  <a:latin typeface="+mn-ea"/>
                </a:rPr>
                <a:t>.</a:t>
              </a:r>
              <a:endParaRPr lang="ko-KR" altLang="en-US" sz="700" dirty="0">
                <a:latin typeface="+mn-ea"/>
              </a:endParaRPr>
            </a:p>
          </p:txBody>
        </p:sp>
      </p:grpSp>
      <p:sp>
        <p:nvSpPr>
          <p:cNvPr id="98" name="타원 9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35095614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204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MUI-BD-10-M10</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3" name="직사각형 172"/>
          <p:cNvSpPr/>
          <p:nvPr/>
        </p:nvSpPr>
        <p:spPr>
          <a:xfrm>
            <a:off x="704608" y="2015346"/>
            <a:ext cx="1639886" cy="9852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791671" y="2015348"/>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19713" y="201534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701911" y="20153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4004" y="22300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4004" y="29990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763487" y="152799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라</a:t>
            </a:r>
            <a:r>
              <a:rPr lang="en-US" altLang="ko-KR" dirty="0"/>
              <a:t>)</a:t>
            </a:r>
            <a:r>
              <a:rPr lang="ko-KR" altLang="en-US" dirty="0"/>
              <a:t>결격사유</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763487" y="172823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a:t>
            </a:r>
            <a:r>
              <a:rPr lang="ko-KR" altLang="en-US" sz="700" dirty="0" err="1">
                <a:latin typeface="+mn-ea"/>
              </a:rPr>
              <a:t>납품이행</a:t>
            </a:r>
            <a:r>
              <a:rPr lang="ko-KR" altLang="en-US" sz="700" dirty="0">
                <a:latin typeface="+mn-ea"/>
              </a:rPr>
              <a:t> 능력 결격 여부</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940083" y="201534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6740" y="307201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5521" y="2290674"/>
            <a:ext cx="1480199" cy="646331"/>
          </a:xfrm>
          <a:prstGeom prst="rect">
            <a:avLst/>
          </a:prstGeom>
          <a:noFill/>
        </p:spPr>
        <p:txBody>
          <a:bodyPr wrap="square" lIns="0" tIns="0" rIns="0" bIns="0" rtlCol="0">
            <a:spAutoFit/>
          </a:bodyPr>
          <a:lstStyle/>
          <a:p>
            <a:r>
              <a:rPr lang="ko-KR" altLang="en-US" sz="700" dirty="0">
                <a:latin typeface="+mn-ea"/>
              </a:rPr>
              <a:t>부도 등 및 부정당업자제재 상태인 경우 또는 부도 등의 우려가 있어 해당 계약이행이 어렵다고 판단되는 경우</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판정을 받은 경우는 제외</a:t>
            </a:r>
            <a:r>
              <a:rPr lang="en-US" altLang="ko-KR" sz="700" dirty="0">
                <a:latin typeface="+mn-ea"/>
              </a:rPr>
              <a:t>)</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2576843" y="2559978"/>
            <a:ext cx="13625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endParaRPr lang="ko-KR" altLang="en-US" dirty="0"/>
          </a:p>
        </p:txBody>
      </p:sp>
      <p:sp>
        <p:nvSpPr>
          <p:cNvPr id="187" name="TextBox 186">
            <a:extLst>
              <a:ext uri="{FF2B5EF4-FFF2-40B4-BE49-F238E27FC236}">
                <a16:creationId xmlns:a16="http://schemas.microsoft.com/office/drawing/2014/main" id="{FFC49AEA-2A8F-250C-A86A-A7751D9706C3}"/>
              </a:ext>
            </a:extLst>
          </p:cNvPr>
          <p:cNvSpPr txBox="1"/>
          <p:nvPr/>
        </p:nvSpPr>
        <p:spPr>
          <a:xfrm>
            <a:off x="3276137" y="255997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3" name="그룹 2"/>
          <p:cNvGrpSpPr/>
          <p:nvPr/>
        </p:nvGrpSpPr>
        <p:grpSpPr>
          <a:xfrm>
            <a:off x="675399" y="3115641"/>
            <a:ext cx="2713369" cy="3067770"/>
            <a:chOff x="682785" y="3077369"/>
            <a:chExt cx="2713369" cy="3067770"/>
          </a:xfrm>
        </p:grpSpPr>
        <p:sp>
          <p:nvSpPr>
            <p:cNvPr id="208" name="TextBox 207">
              <a:extLst>
                <a:ext uri="{FF2B5EF4-FFF2-40B4-BE49-F238E27FC236}">
                  <a16:creationId xmlns:a16="http://schemas.microsoft.com/office/drawing/2014/main" id="{FFC49AEA-2A8F-250C-A86A-A7751D9706C3}"/>
                </a:ext>
              </a:extLst>
            </p:cNvPr>
            <p:cNvSpPr txBox="1"/>
            <p:nvPr/>
          </p:nvSpPr>
          <p:spPr>
            <a:xfrm>
              <a:off x="770874" y="3077369"/>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가</a:t>
              </a:r>
              <a:r>
                <a:rPr lang="en-US" altLang="ko-KR" sz="700" dirty="0">
                  <a:latin typeface="+mn-ea"/>
                </a:rPr>
                <a:t>) </a:t>
              </a:r>
              <a:r>
                <a:rPr lang="ko-KR" altLang="en-US" sz="700" dirty="0">
                  <a:latin typeface="+mn-ea"/>
                </a:rPr>
                <a:t>재무상태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30</a:t>
              </a:r>
              <a:r>
                <a:rPr lang="ko-KR" altLang="en-US" sz="700" dirty="0">
                  <a:latin typeface="+mn-ea"/>
                </a:rPr>
                <a:t>점</a:t>
              </a:r>
            </a:p>
          </p:txBody>
        </p:sp>
        <p:grpSp>
          <p:nvGrpSpPr>
            <p:cNvPr id="209" name="그룹 208"/>
            <p:cNvGrpSpPr/>
            <p:nvPr/>
          </p:nvGrpSpPr>
          <p:grpSpPr>
            <a:xfrm flipV="1">
              <a:off x="3132961" y="3190700"/>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684127" y="3364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9" name="그룹 88"/>
            <p:cNvGrpSpPr/>
            <p:nvPr/>
          </p:nvGrpSpPr>
          <p:grpSpPr>
            <a:xfrm>
              <a:off x="682785" y="3418417"/>
              <a:ext cx="2712027" cy="708570"/>
              <a:chOff x="675399" y="5469919"/>
              <a:chExt cx="2712027" cy="708570"/>
            </a:xfrm>
          </p:grpSpPr>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617848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2" name="그룹 91"/>
              <p:cNvGrpSpPr/>
              <p:nvPr/>
            </p:nvGrpSpPr>
            <p:grpSpPr>
              <a:xfrm>
                <a:off x="701175" y="5469919"/>
                <a:ext cx="2630093" cy="646331"/>
                <a:chOff x="701175" y="1835481"/>
                <a:chExt cx="2630093" cy="646331"/>
              </a:xfrm>
            </p:grpSpPr>
            <p:sp>
              <p:nvSpPr>
                <p:cNvPr id="95" name="직사각형 94"/>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a:extLst>
                    <a:ext uri="{FF2B5EF4-FFF2-40B4-BE49-F238E27FC236}">
                      <a16:creationId xmlns:a16="http://schemas.microsoft.com/office/drawing/2014/main" id="{FFC49AEA-2A8F-250C-A86A-A7751D9706C3}"/>
                    </a:ext>
                  </a:extLst>
                </p:cNvPr>
                <p:cNvSpPr txBox="1"/>
                <p:nvPr/>
              </p:nvSpPr>
              <p:spPr>
                <a:xfrm>
                  <a:off x="790331" y="1835481"/>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p:txBody>
            </p:sp>
            <p:sp>
              <p:nvSpPr>
                <p:cNvPr id="97" name="TextBox 96">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98" name="그룹 97"/>
                <p:cNvGrpSpPr/>
                <p:nvPr/>
              </p:nvGrpSpPr>
              <p:grpSpPr>
                <a:xfrm>
                  <a:off x="701175" y="1835481"/>
                  <a:ext cx="2630093" cy="644220"/>
                  <a:chOff x="701175" y="1835481"/>
                  <a:chExt cx="2630093" cy="644220"/>
                </a:xfrm>
              </p:grpSpPr>
              <p:cxnSp>
                <p:nvCxnSpPr>
                  <p:cNvPr id="99" name="직선 연결선 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sp>
          <p:nvSpPr>
            <p:cNvPr id="103" name="TextBox 102">
              <a:extLst>
                <a:ext uri="{FF2B5EF4-FFF2-40B4-BE49-F238E27FC236}">
                  <a16:creationId xmlns:a16="http://schemas.microsoft.com/office/drawing/2014/main" id="{FFC49AEA-2A8F-250C-A86A-A7751D9706C3}"/>
                </a:ext>
              </a:extLst>
            </p:cNvPr>
            <p:cNvSpPr txBox="1"/>
            <p:nvPr/>
          </p:nvSpPr>
          <p:spPr>
            <a:xfrm>
              <a:off x="770874" y="4161818"/>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나</a:t>
              </a:r>
              <a:r>
                <a:rPr lang="en-US" altLang="ko-KR" sz="700" dirty="0">
                  <a:latin typeface="+mn-ea"/>
                </a:rPr>
                <a:t>) </a:t>
              </a:r>
              <a:r>
                <a:rPr lang="ko-KR" altLang="en-US" sz="700" dirty="0">
                  <a:latin typeface="+mn-ea"/>
                </a:rPr>
                <a:t>입찰가격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70</a:t>
              </a:r>
              <a:r>
                <a:rPr lang="ko-KR" altLang="en-US" sz="700" dirty="0">
                  <a:latin typeface="+mn-ea"/>
                </a:rPr>
                <a:t>점</a:t>
              </a:r>
            </a:p>
          </p:txBody>
        </p:sp>
        <p:grpSp>
          <p:nvGrpSpPr>
            <p:cNvPr id="104" name="그룹 103"/>
            <p:cNvGrpSpPr/>
            <p:nvPr/>
          </p:nvGrpSpPr>
          <p:grpSpPr>
            <a:xfrm flipV="1">
              <a:off x="3132961" y="4275149"/>
              <a:ext cx="94010" cy="47005"/>
              <a:chOff x="6812560" y="3297172"/>
              <a:chExt cx="94010" cy="47005"/>
            </a:xfrm>
          </p:grpSpPr>
          <p:cxnSp>
            <p:nvCxnSpPr>
              <p:cNvPr id="105" name="직선 연결선 10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6" name="직선 연결선 10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7" name="직선 연결선 106">
              <a:extLst>
                <a:ext uri="{FF2B5EF4-FFF2-40B4-BE49-F238E27FC236}">
                  <a16:creationId xmlns:a16="http://schemas.microsoft.com/office/drawing/2014/main" id="{E9293055-D5CD-4B9E-7F64-64B2D2CA7A52}"/>
                </a:ext>
              </a:extLst>
            </p:cNvPr>
            <p:cNvCxnSpPr/>
            <p:nvPr/>
          </p:nvCxnSpPr>
          <p:spPr>
            <a:xfrm>
              <a:off x="684127" y="44486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684127" y="61451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9" name="그룹 108"/>
            <p:cNvGrpSpPr/>
            <p:nvPr/>
          </p:nvGrpSpPr>
          <p:grpSpPr>
            <a:xfrm>
              <a:off x="725094" y="4512743"/>
              <a:ext cx="2630093" cy="1094598"/>
              <a:chOff x="701175" y="1835480"/>
              <a:chExt cx="2630093" cy="1094598"/>
            </a:xfrm>
          </p:grpSpPr>
          <p:sp>
            <p:nvSpPr>
              <p:cNvPr id="110" name="직사각형 109"/>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70 - | (88/100 – </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 100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113" name="그룹 112"/>
              <p:cNvGrpSpPr/>
              <p:nvPr/>
            </p:nvGrpSpPr>
            <p:grpSpPr>
              <a:xfrm>
                <a:off x="701175" y="1835481"/>
                <a:ext cx="2630093" cy="1094597"/>
                <a:chOff x="701175" y="1835481"/>
                <a:chExt cx="2630093" cy="1094597"/>
              </a:xfrm>
            </p:grpSpPr>
            <p:cxnSp>
              <p:nvCxnSpPr>
                <p:cNvPr id="114" name="직선 연결선 11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20" name="TextBox 119">
              <a:extLst>
                <a:ext uri="{FF2B5EF4-FFF2-40B4-BE49-F238E27FC236}">
                  <a16:creationId xmlns:a16="http://schemas.microsoft.com/office/drawing/2014/main" id="{FFC49AEA-2A8F-250C-A86A-A7751D9706C3}"/>
                </a:ext>
              </a:extLst>
            </p:cNvPr>
            <p:cNvSpPr txBox="1"/>
            <p:nvPr/>
          </p:nvSpPr>
          <p:spPr>
            <a:xfrm>
              <a:off x="812092" y="5724049"/>
              <a:ext cx="2456097" cy="323165"/>
            </a:xfrm>
            <a:prstGeom prst="rect">
              <a:avLst/>
            </a:prstGeom>
            <a:noFill/>
          </p:spPr>
          <p:txBody>
            <a:bodyPr wrap="square" lIns="0" tIns="0" rIns="0" bIns="0" rtlCol="0">
              <a:spAutoFit/>
            </a:bodyPr>
            <a:lstStyle/>
            <a:p>
              <a:pPr lvl="0" algn="ctr" defTabSz="1013612">
                <a:defRPr/>
              </a:pPr>
              <a:r>
                <a:rPr kumimoji="1" lang="ko-KR" altLang="en-US" sz="700" spc="-60" dirty="0">
                  <a:solidFill>
                    <a:srgbClr val="000000">
                      <a:lumMod val="65000"/>
                      <a:lumOff val="35000"/>
                    </a:srgbClr>
                  </a:solidFill>
                  <a:latin typeface="Verdana" panose="020B0604030504040204" pitchFamily="34" charset="0"/>
                </a:rPr>
                <a:t>입찰가격이 예정가격 이하로서</a:t>
              </a:r>
              <a:endParaRPr kumimoji="1" lang="en-US" altLang="ko-KR" sz="700" spc="-60" dirty="0">
                <a:solidFill>
                  <a:srgbClr val="000000">
                    <a:lumMod val="65000"/>
                    <a:lumOff val="35000"/>
                  </a:srgbClr>
                </a:solidFill>
                <a:latin typeface="Verdana" panose="020B0604030504040204" pitchFamily="34" charset="0"/>
              </a:endParaRPr>
            </a:p>
            <a:p>
              <a:pPr lvl="0" algn="ctr" defTabSz="1013612">
                <a:defRPr/>
              </a:pPr>
              <a:r>
                <a:rPr kumimoji="1" lang="ko-KR" altLang="en-US" sz="700" spc="-60" dirty="0">
                  <a:solidFill>
                    <a:srgbClr val="000000">
                      <a:lumMod val="65000"/>
                      <a:lumOff val="35000"/>
                    </a:srgbClr>
                  </a:solidFill>
                  <a:latin typeface="Verdana" panose="020B0604030504040204" pitchFamily="34" charset="0"/>
                </a:rPr>
                <a:t>예정가격의 </a:t>
              </a:r>
              <a:r>
                <a:rPr kumimoji="1" lang="en-US" altLang="ko-KR" sz="700" spc="-60" dirty="0">
                  <a:solidFill>
                    <a:srgbClr val="000000">
                      <a:lumMod val="65000"/>
                      <a:lumOff val="35000"/>
                    </a:srgbClr>
                  </a:solidFill>
                  <a:latin typeface="Verdana" panose="020B0604030504040204" pitchFamily="34" charset="0"/>
                </a:rPr>
                <a:t>100</a:t>
              </a:r>
              <a:r>
                <a:rPr kumimoji="1" lang="ko-KR" altLang="en-US" sz="700" spc="-60" dirty="0">
                  <a:solidFill>
                    <a:srgbClr val="000000">
                      <a:lumMod val="65000"/>
                      <a:lumOff val="35000"/>
                    </a:srgbClr>
                  </a:solidFill>
                  <a:latin typeface="Verdana" panose="020B0604030504040204" pitchFamily="34" charset="0"/>
                </a:rPr>
                <a:t>분의 </a:t>
              </a:r>
              <a:r>
                <a:rPr kumimoji="1" lang="en-US" altLang="ko-KR" sz="700" spc="-60" dirty="0">
                  <a:solidFill>
                    <a:srgbClr val="000000">
                      <a:lumMod val="65000"/>
                      <a:lumOff val="35000"/>
                    </a:srgbClr>
                  </a:solidFill>
                  <a:latin typeface="Verdana" panose="020B0604030504040204" pitchFamily="34" charset="0"/>
                </a:rPr>
                <a:t>93</a:t>
              </a:r>
              <a:r>
                <a:rPr kumimoji="1" lang="ko-KR" altLang="en-US" sz="700" spc="-60" dirty="0">
                  <a:solidFill>
                    <a:srgbClr val="000000">
                      <a:lumMod val="65000"/>
                      <a:lumOff val="35000"/>
                    </a:srgbClr>
                  </a:solidFill>
                  <a:latin typeface="Verdana" panose="020B0604030504040204" pitchFamily="34" charset="0"/>
                </a:rPr>
                <a:t>인 경우 평점은 </a:t>
              </a:r>
              <a:r>
                <a:rPr kumimoji="1" lang="en-US" altLang="ko-KR" sz="700" spc="-60" dirty="0">
                  <a:solidFill>
                    <a:srgbClr val="000000">
                      <a:lumMod val="65000"/>
                      <a:lumOff val="35000"/>
                    </a:srgbClr>
                  </a:solidFill>
                  <a:latin typeface="Verdana" panose="020B0604030504040204" pitchFamily="34" charset="0"/>
                </a:rPr>
                <a:t>65</a:t>
              </a:r>
              <a:r>
                <a:rPr kumimoji="1" lang="ko-KR" altLang="en-US" sz="700" spc="-60" dirty="0">
                  <a:solidFill>
                    <a:srgbClr val="000000">
                      <a:lumMod val="65000"/>
                      <a:lumOff val="35000"/>
                    </a:srgbClr>
                  </a:solidFill>
                  <a:latin typeface="Verdana" panose="020B0604030504040204" pitchFamily="34" charset="0"/>
                </a:rPr>
                <a:t>점</a:t>
              </a:r>
              <a:r>
                <a:rPr kumimoji="1" lang="en-US" altLang="ko-KR" sz="700" spc="-60" dirty="0">
                  <a:solidFill>
                    <a:srgbClr val="000000">
                      <a:lumMod val="65000"/>
                      <a:lumOff val="35000"/>
                    </a:srgbClr>
                  </a:solidFill>
                  <a:latin typeface="Verdana" panose="020B0604030504040204" pitchFamily="34" charset="0"/>
                </a:rPr>
                <a:t/>
              </a:r>
              <a:br>
                <a:rPr kumimoji="1" lang="en-US" altLang="ko-KR" sz="700" spc="-60" dirty="0">
                  <a:solidFill>
                    <a:srgbClr val="000000">
                      <a:lumMod val="65000"/>
                      <a:lumOff val="35000"/>
                    </a:srgbClr>
                  </a:solidFill>
                  <a:latin typeface="Verdana" panose="020B0604030504040204" pitchFamily="34" charset="0"/>
                </a:rPr>
              </a:br>
              <a:r>
                <a:rPr kumimoji="1" lang="ko-KR" altLang="en-US" sz="700" spc="-60" dirty="0" err="1">
                  <a:solidFill>
                    <a:srgbClr val="000000">
                      <a:lumMod val="65000"/>
                      <a:lumOff val="35000"/>
                    </a:srgbClr>
                  </a:solidFill>
                  <a:latin typeface="Verdana" panose="020B0604030504040204" pitchFamily="34" charset="0"/>
                </a:rPr>
                <a:t>최저평점</a:t>
              </a:r>
              <a:r>
                <a:rPr kumimoji="1" lang="ko-KR" altLang="en-US" sz="700" spc="-60" dirty="0">
                  <a:solidFill>
                    <a:srgbClr val="000000">
                      <a:lumMod val="65000"/>
                      <a:lumOff val="35000"/>
                    </a:srgbClr>
                  </a:solidFill>
                  <a:latin typeface="Verdana" panose="020B0604030504040204" pitchFamily="34" charset="0"/>
                </a:rPr>
                <a:t> </a:t>
              </a:r>
              <a:r>
                <a:rPr kumimoji="1" lang="en-US" altLang="ko-KR" sz="700" spc="-60" dirty="0">
                  <a:solidFill>
                    <a:srgbClr val="000000">
                      <a:lumMod val="65000"/>
                      <a:lumOff val="35000"/>
                    </a:srgbClr>
                  </a:solidFill>
                  <a:latin typeface="Verdana" panose="020B0604030504040204" pitchFamily="34" charset="0"/>
                </a:rPr>
                <a:t>: 2</a:t>
              </a:r>
              <a:r>
                <a:rPr kumimoji="1" lang="ko-KR" altLang="en-US" sz="700" spc="-60" dirty="0">
                  <a:solidFill>
                    <a:srgbClr val="000000">
                      <a:lumMod val="65000"/>
                      <a:lumOff val="35000"/>
                    </a:srgbClr>
                  </a:solidFill>
                  <a:latin typeface="Verdana" panose="020B0604030504040204" pitchFamily="34" charset="0"/>
                </a:rPr>
                <a:t>점</a:t>
              </a:r>
            </a:p>
          </p:txBody>
        </p:sp>
      </p:grpSp>
      <p:sp>
        <p:nvSpPr>
          <p:cNvPr id="122" name="TextBox 121">
            <a:extLst>
              <a:ext uri="{FF2B5EF4-FFF2-40B4-BE49-F238E27FC236}">
                <a16:creationId xmlns:a16="http://schemas.microsoft.com/office/drawing/2014/main" id="{FFC49AEA-2A8F-250C-A86A-A7751D9706C3}"/>
              </a:ext>
            </a:extLst>
          </p:cNvPr>
          <p:cNvSpPr txBox="1"/>
          <p:nvPr/>
        </p:nvSpPr>
        <p:spPr>
          <a:xfrm>
            <a:off x="3883823" y="1530876"/>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다</a:t>
            </a:r>
            <a:r>
              <a:rPr lang="en-US" altLang="ko-KR" sz="700" dirty="0">
                <a:latin typeface="+mn-ea"/>
              </a:rPr>
              <a:t>) </a:t>
            </a:r>
            <a:r>
              <a:rPr lang="ko-KR" altLang="en-US" sz="700" dirty="0">
                <a:latin typeface="+mn-ea"/>
              </a:rPr>
              <a:t>신인도 </a:t>
            </a:r>
            <a:r>
              <a:rPr lang="ko-KR" altLang="en-US" sz="700" dirty="0" err="1">
                <a:latin typeface="+mn-ea"/>
              </a:rPr>
              <a:t>산출내역</a:t>
            </a:r>
            <a:r>
              <a:rPr lang="ko-KR" altLang="en-US" sz="700" dirty="0">
                <a:latin typeface="+mn-ea"/>
              </a:rPr>
              <a:t>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+1.15 ~ -5</a:t>
            </a:r>
            <a:r>
              <a:rPr lang="ko-KR" altLang="en-US" sz="700" dirty="0">
                <a:latin typeface="+mn-ea"/>
              </a:rPr>
              <a:t>점</a:t>
            </a:r>
          </a:p>
        </p:txBody>
      </p:sp>
      <p:grpSp>
        <p:nvGrpSpPr>
          <p:cNvPr id="123" name="그룹 122"/>
          <p:cNvGrpSpPr/>
          <p:nvPr/>
        </p:nvGrpSpPr>
        <p:grpSpPr>
          <a:xfrm flipV="1">
            <a:off x="6245910" y="164420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6" name="직선 연결선 125">
            <a:extLst>
              <a:ext uri="{FF2B5EF4-FFF2-40B4-BE49-F238E27FC236}">
                <a16:creationId xmlns:a16="http://schemas.microsoft.com/office/drawing/2014/main" id="{E9293055-D5CD-4B9E-7F64-64B2D2CA7A52}"/>
              </a:ext>
            </a:extLst>
          </p:cNvPr>
          <p:cNvCxnSpPr/>
          <p:nvPr/>
        </p:nvCxnSpPr>
        <p:spPr>
          <a:xfrm>
            <a:off x="3797076" y="181768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FFC49AEA-2A8F-250C-A86A-A7751D9706C3}"/>
              </a:ext>
            </a:extLst>
          </p:cNvPr>
          <p:cNvSpPr txBox="1"/>
          <p:nvPr/>
        </p:nvSpPr>
        <p:spPr>
          <a:xfrm>
            <a:off x="3910665" y="1826459"/>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a:t>
            </a:r>
            <a:r>
              <a:rPr lang="ko-KR" altLang="en-US" dirty="0"/>
              <a:t>계약이행 성실도</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3914929" y="202923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6" name="TextBox 165">
            <a:extLst>
              <a:ext uri="{FF2B5EF4-FFF2-40B4-BE49-F238E27FC236}">
                <a16:creationId xmlns:a16="http://schemas.microsoft.com/office/drawing/2014/main" id="{FFC49AEA-2A8F-250C-A86A-A7751D9706C3}"/>
              </a:ext>
            </a:extLst>
          </p:cNvPr>
          <p:cNvSpPr txBox="1"/>
          <p:nvPr/>
        </p:nvSpPr>
        <p:spPr>
          <a:xfrm>
            <a:off x="4439786" y="2102520"/>
            <a:ext cx="2010812" cy="107722"/>
          </a:xfrm>
          <a:prstGeom prst="rect">
            <a:avLst/>
          </a:prstGeom>
          <a:noFill/>
        </p:spPr>
        <p:txBody>
          <a:bodyPr wrap="square" lIns="0" tIns="0" rIns="0" bIns="0" rtlCol="0">
            <a:spAutoFit/>
          </a:bodyPr>
          <a:lstStyle/>
          <a:p>
            <a:r>
              <a:rPr lang="en-US" altLang="ko-KR" sz="700" dirty="0">
                <a:latin typeface="+mn-ea"/>
              </a:rPr>
              <a:t>1. </a:t>
            </a:r>
            <a:r>
              <a:rPr lang="ko-KR" altLang="en-US" sz="700" dirty="0" err="1">
                <a:latin typeface="+mn-ea"/>
              </a:rPr>
              <a:t>품질발생</a:t>
            </a:r>
            <a:endParaRPr lang="ko-KR" altLang="en-US"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3914929" y="221301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4439786" y="2286300"/>
            <a:ext cx="2010812" cy="107722"/>
          </a:xfrm>
          <a:prstGeom prst="rect">
            <a:avLst/>
          </a:prstGeom>
          <a:noFill/>
        </p:spPr>
        <p:txBody>
          <a:bodyPr wrap="square" lIns="0" tIns="0" rIns="0" bIns="0" rtlCol="0">
            <a:spAutoFit/>
          </a:bodyPr>
          <a:lstStyle/>
          <a:p>
            <a:r>
              <a:rPr lang="ko-KR" altLang="en-US" sz="700" dirty="0">
                <a:latin typeface="+mn-ea"/>
              </a:rPr>
              <a:t>하자발생 유</a:t>
            </a:r>
            <a:r>
              <a:rPr lang="en-US" altLang="ko-KR" sz="700" dirty="0">
                <a:latin typeface="+mn-ea"/>
              </a:rPr>
              <a:t>/</a:t>
            </a:r>
            <a:r>
              <a:rPr lang="ko-KR" altLang="en-US" sz="700" dirty="0">
                <a:latin typeface="+mn-ea"/>
              </a:rPr>
              <a:t>무</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6041078" y="2286300"/>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-2.0</a:t>
            </a:r>
          </a:p>
        </p:txBody>
      </p:sp>
      <p:sp>
        <p:nvSpPr>
          <p:cNvPr id="170" name="직사각형 169"/>
          <p:cNvSpPr/>
          <p:nvPr/>
        </p:nvSpPr>
        <p:spPr>
          <a:xfrm>
            <a:off x="3839398" y="2447378"/>
            <a:ext cx="1639886" cy="2347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1" name="TextBox 170">
            <a:extLst>
              <a:ext uri="{FF2B5EF4-FFF2-40B4-BE49-F238E27FC236}">
                <a16:creationId xmlns:a16="http://schemas.microsoft.com/office/drawing/2014/main" id="{FFC49AEA-2A8F-250C-A86A-A7751D9706C3}"/>
              </a:ext>
            </a:extLst>
          </p:cNvPr>
          <p:cNvSpPr txBox="1"/>
          <p:nvPr/>
        </p:nvSpPr>
        <p:spPr>
          <a:xfrm>
            <a:off x="3926461" y="2447379"/>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5654503" y="244737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3836701" y="24473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3838794" y="26621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직선 연결선 187">
            <a:extLst>
              <a:ext uri="{FF2B5EF4-FFF2-40B4-BE49-F238E27FC236}">
                <a16:creationId xmlns:a16="http://schemas.microsoft.com/office/drawing/2014/main" id="{E9293055-D5CD-4B9E-7F64-64B2D2CA7A52}"/>
              </a:ext>
            </a:extLst>
          </p:cNvPr>
          <p:cNvCxnSpPr/>
          <p:nvPr/>
        </p:nvCxnSpPr>
        <p:spPr>
          <a:xfrm>
            <a:off x="3838794" y="47962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6074873" y="244737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0" name="TextBox 189">
            <a:extLst>
              <a:ext uri="{FF2B5EF4-FFF2-40B4-BE49-F238E27FC236}">
                <a16:creationId xmlns:a16="http://schemas.microsoft.com/office/drawing/2014/main" id="{FFC49AEA-2A8F-250C-A86A-A7751D9706C3}"/>
              </a:ext>
            </a:extLst>
          </p:cNvPr>
          <p:cNvSpPr txBox="1"/>
          <p:nvPr/>
        </p:nvSpPr>
        <p:spPr>
          <a:xfrm>
            <a:off x="3940311" y="2710895"/>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하자 발생사실이 있는 자로서 하자가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하자금액</a:t>
            </a:r>
            <a:r>
              <a:rPr lang="ko-KR" altLang="en-US" dirty="0"/>
              <a:t> 비율에 따라</a:t>
            </a:r>
          </a:p>
          <a:p>
            <a:r>
              <a:rPr lang="ko-KR" altLang="en-US" dirty="0"/>
              <a:t>① </a:t>
            </a:r>
            <a:r>
              <a:rPr lang="en-US" altLang="ko-KR" dirty="0"/>
              <a:t>5%</a:t>
            </a:r>
            <a:r>
              <a:rPr lang="ko-KR" altLang="en-US" dirty="0"/>
              <a:t>이상</a:t>
            </a:r>
          </a:p>
          <a:p>
            <a:r>
              <a:rPr lang="ko-KR" altLang="en-US" dirty="0"/>
              <a:t>② </a:t>
            </a:r>
            <a:r>
              <a:rPr lang="en-US" altLang="ko-KR" dirty="0"/>
              <a:t>3%</a:t>
            </a:r>
            <a:r>
              <a:rPr lang="ko-KR" altLang="en-US" dirty="0"/>
              <a:t>이상 ∼ </a:t>
            </a:r>
            <a:r>
              <a:rPr lang="en-US" altLang="ko-KR" dirty="0"/>
              <a:t>5%</a:t>
            </a:r>
            <a:r>
              <a:rPr lang="ko-KR" altLang="en-US" dirty="0"/>
              <a:t>미만</a:t>
            </a:r>
          </a:p>
          <a:p>
            <a:r>
              <a:rPr lang="ko-KR" altLang="en-US" dirty="0"/>
              <a:t>③ </a:t>
            </a:r>
            <a:r>
              <a:rPr lang="en-US" altLang="ko-KR" dirty="0"/>
              <a:t>1%</a:t>
            </a:r>
            <a:r>
              <a:rPr lang="ko-KR" altLang="en-US" dirty="0"/>
              <a:t>이상 ∼ </a:t>
            </a:r>
            <a:r>
              <a:rPr lang="en-US" altLang="ko-KR" dirty="0"/>
              <a:t>3% </a:t>
            </a:r>
            <a:r>
              <a:rPr lang="ko-KR" altLang="en-US" dirty="0"/>
              <a:t>미만</a:t>
            </a:r>
          </a:p>
          <a:p>
            <a:r>
              <a:rPr lang="ko-KR" altLang="en-US" dirty="0"/>
              <a:t>④ </a:t>
            </a:r>
            <a:r>
              <a:rPr lang="en-US" altLang="ko-KR" dirty="0"/>
              <a:t>0.1%</a:t>
            </a:r>
            <a:r>
              <a:rPr lang="ko-KR" altLang="en-US" dirty="0"/>
              <a:t>이상 ∼ </a:t>
            </a:r>
            <a:r>
              <a:rPr lang="en-US" altLang="ko-KR" dirty="0"/>
              <a:t>1% </a:t>
            </a:r>
            <a:r>
              <a:rPr lang="ko-KR" altLang="en-US" dirty="0"/>
              <a:t>미만</a:t>
            </a:r>
          </a:p>
        </p:txBody>
      </p:sp>
      <p:sp>
        <p:nvSpPr>
          <p:cNvPr id="191" name="TextBox 190">
            <a:extLst>
              <a:ext uri="{FF2B5EF4-FFF2-40B4-BE49-F238E27FC236}">
                <a16:creationId xmlns:a16="http://schemas.microsoft.com/office/drawing/2014/main" id="{FFC49AEA-2A8F-250C-A86A-A7751D9706C3}"/>
              </a:ext>
            </a:extLst>
          </p:cNvPr>
          <p:cNvSpPr txBox="1"/>
          <p:nvPr/>
        </p:nvSpPr>
        <p:spPr>
          <a:xfrm>
            <a:off x="5692397" y="3249504"/>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
        <p:nvSpPr>
          <p:cNvPr id="192" name="TextBox 191">
            <a:extLst>
              <a:ext uri="{FF2B5EF4-FFF2-40B4-BE49-F238E27FC236}">
                <a16:creationId xmlns:a16="http://schemas.microsoft.com/office/drawing/2014/main" id="{FFC49AEA-2A8F-250C-A86A-A7751D9706C3}"/>
              </a:ext>
            </a:extLst>
          </p:cNvPr>
          <p:cNvSpPr txBox="1"/>
          <p:nvPr/>
        </p:nvSpPr>
        <p:spPr>
          <a:xfrm>
            <a:off x="6410927" y="367530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3940311" y="3777947"/>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최근 </a:t>
            </a:r>
            <a:r>
              <a:rPr lang="en-US" altLang="ko-KR" dirty="0"/>
              <a:t>1</a:t>
            </a:r>
            <a:r>
              <a:rPr lang="ko-KR" altLang="en-US" dirty="0"/>
              <a:t>년 이내 국방관서와의 계약이행과정에서 감액 사실이 있는 자로서 감액이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감액비율에</a:t>
            </a:r>
            <a:r>
              <a:rPr lang="ko-KR" altLang="en-US" dirty="0"/>
              <a:t> 따라</a:t>
            </a:r>
            <a:br>
              <a:rPr lang="ko-KR" altLang="en-US" dirty="0"/>
            </a:br>
            <a:r>
              <a:rPr lang="ko-KR" altLang="en-US" dirty="0"/>
              <a:t>① </a:t>
            </a:r>
            <a:r>
              <a:rPr lang="en-US" altLang="ko-KR" dirty="0"/>
              <a:t>20%</a:t>
            </a:r>
            <a:r>
              <a:rPr lang="ko-KR" altLang="en-US" dirty="0"/>
              <a:t>이상</a:t>
            </a:r>
          </a:p>
          <a:p>
            <a:r>
              <a:rPr lang="ko-KR" altLang="en-US" dirty="0"/>
              <a:t>② </a:t>
            </a:r>
            <a:r>
              <a:rPr lang="en-US" altLang="ko-KR" dirty="0"/>
              <a:t>10%</a:t>
            </a:r>
            <a:r>
              <a:rPr lang="ko-KR" altLang="en-US" dirty="0"/>
              <a:t>이상 ∼ </a:t>
            </a:r>
            <a:r>
              <a:rPr lang="en-US" altLang="ko-KR" dirty="0"/>
              <a:t>20%</a:t>
            </a:r>
            <a:r>
              <a:rPr lang="ko-KR" altLang="en-US" dirty="0"/>
              <a:t>미만</a:t>
            </a:r>
          </a:p>
          <a:p>
            <a:r>
              <a:rPr lang="ko-KR" altLang="en-US" dirty="0"/>
              <a:t>③ </a:t>
            </a:r>
            <a:r>
              <a:rPr lang="en-US" altLang="ko-KR" dirty="0"/>
              <a:t>1%</a:t>
            </a:r>
            <a:r>
              <a:rPr lang="ko-KR" altLang="en-US" dirty="0"/>
              <a:t>이상 ∼ </a:t>
            </a:r>
            <a:r>
              <a:rPr lang="en-US" altLang="ko-KR" dirty="0"/>
              <a:t>10%</a:t>
            </a:r>
            <a:r>
              <a:rPr lang="ko-KR" altLang="en-US" dirty="0"/>
              <a:t>미만</a:t>
            </a:r>
          </a:p>
          <a:p>
            <a:r>
              <a:rPr lang="ko-KR" altLang="en-US" dirty="0"/>
              <a:t>④ </a:t>
            </a:r>
            <a:r>
              <a:rPr lang="en-US" altLang="ko-KR" dirty="0"/>
              <a:t>0.1%</a:t>
            </a:r>
            <a:r>
              <a:rPr lang="ko-KR" altLang="en-US" dirty="0"/>
              <a:t>이상 ∼ </a:t>
            </a:r>
            <a:r>
              <a:rPr lang="en-US" altLang="ko-KR" dirty="0"/>
              <a:t>1%</a:t>
            </a:r>
            <a:r>
              <a:rPr lang="ko-KR" altLang="en-US" dirty="0"/>
              <a:t>미만</a:t>
            </a:r>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843649" y="37291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5692397" y="4316556"/>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
        <p:nvSpPr>
          <p:cNvPr id="94" name="타원 9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16386724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205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MUI-BD-10-M10</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411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715086" y="1491157"/>
            <a:ext cx="2630093" cy="1790884"/>
            <a:chOff x="3836701" y="4837950"/>
            <a:chExt cx="2630093" cy="1790884"/>
          </a:xfrm>
        </p:grpSpPr>
        <p:sp>
          <p:nvSpPr>
            <p:cNvPr id="121" name="TextBox 120">
              <a:extLst>
                <a:ext uri="{FF2B5EF4-FFF2-40B4-BE49-F238E27FC236}">
                  <a16:creationId xmlns:a16="http://schemas.microsoft.com/office/drawing/2014/main" id="{FFC49AEA-2A8F-250C-A86A-A7751D9706C3}"/>
                </a:ext>
              </a:extLst>
            </p:cNvPr>
            <p:cNvSpPr txBox="1"/>
            <p:nvPr/>
          </p:nvSpPr>
          <p:spPr>
            <a:xfrm>
              <a:off x="3914929" y="48379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4439786" y="4911238"/>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3914929" y="502173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0" name="TextBox 129">
              <a:extLst>
                <a:ext uri="{FF2B5EF4-FFF2-40B4-BE49-F238E27FC236}">
                  <a16:creationId xmlns:a16="http://schemas.microsoft.com/office/drawing/2014/main" id="{FFC49AEA-2A8F-250C-A86A-A7751D9706C3}"/>
                </a:ext>
              </a:extLst>
            </p:cNvPr>
            <p:cNvSpPr txBox="1"/>
            <p:nvPr/>
          </p:nvSpPr>
          <p:spPr>
            <a:xfrm>
              <a:off x="4439786" y="5095018"/>
              <a:ext cx="2010812" cy="107722"/>
            </a:xfrm>
            <a:prstGeom prst="rect">
              <a:avLst/>
            </a:prstGeom>
            <a:noFill/>
          </p:spPr>
          <p:txBody>
            <a:bodyPr wrap="square" lIns="0" tIns="0" rIns="0" bIns="0" rtlCol="0">
              <a:spAutoFit/>
            </a:bodyPr>
            <a:lstStyle/>
            <a:p>
              <a:r>
                <a:rPr lang="ko-KR" altLang="en-US" sz="700" dirty="0">
                  <a:latin typeface="+mn-ea"/>
                </a:rPr>
                <a:t>지체상금</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6041078" y="509501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32" name="직사각형 131"/>
            <p:cNvSpPr/>
            <p:nvPr/>
          </p:nvSpPr>
          <p:spPr>
            <a:xfrm>
              <a:off x="3839398" y="5256096"/>
              <a:ext cx="1639886" cy="13713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3926461" y="5256097"/>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5654503" y="5256097"/>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3836701" y="52560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3838794" y="547083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3838794" y="66288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8" name="TextBox 137">
              <a:extLst>
                <a:ext uri="{FF2B5EF4-FFF2-40B4-BE49-F238E27FC236}">
                  <a16:creationId xmlns:a16="http://schemas.microsoft.com/office/drawing/2014/main" id="{FFC49AEA-2A8F-250C-A86A-A7751D9706C3}"/>
                </a:ext>
              </a:extLst>
            </p:cNvPr>
            <p:cNvSpPr txBox="1"/>
            <p:nvPr/>
          </p:nvSpPr>
          <p:spPr>
            <a:xfrm>
              <a:off x="6074873" y="525609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9" name="TextBox 138">
              <a:extLst>
                <a:ext uri="{FF2B5EF4-FFF2-40B4-BE49-F238E27FC236}">
                  <a16:creationId xmlns:a16="http://schemas.microsoft.com/office/drawing/2014/main" id="{FFC49AEA-2A8F-250C-A86A-A7751D9706C3}"/>
                </a:ext>
              </a:extLst>
            </p:cNvPr>
            <p:cNvSpPr txBox="1"/>
            <p:nvPr/>
          </p:nvSpPr>
          <p:spPr>
            <a:xfrm>
              <a:off x="3940311" y="5519613"/>
              <a:ext cx="1480199" cy="1077218"/>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지체상금 부과대상자로서 </a:t>
              </a:r>
              <a:r>
                <a:rPr lang="ko-KR" altLang="en-US" dirty="0" err="1"/>
                <a:t>지체상금이</a:t>
              </a:r>
              <a:r>
                <a:rPr lang="ko-KR" altLang="en-US" dirty="0"/>
                <a:t>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지체상금 </a:t>
              </a:r>
              <a:r>
                <a:rPr lang="ko-KR" altLang="en-US" dirty="0" err="1"/>
                <a:t>부과율에</a:t>
              </a:r>
              <a:r>
                <a:rPr lang="ko-KR" altLang="en-US" dirty="0"/>
                <a:t> 따라</a:t>
              </a:r>
            </a:p>
            <a:p>
              <a:r>
                <a:rPr lang="en-US" altLang="ko-KR" dirty="0"/>
                <a:t>- 7%</a:t>
              </a:r>
              <a:r>
                <a:rPr lang="ko-KR" altLang="en-US" dirty="0"/>
                <a:t>이상</a:t>
              </a:r>
            </a:p>
            <a:p>
              <a:r>
                <a:rPr lang="en-US" altLang="ko-KR" dirty="0"/>
                <a:t>- 5%</a:t>
              </a:r>
              <a:r>
                <a:rPr lang="ko-KR" altLang="en-US" dirty="0"/>
                <a:t>이상 ∼ </a:t>
              </a:r>
              <a:r>
                <a:rPr lang="en-US" altLang="ko-KR" dirty="0"/>
                <a:t>7%</a:t>
              </a:r>
              <a:r>
                <a:rPr lang="ko-KR" altLang="en-US" dirty="0"/>
                <a:t>미만</a:t>
              </a:r>
            </a:p>
            <a:p>
              <a:r>
                <a:rPr lang="en-US" altLang="ko-KR" dirty="0"/>
                <a:t>- 3%</a:t>
              </a:r>
              <a:r>
                <a:rPr lang="ko-KR" altLang="en-US" dirty="0"/>
                <a:t>이상 ∼ </a:t>
              </a:r>
              <a:r>
                <a:rPr lang="en-US" altLang="ko-KR" dirty="0"/>
                <a:t>5%</a:t>
              </a:r>
              <a:r>
                <a:rPr lang="ko-KR" altLang="en-US" dirty="0"/>
                <a:t>미만</a:t>
              </a:r>
            </a:p>
            <a:p>
              <a:r>
                <a:rPr lang="en-US" altLang="ko-KR" dirty="0"/>
                <a:t>- 1%</a:t>
              </a:r>
              <a:r>
                <a:rPr lang="ko-KR" altLang="en-US" dirty="0"/>
                <a:t>이상 ∼ </a:t>
              </a:r>
              <a:r>
                <a:rPr lang="en-US" altLang="ko-KR" dirty="0"/>
                <a:t>3%</a:t>
              </a:r>
              <a:r>
                <a:rPr lang="ko-KR" altLang="en-US" dirty="0"/>
                <a:t>미만</a:t>
              </a:r>
            </a:p>
            <a:p>
              <a:r>
                <a:rPr lang="en-US" altLang="ko-KR" dirty="0"/>
                <a:t>- 0.1%</a:t>
              </a:r>
              <a:r>
                <a:rPr lang="ko-KR" altLang="en-US" dirty="0"/>
                <a:t>이상 ∼ </a:t>
              </a:r>
              <a:r>
                <a:rPr lang="en-US" altLang="ko-KR" dirty="0"/>
                <a:t>1%</a:t>
              </a:r>
              <a:r>
                <a:rPr lang="ko-KR" altLang="en-US" dirty="0"/>
                <a:t>미만</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5692397" y="6058222"/>
              <a:ext cx="15549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-0.8</a:t>
              </a:r>
              <a:br>
                <a:rPr lang="en-US" altLang="ko-KR" dirty="0"/>
              </a:br>
              <a:r>
                <a:rPr lang="en-US" altLang="ko-KR" dirty="0"/>
                <a:t>-0.6</a:t>
              </a:r>
              <a:br>
                <a:rPr lang="en-US" altLang="ko-KR" dirty="0"/>
              </a:br>
              <a:r>
                <a:rPr lang="en-US" altLang="ko-KR" dirty="0"/>
                <a:t>-0.4</a:t>
              </a:r>
              <a:br>
                <a:rPr lang="en-US" altLang="ko-KR" dirty="0"/>
              </a:br>
              <a:r>
                <a:rPr lang="en-US" altLang="ko-KR" dirty="0"/>
                <a:t>-0.2</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6410927" y="599597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cxnSp>
        <p:nvCxnSpPr>
          <p:cNvPr id="158" name="직선 연결선 157">
            <a:extLst>
              <a:ext uri="{FF2B5EF4-FFF2-40B4-BE49-F238E27FC236}">
                <a16:creationId xmlns:a16="http://schemas.microsoft.com/office/drawing/2014/main" id="{E9293055-D5CD-4B9E-7F64-64B2D2CA7A52}"/>
              </a:ext>
            </a:extLst>
          </p:cNvPr>
          <p:cNvCxnSpPr/>
          <p:nvPr/>
        </p:nvCxnSpPr>
        <p:spPr>
          <a:xfrm>
            <a:off x="675399" y="55796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TextBox 158">
            <a:extLst>
              <a:ext uri="{FF2B5EF4-FFF2-40B4-BE49-F238E27FC236}">
                <a16:creationId xmlns:a16="http://schemas.microsoft.com/office/drawing/2014/main" id="{FFC49AEA-2A8F-250C-A86A-A7751D9706C3}"/>
              </a:ext>
            </a:extLst>
          </p:cNvPr>
          <p:cNvSpPr txBox="1"/>
          <p:nvPr/>
        </p:nvSpPr>
        <p:spPr>
          <a:xfrm>
            <a:off x="794594" y="329881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0" name="TextBox 159">
            <a:extLst>
              <a:ext uri="{FF2B5EF4-FFF2-40B4-BE49-F238E27FC236}">
                <a16:creationId xmlns:a16="http://schemas.microsoft.com/office/drawing/2014/main" id="{FFC49AEA-2A8F-250C-A86A-A7751D9706C3}"/>
              </a:ext>
            </a:extLst>
          </p:cNvPr>
          <p:cNvSpPr txBox="1"/>
          <p:nvPr/>
        </p:nvSpPr>
        <p:spPr>
          <a:xfrm>
            <a:off x="1319451" y="3372103"/>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부정당업자제재</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794594" y="348259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1319451" y="3555883"/>
            <a:ext cx="2010812" cy="107722"/>
          </a:xfrm>
          <a:prstGeom prst="rect">
            <a:avLst/>
          </a:prstGeom>
          <a:noFill/>
        </p:spPr>
        <p:txBody>
          <a:bodyPr wrap="square" lIns="0" tIns="0" rIns="0" bIns="0" rtlCol="0">
            <a:spAutoFit/>
          </a:bodyPr>
          <a:lstStyle/>
          <a:p>
            <a:r>
              <a:rPr lang="ko-KR" altLang="en-US" sz="700" dirty="0">
                <a:latin typeface="+mn-ea"/>
              </a:rPr>
              <a:t>부정당업자로 제재 받은 </a:t>
            </a:r>
            <a:r>
              <a:rPr lang="ko-KR" altLang="en-US" sz="700" dirty="0" err="1">
                <a:latin typeface="+mn-ea"/>
              </a:rPr>
              <a:t>총제재기간</a:t>
            </a:r>
            <a:endParaRPr lang="ko-KR" altLang="en-US" sz="700" dirty="0">
              <a:latin typeface="+mn-ea"/>
            </a:endParaRPr>
          </a:p>
        </p:txBody>
      </p:sp>
      <p:sp>
        <p:nvSpPr>
          <p:cNvPr id="164" name="TextBox 163">
            <a:extLst>
              <a:ext uri="{FF2B5EF4-FFF2-40B4-BE49-F238E27FC236}">
                <a16:creationId xmlns:a16="http://schemas.microsoft.com/office/drawing/2014/main" id="{FFC49AEA-2A8F-250C-A86A-A7751D9706C3}"/>
              </a:ext>
            </a:extLst>
          </p:cNvPr>
          <p:cNvSpPr txBox="1"/>
          <p:nvPr/>
        </p:nvSpPr>
        <p:spPr>
          <a:xfrm>
            <a:off x="2920743" y="3555883"/>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-2.0</a:t>
            </a:r>
          </a:p>
        </p:txBody>
      </p:sp>
      <p:sp>
        <p:nvSpPr>
          <p:cNvPr id="165" name="직사각형 164"/>
          <p:cNvSpPr/>
          <p:nvPr/>
        </p:nvSpPr>
        <p:spPr>
          <a:xfrm>
            <a:off x="719063" y="3716961"/>
            <a:ext cx="1639886" cy="180356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TextBox 217">
            <a:extLst>
              <a:ext uri="{FF2B5EF4-FFF2-40B4-BE49-F238E27FC236}">
                <a16:creationId xmlns:a16="http://schemas.microsoft.com/office/drawing/2014/main" id="{FFC49AEA-2A8F-250C-A86A-A7751D9706C3}"/>
              </a:ext>
            </a:extLst>
          </p:cNvPr>
          <p:cNvSpPr txBox="1"/>
          <p:nvPr/>
        </p:nvSpPr>
        <p:spPr>
          <a:xfrm>
            <a:off x="806126" y="371696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2534168" y="371696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20" name="직선 연결선 219">
            <a:extLst>
              <a:ext uri="{FF2B5EF4-FFF2-40B4-BE49-F238E27FC236}">
                <a16:creationId xmlns:a16="http://schemas.microsoft.com/office/drawing/2014/main" id="{E9293055-D5CD-4B9E-7F64-64B2D2CA7A52}"/>
              </a:ext>
            </a:extLst>
          </p:cNvPr>
          <p:cNvCxnSpPr/>
          <p:nvPr/>
        </p:nvCxnSpPr>
        <p:spPr>
          <a:xfrm>
            <a:off x="716366" y="371696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718459" y="39317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718459" y="55205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3" name="TextBox 222">
            <a:extLst>
              <a:ext uri="{FF2B5EF4-FFF2-40B4-BE49-F238E27FC236}">
                <a16:creationId xmlns:a16="http://schemas.microsoft.com/office/drawing/2014/main" id="{FFC49AEA-2A8F-250C-A86A-A7751D9706C3}"/>
              </a:ext>
            </a:extLst>
          </p:cNvPr>
          <p:cNvSpPr txBox="1"/>
          <p:nvPr/>
        </p:nvSpPr>
        <p:spPr>
          <a:xfrm>
            <a:off x="2954538" y="371696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819976" y="3972089"/>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2</a:t>
            </a:r>
            <a:r>
              <a:rPr lang="ko-KR" altLang="en-US" dirty="0"/>
              <a:t>년 이내에 부정당업자 제재를 받은 자로서 부정당업자 </a:t>
            </a:r>
            <a:r>
              <a:rPr lang="ko-KR" altLang="en-US" dirty="0" err="1"/>
              <a:t>제재기간</a:t>
            </a:r>
            <a:r>
              <a:rPr lang="ko-KR" altLang="en-US" dirty="0"/>
              <a:t> 종료일이 입찰공고일로부터 </a:t>
            </a:r>
            <a:r>
              <a:rPr lang="en-US" altLang="ko-KR" dirty="0"/>
              <a:t>2</a:t>
            </a:r>
            <a:r>
              <a:rPr lang="ko-KR" altLang="en-US" dirty="0"/>
              <a:t>년 이내에 포함된 전체 부정당업자 제재 건의 총제재기간에 따라</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2572062" y="4591476"/>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-2.0</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3290592" y="46722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819976" y="4591476"/>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2</a:t>
            </a:r>
            <a:r>
              <a:rPr lang="ko-KR" altLang="en-US" dirty="0"/>
              <a:t>년 이상인 경우</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819976" y="4779976"/>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1</a:t>
            </a:r>
            <a:r>
              <a:rPr lang="ko-KR" altLang="en-US" dirty="0"/>
              <a:t>년 이상 ∼ </a:t>
            </a:r>
            <a:r>
              <a:rPr lang="en-US" altLang="ko-KR" dirty="0"/>
              <a:t>2</a:t>
            </a:r>
            <a:r>
              <a:rPr lang="ko-KR" altLang="en-US" dirty="0"/>
              <a:t>년 미만인 경우</a:t>
            </a:r>
          </a:p>
        </p:txBody>
      </p:sp>
      <p:sp>
        <p:nvSpPr>
          <p:cNvPr id="229" name="TextBox 228">
            <a:extLst>
              <a:ext uri="{FF2B5EF4-FFF2-40B4-BE49-F238E27FC236}">
                <a16:creationId xmlns:a16="http://schemas.microsoft.com/office/drawing/2014/main" id="{FFC49AEA-2A8F-250C-A86A-A7751D9706C3}"/>
              </a:ext>
            </a:extLst>
          </p:cNvPr>
          <p:cNvSpPr txBox="1"/>
          <p:nvPr/>
        </p:nvSpPr>
        <p:spPr>
          <a:xfrm>
            <a:off x="819976" y="507619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6</a:t>
            </a:r>
            <a:r>
              <a:rPr lang="ko-KR" altLang="en-US" dirty="0"/>
              <a:t>개월 이상 ∼ </a:t>
            </a:r>
            <a:r>
              <a:rPr lang="en-US" altLang="ko-KR" dirty="0"/>
              <a:t>1</a:t>
            </a:r>
            <a:r>
              <a:rPr lang="ko-KR" altLang="en-US" dirty="0"/>
              <a:t>년 미만인 경우</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819976" y="5372420"/>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6</a:t>
            </a:r>
            <a:r>
              <a:rPr lang="ko-KR" altLang="en-US" dirty="0"/>
              <a:t>개월 미만인 경우</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2572062" y="4833837"/>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p>
        </p:txBody>
      </p:sp>
      <p:sp>
        <p:nvSpPr>
          <p:cNvPr id="232" name="TextBox 231">
            <a:extLst>
              <a:ext uri="{FF2B5EF4-FFF2-40B4-BE49-F238E27FC236}">
                <a16:creationId xmlns:a16="http://schemas.microsoft.com/office/drawing/2014/main" id="{FFC49AEA-2A8F-250C-A86A-A7751D9706C3}"/>
              </a:ext>
            </a:extLst>
          </p:cNvPr>
          <p:cNvSpPr txBox="1"/>
          <p:nvPr/>
        </p:nvSpPr>
        <p:spPr>
          <a:xfrm>
            <a:off x="2572062" y="5130059"/>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sp>
        <p:nvSpPr>
          <p:cNvPr id="233" name="TextBox 232">
            <a:extLst>
              <a:ext uri="{FF2B5EF4-FFF2-40B4-BE49-F238E27FC236}">
                <a16:creationId xmlns:a16="http://schemas.microsoft.com/office/drawing/2014/main" id="{FFC49AEA-2A8F-250C-A86A-A7751D9706C3}"/>
              </a:ext>
            </a:extLst>
          </p:cNvPr>
          <p:cNvSpPr txBox="1"/>
          <p:nvPr/>
        </p:nvSpPr>
        <p:spPr>
          <a:xfrm>
            <a:off x="2572062" y="5372420"/>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234" name="직선 연결선 233">
            <a:extLst>
              <a:ext uri="{FF2B5EF4-FFF2-40B4-BE49-F238E27FC236}">
                <a16:creationId xmlns:a16="http://schemas.microsoft.com/office/drawing/2014/main" id="{E9293055-D5CD-4B9E-7F64-64B2D2CA7A52}"/>
              </a:ext>
            </a:extLst>
          </p:cNvPr>
          <p:cNvCxnSpPr/>
          <p:nvPr/>
        </p:nvCxnSpPr>
        <p:spPr>
          <a:xfrm>
            <a:off x="718459" y="455108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5" name="직선 연결선 234">
            <a:extLst>
              <a:ext uri="{FF2B5EF4-FFF2-40B4-BE49-F238E27FC236}">
                <a16:creationId xmlns:a16="http://schemas.microsoft.com/office/drawing/2014/main" id="{E9293055-D5CD-4B9E-7F64-64B2D2CA7A52}"/>
              </a:ext>
            </a:extLst>
          </p:cNvPr>
          <p:cNvCxnSpPr/>
          <p:nvPr/>
        </p:nvCxnSpPr>
        <p:spPr>
          <a:xfrm>
            <a:off x="718459" y="473958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6" name="직선 연결선 235">
            <a:extLst>
              <a:ext uri="{FF2B5EF4-FFF2-40B4-BE49-F238E27FC236}">
                <a16:creationId xmlns:a16="http://schemas.microsoft.com/office/drawing/2014/main" id="{E9293055-D5CD-4B9E-7F64-64B2D2CA7A52}"/>
              </a:ext>
            </a:extLst>
          </p:cNvPr>
          <p:cNvCxnSpPr/>
          <p:nvPr/>
        </p:nvCxnSpPr>
        <p:spPr>
          <a:xfrm>
            <a:off x="718459" y="503580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7" name="직선 연결선 236">
            <a:extLst>
              <a:ext uri="{FF2B5EF4-FFF2-40B4-BE49-F238E27FC236}">
                <a16:creationId xmlns:a16="http://schemas.microsoft.com/office/drawing/2014/main" id="{E9293055-D5CD-4B9E-7F64-64B2D2CA7A52}"/>
              </a:ext>
            </a:extLst>
          </p:cNvPr>
          <p:cNvCxnSpPr/>
          <p:nvPr/>
        </p:nvCxnSpPr>
        <p:spPr>
          <a:xfrm>
            <a:off x="718459" y="533203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8" name="TextBox 237">
            <a:extLst>
              <a:ext uri="{FF2B5EF4-FFF2-40B4-BE49-F238E27FC236}">
                <a16:creationId xmlns:a16="http://schemas.microsoft.com/office/drawing/2014/main" id="{FFC49AEA-2A8F-250C-A86A-A7751D9706C3}"/>
              </a:ext>
            </a:extLst>
          </p:cNvPr>
          <p:cNvSpPr txBox="1"/>
          <p:nvPr/>
        </p:nvSpPr>
        <p:spPr>
          <a:xfrm>
            <a:off x="3914929" y="1492521"/>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기타</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3914929" y="16927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40" name="TextBox 239">
            <a:extLst>
              <a:ext uri="{FF2B5EF4-FFF2-40B4-BE49-F238E27FC236}">
                <a16:creationId xmlns:a16="http://schemas.microsoft.com/office/drawing/2014/main" id="{FFC49AEA-2A8F-250C-A86A-A7751D9706C3}"/>
              </a:ext>
            </a:extLst>
          </p:cNvPr>
          <p:cNvSpPr txBox="1"/>
          <p:nvPr/>
        </p:nvSpPr>
        <p:spPr>
          <a:xfrm>
            <a:off x="4439786" y="1766046"/>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혁신형중소기업</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3914929" y="18765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42" name="TextBox 241">
            <a:extLst>
              <a:ext uri="{FF2B5EF4-FFF2-40B4-BE49-F238E27FC236}">
                <a16:creationId xmlns:a16="http://schemas.microsoft.com/office/drawing/2014/main" id="{FFC49AEA-2A8F-250C-A86A-A7751D9706C3}"/>
              </a:ext>
            </a:extLst>
          </p:cNvPr>
          <p:cNvSpPr txBox="1"/>
          <p:nvPr/>
        </p:nvSpPr>
        <p:spPr>
          <a:xfrm>
            <a:off x="4439786" y="1949826"/>
            <a:ext cx="2010812" cy="107722"/>
          </a:xfrm>
          <a:prstGeom prst="rect">
            <a:avLst/>
          </a:prstGeom>
          <a:noFill/>
        </p:spPr>
        <p:txBody>
          <a:bodyPr wrap="square" lIns="0" tIns="0" rIns="0" bIns="0" rtlCol="0">
            <a:spAutoFit/>
          </a:bodyPr>
          <a:lstStyle/>
          <a:p>
            <a:r>
              <a:rPr lang="ko-KR" altLang="en-US" sz="700" dirty="0">
                <a:latin typeface="+mn-ea"/>
              </a:rPr>
              <a:t>혁신형중소기업</a:t>
            </a:r>
          </a:p>
        </p:txBody>
      </p:sp>
      <p:sp>
        <p:nvSpPr>
          <p:cNvPr id="243" name="TextBox 242">
            <a:extLst>
              <a:ext uri="{FF2B5EF4-FFF2-40B4-BE49-F238E27FC236}">
                <a16:creationId xmlns:a16="http://schemas.microsoft.com/office/drawing/2014/main" id="{FFC49AEA-2A8F-250C-A86A-A7751D9706C3}"/>
              </a:ext>
            </a:extLst>
          </p:cNvPr>
          <p:cNvSpPr txBox="1"/>
          <p:nvPr/>
        </p:nvSpPr>
        <p:spPr>
          <a:xfrm>
            <a:off x="6041078" y="19498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244" name="직사각형 243"/>
          <p:cNvSpPr/>
          <p:nvPr/>
        </p:nvSpPr>
        <p:spPr>
          <a:xfrm>
            <a:off x="3835134" y="2105659"/>
            <a:ext cx="1639886" cy="10398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5" name="TextBox 244">
            <a:extLst>
              <a:ext uri="{FF2B5EF4-FFF2-40B4-BE49-F238E27FC236}">
                <a16:creationId xmlns:a16="http://schemas.microsoft.com/office/drawing/2014/main" id="{FFC49AEA-2A8F-250C-A86A-A7751D9706C3}"/>
              </a:ext>
            </a:extLst>
          </p:cNvPr>
          <p:cNvSpPr txBox="1"/>
          <p:nvPr/>
        </p:nvSpPr>
        <p:spPr>
          <a:xfrm>
            <a:off x="3922197" y="210566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6" name="TextBox 245">
            <a:extLst>
              <a:ext uri="{FF2B5EF4-FFF2-40B4-BE49-F238E27FC236}">
                <a16:creationId xmlns:a16="http://schemas.microsoft.com/office/drawing/2014/main" id="{FFC49AEA-2A8F-250C-A86A-A7751D9706C3}"/>
              </a:ext>
            </a:extLst>
          </p:cNvPr>
          <p:cNvSpPr txBox="1"/>
          <p:nvPr/>
        </p:nvSpPr>
        <p:spPr>
          <a:xfrm>
            <a:off x="5650239" y="210566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47" name="직선 연결선 246">
            <a:extLst>
              <a:ext uri="{FF2B5EF4-FFF2-40B4-BE49-F238E27FC236}">
                <a16:creationId xmlns:a16="http://schemas.microsoft.com/office/drawing/2014/main" id="{E9293055-D5CD-4B9E-7F64-64B2D2CA7A52}"/>
              </a:ext>
            </a:extLst>
          </p:cNvPr>
          <p:cNvCxnSpPr/>
          <p:nvPr/>
        </p:nvCxnSpPr>
        <p:spPr>
          <a:xfrm>
            <a:off x="3832437" y="210565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8" name="직선 연결선 247">
            <a:extLst>
              <a:ext uri="{FF2B5EF4-FFF2-40B4-BE49-F238E27FC236}">
                <a16:creationId xmlns:a16="http://schemas.microsoft.com/office/drawing/2014/main" id="{E9293055-D5CD-4B9E-7F64-64B2D2CA7A52}"/>
              </a:ext>
            </a:extLst>
          </p:cNvPr>
          <p:cNvCxnSpPr/>
          <p:nvPr/>
        </p:nvCxnSpPr>
        <p:spPr>
          <a:xfrm>
            <a:off x="3834530" y="23203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9" name="직선 연결선 248">
            <a:extLst>
              <a:ext uri="{FF2B5EF4-FFF2-40B4-BE49-F238E27FC236}">
                <a16:creationId xmlns:a16="http://schemas.microsoft.com/office/drawing/2014/main" id="{E9293055-D5CD-4B9E-7F64-64B2D2CA7A52}"/>
              </a:ext>
            </a:extLst>
          </p:cNvPr>
          <p:cNvCxnSpPr/>
          <p:nvPr/>
        </p:nvCxnSpPr>
        <p:spPr>
          <a:xfrm>
            <a:off x="3834530" y="315511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0" name="TextBox 249">
            <a:extLst>
              <a:ext uri="{FF2B5EF4-FFF2-40B4-BE49-F238E27FC236}">
                <a16:creationId xmlns:a16="http://schemas.microsoft.com/office/drawing/2014/main" id="{FFC49AEA-2A8F-250C-A86A-A7751D9706C3}"/>
              </a:ext>
            </a:extLst>
          </p:cNvPr>
          <p:cNvSpPr txBox="1"/>
          <p:nvPr/>
        </p:nvSpPr>
        <p:spPr>
          <a:xfrm>
            <a:off x="6070609" y="210566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51" name="TextBox 250">
            <a:extLst>
              <a:ext uri="{FF2B5EF4-FFF2-40B4-BE49-F238E27FC236}">
                <a16:creationId xmlns:a16="http://schemas.microsoft.com/office/drawing/2014/main" id="{FFC49AEA-2A8F-250C-A86A-A7751D9706C3}"/>
              </a:ext>
            </a:extLst>
          </p:cNvPr>
          <p:cNvSpPr txBox="1"/>
          <p:nvPr/>
        </p:nvSpPr>
        <p:spPr>
          <a:xfrm>
            <a:off x="3936047" y="236874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중소기업청장</a:t>
            </a:r>
            <a:r>
              <a:rPr lang="en-US" altLang="ko-KR" dirty="0"/>
              <a:t>(</a:t>
            </a:r>
            <a:r>
              <a:rPr lang="ko-KR" altLang="en-US" dirty="0"/>
              <a:t>또는 </a:t>
            </a:r>
            <a:r>
              <a:rPr lang="ko-KR" altLang="en-US" dirty="0" err="1"/>
              <a:t>위임받은자</a:t>
            </a:r>
            <a:r>
              <a:rPr lang="en-US" altLang="ko-KR" dirty="0"/>
              <a:t>)</a:t>
            </a:r>
            <a:r>
              <a:rPr lang="ko-KR" altLang="en-US" dirty="0"/>
              <a:t>에 의해 ‘</a:t>
            </a:r>
            <a:r>
              <a:rPr lang="ko-KR" altLang="en-US" dirty="0" err="1"/>
              <a:t>기술혁신형</a:t>
            </a:r>
            <a:r>
              <a:rPr lang="ko-KR" altLang="en-US" dirty="0"/>
              <a:t> 중소기업</a:t>
            </a:r>
            <a:r>
              <a:rPr lang="en-US" altLang="ko-KR" dirty="0"/>
              <a:t>(INNO-BIZ)’</a:t>
            </a:r>
            <a:r>
              <a:rPr lang="ko-KR" altLang="en-US" dirty="0"/>
              <a:t>으로 지정 </a:t>
            </a:r>
            <a:r>
              <a:rPr lang="ko-KR" altLang="en-US" dirty="0" err="1"/>
              <a:t>받은자</a:t>
            </a:r>
            <a:endParaRPr lang="ko-KR" altLang="en-US" dirty="0"/>
          </a:p>
        </p:txBody>
      </p:sp>
      <p:sp>
        <p:nvSpPr>
          <p:cNvPr id="252" name="TextBox 251">
            <a:extLst>
              <a:ext uri="{FF2B5EF4-FFF2-40B4-BE49-F238E27FC236}">
                <a16:creationId xmlns:a16="http://schemas.microsoft.com/office/drawing/2014/main" id="{FFC49AEA-2A8F-250C-A86A-A7751D9706C3}"/>
              </a:ext>
            </a:extLst>
          </p:cNvPr>
          <p:cNvSpPr txBox="1"/>
          <p:nvPr/>
        </p:nvSpPr>
        <p:spPr>
          <a:xfrm>
            <a:off x="6406663" y="268389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3" name="TextBox 252">
            <a:extLst>
              <a:ext uri="{FF2B5EF4-FFF2-40B4-BE49-F238E27FC236}">
                <a16:creationId xmlns:a16="http://schemas.microsoft.com/office/drawing/2014/main" id="{FFC49AEA-2A8F-250C-A86A-A7751D9706C3}"/>
              </a:ext>
            </a:extLst>
          </p:cNvPr>
          <p:cNvSpPr txBox="1"/>
          <p:nvPr/>
        </p:nvSpPr>
        <p:spPr>
          <a:xfrm>
            <a:off x="5725003" y="2797832"/>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3936047" y="2797832"/>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err="1"/>
              <a:t>혁신형기업이면서</a:t>
            </a:r>
            <a:r>
              <a:rPr lang="ko-KR" altLang="en-US" dirty="0"/>
              <a:t> 제조기업</a:t>
            </a:r>
          </a:p>
        </p:txBody>
      </p:sp>
      <p:sp>
        <p:nvSpPr>
          <p:cNvPr id="255" name="TextBox 254">
            <a:extLst>
              <a:ext uri="{FF2B5EF4-FFF2-40B4-BE49-F238E27FC236}">
                <a16:creationId xmlns:a16="http://schemas.microsoft.com/office/drawing/2014/main" id="{FFC49AEA-2A8F-250C-A86A-A7751D9706C3}"/>
              </a:ext>
            </a:extLst>
          </p:cNvPr>
          <p:cNvSpPr txBox="1"/>
          <p:nvPr/>
        </p:nvSpPr>
        <p:spPr>
          <a:xfrm>
            <a:off x="3936047" y="2986332"/>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err="1"/>
              <a:t>혁신형기업</a:t>
            </a:r>
            <a:endParaRPr lang="ko-KR" altLang="en-US" dirty="0"/>
          </a:p>
        </p:txBody>
      </p:sp>
      <p:sp>
        <p:nvSpPr>
          <p:cNvPr id="256" name="TextBox 255">
            <a:extLst>
              <a:ext uri="{FF2B5EF4-FFF2-40B4-BE49-F238E27FC236}">
                <a16:creationId xmlns:a16="http://schemas.microsoft.com/office/drawing/2014/main" id="{FFC49AEA-2A8F-250C-A86A-A7751D9706C3}"/>
              </a:ext>
            </a:extLst>
          </p:cNvPr>
          <p:cNvSpPr txBox="1"/>
          <p:nvPr/>
        </p:nvSpPr>
        <p:spPr>
          <a:xfrm>
            <a:off x="5725002" y="2986332"/>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0.3</a:t>
            </a:r>
          </a:p>
        </p:txBody>
      </p:sp>
      <p:cxnSp>
        <p:nvCxnSpPr>
          <p:cNvPr id="257" name="직선 연결선 256">
            <a:extLst>
              <a:ext uri="{FF2B5EF4-FFF2-40B4-BE49-F238E27FC236}">
                <a16:creationId xmlns:a16="http://schemas.microsoft.com/office/drawing/2014/main" id="{E9293055-D5CD-4B9E-7F64-64B2D2CA7A52}"/>
              </a:ext>
            </a:extLst>
          </p:cNvPr>
          <p:cNvCxnSpPr/>
          <p:nvPr/>
        </p:nvCxnSpPr>
        <p:spPr>
          <a:xfrm>
            <a:off x="3834530" y="275744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8" name="직선 연결선 257">
            <a:extLst>
              <a:ext uri="{FF2B5EF4-FFF2-40B4-BE49-F238E27FC236}">
                <a16:creationId xmlns:a16="http://schemas.microsoft.com/office/drawing/2014/main" id="{E9293055-D5CD-4B9E-7F64-64B2D2CA7A52}"/>
              </a:ext>
            </a:extLst>
          </p:cNvPr>
          <p:cNvCxnSpPr/>
          <p:nvPr/>
        </p:nvCxnSpPr>
        <p:spPr>
          <a:xfrm>
            <a:off x="3834530" y="294594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9" name="TextBox 258">
            <a:extLst>
              <a:ext uri="{FF2B5EF4-FFF2-40B4-BE49-F238E27FC236}">
                <a16:creationId xmlns:a16="http://schemas.microsoft.com/office/drawing/2014/main" id="{FFC49AEA-2A8F-250C-A86A-A7751D9706C3}"/>
              </a:ext>
            </a:extLst>
          </p:cNvPr>
          <p:cNvSpPr txBox="1"/>
          <p:nvPr/>
        </p:nvSpPr>
        <p:spPr>
          <a:xfrm>
            <a:off x="5725002" y="4031768"/>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60" name="TextBox 259">
            <a:extLst>
              <a:ext uri="{FF2B5EF4-FFF2-40B4-BE49-F238E27FC236}">
                <a16:creationId xmlns:a16="http://schemas.microsoft.com/office/drawing/2014/main" id="{FFC49AEA-2A8F-250C-A86A-A7751D9706C3}"/>
              </a:ext>
            </a:extLst>
          </p:cNvPr>
          <p:cNvSpPr txBox="1"/>
          <p:nvPr/>
        </p:nvSpPr>
        <p:spPr>
          <a:xfrm>
            <a:off x="3914929" y="319420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4439786" y="3267488"/>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노사협력우수</a:t>
            </a:r>
          </a:p>
        </p:txBody>
      </p:sp>
      <p:sp>
        <p:nvSpPr>
          <p:cNvPr id="262" name="TextBox 261">
            <a:extLst>
              <a:ext uri="{FF2B5EF4-FFF2-40B4-BE49-F238E27FC236}">
                <a16:creationId xmlns:a16="http://schemas.microsoft.com/office/drawing/2014/main" id="{FFC49AEA-2A8F-250C-A86A-A7751D9706C3}"/>
              </a:ext>
            </a:extLst>
          </p:cNvPr>
          <p:cNvSpPr txBox="1"/>
          <p:nvPr/>
        </p:nvSpPr>
        <p:spPr>
          <a:xfrm>
            <a:off x="3914929" y="337798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4439786" y="3451268"/>
            <a:ext cx="2010812" cy="107722"/>
          </a:xfrm>
          <a:prstGeom prst="rect">
            <a:avLst/>
          </a:prstGeom>
          <a:noFill/>
        </p:spPr>
        <p:txBody>
          <a:bodyPr wrap="square" lIns="0" tIns="0" rIns="0" bIns="0" rtlCol="0">
            <a:spAutoFit/>
          </a:bodyPr>
          <a:lstStyle/>
          <a:p>
            <a:r>
              <a:rPr lang="ko-KR" altLang="en-US" sz="700" dirty="0">
                <a:latin typeface="+mn-ea"/>
              </a:rPr>
              <a:t>노사협력우수</a:t>
            </a:r>
          </a:p>
        </p:txBody>
      </p:sp>
      <p:sp>
        <p:nvSpPr>
          <p:cNvPr id="264" name="TextBox 263">
            <a:extLst>
              <a:ext uri="{FF2B5EF4-FFF2-40B4-BE49-F238E27FC236}">
                <a16:creationId xmlns:a16="http://schemas.microsoft.com/office/drawing/2014/main" id="{FFC49AEA-2A8F-250C-A86A-A7751D9706C3}"/>
              </a:ext>
            </a:extLst>
          </p:cNvPr>
          <p:cNvSpPr txBox="1"/>
          <p:nvPr/>
        </p:nvSpPr>
        <p:spPr>
          <a:xfrm>
            <a:off x="6041078" y="345126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265" name="직사각형 264"/>
          <p:cNvSpPr/>
          <p:nvPr/>
        </p:nvSpPr>
        <p:spPr>
          <a:xfrm>
            <a:off x="3835134" y="3607101"/>
            <a:ext cx="1639886" cy="7491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6" name="TextBox 265">
            <a:extLst>
              <a:ext uri="{FF2B5EF4-FFF2-40B4-BE49-F238E27FC236}">
                <a16:creationId xmlns:a16="http://schemas.microsoft.com/office/drawing/2014/main" id="{FFC49AEA-2A8F-250C-A86A-A7751D9706C3}"/>
              </a:ext>
            </a:extLst>
          </p:cNvPr>
          <p:cNvSpPr txBox="1"/>
          <p:nvPr/>
        </p:nvSpPr>
        <p:spPr>
          <a:xfrm>
            <a:off x="3922197" y="360710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67" name="TextBox 266">
            <a:extLst>
              <a:ext uri="{FF2B5EF4-FFF2-40B4-BE49-F238E27FC236}">
                <a16:creationId xmlns:a16="http://schemas.microsoft.com/office/drawing/2014/main" id="{FFC49AEA-2A8F-250C-A86A-A7751D9706C3}"/>
              </a:ext>
            </a:extLst>
          </p:cNvPr>
          <p:cNvSpPr txBox="1"/>
          <p:nvPr/>
        </p:nvSpPr>
        <p:spPr>
          <a:xfrm>
            <a:off x="5650239" y="360710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32437" y="360710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34530" y="38218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34530" y="43563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6070609" y="360710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2" name="TextBox 271">
            <a:extLst>
              <a:ext uri="{FF2B5EF4-FFF2-40B4-BE49-F238E27FC236}">
                <a16:creationId xmlns:a16="http://schemas.microsoft.com/office/drawing/2014/main" id="{FFC49AEA-2A8F-250C-A86A-A7751D9706C3}"/>
              </a:ext>
            </a:extLst>
          </p:cNvPr>
          <p:cNvSpPr txBox="1"/>
          <p:nvPr/>
        </p:nvSpPr>
        <p:spPr>
          <a:xfrm>
            <a:off x="3936047" y="3870186"/>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고용노동부장관으로부터 ‘노사문화우수기업’</a:t>
            </a:r>
            <a:r>
              <a:rPr lang="en-US" altLang="ko-KR" dirty="0"/>
              <a:t>(</a:t>
            </a:r>
            <a:r>
              <a:rPr lang="ko-KR" altLang="en-US" dirty="0"/>
              <a:t>대상기업포함</a:t>
            </a:r>
            <a:r>
              <a:rPr lang="en-US" altLang="ko-KR" dirty="0"/>
              <a:t>)</a:t>
            </a:r>
            <a:r>
              <a:rPr lang="ko-KR" altLang="en-US" dirty="0"/>
              <a:t>으로 선정된 업체</a:t>
            </a:r>
            <a:r>
              <a:rPr lang="en-US" altLang="ko-KR" dirty="0"/>
              <a:t>(</a:t>
            </a:r>
            <a:r>
              <a:rPr lang="ko-KR" altLang="en-US" dirty="0"/>
              <a:t>유효기간 내에 한함</a:t>
            </a:r>
            <a:r>
              <a:rPr lang="en-US" altLang="ko-KR" dirty="0"/>
              <a:t>)</a:t>
            </a:r>
            <a:br>
              <a:rPr lang="en-US" altLang="ko-KR" dirty="0"/>
            </a:br>
            <a:r>
              <a:rPr lang="en-US" altLang="ko-KR" dirty="0"/>
              <a:t>* </a:t>
            </a:r>
            <a:r>
              <a:rPr lang="ko-KR" altLang="en-US" dirty="0"/>
              <a:t>다만</a:t>
            </a:r>
            <a:r>
              <a:rPr lang="en-US" altLang="ko-KR" dirty="0"/>
              <a:t>, </a:t>
            </a:r>
            <a:r>
              <a:rPr lang="ko-KR" altLang="en-US" dirty="0" err="1"/>
              <a:t>급식분야는</a:t>
            </a:r>
            <a:r>
              <a:rPr lang="ko-KR" altLang="en-US" dirty="0"/>
              <a:t> </a:t>
            </a:r>
            <a:r>
              <a:rPr lang="en-US" altLang="ko-KR" dirty="0"/>
              <a:t>0.25</a:t>
            </a:r>
            <a:r>
              <a:rPr lang="ko-KR" altLang="en-US" dirty="0"/>
              <a:t>점</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6406663" y="40317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74" name="TextBox 273">
            <a:extLst>
              <a:ext uri="{FF2B5EF4-FFF2-40B4-BE49-F238E27FC236}">
                <a16:creationId xmlns:a16="http://schemas.microsoft.com/office/drawing/2014/main" id="{FFC49AEA-2A8F-250C-A86A-A7751D9706C3}"/>
              </a:ext>
            </a:extLst>
          </p:cNvPr>
          <p:cNvSpPr txBox="1"/>
          <p:nvPr/>
        </p:nvSpPr>
        <p:spPr>
          <a:xfrm>
            <a:off x="5725002" y="5124276"/>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75" name="TextBox 274">
            <a:extLst>
              <a:ext uri="{FF2B5EF4-FFF2-40B4-BE49-F238E27FC236}">
                <a16:creationId xmlns:a16="http://schemas.microsoft.com/office/drawing/2014/main" id="{FFC49AEA-2A8F-250C-A86A-A7751D9706C3}"/>
              </a:ext>
            </a:extLst>
          </p:cNvPr>
          <p:cNvSpPr txBox="1"/>
          <p:nvPr/>
        </p:nvSpPr>
        <p:spPr>
          <a:xfrm>
            <a:off x="3914929" y="439442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76" name="TextBox 275">
            <a:extLst>
              <a:ext uri="{FF2B5EF4-FFF2-40B4-BE49-F238E27FC236}">
                <a16:creationId xmlns:a16="http://schemas.microsoft.com/office/drawing/2014/main" id="{FFC49AEA-2A8F-250C-A86A-A7751D9706C3}"/>
              </a:ext>
            </a:extLst>
          </p:cNvPr>
          <p:cNvSpPr txBox="1"/>
          <p:nvPr/>
        </p:nvSpPr>
        <p:spPr>
          <a:xfrm>
            <a:off x="4439786" y="4467717"/>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비상대비</a:t>
            </a:r>
          </a:p>
        </p:txBody>
      </p:sp>
      <p:sp>
        <p:nvSpPr>
          <p:cNvPr id="277" name="TextBox 276">
            <a:extLst>
              <a:ext uri="{FF2B5EF4-FFF2-40B4-BE49-F238E27FC236}">
                <a16:creationId xmlns:a16="http://schemas.microsoft.com/office/drawing/2014/main" id="{FFC49AEA-2A8F-250C-A86A-A7751D9706C3}"/>
              </a:ext>
            </a:extLst>
          </p:cNvPr>
          <p:cNvSpPr txBox="1"/>
          <p:nvPr/>
        </p:nvSpPr>
        <p:spPr>
          <a:xfrm>
            <a:off x="3914929" y="457820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78" name="TextBox 277">
            <a:extLst>
              <a:ext uri="{FF2B5EF4-FFF2-40B4-BE49-F238E27FC236}">
                <a16:creationId xmlns:a16="http://schemas.microsoft.com/office/drawing/2014/main" id="{FFC49AEA-2A8F-250C-A86A-A7751D9706C3}"/>
              </a:ext>
            </a:extLst>
          </p:cNvPr>
          <p:cNvSpPr txBox="1"/>
          <p:nvPr/>
        </p:nvSpPr>
        <p:spPr>
          <a:xfrm>
            <a:off x="4439786" y="4651497"/>
            <a:ext cx="2010812" cy="107722"/>
          </a:xfrm>
          <a:prstGeom prst="rect">
            <a:avLst/>
          </a:prstGeom>
          <a:noFill/>
        </p:spPr>
        <p:txBody>
          <a:bodyPr wrap="square" lIns="0" tIns="0" rIns="0" bIns="0" rtlCol="0">
            <a:spAutoFit/>
          </a:bodyPr>
          <a:lstStyle/>
          <a:p>
            <a:r>
              <a:rPr lang="ko-KR" altLang="en-US" sz="700" dirty="0">
                <a:latin typeface="+mn-ea"/>
              </a:rPr>
              <a:t>비상대비중점관리</a:t>
            </a:r>
          </a:p>
        </p:txBody>
      </p:sp>
      <p:sp>
        <p:nvSpPr>
          <p:cNvPr id="279" name="TextBox 278">
            <a:extLst>
              <a:ext uri="{FF2B5EF4-FFF2-40B4-BE49-F238E27FC236}">
                <a16:creationId xmlns:a16="http://schemas.microsoft.com/office/drawing/2014/main" id="{FFC49AEA-2A8F-250C-A86A-A7751D9706C3}"/>
              </a:ext>
            </a:extLst>
          </p:cNvPr>
          <p:cNvSpPr txBox="1"/>
          <p:nvPr/>
        </p:nvSpPr>
        <p:spPr>
          <a:xfrm>
            <a:off x="6041078" y="465149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280" name="직사각형 279"/>
          <p:cNvSpPr/>
          <p:nvPr/>
        </p:nvSpPr>
        <p:spPr>
          <a:xfrm>
            <a:off x="3835134" y="4807331"/>
            <a:ext cx="1639886" cy="51574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1" name="TextBox 280">
            <a:extLst>
              <a:ext uri="{FF2B5EF4-FFF2-40B4-BE49-F238E27FC236}">
                <a16:creationId xmlns:a16="http://schemas.microsoft.com/office/drawing/2014/main" id="{FFC49AEA-2A8F-250C-A86A-A7751D9706C3}"/>
              </a:ext>
            </a:extLst>
          </p:cNvPr>
          <p:cNvSpPr txBox="1"/>
          <p:nvPr/>
        </p:nvSpPr>
        <p:spPr>
          <a:xfrm>
            <a:off x="3922197" y="480733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82" name="TextBox 281">
            <a:extLst>
              <a:ext uri="{FF2B5EF4-FFF2-40B4-BE49-F238E27FC236}">
                <a16:creationId xmlns:a16="http://schemas.microsoft.com/office/drawing/2014/main" id="{FFC49AEA-2A8F-250C-A86A-A7751D9706C3}"/>
              </a:ext>
            </a:extLst>
          </p:cNvPr>
          <p:cNvSpPr txBox="1"/>
          <p:nvPr/>
        </p:nvSpPr>
        <p:spPr>
          <a:xfrm>
            <a:off x="5650239" y="480733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83" name="직선 연결선 282">
            <a:extLst>
              <a:ext uri="{FF2B5EF4-FFF2-40B4-BE49-F238E27FC236}">
                <a16:creationId xmlns:a16="http://schemas.microsoft.com/office/drawing/2014/main" id="{E9293055-D5CD-4B9E-7F64-64B2D2CA7A52}"/>
              </a:ext>
            </a:extLst>
          </p:cNvPr>
          <p:cNvCxnSpPr/>
          <p:nvPr/>
        </p:nvCxnSpPr>
        <p:spPr>
          <a:xfrm>
            <a:off x="3832437" y="480732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4" name="직선 연결선 283">
            <a:extLst>
              <a:ext uri="{FF2B5EF4-FFF2-40B4-BE49-F238E27FC236}">
                <a16:creationId xmlns:a16="http://schemas.microsoft.com/office/drawing/2014/main" id="{E9293055-D5CD-4B9E-7F64-64B2D2CA7A52}"/>
              </a:ext>
            </a:extLst>
          </p:cNvPr>
          <p:cNvCxnSpPr/>
          <p:nvPr/>
        </p:nvCxnSpPr>
        <p:spPr>
          <a:xfrm>
            <a:off x="3834530" y="50220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5" name="직선 연결선 284">
            <a:extLst>
              <a:ext uri="{FF2B5EF4-FFF2-40B4-BE49-F238E27FC236}">
                <a16:creationId xmlns:a16="http://schemas.microsoft.com/office/drawing/2014/main" id="{E9293055-D5CD-4B9E-7F64-64B2D2CA7A52}"/>
              </a:ext>
            </a:extLst>
          </p:cNvPr>
          <p:cNvCxnSpPr/>
          <p:nvPr/>
        </p:nvCxnSpPr>
        <p:spPr>
          <a:xfrm>
            <a:off x="3834530" y="532869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6" name="TextBox 285">
            <a:extLst>
              <a:ext uri="{FF2B5EF4-FFF2-40B4-BE49-F238E27FC236}">
                <a16:creationId xmlns:a16="http://schemas.microsoft.com/office/drawing/2014/main" id="{FFC49AEA-2A8F-250C-A86A-A7751D9706C3}"/>
              </a:ext>
            </a:extLst>
          </p:cNvPr>
          <p:cNvSpPr txBox="1"/>
          <p:nvPr/>
        </p:nvSpPr>
        <p:spPr>
          <a:xfrm>
            <a:off x="6070609" y="480733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87" name="TextBox 286">
            <a:extLst>
              <a:ext uri="{FF2B5EF4-FFF2-40B4-BE49-F238E27FC236}">
                <a16:creationId xmlns:a16="http://schemas.microsoft.com/office/drawing/2014/main" id="{FFC49AEA-2A8F-250C-A86A-A7751D9706C3}"/>
              </a:ext>
            </a:extLst>
          </p:cNvPr>
          <p:cNvSpPr txBox="1"/>
          <p:nvPr/>
        </p:nvSpPr>
        <p:spPr>
          <a:xfrm>
            <a:off x="3936047" y="507041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국민안전처장관이 확인한 비상대비 중점관리 업체</a:t>
            </a:r>
          </a:p>
        </p:txBody>
      </p:sp>
      <p:sp>
        <p:nvSpPr>
          <p:cNvPr id="295" name="TextBox 294">
            <a:extLst>
              <a:ext uri="{FF2B5EF4-FFF2-40B4-BE49-F238E27FC236}">
                <a16:creationId xmlns:a16="http://schemas.microsoft.com/office/drawing/2014/main" id="{FFC49AEA-2A8F-250C-A86A-A7751D9706C3}"/>
              </a:ext>
            </a:extLst>
          </p:cNvPr>
          <p:cNvSpPr txBox="1"/>
          <p:nvPr/>
        </p:nvSpPr>
        <p:spPr>
          <a:xfrm>
            <a:off x="6406663" y="512427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5" name="타원 114">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028088236"/>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206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2015</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2015</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MUI-BD-10-M10</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411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15" name="TextBox 114">
            <a:extLst>
              <a:ext uri="{FF2B5EF4-FFF2-40B4-BE49-F238E27FC236}">
                <a16:creationId xmlns:a16="http://schemas.microsoft.com/office/drawing/2014/main" id="{FFC49AEA-2A8F-250C-A86A-A7751D9706C3}"/>
              </a:ext>
            </a:extLst>
          </p:cNvPr>
          <p:cNvSpPr txBox="1"/>
          <p:nvPr/>
        </p:nvSpPr>
        <p:spPr>
          <a:xfrm>
            <a:off x="2608931" y="227486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98858" y="149115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1323715" y="1564445"/>
            <a:ext cx="2010812" cy="107722"/>
          </a:xfrm>
          <a:prstGeom prst="rect">
            <a:avLst/>
          </a:prstGeom>
          <a:noFill/>
        </p:spPr>
        <p:txBody>
          <a:bodyPr wrap="square" lIns="0" tIns="0" rIns="0" bIns="0" rtlCol="0">
            <a:spAutoFit/>
          </a:bodyPr>
          <a:lstStyle/>
          <a:p>
            <a:r>
              <a:rPr lang="en-US" altLang="ko-KR" sz="700" dirty="0">
                <a:latin typeface="+mn-ea"/>
              </a:rPr>
              <a:t>4.</a:t>
            </a:r>
            <a:r>
              <a:rPr lang="ko-KR" altLang="en-US" sz="700" dirty="0">
                <a:latin typeface="+mn-ea"/>
              </a:rPr>
              <a:t>장애인기업</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798858" y="167493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19" name="TextBox 118">
            <a:extLst>
              <a:ext uri="{FF2B5EF4-FFF2-40B4-BE49-F238E27FC236}">
                <a16:creationId xmlns:a16="http://schemas.microsoft.com/office/drawing/2014/main" id="{FFC49AEA-2A8F-250C-A86A-A7751D9706C3}"/>
              </a:ext>
            </a:extLst>
          </p:cNvPr>
          <p:cNvSpPr txBox="1"/>
          <p:nvPr/>
        </p:nvSpPr>
        <p:spPr>
          <a:xfrm>
            <a:off x="1323715" y="1748225"/>
            <a:ext cx="2010812" cy="107722"/>
          </a:xfrm>
          <a:prstGeom prst="rect">
            <a:avLst/>
          </a:prstGeom>
          <a:noFill/>
        </p:spPr>
        <p:txBody>
          <a:bodyPr wrap="square" lIns="0" tIns="0" rIns="0" bIns="0" rtlCol="0">
            <a:spAutoFit/>
          </a:bodyPr>
          <a:lstStyle/>
          <a:p>
            <a:r>
              <a:rPr lang="ko-KR" altLang="en-US" sz="700" dirty="0">
                <a:latin typeface="+mn-ea"/>
              </a:rPr>
              <a:t>장애인기업지원</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2925007" y="174822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22" name="직사각형 121"/>
          <p:cNvSpPr/>
          <p:nvPr/>
        </p:nvSpPr>
        <p:spPr>
          <a:xfrm>
            <a:off x="719063" y="1904058"/>
            <a:ext cx="1639886" cy="10808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806126" y="1904059"/>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534168" y="190405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25" name="직선 연결선 124">
            <a:extLst>
              <a:ext uri="{FF2B5EF4-FFF2-40B4-BE49-F238E27FC236}">
                <a16:creationId xmlns:a16="http://schemas.microsoft.com/office/drawing/2014/main" id="{E9293055-D5CD-4B9E-7F64-64B2D2CA7A52}"/>
              </a:ext>
            </a:extLst>
          </p:cNvPr>
          <p:cNvCxnSpPr/>
          <p:nvPr/>
        </p:nvCxnSpPr>
        <p:spPr>
          <a:xfrm>
            <a:off x="716366" y="19040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6" name="직선 연결선 125">
            <a:extLst>
              <a:ext uri="{FF2B5EF4-FFF2-40B4-BE49-F238E27FC236}">
                <a16:creationId xmlns:a16="http://schemas.microsoft.com/office/drawing/2014/main" id="{E9293055-D5CD-4B9E-7F64-64B2D2CA7A52}"/>
              </a:ext>
            </a:extLst>
          </p:cNvPr>
          <p:cNvCxnSpPr/>
          <p:nvPr/>
        </p:nvCxnSpPr>
        <p:spPr>
          <a:xfrm>
            <a:off x="718459" y="21187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18459" y="29876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FFC49AEA-2A8F-250C-A86A-A7751D9706C3}"/>
              </a:ext>
            </a:extLst>
          </p:cNvPr>
          <p:cNvSpPr txBox="1"/>
          <p:nvPr/>
        </p:nvSpPr>
        <p:spPr>
          <a:xfrm>
            <a:off x="2954538" y="190405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819976" y="216714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장애인고용촉진 및 </a:t>
            </a:r>
            <a:r>
              <a:rPr lang="ko-KR" altLang="en-US" dirty="0" err="1"/>
              <a:t>직업재활법</a:t>
            </a:r>
            <a:r>
              <a:rPr lang="ko-KR" altLang="en-US" dirty="0"/>
              <a:t> 제</a:t>
            </a:r>
            <a:r>
              <a:rPr lang="en-US" altLang="ko-KR" dirty="0"/>
              <a:t>24</a:t>
            </a:r>
            <a:r>
              <a:rPr lang="ko-KR" altLang="en-US" dirty="0"/>
              <a:t>조에 따른 장애인 고용우수사업주 또는 장애인 표준사업장</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3290592" y="249935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5" name="TextBox 144">
            <a:extLst>
              <a:ext uri="{FF2B5EF4-FFF2-40B4-BE49-F238E27FC236}">
                <a16:creationId xmlns:a16="http://schemas.microsoft.com/office/drawing/2014/main" id="{FFC49AEA-2A8F-250C-A86A-A7751D9706C3}"/>
              </a:ext>
            </a:extLst>
          </p:cNvPr>
          <p:cNvSpPr txBox="1"/>
          <p:nvPr/>
        </p:nvSpPr>
        <p:spPr>
          <a:xfrm>
            <a:off x="819976" y="260079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장애인기업활동 촉진법에서 정한 기업으로서 중소기업청장이 확인한 장애인기업</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718459" y="2538726"/>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7" name="TextBox 146">
            <a:extLst>
              <a:ext uri="{FF2B5EF4-FFF2-40B4-BE49-F238E27FC236}">
                <a16:creationId xmlns:a16="http://schemas.microsoft.com/office/drawing/2014/main" id="{FFC49AEA-2A8F-250C-A86A-A7751D9706C3}"/>
              </a:ext>
            </a:extLst>
          </p:cNvPr>
          <p:cNvSpPr txBox="1"/>
          <p:nvPr/>
        </p:nvSpPr>
        <p:spPr>
          <a:xfrm>
            <a:off x="2608931" y="270851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2608931" y="3811517"/>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798858" y="302781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1323715" y="3101098"/>
            <a:ext cx="2010812" cy="107722"/>
          </a:xfrm>
          <a:prstGeom prst="rect">
            <a:avLst/>
          </a:prstGeom>
          <a:noFill/>
        </p:spPr>
        <p:txBody>
          <a:bodyPr wrap="square" lIns="0" tIns="0" rIns="0" bIns="0" rtlCol="0">
            <a:spAutoFit/>
          </a:bodyPr>
          <a:lstStyle/>
          <a:p>
            <a:r>
              <a:rPr lang="en-US" altLang="ko-KR" sz="700" dirty="0">
                <a:latin typeface="+mn-ea"/>
              </a:rPr>
              <a:t>5.</a:t>
            </a:r>
            <a:r>
              <a:rPr lang="ko-KR" altLang="en-US" sz="700" dirty="0">
                <a:latin typeface="+mn-ea"/>
              </a:rPr>
              <a:t>가족친화</a:t>
            </a:r>
          </a:p>
        </p:txBody>
      </p:sp>
      <p:sp>
        <p:nvSpPr>
          <p:cNvPr id="151" name="TextBox 150">
            <a:extLst>
              <a:ext uri="{FF2B5EF4-FFF2-40B4-BE49-F238E27FC236}">
                <a16:creationId xmlns:a16="http://schemas.microsoft.com/office/drawing/2014/main" id="{FFC49AEA-2A8F-250C-A86A-A7751D9706C3}"/>
              </a:ext>
            </a:extLst>
          </p:cNvPr>
          <p:cNvSpPr txBox="1"/>
          <p:nvPr/>
        </p:nvSpPr>
        <p:spPr>
          <a:xfrm>
            <a:off x="798858" y="3211590"/>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52" name="TextBox 151">
            <a:extLst>
              <a:ext uri="{FF2B5EF4-FFF2-40B4-BE49-F238E27FC236}">
                <a16:creationId xmlns:a16="http://schemas.microsoft.com/office/drawing/2014/main" id="{FFC49AEA-2A8F-250C-A86A-A7751D9706C3}"/>
              </a:ext>
            </a:extLst>
          </p:cNvPr>
          <p:cNvSpPr txBox="1"/>
          <p:nvPr/>
        </p:nvSpPr>
        <p:spPr>
          <a:xfrm>
            <a:off x="1323715" y="3284878"/>
            <a:ext cx="2010812" cy="107722"/>
          </a:xfrm>
          <a:prstGeom prst="rect">
            <a:avLst/>
          </a:prstGeom>
          <a:noFill/>
        </p:spPr>
        <p:txBody>
          <a:bodyPr wrap="square" lIns="0" tIns="0" rIns="0" bIns="0" rtlCol="0">
            <a:spAutoFit/>
          </a:bodyPr>
          <a:lstStyle/>
          <a:p>
            <a:r>
              <a:rPr lang="ko-KR" altLang="en-US" sz="700" dirty="0">
                <a:latin typeface="+mn-ea"/>
              </a:rPr>
              <a:t>가족친화인증</a:t>
            </a:r>
          </a:p>
        </p:txBody>
      </p:sp>
      <p:sp>
        <p:nvSpPr>
          <p:cNvPr id="153" name="TextBox 152">
            <a:extLst>
              <a:ext uri="{FF2B5EF4-FFF2-40B4-BE49-F238E27FC236}">
                <a16:creationId xmlns:a16="http://schemas.microsoft.com/office/drawing/2014/main" id="{FFC49AEA-2A8F-250C-A86A-A7751D9706C3}"/>
              </a:ext>
            </a:extLst>
          </p:cNvPr>
          <p:cNvSpPr txBox="1"/>
          <p:nvPr/>
        </p:nvSpPr>
        <p:spPr>
          <a:xfrm>
            <a:off x="2925007" y="3284878"/>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54" name="직사각형 153"/>
          <p:cNvSpPr/>
          <p:nvPr/>
        </p:nvSpPr>
        <p:spPr>
          <a:xfrm>
            <a:off x="719063" y="3440711"/>
            <a:ext cx="1639886" cy="6319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5" name="TextBox 154">
            <a:extLst>
              <a:ext uri="{FF2B5EF4-FFF2-40B4-BE49-F238E27FC236}">
                <a16:creationId xmlns:a16="http://schemas.microsoft.com/office/drawing/2014/main" id="{FFC49AEA-2A8F-250C-A86A-A7751D9706C3}"/>
              </a:ext>
            </a:extLst>
          </p:cNvPr>
          <p:cNvSpPr txBox="1"/>
          <p:nvPr/>
        </p:nvSpPr>
        <p:spPr>
          <a:xfrm>
            <a:off x="806126" y="344071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56" name="TextBox 155">
            <a:extLst>
              <a:ext uri="{FF2B5EF4-FFF2-40B4-BE49-F238E27FC236}">
                <a16:creationId xmlns:a16="http://schemas.microsoft.com/office/drawing/2014/main" id="{FFC49AEA-2A8F-250C-A86A-A7751D9706C3}"/>
              </a:ext>
            </a:extLst>
          </p:cNvPr>
          <p:cNvSpPr txBox="1"/>
          <p:nvPr/>
        </p:nvSpPr>
        <p:spPr>
          <a:xfrm>
            <a:off x="2534168" y="344071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57" name="직선 연결선 156">
            <a:extLst>
              <a:ext uri="{FF2B5EF4-FFF2-40B4-BE49-F238E27FC236}">
                <a16:creationId xmlns:a16="http://schemas.microsoft.com/office/drawing/2014/main" id="{E9293055-D5CD-4B9E-7F64-64B2D2CA7A52}"/>
              </a:ext>
            </a:extLst>
          </p:cNvPr>
          <p:cNvCxnSpPr/>
          <p:nvPr/>
        </p:nvCxnSpPr>
        <p:spPr>
          <a:xfrm>
            <a:off x="716366" y="344071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18459" y="36554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18459" y="40754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7" name="TextBox 166">
            <a:extLst>
              <a:ext uri="{FF2B5EF4-FFF2-40B4-BE49-F238E27FC236}">
                <a16:creationId xmlns:a16="http://schemas.microsoft.com/office/drawing/2014/main" id="{FFC49AEA-2A8F-250C-A86A-A7751D9706C3}"/>
              </a:ext>
            </a:extLst>
          </p:cNvPr>
          <p:cNvSpPr txBox="1"/>
          <p:nvPr/>
        </p:nvSpPr>
        <p:spPr>
          <a:xfrm>
            <a:off x="2954538" y="344071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819976" y="3703796"/>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「가족친화 사회환경의 </a:t>
            </a:r>
            <a:r>
              <a:rPr lang="ko-KR" altLang="en-US" dirty="0" err="1"/>
              <a:t>조성촉진에</a:t>
            </a:r>
            <a:r>
              <a:rPr lang="ko-KR" altLang="en-US" dirty="0"/>
              <a:t> 관한 법률」 제</a:t>
            </a:r>
            <a:r>
              <a:rPr lang="en-US" altLang="ko-KR" dirty="0"/>
              <a:t>15</a:t>
            </a:r>
            <a:r>
              <a:rPr lang="ko-KR" altLang="en-US" dirty="0"/>
              <a:t>조에 따른 가족친화인증을 받은 기업</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3290592" y="381151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2608931" y="4843290"/>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798858" y="411344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1323715" y="4186731"/>
            <a:ext cx="2010812" cy="107722"/>
          </a:xfrm>
          <a:prstGeom prst="rect">
            <a:avLst/>
          </a:prstGeom>
          <a:noFill/>
        </p:spPr>
        <p:txBody>
          <a:bodyPr wrap="square" lIns="0" tIns="0" rIns="0" bIns="0" rtlCol="0">
            <a:spAutoFit/>
          </a:bodyPr>
          <a:lstStyle/>
          <a:p>
            <a:r>
              <a:rPr lang="en-US" altLang="ko-KR" sz="700" dirty="0">
                <a:latin typeface="+mn-ea"/>
              </a:rPr>
              <a:t>6.</a:t>
            </a:r>
            <a:r>
              <a:rPr lang="ko-KR" altLang="en-US" sz="700" dirty="0">
                <a:latin typeface="+mn-ea"/>
              </a:rPr>
              <a:t>고용창출</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798858" y="429722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1323715" y="4370511"/>
            <a:ext cx="2010812" cy="107722"/>
          </a:xfrm>
          <a:prstGeom prst="rect">
            <a:avLst/>
          </a:prstGeom>
          <a:noFill/>
        </p:spPr>
        <p:txBody>
          <a:bodyPr wrap="square" lIns="0" tIns="0" rIns="0" bIns="0" rtlCol="0">
            <a:spAutoFit/>
          </a:bodyPr>
          <a:lstStyle/>
          <a:p>
            <a:r>
              <a:rPr lang="ko-KR" altLang="en-US" sz="700" dirty="0">
                <a:latin typeface="+mn-ea"/>
              </a:rPr>
              <a:t>고용창출 우수</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2925007" y="437051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76" name="직사각형 175"/>
          <p:cNvSpPr/>
          <p:nvPr/>
        </p:nvSpPr>
        <p:spPr>
          <a:xfrm>
            <a:off x="719063" y="4526344"/>
            <a:ext cx="1639886" cy="5255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7" name="TextBox 176">
            <a:extLst>
              <a:ext uri="{FF2B5EF4-FFF2-40B4-BE49-F238E27FC236}">
                <a16:creationId xmlns:a16="http://schemas.microsoft.com/office/drawing/2014/main" id="{FFC49AEA-2A8F-250C-A86A-A7751D9706C3}"/>
              </a:ext>
            </a:extLst>
          </p:cNvPr>
          <p:cNvSpPr txBox="1"/>
          <p:nvPr/>
        </p:nvSpPr>
        <p:spPr>
          <a:xfrm>
            <a:off x="806126" y="452634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8" name="TextBox 177">
            <a:extLst>
              <a:ext uri="{FF2B5EF4-FFF2-40B4-BE49-F238E27FC236}">
                <a16:creationId xmlns:a16="http://schemas.microsoft.com/office/drawing/2014/main" id="{FFC49AEA-2A8F-250C-A86A-A7751D9706C3}"/>
              </a:ext>
            </a:extLst>
          </p:cNvPr>
          <p:cNvSpPr txBox="1"/>
          <p:nvPr/>
        </p:nvSpPr>
        <p:spPr>
          <a:xfrm>
            <a:off x="2534168" y="452634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16366" y="452634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18459" y="47410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18459" y="50518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2" name="TextBox 181">
            <a:extLst>
              <a:ext uri="{FF2B5EF4-FFF2-40B4-BE49-F238E27FC236}">
                <a16:creationId xmlns:a16="http://schemas.microsoft.com/office/drawing/2014/main" id="{FFC49AEA-2A8F-250C-A86A-A7751D9706C3}"/>
              </a:ext>
            </a:extLst>
          </p:cNvPr>
          <p:cNvSpPr txBox="1"/>
          <p:nvPr/>
        </p:nvSpPr>
        <p:spPr>
          <a:xfrm>
            <a:off x="2954538" y="452634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3" name="TextBox 182">
            <a:extLst>
              <a:ext uri="{FF2B5EF4-FFF2-40B4-BE49-F238E27FC236}">
                <a16:creationId xmlns:a16="http://schemas.microsoft.com/office/drawing/2014/main" id="{FFC49AEA-2A8F-250C-A86A-A7751D9706C3}"/>
              </a:ext>
            </a:extLst>
          </p:cNvPr>
          <p:cNvSpPr txBox="1"/>
          <p:nvPr/>
        </p:nvSpPr>
        <p:spPr>
          <a:xfrm>
            <a:off x="819976" y="4789429"/>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고용노동부장관이 선정한 고용창출 </a:t>
            </a:r>
            <a:r>
              <a:rPr lang="en-US" altLang="ko-KR" dirty="0"/>
              <a:t>100</a:t>
            </a:r>
            <a:r>
              <a:rPr lang="ko-KR" altLang="en-US" dirty="0"/>
              <a:t>대 우수기업</a:t>
            </a:r>
          </a:p>
        </p:txBody>
      </p:sp>
      <p:sp>
        <p:nvSpPr>
          <p:cNvPr id="184" name="TextBox 183">
            <a:extLst>
              <a:ext uri="{FF2B5EF4-FFF2-40B4-BE49-F238E27FC236}">
                <a16:creationId xmlns:a16="http://schemas.microsoft.com/office/drawing/2014/main" id="{FFC49AEA-2A8F-250C-A86A-A7751D9706C3}"/>
              </a:ext>
            </a:extLst>
          </p:cNvPr>
          <p:cNvSpPr txBox="1"/>
          <p:nvPr/>
        </p:nvSpPr>
        <p:spPr>
          <a:xfrm>
            <a:off x="3290592" y="484329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5" name="TextBox 184">
            <a:extLst>
              <a:ext uri="{FF2B5EF4-FFF2-40B4-BE49-F238E27FC236}">
                <a16:creationId xmlns:a16="http://schemas.microsoft.com/office/drawing/2014/main" id="{FFC49AEA-2A8F-250C-A86A-A7751D9706C3}"/>
              </a:ext>
            </a:extLst>
          </p:cNvPr>
          <p:cNvSpPr txBox="1"/>
          <p:nvPr/>
        </p:nvSpPr>
        <p:spPr>
          <a:xfrm>
            <a:off x="798858" y="509701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1323715" y="5170302"/>
            <a:ext cx="2010812" cy="107722"/>
          </a:xfrm>
          <a:prstGeom prst="rect">
            <a:avLst/>
          </a:prstGeom>
          <a:noFill/>
        </p:spPr>
        <p:txBody>
          <a:bodyPr wrap="square" lIns="0" tIns="0" rIns="0" bIns="0" rtlCol="0">
            <a:spAutoFit/>
          </a:bodyPr>
          <a:lstStyle/>
          <a:p>
            <a:r>
              <a:rPr lang="en-US" altLang="ko-KR" sz="700" dirty="0">
                <a:latin typeface="+mn-ea"/>
              </a:rPr>
              <a:t>7.</a:t>
            </a:r>
            <a:r>
              <a:rPr lang="ko-KR" altLang="en-US" sz="700" dirty="0">
                <a:latin typeface="+mn-ea"/>
              </a:rPr>
              <a:t>여성기업지원 등</a:t>
            </a:r>
          </a:p>
        </p:txBody>
      </p:sp>
      <p:sp>
        <p:nvSpPr>
          <p:cNvPr id="187" name="TextBox 186">
            <a:extLst>
              <a:ext uri="{FF2B5EF4-FFF2-40B4-BE49-F238E27FC236}">
                <a16:creationId xmlns:a16="http://schemas.microsoft.com/office/drawing/2014/main" id="{FFC49AEA-2A8F-250C-A86A-A7751D9706C3}"/>
              </a:ext>
            </a:extLst>
          </p:cNvPr>
          <p:cNvSpPr txBox="1"/>
          <p:nvPr/>
        </p:nvSpPr>
        <p:spPr>
          <a:xfrm>
            <a:off x="798858" y="528079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1323715" y="5354082"/>
            <a:ext cx="2010812" cy="107722"/>
          </a:xfrm>
          <a:prstGeom prst="rect">
            <a:avLst/>
          </a:prstGeom>
          <a:noFill/>
        </p:spPr>
        <p:txBody>
          <a:bodyPr wrap="square" lIns="0" tIns="0" rIns="0" bIns="0" rtlCol="0">
            <a:spAutoFit/>
          </a:bodyPr>
          <a:lstStyle/>
          <a:p>
            <a:r>
              <a:rPr lang="ko-KR" altLang="en-US" sz="700" dirty="0">
                <a:latin typeface="+mn-ea"/>
              </a:rPr>
              <a:t>여성기업 지원 및 고용촉진</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2925007" y="535408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90" name="직사각형 189"/>
          <p:cNvSpPr/>
          <p:nvPr/>
        </p:nvSpPr>
        <p:spPr>
          <a:xfrm>
            <a:off x="3839398" y="1511625"/>
            <a:ext cx="1639886" cy="13713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1" name="TextBox 190">
            <a:extLst>
              <a:ext uri="{FF2B5EF4-FFF2-40B4-BE49-F238E27FC236}">
                <a16:creationId xmlns:a16="http://schemas.microsoft.com/office/drawing/2014/main" id="{FFC49AEA-2A8F-250C-A86A-A7751D9706C3}"/>
              </a:ext>
            </a:extLst>
          </p:cNvPr>
          <p:cNvSpPr txBox="1"/>
          <p:nvPr/>
        </p:nvSpPr>
        <p:spPr>
          <a:xfrm>
            <a:off x="3926461" y="151162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92" name="TextBox 191">
            <a:extLst>
              <a:ext uri="{FF2B5EF4-FFF2-40B4-BE49-F238E27FC236}">
                <a16:creationId xmlns:a16="http://schemas.microsoft.com/office/drawing/2014/main" id="{FFC49AEA-2A8F-250C-A86A-A7751D9706C3}"/>
              </a:ext>
            </a:extLst>
          </p:cNvPr>
          <p:cNvSpPr txBox="1"/>
          <p:nvPr/>
        </p:nvSpPr>
        <p:spPr>
          <a:xfrm>
            <a:off x="5654503" y="151162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6701" y="151162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38794" y="17263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5" name="직선 연결선 194">
            <a:extLst>
              <a:ext uri="{FF2B5EF4-FFF2-40B4-BE49-F238E27FC236}">
                <a16:creationId xmlns:a16="http://schemas.microsoft.com/office/drawing/2014/main" id="{E9293055-D5CD-4B9E-7F64-64B2D2CA7A52}"/>
              </a:ext>
            </a:extLst>
          </p:cNvPr>
          <p:cNvCxnSpPr/>
          <p:nvPr/>
        </p:nvCxnSpPr>
        <p:spPr>
          <a:xfrm>
            <a:off x="3838794" y="28843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6" name="TextBox 195">
            <a:extLst>
              <a:ext uri="{FF2B5EF4-FFF2-40B4-BE49-F238E27FC236}">
                <a16:creationId xmlns:a16="http://schemas.microsoft.com/office/drawing/2014/main" id="{FFC49AEA-2A8F-250C-A86A-A7751D9706C3}"/>
              </a:ext>
            </a:extLst>
          </p:cNvPr>
          <p:cNvSpPr txBox="1"/>
          <p:nvPr/>
        </p:nvSpPr>
        <p:spPr>
          <a:xfrm>
            <a:off x="6074873" y="151162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3940311" y="1773489"/>
            <a:ext cx="1480199" cy="754053"/>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「여성기업지원에 관한 </a:t>
            </a:r>
            <a:r>
              <a:rPr lang="ko-KR" altLang="en-US" dirty="0" err="1"/>
              <a:t>법률」에서</a:t>
            </a:r>
            <a:r>
              <a:rPr lang="ko-KR" altLang="en-US" dirty="0"/>
              <a:t> 정한 기업으로서 중소기업청장</a:t>
            </a:r>
            <a:r>
              <a:rPr lang="en-US" altLang="ko-KR" dirty="0"/>
              <a:t>(</a:t>
            </a:r>
            <a:r>
              <a:rPr lang="ko-KR" altLang="en-US" dirty="0" err="1"/>
              <a:t>수임권자</a:t>
            </a:r>
            <a:r>
              <a:rPr lang="ko-KR" altLang="en-US" dirty="0"/>
              <a:t> 포함</a:t>
            </a:r>
            <a:r>
              <a:rPr lang="en-US" altLang="ko-KR" dirty="0"/>
              <a:t>)</a:t>
            </a:r>
            <a:r>
              <a:rPr lang="ko-KR" altLang="en-US" dirty="0"/>
              <a:t>에 의해 확인서를 받은 여성기업으로서 그 존속기간에 따라</a:t>
            </a:r>
            <a:br>
              <a:rPr lang="ko-KR" altLang="en-US" dirty="0"/>
            </a:br>
            <a:r>
              <a:rPr lang="en-US" altLang="ko-KR" dirty="0"/>
              <a:t>- 10</a:t>
            </a:r>
            <a:r>
              <a:rPr lang="ko-KR" altLang="en-US" dirty="0"/>
              <a:t>년 이상</a:t>
            </a:r>
          </a:p>
          <a:p>
            <a:r>
              <a:rPr lang="en-US" altLang="ko-KR" dirty="0"/>
              <a:t>- 5</a:t>
            </a:r>
            <a:r>
              <a:rPr lang="ko-KR" altLang="en-US" dirty="0"/>
              <a:t>년 이상 </a:t>
            </a:r>
            <a:r>
              <a:rPr lang="en-US" altLang="ko-KR" dirty="0"/>
              <a:t>~ 10</a:t>
            </a:r>
            <a:r>
              <a:rPr lang="ko-KR" altLang="en-US" dirty="0"/>
              <a:t>년 미만</a:t>
            </a:r>
          </a:p>
          <a:p>
            <a:r>
              <a:rPr lang="en-US" altLang="ko-KR" dirty="0"/>
              <a:t>- 5</a:t>
            </a:r>
            <a:r>
              <a:rPr lang="ko-KR" altLang="en-US" dirty="0"/>
              <a:t>년 미만</a:t>
            </a:r>
          </a:p>
        </p:txBody>
      </p:sp>
      <p:sp>
        <p:nvSpPr>
          <p:cNvPr id="198" name="TextBox 197">
            <a:extLst>
              <a:ext uri="{FF2B5EF4-FFF2-40B4-BE49-F238E27FC236}">
                <a16:creationId xmlns:a16="http://schemas.microsoft.com/office/drawing/2014/main" id="{FFC49AEA-2A8F-250C-A86A-A7751D9706C3}"/>
              </a:ext>
            </a:extLst>
          </p:cNvPr>
          <p:cNvSpPr txBox="1"/>
          <p:nvPr/>
        </p:nvSpPr>
        <p:spPr>
          <a:xfrm>
            <a:off x="5673482" y="2204377"/>
            <a:ext cx="174407"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br>
              <a:rPr lang="en-US" altLang="ko-KR" dirty="0"/>
            </a:br>
            <a:r>
              <a:rPr lang="en-US" altLang="ko-KR" dirty="0"/>
              <a:t>0.35</a:t>
            </a:r>
            <a:br>
              <a:rPr lang="en-US" altLang="ko-KR" dirty="0"/>
            </a:br>
            <a:r>
              <a:rPr lang="en-US" altLang="ko-KR" dirty="0"/>
              <a:t>0.30</a:t>
            </a:r>
          </a:p>
        </p:txBody>
      </p:sp>
      <p:sp>
        <p:nvSpPr>
          <p:cNvPr id="199" name="TextBox 198">
            <a:extLst>
              <a:ext uri="{FF2B5EF4-FFF2-40B4-BE49-F238E27FC236}">
                <a16:creationId xmlns:a16="http://schemas.microsoft.com/office/drawing/2014/main" id="{FFC49AEA-2A8F-250C-A86A-A7751D9706C3}"/>
              </a:ext>
            </a:extLst>
          </p:cNvPr>
          <p:cNvSpPr txBox="1"/>
          <p:nvPr/>
        </p:nvSpPr>
        <p:spPr>
          <a:xfrm>
            <a:off x="6410927" y="225150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3940311" y="2621794"/>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고용노동부장관에 의해 남녀고용평등 우수기업으로 </a:t>
            </a:r>
            <a:r>
              <a:rPr lang="ko-KR" altLang="en-US" dirty="0" err="1"/>
              <a:t>지정받은</a:t>
            </a:r>
            <a:r>
              <a:rPr lang="ko-KR" altLang="en-US" dirty="0"/>
              <a:t> 자</a:t>
            </a: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4530" y="257466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2" name="TextBox 201">
            <a:extLst>
              <a:ext uri="{FF2B5EF4-FFF2-40B4-BE49-F238E27FC236}">
                <a16:creationId xmlns:a16="http://schemas.microsoft.com/office/drawing/2014/main" id="{FFC49AEA-2A8F-250C-A86A-A7751D9706C3}"/>
              </a:ext>
            </a:extLst>
          </p:cNvPr>
          <p:cNvSpPr txBox="1"/>
          <p:nvPr/>
        </p:nvSpPr>
        <p:spPr>
          <a:xfrm>
            <a:off x="5729267" y="267565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5729266" y="3652529"/>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204" name="TextBox 203">
            <a:extLst>
              <a:ext uri="{FF2B5EF4-FFF2-40B4-BE49-F238E27FC236}">
                <a16:creationId xmlns:a16="http://schemas.microsoft.com/office/drawing/2014/main" id="{FFC49AEA-2A8F-250C-A86A-A7751D9706C3}"/>
              </a:ext>
            </a:extLst>
          </p:cNvPr>
          <p:cNvSpPr txBox="1"/>
          <p:nvPr/>
        </p:nvSpPr>
        <p:spPr>
          <a:xfrm>
            <a:off x="3919193" y="292268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05" name="TextBox 204">
            <a:extLst>
              <a:ext uri="{FF2B5EF4-FFF2-40B4-BE49-F238E27FC236}">
                <a16:creationId xmlns:a16="http://schemas.microsoft.com/office/drawing/2014/main" id="{FFC49AEA-2A8F-250C-A86A-A7751D9706C3}"/>
              </a:ext>
            </a:extLst>
          </p:cNvPr>
          <p:cNvSpPr txBox="1"/>
          <p:nvPr/>
        </p:nvSpPr>
        <p:spPr>
          <a:xfrm>
            <a:off x="4444050" y="2995970"/>
            <a:ext cx="2010812" cy="107722"/>
          </a:xfrm>
          <a:prstGeom prst="rect">
            <a:avLst/>
          </a:prstGeom>
          <a:noFill/>
        </p:spPr>
        <p:txBody>
          <a:bodyPr wrap="square" lIns="0" tIns="0" rIns="0" bIns="0" rtlCol="0">
            <a:spAutoFit/>
          </a:bodyPr>
          <a:lstStyle/>
          <a:p>
            <a:r>
              <a:rPr lang="en-US" altLang="ko-KR" sz="700" dirty="0">
                <a:latin typeface="+mn-ea"/>
              </a:rPr>
              <a:t>8.</a:t>
            </a:r>
            <a:r>
              <a:rPr lang="ko-KR" altLang="en-US" sz="700" dirty="0" err="1">
                <a:latin typeface="+mn-ea"/>
              </a:rPr>
              <a:t>사회적기업</a:t>
            </a:r>
            <a:endParaRPr lang="ko-KR" altLang="en-US" sz="700" dirty="0">
              <a:latin typeface="+mn-ea"/>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3919193" y="310646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4444050" y="3179750"/>
            <a:ext cx="2010812" cy="107722"/>
          </a:xfrm>
          <a:prstGeom prst="rect">
            <a:avLst/>
          </a:prstGeom>
          <a:noFill/>
        </p:spPr>
        <p:txBody>
          <a:bodyPr wrap="square" lIns="0" tIns="0" rIns="0" bIns="0" rtlCol="0">
            <a:spAutoFit/>
          </a:bodyPr>
          <a:lstStyle/>
          <a:p>
            <a:r>
              <a:rPr lang="ko-KR" altLang="en-US" sz="700" dirty="0">
                <a:latin typeface="+mn-ea"/>
              </a:rPr>
              <a:t>사회적기업여부</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6045342" y="3179750"/>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210" name="직사각형 209"/>
          <p:cNvSpPr/>
          <p:nvPr/>
        </p:nvSpPr>
        <p:spPr>
          <a:xfrm>
            <a:off x="3839398" y="3335583"/>
            <a:ext cx="1639886" cy="5255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2" name="TextBox 211">
            <a:extLst>
              <a:ext uri="{FF2B5EF4-FFF2-40B4-BE49-F238E27FC236}">
                <a16:creationId xmlns:a16="http://schemas.microsoft.com/office/drawing/2014/main" id="{FFC49AEA-2A8F-250C-A86A-A7751D9706C3}"/>
              </a:ext>
            </a:extLst>
          </p:cNvPr>
          <p:cNvSpPr txBox="1"/>
          <p:nvPr/>
        </p:nvSpPr>
        <p:spPr>
          <a:xfrm>
            <a:off x="3926461" y="333558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654503" y="333558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836701" y="333558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5" name="직선 연결선 214">
            <a:extLst>
              <a:ext uri="{FF2B5EF4-FFF2-40B4-BE49-F238E27FC236}">
                <a16:creationId xmlns:a16="http://schemas.microsoft.com/office/drawing/2014/main" id="{E9293055-D5CD-4B9E-7F64-64B2D2CA7A52}"/>
              </a:ext>
            </a:extLst>
          </p:cNvPr>
          <p:cNvCxnSpPr/>
          <p:nvPr/>
        </p:nvCxnSpPr>
        <p:spPr>
          <a:xfrm>
            <a:off x="3838794" y="35503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3838794" y="386111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6074873" y="333558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98" name="TextBox 297">
            <a:extLst>
              <a:ext uri="{FF2B5EF4-FFF2-40B4-BE49-F238E27FC236}">
                <a16:creationId xmlns:a16="http://schemas.microsoft.com/office/drawing/2014/main" id="{FFC49AEA-2A8F-250C-A86A-A7751D9706C3}"/>
              </a:ext>
            </a:extLst>
          </p:cNvPr>
          <p:cNvSpPr txBox="1"/>
          <p:nvPr/>
        </p:nvSpPr>
        <p:spPr>
          <a:xfrm>
            <a:off x="3940311" y="359866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a:t>
            </a:r>
            <a:r>
              <a:rPr lang="ko-KR" altLang="en-US" dirty="0" err="1"/>
              <a:t>사회적기업</a:t>
            </a:r>
            <a:r>
              <a:rPr lang="ko-KR" altLang="en-US" dirty="0"/>
              <a:t> </a:t>
            </a:r>
            <a:r>
              <a:rPr lang="ko-KR" altLang="en-US" dirty="0" err="1"/>
              <a:t>육성법」제</a:t>
            </a:r>
            <a:r>
              <a:rPr lang="en-US" altLang="ko-KR" dirty="0"/>
              <a:t>7</a:t>
            </a:r>
            <a:r>
              <a:rPr lang="ko-KR" altLang="en-US" dirty="0"/>
              <a:t>조에 따른 고용노동부장관의 인증을 받은 기업</a:t>
            </a:r>
          </a:p>
        </p:txBody>
      </p:sp>
      <p:sp>
        <p:nvSpPr>
          <p:cNvPr id="299" name="TextBox 298">
            <a:extLst>
              <a:ext uri="{FF2B5EF4-FFF2-40B4-BE49-F238E27FC236}">
                <a16:creationId xmlns:a16="http://schemas.microsoft.com/office/drawing/2014/main" id="{FFC49AEA-2A8F-250C-A86A-A7751D9706C3}"/>
              </a:ext>
            </a:extLst>
          </p:cNvPr>
          <p:cNvSpPr txBox="1"/>
          <p:nvPr/>
        </p:nvSpPr>
        <p:spPr>
          <a:xfrm>
            <a:off x="6410927" y="365252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0" name="TextBox 299">
            <a:extLst>
              <a:ext uri="{FF2B5EF4-FFF2-40B4-BE49-F238E27FC236}">
                <a16:creationId xmlns:a16="http://schemas.microsoft.com/office/drawing/2014/main" id="{FFC49AEA-2A8F-250C-A86A-A7751D9706C3}"/>
              </a:ext>
            </a:extLst>
          </p:cNvPr>
          <p:cNvSpPr txBox="1"/>
          <p:nvPr/>
        </p:nvSpPr>
        <p:spPr>
          <a:xfrm>
            <a:off x="5679573" y="4635601"/>
            <a:ext cx="16831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sp>
        <p:nvSpPr>
          <p:cNvPr id="301" name="TextBox 300">
            <a:extLst>
              <a:ext uri="{FF2B5EF4-FFF2-40B4-BE49-F238E27FC236}">
                <a16:creationId xmlns:a16="http://schemas.microsoft.com/office/drawing/2014/main" id="{FFC49AEA-2A8F-250C-A86A-A7751D9706C3}"/>
              </a:ext>
            </a:extLst>
          </p:cNvPr>
          <p:cNvSpPr txBox="1"/>
          <p:nvPr/>
        </p:nvSpPr>
        <p:spPr>
          <a:xfrm>
            <a:off x="3919193" y="390575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302" name="TextBox 301">
            <a:extLst>
              <a:ext uri="{FF2B5EF4-FFF2-40B4-BE49-F238E27FC236}">
                <a16:creationId xmlns:a16="http://schemas.microsoft.com/office/drawing/2014/main" id="{FFC49AEA-2A8F-250C-A86A-A7751D9706C3}"/>
              </a:ext>
            </a:extLst>
          </p:cNvPr>
          <p:cNvSpPr txBox="1"/>
          <p:nvPr/>
        </p:nvSpPr>
        <p:spPr>
          <a:xfrm>
            <a:off x="4444050" y="3979042"/>
            <a:ext cx="2010812" cy="107722"/>
          </a:xfrm>
          <a:prstGeom prst="rect">
            <a:avLst/>
          </a:prstGeom>
          <a:noFill/>
        </p:spPr>
        <p:txBody>
          <a:bodyPr wrap="square" lIns="0" tIns="0" rIns="0" bIns="0" rtlCol="0">
            <a:spAutoFit/>
          </a:bodyPr>
          <a:lstStyle/>
          <a:p>
            <a:r>
              <a:rPr lang="en-US" altLang="ko-KR" sz="700" dirty="0">
                <a:latin typeface="+mn-ea"/>
              </a:rPr>
              <a:t>9.</a:t>
            </a:r>
            <a:r>
              <a:rPr lang="ko-KR" altLang="en-US" sz="700" dirty="0" err="1">
                <a:latin typeface="+mn-ea"/>
              </a:rPr>
              <a:t>모범납세</a:t>
            </a:r>
            <a:endParaRPr lang="ko-KR" altLang="en-US" sz="700" dirty="0">
              <a:latin typeface="+mn-ea"/>
            </a:endParaRPr>
          </a:p>
        </p:txBody>
      </p:sp>
      <p:sp>
        <p:nvSpPr>
          <p:cNvPr id="303" name="TextBox 302">
            <a:extLst>
              <a:ext uri="{FF2B5EF4-FFF2-40B4-BE49-F238E27FC236}">
                <a16:creationId xmlns:a16="http://schemas.microsoft.com/office/drawing/2014/main" id="{FFC49AEA-2A8F-250C-A86A-A7751D9706C3}"/>
              </a:ext>
            </a:extLst>
          </p:cNvPr>
          <p:cNvSpPr txBox="1"/>
          <p:nvPr/>
        </p:nvSpPr>
        <p:spPr>
          <a:xfrm>
            <a:off x="3919193" y="408953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304" name="TextBox 303">
            <a:extLst>
              <a:ext uri="{FF2B5EF4-FFF2-40B4-BE49-F238E27FC236}">
                <a16:creationId xmlns:a16="http://schemas.microsoft.com/office/drawing/2014/main" id="{FFC49AEA-2A8F-250C-A86A-A7751D9706C3}"/>
              </a:ext>
            </a:extLst>
          </p:cNvPr>
          <p:cNvSpPr txBox="1"/>
          <p:nvPr/>
        </p:nvSpPr>
        <p:spPr>
          <a:xfrm>
            <a:off x="4444050" y="4162822"/>
            <a:ext cx="2010812" cy="107722"/>
          </a:xfrm>
          <a:prstGeom prst="rect">
            <a:avLst/>
          </a:prstGeom>
          <a:noFill/>
        </p:spPr>
        <p:txBody>
          <a:bodyPr wrap="square" lIns="0" tIns="0" rIns="0" bIns="0" rtlCol="0">
            <a:spAutoFit/>
          </a:bodyPr>
          <a:lstStyle/>
          <a:p>
            <a:r>
              <a:rPr lang="ko-KR" altLang="en-US" sz="700" dirty="0">
                <a:latin typeface="+mn-ea"/>
              </a:rPr>
              <a:t>모범납세여부</a:t>
            </a:r>
          </a:p>
        </p:txBody>
      </p:sp>
      <p:sp>
        <p:nvSpPr>
          <p:cNvPr id="305" name="TextBox 304">
            <a:extLst>
              <a:ext uri="{FF2B5EF4-FFF2-40B4-BE49-F238E27FC236}">
                <a16:creationId xmlns:a16="http://schemas.microsoft.com/office/drawing/2014/main" id="{FFC49AEA-2A8F-250C-A86A-A7751D9706C3}"/>
              </a:ext>
            </a:extLst>
          </p:cNvPr>
          <p:cNvSpPr txBox="1"/>
          <p:nvPr/>
        </p:nvSpPr>
        <p:spPr>
          <a:xfrm>
            <a:off x="6045342" y="416282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0.25</a:t>
            </a:r>
          </a:p>
        </p:txBody>
      </p:sp>
      <p:sp>
        <p:nvSpPr>
          <p:cNvPr id="306" name="직사각형 305"/>
          <p:cNvSpPr/>
          <p:nvPr/>
        </p:nvSpPr>
        <p:spPr>
          <a:xfrm>
            <a:off x="3839398" y="4318655"/>
            <a:ext cx="1639886" cy="5255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7" name="TextBox 306">
            <a:extLst>
              <a:ext uri="{FF2B5EF4-FFF2-40B4-BE49-F238E27FC236}">
                <a16:creationId xmlns:a16="http://schemas.microsoft.com/office/drawing/2014/main" id="{FFC49AEA-2A8F-250C-A86A-A7751D9706C3}"/>
              </a:ext>
            </a:extLst>
          </p:cNvPr>
          <p:cNvSpPr txBox="1"/>
          <p:nvPr/>
        </p:nvSpPr>
        <p:spPr>
          <a:xfrm>
            <a:off x="3926461" y="431865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308" name="TextBox 307">
            <a:extLst>
              <a:ext uri="{FF2B5EF4-FFF2-40B4-BE49-F238E27FC236}">
                <a16:creationId xmlns:a16="http://schemas.microsoft.com/office/drawing/2014/main" id="{FFC49AEA-2A8F-250C-A86A-A7751D9706C3}"/>
              </a:ext>
            </a:extLst>
          </p:cNvPr>
          <p:cNvSpPr txBox="1"/>
          <p:nvPr/>
        </p:nvSpPr>
        <p:spPr>
          <a:xfrm>
            <a:off x="5654503" y="431865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309" name="직선 연결선 308">
            <a:extLst>
              <a:ext uri="{FF2B5EF4-FFF2-40B4-BE49-F238E27FC236}">
                <a16:creationId xmlns:a16="http://schemas.microsoft.com/office/drawing/2014/main" id="{E9293055-D5CD-4B9E-7F64-64B2D2CA7A52}"/>
              </a:ext>
            </a:extLst>
          </p:cNvPr>
          <p:cNvCxnSpPr/>
          <p:nvPr/>
        </p:nvCxnSpPr>
        <p:spPr>
          <a:xfrm>
            <a:off x="3836701" y="43186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838794" y="45333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1" name="직선 연결선 310">
            <a:extLst>
              <a:ext uri="{FF2B5EF4-FFF2-40B4-BE49-F238E27FC236}">
                <a16:creationId xmlns:a16="http://schemas.microsoft.com/office/drawing/2014/main" id="{E9293055-D5CD-4B9E-7F64-64B2D2CA7A52}"/>
              </a:ext>
            </a:extLst>
          </p:cNvPr>
          <p:cNvCxnSpPr/>
          <p:nvPr/>
        </p:nvCxnSpPr>
        <p:spPr>
          <a:xfrm>
            <a:off x="3838794" y="48441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2" name="TextBox 311">
            <a:extLst>
              <a:ext uri="{FF2B5EF4-FFF2-40B4-BE49-F238E27FC236}">
                <a16:creationId xmlns:a16="http://schemas.microsoft.com/office/drawing/2014/main" id="{FFC49AEA-2A8F-250C-A86A-A7751D9706C3}"/>
              </a:ext>
            </a:extLst>
          </p:cNvPr>
          <p:cNvSpPr txBox="1"/>
          <p:nvPr/>
        </p:nvSpPr>
        <p:spPr>
          <a:xfrm>
            <a:off x="6074873" y="431865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3" name="TextBox 312">
            <a:extLst>
              <a:ext uri="{FF2B5EF4-FFF2-40B4-BE49-F238E27FC236}">
                <a16:creationId xmlns:a16="http://schemas.microsoft.com/office/drawing/2014/main" id="{FFC49AEA-2A8F-250C-A86A-A7751D9706C3}"/>
              </a:ext>
            </a:extLst>
          </p:cNvPr>
          <p:cNvSpPr txBox="1"/>
          <p:nvPr/>
        </p:nvSpPr>
        <p:spPr>
          <a:xfrm>
            <a:off x="3940311" y="4581740"/>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a:t>
            </a:r>
            <a:r>
              <a:rPr lang="ko-KR" altLang="en-US" dirty="0"/>
              <a:t>「모범납세자관리규정</a:t>
            </a:r>
            <a:r>
              <a:rPr lang="en-US" altLang="ko-KR" dirty="0"/>
              <a:t>(</a:t>
            </a:r>
            <a:r>
              <a:rPr lang="ko-KR" altLang="en-US" dirty="0" err="1"/>
              <a:t>국세청훈령</a:t>
            </a:r>
            <a:r>
              <a:rPr lang="en-US" altLang="ko-KR" dirty="0"/>
              <a:t>)</a:t>
            </a:r>
            <a:r>
              <a:rPr lang="ko-KR" altLang="en-US" dirty="0"/>
              <a:t>」제</a:t>
            </a:r>
            <a:r>
              <a:rPr lang="en-US" altLang="ko-KR" dirty="0"/>
              <a:t>5</a:t>
            </a:r>
            <a:r>
              <a:rPr lang="ko-KR" altLang="en-US" dirty="0"/>
              <a:t>조제</a:t>
            </a:r>
            <a:r>
              <a:rPr lang="en-US" altLang="ko-KR" dirty="0"/>
              <a:t>3</a:t>
            </a:r>
            <a:r>
              <a:rPr lang="ko-KR" altLang="en-US" dirty="0" err="1"/>
              <a:t>호제</a:t>
            </a:r>
            <a:r>
              <a:rPr lang="en-US" altLang="ko-KR" dirty="0"/>
              <a:t>1</a:t>
            </a:r>
            <a:r>
              <a:rPr lang="ko-KR" altLang="en-US" dirty="0"/>
              <a:t>항에 따른 모범납세자</a:t>
            </a:r>
          </a:p>
        </p:txBody>
      </p:sp>
      <p:sp>
        <p:nvSpPr>
          <p:cNvPr id="314" name="TextBox 313">
            <a:extLst>
              <a:ext uri="{FF2B5EF4-FFF2-40B4-BE49-F238E27FC236}">
                <a16:creationId xmlns:a16="http://schemas.microsoft.com/office/drawing/2014/main" id="{FFC49AEA-2A8F-250C-A86A-A7751D9706C3}"/>
              </a:ext>
            </a:extLst>
          </p:cNvPr>
          <p:cNvSpPr txBox="1"/>
          <p:nvPr/>
        </p:nvSpPr>
        <p:spPr>
          <a:xfrm>
            <a:off x="6410927" y="46356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1" name="타원 12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4158181235"/>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207</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479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2668311"/>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재무상태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2952065"/>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5" name="TextBox 4">
            <a:extLst>
              <a:ext uri="{FF2B5EF4-FFF2-40B4-BE49-F238E27FC236}">
                <a16:creationId xmlns:a16="http://schemas.microsoft.com/office/drawing/2014/main" id="{6D947E84-6084-15F8-26CB-99F0F0FA6507}"/>
              </a:ext>
            </a:extLst>
          </p:cNvPr>
          <p:cNvSpPr txBox="1"/>
          <p:nvPr/>
        </p:nvSpPr>
        <p:spPr>
          <a:xfrm>
            <a:off x="465794" y="375979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입찰가격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ED0EAE2-A020-1A3E-9D07-8A45456FE1AC}"/>
              </a:ext>
            </a:extLst>
          </p:cNvPr>
          <p:cNvGraphicFramePr>
            <a:graphicFrameLocks noGrp="1"/>
          </p:cNvGraphicFramePr>
          <p:nvPr/>
        </p:nvGraphicFramePr>
        <p:xfrm>
          <a:off x="460676" y="4043547"/>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565733"/>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4860510"/>
                  </a:ext>
                </a:extLst>
              </a:tr>
            </a:tbl>
          </a:graphicData>
        </a:graphic>
      </p:graphicFrame>
      <p:sp>
        <p:nvSpPr>
          <p:cNvPr id="9" name="TextBox 8">
            <a:extLst>
              <a:ext uri="{FF2B5EF4-FFF2-40B4-BE49-F238E27FC236}">
                <a16:creationId xmlns:a16="http://schemas.microsoft.com/office/drawing/2014/main" id="{6A94C7A5-4920-2DAD-F345-491E9CFC39F4}"/>
              </a:ext>
            </a:extLst>
          </p:cNvPr>
          <p:cNvSpPr txBox="1"/>
          <p:nvPr/>
        </p:nvSpPr>
        <p:spPr>
          <a:xfrm>
            <a:off x="465794" y="5240977"/>
            <a:ext cx="2268817"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계약이행</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442141FB-2714-F2BE-5EF8-E5513AAF340D}"/>
              </a:ext>
            </a:extLst>
          </p:cNvPr>
          <p:cNvGraphicFramePr>
            <a:graphicFrameLocks noGrp="1"/>
          </p:cNvGraphicFramePr>
          <p:nvPr/>
        </p:nvGraphicFramePr>
        <p:xfrm>
          <a:off x="460676" y="5524731"/>
          <a:ext cx="8994883" cy="897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품질발생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품질발생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6722966"/>
                  </a:ext>
                </a:extLst>
              </a:tr>
              <a:tr h="0">
                <a:tc>
                  <a:txBody>
                    <a:bodyPr/>
                    <a:lstStyle/>
                    <a:p>
                      <a:pPr latinLnBrk="1"/>
                      <a:r>
                        <a:rPr lang="ko-KR" altLang="en-US" sz="800" dirty="0">
                          <a:latin typeface="+mn-ea"/>
                          <a:ea typeface="+mn-ea"/>
                        </a:rPr>
                        <a:t>부정당업자제재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lbmgtCultrExmgrdScr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부정당업자제재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5941650"/>
                  </a:ext>
                </a:extLst>
              </a:tr>
            </a:tbl>
          </a:graphicData>
        </a:graphic>
      </p:graphicFrame>
      <p:sp>
        <p:nvSpPr>
          <p:cNvPr id="12" name="TextBox 11">
            <a:extLst>
              <a:ext uri="{FF2B5EF4-FFF2-40B4-BE49-F238E27FC236}">
                <a16:creationId xmlns:a16="http://schemas.microsoft.com/office/drawing/2014/main" id="{C5F95892-D4E7-7043-AF31-17459BF4EC1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13" name="Text Box 73">
            <a:extLst>
              <a:ext uri="{FF2B5EF4-FFF2-40B4-BE49-F238E27FC236}">
                <a16:creationId xmlns:a16="http://schemas.microsoft.com/office/drawing/2014/main" id="{55D5B456-F7BA-7A25-CA8A-11F41ACF5BF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809761501"/>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208</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37985"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기타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703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err="1">
                          <a:latin typeface="+mn-ea"/>
                          <a:ea typeface="+mn-ea"/>
                        </a:rPr>
                        <a:t>혁신형중소기업</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혁신형중소기업</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D4F29FCD-3293-C169-7E42-7595B6F2B891}"/>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9EE33E85-2EB5-AA1F-785D-26625645BFD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104968450"/>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209</a:t>
            </a:fld>
            <a:endParaRPr lang="ko-KR" altLang="en-US" dirty="0"/>
          </a:p>
        </p:txBody>
      </p:sp>
      <p:sp>
        <p:nvSpPr>
          <p:cNvPr id="12" name="TextBox 11">
            <a:extLst>
              <a:ext uri="{FF2B5EF4-FFF2-40B4-BE49-F238E27FC236}">
                <a16:creationId xmlns:a16="http://schemas.microsoft.com/office/drawing/2014/main" id="{DDAEDC2E-5E9F-B1E0-A87F-7307CAB1C281}"/>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3" name="표 12">
            <a:extLst>
              <a:ext uri="{FF2B5EF4-FFF2-40B4-BE49-F238E27FC236}">
                <a16:creationId xmlns:a16="http://schemas.microsoft.com/office/drawing/2014/main" id="{D629202E-7CF1-29EA-23C9-CCFB0CE8B911}"/>
              </a:ext>
            </a:extLst>
          </p:cNvPr>
          <p:cNvGraphicFramePr>
            <a:graphicFrameLocks noGrp="1"/>
          </p:cNvGraphicFramePr>
          <p:nvPr>
            <p:extLst>
              <p:ext uri="{D42A27DB-BD31-4B8C-83A1-F6EECF244321}">
                <p14:modId xmlns:p14="http://schemas.microsoft.com/office/powerpoint/2010/main" val="1593187238"/>
              </p:ext>
            </p:extLst>
          </p:nvPr>
        </p:nvGraphicFramePr>
        <p:xfrm>
          <a:off x="452291"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4" name="Text Box 73">
            <a:extLst>
              <a:ext uri="{FF2B5EF4-FFF2-40B4-BE49-F238E27FC236}">
                <a16:creationId xmlns:a16="http://schemas.microsoft.com/office/drawing/2014/main" id="{95969E14-1CC1-CE0D-518F-B3C6288C94D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06170921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210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2018</a:t>
            </a:r>
            <a:r>
              <a:rPr lang="ko-KR" altLang="en-US" dirty="0"/>
              <a:t>년 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28683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가</a:t>
            </a:r>
            <a:r>
              <a:rPr lang="en-US" altLang="ko-KR" dirty="0"/>
              <a:t>)</a:t>
            </a:r>
            <a:r>
              <a:rPr lang="ko-KR" altLang="en-US" dirty="0" err="1"/>
              <a:t>당해물품</a:t>
            </a:r>
            <a:r>
              <a:rPr lang="ko-KR" altLang="en-US" dirty="0"/>
              <a:t> </a:t>
            </a:r>
            <a:r>
              <a:rPr lang="ko-KR" altLang="en-US" dirty="0" err="1"/>
              <a:t>납품이행</a:t>
            </a:r>
            <a:r>
              <a:rPr lang="ko-KR" altLang="en-US" dirty="0"/>
              <a:t> 능력</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3801111" y="312843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3828979" y="365827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16042" y="3658278"/>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5644084" y="365827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50</a:t>
            </a:r>
          </a:p>
        </p:txBody>
      </p:sp>
      <p:grpSp>
        <p:nvGrpSpPr>
          <p:cNvPr id="162" name="그룹 161"/>
          <p:cNvGrpSpPr/>
          <p:nvPr/>
        </p:nvGrpSpPr>
        <p:grpSpPr>
          <a:xfrm>
            <a:off x="3826887" y="3658278"/>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3887858" y="317092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나</a:t>
            </a:r>
            <a:r>
              <a:rPr lang="en-US" altLang="ko-KR" dirty="0"/>
              <a:t>)</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3887858" y="337116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064390" y="365827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887857" y="4161416"/>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평정산식참조</a:t>
            </a:r>
          </a:p>
        </p:txBody>
      </p:sp>
      <p:sp>
        <p:nvSpPr>
          <p:cNvPr id="110" name="직사각형 109"/>
          <p:cNvSpPr/>
          <p:nvPr/>
        </p:nvSpPr>
        <p:spPr>
          <a:xfrm>
            <a:off x="704609" y="5224495"/>
            <a:ext cx="1639886" cy="5563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1672" y="5224496"/>
            <a:ext cx="1570293" cy="18094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kumimoji="1" lang="en-US" altLang="ko-KR" sz="700" spc="-60" dirty="0">
              <a:solidFill>
                <a:srgbClr val="000000">
                  <a:lumMod val="65000"/>
                  <a:lumOff val="35000"/>
                </a:srgbClr>
              </a:solidFill>
              <a:latin typeface="Verdana" panose="020B0604030504040204" pitchFamily="34" charset="0"/>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2519714" y="522449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702517" y="522449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4610" y="54392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4610" y="57836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763488" y="493738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납품실적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2940084" y="522449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791672" y="5503711"/>
            <a:ext cx="1480199" cy="21544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계약목적물과 </a:t>
            </a:r>
            <a:r>
              <a:rPr lang="ko-KR" altLang="en-US" sz="700" dirty="0" err="1">
                <a:latin typeface="+mn-ea"/>
              </a:rPr>
              <a:t>동등이상</a:t>
            </a:r>
            <a:r>
              <a:rPr lang="ko-KR" altLang="en-US" sz="700" dirty="0">
                <a:latin typeface="+mn-ea"/>
              </a:rPr>
              <a:t> 물품</a:t>
            </a:r>
            <a:br>
              <a:rPr lang="ko-KR" altLang="en-US" sz="700" dirty="0">
                <a:latin typeface="+mn-ea"/>
              </a:rPr>
            </a:br>
            <a:r>
              <a:rPr lang="en-US" altLang="ko-KR" sz="700" dirty="0">
                <a:latin typeface="+mn-ea"/>
              </a:rPr>
              <a:t>2.</a:t>
            </a:r>
            <a:r>
              <a:rPr lang="ko-KR" altLang="en-US" sz="700" dirty="0">
                <a:latin typeface="+mn-ea"/>
              </a:rPr>
              <a:t>계약목적물과 </a:t>
            </a:r>
            <a:r>
              <a:rPr lang="ko-KR" altLang="en-US" sz="700" dirty="0" err="1">
                <a:latin typeface="+mn-ea"/>
              </a:rPr>
              <a:t>유사물품</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2599863" y="5557572"/>
            <a:ext cx="99387"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3262288" y="555757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6" name="직사각형 245"/>
          <p:cNvSpPr/>
          <p:nvPr/>
        </p:nvSpPr>
        <p:spPr>
          <a:xfrm>
            <a:off x="3828979" y="1784364"/>
            <a:ext cx="1639886" cy="55406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7" name="TextBox 246">
            <a:extLst>
              <a:ext uri="{FF2B5EF4-FFF2-40B4-BE49-F238E27FC236}">
                <a16:creationId xmlns:a16="http://schemas.microsoft.com/office/drawing/2014/main" id="{FFC49AEA-2A8F-250C-A86A-A7751D9706C3}"/>
              </a:ext>
            </a:extLst>
          </p:cNvPr>
          <p:cNvSpPr txBox="1"/>
          <p:nvPr/>
        </p:nvSpPr>
        <p:spPr>
          <a:xfrm>
            <a:off x="3916042" y="1784365"/>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48" name="TextBox 247">
            <a:extLst>
              <a:ext uri="{FF2B5EF4-FFF2-40B4-BE49-F238E27FC236}">
                <a16:creationId xmlns:a16="http://schemas.microsoft.com/office/drawing/2014/main" id="{FFC49AEA-2A8F-250C-A86A-A7751D9706C3}"/>
              </a:ext>
            </a:extLst>
          </p:cNvPr>
          <p:cNvSpPr txBox="1"/>
          <p:nvPr/>
        </p:nvSpPr>
        <p:spPr>
          <a:xfrm>
            <a:off x="5644084" y="178436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50" name="직선 연결선 249">
            <a:extLst>
              <a:ext uri="{FF2B5EF4-FFF2-40B4-BE49-F238E27FC236}">
                <a16:creationId xmlns:a16="http://schemas.microsoft.com/office/drawing/2014/main" id="{E9293055-D5CD-4B9E-7F64-64B2D2CA7A52}"/>
              </a:ext>
            </a:extLst>
          </p:cNvPr>
          <p:cNvCxnSpPr/>
          <p:nvPr/>
        </p:nvCxnSpPr>
        <p:spPr>
          <a:xfrm>
            <a:off x="3826887" y="178436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3828980" y="19991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3" name="TextBox 252">
            <a:extLst>
              <a:ext uri="{FF2B5EF4-FFF2-40B4-BE49-F238E27FC236}">
                <a16:creationId xmlns:a16="http://schemas.microsoft.com/office/drawing/2014/main" id="{FFC49AEA-2A8F-250C-A86A-A7751D9706C3}"/>
              </a:ext>
            </a:extLst>
          </p:cNvPr>
          <p:cNvSpPr txBox="1"/>
          <p:nvPr/>
        </p:nvSpPr>
        <p:spPr>
          <a:xfrm>
            <a:off x="3887858" y="14972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err="1">
                <a:latin typeface="+mn-ea"/>
              </a:rPr>
              <a:t>기술실적</a:t>
            </a:r>
            <a:endParaRPr lang="ko-KR" altLang="en-US" sz="700" dirty="0">
              <a:latin typeface="+mn-ea"/>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6064454" y="178436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55" name="직사각형 254"/>
          <p:cNvSpPr/>
          <p:nvPr/>
        </p:nvSpPr>
        <p:spPr>
          <a:xfrm>
            <a:off x="3828979" y="2634063"/>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6" name="TextBox 255">
            <a:extLst>
              <a:ext uri="{FF2B5EF4-FFF2-40B4-BE49-F238E27FC236}">
                <a16:creationId xmlns:a16="http://schemas.microsoft.com/office/drawing/2014/main" id="{FFC49AEA-2A8F-250C-A86A-A7751D9706C3}"/>
              </a:ext>
            </a:extLst>
          </p:cNvPr>
          <p:cNvSpPr txBox="1"/>
          <p:nvPr/>
        </p:nvSpPr>
        <p:spPr>
          <a:xfrm>
            <a:off x="3916042" y="2634064"/>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신용평가등급</a:t>
            </a:r>
          </a:p>
        </p:txBody>
      </p:sp>
      <p:sp>
        <p:nvSpPr>
          <p:cNvPr id="257" name="TextBox 256">
            <a:extLst>
              <a:ext uri="{FF2B5EF4-FFF2-40B4-BE49-F238E27FC236}">
                <a16:creationId xmlns:a16="http://schemas.microsoft.com/office/drawing/2014/main" id="{FFC49AEA-2A8F-250C-A86A-A7751D9706C3}"/>
              </a:ext>
            </a:extLst>
          </p:cNvPr>
          <p:cNvSpPr txBox="1"/>
          <p:nvPr/>
        </p:nvSpPr>
        <p:spPr>
          <a:xfrm>
            <a:off x="5644084" y="2634064"/>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258" name="그룹 257"/>
          <p:cNvGrpSpPr/>
          <p:nvPr/>
        </p:nvGrpSpPr>
        <p:grpSpPr>
          <a:xfrm>
            <a:off x="3826887" y="2634064"/>
            <a:ext cx="2630093" cy="429480"/>
            <a:chOff x="701175" y="1835481"/>
            <a:chExt cx="2630093" cy="429480"/>
          </a:xfrm>
        </p:grpSpPr>
        <p:cxnSp>
          <p:nvCxnSpPr>
            <p:cNvPr id="259" name="직선 연결선 25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0" name="직선 연결선 25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1" name="직선 연결선 26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62" name="TextBox 261">
            <a:extLst>
              <a:ext uri="{FF2B5EF4-FFF2-40B4-BE49-F238E27FC236}">
                <a16:creationId xmlns:a16="http://schemas.microsoft.com/office/drawing/2014/main" id="{FFC49AEA-2A8F-250C-A86A-A7751D9706C3}"/>
              </a:ext>
            </a:extLst>
          </p:cNvPr>
          <p:cNvSpPr txBox="1"/>
          <p:nvPr/>
        </p:nvSpPr>
        <p:spPr>
          <a:xfrm>
            <a:off x="3887858" y="234694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 경영상태</a:t>
            </a:r>
          </a:p>
        </p:txBody>
      </p:sp>
      <p:sp>
        <p:nvSpPr>
          <p:cNvPr id="263" name="TextBox 262">
            <a:extLst>
              <a:ext uri="{FF2B5EF4-FFF2-40B4-BE49-F238E27FC236}">
                <a16:creationId xmlns:a16="http://schemas.microsoft.com/office/drawing/2014/main" id="{FFC49AEA-2A8F-250C-A86A-A7751D9706C3}"/>
              </a:ext>
            </a:extLst>
          </p:cNvPr>
          <p:cNvSpPr txBox="1"/>
          <p:nvPr/>
        </p:nvSpPr>
        <p:spPr>
          <a:xfrm>
            <a:off x="6064390" y="2634064"/>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264" name="직사각형 263"/>
          <p:cNvSpPr/>
          <p:nvPr/>
        </p:nvSpPr>
        <p:spPr>
          <a:xfrm>
            <a:off x="3823602" y="4976372"/>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3910665" y="4976373"/>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66" name="TextBox 265">
            <a:extLst>
              <a:ext uri="{FF2B5EF4-FFF2-40B4-BE49-F238E27FC236}">
                <a16:creationId xmlns:a16="http://schemas.microsoft.com/office/drawing/2014/main" id="{FFC49AEA-2A8F-250C-A86A-A7751D9706C3}"/>
              </a:ext>
            </a:extLst>
          </p:cNvPr>
          <p:cNvSpPr txBox="1"/>
          <p:nvPr/>
        </p:nvSpPr>
        <p:spPr>
          <a:xfrm>
            <a:off x="5638707" y="4976373"/>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1510" y="497637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3603" y="51911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23603" y="56189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3882481" y="4489021"/>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다</a:t>
            </a:r>
            <a:r>
              <a:rPr lang="en-US" altLang="ko-KR" dirty="0"/>
              <a:t>)</a:t>
            </a:r>
            <a:r>
              <a:rPr lang="ko-KR" altLang="en-US" dirty="0"/>
              <a:t>신인도</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3882481" y="46892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물품 </a:t>
            </a:r>
            <a:r>
              <a:rPr lang="ko-KR" altLang="en-US" sz="700" dirty="0" err="1">
                <a:latin typeface="+mn-ea"/>
              </a:rPr>
              <a:t>품질정도</a:t>
            </a:r>
            <a:endParaRPr lang="ko-KR" altLang="en-US" sz="700" dirty="0">
              <a:latin typeface="+mn-ea"/>
            </a:endParaRPr>
          </a:p>
        </p:txBody>
      </p:sp>
      <p:sp>
        <p:nvSpPr>
          <p:cNvPr id="273" name="TextBox 272">
            <a:extLst>
              <a:ext uri="{FF2B5EF4-FFF2-40B4-BE49-F238E27FC236}">
                <a16:creationId xmlns:a16="http://schemas.microsoft.com/office/drawing/2014/main" id="{FFC49AEA-2A8F-250C-A86A-A7751D9706C3}"/>
              </a:ext>
            </a:extLst>
          </p:cNvPr>
          <p:cNvSpPr txBox="1"/>
          <p:nvPr/>
        </p:nvSpPr>
        <p:spPr>
          <a:xfrm>
            <a:off x="6059077" y="497637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99" name="직선 연결선 298">
            <a:extLst>
              <a:ext uri="{FF2B5EF4-FFF2-40B4-BE49-F238E27FC236}">
                <a16:creationId xmlns:a16="http://schemas.microsoft.com/office/drawing/2014/main" id="{E9293055-D5CD-4B9E-7F64-64B2D2CA7A52}"/>
              </a:ext>
            </a:extLst>
          </p:cNvPr>
          <p:cNvCxnSpPr/>
          <p:nvPr/>
        </p:nvCxnSpPr>
        <p:spPr>
          <a:xfrm>
            <a:off x="3801111" y="44409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0" name="TextBox 299">
            <a:extLst>
              <a:ext uri="{FF2B5EF4-FFF2-40B4-BE49-F238E27FC236}">
                <a16:creationId xmlns:a16="http://schemas.microsoft.com/office/drawing/2014/main" id="{FFC49AEA-2A8F-250C-A86A-A7751D9706C3}"/>
              </a:ext>
            </a:extLst>
          </p:cNvPr>
          <p:cNvSpPr txBox="1"/>
          <p:nvPr/>
        </p:nvSpPr>
        <p:spPr>
          <a:xfrm>
            <a:off x="3910665" y="5243468"/>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품질관리</a:t>
            </a:r>
            <a:br>
              <a:rPr lang="ko-KR" altLang="en-US" sz="700" dirty="0">
                <a:latin typeface="+mn-ea"/>
              </a:rPr>
            </a:br>
            <a:r>
              <a:rPr lang="en-US" altLang="ko-KR" sz="700" dirty="0">
                <a:latin typeface="+mn-ea"/>
              </a:rPr>
              <a:t>2.</a:t>
            </a:r>
            <a:r>
              <a:rPr lang="ko-KR" altLang="en-US" sz="700" dirty="0">
                <a:latin typeface="+mn-ea"/>
              </a:rPr>
              <a:t>기술보유</a:t>
            </a:r>
            <a:br>
              <a:rPr lang="ko-KR" altLang="en-US" sz="700" dirty="0">
                <a:latin typeface="+mn-ea"/>
              </a:rPr>
            </a:br>
            <a:r>
              <a:rPr lang="en-US" altLang="ko-KR" sz="700" dirty="0">
                <a:latin typeface="+mn-ea"/>
              </a:rPr>
              <a:t>3.</a:t>
            </a:r>
            <a:r>
              <a:rPr lang="ko-KR" altLang="en-US" sz="700" dirty="0">
                <a:latin typeface="+mn-ea"/>
              </a:rPr>
              <a:t>환경관리</a:t>
            </a:r>
          </a:p>
        </p:txBody>
      </p:sp>
      <p:sp>
        <p:nvSpPr>
          <p:cNvPr id="301" name="TextBox 300">
            <a:extLst>
              <a:ext uri="{FF2B5EF4-FFF2-40B4-BE49-F238E27FC236}">
                <a16:creationId xmlns:a16="http://schemas.microsoft.com/office/drawing/2014/main" id="{FFC49AEA-2A8F-250C-A86A-A7751D9706C3}"/>
              </a:ext>
            </a:extLst>
          </p:cNvPr>
          <p:cNvSpPr txBox="1"/>
          <p:nvPr/>
        </p:nvSpPr>
        <p:spPr>
          <a:xfrm>
            <a:off x="5356257" y="5351189"/>
            <a:ext cx="461986" cy="107722"/>
          </a:xfrm>
          <a:prstGeom prst="rect">
            <a:avLst/>
          </a:prstGeom>
          <a:noFill/>
        </p:spPr>
        <p:txBody>
          <a:bodyPr wrap="none" lIns="0" tIns="0" rIns="0" bIns="0" rtlCol="0">
            <a:spAutoFit/>
          </a:bodyPr>
          <a:lstStyle/>
          <a:p>
            <a:pPr lvl="0" algn="r" defTabSz="1013612">
              <a:defRPr/>
            </a:pPr>
            <a:r>
              <a:rPr kumimoji="1" lang="en-US" altLang="ko-KR" sz="700" spc="-60" dirty="0">
                <a:solidFill>
                  <a:srgbClr val="000000">
                    <a:lumMod val="65000"/>
                    <a:lumOff val="35000"/>
                  </a:srgbClr>
                </a:solidFill>
                <a:latin typeface="Verdana" panose="020B0604030504040204" pitchFamily="34" charset="0"/>
              </a:rPr>
              <a:t>+6.2 ~ -4.2</a:t>
            </a:r>
          </a:p>
        </p:txBody>
      </p:sp>
      <p:sp>
        <p:nvSpPr>
          <p:cNvPr id="302" name="TextBox 301">
            <a:extLst>
              <a:ext uri="{FF2B5EF4-FFF2-40B4-BE49-F238E27FC236}">
                <a16:creationId xmlns:a16="http://schemas.microsoft.com/office/drawing/2014/main" id="{FFC49AEA-2A8F-250C-A86A-A7751D9706C3}"/>
              </a:ext>
            </a:extLst>
          </p:cNvPr>
          <p:cNvSpPr txBox="1"/>
          <p:nvPr/>
        </p:nvSpPr>
        <p:spPr>
          <a:xfrm>
            <a:off x="6381281" y="535118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0" name="직선 연결선 169">
            <a:extLst>
              <a:ext uri="{FF2B5EF4-FFF2-40B4-BE49-F238E27FC236}">
                <a16:creationId xmlns:a16="http://schemas.microsoft.com/office/drawing/2014/main" id="{E9293055-D5CD-4B9E-7F64-64B2D2CA7A52}"/>
              </a:ext>
            </a:extLst>
          </p:cNvPr>
          <p:cNvCxnSpPr/>
          <p:nvPr/>
        </p:nvCxnSpPr>
        <p:spPr>
          <a:xfrm>
            <a:off x="3826887" y="2338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1" name="TextBox 170">
            <a:extLst>
              <a:ext uri="{FF2B5EF4-FFF2-40B4-BE49-F238E27FC236}">
                <a16:creationId xmlns:a16="http://schemas.microsoft.com/office/drawing/2014/main" id="{FFC49AEA-2A8F-250C-A86A-A7751D9706C3}"/>
              </a:ext>
            </a:extLst>
          </p:cNvPr>
          <p:cNvSpPr txBox="1"/>
          <p:nvPr/>
        </p:nvSpPr>
        <p:spPr>
          <a:xfrm>
            <a:off x="3913949" y="2058508"/>
            <a:ext cx="1480199" cy="215444"/>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기술인력 보유</a:t>
            </a:r>
            <a:br>
              <a:rPr lang="ko-KR" altLang="en-US" sz="700" dirty="0">
                <a:latin typeface="+mn-ea"/>
              </a:rPr>
            </a:br>
            <a:r>
              <a:rPr lang="en-US" altLang="ko-KR" sz="700" dirty="0">
                <a:latin typeface="+mn-ea"/>
              </a:rPr>
              <a:t>2.</a:t>
            </a:r>
            <a:r>
              <a:rPr lang="ko-KR" altLang="en-US" sz="700" dirty="0">
                <a:latin typeface="+mn-ea"/>
              </a:rPr>
              <a:t>생산기술 </a:t>
            </a:r>
            <a:r>
              <a:rPr lang="ko-KR" altLang="en-US" sz="700" dirty="0" err="1">
                <a:latin typeface="+mn-ea"/>
              </a:rPr>
              <a:t>축적정도</a:t>
            </a:r>
            <a:endParaRPr lang="ko-KR" altLang="en-US"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5722140" y="2112369"/>
            <a:ext cx="99387"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73" name="TextBox 172">
            <a:extLst>
              <a:ext uri="{FF2B5EF4-FFF2-40B4-BE49-F238E27FC236}">
                <a16:creationId xmlns:a16="http://schemas.microsoft.com/office/drawing/2014/main" id="{FFC49AEA-2A8F-250C-A86A-A7751D9706C3}"/>
              </a:ext>
            </a:extLst>
          </p:cNvPr>
          <p:cNvSpPr txBox="1"/>
          <p:nvPr/>
        </p:nvSpPr>
        <p:spPr>
          <a:xfrm>
            <a:off x="6384565" y="211236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4" name="타원 17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001451265"/>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211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2018</a:t>
            </a:r>
            <a:r>
              <a:rPr lang="ko-KR" altLang="en-US" dirty="0"/>
              <a:t>년 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6070"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676069" y="2500666"/>
            <a:ext cx="2712028" cy="3384473"/>
            <a:chOff x="676740" y="2751148"/>
            <a:chExt cx="2712028" cy="3384473"/>
          </a:xfrm>
        </p:grpSpPr>
        <p:sp>
          <p:nvSpPr>
            <p:cNvPr id="303" name="직사각형 302"/>
            <p:cNvSpPr/>
            <p:nvPr/>
          </p:nvSpPr>
          <p:spPr>
            <a:xfrm>
              <a:off x="718458" y="3038262"/>
              <a:ext cx="1639886" cy="84411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805521" y="3038263"/>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2533563" y="3038263"/>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716366" y="303826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718459" y="325300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718459" y="387961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777337" y="275114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err="1">
                  <a:latin typeface="+mn-ea"/>
                </a:rPr>
                <a:t>사회적책임</a:t>
              </a:r>
              <a:r>
                <a:rPr lang="ko-KR" altLang="en-US" sz="700" dirty="0">
                  <a:latin typeface="+mn-ea"/>
                </a:rPr>
                <a:t> 등 </a:t>
              </a:r>
              <a:r>
                <a:rPr lang="ko-KR" altLang="en-US" sz="700" dirty="0" err="1">
                  <a:latin typeface="+mn-ea"/>
                </a:rPr>
                <a:t>신뢰정도</a:t>
              </a:r>
              <a:endParaRPr lang="ko-KR" altLang="en-US" sz="700" dirty="0">
                <a:latin typeface="+mn-ea"/>
              </a:endParaRPr>
            </a:p>
          </p:txBody>
        </p:sp>
        <p:sp>
          <p:nvSpPr>
            <p:cNvPr id="310" name="TextBox 309">
              <a:extLst>
                <a:ext uri="{FF2B5EF4-FFF2-40B4-BE49-F238E27FC236}">
                  <a16:creationId xmlns:a16="http://schemas.microsoft.com/office/drawing/2014/main" id="{FFC49AEA-2A8F-250C-A86A-A7751D9706C3}"/>
                </a:ext>
              </a:extLst>
            </p:cNvPr>
            <p:cNvSpPr txBox="1"/>
            <p:nvPr/>
          </p:nvSpPr>
          <p:spPr>
            <a:xfrm>
              <a:off x="2953933" y="303826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805521" y="3299194"/>
              <a:ext cx="1480199" cy="538609"/>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고용창출</a:t>
              </a:r>
            </a:p>
            <a:p>
              <a:r>
                <a:rPr lang="en-US" altLang="ko-KR" sz="700" dirty="0">
                  <a:latin typeface="+mn-ea"/>
                </a:rPr>
                <a:t>2.</a:t>
              </a:r>
              <a:r>
                <a:rPr lang="ko-KR" altLang="en-US" sz="700" dirty="0">
                  <a:latin typeface="+mn-ea"/>
                </a:rPr>
                <a:t>혁신적 중소기업</a:t>
              </a:r>
            </a:p>
            <a:p>
              <a:r>
                <a:rPr lang="en-US" altLang="ko-KR" sz="700" dirty="0">
                  <a:latin typeface="+mn-ea"/>
                </a:rPr>
                <a:t>3.</a:t>
              </a:r>
              <a:r>
                <a:rPr lang="ko-KR" altLang="en-US" sz="700" dirty="0">
                  <a:latin typeface="+mn-ea"/>
                </a:rPr>
                <a:t>장애인기업</a:t>
              </a:r>
            </a:p>
            <a:p>
              <a:r>
                <a:rPr lang="en-US" altLang="ko-KR" sz="700" dirty="0">
                  <a:latin typeface="+mn-ea"/>
                </a:rPr>
                <a:t>4.</a:t>
              </a:r>
              <a:r>
                <a:rPr lang="ko-KR" altLang="en-US" sz="700" dirty="0">
                  <a:latin typeface="+mn-ea"/>
                </a:rPr>
                <a:t>여성기업지원 등</a:t>
              </a:r>
            </a:p>
            <a:p>
              <a:r>
                <a:rPr lang="en-US" altLang="ko-KR" sz="700" dirty="0">
                  <a:latin typeface="+mn-ea"/>
                </a:rPr>
                <a:t>5.</a:t>
              </a:r>
              <a:r>
                <a:rPr lang="ko-KR" altLang="en-US" sz="700" dirty="0">
                  <a:latin typeface="+mn-ea"/>
                </a:rPr>
                <a:t>정책지원</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2251113" y="3514637"/>
              <a:ext cx="461986" cy="107722"/>
            </a:xfrm>
            <a:prstGeom prst="rect">
              <a:avLst/>
            </a:prstGeom>
            <a:noFill/>
          </p:spPr>
          <p:txBody>
            <a:bodyPr wrap="none" lIns="0" tIns="0" rIns="0" bIns="0" rtlCol="0">
              <a:spAutoFit/>
            </a:bodyPr>
            <a:lstStyle/>
            <a:p>
              <a:pPr lvl="0" algn="r" defTabSz="1013612">
                <a:defRPr/>
              </a:pPr>
              <a:r>
                <a:rPr kumimoji="1" lang="en-US" altLang="ko-KR" sz="700" spc="-60" dirty="0">
                  <a:solidFill>
                    <a:srgbClr val="000000">
                      <a:lumMod val="65000"/>
                      <a:lumOff val="35000"/>
                    </a:srgbClr>
                  </a:solidFill>
                  <a:latin typeface="Verdana" panose="020B0604030504040204" pitchFamily="34" charset="0"/>
                </a:rPr>
                <a:t>+6.2 ~ -4.2</a:t>
              </a:r>
            </a:p>
          </p:txBody>
        </p:sp>
        <p:sp>
          <p:nvSpPr>
            <p:cNvPr id="313" name="TextBox 312">
              <a:extLst>
                <a:ext uri="{FF2B5EF4-FFF2-40B4-BE49-F238E27FC236}">
                  <a16:creationId xmlns:a16="http://schemas.microsoft.com/office/drawing/2014/main" id="{FFC49AEA-2A8F-250C-A86A-A7751D9706C3}"/>
                </a:ext>
              </a:extLst>
            </p:cNvPr>
            <p:cNvSpPr txBox="1"/>
            <p:nvPr/>
          </p:nvSpPr>
          <p:spPr>
            <a:xfrm>
              <a:off x="3276137" y="351463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0" name="직선 연결선 169">
              <a:extLst>
                <a:ext uri="{FF2B5EF4-FFF2-40B4-BE49-F238E27FC236}">
                  <a16:creationId xmlns:a16="http://schemas.microsoft.com/office/drawing/2014/main" id="{E9293055-D5CD-4B9E-7F64-64B2D2CA7A52}"/>
                </a:ext>
              </a:extLst>
            </p:cNvPr>
            <p:cNvCxnSpPr/>
            <p:nvPr/>
          </p:nvCxnSpPr>
          <p:spPr>
            <a:xfrm>
              <a:off x="676741" y="429388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1" name="TextBox 170">
              <a:extLst>
                <a:ext uri="{FF2B5EF4-FFF2-40B4-BE49-F238E27FC236}">
                  <a16:creationId xmlns:a16="http://schemas.microsoft.com/office/drawing/2014/main" id="{FFC49AEA-2A8F-250C-A86A-A7751D9706C3}"/>
                </a:ext>
              </a:extLst>
            </p:cNvPr>
            <p:cNvSpPr txBox="1"/>
            <p:nvPr/>
          </p:nvSpPr>
          <p:spPr>
            <a:xfrm>
              <a:off x="763487" y="3920213"/>
              <a:ext cx="2456097" cy="323165"/>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신인도 배점은 </a:t>
              </a:r>
              <a:r>
                <a:rPr lang="en-US" altLang="ko-KR" sz="700" dirty="0">
                  <a:latin typeface="+mn-ea"/>
                </a:rPr>
                <a:t>1~3</a:t>
              </a:r>
              <a:r>
                <a:rPr lang="ko-KR" altLang="en-US" sz="700" dirty="0">
                  <a:latin typeface="+mn-ea"/>
                </a:rPr>
                <a:t>번 항을 합하여</a:t>
              </a:r>
              <a:endParaRPr lang="en-US" altLang="ko-KR" sz="700" dirty="0">
                <a:latin typeface="+mn-ea"/>
              </a:endParaRPr>
            </a:p>
            <a:p>
              <a:pPr lvl="0" algn="ctr" defTabSz="1013612">
                <a:defRPr/>
              </a:pPr>
              <a:r>
                <a:rPr lang="en-US" altLang="ko-KR" sz="700" dirty="0">
                  <a:latin typeface="+mn-ea"/>
                </a:rPr>
                <a:t>+6.2 ~ -4.2</a:t>
              </a:r>
              <a:r>
                <a:rPr lang="ko-KR" altLang="en-US" sz="700" dirty="0">
                  <a:latin typeface="+mn-ea"/>
                </a:rPr>
                <a:t>의 사이 값이 </a:t>
              </a:r>
              <a:r>
                <a:rPr lang="ko-KR" altLang="en-US" sz="700" dirty="0" err="1">
                  <a:latin typeface="+mn-ea"/>
                </a:rPr>
                <a:t>배점됩니다</a:t>
              </a:r>
              <a:r>
                <a:rPr lang="en-US" altLang="ko-KR" sz="700" dirty="0">
                  <a:latin typeface="+mn-ea"/>
                </a:rPr>
                <a:t>.</a:t>
              </a:r>
              <a:endParaRPr lang="ko-KR" altLang="en-US" sz="700" dirty="0">
                <a:latin typeface="+mn-ea"/>
              </a:endParaRPr>
            </a:p>
          </p:txBody>
        </p:sp>
        <p:sp>
          <p:nvSpPr>
            <p:cNvPr id="173" name="직사각형 172"/>
            <p:cNvSpPr/>
            <p:nvPr/>
          </p:nvSpPr>
          <p:spPr>
            <a:xfrm>
              <a:off x="704608" y="4826470"/>
              <a:ext cx="1639886" cy="123165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791671" y="4826471"/>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19713" y="482647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701911" y="482646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4004" y="50412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4004" y="60626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763487" y="4339119"/>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라</a:t>
              </a:r>
              <a:r>
                <a:rPr lang="en-US" altLang="ko-KR" dirty="0"/>
                <a:t>)</a:t>
              </a:r>
              <a:r>
                <a:rPr lang="ko-KR" altLang="en-US" dirty="0"/>
                <a:t>결격사유</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763487" y="453935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a:t>
              </a:r>
              <a:r>
                <a:rPr lang="ko-KR" altLang="en-US" sz="700" dirty="0" err="1">
                  <a:latin typeface="+mn-ea"/>
                </a:rPr>
                <a:t>납품이행</a:t>
              </a:r>
              <a:r>
                <a:rPr lang="ko-KR" altLang="en-US" sz="700" dirty="0">
                  <a:latin typeface="+mn-ea"/>
                </a:rPr>
                <a:t> 능력 결격 여부</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940083" y="482647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6740" y="613562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5521" y="5108059"/>
              <a:ext cx="1480199" cy="538609"/>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현재 부도상태에 있거나</a:t>
              </a:r>
              <a:r>
                <a:rPr lang="en-US" altLang="ko-KR" sz="700" dirty="0">
                  <a:latin typeface="+mn-ea"/>
                </a:rPr>
                <a:t>, </a:t>
              </a:r>
              <a:r>
                <a:rPr lang="ko-KR" altLang="en-US" sz="700" dirty="0">
                  <a:latin typeface="+mn-ea"/>
                </a:rPr>
                <a:t>부도 또는 </a:t>
              </a:r>
              <a:r>
                <a:rPr lang="ko-KR" altLang="en-US" sz="700" dirty="0" err="1">
                  <a:latin typeface="+mn-ea"/>
                </a:rPr>
                <a:t>파산우려가</a:t>
              </a:r>
              <a:r>
                <a:rPr lang="ko-KR" altLang="en-US" sz="700" dirty="0">
                  <a:latin typeface="+mn-ea"/>
                </a:rPr>
                <a:t> 있어 당해계약이행이 어렵다고 판단되는 경우</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판정을 받은 경우는 제외</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2576843" y="5323502"/>
              <a:ext cx="13625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endParaRPr lang="ko-KR" altLang="en-US" dirty="0"/>
            </a:p>
          </p:txBody>
        </p:sp>
        <p:sp>
          <p:nvSpPr>
            <p:cNvPr id="187" name="TextBox 186">
              <a:extLst>
                <a:ext uri="{FF2B5EF4-FFF2-40B4-BE49-F238E27FC236}">
                  <a16:creationId xmlns:a16="http://schemas.microsoft.com/office/drawing/2014/main" id="{FFC49AEA-2A8F-250C-A86A-A7751D9706C3}"/>
                </a:ext>
              </a:extLst>
            </p:cNvPr>
            <p:cNvSpPr txBox="1"/>
            <p:nvPr/>
          </p:nvSpPr>
          <p:spPr>
            <a:xfrm>
              <a:off x="3276137" y="534013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19050" y="571351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805521" y="5780368"/>
              <a:ext cx="1480199" cy="215444"/>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생산능력 부족으로 당해 계약 이행이 어렵다고 판단되는 경우</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2576843" y="5834229"/>
              <a:ext cx="136256"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grpSp>
      <p:sp>
        <p:nvSpPr>
          <p:cNvPr id="208" name="TextBox 207">
            <a:extLst>
              <a:ext uri="{FF2B5EF4-FFF2-40B4-BE49-F238E27FC236}">
                <a16:creationId xmlns:a16="http://schemas.microsoft.com/office/drawing/2014/main" id="{FFC49AEA-2A8F-250C-A86A-A7751D9706C3}"/>
              </a:ext>
            </a:extLst>
          </p:cNvPr>
          <p:cNvSpPr txBox="1"/>
          <p:nvPr/>
        </p:nvSpPr>
        <p:spPr>
          <a:xfrm>
            <a:off x="3883823" y="152799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가</a:t>
            </a:r>
            <a:r>
              <a:rPr lang="en-US" altLang="ko-KR" sz="700" dirty="0">
                <a:latin typeface="+mn-ea"/>
              </a:rPr>
              <a:t>)</a:t>
            </a:r>
            <a:r>
              <a:rPr lang="ko-KR" altLang="en-US" sz="700" dirty="0" err="1">
                <a:latin typeface="+mn-ea"/>
              </a:rPr>
              <a:t>당해물품납품이행</a:t>
            </a:r>
            <a:endParaRPr lang="en-US" altLang="ko-KR" sz="700" dirty="0">
              <a:latin typeface="+mn-ea"/>
            </a:endParaRPr>
          </a:p>
        </p:txBody>
      </p:sp>
      <p:grpSp>
        <p:nvGrpSpPr>
          <p:cNvPr id="209" name="그룹 208"/>
          <p:cNvGrpSpPr/>
          <p:nvPr/>
        </p:nvGrpSpPr>
        <p:grpSpPr>
          <a:xfrm flipV="1">
            <a:off x="6245910" y="1641327"/>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7076"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3910665" y="1864633"/>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 </a:t>
            </a:r>
            <a:r>
              <a:rPr lang="ko-KR" altLang="en-US" dirty="0"/>
              <a:t>납품실적</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910665" y="206487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4435522" y="2138158"/>
            <a:ext cx="2010812" cy="215444"/>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3910665" y="237226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4435522" y="2445550"/>
            <a:ext cx="2010812" cy="215444"/>
          </a:xfrm>
          <a:prstGeom prst="rect">
            <a:avLst/>
          </a:prstGeom>
          <a:noFill/>
        </p:spPr>
        <p:txBody>
          <a:bodyPr wrap="square" lIns="0" tIns="0" rIns="0" bIns="0" rtlCol="0">
            <a:spAutoFit/>
          </a:bodyPr>
          <a:lstStyle/>
          <a:p>
            <a:r>
              <a:rPr lang="ko-KR" altLang="en-US" sz="700" dirty="0">
                <a:latin typeface="+mn-ea"/>
              </a:rPr>
              <a:t>금액  </a:t>
            </a:r>
            <a:r>
              <a:rPr lang="en-US" altLang="ko-KR" sz="700" dirty="0">
                <a:latin typeface="+mn-ea"/>
              </a:rPr>
              <a:t>(</a:t>
            </a:r>
            <a:r>
              <a:rPr lang="ko-KR" altLang="en-US" sz="700" dirty="0">
                <a:latin typeface="+mn-ea"/>
              </a:rPr>
              <a:t>납품가격 </a:t>
            </a:r>
            <a:r>
              <a:rPr lang="en-US" altLang="ko-KR" sz="700" dirty="0">
                <a:latin typeface="+mn-ea"/>
              </a:rPr>
              <a:t>/ </a:t>
            </a:r>
            <a:r>
              <a:rPr lang="ko-KR" altLang="en-US" sz="700" dirty="0">
                <a:latin typeface="+mn-ea"/>
              </a:rPr>
              <a:t>예정가격</a:t>
            </a:r>
            <a:r>
              <a:rPr lang="en-US" altLang="ko-KR" sz="700" dirty="0">
                <a:latin typeface="+mn-ea"/>
              </a:rPr>
              <a:t>)</a:t>
            </a:r>
          </a:p>
          <a:p>
            <a:r>
              <a:rPr lang="ko-KR" altLang="en-US" sz="700" dirty="0">
                <a:latin typeface="+mn-ea"/>
              </a:rPr>
              <a:t>수량  </a:t>
            </a:r>
            <a:r>
              <a:rPr lang="en-US" altLang="ko-KR" sz="700" dirty="0">
                <a:latin typeface="+mn-ea"/>
              </a:rPr>
              <a:t>(</a:t>
            </a:r>
            <a:r>
              <a:rPr lang="ko-KR" altLang="en-US" sz="700" dirty="0" err="1">
                <a:latin typeface="+mn-ea"/>
              </a:rPr>
              <a:t>납품수량</a:t>
            </a:r>
            <a:r>
              <a:rPr lang="ko-KR" altLang="en-US" sz="700" dirty="0">
                <a:latin typeface="+mn-ea"/>
              </a:rPr>
              <a:t> </a:t>
            </a:r>
            <a:r>
              <a:rPr lang="en-US" altLang="ko-KR" sz="700" dirty="0">
                <a:latin typeface="+mn-ea"/>
              </a:rPr>
              <a:t>/ </a:t>
            </a:r>
            <a:r>
              <a:rPr lang="ko-KR" altLang="en-US" sz="700" dirty="0" err="1">
                <a:latin typeface="+mn-ea"/>
              </a:rPr>
              <a:t>예정수량</a:t>
            </a:r>
            <a:r>
              <a:rPr lang="en-US" altLang="ko-KR" sz="700" dirty="0">
                <a:latin typeface="+mn-ea"/>
              </a:rPr>
              <a:t>)</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6036814" y="249941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3910665" y="369012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37" name="TextBox 236">
            <a:extLst>
              <a:ext uri="{FF2B5EF4-FFF2-40B4-BE49-F238E27FC236}">
                <a16:creationId xmlns:a16="http://schemas.microsoft.com/office/drawing/2014/main" id="{FFC49AEA-2A8F-250C-A86A-A7751D9706C3}"/>
              </a:ext>
            </a:extLst>
          </p:cNvPr>
          <p:cNvSpPr txBox="1"/>
          <p:nvPr/>
        </p:nvSpPr>
        <p:spPr>
          <a:xfrm>
            <a:off x="4435522" y="3763410"/>
            <a:ext cx="2010812" cy="215444"/>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유사 물품</a:t>
            </a:r>
            <a:r>
              <a:rPr lang="en-US" altLang="ko-KR" sz="700" dirty="0">
                <a:latin typeface="+mn-ea"/>
              </a:rPr>
              <a:t>)</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3910665" y="399751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4435522" y="4070802"/>
            <a:ext cx="2010812" cy="215444"/>
          </a:xfrm>
          <a:prstGeom prst="rect">
            <a:avLst/>
          </a:prstGeom>
          <a:noFill/>
        </p:spPr>
        <p:txBody>
          <a:bodyPr wrap="square" lIns="0" tIns="0" rIns="0" bIns="0" rtlCol="0">
            <a:spAutoFit/>
          </a:bodyPr>
          <a:lstStyle/>
          <a:p>
            <a:r>
              <a:rPr lang="ko-KR" altLang="en-US" sz="700" dirty="0">
                <a:latin typeface="+mn-ea"/>
              </a:rPr>
              <a:t>금액  </a:t>
            </a:r>
            <a:r>
              <a:rPr lang="en-US" altLang="ko-KR" sz="700" dirty="0">
                <a:latin typeface="+mn-ea"/>
              </a:rPr>
              <a:t>(</a:t>
            </a:r>
            <a:r>
              <a:rPr lang="ko-KR" altLang="en-US" sz="700" dirty="0">
                <a:latin typeface="+mn-ea"/>
              </a:rPr>
              <a:t>납품가격 </a:t>
            </a:r>
            <a:r>
              <a:rPr lang="en-US" altLang="ko-KR" sz="700" dirty="0">
                <a:latin typeface="+mn-ea"/>
              </a:rPr>
              <a:t>/ </a:t>
            </a:r>
            <a:r>
              <a:rPr lang="ko-KR" altLang="en-US" sz="700" dirty="0">
                <a:latin typeface="+mn-ea"/>
              </a:rPr>
              <a:t>예정가격</a:t>
            </a:r>
            <a:r>
              <a:rPr lang="en-US" altLang="ko-KR" sz="700" dirty="0">
                <a:latin typeface="+mn-ea"/>
              </a:rPr>
              <a:t>)</a:t>
            </a:r>
          </a:p>
          <a:p>
            <a:r>
              <a:rPr lang="ko-KR" altLang="en-US" sz="700" dirty="0">
                <a:latin typeface="+mn-ea"/>
              </a:rPr>
              <a:t>수량  </a:t>
            </a:r>
            <a:r>
              <a:rPr lang="en-US" altLang="ko-KR" sz="700" dirty="0">
                <a:latin typeface="+mn-ea"/>
              </a:rPr>
              <a:t>(</a:t>
            </a:r>
            <a:r>
              <a:rPr lang="ko-KR" altLang="en-US" sz="700" dirty="0" err="1">
                <a:latin typeface="+mn-ea"/>
              </a:rPr>
              <a:t>납품수량</a:t>
            </a:r>
            <a:r>
              <a:rPr lang="ko-KR" altLang="en-US" sz="700" dirty="0">
                <a:latin typeface="+mn-ea"/>
              </a:rPr>
              <a:t> </a:t>
            </a:r>
            <a:r>
              <a:rPr lang="en-US" altLang="ko-KR" sz="700" dirty="0">
                <a:latin typeface="+mn-ea"/>
              </a:rPr>
              <a:t>/ </a:t>
            </a:r>
            <a:r>
              <a:rPr lang="ko-KR" altLang="en-US" sz="700" dirty="0" err="1">
                <a:latin typeface="+mn-ea"/>
              </a:rPr>
              <a:t>예정수량</a:t>
            </a:r>
            <a:r>
              <a:rPr lang="en-US" altLang="ko-KR" sz="700" dirty="0">
                <a:latin typeface="+mn-ea"/>
              </a:rPr>
              <a:t>)</a:t>
            </a:r>
          </a:p>
        </p:txBody>
      </p:sp>
      <p:sp>
        <p:nvSpPr>
          <p:cNvPr id="240" name="TextBox 239">
            <a:extLst>
              <a:ext uri="{FF2B5EF4-FFF2-40B4-BE49-F238E27FC236}">
                <a16:creationId xmlns:a16="http://schemas.microsoft.com/office/drawing/2014/main" id="{FFC49AEA-2A8F-250C-A86A-A7751D9706C3}"/>
              </a:ext>
            </a:extLst>
          </p:cNvPr>
          <p:cNvSpPr txBox="1"/>
          <p:nvPr/>
        </p:nvSpPr>
        <p:spPr>
          <a:xfrm>
            <a:off x="6036814" y="4124663"/>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2.5</a:t>
            </a:r>
          </a:p>
        </p:txBody>
      </p:sp>
      <p:sp>
        <p:nvSpPr>
          <p:cNvPr id="243" name="직사각형 242"/>
          <p:cNvSpPr/>
          <p:nvPr/>
        </p:nvSpPr>
        <p:spPr>
          <a:xfrm>
            <a:off x="3835134" y="2752726"/>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4" name="TextBox 243">
            <a:extLst>
              <a:ext uri="{FF2B5EF4-FFF2-40B4-BE49-F238E27FC236}">
                <a16:creationId xmlns:a16="http://schemas.microsoft.com/office/drawing/2014/main" id="{FFC49AEA-2A8F-250C-A86A-A7751D9706C3}"/>
              </a:ext>
            </a:extLst>
          </p:cNvPr>
          <p:cNvSpPr txBox="1"/>
          <p:nvPr/>
        </p:nvSpPr>
        <p:spPr>
          <a:xfrm>
            <a:off x="3922197" y="275272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5650239" y="275272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67" name="직선 연결선 266">
            <a:extLst>
              <a:ext uri="{FF2B5EF4-FFF2-40B4-BE49-F238E27FC236}">
                <a16:creationId xmlns:a16="http://schemas.microsoft.com/office/drawing/2014/main" id="{E9293055-D5CD-4B9E-7F64-64B2D2CA7A52}"/>
              </a:ext>
            </a:extLst>
          </p:cNvPr>
          <p:cNvCxnSpPr/>
          <p:nvPr/>
        </p:nvCxnSpPr>
        <p:spPr>
          <a:xfrm>
            <a:off x="3832437" y="275272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3834530" y="29674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5" name="직선 연결선 274">
            <a:extLst>
              <a:ext uri="{FF2B5EF4-FFF2-40B4-BE49-F238E27FC236}">
                <a16:creationId xmlns:a16="http://schemas.microsoft.com/office/drawing/2014/main" id="{E9293055-D5CD-4B9E-7F64-64B2D2CA7A52}"/>
              </a:ext>
            </a:extLst>
          </p:cNvPr>
          <p:cNvCxnSpPr/>
          <p:nvPr/>
        </p:nvCxnSpPr>
        <p:spPr>
          <a:xfrm>
            <a:off x="3834530" y="36397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6070609" y="275272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533884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8" name="TextBox 277">
            <a:extLst>
              <a:ext uri="{FF2B5EF4-FFF2-40B4-BE49-F238E27FC236}">
                <a16:creationId xmlns:a16="http://schemas.microsoft.com/office/drawing/2014/main" id="{FFC49AEA-2A8F-250C-A86A-A7751D9706C3}"/>
              </a:ext>
            </a:extLst>
          </p:cNvPr>
          <p:cNvSpPr txBox="1"/>
          <p:nvPr/>
        </p:nvSpPr>
        <p:spPr>
          <a:xfrm>
            <a:off x="3936047" y="3034314"/>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100% </a:t>
            </a:r>
            <a:r>
              <a:rPr lang="ko-KR" altLang="en-US" dirty="0"/>
              <a:t>이상</a:t>
            </a:r>
            <a:r>
              <a:rPr lang="en-US" altLang="ko-KR" dirty="0"/>
              <a:t/>
            </a:r>
            <a:br>
              <a:rPr lang="en-US" altLang="ko-KR" dirty="0"/>
            </a:br>
            <a:r>
              <a:rPr lang="en-US" altLang="ko-KR" dirty="0"/>
              <a:t>B. 50% </a:t>
            </a:r>
            <a:r>
              <a:rPr lang="ko-KR" altLang="en-US" dirty="0"/>
              <a:t>이상 </a:t>
            </a:r>
            <a:r>
              <a:rPr lang="en-US" altLang="ko-KR" dirty="0"/>
              <a:t>~ 100% </a:t>
            </a:r>
            <a:r>
              <a:rPr lang="ko-KR" altLang="en-US" dirty="0"/>
              <a:t>미만</a:t>
            </a:r>
            <a:r>
              <a:rPr lang="en-US" altLang="ko-KR" dirty="0"/>
              <a:t/>
            </a:r>
            <a:br>
              <a:rPr lang="en-US" altLang="ko-KR" dirty="0"/>
            </a:br>
            <a:r>
              <a:rPr lang="en-US" altLang="ko-KR" dirty="0"/>
              <a:t>C. 30% </a:t>
            </a:r>
            <a:r>
              <a:rPr lang="ko-KR" altLang="en-US" dirty="0"/>
              <a:t>이상 </a:t>
            </a:r>
            <a:r>
              <a:rPr lang="en-US" altLang="ko-KR" dirty="0"/>
              <a:t>~ 50% </a:t>
            </a:r>
            <a:r>
              <a:rPr lang="ko-KR" altLang="en-US" dirty="0"/>
              <a:t>미만</a:t>
            </a:r>
            <a:r>
              <a:rPr lang="en-US" altLang="ko-KR" dirty="0"/>
              <a:t/>
            </a:r>
            <a:br>
              <a:rPr lang="en-US" altLang="ko-KR" dirty="0"/>
            </a:br>
            <a:r>
              <a:rPr lang="en-US" altLang="ko-KR" dirty="0"/>
              <a:t>D. 5% </a:t>
            </a:r>
            <a:r>
              <a:rPr lang="ko-KR" altLang="en-US" dirty="0"/>
              <a:t>이상 </a:t>
            </a:r>
            <a:r>
              <a:rPr lang="en-US" altLang="ko-KR" dirty="0"/>
              <a:t>~ 30% </a:t>
            </a:r>
            <a:r>
              <a:rPr lang="ko-KR" altLang="en-US" dirty="0"/>
              <a:t>미만</a:t>
            </a:r>
            <a:r>
              <a:rPr lang="en-US" altLang="ko-KR" dirty="0"/>
              <a:t/>
            </a:r>
            <a:br>
              <a:rPr lang="en-US" altLang="ko-KR" dirty="0"/>
            </a:br>
            <a:r>
              <a:rPr lang="en-US" altLang="ko-KR" dirty="0"/>
              <a:t>E. 1% </a:t>
            </a:r>
            <a:r>
              <a:rPr lang="ko-KR" altLang="en-US" dirty="0"/>
              <a:t>이상 </a:t>
            </a:r>
            <a:r>
              <a:rPr lang="en-US" altLang="ko-KR" dirty="0"/>
              <a:t>~ 5% </a:t>
            </a:r>
            <a:r>
              <a:rPr lang="ko-KR" altLang="en-US" dirty="0"/>
              <a:t>미만</a:t>
            </a:r>
            <a:endParaRPr lang="en-US" altLang="ko-KR" dirty="0"/>
          </a:p>
        </p:txBody>
      </p:sp>
      <p:sp>
        <p:nvSpPr>
          <p:cNvPr id="279" name="TextBox 278">
            <a:extLst>
              <a:ext uri="{FF2B5EF4-FFF2-40B4-BE49-F238E27FC236}">
                <a16:creationId xmlns:a16="http://schemas.microsoft.com/office/drawing/2014/main" id="{FFC49AEA-2A8F-250C-A86A-A7751D9706C3}"/>
              </a:ext>
            </a:extLst>
          </p:cNvPr>
          <p:cNvSpPr txBox="1"/>
          <p:nvPr/>
        </p:nvSpPr>
        <p:spPr>
          <a:xfrm>
            <a:off x="5675309" y="3034314"/>
            <a:ext cx="168316"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10.0</a:t>
            </a:r>
            <a:br>
              <a:rPr lang="en-US" altLang="ko-KR" dirty="0"/>
            </a:br>
            <a:r>
              <a:rPr lang="en-US" altLang="ko-KR" dirty="0"/>
              <a:t>9.0</a:t>
            </a:r>
            <a:br>
              <a:rPr lang="en-US" altLang="ko-KR" dirty="0"/>
            </a:br>
            <a:r>
              <a:rPr lang="en-US" altLang="ko-KR" dirty="0"/>
              <a:t>8.0</a:t>
            </a:r>
            <a:br>
              <a:rPr lang="en-US" altLang="ko-KR" dirty="0"/>
            </a:br>
            <a:r>
              <a:rPr lang="en-US" altLang="ko-KR" dirty="0"/>
              <a:t>7.0</a:t>
            </a:r>
            <a:br>
              <a:rPr lang="en-US" altLang="ko-KR" dirty="0"/>
            </a:br>
            <a:r>
              <a:rPr lang="en-US" altLang="ko-KR" dirty="0"/>
              <a:t>6.0</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6406663" y="32663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4" name="직사각형 283"/>
          <p:cNvSpPr/>
          <p:nvPr/>
        </p:nvSpPr>
        <p:spPr>
          <a:xfrm>
            <a:off x="3835134" y="4382250"/>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5" name="TextBox 284">
            <a:extLst>
              <a:ext uri="{FF2B5EF4-FFF2-40B4-BE49-F238E27FC236}">
                <a16:creationId xmlns:a16="http://schemas.microsoft.com/office/drawing/2014/main" id="{FFC49AEA-2A8F-250C-A86A-A7751D9706C3}"/>
              </a:ext>
            </a:extLst>
          </p:cNvPr>
          <p:cNvSpPr txBox="1"/>
          <p:nvPr/>
        </p:nvSpPr>
        <p:spPr>
          <a:xfrm>
            <a:off x="3922197" y="438225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86" name="TextBox 285">
            <a:extLst>
              <a:ext uri="{FF2B5EF4-FFF2-40B4-BE49-F238E27FC236}">
                <a16:creationId xmlns:a16="http://schemas.microsoft.com/office/drawing/2014/main" id="{FFC49AEA-2A8F-250C-A86A-A7751D9706C3}"/>
              </a:ext>
            </a:extLst>
          </p:cNvPr>
          <p:cNvSpPr txBox="1"/>
          <p:nvPr/>
        </p:nvSpPr>
        <p:spPr>
          <a:xfrm>
            <a:off x="5650239" y="438225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87" name="직선 연결선 286">
            <a:extLst>
              <a:ext uri="{FF2B5EF4-FFF2-40B4-BE49-F238E27FC236}">
                <a16:creationId xmlns:a16="http://schemas.microsoft.com/office/drawing/2014/main" id="{E9293055-D5CD-4B9E-7F64-64B2D2CA7A52}"/>
              </a:ext>
            </a:extLst>
          </p:cNvPr>
          <p:cNvCxnSpPr/>
          <p:nvPr/>
        </p:nvCxnSpPr>
        <p:spPr>
          <a:xfrm>
            <a:off x="3832437" y="438224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3834530" y="45969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8" name="직선 연결선 297">
            <a:extLst>
              <a:ext uri="{FF2B5EF4-FFF2-40B4-BE49-F238E27FC236}">
                <a16:creationId xmlns:a16="http://schemas.microsoft.com/office/drawing/2014/main" id="{E9293055-D5CD-4B9E-7F64-64B2D2CA7A52}"/>
              </a:ext>
            </a:extLst>
          </p:cNvPr>
          <p:cNvCxnSpPr/>
          <p:nvPr/>
        </p:nvCxnSpPr>
        <p:spPr>
          <a:xfrm>
            <a:off x="3834530" y="52692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FFC49AEA-2A8F-250C-A86A-A7751D9706C3}"/>
              </a:ext>
            </a:extLst>
          </p:cNvPr>
          <p:cNvSpPr txBox="1"/>
          <p:nvPr/>
        </p:nvSpPr>
        <p:spPr>
          <a:xfrm>
            <a:off x="6070609" y="438225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5" name="TextBox 314">
            <a:extLst>
              <a:ext uri="{FF2B5EF4-FFF2-40B4-BE49-F238E27FC236}">
                <a16:creationId xmlns:a16="http://schemas.microsoft.com/office/drawing/2014/main" id="{FFC49AEA-2A8F-250C-A86A-A7751D9706C3}"/>
              </a:ext>
            </a:extLst>
          </p:cNvPr>
          <p:cNvSpPr txBox="1"/>
          <p:nvPr/>
        </p:nvSpPr>
        <p:spPr>
          <a:xfrm>
            <a:off x="3936047" y="4663838"/>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100% </a:t>
            </a:r>
            <a:r>
              <a:rPr lang="ko-KR" altLang="en-US" dirty="0"/>
              <a:t>이상</a:t>
            </a:r>
            <a:r>
              <a:rPr lang="en-US" altLang="ko-KR" dirty="0"/>
              <a:t/>
            </a:r>
            <a:br>
              <a:rPr lang="en-US" altLang="ko-KR" dirty="0"/>
            </a:br>
            <a:r>
              <a:rPr lang="en-US" altLang="ko-KR" dirty="0"/>
              <a:t>B. 50% </a:t>
            </a:r>
            <a:r>
              <a:rPr lang="ko-KR" altLang="en-US" dirty="0"/>
              <a:t>이상 </a:t>
            </a:r>
            <a:r>
              <a:rPr lang="en-US" altLang="ko-KR" dirty="0"/>
              <a:t>~ 100% </a:t>
            </a:r>
            <a:r>
              <a:rPr lang="ko-KR" altLang="en-US" dirty="0"/>
              <a:t>미만</a:t>
            </a:r>
            <a:r>
              <a:rPr lang="en-US" altLang="ko-KR" dirty="0"/>
              <a:t/>
            </a:r>
            <a:br>
              <a:rPr lang="en-US" altLang="ko-KR" dirty="0"/>
            </a:br>
            <a:r>
              <a:rPr lang="en-US" altLang="ko-KR" dirty="0"/>
              <a:t>C. 30% </a:t>
            </a:r>
            <a:r>
              <a:rPr lang="ko-KR" altLang="en-US" dirty="0"/>
              <a:t>이상 </a:t>
            </a:r>
            <a:r>
              <a:rPr lang="en-US" altLang="ko-KR" dirty="0"/>
              <a:t>~ 50% </a:t>
            </a:r>
            <a:r>
              <a:rPr lang="ko-KR" altLang="en-US" dirty="0"/>
              <a:t>미만</a:t>
            </a:r>
            <a:r>
              <a:rPr lang="en-US" altLang="ko-KR" dirty="0"/>
              <a:t/>
            </a:r>
            <a:br>
              <a:rPr lang="en-US" altLang="ko-KR" dirty="0"/>
            </a:br>
            <a:r>
              <a:rPr lang="en-US" altLang="ko-KR" dirty="0"/>
              <a:t>D. 5% </a:t>
            </a:r>
            <a:r>
              <a:rPr lang="ko-KR" altLang="en-US" dirty="0"/>
              <a:t>이상 </a:t>
            </a:r>
            <a:r>
              <a:rPr lang="en-US" altLang="ko-KR" dirty="0"/>
              <a:t>~ 30% </a:t>
            </a:r>
            <a:r>
              <a:rPr lang="ko-KR" altLang="en-US" dirty="0"/>
              <a:t>미만</a:t>
            </a:r>
            <a:r>
              <a:rPr lang="en-US" altLang="ko-KR" dirty="0"/>
              <a:t/>
            </a:r>
            <a:br>
              <a:rPr lang="en-US" altLang="ko-KR" dirty="0"/>
            </a:br>
            <a:r>
              <a:rPr lang="en-US" altLang="ko-KR" dirty="0"/>
              <a:t>E. 1% </a:t>
            </a:r>
            <a:r>
              <a:rPr lang="ko-KR" altLang="en-US" dirty="0"/>
              <a:t>이상 </a:t>
            </a:r>
            <a:r>
              <a:rPr lang="en-US" altLang="ko-KR" dirty="0"/>
              <a:t>~ 5% </a:t>
            </a:r>
            <a:r>
              <a:rPr lang="ko-KR" altLang="en-US" dirty="0"/>
              <a:t>미만</a:t>
            </a:r>
            <a:endParaRPr lang="en-US" altLang="ko-KR" dirty="0"/>
          </a:p>
        </p:txBody>
      </p:sp>
      <p:sp>
        <p:nvSpPr>
          <p:cNvPr id="316" name="TextBox 315">
            <a:extLst>
              <a:ext uri="{FF2B5EF4-FFF2-40B4-BE49-F238E27FC236}">
                <a16:creationId xmlns:a16="http://schemas.microsoft.com/office/drawing/2014/main" id="{FFC49AEA-2A8F-250C-A86A-A7751D9706C3}"/>
              </a:ext>
            </a:extLst>
          </p:cNvPr>
          <p:cNvSpPr txBox="1"/>
          <p:nvPr/>
        </p:nvSpPr>
        <p:spPr>
          <a:xfrm>
            <a:off x="5725003" y="4663838"/>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2.5</a:t>
            </a:r>
            <a:br>
              <a:rPr lang="en-US" altLang="ko-KR" dirty="0"/>
            </a:br>
            <a:r>
              <a:rPr lang="en-US" altLang="ko-KR" dirty="0"/>
              <a:t>2.0</a:t>
            </a:r>
            <a:br>
              <a:rPr lang="en-US" altLang="ko-KR" dirty="0"/>
            </a:br>
            <a:r>
              <a:rPr lang="en-US" altLang="ko-KR" dirty="0"/>
              <a:t>1.5</a:t>
            </a:r>
            <a:br>
              <a:rPr lang="en-US" altLang="ko-KR" dirty="0"/>
            </a:br>
            <a:r>
              <a:rPr lang="en-US" altLang="ko-KR" dirty="0"/>
              <a:t>1.0</a:t>
            </a:r>
            <a:br>
              <a:rPr lang="en-US" altLang="ko-KR" dirty="0"/>
            </a:br>
            <a:r>
              <a:rPr lang="en-US" altLang="ko-KR" dirty="0"/>
              <a:t>0.5</a:t>
            </a:r>
          </a:p>
        </p:txBody>
      </p:sp>
      <p:sp>
        <p:nvSpPr>
          <p:cNvPr id="317" name="TextBox 316">
            <a:extLst>
              <a:ext uri="{FF2B5EF4-FFF2-40B4-BE49-F238E27FC236}">
                <a16:creationId xmlns:a16="http://schemas.microsoft.com/office/drawing/2014/main" id="{FFC49AEA-2A8F-250C-A86A-A7751D9706C3}"/>
              </a:ext>
            </a:extLst>
          </p:cNvPr>
          <p:cNvSpPr txBox="1"/>
          <p:nvPr/>
        </p:nvSpPr>
        <p:spPr>
          <a:xfrm>
            <a:off x="6406663" y="489591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22" name="TextBox 321">
            <a:extLst>
              <a:ext uri="{FF2B5EF4-FFF2-40B4-BE49-F238E27FC236}">
                <a16:creationId xmlns:a16="http://schemas.microsoft.com/office/drawing/2014/main" id="{FFC49AEA-2A8F-250C-A86A-A7751D9706C3}"/>
              </a:ext>
            </a:extLst>
          </p:cNvPr>
          <p:cNvSpPr txBox="1"/>
          <p:nvPr/>
        </p:nvSpPr>
        <p:spPr>
          <a:xfrm>
            <a:off x="5475020" y="1864633"/>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10</a:t>
            </a:r>
            <a:r>
              <a:rPr lang="ko-KR" altLang="en-US" dirty="0"/>
              <a:t>점</a:t>
            </a:r>
          </a:p>
        </p:txBody>
      </p:sp>
      <p:grpSp>
        <p:nvGrpSpPr>
          <p:cNvPr id="3" name="그룹 2"/>
          <p:cNvGrpSpPr/>
          <p:nvPr/>
        </p:nvGrpSpPr>
        <p:grpSpPr>
          <a:xfrm>
            <a:off x="717037" y="1524682"/>
            <a:ext cx="2630093" cy="929730"/>
            <a:chOff x="3821510" y="5673476"/>
            <a:chExt cx="2630093" cy="929730"/>
          </a:xfrm>
        </p:grpSpPr>
        <p:sp>
          <p:nvSpPr>
            <p:cNvPr id="89" name="직사각형 88"/>
            <p:cNvSpPr/>
            <p:nvPr/>
          </p:nvSpPr>
          <p:spPr>
            <a:xfrm>
              <a:off x="3823602" y="5960590"/>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3910665" y="5960591"/>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91" name="TextBox 90">
              <a:extLst>
                <a:ext uri="{FF2B5EF4-FFF2-40B4-BE49-F238E27FC236}">
                  <a16:creationId xmlns:a16="http://schemas.microsoft.com/office/drawing/2014/main" id="{FFC49AEA-2A8F-250C-A86A-A7751D9706C3}"/>
                </a:ext>
              </a:extLst>
            </p:cNvPr>
            <p:cNvSpPr txBox="1"/>
            <p:nvPr/>
          </p:nvSpPr>
          <p:spPr>
            <a:xfrm>
              <a:off x="5638707" y="596059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92" name="직선 연결선 91">
              <a:extLst>
                <a:ext uri="{FF2B5EF4-FFF2-40B4-BE49-F238E27FC236}">
                  <a16:creationId xmlns:a16="http://schemas.microsoft.com/office/drawing/2014/main" id="{E9293055-D5CD-4B9E-7F64-64B2D2CA7A52}"/>
                </a:ext>
              </a:extLst>
            </p:cNvPr>
            <p:cNvCxnSpPr/>
            <p:nvPr/>
          </p:nvCxnSpPr>
          <p:spPr>
            <a:xfrm>
              <a:off x="3821510" y="596059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3823603" y="61753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3823603" y="6603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TextBox 94">
              <a:extLst>
                <a:ext uri="{FF2B5EF4-FFF2-40B4-BE49-F238E27FC236}">
                  <a16:creationId xmlns:a16="http://schemas.microsoft.com/office/drawing/2014/main" id="{FFC49AEA-2A8F-250C-A86A-A7751D9706C3}"/>
                </a:ext>
              </a:extLst>
            </p:cNvPr>
            <p:cNvSpPr txBox="1"/>
            <p:nvPr/>
          </p:nvSpPr>
          <p:spPr>
            <a:xfrm>
              <a:off x="3882481" y="567347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96" name="TextBox 95">
              <a:extLst>
                <a:ext uri="{FF2B5EF4-FFF2-40B4-BE49-F238E27FC236}">
                  <a16:creationId xmlns:a16="http://schemas.microsoft.com/office/drawing/2014/main" id="{FFC49AEA-2A8F-250C-A86A-A7751D9706C3}"/>
                </a:ext>
              </a:extLst>
            </p:cNvPr>
            <p:cNvSpPr txBox="1"/>
            <p:nvPr/>
          </p:nvSpPr>
          <p:spPr>
            <a:xfrm>
              <a:off x="6059077" y="596059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97" name="TextBox 96">
              <a:extLst>
                <a:ext uri="{FF2B5EF4-FFF2-40B4-BE49-F238E27FC236}">
                  <a16:creationId xmlns:a16="http://schemas.microsoft.com/office/drawing/2014/main" id="{FFC49AEA-2A8F-250C-A86A-A7751D9706C3}"/>
                </a:ext>
              </a:extLst>
            </p:cNvPr>
            <p:cNvSpPr txBox="1"/>
            <p:nvPr/>
          </p:nvSpPr>
          <p:spPr>
            <a:xfrm>
              <a:off x="3910665" y="6227686"/>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하자발생</a:t>
              </a:r>
              <a:br>
                <a:rPr lang="ko-KR" altLang="en-US" sz="700" dirty="0">
                  <a:latin typeface="+mn-ea"/>
                </a:rPr>
              </a:br>
              <a:r>
                <a:rPr lang="en-US" altLang="ko-KR" sz="700" dirty="0">
                  <a:latin typeface="+mn-ea"/>
                </a:rPr>
                <a:t>2.</a:t>
              </a:r>
              <a:r>
                <a:rPr lang="ko-KR" altLang="en-US" sz="700" dirty="0" err="1">
                  <a:latin typeface="+mn-ea"/>
                </a:rPr>
                <a:t>납품지연</a:t>
              </a:r>
              <a:r>
                <a:rPr lang="ko-KR" altLang="en-US" sz="700" dirty="0">
                  <a:latin typeface="+mn-ea"/>
                </a:rPr>
                <a:t/>
              </a:r>
              <a:br>
                <a:rPr lang="ko-KR" altLang="en-US" sz="700" dirty="0">
                  <a:latin typeface="+mn-ea"/>
                </a:rPr>
              </a:br>
              <a:r>
                <a:rPr lang="en-US" altLang="ko-KR" sz="700" dirty="0">
                  <a:latin typeface="+mn-ea"/>
                </a:rPr>
                <a:t>3.</a:t>
              </a:r>
              <a:r>
                <a:rPr lang="ko-KR" altLang="en-US" sz="700" dirty="0">
                  <a:latin typeface="+mn-ea"/>
                </a:rPr>
                <a:t>부정당업자 제재</a:t>
              </a:r>
            </a:p>
          </p:txBody>
        </p:sp>
        <p:sp>
          <p:nvSpPr>
            <p:cNvPr id="98" name="TextBox 97">
              <a:extLst>
                <a:ext uri="{FF2B5EF4-FFF2-40B4-BE49-F238E27FC236}">
                  <a16:creationId xmlns:a16="http://schemas.microsoft.com/office/drawing/2014/main" id="{FFC49AEA-2A8F-250C-A86A-A7751D9706C3}"/>
                </a:ext>
              </a:extLst>
            </p:cNvPr>
            <p:cNvSpPr txBox="1"/>
            <p:nvPr/>
          </p:nvSpPr>
          <p:spPr>
            <a:xfrm>
              <a:off x="5356257" y="6335407"/>
              <a:ext cx="461986" cy="107722"/>
            </a:xfrm>
            <a:prstGeom prst="rect">
              <a:avLst/>
            </a:prstGeom>
            <a:noFill/>
          </p:spPr>
          <p:txBody>
            <a:bodyPr wrap="none" lIns="0" tIns="0" rIns="0" bIns="0" rtlCol="0">
              <a:spAutoFit/>
            </a:bodyPr>
            <a:lstStyle/>
            <a:p>
              <a:pPr lvl="0" algn="r" defTabSz="1013612">
                <a:defRPr/>
              </a:pPr>
              <a:r>
                <a:rPr kumimoji="1" lang="en-US" altLang="ko-KR" sz="700" spc="-60" dirty="0">
                  <a:solidFill>
                    <a:srgbClr val="000000">
                      <a:lumMod val="65000"/>
                      <a:lumOff val="35000"/>
                    </a:srgbClr>
                  </a:solidFill>
                  <a:latin typeface="Verdana" panose="020B0604030504040204" pitchFamily="34" charset="0"/>
                </a:rPr>
                <a:t>+6.2 ~ -4.2</a:t>
              </a:r>
            </a:p>
          </p:txBody>
        </p:sp>
        <p:sp>
          <p:nvSpPr>
            <p:cNvPr id="99" name="TextBox 98">
              <a:extLst>
                <a:ext uri="{FF2B5EF4-FFF2-40B4-BE49-F238E27FC236}">
                  <a16:creationId xmlns:a16="http://schemas.microsoft.com/office/drawing/2014/main" id="{FFC49AEA-2A8F-250C-A86A-A7751D9706C3}"/>
                </a:ext>
              </a:extLst>
            </p:cNvPr>
            <p:cNvSpPr txBox="1"/>
            <p:nvPr/>
          </p:nvSpPr>
          <p:spPr>
            <a:xfrm>
              <a:off x="6381281" y="633540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02" name="타원 101">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15489643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212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2018</a:t>
            </a:r>
            <a:r>
              <a:rPr lang="ko-KR" altLang="en-US" dirty="0"/>
              <a:t>년 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790330" y="1491157"/>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a:t>
            </a:r>
            <a:r>
              <a:rPr lang="ko-KR" altLang="en-US" dirty="0"/>
              <a:t>기술능력</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790330" y="169139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5187" y="1764682"/>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기술 인력 보유</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790330" y="18751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1315187" y="1948462"/>
            <a:ext cx="2010812" cy="107722"/>
          </a:xfrm>
          <a:prstGeom prst="rect">
            <a:avLst/>
          </a:prstGeom>
          <a:noFill/>
        </p:spPr>
        <p:txBody>
          <a:bodyPr wrap="square" lIns="0" tIns="0" rIns="0" bIns="0" rtlCol="0">
            <a:spAutoFit/>
          </a:bodyPr>
          <a:lstStyle/>
          <a:p>
            <a:r>
              <a:rPr lang="ko-KR" altLang="en-US" sz="700" dirty="0">
                <a:latin typeface="+mn-ea"/>
              </a:rPr>
              <a:t>기술인력 보유 정도</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2916479" y="194846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6.0</a:t>
            </a:r>
          </a:p>
        </p:txBody>
      </p:sp>
      <p:grpSp>
        <p:nvGrpSpPr>
          <p:cNvPr id="5" name="그룹 4"/>
          <p:cNvGrpSpPr/>
          <p:nvPr/>
        </p:nvGrpSpPr>
        <p:grpSpPr>
          <a:xfrm>
            <a:off x="3795733" y="1523451"/>
            <a:ext cx="2712027" cy="989687"/>
            <a:chOff x="675399" y="5198000"/>
            <a:chExt cx="2712027" cy="989687"/>
          </a:xfrm>
        </p:grpSpPr>
        <p:cxnSp>
          <p:nvCxnSpPr>
            <p:cNvPr id="277" name="직선 연결선 276">
              <a:extLst>
                <a:ext uri="{FF2B5EF4-FFF2-40B4-BE49-F238E27FC236}">
                  <a16:creationId xmlns:a16="http://schemas.microsoft.com/office/drawing/2014/main" id="{E9293055-D5CD-4B9E-7F64-64B2D2CA7A52}"/>
                </a:ext>
              </a:extLst>
            </p:cNvPr>
            <p:cNvCxnSpPr/>
            <p:nvPr/>
          </p:nvCxnSpPr>
          <p:spPr>
            <a:xfrm>
              <a:off x="675399" y="618768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5" name="그룹 104"/>
            <p:cNvGrpSpPr/>
            <p:nvPr/>
          </p:nvGrpSpPr>
          <p:grpSpPr>
            <a:xfrm>
              <a:off x="701175" y="5479117"/>
              <a:ext cx="2630093" cy="646331"/>
              <a:chOff x="701175" y="1835481"/>
              <a:chExt cx="2630093" cy="646331"/>
            </a:xfrm>
          </p:grpSpPr>
          <p:sp>
            <p:nvSpPr>
              <p:cNvPr id="106" name="직사각형 105"/>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a:extLst>
                  <a:ext uri="{FF2B5EF4-FFF2-40B4-BE49-F238E27FC236}">
                    <a16:creationId xmlns:a16="http://schemas.microsoft.com/office/drawing/2014/main" id="{FFC49AEA-2A8F-250C-A86A-A7751D9706C3}"/>
                  </a:ext>
                </a:extLst>
              </p:cNvPr>
              <p:cNvSpPr txBox="1"/>
              <p:nvPr/>
            </p:nvSpPr>
            <p:spPr>
              <a:xfrm>
                <a:off x="790331" y="1835481"/>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109" name="그룹 108"/>
              <p:cNvGrpSpPr/>
              <p:nvPr/>
            </p:nvGrpSpPr>
            <p:grpSpPr>
              <a:xfrm>
                <a:off x="701175" y="1835481"/>
                <a:ext cx="2630093" cy="644220"/>
                <a:chOff x="701175" y="1835481"/>
                <a:chExt cx="2630093" cy="644220"/>
              </a:xfrm>
            </p:grpSpPr>
            <p:cxnSp>
              <p:nvCxnSpPr>
                <p:cNvPr id="110" name="직선 연결선 10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15" name="TextBox 114">
              <a:extLst>
                <a:ext uri="{FF2B5EF4-FFF2-40B4-BE49-F238E27FC236}">
                  <a16:creationId xmlns:a16="http://schemas.microsoft.com/office/drawing/2014/main" id="{FFC49AEA-2A8F-250C-A86A-A7751D9706C3}"/>
                </a:ext>
              </a:extLst>
            </p:cNvPr>
            <p:cNvSpPr txBox="1"/>
            <p:nvPr/>
          </p:nvSpPr>
          <p:spPr>
            <a:xfrm>
              <a:off x="790330" y="5198000"/>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 경영상태</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354685" y="5198000"/>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25</a:t>
              </a:r>
              <a:r>
                <a:rPr lang="ko-KR" altLang="en-US" dirty="0"/>
                <a:t>점</a:t>
              </a:r>
            </a:p>
          </p:txBody>
        </p:sp>
      </p:grpSp>
      <p:sp>
        <p:nvSpPr>
          <p:cNvPr id="117" name="TextBox 116">
            <a:extLst>
              <a:ext uri="{FF2B5EF4-FFF2-40B4-BE49-F238E27FC236}">
                <a16:creationId xmlns:a16="http://schemas.microsoft.com/office/drawing/2014/main" id="{FFC49AEA-2A8F-250C-A86A-A7751D9706C3}"/>
              </a:ext>
            </a:extLst>
          </p:cNvPr>
          <p:cNvSpPr txBox="1"/>
          <p:nvPr/>
        </p:nvSpPr>
        <p:spPr>
          <a:xfrm>
            <a:off x="2354685" y="1491157"/>
            <a:ext cx="971314"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10</a:t>
            </a:r>
            <a:r>
              <a:rPr lang="ko-KR" altLang="en-US" dirty="0"/>
              <a:t>점</a:t>
            </a:r>
          </a:p>
        </p:txBody>
      </p:sp>
      <p:sp>
        <p:nvSpPr>
          <p:cNvPr id="123" name="직사각형 122"/>
          <p:cNvSpPr/>
          <p:nvPr/>
        </p:nvSpPr>
        <p:spPr>
          <a:xfrm>
            <a:off x="714799" y="2109540"/>
            <a:ext cx="1639886" cy="20892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801862" y="210954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2529904" y="210954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26" name="직선 연결선 125">
            <a:extLst>
              <a:ext uri="{FF2B5EF4-FFF2-40B4-BE49-F238E27FC236}">
                <a16:creationId xmlns:a16="http://schemas.microsoft.com/office/drawing/2014/main" id="{E9293055-D5CD-4B9E-7F64-64B2D2CA7A52}"/>
              </a:ext>
            </a:extLst>
          </p:cNvPr>
          <p:cNvCxnSpPr/>
          <p:nvPr/>
        </p:nvCxnSpPr>
        <p:spPr>
          <a:xfrm>
            <a:off x="712102" y="21095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14195" y="2324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14195" y="41907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9" name="TextBox 128">
            <a:extLst>
              <a:ext uri="{FF2B5EF4-FFF2-40B4-BE49-F238E27FC236}">
                <a16:creationId xmlns:a16="http://schemas.microsoft.com/office/drawing/2014/main" id="{FFC49AEA-2A8F-250C-A86A-A7751D9706C3}"/>
              </a:ext>
            </a:extLst>
          </p:cNvPr>
          <p:cNvSpPr txBox="1"/>
          <p:nvPr/>
        </p:nvSpPr>
        <p:spPr>
          <a:xfrm>
            <a:off x="2950274" y="2109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815712" y="236067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기술사 또는 </a:t>
            </a:r>
            <a:r>
              <a:rPr lang="ko-KR" altLang="en-US" dirty="0" err="1"/>
              <a:t>기능장</a:t>
            </a:r>
            <a:r>
              <a:rPr lang="ko-KR" altLang="en-US" dirty="0"/>
              <a:t> 보유</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2604668" y="2541177"/>
            <a:ext cx="118622"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br>
              <a:rPr lang="en-US" altLang="ko-KR" dirty="0"/>
            </a:br>
            <a:r>
              <a:rPr lang="en-US" altLang="ko-KR" dirty="0"/>
              <a:t>2.0</a:t>
            </a:r>
            <a:br>
              <a:rPr lang="en-US" altLang="ko-KR" dirty="0"/>
            </a:br>
            <a:r>
              <a:rPr lang="en-US" altLang="ko-KR" dirty="0"/>
              <a:t>1.0</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3286328" y="320366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815712" y="2541177"/>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a:t>
            </a:r>
            <a:endParaRPr lang="en-US" altLang="ko-KR" dirty="0"/>
          </a:p>
          <a:p>
            <a:r>
              <a:rPr lang="en-US" altLang="ko-KR" dirty="0"/>
              <a:t>  3. 1</a:t>
            </a:r>
            <a:r>
              <a:rPr lang="ko-KR" altLang="en-US" dirty="0"/>
              <a:t>인</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815712" y="292494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기사 또는 산업기사 보유</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815712" y="3105447"/>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a:t>
            </a:r>
            <a:endParaRPr lang="en-US" altLang="ko-KR" dirty="0"/>
          </a:p>
          <a:p>
            <a:r>
              <a:rPr lang="en-US" altLang="ko-KR" dirty="0"/>
              <a:t>  3. 1</a:t>
            </a:r>
            <a:r>
              <a:rPr lang="ko-KR" altLang="en-US" dirty="0"/>
              <a:t>인</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815712" y="3489211"/>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기능사 보유</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815712" y="3669717"/>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1. 3</a:t>
            </a:r>
            <a:r>
              <a:rPr lang="ko-KR" altLang="en-US" dirty="0"/>
              <a:t>인 이상</a:t>
            </a:r>
            <a:br>
              <a:rPr lang="ko-KR" altLang="en-US" dirty="0"/>
            </a:br>
            <a:r>
              <a:rPr lang="ko-KR" altLang="en-US" dirty="0"/>
              <a:t>  </a:t>
            </a:r>
            <a:r>
              <a:rPr lang="en-US" altLang="ko-KR" dirty="0"/>
              <a:t>2. 3</a:t>
            </a:r>
            <a:r>
              <a:rPr lang="ko-KR" altLang="en-US" dirty="0"/>
              <a:t>인</a:t>
            </a:r>
            <a:endParaRPr lang="en-US" altLang="ko-KR" dirty="0"/>
          </a:p>
          <a:p>
            <a:r>
              <a:rPr lang="en-US" altLang="ko-KR" dirty="0"/>
              <a:t>  3. 1</a:t>
            </a:r>
            <a:r>
              <a:rPr lang="ko-KR" altLang="en-US" dirty="0"/>
              <a:t>인</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815712" y="4046657"/>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D. </a:t>
            </a:r>
            <a:r>
              <a:rPr lang="ko-KR" altLang="en-US" dirty="0" err="1"/>
              <a:t>미보유</a:t>
            </a:r>
            <a:endParaRPr lang="ko-KR" altLang="en-US" dirty="0"/>
          </a:p>
        </p:txBody>
      </p:sp>
      <p:cxnSp>
        <p:nvCxnSpPr>
          <p:cNvPr id="139" name="직선 연결선 138">
            <a:extLst>
              <a:ext uri="{FF2B5EF4-FFF2-40B4-BE49-F238E27FC236}">
                <a16:creationId xmlns:a16="http://schemas.microsoft.com/office/drawing/2014/main" id="{E9293055-D5CD-4B9E-7F64-64B2D2CA7A52}"/>
              </a:ext>
            </a:extLst>
          </p:cNvPr>
          <p:cNvCxnSpPr/>
          <p:nvPr/>
        </p:nvCxnSpPr>
        <p:spPr>
          <a:xfrm>
            <a:off x="719050" y="401026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19050" y="34528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19050" y="288854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19050" y="363332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19050" y="306905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719050" y="250478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5" name="TextBox 144">
            <a:extLst>
              <a:ext uri="{FF2B5EF4-FFF2-40B4-BE49-F238E27FC236}">
                <a16:creationId xmlns:a16="http://schemas.microsoft.com/office/drawing/2014/main" id="{FFC49AEA-2A8F-250C-A86A-A7751D9706C3}"/>
              </a:ext>
            </a:extLst>
          </p:cNvPr>
          <p:cNvSpPr txBox="1"/>
          <p:nvPr/>
        </p:nvSpPr>
        <p:spPr>
          <a:xfrm>
            <a:off x="2604668" y="3105447"/>
            <a:ext cx="118622"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br>
              <a:rPr lang="en-US" altLang="ko-KR" dirty="0"/>
            </a:br>
            <a:r>
              <a:rPr lang="en-US" altLang="ko-KR" dirty="0"/>
              <a:t>1.0</a:t>
            </a:r>
            <a:br>
              <a:rPr lang="en-US" altLang="ko-KR" dirty="0"/>
            </a:br>
            <a:r>
              <a:rPr lang="en-US" altLang="ko-KR" dirty="0"/>
              <a:t>0.5</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2554974" y="3669717"/>
            <a:ext cx="168316"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0.75</a:t>
            </a:r>
            <a:br>
              <a:rPr lang="en-US" altLang="ko-KR" dirty="0"/>
            </a:br>
            <a:r>
              <a:rPr lang="en-US" altLang="ko-KR" dirty="0"/>
              <a:t>0.5</a:t>
            </a:r>
            <a:br>
              <a:rPr lang="en-US" altLang="ko-KR" dirty="0"/>
            </a:br>
            <a:r>
              <a:rPr lang="en-US" altLang="ko-KR" dirty="0"/>
              <a:t>0.25</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2673597" y="4046657"/>
            <a:ext cx="4969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790330" y="425135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1315187" y="4324646"/>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생산기술축적정도</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790330" y="443513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51" name="TextBox 150">
            <a:extLst>
              <a:ext uri="{FF2B5EF4-FFF2-40B4-BE49-F238E27FC236}">
                <a16:creationId xmlns:a16="http://schemas.microsoft.com/office/drawing/2014/main" id="{FFC49AEA-2A8F-250C-A86A-A7751D9706C3}"/>
              </a:ext>
            </a:extLst>
          </p:cNvPr>
          <p:cNvSpPr txBox="1"/>
          <p:nvPr/>
        </p:nvSpPr>
        <p:spPr>
          <a:xfrm>
            <a:off x="1315187" y="4508426"/>
            <a:ext cx="2010812" cy="107722"/>
          </a:xfrm>
          <a:prstGeom prst="rect">
            <a:avLst/>
          </a:prstGeom>
          <a:noFill/>
        </p:spPr>
        <p:txBody>
          <a:bodyPr wrap="square" lIns="0" tIns="0" rIns="0" bIns="0" rtlCol="0">
            <a:spAutoFit/>
          </a:bodyPr>
          <a:lstStyle/>
          <a:p>
            <a:r>
              <a:rPr lang="ko-KR" altLang="en-US" sz="700" dirty="0">
                <a:latin typeface="+mn-ea"/>
              </a:rPr>
              <a:t>공장등록연수평가</a:t>
            </a:r>
          </a:p>
        </p:txBody>
      </p:sp>
      <p:sp>
        <p:nvSpPr>
          <p:cNvPr id="152" name="TextBox 151">
            <a:extLst>
              <a:ext uri="{FF2B5EF4-FFF2-40B4-BE49-F238E27FC236}">
                <a16:creationId xmlns:a16="http://schemas.microsoft.com/office/drawing/2014/main" id="{FFC49AEA-2A8F-250C-A86A-A7751D9706C3}"/>
              </a:ext>
            </a:extLst>
          </p:cNvPr>
          <p:cNvSpPr txBox="1"/>
          <p:nvPr/>
        </p:nvSpPr>
        <p:spPr>
          <a:xfrm>
            <a:off x="2916479" y="450842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4.0</a:t>
            </a:r>
          </a:p>
        </p:txBody>
      </p:sp>
      <p:sp>
        <p:nvSpPr>
          <p:cNvPr id="154" name="직사각형 153"/>
          <p:cNvSpPr/>
          <p:nvPr/>
        </p:nvSpPr>
        <p:spPr>
          <a:xfrm>
            <a:off x="714799" y="4669504"/>
            <a:ext cx="1639886" cy="7369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5" name="TextBox 154">
            <a:extLst>
              <a:ext uri="{FF2B5EF4-FFF2-40B4-BE49-F238E27FC236}">
                <a16:creationId xmlns:a16="http://schemas.microsoft.com/office/drawing/2014/main" id="{FFC49AEA-2A8F-250C-A86A-A7751D9706C3}"/>
              </a:ext>
            </a:extLst>
          </p:cNvPr>
          <p:cNvSpPr txBox="1"/>
          <p:nvPr/>
        </p:nvSpPr>
        <p:spPr>
          <a:xfrm>
            <a:off x="801862" y="4669505"/>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2529904" y="4669505"/>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1" name="직선 연결선 170">
            <a:extLst>
              <a:ext uri="{FF2B5EF4-FFF2-40B4-BE49-F238E27FC236}">
                <a16:creationId xmlns:a16="http://schemas.microsoft.com/office/drawing/2014/main" id="{E9293055-D5CD-4B9E-7F64-64B2D2CA7A52}"/>
              </a:ext>
            </a:extLst>
          </p:cNvPr>
          <p:cNvCxnSpPr/>
          <p:nvPr/>
        </p:nvCxnSpPr>
        <p:spPr>
          <a:xfrm>
            <a:off x="712102" y="466950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14195" y="48842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14195" y="54064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TextBox 174">
            <a:extLst>
              <a:ext uri="{FF2B5EF4-FFF2-40B4-BE49-F238E27FC236}">
                <a16:creationId xmlns:a16="http://schemas.microsoft.com/office/drawing/2014/main" id="{FFC49AEA-2A8F-250C-A86A-A7751D9706C3}"/>
              </a:ext>
            </a:extLst>
          </p:cNvPr>
          <p:cNvSpPr txBox="1"/>
          <p:nvPr/>
        </p:nvSpPr>
        <p:spPr>
          <a:xfrm>
            <a:off x="2950274" y="466950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77" name="TextBox 176">
            <a:extLst>
              <a:ext uri="{FF2B5EF4-FFF2-40B4-BE49-F238E27FC236}">
                <a16:creationId xmlns:a16="http://schemas.microsoft.com/office/drawing/2014/main" id="{FFC49AEA-2A8F-250C-A86A-A7751D9706C3}"/>
              </a:ext>
            </a:extLst>
          </p:cNvPr>
          <p:cNvSpPr txBox="1"/>
          <p:nvPr/>
        </p:nvSpPr>
        <p:spPr>
          <a:xfrm>
            <a:off x="815712" y="4920635"/>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A.5</a:t>
            </a:r>
            <a:r>
              <a:rPr lang="ko-KR" altLang="en-US" dirty="0"/>
              <a:t>년 이상</a:t>
            </a:r>
            <a:br>
              <a:rPr lang="ko-KR" altLang="en-US" dirty="0"/>
            </a:br>
            <a:r>
              <a:rPr lang="en-US" altLang="ko-KR" dirty="0"/>
              <a:t>B.3</a:t>
            </a:r>
            <a:r>
              <a:rPr lang="ko-KR" altLang="en-US" dirty="0" err="1"/>
              <a:t>년이상</a:t>
            </a:r>
            <a:r>
              <a:rPr lang="ko-KR" altLang="en-US" dirty="0"/>
              <a:t> </a:t>
            </a:r>
            <a:r>
              <a:rPr lang="en-US" altLang="ko-KR" dirty="0"/>
              <a:t>5</a:t>
            </a:r>
            <a:r>
              <a:rPr lang="ko-KR" altLang="en-US" dirty="0" err="1"/>
              <a:t>년미만</a:t>
            </a:r>
            <a:r>
              <a:rPr lang="ko-KR" altLang="en-US" dirty="0"/>
              <a:t/>
            </a:r>
            <a:br>
              <a:rPr lang="ko-KR" altLang="en-US" dirty="0"/>
            </a:br>
            <a:r>
              <a:rPr lang="en-US" altLang="ko-KR" dirty="0"/>
              <a:t>C.1</a:t>
            </a:r>
            <a:r>
              <a:rPr lang="ko-KR" altLang="en-US" dirty="0" err="1"/>
              <a:t>년이상</a:t>
            </a:r>
            <a:r>
              <a:rPr lang="ko-KR" altLang="en-US" dirty="0"/>
              <a:t> </a:t>
            </a:r>
            <a:r>
              <a:rPr lang="en-US" altLang="ko-KR" dirty="0"/>
              <a:t>3</a:t>
            </a:r>
            <a:r>
              <a:rPr lang="ko-KR" altLang="en-US" dirty="0" err="1"/>
              <a:t>년미만</a:t>
            </a:r>
            <a:r>
              <a:rPr lang="ko-KR" altLang="en-US" dirty="0"/>
              <a:t/>
            </a:r>
            <a:br>
              <a:rPr lang="ko-KR" altLang="en-US" dirty="0"/>
            </a:br>
            <a:r>
              <a:rPr lang="en-US" altLang="ko-KR" dirty="0"/>
              <a:t>D.1</a:t>
            </a:r>
            <a:r>
              <a:rPr lang="ko-KR" altLang="en-US" dirty="0" err="1"/>
              <a:t>년미만</a:t>
            </a:r>
            <a:endParaRPr lang="ko-KR" altLang="en-US" dirty="0"/>
          </a:p>
        </p:txBody>
      </p:sp>
      <p:sp>
        <p:nvSpPr>
          <p:cNvPr id="179" name="TextBox 178">
            <a:extLst>
              <a:ext uri="{FF2B5EF4-FFF2-40B4-BE49-F238E27FC236}">
                <a16:creationId xmlns:a16="http://schemas.microsoft.com/office/drawing/2014/main" id="{FFC49AEA-2A8F-250C-A86A-A7751D9706C3}"/>
              </a:ext>
            </a:extLst>
          </p:cNvPr>
          <p:cNvSpPr txBox="1"/>
          <p:nvPr/>
        </p:nvSpPr>
        <p:spPr>
          <a:xfrm>
            <a:off x="3286328" y="508221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5" name="TextBox 214">
            <a:extLst>
              <a:ext uri="{FF2B5EF4-FFF2-40B4-BE49-F238E27FC236}">
                <a16:creationId xmlns:a16="http://schemas.microsoft.com/office/drawing/2014/main" id="{FFC49AEA-2A8F-250C-A86A-A7751D9706C3}"/>
              </a:ext>
            </a:extLst>
          </p:cNvPr>
          <p:cNvSpPr txBox="1"/>
          <p:nvPr/>
        </p:nvSpPr>
        <p:spPr>
          <a:xfrm>
            <a:off x="2604668" y="4920635"/>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4.0</a:t>
            </a:r>
            <a:br>
              <a:rPr lang="en-US" altLang="ko-KR" dirty="0"/>
            </a:br>
            <a:r>
              <a:rPr lang="en-US" altLang="ko-KR" dirty="0"/>
              <a:t>3.5</a:t>
            </a:r>
            <a:br>
              <a:rPr lang="en-US" altLang="ko-KR" dirty="0"/>
            </a:br>
            <a:r>
              <a:rPr lang="en-US" altLang="ko-KR" dirty="0"/>
              <a:t>3.0</a:t>
            </a:r>
            <a:br>
              <a:rPr lang="en-US" altLang="ko-KR" dirty="0"/>
            </a:br>
            <a:r>
              <a:rPr lang="en-US" altLang="ko-KR" dirty="0"/>
              <a:t>2.5</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3882481" y="2550007"/>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나</a:t>
            </a:r>
            <a:r>
              <a:rPr lang="en-US" altLang="ko-KR" sz="700" dirty="0">
                <a:latin typeface="+mn-ea"/>
              </a:rPr>
              <a:t>) </a:t>
            </a:r>
            <a:r>
              <a:rPr lang="ko-KR" altLang="en-US" sz="700" dirty="0">
                <a:latin typeface="+mn-ea"/>
              </a:rPr>
              <a:t>입찰가격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50</a:t>
            </a:r>
            <a:r>
              <a:rPr lang="ko-KR" altLang="en-US" sz="700" dirty="0">
                <a:latin typeface="+mn-ea"/>
              </a:rPr>
              <a:t>점</a:t>
            </a:r>
          </a:p>
        </p:txBody>
      </p:sp>
      <p:grpSp>
        <p:nvGrpSpPr>
          <p:cNvPr id="223" name="그룹 222"/>
          <p:cNvGrpSpPr/>
          <p:nvPr/>
        </p:nvGrpSpPr>
        <p:grpSpPr>
          <a:xfrm flipV="1">
            <a:off x="6244568" y="2663338"/>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29" name="직선 연결선 228">
            <a:extLst>
              <a:ext uri="{FF2B5EF4-FFF2-40B4-BE49-F238E27FC236}">
                <a16:creationId xmlns:a16="http://schemas.microsoft.com/office/drawing/2014/main" id="{E9293055-D5CD-4B9E-7F64-64B2D2CA7A52}"/>
              </a:ext>
            </a:extLst>
          </p:cNvPr>
          <p:cNvCxnSpPr/>
          <p:nvPr/>
        </p:nvCxnSpPr>
        <p:spPr>
          <a:xfrm>
            <a:off x="3795734" y="283681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3795734" y="45333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34" name="그룹 233"/>
          <p:cNvGrpSpPr/>
          <p:nvPr/>
        </p:nvGrpSpPr>
        <p:grpSpPr>
          <a:xfrm>
            <a:off x="3836701" y="2900932"/>
            <a:ext cx="2630093" cy="1094598"/>
            <a:chOff x="701175" y="1835480"/>
            <a:chExt cx="2630093" cy="1094598"/>
          </a:xfrm>
        </p:grpSpPr>
        <p:sp>
          <p:nvSpPr>
            <p:cNvPr id="236" name="직사각형 235"/>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7" name="TextBox 236">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238" name="TextBox 237">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50 - | (88/100 – </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 100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239" name="그룹 238"/>
            <p:cNvGrpSpPr/>
            <p:nvPr/>
          </p:nvGrpSpPr>
          <p:grpSpPr>
            <a:xfrm>
              <a:off x="701175" y="1835481"/>
              <a:ext cx="2630093" cy="1094597"/>
              <a:chOff x="701175" y="1835481"/>
              <a:chExt cx="2630093" cy="1094597"/>
            </a:xfrm>
          </p:grpSpPr>
          <p:cxnSp>
            <p:nvCxnSpPr>
              <p:cNvPr id="240" name="직선 연결선 23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1" name="직선 연결선 24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2" name="직선 연결선 24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6" name="직선 연결선 24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7" name="직선 연결선 246">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8" name="직선 연결선 247">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35" name="TextBox 234">
            <a:extLst>
              <a:ext uri="{FF2B5EF4-FFF2-40B4-BE49-F238E27FC236}">
                <a16:creationId xmlns:a16="http://schemas.microsoft.com/office/drawing/2014/main" id="{FFC49AEA-2A8F-250C-A86A-A7751D9706C3}"/>
              </a:ext>
            </a:extLst>
          </p:cNvPr>
          <p:cNvSpPr txBox="1"/>
          <p:nvPr/>
        </p:nvSpPr>
        <p:spPr>
          <a:xfrm>
            <a:off x="3923699" y="4112238"/>
            <a:ext cx="2456097" cy="323165"/>
          </a:xfrm>
          <a:prstGeom prst="rect">
            <a:avLst/>
          </a:prstGeom>
          <a:noFill/>
        </p:spPr>
        <p:txBody>
          <a:bodyPr wrap="square" lIns="0" tIns="0" rIns="0" bIns="0" rtlCol="0">
            <a:spAutoFit/>
          </a:bodyPr>
          <a:lstStyle/>
          <a:p>
            <a:pPr lvl="0" algn="ctr" defTabSz="1013612">
              <a:defRPr/>
            </a:pPr>
            <a:r>
              <a:rPr kumimoji="1" lang="ko-KR" altLang="en-US" sz="700" spc="-60" dirty="0">
                <a:solidFill>
                  <a:srgbClr val="000000">
                    <a:lumMod val="65000"/>
                    <a:lumOff val="35000"/>
                  </a:srgbClr>
                </a:solidFill>
                <a:latin typeface="Verdana" panose="020B0604030504040204" pitchFamily="34" charset="0"/>
              </a:rPr>
              <a:t>입찰가격이 예정가격 이하로서</a:t>
            </a:r>
            <a:endParaRPr kumimoji="1" lang="en-US" altLang="ko-KR" sz="700" spc="-60" dirty="0">
              <a:solidFill>
                <a:srgbClr val="000000">
                  <a:lumMod val="65000"/>
                  <a:lumOff val="35000"/>
                </a:srgbClr>
              </a:solidFill>
              <a:latin typeface="Verdana" panose="020B0604030504040204" pitchFamily="34" charset="0"/>
            </a:endParaRPr>
          </a:p>
          <a:p>
            <a:pPr lvl="0" algn="ctr" defTabSz="1013612">
              <a:defRPr/>
            </a:pPr>
            <a:r>
              <a:rPr kumimoji="1" lang="ko-KR" altLang="en-US" sz="700" spc="-60" dirty="0">
                <a:solidFill>
                  <a:srgbClr val="000000">
                    <a:lumMod val="65000"/>
                    <a:lumOff val="35000"/>
                  </a:srgbClr>
                </a:solidFill>
                <a:latin typeface="Verdana" panose="020B0604030504040204" pitchFamily="34" charset="0"/>
              </a:rPr>
              <a:t>예정가격의 </a:t>
            </a:r>
            <a:r>
              <a:rPr kumimoji="1" lang="en-US" altLang="ko-KR" sz="700" spc="-60" dirty="0">
                <a:solidFill>
                  <a:srgbClr val="000000">
                    <a:lumMod val="65000"/>
                    <a:lumOff val="35000"/>
                  </a:srgbClr>
                </a:solidFill>
                <a:latin typeface="Verdana" panose="020B0604030504040204" pitchFamily="34" charset="0"/>
              </a:rPr>
              <a:t>100</a:t>
            </a:r>
            <a:r>
              <a:rPr kumimoji="1" lang="ko-KR" altLang="en-US" sz="700" spc="-60" dirty="0">
                <a:solidFill>
                  <a:srgbClr val="000000">
                    <a:lumMod val="65000"/>
                    <a:lumOff val="35000"/>
                  </a:srgbClr>
                </a:solidFill>
                <a:latin typeface="Verdana" panose="020B0604030504040204" pitchFamily="34" charset="0"/>
              </a:rPr>
              <a:t>분의 </a:t>
            </a:r>
            <a:r>
              <a:rPr kumimoji="1" lang="en-US" altLang="ko-KR" sz="700" spc="-60" dirty="0">
                <a:solidFill>
                  <a:srgbClr val="000000">
                    <a:lumMod val="65000"/>
                    <a:lumOff val="35000"/>
                  </a:srgbClr>
                </a:solidFill>
                <a:latin typeface="Verdana" panose="020B0604030504040204" pitchFamily="34" charset="0"/>
              </a:rPr>
              <a:t>93</a:t>
            </a:r>
            <a:r>
              <a:rPr kumimoji="1" lang="ko-KR" altLang="en-US" sz="700" spc="-60" dirty="0">
                <a:solidFill>
                  <a:srgbClr val="000000">
                    <a:lumMod val="65000"/>
                    <a:lumOff val="35000"/>
                  </a:srgbClr>
                </a:solidFill>
                <a:latin typeface="Verdana" panose="020B0604030504040204" pitchFamily="34" charset="0"/>
              </a:rPr>
              <a:t>인 경우 평점은 </a:t>
            </a:r>
            <a:r>
              <a:rPr kumimoji="1" lang="en-US" altLang="ko-KR" sz="700" spc="-60" dirty="0">
                <a:solidFill>
                  <a:srgbClr val="000000">
                    <a:lumMod val="65000"/>
                    <a:lumOff val="35000"/>
                  </a:srgbClr>
                </a:solidFill>
                <a:latin typeface="Verdana" panose="020B0604030504040204" pitchFamily="34" charset="0"/>
              </a:rPr>
              <a:t>45</a:t>
            </a:r>
            <a:r>
              <a:rPr kumimoji="1" lang="ko-KR" altLang="en-US" sz="700" spc="-60" dirty="0">
                <a:solidFill>
                  <a:srgbClr val="000000">
                    <a:lumMod val="65000"/>
                    <a:lumOff val="35000"/>
                  </a:srgbClr>
                </a:solidFill>
                <a:latin typeface="Verdana" panose="020B0604030504040204" pitchFamily="34" charset="0"/>
              </a:rPr>
              <a:t>점</a:t>
            </a:r>
            <a:r>
              <a:rPr kumimoji="1" lang="en-US" altLang="ko-KR" sz="700" spc="-60" dirty="0">
                <a:solidFill>
                  <a:srgbClr val="000000">
                    <a:lumMod val="65000"/>
                    <a:lumOff val="35000"/>
                  </a:srgbClr>
                </a:solidFill>
                <a:latin typeface="Verdana" panose="020B0604030504040204" pitchFamily="34" charset="0"/>
              </a:rPr>
              <a:t/>
            </a:r>
            <a:br>
              <a:rPr kumimoji="1" lang="en-US" altLang="ko-KR" sz="700" spc="-60" dirty="0">
                <a:solidFill>
                  <a:srgbClr val="000000">
                    <a:lumMod val="65000"/>
                    <a:lumOff val="35000"/>
                  </a:srgbClr>
                </a:solidFill>
                <a:latin typeface="Verdana" panose="020B0604030504040204" pitchFamily="34" charset="0"/>
              </a:rPr>
            </a:br>
            <a:r>
              <a:rPr kumimoji="1" lang="ko-KR" altLang="en-US" sz="700" spc="-60" dirty="0" err="1">
                <a:solidFill>
                  <a:srgbClr val="000000">
                    <a:lumMod val="65000"/>
                    <a:lumOff val="35000"/>
                  </a:srgbClr>
                </a:solidFill>
                <a:latin typeface="Verdana" panose="020B0604030504040204" pitchFamily="34" charset="0"/>
              </a:rPr>
              <a:t>최저평점</a:t>
            </a:r>
            <a:r>
              <a:rPr kumimoji="1" lang="ko-KR" altLang="en-US" sz="700" spc="-60" dirty="0">
                <a:solidFill>
                  <a:srgbClr val="000000">
                    <a:lumMod val="65000"/>
                    <a:lumOff val="35000"/>
                  </a:srgbClr>
                </a:solidFill>
                <a:latin typeface="Verdana" panose="020B0604030504040204" pitchFamily="34" charset="0"/>
              </a:rPr>
              <a:t> </a:t>
            </a:r>
            <a:r>
              <a:rPr kumimoji="1" lang="en-US" altLang="ko-KR" sz="700" spc="-60" dirty="0">
                <a:solidFill>
                  <a:srgbClr val="000000">
                    <a:lumMod val="65000"/>
                    <a:lumOff val="35000"/>
                  </a:srgbClr>
                </a:solidFill>
                <a:latin typeface="Verdana" panose="020B0604030504040204" pitchFamily="34" charset="0"/>
              </a:rPr>
              <a:t>: 2</a:t>
            </a:r>
            <a:r>
              <a:rPr kumimoji="1" lang="ko-KR" altLang="en-US" sz="700" spc="-60" dirty="0">
                <a:solidFill>
                  <a:srgbClr val="000000">
                    <a:lumMod val="65000"/>
                    <a:lumOff val="35000"/>
                  </a:srgbClr>
                </a:solidFill>
                <a:latin typeface="Verdana" panose="020B0604030504040204" pitchFamily="34" charset="0"/>
              </a:rPr>
              <a:t>점</a:t>
            </a:r>
          </a:p>
        </p:txBody>
      </p:sp>
      <p:sp>
        <p:nvSpPr>
          <p:cNvPr id="100" name="타원 99">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600035738"/>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213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2018</a:t>
            </a:r>
            <a:r>
              <a:rPr lang="ko-KR" altLang="en-US" dirty="0"/>
              <a:t>년 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0" name="TextBox 99">
            <a:extLst>
              <a:ext uri="{FF2B5EF4-FFF2-40B4-BE49-F238E27FC236}">
                <a16:creationId xmlns:a16="http://schemas.microsoft.com/office/drawing/2014/main" id="{FFC49AEA-2A8F-250C-A86A-A7751D9706C3}"/>
              </a:ext>
            </a:extLst>
          </p:cNvPr>
          <p:cNvSpPr txBox="1"/>
          <p:nvPr/>
        </p:nvSpPr>
        <p:spPr>
          <a:xfrm>
            <a:off x="762146" y="1530876"/>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다</a:t>
            </a:r>
            <a:r>
              <a:rPr lang="en-US" altLang="ko-KR" sz="700" dirty="0">
                <a:latin typeface="+mn-ea"/>
              </a:rPr>
              <a:t>) </a:t>
            </a:r>
            <a:r>
              <a:rPr lang="ko-KR" altLang="en-US" sz="700" dirty="0">
                <a:latin typeface="+mn-ea"/>
              </a:rPr>
              <a:t>신인도 </a:t>
            </a:r>
            <a:r>
              <a:rPr lang="ko-KR" altLang="en-US" sz="700" dirty="0" err="1">
                <a:latin typeface="+mn-ea"/>
              </a:rPr>
              <a:t>산출내역</a:t>
            </a:r>
            <a:r>
              <a:rPr lang="ko-KR" altLang="en-US" sz="700" dirty="0">
                <a:latin typeface="+mn-ea"/>
              </a:rPr>
              <a:t>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-5</a:t>
            </a:r>
            <a:r>
              <a:rPr lang="ko-KR" altLang="en-US" sz="700" dirty="0">
                <a:latin typeface="+mn-ea"/>
              </a:rPr>
              <a:t>점</a:t>
            </a:r>
          </a:p>
        </p:txBody>
      </p:sp>
      <p:grpSp>
        <p:nvGrpSpPr>
          <p:cNvPr id="101" name="그룹 100"/>
          <p:cNvGrpSpPr/>
          <p:nvPr/>
        </p:nvGrpSpPr>
        <p:grpSpPr>
          <a:xfrm flipV="1">
            <a:off x="3124233" y="1644207"/>
            <a:ext cx="94010" cy="47005"/>
            <a:chOff x="6812560" y="3297172"/>
            <a:chExt cx="94010" cy="47005"/>
          </a:xfrm>
        </p:grpSpPr>
        <p:cxnSp>
          <p:nvCxnSpPr>
            <p:cNvPr id="102" name="직선 연결선 10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3" name="직선 연결선 10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4" name="직선 연결선 103">
            <a:extLst>
              <a:ext uri="{FF2B5EF4-FFF2-40B4-BE49-F238E27FC236}">
                <a16:creationId xmlns:a16="http://schemas.microsoft.com/office/drawing/2014/main" id="{E9293055-D5CD-4B9E-7F64-64B2D2CA7A52}"/>
              </a:ext>
            </a:extLst>
          </p:cNvPr>
          <p:cNvCxnSpPr/>
          <p:nvPr/>
        </p:nvCxnSpPr>
        <p:spPr>
          <a:xfrm>
            <a:off x="675399" y="181768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788988" y="1826459"/>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a:t>
            </a:r>
            <a:r>
              <a:rPr lang="ko-KR" altLang="en-US" dirty="0"/>
              <a:t> 물품 </a:t>
            </a:r>
            <a:r>
              <a:rPr lang="ko-KR" altLang="en-US" dirty="0" err="1"/>
              <a:t>품질정도</a:t>
            </a:r>
            <a:endParaRPr lang="ko-KR" altLang="en-US" dirty="0"/>
          </a:p>
        </p:txBody>
      </p:sp>
      <p:sp>
        <p:nvSpPr>
          <p:cNvPr id="118" name="TextBox 117">
            <a:extLst>
              <a:ext uri="{FF2B5EF4-FFF2-40B4-BE49-F238E27FC236}">
                <a16:creationId xmlns:a16="http://schemas.microsoft.com/office/drawing/2014/main" id="{FFC49AEA-2A8F-250C-A86A-A7751D9706C3}"/>
              </a:ext>
            </a:extLst>
          </p:cNvPr>
          <p:cNvSpPr txBox="1"/>
          <p:nvPr/>
        </p:nvSpPr>
        <p:spPr>
          <a:xfrm>
            <a:off x="788988" y="202669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19" name="TextBox 118">
            <a:extLst>
              <a:ext uri="{FF2B5EF4-FFF2-40B4-BE49-F238E27FC236}">
                <a16:creationId xmlns:a16="http://schemas.microsoft.com/office/drawing/2014/main" id="{FFC49AEA-2A8F-250C-A86A-A7751D9706C3}"/>
              </a:ext>
            </a:extLst>
          </p:cNvPr>
          <p:cNvSpPr txBox="1"/>
          <p:nvPr/>
        </p:nvSpPr>
        <p:spPr>
          <a:xfrm>
            <a:off x="1313845" y="2099984"/>
            <a:ext cx="2010812" cy="107722"/>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품질관리</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988" y="221047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1313845" y="2283764"/>
            <a:ext cx="2010812" cy="107722"/>
          </a:xfrm>
          <a:prstGeom prst="rect">
            <a:avLst/>
          </a:prstGeom>
          <a:noFill/>
        </p:spPr>
        <p:txBody>
          <a:bodyPr wrap="square" lIns="0" tIns="0" rIns="0" bIns="0" rtlCol="0">
            <a:spAutoFit/>
          </a:bodyPr>
          <a:lstStyle/>
          <a:p>
            <a:r>
              <a:rPr lang="ko-KR" altLang="en-US" sz="700" dirty="0">
                <a:latin typeface="+mn-ea"/>
              </a:rPr>
              <a:t>품질보증</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2915137" y="2283764"/>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53" name="직사각형 152"/>
          <p:cNvSpPr/>
          <p:nvPr/>
        </p:nvSpPr>
        <p:spPr>
          <a:xfrm>
            <a:off x="713457" y="2444841"/>
            <a:ext cx="1639886" cy="162232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FFC49AEA-2A8F-250C-A86A-A7751D9706C3}"/>
              </a:ext>
            </a:extLst>
          </p:cNvPr>
          <p:cNvSpPr txBox="1"/>
          <p:nvPr/>
        </p:nvSpPr>
        <p:spPr>
          <a:xfrm>
            <a:off x="800520" y="244484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2528562" y="244484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710760" y="24448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9" name="직선 연결선 158">
            <a:extLst>
              <a:ext uri="{FF2B5EF4-FFF2-40B4-BE49-F238E27FC236}">
                <a16:creationId xmlns:a16="http://schemas.microsoft.com/office/drawing/2014/main" id="{E9293055-D5CD-4B9E-7F64-64B2D2CA7A52}"/>
              </a:ext>
            </a:extLst>
          </p:cNvPr>
          <p:cNvCxnSpPr/>
          <p:nvPr/>
        </p:nvCxnSpPr>
        <p:spPr>
          <a:xfrm>
            <a:off x="712853" y="2659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0" name="TextBox 159">
            <a:extLst>
              <a:ext uri="{FF2B5EF4-FFF2-40B4-BE49-F238E27FC236}">
                <a16:creationId xmlns:a16="http://schemas.microsoft.com/office/drawing/2014/main" id="{FFC49AEA-2A8F-250C-A86A-A7751D9706C3}"/>
              </a:ext>
            </a:extLst>
          </p:cNvPr>
          <p:cNvSpPr txBox="1"/>
          <p:nvPr/>
        </p:nvSpPr>
        <p:spPr>
          <a:xfrm>
            <a:off x="2948932" y="244484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61" name="TextBox 160">
            <a:extLst>
              <a:ext uri="{FF2B5EF4-FFF2-40B4-BE49-F238E27FC236}">
                <a16:creationId xmlns:a16="http://schemas.microsoft.com/office/drawing/2014/main" id="{FFC49AEA-2A8F-250C-A86A-A7751D9706C3}"/>
              </a:ext>
            </a:extLst>
          </p:cNvPr>
          <p:cNvSpPr txBox="1"/>
          <p:nvPr/>
        </p:nvSpPr>
        <p:spPr>
          <a:xfrm>
            <a:off x="814370" y="2715137"/>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KS, CE, UL </a:t>
            </a:r>
            <a:r>
              <a:rPr lang="ko-KR" altLang="en-US" dirty="0"/>
              <a:t>및 </a:t>
            </a:r>
            <a:r>
              <a:rPr lang="en-US" altLang="ko-KR" dirty="0"/>
              <a:t>KS</a:t>
            </a:r>
            <a:r>
              <a:rPr lang="ko-KR" altLang="en-US" dirty="0"/>
              <a:t>에 상응하는 해당국의 국가산업표준규격인증</a:t>
            </a:r>
            <a:r>
              <a:rPr lang="en-US" altLang="ko-KR" dirty="0"/>
              <a:t>, </a:t>
            </a:r>
            <a:r>
              <a:rPr lang="ko-KR" altLang="en-US" dirty="0"/>
              <a:t>국방품질경영시스템  인증 및 </a:t>
            </a:r>
            <a:r>
              <a:rPr lang="ko-KR" altLang="en-US" dirty="0" err="1"/>
              <a:t>당해품목</a:t>
            </a:r>
            <a:r>
              <a:rPr lang="ko-KR" altLang="en-US" dirty="0"/>
              <a:t> </a:t>
            </a:r>
            <a:r>
              <a:rPr lang="en-US" altLang="ko-KR" dirty="0"/>
              <a:t>HACCP </a:t>
            </a:r>
            <a:r>
              <a:rPr lang="ko-KR" altLang="en-US" dirty="0"/>
              <a:t>인증 보유자</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2603325" y="2876719"/>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3284986" y="331099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717708" y="320158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17117" y="40701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6" name="TextBox 165">
            <a:extLst>
              <a:ext uri="{FF2B5EF4-FFF2-40B4-BE49-F238E27FC236}">
                <a16:creationId xmlns:a16="http://schemas.microsoft.com/office/drawing/2014/main" id="{FFC49AEA-2A8F-250C-A86A-A7751D9706C3}"/>
              </a:ext>
            </a:extLst>
          </p:cNvPr>
          <p:cNvSpPr txBox="1"/>
          <p:nvPr/>
        </p:nvSpPr>
        <p:spPr>
          <a:xfrm>
            <a:off x="793252" y="410189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1318109" y="4175187"/>
            <a:ext cx="2010812" cy="107722"/>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기술보유</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793252" y="428567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1318109" y="4358967"/>
            <a:ext cx="2010812" cy="107722"/>
          </a:xfrm>
          <a:prstGeom prst="rect">
            <a:avLst/>
          </a:prstGeom>
          <a:noFill/>
        </p:spPr>
        <p:txBody>
          <a:bodyPr wrap="square" lIns="0" tIns="0" rIns="0" bIns="0" rtlCol="0">
            <a:spAutoFit/>
          </a:bodyPr>
          <a:lstStyle/>
          <a:p>
            <a:r>
              <a:rPr lang="ko-KR" altLang="en-US" sz="700" dirty="0" err="1">
                <a:latin typeface="+mn-ea"/>
              </a:rPr>
              <a:t>기술인증</a:t>
            </a:r>
            <a:endParaRPr lang="ko-KR" altLang="en-US"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2919401" y="435896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76" name="직사각형 175"/>
          <p:cNvSpPr/>
          <p:nvPr/>
        </p:nvSpPr>
        <p:spPr>
          <a:xfrm>
            <a:off x="717721" y="4520045"/>
            <a:ext cx="1639886" cy="9563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8" name="TextBox 177">
            <a:extLst>
              <a:ext uri="{FF2B5EF4-FFF2-40B4-BE49-F238E27FC236}">
                <a16:creationId xmlns:a16="http://schemas.microsoft.com/office/drawing/2014/main" id="{FFC49AEA-2A8F-250C-A86A-A7751D9706C3}"/>
              </a:ext>
            </a:extLst>
          </p:cNvPr>
          <p:cNvSpPr txBox="1"/>
          <p:nvPr/>
        </p:nvSpPr>
        <p:spPr>
          <a:xfrm>
            <a:off x="804784" y="452004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80" name="TextBox 179">
            <a:extLst>
              <a:ext uri="{FF2B5EF4-FFF2-40B4-BE49-F238E27FC236}">
                <a16:creationId xmlns:a16="http://schemas.microsoft.com/office/drawing/2014/main" id="{FFC49AEA-2A8F-250C-A86A-A7751D9706C3}"/>
              </a:ext>
            </a:extLst>
          </p:cNvPr>
          <p:cNvSpPr txBox="1"/>
          <p:nvPr/>
        </p:nvSpPr>
        <p:spPr>
          <a:xfrm>
            <a:off x="2532826" y="452004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81" name="직선 연결선 180">
            <a:extLst>
              <a:ext uri="{FF2B5EF4-FFF2-40B4-BE49-F238E27FC236}">
                <a16:creationId xmlns:a16="http://schemas.microsoft.com/office/drawing/2014/main" id="{E9293055-D5CD-4B9E-7F64-64B2D2CA7A52}"/>
              </a:ext>
            </a:extLst>
          </p:cNvPr>
          <p:cNvCxnSpPr/>
          <p:nvPr/>
        </p:nvCxnSpPr>
        <p:spPr>
          <a:xfrm>
            <a:off x="715024" y="452004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17117" y="47347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3" name="TextBox 182">
            <a:extLst>
              <a:ext uri="{FF2B5EF4-FFF2-40B4-BE49-F238E27FC236}">
                <a16:creationId xmlns:a16="http://schemas.microsoft.com/office/drawing/2014/main" id="{FFC49AEA-2A8F-250C-A86A-A7751D9706C3}"/>
              </a:ext>
            </a:extLst>
          </p:cNvPr>
          <p:cNvSpPr txBox="1"/>
          <p:nvPr/>
        </p:nvSpPr>
        <p:spPr>
          <a:xfrm>
            <a:off x="2953196" y="452004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818634" y="4786232"/>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주무부 장관 등이 인증한 신기술 </a:t>
            </a:r>
            <a:r>
              <a:rPr lang="en-US" altLang="ko-KR" dirty="0"/>
              <a:t>(NET, NEP, </a:t>
            </a:r>
            <a:r>
              <a:rPr lang="ko-KR" altLang="en-US" dirty="0" err="1"/>
              <a:t>전력신기술</a:t>
            </a:r>
            <a:r>
              <a:rPr lang="en-US" altLang="ko-KR" dirty="0"/>
              <a:t>) </a:t>
            </a:r>
            <a:r>
              <a:rPr lang="ko-KR" altLang="en-US" dirty="0"/>
              <a:t>인증</a:t>
            </a:r>
            <a:r>
              <a:rPr lang="en-US" altLang="ko-KR" dirty="0"/>
              <a:t>, </a:t>
            </a:r>
            <a:r>
              <a:rPr lang="ko-KR" altLang="en-US" dirty="0"/>
              <a:t>중소기업기술개발제품 </a:t>
            </a:r>
            <a:r>
              <a:rPr lang="ko-KR" altLang="en-US" dirty="0" err="1"/>
              <a:t>성능인증</a:t>
            </a:r>
            <a:r>
              <a:rPr lang="ko-KR" altLang="en-US" dirty="0"/>
              <a:t> 보유자</a:t>
            </a:r>
          </a:p>
        </p:txBody>
      </p:sp>
      <p:sp>
        <p:nvSpPr>
          <p:cNvPr id="185" name="TextBox 184">
            <a:extLst>
              <a:ext uri="{FF2B5EF4-FFF2-40B4-BE49-F238E27FC236}">
                <a16:creationId xmlns:a16="http://schemas.microsoft.com/office/drawing/2014/main" id="{FFC49AEA-2A8F-250C-A86A-A7751D9706C3}"/>
              </a:ext>
            </a:extLst>
          </p:cNvPr>
          <p:cNvSpPr txBox="1"/>
          <p:nvPr/>
        </p:nvSpPr>
        <p:spPr>
          <a:xfrm>
            <a:off x="2607590" y="4893953"/>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721972" y="516084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7" name="TextBox 186">
            <a:extLst>
              <a:ext uri="{FF2B5EF4-FFF2-40B4-BE49-F238E27FC236}">
                <a16:creationId xmlns:a16="http://schemas.microsoft.com/office/drawing/2014/main" id="{FFC49AEA-2A8F-250C-A86A-A7751D9706C3}"/>
              </a:ext>
            </a:extLst>
          </p:cNvPr>
          <p:cNvSpPr txBox="1"/>
          <p:nvPr/>
        </p:nvSpPr>
        <p:spPr>
          <a:xfrm>
            <a:off x="818634" y="5212293"/>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특허</a:t>
            </a:r>
            <a:r>
              <a:rPr lang="en-US" altLang="ko-KR" dirty="0"/>
              <a:t>, GD</a:t>
            </a:r>
            <a:r>
              <a:rPr lang="ko-KR" altLang="en-US" dirty="0"/>
              <a:t>인증</a:t>
            </a:r>
            <a:r>
              <a:rPr lang="en-US" altLang="ko-KR" dirty="0"/>
              <a:t>, GS(</a:t>
            </a:r>
            <a:r>
              <a:rPr lang="ko-KR" altLang="en-US" dirty="0"/>
              <a:t>국산 우수 </a:t>
            </a:r>
            <a:r>
              <a:rPr lang="en-US" altLang="ko-KR" dirty="0"/>
              <a:t>S/W)</a:t>
            </a:r>
            <a:r>
              <a:rPr lang="ko-KR" altLang="en-US" dirty="0"/>
              <a:t>마크 보유자</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2607589" y="5266154"/>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717117" y="54791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0" name="TextBox 189">
            <a:extLst>
              <a:ext uri="{FF2B5EF4-FFF2-40B4-BE49-F238E27FC236}">
                <a16:creationId xmlns:a16="http://schemas.microsoft.com/office/drawing/2014/main" id="{FFC49AEA-2A8F-250C-A86A-A7751D9706C3}"/>
              </a:ext>
            </a:extLst>
          </p:cNvPr>
          <p:cNvSpPr txBox="1"/>
          <p:nvPr/>
        </p:nvSpPr>
        <p:spPr>
          <a:xfrm>
            <a:off x="3289250" y="50531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1" name="TextBox 190">
            <a:extLst>
              <a:ext uri="{FF2B5EF4-FFF2-40B4-BE49-F238E27FC236}">
                <a16:creationId xmlns:a16="http://schemas.microsoft.com/office/drawing/2014/main" id="{FFC49AEA-2A8F-250C-A86A-A7751D9706C3}"/>
              </a:ext>
            </a:extLst>
          </p:cNvPr>
          <p:cNvSpPr txBox="1"/>
          <p:nvPr/>
        </p:nvSpPr>
        <p:spPr>
          <a:xfrm>
            <a:off x="814370" y="3257136"/>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우수단체표준</a:t>
            </a:r>
            <a:r>
              <a:rPr lang="en-US" altLang="ko-KR" dirty="0"/>
              <a:t>, </a:t>
            </a:r>
            <a:r>
              <a:rPr lang="ko-KR" altLang="en-US" dirty="0"/>
              <a:t>한국공인제품인증</a:t>
            </a:r>
            <a:r>
              <a:rPr lang="en-US" altLang="ko-KR" dirty="0"/>
              <a:t>(KAS), </a:t>
            </a:r>
            <a:r>
              <a:rPr lang="ko-KR" altLang="en-US" dirty="0"/>
              <a:t>싱글</a:t>
            </a:r>
            <a:r>
              <a:rPr lang="en-US" altLang="ko-KR" dirty="0"/>
              <a:t>PPM, </a:t>
            </a:r>
            <a:r>
              <a:rPr lang="ko-KR" altLang="en-US" dirty="0" err="1"/>
              <a:t>자가품질</a:t>
            </a:r>
            <a:r>
              <a:rPr lang="ko-KR" altLang="en-US" dirty="0"/>
              <a:t> </a:t>
            </a:r>
            <a:r>
              <a:rPr lang="ko-KR" altLang="en-US" dirty="0" err="1"/>
              <a:t>보증물품</a:t>
            </a:r>
            <a:r>
              <a:rPr lang="ko-KR" altLang="en-US" dirty="0"/>
              <a:t> 지정</a:t>
            </a:r>
            <a:r>
              <a:rPr lang="en-US" altLang="ko-KR" dirty="0"/>
              <a:t>, </a:t>
            </a:r>
            <a:r>
              <a:rPr lang="ko-KR" altLang="en-US" dirty="0"/>
              <a:t>세계일류상품인증</a:t>
            </a:r>
            <a:r>
              <a:rPr lang="en-US" altLang="ko-KR" dirty="0"/>
              <a:t>, “</a:t>
            </a:r>
            <a:r>
              <a:rPr lang="ko-KR" altLang="en-US" dirty="0"/>
              <a:t>건”자 마크</a:t>
            </a:r>
            <a:r>
              <a:rPr lang="en-US" altLang="ko-KR" dirty="0"/>
              <a:t>·K</a:t>
            </a:r>
            <a:r>
              <a:rPr lang="ko-KR" altLang="en-US" dirty="0"/>
              <a:t>마크</a:t>
            </a:r>
          </a:p>
        </p:txBody>
      </p:sp>
      <p:sp>
        <p:nvSpPr>
          <p:cNvPr id="192" name="TextBox 191">
            <a:extLst>
              <a:ext uri="{FF2B5EF4-FFF2-40B4-BE49-F238E27FC236}">
                <a16:creationId xmlns:a16="http://schemas.microsoft.com/office/drawing/2014/main" id="{FFC49AEA-2A8F-250C-A86A-A7751D9706C3}"/>
              </a:ext>
            </a:extLst>
          </p:cNvPr>
          <p:cNvSpPr txBox="1"/>
          <p:nvPr/>
        </p:nvSpPr>
        <p:spPr>
          <a:xfrm>
            <a:off x="2603325" y="3418718"/>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0.7</a:t>
            </a:r>
          </a:p>
        </p:txBody>
      </p:sp>
      <p:sp>
        <p:nvSpPr>
          <p:cNvPr id="193" name="TextBox 192">
            <a:extLst>
              <a:ext uri="{FF2B5EF4-FFF2-40B4-BE49-F238E27FC236}">
                <a16:creationId xmlns:a16="http://schemas.microsoft.com/office/drawing/2014/main" id="{FFC49AEA-2A8F-250C-A86A-A7751D9706C3}"/>
              </a:ext>
            </a:extLst>
          </p:cNvPr>
          <p:cNvSpPr txBox="1"/>
          <p:nvPr/>
        </p:nvSpPr>
        <p:spPr>
          <a:xfrm>
            <a:off x="814370" y="3799135"/>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a:t>
            </a:r>
            <a:r>
              <a:rPr lang="ko-KR" altLang="en-US" dirty="0"/>
              <a:t>산업통상자원부장관이 선정한 “</a:t>
            </a:r>
            <a:r>
              <a:rPr lang="ko-KR" altLang="en-US" dirty="0" err="1"/>
              <a:t>세계일류상</a:t>
            </a:r>
            <a:r>
              <a:rPr lang="ko-KR" altLang="en-US" dirty="0"/>
              <a:t> </a:t>
            </a:r>
            <a:r>
              <a:rPr lang="ko-KR" altLang="en-US" dirty="0" err="1"/>
              <a:t>품생산기업</a:t>
            </a:r>
            <a:r>
              <a:rPr lang="ko-KR" altLang="en-US" dirty="0"/>
              <a:t>”</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2603325" y="3852996"/>
            <a:ext cx="118623"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p>
        </p:txBody>
      </p:sp>
      <p:cxnSp>
        <p:nvCxnSpPr>
          <p:cNvPr id="197" name="직선 연결선 196">
            <a:extLst>
              <a:ext uri="{FF2B5EF4-FFF2-40B4-BE49-F238E27FC236}">
                <a16:creationId xmlns:a16="http://schemas.microsoft.com/office/drawing/2014/main" id="{E9293055-D5CD-4B9E-7F64-64B2D2CA7A52}"/>
              </a:ext>
            </a:extLst>
          </p:cNvPr>
          <p:cNvCxnSpPr/>
          <p:nvPr/>
        </p:nvCxnSpPr>
        <p:spPr>
          <a:xfrm>
            <a:off x="717708" y="374357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8" name="직사각형 197"/>
          <p:cNvSpPr/>
          <p:nvPr/>
        </p:nvSpPr>
        <p:spPr>
          <a:xfrm>
            <a:off x="3838793" y="1979876"/>
            <a:ext cx="1639886" cy="102740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3925856" y="1979877"/>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5653898" y="1979877"/>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6701" y="19798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3838794" y="21946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3838794" y="250141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3838794" y="30072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TextBox 205">
            <a:extLst>
              <a:ext uri="{FF2B5EF4-FFF2-40B4-BE49-F238E27FC236}">
                <a16:creationId xmlns:a16="http://schemas.microsoft.com/office/drawing/2014/main" id="{FFC49AEA-2A8F-250C-A86A-A7751D9706C3}"/>
              </a:ext>
            </a:extLst>
          </p:cNvPr>
          <p:cNvSpPr txBox="1"/>
          <p:nvPr/>
        </p:nvSpPr>
        <p:spPr>
          <a:xfrm>
            <a:off x="6074268" y="1979877"/>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25856" y="2240293"/>
            <a:ext cx="1480199" cy="215444"/>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환경표지</a:t>
            </a:r>
            <a:r>
              <a:rPr lang="en-US" altLang="ko-KR" sz="700" dirty="0">
                <a:latin typeface="+mn-ea"/>
              </a:rPr>
              <a:t>(GR</a:t>
            </a:r>
            <a:r>
              <a:rPr lang="ko-KR" altLang="en-US" sz="700" dirty="0" err="1">
                <a:latin typeface="+mn-ea"/>
              </a:rPr>
              <a:t>마크포함</a:t>
            </a:r>
            <a:r>
              <a:rPr lang="en-US" altLang="ko-KR" sz="700" dirty="0">
                <a:latin typeface="+mn-ea"/>
              </a:rPr>
              <a:t>) </a:t>
            </a:r>
            <a:r>
              <a:rPr lang="ko-KR" altLang="en-US" sz="700" dirty="0">
                <a:latin typeface="+mn-ea"/>
              </a:rPr>
              <a:t>인증을 받거나 환경친화기업 지정자</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30842" y="2294154"/>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10" name="TextBox 209">
            <a:extLst>
              <a:ext uri="{FF2B5EF4-FFF2-40B4-BE49-F238E27FC236}">
                <a16:creationId xmlns:a16="http://schemas.microsoft.com/office/drawing/2014/main" id="{FFC49AEA-2A8F-250C-A86A-A7751D9706C3}"/>
              </a:ext>
            </a:extLst>
          </p:cNvPr>
          <p:cNvSpPr txBox="1"/>
          <p:nvPr/>
        </p:nvSpPr>
        <p:spPr>
          <a:xfrm>
            <a:off x="6396472" y="254708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3925856" y="2547089"/>
            <a:ext cx="1480199" cy="215444"/>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녹색기술</a:t>
            </a:r>
            <a:r>
              <a:rPr lang="en-US" altLang="ko-KR" sz="700" dirty="0">
                <a:latin typeface="+mn-ea"/>
              </a:rPr>
              <a:t>(</a:t>
            </a:r>
            <a:r>
              <a:rPr lang="ko-KR" altLang="en-US" sz="700" dirty="0">
                <a:latin typeface="+mn-ea"/>
              </a:rPr>
              <a:t>녹색사업</a:t>
            </a:r>
            <a:r>
              <a:rPr lang="en-US" altLang="ko-KR" sz="700" dirty="0">
                <a:latin typeface="+mn-ea"/>
              </a:rPr>
              <a:t>) </a:t>
            </a:r>
            <a:r>
              <a:rPr lang="ko-KR" altLang="en-US" sz="700" dirty="0">
                <a:latin typeface="+mn-ea"/>
              </a:rPr>
              <a:t>인증 및  녹색전문기업 확인서 보유자</a:t>
            </a:r>
            <a:endParaRPr lang="en-US" altLang="ko-KR"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730842" y="2600950"/>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3883913" y="1555498"/>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4408770" y="1628786"/>
            <a:ext cx="2010812" cy="107722"/>
          </a:xfrm>
          <a:prstGeom prst="rect">
            <a:avLst/>
          </a:prstGeom>
          <a:noFill/>
        </p:spPr>
        <p:txBody>
          <a:bodyPr wrap="square" lIns="0" tIns="0" rIns="0" bIns="0" rtlCol="0">
            <a:spAutoFit/>
          </a:bodyPr>
          <a:lstStyle/>
          <a:p>
            <a:r>
              <a:rPr lang="en-US" altLang="ko-KR" sz="700" dirty="0">
                <a:latin typeface="+mn-ea"/>
              </a:rPr>
              <a:t>3. </a:t>
            </a:r>
            <a:r>
              <a:rPr lang="ko-KR" altLang="en-US" sz="700" dirty="0">
                <a:latin typeface="+mn-ea"/>
              </a:rPr>
              <a:t>환경관리</a:t>
            </a:r>
          </a:p>
        </p:txBody>
      </p:sp>
      <p:sp>
        <p:nvSpPr>
          <p:cNvPr id="217" name="TextBox 216">
            <a:extLst>
              <a:ext uri="{FF2B5EF4-FFF2-40B4-BE49-F238E27FC236}">
                <a16:creationId xmlns:a16="http://schemas.microsoft.com/office/drawing/2014/main" id="{FFC49AEA-2A8F-250C-A86A-A7751D9706C3}"/>
              </a:ext>
            </a:extLst>
          </p:cNvPr>
          <p:cNvSpPr txBox="1"/>
          <p:nvPr/>
        </p:nvSpPr>
        <p:spPr>
          <a:xfrm>
            <a:off x="3883913" y="173927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18" name="TextBox 217">
            <a:extLst>
              <a:ext uri="{FF2B5EF4-FFF2-40B4-BE49-F238E27FC236}">
                <a16:creationId xmlns:a16="http://schemas.microsoft.com/office/drawing/2014/main" id="{FFC49AEA-2A8F-250C-A86A-A7751D9706C3}"/>
              </a:ext>
            </a:extLst>
          </p:cNvPr>
          <p:cNvSpPr txBox="1"/>
          <p:nvPr/>
        </p:nvSpPr>
        <p:spPr>
          <a:xfrm>
            <a:off x="4408770" y="1812566"/>
            <a:ext cx="2010812" cy="107722"/>
          </a:xfrm>
          <a:prstGeom prst="rect">
            <a:avLst/>
          </a:prstGeom>
          <a:noFill/>
        </p:spPr>
        <p:txBody>
          <a:bodyPr wrap="square" lIns="0" tIns="0" rIns="0" bIns="0" rtlCol="0">
            <a:spAutoFit/>
          </a:bodyPr>
          <a:lstStyle/>
          <a:p>
            <a:r>
              <a:rPr lang="ko-KR" altLang="en-US" sz="700" dirty="0">
                <a:latin typeface="+mn-ea"/>
              </a:rPr>
              <a:t>환경오염 억제와 자원절약 기여자</a:t>
            </a:r>
          </a:p>
        </p:txBody>
      </p:sp>
      <p:sp>
        <p:nvSpPr>
          <p:cNvPr id="219" name="TextBox 218">
            <a:extLst>
              <a:ext uri="{FF2B5EF4-FFF2-40B4-BE49-F238E27FC236}">
                <a16:creationId xmlns:a16="http://schemas.microsoft.com/office/drawing/2014/main" id="{FFC49AEA-2A8F-250C-A86A-A7751D9706C3}"/>
              </a:ext>
            </a:extLst>
          </p:cNvPr>
          <p:cNvSpPr txBox="1"/>
          <p:nvPr/>
        </p:nvSpPr>
        <p:spPr>
          <a:xfrm>
            <a:off x="6010062" y="1812566"/>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cxnSp>
        <p:nvCxnSpPr>
          <p:cNvPr id="220" name="직선 연결선 219">
            <a:extLst>
              <a:ext uri="{FF2B5EF4-FFF2-40B4-BE49-F238E27FC236}">
                <a16:creationId xmlns:a16="http://schemas.microsoft.com/office/drawing/2014/main" id="{E9293055-D5CD-4B9E-7F64-64B2D2CA7A52}"/>
              </a:ext>
            </a:extLst>
          </p:cNvPr>
          <p:cNvCxnSpPr/>
          <p:nvPr/>
        </p:nvCxnSpPr>
        <p:spPr>
          <a:xfrm>
            <a:off x="3838794" y="280820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1" name="TextBox 220">
            <a:extLst>
              <a:ext uri="{FF2B5EF4-FFF2-40B4-BE49-F238E27FC236}">
                <a16:creationId xmlns:a16="http://schemas.microsoft.com/office/drawing/2014/main" id="{FFC49AEA-2A8F-250C-A86A-A7751D9706C3}"/>
              </a:ext>
            </a:extLst>
          </p:cNvPr>
          <p:cNvSpPr txBox="1"/>
          <p:nvPr/>
        </p:nvSpPr>
        <p:spPr>
          <a:xfrm>
            <a:off x="3925856" y="2853885"/>
            <a:ext cx="1480199" cy="107722"/>
          </a:xfrm>
          <a:prstGeom prst="rect">
            <a:avLst/>
          </a:prstGeom>
          <a:noFill/>
        </p:spPr>
        <p:txBody>
          <a:bodyPr wrap="square" lIns="0" tIns="0" rIns="0" bIns="0" rtlCol="0">
            <a:spAutoFit/>
          </a:bodyPr>
          <a:lstStyle/>
          <a:p>
            <a:r>
              <a:rPr lang="en-US" altLang="ko-KR" sz="700" dirty="0">
                <a:latin typeface="+mn-ea"/>
              </a:rPr>
              <a:t>C. </a:t>
            </a:r>
            <a:r>
              <a:rPr lang="ko-KR" altLang="en-US" sz="700" dirty="0">
                <a:latin typeface="+mn-ea"/>
              </a:rPr>
              <a:t>고효율에너지기자재 </a:t>
            </a:r>
            <a:r>
              <a:rPr lang="ko-KR" altLang="en-US" sz="700" dirty="0" err="1">
                <a:latin typeface="+mn-ea"/>
              </a:rPr>
              <a:t>인증보유자</a:t>
            </a:r>
            <a:endParaRPr lang="ko-KR" altLang="en-US" sz="700" dirty="0">
              <a:latin typeface="+mn-ea"/>
            </a:endParaRPr>
          </a:p>
        </p:txBody>
      </p:sp>
      <p:sp>
        <p:nvSpPr>
          <p:cNvPr id="231" name="TextBox 230">
            <a:extLst>
              <a:ext uri="{FF2B5EF4-FFF2-40B4-BE49-F238E27FC236}">
                <a16:creationId xmlns:a16="http://schemas.microsoft.com/office/drawing/2014/main" id="{FFC49AEA-2A8F-250C-A86A-A7751D9706C3}"/>
              </a:ext>
            </a:extLst>
          </p:cNvPr>
          <p:cNvSpPr txBox="1"/>
          <p:nvPr/>
        </p:nvSpPr>
        <p:spPr>
          <a:xfrm>
            <a:off x="5730842" y="285388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33" name="TextBox 232">
            <a:extLst>
              <a:ext uri="{FF2B5EF4-FFF2-40B4-BE49-F238E27FC236}">
                <a16:creationId xmlns:a16="http://schemas.microsoft.com/office/drawing/2014/main" id="{FFC49AEA-2A8F-250C-A86A-A7751D9706C3}"/>
              </a:ext>
            </a:extLst>
          </p:cNvPr>
          <p:cNvSpPr txBox="1"/>
          <p:nvPr/>
        </p:nvSpPr>
        <p:spPr>
          <a:xfrm>
            <a:off x="3914929" y="3061144"/>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2) </a:t>
            </a:r>
            <a:r>
              <a:rPr lang="ko-KR" altLang="en-US" dirty="0"/>
              <a:t>계약이행 성실도</a:t>
            </a:r>
          </a:p>
        </p:txBody>
      </p:sp>
      <p:sp>
        <p:nvSpPr>
          <p:cNvPr id="243" name="TextBox 242">
            <a:extLst>
              <a:ext uri="{FF2B5EF4-FFF2-40B4-BE49-F238E27FC236}">
                <a16:creationId xmlns:a16="http://schemas.microsoft.com/office/drawing/2014/main" id="{FFC49AEA-2A8F-250C-A86A-A7751D9706C3}"/>
              </a:ext>
            </a:extLst>
          </p:cNvPr>
          <p:cNvSpPr txBox="1"/>
          <p:nvPr/>
        </p:nvSpPr>
        <p:spPr>
          <a:xfrm>
            <a:off x="3914929" y="326138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44" name="TextBox 243">
            <a:extLst>
              <a:ext uri="{FF2B5EF4-FFF2-40B4-BE49-F238E27FC236}">
                <a16:creationId xmlns:a16="http://schemas.microsoft.com/office/drawing/2014/main" id="{FFC49AEA-2A8F-250C-A86A-A7751D9706C3}"/>
              </a:ext>
            </a:extLst>
          </p:cNvPr>
          <p:cNvSpPr txBox="1"/>
          <p:nvPr/>
        </p:nvSpPr>
        <p:spPr>
          <a:xfrm>
            <a:off x="4439786" y="3334669"/>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품질하자</a:t>
            </a:r>
            <a:endParaRPr lang="ko-KR" altLang="en-US" sz="700" dirty="0">
              <a:latin typeface="+mn-ea"/>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3914929" y="344516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51" name="TextBox 250">
            <a:extLst>
              <a:ext uri="{FF2B5EF4-FFF2-40B4-BE49-F238E27FC236}">
                <a16:creationId xmlns:a16="http://schemas.microsoft.com/office/drawing/2014/main" id="{FFC49AEA-2A8F-250C-A86A-A7751D9706C3}"/>
              </a:ext>
            </a:extLst>
          </p:cNvPr>
          <p:cNvSpPr txBox="1"/>
          <p:nvPr/>
        </p:nvSpPr>
        <p:spPr>
          <a:xfrm>
            <a:off x="4439786" y="3518449"/>
            <a:ext cx="2010812" cy="107722"/>
          </a:xfrm>
          <a:prstGeom prst="rect">
            <a:avLst/>
          </a:prstGeom>
          <a:noFill/>
        </p:spPr>
        <p:txBody>
          <a:bodyPr wrap="square" lIns="0" tIns="0" rIns="0" bIns="0" rtlCol="0">
            <a:spAutoFit/>
          </a:bodyPr>
          <a:lstStyle/>
          <a:p>
            <a:r>
              <a:rPr lang="ko-KR" altLang="en-US" sz="700" dirty="0">
                <a:latin typeface="+mn-ea"/>
              </a:rPr>
              <a:t>하자발생 유</a:t>
            </a:r>
            <a:r>
              <a:rPr lang="en-US" altLang="ko-KR" sz="700" dirty="0">
                <a:latin typeface="+mn-ea"/>
              </a:rPr>
              <a:t>/</a:t>
            </a:r>
            <a:r>
              <a:rPr lang="ko-KR" altLang="en-US" sz="700" dirty="0">
                <a:latin typeface="+mn-ea"/>
              </a:rPr>
              <a:t>무</a:t>
            </a:r>
          </a:p>
        </p:txBody>
      </p:sp>
      <p:sp>
        <p:nvSpPr>
          <p:cNvPr id="252" name="TextBox 251">
            <a:extLst>
              <a:ext uri="{FF2B5EF4-FFF2-40B4-BE49-F238E27FC236}">
                <a16:creationId xmlns:a16="http://schemas.microsoft.com/office/drawing/2014/main" id="{FFC49AEA-2A8F-250C-A86A-A7751D9706C3}"/>
              </a:ext>
            </a:extLst>
          </p:cNvPr>
          <p:cNvSpPr txBox="1"/>
          <p:nvPr/>
        </p:nvSpPr>
        <p:spPr>
          <a:xfrm>
            <a:off x="6041078" y="3518449"/>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-1.2</a:t>
            </a:r>
          </a:p>
        </p:txBody>
      </p:sp>
      <p:sp>
        <p:nvSpPr>
          <p:cNvPr id="253" name="직사각형 252"/>
          <p:cNvSpPr/>
          <p:nvPr/>
        </p:nvSpPr>
        <p:spPr>
          <a:xfrm>
            <a:off x="3839398" y="3679527"/>
            <a:ext cx="1639886" cy="2347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4" name="TextBox 253">
            <a:extLst>
              <a:ext uri="{FF2B5EF4-FFF2-40B4-BE49-F238E27FC236}">
                <a16:creationId xmlns:a16="http://schemas.microsoft.com/office/drawing/2014/main" id="{FFC49AEA-2A8F-250C-A86A-A7751D9706C3}"/>
              </a:ext>
            </a:extLst>
          </p:cNvPr>
          <p:cNvSpPr txBox="1"/>
          <p:nvPr/>
        </p:nvSpPr>
        <p:spPr>
          <a:xfrm>
            <a:off x="3926461" y="367952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55" name="TextBox 254">
            <a:extLst>
              <a:ext uri="{FF2B5EF4-FFF2-40B4-BE49-F238E27FC236}">
                <a16:creationId xmlns:a16="http://schemas.microsoft.com/office/drawing/2014/main" id="{FFC49AEA-2A8F-250C-A86A-A7751D9706C3}"/>
              </a:ext>
            </a:extLst>
          </p:cNvPr>
          <p:cNvSpPr txBox="1"/>
          <p:nvPr/>
        </p:nvSpPr>
        <p:spPr>
          <a:xfrm>
            <a:off x="5654503" y="367952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56" name="직선 연결선 255">
            <a:extLst>
              <a:ext uri="{FF2B5EF4-FFF2-40B4-BE49-F238E27FC236}">
                <a16:creationId xmlns:a16="http://schemas.microsoft.com/office/drawing/2014/main" id="{E9293055-D5CD-4B9E-7F64-64B2D2CA7A52}"/>
              </a:ext>
            </a:extLst>
          </p:cNvPr>
          <p:cNvCxnSpPr/>
          <p:nvPr/>
        </p:nvCxnSpPr>
        <p:spPr>
          <a:xfrm>
            <a:off x="3836701" y="367952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7" name="직선 연결선 256">
            <a:extLst>
              <a:ext uri="{FF2B5EF4-FFF2-40B4-BE49-F238E27FC236}">
                <a16:creationId xmlns:a16="http://schemas.microsoft.com/office/drawing/2014/main" id="{E9293055-D5CD-4B9E-7F64-64B2D2CA7A52}"/>
              </a:ext>
            </a:extLst>
          </p:cNvPr>
          <p:cNvCxnSpPr/>
          <p:nvPr/>
        </p:nvCxnSpPr>
        <p:spPr>
          <a:xfrm>
            <a:off x="3838794" y="389426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8" name="직선 연결선 257">
            <a:extLst>
              <a:ext uri="{FF2B5EF4-FFF2-40B4-BE49-F238E27FC236}">
                <a16:creationId xmlns:a16="http://schemas.microsoft.com/office/drawing/2014/main" id="{E9293055-D5CD-4B9E-7F64-64B2D2CA7A52}"/>
              </a:ext>
            </a:extLst>
          </p:cNvPr>
          <p:cNvCxnSpPr/>
          <p:nvPr/>
        </p:nvCxnSpPr>
        <p:spPr>
          <a:xfrm>
            <a:off x="3838794" y="60283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9" name="TextBox 258">
            <a:extLst>
              <a:ext uri="{FF2B5EF4-FFF2-40B4-BE49-F238E27FC236}">
                <a16:creationId xmlns:a16="http://schemas.microsoft.com/office/drawing/2014/main" id="{FFC49AEA-2A8F-250C-A86A-A7751D9706C3}"/>
              </a:ext>
            </a:extLst>
          </p:cNvPr>
          <p:cNvSpPr txBox="1"/>
          <p:nvPr/>
        </p:nvSpPr>
        <p:spPr>
          <a:xfrm>
            <a:off x="6074873" y="367952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60" name="TextBox 259">
            <a:extLst>
              <a:ext uri="{FF2B5EF4-FFF2-40B4-BE49-F238E27FC236}">
                <a16:creationId xmlns:a16="http://schemas.microsoft.com/office/drawing/2014/main" id="{FFC49AEA-2A8F-250C-A86A-A7751D9706C3}"/>
              </a:ext>
            </a:extLst>
          </p:cNvPr>
          <p:cNvSpPr txBox="1"/>
          <p:nvPr/>
        </p:nvSpPr>
        <p:spPr>
          <a:xfrm>
            <a:off x="3940311" y="3943044"/>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하자</a:t>
            </a:r>
            <a:r>
              <a:rPr lang="en-US" altLang="ko-KR" dirty="0"/>
              <a:t>, </a:t>
            </a:r>
            <a:r>
              <a:rPr lang="ko-KR" altLang="en-US" dirty="0"/>
              <a:t>발생사실이 있는 자로서 하자가 발생한 계약</a:t>
            </a:r>
            <a:r>
              <a:rPr lang="en-US" altLang="ko-KR" dirty="0"/>
              <a:t>(</a:t>
            </a:r>
            <a:r>
              <a:rPr lang="ko-KR" altLang="en-US" dirty="0" err="1"/>
              <a:t>단기계약시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하자금액</a:t>
            </a:r>
            <a:r>
              <a:rPr lang="ko-KR" altLang="en-US" dirty="0"/>
              <a:t> 비율에 따라</a:t>
            </a:r>
            <a:br>
              <a:rPr lang="ko-KR" altLang="en-US" dirty="0"/>
            </a:br>
            <a:r>
              <a:rPr lang="ko-KR" altLang="en-US" dirty="0"/>
              <a:t>① </a:t>
            </a:r>
            <a:r>
              <a:rPr lang="en-US" altLang="ko-KR" dirty="0"/>
              <a:t>5%</a:t>
            </a:r>
            <a:r>
              <a:rPr lang="ko-KR" altLang="en-US" dirty="0"/>
              <a:t>이상</a:t>
            </a:r>
            <a:br>
              <a:rPr lang="ko-KR" altLang="en-US" dirty="0"/>
            </a:br>
            <a:r>
              <a:rPr lang="ko-KR" altLang="en-US" dirty="0"/>
              <a:t>② </a:t>
            </a:r>
            <a:r>
              <a:rPr lang="en-US" altLang="ko-KR" dirty="0"/>
              <a:t>3%</a:t>
            </a:r>
            <a:r>
              <a:rPr lang="ko-KR" altLang="en-US" dirty="0"/>
              <a:t>이상 ∼ </a:t>
            </a:r>
            <a:r>
              <a:rPr lang="en-US" altLang="ko-KR" dirty="0"/>
              <a:t>5%</a:t>
            </a:r>
            <a:r>
              <a:rPr lang="ko-KR" altLang="en-US" dirty="0"/>
              <a:t>미만</a:t>
            </a:r>
            <a:br>
              <a:rPr lang="ko-KR" altLang="en-US" dirty="0"/>
            </a:br>
            <a:r>
              <a:rPr lang="ko-KR" altLang="en-US" dirty="0"/>
              <a:t>③ </a:t>
            </a:r>
            <a:r>
              <a:rPr lang="en-US" altLang="ko-KR" dirty="0"/>
              <a:t>1%</a:t>
            </a:r>
            <a:r>
              <a:rPr lang="ko-KR" altLang="en-US" dirty="0"/>
              <a:t>이상 ∼ </a:t>
            </a:r>
            <a:r>
              <a:rPr lang="en-US" altLang="ko-KR" dirty="0"/>
              <a:t>3% </a:t>
            </a:r>
            <a:r>
              <a:rPr lang="ko-KR" altLang="en-US" dirty="0"/>
              <a:t>미만</a:t>
            </a:r>
            <a:br>
              <a:rPr lang="ko-KR" altLang="en-US" dirty="0"/>
            </a:br>
            <a:r>
              <a:rPr lang="ko-KR" altLang="en-US" dirty="0"/>
              <a:t>④ </a:t>
            </a:r>
            <a:r>
              <a:rPr lang="en-US" altLang="ko-KR" dirty="0"/>
              <a:t>0.1%</a:t>
            </a:r>
            <a:r>
              <a:rPr lang="ko-KR" altLang="en-US" dirty="0"/>
              <a:t>이상 ∼ </a:t>
            </a:r>
            <a:r>
              <a:rPr lang="en-US" altLang="ko-KR" dirty="0"/>
              <a:t>1% </a:t>
            </a:r>
            <a:r>
              <a:rPr lang="ko-KR" altLang="en-US" dirty="0"/>
              <a:t>미만</a:t>
            </a:r>
          </a:p>
        </p:txBody>
      </p:sp>
      <p:sp>
        <p:nvSpPr>
          <p:cNvPr id="261" name="TextBox 260">
            <a:extLst>
              <a:ext uri="{FF2B5EF4-FFF2-40B4-BE49-F238E27FC236}">
                <a16:creationId xmlns:a16="http://schemas.microsoft.com/office/drawing/2014/main" id="{FFC49AEA-2A8F-250C-A86A-A7751D9706C3}"/>
              </a:ext>
            </a:extLst>
          </p:cNvPr>
          <p:cNvSpPr txBox="1"/>
          <p:nvPr/>
        </p:nvSpPr>
        <p:spPr>
          <a:xfrm>
            <a:off x="5692397" y="4481653"/>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
        <p:nvSpPr>
          <p:cNvPr id="262" name="TextBox 261">
            <a:extLst>
              <a:ext uri="{FF2B5EF4-FFF2-40B4-BE49-F238E27FC236}">
                <a16:creationId xmlns:a16="http://schemas.microsoft.com/office/drawing/2014/main" id="{FFC49AEA-2A8F-250C-A86A-A7751D9706C3}"/>
              </a:ext>
            </a:extLst>
          </p:cNvPr>
          <p:cNvSpPr txBox="1"/>
          <p:nvPr/>
        </p:nvSpPr>
        <p:spPr>
          <a:xfrm>
            <a:off x="6410927" y="490745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63" name="TextBox 262">
            <a:extLst>
              <a:ext uri="{FF2B5EF4-FFF2-40B4-BE49-F238E27FC236}">
                <a16:creationId xmlns:a16="http://schemas.microsoft.com/office/drawing/2014/main" id="{FFC49AEA-2A8F-250C-A86A-A7751D9706C3}"/>
              </a:ext>
            </a:extLst>
          </p:cNvPr>
          <p:cNvSpPr txBox="1"/>
          <p:nvPr/>
        </p:nvSpPr>
        <p:spPr>
          <a:xfrm>
            <a:off x="3940311" y="5010096"/>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최근 </a:t>
            </a:r>
            <a:r>
              <a:rPr lang="en-US" altLang="ko-KR" dirty="0"/>
              <a:t>1</a:t>
            </a:r>
            <a:r>
              <a:rPr lang="ko-KR" altLang="en-US" dirty="0"/>
              <a:t>년 이내 국방관서와의 계약이행과정에서 감액 사실이 있는 자로서 감액이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감액비율에</a:t>
            </a:r>
            <a:r>
              <a:rPr lang="ko-KR" altLang="en-US" dirty="0"/>
              <a:t> 따라</a:t>
            </a:r>
            <a:br>
              <a:rPr lang="ko-KR" altLang="en-US" dirty="0"/>
            </a:br>
            <a:r>
              <a:rPr lang="ko-KR" altLang="en-US" dirty="0"/>
              <a:t>① </a:t>
            </a:r>
            <a:r>
              <a:rPr lang="en-US" altLang="ko-KR" dirty="0"/>
              <a:t>20%</a:t>
            </a:r>
            <a:r>
              <a:rPr lang="ko-KR" altLang="en-US" dirty="0"/>
              <a:t>이상</a:t>
            </a:r>
            <a:br>
              <a:rPr lang="ko-KR" altLang="en-US" dirty="0"/>
            </a:br>
            <a:r>
              <a:rPr lang="ko-KR" altLang="en-US" dirty="0"/>
              <a:t>② </a:t>
            </a:r>
            <a:r>
              <a:rPr lang="en-US" altLang="ko-KR" dirty="0"/>
              <a:t>10%</a:t>
            </a:r>
            <a:r>
              <a:rPr lang="ko-KR" altLang="en-US" dirty="0"/>
              <a:t>이상 ∼ </a:t>
            </a:r>
            <a:r>
              <a:rPr lang="en-US" altLang="ko-KR" dirty="0"/>
              <a:t>20%</a:t>
            </a:r>
            <a:r>
              <a:rPr lang="ko-KR" altLang="en-US" dirty="0"/>
              <a:t>미만</a:t>
            </a:r>
            <a:br>
              <a:rPr lang="ko-KR" altLang="en-US" dirty="0"/>
            </a:br>
            <a:r>
              <a:rPr lang="ko-KR" altLang="en-US" dirty="0"/>
              <a:t>③ </a:t>
            </a:r>
            <a:r>
              <a:rPr lang="en-US" altLang="ko-KR" dirty="0"/>
              <a:t>1%</a:t>
            </a:r>
            <a:r>
              <a:rPr lang="ko-KR" altLang="en-US" dirty="0"/>
              <a:t>이상 ∼ </a:t>
            </a:r>
            <a:r>
              <a:rPr lang="en-US" altLang="ko-KR" dirty="0"/>
              <a:t>10%</a:t>
            </a:r>
            <a:r>
              <a:rPr lang="ko-KR" altLang="en-US" dirty="0"/>
              <a:t>미만</a:t>
            </a:r>
            <a:br>
              <a:rPr lang="ko-KR" altLang="en-US" dirty="0"/>
            </a:br>
            <a:r>
              <a:rPr lang="ko-KR" altLang="en-US" dirty="0"/>
              <a:t>④ </a:t>
            </a:r>
            <a:r>
              <a:rPr lang="en-US" altLang="ko-KR" dirty="0"/>
              <a:t>0.1%</a:t>
            </a:r>
            <a:r>
              <a:rPr lang="ko-KR" altLang="en-US" dirty="0"/>
              <a:t>이상 ∼ </a:t>
            </a:r>
            <a:r>
              <a:rPr lang="en-US" altLang="ko-KR" dirty="0"/>
              <a:t>1%</a:t>
            </a:r>
            <a:r>
              <a:rPr lang="ko-KR" altLang="en-US" dirty="0"/>
              <a:t>미만</a:t>
            </a:r>
          </a:p>
        </p:txBody>
      </p:sp>
      <p:cxnSp>
        <p:nvCxnSpPr>
          <p:cNvPr id="264" name="직선 연결선 263">
            <a:extLst>
              <a:ext uri="{FF2B5EF4-FFF2-40B4-BE49-F238E27FC236}">
                <a16:creationId xmlns:a16="http://schemas.microsoft.com/office/drawing/2014/main" id="{E9293055-D5CD-4B9E-7F64-64B2D2CA7A52}"/>
              </a:ext>
            </a:extLst>
          </p:cNvPr>
          <p:cNvCxnSpPr/>
          <p:nvPr/>
        </p:nvCxnSpPr>
        <p:spPr>
          <a:xfrm>
            <a:off x="3843649" y="496131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5692397" y="5548705"/>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
        <p:nvSpPr>
          <p:cNvPr id="97" name="타원 96">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87304045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214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2018</a:t>
            </a:r>
            <a:r>
              <a:rPr lang="ko-KR" altLang="en-US" dirty="0"/>
              <a:t>년 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3" name="그룹 2"/>
          <p:cNvGrpSpPr/>
          <p:nvPr/>
        </p:nvGrpSpPr>
        <p:grpSpPr>
          <a:xfrm>
            <a:off x="716366" y="1491157"/>
            <a:ext cx="2630093" cy="1790884"/>
            <a:chOff x="3989101" y="6222499"/>
            <a:chExt cx="2630093" cy="1790884"/>
          </a:xfrm>
        </p:grpSpPr>
        <p:sp>
          <p:nvSpPr>
            <p:cNvPr id="123" name="TextBox 122">
              <a:extLst>
                <a:ext uri="{FF2B5EF4-FFF2-40B4-BE49-F238E27FC236}">
                  <a16:creationId xmlns:a16="http://schemas.microsoft.com/office/drawing/2014/main" id="{FFC49AEA-2A8F-250C-A86A-A7751D9706C3}"/>
                </a:ext>
              </a:extLst>
            </p:cNvPr>
            <p:cNvSpPr txBox="1"/>
            <p:nvPr/>
          </p:nvSpPr>
          <p:spPr>
            <a:xfrm>
              <a:off x="4067329" y="622249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4592186" y="6295787"/>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4067329" y="640627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26" name="TextBox 125">
              <a:extLst>
                <a:ext uri="{FF2B5EF4-FFF2-40B4-BE49-F238E27FC236}">
                  <a16:creationId xmlns:a16="http://schemas.microsoft.com/office/drawing/2014/main" id="{FFC49AEA-2A8F-250C-A86A-A7751D9706C3}"/>
                </a:ext>
              </a:extLst>
            </p:cNvPr>
            <p:cNvSpPr txBox="1"/>
            <p:nvPr/>
          </p:nvSpPr>
          <p:spPr>
            <a:xfrm>
              <a:off x="4592186" y="6479567"/>
              <a:ext cx="2010812" cy="107722"/>
            </a:xfrm>
            <a:prstGeom prst="rect">
              <a:avLst/>
            </a:prstGeom>
            <a:noFill/>
          </p:spPr>
          <p:txBody>
            <a:bodyPr wrap="square" lIns="0" tIns="0" rIns="0" bIns="0" rtlCol="0">
              <a:spAutoFit/>
            </a:bodyPr>
            <a:lstStyle/>
            <a:p>
              <a:r>
                <a:rPr lang="ko-KR" altLang="en-US" sz="700" dirty="0">
                  <a:latin typeface="+mn-ea"/>
                </a:rPr>
                <a:t>지체상금</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6193478" y="647956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28" name="직사각형 127"/>
            <p:cNvSpPr/>
            <p:nvPr/>
          </p:nvSpPr>
          <p:spPr>
            <a:xfrm>
              <a:off x="3991798" y="6640645"/>
              <a:ext cx="1639886" cy="13713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4078861" y="664064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5806903" y="664064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1" name="직선 연결선 130">
              <a:extLst>
                <a:ext uri="{FF2B5EF4-FFF2-40B4-BE49-F238E27FC236}">
                  <a16:creationId xmlns:a16="http://schemas.microsoft.com/office/drawing/2014/main" id="{E9293055-D5CD-4B9E-7F64-64B2D2CA7A52}"/>
                </a:ext>
              </a:extLst>
            </p:cNvPr>
            <p:cNvCxnSpPr/>
            <p:nvPr/>
          </p:nvCxnSpPr>
          <p:spPr>
            <a:xfrm>
              <a:off x="3989101" y="664064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3991194" y="68553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3991194" y="80133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6227273" y="664064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5" name="TextBox 134">
              <a:extLst>
                <a:ext uri="{FF2B5EF4-FFF2-40B4-BE49-F238E27FC236}">
                  <a16:creationId xmlns:a16="http://schemas.microsoft.com/office/drawing/2014/main" id="{FFC49AEA-2A8F-250C-A86A-A7751D9706C3}"/>
                </a:ext>
              </a:extLst>
            </p:cNvPr>
            <p:cNvSpPr txBox="1"/>
            <p:nvPr/>
          </p:nvSpPr>
          <p:spPr>
            <a:xfrm>
              <a:off x="4092711" y="6904162"/>
              <a:ext cx="1480199" cy="1077218"/>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지체상금 부과대상자로서 </a:t>
              </a:r>
              <a:r>
                <a:rPr lang="ko-KR" altLang="en-US" dirty="0" err="1"/>
                <a:t>지체상금이</a:t>
              </a:r>
              <a:r>
                <a:rPr lang="ko-KR" altLang="en-US" dirty="0"/>
                <a:t> 발생한 계약 </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지체상금 </a:t>
              </a:r>
              <a:r>
                <a:rPr lang="ko-KR" altLang="en-US" dirty="0" err="1"/>
                <a:t>부과율에</a:t>
              </a:r>
              <a:r>
                <a:rPr lang="ko-KR" altLang="en-US" dirty="0"/>
                <a:t> 따라</a:t>
              </a:r>
              <a:br>
                <a:rPr lang="ko-KR" altLang="en-US" dirty="0"/>
              </a:br>
              <a:r>
                <a:rPr lang="en-US" altLang="ko-KR" dirty="0"/>
                <a:t>- 7%</a:t>
              </a:r>
              <a:r>
                <a:rPr lang="ko-KR" altLang="en-US" dirty="0"/>
                <a:t>이상</a:t>
              </a:r>
              <a:br>
                <a:rPr lang="ko-KR" altLang="en-US" dirty="0"/>
              </a:br>
              <a:r>
                <a:rPr lang="en-US" altLang="ko-KR" dirty="0"/>
                <a:t>- 5%</a:t>
              </a:r>
              <a:r>
                <a:rPr lang="ko-KR" altLang="en-US" dirty="0"/>
                <a:t>이상 ∼ </a:t>
              </a:r>
              <a:r>
                <a:rPr lang="en-US" altLang="ko-KR" dirty="0"/>
                <a:t>7%</a:t>
              </a:r>
              <a:r>
                <a:rPr lang="ko-KR" altLang="en-US" dirty="0"/>
                <a:t>미만</a:t>
              </a:r>
              <a:br>
                <a:rPr lang="ko-KR" altLang="en-US" dirty="0"/>
              </a:br>
              <a:r>
                <a:rPr lang="en-US" altLang="ko-KR" dirty="0"/>
                <a:t>- 3%</a:t>
              </a:r>
              <a:r>
                <a:rPr lang="ko-KR" altLang="en-US" dirty="0"/>
                <a:t>이상 ∼ </a:t>
              </a:r>
              <a:r>
                <a:rPr lang="en-US" altLang="ko-KR" dirty="0"/>
                <a:t>5%</a:t>
              </a:r>
              <a:r>
                <a:rPr lang="ko-KR" altLang="en-US" dirty="0"/>
                <a:t>미만</a:t>
              </a:r>
              <a:br>
                <a:rPr lang="ko-KR" altLang="en-US" dirty="0"/>
              </a:br>
              <a:r>
                <a:rPr lang="en-US" altLang="ko-KR" dirty="0"/>
                <a:t>- 1%</a:t>
              </a:r>
              <a:r>
                <a:rPr lang="ko-KR" altLang="en-US" dirty="0"/>
                <a:t>이상 ∼ </a:t>
              </a:r>
              <a:r>
                <a:rPr lang="en-US" altLang="ko-KR" dirty="0"/>
                <a:t>3%</a:t>
              </a:r>
              <a:r>
                <a:rPr lang="ko-KR" altLang="en-US" dirty="0"/>
                <a:t>미만</a:t>
              </a:r>
              <a:br>
                <a:rPr lang="ko-KR" altLang="en-US" dirty="0"/>
              </a:br>
              <a:r>
                <a:rPr lang="en-US" altLang="ko-KR" dirty="0"/>
                <a:t>- 0.1%</a:t>
              </a:r>
              <a:r>
                <a:rPr lang="ko-KR" altLang="en-US" dirty="0"/>
                <a:t>이상 ∼ </a:t>
              </a:r>
              <a:r>
                <a:rPr lang="en-US" altLang="ko-KR" dirty="0"/>
                <a:t>1%</a:t>
              </a:r>
              <a:r>
                <a:rPr lang="ko-KR" altLang="en-US" dirty="0"/>
                <a:t>미만</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5844797" y="7442771"/>
              <a:ext cx="15549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-0.8</a:t>
              </a:r>
              <a:br>
                <a:rPr lang="en-US" altLang="ko-KR" dirty="0"/>
              </a:br>
              <a:r>
                <a:rPr lang="en-US" altLang="ko-KR" dirty="0"/>
                <a:t>-0.6</a:t>
              </a:r>
              <a:br>
                <a:rPr lang="en-US" altLang="ko-KR" dirty="0"/>
              </a:br>
              <a:r>
                <a:rPr lang="en-US" altLang="ko-KR" dirty="0"/>
                <a:t>-0.4</a:t>
              </a:r>
              <a:br>
                <a:rPr lang="en-US" altLang="ko-KR" dirty="0"/>
              </a:br>
              <a:r>
                <a:rPr lang="en-US" altLang="ko-KR" dirty="0"/>
                <a:t>-0.2</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6563327" y="738052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39" name="TextBox 138">
            <a:extLst>
              <a:ext uri="{FF2B5EF4-FFF2-40B4-BE49-F238E27FC236}">
                <a16:creationId xmlns:a16="http://schemas.microsoft.com/office/drawing/2014/main" id="{FFC49AEA-2A8F-250C-A86A-A7751D9706C3}"/>
              </a:ext>
            </a:extLst>
          </p:cNvPr>
          <p:cNvSpPr txBox="1"/>
          <p:nvPr/>
        </p:nvSpPr>
        <p:spPr>
          <a:xfrm>
            <a:off x="794594" y="331246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1319451" y="3385751"/>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부정당업자제재</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794594" y="349624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1319451" y="3569531"/>
            <a:ext cx="2010812" cy="107722"/>
          </a:xfrm>
          <a:prstGeom prst="rect">
            <a:avLst/>
          </a:prstGeom>
          <a:noFill/>
        </p:spPr>
        <p:txBody>
          <a:bodyPr wrap="square" lIns="0" tIns="0" rIns="0" bIns="0" rtlCol="0">
            <a:spAutoFit/>
          </a:bodyPr>
          <a:lstStyle/>
          <a:p>
            <a:r>
              <a:rPr lang="ko-KR" altLang="en-US" sz="700" dirty="0">
                <a:latin typeface="+mn-ea"/>
              </a:rPr>
              <a:t>부정당업자로 제재 받은 </a:t>
            </a:r>
            <a:r>
              <a:rPr lang="ko-KR" altLang="en-US" sz="700" dirty="0" err="1">
                <a:latin typeface="+mn-ea"/>
              </a:rPr>
              <a:t>총제재기간</a:t>
            </a:r>
            <a:endParaRPr lang="ko-KR" altLang="en-US"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2920743" y="356953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-2.0</a:t>
            </a:r>
          </a:p>
        </p:txBody>
      </p:sp>
      <p:sp>
        <p:nvSpPr>
          <p:cNvPr id="144" name="직사각형 143"/>
          <p:cNvSpPr/>
          <p:nvPr/>
        </p:nvSpPr>
        <p:spPr>
          <a:xfrm>
            <a:off x="719063" y="3730609"/>
            <a:ext cx="1639886" cy="23699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5" name="TextBox 144">
            <a:extLst>
              <a:ext uri="{FF2B5EF4-FFF2-40B4-BE49-F238E27FC236}">
                <a16:creationId xmlns:a16="http://schemas.microsoft.com/office/drawing/2014/main" id="{FFC49AEA-2A8F-250C-A86A-A7751D9706C3}"/>
              </a:ext>
            </a:extLst>
          </p:cNvPr>
          <p:cNvSpPr txBox="1"/>
          <p:nvPr/>
        </p:nvSpPr>
        <p:spPr>
          <a:xfrm>
            <a:off x="806126" y="373061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534168" y="373061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716366" y="373060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718459" y="39453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18459" y="5595314"/>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0" name="TextBox 149">
            <a:extLst>
              <a:ext uri="{FF2B5EF4-FFF2-40B4-BE49-F238E27FC236}">
                <a16:creationId xmlns:a16="http://schemas.microsoft.com/office/drawing/2014/main" id="{FFC49AEA-2A8F-250C-A86A-A7751D9706C3}"/>
              </a:ext>
            </a:extLst>
          </p:cNvPr>
          <p:cNvSpPr txBox="1"/>
          <p:nvPr/>
        </p:nvSpPr>
        <p:spPr>
          <a:xfrm>
            <a:off x="2954538" y="373061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1" name="TextBox 150">
            <a:extLst>
              <a:ext uri="{FF2B5EF4-FFF2-40B4-BE49-F238E27FC236}">
                <a16:creationId xmlns:a16="http://schemas.microsoft.com/office/drawing/2014/main" id="{FFC49AEA-2A8F-250C-A86A-A7751D9706C3}"/>
              </a:ext>
            </a:extLst>
          </p:cNvPr>
          <p:cNvSpPr txBox="1"/>
          <p:nvPr/>
        </p:nvSpPr>
        <p:spPr>
          <a:xfrm>
            <a:off x="819976" y="3985737"/>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2</a:t>
            </a:r>
            <a:r>
              <a:rPr lang="ko-KR" altLang="en-US" dirty="0"/>
              <a:t>년 이내에 부정당업자 제재를 받은 자로서 부정당업자 </a:t>
            </a:r>
            <a:r>
              <a:rPr lang="ko-KR" altLang="en-US" dirty="0" err="1"/>
              <a:t>제재기간</a:t>
            </a:r>
            <a:r>
              <a:rPr lang="ko-KR" altLang="en-US" dirty="0"/>
              <a:t> 종료일이 입찰공고일로부터 </a:t>
            </a:r>
            <a:r>
              <a:rPr lang="en-US" altLang="ko-KR" dirty="0"/>
              <a:t>2</a:t>
            </a:r>
            <a:r>
              <a:rPr lang="ko-KR" altLang="en-US" dirty="0"/>
              <a:t>년 이내에 포함된 전체 부정당업자 제재 건의 총제재기간에 따라</a:t>
            </a:r>
          </a:p>
        </p:txBody>
      </p:sp>
      <p:sp>
        <p:nvSpPr>
          <p:cNvPr id="152" name="TextBox 151">
            <a:extLst>
              <a:ext uri="{FF2B5EF4-FFF2-40B4-BE49-F238E27FC236}">
                <a16:creationId xmlns:a16="http://schemas.microsoft.com/office/drawing/2014/main" id="{FFC49AEA-2A8F-250C-A86A-A7751D9706C3}"/>
              </a:ext>
            </a:extLst>
          </p:cNvPr>
          <p:cNvSpPr txBox="1"/>
          <p:nvPr/>
        </p:nvSpPr>
        <p:spPr>
          <a:xfrm>
            <a:off x="2572062" y="4605124"/>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-2.0</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3290592" y="49690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819976" y="460512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2</a:t>
            </a:r>
            <a:r>
              <a:rPr lang="ko-KR" altLang="en-US" dirty="0"/>
              <a:t>년 이상인 경우</a:t>
            </a:r>
          </a:p>
        </p:txBody>
      </p:sp>
      <p:sp>
        <p:nvSpPr>
          <p:cNvPr id="170" name="TextBox 169">
            <a:extLst>
              <a:ext uri="{FF2B5EF4-FFF2-40B4-BE49-F238E27FC236}">
                <a16:creationId xmlns:a16="http://schemas.microsoft.com/office/drawing/2014/main" id="{FFC49AEA-2A8F-250C-A86A-A7751D9706C3}"/>
              </a:ext>
            </a:extLst>
          </p:cNvPr>
          <p:cNvSpPr txBox="1"/>
          <p:nvPr/>
        </p:nvSpPr>
        <p:spPr>
          <a:xfrm>
            <a:off x="819976" y="4793624"/>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1</a:t>
            </a:r>
            <a:r>
              <a:rPr lang="ko-KR" altLang="en-US" dirty="0"/>
              <a:t>년 이상 ∼ </a:t>
            </a:r>
            <a:r>
              <a:rPr lang="en-US" altLang="ko-KR" dirty="0"/>
              <a:t>2</a:t>
            </a:r>
            <a:r>
              <a:rPr lang="ko-KR" altLang="en-US" dirty="0"/>
              <a:t>년 미만인 경우</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819976" y="5089846"/>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9</a:t>
            </a:r>
            <a:r>
              <a:rPr lang="ko-KR" altLang="en-US" dirty="0"/>
              <a:t>개월 이상 ∼ </a:t>
            </a:r>
            <a:r>
              <a:rPr lang="en-US" altLang="ko-KR" dirty="0"/>
              <a:t>1</a:t>
            </a:r>
            <a:r>
              <a:rPr lang="ko-KR" altLang="en-US" dirty="0"/>
              <a:t>년 미만인 경우</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819976" y="538606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6</a:t>
            </a:r>
            <a:r>
              <a:rPr lang="ko-KR" altLang="en-US" dirty="0"/>
              <a:t>개월 이상 ∼ </a:t>
            </a:r>
            <a:r>
              <a:rPr lang="en-US" altLang="ko-KR" dirty="0"/>
              <a:t>9</a:t>
            </a:r>
            <a:r>
              <a:rPr lang="ko-KR" altLang="en-US" dirty="0"/>
              <a:t> 개월 미만인 경우</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2572062" y="4847485"/>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-1.8</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2572062" y="5143707"/>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2572062" y="5386068"/>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18459" y="45647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5" name="직선 연결선 194">
            <a:extLst>
              <a:ext uri="{FF2B5EF4-FFF2-40B4-BE49-F238E27FC236}">
                <a16:creationId xmlns:a16="http://schemas.microsoft.com/office/drawing/2014/main" id="{E9293055-D5CD-4B9E-7F64-64B2D2CA7A52}"/>
              </a:ext>
            </a:extLst>
          </p:cNvPr>
          <p:cNvCxnSpPr/>
          <p:nvPr/>
        </p:nvCxnSpPr>
        <p:spPr>
          <a:xfrm>
            <a:off x="718459" y="47532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6" name="직선 연결선 195">
            <a:extLst>
              <a:ext uri="{FF2B5EF4-FFF2-40B4-BE49-F238E27FC236}">
                <a16:creationId xmlns:a16="http://schemas.microsoft.com/office/drawing/2014/main" id="{E9293055-D5CD-4B9E-7F64-64B2D2CA7A52}"/>
              </a:ext>
            </a:extLst>
          </p:cNvPr>
          <p:cNvCxnSpPr/>
          <p:nvPr/>
        </p:nvCxnSpPr>
        <p:spPr>
          <a:xfrm>
            <a:off x="718459" y="504945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18459" y="534567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TextBox 214">
            <a:extLst>
              <a:ext uri="{FF2B5EF4-FFF2-40B4-BE49-F238E27FC236}">
                <a16:creationId xmlns:a16="http://schemas.microsoft.com/office/drawing/2014/main" id="{FFC49AEA-2A8F-250C-A86A-A7751D9706C3}"/>
              </a:ext>
            </a:extLst>
          </p:cNvPr>
          <p:cNvSpPr txBox="1"/>
          <p:nvPr/>
        </p:nvSpPr>
        <p:spPr>
          <a:xfrm>
            <a:off x="819976" y="5635702"/>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3</a:t>
            </a:r>
            <a:r>
              <a:rPr lang="ko-KR" altLang="en-US" dirty="0"/>
              <a:t>개월 이상 ∼ </a:t>
            </a:r>
            <a:r>
              <a:rPr lang="en-US" altLang="ko-KR" dirty="0"/>
              <a:t>6</a:t>
            </a:r>
            <a:r>
              <a:rPr lang="ko-KR" altLang="en-US" dirty="0"/>
              <a:t> 개월 미만인 경우</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819976" y="593192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3</a:t>
            </a:r>
            <a:r>
              <a:rPr lang="ko-KR" altLang="en-US" dirty="0"/>
              <a:t>개월 미만인 경우</a:t>
            </a:r>
          </a:p>
        </p:txBody>
      </p:sp>
      <p:sp>
        <p:nvSpPr>
          <p:cNvPr id="223" name="TextBox 222">
            <a:extLst>
              <a:ext uri="{FF2B5EF4-FFF2-40B4-BE49-F238E27FC236}">
                <a16:creationId xmlns:a16="http://schemas.microsoft.com/office/drawing/2014/main" id="{FFC49AEA-2A8F-250C-A86A-A7751D9706C3}"/>
              </a:ext>
            </a:extLst>
          </p:cNvPr>
          <p:cNvSpPr txBox="1"/>
          <p:nvPr/>
        </p:nvSpPr>
        <p:spPr>
          <a:xfrm>
            <a:off x="2572062" y="5689563"/>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2572062" y="5931924"/>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-0.3</a:t>
            </a: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718459" y="58915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6" name="직선 연결선 225">
            <a:extLst>
              <a:ext uri="{FF2B5EF4-FFF2-40B4-BE49-F238E27FC236}">
                <a16:creationId xmlns:a16="http://schemas.microsoft.com/office/drawing/2014/main" id="{E9293055-D5CD-4B9E-7F64-64B2D2CA7A52}"/>
              </a:ext>
            </a:extLst>
          </p:cNvPr>
          <p:cNvCxnSpPr/>
          <p:nvPr/>
        </p:nvCxnSpPr>
        <p:spPr>
          <a:xfrm>
            <a:off x="718459" y="61005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0" name="TextBox 249">
            <a:extLst>
              <a:ext uri="{FF2B5EF4-FFF2-40B4-BE49-F238E27FC236}">
                <a16:creationId xmlns:a16="http://schemas.microsoft.com/office/drawing/2014/main" id="{FFC49AEA-2A8F-250C-A86A-A7751D9706C3}"/>
              </a:ext>
            </a:extLst>
          </p:cNvPr>
          <p:cNvSpPr txBox="1"/>
          <p:nvPr/>
        </p:nvSpPr>
        <p:spPr>
          <a:xfrm>
            <a:off x="3914929" y="150490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기타</a:t>
            </a:r>
          </a:p>
        </p:txBody>
      </p:sp>
      <p:sp>
        <p:nvSpPr>
          <p:cNvPr id="277" name="TextBox 276">
            <a:extLst>
              <a:ext uri="{FF2B5EF4-FFF2-40B4-BE49-F238E27FC236}">
                <a16:creationId xmlns:a16="http://schemas.microsoft.com/office/drawing/2014/main" id="{FFC49AEA-2A8F-250C-A86A-A7751D9706C3}"/>
              </a:ext>
            </a:extLst>
          </p:cNvPr>
          <p:cNvSpPr txBox="1"/>
          <p:nvPr/>
        </p:nvSpPr>
        <p:spPr>
          <a:xfrm>
            <a:off x="3914929" y="170514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82" name="TextBox 281">
            <a:extLst>
              <a:ext uri="{FF2B5EF4-FFF2-40B4-BE49-F238E27FC236}">
                <a16:creationId xmlns:a16="http://schemas.microsoft.com/office/drawing/2014/main" id="{FFC49AEA-2A8F-250C-A86A-A7751D9706C3}"/>
              </a:ext>
            </a:extLst>
          </p:cNvPr>
          <p:cNvSpPr txBox="1"/>
          <p:nvPr/>
        </p:nvSpPr>
        <p:spPr>
          <a:xfrm>
            <a:off x="4439786" y="1778433"/>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고용창출</a:t>
            </a:r>
          </a:p>
        </p:txBody>
      </p:sp>
      <p:sp>
        <p:nvSpPr>
          <p:cNvPr id="283" name="TextBox 282">
            <a:extLst>
              <a:ext uri="{FF2B5EF4-FFF2-40B4-BE49-F238E27FC236}">
                <a16:creationId xmlns:a16="http://schemas.microsoft.com/office/drawing/2014/main" id="{FFC49AEA-2A8F-250C-A86A-A7751D9706C3}"/>
              </a:ext>
            </a:extLst>
          </p:cNvPr>
          <p:cNvSpPr txBox="1"/>
          <p:nvPr/>
        </p:nvSpPr>
        <p:spPr>
          <a:xfrm>
            <a:off x="3914929" y="188892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84" name="TextBox 283">
            <a:extLst>
              <a:ext uri="{FF2B5EF4-FFF2-40B4-BE49-F238E27FC236}">
                <a16:creationId xmlns:a16="http://schemas.microsoft.com/office/drawing/2014/main" id="{FFC49AEA-2A8F-250C-A86A-A7751D9706C3}"/>
              </a:ext>
            </a:extLst>
          </p:cNvPr>
          <p:cNvSpPr txBox="1"/>
          <p:nvPr/>
        </p:nvSpPr>
        <p:spPr>
          <a:xfrm>
            <a:off x="4439786" y="1962213"/>
            <a:ext cx="2010812" cy="107722"/>
          </a:xfrm>
          <a:prstGeom prst="rect">
            <a:avLst/>
          </a:prstGeom>
          <a:noFill/>
        </p:spPr>
        <p:txBody>
          <a:bodyPr wrap="square" lIns="0" tIns="0" rIns="0" bIns="0" rtlCol="0">
            <a:spAutoFit/>
          </a:bodyPr>
          <a:lstStyle/>
          <a:p>
            <a:r>
              <a:rPr lang="ko-KR" altLang="en-US" sz="700" dirty="0">
                <a:latin typeface="+mn-ea"/>
              </a:rPr>
              <a:t>고용창출</a:t>
            </a:r>
          </a:p>
        </p:txBody>
      </p:sp>
      <p:sp>
        <p:nvSpPr>
          <p:cNvPr id="285" name="TextBox 284">
            <a:extLst>
              <a:ext uri="{FF2B5EF4-FFF2-40B4-BE49-F238E27FC236}">
                <a16:creationId xmlns:a16="http://schemas.microsoft.com/office/drawing/2014/main" id="{FFC49AEA-2A8F-250C-A86A-A7751D9706C3}"/>
              </a:ext>
            </a:extLst>
          </p:cNvPr>
          <p:cNvSpPr txBox="1"/>
          <p:nvPr/>
        </p:nvSpPr>
        <p:spPr>
          <a:xfrm>
            <a:off x="6041078" y="1962213"/>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86" name="직사각형 285"/>
          <p:cNvSpPr/>
          <p:nvPr/>
        </p:nvSpPr>
        <p:spPr>
          <a:xfrm>
            <a:off x="3839398" y="2123291"/>
            <a:ext cx="1639886" cy="170388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7" name="TextBox 286">
            <a:extLst>
              <a:ext uri="{FF2B5EF4-FFF2-40B4-BE49-F238E27FC236}">
                <a16:creationId xmlns:a16="http://schemas.microsoft.com/office/drawing/2014/main" id="{FFC49AEA-2A8F-250C-A86A-A7751D9706C3}"/>
              </a:ext>
            </a:extLst>
          </p:cNvPr>
          <p:cNvSpPr txBox="1"/>
          <p:nvPr/>
        </p:nvSpPr>
        <p:spPr>
          <a:xfrm>
            <a:off x="3926461" y="212329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95" name="TextBox 294">
            <a:extLst>
              <a:ext uri="{FF2B5EF4-FFF2-40B4-BE49-F238E27FC236}">
                <a16:creationId xmlns:a16="http://schemas.microsoft.com/office/drawing/2014/main" id="{FFC49AEA-2A8F-250C-A86A-A7751D9706C3}"/>
              </a:ext>
            </a:extLst>
          </p:cNvPr>
          <p:cNvSpPr txBox="1"/>
          <p:nvPr/>
        </p:nvSpPr>
        <p:spPr>
          <a:xfrm>
            <a:off x="5654503" y="212329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98" name="직선 연결선 297">
            <a:extLst>
              <a:ext uri="{FF2B5EF4-FFF2-40B4-BE49-F238E27FC236}">
                <a16:creationId xmlns:a16="http://schemas.microsoft.com/office/drawing/2014/main" id="{E9293055-D5CD-4B9E-7F64-64B2D2CA7A52}"/>
              </a:ext>
            </a:extLst>
          </p:cNvPr>
          <p:cNvCxnSpPr/>
          <p:nvPr/>
        </p:nvCxnSpPr>
        <p:spPr>
          <a:xfrm>
            <a:off x="3836701" y="212329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9" name="직선 연결선 298">
            <a:extLst>
              <a:ext uri="{FF2B5EF4-FFF2-40B4-BE49-F238E27FC236}">
                <a16:creationId xmlns:a16="http://schemas.microsoft.com/office/drawing/2014/main" id="{E9293055-D5CD-4B9E-7F64-64B2D2CA7A52}"/>
              </a:ext>
            </a:extLst>
          </p:cNvPr>
          <p:cNvCxnSpPr/>
          <p:nvPr/>
        </p:nvCxnSpPr>
        <p:spPr>
          <a:xfrm>
            <a:off x="3838794" y="2338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0" name="직선 연결선 299">
            <a:extLst>
              <a:ext uri="{FF2B5EF4-FFF2-40B4-BE49-F238E27FC236}">
                <a16:creationId xmlns:a16="http://schemas.microsoft.com/office/drawing/2014/main" id="{E9293055-D5CD-4B9E-7F64-64B2D2CA7A52}"/>
              </a:ext>
            </a:extLst>
          </p:cNvPr>
          <p:cNvCxnSpPr/>
          <p:nvPr/>
        </p:nvCxnSpPr>
        <p:spPr>
          <a:xfrm>
            <a:off x="3838794" y="38271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1" name="TextBox 300">
            <a:extLst>
              <a:ext uri="{FF2B5EF4-FFF2-40B4-BE49-F238E27FC236}">
                <a16:creationId xmlns:a16="http://schemas.microsoft.com/office/drawing/2014/main" id="{FFC49AEA-2A8F-250C-A86A-A7751D9706C3}"/>
              </a:ext>
            </a:extLst>
          </p:cNvPr>
          <p:cNvSpPr txBox="1"/>
          <p:nvPr/>
        </p:nvSpPr>
        <p:spPr>
          <a:xfrm>
            <a:off x="6074873" y="212329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02" name="TextBox 301">
            <a:extLst>
              <a:ext uri="{FF2B5EF4-FFF2-40B4-BE49-F238E27FC236}">
                <a16:creationId xmlns:a16="http://schemas.microsoft.com/office/drawing/2014/main" id="{FFC49AEA-2A8F-250C-A86A-A7751D9706C3}"/>
              </a:ext>
            </a:extLst>
          </p:cNvPr>
          <p:cNvSpPr txBox="1"/>
          <p:nvPr/>
        </p:nvSpPr>
        <p:spPr>
          <a:xfrm>
            <a:off x="3940311" y="2386808"/>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신규채용 우수기업</a:t>
            </a:r>
            <a:r>
              <a:rPr lang="en-US" altLang="ko-KR" dirty="0"/>
              <a:t>(</a:t>
            </a:r>
            <a:r>
              <a:rPr lang="ko-KR" altLang="en-US" dirty="0"/>
              <a:t>설립 </a:t>
            </a:r>
            <a:r>
              <a:rPr lang="en-US" altLang="ko-KR" dirty="0"/>
              <a:t>18</a:t>
            </a:r>
            <a:r>
              <a:rPr lang="ko-KR" altLang="en-US" dirty="0" err="1"/>
              <a:t>개월이상</a:t>
            </a:r>
            <a:r>
              <a:rPr lang="en-US" altLang="ko-KR" dirty="0"/>
              <a:t>)</a:t>
            </a:r>
          </a:p>
          <a:p>
            <a:r>
              <a:rPr lang="en-US" altLang="ko-KR" dirty="0"/>
              <a:t>-</a:t>
            </a:r>
            <a:r>
              <a:rPr lang="ko-KR" altLang="en-US" dirty="0"/>
              <a:t>전년도 </a:t>
            </a:r>
            <a:r>
              <a:rPr lang="en-US" altLang="ko-KR" dirty="0"/>
              <a:t>6</a:t>
            </a:r>
            <a:r>
              <a:rPr lang="ko-KR" altLang="en-US" dirty="0"/>
              <a:t>개월간 평균고용인원 대비 해당연도 최근 </a:t>
            </a:r>
            <a:r>
              <a:rPr lang="en-US" altLang="ko-KR" dirty="0"/>
              <a:t>6</a:t>
            </a:r>
            <a:r>
              <a:rPr lang="ko-KR" altLang="en-US" dirty="0"/>
              <a:t>개월간 평균고용인원 증가율이 기업규모에 따라 다음의 증가율이 이상인 기업</a:t>
            </a:r>
          </a:p>
          <a:p>
            <a:r>
              <a:rPr lang="en-US" altLang="ko-KR" dirty="0"/>
              <a:t>- </a:t>
            </a:r>
          </a:p>
          <a:p>
            <a:r>
              <a:rPr lang="en-US" altLang="ko-KR" dirty="0"/>
              <a:t>- </a:t>
            </a:r>
          </a:p>
          <a:p>
            <a:r>
              <a:rPr lang="en-US" altLang="ko-KR" dirty="0"/>
              <a:t>- </a:t>
            </a:r>
            <a:endParaRPr lang="ko-KR" altLang="en-US" dirty="0"/>
          </a:p>
        </p:txBody>
      </p:sp>
      <p:sp>
        <p:nvSpPr>
          <p:cNvPr id="303" name="TextBox 302">
            <a:extLst>
              <a:ext uri="{FF2B5EF4-FFF2-40B4-BE49-F238E27FC236}">
                <a16:creationId xmlns:a16="http://schemas.microsoft.com/office/drawing/2014/main" id="{FFC49AEA-2A8F-250C-A86A-A7751D9706C3}"/>
              </a:ext>
            </a:extLst>
          </p:cNvPr>
          <p:cNvSpPr txBox="1"/>
          <p:nvPr/>
        </p:nvSpPr>
        <p:spPr>
          <a:xfrm>
            <a:off x="5729267" y="3033139"/>
            <a:ext cx="118622"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a:p>
            <a:r>
              <a:rPr lang="en-US" altLang="ko-KR" dirty="0"/>
              <a:t>0.8</a:t>
            </a:r>
          </a:p>
          <a:p>
            <a:r>
              <a:rPr lang="en-US" altLang="ko-KR" dirty="0"/>
              <a:t>0.6</a:t>
            </a:r>
          </a:p>
        </p:txBody>
      </p:sp>
      <p:sp>
        <p:nvSpPr>
          <p:cNvPr id="304" name="TextBox 303">
            <a:extLst>
              <a:ext uri="{FF2B5EF4-FFF2-40B4-BE49-F238E27FC236}">
                <a16:creationId xmlns:a16="http://schemas.microsoft.com/office/drawing/2014/main" id="{FFC49AEA-2A8F-250C-A86A-A7751D9706C3}"/>
              </a:ext>
            </a:extLst>
          </p:cNvPr>
          <p:cNvSpPr txBox="1"/>
          <p:nvPr/>
        </p:nvSpPr>
        <p:spPr>
          <a:xfrm>
            <a:off x="6410927" y="302874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3940311" y="3453860"/>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a:t>
            </a:r>
            <a:r>
              <a:rPr lang="ko-KR" altLang="en-US" dirty="0" err="1"/>
              <a:t>신설기업</a:t>
            </a:r>
            <a:r>
              <a:rPr lang="en-US" altLang="ko-KR" dirty="0"/>
              <a:t>(</a:t>
            </a:r>
            <a:r>
              <a:rPr lang="ko-KR" altLang="en-US" dirty="0"/>
              <a:t>설립 </a:t>
            </a:r>
            <a:r>
              <a:rPr lang="en-US" altLang="ko-KR" dirty="0"/>
              <a:t>18</a:t>
            </a:r>
            <a:r>
              <a:rPr lang="ko-KR" altLang="en-US" dirty="0" err="1"/>
              <a:t>개월미만</a:t>
            </a:r>
            <a:r>
              <a:rPr lang="en-US" altLang="ko-KR" dirty="0"/>
              <a:t>)</a:t>
            </a:r>
          </a:p>
          <a:p>
            <a:r>
              <a:rPr lang="en-US" altLang="ko-KR" dirty="0"/>
              <a:t>-</a:t>
            </a:r>
            <a:r>
              <a:rPr lang="ko-KR" altLang="en-US" dirty="0"/>
              <a:t>총 고용인원</a:t>
            </a:r>
            <a:r>
              <a:rPr lang="en-US" altLang="ko-KR" dirty="0"/>
              <a:t>(</a:t>
            </a:r>
            <a:r>
              <a:rPr lang="ko-KR" altLang="en-US" dirty="0"/>
              <a:t>대표자 제외</a:t>
            </a:r>
            <a:r>
              <a:rPr lang="en-US" altLang="ko-KR" dirty="0"/>
              <a:t>)6</a:t>
            </a:r>
            <a:r>
              <a:rPr lang="ko-KR" altLang="en-US" dirty="0"/>
              <a:t>인 이상</a:t>
            </a:r>
          </a:p>
          <a:p>
            <a:r>
              <a:rPr lang="en-US" altLang="ko-KR" dirty="0"/>
              <a:t>-</a:t>
            </a:r>
            <a:r>
              <a:rPr lang="ko-KR" altLang="en-US" dirty="0"/>
              <a:t>총 고용인원</a:t>
            </a:r>
            <a:r>
              <a:rPr lang="en-US" altLang="ko-KR" dirty="0"/>
              <a:t>(</a:t>
            </a:r>
            <a:r>
              <a:rPr lang="ko-KR" altLang="en-US" dirty="0"/>
              <a:t>대표자 제외</a:t>
            </a:r>
            <a:r>
              <a:rPr lang="en-US" altLang="ko-KR" dirty="0"/>
              <a:t>)3</a:t>
            </a:r>
            <a:r>
              <a:rPr lang="ko-KR" altLang="en-US" dirty="0"/>
              <a:t>인 </a:t>
            </a:r>
            <a:r>
              <a:rPr lang="en-US" altLang="ko-KR" dirty="0"/>
              <a:t>~ 5</a:t>
            </a:r>
            <a:r>
              <a:rPr lang="ko-KR" altLang="en-US" dirty="0"/>
              <a:t>인</a:t>
            </a: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43649" y="340508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7" name="TextBox 306">
            <a:extLst>
              <a:ext uri="{FF2B5EF4-FFF2-40B4-BE49-F238E27FC236}">
                <a16:creationId xmlns:a16="http://schemas.microsoft.com/office/drawing/2014/main" id="{FFC49AEA-2A8F-250C-A86A-A7751D9706C3}"/>
              </a:ext>
            </a:extLst>
          </p:cNvPr>
          <p:cNvSpPr txBox="1"/>
          <p:nvPr/>
        </p:nvSpPr>
        <p:spPr>
          <a:xfrm>
            <a:off x="5729267" y="3561581"/>
            <a:ext cx="118622"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a:p>
            <a:r>
              <a:rPr lang="en-US" altLang="ko-KR" dirty="0"/>
              <a:t>0.4</a:t>
            </a:r>
          </a:p>
        </p:txBody>
      </p:sp>
      <p:sp>
        <p:nvSpPr>
          <p:cNvPr id="308" name="TextBox 307">
            <a:extLst>
              <a:ext uri="{FF2B5EF4-FFF2-40B4-BE49-F238E27FC236}">
                <a16:creationId xmlns:a16="http://schemas.microsoft.com/office/drawing/2014/main" id="{FFC49AEA-2A8F-250C-A86A-A7751D9706C3}"/>
              </a:ext>
            </a:extLst>
          </p:cNvPr>
          <p:cNvSpPr txBox="1"/>
          <p:nvPr/>
        </p:nvSpPr>
        <p:spPr>
          <a:xfrm>
            <a:off x="3914929" y="386007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309" name="TextBox 308">
            <a:extLst>
              <a:ext uri="{FF2B5EF4-FFF2-40B4-BE49-F238E27FC236}">
                <a16:creationId xmlns:a16="http://schemas.microsoft.com/office/drawing/2014/main" id="{FFC49AEA-2A8F-250C-A86A-A7751D9706C3}"/>
              </a:ext>
            </a:extLst>
          </p:cNvPr>
          <p:cNvSpPr txBox="1"/>
          <p:nvPr/>
        </p:nvSpPr>
        <p:spPr>
          <a:xfrm>
            <a:off x="4439786" y="3933362"/>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혁신적 중소기업</a:t>
            </a:r>
          </a:p>
        </p:txBody>
      </p:sp>
      <p:sp>
        <p:nvSpPr>
          <p:cNvPr id="310" name="TextBox 309">
            <a:extLst>
              <a:ext uri="{FF2B5EF4-FFF2-40B4-BE49-F238E27FC236}">
                <a16:creationId xmlns:a16="http://schemas.microsoft.com/office/drawing/2014/main" id="{FFC49AEA-2A8F-250C-A86A-A7751D9706C3}"/>
              </a:ext>
            </a:extLst>
          </p:cNvPr>
          <p:cNvSpPr txBox="1"/>
          <p:nvPr/>
        </p:nvSpPr>
        <p:spPr>
          <a:xfrm>
            <a:off x="3914929" y="404385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311" name="TextBox 310">
            <a:extLst>
              <a:ext uri="{FF2B5EF4-FFF2-40B4-BE49-F238E27FC236}">
                <a16:creationId xmlns:a16="http://schemas.microsoft.com/office/drawing/2014/main" id="{FFC49AEA-2A8F-250C-A86A-A7751D9706C3}"/>
              </a:ext>
            </a:extLst>
          </p:cNvPr>
          <p:cNvSpPr txBox="1"/>
          <p:nvPr/>
        </p:nvSpPr>
        <p:spPr>
          <a:xfrm>
            <a:off x="4439786" y="4117142"/>
            <a:ext cx="2010812" cy="107722"/>
          </a:xfrm>
          <a:prstGeom prst="rect">
            <a:avLst/>
          </a:prstGeom>
          <a:noFill/>
        </p:spPr>
        <p:txBody>
          <a:bodyPr wrap="square" lIns="0" tIns="0" rIns="0" bIns="0" rtlCol="0">
            <a:spAutoFit/>
          </a:bodyPr>
          <a:lstStyle/>
          <a:p>
            <a:r>
              <a:rPr lang="ko-KR" altLang="en-US" sz="700" dirty="0">
                <a:latin typeface="+mn-ea"/>
              </a:rPr>
              <a:t>혁신적 중소기업</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6041078" y="411714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0.8</a:t>
            </a:r>
          </a:p>
        </p:txBody>
      </p:sp>
      <p:sp>
        <p:nvSpPr>
          <p:cNvPr id="313" name="직사각형 312"/>
          <p:cNvSpPr/>
          <p:nvPr/>
        </p:nvSpPr>
        <p:spPr>
          <a:xfrm>
            <a:off x="3839398" y="4278220"/>
            <a:ext cx="1639886" cy="97320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4" name="TextBox 313">
            <a:extLst>
              <a:ext uri="{FF2B5EF4-FFF2-40B4-BE49-F238E27FC236}">
                <a16:creationId xmlns:a16="http://schemas.microsoft.com/office/drawing/2014/main" id="{FFC49AEA-2A8F-250C-A86A-A7751D9706C3}"/>
              </a:ext>
            </a:extLst>
          </p:cNvPr>
          <p:cNvSpPr txBox="1"/>
          <p:nvPr/>
        </p:nvSpPr>
        <p:spPr>
          <a:xfrm>
            <a:off x="3926461" y="427822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315" name="TextBox 314">
            <a:extLst>
              <a:ext uri="{FF2B5EF4-FFF2-40B4-BE49-F238E27FC236}">
                <a16:creationId xmlns:a16="http://schemas.microsoft.com/office/drawing/2014/main" id="{FFC49AEA-2A8F-250C-A86A-A7751D9706C3}"/>
              </a:ext>
            </a:extLst>
          </p:cNvPr>
          <p:cNvSpPr txBox="1"/>
          <p:nvPr/>
        </p:nvSpPr>
        <p:spPr>
          <a:xfrm>
            <a:off x="5654503" y="427822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316" name="직선 연결선 315">
            <a:extLst>
              <a:ext uri="{FF2B5EF4-FFF2-40B4-BE49-F238E27FC236}">
                <a16:creationId xmlns:a16="http://schemas.microsoft.com/office/drawing/2014/main" id="{E9293055-D5CD-4B9E-7F64-64B2D2CA7A52}"/>
              </a:ext>
            </a:extLst>
          </p:cNvPr>
          <p:cNvCxnSpPr/>
          <p:nvPr/>
        </p:nvCxnSpPr>
        <p:spPr>
          <a:xfrm>
            <a:off x="3836701" y="4278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7" name="직선 연결선 316">
            <a:extLst>
              <a:ext uri="{FF2B5EF4-FFF2-40B4-BE49-F238E27FC236}">
                <a16:creationId xmlns:a16="http://schemas.microsoft.com/office/drawing/2014/main" id="{E9293055-D5CD-4B9E-7F64-64B2D2CA7A52}"/>
              </a:ext>
            </a:extLst>
          </p:cNvPr>
          <p:cNvCxnSpPr/>
          <p:nvPr/>
        </p:nvCxnSpPr>
        <p:spPr>
          <a:xfrm>
            <a:off x="3838794" y="44929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8" name="직선 연결선 317">
            <a:extLst>
              <a:ext uri="{FF2B5EF4-FFF2-40B4-BE49-F238E27FC236}">
                <a16:creationId xmlns:a16="http://schemas.microsoft.com/office/drawing/2014/main" id="{E9293055-D5CD-4B9E-7F64-64B2D2CA7A52}"/>
              </a:ext>
            </a:extLst>
          </p:cNvPr>
          <p:cNvCxnSpPr/>
          <p:nvPr/>
        </p:nvCxnSpPr>
        <p:spPr>
          <a:xfrm>
            <a:off x="3838794" y="52514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9" name="TextBox 318">
            <a:extLst>
              <a:ext uri="{FF2B5EF4-FFF2-40B4-BE49-F238E27FC236}">
                <a16:creationId xmlns:a16="http://schemas.microsoft.com/office/drawing/2014/main" id="{FFC49AEA-2A8F-250C-A86A-A7751D9706C3}"/>
              </a:ext>
            </a:extLst>
          </p:cNvPr>
          <p:cNvSpPr txBox="1"/>
          <p:nvPr/>
        </p:nvSpPr>
        <p:spPr>
          <a:xfrm>
            <a:off x="6074873" y="427822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20" name="TextBox 319">
            <a:extLst>
              <a:ext uri="{FF2B5EF4-FFF2-40B4-BE49-F238E27FC236}">
                <a16:creationId xmlns:a16="http://schemas.microsoft.com/office/drawing/2014/main" id="{FFC49AEA-2A8F-250C-A86A-A7751D9706C3}"/>
              </a:ext>
            </a:extLst>
          </p:cNvPr>
          <p:cNvSpPr txBox="1"/>
          <p:nvPr/>
        </p:nvSpPr>
        <p:spPr>
          <a:xfrm>
            <a:off x="3940311" y="4541737"/>
            <a:ext cx="1480199" cy="646331"/>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중소벤처기업부장관</a:t>
            </a:r>
            <a:r>
              <a:rPr lang="en-US" altLang="ko-KR" dirty="0"/>
              <a:t>(</a:t>
            </a:r>
            <a:r>
              <a:rPr lang="ko-KR" altLang="en-US" dirty="0"/>
              <a:t>또는 </a:t>
            </a:r>
            <a:r>
              <a:rPr lang="ko-KR" altLang="en-US" dirty="0" err="1"/>
              <a:t>수임권자</a:t>
            </a:r>
            <a:r>
              <a:rPr lang="en-US" altLang="ko-KR" dirty="0"/>
              <a:t>)</a:t>
            </a:r>
            <a:r>
              <a:rPr lang="ko-KR" altLang="en-US" dirty="0"/>
              <a:t>으로부터 </a:t>
            </a:r>
            <a:r>
              <a:rPr lang="ko-KR" altLang="en-US" dirty="0" err="1"/>
              <a:t>혁신형</a:t>
            </a:r>
            <a:r>
              <a:rPr lang="en-US" altLang="ko-KR" dirty="0"/>
              <a:t>(</a:t>
            </a:r>
            <a:r>
              <a:rPr lang="ko-KR" altLang="en-US" dirty="0"/>
              <a:t>벤처</a:t>
            </a:r>
            <a:r>
              <a:rPr lang="en-US" altLang="ko-KR" dirty="0"/>
              <a:t>, </a:t>
            </a:r>
            <a:r>
              <a:rPr lang="ko-KR" altLang="en-US" dirty="0" err="1"/>
              <a:t>기술혁신형</a:t>
            </a:r>
            <a:r>
              <a:rPr lang="en-US" altLang="ko-KR" dirty="0"/>
              <a:t>, </a:t>
            </a:r>
            <a:r>
              <a:rPr lang="ko-KR" altLang="en-US" dirty="0" err="1"/>
              <a:t>경영혁신형</a:t>
            </a:r>
            <a:r>
              <a:rPr lang="en-US" altLang="ko-KR" dirty="0"/>
              <a:t>, </a:t>
            </a:r>
            <a:r>
              <a:rPr lang="ko-KR" altLang="en-US" dirty="0"/>
              <a:t>우수그린비즈</a:t>
            </a:r>
            <a:r>
              <a:rPr lang="en-US" altLang="ko-KR" dirty="0"/>
              <a:t>) </a:t>
            </a:r>
            <a:r>
              <a:rPr lang="ko-KR" altLang="en-US" dirty="0"/>
              <a:t>중소기업으로 </a:t>
            </a:r>
            <a:r>
              <a:rPr lang="ko-KR" altLang="en-US" dirty="0" err="1"/>
              <a:t>지정받은</a:t>
            </a:r>
            <a:r>
              <a:rPr lang="ko-KR" altLang="en-US" dirty="0"/>
              <a:t> 자로서</a:t>
            </a:r>
          </a:p>
          <a:p>
            <a:r>
              <a:rPr lang="en-US" altLang="ko-KR" dirty="0"/>
              <a:t>A. </a:t>
            </a:r>
            <a:r>
              <a:rPr lang="ko-KR" altLang="en-US" dirty="0" err="1"/>
              <a:t>혁신형기업이면서</a:t>
            </a:r>
            <a:r>
              <a:rPr lang="ko-KR" altLang="en-US" dirty="0"/>
              <a:t> 제조기업</a:t>
            </a:r>
          </a:p>
          <a:p>
            <a:r>
              <a:rPr lang="en-US" altLang="ko-KR" dirty="0"/>
              <a:t>B. </a:t>
            </a:r>
            <a:r>
              <a:rPr lang="ko-KR" altLang="en-US" dirty="0" err="1"/>
              <a:t>혁신형기업</a:t>
            </a:r>
            <a:endParaRPr lang="ko-KR" altLang="en-US" dirty="0"/>
          </a:p>
        </p:txBody>
      </p:sp>
      <p:sp>
        <p:nvSpPr>
          <p:cNvPr id="321" name="TextBox 320">
            <a:extLst>
              <a:ext uri="{FF2B5EF4-FFF2-40B4-BE49-F238E27FC236}">
                <a16:creationId xmlns:a16="http://schemas.microsoft.com/office/drawing/2014/main" id="{FFC49AEA-2A8F-250C-A86A-A7751D9706C3}"/>
              </a:ext>
            </a:extLst>
          </p:cNvPr>
          <p:cNvSpPr txBox="1"/>
          <p:nvPr/>
        </p:nvSpPr>
        <p:spPr>
          <a:xfrm>
            <a:off x="5729267" y="4972624"/>
            <a:ext cx="118622"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0.8</a:t>
            </a:r>
          </a:p>
          <a:p>
            <a:r>
              <a:rPr lang="en-US" altLang="ko-KR" dirty="0"/>
              <a:t>0.6</a:t>
            </a:r>
          </a:p>
        </p:txBody>
      </p:sp>
      <p:sp>
        <p:nvSpPr>
          <p:cNvPr id="322" name="TextBox 321">
            <a:extLst>
              <a:ext uri="{FF2B5EF4-FFF2-40B4-BE49-F238E27FC236}">
                <a16:creationId xmlns:a16="http://schemas.microsoft.com/office/drawing/2014/main" id="{FFC49AEA-2A8F-250C-A86A-A7751D9706C3}"/>
              </a:ext>
            </a:extLst>
          </p:cNvPr>
          <p:cNvSpPr txBox="1"/>
          <p:nvPr/>
        </p:nvSpPr>
        <p:spPr>
          <a:xfrm>
            <a:off x="6410927" y="481104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3" name="타원 102">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742573563"/>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215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억원미만물품제조</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억원미만물품제조</a:t>
            </a:r>
            <a:r>
              <a:rPr lang="en-US" altLang="ko-KR" dirty="0"/>
              <a:t>2018</a:t>
            </a:r>
            <a:r>
              <a:rPr lang="ko-KR" altLang="en-US" dirty="0"/>
              <a:t>년 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817322"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794594" y="149115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04" name="TextBox 103">
            <a:extLst>
              <a:ext uri="{FF2B5EF4-FFF2-40B4-BE49-F238E27FC236}">
                <a16:creationId xmlns:a16="http://schemas.microsoft.com/office/drawing/2014/main" id="{FFC49AEA-2A8F-250C-A86A-A7751D9706C3}"/>
              </a:ext>
            </a:extLst>
          </p:cNvPr>
          <p:cNvSpPr txBox="1"/>
          <p:nvPr/>
        </p:nvSpPr>
        <p:spPr>
          <a:xfrm>
            <a:off x="1319451" y="1564445"/>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장애인기업</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794594" y="167493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1319451" y="1748225"/>
            <a:ext cx="2010812" cy="107722"/>
          </a:xfrm>
          <a:prstGeom prst="rect">
            <a:avLst/>
          </a:prstGeom>
          <a:noFill/>
        </p:spPr>
        <p:txBody>
          <a:bodyPr wrap="square" lIns="0" tIns="0" rIns="0" bIns="0" rtlCol="0">
            <a:spAutoFit/>
          </a:bodyPr>
          <a:lstStyle/>
          <a:p>
            <a:r>
              <a:rPr lang="ko-KR" altLang="en-US" sz="700" dirty="0">
                <a:latin typeface="+mn-ea"/>
              </a:rPr>
              <a:t>혁신적 중소기업</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2920743" y="174822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08" name="직사각형 107"/>
          <p:cNvSpPr/>
          <p:nvPr/>
        </p:nvSpPr>
        <p:spPr>
          <a:xfrm>
            <a:off x="719063" y="1909303"/>
            <a:ext cx="1639886" cy="15475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9" name="TextBox 108">
            <a:extLst>
              <a:ext uri="{FF2B5EF4-FFF2-40B4-BE49-F238E27FC236}">
                <a16:creationId xmlns:a16="http://schemas.microsoft.com/office/drawing/2014/main" id="{FFC49AEA-2A8F-250C-A86A-A7751D9706C3}"/>
              </a:ext>
            </a:extLst>
          </p:cNvPr>
          <p:cNvSpPr txBox="1"/>
          <p:nvPr/>
        </p:nvSpPr>
        <p:spPr>
          <a:xfrm>
            <a:off x="806126" y="190930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2534168" y="190930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716366" y="19093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18459" y="21240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18459" y="34595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2954538" y="190930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819976" y="216709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장애인 고용촉진 및 직업재활법에 따른 장애인 고용우수사업주 또는 장애인 표준사업장</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608932" y="2297112"/>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3290592" y="273794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718459" y="253331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819976" y="257636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장애인기업활동 촉진법에서 정한 기업으로서 중소벤처기업부 장관이 확인한 장애인 기업</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2608932" y="273458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819976" y="2985632"/>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장애인고용 우수기업 </a:t>
            </a:r>
            <a:r>
              <a:rPr lang="en-US" altLang="ko-KR" dirty="0"/>
              <a:t>- </a:t>
            </a:r>
            <a:r>
              <a:rPr lang="ko-KR" altLang="en-US" dirty="0"/>
              <a:t>최근 </a:t>
            </a:r>
            <a:r>
              <a:rPr lang="en-US" altLang="ko-KR" dirty="0"/>
              <a:t>3</a:t>
            </a:r>
            <a:r>
              <a:rPr lang="ko-KR" altLang="en-US" dirty="0"/>
              <a:t>개월 평균 장애인 고용률이 </a:t>
            </a:r>
            <a:r>
              <a:rPr lang="en-US" altLang="ko-KR" dirty="0"/>
              <a:t>3%</a:t>
            </a:r>
            <a:r>
              <a:rPr lang="ko-KR" altLang="en-US" dirty="0" err="1"/>
              <a:t>이상임서</a:t>
            </a:r>
            <a:r>
              <a:rPr lang="ko-KR" altLang="en-US" dirty="0"/>
              <a:t> 최근 </a:t>
            </a:r>
            <a:r>
              <a:rPr lang="en-US" altLang="ko-KR" dirty="0"/>
              <a:t>3</a:t>
            </a:r>
            <a:r>
              <a:rPr lang="ko-KR" altLang="en-US" dirty="0"/>
              <a:t>개월 평균 장애인종업원이 </a:t>
            </a:r>
            <a:r>
              <a:rPr lang="en-US" altLang="ko-KR" dirty="0"/>
              <a:t>6</a:t>
            </a:r>
            <a:r>
              <a:rPr lang="ko-KR" altLang="en-US" dirty="0"/>
              <a:t>인 이상인 기업</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2608932" y="3152978"/>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0.3</a:t>
            </a:r>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18459" y="294258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794594" y="349040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1319451" y="3563689"/>
            <a:ext cx="2010812" cy="107722"/>
          </a:xfrm>
          <a:prstGeom prst="rect">
            <a:avLst/>
          </a:prstGeom>
          <a:noFill/>
        </p:spPr>
        <p:txBody>
          <a:bodyPr wrap="square" lIns="0" tIns="0" rIns="0" bIns="0" rtlCol="0">
            <a:spAutoFit/>
          </a:bodyPr>
          <a:lstStyle/>
          <a:p>
            <a:r>
              <a:rPr lang="en-US" altLang="ko-KR" sz="700" dirty="0">
                <a:latin typeface="+mn-ea"/>
              </a:rPr>
              <a:t>4.</a:t>
            </a:r>
            <a:r>
              <a:rPr lang="ko-KR" altLang="en-US" sz="700" dirty="0">
                <a:latin typeface="+mn-ea"/>
              </a:rPr>
              <a:t>여성기업지원 등</a:t>
            </a:r>
          </a:p>
        </p:txBody>
      </p:sp>
      <p:sp>
        <p:nvSpPr>
          <p:cNvPr id="159" name="TextBox 158">
            <a:extLst>
              <a:ext uri="{FF2B5EF4-FFF2-40B4-BE49-F238E27FC236}">
                <a16:creationId xmlns:a16="http://schemas.microsoft.com/office/drawing/2014/main" id="{FFC49AEA-2A8F-250C-A86A-A7751D9706C3}"/>
              </a:ext>
            </a:extLst>
          </p:cNvPr>
          <p:cNvSpPr txBox="1"/>
          <p:nvPr/>
        </p:nvSpPr>
        <p:spPr>
          <a:xfrm>
            <a:off x="794594" y="367418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0" name="TextBox 159">
            <a:extLst>
              <a:ext uri="{FF2B5EF4-FFF2-40B4-BE49-F238E27FC236}">
                <a16:creationId xmlns:a16="http://schemas.microsoft.com/office/drawing/2014/main" id="{FFC49AEA-2A8F-250C-A86A-A7751D9706C3}"/>
              </a:ext>
            </a:extLst>
          </p:cNvPr>
          <p:cNvSpPr txBox="1"/>
          <p:nvPr/>
        </p:nvSpPr>
        <p:spPr>
          <a:xfrm>
            <a:off x="1319451" y="3747469"/>
            <a:ext cx="2010812" cy="107722"/>
          </a:xfrm>
          <a:prstGeom prst="rect">
            <a:avLst/>
          </a:prstGeom>
          <a:noFill/>
        </p:spPr>
        <p:txBody>
          <a:bodyPr wrap="square" lIns="0" tIns="0" rIns="0" bIns="0" rtlCol="0">
            <a:spAutoFit/>
          </a:bodyPr>
          <a:lstStyle/>
          <a:p>
            <a:r>
              <a:rPr lang="ko-KR" altLang="en-US" sz="700" dirty="0">
                <a:latin typeface="+mn-ea"/>
              </a:rPr>
              <a:t>여성기업 지원 및 고용촉진</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2920743" y="3747469"/>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62" name="직사각형 161"/>
          <p:cNvSpPr/>
          <p:nvPr/>
        </p:nvSpPr>
        <p:spPr>
          <a:xfrm>
            <a:off x="719063" y="3908546"/>
            <a:ext cx="1639886" cy="241793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3" name="TextBox 162">
            <a:extLst>
              <a:ext uri="{FF2B5EF4-FFF2-40B4-BE49-F238E27FC236}">
                <a16:creationId xmlns:a16="http://schemas.microsoft.com/office/drawing/2014/main" id="{FFC49AEA-2A8F-250C-A86A-A7751D9706C3}"/>
              </a:ext>
            </a:extLst>
          </p:cNvPr>
          <p:cNvSpPr txBox="1"/>
          <p:nvPr/>
        </p:nvSpPr>
        <p:spPr>
          <a:xfrm>
            <a:off x="806126" y="390854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64" name="TextBox 163">
            <a:extLst>
              <a:ext uri="{FF2B5EF4-FFF2-40B4-BE49-F238E27FC236}">
                <a16:creationId xmlns:a16="http://schemas.microsoft.com/office/drawing/2014/main" id="{FFC49AEA-2A8F-250C-A86A-A7751D9706C3}"/>
              </a:ext>
            </a:extLst>
          </p:cNvPr>
          <p:cNvSpPr txBox="1"/>
          <p:nvPr/>
        </p:nvSpPr>
        <p:spPr>
          <a:xfrm>
            <a:off x="2534168" y="390854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716366" y="39085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18459" y="41232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18459" y="63264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8" name="TextBox 167">
            <a:extLst>
              <a:ext uri="{FF2B5EF4-FFF2-40B4-BE49-F238E27FC236}">
                <a16:creationId xmlns:a16="http://schemas.microsoft.com/office/drawing/2014/main" id="{FFC49AEA-2A8F-250C-A86A-A7751D9706C3}"/>
              </a:ext>
            </a:extLst>
          </p:cNvPr>
          <p:cNvSpPr txBox="1"/>
          <p:nvPr/>
        </p:nvSpPr>
        <p:spPr>
          <a:xfrm>
            <a:off x="2954538" y="390854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69" name="TextBox 168">
            <a:extLst>
              <a:ext uri="{FF2B5EF4-FFF2-40B4-BE49-F238E27FC236}">
                <a16:creationId xmlns:a16="http://schemas.microsoft.com/office/drawing/2014/main" id="{FFC49AEA-2A8F-250C-A86A-A7751D9706C3}"/>
              </a:ext>
            </a:extLst>
          </p:cNvPr>
          <p:cNvSpPr txBox="1"/>
          <p:nvPr/>
        </p:nvSpPr>
        <p:spPr>
          <a:xfrm>
            <a:off x="819976" y="4166338"/>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여성기원지원에 관한 법률에서 정한 기업으로서 중 소벤처기업부장관</a:t>
            </a:r>
            <a:r>
              <a:rPr lang="en-US" altLang="ko-KR" dirty="0"/>
              <a:t>(</a:t>
            </a:r>
            <a:r>
              <a:rPr lang="ko-KR" altLang="en-US" dirty="0" err="1"/>
              <a:t>수임권자</a:t>
            </a:r>
            <a:r>
              <a:rPr lang="ko-KR" altLang="en-US" dirty="0"/>
              <a:t> 포함</a:t>
            </a:r>
            <a:r>
              <a:rPr lang="en-US" altLang="ko-KR" dirty="0"/>
              <a:t>)</a:t>
            </a:r>
            <a:r>
              <a:rPr lang="ko-KR" altLang="en-US" dirty="0"/>
              <a:t>에 의해 확인서를 받은 여성기업으로서 그 존속기간에 따라</a:t>
            </a:r>
          </a:p>
          <a:p>
            <a:r>
              <a:rPr lang="en-US" altLang="ko-KR" dirty="0"/>
              <a:t>-10</a:t>
            </a:r>
            <a:r>
              <a:rPr lang="ko-KR" altLang="en-US" dirty="0"/>
              <a:t>년 이상</a:t>
            </a:r>
          </a:p>
          <a:p>
            <a:r>
              <a:rPr lang="en-US" altLang="ko-KR" dirty="0"/>
              <a:t>-5</a:t>
            </a:r>
            <a:r>
              <a:rPr lang="ko-KR" altLang="en-US" dirty="0" err="1"/>
              <a:t>년이상</a:t>
            </a:r>
            <a:r>
              <a:rPr lang="ko-KR" altLang="en-US" dirty="0"/>
              <a:t> </a:t>
            </a:r>
            <a:r>
              <a:rPr lang="en-US" altLang="ko-KR" dirty="0"/>
              <a:t>~ 10</a:t>
            </a:r>
            <a:r>
              <a:rPr lang="ko-KR" altLang="en-US" dirty="0"/>
              <a:t>년 미만</a:t>
            </a:r>
          </a:p>
          <a:p>
            <a:r>
              <a:rPr lang="en-US" altLang="ko-KR" dirty="0"/>
              <a:t>-3</a:t>
            </a:r>
            <a:r>
              <a:rPr lang="ko-KR" altLang="en-US" dirty="0" err="1"/>
              <a:t>년이상</a:t>
            </a:r>
            <a:r>
              <a:rPr lang="ko-KR" altLang="en-US" dirty="0"/>
              <a:t> </a:t>
            </a:r>
            <a:r>
              <a:rPr lang="en-US" altLang="ko-KR" dirty="0"/>
              <a:t>~ 5</a:t>
            </a:r>
            <a:r>
              <a:rPr lang="ko-KR" altLang="en-US" dirty="0"/>
              <a:t>년 미만</a:t>
            </a:r>
          </a:p>
          <a:p>
            <a:r>
              <a:rPr lang="en-US" altLang="ko-KR" dirty="0"/>
              <a:t>-3</a:t>
            </a:r>
            <a:r>
              <a:rPr lang="ko-KR" altLang="en-US" dirty="0"/>
              <a:t>년 미만</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2559238" y="4704947"/>
            <a:ext cx="168316"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a:p>
            <a:r>
              <a:rPr lang="en-US" altLang="ko-KR" dirty="0"/>
              <a:t>0.35</a:t>
            </a:r>
          </a:p>
          <a:p>
            <a:r>
              <a:rPr lang="en-US" altLang="ko-KR" dirty="0"/>
              <a:t>0.3</a:t>
            </a:r>
          </a:p>
          <a:p>
            <a:r>
              <a:rPr lang="en-US" altLang="ko-KR" dirty="0"/>
              <a:t>0.25</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3290592" y="517102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8" name="직선 연결선 177">
            <a:extLst>
              <a:ext uri="{FF2B5EF4-FFF2-40B4-BE49-F238E27FC236}">
                <a16:creationId xmlns:a16="http://schemas.microsoft.com/office/drawing/2014/main" id="{E9293055-D5CD-4B9E-7F64-64B2D2CA7A52}"/>
              </a:ext>
            </a:extLst>
          </p:cNvPr>
          <p:cNvCxnSpPr/>
          <p:nvPr/>
        </p:nvCxnSpPr>
        <p:spPr>
          <a:xfrm>
            <a:off x="718459" y="51671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819976" y="5210233"/>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고용노동부장관에 의해 남녀고용평등 우수기업으로 </a:t>
            </a:r>
            <a:r>
              <a:rPr lang="ko-KR" altLang="en-US" dirty="0" err="1"/>
              <a:t>지정받은</a:t>
            </a:r>
            <a:r>
              <a:rPr lang="ko-KR" altLang="en-US" dirty="0"/>
              <a:t> 자</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2608932" y="5254669"/>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819976" y="5517142"/>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여성고용 우수기업</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2608867" y="5658083"/>
            <a:ext cx="118687"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a:p>
            <a:endParaRPr lang="en-US" altLang="ko-KR" dirty="0"/>
          </a:p>
          <a:p>
            <a:endParaRPr lang="en-US" altLang="ko-KR" dirty="0"/>
          </a:p>
          <a:p>
            <a:r>
              <a:rPr lang="en-US" altLang="ko-KR" dirty="0"/>
              <a:t>0.3</a:t>
            </a: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718459" y="547409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19976" y="5658083"/>
            <a:ext cx="1480199" cy="754053"/>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t>
            </a:r>
            <a:r>
              <a:rPr lang="ko-KR" altLang="en-US" dirty="0"/>
              <a:t>최근 </a:t>
            </a:r>
            <a:r>
              <a:rPr lang="en-US" altLang="ko-KR" dirty="0"/>
              <a:t>3</a:t>
            </a:r>
            <a:r>
              <a:rPr lang="ko-KR" altLang="en-US" dirty="0"/>
              <a:t>개월 평균 여성고용률이 </a:t>
            </a:r>
            <a:r>
              <a:rPr lang="en-US" altLang="ko-KR" dirty="0"/>
              <a:t>10%</a:t>
            </a:r>
            <a:r>
              <a:rPr lang="ko-KR" altLang="en-US" dirty="0"/>
              <a:t>이상이면서 최근 </a:t>
            </a:r>
            <a:r>
              <a:rPr lang="en-US" altLang="ko-KR" dirty="0"/>
              <a:t>3</a:t>
            </a:r>
            <a:r>
              <a:rPr lang="ko-KR" altLang="en-US" dirty="0"/>
              <a:t>개월 평균 여성종업원이 </a:t>
            </a:r>
            <a:r>
              <a:rPr lang="en-US" altLang="ko-KR" dirty="0"/>
              <a:t>10</a:t>
            </a:r>
            <a:r>
              <a:rPr lang="ko-KR" altLang="en-US" dirty="0"/>
              <a:t>인 이상인 기업</a:t>
            </a:r>
          </a:p>
          <a:p>
            <a:r>
              <a:rPr lang="en-US" altLang="ko-KR" dirty="0"/>
              <a:t>-</a:t>
            </a:r>
            <a:r>
              <a:rPr lang="ko-KR" altLang="en-US" dirty="0"/>
              <a:t>최근 </a:t>
            </a:r>
            <a:r>
              <a:rPr lang="en-US" altLang="ko-KR" dirty="0"/>
              <a:t>3</a:t>
            </a:r>
            <a:r>
              <a:rPr lang="ko-KR" altLang="en-US" dirty="0"/>
              <a:t>개월 평균 여성고용률이 </a:t>
            </a:r>
            <a:r>
              <a:rPr lang="en-US" altLang="ko-KR" dirty="0"/>
              <a:t>5%</a:t>
            </a:r>
            <a:r>
              <a:rPr lang="ko-KR" altLang="en-US" dirty="0"/>
              <a:t>이상이면서 최근 </a:t>
            </a:r>
            <a:r>
              <a:rPr lang="en-US" altLang="ko-KR" dirty="0"/>
              <a:t>3</a:t>
            </a:r>
            <a:r>
              <a:rPr lang="ko-KR" altLang="en-US" dirty="0"/>
              <a:t>개월 평균 여성종업원이 </a:t>
            </a:r>
            <a:r>
              <a:rPr lang="en-US" altLang="ko-KR" dirty="0"/>
              <a:t>5</a:t>
            </a:r>
            <a:r>
              <a:rPr lang="ko-KR" altLang="en-US" dirty="0"/>
              <a:t>인 이상인 기업</a:t>
            </a:r>
          </a:p>
          <a:p>
            <a:endParaRPr lang="ko-KR" altLang="en-US" dirty="0"/>
          </a:p>
        </p:txBody>
      </p:sp>
      <p:sp>
        <p:nvSpPr>
          <p:cNvPr id="186" name="TextBox 185">
            <a:extLst>
              <a:ext uri="{FF2B5EF4-FFF2-40B4-BE49-F238E27FC236}">
                <a16:creationId xmlns:a16="http://schemas.microsoft.com/office/drawing/2014/main" id="{FFC49AEA-2A8F-250C-A86A-A7751D9706C3}"/>
              </a:ext>
            </a:extLst>
          </p:cNvPr>
          <p:cNvSpPr txBox="1"/>
          <p:nvPr/>
        </p:nvSpPr>
        <p:spPr>
          <a:xfrm>
            <a:off x="3936517" y="149115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87" name="TextBox 186">
            <a:extLst>
              <a:ext uri="{FF2B5EF4-FFF2-40B4-BE49-F238E27FC236}">
                <a16:creationId xmlns:a16="http://schemas.microsoft.com/office/drawing/2014/main" id="{FFC49AEA-2A8F-250C-A86A-A7751D9706C3}"/>
              </a:ext>
            </a:extLst>
          </p:cNvPr>
          <p:cNvSpPr txBox="1"/>
          <p:nvPr/>
        </p:nvSpPr>
        <p:spPr>
          <a:xfrm>
            <a:off x="4461374" y="1564445"/>
            <a:ext cx="2010812" cy="107722"/>
          </a:xfrm>
          <a:prstGeom prst="rect">
            <a:avLst/>
          </a:prstGeom>
          <a:noFill/>
        </p:spPr>
        <p:txBody>
          <a:bodyPr wrap="square" lIns="0" tIns="0" rIns="0" bIns="0" rtlCol="0">
            <a:spAutoFit/>
          </a:bodyPr>
          <a:lstStyle/>
          <a:p>
            <a:r>
              <a:rPr lang="en-US" altLang="ko-KR" sz="700" dirty="0">
                <a:latin typeface="+mn-ea"/>
              </a:rPr>
              <a:t>5.</a:t>
            </a:r>
            <a:r>
              <a:rPr lang="ko-KR" altLang="en-US" sz="700" dirty="0">
                <a:latin typeface="+mn-ea"/>
              </a:rPr>
              <a:t>정책지원</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3936517" y="167493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4461374" y="1748225"/>
            <a:ext cx="2010812" cy="107722"/>
          </a:xfrm>
          <a:prstGeom prst="rect">
            <a:avLst/>
          </a:prstGeom>
          <a:noFill/>
        </p:spPr>
        <p:txBody>
          <a:bodyPr wrap="square" lIns="0" tIns="0" rIns="0" bIns="0" rtlCol="0">
            <a:spAutoFit/>
          </a:bodyPr>
          <a:lstStyle/>
          <a:p>
            <a:r>
              <a:rPr lang="ko-KR" altLang="en-US" sz="700" dirty="0">
                <a:latin typeface="+mn-ea"/>
              </a:rPr>
              <a:t>부처별 정책지원</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6062666" y="174822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91" name="직사각형 190"/>
          <p:cNvSpPr/>
          <p:nvPr/>
        </p:nvSpPr>
        <p:spPr>
          <a:xfrm>
            <a:off x="3860986" y="1909302"/>
            <a:ext cx="1639886" cy="22025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2" name="TextBox 191">
            <a:extLst>
              <a:ext uri="{FF2B5EF4-FFF2-40B4-BE49-F238E27FC236}">
                <a16:creationId xmlns:a16="http://schemas.microsoft.com/office/drawing/2014/main" id="{FFC49AEA-2A8F-250C-A86A-A7751D9706C3}"/>
              </a:ext>
            </a:extLst>
          </p:cNvPr>
          <p:cNvSpPr txBox="1"/>
          <p:nvPr/>
        </p:nvSpPr>
        <p:spPr>
          <a:xfrm>
            <a:off x="3948049" y="190930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5676091" y="190930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858289" y="19093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3860382" y="21240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3860382" y="41118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9" name="TextBox 198">
            <a:extLst>
              <a:ext uri="{FF2B5EF4-FFF2-40B4-BE49-F238E27FC236}">
                <a16:creationId xmlns:a16="http://schemas.microsoft.com/office/drawing/2014/main" id="{FFC49AEA-2A8F-250C-A86A-A7751D9706C3}"/>
              </a:ext>
            </a:extLst>
          </p:cNvPr>
          <p:cNvSpPr txBox="1"/>
          <p:nvPr/>
        </p:nvSpPr>
        <p:spPr>
          <a:xfrm>
            <a:off x="6096461" y="190930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3961899" y="2161237"/>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고용노동부장관으로부터 ‘노사문화우수기업’</a:t>
            </a:r>
            <a:r>
              <a:rPr lang="en-US" altLang="ko-KR" dirty="0"/>
              <a:t>(</a:t>
            </a:r>
            <a:r>
              <a:rPr lang="ko-KR" altLang="en-US" dirty="0"/>
              <a:t>대상기업 포함</a:t>
            </a:r>
            <a:r>
              <a:rPr lang="en-US" altLang="ko-KR" dirty="0"/>
              <a:t>)</a:t>
            </a:r>
            <a:r>
              <a:rPr lang="ko-KR" altLang="en-US" dirty="0"/>
              <a:t>으로 선정된 업체</a:t>
            </a:r>
            <a:r>
              <a:rPr lang="en-US" altLang="ko-KR" dirty="0"/>
              <a:t>(</a:t>
            </a:r>
            <a:r>
              <a:rPr lang="ko-KR" altLang="en-US" dirty="0"/>
              <a:t>유효기간 내에 한함</a:t>
            </a:r>
            <a:r>
              <a:rPr lang="en-US" altLang="ko-KR" dirty="0"/>
              <a:t>)</a:t>
            </a:r>
          </a:p>
          <a:p>
            <a:r>
              <a:rPr lang="en-US" altLang="ko-KR" dirty="0"/>
              <a:t>*</a:t>
            </a:r>
            <a:r>
              <a:rPr lang="ko-KR" altLang="en-US" dirty="0"/>
              <a:t>다만</a:t>
            </a:r>
            <a:r>
              <a:rPr lang="en-US" altLang="ko-KR" dirty="0"/>
              <a:t>, </a:t>
            </a:r>
            <a:r>
              <a:rPr lang="ko-KR" altLang="en-US" dirty="0" err="1"/>
              <a:t>급식분야는</a:t>
            </a:r>
            <a:r>
              <a:rPr lang="ko-KR" altLang="en-US" dirty="0"/>
              <a:t> </a:t>
            </a:r>
            <a:r>
              <a:rPr lang="en-US" altLang="ko-KR" dirty="0"/>
              <a:t>0.25</a:t>
            </a:r>
            <a:r>
              <a:rPr lang="ko-KR" altLang="en-US" dirty="0"/>
              <a:t>점</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5750855" y="2322819"/>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02" name="TextBox 201">
            <a:extLst>
              <a:ext uri="{FF2B5EF4-FFF2-40B4-BE49-F238E27FC236}">
                <a16:creationId xmlns:a16="http://schemas.microsoft.com/office/drawing/2014/main" id="{FFC49AEA-2A8F-250C-A86A-A7751D9706C3}"/>
              </a:ext>
            </a:extLst>
          </p:cNvPr>
          <p:cNvSpPr txBox="1"/>
          <p:nvPr/>
        </p:nvSpPr>
        <p:spPr>
          <a:xfrm>
            <a:off x="6432515" y="306407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03" name="직선 연결선 202">
            <a:extLst>
              <a:ext uri="{FF2B5EF4-FFF2-40B4-BE49-F238E27FC236}">
                <a16:creationId xmlns:a16="http://schemas.microsoft.com/office/drawing/2014/main" id="{E9293055-D5CD-4B9E-7F64-64B2D2CA7A52}"/>
              </a:ext>
            </a:extLst>
          </p:cNvPr>
          <p:cNvCxnSpPr/>
          <p:nvPr/>
        </p:nvCxnSpPr>
        <p:spPr>
          <a:xfrm>
            <a:off x="3860382" y="26293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TextBox 203">
            <a:extLst>
              <a:ext uri="{FF2B5EF4-FFF2-40B4-BE49-F238E27FC236}">
                <a16:creationId xmlns:a16="http://schemas.microsoft.com/office/drawing/2014/main" id="{FFC49AEA-2A8F-250C-A86A-A7751D9706C3}"/>
              </a:ext>
            </a:extLst>
          </p:cNvPr>
          <p:cNvSpPr txBox="1"/>
          <p:nvPr/>
        </p:nvSpPr>
        <p:spPr>
          <a:xfrm>
            <a:off x="3961899" y="266651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비상대비자원 관리법에 따른 주무부장관이 확인한 비상대비 중점관리대상업체</a:t>
            </a:r>
          </a:p>
        </p:txBody>
      </p:sp>
      <p:sp>
        <p:nvSpPr>
          <p:cNvPr id="206" name="TextBox 205">
            <a:extLst>
              <a:ext uri="{FF2B5EF4-FFF2-40B4-BE49-F238E27FC236}">
                <a16:creationId xmlns:a16="http://schemas.microsoft.com/office/drawing/2014/main" id="{FFC49AEA-2A8F-250C-A86A-A7751D9706C3}"/>
              </a:ext>
            </a:extLst>
          </p:cNvPr>
          <p:cNvSpPr txBox="1"/>
          <p:nvPr/>
        </p:nvSpPr>
        <p:spPr>
          <a:xfrm>
            <a:off x="5750855" y="277423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3961899" y="3064069"/>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err="1"/>
              <a:t>사회적기업</a:t>
            </a:r>
            <a:r>
              <a:rPr lang="ko-KR" altLang="en-US" dirty="0"/>
              <a:t> 육성법 제</a:t>
            </a:r>
            <a:r>
              <a:rPr lang="en-US" altLang="ko-KR" dirty="0"/>
              <a:t>7</a:t>
            </a:r>
            <a:r>
              <a:rPr lang="ko-KR" altLang="en-US" dirty="0"/>
              <a:t>조에 따른 고용노동부장관의 인증을 받은 기업</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50855" y="3117930"/>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cxnSp>
        <p:nvCxnSpPr>
          <p:cNvPr id="210" name="직선 연결선 209">
            <a:extLst>
              <a:ext uri="{FF2B5EF4-FFF2-40B4-BE49-F238E27FC236}">
                <a16:creationId xmlns:a16="http://schemas.microsoft.com/office/drawing/2014/main" id="{E9293055-D5CD-4B9E-7F64-64B2D2CA7A52}"/>
              </a:ext>
            </a:extLst>
          </p:cNvPr>
          <p:cNvCxnSpPr/>
          <p:nvPr/>
        </p:nvCxnSpPr>
        <p:spPr>
          <a:xfrm>
            <a:off x="3860382" y="3026874"/>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FFC49AEA-2A8F-250C-A86A-A7751D9706C3}"/>
              </a:ext>
            </a:extLst>
          </p:cNvPr>
          <p:cNvSpPr txBox="1"/>
          <p:nvPr/>
        </p:nvSpPr>
        <p:spPr>
          <a:xfrm>
            <a:off x="3961899" y="335390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D. </a:t>
            </a:r>
            <a:r>
              <a:rPr lang="ko-KR" altLang="en-US" dirty="0"/>
              <a:t>가족친화 사회환경의 </a:t>
            </a:r>
            <a:r>
              <a:rPr lang="ko-KR" altLang="en-US" dirty="0" err="1"/>
              <a:t>조성촉진에</a:t>
            </a:r>
            <a:r>
              <a:rPr lang="ko-KR" altLang="en-US" dirty="0"/>
              <a:t> 관한 법률 제</a:t>
            </a:r>
            <a:r>
              <a:rPr lang="en-US" altLang="ko-KR" dirty="0"/>
              <a:t>15</a:t>
            </a:r>
            <a:r>
              <a:rPr lang="ko-KR" altLang="en-US" dirty="0"/>
              <a:t>조에 따른 가족친화인증을 받은 기업</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5750855" y="3461624"/>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860382" y="331670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6" name="TextBox 215">
            <a:extLst>
              <a:ext uri="{FF2B5EF4-FFF2-40B4-BE49-F238E27FC236}">
                <a16:creationId xmlns:a16="http://schemas.microsoft.com/office/drawing/2014/main" id="{FFC49AEA-2A8F-250C-A86A-A7751D9706C3}"/>
              </a:ext>
            </a:extLst>
          </p:cNvPr>
          <p:cNvSpPr txBox="1"/>
          <p:nvPr/>
        </p:nvSpPr>
        <p:spPr>
          <a:xfrm>
            <a:off x="3961899" y="3751458"/>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E. </a:t>
            </a:r>
            <a:r>
              <a:rPr lang="ko-KR" altLang="en-US" dirty="0"/>
              <a:t>모범납세자관리규정 </a:t>
            </a:r>
            <a:r>
              <a:rPr lang="en-US" altLang="ko-KR" dirty="0"/>
              <a:t>(</a:t>
            </a:r>
            <a:r>
              <a:rPr lang="ko-KR" altLang="en-US" dirty="0" err="1"/>
              <a:t>국세청훈령</a:t>
            </a:r>
            <a:r>
              <a:rPr lang="en-US" altLang="ko-KR" dirty="0"/>
              <a:t>)</a:t>
            </a:r>
            <a:r>
              <a:rPr lang="ko-KR" altLang="en-US" dirty="0"/>
              <a:t>제</a:t>
            </a:r>
            <a:r>
              <a:rPr lang="en-US" altLang="ko-KR" dirty="0"/>
              <a:t>5</a:t>
            </a:r>
            <a:r>
              <a:rPr lang="ko-KR" altLang="en-US" dirty="0"/>
              <a:t>조 제 </a:t>
            </a:r>
            <a:r>
              <a:rPr lang="en-US" altLang="ko-KR" dirty="0"/>
              <a:t>3</a:t>
            </a:r>
            <a:r>
              <a:rPr lang="ko-KR" altLang="en-US" dirty="0"/>
              <a:t>항 제 </a:t>
            </a:r>
            <a:r>
              <a:rPr lang="en-US" altLang="ko-KR" dirty="0"/>
              <a:t>1</a:t>
            </a:r>
            <a:r>
              <a:rPr lang="ko-KR" altLang="en-US" dirty="0"/>
              <a:t>호에 따른 모범납세자</a:t>
            </a:r>
          </a:p>
        </p:txBody>
      </p:sp>
      <p:sp>
        <p:nvSpPr>
          <p:cNvPr id="217" name="TextBox 216">
            <a:extLst>
              <a:ext uri="{FF2B5EF4-FFF2-40B4-BE49-F238E27FC236}">
                <a16:creationId xmlns:a16="http://schemas.microsoft.com/office/drawing/2014/main" id="{FFC49AEA-2A8F-250C-A86A-A7751D9706C3}"/>
              </a:ext>
            </a:extLst>
          </p:cNvPr>
          <p:cNvSpPr txBox="1"/>
          <p:nvPr/>
        </p:nvSpPr>
        <p:spPr>
          <a:xfrm>
            <a:off x="5701161" y="3859179"/>
            <a:ext cx="16831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cxnSp>
        <p:nvCxnSpPr>
          <p:cNvPr id="218" name="직선 연결선 217">
            <a:extLst>
              <a:ext uri="{FF2B5EF4-FFF2-40B4-BE49-F238E27FC236}">
                <a16:creationId xmlns:a16="http://schemas.microsoft.com/office/drawing/2014/main" id="{E9293055-D5CD-4B9E-7F64-64B2D2CA7A52}"/>
              </a:ext>
            </a:extLst>
          </p:cNvPr>
          <p:cNvCxnSpPr/>
          <p:nvPr/>
        </p:nvCxnSpPr>
        <p:spPr>
          <a:xfrm>
            <a:off x="3860382" y="371426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1" name="타원 9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03914769"/>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216</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061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 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mnftrAbltExmgrdScr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5598315"/>
                  </a:ext>
                </a:extLst>
              </a:tr>
              <a:tr h="0">
                <a:tc>
                  <a:txBody>
                    <a:bodyPr/>
                    <a:lstStyle/>
                    <a:p>
                      <a:pPr latinLnBrk="1"/>
                      <a:r>
                        <a:rPr lang="ko-KR" altLang="en-US" sz="800" dirty="0">
                          <a:latin typeface="+mn-ea"/>
                          <a:ea typeface="+mn-ea"/>
                        </a:rPr>
                        <a:t>기술실적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1395306"/>
                  </a:ext>
                </a:extLst>
              </a:tr>
              <a:tr h="0">
                <a:tc>
                  <a:txBody>
                    <a:bodyPr/>
                    <a:lstStyle/>
                    <a:p>
                      <a:pPr latinLnBrk="1"/>
                      <a:r>
                        <a:rPr lang="ko-KR" altLang="en-US" sz="800" dirty="0">
                          <a:latin typeface="+mn-ea"/>
                          <a:ea typeface="+mn-ea"/>
                        </a:rPr>
                        <a:t>경영상태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6183843"/>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3209081"/>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납품실적</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3492835"/>
          <a:ext cx="8994883" cy="825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계약목적물과 동등이상 물품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etcExmgrdScr1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계약목적물과 동등이상 물품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계약목적물과 유사 물품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etcExmgrdScr2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계약목적물과 유사 물품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bl>
          </a:graphicData>
        </a:graphic>
      </p:graphicFrame>
      <p:sp>
        <p:nvSpPr>
          <p:cNvPr id="5" name="TextBox 4">
            <a:extLst>
              <a:ext uri="{FF2B5EF4-FFF2-40B4-BE49-F238E27FC236}">
                <a16:creationId xmlns:a16="http://schemas.microsoft.com/office/drawing/2014/main" id="{6D947E84-6084-15F8-26CB-99F0F0FA6507}"/>
              </a:ext>
            </a:extLst>
          </p:cNvPr>
          <p:cNvSpPr txBox="1"/>
          <p:nvPr/>
        </p:nvSpPr>
        <p:spPr>
          <a:xfrm>
            <a:off x="465794" y="4440409"/>
            <a:ext cx="226881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기술능력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BED0EAE2-A020-1A3E-9D07-8A45456FE1AC}"/>
              </a:ext>
            </a:extLst>
          </p:cNvPr>
          <p:cNvGraphicFramePr>
            <a:graphicFrameLocks noGrp="1"/>
          </p:cNvGraphicFramePr>
          <p:nvPr/>
        </p:nvGraphicFramePr>
        <p:xfrm>
          <a:off x="460676" y="4724163"/>
          <a:ext cx="8994883"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 인력 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 인력 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60055083-8CC2-EBAB-95A2-A3D16C277F81}"/>
              </a:ext>
            </a:extLst>
          </p:cNvPr>
          <p:cNvSpPr txBox="1"/>
          <p:nvPr/>
        </p:nvSpPr>
        <p:spPr>
          <a:xfrm>
            <a:off x="465794" y="5502878"/>
            <a:ext cx="2268817"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경영상태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15EC443-8860-14E7-541D-015B26B2064C}"/>
              </a:ext>
            </a:extLst>
          </p:cNvPr>
          <p:cNvGraphicFramePr>
            <a:graphicFrameLocks noGrp="1"/>
          </p:cNvGraphicFramePr>
          <p:nvPr/>
        </p:nvGraphicFramePr>
        <p:xfrm>
          <a:off x="460676" y="5786632"/>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9" name="TextBox 8">
            <a:extLst>
              <a:ext uri="{FF2B5EF4-FFF2-40B4-BE49-F238E27FC236}">
                <a16:creationId xmlns:a16="http://schemas.microsoft.com/office/drawing/2014/main" id="{2D46670F-21CD-4287-79F8-D2BD036F58C7}"/>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10" name="Text Box 73">
            <a:extLst>
              <a:ext uri="{FF2B5EF4-FFF2-40B4-BE49-F238E27FC236}">
                <a16:creationId xmlns:a16="http://schemas.microsoft.com/office/drawing/2014/main" id="{49EECEDA-D67F-B719-75B2-13A6669D76E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848244354"/>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217</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입찰가격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5598315"/>
                  </a:ext>
                </a:extLst>
              </a:tr>
            </a:tbl>
          </a:graphicData>
        </a:graphic>
      </p:graphicFrame>
      <p:sp>
        <p:nvSpPr>
          <p:cNvPr id="2" name="TextBox 1">
            <a:extLst>
              <a:ext uri="{FF2B5EF4-FFF2-40B4-BE49-F238E27FC236}">
                <a16:creationId xmlns:a16="http://schemas.microsoft.com/office/drawing/2014/main" id="{A04032B2-0E81-C42C-22DE-96CF59BBDF3B}"/>
              </a:ext>
            </a:extLst>
          </p:cNvPr>
          <p:cNvSpPr txBox="1"/>
          <p:nvPr/>
        </p:nvSpPr>
        <p:spPr>
          <a:xfrm>
            <a:off x="460676" y="2160371"/>
            <a:ext cx="2539725"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물품 품질정도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8715C9D4-8967-BD73-01BF-12D7D715C6CC}"/>
              </a:ext>
            </a:extLst>
          </p:cNvPr>
          <p:cNvGraphicFramePr>
            <a:graphicFrameLocks noGrp="1"/>
          </p:cNvGraphicFramePr>
          <p:nvPr/>
        </p:nvGraphicFramePr>
        <p:xfrm>
          <a:off x="455558" y="2444125"/>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기술보유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기술보유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환경관리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환경관리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20099550"/>
                  </a:ext>
                </a:extLst>
              </a:tr>
            </a:tbl>
          </a:graphicData>
        </a:graphic>
      </p:graphicFrame>
      <p:sp>
        <p:nvSpPr>
          <p:cNvPr id="9" name="TextBox 8">
            <a:extLst>
              <a:ext uri="{FF2B5EF4-FFF2-40B4-BE49-F238E27FC236}">
                <a16:creationId xmlns:a16="http://schemas.microsoft.com/office/drawing/2014/main" id="{ABA30327-C2C0-AF93-6B2E-F382C5DD05B8}"/>
              </a:ext>
            </a:extLst>
          </p:cNvPr>
          <p:cNvSpPr txBox="1"/>
          <p:nvPr/>
        </p:nvSpPr>
        <p:spPr>
          <a:xfrm>
            <a:off x="458117" y="3404571"/>
            <a:ext cx="2655141"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계약이행 성실도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64C96ADD-E474-1ECB-24AE-726CFF405D80}"/>
              </a:ext>
            </a:extLst>
          </p:cNvPr>
          <p:cNvGraphicFramePr>
            <a:graphicFrameLocks noGrp="1"/>
          </p:cNvGraphicFramePr>
          <p:nvPr/>
        </p:nvGraphicFramePr>
        <p:xfrm>
          <a:off x="452999" y="3688325"/>
          <a:ext cx="8994883" cy="897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품질하자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품질하자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부정당업자제재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lbmgtCultrExmgrdScr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부정당업자제재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20099550"/>
                  </a:ext>
                </a:extLst>
              </a:tr>
            </a:tbl>
          </a:graphicData>
        </a:graphic>
      </p:graphicFrame>
      <p:sp>
        <p:nvSpPr>
          <p:cNvPr id="15" name="TextBox 14">
            <a:extLst>
              <a:ext uri="{FF2B5EF4-FFF2-40B4-BE49-F238E27FC236}">
                <a16:creationId xmlns:a16="http://schemas.microsoft.com/office/drawing/2014/main" id="{E3B7BB0D-1B3C-8763-C6EB-F96D4F0296B6}"/>
              </a:ext>
            </a:extLst>
          </p:cNvPr>
          <p:cNvSpPr txBox="1"/>
          <p:nvPr/>
        </p:nvSpPr>
        <p:spPr>
          <a:xfrm>
            <a:off x="460676" y="4790994"/>
            <a:ext cx="2037985" cy="211203"/>
          </a:xfrm>
          <a:prstGeom prst="rect">
            <a:avLst/>
          </a:prstGeom>
          <a:noFill/>
        </p:spPr>
        <p:txBody>
          <a:bodyPr wrap="none" lIns="36000" tIns="36000" rIns="36000" bIns="36000" rtlCol="0">
            <a:spAutoFit/>
          </a:bodyPr>
          <a:lstStyle/>
          <a:p>
            <a:r>
              <a:rPr lang="en-US" altLang="ko-KR" sz="900" b="1" dirty="0">
                <a:solidFill>
                  <a:prstClr val="black"/>
                </a:solidFill>
              </a:rPr>
              <a:t>1.8. </a:t>
            </a:r>
            <a:r>
              <a:rPr lang="ko-KR" altLang="en-US" sz="900" b="1" dirty="0">
                <a:solidFill>
                  <a:prstClr val="black"/>
                </a:solidFill>
              </a:rPr>
              <a:t>기타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6" name="표 15">
            <a:extLst>
              <a:ext uri="{FF2B5EF4-FFF2-40B4-BE49-F238E27FC236}">
                <a16:creationId xmlns:a16="http://schemas.microsoft.com/office/drawing/2014/main" id="{743B184E-AF4F-7A20-CCBF-2BBDE53283E7}"/>
              </a:ext>
            </a:extLst>
          </p:cNvPr>
          <p:cNvGraphicFramePr>
            <a:graphicFrameLocks noGrp="1"/>
          </p:cNvGraphicFramePr>
          <p:nvPr/>
        </p:nvGraphicFramePr>
        <p:xfrm>
          <a:off x="455558" y="5074748"/>
          <a:ext cx="8994883" cy="1091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고용창출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고용창출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혁신적 중소기업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혁신적 중소기업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1056178"/>
                  </a:ext>
                </a:extLst>
              </a:tr>
              <a:tr h="0">
                <a:tc>
                  <a:txBody>
                    <a:bodyPr/>
                    <a:lstStyle/>
                    <a:p>
                      <a:pPr latinLnBrk="1"/>
                      <a:r>
                        <a:rPr lang="ko-KR" altLang="en-US" sz="800" dirty="0">
                          <a:latin typeface="+mn-ea"/>
                          <a:ea typeface="+mn-ea"/>
                        </a:rPr>
                        <a:t>장애인기업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장애인기업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20099550"/>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1241296"/>
                  </a:ext>
                </a:extLst>
              </a:tr>
            </a:tbl>
          </a:graphicData>
        </a:graphic>
      </p:graphicFrame>
      <p:sp>
        <p:nvSpPr>
          <p:cNvPr id="5" name="TextBox 4">
            <a:extLst>
              <a:ext uri="{FF2B5EF4-FFF2-40B4-BE49-F238E27FC236}">
                <a16:creationId xmlns:a16="http://schemas.microsoft.com/office/drawing/2014/main" id="{99AC2E68-4BC8-E588-F8A1-C26456BAC349}"/>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B4D115ED-0F2A-749E-0610-60D5F778824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10293838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218</a:t>
            </a:fld>
            <a:endParaRPr lang="ko-KR" altLang="en-US" dirty="0"/>
          </a:p>
        </p:txBody>
      </p:sp>
      <p:sp>
        <p:nvSpPr>
          <p:cNvPr id="2" name="TextBox 1">
            <a:extLst>
              <a:ext uri="{FF2B5EF4-FFF2-40B4-BE49-F238E27FC236}">
                <a16:creationId xmlns:a16="http://schemas.microsoft.com/office/drawing/2014/main" id="{8963E566-325E-902C-857A-3863F791906F}"/>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98CD88C9-3621-9A2B-944C-4577223A9D59}"/>
              </a:ext>
            </a:extLst>
          </p:cNvPr>
          <p:cNvGraphicFramePr>
            <a:graphicFrameLocks noGrp="1"/>
          </p:cNvGraphicFramePr>
          <p:nvPr/>
        </p:nvGraphicFramePr>
        <p:xfrm>
          <a:off x="452291" y="1014316"/>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목록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scwin.btn_list_onclick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개찰목록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(UI-BD-08-M01)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개찰목록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5" name="Text Box 73">
            <a:extLst>
              <a:ext uri="{FF2B5EF4-FFF2-40B4-BE49-F238E27FC236}">
                <a16:creationId xmlns:a16="http://schemas.microsoft.com/office/drawing/2014/main" id="{8B21D49E-3738-1799-7195-340D91BFF43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59449025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219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2018</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신용평가등급</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가</a:t>
            </a:r>
            <a:r>
              <a:rPr lang="en-US" altLang="ko-KR" dirty="0"/>
              <a:t>)</a:t>
            </a:r>
            <a:r>
              <a:rPr lang="ko-KR" altLang="en-US" dirty="0" err="1"/>
              <a:t>당해물품</a:t>
            </a:r>
            <a:r>
              <a:rPr lang="ko-KR" altLang="en-US" dirty="0"/>
              <a:t> </a:t>
            </a:r>
            <a:r>
              <a:rPr lang="ko-KR" altLang="en-US" dirty="0" err="1"/>
              <a:t>납품이행</a:t>
            </a:r>
            <a:r>
              <a:rPr lang="ko-KR" altLang="en-US" dirty="0"/>
              <a:t> 능력</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 경영상태</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59" name="직사각형 158"/>
          <p:cNvSpPr/>
          <p:nvPr/>
        </p:nvSpPr>
        <p:spPr>
          <a:xfrm>
            <a:off x="3828979" y="1979872"/>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16042" y="1979873"/>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5644084" y="1979873"/>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70</a:t>
            </a:r>
          </a:p>
        </p:txBody>
      </p:sp>
      <p:grpSp>
        <p:nvGrpSpPr>
          <p:cNvPr id="162" name="그룹 161"/>
          <p:cNvGrpSpPr/>
          <p:nvPr/>
        </p:nvGrpSpPr>
        <p:grpSpPr>
          <a:xfrm>
            <a:off x="3826887" y="1979873"/>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3887858" y="1492521"/>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나</a:t>
            </a:r>
            <a:r>
              <a:rPr lang="en-US" altLang="ko-KR" dirty="0"/>
              <a:t>)</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3887858" y="169275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064390" y="1979873"/>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3887857" y="2483011"/>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평정산식참조</a:t>
            </a:r>
          </a:p>
        </p:txBody>
      </p:sp>
      <p:sp>
        <p:nvSpPr>
          <p:cNvPr id="264" name="직사각형 263"/>
          <p:cNvSpPr/>
          <p:nvPr/>
        </p:nvSpPr>
        <p:spPr>
          <a:xfrm>
            <a:off x="3823602" y="3297967"/>
            <a:ext cx="1639886" cy="63918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5" name="TextBox 264">
            <a:extLst>
              <a:ext uri="{FF2B5EF4-FFF2-40B4-BE49-F238E27FC236}">
                <a16:creationId xmlns:a16="http://schemas.microsoft.com/office/drawing/2014/main" id="{FFC49AEA-2A8F-250C-A86A-A7751D9706C3}"/>
              </a:ext>
            </a:extLst>
          </p:cNvPr>
          <p:cNvSpPr txBox="1"/>
          <p:nvPr/>
        </p:nvSpPr>
        <p:spPr>
          <a:xfrm>
            <a:off x="3910665" y="3297968"/>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66" name="TextBox 265">
            <a:extLst>
              <a:ext uri="{FF2B5EF4-FFF2-40B4-BE49-F238E27FC236}">
                <a16:creationId xmlns:a16="http://schemas.microsoft.com/office/drawing/2014/main" id="{FFC49AEA-2A8F-250C-A86A-A7751D9706C3}"/>
              </a:ext>
            </a:extLst>
          </p:cNvPr>
          <p:cNvSpPr txBox="1"/>
          <p:nvPr/>
        </p:nvSpPr>
        <p:spPr>
          <a:xfrm>
            <a:off x="5638707" y="32979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1510" y="32979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3603" y="35127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0" name="직선 연결선 269">
            <a:extLst>
              <a:ext uri="{FF2B5EF4-FFF2-40B4-BE49-F238E27FC236}">
                <a16:creationId xmlns:a16="http://schemas.microsoft.com/office/drawing/2014/main" id="{E9293055-D5CD-4B9E-7F64-64B2D2CA7A52}"/>
              </a:ext>
            </a:extLst>
          </p:cNvPr>
          <p:cNvCxnSpPr/>
          <p:nvPr/>
        </p:nvCxnSpPr>
        <p:spPr>
          <a:xfrm>
            <a:off x="3823603" y="39405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TextBox 270">
            <a:extLst>
              <a:ext uri="{FF2B5EF4-FFF2-40B4-BE49-F238E27FC236}">
                <a16:creationId xmlns:a16="http://schemas.microsoft.com/office/drawing/2014/main" id="{FFC49AEA-2A8F-250C-A86A-A7751D9706C3}"/>
              </a:ext>
            </a:extLst>
          </p:cNvPr>
          <p:cNvSpPr txBox="1"/>
          <p:nvPr/>
        </p:nvSpPr>
        <p:spPr>
          <a:xfrm>
            <a:off x="3882481" y="2810616"/>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다</a:t>
            </a:r>
            <a:r>
              <a:rPr lang="en-US" altLang="ko-KR" dirty="0"/>
              <a:t>)</a:t>
            </a:r>
            <a:r>
              <a:rPr lang="ko-KR" altLang="en-US" dirty="0"/>
              <a:t>신인도</a:t>
            </a:r>
          </a:p>
        </p:txBody>
      </p:sp>
      <p:sp>
        <p:nvSpPr>
          <p:cNvPr id="272" name="TextBox 271">
            <a:extLst>
              <a:ext uri="{FF2B5EF4-FFF2-40B4-BE49-F238E27FC236}">
                <a16:creationId xmlns:a16="http://schemas.microsoft.com/office/drawing/2014/main" id="{FFC49AEA-2A8F-250C-A86A-A7751D9706C3}"/>
              </a:ext>
            </a:extLst>
          </p:cNvPr>
          <p:cNvSpPr txBox="1"/>
          <p:nvPr/>
        </p:nvSpPr>
        <p:spPr>
          <a:xfrm>
            <a:off x="3882481" y="301085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계약이행 성실도</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6059077" y="32979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99" name="직선 연결선 298">
            <a:extLst>
              <a:ext uri="{FF2B5EF4-FFF2-40B4-BE49-F238E27FC236}">
                <a16:creationId xmlns:a16="http://schemas.microsoft.com/office/drawing/2014/main" id="{E9293055-D5CD-4B9E-7F64-64B2D2CA7A52}"/>
              </a:ext>
            </a:extLst>
          </p:cNvPr>
          <p:cNvCxnSpPr/>
          <p:nvPr/>
        </p:nvCxnSpPr>
        <p:spPr>
          <a:xfrm>
            <a:off x="3828979" y="2762513"/>
            <a:ext cx="262262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0" name="TextBox 299">
            <a:extLst>
              <a:ext uri="{FF2B5EF4-FFF2-40B4-BE49-F238E27FC236}">
                <a16:creationId xmlns:a16="http://schemas.microsoft.com/office/drawing/2014/main" id="{FFC49AEA-2A8F-250C-A86A-A7751D9706C3}"/>
              </a:ext>
            </a:extLst>
          </p:cNvPr>
          <p:cNvSpPr txBox="1"/>
          <p:nvPr/>
        </p:nvSpPr>
        <p:spPr>
          <a:xfrm>
            <a:off x="3910665" y="3565063"/>
            <a:ext cx="1480199" cy="323165"/>
          </a:xfrm>
          <a:prstGeom prst="rect">
            <a:avLst/>
          </a:prstGeom>
          <a:noFill/>
        </p:spPr>
        <p:txBody>
          <a:bodyPr wrap="square" lIns="0" tIns="0" rIns="0" bIns="0" rtlCol="0">
            <a:spAutoFit/>
          </a:bodyPr>
          <a:lstStyle/>
          <a:p>
            <a:r>
              <a:rPr lang="en-US" altLang="ko-KR" sz="700" dirty="0">
                <a:latin typeface="+mn-ea"/>
              </a:rPr>
              <a:t>1.</a:t>
            </a:r>
            <a:r>
              <a:rPr lang="ko-KR" altLang="en-US" sz="700" dirty="0" err="1">
                <a:latin typeface="+mn-ea"/>
              </a:rPr>
              <a:t>품질하자</a:t>
            </a:r>
            <a:endParaRPr lang="ko-KR" altLang="en-US" sz="700" dirty="0">
              <a:latin typeface="+mn-ea"/>
            </a:endParaRPr>
          </a:p>
          <a:p>
            <a:r>
              <a:rPr lang="en-US" altLang="ko-KR" sz="700" dirty="0">
                <a:latin typeface="+mn-ea"/>
              </a:rPr>
              <a:t>2.</a:t>
            </a:r>
            <a:r>
              <a:rPr lang="ko-KR" altLang="en-US" sz="700" dirty="0" err="1">
                <a:latin typeface="+mn-ea"/>
              </a:rPr>
              <a:t>납품지연</a:t>
            </a:r>
            <a:endParaRPr lang="ko-KR" altLang="en-US" sz="700" dirty="0">
              <a:latin typeface="+mn-ea"/>
            </a:endParaRPr>
          </a:p>
          <a:p>
            <a:r>
              <a:rPr lang="en-US" altLang="ko-KR" sz="700" dirty="0">
                <a:latin typeface="+mn-ea"/>
              </a:rPr>
              <a:t>3.</a:t>
            </a:r>
            <a:r>
              <a:rPr lang="ko-KR" altLang="en-US" sz="700" dirty="0">
                <a:latin typeface="+mn-ea"/>
              </a:rPr>
              <a:t>부정당업자 제재</a:t>
            </a:r>
          </a:p>
        </p:txBody>
      </p:sp>
      <p:sp>
        <p:nvSpPr>
          <p:cNvPr id="301" name="TextBox 300">
            <a:extLst>
              <a:ext uri="{FF2B5EF4-FFF2-40B4-BE49-F238E27FC236}">
                <a16:creationId xmlns:a16="http://schemas.microsoft.com/office/drawing/2014/main" id="{FFC49AEA-2A8F-250C-A86A-A7751D9706C3}"/>
              </a:ext>
            </a:extLst>
          </p:cNvPr>
          <p:cNvSpPr txBox="1"/>
          <p:nvPr/>
        </p:nvSpPr>
        <p:spPr>
          <a:xfrm>
            <a:off x="5404988" y="3672784"/>
            <a:ext cx="413255" cy="107722"/>
          </a:xfrm>
          <a:prstGeom prst="rect">
            <a:avLst/>
          </a:prstGeom>
          <a:noFill/>
        </p:spPr>
        <p:txBody>
          <a:bodyPr wrap="none" lIns="0" tIns="0" rIns="0" bIns="0" rtlCol="0">
            <a:spAutoFit/>
          </a:bodyPr>
          <a:lstStyle/>
          <a:p>
            <a:pPr lvl="0" algn="r" defTabSz="1013612">
              <a:defRPr/>
            </a:pPr>
            <a:r>
              <a:rPr kumimoji="1" lang="en-US" altLang="ko-KR" sz="700" spc="-60" dirty="0">
                <a:solidFill>
                  <a:srgbClr val="000000">
                    <a:lumMod val="65000"/>
                    <a:lumOff val="35000"/>
                  </a:srgbClr>
                </a:solidFill>
                <a:latin typeface="Verdana" panose="020B0604030504040204" pitchFamily="34" charset="0"/>
              </a:rPr>
              <a:t>+3.7~-4.2</a:t>
            </a:r>
          </a:p>
        </p:txBody>
      </p:sp>
      <p:sp>
        <p:nvSpPr>
          <p:cNvPr id="302" name="TextBox 301">
            <a:extLst>
              <a:ext uri="{FF2B5EF4-FFF2-40B4-BE49-F238E27FC236}">
                <a16:creationId xmlns:a16="http://schemas.microsoft.com/office/drawing/2014/main" id="{FFC49AEA-2A8F-250C-A86A-A7751D9706C3}"/>
              </a:ext>
            </a:extLst>
          </p:cNvPr>
          <p:cNvSpPr txBox="1"/>
          <p:nvPr/>
        </p:nvSpPr>
        <p:spPr>
          <a:xfrm>
            <a:off x="6381281" y="36727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3" name="직사각형 302"/>
          <p:cNvSpPr/>
          <p:nvPr/>
        </p:nvSpPr>
        <p:spPr>
          <a:xfrm>
            <a:off x="3823602" y="4282184"/>
            <a:ext cx="1639886" cy="85313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4" name="TextBox 303">
            <a:extLst>
              <a:ext uri="{FF2B5EF4-FFF2-40B4-BE49-F238E27FC236}">
                <a16:creationId xmlns:a16="http://schemas.microsoft.com/office/drawing/2014/main" id="{FFC49AEA-2A8F-250C-A86A-A7751D9706C3}"/>
              </a:ext>
            </a:extLst>
          </p:cNvPr>
          <p:cNvSpPr txBox="1"/>
          <p:nvPr/>
        </p:nvSpPr>
        <p:spPr>
          <a:xfrm>
            <a:off x="3910665" y="4282186"/>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5638707" y="428218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21510" y="428218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823603" y="44969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823603" y="51363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9" name="TextBox 308">
            <a:extLst>
              <a:ext uri="{FF2B5EF4-FFF2-40B4-BE49-F238E27FC236}">
                <a16:creationId xmlns:a16="http://schemas.microsoft.com/office/drawing/2014/main" id="{FFC49AEA-2A8F-250C-A86A-A7751D9706C3}"/>
              </a:ext>
            </a:extLst>
          </p:cNvPr>
          <p:cNvSpPr txBox="1"/>
          <p:nvPr/>
        </p:nvSpPr>
        <p:spPr>
          <a:xfrm>
            <a:off x="3882481" y="399507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 </a:t>
            </a:r>
            <a:r>
              <a:rPr lang="ko-KR" altLang="en-US" sz="700" dirty="0" err="1">
                <a:latin typeface="+mn-ea"/>
              </a:rPr>
              <a:t>사회적책임</a:t>
            </a:r>
            <a:r>
              <a:rPr lang="ko-KR" altLang="en-US" sz="700" dirty="0">
                <a:latin typeface="+mn-ea"/>
              </a:rPr>
              <a:t> 등 </a:t>
            </a:r>
            <a:r>
              <a:rPr lang="ko-KR" altLang="en-US" sz="700" dirty="0" err="1">
                <a:latin typeface="+mn-ea"/>
              </a:rPr>
              <a:t>신뢰정도</a:t>
            </a:r>
            <a:endParaRPr lang="ko-KR" altLang="en-US" sz="700" dirty="0">
              <a:latin typeface="+mn-ea"/>
            </a:endParaRPr>
          </a:p>
        </p:txBody>
      </p:sp>
      <p:sp>
        <p:nvSpPr>
          <p:cNvPr id="310" name="TextBox 309">
            <a:extLst>
              <a:ext uri="{FF2B5EF4-FFF2-40B4-BE49-F238E27FC236}">
                <a16:creationId xmlns:a16="http://schemas.microsoft.com/office/drawing/2014/main" id="{FFC49AEA-2A8F-250C-A86A-A7751D9706C3}"/>
              </a:ext>
            </a:extLst>
          </p:cNvPr>
          <p:cNvSpPr txBox="1"/>
          <p:nvPr/>
        </p:nvSpPr>
        <p:spPr>
          <a:xfrm>
            <a:off x="6059077" y="428218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11" name="TextBox 310">
            <a:extLst>
              <a:ext uri="{FF2B5EF4-FFF2-40B4-BE49-F238E27FC236}">
                <a16:creationId xmlns:a16="http://schemas.microsoft.com/office/drawing/2014/main" id="{FFC49AEA-2A8F-250C-A86A-A7751D9706C3}"/>
              </a:ext>
            </a:extLst>
          </p:cNvPr>
          <p:cNvSpPr txBox="1"/>
          <p:nvPr/>
        </p:nvSpPr>
        <p:spPr>
          <a:xfrm>
            <a:off x="3910665" y="4549281"/>
            <a:ext cx="1480199" cy="538609"/>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고용창출</a:t>
            </a:r>
          </a:p>
          <a:p>
            <a:r>
              <a:rPr lang="en-US" altLang="ko-KR" sz="700" dirty="0">
                <a:latin typeface="+mn-ea"/>
              </a:rPr>
              <a:t>2.</a:t>
            </a:r>
            <a:r>
              <a:rPr lang="ko-KR" altLang="en-US" sz="700" dirty="0">
                <a:latin typeface="+mn-ea"/>
              </a:rPr>
              <a:t>혁신적 중소기업</a:t>
            </a:r>
          </a:p>
          <a:p>
            <a:r>
              <a:rPr lang="en-US" altLang="ko-KR" sz="700" dirty="0">
                <a:latin typeface="+mn-ea"/>
              </a:rPr>
              <a:t>3.</a:t>
            </a:r>
            <a:r>
              <a:rPr lang="ko-KR" altLang="en-US" sz="700" dirty="0">
                <a:latin typeface="+mn-ea"/>
              </a:rPr>
              <a:t>장애인기업</a:t>
            </a:r>
          </a:p>
          <a:p>
            <a:r>
              <a:rPr lang="en-US" altLang="ko-KR" sz="700" dirty="0">
                <a:latin typeface="+mn-ea"/>
              </a:rPr>
              <a:t>4.</a:t>
            </a:r>
            <a:r>
              <a:rPr lang="ko-KR" altLang="en-US" sz="700" dirty="0">
                <a:latin typeface="+mn-ea"/>
              </a:rPr>
              <a:t>여서기업지원 등</a:t>
            </a:r>
          </a:p>
          <a:p>
            <a:r>
              <a:rPr lang="en-US" altLang="ko-KR" sz="700" dirty="0">
                <a:latin typeface="+mn-ea"/>
              </a:rPr>
              <a:t>5.</a:t>
            </a:r>
            <a:r>
              <a:rPr lang="ko-KR" altLang="en-US" sz="700" dirty="0">
                <a:latin typeface="+mn-ea"/>
              </a:rPr>
              <a:t>정책지원</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5404988" y="4764724"/>
            <a:ext cx="413255" cy="107722"/>
          </a:xfrm>
          <a:prstGeom prst="rect">
            <a:avLst/>
          </a:prstGeom>
          <a:noFill/>
        </p:spPr>
        <p:txBody>
          <a:bodyPr wrap="none" lIns="0" tIns="0" rIns="0" bIns="0" rtlCol="0">
            <a:spAutoFit/>
          </a:bodyPr>
          <a:lstStyle/>
          <a:p>
            <a:pPr lvl="0" algn="r" defTabSz="1013612">
              <a:defRPr/>
            </a:pPr>
            <a:r>
              <a:rPr kumimoji="1" lang="en-US" altLang="ko-KR" sz="700" spc="-60" dirty="0">
                <a:solidFill>
                  <a:srgbClr val="000000">
                    <a:lumMod val="65000"/>
                    <a:lumOff val="35000"/>
                  </a:srgbClr>
                </a:solidFill>
                <a:latin typeface="Verdana" panose="020B0604030504040204" pitchFamily="34" charset="0"/>
              </a:rPr>
              <a:t>+3.7~-4.2</a:t>
            </a:r>
          </a:p>
        </p:txBody>
      </p:sp>
      <p:sp>
        <p:nvSpPr>
          <p:cNvPr id="313" name="TextBox 312">
            <a:extLst>
              <a:ext uri="{FF2B5EF4-FFF2-40B4-BE49-F238E27FC236}">
                <a16:creationId xmlns:a16="http://schemas.microsoft.com/office/drawing/2014/main" id="{FFC49AEA-2A8F-250C-A86A-A7751D9706C3}"/>
              </a:ext>
            </a:extLst>
          </p:cNvPr>
          <p:cNvSpPr txBox="1"/>
          <p:nvPr/>
        </p:nvSpPr>
        <p:spPr>
          <a:xfrm>
            <a:off x="6381281" y="47647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49458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3" name="그룹 2"/>
          <p:cNvGrpSpPr/>
          <p:nvPr/>
        </p:nvGrpSpPr>
        <p:grpSpPr>
          <a:xfrm>
            <a:off x="3795734" y="5211981"/>
            <a:ext cx="2712027" cy="372724"/>
            <a:chOff x="676741" y="3122128"/>
            <a:chExt cx="2712027" cy="372724"/>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676741" y="349485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4" name="TextBox 173">
              <a:extLst>
                <a:ext uri="{FF2B5EF4-FFF2-40B4-BE49-F238E27FC236}">
                  <a16:creationId xmlns:a16="http://schemas.microsoft.com/office/drawing/2014/main" id="{FFC49AEA-2A8F-250C-A86A-A7751D9706C3}"/>
                </a:ext>
              </a:extLst>
            </p:cNvPr>
            <p:cNvSpPr txBox="1"/>
            <p:nvPr/>
          </p:nvSpPr>
          <p:spPr>
            <a:xfrm>
              <a:off x="763487" y="3122128"/>
              <a:ext cx="2456097" cy="323165"/>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신인도 배점은 </a:t>
              </a:r>
              <a:r>
                <a:rPr lang="en-US" altLang="ko-KR" sz="700" dirty="0">
                  <a:latin typeface="+mn-ea"/>
                </a:rPr>
                <a:t>1~2</a:t>
              </a:r>
              <a:r>
                <a:rPr lang="ko-KR" altLang="en-US" sz="700" dirty="0">
                  <a:latin typeface="+mn-ea"/>
                </a:rPr>
                <a:t>번 항을 합하여</a:t>
              </a:r>
              <a:endParaRPr lang="en-US" altLang="ko-KR" sz="700" dirty="0">
                <a:latin typeface="+mn-ea"/>
              </a:endParaRPr>
            </a:p>
            <a:p>
              <a:pPr algn="ctr" defTabSz="1013612">
                <a:defRPr/>
              </a:pPr>
              <a:r>
                <a:rPr lang="en-US" altLang="ko-KR" sz="700" dirty="0">
                  <a:latin typeface="+mn-ea"/>
                </a:rPr>
                <a:t>+3.7~-4.2</a:t>
              </a:r>
              <a:r>
                <a:rPr lang="ko-KR" altLang="en-US" sz="700" dirty="0">
                  <a:latin typeface="+mn-ea"/>
                </a:rPr>
                <a:t>의 사이 값이 </a:t>
              </a:r>
              <a:r>
                <a:rPr lang="ko-KR" altLang="en-US" sz="700" dirty="0" err="1">
                  <a:latin typeface="+mn-ea"/>
                </a:rPr>
                <a:t>배점됩니다</a:t>
              </a:r>
              <a:r>
                <a:rPr lang="en-US" altLang="ko-KR" sz="700" dirty="0">
                  <a:latin typeface="+mn-ea"/>
                </a:rPr>
                <a:t>.</a:t>
              </a:r>
              <a:endParaRPr lang="ko-KR" altLang="en-US" sz="700" dirty="0">
                <a:latin typeface="+mn-ea"/>
              </a:endParaRPr>
            </a:p>
          </p:txBody>
        </p:sp>
      </p:grpSp>
      <p:sp>
        <p:nvSpPr>
          <p:cNvPr id="98" name="타원 9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858971436"/>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220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2018</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3" name="직사각형 172"/>
          <p:cNvSpPr/>
          <p:nvPr/>
        </p:nvSpPr>
        <p:spPr>
          <a:xfrm>
            <a:off x="704608" y="2015346"/>
            <a:ext cx="1639886" cy="9852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4" name="TextBox 173">
            <a:extLst>
              <a:ext uri="{FF2B5EF4-FFF2-40B4-BE49-F238E27FC236}">
                <a16:creationId xmlns:a16="http://schemas.microsoft.com/office/drawing/2014/main" id="{FFC49AEA-2A8F-250C-A86A-A7751D9706C3}"/>
              </a:ext>
            </a:extLst>
          </p:cNvPr>
          <p:cNvSpPr txBox="1"/>
          <p:nvPr/>
        </p:nvSpPr>
        <p:spPr>
          <a:xfrm>
            <a:off x="791671" y="2015348"/>
            <a:ext cx="1570293"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75" name="TextBox 174">
            <a:extLst>
              <a:ext uri="{FF2B5EF4-FFF2-40B4-BE49-F238E27FC236}">
                <a16:creationId xmlns:a16="http://schemas.microsoft.com/office/drawing/2014/main" id="{FFC49AEA-2A8F-250C-A86A-A7751D9706C3}"/>
              </a:ext>
            </a:extLst>
          </p:cNvPr>
          <p:cNvSpPr txBox="1"/>
          <p:nvPr/>
        </p:nvSpPr>
        <p:spPr>
          <a:xfrm>
            <a:off x="2519713" y="201534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701911" y="20153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4004" y="22300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4004" y="29990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763487" y="152799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a:t>
            </a:r>
            <a:r>
              <a:rPr lang="ko-KR" altLang="en-US" dirty="0"/>
              <a:t>라</a:t>
            </a:r>
            <a:r>
              <a:rPr lang="en-US" altLang="ko-KR" dirty="0"/>
              <a:t>)</a:t>
            </a:r>
            <a:r>
              <a:rPr lang="ko-KR" altLang="en-US" dirty="0"/>
              <a:t>결격사유</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763487" y="172823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a:t>
            </a:r>
            <a:r>
              <a:rPr lang="ko-KR" altLang="en-US" sz="700" dirty="0" err="1">
                <a:latin typeface="+mn-ea"/>
              </a:rPr>
              <a:t>납품이행</a:t>
            </a:r>
            <a:r>
              <a:rPr lang="ko-KR" altLang="en-US" sz="700" dirty="0">
                <a:latin typeface="+mn-ea"/>
              </a:rPr>
              <a:t> 능력 결격 여부</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2940083" y="201534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6740" y="307201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5521" y="2290674"/>
            <a:ext cx="1480199" cy="646331"/>
          </a:xfrm>
          <a:prstGeom prst="rect">
            <a:avLst/>
          </a:prstGeom>
          <a:noFill/>
        </p:spPr>
        <p:txBody>
          <a:bodyPr wrap="square" lIns="0" tIns="0" rIns="0" bIns="0" rtlCol="0">
            <a:spAutoFit/>
          </a:bodyPr>
          <a:lstStyle/>
          <a:p>
            <a:r>
              <a:rPr lang="ko-KR" altLang="en-US" sz="700" dirty="0">
                <a:latin typeface="+mn-ea"/>
              </a:rPr>
              <a:t>부도 등 및 부정당업자제재 상태인 경우 또는 부도 등의 우려가 있어 해당 계약이행이 어렵다고 판단되는 경우</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판정을 받은 경우는 제외</a:t>
            </a:r>
            <a:r>
              <a:rPr lang="en-US" altLang="ko-KR" sz="700" dirty="0">
                <a:latin typeface="+mn-ea"/>
              </a:rPr>
              <a:t>)</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2576843" y="2559978"/>
            <a:ext cx="13625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endParaRPr lang="ko-KR" altLang="en-US" dirty="0"/>
          </a:p>
        </p:txBody>
      </p:sp>
      <p:sp>
        <p:nvSpPr>
          <p:cNvPr id="187" name="TextBox 186">
            <a:extLst>
              <a:ext uri="{FF2B5EF4-FFF2-40B4-BE49-F238E27FC236}">
                <a16:creationId xmlns:a16="http://schemas.microsoft.com/office/drawing/2014/main" id="{FFC49AEA-2A8F-250C-A86A-A7751D9706C3}"/>
              </a:ext>
            </a:extLst>
          </p:cNvPr>
          <p:cNvSpPr txBox="1"/>
          <p:nvPr/>
        </p:nvSpPr>
        <p:spPr>
          <a:xfrm>
            <a:off x="3276137" y="255997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3" name="그룹 2"/>
          <p:cNvGrpSpPr/>
          <p:nvPr/>
        </p:nvGrpSpPr>
        <p:grpSpPr>
          <a:xfrm>
            <a:off x="675399" y="3115641"/>
            <a:ext cx="2713369" cy="3067770"/>
            <a:chOff x="682785" y="3077369"/>
            <a:chExt cx="2713369" cy="3067770"/>
          </a:xfrm>
        </p:grpSpPr>
        <p:sp>
          <p:nvSpPr>
            <p:cNvPr id="208" name="TextBox 207">
              <a:extLst>
                <a:ext uri="{FF2B5EF4-FFF2-40B4-BE49-F238E27FC236}">
                  <a16:creationId xmlns:a16="http://schemas.microsoft.com/office/drawing/2014/main" id="{FFC49AEA-2A8F-250C-A86A-A7751D9706C3}"/>
                </a:ext>
              </a:extLst>
            </p:cNvPr>
            <p:cNvSpPr txBox="1"/>
            <p:nvPr/>
          </p:nvSpPr>
          <p:spPr>
            <a:xfrm>
              <a:off x="770874" y="3077369"/>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가</a:t>
              </a:r>
              <a:r>
                <a:rPr lang="en-US" altLang="ko-KR" sz="700" dirty="0">
                  <a:latin typeface="+mn-ea"/>
                </a:rPr>
                <a:t>) </a:t>
              </a:r>
              <a:r>
                <a:rPr lang="ko-KR" altLang="en-US" sz="700" dirty="0">
                  <a:latin typeface="+mn-ea"/>
                </a:rPr>
                <a:t>재무상태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30</a:t>
              </a:r>
              <a:r>
                <a:rPr lang="ko-KR" altLang="en-US" sz="700" dirty="0">
                  <a:latin typeface="+mn-ea"/>
                </a:rPr>
                <a:t>점</a:t>
              </a:r>
            </a:p>
          </p:txBody>
        </p:sp>
        <p:grpSp>
          <p:nvGrpSpPr>
            <p:cNvPr id="209" name="그룹 208"/>
            <p:cNvGrpSpPr/>
            <p:nvPr/>
          </p:nvGrpSpPr>
          <p:grpSpPr>
            <a:xfrm flipV="1">
              <a:off x="3132961" y="3190700"/>
              <a:ext cx="94010" cy="47005"/>
              <a:chOff x="6812560" y="3297172"/>
              <a:chExt cx="94010" cy="47005"/>
            </a:xfrm>
          </p:grpSpPr>
          <p:cxnSp>
            <p:nvCxnSpPr>
              <p:cNvPr id="210" name="직선 연결선 2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2" name="직선 연결선 2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684127" y="336417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9" name="그룹 88"/>
            <p:cNvGrpSpPr/>
            <p:nvPr/>
          </p:nvGrpSpPr>
          <p:grpSpPr>
            <a:xfrm>
              <a:off x="682785" y="3418417"/>
              <a:ext cx="2712027" cy="708570"/>
              <a:chOff x="675399" y="5469919"/>
              <a:chExt cx="2712027" cy="708570"/>
            </a:xfrm>
          </p:grpSpPr>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617848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2" name="그룹 91"/>
              <p:cNvGrpSpPr/>
              <p:nvPr/>
            </p:nvGrpSpPr>
            <p:grpSpPr>
              <a:xfrm>
                <a:off x="701175" y="5469919"/>
                <a:ext cx="2630093" cy="646331"/>
                <a:chOff x="701175" y="1835481"/>
                <a:chExt cx="2630093" cy="646331"/>
              </a:xfrm>
            </p:grpSpPr>
            <p:sp>
              <p:nvSpPr>
                <p:cNvPr id="95" name="직사각형 94"/>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a:extLst>
                    <a:ext uri="{FF2B5EF4-FFF2-40B4-BE49-F238E27FC236}">
                      <a16:creationId xmlns:a16="http://schemas.microsoft.com/office/drawing/2014/main" id="{FFC49AEA-2A8F-250C-A86A-A7751D9706C3}"/>
                    </a:ext>
                  </a:extLst>
                </p:cNvPr>
                <p:cNvSpPr txBox="1"/>
                <p:nvPr/>
              </p:nvSpPr>
              <p:spPr>
                <a:xfrm>
                  <a:off x="790331" y="1835481"/>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p:txBody>
            </p:sp>
            <p:sp>
              <p:nvSpPr>
                <p:cNvPr id="97" name="TextBox 96">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nSpc>
                      <a:spcPct val="200000"/>
                    </a:lnSpc>
                  </a:pPr>
                  <a:r>
                    <a:rPr lang="en-US" altLang="ko-KR" sz="700" dirty="0">
                      <a:latin typeface="+mn-ea"/>
                    </a:rPr>
                    <a:t>-</a:t>
                  </a:r>
                </a:p>
              </p:txBody>
            </p:sp>
            <p:grpSp>
              <p:nvGrpSpPr>
                <p:cNvPr id="98" name="그룹 97"/>
                <p:cNvGrpSpPr/>
                <p:nvPr/>
              </p:nvGrpSpPr>
              <p:grpSpPr>
                <a:xfrm>
                  <a:off x="701175" y="1835481"/>
                  <a:ext cx="2630093" cy="644220"/>
                  <a:chOff x="701175" y="1835481"/>
                  <a:chExt cx="2630093" cy="644220"/>
                </a:xfrm>
              </p:grpSpPr>
              <p:cxnSp>
                <p:nvCxnSpPr>
                  <p:cNvPr id="99" name="직선 연결선 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sp>
          <p:nvSpPr>
            <p:cNvPr id="103" name="TextBox 102">
              <a:extLst>
                <a:ext uri="{FF2B5EF4-FFF2-40B4-BE49-F238E27FC236}">
                  <a16:creationId xmlns:a16="http://schemas.microsoft.com/office/drawing/2014/main" id="{FFC49AEA-2A8F-250C-A86A-A7751D9706C3}"/>
                </a:ext>
              </a:extLst>
            </p:cNvPr>
            <p:cNvSpPr txBox="1"/>
            <p:nvPr/>
          </p:nvSpPr>
          <p:spPr>
            <a:xfrm>
              <a:off x="770874" y="4161818"/>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나</a:t>
              </a:r>
              <a:r>
                <a:rPr lang="en-US" altLang="ko-KR" sz="700" dirty="0">
                  <a:latin typeface="+mn-ea"/>
                </a:rPr>
                <a:t>) </a:t>
              </a:r>
              <a:r>
                <a:rPr lang="ko-KR" altLang="en-US" sz="700" dirty="0">
                  <a:latin typeface="+mn-ea"/>
                </a:rPr>
                <a:t>입찰가격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70</a:t>
              </a:r>
              <a:r>
                <a:rPr lang="ko-KR" altLang="en-US" sz="700" dirty="0">
                  <a:latin typeface="+mn-ea"/>
                </a:rPr>
                <a:t>점</a:t>
              </a:r>
            </a:p>
          </p:txBody>
        </p:sp>
        <p:grpSp>
          <p:nvGrpSpPr>
            <p:cNvPr id="104" name="그룹 103"/>
            <p:cNvGrpSpPr/>
            <p:nvPr/>
          </p:nvGrpSpPr>
          <p:grpSpPr>
            <a:xfrm flipV="1">
              <a:off x="3132961" y="4275149"/>
              <a:ext cx="94010" cy="47005"/>
              <a:chOff x="6812560" y="3297172"/>
              <a:chExt cx="94010" cy="47005"/>
            </a:xfrm>
          </p:grpSpPr>
          <p:cxnSp>
            <p:nvCxnSpPr>
              <p:cNvPr id="105" name="직선 연결선 10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6" name="직선 연결선 10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7" name="직선 연결선 106">
              <a:extLst>
                <a:ext uri="{FF2B5EF4-FFF2-40B4-BE49-F238E27FC236}">
                  <a16:creationId xmlns:a16="http://schemas.microsoft.com/office/drawing/2014/main" id="{E9293055-D5CD-4B9E-7F64-64B2D2CA7A52}"/>
                </a:ext>
              </a:extLst>
            </p:cNvPr>
            <p:cNvCxnSpPr/>
            <p:nvPr/>
          </p:nvCxnSpPr>
          <p:spPr>
            <a:xfrm>
              <a:off x="684127" y="444862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684127" y="61451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09" name="그룹 108"/>
            <p:cNvGrpSpPr/>
            <p:nvPr/>
          </p:nvGrpSpPr>
          <p:grpSpPr>
            <a:xfrm>
              <a:off x="725094" y="4512743"/>
              <a:ext cx="2630093" cy="1094598"/>
              <a:chOff x="701175" y="1835480"/>
              <a:chExt cx="2630093" cy="1094598"/>
            </a:xfrm>
          </p:grpSpPr>
          <p:sp>
            <p:nvSpPr>
              <p:cNvPr id="110" name="직사각형 109"/>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70 - | (88/100 – </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 100 |</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113" name="그룹 112"/>
              <p:cNvGrpSpPr/>
              <p:nvPr/>
            </p:nvGrpSpPr>
            <p:grpSpPr>
              <a:xfrm>
                <a:off x="701175" y="1835481"/>
                <a:ext cx="2630093" cy="1094597"/>
                <a:chOff x="701175" y="1835481"/>
                <a:chExt cx="2630093" cy="1094597"/>
              </a:xfrm>
            </p:grpSpPr>
            <p:cxnSp>
              <p:nvCxnSpPr>
                <p:cNvPr id="114" name="직선 연결선 11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20" name="TextBox 119">
              <a:extLst>
                <a:ext uri="{FF2B5EF4-FFF2-40B4-BE49-F238E27FC236}">
                  <a16:creationId xmlns:a16="http://schemas.microsoft.com/office/drawing/2014/main" id="{FFC49AEA-2A8F-250C-A86A-A7751D9706C3}"/>
                </a:ext>
              </a:extLst>
            </p:cNvPr>
            <p:cNvSpPr txBox="1"/>
            <p:nvPr/>
          </p:nvSpPr>
          <p:spPr>
            <a:xfrm>
              <a:off x="812092" y="5724049"/>
              <a:ext cx="2456097" cy="323165"/>
            </a:xfrm>
            <a:prstGeom prst="rect">
              <a:avLst/>
            </a:prstGeom>
            <a:noFill/>
          </p:spPr>
          <p:txBody>
            <a:bodyPr wrap="square" lIns="0" tIns="0" rIns="0" bIns="0" rtlCol="0">
              <a:spAutoFit/>
            </a:bodyPr>
            <a:lstStyle/>
            <a:p>
              <a:pPr lvl="0" algn="ctr" defTabSz="1013612">
                <a:defRPr/>
              </a:pPr>
              <a:r>
                <a:rPr kumimoji="1" lang="ko-KR" altLang="en-US" sz="700" spc="-60" dirty="0">
                  <a:solidFill>
                    <a:srgbClr val="000000">
                      <a:lumMod val="65000"/>
                      <a:lumOff val="35000"/>
                    </a:srgbClr>
                  </a:solidFill>
                  <a:latin typeface="Verdana" panose="020B0604030504040204" pitchFamily="34" charset="0"/>
                </a:rPr>
                <a:t>입찰가격이 예정가격 이하로서</a:t>
              </a:r>
              <a:endParaRPr kumimoji="1" lang="en-US" altLang="ko-KR" sz="700" spc="-60" dirty="0">
                <a:solidFill>
                  <a:srgbClr val="000000">
                    <a:lumMod val="65000"/>
                    <a:lumOff val="35000"/>
                  </a:srgbClr>
                </a:solidFill>
                <a:latin typeface="Verdana" panose="020B0604030504040204" pitchFamily="34" charset="0"/>
              </a:endParaRPr>
            </a:p>
            <a:p>
              <a:pPr lvl="0" algn="ctr" defTabSz="1013612">
                <a:defRPr/>
              </a:pPr>
              <a:r>
                <a:rPr kumimoji="1" lang="ko-KR" altLang="en-US" sz="700" spc="-60" dirty="0">
                  <a:solidFill>
                    <a:srgbClr val="000000">
                      <a:lumMod val="65000"/>
                      <a:lumOff val="35000"/>
                    </a:srgbClr>
                  </a:solidFill>
                  <a:latin typeface="Verdana" panose="020B0604030504040204" pitchFamily="34" charset="0"/>
                </a:rPr>
                <a:t>예정가격의 </a:t>
              </a:r>
              <a:r>
                <a:rPr kumimoji="1" lang="en-US" altLang="ko-KR" sz="700" spc="-60" dirty="0">
                  <a:solidFill>
                    <a:srgbClr val="000000">
                      <a:lumMod val="65000"/>
                      <a:lumOff val="35000"/>
                    </a:srgbClr>
                  </a:solidFill>
                  <a:latin typeface="Verdana" panose="020B0604030504040204" pitchFamily="34" charset="0"/>
                </a:rPr>
                <a:t>100</a:t>
              </a:r>
              <a:r>
                <a:rPr kumimoji="1" lang="ko-KR" altLang="en-US" sz="700" spc="-60" dirty="0">
                  <a:solidFill>
                    <a:srgbClr val="000000">
                      <a:lumMod val="65000"/>
                      <a:lumOff val="35000"/>
                    </a:srgbClr>
                  </a:solidFill>
                  <a:latin typeface="Verdana" panose="020B0604030504040204" pitchFamily="34" charset="0"/>
                </a:rPr>
                <a:t>분의 </a:t>
              </a:r>
              <a:r>
                <a:rPr kumimoji="1" lang="en-US" altLang="ko-KR" sz="700" spc="-60" dirty="0">
                  <a:solidFill>
                    <a:srgbClr val="000000">
                      <a:lumMod val="65000"/>
                      <a:lumOff val="35000"/>
                    </a:srgbClr>
                  </a:solidFill>
                  <a:latin typeface="Verdana" panose="020B0604030504040204" pitchFamily="34" charset="0"/>
                </a:rPr>
                <a:t>93</a:t>
              </a:r>
              <a:r>
                <a:rPr kumimoji="1" lang="ko-KR" altLang="en-US" sz="700" spc="-60" dirty="0">
                  <a:solidFill>
                    <a:srgbClr val="000000">
                      <a:lumMod val="65000"/>
                      <a:lumOff val="35000"/>
                    </a:srgbClr>
                  </a:solidFill>
                  <a:latin typeface="Verdana" panose="020B0604030504040204" pitchFamily="34" charset="0"/>
                </a:rPr>
                <a:t>인 경우 평점은 </a:t>
              </a:r>
              <a:r>
                <a:rPr kumimoji="1" lang="en-US" altLang="ko-KR" sz="700" spc="-60" dirty="0">
                  <a:solidFill>
                    <a:srgbClr val="000000">
                      <a:lumMod val="65000"/>
                      <a:lumOff val="35000"/>
                    </a:srgbClr>
                  </a:solidFill>
                  <a:latin typeface="Verdana" panose="020B0604030504040204" pitchFamily="34" charset="0"/>
                </a:rPr>
                <a:t>65</a:t>
              </a:r>
              <a:r>
                <a:rPr kumimoji="1" lang="ko-KR" altLang="en-US" sz="700" spc="-60" dirty="0">
                  <a:solidFill>
                    <a:srgbClr val="000000">
                      <a:lumMod val="65000"/>
                      <a:lumOff val="35000"/>
                    </a:srgbClr>
                  </a:solidFill>
                  <a:latin typeface="Verdana" panose="020B0604030504040204" pitchFamily="34" charset="0"/>
                </a:rPr>
                <a:t>점</a:t>
              </a:r>
              <a:r>
                <a:rPr kumimoji="1" lang="en-US" altLang="ko-KR" sz="700" spc="-60" dirty="0">
                  <a:solidFill>
                    <a:srgbClr val="000000">
                      <a:lumMod val="65000"/>
                      <a:lumOff val="35000"/>
                    </a:srgbClr>
                  </a:solidFill>
                  <a:latin typeface="Verdana" panose="020B0604030504040204" pitchFamily="34" charset="0"/>
                </a:rPr>
                <a:t/>
              </a:r>
              <a:br>
                <a:rPr kumimoji="1" lang="en-US" altLang="ko-KR" sz="700" spc="-60" dirty="0">
                  <a:solidFill>
                    <a:srgbClr val="000000">
                      <a:lumMod val="65000"/>
                      <a:lumOff val="35000"/>
                    </a:srgbClr>
                  </a:solidFill>
                  <a:latin typeface="Verdana" panose="020B0604030504040204" pitchFamily="34" charset="0"/>
                </a:rPr>
              </a:br>
              <a:r>
                <a:rPr kumimoji="1" lang="ko-KR" altLang="en-US" sz="700" spc="-60" dirty="0" err="1">
                  <a:solidFill>
                    <a:srgbClr val="000000">
                      <a:lumMod val="65000"/>
                      <a:lumOff val="35000"/>
                    </a:srgbClr>
                  </a:solidFill>
                  <a:latin typeface="Verdana" panose="020B0604030504040204" pitchFamily="34" charset="0"/>
                </a:rPr>
                <a:t>최저평점</a:t>
              </a:r>
              <a:r>
                <a:rPr kumimoji="1" lang="ko-KR" altLang="en-US" sz="700" spc="-60" dirty="0">
                  <a:solidFill>
                    <a:srgbClr val="000000">
                      <a:lumMod val="65000"/>
                      <a:lumOff val="35000"/>
                    </a:srgbClr>
                  </a:solidFill>
                  <a:latin typeface="Verdana" panose="020B0604030504040204" pitchFamily="34" charset="0"/>
                </a:rPr>
                <a:t> </a:t>
              </a:r>
              <a:r>
                <a:rPr kumimoji="1" lang="en-US" altLang="ko-KR" sz="700" spc="-60" dirty="0">
                  <a:solidFill>
                    <a:srgbClr val="000000">
                      <a:lumMod val="65000"/>
                      <a:lumOff val="35000"/>
                    </a:srgbClr>
                  </a:solidFill>
                  <a:latin typeface="Verdana" panose="020B0604030504040204" pitchFamily="34" charset="0"/>
                </a:rPr>
                <a:t>: 2</a:t>
              </a:r>
              <a:r>
                <a:rPr kumimoji="1" lang="ko-KR" altLang="en-US" sz="700" spc="-60" dirty="0">
                  <a:solidFill>
                    <a:srgbClr val="000000">
                      <a:lumMod val="65000"/>
                      <a:lumOff val="35000"/>
                    </a:srgbClr>
                  </a:solidFill>
                  <a:latin typeface="Verdana" panose="020B0604030504040204" pitchFamily="34" charset="0"/>
                </a:rPr>
                <a:t>점</a:t>
              </a:r>
            </a:p>
          </p:txBody>
        </p:sp>
      </p:grpSp>
      <p:sp>
        <p:nvSpPr>
          <p:cNvPr id="122" name="TextBox 121">
            <a:extLst>
              <a:ext uri="{FF2B5EF4-FFF2-40B4-BE49-F238E27FC236}">
                <a16:creationId xmlns:a16="http://schemas.microsoft.com/office/drawing/2014/main" id="{FFC49AEA-2A8F-250C-A86A-A7751D9706C3}"/>
              </a:ext>
            </a:extLst>
          </p:cNvPr>
          <p:cNvSpPr txBox="1"/>
          <p:nvPr/>
        </p:nvSpPr>
        <p:spPr>
          <a:xfrm>
            <a:off x="3883823" y="1530876"/>
            <a:ext cx="2268636" cy="21544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다</a:t>
            </a:r>
            <a:r>
              <a:rPr lang="en-US" altLang="ko-KR" sz="700" dirty="0">
                <a:latin typeface="+mn-ea"/>
              </a:rPr>
              <a:t>) </a:t>
            </a:r>
            <a:r>
              <a:rPr lang="ko-KR" altLang="en-US" sz="700" dirty="0">
                <a:latin typeface="+mn-ea"/>
              </a:rPr>
              <a:t>신인도 </a:t>
            </a:r>
            <a:r>
              <a:rPr lang="ko-KR" altLang="en-US" sz="700" dirty="0" err="1">
                <a:latin typeface="+mn-ea"/>
              </a:rPr>
              <a:t>산출내역</a:t>
            </a:r>
            <a:r>
              <a:rPr lang="ko-KR" altLang="en-US" sz="700" dirty="0">
                <a:latin typeface="+mn-ea"/>
              </a:rPr>
              <a:t>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+3.7 ~ -4.2</a:t>
            </a:r>
            <a:r>
              <a:rPr lang="ko-KR" altLang="en-US" sz="700" dirty="0">
                <a:latin typeface="+mn-ea"/>
              </a:rPr>
              <a:t>점</a:t>
            </a:r>
          </a:p>
        </p:txBody>
      </p:sp>
      <p:grpSp>
        <p:nvGrpSpPr>
          <p:cNvPr id="123" name="그룹 122"/>
          <p:cNvGrpSpPr/>
          <p:nvPr/>
        </p:nvGrpSpPr>
        <p:grpSpPr>
          <a:xfrm flipV="1">
            <a:off x="6245910" y="164420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6" name="직선 연결선 125">
            <a:extLst>
              <a:ext uri="{FF2B5EF4-FFF2-40B4-BE49-F238E27FC236}">
                <a16:creationId xmlns:a16="http://schemas.microsoft.com/office/drawing/2014/main" id="{E9293055-D5CD-4B9E-7F64-64B2D2CA7A52}"/>
              </a:ext>
            </a:extLst>
          </p:cNvPr>
          <p:cNvCxnSpPr/>
          <p:nvPr/>
        </p:nvCxnSpPr>
        <p:spPr>
          <a:xfrm>
            <a:off x="3797076" y="181768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FFC49AEA-2A8F-250C-A86A-A7751D9706C3}"/>
              </a:ext>
            </a:extLst>
          </p:cNvPr>
          <p:cNvSpPr txBox="1"/>
          <p:nvPr/>
        </p:nvSpPr>
        <p:spPr>
          <a:xfrm>
            <a:off x="3910665" y="1826459"/>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1)</a:t>
            </a:r>
            <a:r>
              <a:rPr lang="ko-KR" altLang="en-US" dirty="0"/>
              <a:t>계약이행 성실도</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3914929" y="2029232"/>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66" name="TextBox 165">
            <a:extLst>
              <a:ext uri="{FF2B5EF4-FFF2-40B4-BE49-F238E27FC236}">
                <a16:creationId xmlns:a16="http://schemas.microsoft.com/office/drawing/2014/main" id="{FFC49AEA-2A8F-250C-A86A-A7751D9706C3}"/>
              </a:ext>
            </a:extLst>
          </p:cNvPr>
          <p:cNvSpPr txBox="1"/>
          <p:nvPr/>
        </p:nvSpPr>
        <p:spPr>
          <a:xfrm>
            <a:off x="4439786" y="2102520"/>
            <a:ext cx="2010812" cy="107722"/>
          </a:xfrm>
          <a:prstGeom prst="rect">
            <a:avLst/>
          </a:prstGeom>
          <a:noFill/>
        </p:spPr>
        <p:txBody>
          <a:bodyPr wrap="square" lIns="0" tIns="0" rIns="0" bIns="0" rtlCol="0">
            <a:spAutoFit/>
          </a:bodyPr>
          <a:lstStyle/>
          <a:p>
            <a:r>
              <a:rPr lang="en-US" altLang="ko-KR" sz="700" dirty="0">
                <a:latin typeface="+mn-ea"/>
              </a:rPr>
              <a:t>1. </a:t>
            </a:r>
            <a:r>
              <a:rPr lang="ko-KR" altLang="en-US" sz="700" dirty="0" err="1">
                <a:latin typeface="+mn-ea"/>
              </a:rPr>
              <a:t>품질발생</a:t>
            </a:r>
            <a:endParaRPr lang="ko-KR" altLang="en-US"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3914929" y="2213012"/>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4439786" y="2286300"/>
            <a:ext cx="2010812" cy="107722"/>
          </a:xfrm>
          <a:prstGeom prst="rect">
            <a:avLst/>
          </a:prstGeom>
          <a:noFill/>
        </p:spPr>
        <p:txBody>
          <a:bodyPr wrap="square" lIns="0" tIns="0" rIns="0" bIns="0" rtlCol="0">
            <a:spAutoFit/>
          </a:bodyPr>
          <a:lstStyle/>
          <a:p>
            <a:r>
              <a:rPr lang="ko-KR" altLang="en-US" sz="700" dirty="0">
                <a:latin typeface="+mn-ea"/>
              </a:rPr>
              <a:t>하자발생 유</a:t>
            </a:r>
            <a:r>
              <a:rPr lang="en-US" altLang="ko-KR" sz="700" dirty="0">
                <a:latin typeface="+mn-ea"/>
              </a:rPr>
              <a:t>/</a:t>
            </a:r>
            <a:r>
              <a:rPr lang="ko-KR" altLang="en-US" sz="700" dirty="0">
                <a:latin typeface="+mn-ea"/>
              </a:rPr>
              <a:t>무</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6041078" y="2286300"/>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-1.2</a:t>
            </a:r>
          </a:p>
        </p:txBody>
      </p:sp>
      <p:sp>
        <p:nvSpPr>
          <p:cNvPr id="170" name="직사각형 169"/>
          <p:cNvSpPr/>
          <p:nvPr/>
        </p:nvSpPr>
        <p:spPr>
          <a:xfrm>
            <a:off x="3839398" y="2447378"/>
            <a:ext cx="1639886" cy="234743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1" name="TextBox 170">
            <a:extLst>
              <a:ext uri="{FF2B5EF4-FFF2-40B4-BE49-F238E27FC236}">
                <a16:creationId xmlns:a16="http://schemas.microsoft.com/office/drawing/2014/main" id="{FFC49AEA-2A8F-250C-A86A-A7751D9706C3}"/>
              </a:ext>
            </a:extLst>
          </p:cNvPr>
          <p:cNvSpPr txBox="1"/>
          <p:nvPr/>
        </p:nvSpPr>
        <p:spPr>
          <a:xfrm>
            <a:off x="3926461" y="2447379"/>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5654503" y="244737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3836701" y="24473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3838794" y="26621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직선 연결선 187">
            <a:extLst>
              <a:ext uri="{FF2B5EF4-FFF2-40B4-BE49-F238E27FC236}">
                <a16:creationId xmlns:a16="http://schemas.microsoft.com/office/drawing/2014/main" id="{E9293055-D5CD-4B9E-7F64-64B2D2CA7A52}"/>
              </a:ext>
            </a:extLst>
          </p:cNvPr>
          <p:cNvCxnSpPr/>
          <p:nvPr/>
        </p:nvCxnSpPr>
        <p:spPr>
          <a:xfrm>
            <a:off x="3838794" y="47962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6074873" y="244737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0" name="TextBox 189">
            <a:extLst>
              <a:ext uri="{FF2B5EF4-FFF2-40B4-BE49-F238E27FC236}">
                <a16:creationId xmlns:a16="http://schemas.microsoft.com/office/drawing/2014/main" id="{FFC49AEA-2A8F-250C-A86A-A7751D9706C3}"/>
              </a:ext>
            </a:extLst>
          </p:cNvPr>
          <p:cNvSpPr txBox="1"/>
          <p:nvPr/>
        </p:nvSpPr>
        <p:spPr>
          <a:xfrm>
            <a:off x="3940311" y="2710895"/>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하자 발생사실이 있는 자로서 하자가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하자금액</a:t>
            </a:r>
            <a:r>
              <a:rPr lang="ko-KR" altLang="en-US" dirty="0"/>
              <a:t> 비율에 따라</a:t>
            </a:r>
          </a:p>
          <a:p>
            <a:r>
              <a:rPr lang="ko-KR" altLang="en-US" dirty="0"/>
              <a:t>① </a:t>
            </a:r>
            <a:r>
              <a:rPr lang="en-US" altLang="ko-KR" dirty="0"/>
              <a:t>5%</a:t>
            </a:r>
            <a:r>
              <a:rPr lang="ko-KR" altLang="en-US" dirty="0"/>
              <a:t>이상</a:t>
            </a:r>
          </a:p>
          <a:p>
            <a:r>
              <a:rPr lang="ko-KR" altLang="en-US" dirty="0"/>
              <a:t>② </a:t>
            </a:r>
            <a:r>
              <a:rPr lang="en-US" altLang="ko-KR" dirty="0"/>
              <a:t>3%</a:t>
            </a:r>
            <a:r>
              <a:rPr lang="ko-KR" altLang="en-US" dirty="0"/>
              <a:t>이상 ∼ </a:t>
            </a:r>
            <a:r>
              <a:rPr lang="en-US" altLang="ko-KR" dirty="0"/>
              <a:t>5%</a:t>
            </a:r>
            <a:r>
              <a:rPr lang="ko-KR" altLang="en-US" dirty="0"/>
              <a:t>미만</a:t>
            </a:r>
          </a:p>
          <a:p>
            <a:r>
              <a:rPr lang="ko-KR" altLang="en-US" dirty="0"/>
              <a:t>③ </a:t>
            </a:r>
            <a:r>
              <a:rPr lang="en-US" altLang="ko-KR" dirty="0"/>
              <a:t>1%</a:t>
            </a:r>
            <a:r>
              <a:rPr lang="ko-KR" altLang="en-US" dirty="0"/>
              <a:t>이상 ∼ </a:t>
            </a:r>
            <a:r>
              <a:rPr lang="en-US" altLang="ko-KR" dirty="0"/>
              <a:t>3% </a:t>
            </a:r>
            <a:r>
              <a:rPr lang="ko-KR" altLang="en-US" dirty="0"/>
              <a:t>미만</a:t>
            </a:r>
          </a:p>
          <a:p>
            <a:r>
              <a:rPr lang="ko-KR" altLang="en-US" dirty="0"/>
              <a:t>④ </a:t>
            </a:r>
            <a:r>
              <a:rPr lang="en-US" altLang="ko-KR" dirty="0"/>
              <a:t>0.1%</a:t>
            </a:r>
            <a:r>
              <a:rPr lang="ko-KR" altLang="en-US" dirty="0"/>
              <a:t>이상 ∼ </a:t>
            </a:r>
            <a:r>
              <a:rPr lang="en-US" altLang="ko-KR" dirty="0"/>
              <a:t>1% </a:t>
            </a:r>
            <a:r>
              <a:rPr lang="ko-KR" altLang="en-US" dirty="0"/>
              <a:t>미만</a:t>
            </a:r>
          </a:p>
        </p:txBody>
      </p:sp>
      <p:sp>
        <p:nvSpPr>
          <p:cNvPr id="191" name="TextBox 190">
            <a:extLst>
              <a:ext uri="{FF2B5EF4-FFF2-40B4-BE49-F238E27FC236}">
                <a16:creationId xmlns:a16="http://schemas.microsoft.com/office/drawing/2014/main" id="{FFC49AEA-2A8F-250C-A86A-A7751D9706C3}"/>
              </a:ext>
            </a:extLst>
          </p:cNvPr>
          <p:cNvSpPr txBox="1"/>
          <p:nvPr/>
        </p:nvSpPr>
        <p:spPr>
          <a:xfrm>
            <a:off x="5692397" y="3249504"/>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
        <p:nvSpPr>
          <p:cNvPr id="192" name="TextBox 191">
            <a:extLst>
              <a:ext uri="{FF2B5EF4-FFF2-40B4-BE49-F238E27FC236}">
                <a16:creationId xmlns:a16="http://schemas.microsoft.com/office/drawing/2014/main" id="{FFC49AEA-2A8F-250C-A86A-A7751D9706C3}"/>
              </a:ext>
            </a:extLst>
          </p:cNvPr>
          <p:cNvSpPr txBox="1"/>
          <p:nvPr/>
        </p:nvSpPr>
        <p:spPr>
          <a:xfrm>
            <a:off x="6410927" y="367530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3940311" y="3777947"/>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최근 </a:t>
            </a:r>
            <a:r>
              <a:rPr lang="en-US" altLang="ko-KR" dirty="0"/>
              <a:t>1</a:t>
            </a:r>
            <a:r>
              <a:rPr lang="ko-KR" altLang="en-US" dirty="0"/>
              <a:t>년 이내 국방관서와의 계약이행과정에서 감액 사실이 있는 자로서 감액이 발생한 계약</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a:t>
            </a:r>
            <a:r>
              <a:rPr lang="ko-KR" altLang="en-US" dirty="0" err="1"/>
              <a:t>감액비율에</a:t>
            </a:r>
            <a:r>
              <a:rPr lang="ko-KR" altLang="en-US" dirty="0"/>
              <a:t> 따라</a:t>
            </a:r>
            <a:br>
              <a:rPr lang="ko-KR" altLang="en-US" dirty="0"/>
            </a:br>
            <a:r>
              <a:rPr lang="ko-KR" altLang="en-US" dirty="0"/>
              <a:t>① </a:t>
            </a:r>
            <a:r>
              <a:rPr lang="en-US" altLang="ko-KR" dirty="0"/>
              <a:t>20%</a:t>
            </a:r>
            <a:r>
              <a:rPr lang="ko-KR" altLang="en-US" dirty="0"/>
              <a:t>이상</a:t>
            </a:r>
          </a:p>
          <a:p>
            <a:r>
              <a:rPr lang="ko-KR" altLang="en-US" dirty="0"/>
              <a:t>② </a:t>
            </a:r>
            <a:r>
              <a:rPr lang="en-US" altLang="ko-KR" dirty="0"/>
              <a:t>10%</a:t>
            </a:r>
            <a:r>
              <a:rPr lang="ko-KR" altLang="en-US" dirty="0"/>
              <a:t>이상 ∼ </a:t>
            </a:r>
            <a:r>
              <a:rPr lang="en-US" altLang="ko-KR" dirty="0"/>
              <a:t>20%</a:t>
            </a:r>
            <a:r>
              <a:rPr lang="ko-KR" altLang="en-US" dirty="0"/>
              <a:t>미만</a:t>
            </a:r>
          </a:p>
          <a:p>
            <a:r>
              <a:rPr lang="ko-KR" altLang="en-US" dirty="0"/>
              <a:t>③ </a:t>
            </a:r>
            <a:r>
              <a:rPr lang="en-US" altLang="ko-KR" dirty="0"/>
              <a:t>1%</a:t>
            </a:r>
            <a:r>
              <a:rPr lang="ko-KR" altLang="en-US" dirty="0"/>
              <a:t>이상 ∼ </a:t>
            </a:r>
            <a:r>
              <a:rPr lang="en-US" altLang="ko-KR" dirty="0"/>
              <a:t>10%</a:t>
            </a:r>
            <a:r>
              <a:rPr lang="ko-KR" altLang="en-US" dirty="0"/>
              <a:t>미만</a:t>
            </a:r>
          </a:p>
          <a:p>
            <a:r>
              <a:rPr lang="ko-KR" altLang="en-US" dirty="0"/>
              <a:t>④ </a:t>
            </a:r>
            <a:r>
              <a:rPr lang="en-US" altLang="ko-KR" dirty="0"/>
              <a:t>0.1%</a:t>
            </a:r>
            <a:r>
              <a:rPr lang="ko-KR" altLang="en-US" dirty="0"/>
              <a:t>이상 ∼ </a:t>
            </a:r>
            <a:r>
              <a:rPr lang="en-US" altLang="ko-KR" dirty="0"/>
              <a:t>1%</a:t>
            </a:r>
            <a:r>
              <a:rPr lang="ko-KR" altLang="en-US" dirty="0"/>
              <a:t>미만</a:t>
            </a:r>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843649" y="37291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5692397" y="4316556"/>
            <a:ext cx="15549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-0.6</a:t>
            </a:r>
            <a:br>
              <a:rPr lang="en-US" altLang="ko-KR" dirty="0"/>
            </a:br>
            <a:r>
              <a:rPr lang="en-US" altLang="ko-KR" dirty="0"/>
              <a:t>-0.5</a:t>
            </a:r>
            <a:br>
              <a:rPr lang="en-US" altLang="ko-KR" dirty="0"/>
            </a:br>
            <a:r>
              <a:rPr lang="en-US" altLang="ko-KR" dirty="0"/>
              <a:t>-0.4</a:t>
            </a:r>
            <a:br>
              <a:rPr lang="en-US" altLang="ko-KR" dirty="0"/>
            </a:br>
            <a:r>
              <a:rPr lang="en-US" altLang="ko-KR" dirty="0"/>
              <a:t>-0.3</a:t>
            </a:r>
          </a:p>
        </p:txBody>
      </p:sp>
    </p:spTree>
    <p:extLst>
      <p:ext uri="{BB962C8B-B14F-4D97-AF65-F5344CB8AC3E}">
        <p14:creationId xmlns:p14="http://schemas.microsoft.com/office/powerpoint/2010/main" val="1711948813"/>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221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2018</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3" name="그룹 2"/>
          <p:cNvGrpSpPr/>
          <p:nvPr/>
        </p:nvGrpSpPr>
        <p:grpSpPr>
          <a:xfrm>
            <a:off x="716366" y="1491157"/>
            <a:ext cx="2630093" cy="1790884"/>
            <a:chOff x="3989101" y="6222499"/>
            <a:chExt cx="2630093" cy="1790884"/>
          </a:xfrm>
        </p:grpSpPr>
        <p:sp>
          <p:nvSpPr>
            <p:cNvPr id="123" name="TextBox 122">
              <a:extLst>
                <a:ext uri="{FF2B5EF4-FFF2-40B4-BE49-F238E27FC236}">
                  <a16:creationId xmlns:a16="http://schemas.microsoft.com/office/drawing/2014/main" id="{FFC49AEA-2A8F-250C-A86A-A7751D9706C3}"/>
                </a:ext>
              </a:extLst>
            </p:cNvPr>
            <p:cNvSpPr txBox="1"/>
            <p:nvPr/>
          </p:nvSpPr>
          <p:spPr>
            <a:xfrm>
              <a:off x="4067329" y="6222499"/>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4592186" y="6295787"/>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err="1">
                  <a:latin typeface="+mn-ea"/>
                </a:rPr>
                <a:t>납품지연</a:t>
              </a:r>
              <a:endParaRPr lang="ko-KR" altLang="en-US" sz="700" dirty="0">
                <a:latin typeface="+mn-ea"/>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4067329" y="640627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26" name="TextBox 125">
              <a:extLst>
                <a:ext uri="{FF2B5EF4-FFF2-40B4-BE49-F238E27FC236}">
                  <a16:creationId xmlns:a16="http://schemas.microsoft.com/office/drawing/2014/main" id="{FFC49AEA-2A8F-250C-A86A-A7751D9706C3}"/>
                </a:ext>
              </a:extLst>
            </p:cNvPr>
            <p:cNvSpPr txBox="1"/>
            <p:nvPr/>
          </p:nvSpPr>
          <p:spPr>
            <a:xfrm>
              <a:off x="4592186" y="6479567"/>
              <a:ext cx="2010812" cy="107722"/>
            </a:xfrm>
            <a:prstGeom prst="rect">
              <a:avLst/>
            </a:prstGeom>
            <a:noFill/>
          </p:spPr>
          <p:txBody>
            <a:bodyPr wrap="square" lIns="0" tIns="0" rIns="0" bIns="0" rtlCol="0">
              <a:spAutoFit/>
            </a:bodyPr>
            <a:lstStyle/>
            <a:p>
              <a:r>
                <a:rPr lang="ko-KR" altLang="en-US" sz="700" dirty="0">
                  <a:latin typeface="+mn-ea"/>
                </a:rPr>
                <a:t>지체상금</a:t>
              </a:r>
            </a:p>
          </p:txBody>
        </p:sp>
        <p:sp>
          <p:nvSpPr>
            <p:cNvPr id="127" name="TextBox 126">
              <a:extLst>
                <a:ext uri="{FF2B5EF4-FFF2-40B4-BE49-F238E27FC236}">
                  <a16:creationId xmlns:a16="http://schemas.microsoft.com/office/drawing/2014/main" id="{FFC49AEA-2A8F-250C-A86A-A7751D9706C3}"/>
                </a:ext>
              </a:extLst>
            </p:cNvPr>
            <p:cNvSpPr txBox="1"/>
            <p:nvPr/>
          </p:nvSpPr>
          <p:spPr>
            <a:xfrm>
              <a:off x="6193478" y="6479567"/>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28" name="직사각형 127"/>
            <p:cNvSpPr/>
            <p:nvPr/>
          </p:nvSpPr>
          <p:spPr>
            <a:xfrm>
              <a:off x="3991798" y="6640645"/>
              <a:ext cx="1639886" cy="13713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4078861" y="6640646"/>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5806903" y="6640646"/>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31" name="직선 연결선 130">
              <a:extLst>
                <a:ext uri="{FF2B5EF4-FFF2-40B4-BE49-F238E27FC236}">
                  <a16:creationId xmlns:a16="http://schemas.microsoft.com/office/drawing/2014/main" id="{E9293055-D5CD-4B9E-7F64-64B2D2CA7A52}"/>
                </a:ext>
              </a:extLst>
            </p:cNvPr>
            <p:cNvCxnSpPr/>
            <p:nvPr/>
          </p:nvCxnSpPr>
          <p:spPr>
            <a:xfrm>
              <a:off x="3989101" y="664064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3991194" y="68553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3991194" y="80133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6227273" y="664064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5" name="TextBox 134">
              <a:extLst>
                <a:ext uri="{FF2B5EF4-FFF2-40B4-BE49-F238E27FC236}">
                  <a16:creationId xmlns:a16="http://schemas.microsoft.com/office/drawing/2014/main" id="{FFC49AEA-2A8F-250C-A86A-A7751D9706C3}"/>
                </a:ext>
              </a:extLst>
            </p:cNvPr>
            <p:cNvSpPr txBox="1"/>
            <p:nvPr/>
          </p:nvSpPr>
          <p:spPr>
            <a:xfrm>
              <a:off x="4092711" y="6904162"/>
              <a:ext cx="1480199" cy="1077218"/>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1</a:t>
              </a:r>
              <a:r>
                <a:rPr lang="ko-KR" altLang="en-US" dirty="0"/>
                <a:t>년 이내 국방관서와의 계약이행과정에서 지체상금 부과대상자로서 </a:t>
              </a:r>
              <a:r>
                <a:rPr lang="ko-KR" altLang="en-US" dirty="0" err="1"/>
                <a:t>지체상금이</a:t>
              </a:r>
              <a:r>
                <a:rPr lang="ko-KR" altLang="en-US" dirty="0"/>
                <a:t> 발생한 계약 </a:t>
              </a:r>
              <a:r>
                <a:rPr lang="en-US" altLang="ko-KR" dirty="0"/>
                <a:t>(</a:t>
              </a:r>
              <a:r>
                <a:rPr lang="ko-KR" altLang="en-US" dirty="0" err="1"/>
                <a:t>단가계약시</a:t>
              </a:r>
              <a:r>
                <a:rPr lang="ko-KR" altLang="en-US" dirty="0"/>
                <a:t> </a:t>
              </a:r>
              <a:r>
                <a:rPr lang="ko-KR" altLang="en-US" dirty="0" err="1"/>
                <a:t>납품요구</a:t>
              </a:r>
              <a:r>
                <a:rPr lang="en-US" altLang="ko-KR" dirty="0"/>
                <a:t>)</a:t>
              </a:r>
              <a:r>
                <a:rPr lang="ko-KR" altLang="en-US" dirty="0"/>
                <a:t>의 종결계약금액 대비  지체상금 </a:t>
              </a:r>
              <a:r>
                <a:rPr lang="ko-KR" altLang="en-US" dirty="0" err="1"/>
                <a:t>부과율에</a:t>
              </a:r>
              <a:r>
                <a:rPr lang="ko-KR" altLang="en-US" dirty="0"/>
                <a:t> 따라</a:t>
              </a:r>
              <a:br>
                <a:rPr lang="ko-KR" altLang="en-US" dirty="0"/>
              </a:br>
              <a:r>
                <a:rPr lang="en-US" altLang="ko-KR" dirty="0"/>
                <a:t>- 7%</a:t>
              </a:r>
              <a:r>
                <a:rPr lang="ko-KR" altLang="en-US" dirty="0"/>
                <a:t>이상</a:t>
              </a:r>
              <a:br>
                <a:rPr lang="ko-KR" altLang="en-US" dirty="0"/>
              </a:br>
              <a:r>
                <a:rPr lang="en-US" altLang="ko-KR" dirty="0"/>
                <a:t>- 5%</a:t>
              </a:r>
              <a:r>
                <a:rPr lang="ko-KR" altLang="en-US" dirty="0"/>
                <a:t>이상 ∼ </a:t>
              </a:r>
              <a:r>
                <a:rPr lang="en-US" altLang="ko-KR" dirty="0"/>
                <a:t>7%</a:t>
              </a:r>
              <a:r>
                <a:rPr lang="ko-KR" altLang="en-US" dirty="0"/>
                <a:t>미만</a:t>
              </a:r>
              <a:br>
                <a:rPr lang="ko-KR" altLang="en-US" dirty="0"/>
              </a:br>
              <a:r>
                <a:rPr lang="en-US" altLang="ko-KR" dirty="0"/>
                <a:t>- 3%</a:t>
              </a:r>
              <a:r>
                <a:rPr lang="ko-KR" altLang="en-US" dirty="0"/>
                <a:t>이상 ∼ </a:t>
              </a:r>
              <a:r>
                <a:rPr lang="en-US" altLang="ko-KR" dirty="0"/>
                <a:t>5%</a:t>
              </a:r>
              <a:r>
                <a:rPr lang="ko-KR" altLang="en-US" dirty="0"/>
                <a:t>미만</a:t>
              </a:r>
              <a:br>
                <a:rPr lang="ko-KR" altLang="en-US" dirty="0"/>
              </a:br>
              <a:r>
                <a:rPr lang="en-US" altLang="ko-KR" dirty="0"/>
                <a:t>- 1%</a:t>
              </a:r>
              <a:r>
                <a:rPr lang="ko-KR" altLang="en-US" dirty="0"/>
                <a:t>이상 ∼ </a:t>
              </a:r>
              <a:r>
                <a:rPr lang="en-US" altLang="ko-KR" dirty="0"/>
                <a:t>3%</a:t>
              </a:r>
              <a:r>
                <a:rPr lang="ko-KR" altLang="en-US" dirty="0"/>
                <a:t>미만</a:t>
              </a:r>
              <a:br>
                <a:rPr lang="ko-KR" altLang="en-US" dirty="0"/>
              </a:br>
              <a:r>
                <a:rPr lang="en-US" altLang="ko-KR" dirty="0"/>
                <a:t>- 0.1%</a:t>
              </a:r>
              <a:r>
                <a:rPr lang="ko-KR" altLang="en-US" dirty="0"/>
                <a:t>이상 ∼ </a:t>
              </a:r>
              <a:r>
                <a:rPr lang="en-US" altLang="ko-KR" dirty="0"/>
                <a:t>1%</a:t>
              </a:r>
              <a:r>
                <a:rPr lang="ko-KR" altLang="en-US" dirty="0"/>
                <a:t>미만</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5844797" y="7442771"/>
              <a:ext cx="15549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br>
                <a:rPr lang="en-US" altLang="ko-KR" dirty="0"/>
              </a:br>
              <a:r>
                <a:rPr lang="en-US" altLang="ko-KR" dirty="0"/>
                <a:t>-0.8</a:t>
              </a:r>
              <a:br>
                <a:rPr lang="en-US" altLang="ko-KR" dirty="0"/>
              </a:br>
              <a:r>
                <a:rPr lang="en-US" altLang="ko-KR" dirty="0"/>
                <a:t>-0.6</a:t>
              </a:r>
              <a:br>
                <a:rPr lang="en-US" altLang="ko-KR" dirty="0"/>
              </a:br>
              <a:r>
                <a:rPr lang="en-US" altLang="ko-KR" dirty="0"/>
                <a:t>-0.4</a:t>
              </a:r>
              <a:br>
                <a:rPr lang="en-US" altLang="ko-KR" dirty="0"/>
              </a:br>
              <a:r>
                <a:rPr lang="en-US" altLang="ko-KR" dirty="0"/>
                <a:t>-0.2</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6563327" y="738052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39" name="TextBox 138">
            <a:extLst>
              <a:ext uri="{FF2B5EF4-FFF2-40B4-BE49-F238E27FC236}">
                <a16:creationId xmlns:a16="http://schemas.microsoft.com/office/drawing/2014/main" id="{FFC49AEA-2A8F-250C-A86A-A7751D9706C3}"/>
              </a:ext>
            </a:extLst>
          </p:cNvPr>
          <p:cNvSpPr txBox="1"/>
          <p:nvPr/>
        </p:nvSpPr>
        <p:spPr>
          <a:xfrm>
            <a:off x="794594" y="331246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1319451" y="3385751"/>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부정당업자제재</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794594" y="349624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1319451" y="3569531"/>
            <a:ext cx="2010812" cy="107722"/>
          </a:xfrm>
          <a:prstGeom prst="rect">
            <a:avLst/>
          </a:prstGeom>
          <a:noFill/>
        </p:spPr>
        <p:txBody>
          <a:bodyPr wrap="square" lIns="0" tIns="0" rIns="0" bIns="0" rtlCol="0">
            <a:spAutoFit/>
          </a:bodyPr>
          <a:lstStyle/>
          <a:p>
            <a:r>
              <a:rPr lang="ko-KR" altLang="en-US" sz="700" dirty="0">
                <a:latin typeface="+mn-ea"/>
              </a:rPr>
              <a:t>부정당업자로 제재 받은 </a:t>
            </a:r>
            <a:r>
              <a:rPr lang="ko-KR" altLang="en-US" sz="700" dirty="0" err="1">
                <a:latin typeface="+mn-ea"/>
              </a:rPr>
              <a:t>총제재기간</a:t>
            </a:r>
            <a:endParaRPr lang="ko-KR" altLang="en-US"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2920743" y="3569531"/>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-2.0</a:t>
            </a:r>
          </a:p>
        </p:txBody>
      </p:sp>
      <p:sp>
        <p:nvSpPr>
          <p:cNvPr id="144" name="직사각형 143"/>
          <p:cNvSpPr/>
          <p:nvPr/>
        </p:nvSpPr>
        <p:spPr>
          <a:xfrm>
            <a:off x="719063" y="3730609"/>
            <a:ext cx="1639886" cy="23699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5" name="TextBox 144">
            <a:extLst>
              <a:ext uri="{FF2B5EF4-FFF2-40B4-BE49-F238E27FC236}">
                <a16:creationId xmlns:a16="http://schemas.microsoft.com/office/drawing/2014/main" id="{FFC49AEA-2A8F-250C-A86A-A7751D9706C3}"/>
              </a:ext>
            </a:extLst>
          </p:cNvPr>
          <p:cNvSpPr txBox="1"/>
          <p:nvPr/>
        </p:nvSpPr>
        <p:spPr>
          <a:xfrm>
            <a:off x="806126" y="3730610"/>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534168" y="3730610"/>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716366" y="373060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718459" y="39453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18459" y="5595314"/>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0" name="TextBox 149">
            <a:extLst>
              <a:ext uri="{FF2B5EF4-FFF2-40B4-BE49-F238E27FC236}">
                <a16:creationId xmlns:a16="http://schemas.microsoft.com/office/drawing/2014/main" id="{FFC49AEA-2A8F-250C-A86A-A7751D9706C3}"/>
              </a:ext>
            </a:extLst>
          </p:cNvPr>
          <p:cNvSpPr txBox="1"/>
          <p:nvPr/>
        </p:nvSpPr>
        <p:spPr>
          <a:xfrm>
            <a:off x="2954538" y="373061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1" name="TextBox 150">
            <a:extLst>
              <a:ext uri="{FF2B5EF4-FFF2-40B4-BE49-F238E27FC236}">
                <a16:creationId xmlns:a16="http://schemas.microsoft.com/office/drawing/2014/main" id="{FFC49AEA-2A8F-250C-A86A-A7751D9706C3}"/>
              </a:ext>
            </a:extLst>
          </p:cNvPr>
          <p:cNvSpPr txBox="1"/>
          <p:nvPr/>
        </p:nvSpPr>
        <p:spPr>
          <a:xfrm>
            <a:off x="819976" y="3985737"/>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최근 </a:t>
            </a:r>
            <a:r>
              <a:rPr lang="en-US" altLang="ko-KR" dirty="0"/>
              <a:t>2</a:t>
            </a:r>
            <a:r>
              <a:rPr lang="ko-KR" altLang="en-US" dirty="0"/>
              <a:t>년 이내에 부정당업자 제재를 받은 자로서 부정당업자 </a:t>
            </a:r>
            <a:r>
              <a:rPr lang="ko-KR" altLang="en-US" dirty="0" err="1"/>
              <a:t>제재기간</a:t>
            </a:r>
            <a:r>
              <a:rPr lang="ko-KR" altLang="en-US" dirty="0"/>
              <a:t> 종료일이 입찰공고일로부터 </a:t>
            </a:r>
            <a:r>
              <a:rPr lang="en-US" altLang="ko-KR" dirty="0"/>
              <a:t>2</a:t>
            </a:r>
            <a:r>
              <a:rPr lang="ko-KR" altLang="en-US" dirty="0"/>
              <a:t>년 이내에 포함된 전체 부정당업자 제재 건의 총제재기간에 따라</a:t>
            </a:r>
          </a:p>
        </p:txBody>
      </p:sp>
      <p:sp>
        <p:nvSpPr>
          <p:cNvPr id="152" name="TextBox 151">
            <a:extLst>
              <a:ext uri="{FF2B5EF4-FFF2-40B4-BE49-F238E27FC236}">
                <a16:creationId xmlns:a16="http://schemas.microsoft.com/office/drawing/2014/main" id="{FFC49AEA-2A8F-250C-A86A-A7751D9706C3}"/>
              </a:ext>
            </a:extLst>
          </p:cNvPr>
          <p:cNvSpPr txBox="1"/>
          <p:nvPr/>
        </p:nvSpPr>
        <p:spPr>
          <a:xfrm>
            <a:off x="2572062" y="4605124"/>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-2.0</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3290592" y="49690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819976" y="460512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2</a:t>
            </a:r>
            <a:r>
              <a:rPr lang="ko-KR" altLang="en-US" dirty="0"/>
              <a:t>년 이상인 경우</a:t>
            </a:r>
          </a:p>
        </p:txBody>
      </p:sp>
      <p:sp>
        <p:nvSpPr>
          <p:cNvPr id="170" name="TextBox 169">
            <a:extLst>
              <a:ext uri="{FF2B5EF4-FFF2-40B4-BE49-F238E27FC236}">
                <a16:creationId xmlns:a16="http://schemas.microsoft.com/office/drawing/2014/main" id="{FFC49AEA-2A8F-250C-A86A-A7751D9706C3}"/>
              </a:ext>
            </a:extLst>
          </p:cNvPr>
          <p:cNvSpPr txBox="1"/>
          <p:nvPr/>
        </p:nvSpPr>
        <p:spPr>
          <a:xfrm>
            <a:off x="819976" y="4793624"/>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1</a:t>
            </a:r>
            <a:r>
              <a:rPr lang="ko-KR" altLang="en-US" dirty="0"/>
              <a:t>년 이상 ∼ </a:t>
            </a:r>
            <a:r>
              <a:rPr lang="en-US" altLang="ko-KR" dirty="0"/>
              <a:t>2</a:t>
            </a:r>
            <a:r>
              <a:rPr lang="ko-KR" altLang="en-US" dirty="0"/>
              <a:t>년 미만인 경우</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819976" y="5089846"/>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9</a:t>
            </a:r>
            <a:r>
              <a:rPr lang="ko-KR" altLang="en-US" dirty="0"/>
              <a:t>개월 이상 ∼ </a:t>
            </a:r>
            <a:r>
              <a:rPr lang="en-US" altLang="ko-KR" dirty="0"/>
              <a:t>1</a:t>
            </a:r>
            <a:r>
              <a:rPr lang="ko-KR" altLang="en-US" dirty="0"/>
              <a:t>년 미만인 경우</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819976" y="5386068"/>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6</a:t>
            </a:r>
            <a:r>
              <a:rPr lang="ko-KR" altLang="en-US" dirty="0"/>
              <a:t>개월 이상 ∼ </a:t>
            </a:r>
            <a:r>
              <a:rPr lang="en-US" altLang="ko-KR" dirty="0"/>
              <a:t>9</a:t>
            </a:r>
            <a:r>
              <a:rPr lang="ko-KR" altLang="en-US" dirty="0"/>
              <a:t> 개월 미만인 경우</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2572062" y="4847485"/>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-1.8</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2572062" y="5143707"/>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2572062" y="5386068"/>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18459" y="45647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5" name="직선 연결선 194">
            <a:extLst>
              <a:ext uri="{FF2B5EF4-FFF2-40B4-BE49-F238E27FC236}">
                <a16:creationId xmlns:a16="http://schemas.microsoft.com/office/drawing/2014/main" id="{E9293055-D5CD-4B9E-7F64-64B2D2CA7A52}"/>
              </a:ext>
            </a:extLst>
          </p:cNvPr>
          <p:cNvCxnSpPr/>
          <p:nvPr/>
        </p:nvCxnSpPr>
        <p:spPr>
          <a:xfrm>
            <a:off x="718459" y="47532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6" name="직선 연결선 195">
            <a:extLst>
              <a:ext uri="{FF2B5EF4-FFF2-40B4-BE49-F238E27FC236}">
                <a16:creationId xmlns:a16="http://schemas.microsoft.com/office/drawing/2014/main" id="{E9293055-D5CD-4B9E-7F64-64B2D2CA7A52}"/>
              </a:ext>
            </a:extLst>
          </p:cNvPr>
          <p:cNvCxnSpPr/>
          <p:nvPr/>
        </p:nvCxnSpPr>
        <p:spPr>
          <a:xfrm>
            <a:off x="718459" y="504945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18459" y="534567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TextBox 214">
            <a:extLst>
              <a:ext uri="{FF2B5EF4-FFF2-40B4-BE49-F238E27FC236}">
                <a16:creationId xmlns:a16="http://schemas.microsoft.com/office/drawing/2014/main" id="{FFC49AEA-2A8F-250C-A86A-A7751D9706C3}"/>
              </a:ext>
            </a:extLst>
          </p:cNvPr>
          <p:cNvSpPr txBox="1"/>
          <p:nvPr/>
        </p:nvSpPr>
        <p:spPr>
          <a:xfrm>
            <a:off x="819976" y="5635702"/>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3</a:t>
            </a:r>
            <a:r>
              <a:rPr lang="ko-KR" altLang="en-US" dirty="0"/>
              <a:t>개월 이상 ∼ </a:t>
            </a:r>
            <a:r>
              <a:rPr lang="en-US" altLang="ko-KR" dirty="0"/>
              <a:t>6</a:t>
            </a:r>
            <a:r>
              <a:rPr lang="ko-KR" altLang="en-US" dirty="0"/>
              <a:t> 개월 미만인 경우</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819976" y="5931924"/>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 </a:t>
            </a:r>
            <a:r>
              <a:rPr lang="ko-KR" altLang="en-US" dirty="0"/>
              <a:t>총제재기간이 </a:t>
            </a:r>
            <a:r>
              <a:rPr lang="en-US" altLang="ko-KR" dirty="0"/>
              <a:t>3</a:t>
            </a:r>
            <a:r>
              <a:rPr lang="ko-KR" altLang="en-US" dirty="0"/>
              <a:t>개월 미만인 경우</a:t>
            </a:r>
          </a:p>
        </p:txBody>
      </p:sp>
      <p:sp>
        <p:nvSpPr>
          <p:cNvPr id="223" name="TextBox 222">
            <a:extLst>
              <a:ext uri="{FF2B5EF4-FFF2-40B4-BE49-F238E27FC236}">
                <a16:creationId xmlns:a16="http://schemas.microsoft.com/office/drawing/2014/main" id="{FFC49AEA-2A8F-250C-A86A-A7751D9706C3}"/>
              </a:ext>
            </a:extLst>
          </p:cNvPr>
          <p:cNvSpPr txBox="1"/>
          <p:nvPr/>
        </p:nvSpPr>
        <p:spPr>
          <a:xfrm>
            <a:off x="2572062" y="5689563"/>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2572062" y="5931924"/>
            <a:ext cx="15549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-0.3</a:t>
            </a: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718459" y="589153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6" name="직선 연결선 225">
            <a:extLst>
              <a:ext uri="{FF2B5EF4-FFF2-40B4-BE49-F238E27FC236}">
                <a16:creationId xmlns:a16="http://schemas.microsoft.com/office/drawing/2014/main" id="{E9293055-D5CD-4B9E-7F64-64B2D2CA7A52}"/>
              </a:ext>
            </a:extLst>
          </p:cNvPr>
          <p:cNvCxnSpPr/>
          <p:nvPr/>
        </p:nvCxnSpPr>
        <p:spPr>
          <a:xfrm>
            <a:off x="718459" y="61005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0" name="TextBox 249">
            <a:extLst>
              <a:ext uri="{FF2B5EF4-FFF2-40B4-BE49-F238E27FC236}">
                <a16:creationId xmlns:a16="http://schemas.microsoft.com/office/drawing/2014/main" id="{FFC49AEA-2A8F-250C-A86A-A7751D9706C3}"/>
              </a:ext>
            </a:extLst>
          </p:cNvPr>
          <p:cNvSpPr txBox="1"/>
          <p:nvPr/>
        </p:nvSpPr>
        <p:spPr>
          <a:xfrm>
            <a:off x="3914929" y="150490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3)</a:t>
            </a:r>
            <a:r>
              <a:rPr lang="ko-KR" altLang="en-US" dirty="0"/>
              <a:t>기타</a:t>
            </a:r>
          </a:p>
        </p:txBody>
      </p:sp>
      <p:sp>
        <p:nvSpPr>
          <p:cNvPr id="277" name="TextBox 276">
            <a:extLst>
              <a:ext uri="{FF2B5EF4-FFF2-40B4-BE49-F238E27FC236}">
                <a16:creationId xmlns:a16="http://schemas.microsoft.com/office/drawing/2014/main" id="{FFC49AEA-2A8F-250C-A86A-A7751D9706C3}"/>
              </a:ext>
            </a:extLst>
          </p:cNvPr>
          <p:cNvSpPr txBox="1"/>
          <p:nvPr/>
        </p:nvSpPr>
        <p:spPr>
          <a:xfrm>
            <a:off x="3914929" y="170514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82" name="TextBox 281">
            <a:extLst>
              <a:ext uri="{FF2B5EF4-FFF2-40B4-BE49-F238E27FC236}">
                <a16:creationId xmlns:a16="http://schemas.microsoft.com/office/drawing/2014/main" id="{FFC49AEA-2A8F-250C-A86A-A7751D9706C3}"/>
              </a:ext>
            </a:extLst>
          </p:cNvPr>
          <p:cNvSpPr txBox="1"/>
          <p:nvPr/>
        </p:nvSpPr>
        <p:spPr>
          <a:xfrm>
            <a:off x="4439786" y="1778433"/>
            <a:ext cx="2010812" cy="107722"/>
          </a:xfrm>
          <a:prstGeom prst="rect">
            <a:avLst/>
          </a:prstGeom>
          <a:noFill/>
        </p:spPr>
        <p:txBody>
          <a:bodyPr wrap="square" lIns="0" tIns="0" rIns="0" bIns="0" rtlCol="0">
            <a:spAutoFit/>
          </a:bodyPr>
          <a:lstStyle/>
          <a:p>
            <a:r>
              <a:rPr lang="en-US" altLang="ko-KR" sz="700" dirty="0">
                <a:latin typeface="+mn-ea"/>
              </a:rPr>
              <a:t>1.</a:t>
            </a:r>
            <a:r>
              <a:rPr lang="ko-KR" altLang="en-US" sz="700" dirty="0">
                <a:latin typeface="+mn-ea"/>
              </a:rPr>
              <a:t>고용창출</a:t>
            </a:r>
          </a:p>
        </p:txBody>
      </p:sp>
      <p:sp>
        <p:nvSpPr>
          <p:cNvPr id="283" name="TextBox 282">
            <a:extLst>
              <a:ext uri="{FF2B5EF4-FFF2-40B4-BE49-F238E27FC236}">
                <a16:creationId xmlns:a16="http://schemas.microsoft.com/office/drawing/2014/main" id="{FFC49AEA-2A8F-250C-A86A-A7751D9706C3}"/>
              </a:ext>
            </a:extLst>
          </p:cNvPr>
          <p:cNvSpPr txBox="1"/>
          <p:nvPr/>
        </p:nvSpPr>
        <p:spPr>
          <a:xfrm>
            <a:off x="3914929" y="188892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84" name="TextBox 283">
            <a:extLst>
              <a:ext uri="{FF2B5EF4-FFF2-40B4-BE49-F238E27FC236}">
                <a16:creationId xmlns:a16="http://schemas.microsoft.com/office/drawing/2014/main" id="{FFC49AEA-2A8F-250C-A86A-A7751D9706C3}"/>
              </a:ext>
            </a:extLst>
          </p:cNvPr>
          <p:cNvSpPr txBox="1"/>
          <p:nvPr/>
        </p:nvSpPr>
        <p:spPr>
          <a:xfrm>
            <a:off x="4439786" y="1962213"/>
            <a:ext cx="2010812" cy="107722"/>
          </a:xfrm>
          <a:prstGeom prst="rect">
            <a:avLst/>
          </a:prstGeom>
          <a:noFill/>
        </p:spPr>
        <p:txBody>
          <a:bodyPr wrap="square" lIns="0" tIns="0" rIns="0" bIns="0" rtlCol="0">
            <a:spAutoFit/>
          </a:bodyPr>
          <a:lstStyle/>
          <a:p>
            <a:r>
              <a:rPr lang="ko-KR" altLang="en-US" sz="700" dirty="0">
                <a:latin typeface="+mn-ea"/>
              </a:rPr>
              <a:t>고용창출</a:t>
            </a:r>
          </a:p>
        </p:txBody>
      </p:sp>
      <p:sp>
        <p:nvSpPr>
          <p:cNvPr id="285" name="TextBox 284">
            <a:extLst>
              <a:ext uri="{FF2B5EF4-FFF2-40B4-BE49-F238E27FC236}">
                <a16:creationId xmlns:a16="http://schemas.microsoft.com/office/drawing/2014/main" id="{FFC49AEA-2A8F-250C-A86A-A7751D9706C3}"/>
              </a:ext>
            </a:extLst>
          </p:cNvPr>
          <p:cNvSpPr txBox="1"/>
          <p:nvPr/>
        </p:nvSpPr>
        <p:spPr>
          <a:xfrm>
            <a:off x="6041078" y="1962213"/>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286" name="직사각형 285"/>
          <p:cNvSpPr/>
          <p:nvPr/>
        </p:nvSpPr>
        <p:spPr>
          <a:xfrm>
            <a:off x="3839398" y="2123291"/>
            <a:ext cx="1639886" cy="170388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7" name="TextBox 286">
            <a:extLst>
              <a:ext uri="{FF2B5EF4-FFF2-40B4-BE49-F238E27FC236}">
                <a16:creationId xmlns:a16="http://schemas.microsoft.com/office/drawing/2014/main" id="{FFC49AEA-2A8F-250C-A86A-A7751D9706C3}"/>
              </a:ext>
            </a:extLst>
          </p:cNvPr>
          <p:cNvSpPr txBox="1"/>
          <p:nvPr/>
        </p:nvSpPr>
        <p:spPr>
          <a:xfrm>
            <a:off x="3926461" y="2123292"/>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95" name="TextBox 294">
            <a:extLst>
              <a:ext uri="{FF2B5EF4-FFF2-40B4-BE49-F238E27FC236}">
                <a16:creationId xmlns:a16="http://schemas.microsoft.com/office/drawing/2014/main" id="{FFC49AEA-2A8F-250C-A86A-A7751D9706C3}"/>
              </a:ext>
            </a:extLst>
          </p:cNvPr>
          <p:cNvSpPr txBox="1"/>
          <p:nvPr/>
        </p:nvSpPr>
        <p:spPr>
          <a:xfrm>
            <a:off x="5654503" y="2123292"/>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98" name="직선 연결선 297">
            <a:extLst>
              <a:ext uri="{FF2B5EF4-FFF2-40B4-BE49-F238E27FC236}">
                <a16:creationId xmlns:a16="http://schemas.microsoft.com/office/drawing/2014/main" id="{E9293055-D5CD-4B9E-7F64-64B2D2CA7A52}"/>
              </a:ext>
            </a:extLst>
          </p:cNvPr>
          <p:cNvCxnSpPr/>
          <p:nvPr/>
        </p:nvCxnSpPr>
        <p:spPr>
          <a:xfrm>
            <a:off x="3836701" y="212329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9" name="직선 연결선 298">
            <a:extLst>
              <a:ext uri="{FF2B5EF4-FFF2-40B4-BE49-F238E27FC236}">
                <a16:creationId xmlns:a16="http://schemas.microsoft.com/office/drawing/2014/main" id="{E9293055-D5CD-4B9E-7F64-64B2D2CA7A52}"/>
              </a:ext>
            </a:extLst>
          </p:cNvPr>
          <p:cNvCxnSpPr/>
          <p:nvPr/>
        </p:nvCxnSpPr>
        <p:spPr>
          <a:xfrm>
            <a:off x="3838794" y="23380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0" name="직선 연결선 299">
            <a:extLst>
              <a:ext uri="{FF2B5EF4-FFF2-40B4-BE49-F238E27FC236}">
                <a16:creationId xmlns:a16="http://schemas.microsoft.com/office/drawing/2014/main" id="{E9293055-D5CD-4B9E-7F64-64B2D2CA7A52}"/>
              </a:ext>
            </a:extLst>
          </p:cNvPr>
          <p:cNvCxnSpPr/>
          <p:nvPr/>
        </p:nvCxnSpPr>
        <p:spPr>
          <a:xfrm>
            <a:off x="3838794" y="38271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1" name="TextBox 300">
            <a:extLst>
              <a:ext uri="{FF2B5EF4-FFF2-40B4-BE49-F238E27FC236}">
                <a16:creationId xmlns:a16="http://schemas.microsoft.com/office/drawing/2014/main" id="{FFC49AEA-2A8F-250C-A86A-A7751D9706C3}"/>
              </a:ext>
            </a:extLst>
          </p:cNvPr>
          <p:cNvSpPr txBox="1"/>
          <p:nvPr/>
        </p:nvSpPr>
        <p:spPr>
          <a:xfrm>
            <a:off x="6074873" y="212329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02" name="TextBox 301">
            <a:extLst>
              <a:ext uri="{FF2B5EF4-FFF2-40B4-BE49-F238E27FC236}">
                <a16:creationId xmlns:a16="http://schemas.microsoft.com/office/drawing/2014/main" id="{FFC49AEA-2A8F-250C-A86A-A7751D9706C3}"/>
              </a:ext>
            </a:extLst>
          </p:cNvPr>
          <p:cNvSpPr txBox="1"/>
          <p:nvPr/>
        </p:nvSpPr>
        <p:spPr>
          <a:xfrm>
            <a:off x="3940311" y="2386808"/>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신규채용 우수기업</a:t>
            </a:r>
            <a:r>
              <a:rPr lang="en-US" altLang="ko-KR" dirty="0"/>
              <a:t>(</a:t>
            </a:r>
            <a:r>
              <a:rPr lang="ko-KR" altLang="en-US" dirty="0"/>
              <a:t>설립 </a:t>
            </a:r>
            <a:r>
              <a:rPr lang="en-US" altLang="ko-KR" dirty="0"/>
              <a:t>18</a:t>
            </a:r>
            <a:r>
              <a:rPr lang="ko-KR" altLang="en-US" dirty="0" err="1"/>
              <a:t>개월이상</a:t>
            </a:r>
            <a:r>
              <a:rPr lang="en-US" altLang="ko-KR" dirty="0"/>
              <a:t>)</a:t>
            </a:r>
          </a:p>
          <a:p>
            <a:r>
              <a:rPr lang="en-US" altLang="ko-KR" dirty="0"/>
              <a:t>-</a:t>
            </a:r>
            <a:r>
              <a:rPr lang="ko-KR" altLang="en-US" dirty="0"/>
              <a:t>전년도 </a:t>
            </a:r>
            <a:r>
              <a:rPr lang="en-US" altLang="ko-KR" dirty="0"/>
              <a:t>6</a:t>
            </a:r>
            <a:r>
              <a:rPr lang="ko-KR" altLang="en-US" dirty="0"/>
              <a:t>개월간 평균고용인원 대비 해당연도 최근 </a:t>
            </a:r>
            <a:r>
              <a:rPr lang="en-US" altLang="ko-KR" dirty="0"/>
              <a:t>6</a:t>
            </a:r>
            <a:r>
              <a:rPr lang="ko-KR" altLang="en-US" dirty="0"/>
              <a:t>개월간 평균고용인원 증가율이 기업규모에 따라 다음의 증가율이 이상인 기업</a:t>
            </a:r>
          </a:p>
          <a:p>
            <a:r>
              <a:rPr lang="en-US" altLang="ko-KR" dirty="0"/>
              <a:t>- </a:t>
            </a:r>
          </a:p>
          <a:p>
            <a:r>
              <a:rPr lang="en-US" altLang="ko-KR" dirty="0"/>
              <a:t>- </a:t>
            </a:r>
          </a:p>
          <a:p>
            <a:r>
              <a:rPr lang="en-US" altLang="ko-KR" dirty="0"/>
              <a:t>- </a:t>
            </a:r>
            <a:endParaRPr lang="ko-KR" altLang="en-US" dirty="0"/>
          </a:p>
        </p:txBody>
      </p:sp>
      <p:sp>
        <p:nvSpPr>
          <p:cNvPr id="303" name="TextBox 302">
            <a:extLst>
              <a:ext uri="{FF2B5EF4-FFF2-40B4-BE49-F238E27FC236}">
                <a16:creationId xmlns:a16="http://schemas.microsoft.com/office/drawing/2014/main" id="{FFC49AEA-2A8F-250C-A86A-A7751D9706C3}"/>
              </a:ext>
            </a:extLst>
          </p:cNvPr>
          <p:cNvSpPr txBox="1"/>
          <p:nvPr/>
        </p:nvSpPr>
        <p:spPr>
          <a:xfrm>
            <a:off x="5729267" y="3033139"/>
            <a:ext cx="118622" cy="323165"/>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1.0</a:t>
            </a:r>
          </a:p>
          <a:p>
            <a:r>
              <a:rPr lang="en-US" altLang="ko-KR" dirty="0"/>
              <a:t>0.8</a:t>
            </a:r>
          </a:p>
          <a:p>
            <a:r>
              <a:rPr lang="en-US" altLang="ko-KR" dirty="0"/>
              <a:t>0.6</a:t>
            </a:r>
          </a:p>
        </p:txBody>
      </p:sp>
      <p:sp>
        <p:nvSpPr>
          <p:cNvPr id="304" name="TextBox 303">
            <a:extLst>
              <a:ext uri="{FF2B5EF4-FFF2-40B4-BE49-F238E27FC236}">
                <a16:creationId xmlns:a16="http://schemas.microsoft.com/office/drawing/2014/main" id="{FFC49AEA-2A8F-250C-A86A-A7751D9706C3}"/>
              </a:ext>
            </a:extLst>
          </p:cNvPr>
          <p:cNvSpPr txBox="1"/>
          <p:nvPr/>
        </p:nvSpPr>
        <p:spPr>
          <a:xfrm>
            <a:off x="6410927" y="302874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3940311" y="3453860"/>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a:t>
            </a:r>
            <a:r>
              <a:rPr lang="ko-KR" altLang="en-US" dirty="0" err="1"/>
              <a:t>신설기업</a:t>
            </a:r>
            <a:r>
              <a:rPr lang="en-US" altLang="ko-KR" dirty="0"/>
              <a:t>(</a:t>
            </a:r>
            <a:r>
              <a:rPr lang="ko-KR" altLang="en-US" dirty="0"/>
              <a:t>설립 </a:t>
            </a:r>
            <a:r>
              <a:rPr lang="en-US" altLang="ko-KR" dirty="0"/>
              <a:t>18</a:t>
            </a:r>
            <a:r>
              <a:rPr lang="ko-KR" altLang="en-US" dirty="0" err="1"/>
              <a:t>개월미만</a:t>
            </a:r>
            <a:r>
              <a:rPr lang="en-US" altLang="ko-KR" dirty="0"/>
              <a:t>)</a:t>
            </a:r>
          </a:p>
          <a:p>
            <a:r>
              <a:rPr lang="en-US" altLang="ko-KR" dirty="0"/>
              <a:t>-</a:t>
            </a:r>
            <a:r>
              <a:rPr lang="ko-KR" altLang="en-US" dirty="0"/>
              <a:t>총 고용인원</a:t>
            </a:r>
            <a:r>
              <a:rPr lang="en-US" altLang="ko-KR" dirty="0"/>
              <a:t>(</a:t>
            </a:r>
            <a:r>
              <a:rPr lang="ko-KR" altLang="en-US" dirty="0"/>
              <a:t>대표자 제외</a:t>
            </a:r>
            <a:r>
              <a:rPr lang="en-US" altLang="ko-KR" dirty="0"/>
              <a:t>)6</a:t>
            </a:r>
            <a:r>
              <a:rPr lang="ko-KR" altLang="en-US" dirty="0"/>
              <a:t>인 이상</a:t>
            </a:r>
          </a:p>
          <a:p>
            <a:r>
              <a:rPr lang="en-US" altLang="ko-KR" dirty="0"/>
              <a:t>-</a:t>
            </a:r>
            <a:r>
              <a:rPr lang="ko-KR" altLang="en-US" dirty="0"/>
              <a:t>총 고용인원</a:t>
            </a:r>
            <a:r>
              <a:rPr lang="en-US" altLang="ko-KR" dirty="0"/>
              <a:t>(</a:t>
            </a:r>
            <a:r>
              <a:rPr lang="ko-KR" altLang="en-US" dirty="0"/>
              <a:t>대표자 제외</a:t>
            </a:r>
            <a:r>
              <a:rPr lang="en-US" altLang="ko-KR" dirty="0"/>
              <a:t>)3</a:t>
            </a:r>
            <a:r>
              <a:rPr lang="ko-KR" altLang="en-US" dirty="0"/>
              <a:t>인 </a:t>
            </a:r>
            <a:r>
              <a:rPr lang="en-US" altLang="ko-KR" dirty="0"/>
              <a:t>~ 5</a:t>
            </a:r>
            <a:r>
              <a:rPr lang="ko-KR" altLang="en-US" dirty="0"/>
              <a:t>인</a:t>
            </a: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843649" y="3405082"/>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7" name="TextBox 306">
            <a:extLst>
              <a:ext uri="{FF2B5EF4-FFF2-40B4-BE49-F238E27FC236}">
                <a16:creationId xmlns:a16="http://schemas.microsoft.com/office/drawing/2014/main" id="{FFC49AEA-2A8F-250C-A86A-A7751D9706C3}"/>
              </a:ext>
            </a:extLst>
          </p:cNvPr>
          <p:cNvSpPr txBox="1"/>
          <p:nvPr/>
        </p:nvSpPr>
        <p:spPr>
          <a:xfrm>
            <a:off x="5729267" y="3561581"/>
            <a:ext cx="118622"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a:p>
            <a:r>
              <a:rPr lang="en-US" altLang="ko-KR" dirty="0"/>
              <a:t>0.4</a:t>
            </a:r>
          </a:p>
        </p:txBody>
      </p:sp>
      <p:sp>
        <p:nvSpPr>
          <p:cNvPr id="308" name="TextBox 307">
            <a:extLst>
              <a:ext uri="{FF2B5EF4-FFF2-40B4-BE49-F238E27FC236}">
                <a16:creationId xmlns:a16="http://schemas.microsoft.com/office/drawing/2014/main" id="{FFC49AEA-2A8F-250C-A86A-A7751D9706C3}"/>
              </a:ext>
            </a:extLst>
          </p:cNvPr>
          <p:cNvSpPr txBox="1"/>
          <p:nvPr/>
        </p:nvSpPr>
        <p:spPr>
          <a:xfrm>
            <a:off x="3914929" y="386007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309" name="TextBox 308">
            <a:extLst>
              <a:ext uri="{FF2B5EF4-FFF2-40B4-BE49-F238E27FC236}">
                <a16:creationId xmlns:a16="http://schemas.microsoft.com/office/drawing/2014/main" id="{FFC49AEA-2A8F-250C-A86A-A7751D9706C3}"/>
              </a:ext>
            </a:extLst>
          </p:cNvPr>
          <p:cNvSpPr txBox="1"/>
          <p:nvPr/>
        </p:nvSpPr>
        <p:spPr>
          <a:xfrm>
            <a:off x="4439786" y="3933362"/>
            <a:ext cx="2010812" cy="107722"/>
          </a:xfrm>
          <a:prstGeom prst="rect">
            <a:avLst/>
          </a:prstGeom>
          <a:noFill/>
        </p:spPr>
        <p:txBody>
          <a:bodyPr wrap="square" lIns="0" tIns="0" rIns="0" bIns="0" rtlCol="0">
            <a:spAutoFit/>
          </a:bodyPr>
          <a:lstStyle/>
          <a:p>
            <a:r>
              <a:rPr lang="en-US" altLang="ko-KR" sz="700" dirty="0">
                <a:latin typeface="+mn-ea"/>
              </a:rPr>
              <a:t>2.</a:t>
            </a:r>
            <a:r>
              <a:rPr lang="ko-KR" altLang="en-US" sz="700" dirty="0">
                <a:latin typeface="+mn-ea"/>
              </a:rPr>
              <a:t>혁신적 중소기업</a:t>
            </a:r>
          </a:p>
        </p:txBody>
      </p:sp>
      <p:sp>
        <p:nvSpPr>
          <p:cNvPr id="310" name="TextBox 309">
            <a:extLst>
              <a:ext uri="{FF2B5EF4-FFF2-40B4-BE49-F238E27FC236}">
                <a16:creationId xmlns:a16="http://schemas.microsoft.com/office/drawing/2014/main" id="{FFC49AEA-2A8F-250C-A86A-A7751D9706C3}"/>
              </a:ext>
            </a:extLst>
          </p:cNvPr>
          <p:cNvSpPr txBox="1"/>
          <p:nvPr/>
        </p:nvSpPr>
        <p:spPr>
          <a:xfrm>
            <a:off x="3914929" y="404385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311" name="TextBox 310">
            <a:extLst>
              <a:ext uri="{FF2B5EF4-FFF2-40B4-BE49-F238E27FC236}">
                <a16:creationId xmlns:a16="http://schemas.microsoft.com/office/drawing/2014/main" id="{FFC49AEA-2A8F-250C-A86A-A7751D9706C3}"/>
              </a:ext>
            </a:extLst>
          </p:cNvPr>
          <p:cNvSpPr txBox="1"/>
          <p:nvPr/>
        </p:nvSpPr>
        <p:spPr>
          <a:xfrm>
            <a:off x="4439786" y="4117142"/>
            <a:ext cx="2010812" cy="107722"/>
          </a:xfrm>
          <a:prstGeom prst="rect">
            <a:avLst/>
          </a:prstGeom>
          <a:noFill/>
        </p:spPr>
        <p:txBody>
          <a:bodyPr wrap="square" lIns="0" tIns="0" rIns="0" bIns="0" rtlCol="0">
            <a:spAutoFit/>
          </a:bodyPr>
          <a:lstStyle/>
          <a:p>
            <a:r>
              <a:rPr lang="ko-KR" altLang="en-US" sz="700" dirty="0">
                <a:latin typeface="+mn-ea"/>
              </a:rPr>
              <a:t>혁신적 중소기업</a:t>
            </a:r>
          </a:p>
        </p:txBody>
      </p:sp>
      <p:sp>
        <p:nvSpPr>
          <p:cNvPr id="312" name="TextBox 311">
            <a:extLst>
              <a:ext uri="{FF2B5EF4-FFF2-40B4-BE49-F238E27FC236}">
                <a16:creationId xmlns:a16="http://schemas.microsoft.com/office/drawing/2014/main" id="{FFC49AEA-2A8F-250C-A86A-A7751D9706C3}"/>
              </a:ext>
            </a:extLst>
          </p:cNvPr>
          <p:cNvSpPr txBox="1"/>
          <p:nvPr/>
        </p:nvSpPr>
        <p:spPr>
          <a:xfrm>
            <a:off x="6041078" y="4117142"/>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0.8</a:t>
            </a:r>
          </a:p>
        </p:txBody>
      </p:sp>
      <p:sp>
        <p:nvSpPr>
          <p:cNvPr id="313" name="직사각형 312"/>
          <p:cNvSpPr/>
          <p:nvPr/>
        </p:nvSpPr>
        <p:spPr>
          <a:xfrm>
            <a:off x="3839398" y="4278220"/>
            <a:ext cx="1639886" cy="97320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4" name="TextBox 313">
            <a:extLst>
              <a:ext uri="{FF2B5EF4-FFF2-40B4-BE49-F238E27FC236}">
                <a16:creationId xmlns:a16="http://schemas.microsoft.com/office/drawing/2014/main" id="{FFC49AEA-2A8F-250C-A86A-A7751D9706C3}"/>
              </a:ext>
            </a:extLst>
          </p:cNvPr>
          <p:cNvSpPr txBox="1"/>
          <p:nvPr/>
        </p:nvSpPr>
        <p:spPr>
          <a:xfrm>
            <a:off x="3926461" y="427822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315" name="TextBox 314">
            <a:extLst>
              <a:ext uri="{FF2B5EF4-FFF2-40B4-BE49-F238E27FC236}">
                <a16:creationId xmlns:a16="http://schemas.microsoft.com/office/drawing/2014/main" id="{FFC49AEA-2A8F-250C-A86A-A7751D9706C3}"/>
              </a:ext>
            </a:extLst>
          </p:cNvPr>
          <p:cNvSpPr txBox="1"/>
          <p:nvPr/>
        </p:nvSpPr>
        <p:spPr>
          <a:xfrm>
            <a:off x="5654503" y="427822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316" name="직선 연결선 315">
            <a:extLst>
              <a:ext uri="{FF2B5EF4-FFF2-40B4-BE49-F238E27FC236}">
                <a16:creationId xmlns:a16="http://schemas.microsoft.com/office/drawing/2014/main" id="{E9293055-D5CD-4B9E-7F64-64B2D2CA7A52}"/>
              </a:ext>
            </a:extLst>
          </p:cNvPr>
          <p:cNvCxnSpPr/>
          <p:nvPr/>
        </p:nvCxnSpPr>
        <p:spPr>
          <a:xfrm>
            <a:off x="3836701" y="4278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7" name="직선 연결선 316">
            <a:extLst>
              <a:ext uri="{FF2B5EF4-FFF2-40B4-BE49-F238E27FC236}">
                <a16:creationId xmlns:a16="http://schemas.microsoft.com/office/drawing/2014/main" id="{E9293055-D5CD-4B9E-7F64-64B2D2CA7A52}"/>
              </a:ext>
            </a:extLst>
          </p:cNvPr>
          <p:cNvCxnSpPr/>
          <p:nvPr/>
        </p:nvCxnSpPr>
        <p:spPr>
          <a:xfrm>
            <a:off x="3838794" y="44929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8" name="직선 연결선 317">
            <a:extLst>
              <a:ext uri="{FF2B5EF4-FFF2-40B4-BE49-F238E27FC236}">
                <a16:creationId xmlns:a16="http://schemas.microsoft.com/office/drawing/2014/main" id="{E9293055-D5CD-4B9E-7F64-64B2D2CA7A52}"/>
              </a:ext>
            </a:extLst>
          </p:cNvPr>
          <p:cNvCxnSpPr/>
          <p:nvPr/>
        </p:nvCxnSpPr>
        <p:spPr>
          <a:xfrm>
            <a:off x="3838794" y="52514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9" name="TextBox 318">
            <a:extLst>
              <a:ext uri="{FF2B5EF4-FFF2-40B4-BE49-F238E27FC236}">
                <a16:creationId xmlns:a16="http://schemas.microsoft.com/office/drawing/2014/main" id="{FFC49AEA-2A8F-250C-A86A-A7751D9706C3}"/>
              </a:ext>
            </a:extLst>
          </p:cNvPr>
          <p:cNvSpPr txBox="1"/>
          <p:nvPr/>
        </p:nvSpPr>
        <p:spPr>
          <a:xfrm>
            <a:off x="6074873" y="427822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320" name="TextBox 319">
            <a:extLst>
              <a:ext uri="{FF2B5EF4-FFF2-40B4-BE49-F238E27FC236}">
                <a16:creationId xmlns:a16="http://schemas.microsoft.com/office/drawing/2014/main" id="{FFC49AEA-2A8F-250C-A86A-A7751D9706C3}"/>
              </a:ext>
            </a:extLst>
          </p:cNvPr>
          <p:cNvSpPr txBox="1"/>
          <p:nvPr/>
        </p:nvSpPr>
        <p:spPr>
          <a:xfrm>
            <a:off x="3940311" y="4541737"/>
            <a:ext cx="1480199" cy="646331"/>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중소벤처기업부장관</a:t>
            </a:r>
            <a:r>
              <a:rPr lang="en-US" altLang="ko-KR" dirty="0"/>
              <a:t>(</a:t>
            </a:r>
            <a:r>
              <a:rPr lang="ko-KR" altLang="en-US" dirty="0"/>
              <a:t>또는 </a:t>
            </a:r>
            <a:r>
              <a:rPr lang="ko-KR" altLang="en-US" dirty="0" err="1"/>
              <a:t>수임권자</a:t>
            </a:r>
            <a:r>
              <a:rPr lang="en-US" altLang="ko-KR" dirty="0"/>
              <a:t>)</a:t>
            </a:r>
            <a:r>
              <a:rPr lang="ko-KR" altLang="en-US" dirty="0"/>
              <a:t>으로부터 </a:t>
            </a:r>
            <a:r>
              <a:rPr lang="ko-KR" altLang="en-US" dirty="0" err="1"/>
              <a:t>혁신형</a:t>
            </a:r>
            <a:r>
              <a:rPr lang="en-US" altLang="ko-KR" dirty="0"/>
              <a:t>(</a:t>
            </a:r>
            <a:r>
              <a:rPr lang="ko-KR" altLang="en-US" dirty="0"/>
              <a:t>벤처</a:t>
            </a:r>
            <a:r>
              <a:rPr lang="en-US" altLang="ko-KR" dirty="0"/>
              <a:t>, </a:t>
            </a:r>
            <a:r>
              <a:rPr lang="ko-KR" altLang="en-US" dirty="0" err="1"/>
              <a:t>기술혁신형</a:t>
            </a:r>
            <a:r>
              <a:rPr lang="en-US" altLang="ko-KR" dirty="0"/>
              <a:t>, </a:t>
            </a:r>
            <a:r>
              <a:rPr lang="ko-KR" altLang="en-US" dirty="0" err="1"/>
              <a:t>경영혁신형</a:t>
            </a:r>
            <a:r>
              <a:rPr lang="en-US" altLang="ko-KR" dirty="0"/>
              <a:t>, </a:t>
            </a:r>
            <a:r>
              <a:rPr lang="ko-KR" altLang="en-US" dirty="0"/>
              <a:t>우수그린비즈</a:t>
            </a:r>
            <a:r>
              <a:rPr lang="en-US" altLang="ko-KR" dirty="0"/>
              <a:t>) </a:t>
            </a:r>
            <a:r>
              <a:rPr lang="ko-KR" altLang="en-US" dirty="0"/>
              <a:t>중소기업으로 </a:t>
            </a:r>
            <a:r>
              <a:rPr lang="ko-KR" altLang="en-US" dirty="0" err="1"/>
              <a:t>지정받은</a:t>
            </a:r>
            <a:r>
              <a:rPr lang="ko-KR" altLang="en-US" dirty="0"/>
              <a:t> 자로서</a:t>
            </a:r>
          </a:p>
          <a:p>
            <a:r>
              <a:rPr lang="en-US" altLang="ko-KR" dirty="0"/>
              <a:t>A. </a:t>
            </a:r>
            <a:r>
              <a:rPr lang="ko-KR" altLang="en-US" dirty="0" err="1"/>
              <a:t>혁신형기업이면서</a:t>
            </a:r>
            <a:r>
              <a:rPr lang="ko-KR" altLang="en-US" dirty="0"/>
              <a:t> 제조기업</a:t>
            </a:r>
          </a:p>
          <a:p>
            <a:r>
              <a:rPr lang="en-US" altLang="ko-KR" dirty="0"/>
              <a:t>B. </a:t>
            </a:r>
            <a:r>
              <a:rPr lang="ko-KR" altLang="en-US" dirty="0" err="1"/>
              <a:t>혁신형기업</a:t>
            </a:r>
            <a:endParaRPr lang="ko-KR" altLang="en-US" dirty="0"/>
          </a:p>
        </p:txBody>
      </p:sp>
      <p:sp>
        <p:nvSpPr>
          <p:cNvPr id="321" name="TextBox 320">
            <a:extLst>
              <a:ext uri="{FF2B5EF4-FFF2-40B4-BE49-F238E27FC236}">
                <a16:creationId xmlns:a16="http://schemas.microsoft.com/office/drawing/2014/main" id="{FFC49AEA-2A8F-250C-A86A-A7751D9706C3}"/>
              </a:ext>
            </a:extLst>
          </p:cNvPr>
          <p:cNvSpPr txBox="1"/>
          <p:nvPr/>
        </p:nvSpPr>
        <p:spPr>
          <a:xfrm>
            <a:off x="5729267" y="4972624"/>
            <a:ext cx="118622" cy="215444"/>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0.8</a:t>
            </a:r>
          </a:p>
          <a:p>
            <a:r>
              <a:rPr lang="en-US" altLang="ko-KR" dirty="0"/>
              <a:t>0.6</a:t>
            </a:r>
          </a:p>
        </p:txBody>
      </p:sp>
      <p:sp>
        <p:nvSpPr>
          <p:cNvPr id="322" name="TextBox 321">
            <a:extLst>
              <a:ext uri="{FF2B5EF4-FFF2-40B4-BE49-F238E27FC236}">
                <a16:creationId xmlns:a16="http://schemas.microsoft.com/office/drawing/2014/main" id="{FFC49AEA-2A8F-250C-A86A-A7751D9706C3}"/>
              </a:ext>
            </a:extLst>
          </p:cNvPr>
          <p:cNvSpPr txBox="1"/>
          <p:nvPr/>
        </p:nvSpPr>
        <p:spPr>
          <a:xfrm>
            <a:off x="6410927" y="481104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3" name="타원 102">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281196240"/>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222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a:t>억원미만물품구매</a:t>
            </a:r>
            <a:r>
              <a:rPr lang="en-US" altLang="ko-KR" dirty="0"/>
              <a:t>2018</a:t>
            </a:r>
            <a:r>
              <a:rPr lang="ko-KR" altLang="en-US" dirty="0"/>
              <a:t>년</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a:t>억원미만물품구매</a:t>
            </a:r>
            <a:r>
              <a:rPr lang="en-US" altLang="ko-KR" dirty="0"/>
              <a:t>2018</a:t>
            </a:r>
            <a:r>
              <a:rPr lang="ko-KR" altLang="en-US" dirty="0"/>
              <a:t>년일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817322"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794594" y="149115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04" name="TextBox 103">
            <a:extLst>
              <a:ext uri="{FF2B5EF4-FFF2-40B4-BE49-F238E27FC236}">
                <a16:creationId xmlns:a16="http://schemas.microsoft.com/office/drawing/2014/main" id="{FFC49AEA-2A8F-250C-A86A-A7751D9706C3}"/>
              </a:ext>
            </a:extLst>
          </p:cNvPr>
          <p:cNvSpPr txBox="1"/>
          <p:nvPr/>
        </p:nvSpPr>
        <p:spPr>
          <a:xfrm>
            <a:off x="1319451" y="1564445"/>
            <a:ext cx="2010812" cy="107722"/>
          </a:xfrm>
          <a:prstGeom prst="rect">
            <a:avLst/>
          </a:prstGeom>
          <a:noFill/>
        </p:spPr>
        <p:txBody>
          <a:bodyPr wrap="square" lIns="0" tIns="0" rIns="0" bIns="0" rtlCol="0">
            <a:spAutoFit/>
          </a:bodyPr>
          <a:lstStyle/>
          <a:p>
            <a:r>
              <a:rPr lang="en-US" altLang="ko-KR" sz="700" dirty="0">
                <a:latin typeface="+mn-ea"/>
              </a:rPr>
              <a:t>3.</a:t>
            </a:r>
            <a:r>
              <a:rPr lang="ko-KR" altLang="en-US" sz="700" dirty="0">
                <a:latin typeface="+mn-ea"/>
              </a:rPr>
              <a:t>장애인기업</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794594" y="167493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1319451" y="1748225"/>
            <a:ext cx="2010812" cy="107722"/>
          </a:xfrm>
          <a:prstGeom prst="rect">
            <a:avLst/>
          </a:prstGeom>
          <a:noFill/>
        </p:spPr>
        <p:txBody>
          <a:bodyPr wrap="square" lIns="0" tIns="0" rIns="0" bIns="0" rtlCol="0">
            <a:spAutoFit/>
          </a:bodyPr>
          <a:lstStyle/>
          <a:p>
            <a:r>
              <a:rPr lang="ko-KR" altLang="en-US" sz="700" dirty="0">
                <a:latin typeface="+mn-ea"/>
              </a:rPr>
              <a:t>혁신적 중소기업</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2920743" y="174822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0.5</a:t>
            </a:r>
          </a:p>
        </p:txBody>
      </p:sp>
      <p:sp>
        <p:nvSpPr>
          <p:cNvPr id="108" name="직사각형 107"/>
          <p:cNvSpPr/>
          <p:nvPr/>
        </p:nvSpPr>
        <p:spPr>
          <a:xfrm>
            <a:off x="719063" y="1909303"/>
            <a:ext cx="1639886" cy="15475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9" name="TextBox 108">
            <a:extLst>
              <a:ext uri="{FF2B5EF4-FFF2-40B4-BE49-F238E27FC236}">
                <a16:creationId xmlns:a16="http://schemas.microsoft.com/office/drawing/2014/main" id="{FFC49AEA-2A8F-250C-A86A-A7751D9706C3}"/>
              </a:ext>
            </a:extLst>
          </p:cNvPr>
          <p:cNvSpPr txBox="1"/>
          <p:nvPr/>
        </p:nvSpPr>
        <p:spPr>
          <a:xfrm>
            <a:off x="806126" y="190930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2534168" y="190930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716366" y="19093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18459" y="21240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18459" y="34595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2954538" y="190930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819976" y="216709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장애인 고용촉진 및 직업재활법에 따른 장애인 고용우수사업주 또는 장애인 표준사업장</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608932" y="2297112"/>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3290592" y="273794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718459" y="253331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819976" y="257636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장애인기업활동 촉진법에서 정한 기업으로서 중소벤처기업부 장관이 확인한 장애인 기업</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2608932" y="273458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819976" y="2985632"/>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장애인고용 우수기업 </a:t>
            </a:r>
            <a:r>
              <a:rPr lang="en-US" altLang="ko-KR" dirty="0"/>
              <a:t>- </a:t>
            </a:r>
            <a:r>
              <a:rPr lang="ko-KR" altLang="en-US" dirty="0"/>
              <a:t>최근 </a:t>
            </a:r>
            <a:r>
              <a:rPr lang="en-US" altLang="ko-KR" dirty="0"/>
              <a:t>3</a:t>
            </a:r>
            <a:r>
              <a:rPr lang="ko-KR" altLang="en-US" dirty="0"/>
              <a:t>개월 평균 장애인 고용률이 </a:t>
            </a:r>
            <a:r>
              <a:rPr lang="en-US" altLang="ko-KR" dirty="0"/>
              <a:t>3%</a:t>
            </a:r>
            <a:r>
              <a:rPr lang="ko-KR" altLang="en-US" dirty="0" err="1"/>
              <a:t>이상임서</a:t>
            </a:r>
            <a:r>
              <a:rPr lang="ko-KR" altLang="en-US" dirty="0"/>
              <a:t> 최근 </a:t>
            </a:r>
            <a:r>
              <a:rPr lang="en-US" altLang="ko-KR" dirty="0"/>
              <a:t>3</a:t>
            </a:r>
            <a:r>
              <a:rPr lang="ko-KR" altLang="en-US" dirty="0"/>
              <a:t>개월 평균 장애인종업원이 </a:t>
            </a:r>
            <a:r>
              <a:rPr lang="en-US" altLang="ko-KR" dirty="0"/>
              <a:t>6</a:t>
            </a:r>
            <a:r>
              <a:rPr lang="ko-KR" altLang="en-US" dirty="0"/>
              <a:t>인 이상인 기업</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2608932" y="3152978"/>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0.3</a:t>
            </a:r>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18459" y="294258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794594" y="349040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1319451" y="3563689"/>
            <a:ext cx="2010812" cy="107722"/>
          </a:xfrm>
          <a:prstGeom prst="rect">
            <a:avLst/>
          </a:prstGeom>
          <a:noFill/>
        </p:spPr>
        <p:txBody>
          <a:bodyPr wrap="square" lIns="0" tIns="0" rIns="0" bIns="0" rtlCol="0">
            <a:spAutoFit/>
          </a:bodyPr>
          <a:lstStyle/>
          <a:p>
            <a:r>
              <a:rPr lang="en-US" altLang="ko-KR" sz="700" dirty="0">
                <a:latin typeface="+mn-ea"/>
              </a:rPr>
              <a:t>4.</a:t>
            </a:r>
            <a:r>
              <a:rPr lang="ko-KR" altLang="en-US" sz="700" dirty="0">
                <a:latin typeface="+mn-ea"/>
              </a:rPr>
              <a:t>여성기업지원 등</a:t>
            </a:r>
          </a:p>
        </p:txBody>
      </p:sp>
      <p:sp>
        <p:nvSpPr>
          <p:cNvPr id="159" name="TextBox 158">
            <a:extLst>
              <a:ext uri="{FF2B5EF4-FFF2-40B4-BE49-F238E27FC236}">
                <a16:creationId xmlns:a16="http://schemas.microsoft.com/office/drawing/2014/main" id="{FFC49AEA-2A8F-250C-A86A-A7751D9706C3}"/>
              </a:ext>
            </a:extLst>
          </p:cNvPr>
          <p:cNvSpPr txBox="1"/>
          <p:nvPr/>
        </p:nvSpPr>
        <p:spPr>
          <a:xfrm>
            <a:off x="794594" y="367418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60" name="TextBox 159">
            <a:extLst>
              <a:ext uri="{FF2B5EF4-FFF2-40B4-BE49-F238E27FC236}">
                <a16:creationId xmlns:a16="http://schemas.microsoft.com/office/drawing/2014/main" id="{FFC49AEA-2A8F-250C-A86A-A7751D9706C3}"/>
              </a:ext>
            </a:extLst>
          </p:cNvPr>
          <p:cNvSpPr txBox="1"/>
          <p:nvPr/>
        </p:nvSpPr>
        <p:spPr>
          <a:xfrm>
            <a:off x="1319451" y="3747469"/>
            <a:ext cx="2010812" cy="107722"/>
          </a:xfrm>
          <a:prstGeom prst="rect">
            <a:avLst/>
          </a:prstGeom>
          <a:noFill/>
        </p:spPr>
        <p:txBody>
          <a:bodyPr wrap="square" lIns="0" tIns="0" rIns="0" bIns="0" rtlCol="0">
            <a:spAutoFit/>
          </a:bodyPr>
          <a:lstStyle/>
          <a:p>
            <a:r>
              <a:rPr lang="ko-KR" altLang="en-US" sz="700" dirty="0">
                <a:latin typeface="+mn-ea"/>
              </a:rPr>
              <a:t>여성기업 지원 및 고용촉진</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2920743" y="3747469"/>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0.4</a:t>
            </a:r>
          </a:p>
        </p:txBody>
      </p:sp>
      <p:sp>
        <p:nvSpPr>
          <p:cNvPr id="162" name="직사각형 161"/>
          <p:cNvSpPr/>
          <p:nvPr/>
        </p:nvSpPr>
        <p:spPr>
          <a:xfrm>
            <a:off x="719063" y="3908546"/>
            <a:ext cx="1639886" cy="241793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3" name="TextBox 162">
            <a:extLst>
              <a:ext uri="{FF2B5EF4-FFF2-40B4-BE49-F238E27FC236}">
                <a16:creationId xmlns:a16="http://schemas.microsoft.com/office/drawing/2014/main" id="{FFC49AEA-2A8F-250C-A86A-A7751D9706C3}"/>
              </a:ext>
            </a:extLst>
          </p:cNvPr>
          <p:cNvSpPr txBox="1"/>
          <p:nvPr/>
        </p:nvSpPr>
        <p:spPr>
          <a:xfrm>
            <a:off x="806126" y="3908548"/>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64" name="TextBox 163">
            <a:extLst>
              <a:ext uri="{FF2B5EF4-FFF2-40B4-BE49-F238E27FC236}">
                <a16:creationId xmlns:a16="http://schemas.microsoft.com/office/drawing/2014/main" id="{FFC49AEA-2A8F-250C-A86A-A7751D9706C3}"/>
              </a:ext>
            </a:extLst>
          </p:cNvPr>
          <p:cNvSpPr txBox="1"/>
          <p:nvPr/>
        </p:nvSpPr>
        <p:spPr>
          <a:xfrm>
            <a:off x="2534168" y="390854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716366" y="39085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18459" y="41232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18459" y="63264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8" name="TextBox 167">
            <a:extLst>
              <a:ext uri="{FF2B5EF4-FFF2-40B4-BE49-F238E27FC236}">
                <a16:creationId xmlns:a16="http://schemas.microsoft.com/office/drawing/2014/main" id="{FFC49AEA-2A8F-250C-A86A-A7751D9706C3}"/>
              </a:ext>
            </a:extLst>
          </p:cNvPr>
          <p:cNvSpPr txBox="1"/>
          <p:nvPr/>
        </p:nvSpPr>
        <p:spPr>
          <a:xfrm>
            <a:off x="2954538" y="390854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69" name="TextBox 168">
            <a:extLst>
              <a:ext uri="{FF2B5EF4-FFF2-40B4-BE49-F238E27FC236}">
                <a16:creationId xmlns:a16="http://schemas.microsoft.com/office/drawing/2014/main" id="{FFC49AEA-2A8F-250C-A86A-A7751D9706C3}"/>
              </a:ext>
            </a:extLst>
          </p:cNvPr>
          <p:cNvSpPr txBox="1"/>
          <p:nvPr/>
        </p:nvSpPr>
        <p:spPr>
          <a:xfrm>
            <a:off x="819976" y="4166338"/>
            <a:ext cx="1480199" cy="969496"/>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여성기원지원에 관한 법률에서 정한 기업으로서 중 소벤처기업부장관</a:t>
            </a:r>
            <a:r>
              <a:rPr lang="en-US" altLang="ko-KR" dirty="0"/>
              <a:t>(</a:t>
            </a:r>
            <a:r>
              <a:rPr lang="ko-KR" altLang="en-US" dirty="0" err="1"/>
              <a:t>수임권자</a:t>
            </a:r>
            <a:r>
              <a:rPr lang="ko-KR" altLang="en-US" dirty="0"/>
              <a:t> 포함</a:t>
            </a:r>
            <a:r>
              <a:rPr lang="en-US" altLang="ko-KR" dirty="0"/>
              <a:t>)</a:t>
            </a:r>
            <a:r>
              <a:rPr lang="ko-KR" altLang="en-US" dirty="0"/>
              <a:t>에 의해 확인서를 받은 여성기업으로서 그 존속기간에 따라</a:t>
            </a:r>
          </a:p>
          <a:p>
            <a:r>
              <a:rPr lang="en-US" altLang="ko-KR" dirty="0"/>
              <a:t>-10</a:t>
            </a:r>
            <a:r>
              <a:rPr lang="ko-KR" altLang="en-US" dirty="0"/>
              <a:t>년 이상</a:t>
            </a:r>
          </a:p>
          <a:p>
            <a:r>
              <a:rPr lang="en-US" altLang="ko-KR" dirty="0"/>
              <a:t>-5</a:t>
            </a:r>
            <a:r>
              <a:rPr lang="ko-KR" altLang="en-US" dirty="0" err="1"/>
              <a:t>년이상</a:t>
            </a:r>
            <a:r>
              <a:rPr lang="ko-KR" altLang="en-US" dirty="0"/>
              <a:t> </a:t>
            </a:r>
            <a:r>
              <a:rPr lang="en-US" altLang="ko-KR" dirty="0"/>
              <a:t>~ 10</a:t>
            </a:r>
            <a:r>
              <a:rPr lang="ko-KR" altLang="en-US" dirty="0"/>
              <a:t>년 미만</a:t>
            </a:r>
          </a:p>
          <a:p>
            <a:r>
              <a:rPr lang="en-US" altLang="ko-KR" dirty="0"/>
              <a:t>-3</a:t>
            </a:r>
            <a:r>
              <a:rPr lang="ko-KR" altLang="en-US" dirty="0" err="1"/>
              <a:t>년이상</a:t>
            </a:r>
            <a:r>
              <a:rPr lang="ko-KR" altLang="en-US" dirty="0"/>
              <a:t> </a:t>
            </a:r>
            <a:r>
              <a:rPr lang="en-US" altLang="ko-KR" dirty="0"/>
              <a:t>~ 5</a:t>
            </a:r>
            <a:r>
              <a:rPr lang="ko-KR" altLang="en-US" dirty="0"/>
              <a:t>년 미만</a:t>
            </a:r>
          </a:p>
          <a:p>
            <a:r>
              <a:rPr lang="en-US" altLang="ko-KR" dirty="0"/>
              <a:t>-3</a:t>
            </a:r>
            <a:r>
              <a:rPr lang="ko-KR" altLang="en-US" dirty="0"/>
              <a:t>년 미만</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2559238" y="4704947"/>
            <a:ext cx="168316"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a:p>
            <a:r>
              <a:rPr lang="en-US" altLang="ko-KR" dirty="0"/>
              <a:t>0.35</a:t>
            </a:r>
          </a:p>
          <a:p>
            <a:r>
              <a:rPr lang="en-US" altLang="ko-KR" dirty="0"/>
              <a:t>0.3</a:t>
            </a:r>
          </a:p>
          <a:p>
            <a:r>
              <a:rPr lang="en-US" altLang="ko-KR" dirty="0"/>
              <a:t>0.25</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3290592" y="517102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8" name="직선 연결선 177">
            <a:extLst>
              <a:ext uri="{FF2B5EF4-FFF2-40B4-BE49-F238E27FC236}">
                <a16:creationId xmlns:a16="http://schemas.microsoft.com/office/drawing/2014/main" id="{E9293055-D5CD-4B9E-7F64-64B2D2CA7A52}"/>
              </a:ext>
            </a:extLst>
          </p:cNvPr>
          <p:cNvCxnSpPr/>
          <p:nvPr/>
        </p:nvCxnSpPr>
        <p:spPr>
          <a:xfrm>
            <a:off x="718459" y="51671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819976" y="5210233"/>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고용노동부장관에 의해 남녀고용평등 우수기업으로 </a:t>
            </a:r>
            <a:r>
              <a:rPr lang="ko-KR" altLang="en-US" dirty="0" err="1"/>
              <a:t>지정받은</a:t>
            </a:r>
            <a:r>
              <a:rPr lang="ko-KR" altLang="en-US" dirty="0"/>
              <a:t> 자</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2608932" y="5254669"/>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819976" y="5517142"/>
            <a:ext cx="1480199" cy="107722"/>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a:t>여성고용 우수기업</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2608867" y="5658083"/>
            <a:ext cx="118687"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a:p>
            <a:endParaRPr lang="en-US" altLang="ko-KR" dirty="0"/>
          </a:p>
          <a:p>
            <a:endParaRPr lang="en-US" altLang="ko-KR" dirty="0"/>
          </a:p>
          <a:p>
            <a:r>
              <a:rPr lang="en-US" altLang="ko-KR" dirty="0"/>
              <a:t>0.3</a:t>
            </a:r>
          </a:p>
        </p:txBody>
      </p:sp>
      <p:cxnSp>
        <p:nvCxnSpPr>
          <p:cNvPr id="184" name="직선 연결선 183">
            <a:extLst>
              <a:ext uri="{FF2B5EF4-FFF2-40B4-BE49-F238E27FC236}">
                <a16:creationId xmlns:a16="http://schemas.microsoft.com/office/drawing/2014/main" id="{E9293055-D5CD-4B9E-7F64-64B2D2CA7A52}"/>
              </a:ext>
            </a:extLst>
          </p:cNvPr>
          <p:cNvCxnSpPr/>
          <p:nvPr/>
        </p:nvCxnSpPr>
        <p:spPr>
          <a:xfrm>
            <a:off x="718459" y="547409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19976" y="5658083"/>
            <a:ext cx="1480199" cy="754053"/>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t>
            </a:r>
            <a:r>
              <a:rPr lang="ko-KR" altLang="en-US" dirty="0"/>
              <a:t>최근 </a:t>
            </a:r>
            <a:r>
              <a:rPr lang="en-US" altLang="ko-KR" dirty="0"/>
              <a:t>3</a:t>
            </a:r>
            <a:r>
              <a:rPr lang="ko-KR" altLang="en-US" dirty="0"/>
              <a:t>개월 평균 여성고용률이 </a:t>
            </a:r>
            <a:r>
              <a:rPr lang="en-US" altLang="ko-KR" dirty="0"/>
              <a:t>10%</a:t>
            </a:r>
            <a:r>
              <a:rPr lang="ko-KR" altLang="en-US" dirty="0"/>
              <a:t>이상이면서 최근 </a:t>
            </a:r>
            <a:r>
              <a:rPr lang="en-US" altLang="ko-KR" dirty="0"/>
              <a:t>3</a:t>
            </a:r>
            <a:r>
              <a:rPr lang="ko-KR" altLang="en-US" dirty="0"/>
              <a:t>개월 평균 여성종업원이 </a:t>
            </a:r>
            <a:r>
              <a:rPr lang="en-US" altLang="ko-KR" dirty="0"/>
              <a:t>10</a:t>
            </a:r>
            <a:r>
              <a:rPr lang="ko-KR" altLang="en-US" dirty="0"/>
              <a:t>인 이상인 기업</a:t>
            </a:r>
          </a:p>
          <a:p>
            <a:r>
              <a:rPr lang="en-US" altLang="ko-KR" dirty="0"/>
              <a:t>-</a:t>
            </a:r>
            <a:r>
              <a:rPr lang="ko-KR" altLang="en-US" dirty="0"/>
              <a:t>최근 </a:t>
            </a:r>
            <a:r>
              <a:rPr lang="en-US" altLang="ko-KR" dirty="0"/>
              <a:t>3</a:t>
            </a:r>
            <a:r>
              <a:rPr lang="ko-KR" altLang="en-US" dirty="0"/>
              <a:t>개월 평균 여성고용률이 </a:t>
            </a:r>
            <a:r>
              <a:rPr lang="en-US" altLang="ko-KR" dirty="0"/>
              <a:t>5%</a:t>
            </a:r>
            <a:r>
              <a:rPr lang="ko-KR" altLang="en-US" dirty="0"/>
              <a:t>이상이면서 최근 </a:t>
            </a:r>
            <a:r>
              <a:rPr lang="en-US" altLang="ko-KR" dirty="0"/>
              <a:t>3</a:t>
            </a:r>
            <a:r>
              <a:rPr lang="ko-KR" altLang="en-US" dirty="0"/>
              <a:t>개월 평균 여성종업원이 </a:t>
            </a:r>
            <a:r>
              <a:rPr lang="en-US" altLang="ko-KR" dirty="0"/>
              <a:t>5</a:t>
            </a:r>
            <a:r>
              <a:rPr lang="ko-KR" altLang="en-US" dirty="0"/>
              <a:t>인 이상인 기업</a:t>
            </a:r>
          </a:p>
          <a:p>
            <a:endParaRPr lang="ko-KR" altLang="en-US" dirty="0"/>
          </a:p>
        </p:txBody>
      </p:sp>
      <p:sp>
        <p:nvSpPr>
          <p:cNvPr id="186" name="TextBox 185">
            <a:extLst>
              <a:ext uri="{FF2B5EF4-FFF2-40B4-BE49-F238E27FC236}">
                <a16:creationId xmlns:a16="http://schemas.microsoft.com/office/drawing/2014/main" id="{FFC49AEA-2A8F-250C-A86A-A7751D9706C3}"/>
              </a:ext>
            </a:extLst>
          </p:cNvPr>
          <p:cNvSpPr txBox="1"/>
          <p:nvPr/>
        </p:nvSpPr>
        <p:spPr>
          <a:xfrm>
            <a:off x="3936517" y="149115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87" name="TextBox 186">
            <a:extLst>
              <a:ext uri="{FF2B5EF4-FFF2-40B4-BE49-F238E27FC236}">
                <a16:creationId xmlns:a16="http://schemas.microsoft.com/office/drawing/2014/main" id="{FFC49AEA-2A8F-250C-A86A-A7751D9706C3}"/>
              </a:ext>
            </a:extLst>
          </p:cNvPr>
          <p:cNvSpPr txBox="1"/>
          <p:nvPr/>
        </p:nvSpPr>
        <p:spPr>
          <a:xfrm>
            <a:off x="4461374" y="1564445"/>
            <a:ext cx="2010812" cy="107722"/>
          </a:xfrm>
          <a:prstGeom prst="rect">
            <a:avLst/>
          </a:prstGeom>
          <a:noFill/>
        </p:spPr>
        <p:txBody>
          <a:bodyPr wrap="square" lIns="0" tIns="0" rIns="0" bIns="0" rtlCol="0">
            <a:spAutoFit/>
          </a:bodyPr>
          <a:lstStyle/>
          <a:p>
            <a:r>
              <a:rPr lang="en-US" altLang="ko-KR" sz="700" dirty="0">
                <a:latin typeface="+mn-ea"/>
              </a:rPr>
              <a:t>5.</a:t>
            </a:r>
            <a:r>
              <a:rPr lang="ko-KR" altLang="en-US" sz="700" dirty="0">
                <a:latin typeface="+mn-ea"/>
              </a:rPr>
              <a:t>정책지원</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3936517" y="167493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4461374" y="1748225"/>
            <a:ext cx="2010812" cy="107722"/>
          </a:xfrm>
          <a:prstGeom prst="rect">
            <a:avLst/>
          </a:prstGeom>
          <a:noFill/>
        </p:spPr>
        <p:txBody>
          <a:bodyPr wrap="square" lIns="0" tIns="0" rIns="0" bIns="0" rtlCol="0">
            <a:spAutoFit/>
          </a:bodyPr>
          <a:lstStyle/>
          <a:p>
            <a:r>
              <a:rPr lang="ko-KR" altLang="en-US" sz="700" dirty="0">
                <a:latin typeface="+mn-ea"/>
              </a:rPr>
              <a:t>부처별 정책지원</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6062666" y="1748225"/>
            <a:ext cx="406540"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1.0</a:t>
            </a:r>
          </a:p>
        </p:txBody>
      </p:sp>
      <p:sp>
        <p:nvSpPr>
          <p:cNvPr id="191" name="직사각형 190"/>
          <p:cNvSpPr/>
          <p:nvPr/>
        </p:nvSpPr>
        <p:spPr>
          <a:xfrm>
            <a:off x="3860986" y="1909302"/>
            <a:ext cx="1639886" cy="22025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2" name="TextBox 191">
            <a:extLst>
              <a:ext uri="{FF2B5EF4-FFF2-40B4-BE49-F238E27FC236}">
                <a16:creationId xmlns:a16="http://schemas.microsoft.com/office/drawing/2014/main" id="{FFC49AEA-2A8F-250C-A86A-A7751D9706C3}"/>
              </a:ext>
            </a:extLst>
          </p:cNvPr>
          <p:cNvSpPr txBox="1"/>
          <p:nvPr/>
        </p:nvSpPr>
        <p:spPr>
          <a:xfrm>
            <a:off x="3948049" y="1909304"/>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5676091" y="1909304"/>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858289" y="19093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3860382" y="21240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3860382" y="41118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9" name="TextBox 198">
            <a:extLst>
              <a:ext uri="{FF2B5EF4-FFF2-40B4-BE49-F238E27FC236}">
                <a16:creationId xmlns:a16="http://schemas.microsoft.com/office/drawing/2014/main" id="{FFC49AEA-2A8F-250C-A86A-A7751D9706C3}"/>
              </a:ext>
            </a:extLst>
          </p:cNvPr>
          <p:cNvSpPr txBox="1"/>
          <p:nvPr/>
        </p:nvSpPr>
        <p:spPr>
          <a:xfrm>
            <a:off x="6096461" y="1909304"/>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3961899" y="2161237"/>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 </a:t>
            </a:r>
            <a:r>
              <a:rPr lang="ko-KR" altLang="en-US" dirty="0"/>
              <a:t>고용노동부장관으로부터 ‘노사문화우수기업’</a:t>
            </a:r>
            <a:r>
              <a:rPr lang="en-US" altLang="ko-KR" dirty="0"/>
              <a:t>(</a:t>
            </a:r>
            <a:r>
              <a:rPr lang="ko-KR" altLang="en-US" dirty="0"/>
              <a:t>대상기업 포함</a:t>
            </a:r>
            <a:r>
              <a:rPr lang="en-US" altLang="ko-KR" dirty="0"/>
              <a:t>)</a:t>
            </a:r>
            <a:r>
              <a:rPr lang="ko-KR" altLang="en-US" dirty="0"/>
              <a:t>으로 선정된 업체</a:t>
            </a:r>
            <a:r>
              <a:rPr lang="en-US" altLang="ko-KR" dirty="0"/>
              <a:t>(</a:t>
            </a:r>
            <a:r>
              <a:rPr lang="ko-KR" altLang="en-US" dirty="0"/>
              <a:t>유효기간 내에 한함</a:t>
            </a:r>
            <a:r>
              <a:rPr lang="en-US" altLang="ko-KR" dirty="0"/>
              <a:t>)</a:t>
            </a:r>
          </a:p>
          <a:p>
            <a:r>
              <a:rPr lang="en-US" altLang="ko-KR" dirty="0"/>
              <a:t>*</a:t>
            </a:r>
            <a:r>
              <a:rPr lang="ko-KR" altLang="en-US" dirty="0"/>
              <a:t>다만</a:t>
            </a:r>
            <a:r>
              <a:rPr lang="en-US" altLang="ko-KR" dirty="0"/>
              <a:t>, </a:t>
            </a:r>
            <a:r>
              <a:rPr lang="ko-KR" altLang="en-US" dirty="0" err="1"/>
              <a:t>급식분야는</a:t>
            </a:r>
            <a:r>
              <a:rPr lang="ko-KR" altLang="en-US" dirty="0"/>
              <a:t> </a:t>
            </a:r>
            <a:r>
              <a:rPr lang="en-US" altLang="ko-KR" dirty="0"/>
              <a:t>0.25</a:t>
            </a:r>
            <a:r>
              <a:rPr lang="ko-KR" altLang="en-US" dirty="0"/>
              <a:t>점</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5750855" y="2322819"/>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02" name="TextBox 201">
            <a:extLst>
              <a:ext uri="{FF2B5EF4-FFF2-40B4-BE49-F238E27FC236}">
                <a16:creationId xmlns:a16="http://schemas.microsoft.com/office/drawing/2014/main" id="{FFC49AEA-2A8F-250C-A86A-A7751D9706C3}"/>
              </a:ext>
            </a:extLst>
          </p:cNvPr>
          <p:cNvSpPr txBox="1"/>
          <p:nvPr/>
        </p:nvSpPr>
        <p:spPr>
          <a:xfrm>
            <a:off x="6432515" y="306407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03" name="직선 연결선 202">
            <a:extLst>
              <a:ext uri="{FF2B5EF4-FFF2-40B4-BE49-F238E27FC236}">
                <a16:creationId xmlns:a16="http://schemas.microsoft.com/office/drawing/2014/main" id="{E9293055-D5CD-4B9E-7F64-64B2D2CA7A52}"/>
              </a:ext>
            </a:extLst>
          </p:cNvPr>
          <p:cNvCxnSpPr/>
          <p:nvPr/>
        </p:nvCxnSpPr>
        <p:spPr>
          <a:xfrm>
            <a:off x="3860382" y="26293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4" name="TextBox 203">
            <a:extLst>
              <a:ext uri="{FF2B5EF4-FFF2-40B4-BE49-F238E27FC236}">
                <a16:creationId xmlns:a16="http://schemas.microsoft.com/office/drawing/2014/main" id="{FFC49AEA-2A8F-250C-A86A-A7751D9706C3}"/>
              </a:ext>
            </a:extLst>
          </p:cNvPr>
          <p:cNvSpPr txBox="1"/>
          <p:nvPr/>
        </p:nvSpPr>
        <p:spPr>
          <a:xfrm>
            <a:off x="3961899" y="266651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B. </a:t>
            </a:r>
            <a:r>
              <a:rPr lang="ko-KR" altLang="en-US" dirty="0"/>
              <a:t>비상대비자원 관리법에 따른 주무부장관이 확인한 비상대비 중점관리대상업체</a:t>
            </a:r>
          </a:p>
        </p:txBody>
      </p:sp>
      <p:sp>
        <p:nvSpPr>
          <p:cNvPr id="206" name="TextBox 205">
            <a:extLst>
              <a:ext uri="{FF2B5EF4-FFF2-40B4-BE49-F238E27FC236}">
                <a16:creationId xmlns:a16="http://schemas.microsoft.com/office/drawing/2014/main" id="{FFC49AEA-2A8F-250C-A86A-A7751D9706C3}"/>
              </a:ext>
            </a:extLst>
          </p:cNvPr>
          <p:cNvSpPr txBox="1"/>
          <p:nvPr/>
        </p:nvSpPr>
        <p:spPr>
          <a:xfrm>
            <a:off x="5750855" y="2774235"/>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0.5</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3961899" y="3064069"/>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C. </a:t>
            </a:r>
            <a:r>
              <a:rPr lang="ko-KR" altLang="en-US" dirty="0" err="1"/>
              <a:t>사회적기업</a:t>
            </a:r>
            <a:r>
              <a:rPr lang="ko-KR" altLang="en-US" dirty="0"/>
              <a:t> 육성법 제</a:t>
            </a:r>
            <a:r>
              <a:rPr lang="en-US" altLang="ko-KR" dirty="0"/>
              <a:t>7</a:t>
            </a:r>
            <a:r>
              <a:rPr lang="ko-KR" altLang="en-US" dirty="0"/>
              <a:t>조에 따른 고용노동부장관의 인증을 받은 기업</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50855" y="3117930"/>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cxnSp>
        <p:nvCxnSpPr>
          <p:cNvPr id="210" name="직선 연결선 209">
            <a:extLst>
              <a:ext uri="{FF2B5EF4-FFF2-40B4-BE49-F238E27FC236}">
                <a16:creationId xmlns:a16="http://schemas.microsoft.com/office/drawing/2014/main" id="{E9293055-D5CD-4B9E-7F64-64B2D2CA7A52}"/>
              </a:ext>
            </a:extLst>
          </p:cNvPr>
          <p:cNvCxnSpPr/>
          <p:nvPr/>
        </p:nvCxnSpPr>
        <p:spPr>
          <a:xfrm>
            <a:off x="3860382" y="3026874"/>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FFC49AEA-2A8F-250C-A86A-A7751D9706C3}"/>
              </a:ext>
            </a:extLst>
          </p:cNvPr>
          <p:cNvSpPr txBox="1"/>
          <p:nvPr/>
        </p:nvSpPr>
        <p:spPr>
          <a:xfrm>
            <a:off x="3961899" y="3353903"/>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D. </a:t>
            </a:r>
            <a:r>
              <a:rPr lang="ko-KR" altLang="en-US" dirty="0"/>
              <a:t>가족친화 사회환경의 </a:t>
            </a:r>
            <a:r>
              <a:rPr lang="ko-KR" altLang="en-US" dirty="0" err="1"/>
              <a:t>조성촉진에</a:t>
            </a:r>
            <a:r>
              <a:rPr lang="ko-KR" altLang="en-US" dirty="0"/>
              <a:t> 관한 법률 제</a:t>
            </a:r>
            <a:r>
              <a:rPr lang="en-US" altLang="ko-KR" dirty="0"/>
              <a:t>15</a:t>
            </a:r>
            <a:r>
              <a:rPr lang="ko-KR" altLang="en-US" dirty="0"/>
              <a:t>조에 따른 가족친화인증을 받은 기업</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5750855" y="3461624"/>
            <a:ext cx="118622"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0.4</a:t>
            </a: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860382" y="331670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6" name="TextBox 215">
            <a:extLst>
              <a:ext uri="{FF2B5EF4-FFF2-40B4-BE49-F238E27FC236}">
                <a16:creationId xmlns:a16="http://schemas.microsoft.com/office/drawing/2014/main" id="{FFC49AEA-2A8F-250C-A86A-A7751D9706C3}"/>
              </a:ext>
            </a:extLst>
          </p:cNvPr>
          <p:cNvSpPr txBox="1"/>
          <p:nvPr/>
        </p:nvSpPr>
        <p:spPr>
          <a:xfrm>
            <a:off x="3961899" y="3751458"/>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E. </a:t>
            </a:r>
            <a:r>
              <a:rPr lang="ko-KR" altLang="en-US" dirty="0"/>
              <a:t>모범납세자관리규정 </a:t>
            </a:r>
            <a:r>
              <a:rPr lang="en-US" altLang="ko-KR" dirty="0"/>
              <a:t>(</a:t>
            </a:r>
            <a:r>
              <a:rPr lang="ko-KR" altLang="en-US" dirty="0" err="1"/>
              <a:t>국세청훈령</a:t>
            </a:r>
            <a:r>
              <a:rPr lang="en-US" altLang="ko-KR" dirty="0"/>
              <a:t>)</a:t>
            </a:r>
            <a:r>
              <a:rPr lang="ko-KR" altLang="en-US" dirty="0"/>
              <a:t>제</a:t>
            </a:r>
            <a:r>
              <a:rPr lang="en-US" altLang="ko-KR" dirty="0"/>
              <a:t>5</a:t>
            </a:r>
            <a:r>
              <a:rPr lang="ko-KR" altLang="en-US" dirty="0"/>
              <a:t>조 제 </a:t>
            </a:r>
            <a:r>
              <a:rPr lang="en-US" altLang="ko-KR" dirty="0"/>
              <a:t>3</a:t>
            </a:r>
            <a:r>
              <a:rPr lang="ko-KR" altLang="en-US" dirty="0"/>
              <a:t>항 제 </a:t>
            </a:r>
            <a:r>
              <a:rPr lang="en-US" altLang="ko-KR" dirty="0"/>
              <a:t>1</a:t>
            </a:r>
            <a:r>
              <a:rPr lang="ko-KR" altLang="en-US" dirty="0"/>
              <a:t>호에 따른 모범납세자</a:t>
            </a:r>
          </a:p>
        </p:txBody>
      </p:sp>
      <p:sp>
        <p:nvSpPr>
          <p:cNvPr id="217" name="TextBox 216">
            <a:extLst>
              <a:ext uri="{FF2B5EF4-FFF2-40B4-BE49-F238E27FC236}">
                <a16:creationId xmlns:a16="http://schemas.microsoft.com/office/drawing/2014/main" id="{FFC49AEA-2A8F-250C-A86A-A7751D9706C3}"/>
              </a:ext>
            </a:extLst>
          </p:cNvPr>
          <p:cNvSpPr txBox="1"/>
          <p:nvPr/>
        </p:nvSpPr>
        <p:spPr>
          <a:xfrm>
            <a:off x="5701161" y="3859179"/>
            <a:ext cx="168316" cy="107722"/>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0.25</a:t>
            </a:r>
          </a:p>
        </p:txBody>
      </p:sp>
      <p:cxnSp>
        <p:nvCxnSpPr>
          <p:cNvPr id="218" name="직선 연결선 217">
            <a:extLst>
              <a:ext uri="{FF2B5EF4-FFF2-40B4-BE49-F238E27FC236}">
                <a16:creationId xmlns:a16="http://schemas.microsoft.com/office/drawing/2014/main" id="{E9293055-D5CD-4B9E-7F64-64B2D2CA7A52}"/>
              </a:ext>
            </a:extLst>
          </p:cNvPr>
          <p:cNvCxnSpPr/>
          <p:nvPr/>
        </p:nvCxnSpPr>
        <p:spPr>
          <a:xfrm>
            <a:off x="3860382" y="371426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1" name="타원 9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045531510"/>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223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479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12" name="TextBox 11">
            <a:extLst>
              <a:ext uri="{FF2B5EF4-FFF2-40B4-BE49-F238E27FC236}">
                <a16:creationId xmlns:a16="http://schemas.microsoft.com/office/drawing/2014/main" id="{60055083-8CC2-EBAB-95A2-A3D16C277F81}"/>
              </a:ext>
            </a:extLst>
          </p:cNvPr>
          <p:cNvSpPr txBox="1"/>
          <p:nvPr/>
        </p:nvSpPr>
        <p:spPr>
          <a:xfrm>
            <a:off x="465794" y="2682816"/>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재무상태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15EC443-8860-14E7-541D-015B26B2064C}"/>
              </a:ext>
            </a:extLst>
          </p:cNvPr>
          <p:cNvGraphicFramePr>
            <a:graphicFrameLocks noGrp="1"/>
          </p:cNvGraphicFramePr>
          <p:nvPr/>
        </p:nvGraphicFramePr>
        <p:xfrm>
          <a:off x="460676" y="2966570"/>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11" name="TextBox 10">
            <a:extLst>
              <a:ext uri="{FF2B5EF4-FFF2-40B4-BE49-F238E27FC236}">
                <a16:creationId xmlns:a16="http://schemas.microsoft.com/office/drawing/2014/main" id="{AC4C4897-C32F-B3F5-E1C5-D8DB3D6E6904}"/>
              </a:ext>
            </a:extLst>
          </p:cNvPr>
          <p:cNvSpPr txBox="1"/>
          <p:nvPr/>
        </p:nvSpPr>
        <p:spPr>
          <a:xfrm>
            <a:off x="460676" y="3737096"/>
            <a:ext cx="2268817"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입찰가격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5" name="표 14">
            <a:extLst>
              <a:ext uri="{FF2B5EF4-FFF2-40B4-BE49-F238E27FC236}">
                <a16:creationId xmlns:a16="http://schemas.microsoft.com/office/drawing/2014/main" id="{DCB62277-9458-AC39-3630-6FD48BCD820E}"/>
              </a:ext>
            </a:extLst>
          </p:cNvPr>
          <p:cNvGraphicFramePr>
            <a:graphicFrameLocks noGrp="1"/>
          </p:cNvGraphicFramePr>
          <p:nvPr/>
        </p:nvGraphicFramePr>
        <p:xfrm>
          <a:off x="455558" y="4020850"/>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2" name="TextBox 1">
            <a:extLst>
              <a:ext uri="{FF2B5EF4-FFF2-40B4-BE49-F238E27FC236}">
                <a16:creationId xmlns:a16="http://schemas.microsoft.com/office/drawing/2014/main" id="{F5D0D654-ACD3-3FEF-E2C2-BC364DE7E9D6}"/>
              </a:ext>
            </a:extLst>
          </p:cNvPr>
          <p:cNvSpPr txBox="1"/>
          <p:nvPr/>
        </p:nvSpPr>
        <p:spPr>
          <a:xfrm>
            <a:off x="465794" y="5200633"/>
            <a:ext cx="2655141"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계약이행 성실도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4B39A103-1482-7F70-A0FC-22116D70F155}"/>
              </a:ext>
            </a:extLst>
          </p:cNvPr>
          <p:cNvGraphicFramePr>
            <a:graphicFrameLocks noGrp="1"/>
          </p:cNvGraphicFramePr>
          <p:nvPr/>
        </p:nvGraphicFramePr>
        <p:xfrm>
          <a:off x="460676" y="5484387"/>
          <a:ext cx="8994883" cy="897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품질발생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품질발생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납품지연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납품지연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부정당업자제재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lbmgtCultrExmgrdScr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부정당업자제재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bl>
          </a:graphicData>
        </a:graphic>
      </p:graphicFrame>
      <p:sp>
        <p:nvSpPr>
          <p:cNvPr id="7" name="Text Box 73">
            <a:extLst>
              <a:ext uri="{FF2B5EF4-FFF2-40B4-BE49-F238E27FC236}">
                <a16:creationId xmlns:a16="http://schemas.microsoft.com/office/drawing/2014/main" id="{C449F29D-0743-ADCF-7F8D-93330A28255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50773090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224</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37985"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기타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고용창출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고용창출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mngTrgtExmgrdScr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bl>
          </a:graphicData>
        </a:graphic>
      </p:graphicFrame>
      <p:sp>
        <p:nvSpPr>
          <p:cNvPr id="2" name="TextBox 1">
            <a:extLst>
              <a:ext uri="{FF2B5EF4-FFF2-40B4-BE49-F238E27FC236}">
                <a16:creationId xmlns:a16="http://schemas.microsoft.com/office/drawing/2014/main" id="{76DE29D7-5EBF-2A1B-D243-18A431A825CA}"/>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4000EBE8-C552-1A53-F315-3CE4DEBD3CB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10538554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225</a:t>
            </a:fld>
            <a:endParaRPr lang="ko-KR" altLang="en-US" dirty="0"/>
          </a:p>
        </p:txBody>
      </p:sp>
      <p:sp>
        <p:nvSpPr>
          <p:cNvPr id="7" name="TextBox 6">
            <a:extLst>
              <a:ext uri="{FF2B5EF4-FFF2-40B4-BE49-F238E27FC236}">
                <a16:creationId xmlns:a16="http://schemas.microsoft.com/office/drawing/2014/main" id="{7B924E74-473F-C804-E6CF-9ACB88255AA1}"/>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8" name="표 7">
            <a:extLst>
              <a:ext uri="{FF2B5EF4-FFF2-40B4-BE49-F238E27FC236}">
                <a16:creationId xmlns:a16="http://schemas.microsoft.com/office/drawing/2014/main" id="{1315B6ED-D3B4-2ADA-1DD5-AF43F9C3A244}"/>
              </a:ext>
            </a:extLst>
          </p:cNvPr>
          <p:cNvGraphicFramePr>
            <a:graphicFrameLocks noGrp="1"/>
          </p:cNvGraphicFramePr>
          <p:nvPr/>
        </p:nvGraphicFramePr>
        <p:xfrm>
          <a:off x="452291" y="1014316"/>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목록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scwin.btn_list_onclick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개찰목록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(UI-BD-08-M01)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개찰목록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4" name="Text Box 73">
            <a:extLst>
              <a:ext uri="{FF2B5EF4-FFF2-40B4-BE49-F238E27FC236}">
                <a16:creationId xmlns:a16="http://schemas.microsoft.com/office/drawing/2014/main" id="{983C1BD8-B1D7-FAFF-8463-FDE47CAD1F2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619955647"/>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226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고시금액미만</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p:cNvSpPr/>
          <p:nvPr/>
        </p:nvSpPr>
        <p:spPr>
          <a:xfrm>
            <a:off x="3823602" y="1981278"/>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TextBox 40">
            <a:extLst>
              <a:ext uri="{FF2B5EF4-FFF2-40B4-BE49-F238E27FC236}">
                <a16:creationId xmlns:a16="http://schemas.microsoft.com/office/drawing/2014/main" id="{FFC49AEA-2A8F-250C-A86A-A7751D9706C3}"/>
              </a:ext>
            </a:extLst>
          </p:cNvPr>
          <p:cNvSpPr txBox="1"/>
          <p:nvPr/>
        </p:nvSpPr>
        <p:spPr>
          <a:xfrm>
            <a:off x="3910665" y="1981279"/>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42" name="TextBox 41">
            <a:extLst>
              <a:ext uri="{FF2B5EF4-FFF2-40B4-BE49-F238E27FC236}">
                <a16:creationId xmlns:a16="http://schemas.microsoft.com/office/drawing/2014/main" id="{FFC49AEA-2A8F-250C-A86A-A7751D9706C3}"/>
              </a:ext>
            </a:extLst>
          </p:cNvPr>
          <p:cNvSpPr txBox="1"/>
          <p:nvPr/>
        </p:nvSpPr>
        <p:spPr>
          <a:xfrm>
            <a:off x="5492833" y="1981279"/>
            <a:ext cx="325410"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 ~ -2</a:t>
            </a:r>
          </a:p>
        </p:txBody>
      </p:sp>
      <p:grpSp>
        <p:nvGrpSpPr>
          <p:cNvPr id="43" name="그룹 42"/>
          <p:cNvGrpSpPr/>
          <p:nvPr/>
        </p:nvGrpSpPr>
        <p:grpSpPr>
          <a:xfrm>
            <a:off x="3821510" y="1981279"/>
            <a:ext cx="2630093" cy="429480"/>
            <a:chOff x="701175" y="1835481"/>
            <a:chExt cx="2630093" cy="429480"/>
          </a:xfrm>
        </p:grpSpPr>
        <p:cxnSp>
          <p:nvCxnSpPr>
            <p:cNvPr id="44" name="직선 연결선 4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5" name="직선 연결선 4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6" name="직선 연결선 4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8" name="TextBox 57">
            <a:extLst>
              <a:ext uri="{FF2B5EF4-FFF2-40B4-BE49-F238E27FC236}">
                <a16:creationId xmlns:a16="http://schemas.microsoft.com/office/drawing/2014/main" id="{FFC49AEA-2A8F-250C-A86A-A7751D9706C3}"/>
              </a:ext>
            </a:extLst>
          </p:cNvPr>
          <p:cNvSpPr txBox="1"/>
          <p:nvPr/>
        </p:nvSpPr>
        <p:spPr>
          <a:xfrm>
            <a:off x="3882481" y="1493927"/>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III.</a:t>
            </a:r>
            <a:r>
              <a:rPr lang="ko-KR" altLang="en-US" dirty="0"/>
              <a:t>신인도</a:t>
            </a:r>
          </a:p>
        </p:txBody>
      </p:sp>
      <p:sp>
        <p:nvSpPr>
          <p:cNvPr id="60" name="TextBox 59">
            <a:extLst>
              <a:ext uri="{FF2B5EF4-FFF2-40B4-BE49-F238E27FC236}">
                <a16:creationId xmlns:a16="http://schemas.microsoft.com/office/drawing/2014/main" id="{FFC49AEA-2A8F-250C-A86A-A7751D9706C3}"/>
              </a:ext>
            </a:extLst>
          </p:cNvPr>
          <p:cNvSpPr txBox="1"/>
          <p:nvPr/>
        </p:nvSpPr>
        <p:spPr>
          <a:xfrm>
            <a:off x="3882481" y="169416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61" name="TextBox 60">
            <a:extLst>
              <a:ext uri="{FF2B5EF4-FFF2-40B4-BE49-F238E27FC236}">
                <a16:creationId xmlns:a16="http://schemas.microsoft.com/office/drawing/2014/main" id="{FFC49AEA-2A8F-250C-A86A-A7751D9706C3}"/>
              </a:ext>
            </a:extLst>
          </p:cNvPr>
          <p:cNvSpPr txBox="1"/>
          <p:nvPr/>
        </p:nvSpPr>
        <p:spPr>
          <a:xfrm>
            <a:off x="6059077" y="1981279"/>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28683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8" name="직사각형 147"/>
          <p:cNvSpPr/>
          <p:nvPr/>
        </p:nvSpPr>
        <p:spPr>
          <a:xfrm>
            <a:off x="704609" y="444032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9" name="TextBox 148">
            <a:extLst>
              <a:ext uri="{FF2B5EF4-FFF2-40B4-BE49-F238E27FC236}">
                <a16:creationId xmlns:a16="http://schemas.microsoft.com/office/drawing/2014/main" id="{FFC49AEA-2A8F-250C-A86A-A7751D9706C3}"/>
              </a:ext>
            </a:extLst>
          </p:cNvPr>
          <p:cNvSpPr txBox="1"/>
          <p:nvPr/>
        </p:nvSpPr>
        <p:spPr>
          <a:xfrm>
            <a:off x="791672" y="4440330"/>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 </a:t>
            </a: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a:t>
            </a:r>
            <a:r>
              <a:rPr lang="ko-KR" altLang="en-US" sz="700" dirty="0">
                <a:latin typeface="+mn-ea"/>
              </a:rPr>
              <a:t>기업신용평가</a:t>
            </a:r>
            <a:r>
              <a:rPr lang="en-US" altLang="ko-KR" sz="700" dirty="0">
                <a:latin typeface="+mn-ea"/>
              </a:rPr>
              <a:t>)</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2519714" y="4440330"/>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151" name="그룹 150"/>
          <p:cNvGrpSpPr/>
          <p:nvPr/>
        </p:nvGrpSpPr>
        <p:grpSpPr>
          <a:xfrm>
            <a:off x="702517" y="4440330"/>
            <a:ext cx="2630093" cy="429480"/>
            <a:chOff x="701175" y="1835481"/>
            <a:chExt cx="2630093" cy="429480"/>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a:t>
            </a:r>
            <a:r>
              <a:rPr lang="ko-KR" altLang="en-US" dirty="0" err="1"/>
              <a:t>당해물품납품이행능력</a:t>
            </a:r>
            <a:endParaRPr lang="ko-KR" altLang="en-US" dirty="0"/>
          </a:p>
        </p:txBody>
      </p:sp>
      <p:sp>
        <p:nvSpPr>
          <p:cNvPr id="156" name="TextBox 155">
            <a:extLst>
              <a:ext uri="{FF2B5EF4-FFF2-40B4-BE49-F238E27FC236}">
                <a16:creationId xmlns:a16="http://schemas.microsoft.com/office/drawing/2014/main" id="{FFC49AEA-2A8F-250C-A86A-A7751D9706C3}"/>
              </a:ext>
            </a:extLst>
          </p:cNvPr>
          <p:cNvSpPr txBox="1"/>
          <p:nvPr/>
        </p:nvSpPr>
        <p:spPr>
          <a:xfrm>
            <a:off x="763488" y="415321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경영상태</a:t>
            </a:r>
          </a:p>
        </p:txBody>
      </p:sp>
      <p:sp>
        <p:nvSpPr>
          <p:cNvPr id="157" name="TextBox 156">
            <a:extLst>
              <a:ext uri="{FF2B5EF4-FFF2-40B4-BE49-F238E27FC236}">
                <a16:creationId xmlns:a16="http://schemas.microsoft.com/office/drawing/2014/main" id="{FFC49AEA-2A8F-250C-A86A-A7751D9706C3}"/>
              </a:ext>
            </a:extLst>
          </p:cNvPr>
          <p:cNvSpPr txBox="1"/>
          <p:nvPr/>
        </p:nvSpPr>
        <p:spPr>
          <a:xfrm>
            <a:off x="2940020" y="4440330"/>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676741" y="494865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704609" y="547850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791672" y="5478506"/>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2519714" y="5478506"/>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70</a:t>
            </a:r>
          </a:p>
        </p:txBody>
      </p:sp>
      <p:grpSp>
        <p:nvGrpSpPr>
          <p:cNvPr id="162" name="그룹 161"/>
          <p:cNvGrpSpPr/>
          <p:nvPr/>
        </p:nvGrpSpPr>
        <p:grpSpPr>
          <a:xfrm>
            <a:off x="702517" y="5478506"/>
            <a:ext cx="2630093" cy="429480"/>
            <a:chOff x="701175" y="1835481"/>
            <a:chExt cx="2630093" cy="429480"/>
          </a:xfrm>
        </p:grpSpPr>
        <p:cxnSp>
          <p:nvCxnSpPr>
            <p:cNvPr id="163" name="직선 연결선 16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6" name="TextBox 165">
            <a:extLst>
              <a:ext uri="{FF2B5EF4-FFF2-40B4-BE49-F238E27FC236}">
                <a16:creationId xmlns:a16="http://schemas.microsoft.com/office/drawing/2014/main" id="{FFC49AEA-2A8F-250C-A86A-A7751D9706C3}"/>
              </a:ext>
            </a:extLst>
          </p:cNvPr>
          <p:cNvSpPr txBox="1"/>
          <p:nvPr/>
        </p:nvSpPr>
        <p:spPr>
          <a:xfrm>
            <a:off x="763488" y="4991154"/>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a:t>
            </a:r>
            <a:r>
              <a:rPr lang="ko-KR" altLang="en-US" dirty="0"/>
              <a:t>입찰가격</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763488" y="519139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2940020" y="5478506"/>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직사각형 169"/>
          <p:cNvSpPr/>
          <p:nvPr/>
        </p:nvSpPr>
        <p:spPr>
          <a:xfrm>
            <a:off x="3823602" y="2737961"/>
            <a:ext cx="1639886" cy="117252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1" name="TextBox 170">
            <a:extLst>
              <a:ext uri="{FF2B5EF4-FFF2-40B4-BE49-F238E27FC236}">
                <a16:creationId xmlns:a16="http://schemas.microsoft.com/office/drawing/2014/main" id="{FFC49AEA-2A8F-250C-A86A-A7751D9706C3}"/>
              </a:ext>
            </a:extLst>
          </p:cNvPr>
          <p:cNvSpPr txBox="1"/>
          <p:nvPr/>
        </p:nvSpPr>
        <p:spPr>
          <a:xfrm>
            <a:off x="3910665" y="2737962"/>
            <a:ext cx="1480199" cy="861774"/>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lvl="0">
              <a:lnSpc>
                <a:spcPct val="200000"/>
              </a:lnSpc>
            </a:pPr>
            <a:r>
              <a:rPr lang="ko-KR" altLang="en-US" sz="700" dirty="0">
                <a:latin typeface="+mn-ea"/>
              </a:rPr>
              <a:t>가</a:t>
            </a:r>
            <a:r>
              <a:rPr lang="en-US" altLang="ko-KR" sz="700" dirty="0">
                <a:latin typeface="+mn-ea"/>
              </a:rPr>
              <a:t>.</a:t>
            </a:r>
            <a:r>
              <a:rPr lang="ko-KR" altLang="en-US" sz="700" dirty="0" err="1">
                <a:latin typeface="+mn-ea"/>
              </a:rPr>
              <a:t>고도인증</a:t>
            </a:r>
            <a:endParaRPr lang="ko-KR" altLang="en-US" sz="700" dirty="0">
              <a:latin typeface="+mn-ea"/>
            </a:endParaRPr>
          </a:p>
          <a:p>
            <a:pPr>
              <a:lnSpc>
                <a:spcPct val="200000"/>
              </a:lnSpc>
            </a:pPr>
            <a:r>
              <a:rPr lang="ko-KR" altLang="en-US" sz="700" dirty="0">
                <a:latin typeface="+mn-ea"/>
              </a:rPr>
              <a:t>나</a:t>
            </a:r>
            <a:r>
              <a:rPr lang="en-US" altLang="ko-KR" sz="700" dirty="0">
                <a:latin typeface="+mn-ea"/>
              </a:rPr>
              <a:t>.</a:t>
            </a:r>
            <a:r>
              <a:rPr lang="ko-KR" altLang="en-US" sz="700" dirty="0">
                <a:latin typeface="+mn-ea"/>
              </a:rPr>
              <a:t>녹색 </a:t>
            </a:r>
            <a:r>
              <a:rPr lang="ko-KR" altLang="en-US" sz="700" dirty="0" err="1">
                <a:latin typeface="+mn-ea"/>
              </a:rPr>
              <a:t>일반인증</a:t>
            </a:r>
            <a:endParaRPr lang="ko-KR" altLang="en-US" sz="700" dirty="0">
              <a:latin typeface="+mn-ea"/>
            </a:endParaRPr>
          </a:p>
          <a:p>
            <a:pPr>
              <a:lnSpc>
                <a:spcPct val="200000"/>
              </a:lnSpc>
            </a:pPr>
            <a:r>
              <a:rPr lang="ko-KR" altLang="en-US" sz="700" dirty="0">
                <a:latin typeface="+mn-ea"/>
              </a:rPr>
              <a:t>다</a:t>
            </a:r>
            <a:r>
              <a:rPr lang="en-US" altLang="ko-KR" sz="700" dirty="0">
                <a:latin typeface="+mn-ea"/>
              </a:rPr>
              <a:t>.</a:t>
            </a:r>
            <a:r>
              <a:rPr lang="ko-KR" altLang="en-US" sz="700" dirty="0">
                <a:latin typeface="+mn-ea"/>
              </a:rPr>
              <a:t>영세기업 지원</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5638643" y="2737962"/>
            <a:ext cx="179600" cy="861774"/>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1.5</a:t>
            </a:r>
          </a:p>
          <a:p>
            <a:pPr algn="r">
              <a:lnSpc>
                <a:spcPct val="200000"/>
              </a:lnSpc>
            </a:pPr>
            <a:r>
              <a:rPr lang="en-US" altLang="ko-KR" sz="700" dirty="0">
                <a:latin typeface="+mn-ea"/>
              </a:rPr>
              <a:t>0.75</a:t>
            </a:r>
          </a:p>
          <a:p>
            <a:pPr algn="r">
              <a:lnSpc>
                <a:spcPct val="200000"/>
              </a:lnSpc>
            </a:pPr>
            <a:r>
              <a:rPr lang="en-US" altLang="ko-KR" sz="700" dirty="0">
                <a:latin typeface="+mn-ea"/>
              </a:rPr>
              <a:t>3.0</a:t>
            </a:r>
          </a:p>
        </p:txBody>
      </p:sp>
      <p:grpSp>
        <p:nvGrpSpPr>
          <p:cNvPr id="173" name="그룹 172"/>
          <p:cNvGrpSpPr/>
          <p:nvPr/>
        </p:nvGrpSpPr>
        <p:grpSpPr>
          <a:xfrm>
            <a:off x="3821510" y="2737962"/>
            <a:ext cx="2630093" cy="1173978"/>
            <a:chOff x="701175" y="1835481"/>
            <a:chExt cx="2630093" cy="1173978"/>
          </a:xfrm>
        </p:grpSpPr>
        <p:cxnSp>
          <p:nvCxnSpPr>
            <p:cNvPr id="174" name="직선 연결선 17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24639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26787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3268" y="30094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3882481" y="245084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품질관리 등</a:t>
            </a:r>
            <a:r>
              <a:rPr lang="en-US" altLang="ko-KR" sz="700" dirty="0">
                <a:latin typeface="+mn-ea"/>
              </a:rPr>
              <a:t> </a:t>
            </a:r>
            <a:r>
              <a:rPr lang="ko-KR" altLang="en-US" sz="700" dirty="0" err="1">
                <a:latin typeface="+mn-ea"/>
              </a:rPr>
              <a:t>신뢰정도</a:t>
            </a:r>
            <a:endParaRPr lang="ko-KR" altLang="en-US" sz="700" dirty="0">
              <a:latin typeface="+mn-ea"/>
            </a:endParaRPr>
          </a:p>
        </p:txBody>
      </p:sp>
      <p:sp>
        <p:nvSpPr>
          <p:cNvPr id="178" name="TextBox 177">
            <a:extLst>
              <a:ext uri="{FF2B5EF4-FFF2-40B4-BE49-F238E27FC236}">
                <a16:creationId xmlns:a16="http://schemas.microsoft.com/office/drawing/2014/main" id="{FFC49AEA-2A8F-250C-A86A-A7751D9706C3}"/>
              </a:ext>
            </a:extLst>
          </p:cNvPr>
          <p:cNvSpPr txBox="1"/>
          <p:nvPr/>
        </p:nvSpPr>
        <p:spPr>
          <a:xfrm>
            <a:off x="6059077" y="2737962"/>
            <a:ext cx="359073" cy="861774"/>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sp>
        <p:nvSpPr>
          <p:cNvPr id="185" name="직사각형 184"/>
          <p:cNvSpPr/>
          <p:nvPr/>
        </p:nvSpPr>
        <p:spPr>
          <a:xfrm>
            <a:off x="3823602" y="4238781"/>
            <a:ext cx="1639886" cy="66149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TextBox 185">
            <a:extLst>
              <a:ext uri="{FF2B5EF4-FFF2-40B4-BE49-F238E27FC236}">
                <a16:creationId xmlns:a16="http://schemas.microsoft.com/office/drawing/2014/main" id="{FFC49AEA-2A8F-250C-A86A-A7751D9706C3}"/>
              </a:ext>
            </a:extLst>
          </p:cNvPr>
          <p:cNvSpPr txBox="1"/>
          <p:nvPr/>
        </p:nvSpPr>
        <p:spPr>
          <a:xfrm>
            <a:off x="3910665" y="4238782"/>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187" name="TextBox 186">
            <a:extLst>
              <a:ext uri="{FF2B5EF4-FFF2-40B4-BE49-F238E27FC236}">
                <a16:creationId xmlns:a16="http://schemas.microsoft.com/office/drawing/2014/main" id="{FFC49AEA-2A8F-250C-A86A-A7751D9706C3}"/>
              </a:ext>
            </a:extLst>
          </p:cNvPr>
          <p:cNvSpPr txBox="1"/>
          <p:nvPr/>
        </p:nvSpPr>
        <p:spPr>
          <a:xfrm>
            <a:off x="5638707" y="4238782"/>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grpSp>
        <p:nvGrpSpPr>
          <p:cNvPr id="188" name="그룹 187"/>
          <p:cNvGrpSpPr/>
          <p:nvPr/>
        </p:nvGrpSpPr>
        <p:grpSpPr>
          <a:xfrm>
            <a:off x="3821510" y="4238782"/>
            <a:ext cx="2630093" cy="661496"/>
            <a:chOff x="701175" y="1835481"/>
            <a:chExt cx="2630093" cy="661496"/>
          </a:xfrm>
        </p:grpSpPr>
        <p:cxnSp>
          <p:nvCxnSpPr>
            <p:cNvPr id="189" name="직선 연결선 18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703268" y="24969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3" name="TextBox 192">
            <a:extLst>
              <a:ext uri="{FF2B5EF4-FFF2-40B4-BE49-F238E27FC236}">
                <a16:creationId xmlns:a16="http://schemas.microsoft.com/office/drawing/2014/main" id="{FFC49AEA-2A8F-250C-A86A-A7751D9706C3}"/>
              </a:ext>
            </a:extLst>
          </p:cNvPr>
          <p:cNvSpPr txBox="1"/>
          <p:nvPr/>
        </p:nvSpPr>
        <p:spPr>
          <a:xfrm>
            <a:off x="3882481" y="395166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6059077" y="4238782"/>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5" name="직사각형 194"/>
          <p:cNvSpPr/>
          <p:nvPr/>
        </p:nvSpPr>
        <p:spPr>
          <a:xfrm>
            <a:off x="3823602" y="5501188"/>
            <a:ext cx="1639886" cy="6082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6" name="TextBox 195">
            <a:extLst>
              <a:ext uri="{FF2B5EF4-FFF2-40B4-BE49-F238E27FC236}">
                <a16:creationId xmlns:a16="http://schemas.microsoft.com/office/drawing/2014/main" id="{FFC49AEA-2A8F-250C-A86A-A7751D9706C3}"/>
              </a:ext>
            </a:extLst>
          </p:cNvPr>
          <p:cNvSpPr txBox="1"/>
          <p:nvPr/>
        </p:nvSpPr>
        <p:spPr>
          <a:xfrm>
            <a:off x="3910665" y="5501189"/>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5638707" y="550118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grpSp>
        <p:nvGrpSpPr>
          <p:cNvPr id="198" name="그룹 197"/>
          <p:cNvGrpSpPr/>
          <p:nvPr/>
        </p:nvGrpSpPr>
        <p:grpSpPr>
          <a:xfrm>
            <a:off x="3821510" y="5501189"/>
            <a:ext cx="2630093" cy="608278"/>
            <a:chOff x="701175" y="1835481"/>
            <a:chExt cx="2630093" cy="608278"/>
          </a:xfrm>
        </p:grpSpPr>
        <p:cxnSp>
          <p:nvCxnSpPr>
            <p:cNvPr id="199" name="직선 연결선 1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03268" y="24437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02" name="TextBox 201">
            <a:extLst>
              <a:ext uri="{FF2B5EF4-FFF2-40B4-BE49-F238E27FC236}">
                <a16:creationId xmlns:a16="http://schemas.microsoft.com/office/drawing/2014/main" id="{FFC49AEA-2A8F-250C-A86A-A7751D9706C3}"/>
              </a:ext>
            </a:extLst>
          </p:cNvPr>
          <p:cNvSpPr txBox="1"/>
          <p:nvPr/>
        </p:nvSpPr>
        <p:spPr>
          <a:xfrm>
            <a:off x="3882481" y="5013837"/>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IV.</a:t>
            </a:r>
            <a:r>
              <a:rPr lang="ko-KR" altLang="en-US" dirty="0"/>
              <a:t>결격사유</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3882481" y="52140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납품이행능력 </a:t>
            </a:r>
            <a:r>
              <a:rPr lang="ko-KR" altLang="en-US" sz="700" dirty="0" err="1">
                <a:latin typeface="+mn-ea"/>
              </a:rPr>
              <a:t>결격여부</a:t>
            </a:r>
            <a:endParaRPr lang="ko-KR" altLang="en-US" sz="700" dirty="0">
              <a:latin typeface="+mn-ea"/>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6059077" y="550118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5734" y="495924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5811265"/>
            <a:ext cx="1480199"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 </a:t>
            </a:r>
            <a:r>
              <a:rPr lang="ko-KR" altLang="en-US" sz="700" dirty="0">
                <a:latin typeface="+mn-ea"/>
              </a:rPr>
              <a:t>부도 또는 파산상태로 당해 계약이행이 어렵다고 판단되는 경우</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690882" y="5865126"/>
            <a:ext cx="136256"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6390176" y="586512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8" name="TextBox 107">
            <a:extLst>
              <a:ext uri="{FF2B5EF4-FFF2-40B4-BE49-F238E27FC236}">
                <a16:creationId xmlns:a16="http://schemas.microsoft.com/office/drawing/2014/main" id="{FFC49AEA-2A8F-250C-A86A-A7751D9706C3}"/>
              </a:ext>
            </a:extLst>
          </p:cNvPr>
          <p:cNvSpPr txBox="1"/>
          <p:nvPr/>
        </p:nvSpPr>
        <p:spPr>
          <a:xfrm>
            <a:off x="3919560" y="3646844"/>
            <a:ext cx="1480199" cy="215444"/>
          </a:xfrm>
          <a:prstGeom prst="rect">
            <a:avLst/>
          </a:prstGeom>
          <a:noFill/>
        </p:spPr>
        <p:txBody>
          <a:bodyPr wrap="square" lIns="0" tIns="0" rIns="0" bIns="0" rtlCol="0">
            <a:spAutoFit/>
          </a:bodyPr>
          <a:lstStyle/>
          <a:p>
            <a:r>
              <a:rPr lang="ko-KR" altLang="en-US" sz="700" dirty="0">
                <a:latin typeface="+mn-ea"/>
              </a:rPr>
              <a:t>라</a:t>
            </a:r>
            <a:r>
              <a:rPr lang="en-US" altLang="ko-KR" sz="700" dirty="0">
                <a:latin typeface="+mn-ea"/>
              </a:rPr>
              <a:t>.</a:t>
            </a:r>
            <a:r>
              <a:rPr lang="ko-KR" altLang="en-US" sz="700" dirty="0">
                <a:latin typeface="+mn-ea"/>
              </a:rPr>
              <a:t>기타</a:t>
            </a:r>
            <a:r>
              <a:rPr lang="en-US" altLang="ko-KR" sz="700" dirty="0">
                <a:latin typeface="+mn-ea"/>
              </a:rPr>
              <a:t>(</a:t>
            </a:r>
            <a:r>
              <a:rPr lang="ko-KR" altLang="en-US" sz="700" dirty="0">
                <a:latin typeface="+mn-ea"/>
              </a:rPr>
              <a:t>여성기업</a:t>
            </a:r>
            <a:r>
              <a:rPr lang="en-US" altLang="ko-KR" sz="700" dirty="0">
                <a:latin typeface="+mn-ea"/>
              </a:rPr>
              <a:t>, </a:t>
            </a:r>
            <a:r>
              <a:rPr lang="ko-KR" altLang="en-US" sz="700" dirty="0">
                <a:latin typeface="+mn-ea"/>
              </a:rPr>
              <a:t>장애인기업 및 장애인고용 우수기업 </a:t>
            </a:r>
            <a:r>
              <a:rPr lang="ko-KR" altLang="en-US" sz="700" dirty="0" err="1">
                <a:latin typeface="+mn-ea"/>
              </a:rPr>
              <a:t>지원등</a:t>
            </a:r>
            <a:r>
              <a:rPr lang="en-US" altLang="ko-KR" sz="700" dirty="0">
                <a:latin typeface="+mn-ea"/>
              </a:rPr>
              <a:t>)</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5708515" y="3683068"/>
            <a:ext cx="118623"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6390176" y="36830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1" name="TextBox 110">
            <a:extLst>
              <a:ext uri="{FF2B5EF4-FFF2-40B4-BE49-F238E27FC236}">
                <a16:creationId xmlns:a16="http://schemas.microsoft.com/office/drawing/2014/main" id="{FFC49AEA-2A8F-250C-A86A-A7751D9706C3}"/>
              </a:ext>
            </a:extLst>
          </p:cNvPr>
          <p:cNvSpPr txBox="1"/>
          <p:nvPr/>
        </p:nvSpPr>
        <p:spPr>
          <a:xfrm>
            <a:off x="3919560" y="4533389"/>
            <a:ext cx="1480199" cy="323165"/>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err="1">
                <a:latin typeface="+mn-ea"/>
              </a:rPr>
              <a:t>납품지연</a:t>
            </a:r>
            <a:endParaRPr lang="ko-KR" altLang="en-US" sz="700" dirty="0">
              <a:latin typeface="+mn-ea"/>
            </a:endParaRPr>
          </a:p>
          <a:p>
            <a:r>
              <a:rPr lang="ko-KR" altLang="en-US" sz="700" dirty="0">
                <a:latin typeface="+mn-ea"/>
              </a:rPr>
              <a:t>나</a:t>
            </a:r>
            <a:r>
              <a:rPr lang="en-US" altLang="ko-KR" sz="700" dirty="0">
                <a:latin typeface="+mn-ea"/>
              </a:rPr>
              <a:t>.</a:t>
            </a:r>
            <a:r>
              <a:rPr lang="ko-KR" altLang="en-US" sz="700" dirty="0">
                <a:latin typeface="+mn-ea"/>
              </a:rPr>
              <a:t>불공정 하도급거래</a:t>
            </a:r>
          </a:p>
          <a:p>
            <a:r>
              <a:rPr lang="ko-KR" altLang="en-US" sz="700" dirty="0">
                <a:latin typeface="+mn-ea"/>
              </a:rPr>
              <a:t>다</a:t>
            </a:r>
            <a:r>
              <a:rPr lang="en-US" altLang="ko-KR" sz="700" dirty="0">
                <a:latin typeface="+mn-ea"/>
              </a:rPr>
              <a:t>.</a:t>
            </a:r>
            <a:r>
              <a:rPr lang="ko-KR" altLang="en-US" sz="700" dirty="0">
                <a:latin typeface="+mn-ea"/>
              </a:rPr>
              <a:t>부정당업자 제재</a:t>
            </a:r>
          </a:p>
        </p:txBody>
      </p:sp>
      <p:sp>
        <p:nvSpPr>
          <p:cNvPr id="112" name="TextBox 111">
            <a:extLst>
              <a:ext uri="{FF2B5EF4-FFF2-40B4-BE49-F238E27FC236}">
                <a16:creationId xmlns:a16="http://schemas.microsoft.com/office/drawing/2014/main" id="{FFC49AEA-2A8F-250C-A86A-A7751D9706C3}"/>
              </a:ext>
            </a:extLst>
          </p:cNvPr>
          <p:cNvSpPr txBox="1"/>
          <p:nvPr/>
        </p:nvSpPr>
        <p:spPr>
          <a:xfrm>
            <a:off x="5671646" y="4569613"/>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13" name="TextBox 112">
            <a:extLst>
              <a:ext uri="{FF2B5EF4-FFF2-40B4-BE49-F238E27FC236}">
                <a16:creationId xmlns:a16="http://schemas.microsoft.com/office/drawing/2014/main" id="{FFC49AEA-2A8F-250C-A86A-A7751D9706C3}"/>
              </a:ext>
            </a:extLst>
          </p:cNvPr>
          <p:cNvSpPr txBox="1"/>
          <p:nvPr/>
        </p:nvSpPr>
        <p:spPr>
          <a:xfrm>
            <a:off x="6390176" y="45696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Tree>
    <p:extLst>
      <p:ext uri="{BB962C8B-B14F-4D97-AF65-F5344CB8AC3E}">
        <p14:creationId xmlns:p14="http://schemas.microsoft.com/office/powerpoint/2010/main" val="409622876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227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고시금액미만</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6" name="TextBox 35">
            <a:extLst>
              <a:ext uri="{FF2B5EF4-FFF2-40B4-BE49-F238E27FC236}">
                <a16:creationId xmlns:a16="http://schemas.microsoft.com/office/drawing/2014/main" id="{FFC49AEA-2A8F-250C-A86A-A7751D9706C3}"/>
              </a:ext>
            </a:extLst>
          </p:cNvPr>
          <p:cNvSpPr txBox="1"/>
          <p:nvPr/>
        </p:nvSpPr>
        <p:spPr>
          <a:xfrm>
            <a:off x="3882481"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신인도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-2</a:t>
            </a:r>
          </a:p>
        </p:txBody>
      </p:sp>
      <p:grpSp>
        <p:nvGrpSpPr>
          <p:cNvPr id="37" name="그룹 36"/>
          <p:cNvGrpSpPr/>
          <p:nvPr/>
        </p:nvGrpSpPr>
        <p:grpSpPr>
          <a:xfrm flipV="1">
            <a:off x="6244568" y="1641327"/>
            <a:ext cx="94010" cy="47005"/>
            <a:chOff x="6812560" y="3297172"/>
            <a:chExt cx="94010" cy="47005"/>
          </a:xfrm>
        </p:grpSpPr>
        <p:cxnSp>
          <p:nvCxnSpPr>
            <p:cNvPr id="38" name="직선 연결선 3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9" name="직선 연결선 3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21" name="직선 연결선 120">
            <a:extLst>
              <a:ext uri="{FF2B5EF4-FFF2-40B4-BE49-F238E27FC236}">
                <a16:creationId xmlns:a16="http://schemas.microsoft.com/office/drawing/2014/main" id="{E9293055-D5CD-4B9E-7F64-64B2D2CA7A52}"/>
              </a:ext>
            </a:extLst>
          </p:cNvPr>
          <p:cNvCxnSpPr/>
          <p:nvPr/>
        </p:nvCxnSpPr>
        <p:spPr>
          <a:xfrm>
            <a:off x="3795734"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2268636" cy="181140"/>
          </a:xfrm>
          <a:prstGeom prst="rect">
            <a:avLst/>
          </a:prstGeom>
          <a:noFill/>
        </p:spPr>
        <p:txBody>
          <a:bodyPr wrap="square" lIns="0" tIns="0" rIns="0" bIns="0" rtlCol="0">
            <a:spAutoFit/>
          </a:bodyPr>
          <a:lstStyle/>
          <a:p>
            <a:pPr>
              <a:lnSpc>
                <a:spcPct val="200000"/>
              </a:lnSpc>
            </a:pPr>
            <a:r>
              <a:rPr lang="ko-KR" altLang="en-US" sz="700" dirty="0" err="1">
                <a:latin typeface="+mn-ea"/>
              </a:rPr>
              <a:t>당해물품납품이행능력</a:t>
            </a:r>
            <a:r>
              <a:rPr lang="en-US" altLang="ko-KR" sz="700" dirty="0">
                <a:latin typeface="+mn-ea"/>
              </a:rPr>
              <a:t>(30</a:t>
            </a:r>
            <a:r>
              <a:rPr lang="ko-KR" altLang="en-US" sz="700" dirty="0">
                <a:latin typeface="+mn-ea"/>
              </a:rPr>
              <a:t>점</a:t>
            </a:r>
            <a:r>
              <a:rPr lang="en-US" altLang="ko-KR" sz="700" dirty="0">
                <a:latin typeface="+mn-ea"/>
              </a:rPr>
              <a:t>)</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8" name="직선 연결선 157">
            <a:extLst>
              <a:ext uri="{FF2B5EF4-FFF2-40B4-BE49-F238E27FC236}">
                <a16:creationId xmlns:a16="http://schemas.microsoft.com/office/drawing/2014/main" id="{E9293055-D5CD-4B9E-7F64-64B2D2CA7A52}"/>
              </a:ext>
            </a:extLst>
          </p:cNvPr>
          <p:cNvCxnSpPr/>
          <p:nvPr/>
        </p:nvCxnSpPr>
        <p:spPr>
          <a:xfrm>
            <a:off x="676741" y="26148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10" name="그룹 109"/>
          <p:cNvGrpSpPr/>
          <p:nvPr/>
        </p:nvGrpSpPr>
        <p:grpSpPr>
          <a:xfrm>
            <a:off x="701175" y="1876425"/>
            <a:ext cx="2630093" cy="646331"/>
            <a:chOff x="701175" y="1835481"/>
            <a:chExt cx="2630093" cy="646331"/>
          </a:xfrm>
        </p:grpSpPr>
        <p:sp>
          <p:nvSpPr>
            <p:cNvPr id="113" name="직사각형 112"/>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TextBox 113">
              <a:extLst>
                <a:ext uri="{FF2B5EF4-FFF2-40B4-BE49-F238E27FC236}">
                  <a16:creationId xmlns:a16="http://schemas.microsoft.com/office/drawing/2014/main" id="{FFC49AEA-2A8F-250C-A86A-A7751D9706C3}"/>
                </a:ext>
              </a:extLst>
            </p:cNvPr>
            <p:cNvSpPr txBox="1"/>
            <p:nvPr/>
          </p:nvSpPr>
          <p:spPr>
            <a:xfrm>
              <a:off x="790331" y="1835481"/>
              <a:ext cx="725552" cy="612027"/>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a:p>
              <a:pPr>
                <a:lnSpc>
                  <a:spcPct val="200000"/>
                </a:lnSpc>
              </a:pPr>
              <a:r>
                <a:rPr lang="ko-KR" altLang="en-US" sz="700" dirty="0" err="1">
                  <a:latin typeface="+mn-ea"/>
                </a:rPr>
                <a:t>심사평점</a:t>
              </a:r>
              <a:endParaRPr lang="en-US" altLang="ko-KR"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gn="r">
                <a:lnSpc>
                  <a:spcPct val="200000"/>
                </a:lnSpc>
              </a:pPr>
              <a:r>
                <a:rPr lang="en-US" altLang="ko-KR" sz="700" dirty="0">
                  <a:latin typeface="+mn-ea"/>
                </a:rPr>
                <a:t>-</a:t>
              </a:r>
            </a:p>
          </p:txBody>
        </p:sp>
        <p:grpSp>
          <p:nvGrpSpPr>
            <p:cNvPr id="116" name="그룹 115"/>
            <p:cNvGrpSpPr/>
            <p:nvPr/>
          </p:nvGrpSpPr>
          <p:grpSpPr>
            <a:xfrm>
              <a:off x="701175" y="1835481"/>
              <a:ext cx="2630093" cy="644220"/>
              <a:chOff x="701175" y="1835481"/>
              <a:chExt cx="2630093" cy="644220"/>
            </a:xfrm>
          </p:grpSpPr>
          <p:cxnSp>
            <p:nvCxnSpPr>
              <p:cNvPr id="117" name="직선 연결선 11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15" name="TextBox 214">
            <a:extLst>
              <a:ext uri="{FF2B5EF4-FFF2-40B4-BE49-F238E27FC236}">
                <a16:creationId xmlns:a16="http://schemas.microsoft.com/office/drawing/2014/main" id="{FFC49AEA-2A8F-250C-A86A-A7751D9706C3}"/>
              </a:ext>
            </a:extLst>
          </p:cNvPr>
          <p:cNvSpPr txBox="1"/>
          <p:nvPr/>
        </p:nvSpPr>
        <p:spPr>
          <a:xfrm>
            <a:off x="763488" y="2656994"/>
            <a:ext cx="2268636" cy="181140"/>
          </a:xfrm>
          <a:prstGeom prst="rect">
            <a:avLst/>
          </a:prstGeom>
          <a:noFill/>
        </p:spPr>
        <p:txBody>
          <a:bodyPr wrap="square" lIns="0" tIns="0" rIns="0" bIns="0" rtlCol="0">
            <a:spAutoFit/>
          </a:bodyPr>
          <a:lstStyle/>
          <a:p>
            <a:pPr>
              <a:lnSpc>
                <a:spcPct val="200000"/>
              </a:lnSpc>
            </a:pPr>
            <a:r>
              <a:rPr lang="ko-KR" altLang="en-US" sz="700" dirty="0">
                <a:latin typeface="+mn-ea"/>
              </a:rPr>
              <a:t>입찰가격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70</a:t>
            </a:r>
          </a:p>
        </p:txBody>
      </p:sp>
      <p:grpSp>
        <p:nvGrpSpPr>
          <p:cNvPr id="216" name="그룹 215"/>
          <p:cNvGrpSpPr/>
          <p:nvPr/>
        </p:nvGrpSpPr>
        <p:grpSpPr>
          <a:xfrm flipV="1">
            <a:off x="3125575" y="2770325"/>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9" name="직선 연결선 218">
            <a:extLst>
              <a:ext uri="{FF2B5EF4-FFF2-40B4-BE49-F238E27FC236}">
                <a16:creationId xmlns:a16="http://schemas.microsoft.com/office/drawing/2014/main" id="{E9293055-D5CD-4B9E-7F64-64B2D2CA7A52}"/>
              </a:ext>
            </a:extLst>
          </p:cNvPr>
          <p:cNvCxnSpPr/>
          <p:nvPr/>
        </p:nvCxnSpPr>
        <p:spPr>
          <a:xfrm>
            <a:off x="676741" y="46378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676741" y="29438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22" name="그룹 221"/>
          <p:cNvGrpSpPr/>
          <p:nvPr/>
        </p:nvGrpSpPr>
        <p:grpSpPr>
          <a:xfrm>
            <a:off x="701175" y="3005422"/>
            <a:ext cx="2630093" cy="1094598"/>
            <a:chOff x="701175" y="1835480"/>
            <a:chExt cx="2630093" cy="1094598"/>
          </a:xfrm>
        </p:grpSpPr>
        <p:sp>
          <p:nvSpPr>
            <p:cNvPr id="223" name="직사각형 222"/>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4" name="TextBox 223">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225" name="TextBox 224">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70 - 4 X | 0.91 - </a:t>
              </a:r>
              <a:r>
                <a:rPr lang="ko-KR" altLang="en-US" sz="650" dirty="0">
                  <a:latin typeface="+mn-ea"/>
                </a:rPr>
                <a:t>입찰가격 </a:t>
              </a:r>
              <a:r>
                <a:rPr lang="en-US" altLang="ko-KR" sz="650" dirty="0">
                  <a:latin typeface="+mn-ea"/>
                </a:rPr>
                <a:t>/ </a:t>
              </a:r>
              <a:r>
                <a:rPr lang="ko-KR" altLang="en-US" sz="650" dirty="0">
                  <a:latin typeface="+mn-ea"/>
                </a:rPr>
                <a:t>예정가격 </a:t>
              </a:r>
              <a:r>
                <a:rPr lang="en-US" altLang="ko-KR" sz="650" dirty="0">
                  <a:latin typeface="+mn-ea"/>
                </a:rPr>
                <a:t>| X 100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226" name="그룹 225"/>
            <p:cNvGrpSpPr/>
            <p:nvPr/>
          </p:nvGrpSpPr>
          <p:grpSpPr>
            <a:xfrm>
              <a:off x="701175" y="1835481"/>
              <a:ext cx="2630093" cy="1094597"/>
              <a:chOff x="701175" y="1835481"/>
              <a:chExt cx="2630093" cy="1094597"/>
            </a:xfrm>
          </p:grpSpPr>
          <p:cxnSp>
            <p:nvCxnSpPr>
              <p:cNvPr id="227" name="직선 연결선 22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8" name="직선 연결선 22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9" name="직선 연결선 22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0" name="직선 연결선 22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1" name="직선 연결선 230">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33" name="TextBox 232">
            <a:extLst>
              <a:ext uri="{FF2B5EF4-FFF2-40B4-BE49-F238E27FC236}">
                <a16:creationId xmlns:a16="http://schemas.microsoft.com/office/drawing/2014/main" id="{FFC49AEA-2A8F-250C-A86A-A7751D9706C3}"/>
              </a:ext>
            </a:extLst>
          </p:cNvPr>
          <p:cNvSpPr txBox="1"/>
          <p:nvPr/>
        </p:nvSpPr>
        <p:spPr>
          <a:xfrm>
            <a:off x="763487" y="4216728"/>
            <a:ext cx="2456097" cy="323165"/>
          </a:xfrm>
          <a:prstGeom prst="rect">
            <a:avLst/>
          </a:prstGeom>
          <a:noFill/>
        </p:spPr>
        <p:txBody>
          <a:bodyPr wrap="square" lIns="0" tIns="0" rIns="0" bIns="0" rtlCol="0">
            <a:spAutoFit/>
          </a:bodyPr>
          <a:lstStyle>
            <a:defPPr>
              <a:defRPr lang="ko-KR"/>
            </a:defPPr>
            <a:lvl1pPr>
              <a:defRPr sz="700">
                <a:latin typeface="+mn-ea"/>
              </a:defRPr>
            </a:lvl1pPr>
          </a:lstStyle>
          <a:p>
            <a:pPr algn="ctr"/>
            <a:r>
              <a:rPr lang="ko-KR" altLang="en-US" dirty="0"/>
              <a:t>입찰가격이 예정가격 이하로서</a:t>
            </a:r>
            <a:endParaRPr lang="en-US" altLang="ko-KR" dirty="0"/>
          </a:p>
          <a:p>
            <a:pPr algn="ctr"/>
            <a:r>
              <a:rPr lang="ko-KR" altLang="en-US" dirty="0"/>
              <a:t>예정가격의 </a:t>
            </a:r>
            <a:r>
              <a:rPr lang="en-US" altLang="ko-KR" dirty="0"/>
              <a:t>100</a:t>
            </a:r>
            <a:r>
              <a:rPr lang="ko-KR" altLang="en-US" dirty="0"/>
              <a:t>분의 </a:t>
            </a:r>
            <a:r>
              <a:rPr lang="en-US" altLang="ko-KR" dirty="0"/>
              <a:t>94</a:t>
            </a:r>
            <a:r>
              <a:rPr lang="ko-KR" altLang="en-US" dirty="0"/>
              <a:t>인 경우 평점은 </a:t>
            </a:r>
            <a:r>
              <a:rPr lang="en-US" altLang="ko-KR" dirty="0"/>
              <a:t>58</a:t>
            </a:r>
            <a:r>
              <a:rPr lang="ko-KR" altLang="en-US" dirty="0"/>
              <a:t>점</a:t>
            </a:r>
            <a:r>
              <a:rPr lang="en-US" altLang="ko-KR" dirty="0"/>
              <a:t/>
            </a:r>
            <a:br>
              <a:rPr lang="en-US" altLang="ko-KR" dirty="0"/>
            </a:br>
            <a:r>
              <a:rPr lang="ko-KR" altLang="en-US" dirty="0" err="1"/>
              <a:t>최저평점</a:t>
            </a:r>
            <a:r>
              <a:rPr lang="ko-KR" altLang="en-US" dirty="0"/>
              <a:t> </a:t>
            </a:r>
            <a:r>
              <a:rPr lang="en-US" altLang="ko-KR" dirty="0"/>
              <a:t>: 2</a:t>
            </a:r>
            <a:r>
              <a:rPr lang="ko-KR" altLang="en-US" dirty="0"/>
              <a:t>점</a:t>
            </a:r>
          </a:p>
        </p:txBody>
      </p:sp>
      <p:sp>
        <p:nvSpPr>
          <p:cNvPr id="234" name="직사각형 233"/>
          <p:cNvSpPr/>
          <p:nvPr/>
        </p:nvSpPr>
        <p:spPr>
          <a:xfrm>
            <a:off x="3832497" y="2555584"/>
            <a:ext cx="1639886" cy="8890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TextBox 234">
            <a:extLst>
              <a:ext uri="{FF2B5EF4-FFF2-40B4-BE49-F238E27FC236}">
                <a16:creationId xmlns:a16="http://schemas.microsoft.com/office/drawing/2014/main" id="{FFC49AEA-2A8F-250C-A86A-A7751D9706C3}"/>
              </a:ext>
            </a:extLst>
          </p:cNvPr>
          <p:cNvSpPr txBox="1"/>
          <p:nvPr/>
        </p:nvSpPr>
        <p:spPr>
          <a:xfrm>
            <a:off x="3919560" y="2555585"/>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36" name="TextBox 235">
            <a:extLst>
              <a:ext uri="{FF2B5EF4-FFF2-40B4-BE49-F238E27FC236}">
                <a16:creationId xmlns:a16="http://schemas.microsoft.com/office/drawing/2014/main" id="{FFC49AEA-2A8F-250C-A86A-A7751D9706C3}"/>
              </a:ext>
            </a:extLst>
          </p:cNvPr>
          <p:cNvSpPr txBox="1"/>
          <p:nvPr/>
        </p:nvSpPr>
        <p:spPr>
          <a:xfrm>
            <a:off x="5647602"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38" name="직선 연결선 237">
            <a:extLst>
              <a:ext uri="{FF2B5EF4-FFF2-40B4-BE49-F238E27FC236}">
                <a16:creationId xmlns:a16="http://schemas.microsoft.com/office/drawing/2014/main" id="{E9293055-D5CD-4B9E-7F64-64B2D2CA7A52}"/>
              </a:ext>
            </a:extLst>
          </p:cNvPr>
          <p:cNvCxnSpPr/>
          <p:nvPr/>
        </p:nvCxnSpPr>
        <p:spPr>
          <a:xfrm>
            <a:off x="3830405" y="25555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3832498" y="27703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9" name="직선 연결선 258">
            <a:extLst>
              <a:ext uri="{FF2B5EF4-FFF2-40B4-BE49-F238E27FC236}">
                <a16:creationId xmlns:a16="http://schemas.microsoft.com/office/drawing/2014/main" id="{E9293055-D5CD-4B9E-7F64-64B2D2CA7A52}"/>
              </a:ext>
            </a:extLst>
          </p:cNvPr>
          <p:cNvCxnSpPr/>
          <p:nvPr/>
        </p:nvCxnSpPr>
        <p:spPr>
          <a:xfrm>
            <a:off x="3832498" y="34490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2" name="TextBox 241">
            <a:extLst>
              <a:ext uri="{FF2B5EF4-FFF2-40B4-BE49-F238E27FC236}">
                <a16:creationId xmlns:a16="http://schemas.microsoft.com/office/drawing/2014/main" id="{FFC49AEA-2A8F-250C-A86A-A7751D9706C3}"/>
              </a:ext>
            </a:extLst>
          </p:cNvPr>
          <p:cNvSpPr txBox="1"/>
          <p:nvPr/>
        </p:nvSpPr>
        <p:spPr>
          <a:xfrm>
            <a:off x="3891376" y="1869398"/>
            <a:ext cx="2535669" cy="181140"/>
          </a:xfrm>
          <a:prstGeom prst="rect">
            <a:avLst/>
          </a:prstGeom>
          <a:noFill/>
        </p:spPr>
        <p:txBody>
          <a:bodyPr wrap="square" lIns="0" tIns="0" rIns="0" bIns="0" rtlCol="0">
            <a:spAutoFit/>
          </a:bodyPr>
          <a:lstStyle/>
          <a:p>
            <a:pPr>
              <a:lnSpc>
                <a:spcPct val="200000"/>
              </a:lnSpc>
            </a:pPr>
            <a:r>
              <a:rPr lang="en-US" altLang="ko-KR" sz="700" b="1" dirty="0">
                <a:latin typeface="+mn-ea"/>
              </a:rPr>
              <a:t>1. </a:t>
            </a:r>
            <a:r>
              <a:rPr lang="ko-KR" altLang="en-US" sz="700" b="1" dirty="0">
                <a:latin typeface="+mn-ea"/>
              </a:rPr>
              <a:t>품질관리 등 </a:t>
            </a:r>
            <a:r>
              <a:rPr lang="ko-KR" altLang="en-US" sz="700" b="1" dirty="0" err="1">
                <a:latin typeface="+mn-ea"/>
              </a:rPr>
              <a:t>신뢰정도</a:t>
            </a:r>
            <a:endParaRPr lang="ko-KR" altLang="en-US" sz="700" b="1" dirty="0">
              <a:latin typeface="+mn-ea"/>
            </a:endParaRPr>
          </a:p>
        </p:txBody>
      </p:sp>
      <p:sp>
        <p:nvSpPr>
          <p:cNvPr id="243" name="TextBox 242">
            <a:extLst>
              <a:ext uri="{FF2B5EF4-FFF2-40B4-BE49-F238E27FC236}">
                <a16:creationId xmlns:a16="http://schemas.microsoft.com/office/drawing/2014/main" id="{FFC49AEA-2A8F-250C-A86A-A7751D9706C3}"/>
              </a:ext>
            </a:extLst>
          </p:cNvPr>
          <p:cNvSpPr txBox="1"/>
          <p:nvPr/>
        </p:nvSpPr>
        <p:spPr>
          <a:xfrm>
            <a:off x="3891376" y="2069635"/>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a:t>
            </a:r>
            <a:r>
              <a:rPr lang="ko-KR" altLang="en-US" sz="700" dirty="0" err="1">
                <a:latin typeface="+mn-ea"/>
              </a:rPr>
              <a:t>고도인증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고도기술에</a:t>
            </a:r>
            <a:r>
              <a:rPr lang="ko-KR" altLang="en-US" sz="700" dirty="0">
                <a:latin typeface="+mn-ea"/>
              </a:rPr>
              <a:t> 대한 인증</a:t>
            </a:r>
          </a:p>
        </p:txBody>
      </p:sp>
      <p:sp>
        <p:nvSpPr>
          <p:cNvPr id="244" name="TextBox 243">
            <a:extLst>
              <a:ext uri="{FF2B5EF4-FFF2-40B4-BE49-F238E27FC236}">
                <a16:creationId xmlns:a16="http://schemas.microsoft.com/office/drawing/2014/main" id="{FFC49AEA-2A8F-250C-A86A-A7751D9706C3}"/>
              </a:ext>
            </a:extLst>
          </p:cNvPr>
          <p:cNvSpPr txBox="1"/>
          <p:nvPr/>
        </p:nvSpPr>
        <p:spPr>
          <a:xfrm>
            <a:off x="6067972" y="255558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56" name="TextBox 255">
            <a:extLst>
              <a:ext uri="{FF2B5EF4-FFF2-40B4-BE49-F238E27FC236}">
                <a16:creationId xmlns:a16="http://schemas.microsoft.com/office/drawing/2014/main" id="{FFC49AEA-2A8F-250C-A86A-A7751D9706C3}"/>
              </a:ext>
            </a:extLst>
          </p:cNvPr>
          <p:cNvSpPr txBox="1"/>
          <p:nvPr/>
        </p:nvSpPr>
        <p:spPr>
          <a:xfrm>
            <a:off x="3919560" y="2845534"/>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주무부 장관 등이 인증한 신기술</a:t>
            </a:r>
            <a:r>
              <a:rPr lang="en-US" altLang="ko-KR" sz="700" dirty="0">
                <a:latin typeface="+mn-ea"/>
              </a:rPr>
              <a:t>(NET, NEP)</a:t>
            </a:r>
            <a:r>
              <a:rPr lang="ko-KR" altLang="en-US" sz="700" dirty="0">
                <a:latin typeface="+mn-ea"/>
              </a:rPr>
              <a:t>인증</a:t>
            </a:r>
            <a:r>
              <a:rPr lang="en-US" altLang="ko-KR" sz="700" dirty="0">
                <a:latin typeface="+mn-ea"/>
              </a:rPr>
              <a:t>, </a:t>
            </a:r>
            <a:r>
              <a:rPr lang="ko-KR" altLang="en-US" sz="700" dirty="0">
                <a:latin typeface="+mn-ea"/>
              </a:rPr>
              <a:t>조달우수제품인증</a:t>
            </a:r>
            <a:r>
              <a:rPr lang="en-US" altLang="ko-KR" sz="700" dirty="0">
                <a:latin typeface="+mn-ea"/>
              </a:rPr>
              <a:t>, </a:t>
            </a:r>
            <a:r>
              <a:rPr lang="ko-KR" altLang="en-US" sz="700" dirty="0">
                <a:latin typeface="+mn-ea"/>
              </a:rPr>
              <a:t>중소기업 기술개발제품 </a:t>
            </a:r>
            <a:r>
              <a:rPr lang="ko-KR" altLang="en-US" sz="700" dirty="0" err="1">
                <a:latin typeface="+mn-ea"/>
              </a:rPr>
              <a:t>성능인증</a:t>
            </a:r>
            <a:r>
              <a:rPr lang="ko-KR" altLang="en-US" sz="700" dirty="0">
                <a:latin typeface="+mn-ea"/>
              </a:rPr>
              <a:t> 보유자</a:t>
            </a:r>
          </a:p>
          <a:p>
            <a:r>
              <a:rPr lang="en-US" altLang="ko-KR" sz="700" dirty="0">
                <a:latin typeface="+mn-ea"/>
              </a:rPr>
              <a:t>B.</a:t>
            </a:r>
            <a:r>
              <a:rPr lang="ko-KR" altLang="en-US" sz="700" dirty="0">
                <a:latin typeface="+mn-ea"/>
              </a:rPr>
              <a:t>녹색기술인증보유자</a:t>
            </a:r>
          </a:p>
        </p:txBody>
      </p:sp>
      <p:sp>
        <p:nvSpPr>
          <p:cNvPr id="257" name="TextBox 256">
            <a:extLst>
              <a:ext uri="{FF2B5EF4-FFF2-40B4-BE49-F238E27FC236}">
                <a16:creationId xmlns:a16="http://schemas.microsoft.com/office/drawing/2014/main" id="{FFC49AEA-2A8F-250C-A86A-A7751D9706C3}"/>
              </a:ext>
            </a:extLst>
          </p:cNvPr>
          <p:cNvSpPr txBox="1"/>
          <p:nvPr/>
        </p:nvSpPr>
        <p:spPr>
          <a:xfrm>
            <a:off x="5708516" y="3060977"/>
            <a:ext cx="11862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260" name="직사각형 259"/>
          <p:cNvSpPr/>
          <p:nvPr/>
        </p:nvSpPr>
        <p:spPr>
          <a:xfrm>
            <a:off x="3832497" y="3968929"/>
            <a:ext cx="1639886" cy="122691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1" name="TextBox 260">
            <a:extLst>
              <a:ext uri="{FF2B5EF4-FFF2-40B4-BE49-F238E27FC236}">
                <a16:creationId xmlns:a16="http://schemas.microsoft.com/office/drawing/2014/main" id="{FFC49AEA-2A8F-250C-A86A-A7751D9706C3}"/>
              </a:ext>
            </a:extLst>
          </p:cNvPr>
          <p:cNvSpPr txBox="1"/>
          <p:nvPr/>
        </p:nvSpPr>
        <p:spPr>
          <a:xfrm>
            <a:off x="3919560" y="396893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62" name="TextBox 261">
            <a:extLst>
              <a:ext uri="{FF2B5EF4-FFF2-40B4-BE49-F238E27FC236}">
                <a16:creationId xmlns:a16="http://schemas.microsoft.com/office/drawing/2014/main" id="{FFC49AEA-2A8F-250C-A86A-A7751D9706C3}"/>
              </a:ext>
            </a:extLst>
          </p:cNvPr>
          <p:cNvSpPr txBox="1"/>
          <p:nvPr/>
        </p:nvSpPr>
        <p:spPr>
          <a:xfrm>
            <a:off x="5647602" y="396893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64" name="직선 연결선 263">
            <a:extLst>
              <a:ext uri="{FF2B5EF4-FFF2-40B4-BE49-F238E27FC236}">
                <a16:creationId xmlns:a16="http://schemas.microsoft.com/office/drawing/2014/main" id="{E9293055-D5CD-4B9E-7F64-64B2D2CA7A52}"/>
              </a:ext>
            </a:extLst>
          </p:cNvPr>
          <p:cNvCxnSpPr/>
          <p:nvPr/>
        </p:nvCxnSpPr>
        <p:spPr>
          <a:xfrm>
            <a:off x="3830405" y="39689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5" name="직선 연결선 264">
            <a:extLst>
              <a:ext uri="{FF2B5EF4-FFF2-40B4-BE49-F238E27FC236}">
                <a16:creationId xmlns:a16="http://schemas.microsoft.com/office/drawing/2014/main" id="{E9293055-D5CD-4B9E-7F64-64B2D2CA7A52}"/>
              </a:ext>
            </a:extLst>
          </p:cNvPr>
          <p:cNvCxnSpPr/>
          <p:nvPr/>
        </p:nvCxnSpPr>
        <p:spPr>
          <a:xfrm>
            <a:off x="3832498" y="41836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8" name="직선 연결선 267">
            <a:extLst>
              <a:ext uri="{FF2B5EF4-FFF2-40B4-BE49-F238E27FC236}">
                <a16:creationId xmlns:a16="http://schemas.microsoft.com/office/drawing/2014/main" id="{E9293055-D5CD-4B9E-7F64-64B2D2CA7A52}"/>
              </a:ext>
            </a:extLst>
          </p:cNvPr>
          <p:cNvCxnSpPr/>
          <p:nvPr/>
        </p:nvCxnSpPr>
        <p:spPr>
          <a:xfrm>
            <a:off x="3832498" y="51958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9" name="TextBox 268">
            <a:extLst>
              <a:ext uri="{FF2B5EF4-FFF2-40B4-BE49-F238E27FC236}">
                <a16:creationId xmlns:a16="http://schemas.microsoft.com/office/drawing/2014/main" id="{FFC49AEA-2A8F-250C-A86A-A7751D9706C3}"/>
              </a:ext>
            </a:extLst>
          </p:cNvPr>
          <p:cNvSpPr txBox="1"/>
          <p:nvPr/>
        </p:nvSpPr>
        <p:spPr>
          <a:xfrm>
            <a:off x="3891376" y="348298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a:t>
            </a:r>
            <a:r>
              <a:rPr lang="ko-KR" altLang="en-US" sz="700" dirty="0">
                <a:latin typeface="+mn-ea"/>
              </a:rPr>
              <a:t>녹색 </a:t>
            </a:r>
            <a:r>
              <a:rPr lang="ko-KR" altLang="en-US" sz="700" dirty="0" err="1">
                <a:latin typeface="+mn-ea"/>
              </a:rPr>
              <a:t>일반인증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일반기술</a:t>
            </a:r>
            <a:r>
              <a:rPr lang="ko-KR" altLang="en-US" sz="700" dirty="0">
                <a:latin typeface="+mn-ea"/>
              </a:rPr>
              <a:t> 및 친환경</a:t>
            </a:r>
            <a:r>
              <a:rPr lang="en-US" altLang="ko-KR" sz="700" dirty="0">
                <a:latin typeface="+mn-ea"/>
              </a:rPr>
              <a:t>,</a:t>
            </a:r>
            <a:r>
              <a:rPr lang="ko-KR" altLang="en-US" sz="700" dirty="0">
                <a:latin typeface="+mn-ea"/>
              </a:rPr>
              <a:t>품질</a:t>
            </a:r>
            <a:r>
              <a:rPr lang="en-US" altLang="ko-KR" sz="700" dirty="0">
                <a:latin typeface="+mn-ea"/>
              </a:rPr>
              <a:t>,</a:t>
            </a:r>
            <a:r>
              <a:rPr lang="ko-KR" altLang="en-US" sz="700" dirty="0" err="1">
                <a:latin typeface="+mn-ea"/>
              </a:rPr>
              <a:t>규격등에</a:t>
            </a:r>
            <a:r>
              <a:rPr lang="ko-KR" altLang="en-US" sz="700" dirty="0">
                <a:latin typeface="+mn-ea"/>
              </a:rPr>
              <a:t> 대한 인증</a:t>
            </a:r>
          </a:p>
        </p:txBody>
      </p:sp>
      <p:sp>
        <p:nvSpPr>
          <p:cNvPr id="270" name="TextBox 269">
            <a:extLst>
              <a:ext uri="{FF2B5EF4-FFF2-40B4-BE49-F238E27FC236}">
                <a16:creationId xmlns:a16="http://schemas.microsoft.com/office/drawing/2014/main" id="{FFC49AEA-2A8F-250C-A86A-A7751D9706C3}"/>
              </a:ext>
            </a:extLst>
          </p:cNvPr>
          <p:cNvSpPr txBox="1"/>
          <p:nvPr/>
        </p:nvSpPr>
        <p:spPr>
          <a:xfrm>
            <a:off x="6067972" y="396893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1" name="TextBox 270">
            <a:extLst>
              <a:ext uri="{FF2B5EF4-FFF2-40B4-BE49-F238E27FC236}">
                <a16:creationId xmlns:a16="http://schemas.microsoft.com/office/drawing/2014/main" id="{FFC49AEA-2A8F-250C-A86A-A7751D9706C3}"/>
              </a:ext>
            </a:extLst>
          </p:cNvPr>
          <p:cNvSpPr txBox="1"/>
          <p:nvPr/>
        </p:nvSpPr>
        <p:spPr>
          <a:xfrm>
            <a:off x="3919560" y="4258291"/>
            <a:ext cx="1480199" cy="861774"/>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특허</a:t>
            </a:r>
            <a:r>
              <a:rPr lang="en-US" altLang="ko-KR" sz="700" dirty="0">
                <a:latin typeface="+mn-ea"/>
              </a:rPr>
              <a:t>, </a:t>
            </a:r>
            <a:r>
              <a:rPr lang="ko-KR" altLang="en-US" sz="700" dirty="0">
                <a:latin typeface="+mn-ea"/>
              </a:rPr>
              <a:t>디자인 등록 보유자</a:t>
            </a:r>
            <a:r>
              <a:rPr lang="en-US" altLang="ko-KR" sz="700" dirty="0">
                <a:latin typeface="+mn-ea"/>
              </a:rPr>
              <a:t>, GS(</a:t>
            </a:r>
            <a:r>
              <a:rPr lang="ko-KR" altLang="en-US" sz="700" dirty="0" err="1">
                <a:latin typeface="+mn-ea"/>
              </a:rPr>
              <a:t>국산우수</a:t>
            </a:r>
            <a:r>
              <a:rPr lang="ko-KR" altLang="en-US" sz="700" dirty="0">
                <a:latin typeface="+mn-ea"/>
              </a:rPr>
              <a:t> </a:t>
            </a:r>
            <a:r>
              <a:rPr lang="en-US" altLang="ko-KR" sz="700" dirty="0">
                <a:latin typeface="+mn-ea"/>
              </a:rPr>
              <a:t>S/W)</a:t>
            </a:r>
            <a:r>
              <a:rPr lang="ko-KR" altLang="en-US" sz="700" dirty="0">
                <a:latin typeface="+mn-ea"/>
              </a:rPr>
              <a:t>마크 보유자</a:t>
            </a:r>
            <a:r>
              <a:rPr lang="en-US" altLang="ko-KR" sz="700" dirty="0">
                <a:latin typeface="+mn-ea"/>
              </a:rPr>
              <a:t>, GR</a:t>
            </a:r>
            <a:r>
              <a:rPr lang="ko-KR" altLang="en-US" sz="700" dirty="0">
                <a:latin typeface="+mn-ea"/>
              </a:rPr>
              <a:t>보유자</a:t>
            </a:r>
          </a:p>
          <a:p>
            <a:r>
              <a:rPr lang="en-US" altLang="ko-KR" sz="700" dirty="0">
                <a:latin typeface="+mn-ea"/>
              </a:rPr>
              <a:t>B.</a:t>
            </a:r>
            <a:r>
              <a:rPr lang="ko-KR" altLang="en-US" sz="700" dirty="0">
                <a:latin typeface="+mn-ea"/>
              </a:rPr>
              <a:t>「산업표준화법시행규칙」 제</a:t>
            </a:r>
            <a:r>
              <a:rPr lang="en-US" altLang="ko-KR" sz="700" dirty="0">
                <a:latin typeface="+mn-ea"/>
              </a:rPr>
              <a:t>10</a:t>
            </a:r>
            <a:r>
              <a:rPr lang="ko-KR" altLang="en-US" sz="700" dirty="0">
                <a:latin typeface="+mn-ea"/>
              </a:rPr>
              <a:t>조에서 정한 </a:t>
            </a:r>
            <a:r>
              <a:rPr lang="en-US" altLang="ko-KR" sz="700" dirty="0">
                <a:latin typeface="+mn-ea"/>
              </a:rPr>
              <a:t>KS</a:t>
            </a:r>
            <a:r>
              <a:rPr lang="ko-KR" altLang="en-US" sz="700" dirty="0" err="1">
                <a:latin typeface="+mn-ea"/>
              </a:rPr>
              <a:t>제품인증서</a:t>
            </a:r>
            <a:r>
              <a:rPr lang="ko-KR" altLang="en-US" sz="700" dirty="0">
                <a:latin typeface="+mn-ea"/>
              </a:rPr>
              <a:t> 보유자</a:t>
            </a:r>
            <a:r>
              <a:rPr lang="en-US" altLang="ko-KR" sz="700" dirty="0">
                <a:latin typeface="+mn-ea"/>
              </a:rPr>
              <a:t>, </a:t>
            </a:r>
            <a:r>
              <a:rPr lang="ko-KR" altLang="en-US" sz="700" dirty="0">
                <a:latin typeface="+mn-ea"/>
              </a:rPr>
              <a:t>단체표준인증보유자</a:t>
            </a:r>
          </a:p>
          <a:p>
            <a:r>
              <a:rPr lang="en-US" altLang="ko-KR" sz="700" dirty="0">
                <a:latin typeface="+mn-ea"/>
              </a:rPr>
              <a:t>C.</a:t>
            </a:r>
            <a:r>
              <a:rPr lang="ko-KR" altLang="en-US" sz="700" dirty="0">
                <a:latin typeface="+mn-ea"/>
              </a:rPr>
              <a:t>고효율에너지기자재 인증 보유자</a:t>
            </a:r>
          </a:p>
          <a:p>
            <a:r>
              <a:rPr lang="en-US" altLang="ko-KR" sz="700" dirty="0">
                <a:latin typeface="+mn-ea"/>
              </a:rPr>
              <a:t>D.</a:t>
            </a:r>
            <a:r>
              <a:rPr lang="ko-KR" altLang="en-US" sz="700" dirty="0">
                <a:latin typeface="+mn-ea"/>
              </a:rPr>
              <a:t>「</a:t>
            </a:r>
            <a:r>
              <a:rPr lang="ko-KR" altLang="en-US" sz="700" dirty="0" err="1">
                <a:latin typeface="+mn-ea"/>
              </a:rPr>
              <a:t>에너지이용합리화법」제</a:t>
            </a:r>
            <a:r>
              <a:rPr lang="en-US" altLang="ko-KR" sz="700" dirty="0">
                <a:latin typeface="+mn-ea"/>
              </a:rPr>
              <a:t>15</a:t>
            </a:r>
            <a:r>
              <a:rPr lang="ko-KR" altLang="en-US" sz="700" dirty="0">
                <a:latin typeface="+mn-ea"/>
              </a:rPr>
              <a:t>조에 따른 에너지소비효율 </a:t>
            </a:r>
            <a:r>
              <a:rPr lang="en-US" altLang="ko-KR" sz="700" dirty="0">
                <a:latin typeface="+mn-ea"/>
              </a:rPr>
              <a:t>1</a:t>
            </a:r>
            <a:r>
              <a:rPr lang="ko-KR" altLang="en-US" sz="700" dirty="0" err="1">
                <a:latin typeface="+mn-ea"/>
              </a:rPr>
              <a:t>등급제품</a:t>
            </a:r>
            <a:endParaRPr lang="ko-KR" altLang="en-US" sz="700" dirty="0">
              <a:latin typeface="+mn-ea"/>
            </a:endParaRPr>
          </a:p>
        </p:txBody>
      </p:sp>
      <p:sp>
        <p:nvSpPr>
          <p:cNvPr id="272" name="TextBox 271">
            <a:extLst>
              <a:ext uri="{FF2B5EF4-FFF2-40B4-BE49-F238E27FC236}">
                <a16:creationId xmlns:a16="http://schemas.microsoft.com/office/drawing/2014/main" id="{FFC49AEA-2A8F-250C-A86A-A7751D9706C3}"/>
              </a:ext>
            </a:extLst>
          </p:cNvPr>
          <p:cNvSpPr txBox="1"/>
          <p:nvPr/>
        </p:nvSpPr>
        <p:spPr>
          <a:xfrm>
            <a:off x="5658822" y="4635317"/>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275" name="TextBox 274">
            <a:extLst>
              <a:ext uri="{FF2B5EF4-FFF2-40B4-BE49-F238E27FC236}">
                <a16:creationId xmlns:a16="http://schemas.microsoft.com/office/drawing/2014/main" id="{FFC49AEA-2A8F-250C-A86A-A7751D9706C3}"/>
              </a:ext>
            </a:extLst>
          </p:cNvPr>
          <p:cNvSpPr txBox="1"/>
          <p:nvPr/>
        </p:nvSpPr>
        <p:spPr>
          <a:xfrm>
            <a:off x="6390176" y="306097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1" name="TextBox 28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2072024672"/>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 name="직사각형 269"/>
          <p:cNvSpPr/>
          <p:nvPr/>
        </p:nvSpPr>
        <p:spPr>
          <a:xfrm>
            <a:off x="719049" y="5494403"/>
            <a:ext cx="1639886" cy="58790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228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고시금액미만</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777928" y="1491157"/>
            <a:ext cx="2535669" cy="538609"/>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a:t>
            </a:r>
            <a:r>
              <a:rPr lang="ko-KR" altLang="en-US" sz="700" dirty="0">
                <a:latin typeface="+mn-ea"/>
              </a:rPr>
              <a:t>영세기업 지원</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소기업</a:t>
            </a:r>
            <a:r>
              <a:rPr lang="en-US" altLang="ko-KR" sz="700" dirty="0">
                <a:latin typeface="+mn-ea"/>
              </a:rPr>
              <a:t>, </a:t>
            </a:r>
            <a:r>
              <a:rPr lang="ko-KR" altLang="en-US" sz="700" dirty="0">
                <a:latin typeface="+mn-ea"/>
              </a:rPr>
              <a:t>소상공인 및 지역업체 참가</a:t>
            </a:r>
            <a:endParaRPr lang="en-US" altLang="ko-KR" sz="700" dirty="0">
              <a:latin typeface="+mn-ea"/>
            </a:endParaRPr>
          </a:p>
          <a:p>
            <a:r>
              <a:rPr lang="ko-KR" altLang="en-US" sz="700" dirty="0">
                <a:latin typeface="+mn-ea"/>
              </a:rPr>
              <a:t>                </a:t>
            </a:r>
            <a:r>
              <a:rPr lang="en-US" altLang="ko-KR" sz="700" dirty="0">
                <a:latin typeface="+mn-ea"/>
              </a:rPr>
              <a:t>(</a:t>
            </a:r>
            <a:r>
              <a:rPr lang="ko-KR" altLang="en-US" sz="700" dirty="0">
                <a:latin typeface="+mn-ea"/>
              </a:rPr>
              <a:t>공동계약 허용한 경우만 평가함</a:t>
            </a:r>
            <a:r>
              <a:rPr lang="en-US" altLang="ko-KR" sz="700" dirty="0">
                <a:latin typeface="+mn-ea"/>
              </a:rPr>
              <a:t>)</a:t>
            </a:r>
          </a:p>
        </p:txBody>
      </p:sp>
      <p:sp>
        <p:nvSpPr>
          <p:cNvPr id="186" name="직사각형 185"/>
          <p:cNvSpPr/>
          <p:nvPr/>
        </p:nvSpPr>
        <p:spPr>
          <a:xfrm>
            <a:off x="3832497" y="1981539"/>
            <a:ext cx="1639886" cy="42507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9560" y="198154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5647602" y="198154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3830405" y="198154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3832498" y="21962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3830405" y="2810047"/>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2498" y="26108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3891376" y="149559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라</a:t>
            </a:r>
            <a:r>
              <a:rPr lang="en-US" altLang="ko-KR" sz="700" dirty="0">
                <a:latin typeface="+mn-ea"/>
              </a:rPr>
              <a:t>. </a:t>
            </a:r>
            <a:r>
              <a:rPr lang="ko-KR" altLang="en-US" sz="700" dirty="0">
                <a:latin typeface="+mn-ea"/>
              </a:rPr>
              <a:t>기타</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여성기업</a:t>
            </a:r>
            <a:r>
              <a:rPr lang="en-US" altLang="ko-KR" sz="700" dirty="0">
                <a:latin typeface="+mn-ea"/>
              </a:rPr>
              <a:t>, </a:t>
            </a:r>
            <a:r>
              <a:rPr lang="ko-KR" altLang="en-US" sz="700" dirty="0">
                <a:latin typeface="+mn-ea"/>
              </a:rPr>
              <a:t>장애인고용 기업지원 등</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6067972" y="198154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3919560" y="2242000"/>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 조달업무 우수업체로서 중소기업청장 또는 조달청장 표창을 받은 업체</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5708515" y="2349721"/>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3919560" y="2655920"/>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여성기업지원 및 여성고용촉진</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5790269" y="265592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6390176" y="234972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2855767"/>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여성기업</a:t>
            </a:r>
            <a:r>
              <a:rPr lang="en-US" altLang="ko-KR" sz="700" dirty="0">
                <a:latin typeface="+mn-ea"/>
              </a:rPr>
              <a:t>(</a:t>
            </a:r>
            <a:r>
              <a:rPr lang="ko-KR" altLang="en-US" sz="700" dirty="0">
                <a:latin typeface="+mn-ea"/>
              </a:rPr>
              <a:t>「여성기업지원에 관한 </a:t>
            </a:r>
            <a:r>
              <a:rPr lang="ko-KR" altLang="en-US" sz="700" dirty="0" err="1">
                <a:latin typeface="+mn-ea"/>
              </a:rPr>
              <a:t>법률」및</a:t>
            </a:r>
            <a:r>
              <a:rPr lang="ko-KR" altLang="en-US" sz="700" dirty="0">
                <a:latin typeface="+mn-ea"/>
              </a:rPr>
              <a:t> 같은 법 시행령에서 정한 기업으로서 중소벤처기업부장관</a:t>
            </a:r>
            <a:r>
              <a:rPr lang="en-US" altLang="ko-KR" sz="700" dirty="0">
                <a:latin typeface="+mn-ea"/>
              </a:rPr>
              <a:t>(</a:t>
            </a:r>
            <a:r>
              <a:rPr lang="ko-KR" altLang="en-US" sz="700" dirty="0">
                <a:latin typeface="+mn-ea"/>
              </a:rPr>
              <a:t>또는 </a:t>
            </a:r>
            <a:r>
              <a:rPr lang="ko-KR" altLang="en-US" sz="700" dirty="0" err="1">
                <a:latin typeface="+mn-ea"/>
              </a:rPr>
              <a:t>위임받은</a:t>
            </a:r>
            <a:r>
              <a:rPr lang="ko-KR" altLang="en-US" sz="700" dirty="0">
                <a:latin typeface="+mn-ea"/>
              </a:rPr>
              <a:t> 자</a:t>
            </a:r>
            <a:r>
              <a:rPr lang="en-US" altLang="ko-KR" sz="700" dirty="0">
                <a:latin typeface="+mn-ea"/>
              </a:rPr>
              <a:t>)</a:t>
            </a:r>
            <a:r>
              <a:rPr lang="ko-KR" altLang="en-US" sz="700" dirty="0">
                <a:latin typeface="+mn-ea"/>
              </a:rPr>
              <a:t>에 의해 확인 경우 인정</a:t>
            </a:r>
            <a:r>
              <a:rPr lang="en-US" altLang="ko-KR" sz="700" dirty="0">
                <a:latin typeface="+mn-ea"/>
              </a:rPr>
              <a:t>))</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515" y="3017349"/>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0" name="직선 연결선 209">
            <a:extLst>
              <a:ext uri="{FF2B5EF4-FFF2-40B4-BE49-F238E27FC236}">
                <a16:creationId xmlns:a16="http://schemas.microsoft.com/office/drawing/2014/main" id="{E9293055-D5CD-4B9E-7F64-64B2D2CA7A52}"/>
              </a:ext>
            </a:extLst>
          </p:cNvPr>
          <p:cNvCxnSpPr/>
          <p:nvPr/>
        </p:nvCxnSpPr>
        <p:spPr>
          <a:xfrm>
            <a:off x="3830405" y="3332374"/>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FFC49AEA-2A8F-250C-A86A-A7751D9706C3}"/>
              </a:ext>
            </a:extLst>
          </p:cNvPr>
          <p:cNvSpPr txBox="1"/>
          <p:nvPr/>
        </p:nvSpPr>
        <p:spPr>
          <a:xfrm>
            <a:off x="3919560" y="3378094"/>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여성고용 우수기업</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708516" y="3631117"/>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13" name="직선 연결선 212">
            <a:extLst>
              <a:ext uri="{FF2B5EF4-FFF2-40B4-BE49-F238E27FC236}">
                <a16:creationId xmlns:a16="http://schemas.microsoft.com/office/drawing/2014/main" id="{E9293055-D5CD-4B9E-7F64-64B2D2CA7A52}"/>
              </a:ext>
            </a:extLst>
          </p:cNvPr>
          <p:cNvCxnSpPr/>
          <p:nvPr/>
        </p:nvCxnSpPr>
        <p:spPr>
          <a:xfrm>
            <a:off x="3830405" y="4145304"/>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TextBox 213">
            <a:extLst>
              <a:ext uri="{FF2B5EF4-FFF2-40B4-BE49-F238E27FC236}">
                <a16:creationId xmlns:a16="http://schemas.microsoft.com/office/drawing/2014/main" id="{FFC49AEA-2A8F-250C-A86A-A7751D9706C3}"/>
              </a:ext>
            </a:extLst>
          </p:cNvPr>
          <p:cNvSpPr txBox="1"/>
          <p:nvPr/>
        </p:nvSpPr>
        <p:spPr>
          <a:xfrm>
            <a:off x="3919560" y="4191024"/>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노동부장관에 의해 남녀고용평등 우수기업으로 지정 받은 자</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5708516" y="4244885"/>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45" name="직선 연결선 244">
            <a:extLst>
              <a:ext uri="{FF2B5EF4-FFF2-40B4-BE49-F238E27FC236}">
                <a16:creationId xmlns:a16="http://schemas.microsoft.com/office/drawing/2014/main" id="{E9293055-D5CD-4B9E-7F64-64B2D2CA7A52}"/>
              </a:ext>
            </a:extLst>
          </p:cNvPr>
          <p:cNvCxnSpPr/>
          <p:nvPr/>
        </p:nvCxnSpPr>
        <p:spPr>
          <a:xfrm>
            <a:off x="3832498" y="44521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3919560" y="4497908"/>
            <a:ext cx="1480199" cy="215444"/>
          </a:xfrm>
          <a:prstGeom prst="rect">
            <a:avLst/>
          </a:prstGeom>
          <a:noFill/>
        </p:spPr>
        <p:txBody>
          <a:bodyPr wrap="square" lIns="0" tIns="0" rIns="0" bIns="0" rtlCol="0">
            <a:spAutoFit/>
          </a:bodyPr>
          <a:lstStyle/>
          <a:p>
            <a:r>
              <a:rPr lang="en-US" altLang="ko-KR" sz="700" dirty="0">
                <a:latin typeface="+mn-ea"/>
              </a:rPr>
              <a:t>C.</a:t>
            </a:r>
            <a:r>
              <a:rPr lang="ko-KR" altLang="en-US" sz="700" dirty="0">
                <a:latin typeface="+mn-ea"/>
              </a:rPr>
              <a:t>장애인기업 및 장애인고용 우수기업</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5790269" y="455176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8" name="직선 연결선 247">
            <a:extLst>
              <a:ext uri="{FF2B5EF4-FFF2-40B4-BE49-F238E27FC236}">
                <a16:creationId xmlns:a16="http://schemas.microsoft.com/office/drawing/2014/main" id="{E9293055-D5CD-4B9E-7F64-64B2D2CA7A52}"/>
              </a:ext>
            </a:extLst>
          </p:cNvPr>
          <p:cNvCxnSpPr/>
          <p:nvPr/>
        </p:nvCxnSpPr>
        <p:spPr>
          <a:xfrm>
            <a:off x="3830405" y="4759072"/>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9" name="TextBox 248">
            <a:extLst>
              <a:ext uri="{FF2B5EF4-FFF2-40B4-BE49-F238E27FC236}">
                <a16:creationId xmlns:a16="http://schemas.microsoft.com/office/drawing/2014/main" id="{FFC49AEA-2A8F-250C-A86A-A7751D9706C3}"/>
              </a:ext>
            </a:extLst>
          </p:cNvPr>
          <p:cNvSpPr txBox="1"/>
          <p:nvPr/>
        </p:nvSpPr>
        <p:spPr>
          <a:xfrm>
            <a:off x="6390176" y="34414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3" name="TextBox 252">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3919560" y="357725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10%</a:t>
            </a:r>
            <a:r>
              <a:rPr lang="ko-KR" altLang="en-US" sz="700" dirty="0">
                <a:latin typeface="+mn-ea"/>
              </a:rPr>
              <a:t>이상이고 여성종업원이 </a:t>
            </a:r>
            <a:r>
              <a:rPr lang="en-US" altLang="ko-KR" sz="700" dirty="0">
                <a:latin typeface="+mn-ea"/>
              </a:rPr>
              <a:t>10</a:t>
            </a:r>
            <a:r>
              <a:rPr lang="ko-KR" altLang="en-US" sz="700" dirty="0">
                <a:latin typeface="+mn-ea"/>
              </a:rPr>
              <a:t>인 이상인 기업</a:t>
            </a:r>
          </a:p>
        </p:txBody>
      </p:sp>
      <p:sp>
        <p:nvSpPr>
          <p:cNvPr id="255" name="TextBox 254">
            <a:extLst>
              <a:ext uri="{FF2B5EF4-FFF2-40B4-BE49-F238E27FC236}">
                <a16:creationId xmlns:a16="http://schemas.microsoft.com/office/drawing/2014/main" id="{FFC49AEA-2A8F-250C-A86A-A7751D9706C3}"/>
              </a:ext>
            </a:extLst>
          </p:cNvPr>
          <p:cNvSpPr txBox="1"/>
          <p:nvPr/>
        </p:nvSpPr>
        <p:spPr>
          <a:xfrm>
            <a:off x="3919560" y="3882764"/>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5%</a:t>
            </a:r>
            <a:r>
              <a:rPr lang="ko-KR" altLang="en-US" sz="700" dirty="0">
                <a:latin typeface="+mn-ea"/>
              </a:rPr>
              <a:t>이상이고 여성종업원이 </a:t>
            </a:r>
            <a:r>
              <a:rPr lang="en-US" altLang="ko-KR" sz="700" dirty="0">
                <a:latin typeface="+mn-ea"/>
              </a:rPr>
              <a:t>5</a:t>
            </a:r>
            <a:r>
              <a:rPr lang="ko-KR" altLang="en-US" sz="700" dirty="0">
                <a:latin typeface="+mn-ea"/>
              </a:rPr>
              <a:t>인 이상인 기업</a:t>
            </a:r>
          </a:p>
        </p:txBody>
      </p:sp>
      <p:cxnSp>
        <p:nvCxnSpPr>
          <p:cNvPr id="263" name="직선 연결선 262">
            <a:extLst>
              <a:ext uri="{FF2B5EF4-FFF2-40B4-BE49-F238E27FC236}">
                <a16:creationId xmlns:a16="http://schemas.microsoft.com/office/drawing/2014/main" id="{E9293055-D5CD-4B9E-7F64-64B2D2CA7A52}"/>
              </a:ext>
            </a:extLst>
          </p:cNvPr>
          <p:cNvCxnSpPr/>
          <p:nvPr/>
        </p:nvCxnSpPr>
        <p:spPr>
          <a:xfrm>
            <a:off x="3830405" y="3838420"/>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0" name="직선 연결선 279">
            <a:extLst>
              <a:ext uri="{FF2B5EF4-FFF2-40B4-BE49-F238E27FC236}">
                <a16:creationId xmlns:a16="http://schemas.microsoft.com/office/drawing/2014/main" id="{E9293055-D5CD-4B9E-7F64-64B2D2CA7A52}"/>
              </a:ext>
            </a:extLst>
          </p:cNvPr>
          <p:cNvCxnSpPr/>
          <p:nvPr/>
        </p:nvCxnSpPr>
        <p:spPr>
          <a:xfrm>
            <a:off x="3830405" y="3531536"/>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1" name="TextBox 280">
            <a:extLst>
              <a:ext uri="{FF2B5EF4-FFF2-40B4-BE49-F238E27FC236}">
                <a16:creationId xmlns:a16="http://schemas.microsoft.com/office/drawing/2014/main" id="{FFC49AEA-2A8F-250C-A86A-A7751D9706C3}"/>
              </a:ext>
            </a:extLst>
          </p:cNvPr>
          <p:cNvSpPr txBox="1"/>
          <p:nvPr/>
        </p:nvSpPr>
        <p:spPr>
          <a:xfrm>
            <a:off x="5708516" y="3936625"/>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2" name="TextBox 281">
            <a:extLst>
              <a:ext uri="{FF2B5EF4-FFF2-40B4-BE49-F238E27FC236}">
                <a16:creationId xmlns:a16="http://schemas.microsoft.com/office/drawing/2014/main" id="{FFC49AEA-2A8F-250C-A86A-A7751D9706C3}"/>
              </a:ext>
            </a:extLst>
          </p:cNvPr>
          <p:cNvSpPr txBox="1"/>
          <p:nvPr/>
        </p:nvSpPr>
        <p:spPr>
          <a:xfrm>
            <a:off x="5790269" y="337809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2" name="직사각형 131"/>
          <p:cNvSpPr/>
          <p:nvPr/>
        </p:nvSpPr>
        <p:spPr>
          <a:xfrm>
            <a:off x="719049" y="2076267"/>
            <a:ext cx="1639886" cy="29531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806112" y="207626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2534154" y="20762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716957" y="20762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19050" y="2291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19050" y="321019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0" name="TextBox 139">
            <a:extLst>
              <a:ext uri="{FF2B5EF4-FFF2-40B4-BE49-F238E27FC236}">
                <a16:creationId xmlns:a16="http://schemas.microsoft.com/office/drawing/2014/main" id="{FFC49AEA-2A8F-250C-A86A-A7751D9706C3}"/>
              </a:ext>
            </a:extLst>
          </p:cNvPr>
          <p:cNvSpPr txBox="1"/>
          <p:nvPr/>
        </p:nvSpPr>
        <p:spPr>
          <a:xfrm>
            <a:off x="2954524" y="20762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806112" y="2332291"/>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「중소기업제품 구매촉진 및 판로지원에 관한 법률」 제</a:t>
            </a:r>
            <a:r>
              <a:rPr lang="en-US" altLang="ko-KR" sz="700" dirty="0">
                <a:latin typeface="+mn-ea"/>
              </a:rPr>
              <a:t>7</a:t>
            </a:r>
            <a:r>
              <a:rPr lang="ko-KR" altLang="en-US" sz="700" dirty="0">
                <a:latin typeface="+mn-ea"/>
              </a:rPr>
              <a:t>조제</a:t>
            </a:r>
            <a:r>
              <a:rPr lang="en-US" altLang="ko-KR" sz="700" dirty="0">
                <a:latin typeface="+mn-ea"/>
              </a:rPr>
              <a:t>3</a:t>
            </a:r>
            <a:r>
              <a:rPr lang="ko-KR" altLang="en-US" sz="700" dirty="0">
                <a:latin typeface="+mn-ea"/>
              </a:rPr>
              <a:t>항 및 같은 </a:t>
            </a:r>
            <a:r>
              <a:rPr lang="ko-KR" altLang="en-US" sz="700" dirty="0" err="1">
                <a:latin typeface="+mn-ea"/>
              </a:rPr>
              <a:t>법시행령</a:t>
            </a:r>
            <a:r>
              <a:rPr lang="ko-KR" altLang="en-US" sz="700" dirty="0">
                <a:latin typeface="+mn-ea"/>
              </a:rPr>
              <a:t> 제</a:t>
            </a:r>
            <a:r>
              <a:rPr lang="en-US" altLang="ko-KR" sz="700" dirty="0">
                <a:latin typeface="+mn-ea"/>
              </a:rPr>
              <a:t>7</a:t>
            </a:r>
            <a:r>
              <a:rPr lang="ko-KR" altLang="en-US" sz="700" dirty="0">
                <a:latin typeface="+mn-ea"/>
              </a:rPr>
              <a:t>조제</a:t>
            </a:r>
            <a:r>
              <a:rPr lang="en-US" altLang="ko-KR" sz="700" dirty="0">
                <a:latin typeface="+mn-ea"/>
              </a:rPr>
              <a:t>4</a:t>
            </a:r>
            <a:r>
              <a:rPr lang="ko-KR" altLang="en-US" sz="700" dirty="0">
                <a:latin typeface="+mn-ea"/>
              </a:rPr>
              <a:t>항에 해당하는 </a:t>
            </a:r>
            <a:r>
              <a:rPr lang="ko-KR" altLang="en-US" sz="700" dirty="0" err="1">
                <a:latin typeface="+mn-ea"/>
              </a:rPr>
              <a:t>공동수급체</a:t>
            </a:r>
            <a:r>
              <a:rPr lang="ko-KR" altLang="en-US" sz="700" dirty="0">
                <a:latin typeface="+mn-ea"/>
              </a:rPr>
              <a:t> 구성</a:t>
            </a:r>
            <a:r>
              <a:rPr lang="en-US" altLang="ko-KR" sz="700" dirty="0">
                <a:latin typeface="+mn-ea"/>
              </a:rPr>
              <a:t>(</a:t>
            </a:r>
            <a:r>
              <a:rPr lang="ko-KR" altLang="en-US" sz="700" dirty="0">
                <a:latin typeface="+mn-ea"/>
              </a:rPr>
              <a:t>조합의 경우 </a:t>
            </a:r>
            <a:r>
              <a:rPr lang="ko-KR" altLang="en-US" sz="700" dirty="0" err="1">
                <a:latin typeface="+mn-ea"/>
              </a:rPr>
              <a:t>합산점수에</a:t>
            </a:r>
            <a:r>
              <a:rPr lang="ko-KR" altLang="en-US" sz="700" dirty="0">
                <a:latin typeface="+mn-ea"/>
              </a:rPr>
              <a:t> </a:t>
            </a:r>
            <a:r>
              <a:rPr lang="en-US" altLang="ko-KR" sz="700" dirty="0">
                <a:latin typeface="+mn-ea"/>
              </a:rPr>
              <a:t>0.25</a:t>
            </a:r>
            <a:r>
              <a:rPr lang="ko-KR" altLang="en-US" sz="700" dirty="0">
                <a:latin typeface="+mn-ea"/>
              </a:rPr>
              <a:t>점을 가산한다</a:t>
            </a:r>
            <a:r>
              <a:rPr lang="en-US" altLang="ko-KR" sz="700" dirty="0">
                <a:latin typeface="+mn-ea"/>
              </a:rPr>
              <a:t>)</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2676821" y="254773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3276728" y="404887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806112" y="325147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.40%</a:t>
            </a:r>
            <a:r>
              <a:rPr lang="ko-KR" altLang="en-US" sz="700" dirty="0">
                <a:latin typeface="+mn-ea"/>
              </a:rPr>
              <a:t> 이상</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2595068" y="3251476"/>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806112" y="3441764"/>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.30%</a:t>
            </a:r>
            <a:r>
              <a:rPr lang="ko-KR" altLang="en-US" sz="700" dirty="0">
                <a:latin typeface="+mn-ea"/>
              </a:rPr>
              <a:t> 이상</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806112" y="3822340"/>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공동수급체</a:t>
            </a:r>
            <a:r>
              <a:rPr lang="ko-KR" altLang="en-US" sz="700" dirty="0">
                <a:latin typeface="+mn-ea"/>
              </a:rPr>
              <a:t> 각각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한 비율이 </a:t>
            </a:r>
            <a:r>
              <a:rPr lang="en-US" altLang="ko-KR" sz="700" dirty="0">
                <a:latin typeface="+mn-ea"/>
              </a:rPr>
              <a:t>20% </a:t>
            </a:r>
            <a:r>
              <a:rPr lang="ko-KR" altLang="en-US" sz="700" dirty="0">
                <a:latin typeface="+mn-ea"/>
              </a:rPr>
              <a:t>이상인 업체가</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806112" y="4120350"/>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a:t>
            </a:r>
            <a:r>
              <a:rPr lang="ko-KR" altLang="en-US" sz="700" dirty="0">
                <a:latin typeface="+mn-ea"/>
              </a:rPr>
              <a:t>개 이상 업체</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806112" y="4310638"/>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a:t>
            </a:r>
            <a:r>
              <a:rPr lang="ko-KR" altLang="en-US" sz="700" dirty="0">
                <a:latin typeface="+mn-ea"/>
              </a:rPr>
              <a:t>개 이상 업체</a:t>
            </a:r>
          </a:p>
        </p:txBody>
      </p:sp>
      <p:cxnSp>
        <p:nvCxnSpPr>
          <p:cNvPr id="150" name="직선 연결선 149">
            <a:extLst>
              <a:ext uri="{FF2B5EF4-FFF2-40B4-BE49-F238E27FC236}">
                <a16:creationId xmlns:a16="http://schemas.microsoft.com/office/drawing/2014/main" id="{E9293055-D5CD-4B9E-7F64-64B2D2CA7A52}"/>
              </a:ext>
            </a:extLst>
          </p:cNvPr>
          <p:cNvCxnSpPr/>
          <p:nvPr/>
        </p:nvCxnSpPr>
        <p:spPr>
          <a:xfrm>
            <a:off x="719050" y="34004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1" name="직선 연결선 150">
            <a:extLst>
              <a:ext uri="{FF2B5EF4-FFF2-40B4-BE49-F238E27FC236}">
                <a16:creationId xmlns:a16="http://schemas.microsoft.com/office/drawing/2014/main" id="{E9293055-D5CD-4B9E-7F64-64B2D2CA7A52}"/>
              </a:ext>
            </a:extLst>
          </p:cNvPr>
          <p:cNvCxnSpPr/>
          <p:nvPr/>
        </p:nvCxnSpPr>
        <p:spPr>
          <a:xfrm>
            <a:off x="719050" y="37810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2" name="직선 연결선 151">
            <a:extLst>
              <a:ext uri="{FF2B5EF4-FFF2-40B4-BE49-F238E27FC236}">
                <a16:creationId xmlns:a16="http://schemas.microsoft.com/office/drawing/2014/main" id="{E9293055-D5CD-4B9E-7F64-64B2D2CA7A52}"/>
              </a:ext>
            </a:extLst>
          </p:cNvPr>
          <p:cNvCxnSpPr/>
          <p:nvPr/>
        </p:nvCxnSpPr>
        <p:spPr>
          <a:xfrm>
            <a:off x="719050" y="407906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19050" y="426935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4" name="TextBox 153">
            <a:extLst>
              <a:ext uri="{FF2B5EF4-FFF2-40B4-BE49-F238E27FC236}">
                <a16:creationId xmlns:a16="http://schemas.microsoft.com/office/drawing/2014/main" id="{FFC49AEA-2A8F-250C-A86A-A7751D9706C3}"/>
              </a:ext>
            </a:extLst>
          </p:cNvPr>
          <p:cNvSpPr txBox="1"/>
          <p:nvPr/>
        </p:nvSpPr>
        <p:spPr>
          <a:xfrm>
            <a:off x="2545374" y="3441764"/>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2676821" y="38762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6" name="TextBox 155">
            <a:extLst>
              <a:ext uri="{FF2B5EF4-FFF2-40B4-BE49-F238E27FC236}">
                <a16:creationId xmlns:a16="http://schemas.microsoft.com/office/drawing/2014/main" id="{FFC49AEA-2A8F-250C-A86A-A7751D9706C3}"/>
              </a:ext>
            </a:extLst>
          </p:cNvPr>
          <p:cNvSpPr txBox="1"/>
          <p:nvPr/>
        </p:nvSpPr>
        <p:spPr>
          <a:xfrm>
            <a:off x="2595067" y="4120350"/>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2595068" y="4310638"/>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02" name="TextBox 201">
            <a:extLst>
              <a:ext uri="{FF2B5EF4-FFF2-40B4-BE49-F238E27FC236}">
                <a16:creationId xmlns:a16="http://schemas.microsoft.com/office/drawing/2014/main" id="{FFC49AEA-2A8F-250C-A86A-A7751D9706C3}"/>
              </a:ext>
            </a:extLst>
          </p:cNvPr>
          <p:cNvSpPr txBox="1"/>
          <p:nvPr/>
        </p:nvSpPr>
        <p:spPr>
          <a:xfrm>
            <a:off x="3276728" y="30396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719050" y="60880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19050" y="464993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6" name="TextBox 165">
            <a:extLst>
              <a:ext uri="{FF2B5EF4-FFF2-40B4-BE49-F238E27FC236}">
                <a16:creationId xmlns:a16="http://schemas.microsoft.com/office/drawing/2014/main" id="{FFC49AEA-2A8F-250C-A86A-A7751D9706C3}"/>
              </a:ext>
            </a:extLst>
          </p:cNvPr>
          <p:cNvSpPr txBox="1"/>
          <p:nvPr/>
        </p:nvSpPr>
        <p:spPr>
          <a:xfrm>
            <a:off x="806112" y="4500926"/>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지역업체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sp>
        <p:nvSpPr>
          <p:cNvPr id="170" name="TextBox 169">
            <a:extLst>
              <a:ext uri="{FF2B5EF4-FFF2-40B4-BE49-F238E27FC236}">
                <a16:creationId xmlns:a16="http://schemas.microsoft.com/office/drawing/2014/main" id="{FFC49AEA-2A8F-250C-A86A-A7751D9706C3}"/>
              </a:ext>
            </a:extLst>
          </p:cNvPr>
          <p:cNvSpPr txBox="1"/>
          <p:nvPr/>
        </p:nvSpPr>
        <p:spPr>
          <a:xfrm>
            <a:off x="806112" y="4691214"/>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.30%</a:t>
            </a:r>
            <a:r>
              <a:rPr lang="ko-KR" altLang="en-US" sz="700" dirty="0">
                <a:latin typeface="+mn-ea"/>
              </a:rPr>
              <a:t> 이상</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2595068" y="4691214"/>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806112" y="488150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.20%</a:t>
            </a:r>
            <a:r>
              <a:rPr lang="ko-KR" altLang="en-US" sz="700" dirty="0">
                <a:latin typeface="+mn-ea"/>
              </a:rPr>
              <a:t> 이상 </a:t>
            </a:r>
            <a:r>
              <a:rPr lang="en-US" altLang="ko-KR" sz="700" dirty="0">
                <a:latin typeface="+mn-ea"/>
              </a:rPr>
              <a:t>30%</a:t>
            </a:r>
            <a:r>
              <a:rPr lang="ko-KR" altLang="en-US" sz="700" dirty="0">
                <a:latin typeface="+mn-ea"/>
              </a:rPr>
              <a:t> 미만</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806112" y="5524703"/>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소기업 또는 소상공인</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806112" y="572851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소상공인</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806112" y="593232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소기업</a:t>
            </a: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719050" y="48402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19050" y="5476659"/>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19050" y="56804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19050" y="588427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2545374" y="4881502"/>
            <a:ext cx="168316"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sp>
        <p:nvSpPr>
          <p:cNvPr id="181" name="TextBox 180">
            <a:extLst>
              <a:ext uri="{FF2B5EF4-FFF2-40B4-BE49-F238E27FC236}">
                <a16:creationId xmlns:a16="http://schemas.microsoft.com/office/drawing/2014/main" id="{FFC49AEA-2A8F-250C-A86A-A7751D9706C3}"/>
              </a:ext>
            </a:extLst>
          </p:cNvPr>
          <p:cNvSpPr txBox="1"/>
          <p:nvPr/>
        </p:nvSpPr>
        <p:spPr>
          <a:xfrm>
            <a:off x="2676821" y="552470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2" name="TextBox 181">
            <a:extLst>
              <a:ext uri="{FF2B5EF4-FFF2-40B4-BE49-F238E27FC236}">
                <a16:creationId xmlns:a16="http://schemas.microsoft.com/office/drawing/2014/main" id="{FFC49AEA-2A8F-250C-A86A-A7751D9706C3}"/>
              </a:ext>
            </a:extLst>
          </p:cNvPr>
          <p:cNvSpPr txBox="1"/>
          <p:nvPr/>
        </p:nvSpPr>
        <p:spPr>
          <a:xfrm>
            <a:off x="2595067" y="5728513"/>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83" name="TextBox 182">
            <a:extLst>
              <a:ext uri="{FF2B5EF4-FFF2-40B4-BE49-F238E27FC236}">
                <a16:creationId xmlns:a16="http://schemas.microsoft.com/office/drawing/2014/main" id="{FFC49AEA-2A8F-250C-A86A-A7751D9706C3}"/>
              </a:ext>
            </a:extLst>
          </p:cNvPr>
          <p:cNvSpPr txBox="1"/>
          <p:nvPr/>
        </p:nvSpPr>
        <p:spPr>
          <a:xfrm>
            <a:off x="2545374" y="5932323"/>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2676821" y="450092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3" name="TextBox 202">
            <a:extLst>
              <a:ext uri="{FF2B5EF4-FFF2-40B4-BE49-F238E27FC236}">
                <a16:creationId xmlns:a16="http://schemas.microsoft.com/office/drawing/2014/main" id="{FFC49AEA-2A8F-250C-A86A-A7751D9706C3}"/>
              </a:ext>
            </a:extLst>
          </p:cNvPr>
          <p:cNvSpPr txBox="1"/>
          <p:nvPr/>
        </p:nvSpPr>
        <p:spPr>
          <a:xfrm>
            <a:off x="3274223" y="467796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3274223" y="572997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0" name="TextBox 249">
            <a:extLst>
              <a:ext uri="{FF2B5EF4-FFF2-40B4-BE49-F238E27FC236}">
                <a16:creationId xmlns:a16="http://schemas.microsoft.com/office/drawing/2014/main" id="{FFC49AEA-2A8F-250C-A86A-A7751D9706C3}"/>
              </a:ext>
            </a:extLst>
          </p:cNvPr>
          <p:cNvSpPr txBox="1"/>
          <p:nvPr/>
        </p:nvSpPr>
        <p:spPr>
          <a:xfrm>
            <a:off x="806112" y="295346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 </a:t>
            </a:r>
            <a:r>
              <a:rPr lang="ko-KR" altLang="en-US" sz="700" dirty="0">
                <a:latin typeface="+mn-ea"/>
              </a:rPr>
              <a:t>소기업</a:t>
            </a:r>
            <a:r>
              <a:rPr lang="en-US" altLang="ko-KR" sz="700" dirty="0">
                <a:latin typeface="+mn-ea"/>
              </a:rPr>
              <a:t>(</a:t>
            </a:r>
            <a:r>
              <a:rPr lang="ko-KR" altLang="en-US" sz="700" dirty="0">
                <a:latin typeface="+mn-ea"/>
              </a:rPr>
              <a:t>소상공인포함</a:t>
            </a:r>
            <a:r>
              <a:rPr lang="en-US" altLang="ko-KR" sz="700" dirty="0">
                <a:latin typeface="+mn-ea"/>
              </a:rPr>
              <a:t>) </a:t>
            </a:r>
            <a:r>
              <a:rPr lang="ko-KR" altLang="en-US" sz="700" dirty="0">
                <a:latin typeface="+mn-ea"/>
              </a:rPr>
              <a:t>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cxnSp>
        <p:nvCxnSpPr>
          <p:cNvPr id="251" name="직선 연결선 250">
            <a:extLst>
              <a:ext uri="{FF2B5EF4-FFF2-40B4-BE49-F238E27FC236}">
                <a16:creationId xmlns:a16="http://schemas.microsoft.com/office/drawing/2014/main" id="{E9293055-D5CD-4B9E-7F64-64B2D2CA7A52}"/>
              </a:ext>
            </a:extLst>
          </p:cNvPr>
          <p:cNvCxnSpPr/>
          <p:nvPr/>
        </p:nvCxnSpPr>
        <p:spPr>
          <a:xfrm>
            <a:off x="719050" y="291218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52" name="TextBox 251">
            <a:extLst>
              <a:ext uri="{FF2B5EF4-FFF2-40B4-BE49-F238E27FC236}">
                <a16:creationId xmlns:a16="http://schemas.microsoft.com/office/drawing/2014/main" id="{FFC49AEA-2A8F-250C-A86A-A7751D9706C3}"/>
              </a:ext>
            </a:extLst>
          </p:cNvPr>
          <p:cNvSpPr txBox="1"/>
          <p:nvPr/>
        </p:nvSpPr>
        <p:spPr>
          <a:xfrm>
            <a:off x="2676821" y="300732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24" name="직선 연결선 123">
            <a:extLst>
              <a:ext uri="{FF2B5EF4-FFF2-40B4-BE49-F238E27FC236}">
                <a16:creationId xmlns:a16="http://schemas.microsoft.com/office/drawing/2014/main" id="{E9293055-D5CD-4B9E-7F64-64B2D2CA7A52}"/>
              </a:ext>
            </a:extLst>
          </p:cNvPr>
          <p:cNvCxnSpPr/>
          <p:nvPr/>
        </p:nvCxnSpPr>
        <p:spPr>
          <a:xfrm>
            <a:off x="719050" y="44596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806112" y="363205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.20%</a:t>
            </a:r>
            <a:r>
              <a:rPr lang="ko-KR" altLang="en-US" sz="700" dirty="0">
                <a:latin typeface="+mn-ea"/>
              </a:rPr>
              <a:t> 이상 </a:t>
            </a:r>
            <a:r>
              <a:rPr lang="en-US" altLang="ko-KR" sz="700" dirty="0">
                <a:latin typeface="+mn-ea"/>
              </a:rPr>
              <a:t>30%</a:t>
            </a:r>
            <a:r>
              <a:rPr lang="ko-KR" altLang="en-US" sz="700" dirty="0">
                <a:latin typeface="+mn-ea"/>
              </a:rPr>
              <a:t> 미만</a:t>
            </a:r>
          </a:p>
        </p:txBody>
      </p:sp>
      <p:cxnSp>
        <p:nvCxnSpPr>
          <p:cNvPr id="266" name="직선 연결선 265">
            <a:extLst>
              <a:ext uri="{FF2B5EF4-FFF2-40B4-BE49-F238E27FC236}">
                <a16:creationId xmlns:a16="http://schemas.microsoft.com/office/drawing/2014/main" id="{E9293055-D5CD-4B9E-7F64-64B2D2CA7A52}"/>
              </a:ext>
            </a:extLst>
          </p:cNvPr>
          <p:cNvCxnSpPr/>
          <p:nvPr/>
        </p:nvCxnSpPr>
        <p:spPr>
          <a:xfrm>
            <a:off x="719050" y="35907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7" name="TextBox 266">
            <a:extLst>
              <a:ext uri="{FF2B5EF4-FFF2-40B4-BE49-F238E27FC236}">
                <a16:creationId xmlns:a16="http://schemas.microsoft.com/office/drawing/2014/main" id="{FFC49AEA-2A8F-250C-A86A-A7751D9706C3}"/>
              </a:ext>
            </a:extLst>
          </p:cNvPr>
          <p:cNvSpPr txBox="1"/>
          <p:nvPr/>
        </p:nvSpPr>
        <p:spPr>
          <a:xfrm>
            <a:off x="2595067" y="363205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719050" y="5030496"/>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9" name="TextBox 268">
            <a:extLst>
              <a:ext uri="{FF2B5EF4-FFF2-40B4-BE49-F238E27FC236}">
                <a16:creationId xmlns:a16="http://schemas.microsoft.com/office/drawing/2014/main" id="{FFC49AEA-2A8F-250C-A86A-A7751D9706C3}"/>
              </a:ext>
            </a:extLst>
          </p:cNvPr>
          <p:cNvSpPr txBox="1"/>
          <p:nvPr/>
        </p:nvSpPr>
        <p:spPr>
          <a:xfrm>
            <a:off x="806112" y="5091995"/>
            <a:ext cx="2504980" cy="323165"/>
          </a:xfrm>
          <a:prstGeom prst="rect">
            <a:avLst/>
          </a:prstGeom>
          <a:noFill/>
        </p:spPr>
        <p:txBody>
          <a:bodyPr wrap="square" lIns="0" tIns="0" rIns="0" bIns="0" rtlCol="0">
            <a:spAutoFit/>
          </a:bodyPr>
          <a:lstStyle/>
          <a:p>
            <a:pPr algn="ctr"/>
            <a:r>
              <a:rPr lang="en-US" altLang="ko-KR" sz="700" dirty="0">
                <a:latin typeface="+mn-ea"/>
              </a:rPr>
              <a:t>※</a:t>
            </a:r>
            <a:r>
              <a:rPr lang="ko-KR" altLang="en-US" sz="700" dirty="0">
                <a:latin typeface="+mn-ea"/>
              </a:rPr>
              <a:t>다만</a:t>
            </a:r>
            <a:r>
              <a:rPr lang="en-US" altLang="ko-KR" sz="700" dirty="0">
                <a:latin typeface="+mn-ea"/>
              </a:rPr>
              <a:t>, </a:t>
            </a:r>
            <a:r>
              <a:rPr lang="ko-KR" altLang="en-US" sz="700" dirty="0">
                <a:latin typeface="+mn-ea"/>
              </a:rPr>
              <a:t>법령이 정한 요건을 갖추지 못한</a:t>
            </a:r>
            <a:endParaRPr lang="en-US" altLang="ko-KR" sz="700" dirty="0">
              <a:latin typeface="+mn-ea"/>
            </a:endParaRPr>
          </a:p>
          <a:p>
            <a:pPr algn="ctr"/>
            <a:r>
              <a:rPr lang="ko-KR" altLang="en-US" sz="700" dirty="0">
                <a:latin typeface="+mn-ea"/>
              </a:rPr>
              <a:t>공동수급체는 각 평점이 </a:t>
            </a:r>
            <a:r>
              <a:rPr lang="en-US" altLang="ko-KR" sz="700" dirty="0">
                <a:latin typeface="+mn-ea"/>
              </a:rPr>
              <a:t>50%</a:t>
            </a:r>
            <a:r>
              <a:rPr lang="ko-KR" altLang="en-US" sz="700" dirty="0">
                <a:latin typeface="+mn-ea"/>
              </a:rPr>
              <a:t>만 인정한다</a:t>
            </a:r>
            <a:r>
              <a:rPr lang="en-US" altLang="ko-KR" sz="700" dirty="0">
                <a:latin typeface="+mn-ea"/>
              </a:rPr>
              <a:t>.</a:t>
            </a:r>
          </a:p>
          <a:p>
            <a:pPr algn="ctr"/>
            <a:r>
              <a:rPr lang="en-US" altLang="ko-KR" sz="700" dirty="0">
                <a:latin typeface="+mn-ea"/>
              </a:rPr>
              <a:t>(</a:t>
            </a:r>
            <a:r>
              <a:rPr lang="ko-KR" altLang="en-US" sz="700" dirty="0">
                <a:latin typeface="+mn-ea"/>
              </a:rPr>
              <a:t>조합의 경우 </a:t>
            </a:r>
            <a:r>
              <a:rPr lang="ko-KR" altLang="en-US" sz="700" dirty="0" err="1">
                <a:latin typeface="+mn-ea"/>
              </a:rPr>
              <a:t>합산점수에</a:t>
            </a:r>
            <a:r>
              <a:rPr lang="ko-KR" altLang="en-US" sz="700" dirty="0">
                <a:latin typeface="+mn-ea"/>
              </a:rPr>
              <a:t> </a:t>
            </a:r>
            <a:r>
              <a:rPr lang="en-US" altLang="ko-KR" sz="700" dirty="0">
                <a:latin typeface="+mn-ea"/>
              </a:rPr>
              <a:t>0.25</a:t>
            </a:r>
            <a:r>
              <a:rPr lang="ko-KR" altLang="en-US" sz="700" dirty="0">
                <a:latin typeface="+mn-ea"/>
              </a:rPr>
              <a:t>점을 가산한다</a:t>
            </a:r>
            <a:r>
              <a:rPr lang="en-US" altLang="ko-KR" sz="700" dirty="0">
                <a:latin typeface="+mn-ea"/>
              </a:rPr>
              <a:t>)</a:t>
            </a:r>
          </a:p>
        </p:txBody>
      </p:sp>
      <p:cxnSp>
        <p:nvCxnSpPr>
          <p:cNvPr id="271" name="직선 연결선 270">
            <a:extLst>
              <a:ext uri="{FF2B5EF4-FFF2-40B4-BE49-F238E27FC236}">
                <a16:creationId xmlns:a16="http://schemas.microsoft.com/office/drawing/2014/main" id="{E9293055-D5CD-4B9E-7F64-64B2D2CA7A52}"/>
              </a:ext>
            </a:extLst>
          </p:cNvPr>
          <p:cNvCxnSpPr/>
          <p:nvPr/>
        </p:nvCxnSpPr>
        <p:spPr>
          <a:xfrm>
            <a:off x="3832498" y="528139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2" name="TextBox 271">
            <a:extLst>
              <a:ext uri="{FF2B5EF4-FFF2-40B4-BE49-F238E27FC236}">
                <a16:creationId xmlns:a16="http://schemas.microsoft.com/office/drawing/2014/main" id="{FFC49AEA-2A8F-250C-A86A-A7751D9706C3}"/>
              </a:ext>
            </a:extLst>
          </p:cNvPr>
          <p:cNvSpPr txBox="1"/>
          <p:nvPr/>
        </p:nvSpPr>
        <p:spPr>
          <a:xfrm>
            <a:off x="3919560" y="4804792"/>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장애인기업</a:t>
            </a:r>
            <a:r>
              <a:rPr lang="en-US" altLang="ko-KR" sz="700" dirty="0">
                <a:latin typeface="+mn-ea"/>
              </a:rPr>
              <a:t>(</a:t>
            </a:r>
            <a:r>
              <a:rPr lang="ko-KR" altLang="en-US" sz="700" dirty="0">
                <a:latin typeface="+mn-ea"/>
              </a:rPr>
              <a:t>「장애인기업활동 </a:t>
            </a:r>
            <a:r>
              <a:rPr lang="ko-KR" altLang="en-US" sz="700" dirty="0" err="1">
                <a:latin typeface="+mn-ea"/>
              </a:rPr>
              <a:t>촉진법」에서</a:t>
            </a:r>
            <a:r>
              <a:rPr lang="ko-KR" altLang="en-US" sz="700" dirty="0">
                <a:latin typeface="+mn-ea"/>
              </a:rPr>
              <a:t> 정한 기업으로서 중소벤처기업부장관</a:t>
            </a:r>
            <a:r>
              <a:rPr lang="en-US" altLang="ko-KR" sz="700" dirty="0">
                <a:latin typeface="+mn-ea"/>
              </a:rPr>
              <a:t>(</a:t>
            </a:r>
            <a:r>
              <a:rPr lang="ko-KR" altLang="en-US" sz="700" dirty="0">
                <a:latin typeface="+mn-ea"/>
              </a:rPr>
              <a:t>또는 </a:t>
            </a:r>
            <a:r>
              <a:rPr lang="ko-KR" altLang="en-US" sz="700" dirty="0" err="1">
                <a:latin typeface="+mn-ea"/>
              </a:rPr>
              <a:t>위임받은</a:t>
            </a:r>
            <a:r>
              <a:rPr lang="ko-KR" altLang="en-US" sz="700" dirty="0">
                <a:latin typeface="+mn-ea"/>
              </a:rPr>
              <a:t> 자</a:t>
            </a:r>
            <a:r>
              <a:rPr lang="en-US" altLang="ko-KR" sz="700" dirty="0">
                <a:latin typeface="+mn-ea"/>
              </a:rPr>
              <a:t>)</a:t>
            </a:r>
            <a:r>
              <a:rPr lang="ko-KR" altLang="en-US" sz="700" dirty="0">
                <a:latin typeface="+mn-ea"/>
              </a:rPr>
              <a:t>에 의해 확인된 경우 인정</a:t>
            </a:r>
            <a:r>
              <a:rPr lang="en-US" altLang="ko-KR" sz="700" dirty="0">
                <a:latin typeface="+mn-ea"/>
              </a:rPr>
              <a:t>))</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5708515" y="496637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4" name="TextBox 273">
            <a:extLst>
              <a:ext uri="{FF2B5EF4-FFF2-40B4-BE49-F238E27FC236}">
                <a16:creationId xmlns:a16="http://schemas.microsoft.com/office/drawing/2014/main" id="{FFC49AEA-2A8F-250C-A86A-A7751D9706C3}"/>
              </a:ext>
            </a:extLst>
          </p:cNvPr>
          <p:cNvSpPr txBox="1"/>
          <p:nvPr/>
        </p:nvSpPr>
        <p:spPr>
          <a:xfrm>
            <a:off x="3919560" y="5526281"/>
            <a:ext cx="1480199" cy="215444"/>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장애인고용율이 </a:t>
            </a:r>
            <a:r>
              <a:rPr lang="en-US" altLang="ko-KR" sz="700" dirty="0">
                <a:latin typeface="+mn-ea"/>
              </a:rPr>
              <a:t>3%</a:t>
            </a:r>
            <a:r>
              <a:rPr lang="ko-KR" altLang="en-US" sz="700" dirty="0">
                <a:latin typeface="+mn-ea"/>
              </a:rPr>
              <a:t>이상이고 장애인종업원이 </a:t>
            </a:r>
            <a:r>
              <a:rPr lang="en-US" altLang="ko-KR" sz="700" dirty="0">
                <a:latin typeface="+mn-ea"/>
              </a:rPr>
              <a:t>6</a:t>
            </a:r>
            <a:r>
              <a:rPr lang="ko-KR" altLang="en-US" sz="700" dirty="0">
                <a:latin typeface="+mn-ea"/>
              </a:rPr>
              <a:t>인 이상인 기업</a:t>
            </a:r>
          </a:p>
        </p:txBody>
      </p:sp>
      <p:sp>
        <p:nvSpPr>
          <p:cNvPr id="275" name="TextBox 274">
            <a:extLst>
              <a:ext uri="{FF2B5EF4-FFF2-40B4-BE49-F238E27FC236}">
                <a16:creationId xmlns:a16="http://schemas.microsoft.com/office/drawing/2014/main" id="{FFC49AEA-2A8F-250C-A86A-A7751D9706C3}"/>
              </a:ext>
            </a:extLst>
          </p:cNvPr>
          <p:cNvSpPr txBox="1"/>
          <p:nvPr/>
        </p:nvSpPr>
        <p:spPr>
          <a:xfrm>
            <a:off x="5708516" y="5580142"/>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6" name="TextBox 275">
            <a:extLst>
              <a:ext uri="{FF2B5EF4-FFF2-40B4-BE49-F238E27FC236}">
                <a16:creationId xmlns:a16="http://schemas.microsoft.com/office/drawing/2014/main" id="{FFC49AEA-2A8F-250C-A86A-A7751D9706C3}"/>
              </a:ext>
            </a:extLst>
          </p:cNvPr>
          <p:cNvSpPr txBox="1"/>
          <p:nvPr/>
        </p:nvSpPr>
        <p:spPr>
          <a:xfrm>
            <a:off x="3919560" y="5833165"/>
            <a:ext cx="1480199" cy="215444"/>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장애인고용율이 </a:t>
            </a:r>
            <a:r>
              <a:rPr lang="en-US" altLang="ko-KR" sz="700" dirty="0">
                <a:latin typeface="+mn-ea"/>
              </a:rPr>
              <a:t>1.5%</a:t>
            </a:r>
            <a:r>
              <a:rPr lang="ko-KR" altLang="en-US" sz="700" dirty="0">
                <a:latin typeface="+mn-ea"/>
              </a:rPr>
              <a:t>이상이고 장애인종업원이 </a:t>
            </a:r>
            <a:r>
              <a:rPr lang="en-US" altLang="ko-KR" sz="700" dirty="0">
                <a:latin typeface="+mn-ea"/>
              </a:rPr>
              <a:t>3</a:t>
            </a:r>
            <a:r>
              <a:rPr lang="ko-KR" altLang="en-US" sz="700" dirty="0">
                <a:latin typeface="+mn-ea"/>
              </a:rPr>
              <a:t>인 이상인 기업</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832498" y="578744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8" name="직선 연결선 277">
            <a:extLst>
              <a:ext uri="{FF2B5EF4-FFF2-40B4-BE49-F238E27FC236}">
                <a16:creationId xmlns:a16="http://schemas.microsoft.com/office/drawing/2014/main" id="{E9293055-D5CD-4B9E-7F64-64B2D2CA7A52}"/>
              </a:ext>
            </a:extLst>
          </p:cNvPr>
          <p:cNvCxnSpPr/>
          <p:nvPr/>
        </p:nvCxnSpPr>
        <p:spPr>
          <a:xfrm>
            <a:off x="3832498" y="60943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9" name="TextBox 278">
            <a:extLst>
              <a:ext uri="{FF2B5EF4-FFF2-40B4-BE49-F238E27FC236}">
                <a16:creationId xmlns:a16="http://schemas.microsoft.com/office/drawing/2014/main" id="{FFC49AEA-2A8F-250C-A86A-A7751D9706C3}"/>
              </a:ext>
            </a:extLst>
          </p:cNvPr>
          <p:cNvSpPr txBox="1"/>
          <p:nvPr/>
        </p:nvSpPr>
        <p:spPr>
          <a:xfrm>
            <a:off x="5708515" y="588702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3" name="TextBox 282">
            <a:extLst>
              <a:ext uri="{FF2B5EF4-FFF2-40B4-BE49-F238E27FC236}">
                <a16:creationId xmlns:a16="http://schemas.microsoft.com/office/drawing/2014/main" id="{FFC49AEA-2A8F-250C-A86A-A7751D9706C3}"/>
              </a:ext>
            </a:extLst>
          </p:cNvPr>
          <p:cNvSpPr txBox="1"/>
          <p:nvPr/>
        </p:nvSpPr>
        <p:spPr>
          <a:xfrm>
            <a:off x="6390176" y="522518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4" name="TextBox 283">
            <a:extLst>
              <a:ext uri="{FF2B5EF4-FFF2-40B4-BE49-F238E27FC236}">
                <a16:creationId xmlns:a16="http://schemas.microsoft.com/office/drawing/2014/main" id="{FFC49AEA-2A8F-250C-A86A-A7751D9706C3}"/>
              </a:ext>
            </a:extLst>
          </p:cNvPr>
          <p:cNvSpPr txBox="1"/>
          <p:nvPr/>
        </p:nvSpPr>
        <p:spPr>
          <a:xfrm>
            <a:off x="3919560" y="532711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장애인고용 우수기업</a:t>
            </a:r>
          </a:p>
        </p:txBody>
      </p:sp>
      <p:sp>
        <p:nvSpPr>
          <p:cNvPr id="285" name="TextBox 284">
            <a:extLst>
              <a:ext uri="{FF2B5EF4-FFF2-40B4-BE49-F238E27FC236}">
                <a16:creationId xmlns:a16="http://schemas.microsoft.com/office/drawing/2014/main" id="{FFC49AEA-2A8F-250C-A86A-A7751D9706C3}"/>
              </a:ext>
            </a:extLst>
          </p:cNvPr>
          <p:cNvSpPr txBox="1"/>
          <p:nvPr/>
        </p:nvSpPr>
        <p:spPr>
          <a:xfrm>
            <a:off x="5790269" y="532711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86" name="직선 연결선 285">
            <a:extLst>
              <a:ext uri="{FF2B5EF4-FFF2-40B4-BE49-F238E27FC236}">
                <a16:creationId xmlns:a16="http://schemas.microsoft.com/office/drawing/2014/main" id="{E9293055-D5CD-4B9E-7F64-64B2D2CA7A52}"/>
              </a:ext>
            </a:extLst>
          </p:cNvPr>
          <p:cNvCxnSpPr/>
          <p:nvPr/>
        </p:nvCxnSpPr>
        <p:spPr>
          <a:xfrm>
            <a:off x="3832498" y="548056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타원 11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60409160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229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고시금액미만</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2" name="직사각형 131"/>
          <p:cNvSpPr/>
          <p:nvPr/>
        </p:nvSpPr>
        <p:spPr>
          <a:xfrm>
            <a:off x="719049" y="1504395"/>
            <a:ext cx="1639886" cy="47279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6" name="직선 연결선 135">
            <a:extLst>
              <a:ext uri="{FF2B5EF4-FFF2-40B4-BE49-F238E27FC236}">
                <a16:creationId xmlns:a16="http://schemas.microsoft.com/office/drawing/2014/main" id="{E9293055-D5CD-4B9E-7F64-64B2D2CA7A52}"/>
              </a:ext>
            </a:extLst>
          </p:cNvPr>
          <p:cNvCxnSpPr/>
          <p:nvPr/>
        </p:nvCxnSpPr>
        <p:spPr>
          <a:xfrm>
            <a:off x="719050" y="28869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3" name="TextBox 142">
            <a:extLst>
              <a:ext uri="{FF2B5EF4-FFF2-40B4-BE49-F238E27FC236}">
                <a16:creationId xmlns:a16="http://schemas.microsoft.com/office/drawing/2014/main" id="{FFC49AEA-2A8F-250C-A86A-A7751D9706C3}"/>
              </a:ext>
            </a:extLst>
          </p:cNvPr>
          <p:cNvSpPr txBox="1"/>
          <p:nvPr/>
        </p:nvSpPr>
        <p:spPr>
          <a:xfrm>
            <a:off x="3276728" y="213762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806112" y="1530354"/>
            <a:ext cx="1480199" cy="107722"/>
          </a:xfrm>
          <a:prstGeom prst="rect">
            <a:avLst/>
          </a:prstGeom>
          <a:noFill/>
        </p:spPr>
        <p:txBody>
          <a:bodyPr wrap="square" lIns="0" tIns="0" rIns="0" bIns="0" rtlCol="0">
            <a:spAutoFit/>
          </a:bodyPr>
          <a:lstStyle/>
          <a:p>
            <a:r>
              <a:rPr lang="en-US" altLang="ko-KR" sz="700" dirty="0">
                <a:latin typeface="+mn-ea"/>
              </a:rPr>
              <a:t>D.</a:t>
            </a:r>
            <a:r>
              <a:rPr lang="ko-KR" altLang="en-US" sz="700" dirty="0">
                <a:latin typeface="+mn-ea"/>
              </a:rPr>
              <a:t>신규채용 우수기업</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806112" y="1706740"/>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5%</a:t>
            </a:r>
            <a:r>
              <a:rPr lang="ko-KR" altLang="en-US" sz="700" dirty="0">
                <a:latin typeface="+mn-ea"/>
              </a:rPr>
              <a:t>이상 증가하고</a:t>
            </a:r>
            <a:r>
              <a:rPr lang="en-US" altLang="ko-KR" sz="700" dirty="0">
                <a:latin typeface="+mn-ea"/>
              </a:rPr>
              <a:t>, </a:t>
            </a:r>
            <a:r>
              <a:rPr lang="ko-KR" altLang="en-US" sz="700" dirty="0">
                <a:latin typeface="+mn-ea"/>
              </a:rPr>
              <a:t>최근 </a:t>
            </a:r>
            <a:r>
              <a:rPr lang="en-US" altLang="ko-KR" sz="700" dirty="0">
                <a:latin typeface="+mn-ea"/>
              </a:rPr>
              <a:t>3</a:t>
            </a:r>
            <a:r>
              <a:rPr lang="ko-KR" altLang="en-US" sz="700" dirty="0">
                <a:latin typeface="+mn-ea"/>
              </a:rPr>
              <a:t>개월 평균 신규고용 </a:t>
            </a:r>
            <a:r>
              <a:rPr lang="ko-KR" altLang="en-US" sz="700" dirty="0" err="1">
                <a:latin typeface="+mn-ea"/>
              </a:rPr>
              <a:t>증가인원이</a:t>
            </a:r>
            <a:r>
              <a:rPr lang="ko-KR" altLang="en-US" sz="700" dirty="0">
                <a:latin typeface="+mn-ea"/>
              </a:rPr>
              <a:t> </a:t>
            </a:r>
            <a:r>
              <a:rPr lang="en-US" altLang="ko-KR" sz="700" dirty="0">
                <a:latin typeface="+mn-ea"/>
              </a:rPr>
              <a:t>6</a:t>
            </a:r>
            <a:r>
              <a:rPr lang="ko-KR" altLang="en-US" sz="700" dirty="0">
                <a:latin typeface="+mn-ea"/>
              </a:rPr>
              <a:t>명 이상인 기업</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806112" y="2314013"/>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2.5%</a:t>
            </a:r>
            <a:r>
              <a:rPr lang="ko-KR" altLang="en-US" sz="700" dirty="0">
                <a:latin typeface="+mn-ea"/>
              </a:rPr>
              <a:t>이상 증가하고</a:t>
            </a:r>
            <a:r>
              <a:rPr lang="en-US" altLang="ko-KR" sz="700" dirty="0">
                <a:latin typeface="+mn-ea"/>
              </a:rPr>
              <a:t>, </a:t>
            </a:r>
            <a:r>
              <a:rPr lang="ko-KR" altLang="en-US" sz="700" dirty="0">
                <a:latin typeface="+mn-ea"/>
              </a:rPr>
              <a:t>최근 </a:t>
            </a:r>
            <a:r>
              <a:rPr lang="en-US" altLang="ko-KR" sz="700" dirty="0">
                <a:latin typeface="+mn-ea"/>
              </a:rPr>
              <a:t>3</a:t>
            </a:r>
            <a:r>
              <a:rPr lang="ko-KR" altLang="en-US" sz="700" dirty="0">
                <a:latin typeface="+mn-ea"/>
              </a:rPr>
              <a:t>개월 평균 신규고용 </a:t>
            </a:r>
            <a:r>
              <a:rPr lang="ko-KR" altLang="en-US" sz="700" dirty="0" err="1">
                <a:latin typeface="+mn-ea"/>
              </a:rPr>
              <a:t>증가인원이</a:t>
            </a:r>
            <a:r>
              <a:rPr lang="ko-KR" altLang="en-US" sz="700" dirty="0">
                <a:latin typeface="+mn-ea"/>
              </a:rPr>
              <a:t> </a:t>
            </a:r>
            <a:r>
              <a:rPr lang="en-US" altLang="ko-KR" sz="700" dirty="0">
                <a:latin typeface="+mn-ea"/>
              </a:rPr>
              <a:t>3</a:t>
            </a:r>
            <a:r>
              <a:rPr lang="ko-KR" altLang="en-US" sz="700" dirty="0">
                <a:latin typeface="+mn-ea"/>
              </a:rPr>
              <a:t>명 이상인 기업</a:t>
            </a:r>
          </a:p>
        </p:txBody>
      </p:sp>
      <p:cxnSp>
        <p:nvCxnSpPr>
          <p:cNvPr id="152" name="직선 연결선 151">
            <a:extLst>
              <a:ext uri="{FF2B5EF4-FFF2-40B4-BE49-F238E27FC236}">
                <a16:creationId xmlns:a16="http://schemas.microsoft.com/office/drawing/2014/main" id="{E9293055-D5CD-4B9E-7F64-64B2D2CA7A52}"/>
              </a:ext>
            </a:extLst>
          </p:cNvPr>
          <p:cNvCxnSpPr/>
          <p:nvPr/>
        </p:nvCxnSpPr>
        <p:spPr>
          <a:xfrm>
            <a:off x="719050" y="167240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19050" y="22796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5" name="TextBox 154">
            <a:extLst>
              <a:ext uri="{FF2B5EF4-FFF2-40B4-BE49-F238E27FC236}">
                <a16:creationId xmlns:a16="http://schemas.microsoft.com/office/drawing/2014/main" id="{FFC49AEA-2A8F-250C-A86A-A7751D9706C3}"/>
              </a:ext>
            </a:extLst>
          </p:cNvPr>
          <p:cNvSpPr txBox="1"/>
          <p:nvPr/>
        </p:nvSpPr>
        <p:spPr>
          <a:xfrm>
            <a:off x="2676821" y="15303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6" name="TextBox 155">
            <a:extLst>
              <a:ext uri="{FF2B5EF4-FFF2-40B4-BE49-F238E27FC236}">
                <a16:creationId xmlns:a16="http://schemas.microsoft.com/office/drawing/2014/main" id="{FFC49AEA-2A8F-250C-A86A-A7751D9706C3}"/>
              </a:ext>
            </a:extLst>
          </p:cNvPr>
          <p:cNvSpPr txBox="1"/>
          <p:nvPr/>
        </p:nvSpPr>
        <p:spPr>
          <a:xfrm>
            <a:off x="2595067" y="1922183"/>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2595067" y="2529456"/>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59" name="직사각형 158"/>
          <p:cNvSpPr/>
          <p:nvPr/>
        </p:nvSpPr>
        <p:spPr>
          <a:xfrm>
            <a:off x="3835002" y="1504396"/>
            <a:ext cx="1639886" cy="45696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3922065" y="1532932"/>
            <a:ext cx="1480199" cy="215444"/>
          </a:xfrm>
          <a:prstGeom prst="rect">
            <a:avLst/>
          </a:prstGeom>
          <a:noFill/>
        </p:spPr>
        <p:txBody>
          <a:bodyPr wrap="square" lIns="0" tIns="0" rIns="0" bIns="0" rtlCol="0">
            <a:spAutoFit/>
          </a:bodyPr>
          <a:lstStyle/>
          <a:p>
            <a:r>
              <a:rPr lang="en-US" altLang="ko-KR" sz="700" dirty="0">
                <a:latin typeface="+mn-ea"/>
              </a:rPr>
              <a:t>M.</a:t>
            </a:r>
            <a:r>
              <a:rPr lang="ko-KR" altLang="en-US" sz="700" dirty="0">
                <a:latin typeface="+mn-ea"/>
              </a:rPr>
              <a:t>중소벤처기업부장관이 선정한 ‘월드 클래스</a:t>
            </a:r>
            <a:r>
              <a:rPr lang="en-US" altLang="ko-KR" sz="700" dirty="0">
                <a:latin typeface="+mn-ea"/>
              </a:rPr>
              <a:t>300</a:t>
            </a:r>
            <a:r>
              <a:rPr lang="ko-KR" altLang="en-US" sz="700" dirty="0">
                <a:latin typeface="+mn-ea"/>
              </a:rPr>
              <a:t>기업’</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35003" y="1787381"/>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4" name="TextBox 183">
            <a:extLst>
              <a:ext uri="{FF2B5EF4-FFF2-40B4-BE49-F238E27FC236}">
                <a16:creationId xmlns:a16="http://schemas.microsoft.com/office/drawing/2014/main" id="{FFC49AEA-2A8F-250C-A86A-A7751D9706C3}"/>
              </a:ext>
            </a:extLst>
          </p:cNvPr>
          <p:cNvSpPr txBox="1"/>
          <p:nvPr/>
        </p:nvSpPr>
        <p:spPr>
          <a:xfrm>
            <a:off x="5711020" y="1586793"/>
            <a:ext cx="118623" cy="107722"/>
          </a:xfrm>
          <a:prstGeom prst="rect">
            <a:avLst/>
          </a:prstGeom>
          <a:noFill/>
        </p:spPr>
        <p:txBody>
          <a:bodyPr wrap="none" lIns="0" tIns="0" rIns="0" bIns="0" rtlCol="0">
            <a:spAutoFit/>
          </a:bodyPr>
          <a:lstStyle/>
          <a:p>
            <a:pPr algn="r"/>
            <a:r>
              <a:rPr lang="en-US" altLang="ko-KR" sz="700" dirty="0">
                <a:latin typeface="+mn-ea"/>
              </a:rPr>
              <a:t>1.0</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6390176" y="158679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13" name="직선 연결선 112">
            <a:extLst>
              <a:ext uri="{FF2B5EF4-FFF2-40B4-BE49-F238E27FC236}">
                <a16:creationId xmlns:a16="http://schemas.microsoft.com/office/drawing/2014/main" id="{E9293055-D5CD-4B9E-7F64-64B2D2CA7A52}"/>
              </a:ext>
            </a:extLst>
          </p:cNvPr>
          <p:cNvCxnSpPr/>
          <p:nvPr/>
        </p:nvCxnSpPr>
        <p:spPr>
          <a:xfrm>
            <a:off x="719050" y="35628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3276728" y="31710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806112" y="2921286"/>
            <a:ext cx="1480199" cy="107722"/>
          </a:xfrm>
          <a:prstGeom prst="rect">
            <a:avLst/>
          </a:prstGeom>
          <a:noFill/>
        </p:spPr>
        <p:txBody>
          <a:bodyPr wrap="square" lIns="0" tIns="0" rIns="0" bIns="0" rtlCol="0">
            <a:spAutoFit/>
          </a:bodyPr>
          <a:lstStyle/>
          <a:p>
            <a:r>
              <a:rPr lang="en-US" altLang="ko-KR" sz="700" dirty="0">
                <a:latin typeface="+mn-ea"/>
              </a:rPr>
              <a:t>E.</a:t>
            </a:r>
            <a:r>
              <a:rPr lang="ko-KR" altLang="en-US" sz="700" dirty="0">
                <a:latin typeface="+mn-ea"/>
              </a:rPr>
              <a:t>기술혁신 중소</a:t>
            </a:r>
            <a:r>
              <a:rPr lang="en-US" altLang="ko-KR" sz="700" dirty="0">
                <a:latin typeface="+mn-ea"/>
              </a:rPr>
              <a:t>.</a:t>
            </a:r>
            <a:r>
              <a:rPr lang="ko-KR" altLang="en-US" sz="700" dirty="0">
                <a:latin typeface="+mn-ea"/>
              </a:rPr>
              <a:t>벤처기업</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806112" y="3097672"/>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중소벤처기업부장관</a:t>
            </a:r>
            <a:r>
              <a:rPr lang="en-US" altLang="ko-KR" sz="700" dirty="0">
                <a:latin typeface="+mn-ea"/>
              </a:rPr>
              <a:t>(</a:t>
            </a:r>
            <a:r>
              <a:rPr lang="ko-KR" altLang="en-US" sz="700" dirty="0">
                <a:latin typeface="+mn-ea"/>
              </a:rPr>
              <a:t>또는 위임 받은 자</a:t>
            </a:r>
            <a:r>
              <a:rPr lang="en-US" altLang="ko-KR" sz="700" dirty="0">
                <a:latin typeface="+mn-ea"/>
              </a:rPr>
              <a:t>)</a:t>
            </a:r>
            <a:r>
              <a:rPr lang="ko-KR" altLang="en-US" sz="700" dirty="0">
                <a:latin typeface="+mn-ea"/>
              </a:rPr>
              <a:t>에 의해 </a:t>
            </a:r>
            <a:r>
              <a:rPr lang="ko-KR" altLang="en-US" sz="700" dirty="0" err="1">
                <a:latin typeface="+mn-ea"/>
              </a:rPr>
              <a:t>혁신형</a:t>
            </a:r>
            <a:r>
              <a:rPr lang="en-US" altLang="ko-KR" sz="700" dirty="0">
                <a:latin typeface="+mn-ea"/>
              </a:rPr>
              <a:t>(</a:t>
            </a:r>
            <a:r>
              <a:rPr lang="ko-KR" altLang="en-US" sz="700" dirty="0">
                <a:latin typeface="+mn-ea"/>
              </a:rPr>
              <a:t>벤처</a:t>
            </a:r>
            <a:r>
              <a:rPr lang="en-US" altLang="ko-KR" sz="700" dirty="0">
                <a:latin typeface="+mn-ea"/>
              </a:rPr>
              <a:t>, </a:t>
            </a:r>
            <a:r>
              <a:rPr lang="ko-KR" altLang="en-US" sz="700" dirty="0" err="1">
                <a:latin typeface="+mn-ea"/>
              </a:rPr>
              <a:t>기술혁신형</a:t>
            </a:r>
            <a:r>
              <a:rPr lang="en-US" altLang="ko-KR" sz="700" dirty="0">
                <a:latin typeface="+mn-ea"/>
              </a:rPr>
              <a:t>, </a:t>
            </a:r>
            <a:r>
              <a:rPr lang="ko-KR" altLang="en-US" sz="700" dirty="0" err="1">
                <a:latin typeface="+mn-ea"/>
              </a:rPr>
              <a:t>경영혁신형</a:t>
            </a:r>
            <a:r>
              <a:rPr lang="en-US" altLang="ko-KR" sz="700" dirty="0">
                <a:latin typeface="+mn-ea"/>
              </a:rPr>
              <a:t>, </a:t>
            </a:r>
            <a:r>
              <a:rPr lang="ko-KR" altLang="en-US" sz="700" dirty="0">
                <a:latin typeface="+mn-ea"/>
              </a:rPr>
              <a:t>우수그린비즈</a:t>
            </a:r>
            <a:r>
              <a:rPr lang="en-US" altLang="ko-KR" sz="700" dirty="0">
                <a:latin typeface="+mn-ea"/>
              </a:rPr>
              <a:t>) </a:t>
            </a:r>
            <a:r>
              <a:rPr lang="ko-KR" altLang="en-US" sz="700" dirty="0">
                <a:latin typeface="+mn-ea"/>
              </a:rPr>
              <a:t>중소기업으로 지정</a:t>
            </a:r>
            <a:r>
              <a:rPr lang="en-US" altLang="ko-KR" sz="700" dirty="0">
                <a:latin typeface="+mn-ea"/>
              </a:rPr>
              <a:t>(</a:t>
            </a:r>
            <a:r>
              <a:rPr lang="ko-KR" altLang="en-US" sz="700" dirty="0">
                <a:latin typeface="+mn-ea"/>
              </a:rPr>
              <a:t>확인</a:t>
            </a:r>
            <a:r>
              <a:rPr lang="en-US" altLang="ko-KR" sz="700" dirty="0">
                <a:latin typeface="+mn-ea"/>
              </a:rPr>
              <a:t>) </a:t>
            </a:r>
            <a:r>
              <a:rPr lang="ko-KR" altLang="en-US" sz="700" dirty="0">
                <a:latin typeface="+mn-ea"/>
              </a:rPr>
              <a:t>받은 자</a:t>
            </a:r>
          </a:p>
        </p:txBody>
      </p:sp>
      <p:cxnSp>
        <p:nvCxnSpPr>
          <p:cNvPr id="118" name="직선 연결선 117">
            <a:extLst>
              <a:ext uri="{FF2B5EF4-FFF2-40B4-BE49-F238E27FC236}">
                <a16:creationId xmlns:a16="http://schemas.microsoft.com/office/drawing/2014/main" id="{E9293055-D5CD-4B9E-7F64-64B2D2CA7A52}"/>
              </a:ext>
            </a:extLst>
          </p:cNvPr>
          <p:cNvCxnSpPr/>
          <p:nvPr/>
        </p:nvCxnSpPr>
        <p:spPr>
          <a:xfrm>
            <a:off x="719050" y="306334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2676821" y="29212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2595067" y="3259254"/>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3276728" y="36510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806112" y="3597223"/>
            <a:ext cx="1480199" cy="215444"/>
          </a:xfrm>
          <a:prstGeom prst="rect">
            <a:avLst/>
          </a:prstGeom>
          <a:noFill/>
        </p:spPr>
        <p:txBody>
          <a:bodyPr wrap="square" lIns="0" tIns="0" rIns="0" bIns="0" rtlCol="0">
            <a:spAutoFit/>
          </a:bodyPr>
          <a:lstStyle/>
          <a:p>
            <a:r>
              <a:rPr lang="en-US" altLang="ko-KR" sz="700" dirty="0">
                <a:latin typeface="+mn-ea"/>
              </a:rPr>
              <a:t>F.</a:t>
            </a:r>
            <a:r>
              <a:rPr lang="ko-KR" altLang="en-US" sz="700" dirty="0">
                <a:latin typeface="+mn-ea"/>
              </a:rPr>
              <a:t>산업통상자원부장관이 선정한 ‘</a:t>
            </a:r>
            <a:r>
              <a:rPr lang="ko-KR" altLang="en-US" sz="700" dirty="0" err="1">
                <a:latin typeface="+mn-ea"/>
              </a:rPr>
              <a:t>세계일류상품인증기업</a:t>
            </a:r>
            <a:r>
              <a:rPr lang="ko-KR" altLang="en-US" sz="700" dirty="0">
                <a:latin typeface="+mn-ea"/>
              </a:rPr>
              <a:t>’</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2595067" y="3651084"/>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62" name="직선 연결선 161">
            <a:extLst>
              <a:ext uri="{FF2B5EF4-FFF2-40B4-BE49-F238E27FC236}">
                <a16:creationId xmlns:a16="http://schemas.microsoft.com/office/drawing/2014/main" id="{E9293055-D5CD-4B9E-7F64-64B2D2CA7A52}"/>
              </a:ext>
            </a:extLst>
          </p:cNvPr>
          <p:cNvCxnSpPr/>
          <p:nvPr/>
        </p:nvCxnSpPr>
        <p:spPr>
          <a:xfrm>
            <a:off x="719050" y="38469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8" name="TextBox 237">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3276728" y="393519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3" name="TextBox 102">
            <a:extLst>
              <a:ext uri="{FF2B5EF4-FFF2-40B4-BE49-F238E27FC236}">
                <a16:creationId xmlns:a16="http://schemas.microsoft.com/office/drawing/2014/main" id="{FFC49AEA-2A8F-250C-A86A-A7751D9706C3}"/>
              </a:ext>
            </a:extLst>
          </p:cNvPr>
          <p:cNvSpPr txBox="1"/>
          <p:nvPr/>
        </p:nvSpPr>
        <p:spPr>
          <a:xfrm>
            <a:off x="806112" y="3881331"/>
            <a:ext cx="1480199" cy="215444"/>
          </a:xfrm>
          <a:prstGeom prst="rect">
            <a:avLst/>
          </a:prstGeom>
          <a:noFill/>
        </p:spPr>
        <p:txBody>
          <a:bodyPr wrap="square" lIns="0" tIns="0" rIns="0" bIns="0" rtlCol="0">
            <a:spAutoFit/>
          </a:bodyPr>
          <a:lstStyle/>
          <a:p>
            <a:r>
              <a:rPr lang="en-US" altLang="ko-KR" sz="700" dirty="0">
                <a:latin typeface="+mn-ea"/>
              </a:rPr>
              <a:t>G.’</a:t>
            </a:r>
            <a:r>
              <a:rPr lang="ko-KR" altLang="en-US" sz="700" dirty="0">
                <a:latin typeface="+mn-ea"/>
              </a:rPr>
              <a:t>중소벤처기업부장관이 지정한 수출유망중소기업’</a:t>
            </a:r>
          </a:p>
        </p:txBody>
      </p:sp>
      <p:sp>
        <p:nvSpPr>
          <p:cNvPr id="104" name="TextBox 103">
            <a:extLst>
              <a:ext uri="{FF2B5EF4-FFF2-40B4-BE49-F238E27FC236}">
                <a16:creationId xmlns:a16="http://schemas.microsoft.com/office/drawing/2014/main" id="{FFC49AEA-2A8F-250C-A86A-A7751D9706C3}"/>
              </a:ext>
            </a:extLst>
          </p:cNvPr>
          <p:cNvSpPr txBox="1"/>
          <p:nvPr/>
        </p:nvSpPr>
        <p:spPr>
          <a:xfrm>
            <a:off x="2595067" y="393519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19050" y="41311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6" name="TextBox 105">
            <a:extLst>
              <a:ext uri="{FF2B5EF4-FFF2-40B4-BE49-F238E27FC236}">
                <a16:creationId xmlns:a16="http://schemas.microsoft.com/office/drawing/2014/main" id="{FFC49AEA-2A8F-250C-A86A-A7751D9706C3}"/>
              </a:ext>
            </a:extLst>
          </p:cNvPr>
          <p:cNvSpPr txBox="1"/>
          <p:nvPr/>
        </p:nvSpPr>
        <p:spPr>
          <a:xfrm>
            <a:off x="3276728" y="421930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07" name="TextBox 106">
            <a:extLst>
              <a:ext uri="{FF2B5EF4-FFF2-40B4-BE49-F238E27FC236}">
                <a16:creationId xmlns:a16="http://schemas.microsoft.com/office/drawing/2014/main" id="{FFC49AEA-2A8F-250C-A86A-A7751D9706C3}"/>
              </a:ext>
            </a:extLst>
          </p:cNvPr>
          <p:cNvSpPr txBox="1"/>
          <p:nvPr/>
        </p:nvSpPr>
        <p:spPr>
          <a:xfrm>
            <a:off x="806112" y="4165439"/>
            <a:ext cx="1480199" cy="215444"/>
          </a:xfrm>
          <a:prstGeom prst="rect">
            <a:avLst/>
          </a:prstGeom>
          <a:noFill/>
        </p:spPr>
        <p:txBody>
          <a:bodyPr wrap="square" lIns="0" tIns="0" rIns="0" bIns="0" rtlCol="0">
            <a:spAutoFit/>
          </a:bodyPr>
          <a:lstStyle/>
          <a:p>
            <a:r>
              <a:rPr lang="en-US" altLang="ko-KR" sz="700" dirty="0">
                <a:latin typeface="+mn-ea"/>
              </a:rPr>
              <a:t>H.</a:t>
            </a:r>
            <a:r>
              <a:rPr lang="ko-KR" altLang="en-US" sz="700" dirty="0">
                <a:latin typeface="+mn-ea"/>
              </a:rPr>
              <a:t>안전행정부장관이 확인해준 ‘비상대비 중점관리 대상업체’</a:t>
            </a:r>
          </a:p>
        </p:txBody>
      </p:sp>
      <p:sp>
        <p:nvSpPr>
          <p:cNvPr id="108" name="TextBox 107">
            <a:extLst>
              <a:ext uri="{FF2B5EF4-FFF2-40B4-BE49-F238E27FC236}">
                <a16:creationId xmlns:a16="http://schemas.microsoft.com/office/drawing/2014/main" id="{FFC49AEA-2A8F-250C-A86A-A7751D9706C3}"/>
              </a:ext>
            </a:extLst>
          </p:cNvPr>
          <p:cNvSpPr txBox="1"/>
          <p:nvPr/>
        </p:nvSpPr>
        <p:spPr>
          <a:xfrm>
            <a:off x="2595067" y="4219300"/>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09" name="직선 연결선 108">
            <a:extLst>
              <a:ext uri="{FF2B5EF4-FFF2-40B4-BE49-F238E27FC236}">
                <a16:creationId xmlns:a16="http://schemas.microsoft.com/office/drawing/2014/main" id="{E9293055-D5CD-4B9E-7F64-64B2D2CA7A52}"/>
              </a:ext>
            </a:extLst>
          </p:cNvPr>
          <p:cNvCxnSpPr/>
          <p:nvPr/>
        </p:nvCxnSpPr>
        <p:spPr>
          <a:xfrm>
            <a:off x="719050" y="44152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0" name="TextBox 109">
            <a:extLst>
              <a:ext uri="{FF2B5EF4-FFF2-40B4-BE49-F238E27FC236}">
                <a16:creationId xmlns:a16="http://schemas.microsoft.com/office/drawing/2014/main" id="{FFC49AEA-2A8F-250C-A86A-A7751D9706C3}"/>
              </a:ext>
            </a:extLst>
          </p:cNvPr>
          <p:cNvSpPr txBox="1"/>
          <p:nvPr/>
        </p:nvSpPr>
        <p:spPr>
          <a:xfrm>
            <a:off x="3276728" y="450340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1" name="TextBox 110">
            <a:extLst>
              <a:ext uri="{FF2B5EF4-FFF2-40B4-BE49-F238E27FC236}">
                <a16:creationId xmlns:a16="http://schemas.microsoft.com/office/drawing/2014/main" id="{FFC49AEA-2A8F-250C-A86A-A7751D9706C3}"/>
              </a:ext>
            </a:extLst>
          </p:cNvPr>
          <p:cNvSpPr txBox="1"/>
          <p:nvPr/>
        </p:nvSpPr>
        <p:spPr>
          <a:xfrm>
            <a:off x="806112" y="4449547"/>
            <a:ext cx="1480199" cy="215444"/>
          </a:xfrm>
          <a:prstGeom prst="rect">
            <a:avLst/>
          </a:prstGeom>
          <a:noFill/>
        </p:spPr>
        <p:txBody>
          <a:bodyPr wrap="square" lIns="0" tIns="0" rIns="0" bIns="0" rtlCol="0">
            <a:spAutoFit/>
          </a:bodyPr>
          <a:lstStyle/>
          <a:p>
            <a:r>
              <a:rPr lang="en-US" altLang="ko-KR" sz="700" dirty="0">
                <a:latin typeface="+mn-ea"/>
              </a:rPr>
              <a:t>I.</a:t>
            </a:r>
            <a:r>
              <a:rPr lang="ko-KR" altLang="en-US" sz="700" dirty="0">
                <a:latin typeface="+mn-ea"/>
              </a:rPr>
              <a:t>여성가족부에서 지정한 가족친화 </a:t>
            </a:r>
            <a:r>
              <a:rPr lang="ko-KR" altLang="en-US" sz="700" dirty="0" err="1">
                <a:latin typeface="+mn-ea"/>
              </a:rPr>
              <a:t>인증기업</a:t>
            </a:r>
            <a:endParaRPr lang="ko-KR" altLang="en-US"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2595067" y="4503408"/>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26" name="직선 연결선 125">
            <a:extLst>
              <a:ext uri="{FF2B5EF4-FFF2-40B4-BE49-F238E27FC236}">
                <a16:creationId xmlns:a16="http://schemas.microsoft.com/office/drawing/2014/main" id="{E9293055-D5CD-4B9E-7F64-64B2D2CA7A52}"/>
              </a:ext>
            </a:extLst>
          </p:cNvPr>
          <p:cNvCxnSpPr/>
          <p:nvPr/>
        </p:nvCxnSpPr>
        <p:spPr>
          <a:xfrm>
            <a:off x="719050" y="46993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3276728" y="478751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806112" y="4733655"/>
            <a:ext cx="1480199" cy="215444"/>
          </a:xfrm>
          <a:prstGeom prst="rect">
            <a:avLst/>
          </a:prstGeom>
          <a:noFill/>
        </p:spPr>
        <p:txBody>
          <a:bodyPr wrap="square" lIns="0" tIns="0" rIns="0" bIns="0" rtlCol="0">
            <a:spAutoFit/>
          </a:bodyPr>
          <a:lstStyle/>
          <a:p>
            <a:r>
              <a:rPr lang="en-US" altLang="ko-KR" sz="700" dirty="0">
                <a:latin typeface="+mn-ea"/>
              </a:rPr>
              <a:t>J.</a:t>
            </a:r>
            <a:r>
              <a:rPr lang="ko-KR" altLang="en-US" sz="700" dirty="0">
                <a:latin typeface="+mn-ea"/>
              </a:rPr>
              <a:t>고용노동부장관이 인증한 사회적 기업</a:t>
            </a:r>
          </a:p>
        </p:txBody>
      </p:sp>
      <p:sp>
        <p:nvSpPr>
          <p:cNvPr id="130" name="TextBox 129">
            <a:extLst>
              <a:ext uri="{FF2B5EF4-FFF2-40B4-BE49-F238E27FC236}">
                <a16:creationId xmlns:a16="http://schemas.microsoft.com/office/drawing/2014/main" id="{FFC49AEA-2A8F-250C-A86A-A7751D9706C3}"/>
              </a:ext>
            </a:extLst>
          </p:cNvPr>
          <p:cNvSpPr txBox="1"/>
          <p:nvPr/>
        </p:nvSpPr>
        <p:spPr>
          <a:xfrm>
            <a:off x="2595067" y="478751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31" name="직선 연결선 130">
            <a:extLst>
              <a:ext uri="{FF2B5EF4-FFF2-40B4-BE49-F238E27FC236}">
                <a16:creationId xmlns:a16="http://schemas.microsoft.com/office/drawing/2014/main" id="{E9293055-D5CD-4B9E-7F64-64B2D2CA7A52}"/>
              </a:ext>
            </a:extLst>
          </p:cNvPr>
          <p:cNvCxnSpPr/>
          <p:nvPr/>
        </p:nvCxnSpPr>
        <p:spPr>
          <a:xfrm>
            <a:off x="719050" y="49834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3" name="TextBox 132">
            <a:extLst>
              <a:ext uri="{FF2B5EF4-FFF2-40B4-BE49-F238E27FC236}">
                <a16:creationId xmlns:a16="http://schemas.microsoft.com/office/drawing/2014/main" id="{FFC49AEA-2A8F-250C-A86A-A7751D9706C3}"/>
              </a:ext>
            </a:extLst>
          </p:cNvPr>
          <p:cNvSpPr txBox="1"/>
          <p:nvPr/>
        </p:nvSpPr>
        <p:spPr>
          <a:xfrm>
            <a:off x="3276728" y="51254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806112" y="5017763"/>
            <a:ext cx="1480199" cy="323165"/>
          </a:xfrm>
          <a:prstGeom prst="rect">
            <a:avLst/>
          </a:prstGeom>
          <a:noFill/>
        </p:spPr>
        <p:txBody>
          <a:bodyPr wrap="square" lIns="0" tIns="0" rIns="0" bIns="0" rtlCol="0">
            <a:spAutoFit/>
          </a:bodyPr>
          <a:lstStyle/>
          <a:p>
            <a:r>
              <a:rPr lang="en-US" altLang="ko-KR" sz="700" dirty="0">
                <a:latin typeface="+mn-ea"/>
              </a:rPr>
              <a:t>K.’</a:t>
            </a:r>
            <a:r>
              <a:rPr lang="ko-KR" altLang="en-US" sz="700" dirty="0">
                <a:latin typeface="+mn-ea"/>
              </a:rPr>
              <a:t>중소기업인력지원특별법’ 제</a:t>
            </a:r>
            <a:r>
              <a:rPr lang="en-US" altLang="ko-KR" sz="700" dirty="0">
                <a:latin typeface="+mn-ea"/>
              </a:rPr>
              <a:t>18</a:t>
            </a:r>
            <a:r>
              <a:rPr lang="ko-KR" altLang="en-US" sz="700" dirty="0">
                <a:latin typeface="+mn-ea"/>
              </a:rPr>
              <a:t>조의</a:t>
            </a:r>
            <a:r>
              <a:rPr lang="en-US" altLang="ko-KR" sz="700" dirty="0">
                <a:latin typeface="+mn-ea"/>
              </a:rPr>
              <a:t>2</a:t>
            </a:r>
            <a:r>
              <a:rPr lang="ko-KR" altLang="en-US" sz="700" dirty="0">
                <a:latin typeface="+mn-ea"/>
              </a:rPr>
              <a:t>에 </a:t>
            </a:r>
            <a:r>
              <a:rPr lang="ko-KR" altLang="en-US" sz="700" dirty="0" err="1">
                <a:latin typeface="+mn-ea"/>
              </a:rPr>
              <a:t>따른’인재육성형</a:t>
            </a:r>
            <a:r>
              <a:rPr lang="ko-KR" altLang="en-US" sz="700" dirty="0">
                <a:latin typeface="+mn-ea"/>
              </a:rPr>
              <a:t> </a:t>
            </a:r>
            <a:r>
              <a:rPr lang="ko-KR" altLang="en-US" sz="700" dirty="0" err="1">
                <a:latin typeface="+mn-ea"/>
              </a:rPr>
              <a:t>중소기업’으로</a:t>
            </a:r>
            <a:r>
              <a:rPr lang="ko-KR" altLang="en-US" sz="700" dirty="0">
                <a:latin typeface="+mn-ea"/>
              </a:rPr>
              <a:t> </a:t>
            </a:r>
            <a:r>
              <a:rPr lang="ko-KR" altLang="en-US" sz="700" dirty="0" err="1">
                <a:latin typeface="+mn-ea"/>
              </a:rPr>
              <a:t>지정받은</a:t>
            </a:r>
            <a:r>
              <a:rPr lang="ko-KR" altLang="en-US" sz="700" dirty="0">
                <a:latin typeface="+mn-ea"/>
              </a:rPr>
              <a:t> 기업</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2595067" y="512548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139" name="직선 연결선 138">
            <a:extLst>
              <a:ext uri="{FF2B5EF4-FFF2-40B4-BE49-F238E27FC236}">
                <a16:creationId xmlns:a16="http://schemas.microsoft.com/office/drawing/2014/main" id="{E9293055-D5CD-4B9E-7F64-64B2D2CA7A52}"/>
              </a:ext>
            </a:extLst>
          </p:cNvPr>
          <p:cNvCxnSpPr/>
          <p:nvPr/>
        </p:nvCxnSpPr>
        <p:spPr>
          <a:xfrm>
            <a:off x="719050" y="53752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0" name="TextBox 139">
            <a:extLst>
              <a:ext uri="{FF2B5EF4-FFF2-40B4-BE49-F238E27FC236}">
                <a16:creationId xmlns:a16="http://schemas.microsoft.com/office/drawing/2014/main" id="{FFC49AEA-2A8F-250C-A86A-A7751D9706C3}"/>
              </a:ext>
            </a:extLst>
          </p:cNvPr>
          <p:cNvSpPr txBox="1"/>
          <p:nvPr/>
        </p:nvSpPr>
        <p:spPr>
          <a:xfrm>
            <a:off x="3276728" y="574991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806112" y="5409592"/>
            <a:ext cx="1480199" cy="107722"/>
          </a:xfrm>
          <a:prstGeom prst="rect">
            <a:avLst/>
          </a:prstGeom>
          <a:noFill/>
        </p:spPr>
        <p:txBody>
          <a:bodyPr wrap="square" lIns="0" tIns="0" rIns="0" bIns="0" rtlCol="0">
            <a:spAutoFit/>
          </a:bodyPr>
          <a:lstStyle/>
          <a:p>
            <a:r>
              <a:rPr lang="en-US" altLang="ko-KR" sz="700" dirty="0">
                <a:latin typeface="+mn-ea"/>
              </a:rPr>
              <a:t>L.</a:t>
            </a:r>
            <a:r>
              <a:rPr lang="ko-KR" altLang="en-US" sz="700" dirty="0">
                <a:latin typeface="+mn-ea"/>
              </a:rPr>
              <a:t>수출우수기업</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2595003" y="5551646"/>
            <a:ext cx="118687" cy="430887"/>
          </a:xfrm>
          <a:prstGeom prst="rect">
            <a:avLst/>
          </a:prstGeom>
          <a:noFill/>
        </p:spPr>
        <p:txBody>
          <a:bodyPr wrap="none" lIns="0" tIns="0" rIns="0" bIns="0" rtlCol="0">
            <a:spAutoFit/>
          </a:bodyPr>
          <a:lstStyle/>
          <a:p>
            <a:pPr algn="r"/>
            <a:r>
              <a:rPr lang="en-US" altLang="ko-KR" sz="700" dirty="0">
                <a:latin typeface="+mn-ea"/>
              </a:rPr>
              <a:t>0.2</a:t>
            </a:r>
          </a:p>
          <a:p>
            <a:pPr algn="r"/>
            <a:endParaRPr lang="en-US" altLang="ko-KR" sz="700" dirty="0">
              <a:latin typeface="+mn-ea"/>
            </a:endParaRPr>
          </a:p>
          <a:p>
            <a:pPr algn="r"/>
            <a:endParaRPr lang="en-US" altLang="ko-KR" sz="700" dirty="0">
              <a:latin typeface="+mn-ea"/>
            </a:endParaRPr>
          </a:p>
          <a:p>
            <a:pPr algn="r"/>
            <a:r>
              <a:rPr lang="en-US" altLang="ko-KR" sz="700" dirty="0">
                <a:latin typeface="+mn-ea"/>
              </a:rPr>
              <a:t>0.1</a:t>
            </a:r>
            <a:endParaRPr lang="ko-KR" altLang="en-US" sz="700" dirty="0">
              <a:latin typeface="+mn-ea"/>
            </a:endParaRP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719050" y="6232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806112" y="5551646"/>
            <a:ext cx="1480199" cy="646331"/>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수출액 </a:t>
            </a:r>
            <a:r>
              <a:rPr lang="en-US" altLang="ko-KR" sz="700" dirty="0">
                <a:latin typeface="+mn-ea"/>
              </a:rPr>
              <a:t>100</a:t>
            </a:r>
            <a:r>
              <a:rPr lang="ko-KR" altLang="en-US" sz="700" dirty="0" err="1">
                <a:latin typeface="+mn-ea"/>
              </a:rPr>
              <a:t>만불이상이면서</a:t>
            </a:r>
            <a:r>
              <a:rPr lang="ko-KR" altLang="en-US" sz="700" dirty="0">
                <a:latin typeface="+mn-ea"/>
              </a:rPr>
              <a:t> 수출증가율 </a:t>
            </a:r>
            <a:r>
              <a:rPr lang="en-US" altLang="ko-KR" sz="700" dirty="0">
                <a:latin typeface="+mn-ea"/>
              </a:rPr>
              <a:t>10%</a:t>
            </a:r>
            <a:r>
              <a:rPr lang="ko-KR" altLang="en-US" sz="700" dirty="0">
                <a:latin typeface="+mn-ea"/>
              </a:rPr>
              <a:t>이상 또는 수출액 </a:t>
            </a:r>
            <a:r>
              <a:rPr lang="en-US" altLang="ko-KR" sz="700" dirty="0">
                <a:latin typeface="+mn-ea"/>
              </a:rPr>
              <a:t>10</a:t>
            </a:r>
            <a:r>
              <a:rPr lang="ko-KR" altLang="en-US" sz="700" dirty="0">
                <a:latin typeface="+mn-ea"/>
              </a:rPr>
              <a:t>만불 이상이면서 수출 증가율 </a:t>
            </a:r>
            <a:r>
              <a:rPr lang="en-US" altLang="ko-KR" sz="700" dirty="0">
                <a:latin typeface="+mn-ea"/>
              </a:rPr>
              <a:t>30%</a:t>
            </a:r>
            <a:r>
              <a:rPr lang="ko-KR" altLang="en-US" sz="700" dirty="0">
                <a:latin typeface="+mn-ea"/>
              </a:rPr>
              <a:t>이상</a:t>
            </a:r>
          </a:p>
          <a:p>
            <a:r>
              <a:rPr lang="en-US" altLang="ko-KR" sz="700" dirty="0">
                <a:latin typeface="+mn-ea"/>
              </a:rPr>
              <a:t>  - </a:t>
            </a:r>
            <a:r>
              <a:rPr lang="ko-KR" altLang="en-US" sz="700" dirty="0">
                <a:latin typeface="+mn-ea"/>
              </a:rPr>
              <a:t>수출액 </a:t>
            </a:r>
            <a:r>
              <a:rPr lang="en-US" altLang="ko-KR" sz="700" dirty="0">
                <a:latin typeface="+mn-ea"/>
              </a:rPr>
              <a:t>100</a:t>
            </a:r>
            <a:r>
              <a:rPr lang="ko-KR" altLang="en-US" sz="700" dirty="0">
                <a:latin typeface="+mn-ea"/>
              </a:rPr>
              <a:t>만불 이상 또는 수출액 </a:t>
            </a:r>
            <a:r>
              <a:rPr lang="en-US" altLang="ko-KR" sz="700" dirty="0">
                <a:latin typeface="+mn-ea"/>
              </a:rPr>
              <a:t>10</a:t>
            </a:r>
            <a:r>
              <a:rPr lang="ko-KR" altLang="en-US" sz="700" dirty="0">
                <a:latin typeface="+mn-ea"/>
              </a:rPr>
              <a:t>만불 이상이면서 수출증가율 </a:t>
            </a:r>
            <a:r>
              <a:rPr lang="en-US" altLang="ko-KR" sz="700" dirty="0">
                <a:latin typeface="+mn-ea"/>
              </a:rPr>
              <a:t>10%</a:t>
            </a:r>
            <a:r>
              <a:rPr lang="ko-KR" altLang="en-US" sz="700" dirty="0">
                <a:latin typeface="+mn-ea"/>
              </a:rPr>
              <a:t>이상</a:t>
            </a:r>
          </a:p>
        </p:txBody>
      </p:sp>
      <p:cxnSp>
        <p:nvCxnSpPr>
          <p:cNvPr id="167" name="직선 연결선 166">
            <a:extLst>
              <a:ext uri="{FF2B5EF4-FFF2-40B4-BE49-F238E27FC236}">
                <a16:creationId xmlns:a16="http://schemas.microsoft.com/office/drawing/2014/main" id="{E9293055-D5CD-4B9E-7F64-64B2D2CA7A52}"/>
              </a:ext>
            </a:extLst>
          </p:cNvPr>
          <p:cNvCxnSpPr/>
          <p:nvPr/>
        </p:nvCxnSpPr>
        <p:spPr>
          <a:xfrm>
            <a:off x="719050" y="14960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TextBox 169">
            <a:extLst>
              <a:ext uri="{FF2B5EF4-FFF2-40B4-BE49-F238E27FC236}">
                <a16:creationId xmlns:a16="http://schemas.microsoft.com/office/drawing/2014/main" id="{FFC49AEA-2A8F-250C-A86A-A7751D9706C3}"/>
              </a:ext>
            </a:extLst>
          </p:cNvPr>
          <p:cNvSpPr txBox="1"/>
          <p:nvPr/>
        </p:nvSpPr>
        <p:spPr>
          <a:xfrm>
            <a:off x="3922065" y="1826386"/>
            <a:ext cx="1480199" cy="430887"/>
          </a:xfrm>
          <a:prstGeom prst="rect">
            <a:avLst/>
          </a:prstGeom>
          <a:noFill/>
        </p:spPr>
        <p:txBody>
          <a:bodyPr wrap="square" lIns="0" tIns="0" rIns="0" bIns="0" rtlCol="0">
            <a:spAutoFit/>
          </a:bodyPr>
          <a:lstStyle/>
          <a:p>
            <a:r>
              <a:rPr lang="en-US" altLang="ko-KR" sz="700" dirty="0">
                <a:latin typeface="+mn-ea"/>
              </a:rPr>
              <a:t>N.</a:t>
            </a:r>
            <a:r>
              <a:rPr lang="ko-KR" altLang="en-US" sz="700" dirty="0">
                <a:latin typeface="+mn-ea"/>
              </a:rPr>
              <a:t>개성공단 입주기업으로서 통일부장관</a:t>
            </a:r>
            <a:r>
              <a:rPr lang="en-US" altLang="ko-KR" sz="700" dirty="0">
                <a:latin typeface="+mn-ea"/>
              </a:rPr>
              <a:t>(</a:t>
            </a:r>
            <a:r>
              <a:rPr lang="ko-KR" altLang="en-US" sz="700" dirty="0">
                <a:latin typeface="+mn-ea"/>
              </a:rPr>
              <a:t>또는 위임을 </a:t>
            </a:r>
            <a:r>
              <a:rPr lang="ko-KR" altLang="en-US" sz="700" dirty="0" err="1">
                <a:latin typeface="+mn-ea"/>
              </a:rPr>
              <a:t>받은자</a:t>
            </a:r>
            <a:r>
              <a:rPr lang="en-US" altLang="ko-KR" sz="700" dirty="0">
                <a:latin typeface="+mn-ea"/>
              </a:rPr>
              <a:t>) </a:t>
            </a:r>
            <a:r>
              <a:rPr lang="ko-KR" altLang="en-US" sz="700" dirty="0">
                <a:latin typeface="+mn-ea"/>
              </a:rPr>
              <a:t>으로부터 기업등록증을 발급받는 자</a:t>
            </a:r>
            <a:r>
              <a:rPr lang="en-US" altLang="ko-KR" sz="700" dirty="0">
                <a:latin typeface="+mn-ea"/>
              </a:rPr>
              <a:t>(2018</a:t>
            </a:r>
            <a:r>
              <a:rPr lang="ko-KR" altLang="en-US" sz="700" dirty="0">
                <a:latin typeface="+mn-ea"/>
              </a:rPr>
              <a:t>년</a:t>
            </a:r>
            <a:r>
              <a:rPr lang="en-US" altLang="ko-KR" sz="700" dirty="0">
                <a:latin typeface="+mn-ea"/>
              </a:rPr>
              <a:t>4</a:t>
            </a:r>
            <a:r>
              <a:rPr lang="ko-KR" altLang="en-US" sz="700" dirty="0">
                <a:latin typeface="+mn-ea"/>
              </a:rPr>
              <a:t>월 </a:t>
            </a:r>
            <a:r>
              <a:rPr lang="en-US" altLang="ko-KR" sz="700" dirty="0">
                <a:latin typeface="+mn-ea"/>
              </a:rPr>
              <a:t>1</a:t>
            </a:r>
            <a:r>
              <a:rPr lang="ko-KR" altLang="en-US" sz="700" dirty="0">
                <a:latin typeface="+mn-ea"/>
              </a:rPr>
              <a:t>일 이전</a:t>
            </a:r>
            <a:r>
              <a:rPr lang="en-US" altLang="ko-KR" sz="700" dirty="0">
                <a:latin typeface="+mn-ea"/>
              </a:rPr>
              <a:t>) </a:t>
            </a:r>
            <a:r>
              <a:rPr lang="ko-KR" altLang="en-US" sz="700" dirty="0">
                <a:latin typeface="+mn-ea"/>
              </a:rPr>
              <a:t>입찰공고에 한하여 적용</a:t>
            </a:r>
            <a:r>
              <a:rPr lang="en-US" altLang="ko-KR" sz="700" dirty="0">
                <a:latin typeface="+mn-ea"/>
              </a:rPr>
              <a:t>)</a:t>
            </a:r>
          </a:p>
        </p:txBody>
      </p:sp>
      <p:cxnSp>
        <p:nvCxnSpPr>
          <p:cNvPr id="171" name="직선 연결선 170">
            <a:extLst>
              <a:ext uri="{FF2B5EF4-FFF2-40B4-BE49-F238E27FC236}">
                <a16:creationId xmlns:a16="http://schemas.microsoft.com/office/drawing/2014/main" id="{E9293055-D5CD-4B9E-7F64-64B2D2CA7A52}"/>
              </a:ext>
            </a:extLst>
          </p:cNvPr>
          <p:cNvCxnSpPr/>
          <p:nvPr/>
        </p:nvCxnSpPr>
        <p:spPr>
          <a:xfrm>
            <a:off x="3835003" y="2296278"/>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2" name="TextBox 171">
            <a:extLst>
              <a:ext uri="{FF2B5EF4-FFF2-40B4-BE49-F238E27FC236}">
                <a16:creationId xmlns:a16="http://schemas.microsoft.com/office/drawing/2014/main" id="{FFC49AEA-2A8F-250C-A86A-A7751D9706C3}"/>
              </a:ext>
            </a:extLst>
          </p:cNvPr>
          <p:cNvSpPr txBox="1"/>
          <p:nvPr/>
        </p:nvSpPr>
        <p:spPr>
          <a:xfrm>
            <a:off x="5711020" y="1987968"/>
            <a:ext cx="118623" cy="107722"/>
          </a:xfrm>
          <a:prstGeom prst="rect">
            <a:avLst/>
          </a:prstGeom>
          <a:noFill/>
        </p:spPr>
        <p:txBody>
          <a:bodyPr wrap="none" lIns="0" tIns="0" rIns="0" bIns="0" rtlCol="0">
            <a:spAutoFit/>
          </a:bodyPr>
          <a:lstStyle/>
          <a:p>
            <a:pPr algn="r"/>
            <a:r>
              <a:rPr lang="en-US" altLang="ko-KR" sz="700" dirty="0">
                <a:latin typeface="+mn-ea"/>
              </a:rPr>
              <a:t>1.0</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6390176" y="19879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4" name="TextBox 173">
            <a:extLst>
              <a:ext uri="{FF2B5EF4-FFF2-40B4-BE49-F238E27FC236}">
                <a16:creationId xmlns:a16="http://schemas.microsoft.com/office/drawing/2014/main" id="{FFC49AEA-2A8F-250C-A86A-A7751D9706C3}"/>
              </a:ext>
            </a:extLst>
          </p:cNvPr>
          <p:cNvSpPr txBox="1"/>
          <p:nvPr/>
        </p:nvSpPr>
        <p:spPr>
          <a:xfrm>
            <a:off x="3922065" y="2335283"/>
            <a:ext cx="1480199" cy="646331"/>
          </a:xfrm>
          <a:prstGeom prst="rect">
            <a:avLst/>
          </a:prstGeom>
          <a:noFill/>
        </p:spPr>
        <p:txBody>
          <a:bodyPr wrap="square" lIns="0" tIns="0" rIns="0" bIns="0" rtlCol="0">
            <a:spAutoFit/>
          </a:bodyPr>
          <a:lstStyle/>
          <a:p>
            <a:r>
              <a:rPr lang="en-US" altLang="ko-KR" sz="700" dirty="0">
                <a:latin typeface="+mn-ea"/>
              </a:rPr>
              <a:t>O.</a:t>
            </a:r>
            <a:r>
              <a:rPr lang="ko-KR" altLang="en-US" sz="700" dirty="0">
                <a:latin typeface="+mn-ea"/>
              </a:rPr>
              <a:t>정규직전환기업</a:t>
            </a:r>
          </a:p>
          <a:p>
            <a:r>
              <a:rPr lang="en-US" altLang="ko-KR" sz="700" dirty="0">
                <a:latin typeface="+mn-ea"/>
              </a:rPr>
              <a:t>- </a:t>
            </a:r>
            <a:r>
              <a:rPr lang="ko-KR" altLang="en-US" sz="700" dirty="0">
                <a:latin typeface="+mn-ea"/>
              </a:rPr>
              <a:t>고용노동부로부터 정규직 전환 지원사업 대상자로 승인을 받은 기업으로서</a:t>
            </a:r>
            <a:r>
              <a:rPr lang="en-US" altLang="ko-KR" sz="700" dirty="0">
                <a:latin typeface="+mn-ea"/>
              </a:rPr>
              <a:t>, </a:t>
            </a:r>
            <a:r>
              <a:rPr lang="ko-KR" altLang="en-US" sz="700" dirty="0">
                <a:latin typeface="+mn-ea"/>
              </a:rPr>
              <a:t>입찰서 </a:t>
            </a:r>
            <a:r>
              <a:rPr lang="ko-KR" altLang="en-US" sz="700" dirty="0" err="1">
                <a:latin typeface="+mn-ea"/>
              </a:rPr>
              <a:t>제출마감일</a:t>
            </a:r>
            <a:r>
              <a:rPr lang="ko-KR" altLang="en-US" sz="700" dirty="0">
                <a:latin typeface="+mn-ea"/>
              </a:rPr>
              <a:t> 전일 기준 최근 </a:t>
            </a:r>
            <a:r>
              <a:rPr lang="en-US" altLang="ko-KR" sz="700" dirty="0">
                <a:latin typeface="+mn-ea"/>
              </a:rPr>
              <a:t>1</a:t>
            </a:r>
            <a:r>
              <a:rPr lang="ko-KR" altLang="en-US" sz="700" dirty="0">
                <a:latin typeface="+mn-ea"/>
              </a:rPr>
              <a:t>년 이내에 정규직 전환을 이행한 기업</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5711020" y="2604587"/>
            <a:ext cx="118623" cy="107722"/>
          </a:xfrm>
          <a:prstGeom prst="rect">
            <a:avLst/>
          </a:prstGeom>
          <a:noFill/>
        </p:spPr>
        <p:txBody>
          <a:bodyPr wrap="none" lIns="0" tIns="0" rIns="0" bIns="0" rtlCol="0">
            <a:spAutoFit/>
          </a:bodyPr>
          <a:lstStyle/>
          <a:p>
            <a:pPr algn="r"/>
            <a:r>
              <a:rPr lang="en-US" altLang="ko-KR" sz="700" dirty="0">
                <a:latin typeface="+mn-ea"/>
              </a:rPr>
              <a:t>2.0</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6390176" y="260458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9" name="TextBox 17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cxnSp>
        <p:nvCxnSpPr>
          <p:cNvPr id="180" name="직선 연결선 179">
            <a:extLst>
              <a:ext uri="{FF2B5EF4-FFF2-40B4-BE49-F238E27FC236}">
                <a16:creationId xmlns:a16="http://schemas.microsoft.com/office/drawing/2014/main" id="{E9293055-D5CD-4B9E-7F64-64B2D2CA7A52}"/>
              </a:ext>
            </a:extLst>
          </p:cNvPr>
          <p:cNvCxnSpPr/>
          <p:nvPr/>
        </p:nvCxnSpPr>
        <p:spPr>
          <a:xfrm>
            <a:off x="3832498" y="38916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1" name="TextBox 180">
            <a:extLst>
              <a:ext uri="{FF2B5EF4-FFF2-40B4-BE49-F238E27FC236}">
                <a16:creationId xmlns:a16="http://schemas.microsoft.com/office/drawing/2014/main" id="{FFC49AEA-2A8F-250C-A86A-A7751D9706C3}"/>
              </a:ext>
            </a:extLst>
          </p:cNvPr>
          <p:cNvSpPr txBox="1"/>
          <p:nvPr/>
        </p:nvSpPr>
        <p:spPr>
          <a:xfrm>
            <a:off x="6390176" y="40384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2" name="TextBox 181">
            <a:extLst>
              <a:ext uri="{FF2B5EF4-FFF2-40B4-BE49-F238E27FC236}">
                <a16:creationId xmlns:a16="http://schemas.microsoft.com/office/drawing/2014/main" id="{FFC49AEA-2A8F-250C-A86A-A7751D9706C3}"/>
              </a:ext>
            </a:extLst>
          </p:cNvPr>
          <p:cNvSpPr txBox="1"/>
          <p:nvPr/>
        </p:nvSpPr>
        <p:spPr>
          <a:xfrm>
            <a:off x="3919560" y="3930692"/>
            <a:ext cx="1480199" cy="323165"/>
          </a:xfrm>
          <a:prstGeom prst="rect">
            <a:avLst/>
          </a:prstGeom>
          <a:noFill/>
        </p:spPr>
        <p:txBody>
          <a:bodyPr wrap="square" lIns="0" tIns="0" rIns="0" bIns="0" rtlCol="0">
            <a:spAutoFit/>
          </a:bodyPr>
          <a:lstStyle/>
          <a:p>
            <a:r>
              <a:rPr lang="en-US" altLang="ko-KR" sz="700" dirty="0">
                <a:latin typeface="+mn-ea"/>
              </a:rPr>
              <a:t>Q.</a:t>
            </a:r>
            <a:r>
              <a:rPr lang="ko-KR" altLang="en-US" sz="700" dirty="0">
                <a:latin typeface="+mn-ea"/>
              </a:rPr>
              <a:t>노동시간단축 조기도입기입</a:t>
            </a:r>
          </a:p>
          <a:p>
            <a:r>
              <a:rPr lang="en-US" altLang="ko-KR" sz="700" dirty="0">
                <a:latin typeface="+mn-ea"/>
              </a:rPr>
              <a:t>  - </a:t>
            </a:r>
            <a:r>
              <a:rPr lang="ko-KR" altLang="en-US" sz="700" dirty="0">
                <a:latin typeface="+mn-ea"/>
              </a:rPr>
              <a:t>정부의 노동시간단축 일정보다 </a:t>
            </a:r>
            <a:r>
              <a:rPr lang="en-US" altLang="ko-KR" sz="700" dirty="0">
                <a:latin typeface="+mn-ea"/>
              </a:rPr>
              <a:t>1</a:t>
            </a:r>
            <a:r>
              <a:rPr lang="ko-KR" altLang="en-US" sz="700" dirty="0" err="1">
                <a:latin typeface="+mn-ea"/>
              </a:rPr>
              <a:t>년이상</a:t>
            </a:r>
            <a:r>
              <a:rPr lang="ko-KR" altLang="en-US" sz="700" dirty="0">
                <a:latin typeface="+mn-ea"/>
              </a:rPr>
              <a:t> 앞당긴 기업</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5708515" y="4038413"/>
            <a:ext cx="118623"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cxnSp>
        <p:nvCxnSpPr>
          <p:cNvPr id="204" name="직선 연결선 203">
            <a:extLst>
              <a:ext uri="{FF2B5EF4-FFF2-40B4-BE49-F238E27FC236}">
                <a16:creationId xmlns:a16="http://schemas.microsoft.com/office/drawing/2014/main" id="{E9293055-D5CD-4B9E-7F64-64B2D2CA7A52}"/>
              </a:ext>
            </a:extLst>
          </p:cNvPr>
          <p:cNvCxnSpPr/>
          <p:nvPr/>
        </p:nvCxnSpPr>
        <p:spPr>
          <a:xfrm>
            <a:off x="3832498" y="42928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7" name="TextBox 206">
            <a:extLst>
              <a:ext uri="{FF2B5EF4-FFF2-40B4-BE49-F238E27FC236}">
                <a16:creationId xmlns:a16="http://schemas.microsoft.com/office/drawing/2014/main" id="{FFC49AEA-2A8F-250C-A86A-A7751D9706C3}"/>
              </a:ext>
            </a:extLst>
          </p:cNvPr>
          <p:cNvSpPr txBox="1"/>
          <p:nvPr/>
        </p:nvSpPr>
        <p:spPr>
          <a:xfrm>
            <a:off x="6390176" y="340229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3059624"/>
            <a:ext cx="1480199" cy="107722"/>
          </a:xfrm>
          <a:prstGeom prst="rect">
            <a:avLst/>
          </a:prstGeom>
          <a:noFill/>
        </p:spPr>
        <p:txBody>
          <a:bodyPr wrap="square" lIns="0" tIns="0" rIns="0" bIns="0" rtlCol="0">
            <a:spAutoFit/>
          </a:bodyPr>
          <a:lstStyle/>
          <a:p>
            <a:r>
              <a:rPr lang="en-US" altLang="ko-KR" sz="700" dirty="0">
                <a:latin typeface="+mn-ea"/>
              </a:rPr>
              <a:t>P.</a:t>
            </a:r>
            <a:r>
              <a:rPr lang="ko-KR" altLang="en-US" sz="700" dirty="0">
                <a:latin typeface="+mn-ea"/>
              </a:rPr>
              <a:t>청년고용 우수기업</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451" y="3206351"/>
            <a:ext cx="118687" cy="430887"/>
          </a:xfrm>
          <a:prstGeom prst="rect">
            <a:avLst/>
          </a:prstGeom>
          <a:noFill/>
        </p:spPr>
        <p:txBody>
          <a:bodyPr wrap="none" lIns="0" tIns="0" rIns="0" bIns="0" rtlCol="0">
            <a:spAutoFit/>
          </a:bodyPr>
          <a:lstStyle/>
          <a:p>
            <a:pPr algn="r"/>
            <a:r>
              <a:rPr lang="en-US" altLang="ko-KR" sz="700" dirty="0">
                <a:latin typeface="+mn-ea"/>
              </a:rPr>
              <a:t>1.0</a:t>
            </a:r>
          </a:p>
          <a:p>
            <a:pPr algn="r"/>
            <a:endParaRPr lang="en-US" altLang="ko-KR" sz="700" dirty="0">
              <a:latin typeface="+mn-ea"/>
            </a:endParaRPr>
          </a:p>
          <a:p>
            <a:pPr algn="r"/>
            <a:endParaRPr lang="en-US" altLang="ko-KR" sz="700" dirty="0">
              <a:latin typeface="+mn-ea"/>
            </a:endParaRPr>
          </a:p>
          <a:p>
            <a:pPr algn="r"/>
            <a:r>
              <a:rPr lang="en-US" altLang="ko-KR" sz="700" dirty="0">
                <a:latin typeface="+mn-ea"/>
              </a:rPr>
              <a:t>0.5</a:t>
            </a:r>
            <a:endParaRPr lang="ko-KR" altLang="en-US"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3919560" y="3206351"/>
            <a:ext cx="1480199" cy="646331"/>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개월 평균 청년고용률이 </a:t>
            </a:r>
            <a:r>
              <a:rPr lang="en-US" altLang="ko-KR" sz="700" dirty="0">
                <a:latin typeface="+mn-ea"/>
              </a:rPr>
              <a:t>10%</a:t>
            </a:r>
            <a:r>
              <a:rPr lang="ko-KR" altLang="en-US" sz="700" dirty="0">
                <a:latin typeface="+mn-ea"/>
              </a:rPr>
              <a:t>이상이면서 최근 </a:t>
            </a:r>
            <a:r>
              <a:rPr lang="en-US" altLang="ko-KR" sz="700" dirty="0">
                <a:latin typeface="+mn-ea"/>
              </a:rPr>
              <a:t>3</a:t>
            </a:r>
            <a:r>
              <a:rPr lang="ko-KR" altLang="en-US" sz="700" dirty="0">
                <a:latin typeface="+mn-ea"/>
              </a:rPr>
              <a:t>개월 평균 청년종업원이 </a:t>
            </a:r>
            <a:r>
              <a:rPr lang="en-US" altLang="ko-KR" sz="700" dirty="0">
                <a:latin typeface="+mn-ea"/>
              </a:rPr>
              <a:t>10</a:t>
            </a:r>
            <a:r>
              <a:rPr lang="ko-KR" altLang="en-US" sz="700" dirty="0">
                <a:latin typeface="+mn-ea"/>
              </a:rPr>
              <a:t>인 이상인 기업</a:t>
            </a: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개월 평균 청년고용률이 </a:t>
            </a:r>
            <a:r>
              <a:rPr lang="en-US" altLang="ko-KR" sz="700" dirty="0">
                <a:latin typeface="+mn-ea"/>
              </a:rPr>
              <a:t>5%</a:t>
            </a:r>
            <a:r>
              <a:rPr lang="ko-KR" altLang="en-US" sz="700" dirty="0">
                <a:latin typeface="+mn-ea"/>
              </a:rPr>
              <a:t>이상이면서 최근 </a:t>
            </a:r>
            <a:r>
              <a:rPr lang="en-US" altLang="ko-KR" sz="700" dirty="0">
                <a:latin typeface="+mn-ea"/>
              </a:rPr>
              <a:t>3</a:t>
            </a:r>
            <a:r>
              <a:rPr lang="ko-KR" altLang="en-US" sz="700" dirty="0">
                <a:latin typeface="+mn-ea"/>
              </a:rPr>
              <a:t>개월 평균 청년종업원이 </a:t>
            </a:r>
            <a:r>
              <a:rPr lang="en-US" altLang="ko-KR" sz="700" dirty="0">
                <a:latin typeface="+mn-ea"/>
              </a:rPr>
              <a:t>5</a:t>
            </a:r>
            <a:r>
              <a:rPr lang="ko-KR" altLang="en-US" sz="700" dirty="0">
                <a:latin typeface="+mn-ea"/>
              </a:rPr>
              <a:t>인 이상인 기업</a:t>
            </a:r>
          </a:p>
        </p:txBody>
      </p:sp>
      <p:cxnSp>
        <p:nvCxnSpPr>
          <p:cNvPr id="211" name="직선 연결선 210">
            <a:extLst>
              <a:ext uri="{FF2B5EF4-FFF2-40B4-BE49-F238E27FC236}">
                <a16:creationId xmlns:a16="http://schemas.microsoft.com/office/drawing/2014/main" id="{E9293055-D5CD-4B9E-7F64-64B2D2CA7A52}"/>
              </a:ext>
            </a:extLst>
          </p:cNvPr>
          <p:cNvCxnSpPr/>
          <p:nvPr/>
        </p:nvCxnSpPr>
        <p:spPr>
          <a:xfrm>
            <a:off x="3832498" y="30206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FFC49AEA-2A8F-250C-A86A-A7751D9706C3}"/>
              </a:ext>
            </a:extLst>
          </p:cNvPr>
          <p:cNvSpPr txBox="1"/>
          <p:nvPr/>
        </p:nvSpPr>
        <p:spPr>
          <a:xfrm>
            <a:off x="6390176" y="44395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3919560" y="4331867"/>
            <a:ext cx="1480199" cy="323165"/>
          </a:xfrm>
          <a:prstGeom prst="rect">
            <a:avLst/>
          </a:prstGeom>
          <a:noFill/>
        </p:spPr>
        <p:txBody>
          <a:bodyPr wrap="square" lIns="0" tIns="0" rIns="0" bIns="0" rtlCol="0">
            <a:spAutoFit/>
          </a:bodyPr>
          <a:lstStyle/>
          <a:p>
            <a:r>
              <a:rPr lang="en-US" altLang="ko-KR" sz="700" dirty="0">
                <a:latin typeface="+mn-ea"/>
              </a:rPr>
              <a:t>R.</a:t>
            </a:r>
            <a:r>
              <a:rPr lang="ko-KR" altLang="en-US" sz="700" dirty="0" err="1">
                <a:latin typeface="+mn-ea"/>
              </a:rPr>
              <a:t>재기기업</a:t>
            </a:r>
            <a:endParaRPr lang="ko-KR" altLang="en-US" sz="700" dirty="0">
              <a:latin typeface="+mn-ea"/>
            </a:endParaRP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err="1">
                <a:latin typeface="+mn-ea"/>
              </a:rPr>
              <a:t>년이내</a:t>
            </a:r>
            <a:r>
              <a:rPr lang="ko-KR" altLang="en-US" sz="700" dirty="0">
                <a:latin typeface="+mn-ea"/>
              </a:rPr>
              <a:t> 중소벤처기업부로부터 </a:t>
            </a:r>
            <a:r>
              <a:rPr lang="ko-KR" altLang="en-US" sz="700" dirty="0" err="1">
                <a:latin typeface="+mn-ea"/>
              </a:rPr>
              <a:t>재창업</a:t>
            </a:r>
            <a:r>
              <a:rPr lang="ko-KR" altLang="en-US" sz="700" dirty="0">
                <a:latin typeface="+mn-ea"/>
              </a:rPr>
              <a:t> 프로그램 지원받은 기업</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5708515" y="4439588"/>
            <a:ext cx="118623"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cxnSp>
        <p:nvCxnSpPr>
          <p:cNvPr id="227" name="직선 연결선 226">
            <a:extLst>
              <a:ext uri="{FF2B5EF4-FFF2-40B4-BE49-F238E27FC236}">
                <a16:creationId xmlns:a16="http://schemas.microsoft.com/office/drawing/2014/main" id="{E9293055-D5CD-4B9E-7F64-64B2D2CA7A52}"/>
              </a:ext>
            </a:extLst>
          </p:cNvPr>
          <p:cNvCxnSpPr/>
          <p:nvPr/>
        </p:nvCxnSpPr>
        <p:spPr>
          <a:xfrm>
            <a:off x="3832498" y="46940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3" name="TextBox 232">
            <a:extLst>
              <a:ext uri="{FF2B5EF4-FFF2-40B4-BE49-F238E27FC236}">
                <a16:creationId xmlns:a16="http://schemas.microsoft.com/office/drawing/2014/main" id="{FFC49AEA-2A8F-250C-A86A-A7751D9706C3}"/>
              </a:ext>
            </a:extLst>
          </p:cNvPr>
          <p:cNvSpPr txBox="1"/>
          <p:nvPr/>
        </p:nvSpPr>
        <p:spPr>
          <a:xfrm>
            <a:off x="6390176" y="48946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34" name="TextBox 233">
            <a:extLst>
              <a:ext uri="{FF2B5EF4-FFF2-40B4-BE49-F238E27FC236}">
                <a16:creationId xmlns:a16="http://schemas.microsoft.com/office/drawing/2014/main" id="{FFC49AEA-2A8F-250C-A86A-A7751D9706C3}"/>
              </a:ext>
            </a:extLst>
          </p:cNvPr>
          <p:cNvSpPr txBox="1"/>
          <p:nvPr/>
        </p:nvSpPr>
        <p:spPr>
          <a:xfrm>
            <a:off x="3919560" y="4733042"/>
            <a:ext cx="1480199" cy="430887"/>
          </a:xfrm>
          <a:prstGeom prst="rect">
            <a:avLst/>
          </a:prstGeom>
          <a:noFill/>
        </p:spPr>
        <p:txBody>
          <a:bodyPr wrap="square" lIns="0" tIns="0" rIns="0" bIns="0" rtlCol="0">
            <a:spAutoFit/>
          </a:bodyPr>
          <a:lstStyle/>
          <a:p>
            <a:r>
              <a:rPr lang="en-US" altLang="ko-KR" sz="700" dirty="0">
                <a:latin typeface="+mn-ea"/>
              </a:rPr>
              <a:t>S.</a:t>
            </a:r>
            <a:r>
              <a:rPr lang="ko-KR" altLang="en-US" sz="700" dirty="0">
                <a:latin typeface="+mn-ea"/>
              </a:rPr>
              <a:t>사업전환계획 </a:t>
            </a:r>
            <a:r>
              <a:rPr lang="ko-KR" altLang="en-US" sz="700" dirty="0" err="1">
                <a:latin typeface="+mn-ea"/>
              </a:rPr>
              <a:t>승인기업</a:t>
            </a:r>
            <a:endParaRPr lang="ko-KR" altLang="en-US" sz="700" dirty="0">
              <a:latin typeface="+mn-ea"/>
            </a:endParaRP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년 이내 중소기업 사업전환 촉진에 관한 특별법 제</a:t>
            </a:r>
            <a:r>
              <a:rPr lang="en-US" altLang="ko-KR" sz="700" dirty="0">
                <a:latin typeface="+mn-ea"/>
              </a:rPr>
              <a:t>8</a:t>
            </a:r>
            <a:r>
              <a:rPr lang="ko-KR" altLang="en-US" sz="700" dirty="0">
                <a:latin typeface="+mn-ea"/>
              </a:rPr>
              <a:t>조에 따른 사업전환계획 승인을 받은 기업</a:t>
            </a:r>
          </a:p>
        </p:txBody>
      </p:sp>
      <p:sp>
        <p:nvSpPr>
          <p:cNvPr id="235" name="TextBox 234">
            <a:extLst>
              <a:ext uri="{FF2B5EF4-FFF2-40B4-BE49-F238E27FC236}">
                <a16:creationId xmlns:a16="http://schemas.microsoft.com/office/drawing/2014/main" id="{FFC49AEA-2A8F-250C-A86A-A7751D9706C3}"/>
              </a:ext>
            </a:extLst>
          </p:cNvPr>
          <p:cNvSpPr txBox="1"/>
          <p:nvPr/>
        </p:nvSpPr>
        <p:spPr>
          <a:xfrm>
            <a:off x="5708515" y="489462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39" name="직선 연결선 238">
            <a:extLst>
              <a:ext uri="{FF2B5EF4-FFF2-40B4-BE49-F238E27FC236}">
                <a16:creationId xmlns:a16="http://schemas.microsoft.com/office/drawing/2014/main" id="{E9293055-D5CD-4B9E-7F64-64B2D2CA7A52}"/>
              </a:ext>
            </a:extLst>
          </p:cNvPr>
          <p:cNvCxnSpPr/>
          <p:nvPr/>
        </p:nvCxnSpPr>
        <p:spPr>
          <a:xfrm>
            <a:off x="3832498" y="52029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3832498" y="60739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6390176" y="558460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7" name="TextBox 246">
            <a:extLst>
              <a:ext uri="{FF2B5EF4-FFF2-40B4-BE49-F238E27FC236}">
                <a16:creationId xmlns:a16="http://schemas.microsoft.com/office/drawing/2014/main" id="{FFC49AEA-2A8F-250C-A86A-A7751D9706C3}"/>
              </a:ext>
            </a:extLst>
          </p:cNvPr>
          <p:cNvSpPr txBox="1"/>
          <p:nvPr/>
        </p:nvSpPr>
        <p:spPr>
          <a:xfrm>
            <a:off x="3919560" y="5241939"/>
            <a:ext cx="1480199" cy="430887"/>
          </a:xfrm>
          <a:prstGeom prst="rect">
            <a:avLst/>
          </a:prstGeom>
          <a:noFill/>
        </p:spPr>
        <p:txBody>
          <a:bodyPr wrap="square" lIns="0" tIns="0" rIns="0" bIns="0" rtlCol="0">
            <a:spAutoFit/>
          </a:bodyPr>
          <a:lstStyle/>
          <a:p>
            <a:r>
              <a:rPr lang="en-US" altLang="ko-KR" sz="700" dirty="0">
                <a:latin typeface="+mn-ea"/>
              </a:rPr>
              <a:t>T.</a:t>
            </a:r>
            <a:r>
              <a:rPr lang="ko-KR" altLang="en-US" sz="700" dirty="0" err="1">
                <a:latin typeface="+mn-ea"/>
              </a:rPr>
              <a:t>스마트공장</a:t>
            </a:r>
            <a:r>
              <a:rPr lang="ko-KR" altLang="en-US" sz="700" dirty="0">
                <a:latin typeface="+mn-ea"/>
              </a:rPr>
              <a:t> </a:t>
            </a:r>
            <a:r>
              <a:rPr lang="ko-KR" altLang="en-US" sz="700" dirty="0" err="1">
                <a:latin typeface="+mn-ea"/>
              </a:rPr>
              <a:t>수준확인</a:t>
            </a:r>
            <a:r>
              <a:rPr lang="ko-KR" altLang="en-US" sz="700" dirty="0">
                <a:latin typeface="+mn-ea"/>
              </a:rPr>
              <a:t> 기업</a:t>
            </a:r>
          </a:p>
          <a:p>
            <a:r>
              <a:rPr lang="en-US" altLang="ko-KR" sz="700" dirty="0">
                <a:latin typeface="+mn-ea"/>
              </a:rPr>
              <a:t>  - </a:t>
            </a:r>
            <a:r>
              <a:rPr lang="ko-KR" altLang="en-US" sz="700" dirty="0">
                <a:latin typeface="+mn-ea"/>
              </a:rPr>
              <a:t>중소벤처기업부장관이 지정한 기관으로부터 </a:t>
            </a:r>
            <a:r>
              <a:rPr lang="ko-KR" altLang="en-US" sz="700" dirty="0" err="1">
                <a:latin typeface="+mn-ea"/>
              </a:rPr>
              <a:t>스마트공장</a:t>
            </a:r>
            <a:r>
              <a:rPr lang="ko-KR" altLang="en-US" sz="700" dirty="0">
                <a:latin typeface="+mn-ea"/>
              </a:rPr>
              <a:t> </a:t>
            </a:r>
            <a:r>
              <a:rPr lang="ko-KR" altLang="en-US" sz="700" dirty="0" err="1">
                <a:latin typeface="+mn-ea"/>
              </a:rPr>
              <a:t>수준확인을</a:t>
            </a:r>
            <a:r>
              <a:rPr lang="ko-KR" altLang="en-US" sz="700" dirty="0">
                <a:latin typeface="+mn-ea"/>
              </a:rPr>
              <a:t> 받은 기업으로서</a:t>
            </a:r>
          </a:p>
        </p:txBody>
      </p:sp>
      <p:sp>
        <p:nvSpPr>
          <p:cNvPr id="248" name="TextBox 247">
            <a:extLst>
              <a:ext uri="{FF2B5EF4-FFF2-40B4-BE49-F238E27FC236}">
                <a16:creationId xmlns:a16="http://schemas.microsoft.com/office/drawing/2014/main" id="{FFC49AEA-2A8F-250C-A86A-A7751D9706C3}"/>
              </a:ext>
            </a:extLst>
          </p:cNvPr>
          <p:cNvSpPr txBox="1"/>
          <p:nvPr/>
        </p:nvSpPr>
        <p:spPr>
          <a:xfrm>
            <a:off x="5708516" y="5711831"/>
            <a:ext cx="118622" cy="323165"/>
          </a:xfrm>
          <a:prstGeom prst="rect">
            <a:avLst/>
          </a:prstGeom>
          <a:noFill/>
        </p:spPr>
        <p:txBody>
          <a:bodyPr wrap="none" lIns="0" tIns="0" rIns="0" bIns="0" rtlCol="0">
            <a:spAutoFit/>
          </a:bodyPr>
          <a:lstStyle/>
          <a:p>
            <a:pPr algn="r"/>
            <a:r>
              <a:rPr lang="en-US" altLang="ko-KR" sz="700" dirty="0">
                <a:latin typeface="+mn-ea"/>
              </a:rPr>
              <a:t>1.0</a:t>
            </a:r>
          </a:p>
          <a:p>
            <a:pPr algn="r"/>
            <a:r>
              <a:rPr lang="en-US" altLang="ko-KR" sz="700" dirty="0">
                <a:latin typeface="+mn-ea"/>
              </a:rPr>
              <a:t>2.0</a:t>
            </a:r>
          </a:p>
          <a:p>
            <a:pPr algn="r"/>
            <a:r>
              <a:rPr lang="en-US" altLang="ko-KR" sz="700" dirty="0">
                <a:latin typeface="+mn-ea"/>
              </a:rPr>
              <a:t>3.0</a:t>
            </a:r>
          </a:p>
        </p:txBody>
      </p:sp>
      <p:sp>
        <p:nvSpPr>
          <p:cNvPr id="249" name="TextBox 248">
            <a:extLst>
              <a:ext uri="{FF2B5EF4-FFF2-40B4-BE49-F238E27FC236}">
                <a16:creationId xmlns:a16="http://schemas.microsoft.com/office/drawing/2014/main" id="{FFC49AEA-2A8F-250C-A86A-A7751D9706C3}"/>
              </a:ext>
            </a:extLst>
          </p:cNvPr>
          <p:cNvSpPr txBox="1"/>
          <p:nvPr/>
        </p:nvSpPr>
        <p:spPr>
          <a:xfrm>
            <a:off x="3919560" y="5711831"/>
            <a:ext cx="1480199" cy="323165"/>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1∼2 </a:t>
            </a:r>
            <a:r>
              <a:rPr lang="ko-KR" altLang="en-US" sz="700" dirty="0">
                <a:latin typeface="+mn-ea"/>
              </a:rPr>
              <a:t>등급</a:t>
            </a:r>
          </a:p>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3 </a:t>
            </a:r>
            <a:r>
              <a:rPr lang="ko-KR" altLang="en-US" sz="700" dirty="0">
                <a:latin typeface="+mn-ea"/>
              </a:rPr>
              <a:t>등급</a:t>
            </a:r>
          </a:p>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4∼5 </a:t>
            </a:r>
            <a:r>
              <a:rPr lang="ko-KR" altLang="en-US" sz="700" dirty="0">
                <a:latin typeface="+mn-ea"/>
              </a:rPr>
              <a:t>등급</a:t>
            </a:r>
          </a:p>
        </p:txBody>
      </p:sp>
      <p:cxnSp>
        <p:nvCxnSpPr>
          <p:cNvPr id="250" name="직선 연결선 249">
            <a:extLst>
              <a:ext uri="{FF2B5EF4-FFF2-40B4-BE49-F238E27FC236}">
                <a16:creationId xmlns:a16="http://schemas.microsoft.com/office/drawing/2014/main" id="{E9293055-D5CD-4B9E-7F64-64B2D2CA7A52}"/>
              </a:ext>
            </a:extLst>
          </p:cNvPr>
          <p:cNvCxnSpPr/>
          <p:nvPr/>
        </p:nvCxnSpPr>
        <p:spPr>
          <a:xfrm>
            <a:off x="3835003" y="1493927"/>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타원 9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24529477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a:p>
            <a:pPr marL="228600" indent="-228600">
              <a:buFont typeface="+mj-ea"/>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230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고시금액미만</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직사각형 185"/>
          <p:cNvSpPr/>
          <p:nvPr/>
        </p:nvSpPr>
        <p:spPr>
          <a:xfrm>
            <a:off x="718007" y="2176768"/>
            <a:ext cx="1639886" cy="18288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805070" y="217676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2533112" y="21767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715915" y="21767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18008" y="2391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718008" y="280680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15915" y="320650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18008" y="30066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776886" y="1492460"/>
            <a:ext cx="2535669" cy="646331"/>
          </a:xfrm>
          <a:prstGeom prst="rect">
            <a:avLst/>
          </a:prstGeom>
          <a:noFill/>
        </p:spPr>
        <p:txBody>
          <a:bodyPr wrap="square" lIns="0" tIns="0" rIns="0" bIns="0" rtlCol="0">
            <a:spAutoFit/>
          </a:bodyPr>
          <a:lstStyle/>
          <a:p>
            <a:pPr>
              <a:lnSpc>
                <a:spcPct val="200000"/>
              </a:lnSpc>
            </a:pPr>
            <a:r>
              <a:rPr lang="en-US" altLang="ko-KR" sz="700" b="1" dirty="0">
                <a:latin typeface="+mn-ea"/>
              </a:rPr>
              <a:t>2. </a:t>
            </a:r>
            <a:r>
              <a:rPr lang="ko-KR" altLang="en-US" sz="700" b="1" dirty="0">
                <a:latin typeface="+mn-ea"/>
              </a:rPr>
              <a:t>계약이행 성실도</a:t>
            </a:r>
            <a:endParaRPr lang="en-US" altLang="ko-KR" sz="700" b="1"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 </a:t>
            </a:r>
            <a:r>
              <a:rPr lang="ko-KR" altLang="en-US" sz="700" dirty="0" err="1">
                <a:latin typeface="+mn-ea"/>
              </a:rPr>
              <a:t>납품지연</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지체일수</a:t>
            </a:r>
            <a:endParaRPr lang="ko-KR" altLang="en-US" sz="700" dirty="0">
              <a:latin typeface="+mn-ea"/>
            </a:endParaRPr>
          </a:p>
        </p:txBody>
      </p:sp>
      <p:sp>
        <p:nvSpPr>
          <p:cNvPr id="195" name="TextBox 194">
            <a:extLst>
              <a:ext uri="{FF2B5EF4-FFF2-40B4-BE49-F238E27FC236}">
                <a16:creationId xmlns:a16="http://schemas.microsoft.com/office/drawing/2014/main" id="{FFC49AEA-2A8F-250C-A86A-A7751D9706C3}"/>
              </a:ext>
            </a:extLst>
          </p:cNvPr>
          <p:cNvSpPr txBox="1"/>
          <p:nvPr/>
        </p:nvSpPr>
        <p:spPr>
          <a:xfrm>
            <a:off x="2953482" y="21767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805070" y="2437572"/>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6</a:t>
            </a:r>
            <a:r>
              <a:rPr lang="ko-KR" altLang="en-US" sz="700" dirty="0">
                <a:latin typeface="+mn-ea"/>
              </a:rPr>
              <a:t>개월 이내에 조달청</a:t>
            </a:r>
            <a:r>
              <a:rPr lang="en-US" altLang="ko-KR" sz="700" dirty="0">
                <a:latin typeface="+mn-ea"/>
              </a:rPr>
              <a:t>(</a:t>
            </a:r>
            <a:r>
              <a:rPr lang="ko-KR" altLang="en-US" sz="700" dirty="0">
                <a:latin typeface="+mn-ea"/>
              </a:rPr>
              <a:t>또는 당해 </a:t>
            </a:r>
            <a:r>
              <a:rPr lang="ko-KR" altLang="en-US" sz="700" dirty="0" err="1">
                <a:latin typeface="+mn-ea"/>
              </a:rPr>
              <a:t>구매기관</a:t>
            </a:r>
            <a:r>
              <a:rPr lang="en-US" altLang="ko-KR" sz="700" dirty="0">
                <a:latin typeface="+mn-ea"/>
              </a:rPr>
              <a:t>)</a:t>
            </a:r>
            <a:r>
              <a:rPr lang="ko-KR" altLang="en-US" sz="700" dirty="0">
                <a:latin typeface="+mn-ea"/>
              </a:rPr>
              <a:t>과의 계약이행 과정에서 지체상금 부과를 받은 자</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2675779" y="24937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805070" y="28528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75</a:t>
            </a:r>
            <a:r>
              <a:rPr lang="ko-KR" altLang="en-US" sz="700" dirty="0">
                <a:latin typeface="+mn-ea"/>
              </a:rPr>
              <a:t>일 이상</a:t>
            </a:r>
          </a:p>
        </p:txBody>
      </p:sp>
      <p:sp>
        <p:nvSpPr>
          <p:cNvPr id="199" name="TextBox 198">
            <a:extLst>
              <a:ext uri="{FF2B5EF4-FFF2-40B4-BE49-F238E27FC236}">
                <a16:creationId xmlns:a16="http://schemas.microsoft.com/office/drawing/2014/main" id="{FFC49AEA-2A8F-250C-A86A-A7751D9706C3}"/>
              </a:ext>
            </a:extLst>
          </p:cNvPr>
          <p:cNvSpPr txBox="1"/>
          <p:nvPr/>
        </p:nvSpPr>
        <p:spPr>
          <a:xfrm>
            <a:off x="805070" y="30527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60</a:t>
            </a:r>
            <a:r>
              <a:rPr lang="ko-KR" altLang="en-US" sz="700" dirty="0">
                <a:latin typeface="+mn-ea"/>
              </a:rPr>
              <a:t>일 이상 </a:t>
            </a:r>
            <a:r>
              <a:rPr lang="en-US" altLang="ko-KR" sz="700" dirty="0">
                <a:latin typeface="+mn-ea"/>
              </a:rPr>
              <a:t>75</a:t>
            </a:r>
            <a:r>
              <a:rPr lang="ko-KR" altLang="en-US" sz="700" dirty="0">
                <a:latin typeface="+mn-ea"/>
              </a:rPr>
              <a:t>일 미만</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2557156" y="2859668"/>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201" name="TextBox 200">
            <a:extLst>
              <a:ext uri="{FF2B5EF4-FFF2-40B4-BE49-F238E27FC236}">
                <a16:creationId xmlns:a16="http://schemas.microsoft.com/office/drawing/2014/main" id="{FFC49AEA-2A8F-250C-A86A-A7751D9706C3}"/>
              </a:ext>
            </a:extLst>
          </p:cNvPr>
          <p:cNvSpPr txBox="1"/>
          <p:nvPr/>
        </p:nvSpPr>
        <p:spPr>
          <a:xfrm>
            <a:off x="2507463" y="3056867"/>
            <a:ext cx="205185" cy="107722"/>
          </a:xfrm>
          <a:prstGeom prst="rect">
            <a:avLst/>
          </a:prstGeom>
          <a:noFill/>
        </p:spPr>
        <p:txBody>
          <a:bodyPr wrap="none" lIns="0" tIns="0" rIns="0" bIns="0" rtlCol="0">
            <a:spAutoFit/>
          </a:bodyPr>
          <a:lstStyle/>
          <a:p>
            <a:pPr algn="r"/>
            <a:r>
              <a:rPr lang="en-US" altLang="ko-KR" sz="700" dirty="0">
                <a:latin typeface="+mn-ea"/>
              </a:rPr>
              <a:t>-1.75</a:t>
            </a:r>
            <a:endParaRPr lang="ko-KR" altLang="en-US"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3275686" y="31446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5" name="직선 연결선 244">
            <a:extLst>
              <a:ext uri="{FF2B5EF4-FFF2-40B4-BE49-F238E27FC236}">
                <a16:creationId xmlns:a16="http://schemas.microsoft.com/office/drawing/2014/main" id="{E9293055-D5CD-4B9E-7F64-64B2D2CA7A52}"/>
              </a:ext>
            </a:extLst>
          </p:cNvPr>
          <p:cNvCxnSpPr/>
          <p:nvPr/>
        </p:nvCxnSpPr>
        <p:spPr>
          <a:xfrm>
            <a:off x="718008" y="40055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715915" y="360620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718008" y="34063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3" name="TextBox 222">
            <a:extLst>
              <a:ext uri="{FF2B5EF4-FFF2-40B4-BE49-F238E27FC236}">
                <a16:creationId xmlns:a16="http://schemas.microsoft.com/office/drawing/2014/main" id="{FFC49AEA-2A8F-250C-A86A-A7751D9706C3}"/>
              </a:ext>
            </a:extLst>
          </p:cNvPr>
          <p:cNvSpPr txBox="1"/>
          <p:nvPr/>
        </p:nvSpPr>
        <p:spPr>
          <a:xfrm>
            <a:off x="805070" y="32525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45</a:t>
            </a:r>
            <a:r>
              <a:rPr lang="ko-KR" altLang="en-US" sz="700" dirty="0">
                <a:latin typeface="+mn-ea"/>
              </a:rPr>
              <a:t>일 이상 </a:t>
            </a:r>
            <a:r>
              <a:rPr lang="en-US" altLang="ko-KR" sz="700" dirty="0">
                <a:latin typeface="+mn-ea"/>
              </a:rPr>
              <a:t>60</a:t>
            </a:r>
            <a:r>
              <a:rPr lang="ko-KR" altLang="en-US" sz="700" dirty="0">
                <a:latin typeface="+mn-ea"/>
              </a:rPr>
              <a:t>일 미만</a:t>
            </a:r>
          </a:p>
        </p:txBody>
      </p:sp>
      <p:sp>
        <p:nvSpPr>
          <p:cNvPr id="224" name="TextBox 223">
            <a:extLst>
              <a:ext uri="{FF2B5EF4-FFF2-40B4-BE49-F238E27FC236}">
                <a16:creationId xmlns:a16="http://schemas.microsoft.com/office/drawing/2014/main" id="{FFC49AEA-2A8F-250C-A86A-A7751D9706C3}"/>
              </a:ext>
            </a:extLst>
          </p:cNvPr>
          <p:cNvSpPr txBox="1"/>
          <p:nvPr/>
        </p:nvSpPr>
        <p:spPr>
          <a:xfrm>
            <a:off x="805070" y="34524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30</a:t>
            </a:r>
            <a:r>
              <a:rPr lang="ko-KR" altLang="en-US" sz="700" dirty="0">
                <a:latin typeface="+mn-ea"/>
              </a:rPr>
              <a:t>일 이상 </a:t>
            </a:r>
            <a:r>
              <a:rPr lang="en-US" altLang="ko-KR" sz="700" dirty="0">
                <a:latin typeface="+mn-ea"/>
              </a:rPr>
              <a:t>45</a:t>
            </a:r>
            <a:r>
              <a:rPr lang="ko-KR" altLang="en-US" sz="700" dirty="0">
                <a:latin typeface="+mn-ea"/>
              </a:rPr>
              <a:t>일 미만</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2557156" y="3249519"/>
            <a:ext cx="15549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226" name="TextBox 225">
            <a:extLst>
              <a:ext uri="{FF2B5EF4-FFF2-40B4-BE49-F238E27FC236}">
                <a16:creationId xmlns:a16="http://schemas.microsoft.com/office/drawing/2014/main" id="{FFC49AEA-2A8F-250C-A86A-A7751D9706C3}"/>
              </a:ext>
            </a:extLst>
          </p:cNvPr>
          <p:cNvSpPr txBox="1"/>
          <p:nvPr/>
        </p:nvSpPr>
        <p:spPr>
          <a:xfrm>
            <a:off x="2557156" y="3446718"/>
            <a:ext cx="15549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28" name="직선 연결선 227">
            <a:extLst>
              <a:ext uri="{FF2B5EF4-FFF2-40B4-BE49-F238E27FC236}">
                <a16:creationId xmlns:a16="http://schemas.microsoft.com/office/drawing/2014/main" id="{E9293055-D5CD-4B9E-7F64-64B2D2CA7A52}"/>
              </a:ext>
            </a:extLst>
          </p:cNvPr>
          <p:cNvCxnSpPr/>
          <p:nvPr/>
        </p:nvCxnSpPr>
        <p:spPr>
          <a:xfrm>
            <a:off x="718008" y="38060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9" name="TextBox 228">
            <a:extLst>
              <a:ext uri="{FF2B5EF4-FFF2-40B4-BE49-F238E27FC236}">
                <a16:creationId xmlns:a16="http://schemas.microsoft.com/office/drawing/2014/main" id="{FFC49AEA-2A8F-250C-A86A-A7751D9706C3}"/>
              </a:ext>
            </a:extLst>
          </p:cNvPr>
          <p:cNvSpPr txBox="1"/>
          <p:nvPr/>
        </p:nvSpPr>
        <p:spPr>
          <a:xfrm>
            <a:off x="805070" y="36522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이상 </a:t>
            </a:r>
            <a:r>
              <a:rPr lang="en-US" altLang="ko-KR" sz="700" dirty="0">
                <a:latin typeface="+mn-ea"/>
              </a:rPr>
              <a:t>30</a:t>
            </a:r>
            <a:r>
              <a:rPr lang="ko-KR" altLang="en-US" sz="700" dirty="0">
                <a:latin typeface="+mn-ea"/>
              </a:rPr>
              <a:t>일 미만</a:t>
            </a:r>
          </a:p>
        </p:txBody>
      </p:sp>
      <p:sp>
        <p:nvSpPr>
          <p:cNvPr id="230" name="TextBox 229">
            <a:extLst>
              <a:ext uri="{FF2B5EF4-FFF2-40B4-BE49-F238E27FC236}">
                <a16:creationId xmlns:a16="http://schemas.microsoft.com/office/drawing/2014/main" id="{FFC49AEA-2A8F-250C-A86A-A7751D9706C3}"/>
              </a:ext>
            </a:extLst>
          </p:cNvPr>
          <p:cNvSpPr txBox="1"/>
          <p:nvPr/>
        </p:nvSpPr>
        <p:spPr>
          <a:xfrm>
            <a:off x="805070" y="38521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미만</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2557156" y="3651366"/>
            <a:ext cx="15549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32" name="TextBox 231">
            <a:extLst>
              <a:ext uri="{FF2B5EF4-FFF2-40B4-BE49-F238E27FC236}">
                <a16:creationId xmlns:a16="http://schemas.microsoft.com/office/drawing/2014/main" id="{FFC49AEA-2A8F-250C-A86A-A7751D9706C3}"/>
              </a:ext>
            </a:extLst>
          </p:cNvPr>
          <p:cNvSpPr txBox="1"/>
          <p:nvPr/>
        </p:nvSpPr>
        <p:spPr>
          <a:xfrm>
            <a:off x="2507463" y="3848565"/>
            <a:ext cx="205185"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cxnSp>
        <p:nvCxnSpPr>
          <p:cNvPr id="236" name="직선 연결선 235">
            <a:extLst>
              <a:ext uri="{FF2B5EF4-FFF2-40B4-BE49-F238E27FC236}">
                <a16:creationId xmlns:a16="http://schemas.microsoft.com/office/drawing/2014/main" id="{E9293055-D5CD-4B9E-7F64-64B2D2CA7A52}"/>
              </a:ext>
            </a:extLst>
          </p:cNvPr>
          <p:cNvCxnSpPr/>
          <p:nvPr/>
        </p:nvCxnSpPr>
        <p:spPr>
          <a:xfrm>
            <a:off x="675399" y="433152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7" name="TextBox 236">
            <a:extLst>
              <a:ext uri="{FF2B5EF4-FFF2-40B4-BE49-F238E27FC236}">
                <a16:creationId xmlns:a16="http://schemas.microsoft.com/office/drawing/2014/main" id="{FFC49AEA-2A8F-250C-A86A-A7751D9706C3}"/>
              </a:ext>
            </a:extLst>
          </p:cNvPr>
          <p:cNvSpPr txBox="1"/>
          <p:nvPr/>
        </p:nvSpPr>
        <p:spPr>
          <a:xfrm>
            <a:off x="762145" y="4051863"/>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단</a:t>
            </a:r>
            <a:r>
              <a:rPr lang="en-US" altLang="ko-KR" sz="700" dirty="0">
                <a:latin typeface="+mn-ea"/>
              </a:rPr>
              <a:t>, </a:t>
            </a:r>
            <a:r>
              <a:rPr lang="ko-KR" altLang="en-US" sz="700" dirty="0">
                <a:latin typeface="+mn-ea"/>
              </a:rPr>
              <a:t>여러 건의 </a:t>
            </a:r>
            <a:r>
              <a:rPr lang="ko-KR" altLang="en-US" sz="700" dirty="0" err="1">
                <a:latin typeface="+mn-ea"/>
              </a:rPr>
              <a:t>지체상금이</a:t>
            </a:r>
            <a:r>
              <a:rPr lang="ko-KR" altLang="en-US" sz="700" dirty="0">
                <a:latin typeface="+mn-ea"/>
              </a:rPr>
              <a:t> 중복 부과된 경우의</a:t>
            </a:r>
            <a:endParaRPr lang="en-US" altLang="ko-KR" sz="700" dirty="0">
              <a:latin typeface="+mn-ea"/>
            </a:endParaRPr>
          </a:p>
          <a:p>
            <a:pPr lvl="0" algn="ctr" defTabSz="1013612">
              <a:defRPr/>
            </a:pPr>
            <a:r>
              <a:rPr lang="ko-KR" altLang="en-US" sz="700" dirty="0" err="1">
                <a:latin typeface="+mn-ea"/>
              </a:rPr>
              <a:t>지체일수</a:t>
            </a:r>
            <a:r>
              <a:rPr lang="ko-KR" altLang="en-US" sz="700" dirty="0">
                <a:latin typeface="+mn-ea"/>
              </a:rPr>
              <a:t> 계산은 합산한 기간으로 한다</a:t>
            </a:r>
            <a:r>
              <a:rPr lang="en-US" altLang="ko-KR" sz="700" dirty="0">
                <a:latin typeface="+mn-ea"/>
              </a:rPr>
              <a:t>.</a:t>
            </a:r>
          </a:p>
        </p:txBody>
      </p:sp>
      <p:sp>
        <p:nvSpPr>
          <p:cNvPr id="238" name="TextBox 237">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719050" y="6232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6" name="그룹 5"/>
          <p:cNvGrpSpPr/>
          <p:nvPr/>
        </p:nvGrpSpPr>
        <p:grpSpPr>
          <a:xfrm>
            <a:off x="3836701" y="1492460"/>
            <a:ext cx="2630093" cy="1091295"/>
            <a:chOff x="3806813" y="1707904"/>
            <a:chExt cx="2630093" cy="1091295"/>
          </a:xfrm>
        </p:grpSpPr>
        <p:sp>
          <p:nvSpPr>
            <p:cNvPr id="117" name="직사각형 116"/>
            <p:cNvSpPr/>
            <p:nvPr/>
          </p:nvSpPr>
          <p:spPr>
            <a:xfrm>
              <a:off x="3808905" y="2172131"/>
              <a:ext cx="1639886" cy="627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3895968" y="217213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5624010" y="217213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25" name="직선 연결선 124">
              <a:extLst>
                <a:ext uri="{FF2B5EF4-FFF2-40B4-BE49-F238E27FC236}">
                  <a16:creationId xmlns:a16="http://schemas.microsoft.com/office/drawing/2014/main" id="{E9293055-D5CD-4B9E-7F64-64B2D2CA7A52}"/>
                </a:ext>
              </a:extLst>
            </p:cNvPr>
            <p:cNvCxnSpPr/>
            <p:nvPr/>
          </p:nvCxnSpPr>
          <p:spPr>
            <a:xfrm>
              <a:off x="3806813" y="21721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3808906" y="23868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4" name="TextBox 143">
              <a:extLst>
                <a:ext uri="{FF2B5EF4-FFF2-40B4-BE49-F238E27FC236}">
                  <a16:creationId xmlns:a16="http://schemas.microsoft.com/office/drawing/2014/main" id="{FFC49AEA-2A8F-250C-A86A-A7751D9706C3}"/>
                </a:ext>
              </a:extLst>
            </p:cNvPr>
            <p:cNvSpPr txBox="1"/>
            <p:nvPr/>
          </p:nvSpPr>
          <p:spPr>
            <a:xfrm>
              <a:off x="3867784" y="1707904"/>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a:t>
              </a:r>
              <a:r>
                <a:rPr lang="ko-KR" altLang="en-US" sz="700" dirty="0">
                  <a:latin typeface="+mn-ea"/>
                </a:rPr>
                <a:t>불공정 하도급 거래</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하도급법</a:t>
              </a:r>
              <a:r>
                <a:rPr lang="ko-KR" altLang="en-US" sz="700" dirty="0">
                  <a:latin typeface="+mn-ea"/>
                </a:rPr>
                <a:t> </a:t>
              </a:r>
              <a:r>
                <a:rPr lang="ko-KR" altLang="en-US" sz="700" dirty="0" err="1">
                  <a:latin typeface="+mn-ea"/>
                </a:rPr>
                <a:t>위반정도</a:t>
              </a:r>
              <a:endParaRPr lang="ko-KR" altLang="en-US" sz="700" dirty="0">
                <a:latin typeface="+mn-ea"/>
              </a:endParaRPr>
            </a:p>
          </p:txBody>
        </p:sp>
        <p:sp>
          <p:nvSpPr>
            <p:cNvPr id="145" name="TextBox 144">
              <a:extLst>
                <a:ext uri="{FF2B5EF4-FFF2-40B4-BE49-F238E27FC236}">
                  <a16:creationId xmlns:a16="http://schemas.microsoft.com/office/drawing/2014/main" id="{FFC49AEA-2A8F-250C-A86A-A7751D9706C3}"/>
                </a:ext>
              </a:extLst>
            </p:cNvPr>
            <p:cNvSpPr txBox="1"/>
            <p:nvPr/>
          </p:nvSpPr>
          <p:spPr>
            <a:xfrm>
              <a:off x="6044380" y="217213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3895968" y="2432934"/>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1</a:t>
              </a:r>
              <a:r>
                <a:rPr lang="ko-KR" altLang="en-US" sz="700" dirty="0" err="1">
                  <a:latin typeface="+mn-ea"/>
                </a:rPr>
                <a:t>년이내에</a:t>
              </a:r>
              <a:r>
                <a:rPr lang="ko-KR" altLang="en-US" sz="700" dirty="0">
                  <a:latin typeface="+mn-ea"/>
                </a:rPr>
                <a:t> 공정거래위원장으로부터 하도급 상습범위반자로 통보 받은 자</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5648054" y="2540655"/>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366584" y="254065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3808906" y="27991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2" name="직사각형 211"/>
          <p:cNvSpPr/>
          <p:nvPr/>
        </p:nvSpPr>
        <p:spPr>
          <a:xfrm>
            <a:off x="3838793" y="3097009"/>
            <a:ext cx="1639886" cy="164605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3" name="TextBox 212">
            <a:extLst>
              <a:ext uri="{FF2B5EF4-FFF2-40B4-BE49-F238E27FC236}">
                <a16:creationId xmlns:a16="http://schemas.microsoft.com/office/drawing/2014/main" id="{FFC49AEA-2A8F-250C-A86A-A7751D9706C3}"/>
              </a:ext>
            </a:extLst>
          </p:cNvPr>
          <p:cNvSpPr txBox="1"/>
          <p:nvPr/>
        </p:nvSpPr>
        <p:spPr>
          <a:xfrm>
            <a:off x="3925856" y="309700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5653898" y="309700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15" name="직선 연결선 214">
            <a:extLst>
              <a:ext uri="{FF2B5EF4-FFF2-40B4-BE49-F238E27FC236}">
                <a16:creationId xmlns:a16="http://schemas.microsoft.com/office/drawing/2014/main" id="{E9293055-D5CD-4B9E-7F64-64B2D2CA7A52}"/>
              </a:ext>
            </a:extLst>
          </p:cNvPr>
          <p:cNvCxnSpPr/>
          <p:nvPr/>
        </p:nvCxnSpPr>
        <p:spPr>
          <a:xfrm>
            <a:off x="3836701" y="309700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3838794" y="33117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3897672" y="2632783"/>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a:t>
            </a:r>
            <a:r>
              <a:rPr lang="ko-KR" altLang="en-US" sz="700" dirty="0">
                <a:latin typeface="+mn-ea"/>
              </a:rPr>
              <a:t>부정당업자제재</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부정당업자로 </a:t>
            </a:r>
            <a:r>
              <a:rPr lang="ko-KR" altLang="en-US" sz="700" dirty="0" err="1">
                <a:latin typeface="+mn-ea"/>
              </a:rPr>
              <a:t>제재받은</a:t>
            </a:r>
            <a:r>
              <a:rPr lang="ko-KR" altLang="en-US" sz="700" dirty="0">
                <a:latin typeface="+mn-ea"/>
              </a:rPr>
              <a:t> </a:t>
            </a:r>
            <a:r>
              <a:rPr lang="ko-KR" altLang="en-US" sz="700" dirty="0" err="1">
                <a:latin typeface="+mn-ea"/>
              </a:rPr>
              <a:t>총제재기간</a:t>
            </a:r>
            <a:endParaRPr lang="ko-KR" altLang="en-US" sz="700" dirty="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6074268" y="309700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3925856" y="3357813"/>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2</a:t>
            </a:r>
            <a:r>
              <a:rPr lang="ko-KR" altLang="en-US" sz="700" dirty="0">
                <a:latin typeface="+mn-ea"/>
              </a:rPr>
              <a:t>년 이내 부정당업자 제재를 받은 자로서 부정당업자 </a:t>
            </a:r>
            <a:r>
              <a:rPr lang="ko-KR" altLang="en-US" sz="700" dirty="0" err="1">
                <a:latin typeface="+mn-ea"/>
              </a:rPr>
              <a:t>제재기간</a:t>
            </a:r>
            <a:r>
              <a:rPr lang="ko-KR" altLang="en-US" sz="700" dirty="0">
                <a:latin typeface="+mn-ea"/>
              </a:rPr>
              <a:t> 종료일이 입찰공고일로부터 </a:t>
            </a:r>
            <a:r>
              <a:rPr lang="en-US" altLang="ko-KR" sz="700" dirty="0">
                <a:latin typeface="+mn-ea"/>
              </a:rPr>
              <a:t>2</a:t>
            </a:r>
            <a:r>
              <a:rPr lang="ko-KR" altLang="en-US" sz="700" dirty="0">
                <a:latin typeface="+mn-ea"/>
              </a:rPr>
              <a:t>년 이내에 포함된 전체 부정당업자 제재 건의 총 </a:t>
            </a:r>
            <a:r>
              <a:rPr lang="ko-KR" altLang="en-US" sz="700" dirty="0" err="1">
                <a:latin typeface="+mn-ea"/>
              </a:rPr>
              <a:t>제재기간에</a:t>
            </a:r>
            <a:r>
              <a:rPr lang="ko-KR" altLang="en-US" sz="700" dirty="0">
                <a:latin typeface="+mn-ea"/>
              </a:rPr>
              <a:t> 따라</a:t>
            </a:r>
          </a:p>
        </p:txBody>
      </p:sp>
      <p:sp>
        <p:nvSpPr>
          <p:cNvPr id="220" name="TextBox 219">
            <a:extLst>
              <a:ext uri="{FF2B5EF4-FFF2-40B4-BE49-F238E27FC236}">
                <a16:creationId xmlns:a16="http://schemas.microsoft.com/office/drawing/2014/main" id="{FFC49AEA-2A8F-250C-A86A-A7751D9706C3}"/>
              </a:ext>
            </a:extLst>
          </p:cNvPr>
          <p:cNvSpPr txBox="1"/>
          <p:nvPr/>
        </p:nvSpPr>
        <p:spPr>
          <a:xfrm>
            <a:off x="5677879" y="3920768"/>
            <a:ext cx="155555" cy="754053"/>
          </a:xfrm>
          <a:prstGeom prst="rect">
            <a:avLst/>
          </a:prstGeom>
          <a:noFill/>
        </p:spPr>
        <p:txBody>
          <a:bodyPr wrap="none" lIns="0" tIns="0" rIns="0" bIns="0" rtlCol="0">
            <a:spAutoFit/>
          </a:bodyPr>
          <a:lstStyle/>
          <a:p>
            <a:pPr algn="r"/>
            <a:r>
              <a:rPr lang="en-US" altLang="ko-KR" sz="700" dirty="0">
                <a:latin typeface="+mn-ea"/>
              </a:rPr>
              <a:t>-2.0</a:t>
            </a:r>
          </a:p>
          <a:p>
            <a:pPr algn="r"/>
            <a:endParaRPr lang="en-US" altLang="ko-KR" sz="700" dirty="0">
              <a:latin typeface="+mn-ea"/>
            </a:endParaRPr>
          </a:p>
          <a:p>
            <a:pPr algn="r"/>
            <a:r>
              <a:rPr lang="en-US" altLang="ko-KR" sz="700" dirty="0">
                <a:latin typeface="+mn-ea"/>
              </a:rPr>
              <a:t>-1.5</a:t>
            </a:r>
          </a:p>
          <a:p>
            <a:pPr algn="r"/>
            <a:endParaRPr lang="en-US" altLang="ko-KR" sz="700" dirty="0">
              <a:latin typeface="+mn-ea"/>
            </a:endParaRPr>
          </a:p>
          <a:p>
            <a:pPr algn="r"/>
            <a:r>
              <a:rPr lang="en-US" altLang="ko-KR" sz="700" dirty="0">
                <a:latin typeface="+mn-ea"/>
              </a:rPr>
              <a:t>-1.0</a:t>
            </a:r>
          </a:p>
          <a:p>
            <a:pPr algn="r"/>
            <a:endParaRPr lang="en-US" altLang="ko-KR" sz="700" dirty="0">
              <a:latin typeface="+mn-ea"/>
            </a:endParaRPr>
          </a:p>
          <a:p>
            <a:pPr algn="r"/>
            <a:r>
              <a:rPr lang="en-US" altLang="ko-KR" sz="700" dirty="0">
                <a:latin typeface="+mn-ea"/>
              </a:rPr>
              <a:t>-0.5</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6396472" y="397354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33" name="직선 연결선 232">
            <a:extLst>
              <a:ext uri="{FF2B5EF4-FFF2-40B4-BE49-F238E27FC236}">
                <a16:creationId xmlns:a16="http://schemas.microsoft.com/office/drawing/2014/main" id="{E9293055-D5CD-4B9E-7F64-64B2D2CA7A52}"/>
              </a:ext>
            </a:extLst>
          </p:cNvPr>
          <p:cNvCxnSpPr/>
          <p:nvPr/>
        </p:nvCxnSpPr>
        <p:spPr>
          <a:xfrm>
            <a:off x="3838794" y="47430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4" name="TextBox 233">
            <a:extLst>
              <a:ext uri="{FF2B5EF4-FFF2-40B4-BE49-F238E27FC236}">
                <a16:creationId xmlns:a16="http://schemas.microsoft.com/office/drawing/2014/main" id="{FFC49AEA-2A8F-250C-A86A-A7751D9706C3}"/>
              </a:ext>
            </a:extLst>
          </p:cNvPr>
          <p:cNvSpPr txBox="1"/>
          <p:nvPr/>
        </p:nvSpPr>
        <p:spPr>
          <a:xfrm>
            <a:off x="3925856" y="3920768"/>
            <a:ext cx="1480199" cy="754053"/>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총 </a:t>
            </a:r>
            <a:r>
              <a:rPr lang="ko-KR" altLang="en-US" sz="700" dirty="0" err="1">
                <a:latin typeface="+mn-ea"/>
              </a:rPr>
              <a:t>제재기간이</a:t>
            </a:r>
            <a:r>
              <a:rPr lang="ko-KR" altLang="en-US" sz="700" dirty="0">
                <a:latin typeface="+mn-ea"/>
              </a:rPr>
              <a:t> </a:t>
            </a:r>
            <a:r>
              <a:rPr lang="en-US" altLang="ko-KR" sz="700" dirty="0">
                <a:latin typeface="+mn-ea"/>
              </a:rPr>
              <a:t>1</a:t>
            </a:r>
            <a:r>
              <a:rPr lang="ko-KR" altLang="en-US" sz="700" dirty="0">
                <a:latin typeface="+mn-ea"/>
              </a:rPr>
              <a:t>년 </a:t>
            </a:r>
            <a:r>
              <a:rPr lang="en-US" altLang="ko-KR" sz="700" dirty="0">
                <a:latin typeface="+mn-ea"/>
              </a:rPr>
              <a:t>6</a:t>
            </a:r>
            <a:r>
              <a:rPr lang="ko-KR" altLang="en-US" sz="700" dirty="0">
                <a:latin typeface="+mn-ea"/>
              </a:rPr>
              <a:t>개월 이상인 경우</a:t>
            </a:r>
          </a:p>
          <a:p>
            <a:r>
              <a:rPr lang="en-US" altLang="ko-KR" sz="700" dirty="0">
                <a:latin typeface="+mn-ea"/>
              </a:rPr>
              <a:t>  - </a:t>
            </a:r>
            <a:r>
              <a:rPr lang="ko-KR" altLang="en-US" sz="700" dirty="0">
                <a:latin typeface="+mn-ea"/>
              </a:rPr>
              <a:t>총제재기간이 </a:t>
            </a:r>
            <a:r>
              <a:rPr lang="en-US" altLang="ko-KR" sz="700" dirty="0">
                <a:latin typeface="+mn-ea"/>
              </a:rPr>
              <a:t>1</a:t>
            </a:r>
            <a:r>
              <a:rPr lang="ko-KR" altLang="en-US" sz="700" dirty="0" err="1">
                <a:latin typeface="+mn-ea"/>
              </a:rPr>
              <a:t>년이상</a:t>
            </a:r>
            <a:r>
              <a:rPr lang="en-US" altLang="ko-KR" sz="700" dirty="0">
                <a:latin typeface="+mn-ea"/>
              </a:rPr>
              <a:t>~1</a:t>
            </a:r>
            <a:r>
              <a:rPr lang="ko-KR" altLang="en-US" sz="700" dirty="0">
                <a:latin typeface="+mn-ea"/>
              </a:rPr>
              <a:t>년 </a:t>
            </a:r>
            <a:r>
              <a:rPr lang="en-US" altLang="ko-KR" sz="700" dirty="0">
                <a:latin typeface="+mn-ea"/>
              </a:rPr>
              <a:t>6</a:t>
            </a:r>
            <a:r>
              <a:rPr lang="ko-KR" altLang="en-US" sz="700" dirty="0">
                <a:latin typeface="+mn-ea"/>
              </a:rPr>
              <a:t>개월 미만인 경우</a:t>
            </a:r>
          </a:p>
          <a:p>
            <a:r>
              <a:rPr lang="en-US" altLang="ko-KR" sz="700" dirty="0">
                <a:latin typeface="+mn-ea"/>
              </a:rPr>
              <a:t>  - </a:t>
            </a:r>
            <a:r>
              <a:rPr lang="ko-KR" altLang="en-US" sz="700" dirty="0">
                <a:latin typeface="+mn-ea"/>
              </a:rPr>
              <a:t>총제재기간이 </a:t>
            </a:r>
            <a:r>
              <a:rPr lang="en-US" altLang="ko-KR" sz="700" dirty="0">
                <a:latin typeface="+mn-ea"/>
              </a:rPr>
              <a:t>6</a:t>
            </a:r>
            <a:r>
              <a:rPr lang="ko-KR" altLang="en-US" sz="700" dirty="0">
                <a:latin typeface="+mn-ea"/>
              </a:rPr>
              <a:t>개월 이상</a:t>
            </a:r>
            <a:r>
              <a:rPr lang="en-US" altLang="ko-KR" sz="700" dirty="0">
                <a:latin typeface="+mn-ea"/>
              </a:rPr>
              <a:t>~ 1</a:t>
            </a:r>
            <a:r>
              <a:rPr lang="ko-KR" altLang="en-US" sz="700" dirty="0">
                <a:latin typeface="+mn-ea"/>
              </a:rPr>
              <a:t>년 미만인 경우</a:t>
            </a:r>
          </a:p>
          <a:p>
            <a:r>
              <a:rPr lang="en-US" altLang="ko-KR" sz="700" dirty="0">
                <a:latin typeface="+mn-ea"/>
              </a:rPr>
              <a:t>  - </a:t>
            </a:r>
            <a:r>
              <a:rPr lang="ko-KR" altLang="en-US" sz="700" dirty="0">
                <a:latin typeface="+mn-ea"/>
              </a:rPr>
              <a:t>총제재기간이 </a:t>
            </a:r>
            <a:r>
              <a:rPr lang="en-US" altLang="ko-KR" sz="700" dirty="0">
                <a:latin typeface="+mn-ea"/>
              </a:rPr>
              <a:t>6</a:t>
            </a:r>
            <a:r>
              <a:rPr lang="ko-KR" altLang="en-US" sz="700" dirty="0">
                <a:latin typeface="+mn-ea"/>
              </a:rPr>
              <a:t>개월 미만인 경우</a:t>
            </a:r>
          </a:p>
        </p:txBody>
      </p:sp>
      <p:sp>
        <p:nvSpPr>
          <p:cNvPr id="67" name="타원 66">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2209193553"/>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231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936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당해물품 납품이행 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당해물품 납품이행 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97433">
                <a:tc>
                  <a:txBody>
                    <a:bodyPr/>
                    <a:lstStyle/>
                    <a:p>
                      <a:pPr latinLnBrk="1"/>
                      <a:r>
                        <a:rPr lang="ko-KR" altLang="en-US" sz="800" dirty="0">
                          <a:latin typeface="+mn-ea"/>
                          <a:ea typeface="+mn-ea"/>
                        </a:rPr>
                        <a:t>입찰가격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 소계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소계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고도인증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고도인증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r h="0">
                <a:tc>
                  <a:txBody>
                    <a:bodyPr/>
                    <a:lstStyle/>
                    <a:p>
                      <a:pPr latinLnBrk="1"/>
                      <a:r>
                        <a:rPr lang="ko-KR" altLang="en-US" sz="800" dirty="0">
                          <a:latin typeface="+mn-ea"/>
                          <a:ea typeface="+mn-ea"/>
                        </a:rPr>
                        <a:t>녹색 일반인증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녹색 일반인증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2990251"/>
                  </a:ext>
                </a:extLst>
              </a:tr>
              <a:tr h="0">
                <a:tc>
                  <a:txBody>
                    <a:bodyPr/>
                    <a:lstStyle/>
                    <a:p>
                      <a:pPr latinLnBrk="1"/>
                      <a:r>
                        <a:rPr lang="ko-KR" altLang="en-US" sz="800" dirty="0">
                          <a:latin typeface="+mn-ea"/>
                          <a:ea typeface="+mn-ea"/>
                        </a:rPr>
                        <a:t>영세기업 지원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영세기업 지원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기타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기타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계약이행 성실도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계약이행 성실도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1598892"/>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12" name="TextBox 11">
            <a:extLst>
              <a:ext uri="{FF2B5EF4-FFF2-40B4-BE49-F238E27FC236}">
                <a16:creationId xmlns:a16="http://schemas.microsoft.com/office/drawing/2014/main" id="{60055083-8CC2-EBAB-95A2-A3D16C277F81}"/>
              </a:ext>
            </a:extLst>
          </p:cNvPr>
          <p:cNvSpPr txBox="1"/>
          <p:nvPr/>
        </p:nvSpPr>
        <p:spPr>
          <a:xfrm>
            <a:off x="465794" y="4067482"/>
            <a:ext cx="2961314"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err="1">
                <a:solidFill>
                  <a:prstClr val="black"/>
                </a:solidFill>
              </a:rPr>
              <a:t>당해물품납품이행능력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15EC443-8860-14E7-541D-015B26B2064C}"/>
              </a:ext>
            </a:extLst>
          </p:cNvPr>
          <p:cNvGraphicFramePr>
            <a:graphicFrameLocks noGrp="1"/>
          </p:cNvGraphicFramePr>
          <p:nvPr/>
        </p:nvGraphicFramePr>
        <p:xfrm>
          <a:off x="460676" y="435123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11" name="TextBox 10">
            <a:extLst>
              <a:ext uri="{FF2B5EF4-FFF2-40B4-BE49-F238E27FC236}">
                <a16:creationId xmlns:a16="http://schemas.microsoft.com/office/drawing/2014/main" id="{AC4C4897-C32F-B3F5-E1C5-D8DB3D6E6904}"/>
              </a:ext>
            </a:extLst>
          </p:cNvPr>
          <p:cNvSpPr txBox="1"/>
          <p:nvPr/>
        </p:nvSpPr>
        <p:spPr>
          <a:xfrm>
            <a:off x="460676" y="5147893"/>
            <a:ext cx="2810632"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입찰가격 산출 내역</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5" name="표 14">
            <a:extLst>
              <a:ext uri="{FF2B5EF4-FFF2-40B4-BE49-F238E27FC236}">
                <a16:creationId xmlns:a16="http://schemas.microsoft.com/office/drawing/2014/main" id="{DCB62277-9458-AC39-3630-6FD48BCD820E}"/>
              </a:ext>
            </a:extLst>
          </p:cNvPr>
          <p:cNvGraphicFramePr>
            <a:graphicFrameLocks noGrp="1"/>
          </p:cNvGraphicFramePr>
          <p:nvPr/>
        </p:nvGraphicFramePr>
        <p:xfrm>
          <a:off x="455558" y="5431647"/>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2" name="Text Box 73">
            <a:extLst>
              <a:ext uri="{FF2B5EF4-FFF2-40B4-BE49-F238E27FC236}">
                <a16:creationId xmlns:a16="http://schemas.microsoft.com/office/drawing/2014/main" id="{B8D0317B-44C7-3E75-E5B9-72997111014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79216348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232</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926048"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품질관리 등 신뢰정도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42499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고도인증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고도인증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녹색 일반인증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녹색 일반인증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공동수급체 구성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공동수급체 구성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소기업 출자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smentpInvstExmgrdScr</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출자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4064131"/>
                  </a:ext>
                </a:extLst>
              </a:tr>
              <a:tr h="0">
                <a:tc>
                  <a:txBody>
                    <a:bodyPr/>
                    <a:lstStyle/>
                    <a:p>
                      <a:pPr latinLnBrk="1"/>
                      <a:r>
                        <a:rPr lang="ko-KR" altLang="en-US" sz="800" dirty="0">
                          <a:latin typeface="+mn-ea"/>
                          <a:ea typeface="+mn-ea"/>
                        </a:rPr>
                        <a:t>지역업체 출자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rgnBzentyInvstExmgrdScr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지역업체 출자 심사평점</a:t>
                      </a:r>
                      <a:r>
                        <a:rPr lang="en-US" altLang="ko-KR" sz="800" dirty="0">
                          <a:latin typeface="+mn-ea"/>
                          <a:ea typeface="+mn-ea"/>
                        </a:rPr>
                        <a:t> </a:t>
                      </a:r>
                      <a:r>
                        <a:rPr lang="ko-KR" altLang="en-US" sz="800" dirty="0">
                          <a:latin typeface="+mn-ea"/>
                          <a:ea typeface="+mn-ea"/>
                        </a:rPr>
                        <a:t>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4519322"/>
                  </a:ext>
                </a:extLst>
              </a:tr>
              <a:tr h="0">
                <a:tc>
                  <a:txBody>
                    <a:bodyPr/>
                    <a:lstStyle/>
                    <a:p>
                      <a:pPr latinLnBrk="1"/>
                      <a:r>
                        <a:rPr lang="ko-KR" altLang="en-US" sz="800" dirty="0">
                          <a:latin typeface="+mn-ea"/>
                          <a:ea typeface="+mn-ea"/>
                        </a:rPr>
                        <a:t>소기업 또는 소상공인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또는 소상공인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조달업무 우수업체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조달업무 우수업체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1598892"/>
                  </a:ext>
                </a:extLst>
              </a:tr>
              <a:tr h="0">
                <a:tc>
                  <a:txBody>
                    <a:bodyPr/>
                    <a:lstStyle/>
                    <a:p>
                      <a:pPr latinLnBrk="1"/>
                      <a:r>
                        <a:rPr lang="ko-KR" altLang="en-US" sz="800" dirty="0">
                          <a:latin typeface="+mn-ea"/>
                          <a:ea typeface="+mn-ea"/>
                        </a:rPr>
                        <a:t>여성기업지원 및 여성고용촉진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fmlSprtExmgrdScr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여성기업지원 및 여성고용촉진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r h="0">
                <a:tc>
                  <a:txBody>
                    <a:bodyPr/>
                    <a:lstStyle/>
                    <a:p>
                      <a:pPr latinLnBrk="1"/>
                      <a:r>
                        <a:rPr lang="ko-KR" altLang="en-US" sz="800" dirty="0">
                          <a:latin typeface="+mn-ea"/>
                          <a:ea typeface="+mn-ea"/>
                        </a:rPr>
                        <a:t>장애인기업지원 및 장애인 고용촉진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pwdbsSprtExmgrdScr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장애인기업지원 및 장애인 고용촉진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1750504"/>
                  </a:ext>
                </a:extLst>
              </a:tr>
              <a:tr h="0">
                <a:tc>
                  <a:txBody>
                    <a:bodyPr/>
                    <a:lstStyle/>
                    <a:p>
                      <a:pPr latinLnBrk="1"/>
                      <a:r>
                        <a:rPr lang="ko-KR" altLang="en-US" sz="800" dirty="0">
                          <a:latin typeface="+mn-ea"/>
                          <a:ea typeface="+mn-ea"/>
                        </a:rPr>
                        <a:t>신규채용 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신규채용 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4994941"/>
                  </a:ext>
                </a:extLst>
              </a:tr>
              <a:tr h="0">
                <a:tc>
                  <a:txBody>
                    <a:bodyPr/>
                    <a:lstStyle/>
                    <a:p>
                      <a:pPr latinLnBrk="1"/>
                      <a:r>
                        <a:rPr lang="ko-KR" altLang="en-US" sz="800" dirty="0">
                          <a:latin typeface="+mn-ea"/>
                          <a:ea typeface="+mn-ea"/>
                        </a:rPr>
                        <a:t>혁신형 중소기업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혁신형 중소기업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96982947"/>
                  </a:ext>
                </a:extLst>
              </a:tr>
              <a:tr h="0">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frclsGdsExmgrdScr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6125305"/>
                  </a:ext>
                </a:extLst>
              </a:tr>
              <a:tr h="0">
                <a:tc>
                  <a:txBody>
                    <a:bodyPr/>
                    <a:lstStyle/>
                    <a:p>
                      <a:pPr latinLnBrk="1"/>
                      <a:r>
                        <a:rPr lang="ko-KR" altLang="en-US" sz="800" dirty="0">
                          <a:latin typeface="+mn-ea"/>
                          <a:ea typeface="+mn-ea"/>
                        </a:rPr>
                        <a:t>수출우수기업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수출우수기업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30232807"/>
                  </a:ext>
                </a:extLst>
              </a:tr>
              <a:tr h="0">
                <a:tc>
                  <a:txBody>
                    <a:bodyPr/>
                    <a:lstStyle/>
                    <a:p>
                      <a:pPr latinLnBrk="1"/>
                      <a:r>
                        <a:rPr lang="ko-KR" altLang="en-US" sz="800" dirty="0">
                          <a:latin typeface="+mn-ea"/>
                          <a:ea typeface="+mn-ea"/>
                        </a:rPr>
                        <a:t>기타</a:t>
                      </a:r>
                      <a:r>
                        <a:rPr lang="en-US" altLang="ko-KR" sz="800" dirty="0">
                          <a:latin typeface="+mn-ea"/>
                          <a:ea typeface="+mn-ea"/>
                        </a:rPr>
                        <a:t>2 </a:t>
                      </a:r>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2 </a:t>
                      </a:r>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4132194"/>
                  </a:ext>
                </a:extLst>
              </a:tr>
            </a:tbl>
          </a:graphicData>
        </a:graphic>
      </p:graphicFrame>
      <p:sp>
        <p:nvSpPr>
          <p:cNvPr id="2" name="TextBox 1">
            <a:extLst>
              <a:ext uri="{FF2B5EF4-FFF2-40B4-BE49-F238E27FC236}">
                <a16:creationId xmlns:a16="http://schemas.microsoft.com/office/drawing/2014/main" id="{C78E7E9A-0EB0-6FC4-1C2F-A6EF6163BF32}"/>
              </a:ext>
            </a:extLst>
          </p:cNvPr>
          <p:cNvSpPr txBox="1"/>
          <p:nvPr/>
        </p:nvSpPr>
        <p:spPr>
          <a:xfrm>
            <a:off x="465794" y="5543583"/>
            <a:ext cx="2655141"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계약이행 성실도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B5E2BD0E-AF42-06C6-D0D9-A958375FCD26}"/>
              </a:ext>
            </a:extLst>
          </p:cNvPr>
          <p:cNvGraphicFramePr>
            <a:graphicFrameLocks noGrp="1"/>
          </p:cNvGraphicFramePr>
          <p:nvPr/>
        </p:nvGraphicFramePr>
        <p:xfrm>
          <a:off x="460676" y="5827337"/>
          <a:ext cx="8994883"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계약이행 성실도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계약이행 성실도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5AEAEF9-30D7-84ED-5FF9-A64C13BD992E}"/>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7" name="Text Box 73">
            <a:extLst>
              <a:ext uri="{FF2B5EF4-FFF2-40B4-BE49-F238E27FC236}">
                <a16:creationId xmlns:a16="http://schemas.microsoft.com/office/drawing/2014/main" id="{1C5E269D-421E-0BC2-2982-72C6F464FEC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889752598"/>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233</a:t>
            </a:fld>
            <a:endParaRPr lang="ko-KR" altLang="en-US" dirty="0"/>
          </a:p>
        </p:txBody>
      </p:sp>
      <p:sp>
        <p:nvSpPr>
          <p:cNvPr id="5" name="TextBox 4">
            <a:extLst>
              <a:ext uri="{FF2B5EF4-FFF2-40B4-BE49-F238E27FC236}">
                <a16:creationId xmlns:a16="http://schemas.microsoft.com/office/drawing/2014/main" id="{375C52DF-2333-77DE-1014-EECBC60F9F7C}"/>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6" name="표 5">
            <a:extLst>
              <a:ext uri="{FF2B5EF4-FFF2-40B4-BE49-F238E27FC236}">
                <a16:creationId xmlns:a16="http://schemas.microsoft.com/office/drawing/2014/main" id="{AC5200E6-008B-19A5-0E8A-95E552A8367D}"/>
              </a:ext>
            </a:extLst>
          </p:cNvPr>
          <p:cNvGraphicFramePr>
            <a:graphicFrameLocks noGrp="1"/>
          </p:cNvGraphicFramePr>
          <p:nvPr/>
        </p:nvGraphicFramePr>
        <p:xfrm>
          <a:off x="452291" y="1014316"/>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목록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scwin.btn_list_onclick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개찰목록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(UI-BD-08-M01)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개찰목록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2" name="Text Box 73">
            <a:extLst>
              <a:ext uri="{FF2B5EF4-FFF2-40B4-BE49-F238E27FC236}">
                <a16:creationId xmlns:a16="http://schemas.microsoft.com/office/drawing/2014/main" id="{B5904286-4495-A437-2B7B-94E42F4AE0B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606708354"/>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234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MUI-BD-10-M14</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28683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a:t>
            </a:r>
            <a:r>
              <a:rPr lang="ko-KR" altLang="en-US" dirty="0" err="1"/>
              <a:t>당해물품납품이행능력</a:t>
            </a:r>
            <a:endParaRPr lang="ko-KR" altLang="en-US" dirty="0"/>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3801111" y="362341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702517" y="4153215"/>
            <a:ext cx="2630093" cy="846249"/>
            <a:chOff x="702517" y="4937381"/>
            <a:chExt cx="2630093" cy="846249"/>
          </a:xfrm>
        </p:grpSpPr>
        <p:sp>
          <p:nvSpPr>
            <p:cNvPr id="110" name="직사각형 109"/>
            <p:cNvSpPr/>
            <p:nvPr/>
          </p:nvSpPr>
          <p:spPr>
            <a:xfrm>
              <a:off x="704609" y="5224495"/>
              <a:ext cx="1639886" cy="5563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1672" y="5224496"/>
              <a:ext cx="1570293" cy="18094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kumimoji="1" lang="en-US" altLang="ko-KR" sz="700" spc="-60" dirty="0">
                <a:solidFill>
                  <a:srgbClr val="000000">
                    <a:lumMod val="65000"/>
                    <a:lumOff val="35000"/>
                  </a:srgbClr>
                </a:solidFill>
                <a:latin typeface="Verdana" panose="020B0604030504040204" pitchFamily="34" charset="0"/>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2519714" y="522449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702517" y="522449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4610" y="54392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4610" y="57836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763488" y="493738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납품실적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2940084" y="522449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791672" y="5503711"/>
              <a:ext cx="1480199"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계약목적물과 동등이상물품</a:t>
              </a:r>
            </a:p>
            <a:p>
              <a:r>
                <a:rPr lang="ko-KR" altLang="en-US" sz="700" dirty="0">
                  <a:latin typeface="+mn-ea"/>
                </a:rPr>
                <a:t>나</a:t>
              </a:r>
              <a:r>
                <a:rPr lang="en-US" altLang="ko-KR" sz="700" dirty="0">
                  <a:latin typeface="+mn-ea"/>
                </a:rPr>
                <a:t>.</a:t>
              </a:r>
              <a:r>
                <a:rPr lang="ko-KR" altLang="en-US" sz="700" dirty="0">
                  <a:latin typeface="+mn-ea"/>
                </a:rPr>
                <a:t>계약목적물과 </a:t>
              </a:r>
              <a:r>
                <a:rPr lang="ko-KR" altLang="en-US" sz="700" dirty="0" err="1">
                  <a:latin typeface="+mn-ea"/>
                </a:rPr>
                <a:t>유사물품</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2649557" y="5557572"/>
              <a:ext cx="49693" cy="107722"/>
            </a:xfrm>
            <a:prstGeom prst="rect">
              <a:avLst/>
            </a:prstGeom>
            <a:noFill/>
          </p:spPr>
          <p:txBody>
            <a:bodyPr wrap="none" lIns="0" tIns="0" rIns="0" bIns="0" rtlCol="0">
              <a:spAutoFit/>
            </a:bodyPr>
            <a:lstStyle/>
            <a:p>
              <a:pPr algn="r"/>
              <a:r>
                <a:rPr lang="en-US" altLang="ko-KR" sz="700" dirty="0">
                  <a:latin typeface="+mn-ea"/>
                </a:rPr>
                <a:t>5</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3262288" y="555757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grpSp>
        <p:nvGrpSpPr>
          <p:cNvPr id="9" name="그룹 8"/>
          <p:cNvGrpSpPr/>
          <p:nvPr/>
        </p:nvGrpSpPr>
        <p:grpSpPr>
          <a:xfrm>
            <a:off x="716366" y="5043737"/>
            <a:ext cx="2630093" cy="726195"/>
            <a:chOff x="3826887" y="1497250"/>
            <a:chExt cx="2630093" cy="726195"/>
          </a:xfrm>
        </p:grpSpPr>
        <p:sp>
          <p:nvSpPr>
            <p:cNvPr id="246" name="직사각형 245"/>
            <p:cNvSpPr/>
            <p:nvPr/>
          </p:nvSpPr>
          <p:spPr>
            <a:xfrm>
              <a:off x="3828979" y="1784364"/>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7" name="TextBox 246">
              <a:extLst>
                <a:ext uri="{FF2B5EF4-FFF2-40B4-BE49-F238E27FC236}">
                  <a16:creationId xmlns:a16="http://schemas.microsoft.com/office/drawing/2014/main" id="{FFC49AEA-2A8F-250C-A86A-A7751D9706C3}"/>
                </a:ext>
              </a:extLst>
            </p:cNvPr>
            <p:cNvSpPr txBox="1"/>
            <p:nvPr/>
          </p:nvSpPr>
          <p:spPr>
            <a:xfrm>
              <a:off x="3916042" y="1784365"/>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a:t>
              </a:r>
              <a:r>
                <a:rPr lang="ko-KR" altLang="en-US" sz="700" dirty="0">
                  <a:latin typeface="+mn-ea"/>
                </a:rPr>
                <a:t>기술평가등급</a:t>
              </a:r>
            </a:p>
          </p:txBody>
        </p:sp>
        <p:sp>
          <p:nvSpPr>
            <p:cNvPr id="248" name="TextBox 247">
              <a:extLst>
                <a:ext uri="{FF2B5EF4-FFF2-40B4-BE49-F238E27FC236}">
                  <a16:creationId xmlns:a16="http://schemas.microsoft.com/office/drawing/2014/main" id="{FFC49AEA-2A8F-250C-A86A-A7751D9706C3}"/>
                </a:ext>
              </a:extLst>
            </p:cNvPr>
            <p:cNvSpPr txBox="1"/>
            <p:nvPr/>
          </p:nvSpPr>
          <p:spPr>
            <a:xfrm>
              <a:off x="5644084" y="1784365"/>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a:t>
              </a:r>
            </a:p>
          </p:txBody>
        </p:sp>
        <p:grpSp>
          <p:nvGrpSpPr>
            <p:cNvPr id="249" name="그룹 248"/>
            <p:cNvGrpSpPr/>
            <p:nvPr/>
          </p:nvGrpSpPr>
          <p:grpSpPr>
            <a:xfrm>
              <a:off x="3826887" y="1784365"/>
              <a:ext cx="2630093" cy="429480"/>
              <a:chOff x="701175" y="1835481"/>
              <a:chExt cx="2630093" cy="429480"/>
            </a:xfrm>
          </p:grpSpPr>
          <p:cxnSp>
            <p:nvCxnSpPr>
              <p:cNvPr id="250" name="직선 연결선 24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53" name="TextBox 252">
              <a:extLst>
                <a:ext uri="{FF2B5EF4-FFF2-40B4-BE49-F238E27FC236}">
                  <a16:creationId xmlns:a16="http://schemas.microsoft.com/office/drawing/2014/main" id="{FFC49AEA-2A8F-250C-A86A-A7751D9706C3}"/>
                </a:ext>
              </a:extLst>
            </p:cNvPr>
            <p:cNvSpPr txBox="1"/>
            <p:nvPr/>
          </p:nvSpPr>
          <p:spPr>
            <a:xfrm>
              <a:off x="3887858" y="14972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기술능력</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6064390" y="1784365"/>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grpSp>
      <p:sp>
        <p:nvSpPr>
          <p:cNvPr id="174" name="직사각형 173"/>
          <p:cNvSpPr/>
          <p:nvPr/>
        </p:nvSpPr>
        <p:spPr>
          <a:xfrm>
            <a:off x="3823602" y="414960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5" name="TextBox 174">
            <a:extLst>
              <a:ext uri="{FF2B5EF4-FFF2-40B4-BE49-F238E27FC236}">
                <a16:creationId xmlns:a16="http://schemas.microsoft.com/office/drawing/2014/main" id="{FFC49AEA-2A8F-250C-A86A-A7751D9706C3}"/>
              </a:ext>
            </a:extLst>
          </p:cNvPr>
          <p:cNvSpPr txBox="1"/>
          <p:nvPr/>
        </p:nvSpPr>
        <p:spPr>
          <a:xfrm>
            <a:off x="3910665" y="4149606"/>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5492833" y="4149606"/>
            <a:ext cx="325410"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 ~ -2</a:t>
            </a:r>
          </a:p>
        </p:txBody>
      </p:sp>
      <p:grpSp>
        <p:nvGrpSpPr>
          <p:cNvPr id="177" name="그룹 176"/>
          <p:cNvGrpSpPr/>
          <p:nvPr/>
        </p:nvGrpSpPr>
        <p:grpSpPr>
          <a:xfrm>
            <a:off x="3821510" y="4149606"/>
            <a:ext cx="2630093" cy="429480"/>
            <a:chOff x="701175" y="1835481"/>
            <a:chExt cx="2630093" cy="429480"/>
          </a:xfrm>
        </p:grpSpPr>
        <p:cxnSp>
          <p:nvCxnSpPr>
            <p:cNvPr id="178" name="직선 연결선 17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1" name="TextBox 180">
            <a:extLst>
              <a:ext uri="{FF2B5EF4-FFF2-40B4-BE49-F238E27FC236}">
                <a16:creationId xmlns:a16="http://schemas.microsoft.com/office/drawing/2014/main" id="{FFC49AEA-2A8F-250C-A86A-A7751D9706C3}"/>
              </a:ext>
            </a:extLst>
          </p:cNvPr>
          <p:cNvSpPr txBox="1"/>
          <p:nvPr/>
        </p:nvSpPr>
        <p:spPr>
          <a:xfrm>
            <a:off x="3882481" y="3662254"/>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III.</a:t>
            </a:r>
            <a:r>
              <a:rPr lang="ko-KR" altLang="en-US" dirty="0"/>
              <a:t>신인도</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3882481" y="386249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6059077" y="4149606"/>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84" name="직사각형 183"/>
          <p:cNvSpPr/>
          <p:nvPr/>
        </p:nvSpPr>
        <p:spPr>
          <a:xfrm>
            <a:off x="3823602" y="4906289"/>
            <a:ext cx="1639886" cy="117937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5" name="TextBox 184">
            <a:extLst>
              <a:ext uri="{FF2B5EF4-FFF2-40B4-BE49-F238E27FC236}">
                <a16:creationId xmlns:a16="http://schemas.microsoft.com/office/drawing/2014/main" id="{FFC49AEA-2A8F-250C-A86A-A7751D9706C3}"/>
              </a:ext>
            </a:extLst>
          </p:cNvPr>
          <p:cNvSpPr txBox="1"/>
          <p:nvPr/>
        </p:nvSpPr>
        <p:spPr>
          <a:xfrm>
            <a:off x="3910665" y="4906289"/>
            <a:ext cx="1480199" cy="861774"/>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lvl="0">
              <a:lnSpc>
                <a:spcPct val="200000"/>
              </a:lnSpc>
            </a:pPr>
            <a:r>
              <a:rPr lang="ko-KR" altLang="en-US" sz="700" dirty="0">
                <a:latin typeface="+mn-ea"/>
              </a:rPr>
              <a:t>가</a:t>
            </a:r>
            <a:r>
              <a:rPr lang="en-US" altLang="ko-KR" sz="700" dirty="0">
                <a:latin typeface="+mn-ea"/>
              </a:rPr>
              <a:t>.</a:t>
            </a:r>
            <a:r>
              <a:rPr lang="ko-KR" altLang="en-US" sz="700" dirty="0" err="1">
                <a:latin typeface="+mn-ea"/>
              </a:rPr>
              <a:t>고도인증</a:t>
            </a:r>
            <a:endParaRPr lang="ko-KR" altLang="en-US" sz="700" dirty="0">
              <a:latin typeface="+mn-ea"/>
            </a:endParaRPr>
          </a:p>
          <a:p>
            <a:pPr>
              <a:lnSpc>
                <a:spcPct val="200000"/>
              </a:lnSpc>
            </a:pPr>
            <a:r>
              <a:rPr lang="ko-KR" altLang="en-US" sz="700" dirty="0">
                <a:latin typeface="+mn-ea"/>
              </a:rPr>
              <a:t>나</a:t>
            </a:r>
            <a:r>
              <a:rPr lang="en-US" altLang="ko-KR" sz="700" dirty="0">
                <a:latin typeface="+mn-ea"/>
              </a:rPr>
              <a:t>.</a:t>
            </a:r>
            <a:r>
              <a:rPr lang="ko-KR" altLang="en-US" sz="700" dirty="0">
                <a:latin typeface="+mn-ea"/>
              </a:rPr>
              <a:t>녹색 </a:t>
            </a:r>
            <a:r>
              <a:rPr lang="ko-KR" altLang="en-US" sz="700" dirty="0" err="1">
                <a:latin typeface="+mn-ea"/>
              </a:rPr>
              <a:t>일반인증</a:t>
            </a:r>
            <a:endParaRPr lang="ko-KR" altLang="en-US" sz="700" dirty="0">
              <a:latin typeface="+mn-ea"/>
            </a:endParaRPr>
          </a:p>
          <a:p>
            <a:pPr>
              <a:lnSpc>
                <a:spcPct val="200000"/>
              </a:lnSpc>
            </a:pPr>
            <a:r>
              <a:rPr lang="ko-KR" altLang="en-US" sz="700" dirty="0">
                <a:latin typeface="+mn-ea"/>
              </a:rPr>
              <a:t>다</a:t>
            </a:r>
            <a:r>
              <a:rPr lang="en-US" altLang="ko-KR" sz="700" dirty="0">
                <a:latin typeface="+mn-ea"/>
              </a:rPr>
              <a:t>.</a:t>
            </a:r>
            <a:r>
              <a:rPr lang="ko-KR" altLang="en-US" sz="700" dirty="0">
                <a:latin typeface="+mn-ea"/>
              </a:rPr>
              <a:t>영세기업 지원</a:t>
            </a:r>
            <a:endParaRPr lang="en-US" altLang="ko-KR" sz="700" dirty="0">
              <a:latin typeface="+mn-ea"/>
            </a:endParaRPr>
          </a:p>
        </p:txBody>
      </p:sp>
      <p:sp>
        <p:nvSpPr>
          <p:cNvPr id="186" name="TextBox 185">
            <a:extLst>
              <a:ext uri="{FF2B5EF4-FFF2-40B4-BE49-F238E27FC236}">
                <a16:creationId xmlns:a16="http://schemas.microsoft.com/office/drawing/2014/main" id="{FFC49AEA-2A8F-250C-A86A-A7751D9706C3}"/>
              </a:ext>
            </a:extLst>
          </p:cNvPr>
          <p:cNvSpPr txBox="1"/>
          <p:nvPr/>
        </p:nvSpPr>
        <p:spPr>
          <a:xfrm>
            <a:off x="5638707" y="4906289"/>
            <a:ext cx="179536" cy="861774"/>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1.5</a:t>
            </a:r>
          </a:p>
          <a:p>
            <a:pPr algn="r">
              <a:lnSpc>
                <a:spcPct val="200000"/>
              </a:lnSpc>
            </a:pPr>
            <a:r>
              <a:rPr lang="en-US" altLang="ko-KR" sz="700" dirty="0">
                <a:latin typeface="+mn-ea"/>
              </a:rPr>
              <a:t>0.75</a:t>
            </a:r>
          </a:p>
          <a:p>
            <a:pPr algn="r">
              <a:lnSpc>
                <a:spcPct val="200000"/>
              </a:lnSpc>
            </a:pPr>
            <a:r>
              <a:rPr lang="en-US" altLang="ko-KR" sz="700" dirty="0">
                <a:latin typeface="+mn-ea"/>
              </a:rPr>
              <a:t>3.0</a:t>
            </a:r>
          </a:p>
        </p:txBody>
      </p:sp>
      <p:grpSp>
        <p:nvGrpSpPr>
          <p:cNvPr id="187" name="그룹 186"/>
          <p:cNvGrpSpPr/>
          <p:nvPr/>
        </p:nvGrpSpPr>
        <p:grpSpPr>
          <a:xfrm>
            <a:off x="3821510" y="4906289"/>
            <a:ext cx="2630093" cy="1182064"/>
            <a:chOff x="701175" y="1835481"/>
            <a:chExt cx="2630093" cy="1182064"/>
          </a:xfrm>
        </p:grpSpPr>
        <p:cxnSp>
          <p:nvCxnSpPr>
            <p:cNvPr id="188" name="직선 연결선 18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9" name="직선 연결선 18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701175" y="24639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03268" y="26787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03268" y="301754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6" name="TextBox 195">
            <a:extLst>
              <a:ext uri="{FF2B5EF4-FFF2-40B4-BE49-F238E27FC236}">
                <a16:creationId xmlns:a16="http://schemas.microsoft.com/office/drawing/2014/main" id="{FFC49AEA-2A8F-250C-A86A-A7751D9706C3}"/>
              </a:ext>
            </a:extLst>
          </p:cNvPr>
          <p:cNvSpPr txBox="1"/>
          <p:nvPr/>
        </p:nvSpPr>
        <p:spPr>
          <a:xfrm>
            <a:off x="3882481" y="46191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품질관리 등</a:t>
            </a:r>
            <a:r>
              <a:rPr lang="en-US" altLang="ko-KR" sz="700" dirty="0">
                <a:latin typeface="+mn-ea"/>
              </a:rPr>
              <a:t> </a:t>
            </a:r>
            <a:r>
              <a:rPr lang="ko-KR" altLang="en-US" sz="700" dirty="0" err="1">
                <a:latin typeface="+mn-ea"/>
              </a:rPr>
              <a:t>신뢰정도</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6059077" y="4906289"/>
            <a:ext cx="359073" cy="861774"/>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sp>
        <p:nvSpPr>
          <p:cNvPr id="210" name="TextBox 209">
            <a:extLst>
              <a:ext uri="{FF2B5EF4-FFF2-40B4-BE49-F238E27FC236}">
                <a16:creationId xmlns:a16="http://schemas.microsoft.com/office/drawing/2014/main" id="{FFC49AEA-2A8F-250C-A86A-A7751D9706C3}"/>
              </a:ext>
            </a:extLst>
          </p:cNvPr>
          <p:cNvSpPr txBox="1"/>
          <p:nvPr/>
        </p:nvSpPr>
        <p:spPr>
          <a:xfrm>
            <a:off x="3910665" y="5813752"/>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라</a:t>
            </a:r>
            <a:r>
              <a:rPr lang="en-US" altLang="ko-KR" dirty="0"/>
              <a:t>.</a:t>
            </a:r>
            <a:r>
              <a:rPr lang="ko-KR" altLang="en-US" dirty="0"/>
              <a:t>기타</a:t>
            </a:r>
            <a:r>
              <a:rPr lang="en-US" altLang="ko-KR" dirty="0"/>
              <a:t>(</a:t>
            </a:r>
            <a:r>
              <a:rPr lang="ko-KR" altLang="en-US" dirty="0"/>
              <a:t>여성기업</a:t>
            </a:r>
            <a:r>
              <a:rPr lang="en-US" altLang="ko-KR" dirty="0"/>
              <a:t>, </a:t>
            </a:r>
            <a:r>
              <a:rPr lang="ko-KR" altLang="en-US" dirty="0"/>
              <a:t>장애인기업 및 장애인고용 우수기업 </a:t>
            </a:r>
            <a:r>
              <a:rPr lang="ko-KR" altLang="en-US" dirty="0" err="1"/>
              <a:t>지원등</a:t>
            </a:r>
            <a:r>
              <a:rPr lang="en-US" altLang="ko-KR" dirty="0"/>
              <a:t>)</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695408" y="5867613"/>
            <a:ext cx="118623"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6377069" y="58676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8" name="그룹 7"/>
          <p:cNvGrpSpPr/>
          <p:nvPr/>
        </p:nvGrpSpPr>
        <p:grpSpPr>
          <a:xfrm>
            <a:off x="3836701" y="2445254"/>
            <a:ext cx="2630093" cy="926432"/>
            <a:chOff x="702517" y="4991154"/>
            <a:chExt cx="2630093" cy="926432"/>
          </a:xfrm>
        </p:grpSpPr>
        <p:sp>
          <p:nvSpPr>
            <p:cNvPr id="214" name="직사각형 213"/>
            <p:cNvSpPr/>
            <p:nvPr/>
          </p:nvSpPr>
          <p:spPr>
            <a:xfrm>
              <a:off x="704609" y="547850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5" name="TextBox 214">
              <a:extLst>
                <a:ext uri="{FF2B5EF4-FFF2-40B4-BE49-F238E27FC236}">
                  <a16:creationId xmlns:a16="http://schemas.microsoft.com/office/drawing/2014/main" id="{FFC49AEA-2A8F-250C-A86A-A7751D9706C3}"/>
                </a:ext>
              </a:extLst>
            </p:cNvPr>
            <p:cNvSpPr txBox="1"/>
            <p:nvPr/>
          </p:nvSpPr>
          <p:spPr>
            <a:xfrm>
              <a:off x="791672" y="5478506"/>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2519714" y="5478506"/>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60</a:t>
              </a:r>
            </a:p>
          </p:txBody>
        </p:sp>
        <p:grpSp>
          <p:nvGrpSpPr>
            <p:cNvPr id="217" name="그룹 216"/>
            <p:cNvGrpSpPr/>
            <p:nvPr/>
          </p:nvGrpSpPr>
          <p:grpSpPr>
            <a:xfrm>
              <a:off x="702517" y="5478506"/>
              <a:ext cx="2630093" cy="429480"/>
              <a:chOff x="701175" y="1835481"/>
              <a:chExt cx="2630093" cy="429480"/>
            </a:xfrm>
          </p:grpSpPr>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21" name="TextBox 220">
              <a:extLst>
                <a:ext uri="{FF2B5EF4-FFF2-40B4-BE49-F238E27FC236}">
                  <a16:creationId xmlns:a16="http://schemas.microsoft.com/office/drawing/2014/main" id="{FFC49AEA-2A8F-250C-A86A-A7751D9706C3}"/>
                </a:ext>
              </a:extLst>
            </p:cNvPr>
            <p:cNvSpPr txBox="1"/>
            <p:nvPr/>
          </p:nvSpPr>
          <p:spPr>
            <a:xfrm>
              <a:off x="763488" y="4991154"/>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a:t>
              </a:r>
              <a:r>
                <a:rPr lang="ko-KR" altLang="en-US" dirty="0"/>
                <a:t>입찰가격</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763488" y="519139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223" name="TextBox 222">
              <a:extLst>
                <a:ext uri="{FF2B5EF4-FFF2-40B4-BE49-F238E27FC236}">
                  <a16:creationId xmlns:a16="http://schemas.microsoft.com/office/drawing/2014/main" id="{FFC49AEA-2A8F-250C-A86A-A7751D9706C3}"/>
                </a:ext>
              </a:extLst>
            </p:cNvPr>
            <p:cNvSpPr txBox="1"/>
            <p:nvPr/>
          </p:nvSpPr>
          <p:spPr>
            <a:xfrm>
              <a:off x="2940020" y="5478506"/>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grpSp>
      <p:cxnSp>
        <p:nvCxnSpPr>
          <p:cNvPr id="224" name="직선 연결선 223">
            <a:extLst>
              <a:ext uri="{FF2B5EF4-FFF2-40B4-BE49-F238E27FC236}">
                <a16:creationId xmlns:a16="http://schemas.microsoft.com/office/drawing/2014/main" id="{E9293055-D5CD-4B9E-7F64-64B2D2CA7A52}"/>
              </a:ext>
            </a:extLst>
          </p:cNvPr>
          <p:cNvCxnSpPr/>
          <p:nvPr/>
        </p:nvCxnSpPr>
        <p:spPr>
          <a:xfrm>
            <a:off x="3801111" y="24102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25" name="그룹 224"/>
          <p:cNvGrpSpPr/>
          <p:nvPr/>
        </p:nvGrpSpPr>
        <p:grpSpPr>
          <a:xfrm>
            <a:off x="3826887" y="1628794"/>
            <a:ext cx="2630093" cy="726195"/>
            <a:chOff x="3826887" y="2285533"/>
            <a:chExt cx="2630093" cy="726195"/>
          </a:xfrm>
        </p:grpSpPr>
        <p:sp>
          <p:nvSpPr>
            <p:cNvPr id="226" name="직사각형 225"/>
            <p:cNvSpPr/>
            <p:nvPr/>
          </p:nvSpPr>
          <p:spPr>
            <a:xfrm>
              <a:off x="3828979" y="257264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7" name="TextBox 226">
              <a:extLst>
                <a:ext uri="{FF2B5EF4-FFF2-40B4-BE49-F238E27FC236}">
                  <a16:creationId xmlns:a16="http://schemas.microsoft.com/office/drawing/2014/main" id="{FFC49AEA-2A8F-250C-A86A-A7751D9706C3}"/>
                </a:ext>
              </a:extLst>
            </p:cNvPr>
            <p:cNvSpPr txBox="1"/>
            <p:nvPr/>
          </p:nvSpPr>
          <p:spPr>
            <a:xfrm>
              <a:off x="3916042" y="2572648"/>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a:t>
              </a: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a:t>
              </a:r>
              <a:r>
                <a:rPr lang="ko-KR" altLang="en-US" sz="700" dirty="0">
                  <a:latin typeface="+mn-ea"/>
                </a:rPr>
                <a:t>기업신용평가</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5644084" y="257264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229" name="그룹 228"/>
            <p:cNvGrpSpPr/>
            <p:nvPr/>
          </p:nvGrpSpPr>
          <p:grpSpPr>
            <a:xfrm>
              <a:off x="3826887" y="2572648"/>
              <a:ext cx="2630093" cy="429480"/>
              <a:chOff x="701175" y="1835481"/>
              <a:chExt cx="2630093" cy="429480"/>
            </a:xfrm>
          </p:grpSpPr>
          <p:cxnSp>
            <p:nvCxnSpPr>
              <p:cNvPr id="232" name="직선 연결선 23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4" name="직선 연결선 23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30" name="TextBox 229">
              <a:extLst>
                <a:ext uri="{FF2B5EF4-FFF2-40B4-BE49-F238E27FC236}">
                  <a16:creationId xmlns:a16="http://schemas.microsoft.com/office/drawing/2014/main" id="{FFC49AEA-2A8F-250C-A86A-A7751D9706C3}"/>
                </a:ext>
              </a:extLst>
            </p:cNvPr>
            <p:cNvSpPr txBox="1"/>
            <p:nvPr/>
          </p:nvSpPr>
          <p:spPr>
            <a:xfrm>
              <a:off x="3887858" y="228553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경영상태</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6064390" y="257264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grpSp>
    </p:spTree>
    <p:extLst>
      <p:ext uri="{BB962C8B-B14F-4D97-AF65-F5344CB8AC3E}">
        <p14:creationId xmlns:p14="http://schemas.microsoft.com/office/powerpoint/2010/main" val="1008176085"/>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235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MUI-BD-10-M14</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98" name="직사각형 197"/>
          <p:cNvSpPr/>
          <p:nvPr/>
        </p:nvSpPr>
        <p:spPr>
          <a:xfrm>
            <a:off x="703267" y="1780280"/>
            <a:ext cx="1639886" cy="64224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790330" y="1780281"/>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2518372" y="178028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02" name="직선 연결선 201">
            <a:extLst>
              <a:ext uri="{FF2B5EF4-FFF2-40B4-BE49-F238E27FC236}">
                <a16:creationId xmlns:a16="http://schemas.microsoft.com/office/drawing/2014/main" id="{E9293055-D5CD-4B9E-7F64-64B2D2CA7A52}"/>
              </a:ext>
            </a:extLst>
          </p:cNvPr>
          <p:cNvCxnSpPr/>
          <p:nvPr/>
        </p:nvCxnSpPr>
        <p:spPr>
          <a:xfrm>
            <a:off x="701175" y="17802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19950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24252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5" name="TextBox 204">
            <a:extLst>
              <a:ext uri="{FF2B5EF4-FFF2-40B4-BE49-F238E27FC236}">
                <a16:creationId xmlns:a16="http://schemas.microsoft.com/office/drawing/2014/main" id="{FFC49AEA-2A8F-250C-A86A-A7751D9706C3}"/>
              </a:ext>
            </a:extLst>
          </p:cNvPr>
          <p:cNvSpPr txBox="1"/>
          <p:nvPr/>
        </p:nvSpPr>
        <p:spPr>
          <a:xfrm>
            <a:off x="762146" y="149316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2938742" y="178028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8" name="TextBox 147">
            <a:extLst>
              <a:ext uri="{FF2B5EF4-FFF2-40B4-BE49-F238E27FC236}">
                <a16:creationId xmlns:a16="http://schemas.microsoft.com/office/drawing/2014/main" id="{FFC49AEA-2A8F-250C-A86A-A7751D9706C3}"/>
              </a:ext>
            </a:extLst>
          </p:cNvPr>
          <p:cNvSpPr txBox="1"/>
          <p:nvPr/>
        </p:nvSpPr>
        <p:spPr>
          <a:xfrm>
            <a:off x="790330" y="205192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가</a:t>
            </a:r>
            <a:r>
              <a:rPr lang="en-US" altLang="ko-KR" dirty="0"/>
              <a:t>.</a:t>
            </a:r>
            <a:r>
              <a:rPr lang="ko-KR" altLang="en-US" dirty="0" err="1"/>
              <a:t>납품지연</a:t>
            </a:r>
            <a:endParaRPr lang="ko-KR" altLang="en-US" dirty="0"/>
          </a:p>
          <a:p>
            <a:r>
              <a:rPr lang="ko-KR" altLang="en-US" dirty="0"/>
              <a:t>나</a:t>
            </a:r>
            <a:r>
              <a:rPr lang="en-US" altLang="ko-KR" dirty="0"/>
              <a:t>.</a:t>
            </a:r>
            <a:r>
              <a:rPr lang="ko-KR" altLang="en-US" dirty="0"/>
              <a:t>불공정 하도급거래</a:t>
            </a:r>
          </a:p>
          <a:p>
            <a:r>
              <a:rPr lang="ko-KR" altLang="en-US" dirty="0"/>
              <a:t>다</a:t>
            </a:r>
            <a:r>
              <a:rPr lang="en-US" altLang="ko-KR" dirty="0"/>
              <a:t>.</a:t>
            </a:r>
            <a:r>
              <a:rPr lang="ko-KR" altLang="en-US" dirty="0"/>
              <a:t>부정당업자 제재</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2538204" y="2159645"/>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3256734" y="215964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7" name="그룹 6"/>
          <p:cNvGrpSpPr/>
          <p:nvPr/>
        </p:nvGrpSpPr>
        <p:grpSpPr>
          <a:xfrm>
            <a:off x="675399" y="2494195"/>
            <a:ext cx="2712027" cy="1150222"/>
            <a:chOff x="3795734" y="4959245"/>
            <a:chExt cx="2712027" cy="1150222"/>
          </a:xfrm>
        </p:grpSpPr>
        <p:sp>
          <p:nvSpPr>
            <p:cNvPr id="151" name="직사각형 150"/>
            <p:cNvSpPr/>
            <p:nvPr/>
          </p:nvSpPr>
          <p:spPr>
            <a:xfrm>
              <a:off x="3823602" y="5501188"/>
              <a:ext cx="1639886" cy="6082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TextBox 151">
              <a:extLst>
                <a:ext uri="{FF2B5EF4-FFF2-40B4-BE49-F238E27FC236}">
                  <a16:creationId xmlns:a16="http://schemas.microsoft.com/office/drawing/2014/main" id="{FFC49AEA-2A8F-250C-A86A-A7751D9706C3}"/>
                </a:ext>
              </a:extLst>
            </p:cNvPr>
            <p:cNvSpPr txBox="1"/>
            <p:nvPr/>
          </p:nvSpPr>
          <p:spPr>
            <a:xfrm>
              <a:off x="3910665" y="5501189"/>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ko-KR" altLang="en-US" sz="700" dirty="0">
                <a:latin typeface="+mn-ea"/>
              </a:endParaRPr>
            </a:p>
          </p:txBody>
        </p:sp>
        <p:sp>
          <p:nvSpPr>
            <p:cNvPr id="153" name="TextBox 152">
              <a:extLst>
                <a:ext uri="{FF2B5EF4-FFF2-40B4-BE49-F238E27FC236}">
                  <a16:creationId xmlns:a16="http://schemas.microsoft.com/office/drawing/2014/main" id="{FFC49AEA-2A8F-250C-A86A-A7751D9706C3}"/>
                </a:ext>
              </a:extLst>
            </p:cNvPr>
            <p:cNvSpPr txBox="1"/>
            <p:nvPr/>
          </p:nvSpPr>
          <p:spPr>
            <a:xfrm>
              <a:off x="5638707" y="550118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grpSp>
          <p:nvGrpSpPr>
            <p:cNvPr id="154" name="그룹 153"/>
            <p:cNvGrpSpPr/>
            <p:nvPr/>
          </p:nvGrpSpPr>
          <p:grpSpPr>
            <a:xfrm>
              <a:off x="3821510" y="5501189"/>
              <a:ext cx="2630093" cy="608278"/>
              <a:chOff x="701175" y="1835481"/>
              <a:chExt cx="2630093" cy="608278"/>
            </a:xfrm>
          </p:grpSpPr>
          <p:cxnSp>
            <p:nvCxnSpPr>
              <p:cNvPr id="156" name="직선 연결선 15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9" name="직선 연결선 158">
                <a:extLst>
                  <a:ext uri="{FF2B5EF4-FFF2-40B4-BE49-F238E27FC236}">
                    <a16:creationId xmlns:a16="http://schemas.microsoft.com/office/drawing/2014/main" id="{E9293055-D5CD-4B9E-7F64-64B2D2CA7A52}"/>
                  </a:ext>
                </a:extLst>
              </p:cNvPr>
              <p:cNvCxnSpPr/>
              <p:nvPr/>
            </p:nvCxnSpPr>
            <p:spPr>
              <a:xfrm>
                <a:off x="703268" y="24437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0" name="TextBox 159">
              <a:extLst>
                <a:ext uri="{FF2B5EF4-FFF2-40B4-BE49-F238E27FC236}">
                  <a16:creationId xmlns:a16="http://schemas.microsoft.com/office/drawing/2014/main" id="{FFC49AEA-2A8F-250C-A86A-A7751D9706C3}"/>
                </a:ext>
              </a:extLst>
            </p:cNvPr>
            <p:cNvSpPr txBox="1"/>
            <p:nvPr/>
          </p:nvSpPr>
          <p:spPr>
            <a:xfrm>
              <a:off x="3882481" y="5013837"/>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IV.</a:t>
              </a:r>
              <a:r>
                <a:rPr lang="ko-KR" altLang="en-US" dirty="0"/>
                <a:t>결격사유</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3882481" y="52140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납품이행능력 </a:t>
              </a:r>
              <a:r>
                <a:rPr lang="ko-KR" altLang="en-US" sz="700" dirty="0" err="1">
                  <a:latin typeface="+mn-ea"/>
                </a:rPr>
                <a:t>결격여부</a:t>
              </a:r>
              <a:endParaRPr lang="ko-KR" altLang="en-US" sz="700" dirty="0">
                <a:latin typeface="+mn-ea"/>
              </a:endParaRPr>
            </a:p>
          </p:txBody>
        </p:sp>
        <p:sp>
          <p:nvSpPr>
            <p:cNvPr id="162" name="TextBox 161">
              <a:extLst>
                <a:ext uri="{FF2B5EF4-FFF2-40B4-BE49-F238E27FC236}">
                  <a16:creationId xmlns:a16="http://schemas.microsoft.com/office/drawing/2014/main" id="{FFC49AEA-2A8F-250C-A86A-A7751D9706C3}"/>
                </a:ext>
              </a:extLst>
            </p:cNvPr>
            <p:cNvSpPr txBox="1"/>
            <p:nvPr/>
          </p:nvSpPr>
          <p:spPr>
            <a:xfrm>
              <a:off x="6059077" y="550118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795734" y="495924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3919560" y="5811265"/>
              <a:ext cx="1480199"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 </a:t>
              </a:r>
              <a:r>
                <a:rPr lang="ko-KR" altLang="en-US" sz="700" dirty="0">
                  <a:latin typeface="+mn-ea"/>
                </a:rPr>
                <a:t>부도 또는 파산상태로 당해 계약이행이 어렵다고 판단되는 경우</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5690882" y="5865126"/>
              <a:ext cx="136256"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sp>
          <p:nvSpPr>
            <p:cNvPr id="166" name="TextBox 165">
              <a:extLst>
                <a:ext uri="{FF2B5EF4-FFF2-40B4-BE49-F238E27FC236}">
                  <a16:creationId xmlns:a16="http://schemas.microsoft.com/office/drawing/2014/main" id="{FFC49AEA-2A8F-250C-A86A-A7751D9706C3}"/>
                </a:ext>
              </a:extLst>
            </p:cNvPr>
            <p:cNvSpPr txBox="1"/>
            <p:nvPr/>
          </p:nvSpPr>
          <p:spPr>
            <a:xfrm>
              <a:off x="6390176" y="586512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67" name="TextBox 166">
            <a:extLst>
              <a:ext uri="{FF2B5EF4-FFF2-40B4-BE49-F238E27FC236}">
                <a16:creationId xmlns:a16="http://schemas.microsoft.com/office/drawing/2014/main" id="{FFC49AEA-2A8F-250C-A86A-A7751D9706C3}"/>
              </a:ext>
            </a:extLst>
          </p:cNvPr>
          <p:cNvSpPr txBox="1"/>
          <p:nvPr/>
        </p:nvSpPr>
        <p:spPr>
          <a:xfrm>
            <a:off x="3883823" y="152799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I) </a:t>
            </a:r>
            <a:r>
              <a:rPr lang="ko-KR" altLang="en-US" sz="700" dirty="0" err="1">
                <a:latin typeface="+mn-ea"/>
              </a:rPr>
              <a:t>당해물품</a:t>
            </a:r>
            <a:r>
              <a:rPr lang="ko-KR" altLang="en-US" sz="700" dirty="0">
                <a:latin typeface="+mn-ea"/>
              </a:rPr>
              <a:t> 납품이행능력</a:t>
            </a:r>
          </a:p>
        </p:txBody>
      </p:sp>
      <p:grpSp>
        <p:nvGrpSpPr>
          <p:cNvPr id="168" name="그룹 167"/>
          <p:cNvGrpSpPr/>
          <p:nvPr/>
        </p:nvGrpSpPr>
        <p:grpSpPr>
          <a:xfrm flipV="1">
            <a:off x="6245910" y="1641327"/>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72" name="직선 연결선 171">
            <a:extLst>
              <a:ext uri="{FF2B5EF4-FFF2-40B4-BE49-F238E27FC236}">
                <a16:creationId xmlns:a16="http://schemas.microsoft.com/office/drawing/2014/main" id="{E9293055-D5CD-4B9E-7F64-64B2D2CA7A52}"/>
              </a:ext>
            </a:extLst>
          </p:cNvPr>
          <p:cNvCxnSpPr/>
          <p:nvPr/>
        </p:nvCxnSpPr>
        <p:spPr>
          <a:xfrm>
            <a:off x="3797076"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3" name="TextBox 172">
            <a:extLst>
              <a:ext uri="{FF2B5EF4-FFF2-40B4-BE49-F238E27FC236}">
                <a16:creationId xmlns:a16="http://schemas.microsoft.com/office/drawing/2014/main" id="{FFC49AEA-2A8F-250C-A86A-A7751D9706C3}"/>
              </a:ext>
            </a:extLst>
          </p:cNvPr>
          <p:cNvSpPr txBox="1"/>
          <p:nvPr/>
        </p:nvSpPr>
        <p:spPr>
          <a:xfrm>
            <a:off x="3910665" y="1864633"/>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I-1.</a:t>
            </a:r>
            <a:r>
              <a:rPr lang="ko-KR" altLang="en-US" dirty="0"/>
              <a:t>납품실적</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3910665" y="224768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4435522" y="2320973"/>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3910665" y="255507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15" name="TextBox 214">
            <a:extLst>
              <a:ext uri="{FF2B5EF4-FFF2-40B4-BE49-F238E27FC236}">
                <a16:creationId xmlns:a16="http://schemas.microsoft.com/office/drawing/2014/main" id="{FFC49AEA-2A8F-250C-A86A-A7751D9706C3}"/>
              </a:ext>
            </a:extLst>
          </p:cNvPr>
          <p:cNvSpPr txBox="1"/>
          <p:nvPr/>
        </p:nvSpPr>
        <p:spPr>
          <a:xfrm>
            <a:off x="4435522" y="2628365"/>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5650239" y="2139963"/>
            <a:ext cx="793115"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5.0 (0.0)</a:t>
            </a:r>
          </a:p>
        </p:txBody>
      </p:sp>
      <p:sp>
        <p:nvSpPr>
          <p:cNvPr id="222" name="직사각형 221"/>
          <p:cNvSpPr/>
          <p:nvPr/>
        </p:nvSpPr>
        <p:spPr>
          <a:xfrm>
            <a:off x="3835134" y="2935541"/>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TextBox 222">
            <a:extLst>
              <a:ext uri="{FF2B5EF4-FFF2-40B4-BE49-F238E27FC236}">
                <a16:creationId xmlns:a16="http://schemas.microsoft.com/office/drawing/2014/main" id="{FFC49AEA-2A8F-250C-A86A-A7751D9706C3}"/>
              </a:ext>
            </a:extLst>
          </p:cNvPr>
          <p:cNvSpPr txBox="1"/>
          <p:nvPr/>
        </p:nvSpPr>
        <p:spPr>
          <a:xfrm>
            <a:off x="3922197" y="293554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5650239" y="293554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3832437" y="29355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6" name="직선 연결선 225">
            <a:extLst>
              <a:ext uri="{FF2B5EF4-FFF2-40B4-BE49-F238E27FC236}">
                <a16:creationId xmlns:a16="http://schemas.microsoft.com/office/drawing/2014/main" id="{E9293055-D5CD-4B9E-7F64-64B2D2CA7A52}"/>
              </a:ext>
            </a:extLst>
          </p:cNvPr>
          <p:cNvCxnSpPr/>
          <p:nvPr/>
        </p:nvCxnSpPr>
        <p:spPr>
          <a:xfrm>
            <a:off x="3834530" y="3150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7" name="직선 연결선 226">
            <a:extLst>
              <a:ext uri="{FF2B5EF4-FFF2-40B4-BE49-F238E27FC236}">
                <a16:creationId xmlns:a16="http://schemas.microsoft.com/office/drawing/2014/main" id="{E9293055-D5CD-4B9E-7F64-64B2D2CA7A52}"/>
              </a:ext>
            </a:extLst>
          </p:cNvPr>
          <p:cNvCxnSpPr/>
          <p:nvPr/>
        </p:nvCxnSpPr>
        <p:spPr>
          <a:xfrm>
            <a:off x="3834530" y="38225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8" name="TextBox 227">
            <a:extLst>
              <a:ext uri="{FF2B5EF4-FFF2-40B4-BE49-F238E27FC236}">
                <a16:creationId xmlns:a16="http://schemas.microsoft.com/office/drawing/2014/main" id="{FFC49AEA-2A8F-250C-A86A-A7751D9706C3}"/>
              </a:ext>
            </a:extLst>
          </p:cNvPr>
          <p:cNvSpPr txBox="1"/>
          <p:nvPr/>
        </p:nvSpPr>
        <p:spPr>
          <a:xfrm>
            <a:off x="6070609" y="2935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30" name="TextBox 229">
            <a:extLst>
              <a:ext uri="{FF2B5EF4-FFF2-40B4-BE49-F238E27FC236}">
                <a16:creationId xmlns:a16="http://schemas.microsoft.com/office/drawing/2014/main" id="{FFC49AEA-2A8F-250C-A86A-A7751D9706C3}"/>
              </a:ext>
            </a:extLst>
          </p:cNvPr>
          <p:cNvSpPr txBox="1"/>
          <p:nvPr/>
        </p:nvSpPr>
        <p:spPr>
          <a:xfrm>
            <a:off x="3936047" y="3217129"/>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B.70%</a:t>
            </a:r>
            <a:r>
              <a:rPr lang="ko-KR" altLang="en-US" dirty="0"/>
              <a:t>이상</a:t>
            </a:r>
            <a:r>
              <a:rPr lang="en-US" altLang="ko-KR" dirty="0"/>
              <a:t>~100%</a:t>
            </a:r>
            <a:r>
              <a:rPr lang="ko-KR" altLang="en-US" dirty="0"/>
              <a:t>미만</a:t>
            </a:r>
          </a:p>
          <a:p>
            <a:r>
              <a:rPr lang="en-US" altLang="ko-KR" dirty="0"/>
              <a:t>C.50%</a:t>
            </a:r>
            <a:r>
              <a:rPr lang="ko-KR" altLang="en-US" dirty="0"/>
              <a:t>이상</a:t>
            </a:r>
            <a:r>
              <a:rPr lang="en-US" altLang="ko-KR" dirty="0"/>
              <a:t>~70%</a:t>
            </a:r>
            <a:r>
              <a:rPr lang="ko-KR" altLang="en-US" dirty="0"/>
              <a:t>미만</a:t>
            </a:r>
          </a:p>
          <a:p>
            <a:r>
              <a:rPr lang="en-US" altLang="ko-KR" dirty="0"/>
              <a:t>D.20%</a:t>
            </a:r>
            <a:r>
              <a:rPr lang="ko-KR" altLang="en-US" dirty="0"/>
              <a:t>이상</a:t>
            </a:r>
            <a:r>
              <a:rPr lang="en-US" altLang="ko-KR" dirty="0"/>
              <a:t>~50%</a:t>
            </a:r>
            <a:r>
              <a:rPr lang="ko-KR" altLang="en-US" dirty="0"/>
              <a:t>미만</a:t>
            </a:r>
          </a:p>
          <a:p>
            <a:r>
              <a:rPr lang="en-US" altLang="ko-KR" dirty="0"/>
              <a:t>E.5%</a:t>
            </a:r>
            <a:r>
              <a:rPr lang="ko-KR" altLang="en-US" dirty="0"/>
              <a:t>이상</a:t>
            </a:r>
            <a:r>
              <a:rPr lang="en-US" altLang="ko-KR" dirty="0"/>
              <a:t>~20%</a:t>
            </a:r>
            <a:r>
              <a:rPr lang="ko-KR" altLang="en-US" dirty="0"/>
              <a:t>미만</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5725003" y="3217129"/>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5.0</a:t>
            </a:r>
          </a:p>
          <a:p>
            <a:r>
              <a:rPr lang="en-US" altLang="ko-KR" dirty="0"/>
              <a:t>4.0</a:t>
            </a:r>
          </a:p>
          <a:p>
            <a:r>
              <a:rPr lang="en-US" altLang="ko-KR" dirty="0"/>
              <a:t>3.0</a:t>
            </a:r>
          </a:p>
          <a:p>
            <a:r>
              <a:rPr lang="en-US" altLang="ko-KR" dirty="0"/>
              <a:t>2.0</a:t>
            </a:r>
          </a:p>
          <a:p>
            <a:r>
              <a:rPr lang="en-US" altLang="ko-KR" dirty="0"/>
              <a:t>1.0</a:t>
            </a:r>
          </a:p>
        </p:txBody>
      </p:sp>
      <p:sp>
        <p:nvSpPr>
          <p:cNvPr id="232" name="TextBox 231">
            <a:extLst>
              <a:ext uri="{FF2B5EF4-FFF2-40B4-BE49-F238E27FC236}">
                <a16:creationId xmlns:a16="http://schemas.microsoft.com/office/drawing/2014/main" id="{FFC49AEA-2A8F-250C-A86A-A7751D9706C3}"/>
              </a:ext>
            </a:extLst>
          </p:cNvPr>
          <p:cNvSpPr txBox="1"/>
          <p:nvPr/>
        </p:nvSpPr>
        <p:spPr>
          <a:xfrm>
            <a:off x="6406663" y="34492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3" name="TextBox 242">
            <a:extLst>
              <a:ext uri="{FF2B5EF4-FFF2-40B4-BE49-F238E27FC236}">
                <a16:creationId xmlns:a16="http://schemas.microsoft.com/office/drawing/2014/main" id="{FFC49AEA-2A8F-250C-A86A-A7751D9706C3}"/>
              </a:ext>
            </a:extLst>
          </p:cNvPr>
          <p:cNvSpPr txBox="1"/>
          <p:nvPr/>
        </p:nvSpPr>
        <p:spPr>
          <a:xfrm>
            <a:off x="5475020" y="1864633"/>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5</a:t>
            </a:r>
            <a:r>
              <a:rPr lang="ko-KR" altLang="en-US" dirty="0"/>
              <a:t>점 </a:t>
            </a:r>
            <a:r>
              <a:rPr lang="en-US" altLang="ko-KR" dirty="0"/>
              <a:t>(</a:t>
            </a:r>
            <a:r>
              <a:rPr lang="ko-KR" altLang="en-US" dirty="0"/>
              <a:t>기본점수</a:t>
            </a:r>
            <a:r>
              <a:rPr lang="en-US" altLang="ko-KR" dirty="0"/>
              <a:t>)</a:t>
            </a:r>
            <a:endParaRPr lang="ko-KR" altLang="en-US" dirty="0"/>
          </a:p>
        </p:txBody>
      </p:sp>
      <p:sp>
        <p:nvSpPr>
          <p:cNvPr id="244" name="TextBox 243">
            <a:extLst>
              <a:ext uri="{FF2B5EF4-FFF2-40B4-BE49-F238E27FC236}">
                <a16:creationId xmlns:a16="http://schemas.microsoft.com/office/drawing/2014/main" id="{FFC49AEA-2A8F-250C-A86A-A7751D9706C3}"/>
              </a:ext>
            </a:extLst>
          </p:cNvPr>
          <p:cNvSpPr txBox="1"/>
          <p:nvPr/>
        </p:nvSpPr>
        <p:spPr>
          <a:xfrm>
            <a:off x="3910665" y="206667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기업구분</a:t>
            </a:r>
            <a:r>
              <a:rPr lang="ko-KR" altLang="en-US" sz="700" dirty="0">
                <a:latin typeface="+mn-ea"/>
              </a:rPr>
              <a:t> </a:t>
            </a:r>
            <a:r>
              <a:rPr lang="en-US" altLang="ko-KR" sz="700" dirty="0">
                <a:latin typeface="+mn-ea"/>
              </a:rPr>
              <a:t>:</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4435522" y="2139963"/>
            <a:ext cx="2010812" cy="107722"/>
          </a:xfrm>
          <a:prstGeom prst="rect">
            <a:avLst/>
          </a:prstGeom>
          <a:noFill/>
        </p:spPr>
        <p:txBody>
          <a:bodyPr wrap="square" lIns="0" tIns="0" rIns="0" bIns="0" rtlCol="0">
            <a:spAutoFit/>
          </a:bodyPr>
          <a:lstStyle/>
          <a:p>
            <a:r>
              <a:rPr lang="ko-KR" altLang="en-US" sz="700" dirty="0" err="1">
                <a:latin typeface="+mn-ea"/>
              </a:rPr>
              <a:t>중기업</a:t>
            </a:r>
            <a:endParaRPr lang="en-US" altLang="ko-KR" sz="700" dirty="0">
              <a:latin typeface="+mn-ea"/>
            </a:endParaRPr>
          </a:p>
        </p:txBody>
      </p:sp>
      <p:sp>
        <p:nvSpPr>
          <p:cNvPr id="264" name="TextBox 263">
            <a:extLst>
              <a:ext uri="{FF2B5EF4-FFF2-40B4-BE49-F238E27FC236}">
                <a16:creationId xmlns:a16="http://schemas.microsoft.com/office/drawing/2014/main" id="{FFC49AEA-2A8F-250C-A86A-A7751D9706C3}"/>
              </a:ext>
            </a:extLst>
          </p:cNvPr>
          <p:cNvSpPr txBox="1"/>
          <p:nvPr/>
        </p:nvSpPr>
        <p:spPr>
          <a:xfrm>
            <a:off x="3910665" y="384694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65" name="TextBox 264">
            <a:extLst>
              <a:ext uri="{FF2B5EF4-FFF2-40B4-BE49-F238E27FC236}">
                <a16:creationId xmlns:a16="http://schemas.microsoft.com/office/drawing/2014/main" id="{FFC49AEA-2A8F-250C-A86A-A7751D9706C3}"/>
              </a:ext>
            </a:extLst>
          </p:cNvPr>
          <p:cNvSpPr txBox="1"/>
          <p:nvPr/>
        </p:nvSpPr>
        <p:spPr>
          <a:xfrm>
            <a:off x="4435522" y="3920235"/>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유사물품</a:t>
            </a:r>
            <a:r>
              <a:rPr lang="en-US" altLang="ko-KR" sz="700" dirty="0">
                <a:latin typeface="+mn-ea"/>
              </a:rPr>
              <a:t>)</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3910665" y="415433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67" name="TextBox 266">
            <a:extLst>
              <a:ext uri="{FF2B5EF4-FFF2-40B4-BE49-F238E27FC236}">
                <a16:creationId xmlns:a16="http://schemas.microsoft.com/office/drawing/2014/main" id="{FFC49AEA-2A8F-250C-A86A-A7751D9706C3}"/>
              </a:ext>
            </a:extLst>
          </p:cNvPr>
          <p:cNvSpPr txBox="1"/>
          <p:nvPr/>
        </p:nvSpPr>
        <p:spPr>
          <a:xfrm>
            <a:off x="4435522" y="4227627"/>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269" name="직사각형 268"/>
          <p:cNvSpPr/>
          <p:nvPr/>
        </p:nvSpPr>
        <p:spPr>
          <a:xfrm>
            <a:off x="3835134" y="4534803"/>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0" name="TextBox 269">
            <a:extLst>
              <a:ext uri="{FF2B5EF4-FFF2-40B4-BE49-F238E27FC236}">
                <a16:creationId xmlns:a16="http://schemas.microsoft.com/office/drawing/2014/main" id="{FFC49AEA-2A8F-250C-A86A-A7751D9706C3}"/>
              </a:ext>
            </a:extLst>
          </p:cNvPr>
          <p:cNvSpPr txBox="1"/>
          <p:nvPr/>
        </p:nvSpPr>
        <p:spPr>
          <a:xfrm>
            <a:off x="3922197" y="453480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71" name="TextBox 270">
            <a:extLst>
              <a:ext uri="{FF2B5EF4-FFF2-40B4-BE49-F238E27FC236}">
                <a16:creationId xmlns:a16="http://schemas.microsoft.com/office/drawing/2014/main" id="{FFC49AEA-2A8F-250C-A86A-A7751D9706C3}"/>
              </a:ext>
            </a:extLst>
          </p:cNvPr>
          <p:cNvSpPr txBox="1"/>
          <p:nvPr/>
        </p:nvSpPr>
        <p:spPr>
          <a:xfrm>
            <a:off x="5650239" y="453480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72" name="직선 연결선 271">
            <a:extLst>
              <a:ext uri="{FF2B5EF4-FFF2-40B4-BE49-F238E27FC236}">
                <a16:creationId xmlns:a16="http://schemas.microsoft.com/office/drawing/2014/main" id="{E9293055-D5CD-4B9E-7F64-64B2D2CA7A52}"/>
              </a:ext>
            </a:extLst>
          </p:cNvPr>
          <p:cNvCxnSpPr/>
          <p:nvPr/>
        </p:nvCxnSpPr>
        <p:spPr>
          <a:xfrm>
            <a:off x="3832437" y="453480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3" name="직선 연결선 272">
            <a:extLst>
              <a:ext uri="{FF2B5EF4-FFF2-40B4-BE49-F238E27FC236}">
                <a16:creationId xmlns:a16="http://schemas.microsoft.com/office/drawing/2014/main" id="{E9293055-D5CD-4B9E-7F64-64B2D2CA7A52}"/>
              </a:ext>
            </a:extLst>
          </p:cNvPr>
          <p:cNvCxnSpPr/>
          <p:nvPr/>
        </p:nvCxnSpPr>
        <p:spPr>
          <a:xfrm>
            <a:off x="3834530" y="47495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3834530" y="54218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5" name="TextBox 274">
            <a:extLst>
              <a:ext uri="{FF2B5EF4-FFF2-40B4-BE49-F238E27FC236}">
                <a16:creationId xmlns:a16="http://schemas.microsoft.com/office/drawing/2014/main" id="{FFC49AEA-2A8F-250C-A86A-A7751D9706C3}"/>
              </a:ext>
            </a:extLst>
          </p:cNvPr>
          <p:cNvSpPr txBox="1"/>
          <p:nvPr/>
        </p:nvSpPr>
        <p:spPr>
          <a:xfrm>
            <a:off x="6070609" y="453480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6" name="TextBox 275">
            <a:extLst>
              <a:ext uri="{FF2B5EF4-FFF2-40B4-BE49-F238E27FC236}">
                <a16:creationId xmlns:a16="http://schemas.microsoft.com/office/drawing/2014/main" id="{FFC49AEA-2A8F-250C-A86A-A7751D9706C3}"/>
              </a:ext>
            </a:extLst>
          </p:cNvPr>
          <p:cNvSpPr txBox="1"/>
          <p:nvPr/>
        </p:nvSpPr>
        <p:spPr>
          <a:xfrm>
            <a:off x="3936047" y="4816391"/>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B.70%</a:t>
            </a:r>
            <a:r>
              <a:rPr lang="ko-KR" altLang="en-US" dirty="0"/>
              <a:t>이상</a:t>
            </a:r>
            <a:r>
              <a:rPr lang="en-US" altLang="ko-KR" dirty="0"/>
              <a:t>~100%</a:t>
            </a:r>
            <a:r>
              <a:rPr lang="ko-KR" altLang="en-US" dirty="0"/>
              <a:t>미만</a:t>
            </a:r>
          </a:p>
          <a:p>
            <a:r>
              <a:rPr lang="en-US" altLang="ko-KR" dirty="0"/>
              <a:t>C.50%</a:t>
            </a:r>
            <a:r>
              <a:rPr lang="ko-KR" altLang="en-US" dirty="0"/>
              <a:t>이상</a:t>
            </a:r>
            <a:r>
              <a:rPr lang="en-US" altLang="ko-KR" dirty="0"/>
              <a:t>~70%</a:t>
            </a:r>
            <a:r>
              <a:rPr lang="ko-KR" altLang="en-US" dirty="0"/>
              <a:t>미만</a:t>
            </a:r>
          </a:p>
          <a:p>
            <a:r>
              <a:rPr lang="en-US" altLang="ko-KR" dirty="0"/>
              <a:t>D.20%</a:t>
            </a:r>
            <a:r>
              <a:rPr lang="ko-KR" altLang="en-US" dirty="0"/>
              <a:t>이상</a:t>
            </a:r>
            <a:r>
              <a:rPr lang="en-US" altLang="ko-KR" dirty="0"/>
              <a:t>~50%</a:t>
            </a:r>
            <a:r>
              <a:rPr lang="ko-KR" altLang="en-US" dirty="0"/>
              <a:t>미만</a:t>
            </a:r>
          </a:p>
          <a:p>
            <a:r>
              <a:rPr lang="en-US" altLang="ko-KR" dirty="0"/>
              <a:t>E.5%</a:t>
            </a:r>
            <a:r>
              <a:rPr lang="ko-KR" altLang="en-US" dirty="0"/>
              <a:t>이상</a:t>
            </a:r>
            <a:r>
              <a:rPr lang="en-US" altLang="ko-KR" dirty="0"/>
              <a:t>~20%</a:t>
            </a:r>
            <a:r>
              <a:rPr lang="ko-KR" altLang="en-US" dirty="0"/>
              <a:t>미만</a:t>
            </a:r>
          </a:p>
        </p:txBody>
      </p:sp>
      <p:sp>
        <p:nvSpPr>
          <p:cNvPr id="277" name="TextBox 276">
            <a:extLst>
              <a:ext uri="{FF2B5EF4-FFF2-40B4-BE49-F238E27FC236}">
                <a16:creationId xmlns:a16="http://schemas.microsoft.com/office/drawing/2014/main" id="{FFC49AEA-2A8F-250C-A86A-A7751D9706C3}"/>
              </a:ext>
            </a:extLst>
          </p:cNvPr>
          <p:cNvSpPr txBox="1"/>
          <p:nvPr/>
        </p:nvSpPr>
        <p:spPr>
          <a:xfrm>
            <a:off x="5675246" y="4816391"/>
            <a:ext cx="168379"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p>
          <a:p>
            <a:r>
              <a:rPr lang="en-US" altLang="ko-KR" dirty="0"/>
              <a:t>1.25</a:t>
            </a:r>
          </a:p>
          <a:p>
            <a:r>
              <a:rPr lang="en-US" altLang="ko-KR" dirty="0"/>
              <a:t>1.0</a:t>
            </a:r>
          </a:p>
          <a:p>
            <a:r>
              <a:rPr lang="en-US" altLang="ko-KR" dirty="0"/>
              <a:t>0.75</a:t>
            </a:r>
          </a:p>
          <a:p>
            <a:r>
              <a:rPr lang="en-US" altLang="ko-KR" dirty="0"/>
              <a:t>0.5</a:t>
            </a:r>
          </a:p>
        </p:txBody>
      </p:sp>
      <p:sp>
        <p:nvSpPr>
          <p:cNvPr id="278" name="TextBox 277">
            <a:extLst>
              <a:ext uri="{FF2B5EF4-FFF2-40B4-BE49-F238E27FC236}">
                <a16:creationId xmlns:a16="http://schemas.microsoft.com/office/drawing/2014/main" id="{FFC49AEA-2A8F-250C-A86A-A7751D9706C3}"/>
              </a:ext>
            </a:extLst>
          </p:cNvPr>
          <p:cNvSpPr txBox="1"/>
          <p:nvPr/>
        </p:nvSpPr>
        <p:spPr>
          <a:xfrm>
            <a:off x="6406663" y="504846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81" name="직선 연결선 280">
            <a:extLst>
              <a:ext uri="{FF2B5EF4-FFF2-40B4-BE49-F238E27FC236}">
                <a16:creationId xmlns:a16="http://schemas.microsoft.com/office/drawing/2014/main" id="{E9293055-D5CD-4B9E-7F64-64B2D2CA7A52}"/>
              </a:ext>
            </a:extLst>
          </p:cNvPr>
          <p:cNvCxnSpPr/>
          <p:nvPr/>
        </p:nvCxnSpPr>
        <p:spPr>
          <a:xfrm>
            <a:off x="3795523" y="54825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타원 8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95670212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236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MUI-BD-10-M14</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89" name="TextBox 88">
            <a:extLst>
              <a:ext uri="{FF2B5EF4-FFF2-40B4-BE49-F238E27FC236}">
                <a16:creationId xmlns:a16="http://schemas.microsoft.com/office/drawing/2014/main" id="{FFC49AEA-2A8F-250C-A86A-A7751D9706C3}"/>
              </a:ext>
            </a:extLst>
          </p:cNvPr>
          <p:cNvSpPr txBox="1"/>
          <p:nvPr/>
        </p:nvSpPr>
        <p:spPr>
          <a:xfrm>
            <a:off x="794594" y="167216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90" name="TextBox 89">
            <a:extLst>
              <a:ext uri="{FF2B5EF4-FFF2-40B4-BE49-F238E27FC236}">
                <a16:creationId xmlns:a16="http://schemas.microsoft.com/office/drawing/2014/main" id="{FFC49AEA-2A8F-250C-A86A-A7751D9706C3}"/>
              </a:ext>
            </a:extLst>
          </p:cNvPr>
          <p:cNvSpPr txBox="1"/>
          <p:nvPr/>
        </p:nvSpPr>
        <p:spPr>
          <a:xfrm>
            <a:off x="1319451" y="1745455"/>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91" name="TextBox 90">
            <a:extLst>
              <a:ext uri="{FF2B5EF4-FFF2-40B4-BE49-F238E27FC236}">
                <a16:creationId xmlns:a16="http://schemas.microsoft.com/office/drawing/2014/main" id="{FFC49AEA-2A8F-250C-A86A-A7751D9706C3}"/>
              </a:ext>
            </a:extLst>
          </p:cNvPr>
          <p:cNvSpPr txBox="1"/>
          <p:nvPr/>
        </p:nvSpPr>
        <p:spPr>
          <a:xfrm>
            <a:off x="794594" y="197955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92" name="TextBox 91">
            <a:extLst>
              <a:ext uri="{FF2B5EF4-FFF2-40B4-BE49-F238E27FC236}">
                <a16:creationId xmlns:a16="http://schemas.microsoft.com/office/drawing/2014/main" id="{FFC49AEA-2A8F-250C-A86A-A7751D9706C3}"/>
              </a:ext>
            </a:extLst>
          </p:cNvPr>
          <p:cNvSpPr txBox="1"/>
          <p:nvPr/>
        </p:nvSpPr>
        <p:spPr>
          <a:xfrm>
            <a:off x="1319451" y="2052847"/>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grpSp>
        <p:nvGrpSpPr>
          <p:cNvPr id="6" name="그룹 5"/>
          <p:cNvGrpSpPr/>
          <p:nvPr/>
        </p:nvGrpSpPr>
        <p:grpSpPr>
          <a:xfrm>
            <a:off x="716366" y="2360021"/>
            <a:ext cx="2630093" cy="769487"/>
            <a:chOff x="716366" y="2360021"/>
            <a:chExt cx="2630093" cy="769487"/>
          </a:xfrm>
        </p:grpSpPr>
        <p:sp>
          <p:nvSpPr>
            <p:cNvPr id="94" name="직사각형 93"/>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TextBox 94">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97" name="직선 연결선 96">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TextBox 99">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01" name="TextBox 100">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05" name="TextBox 104">
            <a:extLst>
              <a:ext uri="{FF2B5EF4-FFF2-40B4-BE49-F238E27FC236}">
                <a16:creationId xmlns:a16="http://schemas.microsoft.com/office/drawing/2014/main" id="{FFC49AEA-2A8F-250C-A86A-A7751D9706C3}"/>
              </a:ext>
            </a:extLst>
          </p:cNvPr>
          <p:cNvSpPr txBox="1"/>
          <p:nvPr/>
        </p:nvSpPr>
        <p:spPr>
          <a:xfrm>
            <a:off x="794594" y="149115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기업구분</a:t>
            </a:r>
            <a:r>
              <a:rPr lang="ko-KR" altLang="en-US" sz="700" dirty="0">
                <a:latin typeface="+mn-ea"/>
              </a:rPr>
              <a:t> </a:t>
            </a:r>
            <a:r>
              <a:rPr lang="en-US" altLang="ko-KR" sz="700" dirty="0">
                <a:latin typeface="+mn-ea"/>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1319451" y="1564445"/>
            <a:ext cx="2010812" cy="107722"/>
          </a:xfrm>
          <a:prstGeom prst="rect">
            <a:avLst/>
          </a:prstGeom>
          <a:noFill/>
        </p:spPr>
        <p:txBody>
          <a:bodyPr wrap="square" lIns="0" tIns="0" rIns="0" bIns="0" rtlCol="0">
            <a:spAutoFit/>
          </a:bodyPr>
          <a:lstStyle/>
          <a:p>
            <a:r>
              <a:rPr lang="ko-KR" altLang="en-US" sz="700" dirty="0">
                <a:latin typeface="+mn-ea"/>
              </a:rPr>
              <a:t>소기업 또는 소상공인</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794594" y="316310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08" name="TextBox 107">
            <a:extLst>
              <a:ext uri="{FF2B5EF4-FFF2-40B4-BE49-F238E27FC236}">
                <a16:creationId xmlns:a16="http://schemas.microsoft.com/office/drawing/2014/main" id="{FFC49AEA-2A8F-250C-A86A-A7751D9706C3}"/>
              </a:ext>
            </a:extLst>
          </p:cNvPr>
          <p:cNvSpPr txBox="1"/>
          <p:nvPr/>
        </p:nvSpPr>
        <p:spPr>
          <a:xfrm>
            <a:off x="1319451" y="3236394"/>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유사물품</a:t>
            </a:r>
            <a:r>
              <a:rPr lang="en-US" altLang="ko-KR" sz="700" dirty="0">
                <a:latin typeface="+mn-ea"/>
              </a:rPr>
              <a:t>)</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794594" y="347049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10" name="TextBox 109">
            <a:extLst>
              <a:ext uri="{FF2B5EF4-FFF2-40B4-BE49-F238E27FC236}">
                <a16:creationId xmlns:a16="http://schemas.microsoft.com/office/drawing/2014/main" id="{FFC49AEA-2A8F-250C-A86A-A7751D9706C3}"/>
              </a:ext>
            </a:extLst>
          </p:cNvPr>
          <p:cNvSpPr txBox="1"/>
          <p:nvPr/>
        </p:nvSpPr>
        <p:spPr>
          <a:xfrm>
            <a:off x="1319451" y="3543786"/>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93" name="TextBox 92">
            <a:extLst>
              <a:ext uri="{FF2B5EF4-FFF2-40B4-BE49-F238E27FC236}">
                <a16:creationId xmlns:a16="http://schemas.microsoft.com/office/drawing/2014/main" id="{FFC49AEA-2A8F-250C-A86A-A7751D9706C3}"/>
              </a:ext>
            </a:extLst>
          </p:cNvPr>
          <p:cNvSpPr txBox="1"/>
          <p:nvPr/>
        </p:nvSpPr>
        <p:spPr>
          <a:xfrm>
            <a:off x="2534168" y="1564445"/>
            <a:ext cx="793115"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5.0 (2.0)</a:t>
            </a:r>
          </a:p>
        </p:txBody>
      </p:sp>
      <p:grpSp>
        <p:nvGrpSpPr>
          <p:cNvPr id="124" name="그룹 123"/>
          <p:cNvGrpSpPr/>
          <p:nvPr/>
        </p:nvGrpSpPr>
        <p:grpSpPr>
          <a:xfrm>
            <a:off x="716366" y="3850960"/>
            <a:ext cx="2630093" cy="769487"/>
            <a:chOff x="716366" y="2360021"/>
            <a:chExt cx="2630093" cy="769487"/>
          </a:xfrm>
        </p:grpSpPr>
        <p:sp>
          <p:nvSpPr>
            <p:cNvPr id="125" name="직사각형 124"/>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TextBox 125">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27" name="TextBox 126">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2" name="TextBox 131">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cxnSp>
        <p:nvCxnSpPr>
          <p:cNvPr id="135" name="직선 연결선 134">
            <a:extLst>
              <a:ext uri="{FF2B5EF4-FFF2-40B4-BE49-F238E27FC236}">
                <a16:creationId xmlns:a16="http://schemas.microsoft.com/office/drawing/2014/main" id="{E9293055-D5CD-4B9E-7F64-64B2D2CA7A52}"/>
              </a:ext>
            </a:extLst>
          </p:cNvPr>
          <p:cNvCxnSpPr/>
          <p:nvPr/>
        </p:nvCxnSpPr>
        <p:spPr>
          <a:xfrm>
            <a:off x="675399" y="47006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TextBox 135">
            <a:extLst>
              <a:ext uri="{FF2B5EF4-FFF2-40B4-BE49-F238E27FC236}">
                <a16:creationId xmlns:a16="http://schemas.microsoft.com/office/drawing/2014/main" id="{FFC49AEA-2A8F-250C-A86A-A7751D9706C3}"/>
              </a:ext>
            </a:extLst>
          </p:cNvPr>
          <p:cNvSpPr txBox="1"/>
          <p:nvPr/>
        </p:nvSpPr>
        <p:spPr>
          <a:xfrm>
            <a:off x="3911980" y="167216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4436837" y="1745455"/>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7</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3911980" y="197955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4436837" y="2052847"/>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grpSp>
        <p:nvGrpSpPr>
          <p:cNvPr id="140" name="그룹 139"/>
          <p:cNvGrpSpPr/>
          <p:nvPr/>
        </p:nvGrpSpPr>
        <p:grpSpPr>
          <a:xfrm>
            <a:off x="3833752" y="2360021"/>
            <a:ext cx="2630093" cy="769487"/>
            <a:chOff x="716366" y="2360021"/>
            <a:chExt cx="2630093" cy="769487"/>
          </a:xfrm>
        </p:grpSpPr>
        <p:sp>
          <p:nvSpPr>
            <p:cNvPr id="141" name="직사각형 140"/>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2" name="TextBox 141">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4" name="직선 연결선 143">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7" name="TextBox 146">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74" name="TextBox 173">
            <a:extLst>
              <a:ext uri="{FF2B5EF4-FFF2-40B4-BE49-F238E27FC236}">
                <a16:creationId xmlns:a16="http://schemas.microsoft.com/office/drawing/2014/main" id="{FFC49AEA-2A8F-250C-A86A-A7751D9706C3}"/>
              </a:ext>
            </a:extLst>
          </p:cNvPr>
          <p:cNvSpPr txBox="1"/>
          <p:nvPr/>
        </p:nvSpPr>
        <p:spPr>
          <a:xfrm>
            <a:off x="3911980" y="149115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기업구분</a:t>
            </a:r>
            <a:r>
              <a:rPr lang="ko-KR" altLang="en-US" sz="700" dirty="0">
                <a:latin typeface="+mn-ea"/>
              </a:rPr>
              <a:t> </a:t>
            </a:r>
            <a:r>
              <a:rPr lang="en-US" altLang="ko-KR" sz="700" dirty="0">
                <a:latin typeface="+mn-ea"/>
              </a:rPr>
              <a:t>:</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4436837" y="1564445"/>
            <a:ext cx="2010812" cy="107722"/>
          </a:xfrm>
          <a:prstGeom prst="rect">
            <a:avLst/>
          </a:prstGeom>
          <a:noFill/>
        </p:spPr>
        <p:txBody>
          <a:bodyPr wrap="square" lIns="0" tIns="0" rIns="0" bIns="0" rtlCol="0">
            <a:spAutoFit/>
          </a:bodyPr>
          <a:lstStyle/>
          <a:p>
            <a:r>
              <a:rPr lang="ko-KR" altLang="en-US" sz="700" dirty="0">
                <a:latin typeface="+mn-ea"/>
              </a:rPr>
              <a:t>창업기업</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3911980" y="316310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4436837" y="3236394"/>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7</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유사물품</a:t>
            </a:r>
            <a:r>
              <a:rPr lang="en-US" altLang="ko-KR" sz="700" dirty="0">
                <a:latin typeface="+mn-ea"/>
              </a:rPr>
              <a:t>)</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3911980" y="347049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79" name="TextBox 178">
            <a:extLst>
              <a:ext uri="{FF2B5EF4-FFF2-40B4-BE49-F238E27FC236}">
                <a16:creationId xmlns:a16="http://schemas.microsoft.com/office/drawing/2014/main" id="{FFC49AEA-2A8F-250C-A86A-A7751D9706C3}"/>
              </a:ext>
            </a:extLst>
          </p:cNvPr>
          <p:cNvSpPr txBox="1"/>
          <p:nvPr/>
        </p:nvSpPr>
        <p:spPr>
          <a:xfrm>
            <a:off x="4436837" y="3543786"/>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180" name="TextBox 179">
            <a:extLst>
              <a:ext uri="{FF2B5EF4-FFF2-40B4-BE49-F238E27FC236}">
                <a16:creationId xmlns:a16="http://schemas.microsoft.com/office/drawing/2014/main" id="{FFC49AEA-2A8F-250C-A86A-A7751D9706C3}"/>
              </a:ext>
            </a:extLst>
          </p:cNvPr>
          <p:cNvSpPr txBox="1"/>
          <p:nvPr/>
        </p:nvSpPr>
        <p:spPr>
          <a:xfrm>
            <a:off x="5651554" y="1564445"/>
            <a:ext cx="793115"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5.0 (3.0)</a:t>
            </a:r>
          </a:p>
        </p:txBody>
      </p:sp>
      <p:grpSp>
        <p:nvGrpSpPr>
          <p:cNvPr id="181" name="그룹 180"/>
          <p:cNvGrpSpPr/>
          <p:nvPr/>
        </p:nvGrpSpPr>
        <p:grpSpPr>
          <a:xfrm>
            <a:off x="3833752" y="3850960"/>
            <a:ext cx="2630093" cy="769487"/>
            <a:chOff x="716366" y="2360021"/>
            <a:chExt cx="2630093" cy="769487"/>
          </a:xfrm>
        </p:grpSpPr>
        <p:sp>
          <p:nvSpPr>
            <p:cNvPr id="182" name="직사각형 181"/>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TextBox 182">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85" name="직선 연결선 184">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7" name="직선 연결선 186">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8" name="TextBox 187">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9" name="TextBox 188">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91" name="TextBox 190">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cxnSp>
        <p:nvCxnSpPr>
          <p:cNvPr id="192" name="직선 연결선 191">
            <a:extLst>
              <a:ext uri="{FF2B5EF4-FFF2-40B4-BE49-F238E27FC236}">
                <a16:creationId xmlns:a16="http://schemas.microsoft.com/office/drawing/2014/main" id="{E9293055-D5CD-4B9E-7F64-64B2D2CA7A52}"/>
              </a:ext>
            </a:extLst>
          </p:cNvPr>
          <p:cNvCxnSpPr/>
          <p:nvPr/>
        </p:nvCxnSpPr>
        <p:spPr>
          <a:xfrm>
            <a:off x="3792785" y="47006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4" name="타원 10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362567598"/>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237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MUI-BD-10-M14</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675399" y="386311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5" name="TextBox 114">
            <a:extLst>
              <a:ext uri="{FF2B5EF4-FFF2-40B4-BE49-F238E27FC236}">
                <a16:creationId xmlns:a16="http://schemas.microsoft.com/office/drawing/2014/main" id="{FFC49AEA-2A8F-250C-A86A-A7751D9706C3}"/>
              </a:ext>
            </a:extLst>
          </p:cNvPr>
          <p:cNvSpPr txBox="1"/>
          <p:nvPr/>
        </p:nvSpPr>
        <p:spPr>
          <a:xfrm>
            <a:off x="788988" y="155350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I-2.</a:t>
            </a:r>
            <a:r>
              <a:rPr lang="ko-KR" altLang="en-US" dirty="0"/>
              <a:t>기술평가등급</a:t>
            </a:r>
          </a:p>
        </p:txBody>
      </p:sp>
      <p:sp>
        <p:nvSpPr>
          <p:cNvPr id="121" name="직사각형 120"/>
          <p:cNvSpPr/>
          <p:nvPr/>
        </p:nvSpPr>
        <p:spPr>
          <a:xfrm>
            <a:off x="713457" y="1828528"/>
            <a:ext cx="1639886" cy="193647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800520" y="1828529"/>
            <a:ext cx="1570293" cy="1938992"/>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a:p>
            <a:pPr>
              <a:lnSpc>
                <a:spcPct val="200000"/>
              </a:lnSpc>
            </a:pPr>
            <a:r>
              <a:rPr lang="en-US" altLang="ko-KR" sz="700" dirty="0">
                <a:latin typeface="+mn-ea"/>
              </a:rPr>
              <a:t>T1(</a:t>
            </a:r>
            <a:r>
              <a:rPr lang="ko-KR" altLang="en-US" sz="700" dirty="0">
                <a:latin typeface="+mn-ea"/>
              </a:rPr>
              <a:t>최고수준</a:t>
            </a:r>
            <a:r>
              <a:rPr lang="en-US" altLang="ko-KR" sz="700" dirty="0">
                <a:latin typeface="+mn-ea"/>
              </a:rPr>
              <a:t>)</a:t>
            </a:r>
          </a:p>
          <a:p>
            <a:pPr>
              <a:lnSpc>
                <a:spcPct val="200000"/>
              </a:lnSpc>
            </a:pPr>
            <a:r>
              <a:rPr lang="en-US" altLang="ko-KR" sz="700" dirty="0">
                <a:latin typeface="+mn-ea"/>
              </a:rPr>
              <a:t>T2(</a:t>
            </a:r>
            <a:r>
              <a:rPr lang="ko-KR" altLang="en-US" sz="700" dirty="0" err="1">
                <a:latin typeface="+mn-ea"/>
              </a:rPr>
              <a:t>매우우수</a:t>
            </a:r>
            <a:r>
              <a:rPr lang="en-US" altLang="ko-KR" sz="700" dirty="0">
                <a:latin typeface="+mn-ea"/>
              </a:rPr>
              <a:t>)</a:t>
            </a:r>
          </a:p>
          <a:p>
            <a:pPr>
              <a:lnSpc>
                <a:spcPct val="200000"/>
              </a:lnSpc>
            </a:pPr>
            <a:r>
              <a:rPr lang="en-US" altLang="ko-KR" sz="700" dirty="0">
                <a:latin typeface="+mn-ea"/>
              </a:rPr>
              <a:t>T3(</a:t>
            </a:r>
            <a:r>
              <a:rPr lang="ko-KR" altLang="en-US" sz="700" dirty="0" err="1">
                <a:latin typeface="+mn-ea"/>
              </a:rPr>
              <a:t>우수수준</a:t>
            </a:r>
            <a:r>
              <a:rPr lang="en-US" altLang="ko-KR" sz="700" dirty="0">
                <a:latin typeface="+mn-ea"/>
              </a:rPr>
              <a:t>)</a:t>
            </a:r>
          </a:p>
          <a:p>
            <a:pPr>
              <a:lnSpc>
                <a:spcPct val="200000"/>
              </a:lnSpc>
            </a:pPr>
            <a:r>
              <a:rPr lang="en-US" altLang="ko-KR" sz="700" dirty="0">
                <a:latin typeface="+mn-ea"/>
              </a:rPr>
              <a:t>T4(</a:t>
            </a:r>
            <a:r>
              <a:rPr lang="ko-KR" altLang="en-US" sz="700" dirty="0" err="1">
                <a:latin typeface="+mn-ea"/>
              </a:rPr>
              <a:t>양호수준</a:t>
            </a:r>
            <a:r>
              <a:rPr lang="en-US" altLang="ko-KR" sz="700" dirty="0">
                <a:latin typeface="+mn-ea"/>
              </a:rPr>
              <a:t>)</a:t>
            </a:r>
          </a:p>
          <a:p>
            <a:pPr>
              <a:lnSpc>
                <a:spcPct val="200000"/>
              </a:lnSpc>
            </a:pPr>
            <a:r>
              <a:rPr lang="en-US" altLang="ko-KR" sz="700" dirty="0">
                <a:latin typeface="+mn-ea"/>
              </a:rPr>
              <a:t>T5(</a:t>
            </a:r>
            <a:r>
              <a:rPr lang="ko-KR" altLang="en-US" sz="700" dirty="0">
                <a:latin typeface="+mn-ea"/>
              </a:rPr>
              <a:t>보통이상</a:t>
            </a:r>
            <a:r>
              <a:rPr lang="en-US" altLang="ko-KR" sz="700" dirty="0">
                <a:latin typeface="+mn-ea"/>
              </a:rPr>
              <a:t>)</a:t>
            </a:r>
          </a:p>
          <a:p>
            <a:pPr>
              <a:lnSpc>
                <a:spcPct val="200000"/>
              </a:lnSpc>
            </a:pPr>
            <a:r>
              <a:rPr lang="en-US" altLang="ko-KR" sz="700" dirty="0">
                <a:latin typeface="+mn-ea"/>
              </a:rPr>
              <a:t>T6(</a:t>
            </a:r>
            <a:r>
              <a:rPr lang="ko-KR" altLang="en-US" sz="700" dirty="0" err="1">
                <a:latin typeface="+mn-ea"/>
              </a:rPr>
              <a:t>보통수준</a:t>
            </a:r>
            <a:r>
              <a:rPr lang="en-US" altLang="ko-KR" sz="700" dirty="0">
                <a:latin typeface="+mn-ea"/>
              </a:rPr>
              <a:t>)</a:t>
            </a:r>
          </a:p>
          <a:p>
            <a:pPr>
              <a:lnSpc>
                <a:spcPct val="200000"/>
              </a:lnSpc>
            </a:pPr>
            <a:r>
              <a:rPr lang="en-US" altLang="ko-KR" sz="700" dirty="0">
                <a:latin typeface="+mn-ea"/>
              </a:rPr>
              <a:t>T7(</a:t>
            </a:r>
            <a:r>
              <a:rPr lang="ko-KR" altLang="en-US" sz="700" dirty="0" err="1">
                <a:latin typeface="+mn-ea"/>
              </a:rPr>
              <a:t>보통정도</a:t>
            </a:r>
            <a:r>
              <a:rPr lang="en-US" altLang="ko-KR" sz="700" dirty="0">
                <a:latin typeface="+mn-ea"/>
              </a:rPr>
              <a:t>)</a:t>
            </a:r>
          </a:p>
          <a:p>
            <a:pPr>
              <a:lnSpc>
                <a:spcPct val="200000"/>
              </a:lnSpc>
            </a:pPr>
            <a:r>
              <a:rPr lang="en-US" altLang="ko-KR" sz="700" dirty="0">
                <a:latin typeface="+mn-ea"/>
              </a:rPr>
              <a:t>T8</a:t>
            </a:r>
            <a:r>
              <a:rPr lang="ko-KR" altLang="en-US" sz="700" dirty="0">
                <a:latin typeface="+mn-ea"/>
              </a:rPr>
              <a:t>이하</a:t>
            </a:r>
            <a:r>
              <a:rPr lang="en-US" altLang="ko-KR" sz="700" dirty="0">
                <a:latin typeface="+mn-ea"/>
              </a:rPr>
              <a:t>(</a:t>
            </a:r>
            <a:r>
              <a:rPr lang="ko-KR" altLang="en-US" sz="700" dirty="0" err="1">
                <a:latin typeface="+mn-ea"/>
              </a:rPr>
              <a:t>보통이하</a:t>
            </a:r>
            <a:r>
              <a:rPr lang="en-US" altLang="ko-KR" sz="700" dirty="0">
                <a:latin typeface="+mn-ea"/>
              </a:rPr>
              <a:t>)</a:t>
            </a:r>
          </a:p>
        </p:txBody>
      </p:sp>
      <p:sp>
        <p:nvSpPr>
          <p:cNvPr id="123" name="TextBox 122">
            <a:extLst>
              <a:ext uri="{FF2B5EF4-FFF2-40B4-BE49-F238E27FC236}">
                <a16:creationId xmlns:a16="http://schemas.microsoft.com/office/drawing/2014/main" id="{FFC49AEA-2A8F-250C-A86A-A7751D9706C3}"/>
              </a:ext>
            </a:extLst>
          </p:cNvPr>
          <p:cNvSpPr txBox="1"/>
          <p:nvPr/>
        </p:nvSpPr>
        <p:spPr>
          <a:xfrm>
            <a:off x="2528562" y="1828529"/>
            <a:ext cx="179536" cy="1938992"/>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a:p>
            <a:pPr algn="r">
              <a:lnSpc>
                <a:spcPct val="200000"/>
              </a:lnSpc>
            </a:pPr>
            <a:r>
              <a:rPr lang="en-US" altLang="ko-KR" sz="700" dirty="0">
                <a:latin typeface="+mn-ea"/>
              </a:rPr>
              <a:t>5.0</a:t>
            </a:r>
          </a:p>
          <a:p>
            <a:pPr algn="r">
              <a:lnSpc>
                <a:spcPct val="200000"/>
              </a:lnSpc>
            </a:pPr>
            <a:r>
              <a:rPr lang="en-US" altLang="ko-KR" sz="700" dirty="0">
                <a:latin typeface="+mn-ea"/>
              </a:rPr>
              <a:t>4.9</a:t>
            </a:r>
          </a:p>
          <a:p>
            <a:pPr algn="r">
              <a:lnSpc>
                <a:spcPct val="200000"/>
              </a:lnSpc>
            </a:pPr>
            <a:r>
              <a:rPr lang="en-US" altLang="ko-KR" sz="700" dirty="0">
                <a:latin typeface="+mn-ea"/>
              </a:rPr>
              <a:t>4.8</a:t>
            </a:r>
          </a:p>
          <a:p>
            <a:pPr algn="r">
              <a:lnSpc>
                <a:spcPct val="200000"/>
              </a:lnSpc>
            </a:pPr>
            <a:r>
              <a:rPr lang="en-US" altLang="ko-KR" sz="700" dirty="0">
                <a:latin typeface="+mn-ea"/>
              </a:rPr>
              <a:t>4.7</a:t>
            </a:r>
          </a:p>
          <a:p>
            <a:pPr algn="r">
              <a:lnSpc>
                <a:spcPct val="200000"/>
              </a:lnSpc>
            </a:pPr>
            <a:r>
              <a:rPr lang="en-US" altLang="ko-KR" sz="700" dirty="0">
                <a:latin typeface="+mn-ea"/>
              </a:rPr>
              <a:t>4.6</a:t>
            </a:r>
          </a:p>
          <a:p>
            <a:pPr algn="r">
              <a:lnSpc>
                <a:spcPct val="200000"/>
              </a:lnSpc>
            </a:pPr>
            <a:r>
              <a:rPr lang="en-US" altLang="ko-KR" sz="700" dirty="0">
                <a:latin typeface="+mn-ea"/>
              </a:rPr>
              <a:t>4.5</a:t>
            </a:r>
          </a:p>
          <a:p>
            <a:pPr algn="r">
              <a:lnSpc>
                <a:spcPct val="200000"/>
              </a:lnSpc>
            </a:pPr>
            <a:r>
              <a:rPr lang="en-US" altLang="ko-KR" sz="700" dirty="0">
                <a:latin typeface="+mn-ea"/>
              </a:rPr>
              <a:t>4.4</a:t>
            </a:r>
          </a:p>
          <a:p>
            <a:pPr algn="r">
              <a:lnSpc>
                <a:spcPct val="200000"/>
              </a:lnSpc>
            </a:pPr>
            <a:r>
              <a:rPr lang="en-US" altLang="ko-KR" sz="700" dirty="0">
                <a:latin typeface="+mn-ea"/>
              </a:rPr>
              <a:t>4.0</a:t>
            </a: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710760" y="182852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12853" y="20432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0" name="직선 연결선 149">
            <a:extLst>
              <a:ext uri="{FF2B5EF4-FFF2-40B4-BE49-F238E27FC236}">
                <a16:creationId xmlns:a16="http://schemas.microsoft.com/office/drawing/2014/main" id="{E9293055-D5CD-4B9E-7F64-64B2D2CA7A52}"/>
              </a:ext>
            </a:extLst>
          </p:cNvPr>
          <p:cNvCxnSpPr/>
          <p:nvPr/>
        </p:nvCxnSpPr>
        <p:spPr>
          <a:xfrm>
            <a:off x="712853" y="376777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1" name="TextBox 150">
            <a:extLst>
              <a:ext uri="{FF2B5EF4-FFF2-40B4-BE49-F238E27FC236}">
                <a16:creationId xmlns:a16="http://schemas.microsoft.com/office/drawing/2014/main" id="{FFC49AEA-2A8F-250C-A86A-A7751D9706C3}"/>
              </a:ext>
            </a:extLst>
          </p:cNvPr>
          <p:cNvSpPr txBox="1"/>
          <p:nvPr/>
        </p:nvSpPr>
        <p:spPr>
          <a:xfrm>
            <a:off x="2948868" y="1828529"/>
            <a:ext cx="359137" cy="1938992"/>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2353343" y="1553506"/>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5</a:t>
            </a:r>
            <a:r>
              <a:rPr lang="ko-KR" altLang="en-US" dirty="0"/>
              <a:t>점</a:t>
            </a:r>
          </a:p>
        </p:txBody>
      </p:sp>
      <p:cxnSp>
        <p:nvCxnSpPr>
          <p:cNvPr id="160" name="직선 연결선 159">
            <a:extLst>
              <a:ext uri="{FF2B5EF4-FFF2-40B4-BE49-F238E27FC236}">
                <a16:creationId xmlns:a16="http://schemas.microsoft.com/office/drawing/2014/main" id="{E9293055-D5CD-4B9E-7F64-64B2D2CA7A52}"/>
              </a:ext>
            </a:extLst>
          </p:cNvPr>
          <p:cNvCxnSpPr/>
          <p:nvPr/>
        </p:nvCxnSpPr>
        <p:spPr>
          <a:xfrm>
            <a:off x="710760" y="226613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12853" y="24808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10760" y="27090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12853" y="29237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12853" y="31344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10760" y="33625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12853" y="35773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3793173" y="1527996"/>
            <a:ext cx="2712027" cy="3109822"/>
            <a:chOff x="3793173" y="1527996"/>
            <a:chExt cx="2712027" cy="3109822"/>
          </a:xfrm>
        </p:grpSpPr>
        <p:sp>
          <p:nvSpPr>
            <p:cNvPr id="173" name="TextBox 172">
              <a:extLst>
                <a:ext uri="{FF2B5EF4-FFF2-40B4-BE49-F238E27FC236}">
                  <a16:creationId xmlns:a16="http://schemas.microsoft.com/office/drawing/2014/main" id="{FFC49AEA-2A8F-250C-A86A-A7751D9706C3}"/>
                </a:ext>
              </a:extLst>
            </p:cNvPr>
            <p:cNvSpPr txBox="1"/>
            <p:nvPr/>
          </p:nvSpPr>
          <p:spPr>
            <a:xfrm>
              <a:off x="3879920" y="1527996"/>
              <a:ext cx="2268636" cy="181140"/>
            </a:xfrm>
            <a:prstGeom prst="rect">
              <a:avLst/>
            </a:prstGeom>
            <a:noFill/>
          </p:spPr>
          <p:txBody>
            <a:bodyPr wrap="square" lIns="0" tIns="0" rIns="0" bIns="0" rtlCol="0">
              <a:spAutoFit/>
            </a:bodyPr>
            <a:lstStyle/>
            <a:p>
              <a:pPr>
                <a:lnSpc>
                  <a:spcPct val="200000"/>
                </a:lnSpc>
              </a:pPr>
              <a:r>
                <a:rPr lang="ko-KR" altLang="en-US" sz="700" dirty="0" err="1">
                  <a:latin typeface="+mn-ea"/>
                </a:rPr>
                <a:t>당해물품납품이행능력</a:t>
              </a:r>
              <a:r>
                <a:rPr lang="en-US" altLang="ko-KR" sz="700" dirty="0">
                  <a:latin typeface="+mn-ea"/>
                </a:rPr>
                <a:t>(30</a:t>
              </a:r>
              <a:r>
                <a:rPr lang="ko-KR" altLang="en-US" sz="700" dirty="0">
                  <a:latin typeface="+mn-ea"/>
                </a:rPr>
                <a:t>점</a:t>
              </a:r>
              <a:r>
                <a:rPr lang="en-US" altLang="ko-KR" sz="700" dirty="0">
                  <a:latin typeface="+mn-ea"/>
                </a:rPr>
                <a:t>)</a:t>
              </a:r>
            </a:p>
          </p:txBody>
        </p:sp>
        <p:grpSp>
          <p:nvGrpSpPr>
            <p:cNvPr id="193" name="그룹 192"/>
            <p:cNvGrpSpPr/>
            <p:nvPr/>
          </p:nvGrpSpPr>
          <p:grpSpPr>
            <a:xfrm flipV="1">
              <a:off x="6242007" y="1641327"/>
              <a:ext cx="94010" cy="47005"/>
              <a:chOff x="6812560" y="3297172"/>
              <a:chExt cx="94010" cy="47005"/>
            </a:xfrm>
          </p:grpSpPr>
          <p:cxnSp>
            <p:nvCxnSpPr>
              <p:cNvPr id="194" name="직선 연결선 1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5" name="직선 연결선 1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96" name="직선 연결선 195">
              <a:extLst>
                <a:ext uri="{FF2B5EF4-FFF2-40B4-BE49-F238E27FC236}">
                  <a16:creationId xmlns:a16="http://schemas.microsoft.com/office/drawing/2014/main" id="{E9293055-D5CD-4B9E-7F64-64B2D2CA7A52}"/>
                </a:ext>
              </a:extLst>
            </p:cNvPr>
            <p:cNvCxnSpPr/>
            <p:nvPr/>
          </p:nvCxnSpPr>
          <p:spPr>
            <a:xfrm>
              <a:off x="3793173" y="26148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3793173"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99" name="그룹 198"/>
            <p:cNvGrpSpPr/>
            <p:nvPr/>
          </p:nvGrpSpPr>
          <p:grpSpPr>
            <a:xfrm>
              <a:off x="3817607" y="1876425"/>
              <a:ext cx="2630093" cy="646331"/>
              <a:chOff x="701175" y="1835481"/>
              <a:chExt cx="2630093" cy="646331"/>
            </a:xfrm>
          </p:grpSpPr>
          <p:sp>
            <p:nvSpPr>
              <p:cNvPr id="200" name="직사각형 199"/>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1" name="TextBox 200">
                <a:extLst>
                  <a:ext uri="{FF2B5EF4-FFF2-40B4-BE49-F238E27FC236}">
                    <a16:creationId xmlns:a16="http://schemas.microsoft.com/office/drawing/2014/main" id="{FFC49AEA-2A8F-250C-A86A-A7751D9706C3}"/>
                  </a:ext>
                </a:extLst>
              </p:cNvPr>
              <p:cNvSpPr txBox="1"/>
              <p:nvPr/>
            </p:nvSpPr>
            <p:spPr>
              <a:xfrm>
                <a:off x="790331" y="1835481"/>
                <a:ext cx="725552" cy="612027"/>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a:p>
                <a:pPr>
                  <a:lnSpc>
                    <a:spcPct val="200000"/>
                  </a:lnSpc>
                </a:pPr>
                <a:r>
                  <a:rPr lang="ko-KR" altLang="en-US" sz="700" dirty="0" err="1">
                    <a:latin typeface="+mn-ea"/>
                  </a:rPr>
                  <a:t>심사평점</a:t>
                </a:r>
                <a:endParaRPr lang="en-US" altLang="ko-KR" sz="700" dirty="0">
                  <a:latin typeface="+mn-ea"/>
                </a:endParaRPr>
              </a:p>
            </p:txBody>
          </p:sp>
          <p:sp>
            <p:nvSpPr>
              <p:cNvPr id="202" name="TextBox 201">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gn="r">
                  <a:lnSpc>
                    <a:spcPct val="200000"/>
                  </a:lnSpc>
                </a:pPr>
                <a:r>
                  <a:rPr lang="en-US" altLang="ko-KR" sz="700" dirty="0">
                    <a:latin typeface="+mn-ea"/>
                  </a:rPr>
                  <a:t>-</a:t>
                </a:r>
              </a:p>
            </p:txBody>
          </p:sp>
          <p:grpSp>
            <p:nvGrpSpPr>
              <p:cNvPr id="203" name="그룹 202"/>
              <p:cNvGrpSpPr/>
              <p:nvPr/>
            </p:nvGrpSpPr>
            <p:grpSpPr>
              <a:xfrm>
                <a:off x="701175" y="1835481"/>
                <a:ext cx="2630093" cy="644220"/>
                <a:chOff x="701175" y="1835481"/>
                <a:chExt cx="2630093" cy="644220"/>
              </a:xfrm>
            </p:grpSpPr>
            <p:cxnSp>
              <p:nvCxnSpPr>
                <p:cNvPr id="204" name="직선 연결선 20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09" name="TextBox 208">
              <a:extLst>
                <a:ext uri="{FF2B5EF4-FFF2-40B4-BE49-F238E27FC236}">
                  <a16:creationId xmlns:a16="http://schemas.microsoft.com/office/drawing/2014/main" id="{FFC49AEA-2A8F-250C-A86A-A7751D9706C3}"/>
                </a:ext>
              </a:extLst>
            </p:cNvPr>
            <p:cNvSpPr txBox="1"/>
            <p:nvPr/>
          </p:nvSpPr>
          <p:spPr>
            <a:xfrm>
              <a:off x="3879920" y="2656994"/>
              <a:ext cx="2268636" cy="215444"/>
            </a:xfrm>
            <a:prstGeom prst="rect">
              <a:avLst/>
            </a:prstGeom>
            <a:noFill/>
          </p:spPr>
          <p:txBody>
            <a:bodyPr wrap="square" lIns="0" tIns="0" rIns="0" bIns="0" rtlCol="0">
              <a:spAutoFit/>
            </a:bodyPr>
            <a:lstStyle/>
            <a:p>
              <a:pPr>
                <a:lnSpc>
                  <a:spcPct val="200000"/>
                </a:lnSpc>
              </a:pPr>
              <a:r>
                <a:rPr lang="ko-KR" altLang="en-US" sz="700" dirty="0">
                  <a:latin typeface="+mn-ea"/>
                </a:rPr>
                <a:t>입찰가격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60</a:t>
              </a:r>
            </a:p>
          </p:txBody>
        </p:sp>
        <p:grpSp>
          <p:nvGrpSpPr>
            <p:cNvPr id="210" name="그룹 209"/>
            <p:cNvGrpSpPr/>
            <p:nvPr/>
          </p:nvGrpSpPr>
          <p:grpSpPr>
            <a:xfrm flipV="1">
              <a:off x="6242007" y="2770325"/>
              <a:ext cx="94010" cy="47005"/>
              <a:chOff x="6812560" y="3297172"/>
              <a:chExt cx="94010" cy="47005"/>
            </a:xfrm>
          </p:grpSpPr>
          <p:cxnSp>
            <p:nvCxnSpPr>
              <p:cNvPr id="212" name="직선 연결선 21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3" name="직선 연결선 21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3173" y="46378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5" name="직선 연결선 214">
              <a:extLst>
                <a:ext uri="{FF2B5EF4-FFF2-40B4-BE49-F238E27FC236}">
                  <a16:creationId xmlns:a16="http://schemas.microsoft.com/office/drawing/2014/main" id="{E9293055-D5CD-4B9E-7F64-64B2D2CA7A52}"/>
                </a:ext>
              </a:extLst>
            </p:cNvPr>
            <p:cNvCxnSpPr/>
            <p:nvPr/>
          </p:nvCxnSpPr>
          <p:spPr>
            <a:xfrm>
              <a:off x="3793173" y="29438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16" name="그룹 215"/>
            <p:cNvGrpSpPr/>
            <p:nvPr/>
          </p:nvGrpSpPr>
          <p:grpSpPr>
            <a:xfrm>
              <a:off x="3817607" y="3005422"/>
              <a:ext cx="2630093" cy="1094598"/>
              <a:chOff x="701175" y="1835480"/>
              <a:chExt cx="2630093" cy="1094598"/>
            </a:xfrm>
          </p:grpSpPr>
          <p:sp>
            <p:nvSpPr>
              <p:cNvPr id="217" name="직사각형 216"/>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TextBox 217">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60 - 4 X | 0.91 - </a:t>
                </a:r>
                <a:r>
                  <a:rPr lang="ko-KR" altLang="en-US" sz="650" dirty="0">
                    <a:latin typeface="+mn-ea"/>
                  </a:rPr>
                  <a:t>입찰가격 </a:t>
                </a:r>
                <a:r>
                  <a:rPr lang="en-US" altLang="ko-KR" sz="650" dirty="0">
                    <a:latin typeface="+mn-ea"/>
                  </a:rPr>
                  <a:t>/ </a:t>
                </a:r>
                <a:r>
                  <a:rPr lang="ko-KR" altLang="en-US" sz="650" dirty="0">
                    <a:latin typeface="+mn-ea"/>
                  </a:rPr>
                  <a:t>예정가격 </a:t>
                </a:r>
                <a:r>
                  <a:rPr lang="en-US" altLang="ko-KR" sz="650" dirty="0">
                    <a:latin typeface="+mn-ea"/>
                  </a:rPr>
                  <a:t>| X 100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220" name="그룹 219"/>
              <p:cNvGrpSpPr/>
              <p:nvPr/>
            </p:nvGrpSpPr>
            <p:grpSpPr>
              <a:xfrm>
                <a:off x="701175" y="1835481"/>
                <a:ext cx="2630093" cy="1094597"/>
                <a:chOff x="701175" y="1835481"/>
                <a:chExt cx="2630093" cy="1094597"/>
              </a:xfrm>
            </p:grpSpPr>
            <p:cxnSp>
              <p:nvCxnSpPr>
                <p:cNvPr id="221" name="직선 연결선 22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5" name="직선 연결선 224">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6" name="직선 연결선 225">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27" name="TextBox 226">
              <a:extLst>
                <a:ext uri="{FF2B5EF4-FFF2-40B4-BE49-F238E27FC236}">
                  <a16:creationId xmlns:a16="http://schemas.microsoft.com/office/drawing/2014/main" id="{FFC49AEA-2A8F-250C-A86A-A7751D9706C3}"/>
                </a:ext>
              </a:extLst>
            </p:cNvPr>
            <p:cNvSpPr txBox="1"/>
            <p:nvPr/>
          </p:nvSpPr>
          <p:spPr>
            <a:xfrm>
              <a:off x="3879919" y="4216728"/>
              <a:ext cx="2456097" cy="323165"/>
            </a:xfrm>
            <a:prstGeom prst="rect">
              <a:avLst/>
            </a:prstGeom>
            <a:noFill/>
          </p:spPr>
          <p:txBody>
            <a:bodyPr wrap="square" lIns="0" tIns="0" rIns="0" bIns="0" rtlCol="0">
              <a:spAutoFit/>
            </a:bodyPr>
            <a:lstStyle>
              <a:defPPr>
                <a:defRPr lang="ko-KR"/>
              </a:defPPr>
              <a:lvl1pPr>
                <a:defRPr sz="700">
                  <a:latin typeface="+mn-ea"/>
                </a:defRPr>
              </a:lvl1pPr>
            </a:lstStyle>
            <a:p>
              <a:pPr algn="ctr"/>
              <a:r>
                <a:rPr lang="ko-KR" altLang="en-US" dirty="0"/>
                <a:t>입찰가격이 예정가격 이하로서</a:t>
              </a:r>
              <a:endParaRPr lang="en-US" altLang="ko-KR" dirty="0"/>
            </a:p>
            <a:p>
              <a:pPr algn="ctr"/>
              <a:r>
                <a:rPr lang="ko-KR" altLang="en-US" dirty="0"/>
                <a:t>예정가격의 </a:t>
              </a:r>
              <a:r>
                <a:rPr lang="en-US" altLang="ko-KR" dirty="0"/>
                <a:t>100</a:t>
              </a:r>
              <a:r>
                <a:rPr lang="ko-KR" altLang="en-US" dirty="0"/>
                <a:t>분의 </a:t>
              </a:r>
              <a:r>
                <a:rPr lang="en-US" altLang="ko-KR" dirty="0"/>
                <a:t>94</a:t>
              </a:r>
              <a:r>
                <a:rPr lang="ko-KR" altLang="en-US" dirty="0"/>
                <a:t>인 경우 평점은 </a:t>
              </a:r>
              <a:r>
                <a:rPr lang="en-US" altLang="ko-KR" dirty="0"/>
                <a:t>48</a:t>
              </a:r>
              <a:r>
                <a:rPr lang="ko-KR" altLang="en-US" dirty="0"/>
                <a:t>점</a:t>
              </a:r>
              <a:r>
                <a:rPr lang="en-US" altLang="ko-KR" dirty="0"/>
                <a:t/>
              </a:r>
              <a:br>
                <a:rPr lang="en-US" altLang="ko-KR" dirty="0"/>
              </a:br>
              <a:r>
                <a:rPr lang="ko-KR" altLang="en-US" dirty="0" err="1"/>
                <a:t>최저평점</a:t>
              </a:r>
              <a:r>
                <a:rPr lang="ko-KR" altLang="en-US" dirty="0"/>
                <a:t> </a:t>
              </a:r>
              <a:r>
                <a:rPr lang="en-US" altLang="ko-KR" dirty="0"/>
                <a:t>: 2</a:t>
              </a:r>
              <a:r>
                <a:rPr lang="ko-KR" altLang="en-US" dirty="0"/>
                <a:t>점</a:t>
              </a:r>
            </a:p>
          </p:txBody>
        </p:sp>
      </p:grpSp>
      <p:sp>
        <p:nvSpPr>
          <p:cNvPr id="72" name="타원 71">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130297716"/>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238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MUI-BD-10-M14</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신인도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-2</a:t>
            </a:r>
          </a:p>
        </p:txBody>
      </p:sp>
      <p:grpSp>
        <p:nvGrpSpPr>
          <p:cNvPr id="168" name="그룹 167"/>
          <p:cNvGrpSpPr/>
          <p:nvPr/>
        </p:nvGrpSpPr>
        <p:grpSpPr>
          <a:xfrm flipV="1">
            <a:off x="3124233" y="1641327"/>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72" name="직선 연결선 171">
            <a:extLst>
              <a:ext uri="{FF2B5EF4-FFF2-40B4-BE49-F238E27FC236}">
                <a16:creationId xmlns:a16="http://schemas.microsoft.com/office/drawing/2014/main" id="{E9293055-D5CD-4B9E-7F64-64B2D2CA7A52}"/>
              </a:ext>
            </a:extLst>
          </p:cNvPr>
          <p:cNvCxnSpPr/>
          <p:nvPr/>
        </p:nvCxnSpPr>
        <p:spPr>
          <a:xfrm>
            <a:off x="675399"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8" name="직사각형 227"/>
          <p:cNvSpPr/>
          <p:nvPr/>
        </p:nvSpPr>
        <p:spPr>
          <a:xfrm>
            <a:off x="712162" y="2555584"/>
            <a:ext cx="1639886" cy="8890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9" name="TextBox 228">
            <a:extLst>
              <a:ext uri="{FF2B5EF4-FFF2-40B4-BE49-F238E27FC236}">
                <a16:creationId xmlns:a16="http://schemas.microsoft.com/office/drawing/2014/main" id="{FFC49AEA-2A8F-250C-A86A-A7751D9706C3}"/>
              </a:ext>
            </a:extLst>
          </p:cNvPr>
          <p:cNvSpPr txBox="1"/>
          <p:nvPr/>
        </p:nvSpPr>
        <p:spPr>
          <a:xfrm>
            <a:off x="799225" y="2555585"/>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30" name="TextBox 229">
            <a:extLst>
              <a:ext uri="{FF2B5EF4-FFF2-40B4-BE49-F238E27FC236}">
                <a16:creationId xmlns:a16="http://schemas.microsoft.com/office/drawing/2014/main" id="{FFC49AEA-2A8F-250C-A86A-A7751D9706C3}"/>
              </a:ext>
            </a:extLst>
          </p:cNvPr>
          <p:cNvSpPr txBox="1"/>
          <p:nvPr/>
        </p:nvSpPr>
        <p:spPr>
          <a:xfrm>
            <a:off x="2527267"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31" name="직선 연결선 230">
            <a:extLst>
              <a:ext uri="{FF2B5EF4-FFF2-40B4-BE49-F238E27FC236}">
                <a16:creationId xmlns:a16="http://schemas.microsoft.com/office/drawing/2014/main" id="{E9293055-D5CD-4B9E-7F64-64B2D2CA7A52}"/>
              </a:ext>
            </a:extLst>
          </p:cNvPr>
          <p:cNvCxnSpPr/>
          <p:nvPr/>
        </p:nvCxnSpPr>
        <p:spPr>
          <a:xfrm>
            <a:off x="710070" y="25555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12163" y="27703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12163" y="34490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4" name="TextBox 233">
            <a:extLst>
              <a:ext uri="{FF2B5EF4-FFF2-40B4-BE49-F238E27FC236}">
                <a16:creationId xmlns:a16="http://schemas.microsoft.com/office/drawing/2014/main" id="{FFC49AEA-2A8F-250C-A86A-A7751D9706C3}"/>
              </a:ext>
            </a:extLst>
          </p:cNvPr>
          <p:cNvSpPr txBox="1"/>
          <p:nvPr/>
        </p:nvSpPr>
        <p:spPr>
          <a:xfrm>
            <a:off x="771041" y="1869398"/>
            <a:ext cx="2535669" cy="181140"/>
          </a:xfrm>
          <a:prstGeom prst="rect">
            <a:avLst/>
          </a:prstGeom>
          <a:noFill/>
        </p:spPr>
        <p:txBody>
          <a:bodyPr wrap="square" lIns="0" tIns="0" rIns="0" bIns="0" rtlCol="0">
            <a:spAutoFit/>
          </a:bodyPr>
          <a:lstStyle/>
          <a:p>
            <a:pPr>
              <a:lnSpc>
                <a:spcPct val="200000"/>
              </a:lnSpc>
            </a:pPr>
            <a:r>
              <a:rPr lang="en-US" altLang="ko-KR" sz="700" b="1" dirty="0">
                <a:latin typeface="+mn-ea"/>
              </a:rPr>
              <a:t>1. </a:t>
            </a:r>
            <a:r>
              <a:rPr lang="ko-KR" altLang="en-US" sz="700" b="1" dirty="0">
                <a:latin typeface="+mn-ea"/>
              </a:rPr>
              <a:t>품질관리 등 </a:t>
            </a:r>
            <a:r>
              <a:rPr lang="ko-KR" altLang="en-US" sz="700" b="1" dirty="0" err="1">
                <a:latin typeface="+mn-ea"/>
              </a:rPr>
              <a:t>신뢰정도</a:t>
            </a:r>
            <a:endParaRPr lang="ko-KR" altLang="en-US" sz="700" b="1" dirty="0">
              <a:latin typeface="+mn-ea"/>
            </a:endParaRPr>
          </a:p>
        </p:txBody>
      </p:sp>
      <p:sp>
        <p:nvSpPr>
          <p:cNvPr id="235" name="TextBox 234">
            <a:extLst>
              <a:ext uri="{FF2B5EF4-FFF2-40B4-BE49-F238E27FC236}">
                <a16:creationId xmlns:a16="http://schemas.microsoft.com/office/drawing/2014/main" id="{FFC49AEA-2A8F-250C-A86A-A7751D9706C3}"/>
              </a:ext>
            </a:extLst>
          </p:cNvPr>
          <p:cNvSpPr txBox="1"/>
          <p:nvPr/>
        </p:nvSpPr>
        <p:spPr>
          <a:xfrm>
            <a:off x="771041" y="2069635"/>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a:t>
            </a:r>
            <a:r>
              <a:rPr lang="ko-KR" altLang="en-US" sz="700" dirty="0" err="1">
                <a:latin typeface="+mn-ea"/>
              </a:rPr>
              <a:t>고도인증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고도기술에</a:t>
            </a:r>
            <a:r>
              <a:rPr lang="ko-KR" altLang="en-US" sz="700" dirty="0">
                <a:latin typeface="+mn-ea"/>
              </a:rPr>
              <a:t> 대한 인증</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2947637" y="255558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37" name="TextBox 236">
            <a:extLst>
              <a:ext uri="{FF2B5EF4-FFF2-40B4-BE49-F238E27FC236}">
                <a16:creationId xmlns:a16="http://schemas.microsoft.com/office/drawing/2014/main" id="{FFC49AEA-2A8F-250C-A86A-A7751D9706C3}"/>
              </a:ext>
            </a:extLst>
          </p:cNvPr>
          <p:cNvSpPr txBox="1"/>
          <p:nvPr/>
        </p:nvSpPr>
        <p:spPr>
          <a:xfrm>
            <a:off x="799225" y="2845534"/>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주무부 장관 등이 인증한 신기술</a:t>
            </a:r>
            <a:r>
              <a:rPr lang="en-US" altLang="ko-KR" sz="700" dirty="0">
                <a:latin typeface="+mn-ea"/>
              </a:rPr>
              <a:t>(NET, NEP)</a:t>
            </a:r>
            <a:r>
              <a:rPr lang="ko-KR" altLang="en-US" sz="700" dirty="0">
                <a:latin typeface="+mn-ea"/>
              </a:rPr>
              <a:t>인증</a:t>
            </a:r>
            <a:r>
              <a:rPr lang="en-US" altLang="ko-KR" sz="700" dirty="0">
                <a:latin typeface="+mn-ea"/>
              </a:rPr>
              <a:t>, </a:t>
            </a:r>
            <a:r>
              <a:rPr lang="ko-KR" altLang="en-US" sz="700" dirty="0">
                <a:latin typeface="+mn-ea"/>
              </a:rPr>
              <a:t>조달우수제품인증</a:t>
            </a:r>
            <a:r>
              <a:rPr lang="en-US" altLang="ko-KR" sz="700" dirty="0">
                <a:latin typeface="+mn-ea"/>
              </a:rPr>
              <a:t>, </a:t>
            </a:r>
            <a:r>
              <a:rPr lang="ko-KR" altLang="en-US" sz="700" dirty="0">
                <a:latin typeface="+mn-ea"/>
              </a:rPr>
              <a:t>중소기업 기술개발제품 </a:t>
            </a:r>
            <a:r>
              <a:rPr lang="ko-KR" altLang="en-US" sz="700" dirty="0" err="1">
                <a:latin typeface="+mn-ea"/>
              </a:rPr>
              <a:t>성능인증</a:t>
            </a:r>
            <a:r>
              <a:rPr lang="ko-KR" altLang="en-US" sz="700" dirty="0">
                <a:latin typeface="+mn-ea"/>
              </a:rPr>
              <a:t> 보유자</a:t>
            </a:r>
          </a:p>
          <a:p>
            <a:r>
              <a:rPr lang="en-US" altLang="ko-KR" sz="700" dirty="0">
                <a:latin typeface="+mn-ea"/>
              </a:rPr>
              <a:t>B.</a:t>
            </a:r>
            <a:r>
              <a:rPr lang="ko-KR" altLang="en-US" sz="700" dirty="0">
                <a:latin typeface="+mn-ea"/>
              </a:rPr>
              <a:t>녹색기술인증보유자</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2588181" y="3060977"/>
            <a:ext cx="11862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239" name="직사각형 238"/>
          <p:cNvSpPr/>
          <p:nvPr/>
        </p:nvSpPr>
        <p:spPr>
          <a:xfrm>
            <a:off x="712162" y="3968929"/>
            <a:ext cx="1639886" cy="122691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0" name="TextBox 239">
            <a:extLst>
              <a:ext uri="{FF2B5EF4-FFF2-40B4-BE49-F238E27FC236}">
                <a16:creationId xmlns:a16="http://schemas.microsoft.com/office/drawing/2014/main" id="{FFC49AEA-2A8F-250C-A86A-A7751D9706C3}"/>
              </a:ext>
            </a:extLst>
          </p:cNvPr>
          <p:cNvSpPr txBox="1"/>
          <p:nvPr/>
        </p:nvSpPr>
        <p:spPr>
          <a:xfrm>
            <a:off x="799225" y="396893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2527267" y="396893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42" name="직선 연결선 241">
            <a:extLst>
              <a:ext uri="{FF2B5EF4-FFF2-40B4-BE49-F238E27FC236}">
                <a16:creationId xmlns:a16="http://schemas.microsoft.com/office/drawing/2014/main" id="{E9293055-D5CD-4B9E-7F64-64B2D2CA7A52}"/>
              </a:ext>
            </a:extLst>
          </p:cNvPr>
          <p:cNvCxnSpPr/>
          <p:nvPr/>
        </p:nvCxnSpPr>
        <p:spPr>
          <a:xfrm>
            <a:off x="710070" y="39689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3" name="직선 연결선 242">
            <a:extLst>
              <a:ext uri="{FF2B5EF4-FFF2-40B4-BE49-F238E27FC236}">
                <a16:creationId xmlns:a16="http://schemas.microsoft.com/office/drawing/2014/main" id="{E9293055-D5CD-4B9E-7F64-64B2D2CA7A52}"/>
              </a:ext>
            </a:extLst>
          </p:cNvPr>
          <p:cNvCxnSpPr/>
          <p:nvPr/>
        </p:nvCxnSpPr>
        <p:spPr>
          <a:xfrm>
            <a:off x="712163" y="41836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712163" y="51958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5" name="TextBox 244">
            <a:extLst>
              <a:ext uri="{FF2B5EF4-FFF2-40B4-BE49-F238E27FC236}">
                <a16:creationId xmlns:a16="http://schemas.microsoft.com/office/drawing/2014/main" id="{FFC49AEA-2A8F-250C-A86A-A7751D9706C3}"/>
              </a:ext>
            </a:extLst>
          </p:cNvPr>
          <p:cNvSpPr txBox="1"/>
          <p:nvPr/>
        </p:nvSpPr>
        <p:spPr>
          <a:xfrm>
            <a:off x="771041" y="348298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a:t>
            </a:r>
            <a:r>
              <a:rPr lang="ko-KR" altLang="en-US" sz="700" dirty="0">
                <a:latin typeface="+mn-ea"/>
              </a:rPr>
              <a:t>녹색 </a:t>
            </a:r>
            <a:r>
              <a:rPr lang="ko-KR" altLang="en-US" sz="700" dirty="0" err="1">
                <a:latin typeface="+mn-ea"/>
              </a:rPr>
              <a:t>일반인증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일반기술</a:t>
            </a:r>
            <a:r>
              <a:rPr lang="ko-KR" altLang="en-US" sz="700" dirty="0">
                <a:latin typeface="+mn-ea"/>
              </a:rPr>
              <a:t> 및 친환경</a:t>
            </a:r>
            <a:r>
              <a:rPr lang="en-US" altLang="ko-KR" sz="700" dirty="0">
                <a:latin typeface="+mn-ea"/>
              </a:rPr>
              <a:t>,</a:t>
            </a:r>
            <a:r>
              <a:rPr lang="ko-KR" altLang="en-US" sz="700" dirty="0">
                <a:latin typeface="+mn-ea"/>
              </a:rPr>
              <a:t>품질</a:t>
            </a:r>
            <a:r>
              <a:rPr lang="en-US" altLang="ko-KR" sz="700" dirty="0">
                <a:latin typeface="+mn-ea"/>
              </a:rPr>
              <a:t>,</a:t>
            </a:r>
            <a:r>
              <a:rPr lang="ko-KR" altLang="en-US" sz="700" dirty="0" err="1">
                <a:latin typeface="+mn-ea"/>
              </a:rPr>
              <a:t>규격등에</a:t>
            </a:r>
            <a:r>
              <a:rPr lang="ko-KR" altLang="en-US" sz="700" dirty="0">
                <a:latin typeface="+mn-ea"/>
              </a:rPr>
              <a:t> 대한 인증</a:t>
            </a:r>
          </a:p>
        </p:txBody>
      </p:sp>
      <p:sp>
        <p:nvSpPr>
          <p:cNvPr id="246" name="TextBox 245">
            <a:extLst>
              <a:ext uri="{FF2B5EF4-FFF2-40B4-BE49-F238E27FC236}">
                <a16:creationId xmlns:a16="http://schemas.microsoft.com/office/drawing/2014/main" id="{FFC49AEA-2A8F-250C-A86A-A7751D9706C3}"/>
              </a:ext>
            </a:extLst>
          </p:cNvPr>
          <p:cNvSpPr txBox="1"/>
          <p:nvPr/>
        </p:nvSpPr>
        <p:spPr>
          <a:xfrm>
            <a:off x="2947637" y="396893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47" name="TextBox 246">
            <a:extLst>
              <a:ext uri="{FF2B5EF4-FFF2-40B4-BE49-F238E27FC236}">
                <a16:creationId xmlns:a16="http://schemas.microsoft.com/office/drawing/2014/main" id="{FFC49AEA-2A8F-250C-A86A-A7751D9706C3}"/>
              </a:ext>
            </a:extLst>
          </p:cNvPr>
          <p:cNvSpPr txBox="1"/>
          <p:nvPr/>
        </p:nvSpPr>
        <p:spPr>
          <a:xfrm>
            <a:off x="799225" y="4258291"/>
            <a:ext cx="1480199" cy="861774"/>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특허</a:t>
            </a:r>
            <a:r>
              <a:rPr lang="en-US" altLang="ko-KR" sz="700" dirty="0">
                <a:latin typeface="+mn-ea"/>
              </a:rPr>
              <a:t>, </a:t>
            </a:r>
            <a:r>
              <a:rPr lang="ko-KR" altLang="en-US" sz="700" dirty="0">
                <a:latin typeface="+mn-ea"/>
              </a:rPr>
              <a:t>디자인 등록 보유자</a:t>
            </a:r>
            <a:r>
              <a:rPr lang="en-US" altLang="ko-KR" sz="700" dirty="0">
                <a:latin typeface="+mn-ea"/>
              </a:rPr>
              <a:t>, GS(</a:t>
            </a:r>
            <a:r>
              <a:rPr lang="ko-KR" altLang="en-US" sz="700" dirty="0" err="1">
                <a:latin typeface="+mn-ea"/>
              </a:rPr>
              <a:t>국산우수</a:t>
            </a:r>
            <a:r>
              <a:rPr lang="ko-KR" altLang="en-US" sz="700" dirty="0">
                <a:latin typeface="+mn-ea"/>
              </a:rPr>
              <a:t> </a:t>
            </a:r>
            <a:r>
              <a:rPr lang="en-US" altLang="ko-KR" sz="700" dirty="0">
                <a:latin typeface="+mn-ea"/>
              </a:rPr>
              <a:t>S/W)</a:t>
            </a:r>
            <a:r>
              <a:rPr lang="ko-KR" altLang="en-US" sz="700" dirty="0">
                <a:latin typeface="+mn-ea"/>
              </a:rPr>
              <a:t>마크 보유자</a:t>
            </a:r>
            <a:r>
              <a:rPr lang="en-US" altLang="ko-KR" sz="700" dirty="0">
                <a:latin typeface="+mn-ea"/>
              </a:rPr>
              <a:t>, GR</a:t>
            </a:r>
            <a:r>
              <a:rPr lang="ko-KR" altLang="en-US" sz="700" dirty="0">
                <a:latin typeface="+mn-ea"/>
              </a:rPr>
              <a:t>보유자</a:t>
            </a:r>
          </a:p>
          <a:p>
            <a:r>
              <a:rPr lang="en-US" altLang="ko-KR" sz="700" dirty="0">
                <a:latin typeface="+mn-ea"/>
              </a:rPr>
              <a:t>B.</a:t>
            </a:r>
            <a:r>
              <a:rPr lang="ko-KR" altLang="en-US" sz="700" dirty="0">
                <a:latin typeface="+mn-ea"/>
              </a:rPr>
              <a:t>「산업표준화법시행규칙」 제</a:t>
            </a:r>
            <a:r>
              <a:rPr lang="en-US" altLang="ko-KR" sz="700" dirty="0">
                <a:latin typeface="+mn-ea"/>
              </a:rPr>
              <a:t>10</a:t>
            </a:r>
            <a:r>
              <a:rPr lang="ko-KR" altLang="en-US" sz="700" dirty="0">
                <a:latin typeface="+mn-ea"/>
              </a:rPr>
              <a:t>조에서 정한 </a:t>
            </a:r>
            <a:r>
              <a:rPr lang="en-US" altLang="ko-KR" sz="700" dirty="0">
                <a:latin typeface="+mn-ea"/>
              </a:rPr>
              <a:t>KS</a:t>
            </a:r>
            <a:r>
              <a:rPr lang="ko-KR" altLang="en-US" sz="700" dirty="0" err="1">
                <a:latin typeface="+mn-ea"/>
              </a:rPr>
              <a:t>제품인증서</a:t>
            </a:r>
            <a:r>
              <a:rPr lang="ko-KR" altLang="en-US" sz="700" dirty="0">
                <a:latin typeface="+mn-ea"/>
              </a:rPr>
              <a:t> 보유자</a:t>
            </a:r>
            <a:r>
              <a:rPr lang="en-US" altLang="ko-KR" sz="700" dirty="0">
                <a:latin typeface="+mn-ea"/>
              </a:rPr>
              <a:t>, </a:t>
            </a:r>
            <a:r>
              <a:rPr lang="ko-KR" altLang="en-US" sz="700" dirty="0">
                <a:latin typeface="+mn-ea"/>
              </a:rPr>
              <a:t>단체표준인증보유자</a:t>
            </a:r>
          </a:p>
          <a:p>
            <a:r>
              <a:rPr lang="en-US" altLang="ko-KR" sz="700" dirty="0">
                <a:latin typeface="+mn-ea"/>
              </a:rPr>
              <a:t>C.</a:t>
            </a:r>
            <a:r>
              <a:rPr lang="ko-KR" altLang="en-US" sz="700" dirty="0">
                <a:latin typeface="+mn-ea"/>
              </a:rPr>
              <a:t>고효율에너지기자재 인증 보유자</a:t>
            </a:r>
          </a:p>
          <a:p>
            <a:r>
              <a:rPr lang="en-US" altLang="ko-KR" sz="700" dirty="0">
                <a:latin typeface="+mn-ea"/>
              </a:rPr>
              <a:t>D.</a:t>
            </a:r>
            <a:r>
              <a:rPr lang="ko-KR" altLang="en-US" sz="700" dirty="0">
                <a:latin typeface="+mn-ea"/>
              </a:rPr>
              <a:t>「</a:t>
            </a:r>
            <a:r>
              <a:rPr lang="ko-KR" altLang="en-US" sz="700" dirty="0" err="1">
                <a:latin typeface="+mn-ea"/>
              </a:rPr>
              <a:t>에너지이용합리화법」제</a:t>
            </a:r>
            <a:r>
              <a:rPr lang="en-US" altLang="ko-KR" sz="700" dirty="0">
                <a:latin typeface="+mn-ea"/>
              </a:rPr>
              <a:t>15</a:t>
            </a:r>
            <a:r>
              <a:rPr lang="ko-KR" altLang="en-US" sz="700" dirty="0">
                <a:latin typeface="+mn-ea"/>
              </a:rPr>
              <a:t>조에 따른 에너지소비효율 </a:t>
            </a:r>
            <a:r>
              <a:rPr lang="en-US" altLang="ko-KR" sz="700" dirty="0">
                <a:latin typeface="+mn-ea"/>
              </a:rPr>
              <a:t>1</a:t>
            </a:r>
            <a:r>
              <a:rPr lang="ko-KR" altLang="en-US" sz="700" dirty="0" err="1">
                <a:latin typeface="+mn-ea"/>
              </a:rPr>
              <a:t>등급제품</a:t>
            </a:r>
            <a:endParaRPr lang="ko-KR" altLang="en-US" sz="700" dirty="0">
              <a:latin typeface="+mn-ea"/>
            </a:endParaRPr>
          </a:p>
        </p:txBody>
      </p:sp>
      <p:sp>
        <p:nvSpPr>
          <p:cNvPr id="248" name="TextBox 247">
            <a:extLst>
              <a:ext uri="{FF2B5EF4-FFF2-40B4-BE49-F238E27FC236}">
                <a16:creationId xmlns:a16="http://schemas.microsoft.com/office/drawing/2014/main" id="{FFC49AEA-2A8F-250C-A86A-A7751D9706C3}"/>
              </a:ext>
            </a:extLst>
          </p:cNvPr>
          <p:cNvSpPr txBox="1"/>
          <p:nvPr/>
        </p:nvSpPr>
        <p:spPr>
          <a:xfrm>
            <a:off x="2538487" y="4635317"/>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249" name="TextBox 248">
            <a:extLst>
              <a:ext uri="{FF2B5EF4-FFF2-40B4-BE49-F238E27FC236}">
                <a16:creationId xmlns:a16="http://schemas.microsoft.com/office/drawing/2014/main" id="{FFC49AEA-2A8F-250C-A86A-A7751D9706C3}"/>
              </a:ext>
            </a:extLst>
          </p:cNvPr>
          <p:cNvSpPr txBox="1"/>
          <p:nvPr/>
        </p:nvSpPr>
        <p:spPr>
          <a:xfrm>
            <a:off x="3269841" y="306097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100" name="그룹 99"/>
          <p:cNvGrpSpPr/>
          <p:nvPr/>
        </p:nvGrpSpPr>
        <p:grpSpPr>
          <a:xfrm>
            <a:off x="3836701" y="1491157"/>
            <a:ext cx="2630093" cy="4596934"/>
            <a:chOff x="716957" y="1491157"/>
            <a:chExt cx="2630093" cy="4596934"/>
          </a:xfrm>
        </p:grpSpPr>
        <p:sp>
          <p:nvSpPr>
            <p:cNvPr id="101" name="직사각형 100"/>
            <p:cNvSpPr/>
            <p:nvPr/>
          </p:nvSpPr>
          <p:spPr>
            <a:xfrm>
              <a:off x="719049" y="5494403"/>
              <a:ext cx="1639886" cy="58790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TextBox 101">
              <a:extLst>
                <a:ext uri="{FF2B5EF4-FFF2-40B4-BE49-F238E27FC236}">
                  <a16:creationId xmlns:a16="http://schemas.microsoft.com/office/drawing/2014/main" id="{FFC49AEA-2A8F-250C-A86A-A7751D9706C3}"/>
                </a:ext>
              </a:extLst>
            </p:cNvPr>
            <p:cNvSpPr txBox="1"/>
            <p:nvPr/>
          </p:nvSpPr>
          <p:spPr>
            <a:xfrm>
              <a:off x="777928" y="1491157"/>
              <a:ext cx="2535669" cy="538609"/>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a:t>
              </a:r>
              <a:r>
                <a:rPr lang="ko-KR" altLang="en-US" sz="700" dirty="0">
                  <a:latin typeface="+mn-ea"/>
                </a:rPr>
                <a:t>영세기업 지원</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소기업</a:t>
              </a:r>
              <a:r>
                <a:rPr lang="en-US" altLang="ko-KR" sz="700" dirty="0">
                  <a:latin typeface="+mn-ea"/>
                </a:rPr>
                <a:t>, </a:t>
              </a:r>
              <a:r>
                <a:rPr lang="ko-KR" altLang="en-US" sz="700" dirty="0">
                  <a:latin typeface="+mn-ea"/>
                </a:rPr>
                <a:t>소상공인 및 지역업체 참가</a:t>
              </a:r>
              <a:endParaRPr lang="en-US" altLang="ko-KR" sz="700" dirty="0">
                <a:latin typeface="+mn-ea"/>
              </a:endParaRPr>
            </a:p>
            <a:p>
              <a:r>
                <a:rPr lang="ko-KR" altLang="en-US" sz="700" dirty="0">
                  <a:latin typeface="+mn-ea"/>
                </a:rPr>
                <a:t>                </a:t>
              </a:r>
              <a:r>
                <a:rPr lang="en-US" altLang="ko-KR" sz="700" dirty="0">
                  <a:latin typeface="+mn-ea"/>
                </a:rPr>
                <a:t>(</a:t>
              </a:r>
              <a:r>
                <a:rPr lang="ko-KR" altLang="en-US" sz="700" dirty="0">
                  <a:latin typeface="+mn-ea"/>
                </a:rPr>
                <a:t>공동계약 허용한 경우만 평가함</a:t>
              </a:r>
              <a:r>
                <a:rPr lang="en-US" altLang="ko-KR" sz="700" dirty="0">
                  <a:latin typeface="+mn-ea"/>
                </a:rPr>
                <a:t>)</a:t>
              </a:r>
            </a:p>
          </p:txBody>
        </p:sp>
        <p:sp>
          <p:nvSpPr>
            <p:cNvPr id="103" name="직사각형 102"/>
            <p:cNvSpPr/>
            <p:nvPr/>
          </p:nvSpPr>
          <p:spPr>
            <a:xfrm>
              <a:off x="719049" y="2076267"/>
              <a:ext cx="1639886" cy="29531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806112" y="207626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2534154" y="20762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06" name="직선 연결선 105">
              <a:extLst>
                <a:ext uri="{FF2B5EF4-FFF2-40B4-BE49-F238E27FC236}">
                  <a16:creationId xmlns:a16="http://schemas.microsoft.com/office/drawing/2014/main" id="{E9293055-D5CD-4B9E-7F64-64B2D2CA7A52}"/>
                </a:ext>
              </a:extLst>
            </p:cNvPr>
            <p:cNvCxnSpPr/>
            <p:nvPr/>
          </p:nvCxnSpPr>
          <p:spPr>
            <a:xfrm>
              <a:off x="716957" y="20762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7" name="직선 연결선 106">
              <a:extLst>
                <a:ext uri="{FF2B5EF4-FFF2-40B4-BE49-F238E27FC236}">
                  <a16:creationId xmlns:a16="http://schemas.microsoft.com/office/drawing/2014/main" id="{E9293055-D5CD-4B9E-7F64-64B2D2CA7A52}"/>
                </a:ext>
              </a:extLst>
            </p:cNvPr>
            <p:cNvCxnSpPr/>
            <p:nvPr/>
          </p:nvCxnSpPr>
          <p:spPr>
            <a:xfrm>
              <a:off x="719050" y="2291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719050" y="321019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108">
              <a:extLst>
                <a:ext uri="{FF2B5EF4-FFF2-40B4-BE49-F238E27FC236}">
                  <a16:creationId xmlns:a16="http://schemas.microsoft.com/office/drawing/2014/main" id="{FFC49AEA-2A8F-250C-A86A-A7751D9706C3}"/>
                </a:ext>
              </a:extLst>
            </p:cNvPr>
            <p:cNvSpPr txBox="1"/>
            <p:nvPr/>
          </p:nvSpPr>
          <p:spPr>
            <a:xfrm>
              <a:off x="2954524" y="20762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806112" y="2332291"/>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「중소기업제품 구매촉진 및 판로지원에 관한 법률」 제</a:t>
              </a:r>
              <a:r>
                <a:rPr lang="en-US" altLang="ko-KR" sz="700" dirty="0">
                  <a:latin typeface="+mn-ea"/>
                </a:rPr>
                <a:t>7</a:t>
              </a:r>
              <a:r>
                <a:rPr lang="ko-KR" altLang="en-US" sz="700" dirty="0">
                  <a:latin typeface="+mn-ea"/>
                </a:rPr>
                <a:t>조제</a:t>
              </a:r>
              <a:r>
                <a:rPr lang="en-US" altLang="ko-KR" sz="700" dirty="0">
                  <a:latin typeface="+mn-ea"/>
                </a:rPr>
                <a:t>3</a:t>
              </a:r>
              <a:r>
                <a:rPr lang="ko-KR" altLang="en-US" sz="700" dirty="0">
                  <a:latin typeface="+mn-ea"/>
                </a:rPr>
                <a:t>항 및 같은 </a:t>
              </a:r>
              <a:r>
                <a:rPr lang="ko-KR" altLang="en-US" sz="700" dirty="0" err="1">
                  <a:latin typeface="+mn-ea"/>
                </a:rPr>
                <a:t>법시행령</a:t>
              </a:r>
              <a:r>
                <a:rPr lang="ko-KR" altLang="en-US" sz="700" dirty="0">
                  <a:latin typeface="+mn-ea"/>
                </a:rPr>
                <a:t> 제</a:t>
              </a:r>
              <a:r>
                <a:rPr lang="en-US" altLang="ko-KR" sz="700" dirty="0">
                  <a:latin typeface="+mn-ea"/>
                </a:rPr>
                <a:t>7</a:t>
              </a:r>
              <a:r>
                <a:rPr lang="ko-KR" altLang="en-US" sz="700" dirty="0">
                  <a:latin typeface="+mn-ea"/>
                </a:rPr>
                <a:t>조제</a:t>
              </a:r>
              <a:r>
                <a:rPr lang="en-US" altLang="ko-KR" sz="700" dirty="0">
                  <a:latin typeface="+mn-ea"/>
                </a:rPr>
                <a:t>4</a:t>
              </a:r>
              <a:r>
                <a:rPr lang="ko-KR" altLang="en-US" sz="700" dirty="0">
                  <a:latin typeface="+mn-ea"/>
                </a:rPr>
                <a:t>항에 해당하는 </a:t>
              </a:r>
              <a:r>
                <a:rPr lang="ko-KR" altLang="en-US" sz="700" dirty="0" err="1">
                  <a:latin typeface="+mn-ea"/>
                </a:rPr>
                <a:t>공동수급체</a:t>
              </a:r>
              <a:r>
                <a:rPr lang="ko-KR" altLang="en-US" sz="700" dirty="0">
                  <a:latin typeface="+mn-ea"/>
                </a:rPr>
                <a:t> 구성</a:t>
              </a:r>
              <a:r>
                <a:rPr lang="en-US" altLang="ko-KR" sz="700" dirty="0">
                  <a:latin typeface="+mn-ea"/>
                </a:rPr>
                <a:t>(</a:t>
              </a:r>
              <a:r>
                <a:rPr lang="ko-KR" altLang="en-US" sz="700" dirty="0">
                  <a:latin typeface="+mn-ea"/>
                </a:rPr>
                <a:t>조합의 경우 </a:t>
              </a:r>
              <a:r>
                <a:rPr lang="ko-KR" altLang="en-US" sz="700" dirty="0" err="1">
                  <a:latin typeface="+mn-ea"/>
                </a:rPr>
                <a:t>합산점수에</a:t>
              </a:r>
              <a:r>
                <a:rPr lang="ko-KR" altLang="en-US" sz="700" dirty="0">
                  <a:latin typeface="+mn-ea"/>
                </a:rPr>
                <a:t> </a:t>
              </a:r>
              <a:r>
                <a:rPr lang="en-US" altLang="ko-KR" sz="700" dirty="0">
                  <a:latin typeface="+mn-ea"/>
                </a:rPr>
                <a:t>0.25</a:t>
              </a:r>
              <a:r>
                <a:rPr lang="ko-KR" altLang="en-US" sz="700" dirty="0">
                  <a:latin typeface="+mn-ea"/>
                </a:rPr>
                <a:t>점을 가산한다</a:t>
              </a:r>
              <a:r>
                <a:rPr lang="en-US" altLang="ko-KR" sz="700" dirty="0">
                  <a:latin typeface="+mn-ea"/>
                </a:rPr>
                <a:t>)</a:t>
              </a:r>
            </a:p>
          </p:txBody>
        </p:sp>
        <p:sp>
          <p:nvSpPr>
            <p:cNvPr id="111" name="TextBox 110">
              <a:extLst>
                <a:ext uri="{FF2B5EF4-FFF2-40B4-BE49-F238E27FC236}">
                  <a16:creationId xmlns:a16="http://schemas.microsoft.com/office/drawing/2014/main" id="{FFC49AEA-2A8F-250C-A86A-A7751D9706C3}"/>
                </a:ext>
              </a:extLst>
            </p:cNvPr>
            <p:cNvSpPr txBox="1"/>
            <p:nvPr/>
          </p:nvSpPr>
          <p:spPr>
            <a:xfrm>
              <a:off x="2676821" y="254773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3276728" y="404887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3" name="TextBox 112">
              <a:extLst>
                <a:ext uri="{FF2B5EF4-FFF2-40B4-BE49-F238E27FC236}">
                  <a16:creationId xmlns:a16="http://schemas.microsoft.com/office/drawing/2014/main" id="{FFC49AEA-2A8F-250C-A86A-A7751D9706C3}"/>
                </a:ext>
              </a:extLst>
            </p:cNvPr>
            <p:cNvSpPr txBox="1"/>
            <p:nvPr/>
          </p:nvSpPr>
          <p:spPr>
            <a:xfrm>
              <a:off x="806112" y="325147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.40%</a:t>
              </a:r>
              <a:r>
                <a:rPr lang="ko-KR" altLang="en-US" sz="700" dirty="0">
                  <a:latin typeface="+mn-ea"/>
                </a:rPr>
                <a:t> 이상</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595068" y="3251476"/>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806112" y="3441764"/>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.30%</a:t>
              </a:r>
              <a:r>
                <a:rPr lang="ko-KR" altLang="en-US" sz="700" dirty="0">
                  <a:latin typeface="+mn-ea"/>
                </a:rPr>
                <a:t> 이상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806112" y="3822340"/>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공동수급체</a:t>
              </a:r>
              <a:r>
                <a:rPr lang="ko-KR" altLang="en-US" sz="700" dirty="0">
                  <a:latin typeface="+mn-ea"/>
                </a:rPr>
                <a:t> 각각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한 비율이 </a:t>
              </a:r>
              <a:r>
                <a:rPr lang="en-US" altLang="ko-KR" sz="700" dirty="0">
                  <a:latin typeface="+mn-ea"/>
                </a:rPr>
                <a:t>20% </a:t>
              </a:r>
              <a:r>
                <a:rPr lang="ko-KR" altLang="en-US" sz="700" dirty="0">
                  <a:latin typeface="+mn-ea"/>
                </a:rPr>
                <a:t>이상인 업체가</a:t>
              </a:r>
            </a:p>
          </p:txBody>
        </p:sp>
        <p:sp>
          <p:nvSpPr>
            <p:cNvPr id="119" name="TextBox 118">
              <a:extLst>
                <a:ext uri="{FF2B5EF4-FFF2-40B4-BE49-F238E27FC236}">
                  <a16:creationId xmlns:a16="http://schemas.microsoft.com/office/drawing/2014/main" id="{FFC49AEA-2A8F-250C-A86A-A7751D9706C3}"/>
                </a:ext>
              </a:extLst>
            </p:cNvPr>
            <p:cNvSpPr txBox="1"/>
            <p:nvPr/>
          </p:nvSpPr>
          <p:spPr>
            <a:xfrm>
              <a:off x="806112" y="4120350"/>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a:t>
              </a:r>
              <a:r>
                <a:rPr lang="ko-KR" altLang="en-US" sz="700" dirty="0">
                  <a:latin typeface="+mn-ea"/>
                </a:rPr>
                <a:t>개 이상 업체</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806112" y="4310638"/>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a:t>
              </a:r>
              <a:r>
                <a:rPr lang="ko-KR" altLang="en-US" sz="700" dirty="0">
                  <a:latin typeface="+mn-ea"/>
                </a:rPr>
                <a:t>개 이상 업체</a:t>
              </a:r>
            </a:p>
          </p:txBody>
        </p:sp>
        <p:cxnSp>
          <p:nvCxnSpPr>
            <p:cNvPr id="124" name="직선 연결선 123">
              <a:extLst>
                <a:ext uri="{FF2B5EF4-FFF2-40B4-BE49-F238E27FC236}">
                  <a16:creationId xmlns:a16="http://schemas.microsoft.com/office/drawing/2014/main" id="{E9293055-D5CD-4B9E-7F64-64B2D2CA7A52}"/>
                </a:ext>
              </a:extLst>
            </p:cNvPr>
            <p:cNvCxnSpPr/>
            <p:nvPr/>
          </p:nvCxnSpPr>
          <p:spPr>
            <a:xfrm>
              <a:off x="719050" y="34004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719050" y="37810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6" name="직선 연결선 125">
              <a:extLst>
                <a:ext uri="{FF2B5EF4-FFF2-40B4-BE49-F238E27FC236}">
                  <a16:creationId xmlns:a16="http://schemas.microsoft.com/office/drawing/2014/main" id="{E9293055-D5CD-4B9E-7F64-64B2D2CA7A52}"/>
                </a:ext>
              </a:extLst>
            </p:cNvPr>
            <p:cNvCxnSpPr/>
            <p:nvPr/>
          </p:nvCxnSpPr>
          <p:spPr>
            <a:xfrm>
              <a:off x="719050" y="407906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19050" y="426935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2545374" y="3441764"/>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2676821" y="38762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595067" y="4120350"/>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2595068" y="4310638"/>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32" name="TextBox 131">
              <a:extLst>
                <a:ext uri="{FF2B5EF4-FFF2-40B4-BE49-F238E27FC236}">
                  <a16:creationId xmlns:a16="http://schemas.microsoft.com/office/drawing/2014/main" id="{FFC49AEA-2A8F-250C-A86A-A7751D9706C3}"/>
                </a:ext>
              </a:extLst>
            </p:cNvPr>
            <p:cNvSpPr txBox="1"/>
            <p:nvPr/>
          </p:nvSpPr>
          <p:spPr>
            <a:xfrm>
              <a:off x="3276728" y="30396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33" name="직선 연결선 132">
              <a:extLst>
                <a:ext uri="{FF2B5EF4-FFF2-40B4-BE49-F238E27FC236}">
                  <a16:creationId xmlns:a16="http://schemas.microsoft.com/office/drawing/2014/main" id="{E9293055-D5CD-4B9E-7F64-64B2D2CA7A52}"/>
                </a:ext>
              </a:extLst>
            </p:cNvPr>
            <p:cNvCxnSpPr/>
            <p:nvPr/>
          </p:nvCxnSpPr>
          <p:spPr>
            <a:xfrm>
              <a:off x="719050" y="60880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19050" y="464993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806112" y="4500926"/>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지역업체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806112" y="4691214"/>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.30%</a:t>
              </a:r>
              <a:r>
                <a:rPr lang="ko-KR" altLang="en-US" sz="700" dirty="0">
                  <a:latin typeface="+mn-ea"/>
                </a:rPr>
                <a:t> 이상</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2595068" y="4691214"/>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38" name="TextBox 137">
              <a:extLst>
                <a:ext uri="{FF2B5EF4-FFF2-40B4-BE49-F238E27FC236}">
                  <a16:creationId xmlns:a16="http://schemas.microsoft.com/office/drawing/2014/main" id="{FFC49AEA-2A8F-250C-A86A-A7751D9706C3}"/>
                </a:ext>
              </a:extLst>
            </p:cNvPr>
            <p:cNvSpPr txBox="1"/>
            <p:nvPr/>
          </p:nvSpPr>
          <p:spPr>
            <a:xfrm>
              <a:off x="806112" y="488150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.20%</a:t>
              </a:r>
              <a:r>
                <a:rPr lang="ko-KR" altLang="en-US" sz="700" dirty="0">
                  <a:latin typeface="+mn-ea"/>
                </a:rPr>
                <a:t> 이상 </a:t>
              </a:r>
              <a:r>
                <a:rPr lang="en-US" altLang="ko-KR" sz="700" dirty="0">
                  <a:latin typeface="+mn-ea"/>
                </a:rPr>
                <a:t>30%</a:t>
              </a:r>
              <a:r>
                <a:rPr lang="ko-KR" altLang="en-US" sz="700" dirty="0">
                  <a:latin typeface="+mn-ea"/>
                </a:rPr>
                <a:t> 미만</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806112" y="5524703"/>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소기업 또는 소상공인</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806112" y="572851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소상공인</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806112" y="593232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소기업</a:t>
              </a: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719050" y="48402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19050" y="5476659"/>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719050" y="56804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19050" y="588427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6" name="TextBox 145">
              <a:extLst>
                <a:ext uri="{FF2B5EF4-FFF2-40B4-BE49-F238E27FC236}">
                  <a16:creationId xmlns:a16="http://schemas.microsoft.com/office/drawing/2014/main" id="{FFC49AEA-2A8F-250C-A86A-A7751D9706C3}"/>
                </a:ext>
              </a:extLst>
            </p:cNvPr>
            <p:cNvSpPr txBox="1"/>
            <p:nvPr/>
          </p:nvSpPr>
          <p:spPr>
            <a:xfrm>
              <a:off x="2545374" y="4881502"/>
              <a:ext cx="168316"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2676821" y="552470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2" name="TextBox 151">
              <a:extLst>
                <a:ext uri="{FF2B5EF4-FFF2-40B4-BE49-F238E27FC236}">
                  <a16:creationId xmlns:a16="http://schemas.microsoft.com/office/drawing/2014/main" id="{FFC49AEA-2A8F-250C-A86A-A7751D9706C3}"/>
                </a:ext>
              </a:extLst>
            </p:cNvPr>
            <p:cNvSpPr txBox="1"/>
            <p:nvPr/>
          </p:nvSpPr>
          <p:spPr>
            <a:xfrm>
              <a:off x="2595067" y="5728513"/>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53" name="TextBox 152">
              <a:extLst>
                <a:ext uri="{FF2B5EF4-FFF2-40B4-BE49-F238E27FC236}">
                  <a16:creationId xmlns:a16="http://schemas.microsoft.com/office/drawing/2014/main" id="{FFC49AEA-2A8F-250C-A86A-A7751D9706C3}"/>
                </a:ext>
              </a:extLst>
            </p:cNvPr>
            <p:cNvSpPr txBox="1"/>
            <p:nvPr/>
          </p:nvSpPr>
          <p:spPr>
            <a:xfrm>
              <a:off x="2545374" y="5932323"/>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154" name="TextBox 153">
              <a:extLst>
                <a:ext uri="{FF2B5EF4-FFF2-40B4-BE49-F238E27FC236}">
                  <a16:creationId xmlns:a16="http://schemas.microsoft.com/office/drawing/2014/main" id="{FFC49AEA-2A8F-250C-A86A-A7751D9706C3}"/>
                </a:ext>
              </a:extLst>
            </p:cNvPr>
            <p:cNvSpPr txBox="1"/>
            <p:nvPr/>
          </p:nvSpPr>
          <p:spPr>
            <a:xfrm>
              <a:off x="2676821" y="450092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3274223" y="467796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3274223" y="572997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806112" y="295346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 </a:t>
              </a:r>
              <a:r>
                <a:rPr lang="ko-KR" altLang="en-US" sz="700" dirty="0">
                  <a:latin typeface="+mn-ea"/>
                </a:rPr>
                <a:t>소기업</a:t>
              </a:r>
              <a:r>
                <a:rPr lang="en-US" altLang="ko-KR" sz="700" dirty="0">
                  <a:latin typeface="+mn-ea"/>
                </a:rPr>
                <a:t>(</a:t>
              </a:r>
              <a:r>
                <a:rPr lang="ko-KR" altLang="en-US" sz="700" dirty="0">
                  <a:latin typeface="+mn-ea"/>
                </a:rPr>
                <a:t>소상공인포함</a:t>
              </a:r>
              <a:r>
                <a:rPr lang="en-US" altLang="ko-KR" sz="700" dirty="0">
                  <a:latin typeface="+mn-ea"/>
                </a:rPr>
                <a:t>) </a:t>
              </a:r>
              <a:r>
                <a:rPr lang="ko-KR" altLang="en-US" sz="700" dirty="0">
                  <a:latin typeface="+mn-ea"/>
                </a:rPr>
                <a:t>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19050" y="291218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2676821" y="300732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4" name="직선 연결선 173">
              <a:extLst>
                <a:ext uri="{FF2B5EF4-FFF2-40B4-BE49-F238E27FC236}">
                  <a16:creationId xmlns:a16="http://schemas.microsoft.com/office/drawing/2014/main" id="{E9293055-D5CD-4B9E-7F64-64B2D2CA7A52}"/>
                </a:ext>
              </a:extLst>
            </p:cNvPr>
            <p:cNvCxnSpPr/>
            <p:nvPr/>
          </p:nvCxnSpPr>
          <p:spPr>
            <a:xfrm>
              <a:off x="719050" y="44596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TextBox 174">
              <a:extLst>
                <a:ext uri="{FF2B5EF4-FFF2-40B4-BE49-F238E27FC236}">
                  <a16:creationId xmlns:a16="http://schemas.microsoft.com/office/drawing/2014/main" id="{FFC49AEA-2A8F-250C-A86A-A7751D9706C3}"/>
                </a:ext>
              </a:extLst>
            </p:cNvPr>
            <p:cNvSpPr txBox="1"/>
            <p:nvPr/>
          </p:nvSpPr>
          <p:spPr>
            <a:xfrm>
              <a:off x="806112" y="363205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.20%</a:t>
              </a:r>
              <a:r>
                <a:rPr lang="ko-KR" altLang="en-US" sz="700" dirty="0">
                  <a:latin typeface="+mn-ea"/>
                </a:rPr>
                <a:t> 이상 </a:t>
              </a:r>
              <a:r>
                <a:rPr lang="en-US" altLang="ko-KR" sz="700" dirty="0">
                  <a:latin typeface="+mn-ea"/>
                </a:rPr>
                <a:t>30%</a:t>
              </a:r>
              <a:r>
                <a:rPr lang="ko-KR" altLang="en-US" sz="700" dirty="0">
                  <a:latin typeface="+mn-ea"/>
                </a:rPr>
                <a:t> 미만</a:t>
              </a: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719050" y="35907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7" name="TextBox 176">
              <a:extLst>
                <a:ext uri="{FF2B5EF4-FFF2-40B4-BE49-F238E27FC236}">
                  <a16:creationId xmlns:a16="http://schemas.microsoft.com/office/drawing/2014/main" id="{FFC49AEA-2A8F-250C-A86A-A7751D9706C3}"/>
                </a:ext>
              </a:extLst>
            </p:cNvPr>
            <p:cNvSpPr txBox="1"/>
            <p:nvPr/>
          </p:nvSpPr>
          <p:spPr>
            <a:xfrm>
              <a:off x="2595067" y="363205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78" name="직선 연결선 177">
              <a:extLst>
                <a:ext uri="{FF2B5EF4-FFF2-40B4-BE49-F238E27FC236}">
                  <a16:creationId xmlns:a16="http://schemas.microsoft.com/office/drawing/2014/main" id="{E9293055-D5CD-4B9E-7F64-64B2D2CA7A52}"/>
                </a:ext>
              </a:extLst>
            </p:cNvPr>
            <p:cNvCxnSpPr/>
            <p:nvPr/>
          </p:nvCxnSpPr>
          <p:spPr>
            <a:xfrm>
              <a:off x="719050" y="5030496"/>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9" name="TextBox 178">
              <a:extLst>
                <a:ext uri="{FF2B5EF4-FFF2-40B4-BE49-F238E27FC236}">
                  <a16:creationId xmlns:a16="http://schemas.microsoft.com/office/drawing/2014/main" id="{FFC49AEA-2A8F-250C-A86A-A7751D9706C3}"/>
                </a:ext>
              </a:extLst>
            </p:cNvPr>
            <p:cNvSpPr txBox="1"/>
            <p:nvPr/>
          </p:nvSpPr>
          <p:spPr>
            <a:xfrm>
              <a:off x="806112" y="5091995"/>
              <a:ext cx="2504980" cy="323165"/>
            </a:xfrm>
            <a:prstGeom prst="rect">
              <a:avLst/>
            </a:prstGeom>
            <a:noFill/>
          </p:spPr>
          <p:txBody>
            <a:bodyPr wrap="square" lIns="0" tIns="0" rIns="0" bIns="0" rtlCol="0">
              <a:spAutoFit/>
            </a:bodyPr>
            <a:lstStyle/>
            <a:p>
              <a:pPr algn="ctr"/>
              <a:r>
                <a:rPr lang="en-US" altLang="ko-KR" sz="700" dirty="0">
                  <a:latin typeface="+mn-ea"/>
                </a:rPr>
                <a:t>※</a:t>
              </a:r>
              <a:r>
                <a:rPr lang="ko-KR" altLang="en-US" sz="700" dirty="0">
                  <a:latin typeface="+mn-ea"/>
                </a:rPr>
                <a:t>다만</a:t>
              </a:r>
              <a:r>
                <a:rPr lang="en-US" altLang="ko-KR" sz="700" dirty="0">
                  <a:latin typeface="+mn-ea"/>
                </a:rPr>
                <a:t>, </a:t>
              </a:r>
              <a:r>
                <a:rPr lang="ko-KR" altLang="en-US" sz="700" dirty="0">
                  <a:latin typeface="+mn-ea"/>
                </a:rPr>
                <a:t>법령이 정한 요건을 갖추지 못한</a:t>
              </a:r>
              <a:endParaRPr lang="en-US" altLang="ko-KR" sz="700" dirty="0">
                <a:latin typeface="+mn-ea"/>
              </a:endParaRPr>
            </a:p>
            <a:p>
              <a:pPr algn="ctr"/>
              <a:r>
                <a:rPr lang="ko-KR" altLang="en-US" sz="700" dirty="0">
                  <a:latin typeface="+mn-ea"/>
                </a:rPr>
                <a:t>공동수급체는 각 평점이 </a:t>
              </a:r>
              <a:r>
                <a:rPr lang="en-US" altLang="ko-KR" sz="700" dirty="0">
                  <a:latin typeface="+mn-ea"/>
                </a:rPr>
                <a:t>50%</a:t>
              </a:r>
              <a:r>
                <a:rPr lang="ko-KR" altLang="en-US" sz="700" dirty="0">
                  <a:latin typeface="+mn-ea"/>
                </a:rPr>
                <a:t>만 인정한다</a:t>
              </a:r>
              <a:r>
                <a:rPr lang="en-US" altLang="ko-KR" sz="700" dirty="0">
                  <a:latin typeface="+mn-ea"/>
                </a:rPr>
                <a:t>.</a:t>
              </a:r>
            </a:p>
            <a:p>
              <a:pPr algn="ctr"/>
              <a:r>
                <a:rPr lang="en-US" altLang="ko-KR" sz="700" dirty="0">
                  <a:latin typeface="+mn-ea"/>
                </a:rPr>
                <a:t>(</a:t>
              </a:r>
              <a:r>
                <a:rPr lang="ko-KR" altLang="en-US" sz="700" dirty="0">
                  <a:latin typeface="+mn-ea"/>
                </a:rPr>
                <a:t>조합의 경우 </a:t>
              </a:r>
              <a:r>
                <a:rPr lang="ko-KR" altLang="en-US" sz="700" dirty="0" err="1">
                  <a:latin typeface="+mn-ea"/>
                </a:rPr>
                <a:t>합산점수에</a:t>
              </a:r>
              <a:r>
                <a:rPr lang="ko-KR" altLang="en-US" sz="700" dirty="0">
                  <a:latin typeface="+mn-ea"/>
                </a:rPr>
                <a:t> </a:t>
              </a:r>
              <a:r>
                <a:rPr lang="en-US" altLang="ko-KR" sz="700" dirty="0">
                  <a:latin typeface="+mn-ea"/>
                </a:rPr>
                <a:t>0.25</a:t>
              </a:r>
              <a:r>
                <a:rPr lang="ko-KR" altLang="en-US" sz="700" dirty="0">
                  <a:latin typeface="+mn-ea"/>
                </a:rPr>
                <a:t>점을 가산한다</a:t>
              </a:r>
              <a:r>
                <a:rPr lang="en-US" altLang="ko-KR" sz="700" dirty="0">
                  <a:latin typeface="+mn-ea"/>
                </a:rPr>
                <a:t>)</a:t>
              </a:r>
            </a:p>
          </p:txBody>
        </p:sp>
      </p:grpSp>
      <p:sp>
        <p:nvSpPr>
          <p:cNvPr id="114" name="타원 11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870331035"/>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239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MUI-BD-10-M14</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53" name="TextBox 252">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716366" y="1495590"/>
            <a:ext cx="2630093" cy="4736709"/>
            <a:chOff x="3830405" y="1495590"/>
            <a:chExt cx="2630093" cy="4736709"/>
          </a:xfrm>
        </p:grpSpPr>
        <p:sp>
          <p:nvSpPr>
            <p:cNvPr id="186" name="직사각형 185"/>
            <p:cNvSpPr/>
            <p:nvPr/>
          </p:nvSpPr>
          <p:spPr>
            <a:xfrm>
              <a:off x="3832497" y="1981539"/>
              <a:ext cx="1639886" cy="42507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9560" y="198154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5647602" y="198154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3830405" y="198154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3832498" y="21962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3830405" y="2810047"/>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2498" y="26108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3891376" y="149559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라</a:t>
              </a:r>
              <a:r>
                <a:rPr lang="en-US" altLang="ko-KR" sz="700" dirty="0">
                  <a:latin typeface="+mn-ea"/>
                </a:rPr>
                <a:t>. </a:t>
              </a:r>
              <a:r>
                <a:rPr lang="ko-KR" altLang="en-US" sz="700" dirty="0">
                  <a:latin typeface="+mn-ea"/>
                </a:rPr>
                <a:t>기타</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여성기업</a:t>
              </a:r>
              <a:r>
                <a:rPr lang="en-US" altLang="ko-KR" sz="700" dirty="0">
                  <a:latin typeface="+mn-ea"/>
                </a:rPr>
                <a:t>, </a:t>
              </a:r>
              <a:r>
                <a:rPr lang="ko-KR" altLang="en-US" sz="700" dirty="0">
                  <a:latin typeface="+mn-ea"/>
                </a:rPr>
                <a:t>장애인고용 기업지원 등</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6067972" y="198154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3919560" y="2242000"/>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 조달업무 우수업체로서 중소기업청장 또는 조달청장 표창을 받은 업체</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5708515" y="2349721"/>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3919560" y="2655920"/>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여성기업지원 및 여성고용촉진</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5790269" y="265592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6390176" y="234972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2855767"/>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여성기업</a:t>
              </a:r>
              <a:r>
                <a:rPr lang="en-US" altLang="ko-KR" sz="700" dirty="0">
                  <a:latin typeface="+mn-ea"/>
                </a:rPr>
                <a:t>(</a:t>
              </a:r>
              <a:r>
                <a:rPr lang="ko-KR" altLang="en-US" sz="700" dirty="0">
                  <a:latin typeface="+mn-ea"/>
                </a:rPr>
                <a:t>「여성기업지원에 관한 </a:t>
              </a:r>
              <a:r>
                <a:rPr lang="ko-KR" altLang="en-US" sz="700" dirty="0" err="1">
                  <a:latin typeface="+mn-ea"/>
                </a:rPr>
                <a:t>법률」및</a:t>
              </a:r>
              <a:r>
                <a:rPr lang="ko-KR" altLang="en-US" sz="700" dirty="0">
                  <a:latin typeface="+mn-ea"/>
                </a:rPr>
                <a:t> 같은 법 시행령에서 정한 기업으로서 중소벤처기업부장관</a:t>
              </a:r>
              <a:r>
                <a:rPr lang="en-US" altLang="ko-KR" sz="700" dirty="0">
                  <a:latin typeface="+mn-ea"/>
                </a:rPr>
                <a:t>(</a:t>
              </a:r>
              <a:r>
                <a:rPr lang="ko-KR" altLang="en-US" sz="700" dirty="0">
                  <a:latin typeface="+mn-ea"/>
                </a:rPr>
                <a:t>또는 </a:t>
              </a:r>
              <a:r>
                <a:rPr lang="ko-KR" altLang="en-US" sz="700" dirty="0" err="1">
                  <a:latin typeface="+mn-ea"/>
                </a:rPr>
                <a:t>위임받은</a:t>
              </a:r>
              <a:r>
                <a:rPr lang="ko-KR" altLang="en-US" sz="700" dirty="0">
                  <a:latin typeface="+mn-ea"/>
                </a:rPr>
                <a:t> 자</a:t>
              </a:r>
              <a:r>
                <a:rPr lang="en-US" altLang="ko-KR" sz="700" dirty="0">
                  <a:latin typeface="+mn-ea"/>
                </a:rPr>
                <a:t>)</a:t>
              </a:r>
              <a:r>
                <a:rPr lang="ko-KR" altLang="en-US" sz="700" dirty="0">
                  <a:latin typeface="+mn-ea"/>
                </a:rPr>
                <a:t>에 의해 확인 경우 인정</a:t>
              </a:r>
              <a:r>
                <a:rPr lang="en-US" altLang="ko-KR" sz="700" dirty="0">
                  <a:latin typeface="+mn-ea"/>
                </a:rPr>
                <a:t>))</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515" y="3017349"/>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0" name="직선 연결선 209">
              <a:extLst>
                <a:ext uri="{FF2B5EF4-FFF2-40B4-BE49-F238E27FC236}">
                  <a16:creationId xmlns:a16="http://schemas.microsoft.com/office/drawing/2014/main" id="{E9293055-D5CD-4B9E-7F64-64B2D2CA7A52}"/>
                </a:ext>
              </a:extLst>
            </p:cNvPr>
            <p:cNvCxnSpPr/>
            <p:nvPr/>
          </p:nvCxnSpPr>
          <p:spPr>
            <a:xfrm>
              <a:off x="3830405" y="3332374"/>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FFC49AEA-2A8F-250C-A86A-A7751D9706C3}"/>
                </a:ext>
              </a:extLst>
            </p:cNvPr>
            <p:cNvSpPr txBox="1"/>
            <p:nvPr/>
          </p:nvSpPr>
          <p:spPr>
            <a:xfrm>
              <a:off x="3919560" y="3378094"/>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여성고용 우수기업</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708516" y="3631117"/>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13" name="직선 연결선 212">
              <a:extLst>
                <a:ext uri="{FF2B5EF4-FFF2-40B4-BE49-F238E27FC236}">
                  <a16:creationId xmlns:a16="http://schemas.microsoft.com/office/drawing/2014/main" id="{E9293055-D5CD-4B9E-7F64-64B2D2CA7A52}"/>
                </a:ext>
              </a:extLst>
            </p:cNvPr>
            <p:cNvCxnSpPr/>
            <p:nvPr/>
          </p:nvCxnSpPr>
          <p:spPr>
            <a:xfrm>
              <a:off x="3830405" y="4145304"/>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TextBox 213">
              <a:extLst>
                <a:ext uri="{FF2B5EF4-FFF2-40B4-BE49-F238E27FC236}">
                  <a16:creationId xmlns:a16="http://schemas.microsoft.com/office/drawing/2014/main" id="{FFC49AEA-2A8F-250C-A86A-A7751D9706C3}"/>
                </a:ext>
              </a:extLst>
            </p:cNvPr>
            <p:cNvSpPr txBox="1"/>
            <p:nvPr/>
          </p:nvSpPr>
          <p:spPr>
            <a:xfrm>
              <a:off x="3919560" y="4191024"/>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노동부장관에 의해 남녀고용평등 우수기업으로 지정 받은 자</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5708516" y="4244885"/>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45" name="직선 연결선 244">
              <a:extLst>
                <a:ext uri="{FF2B5EF4-FFF2-40B4-BE49-F238E27FC236}">
                  <a16:creationId xmlns:a16="http://schemas.microsoft.com/office/drawing/2014/main" id="{E9293055-D5CD-4B9E-7F64-64B2D2CA7A52}"/>
                </a:ext>
              </a:extLst>
            </p:cNvPr>
            <p:cNvCxnSpPr/>
            <p:nvPr/>
          </p:nvCxnSpPr>
          <p:spPr>
            <a:xfrm>
              <a:off x="3832498" y="44521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3919560" y="4497908"/>
              <a:ext cx="1480199" cy="215444"/>
            </a:xfrm>
            <a:prstGeom prst="rect">
              <a:avLst/>
            </a:prstGeom>
            <a:noFill/>
          </p:spPr>
          <p:txBody>
            <a:bodyPr wrap="square" lIns="0" tIns="0" rIns="0" bIns="0" rtlCol="0">
              <a:spAutoFit/>
            </a:bodyPr>
            <a:lstStyle/>
            <a:p>
              <a:r>
                <a:rPr lang="en-US" altLang="ko-KR" sz="700" dirty="0">
                  <a:latin typeface="+mn-ea"/>
                </a:rPr>
                <a:t>C.</a:t>
              </a:r>
              <a:r>
                <a:rPr lang="ko-KR" altLang="en-US" sz="700" dirty="0">
                  <a:latin typeface="+mn-ea"/>
                </a:rPr>
                <a:t>장애인기업 및 장애인고용 우수기업</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5790269" y="455176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8" name="직선 연결선 247">
              <a:extLst>
                <a:ext uri="{FF2B5EF4-FFF2-40B4-BE49-F238E27FC236}">
                  <a16:creationId xmlns:a16="http://schemas.microsoft.com/office/drawing/2014/main" id="{E9293055-D5CD-4B9E-7F64-64B2D2CA7A52}"/>
                </a:ext>
              </a:extLst>
            </p:cNvPr>
            <p:cNvCxnSpPr/>
            <p:nvPr/>
          </p:nvCxnSpPr>
          <p:spPr>
            <a:xfrm>
              <a:off x="3830405" y="4759072"/>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9" name="TextBox 248">
              <a:extLst>
                <a:ext uri="{FF2B5EF4-FFF2-40B4-BE49-F238E27FC236}">
                  <a16:creationId xmlns:a16="http://schemas.microsoft.com/office/drawing/2014/main" id="{FFC49AEA-2A8F-250C-A86A-A7751D9706C3}"/>
                </a:ext>
              </a:extLst>
            </p:cNvPr>
            <p:cNvSpPr txBox="1"/>
            <p:nvPr/>
          </p:nvSpPr>
          <p:spPr>
            <a:xfrm>
              <a:off x="6390176" y="34414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3919560" y="357725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10%</a:t>
              </a:r>
              <a:r>
                <a:rPr lang="ko-KR" altLang="en-US" sz="700" dirty="0">
                  <a:latin typeface="+mn-ea"/>
                </a:rPr>
                <a:t>이상이고 여성종업원이 </a:t>
              </a:r>
              <a:r>
                <a:rPr lang="en-US" altLang="ko-KR" sz="700" dirty="0">
                  <a:latin typeface="+mn-ea"/>
                </a:rPr>
                <a:t>10</a:t>
              </a:r>
              <a:r>
                <a:rPr lang="ko-KR" altLang="en-US" sz="700" dirty="0">
                  <a:latin typeface="+mn-ea"/>
                </a:rPr>
                <a:t>인 이상인 기업</a:t>
              </a:r>
            </a:p>
          </p:txBody>
        </p:sp>
        <p:sp>
          <p:nvSpPr>
            <p:cNvPr id="255" name="TextBox 254">
              <a:extLst>
                <a:ext uri="{FF2B5EF4-FFF2-40B4-BE49-F238E27FC236}">
                  <a16:creationId xmlns:a16="http://schemas.microsoft.com/office/drawing/2014/main" id="{FFC49AEA-2A8F-250C-A86A-A7751D9706C3}"/>
                </a:ext>
              </a:extLst>
            </p:cNvPr>
            <p:cNvSpPr txBox="1"/>
            <p:nvPr/>
          </p:nvSpPr>
          <p:spPr>
            <a:xfrm>
              <a:off x="3919560" y="3882764"/>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5%</a:t>
              </a:r>
              <a:r>
                <a:rPr lang="ko-KR" altLang="en-US" sz="700" dirty="0">
                  <a:latin typeface="+mn-ea"/>
                </a:rPr>
                <a:t>이상이고 여성종업원이 </a:t>
              </a:r>
              <a:r>
                <a:rPr lang="en-US" altLang="ko-KR" sz="700" dirty="0">
                  <a:latin typeface="+mn-ea"/>
                </a:rPr>
                <a:t>5</a:t>
              </a:r>
              <a:r>
                <a:rPr lang="ko-KR" altLang="en-US" sz="700" dirty="0">
                  <a:latin typeface="+mn-ea"/>
                </a:rPr>
                <a:t>인 이상인 기업</a:t>
              </a:r>
            </a:p>
          </p:txBody>
        </p:sp>
        <p:cxnSp>
          <p:nvCxnSpPr>
            <p:cNvPr id="263" name="직선 연결선 262">
              <a:extLst>
                <a:ext uri="{FF2B5EF4-FFF2-40B4-BE49-F238E27FC236}">
                  <a16:creationId xmlns:a16="http://schemas.microsoft.com/office/drawing/2014/main" id="{E9293055-D5CD-4B9E-7F64-64B2D2CA7A52}"/>
                </a:ext>
              </a:extLst>
            </p:cNvPr>
            <p:cNvCxnSpPr/>
            <p:nvPr/>
          </p:nvCxnSpPr>
          <p:spPr>
            <a:xfrm>
              <a:off x="3830405" y="3838420"/>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0" name="직선 연결선 279">
              <a:extLst>
                <a:ext uri="{FF2B5EF4-FFF2-40B4-BE49-F238E27FC236}">
                  <a16:creationId xmlns:a16="http://schemas.microsoft.com/office/drawing/2014/main" id="{E9293055-D5CD-4B9E-7F64-64B2D2CA7A52}"/>
                </a:ext>
              </a:extLst>
            </p:cNvPr>
            <p:cNvCxnSpPr/>
            <p:nvPr/>
          </p:nvCxnSpPr>
          <p:spPr>
            <a:xfrm>
              <a:off x="3830405" y="3531536"/>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1" name="TextBox 280">
              <a:extLst>
                <a:ext uri="{FF2B5EF4-FFF2-40B4-BE49-F238E27FC236}">
                  <a16:creationId xmlns:a16="http://schemas.microsoft.com/office/drawing/2014/main" id="{FFC49AEA-2A8F-250C-A86A-A7751D9706C3}"/>
                </a:ext>
              </a:extLst>
            </p:cNvPr>
            <p:cNvSpPr txBox="1"/>
            <p:nvPr/>
          </p:nvSpPr>
          <p:spPr>
            <a:xfrm>
              <a:off x="5708516" y="3936625"/>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2" name="TextBox 281">
              <a:extLst>
                <a:ext uri="{FF2B5EF4-FFF2-40B4-BE49-F238E27FC236}">
                  <a16:creationId xmlns:a16="http://schemas.microsoft.com/office/drawing/2014/main" id="{FFC49AEA-2A8F-250C-A86A-A7751D9706C3}"/>
                </a:ext>
              </a:extLst>
            </p:cNvPr>
            <p:cNvSpPr txBox="1"/>
            <p:nvPr/>
          </p:nvSpPr>
          <p:spPr>
            <a:xfrm>
              <a:off x="5790269" y="337809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71" name="직선 연결선 270">
              <a:extLst>
                <a:ext uri="{FF2B5EF4-FFF2-40B4-BE49-F238E27FC236}">
                  <a16:creationId xmlns:a16="http://schemas.microsoft.com/office/drawing/2014/main" id="{E9293055-D5CD-4B9E-7F64-64B2D2CA7A52}"/>
                </a:ext>
              </a:extLst>
            </p:cNvPr>
            <p:cNvCxnSpPr/>
            <p:nvPr/>
          </p:nvCxnSpPr>
          <p:spPr>
            <a:xfrm>
              <a:off x="3832498" y="528139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2" name="TextBox 271">
              <a:extLst>
                <a:ext uri="{FF2B5EF4-FFF2-40B4-BE49-F238E27FC236}">
                  <a16:creationId xmlns:a16="http://schemas.microsoft.com/office/drawing/2014/main" id="{FFC49AEA-2A8F-250C-A86A-A7751D9706C3}"/>
                </a:ext>
              </a:extLst>
            </p:cNvPr>
            <p:cNvSpPr txBox="1"/>
            <p:nvPr/>
          </p:nvSpPr>
          <p:spPr>
            <a:xfrm>
              <a:off x="3919560" y="4804792"/>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장애인기업</a:t>
              </a:r>
              <a:r>
                <a:rPr lang="en-US" altLang="ko-KR" sz="700" dirty="0">
                  <a:latin typeface="+mn-ea"/>
                </a:rPr>
                <a:t>(</a:t>
              </a:r>
              <a:r>
                <a:rPr lang="ko-KR" altLang="en-US" sz="700" dirty="0">
                  <a:latin typeface="+mn-ea"/>
                </a:rPr>
                <a:t>「장애인기업활동 </a:t>
              </a:r>
              <a:r>
                <a:rPr lang="ko-KR" altLang="en-US" sz="700" dirty="0" err="1">
                  <a:latin typeface="+mn-ea"/>
                </a:rPr>
                <a:t>촉진법」에서</a:t>
              </a:r>
              <a:r>
                <a:rPr lang="ko-KR" altLang="en-US" sz="700" dirty="0">
                  <a:latin typeface="+mn-ea"/>
                </a:rPr>
                <a:t> 정한 기업으로서 중소벤처기업부장관</a:t>
              </a:r>
              <a:r>
                <a:rPr lang="en-US" altLang="ko-KR" sz="700" dirty="0">
                  <a:latin typeface="+mn-ea"/>
                </a:rPr>
                <a:t>(</a:t>
              </a:r>
              <a:r>
                <a:rPr lang="ko-KR" altLang="en-US" sz="700" dirty="0">
                  <a:latin typeface="+mn-ea"/>
                </a:rPr>
                <a:t>또는 </a:t>
              </a:r>
              <a:r>
                <a:rPr lang="ko-KR" altLang="en-US" sz="700" dirty="0" err="1">
                  <a:latin typeface="+mn-ea"/>
                </a:rPr>
                <a:t>위임받은</a:t>
              </a:r>
              <a:r>
                <a:rPr lang="ko-KR" altLang="en-US" sz="700" dirty="0">
                  <a:latin typeface="+mn-ea"/>
                </a:rPr>
                <a:t> 자</a:t>
              </a:r>
              <a:r>
                <a:rPr lang="en-US" altLang="ko-KR" sz="700" dirty="0">
                  <a:latin typeface="+mn-ea"/>
                </a:rPr>
                <a:t>)</a:t>
              </a:r>
              <a:r>
                <a:rPr lang="ko-KR" altLang="en-US" sz="700" dirty="0">
                  <a:latin typeface="+mn-ea"/>
                </a:rPr>
                <a:t>에 의해 확인된 경우 인정</a:t>
              </a:r>
              <a:r>
                <a:rPr lang="en-US" altLang="ko-KR" sz="700" dirty="0">
                  <a:latin typeface="+mn-ea"/>
                </a:rPr>
                <a:t>))</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5708515" y="496637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4" name="TextBox 273">
              <a:extLst>
                <a:ext uri="{FF2B5EF4-FFF2-40B4-BE49-F238E27FC236}">
                  <a16:creationId xmlns:a16="http://schemas.microsoft.com/office/drawing/2014/main" id="{FFC49AEA-2A8F-250C-A86A-A7751D9706C3}"/>
                </a:ext>
              </a:extLst>
            </p:cNvPr>
            <p:cNvSpPr txBox="1"/>
            <p:nvPr/>
          </p:nvSpPr>
          <p:spPr>
            <a:xfrm>
              <a:off x="3919560" y="5526281"/>
              <a:ext cx="1480199" cy="215444"/>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장애인고용율이 </a:t>
              </a:r>
              <a:r>
                <a:rPr lang="en-US" altLang="ko-KR" sz="700" dirty="0">
                  <a:latin typeface="+mn-ea"/>
                </a:rPr>
                <a:t>3%</a:t>
              </a:r>
              <a:r>
                <a:rPr lang="ko-KR" altLang="en-US" sz="700" dirty="0">
                  <a:latin typeface="+mn-ea"/>
                </a:rPr>
                <a:t>이상이고 장애인종업원이 </a:t>
              </a:r>
              <a:r>
                <a:rPr lang="en-US" altLang="ko-KR" sz="700" dirty="0">
                  <a:latin typeface="+mn-ea"/>
                </a:rPr>
                <a:t>6</a:t>
              </a:r>
              <a:r>
                <a:rPr lang="ko-KR" altLang="en-US" sz="700" dirty="0">
                  <a:latin typeface="+mn-ea"/>
                </a:rPr>
                <a:t>인 이상인 기업</a:t>
              </a:r>
            </a:p>
          </p:txBody>
        </p:sp>
        <p:sp>
          <p:nvSpPr>
            <p:cNvPr id="275" name="TextBox 274">
              <a:extLst>
                <a:ext uri="{FF2B5EF4-FFF2-40B4-BE49-F238E27FC236}">
                  <a16:creationId xmlns:a16="http://schemas.microsoft.com/office/drawing/2014/main" id="{FFC49AEA-2A8F-250C-A86A-A7751D9706C3}"/>
                </a:ext>
              </a:extLst>
            </p:cNvPr>
            <p:cNvSpPr txBox="1"/>
            <p:nvPr/>
          </p:nvSpPr>
          <p:spPr>
            <a:xfrm>
              <a:off x="5708516" y="5580142"/>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6" name="TextBox 275">
              <a:extLst>
                <a:ext uri="{FF2B5EF4-FFF2-40B4-BE49-F238E27FC236}">
                  <a16:creationId xmlns:a16="http://schemas.microsoft.com/office/drawing/2014/main" id="{FFC49AEA-2A8F-250C-A86A-A7751D9706C3}"/>
                </a:ext>
              </a:extLst>
            </p:cNvPr>
            <p:cNvSpPr txBox="1"/>
            <p:nvPr/>
          </p:nvSpPr>
          <p:spPr>
            <a:xfrm>
              <a:off x="3919560" y="5833165"/>
              <a:ext cx="1480199" cy="215444"/>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장애인고용율이 </a:t>
              </a:r>
              <a:r>
                <a:rPr lang="en-US" altLang="ko-KR" sz="700" dirty="0">
                  <a:latin typeface="+mn-ea"/>
                </a:rPr>
                <a:t>1.5%</a:t>
              </a:r>
              <a:r>
                <a:rPr lang="ko-KR" altLang="en-US" sz="700" dirty="0">
                  <a:latin typeface="+mn-ea"/>
                </a:rPr>
                <a:t>이상이고 장애인종업원이 </a:t>
              </a:r>
              <a:r>
                <a:rPr lang="en-US" altLang="ko-KR" sz="700" dirty="0">
                  <a:latin typeface="+mn-ea"/>
                </a:rPr>
                <a:t>3</a:t>
              </a:r>
              <a:r>
                <a:rPr lang="ko-KR" altLang="en-US" sz="700" dirty="0">
                  <a:latin typeface="+mn-ea"/>
                </a:rPr>
                <a:t>인 이상인 기업</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832498" y="578744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8" name="직선 연결선 277">
              <a:extLst>
                <a:ext uri="{FF2B5EF4-FFF2-40B4-BE49-F238E27FC236}">
                  <a16:creationId xmlns:a16="http://schemas.microsoft.com/office/drawing/2014/main" id="{E9293055-D5CD-4B9E-7F64-64B2D2CA7A52}"/>
                </a:ext>
              </a:extLst>
            </p:cNvPr>
            <p:cNvCxnSpPr/>
            <p:nvPr/>
          </p:nvCxnSpPr>
          <p:spPr>
            <a:xfrm>
              <a:off x="3832498" y="60943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9" name="TextBox 278">
              <a:extLst>
                <a:ext uri="{FF2B5EF4-FFF2-40B4-BE49-F238E27FC236}">
                  <a16:creationId xmlns:a16="http://schemas.microsoft.com/office/drawing/2014/main" id="{FFC49AEA-2A8F-250C-A86A-A7751D9706C3}"/>
                </a:ext>
              </a:extLst>
            </p:cNvPr>
            <p:cNvSpPr txBox="1"/>
            <p:nvPr/>
          </p:nvSpPr>
          <p:spPr>
            <a:xfrm>
              <a:off x="5708515" y="588702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3" name="TextBox 282">
              <a:extLst>
                <a:ext uri="{FF2B5EF4-FFF2-40B4-BE49-F238E27FC236}">
                  <a16:creationId xmlns:a16="http://schemas.microsoft.com/office/drawing/2014/main" id="{FFC49AEA-2A8F-250C-A86A-A7751D9706C3}"/>
                </a:ext>
              </a:extLst>
            </p:cNvPr>
            <p:cNvSpPr txBox="1"/>
            <p:nvPr/>
          </p:nvSpPr>
          <p:spPr>
            <a:xfrm>
              <a:off x="6390176" y="522518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4" name="TextBox 283">
              <a:extLst>
                <a:ext uri="{FF2B5EF4-FFF2-40B4-BE49-F238E27FC236}">
                  <a16:creationId xmlns:a16="http://schemas.microsoft.com/office/drawing/2014/main" id="{FFC49AEA-2A8F-250C-A86A-A7751D9706C3}"/>
                </a:ext>
              </a:extLst>
            </p:cNvPr>
            <p:cNvSpPr txBox="1"/>
            <p:nvPr/>
          </p:nvSpPr>
          <p:spPr>
            <a:xfrm>
              <a:off x="3919560" y="532711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장애인고용 우수기업</a:t>
              </a:r>
            </a:p>
          </p:txBody>
        </p:sp>
        <p:sp>
          <p:nvSpPr>
            <p:cNvPr id="285" name="TextBox 284">
              <a:extLst>
                <a:ext uri="{FF2B5EF4-FFF2-40B4-BE49-F238E27FC236}">
                  <a16:creationId xmlns:a16="http://schemas.microsoft.com/office/drawing/2014/main" id="{FFC49AEA-2A8F-250C-A86A-A7751D9706C3}"/>
                </a:ext>
              </a:extLst>
            </p:cNvPr>
            <p:cNvSpPr txBox="1"/>
            <p:nvPr/>
          </p:nvSpPr>
          <p:spPr>
            <a:xfrm>
              <a:off x="5790269" y="532711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86" name="직선 연결선 285">
              <a:extLst>
                <a:ext uri="{FF2B5EF4-FFF2-40B4-BE49-F238E27FC236}">
                  <a16:creationId xmlns:a16="http://schemas.microsoft.com/office/drawing/2014/main" id="{E9293055-D5CD-4B9E-7F64-64B2D2CA7A52}"/>
                </a:ext>
              </a:extLst>
            </p:cNvPr>
            <p:cNvCxnSpPr/>
            <p:nvPr/>
          </p:nvCxnSpPr>
          <p:spPr>
            <a:xfrm>
              <a:off x="3832498" y="548056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6" name="그룹 5"/>
          <p:cNvGrpSpPr/>
          <p:nvPr/>
        </p:nvGrpSpPr>
        <p:grpSpPr>
          <a:xfrm>
            <a:off x="3837747" y="1496022"/>
            <a:ext cx="2628001" cy="4736276"/>
            <a:chOff x="719049" y="1496022"/>
            <a:chExt cx="2628001" cy="4736276"/>
          </a:xfrm>
        </p:grpSpPr>
        <p:sp>
          <p:nvSpPr>
            <p:cNvPr id="116" name="직사각형 115"/>
            <p:cNvSpPr/>
            <p:nvPr/>
          </p:nvSpPr>
          <p:spPr>
            <a:xfrm>
              <a:off x="719049" y="1504395"/>
              <a:ext cx="1639886" cy="47279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7" name="직선 연결선 116">
              <a:extLst>
                <a:ext uri="{FF2B5EF4-FFF2-40B4-BE49-F238E27FC236}">
                  <a16:creationId xmlns:a16="http://schemas.microsoft.com/office/drawing/2014/main" id="{E9293055-D5CD-4B9E-7F64-64B2D2CA7A52}"/>
                </a:ext>
              </a:extLst>
            </p:cNvPr>
            <p:cNvCxnSpPr/>
            <p:nvPr/>
          </p:nvCxnSpPr>
          <p:spPr>
            <a:xfrm>
              <a:off x="719050" y="28869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8" name="TextBox 117">
              <a:extLst>
                <a:ext uri="{FF2B5EF4-FFF2-40B4-BE49-F238E27FC236}">
                  <a16:creationId xmlns:a16="http://schemas.microsoft.com/office/drawing/2014/main" id="{FFC49AEA-2A8F-250C-A86A-A7751D9706C3}"/>
                </a:ext>
              </a:extLst>
            </p:cNvPr>
            <p:cNvSpPr txBox="1"/>
            <p:nvPr/>
          </p:nvSpPr>
          <p:spPr>
            <a:xfrm>
              <a:off x="3276728" y="213762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806112" y="1530354"/>
              <a:ext cx="1480199" cy="107722"/>
            </a:xfrm>
            <a:prstGeom prst="rect">
              <a:avLst/>
            </a:prstGeom>
            <a:noFill/>
          </p:spPr>
          <p:txBody>
            <a:bodyPr wrap="square" lIns="0" tIns="0" rIns="0" bIns="0" rtlCol="0">
              <a:spAutoFit/>
            </a:bodyPr>
            <a:lstStyle/>
            <a:p>
              <a:r>
                <a:rPr lang="en-US" altLang="ko-KR" sz="700" dirty="0">
                  <a:latin typeface="+mn-ea"/>
                </a:rPr>
                <a:t>D.</a:t>
              </a:r>
              <a:r>
                <a:rPr lang="ko-KR" altLang="en-US" sz="700" dirty="0">
                  <a:latin typeface="+mn-ea"/>
                </a:rPr>
                <a:t>신규채용 우수기업</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806112" y="1706740"/>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5%</a:t>
              </a:r>
              <a:r>
                <a:rPr lang="ko-KR" altLang="en-US" sz="700" dirty="0">
                  <a:latin typeface="+mn-ea"/>
                </a:rPr>
                <a:t>이상 증가하고</a:t>
              </a:r>
              <a:r>
                <a:rPr lang="en-US" altLang="ko-KR" sz="700" dirty="0">
                  <a:latin typeface="+mn-ea"/>
                </a:rPr>
                <a:t>, </a:t>
              </a:r>
              <a:r>
                <a:rPr lang="ko-KR" altLang="en-US" sz="700" dirty="0">
                  <a:latin typeface="+mn-ea"/>
                </a:rPr>
                <a:t>최근 </a:t>
              </a:r>
              <a:r>
                <a:rPr lang="en-US" altLang="ko-KR" sz="700" dirty="0">
                  <a:latin typeface="+mn-ea"/>
                </a:rPr>
                <a:t>3</a:t>
              </a:r>
              <a:r>
                <a:rPr lang="ko-KR" altLang="en-US" sz="700" dirty="0">
                  <a:latin typeface="+mn-ea"/>
                </a:rPr>
                <a:t>개월 평균 신규고용 </a:t>
              </a:r>
              <a:r>
                <a:rPr lang="ko-KR" altLang="en-US" sz="700" dirty="0" err="1">
                  <a:latin typeface="+mn-ea"/>
                </a:rPr>
                <a:t>증가인원이</a:t>
              </a:r>
              <a:r>
                <a:rPr lang="ko-KR" altLang="en-US" sz="700" dirty="0">
                  <a:latin typeface="+mn-ea"/>
                </a:rPr>
                <a:t> </a:t>
              </a:r>
              <a:r>
                <a:rPr lang="en-US" altLang="ko-KR" sz="700" dirty="0">
                  <a:latin typeface="+mn-ea"/>
                </a:rPr>
                <a:t>6</a:t>
              </a:r>
              <a:r>
                <a:rPr lang="ko-KR" altLang="en-US" sz="700" dirty="0">
                  <a:latin typeface="+mn-ea"/>
                </a:rPr>
                <a:t>명 이상인 기업</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806112" y="2314013"/>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2.5%</a:t>
              </a:r>
              <a:r>
                <a:rPr lang="ko-KR" altLang="en-US" sz="700" dirty="0">
                  <a:latin typeface="+mn-ea"/>
                </a:rPr>
                <a:t>이상 증가하고</a:t>
              </a:r>
              <a:r>
                <a:rPr lang="en-US" altLang="ko-KR" sz="700" dirty="0">
                  <a:latin typeface="+mn-ea"/>
                </a:rPr>
                <a:t>, </a:t>
              </a:r>
              <a:r>
                <a:rPr lang="ko-KR" altLang="en-US" sz="700" dirty="0">
                  <a:latin typeface="+mn-ea"/>
                </a:rPr>
                <a:t>최근 </a:t>
              </a:r>
              <a:r>
                <a:rPr lang="en-US" altLang="ko-KR" sz="700" dirty="0">
                  <a:latin typeface="+mn-ea"/>
                </a:rPr>
                <a:t>3</a:t>
              </a:r>
              <a:r>
                <a:rPr lang="ko-KR" altLang="en-US" sz="700" dirty="0">
                  <a:latin typeface="+mn-ea"/>
                </a:rPr>
                <a:t>개월 평균 신규고용 </a:t>
              </a:r>
              <a:r>
                <a:rPr lang="ko-KR" altLang="en-US" sz="700" dirty="0" err="1">
                  <a:latin typeface="+mn-ea"/>
                </a:rPr>
                <a:t>증가인원이</a:t>
              </a:r>
              <a:r>
                <a:rPr lang="ko-KR" altLang="en-US" sz="700" dirty="0">
                  <a:latin typeface="+mn-ea"/>
                </a:rPr>
                <a:t> </a:t>
              </a:r>
              <a:r>
                <a:rPr lang="en-US" altLang="ko-KR" sz="700" dirty="0">
                  <a:latin typeface="+mn-ea"/>
                </a:rPr>
                <a:t>3</a:t>
              </a:r>
              <a:r>
                <a:rPr lang="ko-KR" altLang="en-US" sz="700" dirty="0">
                  <a:latin typeface="+mn-ea"/>
                </a:rPr>
                <a:t>명 이상인 기업</a:t>
              </a:r>
            </a:p>
          </p:txBody>
        </p:sp>
        <p:cxnSp>
          <p:nvCxnSpPr>
            <p:cNvPr id="122" name="직선 연결선 121">
              <a:extLst>
                <a:ext uri="{FF2B5EF4-FFF2-40B4-BE49-F238E27FC236}">
                  <a16:creationId xmlns:a16="http://schemas.microsoft.com/office/drawing/2014/main" id="{E9293055-D5CD-4B9E-7F64-64B2D2CA7A52}"/>
                </a:ext>
              </a:extLst>
            </p:cNvPr>
            <p:cNvCxnSpPr/>
            <p:nvPr/>
          </p:nvCxnSpPr>
          <p:spPr>
            <a:xfrm>
              <a:off x="719050" y="167240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19050" y="22796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5" name="TextBox 124">
              <a:extLst>
                <a:ext uri="{FF2B5EF4-FFF2-40B4-BE49-F238E27FC236}">
                  <a16:creationId xmlns:a16="http://schemas.microsoft.com/office/drawing/2014/main" id="{FFC49AEA-2A8F-250C-A86A-A7751D9706C3}"/>
                </a:ext>
              </a:extLst>
            </p:cNvPr>
            <p:cNvSpPr txBox="1"/>
            <p:nvPr/>
          </p:nvSpPr>
          <p:spPr>
            <a:xfrm>
              <a:off x="2676821" y="15303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6" name="TextBox 125">
              <a:extLst>
                <a:ext uri="{FF2B5EF4-FFF2-40B4-BE49-F238E27FC236}">
                  <a16:creationId xmlns:a16="http://schemas.microsoft.com/office/drawing/2014/main" id="{FFC49AEA-2A8F-250C-A86A-A7751D9706C3}"/>
                </a:ext>
              </a:extLst>
            </p:cNvPr>
            <p:cNvSpPr txBox="1"/>
            <p:nvPr/>
          </p:nvSpPr>
          <p:spPr>
            <a:xfrm>
              <a:off x="2595067" y="1922183"/>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27" name="TextBox 126">
              <a:extLst>
                <a:ext uri="{FF2B5EF4-FFF2-40B4-BE49-F238E27FC236}">
                  <a16:creationId xmlns:a16="http://schemas.microsoft.com/office/drawing/2014/main" id="{FFC49AEA-2A8F-250C-A86A-A7751D9706C3}"/>
                </a:ext>
              </a:extLst>
            </p:cNvPr>
            <p:cNvSpPr txBox="1"/>
            <p:nvPr/>
          </p:nvSpPr>
          <p:spPr>
            <a:xfrm>
              <a:off x="2595067" y="2529456"/>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719050" y="35628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9" name="TextBox 128">
              <a:extLst>
                <a:ext uri="{FF2B5EF4-FFF2-40B4-BE49-F238E27FC236}">
                  <a16:creationId xmlns:a16="http://schemas.microsoft.com/office/drawing/2014/main" id="{FFC49AEA-2A8F-250C-A86A-A7751D9706C3}"/>
                </a:ext>
              </a:extLst>
            </p:cNvPr>
            <p:cNvSpPr txBox="1"/>
            <p:nvPr/>
          </p:nvSpPr>
          <p:spPr>
            <a:xfrm>
              <a:off x="3276728" y="31710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806112" y="2921286"/>
              <a:ext cx="1480199" cy="107722"/>
            </a:xfrm>
            <a:prstGeom prst="rect">
              <a:avLst/>
            </a:prstGeom>
            <a:noFill/>
          </p:spPr>
          <p:txBody>
            <a:bodyPr wrap="square" lIns="0" tIns="0" rIns="0" bIns="0" rtlCol="0">
              <a:spAutoFit/>
            </a:bodyPr>
            <a:lstStyle/>
            <a:p>
              <a:r>
                <a:rPr lang="en-US" altLang="ko-KR" sz="700" dirty="0">
                  <a:latin typeface="+mn-ea"/>
                </a:rPr>
                <a:t>E.</a:t>
              </a:r>
              <a:r>
                <a:rPr lang="ko-KR" altLang="en-US" sz="700" dirty="0">
                  <a:latin typeface="+mn-ea"/>
                </a:rPr>
                <a:t>기술혁신 중소</a:t>
              </a:r>
              <a:r>
                <a:rPr lang="en-US" altLang="ko-KR" sz="700" dirty="0">
                  <a:latin typeface="+mn-ea"/>
                </a:rPr>
                <a:t>.</a:t>
              </a:r>
              <a:r>
                <a:rPr lang="ko-KR" altLang="en-US" sz="700" dirty="0">
                  <a:latin typeface="+mn-ea"/>
                </a:rPr>
                <a:t>벤처기업</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806112" y="3097672"/>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중소벤처기업부장관</a:t>
              </a:r>
              <a:r>
                <a:rPr lang="en-US" altLang="ko-KR" sz="700" dirty="0">
                  <a:latin typeface="+mn-ea"/>
                </a:rPr>
                <a:t>(</a:t>
              </a:r>
              <a:r>
                <a:rPr lang="ko-KR" altLang="en-US" sz="700" dirty="0">
                  <a:latin typeface="+mn-ea"/>
                </a:rPr>
                <a:t>또는 위임 받은 자</a:t>
              </a:r>
              <a:r>
                <a:rPr lang="en-US" altLang="ko-KR" sz="700" dirty="0">
                  <a:latin typeface="+mn-ea"/>
                </a:rPr>
                <a:t>)</a:t>
              </a:r>
              <a:r>
                <a:rPr lang="ko-KR" altLang="en-US" sz="700" dirty="0">
                  <a:latin typeface="+mn-ea"/>
                </a:rPr>
                <a:t>에 의해 </a:t>
              </a:r>
              <a:r>
                <a:rPr lang="ko-KR" altLang="en-US" sz="700" dirty="0" err="1">
                  <a:latin typeface="+mn-ea"/>
                </a:rPr>
                <a:t>혁신형</a:t>
              </a:r>
              <a:r>
                <a:rPr lang="en-US" altLang="ko-KR" sz="700" dirty="0">
                  <a:latin typeface="+mn-ea"/>
                </a:rPr>
                <a:t>(</a:t>
              </a:r>
              <a:r>
                <a:rPr lang="ko-KR" altLang="en-US" sz="700" dirty="0">
                  <a:latin typeface="+mn-ea"/>
                </a:rPr>
                <a:t>벤처</a:t>
              </a:r>
              <a:r>
                <a:rPr lang="en-US" altLang="ko-KR" sz="700" dirty="0">
                  <a:latin typeface="+mn-ea"/>
                </a:rPr>
                <a:t>, </a:t>
              </a:r>
              <a:r>
                <a:rPr lang="ko-KR" altLang="en-US" sz="700" dirty="0" err="1">
                  <a:latin typeface="+mn-ea"/>
                </a:rPr>
                <a:t>기술혁신형</a:t>
              </a:r>
              <a:r>
                <a:rPr lang="en-US" altLang="ko-KR" sz="700" dirty="0">
                  <a:latin typeface="+mn-ea"/>
                </a:rPr>
                <a:t>, </a:t>
              </a:r>
              <a:r>
                <a:rPr lang="ko-KR" altLang="en-US" sz="700" dirty="0" err="1">
                  <a:latin typeface="+mn-ea"/>
                </a:rPr>
                <a:t>경영혁신형</a:t>
              </a:r>
              <a:r>
                <a:rPr lang="en-US" altLang="ko-KR" sz="700" dirty="0">
                  <a:latin typeface="+mn-ea"/>
                </a:rPr>
                <a:t>, </a:t>
              </a:r>
              <a:r>
                <a:rPr lang="ko-KR" altLang="en-US" sz="700" dirty="0">
                  <a:latin typeface="+mn-ea"/>
                </a:rPr>
                <a:t>우수그린비즈</a:t>
              </a:r>
              <a:r>
                <a:rPr lang="en-US" altLang="ko-KR" sz="700" dirty="0">
                  <a:latin typeface="+mn-ea"/>
                </a:rPr>
                <a:t>) </a:t>
              </a:r>
              <a:r>
                <a:rPr lang="ko-KR" altLang="en-US" sz="700" dirty="0">
                  <a:latin typeface="+mn-ea"/>
                </a:rPr>
                <a:t>중소기업으로 지정</a:t>
              </a:r>
              <a:r>
                <a:rPr lang="en-US" altLang="ko-KR" sz="700" dirty="0">
                  <a:latin typeface="+mn-ea"/>
                </a:rPr>
                <a:t>(</a:t>
              </a:r>
              <a:r>
                <a:rPr lang="ko-KR" altLang="en-US" sz="700" dirty="0">
                  <a:latin typeface="+mn-ea"/>
                </a:rPr>
                <a:t>확인</a:t>
              </a:r>
              <a:r>
                <a:rPr lang="en-US" altLang="ko-KR" sz="700" dirty="0">
                  <a:latin typeface="+mn-ea"/>
                </a:rPr>
                <a:t>) </a:t>
              </a:r>
              <a:r>
                <a:rPr lang="ko-KR" altLang="en-US" sz="700" dirty="0">
                  <a:latin typeface="+mn-ea"/>
                </a:rPr>
                <a:t>받은 자</a:t>
              </a:r>
            </a:p>
          </p:txBody>
        </p:sp>
        <p:cxnSp>
          <p:nvCxnSpPr>
            <p:cNvPr id="138" name="직선 연결선 137">
              <a:extLst>
                <a:ext uri="{FF2B5EF4-FFF2-40B4-BE49-F238E27FC236}">
                  <a16:creationId xmlns:a16="http://schemas.microsoft.com/office/drawing/2014/main" id="{E9293055-D5CD-4B9E-7F64-64B2D2CA7A52}"/>
                </a:ext>
              </a:extLst>
            </p:cNvPr>
            <p:cNvCxnSpPr/>
            <p:nvPr/>
          </p:nvCxnSpPr>
          <p:spPr>
            <a:xfrm>
              <a:off x="719050" y="306334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8" name="TextBox 157">
              <a:extLst>
                <a:ext uri="{FF2B5EF4-FFF2-40B4-BE49-F238E27FC236}">
                  <a16:creationId xmlns:a16="http://schemas.microsoft.com/office/drawing/2014/main" id="{FFC49AEA-2A8F-250C-A86A-A7751D9706C3}"/>
                </a:ext>
              </a:extLst>
            </p:cNvPr>
            <p:cNvSpPr txBox="1"/>
            <p:nvPr/>
          </p:nvSpPr>
          <p:spPr>
            <a:xfrm>
              <a:off x="2676821" y="29212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9" name="TextBox 158">
              <a:extLst>
                <a:ext uri="{FF2B5EF4-FFF2-40B4-BE49-F238E27FC236}">
                  <a16:creationId xmlns:a16="http://schemas.microsoft.com/office/drawing/2014/main" id="{FFC49AEA-2A8F-250C-A86A-A7751D9706C3}"/>
                </a:ext>
              </a:extLst>
            </p:cNvPr>
            <p:cNvSpPr txBox="1"/>
            <p:nvPr/>
          </p:nvSpPr>
          <p:spPr>
            <a:xfrm>
              <a:off x="2595067" y="3259254"/>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3276728" y="36510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1" name="TextBox 160">
              <a:extLst>
                <a:ext uri="{FF2B5EF4-FFF2-40B4-BE49-F238E27FC236}">
                  <a16:creationId xmlns:a16="http://schemas.microsoft.com/office/drawing/2014/main" id="{FFC49AEA-2A8F-250C-A86A-A7751D9706C3}"/>
                </a:ext>
              </a:extLst>
            </p:cNvPr>
            <p:cNvSpPr txBox="1"/>
            <p:nvPr/>
          </p:nvSpPr>
          <p:spPr>
            <a:xfrm>
              <a:off x="806112" y="3597223"/>
              <a:ext cx="1480199" cy="215444"/>
            </a:xfrm>
            <a:prstGeom prst="rect">
              <a:avLst/>
            </a:prstGeom>
            <a:noFill/>
          </p:spPr>
          <p:txBody>
            <a:bodyPr wrap="square" lIns="0" tIns="0" rIns="0" bIns="0" rtlCol="0">
              <a:spAutoFit/>
            </a:bodyPr>
            <a:lstStyle/>
            <a:p>
              <a:r>
                <a:rPr lang="en-US" altLang="ko-KR" sz="700" dirty="0">
                  <a:latin typeface="+mn-ea"/>
                </a:rPr>
                <a:t>F.</a:t>
              </a:r>
              <a:r>
                <a:rPr lang="ko-KR" altLang="en-US" sz="700" dirty="0">
                  <a:latin typeface="+mn-ea"/>
                </a:rPr>
                <a:t>산업통상자원부장관이 선정한 ‘</a:t>
              </a:r>
              <a:r>
                <a:rPr lang="ko-KR" altLang="en-US" sz="700" dirty="0" err="1">
                  <a:latin typeface="+mn-ea"/>
                </a:rPr>
                <a:t>세계일류상품인증기업</a:t>
              </a:r>
              <a:r>
                <a:rPr lang="ko-KR" altLang="en-US" sz="700" dirty="0">
                  <a:latin typeface="+mn-ea"/>
                </a:rPr>
                <a:t>’</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2595067" y="3651084"/>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719050" y="38469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7" name="TextBox 166">
              <a:extLst>
                <a:ext uri="{FF2B5EF4-FFF2-40B4-BE49-F238E27FC236}">
                  <a16:creationId xmlns:a16="http://schemas.microsoft.com/office/drawing/2014/main" id="{FFC49AEA-2A8F-250C-A86A-A7751D9706C3}"/>
                </a:ext>
              </a:extLst>
            </p:cNvPr>
            <p:cNvSpPr txBox="1"/>
            <p:nvPr/>
          </p:nvSpPr>
          <p:spPr>
            <a:xfrm>
              <a:off x="3276728" y="393519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806112" y="3881331"/>
              <a:ext cx="1480199" cy="215444"/>
            </a:xfrm>
            <a:prstGeom prst="rect">
              <a:avLst/>
            </a:prstGeom>
            <a:noFill/>
          </p:spPr>
          <p:txBody>
            <a:bodyPr wrap="square" lIns="0" tIns="0" rIns="0" bIns="0" rtlCol="0">
              <a:spAutoFit/>
            </a:bodyPr>
            <a:lstStyle/>
            <a:p>
              <a:r>
                <a:rPr lang="en-US" altLang="ko-KR" sz="700" dirty="0">
                  <a:latin typeface="+mn-ea"/>
                </a:rPr>
                <a:t>G.’</a:t>
              </a:r>
              <a:r>
                <a:rPr lang="ko-KR" altLang="en-US" sz="700" dirty="0">
                  <a:latin typeface="+mn-ea"/>
                </a:rPr>
                <a:t>중소벤처기업부장관이 지정한 수출유망중소기업’</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2595067" y="393519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85" name="직선 연결선 184">
              <a:extLst>
                <a:ext uri="{FF2B5EF4-FFF2-40B4-BE49-F238E27FC236}">
                  <a16:creationId xmlns:a16="http://schemas.microsoft.com/office/drawing/2014/main" id="{E9293055-D5CD-4B9E-7F64-64B2D2CA7A52}"/>
                </a:ext>
              </a:extLst>
            </p:cNvPr>
            <p:cNvCxnSpPr/>
            <p:nvPr/>
          </p:nvCxnSpPr>
          <p:spPr>
            <a:xfrm>
              <a:off x="719050" y="41311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1" name="TextBox 190">
              <a:extLst>
                <a:ext uri="{FF2B5EF4-FFF2-40B4-BE49-F238E27FC236}">
                  <a16:creationId xmlns:a16="http://schemas.microsoft.com/office/drawing/2014/main" id="{FFC49AEA-2A8F-250C-A86A-A7751D9706C3}"/>
                </a:ext>
              </a:extLst>
            </p:cNvPr>
            <p:cNvSpPr txBox="1"/>
            <p:nvPr/>
          </p:nvSpPr>
          <p:spPr>
            <a:xfrm>
              <a:off x="3276728" y="421930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806112" y="4165439"/>
              <a:ext cx="1480199" cy="215444"/>
            </a:xfrm>
            <a:prstGeom prst="rect">
              <a:avLst/>
            </a:prstGeom>
            <a:noFill/>
          </p:spPr>
          <p:txBody>
            <a:bodyPr wrap="square" lIns="0" tIns="0" rIns="0" bIns="0" rtlCol="0">
              <a:spAutoFit/>
            </a:bodyPr>
            <a:lstStyle/>
            <a:p>
              <a:r>
                <a:rPr lang="en-US" altLang="ko-KR" sz="700" dirty="0">
                  <a:latin typeface="+mn-ea"/>
                </a:rPr>
                <a:t>H.</a:t>
              </a:r>
              <a:r>
                <a:rPr lang="ko-KR" altLang="en-US" sz="700" dirty="0">
                  <a:latin typeface="+mn-ea"/>
                </a:rPr>
                <a:t>안전행정부장관이 확인해준 ‘비상대비 중점관리 대상업체’</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2595067" y="4219300"/>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06" name="직선 연결선 205">
              <a:extLst>
                <a:ext uri="{FF2B5EF4-FFF2-40B4-BE49-F238E27FC236}">
                  <a16:creationId xmlns:a16="http://schemas.microsoft.com/office/drawing/2014/main" id="{E9293055-D5CD-4B9E-7F64-64B2D2CA7A52}"/>
                </a:ext>
              </a:extLst>
            </p:cNvPr>
            <p:cNvCxnSpPr/>
            <p:nvPr/>
          </p:nvCxnSpPr>
          <p:spPr>
            <a:xfrm>
              <a:off x="719050" y="44152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TextBox 214">
              <a:extLst>
                <a:ext uri="{FF2B5EF4-FFF2-40B4-BE49-F238E27FC236}">
                  <a16:creationId xmlns:a16="http://schemas.microsoft.com/office/drawing/2014/main" id="{FFC49AEA-2A8F-250C-A86A-A7751D9706C3}"/>
                </a:ext>
              </a:extLst>
            </p:cNvPr>
            <p:cNvSpPr txBox="1"/>
            <p:nvPr/>
          </p:nvSpPr>
          <p:spPr>
            <a:xfrm>
              <a:off x="3276728" y="450340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6" name="TextBox 215">
              <a:extLst>
                <a:ext uri="{FF2B5EF4-FFF2-40B4-BE49-F238E27FC236}">
                  <a16:creationId xmlns:a16="http://schemas.microsoft.com/office/drawing/2014/main" id="{FFC49AEA-2A8F-250C-A86A-A7751D9706C3}"/>
                </a:ext>
              </a:extLst>
            </p:cNvPr>
            <p:cNvSpPr txBox="1"/>
            <p:nvPr/>
          </p:nvSpPr>
          <p:spPr>
            <a:xfrm>
              <a:off x="806112" y="4449547"/>
              <a:ext cx="1480199" cy="215444"/>
            </a:xfrm>
            <a:prstGeom prst="rect">
              <a:avLst/>
            </a:prstGeom>
            <a:noFill/>
          </p:spPr>
          <p:txBody>
            <a:bodyPr wrap="square" lIns="0" tIns="0" rIns="0" bIns="0" rtlCol="0">
              <a:spAutoFit/>
            </a:bodyPr>
            <a:lstStyle/>
            <a:p>
              <a:r>
                <a:rPr lang="en-US" altLang="ko-KR" sz="700" dirty="0">
                  <a:latin typeface="+mn-ea"/>
                </a:rPr>
                <a:t>I.</a:t>
              </a:r>
              <a:r>
                <a:rPr lang="ko-KR" altLang="en-US" sz="700" dirty="0">
                  <a:latin typeface="+mn-ea"/>
                </a:rPr>
                <a:t>여성가족부에서 지정한 가족친화 </a:t>
              </a:r>
              <a:r>
                <a:rPr lang="ko-KR" altLang="en-US" sz="700" dirty="0" err="1">
                  <a:latin typeface="+mn-ea"/>
                </a:rPr>
                <a:t>인증기업</a:t>
              </a:r>
              <a:endParaRPr lang="ko-KR" altLang="en-US" sz="700" dirty="0">
                <a:latin typeface="+mn-ea"/>
              </a:endParaRPr>
            </a:p>
          </p:txBody>
        </p:sp>
        <p:sp>
          <p:nvSpPr>
            <p:cNvPr id="217" name="TextBox 216">
              <a:extLst>
                <a:ext uri="{FF2B5EF4-FFF2-40B4-BE49-F238E27FC236}">
                  <a16:creationId xmlns:a16="http://schemas.microsoft.com/office/drawing/2014/main" id="{FFC49AEA-2A8F-250C-A86A-A7751D9706C3}"/>
                </a:ext>
              </a:extLst>
            </p:cNvPr>
            <p:cNvSpPr txBox="1"/>
            <p:nvPr/>
          </p:nvSpPr>
          <p:spPr>
            <a:xfrm>
              <a:off x="2595067" y="4503408"/>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8" name="직선 연결선 217">
              <a:extLst>
                <a:ext uri="{FF2B5EF4-FFF2-40B4-BE49-F238E27FC236}">
                  <a16:creationId xmlns:a16="http://schemas.microsoft.com/office/drawing/2014/main" id="{E9293055-D5CD-4B9E-7F64-64B2D2CA7A52}"/>
                </a:ext>
              </a:extLst>
            </p:cNvPr>
            <p:cNvCxnSpPr/>
            <p:nvPr/>
          </p:nvCxnSpPr>
          <p:spPr>
            <a:xfrm>
              <a:off x="719050" y="46993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9" name="TextBox 218">
              <a:extLst>
                <a:ext uri="{FF2B5EF4-FFF2-40B4-BE49-F238E27FC236}">
                  <a16:creationId xmlns:a16="http://schemas.microsoft.com/office/drawing/2014/main" id="{FFC49AEA-2A8F-250C-A86A-A7751D9706C3}"/>
                </a:ext>
              </a:extLst>
            </p:cNvPr>
            <p:cNvSpPr txBox="1"/>
            <p:nvPr/>
          </p:nvSpPr>
          <p:spPr>
            <a:xfrm>
              <a:off x="3276728" y="478751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0" name="TextBox 219">
              <a:extLst>
                <a:ext uri="{FF2B5EF4-FFF2-40B4-BE49-F238E27FC236}">
                  <a16:creationId xmlns:a16="http://schemas.microsoft.com/office/drawing/2014/main" id="{FFC49AEA-2A8F-250C-A86A-A7751D9706C3}"/>
                </a:ext>
              </a:extLst>
            </p:cNvPr>
            <p:cNvSpPr txBox="1"/>
            <p:nvPr/>
          </p:nvSpPr>
          <p:spPr>
            <a:xfrm>
              <a:off x="806112" y="4733655"/>
              <a:ext cx="1480199" cy="215444"/>
            </a:xfrm>
            <a:prstGeom prst="rect">
              <a:avLst/>
            </a:prstGeom>
            <a:noFill/>
          </p:spPr>
          <p:txBody>
            <a:bodyPr wrap="square" lIns="0" tIns="0" rIns="0" bIns="0" rtlCol="0">
              <a:spAutoFit/>
            </a:bodyPr>
            <a:lstStyle/>
            <a:p>
              <a:r>
                <a:rPr lang="en-US" altLang="ko-KR" sz="700" dirty="0">
                  <a:latin typeface="+mn-ea"/>
                </a:rPr>
                <a:t>J.</a:t>
              </a:r>
              <a:r>
                <a:rPr lang="ko-KR" altLang="en-US" sz="700" dirty="0">
                  <a:latin typeface="+mn-ea"/>
                </a:rPr>
                <a:t>고용노동부장관이 인증한 사회적 기업</a:t>
              </a:r>
            </a:p>
          </p:txBody>
        </p:sp>
        <p:sp>
          <p:nvSpPr>
            <p:cNvPr id="221" name="TextBox 220">
              <a:extLst>
                <a:ext uri="{FF2B5EF4-FFF2-40B4-BE49-F238E27FC236}">
                  <a16:creationId xmlns:a16="http://schemas.microsoft.com/office/drawing/2014/main" id="{FFC49AEA-2A8F-250C-A86A-A7751D9706C3}"/>
                </a:ext>
              </a:extLst>
            </p:cNvPr>
            <p:cNvSpPr txBox="1"/>
            <p:nvPr/>
          </p:nvSpPr>
          <p:spPr>
            <a:xfrm>
              <a:off x="2595067" y="478751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22" name="직선 연결선 221">
              <a:extLst>
                <a:ext uri="{FF2B5EF4-FFF2-40B4-BE49-F238E27FC236}">
                  <a16:creationId xmlns:a16="http://schemas.microsoft.com/office/drawing/2014/main" id="{E9293055-D5CD-4B9E-7F64-64B2D2CA7A52}"/>
                </a:ext>
              </a:extLst>
            </p:cNvPr>
            <p:cNvCxnSpPr/>
            <p:nvPr/>
          </p:nvCxnSpPr>
          <p:spPr>
            <a:xfrm>
              <a:off x="719050" y="49834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3" name="TextBox 222">
              <a:extLst>
                <a:ext uri="{FF2B5EF4-FFF2-40B4-BE49-F238E27FC236}">
                  <a16:creationId xmlns:a16="http://schemas.microsoft.com/office/drawing/2014/main" id="{FFC49AEA-2A8F-250C-A86A-A7751D9706C3}"/>
                </a:ext>
              </a:extLst>
            </p:cNvPr>
            <p:cNvSpPr txBox="1"/>
            <p:nvPr/>
          </p:nvSpPr>
          <p:spPr>
            <a:xfrm>
              <a:off x="3276728" y="51254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806112" y="5017763"/>
              <a:ext cx="1480199" cy="323165"/>
            </a:xfrm>
            <a:prstGeom prst="rect">
              <a:avLst/>
            </a:prstGeom>
            <a:noFill/>
          </p:spPr>
          <p:txBody>
            <a:bodyPr wrap="square" lIns="0" tIns="0" rIns="0" bIns="0" rtlCol="0">
              <a:spAutoFit/>
            </a:bodyPr>
            <a:lstStyle/>
            <a:p>
              <a:r>
                <a:rPr lang="en-US" altLang="ko-KR" sz="700" dirty="0">
                  <a:latin typeface="+mn-ea"/>
                </a:rPr>
                <a:t>K.’</a:t>
              </a:r>
              <a:r>
                <a:rPr lang="ko-KR" altLang="en-US" sz="700" dirty="0">
                  <a:latin typeface="+mn-ea"/>
                </a:rPr>
                <a:t>중소기업인력지원특별법’ 제</a:t>
              </a:r>
              <a:r>
                <a:rPr lang="en-US" altLang="ko-KR" sz="700" dirty="0">
                  <a:latin typeface="+mn-ea"/>
                </a:rPr>
                <a:t>18</a:t>
              </a:r>
              <a:r>
                <a:rPr lang="ko-KR" altLang="en-US" sz="700" dirty="0">
                  <a:latin typeface="+mn-ea"/>
                </a:rPr>
                <a:t>조의</a:t>
              </a:r>
              <a:r>
                <a:rPr lang="en-US" altLang="ko-KR" sz="700" dirty="0">
                  <a:latin typeface="+mn-ea"/>
                </a:rPr>
                <a:t>2</a:t>
              </a:r>
              <a:r>
                <a:rPr lang="ko-KR" altLang="en-US" sz="700" dirty="0">
                  <a:latin typeface="+mn-ea"/>
                </a:rPr>
                <a:t>에 </a:t>
              </a:r>
              <a:r>
                <a:rPr lang="ko-KR" altLang="en-US" sz="700" dirty="0" err="1">
                  <a:latin typeface="+mn-ea"/>
                </a:rPr>
                <a:t>따른’인재육성형</a:t>
              </a:r>
              <a:r>
                <a:rPr lang="ko-KR" altLang="en-US" sz="700" dirty="0">
                  <a:latin typeface="+mn-ea"/>
                </a:rPr>
                <a:t> </a:t>
              </a:r>
              <a:r>
                <a:rPr lang="ko-KR" altLang="en-US" sz="700" dirty="0" err="1">
                  <a:latin typeface="+mn-ea"/>
                </a:rPr>
                <a:t>중소기업’으로</a:t>
              </a:r>
              <a:r>
                <a:rPr lang="ko-KR" altLang="en-US" sz="700" dirty="0">
                  <a:latin typeface="+mn-ea"/>
                </a:rPr>
                <a:t> </a:t>
              </a:r>
              <a:r>
                <a:rPr lang="ko-KR" altLang="en-US" sz="700" dirty="0" err="1">
                  <a:latin typeface="+mn-ea"/>
                </a:rPr>
                <a:t>지정받은</a:t>
              </a:r>
              <a:r>
                <a:rPr lang="ko-KR" altLang="en-US" sz="700" dirty="0">
                  <a:latin typeface="+mn-ea"/>
                </a:rPr>
                <a:t> 기업</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2595067" y="512548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26" name="직선 연결선 225">
              <a:extLst>
                <a:ext uri="{FF2B5EF4-FFF2-40B4-BE49-F238E27FC236}">
                  <a16:creationId xmlns:a16="http://schemas.microsoft.com/office/drawing/2014/main" id="{E9293055-D5CD-4B9E-7F64-64B2D2CA7A52}"/>
                </a:ext>
              </a:extLst>
            </p:cNvPr>
            <p:cNvCxnSpPr/>
            <p:nvPr/>
          </p:nvCxnSpPr>
          <p:spPr>
            <a:xfrm>
              <a:off x="719050" y="53752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7" name="TextBox 226">
              <a:extLst>
                <a:ext uri="{FF2B5EF4-FFF2-40B4-BE49-F238E27FC236}">
                  <a16:creationId xmlns:a16="http://schemas.microsoft.com/office/drawing/2014/main" id="{FFC49AEA-2A8F-250C-A86A-A7751D9706C3}"/>
                </a:ext>
              </a:extLst>
            </p:cNvPr>
            <p:cNvSpPr txBox="1"/>
            <p:nvPr/>
          </p:nvSpPr>
          <p:spPr>
            <a:xfrm>
              <a:off x="3276728" y="574991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8" name="TextBox 227">
              <a:extLst>
                <a:ext uri="{FF2B5EF4-FFF2-40B4-BE49-F238E27FC236}">
                  <a16:creationId xmlns:a16="http://schemas.microsoft.com/office/drawing/2014/main" id="{FFC49AEA-2A8F-250C-A86A-A7751D9706C3}"/>
                </a:ext>
              </a:extLst>
            </p:cNvPr>
            <p:cNvSpPr txBox="1"/>
            <p:nvPr/>
          </p:nvSpPr>
          <p:spPr>
            <a:xfrm>
              <a:off x="806112" y="5409592"/>
              <a:ext cx="1480199" cy="107722"/>
            </a:xfrm>
            <a:prstGeom prst="rect">
              <a:avLst/>
            </a:prstGeom>
            <a:noFill/>
          </p:spPr>
          <p:txBody>
            <a:bodyPr wrap="square" lIns="0" tIns="0" rIns="0" bIns="0" rtlCol="0">
              <a:spAutoFit/>
            </a:bodyPr>
            <a:lstStyle/>
            <a:p>
              <a:r>
                <a:rPr lang="en-US" altLang="ko-KR" sz="700" dirty="0">
                  <a:latin typeface="+mn-ea"/>
                </a:rPr>
                <a:t>L.</a:t>
              </a:r>
              <a:r>
                <a:rPr lang="ko-KR" altLang="en-US" sz="700" dirty="0">
                  <a:latin typeface="+mn-ea"/>
                </a:rPr>
                <a:t>수출우수기업</a:t>
              </a:r>
            </a:p>
          </p:txBody>
        </p:sp>
        <p:sp>
          <p:nvSpPr>
            <p:cNvPr id="229" name="TextBox 228">
              <a:extLst>
                <a:ext uri="{FF2B5EF4-FFF2-40B4-BE49-F238E27FC236}">
                  <a16:creationId xmlns:a16="http://schemas.microsoft.com/office/drawing/2014/main" id="{FFC49AEA-2A8F-250C-A86A-A7751D9706C3}"/>
                </a:ext>
              </a:extLst>
            </p:cNvPr>
            <p:cNvSpPr txBox="1"/>
            <p:nvPr/>
          </p:nvSpPr>
          <p:spPr>
            <a:xfrm>
              <a:off x="2595003" y="5551646"/>
              <a:ext cx="118687" cy="430887"/>
            </a:xfrm>
            <a:prstGeom prst="rect">
              <a:avLst/>
            </a:prstGeom>
            <a:noFill/>
          </p:spPr>
          <p:txBody>
            <a:bodyPr wrap="none" lIns="0" tIns="0" rIns="0" bIns="0" rtlCol="0">
              <a:spAutoFit/>
            </a:bodyPr>
            <a:lstStyle/>
            <a:p>
              <a:pPr algn="r"/>
              <a:r>
                <a:rPr lang="en-US" altLang="ko-KR" sz="700" dirty="0">
                  <a:latin typeface="+mn-ea"/>
                </a:rPr>
                <a:t>0.2</a:t>
              </a:r>
            </a:p>
            <a:p>
              <a:pPr algn="r"/>
              <a:endParaRPr lang="en-US" altLang="ko-KR" sz="700" dirty="0">
                <a:latin typeface="+mn-ea"/>
              </a:endParaRPr>
            </a:p>
            <a:p>
              <a:pPr algn="r"/>
              <a:endParaRPr lang="en-US" altLang="ko-KR" sz="700" dirty="0">
                <a:latin typeface="+mn-ea"/>
              </a:endParaRPr>
            </a:p>
            <a:p>
              <a:pPr algn="r"/>
              <a:r>
                <a:rPr lang="en-US" altLang="ko-KR" sz="700" dirty="0">
                  <a:latin typeface="+mn-ea"/>
                </a:rPr>
                <a:t>0.1</a:t>
              </a:r>
              <a:endParaRPr lang="ko-KR" altLang="en-US" sz="700" dirty="0">
                <a:latin typeface="+mn-ea"/>
              </a:endParaRPr>
            </a:p>
          </p:txBody>
        </p:sp>
        <p:cxnSp>
          <p:nvCxnSpPr>
            <p:cNvPr id="230" name="직선 연결선 229">
              <a:extLst>
                <a:ext uri="{FF2B5EF4-FFF2-40B4-BE49-F238E27FC236}">
                  <a16:creationId xmlns:a16="http://schemas.microsoft.com/office/drawing/2014/main" id="{E9293055-D5CD-4B9E-7F64-64B2D2CA7A52}"/>
                </a:ext>
              </a:extLst>
            </p:cNvPr>
            <p:cNvCxnSpPr/>
            <p:nvPr/>
          </p:nvCxnSpPr>
          <p:spPr>
            <a:xfrm>
              <a:off x="719050" y="6232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1" name="TextBox 230">
              <a:extLst>
                <a:ext uri="{FF2B5EF4-FFF2-40B4-BE49-F238E27FC236}">
                  <a16:creationId xmlns:a16="http://schemas.microsoft.com/office/drawing/2014/main" id="{FFC49AEA-2A8F-250C-A86A-A7751D9706C3}"/>
                </a:ext>
              </a:extLst>
            </p:cNvPr>
            <p:cNvSpPr txBox="1"/>
            <p:nvPr/>
          </p:nvSpPr>
          <p:spPr>
            <a:xfrm>
              <a:off x="806112" y="5551646"/>
              <a:ext cx="1480199" cy="646331"/>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수출액 </a:t>
              </a:r>
              <a:r>
                <a:rPr lang="en-US" altLang="ko-KR" sz="700" dirty="0">
                  <a:latin typeface="+mn-ea"/>
                </a:rPr>
                <a:t>100</a:t>
              </a:r>
              <a:r>
                <a:rPr lang="ko-KR" altLang="en-US" sz="700" dirty="0" err="1">
                  <a:latin typeface="+mn-ea"/>
                </a:rPr>
                <a:t>만불이상이면서</a:t>
              </a:r>
              <a:r>
                <a:rPr lang="ko-KR" altLang="en-US" sz="700" dirty="0">
                  <a:latin typeface="+mn-ea"/>
                </a:rPr>
                <a:t> 수출증가율 </a:t>
              </a:r>
              <a:r>
                <a:rPr lang="en-US" altLang="ko-KR" sz="700" dirty="0">
                  <a:latin typeface="+mn-ea"/>
                </a:rPr>
                <a:t>10%</a:t>
              </a:r>
              <a:r>
                <a:rPr lang="ko-KR" altLang="en-US" sz="700" dirty="0">
                  <a:latin typeface="+mn-ea"/>
                </a:rPr>
                <a:t>이상 또는 수출액 </a:t>
              </a:r>
              <a:r>
                <a:rPr lang="en-US" altLang="ko-KR" sz="700" dirty="0">
                  <a:latin typeface="+mn-ea"/>
                </a:rPr>
                <a:t>10</a:t>
              </a:r>
              <a:r>
                <a:rPr lang="ko-KR" altLang="en-US" sz="700" dirty="0">
                  <a:latin typeface="+mn-ea"/>
                </a:rPr>
                <a:t>만불 이상이면서 수출 증가율 </a:t>
              </a:r>
              <a:r>
                <a:rPr lang="en-US" altLang="ko-KR" sz="700" dirty="0">
                  <a:latin typeface="+mn-ea"/>
                </a:rPr>
                <a:t>30%</a:t>
              </a:r>
              <a:r>
                <a:rPr lang="ko-KR" altLang="en-US" sz="700" dirty="0">
                  <a:latin typeface="+mn-ea"/>
                </a:rPr>
                <a:t>이상</a:t>
              </a:r>
            </a:p>
            <a:p>
              <a:r>
                <a:rPr lang="en-US" altLang="ko-KR" sz="700" dirty="0">
                  <a:latin typeface="+mn-ea"/>
                </a:rPr>
                <a:t>  - </a:t>
              </a:r>
              <a:r>
                <a:rPr lang="ko-KR" altLang="en-US" sz="700" dirty="0">
                  <a:latin typeface="+mn-ea"/>
                </a:rPr>
                <a:t>수출액 </a:t>
              </a:r>
              <a:r>
                <a:rPr lang="en-US" altLang="ko-KR" sz="700" dirty="0">
                  <a:latin typeface="+mn-ea"/>
                </a:rPr>
                <a:t>100</a:t>
              </a:r>
              <a:r>
                <a:rPr lang="ko-KR" altLang="en-US" sz="700" dirty="0">
                  <a:latin typeface="+mn-ea"/>
                </a:rPr>
                <a:t>만불 이상 또는 수출액 </a:t>
              </a:r>
              <a:r>
                <a:rPr lang="en-US" altLang="ko-KR" sz="700" dirty="0">
                  <a:latin typeface="+mn-ea"/>
                </a:rPr>
                <a:t>10</a:t>
              </a:r>
              <a:r>
                <a:rPr lang="ko-KR" altLang="en-US" sz="700" dirty="0">
                  <a:latin typeface="+mn-ea"/>
                </a:rPr>
                <a:t>만불 이상이면서 수출증가율 </a:t>
              </a:r>
              <a:r>
                <a:rPr lang="en-US" altLang="ko-KR" sz="700" dirty="0">
                  <a:latin typeface="+mn-ea"/>
                </a:rPr>
                <a:t>10%</a:t>
              </a:r>
              <a:r>
                <a:rPr lang="ko-KR" altLang="en-US" sz="700" dirty="0">
                  <a:latin typeface="+mn-ea"/>
                </a:rPr>
                <a:t>이상</a:t>
              </a:r>
            </a:p>
          </p:txBody>
        </p:sp>
        <p:cxnSp>
          <p:nvCxnSpPr>
            <p:cNvPr id="232" name="직선 연결선 231">
              <a:extLst>
                <a:ext uri="{FF2B5EF4-FFF2-40B4-BE49-F238E27FC236}">
                  <a16:creationId xmlns:a16="http://schemas.microsoft.com/office/drawing/2014/main" id="{E9293055-D5CD-4B9E-7F64-64B2D2CA7A52}"/>
                </a:ext>
              </a:extLst>
            </p:cNvPr>
            <p:cNvCxnSpPr/>
            <p:nvPr/>
          </p:nvCxnSpPr>
          <p:spPr>
            <a:xfrm>
              <a:off x="719050" y="14960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8" name="타원 10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346931308"/>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240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MUI-BD-10-M14</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8" name="TextBox 237">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9" name="TextBox 17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3" name="그룹 2"/>
          <p:cNvGrpSpPr/>
          <p:nvPr/>
        </p:nvGrpSpPr>
        <p:grpSpPr>
          <a:xfrm>
            <a:off x="717412" y="1493927"/>
            <a:ext cx="2628000" cy="4580070"/>
            <a:chOff x="3832498" y="1493927"/>
            <a:chExt cx="2628000" cy="4580070"/>
          </a:xfrm>
        </p:grpSpPr>
        <p:sp>
          <p:nvSpPr>
            <p:cNvPr id="159" name="직사각형 158"/>
            <p:cNvSpPr/>
            <p:nvPr/>
          </p:nvSpPr>
          <p:spPr>
            <a:xfrm>
              <a:off x="3835002" y="1504396"/>
              <a:ext cx="1639886" cy="45696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3922065" y="1532932"/>
              <a:ext cx="1480199" cy="215444"/>
            </a:xfrm>
            <a:prstGeom prst="rect">
              <a:avLst/>
            </a:prstGeom>
            <a:noFill/>
          </p:spPr>
          <p:txBody>
            <a:bodyPr wrap="square" lIns="0" tIns="0" rIns="0" bIns="0" rtlCol="0">
              <a:spAutoFit/>
            </a:bodyPr>
            <a:lstStyle/>
            <a:p>
              <a:r>
                <a:rPr lang="en-US" altLang="ko-KR" sz="700" dirty="0">
                  <a:latin typeface="+mn-ea"/>
                </a:rPr>
                <a:t>M.</a:t>
              </a:r>
              <a:r>
                <a:rPr lang="ko-KR" altLang="en-US" sz="700" dirty="0">
                  <a:latin typeface="+mn-ea"/>
                </a:rPr>
                <a:t>중소벤처기업부장관이 선정한 ‘월드 클래스</a:t>
              </a:r>
              <a:r>
                <a:rPr lang="en-US" altLang="ko-KR" sz="700" dirty="0">
                  <a:latin typeface="+mn-ea"/>
                </a:rPr>
                <a:t>300</a:t>
              </a:r>
              <a:r>
                <a:rPr lang="ko-KR" altLang="en-US" sz="700" dirty="0">
                  <a:latin typeface="+mn-ea"/>
                </a:rPr>
                <a:t>기업’</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35003" y="1787381"/>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4" name="TextBox 183">
              <a:extLst>
                <a:ext uri="{FF2B5EF4-FFF2-40B4-BE49-F238E27FC236}">
                  <a16:creationId xmlns:a16="http://schemas.microsoft.com/office/drawing/2014/main" id="{FFC49AEA-2A8F-250C-A86A-A7751D9706C3}"/>
                </a:ext>
              </a:extLst>
            </p:cNvPr>
            <p:cNvSpPr txBox="1"/>
            <p:nvPr/>
          </p:nvSpPr>
          <p:spPr>
            <a:xfrm>
              <a:off x="5711020" y="1586793"/>
              <a:ext cx="118623" cy="107722"/>
            </a:xfrm>
            <a:prstGeom prst="rect">
              <a:avLst/>
            </a:prstGeom>
            <a:noFill/>
          </p:spPr>
          <p:txBody>
            <a:bodyPr wrap="none" lIns="0" tIns="0" rIns="0" bIns="0" rtlCol="0">
              <a:spAutoFit/>
            </a:bodyPr>
            <a:lstStyle/>
            <a:p>
              <a:pPr algn="r"/>
              <a:r>
                <a:rPr lang="en-US" altLang="ko-KR" sz="700" dirty="0">
                  <a:latin typeface="+mn-ea"/>
                </a:rPr>
                <a:t>1.0</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6390176" y="158679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3922065" y="1826386"/>
              <a:ext cx="1480199" cy="430887"/>
            </a:xfrm>
            <a:prstGeom prst="rect">
              <a:avLst/>
            </a:prstGeom>
            <a:noFill/>
          </p:spPr>
          <p:txBody>
            <a:bodyPr wrap="square" lIns="0" tIns="0" rIns="0" bIns="0" rtlCol="0">
              <a:spAutoFit/>
            </a:bodyPr>
            <a:lstStyle/>
            <a:p>
              <a:r>
                <a:rPr lang="en-US" altLang="ko-KR" sz="700" dirty="0">
                  <a:latin typeface="+mn-ea"/>
                </a:rPr>
                <a:t>N.</a:t>
              </a:r>
              <a:r>
                <a:rPr lang="ko-KR" altLang="en-US" sz="700" dirty="0">
                  <a:latin typeface="+mn-ea"/>
                </a:rPr>
                <a:t>개성공단 입주기업으로서 통일부장관</a:t>
              </a:r>
              <a:r>
                <a:rPr lang="en-US" altLang="ko-KR" sz="700" dirty="0">
                  <a:latin typeface="+mn-ea"/>
                </a:rPr>
                <a:t>(</a:t>
              </a:r>
              <a:r>
                <a:rPr lang="ko-KR" altLang="en-US" sz="700" dirty="0">
                  <a:latin typeface="+mn-ea"/>
                </a:rPr>
                <a:t>또는 위임을 </a:t>
              </a:r>
              <a:r>
                <a:rPr lang="ko-KR" altLang="en-US" sz="700" dirty="0" err="1">
                  <a:latin typeface="+mn-ea"/>
                </a:rPr>
                <a:t>받은자</a:t>
              </a:r>
              <a:r>
                <a:rPr lang="en-US" altLang="ko-KR" sz="700" dirty="0">
                  <a:latin typeface="+mn-ea"/>
                </a:rPr>
                <a:t>) </a:t>
              </a:r>
              <a:r>
                <a:rPr lang="ko-KR" altLang="en-US" sz="700" dirty="0">
                  <a:latin typeface="+mn-ea"/>
                </a:rPr>
                <a:t>으로부터 기업등록증을 발급받는 자</a:t>
              </a:r>
              <a:r>
                <a:rPr lang="en-US" altLang="ko-KR" sz="700" dirty="0">
                  <a:latin typeface="+mn-ea"/>
                </a:rPr>
                <a:t>(2018</a:t>
              </a:r>
              <a:r>
                <a:rPr lang="ko-KR" altLang="en-US" sz="700" dirty="0">
                  <a:latin typeface="+mn-ea"/>
                </a:rPr>
                <a:t>년</a:t>
              </a:r>
              <a:r>
                <a:rPr lang="en-US" altLang="ko-KR" sz="700" dirty="0">
                  <a:latin typeface="+mn-ea"/>
                </a:rPr>
                <a:t>4</a:t>
              </a:r>
              <a:r>
                <a:rPr lang="ko-KR" altLang="en-US" sz="700" dirty="0">
                  <a:latin typeface="+mn-ea"/>
                </a:rPr>
                <a:t>월 </a:t>
              </a:r>
              <a:r>
                <a:rPr lang="en-US" altLang="ko-KR" sz="700" dirty="0">
                  <a:latin typeface="+mn-ea"/>
                </a:rPr>
                <a:t>1</a:t>
              </a:r>
              <a:r>
                <a:rPr lang="ko-KR" altLang="en-US" sz="700" dirty="0">
                  <a:latin typeface="+mn-ea"/>
                </a:rPr>
                <a:t>일 이전</a:t>
              </a:r>
              <a:r>
                <a:rPr lang="en-US" altLang="ko-KR" sz="700" dirty="0">
                  <a:latin typeface="+mn-ea"/>
                </a:rPr>
                <a:t>) </a:t>
              </a:r>
              <a:r>
                <a:rPr lang="ko-KR" altLang="en-US" sz="700" dirty="0">
                  <a:latin typeface="+mn-ea"/>
                </a:rPr>
                <a:t>입찰공고에 한하여 적용</a:t>
              </a:r>
              <a:r>
                <a:rPr lang="en-US" altLang="ko-KR" sz="700" dirty="0">
                  <a:latin typeface="+mn-ea"/>
                </a:rPr>
                <a:t>)</a:t>
              </a:r>
            </a:p>
          </p:txBody>
        </p:sp>
        <p:cxnSp>
          <p:nvCxnSpPr>
            <p:cNvPr id="171" name="직선 연결선 170">
              <a:extLst>
                <a:ext uri="{FF2B5EF4-FFF2-40B4-BE49-F238E27FC236}">
                  <a16:creationId xmlns:a16="http://schemas.microsoft.com/office/drawing/2014/main" id="{E9293055-D5CD-4B9E-7F64-64B2D2CA7A52}"/>
                </a:ext>
              </a:extLst>
            </p:cNvPr>
            <p:cNvCxnSpPr/>
            <p:nvPr/>
          </p:nvCxnSpPr>
          <p:spPr>
            <a:xfrm>
              <a:off x="3835003" y="2296278"/>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2" name="TextBox 171">
              <a:extLst>
                <a:ext uri="{FF2B5EF4-FFF2-40B4-BE49-F238E27FC236}">
                  <a16:creationId xmlns:a16="http://schemas.microsoft.com/office/drawing/2014/main" id="{FFC49AEA-2A8F-250C-A86A-A7751D9706C3}"/>
                </a:ext>
              </a:extLst>
            </p:cNvPr>
            <p:cNvSpPr txBox="1"/>
            <p:nvPr/>
          </p:nvSpPr>
          <p:spPr>
            <a:xfrm>
              <a:off x="5711020" y="1987968"/>
              <a:ext cx="118623" cy="107722"/>
            </a:xfrm>
            <a:prstGeom prst="rect">
              <a:avLst/>
            </a:prstGeom>
            <a:noFill/>
          </p:spPr>
          <p:txBody>
            <a:bodyPr wrap="none" lIns="0" tIns="0" rIns="0" bIns="0" rtlCol="0">
              <a:spAutoFit/>
            </a:bodyPr>
            <a:lstStyle/>
            <a:p>
              <a:pPr algn="r"/>
              <a:r>
                <a:rPr lang="en-US" altLang="ko-KR" sz="700" dirty="0">
                  <a:latin typeface="+mn-ea"/>
                </a:rPr>
                <a:t>1.0</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6390176" y="19879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4" name="TextBox 173">
              <a:extLst>
                <a:ext uri="{FF2B5EF4-FFF2-40B4-BE49-F238E27FC236}">
                  <a16:creationId xmlns:a16="http://schemas.microsoft.com/office/drawing/2014/main" id="{FFC49AEA-2A8F-250C-A86A-A7751D9706C3}"/>
                </a:ext>
              </a:extLst>
            </p:cNvPr>
            <p:cNvSpPr txBox="1"/>
            <p:nvPr/>
          </p:nvSpPr>
          <p:spPr>
            <a:xfrm>
              <a:off x="3922065" y="2335283"/>
              <a:ext cx="1480199" cy="646331"/>
            </a:xfrm>
            <a:prstGeom prst="rect">
              <a:avLst/>
            </a:prstGeom>
            <a:noFill/>
          </p:spPr>
          <p:txBody>
            <a:bodyPr wrap="square" lIns="0" tIns="0" rIns="0" bIns="0" rtlCol="0">
              <a:spAutoFit/>
            </a:bodyPr>
            <a:lstStyle/>
            <a:p>
              <a:r>
                <a:rPr lang="en-US" altLang="ko-KR" sz="700" dirty="0">
                  <a:latin typeface="+mn-ea"/>
                </a:rPr>
                <a:t>O.</a:t>
              </a:r>
              <a:r>
                <a:rPr lang="ko-KR" altLang="en-US" sz="700" dirty="0">
                  <a:latin typeface="+mn-ea"/>
                </a:rPr>
                <a:t>정규직전환기업</a:t>
              </a:r>
            </a:p>
            <a:p>
              <a:r>
                <a:rPr lang="en-US" altLang="ko-KR" sz="700" dirty="0">
                  <a:latin typeface="+mn-ea"/>
                </a:rPr>
                <a:t>- </a:t>
              </a:r>
              <a:r>
                <a:rPr lang="ko-KR" altLang="en-US" sz="700" dirty="0">
                  <a:latin typeface="+mn-ea"/>
                </a:rPr>
                <a:t>고용노동부로부터 정규직 전환 지원사업 대상자로 승인을 받은 기업으로서</a:t>
              </a:r>
              <a:r>
                <a:rPr lang="en-US" altLang="ko-KR" sz="700" dirty="0">
                  <a:latin typeface="+mn-ea"/>
                </a:rPr>
                <a:t>, </a:t>
              </a:r>
              <a:r>
                <a:rPr lang="ko-KR" altLang="en-US" sz="700" dirty="0">
                  <a:latin typeface="+mn-ea"/>
                </a:rPr>
                <a:t>입찰서 </a:t>
              </a:r>
              <a:r>
                <a:rPr lang="ko-KR" altLang="en-US" sz="700" dirty="0" err="1">
                  <a:latin typeface="+mn-ea"/>
                </a:rPr>
                <a:t>제출마감일</a:t>
              </a:r>
              <a:r>
                <a:rPr lang="ko-KR" altLang="en-US" sz="700" dirty="0">
                  <a:latin typeface="+mn-ea"/>
                </a:rPr>
                <a:t> 전일 기준 최근 </a:t>
              </a:r>
              <a:r>
                <a:rPr lang="en-US" altLang="ko-KR" sz="700" dirty="0">
                  <a:latin typeface="+mn-ea"/>
                </a:rPr>
                <a:t>1</a:t>
              </a:r>
              <a:r>
                <a:rPr lang="ko-KR" altLang="en-US" sz="700" dirty="0">
                  <a:latin typeface="+mn-ea"/>
                </a:rPr>
                <a:t>년 이내에 정규직 전환을 이행한 기업</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5711020" y="2604587"/>
              <a:ext cx="118623" cy="107722"/>
            </a:xfrm>
            <a:prstGeom prst="rect">
              <a:avLst/>
            </a:prstGeom>
            <a:noFill/>
          </p:spPr>
          <p:txBody>
            <a:bodyPr wrap="none" lIns="0" tIns="0" rIns="0" bIns="0" rtlCol="0">
              <a:spAutoFit/>
            </a:bodyPr>
            <a:lstStyle/>
            <a:p>
              <a:pPr algn="r"/>
              <a:r>
                <a:rPr lang="en-US" altLang="ko-KR" sz="700" dirty="0">
                  <a:latin typeface="+mn-ea"/>
                </a:rPr>
                <a:t>2.0</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6390176" y="260458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80" name="직선 연결선 179">
              <a:extLst>
                <a:ext uri="{FF2B5EF4-FFF2-40B4-BE49-F238E27FC236}">
                  <a16:creationId xmlns:a16="http://schemas.microsoft.com/office/drawing/2014/main" id="{E9293055-D5CD-4B9E-7F64-64B2D2CA7A52}"/>
                </a:ext>
              </a:extLst>
            </p:cNvPr>
            <p:cNvCxnSpPr/>
            <p:nvPr/>
          </p:nvCxnSpPr>
          <p:spPr>
            <a:xfrm>
              <a:off x="3832498" y="38916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1" name="TextBox 180">
              <a:extLst>
                <a:ext uri="{FF2B5EF4-FFF2-40B4-BE49-F238E27FC236}">
                  <a16:creationId xmlns:a16="http://schemas.microsoft.com/office/drawing/2014/main" id="{FFC49AEA-2A8F-250C-A86A-A7751D9706C3}"/>
                </a:ext>
              </a:extLst>
            </p:cNvPr>
            <p:cNvSpPr txBox="1"/>
            <p:nvPr/>
          </p:nvSpPr>
          <p:spPr>
            <a:xfrm>
              <a:off x="6390176" y="40384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2" name="TextBox 181">
              <a:extLst>
                <a:ext uri="{FF2B5EF4-FFF2-40B4-BE49-F238E27FC236}">
                  <a16:creationId xmlns:a16="http://schemas.microsoft.com/office/drawing/2014/main" id="{FFC49AEA-2A8F-250C-A86A-A7751D9706C3}"/>
                </a:ext>
              </a:extLst>
            </p:cNvPr>
            <p:cNvSpPr txBox="1"/>
            <p:nvPr/>
          </p:nvSpPr>
          <p:spPr>
            <a:xfrm>
              <a:off x="3919560" y="3930692"/>
              <a:ext cx="1480199" cy="323165"/>
            </a:xfrm>
            <a:prstGeom prst="rect">
              <a:avLst/>
            </a:prstGeom>
            <a:noFill/>
          </p:spPr>
          <p:txBody>
            <a:bodyPr wrap="square" lIns="0" tIns="0" rIns="0" bIns="0" rtlCol="0">
              <a:spAutoFit/>
            </a:bodyPr>
            <a:lstStyle/>
            <a:p>
              <a:r>
                <a:rPr lang="en-US" altLang="ko-KR" sz="700" dirty="0">
                  <a:latin typeface="+mn-ea"/>
                </a:rPr>
                <a:t>Q.</a:t>
              </a:r>
              <a:r>
                <a:rPr lang="ko-KR" altLang="en-US" sz="700" dirty="0">
                  <a:latin typeface="+mn-ea"/>
                </a:rPr>
                <a:t>노동시간단축 조기도입기입</a:t>
              </a:r>
            </a:p>
            <a:p>
              <a:r>
                <a:rPr lang="en-US" altLang="ko-KR" sz="700" dirty="0">
                  <a:latin typeface="+mn-ea"/>
                </a:rPr>
                <a:t>  - </a:t>
              </a:r>
              <a:r>
                <a:rPr lang="ko-KR" altLang="en-US" sz="700" dirty="0">
                  <a:latin typeface="+mn-ea"/>
                </a:rPr>
                <a:t>정부의 노동시간단축 일정보다 </a:t>
              </a:r>
              <a:r>
                <a:rPr lang="en-US" altLang="ko-KR" sz="700" dirty="0">
                  <a:latin typeface="+mn-ea"/>
                </a:rPr>
                <a:t>1</a:t>
              </a:r>
              <a:r>
                <a:rPr lang="ko-KR" altLang="en-US" sz="700" dirty="0" err="1">
                  <a:latin typeface="+mn-ea"/>
                </a:rPr>
                <a:t>년이상</a:t>
              </a:r>
              <a:r>
                <a:rPr lang="ko-KR" altLang="en-US" sz="700" dirty="0">
                  <a:latin typeface="+mn-ea"/>
                </a:rPr>
                <a:t> 앞당긴 기업</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5708515" y="4038413"/>
              <a:ext cx="118623"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cxnSp>
          <p:nvCxnSpPr>
            <p:cNvPr id="204" name="직선 연결선 203">
              <a:extLst>
                <a:ext uri="{FF2B5EF4-FFF2-40B4-BE49-F238E27FC236}">
                  <a16:creationId xmlns:a16="http://schemas.microsoft.com/office/drawing/2014/main" id="{E9293055-D5CD-4B9E-7F64-64B2D2CA7A52}"/>
                </a:ext>
              </a:extLst>
            </p:cNvPr>
            <p:cNvCxnSpPr/>
            <p:nvPr/>
          </p:nvCxnSpPr>
          <p:spPr>
            <a:xfrm>
              <a:off x="3832498" y="42928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7" name="TextBox 206">
              <a:extLst>
                <a:ext uri="{FF2B5EF4-FFF2-40B4-BE49-F238E27FC236}">
                  <a16:creationId xmlns:a16="http://schemas.microsoft.com/office/drawing/2014/main" id="{FFC49AEA-2A8F-250C-A86A-A7751D9706C3}"/>
                </a:ext>
              </a:extLst>
            </p:cNvPr>
            <p:cNvSpPr txBox="1"/>
            <p:nvPr/>
          </p:nvSpPr>
          <p:spPr>
            <a:xfrm>
              <a:off x="6390176" y="340229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3059624"/>
              <a:ext cx="1480199" cy="107722"/>
            </a:xfrm>
            <a:prstGeom prst="rect">
              <a:avLst/>
            </a:prstGeom>
            <a:noFill/>
          </p:spPr>
          <p:txBody>
            <a:bodyPr wrap="square" lIns="0" tIns="0" rIns="0" bIns="0" rtlCol="0">
              <a:spAutoFit/>
            </a:bodyPr>
            <a:lstStyle/>
            <a:p>
              <a:r>
                <a:rPr lang="en-US" altLang="ko-KR" sz="700" dirty="0">
                  <a:latin typeface="+mn-ea"/>
                </a:rPr>
                <a:t>P.</a:t>
              </a:r>
              <a:r>
                <a:rPr lang="ko-KR" altLang="en-US" sz="700" dirty="0">
                  <a:latin typeface="+mn-ea"/>
                </a:rPr>
                <a:t>청년고용 우수기업</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451" y="3206351"/>
              <a:ext cx="118687" cy="430887"/>
            </a:xfrm>
            <a:prstGeom prst="rect">
              <a:avLst/>
            </a:prstGeom>
            <a:noFill/>
          </p:spPr>
          <p:txBody>
            <a:bodyPr wrap="none" lIns="0" tIns="0" rIns="0" bIns="0" rtlCol="0">
              <a:spAutoFit/>
            </a:bodyPr>
            <a:lstStyle/>
            <a:p>
              <a:pPr algn="r"/>
              <a:r>
                <a:rPr lang="en-US" altLang="ko-KR" sz="700" dirty="0">
                  <a:latin typeface="+mn-ea"/>
                </a:rPr>
                <a:t>1.0</a:t>
              </a:r>
            </a:p>
            <a:p>
              <a:pPr algn="r"/>
              <a:endParaRPr lang="en-US" altLang="ko-KR" sz="700" dirty="0">
                <a:latin typeface="+mn-ea"/>
              </a:endParaRPr>
            </a:p>
            <a:p>
              <a:pPr algn="r"/>
              <a:endParaRPr lang="en-US" altLang="ko-KR" sz="700" dirty="0">
                <a:latin typeface="+mn-ea"/>
              </a:endParaRPr>
            </a:p>
            <a:p>
              <a:pPr algn="r"/>
              <a:r>
                <a:rPr lang="en-US" altLang="ko-KR" sz="700" dirty="0">
                  <a:latin typeface="+mn-ea"/>
                </a:rPr>
                <a:t>0.5</a:t>
              </a:r>
              <a:endParaRPr lang="ko-KR" altLang="en-US"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3919560" y="3206351"/>
              <a:ext cx="1480199" cy="646331"/>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개월 평균 청년고용률이 </a:t>
              </a:r>
              <a:r>
                <a:rPr lang="en-US" altLang="ko-KR" sz="700" dirty="0">
                  <a:latin typeface="+mn-ea"/>
                </a:rPr>
                <a:t>10%</a:t>
              </a:r>
              <a:r>
                <a:rPr lang="ko-KR" altLang="en-US" sz="700" dirty="0">
                  <a:latin typeface="+mn-ea"/>
                </a:rPr>
                <a:t>이상이면서 최근 </a:t>
              </a:r>
              <a:r>
                <a:rPr lang="en-US" altLang="ko-KR" sz="700" dirty="0">
                  <a:latin typeface="+mn-ea"/>
                </a:rPr>
                <a:t>3</a:t>
              </a:r>
              <a:r>
                <a:rPr lang="ko-KR" altLang="en-US" sz="700" dirty="0">
                  <a:latin typeface="+mn-ea"/>
                </a:rPr>
                <a:t>개월 평균 청년종업원이 </a:t>
              </a:r>
              <a:r>
                <a:rPr lang="en-US" altLang="ko-KR" sz="700" dirty="0">
                  <a:latin typeface="+mn-ea"/>
                </a:rPr>
                <a:t>10</a:t>
              </a:r>
              <a:r>
                <a:rPr lang="ko-KR" altLang="en-US" sz="700" dirty="0">
                  <a:latin typeface="+mn-ea"/>
                </a:rPr>
                <a:t>인 이상인 기업</a:t>
              </a: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개월 평균 청년고용률이 </a:t>
              </a:r>
              <a:r>
                <a:rPr lang="en-US" altLang="ko-KR" sz="700" dirty="0">
                  <a:latin typeface="+mn-ea"/>
                </a:rPr>
                <a:t>5%</a:t>
              </a:r>
              <a:r>
                <a:rPr lang="ko-KR" altLang="en-US" sz="700" dirty="0">
                  <a:latin typeface="+mn-ea"/>
                </a:rPr>
                <a:t>이상이면서 최근 </a:t>
              </a:r>
              <a:r>
                <a:rPr lang="en-US" altLang="ko-KR" sz="700" dirty="0">
                  <a:latin typeface="+mn-ea"/>
                </a:rPr>
                <a:t>3</a:t>
              </a:r>
              <a:r>
                <a:rPr lang="ko-KR" altLang="en-US" sz="700" dirty="0">
                  <a:latin typeface="+mn-ea"/>
                </a:rPr>
                <a:t>개월 평균 청년종업원이 </a:t>
              </a:r>
              <a:r>
                <a:rPr lang="en-US" altLang="ko-KR" sz="700" dirty="0">
                  <a:latin typeface="+mn-ea"/>
                </a:rPr>
                <a:t>5</a:t>
              </a:r>
              <a:r>
                <a:rPr lang="ko-KR" altLang="en-US" sz="700" dirty="0">
                  <a:latin typeface="+mn-ea"/>
                </a:rPr>
                <a:t>인 이상인 기업</a:t>
              </a:r>
            </a:p>
          </p:txBody>
        </p:sp>
        <p:cxnSp>
          <p:nvCxnSpPr>
            <p:cNvPr id="211" name="직선 연결선 210">
              <a:extLst>
                <a:ext uri="{FF2B5EF4-FFF2-40B4-BE49-F238E27FC236}">
                  <a16:creationId xmlns:a16="http://schemas.microsoft.com/office/drawing/2014/main" id="{E9293055-D5CD-4B9E-7F64-64B2D2CA7A52}"/>
                </a:ext>
              </a:extLst>
            </p:cNvPr>
            <p:cNvCxnSpPr/>
            <p:nvPr/>
          </p:nvCxnSpPr>
          <p:spPr>
            <a:xfrm>
              <a:off x="3832498" y="30206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FFC49AEA-2A8F-250C-A86A-A7751D9706C3}"/>
                </a:ext>
              </a:extLst>
            </p:cNvPr>
            <p:cNvSpPr txBox="1"/>
            <p:nvPr/>
          </p:nvSpPr>
          <p:spPr>
            <a:xfrm>
              <a:off x="6390176" y="44395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3919560" y="4331867"/>
              <a:ext cx="1480199" cy="323165"/>
            </a:xfrm>
            <a:prstGeom prst="rect">
              <a:avLst/>
            </a:prstGeom>
            <a:noFill/>
          </p:spPr>
          <p:txBody>
            <a:bodyPr wrap="square" lIns="0" tIns="0" rIns="0" bIns="0" rtlCol="0">
              <a:spAutoFit/>
            </a:bodyPr>
            <a:lstStyle/>
            <a:p>
              <a:r>
                <a:rPr lang="en-US" altLang="ko-KR" sz="700" dirty="0">
                  <a:latin typeface="+mn-ea"/>
                </a:rPr>
                <a:t>R.</a:t>
              </a:r>
              <a:r>
                <a:rPr lang="ko-KR" altLang="en-US" sz="700" dirty="0" err="1">
                  <a:latin typeface="+mn-ea"/>
                </a:rPr>
                <a:t>재기기업</a:t>
              </a:r>
              <a:endParaRPr lang="ko-KR" altLang="en-US" sz="700" dirty="0">
                <a:latin typeface="+mn-ea"/>
              </a:endParaRP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err="1">
                  <a:latin typeface="+mn-ea"/>
                </a:rPr>
                <a:t>년이내</a:t>
              </a:r>
              <a:r>
                <a:rPr lang="ko-KR" altLang="en-US" sz="700" dirty="0">
                  <a:latin typeface="+mn-ea"/>
                </a:rPr>
                <a:t> 중소벤처기업부로부터 </a:t>
              </a:r>
              <a:r>
                <a:rPr lang="ko-KR" altLang="en-US" sz="700" dirty="0" err="1">
                  <a:latin typeface="+mn-ea"/>
                </a:rPr>
                <a:t>재창업</a:t>
              </a:r>
              <a:r>
                <a:rPr lang="ko-KR" altLang="en-US" sz="700" dirty="0">
                  <a:latin typeface="+mn-ea"/>
                </a:rPr>
                <a:t> 프로그램 지원받은 기업</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5708515" y="4439588"/>
              <a:ext cx="118623"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cxnSp>
          <p:nvCxnSpPr>
            <p:cNvPr id="227" name="직선 연결선 226">
              <a:extLst>
                <a:ext uri="{FF2B5EF4-FFF2-40B4-BE49-F238E27FC236}">
                  <a16:creationId xmlns:a16="http://schemas.microsoft.com/office/drawing/2014/main" id="{E9293055-D5CD-4B9E-7F64-64B2D2CA7A52}"/>
                </a:ext>
              </a:extLst>
            </p:cNvPr>
            <p:cNvCxnSpPr/>
            <p:nvPr/>
          </p:nvCxnSpPr>
          <p:spPr>
            <a:xfrm>
              <a:off x="3832498" y="46940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3" name="TextBox 232">
              <a:extLst>
                <a:ext uri="{FF2B5EF4-FFF2-40B4-BE49-F238E27FC236}">
                  <a16:creationId xmlns:a16="http://schemas.microsoft.com/office/drawing/2014/main" id="{FFC49AEA-2A8F-250C-A86A-A7751D9706C3}"/>
                </a:ext>
              </a:extLst>
            </p:cNvPr>
            <p:cNvSpPr txBox="1"/>
            <p:nvPr/>
          </p:nvSpPr>
          <p:spPr>
            <a:xfrm>
              <a:off x="6390176" y="48946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34" name="TextBox 233">
              <a:extLst>
                <a:ext uri="{FF2B5EF4-FFF2-40B4-BE49-F238E27FC236}">
                  <a16:creationId xmlns:a16="http://schemas.microsoft.com/office/drawing/2014/main" id="{FFC49AEA-2A8F-250C-A86A-A7751D9706C3}"/>
                </a:ext>
              </a:extLst>
            </p:cNvPr>
            <p:cNvSpPr txBox="1"/>
            <p:nvPr/>
          </p:nvSpPr>
          <p:spPr>
            <a:xfrm>
              <a:off x="3919560" y="4733042"/>
              <a:ext cx="1480199" cy="430887"/>
            </a:xfrm>
            <a:prstGeom prst="rect">
              <a:avLst/>
            </a:prstGeom>
            <a:noFill/>
          </p:spPr>
          <p:txBody>
            <a:bodyPr wrap="square" lIns="0" tIns="0" rIns="0" bIns="0" rtlCol="0">
              <a:spAutoFit/>
            </a:bodyPr>
            <a:lstStyle/>
            <a:p>
              <a:r>
                <a:rPr lang="en-US" altLang="ko-KR" sz="700" dirty="0">
                  <a:latin typeface="+mn-ea"/>
                </a:rPr>
                <a:t>S.</a:t>
              </a:r>
              <a:r>
                <a:rPr lang="ko-KR" altLang="en-US" sz="700" dirty="0">
                  <a:latin typeface="+mn-ea"/>
                </a:rPr>
                <a:t>사업전환계획 </a:t>
              </a:r>
              <a:r>
                <a:rPr lang="ko-KR" altLang="en-US" sz="700" dirty="0" err="1">
                  <a:latin typeface="+mn-ea"/>
                </a:rPr>
                <a:t>승인기업</a:t>
              </a:r>
              <a:endParaRPr lang="ko-KR" altLang="en-US" sz="700" dirty="0">
                <a:latin typeface="+mn-ea"/>
              </a:endParaRP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년 이내 중소기업 사업전환 촉진에 관한 특별법 제</a:t>
              </a:r>
              <a:r>
                <a:rPr lang="en-US" altLang="ko-KR" sz="700" dirty="0">
                  <a:latin typeface="+mn-ea"/>
                </a:rPr>
                <a:t>8</a:t>
              </a:r>
              <a:r>
                <a:rPr lang="ko-KR" altLang="en-US" sz="700" dirty="0">
                  <a:latin typeface="+mn-ea"/>
                </a:rPr>
                <a:t>조에 따른 사업전환계획 승인을 받은 기업</a:t>
              </a:r>
            </a:p>
          </p:txBody>
        </p:sp>
        <p:sp>
          <p:nvSpPr>
            <p:cNvPr id="235" name="TextBox 234">
              <a:extLst>
                <a:ext uri="{FF2B5EF4-FFF2-40B4-BE49-F238E27FC236}">
                  <a16:creationId xmlns:a16="http://schemas.microsoft.com/office/drawing/2014/main" id="{FFC49AEA-2A8F-250C-A86A-A7751D9706C3}"/>
                </a:ext>
              </a:extLst>
            </p:cNvPr>
            <p:cNvSpPr txBox="1"/>
            <p:nvPr/>
          </p:nvSpPr>
          <p:spPr>
            <a:xfrm>
              <a:off x="5708515" y="489462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39" name="직선 연결선 238">
              <a:extLst>
                <a:ext uri="{FF2B5EF4-FFF2-40B4-BE49-F238E27FC236}">
                  <a16:creationId xmlns:a16="http://schemas.microsoft.com/office/drawing/2014/main" id="{E9293055-D5CD-4B9E-7F64-64B2D2CA7A52}"/>
                </a:ext>
              </a:extLst>
            </p:cNvPr>
            <p:cNvCxnSpPr/>
            <p:nvPr/>
          </p:nvCxnSpPr>
          <p:spPr>
            <a:xfrm>
              <a:off x="3832498" y="52029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3832498" y="60739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6390176" y="558460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7" name="TextBox 246">
              <a:extLst>
                <a:ext uri="{FF2B5EF4-FFF2-40B4-BE49-F238E27FC236}">
                  <a16:creationId xmlns:a16="http://schemas.microsoft.com/office/drawing/2014/main" id="{FFC49AEA-2A8F-250C-A86A-A7751D9706C3}"/>
                </a:ext>
              </a:extLst>
            </p:cNvPr>
            <p:cNvSpPr txBox="1"/>
            <p:nvPr/>
          </p:nvSpPr>
          <p:spPr>
            <a:xfrm>
              <a:off x="3919560" y="5241939"/>
              <a:ext cx="1480199" cy="430887"/>
            </a:xfrm>
            <a:prstGeom prst="rect">
              <a:avLst/>
            </a:prstGeom>
            <a:noFill/>
          </p:spPr>
          <p:txBody>
            <a:bodyPr wrap="square" lIns="0" tIns="0" rIns="0" bIns="0" rtlCol="0">
              <a:spAutoFit/>
            </a:bodyPr>
            <a:lstStyle/>
            <a:p>
              <a:r>
                <a:rPr lang="en-US" altLang="ko-KR" sz="700" dirty="0">
                  <a:latin typeface="+mn-ea"/>
                </a:rPr>
                <a:t>T.</a:t>
              </a:r>
              <a:r>
                <a:rPr lang="ko-KR" altLang="en-US" sz="700" dirty="0" err="1">
                  <a:latin typeface="+mn-ea"/>
                </a:rPr>
                <a:t>스마트공장</a:t>
              </a:r>
              <a:r>
                <a:rPr lang="ko-KR" altLang="en-US" sz="700" dirty="0">
                  <a:latin typeface="+mn-ea"/>
                </a:rPr>
                <a:t> </a:t>
              </a:r>
              <a:r>
                <a:rPr lang="ko-KR" altLang="en-US" sz="700" dirty="0" err="1">
                  <a:latin typeface="+mn-ea"/>
                </a:rPr>
                <a:t>수준확인</a:t>
              </a:r>
              <a:r>
                <a:rPr lang="ko-KR" altLang="en-US" sz="700" dirty="0">
                  <a:latin typeface="+mn-ea"/>
                </a:rPr>
                <a:t> 기업</a:t>
              </a:r>
            </a:p>
            <a:p>
              <a:r>
                <a:rPr lang="en-US" altLang="ko-KR" sz="700" dirty="0">
                  <a:latin typeface="+mn-ea"/>
                </a:rPr>
                <a:t>  - </a:t>
              </a:r>
              <a:r>
                <a:rPr lang="ko-KR" altLang="en-US" sz="700" dirty="0">
                  <a:latin typeface="+mn-ea"/>
                </a:rPr>
                <a:t>중소벤처기업부장관이 지정한 기관으로부터 </a:t>
              </a:r>
              <a:r>
                <a:rPr lang="ko-KR" altLang="en-US" sz="700" dirty="0" err="1">
                  <a:latin typeface="+mn-ea"/>
                </a:rPr>
                <a:t>스마트공장</a:t>
              </a:r>
              <a:r>
                <a:rPr lang="ko-KR" altLang="en-US" sz="700" dirty="0">
                  <a:latin typeface="+mn-ea"/>
                </a:rPr>
                <a:t> </a:t>
              </a:r>
              <a:r>
                <a:rPr lang="ko-KR" altLang="en-US" sz="700" dirty="0" err="1">
                  <a:latin typeface="+mn-ea"/>
                </a:rPr>
                <a:t>수준확인을</a:t>
              </a:r>
              <a:r>
                <a:rPr lang="ko-KR" altLang="en-US" sz="700" dirty="0">
                  <a:latin typeface="+mn-ea"/>
                </a:rPr>
                <a:t> 받은 기업으로서</a:t>
              </a:r>
            </a:p>
          </p:txBody>
        </p:sp>
        <p:sp>
          <p:nvSpPr>
            <p:cNvPr id="248" name="TextBox 247">
              <a:extLst>
                <a:ext uri="{FF2B5EF4-FFF2-40B4-BE49-F238E27FC236}">
                  <a16:creationId xmlns:a16="http://schemas.microsoft.com/office/drawing/2014/main" id="{FFC49AEA-2A8F-250C-A86A-A7751D9706C3}"/>
                </a:ext>
              </a:extLst>
            </p:cNvPr>
            <p:cNvSpPr txBox="1"/>
            <p:nvPr/>
          </p:nvSpPr>
          <p:spPr>
            <a:xfrm>
              <a:off x="5708516" y="5711831"/>
              <a:ext cx="118622" cy="323165"/>
            </a:xfrm>
            <a:prstGeom prst="rect">
              <a:avLst/>
            </a:prstGeom>
            <a:noFill/>
          </p:spPr>
          <p:txBody>
            <a:bodyPr wrap="none" lIns="0" tIns="0" rIns="0" bIns="0" rtlCol="0">
              <a:spAutoFit/>
            </a:bodyPr>
            <a:lstStyle/>
            <a:p>
              <a:pPr algn="r"/>
              <a:r>
                <a:rPr lang="en-US" altLang="ko-KR" sz="700" dirty="0">
                  <a:latin typeface="+mn-ea"/>
                </a:rPr>
                <a:t>1.0</a:t>
              </a:r>
            </a:p>
            <a:p>
              <a:pPr algn="r"/>
              <a:r>
                <a:rPr lang="en-US" altLang="ko-KR" sz="700" dirty="0">
                  <a:latin typeface="+mn-ea"/>
                </a:rPr>
                <a:t>2.0</a:t>
              </a:r>
            </a:p>
            <a:p>
              <a:pPr algn="r"/>
              <a:r>
                <a:rPr lang="en-US" altLang="ko-KR" sz="700" dirty="0">
                  <a:latin typeface="+mn-ea"/>
                </a:rPr>
                <a:t>3.0</a:t>
              </a:r>
            </a:p>
          </p:txBody>
        </p:sp>
        <p:sp>
          <p:nvSpPr>
            <p:cNvPr id="249" name="TextBox 248">
              <a:extLst>
                <a:ext uri="{FF2B5EF4-FFF2-40B4-BE49-F238E27FC236}">
                  <a16:creationId xmlns:a16="http://schemas.microsoft.com/office/drawing/2014/main" id="{FFC49AEA-2A8F-250C-A86A-A7751D9706C3}"/>
                </a:ext>
              </a:extLst>
            </p:cNvPr>
            <p:cNvSpPr txBox="1"/>
            <p:nvPr/>
          </p:nvSpPr>
          <p:spPr>
            <a:xfrm>
              <a:off x="3919560" y="5711831"/>
              <a:ext cx="1480199" cy="323165"/>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1∼2 </a:t>
              </a:r>
              <a:r>
                <a:rPr lang="ko-KR" altLang="en-US" sz="700" dirty="0">
                  <a:latin typeface="+mn-ea"/>
                </a:rPr>
                <a:t>등급</a:t>
              </a:r>
            </a:p>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3 </a:t>
              </a:r>
              <a:r>
                <a:rPr lang="ko-KR" altLang="en-US" sz="700" dirty="0">
                  <a:latin typeface="+mn-ea"/>
                </a:rPr>
                <a:t>등급</a:t>
              </a:r>
            </a:p>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4∼5 </a:t>
              </a:r>
              <a:r>
                <a:rPr lang="ko-KR" altLang="en-US" sz="700" dirty="0">
                  <a:latin typeface="+mn-ea"/>
                </a:rPr>
                <a:t>등급</a:t>
              </a:r>
            </a:p>
          </p:txBody>
        </p:sp>
        <p:cxnSp>
          <p:nvCxnSpPr>
            <p:cNvPr id="250" name="직선 연결선 249">
              <a:extLst>
                <a:ext uri="{FF2B5EF4-FFF2-40B4-BE49-F238E27FC236}">
                  <a16:creationId xmlns:a16="http://schemas.microsoft.com/office/drawing/2014/main" id="{E9293055-D5CD-4B9E-7F64-64B2D2CA7A52}"/>
                </a:ext>
              </a:extLst>
            </p:cNvPr>
            <p:cNvCxnSpPr/>
            <p:nvPr/>
          </p:nvCxnSpPr>
          <p:spPr>
            <a:xfrm>
              <a:off x="3835003" y="1493927"/>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97" name="그룹 96"/>
          <p:cNvGrpSpPr/>
          <p:nvPr/>
        </p:nvGrpSpPr>
        <p:grpSpPr>
          <a:xfrm>
            <a:off x="3795734" y="1492460"/>
            <a:ext cx="2712027" cy="2839069"/>
            <a:chOff x="675399" y="1492460"/>
            <a:chExt cx="2712027" cy="2839069"/>
          </a:xfrm>
        </p:grpSpPr>
        <p:sp>
          <p:nvSpPr>
            <p:cNvPr id="98" name="직사각형 97"/>
            <p:cNvSpPr/>
            <p:nvPr/>
          </p:nvSpPr>
          <p:spPr>
            <a:xfrm>
              <a:off x="718007" y="2176768"/>
              <a:ext cx="1639886" cy="18288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805070" y="217676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00" name="TextBox 99">
              <a:extLst>
                <a:ext uri="{FF2B5EF4-FFF2-40B4-BE49-F238E27FC236}">
                  <a16:creationId xmlns:a16="http://schemas.microsoft.com/office/drawing/2014/main" id="{FFC49AEA-2A8F-250C-A86A-A7751D9706C3}"/>
                </a:ext>
              </a:extLst>
            </p:cNvPr>
            <p:cNvSpPr txBox="1"/>
            <p:nvPr/>
          </p:nvSpPr>
          <p:spPr>
            <a:xfrm>
              <a:off x="2533112" y="21767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715915" y="21767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18008" y="2391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18008" y="280680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715915" y="320650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718008" y="30066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FFC49AEA-2A8F-250C-A86A-A7751D9706C3}"/>
                </a:ext>
              </a:extLst>
            </p:cNvPr>
            <p:cNvSpPr txBox="1"/>
            <p:nvPr/>
          </p:nvSpPr>
          <p:spPr>
            <a:xfrm>
              <a:off x="776886" y="1492460"/>
              <a:ext cx="2535669" cy="646331"/>
            </a:xfrm>
            <a:prstGeom prst="rect">
              <a:avLst/>
            </a:prstGeom>
            <a:noFill/>
          </p:spPr>
          <p:txBody>
            <a:bodyPr wrap="square" lIns="0" tIns="0" rIns="0" bIns="0" rtlCol="0">
              <a:spAutoFit/>
            </a:bodyPr>
            <a:lstStyle/>
            <a:p>
              <a:pPr>
                <a:lnSpc>
                  <a:spcPct val="200000"/>
                </a:lnSpc>
              </a:pPr>
              <a:r>
                <a:rPr lang="en-US" altLang="ko-KR" sz="700" b="1" dirty="0">
                  <a:latin typeface="+mn-ea"/>
                </a:rPr>
                <a:t>2. </a:t>
              </a:r>
              <a:r>
                <a:rPr lang="ko-KR" altLang="en-US" sz="700" b="1" dirty="0">
                  <a:latin typeface="+mn-ea"/>
                </a:rPr>
                <a:t>계약이행 성실도</a:t>
              </a:r>
              <a:endParaRPr lang="en-US" altLang="ko-KR" sz="700" b="1"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 </a:t>
              </a:r>
              <a:r>
                <a:rPr lang="ko-KR" altLang="en-US" sz="700" dirty="0" err="1">
                  <a:latin typeface="+mn-ea"/>
                </a:rPr>
                <a:t>납품지연</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지체일수</a:t>
              </a:r>
              <a:endParaRPr lang="ko-KR" altLang="en-US" sz="700" dirty="0">
                <a:latin typeface="+mn-ea"/>
              </a:endParaRPr>
            </a:p>
          </p:txBody>
        </p:sp>
        <p:sp>
          <p:nvSpPr>
            <p:cNvPr id="137" name="TextBox 136">
              <a:extLst>
                <a:ext uri="{FF2B5EF4-FFF2-40B4-BE49-F238E27FC236}">
                  <a16:creationId xmlns:a16="http://schemas.microsoft.com/office/drawing/2014/main" id="{FFC49AEA-2A8F-250C-A86A-A7751D9706C3}"/>
                </a:ext>
              </a:extLst>
            </p:cNvPr>
            <p:cNvSpPr txBox="1"/>
            <p:nvPr/>
          </p:nvSpPr>
          <p:spPr>
            <a:xfrm>
              <a:off x="2953482" y="21767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805070" y="2437572"/>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6</a:t>
              </a:r>
              <a:r>
                <a:rPr lang="ko-KR" altLang="en-US" sz="700" dirty="0">
                  <a:latin typeface="+mn-ea"/>
                </a:rPr>
                <a:t>개월 이내에 조달청</a:t>
              </a:r>
              <a:r>
                <a:rPr lang="en-US" altLang="ko-KR" sz="700" dirty="0">
                  <a:latin typeface="+mn-ea"/>
                </a:rPr>
                <a:t>(</a:t>
              </a:r>
              <a:r>
                <a:rPr lang="ko-KR" altLang="en-US" sz="700" dirty="0">
                  <a:latin typeface="+mn-ea"/>
                </a:rPr>
                <a:t>또는 당해 </a:t>
              </a:r>
              <a:r>
                <a:rPr lang="ko-KR" altLang="en-US" sz="700" dirty="0" err="1">
                  <a:latin typeface="+mn-ea"/>
                </a:rPr>
                <a:t>구매기관</a:t>
              </a:r>
              <a:r>
                <a:rPr lang="en-US" altLang="ko-KR" sz="700" dirty="0">
                  <a:latin typeface="+mn-ea"/>
                </a:rPr>
                <a:t>)</a:t>
              </a:r>
              <a:r>
                <a:rPr lang="ko-KR" altLang="en-US" sz="700" dirty="0">
                  <a:latin typeface="+mn-ea"/>
                </a:rPr>
                <a:t>과의 계약이행 과정에서 지체상금 부과를 받은 자</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2675779" y="24937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805070" y="28528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75</a:t>
              </a:r>
              <a:r>
                <a:rPr lang="ko-KR" altLang="en-US" sz="700" dirty="0">
                  <a:latin typeface="+mn-ea"/>
                </a:rPr>
                <a:t>일 이상</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805070" y="30527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60</a:t>
              </a:r>
              <a:r>
                <a:rPr lang="ko-KR" altLang="en-US" sz="700" dirty="0">
                  <a:latin typeface="+mn-ea"/>
                </a:rPr>
                <a:t>일 이상 </a:t>
              </a:r>
              <a:r>
                <a:rPr lang="en-US" altLang="ko-KR" sz="700" dirty="0">
                  <a:latin typeface="+mn-ea"/>
                </a:rPr>
                <a:t>75</a:t>
              </a:r>
              <a:r>
                <a:rPr lang="ko-KR" altLang="en-US" sz="700" dirty="0">
                  <a:latin typeface="+mn-ea"/>
                </a:rPr>
                <a:t>일 미만</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2557156" y="2859668"/>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2507463" y="3056867"/>
              <a:ext cx="205185" cy="107722"/>
            </a:xfrm>
            <a:prstGeom prst="rect">
              <a:avLst/>
            </a:prstGeom>
            <a:noFill/>
          </p:spPr>
          <p:txBody>
            <a:bodyPr wrap="none" lIns="0" tIns="0" rIns="0" bIns="0" rtlCol="0">
              <a:spAutoFit/>
            </a:bodyPr>
            <a:lstStyle/>
            <a:p>
              <a:pPr algn="r"/>
              <a:r>
                <a:rPr lang="en-US" altLang="ko-KR" sz="700" dirty="0">
                  <a:latin typeface="+mn-ea"/>
                </a:rPr>
                <a:t>-1.75</a:t>
              </a:r>
              <a:endParaRPr lang="ko-KR" altLang="en-US" sz="700" dirty="0">
                <a:latin typeface="+mn-ea"/>
              </a:endParaRPr>
            </a:p>
          </p:txBody>
        </p:sp>
        <p:sp>
          <p:nvSpPr>
            <p:cNvPr id="151" name="TextBox 150">
              <a:extLst>
                <a:ext uri="{FF2B5EF4-FFF2-40B4-BE49-F238E27FC236}">
                  <a16:creationId xmlns:a16="http://schemas.microsoft.com/office/drawing/2014/main" id="{FFC49AEA-2A8F-250C-A86A-A7751D9706C3}"/>
                </a:ext>
              </a:extLst>
            </p:cNvPr>
            <p:cNvSpPr txBox="1"/>
            <p:nvPr/>
          </p:nvSpPr>
          <p:spPr>
            <a:xfrm>
              <a:off x="3275686" y="31446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54" name="직선 연결선 153">
              <a:extLst>
                <a:ext uri="{FF2B5EF4-FFF2-40B4-BE49-F238E27FC236}">
                  <a16:creationId xmlns:a16="http://schemas.microsoft.com/office/drawing/2014/main" id="{E9293055-D5CD-4B9E-7F64-64B2D2CA7A52}"/>
                </a:ext>
              </a:extLst>
            </p:cNvPr>
            <p:cNvCxnSpPr/>
            <p:nvPr/>
          </p:nvCxnSpPr>
          <p:spPr>
            <a:xfrm>
              <a:off x="718008" y="40055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15915" y="360620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18008" y="34063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8" name="TextBox 167">
              <a:extLst>
                <a:ext uri="{FF2B5EF4-FFF2-40B4-BE49-F238E27FC236}">
                  <a16:creationId xmlns:a16="http://schemas.microsoft.com/office/drawing/2014/main" id="{FFC49AEA-2A8F-250C-A86A-A7751D9706C3}"/>
                </a:ext>
              </a:extLst>
            </p:cNvPr>
            <p:cNvSpPr txBox="1"/>
            <p:nvPr/>
          </p:nvSpPr>
          <p:spPr>
            <a:xfrm>
              <a:off x="805070" y="32525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45</a:t>
              </a:r>
              <a:r>
                <a:rPr lang="ko-KR" altLang="en-US" sz="700" dirty="0">
                  <a:latin typeface="+mn-ea"/>
                </a:rPr>
                <a:t>일 이상 </a:t>
              </a:r>
              <a:r>
                <a:rPr lang="en-US" altLang="ko-KR" sz="700" dirty="0">
                  <a:latin typeface="+mn-ea"/>
                </a:rPr>
                <a:t>60</a:t>
              </a:r>
              <a:r>
                <a:rPr lang="ko-KR" altLang="en-US" sz="700" dirty="0">
                  <a:latin typeface="+mn-ea"/>
                </a:rPr>
                <a:t>일 미만</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805070" y="34524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30</a:t>
              </a:r>
              <a:r>
                <a:rPr lang="ko-KR" altLang="en-US" sz="700" dirty="0">
                  <a:latin typeface="+mn-ea"/>
                </a:rPr>
                <a:t>일 이상 </a:t>
              </a:r>
              <a:r>
                <a:rPr lang="en-US" altLang="ko-KR" sz="700" dirty="0">
                  <a:latin typeface="+mn-ea"/>
                </a:rPr>
                <a:t>45</a:t>
              </a:r>
              <a:r>
                <a:rPr lang="ko-KR" altLang="en-US" sz="700" dirty="0">
                  <a:latin typeface="+mn-ea"/>
                </a:rPr>
                <a:t>일 미만</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2557156" y="3249519"/>
              <a:ext cx="15549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85" name="TextBox 184">
              <a:extLst>
                <a:ext uri="{FF2B5EF4-FFF2-40B4-BE49-F238E27FC236}">
                  <a16:creationId xmlns:a16="http://schemas.microsoft.com/office/drawing/2014/main" id="{FFC49AEA-2A8F-250C-A86A-A7751D9706C3}"/>
                </a:ext>
              </a:extLst>
            </p:cNvPr>
            <p:cNvSpPr txBox="1"/>
            <p:nvPr/>
          </p:nvSpPr>
          <p:spPr>
            <a:xfrm>
              <a:off x="2557156" y="3446718"/>
              <a:ext cx="15549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718008" y="38060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7" name="TextBox 186">
              <a:extLst>
                <a:ext uri="{FF2B5EF4-FFF2-40B4-BE49-F238E27FC236}">
                  <a16:creationId xmlns:a16="http://schemas.microsoft.com/office/drawing/2014/main" id="{FFC49AEA-2A8F-250C-A86A-A7751D9706C3}"/>
                </a:ext>
              </a:extLst>
            </p:cNvPr>
            <p:cNvSpPr txBox="1"/>
            <p:nvPr/>
          </p:nvSpPr>
          <p:spPr>
            <a:xfrm>
              <a:off x="805070" y="36522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이상 </a:t>
              </a:r>
              <a:r>
                <a:rPr lang="en-US" altLang="ko-KR" sz="700" dirty="0">
                  <a:latin typeface="+mn-ea"/>
                </a:rPr>
                <a:t>30</a:t>
              </a:r>
              <a:r>
                <a:rPr lang="ko-KR" altLang="en-US" sz="700" dirty="0">
                  <a:latin typeface="+mn-ea"/>
                </a:rPr>
                <a:t>일 미만</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805070" y="38521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미만</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2557156" y="3651366"/>
              <a:ext cx="15549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90" name="TextBox 189">
              <a:extLst>
                <a:ext uri="{FF2B5EF4-FFF2-40B4-BE49-F238E27FC236}">
                  <a16:creationId xmlns:a16="http://schemas.microsoft.com/office/drawing/2014/main" id="{FFC49AEA-2A8F-250C-A86A-A7751D9706C3}"/>
                </a:ext>
              </a:extLst>
            </p:cNvPr>
            <p:cNvSpPr txBox="1"/>
            <p:nvPr/>
          </p:nvSpPr>
          <p:spPr>
            <a:xfrm>
              <a:off x="2507463" y="3848565"/>
              <a:ext cx="205185"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675399" y="433152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2" name="TextBox 191">
              <a:extLst>
                <a:ext uri="{FF2B5EF4-FFF2-40B4-BE49-F238E27FC236}">
                  <a16:creationId xmlns:a16="http://schemas.microsoft.com/office/drawing/2014/main" id="{FFC49AEA-2A8F-250C-A86A-A7751D9706C3}"/>
                </a:ext>
              </a:extLst>
            </p:cNvPr>
            <p:cNvSpPr txBox="1"/>
            <p:nvPr/>
          </p:nvSpPr>
          <p:spPr>
            <a:xfrm>
              <a:off x="762145" y="4051863"/>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단</a:t>
              </a:r>
              <a:r>
                <a:rPr lang="en-US" altLang="ko-KR" sz="700" dirty="0">
                  <a:latin typeface="+mn-ea"/>
                </a:rPr>
                <a:t>, </a:t>
              </a:r>
              <a:r>
                <a:rPr lang="ko-KR" altLang="en-US" sz="700" dirty="0">
                  <a:latin typeface="+mn-ea"/>
                </a:rPr>
                <a:t>여러 건의 </a:t>
              </a:r>
              <a:r>
                <a:rPr lang="ko-KR" altLang="en-US" sz="700" dirty="0" err="1">
                  <a:latin typeface="+mn-ea"/>
                </a:rPr>
                <a:t>지체상금이</a:t>
              </a:r>
              <a:r>
                <a:rPr lang="ko-KR" altLang="en-US" sz="700" dirty="0">
                  <a:latin typeface="+mn-ea"/>
                </a:rPr>
                <a:t> 중복 부과된 경우의</a:t>
              </a:r>
              <a:endParaRPr lang="en-US" altLang="ko-KR" sz="700" dirty="0">
                <a:latin typeface="+mn-ea"/>
              </a:endParaRPr>
            </a:p>
            <a:p>
              <a:pPr lvl="0" algn="ctr" defTabSz="1013612">
                <a:defRPr/>
              </a:pPr>
              <a:r>
                <a:rPr lang="ko-KR" altLang="en-US" sz="700" dirty="0" err="1">
                  <a:latin typeface="+mn-ea"/>
                </a:rPr>
                <a:t>지체일수</a:t>
              </a:r>
              <a:r>
                <a:rPr lang="ko-KR" altLang="en-US" sz="700" dirty="0">
                  <a:latin typeface="+mn-ea"/>
                </a:rPr>
                <a:t> 계산은 합산한 기간으로 한다</a:t>
              </a:r>
              <a:r>
                <a:rPr lang="en-US" altLang="ko-KR" sz="700" dirty="0">
                  <a:latin typeface="+mn-ea"/>
                </a:rPr>
                <a:t>.</a:t>
              </a:r>
            </a:p>
          </p:txBody>
        </p:sp>
      </p:grpSp>
      <p:sp>
        <p:nvSpPr>
          <p:cNvPr id="81" name="타원 8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997498634"/>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241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55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고시금액이상</a:t>
            </a:r>
            <a:r>
              <a:rPr lang="en-US" altLang="ko-KR" dirty="0"/>
              <a:t>10</a:t>
            </a:r>
            <a:r>
              <a:rPr lang="ko-KR" altLang="en-US" dirty="0" err="1"/>
              <a:t>억원미만</a:t>
            </a:r>
            <a:r>
              <a:rPr lang="en-US" altLang="ko-KR" dirty="0"/>
              <a:t>(</a:t>
            </a:r>
            <a:r>
              <a:rPr lang="ko-KR" altLang="en-US" dirty="0" err="1"/>
              <a:t>중기청</a:t>
            </a:r>
            <a:r>
              <a:rPr lang="en-US" altLang="ko-KR" dirty="0"/>
              <a:t>) </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MUI-BD-10-M14</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719050" y="6232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716366" y="1492460"/>
            <a:ext cx="2630093" cy="3250601"/>
            <a:chOff x="3836701" y="1492460"/>
            <a:chExt cx="2630093" cy="3250601"/>
          </a:xfrm>
        </p:grpSpPr>
        <p:grpSp>
          <p:nvGrpSpPr>
            <p:cNvPr id="6" name="그룹 5"/>
            <p:cNvGrpSpPr/>
            <p:nvPr/>
          </p:nvGrpSpPr>
          <p:grpSpPr>
            <a:xfrm>
              <a:off x="3836701" y="1492460"/>
              <a:ext cx="2630093" cy="1091295"/>
              <a:chOff x="3806813" y="1707904"/>
              <a:chExt cx="2630093" cy="1091295"/>
            </a:xfrm>
          </p:grpSpPr>
          <p:sp>
            <p:nvSpPr>
              <p:cNvPr id="117" name="직사각형 116"/>
              <p:cNvSpPr/>
              <p:nvPr/>
            </p:nvSpPr>
            <p:spPr>
              <a:xfrm>
                <a:off x="3808905" y="2172131"/>
                <a:ext cx="1639886" cy="627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3895968" y="217213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5624010" y="217213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25" name="직선 연결선 124">
                <a:extLst>
                  <a:ext uri="{FF2B5EF4-FFF2-40B4-BE49-F238E27FC236}">
                    <a16:creationId xmlns:a16="http://schemas.microsoft.com/office/drawing/2014/main" id="{E9293055-D5CD-4B9E-7F64-64B2D2CA7A52}"/>
                  </a:ext>
                </a:extLst>
              </p:cNvPr>
              <p:cNvCxnSpPr/>
              <p:nvPr/>
            </p:nvCxnSpPr>
            <p:spPr>
              <a:xfrm>
                <a:off x="3806813" y="21721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3808906" y="23868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4" name="TextBox 143">
                <a:extLst>
                  <a:ext uri="{FF2B5EF4-FFF2-40B4-BE49-F238E27FC236}">
                    <a16:creationId xmlns:a16="http://schemas.microsoft.com/office/drawing/2014/main" id="{FFC49AEA-2A8F-250C-A86A-A7751D9706C3}"/>
                  </a:ext>
                </a:extLst>
              </p:cNvPr>
              <p:cNvSpPr txBox="1"/>
              <p:nvPr/>
            </p:nvSpPr>
            <p:spPr>
              <a:xfrm>
                <a:off x="3867784" y="1707904"/>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a:t>
                </a:r>
                <a:r>
                  <a:rPr lang="ko-KR" altLang="en-US" sz="700" dirty="0">
                    <a:latin typeface="+mn-ea"/>
                  </a:rPr>
                  <a:t>불공정 하도급 거래</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하도급법</a:t>
                </a:r>
                <a:r>
                  <a:rPr lang="ko-KR" altLang="en-US" sz="700" dirty="0">
                    <a:latin typeface="+mn-ea"/>
                  </a:rPr>
                  <a:t> </a:t>
                </a:r>
                <a:r>
                  <a:rPr lang="ko-KR" altLang="en-US" sz="700" dirty="0" err="1">
                    <a:latin typeface="+mn-ea"/>
                  </a:rPr>
                  <a:t>위반정도</a:t>
                </a:r>
                <a:endParaRPr lang="ko-KR" altLang="en-US" sz="700" dirty="0">
                  <a:latin typeface="+mn-ea"/>
                </a:endParaRPr>
              </a:p>
            </p:txBody>
          </p:sp>
          <p:sp>
            <p:nvSpPr>
              <p:cNvPr id="145" name="TextBox 144">
                <a:extLst>
                  <a:ext uri="{FF2B5EF4-FFF2-40B4-BE49-F238E27FC236}">
                    <a16:creationId xmlns:a16="http://schemas.microsoft.com/office/drawing/2014/main" id="{FFC49AEA-2A8F-250C-A86A-A7751D9706C3}"/>
                  </a:ext>
                </a:extLst>
              </p:cNvPr>
              <p:cNvSpPr txBox="1"/>
              <p:nvPr/>
            </p:nvSpPr>
            <p:spPr>
              <a:xfrm>
                <a:off x="6044380" y="217213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3895968" y="2432934"/>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1</a:t>
                </a:r>
                <a:r>
                  <a:rPr lang="ko-KR" altLang="en-US" sz="700" dirty="0" err="1">
                    <a:latin typeface="+mn-ea"/>
                  </a:rPr>
                  <a:t>년이내에</a:t>
                </a:r>
                <a:r>
                  <a:rPr lang="ko-KR" altLang="en-US" sz="700" dirty="0">
                    <a:latin typeface="+mn-ea"/>
                  </a:rPr>
                  <a:t> 공정거래위원장으로부터 하도급 상습범위반자로 통보 받은 자</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5648054" y="2540655"/>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366584" y="254065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3808906" y="27991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2" name="직사각형 211"/>
            <p:cNvSpPr/>
            <p:nvPr/>
          </p:nvSpPr>
          <p:spPr>
            <a:xfrm>
              <a:off x="3838793" y="3097009"/>
              <a:ext cx="1639886" cy="164605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3" name="TextBox 212">
              <a:extLst>
                <a:ext uri="{FF2B5EF4-FFF2-40B4-BE49-F238E27FC236}">
                  <a16:creationId xmlns:a16="http://schemas.microsoft.com/office/drawing/2014/main" id="{FFC49AEA-2A8F-250C-A86A-A7751D9706C3}"/>
                </a:ext>
              </a:extLst>
            </p:cNvPr>
            <p:cNvSpPr txBox="1"/>
            <p:nvPr/>
          </p:nvSpPr>
          <p:spPr>
            <a:xfrm>
              <a:off x="3925856" y="309700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5653898" y="309700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15" name="직선 연결선 214">
              <a:extLst>
                <a:ext uri="{FF2B5EF4-FFF2-40B4-BE49-F238E27FC236}">
                  <a16:creationId xmlns:a16="http://schemas.microsoft.com/office/drawing/2014/main" id="{E9293055-D5CD-4B9E-7F64-64B2D2CA7A52}"/>
                </a:ext>
              </a:extLst>
            </p:cNvPr>
            <p:cNvCxnSpPr/>
            <p:nvPr/>
          </p:nvCxnSpPr>
          <p:spPr>
            <a:xfrm>
              <a:off x="3836701" y="309700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3838794" y="33117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3897672" y="2632783"/>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a:t>
              </a:r>
              <a:r>
                <a:rPr lang="ko-KR" altLang="en-US" sz="700" dirty="0">
                  <a:latin typeface="+mn-ea"/>
                </a:rPr>
                <a:t>부정당업자제재</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부정당업자로 </a:t>
              </a:r>
              <a:r>
                <a:rPr lang="ko-KR" altLang="en-US" sz="700" dirty="0" err="1">
                  <a:latin typeface="+mn-ea"/>
                </a:rPr>
                <a:t>제재받은</a:t>
              </a:r>
              <a:r>
                <a:rPr lang="ko-KR" altLang="en-US" sz="700" dirty="0">
                  <a:latin typeface="+mn-ea"/>
                </a:rPr>
                <a:t> </a:t>
              </a:r>
              <a:r>
                <a:rPr lang="ko-KR" altLang="en-US" sz="700" dirty="0" err="1">
                  <a:latin typeface="+mn-ea"/>
                </a:rPr>
                <a:t>총제재기간</a:t>
              </a:r>
              <a:endParaRPr lang="ko-KR" altLang="en-US" sz="700" dirty="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6074268" y="309700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3925856" y="3357813"/>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2</a:t>
              </a:r>
              <a:r>
                <a:rPr lang="ko-KR" altLang="en-US" sz="700" dirty="0">
                  <a:latin typeface="+mn-ea"/>
                </a:rPr>
                <a:t>년 이내 부정당업자 제재를 받은 자로서 부정당업자 </a:t>
              </a:r>
              <a:r>
                <a:rPr lang="ko-KR" altLang="en-US" sz="700" dirty="0" err="1">
                  <a:latin typeface="+mn-ea"/>
                </a:rPr>
                <a:t>제재기간</a:t>
              </a:r>
              <a:r>
                <a:rPr lang="ko-KR" altLang="en-US" sz="700" dirty="0">
                  <a:latin typeface="+mn-ea"/>
                </a:rPr>
                <a:t> 종료일이 입찰공고일로부터 </a:t>
              </a:r>
              <a:r>
                <a:rPr lang="en-US" altLang="ko-KR" sz="700" dirty="0">
                  <a:latin typeface="+mn-ea"/>
                </a:rPr>
                <a:t>2</a:t>
              </a:r>
              <a:r>
                <a:rPr lang="ko-KR" altLang="en-US" sz="700" dirty="0">
                  <a:latin typeface="+mn-ea"/>
                </a:rPr>
                <a:t>년 이내에 포함된 전체 부정당업자 제재 건의 총 </a:t>
              </a:r>
              <a:r>
                <a:rPr lang="ko-KR" altLang="en-US" sz="700" dirty="0" err="1">
                  <a:latin typeface="+mn-ea"/>
                </a:rPr>
                <a:t>제재기간에</a:t>
              </a:r>
              <a:r>
                <a:rPr lang="ko-KR" altLang="en-US" sz="700" dirty="0">
                  <a:latin typeface="+mn-ea"/>
                </a:rPr>
                <a:t> 따라</a:t>
              </a:r>
            </a:p>
          </p:txBody>
        </p:sp>
        <p:sp>
          <p:nvSpPr>
            <p:cNvPr id="220" name="TextBox 219">
              <a:extLst>
                <a:ext uri="{FF2B5EF4-FFF2-40B4-BE49-F238E27FC236}">
                  <a16:creationId xmlns:a16="http://schemas.microsoft.com/office/drawing/2014/main" id="{FFC49AEA-2A8F-250C-A86A-A7751D9706C3}"/>
                </a:ext>
              </a:extLst>
            </p:cNvPr>
            <p:cNvSpPr txBox="1"/>
            <p:nvPr/>
          </p:nvSpPr>
          <p:spPr>
            <a:xfrm>
              <a:off x="5677879" y="3920768"/>
              <a:ext cx="155555" cy="754053"/>
            </a:xfrm>
            <a:prstGeom prst="rect">
              <a:avLst/>
            </a:prstGeom>
            <a:noFill/>
          </p:spPr>
          <p:txBody>
            <a:bodyPr wrap="none" lIns="0" tIns="0" rIns="0" bIns="0" rtlCol="0">
              <a:spAutoFit/>
            </a:bodyPr>
            <a:lstStyle/>
            <a:p>
              <a:pPr algn="r"/>
              <a:r>
                <a:rPr lang="en-US" altLang="ko-KR" sz="700" dirty="0">
                  <a:latin typeface="+mn-ea"/>
                </a:rPr>
                <a:t>-2.0</a:t>
              </a:r>
            </a:p>
            <a:p>
              <a:pPr algn="r"/>
              <a:endParaRPr lang="en-US" altLang="ko-KR" sz="700" dirty="0">
                <a:latin typeface="+mn-ea"/>
              </a:endParaRPr>
            </a:p>
            <a:p>
              <a:pPr algn="r"/>
              <a:r>
                <a:rPr lang="en-US" altLang="ko-KR" sz="700" dirty="0">
                  <a:latin typeface="+mn-ea"/>
                </a:rPr>
                <a:t>-1.5</a:t>
              </a:r>
            </a:p>
            <a:p>
              <a:pPr algn="r"/>
              <a:endParaRPr lang="en-US" altLang="ko-KR" sz="700" dirty="0">
                <a:latin typeface="+mn-ea"/>
              </a:endParaRPr>
            </a:p>
            <a:p>
              <a:pPr algn="r"/>
              <a:r>
                <a:rPr lang="en-US" altLang="ko-KR" sz="700" dirty="0">
                  <a:latin typeface="+mn-ea"/>
                </a:rPr>
                <a:t>-1.0</a:t>
              </a:r>
            </a:p>
            <a:p>
              <a:pPr algn="r"/>
              <a:endParaRPr lang="en-US" altLang="ko-KR" sz="700" dirty="0">
                <a:latin typeface="+mn-ea"/>
              </a:endParaRPr>
            </a:p>
            <a:p>
              <a:pPr algn="r"/>
              <a:r>
                <a:rPr lang="en-US" altLang="ko-KR" sz="700" dirty="0">
                  <a:latin typeface="+mn-ea"/>
                </a:rPr>
                <a:t>-0.5</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6396472" y="397354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33" name="직선 연결선 232">
              <a:extLst>
                <a:ext uri="{FF2B5EF4-FFF2-40B4-BE49-F238E27FC236}">
                  <a16:creationId xmlns:a16="http://schemas.microsoft.com/office/drawing/2014/main" id="{E9293055-D5CD-4B9E-7F64-64B2D2CA7A52}"/>
                </a:ext>
              </a:extLst>
            </p:cNvPr>
            <p:cNvCxnSpPr/>
            <p:nvPr/>
          </p:nvCxnSpPr>
          <p:spPr>
            <a:xfrm>
              <a:off x="3838794" y="47430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4" name="TextBox 233">
              <a:extLst>
                <a:ext uri="{FF2B5EF4-FFF2-40B4-BE49-F238E27FC236}">
                  <a16:creationId xmlns:a16="http://schemas.microsoft.com/office/drawing/2014/main" id="{FFC49AEA-2A8F-250C-A86A-A7751D9706C3}"/>
                </a:ext>
              </a:extLst>
            </p:cNvPr>
            <p:cNvSpPr txBox="1"/>
            <p:nvPr/>
          </p:nvSpPr>
          <p:spPr>
            <a:xfrm>
              <a:off x="3925856" y="3920768"/>
              <a:ext cx="1480199" cy="754053"/>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총 </a:t>
              </a:r>
              <a:r>
                <a:rPr lang="ko-KR" altLang="en-US" sz="700" dirty="0" err="1">
                  <a:latin typeface="+mn-ea"/>
                </a:rPr>
                <a:t>제재기간이</a:t>
              </a:r>
              <a:r>
                <a:rPr lang="ko-KR" altLang="en-US" sz="700" dirty="0">
                  <a:latin typeface="+mn-ea"/>
                </a:rPr>
                <a:t> </a:t>
              </a:r>
              <a:r>
                <a:rPr lang="en-US" altLang="ko-KR" sz="700" dirty="0">
                  <a:latin typeface="+mn-ea"/>
                </a:rPr>
                <a:t>1</a:t>
              </a:r>
              <a:r>
                <a:rPr lang="ko-KR" altLang="en-US" sz="700" dirty="0">
                  <a:latin typeface="+mn-ea"/>
                </a:rPr>
                <a:t>년 </a:t>
              </a:r>
              <a:r>
                <a:rPr lang="en-US" altLang="ko-KR" sz="700" dirty="0">
                  <a:latin typeface="+mn-ea"/>
                </a:rPr>
                <a:t>6</a:t>
              </a:r>
              <a:r>
                <a:rPr lang="ko-KR" altLang="en-US" sz="700" dirty="0">
                  <a:latin typeface="+mn-ea"/>
                </a:rPr>
                <a:t>개월 이상인 경우</a:t>
              </a:r>
            </a:p>
            <a:p>
              <a:r>
                <a:rPr lang="en-US" altLang="ko-KR" sz="700" dirty="0">
                  <a:latin typeface="+mn-ea"/>
                </a:rPr>
                <a:t>  - </a:t>
              </a:r>
              <a:r>
                <a:rPr lang="ko-KR" altLang="en-US" sz="700" dirty="0">
                  <a:latin typeface="+mn-ea"/>
                </a:rPr>
                <a:t>총제재기간이 </a:t>
              </a:r>
              <a:r>
                <a:rPr lang="en-US" altLang="ko-KR" sz="700" dirty="0">
                  <a:latin typeface="+mn-ea"/>
                </a:rPr>
                <a:t>1</a:t>
              </a:r>
              <a:r>
                <a:rPr lang="ko-KR" altLang="en-US" sz="700" dirty="0" err="1">
                  <a:latin typeface="+mn-ea"/>
                </a:rPr>
                <a:t>년이상</a:t>
              </a:r>
              <a:r>
                <a:rPr lang="en-US" altLang="ko-KR" sz="700" dirty="0">
                  <a:latin typeface="+mn-ea"/>
                </a:rPr>
                <a:t>~1</a:t>
              </a:r>
              <a:r>
                <a:rPr lang="ko-KR" altLang="en-US" sz="700" dirty="0">
                  <a:latin typeface="+mn-ea"/>
                </a:rPr>
                <a:t>년 </a:t>
              </a:r>
              <a:r>
                <a:rPr lang="en-US" altLang="ko-KR" sz="700" dirty="0">
                  <a:latin typeface="+mn-ea"/>
                </a:rPr>
                <a:t>6</a:t>
              </a:r>
              <a:r>
                <a:rPr lang="ko-KR" altLang="en-US" sz="700" dirty="0">
                  <a:latin typeface="+mn-ea"/>
                </a:rPr>
                <a:t>개월 미만인 경우</a:t>
              </a:r>
            </a:p>
            <a:p>
              <a:r>
                <a:rPr lang="en-US" altLang="ko-KR" sz="700" dirty="0">
                  <a:latin typeface="+mn-ea"/>
                </a:rPr>
                <a:t>  - </a:t>
              </a:r>
              <a:r>
                <a:rPr lang="ko-KR" altLang="en-US" sz="700" dirty="0">
                  <a:latin typeface="+mn-ea"/>
                </a:rPr>
                <a:t>총제재기간이 </a:t>
              </a:r>
              <a:r>
                <a:rPr lang="en-US" altLang="ko-KR" sz="700" dirty="0">
                  <a:latin typeface="+mn-ea"/>
                </a:rPr>
                <a:t>6</a:t>
              </a:r>
              <a:r>
                <a:rPr lang="ko-KR" altLang="en-US" sz="700" dirty="0">
                  <a:latin typeface="+mn-ea"/>
                </a:rPr>
                <a:t>개월 이상</a:t>
              </a:r>
              <a:r>
                <a:rPr lang="en-US" altLang="ko-KR" sz="700" dirty="0">
                  <a:latin typeface="+mn-ea"/>
                </a:rPr>
                <a:t>~ 1</a:t>
              </a:r>
              <a:r>
                <a:rPr lang="ko-KR" altLang="en-US" sz="700" dirty="0">
                  <a:latin typeface="+mn-ea"/>
                </a:rPr>
                <a:t>년 미만인 경우</a:t>
              </a:r>
            </a:p>
            <a:p>
              <a:r>
                <a:rPr lang="en-US" altLang="ko-KR" sz="700" dirty="0">
                  <a:latin typeface="+mn-ea"/>
                </a:rPr>
                <a:t>  - </a:t>
              </a:r>
              <a:r>
                <a:rPr lang="ko-KR" altLang="en-US" sz="700" dirty="0">
                  <a:latin typeface="+mn-ea"/>
                </a:rPr>
                <a:t>총제재기간이 </a:t>
              </a:r>
              <a:r>
                <a:rPr lang="en-US" altLang="ko-KR" sz="700" dirty="0">
                  <a:latin typeface="+mn-ea"/>
                </a:rPr>
                <a:t>6</a:t>
              </a:r>
              <a:r>
                <a:rPr lang="ko-KR" altLang="en-US" sz="700" dirty="0">
                  <a:latin typeface="+mn-ea"/>
                </a:rPr>
                <a:t>개월 미만인 경우</a:t>
              </a:r>
            </a:p>
          </p:txBody>
        </p:sp>
      </p:grpSp>
      <p:sp>
        <p:nvSpPr>
          <p:cNvPr id="35" name="타원 34">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029464677"/>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242</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2025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기술능력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경영상태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입찰가격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r h="0">
                <a:tc>
                  <a:txBody>
                    <a:bodyPr/>
                    <a:lstStyle/>
                    <a:p>
                      <a:pPr latinLnBrk="1"/>
                      <a:r>
                        <a:rPr lang="ko-KR" altLang="en-US" sz="800" dirty="0">
                          <a:latin typeface="+mn-ea"/>
                          <a:ea typeface="+mn-ea"/>
                        </a:rPr>
                        <a:t>신인도 소계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소계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2990251"/>
                  </a:ext>
                </a:extLst>
              </a:tr>
              <a:tr h="0">
                <a:tc>
                  <a:txBody>
                    <a:bodyPr/>
                    <a:lstStyle/>
                    <a:p>
                      <a:pPr latinLnBrk="1"/>
                      <a:r>
                        <a:rPr lang="ko-KR" altLang="en-US" sz="800" dirty="0">
                          <a:latin typeface="+mn-ea"/>
                          <a:ea typeface="+mn-ea"/>
                        </a:rPr>
                        <a:t>고도인증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고도인증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녹색 일반인증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녹색 일반인증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영세기업 지원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영세기업 지원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5698955"/>
                  </a:ext>
                </a:extLst>
              </a:tr>
              <a:tr h="0">
                <a:tc>
                  <a:txBody>
                    <a:bodyPr/>
                    <a:lstStyle/>
                    <a:p>
                      <a:pPr latinLnBrk="1"/>
                      <a:r>
                        <a:rPr lang="ko-KR" altLang="en-US" sz="800" dirty="0">
                          <a:latin typeface="+mn-ea"/>
                          <a:ea typeface="+mn-ea"/>
                        </a:rPr>
                        <a:t>기타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기타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6802221"/>
                  </a:ext>
                </a:extLst>
              </a:tr>
              <a:tr h="0">
                <a:tc>
                  <a:txBody>
                    <a:bodyPr/>
                    <a:lstStyle/>
                    <a:p>
                      <a:pPr latinLnBrk="1"/>
                      <a:r>
                        <a:rPr lang="ko-KR" altLang="en-US" sz="800" dirty="0">
                          <a:latin typeface="+mn-ea"/>
                          <a:ea typeface="+mn-ea"/>
                        </a:rPr>
                        <a:t>계약이행 성실도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계약이행 성실도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1598892"/>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12" name="TextBox 11">
            <a:extLst>
              <a:ext uri="{FF2B5EF4-FFF2-40B4-BE49-F238E27FC236}">
                <a16:creationId xmlns:a16="http://schemas.microsoft.com/office/drawing/2014/main" id="{60055083-8CC2-EBAB-95A2-A3D16C277F81}"/>
              </a:ext>
            </a:extLst>
          </p:cNvPr>
          <p:cNvSpPr txBox="1"/>
          <p:nvPr/>
        </p:nvSpPr>
        <p:spPr>
          <a:xfrm>
            <a:off x="465794" y="4401118"/>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납품실적</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15EC443-8860-14E7-541D-015B26B2064C}"/>
              </a:ext>
            </a:extLst>
          </p:cNvPr>
          <p:cNvGraphicFramePr>
            <a:graphicFrameLocks noGrp="1"/>
          </p:cNvGraphicFramePr>
          <p:nvPr/>
        </p:nvGraphicFramePr>
        <p:xfrm>
          <a:off x="460676" y="4684872"/>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2" name="TextBox 1">
            <a:extLst>
              <a:ext uri="{FF2B5EF4-FFF2-40B4-BE49-F238E27FC236}">
                <a16:creationId xmlns:a16="http://schemas.microsoft.com/office/drawing/2014/main" id="{CF6EE605-D329-0E4A-EC7A-0D70FDFF872A}"/>
              </a:ext>
            </a:extLst>
          </p:cNvPr>
          <p:cNvSpPr txBox="1"/>
          <p:nvPr/>
        </p:nvSpPr>
        <p:spPr>
          <a:xfrm>
            <a:off x="460676" y="5236830"/>
            <a:ext cx="2499650"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기술평가등급</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A3124163-486D-5877-BEB7-0B70A2F4F6E8}"/>
              </a:ext>
            </a:extLst>
          </p:cNvPr>
          <p:cNvGraphicFramePr>
            <a:graphicFrameLocks noGrp="1"/>
          </p:cNvGraphicFramePr>
          <p:nvPr/>
        </p:nvGraphicFramePr>
        <p:xfrm>
          <a:off x="455558" y="5520584"/>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기술평가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T1</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 Box 73">
            <a:extLst>
              <a:ext uri="{FF2B5EF4-FFF2-40B4-BE49-F238E27FC236}">
                <a16:creationId xmlns:a16="http://schemas.microsoft.com/office/drawing/2014/main" id="{321C08F5-AF91-C3F4-1F3D-88A2A572576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605157142"/>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243</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bl>
          </a:graphicData>
        </a:graphic>
      </p:graphicFrame>
      <p:sp>
        <p:nvSpPr>
          <p:cNvPr id="7" name="TextBox 6">
            <a:extLst>
              <a:ext uri="{FF2B5EF4-FFF2-40B4-BE49-F238E27FC236}">
                <a16:creationId xmlns:a16="http://schemas.microsoft.com/office/drawing/2014/main" id="{002DB944-9A86-DB50-83C8-56D81D2F8947}"/>
              </a:ext>
            </a:extLst>
          </p:cNvPr>
          <p:cNvSpPr txBox="1"/>
          <p:nvPr/>
        </p:nvSpPr>
        <p:spPr>
          <a:xfrm>
            <a:off x="460676" y="1786381"/>
            <a:ext cx="2810632"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입찰가격 산출 내역</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874B79DF-4B71-7668-9963-F2A7028A1184}"/>
              </a:ext>
            </a:extLst>
          </p:cNvPr>
          <p:cNvGraphicFramePr>
            <a:graphicFrameLocks noGrp="1"/>
          </p:cNvGraphicFramePr>
          <p:nvPr/>
        </p:nvGraphicFramePr>
        <p:xfrm>
          <a:off x="455558" y="2070135"/>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9" name="TextBox 8">
            <a:extLst>
              <a:ext uri="{FF2B5EF4-FFF2-40B4-BE49-F238E27FC236}">
                <a16:creationId xmlns:a16="http://schemas.microsoft.com/office/drawing/2014/main" id="{64334A2E-767A-4047-AC34-A53EACC0931E}"/>
              </a:ext>
            </a:extLst>
          </p:cNvPr>
          <p:cNvSpPr txBox="1"/>
          <p:nvPr/>
        </p:nvSpPr>
        <p:spPr>
          <a:xfrm>
            <a:off x="458117" y="3254635"/>
            <a:ext cx="2926048"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품질관리 등 신뢰정도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ABBA4E91-49C4-0678-2224-431AAC654FFD}"/>
              </a:ext>
            </a:extLst>
          </p:cNvPr>
          <p:cNvGraphicFramePr>
            <a:graphicFrameLocks noGrp="1"/>
          </p:cNvGraphicFramePr>
          <p:nvPr/>
        </p:nvGraphicFramePr>
        <p:xfrm>
          <a:off x="452999" y="3538389"/>
          <a:ext cx="8994883" cy="2476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고도인증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고도인증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녹색 일반인증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녹색 일반인증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478834"/>
                  </a:ext>
                </a:extLst>
              </a:tr>
              <a:tr h="0">
                <a:tc>
                  <a:txBody>
                    <a:bodyPr/>
                    <a:lstStyle/>
                    <a:p>
                      <a:pPr latinLnBrk="1"/>
                      <a:r>
                        <a:rPr lang="ko-KR" altLang="en-US" sz="800" dirty="0">
                          <a:latin typeface="+mn-ea"/>
                          <a:ea typeface="+mn-ea"/>
                        </a:rPr>
                        <a:t>공동수급체 구성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공동수급체 구성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6462414"/>
                  </a:ext>
                </a:extLst>
              </a:tr>
              <a:tr h="0">
                <a:tc>
                  <a:txBody>
                    <a:bodyPr/>
                    <a:lstStyle/>
                    <a:p>
                      <a:pPr latinLnBrk="1"/>
                      <a:r>
                        <a:rPr lang="ko-KR" altLang="en-US" sz="800" dirty="0">
                          <a:latin typeface="+mn-ea"/>
                          <a:ea typeface="+mn-ea"/>
                        </a:rPr>
                        <a:t>소기업 출자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smentpInvstExmgrdScr</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출자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64568076"/>
                  </a:ext>
                </a:extLst>
              </a:tr>
              <a:tr h="0">
                <a:tc>
                  <a:txBody>
                    <a:bodyPr/>
                    <a:lstStyle/>
                    <a:p>
                      <a:pPr latinLnBrk="1"/>
                      <a:r>
                        <a:rPr lang="ko-KR" altLang="en-US" sz="800" dirty="0">
                          <a:latin typeface="+mn-ea"/>
                          <a:ea typeface="+mn-ea"/>
                        </a:rPr>
                        <a:t>지역업체 출자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rgnBzentyInvstExmgrdScr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지역업체 출자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3623245"/>
                  </a:ext>
                </a:extLst>
              </a:tr>
              <a:tr h="0">
                <a:tc>
                  <a:txBody>
                    <a:bodyPr/>
                    <a:lstStyle/>
                    <a:p>
                      <a:pPr latinLnBrk="1"/>
                      <a:r>
                        <a:rPr lang="ko-KR" altLang="en-US" sz="800" dirty="0">
                          <a:latin typeface="+mn-ea"/>
                          <a:ea typeface="+mn-ea"/>
                        </a:rPr>
                        <a:t>소기업 또는 소상공인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또는 소상공인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4125833"/>
                  </a:ext>
                </a:extLst>
              </a:tr>
              <a:tr h="0">
                <a:tc>
                  <a:txBody>
                    <a:bodyPr/>
                    <a:lstStyle/>
                    <a:p>
                      <a:pPr latinLnBrk="1"/>
                      <a:r>
                        <a:rPr lang="ko-KR" altLang="en-US" sz="800" dirty="0">
                          <a:latin typeface="+mn-ea"/>
                          <a:ea typeface="+mn-ea"/>
                        </a:rPr>
                        <a:t>조달업무 우수업체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조달업무 우수업체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4129523"/>
                  </a:ext>
                </a:extLst>
              </a:tr>
              <a:tr h="0">
                <a:tc>
                  <a:txBody>
                    <a:bodyPr/>
                    <a:lstStyle/>
                    <a:p>
                      <a:pPr latinLnBrk="1"/>
                      <a:r>
                        <a:rPr lang="ko-KR" altLang="en-US" sz="800" dirty="0">
                          <a:latin typeface="+mn-ea"/>
                          <a:ea typeface="+mn-ea"/>
                        </a:rPr>
                        <a:t>여성기업지원 및 여성고용촉진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fmlSprtExmgrdScr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여성기업지원 및 여성고용촉진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2385708"/>
                  </a:ext>
                </a:extLst>
              </a:tr>
            </a:tbl>
          </a:graphicData>
        </a:graphic>
      </p:graphicFrame>
      <p:sp>
        <p:nvSpPr>
          <p:cNvPr id="2" name="TextBox 1">
            <a:extLst>
              <a:ext uri="{FF2B5EF4-FFF2-40B4-BE49-F238E27FC236}">
                <a16:creationId xmlns:a16="http://schemas.microsoft.com/office/drawing/2014/main" id="{9588777E-9D7A-8EAF-AB18-5D4676CA1A3C}"/>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380A701B-37E6-21A0-3712-5D7B150A4BE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1" name="TextBox 10">
            <a:extLst>
              <a:ext uri="{FF2B5EF4-FFF2-40B4-BE49-F238E27FC236}">
                <a16:creationId xmlns:a16="http://schemas.microsoft.com/office/drawing/2014/main" id="{E548BF2E-8AE1-5322-9BD9-C779D16A54FD}"/>
              </a:ext>
            </a:extLst>
          </p:cNvPr>
          <p:cNvSpPr txBox="1"/>
          <p:nvPr/>
        </p:nvSpPr>
        <p:spPr>
          <a:xfrm>
            <a:off x="458117" y="803113"/>
            <a:ext cx="2961314"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err="1">
                <a:solidFill>
                  <a:prstClr val="black"/>
                </a:solidFill>
              </a:rPr>
              <a:t>당해물품납품이행능력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spTree>
    <p:extLst>
      <p:ext uri="{BB962C8B-B14F-4D97-AF65-F5344CB8AC3E}">
        <p14:creationId xmlns:p14="http://schemas.microsoft.com/office/powerpoint/2010/main" val="136088007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244</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967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장애인기업지원 및 장애인 고용촉진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pwdbsSprtExmgrdScr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장애인기업지원 및 장애인 고용촉진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7728715"/>
                  </a:ext>
                </a:extLst>
              </a:tr>
              <a:tr h="0">
                <a:tc>
                  <a:txBody>
                    <a:bodyPr/>
                    <a:lstStyle/>
                    <a:p>
                      <a:pPr latinLnBrk="1"/>
                      <a:r>
                        <a:rPr lang="ko-KR" altLang="en-US" sz="800" dirty="0">
                          <a:latin typeface="+mn-ea"/>
                          <a:ea typeface="+mn-ea"/>
                        </a:rPr>
                        <a:t>신규채용 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신규채용 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0080893"/>
                  </a:ext>
                </a:extLst>
              </a:tr>
              <a:tr h="0">
                <a:tc>
                  <a:txBody>
                    <a:bodyPr/>
                    <a:lstStyle/>
                    <a:p>
                      <a:pPr latinLnBrk="1"/>
                      <a:r>
                        <a:rPr lang="ko-KR" altLang="en-US" sz="800" dirty="0">
                          <a:latin typeface="+mn-ea"/>
                          <a:ea typeface="+mn-ea"/>
                        </a:rPr>
                        <a:t>혁신형 중소기업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혁신형 중소기업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69439496"/>
                  </a:ext>
                </a:extLst>
              </a:tr>
              <a:tr h="0">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frclsGdsExmgrdScr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수출우수기업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수출우수기업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기타</a:t>
                      </a:r>
                      <a:r>
                        <a:rPr lang="en-US" altLang="ko-KR" sz="800" dirty="0">
                          <a:latin typeface="+mn-ea"/>
                          <a:ea typeface="+mn-ea"/>
                        </a:rPr>
                        <a:t>2 </a:t>
                      </a:r>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2 </a:t>
                      </a:r>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bl>
          </a:graphicData>
        </a:graphic>
      </p:graphicFrame>
      <p:sp>
        <p:nvSpPr>
          <p:cNvPr id="9" name="TextBox 8">
            <a:extLst>
              <a:ext uri="{FF2B5EF4-FFF2-40B4-BE49-F238E27FC236}">
                <a16:creationId xmlns:a16="http://schemas.microsoft.com/office/drawing/2014/main" id="{64334A2E-767A-4047-AC34-A53EACC0931E}"/>
              </a:ext>
            </a:extLst>
          </p:cNvPr>
          <p:cNvSpPr txBox="1"/>
          <p:nvPr/>
        </p:nvSpPr>
        <p:spPr>
          <a:xfrm>
            <a:off x="458117" y="3237210"/>
            <a:ext cx="2655141"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계약이행 성실도 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ABBA4E91-49C4-0678-2224-431AAC654FFD}"/>
              </a:ext>
            </a:extLst>
          </p:cNvPr>
          <p:cNvGraphicFramePr>
            <a:graphicFrameLocks noGrp="1"/>
          </p:cNvGraphicFramePr>
          <p:nvPr/>
        </p:nvGraphicFramePr>
        <p:xfrm>
          <a:off x="452999" y="3520964"/>
          <a:ext cx="8994883"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계약이행 성실도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계약이행 성실도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Box 4">
            <a:extLst>
              <a:ext uri="{FF2B5EF4-FFF2-40B4-BE49-F238E27FC236}">
                <a16:creationId xmlns:a16="http://schemas.microsoft.com/office/drawing/2014/main" id="{17703D63-C6B6-8B7B-09A1-3B94BDAF2652}"/>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0B0E3A76-292E-84CC-2BF1-566C4C92574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15677689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245</a:t>
            </a:fld>
            <a:endParaRPr lang="ko-KR" altLang="en-US" dirty="0"/>
          </a:p>
        </p:txBody>
      </p:sp>
      <p:sp>
        <p:nvSpPr>
          <p:cNvPr id="4" name="TextBox 3">
            <a:extLst>
              <a:ext uri="{FF2B5EF4-FFF2-40B4-BE49-F238E27FC236}">
                <a16:creationId xmlns:a16="http://schemas.microsoft.com/office/drawing/2014/main" id="{81F17FA5-0571-8E7F-9860-7790B3D084C1}"/>
              </a:ext>
            </a:extLst>
          </p:cNvPr>
          <p:cNvSpPr txBox="1"/>
          <p:nvPr/>
        </p:nvSpPr>
        <p:spPr>
          <a:xfrm>
            <a:off x="460321"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1" name="표 10">
            <a:extLst>
              <a:ext uri="{FF2B5EF4-FFF2-40B4-BE49-F238E27FC236}">
                <a16:creationId xmlns:a16="http://schemas.microsoft.com/office/drawing/2014/main" id="{0441E173-2760-68F6-53D0-601DA6842A3E}"/>
              </a:ext>
            </a:extLst>
          </p:cNvPr>
          <p:cNvGraphicFramePr>
            <a:graphicFrameLocks noGrp="1"/>
          </p:cNvGraphicFramePr>
          <p:nvPr>
            <p:extLst>
              <p:ext uri="{D42A27DB-BD31-4B8C-83A1-F6EECF244321}">
                <p14:modId xmlns:p14="http://schemas.microsoft.com/office/powerpoint/2010/main" val="2826892206"/>
              </p:ext>
            </p:extLst>
          </p:nvPr>
        </p:nvGraphicFramePr>
        <p:xfrm>
          <a:off x="455204"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2" name="Text Box 73">
            <a:extLst>
              <a:ext uri="{FF2B5EF4-FFF2-40B4-BE49-F238E27FC236}">
                <a16:creationId xmlns:a16="http://schemas.microsoft.com/office/drawing/2014/main" id="{153ABA90-1B64-D395-F3CD-C90267E3213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672937966"/>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246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MUI-BD-10-M15</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763488"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123" name="그룹 122"/>
          <p:cNvGrpSpPr/>
          <p:nvPr/>
        </p:nvGrpSpPr>
        <p:grpSpPr>
          <a:xfrm flipV="1">
            <a:off x="3125575" y="1641327"/>
            <a:ext cx="94010" cy="47005"/>
            <a:chOff x="6812560" y="3297172"/>
            <a:chExt cx="94010" cy="47005"/>
          </a:xfrm>
        </p:grpSpPr>
        <p:cxnSp>
          <p:nvCxnSpPr>
            <p:cNvPr id="124" name="직선 연결선 12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5" name="직선 연결선 12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6" name="직사각형 125"/>
          <p:cNvSpPr/>
          <p:nvPr/>
        </p:nvSpPr>
        <p:spPr>
          <a:xfrm>
            <a:off x="704609" y="2356749"/>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91672" y="2356750"/>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2519714" y="2356750"/>
            <a:ext cx="179536" cy="396583"/>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a:t>
            </a:r>
          </a:p>
        </p:txBody>
      </p:sp>
      <p:grpSp>
        <p:nvGrpSpPr>
          <p:cNvPr id="129" name="그룹 128"/>
          <p:cNvGrpSpPr/>
          <p:nvPr/>
        </p:nvGrpSpPr>
        <p:grpSpPr>
          <a:xfrm>
            <a:off x="702517" y="2356750"/>
            <a:ext cx="2630093" cy="429480"/>
            <a:chOff x="701175" y="1835481"/>
            <a:chExt cx="2630093" cy="429480"/>
          </a:xfrm>
        </p:grpSpPr>
        <p:cxnSp>
          <p:nvCxnSpPr>
            <p:cNvPr id="130" name="직선 연결선 12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133" name="직선 연결선 132">
            <a:extLst>
              <a:ext uri="{FF2B5EF4-FFF2-40B4-BE49-F238E27FC236}">
                <a16:creationId xmlns:a16="http://schemas.microsoft.com/office/drawing/2014/main" id="{E9293055-D5CD-4B9E-7F64-64B2D2CA7A52}"/>
              </a:ext>
            </a:extLst>
          </p:cNvPr>
          <p:cNvCxnSpPr/>
          <p:nvPr/>
        </p:nvCxnSpPr>
        <p:spPr>
          <a:xfrm>
            <a:off x="676741" y="286834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TextBox 133">
            <a:extLst>
              <a:ext uri="{FF2B5EF4-FFF2-40B4-BE49-F238E27FC236}">
                <a16:creationId xmlns:a16="http://schemas.microsoft.com/office/drawing/2014/main" id="{FFC49AEA-2A8F-250C-A86A-A7751D9706C3}"/>
              </a:ext>
            </a:extLst>
          </p:cNvPr>
          <p:cNvSpPr txBox="1"/>
          <p:nvPr/>
        </p:nvSpPr>
        <p:spPr>
          <a:xfrm>
            <a:off x="763488" y="1869398"/>
            <a:ext cx="2535669" cy="215444"/>
          </a:xfrm>
          <a:prstGeom prst="rect">
            <a:avLst/>
          </a:prstGeom>
          <a:noFill/>
        </p:spPr>
        <p:txBody>
          <a:bodyPr wrap="square" lIns="0" tIns="0" rIns="0" bIns="0" rtlCol="0">
            <a:spAutoFit/>
          </a:bodyPr>
          <a:lstStyle/>
          <a:p>
            <a:pPr>
              <a:lnSpc>
                <a:spcPct val="200000"/>
              </a:lnSpc>
            </a:pPr>
            <a:r>
              <a:rPr lang="ko-KR" altLang="en-US" sz="700" b="1" dirty="0">
                <a:latin typeface="+mn-ea"/>
              </a:rPr>
              <a:t>적격여부</a:t>
            </a:r>
          </a:p>
        </p:txBody>
      </p:sp>
      <p:sp>
        <p:nvSpPr>
          <p:cNvPr id="135" name="TextBox 134">
            <a:extLst>
              <a:ext uri="{FF2B5EF4-FFF2-40B4-BE49-F238E27FC236}">
                <a16:creationId xmlns:a16="http://schemas.microsoft.com/office/drawing/2014/main" id="{FFC49AEA-2A8F-250C-A86A-A7751D9706C3}"/>
              </a:ext>
            </a:extLst>
          </p:cNvPr>
          <p:cNvSpPr txBox="1"/>
          <p:nvPr/>
        </p:nvSpPr>
        <p:spPr>
          <a:xfrm>
            <a:off x="763488" y="206963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940084" y="2356750"/>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37" name="직사각형 136"/>
          <p:cNvSpPr/>
          <p:nvPr/>
        </p:nvSpPr>
        <p:spPr>
          <a:xfrm>
            <a:off x="704609" y="339818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8" name="TextBox 137">
            <a:extLst>
              <a:ext uri="{FF2B5EF4-FFF2-40B4-BE49-F238E27FC236}">
                <a16:creationId xmlns:a16="http://schemas.microsoft.com/office/drawing/2014/main" id="{FFC49AEA-2A8F-250C-A86A-A7751D9706C3}"/>
              </a:ext>
            </a:extLst>
          </p:cNvPr>
          <p:cNvSpPr txBox="1"/>
          <p:nvPr/>
        </p:nvSpPr>
        <p:spPr>
          <a:xfrm>
            <a:off x="791672" y="33981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2519714" y="339818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100</a:t>
            </a:r>
          </a:p>
        </p:txBody>
      </p:sp>
      <p:grpSp>
        <p:nvGrpSpPr>
          <p:cNvPr id="140" name="그룹 139"/>
          <p:cNvGrpSpPr/>
          <p:nvPr/>
        </p:nvGrpSpPr>
        <p:grpSpPr>
          <a:xfrm>
            <a:off x="702517" y="3398188"/>
            <a:ext cx="2630093" cy="429480"/>
            <a:chOff x="701175" y="1835481"/>
            <a:chExt cx="2630093" cy="429480"/>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763488" y="2910836"/>
            <a:ext cx="2535669" cy="181140"/>
          </a:xfrm>
          <a:prstGeom prst="rect">
            <a:avLst/>
          </a:prstGeom>
          <a:noFill/>
        </p:spPr>
        <p:txBody>
          <a:bodyPr wrap="square" lIns="0" tIns="0" rIns="0" bIns="0" rtlCol="0">
            <a:spAutoFit/>
          </a:bodyPr>
          <a:lstStyle/>
          <a:p>
            <a:pPr>
              <a:lnSpc>
                <a:spcPct val="200000"/>
              </a:lnSpc>
            </a:pPr>
            <a:r>
              <a:rPr lang="ko-KR" altLang="en-US" sz="700" b="1" dirty="0" err="1">
                <a:latin typeface="+mn-ea"/>
              </a:rPr>
              <a:t>심사평점</a:t>
            </a:r>
            <a:r>
              <a:rPr lang="ko-KR" altLang="en-US" sz="700" b="1" dirty="0">
                <a:latin typeface="+mn-ea"/>
              </a:rPr>
              <a:t> 계</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763488" y="3111073"/>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2940020" y="339818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6741" y="39104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5" name="TextBox 154">
            <a:extLst>
              <a:ext uri="{FF2B5EF4-FFF2-40B4-BE49-F238E27FC236}">
                <a16:creationId xmlns:a16="http://schemas.microsoft.com/office/drawing/2014/main" id="{FFC49AEA-2A8F-250C-A86A-A7751D9706C3}"/>
              </a:ext>
            </a:extLst>
          </p:cNvPr>
          <p:cNvSpPr txBox="1"/>
          <p:nvPr/>
        </p:nvSpPr>
        <p:spPr>
          <a:xfrm>
            <a:off x="763488" y="3952978"/>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a:t>
            </a:r>
            <a:r>
              <a:rPr lang="ko-KR" altLang="en-US" dirty="0" err="1"/>
              <a:t>당해물품납품이행능력</a:t>
            </a:r>
            <a:endParaRPr lang="ko-KR" altLang="en-US" dirty="0"/>
          </a:p>
        </p:txBody>
      </p:sp>
      <p:cxnSp>
        <p:nvCxnSpPr>
          <p:cNvPr id="158" name="직선 연결선 157">
            <a:extLst>
              <a:ext uri="{FF2B5EF4-FFF2-40B4-BE49-F238E27FC236}">
                <a16:creationId xmlns:a16="http://schemas.microsoft.com/office/drawing/2014/main" id="{E9293055-D5CD-4B9E-7F64-64B2D2CA7A52}"/>
              </a:ext>
            </a:extLst>
          </p:cNvPr>
          <p:cNvCxnSpPr/>
          <p:nvPr/>
        </p:nvCxnSpPr>
        <p:spPr>
          <a:xfrm>
            <a:off x="3801111" y="362341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676741"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2991886" y="193116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702517" y="4153215"/>
            <a:ext cx="2630093" cy="846249"/>
            <a:chOff x="702517" y="4937381"/>
            <a:chExt cx="2630093" cy="846249"/>
          </a:xfrm>
        </p:grpSpPr>
        <p:sp>
          <p:nvSpPr>
            <p:cNvPr id="110" name="직사각형 109"/>
            <p:cNvSpPr/>
            <p:nvPr/>
          </p:nvSpPr>
          <p:spPr>
            <a:xfrm>
              <a:off x="704609" y="5224495"/>
              <a:ext cx="1639886" cy="5563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1672" y="5224496"/>
              <a:ext cx="1570293" cy="18094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kumimoji="1" lang="en-US" altLang="ko-KR" sz="700" spc="-60" dirty="0">
                <a:solidFill>
                  <a:srgbClr val="000000">
                    <a:lumMod val="65000"/>
                    <a:lumOff val="35000"/>
                  </a:srgbClr>
                </a:solidFill>
                <a:latin typeface="Verdana" panose="020B0604030504040204" pitchFamily="34" charset="0"/>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2519714" y="5224496"/>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702517" y="522449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4610" y="54392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4610" y="57836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763488" y="4937381"/>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납품실적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2940084" y="5224496"/>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791672" y="5503711"/>
              <a:ext cx="1480199"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계약목적물과 동등이상물품</a:t>
              </a:r>
            </a:p>
            <a:p>
              <a:r>
                <a:rPr lang="ko-KR" altLang="en-US" sz="700" dirty="0">
                  <a:latin typeface="+mn-ea"/>
                </a:rPr>
                <a:t>나</a:t>
              </a:r>
              <a:r>
                <a:rPr lang="en-US" altLang="ko-KR" sz="700" dirty="0">
                  <a:latin typeface="+mn-ea"/>
                </a:rPr>
                <a:t>.</a:t>
              </a:r>
              <a:r>
                <a:rPr lang="ko-KR" altLang="en-US" sz="700" dirty="0">
                  <a:latin typeface="+mn-ea"/>
                </a:rPr>
                <a:t>계약목적물과 </a:t>
              </a:r>
              <a:r>
                <a:rPr lang="ko-KR" altLang="en-US" sz="700" dirty="0" err="1">
                  <a:latin typeface="+mn-ea"/>
                </a:rPr>
                <a:t>유사물품</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2649557" y="5557572"/>
              <a:ext cx="49693" cy="107722"/>
            </a:xfrm>
            <a:prstGeom prst="rect">
              <a:avLst/>
            </a:prstGeom>
            <a:noFill/>
          </p:spPr>
          <p:txBody>
            <a:bodyPr wrap="none" lIns="0" tIns="0" rIns="0" bIns="0" rtlCol="0">
              <a:spAutoFit/>
            </a:bodyPr>
            <a:lstStyle/>
            <a:p>
              <a:pPr algn="r"/>
              <a:r>
                <a:rPr lang="en-US" altLang="ko-KR" sz="700" dirty="0">
                  <a:latin typeface="+mn-ea"/>
                </a:rPr>
                <a:t>5</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3262288" y="555757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grpSp>
        <p:nvGrpSpPr>
          <p:cNvPr id="9" name="그룹 8"/>
          <p:cNvGrpSpPr/>
          <p:nvPr/>
        </p:nvGrpSpPr>
        <p:grpSpPr>
          <a:xfrm>
            <a:off x="716366" y="5043737"/>
            <a:ext cx="2630093" cy="726195"/>
            <a:chOff x="3826887" y="1497250"/>
            <a:chExt cx="2630093" cy="726195"/>
          </a:xfrm>
        </p:grpSpPr>
        <p:sp>
          <p:nvSpPr>
            <p:cNvPr id="246" name="직사각형 245"/>
            <p:cNvSpPr/>
            <p:nvPr/>
          </p:nvSpPr>
          <p:spPr>
            <a:xfrm>
              <a:off x="3828979" y="1784364"/>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7" name="TextBox 246">
              <a:extLst>
                <a:ext uri="{FF2B5EF4-FFF2-40B4-BE49-F238E27FC236}">
                  <a16:creationId xmlns:a16="http://schemas.microsoft.com/office/drawing/2014/main" id="{FFC49AEA-2A8F-250C-A86A-A7751D9706C3}"/>
                </a:ext>
              </a:extLst>
            </p:cNvPr>
            <p:cNvSpPr txBox="1"/>
            <p:nvPr/>
          </p:nvSpPr>
          <p:spPr>
            <a:xfrm>
              <a:off x="3916042" y="1784365"/>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a:t>
              </a:r>
              <a:r>
                <a:rPr lang="ko-KR" altLang="en-US" sz="700" dirty="0">
                  <a:latin typeface="+mn-ea"/>
                </a:rPr>
                <a:t>기술평가등급</a:t>
              </a:r>
            </a:p>
          </p:txBody>
        </p:sp>
        <p:sp>
          <p:nvSpPr>
            <p:cNvPr id="248" name="TextBox 247">
              <a:extLst>
                <a:ext uri="{FF2B5EF4-FFF2-40B4-BE49-F238E27FC236}">
                  <a16:creationId xmlns:a16="http://schemas.microsoft.com/office/drawing/2014/main" id="{FFC49AEA-2A8F-250C-A86A-A7751D9706C3}"/>
                </a:ext>
              </a:extLst>
            </p:cNvPr>
            <p:cNvSpPr txBox="1"/>
            <p:nvPr/>
          </p:nvSpPr>
          <p:spPr>
            <a:xfrm>
              <a:off x="5644084" y="1784365"/>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10</a:t>
              </a:r>
            </a:p>
          </p:txBody>
        </p:sp>
        <p:grpSp>
          <p:nvGrpSpPr>
            <p:cNvPr id="249" name="그룹 248"/>
            <p:cNvGrpSpPr/>
            <p:nvPr/>
          </p:nvGrpSpPr>
          <p:grpSpPr>
            <a:xfrm>
              <a:off x="3826887" y="1784365"/>
              <a:ext cx="2630093" cy="429480"/>
              <a:chOff x="701175" y="1835481"/>
              <a:chExt cx="2630093" cy="429480"/>
            </a:xfrm>
          </p:grpSpPr>
          <p:cxnSp>
            <p:nvCxnSpPr>
              <p:cNvPr id="250" name="직선 연결선 249">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1" name="직선 연결선 25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2" name="직선 연결선 25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53" name="TextBox 252">
              <a:extLst>
                <a:ext uri="{FF2B5EF4-FFF2-40B4-BE49-F238E27FC236}">
                  <a16:creationId xmlns:a16="http://schemas.microsoft.com/office/drawing/2014/main" id="{FFC49AEA-2A8F-250C-A86A-A7751D9706C3}"/>
                </a:ext>
              </a:extLst>
            </p:cNvPr>
            <p:cNvSpPr txBox="1"/>
            <p:nvPr/>
          </p:nvSpPr>
          <p:spPr>
            <a:xfrm>
              <a:off x="3887858" y="1497250"/>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기술능력</a:t>
              </a:r>
            </a:p>
          </p:txBody>
        </p:sp>
        <p:sp>
          <p:nvSpPr>
            <p:cNvPr id="254" name="TextBox 253">
              <a:extLst>
                <a:ext uri="{FF2B5EF4-FFF2-40B4-BE49-F238E27FC236}">
                  <a16:creationId xmlns:a16="http://schemas.microsoft.com/office/drawing/2014/main" id="{FFC49AEA-2A8F-250C-A86A-A7751D9706C3}"/>
                </a:ext>
              </a:extLst>
            </p:cNvPr>
            <p:cNvSpPr txBox="1"/>
            <p:nvPr/>
          </p:nvSpPr>
          <p:spPr>
            <a:xfrm>
              <a:off x="6064390" y="1784365"/>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grpSp>
      <p:sp>
        <p:nvSpPr>
          <p:cNvPr id="174" name="직사각형 173"/>
          <p:cNvSpPr/>
          <p:nvPr/>
        </p:nvSpPr>
        <p:spPr>
          <a:xfrm>
            <a:off x="3823602" y="414960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5" name="TextBox 174">
            <a:extLst>
              <a:ext uri="{FF2B5EF4-FFF2-40B4-BE49-F238E27FC236}">
                <a16:creationId xmlns:a16="http://schemas.microsoft.com/office/drawing/2014/main" id="{FFC49AEA-2A8F-250C-A86A-A7751D9706C3}"/>
              </a:ext>
            </a:extLst>
          </p:cNvPr>
          <p:cNvSpPr txBox="1"/>
          <p:nvPr/>
        </p:nvSpPr>
        <p:spPr>
          <a:xfrm>
            <a:off x="3910665" y="4149606"/>
            <a:ext cx="1480199"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5492833" y="4149606"/>
            <a:ext cx="325410"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 ~ -2</a:t>
            </a:r>
          </a:p>
        </p:txBody>
      </p:sp>
      <p:grpSp>
        <p:nvGrpSpPr>
          <p:cNvPr id="177" name="그룹 176"/>
          <p:cNvGrpSpPr/>
          <p:nvPr/>
        </p:nvGrpSpPr>
        <p:grpSpPr>
          <a:xfrm>
            <a:off x="3821510" y="4149606"/>
            <a:ext cx="2630093" cy="429480"/>
            <a:chOff x="701175" y="1835481"/>
            <a:chExt cx="2630093" cy="429480"/>
          </a:xfrm>
        </p:grpSpPr>
        <p:cxnSp>
          <p:nvCxnSpPr>
            <p:cNvPr id="178" name="직선 연결선 17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1" name="TextBox 180">
            <a:extLst>
              <a:ext uri="{FF2B5EF4-FFF2-40B4-BE49-F238E27FC236}">
                <a16:creationId xmlns:a16="http://schemas.microsoft.com/office/drawing/2014/main" id="{FFC49AEA-2A8F-250C-A86A-A7751D9706C3}"/>
              </a:ext>
            </a:extLst>
          </p:cNvPr>
          <p:cNvSpPr txBox="1"/>
          <p:nvPr/>
        </p:nvSpPr>
        <p:spPr>
          <a:xfrm>
            <a:off x="3882481" y="3662254"/>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III.</a:t>
            </a:r>
            <a:r>
              <a:rPr lang="ko-KR" altLang="en-US" dirty="0"/>
              <a:t>신인도</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3882481" y="386249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r>
              <a:rPr lang="ko-KR" altLang="en-US" sz="700" dirty="0">
                <a:latin typeface="+mn-ea"/>
              </a:rPr>
              <a:t>소계</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6059077" y="4149606"/>
            <a:ext cx="359073"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sp>
        <p:nvSpPr>
          <p:cNvPr id="184" name="직사각형 183"/>
          <p:cNvSpPr/>
          <p:nvPr/>
        </p:nvSpPr>
        <p:spPr>
          <a:xfrm>
            <a:off x="3823602" y="4906289"/>
            <a:ext cx="1639886" cy="117937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5" name="TextBox 184">
            <a:extLst>
              <a:ext uri="{FF2B5EF4-FFF2-40B4-BE49-F238E27FC236}">
                <a16:creationId xmlns:a16="http://schemas.microsoft.com/office/drawing/2014/main" id="{FFC49AEA-2A8F-250C-A86A-A7751D9706C3}"/>
              </a:ext>
            </a:extLst>
          </p:cNvPr>
          <p:cNvSpPr txBox="1"/>
          <p:nvPr/>
        </p:nvSpPr>
        <p:spPr>
          <a:xfrm>
            <a:off x="3910665" y="4906289"/>
            <a:ext cx="1480199" cy="861774"/>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lvl="0">
              <a:lnSpc>
                <a:spcPct val="200000"/>
              </a:lnSpc>
            </a:pPr>
            <a:r>
              <a:rPr lang="ko-KR" altLang="en-US" sz="700" dirty="0">
                <a:latin typeface="+mn-ea"/>
              </a:rPr>
              <a:t>가</a:t>
            </a:r>
            <a:r>
              <a:rPr lang="en-US" altLang="ko-KR" sz="700" dirty="0">
                <a:latin typeface="+mn-ea"/>
              </a:rPr>
              <a:t>.</a:t>
            </a:r>
            <a:r>
              <a:rPr lang="ko-KR" altLang="en-US" sz="700" dirty="0" err="1">
                <a:latin typeface="+mn-ea"/>
              </a:rPr>
              <a:t>고도인증</a:t>
            </a:r>
            <a:endParaRPr lang="ko-KR" altLang="en-US" sz="700" dirty="0">
              <a:latin typeface="+mn-ea"/>
            </a:endParaRPr>
          </a:p>
          <a:p>
            <a:pPr>
              <a:lnSpc>
                <a:spcPct val="200000"/>
              </a:lnSpc>
            </a:pPr>
            <a:r>
              <a:rPr lang="ko-KR" altLang="en-US" sz="700" dirty="0">
                <a:latin typeface="+mn-ea"/>
              </a:rPr>
              <a:t>나</a:t>
            </a:r>
            <a:r>
              <a:rPr lang="en-US" altLang="ko-KR" sz="700" dirty="0">
                <a:latin typeface="+mn-ea"/>
              </a:rPr>
              <a:t>.</a:t>
            </a:r>
            <a:r>
              <a:rPr lang="ko-KR" altLang="en-US" sz="700" dirty="0">
                <a:latin typeface="+mn-ea"/>
              </a:rPr>
              <a:t>녹색 </a:t>
            </a:r>
            <a:r>
              <a:rPr lang="ko-KR" altLang="en-US" sz="700" dirty="0" err="1">
                <a:latin typeface="+mn-ea"/>
              </a:rPr>
              <a:t>일반인증</a:t>
            </a:r>
            <a:endParaRPr lang="ko-KR" altLang="en-US" sz="700" dirty="0">
              <a:latin typeface="+mn-ea"/>
            </a:endParaRPr>
          </a:p>
          <a:p>
            <a:pPr>
              <a:lnSpc>
                <a:spcPct val="200000"/>
              </a:lnSpc>
            </a:pPr>
            <a:r>
              <a:rPr lang="ko-KR" altLang="en-US" sz="700" dirty="0">
                <a:latin typeface="+mn-ea"/>
              </a:rPr>
              <a:t>다</a:t>
            </a:r>
            <a:r>
              <a:rPr lang="en-US" altLang="ko-KR" sz="700" dirty="0">
                <a:latin typeface="+mn-ea"/>
              </a:rPr>
              <a:t>.</a:t>
            </a:r>
            <a:r>
              <a:rPr lang="ko-KR" altLang="en-US" sz="700" dirty="0">
                <a:latin typeface="+mn-ea"/>
              </a:rPr>
              <a:t>영세기업 지원</a:t>
            </a:r>
            <a:endParaRPr lang="en-US" altLang="ko-KR" sz="700" dirty="0">
              <a:latin typeface="+mn-ea"/>
            </a:endParaRPr>
          </a:p>
        </p:txBody>
      </p:sp>
      <p:sp>
        <p:nvSpPr>
          <p:cNvPr id="186" name="TextBox 185">
            <a:extLst>
              <a:ext uri="{FF2B5EF4-FFF2-40B4-BE49-F238E27FC236}">
                <a16:creationId xmlns:a16="http://schemas.microsoft.com/office/drawing/2014/main" id="{FFC49AEA-2A8F-250C-A86A-A7751D9706C3}"/>
              </a:ext>
            </a:extLst>
          </p:cNvPr>
          <p:cNvSpPr txBox="1"/>
          <p:nvPr/>
        </p:nvSpPr>
        <p:spPr>
          <a:xfrm>
            <a:off x="5638707" y="4906289"/>
            <a:ext cx="179536" cy="861774"/>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1.5</a:t>
            </a:r>
          </a:p>
          <a:p>
            <a:pPr algn="r">
              <a:lnSpc>
                <a:spcPct val="200000"/>
              </a:lnSpc>
            </a:pPr>
            <a:r>
              <a:rPr lang="en-US" altLang="ko-KR" sz="700" dirty="0">
                <a:latin typeface="+mn-ea"/>
              </a:rPr>
              <a:t>0.75</a:t>
            </a:r>
          </a:p>
          <a:p>
            <a:pPr algn="r">
              <a:lnSpc>
                <a:spcPct val="200000"/>
              </a:lnSpc>
            </a:pPr>
            <a:r>
              <a:rPr lang="en-US" altLang="ko-KR" sz="700" dirty="0">
                <a:latin typeface="+mn-ea"/>
              </a:rPr>
              <a:t>3.0</a:t>
            </a:r>
          </a:p>
        </p:txBody>
      </p:sp>
      <p:grpSp>
        <p:nvGrpSpPr>
          <p:cNvPr id="187" name="그룹 186"/>
          <p:cNvGrpSpPr/>
          <p:nvPr/>
        </p:nvGrpSpPr>
        <p:grpSpPr>
          <a:xfrm>
            <a:off x="3821510" y="4906289"/>
            <a:ext cx="2630093" cy="1182064"/>
            <a:chOff x="701175" y="1835481"/>
            <a:chExt cx="2630093" cy="1182064"/>
          </a:xfrm>
        </p:grpSpPr>
        <p:cxnSp>
          <p:nvCxnSpPr>
            <p:cNvPr id="188" name="직선 연결선 18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9" name="직선 연결선 18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1" name="직선 연결선 190">
              <a:extLst>
                <a:ext uri="{FF2B5EF4-FFF2-40B4-BE49-F238E27FC236}">
                  <a16:creationId xmlns:a16="http://schemas.microsoft.com/office/drawing/2014/main" id="{E9293055-D5CD-4B9E-7F64-64B2D2CA7A52}"/>
                </a:ext>
              </a:extLst>
            </p:cNvPr>
            <p:cNvCxnSpPr/>
            <p:nvPr/>
          </p:nvCxnSpPr>
          <p:spPr>
            <a:xfrm>
              <a:off x="701175" y="246397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03268" y="26787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03268" y="301754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6" name="TextBox 195">
            <a:extLst>
              <a:ext uri="{FF2B5EF4-FFF2-40B4-BE49-F238E27FC236}">
                <a16:creationId xmlns:a16="http://schemas.microsoft.com/office/drawing/2014/main" id="{FFC49AEA-2A8F-250C-A86A-A7751D9706C3}"/>
              </a:ext>
            </a:extLst>
          </p:cNvPr>
          <p:cNvSpPr txBox="1"/>
          <p:nvPr/>
        </p:nvSpPr>
        <p:spPr>
          <a:xfrm>
            <a:off x="3882481" y="46191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a:latin typeface="+mn-ea"/>
              </a:rPr>
              <a:t>품질관리 등</a:t>
            </a:r>
            <a:r>
              <a:rPr lang="en-US" altLang="ko-KR" sz="700" dirty="0">
                <a:latin typeface="+mn-ea"/>
              </a:rPr>
              <a:t> </a:t>
            </a:r>
            <a:r>
              <a:rPr lang="ko-KR" altLang="en-US" sz="700" dirty="0" err="1">
                <a:latin typeface="+mn-ea"/>
              </a:rPr>
              <a:t>신뢰정도</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6059077" y="4906289"/>
            <a:ext cx="359073" cy="861774"/>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sp>
        <p:nvSpPr>
          <p:cNvPr id="210" name="TextBox 209">
            <a:extLst>
              <a:ext uri="{FF2B5EF4-FFF2-40B4-BE49-F238E27FC236}">
                <a16:creationId xmlns:a16="http://schemas.microsoft.com/office/drawing/2014/main" id="{FFC49AEA-2A8F-250C-A86A-A7751D9706C3}"/>
              </a:ext>
            </a:extLst>
          </p:cNvPr>
          <p:cNvSpPr txBox="1"/>
          <p:nvPr/>
        </p:nvSpPr>
        <p:spPr>
          <a:xfrm>
            <a:off x="3910665" y="5813752"/>
            <a:ext cx="1480199" cy="215444"/>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라</a:t>
            </a:r>
            <a:r>
              <a:rPr lang="en-US" altLang="ko-KR" dirty="0"/>
              <a:t>.</a:t>
            </a:r>
            <a:r>
              <a:rPr lang="ko-KR" altLang="en-US" dirty="0"/>
              <a:t>기타</a:t>
            </a:r>
            <a:r>
              <a:rPr lang="en-US" altLang="ko-KR" dirty="0"/>
              <a:t>(</a:t>
            </a:r>
            <a:r>
              <a:rPr lang="ko-KR" altLang="en-US" dirty="0"/>
              <a:t>여성기업</a:t>
            </a:r>
            <a:r>
              <a:rPr lang="en-US" altLang="ko-KR" dirty="0"/>
              <a:t>, </a:t>
            </a:r>
            <a:r>
              <a:rPr lang="ko-KR" altLang="en-US" dirty="0"/>
              <a:t>장애인기업 및 장애인고용 우수기업 </a:t>
            </a:r>
            <a:r>
              <a:rPr lang="ko-KR" altLang="en-US" dirty="0" err="1"/>
              <a:t>지원등</a:t>
            </a:r>
            <a:r>
              <a:rPr lang="en-US" altLang="ko-KR" dirty="0"/>
              <a:t>)</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695408" y="5867613"/>
            <a:ext cx="118623"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6377069" y="58676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8" name="그룹 7"/>
          <p:cNvGrpSpPr/>
          <p:nvPr/>
        </p:nvGrpSpPr>
        <p:grpSpPr>
          <a:xfrm>
            <a:off x="3836701" y="2445254"/>
            <a:ext cx="2630093" cy="926432"/>
            <a:chOff x="702517" y="4991154"/>
            <a:chExt cx="2630093" cy="926432"/>
          </a:xfrm>
        </p:grpSpPr>
        <p:sp>
          <p:nvSpPr>
            <p:cNvPr id="214" name="직사각형 213"/>
            <p:cNvSpPr/>
            <p:nvPr/>
          </p:nvSpPr>
          <p:spPr>
            <a:xfrm>
              <a:off x="704609" y="5478505"/>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5" name="TextBox 214">
              <a:extLst>
                <a:ext uri="{FF2B5EF4-FFF2-40B4-BE49-F238E27FC236}">
                  <a16:creationId xmlns:a16="http://schemas.microsoft.com/office/drawing/2014/main" id="{FFC49AEA-2A8F-250C-A86A-A7751D9706C3}"/>
                </a:ext>
              </a:extLst>
            </p:cNvPr>
            <p:cNvSpPr txBox="1"/>
            <p:nvPr/>
          </p:nvSpPr>
          <p:spPr>
            <a:xfrm>
              <a:off x="791672" y="5478506"/>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2519714" y="5478506"/>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55</a:t>
              </a:r>
            </a:p>
          </p:txBody>
        </p:sp>
        <p:grpSp>
          <p:nvGrpSpPr>
            <p:cNvPr id="217" name="그룹 216"/>
            <p:cNvGrpSpPr/>
            <p:nvPr/>
          </p:nvGrpSpPr>
          <p:grpSpPr>
            <a:xfrm>
              <a:off x="702517" y="5478506"/>
              <a:ext cx="2630093" cy="429480"/>
              <a:chOff x="701175" y="1835481"/>
              <a:chExt cx="2630093" cy="429480"/>
            </a:xfrm>
          </p:grpSpPr>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21" name="TextBox 220">
              <a:extLst>
                <a:ext uri="{FF2B5EF4-FFF2-40B4-BE49-F238E27FC236}">
                  <a16:creationId xmlns:a16="http://schemas.microsoft.com/office/drawing/2014/main" id="{FFC49AEA-2A8F-250C-A86A-A7751D9706C3}"/>
                </a:ext>
              </a:extLst>
            </p:cNvPr>
            <p:cNvSpPr txBox="1"/>
            <p:nvPr/>
          </p:nvSpPr>
          <p:spPr>
            <a:xfrm>
              <a:off x="763488" y="4991154"/>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II.</a:t>
              </a:r>
              <a:r>
                <a:rPr lang="ko-KR" altLang="en-US" dirty="0"/>
                <a:t>입찰가격</a:t>
              </a:r>
            </a:p>
          </p:txBody>
        </p:sp>
        <p:sp>
          <p:nvSpPr>
            <p:cNvPr id="222" name="TextBox 221">
              <a:extLst>
                <a:ext uri="{FF2B5EF4-FFF2-40B4-BE49-F238E27FC236}">
                  <a16:creationId xmlns:a16="http://schemas.microsoft.com/office/drawing/2014/main" id="{FFC49AEA-2A8F-250C-A86A-A7751D9706C3}"/>
                </a:ext>
              </a:extLst>
            </p:cNvPr>
            <p:cNvSpPr txBox="1"/>
            <p:nvPr/>
          </p:nvSpPr>
          <p:spPr>
            <a:xfrm>
              <a:off x="763488" y="5191391"/>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a:t>
              </a:r>
              <a:endParaRPr lang="ko-KR" altLang="en-US" sz="700" dirty="0">
                <a:latin typeface="+mn-ea"/>
              </a:endParaRPr>
            </a:p>
          </p:txBody>
        </p:sp>
        <p:sp>
          <p:nvSpPr>
            <p:cNvPr id="223" name="TextBox 222">
              <a:extLst>
                <a:ext uri="{FF2B5EF4-FFF2-40B4-BE49-F238E27FC236}">
                  <a16:creationId xmlns:a16="http://schemas.microsoft.com/office/drawing/2014/main" id="{FFC49AEA-2A8F-250C-A86A-A7751D9706C3}"/>
                </a:ext>
              </a:extLst>
            </p:cNvPr>
            <p:cNvSpPr txBox="1"/>
            <p:nvPr/>
          </p:nvSpPr>
          <p:spPr>
            <a:xfrm>
              <a:off x="2940020" y="5478506"/>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grpSp>
      <p:cxnSp>
        <p:nvCxnSpPr>
          <p:cNvPr id="224" name="직선 연결선 223">
            <a:extLst>
              <a:ext uri="{FF2B5EF4-FFF2-40B4-BE49-F238E27FC236}">
                <a16:creationId xmlns:a16="http://schemas.microsoft.com/office/drawing/2014/main" id="{E9293055-D5CD-4B9E-7F64-64B2D2CA7A52}"/>
              </a:ext>
            </a:extLst>
          </p:cNvPr>
          <p:cNvCxnSpPr/>
          <p:nvPr/>
        </p:nvCxnSpPr>
        <p:spPr>
          <a:xfrm>
            <a:off x="3801111" y="24102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25" name="그룹 224"/>
          <p:cNvGrpSpPr/>
          <p:nvPr/>
        </p:nvGrpSpPr>
        <p:grpSpPr>
          <a:xfrm>
            <a:off x="3826887" y="1628794"/>
            <a:ext cx="2630093" cy="726195"/>
            <a:chOff x="3826887" y="2285533"/>
            <a:chExt cx="2630093" cy="726195"/>
          </a:xfrm>
        </p:grpSpPr>
        <p:sp>
          <p:nvSpPr>
            <p:cNvPr id="226" name="직사각형 225"/>
            <p:cNvSpPr/>
            <p:nvPr/>
          </p:nvSpPr>
          <p:spPr>
            <a:xfrm>
              <a:off x="3828979" y="2572647"/>
              <a:ext cx="1639886" cy="4390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7" name="TextBox 226">
              <a:extLst>
                <a:ext uri="{FF2B5EF4-FFF2-40B4-BE49-F238E27FC236}">
                  <a16:creationId xmlns:a16="http://schemas.microsoft.com/office/drawing/2014/main" id="{FFC49AEA-2A8F-250C-A86A-A7751D9706C3}"/>
                </a:ext>
              </a:extLst>
            </p:cNvPr>
            <p:cNvSpPr txBox="1"/>
            <p:nvPr/>
          </p:nvSpPr>
          <p:spPr>
            <a:xfrm>
              <a:off x="3916042" y="2572648"/>
              <a:ext cx="1570293" cy="430887"/>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a:p>
              <a:pPr>
                <a:lnSpc>
                  <a:spcPct val="200000"/>
                </a:lnSpc>
              </a:pPr>
              <a:r>
                <a:rPr lang="ko-KR" altLang="en-US" sz="700" dirty="0">
                  <a:latin typeface="+mn-ea"/>
                </a:rPr>
                <a:t>가</a:t>
              </a:r>
              <a:r>
                <a:rPr lang="en-US" altLang="ko-KR" sz="700" dirty="0">
                  <a:latin typeface="+mn-ea"/>
                </a:rPr>
                <a:t>.</a:t>
              </a: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a:t>
              </a:r>
              <a:r>
                <a:rPr lang="ko-KR" altLang="en-US" sz="700" dirty="0">
                  <a:latin typeface="+mn-ea"/>
                </a:rPr>
                <a:t>기업신용평가</a:t>
              </a:r>
              <a:r>
                <a:rPr lang="en-US" altLang="ko-KR" sz="700" dirty="0">
                  <a:latin typeface="+mn-ea"/>
                </a:rPr>
                <a:t>)</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5644084" y="2572648"/>
              <a:ext cx="179536" cy="430887"/>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a:p>
              <a:pPr algn="r">
                <a:lnSpc>
                  <a:spcPct val="200000"/>
                </a:lnSpc>
              </a:pPr>
              <a:r>
                <a:rPr lang="en-US" altLang="ko-KR" sz="700" dirty="0">
                  <a:latin typeface="+mn-ea"/>
                </a:rPr>
                <a:t>30</a:t>
              </a:r>
            </a:p>
          </p:txBody>
        </p:sp>
        <p:grpSp>
          <p:nvGrpSpPr>
            <p:cNvPr id="229" name="그룹 228"/>
            <p:cNvGrpSpPr/>
            <p:nvPr/>
          </p:nvGrpSpPr>
          <p:grpSpPr>
            <a:xfrm>
              <a:off x="3826887" y="2572648"/>
              <a:ext cx="2630093" cy="429480"/>
              <a:chOff x="701175" y="1835481"/>
              <a:chExt cx="2630093" cy="429480"/>
            </a:xfrm>
          </p:grpSpPr>
          <p:cxnSp>
            <p:nvCxnSpPr>
              <p:cNvPr id="232" name="직선 연결선 23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4" name="직선 연결선 23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30" name="TextBox 229">
              <a:extLst>
                <a:ext uri="{FF2B5EF4-FFF2-40B4-BE49-F238E27FC236}">
                  <a16:creationId xmlns:a16="http://schemas.microsoft.com/office/drawing/2014/main" id="{FFC49AEA-2A8F-250C-A86A-A7751D9706C3}"/>
                </a:ext>
              </a:extLst>
            </p:cNvPr>
            <p:cNvSpPr txBox="1"/>
            <p:nvPr/>
          </p:nvSpPr>
          <p:spPr>
            <a:xfrm>
              <a:off x="3887858" y="228553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경영상태</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6064390" y="2572648"/>
              <a:ext cx="359137" cy="396583"/>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p:txBody>
        </p:sp>
      </p:grpSp>
    </p:spTree>
    <p:extLst>
      <p:ext uri="{BB962C8B-B14F-4D97-AF65-F5344CB8AC3E}">
        <p14:creationId xmlns:p14="http://schemas.microsoft.com/office/powerpoint/2010/main" val="324193843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247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MUI-BD-10-M15</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98" name="직사각형 197"/>
          <p:cNvSpPr/>
          <p:nvPr/>
        </p:nvSpPr>
        <p:spPr>
          <a:xfrm>
            <a:off x="703267" y="1780280"/>
            <a:ext cx="1639886" cy="64224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9" name="TextBox 198">
            <a:extLst>
              <a:ext uri="{FF2B5EF4-FFF2-40B4-BE49-F238E27FC236}">
                <a16:creationId xmlns:a16="http://schemas.microsoft.com/office/drawing/2014/main" id="{FFC49AEA-2A8F-250C-A86A-A7751D9706C3}"/>
              </a:ext>
            </a:extLst>
          </p:cNvPr>
          <p:cNvSpPr txBox="1"/>
          <p:nvPr/>
        </p:nvSpPr>
        <p:spPr>
          <a:xfrm>
            <a:off x="790330" y="1780281"/>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en-US" altLang="ko-KR" sz="700" dirty="0">
              <a:latin typeface="+mn-ea"/>
            </a:endParaRPr>
          </a:p>
        </p:txBody>
      </p:sp>
      <p:sp>
        <p:nvSpPr>
          <p:cNvPr id="200" name="TextBox 199">
            <a:extLst>
              <a:ext uri="{FF2B5EF4-FFF2-40B4-BE49-F238E27FC236}">
                <a16:creationId xmlns:a16="http://schemas.microsoft.com/office/drawing/2014/main" id="{FFC49AEA-2A8F-250C-A86A-A7751D9706C3}"/>
              </a:ext>
            </a:extLst>
          </p:cNvPr>
          <p:cNvSpPr txBox="1"/>
          <p:nvPr/>
        </p:nvSpPr>
        <p:spPr>
          <a:xfrm>
            <a:off x="2518372" y="178028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02" name="직선 연결선 201">
            <a:extLst>
              <a:ext uri="{FF2B5EF4-FFF2-40B4-BE49-F238E27FC236}">
                <a16:creationId xmlns:a16="http://schemas.microsoft.com/office/drawing/2014/main" id="{E9293055-D5CD-4B9E-7F64-64B2D2CA7A52}"/>
              </a:ext>
            </a:extLst>
          </p:cNvPr>
          <p:cNvCxnSpPr/>
          <p:nvPr/>
        </p:nvCxnSpPr>
        <p:spPr>
          <a:xfrm>
            <a:off x="701175" y="17802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19950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242529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5" name="TextBox 204">
            <a:extLst>
              <a:ext uri="{FF2B5EF4-FFF2-40B4-BE49-F238E27FC236}">
                <a16:creationId xmlns:a16="http://schemas.microsoft.com/office/drawing/2014/main" id="{FFC49AEA-2A8F-250C-A86A-A7751D9706C3}"/>
              </a:ext>
            </a:extLst>
          </p:cNvPr>
          <p:cNvSpPr txBox="1"/>
          <p:nvPr/>
        </p:nvSpPr>
        <p:spPr>
          <a:xfrm>
            <a:off x="762146" y="1493166"/>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2.</a:t>
            </a:r>
            <a:r>
              <a:rPr lang="ko-KR" altLang="en-US" sz="700" dirty="0">
                <a:latin typeface="+mn-ea"/>
              </a:rPr>
              <a:t>계약이행 성실도</a:t>
            </a:r>
          </a:p>
        </p:txBody>
      </p:sp>
      <p:sp>
        <p:nvSpPr>
          <p:cNvPr id="208" name="TextBox 207">
            <a:extLst>
              <a:ext uri="{FF2B5EF4-FFF2-40B4-BE49-F238E27FC236}">
                <a16:creationId xmlns:a16="http://schemas.microsoft.com/office/drawing/2014/main" id="{FFC49AEA-2A8F-250C-A86A-A7751D9706C3}"/>
              </a:ext>
            </a:extLst>
          </p:cNvPr>
          <p:cNvSpPr txBox="1"/>
          <p:nvPr/>
        </p:nvSpPr>
        <p:spPr>
          <a:xfrm>
            <a:off x="2938742" y="178028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8" name="TextBox 147">
            <a:extLst>
              <a:ext uri="{FF2B5EF4-FFF2-40B4-BE49-F238E27FC236}">
                <a16:creationId xmlns:a16="http://schemas.microsoft.com/office/drawing/2014/main" id="{FFC49AEA-2A8F-250C-A86A-A7751D9706C3}"/>
              </a:ext>
            </a:extLst>
          </p:cNvPr>
          <p:cNvSpPr txBox="1"/>
          <p:nvPr/>
        </p:nvSpPr>
        <p:spPr>
          <a:xfrm>
            <a:off x="790330" y="2051924"/>
            <a:ext cx="1480199" cy="323165"/>
          </a:xfrm>
          <a:prstGeom prst="rect">
            <a:avLst/>
          </a:prstGeom>
          <a:noFill/>
        </p:spPr>
        <p:txBody>
          <a:bodyPr wrap="square" lIns="0" tIns="0" rIns="0" bIns="0" rtlCol="0">
            <a:spAutoFit/>
          </a:bodyPr>
          <a:lstStyle>
            <a:defPPr>
              <a:defRPr lang="ko-KR"/>
            </a:defPPr>
            <a:lvl1pPr>
              <a:defRPr sz="700">
                <a:latin typeface="+mn-ea"/>
              </a:defRPr>
            </a:lvl1pPr>
          </a:lstStyle>
          <a:p>
            <a:r>
              <a:rPr lang="ko-KR" altLang="en-US" dirty="0"/>
              <a:t>가</a:t>
            </a:r>
            <a:r>
              <a:rPr lang="en-US" altLang="ko-KR" dirty="0"/>
              <a:t>.</a:t>
            </a:r>
            <a:r>
              <a:rPr lang="ko-KR" altLang="en-US" dirty="0" err="1"/>
              <a:t>납품지연</a:t>
            </a:r>
            <a:endParaRPr lang="ko-KR" altLang="en-US" dirty="0"/>
          </a:p>
          <a:p>
            <a:r>
              <a:rPr lang="ko-KR" altLang="en-US" dirty="0"/>
              <a:t>나</a:t>
            </a:r>
            <a:r>
              <a:rPr lang="en-US" altLang="ko-KR" dirty="0"/>
              <a:t>.</a:t>
            </a:r>
            <a:r>
              <a:rPr lang="ko-KR" altLang="en-US" dirty="0"/>
              <a:t>불공정 하도급거래</a:t>
            </a:r>
          </a:p>
          <a:p>
            <a:r>
              <a:rPr lang="ko-KR" altLang="en-US" dirty="0"/>
              <a:t>다</a:t>
            </a:r>
            <a:r>
              <a:rPr lang="en-US" altLang="ko-KR" dirty="0"/>
              <a:t>.</a:t>
            </a:r>
            <a:r>
              <a:rPr lang="ko-KR" altLang="en-US" dirty="0"/>
              <a:t>부정당업자 제재</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2538204" y="2159645"/>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3256734" y="215964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7" name="그룹 6"/>
          <p:cNvGrpSpPr/>
          <p:nvPr/>
        </p:nvGrpSpPr>
        <p:grpSpPr>
          <a:xfrm>
            <a:off x="675399" y="2494195"/>
            <a:ext cx="2712027" cy="1150222"/>
            <a:chOff x="3795734" y="4959245"/>
            <a:chExt cx="2712027" cy="1150222"/>
          </a:xfrm>
        </p:grpSpPr>
        <p:sp>
          <p:nvSpPr>
            <p:cNvPr id="151" name="직사각형 150"/>
            <p:cNvSpPr/>
            <p:nvPr/>
          </p:nvSpPr>
          <p:spPr>
            <a:xfrm>
              <a:off x="3823602" y="5501188"/>
              <a:ext cx="1639886" cy="6082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TextBox 151">
              <a:extLst>
                <a:ext uri="{FF2B5EF4-FFF2-40B4-BE49-F238E27FC236}">
                  <a16:creationId xmlns:a16="http://schemas.microsoft.com/office/drawing/2014/main" id="{FFC49AEA-2A8F-250C-A86A-A7751D9706C3}"/>
                </a:ext>
              </a:extLst>
            </p:cNvPr>
            <p:cNvSpPr txBox="1"/>
            <p:nvPr/>
          </p:nvSpPr>
          <p:spPr>
            <a:xfrm>
              <a:off x="3910665" y="5501189"/>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ko-KR" altLang="en-US" sz="700" dirty="0">
                <a:latin typeface="+mn-ea"/>
              </a:endParaRPr>
            </a:p>
          </p:txBody>
        </p:sp>
        <p:sp>
          <p:nvSpPr>
            <p:cNvPr id="153" name="TextBox 152">
              <a:extLst>
                <a:ext uri="{FF2B5EF4-FFF2-40B4-BE49-F238E27FC236}">
                  <a16:creationId xmlns:a16="http://schemas.microsoft.com/office/drawing/2014/main" id="{FFC49AEA-2A8F-250C-A86A-A7751D9706C3}"/>
                </a:ext>
              </a:extLst>
            </p:cNvPr>
            <p:cNvSpPr txBox="1"/>
            <p:nvPr/>
          </p:nvSpPr>
          <p:spPr>
            <a:xfrm>
              <a:off x="5638707" y="550118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grpSp>
          <p:nvGrpSpPr>
            <p:cNvPr id="154" name="그룹 153"/>
            <p:cNvGrpSpPr/>
            <p:nvPr/>
          </p:nvGrpSpPr>
          <p:grpSpPr>
            <a:xfrm>
              <a:off x="3821510" y="5501189"/>
              <a:ext cx="2630093" cy="608278"/>
              <a:chOff x="701175" y="1835481"/>
              <a:chExt cx="2630093" cy="608278"/>
            </a:xfrm>
          </p:grpSpPr>
          <p:cxnSp>
            <p:nvCxnSpPr>
              <p:cNvPr id="156" name="직선 연결선 15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9" name="직선 연결선 158">
                <a:extLst>
                  <a:ext uri="{FF2B5EF4-FFF2-40B4-BE49-F238E27FC236}">
                    <a16:creationId xmlns:a16="http://schemas.microsoft.com/office/drawing/2014/main" id="{E9293055-D5CD-4B9E-7F64-64B2D2CA7A52}"/>
                  </a:ext>
                </a:extLst>
              </p:cNvPr>
              <p:cNvCxnSpPr/>
              <p:nvPr/>
            </p:nvCxnSpPr>
            <p:spPr>
              <a:xfrm>
                <a:off x="703268" y="24437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0" name="TextBox 159">
              <a:extLst>
                <a:ext uri="{FF2B5EF4-FFF2-40B4-BE49-F238E27FC236}">
                  <a16:creationId xmlns:a16="http://schemas.microsoft.com/office/drawing/2014/main" id="{FFC49AEA-2A8F-250C-A86A-A7751D9706C3}"/>
                </a:ext>
              </a:extLst>
            </p:cNvPr>
            <p:cNvSpPr txBox="1"/>
            <p:nvPr/>
          </p:nvSpPr>
          <p:spPr>
            <a:xfrm>
              <a:off x="3882481" y="5013837"/>
              <a:ext cx="2535669" cy="180947"/>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IV.</a:t>
              </a:r>
              <a:r>
                <a:rPr lang="ko-KR" altLang="en-US" dirty="0"/>
                <a:t>결격사유</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3882481" y="5214074"/>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1.</a:t>
              </a:r>
              <a:r>
                <a:rPr lang="ko-KR" altLang="en-US" sz="700" dirty="0" err="1">
                  <a:latin typeface="+mn-ea"/>
                </a:rPr>
                <a:t>당해물품</a:t>
              </a:r>
              <a:r>
                <a:rPr lang="ko-KR" altLang="en-US" sz="700" dirty="0">
                  <a:latin typeface="+mn-ea"/>
                </a:rPr>
                <a:t> 납품이행능력 </a:t>
              </a:r>
              <a:r>
                <a:rPr lang="ko-KR" altLang="en-US" sz="700" dirty="0" err="1">
                  <a:latin typeface="+mn-ea"/>
                </a:rPr>
                <a:t>결격여부</a:t>
              </a:r>
              <a:endParaRPr lang="ko-KR" altLang="en-US" sz="700" dirty="0">
                <a:latin typeface="+mn-ea"/>
              </a:endParaRPr>
            </a:p>
          </p:txBody>
        </p:sp>
        <p:sp>
          <p:nvSpPr>
            <p:cNvPr id="162" name="TextBox 161">
              <a:extLst>
                <a:ext uri="{FF2B5EF4-FFF2-40B4-BE49-F238E27FC236}">
                  <a16:creationId xmlns:a16="http://schemas.microsoft.com/office/drawing/2014/main" id="{FFC49AEA-2A8F-250C-A86A-A7751D9706C3}"/>
                </a:ext>
              </a:extLst>
            </p:cNvPr>
            <p:cNvSpPr txBox="1"/>
            <p:nvPr/>
          </p:nvSpPr>
          <p:spPr>
            <a:xfrm>
              <a:off x="6059077" y="550118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795734" y="495924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3919560" y="5811265"/>
              <a:ext cx="1480199"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 </a:t>
              </a:r>
              <a:r>
                <a:rPr lang="ko-KR" altLang="en-US" sz="700" dirty="0">
                  <a:latin typeface="+mn-ea"/>
                </a:rPr>
                <a:t>부도 또는 파산상태로 당해 계약이행이 어렵다고 판단되는 경우</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5690882" y="5865126"/>
              <a:ext cx="136256"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sp>
          <p:nvSpPr>
            <p:cNvPr id="166" name="TextBox 165">
              <a:extLst>
                <a:ext uri="{FF2B5EF4-FFF2-40B4-BE49-F238E27FC236}">
                  <a16:creationId xmlns:a16="http://schemas.microsoft.com/office/drawing/2014/main" id="{FFC49AEA-2A8F-250C-A86A-A7751D9706C3}"/>
                </a:ext>
              </a:extLst>
            </p:cNvPr>
            <p:cNvSpPr txBox="1"/>
            <p:nvPr/>
          </p:nvSpPr>
          <p:spPr>
            <a:xfrm>
              <a:off x="6390176" y="586512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67" name="TextBox 166">
            <a:extLst>
              <a:ext uri="{FF2B5EF4-FFF2-40B4-BE49-F238E27FC236}">
                <a16:creationId xmlns:a16="http://schemas.microsoft.com/office/drawing/2014/main" id="{FFC49AEA-2A8F-250C-A86A-A7751D9706C3}"/>
              </a:ext>
            </a:extLst>
          </p:cNvPr>
          <p:cNvSpPr txBox="1"/>
          <p:nvPr/>
        </p:nvSpPr>
        <p:spPr>
          <a:xfrm>
            <a:off x="3883823" y="152799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I) </a:t>
            </a:r>
            <a:r>
              <a:rPr lang="ko-KR" altLang="en-US" sz="700" dirty="0" err="1">
                <a:latin typeface="+mn-ea"/>
              </a:rPr>
              <a:t>당해물품</a:t>
            </a:r>
            <a:r>
              <a:rPr lang="ko-KR" altLang="en-US" sz="700" dirty="0">
                <a:latin typeface="+mn-ea"/>
              </a:rPr>
              <a:t> 납품이행능력</a:t>
            </a:r>
          </a:p>
        </p:txBody>
      </p:sp>
      <p:grpSp>
        <p:nvGrpSpPr>
          <p:cNvPr id="168" name="그룹 167"/>
          <p:cNvGrpSpPr/>
          <p:nvPr/>
        </p:nvGrpSpPr>
        <p:grpSpPr>
          <a:xfrm flipV="1">
            <a:off x="6245910" y="1641327"/>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72" name="직선 연결선 171">
            <a:extLst>
              <a:ext uri="{FF2B5EF4-FFF2-40B4-BE49-F238E27FC236}">
                <a16:creationId xmlns:a16="http://schemas.microsoft.com/office/drawing/2014/main" id="{E9293055-D5CD-4B9E-7F64-64B2D2CA7A52}"/>
              </a:ext>
            </a:extLst>
          </p:cNvPr>
          <p:cNvCxnSpPr/>
          <p:nvPr/>
        </p:nvCxnSpPr>
        <p:spPr>
          <a:xfrm>
            <a:off x="3797076"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3" name="TextBox 172">
            <a:extLst>
              <a:ext uri="{FF2B5EF4-FFF2-40B4-BE49-F238E27FC236}">
                <a16:creationId xmlns:a16="http://schemas.microsoft.com/office/drawing/2014/main" id="{FFC49AEA-2A8F-250C-A86A-A7751D9706C3}"/>
              </a:ext>
            </a:extLst>
          </p:cNvPr>
          <p:cNvSpPr txBox="1"/>
          <p:nvPr/>
        </p:nvSpPr>
        <p:spPr>
          <a:xfrm>
            <a:off x="3910665" y="1864633"/>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I-1.</a:t>
            </a:r>
            <a:r>
              <a:rPr lang="ko-KR" altLang="en-US" dirty="0"/>
              <a:t>납품실적</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3910665" y="224768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4435522" y="2320973"/>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3910665" y="255507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15" name="TextBox 214">
            <a:extLst>
              <a:ext uri="{FF2B5EF4-FFF2-40B4-BE49-F238E27FC236}">
                <a16:creationId xmlns:a16="http://schemas.microsoft.com/office/drawing/2014/main" id="{FFC49AEA-2A8F-250C-A86A-A7751D9706C3}"/>
              </a:ext>
            </a:extLst>
          </p:cNvPr>
          <p:cNvSpPr txBox="1"/>
          <p:nvPr/>
        </p:nvSpPr>
        <p:spPr>
          <a:xfrm>
            <a:off x="4435522" y="2628365"/>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216" name="TextBox 215">
            <a:extLst>
              <a:ext uri="{FF2B5EF4-FFF2-40B4-BE49-F238E27FC236}">
                <a16:creationId xmlns:a16="http://schemas.microsoft.com/office/drawing/2014/main" id="{FFC49AEA-2A8F-250C-A86A-A7751D9706C3}"/>
              </a:ext>
            </a:extLst>
          </p:cNvPr>
          <p:cNvSpPr txBox="1"/>
          <p:nvPr/>
        </p:nvSpPr>
        <p:spPr>
          <a:xfrm>
            <a:off x="5650239" y="2139963"/>
            <a:ext cx="793115"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5.0 (0.0)</a:t>
            </a:r>
          </a:p>
        </p:txBody>
      </p:sp>
      <p:sp>
        <p:nvSpPr>
          <p:cNvPr id="222" name="직사각형 221"/>
          <p:cNvSpPr/>
          <p:nvPr/>
        </p:nvSpPr>
        <p:spPr>
          <a:xfrm>
            <a:off x="3835134" y="2935541"/>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TextBox 222">
            <a:extLst>
              <a:ext uri="{FF2B5EF4-FFF2-40B4-BE49-F238E27FC236}">
                <a16:creationId xmlns:a16="http://schemas.microsoft.com/office/drawing/2014/main" id="{FFC49AEA-2A8F-250C-A86A-A7751D9706C3}"/>
              </a:ext>
            </a:extLst>
          </p:cNvPr>
          <p:cNvSpPr txBox="1"/>
          <p:nvPr/>
        </p:nvSpPr>
        <p:spPr>
          <a:xfrm>
            <a:off x="3922197" y="2935541"/>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5650239" y="293554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3832437" y="29355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6" name="직선 연결선 225">
            <a:extLst>
              <a:ext uri="{FF2B5EF4-FFF2-40B4-BE49-F238E27FC236}">
                <a16:creationId xmlns:a16="http://schemas.microsoft.com/office/drawing/2014/main" id="{E9293055-D5CD-4B9E-7F64-64B2D2CA7A52}"/>
              </a:ext>
            </a:extLst>
          </p:cNvPr>
          <p:cNvCxnSpPr/>
          <p:nvPr/>
        </p:nvCxnSpPr>
        <p:spPr>
          <a:xfrm>
            <a:off x="3834530" y="31502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7" name="직선 연결선 226">
            <a:extLst>
              <a:ext uri="{FF2B5EF4-FFF2-40B4-BE49-F238E27FC236}">
                <a16:creationId xmlns:a16="http://schemas.microsoft.com/office/drawing/2014/main" id="{E9293055-D5CD-4B9E-7F64-64B2D2CA7A52}"/>
              </a:ext>
            </a:extLst>
          </p:cNvPr>
          <p:cNvCxnSpPr/>
          <p:nvPr/>
        </p:nvCxnSpPr>
        <p:spPr>
          <a:xfrm>
            <a:off x="3834530" y="38225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8" name="TextBox 227">
            <a:extLst>
              <a:ext uri="{FF2B5EF4-FFF2-40B4-BE49-F238E27FC236}">
                <a16:creationId xmlns:a16="http://schemas.microsoft.com/office/drawing/2014/main" id="{FFC49AEA-2A8F-250C-A86A-A7751D9706C3}"/>
              </a:ext>
            </a:extLst>
          </p:cNvPr>
          <p:cNvSpPr txBox="1"/>
          <p:nvPr/>
        </p:nvSpPr>
        <p:spPr>
          <a:xfrm>
            <a:off x="6070609" y="2935541"/>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30" name="TextBox 229">
            <a:extLst>
              <a:ext uri="{FF2B5EF4-FFF2-40B4-BE49-F238E27FC236}">
                <a16:creationId xmlns:a16="http://schemas.microsoft.com/office/drawing/2014/main" id="{FFC49AEA-2A8F-250C-A86A-A7751D9706C3}"/>
              </a:ext>
            </a:extLst>
          </p:cNvPr>
          <p:cNvSpPr txBox="1"/>
          <p:nvPr/>
        </p:nvSpPr>
        <p:spPr>
          <a:xfrm>
            <a:off x="3936047" y="3217129"/>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B.70%</a:t>
            </a:r>
            <a:r>
              <a:rPr lang="ko-KR" altLang="en-US" dirty="0"/>
              <a:t>이상</a:t>
            </a:r>
            <a:r>
              <a:rPr lang="en-US" altLang="ko-KR" dirty="0"/>
              <a:t>~100%</a:t>
            </a:r>
            <a:r>
              <a:rPr lang="ko-KR" altLang="en-US" dirty="0"/>
              <a:t>미만</a:t>
            </a:r>
          </a:p>
          <a:p>
            <a:r>
              <a:rPr lang="en-US" altLang="ko-KR" dirty="0"/>
              <a:t>C.50%</a:t>
            </a:r>
            <a:r>
              <a:rPr lang="ko-KR" altLang="en-US" dirty="0"/>
              <a:t>이상</a:t>
            </a:r>
            <a:r>
              <a:rPr lang="en-US" altLang="ko-KR" dirty="0"/>
              <a:t>~70%</a:t>
            </a:r>
            <a:r>
              <a:rPr lang="ko-KR" altLang="en-US" dirty="0"/>
              <a:t>미만</a:t>
            </a:r>
          </a:p>
          <a:p>
            <a:r>
              <a:rPr lang="en-US" altLang="ko-KR" dirty="0"/>
              <a:t>D.20%</a:t>
            </a:r>
            <a:r>
              <a:rPr lang="ko-KR" altLang="en-US" dirty="0"/>
              <a:t>이상</a:t>
            </a:r>
            <a:r>
              <a:rPr lang="en-US" altLang="ko-KR" dirty="0"/>
              <a:t>~50%</a:t>
            </a:r>
            <a:r>
              <a:rPr lang="ko-KR" altLang="en-US" dirty="0"/>
              <a:t>미만</a:t>
            </a:r>
          </a:p>
          <a:p>
            <a:r>
              <a:rPr lang="en-US" altLang="ko-KR" dirty="0"/>
              <a:t>E.5%</a:t>
            </a:r>
            <a:r>
              <a:rPr lang="ko-KR" altLang="en-US" dirty="0"/>
              <a:t>이상</a:t>
            </a:r>
            <a:r>
              <a:rPr lang="en-US" altLang="ko-KR" dirty="0"/>
              <a:t>~20%</a:t>
            </a:r>
            <a:r>
              <a:rPr lang="ko-KR" altLang="en-US" dirty="0"/>
              <a:t>미만</a:t>
            </a:r>
          </a:p>
        </p:txBody>
      </p:sp>
      <p:sp>
        <p:nvSpPr>
          <p:cNvPr id="231" name="TextBox 230">
            <a:extLst>
              <a:ext uri="{FF2B5EF4-FFF2-40B4-BE49-F238E27FC236}">
                <a16:creationId xmlns:a16="http://schemas.microsoft.com/office/drawing/2014/main" id="{FFC49AEA-2A8F-250C-A86A-A7751D9706C3}"/>
              </a:ext>
            </a:extLst>
          </p:cNvPr>
          <p:cNvSpPr txBox="1"/>
          <p:nvPr/>
        </p:nvSpPr>
        <p:spPr>
          <a:xfrm>
            <a:off x="5725003" y="3217129"/>
            <a:ext cx="118622"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5.0</a:t>
            </a:r>
          </a:p>
          <a:p>
            <a:r>
              <a:rPr lang="en-US" altLang="ko-KR" dirty="0"/>
              <a:t>4.0</a:t>
            </a:r>
          </a:p>
          <a:p>
            <a:r>
              <a:rPr lang="en-US" altLang="ko-KR" dirty="0"/>
              <a:t>3.0</a:t>
            </a:r>
          </a:p>
          <a:p>
            <a:r>
              <a:rPr lang="en-US" altLang="ko-KR" dirty="0"/>
              <a:t>2.0</a:t>
            </a:r>
          </a:p>
          <a:p>
            <a:r>
              <a:rPr lang="en-US" altLang="ko-KR" dirty="0"/>
              <a:t>1.0</a:t>
            </a:r>
          </a:p>
        </p:txBody>
      </p:sp>
      <p:sp>
        <p:nvSpPr>
          <p:cNvPr id="232" name="TextBox 231">
            <a:extLst>
              <a:ext uri="{FF2B5EF4-FFF2-40B4-BE49-F238E27FC236}">
                <a16:creationId xmlns:a16="http://schemas.microsoft.com/office/drawing/2014/main" id="{FFC49AEA-2A8F-250C-A86A-A7751D9706C3}"/>
              </a:ext>
            </a:extLst>
          </p:cNvPr>
          <p:cNvSpPr txBox="1"/>
          <p:nvPr/>
        </p:nvSpPr>
        <p:spPr>
          <a:xfrm>
            <a:off x="6406663" y="34492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3" name="TextBox 242">
            <a:extLst>
              <a:ext uri="{FF2B5EF4-FFF2-40B4-BE49-F238E27FC236}">
                <a16:creationId xmlns:a16="http://schemas.microsoft.com/office/drawing/2014/main" id="{FFC49AEA-2A8F-250C-A86A-A7751D9706C3}"/>
              </a:ext>
            </a:extLst>
          </p:cNvPr>
          <p:cNvSpPr txBox="1"/>
          <p:nvPr/>
        </p:nvSpPr>
        <p:spPr>
          <a:xfrm>
            <a:off x="5475020" y="1864633"/>
            <a:ext cx="971314" cy="215444"/>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5</a:t>
            </a:r>
            <a:r>
              <a:rPr lang="ko-KR" altLang="en-US" dirty="0"/>
              <a:t>점 </a:t>
            </a:r>
            <a:r>
              <a:rPr lang="en-US" altLang="ko-KR" dirty="0"/>
              <a:t>(</a:t>
            </a:r>
            <a:r>
              <a:rPr lang="ko-KR" altLang="en-US" dirty="0"/>
              <a:t>기본점수</a:t>
            </a:r>
            <a:r>
              <a:rPr lang="en-US" altLang="ko-KR" dirty="0"/>
              <a:t>)</a:t>
            </a:r>
            <a:endParaRPr lang="ko-KR" altLang="en-US" dirty="0"/>
          </a:p>
        </p:txBody>
      </p:sp>
      <p:sp>
        <p:nvSpPr>
          <p:cNvPr id="244" name="TextBox 243">
            <a:extLst>
              <a:ext uri="{FF2B5EF4-FFF2-40B4-BE49-F238E27FC236}">
                <a16:creationId xmlns:a16="http://schemas.microsoft.com/office/drawing/2014/main" id="{FFC49AEA-2A8F-250C-A86A-A7751D9706C3}"/>
              </a:ext>
            </a:extLst>
          </p:cNvPr>
          <p:cNvSpPr txBox="1"/>
          <p:nvPr/>
        </p:nvSpPr>
        <p:spPr>
          <a:xfrm>
            <a:off x="3910665" y="2066675"/>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기업구분</a:t>
            </a:r>
            <a:r>
              <a:rPr lang="ko-KR" altLang="en-US" sz="700" dirty="0">
                <a:latin typeface="+mn-ea"/>
              </a:rPr>
              <a:t> </a:t>
            </a:r>
            <a:r>
              <a:rPr lang="en-US" altLang="ko-KR" sz="700" dirty="0">
                <a:latin typeface="+mn-ea"/>
              </a:rPr>
              <a:t>:</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4435522" y="2139963"/>
            <a:ext cx="2010812" cy="107722"/>
          </a:xfrm>
          <a:prstGeom prst="rect">
            <a:avLst/>
          </a:prstGeom>
          <a:noFill/>
        </p:spPr>
        <p:txBody>
          <a:bodyPr wrap="square" lIns="0" tIns="0" rIns="0" bIns="0" rtlCol="0">
            <a:spAutoFit/>
          </a:bodyPr>
          <a:lstStyle/>
          <a:p>
            <a:r>
              <a:rPr lang="ko-KR" altLang="en-US" sz="700" dirty="0" err="1">
                <a:latin typeface="+mn-ea"/>
              </a:rPr>
              <a:t>중기업</a:t>
            </a:r>
            <a:endParaRPr lang="en-US" altLang="ko-KR" sz="700" dirty="0">
              <a:latin typeface="+mn-ea"/>
            </a:endParaRPr>
          </a:p>
        </p:txBody>
      </p:sp>
      <p:sp>
        <p:nvSpPr>
          <p:cNvPr id="264" name="TextBox 263">
            <a:extLst>
              <a:ext uri="{FF2B5EF4-FFF2-40B4-BE49-F238E27FC236}">
                <a16:creationId xmlns:a16="http://schemas.microsoft.com/office/drawing/2014/main" id="{FFC49AEA-2A8F-250C-A86A-A7751D9706C3}"/>
              </a:ext>
            </a:extLst>
          </p:cNvPr>
          <p:cNvSpPr txBox="1"/>
          <p:nvPr/>
        </p:nvSpPr>
        <p:spPr>
          <a:xfrm>
            <a:off x="3910665" y="384694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265" name="TextBox 264">
            <a:extLst>
              <a:ext uri="{FF2B5EF4-FFF2-40B4-BE49-F238E27FC236}">
                <a16:creationId xmlns:a16="http://schemas.microsoft.com/office/drawing/2014/main" id="{FFC49AEA-2A8F-250C-A86A-A7751D9706C3}"/>
              </a:ext>
            </a:extLst>
          </p:cNvPr>
          <p:cNvSpPr txBox="1"/>
          <p:nvPr/>
        </p:nvSpPr>
        <p:spPr>
          <a:xfrm>
            <a:off x="4435522" y="3920235"/>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유사물품</a:t>
            </a:r>
            <a:r>
              <a:rPr lang="en-US" altLang="ko-KR" sz="700" dirty="0">
                <a:latin typeface="+mn-ea"/>
              </a:rPr>
              <a:t>)</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3910665" y="415433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267" name="TextBox 266">
            <a:extLst>
              <a:ext uri="{FF2B5EF4-FFF2-40B4-BE49-F238E27FC236}">
                <a16:creationId xmlns:a16="http://schemas.microsoft.com/office/drawing/2014/main" id="{FFC49AEA-2A8F-250C-A86A-A7751D9706C3}"/>
              </a:ext>
            </a:extLst>
          </p:cNvPr>
          <p:cNvSpPr txBox="1"/>
          <p:nvPr/>
        </p:nvSpPr>
        <p:spPr>
          <a:xfrm>
            <a:off x="4435522" y="4227627"/>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269" name="직사각형 268"/>
          <p:cNvSpPr/>
          <p:nvPr/>
        </p:nvSpPr>
        <p:spPr>
          <a:xfrm>
            <a:off x="3835134" y="4534803"/>
            <a:ext cx="1639886" cy="8870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0" name="TextBox 269">
            <a:extLst>
              <a:ext uri="{FF2B5EF4-FFF2-40B4-BE49-F238E27FC236}">
                <a16:creationId xmlns:a16="http://schemas.microsoft.com/office/drawing/2014/main" id="{FFC49AEA-2A8F-250C-A86A-A7751D9706C3}"/>
              </a:ext>
            </a:extLst>
          </p:cNvPr>
          <p:cNvSpPr txBox="1"/>
          <p:nvPr/>
        </p:nvSpPr>
        <p:spPr>
          <a:xfrm>
            <a:off x="3922197" y="453480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71" name="TextBox 270">
            <a:extLst>
              <a:ext uri="{FF2B5EF4-FFF2-40B4-BE49-F238E27FC236}">
                <a16:creationId xmlns:a16="http://schemas.microsoft.com/office/drawing/2014/main" id="{FFC49AEA-2A8F-250C-A86A-A7751D9706C3}"/>
              </a:ext>
            </a:extLst>
          </p:cNvPr>
          <p:cNvSpPr txBox="1"/>
          <p:nvPr/>
        </p:nvSpPr>
        <p:spPr>
          <a:xfrm>
            <a:off x="5650239" y="453480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272" name="직선 연결선 271">
            <a:extLst>
              <a:ext uri="{FF2B5EF4-FFF2-40B4-BE49-F238E27FC236}">
                <a16:creationId xmlns:a16="http://schemas.microsoft.com/office/drawing/2014/main" id="{E9293055-D5CD-4B9E-7F64-64B2D2CA7A52}"/>
              </a:ext>
            </a:extLst>
          </p:cNvPr>
          <p:cNvCxnSpPr/>
          <p:nvPr/>
        </p:nvCxnSpPr>
        <p:spPr>
          <a:xfrm>
            <a:off x="3832437" y="453480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3" name="직선 연결선 272">
            <a:extLst>
              <a:ext uri="{FF2B5EF4-FFF2-40B4-BE49-F238E27FC236}">
                <a16:creationId xmlns:a16="http://schemas.microsoft.com/office/drawing/2014/main" id="{E9293055-D5CD-4B9E-7F64-64B2D2CA7A52}"/>
              </a:ext>
            </a:extLst>
          </p:cNvPr>
          <p:cNvCxnSpPr/>
          <p:nvPr/>
        </p:nvCxnSpPr>
        <p:spPr>
          <a:xfrm>
            <a:off x="3834530" y="47495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4" name="직선 연결선 273">
            <a:extLst>
              <a:ext uri="{FF2B5EF4-FFF2-40B4-BE49-F238E27FC236}">
                <a16:creationId xmlns:a16="http://schemas.microsoft.com/office/drawing/2014/main" id="{E9293055-D5CD-4B9E-7F64-64B2D2CA7A52}"/>
              </a:ext>
            </a:extLst>
          </p:cNvPr>
          <p:cNvCxnSpPr/>
          <p:nvPr/>
        </p:nvCxnSpPr>
        <p:spPr>
          <a:xfrm>
            <a:off x="3834530" y="54218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5" name="TextBox 274">
            <a:extLst>
              <a:ext uri="{FF2B5EF4-FFF2-40B4-BE49-F238E27FC236}">
                <a16:creationId xmlns:a16="http://schemas.microsoft.com/office/drawing/2014/main" id="{FFC49AEA-2A8F-250C-A86A-A7751D9706C3}"/>
              </a:ext>
            </a:extLst>
          </p:cNvPr>
          <p:cNvSpPr txBox="1"/>
          <p:nvPr/>
        </p:nvSpPr>
        <p:spPr>
          <a:xfrm>
            <a:off x="6070609" y="453480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76" name="TextBox 275">
            <a:extLst>
              <a:ext uri="{FF2B5EF4-FFF2-40B4-BE49-F238E27FC236}">
                <a16:creationId xmlns:a16="http://schemas.microsoft.com/office/drawing/2014/main" id="{FFC49AEA-2A8F-250C-A86A-A7751D9706C3}"/>
              </a:ext>
            </a:extLst>
          </p:cNvPr>
          <p:cNvSpPr txBox="1"/>
          <p:nvPr/>
        </p:nvSpPr>
        <p:spPr>
          <a:xfrm>
            <a:off x="3936047" y="4816391"/>
            <a:ext cx="1480199" cy="538609"/>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B.70%</a:t>
            </a:r>
            <a:r>
              <a:rPr lang="ko-KR" altLang="en-US" dirty="0"/>
              <a:t>이상</a:t>
            </a:r>
            <a:r>
              <a:rPr lang="en-US" altLang="ko-KR" dirty="0"/>
              <a:t>~100%</a:t>
            </a:r>
            <a:r>
              <a:rPr lang="ko-KR" altLang="en-US" dirty="0"/>
              <a:t>미만</a:t>
            </a:r>
          </a:p>
          <a:p>
            <a:r>
              <a:rPr lang="en-US" altLang="ko-KR" dirty="0"/>
              <a:t>C.50%</a:t>
            </a:r>
            <a:r>
              <a:rPr lang="ko-KR" altLang="en-US" dirty="0"/>
              <a:t>이상</a:t>
            </a:r>
            <a:r>
              <a:rPr lang="en-US" altLang="ko-KR" dirty="0"/>
              <a:t>~70%</a:t>
            </a:r>
            <a:r>
              <a:rPr lang="ko-KR" altLang="en-US" dirty="0"/>
              <a:t>미만</a:t>
            </a:r>
          </a:p>
          <a:p>
            <a:r>
              <a:rPr lang="en-US" altLang="ko-KR" dirty="0"/>
              <a:t>D.20%</a:t>
            </a:r>
            <a:r>
              <a:rPr lang="ko-KR" altLang="en-US" dirty="0"/>
              <a:t>이상</a:t>
            </a:r>
            <a:r>
              <a:rPr lang="en-US" altLang="ko-KR" dirty="0"/>
              <a:t>~50%</a:t>
            </a:r>
            <a:r>
              <a:rPr lang="ko-KR" altLang="en-US" dirty="0"/>
              <a:t>미만</a:t>
            </a:r>
          </a:p>
          <a:p>
            <a:r>
              <a:rPr lang="en-US" altLang="ko-KR" dirty="0"/>
              <a:t>E.5%</a:t>
            </a:r>
            <a:r>
              <a:rPr lang="ko-KR" altLang="en-US" dirty="0"/>
              <a:t>이상</a:t>
            </a:r>
            <a:r>
              <a:rPr lang="en-US" altLang="ko-KR" dirty="0"/>
              <a:t>~20%</a:t>
            </a:r>
            <a:r>
              <a:rPr lang="ko-KR" altLang="en-US" dirty="0"/>
              <a:t>미만</a:t>
            </a:r>
          </a:p>
        </p:txBody>
      </p:sp>
      <p:sp>
        <p:nvSpPr>
          <p:cNvPr id="277" name="TextBox 276">
            <a:extLst>
              <a:ext uri="{FF2B5EF4-FFF2-40B4-BE49-F238E27FC236}">
                <a16:creationId xmlns:a16="http://schemas.microsoft.com/office/drawing/2014/main" id="{FFC49AEA-2A8F-250C-A86A-A7751D9706C3}"/>
              </a:ext>
            </a:extLst>
          </p:cNvPr>
          <p:cNvSpPr txBox="1"/>
          <p:nvPr/>
        </p:nvSpPr>
        <p:spPr>
          <a:xfrm>
            <a:off x="5675246" y="4816391"/>
            <a:ext cx="168379" cy="538609"/>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1.5</a:t>
            </a:r>
          </a:p>
          <a:p>
            <a:r>
              <a:rPr lang="en-US" altLang="ko-KR" dirty="0"/>
              <a:t>1.25</a:t>
            </a:r>
          </a:p>
          <a:p>
            <a:r>
              <a:rPr lang="en-US" altLang="ko-KR" dirty="0"/>
              <a:t>1.0</a:t>
            </a:r>
          </a:p>
          <a:p>
            <a:r>
              <a:rPr lang="en-US" altLang="ko-KR" dirty="0"/>
              <a:t>0.75</a:t>
            </a:r>
          </a:p>
          <a:p>
            <a:r>
              <a:rPr lang="en-US" altLang="ko-KR" dirty="0"/>
              <a:t>0.5</a:t>
            </a:r>
          </a:p>
        </p:txBody>
      </p:sp>
      <p:sp>
        <p:nvSpPr>
          <p:cNvPr id="278" name="TextBox 277">
            <a:extLst>
              <a:ext uri="{FF2B5EF4-FFF2-40B4-BE49-F238E27FC236}">
                <a16:creationId xmlns:a16="http://schemas.microsoft.com/office/drawing/2014/main" id="{FFC49AEA-2A8F-250C-A86A-A7751D9706C3}"/>
              </a:ext>
            </a:extLst>
          </p:cNvPr>
          <p:cNvSpPr txBox="1"/>
          <p:nvPr/>
        </p:nvSpPr>
        <p:spPr>
          <a:xfrm>
            <a:off x="6406663" y="504846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81" name="직선 연결선 280">
            <a:extLst>
              <a:ext uri="{FF2B5EF4-FFF2-40B4-BE49-F238E27FC236}">
                <a16:creationId xmlns:a16="http://schemas.microsoft.com/office/drawing/2014/main" id="{E9293055-D5CD-4B9E-7F64-64B2D2CA7A52}"/>
              </a:ext>
            </a:extLst>
          </p:cNvPr>
          <p:cNvCxnSpPr/>
          <p:nvPr/>
        </p:nvCxnSpPr>
        <p:spPr>
          <a:xfrm>
            <a:off x="3795523" y="548256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타원 8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74527811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248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MUI-BD-10-M15</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89" name="TextBox 88">
            <a:extLst>
              <a:ext uri="{FF2B5EF4-FFF2-40B4-BE49-F238E27FC236}">
                <a16:creationId xmlns:a16="http://schemas.microsoft.com/office/drawing/2014/main" id="{FFC49AEA-2A8F-250C-A86A-A7751D9706C3}"/>
              </a:ext>
            </a:extLst>
          </p:cNvPr>
          <p:cNvSpPr txBox="1"/>
          <p:nvPr/>
        </p:nvSpPr>
        <p:spPr>
          <a:xfrm>
            <a:off x="794594" y="167216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90" name="TextBox 89">
            <a:extLst>
              <a:ext uri="{FF2B5EF4-FFF2-40B4-BE49-F238E27FC236}">
                <a16:creationId xmlns:a16="http://schemas.microsoft.com/office/drawing/2014/main" id="{FFC49AEA-2A8F-250C-A86A-A7751D9706C3}"/>
              </a:ext>
            </a:extLst>
          </p:cNvPr>
          <p:cNvSpPr txBox="1"/>
          <p:nvPr/>
        </p:nvSpPr>
        <p:spPr>
          <a:xfrm>
            <a:off x="1319451" y="1745455"/>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91" name="TextBox 90">
            <a:extLst>
              <a:ext uri="{FF2B5EF4-FFF2-40B4-BE49-F238E27FC236}">
                <a16:creationId xmlns:a16="http://schemas.microsoft.com/office/drawing/2014/main" id="{FFC49AEA-2A8F-250C-A86A-A7751D9706C3}"/>
              </a:ext>
            </a:extLst>
          </p:cNvPr>
          <p:cNvSpPr txBox="1"/>
          <p:nvPr/>
        </p:nvSpPr>
        <p:spPr>
          <a:xfrm>
            <a:off x="794594" y="197955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92" name="TextBox 91">
            <a:extLst>
              <a:ext uri="{FF2B5EF4-FFF2-40B4-BE49-F238E27FC236}">
                <a16:creationId xmlns:a16="http://schemas.microsoft.com/office/drawing/2014/main" id="{FFC49AEA-2A8F-250C-A86A-A7751D9706C3}"/>
              </a:ext>
            </a:extLst>
          </p:cNvPr>
          <p:cNvSpPr txBox="1"/>
          <p:nvPr/>
        </p:nvSpPr>
        <p:spPr>
          <a:xfrm>
            <a:off x="1319451" y="2052847"/>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grpSp>
        <p:nvGrpSpPr>
          <p:cNvPr id="6" name="그룹 5"/>
          <p:cNvGrpSpPr/>
          <p:nvPr/>
        </p:nvGrpSpPr>
        <p:grpSpPr>
          <a:xfrm>
            <a:off x="716366" y="2360021"/>
            <a:ext cx="2630093" cy="769487"/>
            <a:chOff x="716366" y="2360021"/>
            <a:chExt cx="2630093" cy="769487"/>
          </a:xfrm>
        </p:grpSpPr>
        <p:sp>
          <p:nvSpPr>
            <p:cNvPr id="94" name="직사각형 93"/>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TextBox 94">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97" name="직선 연결선 96">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TextBox 99">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01" name="TextBox 100">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03" name="TextBox 102">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05" name="TextBox 104">
            <a:extLst>
              <a:ext uri="{FF2B5EF4-FFF2-40B4-BE49-F238E27FC236}">
                <a16:creationId xmlns:a16="http://schemas.microsoft.com/office/drawing/2014/main" id="{FFC49AEA-2A8F-250C-A86A-A7751D9706C3}"/>
              </a:ext>
            </a:extLst>
          </p:cNvPr>
          <p:cNvSpPr txBox="1"/>
          <p:nvPr/>
        </p:nvSpPr>
        <p:spPr>
          <a:xfrm>
            <a:off x="794594" y="149115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기업구분</a:t>
            </a:r>
            <a:r>
              <a:rPr lang="ko-KR" altLang="en-US" sz="700" dirty="0">
                <a:latin typeface="+mn-ea"/>
              </a:rPr>
              <a:t> </a:t>
            </a:r>
            <a:r>
              <a:rPr lang="en-US" altLang="ko-KR" sz="700" dirty="0">
                <a:latin typeface="+mn-ea"/>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1319451" y="1564445"/>
            <a:ext cx="2010812" cy="107722"/>
          </a:xfrm>
          <a:prstGeom prst="rect">
            <a:avLst/>
          </a:prstGeom>
          <a:noFill/>
        </p:spPr>
        <p:txBody>
          <a:bodyPr wrap="square" lIns="0" tIns="0" rIns="0" bIns="0" rtlCol="0">
            <a:spAutoFit/>
          </a:bodyPr>
          <a:lstStyle/>
          <a:p>
            <a:r>
              <a:rPr lang="ko-KR" altLang="en-US" sz="700" dirty="0">
                <a:latin typeface="+mn-ea"/>
              </a:rPr>
              <a:t>소기업 또는 소상공인</a:t>
            </a:r>
          </a:p>
        </p:txBody>
      </p:sp>
      <p:sp>
        <p:nvSpPr>
          <p:cNvPr id="107" name="TextBox 106">
            <a:extLst>
              <a:ext uri="{FF2B5EF4-FFF2-40B4-BE49-F238E27FC236}">
                <a16:creationId xmlns:a16="http://schemas.microsoft.com/office/drawing/2014/main" id="{FFC49AEA-2A8F-250C-A86A-A7751D9706C3}"/>
              </a:ext>
            </a:extLst>
          </p:cNvPr>
          <p:cNvSpPr txBox="1"/>
          <p:nvPr/>
        </p:nvSpPr>
        <p:spPr>
          <a:xfrm>
            <a:off x="794594" y="316310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08" name="TextBox 107">
            <a:extLst>
              <a:ext uri="{FF2B5EF4-FFF2-40B4-BE49-F238E27FC236}">
                <a16:creationId xmlns:a16="http://schemas.microsoft.com/office/drawing/2014/main" id="{FFC49AEA-2A8F-250C-A86A-A7751D9706C3}"/>
              </a:ext>
            </a:extLst>
          </p:cNvPr>
          <p:cNvSpPr txBox="1"/>
          <p:nvPr/>
        </p:nvSpPr>
        <p:spPr>
          <a:xfrm>
            <a:off x="1319451" y="3236394"/>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5</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유사물품</a:t>
            </a:r>
            <a:r>
              <a:rPr lang="en-US" altLang="ko-KR" sz="700" dirty="0">
                <a:latin typeface="+mn-ea"/>
              </a:rPr>
              <a:t>)</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794594" y="347049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10" name="TextBox 109">
            <a:extLst>
              <a:ext uri="{FF2B5EF4-FFF2-40B4-BE49-F238E27FC236}">
                <a16:creationId xmlns:a16="http://schemas.microsoft.com/office/drawing/2014/main" id="{FFC49AEA-2A8F-250C-A86A-A7751D9706C3}"/>
              </a:ext>
            </a:extLst>
          </p:cNvPr>
          <p:cNvSpPr txBox="1"/>
          <p:nvPr/>
        </p:nvSpPr>
        <p:spPr>
          <a:xfrm>
            <a:off x="1319451" y="3543786"/>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93" name="TextBox 92">
            <a:extLst>
              <a:ext uri="{FF2B5EF4-FFF2-40B4-BE49-F238E27FC236}">
                <a16:creationId xmlns:a16="http://schemas.microsoft.com/office/drawing/2014/main" id="{FFC49AEA-2A8F-250C-A86A-A7751D9706C3}"/>
              </a:ext>
            </a:extLst>
          </p:cNvPr>
          <p:cNvSpPr txBox="1"/>
          <p:nvPr/>
        </p:nvSpPr>
        <p:spPr>
          <a:xfrm>
            <a:off x="2534168" y="1564445"/>
            <a:ext cx="793115"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5.0 (2.0)</a:t>
            </a:r>
          </a:p>
        </p:txBody>
      </p:sp>
      <p:grpSp>
        <p:nvGrpSpPr>
          <p:cNvPr id="124" name="그룹 123"/>
          <p:cNvGrpSpPr/>
          <p:nvPr/>
        </p:nvGrpSpPr>
        <p:grpSpPr>
          <a:xfrm>
            <a:off x="716366" y="3850960"/>
            <a:ext cx="2630093" cy="769487"/>
            <a:chOff x="716366" y="2360021"/>
            <a:chExt cx="2630093" cy="769487"/>
          </a:xfrm>
        </p:grpSpPr>
        <p:sp>
          <p:nvSpPr>
            <p:cNvPr id="125" name="직사각형 124"/>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TextBox 125">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27" name="TextBox 126">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32" name="TextBox 131">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cxnSp>
        <p:nvCxnSpPr>
          <p:cNvPr id="135" name="직선 연결선 134">
            <a:extLst>
              <a:ext uri="{FF2B5EF4-FFF2-40B4-BE49-F238E27FC236}">
                <a16:creationId xmlns:a16="http://schemas.microsoft.com/office/drawing/2014/main" id="{E9293055-D5CD-4B9E-7F64-64B2D2CA7A52}"/>
              </a:ext>
            </a:extLst>
          </p:cNvPr>
          <p:cNvCxnSpPr/>
          <p:nvPr/>
        </p:nvCxnSpPr>
        <p:spPr>
          <a:xfrm>
            <a:off x="675399" y="47006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6" name="TextBox 135">
            <a:extLst>
              <a:ext uri="{FF2B5EF4-FFF2-40B4-BE49-F238E27FC236}">
                <a16:creationId xmlns:a16="http://schemas.microsoft.com/office/drawing/2014/main" id="{FFC49AEA-2A8F-250C-A86A-A7751D9706C3}"/>
              </a:ext>
            </a:extLst>
          </p:cNvPr>
          <p:cNvSpPr txBox="1"/>
          <p:nvPr/>
        </p:nvSpPr>
        <p:spPr>
          <a:xfrm>
            <a:off x="3911980" y="167216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4436837" y="1745455"/>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7</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동등이상</a:t>
            </a:r>
            <a:r>
              <a:rPr lang="ko-KR" altLang="en-US" sz="700" dirty="0">
                <a:latin typeface="+mn-ea"/>
              </a:rPr>
              <a:t> 물품</a:t>
            </a:r>
            <a:r>
              <a:rPr lang="en-US" altLang="ko-KR" sz="700" dirty="0">
                <a:latin typeface="+mn-ea"/>
              </a:rPr>
              <a:t>)</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3911980" y="1979559"/>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4436837" y="2052847"/>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grpSp>
        <p:nvGrpSpPr>
          <p:cNvPr id="140" name="그룹 139"/>
          <p:cNvGrpSpPr/>
          <p:nvPr/>
        </p:nvGrpSpPr>
        <p:grpSpPr>
          <a:xfrm>
            <a:off x="3833752" y="2360021"/>
            <a:ext cx="2630093" cy="769487"/>
            <a:chOff x="716366" y="2360021"/>
            <a:chExt cx="2630093" cy="769487"/>
          </a:xfrm>
        </p:grpSpPr>
        <p:sp>
          <p:nvSpPr>
            <p:cNvPr id="141" name="직사각형 140"/>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2" name="TextBox 141">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43" name="TextBox 142">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44" name="직선 연결선 143">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7" name="TextBox 146">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sp>
        <p:nvSpPr>
          <p:cNvPr id="174" name="TextBox 173">
            <a:extLst>
              <a:ext uri="{FF2B5EF4-FFF2-40B4-BE49-F238E27FC236}">
                <a16:creationId xmlns:a16="http://schemas.microsoft.com/office/drawing/2014/main" id="{FFC49AEA-2A8F-250C-A86A-A7751D9706C3}"/>
              </a:ext>
            </a:extLst>
          </p:cNvPr>
          <p:cNvSpPr txBox="1"/>
          <p:nvPr/>
        </p:nvSpPr>
        <p:spPr>
          <a:xfrm>
            <a:off x="3911980" y="1491157"/>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기업구분</a:t>
            </a:r>
            <a:r>
              <a:rPr lang="ko-KR" altLang="en-US" sz="700" dirty="0">
                <a:latin typeface="+mn-ea"/>
              </a:rPr>
              <a:t> </a:t>
            </a:r>
            <a:r>
              <a:rPr lang="en-US" altLang="ko-KR" sz="700" dirty="0">
                <a:latin typeface="+mn-ea"/>
              </a:rPr>
              <a:t>:</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4436837" y="1564445"/>
            <a:ext cx="2010812" cy="107722"/>
          </a:xfrm>
          <a:prstGeom prst="rect">
            <a:avLst/>
          </a:prstGeom>
          <a:noFill/>
        </p:spPr>
        <p:txBody>
          <a:bodyPr wrap="square" lIns="0" tIns="0" rIns="0" bIns="0" rtlCol="0">
            <a:spAutoFit/>
          </a:bodyPr>
          <a:lstStyle/>
          <a:p>
            <a:r>
              <a:rPr lang="ko-KR" altLang="en-US" sz="700" dirty="0">
                <a:latin typeface="+mn-ea"/>
              </a:rPr>
              <a:t>창업기업</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3911980" y="316310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4436837" y="3236394"/>
            <a:ext cx="2010812" cy="215444"/>
          </a:xfrm>
          <a:prstGeom prst="rect">
            <a:avLst/>
          </a:prstGeom>
          <a:noFill/>
        </p:spPr>
        <p:txBody>
          <a:bodyPr wrap="square" lIns="0" tIns="0" rIns="0" bIns="0" rtlCol="0">
            <a:spAutoFit/>
          </a:bodyPr>
          <a:lstStyle/>
          <a:p>
            <a:r>
              <a:rPr lang="ko-KR" altLang="en-US" sz="700" dirty="0">
                <a:latin typeface="+mn-ea"/>
              </a:rPr>
              <a:t>가</a:t>
            </a:r>
            <a:r>
              <a:rPr lang="en-US" altLang="ko-KR" sz="700" dirty="0">
                <a:latin typeface="+mn-ea"/>
              </a:rPr>
              <a:t>.</a:t>
            </a:r>
            <a:r>
              <a:rPr lang="ko-KR" altLang="en-US" sz="700" dirty="0">
                <a:latin typeface="+mn-ea"/>
              </a:rPr>
              <a:t>최근 </a:t>
            </a:r>
            <a:r>
              <a:rPr lang="en-US" altLang="ko-KR" sz="700" dirty="0">
                <a:latin typeface="+mn-ea"/>
              </a:rPr>
              <a:t>7</a:t>
            </a:r>
            <a:r>
              <a:rPr lang="ko-KR" altLang="en-US" sz="700" dirty="0">
                <a:latin typeface="+mn-ea"/>
              </a:rPr>
              <a:t>년 내 납품실적</a:t>
            </a:r>
            <a:br>
              <a:rPr lang="ko-KR" altLang="en-US" sz="700" dirty="0">
                <a:latin typeface="+mn-ea"/>
              </a:rPr>
            </a:br>
            <a:r>
              <a:rPr lang="en-US" altLang="ko-KR" sz="700" dirty="0">
                <a:latin typeface="+mn-ea"/>
              </a:rPr>
              <a:t>(</a:t>
            </a:r>
            <a:r>
              <a:rPr lang="ko-KR" altLang="en-US" sz="700" dirty="0">
                <a:latin typeface="+mn-ea"/>
              </a:rPr>
              <a:t>계약목적물과 </a:t>
            </a:r>
            <a:r>
              <a:rPr lang="ko-KR" altLang="en-US" sz="700" dirty="0" err="1">
                <a:latin typeface="+mn-ea"/>
              </a:rPr>
              <a:t>유사물품</a:t>
            </a:r>
            <a:r>
              <a:rPr lang="en-US" altLang="ko-KR" sz="700" dirty="0">
                <a:latin typeface="+mn-ea"/>
              </a:rPr>
              <a:t>)</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3911980" y="3470498"/>
            <a:ext cx="2535669" cy="215444"/>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a:t>
            </a:r>
          </a:p>
        </p:txBody>
      </p:sp>
      <p:sp>
        <p:nvSpPr>
          <p:cNvPr id="179" name="TextBox 178">
            <a:extLst>
              <a:ext uri="{FF2B5EF4-FFF2-40B4-BE49-F238E27FC236}">
                <a16:creationId xmlns:a16="http://schemas.microsoft.com/office/drawing/2014/main" id="{FFC49AEA-2A8F-250C-A86A-A7751D9706C3}"/>
              </a:ext>
            </a:extLst>
          </p:cNvPr>
          <p:cNvSpPr txBox="1"/>
          <p:nvPr/>
        </p:nvSpPr>
        <p:spPr>
          <a:xfrm>
            <a:off x="4436837" y="3543786"/>
            <a:ext cx="2010812" cy="215444"/>
          </a:xfrm>
          <a:prstGeom prst="rect">
            <a:avLst/>
          </a:prstGeom>
          <a:noFill/>
        </p:spPr>
        <p:txBody>
          <a:bodyPr wrap="square" lIns="0" tIns="0" rIns="0" bIns="0" rtlCol="0">
            <a:spAutoFit/>
          </a:bodyPr>
          <a:lstStyle/>
          <a:p>
            <a:r>
              <a:rPr lang="ko-KR" altLang="en-US" sz="700" dirty="0">
                <a:latin typeface="+mn-ea"/>
              </a:rPr>
              <a:t>금액</a:t>
            </a:r>
            <a:r>
              <a:rPr lang="en-US" altLang="ko-KR" sz="700" dirty="0">
                <a:latin typeface="+mn-ea"/>
              </a:rPr>
              <a:t>[</a:t>
            </a:r>
            <a:r>
              <a:rPr lang="ko-KR" altLang="en-US" sz="700" dirty="0">
                <a:latin typeface="+mn-ea"/>
              </a:rPr>
              <a:t>납품실적</a:t>
            </a:r>
            <a:r>
              <a:rPr lang="en-US" altLang="ko-KR" sz="700" dirty="0">
                <a:latin typeface="+mn-ea"/>
              </a:rPr>
              <a:t>(</a:t>
            </a:r>
            <a:r>
              <a:rPr lang="ko-KR" altLang="en-US" sz="700" dirty="0">
                <a:latin typeface="+mn-ea"/>
              </a:rPr>
              <a:t>부가가치세제외</a:t>
            </a:r>
            <a:r>
              <a:rPr lang="en-US" altLang="ko-KR" sz="700" dirty="0">
                <a:latin typeface="+mn-ea"/>
              </a:rPr>
              <a:t>)/</a:t>
            </a:r>
            <a:r>
              <a:rPr lang="ko-KR" altLang="en-US" sz="700" dirty="0">
                <a:latin typeface="+mn-ea"/>
              </a:rPr>
              <a:t>추정가격</a:t>
            </a:r>
            <a:r>
              <a:rPr lang="en-US" altLang="ko-KR" sz="700" dirty="0">
                <a:latin typeface="+mn-ea"/>
              </a:rPr>
              <a:t>]</a:t>
            </a:r>
          </a:p>
          <a:p>
            <a:r>
              <a:rPr lang="ko-KR" altLang="en-US" sz="700" dirty="0">
                <a:latin typeface="+mn-ea"/>
              </a:rPr>
              <a:t>수량</a:t>
            </a:r>
            <a:r>
              <a:rPr lang="en-US" altLang="ko-KR" sz="700" dirty="0">
                <a:latin typeface="+mn-ea"/>
              </a:rPr>
              <a:t>[</a:t>
            </a:r>
            <a:r>
              <a:rPr lang="ko-KR" altLang="en-US" sz="700" dirty="0" err="1">
                <a:latin typeface="+mn-ea"/>
              </a:rPr>
              <a:t>납품수량</a:t>
            </a:r>
            <a:r>
              <a:rPr lang="en-US" altLang="ko-KR" sz="700" dirty="0">
                <a:latin typeface="+mn-ea"/>
              </a:rPr>
              <a:t>/</a:t>
            </a:r>
            <a:r>
              <a:rPr lang="ko-KR" altLang="en-US" sz="700" dirty="0" err="1">
                <a:latin typeface="+mn-ea"/>
              </a:rPr>
              <a:t>입찰수량</a:t>
            </a:r>
            <a:r>
              <a:rPr lang="en-US" altLang="ko-KR" sz="700" dirty="0">
                <a:latin typeface="+mn-ea"/>
              </a:rPr>
              <a:t>]</a:t>
            </a:r>
          </a:p>
        </p:txBody>
      </p:sp>
      <p:sp>
        <p:nvSpPr>
          <p:cNvPr id="180" name="TextBox 179">
            <a:extLst>
              <a:ext uri="{FF2B5EF4-FFF2-40B4-BE49-F238E27FC236}">
                <a16:creationId xmlns:a16="http://schemas.microsoft.com/office/drawing/2014/main" id="{FFC49AEA-2A8F-250C-A86A-A7751D9706C3}"/>
              </a:ext>
            </a:extLst>
          </p:cNvPr>
          <p:cNvSpPr txBox="1"/>
          <p:nvPr/>
        </p:nvSpPr>
        <p:spPr>
          <a:xfrm>
            <a:off x="5651554" y="1564445"/>
            <a:ext cx="793115" cy="107722"/>
          </a:xfrm>
          <a:prstGeom prst="rect">
            <a:avLst/>
          </a:prstGeom>
          <a:noFill/>
        </p:spPr>
        <p:txBody>
          <a:bodyPr wrap="square" lIns="0" tIns="0" rIns="0" bIns="0" rtlCol="0">
            <a:spAutoFit/>
          </a:bodyPr>
          <a:lstStyle/>
          <a:p>
            <a:pPr algn="r"/>
            <a:r>
              <a:rPr lang="ko-KR" altLang="en-US" sz="700" dirty="0">
                <a:latin typeface="+mn-ea"/>
              </a:rPr>
              <a:t>배점 </a:t>
            </a:r>
            <a:r>
              <a:rPr lang="en-US" altLang="ko-KR" sz="700" dirty="0">
                <a:latin typeface="+mn-ea"/>
              </a:rPr>
              <a:t>5.0 (3.0)</a:t>
            </a:r>
          </a:p>
        </p:txBody>
      </p:sp>
      <p:grpSp>
        <p:nvGrpSpPr>
          <p:cNvPr id="181" name="그룹 180"/>
          <p:cNvGrpSpPr/>
          <p:nvPr/>
        </p:nvGrpSpPr>
        <p:grpSpPr>
          <a:xfrm>
            <a:off x="3833752" y="3850960"/>
            <a:ext cx="2630093" cy="769487"/>
            <a:chOff x="716366" y="2360021"/>
            <a:chExt cx="2630093" cy="769487"/>
          </a:xfrm>
        </p:grpSpPr>
        <p:sp>
          <p:nvSpPr>
            <p:cNvPr id="182" name="직사각형 181"/>
            <p:cNvSpPr/>
            <p:nvPr/>
          </p:nvSpPr>
          <p:spPr>
            <a:xfrm>
              <a:off x="719063" y="2360023"/>
              <a:ext cx="1639886" cy="7694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TextBox 182">
              <a:extLst>
                <a:ext uri="{FF2B5EF4-FFF2-40B4-BE49-F238E27FC236}">
                  <a16:creationId xmlns:a16="http://schemas.microsoft.com/office/drawing/2014/main" id="{FFC49AEA-2A8F-250C-A86A-A7751D9706C3}"/>
                </a:ext>
              </a:extLst>
            </p:cNvPr>
            <p:cNvSpPr txBox="1"/>
            <p:nvPr/>
          </p:nvSpPr>
          <p:spPr>
            <a:xfrm>
              <a:off x="806126" y="2360023"/>
              <a:ext cx="1570293"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2534168" y="2360023"/>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cxnSp>
          <p:nvCxnSpPr>
            <p:cNvPr id="185" name="직선 연결선 184">
              <a:extLst>
                <a:ext uri="{FF2B5EF4-FFF2-40B4-BE49-F238E27FC236}">
                  <a16:creationId xmlns:a16="http://schemas.microsoft.com/office/drawing/2014/main" id="{E9293055-D5CD-4B9E-7F64-64B2D2CA7A52}"/>
                </a:ext>
              </a:extLst>
            </p:cNvPr>
            <p:cNvCxnSpPr/>
            <p:nvPr/>
          </p:nvCxnSpPr>
          <p:spPr>
            <a:xfrm>
              <a:off x="716366" y="23600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18459" y="25747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7" name="직선 연결선 186">
              <a:extLst>
                <a:ext uri="{FF2B5EF4-FFF2-40B4-BE49-F238E27FC236}">
                  <a16:creationId xmlns:a16="http://schemas.microsoft.com/office/drawing/2014/main" id="{E9293055-D5CD-4B9E-7F64-64B2D2CA7A52}"/>
                </a:ext>
              </a:extLst>
            </p:cNvPr>
            <p:cNvCxnSpPr/>
            <p:nvPr/>
          </p:nvCxnSpPr>
          <p:spPr>
            <a:xfrm>
              <a:off x="718459" y="3129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8" name="TextBox 187">
              <a:extLst>
                <a:ext uri="{FF2B5EF4-FFF2-40B4-BE49-F238E27FC236}">
                  <a16:creationId xmlns:a16="http://schemas.microsoft.com/office/drawing/2014/main" id="{FFC49AEA-2A8F-250C-A86A-A7751D9706C3}"/>
                </a:ext>
              </a:extLst>
            </p:cNvPr>
            <p:cNvSpPr txBox="1"/>
            <p:nvPr/>
          </p:nvSpPr>
          <p:spPr>
            <a:xfrm>
              <a:off x="2954538" y="2360023"/>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89" name="TextBox 188">
              <a:extLst>
                <a:ext uri="{FF2B5EF4-FFF2-40B4-BE49-F238E27FC236}">
                  <a16:creationId xmlns:a16="http://schemas.microsoft.com/office/drawing/2014/main" id="{FFC49AEA-2A8F-250C-A86A-A7751D9706C3}"/>
                </a:ext>
              </a:extLst>
            </p:cNvPr>
            <p:cNvSpPr txBox="1"/>
            <p:nvPr/>
          </p:nvSpPr>
          <p:spPr>
            <a:xfrm>
              <a:off x="819976" y="2641611"/>
              <a:ext cx="1480199" cy="430887"/>
            </a:xfrm>
            <a:prstGeom prst="rect">
              <a:avLst/>
            </a:prstGeom>
            <a:noFill/>
          </p:spPr>
          <p:txBody>
            <a:bodyPr wrap="square" lIns="0" tIns="0" rIns="0" bIns="0" rtlCol="0">
              <a:spAutoFit/>
            </a:bodyPr>
            <a:lstStyle>
              <a:defPPr>
                <a:defRPr lang="ko-KR"/>
              </a:defPPr>
              <a:lvl1pPr>
                <a:defRPr sz="700">
                  <a:latin typeface="+mn-ea"/>
                </a:defRPr>
              </a:lvl1pPr>
            </a:lstStyle>
            <a:p>
              <a:r>
                <a:rPr lang="en-US" altLang="ko-KR" dirty="0"/>
                <a:t>A.100%</a:t>
              </a:r>
              <a:r>
                <a:rPr lang="ko-KR" altLang="en-US" dirty="0"/>
                <a:t>이상</a:t>
              </a:r>
            </a:p>
            <a:p>
              <a:r>
                <a:rPr lang="en-US" altLang="ko-KR" dirty="0"/>
                <a:t>B.60%</a:t>
              </a:r>
              <a:r>
                <a:rPr lang="ko-KR" altLang="en-US" dirty="0"/>
                <a:t>이상</a:t>
              </a:r>
              <a:r>
                <a:rPr lang="en-US" altLang="ko-KR" dirty="0"/>
                <a:t>~100%</a:t>
              </a:r>
              <a:r>
                <a:rPr lang="ko-KR" altLang="en-US" dirty="0"/>
                <a:t>미만</a:t>
              </a:r>
            </a:p>
            <a:p>
              <a:r>
                <a:rPr lang="en-US" altLang="ko-KR" dirty="0"/>
                <a:t>C.30%</a:t>
              </a:r>
              <a:r>
                <a:rPr lang="ko-KR" altLang="en-US" dirty="0"/>
                <a:t>이상</a:t>
              </a:r>
              <a:r>
                <a:rPr lang="en-US" altLang="ko-KR" dirty="0"/>
                <a:t>~60%</a:t>
              </a:r>
              <a:r>
                <a:rPr lang="ko-KR" altLang="en-US" dirty="0"/>
                <a:t>미만</a:t>
              </a:r>
            </a:p>
            <a:p>
              <a:r>
                <a:rPr lang="en-US" altLang="ko-KR" dirty="0"/>
                <a:t>D.5%</a:t>
              </a:r>
              <a:r>
                <a:rPr lang="ko-KR" altLang="en-US" dirty="0"/>
                <a:t>이상</a:t>
              </a:r>
              <a:r>
                <a:rPr lang="en-US" altLang="ko-KR" dirty="0"/>
                <a:t>~30%</a:t>
              </a:r>
              <a:r>
                <a:rPr lang="ko-KR" altLang="en-US" dirty="0"/>
                <a:t>미만</a:t>
              </a:r>
            </a:p>
          </p:txBody>
        </p:sp>
        <p:sp>
          <p:nvSpPr>
            <p:cNvPr id="190" name="TextBox 189">
              <a:extLst>
                <a:ext uri="{FF2B5EF4-FFF2-40B4-BE49-F238E27FC236}">
                  <a16:creationId xmlns:a16="http://schemas.microsoft.com/office/drawing/2014/main" id="{FFC49AEA-2A8F-250C-A86A-A7751D9706C3}"/>
                </a:ext>
              </a:extLst>
            </p:cNvPr>
            <p:cNvSpPr txBox="1"/>
            <p:nvPr/>
          </p:nvSpPr>
          <p:spPr>
            <a:xfrm>
              <a:off x="2608932" y="2641611"/>
              <a:ext cx="118622" cy="430887"/>
            </a:xfrm>
            <a:prstGeom prst="rect">
              <a:avLst/>
            </a:prstGeom>
            <a:noFill/>
          </p:spPr>
          <p:txBody>
            <a:bodyPr wrap="none" lIns="0" tIns="0" rIns="0" bIns="0" rtlCol="0">
              <a:spAutoFit/>
            </a:bodyPr>
            <a:lstStyle>
              <a:defPPr>
                <a:defRPr lang="ko-KR"/>
              </a:defPPr>
              <a:lvl1pPr algn="r">
                <a:defRPr sz="700">
                  <a:latin typeface="+mn-ea"/>
                </a:defRPr>
              </a:lvl1pPr>
            </a:lstStyle>
            <a:p>
              <a:r>
                <a:rPr lang="en-US" altLang="ko-KR" dirty="0"/>
                <a:t>3.0</a:t>
              </a:r>
            </a:p>
            <a:p>
              <a:r>
                <a:rPr lang="en-US" altLang="ko-KR" dirty="0"/>
                <a:t>2.0</a:t>
              </a:r>
            </a:p>
            <a:p>
              <a:r>
                <a:rPr lang="en-US" altLang="ko-KR" dirty="0"/>
                <a:t>1.0</a:t>
              </a:r>
            </a:p>
            <a:p>
              <a:r>
                <a:rPr lang="en-US" altLang="ko-KR" dirty="0"/>
                <a:t>0.5</a:t>
              </a:r>
            </a:p>
          </p:txBody>
        </p:sp>
        <p:sp>
          <p:nvSpPr>
            <p:cNvPr id="191" name="TextBox 190">
              <a:extLst>
                <a:ext uri="{FF2B5EF4-FFF2-40B4-BE49-F238E27FC236}">
                  <a16:creationId xmlns:a16="http://schemas.microsoft.com/office/drawing/2014/main" id="{FFC49AEA-2A8F-250C-A86A-A7751D9706C3}"/>
                </a:ext>
              </a:extLst>
            </p:cNvPr>
            <p:cNvSpPr txBox="1"/>
            <p:nvPr/>
          </p:nvSpPr>
          <p:spPr>
            <a:xfrm>
              <a:off x="3290592" y="287368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cxnSp>
        <p:nvCxnSpPr>
          <p:cNvPr id="192" name="직선 연결선 191">
            <a:extLst>
              <a:ext uri="{FF2B5EF4-FFF2-40B4-BE49-F238E27FC236}">
                <a16:creationId xmlns:a16="http://schemas.microsoft.com/office/drawing/2014/main" id="{E9293055-D5CD-4B9E-7F64-64B2D2CA7A52}"/>
              </a:ext>
            </a:extLst>
          </p:cNvPr>
          <p:cNvCxnSpPr/>
          <p:nvPr/>
        </p:nvCxnSpPr>
        <p:spPr>
          <a:xfrm>
            <a:off x="3792785" y="470068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4" name="타원 10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456423048"/>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249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MUI-BD-10-M15</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675399" y="386311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5" name="TextBox 114">
            <a:extLst>
              <a:ext uri="{FF2B5EF4-FFF2-40B4-BE49-F238E27FC236}">
                <a16:creationId xmlns:a16="http://schemas.microsoft.com/office/drawing/2014/main" id="{FFC49AEA-2A8F-250C-A86A-A7751D9706C3}"/>
              </a:ext>
            </a:extLst>
          </p:cNvPr>
          <p:cNvSpPr txBox="1"/>
          <p:nvPr/>
        </p:nvSpPr>
        <p:spPr>
          <a:xfrm>
            <a:off x="788988" y="1553506"/>
            <a:ext cx="2535669"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r>
              <a:rPr lang="en-US" altLang="ko-KR" dirty="0"/>
              <a:t>I-2.</a:t>
            </a:r>
            <a:r>
              <a:rPr lang="ko-KR" altLang="en-US" dirty="0"/>
              <a:t>기술평가등급</a:t>
            </a:r>
          </a:p>
        </p:txBody>
      </p:sp>
      <p:sp>
        <p:nvSpPr>
          <p:cNvPr id="121" name="직사각형 120"/>
          <p:cNvSpPr/>
          <p:nvPr/>
        </p:nvSpPr>
        <p:spPr>
          <a:xfrm>
            <a:off x="713457" y="1828528"/>
            <a:ext cx="1639886" cy="193647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2" name="TextBox 121">
            <a:extLst>
              <a:ext uri="{FF2B5EF4-FFF2-40B4-BE49-F238E27FC236}">
                <a16:creationId xmlns:a16="http://schemas.microsoft.com/office/drawing/2014/main" id="{FFC49AEA-2A8F-250C-A86A-A7751D9706C3}"/>
              </a:ext>
            </a:extLst>
          </p:cNvPr>
          <p:cNvSpPr txBox="1"/>
          <p:nvPr/>
        </p:nvSpPr>
        <p:spPr>
          <a:xfrm>
            <a:off x="800520" y="1828529"/>
            <a:ext cx="1570293" cy="1938992"/>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a:p>
            <a:pPr>
              <a:lnSpc>
                <a:spcPct val="200000"/>
              </a:lnSpc>
            </a:pPr>
            <a:r>
              <a:rPr lang="en-US" altLang="ko-KR" sz="700" dirty="0">
                <a:latin typeface="+mn-ea"/>
              </a:rPr>
              <a:t>T1(</a:t>
            </a:r>
            <a:r>
              <a:rPr lang="ko-KR" altLang="en-US" sz="700" dirty="0">
                <a:latin typeface="+mn-ea"/>
              </a:rPr>
              <a:t>최고수준</a:t>
            </a:r>
            <a:r>
              <a:rPr lang="en-US" altLang="ko-KR" sz="700" dirty="0">
                <a:latin typeface="+mn-ea"/>
              </a:rPr>
              <a:t>)</a:t>
            </a:r>
          </a:p>
          <a:p>
            <a:pPr>
              <a:lnSpc>
                <a:spcPct val="200000"/>
              </a:lnSpc>
            </a:pPr>
            <a:r>
              <a:rPr lang="en-US" altLang="ko-KR" sz="700" dirty="0">
                <a:latin typeface="+mn-ea"/>
              </a:rPr>
              <a:t>T2(</a:t>
            </a:r>
            <a:r>
              <a:rPr lang="ko-KR" altLang="en-US" sz="700" dirty="0" err="1">
                <a:latin typeface="+mn-ea"/>
              </a:rPr>
              <a:t>매우우수</a:t>
            </a:r>
            <a:r>
              <a:rPr lang="en-US" altLang="ko-KR" sz="700" dirty="0">
                <a:latin typeface="+mn-ea"/>
              </a:rPr>
              <a:t>)</a:t>
            </a:r>
          </a:p>
          <a:p>
            <a:pPr>
              <a:lnSpc>
                <a:spcPct val="200000"/>
              </a:lnSpc>
            </a:pPr>
            <a:r>
              <a:rPr lang="en-US" altLang="ko-KR" sz="700" dirty="0">
                <a:latin typeface="+mn-ea"/>
              </a:rPr>
              <a:t>T3(</a:t>
            </a:r>
            <a:r>
              <a:rPr lang="ko-KR" altLang="en-US" sz="700" dirty="0" err="1">
                <a:latin typeface="+mn-ea"/>
              </a:rPr>
              <a:t>우수수준</a:t>
            </a:r>
            <a:r>
              <a:rPr lang="en-US" altLang="ko-KR" sz="700" dirty="0">
                <a:latin typeface="+mn-ea"/>
              </a:rPr>
              <a:t>)</a:t>
            </a:r>
          </a:p>
          <a:p>
            <a:pPr>
              <a:lnSpc>
                <a:spcPct val="200000"/>
              </a:lnSpc>
            </a:pPr>
            <a:r>
              <a:rPr lang="en-US" altLang="ko-KR" sz="700" dirty="0">
                <a:latin typeface="+mn-ea"/>
              </a:rPr>
              <a:t>T4(</a:t>
            </a:r>
            <a:r>
              <a:rPr lang="ko-KR" altLang="en-US" sz="700" dirty="0" err="1">
                <a:latin typeface="+mn-ea"/>
              </a:rPr>
              <a:t>양호수준</a:t>
            </a:r>
            <a:r>
              <a:rPr lang="en-US" altLang="ko-KR" sz="700" dirty="0">
                <a:latin typeface="+mn-ea"/>
              </a:rPr>
              <a:t>)</a:t>
            </a:r>
          </a:p>
          <a:p>
            <a:pPr>
              <a:lnSpc>
                <a:spcPct val="200000"/>
              </a:lnSpc>
            </a:pPr>
            <a:r>
              <a:rPr lang="en-US" altLang="ko-KR" sz="700" dirty="0">
                <a:latin typeface="+mn-ea"/>
              </a:rPr>
              <a:t>T5(</a:t>
            </a:r>
            <a:r>
              <a:rPr lang="ko-KR" altLang="en-US" sz="700" dirty="0">
                <a:latin typeface="+mn-ea"/>
              </a:rPr>
              <a:t>보통이상</a:t>
            </a:r>
            <a:r>
              <a:rPr lang="en-US" altLang="ko-KR" sz="700" dirty="0">
                <a:latin typeface="+mn-ea"/>
              </a:rPr>
              <a:t>)</a:t>
            </a:r>
          </a:p>
          <a:p>
            <a:pPr>
              <a:lnSpc>
                <a:spcPct val="200000"/>
              </a:lnSpc>
            </a:pPr>
            <a:r>
              <a:rPr lang="en-US" altLang="ko-KR" sz="700" dirty="0">
                <a:latin typeface="+mn-ea"/>
              </a:rPr>
              <a:t>T6(</a:t>
            </a:r>
            <a:r>
              <a:rPr lang="ko-KR" altLang="en-US" sz="700" dirty="0" err="1">
                <a:latin typeface="+mn-ea"/>
              </a:rPr>
              <a:t>보통수준</a:t>
            </a:r>
            <a:r>
              <a:rPr lang="en-US" altLang="ko-KR" sz="700" dirty="0">
                <a:latin typeface="+mn-ea"/>
              </a:rPr>
              <a:t>)</a:t>
            </a:r>
          </a:p>
          <a:p>
            <a:pPr>
              <a:lnSpc>
                <a:spcPct val="200000"/>
              </a:lnSpc>
            </a:pPr>
            <a:r>
              <a:rPr lang="en-US" altLang="ko-KR" sz="700" dirty="0">
                <a:latin typeface="+mn-ea"/>
              </a:rPr>
              <a:t>T7(</a:t>
            </a:r>
            <a:r>
              <a:rPr lang="ko-KR" altLang="en-US" sz="700" dirty="0" err="1">
                <a:latin typeface="+mn-ea"/>
              </a:rPr>
              <a:t>보통정도</a:t>
            </a:r>
            <a:r>
              <a:rPr lang="en-US" altLang="ko-KR" sz="700" dirty="0">
                <a:latin typeface="+mn-ea"/>
              </a:rPr>
              <a:t>)</a:t>
            </a:r>
          </a:p>
          <a:p>
            <a:pPr>
              <a:lnSpc>
                <a:spcPct val="200000"/>
              </a:lnSpc>
            </a:pPr>
            <a:r>
              <a:rPr lang="en-US" altLang="ko-KR" sz="700" dirty="0">
                <a:latin typeface="+mn-ea"/>
              </a:rPr>
              <a:t>T8</a:t>
            </a:r>
            <a:r>
              <a:rPr lang="ko-KR" altLang="en-US" sz="700" dirty="0">
                <a:latin typeface="+mn-ea"/>
              </a:rPr>
              <a:t>이하</a:t>
            </a:r>
            <a:r>
              <a:rPr lang="en-US" altLang="ko-KR" sz="700" dirty="0">
                <a:latin typeface="+mn-ea"/>
              </a:rPr>
              <a:t>(</a:t>
            </a:r>
            <a:r>
              <a:rPr lang="ko-KR" altLang="en-US" sz="700" dirty="0" err="1">
                <a:latin typeface="+mn-ea"/>
              </a:rPr>
              <a:t>보통이하</a:t>
            </a:r>
            <a:r>
              <a:rPr lang="en-US" altLang="ko-KR" sz="700" dirty="0">
                <a:latin typeface="+mn-ea"/>
              </a:rPr>
              <a:t>)</a:t>
            </a:r>
          </a:p>
        </p:txBody>
      </p:sp>
      <p:sp>
        <p:nvSpPr>
          <p:cNvPr id="123" name="TextBox 122">
            <a:extLst>
              <a:ext uri="{FF2B5EF4-FFF2-40B4-BE49-F238E27FC236}">
                <a16:creationId xmlns:a16="http://schemas.microsoft.com/office/drawing/2014/main" id="{FFC49AEA-2A8F-250C-A86A-A7751D9706C3}"/>
              </a:ext>
            </a:extLst>
          </p:cNvPr>
          <p:cNvSpPr txBox="1"/>
          <p:nvPr/>
        </p:nvSpPr>
        <p:spPr>
          <a:xfrm>
            <a:off x="2528498" y="1828529"/>
            <a:ext cx="179600" cy="1938992"/>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a:p>
            <a:pPr algn="r">
              <a:lnSpc>
                <a:spcPct val="200000"/>
              </a:lnSpc>
            </a:pPr>
            <a:r>
              <a:rPr lang="en-US" altLang="ko-KR" sz="700" dirty="0">
                <a:latin typeface="+mn-ea"/>
              </a:rPr>
              <a:t>10.0</a:t>
            </a:r>
          </a:p>
          <a:p>
            <a:pPr algn="r">
              <a:lnSpc>
                <a:spcPct val="200000"/>
              </a:lnSpc>
            </a:pPr>
            <a:r>
              <a:rPr lang="en-US" altLang="ko-KR" sz="700" dirty="0">
                <a:latin typeface="+mn-ea"/>
              </a:rPr>
              <a:t>9.8</a:t>
            </a:r>
          </a:p>
          <a:p>
            <a:pPr algn="r">
              <a:lnSpc>
                <a:spcPct val="200000"/>
              </a:lnSpc>
            </a:pPr>
            <a:r>
              <a:rPr lang="en-US" altLang="ko-KR" sz="700" dirty="0">
                <a:latin typeface="+mn-ea"/>
              </a:rPr>
              <a:t>9.6</a:t>
            </a:r>
          </a:p>
          <a:p>
            <a:pPr algn="r">
              <a:lnSpc>
                <a:spcPct val="200000"/>
              </a:lnSpc>
            </a:pPr>
            <a:r>
              <a:rPr lang="en-US" altLang="ko-KR" sz="700" dirty="0">
                <a:latin typeface="+mn-ea"/>
              </a:rPr>
              <a:t>9.4</a:t>
            </a:r>
          </a:p>
          <a:p>
            <a:pPr algn="r">
              <a:lnSpc>
                <a:spcPct val="200000"/>
              </a:lnSpc>
            </a:pPr>
            <a:r>
              <a:rPr lang="en-US" altLang="ko-KR" sz="700" dirty="0">
                <a:latin typeface="+mn-ea"/>
              </a:rPr>
              <a:t>9.2</a:t>
            </a:r>
          </a:p>
          <a:p>
            <a:pPr algn="r">
              <a:lnSpc>
                <a:spcPct val="200000"/>
              </a:lnSpc>
            </a:pPr>
            <a:r>
              <a:rPr lang="en-US" altLang="ko-KR" sz="700" dirty="0">
                <a:latin typeface="+mn-ea"/>
              </a:rPr>
              <a:t>9.0</a:t>
            </a:r>
          </a:p>
          <a:p>
            <a:pPr algn="r">
              <a:lnSpc>
                <a:spcPct val="200000"/>
              </a:lnSpc>
            </a:pPr>
            <a:r>
              <a:rPr lang="en-US" altLang="ko-KR" sz="700" dirty="0">
                <a:latin typeface="+mn-ea"/>
              </a:rPr>
              <a:t>8.8</a:t>
            </a:r>
          </a:p>
          <a:p>
            <a:pPr algn="r">
              <a:lnSpc>
                <a:spcPct val="200000"/>
              </a:lnSpc>
            </a:pPr>
            <a:r>
              <a:rPr lang="en-US" altLang="ko-KR" sz="700" dirty="0">
                <a:latin typeface="+mn-ea"/>
              </a:rPr>
              <a:t>8.0</a:t>
            </a: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710760" y="182852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9" name="직선 연결선 148">
            <a:extLst>
              <a:ext uri="{FF2B5EF4-FFF2-40B4-BE49-F238E27FC236}">
                <a16:creationId xmlns:a16="http://schemas.microsoft.com/office/drawing/2014/main" id="{E9293055-D5CD-4B9E-7F64-64B2D2CA7A52}"/>
              </a:ext>
            </a:extLst>
          </p:cNvPr>
          <p:cNvCxnSpPr/>
          <p:nvPr/>
        </p:nvCxnSpPr>
        <p:spPr>
          <a:xfrm>
            <a:off x="712853" y="20432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0" name="직선 연결선 149">
            <a:extLst>
              <a:ext uri="{FF2B5EF4-FFF2-40B4-BE49-F238E27FC236}">
                <a16:creationId xmlns:a16="http://schemas.microsoft.com/office/drawing/2014/main" id="{E9293055-D5CD-4B9E-7F64-64B2D2CA7A52}"/>
              </a:ext>
            </a:extLst>
          </p:cNvPr>
          <p:cNvCxnSpPr/>
          <p:nvPr/>
        </p:nvCxnSpPr>
        <p:spPr>
          <a:xfrm>
            <a:off x="712853" y="376777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1" name="TextBox 150">
            <a:extLst>
              <a:ext uri="{FF2B5EF4-FFF2-40B4-BE49-F238E27FC236}">
                <a16:creationId xmlns:a16="http://schemas.microsoft.com/office/drawing/2014/main" id="{FFC49AEA-2A8F-250C-A86A-A7751D9706C3}"/>
              </a:ext>
            </a:extLst>
          </p:cNvPr>
          <p:cNvSpPr txBox="1"/>
          <p:nvPr/>
        </p:nvSpPr>
        <p:spPr>
          <a:xfrm>
            <a:off x="2948868" y="1828529"/>
            <a:ext cx="359137" cy="1938992"/>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a:p>
            <a:pPr algn="r">
              <a:lnSpc>
                <a:spcPct val="200000"/>
              </a:lnSpc>
            </a:pPr>
            <a:r>
              <a:rPr lang="en-US" altLang="ko-KR" sz="700" dirty="0">
                <a:latin typeface="+mn-ea"/>
              </a:rPr>
              <a:t>-</a:t>
            </a:r>
          </a:p>
        </p:txBody>
      </p:sp>
      <p:sp>
        <p:nvSpPr>
          <p:cNvPr id="156" name="TextBox 155">
            <a:extLst>
              <a:ext uri="{FF2B5EF4-FFF2-40B4-BE49-F238E27FC236}">
                <a16:creationId xmlns:a16="http://schemas.microsoft.com/office/drawing/2014/main" id="{FFC49AEA-2A8F-250C-A86A-A7751D9706C3}"/>
              </a:ext>
            </a:extLst>
          </p:cNvPr>
          <p:cNvSpPr txBox="1"/>
          <p:nvPr/>
        </p:nvSpPr>
        <p:spPr>
          <a:xfrm>
            <a:off x="2353343" y="1553506"/>
            <a:ext cx="971314" cy="181140"/>
          </a:xfrm>
          <a:prstGeom prst="rect">
            <a:avLst/>
          </a:prstGeom>
          <a:noFill/>
        </p:spPr>
        <p:txBody>
          <a:bodyPr wrap="square" lIns="0" tIns="0" rIns="0" bIns="0" rtlCol="0">
            <a:spAutoFit/>
          </a:bodyPr>
          <a:lstStyle>
            <a:defPPr>
              <a:defRPr lang="ko-KR"/>
            </a:defPPr>
            <a:lvl1pPr>
              <a:lnSpc>
                <a:spcPct val="200000"/>
              </a:lnSpc>
              <a:defRPr sz="700" b="1">
                <a:latin typeface="+mn-ea"/>
              </a:defRPr>
            </a:lvl1pPr>
          </a:lstStyle>
          <a:p>
            <a:pPr algn="r"/>
            <a:r>
              <a:rPr lang="ko-KR" altLang="en-US" dirty="0" err="1"/>
              <a:t>배점한도</a:t>
            </a:r>
            <a:r>
              <a:rPr lang="ko-KR" altLang="en-US" dirty="0"/>
              <a:t> </a:t>
            </a:r>
            <a:r>
              <a:rPr lang="en-US" altLang="ko-KR" dirty="0"/>
              <a:t>10</a:t>
            </a:r>
            <a:r>
              <a:rPr lang="ko-KR" altLang="en-US" dirty="0"/>
              <a:t>점</a:t>
            </a:r>
          </a:p>
        </p:txBody>
      </p:sp>
      <p:cxnSp>
        <p:nvCxnSpPr>
          <p:cNvPr id="160" name="직선 연결선 159">
            <a:extLst>
              <a:ext uri="{FF2B5EF4-FFF2-40B4-BE49-F238E27FC236}">
                <a16:creationId xmlns:a16="http://schemas.microsoft.com/office/drawing/2014/main" id="{E9293055-D5CD-4B9E-7F64-64B2D2CA7A52}"/>
              </a:ext>
            </a:extLst>
          </p:cNvPr>
          <p:cNvCxnSpPr/>
          <p:nvPr/>
        </p:nvCxnSpPr>
        <p:spPr>
          <a:xfrm>
            <a:off x="710760" y="226613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12853" y="24808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10760" y="2709046"/>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712853" y="29237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12853" y="31344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10760" y="33625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12853" y="357733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3793173" y="1527996"/>
            <a:ext cx="2712027" cy="3109822"/>
            <a:chOff x="3793173" y="1527996"/>
            <a:chExt cx="2712027" cy="3109822"/>
          </a:xfrm>
        </p:grpSpPr>
        <p:sp>
          <p:nvSpPr>
            <p:cNvPr id="173" name="TextBox 172">
              <a:extLst>
                <a:ext uri="{FF2B5EF4-FFF2-40B4-BE49-F238E27FC236}">
                  <a16:creationId xmlns:a16="http://schemas.microsoft.com/office/drawing/2014/main" id="{FFC49AEA-2A8F-250C-A86A-A7751D9706C3}"/>
                </a:ext>
              </a:extLst>
            </p:cNvPr>
            <p:cNvSpPr txBox="1"/>
            <p:nvPr/>
          </p:nvSpPr>
          <p:spPr>
            <a:xfrm>
              <a:off x="3879920" y="1527996"/>
              <a:ext cx="2268636" cy="181140"/>
            </a:xfrm>
            <a:prstGeom prst="rect">
              <a:avLst/>
            </a:prstGeom>
            <a:noFill/>
          </p:spPr>
          <p:txBody>
            <a:bodyPr wrap="square" lIns="0" tIns="0" rIns="0" bIns="0" rtlCol="0">
              <a:spAutoFit/>
            </a:bodyPr>
            <a:lstStyle/>
            <a:p>
              <a:pPr>
                <a:lnSpc>
                  <a:spcPct val="200000"/>
                </a:lnSpc>
              </a:pPr>
              <a:r>
                <a:rPr lang="ko-KR" altLang="en-US" sz="700" dirty="0" err="1">
                  <a:latin typeface="+mn-ea"/>
                </a:rPr>
                <a:t>당해물품납품이행능력</a:t>
              </a:r>
              <a:r>
                <a:rPr lang="en-US" altLang="ko-KR" sz="700" dirty="0">
                  <a:latin typeface="+mn-ea"/>
                </a:rPr>
                <a:t>(30</a:t>
              </a:r>
              <a:r>
                <a:rPr lang="ko-KR" altLang="en-US" sz="700" dirty="0">
                  <a:latin typeface="+mn-ea"/>
                </a:rPr>
                <a:t>점</a:t>
              </a:r>
              <a:r>
                <a:rPr lang="en-US" altLang="ko-KR" sz="700" dirty="0">
                  <a:latin typeface="+mn-ea"/>
                </a:rPr>
                <a:t>)</a:t>
              </a:r>
            </a:p>
          </p:txBody>
        </p:sp>
        <p:grpSp>
          <p:nvGrpSpPr>
            <p:cNvPr id="193" name="그룹 192"/>
            <p:cNvGrpSpPr/>
            <p:nvPr/>
          </p:nvGrpSpPr>
          <p:grpSpPr>
            <a:xfrm flipV="1">
              <a:off x="6242007" y="1641327"/>
              <a:ext cx="94010" cy="47005"/>
              <a:chOff x="6812560" y="3297172"/>
              <a:chExt cx="94010" cy="47005"/>
            </a:xfrm>
          </p:grpSpPr>
          <p:cxnSp>
            <p:nvCxnSpPr>
              <p:cNvPr id="194" name="직선 연결선 1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5" name="직선 연결선 1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96" name="직선 연결선 195">
              <a:extLst>
                <a:ext uri="{FF2B5EF4-FFF2-40B4-BE49-F238E27FC236}">
                  <a16:creationId xmlns:a16="http://schemas.microsoft.com/office/drawing/2014/main" id="{E9293055-D5CD-4B9E-7F64-64B2D2CA7A52}"/>
                </a:ext>
              </a:extLst>
            </p:cNvPr>
            <p:cNvCxnSpPr/>
            <p:nvPr/>
          </p:nvCxnSpPr>
          <p:spPr>
            <a:xfrm>
              <a:off x="3793173" y="261489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3793173"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99" name="그룹 198"/>
            <p:cNvGrpSpPr/>
            <p:nvPr/>
          </p:nvGrpSpPr>
          <p:grpSpPr>
            <a:xfrm>
              <a:off x="3817607" y="1876425"/>
              <a:ext cx="2630093" cy="646331"/>
              <a:chOff x="701175" y="1835481"/>
              <a:chExt cx="2630093" cy="646331"/>
            </a:xfrm>
          </p:grpSpPr>
          <p:sp>
            <p:nvSpPr>
              <p:cNvPr id="200" name="직사각형 199"/>
              <p:cNvSpPr/>
              <p:nvPr/>
            </p:nvSpPr>
            <p:spPr>
              <a:xfrm>
                <a:off x="703268" y="1835481"/>
                <a:ext cx="792000" cy="6327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1" name="TextBox 200">
                <a:extLst>
                  <a:ext uri="{FF2B5EF4-FFF2-40B4-BE49-F238E27FC236}">
                    <a16:creationId xmlns:a16="http://schemas.microsoft.com/office/drawing/2014/main" id="{FFC49AEA-2A8F-250C-A86A-A7751D9706C3}"/>
                  </a:ext>
                </a:extLst>
              </p:cNvPr>
              <p:cNvSpPr txBox="1"/>
              <p:nvPr/>
            </p:nvSpPr>
            <p:spPr>
              <a:xfrm>
                <a:off x="790331" y="1835481"/>
                <a:ext cx="725552" cy="612027"/>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등급</a:t>
                </a:r>
                <a:endParaRPr lang="en-US" altLang="ko-KR" sz="700" dirty="0">
                  <a:latin typeface="+mn-ea"/>
                </a:endParaRPr>
              </a:p>
              <a:p>
                <a:pPr>
                  <a:lnSpc>
                    <a:spcPct val="200000"/>
                  </a:lnSpc>
                </a:pPr>
                <a:r>
                  <a:rPr lang="ko-KR" altLang="en-US" sz="700" dirty="0" err="1">
                    <a:latin typeface="+mn-ea"/>
                  </a:rPr>
                  <a:t>심사평점</a:t>
                </a:r>
                <a:endParaRPr lang="en-US" altLang="ko-KR" sz="700" dirty="0">
                  <a:latin typeface="+mn-ea"/>
                </a:endParaRPr>
              </a:p>
            </p:txBody>
          </p:sp>
          <p:sp>
            <p:nvSpPr>
              <p:cNvPr id="202" name="TextBox 201">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신용평가등급</a:t>
                </a:r>
                <a:r>
                  <a:rPr lang="en-US" altLang="ko-KR" sz="700" dirty="0">
                    <a:latin typeface="+mn-ea"/>
                  </a:rPr>
                  <a:t>(</a:t>
                </a:r>
                <a:r>
                  <a:rPr lang="ko-KR" altLang="en-US" sz="700" dirty="0">
                    <a:latin typeface="+mn-ea"/>
                  </a:rPr>
                  <a:t>회사채</a:t>
                </a:r>
                <a:r>
                  <a:rPr lang="en-US" altLang="ko-KR" sz="700" dirty="0">
                    <a:latin typeface="+mn-ea"/>
                  </a:rPr>
                  <a:t>, </a:t>
                </a:r>
                <a:r>
                  <a:rPr lang="ko-KR" altLang="en-US" sz="700" dirty="0">
                    <a:latin typeface="+mn-ea"/>
                  </a:rPr>
                  <a:t>기업신용평가</a:t>
                </a:r>
                <a:r>
                  <a:rPr lang="en-US" altLang="ko-KR" sz="700" dirty="0">
                    <a:latin typeface="+mn-ea"/>
                  </a:rPr>
                  <a:t>)</a:t>
                </a:r>
              </a:p>
              <a:p>
                <a:pPr>
                  <a:lnSpc>
                    <a:spcPct val="200000"/>
                  </a:lnSpc>
                </a:pPr>
                <a:r>
                  <a:rPr lang="en-US" altLang="ko-KR" sz="700" dirty="0">
                    <a:latin typeface="+mn-ea"/>
                  </a:rPr>
                  <a:t>-</a:t>
                </a:r>
              </a:p>
              <a:p>
                <a:pPr algn="r">
                  <a:lnSpc>
                    <a:spcPct val="200000"/>
                  </a:lnSpc>
                </a:pPr>
                <a:r>
                  <a:rPr lang="en-US" altLang="ko-KR" sz="700" dirty="0">
                    <a:latin typeface="+mn-ea"/>
                  </a:rPr>
                  <a:t>-</a:t>
                </a:r>
              </a:p>
            </p:txBody>
          </p:sp>
          <p:grpSp>
            <p:nvGrpSpPr>
              <p:cNvPr id="203" name="그룹 202"/>
              <p:cNvGrpSpPr/>
              <p:nvPr/>
            </p:nvGrpSpPr>
            <p:grpSpPr>
              <a:xfrm>
                <a:off x="701175" y="1835481"/>
                <a:ext cx="2630093" cy="644220"/>
                <a:chOff x="701175" y="1835481"/>
                <a:chExt cx="2630093" cy="644220"/>
              </a:xfrm>
            </p:grpSpPr>
            <p:cxnSp>
              <p:nvCxnSpPr>
                <p:cNvPr id="204" name="직선 연결선 20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09" name="TextBox 208">
              <a:extLst>
                <a:ext uri="{FF2B5EF4-FFF2-40B4-BE49-F238E27FC236}">
                  <a16:creationId xmlns:a16="http://schemas.microsoft.com/office/drawing/2014/main" id="{FFC49AEA-2A8F-250C-A86A-A7751D9706C3}"/>
                </a:ext>
              </a:extLst>
            </p:cNvPr>
            <p:cNvSpPr txBox="1"/>
            <p:nvPr/>
          </p:nvSpPr>
          <p:spPr>
            <a:xfrm>
              <a:off x="3879920" y="2656994"/>
              <a:ext cx="2268636" cy="215444"/>
            </a:xfrm>
            <a:prstGeom prst="rect">
              <a:avLst/>
            </a:prstGeom>
            <a:noFill/>
          </p:spPr>
          <p:txBody>
            <a:bodyPr wrap="square" lIns="0" tIns="0" rIns="0" bIns="0" rtlCol="0">
              <a:spAutoFit/>
            </a:bodyPr>
            <a:lstStyle/>
            <a:p>
              <a:pPr>
                <a:lnSpc>
                  <a:spcPct val="200000"/>
                </a:lnSpc>
              </a:pPr>
              <a:r>
                <a:rPr lang="ko-KR" altLang="en-US" sz="700" dirty="0">
                  <a:latin typeface="+mn-ea"/>
                </a:rPr>
                <a:t>입찰가격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50</a:t>
              </a:r>
            </a:p>
          </p:txBody>
        </p:sp>
        <p:grpSp>
          <p:nvGrpSpPr>
            <p:cNvPr id="210" name="그룹 209"/>
            <p:cNvGrpSpPr/>
            <p:nvPr/>
          </p:nvGrpSpPr>
          <p:grpSpPr>
            <a:xfrm flipV="1">
              <a:off x="6242007" y="2770325"/>
              <a:ext cx="94010" cy="47005"/>
              <a:chOff x="6812560" y="3297172"/>
              <a:chExt cx="94010" cy="47005"/>
            </a:xfrm>
          </p:grpSpPr>
          <p:cxnSp>
            <p:nvCxnSpPr>
              <p:cNvPr id="212" name="직선 연결선 21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3" name="직선 연결선 21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3173" y="463781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5" name="직선 연결선 214">
              <a:extLst>
                <a:ext uri="{FF2B5EF4-FFF2-40B4-BE49-F238E27FC236}">
                  <a16:creationId xmlns:a16="http://schemas.microsoft.com/office/drawing/2014/main" id="{E9293055-D5CD-4B9E-7F64-64B2D2CA7A52}"/>
                </a:ext>
              </a:extLst>
            </p:cNvPr>
            <p:cNvCxnSpPr/>
            <p:nvPr/>
          </p:nvCxnSpPr>
          <p:spPr>
            <a:xfrm>
              <a:off x="3793173" y="29438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16" name="그룹 215"/>
            <p:cNvGrpSpPr/>
            <p:nvPr/>
          </p:nvGrpSpPr>
          <p:grpSpPr>
            <a:xfrm>
              <a:off x="3817607" y="3005422"/>
              <a:ext cx="2630093" cy="1094598"/>
              <a:chOff x="701175" y="1835480"/>
              <a:chExt cx="2630093" cy="1094598"/>
            </a:xfrm>
          </p:grpSpPr>
          <p:sp>
            <p:nvSpPr>
              <p:cNvPr id="217" name="직사각형 216"/>
              <p:cNvSpPr/>
              <p:nvPr/>
            </p:nvSpPr>
            <p:spPr>
              <a:xfrm>
                <a:off x="703268" y="1835480"/>
                <a:ext cx="792000" cy="10945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TextBox 217">
                <a:extLst>
                  <a:ext uri="{FF2B5EF4-FFF2-40B4-BE49-F238E27FC236}">
                    <a16:creationId xmlns:a16="http://schemas.microsoft.com/office/drawing/2014/main" id="{FFC49AEA-2A8F-250C-A86A-A7751D9706C3}"/>
                  </a:ext>
                </a:extLst>
              </p:cNvPr>
              <p:cNvSpPr txBox="1"/>
              <p:nvPr/>
            </p:nvSpPr>
            <p:spPr>
              <a:xfrm>
                <a:off x="790330" y="1835481"/>
                <a:ext cx="754231" cy="1077218"/>
              </a:xfrm>
              <a:prstGeom prst="rect">
                <a:avLst/>
              </a:prstGeom>
              <a:noFill/>
            </p:spPr>
            <p:txBody>
              <a:bodyPr wrap="square" lIns="0" tIns="0" rIns="0" bIns="0" rtlCol="0">
                <a:spAutoFit/>
              </a:bodyPr>
              <a:lstStyle/>
              <a:p>
                <a:pPr>
                  <a:lnSpc>
                    <a:spcPct val="200000"/>
                  </a:lnSpc>
                </a:pPr>
                <a:r>
                  <a:rPr lang="ko-KR" altLang="en-US" sz="700" dirty="0">
                    <a:latin typeface="+mn-ea"/>
                  </a:rPr>
                  <a:t>가격점수산식</a:t>
                </a:r>
                <a:endParaRPr lang="en-US" altLang="ko-KR" sz="700" dirty="0">
                  <a:latin typeface="+mn-ea"/>
                </a:endParaRPr>
              </a:p>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en-US" altLang="ko-KR" sz="700" dirty="0">
                    <a:latin typeface="+mn-ea"/>
                  </a:rPr>
                  <a:t>(A)/(B)</a:t>
                </a:r>
              </a:p>
              <a:p>
                <a:pPr>
                  <a:lnSpc>
                    <a:spcPct val="200000"/>
                  </a:lnSpc>
                </a:pPr>
                <a:r>
                  <a:rPr lang="ko-KR" altLang="en-US" sz="700" dirty="0" err="1">
                    <a:latin typeface="+mn-ea"/>
                  </a:rPr>
                  <a:t>가격점수</a:t>
                </a:r>
                <a:r>
                  <a:rPr lang="ko-KR" altLang="en-US" sz="700" dirty="0">
                    <a:latin typeface="+mn-ea"/>
                  </a:rPr>
                  <a:t> </a:t>
                </a:r>
                <a:r>
                  <a:rPr lang="ko-KR" altLang="en-US" sz="700" dirty="0" err="1">
                    <a:latin typeface="+mn-ea"/>
                  </a:rPr>
                  <a:t>산정결과</a:t>
                </a:r>
                <a:endParaRPr lang="en-US" altLang="ko-KR" sz="700" dirty="0">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1547180" y="1835481"/>
                <a:ext cx="1775839" cy="1061829"/>
              </a:xfrm>
              <a:prstGeom prst="rect">
                <a:avLst/>
              </a:prstGeom>
              <a:noFill/>
            </p:spPr>
            <p:txBody>
              <a:bodyPr wrap="square" lIns="0" tIns="0" rIns="0" bIns="0" rtlCol="0">
                <a:spAutoFit/>
              </a:bodyPr>
              <a:lstStyle/>
              <a:p>
                <a:pPr>
                  <a:lnSpc>
                    <a:spcPct val="200000"/>
                  </a:lnSpc>
                </a:pPr>
                <a:r>
                  <a:rPr lang="en-US" altLang="ko-KR" sz="650" dirty="0">
                    <a:latin typeface="+mn-ea"/>
                  </a:rPr>
                  <a:t>60 - 4 X | 0.91 - </a:t>
                </a:r>
                <a:r>
                  <a:rPr lang="ko-KR" altLang="en-US" sz="650" dirty="0">
                    <a:latin typeface="+mn-ea"/>
                  </a:rPr>
                  <a:t>입찰가격 </a:t>
                </a:r>
                <a:r>
                  <a:rPr lang="en-US" altLang="ko-KR" sz="650" dirty="0">
                    <a:latin typeface="+mn-ea"/>
                  </a:rPr>
                  <a:t>/ </a:t>
                </a:r>
                <a:r>
                  <a:rPr lang="ko-KR" altLang="en-US" sz="650" dirty="0">
                    <a:latin typeface="+mn-ea"/>
                  </a:rPr>
                  <a:t>예정가격 </a:t>
                </a:r>
                <a:r>
                  <a:rPr lang="en-US" altLang="ko-KR" sz="650" dirty="0">
                    <a:latin typeface="+mn-ea"/>
                  </a:rPr>
                  <a:t>| X 100</a:t>
                </a: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a:t>
                </a:r>
              </a:p>
            </p:txBody>
          </p:sp>
          <p:grpSp>
            <p:nvGrpSpPr>
              <p:cNvPr id="220" name="그룹 219"/>
              <p:cNvGrpSpPr/>
              <p:nvPr/>
            </p:nvGrpSpPr>
            <p:grpSpPr>
              <a:xfrm>
                <a:off x="701175" y="1835481"/>
                <a:ext cx="2630093" cy="1094597"/>
                <a:chOff x="701175" y="1835481"/>
                <a:chExt cx="2630093" cy="1094597"/>
              </a:xfrm>
            </p:grpSpPr>
            <p:cxnSp>
              <p:nvCxnSpPr>
                <p:cNvPr id="221" name="직선 연결선 22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5" name="직선 연결선 224">
                  <a:extLst>
                    <a:ext uri="{FF2B5EF4-FFF2-40B4-BE49-F238E27FC236}">
                      <a16:creationId xmlns:a16="http://schemas.microsoft.com/office/drawing/2014/main" id="{E9293055-D5CD-4B9E-7F64-64B2D2CA7A52}"/>
                    </a:ext>
                  </a:extLst>
                </p:cNvPr>
                <p:cNvCxnSpPr/>
                <p:nvPr/>
              </p:nvCxnSpPr>
              <p:spPr>
                <a:xfrm>
                  <a:off x="703268" y="27153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6" name="직선 연결선 225">
                  <a:extLst>
                    <a:ext uri="{FF2B5EF4-FFF2-40B4-BE49-F238E27FC236}">
                      <a16:creationId xmlns:a16="http://schemas.microsoft.com/office/drawing/2014/main" id="{E9293055-D5CD-4B9E-7F64-64B2D2CA7A52}"/>
                    </a:ext>
                  </a:extLst>
                </p:cNvPr>
                <p:cNvCxnSpPr/>
                <p:nvPr/>
              </p:nvCxnSpPr>
              <p:spPr>
                <a:xfrm>
                  <a:off x="703268" y="29300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27" name="TextBox 226">
              <a:extLst>
                <a:ext uri="{FF2B5EF4-FFF2-40B4-BE49-F238E27FC236}">
                  <a16:creationId xmlns:a16="http://schemas.microsoft.com/office/drawing/2014/main" id="{FFC49AEA-2A8F-250C-A86A-A7751D9706C3}"/>
                </a:ext>
              </a:extLst>
            </p:cNvPr>
            <p:cNvSpPr txBox="1"/>
            <p:nvPr/>
          </p:nvSpPr>
          <p:spPr>
            <a:xfrm>
              <a:off x="3879919" y="4216728"/>
              <a:ext cx="2456097" cy="323165"/>
            </a:xfrm>
            <a:prstGeom prst="rect">
              <a:avLst/>
            </a:prstGeom>
            <a:noFill/>
          </p:spPr>
          <p:txBody>
            <a:bodyPr wrap="square" lIns="0" tIns="0" rIns="0" bIns="0" rtlCol="0">
              <a:spAutoFit/>
            </a:bodyPr>
            <a:lstStyle>
              <a:defPPr>
                <a:defRPr lang="ko-KR"/>
              </a:defPPr>
              <a:lvl1pPr>
                <a:defRPr sz="700">
                  <a:latin typeface="+mn-ea"/>
                </a:defRPr>
              </a:lvl1pPr>
            </a:lstStyle>
            <a:p>
              <a:pPr algn="ctr"/>
              <a:r>
                <a:rPr lang="ko-KR" altLang="en-US" dirty="0"/>
                <a:t>입찰가격이 예정가격 이하로서</a:t>
              </a:r>
              <a:endParaRPr lang="en-US" altLang="ko-KR" dirty="0"/>
            </a:p>
            <a:p>
              <a:pPr algn="ctr"/>
              <a:r>
                <a:rPr lang="ko-KR" altLang="en-US" dirty="0"/>
                <a:t>예정가격의 </a:t>
              </a:r>
              <a:r>
                <a:rPr lang="en-US" altLang="ko-KR" dirty="0"/>
                <a:t>100</a:t>
              </a:r>
              <a:r>
                <a:rPr lang="ko-KR" altLang="en-US" dirty="0"/>
                <a:t>분의 </a:t>
              </a:r>
              <a:r>
                <a:rPr lang="en-US" altLang="ko-KR" dirty="0"/>
                <a:t>94</a:t>
              </a:r>
              <a:r>
                <a:rPr lang="ko-KR" altLang="en-US" dirty="0"/>
                <a:t>인 경우 평점은 </a:t>
              </a:r>
              <a:r>
                <a:rPr lang="en-US" altLang="ko-KR" dirty="0"/>
                <a:t>43</a:t>
              </a:r>
              <a:r>
                <a:rPr lang="ko-KR" altLang="en-US" dirty="0"/>
                <a:t>점</a:t>
              </a:r>
              <a:r>
                <a:rPr lang="en-US" altLang="ko-KR" dirty="0"/>
                <a:t/>
              </a:r>
              <a:br>
                <a:rPr lang="en-US" altLang="ko-KR" dirty="0"/>
              </a:br>
              <a:r>
                <a:rPr lang="ko-KR" altLang="en-US" dirty="0" err="1"/>
                <a:t>최저평점</a:t>
              </a:r>
              <a:r>
                <a:rPr lang="ko-KR" altLang="en-US" dirty="0"/>
                <a:t> </a:t>
              </a:r>
              <a:r>
                <a:rPr lang="en-US" altLang="ko-KR" dirty="0"/>
                <a:t>: 2</a:t>
              </a:r>
              <a:r>
                <a:rPr lang="ko-KR" altLang="en-US" dirty="0"/>
                <a:t>점</a:t>
              </a:r>
            </a:p>
          </p:txBody>
        </p:sp>
      </p:grpSp>
      <p:sp>
        <p:nvSpPr>
          <p:cNvPr id="72" name="타원 71">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424468799"/>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250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MUI-BD-10-M15</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11" name="TextBox 210">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신인도 산출 내역 </a:t>
            </a:r>
            <a:r>
              <a:rPr lang="en-US" altLang="ko-KR" sz="700" dirty="0">
                <a:latin typeface="+mn-ea"/>
              </a:rPr>
              <a:t>: </a:t>
            </a:r>
            <a:r>
              <a:rPr lang="ko-KR" altLang="en-US" sz="700" dirty="0" err="1">
                <a:latin typeface="+mn-ea"/>
              </a:rPr>
              <a:t>배점한도</a:t>
            </a:r>
            <a:r>
              <a:rPr lang="ko-KR" altLang="en-US" sz="700" dirty="0">
                <a:latin typeface="+mn-ea"/>
              </a:rPr>
              <a:t> </a:t>
            </a:r>
            <a:r>
              <a:rPr lang="en-US" altLang="ko-KR" sz="700" dirty="0">
                <a:latin typeface="+mn-ea"/>
              </a:rPr>
              <a:t>+3 ~ -2</a:t>
            </a:r>
          </a:p>
        </p:txBody>
      </p:sp>
      <p:grpSp>
        <p:nvGrpSpPr>
          <p:cNvPr id="168" name="그룹 167"/>
          <p:cNvGrpSpPr/>
          <p:nvPr/>
        </p:nvGrpSpPr>
        <p:grpSpPr>
          <a:xfrm flipV="1">
            <a:off x="3124233" y="1641327"/>
            <a:ext cx="94010" cy="47005"/>
            <a:chOff x="6812560" y="3297172"/>
            <a:chExt cx="94010" cy="47005"/>
          </a:xfrm>
        </p:grpSpPr>
        <p:cxnSp>
          <p:nvCxnSpPr>
            <p:cNvPr id="170" name="직선 연결선 1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1" name="직선 연결선 1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72" name="직선 연결선 171">
            <a:extLst>
              <a:ext uri="{FF2B5EF4-FFF2-40B4-BE49-F238E27FC236}">
                <a16:creationId xmlns:a16="http://schemas.microsoft.com/office/drawing/2014/main" id="{E9293055-D5CD-4B9E-7F64-64B2D2CA7A52}"/>
              </a:ext>
            </a:extLst>
          </p:cNvPr>
          <p:cNvCxnSpPr/>
          <p:nvPr/>
        </p:nvCxnSpPr>
        <p:spPr>
          <a:xfrm>
            <a:off x="675399" y="181480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8" name="직사각형 227"/>
          <p:cNvSpPr/>
          <p:nvPr/>
        </p:nvSpPr>
        <p:spPr>
          <a:xfrm>
            <a:off x="712162" y="2555584"/>
            <a:ext cx="1639886" cy="88904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9" name="TextBox 228">
            <a:extLst>
              <a:ext uri="{FF2B5EF4-FFF2-40B4-BE49-F238E27FC236}">
                <a16:creationId xmlns:a16="http://schemas.microsoft.com/office/drawing/2014/main" id="{FFC49AEA-2A8F-250C-A86A-A7751D9706C3}"/>
              </a:ext>
            </a:extLst>
          </p:cNvPr>
          <p:cNvSpPr txBox="1"/>
          <p:nvPr/>
        </p:nvSpPr>
        <p:spPr>
          <a:xfrm>
            <a:off x="799225" y="2555585"/>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30" name="TextBox 229">
            <a:extLst>
              <a:ext uri="{FF2B5EF4-FFF2-40B4-BE49-F238E27FC236}">
                <a16:creationId xmlns:a16="http://schemas.microsoft.com/office/drawing/2014/main" id="{FFC49AEA-2A8F-250C-A86A-A7751D9706C3}"/>
              </a:ext>
            </a:extLst>
          </p:cNvPr>
          <p:cNvSpPr txBox="1"/>
          <p:nvPr/>
        </p:nvSpPr>
        <p:spPr>
          <a:xfrm>
            <a:off x="2527267"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31" name="직선 연결선 230">
            <a:extLst>
              <a:ext uri="{FF2B5EF4-FFF2-40B4-BE49-F238E27FC236}">
                <a16:creationId xmlns:a16="http://schemas.microsoft.com/office/drawing/2014/main" id="{E9293055-D5CD-4B9E-7F64-64B2D2CA7A52}"/>
              </a:ext>
            </a:extLst>
          </p:cNvPr>
          <p:cNvCxnSpPr/>
          <p:nvPr/>
        </p:nvCxnSpPr>
        <p:spPr>
          <a:xfrm>
            <a:off x="710070" y="25555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12163" y="27703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12163" y="344908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4" name="TextBox 233">
            <a:extLst>
              <a:ext uri="{FF2B5EF4-FFF2-40B4-BE49-F238E27FC236}">
                <a16:creationId xmlns:a16="http://schemas.microsoft.com/office/drawing/2014/main" id="{FFC49AEA-2A8F-250C-A86A-A7751D9706C3}"/>
              </a:ext>
            </a:extLst>
          </p:cNvPr>
          <p:cNvSpPr txBox="1"/>
          <p:nvPr/>
        </p:nvSpPr>
        <p:spPr>
          <a:xfrm>
            <a:off x="771041" y="1869398"/>
            <a:ext cx="2535669" cy="181140"/>
          </a:xfrm>
          <a:prstGeom prst="rect">
            <a:avLst/>
          </a:prstGeom>
          <a:noFill/>
        </p:spPr>
        <p:txBody>
          <a:bodyPr wrap="square" lIns="0" tIns="0" rIns="0" bIns="0" rtlCol="0">
            <a:spAutoFit/>
          </a:bodyPr>
          <a:lstStyle/>
          <a:p>
            <a:pPr>
              <a:lnSpc>
                <a:spcPct val="200000"/>
              </a:lnSpc>
            </a:pPr>
            <a:r>
              <a:rPr lang="en-US" altLang="ko-KR" sz="700" b="1" dirty="0">
                <a:latin typeface="+mn-ea"/>
              </a:rPr>
              <a:t>1. </a:t>
            </a:r>
            <a:r>
              <a:rPr lang="ko-KR" altLang="en-US" sz="700" b="1" dirty="0">
                <a:latin typeface="+mn-ea"/>
              </a:rPr>
              <a:t>품질관리 등 </a:t>
            </a:r>
            <a:r>
              <a:rPr lang="ko-KR" altLang="en-US" sz="700" b="1" dirty="0" err="1">
                <a:latin typeface="+mn-ea"/>
              </a:rPr>
              <a:t>신뢰정도</a:t>
            </a:r>
            <a:endParaRPr lang="ko-KR" altLang="en-US" sz="700" b="1" dirty="0">
              <a:latin typeface="+mn-ea"/>
            </a:endParaRPr>
          </a:p>
        </p:txBody>
      </p:sp>
      <p:sp>
        <p:nvSpPr>
          <p:cNvPr id="235" name="TextBox 234">
            <a:extLst>
              <a:ext uri="{FF2B5EF4-FFF2-40B4-BE49-F238E27FC236}">
                <a16:creationId xmlns:a16="http://schemas.microsoft.com/office/drawing/2014/main" id="{FFC49AEA-2A8F-250C-A86A-A7751D9706C3}"/>
              </a:ext>
            </a:extLst>
          </p:cNvPr>
          <p:cNvSpPr txBox="1"/>
          <p:nvPr/>
        </p:nvSpPr>
        <p:spPr>
          <a:xfrm>
            <a:off x="771041" y="2069635"/>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a:t>
            </a:r>
            <a:r>
              <a:rPr lang="ko-KR" altLang="en-US" sz="700" dirty="0" err="1">
                <a:latin typeface="+mn-ea"/>
              </a:rPr>
              <a:t>고도인증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고도기술에</a:t>
            </a:r>
            <a:r>
              <a:rPr lang="ko-KR" altLang="en-US" sz="700" dirty="0">
                <a:latin typeface="+mn-ea"/>
              </a:rPr>
              <a:t> 대한 인증</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2947637" y="2555585"/>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37" name="TextBox 236">
            <a:extLst>
              <a:ext uri="{FF2B5EF4-FFF2-40B4-BE49-F238E27FC236}">
                <a16:creationId xmlns:a16="http://schemas.microsoft.com/office/drawing/2014/main" id="{FFC49AEA-2A8F-250C-A86A-A7751D9706C3}"/>
              </a:ext>
            </a:extLst>
          </p:cNvPr>
          <p:cNvSpPr txBox="1"/>
          <p:nvPr/>
        </p:nvSpPr>
        <p:spPr>
          <a:xfrm>
            <a:off x="799225" y="2845534"/>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주무부 장관 등이 인증한 신기술</a:t>
            </a:r>
            <a:r>
              <a:rPr lang="en-US" altLang="ko-KR" sz="700" dirty="0">
                <a:latin typeface="+mn-ea"/>
              </a:rPr>
              <a:t>(NET, NEP)</a:t>
            </a:r>
            <a:r>
              <a:rPr lang="ko-KR" altLang="en-US" sz="700" dirty="0">
                <a:latin typeface="+mn-ea"/>
              </a:rPr>
              <a:t>인증</a:t>
            </a:r>
            <a:r>
              <a:rPr lang="en-US" altLang="ko-KR" sz="700" dirty="0">
                <a:latin typeface="+mn-ea"/>
              </a:rPr>
              <a:t>, </a:t>
            </a:r>
            <a:r>
              <a:rPr lang="ko-KR" altLang="en-US" sz="700" dirty="0">
                <a:latin typeface="+mn-ea"/>
              </a:rPr>
              <a:t>조달우수제품인증</a:t>
            </a:r>
            <a:r>
              <a:rPr lang="en-US" altLang="ko-KR" sz="700" dirty="0">
                <a:latin typeface="+mn-ea"/>
              </a:rPr>
              <a:t>, </a:t>
            </a:r>
            <a:r>
              <a:rPr lang="ko-KR" altLang="en-US" sz="700" dirty="0">
                <a:latin typeface="+mn-ea"/>
              </a:rPr>
              <a:t>중소기업 기술개발제품 </a:t>
            </a:r>
            <a:r>
              <a:rPr lang="ko-KR" altLang="en-US" sz="700" dirty="0" err="1">
                <a:latin typeface="+mn-ea"/>
              </a:rPr>
              <a:t>성능인증</a:t>
            </a:r>
            <a:r>
              <a:rPr lang="ko-KR" altLang="en-US" sz="700" dirty="0">
                <a:latin typeface="+mn-ea"/>
              </a:rPr>
              <a:t> 보유자</a:t>
            </a:r>
          </a:p>
          <a:p>
            <a:r>
              <a:rPr lang="en-US" altLang="ko-KR" sz="700" dirty="0">
                <a:latin typeface="+mn-ea"/>
              </a:rPr>
              <a:t>B.</a:t>
            </a:r>
            <a:r>
              <a:rPr lang="ko-KR" altLang="en-US" sz="700" dirty="0">
                <a:latin typeface="+mn-ea"/>
              </a:rPr>
              <a:t>녹색기술인증보유자</a:t>
            </a:r>
          </a:p>
        </p:txBody>
      </p:sp>
      <p:sp>
        <p:nvSpPr>
          <p:cNvPr id="238" name="TextBox 237">
            <a:extLst>
              <a:ext uri="{FF2B5EF4-FFF2-40B4-BE49-F238E27FC236}">
                <a16:creationId xmlns:a16="http://schemas.microsoft.com/office/drawing/2014/main" id="{FFC49AEA-2A8F-250C-A86A-A7751D9706C3}"/>
              </a:ext>
            </a:extLst>
          </p:cNvPr>
          <p:cNvSpPr txBox="1"/>
          <p:nvPr/>
        </p:nvSpPr>
        <p:spPr>
          <a:xfrm>
            <a:off x="2588181" y="3060977"/>
            <a:ext cx="11862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239" name="직사각형 238"/>
          <p:cNvSpPr/>
          <p:nvPr/>
        </p:nvSpPr>
        <p:spPr>
          <a:xfrm>
            <a:off x="712162" y="3968929"/>
            <a:ext cx="1639886" cy="122691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0" name="TextBox 239">
            <a:extLst>
              <a:ext uri="{FF2B5EF4-FFF2-40B4-BE49-F238E27FC236}">
                <a16:creationId xmlns:a16="http://schemas.microsoft.com/office/drawing/2014/main" id="{FFC49AEA-2A8F-250C-A86A-A7751D9706C3}"/>
              </a:ext>
            </a:extLst>
          </p:cNvPr>
          <p:cNvSpPr txBox="1"/>
          <p:nvPr/>
        </p:nvSpPr>
        <p:spPr>
          <a:xfrm>
            <a:off x="799225" y="396893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2527267" y="396893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42" name="직선 연결선 241">
            <a:extLst>
              <a:ext uri="{FF2B5EF4-FFF2-40B4-BE49-F238E27FC236}">
                <a16:creationId xmlns:a16="http://schemas.microsoft.com/office/drawing/2014/main" id="{E9293055-D5CD-4B9E-7F64-64B2D2CA7A52}"/>
              </a:ext>
            </a:extLst>
          </p:cNvPr>
          <p:cNvCxnSpPr/>
          <p:nvPr/>
        </p:nvCxnSpPr>
        <p:spPr>
          <a:xfrm>
            <a:off x="710070" y="39689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3" name="직선 연결선 242">
            <a:extLst>
              <a:ext uri="{FF2B5EF4-FFF2-40B4-BE49-F238E27FC236}">
                <a16:creationId xmlns:a16="http://schemas.microsoft.com/office/drawing/2014/main" id="{E9293055-D5CD-4B9E-7F64-64B2D2CA7A52}"/>
              </a:ext>
            </a:extLst>
          </p:cNvPr>
          <p:cNvCxnSpPr/>
          <p:nvPr/>
        </p:nvCxnSpPr>
        <p:spPr>
          <a:xfrm>
            <a:off x="712163" y="41836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712163" y="51958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5" name="TextBox 244">
            <a:extLst>
              <a:ext uri="{FF2B5EF4-FFF2-40B4-BE49-F238E27FC236}">
                <a16:creationId xmlns:a16="http://schemas.microsoft.com/office/drawing/2014/main" id="{FFC49AEA-2A8F-250C-A86A-A7751D9706C3}"/>
              </a:ext>
            </a:extLst>
          </p:cNvPr>
          <p:cNvSpPr txBox="1"/>
          <p:nvPr/>
        </p:nvSpPr>
        <p:spPr>
          <a:xfrm>
            <a:off x="771041" y="348298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a:t>
            </a:r>
            <a:r>
              <a:rPr lang="ko-KR" altLang="en-US" sz="700" dirty="0">
                <a:latin typeface="+mn-ea"/>
              </a:rPr>
              <a:t>녹색 </a:t>
            </a:r>
            <a:r>
              <a:rPr lang="ko-KR" altLang="en-US" sz="700" dirty="0" err="1">
                <a:latin typeface="+mn-ea"/>
              </a:rPr>
              <a:t>일반인증</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일반기술</a:t>
            </a:r>
            <a:r>
              <a:rPr lang="ko-KR" altLang="en-US" sz="700" dirty="0">
                <a:latin typeface="+mn-ea"/>
              </a:rPr>
              <a:t> 및 친환경</a:t>
            </a:r>
            <a:r>
              <a:rPr lang="en-US" altLang="ko-KR" sz="700" dirty="0">
                <a:latin typeface="+mn-ea"/>
              </a:rPr>
              <a:t>,</a:t>
            </a:r>
            <a:r>
              <a:rPr lang="ko-KR" altLang="en-US" sz="700" dirty="0">
                <a:latin typeface="+mn-ea"/>
              </a:rPr>
              <a:t>품질</a:t>
            </a:r>
            <a:r>
              <a:rPr lang="en-US" altLang="ko-KR" sz="700" dirty="0">
                <a:latin typeface="+mn-ea"/>
              </a:rPr>
              <a:t>,</a:t>
            </a:r>
            <a:r>
              <a:rPr lang="ko-KR" altLang="en-US" sz="700" dirty="0" err="1">
                <a:latin typeface="+mn-ea"/>
              </a:rPr>
              <a:t>규격등에</a:t>
            </a:r>
            <a:r>
              <a:rPr lang="ko-KR" altLang="en-US" sz="700" dirty="0">
                <a:latin typeface="+mn-ea"/>
              </a:rPr>
              <a:t> 대한 인증</a:t>
            </a:r>
          </a:p>
        </p:txBody>
      </p:sp>
      <p:sp>
        <p:nvSpPr>
          <p:cNvPr id="246" name="TextBox 245">
            <a:extLst>
              <a:ext uri="{FF2B5EF4-FFF2-40B4-BE49-F238E27FC236}">
                <a16:creationId xmlns:a16="http://schemas.microsoft.com/office/drawing/2014/main" id="{FFC49AEA-2A8F-250C-A86A-A7751D9706C3}"/>
              </a:ext>
            </a:extLst>
          </p:cNvPr>
          <p:cNvSpPr txBox="1"/>
          <p:nvPr/>
        </p:nvSpPr>
        <p:spPr>
          <a:xfrm>
            <a:off x="2947637" y="396893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47" name="TextBox 246">
            <a:extLst>
              <a:ext uri="{FF2B5EF4-FFF2-40B4-BE49-F238E27FC236}">
                <a16:creationId xmlns:a16="http://schemas.microsoft.com/office/drawing/2014/main" id="{FFC49AEA-2A8F-250C-A86A-A7751D9706C3}"/>
              </a:ext>
            </a:extLst>
          </p:cNvPr>
          <p:cNvSpPr txBox="1"/>
          <p:nvPr/>
        </p:nvSpPr>
        <p:spPr>
          <a:xfrm>
            <a:off x="799225" y="4258291"/>
            <a:ext cx="1480199" cy="861774"/>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특허</a:t>
            </a:r>
            <a:r>
              <a:rPr lang="en-US" altLang="ko-KR" sz="700" dirty="0">
                <a:latin typeface="+mn-ea"/>
              </a:rPr>
              <a:t>, </a:t>
            </a:r>
            <a:r>
              <a:rPr lang="ko-KR" altLang="en-US" sz="700" dirty="0">
                <a:latin typeface="+mn-ea"/>
              </a:rPr>
              <a:t>디자인 등록 보유자</a:t>
            </a:r>
            <a:r>
              <a:rPr lang="en-US" altLang="ko-KR" sz="700" dirty="0">
                <a:latin typeface="+mn-ea"/>
              </a:rPr>
              <a:t>, GS(</a:t>
            </a:r>
            <a:r>
              <a:rPr lang="ko-KR" altLang="en-US" sz="700" dirty="0" err="1">
                <a:latin typeface="+mn-ea"/>
              </a:rPr>
              <a:t>국산우수</a:t>
            </a:r>
            <a:r>
              <a:rPr lang="ko-KR" altLang="en-US" sz="700" dirty="0">
                <a:latin typeface="+mn-ea"/>
              </a:rPr>
              <a:t> </a:t>
            </a:r>
            <a:r>
              <a:rPr lang="en-US" altLang="ko-KR" sz="700" dirty="0">
                <a:latin typeface="+mn-ea"/>
              </a:rPr>
              <a:t>S/W)</a:t>
            </a:r>
            <a:r>
              <a:rPr lang="ko-KR" altLang="en-US" sz="700" dirty="0">
                <a:latin typeface="+mn-ea"/>
              </a:rPr>
              <a:t>마크 보유자</a:t>
            </a:r>
            <a:r>
              <a:rPr lang="en-US" altLang="ko-KR" sz="700" dirty="0">
                <a:latin typeface="+mn-ea"/>
              </a:rPr>
              <a:t>, GR</a:t>
            </a:r>
            <a:r>
              <a:rPr lang="ko-KR" altLang="en-US" sz="700" dirty="0">
                <a:latin typeface="+mn-ea"/>
              </a:rPr>
              <a:t>보유자</a:t>
            </a:r>
          </a:p>
          <a:p>
            <a:r>
              <a:rPr lang="en-US" altLang="ko-KR" sz="700" dirty="0">
                <a:latin typeface="+mn-ea"/>
              </a:rPr>
              <a:t>B.</a:t>
            </a:r>
            <a:r>
              <a:rPr lang="ko-KR" altLang="en-US" sz="700" dirty="0">
                <a:latin typeface="+mn-ea"/>
              </a:rPr>
              <a:t>「산업표준화법시행규칙」 제</a:t>
            </a:r>
            <a:r>
              <a:rPr lang="en-US" altLang="ko-KR" sz="700" dirty="0">
                <a:latin typeface="+mn-ea"/>
              </a:rPr>
              <a:t>10</a:t>
            </a:r>
            <a:r>
              <a:rPr lang="ko-KR" altLang="en-US" sz="700" dirty="0">
                <a:latin typeface="+mn-ea"/>
              </a:rPr>
              <a:t>조에서 정한 </a:t>
            </a:r>
            <a:r>
              <a:rPr lang="en-US" altLang="ko-KR" sz="700" dirty="0">
                <a:latin typeface="+mn-ea"/>
              </a:rPr>
              <a:t>KS</a:t>
            </a:r>
            <a:r>
              <a:rPr lang="ko-KR" altLang="en-US" sz="700" dirty="0" err="1">
                <a:latin typeface="+mn-ea"/>
              </a:rPr>
              <a:t>제품인증서</a:t>
            </a:r>
            <a:r>
              <a:rPr lang="ko-KR" altLang="en-US" sz="700" dirty="0">
                <a:latin typeface="+mn-ea"/>
              </a:rPr>
              <a:t> 보유자</a:t>
            </a:r>
            <a:r>
              <a:rPr lang="en-US" altLang="ko-KR" sz="700" dirty="0">
                <a:latin typeface="+mn-ea"/>
              </a:rPr>
              <a:t>, </a:t>
            </a:r>
            <a:r>
              <a:rPr lang="ko-KR" altLang="en-US" sz="700" dirty="0">
                <a:latin typeface="+mn-ea"/>
              </a:rPr>
              <a:t>단체표준인증보유자</a:t>
            </a:r>
          </a:p>
          <a:p>
            <a:r>
              <a:rPr lang="en-US" altLang="ko-KR" sz="700" dirty="0">
                <a:latin typeface="+mn-ea"/>
              </a:rPr>
              <a:t>C.</a:t>
            </a:r>
            <a:r>
              <a:rPr lang="ko-KR" altLang="en-US" sz="700" dirty="0">
                <a:latin typeface="+mn-ea"/>
              </a:rPr>
              <a:t>고효율에너지기자재 인증 보유자</a:t>
            </a:r>
          </a:p>
          <a:p>
            <a:r>
              <a:rPr lang="en-US" altLang="ko-KR" sz="700" dirty="0">
                <a:latin typeface="+mn-ea"/>
              </a:rPr>
              <a:t>D.</a:t>
            </a:r>
            <a:r>
              <a:rPr lang="ko-KR" altLang="en-US" sz="700" dirty="0">
                <a:latin typeface="+mn-ea"/>
              </a:rPr>
              <a:t>「</a:t>
            </a:r>
            <a:r>
              <a:rPr lang="ko-KR" altLang="en-US" sz="700" dirty="0" err="1">
                <a:latin typeface="+mn-ea"/>
              </a:rPr>
              <a:t>에너지이용합리화법」제</a:t>
            </a:r>
            <a:r>
              <a:rPr lang="en-US" altLang="ko-KR" sz="700" dirty="0">
                <a:latin typeface="+mn-ea"/>
              </a:rPr>
              <a:t>15</a:t>
            </a:r>
            <a:r>
              <a:rPr lang="ko-KR" altLang="en-US" sz="700" dirty="0">
                <a:latin typeface="+mn-ea"/>
              </a:rPr>
              <a:t>조에 따른 에너지소비효율 </a:t>
            </a:r>
            <a:r>
              <a:rPr lang="en-US" altLang="ko-KR" sz="700" dirty="0">
                <a:latin typeface="+mn-ea"/>
              </a:rPr>
              <a:t>1</a:t>
            </a:r>
            <a:r>
              <a:rPr lang="ko-KR" altLang="en-US" sz="700" dirty="0" err="1">
                <a:latin typeface="+mn-ea"/>
              </a:rPr>
              <a:t>등급제품</a:t>
            </a:r>
            <a:endParaRPr lang="ko-KR" altLang="en-US" sz="700" dirty="0">
              <a:latin typeface="+mn-ea"/>
            </a:endParaRPr>
          </a:p>
        </p:txBody>
      </p:sp>
      <p:sp>
        <p:nvSpPr>
          <p:cNvPr id="248" name="TextBox 247">
            <a:extLst>
              <a:ext uri="{FF2B5EF4-FFF2-40B4-BE49-F238E27FC236}">
                <a16:creationId xmlns:a16="http://schemas.microsoft.com/office/drawing/2014/main" id="{FFC49AEA-2A8F-250C-A86A-A7751D9706C3}"/>
              </a:ext>
            </a:extLst>
          </p:cNvPr>
          <p:cNvSpPr txBox="1"/>
          <p:nvPr/>
        </p:nvSpPr>
        <p:spPr>
          <a:xfrm>
            <a:off x="2538487" y="4635317"/>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249" name="TextBox 248">
            <a:extLst>
              <a:ext uri="{FF2B5EF4-FFF2-40B4-BE49-F238E27FC236}">
                <a16:creationId xmlns:a16="http://schemas.microsoft.com/office/drawing/2014/main" id="{FFC49AEA-2A8F-250C-A86A-A7751D9706C3}"/>
              </a:ext>
            </a:extLst>
          </p:cNvPr>
          <p:cNvSpPr txBox="1"/>
          <p:nvPr/>
        </p:nvSpPr>
        <p:spPr>
          <a:xfrm>
            <a:off x="3269841" y="306097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nvGrpSpPr>
          <p:cNvPr id="100" name="그룹 99"/>
          <p:cNvGrpSpPr/>
          <p:nvPr/>
        </p:nvGrpSpPr>
        <p:grpSpPr>
          <a:xfrm>
            <a:off x="3836701" y="1491157"/>
            <a:ext cx="2630093" cy="4596934"/>
            <a:chOff x="716957" y="1491157"/>
            <a:chExt cx="2630093" cy="4596934"/>
          </a:xfrm>
        </p:grpSpPr>
        <p:sp>
          <p:nvSpPr>
            <p:cNvPr id="101" name="직사각형 100"/>
            <p:cNvSpPr/>
            <p:nvPr/>
          </p:nvSpPr>
          <p:spPr>
            <a:xfrm>
              <a:off x="719049" y="5494403"/>
              <a:ext cx="1639886" cy="58790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TextBox 101">
              <a:extLst>
                <a:ext uri="{FF2B5EF4-FFF2-40B4-BE49-F238E27FC236}">
                  <a16:creationId xmlns:a16="http://schemas.microsoft.com/office/drawing/2014/main" id="{FFC49AEA-2A8F-250C-A86A-A7751D9706C3}"/>
                </a:ext>
              </a:extLst>
            </p:cNvPr>
            <p:cNvSpPr txBox="1"/>
            <p:nvPr/>
          </p:nvSpPr>
          <p:spPr>
            <a:xfrm>
              <a:off x="777928" y="1491157"/>
              <a:ext cx="2535669" cy="538609"/>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a:t>
              </a:r>
              <a:r>
                <a:rPr lang="ko-KR" altLang="en-US" sz="700" dirty="0">
                  <a:latin typeface="+mn-ea"/>
                </a:rPr>
                <a:t>영세기업 지원</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소기업</a:t>
              </a:r>
              <a:r>
                <a:rPr lang="en-US" altLang="ko-KR" sz="700" dirty="0">
                  <a:latin typeface="+mn-ea"/>
                </a:rPr>
                <a:t>, </a:t>
              </a:r>
              <a:r>
                <a:rPr lang="ko-KR" altLang="en-US" sz="700" dirty="0">
                  <a:latin typeface="+mn-ea"/>
                </a:rPr>
                <a:t>소상공인 및 지역업체 참가</a:t>
              </a:r>
              <a:endParaRPr lang="en-US" altLang="ko-KR" sz="700" dirty="0">
                <a:latin typeface="+mn-ea"/>
              </a:endParaRPr>
            </a:p>
            <a:p>
              <a:r>
                <a:rPr lang="ko-KR" altLang="en-US" sz="700" dirty="0">
                  <a:latin typeface="+mn-ea"/>
                </a:rPr>
                <a:t>                </a:t>
              </a:r>
              <a:r>
                <a:rPr lang="en-US" altLang="ko-KR" sz="700" dirty="0">
                  <a:latin typeface="+mn-ea"/>
                </a:rPr>
                <a:t>(</a:t>
              </a:r>
              <a:r>
                <a:rPr lang="ko-KR" altLang="en-US" sz="700" dirty="0">
                  <a:latin typeface="+mn-ea"/>
                </a:rPr>
                <a:t>공동계약 허용한 경우만 평가함</a:t>
              </a:r>
              <a:r>
                <a:rPr lang="en-US" altLang="ko-KR" sz="700" dirty="0">
                  <a:latin typeface="+mn-ea"/>
                </a:rPr>
                <a:t>)</a:t>
              </a:r>
            </a:p>
          </p:txBody>
        </p:sp>
        <p:sp>
          <p:nvSpPr>
            <p:cNvPr id="103" name="직사각형 102"/>
            <p:cNvSpPr/>
            <p:nvPr/>
          </p:nvSpPr>
          <p:spPr>
            <a:xfrm>
              <a:off x="719049" y="2076267"/>
              <a:ext cx="1639886" cy="29531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806112" y="207626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2534154" y="20762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06" name="직선 연결선 105">
              <a:extLst>
                <a:ext uri="{FF2B5EF4-FFF2-40B4-BE49-F238E27FC236}">
                  <a16:creationId xmlns:a16="http://schemas.microsoft.com/office/drawing/2014/main" id="{E9293055-D5CD-4B9E-7F64-64B2D2CA7A52}"/>
                </a:ext>
              </a:extLst>
            </p:cNvPr>
            <p:cNvCxnSpPr/>
            <p:nvPr/>
          </p:nvCxnSpPr>
          <p:spPr>
            <a:xfrm>
              <a:off x="716957" y="20762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7" name="직선 연결선 106">
              <a:extLst>
                <a:ext uri="{FF2B5EF4-FFF2-40B4-BE49-F238E27FC236}">
                  <a16:creationId xmlns:a16="http://schemas.microsoft.com/office/drawing/2014/main" id="{E9293055-D5CD-4B9E-7F64-64B2D2CA7A52}"/>
                </a:ext>
              </a:extLst>
            </p:cNvPr>
            <p:cNvCxnSpPr/>
            <p:nvPr/>
          </p:nvCxnSpPr>
          <p:spPr>
            <a:xfrm>
              <a:off x="719050" y="2291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719050" y="321019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108">
              <a:extLst>
                <a:ext uri="{FF2B5EF4-FFF2-40B4-BE49-F238E27FC236}">
                  <a16:creationId xmlns:a16="http://schemas.microsoft.com/office/drawing/2014/main" id="{FFC49AEA-2A8F-250C-A86A-A7751D9706C3}"/>
                </a:ext>
              </a:extLst>
            </p:cNvPr>
            <p:cNvSpPr txBox="1"/>
            <p:nvPr/>
          </p:nvSpPr>
          <p:spPr>
            <a:xfrm>
              <a:off x="2954524" y="20762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806112" y="2332291"/>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「중소기업제품 구매촉진 및 판로지원에 관한 법률」 제</a:t>
              </a:r>
              <a:r>
                <a:rPr lang="en-US" altLang="ko-KR" sz="700" dirty="0">
                  <a:latin typeface="+mn-ea"/>
                </a:rPr>
                <a:t>7</a:t>
              </a:r>
              <a:r>
                <a:rPr lang="ko-KR" altLang="en-US" sz="700" dirty="0">
                  <a:latin typeface="+mn-ea"/>
                </a:rPr>
                <a:t>조제</a:t>
              </a:r>
              <a:r>
                <a:rPr lang="en-US" altLang="ko-KR" sz="700" dirty="0">
                  <a:latin typeface="+mn-ea"/>
                </a:rPr>
                <a:t>3</a:t>
              </a:r>
              <a:r>
                <a:rPr lang="ko-KR" altLang="en-US" sz="700" dirty="0">
                  <a:latin typeface="+mn-ea"/>
                </a:rPr>
                <a:t>항 및 같은 </a:t>
              </a:r>
              <a:r>
                <a:rPr lang="ko-KR" altLang="en-US" sz="700" dirty="0" err="1">
                  <a:latin typeface="+mn-ea"/>
                </a:rPr>
                <a:t>법시행령</a:t>
              </a:r>
              <a:r>
                <a:rPr lang="ko-KR" altLang="en-US" sz="700" dirty="0">
                  <a:latin typeface="+mn-ea"/>
                </a:rPr>
                <a:t> 제</a:t>
              </a:r>
              <a:r>
                <a:rPr lang="en-US" altLang="ko-KR" sz="700" dirty="0">
                  <a:latin typeface="+mn-ea"/>
                </a:rPr>
                <a:t>7</a:t>
              </a:r>
              <a:r>
                <a:rPr lang="ko-KR" altLang="en-US" sz="700" dirty="0">
                  <a:latin typeface="+mn-ea"/>
                </a:rPr>
                <a:t>조제</a:t>
              </a:r>
              <a:r>
                <a:rPr lang="en-US" altLang="ko-KR" sz="700" dirty="0">
                  <a:latin typeface="+mn-ea"/>
                </a:rPr>
                <a:t>4</a:t>
              </a:r>
              <a:r>
                <a:rPr lang="ko-KR" altLang="en-US" sz="700" dirty="0">
                  <a:latin typeface="+mn-ea"/>
                </a:rPr>
                <a:t>항에 해당하는 </a:t>
              </a:r>
              <a:r>
                <a:rPr lang="ko-KR" altLang="en-US" sz="700" dirty="0" err="1">
                  <a:latin typeface="+mn-ea"/>
                </a:rPr>
                <a:t>공동수급체</a:t>
              </a:r>
              <a:r>
                <a:rPr lang="ko-KR" altLang="en-US" sz="700" dirty="0">
                  <a:latin typeface="+mn-ea"/>
                </a:rPr>
                <a:t> 구성</a:t>
              </a:r>
              <a:r>
                <a:rPr lang="en-US" altLang="ko-KR" sz="700" dirty="0">
                  <a:latin typeface="+mn-ea"/>
                </a:rPr>
                <a:t>(</a:t>
              </a:r>
              <a:r>
                <a:rPr lang="ko-KR" altLang="en-US" sz="700" dirty="0">
                  <a:latin typeface="+mn-ea"/>
                </a:rPr>
                <a:t>조합의 경우 </a:t>
              </a:r>
              <a:r>
                <a:rPr lang="ko-KR" altLang="en-US" sz="700" dirty="0" err="1">
                  <a:latin typeface="+mn-ea"/>
                </a:rPr>
                <a:t>합산점수에</a:t>
              </a:r>
              <a:r>
                <a:rPr lang="ko-KR" altLang="en-US" sz="700" dirty="0">
                  <a:latin typeface="+mn-ea"/>
                </a:rPr>
                <a:t> </a:t>
              </a:r>
              <a:r>
                <a:rPr lang="en-US" altLang="ko-KR" sz="700" dirty="0">
                  <a:latin typeface="+mn-ea"/>
                </a:rPr>
                <a:t>0.25</a:t>
              </a:r>
              <a:r>
                <a:rPr lang="ko-KR" altLang="en-US" sz="700" dirty="0">
                  <a:latin typeface="+mn-ea"/>
                </a:rPr>
                <a:t>점을 가산한다</a:t>
              </a:r>
              <a:r>
                <a:rPr lang="en-US" altLang="ko-KR" sz="700" dirty="0">
                  <a:latin typeface="+mn-ea"/>
                </a:rPr>
                <a:t>)</a:t>
              </a:r>
            </a:p>
          </p:txBody>
        </p:sp>
        <p:sp>
          <p:nvSpPr>
            <p:cNvPr id="111" name="TextBox 110">
              <a:extLst>
                <a:ext uri="{FF2B5EF4-FFF2-40B4-BE49-F238E27FC236}">
                  <a16:creationId xmlns:a16="http://schemas.microsoft.com/office/drawing/2014/main" id="{FFC49AEA-2A8F-250C-A86A-A7751D9706C3}"/>
                </a:ext>
              </a:extLst>
            </p:cNvPr>
            <p:cNvSpPr txBox="1"/>
            <p:nvPr/>
          </p:nvSpPr>
          <p:spPr>
            <a:xfrm>
              <a:off x="2676821" y="254773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2" name="TextBox 111">
              <a:extLst>
                <a:ext uri="{FF2B5EF4-FFF2-40B4-BE49-F238E27FC236}">
                  <a16:creationId xmlns:a16="http://schemas.microsoft.com/office/drawing/2014/main" id="{FFC49AEA-2A8F-250C-A86A-A7751D9706C3}"/>
                </a:ext>
              </a:extLst>
            </p:cNvPr>
            <p:cNvSpPr txBox="1"/>
            <p:nvPr/>
          </p:nvSpPr>
          <p:spPr>
            <a:xfrm>
              <a:off x="3276728" y="404887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3" name="TextBox 112">
              <a:extLst>
                <a:ext uri="{FF2B5EF4-FFF2-40B4-BE49-F238E27FC236}">
                  <a16:creationId xmlns:a16="http://schemas.microsoft.com/office/drawing/2014/main" id="{FFC49AEA-2A8F-250C-A86A-A7751D9706C3}"/>
                </a:ext>
              </a:extLst>
            </p:cNvPr>
            <p:cNvSpPr txBox="1"/>
            <p:nvPr/>
          </p:nvSpPr>
          <p:spPr>
            <a:xfrm>
              <a:off x="806112" y="3251476"/>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.40%</a:t>
              </a:r>
              <a:r>
                <a:rPr lang="ko-KR" altLang="en-US" sz="700" dirty="0">
                  <a:latin typeface="+mn-ea"/>
                </a:rPr>
                <a:t> 이상</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595068" y="3251476"/>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17" name="TextBox 116">
              <a:extLst>
                <a:ext uri="{FF2B5EF4-FFF2-40B4-BE49-F238E27FC236}">
                  <a16:creationId xmlns:a16="http://schemas.microsoft.com/office/drawing/2014/main" id="{FFC49AEA-2A8F-250C-A86A-A7751D9706C3}"/>
                </a:ext>
              </a:extLst>
            </p:cNvPr>
            <p:cNvSpPr txBox="1"/>
            <p:nvPr/>
          </p:nvSpPr>
          <p:spPr>
            <a:xfrm>
              <a:off x="806112" y="3441764"/>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.30%</a:t>
              </a:r>
              <a:r>
                <a:rPr lang="ko-KR" altLang="en-US" sz="700" dirty="0">
                  <a:latin typeface="+mn-ea"/>
                </a:rPr>
                <a:t> 이상</a:t>
              </a:r>
            </a:p>
          </p:txBody>
        </p:sp>
        <p:sp>
          <p:nvSpPr>
            <p:cNvPr id="118" name="TextBox 117">
              <a:extLst>
                <a:ext uri="{FF2B5EF4-FFF2-40B4-BE49-F238E27FC236}">
                  <a16:creationId xmlns:a16="http://schemas.microsoft.com/office/drawing/2014/main" id="{FFC49AEA-2A8F-250C-A86A-A7751D9706C3}"/>
                </a:ext>
              </a:extLst>
            </p:cNvPr>
            <p:cNvSpPr txBox="1"/>
            <p:nvPr/>
          </p:nvSpPr>
          <p:spPr>
            <a:xfrm>
              <a:off x="806112" y="3822340"/>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공동수급체</a:t>
              </a:r>
              <a:r>
                <a:rPr lang="ko-KR" altLang="en-US" sz="700" dirty="0">
                  <a:latin typeface="+mn-ea"/>
                </a:rPr>
                <a:t> 각각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한 비율이 </a:t>
              </a:r>
              <a:r>
                <a:rPr lang="en-US" altLang="ko-KR" sz="700" dirty="0">
                  <a:latin typeface="+mn-ea"/>
                </a:rPr>
                <a:t>20% </a:t>
              </a:r>
              <a:r>
                <a:rPr lang="ko-KR" altLang="en-US" sz="700" dirty="0">
                  <a:latin typeface="+mn-ea"/>
                </a:rPr>
                <a:t>이상인 업체가</a:t>
              </a:r>
            </a:p>
          </p:txBody>
        </p:sp>
        <p:sp>
          <p:nvSpPr>
            <p:cNvPr id="119" name="TextBox 118">
              <a:extLst>
                <a:ext uri="{FF2B5EF4-FFF2-40B4-BE49-F238E27FC236}">
                  <a16:creationId xmlns:a16="http://schemas.microsoft.com/office/drawing/2014/main" id="{FFC49AEA-2A8F-250C-A86A-A7751D9706C3}"/>
                </a:ext>
              </a:extLst>
            </p:cNvPr>
            <p:cNvSpPr txBox="1"/>
            <p:nvPr/>
          </p:nvSpPr>
          <p:spPr>
            <a:xfrm>
              <a:off x="806112" y="4120350"/>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a:t>
              </a:r>
              <a:r>
                <a:rPr lang="ko-KR" altLang="en-US" sz="700" dirty="0">
                  <a:latin typeface="+mn-ea"/>
                </a:rPr>
                <a:t>개 이상 업체</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806112" y="4310638"/>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a:t>
              </a:r>
              <a:r>
                <a:rPr lang="ko-KR" altLang="en-US" sz="700" dirty="0">
                  <a:latin typeface="+mn-ea"/>
                </a:rPr>
                <a:t>개 이상 업체</a:t>
              </a:r>
            </a:p>
          </p:txBody>
        </p:sp>
        <p:cxnSp>
          <p:nvCxnSpPr>
            <p:cNvPr id="124" name="직선 연결선 123">
              <a:extLst>
                <a:ext uri="{FF2B5EF4-FFF2-40B4-BE49-F238E27FC236}">
                  <a16:creationId xmlns:a16="http://schemas.microsoft.com/office/drawing/2014/main" id="{E9293055-D5CD-4B9E-7F64-64B2D2CA7A52}"/>
                </a:ext>
              </a:extLst>
            </p:cNvPr>
            <p:cNvCxnSpPr/>
            <p:nvPr/>
          </p:nvCxnSpPr>
          <p:spPr>
            <a:xfrm>
              <a:off x="719050" y="34004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719050" y="37810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6" name="직선 연결선 125">
              <a:extLst>
                <a:ext uri="{FF2B5EF4-FFF2-40B4-BE49-F238E27FC236}">
                  <a16:creationId xmlns:a16="http://schemas.microsoft.com/office/drawing/2014/main" id="{E9293055-D5CD-4B9E-7F64-64B2D2CA7A52}"/>
                </a:ext>
              </a:extLst>
            </p:cNvPr>
            <p:cNvCxnSpPr/>
            <p:nvPr/>
          </p:nvCxnSpPr>
          <p:spPr>
            <a:xfrm>
              <a:off x="719050" y="4079067"/>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19050" y="426935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2545374" y="3441764"/>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2676821" y="38762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595067" y="4120350"/>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2595068" y="4310638"/>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32" name="TextBox 131">
              <a:extLst>
                <a:ext uri="{FF2B5EF4-FFF2-40B4-BE49-F238E27FC236}">
                  <a16:creationId xmlns:a16="http://schemas.microsoft.com/office/drawing/2014/main" id="{FFC49AEA-2A8F-250C-A86A-A7751D9706C3}"/>
                </a:ext>
              </a:extLst>
            </p:cNvPr>
            <p:cNvSpPr txBox="1"/>
            <p:nvPr/>
          </p:nvSpPr>
          <p:spPr>
            <a:xfrm>
              <a:off x="3276728" y="30396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33" name="직선 연결선 132">
              <a:extLst>
                <a:ext uri="{FF2B5EF4-FFF2-40B4-BE49-F238E27FC236}">
                  <a16:creationId xmlns:a16="http://schemas.microsoft.com/office/drawing/2014/main" id="{E9293055-D5CD-4B9E-7F64-64B2D2CA7A52}"/>
                </a:ext>
              </a:extLst>
            </p:cNvPr>
            <p:cNvCxnSpPr/>
            <p:nvPr/>
          </p:nvCxnSpPr>
          <p:spPr>
            <a:xfrm>
              <a:off x="719050" y="60880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19050" y="464993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806112" y="4500926"/>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지역업체 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806112" y="4691214"/>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.30%</a:t>
              </a:r>
              <a:r>
                <a:rPr lang="ko-KR" altLang="en-US" sz="700" dirty="0">
                  <a:latin typeface="+mn-ea"/>
                </a:rPr>
                <a:t> 이상</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2595068" y="4691214"/>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38" name="TextBox 137">
              <a:extLst>
                <a:ext uri="{FF2B5EF4-FFF2-40B4-BE49-F238E27FC236}">
                  <a16:creationId xmlns:a16="http://schemas.microsoft.com/office/drawing/2014/main" id="{FFC49AEA-2A8F-250C-A86A-A7751D9706C3}"/>
                </a:ext>
              </a:extLst>
            </p:cNvPr>
            <p:cNvSpPr txBox="1"/>
            <p:nvPr/>
          </p:nvSpPr>
          <p:spPr>
            <a:xfrm>
              <a:off x="806112" y="488150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.20%</a:t>
              </a:r>
              <a:r>
                <a:rPr lang="ko-KR" altLang="en-US" sz="700" dirty="0">
                  <a:latin typeface="+mn-ea"/>
                </a:rPr>
                <a:t> 이상 </a:t>
              </a:r>
              <a:r>
                <a:rPr lang="en-US" altLang="ko-KR" sz="700" dirty="0">
                  <a:latin typeface="+mn-ea"/>
                </a:rPr>
                <a:t>30%</a:t>
              </a:r>
              <a:r>
                <a:rPr lang="ko-KR" altLang="en-US" sz="700" dirty="0">
                  <a:latin typeface="+mn-ea"/>
                </a:rPr>
                <a:t> 미만</a:t>
              </a:r>
            </a:p>
          </p:txBody>
        </p:sp>
        <p:sp>
          <p:nvSpPr>
            <p:cNvPr id="139" name="TextBox 138">
              <a:extLst>
                <a:ext uri="{FF2B5EF4-FFF2-40B4-BE49-F238E27FC236}">
                  <a16:creationId xmlns:a16="http://schemas.microsoft.com/office/drawing/2014/main" id="{FFC49AEA-2A8F-250C-A86A-A7751D9706C3}"/>
                </a:ext>
              </a:extLst>
            </p:cNvPr>
            <p:cNvSpPr txBox="1"/>
            <p:nvPr/>
          </p:nvSpPr>
          <p:spPr>
            <a:xfrm>
              <a:off x="806112" y="5524703"/>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소기업 또는 소상공인</a:t>
              </a:r>
            </a:p>
          </p:txBody>
        </p:sp>
        <p:sp>
          <p:nvSpPr>
            <p:cNvPr id="140" name="TextBox 139">
              <a:extLst>
                <a:ext uri="{FF2B5EF4-FFF2-40B4-BE49-F238E27FC236}">
                  <a16:creationId xmlns:a16="http://schemas.microsoft.com/office/drawing/2014/main" id="{FFC49AEA-2A8F-250C-A86A-A7751D9706C3}"/>
                </a:ext>
              </a:extLst>
            </p:cNvPr>
            <p:cNvSpPr txBox="1"/>
            <p:nvPr/>
          </p:nvSpPr>
          <p:spPr>
            <a:xfrm>
              <a:off x="806112" y="572851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소상공인</a:t>
              </a:r>
            </a:p>
          </p:txBody>
        </p:sp>
        <p:sp>
          <p:nvSpPr>
            <p:cNvPr id="141" name="TextBox 140">
              <a:extLst>
                <a:ext uri="{FF2B5EF4-FFF2-40B4-BE49-F238E27FC236}">
                  <a16:creationId xmlns:a16="http://schemas.microsoft.com/office/drawing/2014/main" id="{FFC49AEA-2A8F-250C-A86A-A7751D9706C3}"/>
                </a:ext>
              </a:extLst>
            </p:cNvPr>
            <p:cNvSpPr txBox="1"/>
            <p:nvPr/>
          </p:nvSpPr>
          <p:spPr>
            <a:xfrm>
              <a:off x="806112" y="5932323"/>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소기업</a:t>
              </a: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719050" y="484021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19050" y="5476659"/>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719050" y="56804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19050" y="588427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6" name="TextBox 145">
              <a:extLst>
                <a:ext uri="{FF2B5EF4-FFF2-40B4-BE49-F238E27FC236}">
                  <a16:creationId xmlns:a16="http://schemas.microsoft.com/office/drawing/2014/main" id="{FFC49AEA-2A8F-250C-A86A-A7751D9706C3}"/>
                </a:ext>
              </a:extLst>
            </p:cNvPr>
            <p:cNvSpPr txBox="1"/>
            <p:nvPr/>
          </p:nvSpPr>
          <p:spPr>
            <a:xfrm>
              <a:off x="2545374" y="4881502"/>
              <a:ext cx="168316"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2676821" y="552470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2" name="TextBox 151">
              <a:extLst>
                <a:ext uri="{FF2B5EF4-FFF2-40B4-BE49-F238E27FC236}">
                  <a16:creationId xmlns:a16="http://schemas.microsoft.com/office/drawing/2014/main" id="{FFC49AEA-2A8F-250C-A86A-A7751D9706C3}"/>
                </a:ext>
              </a:extLst>
            </p:cNvPr>
            <p:cNvSpPr txBox="1"/>
            <p:nvPr/>
          </p:nvSpPr>
          <p:spPr>
            <a:xfrm>
              <a:off x="2595067" y="5728513"/>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53" name="TextBox 152">
              <a:extLst>
                <a:ext uri="{FF2B5EF4-FFF2-40B4-BE49-F238E27FC236}">
                  <a16:creationId xmlns:a16="http://schemas.microsoft.com/office/drawing/2014/main" id="{FFC49AEA-2A8F-250C-A86A-A7751D9706C3}"/>
                </a:ext>
              </a:extLst>
            </p:cNvPr>
            <p:cNvSpPr txBox="1"/>
            <p:nvPr/>
          </p:nvSpPr>
          <p:spPr>
            <a:xfrm>
              <a:off x="2545374" y="5932323"/>
              <a:ext cx="168316" cy="107722"/>
            </a:xfrm>
            <a:prstGeom prst="rect">
              <a:avLst/>
            </a:prstGeom>
            <a:noFill/>
          </p:spPr>
          <p:txBody>
            <a:bodyPr wrap="none" lIns="0" tIns="0" rIns="0" bIns="0" rtlCol="0">
              <a:spAutoFit/>
            </a:bodyPr>
            <a:lstStyle/>
            <a:p>
              <a:pPr algn="r"/>
              <a:r>
                <a:rPr lang="en-US" altLang="ko-KR" sz="700" dirty="0">
                  <a:latin typeface="+mn-ea"/>
                </a:rPr>
                <a:t>0.75</a:t>
              </a:r>
              <a:endParaRPr lang="ko-KR" altLang="en-US" sz="700" dirty="0">
                <a:latin typeface="+mn-ea"/>
              </a:endParaRPr>
            </a:p>
          </p:txBody>
        </p:sp>
        <p:sp>
          <p:nvSpPr>
            <p:cNvPr id="154" name="TextBox 153">
              <a:extLst>
                <a:ext uri="{FF2B5EF4-FFF2-40B4-BE49-F238E27FC236}">
                  <a16:creationId xmlns:a16="http://schemas.microsoft.com/office/drawing/2014/main" id="{FFC49AEA-2A8F-250C-A86A-A7751D9706C3}"/>
                </a:ext>
              </a:extLst>
            </p:cNvPr>
            <p:cNvSpPr txBox="1"/>
            <p:nvPr/>
          </p:nvSpPr>
          <p:spPr>
            <a:xfrm>
              <a:off x="2676821" y="450092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3274223" y="467796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7" name="TextBox 156">
              <a:extLst>
                <a:ext uri="{FF2B5EF4-FFF2-40B4-BE49-F238E27FC236}">
                  <a16:creationId xmlns:a16="http://schemas.microsoft.com/office/drawing/2014/main" id="{FFC49AEA-2A8F-250C-A86A-A7751D9706C3}"/>
                </a:ext>
              </a:extLst>
            </p:cNvPr>
            <p:cNvSpPr txBox="1"/>
            <p:nvPr/>
          </p:nvSpPr>
          <p:spPr>
            <a:xfrm>
              <a:off x="3274223" y="572997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806112" y="295346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 </a:t>
              </a:r>
              <a:r>
                <a:rPr lang="ko-KR" altLang="en-US" sz="700" dirty="0">
                  <a:latin typeface="+mn-ea"/>
                </a:rPr>
                <a:t>소기업</a:t>
              </a:r>
              <a:r>
                <a:rPr lang="en-US" altLang="ko-KR" sz="700" dirty="0">
                  <a:latin typeface="+mn-ea"/>
                </a:rPr>
                <a:t>(</a:t>
              </a:r>
              <a:r>
                <a:rPr lang="ko-KR" altLang="en-US" sz="700" dirty="0">
                  <a:latin typeface="+mn-ea"/>
                </a:rPr>
                <a:t>소상공인포함</a:t>
              </a:r>
              <a:r>
                <a:rPr lang="en-US" altLang="ko-KR" sz="700" dirty="0">
                  <a:latin typeface="+mn-ea"/>
                </a:rPr>
                <a:t>) </a:t>
              </a:r>
              <a:r>
                <a:rPr lang="ko-KR" altLang="en-US" sz="700" dirty="0">
                  <a:latin typeface="+mn-ea"/>
                </a:rPr>
                <a:t>출자</a:t>
              </a:r>
              <a:r>
                <a:rPr lang="en-US" altLang="ko-KR" sz="700" dirty="0">
                  <a:latin typeface="+mn-ea"/>
                </a:rPr>
                <a:t>(</a:t>
              </a:r>
              <a:r>
                <a:rPr lang="ko-KR" altLang="en-US" sz="700" dirty="0">
                  <a:latin typeface="+mn-ea"/>
                </a:rPr>
                <a:t>분담</a:t>
              </a:r>
              <a:r>
                <a:rPr lang="en-US" altLang="ko-KR" sz="700" dirty="0">
                  <a:latin typeface="+mn-ea"/>
                </a:rPr>
                <a:t>)</a:t>
              </a:r>
              <a:r>
                <a:rPr lang="ko-KR" altLang="en-US" sz="700" dirty="0">
                  <a:latin typeface="+mn-ea"/>
                </a:rPr>
                <a:t>비율</a:t>
              </a: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19050" y="2912183"/>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2676821" y="300732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74" name="직선 연결선 173">
              <a:extLst>
                <a:ext uri="{FF2B5EF4-FFF2-40B4-BE49-F238E27FC236}">
                  <a16:creationId xmlns:a16="http://schemas.microsoft.com/office/drawing/2014/main" id="{E9293055-D5CD-4B9E-7F64-64B2D2CA7A52}"/>
                </a:ext>
              </a:extLst>
            </p:cNvPr>
            <p:cNvCxnSpPr/>
            <p:nvPr/>
          </p:nvCxnSpPr>
          <p:spPr>
            <a:xfrm>
              <a:off x="719050" y="44596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TextBox 174">
              <a:extLst>
                <a:ext uri="{FF2B5EF4-FFF2-40B4-BE49-F238E27FC236}">
                  <a16:creationId xmlns:a16="http://schemas.microsoft.com/office/drawing/2014/main" id="{FFC49AEA-2A8F-250C-A86A-A7751D9706C3}"/>
                </a:ext>
              </a:extLst>
            </p:cNvPr>
            <p:cNvSpPr txBox="1"/>
            <p:nvPr/>
          </p:nvSpPr>
          <p:spPr>
            <a:xfrm>
              <a:off x="806112" y="3632052"/>
              <a:ext cx="1480199" cy="107722"/>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.20%</a:t>
              </a:r>
              <a:r>
                <a:rPr lang="ko-KR" altLang="en-US" sz="700" dirty="0">
                  <a:latin typeface="+mn-ea"/>
                </a:rPr>
                <a:t> 이상 </a:t>
              </a:r>
              <a:r>
                <a:rPr lang="en-US" altLang="ko-KR" sz="700" dirty="0">
                  <a:latin typeface="+mn-ea"/>
                </a:rPr>
                <a:t>30%</a:t>
              </a:r>
              <a:r>
                <a:rPr lang="ko-KR" altLang="en-US" sz="700" dirty="0">
                  <a:latin typeface="+mn-ea"/>
                </a:rPr>
                <a:t> 미만</a:t>
              </a:r>
            </a:p>
          </p:txBody>
        </p:sp>
        <p:cxnSp>
          <p:nvCxnSpPr>
            <p:cNvPr id="176" name="직선 연결선 175">
              <a:extLst>
                <a:ext uri="{FF2B5EF4-FFF2-40B4-BE49-F238E27FC236}">
                  <a16:creationId xmlns:a16="http://schemas.microsoft.com/office/drawing/2014/main" id="{E9293055-D5CD-4B9E-7F64-64B2D2CA7A52}"/>
                </a:ext>
              </a:extLst>
            </p:cNvPr>
            <p:cNvCxnSpPr/>
            <p:nvPr/>
          </p:nvCxnSpPr>
          <p:spPr>
            <a:xfrm>
              <a:off x="719050" y="359076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7" name="TextBox 176">
              <a:extLst>
                <a:ext uri="{FF2B5EF4-FFF2-40B4-BE49-F238E27FC236}">
                  <a16:creationId xmlns:a16="http://schemas.microsoft.com/office/drawing/2014/main" id="{FFC49AEA-2A8F-250C-A86A-A7751D9706C3}"/>
                </a:ext>
              </a:extLst>
            </p:cNvPr>
            <p:cNvSpPr txBox="1"/>
            <p:nvPr/>
          </p:nvSpPr>
          <p:spPr>
            <a:xfrm>
              <a:off x="2595067" y="363205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78" name="직선 연결선 177">
              <a:extLst>
                <a:ext uri="{FF2B5EF4-FFF2-40B4-BE49-F238E27FC236}">
                  <a16:creationId xmlns:a16="http://schemas.microsoft.com/office/drawing/2014/main" id="{E9293055-D5CD-4B9E-7F64-64B2D2CA7A52}"/>
                </a:ext>
              </a:extLst>
            </p:cNvPr>
            <p:cNvCxnSpPr/>
            <p:nvPr/>
          </p:nvCxnSpPr>
          <p:spPr>
            <a:xfrm>
              <a:off x="719050" y="5030496"/>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9" name="TextBox 178">
              <a:extLst>
                <a:ext uri="{FF2B5EF4-FFF2-40B4-BE49-F238E27FC236}">
                  <a16:creationId xmlns:a16="http://schemas.microsoft.com/office/drawing/2014/main" id="{FFC49AEA-2A8F-250C-A86A-A7751D9706C3}"/>
                </a:ext>
              </a:extLst>
            </p:cNvPr>
            <p:cNvSpPr txBox="1"/>
            <p:nvPr/>
          </p:nvSpPr>
          <p:spPr>
            <a:xfrm>
              <a:off x="806112" y="5091995"/>
              <a:ext cx="2504980" cy="323165"/>
            </a:xfrm>
            <a:prstGeom prst="rect">
              <a:avLst/>
            </a:prstGeom>
            <a:noFill/>
          </p:spPr>
          <p:txBody>
            <a:bodyPr wrap="square" lIns="0" tIns="0" rIns="0" bIns="0" rtlCol="0">
              <a:spAutoFit/>
            </a:bodyPr>
            <a:lstStyle/>
            <a:p>
              <a:pPr algn="ctr"/>
              <a:r>
                <a:rPr lang="en-US" altLang="ko-KR" sz="700" dirty="0">
                  <a:latin typeface="+mn-ea"/>
                </a:rPr>
                <a:t>※</a:t>
              </a:r>
              <a:r>
                <a:rPr lang="ko-KR" altLang="en-US" sz="700" dirty="0">
                  <a:latin typeface="+mn-ea"/>
                </a:rPr>
                <a:t>다만</a:t>
              </a:r>
              <a:r>
                <a:rPr lang="en-US" altLang="ko-KR" sz="700" dirty="0">
                  <a:latin typeface="+mn-ea"/>
                </a:rPr>
                <a:t>, </a:t>
              </a:r>
              <a:r>
                <a:rPr lang="ko-KR" altLang="en-US" sz="700" dirty="0">
                  <a:latin typeface="+mn-ea"/>
                </a:rPr>
                <a:t>법령이 정한 요건을 갖추지 못한</a:t>
              </a:r>
              <a:endParaRPr lang="en-US" altLang="ko-KR" sz="700" dirty="0">
                <a:latin typeface="+mn-ea"/>
              </a:endParaRPr>
            </a:p>
            <a:p>
              <a:pPr algn="ctr"/>
              <a:r>
                <a:rPr lang="ko-KR" altLang="en-US" sz="700" dirty="0">
                  <a:latin typeface="+mn-ea"/>
                </a:rPr>
                <a:t>공동수급체는 각 평점이 </a:t>
              </a:r>
              <a:r>
                <a:rPr lang="en-US" altLang="ko-KR" sz="700" dirty="0">
                  <a:latin typeface="+mn-ea"/>
                </a:rPr>
                <a:t>50%</a:t>
              </a:r>
              <a:r>
                <a:rPr lang="ko-KR" altLang="en-US" sz="700" dirty="0">
                  <a:latin typeface="+mn-ea"/>
                </a:rPr>
                <a:t>만 인정한다</a:t>
              </a:r>
              <a:r>
                <a:rPr lang="en-US" altLang="ko-KR" sz="700" dirty="0">
                  <a:latin typeface="+mn-ea"/>
                </a:rPr>
                <a:t>.</a:t>
              </a:r>
            </a:p>
            <a:p>
              <a:pPr algn="ctr"/>
              <a:r>
                <a:rPr lang="en-US" altLang="ko-KR" sz="700" dirty="0">
                  <a:latin typeface="+mn-ea"/>
                </a:rPr>
                <a:t>(</a:t>
              </a:r>
              <a:r>
                <a:rPr lang="ko-KR" altLang="en-US" sz="700" dirty="0">
                  <a:latin typeface="+mn-ea"/>
                </a:rPr>
                <a:t>조합의 경우 </a:t>
              </a:r>
              <a:r>
                <a:rPr lang="ko-KR" altLang="en-US" sz="700" dirty="0" err="1">
                  <a:latin typeface="+mn-ea"/>
                </a:rPr>
                <a:t>합산점수에</a:t>
              </a:r>
              <a:r>
                <a:rPr lang="ko-KR" altLang="en-US" sz="700" dirty="0">
                  <a:latin typeface="+mn-ea"/>
                </a:rPr>
                <a:t> </a:t>
              </a:r>
              <a:r>
                <a:rPr lang="en-US" altLang="ko-KR" sz="700" dirty="0">
                  <a:latin typeface="+mn-ea"/>
                </a:rPr>
                <a:t>0.25</a:t>
              </a:r>
              <a:r>
                <a:rPr lang="ko-KR" altLang="en-US" sz="700" dirty="0">
                  <a:latin typeface="+mn-ea"/>
                </a:rPr>
                <a:t>점을 가산한다</a:t>
              </a:r>
              <a:r>
                <a:rPr lang="en-US" altLang="ko-KR" sz="700" dirty="0">
                  <a:latin typeface="+mn-ea"/>
                </a:rPr>
                <a:t>)</a:t>
              </a:r>
            </a:p>
          </p:txBody>
        </p:sp>
      </p:grpSp>
      <p:sp>
        <p:nvSpPr>
          <p:cNvPr id="114" name="TextBox 113">
            <a:extLst>
              <a:ext uri="{FF2B5EF4-FFF2-40B4-BE49-F238E27FC236}">
                <a16:creationId xmlns:a16="http://schemas.microsoft.com/office/drawing/2014/main" id="{FFC49AEA-2A8F-250C-A86A-A7751D9706C3}"/>
              </a:ext>
            </a:extLst>
          </p:cNvPr>
          <p:cNvSpPr txBox="1"/>
          <p:nvPr/>
        </p:nvSpPr>
        <p:spPr>
          <a:xfrm>
            <a:off x="3269841" y="463531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5" name="타원 114">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547057900"/>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251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MUI-BD-10-M15</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7" name="TextBox 20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253" name="TextBox 252">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716366" y="1495590"/>
            <a:ext cx="2630093" cy="4736709"/>
            <a:chOff x="3830405" y="1495590"/>
            <a:chExt cx="2630093" cy="4736709"/>
          </a:xfrm>
        </p:grpSpPr>
        <p:sp>
          <p:nvSpPr>
            <p:cNvPr id="186" name="직사각형 185"/>
            <p:cNvSpPr/>
            <p:nvPr/>
          </p:nvSpPr>
          <p:spPr>
            <a:xfrm>
              <a:off x="3832497" y="1981539"/>
              <a:ext cx="1639886" cy="42507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9560" y="198154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5647602" y="198154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3830405" y="198154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3832498" y="21962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3830405" y="2810047"/>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3832498" y="26108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3891376" y="149559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라</a:t>
              </a:r>
              <a:r>
                <a:rPr lang="en-US" altLang="ko-KR" sz="700" dirty="0">
                  <a:latin typeface="+mn-ea"/>
                </a:rPr>
                <a:t>. </a:t>
              </a:r>
              <a:r>
                <a:rPr lang="ko-KR" altLang="en-US" sz="700" dirty="0">
                  <a:latin typeface="+mn-ea"/>
                </a:rPr>
                <a:t>기타</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여성기업</a:t>
              </a:r>
              <a:r>
                <a:rPr lang="en-US" altLang="ko-KR" sz="700" dirty="0">
                  <a:latin typeface="+mn-ea"/>
                </a:rPr>
                <a:t>, </a:t>
              </a:r>
              <a:r>
                <a:rPr lang="ko-KR" altLang="en-US" sz="700" dirty="0">
                  <a:latin typeface="+mn-ea"/>
                </a:rPr>
                <a:t>장애인고용 기업지원 등</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6067972" y="198154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3919560" y="2242000"/>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 조달업무 우수업체로서 중소기업청장 또는 조달청장 표창을 받은 업체</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5708515" y="2349721"/>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3919560" y="2655920"/>
              <a:ext cx="1480199" cy="107722"/>
            </a:xfrm>
            <a:prstGeom prst="rect">
              <a:avLst/>
            </a:prstGeom>
            <a:noFill/>
          </p:spPr>
          <p:txBody>
            <a:bodyPr wrap="square" lIns="0" tIns="0" rIns="0" bIns="0" rtlCol="0">
              <a:spAutoFit/>
            </a:bodyPr>
            <a:lstStyle/>
            <a:p>
              <a:r>
                <a:rPr lang="en-US" altLang="ko-KR" sz="700" dirty="0">
                  <a:latin typeface="+mn-ea"/>
                </a:rPr>
                <a:t>B.</a:t>
              </a:r>
              <a:r>
                <a:rPr lang="ko-KR" altLang="en-US" sz="700" dirty="0">
                  <a:latin typeface="+mn-ea"/>
                </a:rPr>
                <a:t>여성기업지원 및 여성고용촉진</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5790269" y="265592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5" name="TextBox 204">
              <a:extLst>
                <a:ext uri="{FF2B5EF4-FFF2-40B4-BE49-F238E27FC236}">
                  <a16:creationId xmlns:a16="http://schemas.microsoft.com/office/drawing/2014/main" id="{FFC49AEA-2A8F-250C-A86A-A7751D9706C3}"/>
                </a:ext>
              </a:extLst>
            </p:cNvPr>
            <p:cNvSpPr txBox="1"/>
            <p:nvPr/>
          </p:nvSpPr>
          <p:spPr>
            <a:xfrm>
              <a:off x="6390176" y="234972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2855767"/>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여성기업</a:t>
              </a:r>
              <a:r>
                <a:rPr lang="en-US" altLang="ko-KR" sz="700" dirty="0">
                  <a:latin typeface="+mn-ea"/>
                </a:rPr>
                <a:t>(</a:t>
              </a:r>
              <a:r>
                <a:rPr lang="ko-KR" altLang="en-US" sz="700" dirty="0">
                  <a:latin typeface="+mn-ea"/>
                </a:rPr>
                <a:t>「여성기업지원에 관한 </a:t>
              </a:r>
              <a:r>
                <a:rPr lang="ko-KR" altLang="en-US" sz="700" dirty="0" err="1">
                  <a:latin typeface="+mn-ea"/>
                </a:rPr>
                <a:t>법률」및</a:t>
              </a:r>
              <a:r>
                <a:rPr lang="ko-KR" altLang="en-US" sz="700" dirty="0">
                  <a:latin typeface="+mn-ea"/>
                </a:rPr>
                <a:t> 같은 법 시행령에서 정한 기업으로서 중소벤처기업부장관</a:t>
              </a:r>
              <a:r>
                <a:rPr lang="en-US" altLang="ko-KR" sz="700" dirty="0">
                  <a:latin typeface="+mn-ea"/>
                </a:rPr>
                <a:t>(</a:t>
              </a:r>
              <a:r>
                <a:rPr lang="ko-KR" altLang="en-US" sz="700" dirty="0">
                  <a:latin typeface="+mn-ea"/>
                </a:rPr>
                <a:t>또는 </a:t>
              </a:r>
              <a:r>
                <a:rPr lang="ko-KR" altLang="en-US" sz="700" dirty="0" err="1">
                  <a:latin typeface="+mn-ea"/>
                </a:rPr>
                <a:t>위임받은</a:t>
              </a:r>
              <a:r>
                <a:rPr lang="ko-KR" altLang="en-US" sz="700" dirty="0">
                  <a:latin typeface="+mn-ea"/>
                </a:rPr>
                <a:t> 자</a:t>
              </a:r>
              <a:r>
                <a:rPr lang="en-US" altLang="ko-KR" sz="700" dirty="0">
                  <a:latin typeface="+mn-ea"/>
                </a:rPr>
                <a:t>)</a:t>
              </a:r>
              <a:r>
                <a:rPr lang="ko-KR" altLang="en-US" sz="700" dirty="0">
                  <a:latin typeface="+mn-ea"/>
                </a:rPr>
                <a:t>에 의해 확인 경우 인정</a:t>
              </a:r>
              <a:r>
                <a:rPr lang="en-US" altLang="ko-KR" sz="700" dirty="0">
                  <a:latin typeface="+mn-ea"/>
                </a:rPr>
                <a:t>))</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515" y="3017349"/>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0" name="직선 연결선 209">
              <a:extLst>
                <a:ext uri="{FF2B5EF4-FFF2-40B4-BE49-F238E27FC236}">
                  <a16:creationId xmlns:a16="http://schemas.microsoft.com/office/drawing/2014/main" id="{E9293055-D5CD-4B9E-7F64-64B2D2CA7A52}"/>
                </a:ext>
              </a:extLst>
            </p:cNvPr>
            <p:cNvCxnSpPr/>
            <p:nvPr/>
          </p:nvCxnSpPr>
          <p:spPr>
            <a:xfrm>
              <a:off x="3830405" y="3332374"/>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FFC49AEA-2A8F-250C-A86A-A7751D9706C3}"/>
                </a:ext>
              </a:extLst>
            </p:cNvPr>
            <p:cNvSpPr txBox="1"/>
            <p:nvPr/>
          </p:nvSpPr>
          <p:spPr>
            <a:xfrm>
              <a:off x="3919560" y="3378094"/>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여성고용 우수기업</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5708516" y="3631117"/>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13" name="직선 연결선 212">
              <a:extLst>
                <a:ext uri="{FF2B5EF4-FFF2-40B4-BE49-F238E27FC236}">
                  <a16:creationId xmlns:a16="http://schemas.microsoft.com/office/drawing/2014/main" id="{E9293055-D5CD-4B9E-7F64-64B2D2CA7A52}"/>
                </a:ext>
              </a:extLst>
            </p:cNvPr>
            <p:cNvCxnSpPr/>
            <p:nvPr/>
          </p:nvCxnSpPr>
          <p:spPr>
            <a:xfrm>
              <a:off x="3830405" y="4145304"/>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TextBox 213">
              <a:extLst>
                <a:ext uri="{FF2B5EF4-FFF2-40B4-BE49-F238E27FC236}">
                  <a16:creationId xmlns:a16="http://schemas.microsoft.com/office/drawing/2014/main" id="{FFC49AEA-2A8F-250C-A86A-A7751D9706C3}"/>
                </a:ext>
              </a:extLst>
            </p:cNvPr>
            <p:cNvSpPr txBox="1"/>
            <p:nvPr/>
          </p:nvSpPr>
          <p:spPr>
            <a:xfrm>
              <a:off x="3919560" y="4191024"/>
              <a:ext cx="1480199" cy="215444"/>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노동부장관에 의해 남녀고용평등 우수기업으로 지정 받은 자</a:t>
              </a:r>
            </a:p>
          </p:txBody>
        </p:sp>
        <p:sp>
          <p:nvSpPr>
            <p:cNvPr id="241" name="TextBox 240">
              <a:extLst>
                <a:ext uri="{FF2B5EF4-FFF2-40B4-BE49-F238E27FC236}">
                  <a16:creationId xmlns:a16="http://schemas.microsoft.com/office/drawing/2014/main" id="{FFC49AEA-2A8F-250C-A86A-A7751D9706C3}"/>
                </a:ext>
              </a:extLst>
            </p:cNvPr>
            <p:cNvSpPr txBox="1"/>
            <p:nvPr/>
          </p:nvSpPr>
          <p:spPr>
            <a:xfrm>
              <a:off x="5708516" y="4244885"/>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45" name="직선 연결선 244">
              <a:extLst>
                <a:ext uri="{FF2B5EF4-FFF2-40B4-BE49-F238E27FC236}">
                  <a16:creationId xmlns:a16="http://schemas.microsoft.com/office/drawing/2014/main" id="{E9293055-D5CD-4B9E-7F64-64B2D2CA7A52}"/>
                </a:ext>
              </a:extLst>
            </p:cNvPr>
            <p:cNvCxnSpPr/>
            <p:nvPr/>
          </p:nvCxnSpPr>
          <p:spPr>
            <a:xfrm>
              <a:off x="3832498" y="44521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3919560" y="4497908"/>
              <a:ext cx="1480199" cy="215444"/>
            </a:xfrm>
            <a:prstGeom prst="rect">
              <a:avLst/>
            </a:prstGeom>
            <a:noFill/>
          </p:spPr>
          <p:txBody>
            <a:bodyPr wrap="square" lIns="0" tIns="0" rIns="0" bIns="0" rtlCol="0">
              <a:spAutoFit/>
            </a:bodyPr>
            <a:lstStyle/>
            <a:p>
              <a:r>
                <a:rPr lang="en-US" altLang="ko-KR" sz="700" dirty="0">
                  <a:latin typeface="+mn-ea"/>
                </a:rPr>
                <a:t>C.</a:t>
              </a:r>
              <a:r>
                <a:rPr lang="ko-KR" altLang="en-US" sz="700" dirty="0">
                  <a:latin typeface="+mn-ea"/>
                </a:rPr>
                <a:t>장애인기업 및 장애인고용 우수기업</a:t>
              </a:r>
            </a:p>
          </p:txBody>
        </p:sp>
        <p:sp>
          <p:nvSpPr>
            <p:cNvPr id="247" name="TextBox 246">
              <a:extLst>
                <a:ext uri="{FF2B5EF4-FFF2-40B4-BE49-F238E27FC236}">
                  <a16:creationId xmlns:a16="http://schemas.microsoft.com/office/drawing/2014/main" id="{FFC49AEA-2A8F-250C-A86A-A7751D9706C3}"/>
                </a:ext>
              </a:extLst>
            </p:cNvPr>
            <p:cNvSpPr txBox="1"/>
            <p:nvPr/>
          </p:nvSpPr>
          <p:spPr>
            <a:xfrm>
              <a:off x="5790269" y="455176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48" name="직선 연결선 247">
              <a:extLst>
                <a:ext uri="{FF2B5EF4-FFF2-40B4-BE49-F238E27FC236}">
                  <a16:creationId xmlns:a16="http://schemas.microsoft.com/office/drawing/2014/main" id="{E9293055-D5CD-4B9E-7F64-64B2D2CA7A52}"/>
                </a:ext>
              </a:extLst>
            </p:cNvPr>
            <p:cNvCxnSpPr/>
            <p:nvPr/>
          </p:nvCxnSpPr>
          <p:spPr>
            <a:xfrm>
              <a:off x="3830405" y="4759072"/>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9" name="TextBox 248">
              <a:extLst>
                <a:ext uri="{FF2B5EF4-FFF2-40B4-BE49-F238E27FC236}">
                  <a16:creationId xmlns:a16="http://schemas.microsoft.com/office/drawing/2014/main" id="{FFC49AEA-2A8F-250C-A86A-A7751D9706C3}"/>
                </a:ext>
              </a:extLst>
            </p:cNvPr>
            <p:cNvSpPr txBox="1"/>
            <p:nvPr/>
          </p:nvSpPr>
          <p:spPr>
            <a:xfrm>
              <a:off x="6390176" y="34414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3919560" y="3577256"/>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10%</a:t>
              </a:r>
              <a:r>
                <a:rPr lang="ko-KR" altLang="en-US" sz="700" dirty="0">
                  <a:latin typeface="+mn-ea"/>
                </a:rPr>
                <a:t>이상이고 여성종업원이 </a:t>
              </a:r>
              <a:r>
                <a:rPr lang="en-US" altLang="ko-KR" sz="700" dirty="0">
                  <a:latin typeface="+mn-ea"/>
                </a:rPr>
                <a:t>10</a:t>
              </a:r>
              <a:r>
                <a:rPr lang="ko-KR" altLang="en-US" sz="700" dirty="0">
                  <a:latin typeface="+mn-ea"/>
                </a:rPr>
                <a:t>인 이상인 기업</a:t>
              </a:r>
            </a:p>
          </p:txBody>
        </p:sp>
        <p:sp>
          <p:nvSpPr>
            <p:cNvPr id="255" name="TextBox 254">
              <a:extLst>
                <a:ext uri="{FF2B5EF4-FFF2-40B4-BE49-F238E27FC236}">
                  <a16:creationId xmlns:a16="http://schemas.microsoft.com/office/drawing/2014/main" id="{FFC49AEA-2A8F-250C-A86A-A7751D9706C3}"/>
                </a:ext>
              </a:extLst>
            </p:cNvPr>
            <p:cNvSpPr txBox="1"/>
            <p:nvPr/>
          </p:nvSpPr>
          <p:spPr>
            <a:xfrm>
              <a:off x="3919560" y="3882764"/>
              <a:ext cx="1480199" cy="215444"/>
            </a:xfrm>
            <a:prstGeom prst="rect">
              <a:avLst/>
            </a:prstGeom>
            <a:noFill/>
          </p:spPr>
          <p:txBody>
            <a:bodyPr wrap="square" lIns="0" tIns="0" rIns="0" bIns="0" rtlCol="0">
              <a:spAutoFit/>
            </a:bodyPr>
            <a:lstStyle/>
            <a:p>
              <a:r>
                <a:rPr lang="ko-KR" altLang="en-US" sz="700" dirty="0">
                  <a:latin typeface="+mn-ea"/>
                </a:rPr>
                <a:t>    </a:t>
              </a:r>
              <a:r>
                <a:rPr lang="en-US" altLang="ko-KR" sz="700" dirty="0">
                  <a:latin typeface="+mn-ea"/>
                </a:rPr>
                <a:t>.</a:t>
              </a:r>
              <a:r>
                <a:rPr lang="ko-KR" altLang="en-US" sz="700" dirty="0">
                  <a:latin typeface="+mn-ea"/>
                </a:rPr>
                <a:t>여성고용율이 </a:t>
              </a:r>
              <a:r>
                <a:rPr lang="en-US" altLang="ko-KR" sz="700" dirty="0">
                  <a:latin typeface="+mn-ea"/>
                </a:rPr>
                <a:t>5%</a:t>
              </a:r>
              <a:r>
                <a:rPr lang="ko-KR" altLang="en-US" sz="700" dirty="0">
                  <a:latin typeface="+mn-ea"/>
                </a:rPr>
                <a:t>이상이고 여성종업원이 </a:t>
              </a:r>
              <a:r>
                <a:rPr lang="en-US" altLang="ko-KR" sz="700" dirty="0">
                  <a:latin typeface="+mn-ea"/>
                </a:rPr>
                <a:t>5</a:t>
              </a:r>
              <a:r>
                <a:rPr lang="ko-KR" altLang="en-US" sz="700" dirty="0">
                  <a:latin typeface="+mn-ea"/>
                </a:rPr>
                <a:t>인 이상인 기업</a:t>
              </a:r>
            </a:p>
          </p:txBody>
        </p:sp>
        <p:cxnSp>
          <p:nvCxnSpPr>
            <p:cNvPr id="263" name="직선 연결선 262">
              <a:extLst>
                <a:ext uri="{FF2B5EF4-FFF2-40B4-BE49-F238E27FC236}">
                  <a16:creationId xmlns:a16="http://schemas.microsoft.com/office/drawing/2014/main" id="{E9293055-D5CD-4B9E-7F64-64B2D2CA7A52}"/>
                </a:ext>
              </a:extLst>
            </p:cNvPr>
            <p:cNvCxnSpPr/>
            <p:nvPr/>
          </p:nvCxnSpPr>
          <p:spPr>
            <a:xfrm>
              <a:off x="3830405" y="3838420"/>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0" name="직선 연결선 279">
              <a:extLst>
                <a:ext uri="{FF2B5EF4-FFF2-40B4-BE49-F238E27FC236}">
                  <a16:creationId xmlns:a16="http://schemas.microsoft.com/office/drawing/2014/main" id="{E9293055-D5CD-4B9E-7F64-64B2D2CA7A52}"/>
                </a:ext>
              </a:extLst>
            </p:cNvPr>
            <p:cNvCxnSpPr/>
            <p:nvPr/>
          </p:nvCxnSpPr>
          <p:spPr>
            <a:xfrm>
              <a:off x="3830405" y="3531536"/>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1" name="TextBox 280">
              <a:extLst>
                <a:ext uri="{FF2B5EF4-FFF2-40B4-BE49-F238E27FC236}">
                  <a16:creationId xmlns:a16="http://schemas.microsoft.com/office/drawing/2014/main" id="{FFC49AEA-2A8F-250C-A86A-A7751D9706C3}"/>
                </a:ext>
              </a:extLst>
            </p:cNvPr>
            <p:cNvSpPr txBox="1"/>
            <p:nvPr/>
          </p:nvSpPr>
          <p:spPr>
            <a:xfrm>
              <a:off x="5708516" y="3936625"/>
              <a:ext cx="11862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2" name="TextBox 281">
              <a:extLst>
                <a:ext uri="{FF2B5EF4-FFF2-40B4-BE49-F238E27FC236}">
                  <a16:creationId xmlns:a16="http://schemas.microsoft.com/office/drawing/2014/main" id="{FFC49AEA-2A8F-250C-A86A-A7751D9706C3}"/>
                </a:ext>
              </a:extLst>
            </p:cNvPr>
            <p:cNvSpPr txBox="1"/>
            <p:nvPr/>
          </p:nvSpPr>
          <p:spPr>
            <a:xfrm>
              <a:off x="5790269" y="337809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71" name="직선 연결선 270">
              <a:extLst>
                <a:ext uri="{FF2B5EF4-FFF2-40B4-BE49-F238E27FC236}">
                  <a16:creationId xmlns:a16="http://schemas.microsoft.com/office/drawing/2014/main" id="{E9293055-D5CD-4B9E-7F64-64B2D2CA7A52}"/>
                </a:ext>
              </a:extLst>
            </p:cNvPr>
            <p:cNvCxnSpPr/>
            <p:nvPr/>
          </p:nvCxnSpPr>
          <p:spPr>
            <a:xfrm>
              <a:off x="3832498" y="5281399"/>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2" name="TextBox 271">
              <a:extLst>
                <a:ext uri="{FF2B5EF4-FFF2-40B4-BE49-F238E27FC236}">
                  <a16:creationId xmlns:a16="http://schemas.microsoft.com/office/drawing/2014/main" id="{FFC49AEA-2A8F-250C-A86A-A7751D9706C3}"/>
                </a:ext>
              </a:extLst>
            </p:cNvPr>
            <p:cNvSpPr txBox="1"/>
            <p:nvPr/>
          </p:nvSpPr>
          <p:spPr>
            <a:xfrm>
              <a:off x="3919560" y="4804792"/>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장애인기업</a:t>
              </a:r>
              <a:r>
                <a:rPr lang="en-US" altLang="ko-KR" sz="700" dirty="0">
                  <a:latin typeface="+mn-ea"/>
                </a:rPr>
                <a:t>(</a:t>
              </a:r>
              <a:r>
                <a:rPr lang="ko-KR" altLang="en-US" sz="700" dirty="0">
                  <a:latin typeface="+mn-ea"/>
                </a:rPr>
                <a:t>「장애인기업활동 </a:t>
              </a:r>
              <a:r>
                <a:rPr lang="ko-KR" altLang="en-US" sz="700" dirty="0" err="1">
                  <a:latin typeface="+mn-ea"/>
                </a:rPr>
                <a:t>촉진법」에서</a:t>
              </a:r>
              <a:r>
                <a:rPr lang="ko-KR" altLang="en-US" sz="700" dirty="0">
                  <a:latin typeface="+mn-ea"/>
                </a:rPr>
                <a:t> 정한 기업으로서 중소벤처기업부장관</a:t>
              </a:r>
              <a:r>
                <a:rPr lang="en-US" altLang="ko-KR" sz="700" dirty="0">
                  <a:latin typeface="+mn-ea"/>
                </a:rPr>
                <a:t>(</a:t>
              </a:r>
              <a:r>
                <a:rPr lang="ko-KR" altLang="en-US" sz="700" dirty="0">
                  <a:latin typeface="+mn-ea"/>
                </a:rPr>
                <a:t>또는 </a:t>
              </a:r>
              <a:r>
                <a:rPr lang="ko-KR" altLang="en-US" sz="700" dirty="0" err="1">
                  <a:latin typeface="+mn-ea"/>
                </a:rPr>
                <a:t>위임받은</a:t>
              </a:r>
              <a:r>
                <a:rPr lang="ko-KR" altLang="en-US" sz="700" dirty="0">
                  <a:latin typeface="+mn-ea"/>
                </a:rPr>
                <a:t> 자</a:t>
              </a:r>
              <a:r>
                <a:rPr lang="en-US" altLang="ko-KR" sz="700" dirty="0">
                  <a:latin typeface="+mn-ea"/>
                </a:rPr>
                <a:t>)</a:t>
              </a:r>
              <a:r>
                <a:rPr lang="ko-KR" altLang="en-US" sz="700" dirty="0">
                  <a:latin typeface="+mn-ea"/>
                </a:rPr>
                <a:t>에 의해 확인된 경우 인정</a:t>
              </a:r>
              <a:r>
                <a:rPr lang="en-US" altLang="ko-KR" sz="700" dirty="0">
                  <a:latin typeface="+mn-ea"/>
                </a:rPr>
                <a:t>))</a:t>
              </a:r>
            </a:p>
          </p:txBody>
        </p:sp>
        <p:sp>
          <p:nvSpPr>
            <p:cNvPr id="273" name="TextBox 272">
              <a:extLst>
                <a:ext uri="{FF2B5EF4-FFF2-40B4-BE49-F238E27FC236}">
                  <a16:creationId xmlns:a16="http://schemas.microsoft.com/office/drawing/2014/main" id="{FFC49AEA-2A8F-250C-A86A-A7751D9706C3}"/>
                </a:ext>
              </a:extLst>
            </p:cNvPr>
            <p:cNvSpPr txBox="1"/>
            <p:nvPr/>
          </p:nvSpPr>
          <p:spPr>
            <a:xfrm>
              <a:off x="5708515" y="496637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4" name="TextBox 273">
              <a:extLst>
                <a:ext uri="{FF2B5EF4-FFF2-40B4-BE49-F238E27FC236}">
                  <a16:creationId xmlns:a16="http://schemas.microsoft.com/office/drawing/2014/main" id="{FFC49AEA-2A8F-250C-A86A-A7751D9706C3}"/>
                </a:ext>
              </a:extLst>
            </p:cNvPr>
            <p:cNvSpPr txBox="1"/>
            <p:nvPr/>
          </p:nvSpPr>
          <p:spPr>
            <a:xfrm>
              <a:off x="3919560" y="5526281"/>
              <a:ext cx="1480199" cy="215444"/>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장애인고용율이 </a:t>
              </a:r>
              <a:r>
                <a:rPr lang="en-US" altLang="ko-KR" sz="700" dirty="0">
                  <a:latin typeface="+mn-ea"/>
                </a:rPr>
                <a:t>3%</a:t>
              </a:r>
              <a:r>
                <a:rPr lang="ko-KR" altLang="en-US" sz="700" dirty="0">
                  <a:latin typeface="+mn-ea"/>
                </a:rPr>
                <a:t>이상이고 장애인종업원이 </a:t>
              </a:r>
              <a:r>
                <a:rPr lang="en-US" altLang="ko-KR" sz="700" dirty="0">
                  <a:latin typeface="+mn-ea"/>
                </a:rPr>
                <a:t>6</a:t>
              </a:r>
              <a:r>
                <a:rPr lang="ko-KR" altLang="en-US" sz="700" dirty="0">
                  <a:latin typeface="+mn-ea"/>
                </a:rPr>
                <a:t>인 이상인 기업</a:t>
              </a:r>
            </a:p>
          </p:txBody>
        </p:sp>
        <p:sp>
          <p:nvSpPr>
            <p:cNvPr id="275" name="TextBox 274">
              <a:extLst>
                <a:ext uri="{FF2B5EF4-FFF2-40B4-BE49-F238E27FC236}">
                  <a16:creationId xmlns:a16="http://schemas.microsoft.com/office/drawing/2014/main" id="{FFC49AEA-2A8F-250C-A86A-A7751D9706C3}"/>
                </a:ext>
              </a:extLst>
            </p:cNvPr>
            <p:cNvSpPr txBox="1"/>
            <p:nvPr/>
          </p:nvSpPr>
          <p:spPr>
            <a:xfrm>
              <a:off x="5708516" y="5580142"/>
              <a:ext cx="11862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sp>
          <p:nvSpPr>
            <p:cNvPr id="276" name="TextBox 275">
              <a:extLst>
                <a:ext uri="{FF2B5EF4-FFF2-40B4-BE49-F238E27FC236}">
                  <a16:creationId xmlns:a16="http://schemas.microsoft.com/office/drawing/2014/main" id="{FFC49AEA-2A8F-250C-A86A-A7751D9706C3}"/>
                </a:ext>
              </a:extLst>
            </p:cNvPr>
            <p:cNvSpPr txBox="1"/>
            <p:nvPr/>
          </p:nvSpPr>
          <p:spPr>
            <a:xfrm>
              <a:off x="3919560" y="5833165"/>
              <a:ext cx="1480199" cy="215444"/>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장애인고용율이 </a:t>
              </a:r>
              <a:r>
                <a:rPr lang="en-US" altLang="ko-KR" sz="700" dirty="0">
                  <a:latin typeface="+mn-ea"/>
                </a:rPr>
                <a:t>1.5%</a:t>
              </a:r>
              <a:r>
                <a:rPr lang="ko-KR" altLang="en-US" sz="700" dirty="0">
                  <a:latin typeface="+mn-ea"/>
                </a:rPr>
                <a:t>이상이고 장애인종업원이 </a:t>
              </a:r>
              <a:r>
                <a:rPr lang="en-US" altLang="ko-KR" sz="700" dirty="0">
                  <a:latin typeface="+mn-ea"/>
                </a:rPr>
                <a:t>3</a:t>
              </a:r>
              <a:r>
                <a:rPr lang="ko-KR" altLang="en-US" sz="700" dirty="0">
                  <a:latin typeface="+mn-ea"/>
                </a:rPr>
                <a:t>인 이상인 기업</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832498" y="5787445"/>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8" name="직선 연결선 277">
              <a:extLst>
                <a:ext uri="{FF2B5EF4-FFF2-40B4-BE49-F238E27FC236}">
                  <a16:creationId xmlns:a16="http://schemas.microsoft.com/office/drawing/2014/main" id="{E9293055-D5CD-4B9E-7F64-64B2D2CA7A52}"/>
                </a:ext>
              </a:extLst>
            </p:cNvPr>
            <p:cNvCxnSpPr/>
            <p:nvPr/>
          </p:nvCxnSpPr>
          <p:spPr>
            <a:xfrm>
              <a:off x="3832498" y="60943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9" name="TextBox 278">
              <a:extLst>
                <a:ext uri="{FF2B5EF4-FFF2-40B4-BE49-F238E27FC236}">
                  <a16:creationId xmlns:a16="http://schemas.microsoft.com/office/drawing/2014/main" id="{FFC49AEA-2A8F-250C-A86A-A7751D9706C3}"/>
                </a:ext>
              </a:extLst>
            </p:cNvPr>
            <p:cNvSpPr txBox="1"/>
            <p:nvPr/>
          </p:nvSpPr>
          <p:spPr>
            <a:xfrm>
              <a:off x="5708515" y="588702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283" name="TextBox 282">
              <a:extLst>
                <a:ext uri="{FF2B5EF4-FFF2-40B4-BE49-F238E27FC236}">
                  <a16:creationId xmlns:a16="http://schemas.microsoft.com/office/drawing/2014/main" id="{FFC49AEA-2A8F-250C-A86A-A7751D9706C3}"/>
                </a:ext>
              </a:extLst>
            </p:cNvPr>
            <p:cNvSpPr txBox="1"/>
            <p:nvPr/>
          </p:nvSpPr>
          <p:spPr>
            <a:xfrm>
              <a:off x="6390176" y="522518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84" name="TextBox 283">
              <a:extLst>
                <a:ext uri="{FF2B5EF4-FFF2-40B4-BE49-F238E27FC236}">
                  <a16:creationId xmlns:a16="http://schemas.microsoft.com/office/drawing/2014/main" id="{FFC49AEA-2A8F-250C-A86A-A7751D9706C3}"/>
                </a:ext>
              </a:extLst>
            </p:cNvPr>
            <p:cNvSpPr txBox="1"/>
            <p:nvPr/>
          </p:nvSpPr>
          <p:spPr>
            <a:xfrm>
              <a:off x="3919560" y="5327119"/>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장애인고용 우수기업</a:t>
              </a:r>
            </a:p>
          </p:txBody>
        </p:sp>
        <p:sp>
          <p:nvSpPr>
            <p:cNvPr id="285" name="TextBox 284">
              <a:extLst>
                <a:ext uri="{FF2B5EF4-FFF2-40B4-BE49-F238E27FC236}">
                  <a16:creationId xmlns:a16="http://schemas.microsoft.com/office/drawing/2014/main" id="{FFC49AEA-2A8F-250C-A86A-A7751D9706C3}"/>
                </a:ext>
              </a:extLst>
            </p:cNvPr>
            <p:cNvSpPr txBox="1"/>
            <p:nvPr/>
          </p:nvSpPr>
          <p:spPr>
            <a:xfrm>
              <a:off x="5790269" y="532711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86" name="직선 연결선 285">
              <a:extLst>
                <a:ext uri="{FF2B5EF4-FFF2-40B4-BE49-F238E27FC236}">
                  <a16:creationId xmlns:a16="http://schemas.microsoft.com/office/drawing/2014/main" id="{E9293055-D5CD-4B9E-7F64-64B2D2CA7A52}"/>
                </a:ext>
              </a:extLst>
            </p:cNvPr>
            <p:cNvCxnSpPr/>
            <p:nvPr/>
          </p:nvCxnSpPr>
          <p:spPr>
            <a:xfrm>
              <a:off x="3832498" y="548056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6" name="그룹 5"/>
          <p:cNvGrpSpPr/>
          <p:nvPr/>
        </p:nvGrpSpPr>
        <p:grpSpPr>
          <a:xfrm>
            <a:off x="3837747" y="1496022"/>
            <a:ext cx="2628001" cy="4736276"/>
            <a:chOff x="719049" y="1496022"/>
            <a:chExt cx="2628001" cy="4736276"/>
          </a:xfrm>
        </p:grpSpPr>
        <p:sp>
          <p:nvSpPr>
            <p:cNvPr id="116" name="직사각형 115"/>
            <p:cNvSpPr/>
            <p:nvPr/>
          </p:nvSpPr>
          <p:spPr>
            <a:xfrm>
              <a:off x="719049" y="1504395"/>
              <a:ext cx="1639886" cy="472790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7" name="직선 연결선 116">
              <a:extLst>
                <a:ext uri="{FF2B5EF4-FFF2-40B4-BE49-F238E27FC236}">
                  <a16:creationId xmlns:a16="http://schemas.microsoft.com/office/drawing/2014/main" id="{E9293055-D5CD-4B9E-7F64-64B2D2CA7A52}"/>
                </a:ext>
              </a:extLst>
            </p:cNvPr>
            <p:cNvCxnSpPr/>
            <p:nvPr/>
          </p:nvCxnSpPr>
          <p:spPr>
            <a:xfrm>
              <a:off x="719050" y="28869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8" name="TextBox 117">
              <a:extLst>
                <a:ext uri="{FF2B5EF4-FFF2-40B4-BE49-F238E27FC236}">
                  <a16:creationId xmlns:a16="http://schemas.microsoft.com/office/drawing/2014/main" id="{FFC49AEA-2A8F-250C-A86A-A7751D9706C3}"/>
                </a:ext>
              </a:extLst>
            </p:cNvPr>
            <p:cNvSpPr txBox="1"/>
            <p:nvPr/>
          </p:nvSpPr>
          <p:spPr>
            <a:xfrm>
              <a:off x="3276728" y="213762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806112" y="1530354"/>
              <a:ext cx="1480199" cy="107722"/>
            </a:xfrm>
            <a:prstGeom prst="rect">
              <a:avLst/>
            </a:prstGeom>
            <a:noFill/>
          </p:spPr>
          <p:txBody>
            <a:bodyPr wrap="square" lIns="0" tIns="0" rIns="0" bIns="0" rtlCol="0">
              <a:spAutoFit/>
            </a:bodyPr>
            <a:lstStyle/>
            <a:p>
              <a:r>
                <a:rPr lang="en-US" altLang="ko-KR" sz="700" dirty="0">
                  <a:latin typeface="+mn-ea"/>
                </a:rPr>
                <a:t>D.</a:t>
              </a:r>
              <a:r>
                <a:rPr lang="ko-KR" altLang="en-US" sz="700" dirty="0">
                  <a:latin typeface="+mn-ea"/>
                </a:rPr>
                <a:t>신규채용 우수기업</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806112" y="1706740"/>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5%</a:t>
              </a:r>
              <a:r>
                <a:rPr lang="ko-KR" altLang="en-US" sz="700" dirty="0">
                  <a:latin typeface="+mn-ea"/>
                </a:rPr>
                <a:t>이상 증가하고</a:t>
              </a:r>
              <a:r>
                <a:rPr lang="en-US" altLang="ko-KR" sz="700" dirty="0">
                  <a:latin typeface="+mn-ea"/>
                </a:rPr>
                <a:t>, </a:t>
              </a:r>
              <a:r>
                <a:rPr lang="ko-KR" altLang="en-US" sz="700" dirty="0">
                  <a:latin typeface="+mn-ea"/>
                </a:rPr>
                <a:t>최근 </a:t>
              </a:r>
              <a:r>
                <a:rPr lang="en-US" altLang="ko-KR" sz="700" dirty="0">
                  <a:latin typeface="+mn-ea"/>
                </a:rPr>
                <a:t>3</a:t>
              </a:r>
              <a:r>
                <a:rPr lang="ko-KR" altLang="en-US" sz="700" dirty="0">
                  <a:latin typeface="+mn-ea"/>
                </a:rPr>
                <a:t>개월 평균 신규고용 </a:t>
              </a:r>
              <a:r>
                <a:rPr lang="ko-KR" altLang="en-US" sz="700" dirty="0" err="1">
                  <a:latin typeface="+mn-ea"/>
                </a:rPr>
                <a:t>증가인원이</a:t>
              </a:r>
              <a:r>
                <a:rPr lang="ko-KR" altLang="en-US" sz="700" dirty="0">
                  <a:latin typeface="+mn-ea"/>
                </a:rPr>
                <a:t> </a:t>
              </a:r>
              <a:r>
                <a:rPr lang="en-US" altLang="ko-KR" sz="700" dirty="0">
                  <a:latin typeface="+mn-ea"/>
                </a:rPr>
                <a:t>6</a:t>
              </a:r>
              <a:r>
                <a:rPr lang="ko-KR" altLang="en-US" sz="700" dirty="0">
                  <a:latin typeface="+mn-ea"/>
                </a:rPr>
                <a:t>명 이상인 기업</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806112" y="2314013"/>
              <a:ext cx="1480199" cy="538609"/>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전년도 매월 말 평균 고용보험 피보험자 수 대비 최근 </a:t>
              </a:r>
              <a:r>
                <a:rPr lang="en-US" altLang="ko-KR" sz="700" dirty="0">
                  <a:latin typeface="+mn-ea"/>
                </a:rPr>
                <a:t>3</a:t>
              </a:r>
              <a:r>
                <a:rPr lang="ko-KR" altLang="en-US" sz="700" dirty="0">
                  <a:latin typeface="+mn-ea"/>
                </a:rPr>
                <a:t>개월 평균 신규 고용보험 피보험자 수가 </a:t>
              </a:r>
              <a:r>
                <a:rPr lang="en-US" altLang="ko-KR" sz="700" dirty="0">
                  <a:latin typeface="+mn-ea"/>
                </a:rPr>
                <a:t>2.5%</a:t>
              </a:r>
              <a:r>
                <a:rPr lang="ko-KR" altLang="en-US" sz="700" dirty="0">
                  <a:latin typeface="+mn-ea"/>
                </a:rPr>
                <a:t>이상 증가하고</a:t>
              </a:r>
              <a:r>
                <a:rPr lang="en-US" altLang="ko-KR" sz="700" dirty="0">
                  <a:latin typeface="+mn-ea"/>
                </a:rPr>
                <a:t>, </a:t>
              </a:r>
              <a:r>
                <a:rPr lang="ko-KR" altLang="en-US" sz="700" dirty="0">
                  <a:latin typeface="+mn-ea"/>
                </a:rPr>
                <a:t>최근 </a:t>
              </a:r>
              <a:r>
                <a:rPr lang="en-US" altLang="ko-KR" sz="700" dirty="0">
                  <a:latin typeface="+mn-ea"/>
                </a:rPr>
                <a:t>3</a:t>
              </a:r>
              <a:r>
                <a:rPr lang="ko-KR" altLang="en-US" sz="700" dirty="0">
                  <a:latin typeface="+mn-ea"/>
                </a:rPr>
                <a:t>개월 평균 신규고용 </a:t>
              </a:r>
              <a:r>
                <a:rPr lang="ko-KR" altLang="en-US" sz="700" dirty="0" err="1">
                  <a:latin typeface="+mn-ea"/>
                </a:rPr>
                <a:t>증가인원이</a:t>
              </a:r>
              <a:r>
                <a:rPr lang="ko-KR" altLang="en-US" sz="700" dirty="0">
                  <a:latin typeface="+mn-ea"/>
                </a:rPr>
                <a:t> </a:t>
              </a:r>
              <a:r>
                <a:rPr lang="en-US" altLang="ko-KR" sz="700" dirty="0">
                  <a:latin typeface="+mn-ea"/>
                </a:rPr>
                <a:t>3</a:t>
              </a:r>
              <a:r>
                <a:rPr lang="ko-KR" altLang="en-US" sz="700" dirty="0">
                  <a:latin typeface="+mn-ea"/>
                </a:rPr>
                <a:t>명 이상인 기업</a:t>
              </a:r>
            </a:p>
          </p:txBody>
        </p:sp>
        <p:cxnSp>
          <p:nvCxnSpPr>
            <p:cNvPr id="122" name="직선 연결선 121">
              <a:extLst>
                <a:ext uri="{FF2B5EF4-FFF2-40B4-BE49-F238E27FC236}">
                  <a16:creationId xmlns:a16="http://schemas.microsoft.com/office/drawing/2014/main" id="{E9293055-D5CD-4B9E-7F64-64B2D2CA7A52}"/>
                </a:ext>
              </a:extLst>
            </p:cNvPr>
            <p:cNvCxnSpPr/>
            <p:nvPr/>
          </p:nvCxnSpPr>
          <p:spPr>
            <a:xfrm>
              <a:off x="719050" y="1672408"/>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19050" y="227968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5" name="TextBox 124">
              <a:extLst>
                <a:ext uri="{FF2B5EF4-FFF2-40B4-BE49-F238E27FC236}">
                  <a16:creationId xmlns:a16="http://schemas.microsoft.com/office/drawing/2014/main" id="{FFC49AEA-2A8F-250C-A86A-A7751D9706C3}"/>
                </a:ext>
              </a:extLst>
            </p:cNvPr>
            <p:cNvSpPr txBox="1"/>
            <p:nvPr/>
          </p:nvSpPr>
          <p:spPr>
            <a:xfrm>
              <a:off x="2676821" y="153035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26" name="TextBox 125">
              <a:extLst>
                <a:ext uri="{FF2B5EF4-FFF2-40B4-BE49-F238E27FC236}">
                  <a16:creationId xmlns:a16="http://schemas.microsoft.com/office/drawing/2014/main" id="{FFC49AEA-2A8F-250C-A86A-A7751D9706C3}"/>
                </a:ext>
              </a:extLst>
            </p:cNvPr>
            <p:cNvSpPr txBox="1"/>
            <p:nvPr/>
          </p:nvSpPr>
          <p:spPr>
            <a:xfrm>
              <a:off x="2595067" y="1922183"/>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27" name="TextBox 126">
              <a:extLst>
                <a:ext uri="{FF2B5EF4-FFF2-40B4-BE49-F238E27FC236}">
                  <a16:creationId xmlns:a16="http://schemas.microsoft.com/office/drawing/2014/main" id="{FFC49AEA-2A8F-250C-A86A-A7751D9706C3}"/>
                </a:ext>
              </a:extLst>
            </p:cNvPr>
            <p:cNvSpPr txBox="1"/>
            <p:nvPr/>
          </p:nvSpPr>
          <p:spPr>
            <a:xfrm>
              <a:off x="2595067" y="2529456"/>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128" name="직선 연결선 127">
              <a:extLst>
                <a:ext uri="{FF2B5EF4-FFF2-40B4-BE49-F238E27FC236}">
                  <a16:creationId xmlns:a16="http://schemas.microsoft.com/office/drawing/2014/main" id="{E9293055-D5CD-4B9E-7F64-64B2D2CA7A52}"/>
                </a:ext>
              </a:extLst>
            </p:cNvPr>
            <p:cNvCxnSpPr/>
            <p:nvPr/>
          </p:nvCxnSpPr>
          <p:spPr>
            <a:xfrm>
              <a:off x="719050" y="356289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9" name="TextBox 128">
              <a:extLst>
                <a:ext uri="{FF2B5EF4-FFF2-40B4-BE49-F238E27FC236}">
                  <a16:creationId xmlns:a16="http://schemas.microsoft.com/office/drawing/2014/main" id="{FFC49AEA-2A8F-250C-A86A-A7751D9706C3}"/>
                </a:ext>
              </a:extLst>
            </p:cNvPr>
            <p:cNvSpPr txBox="1"/>
            <p:nvPr/>
          </p:nvSpPr>
          <p:spPr>
            <a:xfrm>
              <a:off x="3276728" y="31710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806112" y="2921286"/>
              <a:ext cx="1480199" cy="107722"/>
            </a:xfrm>
            <a:prstGeom prst="rect">
              <a:avLst/>
            </a:prstGeom>
            <a:noFill/>
          </p:spPr>
          <p:txBody>
            <a:bodyPr wrap="square" lIns="0" tIns="0" rIns="0" bIns="0" rtlCol="0">
              <a:spAutoFit/>
            </a:bodyPr>
            <a:lstStyle/>
            <a:p>
              <a:r>
                <a:rPr lang="en-US" altLang="ko-KR" sz="700" dirty="0">
                  <a:latin typeface="+mn-ea"/>
                </a:rPr>
                <a:t>E.</a:t>
              </a:r>
              <a:r>
                <a:rPr lang="ko-KR" altLang="en-US" sz="700" dirty="0">
                  <a:latin typeface="+mn-ea"/>
                </a:rPr>
                <a:t>기술혁신 중소</a:t>
              </a:r>
              <a:r>
                <a:rPr lang="en-US" altLang="ko-KR" sz="700" dirty="0">
                  <a:latin typeface="+mn-ea"/>
                </a:rPr>
                <a:t>.</a:t>
              </a:r>
              <a:r>
                <a:rPr lang="ko-KR" altLang="en-US" sz="700" dirty="0">
                  <a:latin typeface="+mn-ea"/>
                </a:rPr>
                <a:t>벤처기업</a:t>
              </a:r>
            </a:p>
          </p:txBody>
        </p:sp>
        <p:sp>
          <p:nvSpPr>
            <p:cNvPr id="131" name="TextBox 130">
              <a:extLst>
                <a:ext uri="{FF2B5EF4-FFF2-40B4-BE49-F238E27FC236}">
                  <a16:creationId xmlns:a16="http://schemas.microsoft.com/office/drawing/2014/main" id="{FFC49AEA-2A8F-250C-A86A-A7751D9706C3}"/>
                </a:ext>
              </a:extLst>
            </p:cNvPr>
            <p:cNvSpPr txBox="1"/>
            <p:nvPr/>
          </p:nvSpPr>
          <p:spPr>
            <a:xfrm>
              <a:off x="806112" y="3097672"/>
              <a:ext cx="1480199" cy="430887"/>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중소벤처기업부장관</a:t>
              </a:r>
              <a:r>
                <a:rPr lang="en-US" altLang="ko-KR" sz="700" dirty="0">
                  <a:latin typeface="+mn-ea"/>
                </a:rPr>
                <a:t>(</a:t>
              </a:r>
              <a:r>
                <a:rPr lang="ko-KR" altLang="en-US" sz="700" dirty="0">
                  <a:latin typeface="+mn-ea"/>
                </a:rPr>
                <a:t>또는 위임 받은 자</a:t>
              </a:r>
              <a:r>
                <a:rPr lang="en-US" altLang="ko-KR" sz="700" dirty="0">
                  <a:latin typeface="+mn-ea"/>
                </a:rPr>
                <a:t>)</a:t>
              </a:r>
              <a:r>
                <a:rPr lang="ko-KR" altLang="en-US" sz="700" dirty="0">
                  <a:latin typeface="+mn-ea"/>
                </a:rPr>
                <a:t>에 의해 </a:t>
              </a:r>
              <a:r>
                <a:rPr lang="ko-KR" altLang="en-US" sz="700" dirty="0" err="1">
                  <a:latin typeface="+mn-ea"/>
                </a:rPr>
                <a:t>혁신형</a:t>
              </a:r>
              <a:r>
                <a:rPr lang="en-US" altLang="ko-KR" sz="700" dirty="0">
                  <a:latin typeface="+mn-ea"/>
                </a:rPr>
                <a:t>(</a:t>
              </a:r>
              <a:r>
                <a:rPr lang="ko-KR" altLang="en-US" sz="700" dirty="0">
                  <a:latin typeface="+mn-ea"/>
                </a:rPr>
                <a:t>벤처</a:t>
              </a:r>
              <a:r>
                <a:rPr lang="en-US" altLang="ko-KR" sz="700" dirty="0">
                  <a:latin typeface="+mn-ea"/>
                </a:rPr>
                <a:t>, </a:t>
              </a:r>
              <a:r>
                <a:rPr lang="ko-KR" altLang="en-US" sz="700" dirty="0" err="1">
                  <a:latin typeface="+mn-ea"/>
                </a:rPr>
                <a:t>기술혁신형</a:t>
              </a:r>
              <a:r>
                <a:rPr lang="en-US" altLang="ko-KR" sz="700" dirty="0">
                  <a:latin typeface="+mn-ea"/>
                </a:rPr>
                <a:t>, </a:t>
              </a:r>
              <a:r>
                <a:rPr lang="ko-KR" altLang="en-US" sz="700" dirty="0" err="1">
                  <a:latin typeface="+mn-ea"/>
                </a:rPr>
                <a:t>경영혁신형</a:t>
              </a:r>
              <a:r>
                <a:rPr lang="en-US" altLang="ko-KR" sz="700" dirty="0">
                  <a:latin typeface="+mn-ea"/>
                </a:rPr>
                <a:t>, </a:t>
              </a:r>
              <a:r>
                <a:rPr lang="ko-KR" altLang="en-US" sz="700" dirty="0">
                  <a:latin typeface="+mn-ea"/>
                </a:rPr>
                <a:t>우수그린비즈</a:t>
              </a:r>
              <a:r>
                <a:rPr lang="en-US" altLang="ko-KR" sz="700" dirty="0">
                  <a:latin typeface="+mn-ea"/>
                </a:rPr>
                <a:t>) </a:t>
              </a:r>
              <a:r>
                <a:rPr lang="ko-KR" altLang="en-US" sz="700" dirty="0">
                  <a:latin typeface="+mn-ea"/>
                </a:rPr>
                <a:t>중소기업으로 지정</a:t>
              </a:r>
              <a:r>
                <a:rPr lang="en-US" altLang="ko-KR" sz="700" dirty="0">
                  <a:latin typeface="+mn-ea"/>
                </a:rPr>
                <a:t>(</a:t>
              </a:r>
              <a:r>
                <a:rPr lang="ko-KR" altLang="en-US" sz="700" dirty="0">
                  <a:latin typeface="+mn-ea"/>
                </a:rPr>
                <a:t>확인</a:t>
              </a:r>
              <a:r>
                <a:rPr lang="en-US" altLang="ko-KR" sz="700" dirty="0">
                  <a:latin typeface="+mn-ea"/>
                </a:rPr>
                <a:t>) </a:t>
              </a:r>
              <a:r>
                <a:rPr lang="ko-KR" altLang="en-US" sz="700" dirty="0">
                  <a:latin typeface="+mn-ea"/>
                </a:rPr>
                <a:t>받은 자</a:t>
              </a:r>
            </a:p>
          </p:txBody>
        </p:sp>
        <p:cxnSp>
          <p:nvCxnSpPr>
            <p:cNvPr id="138" name="직선 연결선 137">
              <a:extLst>
                <a:ext uri="{FF2B5EF4-FFF2-40B4-BE49-F238E27FC236}">
                  <a16:creationId xmlns:a16="http://schemas.microsoft.com/office/drawing/2014/main" id="{E9293055-D5CD-4B9E-7F64-64B2D2CA7A52}"/>
                </a:ext>
              </a:extLst>
            </p:cNvPr>
            <p:cNvCxnSpPr/>
            <p:nvPr/>
          </p:nvCxnSpPr>
          <p:spPr>
            <a:xfrm>
              <a:off x="719050" y="3063340"/>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8" name="TextBox 157">
              <a:extLst>
                <a:ext uri="{FF2B5EF4-FFF2-40B4-BE49-F238E27FC236}">
                  <a16:creationId xmlns:a16="http://schemas.microsoft.com/office/drawing/2014/main" id="{FFC49AEA-2A8F-250C-A86A-A7751D9706C3}"/>
                </a:ext>
              </a:extLst>
            </p:cNvPr>
            <p:cNvSpPr txBox="1"/>
            <p:nvPr/>
          </p:nvSpPr>
          <p:spPr>
            <a:xfrm>
              <a:off x="2676821" y="29212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59" name="TextBox 158">
              <a:extLst>
                <a:ext uri="{FF2B5EF4-FFF2-40B4-BE49-F238E27FC236}">
                  <a16:creationId xmlns:a16="http://schemas.microsoft.com/office/drawing/2014/main" id="{FFC49AEA-2A8F-250C-A86A-A7751D9706C3}"/>
                </a:ext>
              </a:extLst>
            </p:cNvPr>
            <p:cNvSpPr txBox="1"/>
            <p:nvPr/>
          </p:nvSpPr>
          <p:spPr>
            <a:xfrm>
              <a:off x="2595067" y="3259254"/>
              <a:ext cx="118623"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3276728" y="36510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1" name="TextBox 160">
              <a:extLst>
                <a:ext uri="{FF2B5EF4-FFF2-40B4-BE49-F238E27FC236}">
                  <a16:creationId xmlns:a16="http://schemas.microsoft.com/office/drawing/2014/main" id="{FFC49AEA-2A8F-250C-A86A-A7751D9706C3}"/>
                </a:ext>
              </a:extLst>
            </p:cNvPr>
            <p:cNvSpPr txBox="1"/>
            <p:nvPr/>
          </p:nvSpPr>
          <p:spPr>
            <a:xfrm>
              <a:off x="806112" y="3597223"/>
              <a:ext cx="1480199" cy="215444"/>
            </a:xfrm>
            <a:prstGeom prst="rect">
              <a:avLst/>
            </a:prstGeom>
            <a:noFill/>
          </p:spPr>
          <p:txBody>
            <a:bodyPr wrap="square" lIns="0" tIns="0" rIns="0" bIns="0" rtlCol="0">
              <a:spAutoFit/>
            </a:bodyPr>
            <a:lstStyle/>
            <a:p>
              <a:r>
                <a:rPr lang="en-US" altLang="ko-KR" sz="700" dirty="0">
                  <a:latin typeface="+mn-ea"/>
                </a:rPr>
                <a:t>F.</a:t>
              </a:r>
              <a:r>
                <a:rPr lang="ko-KR" altLang="en-US" sz="700" dirty="0">
                  <a:latin typeface="+mn-ea"/>
                </a:rPr>
                <a:t>산업통상자원부장관이 선정한 ‘</a:t>
              </a:r>
              <a:r>
                <a:rPr lang="ko-KR" altLang="en-US" sz="700" dirty="0" err="1">
                  <a:latin typeface="+mn-ea"/>
                </a:rPr>
                <a:t>세계일류상품인증기업</a:t>
              </a:r>
              <a:r>
                <a:rPr lang="ko-KR" altLang="en-US" sz="700" dirty="0">
                  <a:latin typeface="+mn-ea"/>
                </a:rPr>
                <a:t>’</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2595067" y="3651084"/>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719050" y="38469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7" name="TextBox 166">
              <a:extLst>
                <a:ext uri="{FF2B5EF4-FFF2-40B4-BE49-F238E27FC236}">
                  <a16:creationId xmlns:a16="http://schemas.microsoft.com/office/drawing/2014/main" id="{FFC49AEA-2A8F-250C-A86A-A7751D9706C3}"/>
                </a:ext>
              </a:extLst>
            </p:cNvPr>
            <p:cNvSpPr txBox="1"/>
            <p:nvPr/>
          </p:nvSpPr>
          <p:spPr>
            <a:xfrm>
              <a:off x="3276728" y="393519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806112" y="3881331"/>
              <a:ext cx="1480199" cy="215444"/>
            </a:xfrm>
            <a:prstGeom prst="rect">
              <a:avLst/>
            </a:prstGeom>
            <a:noFill/>
          </p:spPr>
          <p:txBody>
            <a:bodyPr wrap="square" lIns="0" tIns="0" rIns="0" bIns="0" rtlCol="0">
              <a:spAutoFit/>
            </a:bodyPr>
            <a:lstStyle/>
            <a:p>
              <a:r>
                <a:rPr lang="en-US" altLang="ko-KR" sz="700" dirty="0">
                  <a:latin typeface="+mn-ea"/>
                </a:rPr>
                <a:t>G.’</a:t>
              </a:r>
              <a:r>
                <a:rPr lang="ko-KR" altLang="en-US" sz="700" dirty="0">
                  <a:latin typeface="+mn-ea"/>
                </a:rPr>
                <a:t>중소벤처기업부장관이 지정한 수출유망중소기업’</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2595067" y="3935192"/>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185" name="직선 연결선 184">
              <a:extLst>
                <a:ext uri="{FF2B5EF4-FFF2-40B4-BE49-F238E27FC236}">
                  <a16:creationId xmlns:a16="http://schemas.microsoft.com/office/drawing/2014/main" id="{E9293055-D5CD-4B9E-7F64-64B2D2CA7A52}"/>
                </a:ext>
              </a:extLst>
            </p:cNvPr>
            <p:cNvCxnSpPr/>
            <p:nvPr/>
          </p:nvCxnSpPr>
          <p:spPr>
            <a:xfrm>
              <a:off x="719050" y="413110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1" name="TextBox 190">
              <a:extLst>
                <a:ext uri="{FF2B5EF4-FFF2-40B4-BE49-F238E27FC236}">
                  <a16:creationId xmlns:a16="http://schemas.microsoft.com/office/drawing/2014/main" id="{FFC49AEA-2A8F-250C-A86A-A7751D9706C3}"/>
                </a:ext>
              </a:extLst>
            </p:cNvPr>
            <p:cNvSpPr txBox="1"/>
            <p:nvPr/>
          </p:nvSpPr>
          <p:spPr>
            <a:xfrm>
              <a:off x="3276728" y="4219300"/>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806112" y="4165439"/>
              <a:ext cx="1480199" cy="215444"/>
            </a:xfrm>
            <a:prstGeom prst="rect">
              <a:avLst/>
            </a:prstGeom>
            <a:noFill/>
          </p:spPr>
          <p:txBody>
            <a:bodyPr wrap="square" lIns="0" tIns="0" rIns="0" bIns="0" rtlCol="0">
              <a:spAutoFit/>
            </a:bodyPr>
            <a:lstStyle/>
            <a:p>
              <a:r>
                <a:rPr lang="en-US" altLang="ko-KR" sz="700" dirty="0">
                  <a:latin typeface="+mn-ea"/>
                </a:rPr>
                <a:t>H.</a:t>
              </a:r>
              <a:r>
                <a:rPr lang="ko-KR" altLang="en-US" sz="700" dirty="0">
                  <a:latin typeface="+mn-ea"/>
                </a:rPr>
                <a:t>안전행정부장관이 확인해준 ‘비상대비 중점관리 대상업체’</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2595067" y="4219300"/>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06" name="직선 연결선 205">
              <a:extLst>
                <a:ext uri="{FF2B5EF4-FFF2-40B4-BE49-F238E27FC236}">
                  <a16:creationId xmlns:a16="http://schemas.microsoft.com/office/drawing/2014/main" id="{E9293055-D5CD-4B9E-7F64-64B2D2CA7A52}"/>
                </a:ext>
              </a:extLst>
            </p:cNvPr>
            <p:cNvCxnSpPr/>
            <p:nvPr/>
          </p:nvCxnSpPr>
          <p:spPr>
            <a:xfrm>
              <a:off x="719050" y="44152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TextBox 214">
              <a:extLst>
                <a:ext uri="{FF2B5EF4-FFF2-40B4-BE49-F238E27FC236}">
                  <a16:creationId xmlns:a16="http://schemas.microsoft.com/office/drawing/2014/main" id="{FFC49AEA-2A8F-250C-A86A-A7751D9706C3}"/>
                </a:ext>
              </a:extLst>
            </p:cNvPr>
            <p:cNvSpPr txBox="1"/>
            <p:nvPr/>
          </p:nvSpPr>
          <p:spPr>
            <a:xfrm>
              <a:off x="3276728" y="450340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6" name="TextBox 215">
              <a:extLst>
                <a:ext uri="{FF2B5EF4-FFF2-40B4-BE49-F238E27FC236}">
                  <a16:creationId xmlns:a16="http://schemas.microsoft.com/office/drawing/2014/main" id="{FFC49AEA-2A8F-250C-A86A-A7751D9706C3}"/>
                </a:ext>
              </a:extLst>
            </p:cNvPr>
            <p:cNvSpPr txBox="1"/>
            <p:nvPr/>
          </p:nvSpPr>
          <p:spPr>
            <a:xfrm>
              <a:off x="806112" y="4449547"/>
              <a:ext cx="1480199" cy="215444"/>
            </a:xfrm>
            <a:prstGeom prst="rect">
              <a:avLst/>
            </a:prstGeom>
            <a:noFill/>
          </p:spPr>
          <p:txBody>
            <a:bodyPr wrap="square" lIns="0" tIns="0" rIns="0" bIns="0" rtlCol="0">
              <a:spAutoFit/>
            </a:bodyPr>
            <a:lstStyle/>
            <a:p>
              <a:r>
                <a:rPr lang="en-US" altLang="ko-KR" sz="700" dirty="0">
                  <a:latin typeface="+mn-ea"/>
                </a:rPr>
                <a:t>I.</a:t>
              </a:r>
              <a:r>
                <a:rPr lang="ko-KR" altLang="en-US" sz="700" dirty="0">
                  <a:latin typeface="+mn-ea"/>
                </a:rPr>
                <a:t>여성가족부에서 지정한 가족친화 </a:t>
              </a:r>
              <a:r>
                <a:rPr lang="ko-KR" altLang="en-US" sz="700" dirty="0" err="1">
                  <a:latin typeface="+mn-ea"/>
                </a:rPr>
                <a:t>인증기업</a:t>
              </a:r>
              <a:endParaRPr lang="ko-KR" altLang="en-US" sz="700" dirty="0">
                <a:latin typeface="+mn-ea"/>
              </a:endParaRPr>
            </a:p>
          </p:txBody>
        </p:sp>
        <p:sp>
          <p:nvSpPr>
            <p:cNvPr id="217" name="TextBox 216">
              <a:extLst>
                <a:ext uri="{FF2B5EF4-FFF2-40B4-BE49-F238E27FC236}">
                  <a16:creationId xmlns:a16="http://schemas.microsoft.com/office/drawing/2014/main" id="{FFC49AEA-2A8F-250C-A86A-A7751D9706C3}"/>
                </a:ext>
              </a:extLst>
            </p:cNvPr>
            <p:cNvSpPr txBox="1"/>
            <p:nvPr/>
          </p:nvSpPr>
          <p:spPr>
            <a:xfrm>
              <a:off x="2595067" y="4503408"/>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18" name="직선 연결선 217">
              <a:extLst>
                <a:ext uri="{FF2B5EF4-FFF2-40B4-BE49-F238E27FC236}">
                  <a16:creationId xmlns:a16="http://schemas.microsoft.com/office/drawing/2014/main" id="{E9293055-D5CD-4B9E-7F64-64B2D2CA7A52}"/>
                </a:ext>
              </a:extLst>
            </p:cNvPr>
            <p:cNvCxnSpPr/>
            <p:nvPr/>
          </p:nvCxnSpPr>
          <p:spPr>
            <a:xfrm>
              <a:off x="719050" y="469932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9" name="TextBox 218">
              <a:extLst>
                <a:ext uri="{FF2B5EF4-FFF2-40B4-BE49-F238E27FC236}">
                  <a16:creationId xmlns:a16="http://schemas.microsoft.com/office/drawing/2014/main" id="{FFC49AEA-2A8F-250C-A86A-A7751D9706C3}"/>
                </a:ext>
              </a:extLst>
            </p:cNvPr>
            <p:cNvSpPr txBox="1"/>
            <p:nvPr/>
          </p:nvSpPr>
          <p:spPr>
            <a:xfrm>
              <a:off x="3276728" y="478751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0" name="TextBox 219">
              <a:extLst>
                <a:ext uri="{FF2B5EF4-FFF2-40B4-BE49-F238E27FC236}">
                  <a16:creationId xmlns:a16="http://schemas.microsoft.com/office/drawing/2014/main" id="{FFC49AEA-2A8F-250C-A86A-A7751D9706C3}"/>
                </a:ext>
              </a:extLst>
            </p:cNvPr>
            <p:cNvSpPr txBox="1"/>
            <p:nvPr/>
          </p:nvSpPr>
          <p:spPr>
            <a:xfrm>
              <a:off x="806112" y="4733655"/>
              <a:ext cx="1480199" cy="215444"/>
            </a:xfrm>
            <a:prstGeom prst="rect">
              <a:avLst/>
            </a:prstGeom>
            <a:noFill/>
          </p:spPr>
          <p:txBody>
            <a:bodyPr wrap="square" lIns="0" tIns="0" rIns="0" bIns="0" rtlCol="0">
              <a:spAutoFit/>
            </a:bodyPr>
            <a:lstStyle/>
            <a:p>
              <a:r>
                <a:rPr lang="en-US" altLang="ko-KR" sz="700" dirty="0">
                  <a:latin typeface="+mn-ea"/>
                </a:rPr>
                <a:t>J.</a:t>
              </a:r>
              <a:r>
                <a:rPr lang="ko-KR" altLang="en-US" sz="700" dirty="0">
                  <a:latin typeface="+mn-ea"/>
                </a:rPr>
                <a:t>고용노동부장관이 인증한 사회적 기업</a:t>
              </a:r>
            </a:p>
          </p:txBody>
        </p:sp>
        <p:sp>
          <p:nvSpPr>
            <p:cNvPr id="221" name="TextBox 220">
              <a:extLst>
                <a:ext uri="{FF2B5EF4-FFF2-40B4-BE49-F238E27FC236}">
                  <a16:creationId xmlns:a16="http://schemas.microsoft.com/office/drawing/2014/main" id="{FFC49AEA-2A8F-250C-A86A-A7751D9706C3}"/>
                </a:ext>
              </a:extLst>
            </p:cNvPr>
            <p:cNvSpPr txBox="1"/>
            <p:nvPr/>
          </p:nvSpPr>
          <p:spPr>
            <a:xfrm>
              <a:off x="2595067" y="4787516"/>
              <a:ext cx="118623"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cxnSp>
          <p:nvCxnSpPr>
            <p:cNvPr id="222" name="직선 연결선 221">
              <a:extLst>
                <a:ext uri="{FF2B5EF4-FFF2-40B4-BE49-F238E27FC236}">
                  <a16:creationId xmlns:a16="http://schemas.microsoft.com/office/drawing/2014/main" id="{E9293055-D5CD-4B9E-7F64-64B2D2CA7A52}"/>
                </a:ext>
              </a:extLst>
            </p:cNvPr>
            <p:cNvCxnSpPr/>
            <p:nvPr/>
          </p:nvCxnSpPr>
          <p:spPr>
            <a:xfrm>
              <a:off x="719050" y="498343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3" name="TextBox 222">
              <a:extLst>
                <a:ext uri="{FF2B5EF4-FFF2-40B4-BE49-F238E27FC236}">
                  <a16:creationId xmlns:a16="http://schemas.microsoft.com/office/drawing/2014/main" id="{FFC49AEA-2A8F-250C-A86A-A7751D9706C3}"/>
                </a:ext>
              </a:extLst>
            </p:cNvPr>
            <p:cNvSpPr txBox="1"/>
            <p:nvPr/>
          </p:nvSpPr>
          <p:spPr>
            <a:xfrm>
              <a:off x="3276728" y="512548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806112" y="5017763"/>
              <a:ext cx="1480199" cy="323165"/>
            </a:xfrm>
            <a:prstGeom prst="rect">
              <a:avLst/>
            </a:prstGeom>
            <a:noFill/>
          </p:spPr>
          <p:txBody>
            <a:bodyPr wrap="square" lIns="0" tIns="0" rIns="0" bIns="0" rtlCol="0">
              <a:spAutoFit/>
            </a:bodyPr>
            <a:lstStyle/>
            <a:p>
              <a:r>
                <a:rPr lang="en-US" altLang="ko-KR" sz="700" dirty="0">
                  <a:latin typeface="+mn-ea"/>
                </a:rPr>
                <a:t>K.’</a:t>
              </a:r>
              <a:r>
                <a:rPr lang="ko-KR" altLang="en-US" sz="700" dirty="0">
                  <a:latin typeface="+mn-ea"/>
                </a:rPr>
                <a:t>중소기업인력지원특별법’ 제</a:t>
              </a:r>
              <a:r>
                <a:rPr lang="en-US" altLang="ko-KR" sz="700" dirty="0">
                  <a:latin typeface="+mn-ea"/>
                </a:rPr>
                <a:t>18</a:t>
              </a:r>
              <a:r>
                <a:rPr lang="ko-KR" altLang="en-US" sz="700" dirty="0">
                  <a:latin typeface="+mn-ea"/>
                </a:rPr>
                <a:t>조의</a:t>
              </a:r>
              <a:r>
                <a:rPr lang="en-US" altLang="ko-KR" sz="700" dirty="0">
                  <a:latin typeface="+mn-ea"/>
                </a:rPr>
                <a:t>2</a:t>
              </a:r>
              <a:r>
                <a:rPr lang="ko-KR" altLang="en-US" sz="700" dirty="0">
                  <a:latin typeface="+mn-ea"/>
                </a:rPr>
                <a:t>에 </a:t>
              </a:r>
              <a:r>
                <a:rPr lang="ko-KR" altLang="en-US" sz="700" dirty="0" err="1">
                  <a:latin typeface="+mn-ea"/>
                </a:rPr>
                <a:t>따른’인재육성형</a:t>
              </a:r>
              <a:r>
                <a:rPr lang="ko-KR" altLang="en-US" sz="700" dirty="0">
                  <a:latin typeface="+mn-ea"/>
                </a:rPr>
                <a:t> </a:t>
              </a:r>
              <a:r>
                <a:rPr lang="ko-KR" altLang="en-US" sz="700" dirty="0" err="1">
                  <a:latin typeface="+mn-ea"/>
                </a:rPr>
                <a:t>중소기업’으로</a:t>
              </a:r>
              <a:r>
                <a:rPr lang="ko-KR" altLang="en-US" sz="700" dirty="0">
                  <a:latin typeface="+mn-ea"/>
                </a:rPr>
                <a:t> </a:t>
              </a:r>
              <a:r>
                <a:rPr lang="ko-KR" altLang="en-US" sz="700" dirty="0" err="1">
                  <a:latin typeface="+mn-ea"/>
                </a:rPr>
                <a:t>지정받은</a:t>
              </a:r>
              <a:r>
                <a:rPr lang="ko-KR" altLang="en-US" sz="700" dirty="0">
                  <a:latin typeface="+mn-ea"/>
                </a:rPr>
                <a:t> 기업</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2595067" y="512548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26" name="직선 연결선 225">
              <a:extLst>
                <a:ext uri="{FF2B5EF4-FFF2-40B4-BE49-F238E27FC236}">
                  <a16:creationId xmlns:a16="http://schemas.microsoft.com/office/drawing/2014/main" id="{E9293055-D5CD-4B9E-7F64-64B2D2CA7A52}"/>
                </a:ext>
              </a:extLst>
            </p:cNvPr>
            <p:cNvCxnSpPr/>
            <p:nvPr/>
          </p:nvCxnSpPr>
          <p:spPr>
            <a:xfrm>
              <a:off x="719050" y="53752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7" name="TextBox 226">
              <a:extLst>
                <a:ext uri="{FF2B5EF4-FFF2-40B4-BE49-F238E27FC236}">
                  <a16:creationId xmlns:a16="http://schemas.microsoft.com/office/drawing/2014/main" id="{FFC49AEA-2A8F-250C-A86A-A7751D9706C3}"/>
                </a:ext>
              </a:extLst>
            </p:cNvPr>
            <p:cNvSpPr txBox="1"/>
            <p:nvPr/>
          </p:nvSpPr>
          <p:spPr>
            <a:xfrm>
              <a:off x="3276728" y="574991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28" name="TextBox 227">
              <a:extLst>
                <a:ext uri="{FF2B5EF4-FFF2-40B4-BE49-F238E27FC236}">
                  <a16:creationId xmlns:a16="http://schemas.microsoft.com/office/drawing/2014/main" id="{FFC49AEA-2A8F-250C-A86A-A7751D9706C3}"/>
                </a:ext>
              </a:extLst>
            </p:cNvPr>
            <p:cNvSpPr txBox="1"/>
            <p:nvPr/>
          </p:nvSpPr>
          <p:spPr>
            <a:xfrm>
              <a:off x="806112" y="5409592"/>
              <a:ext cx="1480199" cy="107722"/>
            </a:xfrm>
            <a:prstGeom prst="rect">
              <a:avLst/>
            </a:prstGeom>
            <a:noFill/>
          </p:spPr>
          <p:txBody>
            <a:bodyPr wrap="square" lIns="0" tIns="0" rIns="0" bIns="0" rtlCol="0">
              <a:spAutoFit/>
            </a:bodyPr>
            <a:lstStyle/>
            <a:p>
              <a:r>
                <a:rPr lang="en-US" altLang="ko-KR" sz="700" dirty="0">
                  <a:latin typeface="+mn-ea"/>
                </a:rPr>
                <a:t>L.</a:t>
              </a:r>
              <a:r>
                <a:rPr lang="ko-KR" altLang="en-US" sz="700" dirty="0">
                  <a:latin typeface="+mn-ea"/>
                </a:rPr>
                <a:t>수출우수기업</a:t>
              </a:r>
            </a:p>
          </p:txBody>
        </p:sp>
        <p:sp>
          <p:nvSpPr>
            <p:cNvPr id="229" name="TextBox 228">
              <a:extLst>
                <a:ext uri="{FF2B5EF4-FFF2-40B4-BE49-F238E27FC236}">
                  <a16:creationId xmlns:a16="http://schemas.microsoft.com/office/drawing/2014/main" id="{FFC49AEA-2A8F-250C-A86A-A7751D9706C3}"/>
                </a:ext>
              </a:extLst>
            </p:cNvPr>
            <p:cNvSpPr txBox="1"/>
            <p:nvPr/>
          </p:nvSpPr>
          <p:spPr>
            <a:xfrm>
              <a:off x="2595003" y="5551646"/>
              <a:ext cx="118687" cy="430887"/>
            </a:xfrm>
            <a:prstGeom prst="rect">
              <a:avLst/>
            </a:prstGeom>
            <a:noFill/>
          </p:spPr>
          <p:txBody>
            <a:bodyPr wrap="none" lIns="0" tIns="0" rIns="0" bIns="0" rtlCol="0">
              <a:spAutoFit/>
            </a:bodyPr>
            <a:lstStyle/>
            <a:p>
              <a:pPr algn="r"/>
              <a:r>
                <a:rPr lang="en-US" altLang="ko-KR" sz="700" dirty="0">
                  <a:latin typeface="+mn-ea"/>
                </a:rPr>
                <a:t>0.2</a:t>
              </a:r>
            </a:p>
            <a:p>
              <a:pPr algn="r"/>
              <a:endParaRPr lang="en-US" altLang="ko-KR" sz="700" dirty="0">
                <a:latin typeface="+mn-ea"/>
              </a:endParaRPr>
            </a:p>
            <a:p>
              <a:pPr algn="r"/>
              <a:endParaRPr lang="en-US" altLang="ko-KR" sz="700" dirty="0">
                <a:latin typeface="+mn-ea"/>
              </a:endParaRPr>
            </a:p>
            <a:p>
              <a:pPr algn="r"/>
              <a:r>
                <a:rPr lang="en-US" altLang="ko-KR" sz="700" dirty="0">
                  <a:latin typeface="+mn-ea"/>
                </a:rPr>
                <a:t>0.1</a:t>
              </a:r>
              <a:endParaRPr lang="ko-KR" altLang="en-US" sz="700" dirty="0">
                <a:latin typeface="+mn-ea"/>
              </a:endParaRPr>
            </a:p>
          </p:txBody>
        </p:sp>
        <p:cxnSp>
          <p:nvCxnSpPr>
            <p:cNvPr id="230" name="직선 연결선 229">
              <a:extLst>
                <a:ext uri="{FF2B5EF4-FFF2-40B4-BE49-F238E27FC236}">
                  <a16:creationId xmlns:a16="http://schemas.microsoft.com/office/drawing/2014/main" id="{E9293055-D5CD-4B9E-7F64-64B2D2CA7A52}"/>
                </a:ext>
              </a:extLst>
            </p:cNvPr>
            <p:cNvCxnSpPr/>
            <p:nvPr/>
          </p:nvCxnSpPr>
          <p:spPr>
            <a:xfrm>
              <a:off x="719050" y="6232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1" name="TextBox 230">
              <a:extLst>
                <a:ext uri="{FF2B5EF4-FFF2-40B4-BE49-F238E27FC236}">
                  <a16:creationId xmlns:a16="http://schemas.microsoft.com/office/drawing/2014/main" id="{FFC49AEA-2A8F-250C-A86A-A7751D9706C3}"/>
                </a:ext>
              </a:extLst>
            </p:cNvPr>
            <p:cNvSpPr txBox="1"/>
            <p:nvPr/>
          </p:nvSpPr>
          <p:spPr>
            <a:xfrm>
              <a:off x="806112" y="5551646"/>
              <a:ext cx="1480199" cy="646331"/>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수출액 </a:t>
              </a:r>
              <a:r>
                <a:rPr lang="en-US" altLang="ko-KR" sz="700" dirty="0">
                  <a:latin typeface="+mn-ea"/>
                </a:rPr>
                <a:t>100</a:t>
              </a:r>
              <a:r>
                <a:rPr lang="ko-KR" altLang="en-US" sz="700" dirty="0" err="1">
                  <a:latin typeface="+mn-ea"/>
                </a:rPr>
                <a:t>만불이상이면서</a:t>
              </a:r>
              <a:r>
                <a:rPr lang="ko-KR" altLang="en-US" sz="700" dirty="0">
                  <a:latin typeface="+mn-ea"/>
                </a:rPr>
                <a:t> 수출증가율 </a:t>
              </a:r>
              <a:r>
                <a:rPr lang="en-US" altLang="ko-KR" sz="700" dirty="0">
                  <a:latin typeface="+mn-ea"/>
                </a:rPr>
                <a:t>10%</a:t>
              </a:r>
              <a:r>
                <a:rPr lang="ko-KR" altLang="en-US" sz="700" dirty="0">
                  <a:latin typeface="+mn-ea"/>
                </a:rPr>
                <a:t>이상 또는 수출액 </a:t>
              </a:r>
              <a:r>
                <a:rPr lang="en-US" altLang="ko-KR" sz="700" dirty="0">
                  <a:latin typeface="+mn-ea"/>
                </a:rPr>
                <a:t>10</a:t>
              </a:r>
              <a:r>
                <a:rPr lang="ko-KR" altLang="en-US" sz="700" dirty="0">
                  <a:latin typeface="+mn-ea"/>
                </a:rPr>
                <a:t>만불 이상이면서 수출 증가율 </a:t>
              </a:r>
              <a:r>
                <a:rPr lang="en-US" altLang="ko-KR" sz="700" dirty="0">
                  <a:latin typeface="+mn-ea"/>
                </a:rPr>
                <a:t>30%</a:t>
              </a:r>
              <a:r>
                <a:rPr lang="ko-KR" altLang="en-US" sz="700" dirty="0">
                  <a:latin typeface="+mn-ea"/>
                </a:rPr>
                <a:t>이상</a:t>
              </a:r>
            </a:p>
            <a:p>
              <a:r>
                <a:rPr lang="en-US" altLang="ko-KR" sz="700" dirty="0">
                  <a:latin typeface="+mn-ea"/>
                </a:rPr>
                <a:t>  - </a:t>
              </a:r>
              <a:r>
                <a:rPr lang="ko-KR" altLang="en-US" sz="700" dirty="0">
                  <a:latin typeface="+mn-ea"/>
                </a:rPr>
                <a:t>수출액 </a:t>
              </a:r>
              <a:r>
                <a:rPr lang="en-US" altLang="ko-KR" sz="700" dirty="0">
                  <a:latin typeface="+mn-ea"/>
                </a:rPr>
                <a:t>100</a:t>
              </a:r>
              <a:r>
                <a:rPr lang="ko-KR" altLang="en-US" sz="700" dirty="0">
                  <a:latin typeface="+mn-ea"/>
                </a:rPr>
                <a:t>만불 이상 또는 수출액 </a:t>
              </a:r>
              <a:r>
                <a:rPr lang="en-US" altLang="ko-KR" sz="700" dirty="0">
                  <a:latin typeface="+mn-ea"/>
                </a:rPr>
                <a:t>10</a:t>
              </a:r>
              <a:r>
                <a:rPr lang="ko-KR" altLang="en-US" sz="700" dirty="0">
                  <a:latin typeface="+mn-ea"/>
                </a:rPr>
                <a:t>만불 이상이면서 수출증가율 </a:t>
              </a:r>
              <a:r>
                <a:rPr lang="en-US" altLang="ko-KR" sz="700" dirty="0">
                  <a:latin typeface="+mn-ea"/>
                </a:rPr>
                <a:t>10%</a:t>
              </a:r>
              <a:r>
                <a:rPr lang="ko-KR" altLang="en-US" sz="700" dirty="0">
                  <a:latin typeface="+mn-ea"/>
                </a:rPr>
                <a:t>이상</a:t>
              </a:r>
            </a:p>
          </p:txBody>
        </p:sp>
        <p:cxnSp>
          <p:nvCxnSpPr>
            <p:cNvPr id="232" name="직선 연결선 231">
              <a:extLst>
                <a:ext uri="{FF2B5EF4-FFF2-40B4-BE49-F238E27FC236}">
                  <a16:creationId xmlns:a16="http://schemas.microsoft.com/office/drawing/2014/main" id="{E9293055-D5CD-4B9E-7F64-64B2D2CA7A52}"/>
                </a:ext>
              </a:extLst>
            </p:cNvPr>
            <p:cNvCxnSpPr/>
            <p:nvPr/>
          </p:nvCxnSpPr>
          <p:spPr>
            <a:xfrm>
              <a:off x="719050" y="149602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8" name="타원 107">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049818388"/>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252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MUI-BD-10-M15</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 name="직사각형 3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8" name="TextBox 237">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9" name="TextBox 178">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3" name="그룹 2"/>
          <p:cNvGrpSpPr/>
          <p:nvPr/>
        </p:nvGrpSpPr>
        <p:grpSpPr>
          <a:xfrm>
            <a:off x="717412" y="1493927"/>
            <a:ext cx="2628000" cy="4580070"/>
            <a:chOff x="3832498" y="1493927"/>
            <a:chExt cx="2628000" cy="4580070"/>
          </a:xfrm>
        </p:grpSpPr>
        <p:sp>
          <p:nvSpPr>
            <p:cNvPr id="159" name="직사각형 158"/>
            <p:cNvSpPr/>
            <p:nvPr/>
          </p:nvSpPr>
          <p:spPr>
            <a:xfrm>
              <a:off x="3835002" y="1504396"/>
              <a:ext cx="1639886" cy="45696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3922065" y="1532932"/>
              <a:ext cx="1480199" cy="215444"/>
            </a:xfrm>
            <a:prstGeom prst="rect">
              <a:avLst/>
            </a:prstGeom>
            <a:noFill/>
          </p:spPr>
          <p:txBody>
            <a:bodyPr wrap="square" lIns="0" tIns="0" rIns="0" bIns="0" rtlCol="0">
              <a:spAutoFit/>
            </a:bodyPr>
            <a:lstStyle/>
            <a:p>
              <a:r>
                <a:rPr lang="en-US" altLang="ko-KR" sz="700" dirty="0">
                  <a:latin typeface="+mn-ea"/>
                </a:rPr>
                <a:t>M.</a:t>
              </a:r>
              <a:r>
                <a:rPr lang="ko-KR" altLang="en-US" sz="700" dirty="0">
                  <a:latin typeface="+mn-ea"/>
                </a:rPr>
                <a:t>중소벤처기업부장관이 선정한 ‘월드 클래스</a:t>
              </a:r>
              <a:r>
                <a:rPr lang="en-US" altLang="ko-KR" sz="700" dirty="0">
                  <a:latin typeface="+mn-ea"/>
                </a:rPr>
                <a:t>300</a:t>
              </a:r>
              <a:r>
                <a:rPr lang="ko-KR" altLang="en-US" sz="700" dirty="0">
                  <a:latin typeface="+mn-ea"/>
                </a:rPr>
                <a:t>기업’</a:t>
              </a:r>
            </a:p>
          </p:txBody>
        </p:sp>
        <p:cxnSp>
          <p:nvCxnSpPr>
            <p:cNvPr id="177" name="직선 연결선 176">
              <a:extLst>
                <a:ext uri="{FF2B5EF4-FFF2-40B4-BE49-F238E27FC236}">
                  <a16:creationId xmlns:a16="http://schemas.microsoft.com/office/drawing/2014/main" id="{E9293055-D5CD-4B9E-7F64-64B2D2CA7A52}"/>
                </a:ext>
              </a:extLst>
            </p:cNvPr>
            <p:cNvCxnSpPr/>
            <p:nvPr/>
          </p:nvCxnSpPr>
          <p:spPr>
            <a:xfrm>
              <a:off x="3835003" y="1787381"/>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4" name="TextBox 183">
              <a:extLst>
                <a:ext uri="{FF2B5EF4-FFF2-40B4-BE49-F238E27FC236}">
                  <a16:creationId xmlns:a16="http://schemas.microsoft.com/office/drawing/2014/main" id="{FFC49AEA-2A8F-250C-A86A-A7751D9706C3}"/>
                </a:ext>
              </a:extLst>
            </p:cNvPr>
            <p:cNvSpPr txBox="1"/>
            <p:nvPr/>
          </p:nvSpPr>
          <p:spPr>
            <a:xfrm>
              <a:off x="5711020" y="1586793"/>
              <a:ext cx="118623" cy="107722"/>
            </a:xfrm>
            <a:prstGeom prst="rect">
              <a:avLst/>
            </a:prstGeom>
            <a:noFill/>
          </p:spPr>
          <p:txBody>
            <a:bodyPr wrap="none" lIns="0" tIns="0" rIns="0" bIns="0" rtlCol="0">
              <a:spAutoFit/>
            </a:bodyPr>
            <a:lstStyle/>
            <a:p>
              <a:pPr algn="r"/>
              <a:r>
                <a:rPr lang="en-US" altLang="ko-KR" sz="700" dirty="0">
                  <a:latin typeface="+mn-ea"/>
                </a:rPr>
                <a:t>1.0</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6390176" y="158679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3922065" y="1826386"/>
              <a:ext cx="1480199" cy="430887"/>
            </a:xfrm>
            <a:prstGeom prst="rect">
              <a:avLst/>
            </a:prstGeom>
            <a:noFill/>
          </p:spPr>
          <p:txBody>
            <a:bodyPr wrap="square" lIns="0" tIns="0" rIns="0" bIns="0" rtlCol="0">
              <a:spAutoFit/>
            </a:bodyPr>
            <a:lstStyle/>
            <a:p>
              <a:r>
                <a:rPr lang="en-US" altLang="ko-KR" sz="700" dirty="0">
                  <a:latin typeface="+mn-ea"/>
                </a:rPr>
                <a:t>N.</a:t>
              </a:r>
              <a:r>
                <a:rPr lang="ko-KR" altLang="en-US" sz="700" dirty="0">
                  <a:latin typeface="+mn-ea"/>
                </a:rPr>
                <a:t>개성공단 입주기업으로서 통일부장관</a:t>
              </a:r>
              <a:r>
                <a:rPr lang="en-US" altLang="ko-KR" sz="700" dirty="0">
                  <a:latin typeface="+mn-ea"/>
                </a:rPr>
                <a:t>(</a:t>
              </a:r>
              <a:r>
                <a:rPr lang="ko-KR" altLang="en-US" sz="700" dirty="0">
                  <a:latin typeface="+mn-ea"/>
                </a:rPr>
                <a:t>또는 위임을 </a:t>
              </a:r>
              <a:r>
                <a:rPr lang="ko-KR" altLang="en-US" sz="700" dirty="0" err="1">
                  <a:latin typeface="+mn-ea"/>
                </a:rPr>
                <a:t>받은자</a:t>
              </a:r>
              <a:r>
                <a:rPr lang="en-US" altLang="ko-KR" sz="700" dirty="0">
                  <a:latin typeface="+mn-ea"/>
                </a:rPr>
                <a:t>) </a:t>
              </a:r>
              <a:r>
                <a:rPr lang="ko-KR" altLang="en-US" sz="700" dirty="0">
                  <a:latin typeface="+mn-ea"/>
                </a:rPr>
                <a:t>으로부터 기업등록증을 발급받는 자</a:t>
              </a:r>
              <a:r>
                <a:rPr lang="en-US" altLang="ko-KR" sz="700" dirty="0">
                  <a:latin typeface="+mn-ea"/>
                </a:rPr>
                <a:t>(2018</a:t>
              </a:r>
              <a:r>
                <a:rPr lang="ko-KR" altLang="en-US" sz="700" dirty="0">
                  <a:latin typeface="+mn-ea"/>
                </a:rPr>
                <a:t>년</a:t>
              </a:r>
              <a:r>
                <a:rPr lang="en-US" altLang="ko-KR" sz="700" dirty="0">
                  <a:latin typeface="+mn-ea"/>
                </a:rPr>
                <a:t>4</a:t>
              </a:r>
              <a:r>
                <a:rPr lang="ko-KR" altLang="en-US" sz="700" dirty="0">
                  <a:latin typeface="+mn-ea"/>
                </a:rPr>
                <a:t>월 </a:t>
              </a:r>
              <a:r>
                <a:rPr lang="en-US" altLang="ko-KR" sz="700" dirty="0">
                  <a:latin typeface="+mn-ea"/>
                </a:rPr>
                <a:t>1</a:t>
              </a:r>
              <a:r>
                <a:rPr lang="ko-KR" altLang="en-US" sz="700" dirty="0">
                  <a:latin typeface="+mn-ea"/>
                </a:rPr>
                <a:t>일 이전</a:t>
              </a:r>
              <a:r>
                <a:rPr lang="en-US" altLang="ko-KR" sz="700" dirty="0">
                  <a:latin typeface="+mn-ea"/>
                </a:rPr>
                <a:t>) </a:t>
              </a:r>
              <a:r>
                <a:rPr lang="ko-KR" altLang="en-US" sz="700" dirty="0">
                  <a:latin typeface="+mn-ea"/>
                </a:rPr>
                <a:t>입찰공고에 한하여 적용</a:t>
              </a:r>
              <a:r>
                <a:rPr lang="en-US" altLang="ko-KR" sz="700" dirty="0">
                  <a:latin typeface="+mn-ea"/>
                </a:rPr>
                <a:t>)</a:t>
              </a:r>
            </a:p>
          </p:txBody>
        </p:sp>
        <p:cxnSp>
          <p:nvCxnSpPr>
            <p:cNvPr id="171" name="직선 연결선 170">
              <a:extLst>
                <a:ext uri="{FF2B5EF4-FFF2-40B4-BE49-F238E27FC236}">
                  <a16:creationId xmlns:a16="http://schemas.microsoft.com/office/drawing/2014/main" id="{E9293055-D5CD-4B9E-7F64-64B2D2CA7A52}"/>
                </a:ext>
              </a:extLst>
            </p:cNvPr>
            <p:cNvCxnSpPr/>
            <p:nvPr/>
          </p:nvCxnSpPr>
          <p:spPr>
            <a:xfrm>
              <a:off x="3835003" y="2296278"/>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2" name="TextBox 171">
              <a:extLst>
                <a:ext uri="{FF2B5EF4-FFF2-40B4-BE49-F238E27FC236}">
                  <a16:creationId xmlns:a16="http://schemas.microsoft.com/office/drawing/2014/main" id="{FFC49AEA-2A8F-250C-A86A-A7751D9706C3}"/>
                </a:ext>
              </a:extLst>
            </p:cNvPr>
            <p:cNvSpPr txBox="1"/>
            <p:nvPr/>
          </p:nvSpPr>
          <p:spPr>
            <a:xfrm>
              <a:off x="5711020" y="1987968"/>
              <a:ext cx="118623" cy="107722"/>
            </a:xfrm>
            <a:prstGeom prst="rect">
              <a:avLst/>
            </a:prstGeom>
            <a:noFill/>
          </p:spPr>
          <p:txBody>
            <a:bodyPr wrap="none" lIns="0" tIns="0" rIns="0" bIns="0" rtlCol="0">
              <a:spAutoFit/>
            </a:bodyPr>
            <a:lstStyle/>
            <a:p>
              <a:pPr algn="r"/>
              <a:r>
                <a:rPr lang="en-US" altLang="ko-KR" sz="700" dirty="0">
                  <a:latin typeface="+mn-ea"/>
                </a:rPr>
                <a:t>1.0</a:t>
              </a:r>
            </a:p>
          </p:txBody>
        </p:sp>
        <p:sp>
          <p:nvSpPr>
            <p:cNvPr id="173" name="TextBox 172">
              <a:extLst>
                <a:ext uri="{FF2B5EF4-FFF2-40B4-BE49-F238E27FC236}">
                  <a16:creationId xmlns:a16="http://schemas.microsoft.com/office/drawing/2014/main" id="{FFC49AEA-2A8F-250C-A86A-A7751D9706C3}"/>
                </a:ext>
              </a:extLst>
            </p:cNvPr>
            <p:cNvSpPr txBox="1"/>
            <p:nvPr/>
          </p:nvSpPr>
          <p:spPr>
            <a:xfrm>
              <a:off x="6390176" y="19879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74" name="TextBox 173">
              <a:extLst>
                <a:ext uri="{FF2B5EF4-FFF2-40B4-BE49-F238E27FC236}">
                  <a16:creationId xmlns:a16="http://schemas.microsoft.com/office/drawing/2014/main" id="{FFC49AEA-2A8F-250C-A86A-A7751D9706C3}"/>
                </a:ext>
              </a:extLst>
            </p:cNvPr>
            <p:cNvSpPr txBox="1"/>
            <p:nvPr/>
          </p:nvSpPr>
          <p:spPr>
            <a:xfrm>
              <a:off x="3922065" y="2335283"/>
              <a:ext cx="1480199" cy="646331"/>
            </a:xfrm>
            <a:prstGeom prst="rect">
              <a:avLst/>
            </a:prstGeom>
            <a:noFill/>
          </p:spPr>
          <p:txBody>
            <a:bodyPr wrap="square" lIns="0" tIns="0" rIns="0" bIns="0" rtlCol="0">
              <a:spAutoFit/>
            </a:bodyPr>
            <a:lstStyle/>
            <a:p>
              <a:r>
                <a:rPr lang="en-US" altLang="ko-KR" sz="700" dirty="0">
                  <a:latin typeface="+mn-ea"/>
                </a:rPr>
                <a:t>O.</a:t>
              </a:r>
              <a:r>
                <a:rPr lang="ko-KR" altLang="en-US" sz="700" dirty="0">
                  <a:latin typeface="+mn-ea"/>
                </a:rPr>
                <a:t>정규직전환기업</a:t>
              </a:r>
            </a:p>
            <a:p>
              <a:r>
                <a:rPr lang="en-US" altLang="ko-KR" sz="700" dirty="0">
                  <a:latin typeface="+mn-ea"/>
                </a:rPr>
                <a:t>- </a:t>
              </a:r>
              <a:r>
                <a:rPr lang="ko-KR" altLang="en-US" sz="700" dirty="0">
                  <a:latin typeface="+mn-ea"/>
                </a:rPr>
                <a:t>고용노동부로부터 정규직 전환 지원사업 대상자로 승인을 받은 기업으로서</a:t>
              </a:r>
              <a:r>
                <a:rPr lang="en-US" altLang="ko-KR" sz="700" dirty="0">
                  <a:latin typeface="+mn-ea"/>
                </a:rPr>
                <a:t>, </a:t>
              </a:r>
              <a:r>
                <a:rPr lang="ko-KR" altLang="en-US" sz="700" dirty="0">
                  <a:latin typeface="+mn-ea"/>
                </a:rPr>
                <a:t>입찰서 </a:t>
              </a:r>
              <a:r>
                <a:rPr lang="ko-KR" altLang="en-US" sz="700" dirty="0" err="1">
                  <a:latin typeface="+mn-ea"/>
                </a:rPr>
                <a:t>제출마감일</a:t>
              </a:r>
              <a:r>
                <a:rPr lang="ko-KR" altLang="en-US" sz="700" dirty="0">
                  <a:latin typeface="+mn-ea"/>
                </a:rPr>
                <a:t> 전일 기준 최근 </a:t>
              </a:r>
              <a:r>
                <a:rPr lang="en-US" altLang="ko-KR" sz="700" dirty="0">
                  <a:latin typeface="+mn-ea"/>
                </a:rPr>
                <a:t>1</a:t>
              </a:r>
              <a:r>
                <a:rPr lang="ko-KR" altLang="en-US" sz="700" dirty="0">
                  <a:latin typeface="+mn-ea"/>
                </a:rPr>
                <a:t>년 이내에 정규직 전환을 이행한 기업</a:t>
              </a:r>
            </a:p>
          </p:txBody>
        </p:sp>
        <p:sp>
          <p:nvSpPr>
            <p:cNvPr id="176" name="TextBox 175">
              <a:extLst>
                <a:ext uri="{FF2B5EF4-FFF2-40B4-BE49-F238E27FC236}">
                  <a16:creationId xmlns:a16="http://schemas.microsoft.com/office/drawing/2014/main" id="{FFC49AEA-2A8F-250C-A86A-A7751D9706C3}"/>
                </a:ext>
              </a:extLst>
            </p:cNvPr>
            <p:cNvSpPr txBox="1"/>
            <p:nvPr/>
          </p:nvSpPr>
          <p:spPr>
            <a:xfrm>
              <a:off x="5711020" y="2604587"/>
              <a:ext cx="118623" cy="107722"/>
            </a:xfrm>
            <a:prstGeom prst="rect">
              <a:avLst/>
            </a:prstGeom>
            <a:noFill/>
          </p:spPr>
          <p:txBody>
            <a:bodyPr wrap="none" lIns="0" tIns="0" rIns="0" bIns="0" rtlCol="0">
              <a:spAutoFit/>
            </a:bodyPr>
            <a:lstStyle/>
            <a:p>
              <a:pPr algn="r"/>
              <a:r>
                <a:rPr lang="en-US" altLang="ko-KR" sz="700" dirty="0">
                  <a:latin typeface="+mn-ea"/>
                </a:rPr>
                <a:t>2.0</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6390176" y="260458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80" name="직선 연결선 179">
              <a:extLst>
                <a:ext uri="{FF2B5EF4-FFF2-40B4-BE49-F238E27FC236}">
                  <a16:creationId xmlns:a16="http://schemas.microsoft.com/office/drawing/2014/main" id="{E9293055-D5CD-4B9E-7F64-64B2D2CA7A52}"/>
                </a:ext>
              </a:extLst>
            </p:cNvPr>
            <p:cNvCxnSpPr/>
            <p:nvPr/>
          </p:nvCxnSpPr>
          <p:spPr>
            <a:xfrm>
              <a:off x="3832498" y="38916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1" name="TextBox 180">
              <a:extLst>
                <a:ext uri="{FF2B5EF4-FFF2-40B4-BE49-F238E27FC236}">
                  <a16:creationId xmlns:a16="http://schemas.microsoft.com/office/drawing/2014/main" id="{FFC49AEA-2A8F-250C-A86A-A7751D9706C3}"/>
                </a:ext>
              </a:extLst>
            </p:cNvPr>
            <p:cNvSpPr txBox="1"/>
            <p:nvPr/>
          </p:nvSpPr>
          <p:spPr>
            <a:xfrm>
              <a:off x="6390176" y="4038413"/>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82" name="TextBox 181">
              <a:extLst>
                <a:ext uri="{FF2B5EF4-FFF2-40B4-BE49-F238E27FC236}">
                  <a16:creationId xmlns:a16="http://schemas.microsoft.com/office/drawing/2014/main" id="{FFC49AEA-2A8F-250C-A86A-A7751D9706C3}"/>
                </a:ext>
              </a:extLst>
            </p:cNvPr>
            <p:cNvSpPr txBox="1"/>
            <p:nvPr/>
          </p:nvSpPr>
          <p:spPr>
            <a:xfrm>
              <a:off x="3919560" y="3930692"/>
              <a:ext cx="1480199" cy="323165"/>
            </a:xfrm>
            <a:prstGeom prst="rect">
              <a:avLst/>
            </a:prstGeom>
            <a:noFill/>
          </p:spPr>
          <p:txBody>
            <a:bodyPr wrap="square" lIns="0" tIns="0" rIns="0" bIns="0" rtlCol="0">
              <a:spAutoFit/>
            </a:bodyPr>
            <a:lstStyle/>
            <a:p>
              <a:r>
                <a:rPr lang="en-US" altLang="ko-KR" sz="700" dirty="0">
                  <a:latin typeface="+mn-ea"/>
                </a:rPr>
                <a:t>Q.</a:t>
              </a:r>
              <a:r>
                <a:rPr lang="ko-KR" altLang="en-US" sz="700" dirty="0">
                  <a:latin typeface="+mn-ea"/>
                </a:rPr>
                <a:t>노동시간단축 조기도입기입</a:t>
              </a:r>
            </a:p>
            <a:p>
              <a:r>
                <a:rPr lang="en-US" altLang="ko-KR" sz="700" dirty="0">
                  <a:latin typeface="+mn-ea"/>
                </a:rPr>
                <a:t>  - </a:t>
              </a:r>
              <a:r>
                <a:rPr lang="ko-KR" altLang="en-US" sz="700" dirty="0">
                  <a:latin typeface="+mn-ea"/>
                </a:rPr>
                <a:t>정부의 노동시간단축 일정보다 </a:t>
              </a:r>
              <a:r>
                <a:rPr lang="en-US" altLang="ko-KR" sz="700" dirty="0">
                  <a:latin typeface="+mn-ea"/>
                </a:rPr>
                <a:t>1</a:t>
              </a:r>
              <a:r>
                <a:rPr lang="ko-KR" altLang="en-US" sz="700" dirty="0" err="1">
                  <a:latin typeface="+mn-ea"/>
                </a:rPr>
                <a:t>년이상</a:t>
              </a:r>
              <a:r>
                <a:rPr lang="ko-KR" altLang="en-US" sz="700" dirty="0">
                  <a:latin typeface="+mn-ea"/>
                </a:rPr>
                <a:t> 앞당긴 기업</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5708515" y="4038413"/>
              <a:ext cx="118623"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cxnSp>
          <p:nvCxnSpPr>
            <p:cNvPr id="204" name="직선 연결선 203">
              <a:extLst>
                <a:ext uri="{FF2B5EF4-FFF2-40B4-BE49-F238E27FC236}">
                  <a16:creationId xmlns:a16="http://schemas.microsoft.com/office/drawing/2014/main" id="{E9293055-D5CD-4B9E-7F64-64B2D2CA7A52}"/>
                </a:ext>
              </a:extLst>
            </p:cNvPr>
            <p:cNvCxnSpPr/>
            <p:nvPr/>
          </p:nvCxnSpPr>
          <p:spPr>
            <a:xfrm>
              <a:off x="3832498" y="42928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7" name="TextBox 206">
              <a:extLst>
                <a:ext uri="{FF2B5EF4-FFF2-40B4-BE49-F238E27FC236}">
                  <a16:creationId xmlns:a16="http://schemas.microsoft.com/office/drawing/2014/main" id="{FFC49AEA-2A8F-250C-A86A-A7751D9706C3}"/>
                </a:ext>
              </a:extLst>
            </p:cNvPr>
            <p:cNvSpPr txBox="1"/>
            <p:nvPr/>
          </p:nvSpPr>
          <p:spPr>
            <a:xfrm>
              <a:off x="6390176" y="340229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19560" y="3059624"/>
              <a:ext cx="1480199" cy="107722"/>
            </a:xfrm>
            <a:prstGeom prst="rect">
              <a:avLst/>
            </a:prstGeom>
            <a:noFill/>
          </p:spPr>
          <p:txBody>
            <a:bodyPr wrap="square" lIns="0" tIns="0" rIns="0" bIns="0" rtlCol="0">
              <a:spAutoFit/>
            </a:bodyPr>
            <a:lstStyle/>
            <a:p>
              <a:r>
                <a:rPr lang="en-US" altLang="ko-KR" sz="700" dirty="0">
                  <a:latin typeface="+mn-ea"/>
                </a:rPr>
                <a:t>P.</a:t>
              </a:r>
              <a:r>
                <a:rPr lang="ko-KR" altLang="en-US" sz="700" dirty="0">
                  <a:latin typeface="+mn-ea"/>
                </a:rPr>
                <a:t>청년고용 우수기업</a:t>
              </a:r>
            </a:p>
          </p:txBody>
        </p:sp>
        <p:sp>
          <p:nvSpPr>
            <p:cNvPr id="209" name="TextBox 208">
              <a:extLst>
                <a:ext uri="{FF2B5EF4-FFF2-40B4-BE49-F238E27FC236}">
                  <a16:creationId xmlns:a16="http://schemas.microsoft.com/office/drawing/2014/main" id="{FFC49AEA-2A8F-250C-A86A-A7751D9706C3}"/>
                </a:ext>
              </a:extLst>
            </p:cNvPr>
            <p:cNvSpPr txBox="1"/>
            <p:nvPr/>
          </p:nvSpPr>
          <p:spPr>
            <a:xfrm>
              <a:off x="5708451" y="3206351"/>
              <a:ext cx="118687" cy="430887"/>
            </a:xfrm>
            <a:prstGeom prst="rect">
              <a:avLst/>
            </a:prstGeom>
            <a:noFill/>
          </p:spPr>
          <p:txBody>
            <a:bodyPr wrap="none" lIns="0" tIns="0" rIns="0" bIns="0" rtlCol="0">
              <a:spAutoFit/>
            </a:bodyPr>
            <a:lstStyle/>
            <a:p>
              <a:pPr algn="r"/>
              <a:r>
                <a:rPr lang="en-US" altLang="ko-KR" sz="700" dirty="0">
                  <a:latin typeface="+mn-ea"/>
                </a:rPr>
                <a:t>1.0</a:t>
              </a:r>
            </a:p>
            <a:p>
              <a:pPr algn="r"/>
              <a:endParaRPr lang="en-US" altLang="ko-KR" sz="700" dirty="0">
                <a:latin typeface="+mn-ea"/>
              </a:endParaRPr>
            </a:p>
            <a:p>
              <a:pPr algn="r"/>
              <a:endParaRPr lang="en-US" altLang="ko-KR" sz="700" dirty="0">
                <a:latin typeface="+mn-ea"/>
              </a:endParaRPr>
            </a:p>
            <a:p>
              <a:pPr algn="r"/>
              <a:r>
                <a:rPr lang="en-US" altLang="ko-KR" sz="700" dirty="0">
                  <a:latin typeface="+mn-ea"/>
                </a:rPr>
                <a:t>0.5</a:t>
              </a:r>
              <a:endParaRPr lang="ko-KR" altLang="en-US" sz="700" dirty="0">
                <a:latin typeface="+mn-ea"/>
              </a:endParaRPr>
            </a:p>
          </p:txBody>
        </p:sp>
        <p:sp>
          <p:nvSpPr>
            <p:cNvPr id="210" name="TextBox 209">
              <a:extLst>
                <a:ext uri="{FF2B5EF4-FFF2-40B4-BE49-F238E27FC236}">
                  <a16:creationId xmlns:a16="http://schemas.microsoft.com/office/drawing/2014/main" id="{FFC49AEA-2A8F-250C-A86A-A7751D9706C3}"/>
                </a:ext>
              </a:extLst>
            </p:cNvPr>
            <p:cNvSpPr txBox="1"/>
            <p:nvPr/>
          </p:nvSpPr>
          <p:spPr>
            <a:xfrm>
              <a:off x="3919560" y="3206351"/>
              <a:ext cx="1480199" cy="646331"/>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개월 평균 청년고용률이 </a:t>
              </a:r>
              <a:r>
                <a:rPr lang="en-US" altLang="ko-KR" sz="700" dirty="0">
                  <a:latin typeface="+mn-ea"/>
                </a:rPr>
                <a:t>10%</a:t>
              </a:r>
              <a:r>
                <a:rPr lang="ko-KR" altLang="en-US" sz="700" dirty="0">
                  <a:latin typeface="+mn-ea"/>
                </a:rPr>
                <a:t>이상이면서 최근 </a:t>
              </a:r>
              <a:r>
                <a:rPr lang="en-US" altLang="ko-KR" sz="700" dirty="0">
                  <a:latin typeface="+mn-ea"/>
                </a:rPr>
                <a:t>3</a:t>
              </a:r>
              <a:r>
                <a:rPr lang="ko-KR" altLang="en-US" sz="700" dirty="0">
                  <a:latin typeface="+mn-ea"/>
                </a:rPr>
                <a:t>개월 평균 청년종업원이 </a:t>
              </a:r>
              <a:r>
                <a:rPr lang="en-US" altLang="ko-KR" sz="700" dirty="0">
                  <a:latin typeface="+mn-ea"/>
                </a:rPr>
                <a:t>10</a:t>
              </a:r>
              <a:r>
                <a:rPr lang="ko-KR" altLang="en-US" sz="700" dirty="0">
                  <a:latin typeface="+mn-ea"/>
                </a:rPr>
                <a:t>인 이상인 기업</a:t>
              </a: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개월 평균 청년고용률이 </a:t>
              </a:r>
              <a:r>
                <a:rPr lang="en-US" altLang="ko-KR" sz="700" dirty="0">
                  <a:latin typeface="+mn-ea"/>
                </a:rPr>
                <a:t>5%</a:t>
              </a:r>
              <a:r>
                <a:rPr lang="ko-KR" altLang="en-US" sz="700" dirty="0">
                  <a:latin typeface="+mn-ea"/>
                </a:rPr>
                <a:t>이상이면서 최근 </a:t>
              </a:r>
              <a:r>
                <a:rPr lang="en-US" altLang="ko-KR" sz="700" dirty="0">
                  <a:latin typeface="+mn-ea"/>
                </a:rPr>
                <a:t>3</a:t>
              </a:r>
              <a:r>
                <a:rPr lang="ko-KR" altLang="en-US" sz="700" dirty="0">
                  <a:latin typeface="+mn-ea"/>
                </a:rPr>
                <a:t>개월 평균 청년종업원이 </a:t>
              </a:r>
              <a:r>
                <a:rPr lang="en-US" altLang="ko-KR" sz="700" dirty="0">
                  <a:latin typeface="+mn-ea"/>
                </a:rPr>
                <a:t>5</a:t>
              </a:r>
              <a:r>
                <a:rPr lang="ko-KR" altLang="en-US" sz="700" dirty="0">
                  <a:latin typeface="+mn-ea"/>
                </a:rPr>
                <a:t>인 이상인 기업</a:t>
              </a:r>
            </a:p>
          </p:txBody>
        </p:sp>
        <p:cxnSp>
          <p:nvCxnSpPr>
            <p:cNvPr id="211" name="직선 연결선 210">
              <a:extLst>
                <a:ext uri="{FF2B5EF4-FFF2-40B4-BE49-F238E27FC236}">
                  <a16:creationId xmlns:a16="http://schemas.microsoft.com/office/drawing/2014/main" id="{E9293055-D5CD-4B9E-7F64-64B2D2CA7A52}"/>
                </a:ext>
              </a:extLst>
            </p:cNvPr>
            <p:cNvCxnSpPr/>
            <p:nvPr/>
          </p:nvCxnSpPr>
          <p:spPr>
            <a:xfrm>
              <a:off x="3832498" y="30206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FFC49AEA-2A8F-250C-A86A-A7751D9706C3}"/>
                </a:ext>
              </a:extLst>
            </p:cNvPr>
            <p:cNvSpPr txBox="1"/>
            <p:nvPr/>
          </p:nvSpPr>
          <p:spPr>
            <a:xfrm>
              <a:off x="6390176" y="443958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3919560" y="4331867"/>
              <a:ext cx="1480199" cy="323165"/>
            </a:xfrm>
            <a:prstGeom prst="rect">
              <a:avLst/>
            </a:prstGeom>
            <a:noFill/>
          </p:spPr>
          <p:txBody>
            <a:bodyPr wrap="square" lIns="0" tIns="0" rIns="0" bIns="0" rtlCol="0">
              <a:spAutoFit/>
            </a:bodyPr>
            <a:lstStyle/>
            <a:p>
              <a:r>
                <a:rPr lang="en-US" altLang="ko-KR" sz="700" dirty="0">
                  <a:latin typeface="+mn-ea"/>
                </a:rPr>
                <a:t>R.</a:t>
              </a:r>
              <a:r>
                <a:rPr lang="ko-KR" altLang="en-US" sz="700" dirty="0" err="1">
                  <a:latin typeface="+mn-ea"/>
                </a:rPr>
                <a:t>재기기업</a:t>
              </a:r>
              <a:endParaRPr lang="ko-KR" altLang="en-US" sz="700" dirty="0">
                <a:latin typeface="+mn-ea"/>
              </a:endParaRP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err="1">
                  <a:latin typeface="+mn-ea"/>
                </a:rPr>
                <a:t>년이내</a:t>
              </a:r>
              <a:r>
                <a:rPr lang="ko-KR" altLang="en-US" sz="700" dirty="0">
                  <a:latin typeface="+mn-ea"/>
                </a:rPr>
                <a:t> 중소벤처기업부로부터 </a:t>
              </a:r>
              <a:r>
                <a:rPr lang="ko-KR" altLang="en-US" sz="700" dirty="0" err="1">
                  <a:latin typeface="+mn-ea"/>
                </a:rPr>
                <a:t>재창업</a:t>
              </a:r>
              <a:r>
                <a:rPr lang="ko-KR" altLang="en-US" sz="700" dirty="0">
                  <a:latin typeface="+mn-ea"/>
                </a:rPr>
                <a:t> 프로그램 지원받은 기업</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5708515" y="4439588"/>
              <a:ext cx="118623" cy="107722"/>
            </a:xfrm>
            <a:prstGeom prst="rect">
              <a:avLst/>
            </a:prstGeom>
            <a:noFill/>
          </p:spPr>
          <p:txBody>
            <a:bodyPr wrap="none" lIns="0" tIns="0" rIns="0" bIns="0" rtlCol="0">
              <a:spAutoFit/>
            </a:bodyPr>
            <a:lstStyle/>
            <a:p>
              <a:pPr algn="r"/>
              <a:r>
                <a:rPr lang="en-US" altLang="ko-KR" sz="700" dirty="0">
                  <a:latin typeface="+mn-ea"/>
                </a:rPr>
                <a:t>3.0</a:t>
              </a:r>
              <a:endParaRPr lang="ko-KR" altLang="en-US" sz="700" dirty="0">
                <a:latin typeface="+mn-ea"/>
              </a:endParaRPr>
            </a:p>
          </p:txBody>
        </p:sp>
        <p:cxnSp>
          <p:nvCxnSpPr>
            <p:cNvPr id="227" name="직선 연결선 226">
              <a:extLst>
                <a:ext uri="{FF2B5EF4-FFF2-40B4-BE49-F238E27FC236}">
                  <a16:creationId xmlns:a16="http://schemas.microsoft.com/office/drawing/2014/main" id="{E9293055-D5CD-4B9E-7F64-64B2D2CA7A52}"/>
                </a:ext>
              </a:extLst>
            </p:cNvPr>
            <p:cNvCxnSpPr/>
            <p:nvPr/>
          </p:nvCxnSpPr>
          <p:spPr>
            <a:xfrm>
              <a:off x="3832498" y="46940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3" name="TextBox 232">
              <a:extLst>
                <a:ext uri="{FF2B5EF4-FFF2-40B4-BE49-F238E27FC236}">
                  <a16:creationId xmlns:a16="http://schemas.microsoft.com/office/drawing/2014/main" id="{FFC49AEA-2A8F-250C-A86A-A7751D9706C3}"/>
                </a:ext>
              </a:extLst>
            </p:cNvPr>
            <p:cNvSpPr txBox="1"/>
            <p:nvPr/>
          </p:nvSpPr>
          <p:spPr>
            <a:xfrm>
              <a:off x="6390176" y="489462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34" name="TextBox 233">
              <a:extLst>
                <a:ext uri="{FF2B5EF4-FFF2-40B4-BE49-F238E27FC236}">
                  <a16:creationId xmlns:a16="http://schemas.microsoft.com/office/drawing/2014/main" id="{FFC49AEA-2A8F-250C-A86A-A7751D9706C3}"/>
                </a:ext>
              </a:extLst>
            </p:cNvPr>
            <p:cNvSpPr txBox="1"/>
            <p:nvPr/>
          </p:nvSpPr>
          <p:spPr>
            <a:xfrm>
              <a:off x="3919560" y="4733042"/>
              <a:ext cx="1480199" cy="430887"/>
            </a:xfrm>
            <a:prstGeom prst="rect">
              <a:avLst/>
            </a:prstGeom>
            <a:noFill/>
          </p:spPr>
          <p:txBody>
            <a:bodyPr wrap="square" lIns="0" tIns="0" rIns="0" bIns="0" rtlCol="0">
              <a:spAutoFit/>
            </a:bodyPr>
            <a:lstStyle/>
            <a:p>
              <a:r>
                <a:rPr lang="en-US" altLang="ko-KR" sz="700" dirty="0">
                  <a:latin typeface="+mn-ea"/>
                </a:rPr>
                <a:t>S.</a:t>
              </a:r>
              <a:r>
                <a:rPr lang="ko-KR" altLang="en-US" sz="700" dirty="0">
                  <a:latin typeface="+mn-ea"/>
                </a:rPr>
                <a:t>사업전환계획 </a:t>
              </a:r>
              <a:r>
                <a:rPr lang="ko-KR" altLang="en-US" sz="700" dirty="0" err="1">
                  <a:latin typeface="+mn-ea"/>
                </a:rPr>
                <a:t>승인기업</a:t>
              </a:r>
              <a:endParaRPr lang="ko-KR" altLang="en-US" sz="700" dirty="0">
                <a:latin typeface="+mn-ea"/>
              </a:endParaRPr>
            </a:p>
            <a:p>
              <a:r>
                <a:rPr lang="en-US" altLang="ko-KR" sz="700" dirty="0">
                  <a:latin typeface="+mn-ea"/>
                </a:rPr>
                <a:t>  - </a:t>
              </a:r>
              <a:r>
                <a:rPr lang="ko-KR" altLang="en-US" sz="700" dirty="0">
                  <a:latin typeface="+mn-ea"/>
                </a:rPr>
                <a:t>최근 </a:t>
              </a:r>
              <a:r>
                <a:rPr lang="en-US" altLang="ko-KR" sz="700" dirty="0">
                  <a:latin typeface="+mn-ea"/>
                </a:rPr>
                <a:t>3</a:t>
              </a:r>
              <a:r>
                <a:rPr lang="ko-KR" altLang="en-US" sz="700" dirty="0">
                  <a:latin typeface="+mn-ea"/>
                </a:rPr>
                <a:t>년 이내 중소기업 사업전환 촉진에 관한 특별법 제</a:t>
              </a:r>
              <a:r>
                <a:rPr lang="en-US" altLang="ko-KR" sz="700" dirty="0">
                  <a:latin typeface="+mn-ea"/>
                </a:rPr>
                <a:t>8</a:t>
              </a:r>
              <a:r>
                <a:rPr lang="ko-KR" altLang="en-US" sz="700" dirty="0">
                  <a:latin typeface="+mn-ea"/>
                </a:rPr>
                <a:t>조에 따른 사업전환계획 승인을 받은 기업</a:t>
              </a:r>
            </a:p>
          </p:txBody>
        </p:sp>
        <p:sp>
          <p:nvSpPr>
            <p:cNvPr id="235" name="TextBox 234">
              <a:extLst>
                <a:ext uri="{FF2B5EF4-FFF2-40B4-BE49-F238E27FC236}">
                  <a16:creationId xmlns:a16="http://schemas.microsoft.com/office/drawing/2014/main" id="{FFC49AEA-2A8F-250C-A86A-A7751D9706C3}"/>
                </a:ext>
              </a:extLst>
            </p:cNvPr>
            <p:cNvSpPr txBox="1"/>
            <p:nvPr/>
          </p:nvSpPr>
          <p:spPr>
            <a:xfrm>
              <a:off x="5708515" y="4894624"/>
              <a:ext cx="118623"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239" name="직선 연결선 238">
              <a:extLst>
                <a:ext uri="{FF2B5EF4-FFF2-40B4-BE49-F238E27FC236}">
                  <a16:creationId xmlns:a16="http://schemas.microsoft.com/office/drawing/2014/main" id="{E9293055-D5CD-4B9E-7F64-64B2D2CA7A52}"/>
                </a:ext>
              </a:extLst>
            </p:cNvPr>
            <p:cNvCxnSpPr/>
            <p:nvPr/>
          </p:nvCxnSpPr>
          <p:spPr>
            <a:xfrm>
              <a:off x="3832498" y="52029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4" name="직선 연결선 243">
              <a:extLst>
                <a:ext uri="{FF2B5EF4-FFF2-40B4-BE49-F238E27FC236}">
                  <a16:creationId xmlns:a16="http://schemas.microsoft.com/office/drawing/2014/main" id="{E9293055-D5CD-4B9E-7F64-64B2D2CA7A52}"/>
                </a:ext>
              </a:extLst>
            </p:cNvPr>
            <p:cNvCxnSpPr/>
            <p:nvPr/>
          </p:nvCxnSpPr>
          <p:spPr>
            <a:xfrm>
              <a:off x="3832498" y="60739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6" name="TextBox 245">
              <a:extLst>
                <a:ext uri="{FF2B5EF4-FFF2-40B4-BE49-F238E27FC236}">
                  <a16:creationId xmlns:a16="http://schemas.microsoft.com/office/drawing/2014/main" id="{FFC49AEA-2A8F-250C-A86A-A7751D9706C3}"/>
                </a:ext>
              </a:extLst>
            </p:cNvPr>
            <p:cNvSpPr txBox="1"/>
            <p:nvPr/>
          </p:nvSpPr>
          <p:spPr>
            <a:xfrm>
              <a:off x="6390176" y="558460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47" name="TextBox 246">
              <a:extLst>
                <a:ext uri="{FF2B5EF4-FFF2-40B4-BE49-F238E27FC236}">
                  <a16:creationId xmlns:a16="http://schemas.microsoft.com/office/drawing/2014/main" id="{FFC49AEA-2A8F-250C-A86A-A7751D9706C3}"/>
                </a:ext>
              </a:extLst>
            </p:cNvPr>
            <p:cNvSpPr txBox="1"/>
            <p:nvPr/>
          </p:nvSpPr>
          <p:spPr>
            <a:xfrm>
              <a:off x="3919560" y="5241939"/>
              <a:ext cx="1480199" cy="430887"/>
            </a:xfrm>
            <a:prstGeom prst="rect">
              <a:avLst/>
            </a:prstGeom>
            <a:noFill/>
          </p:spPr>
          <p:txBody>
            <a:bodyPr wrap="square" lIns="0" tIns="0" rIns="0" bIns="0" rtlCol="0">
              <a:spAutoFit/>
            </a:bodyPr>
            <a:lstStyle/>
            <a:p>
              <a:r>
                <a:rPr lang="en-US" altLang="ko-KR" sz="700" dirty="0">
                  <a:latin typeface="+mn-ea"/>
                </a:rPr>
                <a:t>T.</a:t>
              </a:r>
              <a:r>
                <a:rPr lang="ko-KR" altLang="en-US" sz="700" dirty="0" err="1">
                  <a:latin typeface="+mn-ea"/>
                </a:rPr>
                <a:t>스마트공장</a:t>
              </a:r>
              <a:r>
                <a:rPr lang="ko-KR" altLang="en-US" sz="700" dirty="0">
                  <a:latin typeface="+mn-ea"/>
                </a:rPr>
                <a:t> </a:t>
              </a:r>
              <a:r>
                <a:rPr lang="ko-KR" altLang="en-US" sz="700" dirty="0" err="1">
                  <a:latin typeface="+mn-ea"/>
                </a:rPr>
                <a:t>수준확인</a:t>
              </a:r>
              <a:r>
                <a:rPr lang="ko-KR" altLang="en-US" sz="700" dirty="0">
                  <a:latin typeface="+mn-ea"/>
                </a:rPr>
                <a:t> 기업</a:t>
              </a:r>
            </a:p>
            <a:p>
              <a:r>
                <a:rPr lang="en-US" altLang="ko-KR" sz="700" dirty="0">
                  <a:latin typeface="+mn-ea"/>
                </a:rPr>
                <a:t>  - </a:t>
              </a:r>
              <a:r>
                <a:rPr lang="ko-KR" altLang="en-US" sz="700" dirty="0">
                  <a:latin typeface="+mn-ea"/>
                </a:rPr>
                <a:t>중소벤처기업부장관이 지정한 기관으로부터 </a:t>
              </a:r>
              <a:r>
                <a:rPr lang="ko-KR" altLang="en-US" sz="700" dirty="0" err="1">
                  <a:latin typeface="+mn-ea"/>
                </a:rPr>
                <a:t>스마트공장</a:t>
              </a:r>
              <a:r>
                <a:rPr lang="ko-KR" altLang="en-US" sz="700" dirty="0">
                  <a:latin typeface="+mn-ea"/>
                </a:rPr>
                <a:t> </a:t>
              </a:r>
              <a:r>
                <a:rPr lang="ko-KR" altLang="en-US" sz="700" dirty="0" err="1">
                  <a:latin typeface="+mn-ea"/>
                </a:rPr>
                <a:t>수준확인을</a:t>
              </a:r>
              <a:r>
                <a:rPr lang="ko-KR" altLang="en-US" sz="700" dirty="0">
                  <a:latin typeface="+mn-ea"/>
                </a:rPr>
                <a:t> 받은 기업으로서</a:t>
              </a:r>
            </a:p>
          </p:txBody>
        </p:sp>
        <p:sp>
          <p:nvSpPr>
            <p:cNvPr id="248" name="TextBox 247">
              <a:extLst>
                <a:ext uri="{FF2B5EF4-FFF2-40B4-BE49-F238E27FC236}">
                  <a16:creationId xmlns:a16="http://schemas.microsoft.com/office/drawing/2014/main" id="{FFC49AEA-2A8F-250C-A86A-A7751D9706C3}"/>
                </a:ext>
              </a:extLst>
            </p:cNvPr>
            <p:cNvSpPr txBox="1"/>
            <p:nvPr/>
          </p:nvSpPr>
          <p:spPr>
            <a:xfrm>
              <a:off x="5708516" y="5711831"/>
              <a:ext cx="118622" cy="323165"/>
            </a:xfrm>
            <a:prstGeom prst="rect">
              <a:avLst/>
            </a:prstGeom>
            <a:noFill/>
          </p:spPr>
          <p:txBody>
            <a:bodyPr wrap="none" lIns="0" tIns="0" rIns="0" bIns="0" rtlCol="0">
              <a:spAutoFit/>
            </a:bodyPr>
            <a:lstStyle/>
            <a:p>
              <a:pPr algn="r"/>
              <a:r>
                <a:rPr lang="en-US" altLang="ko-KR" sz="700" dirty="0">
                  <a:latin typeface="+mn-ea"/>
                </a:rPr>
                <a:t>1.0</a:t>
              </a:r>
            </a:p>
            <a:p>
              <a:pPr algn="r"/>
              <a:r>
                <a:rPr lang="en-US" altLang="ko-KR" sz="700" dirty="0">
                  <a:latin typeface="+mn-ea"/>
                </a:rPr>
                <a:t>2.0</a:t>
              </a:r>
            </a:p>
            <a:p>
              <a:pPr algn="r"/>
              <a:r>
                <a:rPr lang="en-US" altLang="ko-KR" sz="700" dirty="0">
                  <a:latin typeface="+mn-ea"/>
                </a:rPr>
                <a:t>3.0</a:t>
              </a:r>
            </a:p>
          </p:txBody>
        </p:sp>
        <p:sp>
          <p:nvSpPr>
            <p:cNvPr id="249" name="TextBox 248">
              <a:extLst>
                <a:ext uri="{FF2B5EF4-FFF2-40B4-BE49-F238E27FC236}">
                  <a16:creationId xmlns:a16="http://schemas.microsoft.com/office/drawing/2014/main" id="{FFC49AEA-2A8F-250C-A86A-A7751D9706C3}"/>
                </a:ext>
              </a:extLst>
            </p:cNvPr>
            <p:cNvSpPr txBox="1"/>
            <p:nvPr/>
          </p:nvSpPr>
          <p:spPr>
            <a:xfrm>
              <a:off x="3919560" y="5711831"/>
              <a:ext cx="1480199" cy="323165"/>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1∼2 </a:t>
              </a:r>
              <a:r>
                <a:rPr lang="ko-KR" altLang="en-US" sz="700" dirty="0">
                  <a:latin typeface="+mn-ea"/>
                </a:rPr>
                <a:t>등급</a:t>
              </a:r>
            </a:p>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3 </a:t>
              </a:r>
              <a:r>
                <a:rPr lang="ko-KR" altLang="en-US" sz="700" dirty="0">
                  <a:latin typeface="+mn-ea"/>
                </a:rPr>
                <a:t>등급</a:t>
              </a:r>
            </a:p>
            <a:p>
              <a:r>
                <a:rPr lang="en-US" altLang="ko-KR" sz="700" dirty="0">
                  <a:latin typeface="+mn-ea"/>
                </a:rPr>
                <a:t>  - </a:t>
              </a:r>
              <a:r>
                <a:rPr lang="ko-KR" altLang="en-US" sz="700" dirty="0" err="1">
                  <a:latin typeface="+mn-ea"/>
                </a:rPr>
                <a:t>스마트공장</a:t>
              </a:r>
              <a:r>
                <a:rPr lang="ko-KR" altLang="en-US" sz="700" dirty="0">
                  <a:latin typeface="+mn-ea"/>
                </a:rPr>
                <a:t> 수준</a:t>
              </a:r>
              <a:r>
                <a:rPr lang="en-US" altLang="ko-KR" sz="700" dirty="0">
                  <a:latin typeface="+mn-ea"/>
                </a:rPr>
                <a:t>(Level) 4∼5 </a:t>
              </a:r>
              <a:r>
                <a:rPr lang="ko-KR" altLang="en-US" sz="700" dirty="0">
                  <a:latin typeface="+mn-ea"/>
                </a:rPr>
                <a:t>등급</a:t>
              </a:r>
            </a:p>
          </p:txBody>
        </p:sp>
        <p:cxnSp>
          <p:nvCxnSpPr>
            <p:cNvPr id="250" name="직선 연결선 249">
              <a:extLst>
                <a:ext uri="{FF2B5EF4-FFF2-40B4-BE49-F238E27FC236}">
                  <a16:creationId xmlns:a16="http://schemas.microsoft.com/office/drawing/2014/main" id="{E9293055-D5CD-4B9E-7F64-64B2D2CA7A52}"/>
                </a:ext>
              </a:extLst>
            </p:cNvPr>
            <p:cNvCxnSpPr/>
            <p:nvPr/>
          </p:nvCxnSpPr>
          <p:spPr>
            <a:xfrm>
              <a:off x="3835003" y="1493927"/>
              <a:ext cx="262549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97" name="그룹 96"/>
          <p:cNvGrpSpPr/>
          <p:nvPr/>
        </p:nvGrpSpPr>
        <p:grpSpPr>
          <a:xfrm>
            <a:off x="3795734" y="1492460"/>
            <a:ext cx="2712027" cy="2839069"/>
            <a:chOff x="675399" y="1492460"/>
            <a:chExt cx="2712027" cy="2839069"/>
          </a:xfrm>
        </p:grpSpPr>
        <p:sp>
          <p:nvSpPr>
            <p:cNvPr id="98" name="직사각형 97"/>
            <p:cNvSpPr/>
            <p:nvPr/>
          </p:nvSpPr>
          <p:spPr>
            <a:xfrm>
              <a:off x="718007" y="2176768"/>
              <a:ext cx="1639886" cy="18288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TextBox 98">
              <a:extLst>
                <a:ext uri="{FF2B5EF4-FFF2-40B4-BE49-F238E27FC236}">
                  <a16:creationId xmlns:a16="http://schemas.microsoft.com/office/drawing/2014/main" id="{FFC49AEA-2A8F-250C-A86A-A7751D9706C3}"/>
                </a:ext>
              </a:extLst>
            </p:cNvPr>
            <p:cNvSpPr txBox="1"/>
            <p:nvPr/>
          </p:nvSpPr>
          <p:spPr>
            <a:xfrm>
              <a:off x="805070" y="2176768"/>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00" name="TextBox 99">
              <a:extLst>
                <a:ext uri="{FF2B5EF4-FFF2-40B4-BE49-F238E27FC236}">
                  <a16:creationId xmlns:a16="http://schemas.microsoft.com/office/drawing/2014/main" id="{FFC49AEA-2A8F-250C-A86A-A7751D9706C3}"/>
                </a:ext>
              </a:extLst>
            </p:cNvPr>
            <p:cNvSpPr txBox="1"/>
            <p:nvPr/>
          </p:nvSpPr>
          <p:spPr>
            <a:xfrm>
              <a:off x="2533112" y="2176768"/>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715915" y="21767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18008" y="23915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18008" y="280680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715915" y="320650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718008" y="30066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FFC49AEA-2A8F-250C-A86A-A7751D9706C3}"/>
                </a:ext>
              </a:extLst>
            </p:cNvPr>
            <p:cNvSpPr txBox="1"/>
            <p:nvPr/>
          </p:nvSpPr>
          <p:spPr>
            <a:xfrm>
              <a:off x="776886" y="1492460"/>
              <a:ext cx="2535669" cy="646331"/>
            </a:xfrm>
            <a:prstGeom prst="rect">
              <a:avLst/>
            </a:prstGeom>
            <a:noFill/>
          </p:spPr>
          <p:txBody>
            <a:bodyPr wrap="square" lIns="0" tIns="0" rIns="0" bIns="0" rtlCol="0">
              <a:spAutoFit/>
            </a:bodyPr>
            <a:lstStyle/>
            <a:p>
              <a:pPr>
                <a:lnSpc>
                  <a:spcPct val="200000"/>
                </a:lnSpc>
              </a:pPr>
              <a:r>
                <a:rPr lang="en-US" altLang="ko-KR" sz="700" b="1" dirty="0">
                  <a:latin typeface="+mn-ea"/>
                </a:rPr>
                <a:t>2. </a:t>
              </a:r>
              <a:r>
                <a:rPr lang="ko-KR" altLang="en-US" sz="700" b="1" dirty="0">
                  <a:latin typeface="+mn-ea"/>
                </a:rPr>
                <a:t>계약이행 성실도</a:t>
              </a:r>
              <a:endParaRPr lang="en-US" altLang="ko-KR" sz="700" b="1"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가</a:t>
              </a:r>
              <a:r>
                <a:rPr lang="en-US" altLang="ko-KR" sz="700" dirty="0">
                  <a:latin typeface="+mn-ea"/>
                </a:rPr>
                <a:t>. </a:t>
              </a:r>
              <a:r>
                <a:rPr lang="ko-KR" altLang="en-US" sz="700" dirty="0" err="1">
                  <a:latin typeface="+mn-ea"/>
                </a:rPr>
                <a:t>납품지연</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지체일수</a:t>
              </a:r>
              <a:endParaRPr lang="ko-KR" altLang="en-US" sz="700" dirty="0">
                <a:latin typeface="+mn-ea"/>
              </a:endParaRPr>
            </a:p>
          </p:txBody>
        </p:sp>
        <p:sp>
          <p:nvSpPr>
            <p:cNvPr id="137" name="TextBox 136">
              <a:extLst>
                <a:ext uri="{FF2B5EF4-FFF2-40B4-BE49-F238E27FC236}">
                  <a16:creationId xmlns:a16="http://schemas.microsoft.com/office/drawing/2014/main" id="{FFC49AEA-2A8F-250C-A86A-A7751D9706C3}"/>
                </a:ext>
              </a:extLst>
            </p:cNvPr>
            <p:cNvSpPr txBox="1"/>
            <p:nvPr/>
          </p:nvSpPr>
          <p:spPr>
            <a:xfrm>
              <a:off x="2953482" y="2176768"/>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805070" y="2437572"/>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6</a:t>
              </a:r>
              <a:r>
                <a:rPr lang="ko-KR" altLang="en-US" sz="700" dirty="0">
                  <a:latin typeface="+mn-ea"/>
                </a:rPr>
                <a:t>개월 이내에 조달청</a:t>
              </a:r>
              <a:r>
                <a:rPr lang="en-US" altLang="ko-KR" sz="700" dirty="0">
                  <a:latin typeface="+mn-ea"/>
                </a:rPr>
                <a:t>(</a:t>
              </a:r>
              <a:r>
                <a:rPr lang="ko-KR" altLang="en-US" sz="700" dirty="0">
                  <a:latin typeface="+mn-ea"/>
                </a:rPr>
                <a:t>또는 당해 </a:t>
              </a:r>
              <a:r>
                <a:rPr lang="ko-KR" altLang="en-US" sz="700" dirty="0" err="1">
                  <a:latin typeface="+mn-ea"/>
                </a:rPr>
                <a:t>구매기관</a:t>
              </a:r>
              <a:r>
                <a:rPr lang="en-US" altLang="ko-KR" sz="700" dirty="0">
                  <a:latin typeface="+mn-ea"/>
                </a:rPr>
                <a:t>)</a:t>
              </a:r>
              <a:r>
                <a:rPr lang="ko-KR" altLang="en-US" sz="700" dirty="0">
                  <a:latin typeface="+mn-ea"/>
                </a:rPr>
                <a:t>과의 계약이행 과정에서 지체상금 부과를 받은 자</a:t>
              </a:r>
            </a:p>
          </p:txBody>
        </p:sp>
        <p:sp>
          <p:nvSpPr>
            <p:cNvPr id="142" name="TextBox 141">
              <a:extLst>
                <a:ext uri="{FF2B5EF4-FFF2-40B4-BE49-F238E27FC236}">
                  <a16:creationId xmlns:a16="http://schemas.microsoft.com/office/drawing/2014/main" id="{FFC49AEA-2A8F-250C-A86A-A7751D9706C3}"/>
                </a:ext>
              </a:extLst>
            </p:cNvPr>
            <p:cNvSpPr txBox="1"/>
            <p:nvPr/>
          </p:nvSpPr>
          <p:spPr>
            <a:xfrm>
              <a:off x="2675779" y="249370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805070" y="28528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75</a:t>
              </a:r>
              <a:r>
                <a:rPr lang="ko-KR" altLang="en-US" sz="700" dirty="0">
                  <a:latin typeface="+mn-ea"/>
                </a:rPr>
                <a:t>일 이상</a:t>
              </a:r>
            </a:p>
          </p:txBody>
        </p:sp>
        <p:sp>
          <p:nvSpPr>
            <p:cNvPr id="145" name="TextBox 144">
              <a:extLst>
                <a:ext uri="{FF2B5EF4-FFF2-40B4-BE49-F238E27FC236}">
                  <a16:creationId xmlns:a16="http://schemas.microsoft.com/office/drawing/2014/main" id="{FFC49AEA-2A8F-250C-A86A-A7751D9706C3}"/>
                </a:ext>
              </a:extLst>
            </p:cNvPr>
            <p:cNvSpPr txBox="1"/>
            <p:nvPr/>
          </p:nvSpPr>
          <p:spPr>
            <a:xfrm>
              <a:off x="805070" y="30527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60</a:t>
              </a:r>
              <a:r>
                <a:rPr lang="ko-KR" altLang="en-US" sz="700" dirty="0">
                  <a:latin typeface="+mn-ea"/>
                </a:rPr>
                <a:t>일 이상 </a:t>
              </a:r>
              <a:r>
                <a:rPr lang="en-US" altLang="ko-KR" sz="700" dirty="0">
                  <a:latin typeface="+mn-ea"/>
                </a:rPr>
                <a:t>75</a:t>
              </a:r>
              <a:r>
                <a:rPr lang="ko-KR" altLang="en-US" sz="700" dirty="0">
                  <a:latin typeface="+mn-ea"/>
                </a:rPr>
                <a:t>일 미만</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2557156" y="2859668"/>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2507463" y="3056867"/>
              <a:ext cx="205185" cy="107722"/>
            </a:xfrm>
            <a:prstGeom prst="rect">
              <a:avLst/>
            </a:prstGeom>
            <a:noFill/>
          </p:spPr>
          <p:txBody>
            <a:bodyPr wrap="none" lIns="0" tIns="0" rIns="0" bIns="0" rtlCol="0">
              <a:spAutoFit/>
            </a:bodyPr>
            <a:lstStyle/>
            <a:p>
              <a:pPr algn="r"/>
              <a:r>
                <a:rPr lang="en-US" altLang="ko-KR" sz="700" dirty="0">
                  <a:latin typeface="+mn-ea"/>
                </a:rPr>
                <a:t>-1.75</a:t>
              </a:r>
              <a:endParaRPr lang="ko-KR" altLang="en-US" sz="700" dirty="0">
                <a:latin typeface="+mn-ea"/>
              </a:endParaRPr>
            </a:p>
          </p:txBody>
        </p:sp>
        <p:sp>
          <p:nvSpPr>
            <p:cNvPr id="151" name="TextBox 150">
              <a:extLst>
                <a:ext uri="{FF2B5EF4-FFF2-40B4-BE49-F238E27FC236}">
                  <a16:creationId xmlns:a16="http://schemas.microsoft.com/office/drawing/2014/main" id="{FFC49AEA-2A8F-250C-A86A-A7751D9706C3}"/>
                </a:ext>
              </a:extLst>
            </p:cNvPr>
            <p:cNvSpPr txBox="1"/>
            <p:nvPr/>
          </p:nvSpPr>
          <p:spPr>
            <a:xfrm>
              <a:off x="3275686" y="314468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54" name="직선 연결선 153">
              <a:extLst>
                <a:ext uri="{FF2B5EF4-FFF2-40B4-BE49-F238E27FC236}">
                  <a16:creationId xmlns:a16="http://schemas.microsoft.com/office/drawing/2014/main" id="{E9293055-D5CD-4B9E-7F64-64B2D2CA7A52}"/>
                </a:ext>
              </a:extLst>
            </p:cNvPr>
            <p:cNvCxnSpPr/>
            <p:nvPr/>
          </p:nvCxnSpPr>
          <p:spPr>
            <a:xfrm>
              <a:off x="718008" y="400558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15915" y="3606201"/>
              <a:ext cx="2106371"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18008" y="34063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8" name="TextBox 167">
              <a:extLst>
                <a:ext uri="{FF2B5EF4-FFF2-40B4-BE49-F238E27FC236}">
                  <a16:creationId xmlns:a16="http://schemas.microsoft.com/office/drawing/2014/main" id="{FFC49AEA-2A8F-250C-A86A-A7751D9706C3}"/>
                </a:ext>
              </a:extLst>
            </p:cNvPr>
            <p:cNvSpPr txBox="1"/>
            <p:nvPr/>
          </p:nvSpPr>
          <p:spPr>
            <a:xfrm>
              <a:off x="805070" y="32525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45</a:t>
              </a:r>
              <a:r>
                <a:rPr lang="ko-KR" altLang="en-US" sz="700" dirty="0">
                  <a:latin typeface="+mn-ea"/>
                </a:rPr>
                <a:t>일 이상 </a:t>
              </a:r>
              <a:r>
                <a:rPr lang="en-US" altLang="ko-KR" sz="700" dirty="0">
                  <a:latin typeface="+mn-ea"/>
                </a:rPr>
                <a:t>60</a:t>
              </a:r>
              <a:r>
                <a:rPr lang="ko-KR" altLang="en-US" sz="700" dirty="0">
                  <a:latin typeface="+mn-ea"/>
                </a:rPr>
                <a:t>일 미만</a:t>
              </a:r>
            </a:p>
          </p:txBody>
        </p:sp>
        <p:sp>
          <p:nvSpPr>
            <p:cNvPr id="169" name="TextBox 168">
              <a:extLst>
                <a:ext uri="{FF2B5EF4-FFF2-40B4-BE49-F238E27FC236}">
                  <a16:creationId xmlns:a16="http://schemas.microsoft.com/office/drawing/2014/main" id="{FFC49AEA-2A8F-250C-A86A-A7751D9706C3}"/>
                </a:ext>
              </a:extLst>
            </p:cNvPr>
            <p:cNvSpPr txBox="1"/>
            <p:nvPr/>
          </p:nvSpPr>
          <p:spPr>
            <a:xfrm>
              <a:off x="805070" y="34524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30</a:t>
              </a:r>
              <a:r>
                <a:rPr lang="ko-KR" altLang="en-US" sz="700" dirty="0">
                  <a:latin typeface="+mn-ea"/>
                </a:rPr>
                <a:t>일 이상 </a:t>
              </a:r>
              <a:r>
                <a:rPr lang="en-US" altLang="ko-KR" sz="700" dirty="0">
                  <a:latin typeface="+mn-ea"/>
                </a:rPr>
                <a:t>45</a:t>
              </a:r>
              <a:r>
                <a:rPr lang="ko-KR" altLang="en-US" sz="700" dirty="0">
                  <a:latin typeface="+mn-ea"/>
                </a:rPr>
                <a:t>일 미만</a:t>
              </a:r>
            </a:p>
          </p:txBody>
        </p:sp>
        <p:sp>
          <p:nvSpPr>
            <p:cNvPr id="175" name="TextBox 174">
              <a:extLst>
                <a:ext uri="{FF2B5EF4-FFF2-40B4-BE49-F238E27FC236}">
                  <a16:creationId xmlns:a16="http://schemas.microsoft.com/office/drawing/2014/main" id="{FFC49AEA-2A8F-250C-A86A-A7751D9706C3}"/>
                </a:ext>
              </a:extLst>
            </p:cNvPr>
            <p:cNvSpPr txBox="1"/>
            <p:nvPr/>
          </p:nvSpPr>
          <p:spPr>
            <a:xfrm>
              <a:off x="2557156" y="3249519"/>
              <a:ext cx="155492" cy="107722"/>
            </a:xfrm>
            <a:prstGeom prst="rect">
              <a:avLst/>
            </a:prstGeom>
            <a:noFill/>
          </p:spPr>
          <p:txBody>
            <a:bodyPr wrap="none" lIns="0" tIns="0" rIns="0" bIns="0" rtlCol="0">
              <a:spAutoFit/>
            </a:bodyPr>
            <a:lstStyle/>
            <a:p>
              <a:pPr algn="r"/>
              <a:r>
                <a:rPr lang="en-US" altLang="ko-KR" sz="700" dirty="0">
                  <a:latin typeface="+mn-ea"/>
                </a:rPr>
                <a:t>-1.5</a:t>
              </a:r>
              <a:endParaRPr lang="ko-KR" altLang="en-US" sz="700" dirty="0">
                <a:latin typeface="+mn-ea"/>
              </a:endParaRPr>
            </a:p>
          </p:txBody>
        </p:sp>
        <p:sp>
          <p:nvSpPr>
            <p:cNvPr id="185" name="TextBox 184">
              <a:extLst>
                <a:ext uri="{FF2B5EF4-FFF2-40B4-BE49-F238E27FC236}">
                  <a16:creationId xmlns:a16="http://schemas.microsoft.com/office/drawing/2014/main" id="{FFC49AEA-2A8F-250C-A86A-A7751D9706C3}"/>
                </a:ext>
              </a:extLst>
            </p:cNvPr>
            <p:cNvSpPr txBox="1"/>
            <p:nvPr/>
          </p:nvSpPr>
          <p:spPr>
            <a:xfrm>
              <a:off x="2557156" y="3446718"/>
              <a:ext cx="155492" cy="107722"/>
            </a:xfrm>
            <a:prstGeom prst="rect">
              <a:avLst/>
            </a:prstGeom>
            <a:noFill/>
          </p:spPr>
          <p:txBody>
            <a:bodyPr wrap="none" lIns="0" tIns="0" rIns="0" bIns="0" rtlCol="0">
              <a:spAutoFit/>
            </a:bodyPr>
            <a:lstStyle/>
            <a:p>
              <a:pPr algn="r"/>
              <a:r>
                <a:rPr lang="en-US" altLang="ko-KR" sz="700" dirty="0">
                  <a:latin typeface="+mn-ea"/>
                </a:rPr>
                <a:t>-1.0</a:t>
              </a:r>
              <a:endParaRPr lang="ko-KR" altLang="en-US" sz="700" dirty="0">
                <a:latin typeface="+mn-ea"/>
              </a:endParaRP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718008" y="3806051"/>
              <a:ext cx="210427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7" name="TextBox 186">
              <a:extLst>
                <a:ext uri="{FF2B5EF4-FFF2-40B4-BE49-F238E27FC236}">
                  <a16:creationId xmlns:a16="http://schemas.microsoft.com/office/drawing/2014/main" id="{FFC49AEA-2A8F-250C-A86A-A7751D9706C3}"/>
                </a:ext>
              </a:extLst>
            </p:cNvPr>
            <p:cNvSpPr txBox="1"/>
            <p:nvPr/>
          </p:nvSpPr>
          <p:spPr>
            <a:xfrm>
              <a:off x="805070" y="365226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이상 </a:t>
              </a:r>
              <a:r>
                <a:rPr lang="en-US" altLang="ko-KR" sz="700" dirty="0">
                  <a:latin typeface="+mn-ea"/>
                </a:rPr>
                <a:t>30</a:t>
              </a:r>
              <a:r>
                <a:rPr lang="ko-KR" altLang="en-US" sz="700" dirty="0">
                  <a:latin typeface="+mn-ea"/>
                </a:rPr>
                <a:t>일 미만</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805070" y="3852115"/>
              <a:ext cx="1480199" cy="107722"/>
            </a:xfrm>
            <a:prstGeom prst="rect">
              <a:avLst/>
            </a:prstGeom>
            <a:noFill/>
          </p:spPr>
          <p:txBody>
            <a:bodyPr wrap="square" lIns="0" tIns="0" rIns="0" bIns="0" rtlCol="0">
              <a:spAutoFit/>
            </a:bodyPr>
            <a:lstStyle/>
            <a:p>
              <a:r>
                <a:rPr lang="en-US" altLang="ko-KR" sz="700" dirty="0">
                  <a:latin typeface="+mn-ea"/>
                </a:rPr>
                <a:t>  - </a:t>
              </a:r>
              <a:r>
                <a:rPr lang="ko-KR" altLang="en-US" sz="700" dirty="0" err="1">
                  <a:latin typeface="+mn-ea"/>
                </a:rPr>
                <a:t>지체일수</a:t>
              </a:r>
              <a:r>
                <a:rPr lang="ko-KR" altLang="en-US" sz="700" dirty="0">
                  <a:latin typeface="+mn-ea"/>
                </a:rPr>
                <a:t> </a:t>
              </a:r>
              <a:r>
                <a:rPr lang="en-US" altLang="ko-KR" sz="700" dirty="0">
                  <a:latin typeface="+mn-ea"/>
                </a:rPr>
                <a:t>15</a:t>
              </a:r>
              <a:r>
                <a:rPr lang="ko-KR" altLang="en-US" sz="700" dirty="0">
                  <a:latin typeface="+mn-ea"/>
                </a:rPr>
                <a:t>일 미만</a:t>
              </a:r>
            </a:p>
          </p:txBody>
        </p:sp>
        <p:sp>
          <p:nvSpPr>
            <p:cNvPr id="189" name="TextBox 188">
              <a:extLst>
                <a:ext uri="{FF2B5EF4-FFF2-40B4-BE49-F238E27FC236}">
                  <a16:creationId xmlns:a16="http://schemas.microsoft.com/office/drawing/2014/main" id="{FFC49AEA-2A8F-250C-A86A-A7751D9706C3}"/>
                </a:ext>
              </a:extLst>
            </p:cNvPr>
            <p:cNvSpPr txBox="1"/>
            <p:nvPr/>
          </p:nvSpPr>
          <p:spPr>
            <a:xfrm>
              <a:off x="2557156" y="3651366"/>
              <a:ext cx="155492" cy="107722"/>
            </a:xfrm>
            <a:prstGeom prst="rect">
              <a:avLst/>
            </a:prstGeom>
            <a:noFill/>
          </p:spPr>
          <p:txBody>
            <a:bodyPr wrap="none" lIns="0" tIns="0" rIns="0" bIns="0" rtlCol="0">
              <a:spAutoFit/>
            </a:bodyPr>
            <a:lstStyle/>
            <a:p>
              <a:pPr algn="r"/>
              <a:r>
                <a:rPr lang="en-US" altLang="ko-KR" sz="700" dirty="0">
                  <a:latin typeface="+mn-ea"/>
                </a:rPr>
                <a:t>-0.5</a:t>
              </a:r>
              <a:endParaRPr lang="ko-KR" altLang="en-US" sz="700" dirty="0">
                <a:latin typeface="+mn-ea"/>
              </a:endParaRPr>
            </a:p>
          </p:txBody>
        </p:sp>
        <p:sp>
          <p:nvSpPr>
            <p:cNvPr id="190" name="TextBox 189">
              <a:extLst>
                <a:ext uri="{FF2B5EF4-FFF2-40B4-BE49-F238E27FC236}">
                  <a16:creationId xmlns:a16="http://schemas.microsoft.com/office/drawing/2014/main" id="{FFC49AEA-2A8F-250C-A86A-A7751D9706C3}"/>
                </a:ext>
              </a:extLst>
            </p:cNvPr>
            <p:cNvSpPr txBox="1"/>
            <p:nvPr/>
          </p:nvSpPr>
          <p:spPr>
            <a:xfrm>
              <a:off x="2507463" y="3848565"/>
              <a:ext cx="205185" cy="107722"/>
            </a:xfrm>
            <a:prstGeom prst="rect">
              <a:avLst/>
            </a:prstGeom>
            <a:noFill/>
          </p:spPr>
          <p:txBody>
            <a:bodyPr wrap="none" lIns="0" tIns="0" rIns="0" bIns="0" rtlCol="0">
              <a:spAutoFit/>
            </a:bodyPr>
            <a:lstStyle/>
            <a:p>
              <a:pPr algn="r"/>
              <a:r>
                <a:rPr lang="en-US" altLang="ko-KR" sz="700" dirty="0">
                  <a:latin typeface="+mn-ea"/>
                </a:rPr>
                <a:t>-0.25</a:t>
              </a:r>
              <a:endParaRPr lang="ko-KR" altLang="en-US" sz="700" dirty="0">
                <a:latin typeface="+mn-ea"/>
              </a:endParaRP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675399" y="433152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2" name="TextBox 191">
              <a:extLst>
                <a:ext uri="{FF2B5EF4-FFF2-40B4-BE49-F238E27FC236}">
                  <a16:creationId xmlns:a16="http://schemas.microsoft.com/office/drawing/2014/main" id="{FFC49AEA-2A8F-250C-A86A-A7751D9706C3}"/>
                </a:ext>
              </a:extLst>
            </p:cNvPr>
            <p:cNvSpPr txBox="1"/>
            <p:nvPr/>
          </p:nvSpPr>
          <p:spPr>
            <a:xfrm>
              <a:off x="762145" y="4051863"/>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단</a:t>
              </a:r>
              <a:r>
                <a:rPr lang="en-US" altLang="ko-KR" sz="700" dirty="0">
                  <a:latin typeface="+mn-ea"/>
                </a:rPr>
                <a:t>, </a:t>
              </a:r>
              <a:r>
                <a:rPr lang="ko-KR" altLang="en-US" sz="700" dirty="0">
                  <a:latin typeface="+mn-ea"/>
                </a:rPr>
                <a:t>여러 건의 </a:t>
              </a:r>
              <a:r>
                <a:rPr lang="ko-KR" altLang="en-US" sz="700" dirty="0" err="1">
                  <a:latin typeface="+mn-ea"/>
                </a:rPr>
                <a:t>지체상금이</a:t>
              </a:r>
              <a:r>
                <a:rPr lang="ko-KR" altLang="en-US" sz="700" dirty="0">
                  <a:latin typeface="+mn-ea"/>
                </a:rPr>
                <a:t> 중복 부과된 경우의</a:t>
              </a:r>
              <a:endParaRPr lang="en-US" altLang="ko-KR" sz="700" dirty="0">
                <a:latin typeface="+mn-ea"/>
              </a:endParaRPr>
            </a:p>
            <a:p>
              <a:pPr lvl="0" algn="ctr" defTabSz="1013612">
                <a:defRPr/>
              </a:pPr>
              <a:r>
                <a:rPr lang="ko-KR" altLang="en-US" sz="700" dirty="0" err="1">
                  <a:latin typeface="+mn-ea"/>
                </a:rPr>
                <a:t>지체일수</a:t>
              </a:r>
              <a:r>
                <a:rPr lang="ko-KR" altLang="en-US" sz="700" dirty="0">
                  <a:latin typeface="+mn-ea"/>
                </a:rPr>
                <a:t> 계산은 합산한 기간으로 한다</a:t>
              </a:r>
              <a:r>
                <a:rPr lang="en-US" altLang="ko-KR" sz="700" dirty="0">
                  <a:latin typeface="+mn-ea"/>
                </a:rPr>
                <a:t>.</a:t>
              </a:r>
            </a:p>
          </p:txBody>
        </p:sp>
      </p:grpSp>
      <p:sp>
        <p:nvSpPr>
          <p:cNvPr id="81" name="타원 8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727722051"/>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253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- 10</a:t>
            </a:r>
            <a:r>
              <a:rPr lang="ko-KR" altLang="en-US" dirty="0" err="1"/>
              <a:t>억원이상</a:t>
            </a:r>
            <a:r>
              <a:rPr lang="en-US" altLang="ko-KR" dirty="0"/>
              <a:t>(</a:t>
            </a:r>
            <a:r>
              <a:rPr lang="ko-KR" altLang="en-US" dirty="0" err="1"/>
              <a:t>중기청</a:t>
            </a:r>
            <a:r>
              <a:rPr lang="en-US" altLang="ko-KR" dirty="0"/>
              <a:t>)</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- 10</a:t>
            </a:r>
            <a:r>
              <a:rPr lang="ko-KR" altLang="en-US" dirty="0" err="1"/>
              <a:t>억원이상</a:t>
            </a:r>
            <a:r>
              <a:rPr lang="en-US" altLang="ko-KR" dirty="0"/>
              <a:t>(</a:t>
            </a:r>
            <a:r>
              <a:rPr lang="ko-KR" altLang="en-US" dirty="0" err="1"/>
              <a:t>중기청</a:t>
            </a:r>
            <a:r>
              <a:rPr lang="en-US" altLang="ko-KR" dirty="0"/>
              <a:t>)</a:t>
            </a:r>
            <a:r>
              <a:rPr lang="ko-KR" altLang="en-US" dirty="0"/>
              <a:t>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MUI-BD-10-M15</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719050" y="62322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716366" y="1492460"/>
            <a:ext cx="2630093" cy="3250601"/>
            <a:chOff x="3836701" y="1492460"/>
            <a:chExt cx="2630093" cy="3250601"/>
          </a:xfrm>
        </p:grpSpPr>
        <p:grpSp>
          <p:nvGrpSpPr>
            <p:cNvPr id="6" name="그룹 5"/>
            <p:cNvGrpSpPr/>
            <p:nvPr/>
          </p:nvGrpSpPr>
          <p:grpSpPr>
            <a:xfrm>
              <a:off x="3836701" y="1492460"/>
              <a:ext cx="2630093" cy="1091295"/>
              <a:chOff x="3806813" y="1707904"/>
              <a:chExt cx="2630093" cy="1091295"/>
            </a:xfrm>
          </p:grpSpPr>
          <p:sp>
            <p:nvSpPr>
              <p:cNvPr id="117" name="직사각형 116"/>
              <p:cNvSpPr/>
              <p:nvPr/>
            </p:nvSpPr>
            <p:spPr>
              <a:xfrm>
                <a:off x="3808905" y="2172131"/>
                <a:ext cx="1639886" cy="627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3895968" y="2172130"/>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5624010" y="2172130"/>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25" name="직선 연결선 124">
                <a:extLst>
                  <a:ext uri="{FF2B5EF4-FFF2-40B4-BE49-F238E27FC236}">
                    <a16:creationId xmlns:a16="http://schemas.microsoft.com/office/drawing/2014/main" id="{E9293055-D5CD-4B9E-7F64-64B2D2CA7A52}"/>
                  </a:ext>
                </a:extLst>
              </p:cNvPr>
              <p:cNvCxnSpPr/>
              <p:nvPr/>
            </p:nvCxnSpPr>
            <p:spPr>
              <a:xfrm>
                <a:off x="3806813" y="21721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3808906" y="238687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4" name="TextBox 143">
                <a:extLst>
                  <a:ext uri="{FF2B5EF4-FFF2-40B4-BE49-F238E27FC236}">
                    <a16:creationId xmlns:a16="http://schemas.microsoft.com/office/drawing/2014/main" id="{FFC49AEA-2A8F-250C-A86A-A7751D9706C3}"/>
                  </a:ext>
                </a:extLst>
              </p:cNvPr>
              <p:cNvSpPr txBox="1"/>
              <p:nvPr/>
            </p:nvSpPr>
            <p:spPr>
              <a:xfrm>
                <a:off x="3867784" y="1707904"/>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나</a:t>
                </a:r>
                <a:r>
                  <a:rPr lang="en-US" altLang="ko-KR" sz="700" dirty="0">
                    <a:latin typeface="+mn-ea"/>
                  </a:rPr>
                  <a:t>.</a:t>
                </a:r>
                <a:r>
                  <a:rPr lang="ko-KR" altLang="en-US" sz="700" dirty="0">
                    <a:latin typeface="+mn-ea"/>
                  </a:rPr>
                  <a:t>불공정 하도급 거래</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err="1">
                    <a:latin typeface="+mn-ea"/>
                  </a:rPr>
                  <a:t>하도급법</a:t>
                </a:r>
                <a:r>
                  <a:rPr lang="ko-KR" altLang="en-US" sz="700" dirty="0">
                    <a:latin typeface="+mn-ea"/>
                  </a:rPr>
                  <a:t> </a:t>
                </a:r>
                <a:r>
                  <a:rPr lang="ko-KR" altLang="en-US" sz="700" dirty="0" err="1">
                    <a:latin typeface="+mn-ea"/>
                  </a:rPr>
                  <a:t>위반정도</a:t>
                </a:r>
                <a:endParaRPr lang="ko-KR" altLang="en-US" sz="700" dirty="0">
                  <a:latin typeface="+mn-ea"/>
                </a:endParaRPr>
              </a:p>
            </p:txBody>
          </p:sp>
          <p:sp>
            <p:nvSpPr>
              <p:cNvPr id="145" name="TextBox 144">
                <a:extLst>
                  <a:ext uri="{FF2B5EF4-FFF2-40B4-BE49-F238E27FC236}">
                    <a16:creationId xmlns:a16="http://schemas.microsoft.com/office/drawing/2014/main" id="{FFC49AEA-2A8F-250C-A86A-A7751D9706C3}"/>
                  </a:ext>
                </a:extLst>
              </p:cNvPr>
              <p:cNvSpPr txBox="1"/>
              <p:nvPr/>
            </p:nvSpPr>
            <p:spPr>
              <a:xfrm>
                <a:off x="6044380" y="2172130"/>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3895968" y="2432934"/>
                <a:ext cx="1480199" cy="323165"/>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1</a:t>
                </a:r>
                <a:r>
                  <a:rPr lang="ko-KR" altLang="en-US" sz="700" dirty="0" err="1">
                    <a:latin typeface="+mn-ea"/>
                  </a:rPr>
                  <a:t>년이내에</a:t>
                </a:r>
                <a:r>
                  <a:rPr lang="ko-KR" altLang="en-US" sz="700" dirty="0">
                    <a:latin typeface="+mn-ea"/>
                  </a:rPr>
                  <a:t> 공정거래위원장으로부터 하도급 상습범위반자로 통보 받은 자</a:t>
                </a:r>
              </a:p>
            </p:txBody>
          </p:sp>
          <p:sp>
            <p:nvSpPr>
              <p:cNvPr id="150" name="TextBox 149">
                <a:extLst>
                  <a:ext uri="{FF2B5EF4-FFF2-40B4-BE49-F238E27FC236}">
                    <a16:creationId xmlns:a16="http://schemas.microsoft.com/office/drawing/2014/main" id="{FFC49AEA-2A8F-250C-A86A-A7751D9706C3}"/>
                  </a:ext>
                </a:extLst>
              </p:cNvPr>
              <p:cNvSpPr txBox="1"/>
              <p:nvPr/>
            </p:nvSpPr>
            <p:spPr>
              <a:xfrm>
                <a:off x="5648054" y="2540655"/>
                <a:ext cx="155492" cy="107722"/>
              </a:xfrm>
              <a:prstGeom prst="rect">
                <a:avLst/>
              </a:prstGeom>
              <a:noFill/>
            </p:spPr>
            <p:txBody>
              <a:bodyPr wrap="none" lIns="0" tIns="0" rIns="0" bIns="0" rtlCol="0">
                <a:spAutoFit/>
              </a:bodyPr>
              <a:lstStyle/>
              <a:p>
                <a:pPr algn="r"/>
                <a:r>
                  <a:rPr lang="en-US" altLang="ko-KR" sz="700" dirty="0">
                    <a:latin typeface="+mn-ea"/>
                  </a:rPr>
                  <a:t>-2.0</a:t>
                </a:r>
                <a:endParaRPr lang="ko-KR" altLang="en-US" sz="700" dirty="0">
                  <a:latin typeface="+mn-ea"/>
                </a:endParaRPr>
              </a:p>
            </p:txBody>
          </p:sp>
          <p:sp>
            <p:nvSpPr>
              <p:cNvPr id="168" name="TextBox 167">
                <a:extLst>
                  <a:ext uri="{FF2B5EF4-FFF2-40B4-BE49-F238E27FC236}">
                    <a16:creationId xmlns:a16="http://schemas.microsoft.com/office/drawing/2014/main" id="{FFC49AEA-2A8F-250C-A86A-A7751D9706C3}"/>
                  </a:ext>
                </a:extLst>
              </p:cNvPr>
              <p:cNvSpPr txBox="1"/>
              <p:nvPr/>
            </p:nvSpPr>
            <p:spPr>
              <a:xfrm>
                <a:off x="6366584" y="254065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3808906" y="27991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2" name="직사각형 211"/>
            <p:cNvSpPr/>
            <p:nvPr/>
          </p:nvSpPr>
          <p:spPr>
            <a:xfrm>
              <a:off x="3838793" y="3097009"/>
              <a:ext cx="1639886" cy="164605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3" name="TextBox 212">
              <a:extLst>
                <a:ext uri="{FF2B5EF4-FFF2-40B4-BE49-F238E27FC236}">
                  <a16:creationId xmlns:a16="http://schemas.microsoft.com/office/drawing/2014/main" id="{FFC49AEA-2A8F-250C-A86A-A7751D9706C3}"/>
                </a:ext>
              </a:extLst>
            </p:cNvPr>
            <p:cNvSpPr txBox="1"/>
            <p:nvPr/>
          </p:nvSpPr>
          <p:spPr>
            <a:xfrm>
              <a:off x="3925856" y="309700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p>
          </p:txBody>
        </p:sp>
        <p:sp>
          <p:nvSpPr>
            <p:cNvPr id="214" name="TextBox 213">
              <a:extLst>
                <a:ext uri="{FF2B5EF4-FFF2-40B4-BE49-F238E27FC236}">
                  <a16:creationId xmlns:a16="http://schemas.microsoft.com/office/drawing/2014/main" id="{FFC49AEA-2A8F-250C-A86A-A7751D9706C3}"/>
                </a:ext>
              </a:extLst>
            </p:cNvPr>
            <p:cNvSpPr txBox="1"/>
            <p:nvPr/>
          </p:nvSpPr>
          <p:spPr>
            <a:xfrm>
              <a:off x="5653898" y="309700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15" name="직선 연결선 214">
              <a:extLst>
                <a:ext uri="{FF2B5EF4-FFF2-40B4-BE49-F238E27FC236}">
                  <a16:creationId xmlns:a16="http://schemas.microsoft.com/office/drawing/2014/main" id="{E9293055-D5CD-4B9E-7F64-64B2D2CA7A52}"/>
                </a:ext>
              </a:extLst>
            </p:cNvPr>
            <p:cNvCxnSpPr/>
            <p:nvPr/>
          </p:nvCxnSpPr>
          <p:spPr>
            <a:xfrm>
              <a:off x="3836701" y="309700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6" name="직선 연결선 215">
              <a:extLst>
                <a:ext uri="{FF2B5EF4-FFF2-40B4-BE49-F238E27FC236}">
                  <a16:creationId xmlns:a16="http://schemas.microsoft.com/office/drawing/2014/main" id="{E9293055-D5CD-4B9E-7F64-64B2D2CA7A52}"/>
                </a:ext>
              </a:extLst>
            </p:cNvPr>
            <p:cNvCxnSpPr/>
            <p:nvPr/>
          </p:nvCxnSpPr>
          <p:spPr>
            <a:xfrm>
              <a:off x="3838794" y="33117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7" name="TextBox 216">
              <a:extLst>
                <a:ext uri="{FF2B5EF4-FFF2-40B4-BE49-F238E27FC236}">
                  <a16:creationId xmlns:a16="http://schemas.microsoft.com/office/drawing/2014/main" id="{FFC49AEA-2A8F-250C-A86A-A7751D9706C3}"/>
                </a:ext>
              </a:extLst>
            </p:cNvPr>
            <p:cNvSpPr txBox="1"/>
            <p:nvPr/>
          </p:nvSpPr>
          <p:spPr>
            <a:xfrm>
              <a:off x="3897672" y="2632783"/>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다</a:t>
              </a:r>
              <a:r>
                <a:rPr lang="en-US" altLang="ko-KR" sz="700" dirty="0">
                  <a:latin typeface="+mn-ea"/>
                </a:rPr>
                <a:t>.</a:t>
              </a:r>
              <a:r>
                <a:rPr lang="ko-KR" altLang="en-US" sz="700" dirty="0">
                  <a:latin typeface="+mn-ea"/>
                </a:rPr>
                <a:t>부정당업자제재</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부정당업자로 </a:t>
              </a:r>
              <a:r>
                <a:rPr lang="ko-KR" altLang="en-US" sz="700" dirty="0" err="1">
                  <a:latin typeface="+mn-ea"/>
                </a:rPr>
                <a:t>제재받은</a:t>
              </a:r>
              <a:r>
                <a:rPr lang="ko-KR" altLang="en-US" sz="700" dirty="0">
                  <a:latin typeface="+mn-ea"/>
                </a:rPr>
                <a:t> </a:t>
              </a:r>
              <a:r>
                <a:rPr lang="ko-KR" altLang="en-US" sz="700" dirty="0" err="1">
                  <a:latin typeface="+mn-ea"/>
                </a:rPr>
                <a:t>총제재기간</a:t>
              </a:r>
              <a:endParaRPr lang="ko-KR" altLang="en-US" sz="700" dirty="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6074268" y="3097009"/>
              <a:ext cx="359073" cy="181140"/>
            </a:xfrm>
            <a:prstGeom prst="rect">
              <a:avLst/>
            </a:prstGeom>
            <a:noFill/>
          </p:spPr>
          <p:txBody>
            <a:bodyPr wrap="none" lIns="0" tIns="0" rIns="0" bIns="0" rtlCol="0">
              <a:spAutoFit/>
            </a:bodyPr>
            <a:lstStyle/>
            <a:p>
              <a:pPr algn="r">
                <a:lnSpc>
                  <a:spcPct val="200000"/>
                </a:lnSpc>
              </a:pPr>
              <a:r>
                <a:rPr lang="ko-KR" altLang="en-US" sz="700" dirty="0" err="1">
                  <a:latin typeface="+mn-ea"/>
                </a:rPr>
                <a:t>심사평점</a:t>
              </a:r>
              <a:endParaRPr lang="en-US" altLang="ko-KR" sz="700" dirty="0">
                <a:latin typeface="+mn-ea"/>
              </a:endParaRPr>
            </a:p>
          </p:txBody>
        </p:sp>
        <p:sp>
          <p:nvSpPr>
            <p:cNvPr id="219" name="TextBox 218">
              <a:extLst>
                <a:ext uri="{FF2B5EF4-FFF2-40B4-BE49-F238E27FC236}">
                  <a16:creationId xmlns:a16="http://schemas.microsoft.com/office/drawing/2014/main" id="{FFC49AEA-2A8F-250C-A86A-A7751D9706C3}"/>
                </a:ext>
              </a:extLst>
            </p:cNvPr>
            <p:cNvSpPr txBox="1"/>
            <p:nvPr/>
          </p:nvSpPr>
          <p:spPr>
            <a:xfrm>
              <a:off x="3925856" y="3357813"/>
              <a:ext cx="1480199" cy="538609"/>
            </a:xfrm>
            <a:prstGeom prst="rect">
              <a:avLst/>
            </a:prstGeom>
            <a:noFill/>
          </p:spPr>
          <p:txBody>
            <a:bodyPr wrap="square" lIns="0" tIns="0" rIns="0" bIns="0" rtlCol="0">
              <a:spAutoFit/>
            </a:bodyPr>
            <a:lstStyle/>
            <a:p>
              <a:r>
                <a:rPr lang="en-US" altLang="ko-KR" sz="700" dirty="0">
                  <a:latin typeface="+mn-ea"/>
                </a:rPr>
                <a:t>A.</a:t>
              </a:r>
              <a:r>
                <a:rPr lang="ko-KR" altLang="en-US" sz="700" dirty="0">
                  <a:latin typeface="+mn-ea"/>
                </a:rPr>
                <a:t>최근 </a:t>
              </a:r>
              <a:r>
                <a:rPr lang="en-US" altLang="ko-KR" sz="700" dirty="0">
                  <a:latin typeface="+mn-ea"/>
                </a:rPr>
                <a:t>2</a:t>
              </a:r>
              <a:r>
                <a:rPr lang="ko-KR" altLang="en-US" sz="700" dirty="0">
                  <a:latin typeface="+mn-ea"/>
                </a:rPr>
                <a:t>년 이내 부정당업자 제재를 받은 자로서 부정당업자 </a:t>
              </a:r>
              <a:r>
                <a:rPr lang="ko-KR" altLang="en-US" sz="700" dirty="0" err="1">
                  <a:latin typeface="+mn-ea"/>
                </a:rPr>
                <a:t>제재기간</a:t>
              </a:r>
              <a:r>
                <a:rPr lang="ko-KR" altLang="en-US" sz="700" dirty="0">
                  <a:latin typeface="+mn-ea"/>
                </a:rPr>
                <a:t> 종료일이 입찰공고일로부터 </a:t>
              </a:r>
              <a:r>
                <a:rPr lang="en-US" altLang="ko-KR" sz="700" dirty="0">
                  <a:latin typeface="+mn-ea"/>
                </a:rPr>
                <a:t>2</a:t>
              </a:r>
              <a:r>
                <a:rPr lang="ko-KR" altLang="en-US" sz="700" dirty="0">
                  <a:latin typeface="+mn-ea"/>
                </a:rPr>
                <a:t>년 이내에 포함된 전체 부정당업자 제재 건의 총 </a:t>
              </a:r>
              <a:r>
                <a:rPr lang="ko-KR" altLang="en-US" sz="700" dirty="0" err="1">
                  <a:latin typeface="+mn-ea"/>
                </a:rPr>
                <a:t>제재기간에</a:t>
              </a:r>
              <a:r>
                <a:rPr lang="ko-KR" altLang="en-US" sz="700" dirty="0">
                  <a:latin typeface="+mn-ea"/>
                </a:rPr>
                <a:t> 따라</a:t>
              </a:r>
            </a:p>
          </p:txBody>
        </p:sp>
        <p:sp>
          <p:nvSpPr>
            <p:cNvPr id="220" name="TextBox 219">
              <a:extLst>
                <a:ext uri="{FF2B5EF4-FFF2-40B4-BE49-F238E27FC236}">
                  <a16:creationId xmlns:a16="http://schemas.microsoft.com/office/drawing/2014/main" id="{FFC49AEA-2A8F-250C-A86A-A7751D9706C3}"/>
                </a:ext>
              </a:extLst>
            </p:cNvPr>
            <p:cNvSpPr txBox="1"/>
            <p:nvPr/>
          </p:nvSpPr>
          <p:spPr>
            <a:xfrm>
              <a:off x="5677879" y="3920768"/>
              <a:ext cx="155555" cy="754053"/>
            </a:xfrm>
            <a:prstGeom prst="rect">
              <a:avLst/>
            </a:prstGeom>
            <a:noFill/>
          </p:spPr>
          <p:txBody>
            <a:bodyPr wrap="none" lIns="0" tIns="0" rIns="0" bIns="0" rtlCol="0">
              <a:spAutoFit/>
            </a:bodyPr>
            <a:lstStyle/>
            <a:p>
              <a:pPr algn="r"/>
              <a:r>
                <a:rPr lang="en-US" altLang="ko-KR" sz="700" dirty="0">
                  <a:latin typeface="+mn-ea"/>
                </a:rPr>
                <a:t>-2.0</a:t>
              </a:r>
            </a:p>
            <a:p>
              <a:pPr algn="r"/>
              <a:endParaRPr lang="en-US" altLang="ko-KR" sz="700" dirty="0">
                <a:latin typeface="+mn-ea"/>
              </a:endParaRPr>
            </a:p>
            <a:p>
              <a:pPr algn="r"/>
              <a:r>
                <a:rPr lang="en-US" altLang="ko-KR" sz="700" dirty="0">
                  <a:latin typeface="+mn-ea"/>
                </a:rPr>
                <a:t>-1.5</a:t>
              </a:r>
            </a:p>
            <a:p>
              <a:pPr algn="r"/>
              <a:endParaRPr lang="en-US" altLang="ko-KR" sz="700" dirty="0">
                <a:latin typeface="+mn-ea"/>
              </a:endParaRPr>
            </a:p>
            <a:p>
              <a:pPr algn="r"/>
              <a:r>
                <a:rPr lang="en-US" altLang="ko-KR" sz="700" dirty="0">
                  <a:latin typeface="+mn-ea"/>
                </a:rPr>
                <a:t>-1.0</a:t>
              </a:r>
            </a:p>
            <a:p>
              <a:pPr algn="r"/>
              <a:endParaRPr lang="en-US" altLang="ko-KR" sz="700" dirty="0">
                <a:latin typeface="+mn-ea"/>
              </a:endParaRPr>
            </a:p>
            <a:p>
              <a:pPr algn="r"/>
              <a:r>
                <a:rPr lang="en-US" altLang="ko-KR" sz="700" dirty="0">
                  <a:latin typeface="+mn-ea"/>
                </a:rPr>
                <a:t>-0.5</a:t>
              </a:r>
              <a:endParaRPr lang="ko-KR" altLang="en-US" sz="700" dirty="0">
                <a:latin typeface="+mn-ea"/>
              </a:endParaRPr>
            </a:p>
          </p:txBody>
        </p:sp>
        <p:sp>
          <p:nvSpPr>
            <p:cNvPr id="227" name="TextBox 226">
              <a:extLst>
                <a:ext uri="{FF2B5EF4-FFF2-40B4-BE49-F238E27FC236}">
                  <a16:creationId xmlns:a16="http://schemas.microsoft.com/office/drawing/2014/main" id="{FFC49AEA-2A8F-250C-A86A-A7751D9706C3}"/>
                </a:ext>
              </a:extLst>
            </p:cNvPr>
            <p:cNvSpPr txBox="1"/>
            <p:nvPr/>
          </p:nvSpPr>
          <p:spPr>
            <a:xfrm>
              <a:off x="6396472" y="3973544"/>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233" name="직선 연결선 232">
              <a:extLst>
                <a:ext uri="{FF2B5EF4-FFF2-40B4-BE49-F238E27FC236}">
                  <a16:creationId xmlns:a16="http://schemas.microsoft.com/office/drawing/2014/main" id="{E9293055-D5CD-4B9E-7F64-64B2D2CA7A52}"/>
                </a:ext>
              </a:extLst>
            </p:cNvPr>
            <p:cNvCxnSpPr/>
            <p:nvPr/>
          </p:nvCxnSpPr>
          <p:spPr>
            <a:xfrm>
              <a:off x="3838794" y="47430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4" name="TextBox 233">
              <a:extLst>
                <a:ext uri="{FF2B5EF4-FFF2-40B4-BE49-F238E27FC236}">
                  <a16:creationId xmlns:a16="http://schemas.microsoft.com/office/drawing/2014/main" id="{FFC49AEA-2A8F-250C-A86A-A7751D9706C3}"/>
                </a:ext>
              </a:extLst>
            </p:cNvPr>
            <p:cNvSpPr txBox="1"/>
            <p:nvPr/>
          </p:nvSpPr>
          <p:spPr>
            <a:xfrm>
              <a:off x="3925856" y="3920768"/>
              <a:ext cx="1480199" cy="754053"/>
            </a:xfrm>
            <a:prstGeom prst="rect">
              <a:avLst/>
            </a:prstGeom>
            <a:noFill/>
          </p:spPr>
          <p:txBody>
            <a:bodyPr wrap="square" lIns="0" tIns="0" rIns="0" bIns="0" rtlCol="0">
              <a:spAutoFit/>
            </a:bodyPr>
            <a:lstStyle/>
            <a:p>
              <a:r>
                <a:rPr lang="en-US" altLang="ko-KR" sz="700" dirty="0">
                  <a:latin typeface="+mn-ea"/>
                </a:rPr>
                <a:t>  - </a:t>
              </a:r>
              <a:r>
                <a:rPr lang="ko-KR" altLang="en-US" sz="700" dirty="0">
                  <a:latin typeface="+mn-ea"/>
                </a:rPr>
                <a:t>총 </a:t>
              </a:r>
              <a:r>
                <a:rPr lang="ko-KR" altLang="en-US" sz="700" dirty="0" err="1">
                  <a:latin typeface="+mn-ea"/>
                </a:rPr>
                <a:t>제재기간이</a:t>
              </a:r>
              <a:r>
                <a:rPr lang="ko-KR" altLang="en-US" sz="700" dirty="0">
                  <a:latin typeface="+mn-ea"/>
                </a:rPr>
                <a:t> </a:t>
              </a:r>
              <a:r>
                <a:rPr lang="en-US" altLang="ko-KR" sz="700" dirty="0">
                  <a:latin typeface="+mn-ea"/>
                </a:rPr>
                <a:t>1</a:t>
              </a:r>
              <a:r>
                <a:rPr lang="ko-KR" altLang="en-US" sz="700" dirty="0">
                  <a:latin typeface="+mn-ea"/>
                </a:rPr>
                <a:t>년 </a:t>
              </a:r>
              <a:r>
                <a:rPr lang="en-US" altLang="ko-KR" sz="700" dirty="0">
                  <a:latin typeface="+mn-ea"/>
                </a:rPr>
                <a:t>6</a:t>
              </a:r>
              <a:r>
                <a:rPr lang="ko-KR" altLang="en-US" sz="700" dirty="0">
                  <a:latin typeface="+mn-ea"/>
                </a:rPr>
                <a:t>개월 이상인 경우</a:t>
              </a:r>
            </a:p>
            <a:p>
              <a:r>
                <a:rPr lang="en-US" altLang="ko-KR" sz="700" dirty="0">
                  <a:latin typeface="+mn-ea"/>
                </a:rPr>
                <a:t>  - </a:t>
              </a:r>
              <a:r>
                <a:rPr lang="ko-KR" altLang="en-US" sz="700" dirty="0">
                  <a:latin typeface="+mn-ea"/>
                </a:rPr>
                <a:t>총제재기간이 </a:t>
              </a:r>
              <a:r>
                <a:rPr lang="en-US" altLang="ko-KR" sz="700" dirty="0">
                  <a:latin typeface="+mn-ea"/>
                </a:rPr>
                <a:t>1</a:t>
              </a:r>
              <a:r>
                <a:rPr lang="ko-KR" altLang="en-US" sz="700" dirty="0" err="1">
                  <a:latin typeface="+mn-ea"/>
                </a:rPr>
                <a:t>년이상</a:t>
              </a:r>
              <a:r>
                <a:rPr lang="en-US" altLang="ko-KR" sz="700" dirty="0">
                  <a:latin typeface="+mn-ea"/>
                </a:rPr>
                <a:t>~1</a:t>
              </a:r>
              <a:r>
                <a:rPr lang="ko-KR" altLang="en-US" sz="700" dirty="0">
                  <a:latin typeface="+mn-ea"/>
                </a:rPr>
                <a:t>년 </a:t>
              </a:r>
              <a:r>
                <a:rPr lang="en-US" altLang="ko-KR" sz="700" dirty="0">
                  <a:latin typeface="+mn-ea"/>
                </a:rPr>
                <a:t>6</a:t>
              </a:r>
              <a:r>
                <a:rPr lang="ko-KR" altLang="en-US" sz="700" dirty="0">
                  <a:latin typeface="+mn-ea"/>
                </a:rPr>
                <a:t>개월 미만인 경우</a:t>
              </a:r>
            </a:p>
            <a:p>
              <a:r>
                <a:rPr lang="en-US" altLang="ko-KR" sz="700" dirty="0">
                  <a:latin typeface="+mn-ea"/>
                </a:rPr>
                <a:t>  - </a:t>
              </a:r>
              <a:r>
                <a:rPr lang="ko-KR" altLang="en-US" sz="700" dirty="0">
                  <a:latin typeface="+mn-ea"/>
                </a:rPr>
                <a:t>총제재기간이 </a:t>
              </a:r>
              <a:r>
                <a:rPr lang="en-US" altLang="ko-KR" sz="700" dirty="0">
                  <a:latin typeface="+mn-ea"/>
                </a:rPr>
                <a:t>6</a:t>
              </a:r>
              <a:r>
                <a:rPr lang="ko-KR" altLang="en-US" sz="700" dirty="0">
                  <a:latin typeface="+mn-ea"/>
                </a:rPr>
                <a:t>개월 이상</a:t>
              </a:r>
              <a:r>
                <a:rPr lang="en-US" altLang="ko-KR" sz="700" dirty="0">
                  <a:latin typeface="+mn-ea"/>
                </a:rPr>
                <a:t>~ 1</a:t>
              </a:r>
              <a:r>
                <a:rPr lang="ko-KR" altLang="en-US" sz="700" dirty="0">
                  <a:latin typeface="+mn-ea"/>
                </a:rPr>
                <a:t>년 미만인 경우</a:t>
              </a:r>
            </a:p>
            <a:p>
              <a:r>
                <a:rPr lang="en-US" altLang="ko-KR" sz="700" dirty="0">
                  <a:latin typeface="+mn-ea"/>
                </a:rPr>
                <a:t>  - </a:t>
              </a:r>
              <a:r>
                <a:rPr lang="ko-KR" altLang="en-US" sz="700" dirty="0">
                  <a:latin typeface="+mn-ea"/>
                </a:rPr>
                <a:t>총제재기간이 </a:t>
              </a:r>
              <a:r>
                <a:rPr lang="en-US" altLang="ko-KR" sz="700" dirty="0">
                  <a:latin typeface="+mn-ea"/>
                </a:rPr>
                <a:t>6</a:t>
              </a:r>
              <a:r>
                <a:rPr lang="ko-KR" altLang="en-US" sz="700" dirty="0">
                  <a:latin typeface="+mn-ea"/>
                </a:rPr>
                <a:t>개월 미만인 경우</a:t>
              </a:r>
            </a:p>
          </p:txBody>
        </p:sp>
      </p:grpSp>
      <p:sp>
        <p:nvSpPr>
          <p:cNvPr id="35" name="타원 34">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758309546"/>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254</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2025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적격여부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적격여부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 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기술능력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기술능력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경영상태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입찰가격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r h="0">
                <a:tc>
                  <a:txBody>
                    <a:bodyPr/>
                    <a:lstStyle/>
                    <a:p>
                      <a:pPr latinLnBrk="1"/>
                      <a:r>
                        <a:rPr lang="ko-KR" altLang="en-US" sz="800" dirty="0">
                          <a:latin typeface="+mn-ea"/>
                          <a:ea typeface="+mn-ea"/>
                        </a:rPr>
                        <a:t>신인도 소계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소계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2990251"/>
                  </a:ext>
                </a:extLst>
              </a:tr>
              <a:tr h="0">
                <a:tc>
                  <a:txBody>
                    <a:bodyPr/>
                    <a:lstStyle/>
                    <a:p>
                      <a:pPr latinLnBrk="1"/>
                      <a:r>
                        <a:rPr lang="ko-KR" altLang="en-US" sz="800" dirty="0">
                          <a:latin typeface="+mn-ea"/>
                          <a:ea typeface="+mn-ea"/>
                        </a:rPr>
                        <a:t>고도인증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고도인증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녹색 일반인증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녹색 일반인증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영세기업 지원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영세기업 지원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5698955"/>
                  </a:ext>
                </a:extLst>
              </a:tr>
              <a:tr h="0">
                <a:tc>
                  <a:txBody>
                    <a:bodyPr/>
                    <a:lstStyle/>
                    <a:p>
                      <a:pPr latinLnBrk="1"/>
                      <a:r>
                        <a:rPr lang="ko-KR" altLang="en-US" sz="800" dirty="0">
                          <a:latin typeface="+mn-ea"/>
                          <a:ea typeface="+mn-ea"/>
                        </a:rPr>
                        <a:t>기타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품질관리 등 신뢰정도 기타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6802221"/>
                  </a:ext>
                </a:extLst>
              </a:tr>
              <a:tr h="0">
                <a:tc>
                  <a:txBody>
                    <a:bodyPr/>
                    <a:lstStyle/>
                    <a:p>
                      <a:pPr latinLnBrk="1"/>
                      <a:r>
                        <a:rPr lang="ko-KR" altLang="en-US" sz="800" dirty="0">
                          <a:latin typeface="+mn-ea"/>
                          <a:ea typeface="+mn-ea"/>
                        </a:rPr>
                        <a:t>계약이행 성실도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계약이행 성실도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1598892"/>
                  </a:ext>
                </a:extLst>
              </a:tr>
              <a:tr h="0">
                <a:tc>
                  <a:txBody>
                    <a:bodyPr/>
                    <a:lstStyle/>
                    <a:p>
                      <a:pPr latinLnBrk="1"/>
                      <a:r>
                        <a:rPr lang="ko-KR" altLang="en-US" sz="800" dirty="0">
                          <a:latin typeface="+mn-ea"/>
                          <a:ea typeface="+mn-ea"/>
                        </a:rPr>
                        <a:t>결격사유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결격사유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701536"/>
                  </a:ext>
                </a:extLst>
              </a:tr>
            </a:tbl>
          </a:graphicData>
        </a:graphic>
      </p:graphicFrame>
      <p:sp>
        <p:nvSpPr>
          <p:cNvPr id="12" name="TextBox 11">
            <a:extLst>
              <a:ext uri="{FF2B5EF4-FFF2-40B4-BE49-F238E27FC236}">
                <a16:creationId xmlns:a16="http://schemas.microsoft.com/office/drawing/2014/main" id="{60055083-8CC2-EBAB-95A2-A3D16C277F81}"/>
              </a:ext>
            </a:extLst>
          </p:cNvPr>
          <p:cNvSpPr txBox="1"/>
          <p:nvPr/>
        </p:nvSpPr>
        <p:spPr>
          <a:xfrm>
            <a:off x="465794" y="4401117"/>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납품실적</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315EC443-8860-14E7-541D-015B26B2064C}"/>
              </a:ext>
            </a:extLst>
          </p:cNvPr>
          <p:cNvGraphicFramePr>
            <a:graphicFrameLocks noGrp="1"/>
          </p:cNvGraphicFramePr>
          <p:nvPr/>
        </p:nvGraphicFramePr>
        <p:xfrm>
          <a:off x="460676" y="4684871"/>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납품실적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envMngExmgrdScr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납품실적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2" name="TextBox 1">
            <a:extLst>
              <a:ext uri="{FF2B5EF4-FFF2-40B4-BE49-F238E27FC236}">
                <a16:creationId xmlns:a16="http://schemas.microsoft.com/office/drawing/2014/main" id="{CF6EE605-D329-0E4A-EC7A-0D70FDFF872A}"/>
              </a:ext>
            </a:extLst>
          </p:cNvPr>
          <p:cNvSpPr txBox="1"/>
          <p:nvPr/>
        </p:nvSpPr>
        <p:spPr>
          <a:xfrm>
            <a:off x="460676" y="5236829"/>
            <a:ext cx="2499650"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기술평가등급</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A3124163-486D-5877-BEB7-0B70A2F4F6E8}"/>
              </a:ext>
            </a:extLst>
          </p:cNvPr>
          <p:cNvGraphicFramePr>
            <a:graphicFrameLocks noGrp="1"/>
          </p:cNvGraphicFramePr>
          <p:nvPr/>
        </p:nvGraphicFramePr>
        <p:xfrm>
          <a:off x="455558" y="5520583"/>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103197">
                <a:tc>
                  <a:txBody>
                    <a:bodyPr/>
                    <a:lstStyle/>
                    <a:p>
                      <a:pPr latinLnBrk="1"/>
                      <a:r>
                        <a:rPr lang="ko-KR" altLang="en-US" sz="800" dirty="0">
                          <a:latin typeface="+mn-ea"/>
                          <a:ea typeface="+mn-ea"/>
                        </a:rPr>
                        <a:t>기술평가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epfcMngExmgrdScr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기술평가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 Box 73">
            <a:extLst>
              <a:ext uri="{FF2B5EF4-FFF2-40B4-BE49-F238E27FC236}">
                <a16:creationId xmlns:a16="http://schemas.microsoft.com/office/drawing/2014/main" id="{686C6419-F055-89F8-75E9-4996E4CD38E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552489074"/>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255</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bl>
          </a:graphicData>
        </a:graphic>
      </p:graphicFrame>
      <p:sp>
        <p:nvSpPr>
          <p:cNvPr id="7" name="TextBox 6">
            <a:extLst>
              <a:ext uri="{FF2B5EF4-FFF2-40B4-BE49-F238E27FC236}">
                <a16:creationId xmlns:a16="http://schemas.microsoft.com/office/drawing/2014/main" id="{002DB944-9A86-DB50-83C8-56D81D2F8947}"/>
              </a:ext>
            </a:extLst>
          </p:cNvPr>
          <p:cNvSpPr txBox="1"/>
          <p:nvPr/>
        </p:nvSpPr>
        <p:spPr>
          <a:xfrm>
            <a:off x="460676" y="1829922"/>
            <a:ext cx="2810632"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입찰가격 산출 내역</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874B79DF-4B71-7668-9963-F2A7028A1184}"/>
              </a:ext>
            </a:extLst>
          </p:cNvPr>
          <p:cNvGraphicFramePr>
            <a:graphicFrameLocks noGrp="1"/>
          </p:cNvGraphicFramePr>
          <p:nvPr/>
        </p:nvGraphicFramePr>
        <p:xfrm>
          <a:off x="455558" y="211367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가격점수 산정결과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가격점수 산정결과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9" name="TextBox 8">
            <a:extLst>
              <a:ext uri="{FF2B5EF4-FFF2-40B4-BE49-F238E27FC236}">
                <a16:creationId xmlns:a16="http://schemas.microsoft.com/office/drawing/2014/main" id="{64334A2E-767A-4047-AC34-A53EACC0931E}"/>
              </a:ext>
            </a:extLst>
          </p:cNvPr>
          <p:cNvSpPr txBox="1"/>
          <p:nvPr/>
        </p:nvSpPr>
        <p:spPr>
          <a:xfrm>
            <a:off x="458117" y="3298176"/>
            <a:ext cx="2926048"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품질관리 등 신뢰정도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ABBA4E91-49C4-0678-2224-431AAC654FFD}"/>
              </a:ext>
            </a:extLst>
          </p:cNvPr>
          <p:cNvGraphicFramePr>
            <a:graphicFrameLocks noGrp="1"/>
          </p:cNvGraphicFramePr>
          <p:nvPr/>
        </p:nvGraphicFramePr>
        <p:xfrm>
          <a:off x="452999" y="3581930"/>
          <a:ext cx="8994883" cy="2476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고도인증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고도인증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녹색 일반인증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녹색 일반인증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478834"/>
                  </a:ext>
                </a:extLst>
              </a:tr>
              <a:tr h="0">
                <a:tc>
                  <a:txBody>
                    <a:bodyPr/>
                    <a:lstStyle/>
                    <a:p>
                      <a:pPr latinLnBrk="1"/>
                      <a:r>
                        <a:rPr lang="ko-KR" altLang="en-US" sz="800" dirty="0">
                          <a:latin typeface="+mn-ea"/>
                          <a:ea typeface="+mn-ea"/>
                        </a:rPr>
                        <a:t>공동수급체 구성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jtnggInvstExmgrdScr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공동수급체 구성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6462414"/>
                  </a:ext>
                </a:extLst>
              </a:tr>
              <a:tr h="0">
                <a:tc>
                  <a:txBody>
                    <a:bodyPr/>
                    <a:lstStyle/>
                    <a:p>
                      <a:pPr latinLnBrk="1"/>
                      <a:r>
                        <a:rPr lang="ko-KR" altLang="en-US" sz="800" dirty="0">
                          <a:latin typeface="+mn-ea"/>
                          <a:ea typeface="+mn-ea"/>
                        </a:rPr>
                        <a:t>소기업 출자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smentpInvstExmgrdScr</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출자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5960666"/>
                  </a:ext>
                </a:extLst>
              </a:tr>
              <a:tr h="0">
                <a:tc>
                  <a:txBody>
                    <a:bodyPr/>
                    <a:lstStyle/>
                    <a:p>
                      <a:pPr latinLnBrk="1"/>
                      <a:r>
                        <a:rPr lang="ko-KR" altLang="en-US" sz="800" dirty="0">
                          <a:latin typeface="+mn-ea"/>
                          <a:ea typeface="+mn-ea"/>
                        </a:rPr>
                        <a:t>지역업체 출자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rgnBzentyInvstExmgrdScr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지역업체 출자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26306104"/>
                  </a:ext>
                </a:extLst>
              </a:tr>
              <a:tr h="0">
                <a:tc>
                  <a:txBody>
                    <a:bodyPr/>
                    <a:lstStyle/>
                    <a:p>
                      <a:pPr latinLnBrk="1"/>
                      <a:r>
                        <a:rPr lang="ko-KR" altLang="en-US" sz="800" dirty="0">
                          <a:latin typeface="+mn-ea"/>
                          <a:ea typeface="+mn-ea"/>
                        </a:rPr>
                        <a:t>소기업 또는 소상공인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smentpSprtExmgrdScr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소기업 또는 소상공인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4125833"/>
                  </a:ext>
                </a:extLst>
              </a:tr>
              <a:tr h="0">
                <a:tc>
                  <a:txBody>
                    <a:bodyPr/>
                    <a:lstStyle/>
                    <a:p>
                      <a:pPr latinLnBrk="1"/>
                      <a:r>
                        <a:rPr lang="ko-KR" altLang="en-US" sz="800" dirty="0">
                          <a:latin typeface="+mn-ea"/>
                          <a:ea typeface="+mn-ea"/>
                        </a:rPr>
                        <a:t>조달업무 우수업체 심사평점</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pbadmsGoodsExmgrdScr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조달업무 우수업체 심사평점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4790291"/>
                  </a:ext>
                </a:extLst>
              </a:tr>
              <a:tr h="0">
                <a:tc>
                  <a:txBody>
                    <a:bodyPr/>
                    <a:lstStyle/>
                    <a:p>
                      <a:pPr latinLnBrk="1"/>
                      <a:r>
                        <a:rPr lang="ko-KR" altLang="en-US" sz="800" dirty="0">
                          <a:latin typeface="+mn-ea"/>
                          <a:ea typeface="+mn-ea"/>
                        </a:rPr>
                        <a:t>여성기업지원 및 여성고용촉진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fmlSprtExmgrdScr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여성기업지원 및 여성고용촉진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232793"/>
                  </a:ext>
                </a:extLst>
              </a:tr>
            </a:tbl>
          </a:graphicData>
        </a:graphic>
      </p:graphicFrame>
      <p:sp>
        <p:nvSpPr>
          <p:cNvPr id="2" name="TextBox 1">
            <a:extLst>
              <a:ext uri="{FF2B5EF4-FFF2-40B4-BE49-F238E27FC236}">
                <a16:creationId xmlns:a16="http://schemas.microsoft.com/office/drawing/2014/main" id="{E7F6899F-3FC2-D4E8-8759-FA30B4F31929}"/>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D7FF04B0-6879-052A-DD98-A5926F80CD0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1" name="TextBox 10">
            <a:extLst>
              <a:ext uri="{FF2B5EF4-FFF2-40B4-BE49-F238E27FC236}">
                <a16:creationId xmlns:a16="http://schemas.microsoft.com/office/drawing/2014/main" id="{17E01645-659E-DB95-2FE3-CDAC30935126}"/>
              </a:ext>
            </a:extLst>
          </p:cNvPr>
          <p:cNvSpPr txBox="1"/>
          <p:nvPr/>
        </p:nvSpPr>
        <p:spPr>
          <a:xfrm>
            <a:off x="458117" y="803113"/>
            <a:ext cx="2961314"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err="1">
                <a:solidFill>
                  <a:prstClr val="black"/>
                </a:solidFill>
              </a:rPr>
              <a:t>당해물품납품이행능력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spTree>
    <p:extLst>
      <p:ext uri="{BB962C8B-B14F-4D97-AF65-F5344CB8AC3E}">
        <p14:creationId xmlns:p14="http://schemas.microsoft.com/office/powerpoint/2010/main" val="314364355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256</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967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장애인기업지원 및 장애인 고용촉진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pwdbsSprtExmgrdScr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장애인기업지원 및 장애인 고용촉진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7728715"/>
                  </a:ext>
                </a:extLst>
              </a:tr>
              <a:tr h="0">
                <a:tc>
                  <a:txBody>
                    <a:bodyPr/>
                    <a:lstStyle/>
                    <a:p>
                      <a:pPr latinLnBrk="1"/>
                      <a:r>
                        <a:rPr lang="ko-KR" altLang="en-US" sz="800" dirty="0">
                          <a:latin typeface="+mn-ea"/>
                          <a:ea typeface="+mn-ea"/>
                        </a:rPr>
                        <a:t>신규채용 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newRcrutExmgrdScr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신규채용 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0080893"/>
                  </a:ext>
                </a:extLst>
              </a:tr>
              <a:tr h="0">
                <a:tc>
                  <a:txBody>
                    <a:bodyPr/>
                    <a:lstStyle/>
                    <a:p>
                      <a:pPr latinLnBrk="1"/>
                      <a:r>
                        <a:rPr lang="ko-KR" altLang="en-US" sz="800" dirty="0">
                          <a:latin typeface="+mn-ea"/>
                          <a:ea typeface="+mn-ea"/>
                        </a:rPr>
                        <a:t>혁신형 중소기업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techInvtnExmgrdScr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혁신형 중소기업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69439496"/>
                  </a:ext>
                </a:extLst>
              </a:tr>
              <a:tr h="0">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frclsGdsExmgrdScr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1</a:t>
                      </a:r>
                      <a:r>
                        <a:rPr lang="ko-KR" altLang="en-US" sz="800" dirty="0">
                          <a:latin typeface="+mn-ea"/>
                          <a:ea typeface="+mn-ea"/>
                        </a:rPr>
                        <a:t>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수출우수기업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expPrmsngExmgrdScr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수출우수기업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기타</a:t>
                      </a:r>
                      <a:r>
                        <a:rPr lang="en-US" altLang="ko-KR" sz="800" dirty="0">
                          <a:latin typeface="+mn-ea"/>
                          <a:ea typeface="+mn-ea"/>
                        </a:rPr>
                        <a:t>2 </a:t>
                      </a:r>
                      <a:r>
                        <a:rPr lang="ko-KR" altLang="en-US" sz="800" dirty="0">
                          <a:latin typeface="+mn-ea"/>
                          <a:ea typeface="+mn-ea"/>
                        </a:rPr>
                        <a:t>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txprExmgrdScr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a:t>
                      </a:r>
                      <a:r>
                        <a:rPr lang="en-US" altLang="ko-KR" sz="800" dirty="0">
                          <a:latin typeface="+mn-ea"/>
                          <a:ea typeface="+mn-ea"/>
                        </a:rPr>
                        <a:t>2 </a:t>
                      </a:r>
                      <a:r>
                        <a:rPr lang="ko-KR" altLang="en-US" sz="800" dirty="0">
                          <a:latin typeface="+mn-ea"/>
                          <a:ea typeface="+mn-ea"/>
                        </a:rPr>
                        <a:t>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bl>
          </a:graphicData>
        </a:graphic>
      </p:graphicFrame>
      <p:sp>
        <p:nvSpPr>
          <p:cNvPr id="9" name="TextBox 8">
            <a:extLst>
              <a:ext uri="{FF2B5EF4-FFF2-40B4-BE49-F238E27FC236}">
                <a16:creationId xmlns:a16="http://schemas.microsoft.com/office/drawing/2014/main" id="{64334A2E-767A-4047-AC34-A53EACC0931E}"/>
              </a:ext>
            </a:extLst>
          </p:cNvPr>
          <p:cNvSpPr txBox="1"/>
          <p:nvPr/>
        </p:nvSpPr>
        <p:spPr>
          <a:xfrm>
            <a:off x="458117" y="3228498"/>
            <a:ext cx="2655141"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계약이행 성실도 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ABBA4E91-49C4-0678-2224-431AAC654FFD}"/>
              </a:ext>
            </a:extLst>
          </p:cNvPr>
          <p:cNvGraphicFramePr>
            <a:graphicFrameLocks noGrp="1"/>
          </p:cNvGraphicFramePr>
          <p:nvPr/>
        </p:nvGraphicFramePr>
        <p:xfrm>
          <a:off x="452999" y="3512252"/>
          <a:ext cx="8994883"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계약이행 성실도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dlvgdsDlyExmgrdScr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계약이행 성실도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Box 4">
            <a:extLst>
              <a:ext uri="{FF2B5EF4-FFF2-40B4-BE49-F238E27FC236}">
                <a16:creationId xmlns:a16="http://schemas.microsoft.com/office/drawing/2014/main" id="{22C8BD14-7867-3C3F-9EE5-FB542F62B74B}"/>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1EF2938C-334E-5E42-80DB-4E5B2176AA5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624297852"/>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257</a:t>
            </a:fld>
            <a:endParaRPr lang="ko-KR" altLang="en-US" dirty="0"/>
          </a:p>
        </p:txBody>
      </p:sp>
      <p:sp>
        <p:nvSpPr>
          <p:cNvPr id="4" name="TextBox 3">
            <a:extLst>
              <a:ext uri="{FF2B5EF4-FFF2-40B4-BE49-F238E27FC236}">
                <a16:creationId xmlns:a16="http://schemas.microsoft.com/office/drawing/2014/main" id="{81F17FA5-0571-8E7F-9860-7790B3D084C1}"/>
              </a:ext>
            </a:extLst>
          </p:cNvPr>
          <p:cNvSpPr txBox="1"/>
          <p:nvPr/>
        </p:nvSpPr>
        <p:spPr>
          <a:xfrm>
            <a:off x="460321"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1" name="표 10">
            <a:extLst>
              <a:ext uri="{FF2B5EF4-FFF2-40B4-BE49-F238E27FC236}">
                <a16:creationId xmlns:a16="http://schemas.microsoft.com/office/drawing/2014/main" id="{0441E173-2760-68F6-53D0-601DA6842A3E}"/>
              </a:ext>
            </a:extLst>
          </p:cNvPr>
          <p:cNvGraphicFramePr>
            <a:graphicFrameLocks noGrp="1"/>
          </p:cNvGraphicFramePr>
          <p:nvPr/>
        </p:nvGraphicFramePr>
        <p:xfrm>
          <a:off x="455204" y="1014316"/>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목록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scwin.btn_list_onclick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개찰목록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(UI-BD-08-M01)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개찰목록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2" name="Text Box 73">
            <a:extLst>
              <a:ext uri="{FF2B5EF4-FFF2-40B4-BE49-F238E27FC236}">
                <a16:creationId xmlns:a16="http://schemas.microsoft.com/office/drawing/2014/main" id="{76AA2F12-6CA6-D8EA-FB34-F7D405A9CBC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27560277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258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적격심사결과상세 </a:t>
            </a:r>
            <a:r>
              <a:rPr lang="en-US" altLang="ko-KR" dirty="0"/>
              <a:t>- </a:t>
            </a:r>
            <a:r>
              <a:rPr lang="ko-KR" altLang="en-US" dirty="0"/>
              <a:t>공사</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a:t>공사일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3" name="그룹 82"/>
          <p:cNvGrpSpPr/>
          <p:nvPr/>
        </p:nvGrpSpPr>
        <p:grpSpPr>
          <a:xfrm>
            <a:off x="701175" y="1527996"/>
            <a:ext cx="2670082" cy="2461921"/>
            <a:chOff x="701175" y="1527996"/>
            <a:chExt cx="2670082" cy="2461921"/>
          </a:xfrm>
        </p:grpSpPr>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2" name="직사각형 91"/>
            <p:cNvSpPr/>
            <p:nvPr/>
          </p:nvSpPr>
          <p:spPr>
            <a:xfrm>
              <a:off x="703268" y="1835480"/>
              <a:ext cx="792000" cy="213264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2154436"/>
            </a:xfrm>
            <a:prstGeom prst="rect">
              <a:avLst/>
            </a:prstGeom>
            <a:noFill/>
          </p:spPr>
          <p:txBody>
            <a:bodyPr wrap="square" lIns="0" tIns="0" rIns="0" bIns="0" rtlCol="0">
              <a:spAutoFit/>
            </a:bodyPr>
            <a:lstStyle/>
            <a:p>
              <a:pPr>
                <a:lnSpc>
                  <a:spcPct val="200000"/>
                </a:lnSpc>
              </a:pPr>
              <a:r>
                <a:rPr lang="ko-KR" altLang="en-US" sz="700" dirty="0" err="1">
                  <a:latin typeface="+mn-ea"/>
                </a:rPr>
                <a:t>시공경험</a:t>
              </a:r>
              <a:endParaRPr lang="en-US" altLang="ko-KR" sz="700" dirty="0">
                <a:latin typeface="+mn-ea"/>
              </a:endParaRPr>
            </a:p>
            <a:p>
              <a:pPr>
                <a:lnSpc>
                  <a:spcPct val="200000"/>
                </a:lnSpc>
              </a:pPr>
              <a:r>
                <a:rPr lang="ko-KR" altLang="en-US" sz="700" dirty="0">
                  <a:latin typeface="+mn-ea"/>
                </a:rPr>
                <a:t>기술능력</a:t>
              </a:r>
              <a:endParaRPr lang="en-US" altLang="ko-KR" sz="700" dirty="0">
                <a:latin typeface="+mn-ea"/>
              </a:endParaRPr>
            </a:p>
            <a:p>
              <a:pPr>
                <a:lnSpc>
                  <a:spcPct val="200000"/>
                </a:lnSpc>
              </a:pPr>
              <a:r>
                <a:rPr lang="ko-KR" altLang="en-US" sz="700" dirty="0">
                  <a:latin typeface="+mn-ea"/>
                </a:rPr>
                <a:t>경영상태</a:t>
              </a:r>
              <a:endParaRPr lang="en-US" altLang="ko-KR" sz="700" dirty="0">
                <a:latin typeface="+mn-ea"/>
              </a:endParaRPr>
            </a:p>
            <a:p>
              <a:pPr>
                <a:lnSpc>
                  <a:spcPct val="200000"/>
                </a:lnSpc>
              </a:pPr>
              <a:r>
                <a:rPr lang="ko-KR" altLang="en-US" sz="700" dirty="0">
                  <a:latin typeface="+mn-ea"/>
                </a:rPr>
                <a:t>신인도</a:t>
              </a:r>
              <a:endParaRPr lang="en-US" altLang="ko-KR" sz="700" dirty="0">
                <a:latin typeface="+mn-ea"/>
              </a:endParaRPr>
            </a:p>
            <a:p>
              <a:pPr>
                <a:lnSpc>
                  <a:spcPct val="200000"/>
                </a:lnSpc>
              </a:pPr>
              <a:r>
                <a:rPr lang="ko-KR" altLang="en-US" sz="700" dirty="0">
                  <a:latin typeface="+mn-ea"/>
                </a:rPr>
                <a:t>입찰가격</a:t>
              </a:r>
              <a:endParaRPr lang="en-US" altLang="ko-KR" sz="700" dirty="0">
                <a:latin typeface="+mn-ea"/>
              </a:endParaRPr>
            </a:p>
            <a:p>
              <a:pPr>
                <a:lnSpc>
                  <a:spcPct val="200000"/>
                </a:lnSpc>
              </a:pPr>
              <a:r>
                <a:rPr lang="ko-KR" altLang="en-US" sz="700" dirty="0" err="1">
                  <a:latin typeface="+mn-ea"/>
                </a:rPr>
                <a:t>자재인력</a:t>
              </a:r>
              <a:endParaRPr lang="en-US" altLang="ko-KR" sz="700" dirty="0">
                <a:latin typeface="+mn-ea"/>
              </a:endParaRPr>
            </a:p>
            <a:p>
              <a:pPr>
                <a:lnSpc>
                  <a:spcPct val="200000"/>
                </a:lnSpc>
              </a:pPr>
              <a:r>
                <a:rPr lang="ko-KR" altLang="en-US" sz="700" dirty="0">
                  <a:latin typeface="+mn-ea"/>
                </a:rPr>
                <a:t>하도급</a:t>
              </a:r>
              <a:endParaRPr lang="en-US" altLang="ko-KR" sz="700" dirty="0">
                <a:latin typeface="+mn-ea"/>
              </a:endParaRPr>
            </a:p>
            <a:p>
              <a:pPr>
                <a:lnSpc>
                  <a:spcPct val="200000"/>
                </a:lnSpc>
              </a:pPr>
              <a:r>
                <a:rPr lang="ko-KR" altLang="en-US" sz="700" dirty="0" err="1">
                  <a:latin typeface="+mn-ea"/>
                </a:rPr>
                <a:t>시공여부</a:t>
              </a:r>
              <a:endParaRPr lang="en-US" altLang="ko-KR" sz="700" dirty="0">
                <a:latin typeface="+mn-ea"/>
              </a:endParaRPr>
            </a:p>
            <a:p>
              <a:pPr>
                <a:lnSpc>
                  <a:spcPct val="200000"/>
                </a:lnSpc>
              </a:pPr>
              <a:r>
                <a:rPr lang="ko-KR" altLang="en-US" sz="700" dirty="0" err="1">
                  <a:latin typeface="+mn-ea"/>
                </a:rPr>
                <a:t>점수총계</a:t>
              </a:r>
              <a:endParaRPr lang="en-US" altLang="ko-KR" sz="700" dirty="0">
                <a:latin typeface="+mn-ea"/>
              </a:endParaRPr>
            </a:p>
            <a:p>
              <a:pPr>
                <a:lnSpc>
                  <a:spcPct val="200000"/>
                </a:lnSpc>
              </a:pPr>
              <a:r>
                <a:rPr lang="ko-KR" altLang="en-US" sz="700" dirty="0">
                  <a:latin typeface="+mn-ea"/>
                </a:rPr>
                <a:t>판정결과</a:t>
              </a:r>
              <a:endParaRPr lang="en-US" altLang="ko-KR" sz="700" dirty="0">
                <a:latin typeface="+mn-ea"/>
              </a:endParaRP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75839" cy="2154436"/>
            </a:xfrm>
            <a:prstGeom prst="rect">
              <a:avLst/>
            </a:prstGeom>
            <a:noFill/>
          </p:spPr>
          <p:txBody>
            <a:bodyPr wrap="square" lIns="0" tIns="0" rIns="0" bIns="0" rtlCol="0">
              <a:spAutoFit/>
            </a:bodyPr>
            <a:lstStyle/>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0000 0000</a:t>
              </a:r>
            </a:p>
            <a:p>
              <a:pPr>
                <a:lnSpc>
                  <a:spcPct val="200000"/>
                </a:lnSpc>
              </a:pPr>
              <a:r>
                <a:rPr lang="en-US" altLang="ko-KR" sz="700" dirty="0">
                  <a:latin typeface="+mn-ea"/>
                </a:rPr>
                <a:t>0000</a:t>
              </a:r>
            </a:p>
            <a:p>
              <a:pPr algn="r">
                <a:lnSpc>
                  <a:spcPct val="200000"/>
                </a:lnSpc>
              </a:pPr>
              <a:r>
                <a:rPr lang="en-US" altLang="ko-KR" sz="700" dirty="0">
                  <a:latin typeface="+mn-ea"/>
                </a:rPr>
                <a:t>9,800,000.00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gn="r">
                <a:lnSpc>
                  <a:spcPct val="200000"/>
                </a:lnSpc>
              </a:pPr>
              <a:r>
                <a:rPr lang="en-US" altLang="ko-KR" sz="700" dirty="0">
                  <a:latin typeface="+mn-ea"/>
                </a:rPr>
                <a:t>00.00 </a:t>
              </a:r>
              <a:r>
                <a:rPr lang="ko-KR" altLang="en-US" sz="700" dirty="0">
                  <a:latin typeface="+mn-ea"/>
                </a:rPr>
                <a:t>점</a:t>
              </a:r>
              <a:endParaRPr lang="en-US" altLang="ko-KR" sz="700" dirty="0">
                <a:latin typeface="+mn-ea"/>
              </a:endParaRPr>
            </a:p>
            <a:p>
              <a:pPr>
                <a:lnSpc>
                  <a:spcPct val="200000"/>
                </a:lnSpc>
              </a:pPr>
              <a:r>
                <a:rPr lang="en-US" altLang="ko-KR" sz="700" dirty="0">
                  <a:latin typeface="+mn-ea"/>
                </a:rPr>
                <a:t>00</a:t>
              </a:r>
            </a:p>
          </p:txBody>
        </p:sp>
        <p:grpSp>
          <p:nvGrpSpPr>
            <p:cNvPr id="95" name="그룹 94"/>
            <p:cNvGrpSpPr/>
            <p:nvPr/>
          </p:nvGrpSpPr>
          <p:grpSpPr>
            <a:xfrm>
              <a:off x="701175" y="1835481"/>
              <a:ext cx="2670082" cy="2137801"/>
              <a:chOff x="701175" y="1835481"/>
              <a:chExt cx="2670082" cy="2137801"/>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43257"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 name="직선 연결선 32">
                <a:extLst>
                  <a:ext uri="{FF2B5EF4-FFF2-40B4-BE49-F238E27FC236}">
                    <a16:creationId xmlns:a16="http://schemas.microsoft.com/office/drawing/2014/main" id="{E9293055-D5CD-4B9E-7F64-64B2D2CA7A52}"/>
                  </a:ext>
                </a:extLst>
              </p:cNvPr>
              <p:cNvCxnSpPr/>
              <p:nvPr/>
            </p:nvCxnSpPr>
            <p:spPr>
              <a:xfrm>
                <a:off x="703268" y="35438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 name="직선 연결선 33">
                <a:extLst>
                  <a:ext uri="{FF2B5EF4-FFF2-40B4-BE49-F238E27FC236}">
                    <a16:creationId xmlns:a16="http://schemas.microsoft.com/office/drawing/2014/main" id="{E9293055-D5CD-4B9E-7F64-64B2D2CA7A52}"/>
                  </a:ext>
                </a:extLst>
              </p:cNvPr>
              <p:cNvCxnSpPr/>
              <p:nvPr/>
            </p:nvCxnSpPr>
            <p:spPr>
              <a:xfrm>
                <a:off x="701175" y="375854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 name="직선 연결선 34">
                <a:extLst>
                  <a:ext uri="{FF2B5EF4-FFF2-40B4-BE49-F238E27FC236}">
                    <a16:creationId xmlns:a16="http://schemas.microsoft.com/office/drawing/2014/main" id="{E9293055-D5CD-4B9E-7F64-64B2D2CA7A52}"/>
                  </a:ext>
                </a:extLst>
              </p:cNvPr>
              <p:cNvCxnSpPr/>
              <p:nvPr/>
            </p:nvCxnSpPr>
            <p:spPr>
              <a:xfrm>
                <a:off x="703268" y="39732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8" name="직선 연결선 117">
            <a:extLst>
              <a:ext uri="{FF2B5EF4-FFF2-40B4-BE49-F238E27FC236}">
                <a16:creationId xmlns:a16="http://schemas.microsoft.com/office/drawing/2014/main" id="{E9293055-D5CD-4B9E-7F64-64B2D2CA7A52}"/>
              </a:ext>
            </a:extLst>
          </p:cNvPr>
          <p:cNvCxnSpPr/>
          <p:nvPr/>
        </p:nvCxnSpPr>
        <p:spPr>
          <a:xfrm>
            <a:off x="675399" y="409535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92906544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259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133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시공경험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시공경험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기술능력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신인도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입찰가격</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자재인력</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자재인력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r h="0">
                <a:tc>
                  <a:txBody>
                    <a:bodyPr/>
                    <a:lstStyle/>
                    <a:p>
                      <a:pPr latinLnBrk="1"/>
                      <a:r>
                        <a:rPr lang="ko-KR" altLang="en-US" sz="800" dirty="0">
                          <a:latin typeface="+mn-ea"/>
                          <a:ea typeface="+mn-ea"/>
                        </a:rPr>
                        <a:t>하도급</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하도급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2990251"/>
                  </a:ext>
                </a:extLst>
              </a:tr>
              <a:tr h="0">
                <a:tc>
                  <a:txBody>
                    <a:bodyPr/>
                    <a:lstStyle/>
                    <a:p>
                      <a:pPr latinLnBrk="1"/>
                      <a:r>
                        <a:rPr lang="ko-KR" altLang="en-US" sz="800" dirty="0">
                          <a:latin typeface="+mn-ea"/>
                          <a:ea typeface="+mn-ea"/>
                        </a:rPr>
                        <a:t>시공여부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시공여부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점수총계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점수총계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판정결과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판정결과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5698955"/>
                  </a:ext>
                </a:extLst>
              </a:tr>
            </a:tbl>
          </a:graphicData>
        </a:graphic>
      </p:graphicFrame>
      <p:sp>
        <p:nvSpPr>
          <p:cNvPr id="5" name="TextBox 4">
            <a:extLst>
              <a:ext uri="{FF2B5EF4-FFF2-40B4-BE49-F238E27FC236}">
                <a16:creationId xmlns:a16="http://schemas.microsoft.com/office/drawing/2014/main" id="{A6878851-3560-FF6A-6D77-C18C165B2840}"/>
              </a:ext>
            </a:extLst>
          </p:cNvPr>
          <p:cNvSpPr txBox="1"/>
          <p:nvPr/>
        </p:nvSpPr>
        <p:spPr>
          <a:xfrm>
            <a:off x="457408" y="3352117"/>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5A68445E-A3F2-23D6-4E24-C6809118F464}"/>
              </a:ext>
            </a:extLst>
          </p:cNvPr>
          <p:cNvGraphicFramePr>
            <a:graphicFrameLocks noGrp="1"/>
          </p:cNvGraphicFramePr>
          <p:nvPr/>
        </p:nvGraphicFramePr>
        <p:xfrm>
          <a:off x="452291" y="3618175"/>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목록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scwin.btn_list_onclick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개찰목록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(UI-BD-08-M01)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개찰목록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2" name="Text Box 73">
            <a:extLst>
              <a:ext uri="{FF2B5EF4-FFF2-40B4-BE49-F238E27FC236}">
                <a16:creationId xmlns:a16="http://schemas.microsoft.com/office/drawing/2014/main" id="{030308EC-8D41-322E-8F35-41E33A2A232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025089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260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이행</a:t>
            </a:r>
            <a:r>
              <a:rPr lang="en-US" altLang="ko-KR" dirty="0"/>
              <a:t>/</a:t>
            </a:r>
            <a:r>
              <a:rPr lang="ko-KR" altLang="en-US" dirty="0"/>
              <a:t>적격심사결과상세 </a:t>
            </a:r>
            <a:r>
              <a:rPr lang="en-US" altLang="ko-KR" dirty="0"/>
              <a:t>- </a:t>
            </a:r>
            <a:r>
              <a:rPr lang="ko-KR" altLang="en-US" dirty="0"/>
              <a:t>기술용역</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기술용역일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MUI-BD-10-M17</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3" name="그룹 82"/>
          <p:cNvGrpSpPr/>
          <p:nvPr/>
        </p:nvGrpSpPr>
        <p:grpSpPr>
          <a:xfrm>
            <a:off x="701175" y="1527996"/>
            <a:ext cx="2670082" cy="2461921"/>
            <a:chOff x="701175" y="1527996"/>
            <a:chExt cx="2670082" cy="2461921"/>
          </a:xfrm>
        </p:grpSpPr>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2" name="직사각형 91"/>
            <p:cNvSpPr/>
            <p:nvPr/>
          </p:nvSpPr>
          <p:spPr>
            <a:xfrm>
              <a:off x="703268" y="1835480"/>
              <a:ext cx="792000" cy="213264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2154436"/>
            </a:xfrm>
            <a:prstGeom prst="rect">
              <a:avLst/>
            </a:prstGeom>
            <a:noFill/>
          </p:spPr>
          <p:txBody>
            <a:bodyPr wrap="square" lIns="0" tIns="0" rIns="0" bIns="0" rtlCol="0">
              <a:spAutoFit/>
            </a:bodyPr>
            <a:lstStyle/>
            <a:p>
              <a:pPr>
                <a:lnSpc>
                  <a:spcPct val="200000"/>
                </a:lnSpc>
              </a:pPr>
              <a:r>
                <a:rPr lang="ko-KR" altLang="en-US" sz="700" dirty="0">
                  <a:latin typeface="+mn-ea"/>
                </a:rPr>
                <a:t>이행실적</a:t>
              </a:r>
              <a:endParaRPr lang="en-US" altLang="ko-KR" sz="700" dirty="0">
                <a:latin typeface="+mn-ea"/>
              </a:endParaRPr>
            </a:p>
            <a:p>
              <a:pPr>
                <a:lnSpc>
                  <a:spcPct val="200000"/>
                </a:lnSpc>
              </a:pPr>
              <a:r>
                <a:rPr lang="ko-KR" altLang="en-US" sz="700" dirty="0">
                  <a:latin typeface="+mn-ea"/>
                </a:rPr>
                <a:t>기술능력</a:t>
              </a:r>
              <a:endParaRPr lang="en-US" altLang="ko-KR" sz="700" dirty="0">
                <a:latin typeface="+mn-ea"/>
              </a:endParaRPr>
            </a:p>
            <a:p>
              <a:pPr>
                <a:lnSpc>
                  <a:spcPct val="200000"/>
                </a:lnSpc>
              </a:pPr>
              <a:r>
                <a:rPr lang="ko-KR" altLang="en-US" sz="700" dirty="0">
                  <a:latin typeface="+mn-ea"/>
                </a:rPr>
                <a:t>수행능력</a:t>
              </a:r>
              <a:endParaRPr lang="en-US" altLang="ko-KR" sz="700" dirty="0">
                <a:latin typeface="+mn-ea"/>
              </a:endParaRPr>
            </a:p>
            <a:p>
              <a:pPr>
                <a:lnSpc>
                  <a:spcPct val="200000"/>
                </a:lnSpc>
              </a:pPr>
              <a:r>
                <a:rPr lang="ko-KR" altLang="en-US" sz="700" dirty="0">
                  <a:latin typeface="+mn-ea"/>
                </a:rPr>
                <a:t>경영상태</a:t>
              </a:r>
              <a:endParaRPr lang="en-US" altLang="ko-KR" sz="700" dirty="0">
                <a:latin typeface="+mn-ea"/>
              </a:endParaRPr>
            </a:p>
            <a:p>
              <a:pPr>
                <a:lnSpc>
                  <a:spcPct val="200000"/>
                </a:lnSpc>
              </a:pPr>
              <a:r>
                <a:rPr lang="ko-KR" altLang="en-US" sz="700" dirty="0">
                  <a:latin typeface="+mn-ea"/>
                </a:rPr>
                <a:t>신인도</a:t>
              </a:r>
              <a:endParaRPr lang="en-US" altLang="ko-KR" sz="700" dirty="0">
                <a:latin typeface="+mn-ea"/>
              </a:endParaRPr>
            </a:p>
            <a:p>
              <a:pPr>
                <a:lnSpc>
                  <a:spcPct val="200000"/>
                </a:lnSpc>
              </a:pPr>
              <a:r>
                <a:rPr lang="ko-KR" altLang="en-US" sz="700" dirty="0">
                  <a:latin typeface="+mn-ea"/>
                </a:rPr>
                <a:t>소계</a:t>
              </a:r>
              <a:endParaRPr lang="en-US" altLang="ko-KR" sz="700" dirty="0">
                <a:latin typeface="+mn-ea"/>
              </a:endParaRPr>
            </a:p>
            <a:p>
              <a:pPr>
                <a:lnSpc>
                  <a:spcPct val="200000"/>
                </a:lnSpc>
              </a:pPr>
              <a:r>
                <a:rPr lang="ko-KR" altLang="en-US" sz="700" dirty="0">
                  <a:latin typeface="+mn-ea"/>
                </a:rPr>
                <a:t>입찰가격</a:t>
              </a:r>
              <a:endParaRPr lang="en-US" altLang="ko-KR" sz="700" dirty="0">
                <a:latin typeface="+mn-ea"/>
              </a:endParaRPr>
            </a:p>
            <a:p>
              <a:pPr>
                <a:lnSpc>
                  <a:spcPct val="200000"/>
                </a:lnSpc>
              </a:pPr>
              <a:r>
                <a:rPr lang="ko-KR" altLang="en-US" sz="700" dirty="0" err="1">
                  <a:latin typeface="+mn-ea"/>
                </a:rPr>
                <a:t>결격여부</a:t>
              </a:r>
              <a:endParaRPr lang="en-US" altLang="ko-KR" sz="700" dirty="0">
                <a:latin typeface="+mn-ea"/>
              </a:endParaRPr>
            </a:p>
            <a:p>
              <a:pPr>
                <a:lnSpc>
                  <a:spcPct val="200000"/>
                </a:lnSpc>
              </a:pPr>
              <a:r>
                <a:rPr lang="ko-KR" altLang="en-US" sz="700" dirty="0" err="1">
                  <a:latin typeface="+mn-ea"/>
                </a:rPr>
                <a:t>점수총계</a:t>
              </a:r>
              <a:endParaRPr lang="en-US" altLang="ko-KR" sz="700" dirty="0">
                <a:latin typeface="+mn-ea"/>
              </a:endParaRPr>
            </a:p>
            <a:p>
              <a:pPr>
                <a:lnSpc>
                  <a:spcPct val="200000"/>
                </a:lnSpc>
              </a:pPr>
              <a:r>
                <a:rPr lang="ko-KR" altLang="en-US" sz="700" dirty="0">
                  <a:latin typeface="+mn-ea"/>
                </a:rPr>
                <a:t>판정결과</a:t>
              </a:r>
              <a:endParaRPr lang="en-US" altLang="ko-KR" sz="700" dirty="0">
                <a:latin typeface="+mn-ea"/>
              </a:endParaRP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75839" cy="2154436"/>
            </a:xfrm>
            <a:prstGeom prst="rect">
              <a:avLst/>
            </a:prstGeom>
            <a:noFill/>
          </p:spPr>
          <p:txBody>
            <a:bodyPr wrap="square" lIns="0" tIns="0" rIns="0" bIns="0" rtlCol="0">
              <a:spAutoFit/>
            </a:bodyPr>
            <a:lstStyle/>
            <a:p>
              <a:pPr>
                <a:lnSpc>
                  <a:spcPct val="200000"/>
                </a:lnSpc>
              </a:pPr>
              <a:r>
                <a:rPr lang="en-US" altLang="ko-KR" sz="700" dirty="0">
                  <a:latin typeface="+mn-ea"/>
                </a:rPr>
                <a:t>00</a:t>
              </a:r>
            </a:p>
            <a:p>
              <a:pPr>
                <a:lnSpc>
                  <a:spcPct val="200000"/>
                </a:lnSpc>
              </a:pPr>
              <a:r>
                <a:rPr lang="en-US" altLang="ko-KR" sz="700" dirty="0">
                  <a:latin typeface="+mn-ea"/>
                </a:rPr>
                <a:t>000</a:t>
              </a:r>
            </a:p>
            <a:p>
              <a:pPr>
                <a:lnSpc>
                  <a:spcPct val="200000"/>
                </a:lnSpc>
              </a:pPr>
              <a:r>
                <a:rPr lang="en-US" altLang="ko-KR" sz="700" dirty="0">
                  <a:latin typeface="+mn-ea"/>
                </a:rPr>
                <a:t>0000 0000</a:t>
              </a:r>
            </a:p>
            <a:p>
              <a:pPr>
                <a:lnSpc>
                  <a:spcPct val="200000"/>
                </a:lnSpc>
              </a:pPr>
              <a:r>
                <a:rPr lang="en-US" altLang="ko-KR" sz="700" dirty="0">
                  <a:latin typeface="+mn-ea"/>
                </a:rPr>
                <a:t>0000</a:t>
              </a:r>
            </a:p>
            <a:p>
              <a:pPr>
                <a:lnSpc>
                  <a:spcPct val="200000"/>
                </a:lnSpc>
              </a:pPr>
              <a:r>
                <a:rPr lang="en-US" altLang="ko-KR" sz="700" dirty="0">
                  <a:latin typeface="+mn-ea"/>
                </a:rPr>
                <a:t>0000 0000 0000</a:t>
              </a:r>
            </a:p>
            <a:p>
              <a:pPr>
                <a:lnSpc>
                  <a:spcPct val="200000"/>
                </a:lnSpc>
              </a:pPr>
              <a:r>
                <a:rPr lang="en-US" altLang="ko-KR" sz="700" dirty="0">
                  <a:latin typeface="+mn-ea"/>
                </a:rPr>
                <a:t>0000 0000 0000</a:t>
              </a:r>
            </a:p>
            <a:p>
              <a:pPr algn="r">
                <a:lnSpc>
                  <a:spcPct val="200000"/>
                </a:lnSpc>
              </a:pPr>
              <a:r>
                <a:rPr lang="en-US" altLang="ko-KR" sz="700" dirty="0">
                  <a:latin typeface="+mn-ea"/>
                </a:rPr>
                <a:t>9,800,000.00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0000 0000 0000</a:t>
              </a:r>
            </a:p>
            <a:p>
              <a:pPr algn="r">
                <a:lnSpc>
                  <a:spcPct val="200000"/>
                </a:lnSpc>
              </a:pPr>
              <a:r>
                <a:rPr lang="en-US" altLang="ko-KR" sz="700" dirty="0">
                  <a:latin typeface="+mn-ea"/>
                </a:rPr>
                <a:t>00.00 </a:t>
              </a:r>
              <a:r>
                <a:rPr lang="ko-KR" altLang="en-US" sz="700" dirty="0">
                  <a:latin typeface="+mn-ea"/>
                </a:rPr>
                <a:t>점</a:t>
              </a:r>
              <a:endParaRPr lang="en-US" altLang="ko-KR" sz="700" dirty="0">
                <a:latin typeface="+mn-ea"/>
              </a:endParaRPr>
            </a:p>
            <a:p>
              <a:pPr>
                <a:lnSpc>
                  <a:spcPct val="200000"/>
                </a:lnSpc>
              </a:pPr>
              <a:r>
                <a:rPr lang="en-US" altLang="ko-KR" sz="700" dirty="0">
                  <a:latin typeface="+mn-ea"/>
                </a:rPr>
                <a:t>00</a:t>
              </a:r>
            </a:p>
          </p:txBody>
        </p:sp>
        <p:grpSp>
          <p:nvGrpSpPr>
            <p:cNvPr id="95" name="그룹 94"/>
            <p:cNvGrpSpPr/>
            <p:nvPr/>
          </p:nvGrpSpPr>
          <p:grpSpPr>
            <a:xfrm>
              <a:off x="701175" y="1835481"/>
              <a:ext cx="2670082" cy="2137801"/>
              <a:chOff x="701175" y="1835481"/>
              <a:chExt cx="2670082" cy="2137801"/>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43257"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3" name="직선 연결선 32">
                <a:extLst>
                  <a:ext uri="{FF2B5EF4-FFF2-40B4-BE49-F238E27FC236}">
                    <a16:creationId xmlns:a16="http://schemas.microsoft.com/office/drawing/2014/main" id="{E9293055-D5CD-4B9E-7F64-64B2D2CA7A52}"/>
                  </a:ext>
                </a:extLst>
              </p:cNvPr>
              <p:cNvCxnSpPr/>
              <p:nvPr/>
            </p:nvCxnSpPr>
            <p:spPr>
              <a:xfrm>
                <a:off x="703268" y="354380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4" name="직선 연결선 33">
                <a:extLst>
                  <a:ext uri="{FF2B5EF4-FFF2-40B4-BE49-F238E27FC236}">
                    <a16:creationId xmlns:a16="http://schemas.microsoft.com/office/drawing/2014/main" id="{E9293055-D5CD-4B9E-7F64-64B2D2CA7A52}"/>
                  </a:ext>
                </a:extLst>
              </p:cNvPr>
              <p:cNvCxnSpPr/>
              <p:nvPr/>
            </p:nvCxnSpPr>
            <p:spPr>
              <a:xfrm>
                <a:off x="701175" y="375854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5" name="직선 연결선 34">
                <a:extLst>
                  <a:ext uri="{FF2B5EF4-FFF2-40B4-BE49-F238E27FC236}">
                    <a16:creationId xmlns:a16="http://schemas.microsoft.com/office/drawing/2014/main" id="{E9293055-D5CD-4B9E-7F64-64B2D2CA7A52}"/>
                  </a:ext>
                </a:extLst>
              </p:cNvPr>
              <p:cNvCxnSpPr/>
              <p:nvPr/>
            </p:nvCxnSpPr>
            <p:spPr>
              <a:xfrm>
                <a:off x="703268" y="39732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18" name="직선 연결선 117">
            <a:extLst>
              <a:ext uri="{FF2B5EF4-FFF2-40B4-BE49-F238E27FC236}">
                <a16:creationId xmlns:a16="http://schemas.microsoft.com/office/drawing/2014/main" id="{E9293055-D5CD-4B9E-7F64-64B2D2CA7A52}"/>
              </a:ext>
            </a:extLst>
          </p:cNvPr>
          <p:cNvCxnSpPr/>
          <p:nvPr/>
        </p:nvCxnSpPr>
        <p:spPr>
          <a:xfrm>
            <a:off x="675399" y="409535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57694530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261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1331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이행실적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기술능력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수행능력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수행능력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srngScr4</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경영상태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신인도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신인도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소계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srngScr6</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소계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r h="0">
                <a:tc>
                  <a:txBody>
                    <a:bodyPr/>
                    <a:lstStyle/>
                    <a:p>
                      <a:pPr latinLnBrk="1"/>
                      <a:r>
                        <a:rPr lang="ko-KR" altLang="en-US" sz="800" dirty="0">
                          <a:latin typeface="+mn-ea"/>
                          <a:ea typeface="+mn-ea"/>
                        </a:rPr>
                        <a:t>입찰가격</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2990251"/>
                  </a:ext>
                </a:extLst>
              </a:tr>
              <a:tr h="0">
                <a:tc>
                  <a:txBody>
                    <a:bodyPr/>
                    <a:lstStyle/>
                    <a:p>
                      <a:pPr latinLnBrk="1"/>
                      <a:r>
                        <a:rPr lang="ko-KR" altLang="en-US" sz="800" dirty="0">
                          <a:latin typeface="+mn-ea"/>
                          <a:ea typeface="+mn-ea"/>
                        </a:rPr>
                        <a:t>결격여부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srngScr8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결격여부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0835031"/>
                  </a:ext>
                </a:extLst>
              </a:tr>
              <a:tr h="0">
                <a:tc>
                  <a:txBody>
                    <a:bodyPr/>
                    <a:lstStyle/>
                    <a:p>
                      <a:pPr latinLnBrk="1"/>
                      <a:r>
                        <a:rPr lang="ko-KR" altLang="en-US" sz="800" dirty="0">
                          <a:latin typeface="+mn-ea"/>
                          <a:ea typeface="+mn-ea"/>
                        </a:rPr>
                        <a:t>점수총계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점수총계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6742528"/>
                  </a:ext>
                </a:extLst>
              </a:tr>
              <a:tr h="0">
                <a:tc>
                  <a:txBody>
                    <a:bodyPr/>
                    <a:lstStyle/>
                    <a:p>
                      <a:pPr latinLnBrk="1"/>
                      <a:r>
                        <a:rPr lang="ko-KR" altLang="en-US" sz="800" dirty="0">
                          <a:latin typeface="+mn-ea"/>
                          <a:ea typeface="+mn-ea"/>
                        </a:rPr>
                        <a:t>판정결과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jgmtRsltCd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판정결과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75698955"/>
                  </a:ext>
                </a:extLst>
              </a:tr>
            </a:tbl>
          </a:graphicData>
        </a:graphic>
      </p:graphicFrame>
      <p:sp>
        <p:nvSpPr>
          <p:cNvPr id="5" name="TextBox 4">
            <a:extLst>
              <a:ext uri="{FF2B5EF4-FFF2-40B4-BE49-F238E27FC236}">
                <a16:creationId xmlns:a16="http://schemas.microsoft.com/office/drawing/2014/main" id="{A6878851-3560-FF6A-6D77-C18C165B2840}"/>
              </a:ext>
            </a:extLst>
          </p:cNvPr>
          <p:cNvSpPr txBox="1"/>
          <p:nvPr/>
        </p:nvSpPr>
        <p:spPr>
          <a:xfrm>
            <a:off x="457408" y="3352117"/>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5A68445E-A3F2-23D6-4E24-C6809118F464}"/>
              </a:ext>
            </a:extLst>
          </p:cNvPr>
          <p:cNvGraphicFramePr>
            <a:graphicFrameLocks noGrp="1"/>
          </p:cNvGraphicFramePr>
          <p:nvPr/>
        </p:nvGraphicFramePr>
        <p:xfrm>
          <a:off x="452291" y="3618175"/>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목록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scwin.btn_list_onclick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개찰목록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t>(UI-BD-08-M01) </a:t>
                      </a:r>
                      <a:r>
                        <a:rPr kumimoji="0" lang="ko-KR" altLang="en-US" sz="800" b="0" i="0" u="none" strike="noStrike" kern="1200" cap="none" spc="0" normalizeH="0" baseline="0" noProof="0" dirty="0">
                          <a:ln>
                            <a:noFill/>
                          </a:ln>
                          <a:solidFill>
                            <a:prstClr val="black"/>
                          </a:solidFill>
                          <a:effectLst/>
                          <a:uLnTx/>
                          <a:uFillTx/>
                          <a:latin typeface="+mn-lt"/>
                          <a:ea typeface="+mn-ea"/>
                          <a:cs typeface="+mn-cs"/>
                        </a:rPr>
                        <a:t>개찰목록</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2" name="Text Box 73">
            <a:extLst>
              <a:ext uri="{FF2B5EF4-FFF2-40B4-BE49-F238E27FC236}">
                <a16:creationId xmlns:a16="http://schemas.microsoft.com/office/drawing/2014/main" id="{7DAF7B6B-8D5F-A006-EA56-86FF87B491D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6415219"/>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직사각형 6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262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- 3</a:t>
            </a:r>
            <a:r>
              <a:rPr lang="ko-KR" altLang="en-US" dirty="0"/>
              <a:t>억원미만공사</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3</a:t>
            </a:r>
            <a:r>
              <a:rPr lang="ko-KR" altLang="en-US" dirty="0"/>
              <a:t>억원미만공사일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1" name="TextBox 30">
            <a:extLst>
              <a:ext uri="{FF2B5EF4-FFF2-40B4-BE49-F238E27FC236}">
                <a16:creationId xmlns:a16="http://schemas.microsoft.com/office/drawing/2014/main" id="{FFC49AEA-2A8F-250C-A86A-A7751D9706C3}"/>
              </a:ext>
            </a:extLst>
          </p:cNvPr>
          <p:cNvSpPr txBox="1"/>
          <p:nvPr/>
        </p:nvSpPr>
        <p:spPr>
          <a:xfrm>
            <a:off x="762145" y="3443819"/>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경영상태</a:t>
            </a:r>
            <a:endParaRPr lang="en-US" altLang="ko-KR" sz="700" dirty="0">
              <a:latin typeface="+mn-ea"/>
            </a:endParaRPr>
          </a:p>
        </p:txBody>
      </p:sp>
      <p:grpSp>
        <p:nvGrpSpPr>
          <p:cNvPr id="32" name="그룹 31"/>
          <p:cNvGrpSpPr/>
          <p:nvPr/>
        </p:nvGrpSpPr>
        <p:grpSpPr>
          <a:xfrm flipV="1">
            <a:off x="3124232" y="3557150"/>
            <a:ext cx="94010" cy="47005"/>
            <a:chOff x="6812560" y="3297172"/>
            <a:chExt cx="94010" cy="47005"/>
          </a:xfrm>
        </p:grpSpPr>
        <p:cxnSp>
          <p:nvCxnSpPr>
            <p:cNvPr id="36" name="직선 연결선 3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7" name="직선 연결선 3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38" name="직선 연결선 37">
            <a:extLst>
              <a:ext uri="{FF2B5EF4-FFF2-40B4-BE49-F238E27FC236}">
                <a16:creationId xmlns:a16="http://schemas.microsoft.com/office/drawing/2014/main" id="{E9293055-D5CD-4B9E-7F64-64B2D2CA7A52}"/>
              </a:ext>
            </a:extLst>
          </p:cNvPr>
          <p:cNvCxnSpPr/>
          <p:nvPr/>
        </p:nvCxnSpPr>
        <p:spPr>
          <a:xfrm>
            <a:off x="675398" y="373062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716366" y="1896436"/>
            <a:ext cx="2630093" cy="1447916"/>
            <a:chOff x="3830405" y="2555584"/>
            <a:chExt cx="2630093" cy="1447916"/>
          </a:xfrm>
        </p:grpSpPr>
        <p:sp>
          <p:nvSpPr>
            <p:cNvPr id="39" name="직사각형 38"/>
            <p:cNvSpPr/>
            <p:nvPr/>
          </p:nvSpPr>
          <p:spPr>
            <a:xfrm>
              <a:off x="3832497" y="2555584"/>
              <a:ext cx="1639886" cy="14479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FFC49AEA-2A8F-250C-A86A-A7751D9706C3}"/>
                </a:ext>
              </a:extLst>
            </p:cNvPr>
            <p:cNvSpPr txBox="1"/>
            <p:nvPr/>
          </p:nvSpPr>
          <p:spPr>
            <a:xfrm>
              <a:off x="3919560" y="2555585"/>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항목</a:t>
              </a:r>
              <a:endParaRPr lang="en-US" altLang="ko-KR" sz="700" dirty="0">
                <a:latin typeface="+mn-ea"/>
              </a:endParaRPr>
            </a:p>
          </p:txBody>
        </p:sp>
        <p:sp>
          <p:nvSpPr>
            <p:cNvPr id="41" name="TextBox 40">
              <a:extLst>
                <a:ext uri="{FF2B5EF4-FFF2-40B4-BE49-F238E27FC236}">
                  <a16:creationId xmlns:a16="http://schemas.microsoft.com/office/drawing/2014/main" id="{FFC49AEA-2A8F-250C-A86A-A7751D9706C3}"/>
                </a:ext>
              </a:extLst>
            </p:cNvPr>
            <p:cNvSpPr txBox="1"/>
            <p:nvPr/>
          </p:nvSpPr>
          <p:spPr>
            <a:xfrm>
              <a:off x="5647602"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42" name="직선 연결선 41">
              <a:extLst>
                <a:ext uri="{FF2B5EF4-FFF2-40B4-BE49-F238E27FC236}">
                  <a16:creationId xmlns:a16="http://schemas.microsoft.com/office/drawing/2014/main" id="{E9293055-D5CD-4B9E-7F64-64B2D2CA7A52}"/>
                </a:ext>
              </a:extLst>
            </p:cNvPr>
            <p:cNvCxnSpPr/>
            <p:nvPr/>
          </p:nvCxnSpPr>
          <p:spPr>
            <a:xfrm>
              <a:off x="3830405" y="25555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3" name="직선 연결선 42">
              <a:extLst>
                <a:ext uri="{FF2B5EF4-FFF2-40B4-BE49-F238E27FC236}">
                  <a16:creationId xmlns:a16="http://schemas.microsoft.com/office/drawing/2014/main" id="{E9293055-D5CD-4B9E-7F64-64B2D2CA7A52}"/>
                </a:ext>
              </a:extLst>
            </p:cNvPr>
            <p:cNvCxnSpPr/>
            <p:nvPr/>
          </p:nvCxnSpPr>
          <p:spPr>
            <a:xfrm>
              <a:off x="3832498" y="27703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4" name="직선 연결선 43">
              <a:extLst>
                <a:ext uri="{FF2B5EF4-FFF2-40B4-BE49-F238E27FC236}">
                  <a16:creationId xmlns:a16="http://schemas.microsoft.com/office/drawing/2014/main" id="{E9293055-D5CD-4B9E-7F64-64B2D2CA7A52}"/>
                </a:ext>
              </a:extLst>
            </p:cNvPr>
            <p:cNvCxnSpPr/>
            <p:nvPr/>
          </p:nvCxnSpPr>
          <p:spPr>
            <a:xfrm>
              <a:off x="3832498" y="333805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7" name="TextBox 46">
              <a:extLst>
                <a:ext uri="{FF2B5EF4-FFF2-40B4-BE49-F238E27FC236}">
                  <a16:creationId xmlns:a16="http://schemas.microsoft.com/office/drawing/2014/main" id="{FFC49AEA-2A8F-250C-A86A-A7751D9706C3}"/>
                </a:ext>
              </a:extLst>
            </p:cNvPr>
            <p:cNvSpPr txBox="1"/>
            <p:nvPr/>
          </p:nvSpPr>
          <p:spPr>
            <a:xfrm>
              <a:off x="6247509"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sp>
          <p:nvSpPr>
            <p:cNvPr id="48" name="TextBox 47">
              <a:extLst>
                <a:ext uri="{FF2B5EF4-FFF2-40B4-BE49-F238E27FC236}">
                  <a16:creationId xmlns:a16="http://schemas.microsoft.com/office/drawing/2014/main" id="{FFC49AEA-2A8F-250C-A86A-A7751D9706C3}"/>
                </a:ext>
              </a:extLst>
            </p:cNvPr>
            <p:cNvSpPr txBox="1"/>
            <p:nvPr/>
          </p:nvSpPr>
          <p:spPr>
            <a:xfrm>
              <a:off x="3919560" y="2845534"/>
              <a:ext cx="1480199" cy="430887"/>
            </a:xfrm>
            <a:prstGeom prst="rect">
              <a:avLst/>
            </a:prstGeom>
            <a:noFill/>
          </p:spPr>
          <p:txBody>
            <a:bodyPr wrap="square" lIns="0" tIns="0" rIns="0" bIns="0" rtlCol="0">
              <a:spAutoFit/>
            </a:bodyPr>
            <a:lstStyle/>
            <a:p>
              <a:r>
                <a:rPr lang="ko-KR" altLang="en-US" sz="700" dirty="0" err="1">
                  <a:latin typeface="+mn-ea"/>
                </a:rPr>
                <a:t>당해공사</a:t>
              </a:r>
              <a:r>
                <a:rPr lang="ko-KR" altLang="en-US" sz="700" dirty="0">
                  <a:latin typeface="+mn-ea"/>
                </a:rPr>
                <a:t> 수행능력</a:t>
              </a:r>
              <a:endParaRPr lang="en-US" altLang="ko-KR" sz="700" dirty="0">
                <a:latin typeface="+mn-ea"/>
              </a:endParaRPr>
            </a:p>
            <a:p>
              <a:r>
                <a:rPr lang="en-US" altLang="ko-KR" sz="700" dirty="0">
                  <a:latin typeface="+mn-ea"/>
                </a:rPr>
                <a:t>- </a:t>
              </a:r>
              <a:r>
                <a:rPr lang="ko-KR" altLang="en-US" sz="700" dirty="0">
                  <a:latin typeface="+mn-ea"/>
                </a:rPr>
                <a:t>경영상태</a:t>
              </a:r>
              <a:endParaRPr lang="en-US" altLang="ko-KR" sz="700" dirty="0">
                <a:latin typeface="+mn-ea"/>
              </a:endParaRPr>
            </a:p>
            <a:p>
              <a:r>
                <a:rPr lang="en-US" altLang="ko-KR" sz="700" dirty="0">
                  <a:latin typeface="+mn-ea"/>
                </a:rPr>
                <a:t>- </a:t>
              </a:r>
              <a:r>
                <a:rPr lang="ko-KR" altLang="en-US" sz="700" dirty="0" err="1">
                  <a:latin typeface="+mn-ea"/>
                </a:rPr>
                <a:t>특별신인도</a:t>
              </a:r>
              <a:endParaRPr lang="en-US" altLang="ko-KR" sz="700" dirty="0">
                <a:latin typeface="+mn-ea"/>
              </a:endParaRPr>
            </a:p>
            <a:p>
              <a:r>
                <a:rPr lang="en-US" altLang="ko-KR" sz="700" dirty="0">
                  <a:latin typeface="+mn-ea"/>
                </a:rPr>
                <a:t>- </a:t>
              </a:r>
              <a:r>
                <a:rPr lang="ko-KR" altLang="en-US" sz="700" dirty="0">
                  <a:latin typeface="+mn-ea"/>
                </a:rPr>
                <a:t>소계</a:t>
              </a:r>
            </a:p>
          </p:txBody>
        </p:sp>
        <p:sp>
          <p:nvSpPr>
            <p:cNvPr id="49" name="TextBox 48">
              <a:extLst>
                <a:ext uri="{FF2B5EF4-FFF2-40B4-BE49-F238E27FC236}">
                  <a16:creationId xmlns:a16="http://schemas.microsoft.com/office/drawing/2014/main" id="{FFC49AEA-2A8F-250C-A86A-A7751D9706C3}"/>
                </a:ext>
              </a:extLst>
            </p:cNvPr>
            <p:cNvSpPr txBox="1"/>
            <p:nvPr/>
          </p:nvSpPr>
          <p:spPr>
            <a:xfrm>
              <a:off x="5469604" y="2953256"/>
              <a:ext cx="357534" cy="323165"/>
            </a:xfrm>
            <a:prstGeom prst="rect">
              <a:avLst/>
            </a:prstGeom>
            <a:noFill/>
          </p:spPr>
          <p:txBody>
            <a:bodyPr wrap="none" lIns="0" tIns="0" rIns="0" bIns="0" rtlCol="0">
              <a:spAutoFit/>
            </a:bodyPr>
            <a:lstStyle/>
            <a:p>
              <a:pPr algn="r"/>
              <a:r>
                <a:rPr lang="en-US" altLang="ko-KR" sz="700" dirty="0">
                  <a:latin typeface="+mn-ea"/>
                </a:rPr>
                <a:t>10.0</a:t>
              </a:r>
            </a:p>
            <a:p>
              <a:pPr algn="r"/>
              <a:r>
                <a:rPr lang="en-US" altLang="ko-KR" sz="700" dirty="0">
                  <a:latin typeface="+mn-ea"/>
                </a:rPr>
                <a:t>+3 ~ 2.5</a:t>
              </a:r>
            </a:p>
            <a:p>
              <a:pPr algn="r"/>
              <a:r>
                <a:rPr lang="en-US" altLang="ko-KR" sz="700" dirty="0">
                  <a:latin typeface="+mn-ea"/>
                </a:rPr>
                <a:t>10.0</a:t>
              </a:r>
              <a:endParaRPr lang="ko-KR" altLang="en-US" sz="700" dirty="0">
                <a:latin typeface="+mn-ea"/>
              </a:endParaRPr>
            </a:p>
          </p:txBody>
        </p:sp>
        <p:sp>
          <p:nvSpPr>
            <p:cNvPr id="61" name="TextBox 60">
              <a:extLst>
                <a:ext uri="{FF2B5EF4-FFF2-40B4-BE49-F238E27FC236}">
                  <a16:creationId xmlns:a16="http://schemas.microsoft.com/office/drawing/2014/main" id="{FFC49AEA-2A8F-250C-A86A-A7751D9706C3}"/>
                </a:ext>
              </a:extLst>
            </p:cNvPr>
            <p:cNvSpPr txBox="1"/>
            <p:nvPr/>
          </p:nvSpPr>
          <p:spPr>
            <a:xfrm>
              <a:off x="6390176" y="300711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64" name="직선 연결선 63">
              <a:extLst>
                <a:ext uri="{FF2B5EF4-FFF2-40B4-BE49-F238E27FC236}">
                  <a16:creationId xmlns:a16="http://schemas.microsoft.com/office/drawing/2014/main" id="{E9293055-D5CD-4B9E-7F64-64B2D2CA7A52}"/>
                </a:ext>
              </a:extLst>
            </p:cNvPr>
            <p:cNvCxnSpPr/>
            <p:nvPr/>
          </p:nvCxnSpPr>
          <p:spPr>
            <a:xfrm>
              <a:off x="3832498" y="35563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TextBox 64">
              <a:extLst>
                <a:ext uri="{FF2B5EF4-FFF2-40B4-BE49-F238E27FC236}">
                  <a16:creationId xmlns:a16="http://schemas.microsoft.com/office/drawing/2014/main" id="{FFC49AEA-2A8F-250C-A86A-A7751D9706C3}"/>
                </a:ext>
              </a:extLst>
            </p:cNvPr>
            <p:cNvSpPr txBox="1"/>
            <p:nvPr/>
          </p:nvSpPr>
          <p:spPr>
            <a:xfrm>
              <a:off x="3919560" y="3393165"/>
              <a:ext cx="1480199" cy="107722"/>
            </a:xfrm>
            <a:prstGeom prst="rect">
              <a:avLst/>
            </a:prstGeom>
            <a:noFill/>
          </p:spPr>
          <p:txBody>
            <a:bodyPr wrap="square" lIns="0" tIns="0" rIns="0" bIns="0" rtlCol="0">
              <a:spAutoFit/>
            </a:bodyPr>
            <a:lstStyle/>
            <a:p>
              <a:r>
                <a:rPr lang="ko-KR" altLang="en-US" sz="700" dirty="0">
                  <a:latin typeface="+mn-ea"/>
                </a:rPr>
                <a:t>입찰가격</a:t>
              </a:r>
            </a:p>
          </p:txBody>
        </p:sp>
        <p:sp>
          <p:nvSpPr>
            <p:cNvPr id="66" name="TextBox 65">
              <a:extLst>
                <a:ext uri="{FF2B5EF4-FFF2-40B4-BE49-F238E27FC236}">
                  <a16:creationId xmlns:a16="http://schemas.microsoft.com/office/drawing/2014/main" id="{FFC49AEA-2A8F-250C-A86A-A7751D9706C3}"/>
                </a:ext>
              </a:extLst>
            </p:cNvPr>
            <p:cNvSpPr txBox="1"/>
            <p:nvPr/>
          </p:nvSpPr>
          <p:spPr>
            <a:xfrm>
              <a:off x="5658822" y="3393165"/>
              <a:ext cx="168316" cy="107722"/>
            </a:xfrm>
            <a:prstGeom prst="rect">
              <a:avLst/>
            </a:prstGeom>
            <a:noFill/>
          </p:spPr>
          <p:txBody>
            <a:bodyPr wrap="none" lIns="0" tIns="0" rIns="0" bIns="0" rtlCol="0">
              <a:spAutoFit/>
            </a:bodyPr>
            <a:lstStyle/>
            <a:p>
              <a:pPr algn="r"/>
              <a:r>
                <a:rPr lang="en-US" altLang="ko-KR" sz="700" dirty="0">
                  <a:latin typeface="+mn-ea"/>
                </a:rPr>
                <a:t>90.0</a:t>
              </a:r>
              <a:endParaRPr lang="ko-KR" altLang="en-US" sz="700" dirty="0">
                <a:latin typeface="+mn-ea"/>
              </a:endParaRPr>
            </a:p>
          </p:txBody>
        </p:sp>
        <p:sp>
          <p:nvSpPr>
            <p:cNvPr id="67" name="TextBox 66">
              <a:extLst>
                <a:ext uri="{FF2B5EF4-FFF2-40B4-BE49-F238E27FC236}">
                  <a16:creationId xmlns:a16="http://schemas.microsoft.com/office/drawing/2014/main" id="{FFC49AEA-2A8F-250C-A86A-A7751D9706C3}"/>
                </a:ext>
              </a:extLst>
            </p:cNvPr>
            <p:cNvSpPr txBox="1"/>
            <p:nvPr/>
          </p:nvSpPr>
          <p:spPr>
            <a:xfrm>
              <a:off x="6390176" y="339316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3832498" y="3782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9" name="TextBox 68">
              <a:extLst>
                <a:ext uri="{FF2B5EF4-FFF2-40B4-BE49-F238E27FC236}">
                  <a16:creationId xmlns:a16="http://schemas.microsoft.com/office/drawing/2014/main" id="{FFC49AEA-2A8F-250C-A86A-A7751D9706C3}"/>
                </a:ext>
              </a:extLst>
            </p:cNvPr>
            <p:cNvSpPr txBox="1"/>
            <p:nvPr/>
          </p:nvSpPr>
          <p:spPr>
            <a:xfrm>
              <a:off x="3919560" y="3618819"/>
              <a:ext cx="1480199" cy="107722"/>
            </a:xfrm>
            <a:prstGeom prst="rect">
              <a:avLst/>
            </a:prstGeom>
            <a:noFill/>
          </p:spPr>
          <p:txBody>
            <a:bodyPr wrap="square" lIns="0" tIns="0" rIns="0" bIns="0" rtlCol="0">
              <a:spAutoFit/>
            </a:bodyPr>
            <a:lstStyle/>
            <a:p>
              <a:r>
                <a:rPr lang="ko-KR" altLang="en-US" sz="700" dirty="0">
                  <a:latin typeface="+mn-ea"/>
                </a:rPr>
                <a:t>기타결격여부</a:t>
              </a:r>
            </a:p>
          </p:txBody>
        </p:sp>
        <p:sp>
          <p:nvSpPr>
            <p:cNvPr id="70" name="TextBox 69">
              <a:extLst>
                <a:ext uri="{FF2B5EF4-FFF2-40B4-BE49-F238E27FC236}">
                  <a16:creationId xmlns:a16="http://schemas.microsoft.com/office/drawing/2014/main" id="{FFC49AEA-2A8F-250C-A86A-A7751D9706C3}"/>
                </a:ext>
              </a:extLst>
            </p:cNvPr>
            <p:cNvSpPr txBox="1"/>
            <p:nvPr/>
          </p:nvSpPr>
          <p:spPr>
            <a:xfrm>
              <a:off x="5621953" y="3618819"/>
              <a:ext cx="205185" cy="107722"/>
            </a:xfrm>
            <a:prstGeom prst="rect">
              <a:avLst/>
            </a:prstGeom>
            <a:noFill/>
          </p:spPr>
          <p:txBody>
            <a:bodyPr wrap="none" lIns="0" tIns="0" rIns="0" bIns="0" rtlCol="0">
              <a:spAutoFit/>
            </a:bodyPr>
            <a:lstStyle/>
            <a:p>
              <a:pPr algn="r"/>
              <a:r>
                <a:rPr lang="en-US" altLang="ko-KR" sz="700" dirty="0">
                  <a:latin typeface="+mn-ea"/>
                </a:rPr>
                <a:t>-10.0</a:t>
              </a:r>
              <a:endParaRPr lang="ko-KR" altLang="en-US" sz="700" dirty="0">
                <a:latin typeface="+mn-ea"/>
              </a:endParaRPr>
            </a:p>
          </p:txBody>
        </p:sp>
        <p:sp>
          <p:nvSpPr>
            <p:cNvPr id="71" name="TextBox 70">
              <a:extLst>
                <a:ext uri="{FF2B5EF4-FFF2-40B4-BE49-F238E27FC236}">
                  <a16:creationId xmlns:a16="http://schemas.microsoft.com/office/drawing/2014/main" id="{FFC49AEA-2A8F-250C-A86A-A7751D9706C3}"/>
                </a:ext>
              </a:extLst>
            </p:cNvPr>
            <p:cNvSpPr txBox="1"/>
            <p:nvPr/>
          </p:nvSpPr>
          <p:spPr>
            <a:xfrm>
              <a:off x="6390176" y="361881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72" name="직선 연결선 71">
              <a:extLst>
                <a:ext uri="{FF2B5EF4-FFF2-40B4-BE49-F238E27FC236}">
                  <a16:creationId xmlns:a16="http://schemas.microsoft.com/office/drawing/2014/main" id="{E9293055-D5CD-4B9E-7F64-64B2D2CA7A52}"/>
                </a:ext>
              </a:extLst>
            </p:cNvPr>
            <p:cNvCxnSpPr/>
            <p:nvPr/>
          </p:nvCxnSpPr>
          <p:spPr>
            <a:xfrm>
              <a:off x="3832498" y="40035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3" name="TextBox 72">
              <a:extLst>
                <a:ext uri="{FF2B5EF4-FFF2-40B4-BE49-F238E27FC236}">
                  <a16:creationId xmlns:a16="http://schemas.microsoft.com/office/drawing/2014/main" id="{FFC49AEA-2A8F-250C-A86A-A7751D9706C3}"/>
                </a:ext>
              </a:extLst>
            </p:cNvPr>
            <p:cNvSpPr txBox="1"/>
            <p:nvPr/>
          </p:nvSpPr>
          <p:spPr>
            <a:xfrm>
              <a:off x="3919560" y="3840311"/>
              <a:ext cx="1480199" cy="107722"/>
            </a:xfrm>
            <a:prstGeom prst="rect">
              <a:avLst/>
            </a:prstGeom>
            <a:noFill/>
          </p:spPr>
          <p:txBody>
            <a:bodyPr wrap="square" lIns="0" tIns="0" rIns="0" bIns="0" rtlCol="0">
              <a:spAutoFit/>
            </a:bodyPr>
            <a:lstStyle/>
            <a:p>
              <a:r>
                <a:rPr lang="ko-KR" altLang="en-US" sz="700" dirty="0">
                  <a:latin typeface="+mn-ea"/>
                </a:rPr>
                <a:t>총계</a:t>
              </a:r>
            </a:p>
          </p:txBody>
        </p:sp>
        <p:sp>
          <p:nvSpPr>
            <p:cNvPr id="74" name="TextBox 73">
              <a:extLst>
                <a:ext uri="{FF2B5EF4-FFF2-40B4-BE49-F238E27FC236}">
                  <a16:creationId xmlns:a16="http://schemas.microsoft.com/office/drawing/2014/main" id="{FFC49AEA-2A8F-250C-A86A-A7751D9706C3}"/>
                </a:ext>
              </a:extLst>
            </p:cNvPr>
            <p:cNvSpPr txBox="1"/>
            <p:nvPr/>
          </p:nvSpPr>
          <p:spPr>
            <a:xfrm>
              <a:off x="5621953" y="3840311"/>
              <a:ext cx="205185" cy="107722"/>
            </a:xfrm>
            <a:prstGeom prst="rect">
              <a:avLst/>
            </a:prstGeom>
            <a:noFill/>
          </p:spPr>
          <p:txBody>
            <a:bodyPr wrap="none" lIns="0" tIns="0" rIns="0" bIns="0" rtlCol="0">
              <a:spAutoFit/>
            </a:bodyPr>
            <a:lstStyle/>
            <a:p>
              <a:pPr algn="r"/>
              <a:r>
                <a:rPr lang="en-US" altLang="ko-KR" sz="700" dirty="0">
                  <a:latin typeface="+mn-ea"/>
                </a:rPr>
                <a:t>-10.0</a:t>
              </a:r>
              <a:endParaRPr lang="ko-KR" altLang="en-US" sz="700" dirty="0">
                <a:latin typeface="+mn-ea"/>
              </a:endParaRPr>
            </a:p>
          </p:txBody>
        </p:sp>
        <p:sp>
          <p:nvSpPr>
            <p:cNvPr id="75" name="TextBox 74">
              <a:extLst>
                <a:ext uri="{FF2B5EF4-FFF2-40B4-BE49-F238E27FC236}">
                  <a16:creationId xmlns:a16="http://schemas.microsoft.com/office/drawing/2014/main" id="{FFC49AEA-2A8F-250C-A86A-A7751D9706C3}"/>
                </a:ext>
              </a:extLst>
            </p:cNvPr>
            <p:cNvSpPr txBox="1"/>
            <p:nvPr/>
          </p:nvSpPr>
          <p:spPr>
            <a:xfrm>
              <a:off x="6390176" y="384031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grpSp>
        <p:nvGrpSpPr>
          <p:cNvPr id="6" name="그룹 5"/>
          <p:cNvGrpSpPr/>
          <p:nvPr/>
        </p:nvGrpSpPr>
        <p:grpSpPr>
          <a:xfrm>
            <a:off x="675400" y="1835481"/>
            <a:ext cx="2712026" cy="1587137"/>
            <a:chOff x="701175" y="1835481"/>
            <a:chExt cx="2621844" cy="1587137"/>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직선 연결선 75">
              <a:extLst>
                <a:ext uri="{FF2B5EF4-FFF2-40B4-BE49-F238E27FC236}">
                  <a16:creationId xmlns:a16="http://schemas.microsoft.com/office/drawing/2014/main" id="{E9293055-D5CD-4B9E-7F64-64B2D2CA7A52}"/>
                </a:ext>
              </a:extLst>
            </p:cNvPr>
            <p:cNvCxnSpPr/>
            <p:nvPr/>
          </p:nvCxnSpPr>
          <p:spPr>
            <a:xfrm>
              <a:off x="701175" y="342261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78" name="직사각형 77"/>
          <p:cNvSpPr/>
          <p:nvPr/>
        </p:nvSpPr>
        <p:spPr>
          <a:xfrm>
            <a:off x="718458" y="3788406"/>
            <a:ext cx="1040043" cy="2312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9" name="TextBox 78">
            <a:extLst>
              <a:ext uri="{FF2B5EF4-FFF2-40B4-BE49-F238E27FC236}">
                <a16:creationId xmlns:a16="http://schemas.microsoft.com/office/drawing/2014/main" id="{FFC49AEA-2A8F-250C-A86A-A7751D9706C3}"/>
              </a:ext>
            </a:extLst>
          </p:cNvPr>
          <p:cNvSpPr txBox="1"/>
          <p:nvPr/>
        </p:nvSpPr>
        <p:spPr>
          <a:xfrm>
            <a:off x="805521" y="3788408"/>
            <a:ext cx="948599" cy="215444"/>
          </a:xfrm>
          <a:prstGeom prst="rect">
            <a:avLst/>
          </a:prstGeom>
          <a:noFill/>
        </p:spPr>
        <p:txBody>
          <a:bodyPr wrap="square" lIns="0" tIns="0" rIns="0" bIns="0" rtlCol="0">
            <a:spAutoFit/>
          </a:bodyPr>
          <a:lstStyle/>
          <a:p>
            <a:pPr>
              <a:lnSpc>
                <a:spcPct val="200000"/>
              </a:lnSpc>
            </a:pPr>
            <a:r>
              <a:rPr lang="ko-KR" altLang="en-US" sz="700" dirty="0">
                <a:latin typeface="+mn-ea"/>
              </a:rPr>
              <a:t>평가항목</a:t>
            </a:r>
            <a:endParaRPr lang="en-US" altLang="ko-KR" sz="700" dirty="0">
              <a:latin typeface="+mn-ea"/>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2174490" y="3788408"/>
            <a:ext cx="359073" cy="215444"/>
          </a:xfrm>
          <a:prstGeom prst="rect">
            <a:avLst/>
          </a:prstGeom>
          <a:noFill/>
        </p:spPr>
        <p:txBody>
          <a:bodyPr wrap="none" lIns="0" tIns="0" rIns="0" bIns="0" rtlCol="0">
            <a:spAutoFit/>
          </a:bodyPr>
          <a:lstStyle/>
          <a:p>
            <a:pPr algn="r">
              <a:lnSpc>
                <a:spcPct val="200000"/>
              </a:lnSpc>
            </a:pPr>
            <a:r>
              <a:rPr lang="ko-KR" altLang="en-US" sz="700" dirty="0">
                <a:latin typeface="+mn-ea"/>
              </a:rPr>
              <a:t>부채비율</a:t>
            </a:r>
            <a:endParaRPr lang="en-US" altLang="ko-KR" sz="700" dirty="0">
              <a:latin typeface="+mn-ea"/>
            </a:endParaRPr>
          </a:p>
        </p:txBody>
      </p:sp>
      <p:cxnSp>
        <p:nvCxnSpPr>
          <p:cNvPr id="81" name="직선 연결선 80">
            <a:extLst>
              <a:ext uri="{FF2B5EF4-FFF2-40B4-BE49-F238E27FC236}">
                <a16:creationId xmlns:a16="http://schemas.microsoft.com/office/drawing/2014/main" id="{E9293055-D5CD-4B9E-7F64-64B2D2CA7A52}"/>
              </a:ext>
            </a:extLst>
          </p:cNvPr>
          <p:cNvCxnSpPr/>
          <p:nvPr/>
        </p:nvCxnSpPr>
        <p:spPr>
          <a:xfrm>
            <a:off x="716366" y="378840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2" name="직선 연결선 81">
            <a:extLst>
              <a:ext uri="{FF2B5EF4-FFF2-40B4-BE49-F238E27FC236}">
                <a16:creationId xmlns:a16="http://schemas.microsoft.com/office/drawing/2014/main" id="{E9293055-D5CD-4B9E-7F64-64B2D2CA7A52}"/>
              </a:ext>
            </a:extLst>
          </p:cNvPr>
          <p:cNvCxnSpPr/>
          <p:nvPr/>
        </p:nvCxnSpPr>
        <p:spPr>
          <a:xfrm>
            <a:off x="718459" y="40031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18459" y="48488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2953933" y="3788408"/>
            <a:ext cx="359073" cy="215444"/>
          </a:xfrm>
          <a:prstGeom prst="rect">
            <a:avLst/>
          </a:prstGeom>
          <a:noFill/>
        </p:spPr>
        <p:txBody>
          <a:bodyPr wrap="none" lIns="0" tIns="0" rIns="0" bIns="0" rtlCol="0">
            <a:spAutoFit/>
          </a:bodyPr>
          <a:lstStyle/>
          <a:p>
            <a:pPr algn="r">
              <a:lnSpc>
                <a:spcPct val="200000"/>
              </a:lnSpc>
            </a:pPr>
            <a:r>
              <a:rPr lang="ko-KR" altLang="en-US" sz="700" dirty="0">
                <a:latin typeface="+mn-ea"/>
              </a:rPr>
              <a:t>유동비율</a:t>
            </a:r>
            <a:endParaRPr lang="en-US" altLang="ko-KR" sz="700" dirty="0">
              <a:latin typeface="+mn-ea"/>
            </a:endParaRPr>
          </a:p>
        </p:txBody>
      </p:sp>
      <p:sp>
        <p:nvSpPr>
          <p:cNvPr id="86" name="TextBox 85">
            <a:extLst>
              <a:ext uri="{FF2B5EF4-FFF2-40B4-BE49-F238E27FC236}">
                <a16:creationId xmlns:a16="http://schemas.microsoft.com/office/drawing/2014/main" id="{FFC49AEA-2A8F-250C-A86A-A7751D9706C3}"/>
              </a:ext>
            </a:extLst>
          </p:cNvPr>
          <p:cNvSpPr txBox="1"/>
          <p:nvPr/>
        </p:nvSpPr>
        <p:spPr>
          <a:xfrm>
            <a:off x="805522" y="4052994"/>
            <a:ext cx="952980" cy="323165"/>
          </a:xfrm>
          <a:prstGeom prst="rect">
            <a:avLst/>
          </a:prstGeom>
          <a:noFill/>
        </p:spPr>
        <p:txBody>
          <a:bodyPr wrap="square" lIns="0" tIns="0" rIns="0" bIns="0" rtlCol="0">
            <a:spAutoFit/>
          </a:bodyPr>
          <a:lstStyle/>
          <a:p>
            <a:r>
              <a:rPr lang="ko-KR" altLang="en-US" sz="700" dirty="0">
                <a:latin typeface="+mn-ea"/>
              </a:rPr>
              <a:t>평가요소 </a:t>
            </a:r>
            <a:r>
              <a:rPr lang="en-US" altLang="ko-KR" sz="700" dirty="0">
                <a:latin typeface="+mn-ea"/>
              </a:rPr>
              <a:t>– </a:t>
            </a:r>
            <a:r>
              <a:rPr lang="ko-KR" altLang="en-US" sz="700" dirty="0">
                <a:latin typeface="+mn-ea"/>
              </a:rPr>
              <a:t>금액</a:t>
            </a:r>
            <a:r>
              <a:rPr lang="en-US" altLang="ko-KR" sz="700" dirty="0">
                <a:latin typeface="+mn-ea"/>
              </a:rPr>
              <a:t>(</a:t>
            </a:r>
            <a:r>
              <a:rPr lang="ko-KR" altLang="en-US" sz="700" dirty="0">
                <a:latin typeface="+mn-ea"/>
              </a:rPr>
              <a:t>천원</a:t>
            </a:r>
            <a:r>
              <a:rPr lang="en-US" altLang="ko-KR" sz="700" dirty="0">
                <a:latin typeface="+mn-ea"/>
              </a:rPr>
              <a:t>)</a:t>
            </a:r>
          </a:p>
          <a:p>
            <a:r>
              <a:rPr lang="en-US" altLang="ko-KR" sz="700" dirty="0">
                <a:latin typeface="+mn-ea"/>
              </a:rPr>
              <a:t>– </a:t>
            </a:r>
            <a:r>
              <a:rPr lang="ko-KR" altLang="en-US" sz="700" dirty="0" err="1">
                <a:latin typeface="+mn-ea"/>
              </a:rPr>
              <a:t>부채총계</a:t>
            </a:r>
            <a:endParaRPr lang="en-US" altLang="ko-KR" sz="700" dirty="0">
              <a:latin typeface="+mn-ea"/>
            </a:endParaRPr>
          </a:p>
          <a:p>
            <a:r>
              <a:rPr lang="en-US" altLang="ko-KR" sz="700" dirty="0">
                <a:latin typeface="+mn-ea"/>
              </a:rPr>
              <a:t>– </a:t>
            </a:r>
            <a:r>
              <a:rPr lang="ko-KR" altLang="en-US" sz="700" dirty="0">
                <a:latin typeface="+mn-ea"/>
              </a:rPr>
              <a:t>자기자본</a:t>
            </a:r>
          </a:p>
        </p:txBody>
      </p:sp>
      <p:sp>
        <p:nvSpPr>
          <p:cNvPr id="87" name="TextBox 86">
            <a:extLst>
              <a:ext uri="{FF2B5EF4-FFF2-40B4-BE49-F238E27FC236}">
                <a16:creationId xmlns:a16="http://schemas.microsoft.com/office/drawing/2014/main" id="{FFC49AEA-2A8F-250C-A86A-A7751D9706C3}"/>
              </a:ext>
            </a:extLst>
          </p:cNvPr>
          <p:cNvSpPr txBox="1"/>
          <p:nvPr/>
        </p:nvSpPr>
        <p:spPr>
          <a:xfrm>
            <a:off x="1857096" y="4160715"/>
            <a:ext cx="676467" cy="215444"/>
          </a:xfrm>
          <a:prstGeom prst="rect">
            <a:avLst/>
          </a:prstGeom>
          <a:noFill/>
        </p:spPr>
        <p:txBody>
          <a:bodyPr wrap="none" lIns="0" tIns="0" rIns="0" bIns="0" rtlCol="0">
            <a:spAutoFit/>
          </a:bodyPr>
          <a:lstStyle/>
          <a:p>
            <a:pPr algn="r"/>
            <a:r>
              <a:rPr lang="en-US" altLang="ko-KR" sz="700" dirty="0">
                <a:latin typeface="+mn-ea"/>
              </a:rPr>
              <a:t>9,800,000,000 </a:t>
            </a:r>
            <a:r>
              <a:rPr lang="ko-KR" altLang="en-US" sz="700" dirty="0">
                <a:latin typeface="+mn-ea"/>
              </a:rPr>
              <a:t>원</a:t>
            </a:r>
            <a:endParaRPr lang="en-US" altLang="ko-KR" sz="700" dirty="0">
              <a:latin typeface="+mn-ea"/>
            </a:endParaRPr>
          </a:p>
          <a:p>
            <a:pPr algn="r"/>
            <a:r>
              <a:rPr lang="en-US" altLang="ko-KR" sz="700" dirty="0">
                <a:latin typeface="+mn-ea"/>
              </a:rPr>
              <a:t>9,800,000,000 </a:t>
            </a:r>
            <a:r>
              <a:rPr lang="ko-KR" altLang="en-US" sz="700" dirty="0">
                <a:latin typeface="+mn-ea"/>
              </a:rPr>
              <a:t>원</a:t>
            </a:r>
          </a:p>
        </p:txBody>
      </p:sp>
      <p:sp>
        <p:nvSpPr>
          <p:cNvPr id="88" name="TextBox 87">
            <a:extLst>
              <a:ext uri="{FF2B5EF4-FFF2-40B4-BE49-F238E27FC236}">
                <a16:creationId xmlns:a16="http://schemas.microsoft.com/office/drawing/2014/main" id="{FFC49AEA-2A8F-250C-A86A-A7751D9706C3}"/>
              </a:ext>
            </a:extLst>
          </p:cNvPr>
          <p:cNvSpPr txBox="1"/>
          <p:nvPr/>
        </p:nvSpPr>
        <p:spPr>
          <a:xfrm>
            <a:off x="3276137" y="4160715"/>
            <a:ext cx="36869" cy="215444"/>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endParaRPr lang="ko-KR" altLang="en-US" sz="700" dirty="0">
              <a:latin typeface="+mn-ea"/>
            </a:endParaRPr>
          </a:p>
        </p:txBody>
      </p:sp>
      <p:cxnSp>
        <p:nvCxnSpPr>
          <p:cNvPr id="89" name="직선 연결선 88">
            <a:extLst>
              <a:ext uri="{FF2B5EF4-FFF2-40B4-BE49-F238E27FC236}">
                <a16:creationId xmlns:a16="http://schemas.microsoft.com/office/drawing/2014/main" id="{E9293055-D5CD-4B9E-7F64-64B2D2CA7A52}"/>
              </a:ext>
            </a:extLst>
          </p:cNvPr>
          <p:cNvCxnSpPr/>
          <p:nvPr/>
        </p:nvCxnSpPr>
        <p:spPr>
          <a:xfrm>
            <a:off x="718459" y="50562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4" name="TextBox 103">
            <a:extLst>
              <a:ext uri="{FF2B5EF4-FFF2-40B4-BE49-F238E27FC236}">
                <a16:creationId xmlns:a16="http://schemas.microsoft.com/office/drawing/2014/main" id="{FFC49AEA-2A8F-250C-A86A-A7751D9706C3}"/>
              </a:ext>
            </a:extLst>
          </p:cNvPr>
          <p:cNvSpPr txBox="1"/>
          <p:nvPr/>
        </p:nvSpPr>
        <p:spPr>
          <a:xfrm>
            <a:off x="805522" y="4898711"/>
            <a:ext cx="952980" cy="107722"/>
          </a:xfrm>
          <a:prstGeom prst="rect">
            <a:avLst/>
          </a:prstGeom>
          <a:noFill/>
        </p:spPr>
        <p:txBody>
          <a:bodyPr wrap="square" lIns="0" tIns="0" rIns="0" bIns="0" rtlCol="0">
            <a:spAutoFit/>
          </a:bodyPr>
          <a:lstStyle/>
          <a:p>
            <a:r>
              <a:rPr lang="ko-KR" altLang="en-US" sz="700" dirty="0">
                <a:latin typeface="+mn-ea"/>
              </a:rPr>
              <a:t>해당업체 비율</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2326775" y="4898711"/>
            <a:ext cx="206788" cy="107722"/>
          </a:xfrm>
          <a:prstGeom prst="rect">
            <a:avLst/>
          </a:prstGeom>
          <a:noFill/>
        </p:spPr>
        <p:txBody>
          <a:bodyPr wrap="none" lIns="0" tIns="0" rIns="0" bIns="0" rtlCol="0">
            <a:spAutoFit/>
          </a:bodyPr>
          <a:lstStyle/>
          <a:p>
            <a:pPr algn="r"/>
            <a:r>
              <a:rPr lang="en-US" altLang="ko-KR" sz="700" dirty="0">
                <a:latin typeface="+mn-ea"/>
              </a:rPr>
              <a:t>00 %</a:t>
            </a:r>
            <a:endParaRPr lang="ko-KR" altLang="en-US" sz="700" dirty="0">
              <a:latin typeface="+mn-ea"/>
            </a:endParaRPr>
          </a:p>
        </p:txBody>
      </p:sp>
      <p:sp>
        <p:nvSpPr>
          <p:cNvPr id="106" name="TextBox 105">
            <a:extLst>
              <a:ext uri="{FF2B5EF4-FFF2-40B4-BE49-F238E27FC236}">
                <a16:creationId xmlns:a16="http://schemas.microsoft.com/office/drawing/2014/main" id="{FFC49AEA-2A8F-250C-A86A-A7751D9706C3}"/>
              </a:ext>
            </a:extLst>
          </p:cNvPr>
          <p:cNvSpPr txBox="1"/>
          <p:nvPr/>
        </p:nvSpPr>
        <p:spPr>
          <a:xfrm>
            <a:off x="3106218" y="4898711"/>
            <a:ext cx="206788" cy="107722"/>
          </a:xfrm>
          <a:prstGeom prst="rect">
            <a:avLst/>
          </a:prstGeom>
          <a:noFill/>
        </p:spPr>
        <p:txBody>
          <a:bodyPr wrap="none" lIns="0" tIns="0" rIns="0" bIns="0" rtlCol="0">
            <a:spAutoFit/>
          </a:bodyPr>
          <a:lstStyle/>
          <a:p>
            <a:pPr algn="r"/>
            <a:r>
              <a:rPr lang="en-US" altLang="ko-KR" sz="700" dirty="0">
                <a:latin typeface="+mn-ea"/>
              </a:rPr>
              <a:t>00 %</a:t>
            </a:r>
            <a:endParaRPr lang="ko-KR" altLang="en-US" sz="700" dirty="0">
              <a:latin typeface="+mn-ea"/>
            </a:endParaRPr>
          </a:p>
        </p:txBody>
      </p:sp>
      <p:cxnSp>
        <p:nvCxnSpPr>
          <p:cNvPr id="107" name="직선 연결선 106">
            <a:extLst>
              <a:ext uri="{FF2B5EF4-FFF2-40B4-BE49-F238E27FC236}">
                <a16:creationId xmlns:a16="http://schemas.microsoft.com/office/drawing/2014/main" id="{E9293055-D5CD-4B9E-7F64-64B2D2CA7A52}"/>
              </a:ext>
            </a:extLst>
          </p:cNvPr>
          <p:cNvCxnSpPr/>
          <p:nvPr/>
        </p:nvCxnSpPr>
        <p:spPr>
          <a:xfrm>
            <a:off x="718459" y="52636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8" name="TextBox 107">
            <a:extLst>
              <a:ext uri="{FF2B5EF4-FFF2-40B4-BE49-F238E27FC236}">
                <a16:creationId xmlns:a16="http://schemas.microsoft.com/office/drawing/2014/main" id="{FFC49AEA-2A8F-250C-A86A-A7751D9706C3}"/>
              </a:ext>
            </a:extLst>
          </p:cNvPr>
          <p:cNvSpPr txBox="1"/>
          <p:nvPr/>
        </p:nvSpPr>
        <p:spPr>
          <a:xfrm>
            <a:off x="805522" y="5106127"/>
            <a:ext cx="952980" cy="107722"/>
          </a:xfrm>
          <a:prstGeom prst="rect">
            <a:avLst/>
          </a:prstGeom>
          <a:noFill/>
        </p:spPr>
        <p:txBody>
          <a:bodyPr wrap="square" lIns="0" tIns="0" rIns="0" bIns="0" rtlCol="0">
            <a:spAutoFit/>
          </a:bodyPr>
          <a:lstStyle/>
          <a:p>
            <a:r>
              <a:rPr lang="ko-KR" altLang="en-US" sz="700" dirty="0" err="1">
                <a:latin typeface="+mn-ea"/>
              </a:rPr>
              <a:t>업체평균</a:t>
            </a:r>
            <a:r>
              <a:rPr lang="ko-KR" altLang="en-US" sz="700" dirty="0">
                <a:latin typeface="+mn-ea"/>
              </a:rPr>
              <a:t> 비율</a:t>
            </a:r>
          </a:p>
        </p:txBody>
      </p:sp>
      <p:sp>
        <p:nvSpPr>
          <p:cNvPr id="109" name="TextBox 108">
            <a:extLst>
              <a:ext uri="{FF2B5EF4-FFF2-40B4-BE49-F238E27FC236}">
                <a16:creationId xmlns:a16="http://schemas.microsoft.com/office/drawing/2014/main" id="{FFC49AEA-2A8F-250C-A86A-A7751D9706C3}"/>
              </a:ext>
            </a:extLst>
          </p:cNvPr>
          <p:cNvSpPr txBox="1"/>
          <p:nvPr/>
        </p:nvSpPr>
        <p:spPr>
          <a:xfrm>
            <a:off x="2328378" y="5106127"/>
            <a:ext cx="205185" cy="107722"/>
          </a:xfrm>
          <a:prstGeom prst="rect">
            <a:avLst/>
          </a:prstGeom>
          <a:noFill/>
        </p:spPr>
        <p:txBody>
          <a:bodyPr wrap="none" lIns="0" tIns="0" rIns="0" bIns="0" rtlCol="0">
            <a:spAutoFit/>
          </a:bodyPr>
          <a:lstStyle/>
          <a:p>
            <a:pPr algn="r"/>
            <a:r>
              <a:rPr lang="en-US" altLang="ko-KR" sz="700" dirty="0">
                <a:latin typeface="+mn-ea"/>
              </a:rPr>
              <a:t>00 %</a:t>
            </a:r>
            <a:endParaRPr lang="ko-KR" altLang="en-US"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3106218" y="5106127"/>
            <a:ext cx="206788" cy="107722"/>
          </a:xfrm>
          <a:prstGeom prst="rect">
            <a:avLst/>
          </a:prstGeom>
          <a:noFill/>
        </p:spPr>
        <p:txBody>
          <a:bodyPr wrap="none" lIns="0" tIns="0" rIns="0" bIns="0" rtlCol="0">
            <a:spAutoFit/>
          </a:bodyPr>
          <a:lstStyle/>
          <a:p>
            <a:pPr algn="r"/>
            <a:r>
              <a:rPr lang="en-US" altLang="ko-KR" sz="700" dirty="0">
                <a:latin typeface="+mn-ea"/>
              </a:rPr>
              <a:t>00 %</a:t>
            </a:r>
            <a:endParaRPr lang="ko-KR" altLang="en-US" sz="700" dirty="0">
              <a:latin typeface="+mn-ea"/>
            </a:endParaRP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718459" y="56865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2" name="TextBox 111">
            <a:extLst>
              <a:ext uri="{FF2B5EF4-FFF2-40B4-BE49-F238E27FC236}">
                <a16:creationId xmlns:a16="http://schemas.microsoft.com/office/drawing/2014/main" id="{FFC49AEA-2A8F-250C-A86A-A7751D9706C3}"/>
              </a:ext>
            </a:extLst>
          </p:cNvPr>
          <p:cNvSpPr txBox="1"/>
          <p:nvPr/>
        </p:nvSpPr>
        <p:spPr>
          <a:xfrm>
            <a:off x="805522" y="5313543"/>
            <a:ext cx="952980" cy="323165"/>
          </a:xfrm>
          <a:prstGeom prst="rect">
            <a:avLst/>
          </a:prstGeom>
          <a:noFill/>
        </p:spPr>
        <p:txBody>
          <a:bodyPr wrap="square" lIns="0" tIns="0" rIns="0" bIns="0" rtlCol="0">
            <a:spAutoFit/>
          </a:bodyPr>
          <a:lstStyle/>
          <a:p>
            <a:r>
              <a:rPr lang="ko-KR" altLang="en-US" sz="700" dirty="0">
                <a:latin typeface="+mn-ea"/>
              </a:rPr>
              <a:t>등급</a:t>
            </a:r>
            <a:endParaRPr lang="en-US" altLang="ko-KR" sz="700" dirty="0">
              <a:latin typeface="+mn-ea"/>
            </a:endParaRPr>
          </a:p>
          <a:p>
            <a:r>
              <a:rPr lang="en-US" altLang="ko-KR" sz="700" dirty="0">
                <a:latin typeface="+mn-ea"/>
              </a:rPr>
              <a:t>- </a:t>
            </a:r>
            <a:r>
              <a:rPr lang="ko-KR" altLang="en-US" sz="700" dirty="0">
                <a:latin typeface="+mn-ea"/>
              </a:rPr>
              <a:t>비율</a:t>
            </a:r>
            <a:r>
              <a:rPr lang="en-US" altLang="ko-KR" sz="700" dirty="0">
                <a:latin typeface="+mn-ea"/>
              </a:rPr>
              <a:t>(%)</a:t>
            </a:r>
          </a:p>
          <a:p>
            <a:r>
              <a:rPr lang="en-US" altLang="ko-KR" sz="700" dirty="0">
                <a:latin typeface="+mn-ea"/>
              </a:rPr>
              <a:t>- </a:t>
            </a:r>
            <a:r>
              <a:rPr lang="ko-KR" altLang="en-US" sz="700" dirty="0">
                <a:latin typeface="+mn-ea"/>
              </a:rPr>
              <a:t>등급</a:t>
            </a:r>
          </a:p>
        </p:txBody>
      </p:sp>
      <p:sp>
        <p:nvSpPr>
          <p:cNvPr id="113" name="TextBox 112">
            <a:extLst>
              <a:ext uri="{FF2B5EF4-FFF2-40B4-BE49-F238E27FC236}">
                <a16:creationId xmlns:a16="http://schemas.microsoft.com/office/drawing/2014/main" id="{FFC49AEA-2A8F-250C-A86A-A7751D9706C3}"/>
              </a:ext>
            </a:extLst>
          </p:cNvPr>
          <p:cNvSpPr txBox="1"/>
          <p:nvPr/>
        </p:nvSpPr>
        <p:spPr>
          <a:xfrm>
            <a:off x="1845566" y="5421264"/>
            <a:ext cx="687998" cy="215444"/>
          </a:xfrm>
          <a:prstGeom prst="rect">
            <a:avLst/>
          </a:prstGeom>
          <a:noFill/>
        </p:spPr>
        <p:txBody>
          <a:bodyPr wrap="square" lIns="0" tIns="0" rIns="0" bIns="0" rtlCol="0">
            <a:spAutoFit/>
          </a:bodyPr>
          <a:lstStyle/>
          <a:p>
            <a:pPr algn="r"/>
            <a:r>
              <a:rPr lang="en-US" altLang="ko-KR" sz="700" dirty="0">
                <a:latin typeface="+mn-ea"/>
              </a:rPr>
              <a:t>00 %</a:t>
            </a:r>
          </a:p>
          <a:p>
            <a:r>
              <a:rPr lang="en-US" altLang="ko-KR" sz="700" dirty="0">
                <a:latin typeface="+mn-ea"/>
              </a:rPr>
              <a:t>00 </a:t>
            </a:r>
            <a:r>
              <a:rPr lang="ko-KR" altLang="en-US" sz="700" dirty="0">
                <a:latin typeface="+mn-ea"/>
              </a:rPr>
              <a:t>등급</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636539" y="5421264"/>
            <a:ext cx="676467" cy="215444"/>
          </a:xfrm>
          <a:prstGeom prst="rect">
            <a:avLst/>
          </a:prstGeom>
          <a:noFill/>
        </p:spPr>
        <p:txBody>
          <a:bodyPr wrap="square" lIns="0" tIns="0" rIns="0" bIns="0" rtlCol="0">
            <a:spAutoFit/>
          </a:bodyPr>
          <a:lstStyle/>
          <a:p>
            <a:pPr algn="r"/>
            <a:r>
              <a:rPr lang="en-US" altLang="ko-KR" sz="700" dirty="0">
                <a:latin typeface="+mn-ea"/>
              </a:rPr>
              <a:t>00 %</a:t>
            </a:r>
          </a:p>
          <a:p>
            <a:r>
              <a:rPr lang="en-US" altLang="ko-KR" sz="700" dirty="0">
                <a:latin typeface="+mn-ea"/>
              </a:rPr>
              <a:t>00 </a:t>
            </a:r>
            <a:r>
              <a:rPr lang="ko-KR" altLang="en-US" sz="700" dirty="0">
                <a:latin typeface="+mn-ea"/>
              </a:rPr>
              <a:t>등급</a:t>
            </a:r>
          </a:p>
        </p:txBody>
      </p:sp>
      <p:sp>
        <p:nvSpPr>
          <p:cNvPr id="117" name="TextBox 116">
            <a:extLst>
              <a:ext uri="{FF2B5EF4-FFF2-40B4-BE49-F238E27FC236}">
                <a16:creationId xmlns:a16="http://schemas.microsoft.com/office/drawing/2014/main" id="{FFC49AEA-2A8F-250C-A86A-A7751D9706C3}"/>
              </a:ext>
            </a:extLst>
          </p:cNvPr>
          <p:cNvSpPr txBox="1"/>
          <p:nvPr/>
        </p:nvSpPr>
        <p:spPr>
          <a:xfrm>
            <a:off x="805522" y="5736402"/>
            <a:ext cx="952980" cy="107722"/>
          </a:xfrm>
          <a:prstGeom prst="rect">
            <a:avLst/>
          </a:prstGeom>
          <a:noFill/>
        </p:spPr>
        <p:txBody>
          <a:bodyPr wrap="square" lIns="0" tIns="0" rIns="0" bIns="0" rtlCol="0">
            <a:spAutoFit/>
          </a:bodyPr>
          <a:lstStyle/>
          <a:p>
            <a:r>
              <a:rPr lang="ko-KR" altLang="en-US" sz="700" dirty="0">
                <a:latin typeface="+mn-ea"/>
              </a:rPr>
              <a:t>평점</a:t>
            </a:r>
            <a:endParaRPr lang="en-US" altLang="ko-KR"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2434176" y="5736402"/>
            <a:ext cx="99387" cy="107722"/>
          </a:xfrm>
          <a:prstGeom prst="rect">
            <a:avLst/>
          </a:prstGeom>
          <a:noFill/>
        </p:spPr>
        <p:txBody>
          <a:bodyPr wrap="none" lIns="0" tIns="0" rIns="0" bIns="0" rtlCol="0">
            <a:spAutoFit/>
          </a:bodyPr>
          <a:lstStyle/>
          <a:p>
            <a:pPr algn="r"/>
            <a:r>
              <a:rPr lang="en-US" altLang="ko-KR" sz="700" dirty="0">
                <a:latin typeface="+mn-ea"/>
              </a:rPr>
              <a:t>00</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3213619" y="5736402"/>
            <a:ext cx="99387" cy="107722"/>
          </a:xfrm>
          <a:prstGeom prst="rect">
            <a:avLst/>
          </a:prstGeom>
          <a:noFill/>
        </p:spPr>
        <p:txBody>
          <a:bodyPr wrap="none" lIns="0" tIns="0" rIns="0" bIns="0" rtlCol="0">
            <a:spAutoFit/>
          </a:bodyPr>
          <a:lstStyle/>
          <a:p>
            <a:pPr algn="r"/>
            <a:r>
              <a:rPr lang="en-US" altLang="ko-KR" sz="700" dirty="0">
                <a:latin typeface="+mn-ea"/>
              </a:rPr>
              <a:t>00</a:t>
            </a:r>
            <a:endParaRPr lang="ko-KR" altLang="en-US"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805522" y="4475852"/>
            <a:ext cx="952980" cy="323165"/>
          </a:xfrm>
          <a:prstGeom prst="rect">
            <a:avLst/>
          </a:prstGeom>
          <a:noFill/>
        </p:spPr>
        <p:txBody>
          <a:bodyPr wrap="square" lIns="0" tIns="0" rIns="0" bIns="0" rtlCol="0">
            <a:spAutoFit/>
          </a:bodyPr>
          <a:lstStyle/>
          <a:p>
            <a:r>
              <a:rPr lang="ko-KR" altLang="en-US" sz="700" dirty="0">
                <a:latin typeface="+mn-ea"/>
              </a:rPr>
              <a:t>평가요소 </a:t>
            </a:r>
            <a:r>
              <a:rPr lang="en-US" altLang="ko-KR" sz="700" dirty="0">
                <a:latin typeface="+mn-ea"/>
              </a:rPr>
              <a:t>– </a:t>
            </a:r>
            <a:r>
              <a:rPr lang="ko-KR" altLang="en-US" sz="700" dirty="0">
                <a:latin typeface="+mn-ea"/>
              </a:rPr>
              <a:t>금액</a:t>
            </a:r>
            <a:r>
              <a:rPr lang="en-US" altLang="ko-KR" sz="700" dirty="0">
                <a:latin typeface="+mn-ea"/>
              </a:rPr>
              <a:t>(</a:t>
            </a:r>
            <a:r>
              <a:rPr lang="ko-KR" altLang="en-US" sz="700" dirty="0">
                <a:latin typeface="+mn-ea"/>
              </a:rPr>
              <a:t>천원</a:t>
            </a:r>
            <a:r>
              <a:rPr lang="en-US" altLang="ko-KR" sz="700" dirty="0">
                <a:latin typeface="+mn-ea"/>
              </a:rPr>
              <a:t>)</a:t>
            </a:r>
          </a:p>
          <a:p>
            <a:r>
              <a:rPr lang="en-US" altLang="ko-KR" sz="700" dirty="0">
                <a:latin typeface="+mn-ea"/>
              </a:rPr>
              <a:t>– </a:t>
            </a:r>
            <a:r>
              <a:rPr lang="ko-KR" altLang="en-US" sz="700" dirty="0">
                <a:latin typeface="+mn-ea"/>
              </a:rPr>
              <a:t>유동자산</a:t>
            </a:r>
            <a:endParaRPr lang="en-US" altLang="ko-KR" sz="700" dirty="0">
              <a:latin typeface="+mn-ea"/>
            </a:endParaRPr>
          </a:p>
          <a:p>
            <a:r>
              <a:rPr lang="en-US" altLang="ko-KR" sz="700" dirty="0">
                <a:latin typeface="+mn-ea"/>
              </a:rPr>
              <a:t>– </a:t>
            </a:r>
            <a:r>
              <a:rPr lang="ko-KR" altLang="en-US" sz="700" dirty="0">
                <a:latin typeface="+mn-ea"/>
              </a:rPr>
              <a:t>유동부채</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2496694" y="4583573"/>
            <a:ext cx="36869" cy="215444"/>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endParaRPr lang="ko-KR" altLang="en-US" sz="700" dirty="0">
              <a:latin typeface="+mn-ea"/>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2636539" y="4583573"/>
            <a:ext cx="676467" cy="215444"/>
          </a:xfrm>
          <a:prstGeom prst="rect">
            <a:avLst/>
          </a:prstGeom>
          <a:noFill/>
        </p:spPr>
        <p:txBody>
          <a:bodyPr wrap="none" lIns="0" tIns="0" rIns="0" bIns="0" rtlCol="0">
            <a:spAutoFit/>
          </a:bodyPr>
          <a:lstStyle/>
          <a:p>
            <a:pPr algn="r"/>
            <a:r>
              <a:rPr lang="en-US" altLang="ko-KR" sz="700" dirty="0">
                <a:latin typeface="+mn-ea"/>
              </a:rPr>
              <a:t>9,800,000,000 </a:t>
            </a:r>
            <a:r>
              <a:rPr lang="ko-KR" altLang="en-US" sz="700" dirty="0">
                <a:latin typeface="+mn-ea"/>
              </a:rPr>
              <a:t>원</a:t>
            </a:r>
            <a:endParaRPr lang="en-US" altLang="ko-KR" sz="700" dirty="0">
              <a:latin typeface="+mn-ea"/>
            </a:endParaRPr>
          </a:p>
          <a:p>
            <a:pPr algn="r"/>
            <a:r>
              <a:rPr lang="en-US" altLang="ko-KR" sz="700" dirty="0">
                <a:latin typeface="+mn-ea"/>
              </a:rPr>
              <a:t>9,800,000,000 </a:t>
            </a:r>
            <a:r>
              <a:rPr lang="ko-KR" altLang="en-US" sz="700" dirty="0">
                <a:latin typeface="+mn-ea"/>
              </a:rPr>
              <a:t>원</a:t>
            </a:r>
          </a:p>
        </p:txBody>
      </p:sp>
      <p:cxnSp>
        <p:nvCxnSpPr>
          <p:cNvPr id="124" name="직선 연결선 123">
            <a:extLst>
              <a:ext uri="{FF2B5EF4-FFF2-40B4-BE49-F238E27FC236}">
                <a16:creationId xmlns:a16="http://schemas.microsoft.com/office/drawing/2014/main" id="{E9293055-D5CD-4B9E-7F64-64B2D2CA7A52}"/>
              </a:ext>
            </a:extLst>
          </p:cNvPr>
          <p:cNvCxnSpPr/>
          <p:nvPr/>
        </p:nvCxnSpPr>
        <p:spPr>
          <a:xfrm>
            <a:off x="718459" y="44260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718459" y="589396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7" name="TextBox 126">
            <a:extLst>
              <a:ext uri="{FF2B5EF4-FFF2-40B4-BE49-F238E27FC236}">
                <a16:creationId xmlns:a16="http://schemas.microsoft.com/office/drawing/2014/main" id="{FFC49AEA-2A8F-250C-A86A-A7751D9706C3}"/>
              </a:ext>
            </a:extLst>
          </p:cNvPr>
          <p:cNvSpPr txBox="1"/>
          <p:nvPr/>
        </p:nvSpPr>
        <p:spPr>
          <a:xfrm>
            <a:off x="805522" y="5943813"/>
            <a:ext cx="952980" cy="107722"/>
          </a:xfrm>
          <a:prstGeom prst="rect">
            <a:avLst/>
          </a:prstGeom>
          <a:noFill/>
        </p:spPr>
        <p:txBody>
          <a:bodyPr wrap="square" lIns="0" tIns="0" rIns="0" bIns="0" rtlCol="0">
            <a:spAutoFit/>
          </a:bodyPr>
          <a:lstStyle/>
          <a:p>
            <a:r>
              <a:rPr lang="ko-KR" altLang="en-US" sz="700" dirty="0">
                <a:latin typeface="+mn-ea"/>
              </a:rPr>
              <a:t>계</a:t>
            </a:r>
            <a:endParaRPr lang="en-US" altLang="ko-KR" sz="700" dirty="0">
              <a:latin typeface="+mn-ea"/>
            </a:endParaRPr>
          </a:p>
        </p:txBody>
      </p:sp>
      <p:sp>
        <p:nvSpPr>
          <p:cNvPr id="129" name="TextBox 128">
            <a:extLst>
              <a:ext uri="{FF2B5EF4-FFF2-40B4-BE49-F238E27FC236}">
                <a16:creationId xmlns:a16="http://schemas.microsoft.com/office/drawing/2014/main" id="{FFC49AEA-2A8F-250C-A86A-A7751D9706C3}"/>
              </a:ext>
            </a:extLst>
          </p:cNvPr>
          <p:cNvSpPr txBox="1"/>
          <p:nvPr/>
        </p:nvSpPr>
        <p:spPr>
          <a:xfrm>
            <a:off x="3213619" y="5943813"/>
            <a:ext cx="99387" cy="107722"/>
          </a:xfrm>
          <a:prstGeom prst="rect">
            <a:avLst/>
          </a:prstGeom>
          <a:noFill/>
        </p:spPr>
        <p:txBody>
          <a:bodyPr wrap="none" lIns="0" tIns="0" rIns="0" bIns="0" rtlCol="0">
            <a:spAutoFit/>
          </a:bodyPr>
          <a:lstStyle/>
          <a:p>
            <a:pPr algn="r"/>
            <a:r>
              <a:rPr lang="en-US" altLang="ko-KR" sz="700" dirty="0">
                <a:latin typeface="+mn-ea"/>
              </a:rPr>
              <a:t>00</a:t>
            </a:r>
            <a:endParaRPr lang="ko-KR" altLang="en-US" sz="700" dirty="0">
              <a:latin typeface="+mn-ea"/>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718459" y="6101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3795734" y="1527996"/>
            <a:ext cx="2712027" cy="1881706"/>
            <a:chOff x="675399" y="1527996"/>
            <a:chExt cx="2712027" cy="1881706"/>
          </a:xfrm>
        </p:grpSpPr>
        <p:grpSp>
          <p:nvGrpSpPr>
            <p:cNvPr id="131" name="그룹 130"/>
            <p:cNvGrpSpPr/>
            <p:nvPr/>
          </p:nvGrpSpPr>
          <p:grpSpPr>
            <a:xfrm>
              <a:off x="701175" y="1527996"/>
              <a:ext cx="2670082" cy="1815590"/>
              <a:chOff x="701175" y="1527996"/>
              <a:chExt cx="2670082" cy="1815590"/>
            </a:xfrm>
          </p:grpSpPr>
          <p:sp>
            <p:nvSpPr>
              <p:cNvPr id="132" name="TextBox 131">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err="1">
                    <a:latin typeface="+mn-ea"/>
                  </a:rPr>
                  <a:t>특별신인도</a:t>
                </a:r>
                <a:endParaRPr lang="ko-KR" altLang="en-US" sz="700" dirty="0">
                  <a:latin typeface="+mn-ea"/>
                </a:endParaRPr>
              </a:p>
            </p:txBody>
          </p:sp>
          <p:grpSp>
            <p:nvGrpSpPr>
              <p:cNvPr id="133" name="그룹 132"/>
              <p:cNvGrpSpPr/>
              <p:nvPr/>
            </p:nvGrpSpPr>
            <p:grpSpPr>
              <a:xfrm flipV="1">
                <a:off x="3124233" y="1641327"/>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0" name="직선 연결선 1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4" name="직사각형 133"/>
              <p:cNvSpPr/>
              <p:nvPr/>
            </p:nvSpPr>
            <p:spPr>
              <a:xfrm>
                <a:off x="703268" y="1835480"/>
                <a:ext cx="792000" cy="150318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5" name="TextBox 134">
                <a:extLst>
                  <a:ext uri="{FF2B5EF4-FFF2-40B4-BE49-F238E27FC236}">
                    <a16:creationId xmlns:a16="http://schemas.microsoft.com/office/drawing/2014/main" id="{FFC49AEA-2A8F-250C-A86A-A7751D9706C3}"/>
                  </a:ext>
                </a:extLst>
              </p:cNvPr>
              <p:cNvSpPr txBox="1"/>
              <p:nvPr/>
            </p:nvSpPr>
            <p:spPr>
              <a:xfrm>
                <a:off x="790331" y="1835481"/>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err="1">
                    <a:latin typeface="+mn-ea"/>
                  </a:rPr>
                  <a:t>시공실적</a:t>
                </a:r>
                <a:endParaRPr lang="en-US" altLang="ko-KR" sz="700" dirty="0">
                  <a:latin typeface="+mn-ea"/>
                </a:endParaRPr>
              </a:p>
              <a:p>
                <a:pPr>
                  <a:lnSpc>
                    <a:spcPct val="200000"/>
                  </a:lnSpc>
                </a:pPr>
                <a:r>
                  <a:rPr lang="ko-KR" altLang="en-US" sz="700" dirty="0">
                    <a:latin typeface="+mn-ea"/>
                  </a:rPr>
                  <a:t>지체상금</a:t>
                </a:r>
                <a:endParaRPr lang="en-US" altLang="ko-KR" sz="700" dirty="0">
                  <a:latin typeface="+mn-ea"/>
                </a:endParaRPr>
              </a:p>
              <a:p>
                <a:pPr>
                  <a:lnSpc>
                    <a:spcPct val="200000"/>
                  </a:lnSpc>
                </a:pPr>
                <a:r>
                  <a:rPr lang="ko-KR" altLang="en-US" sz="700" dirty="0">
                    <a:latin typeface="+mn-ea"/>
                  </a:rPr>
                  <a:t>하자보수</a:t>
                </a:r>
                <a:endParaRPr lang="en-US" altLang="ko-KR" sz="700" dirty="0">
                  <a:latin typeface="+mn-ea"/>
                </a:endParaRPr>
              </a:p>
              <a:p>
                <a:pPr>
                  <a:lnSpc>
                    <a:spcPct val="200000"/>
                  </a:lnSpc>
                </a:pPr>
                <a:r>
                  <a:rPr lang="ko-KR" altLang="en-US" sz="700" dirty="0">
                    <a:latin typeface="+mn-ea"/>
                  </a:rPr>
                  <a:t>시공평가결과</a:t>
                </a:r>
                <a:endParaRPr lang="en-US" altLang="ko-KR" sz="700" dirty="0">
                  <a:latin typeface="+mn-ea"/>
                </a:endParaRPr>
              </a:p>
              <a:p>
                <a:pPr>
                  <a:lnSpc>
                    <a:spcPct val="200000"/>
                  </a:lnSpc>
                </a:pPr>
                <a:r>
                  <a:rPr lang="ko-KR" altLang="en-US" sz="700" dirty="0">
                    <a:latin typeface="+mn-ea"/>
                  </a:rPr>
                  <a:t>우수업체지정</a:t>
                </a:r>
                <a:endParaRPr lang="en-US" altLang="ko-KR" sz="700" dirty="0">
                  <a:latin typeface="+mn-ea"/>
                </a:endParaRPr>
              </a:p>
              <a:p>
                <a:pPr>
                  <a:lnSpc>
                    <a:spcPct val="200000"/>
                  </a:lnSpc>
                </a:pPr>
                <a:r>
                  <a:rPr lang="ko-KR" altLang="en-US" sz="700" dirty="0">
                    <a:latin typeface="+mn-ea"/>
                  </a:rPr>
                  <a:t>합계</a:t>
                </a:r>
                <a:endParaRPr lang="en-US" altLang="ko-KR"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1547180" y="1835481"/>
                <a:ext cx="1775839" cy="1508105"/>
              </a:xfrm>
              <a:prstGeom prst="rect">
                <a:avLst/>
              </a:prstGeom>
              <a:noFill/>
            </p:spPr>
            <p:txBody>
              <a:bodyPr wrap="square" lIns="0" tIns="0" rIns="0" bIns="0" rtlCol="0">
                <a:spAutoFit/>
              </a:bodyPr>
              <a:lstStyle/>
              <a:p>
                <a:pPr algn="r">
                  <a:lnSpc>
                    <a:spcPct val="200000"/>
                  </a:lnSpc>
                </a:pPr>
                <a:r>
                  <a:rPr lang="ko-KR" altLang="en-US" sz="700" dirty="0">
                    <a:latin typeface="+mn-ea"/>
                  </a:rPr>
                  <a:t>평점</a:t>
                </a:r>
                <a:endParaRPr lang="en-US" altLang="ko-KR" sz="700" dirty="0">
                  <a:latin typeface="+mn-ea"/>
                </a:endParaRPr>
              </a:p>
              <a:p>
                <a:pPr algn="r">
                  <a:lnSpc>
                    <a:spcPct val="200000"/>
                  </a:lnSpc>
                </a:pPr>
                <a:r>
                  <a:rPr lang="en-US" altLang="ko-KR" sz="700" dirty="0">
                    <a:latin typeface="+mn-ea"/>
                  </a:rPr>
                  <a:t>00</a:t>
                </a:r>
              </a:p>
              <a:p>
                <a:pPr algn="r">
                  <a:lnSpc>
                    <a:spcPct val="200000"/>
                  </a:lnSpc>
                </a:pPr>
                <a:r>
                  <a:rPr lang="en-US" altLang="ko-KR" sz="700" dirty="0">
                    <a:latin typeface="+mn-ea"/>
                  </a:rPr>
                  <a:t>00</a:t>
                </a:r>
              </a:p>
              <a:p>
                <a:pPr algn="r">
                  <a:lnSpc>
                    <a:spcPct val="200000"/>
                  </a:lnSpc>
                </a:pPr>
                <a:r>
                  <a:rPr lang="en-US" altLang="ko-KR" sz="700" dirty="0">
                    <a:latin typeface="+mn-ea"/>
                  </a:rPr>
                  <a:t>00</a:t>
                </a:r>
              </a:p>
              <a:p>
                <a:pPr algn="r">
                  <a:lnSpc>
                    <a:spcPct val="200000"/>
                  </a:lnSpc>
                </a:pPr>
                <a:r>
                  <a:rPr lang="en-US" altLang="ko-KR" sz="700" dirty="0">
                    <a:latin typeface="+mn-ea"/>
                  </a:rPr>
                  <a:t>00</a:t>
                </a:r>
              </a:p>
              <a:p>
                <a:pPr algn="r">
                  <a:lnSpc>
                    <a:spcPct val="200000"/>
                  </a:lnSpc>
                </a:pPr>
                <a:r>
                  <a:rPr lang="en-US" altLang="ko-KR" sz="700" dirty="0">
                    <a:latin typeface="+mn-ea"/>
                  </a:rPr>
                  <a:t>00</a:t>
                </a:r>
              </a:p>
              <a:p>
                <a:pPr algn="r">
                  <a:lnSpc>
                    <a:spcPct val="200000"/>
                  </a:lnSpc>
                </a:pPr>
                <a:r>
                  <a:rPr lang="en-US" altLang="ko-KR" sz="700" dirty="0">
                    <a:latin typeface="+mn-ea"/>
                  </a:rPr>
                  <a:t>00</a:t>
                </a:r>
              </a:p>
            </p:txBody>
          </p:sp>
          <p:grpSp>
            <p:nvGrpSpPr>
              <p:cNvPr id="137" name="그룹 136"/>
              <p:cNvGrpSpPr/>
              <p:nvPr/>
            </p:nvGrpSpPr>
            <p:grpSpPr>
              <a:xfrm>
                <a:off x="701175" y="1835481"/>
                <a:ext cx="2670082" cy="1503180"/>
                <a:chOff x="701175" y="1835481"/>
                <a:chExt cx="2670082" cy="1503180"/>
              </a:xfrm>
            </p:grpSpPr>
            <p:cxnSp>
              <p:nvCxnSpPr>
                <p:cNvPr id="138" name="직선 연결선 13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9" name="직선 연결선 13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43257"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cxnSp>
          <p:nvCxnSpPr>
            <p:cNvPr id="151" name="직선 연결선 150">
              <a:extLst>
                <a:ext uri="{FF2B5EF4-FFF2-40B4-BE49-F238E27FC236}">
                  <a16:creationId xmlns:a16="http://schemas.microsoft.com/office/drawing/2014/main" id="{E9293055-D5CD-4B9E-7F64-64B2D2CA7A52}"/>
                </a:ext>
              </a:extLst>
            </p:cNvPr>
            <p:cNvCxnSpPr/>
            <p:nvPr/>
          </p:nvCxnSpPr>
          <p:spPr>
            <a:xfrm>
              <a:off x="675399" y="34097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52" name="TextBox 151">
            <a:extLst>
              <a:ext uri="{FF2B5EF4-FFF2-40B4-BE49-F238E27FC236}">
                <a16:creationId xmlns:a16="http://schemas.microsoft.com/office/drawing/2014/main" id="{FFC49AEA-2A8F-250C-A86A-A7751D9706C3}"/>
              </a:ext>
            </a:extLst>
          </p:cNvPr>
          <p:cNvSpPr txBox="1"/>
          <p:nvPr/>
        </p:nvSpPr>
        <p:spPr>
          <a:xfrm>
            <a:off x="3883823" y="3440687"/>
            <a:ext cx="2268636" cy="181140"/>
          </a:xfrm>
          <a:prstGeom prst="rect">
            <a:avLst/>
          </a:prstGeom>
          <a:noFill/>
        </p:spPr>
        <p:txBody>
          <a:bodyPr wrap="square" lIns="0" tIns="0" rIns="0" bIns="0" rtlCol="0">
            <a:spAutoFit/>
          </a:bodyPr>
          <a:lstStyle/>
          <a:p>
            <a:pPr>
              <a:lnSpc>
                <a:spcPct val="200000"/>
              </a:lnSpc>
            </a:pPr>
            <a:r>
              <a:rPr lang="ko-KR" altLang="en-US" sz="700" dirty="0">
                <a:latin typeface="+mn-ea"/>
              </a:rPr>
              <a:t>입찰가격점수</a:t>
            </a:r>
          </a:p>
        </p:txBody>
      </p:sp>
      <p:grpSp>
        <p:nvGrpSpPr>
          <p:cNvPr id="153" name="그룹 152"/>
          <p:cNvGrpSpPr/>
          <p:nvPr/>
        </p:nvGrpSpPr>
        <p:grpSpPr>
          <a:xfrm flipV="1">
            <a:off x="6245910" y="3554018"/>
            <a:ext cx="94010" cy="47005"/>
            <a:chOff x="6812560" y="3297172"/>
            <a:chExt cx="94010" cy="47005"/>
          </a:xfrm>
        </p:grpSpPr>
        <p:cxnSp>
          <p:nvCxnSpPr>
            <p:cNvPr id="154" name="직선 연결선 15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5" name="직선 연결선 15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6" name="직선 연결선 155">
            <a:extLst>
              <a:ext uri="{FF2B5EF4-FFF2-40B4-BE49-F238E27FC236}">
                <a16:creationId xmlns:a16="http://schemas.microsoft.com/office/drawing/2014/main" id="{E9293055-D5CD-4B9E-7F64-64B2D2CA7A52}"/>
              </a:ext>
            </a:extLst>
          </p:cNvPr>
          <p:cNvCxnSpPr/>
          <p:nvPr/>
        </p:nvCxnSpPr>
        <p:spPr>
          <a:xfrm>
            <a:off x="3797076" y="372749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3840136" y="3791612"/>
            <a:ext cx="792000" cy="237603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27198" y="5274724"/>
            <a:ext cx="754231" cy="861774"/>
          </a:xfrm>
          <a:prstGeom prst="rect">
            <a:avLst/>
          </a:prstGeom>
          <a:noFill/>
        </p:spPr>
        <p:txBody>
          <a:bodyPr wrap="square" lIns="0" tIns="0" rIns="0" bIns="0" rtlCol="0">
            <a:spAutoFit/>
          </a:bodyPr>
          <a:lstStyle/>
          <a:p>
            <a:pPr>
              <a:lnSpc>
                <a:spcPct val="200000"/>
              </a:lnSpc>
            </a:pPr>
            <a:r>
              <a:rPr lang="ko-KR" altLang="en-US" sz="700" dirty="0">
                <a:latin typeface="+mn-ea"/>
              </a:rPr>
              <a:t>입찰가격</a:t>
            </a:r>
            <a:r>
              <a:rPr lang="en-US" altLang="ko-KR" sz="700" dirty="0">
                <a:latin typeface="+mn-ea"/>
              </a:rPr>
              <a:t>(A)</a:t>
            </a:r>
          </a:p>
          <a:p>
            <a:pPr>
              <a:lnSpc>
                <a:spcPct val="200000"/>
              </a:lnSpc>
            </a:pPr>
            <a:r>
              <a:rPr lang="ko-KR" altLang="en-US" sz="700" dirty="0">
                <a:latin typeface="+mn-ea"/>
              </a:rPr>
              <a:t>예정가격</a:t>
            </a:r>
            <a:r>
              <a:rPr lang="en-US" altLang="ko-KR" sz="700" dirty="0">
                <a:latin typeface="+mn-ea"/>
              </a:rPr>
              <a:t>(B)</a:t>
            </a:r>
          </a:p>
          <a:p>
            <a:pPr>
              <a:lnSpc>
                <a:spcPct val="200000"/>
              </a:lnSpc>
            </a:pPr>
            <a:r>
              <a:rPr lang="ko-KR" altLang="en-US" sz="700" dirty="0" err="1">
                <a:latin typeface="+mn-ea"/>
              </a:rPr>
              <a:t>입찰률</a:t>
            </a:r>
            <a:r>
              <a:rPr lang="ko-KR" altLang="en-US" sz="700" dirty="0">
                <a:latin typeface="+mn-ea"/>
              </a:rPr>
              <a:t> </a:t>
            </a:r>
            <a:r>
              <a:rPr lang="en-US" altLang="ko-KR" sz="700" dirty="0">
                <a:latin typeface="+mn-ea"/>
              </a:rPr>
              <a:t>(%)</a:t>
            </a:r>
          </a:p>
          <a:p>
            <a:pPr>
              <a:lnSpc>
                <a:spcPct val="200000"/>
              </a:lnSpc>
            </a:pPr>
            <a:r>
              <a:rPr lang="ko-KR" altLang="en-US" sz="700" dirty="0">
                <a:latin typeface="+mn-ea"/>
              </a:rPr>
              <a:t>평점</a:t>
            </a:r>
            <a:endParaRPr lang="en-US" altLang="ko-KR" sz="700" dirty="0">
              <a:latin typeface="+mn-ea"/>
            </a:endParaRPr>
          </a:p>
        </p:txBody>
      </p:sp>
      <p:sp>
        <p:nvSpPr>
          <p:cNvPr id="161" name="TextBox 160">
            <a:extLst>
              <a:ext uri="{FF2B5EF4-FFF2-40B4-BE49-F238E27FC236}">
                <a16:creationId xmlns:a16="http://schemas.microsoft.com/office/drawing/2014/main" id="{FFC49AEA-2A8F-250C-A86A-A7751D9706C3}"/>
              </a:ext>
            </a:extLst>
          </p:cNvPr>
          <p:cNvSpPr txBox="1"/>
          <p:nvPr/>
        </p:nvSpPr>
        <p:spPr>
          <a:xfrm>
            <a:off x="4684048" y="5274724"/>
            <a:ext cx="1775839" cy="861774"/>
          </a:xfrm>
          <a:prstGeom prst="rect">
            <a:avLst/>
          </a:prstGeom>
          <a:noFill/>
        </p:spPr>
        <p:txBody>
          <a:bodyPr wrap="square" lIns="0" tIns="0" rIns="0" bIns="0" rtlCol="0">
            <a:spAutoFit/>
          </a:bodyPr>
          <a:lstStyle/>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00 %</a:t>
            </a:r>
          </a:p>
          <a:p>
            <a:pPr algn="r">
              <a:lnSpc>
                <a:spcPct val="200000"/>
              </a:lnSpc>
            </a:pPr>
            <a:r>
              <a:rPr lang="en-US" altLang="ko-KR" sz="700" dirty="0">
                <a:latin typeface="+mn-ea"/>
              </a:rPr>
              <a:t>00.00</a:t>
            </a: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838043" y="379161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3840136" y="55025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3840136" y="571726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3840136" y="59320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3840136" y="61676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3840136" y="52794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TextBox 169">
            <a:extLst>
              <a:ext uri="{FF2B5EF4-FFF2-40B4-BE49-F238E27FC236}">
                <a16:creationId xmlns:a16="http://schemas.microsoft.com/office/drawing/2014/main" id="{FFC49AEA-2A8F-250C-A86A-A7751D9706C3}"/>
              </a:ext>
            </a:extLst>
          </p:cNvPr>
          <p:cNvSpPr txBox="1"/>
          <p:nvPr/>
        </p:nvSpPr>
        <p:spPr>
          <a:xfrm>
            <a:off x="3932343" y="4481648"/>
            <a:ext cx="952980" cy="107722"/>
          </a:xfrm>
          <a:prstGeom prst="rect">
            <a:avLst/>
          </a:prstGeom>
          <a:noFill/>
        </p:spPr>
        <p:txBody>
          <a:bodyPr wrap="square" lIns="0" tIns="0" rIns="0" bIns="0" rtlCol="0">
            <a:spAutoFit/>
          </a:bodyPr>
          <a:lstStyle/>
          <a:p>
            <a:r>
              <a:rPr lang="ko-KR" altLang="en-US" sz="700" dirty="0">
                <a:latin typeface="+mn-ea"/>
              </a:rPr>
              <a:t>가격점수산식</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4681429" y="3863479"/>
            <a:ext cx="1758398" cy="400110"/>
          </a:xfrm>
          <a:prstGeom prst="rect">
            <a:avLst/>
          </a:prstGeom>
          <a:noFill/>
        </p:spPr>
        <p:txBody>
          <a:bodyPr wrap="square" lIns="0" tIns="0" rIns="0" bIns="0" rtlCol="0">
            <a:spAutoFit/>
          </a:bodyPr>
          <a:lstStyle/>
          <a:p>
            <a:r>
              <a:rPr lang="ko-KR" altLang="en-US" sz="650" dirty="0" err="1">
                <a:latin typeface="+mn-ea"/>
              </a:rPr>
              <a:t>산출식</a:t>
            </a:r>
            <a:r>
              <a:rPr lang="ko-KR" altLang="en-US" sz="650" dirty="0">
                <a:latin typeface="+mn-ea"/>
              </a:rPr>
              <a:t> </a:t>
            </a:r>
            <a:r>
              <a:rPr lang="en-US" altLang="ko-KR" sz="650" dirty="0">
                <a:latin typeface="+mn-ea"/>
              </a:rPr>
              <a:t>: </a:t>
            </a:r>
          </a:p>
          <a:p>
            <a:r>
              <a:rPr lang="en-US" altLang="ko-KR" sz="650" dirty="0">
                <a:latin typeface="+mn-ea"/>
              </a:rPr>
              <a:t>90 – 20 X {(88/100 – </a:t>
            </a:r>
            <a:r>
              <a:rPr lang="ko-KR" altLang="en-US" sz="650" dirty="0">
                <a:latin typeface="+mn-ea"/>
              </a:rPr>
              <a:t>입찰가격</a:t>
            </a:r>
            <a:r>
              <a:rPr lang="en-US" altLang="ko-KR" sz="650" dirty="0">
                <a:latin typeface="+mn-ea"/>
              </a:rPr>
              <a:t>/</a:t>
            </a:r>
            <a:r>
              <a:rPr lang="ko-KR" altLang="en-US" sz="650" dirty="0">
                <a:latin typeface="+mn-ea"/>
              </a:rPr>
              <a:t>예정가격</a:t>
            </a:r>
            <a:r>
              <a:rPr lang="en-US" altLang="ko-KR" sz="650" dirty="0">
                <a:latin typeface="+mn-ea"/>
              </a:rPr>
              <a:t>) X 100}</a:t>
            </a:r>
          </a:p>
          <a:p>
            <a:r>
              <a:rPr lang="en-US" altLang="ko-KR" sz="650" dirty="0">
                <a:latin typeface="+mn-ea"/>
              </a:rPr>
              <a:t>[</a:t>
            </a:r>
            <a:r>
              <a:rPr lang="ko-KR" altLang="en-US" sz="650" dirty="0" err="1">
                <a:latin typeface="+mn-ea"/>
              </a:rPr>
              <a:t>입찰률</a:t>
            </a:r>
            <a:r>
              <a:rPr lang="en-US" altLang="ko-KR" sz="650" dirty="0">
                <a:latin typeface="+mn-ea"/>
              </a:rPr>
              <a:t>(</a:t>
            </a:r>
            <a:r>
              <a:rPr lang="ko-KR" altLang="en-US" sz="650" dirty="0">
                <a:latin typeface="+mn-ea"/>
              </a:rPr>
              <a:t>입찰가격 </a:t>
            </a:r>
            <a:r>
              <a:rPr lang="en-US" altLang="ko-KR" sz="650" dirty="0">
                <a:latin typeface="+mn-ea"/>
              </a:rPr>
              <a:t>/ </a:t>
            </a:r>
            <a:r>
              <a:rPr lang="ko-KR" altLang="en-US" sz="650" dirty="0">
                <a:latin typeface="+mn-ea"/>
              </a:rPr>
              <a:t>예정가격</a:t>
            </a:r>
            <a:r>
              <a:rPr lang="en-US" altLang="ko-KR" sz="650" dirty="0">
                <a:latin typeface="+mn-ea"/>
              </a:rPr>
              <a:t>) (%)]</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4667515" y="4407321"/>
            <a:ext cx="1772311" cy="800219"/>
          </a:xfrm>
          <a:prstGeom prst="rect">
            <a:avLst/>
          </a:prstGeom>
          <a:noFill/>
        </p:spPr>
        <p:txBody>
          <a:bodyPr wrap="square" lIns="0" tIns="0" rIns="0" bIns="0" rtlCol="0">
            <a:spAutoFit/>
          </a:bodyPr>
          <a:lstStyle/>
          <a:p>
            <a:r>
              <a:rPr lang="ko-KR" altLang="en-US" sz="650" dirty="0">
                <a:solidFill>
                  <a:srgbClr val="0070C0"/>
                </a:solidFill>
                <a:latin typeface="+mn-ea"/>
              </a:rPr>
              <a:t>* </a:t>
            </a:r>
            <a:r>
              <a:rPr lang="en-US" altLang="ko-KR" sz="650" dirty="0">
                <a:solidFill>
                  <a:srgbClr val="0070C0"/>
                </a:solidFill>
                <a:latin typeface="+mn-ea"/>
              </a:rPr>
              <a:t>2020.1.10 </a:t>
            </a:r>
            <a:r>
              <a:rPr lang="ko-KR" altLang="en-US" sz="650" dirty="0" err="1">
                <a:solidFill>
                  <a:srgbClr val="0070C0"/>
                </a:solidFill>
                <a:latin typeface="+mn-ea"/>
              </a:rPr>
              <a:t>공고건</a:t>
            </a:r>
            <a:r>
              <a:rPr lang="ko-KR" altLang="en-US" sz="650" dirty="0">
                <a:solidFill>
                  <a:srgbClr val="0070C0"/>
                </a:solidFill>
                <a:latin typeface="+mn-ea"/>
              </a:rPr>
              <a:t> 이후 산식</a:t>
            </a:r>
          </a:p>
          <a:p>
            <a:r>
              <a:rPr lang="ko-KR" altLang="en-US" sz="650" dirty="0" err="1">
                <a:latin typeface="+mn-ea"/>
              </a:rPr>
              <a:t>산출식</a:t>
            </a:r>
            <a:r>
              <a:rPr lang="ko-KR" altLang="en-US" sz="650" dirty="0">
                <a:latin typeface="+mn-ea"/>
              </a:rPr>
              <a:t> </a:t>
            </a:r>
            <a:r>
              <a:rPr lang="en-US" altLang="ko-KR" sz="650" dirty="0">
                <a:latin typeface="+mn-ea"/>
              </a:rPr>
              <a:t>: </a:t>
            </a:r>
          </a:p>
          <a:p>
            <a:r>
              <a:rPr lang="en-US" altLang="ko-KR" sz="650" dirty="0">
                <a:latin typeface="+mn-ea"/>
              </a:rPr>
              <a:t>90 – 20 X {(88/100 – </a:t>
            </a:r>
            <a:r>
              <a:rPr lang="ko-KR" altLang="en-US" sz="650" dirty="0">
                <a:latin typeface="+mn-ea"/>
              </a:rPr>
              <a:t>입찰가격 </a:t>
            </a:r>
            <a:r>
              <a:rPr lang="en-US" altLang="ko-KR" sz="650" dirty="0">
                <a:latin typeface="+mn-ea"/>
              </a:rPr>
              <a:t>- A / </a:t>
            </a:r>
            <a:r>
              <a:rPr lang="ko-KR" altLang="en-US" sz="650" dirty="0">
                <a:latin typeface="+mn-ea"/>
              </a:rPr>
              <a:t>예정가격 </a:t>
            </a:r>
            <a:r>
              <a:rPr lang="en-US" altLang="ko-KR" sz="650" dirty="0">
                <a:latin typeface="+mn-ea"/>
              </a:rPr>
              <a:t>- A) X 100}</a:t>
            </a:r>
          </a:p>
          <a:p>
            <a:r>
              <a:rPr lang="en-US" altLang="ko-KR" sz="650" dirty="0">
                <a:latin typeface="+mn-ea"/>
              </a:rPr>
              <a:t>[</a:t>
            </a:r>
            <a:r>
              <a:rPr lang="ko-KR" altLang="en-US" sz="650" dirty="0" err="1">
                <a:latin typeface="+mn-ea"/>
              </a:rPr>
              <a:t>입찰률</a:t>
            </a:r>
            <a:r>
              <a:rPr lang="en-US" altLang="ko-KR" sz="650" dirty="0">
                <a:latin typeface="+mn-ea"/>
              </a:rPr>
              <a:t>(</a:t>
            </a:r>
            <a:r>
              <a:rPr lang="ko-KR" altLang="en-US" sz="650" dirty="0">
                <a:latin typeface="+mn-ea"/>
              </a:rPr>
              <a:t>입찰가격 </a:t>
            </a:r>
            <a:r>
              <a:rPr lang="en-US" altLang="ko-KR" sz="650" dirty="0">
                <a:latin typeface="+mn-ea"/>
              </a:rPr>
              <a:t>- A / </a:t>
            </a:r>
            <a:r>
              <a:rPr lang="ko-KR" altLang="en-US" sz="650" dirty="0">
                <a:latin typeface="+mn-ea"/>
              </a:rPr>
              <a:t>예정가격 </a:t>
            </a:r>
            <a:r>
              <a:rPr lang="en-US" altLang="ko-KR" sz="650" dirty="0">
                <a:latin typeface="+mn-ea"/>
              </a:rPr>
              <a:t>- A) (%)]</a:t>
            </a:r>
          </a:p>
          <a:p>
            <a:r>
              <a:rPr lang="en-US" altLang="ko-KR" sz="650" dirty="0">
                <a:solidFill>
                  <a:srgbClr val="FF0000"/>
                </a:solidFill>
                <a:latin typeface="+mn-ea"/>
              </a:rPr>
              <a:t>A : </a:t>
            </a:r>
            <a:r>
              <a:rPr lang="ko-KR" altLang="en-US" sz="650" dirty="0">
                <a:solidFill>
                  <a:srgbClr val="FF0000"/>
                </a:solidFill>
                <a:latin typeface="+mn-ea"/>
              </a:rPr>
              <a:t>국민연금</a:t>
            </a:r>
            <a:r>
              <a:rPr lang="en-US" altLang="ko-KR" sz="650" dirty="0">
                <a:solidFill>
                  <a:srgbClr val="FF0000"/>
                </a:solidFill>
                <a:latin typeface="+mn-ea"/>
              </a:rPr>
              <a:t>, </a:t>
            </a:r>
            <a:r>
              <a:rPr lang="ko-KR" altLang="en-US" sz="650" dirty="0">
                <a:solidFill>
                  <a:srgbClr val="FF0000"/>
                </a:solidFill>
                <a:latin typeface="+mn-ea"/>
              </a:rPr>
              <a:t>건강보험</a:t>
            </a:r>
            <a:r>
              <a:rPr lang="en-US" altLang="ko-KR" sz="650" dirty="0">
                <a:solidFill>
                  <a:srgbClr val="FF0000"/>
                </a:solidFill>
                <a:latin typeface="+mn-ea"/>
              </a:rPr>
              <a:t>, </a:t>
            </a:r>
            <a:r>
              <a:rPr lang="ko-KR" altLang="en-US" sz="650" dirty="0">
                <a:solidFill>
                  <a:srgbClr val="FF0000"/>
                </a:solidFill>
                <a:latin typeface="+mn-ea"/>
              </a:rPr>
              <a:t>퇴직공제부금비</a:t>
            </a:r>
            <a:r>
              <a:rPr lang="en-US" altLang="ko-KR" sz="650" dirty="0">
                <a:solidFill>
                  <a:srgbClr val="FF0000"/>
                </a:solidFill>
                <a:latin typeface="+mn-ea"/>
              </a:rPr>
              <a:t>, </a:t>
            </a:r>
            <a:r>
              <a:rPr lang="ko-KR" altLang="en-US" sz="650" dirty="0">
                <a:solidFill>
                  <a:srgbClr val="FF0000"/>
                </a:solidFill>
                <a:latin typeface="+mn-ea"/>
              </a:rPr>
              <a:t>노인장기요양보험</a:t>
            </a:r>
            <a:r>
              <a:rPr lang="en-US" altLang="ko-KR" sz="650" dirty="0">
                <a:solidFill>
                  <a:srgbClr val="FF0000"/>
                </a:solidFill>
                <a:latin typeface="+mn-ea"/>
              </a:rPr>
              <a:t>, </a:t>
            </a:r>
            <a:r>
              <a:rPr lang="ko-KR" altLang="en-US" sz="650" dirty="0">
                <a:solidFill>
                  <a:srgbClr val="FF0000"/>
                </a:solidFill>
                <a:latin typeface="+mn-ea"/>
              </a:rPr>
              <a:t>산업안전보건관리비</a:t>
            </a:r>
            <a:r>
              <a:rPr lang="en-US" altLang="ko-KR" sz="650" dirty="0">
                <a:solidFill>
                  <a:srgbClr val="FF0000"/>
                </a:solidFill>
                <a:latin typeface="+mn-ea"/>
              </a:rPr>
              <a:t>, </a:t>
            </a:r>
            <a:r>
              <a:rPr lang="ko-KR" altLang="en-US" sz="650" dirty="0">
                <a:solidFill>
                  <a:srgbClr val="FF0000"/>
                </a:solidFill>
                <a:latin typeface="+mn-ea"/>
              </a:rPr>
              <a:t>안전관리비의 </a:t>
            </a:r>
            <a:r>
              <a:rPr lang="ko-KR" altLang="en-US" sz="650" dirty="0" err="1">
                <a:solidFill>
                  <a:srgbClr val="FF0000"/>
                </a:solidFill>
                <a:latin typeface="+mn-ea"/>
              </a:rPr>
              <a:t>합산액</a:t>
            </a:r>
            <a:endParaRPr lang="ko-KR" altLang="en-US" sz="650" dirty="0">
              <a:solidFill>
                <a:srgbClr val="FF0000"/>
              </a:solidFill>
              <a:latin typeface="+mn-ea"/>
            </a:endParaRPr>
          </a:p>
        </p:txBody>
      </p:sp>
      <p:cxnSp>
        <p:nvCxnSpPr>
          <p:cNvPr id="175" name="직선 연결선 174">
            <a:extLst>
              <a:ext uri="{FF2B5EF4-FFF2-40B4-BE49-F238E27FC236}">
                <a16:creationId xmlns:a16="http://schemas.microsoft.com/office/drawing/2014/main" id="{E9293055-D5CD-4B9E-7F64-64B2D2CA7A52}"/>
              </a:ext>
            </a:extLst>
          </p:cNvPr>
          <p:cNvCxnSpPr/>
          <p:nvPr/>
        </p:nvCxnSpPr>
        <p:spPr>
          <a:xfrm>
            <a:off x="4632136" y="4335455"/>
            <a:ext cx="1836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6" name="TextBox 175">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7" name="TextBox 17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Tree>
    <p:extLst>
      <p:ext uri="{BB962C8B-B14F-4D97-AF65-F5344CB8AC3E}">
        <p14:creationId xmlns:p14="http://schemas.microsoft.com/office/powerpoint/2010/main" val="282086270"/>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직사각형 218"/>
          <p:cNvSpPr/>
          <p:nvPr/>
        </p:nvSpPr>
        <p:spPr>
          <a:xfrm>
            <a:off x="3838794" y="2581098"/>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0" name="직사각형 219"/>
          <p:cNvSpPr/>
          <p:nvPr/>
        </p:nvSpPr>
        <p:spPr>
          <a:xfrm>
            <a:off x="3838794" y="4133985"/>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7" name="직사각형 216"/>
          <p:cNvSpPr/>
          <p:nvPr/>
        </p:nvSpPr>
        <p:spPr>
          <a:xfrm>
            <a:off x="722610" y="3872383"/>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직사각형 217"/>
          <p:cNvSpPr/>
          <p:nvPr/>
        </p:nvSpPr>
        <p:spPr>
          <a:xfrm>
            <a:off x="722610" y="5112135"/>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직사각형 215"/>
          <p:cNvSpPr/>
          <p:nvPr/>
        </p:nvSpPr>
        <p:spPr>
          <a:xfrm>
            <a:off x="722610" y="2637466"/>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직사각형 6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263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- 3</a:t>
            </a:r>
            <a:r>
              <a:rPr lang="ko-KR" altLang="en-US" dirty="0"/>
              <a:t>억원미만공사</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3</a:t>
            </a:r>
            <a:r>
              <a:rPr lang="ko-KR" altLang="en-US" dirty="0"/>
              <a:t>억원미만공사일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err="1">
                <a:latin typeface="+mn-ea"/>
              </a:rPr>
              <a:t>특별신인도</a:t>
            </a:r>
            <a:r>
              <a:rPr lang="ko-KR" altLang="en-US" sz="700" dirty="0">
                <a:latin typeface="+mn-ea"/>
              </a:rPr>
              <a:t> 세부내용</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96" name="직선 연결선 95">
            <a:extLst>
              <a:ext uri="{FF2B5EF4-FFF2-40B4-BE49-F238E27FC236}">
                <a16:creationId xmlns:a16="http://schemas.microsoft.com/office/drawing/2014/main" id="{E9293055-D5CD-4B9E-7F64-64B2D2CA7A52}"/>
              </a:ext>
            </a:extLst>
          </p:cNvPr>
          <p:cNvCxnSpPr/>
          <p:nvPr/>
        </p:nvCxnSpPr>
        <p:spPr>
          <a:xfrm>
            <a:off x="675400" y="183548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2" name="TextBox 161">
            <a:extLst>
              <a:ext uri="{FF2B5EF4-FFF2-40B4-BE49-F238E27FC236}">
                <a16:creationId xmlns:a16="http://schemas.microsoft.com/office/drawing/2014/main" id="{FFC49AEA-2A8F-250C-A86A-A7751D9706C3}"/>
              </a:ext>
            </a:extLst>
          </p:cNvPr>
          <p:cNvSpPr txBox="1"/>
          <p:nvPr/>
        </p:nvSpPr>
        <p:spPr>
          <a:xfrm>
            <a:off x="763578" y="1867694"/>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3</a:t>
            </a:r>
            <a:r>
              <a:rPr lang="ko-KR" altLang="en-US" sz="700" dirty="0">
                <a:latin typeface="+mn-ea"/>
              </a:rPr>
              <a:t>년간 </a:t>
            </a:r>
            <a:r>
              <a:rPr lang="ko-KR" altLang="en-US" sz="700" dirty="0" err="1">
                <a:latin typeface="+mn-ea"/>
              </a:rPr>
              <a:t>시공실적</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평가등급 </a:t>
            </a:r>
            <a:r>
              <a:rPr lang="en-US" altLang="ko-KR" sz="700" dirty="0">
                <a:latin typeface="+mn-ea"/>
              </a:rPr>
              <a:t>:</a:t>
            </a:r>
            <a:endParaRPr lang="ko-KR" altLang="en-US" sz="700" dirty="0">
              <a:latin typeface="+mn-ea"/>
            </a:endParaRPr>
          </a:p>
        </p:txBody>
      </p:sp>
      <p:sp>
        <p:nvSpPr>
          <p:cNvPr id="126" name="TextBox 125">
            <a:extLst>
              <a:ext uri="{FF2B5EF4-FFF2-40B4-BE49-F238E27FC236}">
                <a16:creationId xmlns:a16="http://schemas.microsoft.com/office/drawing/2014/main" id="{FFC49AEA-2A8F-250C-A86A-A7751D9706C3}"/>
              </a:ext>
            </a:extLst>
          </p:cNvPr>
          <p:cNvSpPr txBox="1"/>
          <p:nvPr/>
        </p:nvSpPr>
        <p:spPr>
          <a:xfrm>
            <a:off x="1933656" y="2634694"/>
            <a:ext cx="179536" cy="430887"/>
          </a:xfrm>
          <a:prstGeom prst="rect">
            <a:avLst/>
          </a:prstGeom>
          <a:noFill/>
        </p:spPr>
        <p:txBody>
          <a:bodyPr wrap="none" lIns="0" tIns="0" rIns="0" bIns="0" rtlCol="0">
            <a:spAutoFit/>
          </a:bodyPr>
          <a:lstStyle/>
          <a:p>
            <a:pPr algn="ctr">
              <a:lnSpc>
                <a:spcPct val="200000"/>
              </a:lnSpc>
            </a:pPr>
            <a:r>
              <a:rPr lang="ko-KR" altLang="en-US" sz="700" dirty="0">
                <a:latin typeface="+mn-ea"/>
              </a:rPr>
              <a:t>등급</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28" name="TextBox 127">
            <a:extLst>
              <a:ext uri="{FF2B5EF4-FFF2-40B4-BE49-F238E27FC236}">
                <a16:creationId xmlns:a16="http://schemas.microsoft.com/office/drawing/2014/main" id="{FFC49AEA-2A8F-250C-A86A-A7751D9706C3}"/>
              </a:ext>
            </a:extLst>
          </p:cNvPr>
          <p:cNvSpPr txBox="1"/>
          <p:nvPr/>
        </p:nvSpPr>
        <p:spPr>
          <a:xfrm>
            <a:off x="1011640" y="2634694"/>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결과</a:t>
            </a:r>
            <a:endParaRPr lang="en-US" altLang="ko-KR" sz="700" dirty="0">
              <a:latin typeface="+mn-ea"/>
            </a:endParaRPr>
          </a:p>
          <a:p>
            <a:pPr algn="ctr">
              <a:lnSpc>
                <a:spcPct val="200000"/>
              </a:lnSpc>
            </a:pPr>
            <a:r>
              <a:rPr lang="en-US" altLang="ko-KR" sz="700" dirty="0">
                <a:latin typeface="+mn-ea"/>
              </a:rPr>
              <a:t>-</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716366" y="26346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718459" y="28494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18459" y="30486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2858086" y="2634694"/>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177" name="TextBox 176">
            <a:extLst>
              <a:ext uri="{FF2B5EF4-FFF2-40B4-BE49-F238E27FC236}">
                <a16:creationId xmlns:a16="http://schemas.microsoft.com/office/drawing/2014/main" id="{FFC49AEA-2A8F-250C-A86A-A7751D9706C3}"/>
              </a:ext>
            </a:extLst>
          </p:cNvPr>
          <p:cNvSpPr txBox="1"/>
          <p:nvPr/>
        </p:nvSpPr>
        <p:spPr>
          <a:xfrm>
            <a:off x="805521" y="2315990"/>
            <a:ext cx="2507485" cy="215444"/>
          </a:xfrm>
          <a:prstGeom prst="rect">
            <a:avLst/>
          </a:prstGeom>
          <a:noFill/>
        </p:spPr>
        <p:txBody>
          <a:bodyPr wrap="square" lIns="0" tIns="0" rIns="0" bIns="0" rtlCol="0">
            <a:spAutoFit/>
          </a:bodyPr>
          <a:lstStyle/>
          <a:p>
            <a:r>
              <a:rPr lang="en-US" altLang="ko-KR" sz="700" dirty="0">
                <a:latin typeface="+mn-ea"/>
              </a:rPr>
              <a:t>A. 3</a:t>
            </a:r>
            <a:r>
              <a:rPr lang="ko-KR" altLang="en-US" sz="700" dirty="0">
                <a:latin typeface="+mn-ea"/>
              </a:rPr>
              <a:t>년간 </a:t>
            </a:r>
            <a:r>
              <a:rPr lang="ko-KR" altLang="en-US" sz="700" dirty="0" err="1">
                <a:latin typeface="+mn-ea"/>
              </a:rPr>
              <a:t>시공실적이</a:t>
            </a:r>
            <a:r>
              <a:rPr lang="ko-KR" altLang="en-US" sz="700" dirty="0">
                <a:latin typeface="+mn-ea"/>
              </a:rPr>
              <a:t> </a:t>
            </a:r>
            <a:r>
              <a:rPr lang="ko-KR" altLang="en-US" sz="700" dirty="0" err="1">
                <a:latin typeface="+mn-ea"/>
              </a:rPr>
              <a:t>추정금액의</a:t>
            </a:r>
            <a:r>
              <a:rPr lang="ko-KR" altLang="en-US" sz="700" dirty="0">
                <a:latin typeface="+mn-ea"/>
              </a:rPr>
              <a:t> </a:t>
            </a:r>
            <a:r>
              <a:rPr lang="en-US" altLang="ko-KR" sz="700" dirty="0">
                <a:latin typeface="+mn-ea"/>
              </a:rPr>
              <a:t>1</a:t>
            </a:r>
            <a:r>
              <a:rPr lang="ko-KR" altLang="en-US" sz="700" dirty="0">
                <a:latin typeface="+mn-ea"/>
              </a:rPr>
              <a:t>배 이상인 자 </a:t>
            </a:r>
            <a:r>
              <a:rPr lang="en-US" altLang="ko-KR" sz="700" dirty="0">
                <a:latin typeface="+mn-ea"/>
              </a:rPr>
              <a:t>: +2</a:t>
            </a:r>
            <a:r>
              <a:rPr lang="ko-KR" altLang="en-US" sz="700" dirty="0">
                <a:latin typeface="+mn-ea"/>
              </a:rPr>
              <a:t>점</a:t>
            </a:r>
          </a:p>
          <a:p>
            <a:r>
              <a:rPr lang="ko-KR" altLang="en-US" sz="700" dirty="0">
                <a:latin typeface="+mn-ea"/>
              </a:rPr>
              <a:t>* 평가 </a:t>
            </a:r>
            <a:r>
              <a:rPr lang="en-US" altLang="ko-KR" sz="700" dirty="0">
                <a:latin typeface="+mn-ea"/>
              </a:rPr>
              <a:t>= </a:t>
            </a:r>
            <a:r>
              <a:rPr lang="ko-KR" altLang="en-US" sz="700" dirty="0" err="1">
                <a:latin typeface="+mn-ea"/>
              </a:rPr>
              <a:t>시공실적</a:t>
            </a:r>
            <a:r>
              <a:rPr lang="ko-KR" altLang="en-US" sz="700" dirty="0">
                <a:latin typeface="+mn-ea"/>
              </a:rPr>
              <a:t> </a:t>
            </a:r>
            <a:r>
              <a:rPr lang="en-US" altLang="ko-KR" sz="700" dirty="0">
                <a:latin typeface="+mn-ea"/>
              </a:rPr>
              <a:t>: 2,000  </a:t>
            </a:r>
            <a:r>
              <a:rPr lang="ko-KR" altLang="en-US" sz="700" dirty="0">
                <a:latin typeface="+mn-ea"/>
              </a:rPr>
              <a:t>백만원 </a:t>
            </a:r>
            <a:r>
              <a:rPr lang="ko-KR" altLang="en-US" sz="700" dirty="0" err="1">
                <a:latin typeface="+mn-ea"/>
              </a:rPr>
              <a:t>추정금액</a:t>
            </a:r>
            <a:r>
              <a:rPr lang="ko-KR" altLang="en-US" sz="700" dirty="0">
                <a:latin typeface="+mn-ea"/>
              </a:rPr>
              <a:t> </a:t>
            </a:r>
            <a:r>
              <a:rPr lang="en-US" altLang="ko-KR" sz="700" dirty="0">
                <a:latin typeface="+mn-ea"/>
              </a:rPr>
              <a:t>: 1,000  </a:t>
            </a:r>
            <a:r>
              <a:rPr lang="ko-KR" altLang="en-US" sz="700" dirty="0">
                <a:latin typeface="+mn-ea"/>
              </a:rPr>
              <a:t>백만원</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763578" y="3101857"/>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지체상금 </a:t>
            </a:r>
            <a:r>
              <a:rPr lang="ko-KR" altLang="en-US" sz="700" dirty="0" err="1">
                <a:latin typeface="+mn-ea"/>
              </a:rPr>
              <a:t>부과여부</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평가등급 </a:t>
            </a:r>
            <a:r>
              <a:rPr lang="en-US" altLang="ko-KR" sz="700" dirty="0">
                <a:latin typeface="+mn-ea"/>
              </a:rPr>
              <a:t>:</a:t>
            </a:r>
            <a:endParaRPr lang="ko-KR" altLang="en-US" sz="700" dirty="0">
              <a:latin typeface="+mn-ea"/>
            </a:endParaRPr>
          </a:p>
        </p:txBody>
      </p:sp>
      <p:sp>
        <p:nvSpPr>
          <p:cNvPr id="180" name="TextBox 179">
            <a:extLst>
              <a:ext uri="{FF2B5EF4-FFF2-40B4-BE49-F238E27FC236}">
                <a16:creationId xmlns:a16="http://schemas.microsoft.com/office/drawing/2014/main" id="{FFC49AEA-2A8F-250C-A86A-A7751D9706C3}"/>
              </a:ext>
            </a:extLst>
          </p:cNvPr>
          <p:cNvSpPr txBox="1"/>
          <p:nvPr/>
        </p:nvSpPr>
        <p:spPr>
          <a:xfrm>
            <a:off x="1933656" y="3868857"/>
            <a:ext cx="179536" cy="430887"/>
          </a:xfrm>
          <a:prstGeom prst="rect">
            <a:avLst/>
          </a:prstGeom>
          <a:noFill/>
        </p:spPr>
        <p:txBody>
          <a:bodyPr wrap="none" lIns="0" tIns="0" rIns="0" bIns="0" rtlCol="0">
            <a:spAutoFit/>
          </a:bodyPr>
          <a:lstStyle/>
          <a:p>
            <a:pPr algn="ctr">
              <a:lnSpc>
                <a:spcPct val="200000"/>
              </a:lnSpc>
            </a:pPr>
            <a:r>
              <a:rPr lang="ko-KR" altLang="en-US" sz="700" dirty="0">
                <a:latin typeface="+mn-ea"/>
              </a:rPr>
              <a:t>등급</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81" name="TextBox 180">
            <a:extLst>
              <a:ext uri="{FF2B5EF4-FFF2-40B4-BE49-F238E27FC236}">
                <a16:creationId xmlns:a16="http://schemas.microsoft.com/office/drawing/2014/main" id="{FFC49AEA-2A8F-250C-A86A-A7751D9706C3}"/>
              </a:ext>
            </a:extLst>
          </p:cNvPr>
          <p:cNvSpPr txBox="1"/>
          <p:nvPr/>
        </p:nvSpPr>
        <p:spPr>
          <a:xfrm>
            <a:off x="1011640" y="3868857"/>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결과</a:t>
            </a:r>
            <a:endParaRPr lang="en-US" altLang="ko-KR" sz="700" dirty="0">
              <a:latin typeface="+mn-ea"/>
            </a:endParaRPr>
          </a:p>
          <a:p>
            <a:pPr algn="ctr">
              <a:lnSpc>
                <a:spcPct val="200000"/>
              </a:lnSpc>
            </a:pPr>
            <a:r>
              <a:rPr lang="en-US" altLang="ko-KR" sz="700" dirty="0">
                <a:latin typeface="+mn-ea"/>
              </a:rPr>
              <a:t>-</a:t>
            </a:r>
          </a:p>
        </p:txBody>
      </p:sp>
      <p:cxnSp>
        <p:nvCxnSpPr>
          <p:cNvPr id="182" name="직선 연결선 181">
            <a:extLst>
              <a:ext uri="{FF2B5EF4-FFF2-40B4-BE49-F238E27FC236}">
                <a16:creationId xmlns:a16="http://schemas.microsoft.com/office/drawing/2014/main" id="{E9293055-D5CD-4B9E-7F64-64B2D2CA7A52}"/>
              </a:ext>
            </a:extLst>
          </p:cNvPr>
          <p:cNvCxnSpPr/>
          <p:nvPr/>
        </p:nvCxnSpPr>
        <p:spPr>
          <a:xfrm>
            <a:off x="716366" y="38688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18459" y="40835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18459" y="42828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2858086" y="3868857"/>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186" name="TextBox 185">
            <a:extLst>
              <a:ext uri="{FF2B5EF4-FFF2-40B4-BE49-F238E27FC236}">
                <a16:creationId xmlns:a16="http://schemas.microsoft.com/office/drawing/2014/main" id="{FFC49AEA-2A8F-250C-A86A-A7751D9706C3}"/>
              </a:ext>
            </a:extLst>
          </p:cNvPr>
          <p:cNvSpPr txBox="1"/>
          <p:nvPr/>
        </p:nvSpPr>
        <p:spPr>
          <a:xfrm>
            <a:off x="805521" y="3550153"/>
            <a:ext cx="2507485" cy="215444"/>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지체상금부과일수 </a:t>
            </a:r>
            <a:r>
              <a:rPr lang="en-US" altLang="ko-KR" sz="700" dirty="0">
                <a:latin typeface="+mn-ea"/>
              </a:rPr>
              <a:t>10</a:t>
            </a:r>
            <a:r>
              <a:rPr lang="ko-KR" altLang="en-US" sz="700" dirty="0">
                <a:latin typeface="+mn-ea"/>
              </a:rPr>
              <a:t>일 미만 </a:t>
            </a:r>
            <a:r>
              <a:rPr lang="en-US" altLang="ko-KR" sz="700" dirty="0">
                <a:latin typeface="+mn-ea"/>
              </a:rPr>
              <a:t>: -0.5</a:t>
            </a:r>
            <a:r>
              <a:rPr lang="ko-KR" altLang="en-US" sz="700" dirty="0">
                <a:latin typeface="+mn-ea"/>
              </a:rPr>
              <a:t>점</a:t>
            </a:r>
          </a:p>
          <a:p>
            <a:r>
              <a:rPr lang="en-US" altLang="ko-KR" sz="700" dirty="0">
                <a:latin typeface="+mn-ea"/>
              </a:rPr>
              <a:t>B. </a:t>
            </a:r>
            <a:r>
              <a:rPr lang="ko-KR" altLang="en-US" sz="700" dirty="0">
                <a:latin typeface="+mn-ea"/>
              </a:rPr>
              <a:t>지체상금부과일수 </a:t>
            </a:r>
            <a:r>
              <a:rPr lang="en-US" altLang="ko-KR" sz="700" dirty="0">
                <a:latin typeface="+mn-ea"/>
              </a:rPr>
              <a:t>10</a:t>
            </a:r>
            <a:r>
              <a:rPr lang="ko-KR" altLang="en-US" sz="700" dirty="0">
                <a:latin typeface="+mn-ea"/>
              </a:rPr>
              <a:t>일 이상 </a:t>
            </a:r>
            <a:r>
              <a:rPr lang="en-US" altLang="ko-KR" sz="700" dirty="0">
                <a:latin typeface="+mn-ea"/>
              </a:rPr>
              <a:t>: -1</a:t>
            </a:r>
            <a:r>
              <a:rPr lang="ko-KR" altLang="en-US" sz="700" dirty="0">
                <a:latin typeface="+mn-ea"/>
              </a:rPr>
              <a:t>점</a:t>
            </a:r>
          </a:p>
        </p:txBody>
      </p:sp>
      <p:sp>
        <p:nvSpPr>
          <p:cNvPr id="187" name="TextBox 186">
            <a:extLst>
              <a:ext uri="{FF2B5EF4-FFF2-40B4-BE49-F238E27FC236}">
                <a16:creationId xmlns:a16="http://schemas.microsoft.com/office/drawing/2014/main" id="{FFC49AEA-2A8F-250C-A86A-A7751D9706C3}"/>
              </a:ext>
            </a:extLst>
          </p:cNvPr>
          <p:cNvSpPr txBox="1"/>
          <p:nvPr/>
        </p:nvSpPr>
        <p:spPr>
          <a:xfrm>
            <a:off x="763578" y="4341780"/>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하자보수 처리결과</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평가등급 </a:t>
            </a:r>
            <a:r>
              <a:rPr lang="en-US" altLang="ko-KR" sz="700" dirty="0">
                <a:latin typeface="+mn-ea"/>
              </a:rPr>
              <a:t>:</a:t>
            </a:r>
            <a:endParaRPr lang="ko-KR" altLang="en-US" sz="700" dirty="0">
              <a:latin typeface="+mn-ea"/>
            </a:endParaRPr>
          </a:p>
        </p:txBody>
      </p:sp>
      <p:sp>
        <p:nvSpPr>
          <p:cNvPr id="189" name="TextBox 188">
            <a:extLst>
              <a:ext uri="{FF2B5EF4-FFF2-40B4-BE49-F238E27FC236}">
                <a16:creationId xmlns:a16="http://schemas.microsoft.com/office/drawing/2014/main" id="{FFC49AEA-2A8F-250C-A86A-A7751D9706C3}"/>
              </a:ext>
            </a:extLst>
          </p:cNvPr>
          <p:cNvSpPr txBox="1"/>
          <p:nvPr/>
        </p:nvSpPr>
        <p:spPr>
          <a:xfrm>
            <a:off x="1933656" y="5108780"/>
            <a:ext cx="179536" cy="430887"/>
          </a:xfrm>
          <a:prstGeom prst="rect">
            <a:avLst/>
          </a:prstGeom>
          <a:noFill/>
        </p:spPr>
        <p:txBody>
          <a:bodyPr wrap="none" lIns="0" tIns="0" rIns="0" bIns="0" rtlCol="0">
            <a:spAutoFit/>
          </a:bodyPr>
          <a:lstStyle/>
          <a:p>
            <a:pPr algn="ctr">
              <a:lnSpc>
                <a:spcPct val="200000"/>
              </a:lnSpc>
            </a:pPr>
            <a:r>
              <a:rPr lang="ko-KR" altLang="en-US" sz="700" dirty="0">
                <a:latin typeface="+mn-ea"/>
              </a:rPr>
              <a:t>등급</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90" name="TextBox 189">
            <a:extLst>
              <a:ext uri="{FF2B5EF4-FFF2-40B4-BE49-F238E27FC236}">
                <a16:creationId xmlns:a16="http://schemas.microsoft.com/office/drawing/2014/main" id="{FFC49AEA-2A8F-250C-A86A-A7751D9706C3}"/>
              </a:ext>
            </a:extLst>
          </p:cNvPr>
          <p:cNvSpPr txBox="1"/>
          <p:nvPr/>
        </p:nvSpPr>
        <p:spPr>
          <a:xfrm>
            <a:off x="1011640" y="5108780"/>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결과</a:t>
            </a:r>
            <a:endParaRPr lang="en-US" altLang="ko-KR" sz="700" dirty="0">
              <a:latin typeface="+mn-ea"/>
            </a:endParaRPr>
          </a:p>
          <a:p>
            <a:pPr algn="ctr">
              <a:lnSpc>
                <a:spcPct val="200000"/>
              </a:lnSpc>
            </a:pPr>
            <a:r>
              <a:rPr lang="en-US" altLang="ko-KR" sz="700" dirty="0">
                <a:latin typeface="+mn-ea"/>
              </a:rPr>
              <a:t>-</a:t>
            </a: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716366" y="510878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18459" y="53235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18459" y="55227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2858086" y="5108780"/>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195" name="TextBox 194">
            <a:extLst>
              <a:ext uri="{FF2B5EF4-FFF2-40B4-BE49-F238E27FC236}">
                <a16:creationId xmlns:a16="http://schemas.microsoft.com/office/drawing/2014/main" id="{FFC49AEA-2A8F-250C-A86A-A7751D9706C3}"/>
              </a:ext>
            </a:extLst>
          </p:cNvPr>
          <p:cNvSpPr txBox="1"/>
          <p:nvPr/>
        </p:nvSpPr>
        <p:spPr>
          <a:xfrm>
            <a:off x="805521" y="4790076"/>
            <a:ext cx="2507485" cy="215444"/>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하자보수 통보를 받고 </a:t>
            </a:r>
            <a:r>
              <a:rPr lang="en-US" altLang="ko-KR" sz="700" dirty="0">
                <a:latin typeface="+mn-ea"/>
              </a:rPr>
              <a:t>15</a:t>
            </a:r>
            <a:r>
              <a:rPr lang="ko-KR" altLang="en-US" sz="700" dirty="0">
                <a:latin typeface="+mn-ea"/>
              </a:rPr>
              <a:t>일 이내에 착수하지 아니한 자 </a:t>
            </a:r>
            <a:r>
              <a:rPr lang="en-US" altLang="ko-KR" sz="700" dirty="0">
                <a:latin typeface="+mn-ea"/>
              </a:rPr>
              <a:t>: </a:t>
            </a:r>
          </a:p>
          <a:p>
            <a:r>
              <a:rPr lang="en-US" altLang="ko-KR" sz="700" dirty="0">
                <a:latin typeface="+mn-ea"/>
              </a:rPr>
              <a:t>-0.5</a:t>
            </a:r>
            <a:r>
              <a:rPr lang="ko-KR" altLang="en-US" sz="700" dirty="0">
                <a:latin typeface="+mn-ea"/>
              </a:rPr>
              <a:t>점</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3883913" y="1493927"/>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시공평가결과 </a:t>
            </a:r>
            <a:r>
              <a:rPr lang="en-US" altLang="ko-KR" sz="700" dirty="0">
                <a:latin typeface="+mn-ea"/>
              </a:rPr>
              <a:t>(</a:t>
            </a:r>
            <a:r>
              <a:rPr lang="ko-KR" altLang="en-US" sz="700" dirty="0">
                <a:latin typeface="+mn-ea"/>
              </a:rPr>
              <a:t>최근</a:t>
            </a:r>
            <a:r>
              <a:rPr lang="en-US" altLang="ko-KR" sz="700" dirty="0">
                <a:latin typeface="+mn-ea"/>
              </a:rPr>
              <a:t>3</a:t>
            </a:r>
            <a:r>
              <a:rPr lang="ko-KR" altLang="en-US" sz="700" dirty="0">
                <a:latin typeface="+mn-ea"/>
              </a:rPr>
              <a:t>년간</a:t>
            </a:r>
            <a:r>
              <a:rPr lang="en-US" altLang="ko-KR" sz="700" dirty="0">
                <a:latin typeface="+mn-ea"/>
              </a:rPr>
              <a:t>)</a:t>
            </a:r>
          </a:p>
          <a:p>
            <a:pPr>
              <a:lnSpc>
                <a:spcPct val="200000"/>
              </a:lnSpc>
            </a:pPr>
            <a:r>
              <a:rPr lang="en-US" altLang="ko-KR" sz="700" dirty="0">
                <a:latin typeface="+mn-ea"/>
              </a:rPr>
              <a:t>- </a:t>
            </a:r>
            <a:r>
              <a:rPr lang="ko-KR" altLang="en-US" sz="700" dirty="0">
                <a:latin typeface="+mn-ea"/>
              </a:rPr>
              <a:t>평가등급 </a:t>
            </a:r>
            <a:r>
              <a:rPr lang="en-US" altLang="ko-KR" sz="700" dirty="0">
                <a:latin typeface="+mn-ea"/>
              </a:rPr>
              <a:t>:</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5053991" y="2572564"/>
            <a:ext cx="179536" cy="430887"/>
          </a:xfrm>
          <a:prstGeom prst="rect">
            <a:avLst/>
          </a:prstGeom>
          <a:noFill/>
        </p:spPr>
        <p:txBody>
          <a:bodyPr wrap="none" lIns="0" tIns="0" rIns="0" bIns="0" rtlCol="0">
            <a:spAutoFit/>
          </a:bodyPr>
          <a:lstStyle/>
          <a:p>
            <a:pPr algn="ctr">
              <a:lnSpc>
                <a:spcPct val="200000"/>
              </a:lnSpc>
            </a:pPr>
            <a:r>
              <a:rPr lang="ko-KR" altLang="en-US" sz="700" dirty="0">
                <a:latin typeface="+mn-ea"/>
              </a:rPr>
              <a:t>등급</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4131975" y="2572564"/>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결과</a:t>
            </a:r>
            <a:endParaRPr lang="en-US" altLang="ko-KR" sz="700" dirty="0">
              <a:latin typeface="+mn-ea"/>
            </a:endParaRPr>
          </a:p>
          <a:p>
            <a:pPr algn="ctr">
              <a:lnSpc>
                <a:spcPct val="200000"/>
              </a:lnSpc>
            </a:pPr>
            <a:r>
              <a:rPr lang="en-US" altLang="ko-KR" sz="700" dirty="0">
                <a:latin typeface="+mn-ea"/>
              </a:rPr>
              <a:t>-</a:t>
            </a:r>
          </a:p>
        </p:txBody>
      </p:sp>
      <p:cxnSp>
        <p:nvCxnSpPr>
          <p:cNvPr id="200" name="직선 연결선 199">
            <a:extLst>
              <a:ext uri="{FF2B5EF4-FFF2-40B4-BE49-F238E27FC236}">
                <a16:creationId xmlns:a16="http://schemas.microsoft.com/office/drawing/2014/main" id="{E9293055-D5CD-4B9E-7F64-64B2D2CA7A52}"/>
              </a:ext>
            </a:extLst>
          </p:cNvPr>
          <p:cNvCxnSpPr/>
          <p:nvPr/>
        </p:nvCxnSpPr>
        <p:spPr>
          <a:xfrm>
            <a:off x="3836701" y="257256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8794" y="27873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3838794" y="29865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3" name="TextBox 202">
            <a:extLst>
              <a:ext uri="{FF2B5EF4-FFF2-40B4-BE49-F238E27FC236}">
                <a16:creationId xmlns:a16="http://schemas.microsoft.com/office/drawing/2014/main" id="{FFC49AEA-2A8F-250C-A86A-A7751D9706C3}"/>
              </a:ext>
            </a:extLst>
          </p:cNvPr>
          <p:cNvSpPr txBox="1"/>
          <p:nvPr/>
        </p:nvSpPr>
        <p:spPr>
          <a:xfrm>
            <a:off x="5978421" y="2572564"/>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204" name="TextBox 203">
            <a:extLst>
              <a:ext uri="{FF2B5EF4-FFF2-40B4-BE49-F238E27FC236}">
                <a16:creationId xmlns:a16="http://schemas.microsoft.com/office/drawing/2014/main" id="{FFC49AEA-2A8F-250C-A86A-A7751D9706C3}"/>
              </a:ext>
            </a:extLst>
          </p:cNvPr>
          <p:cNvSpPr txBox="1"/>
          <p:nvPr/>
        </p:nvSpPr>
        <p:spPr>
          <a:xfrm>
            <a:off x="3925856" y="1942223"/>
            <a:ext cx="2507485" cy="538609"/>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평균점수가 </a:t>
            </a:r>
            <a:r>
              <a:rPr lang="en-US" altLang="ko-KR" sz="700" dirty="0">
                <a:latin typeface="+mn-ea"/>
              </a:rPr>
              <a:t>90</a:t>
            </a:r>
            <a:r>
              <a:rPr lang="ko-KR" altLang="en-US" sz="700" dirty="0">
                <a:latin typeface="+mn-ea"/>
              </a:rPr>
              <a:t>점 </a:t>
            </a:r>
            <a:r>
              <a:rPr lang="ko-KR" altLang="en-US" sz="700" dirty="0" err="1">
                <a:latin typeface="+mn-ea"/>
              </a:rPr>
              <a:t>이상인자</a:t>
            </a:r>
            <a:r>
              <a:rPr lang="ko-KR" altLang="en-US" sz="700" dirty="0">
                <a:latin typeface="+mn-ea"/>
              </a:rPr>
              <a:t> </a:t>
            </a:r>
            <a:r>
              <a:rPr lang="en-US" altLang="ko-KR" sz="700" dirty="0">
                <a:latin typeface="+mn-ea"/>
              </a:rPr>
              <a:t>: 0.6</a:t>
            </a:r>
            <a:r>
              <a:rPr lang="ko-KR" altLang="en-US" sz="700" dirty="0">
                <a:latin typeface="+mn-ea"/>
              </a:rPr>
              <a:t>점</a:t>
            </a:r>
          </a:p>
          <a:p>
            <a:r>
              <a:rPr lang="en-US" altLang="ko-KR" sz="700" dirty="0">
                <a:latin typeface="+mn-ea"/>
              </a:rPr>
              <a:t>B. </a:t>
            </a:r>
            <a:r>
              <a:rPr lang="ko-KR" altLang="en-US" sz="700" dirty="0">
                <a:latin typeface="+mn-ea"/>
              </a:rPr>
              <a:t>평균점수가 </a:t>
            </a:r>
            <a:r>
              <a:rPr lang="en-US" altLang="ko-KR" sz="700" dirty="0">
                <a:latin typeface="+mn-ea"/>
              </a:rPr>
              <a:t>85</a:t>
            </a:r>
            <a:r>
              <a:rPr lang="ko-KR" altLang="en-US" sz="700" dirty="0">
                <a:latin typeface="+mn-ea"/>
              </a:rPr>
              <a:t>점 이상 </a:t>
            </a:r>
            <a:r>
              <a:rPr lang="en-US" altLang="ko-KR" sz="700" dirty="0">
                <a:latin typeface="+mn-ea"/>
              </a:rPr>
              <a:t>90</a:t>
            </a:r>
            <a:r>
              <a:rPr lang="ko-KR" altLang="en-US" sz="700" dirty="0">
                <a:latin typeface="+mn-ea"/>
              </a:rPr>
              <a:t>점 미만인 자 </a:t>
            </a:r>
            <a:r>
              <a:rPr lang="en-US" altLang="ko-KR" sz="700" dirty="0">
                <a:latin typeface="+mn-ea"/>
              </a:rPr>
              <a:t>: 0.4</a:t>
            </a:r>
            <a:r>
              <a:rPr lang="ko-KR" altLang="en-US" sz="700" dirty="0">
                <a:latin typeface="+mn-ea"/>
              </a:rPr>
              <a:t>점</a:t>
            </a:r>
          </a:p>
          <a:p>
            <a:r>
              <a:rPr lang="en-US" altLang="ko-KR" sz="700" dirty="0">
                <a:latin typeface="+mn-ea"/>
              </a:rPr>
              <a:t>C. </a:t>
            </a:r>
            <a:r>
              <a:rPr lang="ko-KR" altLang="en-US" sz="700" dirty="0">
                <a:latin typeface="+mn-ea"/>
              </a:rPr>
              <a:t>평균점수가 </a:t>
            </a:r>
            <a:r>
              <a:rPr lang="en-US" altLang="ko-KR" sz="700" dirty="0">
                <a:latin typeface="+mn-ea"/>
              </a:rPr>
              <a:t>80</a:t>
            </a:r>
            <a:r>
              <a:rPr lang="ko-KR" altLang="en-US" sz="700" dirty="0">
                <a:latin typeface="+mn-ea"/>
              </a:rPr>
              <a:t>점 이상 </a:t>
            </a:r>
            <a:r>
              <a:rPr lang="en-US" altLang="ko-KR" sz="700" dirty="0">
                <a:latin typeface="+mn-ea"/>
              </a:rPr>
              <a:t>85</a:t>
            </a:r>
            <a:r>
              <a:rPr lang="ko-KR" altLang="en-US" sz="700" dirty="0">
                <a:latin typeface="+mn-ea"/>
              </a:rPr>
              <a:t>점 미만인 자 </a:t>
            </a:r>
            <a:r>
              <a:rPr lang="en-US" altLang="ko-KR" sz="700" dirty="0">
                <a:latin typeface="+mn-ea"/>
              </a:rPr>
              <a:t>: 0.2</a:t>
            </a:r>
            <a:r>
              <a:rPr lang="ko-KR" altLang="en-US" sz="700" dirty="0">
                <a:latin typeface="+mn-ea"/>
              </a:rPr>
              <a:t>점</a:t>
            </a:r>
          </a:p>
          <a:p>
            <a:r>
              <a:rPr lang="en-US" altLang="ko-KR" sz="700" dirty="0">
                <a:latin typeface="+mn-ea"/>
              </a:rPr>
              <a:t>D. </a:t>
            </a:r>
            <a:r>
              <a:rPr lang="ko-KR" altLang="en-US" sz="700" dirty="0">
                <a:latin typeface="+mn-ea"/>
              </a:rPr>
              <a:t>평균점수가 </a:t>
            </a:r>
            <a:r>
              <a:rPr lang="en-US" altLang="ko-KR" sz="700" dirty="0">
                <a:latin typeface="+mn-ea"/>
              </a:rPr>
              <a:t>70</a:t>
            </a:r>
            <a:r>
              <a:rPr lang="ko-KR" altLang="en-US" sz="700" dirty="0">
                <a:latin typeface="+mn-ea"/>
              </a:rPr>
              <a:t>점 이상 </a:t>
            </a:r>
            <a:r>
              <a:rPr lang="en-US" altLang="ko-KR" sz="700" dirty="0">
                <a:latin typeface="+mn-ea"/>
              </a:rPr>
              <a:t>80</a:t>
            </a:r>
            <a:r>
              <a:rPr lang="ko-KR" altLang="en-US" sz="700" dirty="0">
                <a:latin typeface="+mn-ea"/>
              </a:rPr>
              <a:t>점 미만인 자 </a:t>
            </a:r>
            <a:r>
              <a:rPr lang="en-US" altLang="ko-KR" sz="700" dirty="0">
                <a:latin typeface="+mn-ea"/>
              </a:rPr>
              <a:t>: 0</a:t>
            </a:r>
            <a:r>
              <a:rPr lang="ko-KR" altLang="en-US" sz="700" dirty="0">
                <a:latin typeface="+mn-ea"/>
              </a:rPr>
              <a:t>점</a:t>
            </a:r>
          </a:p>
          <a:p>
            <a:r>
              <a:rPr lang="en-US" altLang="ko-KR" sz="700" dirty="0">
                <a:latin typeface="+mn-ea"/>
              </a:rPr>
              <a:t>E. </a:t>
            </a:r>
            <a:r>
              <a:rPr lang="ko-KR" altLang="en-US" sz="700" dirty="0">
                <a:latin typeface="+mn-ea"/>
              </a:rPr>
              <a:t>평균점수가 </a:t>
            </a:r>
            <a:r>
              <a:rPr lang="en-US" altLang="ko-KR" sz="700" dirty="0">
                <a:latin typeface="+mn-ea"/>
              </a:rPr>
              <a:t>70</a:t>
            </a:r>
            <a:r>
              <a:rPr lang="ko-KR" altLang="en-US" sz="700" dirty="0">
                <a:latin typeface="+mn-ea"/>
              </a:rPr>
              <a:t>점 미만인 자 </a:t>
            </a:r>
            <a:r>
              <a:rPr lang="en-US" altLang="ko-KR" sz="700" dirty="0">
                <a:latin typeface="+mn-ea"/>
              </a:rPr>
              <a:t>: -1</a:t>
            </a:r>
            <a:r>
              <a:rPr lang="ko-KR" altLang="en-US" sz="700" dirty="0">
                <a:latin typeface="+mn-ea"/>
              </a:rPr>
              <a:t>점</a:t>
            </a:r>
          </a:p>
        </p:txBody>
      </p:sp>
      <p:sp>
        <p:nvSpPr>
          <p:cNvPr id="205" name="TextBox 204">
            <a:extLst>
              <a:ext uri="{FF2B5EF4-FFF2-40B4-BE49-F238E27FC236}">
                <a16:creationId xmlns:a16="http://schemas.microsoft.com/office/drawing/2014/main" id="{FFC49AEA-2A8F-250C-A86A-A7751D9706C3}"/>
              </a:ext>
            </a:extLst>
          </p:cNvPr>
          <p:cNvSpPr txBox="1"/>
          <p:nvPr/>
        </p:nvSpPr>
        <p:spPr>
          <a:xfrm>
            <a:off x="3883913" y="3048686"/>
            <a:ext cx="2535669" cy="396583"/>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a:t>
            </a:r>
            <a:r>
              <a:rPr lang="ko-KR" altLang="en-US" sz="700" dirty="0">
                <a:latin typeface="+mn-ea"/>
              </a:rPr>
              <a:t>우수건설업자 지정</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평가등급 </a:t>
            </a:r>
            <a:r>
              <a:rPr lang="en-US" altLang="ko-KR" sz="700" dirty="0">
                <a:latin typeface="+mn-ea"/>
              </a:rPr>
              <a:t>:</a:t>
            </a:r>
            <a:endParaRPr lang="ko-KR" altLang="en-US" sz="700" dirty="0">
              <a:latin typeface="+mn-ea"/>
            </a:endParaRPr>
          </a:p>
        </p:txBody>
      </p:sp>
      <p:sp>
        <p:nvSpPr>
          <p:cNvPr id="207" name="TextBox 206">
            <a:extLst>
              <a:ext uri="{FF2B5EF4-FFF2-40B4-BE49-F238E27FC236}">
                <a16:creationId xmlns:a16="http://schemas.microsoft.com/office/drawing/2014/main" id="{FFC49AEA-2A8F-250C-A86A-A7751D9706C3}"/>
              </a:ext>
            </a:extLst>
          </p:cNvPr>
          <p:cNvSpPr txBox="1"/>
          <p:nvPr/>
        </p:nvSpPr>
        <p:spPr>
          <a:xfrm>
            <a:off x="5053991" y="4127323"/>
            <a:ext cx="179536" cy="396583"/>
          </a:xfrm>
          <a:prstGeom prst="rect">
            <a:avLst/>
          </a:prstGeom>
          <a:noFill/>
        </p:spPr>
        <p:txBody>
          <a:bodyPr wrap="none" lIns="0" tIns="0" rIns="0" bIns="0" rtlCol="0">
            <a:spAutoFit/>
          </a:bodyPr>
          <a:lstStyle/>
          <a:p>
            <a:pPr algn="ctr">
              <a:lnSpc>
                <a:spcPct val="200000"/>
              </a:lnSpc>
            </a:pPr>
            <a:r>
              <a:rPr lang="ko-KR" altLang="en-US" sz="700" dirty="0">
                <a:latin typeface="+mn-ea"/>
              </a:rPr>
              <a:t>등급</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4131975" y="4127323"/>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결과</a:t>
            </a:r>
            <a:endParaRPr lang="en-US" altLang="ko-KR" sz="700" dirty="0">
              <a:latin typeface="+mn-ea"/>
            </a:endParaRPr>
          </a:p>
          <a:p>
            <a:pPr algn="ctr">
              <a:lnSpc>
                <a:spcPct val="200000"/>
              </a:lnSpc>
            </a:pPr>
            <a:r>
              <a:rPr lang="en-US" altLang="ko-KR" sz="700" dirty="0">
                <a:latin typeface="+mn-ea"/>
              </a:rPr>
              <a:t>-</a:t>
            </a:r>
          </a:p>
        </p:txBody>
      </p:sp>
      <p:cxnSp>
        <p:nvCxnSpPr>
          <p:cNvPr id="209" name="직선 연결선 208">
            <a:extLst>
              <a:ext uri="{FF2B5EF4-FFF2-40B4-BE49-F238E27FC236}">
                <a16:creationId xmlns:a16="http://schemas.microsoft.com/office/drawing/2014/main" id="{E9293055-D5CD-4B9E-7F64-64B2D2CA7A52}"/>
              </a:ext>
            </a:extLst>
          </p:cNvPr>
          <p:cNvCxnSpPr/>
          <p:nvPr/>
        </p:nvCxnSpPr>
        <p:spPr>
          <a:xfrm>
            <a:off x="3836701" y="412732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0" name="직선 연결선 209">
            <a:extLst>
              <a:ext uri="{FF2B5EF4-FFF2-40B4-BE49-F238E27FC236}">
                <a16:creationId xmlns:a16="http://schemas.microsoft.com/office/drawing/2014/main" id="{E9293055-D5CD-4B9E-7F64-64B2D2CA7A52}"/>
              </a:ext>
            </a:extLst>
          </p:cNvPr>
          <p:cNvCxnSpPr/>
          <p:nvPr/>
        </p:nvCxnSpPr>
        <p:spPr>
          <a:xfrm>
            <a:off x="3838794" y="43420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1" name="직선 연결선 210">
            <a:extLst>
              <a:ext uri="{FF2B5EF4-FFF2-40B4-BE49-F238E27FC236}">
                <a16:creationId xmlns:a16="http://schemas.microsoft.com/office/drawing/2014/main" id="{E9293055-D5CD-4B9E-7F64-64B2D2CA7A52}"/>
              </a:ext>
            </a:extLst>
          </p:cNvPr>
          <p:cNvCxnSpPr/>
          <p:nvPr/>
        </p:nvCxnSpPr>
        <p:spPr>
          <a:xfrm>
            <a:off x="3838794" y="45413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2" name="TextBox 211">
            <a:extLst>
              <a:ext uri="{FF2B5EF4-FFF2-40B4-BE49-F238E27FC236}">
                <a16:creationId xmlns:a16="http://schemas.microsoft.com/office/drawing/2014/main" id="{FFC49AEA-2A8F-250C-A86A-A7751D9706C3}"/>
              </a:ext>
            </a:extLst>
          </p:cNvPr>
          <p:cNvSpPr txBox="1"/>
          <p:nvPr/>
        </p:nvSpPr>
        <p:spPr>
          <a:xfrm>
            <a:off x="5978421" y="4127323"/>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3925856" y="3496982"/>
            <a:ext cx="2507485" cy="538609"/>
          </a:xfrm>
          <a:prstGeom prst="rect">
            <a:avLst/>
          </a:prstGeom>
          <a:noFill/>
        </p:spPr>
        <p:txBody>
          <a:bodyPr wrap="square" lIns="0" tIns="0" rIns="0" bIns="0" rtlCol="0">
            <a:spAutoFit/>
          </a:bodyPr>
          <a:lstStyle/>
          <a:p>
            <a:r>
              <a:rPr lang="en-US" altLang="ko-KR" sz="700" dirty="0">
                <a:latin typeface="+mn-ea"/>
              </a:rPr>
              <a:t>A. </a:t>
            </a:r>
            <a:r>
              <a:rPr lang="ko-KR" altLang="en-US" sz="700" dirty="0">
                <a:latin typeface="+mn-ea"/>
              </a:rPr>
              <a:t>중앙관서의 장</a:t>
            </a:r>
            <a:r>
              <a:rPr lang="en-US" altLang="ko-KR" sz="700" dirty="0">
                <a:latin typeface="+mn-ea"/>
              </a:rPr>
              <a:t>, </a:t>
            </a:r>
            <a:r>
              <a:rPr lang="ko-KR" altLang="en-US" sz="700" dirty="0">
                <a:latin typeface="+mn-ea"/>
              </a:rPr>
              <a:t>광역시</a:t>
            </a:r>
            <a:r>
              <a:rPr lang="en-US" altLang="ko-KR" sz="700" dirty="0">
                <a:latin typeface="+mn-ea"/>
              </a:rPr>
              <a:t>, </a:t>
            </a:r>
            <a:r>
              <a:rPr lang="ko-KR" altLang="en-US" sz="700" dirty="0">
                <a:latin typeface="+mn-ea"/>
              </a:rPr>
              <a:t>도의 장으로부터 지정 받은 자 </a:t>
            </a:r>
            <a:r>
              <a:rPr lang="en-US" altLang="ko-KR" sz="700" dirty="0">
                <a:latin typeface="+mn-ea"/>
              </a:rPr>
              <a:t>: 0.4</a:t>
            </a:r>
            <a:r>
              <a:rPr lang="ko-KR" altLang="en-US" sz="700" dirty="0">
                <a:latin typeface="+mn-ea"/>
              </a:rPr>
              <a:t>점</a:t>
            </a:r>
          </a:p>
          <a:p>
            <a:r>
              <a:rPr lang="en-US" altLang="ko-KR" sz="700" dirty="0">
                <a:latin typeface="+mn-ea"/>
              </a:rPr>
              <a:t>B. </a:t>
            </a:r>
            <a:r>
              <a:rPr lang="ko-KR" altLang="en-US" sz="700" dirty="0">
                <a:latin typeface="+mn-ea"/>
              </a:rPr>
              <a:t>중앙관서의 장</a:t>
            </a:r>
            <a:r>
              <a:rPr lang="en-US" altLang="ko-KR" sz="700" dirty="0">
                <a:latin typeface="+mn-ea"/>
              </a:rPr>
              <a:t>, </a:t>
            </a:r>
            <a:r>
              <a:rPr lang="ko-KR" altLang="en-US" sz="700" dirty="0">
                <a:latin typeface="+mn-ea"/>
              </a:rPr>
              <a:t>광역시</a:t>
            </a:r>
            <a:r>
              <a:rPr lang="en-US" altLang="ko-KR" sz="700" dirty="0">
                <a:latin typeface="+mn-ea"/>
              </a:rPr>
              <a:t>, </a:t>
            </a:r>
            <a:r>
              <a:rPr lang="ko-KR" altLang="en-US" sz="700" dirty="0">
                <a:latin typeface="+mn-ea"/>
              </a:rPr>
              <a:t>도의 장 이외의 국가기관 또는 지방자치단체의 장으로부터 지정 받은 자 </a:t>
            </a:r>
            <a:r>
              <a:rPr lang="en-US" altLang="ko-KR" sz="700" dirty="0">
                <a:latin typeface="+mn-ea"/>
              </a:rPr>
              <a:t>: 0.2</a:t>
            </a:r>
            <a:r>
              <a:rPr lang="ko-KR" altLang="en-US" sz="700" dirty="0">
                <a:latin typeface="+mn-ea"/>
              </a:rPr>
              <a:t>점</a:t>
            </a:r>
          </a:p>
          <a:p>
            <a:r>
              <a:rPr lang="en-US" altLang="ko-KR" sz="700" dirty="0">
                <a:latin typeface="+mn-ea"/>
              </a:rPr>
              <a:t>C. </a:t>
            </a:r>
            <a:r>
              <a:rPr lang="ko-KR" altLang="en-US" sz="700" dirty="0">
                <a:latin typeface="+mn-ea"/>
              </a:rPr>
              <a:t>정부투자기관의 장으로부터 지정 받은 자 </a:t>
            </a:r>
            <a:r>
              <a:rPr lang="en-US" altLang="ko-KR" sz="700" dirty="0">
                <a:latin typeface="+mn-ea"/>
              </a:rPr>
              <a:t>: 0.1</a:t>
            </a:r>
            <a:r>
              <a:rPr lang="ko-KR" altLang="en-US" sz="700" dirty="0">
                <a:latin typeface="+mn-ea"/>
              </a:rPr>
              <a:t>점</a:t>
            </a:r>
          </a:p>
        </p:txBody>
      </p:sp>
      <p:sp>
        <p:nvSpPr>
          <p:cNvPr id="214" name="TextBox 213">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15" name="TextBox 214">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62" name="타원 61">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42660232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264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- 3</a:t>
            </a:r>
            <a:r>
              <a:rPr lang="ko-KR" altLang="en-US" dirty="0"/>
              <a:t>억원미만공사</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3</a:t>
            </a:r>
            <a:r>
              <a:rPr lang="ko-KR" altLang="en-US" dirty="0"/>
              <a:t>억원미만공사일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MUI-BD-10-M18</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950953" cy="215444"/>
          </a:xfrm>
          <a:prstGeom prst="rect">
            <a:avLst/>
          </a:prstGeom>
          <a:noFill/>
        </p:spPr>
        <p:txBody>
          <a:bodyPr wrap="square" lIns="0" tIns="0" rIns="0" bIns="0" rtlCol="0">
            <a:spAutoFit/>
          </a:bodyPr>
          <a:lstStyle/>
          <a:p>
            <a:pPr>
              <a:lnSpc>
                <a:spcPct val="200000"/>
              </a:lnSpc>
            </a:pPr>
            <a:r>
              <a:rPr lang="ko-KR" altLang="en-US" sz="700" dirty="0">
                <a:latin typeface="+mn-ea"/>
              </a:rPr>
              <a:t>기타 당해 </a:t>
            </a:r>
            <a:r>
              <a:rPr lang="ko-KR" altLang="en-US" sz="700" dirty="0" err="1">
                <a:latin typeface="+mn-ea"/>
              </a:rPr>
              <a:t>공사수행</a:t>
            </a:r>
            <a:r>
              <a:rPr lang="ko-KR" altLang="en-US" sz="700" dirty="0">
                <a:latin typeface="+mn-ea"/>
              </a:rPr>
              <a:t> 관련 </a:t>
            </a:r>
            <a:r>
              <a:rPr lang="ko-KR" altLang="en-US" sz="700" dirty="0" err="1">
                <a:latin typeface="+mn-ea"/>
              </a:rPr>
              <a:t>결격여부</a:t>
            </a:r>
            <a:r>
              <a:rPr lang="ko-KR" altLang="en-US" sz="700" dirty="0">
                <a:latin typeface="+mn-ea"/>
              </a:rPr>
              <a:t> </a:t>
            </a:r>
            <a:r>
              <a:rPr lang="en-US" altLang="ko-KR" sz="700" dirty="0">
                <a:latin typeface="+mn-ea"/>
              </a:rPr>
              <a:t>(-10</a:t>
            </a:r>
            <a:r>
              <a:rPr lang="ko-KR" altLang="en-US" sz="700" dirty="0">
                <a:latin typeface="+mn-ea"/>
              </a:rPr>
              <a:t>점</a:t>
            </a:r>
            <a:r>
              <a:rPr lang="en-US" altLang="ko-KR" sz="700" dirty="0">
                <a:latin typeface="+mn-ea"/>
              </a:rPr>
              <a:t>)</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96" name="직선 연결선 95">
            <a:extLst>
              <a:ext uri="{FF2B5EF4-FFF2-40B4-BE49-F238E27FC236}">
                <a16:creationId xmlns:a16="http://schemas.microsoft.com/office/drawing/2014/main" id="{E9293055-D5CD-4B9E-7F64-64B2D2CA7A52}"/>
              </a:ext>
            </a:extLst>
          </p:cNvPr>
          <p:cNvCxnSpPr/>
          <p:nvPr/>
        </p:nvCxnSpPr>
        <p:spPr>
          <a:xfrm>
            <a:off x="675400" y="183548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8" name="직사각형 117"/>
          <p:cNvSpPr/>
          <p:nvPr/>
        </p:nvSpPr>
        <p:spPr>
          <a:xfrm>
            <a:off x="718458" y="1890587"/>
            <a:ext cx="1639886" cy="286252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TextBox 125">
            <a:extLst>
              <a:ext uri="{FF2B5EF4-FFF2-40B4-BE49-F238E27FC236}">
                <a16:creationId xmlns:a16="http://schemas.microsoft.com/office/drawing/2014/main" id="{FFC49AEA-2A8F-250C-A86A-A7751D9706C3}"/>
              </a:ext>
            </a:extLst>
          </p:cNvPr>
          <p:cNvSpPr txBox="1"/>
          <p:nvPr/>
        </p:nvSpPr>
        <p:spPr>
          <a:xfrm>
            <a:off x="805521" y="189058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기술능력 평가등급 </a:t>
            </a:r>
            <a:r>
              <a:rPr lang="en-US" altLang="ko-KR" sz="700" dirty="0">
                <a:latin typeface="+mn-ea"/>
              </a:rPr>
              <a:t>(</a:t>
            </a:r>
            <a:r>
              <a:rPr lang="ko-KR" altLang="en-US" sz="700" dirty="0">
                <a:latin typeface="+mn-ea"/>
              </a:rPr>
              <a:t>건설업 등록기준</a:t>
            </a:r>
            <a:r>
              <a:rPr lang="en-US" altLang="ko-KR" sz="700" dirty="0">
                <a:latin typeface="+mn-ea"/>
              </a:rPr>
              <a:t>)</a:t>
            </a:r>
            <a:endParaRPr lang="ko-KR" altLang="en-US" sz="700" dirty="0">
              <a:latin typeface="+mn-ea"/>
            </a:endParaRP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716366" y="189058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718459" y="210532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18459" y="475311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3133470" y="189058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결과</a:t>
            </a:r>
            <a:endParaRPr lang="en-US" altLang="ko-KR" sz="700" dirty="0">
              <a:latin typeface="+mn-ea"/>
            </a:endParaRPr>
          </a:p>
        </p:txBody>
      </p:sp>
      <p:sp>
        <p:nvSpPr>
          <p:cNvPr id="60" name="TextBox 59">
            <a:extLst>
              <a:ext uri="{FF2B5EF4-FFF2-40B4-BE49-F238E27FC236}">
                <a16:creationId xmlns:a16="http://schemas.microsoft.com/office/drawing/2014/main" id="{FFC49AEA-2A8F-250C-A86A-A7751D9706C3}"/>
              </a:ext>
            </a:extLst>
          </p:cNvPr>
          <p:cNvSpPr txBox="1"/>
          <p:nvPr/>
        </p:nvSpPr>
        <p:spPr>
          <a:xfrm>
            <a:off x="805522" y="2151647"/>
            <a:ext cx="1480198" cy="646331"/>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업종 </a:t>
            </a:r>
            <a:r>
              <a:rPr lang="en-US" altLang="ko-KR" sz="700" dirty="0">
                <a:latin typeface="+mn-ea"/>
              </a:rPr>
              <a:t>: </a:t>
            </a:r>
            <a:r>
              <a:rPr lang="ko-KR" altLang="en-US" sz="700" dirty="0" err="1">
                <a:latin typeface="+mn-ea"/>
              </a:rPr>
              <a:t>건축공사업</a:t>
            </a:r>
            <a:endParaRPr lang="ko-KR" altLang="en-US" sz="700" dirty="0">
              <a:latin typeface="+mn-ea"/>
            </a:endParaRPr>
          </a:p>
          <a:p>
            <a:endParaRPr lang="en-US" altLang="ko-KR" sz="700" dirty="0">
              <a:latin typeface="+mn-ea"/>
            </a:endParaRPr>
          </a:p>
          <a:p>
            <a:r>
              <a:rPr lang="en-US" altLang="ko-KR" sz="700" dirty="0">
                <a:latin typeface="+mn-ea"/>
              </a:rPr>
              <a:t>A. </a:t>
            </a:r>
            <a:r>
              <a:rPr lang="ko-KR" altLang="en-US" sz="700" dirty="0">
                <a:latin typeface="+mn-ea"/>
              </a:rPr>
              <a:t>건설기술관리법에 의한 건축기사 또는 건축분야의 </a:t>
            </a:r>
            <a:r>
              <a:rPr lang="ko-KR" altLang="en-US" sz="700" dirty="0" err="1">
                <a:latin typeface="+mn-ea"/>
              </a:rPr>
              <a:t>중급기술자</a:t>
            </a:r>
            <a:r>
              <a:rPr lang="ko-KR" altLang="en-US" sz="700" dirty="0">
                <a:latin typeface="+mn-ea"/>
              </a:rPr>
              <a:t> 이상인 자 중 </a:t>
            </a:r>
            <a:r>
              <a:rPr lang="en-US" altLang="ko-KR" sz="700" dirty="0">
                <a:latin typeface="+mn-ea"/>
              </a:rPr>
              <a:t>2</a:t>
            </a:r>
            <a:r>
              <a:rPr lang="ko-KR" altLang="en-US" sz="700" dirty="0">
                <a:latin typeface="+mn-ea"/>
              </a:rPr>
              <a:t>인을 포함한 건축분야 건설기술자 </a:t>
            </a:r>
            <a:r>
              <a:rPr lang="en-US" altLang="ko-KR" sz="700" dirty="0">
                <a:latin typeface="+mn-ea"/>
              </a:rPr>
              <a:t>5</a:t>
            </a:r>
            <a:r>
              <a:rPr lang="ko-KR" altLang="en-US" sz="700" dirty="0">
                <a:latin typeface="+mn-ea"/>
              </a:rPr>
              <a:t>인 이상</a:t>
            </a:r>
          </a:p>
        </p:txBody>
      </p:sp>
      <p:sp>
        <p:nvSpPr>
          <p:cNvPr id="61" name="TextBox 60">
            <a:extLst>
              <a:ext uri="{FF2B5EF4-FFF2-40B4-BE49-F238E27FC236}">
                <a16:creationId xmlns:a16="http://schemas.microsoft.com/office/drawing/2014/main" id="{FFC49AEA-2A8F-250C-A86A-A7751D9706C3}"/>
              </a:ext>
            </a:extLst>
          </p:cNvPr>
          <p:cNvSpPr txBox="1"/>
          <p:nvPr/>
        </p:nvSpPr>
        <p:spPr>
          <a:xfrm>
            <a:off x="3276137" y="337536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62" name="직선 연결선 61">
            <a:extLst>
              <a:ext uri="{FF2B5EF4-FFF2-40B4-BE49-F238E27FC236}">
                <a16:creationId xmlns:a16="http://schemas.microsoft.com/office/drawing/2014/main" id="{E9293055-D5CD-4B9E-7F64-64B2D2CA7A52}"/>
              </a:ext>
            </a:extLst>
          </p:cNvPr>
          <p:cNvCxnSpPr/>
          <p:nvPr/>
        </p:nvCxnSpPr>
        <p:spPr>
          <a:xfrm>
            <a:off x="718459" y="2844296"/>
            <a:ext cx="163988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6" name="TextBox 65">
            <a:extLst>
              <a:ext uri="{FF2B5EF4-FFF2-40B4-BE49-F238E27FC236}">
                <a16:creationId xmlns:a16="http://schemas.microsoft.com/office/drawing/2014/main" id="{FFC49AEA-2A8F-250C-A86A-A7751D9706C3}"/>
              </a:ext>
            </a:extLst>
          </p:cNvPr>
          <p:cNvSpPr txBox="1"/>
          <p:nvPr/>
        </p:nvSpPr>
        <p:spPr>
          <a:xfrm>
            <a:off x="805522" y="2890614"/>
            <a:ext cx="1480198" cy="646331"/>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업종 </a:t>
            </a:r>
            <a:r>
              <a:rPr lang="en-US" altLang="ko-KR" sz="700" dirty="0">
                <a:latin typeface="+mn-ea"/>
              </a:rPr>
              <a:t>: </a:t>
            </a:r>
            <a:r>
              <a:rPr lang="ko-KR" altLang="en-US" sz="700" dirty="0" err="1">
                <a:latin typeface="+mn-ea"/>
              </a:rPr>
              <a:t>토목공사업</a:t>
            </a:r>
            <a:endParaRPr lang="ko-KR" altLang="en-US" sz="700" dirty="0">
              <a:latin typeface="+mn-ea"/>
            </a:endParaRPr>
          </a:p>
          <a:p>
            <a:endParaRPr lang="en-US" altLang="ko-KR" sz="700" dirty="0">
              <a:latin typeface="+mn-ea"/>
            </a:endParaRPr>
          </a:p>
          <a:p>
            <a:r>
              <a:rPr lang="en-US" altLang="ko-KR" sz="700" dirty="0">
                <a:latin typeface="+mn-ea"/>
              </a:rPr>
              <a:t>A. </a:t>
            </a:r>
            <a:r>
              <a:rPr lang="ko-KR" altLang="en-US" sz="700" dirty="0">
                <a:latin typeface="+mn-ea"/>
              </a:rPr>
              <a:t>건설기술관리법에 의한 토목기사 또는 </a:t>
            </a:r>
            <a:r>
              <a:rPr lang="ko-KR" altLang="en-US" sz="700" dirty="0" err="1">
                <a:latin typeface="+mn-ea"/>
              </a:rPr>
              <a:t>토목분야의</a:t>
            </a:r>
            <a:r>
              <a:rPr lang="ko-KR" altLang="en-US" sz="700" dirty="0">
                <a:latin typeface="+mn-ea"/>
              </a:rPr>
              <a:t> </a:t>
            </a:r>
            <a:r>
              <a:rPr lang="ko-KR" altLang="en-US" sz="700" dirty="0" err="1">
                <a:latin typeface="+mn-ea"/>
              </a:rPr>
              <a:t>중급기술자</a:t>
            </a:r>
            <a:r>
              <a:rPr lang="ko-KR" altLang="en-US" sz="700" dirty="0">
                <a:latin typeface="+mn-ea"/>
              </a:rPr>
              <a:t> 이상인 자 중 </a:t>
            </a:r>
            <a:r>
              <a:rPr lang="en-US" altLang="ko-KR" sz="700" dirty="0">
                <a:latin typeface="+mn-ea"/>
              </a:rPr>
              <a:t>2</a:t>
            </a:r>
            <a:r>
              <a:rPr lang="ko-KR" altLang="en-US" sz="700" dirty="0">
                <a:latin typeface="+mn-ea"/>
              </a:rPr>
              <a:t>인을 포함한 </a:t>
            </a:r>
            <a:r>
              <a:rPr lang="ko-KR" altLang="en-US" sz="700" dirty="0" err="1">
                <a:latin typeface="+mn-ea"/>
              </a:rPr>
              <a:t>토목분야</a:t>
            </a:r>
            <a:r>
              <a:rPr lang="ko-KR" altLang="en-US" sz="700" dirty="0">
                <a:latin typeface="+mn-ea"/>
              </a:rPr>
              <a:t> 건설기술자 </a:t>
            </a:r>
            <a:r>
              <a:rPr lang="en-US" altLang="ko-KR" sz="700" dirty="0">
                <a:latin typeface="+mn-ea"/>
              </a:rPr>
              <a:t>6</a:t>
            </a:r>
            <a:r>
              <a:rPr lang="ko-KR" altLang="en-US" sz="700" dirty="0">
                <a:latin typeface="+mn-ea"/>
              </a:rPr>
              <a:t>인 이상</a:t>
            </a:r>
          </a:p>
        </p:txBody>
      </p:sp>
      <p:cxnSp>
        <p:nvCxnSpPr>
          <p:cNvPr id="67" name="직선 연결선 66">
            <a:extLst>
              <a:ext uri="{FF2B5EF4-FFF2-40B4-BE49-F238E27FC236}">
                <a16:creationId xmlns:a16="http://schemas.microsoft.com/office/drawing/2014/main" id="{E9293055-D5CD-4B9E-7F64-64B2D2CA7A52}"/>
              </a:ext>
            </a:extLst>
          </p:cNvPr>
          <p:cNvCxnSpPr/>
          <p:nvPr/>
        </p:nvCxnSpPr>
        <p:spPr>
          <a:xfrm>
            <a:off x="718459" y="3583263"/>
            <a:ext cx="1639885"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8" name="TextBox 67">
            <a:extLst>
              <a:ext uri="{FF2B5EF4-FFF2-40B4-BE49-F238E27FC236}">
                <a16:creationId xmlns:a16="http://schemas.microsoft.com/office/drawing/2014/main" id="{FFC49AEA-2A8F-250C-A86A-A7751D9706C3}"/>
              </a:ext>
            </a:extLst>
          </p:cNvPr>
          <p:cNvSpPr txBox="1"/>
          <p:nvPr/>
        </p:nvSpPr>
        <p:spPr>
          <a:xfrm>
            <a:off x="805522" y="3629581"/>
            <a:ext cx="1480198" cy="1077218"/>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업종 </a:t>
            </a:r>
            <a:r>
              <a:rPr lang="en-US" altLang="ko-KR" sz="700" dirty="0">
                <a:latin typeface="+mn-ea"/>
              </a:rPr>
              <a:t>: </a:t>
            </a:r>
            <a:r>
              <a:rPr lang="ko-KR" altLang="en-US" sz="700" dirty="0">
                <a:latin typeface="+mn-ea"/>
              </a:rPr>
              <a:t>토목건축공사업</a:t>
            </a:r>
          </a:p>
          <a:p>
            <a:endParaRPr lang="en-US" altLang="ko-KR" sz="700" dirty="0">
              <a:latin typeface="+mn-ea"/>
            </a:endParaRPr>
          </a:p>
          <a:p>
            <a:r>
              <a:rPr lang="en-US" altLang="ko-KR" sz="700" dirty="0">
                <a:latin typeface="+mn-ea"/>
              </a:rPr>
              <a:t>1. </a:t>
            </a:r>
            <a:r>
              <a:rPr lang="ko-KR" altLang="en-US" sz="700" dirty="0">
                <a:latin typeface="+mn-ea"/>
              </a:rPr>
              <a:t>건설기술관리법에 의한 건축기사 또는 건축분야의 </a:t>
            </a:r>
            <a:r>
              <a:rPr lang="ko-KR" altLang="en-US" sz="700" dirty="0" err="1">
                <a:latin typeface="+mn-ea"/>
              </a:rPr>
              <a:t>중급기술자</a:t>
            </a:r>
            <a:r>
              <a:rPr lang="ko-KR" altLang="en-US" sz="700" dirty="0">
                <a:latin typeface="+mn-ea"/>
              </a:rPr>
              <a:t> 이상인 자 중 </a:t>
            </a:r>
            <a:r>
              <a:rPr lang="en-US" altLang="ko-KR" sz="700" dirty="0">
                <a:latin typeface="+mn-ea"/>
              </a:rPr>
              <a:t>1</a:t>
            </a:r>
            <a:r>
              <a:rPr lang="ko-KR" altLang="en-US" sz="700" dirty="0">
                <a:latin typeface="+mn-ea"/>
              </a:rPr>
              <a:t>인을 포함한 건축분야 건설기술자 </a:t>
            </a:r>
            <a:r>
              <a:rPr lang="en-US" altLang="ko-KR" sz="700" dirty="0">
                <a:latin typeface="+mn-ea"/>
              </a:rPr>
              <a:t>5</a:t>
            </a:r>
            <a:r>
              <a:rPr lang="ko-KR" altLang="en-US" sz="700" dirty="0">
                <a:latin typeface="+mn-ea"/>
              </a:rPr>
              <a:t>인 이상</a:t>
            </a:r>
          </a:p>
          <a:p>
            <a:r>
              <a:rPr lang="en-US" altLang="ko-KR" sz="700" dirty="0">
                <a:latin typeface="+mn-ea"/>
              </a:rPr>
              <a:t>2. </a:t>
            </a:r>
            <a:r>
              <a:rPr lang="ko-KR" altLang="en-US" sz="700" dirty="0">
                <a:latin typeface="+mn-ea"/>
              </a:rPr>
              <a:t>건설기술관리법에 의한 토목기사 또는 </a:t>
            </a:r>
            <a:r>
              <a:rPr lang="ko-KR" altLang="en-US" sz="700" dirty="0" err="1">
                <a:latin typeface="+mn-ea"/>
              </a:rPr>
              <a:t>토목분야의</a:t>
            </a:r>
            <a:r>
              <a:rPr lang="ko-KR" altLang="en-US" sz="700" dirty="0">
                <a:latin typeface="+mn-ea"/>
              </a:rPr>
              <a:t> </a:t>
            </a:r>
            <a:r>
              <a:rPr lang="ko-KR" altLang="en-US" sz="700" dirty="0" err="1">
                <a:latin typeface="+mn-ea"/>
              </a:rPr>
              <a:t>중급기술자</a:t>
            </a:r>
            <a:r>
              <a:rPr lang="ko-KR" altLang="en-US" sz="700" dirty="0">
                <a:latin typeface="+mn-ea"/>
              </a:rPr>
              <a:t> 이상인 자 중 </a:t>
            </a:r>
            <a:r>
              <a:rPr lang="en-US" altLang="ko-KR" sz="700" dirty="0">
                <a:latin typeface="+mn-ea"/>
              </a:rPr>
              <a:t>1</a:t>
            </a:r>
            <a:r>
              <a:rPr lang="ko-KR" altLang="en-US" sz="700" dirty="0">
                <a:latin typeface="+mn-ea"/>
              </a:rPr>
              <a:t>인을 포함한 </a:t>
            </a:r>
            <a:r>
              <a:rPr lang="ko-KR" altLang="en-US" sz="700" dirty="0" err="1">
                <a:latin typeface="+mn-ea"/>
              </a:rPr>
              <a:t>토목분야</a:t>
            </a:r>
            <a:r>
              <a:rPr lang="ko-KR" altLang="en-US" sz="700" dirty="0">
                <a:latin typeface="+mn-ea"/>
              </a:rPr>
              <a:t> 건설기술자 </a:t>
            </a:r>
            <a:r>
              <a:rPr lang="en-US" altLang="ko-KR" sz="700" dirty="0">
                <a:latin typeface="+mn-ea"/>
              </a:rPr>
              <a:t>5</a:t>
            </a:r>
            <a:r>
              <a:rPr lang="ko-KR" altLang="en-US" sz="700" dirty="0">
                <a:latin typeface="+mn-ea"/>
              </a:rPr>
              <a:t>인 이상</a:t>
            </a:r>
          </a:p>
        </p:txBody>
      </p:sp>
      <p:sp>
        <p:nvSpPr>
          <p:cNvPr id="26" name="타원 25">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48545510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265</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경영상태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특별신인도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특별신인도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stot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평점</a:t>
                      </a:r>
                      <a:r>
                        <a:rPr lang="en-US" altLang="ko-KR" sz="800" dirty="0">
                          <a:latin typeface="+mn-ea"/>
                          <a:ea typeface="+mn-ea"/>
                        </a:rPr>
                        <a:t> </a:t>
                      </a:r>
                      <a:r>
                        <a:rPr lang="ko-KR" altLang="en-US" sz="800" dirty="0">
                          <a:latin typeface="+mn-ea"/>
                          <a:ea typeface="+mn-ea"/>
                        </a:rPr>
                        <a:t>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err="1">
                          <a:latin typeface="+mn-ea"/>
                          <a:ea typeface="+mn-ea"/>
                        </a:rPr>
                        <a:t>기타결격여부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기타결격여부</a:t>
                      </a:r>
                      <a:r>
                        <a:rPr lang="ko-KR" altLang="en-US" sz="800" dirty="0">
                          <a:latin typeface="+mn-ea"/>
                          <a:ea typeface="+mn-ea"/>
                        </a:rPr>
                        <a:t> 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총계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총계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bl>
          </a:graphicData>
        </a:graphic>
      </p:graphicFrame>
      <p:sp>
        <p:nvSpPr>
          <p:cNvPr id="2" name="TextBox 1">
            <a:extLst>
              <a:ext uri="{FF2B5EF4-FFF2-40B4-BE49-F238E27FC236}">
                <a16:creationId xmlns:a16="http://schemas.microsoft.com/office/drawing/2014/main" id="{0245A557-B85F-E56D-E6CA-399FB231C20B}"/>
              </a:ext>
            </a:extLst>
          </p:cNvPr>
          <p:cNvSpPr txBox="1"/>
          <p:nvPr/>
        </p:nvSpPr>
        <p:spPr>
          <a:xfrm>
            <a:off x="465794" y="2595729"/>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경영상태</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3EE390BC-3B0E-9079-A79D-643F0FA222D5}"/>
              </a:ext>
            </a:extLst>
          </p:cNvPr>
          <p:cNvGraphicFramePr>
            <a:graphicFrameLocks noGrp="1"/>
          </p:cNvGraphicFramePr>
          <p:nvPr/>
        </p:nvGraphicFramePr>
        <p:xfrm>
          <a:off x="460676" y="2879483"/>
          <a:ext cx="8994883" cy="31027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부채총계 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tlbltAmt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부채총계 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자기자본 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eqcptlAmt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a:t>
                      </a:r>
                      <a:r>
                        <a:rPr lang="ko-KR" altLang="en-US" sz="800" dirty="0" err="1">
                          <a:latin typeface="+mn-ea"/>
                          <a:ea typeface="+mn-ea"/>
                        </a:rPr>
                        <a:t>부채비율</a:t>
                      </a:r>
                      <a:r>
                        <a:rPr lang="ko-KR" altLang="en-US" sz="800" dirty="0">
                          <a:latin typeface="+mn-ea"/>
                          <a:ea typeface="+mn-ea"/>
                        </a:rPr>
                        <a:t> 자기자본 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8009436"/>
                  </a:ext>
                </a:extLst>
              </a:tr>
              <a:tr h="0">
                <a:tc>
                  <a:txBody>
                    <a:bodyPr/>
                    <a:lstStyle/>
                    <a:p>
                      <a:pPr latinLnBrk="1"/>
                      <a:r>
                        <a:rPr lang="ko-KR" altLang="en-US" sz="800" dirty="0">
                          <a:latin typeface="+mn-ea"/>
                          <a:ea typeface="+mn-ea"/>
                        </a:rPr>
                        <a:t>해당업체 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bzentyLbltRt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해당업체 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1259264"/>
                  </a:ext>
                </a:extLst>
              </a:tr>
              <a:tr h="0">
                <a:tc>
                  <a:txBody>
                    <a:bodyPr/>
                    <a:lstStyle/>
                    <a:p>
                      <a:pPr latinLnBrk="1"/>
                      <a:r>
                        <a:rPr lang="ko-KR" altLang="en-US" sz="800" dirty="0">
                          <a:latin typeface="+mn-ea"/>
                          <a:ea typeface="+mn-ea"/>
                        </a:rPr>
                        <a:t>업체평균 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tpbizAvgLbltRt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업체평균 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4753183"/>
                  </a:ext>
                </a:extLst>
              </a:tr>
              <a:tr h="0">
                <a:tc>
                  <a:txBody>
                    <a:bodyPr/>
                    <a:lstStyle/>
                    <a:p>
                      <a:pPr latinLnBrk="1"/>
                      <a:r>
                        <a:rPr lang="ko-KR" altLang="en-US" sz="800" dirty="0">
                          <a:latin typeface="+mn-ea"/>
                          <a:ea typeface="+mn-ea"/>
                        </a:rPr>
                        <a:t>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lbltRt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6459453"/>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lbltRtGdcd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5842920"/>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lbltRtExmgrdScr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부채비율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899382"/>
                  </a:ext>
                </a:extLst>
              </a:tr>
              <a:tr h="0">
                <a:tc>
                  <a:txBody>
                    <a:bodyPr/>
                    <a:lstStyle/>
                    <a:p>
                      <a:pPr latinLnBrk="1"/>
                      <a:r>
                        <a:rPr lang="ko-KR" altLang="en-US" sz="800" dirty="0">
                          <a:latin typeface="+mn-ea"/>
                          <a:ea typeface="+mn-ea"/>
                        </a:rPr>
                        <a:t>유동자산 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crastAmt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유동자산 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5559650"/>
                  </a:ext>
                </a:extLst>
              </a:tr>
              <a:tr h="0">
                <a:tc>
                  <a:txBody>
                    <a:bodyPr/>
                    <a:lstStyle/>
                    <a:p>
                      <a:pPr latinLnBrk="1"/>
                      <a:r>
                        <a:rPr lang="ko-KR" altLang="en-US" sz="800" dirty="0">
                          <a:latin typeface="+mn-ea"/>
                          <a:ea typeface="+mn-ea"/>
                        </a:rPr>
                        <a:t>유동부채 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crlblAmt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유동부채 금액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89017"/>
                  </a:ext>
                </a:extLst>
              </a:tr>
              <a:tr h="0">
                <a:tc>
                  <a:txBody>
                    <a:bodyPr/>
                    <a:lstStyle/>
                    <a:p>
                      <a:pPr latinLnBrk="1"/>
                      <a:r>
                        <a:rPr lang="ko-KR" altLang="en-US" sz="800" dirty="0">
                          <a:latin typeface="+mn-ea"/>
                          <a:ea typeface="+mn-ea"/>
                        </a:rPr>
                        <a:t>해당업체 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bzentyCrrt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해당업체 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8996331"/>
                  </a:ext>
                </a:extLst>
              </a:tr>
              <a:tr h="0">
                <a:tc>
                  <a:txBody>
                    <a:bodyPr/>
                    <a:lstStyle/>
                    <a:p>
                      <a:pPr latinLnBrk="1"/>
                      <a:r>
                        <a:rPr lang="ko-KR" altLang="en-US" sz="800" dirty="0">
                          <a:latin typeface="+mn-ea"/>
                          <a:ea typeface="+mn-ea"/>
                        </a:rPr>
                        <a:t>업체평균 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tpbizAvgCrrt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업체평균 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0274164"/>
                  </a:ext>
                </a:extLst>
              </a:tr>
              <a:tr h="0">
                <a:tc>
                  <a:txBody>
                    <a:bodyPr/>
                    <a:lstStyle/>
                    <a:p>
                      <a:pPr latinLnBrk="1"/>
                      <a:r>
                        <a:rPr lang="ko-KR" altLang="en-US" sz="800" dirty="0">
                          <a:latin typeface="+mn-ea"/>
                          <a:ea typeface="+mn-ea"/>
                        </a:rPr>
                        <a:t>비율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비율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4672799"/>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crrtGrdNm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0672615"/>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crrtExmgrdScr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유동비율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7362446"/>
                  </a:ext>
                </a:extLst>
              </a:tr>
              <a:tr h="0">
                <a:tc>
                  <a:txBody>
                    <a:bodyPr/>
                    <a:lstStyle/>
                    <a:p>
                      <a:pPr latinLnBrk="1"/>
                      <a:r>
                        <a:rPr lang="ko-KR" altLang="en-US" sz="800" dirty="0">
                          <a:latin typeface="+mn-ea"/>
                          <a:ea typeface="+mn-ea"/>
                        </a:rPr>
                        <a:t>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76853367"/>
                  </a:ext>
                </a:extLst>
              </a:tr>
            </a:tbl>
          </a:graphicData>
        </a:graphic>
      </p:graphicFrame>
      <p:sp>
        <p:nvSpPr>
          <p:cNvPr id="5" name="Text Box 73">
            <a:extLst>
              <a:ext uri="{FF2B5EF4-FFF2-40B4-BE49-F238E27FC236}">
                <a16:creationId xmlns:a16="http://schemas.microsoft.com/office/drawing/2014/main" id="{56B39E34-BE27-82D8-5BF7-77AA0C9E46C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134772914"/>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266</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424309"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특별 신인도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479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시공실적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지체상금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lqdmgExmgrdScr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지체상금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하자보수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dfrpExmgrdScr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하자보수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시공평가결과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cnstEvlExmgrdScr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a:latin typeface="+mn-ea"/>
                          <a:ea typeface="+mn-ea"/>
                        </a:rPr>
                        <a:t>우수업체지정</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exlnBzentyDsgnExmgrdScr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우수업체지정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합계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합계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bl>
          </a:graphicData>
        </a:graphic>
      </p:graphicFrame>
      <p:sp>
        <p:nvSpPr>
          <p:cNvPr id="5" name="TextBox 4">
            <a:extLst>
              <a:ext uri="{FF2B5EF4-FFF2-40B4-BE49-F238E27FC236}">
                <a16:creationId xmlns:a16="http://schemas.microsoft.com/office/drawing/2014/main" id="{4C52D3E8-4ADB-E44B-D662-1382002BC780}"/>
              </a:ext>
            </a:extLst>
          </p:cNvPr>
          <p:cNvSpPr txBox="1"/>
          <p:nvPr/>
        </p:nvSpPr>
        <p:spPr>
          <a:xfrm>
            <a:off x="460676" y="2674659"/>
            <a:ext cx="2499650"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입찰가격점수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F59BEE52-2063-913B-F6AC-5219E2F7DD69}"/>
              </a:ext>
            </a:extLst>
          </p:cNvPr>
          <p:cNvGraphicFramePr>
            <a:graphicFrameLocks noGrp="1"/>
          </p:cNvGraphicFramePr>
          <p:nvPr/>
        </p:nvGraphicFramePr>
        <p:xfrm>
          <a:off x="455558" y="2958413"/>
          <a:ext cx="8993242"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err="1">
                          <a:latin typeface="+mn-ea"/>
                          <a:ea typeface="+mn-ea"/>
                        </a:rPr>
                        <a:t>입찰률</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입찰률</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7" name="TextBox 6">
            <a:extLst>
              <a:ext uri="{FF2B5EF4-FFF2-40B4-BE49-F238E27FC236}">
                <a16:creationId xmlns:a16="http://schemas.microsoft.com/office/drawing/2014/main" id="{E271BBCA-F7D6-837F-35D5-F8B3BE0BA4A4}"/>
              </a:ext>
            </a:extLst>
          </p:cNvPr>
          <p:cNvSpPr txBox="1"/>
          <p:nvPr/>
        </p:nvSpPr>
        <p:spPr>
          <a:xfrm>
            <a:off x="458117" y="4067938"/>
            <a:ext cx="2885974"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특별신인도 세부내용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5D97C224-1090-C2F5-2972-97F170A94955}"/>
              </a:ext>
            </a:extLst>
          </p:cNvPr>
          <p:cNvGraphicFramePr>
            <a:graphicFrameLocks noGrp="1"/>
          </p:cNvGraphicFramePr>
          <p:nvPr/>
        </p:nvGraphicFramePr>
        <p:xfrm>
          <a:off x="452999" y="4351692"/>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cnstPrfmncRsltAmt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3</a:t>
                      </a:r>
                      <a:r>
                        <a:rPr lang="ko-KR" altLang="en-US" sz="800" dirty="0">
                          <a:latin typeface="+mn-ea"/>
                          <a:ea typeface="+mn-ea"/>
                        </a:rPr>
                        <a:t>년간 시공실적 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3</a:t>
                      </a:r>
                      <a:r>
                        <a:rPr lang="ko-KR" altLang="en-US" sz="800" dirty="0">
                          <a:latin typeface="+mn-ea"/>
                          <a:ea typeface="+mn-ea"/>
                        </a:rPr>
                        <a:t>년간 시공실적 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3</a:t>
                      </a:r>
                      <a:r>
                        <a:rPr lang="ko-KR" altLang="en-US" sz="800" dirty="0">
                          <a:latin typeface="+mn-ea"/>
                          <a:ea typeface="+mn-ea"/>
                        </a:rPr>
                        <a:t>년간 시공실적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lqdmgDayCnt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지체상금 부과여부 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7</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lqdmgGrdNm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지체상금 부과여부 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6835720"/>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lqdmgExmgrdScr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지체상금 부과여부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14844170"/>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dfrpGrdNm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하자보수 처리결과 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8180497"/>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dfrpExmgrdScr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하자보수 처리결과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4130366"/>
                  </a:ext>
                </a:extLst>
              </a:tr>
            </a:tbl>
          </a:graphicData>
        </a:graphic>
      </p:graphicFrame>
      <p:sp>
        <p:nvSpPr>
          <p:cNvPr id="2" name="TextBox 1">
            <a:extLst>
              <a:ext uri="{FF2B5EF4-FFF2-40B4-BE49-F238E27FC236}">
                <a16:creationId xmlns:a16="http://schemas.microsoft.com/office/drawing/2014/main" id="{32D647F8-2999-8650-541F-CBB04BB040E2}"/>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22CFDCCA-1C9F-9FA2-A00A-D12DCC937D4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64420281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267</a:t>
            </a:fld>
            <a:endParaRPr lang="ko-KR" altLang="en-US" dirty="0"/>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407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cnstEvlScr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시공평가 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8,5</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cnstEvlGrdNm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시공평가 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cnstEvlExmgrdScr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시공평가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exlnBzentyDsgnGrdNm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우수건설업 등급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exlnBzentyDsgnExmgrdScr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우수건설업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bl>
          </a:graphicData>
        </a:graphic>
      </p:graphicFrame>
      <p:sp>
        <p:nvSpPr>
          <p:cNvPr id="2" name="TextBox 1">
            <a:extLst>
              <a:ext uri="{FF2B5EF4-FFF2-40B4-BE49-F238E27FC236}">
                <a16:creationId xmlns:a16="http://schemas.microsoft.com/office/drawing/2014/main" id="{A88EFD12-BBE8-3D84-0ED8-DF1E9B7E4A79}"/>
              </a:ext>
            </a:extLst>
          </p:cNvPr>
          <p:cNvSpPr txBox="1"/>
          <p:nvPr/>
        </p:nvSpPr>
        <p:spPr>
          <a:xfrm>
            <a:off x="460676" y="2709488"/>
            <a:ext cx="3583280"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기타 당해 공사수행 관련 결격여부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AD7B7287-4EE4-E0C9-8130-6F4BD62D8643}"/>
              </a:ext>
            </a:extLst>
          </p:cNvPr>
          <p:cNvGraphicFramePr>
            <a:graphicFrameLocks noGrp="1"/>
          </p:cNvGraphicFramePr>
          <p:nvPr/>
        </p:nvGraphicFramePr>
        <p:xfrm>
          <a:off x="455558" y="2993242"/>
          <a:ext cx="8993242" cy="509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기타 당해 공사수행 관련 결격여부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기타 당해 공사수행 관련 결격여부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Box 4">
            <a:extLst>
              <a:ext uri="{FF2B5EF4-FFF2-40B4-BE49-F238E27FC236}">
                <a16:creationId xmlns:a16="http://schemas.microsoft.com/office/drawing/2014/main" id="{F70E1FD4-840C-55A4-803C-DC02E642D6FB}"/>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DAFB187A-F50F-EE0C-8EF3-0055844CF16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552658403"/>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268</a:t>
            </a:fld>
            <a:endParaRPr lang="ko-KR" altLang="en-US" dirty="0"/>
          </a:p>
        </p:txBody>
      </p:sp>
      <p:sp>
        <p:nvSpPr>
          <p:cNvPr id="9" name="TextBox 8">
            <a:extLst>
              <a:ext uri="{FF2B5EF4-FFF2-40B4-BE49-F238E27FC236}">
                <a16:creationId xmlns:a16="http://schemas.microsoft.com/office/drawing/2014/main" id="{EA6EFC45-14C8-402B-98EA-6EF920BDEC7D}"/>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0" name="표 9">
            <a:extLst>
              <a:ext uri="{FF2B5EF4-FFF2-40B4-BE49-F238E27FC236}">
                <a16:creationId xmlns:a16="http://schemas.microsoft.com/office/drawing/2014/main" id="{FA74296B-B0BD-4E10-4485-2DDC0EC97EB2}"/>
              </a:ext>
            </a:extLst>
          </p:cNvPr>
          <p:cNvGraphicFramePr>
            <a:graphicFrameLocks noGrp="1"/>
          </p:cNvGraphicFramePr>
          <p:nvPr>
            <p:extLst>
              <p:ext uri="{D42A27DB-BD31-4B8C-83A1-F6EECF244321}">
                <p14:modId xmlns:p14="http://schemas.microsoft.com/office/powerpoint/2010/main" val="656588065"/>
              </p:ext>
            </p:extLst>
          </p:nvPr>
        </p:nvGraphicFramePr>
        <p:xfrm>
          <a:off x="452291"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6" name="Text Box 73">
            <a:extLst>
              <a:ext uri="{FF2B5EF4-FFF2-40B4-BE49-F238E27FC236}">
                <a16:creationId xmlns:a16="http://schemas.microsoft.com/office/drawing/2014/main" id="{64B4B8AB-3290-A2BE-A130-4DEC10081759}"/>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48912369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직사각형 6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269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고시금액미만용역</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고시금액미만용역일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MUI-BD-10-M19</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716366" y="1896436"/>
            <a:ext cx="2630093" cy="1447916"/>
            <a:chOff x="3830405" y="2555584"/>
            <a:chExt cx="2630093" cy="1447916"/>
          </a:xfrm>
        </p:grpSpPr>
        <p:sp>
          <p:nvSpPr>
            <p:cNvPr id="39" name="직사각형 38"/>
            <p:cNvSpPr/>
            <p:nvPr/>
          </p:nvSpPr>
          <p:spPr>
            <a:xfrm>
              <a:off x="3832497" y="2555584"/>
              <a:ext cx="1639886" cy="14479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FFC49AEA-2A8F-250C-A86A-A7751D9706C3}"/>
                </a:ext>
              </a:extLst>
            </p:cNvPr>
            <p:cNvSpPr txBox="1"/>
            <p:nvPr/>
          </p:nvSpPr>
          <p:spPr>
            <a:xfrm>
              <a:off x="3919560" y="2555585"/>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항목</a:t>
              </a:r>
              <a:endParaRPr lang="en-US" altLang="ko-KR" sz="700" dirty="0">
                <a:latin typeface="+mn-ea"/>
              </a:endParaRPr>
            </a:p>
          </p:txBody>
        </p:sp>
        <p:sp>
          <p:nvSpPr>
            <p:cNvPr id="41" name="TextBox 40">
              <a:extLst>
                <a:ext uri="{FF2B5EF4-FFF2-40B4-BE49-F238E27FC236}">
                  <a16:creationId xmlns:a16="http://schemas.microsoft.com/office/drawing/2014/main" id="{FFC49AEA-2A8F-250C-A86A-A7751D9706C3}"/>
                </a:ext>
              </a:extLst>
            </p:cNvPr>
            <p:cNvSpPr txBox="1"/>
            <p:nvPr/>
          </p:nvSpPr>
          <p:spPr>
            <a:xfrm>
              <a:off x="5647602"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42" name="직선 연결선 41">
              <a:extLst>
                <a:ext uri="{FF2B5EF4-FFF2-40B4-BE49-F238E27FC236}">
                  <a16:creationId xmlns:a16="http://schemas.microsoft.com/office/drawing/2014/main" id="{E9293055-D5CD-4B9E-7F64-64B2D2CA7A52}"/>
                </a:ext>
              </a:extLst>
            </p:cNvPr>
            <p:cNvCxnSpPr/>
            <p:nvPr/>
          </p:nvCxnSpPr>
          <p:spPr>
            <a:xfrm>
              <a:off x="3830405" y="25555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3" name="직선 연결선 42">
              <a:extLst>
                <a:ext uri="{FF2B5EF4-FFF2-40B4-BE49-F238E27FC236}">
                  <a16:creationId xmlns:a16="http://schemas.microsoft.com/office/drawing/2014/main" id="{E9293055-D5CD-4B9E-7F64-64B2D2CA7A52}"/>
                </a:ext>
              </a:extLst>
            </p:cNvPr>
            <p:cNvCxnSpPr/>
            <p:nvPr/>
          </p:nvCxnSpPr>
          <p:spPr>
            <a:xfrm>
              <a:off x="3832498" y="27703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4" name="직선 연결선 43">
              <a:extLst>
                <a:ext uri="{FF2B5EF4-FFF2-40B4-BE49-F238E27FC236}">
                  <a16:creationId xmlns:a16="http://schemas.microsoft.com/office/drawing/2014/main" id="{E9293055-D5CD-4B9E-7F64-64B2D2CA7A52}"/>
                </a:ext>
              </a:extLst>
            </p:cNvPr>
            <p:cNvCxnSpPr/>
            <p:nvPr/>
          </p:nvCxnSpPr>
          <p:spPr>
            <a:xfrm>
              <a:off x="3832498" y="333805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7" name="TextBox 46">
              <a:extLst>
                <a:ext uri="{FF2B5EF4-FFF2-40B4-BE49-F238E27FC236}">
                  <a16:creationId xmlns:a16="http://schemas.microsoft.com/office/drawing/2014/main" id="{FFC49AEA-2A8F-250C-A86A-A7751D9706C3}"/>
                </a:ext>
              </a:extLst>
            </p:cNvPr>
            <p:cNvSpPr txBox="1"/>
            <p:nvPr/>
          </p:nvSpPr>
          <p:spPr>
            <a:xfrm>
              <a:off x="6247509" y="255558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sp>
          <p:nvSpPr>
            <p:cNvPr id="48" name="TextBox 47">
              <a:extLst>
                <a:ext uri="{FF2B5EF4-FFF2-40B4-BE49-F238E27FC236}">
                  <a16:creationId xmlns:a16="http://schemas.microsoft.com/office/drawing/2014/main" id="{FFC49AEA-2A8F-250C-A86A-A7751D9706C3}"/>
                </a:ext>
              </a:extLst>
            </p:cNvPr>
            <p:cNvSpPr txBox="1"/>
            <p:nvPr/>
          </p:nvSpPr>
          <p:spPr>
            <a:xfrm>
              <a:off x="3919560" y="2845534"/>
              <a:ext cx="1480199" cy="430887"/>
            </a:xfrm>
            <a:prstGeom prst="rect">
              <a:avLst/>
            </a:prstGeom>
            <a:noFill/>
          </p:spPr>
          <p:txBody>
            <a:bodyPr wrap="square" lIns="0" tIns="0" rIns="0" bIns="0" rtlCol="0">
              <a:spAutoFit/>
            </a:bodyPr>
            <a:lstStyle/>
            <a:p>
              <a:r>
                <a:rPr lang="ko-KR" altLang="en-US" sz="700" dirty="0" err="1">
                  <a:latin typeface="+mn-ea"/>
                </a:rPr>
                <a:t>당해공사</a:t>
              </a:r>
              <a:r>
                <a:rPr lang="ko-KR" altLang="en-US" sz="700" dirty="0">
                  <a:latin typeface="+mn-ea"/>
                </a:rPr>
                <a:t> 수행능력</a:t>
              </a:r>
              <a:endParaRPr lang="en-US" altLang="ko-KR" sz="700" dirty="0">
                <a:latin typeface="+mn-ea"/>
              </a:endParaRPr>
            </a:p>
            <a:p>
              <a:r>
                <a:rPr lang="en-US" altLang="ko-KR" sz="700" dirty="0">
                  <a:latin typeface="+mn-ea"/>
                </a:rPr>
                <a:t>- </a:t>
              </a:r>
              <a:r>
                <a:rPr lang="ko-KR" altLang="en-US" sz="700" dirty="0">
                  <a:latin typeface="+mn-ea"/>
                </a:rPr>
                <a:t>경영상태</a:t>
              </a:r>
              <a:endParaRPr lang="en-US" altLang="ko-KR" sz="700" dirty="0">
                <a:latin typeface="+mn-ea"/>
              </a:endParaRPr>
            </a:p>
            <a:p>
              <a:r>
                <a:rPr lang="en-US" altLang="ko-KR" sz="700" dirty="0">
                  <a:latin typeface="+mn-ea"/>
                </a:rPr>
                <a:t>- </a:t>
              </a:r>
              <a:r>
                <a:rPr lang="ko-KR" altLang="en-US" sz="700" dirty="0" err="1">
                  <a:latin typeface="+mn-ea"/>
                </a:rPr>
                <a:t>특별신인도</a:t>
              </a:r>
              <a:endParaRPr lang="en-US" altLang="ko-KR" sz="700" dirty="0">
                <a:latin typeface="+mn-ea"/>
              </a:endParaRPr>
            </a:p>
            <a:p>
              <a:r>
                <a:rPr lang="en-US" altLang="ko-KR" sz="700" dirty="0">
                  <a:latin typeface="+mn-ea"/>
                </a:rPr>
                <a:t>- </a:t>
              </a:r>
              <a:r>
                <a:rPr lang="ko-KR" altLang="en-US" sz="700" dirty="0">
                  <a:latin typeface="+mn-ea"/>
                </a:rPr>
                <a:t>소계</a:t>
              </a:r>
            </a:p>
          </p:txBody>
        </p:sp>
        <p:sp>
          <p:nvSpPr>
            <p:cNvPr id="49" name="TextBox 48">
              <a:extLst>
                <a:ext uri="{FF2B5EF4-FFF2-40B4-BE49-F238E27FC236}">
                  <a16:creationId xmlns:a16="http://schemas.microsoft.com/office/drawing/2014/main" id="{FFC49AEA-2A8F-250C-A86A-A7751D9706C3}"/>
                </a:ext>
              </a:extLst>
            </p:cNvPr>
            <p:cNvSpPr txBox="1"/>
            <p:nvPr/>
          </p:nvSpPr>
          <p:spPr>
            <a:xfrm>
              <a:off x="5658822" y="2953256"/>
              <a:ext cx="168316" cy="323165"/>
            </a:xfrm>
            <a:prstGeom prst="rect">
              <a:avLst/>
            </a:prstGeom>
            <a:noFill/>
          </p:spPr>
          <p:txBody>
            <a:bodyPr wrap="none" lIns="0" tIns="0" rIns="0" bIns="0" rtlCol="0">
              <a:spAutoFit/>
            </a:bodyPr>
            <a:lstStyle/>
            <a:p>
              <a:pPr algn="r"/>
              <a:r>
                <a:rPr lang="en-US" altLang="ko-KR" sz="700" dirty="0">
                  <a:latin typeface="+mn-ea"/>
                </a:rPr>
                <a:t>10.0</a:t>
              </a:r>
            </a:p>
            <a:p>
              <a:pPr algn="r"/>
              <a:r>
                <a:rPr lang="en-US" altLang="ko-KR" sz="700" dirty="0">
                  <a:latin typeface="+mn-ea"/>
                </a:rPr>
                <a:t>2.0</a:t>
              </a:r>
            </a:p>
            <a:p>
              <a:pPr algn="r"/>
              <a:r>
                <a:rPr lang="en-US" altLang="ko-KR" sz="700" dirty="0">
                  <a:latin typeface="+mn-ea"/>
                </a:rPr>
                <a:t>10.0</a:t>
              </a:r>
              <a:endParaRPr lang="ko-KR" altLang="en-US" sz="700" dirty="0">
                <a:latin typeface="+mn-ea"/>
              </a:endParaRPr>
            </a:p>
          </p:txBody>
        </p:sp>
        <p:sp>
          <p:nvSpPr>
            <p:cNvPr id="61" name="TextBox 60">
              <a:extLst>
                <a:ext uri="{FF2B5EF4-FFF2-40B4-BE49-F238E27FC236}">
                  <a16:creationId xmlns:a16="http://schemas.microsoft.com/office/drawing/2014/main" id="{FFC49AEA-2A8F-250C-A86A-A7751D9706C3}"/>
                </a:ext>
              </a:extLst>
            </p:cNvPr>
            <p:cNvSpPr txBox="1"/>
            <p:nvPr/>
          </p:nvSpPr>
          <p:spPr>
            <a:xfrm>
              <a:off x="6390176" y="300711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64" name="직선 연결선 63">
              <a:extLst>
                <a:ext uri="{FF2B5EF4-FFF2-40B4-BE49-F238E27FC236}">
                  <a16:creationId xmlns:a16="http://schemas.microsoft.com/office/drawing/2014/main" id="{E9293055-D5CD-4B9E-7F64-64B2D2CA7A52}"/>
                </a:ext>
              </a:extLst>
            </p:cNvPr>
            <p:cNvCxnSpPr/>
            <p:nvPr/>
          </p:nvCxnSpPr>
          <p:spPr>
            <a:xfrm>
              <a:off x="3832498" y="35563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TextBox 64">
              <a:extLst>
                <a:ext uri="{FF2B5EF4-FFF2-40B4-BE49-F238E27FC236}">
                  <a16:creationId xmlns:a16="http://schemas.microsoft.com/office/drawing/2014/main" id="{FFC49AEA-2A8F-250C-A86A-A7751D9706C3}"/>
                </a:ext>
              </a:extLst>
            </p:cNvPr>
            <p:cNvSpPr txBox="1"/>
            <p:nvPr/>
          </p:nvSpPr>
          <p:spPr>
            <a:xfrm>
              <a:off x="3919560" y="3393165"/>
              <a:ext cx="1480199" cy="107722"/>
            </a:xfrm>
            <a:prstGeom prst="rect">
              <a:avLst/>
            </a:prstGeom>
            <a:noFill/>
          </p:spPr>
          <p:txBody>
            <a:bodyPr wrap="square" lIns="0" tIns="0" rIns="0" bIns="0" rtlCol="0">
              <a:spAutoFit/>
            </a:bodyPr>
            <a:lstStyle/>
            <a:p>
              <a:r>
                <a:rPr lang="ko-KR" altLang="en-US" sz="700" dirty="0">
                  <a:latin typeface="+mn-ea"/>
                </a:rPr>
                <a:t>입찰가격</a:t>
              </a:r>
            </a:p>
          </p:txBody>
        </p:sp>
        <p:sp>
          <p:nvSpPr>
            <p:cNvPr id="66" name="TextBox 65">
              <a:extLst>
                <a:ext uri="{FF2B5EF4-FFF2-40B4-BE49-F238E27FC236}">
                  <a16:creationId xmlns:a16="http://schemas.microsoft.com/office/drawing/2014/main" id="{FFC49AEA-2A8F-250C-A86A-A7751D9706C3}"/>
                </a:ext>
              </a:extLst>
            </p:cNvPr>
            <p:cNvSpPr txBox="1"/>
            <p:nvPr/>
          </p:nvSpPr>
          <p:spPr>
            <a:xfrm>
              <a:off x="5658822" y="3393165"/>
              <a:ext cx="168316" cy="107722"/>
            </a:xfrm>
            <a:prstGeom prst="rect">
              <a:avLst/>
            </a:prstGeom>
            <a:noFill/>
          </p:spPr>
          <p:txBody>
            <a:bodyPr wrap="none" lIns="0" tIns="0" rIns="0" bIns="0" rtlCol="0">
              <a:spAutoFit/>
            </a:bodyPr>
            <a:lstStyle/>
            <a:p>
              <a:pPr algn="r"/>
              <a:r>
                <a:rPr lang="en-US" altLang="ko-KR" sz="700" dirty="0">
                  <a:latin typeface="+mn-ea"/>
                </a:rPr>
                <a:t>90.0</a:t>
              </a:r>
              <a:endParaRPr lang="ko-KR" altLang="en-US" sz="700" dirty="0">
                <a:latin typeface="+mn-ea"/>
              </a:endParaRPr>
            </a:p>
          </p:txBody>
        </p:sp>
        <p:sp>
          <p:nvSpPr>
            <p:cNvPr id="67" name="TextBox 66">
              <a:extLst>
                <a:ext uri="{FF2B5EF4-FFF2-40B4-BE49-F238E27FC236}">
                  <a16:creationId xmlns:a16="http://schemas.microsoft.com/office/drawing/2014/main" id="{FFC49AEA-2A8F-250C-A86A-A7751D9706C3}"/>
                </a:ext>
              </a:extLst>
            </p:cNvPr>
            <p:cNvSpPr txBox="1"/>
            <p:nvPr/>
          </p:nvSpPr>
          <p:spPr>
            <a:xfrm>
              <a:off x="6390176" y="3393165"/>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3832498" y="378200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9" name="TextBox 68">
              <a:extLst>
                <a:ext uri="{FF2B5EF4-FFF2-40B4-BE49-F238E27FC236}">
                  <a16:creationId xmlns:a16="http://schemas.microsoft.com/office/drawing/2014/main" id="{FFC49AEA-2A8F-250C-A86A-A7751D9706C3}"/>
                </a:ext>
              </a:extLst>
            </p:cNvPr>
            <p:cNvSpPr txBox="1"/>
            <p:nvPr/>
          </p:nvSpPr>
          <p:spPr>
            <a:xfrm>
              <a:off x="3919560" y="3618819"/>
              <a:ext cx="1480199" cy="107722"/>
            </a:xfrm>
            <a:prstGeom prst="rect">
              <a:avLst/>
            </a:prstGeom>
            <a:noFill/>
          </p:spPr>
          <p:txBody>
            <a:bodyPr wrap="square" lIns="0" tIns="0" rIns="0" bIns="0" rtlCol="0">
              <a:spAutoFit/>
            </a:bodyPr>
            <a:lstStyle/>
            <a:p>
              <a:r>
                <a:rPr lang="ko-KR" altLang="en-US" sz="700" dirty="0">
                  <a:latin typeface="+mn-ea"/>
                </a:rPr>
                <a:t>기타결격여부</a:t>
              </a:r>
            </a:p>
          </p:txBody>
        </p:sp>
        <p:sp>
          <p:nvSpPr>
            <p:cNvPr id="70" name="TextBox 69">
              <a:extLst>
                <a:ext uri="{FF2B5EF4-FFF2-40B4-BE49-F238E27FC236}">
                  <a16:creationId xmlns:a16="http://schemas.microsoft.com/office/drawing/2014/main" id="{FFC49AEA-2A8F-250C-A86A-A7751D9706C3}"/>
                </a:ext>
              </a:extLst>
            </p:cNvPr>
            <p:cNvSpPr txBox="1"/>
            <p:nvPr/>
          </p:nvSpPr>
          <p:spPr>
            <a:xfrm>
              <a:off x="5621953" y="3618819"/>
              <a:ext cx="205185" cy="107722"/>
            </a:xfrm>
            <a:prstGeom prst="rect">
              <a:avLst/>
            </a:prstGeom>
            <a:noFill/>
          </p:spPr>
          <p:txBody>
            <a:bodyPr wrap="none" lIns="0" tIns="0" rIns="0" bIns="0" rtlCol="0">
              <a:spAutoFit/>
            </a:bodyPr>
            <a:lstStyle/>
            <a:p>
              <a:pPr algn="r"/>
              <a:r>
                <a:rPr lang="en-US" altLang="ko-KR" sz="700" dirty="0">
                  <a:latin typeface="+mn-ea"/>
                </a:rPr>
                <a:t>-25.0</a:t>
              </a:r>
              <a:endParaRPr lang="ko-KR" altLang="en-US" sz="700" dirty="0">
                <a:latin typeface="+mn-ea"/>
              </a:endParaRPr>
            </a:p>
          </p:txBody>
        </p:sp>
        <p:sp>
          <p:nvSpPr>
            <p:cNvPr id="71" name="TextBox 70">
              <a:extLst>
                <a:ext uri="{FF2B5EF4-FFF2-40B4-BE49-F238E27FC236}">
                  <a16:creationId xmlns:a16="http://schemas.microsoft.com/office/drawing/2014/main" id="{FFC49AEA-2A8F-250C-A86A-A7751D9706C3}"/>
                </a:ext>
              </a:extLst>
            </p:cNvPr>
            <p:cNvSpPr txBox="1"/>
            <p:nvPr/>
          </p:nvSpPr>
          <p:spPr>
            <a:xfrm>
              <a:off x="6390176" y="3618819"/>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72" name="직선 연결선 71">
              <a:extLst>
                <a:ext uri="{FF2B5EF4-FFF2-40B4-BE49-F238E27FC236}">
                  <a16:creationId xmlns:a16="http://schemas.microsoft.com/office/drawing/2014/main" id="{E9293055-D5CD-4B9E-7F64-64B2D2CA7A52}"/>
                </a:ext>
              </a:extLst>
            </p:cNvPr>
            <p:cNvCxnSpPr/>
            <p:nvPr/>
          </p:nvCxnSpPr>
          <p:spPr>
            <a:xfrm>
              <a:off x="3832498" y="40035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3" name="TextBox 72">
              <a:extLst>
                <a:ext uri="{FF2B5EF4-FFF2-40B4-BE49-F238E27FC236}">
                  <a16:creationId xmlns:a16="http://schemas.microsoft.com/office/drawing/2014/main" id="{FFC49AEA-2A8F-250C-A86A-A7751D9706C3}"/>
                </a:ext>
              </a:extLst>
            </p:cNvPr>
            <p:cNvSpPr txBox="1"/>
            <p:nvPr/>
          </p:nvSpPr>
          <p:spPr>
            <a:xfrm>
              <a:off x="3919560" y="3840311"/>
              <a:ext cx="1480199" cy="107722"/>
            </a:xfrm>
            <a:prstGeom prst="rect">
              <a:avLst/>
            </a:prstGeom>
            <a:noFill/>
          </p:spPr>
          <p:txBody>
            <a:bodyPr wrap="square" lIns="0" tIns="0" rIns="0" bIns="0" rtlCol="0">
              <a:spAutoFit/>
            </a:bodyPr>
            <a:lstStyle/>
            <a:p>
              <a:r>
                <a:rPr lang="ko-KR" altLang="en-US" sz="700" dirty="0">
                  <a:latin typeface="+mn-ea"/>
                </a:rPr>
                <a:t>총계</a:t>
              </a:r>
            </a:p>
          </p:txBody>
        </p:sp>
        <p:sp>
          <p:nvSpPr>
            <p:cNvPr id="74" name="TextBox 73">
              <a:extLst>
                <a:ext uri="{FF2B5EF4-FFF2-40B4-BE49-F238E27FC236}">
                  <a16:creationId xmlns:a16="http://schemas.microsoft.com/office/drawing/2014/main" id="{FFC49AEA-2A8F-250C-A86A-A7751D9706C3}"/>
                </a:ext>
              </a:extLst>
            </p:cNvPr>
            <p:cNvSpPr txBox="1"/>
            <p:nvPr/>
          </p:nvSpPr>
          <p:spPr>
            <a:xfrm>
              <a:off x="5678058" y="3840311"/>
              <a:ext cx="149080" cy="107722"/>
            </a:xfrm>
            <a:prstGeom prst="rect">
              <a:avLst/>
            </a:prstGeom>
            <a:noFill/>
          </p:spPr>
          <p:txBody>
            <a:bodyPr wrap="none" lIns="0" tIns="0" rIns="0" bIns="0" rtlCol="0">
              <a:spAutoFit/>
            </a:bodyPr>
            <a:lstStyle/>
            <a:p>
              <a:pPr algn="r"/>
              <a:r>
                <a:rPr lang="en-US" altLang="ko-KR" sz="700" dirty="0">
                  <a:latin typeface="+mn-ea"/>
                </a:rPr>
                <a:t>100</a:t>
              </a:r>
              <a:endParaRPr lang="ko-KR" altLang="en-US" sz="700" dirty="0">
                <a:latin typeface="+mn-ea"/>
              </a:endParaRPr>
            </a:p>
          </p:txBody>
        </p:sp>
        <p:sp>
          <p:nvSpPr>
            <p:cNvPr id="75" name="TextBox 74">
              <a:extLst>
                <a:ext uri="{FF2B5EF4-FFF2-40B4-BE49-F238E27FC236}">
                  <a16:creationId xmlns:a16="http://schemas.microsoft.com/office/drawing/2014/main" id="{FFC49AEA-2A8F-250C-A86A-A7751D9706C3}"/>
                </a:ext>
              </a:extLst>
            </p:cNvPr>
            <p:cNvSpPr txBox="1"/>
            <p:nvPr/>
          </p:nvSpPr>
          <p:spPr>
            <a:xfrm>
              <a:off x="6390176" y="3840311"/>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grpSp>
      <p:cxnSp>
        <p:nvCxnSpPr>
          <p:cNvPr id="96" name="직선 연결선 95">
            <a:extLst>
              <a:ext uri="{FF2B5EF4-FFF2-40B4-BE49-F238E27FC236}">
                <a16:creationId xmlns:a16="http://schemas.microsoft.com/office/drawing/2014/main" id="{E9293055-D5CD-4B9E-7F64-64B2D2CA7A52}"/>
              </a:ext>
            </a:extLst>
          </p:cNvPr>
          <p:cNvCxnSpPr/>
          <p:nvPr/>
        </p:nvCxnSpPr>
        <p:spPr>
          <a:xfrm>
            <a:off x="675400" y="183548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직선 연결선 75">
            <a:extLst>
              <a:ext uri="{FF2B5EF4-FFF2-40B4-BE49-F238E27FC236}">
                <a16:creationId xmlns:a16="http://schemas.microsoft.com/office/drawing/2014/main" id="{E9293055-D5CD-4B9E-7F64-64B2D2CA7A52}"/>
              </a:ext>
            </a:extLst>
          </p:cNvPr>
          <p:cNvCxnSpPr/>
          <p:nvPr/>
        </p:nvCxnSpPr>
        <p:spPr>
          <a:xfrm>
            <a:off x="675400" y="3422618"/>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2" name="TextBox 151">
            <a:extLst>
              <a:ext uri="{FF2B5EF4-FFF2-40B4-BE49-F238E27FC236}">
                <a16:creationId xmlns:a16="http://schemas.microsoft.com/office/drawing/2014/main" id="{FFC49AEA-2A8F-250C-A86A-A7751D9706C3}"/>
              </a:ext>
            </a:extLst>
          </p:cNvPr>
          <p:cNvSpPr txBox="1"/>
          <p:nvPr/>
        </p:nvSpPr>
        <p:spPr>
          <a:xfrm>
            <a:off x="3883823" y="1513866"/>
            <a:ext cx="2268636" cy="181140"/>
          </a:xfrm>
          <a:prstGeom prst="rect">
            <a:avLst/>
          </a:prstGeom>
          <a:noFill/>
        </p:spPr>
        <p:txBody>
          <a:bodyPr wrap="square" lIns="0" tIns="0" rIns="0" bIns="0" rtlCol="0">
            <a:spAutoFit/>
          </a:bodyPr>
          <a:lstStyle/>
          <a:p>
            <a:pPr>
              <a:lnSpc>
                <a:spcPct val="200000"/>
              </a:lnSpc>
            </a:pPr>
            <a:r>
              <a:rPr lang="ko-KR" altLang="en-US" sz="700" dirty="0">
                <a:latin typeface="+mn-ea"/>
              </a:rPr>
              <a:t>입찰가격점수</a:t>
            </a:r>
          </a:p>
        </p:txBody>
      </p:sp>
      <p:grpSp>
        <p:nvGrpSpPr>
          <p:cNvPr id="153" name="그룹 152"/>
          <p:cNvGrpSpPr/>
          <p:nvPr/>
        </p:nvGrpSpPr>
        <p:grpSpPr>
          <a:xfrm flipV="1">
            <a:off x="6245910" y="1627197"/>
            <a:ext cx="94010" cy="47005"/>
            <a:chOff x="6812560" y="3297172"/>
            <a:chExt cx="94010" cy="47005"/>
          </a:xfrm>
        </p:grpSpPr>
        <p:cxnSp>
          <p:nvCxnSpPr>
            <p:cNvPr id="154" name="직선 연결선 15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5" name="직선 연결선 15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6" name="직선 연결선 155">
            <a:extLst>
              <a:ext uri="{FF2B5EF4-FFF2-40B4-BE49-F238E27FC236}">
                <a16:creationId xmlns:a16="http://schemas.microsoft.com/office/drawing/2014/main" id="{E9293055-D5CD-4B9E-7F64-64B2D2CA7A52}"/>
              </a:ext>
            </a:extLst>
          </p:cNvPr>
          <p:cNvCxnSpPr/>
          <p:nvPr/>
        </p:nvCxnSpPr>
        <p:spPr>
          <a:xfrm>
            <a:off x="3797076" y="180067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직사각형 158"/>
          <p:cNvSpPr/>
          <p:nvPr/>
        </p:nvSpPr>
        <p:spPr>
          <a:xfrm>
            <a:off x="3840136" y="1864792"/>
            <a:ext cx="792000" cy="15282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3927198" y="2285253"/>
            <a:ext cx="754231" cy="430887"/>
          </a:xfrm>
          <a:prstGeom prst="rect">
            <a:avLst/>
          </a:prstGeom>
          <a:noFill/>
        </p:spPr>
        <p:txBody>
          <a:bodyPr wrap="square" lIns="0" tIns="0" rIns="0" bIns="0" rtlCol="0">
            <a:spAutoFit/>
          </a:bodyPr>
          <a:lstStyle/>
          <a:p>
            <a:pPr>
              <a:lnSpc>
                <a:spcPct val="200000"/>
              </a:lnSpc>
            </a:pPr>
            <a:r>
              <a:rPr lang="ko-KR" altLang="en-US" sz="700" dirty="0">
                <a:latin typeface="+mn-ea"/>
              </a:rPr>
              <a:t>입찰가격</a:t>
            </a:r>
            <a:endParaRPr lang="en-US" altLang="ko-KR" sz="700" dirty="0">
              <a:latin typeface="+mn-ea"/>
            </a:endParaRPr>
          </a:p>
          <a:p>
            <a:pPr>
              <a:lnSpc>
                <a:spcPct val="200000"/>
              </a:lnSpc>
            </a:pPr>
            <a:r>
              <a:rPr lang="ko-KR" altLang="en-US" sz="700" dirty="0">
                <a:latin typeface="+mn-ea"/>
              </a:rPr>
              <a:t>예정가격</a:t>
            </a:r>
            <a:endParaRPr lang="en-US" altLang="ko-KR" sz="700" dirty="0">
              <a:latin typeface="+mn-ea"/>
            </a:endParaRPr>
          </a:p>
        </p:txBody>
      </p:sp>
      <p:sp>
        <p:nvSpPr>
          <p:cNvPr id="161" name="TextBox 160">
            <a:extLst>
              <a:ext uri="{FF2B5EF4-FFF2-40B4-BE49-F238E27FC236}">
                <a16:creationId xmlns:a16="http://schemas.microsoft.com/office/drawing/2014/main" id="{FFC49AEA-2A8F-250C-A86A-A7751D9706C3}"/>
              </a:ext>
            </a:extLst>
          </p:cNvPr>
          <p:cNvSpPr txBox="1"/>
          <p:nvPr/>
        </p:nvSpPr>
        <p:spPr>
          <a:xfrm>
            <a:off x="4684048" y="2285253"/>
            <a:ext cx="1775839" cy="430887"/>
          </a:xfrm>
          <a:prstGeom prst="rect">
            <a:avLst/>
          </a:prstGeom>
          <a:noFill/>
        </p:spPr>
        <p:txBody>
          <a:bodyPr wrap="square" lIns="0" tIns="0" rIns="0" bIns="0" rtlCol="0">
            <a:spAutoFit/>
          </a:bodyPr>
          <a:lstStyle/>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838043" y="18647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3840136" y="25130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3840136" y="27277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3840136" y="31573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3840136" y="33930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3840136" y="22899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TextBox 169">
            <a:extLst>
              <a:ext uri="{FF2B5EF4-FFF2-40B4-BE49-F238E27FC236}">
                <a16:creationId xmlns:a16="http://schemas.microsoft.com/office/drawing/2014/main" id="{FFC49AEA-2A8F-250C-A86A-A7751D9706C3}"/>
              </a:ext>
            </a:extLst>
          </p:cNvPr>
          <p:cNvSpPr txBox="1"/>
          <p:nvPr/>
        </p:nvSpPr>
        <p:spPr>
          <a:xfrm>
            <a:off x="3932343" y="2032838"/>
            <a:ext cx="952980" cy="107722"/>
          </a:xfrm>
          <a:prstGeom prst="rect">
            <a:avLst/>
          </a:prstGeom>
          <a:noFill/>
        </p:spPr>
        <p:txBody>
          <a:bodyPr wrap="square" lIns="0" tIns="0" rIns="0" bIns="0" rtlCol="0">
            <a:spAutoFit/>
          </a:bodyPr>
          <a:lstStyle/>
          <a:p>
            <a:r>
              <a:rPr lang="ko-KR" altLang="en-US" sz="700" dirty="0">
                <a:latin typeface="+mn-ea"/>
              </a:rPr>
              <a:t>가격점수산식</a:t>
            </a:r>
          </a:p>
        </p:txBody>
      </p:sp>
      <p:sp>
        <p:nvSpPr>
          <p:cNvPr id="171" name="TextBox 170">
            <a:extLst>
              <a:ext uri="{FF2B5EF4-FFF2-40B4-BE49-F238E27FC236}">
                <a16:creationId xmlns:a16="http://schemas.microsoft.com/office/drawing/2014/main" id="{FFC49AEA-2A8F-250C-A86A-A7751D9706C3}"/>
              </a:ext>
            </a:extLst>
          </p:cNvPr>
          <p:cNvSpPr txBox="1"/>
          <p:nvPr/>
        </p:nvSpPr>
        <p:spPr>
          <a:xfrm>
            <a:off x="4681429" y="1936658"/>
            <a:ext cx="1758398" cy="300082"/>
          </a:xfrm>
          <a:prstGeom prst="rect">
            <a:avLst/>
          </a:prstGeom>
          <a:noFill/>
        </p:spPr>
        <p:txBody>
          <a:bodyPr wrap="square" lIns="0" tIns="0" rIns="0" bIns="0" rtlCol="0">
            <a:spAutoFit/>
          </a:bodyPr>
          <a:lstStyle/>
          <a:p>
            <a:r>
              <a:rPr lang="ko-KR" altLang="en-US" sz="650" dirty="0" err="1">
                <a:latin typeface="+mn-ea"/>
              </a:rPr>
              <a:t>산출식</a:t>
            </a:r>
            <a:r>
              <a:rPr lang="ko-KR" altLang="en-US" sz="650" dirty="0">
                <a:latin typeface="+mn-ea"/>
              </a:rPr>
              <a:t> </a:t>
            </a:r>
            <a:r>
              <a:rPr lang="en-US" altLang="ko-KR" sz="650" dirty="0">
                <a:latin typeface="+mn-ea"/>
              </a:rPr>
              <a:t>: </a:t>
            </a:r>
          </a:p>
          <a:p>
            <a:r>
              <a:rPr lang="en-US" altLang="ko-KR" sz="650" dirty="0">
                <a:latin typeface="+mn-ea"/>
              </a:rPr>
              <a:t>90 – 20 X {(88/100 – </a:t>
            </a:r>
            <a:r>
              <a:rPr lang="ko-KR" altLang="en-US" sz="650" dirty="0">
                <a:latin typeface="+mn-ea"/>
              </a:rPr>
              <a:t>입찰가격</a:t>
            </a:r>
            <a:r>
              <a:rPr lang="en-US" altLang="ko-KR" sz="650" dirty="0">
                <a:latin typeface="+mn-ea"/>
              </a:rPr>
              <a:t>/</a:t>
            </a:r>
            <a:r>
              <a:rPr lang="ko-KR" altLang="en-US" sz="650" dirty="0">
                <a:latin typeface="+mn-ea"/>
              </a:rPr>
              <a:t>예정가격</a:t>
            </a:r>
            <a:r>
              <a:rPr lang="en-US" altLang="ko-KR" sz="650" dirty="0">
                <a:latin typeface="+mn-ea"/>
              </a:rPr>
              <a:t>) X 100}</a:t>
            </a:r>
          </a:p>
        </p:txBody>
      </p:sp>
      <p:sp>
        <p:nvSpPr>
          <p:cNvPr id="176" name="TextBox 175">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7" name="TextBox 17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cxnSp>
        <p:nvCxnSpPr>
          <p:cNvPr id="118" name="직선 연결선 117">
            <a:extLst>
              <a:ext uri="{FF2B5EF4-FFF2-40B4-BE49-F238E27FC236}">
                <a16:creationId xmlns:a16="http://schemas.microsoft.com/office/drawing/2014/main" id="{E9293055-D5CD-4B9E-7F64-64B2D2CA7A52}"/>
              </a:ext>
            </a:extLst>
          </p:cNvPr>
          <p:cNvCxnSpPr/>
          <p:nvPr/>
        </p:nvCxnSpPr>
        <p:spPr>
          <a:xfrm>
            <a:off x="3797076" y="345710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6" name="TextBox 125">
            <a:extLst>
              <a:ext uri="{FF2B5EF4-FFF2-40B4-BE49-F238E27FC236}">
                <a16:creationId xmlns:a16="http://schemas.microsoft.com/office/drawing/2014/main" id="{FFC49AEA-2A8F-250C-A86A-A7751D9706C3}"/>
              </a:ext>
            </a:extLst>
          </p:cNvPr>
          <p:cNvSpPr txBox="1"/>
          <p:nvPr/>
        </p:nvSpPr>
        <p:spPr>
          <a:xfrm>
            <a:off x="3927198" y="2796995"/>
            <a:ext cx="754231" cy="323165"/>
          </a:xfrm>
          <a:prstGeom prst="rect">
            <a:avLst/>
          </a:prstGeom>
          <a:noFill/>
        </p:spPr>
        <p:txBody>
          <a:bodyPr wrap="square" lIns="0" tIns="0" rIns="0" bIns="0" rtlCol="0">
            <a:spAutoFit/>
          </a:bodyPr>
          <a:lstStyle/>
          <a:p>
            <a:r>
              <a:rPr lang="ko-KR" altLang="en-US" sz="700" dirty="0" err="1">
                <a:latin typeface="+mn-ea"/>
              </a:rPr>
              <a:t>입찰률</a:t>
            </a:r>
            <a:endParaRPr lang="en-US" altLang="ko-KR" sz="700" dirty="0">
              <a:latin typeface="+mn-ea"/>
            </a:endParaRPr>
          </a:p>
          <a:p>
            <a:r>
              <a:rPr lang="en-US" altLang="ko-KR" sz="650" dirty="0">
                <a:latin typeface="+mn-ea"/>
              </a:rPr>
              <a:t>(</a:t>
            </a:r>
            <a:r>
              <a:rPr lang="ko-KR" altLang="en-US" sz="650" dirty="0">
                <a:latin typeface="+mn-ea"/>
              </a:rPr>
              <a:t>입찰가격</a:t>
            </a:r>
            <a:r>
              <a:rPr lang="en-US" altLang="ko-KR" sz="650" dirty="0">
                <a:latin typeface="+mn-ea"/>
              </a:rPr>
              <a:t>/</a:t>
            </a:r>
            <a:r>
              <a:rPr lang="ko-KR" altLang="en-US" sz="650" dirty="0">
                <a:latin typeface="+mn-ea"/>
              </a:rPr>
              <a:t>예정가격</a:t>
            </a:r>
            <a:r>
              <a:rPr lang="en-US" altLang="ko-KR" sz="650" dirty="0">
                <a:latin typeface="+mn-ea"/>
              </a:rPr>
              <a:t>)</a:t>
            </a:r>
            <a:r>
              <a:rPr lang="en-US" altLang="ko-KR" sz="700" dirty="0">
                <a:latin typeface="+mn-ea"/>
              </a:rPr>
              <a:t> (%)</a:t>
            </a:r>
          </a:p>
        </p:txBody>
      </p:sp>
      <p:sp>
        <p:nvSpPr>
          <p:cNvPr id="128" name="TextBox 127">
            <a:extLst>
              <a:ext uri="{FF2B5EF4-FFF2-40B4-BE49-F238E27FC236}">
                <a16:creationId xmlns:a16="http://schemas.microsoft.com/office/drawing/2014/main" id="{FFC49AEA-2A8F-250C-A86A-A7751D9706C3}"/>
              </a:ext>
            </a:extLst>
          </p:cNvPr>
          <p:cNvSpPr txBox="1"/>
          <p:nvPr/>
        </p:nvSpPr>
        <p:spPr>
          <a:xfrm>
            <a:off x="3927198" y="3220641"/>
            <a:ext cx="754231" cy="107722"/>
          </a:xfrm>
          <a:prstGeom prst="rect">
            <a:avLst/>
          </a:prstGeom>
          <a:noFill/>
        </p:spPr>
        <p:txBody>
          <a:bodyPr wrap="square" lIns="0" tIns="0" rIns="0" bIns="0" rtlCol="0">
            <a:spAutoFit/>
          </a:bodyPr>
          <a:lstStyle/>
          <a:p>
            <a:r>
              <a:rPr lang="ko-KR" altLang="en-US" sz="700" dirty="0">
                <a:latin typeface="+mn-ea"/>
              </a:rPr>
              <a:t>평점</a:t>
            </a:r>
            <a:endParaRPr lang="en-US" altLang="ko-KR" sz="700" dirty="0">
              <a:latin typeface="+mn-ea"/>
            </a:endParaRPr>
          </a:p>
        </p:txBody>
      </p:sp>
      <p:sp>
        <p:nvSpPr>
          <p:cNvPr id="146" name="TextBox 145">
            <a:extLst>
              <a:ext uri="{FF2B5EF4-FFF2-40B4-BE49-F238E27FC236}">
                <a16:creationId xmlns:a16="http://schemas.microsoft.com/office/drawing/2014/main" id="{FFC49AEA-2A8F-250C-A86A-A7751D9706C3}"/>
              </a:ext>
            </a:extLst>
          </p:cNvPr>
          <p:cNvSpPr txBox="1"/>
          <p:nvPr/>
        </p:nvSpPr>
        <p:spPr>
          <a:xfrm>
            <a:off x="4684048" y="2904716"/>
            <a:ext cx="1775839" cy="107722"/>
          </a:xfrm>
          <a:prstGeom prst="rect">
            <a:avLst/>
          </a:prstGeom>
          <a:noFill/>
        </p:spPr>
        <p:txBody>
          <a:bodyPr wrap="square" lIns="0" tIns="0" rIns="0" bIns="0" rtlCol="0">
            <a:spAutoFit/>
          </a:bodyPr>
          <a:lstStyle/>
          <a:p>
            <a:pPr algn="r"/>
            <a:r>
              <a:rPr lang="en-US" altLang="ko-KR" sz="700" dirty="0">
                <a:latin typeface="+mn-ea"/>
              </a:rPr>
              <a:t>00 %</a:t>
            </a:r>
          </a:p>
        </p:txBody>
      </p:sp>
      <p:sp>
        <p:nvSpPr>
          <p:cNvPr id="147" name="TextBox 146">
            <a:extLst>
              <a:ext uri="{FF2B5EF4-FFF2-40B4-BE49-F238E27FC236}">
                <a16:creationId xmlns:a16="http://schemas.microsoft.com/office/drawing/2014/main" id="{FFC49AEA-2A8F-250C-A86A-A7751D9706C3}"/>
              </a:ext>
            </a:extLst>
          </p:cNvPr>
          <p:cNvSpPr txBox="1"/>
          <p:nvPr/>
        </p:nvSpPr>
        <p:spPr>
          <a:xfrm>
            <a:off x="4684048" y="3220641"/>
            <a:ext cx="1775839" cy="107722"/>
          </a:xfrm>
          <a:prstGeom prst="rect">
            <a:avLst/>
          </a:prstGeom>
          <a:noFill/>
        </p:spPr>
        <p:txBody>
          <a:bodyPr wrap="square" lIns="0" tIns="0" rIns="0" bIns="0" rtlCol="0">
            <a:spAutoFit/>
          </a:bodyPr>
          <a:lstStyle/>
          <a:p>
            <a:pPr algn="r"/>
            <a:r>
              <a:rPr lang="en-US" altLang="ko-KR" sz="700" dirty="0">
                <a:latin typeface="+mn-ea"/>
              </a:rPr>
              <a:t>00</a:t>
            </a:r>
          </a:p>
        </p:txBody>
      </p:sp>
      <p:sp>
        <p:nvSpPr>
          <p:cNvPr id="148" name="직사각형 147"/>
          <p:cNvSpPr/>
          <p:nvPr/>
        </p:nvSpPr>
        <p:spPr>
          <a:xfrm>
            <a:off x="718458" y="4035587"/>
            <a:ext cx="1639886" cy="43439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TextBox 156">
            <a:extLst>
              <a:ext uri="{FF2B5EF4-FFF2-40B4-BE49-F238E27FC236}">
                <a16:creationId xmlns:a16="http://schemas.microsoft.com/office/drawing/2014/main" id="{FFC49AEA-2A8F-250C-A86A-A7751D9706C3}"/>
              </a:ext>
            </a:extLst>
          </p:cNvPr>
          <p:cNvSpPr txBox="1"/>
          <p:nvPr/>
        </p:nvSpPr>
        <p:spPr>
          <a:xfrm>
            <a:off x="805521" y="4035588"/>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회사채</a:t>
            </a:r>
            <a:r>
              <a:rPr lang="en-US" altLang="ko-KR" sz="700" dirty="0">
                <a:latin typeface="+mn-ea"/>
              </a:rPr>
              <a:t>,</a:t>
            </a:r>
            <a:r>
              <a:rPr lang="ko-KR" altLang="en-US" sz="700" dirty="0">
                <a:latin typeface="+mn-ea"/>
              </a:rPr>
              <a:t>기업신용평가</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2533563" y="403558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등급</a:t>
            </a:r>
            <a:endParaRPr lang="en-US" altLang="ko-KR" sz="700" dirty="0">
              <a:latin typeface="+mn-ea"/>
            </a:endParaRPr>
          </a:p>
        </p:txBody>
      </p:sp>
      <p:cxnSp>
        <p:nvCxnSpPr>
          <p:cNvPr id="162" name="직선 연결선 161">
            <a:extLst>
              <a:ext uri="{FF2B5EF4-FFF2-40B4-BE49-F238E27FC236}">
                <a16:creationId xmlns:a16="http://schemas.microsoft.com/office/drawing/2014/main" id="{E9293055-D5CD-4B9E-7F64-64B2D2CA7A52}"/>
              </a:ext>
            </a:extLst>
          </p:cNvPr>
          <p:cNvCxnSpPr/>
          <p:nvPr/>
        </p:nvCxnSpPr>
        <p:spPr>
          <a:xfrm>
            <a:off x="716366" y="403558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18459" y="425032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18459" y="44699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4" name="TextBox 173">
            <a:extLst>
              <a:ext uri="{FF2B5EF4-FFF2-40B4-BE49-F238E27FC236}">
                <a16:creationId xmlns:a16="http://schemas.microsoft.com/office/drawing/2014/main" id="{FFC49AEA-2A8F-250C-A86A-A7751D9706C3}"/>
              </a:ext>
            </a:extLst>
          </p:cNvPr>
          <p:cNvSpPr txBox="1"/>
          <p:nvPr/>
        </p:nvSpPr>
        <p:spPr>
          <a:xfrm>
            <a:off x="777337" y="374847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기타</a:t>
            </a:r>
          </a:p>
        </p:txBody>
      </p:sp>
      <p:sp>
        <p:nvSpPr>
          <p:cNvPr id="178" name="TextBox 177">
            <a:extLst>
              <a:ext uri="{FF2B5EF4-FFF2-40B4-BE49-F238E27FC236}">
                <a16:creationId xmlns:a16="http://schemas.microsoft.com/office/drawing/2014/main" id="{FFC49AEA-2A8F-250C-A86A-A7751D9706C3}"/>
              </a:ext>
            </a:extLst>
          </p:cNvPr>
          <p:cNvSpPr txBox="1"/>
          <p:nvPr/>
        </p:nvSpPr>
        <p:spPr>
          <a:xfrm>
            <a:off x="3133470" y="4035588"/>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2" name="직선 연결선 181">
            <a:extLst>
              <a:ext uri="{FF2B5EF4-FFF2-40B4-BE49-F238E27FC236}">
                <a16:creationId xmlns:a16="http://schemas.microsoft.com/office/drawing/2014/main" id="{E9293055-D5CD-4B9E-7F64-64B2D2CA7A52}"/>
              </a:ext>
            </a:extLst>
          </p:cNvPr>
          <p:cNvCxnSpPr/>
          <p:nvPr/>
        </p:nvCxnSpPr>
        <p:spPr>
          <a:xfrm>
            <a:off x="676741" y="478414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3" name="TextBox 182">
            <a:extLst>
              <a:ext uri="{FF2B5EF4-FFF2-40B4-BE49-F238E27FC236}">
                <a16:creationId xmlns:a16="http://schemas.microsoft.com/office/drawing/2014/main" id="{FFC49AEA-2A8F-250C-A86A-A7751D9706C3}"/>
              </a:ext>
            </a:extLst>
          </p:cNvPr>
          <p:cNvSpPr txBox="1"/>
          <p:nvPr/>
        </p:nvSpPr>
        <p:spPr>
          <a:xfrm>
            <a:off x="763487" y="4510578"/>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비고 내용 표시 </a:t>
            </a:r>
            <a:r>
              <a:rPr lang="en-US" altLang="ko-KR" sz="700" dirty="0">
                <a:latin typeface="+mn-ea"/>
              </a:rPr>
              <a:t>/ </a:t>
            </a:r>
            <a:r>
              <a:rPr lang="ko-KR" altLang="en-US" sz="700" dirty="0">
                <a:latin typeface="+mn-ea"/>
              </a:rPr>
              <a:t>비고가 없는 경우 라인 숨김</a:t>
            </a:r>
            <a:endParaRPr lang="en-US" altLang="ko-KR"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762146" y="3450434"/>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신용평가</a:t>
            </a:r>
            <a:r>
              <a:rPr lang="en-US" altLang="ko-KR" sz="700" dirty="0">
                <a:latin typeface="+mn-ea"/>
              </a:rPr>
              <a:t>(10</a:t>
            </a:r>
            <a:r>
              <a:rPr lang="ko-KR" altLang="en-US" sz="700" dirty="0">
                <a:latin typeface="+mn-ea"/>
              </a:rPr>
              <a:t>점</a:t>
            </a:r>
            <a:r>
              <a:rPr lang="en-US" altLang="ko-KR" sz="700" dirty="0">
                <a:latin typeface="+mn-ea"/>
              </a:rPr>
              <a:t>)</a:t>
            </a:r>
            <a:endParaRPr lang="ko-KR" altLang="en-US" sz="700" dirty="0">
              <a:latin typeface="+mn-ea"/>
            </a:endParaRPr>
          </a:p>
        </p:txBody>
      </p:sp>
      <p:grpSp>
        <p:nvGrpSpPr>
          <p:cNvPr id="185" name="그룹 184"/>
          <p:cNvGrpSpPr/>
          <p:nvPr/>
        </p:nvGrpSpPr>
        <p:grpSpPr>
          <a:xfrm flipV="1">
            <a:off x="3124233" y="3563765"/>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88" name="직선 연결선 187">
            <a:extLst>
              <a:ext uri="{FF2B5EF4-FFF2-40B4-BE49-F238E27FC236}">
                <a16:creationId xmlns:a16="http://schemas.microsoft.com/office/drawing/2014/main" id="{E9293055-D5CD-4B9E-7F64-64B2D2CA7A52}"/>
              </a:ext>
            </a:extLst>
          </p:cNvPr>
          <p:cNvCxnSpPr/>
          <p:nvPr/>
        </p:nvCxnSpPr>
        <p:spPr>
          <a:xfrm>
            <a:off x="675400" y="3724549"/>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8" name="그룹 7"/>
          <p:cNvGrpSpPr/>
          <p:nvPr/>
        </p:nvGrpSpPr>
        <p:grpSpPr>
          <a:xfrm>
            <a:off x="3795735" y="3476383"/>
            <a:ext cx="2712026" cy="1537585"/>
            <a:chOff x="675400" y="1527996"/>
            <a:chExt cx="2712026" cy="1537585"/>
          </a:xfrm>
        </p:grpSpPr>
        <p:sp>
          <p:nvSpPr>
            <p:cNvPr id="189" name="직사각형 188"/>
            <p:cNvSpPr/>
            <p:nvPr/>
          </p:nvSpPr>
          <p:spPr>
            <a:xfrm>
              <a:off x="722610" y="2637466"/>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0" name="TextBox 1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err="1">
                  <a:latin typeface="+mn-ea"/>
                </a:rPr>
                <a:t>특별신인도</a:t>
              </a:r>
              <a:r>
                <a:rPr lang="ko-KR" altLang="en-US" sz="700" dirty="0">
                  <a:latin typeface="+mn-ea"/>
                </a:rPr>
                <a:t> 세부내용</a:t>
              </a:r>
            </a:p>
          </p:txBody>
        </p:sp>
        <p:grpSp>
          <p:nvGrpSpPr>
            <p:cNvPr id="191" name="그룹 190"/>
            <p:cNvGrpSpPr/>
            <p:nvPr/>
          </p:nvGrpSpPr>
          <p:grpSpPr>
            <a:xfrm flipV="1">
              <a:off x="3124233" y="1641327"/>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94" name="직선 연결선 193">
              <a:extLst>
                <a:ext uri="{FF2B5EF4-FFF2-40B4-BE49-F238E27FC236}">
                  <a16:creationId xmlns:a16="http://schemas.microsoft.com/office/drawing/2014/main" id="{E9293055-D5CD-4B9E-7F64-64B2D2CA7A52}"/>
                </a:ext>
              </a:extLst>
            </p:cNvPr>
            <p:cNvCxnSpPr/>
            <p:nvPr/>
          </p:nvCxnSpPr>
          <p:spPr>
            <a:xfrm>
              <a:off x="675400" y="183548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763578" y="1867694"/>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평가요소 </a:t>
              </a:r>
              <a:r>
                <a:rPr lang="en-US" altLang="ko-KR" sz="700" dirty="0">
                  <a:latin typeface="+mn-ea"/>
                </a:rPr>
                <a:t>: 3</a:t>
              </a:r>
              <a:r>
                <a:rPr lang="ko-KR" altLang="en-US" sz="700" dirty="0">
                  <a:latin typeface="+mn-ea"/>
                </a:rPr>
                <a:t>년간 </a:t>
              </a:r>
              <a:r>
                <a:rPr lang="ko-KR" altLang="en-US" sz="700" dirty="0" err="1">
                  <a:latin typeface="+mn-ea"/>
                </a:rPr>
                <a:t>시공실적</a:t>
              </a:r>
              <a:endParaRPr lang="en-US" altLang="ko-KR" sz="700" dirty="0">
                <a:latin typeface="+mn-ea"/>
              </a:endParaRPr>
            </a:p>
            <a:p>
              <a:pPr>
                <a:lnSpc>
                  <a:spcPct val="200000"/>
                </a:lnSpc>
              </a:pPr>
              <a:r>
                <a:rPr lang="en-US" altLang="ko-KR" sz="700" dirty="0">
                  <a:latin typeface="+mn-ea"/>
                </a:rPr>
                <a:t>- </a:t>
              </a:r>
              <a:r>
                <a:rPr lang="ko-KR" altLang="en-US" sz="700" dirty="0">
                  <a:latin typeface="+mn-ea"/>
                </a:rPr>
                <a:t>평가등급 </a:t>
              </a:r>
              <a:r>
                <a:rPr lang="en-US" altLang="ko-KR" sz="700" dirty="0">
                  <a:latin typeface="+mn-ea"/>
                </a:rPr>
                <a:t>:</a:t>
              </a:r>
              <a:endParaRPr lang="ko-KR" altLang="en-US" sz="700" dirty="0">
                <a:latin typeface="+mn-ea"/>
              </a:endParaRPr>
            </a:p>
          </p:txBody>
        </p:sp>
        <p:sp>
          <p:nvSpPr>
            <p:cNvPr id="196" name="TextBox 195">
              <a:extLst>
                <a:ext uri="{FF2B5EF4-FFF2-40B4-BE49-F238E27FC236}">
                  <a16:creationId xmlns:a16="http://schemas.microsoft.com/office/drawing/2014/main" id="{FFC49AEA-2A8F-250C-A86A-A7751D9706C3}"/>
                </a:ext>
              </a:extLst>
            </p:cNvPr>
            <p:cNvSpPr txBox="1"/>
            <p:nvPr/>
          </p:nvSpPr>
          <p:spPr>
            <a:xfrm>
              <a:off x="1933656" y="2634694"/>
              <a:ext cx="179536" cy="430887"/>
            </a:xfrm>
            <a:prstGeom prst="rect">
              <a:avLst/>
            </a:prstGeom>
            <a:noFill/>
          </p:spPr>
          <p:txBody>
            <a:bodyPr wrap="none" lIns="0" tIns="0" rIns="0" bIns="0" rtlCol="0">
              <a:spAutoFit/>
            </a:bodyPr>
            <a:lstStyle/>
            <a:p>
              <a:pPr algn="ctr">
                <a:lnSpc>
                  <a:spcPct val="200000"/>
                </a:lnSpc>
              </a:pPr>
              <a:r>
                <a:rPr lang="ko-KR" altLang="en-US" sz="700" dirty="0">
                  <a:latin typeface="+mn-ea"/>
                </a:rPr>
                <a:t>등급</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1011640" y="2634694"/>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결과</a:t>
              </a:r>
              <a:endParaRPr lang="en-US" altLang="ko-KR" sz="700" dirty="0">
                <a:latin typeface="+mn-ea"/>
              </a:endParaRPr>
            </a:p>
            <a:p>
              <a:pPr algn="ctr">
                <a:lnSpc>
                  <a:spcPct val="200000"/>
                </a:lnSpc>
              </a:pPr>
              <a:r>
                <a:rPr lang="en-US" altLang="ko-KR" sz="700" dirty="0">
                  <a:latin typeface="+mn-ea"/>
                </a:rPr>
                <a:t>-</a:t>
              </a:r>
            </a:p>
          </p:txBody>
        </p:sp>
        <p:cxnSp>
          <p:nvCxnSpPr>
            <p:cNvPr id="198" name="직선 연결선 197">
              <a:extLst>
                <a:ext uri="{FF2B5EF4-FFF2-40B4-BE49-F238E27FC236}">
                  <a16:creationId xmlns:a16="http://schemas.microsoft.com/office/drawing/2014/main" id="{E9293055-D5CD-4B9E-7F64-64B2D2CA7A52}"/>
                </a:ext>
              </a:extLst>
            </p:cNvPr>
            <p:cNvCxnSpPr/>
            <p:nvPr/>
          </p:nvCxnSpPr>
          <p:spPr>
            <a:xfrm>
              <a:off x="716366" y="26346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9" name="직선 연결선 198">
              <a:extLst>
                <a:ext uri="{FF2B5EF4-FFF2-40B4-BE49-F238E27FC236}">
                  <a16:creationId xmlns:a16="http://schemas.microsoft.com/office/drawing/2014/main" id="{E9293055-D5CD-4B9E-7F64-64B2D2CA7A52}"/>
                </a:ext>
              </a:extLst>
            </p:cNvPr>
            <p:cNvCxnSpPr/>
            <p:nvPr/>
          </p:nvCxnSpPr>
          <p:spPr>
            <a:xfrm>
              <a:off x="718459" y="28494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18459" y="304868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200">
              <a:extLst>
                <a:ext uri="{FF2B5EF4-FFF2-40B4-BE49-F238E27FC236}">
                  <a16:creationId xmlns:a16="http://schemas.microsoft.com/office/drawing/2014/main" id="{FFC49AEA-2A8F-250C-A86A-A7751D9706C3}"/>
                </a:ext>
              </a:extLst>
            </p:cNvPr>
            <p:cNvSpPr txBox="1"/>
            <p:nvPr/>
          </p:nvSpPr>
          <p:spPr>
            <a:xfrm>
              <a:off x="2858086" y="2634694"/>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202" name="TextBox 201">
              <a:extLst>
                <a:ext uri="{FF2B5EF4-FFF2-40B4-BE49-F238E27FC236}">
                  <a16:creationId xmlns:a16="http://schemas.microsoft.com/office/drawing/2014/main" id="{FFC49AEA-2A8F-250C-A86A-A7751D9706C3}"/>
                </a:ext>
              </a:extLst>
            </p:cNvPr>
            <p:cNvSpPr txBox="1"/>
            <p:nvPr/>
          </p:nvSpPr>
          <p:spPr>
            <a:xfrm>
              <a:off x="805521" y="2315990"/>
              <a:ext cx="2507485" cy="215444"/>
            </a:xfrm>
            <a:prstGeom prst="rect">
              <a:avLst/>
            </a:prstGeom>
            <a:noFill/>
          </p:spPr>
          <p:txBody>
            <a:bodyPr wrap="square" lIns="0" tIns="0" rIns="0" bIns="0" rtlCol="0">
              <a:spAutoFit/>
            </a:bodyPr>
            <a:lstStyle/>
            <a:p>
              <a:r>
                <a:rPr lang="en-US" altLang="ko-KR" sz="700" dirty="0">
                  <a:latin typeface="+mn-ea"/>
                </a:rPr>
                <a:t>A. 3</a:t>
              </a:r>
              <a:r>
                <a:rPr lang="ko-KR" altLang="en-US" sz="700" dirty="0">
                  <a:latin typeface="+mn-ea"/>
                </a:rPr>
                <a:t>년간 </a:t>
              </a:r>
              <a:r>
                <a:rPr lang="ko-KR" altLang="en-US" sz="700" dirty="0" err="1">
                  <a:latin typeface="+mn-ea"/>
                </a:rPr>
                <a:t>시공실적이</a:t>
              </a:r>
              <a:r>
                <a:rPr lang="ko-KR" altLang="en-US" sz="700" dirty="0">
                  <a:latin typeface="+mn-ea"/>
                </a:rPr>
                <a:t> </a:t>
              </a:r>
              <a:r>
                <a:rPr lang="ko-KR" altLang="en-US" sz="700" dirty="0" err="1">
                  <a:latin typeface="+mn-ea"/>
                </a:rPr>
                <a:t>추정금액의</a:t>
              </a:r>
              <a:r>
                <a:rPr lang="ko-KR" altLang="en-US" sz="700" dirty="0">
                  <a:latin typeface="+mn-ea"/>
                </a:rPr>
                <a:t> </a:t>
              </a:r>
              <a:r>
                <a:rPr lang="en-US" altLang="ko-KR" sz="700" dirty="0">
                  <a:latin typeface="+mn-ea"/>
                </a:rPr>
                <a:t>1</a:t>
              </a:r>
              <a:r>
                <a:rPr lang="ko-KR" altLang="en-US" sz="700" dirty="0">
                  <a:latin typeface="+mn-ea"/>
                </a:rPr>
                <a:t>배 이상인 자 </a:t>
              </a:r>
              <a:r>
                <a:rPr lang="en-US" altLang="ko-KR" sz="700" dirty="0">
                  <a:latin typeface="+mn-ea"/>
                </a:rPr>
                <a:t>: +2</a:t>
              </a:r>
              <a:r>
                <a:rPr lang="ko-KR" altLang="en-US" sz="700" dirty="0">
                  <a:latin typeface="+mn-ea"/>
                </a:rPr>
                <a:t>점</a:t>
              </a:r>
            </a:p>
            <a:p>
              <a:r>
                <a:rPr lang="ko-KR" altLang="en-US" sz="700" dirty="0">
                  <a:latin typeface="+mn-ea"/>
                </a:rPr>
                <a:t>* 평가 </a:t>
              </a:r>
              <a:r>
                <a:rPr lang="en-US" altLang="ko-KR" sz="700" dirty="0">
                  <a:latin typeface="+mn-ea"/>
                </a:rPr>
                <a:t>= </a:t>
              </a:r>
              <a:r>
                <a:rPr lang="ko-KR" altLang="en-US" sz="700" dirty="0" err="1">
                  <a:latin typeface="+mn-ea"/>
                </a:rPr>
                <a:t>시공실적</a:t>
              </a:r>
              <a:r>
                <a:rPr lang="ko-KR" altLang="en-US" sz="700" dirty="0">
                  <a:latin typeface="+mn-ea"/>
                </a:rPr>
                <a:t> </a:t>
              </a:r>
              <a:r>
                <a:rPr lang="en-US" altLang="ko-KR" sz="700" dirty="0">
                  <a:latin typeface="+mn-ea"/>
                </a:rPr>
                <a:t>: 2,000  </a:t>
              </a:r>
              <a:r>
                <a:rPr lang="ko-KR" altLang="en-US" sz="700" dirty="0">
                  <a:latin typeface="+mn-ea"/>
                </a:rPr>
                <a:t>백만원 </a:t>
              </a:r>
              <a:r>
                <a:rPr lang="ko-KR" altLang="en-US" sz="700" dirty="0" err="1">
                  <a:latin typeface="+mn-ea"/>
                </a:rPr>
                <a:t>추정금액</a:t>
              </a:r>
              <a:r>
                <a:rPr lang="ko-KR" altLang="en-US" sz="700" dirty="0">
                  <a:latin typeface="+mn-ea"/>
                </a:rPr>
                <a:t> </a:t>
              </a:r>
              <a:r>
                <a:rPr lang="en-US" altLang="ko-KR" sz="700" dirty="0">
                  <a:latin typeface="+mn-ea"/>
                </a:rPr>
                <a:t>: 1,000  </a:t>
              </a:r>
              <a:r>
                <a:rPr lang="ko-KR" altLang="en-US" sz="700" dirty="0">
                  <a:latin typeface="+mn-ea"/>
                </a:rPr>
                <a:t>백만원</a:t>
              </a:r>
            </a:p>
          </p:txBody>
        </p:sp>
      </p:grpSp>
    </p:spTree>
    <p:extLst>
      <p:ext uri="{BB962C8B-B14F-4D97-AF65-F5344CB8AC3E}">
        <p14:creationId xmlns:p14="http://schemas.microsoft.com/office/powerpoint/2010/main" val="2068563473"/>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270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a:t>고시금액미만용역</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고시금액미만용역일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MUI-BD-10-M19</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950953" cy="181140"/>
          </a:xfrm>
          <a:prstGeom prst="rect">
            <a:avLst/>
          </a:prstGeom>
          <a:noFill/>
        </p:spPr>
        <p:txBody>
          <a:bodyPr wrap="square" lIns="0" tIns="0" rIns="0" bIns="0" rtlCol="0">
            <a:spAutoFit/>
          </a:bodyPr>
          <a:lstStyle/>
          <a:p>
            <a:pPr>
              <a:lnSpc>
                <a:spcPct val="200000"/>
              </a:lnSpc>
            </a:pPr>
            <a:r>
              <a:rPr lang="ko-KR" altLang="en-US" sz="700" dirty="0">
                <a:latin typeface="+mn-ea"/>
              </a:rPr>
              <a:t>기타 당해 </a:t>
            </a:r>
            <a:r>
              <a:rPr lang="ko-KR" altLang="en-US" sz="700" dirty="0" err="1">
                <a:latin typeface="+mn-ea"/>
              </a:rPr>
              <a:t>공사수행</a:t>
            </a:r>
            <a:r>
              <a:rPr lang="ko-KR" altLang="en-US" sz="700" dirty="0">
                <a:latin typeface="+mn-ea"/>
              </a:rPr>
              <a:t> 관련 </a:t>
            </a:r>
            <a:r>
              <a:rPr lang="ko-KR" altLang="en-US" sz="700" dirty="0" err="1">
                <a:latin typeface="+mn-ea"/>
              </a:rPr>
              <a:t>결격여부</a:t>
            </a:r>
            <a:r>
              <a:rPr lang="ko-KR" altLang="en-US" sz="700" dirty="0">
                <a:latin typeface="+mn-ea"/>
              </a:rPr>
              <a:t> </a:t>
            </a:r>
            <a:r>
              <a:rPr lang="en-US" altLang="ko-KR" sz="700" dirty="0">
                <a:latin typeface="+mn-ea"/>
              </a:rPr>
              <a:t>(-20</a:t>
            </a:r>
            <a:r>
              <a:rPr lang="ko-KR" altLang="en-US" sz="700" dirty="0">
                <a:latin typeface="+mn-ea"/>
              </a:rPr>
              <a:t>점</a:t>
            </a:r>
            <a:r>
              <a:rPr lang="en-US" altLang="ko-KR" sz="700" dirty="0">
                <a:latin typeface="+mn-ea"/>
              </a:rPr>
              <a:t>)</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96" name="직선 연결선 95">
            <a:extLst>
              <a:ext uri="{FF2B5EF4-FFF2-40B4-BE49-F238E27FC236}">
                <a16:creationId xmlns:a16="http://schemas.microsoft.com/office/drawing/2014/main" id="{E9293055-D5CD-4B9E-7F64-64B2D2CA7A52}"/>
              </a:ext>
            </a:extLst>
          </p:cNvPr>
          <p:cNvCxnSpPr/>
          <p:nvPr/>
        </p:nvCxnSpPr>
        <p:spPr>
          <a:xfrm>
            <a:off x="675400" y="183548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8" name="직사각형 117"/>
          <p:cNvSpPr/>
          <p:nvPr/>
        </p:nvSpPr>
        <p:spPr>
          <a:xfrm>
            <a:off x="718458" y="2097494"/>
            <a:ext cx="1639886" cy="9483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6" name="TextBox 125">
            <a:extLst>
              <a:ext uri="{FF2B5EF4-FFF2-40B4-BE49-F238E27FC236}">
                <a16:creationId xmlns:a16="http://schemas.microsoft.com/office/drawing/2014/main" id="{FFC49AEA-2A8F-250C-A86A-A7751D9706C3}"/>
              </a:ext>
            </a:extLst>
          </p:cNvPr>
          <p:cNvSpPr txBox="1"/>
          <p:nvPr/>
        </p:nvSpPr>
        <p:spPr>
          <a:xfrm>
            <a:off x="805521" y="2097495"/>
            <a:ext cx="1480199" cy="181140"/>
          </a:xfrm>
          <a:prstGeom prst="rect">
            <a:avLst/>
          </a:prstGeom>
          <a:noFill/>
        </p:spPr>
        <p:txBody>
          <a:bodyPr wrap="square" lIns="0" tIns="0" rIns="0" bIns="0" rtlCol="0">
            <a:spAutoFit/>
          </a:bodyPr>
          <a:lstStyle/>
          <a:p>
            <a:pPr>
              <a:lnSpc>
                <a:spcPct val="200000"/>
              </a:lnSpc>
            </a:pPr>
            <a:r>
              <a:rPr lang="ko-KR" altLang="en-US" sz="700" dirty="0" err="1">
                <a:latin typeface="+mn-ea"/>
              </a:rPr>
              <a:t>심사항목</a:t>
            </a:r>
            <a:endParaRPr lang="ko-KR" altLang="en-US" sz="700" dirty="0">
              <a:latin typeface="+mn-ea"/>
            </a:endParaRP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716366" y="20974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718459" y="231223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18459" y="30458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3133470" y="2097495"/>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결과</a:t>
            </a:r>
            <a:endParaRPr lang="en-US" altLang="ko-KR" sz="700" dirty="0">
              <a:latin typeface="+mn-ea"/>
            </a:endParaRPr>
          </a:p>
        </p:txBody>
      </p:sp>
      <p:sp>
        <p:nvSpPr>
          <p:cNvPr id="60" name="TextBox 59">
            <a:extLst>
              <a:ext uri="{FF2B5EF4-FFF2-40B4-BE49-F238E27FC236}">
                <a16:creationId xmlns:a16="http://schemas.microsoft.com/office/drawing/2014/main" id="{FFC49AEA-2A8F-250C-A86A-A7751D9706C3}"/>
              </a:ext>
            </a:extLst>
          </p:cNvPr>
          <p:cNvSpPr txBox="1"/>
          <p:nvPr/>
        </p:nvSpPr>
        <p:spPr>
          <a:xfrm>
            <a:off x="805522" y="2358553"/>
            <a:ext cx="1480198" cy="646331"/>
          </a:xfrm>
          <a:prstGeom prst="rect">
            <a:avLst/>
          </a:prstGeom>
          <a:noFill/>
        </p:spPr>
        <p:txBody>
          <a:bodyPr wrap="square" lIns="0" tIns="0" rIns="0" bIns="0" rtlCol="0">
            <a:spAutoFit/>
          </a:bodyPr>
          <a:lstStyle/>
          <a:p>
            <a:r>
              <a:rPr lang="ko-KR" altLang="en-US" sz="700" dirty="0">
                <a:latin typeface="+mn-ea"/>
              </a:rPr>
              <a:t>현재 부도상태에 있거나</a:t>
            </a:r>
            <a:r>
              <a:rPr lang="en-US" altLang="ko-KR" sz="700" dirty="0">
                <a:latin typeface="+mn-ea"/>
              </a:rPr>
              <a:t>, </a:t>
            </a:r>
            <a:r>
              <a:rPr lang="ko-KR" altLang="en-US" sz="700" dirty="0">
                <a:latin typeface="+mn-ea"/>
              </a:rPr>
              <a:t>부도 또는 </a:t>
            </a:r>
            <a:r>
              <a:rPr lang="ko-KR" altLang="en-US" sz="700" dirty="0" err="1">
                <a:latin typeface="+mn-ea"/>
              </a:rPr>
              <a:t>파산우려가</a:t>
            </a:r>
            <a:r>
              <a:rPr lang="ko-KR" altLang="en-US" sz="700" dirty="0">
                <a:latin typeface="+mn-ea"/>
              </a:rPr>
              <a:t> 있어 당해 계약 어렵다고 판단되는 경우</a:t>
            </a:r>
          </a:p>
          <a:p>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법정관리</a:t>
            </a:r>
            <a:r>
              <a:rPr lang="en-US" altLang="ko-KR" sz="700" dirty="0">
                <a:latin typeface="+mn-ea"/>
              </a:rPr>
              <a:t>, </a:t>
            </a:r>
            <a:r>
              <a:rPr lang="ko-KR" altLang="en-US" sz="700" dirty="0">
                <a:latin typeface="+mn-ea"/>
              </a:rPr>
              <a:t>화의인가 결정 등 법원의 경영정상화 판결을 받은 경우에는 제외</a:t>
            </a:r>
            <a:r>
              <a:rPr lang="en-US" altLang="ko-KR" sz="700" dirty="0">
                <a:latin typeface="+mn-ea"/>
              </a:rPr>
              <a:t>)</a:t>
            </a:r>
          </a:p>
        </p:txBody>
      </p:sp>
      <p:sp>
        <p:nvSpPr>
          <p:cNvPr id="61" name="TextBox 60">
            <a:extLst>
              <a:ext uri="{FF2B5EF4-FFF2-40B4-BE49-F238E27FC236}">
                <a16:creationId xmlns:a16="http://schemas.microsoft.com/office/drawing/2014/main" id="{FFC49AEA-2A8F-250C-A86A-A7751D9706C3}"/>
              </a:ext>
            </a:extLst>
          </p:cNvPr>
          <p:cNvSpPr txBox="1"/>
          <p:nvPr/>
        </p:nvSpPr>
        <p:spPr>
          <a:xfrm>
            <a:off x="3276137" y="2627857"/>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6" name="TextBox 25">
            <a:extLst>
              <a:ext uri="{FF2B5EF4-FFF2-40B4-BE49-F238E27FC236}">
                <a16:creationId xmlns:a16="http://schemas.microsoft.com/office/drawing/2014/main" id="{FFC49AEA-2A8F-250C-A86A-A7751D9706C3}"/>
              </a:ext>
            </a:extLst>
          </p:cNvPr>
          <p:cNvSpPr txBox="1"/>
          <p:nvPr/>
        </p:nvSpPr>
        <p:spPr>
          <a:xfrm>
            <a:off x="810790" y="1878065"/>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a:latin typeface="+mn-ea"/>
              </a:rPr>
              <a:t>업종 </a:t>
            </a:r>
            <a:r>
              <a:rPr lang="en-US" altLang="ko-KR" sz="700" dirty="0">
                <a:latin typeface="+mn-ea"/>
              </a:rPr>
              <a:t>: </a:t>
            </a:r>
            <a:r>
              <a:rPr lang="ko-KR" altLang="en-US" sz="700" dirty="0" err="1">
                <a:latin typeface="+mn-ea"/>
              </a:rPr>
              <a:t>당해용역</a:t>
            </a:r>
            <a:r>
              <a:rPr lang="ko-KR" altLang="en-US" sz="700" dirty="0">
                <a:latin typeface="+mn-ea"/>
              </a:rPr>
              <a:t> 수행능력결격</a:t>
            </a:r>
          </a:p>
        </p:txBody>
      </p:sp>
      <p:cxnSp>
        <p:nvCxnSpPr>
          <p:cNvPr id="27" name="직선 연결선 26">
            <a:extLst>
              <a:ext uri="{FF2B5EF4-FFF2-40B4-BE49-F238E27FC236}">
                <a16:creationId xmlns:a16="http://schemas.microsoft.com/office/drawing/2014/main" id="{E9293055-D5CD-4B9E-7F64-64B2D2CA7A52}"/>
              </a:ext>
            </a:extLst>
          </p:cNvPr>
          <p:cNvCxnSpPr/>
          <p:nvPr/>
        </p:nvCxnSpPr>
        <p:spPr>
          <a:xfrm>
            <a:off x="675400" y="3130325"/>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 name="타원 2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501740557"/>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271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경영상태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특별신인도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특별신인도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stot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평점</a:t>
                      </a:r>
                      <a:r>
                        <a:rPr lang="en-US" altLang="ko-KR" sz="800" dirty="0">
                          <a:latin typeface="+mn-ea"/>
                          <a:ea typeface="+mn-ea"/>
                        </a:rPr>
                        <a:t> </a:t>
                      </a:r>
                      <a:r>
                        <a:rPr lang="ko-KR" altLang="en-US" sz="800" dirty="0">
                          <a:latin typeface="+mn-ea"/>
                          <a:ea typeface="+mn-ea"/>
                        </a:rPr>
                        <a:t>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err="1">
                          <a:latin typeface="+mn-ea"/>
                          <a:ea typeface="+mn-ea"/>
                        </a:rPr>
                        <a:t>기타결격여부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기타결격여부</a:t>
                      </a:r>
                      <a:r>
                        <a:rPr lang="ko-KR" altLang="en-US" sz="800" dirty="0">
                          <a:latin typeface="+mn-ea"/>
                          <a:ea typeface="+mn-ea"/>
                        </a:rPr>
                        <a:t> 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총계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총계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bl>
          </a:graphicData>
        </a:graphic>
      </p:graphicFrame>
      <p:sp>
        <p:nvSpPr>
          <p:cNvPr id="2" name="TextBox 1">
            <a:extLst>
              <a:ext uri="{FF2B5EF4-FFF2-40B4-BE49-F238E27FC236}">
                <a16:creationId xmlns:a16="http://schemas.microsoft.com/office/drawing/2014/main" id="{0245A557-B85F-E56D-E6CA-399FB231C20B}"/>
              </a:ext>
            </a:extLst>
          </p:cNvPr>
          <p:cNvSpPr txBox="1"/>
          <p:nvPr/>
        </p:nvSpPr>
        <p:spPr>
          <a:xfrm>
            <a:off x="465794" y="2595729"/>
            <a:ext cx="226881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신용평가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3EE390BC-3B0E-9079-A79D-643F0FA222D5}"/>
              </a:ext>
            </a:extLst>
          </p:cNvPr>
          <p:cNvGraphicFramePr>
            <a:graphicFrameLocks noGrp="1"/>
          </p:cNvGraphicFramePr>
          <p:nvPr/>
        </p:nvGraphicFramePr>
        <p:xfrm>
          <a:off x="460676" y="2879483"/>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8009436"/>
                  </a:ext>
                </a:extLst>
              </a:tr>
            </a:tbl>
          </a:graphicData>
        </a:graphic>
      </p:graphicFrame>
      <p:sp>
        <p:nvSpPr>
          <p:cNvPr id="5" name="TextBox 4">
            <a:extLst>
              <a:ext uri="{FF2B5EF4-FFF2-40B4-BE49-F238E27FC236}">
                <a16:creationId xmlns:a16="http://schemas.microsoft.com/office/drawing/2014/main" id="{36A07937-B446-FFF6-4732-0DB8F4AC39E0}"/>
              </a:ext>
            </a:extLst>
          </p:cNvPr>
          <p:cNvSpPr txBox="1"/>
          <p:nvPr/>
        </p:nvSpPr>
        <p:spPr>
          <a:xfrm>
            <a:off x="460676" y="3667432"/>
            <a:ext cx="2499650"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입찰가격점수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EF9DAD4E-A2DC-8B84-04E3-D1030F108327}"/>
              </a:ext>
            </a:extLst>
          </p:cNvPr>
          <p:cNvGraphicFramePr>
            <a:graphicFrameLocks noGrp="1"/>
          </p:cNvGraphicFramePr>
          <p:nvPr/>
        </p:nvGraphicFramePr>
        <p:xfrm>
          <a:off x="455558" y="3951186"/>
          <a:ext cx="8993242" cy="1091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err="1">
                          <a:latin typeface="+mn-ea"/>
                          <a:ea typeface="+mn-ea"/>
                        </a:rPr>
                        <a:t>입찰률</a:t>
                      </a:r>
                      <a:r>
                        <a:rPr lang="ko-KR" altLang="en-US" sz="800" dirty="0">
                          <a:latin typeface="+mn-ea"/>
                          <a:ea typeface="+mn-ea"/>
                        </a:rPr>
                        <a:t> </a:t>
                      </a:r>
                      <a:r>
                        <a:rPr lang="en-US" altLang="ko-KR" sz="800" dirty="0">
                          <a:latin typeface="+mn-ea"/>
                          <a:ea typeface="+mn-ea"/>
                        </a:rPr>
                        <a:t>(</a:t>
                      </a:r>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r>
                        <a:rPr lang="en-US" altLang="ko-KR" sz="800" dirty="0">
                          <a:latin typeface="+mn-ea"/>
                          <a:ea typeface="+mn-ea"/>
                        </a:rPr>
                        <a:t>) (%)</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입찰률</a:t>
                      </a:r>
                      <a:r>
                        <a:rPr lang="ko-KR" altLang="en-US" sz="800" dirty="0">
                          <a:latin typeface="+mn-ea"/>
                          <a:ea typeface="+mn-ea"/>
                        </a:rPr>
                        <a:t> </a:t>
                      </a:r>
                      <a:r>
                        <a:rPr lang="en-US" altLang="ko-KR" sz="800" dirty="0">
                          <a:latin typeface="+mn-ea"/>
                          <a:ea typeface="+mn-ea"/>
                        </a:rPr>
                        <a:t>(</a:t>
                      </a:r>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r>
                        <a:rPr lang="en-US" altLang="ko-KR" sz="800" dirty="0">
                          <a:latin typeface="+mn-ea"/>
                          <a:ea typeface="+mn-ea"/>
                        </a:rPr>
                        <a:t>) (%)</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9" name="TextBox 8">
            <a:extLst>
              <a:ext uri="{FF2B5EF4-FFF2-40B4-BE49-F238E27FC236}">
                <a16:creationId xmlns:a16="http://schemas.microsoft.com/office/drawing/2014/main" id="{65C7CDE5-2BC7-407A-E706-A4D246F60DFD}"/>
              </a:ext>
            </a:extLst>
          </p:cNvPr>
          <p:cNvSpPr txBox="1"/>
          <p:nvPr/>
        </p:nvSpPr>
        <p:spPr>
          <a:xfrm>
            <a:off x="467435" y="5257605"/>
            <a:ext cx="2885974"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특별신인도 세부내용</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42CF15CF-E1E7-852B-B086-07FA30E753DD}"/>
              </a:ext>
            </a:extLst>
          </p:cNvPr>
          <p:cNvGraphicFramePr>
            <a:graphicFrameLocks noGrp="1"/>
          </p:cNvGraphicFramePr>
          <p:nvPr/>
        </p:nvGraphicFramePr>
        <p:xfrm>
          <a:off x="462317" y="5541359"/>
          <a:ext cx="8993242"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cnstPrfmncRsltAmt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cnstPrfmncGrdNm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cnstPrfmncExmgrdScr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bl>
          </a:graphicData>
        </a:graphic>
      </p:graphicFrame>
      <p:sp>
        <p:nvSpPr>
          <p:cNvPr id="12" name="Text Box 73">
            <a:extLst>
              <a:ext uri="{FF2B5EF4-FFF2-40B4-BE49-F238E27FC236}">
                <a16:creationId xmlns:a16="http://schemas.microsoft.com/office/drawing/2014/main" id="{D95D9E26-190A-2FC7-6DB5-A841F76E728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352197507"/>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272</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583280"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기타 당해 공사수행 관련 결격여부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2" name="TextBox 1">
            <a:extLst>
              <a:ext uri="{FF2B5EF4-FFF2-40B4-BE49-F238E27FC236}">
                <a16:creationId xmlns:a16="http://schemas.microsoft.com/office/drawing/2014/main" id="{AC3EB013-CC1A-FCEA-3D0B-D3016FA806D2}"/>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3E09A670-B9B4-8061-7435-EE09444836E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91907579"/>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273</a:t>
            </a:fld>
            <a:endParaRPr lang="ko-KR" altLang="en-US" dirty="0"/>
          </a:p>
        </p:txBody>
      </p:sp>
      <p:sp>
        <p:nvSpPr>
          <p:cNvPr id="12" name="TextBox 11">
            <a:extLst>
              <a:ext uri="{FF2B5EF4-FFF2-40B4-BE49-F238E27FC236}">
                <a16:creationId xmlns:a16="http://schemas.microsoft.com/office/drawing/2014/main" id="{EB25AED5-74F7-0C53-F2FA-FF50A9F0BDE4}"/>
              </a:ext>
            </a:extLst>
          </p:cNvPr>
          <p:cNvSpPr txBox="1"/>
          <p:nvPr/>
        </p:nvSpPr>
        <p:spPr>
          <a:xfrm>
            <a:off x="460321"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3" name="표 12">
            <a:extLst>
              <a:ext uri="{FF2B5EF4-FFF2-40B4-BE49-F238E27FC236}">
                <a16:creationId xmlns:a16="http://schemas.microsoft.com/office/drawing/2014/main" id="{E74D3AE3-A8D1-7BB9-2F41-73DC099C9611}"/>
              </a:ext>
            </a:extLst>
          </p:cNvPr>
          <p:cNvGraphicFramePr>
            <a:graphicFrameLocks noGrp="1"/>
          </p:cNvGraphicFramePr>
          <p:nvPr>
            <p:extLst>
              <p:ext uri="{D42A27DB-BD31-4B8C-83A1-F6EECF244321}">
                <p14:modId xmlns:p14="http://schemas.microsoft.com/office/powerpoint/2010/main" val="3923330556"/>
              </p:ext>
            </p:extLst>
          </p:nvPr>
        </p:nvGraphicFramePr>
        <p:xfrm>
          <a:off x="455204"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4" name="Text Box 73">
            <a:extLst>
              <a:ext uri="{FF2B5EF4-FFF2-40B4-BE49-F238E27FC236}">
                <a16:creationId xmlns:a16="http://schemas.microsoft.com/office/drawing/2014/main" id="{978B6709-A527-CF91-FC1B-F9B8AFB1DC9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25121118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직사각형 62">
            <a:extLst>
              <a:ext uri="{FF2B5EF4-FFF2-40B4-BE49-F238E27FC236}">
                <a16:creationId xmlns:a16="http://schemas.microsoft.com/office/drawing/2014/main" id="{F56F1743-11A0-EA94-9184-4E42C0A37F9C}"/>
              </a:ext>
            </a:extLst>
          </p:cNvPr>
          <p:cNvSpPr/>
          <p:nvPr/>
        </p:nvSpPr>
        <p:spPr>
          <a:xfrm>
            <a:off x="3789297"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274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err="1"/>
              <a:t>고시금액미만폐기물용역</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고시금액미만폐기물용역일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MUI-BD-10-M20</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TextBox 89">
            <a:extLst>
              <a:ext uri="{FF2B5EF4-FFF2-40B4-BE49-F238E27FC236}">
                <a16:creationId xmlns:a16="http://schemas.microsoft.com/office/drawing/2014/main" id="{FFC49AEA-2A8F-250C-A86A-A7751D9706C3}"/>
              </a:ext>
            </a:extLst>
          </p:cNvPr>
          <p:cNvSpPr txBox="1"/>
          <p:nvPr/>
        </p:nvSpPr>
        <p:spPr>
          <a:xfrm>
            <a:off x="762146" y="1527996"/>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심사결과</a:t>
            </a:r>
          </a:p>
        </p:txBody>
      </p:sp>
      <p:grpSp>
        <p:nvGrpSpPr>
          <p:cNvPr id="91" name="그룹 90"/>
          <p:cNvGrpSpPr/>
          <p:nvPr/>
        </p:nvGrpSpPr>
        <p:grpSpPr>
          <a:xfrm flipV="1">
            <a:off x="3124233" y="1641327"/>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39" name="직사각형 38"/>
          <p:cNvSpPr/>
          <p:nvPr/>
        </p:nvSpPr>
        <p:spPr>
          <a:xfrm>
            <a:off x="718458" y="1896436"/>
            <a:ext cx="1639886" cy="186995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TextBox 39">
            <a:extLst>
              <a:ext uri="{FF2B5EF4-FFF2-40B4-BE49-F238E27FC236}">
                <a16:creationId xmlns:a16="http://schemas.microsoft.com/office/drawing/2014/main" id="{FFC49AEA-2A8F-250C-A86A-A7751D9706C3}"/>
              </a:ext>
            </a:extLst>
          </p:cNvPr>
          <p:cNvSpPr txBox="1"/>
          <p:nvPr/>
        </p:nvSpPr>
        <p:spPr>
          <a:xfrm>
            <a:off x="805521" y="1896437"/>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항목</a:t>
            </a:r>
            <a:endParaRPr lang="en-US" altLang="ko-KR" sz="700" dirty="0">
              <a:latin typeface="+mn-ea"/>
            </a:endParaRPr>
          </a:p>
        </p:txBody>
      </p:sp>
      <p:sp>
        <p:nvSpPr>
          <p:cNvPr id="41" name="TextBox 40">
            <a:extLst>
              <a:ext uri="{FF2B5EF4-FFF2-40B4-BE49-F238E27FC236}">
                <a16:creationId xmlns:a16="http://schemas.microsoft.com/office/drawing/2014/main" id="{FFC49AEA-2A8F-250C-A86A-A7751D9706C3}"/>
              </a:ext>
            </a:extLst>
          </p:cNvPr>
          <p:cNvSpPr txBox="1"/>
          <p:nvPr/>
        </p:nvSpPr>
        <p:spPr>
          <a:xfrm>
            <a:off x="2533563" y="1896437"/>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42" name="직선 연결선 41">
            <a:extLst>
              <a:ext uri="{FF2B5EF4-FFF2-40B4-BE49-F238E27FC236}">
                <a16:creationId xmlns:a16="http://schemas.microsoft.com/office/drawing/2014/main" id="{E9293055-D5CD-4B9E-7F64-64B2D2CA7A52}"/>
              </a:ext>
            </a:extLst>
          </p:cNvPr>
          <p:cNvCxnSpPr/>
          <p:nvPr/>
        </p:nvCxnSpPr>
        <p:spPr>
          <a:xfrm>
            <a:off x="716366" y="189643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3" name="직선 연결선 42">
            <a:extLst>
              <a:ext uri="{FF2B5EF4-FFF2-40B4-BE49-F238E27FC236}">
                <a16:creationId xmlns:a16="http://schemas.microsoft.com/office/drawing/2014/main" id="{E9293055-D5CD-4B9E-7F64-64B2D2CA7A52}"/>
              </a:ext>
            </a:extLst>
          </p:cNvPr>
          <p:cNvCxnSpPr/>
          <p:nvPr/>
        </p:nvCxnSpPr>
        <p:spPr>
          <a:xfrm>
            <a:off x="718459" y="21111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44" name="직선 연결선 43">
            <a:extLst>
              <a:ext uri="{FF2B5EF4-FFF2-40B4-BE49-F238E27FC236}">
                <a16:creationId xmlns:a16="http://schemas.microsoft.com/office/drawing/2014/main" id="{E9293055-D5CD-4B9E-7F64-64B2D2CA7A52}"/>
              </a:ext>
            </a:extLst>
          </p:cNvPr>
          <p:cNvCxnSpPr/>
          <p:nvPr/>
        </p:nvCxnSpPr>
        <p:spPr>
          <a:xfrm>
            <a:off x="718459" y="309361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47" name="TextBox 46">
            <a:extLst>
              <a:ext uri="{FF2B5EF4-FFF2-40B4-BE49-F238E27FC236}">
                <a16:creationId xmlns:a16="http://schemas.microsoft.com/office/drawing/2014/main" id="{FFC49AEA-2A8F-250C-A86A-A7751D9706C3}"/>
              </a:ext>
            </a:extLst>
          </p:cNvPr>
          <p:cNvSpPr txBox="1"/>
          <p:nvPr/>
        </p:nvSpPr>
        <p:spPr>
          <a:xfrm>
            <a:off x="3133470" y="1896437"/>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sp>
        <p:nvSpPr>
          <p:cNvPr id="48" name="TextBox 47">
            <a:extLst>
              <a:ext uri="{FF2B5EF4-FFF2-40B4-BE49-F238E27FC236}">
                <a16:creationId xmlns:a16="http://schemas.microsoft.com/office/drawing/2014/main" id="{FFC49AEA-2A8F-250C-A86A-A7751D9706C3}"/>
              </a:ext>
            </a:extLst>
          </p:cNvPr>
          <p:cNvSpPr txBox="1"/>
          <p:nvPr/>
        </p:nvSpPr>
        <p:spPr>
          <a:xfrm>
            <a:off x="805521" y="2186386"/>
            <a:ext cx="1480199" cy="861774"/>
          </a:xfrm>
          <a:prstGeom prst="rect">
            <a:avLst/>
          </a:prstGeom>
          <a:noFill/>
        </p:spPr>
        <p:txBody>
          <a:bodyPr wrap="square" lIns="0" tIns="0" rIns="0" bIns="0" rtlCol="0">
            <a:spAutoFit/>
          </a:bodyPr>
          <a:lstStyle/>
          <a:p>
            <a:r>
              <a:rPr lang="ko-KR" altLang="en-US" sz="700" dirty="0" err="1">
                <a:latin typeface="+mn-ea"/>
              </a:rPr>
              <a:t>당해공사</a:t>
            </a:r>
            <a:r>
              <a:rPr lang="ko-KR" altLang="en-US" sz="700" dirty="0">
                <a:latin typeface="+mn-ea"/>
              </a:rPr>
              <a:t> 수행능력</a:t>
            </a:r>
            <a:endParaRPr lang="en-US" altLang="ko-KR" sz="700" dirty="0">
              <a:latin typeface="+mn-ea"/>
            </a:endParaRPr>
          </a:p>
          <a:p>
            <a:r>
              <a:rPr lang="en-US" altLang="ko-KR" sz="700" dirty="0">
                <a:latin typeface="+mn-ea"/>
              </a:rPr>
              <a:t>- </a:t>
            </a:r>
            <a:r>
              <a:rPr lang="ko-KR" altLang="en-US" sz="700" dirty="0" err="1">
                <a:latin typeface="+mn-ea"/>
              </a:rPr>
              <a:t>이행능력</a:t>
            </a:r>
            <a:endParaRPr lang="en-US" altLang="ko-KR" sz="700" dirty="0">
              <a:latin typeface="+mn-ea"/>
            </a:endParaRPr>
          </a:p>
          <a:p>
            <a:r>
              <a:rPr lang="en-US" altLang="ko-KR" sz="700" dirty="0">
                <a:latin typeface="+mn-ea"/>
              </a:rPr>
              <a:t>    - </a:t>
            </a:r>
            <a:r>
              <a:rPr lang="ko-KR" altLang="en-US" sz="700" dirty="0">
                <a:latin typeface="+mn-ea"/>
              </a:rPr>
              <a:t>이행실적</a:t>
            </a:r>
            <a:endParaRPr lang="en-US" altLang="ko-KR" sz="700" dirty="0">
              <a:latin typeface="+mn-ea"/>
            </a:endParaRPr>
          </a:p>
          <a:p>
            <a:r>
              <a:rPr lang="en-US" altLang="ko-KR" sz="700" dirty="0">
                <a:latin typeface="+mn-ea"/>
              </a:rPr>
              <a:t>    - </a:t>
            </a:r>
            <a:r>
              <a:rPr lang="ko-KR" altLang="en-US" sz="700" dirty="0">
                <a:latin typeface="+mn-ea"/>
              </a:rPr>
              <a:t>기술능력</a:t>
            </a:r>
            <a:endParaRPr lang="en-US" altLang="ko-KR" sz="700" dirty="0">
              <a:latin typeface="+mn-ea"/>
            </a:endParaRPr>
          </a:p>
          <a:p>
            <a:r>
              <a:rPr lang="en-US" altLang="ko-KR" sz="700" dirty="0">
                <a:latin typeface="+mn-ea"/>
              </a:rPr>
              <a:t>    - </a:t>
            </a:r>
            <a:r>
              <a:rPr lang="ko-KR" altLang="en-US" sz="700" dirty="0">
                <a:latin typeface="+mn-ea"/>
              </a:rPr>
              <a:t>수행능력</a:t>
            </a:r>
            <a:endParaRPr lang="en-US" altLang="ko-KR" sz="700" dirty="0">
              <a:latin typeface="+mn-ea"/>
            </a:endParaRPr>
          </a:p>
          <a:p>
            <a:r>
              <a:rPr lang="en-US" altLang="ko-KR" sz="700" dirty="0">
                <a:latin typeface="+mn-ea"/>
              </a:rPr>
              <a:t>- </a:t>
            </a:r>
            <a:r>
              <a:rPr lang="ko-KR" altLang="en-US" sz="700" dirty="0">
                <a:latin typeface="+mn-ea"/>
              </a:rPr>
              <a:t>경영상태</a:t>
            </a:r>
            <a:endParaRPr lang="en-US" altLang="ko-KR" sz="700" dirty="0">
              <a:latin typeface="+mn-ea"/>
            </a:endParaRPr>
          </a:p>
          <a:p>
            <a:r>
              <a:rPr lang="en-US" altLang="ko-KR" sz="700" dirty="0">
                <a:latin typeface="+mn-ea"/>
              </a:rPr>
              <a:t>- </a:t>
            </a:r>
            <a:r>
              <a:rPr lang="ko-KR" altLang="en-US" sz="700" dirty="0" err="1">
                <a:latin typeface="+mn-ea"/>
              </a:rPr>
              <a:t>특별신인도</a:t>
            </a:r>
            <a:endParaRPr lang="en-US" altLang="ko-KR" sz="700" dirty="0">
              <a:latin typeface="+mn-ea"/>
            </a:endParaRPr>
          </a:p>
          <a:p>
            <a:r>
              <a:rPr lang="en-US" altLang="ko-KR" sz="700" dirty="0">
                <a:latin typeface="+mn-ea"/>
              </a:rPr>
              <a:t>- </a:t>
            </a:r>
            <a:r>
              <a:rPr lang="ko-KR" altLang="en-US" sz="700" dirty="0">
                <a:latin typeface="+mn-ea"/>
              </a:rPr>
              <a:t>소계</a:t>
            </a:r>
          </a:p>
        </p:txBody>
      </p:sp>
      <p:sp>
        <p:nvSpPr>
          <p:cNvPr id="49" name="TextBox 48">
            <a:extLst>
              <a:ext uri="{FF2B5EF4-FFF2-40B4-BE49-F238E27FC236}">
                <a16:creationId xmlns:a16="http://schemas.microsoft.com/office/drawing/2014/main" id="{FFC49AEA-2A8F-250C-A86A-A7751D9706C3}"/>
              </a:ext>
            </a:extLst>
          </p:cNvPr>
          <p:cNvSpPr txBox="1"/>
          <p:nvPr/>
        </p:nvSpPr>
        <p:spPr>
          <a:xfrm>
            <a:off x="2450143" y="2401829"/>
            <a:ext cx="262956" cy="646331"/>
          </a:xfrm>
          <a:prstGeom prst="rect">
            <a:avLst/>
          </a:prstGeom>
          <a:noFill/>
        </p:spPr>
        <p:txBody>
          <a:bodyPr wrap="none" lIns="0" tIns="0" rIns="0" bIns="0" rtlCol="0">
            <a:spAutoFit/>
          </a:bodyPr>
          <a:lstStyle/>
          <a:p>
            <a:pPr algn="r"/>
            <a:r>
              <a:rPr lang="en-US" altLang="ko-KR" sz="700" dirty="0">
                <a:latin typeface="+mn-ea"/>
              </a:rPr>
              <a:t>8.0</a:t>
            </a:r>
          </a:p>
          <a:p>
            <a:pPr algn="r"/>
            <a:r>
              <a:rPr lang="en-US" altLang="ko-KR" sz="700" dirty="0">
                <a:latin typeface="+mn-ea"/>
              </a:rPr>
              <a:t>4.0</a:t>
            </a:r>
          </a:p>
          <a:p>
            <a:pPr algn="r"/>
            <a:r>
              <a:rPr lang="en-US" altLang="ko-KR" sz="700" dirty="0">
                <a:latin typeface="+mn-ea"/>
              </a:rPr>
              <a:t>8.0</a:t>
            </a:r>
          </a:p>
          <a:p>
            <a:pPr algn="r"/>
            <a:r>
              <a:rPr lang="en-US" altLang="ko-KR" sz="700" dirty="0">
                <a:latin typeface="+mn-ea"/>
              </a:rPr>
              <a:t>10.0</a:t>
            </a:r>
          </a:p>
          <a:p>
            <a:pPr algn="r"/>
            <a:r>
              <a:rPr lang="en-US" altLang="ko-KR" sz="700" dirty="0">
                <a:latin typeface="+mn-ea"/>
              </a:rPr>
              <a:t>0 ~ -6</a:t>
            </a:r>
          </a:p>
          <a:p>
            <a:pPr algn="r"/>
            <a:r>
              <a:rPr lang="en-US" altLang="ko-KR" sz="700" dirty="0">
                <a:latin typeface="+mn-ea"/>
              </a:rPr>
              <a:t>30.0</a:t>
            </a:r>
            <a:endParaRPr lang="ko-KR" altLang="en-US" sz="700" dirty="0">
              <a:latin typeface="+mn-ea"/>
            </a:endParaRPr>
          </a:p>
        </p:txBody>
      </p:sp>
      <p:sp>
        <p:nvSpPr>
          <p:cNvPr id="61" name="TextBox 60">
            <a:extLst>
              <a:ext uri="{FF2B5EF4-FFF2-40B4-BE49-F238E27FC236}">
                <a16:creationId xmlns:a16="http://schemas.microsoft.com/office/drawing/2014/main" id="{FFC49AEA-2A8F-250C-A86A-A7751D9706C3}"/>
              </a:ext>
            </a:extLst>
          </p:cNvPr>
          <p:cNvSpPr txBox="1"/>
          <p:nvPr/>
        </p:nvSpPr>
        <p:spPr>
          <a:xfrm>
            <a:off x="3276136" y="2401829"/>
            <a:ext cx="36870" cy="646331"/>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endParaRPr lang="ko-KR" altLang="en-US" sz="700" dirty="0">
              <a:latin typeface="+mn-ea"/>
            </a:endParaRPr>
          </a:p>
          <a:p>
            <a:pPr algn="r"/>
            <a:r>
              <a:rPr lang="en-US" altLang="ko-KR" sz="700" dirty="0">
                <a:latin typeface="+mn-ea"/>
              </a:rPr>
              <a:t>-</a:t>
            </a:r>
            <a:endParaRPr lang="ko-KR" altLang="en-US" sz="700" dirty="0">
              <a:latin typeface="+mn-ea"/>
            </a:endParaRPr>
          </a:p>
          <a:p>
            <a:pPr algn="r"/>
            <a:r>
              <a:rPr lang="en-US" altLang="ko-KR" sz="700" dirty="0">
                <a:latin typeface="+mn-ea"/>
              </a:rPr>
              <a:t>-</a:t>
            </a:r>
            <a:endParaRPr lang="ko-KR" altLang="en-US" sz="700" dirty="0">
              <a:latin typeface="+mn-ea"/>
            </a:endParaRPr>
          </a:p>
          <a:p>
            <a:pPr algn="r"/>
            <a:r>
              <a:rPr lang="en-US" altLang="ko-KR" sz="700" dirty="0">
                <a:latin typeface="+mn-ea"/>
              </a:rPr>
              <a:t>-</a:t>
            </a:r>
            <a:endParaRPr lang="ko-KR" altLang="en-US" sz="700" dirty="0">
              <a:latin typeface="+mn-ea"/>
            </a:endParaRPr>
          </a:p>
          <a:p>
            <a:pPr algn="r"/>
            <a:r>
              <a:rPr lang="en-US" altLang="ko-KR" sz="700" dirty="0">
                <a:latin typeface="+mn-ea"/>
              </a:rPr>
              <a:t>-</a:t>
            </a:r>
            <a:endParaRPr lang="ko-KR" altLang="en-US" sz="700" dirty="0">
              <a:latin typeface="+mn-ea"/>
            </a:endParaRPr>
          </a:p>
        </p:txBody>
      </p:sp>
      <p:cxnSp>
        <p:nvCxnSpPr>
          <p:cNvPr id="64" name="직선 연결선 63">
            <a:extLst>
              <a:ext uri="{FF2B5EF4-FFF2-40B4-BE49-F238E27FC236}">
                <a16:creationId xmlns:a16="http://schemas.microsoft.com/office/drawing/2014/main" id="{E9293055-D5CD-4B9E-7F64-64B2D2CA7A52}"/>
              </a:ext>
            </a:extLst>
          </p:cNvPr>
          <p:cNvCxnSpPr/>
          <p:nvPr/>
        </p:nvCxnSpPr>
        <p:spPr>
          <a:xfrm>
            <a:off x="718459" y="33119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TextBox 64">
            <a:extLst>
              <a:ext uri="{FF2B5EF4-FFF2-40B4-BE49-F238E27FC236}">
                <a16:creationId xmlns:a16="http://schemas.microsoft.com/office/drawing/2014/main" id="{FFC49AEA-2A8F-250C-A86A-A7751D9706C3}"/>
              </a:ext>
            </a:extLst>
          </p:cNvPr>
          <p:cNvSpPr txBox="1"/>
          <p:nvPr/>
        </p:nvSpPr>
        <p:spPr>
          <a:xfrm>
            <a:off x="805521" y="3148722"/>
            <a:ext cx="1480199" cy="107722"/>
          </a:xfrm>
          <a:prstGeom prst="rect">
            <a:avLst/>
          </a:prstGeom>
          <a:noFill/>
        </p:spPr>
        <p:txBody>
          <a:bodyPr wrap="square" lIns="0" tIns="0" rIns="0" bIns="0" rtlCol="0">
            <a:spAutoFit/>
          </a:bodyPr>
          <a:lstStyle/>
          <a:p>
            <a:r>
              <a:rPr lang="ko-KR" altLang="en-US" sz="700" dirty="0">
                <a:latin typeface="+mn-ea"/>
              </a:rPr>
              <a:t>입찰가격</a:t>
            </a:r>
          </a:p>
        </p:txBody>
      </p:sp>
      <p:sp>
        <p:nvSpPr>
          <p:cNvPr id="66" name="TextBox 65">
            <a:extLst>
              <a:ext uri="{FF2B5EF4-FFF2-40B4-BE49-F238E27FC236}">
                <a16:creationId xmlns:a16="http://schemas.microsoft.com/office/drawing/2014/main" id="{FFC49AEA-2A8F-250C-A86A-A7751D9706C3}"/>
              </a:ext>
            </a:extLst>
          </p:cNvPr>
          <p:cNvSpPr txBox="1"/>
          <p:nvPr/>
        </p:nvSpPr>
        <p:spPr>
          <a:xfrm>
            <a:off x="2544783" y="3148722"/>
            <a:ext cx="168316" cy="107722"/>
          </a:xfrm>
          <a:prstGeom prst="rect">
            <a:avLst/>
          </a:prstGeom>
          <a:noFill/>
        </p:spPr>
        <p:txBody>
          <a:bodyPr wrap="none" lIns="0" tIns="0" rIns="0" bIns="0" rtlCol="0">
            <a:spAutoFit/>
          </a:bodyPr>
          <a:lstStyle/>
          <a:p>
            <a:pPr algn="r"/>
            <a:r>
              <a:rPr lang="en-US" altLang="ko-KR" sz="700" dirty="0">
                <a:latin typeface="+mn-ea"/>
              </a:rPr>
              <a:t>70.0</a:t>
            </a:r>
            <a:endParaRPr lang="ko-KR" altLang="en-US" sz="700" dirty="0">
              <a:latin typeface="+mn-ea"/>
            </a:endParaRPr>
          </a:p>
        </p:txBody>
      </p:sp>
      <p:sp>
        <p:nvSpPr>
          <p:cNvPr id="67" name="TextBox 66">
            <a:extLst>
              <a:ext uri="{FF2B5EF4-FFF2-40B4-BE49-F238E27FC236}">
                <a16:creationId xmlns:a16="http://schemas.microsoft.com/office/drawing/2014/main" id="{FFC49AEA-2A8F-250C-A86A-A7751D9706C3}"/>
              </a:ext>
            </a:extLst>
          </p:cNvPr>
          <p:cNvSpPr txBox="1"/>
          <p:nvPr/>
        </p:nvSpPr>
        <p:spPr>
          <a:xfrm>
            <a:off x="3276137" y="3148722"/>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718459" y="353756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9" name="TextBox 68">
            <a:extLst>
              <a:ext uri="{FF2B5EF4-FFF2-40B4-BE49-F238E27FC236}">
                <a16:creationId xmlns:a16="http://schemas.microsoft.com/office/drawing/2014/main" id="{FFC49AEA-2A8F-250C-A86A-A7751D9706C3}"/>
              </a:ext>
            </a:extLst>
          </p:cNvPr>
          <p:cNvSpPr txBox="1"/>
          <p:nvPr/>
        </p:nvSpPr>
        <p:spPr>
          <a:xfrm>
            <a:off x="805521" y="3374376"/>
            <a:ext cx="1480199" cy="107722"/>
          </a:xfrm>
          <a:prstGeom prst="rect">
            <a:avLst/>
          </a:prstGeom>
          <a:noFill/>
        </p:spPr>
        <p:txBody>
          <a:bodyPr wrap="square" lIns="0" tIns="0" rIns="0" bIns="0" rtlCol="0">
            <a:spAutoFit/>
          </a:bodyPr>
          <a:lstStyle/>
          <a:p>
            <a:r>
              <a:rPr lang="ko-KR" altLang="en-US" sz="700" dirty="0">
                <a:latin typeface="+mn-ea"/>
              </a:rPr>
              <a:t>기타결격여부</a:t>
            </a:r>
          </a:p>
        </p:txBody>
      </p:sp>
      <p:sp>
        <p:nvSpPr>
          <p:cNvPr id="70" name="TextBox 69">
            <a:extLst>
              <a:ext uri="{FF2B5EF4-FFF2-40B4-BE49-F238E27FC236}">
                <a16:creationId xmlns:a16="http://schemas.microsoft.com/office/drawing/2014/main" id="{FFC49AEA-2A8F-250C-A86A-A7751D9706C3}"/>
              </a:ext>
            </a:extLst>
          </p:cNvPr>
          <p:cNvSpPr txBox="1"/>
          <p:nvPr/>
        </p:nvSpPr>
        <p:spPr>
          <a:xfrm>
            <a:off x="2507914" y="3374376"/>
            <a:ext cx="205185" cy="107722"/>
          </a:xfrm>
          <a:prstGeom prst="rect">
            <a:avLst/>
          </a:prstGeom>
          <a:noFill/>
        </p:spPr>
        <p:txBody>
          <a:bodyPr wrap="none" lIns="0" tIns="0" rIns="0" bIns="0" rtlCol="0">
            <a:spAutoFit/>
          </a:bodyPr>
          <a:lstStyle/>
          <a:p>
            <a:pPr algn="r"/>
            <a:r>
              <a:rPr lang="en-US" altLang="ko-KR" sz="700" dirty="0">
                <a:latin typeface="+mn-ea"/>
              </a:rPr>
              <a:t>-45.0</a:t>
            </a:r>
            <a:endParaRPr lang="ko-KR" altLang="en-US" sz="700" dirty="0">
              <a:latin typeface="+mn-ea"/>
            </a:endParaRPr>
          </a:p>
        </p:txBody>
      </p:sp>
      <p:sp>
        <p:nvSpPr>
          <p:cNvPr id="71" name="TextBox 70">
            <a:extLst>
              <a:ext uri="{FF2B5EF4-FFF2-40B4-BE49-F238E27FC236}">
                <a16:creationId xmlns:a16="http://schemas.microsoft.com/office/drawing/2014/main" id="{FFC49AEA-2A8F-250C-A86A-A7751D9706C3}"/>
              </a:ext>
            </a:extLst>
          </p:cNvPr>
          <p:cNvSpPr txBox="1"/>
          <p:nvPr/>
        </p:nvSpPr>
        <p:spPr>
          <a:xfrm>
            <a:off x="3276137" y="3374376"/>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72" name="직선 연결선 71">
            <a:extLst>
              <a:ext uri="{FF2B5EF4-FFF2-40B4-BE49-F238E27FC236}">
                <a16:creationId xmlns:a16="http://schemas.microsoft.com/office/drawing/2014/main" id="{E9293055-D5CD-4B9E-7F64-64B2D2CA7A52}"/>
              </a:ext>
            </a:extLst>
          </p:cNvPr>
          <p:cNvCxnSpPr/>
          <p:nvPr/>
        </p:nvCxnSpPr>
        <p:spPr>
          <a:xfrm>
            <a:off x="718459" y="37590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3" name="TextBox 72">
            <a:extLst>
              <a:ext uri="{FF2B5EF4-FFF2-40B4-BE49-F238E27FC236}">
                <a16:creationId xmlns:a16="http://schemas.microsoft.com/office/drawing/2014/main" id="{FFC49AEA-2A8F-250C-A86A-A7751D9706C3}"/>
              </a:ext>
            </a:extLst>
          </p:cNvPr>
          <p:cNvSpPr txBox="1"/>
          <p:nvPr/>
        </p:nvSpPr>
        <p:spPr>
          <a:xfrm>
            <a:off x="805521" y="3595868"/>
            <a:ext cx="1480199" cy="107722"/>
          </a:xfrm>
          <a:prstGeom prst="rect">
            <a:avLst/>
          </a:prstGeom>
          <a:noFill/>
        </p:spPr>
        <p:txBody>
          <a:bodyPr wrap="square" lIns="0" tIns="0" rIns="0" bIns="0" rtlCol="0">
            <a:spAutoFit/>
          </a:bodyPr>
          <a:lstStyle/>
          <a:p>
            <a:r>
              <a:rPr lang="ko-KR" altLang="en-US" sz="700" dirty="0">
                <a:latin typeface="+mn-ea"/>
              </a:rPr>
              <a:t>총계</a:t>
            </a:r>
          </a:p>
        </p:txBody>
      </p:sp>
      <p:sp>
        <p:nvSpPr>
          <p:cNvPr id="74" name="TextBox 73">
            <a:extLst>
              <a:ext uri="{FF2B5EF4-FFF2-40B4-BE49-F238E27FC236}">
                <a16:creationId xmlns:a16="http://schemas.microsoft.com/office/drawing/2014/main" id="{FFC49AEA-2A8F-250C-A86A-A7751D9706C3}"/>
              </a:ext>
            </a:extLst>
          </p:cNvPr>
          <p:cNvSpPr txBox="1"/>
          <p:nvPr/>
        </p:nvSpPr>
        <p:spPr>
          <a:xfrm>
            <a:off x="2564019" y="3595868"/>
            <a:ext cx="149080" cy="107722"/>
          </a:xfrm>
          <a:prstGeom prst="rect">
            <a:avLst/>
          </a:prstGeom>
          <a:noFill/>
        </p:spPr>
        <p:txBody>
          <a:bodyPr wrap="none" lIns="0" tIns="0" rIns="0" bIns="0" rtlCol="0">
            <a:spAutoFit/>
          </a:bodyPr>
          <a:lstStyle/>
          <a:p>
            <a:pPr algn="r"/>
            <a:r>
              <a:rPr lang="en-US" altLang="ko-KR" sz="700" dirty="0">
                <a:latin typeface="+mn-ea"/>
              </a:rPr>
              <a:t>100</a:t>
            </a:r>
            <a:endParaRPr lang="ko-KR" altLang="en-US" sz="700" dirty="0">
              <a:latin typeface="+mn-ea"/>
            </a:endParaRPr>
          </a:p>
        </p:txBody>
      </p:sp>
      <p:sp>
        <p:nvSpPr>
          <p:cNvPr id="75" name="TextBox 74">
            <a:extLst>
              <a:ext uri="{FF2B5EF4-FFF2-40B4-BE49-F238E27FC236}">
                <a16:creationId xmlns:a16="http://schemas.microsoft.com/office/drawing/2014/main" id="{FFC49AEA-2A8F-250C-A86A-A7751D9706C3}"/>
              </a:ext>
            </a:extLst>
          </p:cNvPr>
          <p:cNvSpPr txBox="1"/>
          <p:nvPr/>
        </p:nvSpPr>
        <p:spPr>
          <a:xfrm>
            <a:off x="3276137" y="3595868"/>
            <a:ext cx="36869"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cxnSp>
        <p:nvCxnSpPr>
          <p:cNvPr id="96" name="직선 연결선 95">
            <a:extLst>
              <a:ext uri="{FF2B5EF4-FFF2-40B4-BE49-F238E27FC236}">
                <a16:creationId xmlns:a16="http://schemas.microsoft.com/office/drawing/2014/main" id="{E9293055-D5CD-4B9E-7F64-64B2D2CA7A52}"/>
              </a:ext>
            </a:extLst>
          </p:cNvPr>
          <p:cNvCxnSpPr/>
          <p:nvPr/>
        </p:nvCxnSpPr>
        <p:spPr>
          <a:xfrm>
            <a:off x="675400" y="183548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6" name="TextBox 175">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7" name="TextBox 17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11" name="TextBox 110">
            <a:extLst>
              <a:ext uri="{FF2B5EF4-FFF2-40B4-BE49-F238E27FC236}">
                <a16:creationId xmlns:a16="http://schemas.microsoft.com/office/drawing/2014/main" id="{FFC49AEA-2A8F-250C-A86A-A7751D9706C3}"/>
              </a:ext>
            </a:extLst>
          </p:cNvPr>
          <p:cNvSpPr txBox="1"/>
          <p:nvPr/>
        </p:nvSpPr>
        <p:spPr>
          <a:xfrm>
            <a:off x="762146" y="3828450"/>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비고 내용 표시 </a:t>
            </a:r>
            <a:r>
              <a:rPr lang="en-US" altLang="ko-KR" sz="700" dirty="0">
                <a:latin typeface="+mn-ea"/>
              </a:rPr>
              <a:t>/ </a:t>
            </a:r>
            <a:r>
              <a:rPr lang="ko-KR" altLang="en-US" sz="700" dirty="0">
                <a:latin typeface="+mn-ea"/>
              </a:rPr>
              <a:t>비고가 없는 경우 라인 숨김</a:t>
            </a:r>
            <a:endParaRPr lang="en-US" altLang="ko-KR" sz="700" dirty="0">
              <a:latin typeface="+mn-ea"/>
            </a:endParaRPr>
          </a:p>
        </p:txBody>
      </p:sp>
      <p:cxnSp>
        <p:nvCxnSpPr>
          <p:cNvPr id="112" name="직선 연결선 111">
            <a:extLst>
              <a:ext uri="{FF2B5EF4-FFF2-40B4-BE49-F238E27FC236}">
                <a16:creationId xmlns:a16="http://schemas.microsoft.com/office/drawing/2014/main" id="{E9293055-D5CD-4B9E-7F64-64B2D2CA7A52}"/>
              </a:ext>
            </a:extLst>
          </p:cNvPr>
          <p:cNvCxnSpPr/>
          <p:nvPr/>
        </p:nvCxnSpPr>
        <p:spPr>
          <a:xfrm>
            <a:off x="718459" y="411328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직선 연결선 75">
            <a:extLst>
              <a:ext uri="{FF2B5EF4-FFF2-40B4-BE49-F238E27FC236}">
                <a16:creationId xmlns:a16="http://schemas.microsoft.com/office/drawing/2014/main" id="{E9293055-D5CD-4B9E-7F64-64B2D2CA7A52}"/>
              </a:ext>
            </a:extLst>
          </p:cNvPr>
          <p:cNvCxnSpPr/>
          <p:nvPr/>
        </p:nvCxnSpPr>
        <p:spPr>
          <a:xfrm>
            <a:off x="3789297" y="1493927"/>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4" name="직사각형 93"/>
          <p:cNvSpPr/>
          <p:nvPr/>
        </p:nvSpPr>
        <p:spPr>
          <a:xfrm>
            <a:off x="3832354" y="2101228"/>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TextBox 94">
            <a:extLst>
              <a:ext uri="{FF2B5EF4-FFF2-40B4-BE49-F238E27FC236}">
                <a16:creationId xmlns:a16="http://schemas.microsoft.com/office/drawing/2014/main" id="{FFC49AEA-2A8F-250C-A86A-A7751D9706C3}"/>
              </a:ext>
            </a:extLst>
          </p:cNvPr>
          <p:cNvSpPr txBox="1"/>
          <p:nvPr/>
        </p:nvSpPr>
        <p:spPr>
          <a:xfrm>
            <a:off x="3919418" y="210122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평가요소</a:t>
            </a:r>
          </a:p>
        </p:txBody>
      </p:sp>
      <p:cxnSp>
        <p:nvCxnSpPr>
          <p:cNvPr id="98" name="직선 연결선 97">
            <a:extLst>
              <a:ext uri="{FF2B5EF4-FFF2-40B4-BE49-F238E27FC236}">
                <a16:creationId xmlns:a16="http://schemas.microsoft.com/office/drawing/2014/main" id="{E9293055-D5CD-4B9E-7F64-64B2D2CA7A52}"/>
              </a:ext>
            </a:extLst>
          </p:cNvPr>
          <p:cNvCxnSpPr/>
          <p:nvPr/>
        </p:nvCxnSpPr>
        <p:spPr>
          <a:xfrm>
            <a:off x="3830263" y="210122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3832356" y="23159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3832356" y="28626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1" name="TextBox 100">
            <a:extLst>
              <a:ext uri="{FF2B5EF4-FFF2-40B4-BE49-F238E27FC236}">
                <a16:creationId xmlns:a16="http://schemas.microsoft.com/office/drawing/2014/main" id="{FFC49AEA-2A8F-250C-A86A-A7751D9706C3}"/>
              </a:ext>
            </a:extLst>
          </p:cNvPr>
          <p:cNvSpPr txBox="1"/>
          <p:nvPr/>
        </p:nvSpPr>
        <p:spPr>
          <a:xfrm>
            <a:off x="3891234" y="182313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당해 </a:t>
            </a:r>
            <a:r>
              <a:rPr lang="ko-KR" altLang="en-US" sz="700" dirty="0" err="1">
                <a:latin typeface="+mn-ea"/>
              </a:rPr>
              <a:t>용역금액</a:t>
            </a:r>
            <a:r>
              <a:rPr lang="ko-KR" altLang="en-US" sz="700" dirty="0">
                <a:latin typeface="+mn-ea"/>
              </a:rPr>
              <a:t> 대비 최근 </a:t>
            </a:r>
            <a:r>
              <a:rPr lang="en-US" altLang="ko-KR" sz="700" dirty="0">
                <a:latin typeface="+mn-ea"/>
              </a:rPr>
              <a:t>3</a:t>
            </a:r>
            <a:r>
              <a:rPr lang="ko-KR" altLang="en-US" sz="700" dirty="0">
                <a:latin typeface="+mn-ea"/>
              </a:rPr>
              <a:t>년간 용역 </a:t>
            </a:r>
            <a:r>
              <a:rPr lang="ko-KR" altLang="en-US" sz="700" dirty="0" err="1">
                <a:latin typeface="+mn-ea"/>
              </a:rPr>
              <a:t>수행금액</a:t>
            </a:r>
            <a:endParaRPr lang="ko-KR" altLang="en-US" sz="700" dirty="0">
              <a:latin typeface="+mn-ea"/>
            </a:endParaRPr>
          </a:p>
        </p:txBody>
      </p:sp>
      <p:sp>
        <p:nvSpPr>
          <p:cNvPr id="102" name="TextBox 101">
            <a:extLst>
              <a:ext uri="{FF2B5EF4-FFF2-40B4-BE49-F238E27FC236}">
                <a16:creationId xmlns:a16="http://schemas.microsoft.com/office/drawing/2014/main" id="{FFC49AEA-2A8F-250C-A86A-A7751D9706C3}"/>
              </a:ext>
            </a:extLst>
          </p:cNvPr>
          <p:cNvSpPr txBox="1"/>
          <p:nvPr/>
        </p:nvSpPr>
        <p:spPr>
          <a:xfrm>
            <a:off x="6247367" y="2101229"/>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sp>
        <p:nvSpPr>
          <p:cNvPr id="105" name="TextBox 104">
            <a:extLst>
              <a:ext uri="{FF2B5EF4-FFF2-40B4-BE49-F238E27FC236}">
                <a16:creationId xmlns:a16="http://schemas.microsoft.com/office/drawing/2014/main" id="{FFC49AEA-2A8F-250C-A86A-A7751D9706C3}"/>
              </a:ext>
            </a:extLst>
          </p:cNvPr>
          <p:cNvSpPr txBox="1"/>
          <p:nvPr/>
        </p:nvSpPr>
        <p:spPr>
          <a:xfrm>
            <a:off x="3876043" y="1525097"/>
            <a:ext cx="1598477" cy="181140"/>
          </a:xfrm>
          <a:prstGeom prst="rect">
            <a:avLst/>
          </a:prstGeom>
          <a:noFill/>
        </p:spPr>
        <p:txBody>
          <a:bodyPr wrap="square" lIns="0" tIns="0" rIns="0" bIns="0" rtlCol="0">
            <a:spAutoFit/>
          </a:bodyPr>
          <a:lstStyle/>
          <a:p>
            <a:pPr>
              <a:lnSpc>
                <a:spcPct val="200000"/>
              </a:lnSpc>
            </a:pPr>
            <a:r>
              <a:rPr lang="en-US" altLang="ko-KR" sz="700" dirty="0">
                <a:latin typeface="+mn-ea"/>
              </a:rPr>
              <a:t>2.</a:t>
            </a:r>
            <a:r>
              <a:rPr lang="ko-KR" altLang="en-US" sz="700" dirty="0">
                <a:latin typeface="+mn-ea"/>
              </a:rPr>
              <a:t>이행실적</a:t>
            </a:r>
            <a:r>
              <a:rPr lang="en-US" altLang="ko-KR" sz="700" dirty="0">
                <a:latin typeface="+mn-ea"/>
              </a:rPr>
              <a:t>(8</a:t>
            </a:r>
            <a:r>
              <a:rPr lang="ko-KR" altLang="en-US" sz="700" dirty="0">
                <a:latin typeface="+mn-ea"/>
              </a:rPr>
              <a:t>점</a:t>
            </a:r>
            <a:r>
              <a:rPr lang="en-US" altLang="ko-KR" sz="700" dirty="0">
                <a:latin typeface="+mn-ea"/>
              </a:rPr>
              <a:t>)</a:t>
            </a:r>
          </a:p>
        </p:txBody>
      </p:sp>
      <p:grpSp>
        <p:nvGrpSpPr>
          <p:cNvPr id="106" name="그룹 105"/>
          <p:cNvGrpSpPr/>
          <p:nvPr/>
        </p:nvGrpSpPr>
        <p:grpSpPr>
          <a:xfrm flipV="1">
            <a:off x="6238130" y="1638428"/>
            <a:ext cx="94010" cy="47005"/>
            <a:chOff x="6812560" y="3297172"/>
            <a:chExt cx="94010" cy="47005"/>
          </a:xfrm>
        </p:grpSpPr>
        <p:cxnSp>
          <p:nvCxnSpPr>
            <p:cNvPr id="107" name="직선 연결선 10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8" name="직선 연결선 10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9" name="직선 연결선 108">
            <a:extLst>
              <a:ext uri="{FF2B5EF4-FFF2-40B4-BE49-F238E27FC236}">
                <a16:creationId xmlns:a16="http://schemas.microsoft.com/office/drawing/2014/main" id="{E9293055-D5CD-4B9E-7F64-64B2D2CA7A52}"/>
              </a:ext>
            </a:extLst>
          </p:cNvPr>
          <p:cNvCxnSpPr/>
          <p:nvPr/>
        </p:nvCxnSpPr>
        <p:spPr>
          <a:xfrm>
            <a:off x="3789297" y="1799212"/>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TextBox 115">
            <a:extLst>
              <a:ext uri="{FF2B5EF4-FFF2-40B4-BE49-F238E27FC236}">
                <a16:creationId xmlns:a16="http://schemas.microsoft.com/office/drawing/2014/main" id="{FFC49AEA-2A8F-250C-A86A-A7751D9706C3}"/>
              </a:ext>
            </a:extLst>
          </p:cNvPr>
          <p:cNvSpPr txBox="1"/>
          <p:nvPr/>
        </p:nvSpPr>
        <p:spPr>
          <a:xfrm>
            <a:off x="3919418" y="2377777"/>
            <a:ext cx="1480199" cy="430887"/>
          </a:xfrm>
          <a:prstGeom prst="rect">
            <a:avLst/>
          </a:prstGeom>
          <a:noFill/>
        </p:spPr>
        <p:txBody>
          <a:bodyPr wrap="square" lIns="0" tIns="0" rIns="0" bIns="0" rtlCol="0">
            <a:spAutoFit/>
          </a:bodyPr>
          <a:lstStyle/>
          <a:p>
            <a:r>
              <a:rPr lang="ko-KR" altLang="en-US" sz="700" dirty="0">
                <a:latin typeface="+mn-ea"/>
              </a:rPr>
              <a:t>수집</a:t>
            </a:r>
            <a:r>
              <a:rPr lang="en-US" altLang="ko-KR" sz="700" dirty="0">
                <a:latin typeface="+mn-ea"/>
              </a:rPr>
              <a:t>/</a:t>
            </a:r>
            <a:r>
              <a:rPr lang="ko-KR" altLang="en-US" sz="700" dirty="0">
                <a:latin typeface="+mn-ea"/>
              </a:rPr>
              <a:t>운반</a:t>
            </a:r>
          </a:p>
          <a:p>
            <a:r>
              <a:rPr lang="en-US" altLang="ko-KR" sz="700" dirty="0">
                <a:latin typeface="+mn-ea"/>
              </a:rPr>
              <a:t>- A) 100%</a:t>
            </a:r>
            <a:r>
              <a:rPr lang="ko-KR" altLang="en-US" sz="700" dirty="0">
                <a:latin typeface="+mn-ea"/>
              </a:rPr>
              <a:t>이상</a:t>
            </a:r>
          </a:p>
          <a:p>
            <a:r>
              <a:rPr lang="en-US" altLang="ko-KR" sz="700" dirty="0">
                <a:latin typeface="+mn-ea"/>
              </a:rPr>
              <a:t>- B) 80%</a:t>
            </a:r>
            <a:r>
              <a:rPr lang="ko-KR" altLang="en-US" sz="700" dirty="0">
                <a:latin typeface="+mn-ea"/>
              </a:rPr>
              <a:t>이상 </a:t>
            </a:r>
            <a:r>
              <a:rPr lang="en-US" altLang="ko-KR" sz="700" dirty="0">
                <a:latin typeface="+mn-ea"/>
              </a:rPr>
              <a:t>~ 100%</a:t>
            </a:r>
            <a:r>
              <a:rPr lang="ko-KR" altLang="en-US" sz="700" dirty="0">
                <a:latin typeface="+mn-ea"/>
              </a:rPr>
              <a:t>미만</a:t>
            </a:r>
          </a:p>
          <a:p>
            <a:r>
              <a:rPr lang="en-US" altLang="ko-KR" sz="700" dirty="0">
                <a:latin typeface="+mn-ea"/>
              </a:rPr>
              <a:t>- C) 80%</a:t>
            </a:r>
            <a:r>
              <a:rPr lang="ko-KR" altLang="en-US" sz="700" dirty="0">
                <a:latin typeface="+mn-ea"/>
              </a:rPr>
              <a:t>미만</a:t>
            </a:r>
          </a:p>
        </p:txBody>
      </p:sp>
      <p:sp>
        <p:nvSpPr>
          <p:cNvPr id="119" name="TextBox 118">
            <a:extLst>
              <a:ext uri="{FF2B5EF4-FFF2-40B4-BE49-F238E27FC236}">
                <a16:creationId xmlns:a16="http://schemas.microsoft.com/office/drawing/2014/main" id="{FFC49AEA-2A8F-250C-A86A-A7751D9706C3}"/>
              </a:ext>
            </a:extLst>
          </p:cNvPr>
          <p:cNvSpPr txBox="1"/>
          <p:nvPr/>
        </p:nvSpPr>
        <p:spPr>
          <a:xfrm>
            <a:off x="6308280" y="2485499"/>
            <a:ext cx="118623" cy="323165"/>
          </a:xfrm>
          <a:prstGeom prst="rect">
            <a:avLst/>
          </a:prstGeom>
          <a:noFill/>
        </p:spPr>
        <p:txBody>
          <a:bodyPr wrap="none" lIns="0" tIns="0" rIns="0" bIns="0" rtlCol="0">
            <a:spAutoFit/>
          </a:bodyPr>
          <a:lstStyle/>
          <a:p>
            <a:pPr algn="r"/>
            <a:r>
              <a:rPr lang="en-US" altLang="ko-KR" sz="700" dirty="0">
                <a:latin typeface="+mn-ea"/>
              </a:rPr>
              <a:t>3.0</a:t>
            </a:r>
          </a:p>
          <a:p>
            <a:pPr algn="r"/>
            <a:r>
              <a:rPr lang="en-US" altLang="ko-KR" sz="700" dirty="0">
                <a:latin typeface="+mn-ea"/>
              </a:rPr>
              <a:t>2.6</a:t>
            </a:r>
          </a:p>
          <a:p>
            <a:pPr algn="r"/>
            <a:r>
              <a:rPr lang="en-US" altLang="ko-KR" sz="700" dirty="0">
                <a:latin typeface="+mn-ea"/>
              </a:rPr>
              <a:t>2.2</a:t>
            </a:r>
          </a:p>
        </p:txBody>
      </p:sp>
      <p:cxnSp>
        <p:nvCxnSpPr>
          <p:cNvPr id="120" name="직선 연결선 119">
            <a:extLst>
              <a:ext uri="{FF2B5EF4-FFF2-40B4-BE49-F238E27FC236}">
                <a16:creationId xmlns:a16="http://schemas.microsoft.com/office/drawing/2014/main" id="{E9293055-D5CD-4B9E-7F64-64B2D2CA7A52}"/>
              </a:ext>
            </a:extLst>
          </p:cNvPr>
          <p:cNvCxnSpPr/>
          <p:nvPr/>
        </p:nvCxnSpPr>
        <p:spPr>
          <a:xfrm>
            <a:off x="3832356" y="34156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TextBox 120">
            <a:extLst>
              <a:ext uri="{FF2B5EF4-FFF2-40B4-BE49-F238E27FC236}">
                <a16:creationId xmlns:a16="http://schemas.microsoft.com/office/drawing/2014/main" id="{FFC49AEA-2A8F-250C-A86A-A7751D9706C3}"/>
              </a:ext>
            </a:extLst>
          </p:cNvPr>
          <p:cNvSpPr txBox="1"/>
          <p:nvPr/>
        </p:nvSpPr>
        <p:spPr>
          <a:xfrm>
            <a:off x="3919418" y="2930751"/>
            <a:ext cx="1480199" cy="430887"/>
          </a:xfrm>
          <a:prstGeom prst="rect">
            <a:avLst/>
          </a:prstGeom>
          <a:noFill/>
        </p:spPr>
        <p:txBody>
          <a:bodyPr wrap="square" lIns="0" tIns="0" rIns="0" bIns="0" rtlCol="0">
            <a:spAutoFit/>
          </a:bodyPr>
          <a:lstStyle/>
          <a:p>
            <a:r>
              <a:rPr lang="ko-KR" altLang="en-US" sz="700" dirty="0">
                <a:latin typeface="+mn-ea"/>
              </a:rPr>
              <a:t>중간처리</a:t>
            </a:r>
            <a:endParaRPr lang="en-US" altLang="ko-KR" sz="700" dirty="0">
              <a:latin typeface="+mn-ea"/>
            </a:endParaRPr>
          </a:p>
          <a:p>
            <a:r>
              <a:rPr lang="en-US" altLang="ko-KR" sz="700" dirty="0">
                <a:latin typeface="+mn-ea"/>
              </a:rPr>
              <a:t>- A) 100%</a:t>
            </a:r>
            <a:r>
              <a:rPr lang="ko-KR" altLang="en-US" sz="700" dirty="0">
                <a:latin typeface="+mn-ea"/>
              </a:rPr>
              <a:t>이상</a:t>
            </a:r>
          </a:p>
          <a:p>
            <a:r>
              <a:rPr lang="en-US" altLang="ko-KR" sz="700" dirty="0">
                <a:latin typeface="+mn-ea"/>
              </a:rPr>
              <a:t>- B) 80%</a:t>
            </a:r>
            <a:r>
              <a:rPr lang="ko-KR" altLang="en-US" sz="700" dirty="0">
                <a:latin typeface="+mn-ea"/>
              </a:rPr>
              <a:t>이상 </a:t>
            </a:r>
            <a:r>
              <a:rPr lang="en-US" altLang="ko-KR" sz="700" dirty="0">
                <a:latin typeface="+mn-ea"/>
              </a:rPr>
              <a:t>~ 100%</a:t>
            </a:r>
            <a:r>
              <a:rPr lang="ko-KR" altLang="en-US" sz="700" dirty="0">
                <a:latin typeface="+mn-ea"/>
              </a:rPr>
              <a:t>미만</a:t>
            </a:r>
          </a:p>
          <a:p>
            <a:r>
              <a:rPr lang="en-US" altLang="ko-KR" sz="700" dirty="0">
                <a:latin typeface="+mn-ea"/>
              </a:rPr>
              <a:t>- C) 80%</a:t>
            </a:r>
            <a:r>
              <a:rPr lang="ko-KR" altLang="en-US" sz="700" dirty="0">
                <a:latin typeface="+mn-ea"/>
              </a:rPr>
              <a:t>미만</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6308280" y="3038473"/>
            <a:ext cx="118623" cy="323165"/>
          </a:xfrm>
          <a:prstGeom prst="rect">
            <a:avLst/>
          </a:prstGeom>
          <a:noFill/>
        </p:spPr>
        <p:txBody>
          <a:bodyPr wrap="none" lIns="0" tIns="0" rIns="0" bIns="0" rtlCol="0">
            <a:spAutoFit/>
          </a:bodyPr>
          <a:lstStyle/>
          <a:p>
            <a:pPr algn="r"/>
            <a:r>
              <a:rPr lang="en-US" altLang="ko-KR" sz="700" dirty="0">
                <a:latin typeface="+mn-ea"/>
              </a:rPr>
              <a:t>3.0</a:t>
            </a:r>
          </a:p>
          <a:p>
            <a:pPr algn="r"/>
            <a:r>
              <a:rPr lang="en-US" altLang="ko-KR" sz="700" dirty="0">
                <a:latin typeface="+mn-ea"/>
              </a:rPr>
              <a:t>2.6</a:t>
            </a:r>
          </a:p>
          <a:p>
            <a:pPr algn="r"/>
            <a:r>
              <a:rPr lang="en-US" altLang="ko-KR" sz="700" dirty="0">
                <a:latin typeface="+mn-ea"/>
              </a:rPr>
              <a:t>2.2</a:t>
            </a:r>
          </a:p>
        </p:txBody>
      </p:sp>
      <p:cxnSp>
        <p:nvCxnSpPr>
          <p:cNvPr id="123" name="직선 연결선 122">
            <a:extLst>
              <a:ext uri="{FF2B5EF4-FFF2-40B4-BE49-F238E27FC236}">
                <a16:creationId xmlns:a16="http://schemas.microsoft.com/office/drawing/2014/main" id="{E9293055-D5CD-4B9E-7F64-64B2D2CA7A52}"/>
              </a:ext>
            </a:extLst>
          </p:cNvPr>
          <p:cNvCxnSpPr/>
          <p:nvPr/>
        </p:nvCxnSpPr>
        <p:spPr>
          <a:xfrm>
            <a:off x="3832356" y="396965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4" name="TextBox 123">
            <a:extLst>
              <a:ext uri="{FF2B5EF4-FFF2-40B4-BE49-F238E27FC236}">
                <a16:creationId xmlns:a16="http://schemas.microsoft.com/office/drawing/2014/main" id="{FFC49AEA-2A8F-250C-A86A-A7751D9706C3}"/>
              </a:ext>
            </a:extLst>
          </p:cNvPr>
          <p:cNvSpPr txBox="1"/>
          <p:nvPr/>
        </p:nvSpPr>
        <p:spPr>
          <a:xfrm>
            <a:off x="3919418" y="3484768"/>
            <a:ext cx="1480199" cy="430887"/>
          </a:xfrm>
          <a:prstGeom prst="rect">
            <a:avLst/>
          </a:prstGeom>
          <a:noFill/>
        </p:spPr>
        <p:txBody>
          <a:bodyPr wrap="square" lIns="0" tIns="0" rIns="0" bIns="0" rtlCol="0">
            <a:spAutoFit/>
          </a:bodyPr>
          <a:lstStyle/>
          <a:p>
            <a:r>
              <a:rPr lang="ko-KR" altLang="en-US" sz="700" dirty="0" err="1">
                <a:latin typeface="+mn-ea"/>
              </a:rPr>
              <a:t>최종처리</a:t>
            </a:r>
            <a:endParaRPr lang="en-US" altLang="ko-KR" sz="700" dirty="0">
              <a:latin typeface="+mn-ea"/>
            </a:endParaRPr>
          </a:p>
          <a:p>
            <a:r>
              <a:rPr lang="en-US" altLang="ko-KR" sz="700" dirty="0">
                <a:latin typeface="+mn-ea"/>
              </a:rPr>
              <a:t>- A) 100%</a:t>
            </a:r>
            <a:r>
              <a:rPr lang="ko-KR" altLang="en-US" sz="700" dirty="0">
                <a:latin typeface="+mn-ea"/>
              </a:rPr>
              <a:t>이상</a:t>
            </a:r>
          </a:p>
          <a:p>
            <a:r>
              <a:rPr lang="en-US" altLang="ko-KR" sz="700" dirty="0">
                <a:latin typeface="+mn-ea"/>
              </a:rPr>
              <a:t>- B) 80%</a:t>
            </a:r>
            <a:r>
              <a:rPr lang="ko-KR" altLang="en-US" sz="700" dirty="0">
                <a:latin typeface="+mn-ea"/>
              </a:rPr>
              <a:t>이상 </a:t>
            </a:r>
            <a:r>
              <a:rPr lang="en-US" altLang="ko-KR" sz="700" dirty="0">
                <a:latin typeface="+mn-ea"/>
              </a:rPr>
              <a:t>~ 100%</a:t>
            </a:r>
            <a:r>
              <a:rPr lang="ko-KR" altLang="en-US" sz="700" dirty="0">
                <a:latin typeface="+mn-ea"/>
              </a:rPr>
              <a:t>미만</a:t>
            </a:r>
          </a:p>
          <a:p>
            <a:r>
              <a:rPr lang="en-US" altLang="ko-KR" sz="700" dirty="0">
                <a:latin typeface="+mn-ea"/>
              </a:rPr>
              <a:t>- C) 80%</a:t>
            </a:r>
            <a:r>
              <a:rPr lang="ko-KR" altLang="en-US" sz="700" dirty="0">
                <a:latin typeface="+mn-ea"/>
              </a:rPr>
              <a:t>미만</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6308280" y="3592490"/>
            <a:ext cx="118623" cy="323165"/>
          </a:xfrm>
          <a:prstGeom prst="rect">
            <a:avLst/>
          </a:prstGeom>
          <a:noFill/>
        </p:spPr>
        <p:txBody>
          <a:bodyPr wrap="none" lIns="0" tIns="0" rIns="0" bIns="0" rtlCol="0">
            <a:spAutoFit/>
          </a:bodyPr>
          <a:lstStyle/>
          <a:p>
            <a:pPr algn="r"/>
            <a:r>
              <a:rPr lang="en-US" altLang="ko-KR" sz="700" dirty="0">
                <a:latin typeface="+mn-ea"/>
              </a:rPr>
              <a:t>2.0</a:t>
            </a:r>
          </a:p>
          <a:p>
            <a:pPr algn="r"/>
            <a:r>
              <a:rPr lang="en-US" altLang="ko-KR" sz="700" dirty="0">
                <a:latin typeface="+mn-ea"/>
              </a:rPr>
              <a:t>1.6</a:t>
            </a:r>
          </a:p>
          <a:p>
            <a:pPr algn="r"/>
            <a:r>
              <a:rPr lang="en-US" altLang="ko-KR" sz="700" dirty="0">
                <a:latin typeface="+mn-ea"/>
              </a:rPr>
              <a:t>1.2</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3789297" y="4056089"/>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9" name="TextBox 128">
            <a:extLst>
              <a:ext uri="{FF2B5EF4-FFF2-40B4-BE49-F238E27FC236}">
                <a16:creationId xmlns:a16="http://schemas.microsoft.com/office/drawing/2014/main" id="{FFC49AEA-2A8F-250C-A86A-A7751D9706C3}"/>
              </a:ext>
            </a:extLst>
          </p:cNvPr>
          <p:cNvSpPr txBox="1"/>
          <p:nvPr/>
        </p:nvSpPr>
        <p:spPr>
          <a:xfrm>
            <a:off x="3891234" y="4385298"/>
            <a:ext cx="2535669" cy="215444"/>
          </a:xfrm>
          <a:prstGeom prst="rect">
            <a:avLst/>
          </a:prstGeom>
          <a:noFill/>
        </p:spPr>
        <p:txBody>
          <a:bodyPr wrap="square" lIns="0" tIns="0" rIns="0" bIns="0" rtlCol="0">
            <a:spAutoFit/>
          </a:bodyPr>
          <a:lstStyle/>
          <a:p>
            <a:pPr>
              <a:lnSpc>
                <a:spcPct val="200000"/>
              </a:lnSpc>
            </a:pPr>
            <a:r>
              <a:rPr lang="ko-KR" altLang="en-US" sz="700" dirty="0">
                <a:latin typeface="+mn-ea"/>
              </a:rPr>
              <a:t>평가요소 </a:t>
            </a:r>
            <a:r>
              <a:rPr lang="en-US" altLang="ko-KR" sz="700" dirty="0">
                <a:latin typeface="+mn-ea"/>
              </a:rPr>
              <a:t>: </a:t>
            </a:r>
            <a:r>
              <a:rPr lang="ko-KR" altLang="en-US" sz="700" dirty="0">
                <a:latin typeface="+mn-ea"/>
              </a:rPr>
              <a:t>수집운반</a:t>
            </a:r>
          </a:p>
        </p:txBody>
      </p:sp>
      <p:sp>
        <p:nvSpPr>
          <p:cNvPr id="130" name="TextBox 129">
            <a:extLst>
              <a:ext uri="{FF2B5EF4-FFF2-40B4-BE49-F238E27FC236}">
                <a16:creationId xmlns:a16="http://schemas.microsoft.com/office/drawing/2014/main" id="{FFC49AEA-2A8F-250C-A86A-A7751D9706C3}"/>
              </a:ext>
            </a:extLst>
          </p:cNvPr>
          <p:cNvSpPr txBox="1"/>
          <p:nvPr/>
        </p:nvSpPr>
        <p:spPr>
          <a:xfrm>
            <a:off x="3876043" y="4087259"/>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평가결과</a:t>
            </a:r>
            <a:endParaRPr lang="en-US" altLang="ko-KR" sz="700" dirty="0">
              <a:latin typeface="+mn-ea"/>
            </a:endParaRPr>
          </a:p>
        </p:txBody>
      </p:sp>
      <p:grpSp>
        <p:nvGrpSpPr>
          <p:cNvPr id="131" name="그룹 130"/>
          <p:cNvGrpSpPr/>
          <p:nvPr/>
        </p:nvGrpSpPr>
        <p:grpSpPr>
          <a:xfrm flipV="1">
            <a:off x="6238130" y="4200590"/>
            <a:ext cx="94010" cy="47005"/>
            <a:chOff x="6812560" y="3297172"/>
            <a:chExt cx="94010" cy="47005"/>
          </a:xfrm>
        </p:grpSpPr>
        <p:cxnSp>
          <p:nvCxnSpPr>
            <p:cNvPr id="132" name="직선 연결선 13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3" name="직선 연결선 13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3789297" y="4361374"/>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직사각형 138"/>
          <p:cNvSpPr/>
          <p:nvPr/>
        </p:nvSpPr>
        <p:spPr>
          <a:xfrm>
            <a:off x="3832354" y="4639098"/>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TextBox 139">
            <a:extLst>
              <a:ext uri="{FF2B5EF4-FFF2-40B4-BE49-F238E27FC236}">
                <a16:creationId xmlns:a16="http://schemas.microsoft.com/office/drawing/2014/main" id="{FFC49AEA-2A8F-250C-A86A-A7751D9706C3}"/>
              </a:ext>
            </a:extLst>
          </p:cNvPr>
          <p:cNvSpPr txBox="1"/>
          <p:nvPr/>
        </p:nvSpPr>
        <p:spPr>
          <a:xfrm>
            <a:off x="3919419" y="4639099"/>
            <a:ext cx="684954" cy="129266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err="1">
                <a:latin typeface="+mn-ea"/>
              </a:rPr>
              <a:t>업체실적</a:t>
            </a:r>
            <a:endParaRPr lang="en-US" altLang="ko-KR" sz="700" dirty="0">
              <a:latin typeface="+mn-ea"/>
            </a:endParaRPr>
          </a:p>
          <a:p>
            <a:pPr>
              <a:lnSpc>
                <a:spcPct val="200000"/>
              </a:lnSpc>
            </a:pPr>
            <a:r>
              <a:rPr lang="ko-KR" altLang="en-US" sz="700" dirty="0" err="1">
                <a:latin typeface="+mn-ea"/>
              </a:rPr>
              <a:t>당해용역</a:t>
            </a:r>
            <a:endParaRPr lang="en-US" altLang="ko-KR" sz="700" dirty="0">
              <a:latin typeface="+mn-ea"/>
            </a:endParaRPr>
          </a:p>
          <a:p>
            <a:pPr>
              <a:lnSpc>
                <a:spcPct val="200000"/>
              </a:lnSpc>
            </a:pPr>
            <a:r>
              <a:rPr lang="ko-KR" altLang="en-US" sz="700" dirty="0">
                <a:latin typeface="+mn-ea"/>
              </a:rPr>
              <a:t>평가등급</a:t>
            </a:r>
            <a:endParaRPr lang="en-US" altLang="ko-KR" sz="700" dirty="0">
              <a:latin typeface="+mn-ea"/>
            </a:endParaRPr>
          </a:p>
          <a:p>
            <a:pPr>
              <a:lnSpc>
                <a:spcPct val="200000"/>
              </a:lnSpc>
            </a:pPr>
            <a:r>
              <a:rPr lang="ko-KR" altLang="en-US" sz="700" dirty="0">
                <a:latin typeface="+mn-ea"/>
              </a:rPr>
              <a:t>배점</a:t>
            </a:r>
          </a:p>
        </p:txBody>
      </p:sp>
      <p:cxnSp>
        <p:nvCxnSpPr>
          <p:cNvPr id="141" name="직선 연결선 140">
            <a:extLst>
              <a:ext uri="{FF2B5EF4-FFF2-40B4-BE49-F238E27FC236}">
                <a16:creationId xmlns:a16="http://schemas.microsoft.com/office/drawing/2014/main" id="{E9293055-D5CD-4B9E-7F64-64B2D2CA7A52}"/>
              </a:ext>
            </a:extLst>
          </p:cNvPr>
          <p:cNvCxnSpPr/>
          <p:nvPr/>
        </p:nvCxnSpPr>
        <p:spPr>
          <a:xfrm>
            <a:off x="3830263" y="463909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3832356" y="48538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4" name="TextBox 143">
            <a:extLst>
              <a:ext uri="{FF2B5EF4-FFF2-40B4-BE49-F238E27FC236}">
                <a16:creationId xmlns:a16="http://schemas.microsoft.com/office/drawing/2014/main" id="{FFC49AEA-2A8F-250C-A86A-A7751D9706C3}"/>
              </a:ext>
            </a:extLst>
          </p:cNvPr>
          <p:cNvSpPr txBox="1"/>
          <p:nvPr/>
        </p:nvSpPr>
        <p:spPr>
          <a:xfrm>
            <a:off x="4678792" y="4639099"/>
            <a:ext cx="1748112" cy="1292662"/>
          </a:xfrm>
          <a:prstGeom prst="rect">
            <a:avLst/>
          </a:prstGeom>
          <a:noFill/>
        </p:spPr>
        <p:txBody>
          <a:bodyPr wrap="square" lIns="0" tIns="0" rIns="0" bIns="0" rtlCol="0">
            <a:spAutoFit/>
          </a:bodyPr>
          <a:lstStyle/>
          <a:p>
            <a:pPr>
              <a:lnSpc>
                <a:spcPct val="200000"/>
              </a:lnSpc>
            </a:pPr>
            <a:r>
              <a:rPr lang="ko-KR" altLang="en-US" sz="700" dirty="0">
                <a:latin typeface="+mn-ea"/>
              </a:rPr>
              <a:t>요소</a:t>
            </a:r>
            <a:endParaRPr lang="en-US" altLang="ko-KR" sz="700" dirty="0">
              <a:latin typeface="+mn-ea"/>
            </a:endParaRPr>
          </a:p>
          <a:p>
            <a:pPr>
              <a:lnSpc>
                <a:spcPct val="200000"/>
              </a:lnSpc>
            </a:pPr>
            <a:r>
              <a:rPr lang="ko-KR" altLang="en-US" sz="700" dirty="0">
                <a:latin typeface="+mn-ea"/>
              </a:rPr>
              <a:t>건설폐기물</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a:t>
            </a:r>
          </a:p>
          <a:p>
            <a:pPr algn="r">
              <a:lnSpc>
                <a:spcPct val="200000"/>
              </a:lnSpc>
            </a:pPr>
            <a:r>
              <a:rPr lang="en-US" altLang="ko-KR" sz="700" dirty="0">
                <a:latin typeface="+mn-ea"/>
              </a:rPr>
              <a:t>00</a:t>
            </a:r>
          </a:p>
        </p:txBody>
      </p:sp>
      <p:cxnSp>
        <p:nvCxnSpPr>
          <p:cNvPr id="157" name="직선 연결선 156">
            <a:extLst>
              <a:ext uri="{FF2B5EF4-FFF2-40B4-BE49-F238E27FC236}">
                <a16:creationId xmlns:a16="http://schemas.microsoft.com/office/drawing/2014/main" id="{E9293055-D5CD-4B9E-7F64-64B2D2CA7A52}"/>
              </a:ext>
            </a:extLst>
          </p:cNvPr>
          <p:cNvCxnSpPr/>
          <p:nvPr/>
        </p:nvCxnSpPr>
        <p:spPr>
          <a:xfrm>
            <a:off x="3832356" y="55008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3832356" y="52851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3832356" y="50695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832356" y="57211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832356" y="59262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934694612"/>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직사각형 62">
            <a:extLst>
              <a:ext uri="{FF2B5EF4-FFF2-40B4-BE49-F238E27FC236}">
                <a16:creationId xmlns:a16="http://schemas.microsoft.com/office/drawing/2014/main" id="{F56F1743-11A0-EA94-9184-4E42C0A37F9C}"/>
              </a:ext>
            </a:extLst>
          </p:cNvPr>
          <p:cNvSpPr/>
          <p:nvPr/>
        </p:nvSpPr>
        <p:spPr>
          <a:xfrm>
            <a:off x="3789297"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275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err="1"/>
              <a:t>고시금액미만폐기물용역</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고시금액미만폐기물용역일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MUI-BD-10-M20</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6" name="TextBox 175">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7" name="TextBox 17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3" name="그룹 2"/>
          <p:cNvGrpSpPr/>
          <p:nvPr/>
        </p:nvGrpSpPr>
        <p:grpSpPr>
          <a:xfrm>
            <a:off x="716366" y="1491157"/>
            <a:ext cx="2630093" cy="1546463"/>
            <a:chOff x="686517" y="1856764"/>
            <a:chExt cx="2630093" cy="1546463"/>
          </a:xfrm>
        </p:grpSpPr>
        <p:sp>
          <p:nvSpPr>
            <p:cNvPr id="80" name="TextBox 79">
              <a:extLst>
                <a:ext uri="{FF2B5EF4-FFF2-40B4-BE49-F238E27FC236}">
                  <a16:creationId xmlns:a16="http://schemas.microsoft.com/office/drawing/2014/main" id="{FFC49AEA-2A8F-250C-A86A-A7751D9706C3}"/>
                </a:ext>
              </a:extLst>
            </p:cNvPr>
            <p:cNvSpPr txBox="1"/>
            <p:nvPr/>
          </p:nvSpPr>
          <p:spPr>
            <a:xfrm>
              <a:off x="747488" y="1856764"/>
              <a:ext cx="2535669" cy="215444"/>
            </a:xfrm>
            <a:prstGeom prst="rect">
              <a:avLst/>
            </a:prstGeom>
            <a:noFill/>
          </p:spPr>
          <p:txBody>
            <a:bodyPr wrap="square" lIns="0" tIns="0" rIns="0" bIns="0" rtlCol="0">
              <a:spAutoFit/>
            </a:bodyPr>
            <a:lstStyle/>
            <a:p>
              <a:pPr>
                <a:lnSpc>
                  <a:spcPct val="200000"/>
                </a:lnSpc>
              </a:pPr>
              <a:r>
                <a:rPr lang="ko-KR" altLang="en-US" sz="700" dirty="0">
                  <a:latin typeface="+mn-ea"/>
                </a:rPr>
                <a:t>평가요소 </a:t>
              </a:r>
              <a:r>
                <a:rPr lang="en-US" altLang="ko-KR" sz="700" dirty="0">
                  <a:latin typeface="+mn-ea"/>
                </a:rPr>
                <a:t>: </a:t>
              </a:r>
              <a:r>
                <a:rPr lang="ko-KR" altLang="en-US" sz="700" dirty="0">
                  <a:latin typeface="+mn-ea"/>
                </a:rPr>
                <a:t>중간처리</a:t>
              </a:r>
            </a:p>
          </p:txBody>
        </p:sp>
        <p:sp>
          <p:nvSpPr>
            <p:cNvPr id="81" name="직사각형 80"/>
            <p:cNvSpPr/>
            <p:nvPr/>
          </p:nvSpPr>
          <p:spPr>
            <a:xfrm>
              <a:off x="688608" y="2110564"/>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a:extLst>
                <a:ext uri="{FF2B5EF4-FFF2-40B4-BE49-F238E27FC236}">
                  <a16:creationId xmlns:a16="http://schemas.microsoft.com/office/drawing/2014/main" id="{FFC49AEA-2A8F-250C-A86A-A7751D9706C3}"/>
                </a:ext>
              </a:extLst>
            </p:cNvPr>
            <p:cNvSpPr txBox="1"/>
            <p:nvPr/>
          </p:nvSpPr>
          <p:spPr>
            <a:xfrm>
              <a:off x="775673" y="2110565"/>
              <a:ext cx="684954" cy="129266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err="1">
                  <a:latin typeface="+mn-ea"/>
                </a:rPr>
                <a:t>업체실적</a:t>
              </a:r>
              <a:endParaRPr lang="en-US" altLang="ko-KR" sz="700" dirty="0">
                <a:latin typeface="+mn-ea"/>
              </a:endParaRPr>
            </a:p>
            <a:p>
              <a:pPr>
                <a:lnSpc>
                  <a:spcPct val="200000"/>
                </a:lnSpc>
              </a:pPr>
              <a:r>
                <a:rPr lang="ko-KR" altLang="en-US" sz="700" dirty="0" err="1">
                  <a:latin typeface="+mn-ea"/>
                </a:rPr>
                <a:t>당해용역</a:t>
              </a:r>
              <a:endParaRPr lang="en-US" altLang="ko-KR" sz="700" dirty="0">
                <a:latin typeface="+mn-ea"/>
              </a:endParaRPr>
            </a:p>
            <a:p>
              <a:pPr>
                <a:lnSpc>
                  <a:spcPct val="200000"/>
                </a:lnSpc>
              </a:pPr>
              <a:r>
                <a:rPr lang="ko-KR" altLang="en-US" sz="700" dirty="0">
                  <a:latin typeface="+mn-ea"/>
                </a:rPr>
                <a:t>평가등급</a:t>
              </a:r>
              <a:endParaRPr lang="en-US" altLang="ko-KR" sz="700" dirty="0">
                <a:latin typeface="+mn-ea"/>
              </a:endParaRPr>
            </a:p>
            <a:p>
              <a:pPr>
                <a:lnSpc>
                  <a:spcPct val="200000"/>
                </a:lnSpc>
              </a:pPr>
              <a:r>
                <a:rPr lang="ko-KR" altLang="en-US" sz="700" dirty="0">
                  <a:latin typeface="+mn-ea"/>
                </a:rPr>
                <a:t>배점</a:t>
              </a:r>
            </a:p>
          </p:txBody>
        </p:sp>
        <p:cxnSp>
          <p:nvCxnSpPr>
            <p:cNvPr id="83" name="직선 연결선 82">
              <a:extLst>
                <a:ext uri="{FF2B5EF4-FFF2-40B4-BE49-F238E27FC236}">
                  <a16:creationId xmlns:a16="http://schemas.microsoft.com/office/drawing/2014/main" id="{E9293055-D5CD-4B9E-7F64-64B2D2CA7A52}"/>
                </a:ext>
              </a:extLst>
            </p:cNvPr>
            <p:cNvCxnSpPr/>
            <p:nvPr/>
          </p:nvCxnSpPr>
          <p:spPr>
            <a:xfrm>
              <a:off x="686517" y="211056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688610" y="23253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1535046" y="2110565"/>
              <a:ext cx="1748112" cy="1292662"/>
            </a:xfrm>
            <a:prstGeom prst="rect">
              <a:avLst/>
            </a:prstGeom>
            <a:noFill/>
          </p:spPr>
          <p:txBody>
            <a:bodyPr wrap="square" lIns="0" tIns="0" rIns="0" bIns="0" rtlCol="0">
              <a:spAutoFit/>
            </a:bodyPr>
            <a:lstStyle/>
            <a:p>
              <a:pPr>
                <a:lnSpc>
                  <a:spcPct val="200000"/>
                </a:lnSpc>
              </a:pPr>
              <a:r>
                <a:rPr lang="ko-KR" altLang="en-US" sz="700" dirty="0">
                  <a:latin typeface="+mn-ea"/>
                </a:rPr>
                <a:t>요소</a:t>
              </a:r>
              <a:endParaRPr lang="en-US" altLang="ko-KR" sz="700" dirty="0">
                <a:latin typeface="+mn-ea"/>
              </a:endParaRPr>
            </a:p>
            <a:p>
              <a:pPr>
                <a:lnSpc>
                  <a:spcPct val="200000"/>
                </a:lnSpc>
              </a:pPr>
              <a:r>
                <a:rPr lang="ko-KR" altLang="en-US" sz="700" dirty="0">
                  <a:latin typeface="+mn-ea"/>
                </a:rPr>
                <a:t>건설폐기물</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a:t>
              </a:r>
            </a:p>
            <a:p>
              <a:pPr algn="r">
                <a:lnSpc>
                  <a:spcPct val="200000"/>
                </a:lnSpc>
              </a:pPr>
              <a:r>
                <a:rPr lang="en-US" altLang="ko-KR" sz="700" dirty="0">
                  <a:latin typeface="+mn-ea"/>
                </a:rPr>
                <a:t>00</a:t>
              </a:r>
            </a:p>
          </p:txBody>
        </p:sp>
        <p:cxnSp>
          <p:nvCxnSpPr>
            <p:cNvPr id="86" name="직선 연결선 85">
              <a:extLst>
                <a:ext uri="{FF2B5EF4-FFF2-40B4-BE49-F238E27FC236}">
                  <a16:creationId xmlns:a16="http://schemas.microsoft.com/office/drawing/2014/main" id="{E9293055-D5CD-4B9E-7F64-64B2D2CA7A52}"/>
                </a:ext>
              </a:extLst>
            </p:cNvPr>
            <p:cNvCxnSpPr/>
            <p:nvPr/>
          </p:nvCxnSpPr>
          <p:spPr>
            <a:xfrm>
              <a:off x="688610" y="2972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688610" y="2756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688610" y="2540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688610" y="31925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직선 연결선 91">
              <a:extLst>
                <a:ext uri="{FF2B5EF4-FFF2-40B4-BE49-F238E27FC236}">
                  <a16:creationId xmlns:a16="http://schemas.microsoft.com/office/drawing/2014/main" id="{E9293055-D5CD-4B9E-7F64-64B2D2CA7A52}"/>
                </a:ext>
              </a:extLst>
            </p:cNvPr>
            <p:cNvCxnSpPr/>
            <p:nvPr/>
          </p:nvCxnSpPr>
          <p:spPr>
            <a:xfrm>
              <a:off x="688610" y="3397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93" name="그룹 92"/>
          <p:cNvGrpSpPr/>
          <p:nvPr/>
        </p:nvGrpSpPr>
        <p:grpSpPr>
          <a:xfrm>
            <a:off x="716366" y="3089881"/>
            <a:ext cx="2630093" cy="1546463"/>
            <a:chOff x="686517" y="1856764"/>
            <a:chExt cx="2630093" cy="1546463"/>
          </a:xfrm>
        </p:grpSpPr>
        <p:sp>
          <p:nvSpPr>
            <p:cNvPr id="97" name="TextBox 96">
              <a:extLst>
                <a:ext uri="{FF2B5EF4-FFF2-40B4-BE49-F238E27FC236}">
                  <a16:creationId xmlns:a16="http://schemas.microsoft.com/office/drawing/2014/main" id="{FFC49AEA-2A8F-250C-A86A-A7751D9706C3}"/>
                </a:ext>
              </a:extLst>
            </p:cNvPr>
            <p:cNvSpPr txBox="1"/>
            <p:nvPr/>
          </p:nvSpPr>
          <p:spPr>
            <a:xfrm>
              <a:off x="747488" y="1856764"/>
              <a:ext cx="2535669" cy="215444"/>
            </a:xfrm>
            <a:prstGeom prst="rect">
              <a:avLst/>
            </a:prstGeom>
            <a:noFill/>
          </p:spPr>
          <p:txBody>
            <a:bodyPr wrap="square" lIns="0" tIns="0" rIns="0" bIns="0" rtlCol="0">
              <a:spAutoFit/>
            </a:bodyPr>
            <a:lstStyle/>
            <a:p>
              <a:pPr>
                <a:lnSpc>
                  <a:spcPct val="200000"/>
                </a:lnSpc>
              </a:pPr>
              <a:r>
                <a:rPr lang="ko-KR" altLang="en-US" sz="700" dirty="0">
                  <a:latin typeface="+mn-ea"/>
                </a:rPr>
                <a:t>평가요소 </a:t>
              </a:r>
              <a:r>
                <a:rPr lang="en-US" altLang="ko-KR" sz="700" dirty="0">
                  <a:latin typeface="+mn-ea"/>
                </a:rPr>
                <a:t>: </a:t>
              </a:r>
              <a:r>
                <a:rPr lang="ko-KR" altLang="en-US" sz="700" dirty="0" err="1">
                  <a:latin typeface="+mn-ea"/>
                </a:rPr>
                <a:t>최종처리</a:t>
              </a:r>
              <a:endParaRPr lang="ko-KR" altLang="en-US" sz="700" dirty="0">
                <a:latin typeface="+mn-ea"/>
              </a:endParaRPr>
            </a:p>
          </p:txBody>
        </p:sp>
        <p:sp>
          <p:nvSpPr>
            <p:cNvPr id="103" name="직사각형 102"/>
            <p:cNvSpPr/>
            <p:nvPr/>
          </p:nvSpPr>
          <p:spPr>
            <a:xfrm>
              <a:off x="688608" y="2110564"/>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775673" y="2110565"/>
              <a:ext cx="684954" cy="129266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err="1">
                  <a:latin typeface="+mn-ea"/>
                </a:rPr>
                <a:t>업체실적</a:t>
              </a:r>
              <a:endParaRPr lang="en-US" altLang="ko-KR" sz="700" dirty="0">
                <a:latin typeface="+mn-ea"/>
              </a:endParaRPr>
            </a:p>
            <a:p>
              <a:pPr>
                <a:lnSpc>
                  <a:spcPct val="200000"/>
                </a:lnSpc>
              </a:pPr>
              <a:r>
                <a:rPr lang="ko-KR" altLang="en-US" sz="700" dirty="0" err="1">
                  <a:latin typeface="+mn-ea"/>
                </a:rPr>
                <a:t>당해용역</a:t>
              </a:r>
              <a:endParaRPr lang="en-US" altLang="ko-KR" sz="700" dirty="0">
                <a:latin typeface="+mn-ea"/>
              </a:endParaRPr>
            </a:p>
            <a:p>
              <a:pPr>
                <a:lnSpc>
                  <a:spcPct val="200000"/>
                </a:lnSpc>
              </a:pPr>
              <a:r>
                <a:rPr lang="ko-KR" altLang="en-US" sz="700" dirty="0">
                  <a:latin typeface="+mn-ea"/>
                </a:rPr>
                <a:t>평가등급</a:t>
              </a:r>
              <a:endParaRPr lang="en-US" altLang="ko-KR" sz="700" dirty="0">
                <a:latin typeface="+mn-ea"/>
              </a:endParaRPr>
            </a:p>
            <a:p>
              <a:pPr>
                <a:lnSpc>
                  <a:spcPct val="200000"/>
                </a:lnSpc>
              </a:pPr>
              <a:r>
                <a:rPr lang="ko-KR" altLang="en-US" sz="700" dirty="0">
                  <a:latin typeface="+mn-ea"/>
                </a:rPr>
                <a:t>배점</a:t>
              </a:r>
            </a:p>
          </p:txBody>
        </p:sp>
        <p:cxnSp>
          <p:nvCxnSpPr>
            <p:cNvPr id="110" name="직선 연결선 109">
              <a:extLst>
                <a:ext uri="{FF2B5EF4-FFF2-40B4-BE49-F238E27FC236}">
                  <a16:creationId xmlns:a16="http://schemas.microsoft.com/office/drawing/2014/main" id="{E9293055-D5CD-4B9E-7F64-64B2D2CA7A52}"/>
                </a:ext>
              </a:extLst>
            </p:cNvPr>
            <p:cNvCxnSpPr/>
            <p:nvPr/>
          </p:nvCxnSpPr>
          <p:spPr>
            <a:xfrm>
              <a:off x="686517" y="211056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688610" y="23253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1535046" y="2110565"/>
              <a:ext cx="1748112" cy="1292662"/>
            </a:xfrm>
            <a:prstGeom prst="rect">
              <a:avLst/>
            </a:prstGeom>
            <a:noFill/>
          </p:spPr>
          <p:txBody>
            <a:bodyPr wrap="square" lIns="0" tIns="0" rIns="0" bIns="0" rtlCol="0">
              <a:spAutoFit/>
            </a:bodyPr>
            <a:lstStyle/>
            <a:p>
              <a:pPr>
                <a:lnSpc>
                  <a:spcPct val="200000"/>
                </a:lnSpc>
              </a:pPr>
              <a:r>
                <a:rPr lang="ko-KR" altLang="en-US" sz="700" dirty="0">
                  <a:latin typeface="+mn-ea"/>
                </a:rPr>
                <a:t>요소</a:t>
              </a:r>
              <a:endParaRPr lang="en-US" altLang="ko-KR" sz="700" dirty="0">
                <a:latin typeface="+mn-ea"/>
              </a:endParaRPr>
            </a:p>
            <a:p>
              <a:pPr>
                <a:lnSpc>
                  <a:spcPct val="200000"/>
                </a:lnSpc>
              </a:pPr>
              <a:r>
                <a:rPr lang="ko-KR" altLang="en-US" sz="700" dirty="0">
                  <a:latin typeface="+mn-ea"/>
                </a:rPr>
                <a:t>건설폐기물</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a:t>
              </a:r>
            </a:p>
            <a:p>
              <a:pPr algn="r">
                <a:lnSpc>
                  <a:spcPct val="200000"/>
                </a:lnSpc>
              </a:pPr>
              <a:r>
                <a:rPr lang="en-US" altLang="ko-KR" sz="700" dirty="0">
                  <a:latin typeface="+mn-ea"/>
                </a:rPr>
                <a:t>00</a:t>
              </a:r>
            </a:p>
          </p:txBody>
        </p:sp>
        <p:cxnSp>
          <p:nvCxnSpPr>
            <p:cNvPr id="118" name="직선 연결선 117">
              <a:extLst>
                <a:ext uri="{FF2B5EF4-FFF2-40B4-BE49-F238E27FC236}">
                  <a16:creationId xmlns:a16="http://schemas.microsoft.com/office/drawing/2014/main" id="{E9293055-D5CD-4B9E-7F64-64B2D2CA7A52}"/>
                </a:ext>
              </a:extLst>
            </p:cNvPr>
            <p:cNvCxnSpPr/>
            <p:nvPr/>
          </p:nvCxnSpPr>
          <p:spPr>
            <a:xfrm>
              <a:off x="688610" y="2972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6" name="직선 연결선 125">
              <a:extLst>
                <a:ext uri="{FF2B5EF4-FFF2-40B4-BE49-F238E27FC236}">
                  <a16:creationId xmlns:a16="http://schemas.microsoft.com/office/drawing/2014/main" id="{E9293055-D5CD-4B9E-7F64-64B2D2CA7A52}"/>
                </a:ext>
              </a:extLst>
            </p:cNvPr>
            <p:cNvCxnSpPr/>
            <p:nvPr/>
          </p:nvCxnSpPr>
          <p:spPr>
            <a:xfrm>
              <a:off x="688610" y="2756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688610" y="2540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688610" y="31925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688610" y="3397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0" name="TextBox 159">
            <a:extLst>
              <a:ext uri="{FF2B5EF4-FFF2-40B4-BE49-F238E27FC236}">
                <a16:creationId xmlns:a16="http://schemas.microsoft.com/office/drawing/2014/main" id="{FFC49AEA-2A8F-250C-A86A-A7751D9706C3}"/>
              </a:ext>
            </a:extLst>
          </p:cNvPr>
          <p:cNvSpPr txBox="1"/>
          <p:nvPr/>
        </p:nvSpPr>
        <p:spPr>
          <a:xfrm>
            <a:off x="3883823" y="151386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2-1. </a:t>
            </a:r>
            <a:r>
              <a:rPr lang="ko-KR" altLang="en-US" sz="700" dirty="0">
                <a:latin typeface="+mn-ea"/>
              </a:rPr>
              <a:t>기술능력</a:t>
            </a:r>
            <a:r>
              <a:rPr lang="en-US" altLang="ko-KR" sz="700" dirty="0">
                <a:latin typeface="+mn-ea"/>
              </a:rPr>
              <a:t>/</a:t>
            </a:r>
            <a:r>
              <a:rPr lang="ko-KR" altLang="en-US" sz="700" dirty="0">
                <a:latin typeface="+mn-ea"/>
              </a:rPr>
              <a:t>수행능력</a:t>
            </a:r>
          </a:p>
        </p:txBody>
      </p:sp>
      <p:grpSp>
        <p:nvGrpSpPr>
          <p:cNvPr id="161" name="그룹 160"/>
          <p:cNvGrpSpPr/>
          <p:nvPr/>
        </p:nvGrpSpPr>
        <p:grpSpPr>
          <a:xfrm flipV="1">
            <a:off x="6245910" y="1627197"/>
            <a:ext cx="94010" cy="47005"/>
            <a:chOff x="6812560" y="3297172"/>
            <a:chExt cx="94010" cy="47005"/>
          </a:xfrm>
        </p:grpSpPr>
        <p:cxnSp>
          <p:nvCxnSpPr>
            <p:cNvPr id="162" name="직선 연결선 16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3" name="직선 연결선 16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64" name="직선 연결선 163">
            <a:extLst>
              <a:ext uri="{FF2B5EF4-FFF2-40B4-BE49-F238E27FC236}">
                <a16:creationId xmlns:a16="http://schemas.microsoft.com/office/drawing/2014/main" id="{E9293055-D5CD-4B9E-7F64-64B2D2CA7A52}"/>
              </a:ext>
            </a:extLst>
          </p:cNvPr>
          <p:cNvCxnSpPr/>
          <p:nvPr/>
        </p:nvCxnSpPr>
        <p:spPr>
          <a:xfrm>
            <a:off x="3797076" y="180067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6" name="직사각형 185"/>
          <p:cNvSpPr/>
          <p:nvPr/>
        </p:nvSpPr>
        <p:spPr>
          <a:xfrm>
            <a:off x="3832355" y="2099610"/>
            <a:ext cx="1639886" cy="52992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9418" y="2099611"/>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188" name="TextBox 187">
            <a:extLst>
              <a:ext uri="{FF2B5EF4-FFF2-40B4-BE49-F238E27FC236}">
                <a16:creationId xmlns:a16="http://schemas.microsoft.com/office/drawing/2014/main" id="{FFC49AEA-2A8F-250C-A86A-A7751D9706C3}"/>
              </a:ext>
            </a:extLst>
          </p:cNvPr>
          <p:cNvSpPr txBox="1"/>
          <p:nvPr/>
        </p:nvSpPr>
        <p:spPr>
          <a:xfrm>
            <a:off x="5647460" y="209961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89" name="직선 연결선 188">
            <a:extLst>
              <a:ext uri="{FF2B5EF4-FFF2-40B4-BE49-F238E27FC236}">
                <a16:creationId xmlns:a16="http://schemas.microsoft.com/office/drawing/2014/main" id="{E9293055-D5CD-4B9E-7F64-64B2D2CA7A52}"/>
              </a:ext>
            </a:extLst>
          </p:cNvPr>
          <p:cNvCxnSpPr/>
          <p:nvPr/>
        </p:nvCxnSpPr>
        <p:spPr>
          <a:xfrm>
            <a:off x="3830263" y="209961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3832356" y="23143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2" name="TextBox 191">
            <a:extLst>
              <a:ext uri="{FF2B5EF4-FFF2-40B4-BE49-F238E27FC236}">
                <a16:creationId xmlns:a16="http://schemas.microsoft.com/office/drawing/2014/main" id="{FFC49AEA-2A8F-250C-A86A-A7751D9706C3}"/>
              </a:ext>
            </a:extLst>
          </p:cNvPr>
          <p:cNvSpPr txBox="1"/>
          <p:nvPr/>
        </p:nvSpPr>
        <p:spPr>
          <a:xfrm>
            <a:off x="6247367" y="2099611"/>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3919418" y="2369538"/>
            <a:ext cx="1480199" cy="215444"/>
          </a:xfrm>
          <a:prstGeom prst="rect">
            <a:avLst/>
          </a:prstGeom>
          <a:noFill/>
        </p:spPr>
        <p:txBody>
          <a:bodyPr wrap="square" lIns="0" tIns="0" rIns="0" bIns="0" rtlCol="0">
            <a:spAutoFit/>
          </a:bodyPr>
          <a:lstStyle/>
          <a:p>
            <a:r>
              <a:rPr lang="ko-KR" altLang="en-US" sz="700" dirty="0">
                <a:latin typeface="+mn-ea"/>
              </a:rPr>
              <a:t>법정 요건 충족 </a:t>
            </a:r>
            <a:r>
              <a:rPr lang="en-US" altLang="ko-KR" sz="700" dirty="0">
                <a:latin typeface="+mn-ea"/>
              </a:rPr>
              <a:t>: 4</a:t>
            </a:r>
          </a:p>
          <a:p>
            <a:r>
              <a:rPr lang="ko-KR" altLang="en-US" sz="700" dirty="0">
                <a:latin typeface="+mn-ea"/>
              </a:rPr>
              <a:t>법정 요건 </a:t>
            </a:r>
            <a:r>
              <a:rPr lang="ko-KR" altLang="en-US" sz="700" dirty="0" err="1">
                <a:latin typeface="+mn-ea"/>
              </a:rPr>
              <a:t>미충족</a:t>
            </a:r>
            <a:r>
              <a:rPr lang="ko-KR" altLang="en-US" sz="700" dirty="0">
                <a:latin typeface="+mn-ea"/>
              </a:rPr>
              <a:t> </a:t>
            </a:r>
            <a:r>
              <a:rPr lang="en-US" altLang="ko-KR" sz="700" dirty="0">
                <a:latin typeface="+mn-ea"/>
              </a:rPr>
              <a:t>: 0.2</a:t>
            </a:r>
          </a:p>
        </p:txBody>
      </p:sp>
      <p:sp>
        <p:nvSpPr>
          <p:cNvPr id="194" name="TextBox 193">
            <a:extLst>
              <a:ext uri="{FF2B5EF4-FFF2-40B4-BE49-F238E27FC236}">
                <a16:creationId xmlns:a16="http://schemas.microsoft.com/office/drawing/2014/main" id="{FFC49AEA-2A8F-250C-A86A-A7751D9706C3}"/>
              </a:ext>
            </a:extLst>
          </p:cNvPr>
          <p:cNvSpPr txBox="1"/>
          <p:nvPr/>
        </p:nvSpPr>
        <p:spPr>
          <a:xfrm>
            <a:off x="5708373" y="2423399"/>
            <a:ext cx="118623" cy="107722"/>
          </a:xfrm>
          <a:prstGeom prst="rect">
            <a:avLst/>
          </a:prstGeom>
          <a:noFill/>
        </p:spPr>
        <p:txBody>
          <a:bodyPr wrap="none" lIns="0" tIns="0" rIns="0" bIns="0" rtlCol="0">
            <a:spAutoFit/>
          </a:bodyPr>
          <a:lstStyle/>
          <a:p>
            <a:pPr algn="r"/>
            <a:r>
              <a:rPr lang="en-US" altLang="ko-KR" sz="700" dirty="0">
                <a:latin typeface="+mn-ea"/>
              </a:rPr>
              <a:t>4.0</a:t>
            </a:r>
            <a:endParaRPr lang="ko-KR" altLang="en-US" sz="700" dirty="0">
              <a:latin typeface="+mn-ea"/>
            </a:endParaRPr>
          </a:p>
        </p:txBody>
      </p:sp>
      <p:sp>
        <p:nvSpPr>
          <p:cNvPr id="195" name="TextBox 194">
            <a:extLst>
              <a:ext uri="{FF2B5EF4-FFF2-40B4-BE49-F238E27FC236}">
                <a16:creationId xmlns:a16="http://schemas.microsoft.com/office/drawing/2014/main" id="{FFC49AEA-2A8F-250C-A86A-A7751D9706C3}"/>
              </a:ext>
            </a:extLst>
          </p:cNvPr>
          <p:cNvSpPr txBox="1"/>
          <p:nvPr/>
        </p:nvSpPr>
        <p:spPr>
          <a:xfrm>
            <a:off x="6390033" y="2423399"/>
            <a:ext cx="36870" cy="107722"/>
          </a:xfrm>
          <a:prstGeom prst="rect">
            <a:avLst/>
          </a:prstGeom>
          <a:noFill/>
        </p:spPr>
        <p:txBody>
          <a:bodyPr wrap="none" lIns="0" tIns="0" rIns="0" bIns="0" rtlCol="0">
            <a:spAutoFit/>
          </a:bodyPr>
          <a:lstStyle/>
          <a:p>
            <a:pPr algn="r"/>
            <a:r>
              <a:rPr lang="en-US" altLang="ko-KR" sz="700" dirty="0">
                <a:latin typeface="+mn-ea"/>
              </a:rPr>
              <a:t>-</a:t>
            </a:r>
            <a:endParaRPr lang="ko-KR" altLang="en-US" sz="700" dirty="0">
              <a:latin typeface="+mn-ea"/>
            </a:endParaRPr>
          </a:p>
        </p:txBody>
      </p:sp>
      <p:sp>
        <p:nvSpPr>
          <p:cNvPr id="211" name="TextBox 210">
            <a:extLst>
              <a:ext uri="{FF2B5EF4-FFF2-40B4-BE49-F238E27FC236}">
                <a16:creationId xmlns:a16="http://schemas.microsoft.com/office/drawing/2014/main" id="{FFC49AEA-2A8F-250C-A86A-A7751D9706C3}"/>
              </a:ext>
            </a:extLst>
          </p:cNvPr>
          <p:cNvSpPr txBox="1"/>
          <p:nvPr/>
        </p:nvSpPr>
        <p:spPr>
          <a:xfrm>
            <a:off x="3891234" y="182313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기술인력</a:t>
            </a:r>
            <a:r>
              <a:rPr lang="en-US" altLang="ko-KR" sz="700" dirty="0">
                <a:latin typeface="+mn-ea"/>
              </a:rPr>
              <a:t>,</a:t>
            </a:r>
            <a:r>
              <a:rPr lang="ko-KR" altLang="en-US" sz="700" dirty="0">
                <a:latin typeface="+mn-ea"/>
              </a:rPr>
              <a:t>시설</a:t>
            </a:r>
            <a:r>
              <a:rPr lang="en-US" altLang="ko-KR" sz="700" dirty="0">
                <a:latin typeface="+mn-ea"/>
              </a:rPr>
              <a:t>,</a:t>
            </a:r>
            <a:r>
              <a:rPr lang="ko-KR" altLang="en-US" sz="700" dirty="0">
                <a:latin typeface="+mn-ea"/>
              </a:rPr>
              <a:t>장비 확보</a:t>
            </a:r>
            <a:r>
              <a:rPr lang="en-US" altLang="ko-KR" sz="700" dirty="0">
                <a:latin typeface="+mn-ea"/>
              </a:rPr>
              <a:t>(4)</a:t>
            </a:r>
          </a:p>
        </p:txBody>
      </p:sp>
      <p:cxnSp>
        <p:nvCxnSpPr>
          <p:cNvPr id="212" name="직선 연결선 211">
            <a:extLst>
              <a:ext uri="{FF2B5EF4-FFF2-40B4-BE49-F238E27FC236}">
                <a16:creationId xmlns:a16="http://schemas.microsoft.com/office/drawing/2014/main" id="{E9293055-D5CD-4B9E-7F64-64B2D2CA7A52}"/>
              </a:ext>
            </a:extLst>
          </p:cNvPr>
          <p:cNvCxnSpPr/>
          <p:nvPr/>
        </p:nvCxnSpPr>
        <p:spPr>
          <a:xfrm>
            <a:off x="3832356" y="26295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6" name="직사각형 215"/>
          <p:cNvSpPr/>
          <p:nvPr/>
        </p:nvSpPr>
        <p:spPr>
          <a:xfrm>
            <a:off x="3832355" y="2949627"/>
            <a:ext cx="1639886" cy="27034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7" name="TextBox 216">
            <a:extLst>
              <a:ext uri="{FF2B5EF4-FFF2-40B4-BE49-F238E27FC236}">
                <a16:creationId xmlns:a16="http://schemas.microsoft.com/office/drawing/2014/main" id="{FFC49AEA-2A8F-250C-A86A-A7751D9706C3}"/>
              </a:ext>
            </a:extLst>
          </p:cNvPr>
          <p:cNvSpPr txBox="1"/>
          <p:nvPr/>
        </p:nvSpPr>
        <p:spPr>
          <a:xfrm>
            <a:off x="3919418" y="2949629"/>
            <a:ext cx="1480199" cy="181140"/>
          </a:xfrm>
          <a:prstGeom prst="rect">
            <a:avLst/>
          </a:prstGeom>
          <a:noFill/>
        </p:spPr>
        <p:txBody>
          <a:bodyPr wrap="square" lIns="0" tIns="0" rIns="0" bIns="0" rtlCol="0">
            <a:spAutoFit/>
          </a:bodyPr>
          <a:lstStyle/>
          <a:p>
            <a:pPr>
              <a:lnSpc>
                <a:spcPct val="200000"/>
              </a:lnSpc>
            </a:pPr>
            <a:r>
              <a:rPr lang="ko-KR" altLang="en-US" sz="700" dirty="0">
                <a:latin typeface="+mn-ea"/>
              </a:rPr>
              <a:t>등급</a:t>
            </a:r>
            <a:endParaRPr lang="en-US" altLang="ko-KR" sz="700" dirty="0">
              <a:latin typeface="+mn-ea"/>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5647460" y="294962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219" name="직선 연결선 218">
            <a:extLst>
              <a:ext uri="{FF2B5EF4-FFF2-40B4-BE49-F238E27FC236}">
                <a16:creationId xmlns:a16="http://schemas.microsoft.com/office/drawing/2014/main" id="{E9293055-D5CD-4B9E-7F64-64B2D2CA7A52}"/>
              </a:ext>
            </a:extLst>
          </p:cNvPr>
          <p:cNvCxnSpPr/>
          <p:nvPr/>
        </p:nvCxnSpPr>
        <p:spPr>
          <a:xfrm>
            <a:off x="3830263" y="294962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3832356" y="31643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1" name="TextBox 220">
            <a:extLst>
              <a:ext uri="{FF2B5EF4-FFF2-40B4-BE49-F238E27FC236}">
                <a16:creationId xmlns:a16="http://schemas.microsoft.com/office/drawing/2014/main" id="{FFC49AEA-2A8F-250C-A86A-A7751D9706C3}"/>
              </a:ext>
            </a:extLst>
          </p:cNvPr>
          <p:cNvSpPr txBox="1"/>
          <p:nvPr/>
        </p:nvSpPr>
        <p:spPr>
          <a:xfrm>
            <a:off x="6247367" y="2949629"/>
            <a:ext cx="179536" cy="181140"/>
          </a:xfrm>
          <a:prstGeom prst="rect">
            <a:avLst/>
          </a:prstGeom>
          <a:noFill/>
        </p:spPr>
        <p:txBody>
          <a:bodyPr wrap="none" lIns="0" tIns="0" rIns="0" bIns="0" rtlCol="0">
            <a:spAutoFit/>
          </a:bodyPr>
          <a:lstStyle/>
          <a:p>
            <a:pPr algn="r">
              <a:lnSpc>
                <a:spcPct val="200000"/>
              </a:lnSpc>
            </a:pPr>
            <a:r>
              <a:rPr lang="ko-KR" altLang="en-US" sz="700" dirty="0">
                <a:latin typeface="+mn-ea"/>
              </a:rPr>
              <a:t>평점</a:t>
            </a:r>
            <a:endParaRPr lang="en-US" altLang="ko-KR" sz="700" dirty="0">
              <a:latin typeface="+mn-ea"/>
            </a:endParaRPr>
          </a:p>
        </p:txBody>
      </p:sp>
      <p:sp>
        <p:nvSpPr>
          <p:cNvPr id="222" name="TextBox 221">
            <a:extLst>
              <a:ext uri="{FF2B5EF4-FFF2-40B4-BE49-F238E27FC236}">
                <a16:creationId xmlns:a16="http://schemas.microsoft.com/office/drawing/2014/main" id="{FFC49AEA-2A8F-250C-A86A-A7751D9706C3}"/>
              </a:ext>
            </a:extLst>
          </p:cNvPr>
          <p:cNvSpPr txBox="1"/>
          <p:nvPr/>
        </p:nvSpPr>
        <p:spPr>
          <a:xfrm>
            <a:off x="3919418" y="3207258"/>
            <a:ext cx="1480199" cy="538609"/>
          </a:xfrm>
          <a:prstGeom prst="rect">
            <a:avLst/>
          </a:prstGeom>
          <a:noFill/>
        </p:spPr>
        <p:txBody>
          <a:bodyPr wrap="square" lIns="0" tIns="0" rIns="0" bIns="0" rtlCol="0">
            <a:spAutoFit/>
          </a:bodyPr>
          <a:lstStyle/>
          <a:p>
            <a:r>
              <a:rPr lang="ko-KR" altLang="en-US" sz="700" dirty="0" err="1">
                <a:latin typeface="+mn-ea"/>
              </a:rPr>
              <a:t>수집운반차량총적재량대비당해용역</a:t>
            </a:r>
            <a:r>
              <a:rPr lang="en-US" altLang="ko-KR" sz="700" dirty="0">
                <a:latin typeface="+mn-ea"/>
              </a:rPr>
              <a:t>1</a:t>
            </a:r>
            <a:r>
              <a:rPr lang="ko-KR" altLang="en-US" sz="700" dirty="0">
                <a:latin typeface="+mn-ea"/>
              </a:rPr>
              <a:t>일평균처리물량</a:t>
            </a:r>
            <a:r>
              <a:rPr lang="en-US" altLang="ko-KR" sz="700" dirty="0">
                <a:latin typeface="+mn-ea"/>
              </a:rPr>
              <a:t>(2)</a:t>
            </a:r>
          </a:p>
          <a:p>
            <a:r>
              <a:rPr lang="en-US" altLang="ko-KR" sz="700" dirty="0">
                <a:latin typeface="+mn-ea"/>
              </a:rPr>
              <a:t>- A) 100%</a:t>
            </a:r>
            <a:r>
              <a:rPr lang="ko-KR" altLang="en-US" sz="700" dirty="0">
                <a:latin typeface="+mn-ea"/>
              </a:rPr>
              <a:t>이상</a:t>
            </a:r>
          </a:p>
          <a:p>
            <a:r>
              <a:rPr lang="en-US" altLang="ko-KR" sz="700" dirty="0">
                <a:latin typeface="+mn-ea"/>
              </a:rPr>
              <a:t>- B) 50%</a:t>
            </a:r>
            <a:r>
              <a:rPr lang="ko-KR" altLang="en-US" sz="700" dirty="0">
                <a:latin typeface="+mn-ea"/>
              </a:rPr>
              <a:t>이상 </a:t>
            </a:r>
            <a:r>
              <a:rPr lang="en-US" altLang="ko-KR" sz="700" dirty="0">
                <a:latin typeface="+mn-ea"/>
              </a:rPr>
              <a:t>~ 100%</a:t>
            </a:r>
            <a:r>
              <a:rPr lang="ko-KR" altLang="en-US" sz="700" dirty="0">
                <a:latin typeface="+mn-ea"/>
              </a:rPr>
              <a:t>미만</a:t>
            </a:r>
          </a:p>
          <a:p>
            <a:r>
              <a:rPr lang="en-US" altLang="ko-KR" sz="700" dirty="0">
                <a:latin typeface="+mn-ea"/>
              </a:rPr>
              <a:t>- C) 50%</a:t>
            </a:r>
            <a:r>
              <a:rPr lang="ko-KR" altLang="en-US" sz="700" dirty="0">
                <a:latin typeface="+mn-ea"/>
              </a:rPr>
              <a:t>미만</a:t>
            </a:r>
          </a:p>
        </p:txBody>
      </p:sp>
      <p:sp>
        <p:nvSpPr>
          <p:cNvPr id="223" name="TextBox 222">
            <a:extLst>
              <a:ext uri="{FF2B5EF4-FFF2-40B4-BE49-F238E27FC236}">
                <a16:creationId xmlns:a16="http://schemas.microsoft.com/office/drawing/2014/main" id="{FFC49AEA-2A8F-250C-A86A-A7751D9706C3}"/>
              </a:ext>
            </a:extLst>
          </p:cNvPr>
          <p:cNvSpPr txBox="1"/>
          <p:nvPr/>
        </p:nvSpPr>
        <p:spPr>
          <a:xfrm>
            <a:off x="5708309" y="3422702"/>
            <a:ext cx="118687" cy="323165"/>
          </a:xfrm>
          <a:prstGeom prst="rect">
            <a:avLst/>
          </a:prstGeom>
          <a:noFill/>
        </p:spPr>
        <p:txBody>
          <a:bodyPr wrap="none" lIns="0" tIns="0" rIns="0" bIns="0" rtlCol="0">
            <a:spAutoFit/>
          </a:bodyPr>
          <a:lstStyle/>
          <a:p>
            <a:pPr algn="r"/>
            <a:r>
              <a:rPr lang="en-US" altLang="ko-KR" sz="700" dirty="0">
                <a:latin typeface="+mn-ea"/>
              </a:rPr>
              <a:t>2.0</a:t>
            </a:r>
          </a:p>
          <a:p>
            <a:pPr algn="r"/>
            <a:r>
              <a:rPr lang="en-US" altLang="ko-KR" sz="700" dirty="0">
                <a:latin typeface="+mn-ea"/>
              </a:rPr>
              <a:t>1.6</a:t>
            </a:r>
          </a:p>
          <a:p>
            <a:pPr algn="r"/>
            <a:r>
              <a:rPr lang="en-US" altLang="ko-KR" sz="700" dirty="0">
                <a:latin typeface="+mn-ea"/>
              </a:rPr>
              <a:t>1.2</a:t>
            </a:r>
            <a:endParaRPr lang="ko-KR" altLang="en-US" sz="700" dirty="0">
              <a:latin typeface="+mn-ea"/>
            </a:endParaRPr>
          </a:p>
        </p:txBody>
      </p:sp>
      <p:sp>
        <p:nvSpPr>
          <p:cNvPr id="224" name="TextBox 223">
            <a:extLst>
              <a:ext uri="{FF2B5EF4-FFF2-40B4-BE49-F238E27FC236}">
                <a16:creationId xmlns:a16="http://schemas.microsoft.com/office/drawing/2014/main" id="{FFC49AEA-2A8F-250C-A86A-A7751D9706C3}"/>
              </a:ext>
            </a:extLst>
          </p:cNvPr>
          <p:cNvSpPr txBox="1"/>
          <p:nvPr/>
        </p:nvSpPr>
        <p:spPr>
          <a:xfrm>
            <a:off x="6389970" y="3422702"/>
            <a:ext cx="36933" cy="323165"/>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p>
          <a:p>
            <a:pPr algn="r"/>
            <a:r>
              <a:rPr lang="en-US" altLang="ko-KR" sz="700" dirty="0">
                <a:latin typeface="+mn-ea"/>
              </a:rPr>
              <a:t>-</a:t>
            </a:r>
            <a:endParaRPr lang="ko-KR" altLang="en-US" sz="700" dirty="0">
              <a:latin typeface="+mn-ea"/>
            </a:endParaRPr>
          </a:p>
        </p:txBody>
      </p:sp>
      <p:sp>
        <p:nvSpPr>
          <p:cNvPr id="225" name="TextBox 224">
            <a:extLst>
              <a:ext uri="{FF2B5EF4-FFF2-40B4-BE49-F238E27FC236}">
                <a16:creationId xmlns:a16="http://schemas.microsoft.com/office/drawing/2014/main" id="{FFC49AEA-2A8F-250C-A86A-A7751D9706C3}"/>
              </a:ext>
            </a:extLst>
          </p:cNvPr>
          <p:cNvSpPr txBox="1"/>
          <p:nvPr/>
        </p:nvSpPr>
        <p:spPr>
          <a:xfrm>
            <a:off x="3891234" y="2673154"/>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err="1">
                <a:latin typeface="+mn-ea"/>
              </a:rPr>
              <a:t>당해용역</a:t>
            </a:r>
            <a:r>
              <a:rPr lang="ko-KR" altLang="en-US" sz="700" dirty="0">
                <a:latin typeface="+mn-ea"/>
              </a:rPr>
              <a:t> </a:t>
            </a:r>
            <a:r>
              <a:rPr lang="ko-KR" altLang="en-US" sz="700" dirty="0" err="1">
                <a:latin typeface="+mn-ea"/>
              </a:rPr>
              <a:t>이행능력</a:t>
            </a:r>
            <a:r>
              <a:rPr lang="en-US" altLang="ko-KR" sz="700" dirty="0">
                <a:latin typeface="+mn-ea"/>
              </a:rPr>
              <a:t>(8)</a:t>
            </a:r>
          </a:p>
        </p:txBody>
      </p:sp>
      <p:cxnSp>
        <p:nvCxnSpPr>
          <p:cNvPr id="226" name="직선 연결선 225">
            <a:extLst>
              <a:ext uri="{FF2B5EF4-FFF2-40B4-BE49-F238E27FC236}">
                <a16:creationId xmlns:a16="http://schemas.microsoft.com/office/drawing/2014/main" id="{E9293055-D5CD-4B9E-7F64-64B2D2CA7A52}"/>
              </a:ext>
            </a:extLst>
          </p:cNvPr>
          <p:cNvCxnSpPr/>
          <p:nvPr/>
        </p:nvCxnSpPr>
        <p:spPr>
          <a:xfrm>
            <a:off x="3832356" y="37887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7" name="TextBox 226">
            <a:extLst>
              <a:ext uri="{FF2B5EF4-FFF2-40B4-BE49-F238E27FC236}">
                <a16:creationId xmlns:a16="http://schemas.microsoft.com/office/drawing/2014/main" id="{FFC49AEA-2A8F-250C-A86A-A7751D9706C3}"/>
              </a:ext>
            </a:extLst>
          </p:cNvPr>
          <p:cNvSpPr txBox="1"/>
          <p:nvPr/>
        </p:nvSpPr>
        <p:spPr>
          <a:xfrm>
            <a:off x="3919418" y="3831645"/>
            <a:ext cx="1480199" cy="646331"/>
          </a:xfrm>
          <a:prstGeom prst="rect">
            <a:avLst/>
          </a:prstGeom>
          <a:noFill/>
        </p:spPr>
        <p:txBody>
          <a:bodyPr wrap="square" lIns="0" tIns="0" rIns="0" bIns="0" rtlCol="0">
            <a:spAutoFit/>
          </a:bodyPr>
          <a:lstStyle/>
          <a:p>
            <a:r>
              <a:rPr lang="ko-KR" altLang="en-US" sz="700" dirty="0">
                <a:latin typeface="+mn-ea"/>
              </a:rPr>
              <a:t>중간재활용처리</a:t>
            </a:r>
            <a:r>
              <a:rPr lang="en-US" altLang="ko-KR" sz="700" dirty="0">
                <a:latin typeface="+mn-ea"/>
              </a:rPr>
              <a:t>(4)</a:t>
            </a:r>
          </a:p>
          <a:p>
            <a:r>
              <a:rPr lang="en-US" altLang="ko-KR" sz="700" dirty="0">
                <a:latin typeface="+mn-ea"/>
              </a:rPr>
              <a:t>- 1</a:t>
            </a:r>
            <a:r>
              <a:rPr lang="ko-KR" altLang="en-US" sz="700" dirty="0" err="1">
                <a:latin typeface="+mn-ea"/>
              </a:rPr>
              <a:t>일처리용량대비당해용역</a:t>
            </a:r>
            <a:r>
              <a:rPr lang="en-US" altLang="ko-KR" sz="700" dirty="0">
                <a:latin typeface="+mn-ea"/>
              </a:rPr>
              <a:t>1</a:t>
            </a:r>
            <a:r>
              <a:rPr lang="ko-KR" altLang="en-US" sz="700" dirty="0">
                <a:latin typeface="+mn-ea"/>
              </a:rPr>
              <a:t>일평균처리량</a:t>
            </a:r>
            <a:r>
              <a:rPr lang="en-US" altLang="ko-KR" sz="700" dirty="0">
                <a:latin typeface="+mn-ea"/>
              </a:rPr>
              <a:t>(2)</a:t>
            </a:r>
          </a:p>
          <a:p>
            <a:r>
              <a:rPr lang="en-US" altLang="ko-KR" sz="700" dirty="0">
                <a:latin typeface="+mn-ea"/>
              </a:rPr>
              <a:t>    - A) 100%</a:t>
            </a:r>
            <a:r>
              <a:rPr lang="ko-KR" altLang="en-US" sz="700" dirty="0">
                <a:latin typeface="+mn-ea"/>
              </a:rPr>
              <a:t>이상</a:t>
            </a:r>
          </a:p>
          <a:p>
            <a:r>
              <a:rPr lang="en-US" altLang="ko-KR" sz="700" dirty="0">
                <a:latin typeface="+mn-ea"/>
              </a:rPr>
              <a:t>    - B) 50%</a:t>
            </a:r>
            <a:r>
              <a:rPr lang="ko-KR" altLang="en-US" sz="700" dirty="0">
                <a:latin typeface="+mn-ea"/>
              </a:rPr>
              <a:t>이상 </a:t>
            </a:r>
            <a:r>
              <a:rPr lang="en-US" altLang="ko-KR" sz="700" dirty="0">
                <a:latin typeface="+mn-ea"/>
              </a:rPr>
              <a:t>~ 100%</a:t>
            </a:r>
            <a:r>
              <a:rPr lang="ko-KR" altLang="en-US" sz="700" dirty="0">
                <a:latin typeface="+mn-ea"/>
              </a:rPr>
              <a:t>미만</a:t>
            </a:r>
          </a:p>
          <a:p>
            <a:r>
              <a:rPr lang="en-US" altLang="ko-KR" sz="700" dirty="0">
                <a:latin typeface="+mn-ea"/>
              </a:rPr>
              <a:t>    - C) 50%</a:t>
            </a:r>
            <a:r>
              <a:rPr lang="ko-KR" altLang="en-US" sz="700" dirty="0">
                <a:latin typeface="+mn-ea"/>
              </a:rPr>
              <a:t>미만</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5708309" y="4154811"/>
            <a:ext cx="118687" cy="323165"/>
          </a:xfrm>
          <a:prstGeom prst="rect">
            <a:avLst/>
          </a:prstGeom>
          <a:noFill/>
        </p:spPr>
        <p:txBody>
          <a:bodyPr wrap="none" lIns="0" tIns="0" rIns="0" bIns="0" rtlCol="0">
            <a:spAutoFit/>
          </a:bodyPr>
          <a:lstStyle/>
          <a:p>
            <a:pPr algn="r"/>
            <a:r>
              <a:rPr lang="en-US" altLang="ko-KR" sz="700" dirty="0">
                <a:latin typeface="+mn-ea"/>
              </a:rPr>
              <a:t>2.0</a:t>
            </a:r>
          </a:p>
          <a:p>
            <a:pPr algn="r"/>
            <a:r>
              <a:rPr lang="en-US" altLang="ko-KR" sz="700" dirty="0">
                <a:latin typeface="+mn-ea"/>
              </a:rPr>
              <a:t>1.6</a:t>
            </a:r>
          </a:p>
          <a:p>
            <a:pPr algn="r"/>
            <a:r>
              <a:rPr lang="en-US" altLang="ko-KR" sz="700" dirty="0">
                <a:latin typeface="+mn-ea"/>
              </a:rPr>
              <a:t>1.2</a:t>
            </a:r>
            <a:endParaRPr lang="ko-KR" altLang="en-US" sz="700" dirty="0">
              <a:latin typeface="+mn-ea"/>
            </a:endParaRPr>
          </a:p>
        </p:txBody>
      </p:sp>
      <p:sp>
        <p:nvSpPr>
          <p:cNvPr id="229" name="TextBox 228">
            <a:extLst>
              <a:ext uri="{FF2B5EF4-FFF2-40B4-BE49-F238E27FC236}">
                <a16:creationId xmlns:a16="http://schemas.microsoft.com/office/drawing/2014/main" id="{FFC49AEA-2A8F-250C-A86A-A7751D9706C3}"/>
              </a:ext>
            </a:extLst>
          </p:cNvPr>
          <p:cNvSpPr txBox="1"/>
          <p:nvPr/>
        </p:nvSpPr>
        <p:spPr>
          <a:xfrm>
            <a:off x="6389970" y="4154811"/>
            <a:ext cx="36933" cy="323165"/>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p>
          <a:p>
            <a:pPr algn="r"/>
            <a:r>
              <a:rPr lang="en-US" altLang="ko-KR" sz="700" dirty="0">
                <a:latin typeface="+mn-ea"/>
              </a:rPr>
              <a:t>-</a:t>
            </a:r>
            <a:endParaRPr lang="ko-KR" altLang="en-US" sz="700" dirty="0">
              <a:latin typeface="+mn-ea"/>
            </a:endParaRPr>
          </a:p>
        </p:txBody>
      </p:sp>
      <p:sp>
        <p:nvSpPr>
          <p:cNvPr id="231" name="TextBox 230">
            <a:extLst>
              <a:ext uri="{FF2B5EF4-FFF2-40B4-BE49-F238E27FC236}">
                <a16:creationId xmlns:a16="http://schemas.microsoft.com/office/drawing/2014/main" id="{FFC49AEA-2A8F-250C-A86A-A7751D9706C3}"/>
              </a:ext>
            </a:extLst>
          </p:cNvPr>
          <p:cNvSpPr txBox="1"/>
          <p:nvPr/>
        </p:nvSpPr>
        <p:spPr>
          <a:xfrm>
            <a:off x="3919418" y="4563754"/>
            <a:ext cx="1480199" cy="323165"/>
          </a:xfrm>
          <a:prstGeom prst="rect">
            <a:avLst/>
          </a:prstGeom>
          <a:noFill/>
        </p:spPr>
        <p:txBody>
          <a:bodyPr wrap="square" lIns="0" tIns="0" rIns="0" bIns="0" rtlCol="0">
            <a:spAutoFit/>
          </a:bodyPr>
          <a:lstStyle/>
          <a:p>
            <a:r>
              <a:rPr lang="en-US" altLang="ko-KR" sz="700" dirty="0">
                <a:latin typeface="+mn-ea"/>
              </a:rPr>
              <a:t>- </a:t>
            </a:r>
            <a:r>
              <a:rPr lang="ko-KR" altLang="en-US" sz="700" dirty="0">
                <a:latin typeface="+mn-ea"/>
              </a:rPr>
              <a:t>순환골재 품질인증</a:t>
            </a:r>
            <a:r>
              <a:rPr lang="en-US" altLang="ko-KR" sz="700" dirty="0">
                <a:latin typeface="+mn-ea"/>
              </a:rPr>
              <a:t>(2)</a:t>
            </a:r>
          </a:p>
          <a:p>
            <a:r>
              <a:rPr lang="en-US" altLang="ko-KR" sz="700" dirty="0">
                <a:latin typeface="+mn-ea"/>
              </a:rPr>
              <a:t>    - A) </a:t>
            </a:r>
            <a:r>
              <a:rPr lang="ko-KR" altLang="en-US" sz="700" dirty="0">
                <a:latin typeface="+mn-ea"/>
              </a:rPr>
              <a:t>품질인증</a:t>
            </a:r>
          </a:p>
          <a:p>
            <a:r>
              <a:rPr lang="en-US" altLang="ko-KR" sz="700" dirty="0">
                <a:latin typeface="+mn-ea"/>
              </a:rPr>
              <a:t>    - B) </a:t>
            </a:r>
            <a:r>
              <a:rPr lang="ko-KR" altLang="en-US" sz="700" dirty="0" err="1">
                <a:latin typeface="+mn-ea"/>
              </a:rPr>
              <a:t>기본배점</a:t>
            </a:r>
            <a:endParaRPr lang="ko-KR" altLang="en-US" sz="700" dirty="0">
              <a:latin typeface="+mn-ea"/>
            </a:endParaRPr>
          </a:p>
        </p:txBody>
      </p:sp>
      <p:sp>
        <p:nvSpPr>
          <p:cNvPr id="232" name="TextBox 231">
            <a:extLst>
              <a:ext uri="{FF2B5EF4-FFF2-40B4-BE49-F238E27FC236}">
                <a16:creationId xmlns:a16="http://schemas.microsoft.com/office/drawing/2014/main" id="{FFC49AEA-2A8F-250C-A86A-A7751D9706C3}"/>
              </a:ext>
            </a:extLst>
          </p:cNvPr>
          <p:cNvSpPr txBox="1"/>
          <p:nvPr/>
        </p:nvSpPr>
        <p:spPr>
          <a:xfrm>
            <a:off x="5708309" y="4671475"/>
            <a:ext cx="118687" cy="215444"/>
          </a:xfrm>
          <a:prstGeom prst="rect">
            <a:avLst/>
          </a:prstGeom>
          <a:noFill/>
        </p:spPr>
        <p:txBody>
          <a:bodyPr wrap="none" lIns="0" tIns="0" rIns="0" bIns="0" rtlCol="0">
            <a:spAutoFit/>
          </a:bodyPr>
          <a:lstStyle/>
          <a:p>
            <a:pPr algn="r"/>
            <a:r>
              <a:rPr lang="en-US" altLang="ko-KR" sz="700" dirty="0">
                <a:latin typeface="+mn-ea"/>
              </a:rPr>
              <a:t>0.2</a:t>
            </a:r>
          </a:p>
          <a:p>
            <a:pPr algn="r"/>
            <a:r>
              <a:rPr lang="en-US" altLang="ko-KR" sz="700" dirty="0">
                <a:latin typeface="+mn-ea"/>
              </a:rPr>
              <a:t>1.8</a:t>
            </a:r>
            <a:endParaRPr lang="ko-KR" altLang="en-US" sz="700" dirty="0">
              <a:latin typeface="+mn-ea"/>
            </a:endParaRPr>
          </a:p>
        </p:txBody>
      </p:sp>
      <p:sp>
        <p:nvSpPr>
          <p:cNvPr id="233" name="TextBox 232">
            <a:extLst>
              <a:ext uri="{FF2B5EF4-FFF2-40B4-BE49-F238E27FC236}">
                <a16:creationId xmlns:a16="http://schemas.microsoft.com/office/drawing/2014/main" id="{FFC49AEA-2A8F-250C-A86A-A7751D9706C3}"/>
              </a:ext>
            </a:extLst>
          </p:cNvPr>
          <p:cNvSpPr txBox="1"/>
          <p:nvPr/>
        </p:nvSpPr>
        <p:spPr>
          <a:xfrm>
            <a:off x="6390033" y="4671475"/>
            <a:ext cx="36870" cy="215444"/>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endParaRPr lang="ko-KR" altLang="en-US" sz="700" dirty="0">
              <a:latin typeface="+mn-ea"/>
            </a:endParaRPr>
          </a:p>
        </p:txBody>
      </p:sp>
      <p:cxnSp>
        <p:nvCxnSpPr>
          <p:cNvPr id="234" name="직선 연결선 233">
            <a:extLst>
              <a:ext uri="{FF2B5EF4-FFF2-40B4-BE49-F238E27FC236}">
                <a16:creationId xmlns:a16="http://schemas.microsoft.com/office/drawing/2014/main" id="{E9293055-D5CD-4B9E-7F64-64B2D2CA7A52}"/>
              </a:ext>
            </a:extLst>
          </p:cNvPr>
          <p:cNvCxnSpPr/>
          <p:nvPr/>
        </p:nvCxnSpPr>
        <p:spPr>
          <a:xfrm>
            <a:off x="3832356" y="492094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5" name="TextBox 234">
            <a:extLst>
              <a:ext uri="{FF2B5EF4-FFF2-40B4-BE49-F238E27FC236}">
                <a16:creationId xmlns:a16="http://schemas.microsoft.com/office/drawing/2014/main" id="{FFC49AEA-2A8F-250C-A86A-A7751D9706C3}"/>
              </a:ext>
            </a:extLst>
          </p:cNvPr>
          <p:cNvSpPr txBox="1"/>
          <p:nvPr/>
        </p:nvSpPr>
        <p:spPr>
          <a:xfrm>
            <a:off x="3919418" y="4963837"/>
            <a:ext cx="1480199" cy="646331"/>
          </a:xfrm>
          <a:prstGeom prst="rect">
            <a:avLst/>
          </a:prstGeom>
          <a:noFill/>
        </p:spPr>
        <p:txBody>
          <a:bodyPr wrap="square" lIns="0" tIns="0" rIns="0" bIns="0" rtlCol="0">
            <a:spAutoFit/>
          </a:bodyPr>
          <a:lstStyle/>
          <a:p>
            <a:r>
              <a:rPr lang="ko-KR" altLang="en-US" sz="700" dirty="0" err="1">
                <a:latin typeface="+mn-ea"/>
              </a:rPr>
              <a:t>최종처리</a:t>
            </a:r>
            <a:r>
              <a:rPr lang="en-US" altLang="ko-KR" sz="700" dirty="0">
                <a:latin typeface="+mn-ea"/>
              </a:rPr>
              <a:t>(2)</a:t>
            </a:r>
          </a:p>
          <a:p>
            <a:r>
              <a:rPr lang="en-US" altLang="ko-KR" sz="700" dirty="0">
                <a:latin typeface="+mn-ea"/>
              </a:rPr>
              <a:t>- 1</a:t>
            </a:r>
            <a:r>
              <a:rPr lang="ko-KR" altLang="en-US" sz="700" dirty="0" err="1">
                <a:latin typeface="+mn-ea"/>
              </a:rPr>
              <a:t>일처리용량대비당해용역</a:t>
            </a:r>
            <a:r>
              <a:rPr lang="en-US" altLang="ko-KR" sz="700" dirty="0">
                <a:latin typeface="+mn-ea"/>
              </a:rPr>
              <a:t>1</a:t>
            </a:r>
            <a:r>
              <a:rPr lang="ko-KR" altLang="en-US" sz="700" dirty="0">
                <a:latin typeface="+mn-ea"/>
              </a:rPr>
              <a:t>일평균처리량</a:t>
            </a:r>
            <a:r>
              <a:rPr lang="en-US" altLang="ko-KR" sz="700" dirty="0">
                <a:latin typeface="+mn-ea"/>
              </a:rPr>
              <a:t>(2)</a:t>
            </a:r>
          </a:p>
          <a:p>
            <a:r>
              <a:rPr lang="en-US" altLang="ko-KR" sz="700" dirty="0">
                <a:latin typeface="+mn-ea"/>
              </a:rPr>
              <a:t>    - A) 100%</a:t>
            </a:r>
            <a:r>
              <a:rPr lang="ko-KR" altLang="en-US" sz="700" dirty="0">
                <a:latin typeface="+mn-ea"/>
              </a:rPr>
              <a:t>이상</a:t>
            </a:r>
          </a:p>
          <a:p>
            <a:r>
              <a:rPr lang="en-US" altLang="ko-KR" sz="700" dirty="0">
                <a:latin typeface="+mn-ea"/>
              </a:rPr>
              <a:t>    - B) 80%</a:t>
            </a:r>
            <a:r>
              <a:rPr lang="ko-KR" altLang="en-US" sz="700" dirty="0">
                <a:latin typeface="+mn-ea"/>
              </a:rPr>
              <a:t>이상 </a:t>
            </a:r>
            <a:r>
              <a:rPr lang="en-US" altLang="ko-KR" sz="700" dirty="0">
                <a:latin typeface="+mn-ea"/>
              </a:rPr>
              <a:t>~ 100%</a:t>
            </a:r>
            <a:r>
              <a:rPr lang="ko-KR" altLang="en-US" sz="700" dirty="0">
                <a:latin typeface="+mn-ea"/>
              </a:rPr>
              <a:t>미만</a:t>
            </a:r>
          </a:p>
          <a:p>
            <a:r>
              <a:rPr lang="en-US" altLang="ko-KR" sz="700" dirty="0">
                <a:latin typeface="+mn-ea"/>
              </a:rPr>
              <a:t>    - C) 80%</a:t>
            </a:r>
            <a:r>
              <a:rPr lang="ko-KR" altLang="en-US" sz="700" dirty="0">
                <a:latin typeface="+mn-ea"/>
              </a:rPr>
              <a:t>미만</a:t>
            </a:r>
          </a:p>
        </p:txBody>
      </p:sp>
      <p:sp>
        <p:nvSpPr>
          <p:cNvPr id="236" name="TextBox 235">
            <a:extLst>
              <a:ext uri="{FF2B5EF4-FFF2-40B4-BE49-F238E27FC236}">
                <a16:creationId xmlns:a16="http://schemas.microsoft.com/office/drawing/2014/main" id="{FFC49AEA-2A8F-250C-A86A-A7751D9706C3}"/>
              </a:ext>
            </a:extLst>
          </p:cNvPr>
          <p:cNvSpPr txBox="1"/>
          <p:nvPr/>
        </p:nvSpPr>
        <p:spPr>
          <a:xfrm>
            <a:off x="5708374" y="5287003"/>
            <a:ext cx="118622" cy="323165"/>
          </a:xfrm>
          <a:prstGeom prst="rect">
            <a:avLst/>
          </a:prstGeom>
          <a:noFill/>
        </p:spPr>
        <p:txBody>
          <a:bodyPr wrap="none" lIns="0" tIns="0" rIns="0" bIns="0" rtlCol="0">
            <a:spAutoFit/>
          </a:bodyPr>
          <a:lstStyle/>
          <a:p>
            <a:pPr algn="r"/>
            <a:r>
              <a:rPr lang="en-US" altLang="ko-KR" sz="700" dirty="0">
                <a:latin typeface="+mn-ea"/>
              </a:rPr>
              <a:t>2.0</a:t>
            </a:r>
          </a:p>
          <a:p>
            <a:pPr algn="r"/>
            <a:r>
              <a:rPr lang="en-US" altLang="ko-KR" sz="700" dirty="0">
                <a:latin typeface="+mn-ea"/>
              </a:rPr>
              <a:t>1.6</a:t>
            </a:r>
          </a:p>
          <a:p>
            <a:pPr algn="r"/>
            <a:r>
              <a:rPr lang="en-US" altLang="ko-KR" sz="700" dirty="0">
                <a:latin typeface="+mn-ea"/>
              </a:rPr>
              <a:t>1.2</a:t>
            </a:r>
            <a:endParaRPr lang="ko-KR" altLang="en-US" sz="700" dirty="0">
              <a:latin typeface="+mn-ea"/>
            </a:endParaRPr>
          </a:p>
        </p:txBody>
      </p:sp>
      <p:sp>
        <p:nvSpPr>
          <p:cNvPr id="237" name="TextBox 236">
            <a:extLst>
              <a:ext uri="{FF2B5EF4-FFF2-40B4-BE49-F238E27FC236}">
                <a16:creationId xmlns:a16="http://schemas.microsoft.com/office/drawing/2014/main" id="{FFC49AEA-2A8F-250C-A86A-A7751D9706C3}"/>
              </a:ext>
            </a:extLst>
          </p:cNvPr>
          <p:cNvSpPr txBox="1"/>
          <p:nvPr/>
        </p:nvSpPr>
        <p:spPr>
          <a:xfrm>
            <a:off x="6389970" y="5287003"/>
            <a:ext cx="36933" cy="323165"/>
          </a:xfrm>
          <a:prstGeom prst="rect">
            <a:avLst/>
          </a:prstGeom>
          <a:noFill/>
        </p:spPr>
        <p:txBody>
          <a:bodyPr wrap="none" lIns="0" tIns="0" rIns="0" bIns="0" rtlCol="0">
            <a:spAutoFit/>
          </a:bodyPr>
          <a:lstStyle/>
          <a:p>
            <a:pPr algn="r"/>
            <a:r>
              <a:rPr lang="en-US" altLang="ko-KR" sz="700" dirty="0">
                <a:latin typeface="+mn-ea"/>
              </a:rPr>
              <a:t>-</a:t>
            </a:r>
          </a:p>
          <a:p>
            <a:pPr algn="r"/>
            <a:r>
              <a:rPr lang="en-US" altLang="ko-KR" sz="700" dirty="0">
                <a:latin typeface="+mn-ea"/>
              </a:rPr>
              <a:t>-</a:t>
            </a:r>
          </a:p>
          <a:p>
            <a:pPr algn="r"/>
            <a:r>
              <a:rPr lang="en-US" altLang="ko-KR" sz="700" dirty="0">
                <a:latin typeface="+mn-ea"/>
              </a:rPr>
              <a:t>-</a:t>
            </a:r>
            <a:endParaRPr lang="ko-KR" altLang="en-US" sz="700" dirty="0">
              <a:latin typeface="+mn-ea"/>
            </a:endParaRPr>
          </a:p>
        </p:txBody>
      </p:sp>
      <p:cxnSp>
        <p:nvCxnSpPr>
          <p:cNvPr id="238" name="직선 연결선 237">
            <a:extLst>
              <a:ext uri="{FF2B5EF4-FFF2-40B4-BE49-F238E27FC236}">
                <a16:creationId xmlns:a16="http://schemas.microsoft.com/office/drawing/2014/main" id="{E9293055-D5CD-4B9E-7F64-64B2D2CA7A52}"/>
              </a:ext>
            </a:extLst>
          </p:cNvPr>
          <p:cNvCxnSpPr/>
          <p:nvPr/>
        </p:nvCxnSpPr>
        <p:spPr>
          <a:xfrm>
            <a:off x="3832356" y="56530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4" name="타원 73">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930401905"/>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직사각형 62">
            <a:extLst>
              <a:ext uri="{FF2B5EF4-FFF2-40B4-BE49-F238E27FC236}">
                <a16:creationId xmlns:a16="http://schemas.microsoft.com/office/drawing/2014/main" id="{F56F1743-11A0-EA94-9184-4E42C0A37F9C}"/>
              </a:ext>
            </a:extLst>
          </p:cNvPr>
          <p:cNvSpPr/>
          <p:nvPr/>
        </p:nvSpPr>
        <p:spPr>
          <a:xfrm>
            <a:off x="3789297"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276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err="1"/>
              <a:t>고시금액미만폐기물용역</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고시금액미만폐기물용역일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MUI-BD-10-M20</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6" name="TextBox 175">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77" name="TextBox 17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6" name="그룹 5"/>
          <p:cNvGrpSpPr/>
          <p:nvPr/>
        </p:nvGrpSpPr>
        <p:grpSpPr>
          <a:xfrm>
            <a:off x="675399" y="1493927"/>
            <a:ext cx="2712026" cy="1875672"/>
            <a:chOff x="3789297" y="4056089"/>
            <a:chExt cx="2712026" cy="1875672"/>
          </a:xfrm>
        </p:grpSpPr>
        <p:cxnSp>
          <p:nvCxnSpPr>
            <p:cNvPr id="75" name="직선 연결선 74">
              <a:extLst>
                <a:ext uri="{FF2B5EF4-FFF2-40B4-BE49-F238E27FC236}">
                  <a16:creationId xmlns:a16="http://schemas.microsoft.com/office/drawing/2014/main" id="{E9293055-D5CD-4B9E-7F64-64B2D2CA7A52}"/>
                </a:ext>
              </a:extLst>
            </p:cNvPr>
            <p:cNvCxnSpPr/>
            <p:nvPr/>
          </p:nvCxnSpPr>
          <p:spPr>
            <a:xfrm>
              <a:off x="3789297" y="4056089"/>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6" name="TextBox 75">
              <a:extLst>
                <a:ext uri="{FF2B5EF4-FFF2-40B4-BE49-F238E27FC236}">
                  <a16:creationId xmlns:a16="http://schemas.microsoft.com/office/drawing/2014/main" id="{FFC49AEA-2A8F-250C-A86A-A7751D9706C3}"/>
                </a:ext>
              </a:extLst>
            </p:cNvPr>
            <p:cNvSpPr txBox="1"/>
            <p:nvPr/>
          </p:nvSpPr>
          <p:spPr>
            <a:xfrm>
              <a:off x="3891234" y="4385298"/>
              <a:ext cx="2535669" cy="215444"/>
            </a:xfrm>
            <a:prstGeom prst="rect">
              <a:avLst/>
            </a:prstGeom>
            <a:noFill/>
          </p:spPr>
          <p:txBody>
            <a:bodyPr wrap="square" lIns="0" tIns="0" rIns="0" bIns="0" rtlCol="0">
              <a:spAutoFit/>
            </a:bodyPr>
            <a:lstStyle/>
            <a:p>
              <a:pPr>
                <a:lnSpc>
                  <a:spcPct val="200000"/>
                </a:lnSpc>
              </a:pPr>
              <a:r>
                <a:rPr lang="ko-KR" altLang="en-US" sz="700" dirty="0">
                  <a:latin typeface="+mn-ea"/>
                </a:rPr>
                <a:t>평가요소 </a:t>
              </a:r>
              <a:r>
                <a:rPr lang="en-US" altLang="ko-KR" sz="700" dirty="0">
                  <a:latin typeface="+mn-ea"/>
                </a:rPr>
                <a:t>: </a:t>
              </a:r>
              <a:r>
                <a:rPr lang="ko-KR" altLang="en-US" sz="700" dirty="0">
                  <a:latin typeface="+mn-ea"/>
                </a:rPr>
                <a:t>수집운반</a:t>
              </a:r>
            </a:p>
          </p:txBody>
        </p:sp>
        <p:sp>
          <p:nvSpPr>
            <p:cNvPr id="77" name="TextBox 76">
              <a:extLst>
                <a:ext uri="{FF2B5EF4-FFF2-40B4-BE49-F238E27FC236}">
                  <a16:creationId xmlns:a16="http://schemas.microsoft.com/office/drawing/2014/main" id="{FFC49AEA-2A8F-250C-A86A-A7751D9706C3}"/>
                </a:ext>
              </a:extLst>
            </p:cNvPr>
            <p:cNvSpPr txBox="1"/>
            <p:nvPr/>
          </p:nvSpPr>
          <p:spPr>
            <a:xfrm>
              <a:off x="3876043" y="4087259"/>
              <a:ext cx="1598477" cy="181140"/>
            </a:xfrm>
            <a:prstGeom prst="rect">
              <a:avLst/>
            </a:prstGeom>
            <a:noFill/>
          </p:spPr>
          <p:txBody>
            <a:bodyPr wrap="square" lIns="0" tIns="0" rIns="0" bIns="0" rtlCol="0">
              <a:spAutoFit/>
            </a:bodyPr>
            <a:lstStyle/>
            <a:p>
              <a:pPr>
                <a:lnSpc>
                  <a:spcPct val="200000"/>
                </a:lnSpc>
              </a:pPr>
              <a:r>
                <a:rPr lang="ko-KR" altLang="en-US" sz="700" dirty="0">
                  <a:latin typeface="+mn-ea"/>
                </a:rPr>
                <a:t>평가결과</a:t>
              </a:r>
              <a:endParaRPr lang="en-US" altLang="ko-KR" sz="700" dirty="0">
                <a:latin typeface="+mn-ea"/>
              </a:endParaRPr>
            </a:p>
          </p:txBody>
        </p:sp>
        <p:grpSp>
          <p:nvGrpSpPr>
            <p:cNvPr id="78" name="그룹 77"/>
            <p:cNvGrpSpPr/>
            <p:nvPr/>
          </p:nvGrpSpPr>
          <p:grpSpPr>
            <a:xfrm flipV="1">
              <a:off x="6238130" y="4200590"/>
              <a:ext cx="94010" cy="47005"/>
              <a:chOff x="6812560" y="3297172"/>
              <a:chExt cx="94010" cy="47005"/>
            </a:xfrm>
          </p:grpSpPr>
          <p:cxnSp>
            <p:nvCxnSpPr>
              <p:cNvPr id="79" name="직선 연결선 7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0" name="직선 연결선 8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3789297" y="4361374"/>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4" name="직사각형 93"/>
            <p:cNvSpPr/>
            <p:nvPr/>
          </p:nvSpPr>
          <p:spPr>
            <a:xfrm>
              <a:off x="3832354" y="4639098"/>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TextBox 94">
              <a:extLst>
                <a:ext uri="{FF2B5EF4-FFF2-40B4-BE49-F238E27FC236}">
                  <a16:creationId xmlns:a16="http://schemas.microsoft.com/office/drawing/2014/main" id="{FFC49AEA-2A8F-250C-A86A-A7751D9706C3}"/>
                </a:ext>
              </a:extLst>
            </p:cNvPr>
            <p:cNvSpPr txBox="1"/>
            <p:nvPr/>
          </p:nvSpPr>
          <p:spPr>
            <a:xfrm>
              <a:off x="3919419" y="4639099"/>
              <a:ext cx="684954" cy="129266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err="1">
                  <a:latin typeface="+mn-ea"/>
                </a:rPr>
                <a:t>업체실적</a:t>
              </a:r>
              <a:endParaRPr lang="en-US" altLang="ko-KR" sz="700" dirty="0">
                <a:latin typeface="+mn-ea"/>
              </a:endParaRPr>
            </a:p>
            <a:p>
              <a:pPr>
                <a:lnSpc>
                  <a:spcPct val="200000"/>
                </a:lnSpc>
              </a:pPr>
              <a:r>
                <a:rPr lang="ko-KR" altLang="en-US" sz="700" dirty="0" err="1">
                  <a:latin typeface="+mn-ea"/>
                </a:rPr>
                <a:t>당해용역</a:t>
              </a:r>
              <a:endParaRPr lang="en-US" altLang="ko-KR" sz="700" dirty="0">
                <a:latin typeface="+mn-ea"/>
              </a:endParaRPr>
            </a:p>
            <a:p>
              <a:pPr>
                <a:lnSpc>
                  <a:spcPct val="200000"/>
                </a:lnSpc>
              </a:pPr>
              <a:r>
                <a:rPr lang="ko-KR" altLang="en-US" sz="700" dirty="0">
                  <a:latin typeface="+mn-ea"/>
                </a:rPr>
                <a:t>평가등급</a:t>
              </a:r>
              <a:endParaRPr lang="en-US" altLang="ko-KR" sz="700" dirty="0">
                <a:latin typeface="+mn-ea"/>
              </a:endParaRPr>
            </a:p>
            <a:p>
              <a:pPr>
                <a:lnSpc>
                  <a:spcPct val="200000"/>
                </a:lnSpc>
              </a:pPr>
              <a:r>
                <a:rPr lang="ko-KR" altLang="en-US" sz="700" dirty="0">
                  <a:latin typeface="+mn-ea"/>
                </a:rPr>
                <a:t>배점</a:t>
              </a:r>
            </a:p>
          </p:txBody>
        </p:sp>
        <p:cxnSp>
          <p:nvCxnSpPr>
            <p:cNvPr id="96" name="직선 연결선 95">
              <a:extLst>
                <a:ext uri="{FF2B5EF4-FFF2-40B4-BE49-F238E27FC236}">
                  <a16:creationId xmlns:a16="http://schemas.microsoft.com/office/drawing/2014/main" id="{E9293055-D5CD-4B9E-7F64-64B2D2CA7A52}"/>
                </a:ext>
              </a:extLst>
            </p:cNvPr>
            <p:cNvCxnSpPr/>
            <p:nvPr/>
          </p:nvCxnSpPr>
          <p:spPr>
            <a:xfrm>
              <a:off x="3830263" y="463909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3832356" y="48538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9" name="TextBox 98">
              <a:extLst>
                <a:ext uri="{FF2B5EF4-FFF2-40B4-BE49-F238E27FC236}">
                  <a16:creationId xmlns:a16="http://schemas.microsoft.com/office/drawing/2014/main" id="{FFC49AEA-2A8F-250C-A86A-A7751D9706C3}"/>
                </a:ext>
              </a:extLst>
            </p:cNvPr>
            <p:cNvSpPr txBox="1"/>
            <p:nvPr/>
          </p:nvSpPr>
          <p:spPr>
            <a:xfrm>
              <a:off x="4678792" y="4639099"/>
              <a:ext cx="1748112" cy="1292662"/>
            </a:xfrm>
            <a:prstGeom prst="rect">
              <a:avLst/>
            </a:prstGeom>
            <a:noFill/>
          </p:spPr>
          <p:txBody>
            <a:bodyPr wrap="square" lIns="0" tIns="0" rIns="0" bIns="0" rtlCol="0">
              <a:spAutoFit/>
            </a:bodyPr>
            <a:lstStyle/>
            <a:p>
              <a:pPr>
                <a:lnSpc>
                  <a:spcPct val="200000"/>
                </a:lnSpc>
              </a:pPr>
              <a:r>
                <a:rPr lang="ko-KR" altLang="en-US" sz="700" dirty="0">
                  <a:latin typeface="+mn-ea"/>
                </a:rPr>
                <a:t>요소</a:t>
              </a:r>
              <a:endParaRPr lang="en-US" altLang="ko-KR" sz="700" dirty="0">
                <a:latin typeface="+mn-ea"/>
              </a:endParaRPr>
            </a:p>
            <a:p>
              <a:pPr>
                <a:lnSpc>
                  <a:spcPct val="200000"/>
                </a:lnSpc>
              </a:pPr>
              <a:r>
                <a:rPr lang="ko-KR" altLang="en-US" sz="700" dirty="0">
                  <a:latin typeface="+mn-ea"/>
                </a:rPr>
                <a:t>건설폐기물</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a:t>
              </a:r>
            </a:p>
            <a:p>
              <a:pPr algn="r">
                <a:lnSpc>
                  <a:spcPct val="200000"/>
                </a:lnSpc>
              </a:pPr>
              <a:r>
                <a:rPr lang="en-US" altLang="ko-KR" sz="700" dirty="0">
                  <a:latin typeface="+mn-ea"/>
                </a:rPr>
                <a:t>00</a:t>
              </a:r>
            </a:p>
          </p:txBody>
        </p:sp>
        <p:cxnSp>
          <p:nvCxnSpPr>
            <p:cNvPr id="100" name="직선 연결선 99">
              <a:extLst>
                <a:ext uri="{FF2B5EF4-FFF2-40B4-BE49-F238E27FC236}">
                  <a16:creationId xmlns:a16="http://schemas.microsoft.com/office/drawing/2014/main" id="{E9293055-D5CD-4B9E-7F64-64B2D2CA7A52}"/>
                </a:ext>
              </a:extLst>
            </p:cNvPr>
            <p:cNvCxnSpPr/>
            <p:nvPr/>
          </p:nvCxnSpPr>
          <p:spPr>
            <a:xfrm>
              <a:off x="3832356" y="55008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3832356" y="52851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3832356" y="50695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3832356" y="57211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6" name="직선 연결선 105">
              <a:extLst>
                <a:ext uri="{FF2B5EF4-FFF2-40B4-BE49-F238E27FC236}">
                  <a16:creationId xmlns:a16="http://schemas.microsoft.com/office/drawing/2014/main" id="{E9293055-D5CD-4B9E-7F64-64B2D2CA7A52}"/>
                </a:ext>
              </a:extLst>
            </p:cNvPr>
            <p:cNvCxnSpPr/>
            <p:nvPr/>
          </p:nvCxnSpPr>
          <p:spPr>
            <a:xfrm>
              <a:off x="3832356" y="592621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07" name="그룹 106"/>
          <p:cNvGrpSpPr/>
          <p:nvPr/>
        </p:nvGrpSpPr>
        <p:grpSpPr>
          <a:xfrm>
            <a:off x="716366" y="3486214"/>
            <a:ext cx="2630093" cy="1546463"/>
            <a:chOff x="686517" y="1856764"/>
            <a:chExt cx="2630093" cy="1546463"/>
          </a:xfrm>
        </p:grpSpPr>
        <p:sp>
          <p:nvSpPr>
            <p:cNvPr id="108" name="TextBox 107">
              <a:extLst>
                <a:ext uri="{FF2B5EF4-FFF2-40B4-BE49-F238E27FC236}">
                  <a16:creationId xmlns:a16="http://schemas.microsoft.com/office/drawing/2014/main" id="{FFC49AEA-2A8F-250C-A86A-A7751D9706C3}"/>
                </a:ext>
              </a:extLst>
            </p:cNvPr>
            <p:cNvSpPr txBox="1"/>
            <p:nvPr/>
          </p:nvSpPr>
          <p:spPr>
            <a:xfrm>
              <a:off x="747488" y="1856764"/>
              <a:ext cx="2535669" cy="215444"/>
            </a:xfrm>
            <a:prstGeom prst="rect">
              <a:avLst/>
            </a:prstGeom>
            <a:noFill/>
          </p:spPr>
          <p:txBody>
            <a:bodyPr wrap="square" lIns="0" tIns="0" rIns="0" bIns="0" rtlCol="0">
              <a:spAutoFit/>
            </a:bodyPr>
            <a:lstStyle/>
            <a:p>
              <a:pPr>
                <a:lnSpc>
                  <a:spcPct val="200000"/>
                </a:lnSpc>
              </a:pPr>
              <a:r>
                <a:rPr lang="ko-KR" altLang="en-US" sz="700" dirty="0">
                  <a:latin typeface="+mn-ea"/>
                </a:rPr>
                <a:t>평가요소 </a:t>
              </a:r>
              <a:r>
                <a:rPr lang="en-US" altLang="ko-KR" sz="700" dirty="0">
                  <a:latin typeface="+mn-ea"/>
                </a:rPr>
                <a:t>: </a:t>
              </a:r>
              <a:r>
                <a:rPr lang="ko-KR" altLang="en-US" sz="700" dirty="0">
                  <a:latin typeface="+mn-ea"/>
                </a:rPr>
                <a:t>중간처리</a:t>
              </a:r>
            </a:p>
          </p:txBody>
        </p:sp>
        <p:sp>
          <p:nvSpPr>
            <p:cNvPr id="109" name="직사각형 108"/>
            <p:cNvSpPr/>
            <p:nvPr/>
          </p:nvSpPr>
          <p:spPr>
            <a:xfrm>
              <a:off x="688608" y="2110564"/>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75673" y="2110565"/>
              <a:ext cx="684954" cy="129266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err="1">
                  <a:latin typeface="+mn-ea"/>
                </a:rPr>
                <a:t>업체실적</a:t>
              </a:r>
              <a:endParaRPr lang="en-US" altLang="ko-KR" sz="700" dirty="0">
                <a:latin typeface="+mn-ea"/>
              </a:endParaRPr>
            </a:p>
            <a:p>
              <a:pPr>
                <a:lnSpc>
                  <a:spcPct val="200000"/>
                </a:lnSpc>
              </a:pPr>
              <a:r>
                <a:rPr lang="ko-KR" altLang="en-US" sz="700" dirty="0" err="1">
                  <a:latin typeface="+mn-ea"/>
                </a:rPr>
                <a:t>당해용역</a:t>
              </a:r>
              <a:endParaRPr lang="en-US" altLang="ko-KR" sz="700" dirty="0">
                <a:latin typeface="+mn-ea"/>
              </a:endParaRPr>
            </a:p>
            <a:p>
              <a:pPr>
                <a:lnSpc>
                  <a:spcPct val="200000"/>
                </a:lnSpc>
              </a:pPr>
              <a:r>
                <a:rPr lang="ko-KR" altLang="en-US" sz="700" dirty="0">
                  <a:latin typeface="+mn-ea"/>
                </a:rPr>
                <a:t>평가등급</a:t>
              </a:r>
              <a:endParaRPr lang="en-US" altLang="ko-KR" sz="700" dirty="0">
                <a:latin typeface="+mn-ea"/>
              </a:endParaRPr>
            </a:p>
            <a:p>
              <a:pPr>
                <a:lnSpc>
                  <a:spcPct val="200000"/>
                </a:lnSpc>
              </a:pPr>
              <a:r>
                <a:rPr lang="ko-KR" altLang="en-US" sz="700" dirty="0">
                  <a:latin typeface="+mn-ea"/>
                </a:rPr>
                <a:t>배점</a:t>
              </a:r>
            </a:p>
          </p:txBody>
        </p:sp>
        <p:cxnSp>
          <p:nvCxnSpPr>
            <p:cNvPr id="112" name="직선 연결선 111">
              <a:extLst>
                <a:ext uri="{FF2B5EF4-FFF2-40B4-BE49-F238E27FC236}">
                  <a16:creationId xmlns:a16="http://schemas.microsoft.com/office/drawing/2014/main" id="{E9293055-D5CD-4B9E-7F64-64B2D2CA7A52}"/>
                </a:ext>
              </a:extLst>
            </p:cNvPr>
            <p:cNvCxnSpPr/>
            <p:nvPr/>
          </p:nvCxnSpPr>
          <p:spPr>
            <a:xfrm>
              <a:off x="686517" y="211056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688610" y="23253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5" name="TextBox 114">
              <a:extLst>
                <a:ext uri="{FF2B5EF4-FFF2-40B4-BE49-F238E27FC236}">
                  <a16:creationId xmlns:a16="http://schemas.microsoft.com/office/drawing/2014/main" id="{FFC49AEA-2A8F-250C-A86A-A7751D9706C3}"/>
                </a:ext>
              </a:extLst>
            </p:cNvPr>
            <p:cNvSpPr txBox="1"/>
            <p:nvPr/>
          </p:nvSpPr>
          <p:spPr>
            <a:xfrm>
              <a:off x="1535046" y="2110565"/>
              <a:ext cx="1748112" cy="1292662"/>
            </a:xfrm>
            <a:prstGeom prst="rect">
              <a:avLst/>
            </a:prstGeom>
            <a:noFill/>
          </p:spPr>
          <p:txBody>
            <a:bodyPr wrap="square" lIns="0" tIns="0" rIns="0" bIns="0" rtlCol="0">
              <a:spAutoFit/>
            </a:bodyPr>
            <a:lstStyle/>
            <a:p>
              <a:pPr>
                <a:lnSpc>
                  <a:spcPct val="200000"/>
                </a:lnSpc>
              </a:pPr>
              <a:r>
                <a:rPr lang="ko-KR" altLang="en-US" sz="700" dirty="0">
                  <a:latin typeface="+mn-ea"/>
                </a:rPr>
                <a:t>요소</a:t>
              </a:r>
              <a:endParaRPr lang="en-US" altLang="ko-KR" sz="700" dirty="0">
                <a:latin typeface="+mn-ea"/>
              </a:endParaRPr>
            </a:p>
            <a:p>
              <a:pPr>
                <a:lnSpc>
                  <a:spcPct val="200000"/>
                </a:lnSpc>
              </a:pPr>
              <a:r>
                <a:rPr lang="ko-KR" altLang="en-US" sz="700" dirty="0">
                  <a:latin typeface="+mn-ea"/>
                </a:rPr>
                <a:t>건설폐기물</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a:t>
              </a:r>
            </a:p>
            <a:p>
              <a:pPr algn="r">
                <a:lnSpc>
                  <a:spcPct val="200000"/>
                </a:lnSpc>
              </a:pPr>
              <a:r>
                <a:rPr lang="en-US" altLang="ko-KR" sz="700" dirty="0">
                  <a:latin typeface="+mn-ea"/>
                </a:rPr>
                <a:t>00</a:t>
              </a:r>
            </a:p>
          </p:txBody>
        </p:sp>
        <p:cxnSp>
          <p:nvCxnSpPr>
            <p:cNvPr id="116" name="직선 연결선 115">
              <a:extLst>
                <a:ext uri="{FF2B5EF4-FFF2-40B4-BE49-F238E27FC236}">
                  <a16:creationId xmlns:a16="http://schemas.microsoft.com/office/drawing/2014/main" id="{E9293055-D5CD-4B9E-7F64-64B2D2CA7A52}"/>
                </a:ext>
              </a:extLst>
            </p:cNvPr>
            <p:cNvCxnSpPr/>
            <p:nvPr/>
          </p:nvCxnSpPr>
          <p:spPr>
            <a:xfrm>
              <a:off x="688610" y="2972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688610" y="2756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688610" y="2540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688610" y="31925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688610" y="3397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3" name="그룹 122"/>
          <p:cNvGrpSpPr/>
          <p:nvPr/>
        </p:nvGrpSpPr>
        <p:grpSpPr>
          <a:xfrm>
            <a:off x="3830263" y="1493927"/>
            <a:ext cx="2630093" cy="1546463"/>
            <a:chOff x="686517" y="1856764"/>
            <a:chExt cx="2630093" cy="1546463"/>
          </a:xfrm>
        </p:grpSpPr>
        <p:sp>
          <p:nvSpPr>
            <p:cNvPr id="124" name="TextBox 123">
              <a:extLst>
                <a:ext uri="{FF2B5EF4-FFF2-40B4-BE49-F238E27FC236}">
                  <a16:creationId xmlns:a16="http://schemas.microsoft.com/office/drawing/2014/main" id="{FFC49AEA-2A8F-250C-A86A-A7751D9706C3}"/>
                </a:ext>
              </a:extLst>
            </p:cNvPr>
            <p:cNvSpPr txBox="1"/>
            <p:nvPr/>
          </p:nvSpPr>
          <p:spPr>
            <a:xfrm>
              <a:off x="747488" y="1856764"/>
              <a:ext cx="2535669" cy="215444"/>
            </a:xfrm>
            <a:prstGeom prst="rect">
              <a:avLst/>
            </a:prstGeom>
            <a:noFill/>
          </p:spPr>
          <p:txBody>
            <a:bodyPr wrap="square" lIns="0" tIns="0" rIns="0" bIns="0" rtlCol="0">
              <a:spAutoFit/>
            </a:bodyPr>
            <a:lstStyle/>
            <a:p>
              <a:pPr>
                <a:lnSpc>
                  <a:spcPct val="200000"/>
                </a:lnSpc>
              </a:pPr>
              <a:r>
                <a:rPr lang="ko-KR" altLang="en-US" sz="700" dirty="0">
                  <a:latin typeface="+mn-ea"/>
                </a:rPr>
                <a:t>평가요소 </a:t>
              </a:r>
              <a:r>
                <a:rPr lang="en-US" altLang="ko-KR" sz="700" dirty="0">
                  <a:latin typeface="+mn-ea"/>
                </a:rPr>
                <a:t>: </a:t>
              </a:r>
              <a:r>
                <a:rPr lang="ko-KR" altLang="en-US" sz="700" dirty="0" err="1">
                  <a:latin typeface="+mn-ea"/>
                </a:rPr>
                <a:t>최종처리</a:t>
              </a:r>
              <a:endParaRPr lang="ko-KR" altLang="en-US" sz="700" dirty="0">
                <a:latin typeface="+mn-ea"/>
              </a:endParaRPr>
            </a:p>
          </p:txBody>
        </p:sp>
        <p:sp>
          <p:nvSpPr>
            <p:cNvPr id="125" name="직사각형 124"/>
            <p:cNvSpPr/>
            <p:nvPr/>
          </p:nvSpPr>
          <p:spPr>
            <a:xfrm>
              <a:off x="688608" y="2110564"/>
              <a:ext cx="2628001" cy="2119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7" name="TextBox 126">
              <a:extLst>
                <a:ext uri="{FF2B5EF4-FFF2-40B4-BE49-F238E27FC236}">
                  <a16:creationId xmlns:a16="http://schemas.microsoft.com/office/drawing/2014/main" id="{FFC49AEA-2A8F-250C-A86A-A7751D9706C3}"/>
                </a:ext>
              </a:extLst>
            </p:cNvPr>
            <p:cNvSpPr txBox="1"/>
            <p:nvPr/>
          </p:nvSpPr>
          <p:spPr>
            <a:xfrm>
              <a:off x="775673" y="2110565"/>
              <a:ext cx="684954" cy="1292662"/>
            </a:xfrm>
            <a:prstGeom prst="rect">
              <a:avLst/>
            </a:prstGeom>
            <a:noFill/>
          </p:spPr>
          <p:txBody>
            <a:bodyPr wrap="square" lIns="0" tIns="0" rIns="0" bIns="0" rtlCol="0">
              <a:spAutoFit/>
            </a:bodyPr>
            <a:lstStyle/>
            <a:p>
              <a:pPr>
                <a:lnSpc>
                  <a:spcPct val="200000"/>
                </a:lnSpc>
              </a:pPr>
              <a:r>
                <a:rPr lang="ko-KR" altLang="en-US" sz="700" dirty="0">
                  <a:latin typeface="+mn-ea"/>
                </a:rPr>
                <a:t>구분</a:t>
              </a:r>
              <a:endParaRPr lang="en-US" altLang="ko-KR" sz="700" dirty="0">
                <a:latin typeface="+mn-ea"/>
              </a:endParaRPr>
            </a:p>
            <a:p>
              <a:pPr>
                <a:lnSpc>
                  <a:spcPct val="200000"/>
                </a:lnSpc>
              </a:pPr>
              <a:r>
                <a:rPr lang="ko-KR" altLang="en-US" sz="700" dirty="0">
                  <a:latin typeface="+mn-ea"/>
                </a:rPr>
                <a:t>평가요소</a:t>
              </a:r>
              <a:endParaRPr lang="en-US" altLang="ko-KR" sz="700" dirty="0">
                <a:latin typeface="+mn-ea"/>
              </a:endParaRPr>
            </a:p>
            <a:p>
              <a:pPr>
                <a:lnSpc>
                  <a:spcPct val="200000"/>
                </a:lnSpc>
              </a:pPr>
              <a:r>
                <a:rPr lang="ko-KR" altLang="en-US" sz="700" dirty="0" err="1">
                  <a:latin typeface="+mn-ea"/>
                </a:rPr>
                <a:t>업체실적</a:t>
              </a:r>
              <a:endParaRPr lang="en-US" altLang="ko-KR" sz="700" dirty="0">
                <a:latin typeface="+mn-ea"/>
              </a:endParaRPr>
            </a:p>
            <a:p>
              <a:pPr>
                <a:lnSpc>
                  <a:spcPct val="200000"/>
                </a:lnSpc>
              </a:pPr>
              <a:r>
                <a:rPr lang="ko-KR" altLang="en-US" sz="700" dirty="0" err="1">
                  <a:latin typeface="+mn-ea"/>
                </a:rPr>
                <a:t>당해용역</a:t>
              </a:r>
              <a:endParaRPr lang="en-US" altLang="ko-KR" sz="700" dirty="0">
                <a:latin typeface="+mn-ea"/>
              </a:endParaRPr>
            </a:p>
            <a:p>
              <a:pPr>
                <a:lnSpc>
                  <a:spcPct val="200000"/>
                </a:lnSpc>
              </a:pPr>
              <a:r>
                <a:rPr lang="ko-KR" altLang="en-US" sz="700" dirty="0">
                  <a:latin typeface="+mn-ea"/>
                </a:rPr>
                <a:t>평가등급</a:t>
              </a:r>
              <a:endParaRPr lang="en-US" altLang="ko-KR" sz="700" dirty="0">
                <a:latin typeface="+mn-ea"/>
              </a:endParaRPr>
            </a:p>
            <a:p>
              <a:pPr>
                <a:lnSpc>
                  <a:spcPct val="200000"/>
                </a:lnSpc>
              </a:pPr>
              <a:r>
                <a:rPr lang="ko-KR" altLang="en-US" sz="700" dirty="0">
                  <a:latin typeface="+mn-ea"/>
                </a:rPr>
                <a:t>배점</a:t>
              </a:r>
            </a:p>
          </p:txBody>
        </p:sp>
        <p:cxnSp>
          <p:nvCxnSpPr>
            <p:cNvPr id="129" name="직선 연결선 128">
              <a:extLst>
                <a:ext uri="{FF2B5EF4-FFF2-40B4-BE49-F238E27FC236}">
                  <a16:creationId xmlns:a16="http://schemas.microsoft.com/office/drawing/2014/main" id="{E9293055-D5CD-4B9E-7F64-64B2D2CA7A52}"/>
                </a:ext>
              </a:extLst>
            </p:cNvPr>
            <p:cNvCxnSpPr/>
            <p:nvPr/>
          </p:nvCxnSpPr>
          <p:spPr>
            <a:xfrm>
              <a:off x="686517" y="211056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688610" y="232530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1535046" y="2110565"/>
              <a:ext cx="1748112" cy="1292662"/>
            </a:xfrm>
            <a:prstGeom prst="rect">
              <a:avLst/>
            </a:prstGeom>
            <a:noFill/>
          </p:spPr>
          <p:txBody>
            <a:bodyPr wrap="square" lIns="0" tIns="0" rIns="0" bIns="0" rtlCol="0">
              <a:spAutoFit/>
            </a:bodyPr>
            <a:lstStyle/>
            <a:p>
              <a:pPr>
                <a:lnSpc>
                  <a:spcPct val="200000"/>
                </a:lnSpc>
              </a:pPr>
              <a:r>
                <a:rPr lang="ko-KR" altLang="en-US" sz="700" dirty="0">
                  <a:latin typeface="+mn-ea"/>
                </a:rPr>
                <a:t>요소</a:t>
              </a:r>
              <a:endParaRPr lang="en-US" altLang="ko-KR" sz="700" dirty="0">
                <a:latin typeface="+mn-ea"/>
              </a:endParaRPr>
            </a:p>
            <a:p>
              <a:pPr>
                <a:lnSpc>
                  <a:spcPct val="200000"/>
                </a:lnSpc>
              </a:pPr>
              <a:r>
                <a:rPr lang="ko-KR" altLang="en-US" sz="700" dirty="0">
                  <a:latin typeface="+mn-ea"/>
                </a:rPr>
                <a:t>건설폐기물</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000</a:t>
              </a:r>
            </a:p>
            <a:p>
              <a:pPr algn="r">
                <a:lnSpc>
                  <a:spcPct val="200000"/>
                </a:lnSpc>
              </a:pPr>
              <a:r>
                <a:rPr lang="en-US" altLang="ko-KR" sz="700" dirty="0">
                  <a:latin typeface="+mn-ea"/>
                </a:rPr>
                <a:t>00</a:t>
              </a:r>
            </a:p>
          </p:txBody>
        </p:sp>
        <p:cxnSp>
          <p:nvCxnSpPr>
            <p:cNvPr id="132" name="직선 연결선 131">
              <a:extLst>
                <a:ext uri="{FF2B5EF4-FFF2-40B4-BE49-F238E27FC236}">
                  <a16:creationId xmlns:a16="http://schemas.microsoft.com/office/drawing/2014/main" id="{E9293055-D5CD-4B9E-7F64-64B2D2CA7A52}"/>
                </a:ext>
              </a:extLst>
            </p:cNvPr>
            <p:cNvCxnSpPr/>
            <p:nvPr/>
          </p:nvCxnSpPr>
          <p:spPr>
            <a:xfrm>
              <a:off x="688610" y="2972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688610" y="2756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688610" y="25409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688610" y="31925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688610" y="33976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39" name="그룹 138"/>
          <p:cNvGrpSpPr/>
          <p:nvPr/>
        </p:nvGrpSpPr>
        <p:grpSpPr>
          <a:xfrm>
            <a:off x="3787956" y="3125829"/>
            <a:ext cx="2713368" cy="1361524"/>
            <a:chOff x="675400" y="4950731"/>
            <a:chExt cx="2713368" cy="1361524"/>
          </a:xfrm>
        </p:grpSpPr>
        <p:cxnSp>
          <p:nvCxnSpPr>
            <p:cNvPr id="140" name="직선 연결선 139">
              <a:extLst>
                <a:ext uri="{FF2B5EF4-FFF2-40B4-BE49-F238E27FC236}">
                  <a16:creationId xmlns:a16="http://schemas.microsoft.com/office/drawing/2014/main" id="{E9293055-D5CD-4B9E-7F64-64B2D2CA7A52}"/>
                </a:ext>
              </a:extLst>
            </p:cNvPr>
            <p:cNvCxnSpPr/>
            <p:nvPr/>
          </p:nvCxnSpPr>
          <p:spPr>
            <a:xfrm>
              <a:off x="675400" y="495073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1" name="직사각형 140"/>
            <p:cNvSpPr/>
            <p:nvPr/>
          </p:nvSpPr>
          <p:spPr>
            <a:xfrm>
              <a:off x="718458" y="5563700"/>
              <a:ext cx="1639886" cy="43439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2" name="TextBox 141">
              <a:extLst>
                <a:ext uri="{FF2B5EF4-FFF2-40B4-BE49-F238E27FC236}">
                  <a16:creationId xmlns:a16="http://schemas.microsoft.com/office/drawing/2014/main" id="{FFC49AEA-2A8F-250C-A86A-A7751D9706C3}"/>
                </a:ext>
              </a:extLst>
            </p:cNvPr>
            <p:cNvSpPr txBox="1"/>
            <p:nvPr/>
          </p:nvSpPr>
          <p:spPr>
            <a:xfrm>
              <a:off x="805521" y="5563701"/>
              <a:ext cx="1480199" cy="396583"/>
            </a:xfrm>
            <a:prstGeom prst="rect">
              <a:avLst/>
            </a:prstGeom>
            <a:noFill/>
          </p:spPr>
          <p:txBody>
            <a:bodyPr wrap="square" lIns="0" tIns="0" rIns="0" bIns="0" rtlCol="0">
              <a:spAutoFit/>
            </a:bodyPr>
            <a:lstStyle/>
            <a:p>
              <a:pPr>
                <a:lnSpc>
                  <a:spcPct val="200000"/>
                </a:lnSpc>
              </a:pPr>
              <a:r>
                <a:rPr lang="ko-KR" altLang="en-US" sz="700" dirty="0" err="1">
                  <a:latin typeface="+mn-ea"/>
                </a:rPr>
                <a:t>평가종류</a:t>
              </a:r>
              <a:endParaRPr lang="en-US" altLang="ko-KR" sz="700" dirty="0">
                <a:latin typeface="+mn-ea"/>
              </a:endParaRPr>
            </a:p>
            <a:p>
              <a:pPr>
                <a:lnSpc>
                  <a:spcPct val="200000"/>
                </a:lnSpc>
              </a:pPr>
              <a:r>
                <a:rPr lang="ko-KR" altLang="en-US" sz="700" dirty="0">
                  <a:latin typeface="+mn-ea"/>
                </a:rPr>
                <a:t>회사채</a:t>
              </a:r>
              <a:r>
                <a:rPr lang="en-US" altLang="ko-KR" sz="700" dirty="0">
                  <a:latin typeface="+mn-ea"/>
                </a:rPr>
                <a:t>,</a:t>
              </a:r>
              <a:r>
                <a:rPr lang="ko-KR" altLang="en-US" sz="700" dirty="0">
                  <a:latin typeface="+mn-ea"/>
                </a:rPr>
                <a:t>기업신용평가</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2533563" y="556370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등급</a:t>
              </a:r>
              <a:endParaRPr lang="en-US" altLang="ko-KR" sz="700" dirty="0">
                <a:latin typeface="+mn-ea"/>
              </a:endParaRPr>
            </a:p>
          </p:txBody>
        </p:sp>
        <p:cxnSp>
          <p:nvCxnSpPr>
            <p:cNvPr id="144" name="직선 연결선 143">
              <a:extLst>
                <a:ext uri="{FF2B5EF4-FFF2-40B4-BE49-F238E27FC236}">
                  <a16:creationId xmlns:a16="http://schemas.microsoft.com/office/drawing/2014/main" id="{E9293055-D5CD-4B9E-7F64-64B2D2CA7A52}"/>
                </a:ext>
              </a:extLst>
            </p:cNvPr>
            <p:cNvCxnSpPr/>
            <p:nvPr/>
          </p:nvCxnSpPr>
          <p:spPr>
            <a:xfrm>
              <a:off x="716366" y="556370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18459" y="5778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718459" y="599809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7" name="TextBox 146">
              <a:extLst>
                <a:ext uri="{FF2B5EF4-FFF2-40B4-BE49-F238E27FC236}">
                  <a16:creationId xmlns:a16="http://schemas.microsoft.com/office/drawing/2014/main" id="{FFC49AEA-2A8F-250C-A86A-A7751D9706C3}"/>
                </a:ext>
              </a:extLst>
            </p:cNvPr>
            <p:cNvSpPr txBox="1"/>
            <p:nvPr/>
          </p:nvSpPr>
          <p:spPr>
            <a:xfrm>
              <a:off x="777337" y="5276586"/>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심사분야</a:t>
              </a:r>
              <a:r>
                <a:rPr lang="ko-KR" altLang="en-US" sz="700" dirty="0">
                  <a:latin typeface="+mn-ea"/>
                </a:rPr>
                <a:t> </a:t>
              </a:r>
              <a:r>
                <a:rPr lang="en-US" altLang="ko-KR" sz="700" dirty="0">
                  <a:latin typeface="+mn-ea"/>
                </a:rPr>
                <a:t>: 3)</a:t>
              </a:r>
              <a:r>
                <a:rPr lang="ko-KR" altLang="en-US" sz="700" dirty="0">
                  <a:latin typeface="+mn-ea"/>
                </a:rPr>
                <a:t>기타</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3133470" y="5563701"/>
              <a:ext cx="179536" cy="215444"/>
            </a:xfrm>
            <a:prstGeom prst="rect">
              <a:avLst/>
            </a:prstGeom>
            <a:noFill/>
          </p:spPr>
          <p:txBody>
            <a:bodyPr wrap="none" lIns="0" tIns="0" rIns="0" bIns="0" rtlCol="0">
              <a:spAutoFit/>
            </a:bodyPr>
            <a:lstStyle/>
            <a:p>
              <a:pPr algn="r">
                <a:lnSpc>
                  <a:spcPct val="200000"/>
                </a:lnSpc>
              </a:pPr>
              <a:r>
                <a:rPr lang="ko-KR" altLang="en-US" sz="700" dirty="0">
                  <a:latin typeface="+mn-ea"/>
                </a:rPr>
                <a:t>배점</a:t>
              </a:r>
              <a:endParaRPr lang="en-US" altLang="ko-KR" sz="700" dirty="0">
                <a:latin typeface="+mn-ea"/>
              </a:endParaRPr>
            </a:p>
          </p:txBody>
        </p:sp>
        <p:cxnSp>
          <p:nvCxnSpPr>
            <p:cNvPr id="149" name="직선 연결선 148">
              <a:extLst>
                <a:ext uri="{FF2B5EF4-FFF2-40B4-BE49-F238E27FC236}">
                  <a16:creationId xmlns:a16="http://schemas.microsoft.com/office/drawing/2014/main" id="{E9293055-D5CD-4B9E-7F64-64B2D2CA7A52}"/>
                </a:ext>
              </a:extLst>
            </p:cNvPr>
            <p:cNvCxnSpPr/>
            <p:nvPr/>
          </p:nvCxnSpPr>
          <p:spPr>
            <a:xfrm>
              <a:off x="676741" y="631225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0" name="TextBox 149">
              <a:extLst>
                <a:ext uri="{FF2B5EF4-FFF2-40B4-BE49-F238E27FC236}">
                  <a16:creationId xmlns:a16="http://schemas.microsoft.com/office/drawing/2014/main" id="{FFC49AEA-2A8F-250C-A86A-A7751D9706C3}"/>
                </a:ext>
              </a:extLst>
            </p:cNvPr>
            <p:cNvSpPr txBox="1"/>
            <p:nvPr/>
          </p:nvSpPr>
          <p:spPr>
            <a:xfrm>
              <a:off x="763487" y="6038691"/>
              <a:ext cx="2456097" cy="215444"/>
            </a:xfrm>
            <a:prstGeom prst="rect">
              <a:avLst/>
            </a:prstGeom>
            <a:noFill/>
          </p:spPr>
          <p:txBody>
            <a:bodyPr wrap="square" lIns="0" tIns="0" rIns="0" bIns="0" rtlCol="0">
              <a:spAutoFit/>
            </a:bodyPr>
            <a:lstStyle/>
            <a:p>
              <a:pPr lvl="0" algn="ctr" defTabSz="1013612">
                <a:defRPr/>
              </a:pPr>
              <a:r>
                <a:rPr lang="ko-KR" altLang="en-US" sz="700" dirty="0">
                  <a:latin typeface="+mn-ea"/>
                </a:rPr>
                <a:t>비고</a:t>
              </a:r>
              <a:endParaRPr lang="en-US" altLang="ko-KR" sz="700" dirty="0">
                <a:latin typeface="+mn-ea"/>
              </a:endParaRPr>
            </a:p>
            <a:p>
              <a:pPr lvl="0" algn="ctr" defTabSz="1013612">
                <a:defRPr/>
              </a:pPr>
              <a:r>
                <a:rPr lang="ko-KR" altLang="en-US" sz="700" dirty="0">
                  <a:latin typeface="+mn-ea"/>
                </a:rPr>
                <a:t>비고 내용 표시 </a:t>
              </a:r>
              <a:r>
                <a:rPr lang="en-US" altLang="ko-KR" sz="700" dirty="0">
                  <a:latin typeface="+mn-ea"/>
                </a:rPr>
                <a:t>/ </a:t>
              </a:r>
              <a:r>
                <a:rPr lang="ko-KR" altLang="en-US" sz="700" dirty="0">
                  <a:latin typeface="+mn-ea"/>
                </a:rPr>
                <a:t>비고가 없는 경우 라인 숨김</a:t>
              </a:r>
              <a:endParaRPr lang="en-US" altLang="ko-KR" sz="700" dirty="0">
                <a:latin typeface="+mn-ea"/>
              </a:endParaRPr>
            </a:p>
          </p:txBody>
        </p:sp>
        <p:sp>
          <p:nvSpPr>
            <p:cNvPr id="151" name="TextBox 150">
              <a:extLst>
                <a:ext uri="{FF2B5EF4-FFF2-40B4-BE49-F238E27FC236}">
                  <a16:creationId xmlns:a16="http://schemas.microsoft.com/office/drawing/2014/main" id="{FFC49AEA-2A8F-250C-A86A-A7751D9706C3}"/>
                </a:ext>
              </a:extLst>
            </p:cNvPr>
            <p:cNvSpPr txBox="1"/>
            <p:nvPr/>
          </p:nvSpPr>
          <p:spPr>
            <a:xfrm>
              <a:off x="762146" y="4978547"/>
              <a:ext cx="1598477" cy="215444"/>
            </a:xfrm>
            <a:prstGeom prst="rect">
              <a:avLst/>
            </a:prstGeom>
            <a:noFill/>
          </p:spPr>
          <p:txBody>
            <a:bodyPr wrap="square" lIns="0" tIns="0" rIns="0" bIns="0" rtlCol="0">
              <a:spAutoFit/>
            </a:bodyPr>
            <a:lstStyle/>
            <a:p>
              <a:pPr>
                <a:lnSpc>
                  <a:spcPct val="200000"/>
                </a:lnSpc>
              </a:pPr>
              <a:r>
                <a:rPr lang="en-US" altLang="ko-KR" sz="700" dirty="0">
                  <a:latin typeface="+mn-ea"/>
                </a:rPr>
                <a:t>3.</a:t>
              </a:r>
              <a:r>
                <a:rPr lang="ko-KR" altLang="en-US" sz="700" dirty="0">
                  <a:latin typeface="+mn-ea"/>
                </a:rPr>
                <a:t>신용평가</a:t>
              </a:r>
              <a:r>
                <a:rPr lang="en-US" altLang="ko-KR" sz="700" dirty="0">
                  <a:latin typeface="+mn-ea"/>
                </a:rPr>
                <a:t>(10</a:t>
              </a:r>
              <a:r>
                <a:rPr lang="ko-KR" altLang="en-US" sz="700" dirty="0">
                  <a:latin typeface="+mn-ea"/>
                </a:rPr>
                <a:t>점</a:t>
              </a:r>
              <a:r>
                <a:rPr lang="en-US" altLang="ko-KR" sz="700" dirty="0">
                  <a:latin typeface="+mn-ea"/>
                </a:rPr>
                <a:t>)</a:t>
              </a:r>
              <a:endParaRPr lang="ko-KR" altLang="en-US" sz="700" dirty="0">
                <a:latin typeface="+mn-ea"/>
              </a:endParaRPr>
            </a:p>
          </p:txBody>
        </p:sp>
        <p:grpSp>
          <p:nvGrpSpPr>
            <p:cNvPr id="152" name="그룹 151"/>
            <p:cNvGrpSpPr/>
            <p:nvPr/>
          </p:nvGrpSpPr>
          <p:grpSpPr>
            <a:xfrm flipV="1">
              <a:off x="3124233" y="5091878"/>
              <a:ext cx="94010" cy="47005"/>
              <a:chOff x="6812560" y="3297172"/>
              <a:chExt cx="94010" cy="47005"/>
            </a:xfrm>
          </p:grpSpPr>
          <p:cxnSp>
            <p:nvCxnSpPr>
              <p:cNvPr id="154" name="직선 연결선 15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5" name="직선 연결선 15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3" name="직선 연결선 152">
              <a:extLst>
                <a:ext uri="{FF2B5EF4-FFF2-40B4-BE49-F238E27FC236}">
                  <a16:creationId xmlns:a16="http://schemas.microsoft.com/office/drawing/2014/main" id="{E9293055-D5CD-4B9E-7F64-64B2D2CA7A52}"/>
                </a:ext>
              </a:extLst>
            </p:cNvPr>
            <p:cNvCxnSpPr/>
            <p:nvPr/>
          </p:nvCxnSpPr>
          <p:spPr>
            <a:xfrm>
              <a:off x="675400" y="5252662"/>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71" name="타원 7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1669497817"/>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직사각형 62">
            <a:extLst>
              <a:ext uri="{FF2B5EF4-FFF2-40B4-BE49-F238E27FC236}">
                <a16:creationId xmlns:a16="http://schemas.microsoft.com/office/drawing/2014/main" id="{F56F1743-11A0-EA94-9184-4E42C0A37F9C}"/>
              </a:ext>
            </a:extLst>
          </p:cNvPr>
          <p:cNvSpPr/>
          <p:nvPr/>
        </p:nvSpPr>
        <p:spPr>
          <a:xfrm>
            <a:off x="3789297"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심사결과</a:t>
            </a:r>
            <a:r>
              <a:rPr lang="en-US" altLang="ko-KR" dirty="0"/>
              <a:t> </a:t>
            </a:r>
            <a:r>
              <a:rPr lang="ko-KR" altLang="en-US" dirty="0"/>
              <a:t>데이터 영역</a:t>
            </a:r>
            <a:r>
              <a:rPr lang="en-US" altLang="ko-KR" dirty="0"/>
              <a:t/>
            </a:r>
            <a:br>
              <a:rPr lang="en-US" altLang="ko-KR" dirty="0"/>
            </a:br>
            <a:r>
              <a:rPr lang="en-US" altLang="ko-KR" dirty="0"/>
              <a:t>- </a:t>
            </a:r>
            <a:r>
              <a:rPr lang="ko-KR" altLang="en-US" dirty="0"/>
              <a:t>내 업체 정보만 표시함</a:t>
            </a:r>
            <a:r>
              <a:rPr lang="en-US" altLang="ko-KR" dirty="0"/>
              <a:t>.</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277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0000" lnSpcReduction="20000"/>
          </a:bodyPr>
          <a:lstStyle/>
          <a:p>
            <a:r>
              <a:rPr lang="ko-KR" altLang="en-US" dirty="0"/>
              <a:t>이행</a:t>
            </a:r>
            <a:r>
              <a:rPr lang="en-US" altLang="ko-KR" dirty="0"/>
              <a:t>/</a:t>
            </a:r>
            <a:r>
              <a:rPr lang="ko-KR" altLang="en-US" dirty="0"/>
              <a:t>적격심사결과상세 </a:t>
            </a:r>
            <a:r>
              <a:rPr lang="en-US" altLang="ko-KR" dirty="0"/>
              <a:t>– </a:t>
            </a:r>
            <a:r>
              <a:rPr lang="ko-KR" altLang="en-US" dirty="0" err="1"/>
              <a:t>고시금액미만폐기물용역</a:t>
            </a:r>
            <a:endParaRPr lang="ko-KR" altLang="en-US" dirty="0"/>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입찰결과상세 </a:t>
            </a:r>
            <a:r>
              <a:rPr lang="en-US" altLang="ko-KR" dirty="0"/>
              <a:t>- </a:t>
            </a:r>
            <a:r>
              <a:rPr lang="ko-KR" altLang="en-US" dirty="0"/>
              <a:t>이행</a:t>
            </a:r>
            <a:r>
              <a:rPr lang="en-US" altLang="ko-KR" dirty="0"/>
              <a:t>/</a:t>
            </a:r>
            <a:r>
              <a:rPr lang="ko-KR" altLang="en-US" dirty="0"/>
              <a:t>적격심사결과 탭 </a:t>
            </a:r>
            <a:r>
              <a:rPr lang="en-US" altLang="ko-KR" dirty="0"/>
              <a:t>– </a:t>
            </a:r>
            <a:r>
              <a:rPr lang="ko-KR" altLang="en-US" dirty="0" err="1"/>
              <a:t>고시금액미만폐기물용역일</a:t>
            </a:r>
            <a:r>
              <a:rPr lang="ko-KR" altLang="en-US" dirty="0"/>
              <a:t> 때 조회 화면 </a:t>
            </a:r>
            <a:r>
              <a:rPr lang="en-US" altLang="ko-KR" dirty="0"/>
              <a:t>- </a:t>
            </a:r>
            <a:r>
              <a:rPr lang="ko-KR" altLang="en-US" dirty="0"/>
              <a:t>콘텐츠</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MUI-BD-10-M20</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6" name="TextBox 175">
            <a:extLst>
              <a:ext uri="{FF2B5EF4-FFF2-40B4-BE49-F238E27FC236}">
                <a16:creationId xmlns:a16="http://schemas.microsoft.com/office/drawing/2014/main" id="{75DF28B5-84C4-84C3-4D62-98FEE71BEAA5}"/>
              </a:ext>
            </a:extLst>
          </p:cNvPr>
          <p:cNvSpPr txBox="1"/>
          <p:nvPr/>
        </p:nvSpPr>
        <p:spPr>
          <a:xfrm>
            <a:off x="2772830" y="62350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675399" y="1513866"/>
            <a:ext cx="2712027" cy="1879154"/>
            <a:chOff x="3797076" y="1513866"/>
            <a:chExt cx="2712027" cy="1879154"/>
          </a:xfrm>
        </p:grpSpPr>
        <p:sp>
          <p:nvSpPr>
            <p:cNvPr id="160" name="TextBox 159">
              <a:extLst>
                <a:ext uri="{FF2B5EF4-FFF2-40B4-BE49-F238E27FC236}">
                  <a16:creationId xmlns:a16="http://schemas.microsoft.com/office/drawing/2014/main" id="{FFC49AEA-2A8F-250C-A86A-A7751D9706C3}"/>
                </a:ext>
              </a:extLst>
            </p:cNvPr>
            <p:cNvSpPr txBox="1"/>
            <p:nvPr/>
          </p:nvSpPr>
          <p:spPr>
            <a:xfrm>
              <a:off x="3883823" y="1513866"/>
              <a:ext cx="2268636" cy="181140"/>
            </a:xfrm>
            <a:prstGeom prst="rect">
              <a:avLst/>
            </a:prstGeom>
            <a:noFill/>
          </p:spPr>
          <p:txBody>
            <a:bodyPr wrap="square" lIns="0" tIns="0" rIns="0" bIns="0" rtlCol="0">
              <a:spAutoFit/>
            </a:bodyPr>
            <a:lstStyle/>
            <a:p>
              <a:pPr>
                <a:lnSpc>
                  <a:spcPct val="200000"/>
                </a:lnSpc>
              </a:pPr>
              <a:r>
                <a:rPr lang="en-US" altLang="ko-KR" sz="700" dirty="0">
                  <a:latin typeface="+mn-ea"/>
                </a:rPr>
                <a:t>4.</a:t>
              </a:r>
              <a:r>
                <a:rPr lang="ko-KR" altLang="en-US" sz="700" dirty="0">
                  <a:latin typeface="+mn-ea"/>
                </a:rPr>
                <a:t>입찰가격점수</a:t>
              </a:r>
            </a:p>
          </p:txBody>
        </p:sp>
        <p:grpSp>
          <p:nvGrpSpPr>
            <p:cNvPr id="161" name="그룹 160"/>
            <p:cNvGrpSpPr/>
            <p:nvPr/>
          </p:nvGrpSpPr>
          <p:grpSpPr>
            <a:xfrm flipV="1">
              <a:off x="6245910" y="1627197"/>
              <a:ext cx="94010" cy="47005"/>
              <a:chOff x="6812560" y="3297172"/>
              <a:chExt cx="94010" cy="47005"/>
            </a:xfrm>
          </p:grpSpPr>
          <p:cxnSp>
            <p:nvCxnSpPr>
              <p:cNvPr id="162" name="직선 연결선 16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3" name="직선 연결선 16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64" name="직선 연결선 163">
              <a:extLst>
                <a:ext uri="{FF2B5EF4-FFF2-40B4-BE49-F238E27FC236}">
                  <a16:creationId xmlns:a16="http://schemas.microsoft.com/office/drawing/2014/main" id="{E9293055-D5CD-4B9E-7F64-64B2D2CA7A52}"/>
                </a:ext>
              </a:extLst>
            </p:cNvPr>
            <p:cNvCxnSpPr/>
            <p:nvPr/>
          </p:nvCxnSpPr>
          <p:spPr>
            <a:xfrm>
              <a:off x="3797076" y="180067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5" name="직사각형 164"/>
            <p:cNvSpPr/>
            <p:nvPr/>
          </p:nvSpPr>
          <p:spPr>
            <a:xfrm>
              <a:off x="3840136" y="1864792"/>
              <a:ext cx="792000" cy="15282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3927198" y="2285253"/>
              <a:ext cx="754231" cy="430887"/>
            </a:xfrm>
            <a:prstGeom prst="rect">
              <a:avLst/>
            </a:prstGeom>
            <a:noFill/>
          </p:spPr>
          <p:txBody>
            <a:bodyPr wrap="square" lIns="0" tIns="0" rIns="0" bIns="0" rtlCol="0">
              <a:spAutoFit/>
            </a:bodyPr>
            <a:lstStyle/>
            <a:p>
              <a:pPr>
                <a:lnSpc>
                  <a:spcPct val="200000"/>
                </a:lnSpc>
              </a:pPr>
              <a:r>
                <a:rPr lang="ko-KR" altLang="en-US" sz="700" dirty="0">
                  <a:latin typeface="+mn-ea"/>
                </a:rPr>
                <a:t>입찰가격</a:t>
              </a:r>
              <a:endParaRPr lang="en-US" altLang="ko-KR" sz="700" dirty="0">
                <a:latin typeface="+mn-ea"/>
              </a:endParaRPr>
            </a:p>
            <a:p>
              <a:pPr>
                <a:lnSpc>
                  <a:spcPct val="200000"/>
                </a:lnSpc>
              </a:pPr>
              <a:r>
                <a:rPr lang="ko-KR" altLang="en-US" sz="700" dirty="0">
                  <a:latin typeface="+mn-ea"/>
                </a:rPr>
                <a:t>예정가격</a:t>
              </a:r>
              <a:endParaRPr lang="en-US" altLang="ko-KR"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4684048" y="2285253"/>
              <a:ext cx="1775839" cy="430887"/>
            </a:xfrm>
            <a:prstGeom prst="rect">
              <a:avLst/>
            </a:prstGeom>
            <a:noFill/>
          </p:spPr>
          <p:txBody>
            <a:bodyPr wrap="square" lIns="0" tIns="0" rIns="0" bIns="0" rtlCol="0">
              <a:spAutoFit/>
            </a:bodyPr>
            <a:lstStyle/>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000,000,000,000 </a:t>
              </a:r>
              <a:r>
                <a:rPr lang="ko-KR" altLang="en-US" sz="700" dirty="0">
                  <a:latin typeface="+mn-ea"/>
                </a:rPr>
                <a:t>원</a:t>
              </a:r>
              <a:endParaRPr lang="en-US" altLang="ko-KR" sz="700" dirty="0">
                <a:latin typeface="+mn-ea"/>
              </a:endParaRPr>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838043" y="18647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3840136" y="251305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3840136" y="27277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3840136" y="31573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3840136" y="33930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840136" y="22899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3932343" y="2032838"/>
              <a:ext cx="952980" cy="107722"/>
            </a:xfrm>
            <a:prstGeom prst="rect">
              <a:avLst/>
            </a:prstGeom>
            <a:noFill/>
          </p:spPr>
          <p:txBody>
            <a:bodyPr wrap="square" lIns="0" tIns="0" rIns="0" bIns="0" rtlCol="0">
              <a:spAutoFit/>
            </a:bodyPr>
            <a:lstStyle/>
            <a:p>
              <a:r>
                <a:rPr lang="ko-KR" altLang="en-US" sz="700" dirty="0">
                  <a:latin typeface="+mn-ea"/>
                </a:rPr>
                <a:t>가격점수산식</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4681429" y="1936658"/>
              <a:ext cx="1758398" cy="300082"/>
            </a:xfrm>
            <a:prstGeom prst="rect">
              <a:avLst/>
            </a:prstGeom>
            <a:noFill/>
          </p:spPr>
          <p:txBody>
            <a:bodyPr wrap="square" lIns="0" tIns="0" rIns="0" bIns="0" rtlCol="0">
              <a:spAutoFit/>
            </a:bodyPr>
            <a:lstStyle/>
            <a:p>
              <a:r>
                <a:rPr lang="ko-KR" altLang="en-US" sz="650" dirty="0" err="1">
                  <a:latin typeface="+mn-ea"/>
                </a:rPr>
                <a:t>산출식</a:t>
              </a:r>
              <a:r>
                <a:rPr lang="ko-KR" altLang="en-US" sz="650" dirty="0">
                  <a:latin typeface="+mn-ea"/>
                </a:rPr>
                <a:t> </a:t>
              </a:r>
              <a:r>
                <a:rPr lang="en-US" altLang="ko-KR" sz="650" dirty="0">
                  <a:latin typeface="+mn-ea"/>
                </a:rPr>
                <a:t>: </a:t>
              </a:r>
            </a:p>
            <a:p>
              <a:r>
                <a:rPr lang="en-US" altLang="ko-KR" sz="650" dirty="0">
                  <a:latin typeface="+mn-ea"/>
                </a:rPr>
                <a:t>70 – 20 X {(88/100 – </a:t>
              </a:r>
              <a:r>
                <a:rPr lang="ko-KR" altLang="en-US" sz="650" dirty="0">
                  <a:latin typeface="+mn-ea"/>
                </a:rPr>
                <a:t>입찰가격</a:t>
              </a:r>
              <a:r>
                <a:rPr lang="en-US" altLang="ko-KR" sz="650" dirty="0">
                  <a:latin typeface="+mn-ea"/>
                </a:rPr>
                <a:t>/</a:t>
              </a:r>
              <a:r>
                <a:rPr lang="ko-KR" altLang="en-US" sz="650" dirty="0">
                  <a:latin typeface="+mn-ea"/>
                </a:rPr>
                <a:t>예정가격</a:t>
              </a:r>
              <a:r>
                <a:rPr lang="en-US" altLang="ko-KR" sz="650" dirty="0">
                  <a:latin typeface="+mn-ea"/>
                </a:rPr>
                <a:t>) X 100}</a:t>
              </a:r>
            </a:p>
          </p:txBody>
        </p:sp>
        <p:sp>
          <p:nvSpPr>
            <p:cNvPr id="182" name="TextBox 181">
              <a:extLst>
                <a:ext uri="{FF2B5EF4-FFF2-40B4-BE49-F238E27FC236}">
                  <a16:creationId xmlns:a16="http://schemas.microsoft.com/office/drawing/2014/main" id="{FFC49AEA-2A8F-250C-A86A-A7751D9706C3}"/>
                </a:ext>
              </a:extLst>
            </p:cNvPr>
            <p:cNvSpPr txBox="1"/>
            <p:nvPr/>
          </p:nvSpPr>
          <p:spPr>
            <a:xfrm>
              <a:off x="3927198" y="2796995"/>
              <a:ext cx="754231" cy="323165"/>
            </a:xfrm>
            <a:prstGeom prst="rect">
              <a:avLst/>
            </a:prstGeom>
            <a:noFill/>
          </p:spPr>
          <p:txBody>
            <a:bodyPr wrap="square" lIns="0" tIns="0" rIns="0" bIns="0" rtlCol="0">
              <a:spAutoFit/>
            </a:bodyPr>
            <a:lstStyle/>
            <a:p>
              <a:r>
                <a:rPr lang="ko-KR" altLang="en-US" sz="700" dirty="0" err="1">
                  <a:latin typeface="+mn-ea"/>
                </a:rPr>
                <a:t>입찰률</a:t>
              </a:r>
              <a:endParaRPr lang="en-US" altLang="ko-KR" sz="700" dirty="0">
                <a:latin typeface="+mn-ea"/>
              </a:endParaRPr>
            </a:p>
            <a:p>
              <a:r>
                <a:rPr lang="en-US" altLang="ko-KR" sz="650" dirty="0">
                  <a:latin typeface="+mn-ea"/>
                </a:rPr>
                <a:t>(</a:t>
              </a:r>
              <a:r>
                <a:rPr lang="ko-KR" altLang="en-US" sz="650" dirty="0">
                  <a:latin typeface="+mn-ea"/>
                </a:rPr>
                <a:t>입찰가격</a:t>
              </a:r>
              <a:r>
                <a:rPr lang="en-US" altLang="ko-KR" sz="650" dirty="0">
                  <a:latin typeface="+mn-ea"/>
                </a:rPr>
                <a:t>/</a:t>
              </a:r>
              <a:r>
                <a:rPr lang="ko-KR" altLang="en-US" sz="650" dirty="0">
                  <a:latin typeface="+mn-ea"/>
                </a:rPr>
                <a:t>예정가격</a:t>
              </a:r>
              <a:r>
                <a:rPr lang="en-US" altLang="ko-KR" sz="650" dirty="0">
                  <a:latin typeface="+mn-ea"/>
                </a:rPr>
                <a:t>)</a:t>
              </a:r>
              <a:r>
                <a:rPr lang="en-US" altLang="ko-KR" sz="700" dirty="0">
                  <a:latin typeface="+mn-ea"/>
                </a:rPr>
                <a:t> (%)</a:t>
              </a:r>
            </a:p>
          </p:txBody>
        </p:sp>
        <p:sp>
          <p:nvSpPr>
            <p:cNvPr id="183" name="TextBox 182">
              <a:extLst>
                <a:ext uri="{FF2B5EF4-FFF2-40B4-BE49-F238E27FC236}">
                  <a16:creationId xmlns:a16="http://schemas.microsoft.com/office/drawing/2014/main" id="{FFC49AEA-2A8F-250C-A86A-A7751D9706C3}"/>
                </a:ext>
              </a:extLst>
            </p:cNvPr>
            <p:cNvSpPr txBox="1"/>
            <p:nvPr/>
          </p:nvSpPr>
          <p:spPr>
            <a:xfrm>
              <a:off x="3927198" y="3220641"/>
              <a:ext cx="754231" cy="107722"/>
            </a:xfrm>
            <a:prstGeom prst="rect">
              <a:avLst/>
            </a:prstGeom>
            <a:noFill/>
          </p:spPr>
          <p:txBody>
            <a:bodyPr wrap="square" lIns="0" tIns="0" rIns="0" bIns="0" rtlCol="0">
              <a:spAutoFit/>
            </a:bodyPr>
            <a:lstStyle/>
            <a:p>
              <a:r>
                <a:rPr lang="ko-KR" altLang="en-US" sz="700" dirty="0">
                  <a:latin typeface="+mn-ea"/>
                </a:rPr>
                <a:t>평점</a:t>
              </a:r>
              <a:endParaRPr lang="en-US" altLang="ko-KR" sz="700" dirty="0">
                <a:latin typeface="+mn-ea"/>
              </a:endParaRPr>
            </a:p>
          </p:txBody>
        </p:sp>
        <p:sp>
          <p:nvSpPr>
            <p:cNvPr id="184" name="TextBox 183">
              <a:extLst>
                <a:ext uri="{FF2B5EF4-FFF2-40B4-BE49-F238E27FC236}">
                  <a16:creationId xmlns:a16="http://schemas.microsoft.com/office/drawing/2014/main" id="{FFC49AEA-2A8F-250C-A86A-A7751D9706C3}"/>
                </a:ext>
              </a:extLst>
            </p:cNvPr>
            <p:cNvSpPr txBox="1"/>
            <p:nvPr/>
          </p:nvSpPr>
          <p:spPr>
            <a:xfrm>
              <a:off x="4684048" y="2904716"/>
              <a:ext cx="1775839" cy="107722"/>
            </a:xfrm>
            <a:prstGeom prst="rect">
              <a:avLst/>
            </a:prstGeom>
            <a:noFill/>
          </p:spPr>
          <p:txBody>
            <a:bodyPr wrap="square" lIns="0" tIns="0" rIns="0" bIns="0" rtlCol="0">
              <a:spAutoFit/>
            </a:bodyPr>
            <a:lstStyle/>
            <a:p>
              <a:pPr algn="r"/>
              <a:r>
                <a:rPr lang="en-US" altLang="ko-KR" sz="700" dirty="0">
                  <a:latin typeface="+mn-ea"/>
                </a:rPr>
                <a:t>00 %</a:t>
              </a:r>
            </a:p>
          </p:txBody>
        </p:sp>
        <p:sp>
          <p:nvSpPr>
            <p:cNvPr id="185" name="TextBox 184">
              <a:extLst>
                <a:ext uri="{FF2B5EF4-FFF2-40B4-BE49-F238E27FC236}">
                  <a16:creationId xmlns:a16="http://schemas.microsoft.com/office/drawing/2014/main" id="{FFC49AEA-2A8F-250C-A86A-A7751D9706C3}"/>
                </a:ext>
              </a:extLst>
            </p:cNvPr>
            <p:cNvSpPr txBox="1"/>
            <p:nvPr/>
          </p:nvSpPr>
          <p:spPr>
            <a:xfrm>
              <a:off x="4684048" y="3220641"/>
              <a:ext cx="1775839" cy="107722"/>
            </a:xfrm>
            <a:prstGeom prst="rect">
              <a:avLst/>
            </a:prstGeom>
            <a:noFill/>
          </p:spPr>
          <p:txBody>
            <a:bodyPr wrap="square" lIns="0" tIns="0" rIns="0" bIns="0" rtlCol="0">
              <a:spAutoFit/>
            </a:bodyPr>
            <a:lstStyle/>
            <a:p>
              <a:pPr algn="r"/>
              <a:r>
                <a:rPr lang="en-US" altLang="ko-KR" sz="700" dirty="0">
                  <a:latin typeface="+mn-ea"/>
                </a:rPr>
                <a:t>00</a:t>
              </a:r>
            </a:p>
          </p:txBody>
        </p:sp>
      </p:grpSp>
      <p:sp>
        <p:nvSpPr>
          <p:cNvPr id="75" name="직사각형 74"/>
          <p:cNvSpPr/>
          <p:nvPr/>
        </p:nvSpPr>
        <p:spPr>
          <a:xfrm>
            <a:off x="722609" y="4585853"/>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6" name="TextBox 75">
            <a:extLst>
              <a:ext uri="{FF2B5EF4-FFF2-40B4-BE49-F238E27FC236}">
                <a16:creationId xmlns:a16="http://schemas.microsoft.com/office/drawing/2014/main" id="{FFC49AEA-2A8F-250C-A86A-A7751D9706C3}"/>
              </a:ext>
            </a:extLst>
          </p:cNvPr>
          <p:cNvSpPr txBox="1"/>
          <p:nvPr/>
        </p:nvSpPr>
        <p:spPr>
          <a:xfrm>
            <a:off x="762145" y="3489731"/>
            <a:ext cx="1598477" cy="181140"/>
          </a:xfrm>
          <a:prstGeom prst="rect">
            <a:avLst/>
          </a:prstGeom>
          <a:noFill/>
        </p:spPr>
        <p:txBody>
          <a:bodyPr wrap="square" lIns="0" tIns="0" rIns="0" bIns="0" rtlCol="0">
            <a:spAutoFit/>
          </a:bodyPr>
          <a:lstStyle/>
          <a:p>
            <a:pPr>
              <a:lnSpc>
                <a:spcPct val="200000"/>
              </a:lnSpc>
            </a:pPr>
            <a:r>
              <a:rPr lang="en-US" altLang="ko-KR" sz="700" dirty="0">
                <a:latin typeface="+mn-ea"/>
              </a:rPr>
              <a:t>5.</a:t>
            </a:r>
            <a:r>
              <a:rPr lang="ko-KR" altLang="en-US" sz="700" dirty="0">
                <a:latin typeface="+mn-ea"/>
              </a:rPr>
              <a:t>신인도</a:t>
            </a:r>
            <a:r>
              <a:rPr lang="en-US" altLang="ko-KR" sz="700" dirty="0">
                <a:latin typeface="+mn-ea"/>
              </a:rPr>
              <a:t>(0~6</a:t>
            </a:r>
            <a:r>
              <a:rPr lang="ko-KR" altLang="en-US" sz="700" dirty="0">
                <a:latin typeface="+mn-ea"/>
              </a:rPr>
              <a:t>점</a:t>
            </a:r>
            <a:r>
              <a:rPr lang="en-US" altLang="ko-KR" sz="700" dirty="0">
                <a:latin typeface="+mn-ea"/>
              </a:rPr>
              <a:t>)</a:t>
            </a:r>
          </a:p>
        </p:txBody>
      </p:sp>
      <p:grpSp>
        <p:nvGrpSpPr>
          <p:cNvPr id="77" name="그룹 76"/>
          <p:cNvGrpSpPr/>
          <p:nvPr/>
        </p:nvGrpSpPr>
        <p:grpSpPr>
          <a:xfrm flipV="1">
            <a:off x="3124232" y="3589714"/>
            <a:ext cx="94010" cy="47005"/>
            <a:chOff x="6812560" y="3297172"/>
            <a:chExt cx="94010" cy="47005"/>
          </a:xfrm>
        </p:grpSpPr>
        <p:cxnSp>
          <p:nvCxnSpPr>
            <p:cNvPr id="100" name="직선 연결선 9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1" name="직선 연결선 10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78" name="직선 연결선 77">
            <a:extLst>
              <a:ext uri="{FF2B5EF4-FFF2-40B4-BE49-F238E27FC236}">
                <a16:creationId xmlns:a16="http://schemas.microsoft.com/office/drawing/2014/main" id="{E9293055-D5CD-4B9E-7F64-64B2D2CA7A52}"/>
              </a:ext>
            </a:extLst>
          </p:cNvPr>
          <p:cNvCxnSpPr/>
          <p:nvPr/>
        </p:nvCxnSpPr>
        <p:spPr>
          <a:xfrm>
            <a:off x="675399" y="3783868"/>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9" name="TextBox 78">
            <a:extLst>
              <a:ext uri="{FF2B5EF4-FFF2-40B4-BE49-F238E27FC236}">
                <a16:creationId xmlns:a16="http://schemas.microsoft.com/office/drawing/2014/main" id="{FFC49AEA-2A8F-250C-A86A-A7751D9706C3}"/>
              </a:ext>
            </a:extLst>
          </p:cNvPr>
          <p:cNvSpPr txBox="1"/>
          <p:nvPr/>
        </p:nvSpPr>
        <p:spPr>
          <a:xfrm>
            <a:off x="763577" y="3816081"/>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부정적 처리 가능성</a:t>
            </a:r>
            <a:endParaRPr lang="en-US" altLang="ko-KR" sz="700"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endParaRPr lang="ko-KR" altLang="en-US" sz="700" dirty="0">
              <a:latin typeface="+mn-ea"/>
            </a:endParaRPr>
          </a:p>
        </p:txBody>
      </p:sp>
      <p:sp>
        <p:nvSpPr>
          <p:cNvPr id="90" name="TextBox 89">
            <a:extLst>
              <a:ext uri="{FF2B5EF4-FFF2-40B4-BE49-F238E27FC236}">
                <a16:creationId xmlns:a16="http://schemas.microsoft.com/office/drawing/2014/main" id="{FFC49AEA-2A8F-250C-A86A-A7751D9706C3}"/>
              </a:ext>
            </a:extLst>
          </p:cNvPr>
          <p:cNvSpPr txBox="1"/>
          <p:nvPr/>
        </p:nvSpPr>
        <p:spPr>
          <a:xfrm>
            <a:off x="1843886" y="4569733"/>
            <a:ext cx="359073" cy="396583"/>
          </a:xfrm>
          <a:prstGeom prst="rect">
            <a:avLst/>
          </a:prstGeom>
          <a:noFill/>
        </p:spPr>
        <p:txBody>
          <a:bodyPr wrap="none" lIns="0" tIns="0" rIns="0" bIns="0" rtlCol="0">
            <a:spAutoFit/>
          </a:bodyPr>
          <a:lstStyle/>
          <a:p>
            <a:pPr algn="ctr">
              <a:lnSpc>
                <a:spcPct val="200000"/>
              </a:lnSpc>
            </a:pPr>
            <a:r>
              <a:rPr lang="ko-KR" altLang="en-US" sz="700" dirty="0">
                <a:latin typeface="+mn-ea"/>
              </a:rPr>
              <a:t>평가결과</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91" name="TextBox 90">
            <a:extLst>
              <a:ext uri="{FF2B5EF4-FFF2-40B4-BE49-F238E27FC236}">
                <a16:creationId xmlns:a16="http://schemas.microsoft.com/office/drawing/2014/main" id="{FFC49AEA-2A8F-250C-A86A-A7751D9706C3}"/>
              </a:ext>
            </a:extLst>
          </p:cNvPr>
          <p:cNvSpPr txBox="1"/>
          <p:nvPr/>
        </p:nvSpPr>
        <p:spPr>
          <a:xfrm>
            <a:off x="1011639" y="4569733"/>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배점</a:t>
            </a:r>
            <a:endParaRPr lang="en-US" altLang="ko-KR" sz="700" dirty="0">
              <a:latin typeface="+mn-ea"/>
            </a:endParaRPr>
          </a:p>
          <a:p>
            <a:pPr algn="ctr">
              <a:lnSpc>
                <a:spcPct val="200000"/>
              </a:lnSpc>
            </a:pPr>
            <a:r>
              <a:rPr lang="en-US" altLang="ko-KR" sz="700" dirty="0">
                <a:latin typeface="+mn-ea"/>
              </a:rPr>
              <a:t>-3.0</a:t>
            </a:r>
          </a:p>
        </p:txBody>
      </p:sp>
      <p:cxnSp>
        <p:nvCxnSpPr>
          <p:cNvPr id="94" name="직선 연결선 93">
            <a:extLst>
              <a:ext uri="{FF2B5EF4-FFF2-40B4-BE49-F238E27FC236}">
                <a16:creationId xmlns:a16="http://schemas.microsoft.com/office/drawing/2014/main" id="{E9293055-D5CD-4B9E-7F64-64B2D2CA7A52}"/>
              </a:ext>
            </a:extLst>
          </p:cNvPr>
          <p:cNvCxnSpPr/>
          <p:nvPr/>
        </p:nvCxnSpPr>
        <p:spPr>
          <a:xfrm>
            <a:off x="716365" y="45830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718458" y="47978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18458" y="499707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8" name="TextBox 97">
            <a:extLst>
              <a:ext uri="{FF2B5EF4-FFF2-40B4-BE49-F238E27FC236}">
                <a16:creationId xmlns:a16="http://schemas.microsoft.com/office/drawing/2014/main" id="{FFC49AEA-2A8F-250C-A86A-A7751D9706C3}"/>
              </a:ext>
            </a:extLst>
          </p:cNvPr>
          <p:cNvSpPr txBox="1"/>
          <p:nvPr/>
        </p:nvSpPr>
        <p:spPr>
          <a:xfrm>
            <a:off x="2858085" y="4569733"/>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99" name="TextBox 98">
            <a:extLst>
              <a:ext uri="{FF2B5EF4-FFF2-40B4-BE49-F238E27FC236}">
                <a16:creationId xmlns:a16="http://schemas.microsoft.com/office/drawing/2014/main" id="{FFC49AEA-2A8F-250C-A86A-A7751D9706C3}"/>
              </a:ext>
            </a:extLst>
          </p:cNvPr>
          <p:cNvSpPr txBox="1"/>
          <p:nvPr/>
        </p:nvSpPr>
        <p:spPr>
          <a:xfrm>
            <a:off x="805520" y="4264377"/>
            <a:ext cx="2507485" cy="215444"/>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최근 </a:t>
            </a:r>
            <a:r>
              <a:rPr lang="en-US" altLang="ko-KR" sz="700" dirty="0">
                <a:latin typeface="+mn-ea"/>
              </a:rPr>
              <a:t>2</a:t>
            </a:r>
            <a:r>
              <a:rPr lang="ko-KR" altLang="en-US" sz="700" dirty="0">
                <a:latin typeface="+mn-ea"/>
              </a:rPr>
              <a:t>년 내 사업장폐기물을 버리거나 매립하여 벌금형 이상을 받은 자나 행정처분을 받은 자</a:t>
            </a:r>
            <a:r>
              <a:rPr lang="en-US" altLang="ko-KR" sz="700" dirty="0">
                <a:latin typeface="+mn-ea"/>
              </a:rPr>
              <a:t>(</a:t>
            </a:r>
            <a:r>
              <a:rPr lang="ko-KR" altLang="en-US" sz="700" dirty="0">
                <a:latin typeface="+mn-ea"/>
              </a:rPr>
              <a:t>폐기물관리법 제</a:t>
            </a:r>
            <a:r>
              <a:rPr lang="en-US" altLang="ko-KR" sz="700" dirty="0">
                <a:latin typeface="+mn-ea"/>
              </a:rPr>
              <a:t>7</a:t>
            </a:r>
            <a:r>
              <a:rPr lang="ko-KR" altLang="en-US" sz="700" dirty="0">
                <a:latin typeface="+mn-ea"/>
              </a:rPr>
              <a:t>조 위반</a:t>
            </a:r>
            <a:r>
              <a:rPr lang="en-US" altLang="ko-KR" sz="700" dirty="0">
                <a:latin typeface="+mn-ea"/>
              </a:rPr>
              <a:t>)</a:t>
            </a:r>
          </a:p>
        </p:txBody>
      </p:sp>
      <p:sp>
        <p:nvSpPr>
          <p:cNvPr id="102" name="직사각형 101"/>
          <p:cNvSpPr/>
          <p:nvPr/>
        </p:nvSpPr>
        <p:spPr>
          <a:xfrm>
            <a:off x="722609" y="5571762"/>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763577" y="5013923"/>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endParaRPr lang="ko-KR" altLang="en-US" sz="700" dirty="0">
              <a:latin typeface="+mn-ea"/>
            </a:endParaRPr>
          </a:p>
        </p:txBody>
      </p:sp>
      <p:sp>
        <p:nvSpPr>
          <p:cNvPr id="106" name="TextBox 105">
            <a:extLst>
              <a:ext uri="{FF2B5EF4-FFF2-40B4-BE49-F238E27FC236}">
                <a16:creationId xmlns:a16="http://schemas.microsoft.com/office/drawing/2014/main" id="{FFC49AEA-2A8F-250C-A86A-A7751D9706C3}"/>
              </a:ext>
            </a:extLst>
          </p:cNvPr>
          <p:cNvSpPr txBox="1"/>
          <p:nvPr/>
        </p:nvSpPr>
        <p:spPr>
          <a:xfrm>
            <a:off x="1843886" y="5555642"/>
            <a:ext cx="359073" cy="396583"/>
          </a:xfrm>
          <a:prstGeom prst="rect">
            <a:avLst/>
          </a:prstGeom>
          <a:noFill/>
        </p:spPr>
        <p:txBody>
          <a:bodyPr wrap="none" lIns="0" tIns="0" rIns="0" bIns="0" rtlCol="0">
            <a:spAutoFit/>
          </a:bodyPr>
          <a:lstStyle/>
          <a:p>
            <a:pPr algn="ctr">
              <a:lnSpc>
                <a:spcPct val="200000"/>
              </a:lnSpc>
            </a:pPr>
            <a:r>
              <a:rPr lang="ko-KR" altLang="en-US" sz="700" dirty="0">
                <a:latin typeface="+mn-ea"/>
              </a:rPr>
              <a:t>평가결과</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07" name="TextBox 106">
            <a:extLst>
              <a:ext uri="{FF2B5EF4-FFF2-40B4-BE49-F238E27FC236}">
                <a16:creationId xmlns:a16="http://schemas.microsoft.com/office/drawing/2014/main" id="{FFC49AEA-2A8F-250C-A86A-A7751D9706C3}"/>
              </a:ext>
            </a:extLst>
          </p:cNvPr>
          <p:cNvSpPr txBox="1"/>
          <p:nvPr/>
        </p:nvSpPr>
        <p:spPr>
          <a:xfrm>
            <a:off x="1011639" y="5555642"/>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배점</a:t>
            </a:r>
            <a:endParaRPr lang="en-US" altLang="ko-KR" sz="700" dirty="0">
              <a:latin typeface="+mn-ea"/>
            </a:endParaRPr>
          </a:p>
          <a:p>
            <a:pPr algn="ctr">
              <a:lnSpc>
                <a:spcPct val="200000"/>
              </a:lnSpc>
            </a:pPr>
            <a:r>
              <a:rPr lang="en-US" altLang="ko-KR" sz="700" dirty="0">
                <a:latin typeface="+mn-ea"/>
              </a:rPr>
              <a:t>-2.0</a:t>
            </a:r>
          </a:p>
        </p:txBody>
      </p:sp>
      <p:cxnSp>
        <p:nvCxnSpPr>
          <p:cNvPr id="108" name="직선 연결선 107">
            <a:extLst>
              <a:ext uri="{FF2B5EF4-FFF2-40B4-BE49-F238E27FC236}">
                <a16:creationId xmlns:a16="http://schemas.microsoft.com/office/drawing/2014/main" id="{E9293055-D5CD-4B9E-7F64-64B2D2CA7A52}"/>
              </a:ext>
            </a:extLst>
          </p:cNvPr>
          <p:cNvCxnSpPr/>
          <p:nvPr/>
        </p:nvCxnSpPr>
        <p:spPr>
          <a:xfrm>
            <a:off x="716365" y="556899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9" name="직선 연결선 108">
            <a:extLst>
              <a:ext uri="{FF2B5EF4-FFF2-40B4-BE49-F238E27FC236}">
                <a16:creationId xmlns:a16="http://schemas.microsoft.com/office/drawing/2014/main" id="{E9293055-D5CD-4B9E-7F64-64B2D2CA7A52}"/>
              </a:ext>
            </a:extLst>
          </p:cNvPr>
          <p:cNvCxnSpPr/>
          <p:nvPr/>
        </p:nvCxnSpPr>
        <p:spPr>
          <a:xfrm>
            <a:off x="718458" y="57837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18458" y="59829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2" name="TextBox 111">
            <a:extLst>
              <a:ext uri="{FF2B5EF4-FFF2-40B4-BE49-F238E27FC236}">
                <a16:creationId xmlns:a16="http://schemas.microsoft.com/office/drawing/2014/main" id="{FFC49AEA-2A8F-250C-A86A-A7751D9706C3}"/>
              </a:ext>
            </a:extLst>
          </p:cNvPr>
          <p:cNvSpPr txBox="1"/>
          <p:nvPr/>
        </p:nvSpPr>
        <p:spPr>
          <a:xfrm>
            <a:off x="2858085" y="5555642"/>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805520" y="5250286"/>
            <a:ext cx="2507485" cy="215444"/>
          </a:xfrm>
          <a:prstGeom prst="rect">
            <a:avLst/>
          </a:prstGeom>
          <a:noFill/>
        </p:spPr>
        <p:txBody>
          <a:bodyPr wrap="square" lIns="0" tIns="0" rIns="0" bIns="0" rtlCol="0">
            <a:spAutoFit/>
          </a:bodyPr>
          <a:lstStyle/>
          <a:p>
            <a:r>
              <a:rPr lang="en-US" altLang="ko-KR" sz="700" dirty="0">
                <a:latin typeface="+mn-ea"/>
              </a:rPr>
              <a:t>2) </a:t>
            </a:r>
            <a:r>
              <a:rPr lang="ko-KR" altLang="en-US" sz="700" dirty="0">
                <a:latin typeface="+mn-ea"/>
              </a:rPr>
              <a:t>최근 </a:t>
            </a:r>
            <a:r>
              <a:rPr lang="en-US" altLang="ko-KR" sz="700" dirty="0">
                <a:latin typeface="+mn-ea"/>
              </a:rPr>
              <a:t>2</a:t>
            </a:r>
            <a:r>
              <a:rPr lang="ko-KR" altLang="en-US" sz="700" dirty="0">
                <a:latin typeface="+mn-ea"/>
              </a:rPr>
              <a:t>년 내 건설폐기물관리법령 규정에 의한 영업정지 </a:t>
            </a:r>
            <a:r>
              <a:rPr lang="en-US" altLang="ko-KR" sz="700" dirty="0">
                <a:latin typeface="+mn-ea"/>
              </a:rPr>
              <a:t>3</a:t>
            </a:r>
            <a:r>
              <a:rPr lang="ko-KR" altLang="en-US" sz="700" dirty="0">
                <a:latin typeface="+mn-ea"/>
              </a:rPr>
              <a:t>월 이상 또는 </a:t>
            </a:r>
            <a:r>
              <a:rPr lang="en-US" altLang="ko-KR" sz="700" dirty="0">
                <a:latin typeface="+mn-ea"/>
              </a:rPr>
              <a:t>5</a:t>
            </a:r>
            <a:r>
              <a:rPr lang="ko-KR" altLang="en-US" sz="700" dirty="0">
                <a:latin typeface="+mn-ea"/>
              </a:rPr>
              <a:t>천만원 이상 과징금 처분을 받은 자 </a:t>
            </a:r>
          </a:p>
        </p:txBody>
      </p:sp>
      <p:grpSp>
        <p:nvGrpSpPr>
          <p:cNvPr id="6" name="그룹 5"/>
          <p:cNvGrpSpPr/>
          <p:nvPr/>
        </p:nvGrpSpPr>
        <p:grpSpPr>
          <a:xfrm>
            <a:off x="3830264" y="1493927"/>
            <a:ext cx="2630093" cy="969059"/>
            <a:chOff x="3886219" y="1776747"/>
            <a:chExt cx="2630093" cy="969059"/>
          </a:xfrm>
        </p:grpSpPr>
        <p:sp>
          <p:nvSpPr>
            <p:cNvPr id="115" name="직사각형 114"/>
            <p:cNvSpPr/>
            <p:nvPr/>
          </p:nvSpPr>
          <p:spPr>
            <a:xfrm>
              <a:off x="3892463" y="2334586"/>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6" name="TextBox 115">
              <a:extLst>
                <a:ext uri="{FF2B5EF4-FFF2-40B4-BE49-F238E27FC236}">
                  <a16:creationId xmlns:a16="http://schemas.microsoft.com/office/drawing/2014/main" id="{FFC49AEA-2A8F-250C-A86A-A7751D9706C3}"/>
                </a:ext>
              </a:extLst>
            </p:cNvPr>
            <p:cNvSpPr txBox="1"/>
            <p:nvPr/>
          </p:nvSpPr>
          <p:spPr>
            <a:xfrm>
              <a:off x="3933431" y="177674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endParaRPr lang="ko-KR" altLang="en-US" sz="700" dirty="0">
                <a:latin typeface="+mn-ea"/>
              </a:endParaRPr>
            </a:p>
          </p:txBody>
        </p:sp>
        <p:sp>
          <p:nvSpPr>
            <p:cNvPr id="119" name="TextBox 118">
              <a:extLst>
                <a:ext uri="{FF2B5EF4-FFF2-40B4-BE49-F238E27FC236}">
                  <a16:creationId xmlns:a16="http://schemas.microsoft.com/office/drawing/2014/main" id="{FFC49AEA-2A8F-250C-A86A-A7751D9706C3}"/>
                </a:ext>
              </a:extLst>
            </p:cNvPr>
            <p:cNvSpPr txBox="1"/>
            <p:nvPr/>
          </p:nvSpPr>
          <p:spPr>
            <a:xfrm>
              <a:off x="5013740" y="2318466"/>
              <a:ext cx="359073" cy="396583"/>
            </a:xfrm>
            <a:prstGeom prst="rect">
              <a:avLst/>
            </a:prstGeom>
            <a:noFill/>
          </p:spPr>
          <p:txBody>
            <a:bodyPr wrap="none" lIns="0" tIns="0" rIns="0" bIns="0" rtlCol="0">
              <a:spAutoFit/>
            </a:bodyPr>
            <a:lstStyle/>
            <a:p>
              <a:pPr algn="ctr">
                <a:lnSpc>
                  <a:spcPct val="200000"/>
                </a:lnSpc>
              </a:pPr>
              <a:r>
                <a:rPr lang="ko-KR" altLang="en-US" sz="700" dirty="0">
                  <a:latin typeface="+mn-ea"/>
                </a:rPr>
                <a:t>평가결과</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20" name="TextBox 119">
              <a:extLst>
                <a:ext uri="{FF2B5EF4-FFF2-40B4-BE49-F238E27FC236}">
                  <a16:creationId xmlns:a16="http://schemas.microsoft.com/office/drawing/2014/main" id="{FFC49AEA-2A8F-250C-A86A-A7751D9706C3}"/>
                </a:ext>
              </a:extLst>
            </p:cNvPr>
            <p:cNvSpPr txBox="1"/>
            <p:nvPr/>
          </p:nvSpPr>
          <p:spPr>
            <a:xfrm>
              <a:off x="4181493" y="2318466"/>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배점</a:t>
              </a:r>
              <a:endParaRPr lang="en-US" altLang="ko-KR" sz="700" dirty="0">
                <a:latin typeface="+mn-ea"/>
              </a:endParaRPr>
            </a:p>
            <a:p>
              <a:pPr algn="ctr">
                <a:lnSpc>
                  <a:spcPct val="200000"/>
                </a:lnSpc>
              </a:pPr>
              <a:r>
                <a:rPr lang="en-US" altLang="ko-KR" sz="700" dirty="0">
                  <a:latin typeface="+mn-ea"/>
                </a:rPr>
                <a:t>-1.0</a:t>
              </a:r>
            </a:p>
          </p:txBody>
        </p:sp>
        <p:cxnSp>
          <p:nvCxnSpPr>
            <p:cNvPr id="121" name="직선 연결선 120">
              <a:extLst>
                <a:ext uri="{FF2B5EF4-FFF2-40B4-BE49-F238E27FC236}">
                  <a16:creationId xmlns:a16="http://schemas.microsoft.com/office/drawing/2014/main" id="{E9293055-D5CD-4B9E-7F64-64B2D2CA7A52}"/>
                </a:ext>
              </a:extLst>
            </p:cNvPr>
            <p:cNvCxnSpPr/>
            <p:nvPr/>
          </p:nvCxnSpPr>
          <p:spPr>
            <a:xfrm>
              <a:off x="3886219" y="233181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2" name="직선 연결선 121">
              <a:extLst>
                <a:ext uri="{FF2B5EF4-FFF2-40B4-BE49-F238E27FC236}">
                  <a16:creationId xmlns:a16="http://schemas.microsoft.com/office/drawing/2014/main" id="{E9293055-D5CD-4B9E-7F64-64B2D2CA7A52}"/>
                </a:ext>
              </a:extLst>
            </p:cNvPr>
            <p:cNvCxnSpPr/>
            <p:nvPr/>
          </p:nvCxnSpPr>
          <p:spPr>
            <a:xfrm>
              <a:off x="3888312" y="25465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3888312" y="27458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4" name="TextBox 123">
              <a:extLst>
                <a:ext uri="{FF2B5EF4-FFF2-40B4-BE49-F238E27FC236}">
                  <a16:creationId xmlns:a16="http://schemas.microsoft.com/office/drawing/2014/main" id="{FFC49AEA-2A8F-250C-A86A-A7751D9706C3}"/>
                </a:ext>
              </a:extLst>
            </p:cNvPr>
            <p:cNvSpPr txBox="1"/>
            <p:nvPr/>
          </p:nvSpPr>
          <p:spPr>
            <a:xfrm>
              <a:off x="6027939" y="2318466"/>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3975374" y="2013110"/>
              <a:ext cx="2507485" cy="215444"/>
            </a:xfrm>
            <a:prstGeom prst="rect">
              <a:avLst/>
            </a:prstGeom>
            <a:noFill/>
          </p:spPr>
          <p:txBody>
            <a:bodyPr wrap="square" lIns="0" tIns="0" rIns="0" bIns="0" rtlCol="0">
              <a:spAutoFit/>
            </a:bodyPr>
            <a:lstStyle/>
            <a:p>
              <a:r>
                <a:rPr lang="en-US" altLang="ko-KR" sz="700" dirty="0">
                  <a:latin typeface="+mn-ea"/>
                </a:rPr>
                <a:t>3) </a:t>
              </a:r>
              <a:r>
                <a:rPr lang="ko-KR" altLang="en-US" sz="700" dirty="0">
                  <a:latin typeface="+mn-ea"/>
                </a:rPr>
                <a:t>최근 </a:t>
              </a:r>
              <a:r>
                <a:rPr lang="en-US" altLang="ko-KR" sz="700" dirty="0">
                  <a:latin typeface="+mn-ea"/>
                </a:rPr>
                <a:t>1</a:t>
              </a:r>
              <a:r>
                <a:rPr lang="ko-KR" altLang="en-US" sz="700" dirty="0">
                  <a:latin typeface="+mn-ea"/>
                </a:rPr>
                <a:t>년 내 건설폐기물관리법령 규정에 의한 영업정지 </a:t>
              </a:r>
              <a:r>
                <a:rPr lang="en-US" altLang="ko-KR" sz="700" dirty="0">
                  <a:latin typeface="+mn-ea"/>
                </a:rPr>
                <a:t>1</a:t>
              </a:r>
              <a:r>
                <a:rPr lang="ko-KR" altLang="en-US" sz="700" dirty="0">
                  <a:latin typeface="+mn-ea"/>
                </a:rPr>
                <a:t>월 이상 또는 </a:t>
              </a:r>
              <a:r>
                <a:rPr lang="en-US" altLang="ko-KR" sz="700" dirty="0">
                  <a:latin typeface="+mn-ea"/>
                </a:rPr>
                <a:t>2</a:t>
              </a:r>
              <a:r>
                <a:rPr lang="ko-KR" altLang="en-US" sz="700" dirty="0">
                  <a:latin typeface="+mn-ea"/>
                </a:rPr>
                <a:t>천만원 이상 과징금 처분을 받은 자</a:t>
              </a:r>
            </a:p>
          </p:txBody>
        </p:sp>
      </p:grpSp>
      <p:cxnSp>
        <p:nvCxnSpPr>
          <p:cNvPr id="127" name="직선 연결선 126">
            <a:extLst>
              <a:ext uri="{FF2B5EF4-FFF2-40B4-BE49-F238E27FC236}">
                <a16:creationId xmlns:a16="http://schemas.microsoft.com/office/drawing/2014/main" id="{E9293055-D5CD-4B9E-7F64-64B2D2CA7A52}"/>
              </a:ext>
            </a:extLst>
          </p:cNvPr>
          <p:cNvCxnSpPr/>
          <p:nvPr/>
        </p:nvCxnSpPr>
        <p:spPr>
          <a:xfrm>
            <a:off x="675399" y="3456361"/>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9" name="직사각형 128"/>
          <p:cNvSpPr/>
          <p:nvPr/>
        </p:nvSpPr>
        <p:spPr>
          <a:xfrm>
            <a:off x="3837940" y="3693349"/>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TextBox 129">
            <a:extLst>
              <a:ext uri="{FF2B5EF4-FFF2-40B4-BE49-F238E27FC236}">
                <a16:creationId xmlns:a16="http://schemas.microsoft.com/office/drawing/2014/main" id="{FFC49AEA-2A8F-250C-A86A-A7751D9706C3}"/>
              </a:ext>
            </a:extLst>
          </p:cNvPr>
          <p:cNvSpPr txBox="1"/>
          <p:nvPr/>
        </p:nvSpPr>
        <p:spPr>
          <a:xfrm>
            <a:off x="3877476" y="2571668"/>
            <a:ext cx="1598477" cy="181140"/>
          </a:xfrm>
          <a:prstGeom prst="rect">
            <a:avLst/>
          </a:prstGeom>
          <a:noFill/>
        </p:spPr>
        <p:txBody>
          <a:bodyPr wrap="square" lIns="0" tIns="0" rIns="0" bIns="0" rtlCol="0">
            <a:spAutoFit/>
          </a:bodyPr>
          <a:lstStyle/>
          <a:p>
            <a:pPr>
              <a:lnSpc>
                <a:spcPct val="200000"/>
              </a:lnSpc>
            </a:pPr>
            <a:r>
              <a:rPr lang="en-US" altLang="ko-KR" sz="700" dirty="0">
                <a:latin typeface="+mn-ea"/>
              </a:rPr>
              <a:t>6.</a:t>
            </a:r>
            <a:r>
              <a:rPr lang="ko-KR" altLang="en-US" sz="700" dirty="0">
                <a:latin typeface="+mn-ea"/>
              </a:rPr>
              <a:t>결격사유 </a:t>
            </a:r>
            <a:r>
              <a:rPr lang="en-US" altLang="ko-KR" sz="700" dirty="0">
                <a:latin typeface="+mn-ea"/>
              </a:rPr>
              <a:t>(-45</a:t>
            </a:r>
            <a:r>
              <a:rPr lang="ko-KR" altLang="en-US" sz="700" dirty="0">
                <a:latin typeface="+mn-ea"/>
              </a:rPr>
              <a:t>점</a:t>
            </a:r>
            <a:r>
              <a:rPr lang="en-US" altLang="ko-KR" sz="700" dirty="0">
                <a:latin typeface="+mn-ea"/>
              </a:rPr>
              <a:t>)</a:t>
            </a:r>
          </a:p>
        </p:txBody>
      </p:sp>
      <p:grpSp>
        <p:nvGrpSpPr>
          <p:cNvPr id="131" name="그룹 130"/>
          <p:cNvGrpSpPr/>
          <p:nvPr/>
        </p:nvGrpSpPr>
        <p:grpSpPr>
          <a:xfrm flipV="1">
            <a:off x="6239563" y="2671651"/>
            <a:ext cx="94010" cy="47005"/>
            <a:chOff x="6812560" y="3297172"/>
            <a:chExt cx="94010" cy="47005"/>
          </a:xfrm>
        </p:grpSpPr>
        <p:cxnSp>
          <p:nvCxnSpPr>
            <p:cNvPr id="132" name="직선 연결선 13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3" name="직선 연결선 13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3790730" y="2865805"/>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TextBox 138">
            <a:extLst>
              <a:ext uri="{FF2B5EF4-FFF2-40B4-BE49-F238E27FC236}">
                <a16:creationId xmlns:a16="http://schemas.microsoft.com/office/drawing/2014/main" id="{FFC49AEA-2A8F-250C-A86A-A7751D9706C3}"/>
              </a:ext>
            </a:extLst>
          </p:cNvPr>
          <p:cNvSpPr txBox="1"/>
          <p:nvPr/>
        </p:nvSpPr>
        <p:spPr>
          <a:xfrm>
            <a:off x="3878908" y="2871322"/>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err="1">
                <a:latin typeface="+mn-ea"/>
              </a:rPr>
              <a:t>부실수행</a:t>
            </a:r>
            <a:endParaRPr lang="en-US" altLang="ko-KR" sz="700"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endParaRPr lang="ko-KR" altLang="en-US" sz="700" dirty="0">
              <a:latin typeface="+mn-ea"/>
            </a:endParaRPr>
          </a:p>
        </p:txBody>
      </p:sp>
      <p:sp>
        <p:nvSpPr>
          <p:cNvPr id="140" name="TextBox 139">
            <a:extLst>
              <a:ext uri="{FF2B5EF4-FFF2-40B4-BE49-F238E27FC236}">
                <a16:creationId xmlns:a16="http://schemas.microsoft.com/office/drawing/2014/main" id="{FFC49AEA-2A8F-250C-A86A-A7751D9706C3}"/>
              </a:ext>
            </a:extLst>
          </p:cNvPr>
          <p:cNvSpPr txBox="1"/>
          <p:nvPr/>
        </p:nvSpPr>
        <p:spPr>
          <a:xfrm>
            <a:off x="4959217" y="3677229"/>
            <a:ext cx="359073" cy="396583"/>
          </a:xfrm>
          <a:prstGeom prst="rect">
            <a:avLst/>
          </a:prstGeom>
          <a:noFill/>
        </p:spPr>
        <p:txBody>
          <a:bodyPr wrap="none" lIns="0" tIns="0" rIns="0" bIns="0" rtlCol="0">
            <a:spAutoFit/>
          </a:bodyPr>
          <a:lstStyle/>
          <a:p>
            <a:pPr algn="ctr">
              <a:lnSpc>
                <a:spcPct val="200000"/>
              </a:lnSpc>
            </a:pPr>
            <a:r>
              <a:rPr lang="ko-KR" altLang="en-US" sz="700" dirty="0">
                <a:latin typeface="+mn-ea"/>
              </a:rPr>
              <a:t>평가결과</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41" name="TextBox 140">
            <a:extLst>
              <a:ext uri="{FF2B5EF4-FFF2-40B4-BE49-F238E27FC236}">
                <a16:creationId xmlns:a16="http://schemas.microsoft.com/office/drawing/2014/main" id="{FFC49AEA-2A8F-250C-A86A-A7751D9706C3}"/>
              </a:ext>
            </a:extLst>
          </p:cNvPr>
          <p:cNvSpPr txBox="1"/>
          <p:nvPr/>
        </p:nvSpPr>
        <p:spPr>
          <a:xfrm>
            <a:off x="4126970" y="3677229"/>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배점</a:t>
            </a:r>
            <a:endParaRPr lang="en-US" altLang="ko-KR" sz="700" dirty="0">
              <a:latin typeface="+mn-ea"/>
            </a:endParaRPr>
          </a:p>
          <a:p>
            <a:pPr algn="ctr">
              <a:lnSpc>
                <a:spcPct val="200000"/>
              </a:lnSpc>
            </a:pPr>
            <a:r>
              <a:rPr lang="en-US" altLang="ko-KR" sz="700" dirty="0">
                <a:latin typeface="+mn-ea"/>
              </a:rPr>
              <a:t>-15.0</a:t>
            </a:r>
          </a:p>
        </p:txBody>
      </p:sp>
      <p:cxnSp>
        <p:nvCxnSpPr>
          <p:cNvPr id="142" name="직선 연결선 141">
            <a:extLst>
              <a:ext uri="{FF2B5EF4-FFF2-40B4-BE49-F238E27FC236}">
                <a16:creationId xmlns:a16="http://schemas.microsoft.com/office/drawing/2014/main" id="{E9293055-D5CD-4B9E-7F64-64B2D2CA7A52}"/>
              </a:ext>
            </a:extLst>
          </p:cNvPr>
          <p:cNvCxnSpPr/>
          <p:nvPr/>
        </p:nvCxnSpPr>
        <p:spPr>
          <a:xfrm>
            <a:off x="3831696" y="369057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3833789" y="39053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3833789" y="410456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5973416" y="3677229"/>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172" name="TextBox 171">
            <a:extLst>
              <a:ext uri="{FF2B5EF4-FFF2-40B4-BE49-F238E27FC236}">
                <a16:creationId xmlns:a16="http://schemas.microsoft.com/office/drawing/2014/main" id="{FFC49AEA-2A8F-250C-A86A-A7751D9706C3}"/>
              </a:ext>
            </a:extLst>
          </p:cNvPr>
          <p:cNvSpPr txBox="1"/>
          <p:nvPr/>
        </p:nvSpPr>
        <p:spPr>
          <a:xfrm>
            <a:off x="3920851" y="3319618"/>
            <a:ext cx="2507485" cy="323165"/>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당해 업체가 </a:t>
            </a:r>
            <a:r>
              <a:rPr lang="ko-KR" altLang="en-US" sz="700" dirty="0" err="1">
                <a:latin typeface="+mn-ea"/>
              </a:rPr>
              <a:t>수행중이거나</a:t>
            </a:r>
            <a:r>
              <a:rPr lang="ko-KR" altLang="en-US" sz="700" dirty="0">
                <a:latin typeface="+mn-ea"/>
              </a:rPr>
              <a:t> 수행한 용역과 관련하여 최근 </a:t>
            </a:r>
            <a:r>
              <a:rPr lang="en-US" altLang="ko-KR" sz="700" dirty="0">
                <a:latin typeface="+mn-ea"/>
              </a:rPr>
              <a:t>1</a:t>
            </a:r>
            <a:r>
              <a:rPr lang="ko-KR" altLang="en-US" sz="700" dirty="0">
                <a:latin typeface="+mn-ea"/>
              </a:rPr>
              <a:t>년 이내에  </a:t>
            </a:r>
            <a:r>
              <a:rPr lang="ko-KR" altLang="en-US" sz="700" dirty="0" err="1">
                <a:latin typeface="+mn-ea"/>
              </a:rPr>
              <a:t>계약목적</a:t>
            </a:r>
            <a:r>
              <a:rPr lang="en-US" altLang="ko-KR" sz="700" dirty="0">
                <a:latin typeface="+mn-ea"/>
              </a:rPr>
              <a:t>(</a:t>
            </a:r>
            <a:r>
              <a:rPr lang="ko-KR" altLang="en-US" sz="700" dirty="0">
                <a:latin typeface="+mn-ea"/>
              </a:rPr>
              <a:t>물</a:t>
            </a:r>
            <a:r>
              <a:rPr lang="en-US" altLang="ko-KR" sz="700" dirty="0">
                <a:latin typeface="+mn-ea"/>
              </a:rPr>
              <a:t>)</a:t>
            </a:r>
            <a:r>
              <a:rPr lang="ko-KR" altLang="en-US" sz="700" dirty="0">
                <a:latin typeface="+mn-ea"/>
              </a:rPr>
              <a:t>의 현저한 손괴를 일으킨 경우 </a:t>
            </a:r>
            <a:r>
              <a:rPr lang="en-US" altLang="ko-KR" sz="700" dirty="0">
                <a:latin typeface="+mn-ea"/>
              </a:rPr>
              <a:t>(</a:t>
            </a:r>
            <a:r>
              <a:rPr lang="ko-KR" altLang="en-US" sz="700" dirty="0">
                <a:latin typeface="+mn-ea"/>
              </a:rPr>
              <a:t>단</a:t>
            </a:r>
            <a:r>
              <a:rPr lang="en-US" altLang="ko-KR" sz="700" dirty="0">
                <a:latin typeface="+mn-ea"/>
              </a:rPr>
              <a:t>, </a:t>
            </a:r>
            <a:r>
              <a:rPr lang="ko-KR" altLang="en-US" sz="700" dirty="0">
                <a:latin typeface="+mn-ea"/>
              </a:rPr>
              <a:t>천재지변 등 불가항력적 사우 제외</a:t>
            </a:r>
            <a:r>
              <a:rPr lang="en-US" altLang="ko-KR" sz="700" dirty="0">
                <a:latin typeface="+mn-ea"/>
              </a:rPr>
              <a:t>)</a:t>
            </a:r>
          </a:p>
        </p:txBody>
      </p: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0730" y="2538298"/>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직사각형 194"/>
          <p:cNvSpPr/>
          <p:nvPr/>
        </p:nvSpPr>
        <p:spPr>
          <a:xfrm>
            <a:off x="3837940" y="4847032"/>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6" name="TextBox 195">
            <a:extLst>
              <a:ext uri="{FF2B5EF4-FFF2-40B4-BE49-F238E27FC236}">
                <a16:creationId xmlns:a16="http://schemas.microsoft.com/office/drawing/2014/main" id="{FFC49AEA-2A8F-250C-A86A-A7751D9706C3}"/>
              </a:ext>
            </a:extLst>
          </p:cNvPr>
          <p:cNvSpPr txBox="1"/>
          <p:nvPr/>
        </p:nvSpPr>
        <p:spPr>
          <a:xfrm>
            <a:off x="3878908" y="4113526"/>
            <a:ext cx="2535669" cy="430887"/>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 </a:t>
            </a:r>
            <a:r>
              <a:rPr lang="ko-KR" altLang="en-US" sz="700" dirty="0">
                <a:latin typeface="+mn-ea"/>
              </a:rPr>
              <a:t>재무위험</a:t>
            </a:r>
            <a:endParaRPr lang="en-US" altLang="ko-KR" sz="700" dirty="0">
              <a:latin typeface="+mn-ea"/>
            </a:endParaRPr>
          </a:p>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endParaRPr lang="ko-KR" altLang="en-US" sz="700" dirty="0">
              <a:latin typeface="+mn-ea"/>
            </a:endParaRPr>
          </a:p>
        </p:txBody>
      </p:sp>
      <p:sp>
        <p:nvSpPr>
          <p:cNvPr id="197" name="TextBox 196">
            <a:extLst>
              <a:ext uri="{FF2B5EF4-FFF2-40B4-BE49-F238E27FC236}">
                <a16:creationId xmlns:a16="http://schemas.microsoft.com/office/drawing/2014/main" id="{FFC49AEA-2A8F-250C-A86A-A7751D9706C3}"/>
              </a:ext>
            </a:extLst>
          </p:cNvPr>
          <p:cNvSpPr txBox="1"/>
          <p:nvPr/>
        </p:nvSpPr>
        <p:spPr>
          <a:xfrm>
            <a:off x="4959217" y="4830912"/>
            <a:ext cx="359073" cy="396583"/>
          </a:xfrm>
          <a:prstGeom prst="rect">
            <a:avLst/>
          </a:prstGeom>
          <a:noFill/>
        </p:spPr>
        <p:txBody>
          <a:bodyPr wrap="none" lIns="0" tIns="0" rIns="0" bIns="0" rtlCol="0">
            <a:spAutoFit/>
          </a:bodyPr>
          <a:lstStyle/>
          <a:p>
            <a:pPr algn="ctr">
              <a:lnSpc>
                <a:spcPct val="200000"/>
              </a:lnSpc>
            </a:pPr>
            <a:r>
              <a:rPr lang="ko-KR" altLang="en-US" sz="700" dirty="0">
                <a:latin typeface="+mn-ea"/>
              </a:rPr>
              <a:t>평가결과</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4126970" y="4830912"/>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배점</a:t>
            </a:r>
            <a:endParaRPr lang="en-US" altLang="ko-KR" sz="700" dirty="0">
              <a:latin typeface="+mn-ea"/>
            </a:endParaRPr>
          </a:p>
          <a:p>
            <a:pPr algn="ctr">
              <a:lnSpc>
                <a:spcPct val="200000"/>
              </a:lnSpc>
            </a:pPr>
            <a:r>
              <a:rPr lang="en-US" altLang="ko-KR" sz="700" dirty="0">
                <a:latin typeface="+mn-ea"/>
              </a:rPr>
              <a:t>-15.0</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31696" y="484426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3833789" y="505900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3833789" y="525825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2" name="TextBox 201">
            <a:extLst>
              <a:ext uri="{FF2B5EF4-FFF2-40B4-BE49-F238E27FC236}">
                <a16:creationId xmlns:a16="http://schemas.microsoft.com/office/drawing/2014/main" id="{FFC49AEA-2A8F-250C-A86A-A7751D9706C3}"/>
              </a:ext>
            </a:extLst>
          </p:cNvPr>
          <p:cNvSpPr txBox="1"/>
          <p:nvPr/>
        </p:nvSpPr>
        <p:spPr>
          <a:xfrm>
            <a:off x="5973416" y="4830912"/>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203" name="TextBox 202">
            <a:extLst>
              <a:ext uri="{FF2B5EF4-FFF2-40B4-BE49-F238E27FC236}">
                <a16:creationId xmlns:a16="http://schemas.microsoft.com/office/drawing/2014/main" id="{FFC49AEA-2A8F-250C-A86A-A7751D9706C3}"/>
              </a:ext>
            </a:extLst>
          </p:cNvPr>
          <p:cNvSpPr txBox="1"/>
          <p:nvPr/>
        </p:nvSpPr>
        <p:spPr>
          <a:xfrm>
            <a:off x="3920851" y="4561822"/>
            <a:ext cx="2507485" cy="215444"/>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부도 또는 파산 우려가 있어 당해 계약이행이 어렵다고 판단되는 경우</a:t>
            </a:r>
          </a:p>
        </p:txBody>
      </p:sp>
      <p:sp>
        <p:nvSpPr>
          <p:cNvPr id="204" name="직사각형 203"/>
          <p:cNvSpPr/>
          <p:nvPr/>
        </p:nvSpPr>
        <p:spPr>
          <a:xfrm>
            <a:off x="3837940" y="5834427"/>
            <a:ext cx="2623849" cy="2119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5" name="TextBox 204">
            <a:extLst>
              <a:ext uri="{FF2B5EF4-FFF2-40B4-BE49-F238E27FC236}">
                <a16:creationId xmlns:a16="http://schemas.microsoft.com/office/drawing/2014/main" id="{FFC49AEA-2A8F-250C-A86A-A7751D9706C3}"/>
              </a:ext>
            </a:extLst>
          </p:cNvPr>
          <p:cNvSpPr txBox="1"/>
          <p:nvPr/>
        </p:nvSpPr>
        <p:spPr>
          <a:xfrm>
            <a:off x="3878908" y="5265177"/>
            <a:ext cx="2535669" cy="181140"/>
          </a:xfrm>
          <a:prstGeom prst="rect">
            <a:avLst/>
          </a:prstGeom>
          <a:noFill/>
        </p:spPr>
        <p:txBody>
          <a:bodyPr wrap="square" lIns="0" tIns="0" rIns="0" bIns="0" rtlCol="0">
            <a:spAutoFit/>
          </a:bodyPr>
          <a:lstStyle/>
          <a:p>
            <a:pPr>
              <a:lnSpc>
                <a:spcPct val="200000"/>
              </a:lnSpc>
            </a:pPr>
            <a:r>
              <a:rPr lang="en-US" altLang="ko-KR" sz="700" dirty="0">
                <a:latin typeface="+mn-ea"/>
              </a:rPr>
              <a:t>- </a:t>
            </a:r>
            <a:r>
              <a:rPr lang="ko-KR" altLang="en-US" sz="700" dirty="0" err="1">
                <a:latin typeface="+mn-ea"/>
              </a:rPr>
              <a:t>심사항목</a:t>
            </a:r>
            <a:r>
              <a:rPr lang="ko-KR" altLang="en-US" sz="700" dirty="0">
                <a:latin typeface="+mn-ea"/>
              </a:rPr>
              <a:t> </a:t>
            </a:r>
            <a:r>
              <a:rPr lang="en-US" altLang="ko-KR" sz="700" dirty="0">
                <a:latin typeface="+mn-ea"/>
              </a:rPr>
              <a:t>:</a:t>
            </a:r>
            <a:endParaRPr lang="ko-KR" altLang="en-US" sz="700" dirty="0">
              <a:latin typeface="+mn-ea"/>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4959217" y="5818307"/>
            <a:ext cx="359073" cy="396583"/>
          </a:xfrm>
          <a:prstGeom prst="rect">
            <a:avLst/>
          </a:prstGeom>
          <a:noFill/>
        </p:spPr>
        <p:txBody>
          <a:bodyPr wrap="none" lIns="0" tIns="0" rIns="0" bIns="0" rtlCol="0">
            <a:spAutoFit/>
          </a:bodyPr>
          <a:lstStyle/>
          <a:p>
            <a:pPr algn="ctr">
              <a:lnSpc>
                <a:spcPct val="200000"/>
              </a:lnSpc>
            </a:pPr>
            <a:r>
              <a:rPr lang="ko-KR" altLang="en-US" sz="700" dirty="0">
                <a:latin typeface="+mn-ea"/>
              </a:rPr>
              <a:t>평가결과</a:t>
            </a:r>
            <a:endParaRPr lang="en-US" altLang="ko-KR" sz="700" dirty="0">
              <a:latin typeface="+mn-ea"/>
            </a:endParaRPr>
          </a:p>
          <a:p>
            <a:pPr algn="ctr">
              <a:lnSpc>
                <a:spcPct val="200000"/>
              </a:lnSpc>
            </a:pPr>
            <a:r>
              <a:rPr lang="en-US" altLang="ko-KR" sz="700" dirty="0">
                <a:latin typeface="+mn-ea"/>
              </a:rPr>
              <a:t>-</a:t>
            </a:r>
            <a:endParaRPr lang="ko-KR" altLang="en-US" sz="700" dirty="0">
              <a:latin typeface="+mn-ea"/>
            </a:endParaRPr>
          </a:p>
        </p:txBody>
      </p:sp>
      <p:sp>
        <p:nvSpPr>
          <p:cNvPr id="207" name="TextBox 206">
            <a:extLst>
              <a:ext uri="{FF2B5EF4-FFF2-40B4-BE49-F238E27FC236}">
                <a16:creationId xmlns:a16="http://schemas.microsoft.com/office/drawing/2014/main" id="{FFC49AEA-2A8F-250C-A86A-A7751D9706C3}"/>
              </a:ext>
            </a:extLst>
          </p:cNvPr>
          <p:cNvSpPr txBox="1"/>
          <p:nvPr/>
        </p:nvSpPr>
        <p:spPr>
          <a:xfrm>
            <a:off x="4126970" y="5818307"/>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배점</a:t>
            </a:r>
            <a:endParaRPr lang="en-US" altLang="ko-KR" sz="700" dirty="0">
              <a:latin typeface="+mn-ea"/>
            </a:endParaRPr>
          </a:p>
          <a:p>
            <a:pPr algn="ctr">
              <a:lnSpc>
                <a:spcPct val="200000"/>
              </a:lnSpc>
            </a:pPr>
            <a:r>
              <a:rPr lang="en-US" altLang="ko-KR" sz="700" dirty="0">
                <a:latin typeface="+mn-ea"/>
              </a:rPr>
              <a:t>-15.0</a:t>
            </a:r>
          </a:p>
        </p:txBody>
      </p:sp>
      <p:cxnSp>
        <p:nvCxnSpPr>
          <p:cNvPr id="208" name="직선 연결선 207">
            <a:extLst>
              <a:ext uri="{FF2B5EF4-FFF2-40B4-BE49-F238E27FC236}">
                <a16:creationId xmlns:a16="http://schemas.microsoft.com/office/drawing/2014/main" id="{E9293055-D5CD-4B9E-7F64-64B2D2CA7A52}"/>
              </a:ext>
            </a:extLst>
          </p:cNvPr>
          <p:cNvCxnSpPr/>
          <p:nvPr/>
        </p:nvCxnSpPr>
        <p:spPr>
          <a:xfrm>
            <a:off x="3831696" y="583165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3833789" y="60463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0" name="직선 연결선 209">
            <a:extLst>
              <a:ext uri="{FF2B5EF4-FFF2-40B4-BE49-F238E27FC236}">
                <a16:creationId xmlns:a16="http://schemas.microsoft.com/office/drawing/2014/main" id="{E9293055-D5CD-4B9E-7F64-64B2D2CA7A52}"/>
              </a:ext>
            </a:extLst>
          </p:cNvPr>
          <p:cNvCxnSpPr/>
          <p:nvPr/>
        </p:nvCxnSpPr>
        <p:spPr>
          <a:xfrm>
            <a:off x="3833789" y="624564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FFC49AEA-2A8F-250C-A86A-A7751D9706C3}"/>
              </a:ext>
            </a:extLst>
          </p:cNvPr>
          <p:cNvSpPr txBox="1"/>
          <p:nvPr/>
        </p:nvSpPr>
        <p:spPr>
          <a:xfrm>
            <a:off x="5973416" y="5818307"/>
            <a:ext cx="179600" cy="396583"/>
          </a:xfrm>
          <a:prstGeom prst="rect">
            <a:avLst/>
          </a:prstGeom>
          <a:noFill/>
        </p:spPr>
        <p:txBody>
          <a:bodyPr wrap="none" lIns="0" tIns="0" rIns="0" bIns="0" rtlCol="0">
            <a:noAutofit/>
          </a:bodyPr>
          <a:lstStyle/>
          <a:p>
            <a:pPr algn="ctr">
              <a:lnSpc>
                <a:spcPct val="200000"/>
              </a:lnSpc>
            </a:pPr>
            <a:r>
              <a:rPr lang="ko-KR" altLang="en-US" sz="700" dirty="0">
                <a:latin typeface="+mn-ea"/>
              </a:rPr>
              <a:t>평점</a:t>
            </a:r>
            <a:endParaRPr lang="en-US" altLang="ko-KR" sz="700" dirty="0">
              <a:latin typeface="+mn-ea"/>
            </a:endParaRPr>
          </a:p>
          <a:p>
            <a:pPr algn="ctr">
              <a:lnSpc>
                <a:spcPct val="200000"/>
              </a:lnSpc>
            </a:pPr>
            <a:r>
              <a:rPr lang="en-US" altLang="ko-KR" sz="700" dirty="0">
                <a:latin typeface="+mn-ea"/>
              </a:rPr>
              <a:t>-</a:t>
            </a:r>
          </a:p>
        </p:txBody>
      </p:sp>
      <p:sp>
        <p:nvSpPr>
          <p:cNvPr id="212" name="TextBox 211">
            <a:extLst>
              <a:ext uri="{FF2B5EF4-FFF2-40B4-BE49-F238E27FC236}">
                <a16:creationId xmlns:a16="http://schemas.microsoft.com/office/drawing/2014/main" id="{FFC49AEA-2A8F-250C-A86A-A7751D9706C3}"/>
              </a:ext>
            </a:extLst>
          </p:cNvPr>
          <p:cNvSpPr txBox="1"/>
          <p:nvPr/>
        </p:nvSpPr>
        <p:spPr>
          <a:xfrm>
            <a:off x="3920851" y="5495825"/>
            <a:ext cx="2507485" cy="323165"/>
          </a:xfrm>
          <a:prstGeom prst="rect">
            <a:avLst/>
          </a:prstGeom>
          <a:noFill/>
        </p:spPr>
        <p:txBody>
          <a:bodyPr wrap="square" lIns="0" tIns="0" rIns="0" bIns="0" rtlCol="0">
            <a:spAutoFit/>
          </a:bodyPr>
          <a:lstStyle/>
          <a:p>
            <a:r>
              <a:rPr lang="en-US" altLang="ko-KR" sz="700" dirty="0">
                <a:latin typeface="+mn-ea"/>
              </a:rPr>
              <a:t>1) </a:t>
            </a:r>
            <a:r>
              <a:rPr lang="ko-KR" altLang="en-US" sz="700" dirty="0">
                <a:latin typeface="+mn-ea"/>
              </a:rPr>
              <a:t>법정관리 또는 </a:t>
            </a:r>
            <a:r>
              <a:rPr lang="ko-KR" altLang="en-US" sz="700" dirty="0" err="1">
                <a:latin typeface="+mn-ea"/>
              </a:rPr>
              <a:t>화의결정</a:t>
            </a:r>
            <a:r>
              <a:rPr lang="ko-KR" altLang="en-US" sz="700" dirty="0">
                <a:latin typeface="+mn-ea"/>
              </a:rPr>
              <a:t> 후 당좌거래가 재개되어도 동 재개일로부터 </a:t>
            </a:r>
            <a:r>
              <a:rPr lang="en-US" altLang="ko-KR" sz="700" dirty="0">
                <a:latin typeface="+mn-ea"/>
              </a:rPr>
              <a:t>1</a:t>
            </a:r>
            <a:r>
              <a:rPr lang="ko-KR" altLang="en-US" sz="700" dirty="0">
                <a:latin typeface="+mn-ea"/>
              </a:rPr>
              <a:t>년간 보증서 발급 가능 확인서를 제출하지 못하는 경우</a:t>
            </a:r>
          </a:p>
        </p:txBody>
      </p:sp>
      <p:sp>
        <p:nvSpPr>
          <p:cNvPr id="103" name="타원 102">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86967825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278</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6881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심사결과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939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이행실적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impltPrfmncExmgrdScr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이행실적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463197"/>
                  </a:ext>
                </a:extLst>
              </a:tr>
              <a:tr h="0">
                <a:tc>
                  <a:txBody>
                    <a:bodyPr/>
                    <a:lstStyle/>
                    <a:p>
                      <a:pPr latinLnBrk="1"/>
                      <a:r>
                        <a:rPr lang="ko-KR" altLang="en-US" sz="800" dirty="0">
                          <a:latin typeface="+mn-ea"/>
                          <a:ea typeface="+mn-ea"/>
                        </a:rPr>
                        <a:t>기술능력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techAbltExmgrdScr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기술능력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1083736"/>
                  </a:ext>
                </a:extLst>
              </a:tr>
              <a:tr h="0">
                <a:tc>
                  <a:txBody>
                    <a:bodyPr/>
                    <a:lstStyle/>
                    <a:p>
                      <a:pPr latinLnBrk="1"/>
                      <a:r>
                        <a:rPr lang="ko-KR" altLang="en-US" sz="800" dirty="0">
                          <a:latin typeface="+mn-ea"/>
                          <a:ea typeface="+mn-ea"/>
                        </a:rPr>
                        <a:t>수행능력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flfmtAbltExmgrdScr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a:t>
                      </a:r>
                      <a:r>
                        <a:rPr lang="ko-KR" altLang="en-US" sz="800" dirty="0" err="1">
                          <a:latin typeface="+mn-ea"/>
                          <a:ea typeface="+mn-ea"/>
                        </a:rPr>
                        <a:t>수행능력</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1186608"/>
                  </a:ext>
                </a:extLst>
              </a:tr>
              <a:tr h="0">
                <a:tc>
                  <a:txBody>
                    <a:bodyPr/>
                    <a:lstStyle/>
                    <a:p>
                      <a:pPr latinLnBrk="1"/>
                      <a:r>
                        <a:rPr lang="ko-KR" altLang="en-US" sz="800" dirty="0">
                          <a:latin typeface="+mn-ea"/>
                          <a:ea typeface="+mn-ea"/>
                        </a:rPr>
                        <a:t>경영상태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경영상태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특별신인도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rcgdgrExmgrdScr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특별신인도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r h="0">
                <a:tc>
                  <a:txBody>
                    <a:bodyPr/>
                    <a:lstStyle/>
                    <a:p>
                      <a:pPr latinLnBrk="1"/>
                      <a:r>
                        <a:rPr lang="ko-KR" altLang="en-US" sz="800" dirty="0">
                          <a:latin typeface="+mn-ea"/>
                          <a:ea typeface="+mn-ea"/>
                        </a:rPr>
                        <a:t>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stot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당해공사 수행능력 평점</a:t>
                      </a:r>
                      <a:r>
                        <a:rPr lang="en-US" altLang="ko-KR" sz="800" dirty="0">
                          <a:latin typeface="+mn-ea"/>
                          <a:ea typeface="+mn-ea"/>
                        </a:rPr>
                        <a:t> </a:t>
                      </a:r>
                      <a:r>
                        <a:rPr lang="ko-KR" altLang="en-US" sz="800" dirty="0">
                          <a:latin typeface="+mn-ea"/>
                          <a:ea typeface="+mn-ea"/>
                        </a:rPr>
                        <a:t>소계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255586"/>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2781080"/>
                  </a:ext>
                </a:extLst>
              </a:tr>
              <a:tr h="0">
                <a:tc>
                  <a:txBody>
                    <a:bodyPr/>
                    <a:lstStyle/>
                    <a:p>
                      <a:pPr latinLnBrk="1"/>
                      <a:r>
                        <a:rPr lang="ko-KR" altLang="en-US" sz="800" dirty="0" err="1">
                          <a:latin typeface="+mn-ea"/>
                          <a:ea typeface="+mn-ea"/>
                        </a:rPr>
                        <a:t>기타결격여부</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dsqlRsnExmgrdScr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기타결격여부</a:t>
                      </a:r>
                      <a:r>
                        <a:rPr lang="ko-KR" altLang="en-US" sz="800" dirty="0">
                          <a:latin typeface="+mn-ea"/>
                          <a:ea typeface="+mn-ea"/>
                        </a:rPr>
                        <a:t> 평점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49869554"/>
                  </a:ext>
                </a:extLst>
              </a:tr>
              <a:tr h="0">
                <a:tc>
                  <a:txBody>
                    <a:bodyPr/>
                    <a:lstStyle/>
                    <a:p>
                      <a:pPr latinLnBrk="1"/>
                      <a:r>
                        <a:rPr lang="ko-KR" altLang="en-US" sz="800" dirty="0">
                          <a:latin typeface="+mn-ea"/>
                          <a:ea typeface="+mn-ea"/>
                        </a:rPr>
                        <a:t>총계</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tscr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총계 항목 조회 결과</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7446320"/>
                  </a:ext>
                </a:extLst>
              </a:tr>
            </a:tbl>
          </a:graphicData>
        </a:graphic>
      </p:graphicFrame>
      <p:sp>
        <p:nvSpPr>
          <p:cNvPr id="2" name="TextBox 1">
            <a:extLst>
              <a:ext uri="{FF2B5EF4-FFF2-40B4-BE49-F238E27FC236}">
                <a16:creationId xmlns:a16="http://schemas.microsoft.com/office/drawing/2014/main" id="{0245A557-B85F-E56D-E6CA-399FB231C20B}"/>
              </a:ext>
            </a:extLst>
          </p:cNvPr>
          <p:cNvSpPr txBox="1"/>
          <p:nvPr/>
        </p:nvSpPr>
        <p:spPr>
          <a:xfrm>
            <a:off x="465794" y="3205339"/>
            <a:ext cx="2770558"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이행실적 평가결과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3EE390BC-3B0E-9079-A79D-643F0FA222D5}"/>
              </a:ext>
            </a:extLst>
          </p:cNvPr>
          <p:cNvGraphicFramePr>
            <a:graphicFrameLocks noGrp="1"/>
          </p:cNvGraphicFramePr>
          <p:nvPr/>
        </p:nvGraphicFramePr>
        <p:xfrm>
          <a:off x="460676" y="3489093"/>
          <a:ext cx="8994883" cy="25209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impltPrfmncAmt1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업체실적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당해용역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impltLbsvcAmt1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당해용역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8009436"/>
                  </a:ext>
                </a:extLst>
              </a:tr>
              <a:tr h="0">
                <a:tc>
                  <a:txBody>
                    <a:bodyPr/>
                    <a:lstStyle/>
                    <a:p>
                      <a:pPr latinLnBrk="1"/>
                      <a:r>
                        <a:rPr lang="ko-KR" altLang="en-US" sz="800" dirty="0">
                          <a:latin typeface="+mn-ea"/>
                          <a:ea typeface="+mn-ea"/>
                        </a:rPr>
                        <a:t>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1259264"/>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impltScorScr1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4753183"/>
                  </a:ext>
                </a:extLst>
              </a:tr>
              <a:tr h="0">
                <a:tc>
                  <a:txBody>
                    <a:bodyPr/>
                    <a:lstStyle/>
                    <a:p>
                      <a:pPr latinLnBrk="1"/>
                      <a:r>
                        <a:rPr lang="ko-KR" altLang="en-US" sz="800" dirty="0">
                          <a:latin typeface="+mn-ea"/>
                          <a:ea typeface="+mn-ea"/>
                        </a:rPr>
                        <a:t>업체실적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impltPrfmncAmt2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업체실적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6459453"/>
                  </a:ext>
                </a:extLst>
              </a:tr>
              <a:tr h="0">
                <a:tc>
                  <a:txBody>
                    <a:bodyPr/>
                    <a:lstStyle/>
                    <a:p>
                      <a:pPr latinLnBrk="1"/>
                      <a:r>
                        <a:rPr lang="ko-KR" altLang="en-US" sz="800" dirty="0">
                          <a:latin typeface="+mn-ea"/>
                          <a:ea typeface="+mn-ea"/>
                        </a:rPr>
                        <a:t>당해용역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impltLbsvcAmt2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당해용역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5842920"/>
                  </a:ext>
                </a:extLst>
              </a:tr>
              <a:tr h="0">
                <a:tc>
                  <a:txBody>
                    <a:bodyPr/>
                    <a:lstStyle/>
                    <a:p>
                      <a:pPr latinLnBrk="1"/>
                      <a:r>
                        <a:rPr lang="ko-KR" altLang="en-US" sz="800" dirty="0">
                          <a:latin typeface="+mn-ea"/>
                          <a:ea typeface="+mn-ea"/>
                        </a:rPr>
                        <a:t>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899382"/>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impltScorScr2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5559650"/>
                  </a:ext>
                </a:extLst>
              </a:tr>
              <a:tr h="0">
                <a:tc>
                  <a:txBody>
                    <a:bodyPr/>
                    <a:lstStyle/>
                    <a:p>
                      <a:pPr latinLnBrk="1"/>
                      <a:r>
                        <a:rPr lang="ko-KR" altLang="en-US" sz="800" dirty="0">
                          <a:latin typeface="+mn-ea"/>
                          <a:ea typeface="+mn-ea"/>
                        </a:rPr>
                        <a:t>업체실적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impltPrfmncAmt3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업체실적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89017"/>
                  </a:ext>
                </a:extLst>
              </a:tr>
              <a:tr h="0">
                <a:tc>
                  <a:txBody>
                    <a:bodyPr/>
                    <a:lstStyle/>
                    <a:p>
                      <a:pPr latinLnBrk="1"/>
                      <a:r>
                        <a:rPr lang="ko-KR" altLang="en-US" sz="800" dirty="0">
                          <a:latin typeface="+mn-ea"/>
                          <a:ea typeface="+mn-ea"/>
                        </a:rPr>
                        <a:t>당해용역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impltLbsvcAmt3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당해용역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8996331"/>
                  </a:ext>
                </a:extLst>
              </a:tr>
              <a:tr h="0">
                <a:tc>
                  <a:txBody>
                    <a:bodyPr/>
                    <a:lstStyle/>
                    <a:p>
                      <a:pPr latinLnBrk="1"/>
                      <a:r>
                        <a:rPr lang="ko-KR" altLang="en-US" sz="800" dirty="0">
                          <a:latin typeface="+mn-ea"/>
                          <a:ea typeface="+mn-ea"/>
                        </a:rPr>
                        <a:t>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impltGrdScr3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0274164"/>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impltScorScr3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4672799"/>
                  </a:ext>
                </a:extLst>
              </a:tr>
            </a:tbl>
          </a:graphicData>
        </a:graphic>
      </p:graphicFrame>
      <p:sp>
        <p:nvSpPr>
          <p:cNvPr id="5" name="Text Box 73">
            <a:extLst>
              <a:ext uri="{FF2B5EF4-FFF2-40B4-BE49-F238E27FC236}">
                <a16:creationId xmlns:a16="http://schemas.microsoft.com/office/drawing/2014/main" id="{A0192E70-0F3A-83BF-4798-D10E62646C9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0043821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279</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781778"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기술능력</a:t>
            </a:r>
            <a:r>
              <a:rPr lang="en-US" altLang="ko-KR" sz="900" b="1" dirty="0">
                <a:solidFill>
                  <a:prstClr val="black"/>
                </a:solidFill>
              </a:rPr>
              <a:t>/</a:t>
            </a:r>
            <a:r>
              <a:rPr lang="ko-KR" altLang="en-US" sz="900" b="1" dirty="0">
                <a:solidFill>
                  <a:prstClr val="black"/>
                </a:solidFill>
              </a:rPr>
              <a:t>수행능력</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825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기술인력</a:t>
                      </a:r>
                      <a:r>
                        <a:rPr lang="en-US" altLang="ko-KR" sz="800" dirty="0">
                          <a:latin typeface="+mn-ea"/>
                          <a:ea typeface="+mn-ea"/>
                        </a:rPr>
                        <a:t>,</a:t>
                      </a:r>
                      <a:r>
                        <a:rPr lang="ko-KR" altLang="en-US" sz="800" dirty="0">
                          <a:latin typeface="+mn-ea"/>
                          <a:ea typeface="+mn-ea"/>
                        </a:rPr>
                        <a:t>시설</a:t>
                      </a:r>
                      <a:r>
                        <a:rPr lang="en-US" altLang="ko-KR" sz="800" dirty="0">
                          <a:latin typeface="+mn-ea"/>
                          <a:ea typeface="+mn-ea"/>
                        </a:rPr>
                        <a:t>,</a:t>
                      </a:r>
                      <a:r>
                        <a:rPr lang="ko-KR" altLang="en-US" sz="800" dirty="0">
                          <a:latin typeface="+mn-ea"/>
                          <a:ea typeface="+mn-ea"/>
                        </a:rPr>
                        <a:t>장비 확보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sttyRqmtExmgrdScr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기술인력</a:t>
                      </a:r>
                      <a:r>
                        <a:rPr lang="en-US" altLang="ko-KR" sz="800" dirty="0">
                          <a:latin typeface="+mn-ea"/>
                          <a:ea typeface="+mn-ea"/>
                        </a:rPr>
                        <a:t>,</a:t>
                      </a:r>
                      <a:r>
                        <a:rPr lang="ko-KR" altLang="en-US" sz="800" dirty="0">
                          <a:latin typeface="+mn-ea"/>
                          <a:ea typeface="+mn-ea"/>
                        </a:rPr>
                        <a:t>시설</a:t>
                      </a:r>
                      <a:r>
                        <a:rPr lang="en-US" altLang="ko-KR" sz="800" dirty="0">
                          <a:latin typeface="+mn-ea"/>
                          <a:ea typeface="+mn-ea"/>
                        </a:rPr>
                        <a:t>,</a:t>
                      </a:r>
                      <a:r>
                        <a:rPr lang="ko-KR" altLang="en-US" sz="800" dirty="0">
                          <a:latin typeface="+mn-ea"/>
                          <a:ea typeface="+mn-ea"/>
                        </a:rPr>
                        <a:t>장비 확보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순환골재 품질인증 심사평점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qltyGrnteExmgrdScr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순환골재 품질인증 심사평점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bl>
          </a:graphicData>
        </a:graphic>
      </p:graphicFrame>
      <p:sp>
        <p:nvSpPr>
          <p:cNvPr id="5" name="TextBox 4">
            <a:extLst>
              <a:ext uri="{FF2B5EF4-FFF2-40B4-BE49-F238E27FC236}">
                <a16:creationId xmlns:a16="http://schemas.microsoft.com/office/drawing/2014/main" id="{4C52D3E8-4ADB-E44B-D662-1382002BC780}"/>
              </a:ext>
            </a:extLst>
          </p:cNvPr>
          <p:cNvSpPr txBox="1"/>
          <p:nvPr/>
        </p:nvSpPr>
        <p:spPr>
          <a:xfrm>
            <a:off x="460676" y="1995387"/>
            <a:ext cx="3283518"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기술능력</a:t>
            </a:r>
            <a:r>
              <a:rPr lang="en-US" altLang="ko-KR" sz="900" b="1" dirty="0">
                <a:solidFill>
                  <a:prstClr val="black"/>
                </a:solidFill>
              </a:rPr>
              <a:t>/</a:t>
            </a:r>
            <a:r>
              <a:rPr lang="ko-KR" altLang="en-US" sz="900" b="1" dirty="0">
                <a:solidFill>
                  <a:prstClr val="black"/>
                </a:solidFill>
              </a:rPr>
              <a:t>수행능력 평가결과</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F59BEE52-2063-913B-F6AC-5219E2F7DD69}"/>
              </a:ext>
            </a:extLst>
          </p:cNvPr>
          <p:cNvGraphicFramePr>
            <a:graphicFrameLocks noGrp="1"/>
          </p:cNvGraphicFramePr>
          <p:nvPr/>
        </p:nvGraphicFramePr>
        <p:xfrm>
          <a:off x="455558" y="2279141"/>
          <a:ext cx="8993242" cy="25209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업체실적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techPrfmncAmt1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업체실적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당해용역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techLbsvcAmt1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당해용역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3412536"/>
                  </a:ext>
                </a:extLst>
              </a:tr>
              <a:tr h="0">
                <a:tc>
                  <a:txBody>
                    <a:bodyPr/>
                    <a:lstStyle/>
                    <a:p>
                      <a:pPr latinLnBrk="1"/>
                      <a:r>
                        <a:rPr lang="ko-KR" altLang="en-US" sz="800" dirty="0">
                          <a:latin typeface="+mn-ea"/>
                          <a:ea typeface="+mn-ea"/>
                        </a:rPr>
                        <a:t>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2740591"/>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techScorScr1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수집운반 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0109789"/>
                  </a:ext>
                </a:extLst>
              </a:tr>
              <a:tr h="0">
                <a:tc>
                  <a:txBody>
                    <a:bodyPr/>
                    <a:lstStyle/>
                    <a:p>
                      <a:pPr latinLnBrk="1"/>
                      <a:r>
                        <a:rPr lang="ko-KR" altLang="en-US" sz="800" dirty="0">
                          <a:latin typeface="+mn-ea"/>
                          <a:ea typeface="+mn-ea"/>
                        </a:rPr>
                        <a:t>업체실적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techPrfmncAmt2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업체실적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4406462"/>
                  </a:ext>
                </a:extLst>
              </a:tr>
              <a:tr h="0">
                <a:tc>
                  <a:txBody>
                    <a:bodyPr/>
                    <a:lstStyle/>
                    <a:p>
                      <a:pPr latinLnBrk="1"/>
                      <a:r>
                        <a:rPr lang="ko-KR" altLang="en-US" sz="800" dirty="0">
                          <a:latin typeface="+mn-ea"/>
                          <a:ea typeface="+mn-ea"/>
                        </a:rPr>
                        <a:t>당해용역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techLbsvcAmt2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당해용역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9229673"/>
                  </a:ext>
                </a:extLst>
              </a:tr>
              <a:tr h="0">
                <a:tc>
                  <a:txBody>
                    <a:bodyPr/>
                    <a:lstStyle/>
                    <a:p>
                      <a:pPr latinLnBrk="1"/>
                      <a:r>
                        <a:rPr lang="ko-KR" altLang="en-US" sz="800" dirty="0">
                          <a:latin typeface="+mn-ea"/>
                          <a:ea typeface="+mn-ea"/>
                        </a:rPr>
                        <a:t>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9375838"/>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techScorScr2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중간처리 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00026552"/>
                  </a:ext>
                </a:extLst>
              </a:tr>
              <a:tr h="0">
                <a:tc>
                  <a:txBody>
                    <a:bodyPr/>
                    <a:lstStyle/>
                    <a:p>
                      <a:pPr latinLnBrk="1"/>
                      <a:r>
                        <a:rPr lang="ko-KR" altLang="en-US" sz="800" dirty="0">
                          <a:latin typeface="+mn-ea"/>
                          <a:ea typeface="+mn-ea"/>
                        </a:rPr>
                        <a:t>업체실적</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techPrfmncAmt3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업체실적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8298762"/>
                  </a:ext>
                </a:extLst>
              </a:tr>
              <a:tr h="0">
                <a:tc>
                  <a:txBody>
                    <a:bodyPr/>
                    <a:lstStyle/>
                    <a:p>
                      <a:pPr latinLnBrk="1"/>
                      <a:r>
                        <a:rPr lang="ko-KR" altLang="en-US" sz="800" dirty="0">
                          <a:latin typeface="+mn-ea"/>
                          <a:ea typeface="+mn-ea"/>
                        </a:rPr>
                        <a:t>당해용역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techLbsvcAmt3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당해용역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9536531"/>
                  </a:ext>
                </a:extLst>
              </a:tr>
              <a:tr h="0">
                <a:tc>
                  <a:txBody>
                    <a:bodyPr/>
                    <a:lstStyle/>
                    <a:p>
                      <a:pPr latinLnBrk="1"/>
                      <a:r>
                        <a:rPr lang="ko-KR" altLang="en-US" sz="800" dirty="0">
                          <a:latin typeface="+mn-ea"/>
                          <a:ea typeface="+mn-ea"/>
                        </a:rPr>
                        <a:t>평가등급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techGrdScr3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평가등급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139618"/>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techScorScr3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최종처리 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15,2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120398"/>
                  </a:ext>
                </a:extLst>
              </a:tr>
            </a:tbl>
          </a:graphicData>
        </a:graphic>
      </p:graphicFrame>
      <p:sp>
        <p:nvSpPr>
          <p:cNvPr id="2" name="TextBox 1">
            <a:extLst>
              <a:ext uri="{FF2B5EF4-FFF2-40B4-BE49-F238E27FC236}">
                <a16:creationId xmlns:a16="http://schemas.microsoft.com/office/drawing/2014/main" id="{2076A81D-3599-1EEE-67D8-3442D15DF8DD}"/>
              </a:ext>
            </a:extLst>
          </p:cNvPr>
          <p:cNvSpPr txBox="1"/>
          <p:nvPr/>
        </p:nvSpPr>
        <p:spPr>
          <a:xfrm>
            <a:off x="458117" y="4991958"/>
            <a:ext cx="2268817" cy="211203"/>
          </a:xfrm>
          <a:prstGeom prst="rect">
            <a:avLst/>
          </a:prstGeom>
          <a:noFill/>
        </p:spPr>
        <p:txBody>
          <a:bodyPr wrap="none" lIns="36000" tIns="36000" rIns="36000" bIns="36000" rtlCol="0">
            <a:spAutoFit/>
          </a:bodyPr>
          <a:lstStyle/>
          <a:p>
            <a:r>
              <a:rPr lang="en-US" altLang="ko-KR" sz="900" b="1" dirty="0">
                <a:solidFill>
                  <a:prstClr val="black"/>
                </a:solidFill>
              </a:rPr>
              <a:t>1.5. </a:t>
            </a:r>
            <a:r>
              <a:rPr lang="ko-KR" altLang="en-US" sz="900" b="1" dirty="0">
                <a:solidFill>
                  <a:prstClr val="black"/>
                </a:solidFill>
              </a:rPr>
              <a:t>신용평가</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09C7583A-F236-CB9D-21A5-186CEEA821DB}"/>
              </a:ext>
            </a:extLst>
          </p:cNvPr>
          <p:cNvGraphicFramePr>
            <a:graphicFrameLocks noGrp="1"/>
          </p:cNvGraphicFramePr>
          <p:nvPr/>
        </p:nvGraphicFramePr>
        <p:xfrm>
          <a:off x="452999" y="5275712"/>
          <a:ext cx="8993242"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crdrtgGdcd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등급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배점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mngmSttsExmgrdScr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배점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3412536"/>
                  </a:ext>
                </a:extLst>
              </a:tr>
            </a:tbl>
          </a:graphicData>
        </a:graphic>
      </p:graphicFrame>
      <p:sp>
        <p:nvSpPr>
          <p:cNvPr id="7" name="TextBox 6">
            <a:extLst>
              <a:ext uri="{FF2B5EF4-FFF2-40B4-BE49-F238E27FC236}">
                <a16:creationId xmlns:a16="http://schemas.microsoft.com/office/drawing/2014/main" id="{A263B071-0058-6AD5-FAD1-5CCC7043A3BE}"/>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8" name="Text Box 73">
            <a:extLst>
              <a:ext uri="{FF2B5EF4-FFF2-40B4-BE49-F238E27FC236}">
                <a16:creationId xmlns:a16="http://schemas.microsoft.com/office/drawing/2014/main" id="{90435182-D9A6-5004-0D54-90861352C8C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67312012"/>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280</a:t>
            </a:fld>
            <a:endParaRPr lang="ko-KR" altLang="en-US" dirty="0"/>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499650"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입찰가격점수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091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입찰가격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예정가격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prnmntPrc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예정가격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17,2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8364202"/>
                  </a:ext>
                </a:extLst>
              </a:tr>
              <a:tr h="0">
                <a:tc>
                  <a:txBody>
                    <a:bodyPr/>
                    <a:lstStyle/>
                    <a:p>
                      <a:pPr latinLnBrk="1"/>
                      <a:r>
                        <a:rPr lang="ko-KR" altLang="en-US" sz="800" dirty="0" err="1">
                          <a:latin typeface="+mn-ea"/>
                          <a:ea typeface="+mn-ea"/>
                        </a:rPr>
                        <a:t>입찰률</a:t>
                      </a:r>
                      <a:r>
                        <a:rPr lang="ko-KR" altLang="en-US" sz="800" dirty="0">
                          <a:latin typeface="+mn-ea"/>
                          <a:ea typeface="+mn-ea"/>
                        </a:rPr>
                        <a:t> </a:t>
                      </a:r>
                      <a:r>
                        <a:rPr lang="en-US" altLang="ko-KR" sz="800" dirty="0">
                          <a:latin typeface="+mn-ea"/>
                          <a:ea typeface="+mn-ea"/>
                        </a:rPr>
                        <a:t>(</a:t>
                      </a:r>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r>
                        <a:rPr lang="en-US" altLang="ko-KR" sz="800" dirty="0">
                          <a:latin typeface="+mn-ea"/>
                          <a:ea typeface="+mn-ea"/>
                        </a:rPr>
                        <a:t>)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bidRt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입찰률</a:t>
                      </a:r>
                      <a:r>
                        <a:rPr lang="ko-KR" altLang="en-US" sz="800" dirty="0">
                          <a:latin typeface="+mn-ea"/>
                          <a:ea typeface="+mn-ea"/>
                        </a:rPr>
                        <a:t> </a:t>
                      </a:r>
                      <a:r>
                        <a:rPr lang="en-US" altLang="ko-KR" sz="800" dirty="0">
                          <a:latin typeface="+mn-ea"/>
                          <a:ea typeface="+mn-ea"/>
                        </a:rPr>
                        <a:t>(</a:t>
                      </a:r>
                      <a:r>
                        <a:rPr lang="ko-KR" altLang="en-US" sz="800" dirty="0">
                          <a:latin typeface="+mn-ea"/>
                          <a:ea typeface="+mn-ea"/>
                        </a:rPr>
                        <a:t>입찰가격</a:t>
                      </a:r>
                      <a:r>
                        <a:rPr lang="en-US" altLang="ko-KR" sz="800" dirty="0">
                          <a:latin typeface="+mn-ea"/>
                          <a:ea typeface="+mn-ea"/>
                        </a:rPr>
                        <a:t>/</a:t>
                      </a:r>
                      <a:r>
                        <a:rPr lang="ko-KR" altLang="en-US" sz="800" dirty="0">
                          <a:latin typeface="+mn-ea"/>
                          <a:ea typeface="+mn-ea"/>
                        </a:rPr>
                        <a:t>예정가격</a:t>
                      </a:r>
                      <a:r>
                        <a:rPr lang="en-US" altLang="ko-KR" sz="800" dirty="0">
                          <a:latin typeface="+mn-ea"/>
                          <a:ea typeface="+mn-ea"/>
                        </a:rPr>
                        <a:t>) (%)</a:t>
                      </a:r>
                      <a:r>
                        <a:rPr lang="ko-KR" altLang="en-US" sz="800" dirty="0">
                          <a:latin typeface="+mn-ea"/>
                          <a:ea typeface="+mn-ea"/>
                        </a:rPr>
                        <a:t>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9,2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5509144"/>
                  </a:ext>
                </a:extLst>
              </a:tr>
              <a:tr h="0">
                <a:tc>
                  <a:txBody>
                    <a:bodyPr/>
                    <a:lstStyle/>
                    <a:p>
                      <a:pPr latinLnBrk="1"/>
                      <a:r>
                        <a:rPr lang="ko-KR" altLang="en-US" sz="800" dirty="0">
                          <a:latin typeface="+mn-ea"/>
                          <a:ea typeface="+mn-ea"/>
                        </a:rPr>
                        <a:t>평점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bidPrcExmgrdScr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평점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6392891"/>
                  </a:ext>
                </a:extLst>
              </a:tr>
            </a:tbl>
          </a:graphicData>
        </a:graphic>
      </p:graphicFrame>
      <p:sp>
        <p:nvSpPr>
          <p:cNvPr id="7" name="TextBox 6">
            <a:extLst>
              <a:ext uri="{FF2B5EF4-FFF2-40B4-BE49-F238E27FC236}">
                <a16:creationId xmlns:a16="http://schemas.microsoft.com/office/drawing/2014/main" id="{75D50404-2C21-D793-D4BD-673DE9572644}"/>
              </a:ext>
            </a:extLst>
          </p:cNvPr>
          <p:cNvSpPr txBox="1"/>
          <p:nvPr/>
        </p:nvSpPr>
        <p:spPr>
          <a:xfrm>
            <a:off x="460676" y="2274063"/>
            <a:ext cx="2153401" cy="211203"/>
          </a:xfrm>
          <a:prstGeom prst="rect">
            <a:avLst/>
          </a:prstGeom>
          <a:noFill/>
        </p:spPr>
        <p:txBody>
          <a:bodyPr wrap="none" lIns="36000" tIns="36000" rIns="36000" bIns="36000" rtlCol="0">
            <a:spAutoFit/>
          </a:bodyPr>
          <a:lstStyle/>
          <a:p>
            <a:r>
              <a:rPr lang="en-US" altLang="ko-KR" sz="900" b="1" dirty="0">
                <a:solidFill>
                  <a:prstClr val="black"/>
                </a:solidFill>
              </a:rPr>
              <a:t>1.7. </a:t>
            </a:r>
            <a:r>
              <a:rPr lang="ko-KR" altLang="en-US" sz="900" b="1" dirty="0">
                <a:solidFill>
                  <a:prstClr val="black"/>
                </a:solidFill>
              </a:rPr>
              <a:t>신인도</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C4BB9DBB-2928-1699-0546-3B19A6DC37ED}"/>
              </a:ext>
            </a:extLst>
          </p:cNvPr>
          <p:cNvGraphicFramePr>
            <a:graphicFrameLocks noGrp="1"/>
          </p:cNvGraphicFramePr>
          <p:nvPr/>
        </p:nvGraphicFramePr>
        <p:xfrm>
          <a:off x="455558" y="2557817"/>
          <a:ext cx="8993242"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rcgdgrExmgrdScr1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부정적 처리 가능성 심사항목</a:t>
                      </a:r>
                      <a:r>
                        <a:rPr lang="en-US" altLang="ko-KR" sz="800" dirty="0">
                          <a:latin typeface="+mn-ea"/>
                          <a:ea typeface="+mn-ea"/>
                        </a:rPr>
                        <a:t>1 </a:t>
                      </a:r>
                      <a:r>
                        <a:rPr lang="ko-KR" altLang="en-US" sz="800" dirty="0">
                          <a:latin typeface="+mn-ea"/>
                          <a:ea typeface="+mn-ea"/>
                        </a:rPr>
                        <a:t>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rcgdgrExmgrdScr2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부정적 처리 가능성 심사항목</a:t>
                      </a:r>
                      <a:r>
                        <a:rPr lang="en-US" altLang="ko-KR" sz="800" dirty="0">
                          <a:latin typeface="+mn-ea"/>
                          <a:ea typeface="+mn-ea"/>
                        </a:rPr>
                        <a:t>2 </a:t>
                      </a:r>
                      <a:r>
                        <a:rPr lang="ko-KR" altLang="en-US" sz="800" dirty="0">
                          <a:latin typeface="+mn-ea"/>
                          <a:ea typeface="+mn-ea"/>
                        </a:rPr>
                        <a:t>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2740591"/>
                  </a:ext>
                </a:extLst>
              </a:tr>
              <a:tr h="0">
                <a:tc>
                  <a:txBody>
                    <a:bodyPr/>
                    <a:lstStyle/>
                    <a:p>
                      <a:pPr latinLnBrk="1"/>
                      <a:r>
                        <a:rPr lang="ko-KR" altLang="en-US" sz="800" dirty="0">
                          <a:latin typeface="+mn-ea"/>
                          <a:ea typeface="+mn-ea"/>
                        </a:rPr>
                        <a:t>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rcgdgrExmgrdScr3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부정적 처리 가능성 심사항목</a:t>
                      </a:r>
                      <a:r>
                        <a:rPr lang="en-US" altLang="ko-KR" sz="800" dirty="0">
                          <a:latin typeface="+mn-ea"/>
                          <a:ea typeface="+mn-ea"/>
                        </a:rPr>
                        <a:t>3 </a:t>
                      </a:r>
                      <a:r>
                        <a:rPr lang="ko-KR" altLang="en-US" sz="800" dirty="0">
                          <a:latin typeface="+mn-ea"/>
                          <a:ea typeface="+mn-ea"/>
                        </a:rPr>
                        <a:t>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4406462"/>
                  </a:ext>
                </a:extLst>
              </a:tr>
            </a:tbl>
          </a:graphicData>
        </a:graphic>
      </p:graphicFrame>
      <p:sp>
        <p:nvSpPr>
          <p:cNvPr id="12" name="TextBox 11">
            <a:extLst>
              <a:ext uri="{FF2B5EF4-FFF2-40B4-BE49-F238E27FC236}">
                <a16:creationId xmlns:a16="http://schemas.microsoft.com/office/drawing/2014/main" id="{C205803D-CC98-4879-732E-69A0826BB7DA}"/>
              </a:ext>
            </a:extLst>
          </p:cNvPr>
          <p:cNvSpPr txBox="1"/>
          <p:nvPr/>
        </p:nvSpPr>
        <p:spPr>
          <a:xfrm>
            <a:off x="458117" y="3631972"/>
            <a:ext cx="2268817" cy="211203"/>
          </a:xfrm>
          <a:prstGeom prst="rect">
            <a:avLst/>
          </a:prstGeom>
          <a:noFill/>
        </p:spPr>
        <p:txBody>
          <a:bodyPr wrap="none" lIns="36000" tIns="36000" rIns="36000" bIns="36000" rtlCol="0">
            <a:spAutoFit/>
          </a:bodyPr>
          <a:lstStyle/>
          <a:p>
            <a:r>
              <a:rPr lang="en-US" altLang="ko-KR" sz="900" b="1" dirty="0">
                <a:solidFill>
                  <a:prstClr val="black"/>
                </a:solidFill>
              </a:rPr>
              <a:t>1.8. </a:t>
            </a:r>
            <a:r>
              <a:rPr lang="ko-KR" altLang="en-US" sz="900" b="1" dirty="0">
                <a:solidFill>
                  <a:prstClr val="black"/>
                </a:solidFill>
              </a:rPr>
              <a:t>결격사유</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dmt_srngRslt</a:t>
            </a:r>
            <a:r>
              <a:rPr lang="en-US" altLang="ko-KR" sz="900" b="1" dirty="0">
                <a:solidFill>
                  <a:prstClr val="black"/>
                </a:solidFill>
              </a:rPr>
              <a:t>)</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F2F84E02-B612-1DD2-0391-74E7551455F2}"/>
              </a:ext>
            </a:extLst>
          </p:cNvPr>
          <p:cNvGraphicFramePr>
            <a:graphicFrameLocks noGrp="1"/>
          </p:cNvGraphicFramePr>
          <p:nvPr/>
        </p:nvGraphicFramePr>
        <p:xfrm>
          <a:off x="452999" y="3915726"/>
          <a:ext cx="8993242"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708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dsqlRsnExmgrdScr1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부실수행</a:t>
                      </a:r>
                      <a:r>
                        <a:rPr lang="en-US" altLang="ko-KR" sz="800" dirty="0">
                          <a:latin typeface="+mn-ea"/>
                          <a:ea typeface="+mn-ea"/>
                        </a:rPr>
                        <a:t> </a:t>
                      </a:r>
                      <a:r>
                        <a:rPr lang="ko-KR" altLang="en-US" sz="800" dirty="0">
                          <a:latin typeface="+mn-ea"/>
                          <a:ea typeface="+mn-ea"/>
                        </a:rPr>
                        <a:t>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latinLnBrk="1"/>
                      <a:r>
                        <a:rPr lang="ko-KR" altLang="en-US" sz="800" dirty="0">
                          <a:latin typeface="+mn-ea"/>
                          <a:ea typeface="+mn-ea"/>
                        </a:rPr>
                        <a:t>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dsqlRsnExmgrdScr2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재무위험 심사항목</a:t>
                      </a:r>
                      <a:r>
                        <a:rPr lang="en-US" altLang="ko-KR" sz="800" dirty="0">
                          <a:latin typeface="+mn-ea"/>
                          <a:ea typeface="+mn-ea"/>
                        </a:rPr>
                        <a:t>1 </a:t>
                      </a:r>
                      <a:r>
                        <a:rPr lang="ko-KR" altLang="en-US" sz="800" dirty="0">
                          <a:latin typeface="+mn-ea"/>
                          <a:ea typeface="+mn-ea"/>
                        </a:rPr>
                        <a:t>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2740591"/>
                  </a:ext>
                </a:extLst>
              </a:tr>
              <a:tr h="0">
                <a:tc>
                  <a:txBody>
                    <a:bodyPr/>
                    <a:lstStyle/>
                    <a:p>
                      <a:pPr latinLnBrk="1"/>
                      <a:r>
                        <a:rPr lang="ko-KR" altLang="en-US" sz="800" dirty="0">
                          <a:latin typeface="+mn-ea"/>
                          <a:ea typeface="+mn-ea"/>
                        </a:rPr>
                        <a:t>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a:latin typeface="+mn-ea"/>
                          <a:ea typeface="+mn-ea"/>
                        </a:rPr>
                        <a:t>dsqlRsnExmgrdScr3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재무위험</a:t>
                      </a:r>
                      <a:r>
                        <a:rPr lang="en-US" altLang="ko-KR" sz="800" dirty="0">
                          <a:latin typeface="+mn-ea"/>
                          <a:ea typeface="+mn-ea"/>
                        </a:rPr>
                        <a:t> </a:t>
                      </a:r>
                      <a:r>
                        <a:rPr lang="ko-KR" altLang="en-US" sz="800" dirty="0">
                          <a:latin typeface="+mn-ea"/>
                          <a:ea typeface="+mn-ea"/>
                        </a:rPr>
                        <a:t>심사항목</a:t>
                      </a:r>
                      <a:r>
                        <a:rPr lang="en-US" altLang="ko-KR" sz="800" dirty="0">
                          <a:latin typeface="+mn-ea"/>
                          <a:ea typeface="+mn-ea"/>
                        </a:rPr>
                        <a:t>2 </a:t>
                      </a:r>
                      <a:r>
                        <a:rPr lang="ko-KR" altLang="en-US" sz="800" dirty="0">
                          <a:latin typeface="+mn-ea"/>
                          <a:ea typeface="+mn-ea"/>
                        </a:rPr>
                        <a:t>평가결과 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4406462"/>
                  </a:ext>
                </a:extLst>
              </a:tr>
            </a:tbl>
          </a:graphicData>
        </a:graphic>
      </p:graphicFrame>
      <p:sp>
        <p:nvSpPr>
          <p:cNvPr id="2" name="TextBox 1">
            <a:extLst>
              <a:ext uri="{FF2B5EF4-FFF2-40B4-BE49-F238E27FC236}">
                <a16:creationId xmlns:a16="http://schemas.microsoft.com/office/drawing/2014/main" id="{3EF5EF16-06F9-9636-D609-7E619C499996}"/>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2DE6F62F-4AE0-BF34-C662-0E08A615310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12893364"/>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281</a:t>
            </a:fld>
            <a:endParaRPr lang="ko-KR" altLang="en-US" dirty="0"/>
          </a:p>
        </p:txBody>
      </p:sp>
      <p:sp>
        <p:nvSpPr>
          <p:cNvPr id="2" name="TextBox 1">
            <a:extLst>
              <a:ext uri="{FF2B5EF4-FFF2-40B4-BE49-F238E27FC236}">
                <a16:creationId xmlns:a16="http://schemas.microsoft.com/office/drawing/2014/main" id="{8963E566-325E-902C-857A-3863F791906F}"/>
              </a:ext>
            </a:extLst>
          </p:cNvPr>
          <p:cNvSpPr txBox="1"/>
          <p:nvPr/>
        </p:nvSpPr>
        <p:spPr>
          <a:xfrm>
            <a:off x="457408" y="74825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98CD88C9-3621-9A2B-944C-4577223A9D59}"/>
              </a:ext>
            </a:extLst>
          </p:cNvPr>
          <p:cNvGraphicFramePr>
            <a:graphicFrameLocks noGrp="1"/>
          </p:cNvGraphicFramePr>
          <p:nvPr>
            <p:extLst>
              <p:ext uri="{D42A27DB-BD31-4B8C-83A1-F6EECF244321}">
                <p14:modId xmlns:p14="http://schemas.microsoft.com/office/powerpoint/2010/main" val="725515941"/>
              </p:ext>
            </p:extLst>
          </p:nvPr>
        </p:nvGraphicFramePr>
        <p:xfrm>
          <a:off x="452291" y="1014316"/>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t>이행</a:t>
                      </a:r>
                      <a:r>
                        <a:rPr lang="en-US" altLang="ko-KR" sz="800" dirty="0"/>
                        <a:t>/</a:t>
                      </a:r>
                      <a:r>
                        <a:rPr lang="ko-KR" altLang="en-US" sz="800" dirty="0"/>
                        <a:t>적격심사 결과 상세 정보 조회</a:t>
                      </a:r>
                      <a:r>
                        <a:rPr lang="ko-KR" altLang="en-US" sz="800" dirty="0">
                          <a:latin typeface="+mn-ea"/>
                          <a:ea typeface="+mn-ea"/>
                        </a:rPr>
                        <a:t>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이행</a:t>
                      </a:r>
                      <a:r>
                        <a:rPr lang="en-US" altLang="ko-KR" sz="800" dirty="0"/>
                        <a:t>/</a:t>
                      </a:r>
                      <a:r>
                        <a:rPr lang="ko-KR" altLang="en-US" sz="800" dirty="0"/>
                        <a:t>적격심사 결과 상세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scwin.getImpltElgbSrngRsltDtlInfo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심사결과내역을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bl>
          </a:graphicData>
        </a:graphic>
      </p:graphicFrame>
      <p:sp>
        <p:nvSpPr>
          <p:cNvPr id="5" name="Text Box 73">
            <a:extLst>
              <a:ext uri="{FF2B5EF4-FFF2-40B4-BE49-F238E27FC236}">
                <a16:creationId xmlns:a16="http://schemas.microsoft.com/office/drawing/2014/main" id="{DA1835E5-EED9-024F-DF7B-ADF92002731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07662501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ea"/>
              <a:buAutoNum type="arabicPeriod"/>
            </a:pPr>
            <a:r>
              <a:rPr lang="ko-KR" altLang="en-US" dirty="0"/>
              <a:t>이행</a:t>
            </a:r>
            <a:r>
              <a:rPr lang="en-US" altLang="ko-KR" dirty="0"/>
              <a:t>/</a:t>
            </a:r>
            <a:r>
              <a:rPr lang="ko-KR" altLang="en-US" dirty="0"/>
              <a:t>적격심사 </a:t>
            </a:r>
            <a:r>
              <a:rPr lang="ko-KR" altLang="en-US" dirty="0" err="1"/>
              <a:t>포기사유</a:t>
            </a:r>
            <a:r>
              <a:rPr lang="en-US" altLang="ko-KR" dirty="0"/>
              <a:t> </a:t>
            </a:r>
            <a:r>
              <a:rPr lang="ko-KR" altLang="en-US" dirty="0"/>
              <a:t>데이터 영역</a:t>
            </a:r>
            <a:endParaRPr lang="en-US" altLang="ko-KR" dirty="0"/>
          </a:p>
          <a:p>
            <a:pPr marL="228600" indent="-228600">
              <a:buFont typeface="+mj-ea"/>
              <a:buAutoNum type="arabicPeriod"/>
            </a:pPr>
            <a:r>
              <a:rPr lang="ko-KR" altLang="en-US" dirty="0"/>
              <a:t>첨부서류 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282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t>이행</a:t>
            </a:r>
            <a:r>
              <a:rPr lang="en-US" altLang="ko-KR" dirty="0"/>
              <a:t>/</a:t>
            </a:r>
            <a:r>
              <a:rPr lang="ko-KR" altLang="en-US" dirty="0"/>
              <a:t>적격심사포기신청</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defRPr/>
            </a:pPr>
            <a:r>
              <a:rPr lang="ko-KR" altLang="en-US" dirty="0" err="1"/>
              <a:t>적격심사제</a:t>
            </a:r>
            <a:r>
              <a:rPr lang="ko-KR" altLang="en-US" dirty="0"/>
              <a:t> 공고 건에 대해 업체담당자가 이행</a:t>
            </a:r>
            <a:r>
              <a:rPr lang="en-US" altLang="ko-KR" dirty="0"/>
              <a:t>/</a:t>
            </a:r>
            <a:r>
              <a:rPr lang="ko-KR" altLang="en-US" dirty="0"/>
              <a:t>적격심사 포기 신청하는 팝업</a:t>
            </a:r>
            <a:endParaRPr lang="ko-KR" altLang="en-US" dirty="0">
              <a:solidFill>
                <a:prstClr val="black"/>
              </a:solidFill>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개찰목록</a:t>
            </a:r>
            <a:r>
              <a:rPr lang="ko-KR" altLang="en-US" dirty="0">
                <a:latin typeface="+mn-ea"/>
              </a:rPr>
              <a:t> </a:t>
            </a:r>
            <a:r>
              <a:rPr lang="en-US" altLang="ko-KR" dirty="0">
                <a:latin typeface="+mn-ea"/>
              </a:rPr>
              <a:t>&gt; </a:t>
            </a:r>
            <a:r>
              <a:rPr lang="ko-KR" altLang="en-US" dirty="0"/>
              <a:t>입찰결과상세 </a:t>
            </a:r>
            <a:r>
              <a:rPr lang="en-US" altLang="ko-KR" dirty="0"/>
              <a:t>- </a:t>
            </a:r>
            <a:r>
              <a:rPr lang="ko-KR" altLang="en-US" dirty="0"/>
              <a:t>이행</a:t>
            </a:r>
            <a:r>
              <a:rPr lang="en-US" altLang="ko-KR" dirty="0"/>
              <a:t>/</a:t>
            </a:r>
            <a:r>
              <a:rPr lang="ko-KR" altLang="en-US" dirty="0"/>
              <a:t>적격심사결과</a:t>
            </a:r>
            <a:endParaRPr lang="ko-KR" altLang="en-US" dirty="0">
              <a:latin typeface="+mn-ea"/>
            </a:endParaRPr>
          </a:p>
          <a:p>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MUI-BD-10-P21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83438"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2" name="양쪽 모서리가 둥근 사각형 321"/>
          <p:cNvSpPr/>
          <p:nvPr/>
        </p:nvSpPr>
        <p:spPr>
          <a:xfrm>
            <a:off x="3795734" y="2108521"/>
            <a:ext cx="2712027" cy="413334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326" name="모서리가 둥근 직사각형 325"/>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327" name="그룹 326"/>
          <p:cNvGrpSpPr/>
          <p:nvPr/>
        </p:nvGrpSpPr>
        <p:grpSpPr>
          <a:xfrm>
            <a:off x="6284673" y="2273335"/>
            <a:ext cx="94010" cy="94010"/>
            <a:chOff x="6812560" y="3297172"/>
            <a:chExt cx="94010" cy="94010"/>
          </a:xfrm>
        </p:grpSpPr>
        <p:cxnSp>
          <p:nvCxnSpPr>
            <p:cNvPr id="328" name="직선 연결선 32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29" name="직선 연결선 32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30" name="TextBox 329">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pPr fontAlgn="ctr"/>
            <a:r>
              <a:rPr lang="ko-KR" altLang="en-US" sz="900" dirty="0"/>
              <a:t>이행</a:t>
            </a:r>
            <a:r>
              <a:rPr lang="en-US" altLang="ko-KR" sz="900" dirty="0"/>
              <a:t>/</a:t>
            </a:r>
            <a:r>
              <a:rPr lang="ko-KR" altLang="en-US" sz="900" dirty="0"/>
              <a:t>적격심사포기신청</a:t>
            </a:r>
          </a:p>
        </p:txBody>
      </p:sp>
      <p:cxnSp>
        <p:nvCxnSpPr>
          <p:cNvPr id="331" name="직선 연결선 330">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양쪽 모서리가 둥근 사각형 94"/>
          <p:cNvSpPr/>
          <p:nvPr/>
        </p:nvSpPr>
        <p:spPr>
          <a:xfrm>
            <a:off x="688855"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96" name="모서리가 둥근 직사각형 95"/>
          <p:cNvSpPr/>
          <p:nvPr/>
        </p:nvSpPr>
        <p:spPr>
          <a:xfrm>
            <a:off x="1774868"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97" name="그룹 96"/>
          <p:cNvGrpSpPr/>
          <p:nvPr/>
        </p:nvGrpSpPr>
        <p:grpSpPr>
          <a:xfrm>
            <a:off x="3177794" y="2273335"/>
            <a:ext cx="94010" cy="94010"/>
            <a:chOff x="6812560" y="3297172"/>
            <a:chExt cx="94010" cy="94010"/>
          </a:xfrm>
        </p:grpSpPr>
        <p:cxnSp>
          <p:nvCxnSpPr>
            <p:cNvPr id="98" name="직선 연결선 97"/>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00" name="TextBox 99">
            <a:extLst>
              <a:ext uri="{FF2B5EF4-FFF2-40B4-BE49-F238E27FC236}">
                <a16:creationId xmlns:a16="http://schemas.microsoft.com/office/drawing/2014/main" id="{FFC49AEA-2A8F-250C-A86A-A7751D9706C3}"/>
              </a:ext>
            </a:extLst>
          </p:cNvPr>
          <p:cNvSpPr txBox="1"/>
          <p:nvPr/>
        </p:nvSpPr>
        <p:spPr>
          <a:xfrm>
            <a:off x="817932" y="2254014"/>
            <a:ext cx="1798758" cy="138499"/>
          </a:xfrm>
          <a:prstGeom prst="rect">
            <a:avLst/>
          </a:prstGeom>
          <a:noFill/>
        </p:spPr>
        <p:txBody>
          <a:bodyPr wrap="square" lIns="0" tIns="0" rIns="0" bIns="0" rtlCol="0">
            <a:spAutoFit/>
          </a:bodyPr>
          <a:lstStyle/>
          <a:p>
            <a:pPr fontAlgn="ctr"/>
            <a:r>
              <a:rPr lang="ko-KR" altLang="en-US" sz="900" dirty="0"/>
              <a:t>이행</a:t>
            </a:r>
            <a:r>
              <a:rPr lang="en-US" altLang="ko-KR" sz="900" dirty="0"/>
              <a:t>/</a:t>
            </a:r>
            <a:r>
              <a:rPr lang="ko-KR" altLang="en-US" sz="900" dirty="0"/>
              <a:t>적격심사포기신청</a:t>
            </a:r>
          </a:p>
        </p:txBody>
      </p:sp>
      <p:cxnSp>
        <p:nvCxnSpPr>
          <p:cNvPr id="101" name="직선 연결선 100">
            <a:extLst>
              <a:ext uri="{FF2B5EF4-FFF2-40B4-BE49-F238E27FC236}">
                <a16:creationId xmlns:a16="http://schemas.microsoft.com/office/drawing/2014/main" id="{E9293055-D5CD-4B9E-7F64-64B2D2CA7A52}"/>
              </a:ext>
            </a:extLst>
          </p:cNvPr>
          <p:cNvCxnSpPr/>
          <p:nvPr/>
        </p:nvCxnSpPr>
        <p:spPr>
          <a:xfrm>
            <a:off x="688855"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6" name="타원 115">
            <a:extLst>
              <a:ext uri="{FF2B5EF4-FFF2-40B4-BE49-F238E27FC236}">
                <a16:creationId xmlns:a16="http://schemas.microsoft.com/office/drawing/2014/main" id="{37A7FF4F-0EAA-1463-560A-D5EC24416103}"/>
              </a:ext>
            </a:extLst>
          </p:cNvPr>
          <p:cNvSpPr/>
          <p:nvPr/>
        </p:nvSpPr>
        <p:spPr>
          <a:xfrm>
            <a:off x="577700" y="357446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7935" y="2606886"/>
            <a:ext cx="2712027" cy="508898"/>
            <a:chOff x="697390" y="2606886"/>
            <a:chExt cx="2712027" cy="508898"/>
          </a:xfrm>
        </p:grpSpPr>
        <p:sp>
          <p:nvSpPr>
            <p:cNvPr id="141" name="TextBox 58">
              <a:extLst>
                <a:ext uri="{FF2B5EF4-FFF2-40B4-BE49-F238E27FC236}">
                  <a16:creationId xmlns:a16="http://schemas.microsoft.com/office/drawing/2014/main" id="{02FC114B-B48B-345F-BD70-2B5A196F5B3E}"/>
                </a:ext>
              </a:extLst>
            </p:cNvPr>
            <p:cNvSpPr txBox="1"/>
            <p:nvPr/>
          </p:nvSpPr>
          <p:spPr>
            <a:xfrm>
              <a:off x="786649" y="2791217"/>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긴급공고</a:t>
              </a:r>
              <a:r>
                <a:rPr lang="ko-KR" altLang="en-US" sz="700" dirty="0"/>
                <a:t> </a:t>
              </a:r>
              <a:r>
                <a:rPr lang="en-US" altLang="ko-KR" sz="700" dirty="0"/>
                <a:t>LDG0097-1</a:t>
              </a:r>
            </a:p>
            <a:p>
              <a:r>
                <a:rPr lang="ko-KR" altLang="en-US" sz="900" b="1" dirty="0" err="1"/>
                <a:t>특수작전용대물타격무인향</a:t>
              </a:r>
              <a:endParaRPr lang="ko-KR" altLang="en-US" sz="900" b="1" dirty="0"/>
            </a:p>
          </p:txBody>
        </p:sp>
        <p:sp>
          <p:nvSpPr>
            <p:cNvPr id="142" name="모서리가 둥근 직사각형 141"/>
            <p:cNvSpPr/>
            <p:nvPr/>
          </p:nvSpPr>
          <p:spPr>
            <a:xfrm>
              <a:off x="786649" y="2606886"/>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물품</a:t>
              </a:r>
            </a:p>
          </p:txBody>
        </p:sp>
        <p:sp>
          <p:nvSpPr>
            <p:cNvPr id="143" name="모서리가 둥근 직사각형 142"/>
            <p:cNvSpPr/>
            <p:nvPr/>
          </p:nvSpPr>
          <p:spPr>
            <a:xfrm>
              <a:off x="1080843"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46" name="직선 연결선 145">
              <a:extLst>
                <a:ext uri="{FF2B5EF4-FFF2-40B4-BE49-F238E27FC236}">
                  <a16:creationId xmlns:a16="http://schemas.microsoft.com/office/drawing/2014/main" id="{E9293055-D5CD-4B9E-7F64-64B2D2CA7A52}"/>
                </a:ext>
              </a:extLst>
            </p:cNvPr>
            <p:cNvCxnSpPr/>
            <p:nvPr/>
          </p:nvCxnSpPr>
          <p:spPr>
            <a:xfrm>
              <a:off x="697390" y="31157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6" name="모서리가 둥근 직사각형 155"/>
            <p:cNvSpPr/>
            <p:nvPr/>
          </p:nvSpPr>
          <p:spPr>
            <a:xfrm>
              <a:off x="1522790"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57" name="모서리가 둥근 직사각형 156"/>
            <p:cNvSpPr/>
            <p:nvPr/>
          </p:nvSpPr>
          <p:spPr>
            <a:xfrm>
              <a:off x="1964204" y="2606886"/>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a:t>
              </a:r>
            </a:p>
          </p:txBody>
        </p:sp>
      </p:grpSp>
      <p:cxnSp>
        <p:nvCxnSpPr>
          <p:cNvPr id="91" name="직선 연결선 90">
            <a:extLst>
              <a:ext uri="{FF2B5EF4-FFF2-40B4-BE49-F238E27FC236}">
                <a16:creationId xmlns:a16="http://schemas.microsoft.com/office/drawing/2014/main" id="{E9293055-D5CD-4B9E-7F64-64B2D2CA7A52}"/>
              </a:ext>
            </a:extLst>
          </p:cNvPr>
          <p:cNvCxnSpPr/>
          <p:nvPr/>
        </p:nvCxnSpPr>
        <p:spPr>
          <a:xfrm>
            <a:off x="675399" y="347640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2" name="TextBox 91">
            <a:extLst>
              <a:ext uri="{FF2B5EF4-FFF2-40B4-BE49-F238E27FC236}">
                <a16:creationId xmlns:a16="http://schemas.microsoft.com/office/drawing/2014/main" id="{FFC49AEA-2A8F-250C-A86A-A7751D9706C3}"/>
              </a:ext>
            </a:extLst>
          </p:cNvPr>
          <p:cNvSpPr txBox="1"/>
          <p:nvPr/>
        </p:nvSpPr>
        <p:spPr>
          <a:xfrm>
            <a:off x="1019814" y="3168917"/>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93" name="타원 92"/>
          <p:cNvSpPr/>
          <p:nvPr/>
        </p:nvSpPr>
        <p:spPr>
          <a:xfrm>
            <a:off x="783686" y="32002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0" name="그룹 119"/>
          <p:cNvGrpSpPr/>
          <p:nvPr/>
        </p:nvGrpSpPr>
        <p:grpSpPr>
          <a:xfrm>
            <a:off x="3143548" y="3282248"/>
            <a:ext cx="94010" cy="47005"/>
            <a:chOff x="6812560" y="3297172"/>
            <a:chExt cx="94010" cy="47005"/>
          </a:xfrm>
        </p:grpSpPr>
        <p:cxnSp>
          <p:nvCxnSpPr>
            <p:cNvPr id="121" name="직선 연결선 1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2" name="직선 연결선 1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28" name="그룹 127"/>
          <p:cNvGrpSpPr/>
          <p:nvPr/>
        </p:nvGrpSpPr>
        <p:grpSpPr>
          <a:xfrm>
            <a:off x="3795734" y="5614711"/>
            <a:ext cx="2712027" cy="617588"/>
            <a:chOff x="675399" y="5614711"/>
            <a:chExt cx="2712027" cy="617588"/>
          </a:xfrm>
        </p:grpSpPr>
        <p:sp>
          <p:nvSpPr>
            <p:cNvPr id="129" name="직사각형 128">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51" name="타원 150">
            <a:extLst>
              <a:ext uri="{FF2B5EF4-FFF2-40B4-BE49-F238E27FC236}">
                <a16:creationId xmlns:a16="http://schemas.microsoft.com/office/drawing/2014/main" id="{37A7FF4F-0EAA-1463-560A-D5EC24416103}"/>
              </a:ext>
            </a:extLst>
          </p:cNvPr>
          <p:cNvSpPr/>
          <p:nvPr/>
        </p:nvSpPr>
        <p:spPr>
          <a:xfrm>
            <a:off x="3709669" y="406965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3" name="TextBox 152">
            <a:extLst>
              <a:ext uri="{FF2B5EF4-FFF2-40B4-BE49-F238E27FC236}">
                <a16:creationId xmlns:a16="http://schemas.microsoft.com/office/drawing/2014/main" id="{FFC49AEA-2A8F-250C-A86A-A7751D9706C3}"/>
              </a:ext>
            </a:extLst>
          </p:cNvPr>
          <p:cNvSpPr txBox="1"/>
          <p:nvPr/>
        </p:nvSpPr>
        <p:spPr>
          <a:xfrm>
            <a:off x="781109" y="3520014"/>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사유 선택</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1029701" y="3827499"/>
            <a:ext cx="2320531" cy="1077218"/>
          </a:xfrm>
          <a:prstGeom prst="rect">
            <a:avLst/>
          </a:prstGeom>
          <a:noFill/>
        </p:spPr>
        <p:txBody>
          <a:bodyPr wrap="square" lIns="0" tIns="0" rIns="0" bIns="0" rtlCol="0">
            <a:spAutoFit/>
          </a:bodyPr>
          <a:lstStyle/>
          <a:p>
            <a:pPr>
              <a:lnSpc>
                <a:spcPct val="200000"/>
              </a:lnSpc>
            </a:pPr>
            <a:r>
              <a:rPr lang="ko-KR" altLang="en-US" sz="700" dirty="0">
                <a:latin typeface="+mn-ea"/>
              </a:rPr>
              <a:t>업체 </a:t>
            </a:r>
            <a:r>
              <a:rPr lang="ko-KR" altLang="en-US" sz="700" dirty="0" err="1">
                <a:latin typeface="+mn-ea"/>
              </a:rPr>
              <a:t>자체심사</a:t>
            </a:r>
            <a:r>
              <a:rPr lang="ko-KR" altLang="en-US" sz="700" dirty="0">
                <a:latin typeface="+mn-ea"/>
              </a:rPr>
              <a:t> 결과 기준 점수 미달</a:t>
            </a:r>
            <a:endParaRPr lang="en-US" altLang="ko-KR" sz="700" dirty="0">
              <a:latin typeface="+mn-ea"/>
            </a:endParaRPr>
          </a:p>
          <a:p>
            <a:pPr>
              <a:lnSpc>
                <a:spcPct val="200000"/>
              </a:lnSpc>
            </a:pPr>
            <a:r>
              <a:rPr lang="ko-KR" altLang="en-US" sz="700" dirty="0">
                <a:latin typeface="+mn-ea"/>
              </a:rPr>
              <a:t>참여의사 없음</a:t>
            </a:r>
            <a:endParaRPr lang="en-US" altLang="ko-KR" sz="700" dirty="0">
              <a:latin typeface="+mn-ea"/>
            </a:endParaRPr>
          </a:p>
          <a:p>
            <a:pPr>
              <a:lnSpc>
                <a:spcPct val="200000"/>
              </a:lnSpc>
            </a:pPr>
            <a:r>
              <a:rPr lang="ko-KR" altLang="en-US" sz="700" dirty="0">
                <a:latin typeface="+mn-ea"/>
              </a:rPr>
              <a:t>구매선 미확보</a:t>
            </a:r>
            <a:endParaRPr lang="en-US" altLang="ko-KR" sz="700" dirty="0">
              <a:latin typeface="+mn-ea"/>
            </a:endParaRPr>
          </a:p>
          <a:p>
            <a:pPr>
              <a:lnSpc>
                <a:spcPct val="200000"/>
              </a:lnSpc>
            </a:pPr>
            <a:r>
              <a:rPr lang="ko-KR" altLang="en-US" sz="700" dirty="0" err="1">
                <a:latin typeface="+mn-ea"/>
              </a:rPr>
              <a:t>납기준수</a:t>
            </a:r>
            <a:r>
              <a:rPr lang="ko-KR" altLang="en-US" sz="700" dirty="0">
                <a:latin typeface="+mn-ea"/>
              </a:rPr>
              <a:t> 제한</a:t>
            </a:r>
            <a:endParaRPr lang="en-US" altLang="ko-KR" sz="700" dirty="0">
              <a:latin typeface="+mn-ea"/>
            </a:endParaRPr>
          </a:p>
          <a:p>
            <a:pPr>
              <a:lnSpc>
                <a:spcPct val="200000"/>
              </a:lnSpc>
            </a:pPr>
            <a:r>
              <a:rPr lang="ko-KR" altLang="en-US" sz="700" dirty="0">
                <a:latin typeface="+mn-ea"/>
              </a:rPr>
              <a:t>기타 </a:t>
            </a:r>
            <a:r>
              <a:rPr lang="en-US" altLang="ko-KR" sz="700" dirty="0">
                <a:latin typeface="+mn-ea"/>
              </a:rPr>
              <a:t>(</a:t>
            </a:r>
            <a:r>
              <a:rPr lang="ko-KR" altLang="en-US" sz="700" dirty="0">
                <a:latin typeface="+mn-ea"/>
              </a:rPr>
              <a:t>직접 입력</a:t>
            </a:r>
            <a:r>
              <a:rPr lang="en-US" altLang="ko-KR" sz="700" dirty="0">
                <a:latin typeface="+mn-ea"/>
              </a:rPr>
              <a:t>)</a:t>
            </a:r>
          </a:p>
        </p:txBody>
      </p:sp>
      <p:grpSp>
        <p:nvGrpSpPr>
          <p:cNvPr id="166" name="그룹 165"/>
          <p:cNvGrpSpPr/>
          <p:nvPr/>
        </p:nvGrpSpPr>
        <p:grpSpPr>
          <a:xfrm>
            <a:off x="720139" y="3827499"/>
            <a:ext cx="2630093" cy="1073700"/>
            <a:chOff x="701175" y="1835481"/>
            <a:chExt cx="2630093" cy="1073700"/>
          </a:xfrm>
        </p:grpSpPr>
        <p:cxnSp>
          <p:nvCxnSpPr>
            <p:cNvPr id="167" name="직선 연결선 16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4" name="모서리가 둥근 직사각형 123"/>
          <p:cNvSpPr/>
          <p:nvPr/>
        </p:nvSpPr>
        <p:spPr>
          <a:xfrm rot="5400000">
            <a:off x="2675698" y="383695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3924557" y="2779801"/>
            <a:ext cx="2454126" cy="181140"/>
          </a:xfrm>
          <a:prstGeom prst="rect">
            <a:avLst/>
          </a:prstGeom>
          <a:noFill/>
        </p:spPr>
        <p:txBody>
          <a:bodyPr wrap="square" lIns="0" tIns="0" rIns="0" bIns="0" rtlCol="0">
            <a:spAutoFit/>
          </a:bodyPr>
          <a:lstStyle/>
          <a:p>
            <a:pPr>
              <a:lnSpc>
                <a:spcPct val="200000"/>
              </a:lnSpc>
            </a:pPr>
            <a:r>
              <a:rPr lang="ko-KR" altLang="en-US" sz="700" dirty="0">
                <a:solidFill>
                  <a:schemeClr val="bg1">
                    <a:lumMod val="75000"/>
                  </a:schemeClr>
                </a:solidFill>
                <a:latin typeface="+mn-ea"/>
              </a:rPr>
              <a:t>내용을 입력하세요</a:t>
            </a:r>
            <a:r>
              <a:rPr lang="en-US" altLang="ko-KR" sz="700" dirty="0">
                <a:solidFill>
                  <a:schemeClr val="bg1">
                    <a:lumMod val="75000"/>
                  </a:schemeClr>
                </a:solidFill>
                <a:latin typeface="+mn-ea"/>
              </a:rPr>
              <a:t>.</a:t>
            </a:r>
          </a:p>
        </p:txBody>
      </p:sp>
      <p:grpSp>
        <p:nvGrpSpPr>
          <p:cNvPr id="200" name="그룹 199"/>
          <p:cNvGrpSpPr/>
          <p:nvPr/>
        </p:nvGrpSpPr>
        <p:grpSpPr>
          <a:xfrm>
            <a:off x="3835401" y="2778927"/>
            <a:ext cx="2630093" cy="1048572"/>
            <a:chOff x="701175" y="1835481"/>
            <a:chExt cx="2630093" cy="1048572"/>
          </a:xfrm>
        </p:grpSpPr>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288405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0" name="TextBox 209">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45" name="TextBox 244">
            <a:extLst>
              <a:ext uri="{FF2B5EF4-FFF2-40B4-BE49-F238E27FC236}">
                <a16:creationId xmlns:a16="http://schemas.microsoft.com/office/drawing/2014/main" id="{FFC49AEA-2A8F-250C-A86A-A7751D9706C3}"/>
              </a:ext>
            </a:extLst>
          </p:cNvPr>
          <p:cNvSpPr txBox="1"/>
          <p:nvPr/>
        </p:nvSpPr>
        <p:spPr>
          <a:xfrm>
            <a:off x="3859820" y="2522263"/>
            <a:ext cx="1757861" cy="215444"/>
          </a:xfrm>
          <a:prstGeom prst="rect">
            <a:avLst/>
          </a:prstGeom>
          <a:noFill/>
        </p:spPr>
        <p:txBody>
          <a:bodyPr wrap="square" lIns="0" tIns="0" rIns="0" bIns="0" rtlCol="0">
            <a:spAutoFit/>
          </a:bodyPr>
          <a:lstStyle/>
          <a:p>
            <a:pPr>
              <a:lnSpc>
                <a:spcPct val="200000"/>
              </a:lnSpc>
            </a:pPr>
            <a:r>
              <a:rPr lang="ko-KR" altLang="en-US" sz="700" dirty="0" err="1">
                <a:latin typeface="+mn-ea"/>
              </a:rPr>
              <a:t>포기사유</a:t>
            </a:r>
            <a:r>
              <a:rPr lang="ko-KR" altLang="en-US" sz="700" dirty="0">
                <a:latin typeface="+mn-ea"/>
              </a:rPr>
              <a:t> </a:t>
            </a:r>
            <a:r>
              <a:rPr lang="en-US" altLang="ko-KR" sz="700" dirty="0">
                <a:solidFill>
                  <a:srgbClr val="FF0000"/>
                </a:solidFill>
                <a:latin typeface="+mn-ea"/>
              </a:rPr>
              <a:t>*</a:t>
            </a:r>
            <a:endParaRPr lang="ko-KR" altLang="en-US" sz="700" dirty="0">
              <a:solidFill>
                <a:srgbClr val="FF0000"/>
              </a:solidFill>
              <a:latin typeface="+mn-ea"/>
            </a:endParaRPr>
          </a:p>
        </p:txBody>
      </p:sp>
      <p:sp>
        <p:nvSpPr>
          <p:cNvPr id="70" name="타원 69"/>
          <p:cNvSpPr/>
          <p:nvPr/>
        </p:nvSpPr>
        <p:spPr>
          <a:xfrm>
            <a:off x="817932" y="3915892"/>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1" name="타원 70"/>
          <p:cNvSpPr/>
          <p:nvPr/>
        </p:nvSpPr>
        <p:spPr>
          <a:xfrm>
            <a:off x="817932" y="4106961"/>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817932" y="432310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817932" y="4537844"/>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타원 73"/>
          <p:cNvSpPr/>
          <p:nvPr/>
        </p:nvSpPr>
        <p:spPr>
          <a:xfrm>
            <a:off x="817932" y="475258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5" name="직선 연결선 74">
            <a:extLst>
              <a:ext uri="{FF2B5EF4-FFF2-40B4-BE49-F238E27FC236}">
                <a16:creationId xmlns:a16="http://schemas.microsoft.com/office/drawing/2014/main" id="{E9293055-D5CD-4B9E-7F64-64B2D2CA7A52}"/>
              </a:ext>
            </a:extLst>
          </p:cNvPr>
          <p:cNvCxnSpPr/>
          <p:nvPr/>
        </p:nvCxnSpPr>
        <p:spPr>
          <a:xfrm>
            <a:off x="703268" y="40422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직선 연결선 75">
            <a:extLst>
              <a:ext uri="{FF2B5EF4-FFF2-40B4-BE49-F238E27FC236}">
                <a16:creationId xmlns:a16="http://schemas.microsoft.com/office/drawing/2014/main" id="{E9293055-D5CD-4B9E-7F64-64B2D2CA7A52}"/>
              </a:ext>
            </a:extLst>
          </p:cNvPr>
          <p:cNvCxnSpPr/>
          <p:nvPr/>
        </p:nvCxnSpPr>
        <p:spPr>
          <a:xfrm>
            <a:off x="703268" y="425697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7" name="직선 연결선 76">
            <a:extLst>
              <a:ext uri="{FF2B5EF4-FFF2-40B4-BE49-F238E27FC236}">
                <a16:creationId xmlns:a16="http://schemas.microsoft.com/office/drawing/2014/main" id="{E9293055-D5CD-4B9E-7F64-64B2D2CA7A52}"/>
              </a:ext>
            </a:extLst>
          </p:cNvPr>
          <p:cNvCxnSpPr/>
          <p:nvPr/>
        </p:nvCxnSpPr>
        <p:spPr>
          <a:xfrm>
            <a:off x="703268" y="447171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8" name="직선 연결선 77">
            <a:extLst>
              <a:ext uri="{FF2B5EF4-FFF2-40B4-BE49-F238E27FC236}">
                <a16:creationId xmlns:a16="http://schemas.microsoft.com/office/drawing/2014/main" id="{E9293055-D5CD-4B9E-7F64-64B2D2CA7A52}"/>
              </a:ext>
            </a:extLst>
          </p:cNvPr>
          <p:cNvCxnSpPr/>
          <p:nvPr/>
        </p:nvCxnSpPr>
        <p:spPr>
          <a:xfrm>
            <a:off x="701175" y="46864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6" name="TextBox 85">
            <a:extLst>
              <a:ext uri="{FF2B5EF4-FFF2-40B4-BE49-F238E27FC236}">
                <a16:creationId xmlns:a16="http://schemas.microsoft.com/office/drawing/2014/main" id="{FFC49AEA-2A8F-250C-A86A-A7751D9706C3}"/>
              </a:ext>
            </a:extLst>
          </p:cNvPr>
          <p:cNvSpPr txBox="1"/>
          <p:nvPr/>
        </p:nvSpPr>
        <p:spPr>
          <a:xfrm>
            <a:off x="3878080" y="4033570"/>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87" name="그룹 86"/>
          <p:cNvGrpSpPr/>
          <p:nvPr/>
        </p:nvGrpSpPr>
        <p:grpSpPr>
          <a:xfrm flipV="1">
            <a:off x="6240167" y="4146901"/>
            <a:ext cx="94010" cy="47005"/>
            <a:chOff x="6812560" y="3297172"/>
            <a:chExt cx="94010" cy="47005"/>
          </a:xfrm>
        </p:grpSpPr>
        <p:cxnSp>
          <p:nvCxnSpPr>
            <p:cNvPr id="88" name="직선 연결선 8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9" name="직선 연결선 8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0" name="모서리가 둥근 직사각형 89"/>
          <p:cNvSpPr/>
          <p:nvPr/>
        </p:nvSpPr>
        <p:spPr>
          <a:xfrm>
            <a:off x="3831550" y="472112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TextBox 93">
            <a:extLst>
              <a:ext uri="{FF2B5EF4-FFF2-40B4-BE49-F238E27FC236}">
                <a16:creationId xmlns:a16="http://schemas.microsoft.com/office/drawing/2014/main" id="{FFC49AEA-2A8F-250C-A86A-A7751D9706C3}"/>
              </a:ext>
            </a:extLst>
          </p:cNvPr>
          <p:cNvSpPr txBox="1"/>
          <p:nvPr/>
        </p:nvSpPr>
        <p:spPr>
          <a:xfrm>
            <a:off x="4332218" y="4795647"/>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3909746" y="484950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03" name="모서리가 둥근 직사각형 102"/>
          <p:cNvSpPr/>
          <p:nvPr/>
        </p:nvSpPr>
        <p:spPr>
          <a:xfrm>
            <a:off x="3831550" y="512781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4332218" y="5202333"/>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3909746" y="525619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06" name="사각형: 둥근 모서리 15">
            <a:extLst>
              <a:ext uri="{FF2B5EF4-FFF2-40B4-BE49-F238E27FC236}">
                <a16:creationId xmlns:a16="http://schemas.microsoft.com/office/drawing/2014/main" id="{E2B61CFB-AD16-68D0-8752-50D9C5E01971}"/>
              </a:ext>
            </a:extLst>
          </p:cNvPr>
          <p:cNvSpPr/>
          <p:nvPr/>
        </p:nvSpPr>
        <p:spPr>
          <a:xfrm>
            <a:off x="3831549" y="4296960"/>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07" name="TextBox 106">
            <a:extLst>
              <a:ext uri="{FF2B5EF4-FFF2-40B4-BE49-F238E27FC236}">
                <a16:creationId xmlns:a16="http://schemas.microsoft.com/office/drawing/2014/main" id="{FFC49AEA-2A8F-250C-A86A-A7751D9706C3}"/>
              </a:ext>
            </a:extLst>
          </p:cNvPr>
          <p:cNvSpPr txBox="1"/>
          <p:nvPr/>
        </p:nvSpPr>
        <p:spPr>
          <a:xfrm>
            <a:off x="4332218" y="4586008"/>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08" name="TextBox 107">
            <a:extLst>
              <a:ext uri="{FF2B5EF4-FFF2-40B4-BE49-F238E27FC236}">
                <a16:creationId xmlns:a16="http://schemas.microsoft.com/office/drawing/2014/main" id="{FFC49AEA-2A8F-250C-A86A-A7751D9706C3}"/>
              </a:ext>
            </a:extLst>
          </p:cNvPr>
          <p:cNvSpPr txBox="1"/>
          <p:nvPr/>
        </p:nvSpPr>
        <p:spPr>
          <a:xfrm>
            <a:off x="3838314" y="4586008"/>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cxnSp>
        <p:nvCxnSpPr>
          <p:cNvPr id="114" name="직선 연결선 113">
            <a:extLst>
              <a:ext uri="{FF2B5EF4-FFF2-40B4-BE49-F238E27FC236}">
                <a16:creationId xmlns:a16="http://schemas.microsoft.com/office/drawing/2014/main" id="{E9293055-D5CD-4B9E-7F64-64B2D2CA7A52}"/>
              </a:ext>
            </a:extLst>
          </p:cNvPr>
          <p:cNvCxnSpPr/>
          <p:nvPr/>
        </p:nvCxnSpPr>
        <p:spPr>
          <a:xfrm>
            <a:off x="3795734" y="391589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58" name="모서리가 둥근 직사각형 357"/>
          <p:cNvSpPr/>
          <p:nvPr/>
        </p:nvSpPr>
        <p:spPr>
          <a:xfrm rot="5400000">
            <a:off x="5782577" y="462961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5" name="TextBox 114">
            <a:extLst>
              <a:ext uri="{FF2B5EF4-FFF2-40B4-BE49-F238E27FC236}">
                <a16:creationId xmlns:a16="http://schemas.microsoft.com/office/drawing/2014/main" id="{FFC49AEA-2A8F-250C-A86A-A7751D9706C3}"/>
              </a:ext>
            </a:extLst>
          </p:cNvPr>
          <p:cNvSpPr txBox="1"/>
          <p:nvPr/>
        </p:nvSpPr>
        <p:spPr>
          <a:xfrm>
            <a:off x="6053706" y="4586008"/>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17" name="사각형: 둥근 모서리 15">
            <a:extLst>
              <a:ext uri="{FF2B5EF4-FFF2-40B4-BE49-F238E27FC236}">
                <a16:creationId xmlns:a16="http://schemas.microsoft.com/office/drawing/2014/main" id="{E2B61CFB-AD16-68D0-8752-50D9C5E01971}"/>
              </a:ext>
            </a:extLst>
          </p:cNvPr>
          <p:cNvSpPr/>
          <p:nvPr/>
        </p:nvSpPr>
        <p:spPr>
          <a:xfrm>
            <a:off x="6074127" y="5232613"/>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18" name="사각형: 둥근 모서리 15">
            <a:extLst>
              <a:ext uri="{FF2B5EF4-FFF2-40B4-BE49-F238E27FC236}">
                <a16:creationId xmlns:a16="http://schemas.microsoft.com/office/drawing/2014/main" id="{E2B61CFB-AD16-68D0-8752-50D9C5E01971}"/>
              </a:ext>
            </a:extLst>
          </p:cNvPr>
          <p:cNvSpPr/>
          <p:nvPr/>
        </p:nvSpPr>
        <p:spPr>
          <a:xfrm>
            <a:off x="6074127" y="4825927"/>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Tree>
    <p:extLst>
      <p:ext uri="{BB962C8B-B14F-4D97-AF65-F5344CB8AC3E}">
        <p14:creationId xmlns:p14="http://schemas.microsoft.com/office/powerpoint/2010/main" val="3476345465"/>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283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88464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t>이행</a:t>
            </a:r>
            <a:r>
              <a:rPr lang="en-US" altLang="ko-KR" sz="900" b="1" dirty="0"/>
              <a:t>/</a:t>
            </a:r>
            <a:r>
              <a:rPr lang="ko-KR" altLang="en-US" sz="900" b="1" dirty="0"/>
              <a:t>적격심사 포기사유</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dmt_impltElgbSrngAbndRsn</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825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포기사유구분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elgbSrngAbndRsnSe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포기사유구분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상태가 심사포기인 경우 조회 항목으로 속성 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463197"/>
                  </a:ext>
                </a:extLst>
              </a:tr>
              <a:tr h="0">
                <a:tc>
                  <a:txBody>
                    <a:bodyPr/>
                    <a:lstStyle/>
                    <a:p>
                      <a:pPr latinLnBrk="1"/>
                      <a:r>
                        <a:rPr lang="ko-KR" altLang="en-US" sz="800" dirty="0">
                          <a:latin typeface="+mn-ea"/>
                          <a:ea typeface="+mn-ea"/>
                        </a:rPr>
                        <a:t>포기사유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srngMnftrBzentyAbndRsn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포기사유를 기타</a:t>
                      </a:r>
                      <a:r>
                        <a:rPr lang="en-US" altLang="ko-KR" sz="800" dirty="0">
                          <a:latin typeface="+mn-ea"/>
                          <a:ea typeface="+mn-ea"/>
                        </a:rPr>
                        <a:t>(</a:t>
                      </a:r>
                      <a:r>
                        <a:rPr lang="ko-KR" altLang="en-US" sz="800" dirty="0">
                          <a:latin typeface="+mn-ea"/>
                          <a:ea typeface="+mn-ea"/>
                        </a:rPr>
                        <a:t>수기 입력</a:t>
                      </a:r>
                      <a:r>
                        <a:rPr lang="en-US" altLang="ko-KR" sz="800" dirty="0">
                          <a:latin typeface="+mn-ea"/>
                          <a:ea typeface="+mn-ea"/>
                        </a:rPr>
                        <a:t>) </a:t>
                      </a:r>
                      <a:r>
                        <a:rPr lang="ko-KR" altLang="en-US" sz="800" dirty="0">
                          <a:latin typeface="+mn-ea"/>
                          <a:ea typeface="+mn-ea"/>
                        </a:rPr>
                        <a:t>선택한 경우 포기 사유 입력항목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500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상태가 심사포기인 경우 조회 항목으로 속성 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1083736"/>
                  </a:ext>
                </a:extLst>
              </a:tr>
            </a:tbl>
          </a:graphicData>
        </a:graphic>
      </p:graphicFrame>
      <p:sp>
        <p:nvSpPr>
          <p:cNvPr id="2" name="TextBox 1">
            <a:extLst>
              <a:ext uri="{FF2B5EF4-FFF2-40B4-BE49-F238E27FC236}">
                <a16:creationId xmlns:a16="http://schemas.microsoft.com/office/drawing/2014/main" id="{0245A557-B85F-E56D-E6CA-399FB231C20B}"/>
              </a:ext>
            </a:extLst>
          </p:cNvPr>
          <p:cNvSpPr txBox="1"/>
          <p:nvPr/>
        </p:nvSpPr>
        <p:spPr>
          <a:xfrm>
            <a:off x="465794" y="2020970"/>
            <a:ext cx="2012337"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첨부서류</a:t>
            </a:r>
            <a:r>
              <a:rPr lang="en-US" altLang="ko-KR" sz="900" b="1" dirty="0">
                <a:solidFill>
                  <a:prstClr val="black"/>
                </a:solidFill>
              </a:rPr>
              <a:t> </a:t>
            </a:r>
            <a:r>
              <a:rPr lang="ko-KR" altLang="en-US" sz="900" b="1" dirty="0">
                <a:solidFill>
                  <a:prstClr val="black"/>
                </a:solidFill>
              </a:rPr>
              <a:t>데이터 영역 </a:t>
            </a:r>
            <a:r>
              <a:rPr lang="en-US" altLang="ko-KR" sz="900" b="1" dirty="0">
                <a:solidFill>
                  <a:prstClr val="black"/>
                </a:solidFill>
              </a:rPr>
              <a:t>(</a:t>
            </a:r>
            <a:r>
              <a:rPr lang="en-US" altLang="ko-KR" sz="900" b="1" dirty="0" err="1">
                <a:solidFill>
                  <a:prstClr val="black"/>
                </a:solidFill>
              </a:rPr>
              <a:t>dlt_adoc</a:t>
            </a:r>
            <a:r>
              <a:rPr lang="en-US" altLang="ko-KR" sz="900" b="1" dirty="0">
                <a:solidFill>
                  <a:prstClr val="black"/>
                </a:solidFill>
              </a:rPr>
              <a:t>)</a:t>
            </a:r>
            <a:endParaRPr lang="ko-KR" altLang="en-US" sz="900" b="1" dirty="0">
              <a:solidFill>
                <a:prstClr val="black"/>
              </a:solidFill>
            </a:endParaRPr>
          </a:p>
        </p:txBody>
      </p:sp>
      <p:graphicFrame>
        <p:nvGraphicFramePr>
          <p:cNvPr id="4" name="표 3">
            <a:extLst>
              <a:ext uri="{FF2B5EF4-FFF2-40B4-BE49-F238E27FC236}">
                <a16:creationId xmlns:a16="http://schemas.microsoft.com/office/drawing/2014/main" id="{3EE390BC-3B0E-9079-A79D-643F0FA222D5}"/>
              </a:ext>
            </a:extLst>
          </p:cNvPr>
          <p:cNvGraphicFramePr>
            <a:graphicFrameLocks noGrp="1"/>
          </p:cNvGraphicFramePr>
          <p:nvPr/>
        </p:nvGraphicFramePr>
        <p:xfrm>
          <a:off x="460676" y="2304724"/>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19853">
                  <a:extLst>
                    <a:ext uri="{9D8B030D-6E8A-4147-A177-3AD203B41FA5}">
                      <a16:colId xmlns:a16="http://schemas.microsoft.com/office/drawing/2014/main" val="20004"/>
                    </a:ext>
                  </a:extLst>
                </a:gridCol>
                <a:gridCol w="2253570">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chk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 체크선택항목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docNm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그리드의 첨부서류명 선택항목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7032890"/>
                  </a:ext>
                </a:extLst>
              </a:tr>
              <a:tr h="0">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fileNm</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첨부서류 그리드의 첨부파일명</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300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8009436"/>
                  </a:ext>
                </a:extLst>
              </a:tr>
              <a:tr h="0">
                <a:tc>
                  <a:txBody>
                    <a:bodyPr/>
                    <a:lstStyle/>
                    <a:p>
                      <a:pPr latinLnBrk="1"/>
                      <a:r>
                        <a:rPr lang="ko-KR" altLang="en-US" sz="800" dirty="0">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en-US" altLang="ko-KR" sz="800" dirty="0" err="1">
                          <a:latin typeface="+mn-ea"/>
                          <a:ea typeface="+mn-ea"/>
                        </a:rPr>
                        <a:t>fileSz</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첨부파일 파일크기</a:t>
                      </a:r>
                      <a:r>
                        <a:rPr lang="en-US" altLang="ko-KR" sz="800" dirty="0">
                          <a:latin typeface="+mn-ea"/>
                          <a:ea typeface="+mn-ea"/>
                        </a:rPr>
                        <a:t> </a:t>
                      </a:r>
                      <a:r>
                        <a:rPr lang="ko-KR" altLang="en-US" sz="800" dirty="0">
                          <a:latin typeface="+mn-ea"/>
                          <a:ea typeface="+mn-ea"/>
                        </a:rPr>
                        <a:t>항목 조회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10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1259264"/>
                  </a:ext>
                </a:extLst>
              </a:tr>
            </a:tbl>
          </a:graphicData>
        </a:graphic>
      </p:graphicFrame>
      <p:sp>
        <p:nvSpPr>
          <p:cNvPr id="5" name="TextBox 4">
            <a:extLst>
              <a:ext uri="{FF2B5EF4-FFF2-40B4-BE49-F238E27FC236}">
                <a16:creationId xmlns:a16="http://schemas.microsoft.com/office/drawing/2014/main" id="{B45602F2-4861-A86C-4F22-E39E93C41981}"/>
              </a:ext>
            </a:extLst>
          </p:cNvPr>
          <p:cNvSpPr txBox="1"/>
          <p:nvPr/>
        </p:nvSpPr>
        <p:spPr>
          <a:xfrm>
            <a:off x="457408" y="3447908"/>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7" name="표 6">
            <a:extLst>
              <a:ext uri="{FF2B5EF4-FFF2-40B4-BE49-F238E27FC236}">
                <a16:creationId xmlns:a16="http://schemas.microsoft.com/office/drawing/2014/main" id="{12C3E036-652F-6406-8365-AA90F644029A}"/>
              </a:ext>
            </a:extLst>
          </p:cNvPr>
          <p:cNvGraphicFramePr>
            <a:graphicFrameLocks noGrp="1"/>
          </p:cNvGraphicFramePr>
          <p:nvPr/>
        </p:nvGraphicFramePr>
        <p:xfrm>
          <a:off x="452291" y="3713966"/>
          <a:ext cx="8995591" cy="22828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latinLnBrk="1"/>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포기신청 정보 조회 이벤트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포기신청 정보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scwin.getImpltElgbSrngAbndAplyInfo</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포기사유</a:t>
                      </a:r>
                      <a:r>
                        <a:rPr lang="en-US" altLang="ko-KR" sz="800" dirty="0">
                          <a:latin typeface="+mn-ea"/>
                          <a:ea typeface="+mn-ea"/>
                        </a:rPr>
                        <a:t>, </a:t>
                      </a:r>
                      <a:r>
                        <a:rPr lang="ko-KR" altLang="en-US" sz="800" dirty="0">
                          <a:latin typeface="+mn-ea"/>
                          <a:ea typeface="+mn-ea"/>
                        </a:rPr>
                        <a:t>첨부서류를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6404510"/>
                  </a:ext>
                </a:extLst>
              </a:tr>
              <a:tr h="0">
                <a:tc>
                  <a:txBody>
                    <a:bodyPr/>
                    <a:lstStyle/>
                    <a:p>
                      <a:pPr latinLnBrk="1"/>
                      <a:r>
                        <a:rPr lang="ko-KR" altLang="en-US" sz="800" dirty="0">
                          <a:latin typeface="+mn-ea"/>
                          <a:ea typeface="+mn-ea"/>
                        </a:rPr>
                        <a:t>파일추가 버튼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scwin.btn_fileAdd_onclick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첨부할 파일을 선택하기 위한 모듈 호출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77766952"/>
                  </a:ext>
                </a:extLst>
              </a:tr>
              <a:tr h="0">
                <a:tc>
                  <a:txBody>
                    <a:bodyPr/>
                    <a:lstStyle/>
                    <a:p>
                      <a:r>
                        <a:rPr lang="ko-KR" altLang="en-US" sz="800" dirty="0"/>
                        <a:t>선택삭제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scwin.btn_chcDel_onclick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첨부서류 그리드의 선택한 </a:t>
                      </a:r>
                      <a:r>
                        <a:rPr lang="en-US" altLang="ko-KR" sz="800" dirty="0">
                          <a:latin typeface="+mn-ea"/>
                          <a:ea typeface="+mn-ea"/>
                        </a:rPr>
                        <a:t>ROW</a:t>
                      </a:r>
                      <a:r>
                        <a:rPr lang="ko-KR" altLang="en-US" sz="800" dirty="0">
                          <a:latin typeface="+mn-ea"/>
                          <a:ea typeface="+mn-ea"/>
                        </a:rPr>
                        <a:t>의</a:t>
                      </a:r>
                      <a:r>
                        <a:rPr lang="en-US" altLang="ko-KR" sz="800" dirty="0">
                          <a:latin typeface="+mn-ea"/>
                          <a:ea typeface="+mn-ea"/>
                        </a:rPr>
                        <a:t> </a:t>
                      </a:r>
                      <a:r>
                        <a:rPr lang="ko-KR" altLang="en-US" sz="800" dirty="0">
                          <a:latin typeface="+mn-ea"/>
                          <a:ea typeface="+mn-ea"/>
                        </a:rPr>
                        <a:t>첨부파일 삭제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9602629"/>
                  </a:ext>
                </a:extLst>
              </a:tr>
              <a:tr h="0">
                <a:tc>
                  <a:txBody>
                    <a:bodyPr/>
                    <a:lstStyle/>
                    <a:p>
                      <a:r>
                        <a:rPr lang="ko-KR" altLang="en-US" sz="800" dirty="0"/>
                        <a:t>첨부서류의 첨부파일명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scwin.btn_atchFileNm_onclick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클릭한 첨부파일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03277268"/>
                  </a:ext>
                </a:extLst>
              </a:tr>
              <a:tr h="0">
                <a:tc>
                  <a:txBody>
                    <a:bodyPr/>
                    <a:lstStyle/>
                    <a:p>
                      <a:r>
                        <a:rPr lang="ko-KR" altLang="en-US" sz="800" dirty="0"/>
                        <a:t>심사포기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scwin.btn_srngAbnd_onclick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심사신청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534041"/>
                  </a:ext>
                </a:extLst>
              </a:tr>
              <a:tr h="0">
                <a:tc>
                  <a:txBody>
                    <a:bodyPr/>
                    <a:lstStyle/>
                    <a:p>
                      <a:r>
                        <a:rPr lang="ko-KR" altLang="en-US" sz="800" dirty="0"/>
                        <a:t>닫기 버튼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scwin.btn_close_onclick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이행</a:t>
                      </a:r>
                      <a:r>
                        <a:rPr lang="en-US" altLang="ko-KR" sz="800" dirty="0">
                          <a:latin typeface="+mn-ea"/>
                          <a:ea typeface="+mn-ea"/>
                        </a:rPr>
                        <a:t>/</a:t>
                      </a:r>
                      <a:r>
                        <a:rPr lang="ko-KR" altLang="en-US" sz="800" dirty="0">
                          <a:latin typeface="+mn-ea"/>
                          <a:ea typeface="+mn-ea"/>
                        </a:rPr>
                        <a:t>적격심사 포기신청 팝업화면 닫기 처리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8770389"/>
                  </a:ext>
                </a:extLst>
              </a:tr>
            </a:tbl>
          </a:graphicData>
        </a:graphic>
      </p:graphicFrame>
      <p:sp>
        <p:nvSpPr>
          <p:cNvPr id="8" name="Text Box 73">
            <a:extLst>
              <a:ext uri="{FF2B5EF4-FFF2-40B4-BE49-F238E27FC236}">
                <a16:creationId xmlns:a16="http://schemas.microsoft.com/office/drawing/2014/main" id="{6AB20EDE-9F69-1BEC-636E-782FB05BF34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145991224"/>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284</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7. </a:t>
            </a:r>
            <a:r>
              <a:rPr lang="ko-KR" altLang="en-US" dirty="0"/>
              <a:t>국외입찰공고상세</a:t>
            </a:r>
            <a:endParaRPr lang="en-US" altLang="ko-KR" dirty="0"/>
          </a:p>
          <a:p>
            <a:r>
              <a:rPr lang="en-US" altLang="ko-KR" dirty="0"/>
              <a:t>7.1 </a:t>
            </a:r>
            <a:r>
              <a:rPr lang="ko-KR" altLang="en-US" dirty="0"/>
              <a:t>화면 목록 </a:t>
            </a:r>
            <a:r>
              <a:rPr lang="en-US" altLang="ko-KR" dirty="0"/>
              <a:t>(1/2)</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3332824402"/>
              </p:ext>
            </p:extLst>
          </p:nvPr>
        </p:nvGraphicFramePr>
        <p:xfrm>
          <a:off x="635474" y="1413419"/>
          <a:ext cx="8701200" cy="471742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kern="1200" dirty="0">
                          <a:solidFill>
                            <a:schemeClr val="tx1"/>
                          </a:solidFill>
                          <a:latin typeface="+mn-ea"/>
                          <a:ea typeface="+mn-ea"/>
                          <a:cs typeface="+mn-cs"/>
                        </a:rPr>
                        <a:t>MUI-BD-01-M01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입찰공고</a:t>
                      </a:r>
                      <a:endParaRPr lang="en-US" altLang="ko-KR" sz="800" dirty="0">
                        <a:latin typeface="+mn-ea"/>
                        <a:ea typeface="+mn-ea"/>
                      </a:endParaRPr>
                    </a:p>
                    <a:p>
                      <a:pPr latinLnBrk="1"/>
                      <a:r>
                        <a:rPr lang="ko-KR" altLang="en-US" sz="800" dirty="0" err="1">
                          <a:latin typeface="+mn-ea"/>
                          <a:ea typeface="+mn-ea"/>
                        </a:rPr>
                        <a:t>통합목록</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rPr>
                        <a:t>AnlBfhdSpcfctDtlPage</a:t>
                      </a:r>
                      <a:endParaRPr lang="en-US" sz="800" b="0" i="0" u="none" strike="noStrike" dirty="0">
                        <a:solidFill>
                          <a:schemeClr val="tx1"/>
                        </a:solidFill>
                        <a:effectLst/>
                        <a:latin typeface="+mn-lt"/>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입찰공고 통합 목록 조회 화면</a:t>
                      </a:r>
                      <a:endParaRPr lang="en-US" altLang="ko-KR" sz="800" dirty="0">
                        <a:latin typeface="+mn-ea"/>
                        <a:ea typeface="+mn-ea"/>
                      </a:endParaRPr>
                    </a:p>
                    <a:p>
                      <a:pPr latinLnBrk="1"/>
                      <a:r>
                        <a:rPr lang="ko-KR" altLang="en-US" sz="800" dirty="0">
                          <a:latin typeface="+mn-ea"/>
                          <a:ea typeface="+mn-ea"/>
                        </a:rPr>
                        <a:t>국내 화면과 동일함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anlBfhdSpcfctDtl</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A</a:t>
                      </a:r>
                      <a:r>
                        <a:rPr lang="en-US" altLang="ko-KR" sz="800" b="0" i="0" u="none" strike="noStrike" dirty="0" err="1">
                          <a:solidFill>
                            <a:schemeClr val="tx1"/>
                          </a:solidFill>
                          <a:effectLst/>
                          <a:latin typeface="+mn-lt"/>
                        </a:rPr>
                        <a:t>nlBfhdSpcfctDtlPage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UC-BD-01-01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58023686"/>
                  </a:ext>
                </a:extLst>
              </a:tr>
              <a:tr h="180000">
                <a:tc>
                  <a:txBody>
                    <a:bodyPr/>
                    <a:lstStyle/>
                    <a:p>
                      <a:pPr algn="ctr" fontAlgn="t"/>
                      <a:r>
                        <a:rPr lang="en-US" altLang="ko-KR" sz="700" kern="1200" dirty="0">
                          <a:solidFill>
                            <a:schemeClr val="tx1"/>
                          </a:solidFill>
                          <a:latin typeface="+mn-ea"/>
                          <a:ea typeface="+mn-ea"/>
                          <a:cs typeface="+mn-cs"/>
                        </a:rPr>
                        <a:t>MUI-BD-01-M71</a:t>
                      </a:r>
                      <a:endParaRPr lang="ko-KR" altLang="en-US" sz="700" b="0" i="0" u="none" strike="noStrike" dirty="0">
                        <a:solidFill>
                          <a:srgbClr val="000000"/>
                        </a:solidFill>
                        <a:effectLst/>
                        <a:latin typeface="맑은 고딕" panose="020B0503020000020004" pitchFamily="50" charset="-127"/>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입찰공고상세</a:t>
                      </a:r>
                      <a:endParaRPr lang="en-US" altLang="ko-KR" sz="800" dirty="0">
                        <a:latin typeface="+mn-ea"/>
                        <a:ea typeface="+mn-ea"/>
                      </a:endParaRPr>
                    </a:p>
                    <a:p>
                      <a:pPr latinLnBrk="1"/>
                      <a:r>
                        <a:rPr lang="en-US" altLang="ko-KR" sz="800" dirty="0">
                          <a:latin typeface="+mn-ea"/>
                          <a:ea typeface="+mn-ea"/>
                        </a:rPr>
                        <a:t>- </a:t>
                      </a:r>
                      <a:r>
                        <a:rPr lang="ko-KR" altLang="en-US" sz="800" dirty="0">
                          <a:latin typeface="+mn-ea"/>
                          <a:ea typeface="+mn-ea"/>
                        </a:rPr>
                        <a:t>일반정보</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rPr>
                        <a:t>OvsBidPbancDtlPage</a:t>
                      </a:r>
                      <a:endParaRPr lang="en-US" sz="800" b="0" i="0" u="none" strike="noStrike" dirty="0">
                        <a:solidFill>
                          <a:schemeClr val="tx1"/>
                        </a:solidFill>
                        <a:effectLst/>
                        <a:latin typeface="+mn-lt"/>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국외 입찰공고를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ovsBidPbancDtl</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OvsBidPbancDtlPage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algn="ct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algn="ctr" fontAlgn="ctr"/>
                      <a:r>
                        <a:rPr lang="en-US" altLang="ko-KR" sz="700" kern="1200" dirty="0">
                          <a:solidFill>
                            <a:schemeClr val="tx1"/>
                          </a:solidFill>
                          <a:latin typeface="+mn-ea"/>
                          <a:ea typeface="+mn-ea"/>
                          <a:cs typeface="+mn-cs"/>
                        </a:rPr>
                        <a:t>MUI-BD-01-M72</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입찰공고상세</a:t>
                      </a:r>
                      <a:endParaRPr lang="en-US" altLang="ko-KR" sz="800" dirty="0">
                        <a:latin typeface="+mn-ea"/>
                        <a:ea typeface="+mn-ea"/>
                      </a:endParaRPr>
                    </a:p>
                    <a:p>
                      <a:pPr latinLnBrk="1"/>
                      <a:r>
                        <a:rPr lang="en-US" altLang="ko-KR" sz="800" dirty="0">
                          <a:latin typeface="+mn-ea"/>
                          <a:ea typeface="+mn-ea"/>
                        </a:rPr>
                        <a:t>- </a:t>
                      </a:r>
                      <a:r>
                        <a:rPr lang="ko-KR" altLang="en-US" sz="800" kern="1200" dirty="0">
                          <a:solidFill>
                            <a:schemeClr val="tx1"/>
                          </a:solidFill>
                          <a:latin typeface="+mn-ea"/>
                          <a:ea typeface="+mn-ea"/>
                          <a:cs typeface="+mn-cs"/>
                        </a:rPr>
                        <a:t>품목 목록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err="1">
                          <a:solidFill>
                            <a:schemeClr val="tx1"/>
                          </a:solidFill>
                          <a:effectLst/>
                          <a:latin typeface="+mn-lt"/>
                        </a:rPr>
                        <a:t>OvsBidPbancDtl</a:t>
                      </a:r>
                      <a:endParaRPr lang="en-US" altLang="ko-KR" sz="800" b="0" i="0" u="none" strike="noStrike" dirty="0">
                        <a:solidFill>
                          <a:schemeClr val="tx1"/>
                        </a:solidFill>
                        <a:effectLst/>
                        <a:latin typeface="+mn-lt"/>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국외 입찰공고를 조회하는 화면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ovsBidPbancDtl</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OvsBidPbancDtl</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9929360"/>
                  </a:ext>
                </a:extLst>
              </a:tr>
              <a:tr h="180000">
                <a:tc>
                  <a:txBody>
                    <a:bodyPr/>
                    <a:lstStyle/>
                    <a:p>
                      <a:pPr marL="0" marR="0" indent="0" algn="ctr" defTabSz="914400" rtl="0" eaLnBrk="1" fontAlgn="t"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MUI-BD-01-M73</a:t>
                      </a:r>
                      <a:endParaRPr lang="ko-KR" altLang="en-US" sz="700" b="0" i="0" u="none" strike="noStrike" dirty="0">
                        <a:solidFill>
                          <a:srgbClr val="000000"/>
                        </a:solidFill>
                        <a:effectLst/>
                        <a:latin typeface="맑은 고딕" panose="020B0503020000020004" pitchFamily="50" charset="-127"/>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입찰공고상세</a:t>
                      </a:r>
                      <a:endParaRPr lang="en-US" altLang="ko-KR" sz="800" dirty="0">
                        <a:latin typeface="+mn-ea"/>
                        <a:ea typeface="+mn-ea"/>
                      </a:endParaRPr>
                    </a:p>
                    <a:p>
                      <a:pPr latinLnBrk="1"/>
                      <a:r>
                        <a:rPr lang="en-US" altLang="ko-KR" sz="800" dirty="0">
                          <a:latin typeface="+mn-ea"/>
                          <a:ea typeface="+mn-ea"/>
                        </a:rPr>
                        <a:t>- </a:t>
                      </a:r>
                      <a:r>
                        <a:rPr lang="ko-KR" altLang="en-US" sz="800" kern="1200" dirty="0">
                          <a:solidFill>
                            <a:schemeClr val="tx1"/>
                          </a:solidFill>
                          <a:latin typeface="+mn-ea"/>
                          <a:ea typeface="+mn-ea"/>
                          <a:cs typeface="+mn-cs"/>
                        </a:rPr>
                        <a:t>첨부파일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chemeClr val="tx1"/>
                          </a:solidFill>
                          <a:effectLst/>
                          <a:latin typeface="+mn-lt"/>
                        </a:rPr>
                        <a:t>OvsBidPbancDtl2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국외 입찰공고를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ovsBidPbancDtl</a:t>
                      </a:r>
                      <a:r>
                        <a:rPr lang="en-US" altLang="ko-KR" sz="800" dirty="0">
                          <a:solidFill>
                            <a:schemeClr val="tx1"/>
                          </a:solidFill>
                          <a:latin typeface="+mn-ea"/>
                          <a:ea typeface="+mn-ea"/>
                        </a:rPr>
                        <a:t>/</a:t>
                      </a:r>
                      <a:r>
                        <a:rPr lang="en-US" altLang="ko-KR" sz="800" b="0" i="0" u="none" strike="noStrike" dirty="0">
                          <a:solidFill>
                            <a:schemeClr val="tx1"/>
                          </a:solidFill>
                          <a:effectLst/>
                          <a:latin typeface="+mn-lt"/>
                        </a:rPr>
                        <a:t>OvsBidPbancDtl2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algn="ctr" fontAlgn="ctr"/>
                      <a:r>
                        <a:rPr lang="en-US" altLang="ko-KR" sz="700" kern="1200" dirty="0">
                          <a:solidFill>
                            <a:schemeClr val="tx1"/>
                          </a:solidFill>
                          <a:latin typeface="+mn-ea"/>
                          <a:ea typeface="+mn-ea"/>
                          <a:cs typeface="+mn-cs"/>
                        </a:rPr>
                        <a:t>MUI-BD-01-M74</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환율정보조회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rPr>
                        <a:t>OvsExchrtListPage</a:t>
                      </a:r>
                      <a:endParaRPr lang="en-US" sz="800" b="0" i="0" u="none" strike="noStrike" dirty="0">
                        <a:solidFill>
                          <a:schemeClr val="tx1"/>
                        </a:solidFill>
                        <a:effectLst/>
                        <a:latin typeface="+mn-lt"/>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일별 </a:t>
                      </a:r>
                      <a:r>
                        <a:rPr lang="ko-KR" altLang="en-US" sz="800" kern="1200" dirty="0" err="1">
                          <a:solidFill>
                            <a:schemeClr val="tx1"/>
                          </a:solidFill>
                          <a:latin typeface="+mn-ea"/>
                          <a:ea typeface="+mn-ea"/>
                          <a:cs typeface="+mn-cs"/>
                        </a:rPr>
                        <a:t>환율정보를</a:t>
                      </a:r>
                      <a:r>
                        <a:rPr lang="ko-KR" altLang="en-US" sz="800" kern="1200" dirty="0">
                          <a:solidFill>
                            <a:schemeClr val="tx1"/>
                          </a:solidFill>
                          <a:latin typeface="+mn-ea"/>
                          <a:ea typeface="+mn-ea"/>
                          <a:cs typeface="+mn-cs"/>
                        </a:rPr>
                        <a:t>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ovsExchrtList</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OvsExchrtListPage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algn="ctr" fontAlgn="ctr"/>
                      <a:r>
                        <a:rPr lang="en-US" altLang="ko-KR" sz="700" kern="1200" dirty="0">
                          <a:solidFill>
                            <a:schemeClr val="tx1"/>
                          </a:solidFill>
                          <a:latin typeface="+mn-ea"/>
                          <a:ea typeface="+mn-ea"/>
                          <a:cs typeface="+mn-cs"/>
                        </a:rPr>
                        <a:t>MUI-BD-01-M75</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목표가공개품목조회</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rPr>
                        <a:t>OvsGoalPrcRlsItemListPage</a:t>
                      </a:r>
                      <a:endParaRPr lang="en-US" sz="800" b="0" i="0" u="none" strike="noStrike" dirty="0">
                        <a:solidFill>
                          <a:schemeClr val="tx1"/>
                        </a:solidFill>
                        <a:effectLst/>
                        <a:latin typeface="+mn-lt"/>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목표가공개품목을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ovsGoalPrcRlsItemList</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OvsGoalPrcRlsItemListPage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3731922"/>
                  </a:ext>
                </a:extLst>
              </a:tr>
              <a:tr h="180000">
                <a:tc>
                  <a:txBody>
                    <a:bodyPr/>
                    <a:lstStyle/>
                    <a:p>
                      <a:pPr algn="ctr" fontAlgn="ctr"/>
                      <a:r>
                        <a:rPr lang="en-US" altLang="ko-KR" sz="700" kern="1200" dirty="0">
                          <a:solidFill>
                            <a:schemeClr val="tx1"/>
                          </a:solidFill>
                          <a:latin typeface="+mn-ea"/>
                          <a:ea typeface="+mn-ea"/>
                          <a:cs typeface="+mn-cs"/>
                        </a:rPr>
                        <a:t>MUI-CM-01-M71</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국외 보관함 목록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rPr>
                        <a:t>OvsLockerPbanListPage</a:t>
                      </a:r>
                      <a:endParaRPr lang="en-US" sz="800" b="0" i="0" u="none" strike="noStrike" dirty="0">
                        <a:solidFill>
                          <a:schemeClr val="tx1"/>
                        </a:solidFill>
                        <a:effectLst/>
                        <a:latin typeface="+mn-lt"/>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보관함에 추가한 공고를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ovsLockerPbanList</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OvsLockerPbanListPage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fontAlgn="base" latinLnBrk="1"/>
                      <a:r>
                        <a:rPr lang="en-US" altLang="ko-KR" sz="800" kern="1200" dirty="0" smtClean="0">
                          <a:solidFill>
                            <a:schemeClr val="tx1"/>
                          </a:solidFill>
                          <a:latin typeface="+mn-ea"/>
                          <a:ea typeface="+mn-ea"/>
                          <a:cs typeface="+mn-cs"/>
                        </a:rPr>
                        <a:t>UC-BD-03-01</a:t>
                      </a:r>
                      <a:endParaRPr lang="en-US" altLang="ko-KR"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1725250"/>
                  </a:ext>
                </a:extLst>
              </a:tr>
              <a:tr h="180000">
                <a:tc>
                  <a:txBody>
                    <a:bodyPr/>
                    <a:lstStyle/>
                    <a:p>
                      <a:pPr algn="ctr" fontAlgn="ctr"/>
                      <a:r>
                        <a:rPr lang="en-US" altLang="ko-KR" sz="700" kern="1200" dirty="0">
                          <a:solidFill>
                            <a:schemeClr val="tx1"/>
                          </a:solidFill>
                          <a:latin typeface="+mn-ea"/>
                          <a:ea typeface="+mn-ea"/>
                          <a:cs typeface="+mn-cs"/>
                        </a:rPr>
                        <a:t>MUI-CM-01-M72</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국외 보관함 상세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rPr>
                        <a:t>OvsLockerPbanDtlPage</a:t>
                      </a:r>
                      <a:endParaRPr lang="en-US" sz="800" b="0" i="0" u="none" strike="noStrike" dirty="0">
                        <a:solidFill>
                          <a:schemeClr val="tx1"/>
                        </a:solidFill>
                        <a:effectLst/>
                        <a:latin typeface="+mn-lt"/>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보관함에 추가한 공고 상세 정보를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ovsLockerPbanDtl</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OvsLockerPbanDtlPage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base"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UC-BD-03-01</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9614496"/>
                  </a:ext>
                </a:extLst>
              </a:tr>
              <a:tr h="180000">
                <a:tc>
                  <a:txBody>
                    <a:bodyPr/>
                    <a:lstStyle/>
                    <a:p>
                      <a:pPr algn="ctr" fontAlgn="ctr"/>
                      <a:r>
                        <a:rPr lang="en-US" altLang="ko-KR" sz="700" kern="1200" dirty="0">
                          <a:solidFill>
                            <a:schemeClr val="tx1"/>
                          </a:solidFill>
                          <a:latin typeface="+mn-ea"/>
                          <a:ea typeface="+mn-ea"/>
                          <a:cs typeface="+mn-cs"/>
                        </a:rPr>
                        <a:t>MUI-CM-01-M73</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보관함 품목 관리</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rPr>
                        <a:t>OvsLockerItemRegPage</a:t>
                      </a:r>
                      <a:endParaRPr lang="en-US" sz="800" b="0" i="0" u="none" strike="noStrike" dirty="0">
                        <a:solidFill>
                          <a:schemeClr val="tx1"/>
                        </a:solidFill>
                        <a:effectLst/>
                        <a:latin typeface="+mn-lt"/>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공고입찰품목 중 보관함에 품목을 추가 및 삭제하는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ovsLockerItemReg</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OvsLockerItemRegPage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base"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UC-BD-03-01</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8231804"/>
                  </a:ext>
                </a:extLst>
              </a:tr>
              <a:tr h="180000">
                <a:tc>
                  <a:txBody>
                    <a:bodyPr/>
                    <a:lstStyle/>
                    <a:p>
                      <a:pPr algn="ctr" fontAlgn="ctr"/>
                      <a:r>
                        <a:rPr lang="en-US" altLang="ko-KR" sz="700" kern="1200" dirty="0">
                          <a:solidFill>
                            <a:schemeClr val="tx1"/>
                          </a:solidFill>
                          <a:latin typeface="+mn-ea"/>
                          <a:ea typeface="+mn-ea"/>
                          <a:cs typeface="+mn-cs"/>
                        </a:rPr>
                        <a:t>MUI-BD-01-M76</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입찰내역</a:t>
                      </a:r>
                      <a:r>
                        <a:rPr lang="ko-KR" altLang="en-US" sz="800" kern="1200" dirty="0">
                          <a:solidFill>
                            <a:schemeClr val="tx1"/>
                          </a:solidFill>
                          <a:latin typeface="+mn-ea"/>
                          <a:ea typeface="+mn-ea"/>
                          <a:cs typeface="+mn-cs"/>
                        </a:rPr>
                        <a:t> 작성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rPr>
                        <a:t>OvsTmprBidCnRegPage</a:t>
                      </a:r>
                      <a:endParaRPr lang="en-US" sz="800" b="0" i="0" u="none" strike="noStrike" dirty="0">
                        <a:solidFill>
                          <a:schemeClr val="tx1"/>
                        </a:solidFill>
                        <a:effectLst/>
                        <a:latin typeface="+mn-lt"/>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보관함에 추가된 사업 품목에 대한 </a:t>
                      </a:r>
                      <a:r>
                        <a:rPr lang="ko-KR" altLang="en-US" sz="800" kern="1200" dirty="0" err="1">
                          <a:solidFill>
                            <a:schemeClr val="tx1"/>
                          </a:solidFill>
                          <a:latin typeface="+mn-ea"/>
                          <a:ea typeface="+mn-ea"/>
                          <a:cs typeface="+mn-cs"/>
                        </a:rPr>
                        <a:t>입찰내역을</a:t>
                      </a:r>
                      <a:r>
                        <a:rPr lang="ko-KR" altLang="en-US" sz="800" kern="1200" dirty="0">
                          <a:solidFill>
                            <a:schemeClr val="tx1"/>
                          </a:solidFill>
                          <a:latin typeface="+mn-ea"/>
                          <a:ea typeface="+mn-ea"/>
                          <a:cs typeface="+mn-cs"/>
                        </a:rPr>
                        <a:t> 작성하는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ovsTmprBidCnReg</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OvsTmprBidCnRegPage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base" latinLnBrk="1"/>
                      <a:r>
                        <a:rPr kumimoji="0" lang="en-US" altLang="ko-KR" sz="800" b="0" i="0" u="none" strike="noStrike" kern="1200" cap="none" spc="0" normalizeH="0" baseline="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UC-BD-03-02</a:t>
                      </a:r>
                      <a:endParaRPr kumimoji="0" lang="en-US" altLang="ko-KR" sz="800" b="0" i="0" u="none" strike="noStrike" kern="1200" cap="none" spc="0" normalizeH="0" baseline="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02366008"/>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MUI-BD-01-M77</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입찰내역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a:t>
                      </a:r>
                      <a:r>
                        <a:rPr lang="ko-KR" altLang="en-US" sz="800" kern="1200" dirty="0" err="1">
                          <a:solidFill>
                            <a:schemeClr val="tx1"/>
                          </a:solidFill>
                          <a:latin typeface="+mn-ea"/>
                          <a:ea typeface="+mn-ea"/>
                          <a:cs typeface="+mn-cs"/>
                        </a:rPr>
                        <a:t>단가제</a:t>
                      </a:r>
                      <a:r>
                        <a:rPr lang="en-US" altLang="ko-KR" sz="800" kern="1200" dirty="0">
                          <a:solidFill>
                            <a:schemeClr val="tx1"/>
                          </a:solidFill>
                          <a:latin typeface="+mn-ea"/>
                          <a:ea typeface="+mn-ea"/>
                          <a:cs typeface="+mn-cs"/>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BidDsctn</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보관함에 추가된 사업 품목에 대한 </a:t>
                      </a:r>
                      <a:r>
                        <a:rPr lang="ko-KR" altLang="en-US" sz="800" kern="1200" dirty="0" err="1">
                          <a:solidFill>
                            <a:schemeClr val="tx1"/>
                          </a:solidFill>
                          <a:latin typeface="+mn-ea"/>
                          <a:ea typeface="+mn-ea"/>
                          <a:cs typeface="+mn-cs"/>
                        </a:rPr>
                        <a:t>입찰내역을</a:t>
                      </a:r>
                      <a:r>
                        <a:rPr lang="ko-KR" altLang="en-US" sz="800" kern="1200" dirty="0">
                          <a:solidFill>
                            <a:schemeClr val="tx1"/>
                          </a:solidFill>
                          <a:latin typeface="+mn-ea"/>
                          <a:ea typeface="+mn-ea"/>
                          <a:cs typeface="+mn-cs"/>
                        </a:rPr>
                        <a:t> 작성하는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ovsTmprBidCnReg</a:t>
                      </a:r>
                      <a:r>
                        <a:rPr lang="en-US" altLang="ko-KR" sz="800" b="0" i="0" u="none" strike="noStrike" dirty="0">
                          <a:solidFill>
                            <a:schemeClr val="tx1"/>
                          </a:solidFill>
                          <a:effectLst/>
                          <a:latin typeface="+mn-lt"/>
                        </a:rPr>
                        <a:t>/</a:t>
                      </a:r>
                      <a:r>
                        <a:rPr lang="en-US" altLang="ko-KR" sz="800" dirty="0" err="1">
                          <a:solidFill>
                            <a:schemeClr val="tx1"/>
                          </a:solidFill>
                          <a:latin typeface="+mn-lt"/>
                          <a:ea typeface="+mn-ea"/>
                        </a:rPr>
                        <a:t>BidDsctn</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base"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UC-BD-03-02</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4062130"/>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MUI-BD-01-M78</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입찰내역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a:t>
                      </a:r>
                      <a:r>
                        <a:rPr lang="ko-KR" altLang="en-US" sz="800" kern="1200" dirty="0" err="1">
                          <a:solidFill>
                            <a:schemeClr val="tx1"/>
                          </a:solidFill>
                          <a:latin typeface="+mn-ea"/>
                          <a:ea typeface="+mn-ea"/>
                          <a:cs typeface="+mn-cs"/>
                        </a:rPr>
                        <a:t>총액제</a:t>
                      </a:r>
                      <a:r>
                        <a:rPr lang="en-US" altLang="ko-KR" sz="800" kern="1200" dirty="0">
                          <a:solidFill>
                            <a:schemeClr val="tx1"/>
                          </a:solidFill>
                          <a:latin typeface="+mn-ea"/>
                          <a:ea typeface="+mn-ea"/>
                          <a:cs typeface="+mn-cs"/>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a:solidFill>
                            <a:schemeClr val="tx1"/>
                          </a:solidFill>
                          <a:latin typeface="+mn-lt"/>
                          <a:ea typeface="+mn-ea"/>
                        </a:rPr>
                        <a:t>BidDsctn2</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보관함에 추가된 사업 품목에 대한 </a:t>
                      </a:r>
                      <a:r>
                        <a:rPr lang="ko-KR" altLang="en-US" sz="800" kern="1200" dirty="0" err="1">
                          <a:solidFill>
                            <a:schemeClr val="tx1"/>
                          </a:solidFill>
                          <a:latin typeface="+mn-ea"/>
                          <a:ea typeface="+mn-ea"/>
                          <a:cs typeface="+mn-cs"/>
                        </a:rPr>
                        <a:t>입찰내역을</a:t>
                      </a:r>
                      <a:r>
                        <a:rPr lang="ko-KR" altLang="en-US" sz="800" kern="1200" dirty="0">
                          <a:solidFill>
                            <a:schemeClr val="tx1"/>
                          </a:solidFill>
                          <a:latin typeface="+mn-ea"/>
                          <a:ea typeface="+mn-ea"/>
                          <a:cs typeface="+mn-cs"/>
                        </a:rPr>
                        <a:t> 작성하는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ovsTmprBidCnReg</a:t>
                      </a:r>
                      <a:r>
                        <a:rPr lang="en-US" altLang="ko-KR" sz="800" b="0" i="0" u="none" strike="noStrike" dirty="0">
                          <a:solidFill>
                            <a:schemeClr val="tx1"/>
                          </a:solidFill>
                          <a:effectLst/>
                          <a:latin typeface="+mn-lt"/>
                        </a:rPr>
                        <a:t>/</a:t>
                      </a:r>
                      <a:r>
                        <a:rPr lang="en-US" altLang="ko-KR" sz="800" dirty="0">
                          <a:solidFill>
                            <a:schemeClr val="tx1"/>
                          </a:solidFill>
                          <a:latin typeface="+mn-lt"/>
                          <a:ea typeface="+mn-ea"/>
                        </a:rPr>
                        <a:t>BidDsctn2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base"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UC-BD-03-02</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2880730"/>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grpSp>
        <p:nvGrpSpPr>
          <p:cNvPr id="7" name="그룹 6"/>
          <p:cNvGrpSpPr/>
          <p:nvPr/>
        </p:nvGrpSpPr>
        <p:grpSpPr>
          <a:xfrm>
            <a:off x="8223250" y="569392"/>
            <a:ext cx="3365500" cy="634511"/>
            <a:chOff x="8223250" y="569392"/>
            <a:chExt cx="3365500" cy="634511"/>
          </a:xfrm>
        </p:grpSpPr>
        <p:sp>
          <p:nvSpPr>
            <p:cNvPr id="8" name="직사각형 7"/>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2026-06-19 </a:t>
              </a:r>
              <a:r>
                <a:rPr lang="ko-KR" altLang="en-US" dirty="0" smtClean="0"/>
                <a:t>내용 </a:t>
              </a:r>
              <a:r>
                <a:rPr lang="ko-KR" altLang="en-US" dirty="0"/>
                <a:t>수정</a:t>
              </a:r>
            </a:p>
          </p:txBody>
        </p:sp>
        <p:sp>
          <p:nvSpPr>
            <p:cNvPr id="9" name="직사각형 8"/>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국외 보관함 </a:t>
              </a:r>
              <a:r>
                <a:rPr lang="ko-KR" altLang="en-US" sz="700" dirty="0" err="1" smtClean="0"/>
                <a:t>유스케이스</a:t>
              </a:r>
              <a:r>
                <a:rPr lang="ko-KR" altLang="en-US" sz="700" dirty="0" smtClean="0"/>
                <a:t> </a:t>
              </a:r>
              <a:r>
                <a:rPr lang="en-US" altLang="ko-KR" sz="700" dirty="0" smtClean="0"/>
                <a:t>ID</a:t>
              </a:r>
              <a:r>
                <a:rPr lang="ko-KR" altLang="en-US" sz="700" dirty="0" smtClean="0"/>
                <a:t>추가</a:t>
              </a:r>
              <a:endParaRPr lang="en-US" altLang="ko-KR" sz="700" dirty="0"/>
            </a:p>
          </p:txBody>
        </p:sp>
      </p:grpSp>
    </p:spTree>
    <p:extLst>
      <p:ext uri="{BB962C8B-B14F-4D97-AF65-F5344CB8AC3E}">
        <p14:creationId xmlns:p14="http://schemas.microsoft.com/office/powerpoint/2010/main" val="704391650"/>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285</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7. </a:t>
            </a:r>
            <a:r>
              <a:rPr lang="ko-KR" altLang="en-US" dirty="0"/>
              <a:t>국외입찰공고상세</a:t>
            </a:r>
            <a:endParaRPr lang="en-US" altLang="ko-KR" dirty="0"/>
          </a:p>
          <a:p>
            <a:r>
              <a:rPr lang="en-US" altLang="ko-KR" dirty="0"/>
              <a:t>7.1 </a:t>
            </a:r>
            <a:r>
              <a:rPr lang="ko-KR" altLang="en-US" dirty="0"/>
              <a:t>화면 목록 </a:t>
            </a:r>
            <a:r>
              <a:rPr lang="en-US" altLang="ko-KR" dirty="0"/>
              <a:t>(2/2)</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462700509"/>
              </p:ext>
            </p:extLst>
          </p:nvPr>
        </p:nvGraphicFramePr>
        <p:xfrm>
          <a:off x="635474" y="1413419"/>
          <a:ext cx="8701200" cy="107134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MUI-BD-01-M79</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이전공고입찰내역등록</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chemeClr val="tx1"/>
                          </a:solidFill>
                          <a:effectLst/>
                          <a:latin typeface="+mn-lt"/>
                        </a:rPr>
                        <a:t>OvsBfrTmprBidBidCnRegPage</a:t>
                      </a:r>
                      <a:endParaRPr lang="en-US" sz="800" b="0" i="0" u="none" strike="noStrike" dirty="0">
                        <a:solidFill>
                          <a:schemeClr val="tx1"/>
                        </a:solidFill>
                        <a:effectLst/>
                        <a:latin typeface="+mn-lt"/>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이전 공고 보관함 목록의 </a:t>
                      </a:r>
                      <a:r>
                        <a:rPr lang="ko-KR" altLang="en-US" sz="800" kern="1200" dirty="0" err="1">
                          <a:solidFill>
                            <a:schemeClr val="tx1"/>
                          </a:solidFill>
                          <a:latin typeface="+mn-ea"/>
                          <a:ea typeface="+mn-ea"/>
                          <a:cs typeface="+mn-cs"/>
                        </a:rPr>
                        <a:t>입찰내역을</a:t>
                      </a:r>
                      <a:r>
                        <a:rPr lang="ko-KR" altLang="en-US" sz="800" kern="1200" dirty="0">
                          <a:solidFill>
                            <a:schemeClr val="tx1"/>
                          </a:solidFill>
                          <a:latin typeface="+mn-ea"/>
                          <a:ea typeface="+mn-ea"/>
                          <a:cs typeface="+mn-cs"/>
                        </a:rPr>
                        <a:t> 현재 공고의 입찰내역으로 불러오는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ovsBfrTmprBidBidCnReg</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OvsBfrTmprBidBidCnRegPage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base"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UC-BD-03-02</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8334899"/>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MUI-BD-01-P80</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이전공고입찰내역품목상세</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lt"/>
                          <a:ea typeface="+mn-ea"/>
                        </a:rPr>
                        <a:t>BfrPbancBidDsctnItemDtl</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이전 공고 보관함 목록의 </a:t>
                      </a:r>
                      <a:r>
                        <a:rPr lang="ko-KR" altLang="en-US" sz="800" kern="1200" dirty="0" err="1">
                          <a:solidFill>
                            <a:schemeClr val="tx1"/>
                          </a:solidFill>
                          <a:latin typeface="+mn-ea"/>
                          <a:ea typeface="+mn-ea"/>
                          <a:cs typeface="+mn-cs"/>
                        </a:rPr>
                        <a:t>입찰내역</a:t>
                      </a:r>
                      <a:r>
                        <a:rPr lang="ko-KR" altLang="en-US" sz="800" kern="1200" dirty="0">
                          <a:solidFill>
                            <a:schemeClr val="tx1"/>
                          </a:solidFill>
                          <a:latin typeface="+mn-ea"/>
                          <a:ea typeface="+mn-ea"/>
                          <a:cs typeface="+mn-cs"/>
                        </a:rPr>
                        <a:t> 품목 확인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ovsBfrTmprBidBidCnReg</a:t>
                      </a:r>
                      <a:r>
                        <a:rPr lang="en-US" altLang="ko-KR" sz="800" dirty="0">
                          <a:solidFill>
                            <a:schemeClr val="tx1"/>
                          </a:solidFill>
                          <a:latin typeface="+mn-lt"/>
                          <a:ea typeface="+mn-ea"/>
                        </a:rPr>
                        <a:t>/</a:t>
                      </a:r>
                      <a:r>
                        <a:rPr lang="en-US" altLang="ko-KR" sz="800" dirty="0" err="1">
                          <a:solidFill>
                            <a:schemeClr val="tx1"/>
                          </a:solidFill>
                          <a:latin typeface="+mn-lt"/>
                          <a:ea typeface="+mn-ea"/>
                        </a:rPr>
                        <a:t>BfrPbancBidDsctnItemDtl</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base"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smtClean="0">
                          <a:ln>
                            <a:noFill/>
                          </a:ln>
                          <a:solidFill>
                            <a:prstClr val="black"/>
                          </a:solidFill>
                          <a:effectLst/>
                          <a:uLnTx/>
                          <a:uFillTx/>
                          <a:latin typeface="맑은 고딕" panose="020B0503020000020004" pitchFamily="50" charset="-127"/>
                          <a:ea typeface="맑은 고딕" panose="020B0503020000020004" pitchFamily="50" charset="-127"/>
                          <a:cs typeface="+mn-cs"/>
                        </a:rPr>
                        <a:t>UC-BD-03-02</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4968145"/>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308330238"/>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286</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7.2. </a:t>
            </a:r>
            <a:r>
              <a:rPr lang="ko-KR" altLang="en-US" dirty="0"/>
              <a:t>화면 흐름도</a:t>
            </a: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70" idx="1"/>
          </p:cNvCxnSpPr>
          <p:nvPr/>
        </p:nvCxnSpPr>
        <p:spPr>
          <a:xfrm>
            <a:off x="143547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70"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입찰공고</a:t>
            </a:r>
          </a:p>
          <a:p>
            <a:pPr algn="ctr"/>
            <a:r>
              <a:rPr lang="ko-KR" altLang="en-US" sz="800" dirty="0" err="1">
                <a:solidFill>
                  <a:schemeClr val="tx1"/>
                </a:solidFill>
              </a:rPr>
              <a:t>통합목록</a:t>
            </a:r>
            <a:endParaRPr lang="ko-KR" altLang="en-US" sz="800" dirty="0">
              <a:solidFill>
                <a:schemeClr val="tx1"/>
              </a:solidFill>
            </a:endParaRPr>
          </a:p>
        </p:txBody>
      </p:sp>
      <p:sp>
        <p:nvSpPr>
          <p:cNvPr id="77" name="사각형: 둥근 모서리 5">
            <a:extLst>
              <a:ext uri="{FF2B5EF4-FFF2-40B4-BE49-F238E27FC236}">
                <a16:creationId xmlns:a16="http://schemas.microsoft.com/office/drawing/2014/main" id="{410E5459-200D-7630-863C-88E5109259DF}"/>
              </a:ext>
            </a:extLst>
          </p:cNvPr>
          <p:cNvSpPr/>
          <p:nvPr/>
        </p:nvSpPr>
        <p:spPr>
          <a:xfrm>
            <a:off x="2366608" y="2274791"/>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입찰공고상세</a:t>
            </a:r>
          </a:p>
        </p:txBody>
      </p:sp>
      <p:cxnSp>
        <p:nvCxnSpPr>
          <p:cNvPr id="121" name="직선 화살표 연결선 120">
            <a:extLst>
              <a:ext uri="{FF2B5EF4-FFF2-40B4-BE49-F238E27FC236}">
                <a16:creationId xmlns:a16="http://schemas.microsoft.com/office/drawing/2014/main" id="{9A519F08-B829-E35F-09D8-DFCD1F68B911}"/>
              </a:ext>
            </a:extLst>
          </p:cNvPr>
          <p:cNvCxnSpPr>
            <a:cxnSpLocks/>
            <a:stCxn id="70" idx="2"/>
            <a:endCxn id="77" idx="0"/>
          </p:cNvCxnSpPr>
          <p:nvPr/>
        </p:nvCxnSpPr>
        <p:spPr>
          <a:xfrm>
            <a:off x="2816608" y="1916964"/>
            <a:ext cx="0" cy="357827"/>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직사각형 61">
            <a:extLst>
              <a:ext uri="{FF2B5EF4-FFF2-40B4-BE49-F238E27FC236}">
                <a16:creationId xmlns:a16="http://schemas.microsoft.com/office/drawing/2014/main" id="{23C86455-E84C-0CEA-5C6B-05BE50ADCEF5}"/>
              </a:ext>
            </a:extLst>
          </p:cNvPr>
          <p:cNvSpPr/>
          <p:nvPr/>
        </p:nvSpPr>
        <p:spPr>
          <a:xfrm>
            <a:off x="1191585"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sp>
        <p:nvSpPr>
          <p:cNvPr id="22" name="사각형: 둥근 모서리 5">
            <a:extLst>
              <a:ext uri="{FF2B5EF4-FFF2-40B4-BE49-F238E27FC236}">
                <a16:creationId xmlns:a16="http://schemas.microsoft.com/office/drawing/2014/main" id="{410E5459-200D-7630-863C-88E5109259DF}"/>
              </a:ext>
            </a:extLst>
          </p:cNvPr>
          <p:cNvSpPr/>
          <p:nvPr/>
        </p:nvSpPr>
        <p:spPr>
          <a:xfrm>
            <a:off x="4193499" y="292061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첨부파일</a:t>
            </a:r>
          </a:p>
        </p:txBody>
      </p:sp>
      <p:sp>
        <p:nvSpPr>
          <p:cNvPr id="52" name="사각형: 둥근 모서리 5">
            <a:extLst>
              <a:ext uri="{FF2B5EF4-FFF2-40B4-BE49-F238E27FC236}">
                <a16:creationId xmlns:a16="http://schemas.microsoft.com/office/drawing/2014/main" id="{410E5459-200D-7630-863C-88E5109259DF}"/>
              </a:ext>
            </a:extLst>
          </p:cNvPr>
          <p:cNvSpPr/>
          <p:nvPr/>
        </p:nvSpPr>
        <p:spPr>
          <a:xfrm>
            <a:off x="4193499"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일반정보</a:t>
            </a:r>
          </a:p>
        </p:txBody>
      </p:sp>
      <p:sp>
        <p:nvSpPr>
          <p:cNvPr id="53" name="사각형: 둥근 모서리 5">
            <a:extLst>
              <a:ext uri="{FF2B5EF4-FFF2-40B4-BE49-F238E27FC236}">
                <a16:creationId xmlns:a16="http://schemas.microsoft.com/office/drawing/2014/main" id="{410E5459-200D-7630-863C-88E5109259DF}"/>
              </a:ext>
            </a:extLst>
          </p:cNvPr>
          <p:cNvSpPr/>
          <p:nvPr/>
        </p:nvSpPr>
        <p:spPr>
          <a:xfrm>
            <a:off x="4193499" y="227479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품목 목록</a:t>
            </a:r>
          </a:p>
        </p:txBody>
      </p:sp>
      <p:cxnSp>
        <p:nvCxnSpPr>
          <p:cNvPr id="63" name="직선 화살표 연결선 62">
            <a:extLst>
              <a:ext uri="{FF2B5EF4-FFF2-40B4-BE49-F238E27FC236}">
                <a16:creationId xmlns:a16="http://schemas.microsoft.com/office/drawing/2014/main" id="{9A519F08-B829-E35F-09D8-DFCD1F68B911}"/>
              </a:ext>
            </a:extLst>
          </p:cNvPr>
          <p:cNvCxnSpPr>
            <a:cxnSpLocks/>
            <a:stCxn id="77" idx="3"/>
            <a:endCxn id="53" idx="1"/>
          </p:cNvCxnSpPr>
          <p:nvPr/>
        </p:nvCxnSpPr>
        <p:spPr>
          <a:xfrm>
            <a:off x="3266608" y="2418791"/>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6" name="연결선: 꺾임 7">
            <a:extLst>
              <a:ext uri="{FF2B5EF4-FFF2-40B4-BE49-F238E27FC236}">
                <a16:creationId xmlns:a16="http://schemas.microsoft.com/office/drawing/2014/main" id="{89A2D828-4C18-4F90-6B31-722E89773AA8}"/>
              </a:ext>
            </a:extLst>
          </p:cNvPr>
          <p:cNvCxnSpPr>
            <a:cxnSpLocks/>
            <a:stCxn id="77" idx="3"/>
            <a:endCxn id="52" idx="1"/>
          </p:cNvCxnSpPr>
          <p:nvPr/>
        </p:nvCxnSpPr>
        <p:spPr>
          <a:xfrm flipV="1">
            <a:off x="3266608" y="1772964"/>
            <a:ext cx="926891"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연결선: 꺾임 7">
            <a:extLst>
              <a:ext uri="{FF2B5EF4-FFF2-40B4-BE49-F238E27FC236}">
                <a16:creationId xmlns:a16="http://schemas.microsoft.com/office/drawing/2014/main" id="{89A2D828-4C18-4F90-6B31-722E89773AA8}"/>
              </a:ext>
            </a:extLst>
          </p:cNvPr>
          <p:cNvCxnSpPr>
            <a:cxnSpLocks/>
            <a:stCxn id="77" idx="3"/>
            <a:endCxn id="22" idx="1"/>
          </p:cNvCxnSpPr>
          <p:nvPr/>
        </p:nvCxnSpPr>
        <p:spPr>
          <a:xfrm>
            <a:off x="3266608" y="2418791"/>
            <a:ext cx="926891"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8" name="직사각형 77">
            <a:extLst>
              <a:ext uri="{FF2B5EF4-FFF2-40B4-BE49-F238E27FC236}">
                <a16:creationId xmlns:a16="http://schemas.microsoft.com/office/drawing/2014/main" id="{4FB9FCCA-B5F3-C0E2-F563-4F0CE0FC24CF}"/>
              </a:ext>
            </a:extLst>
          </p:cNvPr>
          <p:cNvSpPr/>
          <p:nvPr/>
        </p:nvSpPr>
        <p:spPr>
          <a:xfrm>
            <a:off x="7578850" y="3175772"/>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79" name="그룹 78">
            <a:extLst>
              <a:ext uri="{FF2B5EF4-FFF2-40B4-BE49-F238E27FC236}">
                <a16:creationId xmlns:a16="http://schemas.microsoft.com/office/drawing/2014/main" id="{E7279F6C-9434-7961-8F6B-B7AE44CE5FCD}"/>
              </a:ext>
            </a:extLst>
          </p:cNvPr>
          <p:cNvGrpSpPr/>
          <p:nvPr/>
        </p:nvGrpSpPr>
        <p:grpSpPr>
          <a:xfrm>
            <a:off x="7607847" y="2974618"/>
            <a:ext cx="180000" cy="180000"/>
            <a:chOff x="5058274" y="2498299"/>
            <a:chExt cx="180000" cy="180000"/>
          </a:xfrm>
        </p:grpSpPr>
        <p:sp>
          <p:nvSpPr>
            <p:cNvPr id="80" name="타원 79">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타원 83">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40" name="사각형: 둥근 모서리 5">
            <a:extLst>
              <a:ext uri="{FF2B5EF4-FFF2-40B4-BE49-F238E27FC236}">
                <a16:creationId xmlns:a16="http://schemas.microsoft.com/office/drawing/2014/main" id="{410E5459-200D-7630-863C-88E5109259DF}"/>
              </a:ext>
            </a:extLst>
          </p:cNvPr>
          <p:cNvSpPr/>
          <p:nvPr/>
        </p:nvSpPr>
        <p:spPr>
          <a:xfrm>
            <a:off x="4193499" y="356644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환율정보조회</a:t>
            </a:r>
          </a:p>
        </p:txBody>
      </p:sp>
      <p:cxnSp>
        <p:nvCxnSpPr>
          <p:cNvPr id="41" name="연결선: 꺾임 7">
            <a:extLst>
              <a:ext uri="{FF2B5EF4-FFF2-40B4-BE49-F238E27FC236}">
                <a16:creationId xmlns:a16="http://schemas.microsoft.com/office/drawing/2014/main" id="{89A2D828-4C18-4F90-6B31-722E89773AA8}"/>
              </a:ext>
            </a:extLst>
          </p:cNvPr>
          <p:cNvCxnSpPr>
            <a:cxnSpLocks/>
            <a:stCxn id="77" idx="2"/>
            <a:endCxn id="40" idx="1"/>
          </p:cNvCxnSpPr>
          <p:nvPr/>
        </p:nvCxnSpPr>
        <p:spPr>
          <a:xfrm rot="16200000" flipH="1">
            <a:off x="2931226" y="2448172"/>
            <a:ext cx="1147654" cy="137689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사각형: 둥근 모서리 5">
            <a:extLst>
              <a:ext uri="{FF2B5EF4-FFF2-40B4-BE49-F238E27FC236}">
                <a16:creationId xmlns:a16="http://schemas.microsoft.com/office/drawing/2014/main" id="{410E5459-200D-7630-863C-88E5109259DF}"/>
              </a:ext>
            </a:extLst>
          </p:cNvPr>
          <p:cNvSpPr/>
          <p:nvPr/>
        </p:nvSpPr>
        <p:spPr>
          <a:xfrm>
            <a:off x="4193499" y="4212272"/>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목표가공개품목조회</a:t>
            </a:r>
            <a:endParaRPr lang="ko-KR" altLang="en-US" sz="800" dirty="0">
              <a:solidFill>
                <a:schemeClr val="tx1"/>
              </a:solidFill>
            </a:endParaRPr>
          </a:p>
        </p:txBody>
      </p:sp>
      <p:cxnSp>
        <p:nvCxnSpPr>
          <p:cNvPr id="48" name="연결선: 꺾임 7">
            <a:extLst>
              <a:ext uri="{FF2B5EF4-FFF2-40B4-BE49-F238E27FC236}">
                <a16:creationId xmlns:a16="http://schemas.microsoft.com/office/drawing/2014/main" id="{89A2D828-4C18-4F90-6B31-722E89773AA8}"/>
              </a:ext>
            </a:extLst>
          </p:cNvPr>
          <p:cNvCxnSpPr>
            <a:cxnSpLocks/>
            <a:stCxn id="77" idx="2"/>
            <a:endCxn id="47" idx="1"/>
          </p:cNvCxnSpPr>
          <p:nvPr/>
        </p:nvCxnSpPr>
        <p:spPr>
          <a:xfrm rot="16200000" flipH="1">
            <a:off x="2608313" y="2771085"/>
            <a:ext cx="1793481" cy="137689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직사각형 48">
            <a:extLst>
              <a:ext uri="{FF2B5EF4-FFF2-40B4-BE49-F238E27FC236}">
                <a16:creationId xmlns:a16="http://schemas.microsoft.com/office/drawing/2014/main" id="{F249990F-1DE5-C694-BDBD-2DE7009D57EA}"/>
              </a:ext>
            </a:extLst>
          </p:cNvPr>
          <p:cNvSpPr/>
          <p:nvPr/>
        </p:nvSpPr>
        <p:spPr>
          <a:xfrm>
            <a:off x="2909452" y="3501369"/>
            <a:ext cx="99706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플로팅</a:t>
            </a:r>
            <a:r>
              <a:rPr lang="ko-KR" altLang="en-US" sz="800" dirty="0">
                <a:solidFill>
                  <a:schemeClr val="tx1"/>
                </a:solidFill>
              </a:rPr>
              <a:t> 버튼으로 진입</a:t>
            </a:r>
          </a:p>
        </p:txBody>
      </p:sp>
      <p:cxnSp>
        <p:nvCxnSpPr>
          <p:cNvPr id="61" name="연결선: 꺾임 7">
            <a:extLst>
              <a:ext uri="{FF2B5EF4-FFF2-40B4-BE49-F238E27FC236}">
                <a16:creationId xmlns:a16="http://schemas.microsoft.com/office/drawing/2014/main" id="{89A2D828-4C18-4F90-6B31-722E89773AA8}"/>
              </a:ext>
            </a:extLst>
          </p:cNvPr>
          <p:cNvCxnSpPr>
            <a:cxnSpLocks/>
            <a:stCxn id="40" idx="3"/>
            <a:endCxn id="80" idx="2"/>
          </p:cNvCxnSpPr>
          <p:nvPr/>
        </p:nvCxnSpPr>
        <p:spPr>
          <a:xfrm flipV="1">
            <a:off x="5093499" y="3064618"/>
            <a:ext cx="2514348"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직선 화살표 연결선 64">
            <a:extLst>
              <a:ext uri="{FF2B5EF4-FFF2-40B4-BE49-F238E27FC236}">
                <a16:creationId xmlns:a16="http://schemas.microsoft.com/office/drawing/2014/main" id="{9A519F08-B829-E35F-09D8-DFCD1F68B911}"/>
              </a:ext>
            </a:extLst>
          </p:cNvPr>
          <p:cNvCxnSpPr>
            <a:cxnSpLocks/>
            <a:stCxn id="22" idx="3"/>
            <a:endCxn id="80" idx="2"/>
          </p:cNvCxnSpPr>
          <p:nvPr/>
        </p:nvCxnSpPr>
        <p:spPr>
          <a:xfrm>
            <a:off x="5093499" y="3064618"/>
            <a:ext cx="2514348"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8" name="연결선: 꺾임 7">
            <a:extLst>
              <a:ext uri="{FF2B5EF4-FFF2-40B4-BE49-F238E27FC236}">
                <a16:creationId xmlns:a16="http://schemas.microsoft.com/office/drawing/2014/main" id="{89A2D828-4C18-4F90-6B31-722E89773AA8}"/>
              </a:ext>
            </a:extLst>
          </p:cNvPr>
          <p:cNvCxnSpPr>
            <a:cxnSpLocks/>
            <a:stCxn id="52" idx="3"/>
            <a:endCxn id="80" idx="0"/>
          </p:cNvCxnSpPr>
          <p:nvPr/>
        </p:nvCxnSpPr>
        <p:spPr>
          <a:xfrm>
            <a:off x="5093499" y="1772964"/>
            <a:ext cx="2604348" cy="1201654"/>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연결선: 꺾임 7">
            <a:extLst>
              <a:ext uri="{FF2B5EF4-FFF2-40B4-BE49-F238E27FC236}">
                <a16:creationId xmlns:a16="http://schemas.microsoft.com/office/drawing/2014/main" id="{89A2D828-4C18-4F90-6B31-722E89773AA8}"/>
              </a:ext>
            </a:extLst>
          </p:cNvPr>
          <p:cNvCxnSpPr>
            <a:cxnSpLocks/>
            <a:stCxn id="47" idx="3"/>
            <a:endCxn id="80" idx="2"/>
          </p:cNvCxnSpPr>
          <p:nvPr/>
        </p:nvCxnSpPr>
        <p:spPr>
          <a:xfrm flipV="1">
            <a:off x="5093499" y="3064618"/>
            <a:ext cx="2514348" cy="129165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직사각형 81">
            <a:extLst>
              <a:ext uri="{FF2B5EF4-FFF2-40B4-BE49-F238E27FC236}">
                <a16:creationId xmlns:a16="http://schemas.microsoft.com/office/drawing/2014/main" id="{F249990F-1DE5-C694-BDBD-2DE7009D57EA}"/>
              </a:ext>
            </a:extLst>
          </p:cNvPr>
          <p:cNvSpPr/>
          <p:nvPr/>
        </p:nvSpPr>
        <p:spPr>
          <a:xfrm>
            <a:off x="2909452" y="4171978"/>
            <a:ext cx="99706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플로팅</a:t>
            </a:r>
            <a:r>
              <a:rPr lang="ko-KR" altLang="en-US" sz="800" dirty="0">
                <a:solidFill>
                  <a:schemeClr val="tx1"/>
                </a:solidFill>
              </a:rPr>
              <a:t> 버튼으로 진입</a:t>
            </a:r>
          </a:p>
        </p:txBody>
      </p:sp>
      <p:sp>
        <p:nvSpPr>
          <p:cNvPr id="93" name="사각형: 둥근 모서리 5">
            <a:extLst>
              <a:ext uri="{FF2B5EF4-FFF2-40B4-BE49-F238E27FC236}">
                <a16:creationId xmlns:a16="http://schemas.microsoft.com/office/drawing/2014/main" id="{410E5459-200D-7630-863C-88E5109259DF}"/>
              </a:ext>
            </a:extLst>
          </p:cNvPr>
          <p:cNvSpPr/>
          <p:nvPr/>
        </p:nvSpPr>
        <p:spPr>
          <a:xfrm>
            <a:off x="6030043" y="2274791"/>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a:solidFill>
                  <a:schemeClr val="tx1"/>
                </a:solidFill>
                <a:latin typeface="+mn-ea"/>
              </a:rPr>
              <a:t>국외 보관함 목록</a:t>
            </a:r>
            <a:endParaRPr lang="en-US" altLang="ko-KR" sz="800" dirty="0">
              <a:solidFill>
                <a:schemeClr val="tx1"/>
              </a:solidFill>
              <a:latin typeface="+mn-ea"/>
            </a:endParaRPr>
          </a:p>
          <a:p>
            <a:pPr algn="ctr" fontAlgn="ctr"/>
            <a:r>
              <a:rPr lang="ko-KR" altLang="en-US" sz="800" dirty="0">
                <a:solidFill>
                  <a:schemeClr val="tx1"/>
                </a:solidFill>
                <a:latin typeface="+mn-ea"/>
              </a:rPr>
              <a:t>추가</a:t>
            </a:r>
            <a:r>
              <a:rPr lang="en-US" altLang="ko-KR" sz="800" dirty="0">
                <a:solidFill>
                  <a:schemeClr val="tx1"/>
                </a:solidFill>
                <a:latin typeface="+mn-ea"/>
              </a:rPr>
              <a:t>/</a:t>
            </a:r>
            <a:r>
              <a:rPr lang="ko-KR" altLang="en-US" sz="800" dirty="0">
                <a:solidFill>
                  <a:schemeClr val="tx1"/>
                </a:solidFill>
                <a:latin typeface="+mn-ea"/>
              </a:rPr>
              <a:t>삭제</a:t>
            </a:r>
          </a:p>
        </p:txBody>
      </p:sp>
      <p:cxnSp>
        <p:nvCxnSpPr>
          <p:cNvPr id="102" name="연결선: 꺾임 7">
            <a:extLst>
              <a:ext uri="{FF2B5EF4-FFF2-40B4-BE49-F238E27FC236}">
                <a16:creationId xmlns:a16="http://schemas.microsoft.com/office/drawing/2014/main" id="{89A2D828-4C18-4F90-6B31-722E89773AA8}"/>
              </a:ext>
            </a:extLst>
          </p:cNvPr>
          <p:cNvCxnSpPr>
            <a:cxnSpLocks/>
            <a:stCxn id="93" idx="3"/>
            <a:endCxn id="80" idx="0"/>
          </p:cNvCxnSpPr>
          <p:nvPr/>
        </p:nvCxnSpPr>
        <p:spPr>
          <a:xfrm>
            <a:off x="6930043" y="2418791"/>
            <a:ext cx="767804" cy="55582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사각형: 둥근 모서리 5">
            <a:extLst>
              <a:ext uri="{FF2B5EF4-FFF2-40B4-BE49-F238E27FC236}">
                <a16:creationId xmlns:a16="http://schemas.microsoft.com/office/drawing/2014/main" id="{410E5459-200D-7630-863C-88E5109259DF}"/>
              </a:ext>
            </a:extLst>
          </p:cNvPr>
          <p:cNvSpPr/>
          <p:nvPr/>
        </p:nvSpPr>
        <p:spPr>
          <a:xfrm>
            <a:off x="895473" y="4858099"/>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마이페이지</a:t>
            </a:r>
            <a:endParaRPr lang="ko-KR" altLang="en-US" sz="800" dirty="0">
              <a:solidFill>
                <a:schemeClr val="tx1"/>
              </a:solidFill>
            </a:endParaRPr>
          </a:p>
        </p:txBody>
      </p:sp>
      <p:sp>
        <p:nvSpPr>
          <p:cNvPr id="44" name="사각형: 둥근 모서리 5">
            <a:extLst>
              <a:ext uri="{FF2B5EF4-FFF2-40B4-BE49-F238E27FC236}">
                <a16:creationId xmlns:a16="http://schemas.microsoft.com/office/drawing/2014/main" id="{410E5459-200D-7630-863C-88E5109259DF}"/>
              </a:ext>
            </a:extLst>
          </p:cNvPr>
          <p:cNvSpPr/>
          <p:nvPr/>
        </p:nvSpPr>
        <p:spPr>
          <a:xfrm>
            <a:off x="2366608" y="485809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a:solidFill>
                  <a:schemeClr val="tx1"/>
                </a:solidFill>
                <a:latin typeface="+mn-ea"/>
              </a:rPr>
              <a:t>국외 보관함 목록</a:t>
            </a:r>
          </a:p>
        </p:txBody>
      </p:sp>
      <p:sp>
        <p:nvSpPr>
          <p:cNvPr id="51" name="사각형: 둥근 모서리 5">
            <a:extLst>
              <a:ext uri="{FF2B5EF4-FFF2-40B4-BE49-F238E27FC236}">
                <a16:creationId xmlns:a16="http://schemas.microsoft.com/office/drawing/2014/main" id="{410E5459-200D-7630-863C-88E5109259DF}"/>
              </a:ext>
            </a:extLst>
          </p:cNvPr>
          <p:cNvSpPr/>
          <p:nvPr/>
        </p:nvSpPr>
        <p:spPr>
          <a:xfrm>
            <a:off x="6030043" y="5503926"/>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err="1">
                <a:solidFill>
                  <a:schemeClr val="tx1"/>
                </a:solidFill>
                <a:latin typeface="+mn-ea"/>
              </a:rPr>
              <a:t>입찰내역</a:t>
            </a:r>
            <a:r>
              <a:rPr lang="ko-KR" altLang="en-US" sz="800" dirty="0">
                <a:solidFill>
                  <a:schemeClr val="tx1"/>
                </a:solidFill>
                <a:latin typeface="+mn-ea"/>
              </a:rPr>
              <a:t> 작성</a:t>
            </a:r>
          </a:p>
        </p:txBody>
      </p:sp>
      <p:sp>
        <p:nvSpPr>
          <p:cNvPr id="54" name="사각형: 둥근 모서리 5">
            <a:extLst>
              <a:ext uri="{FF2B5EF4-FFF2-40B4-BE49-F238E27FC236}">
                <a16:creationId xmlns:a16="http://schemas.microsoft.com/office/drawing/2014/main" id="{410E5459-200D-7630-863C-88E5109259DF}"/>
              </a:ext>
            </a:extLst>
          </p:cNvPr>
          <p:cNvSpPr/>
          <p:nvPr/>
        </p:nvSpPr>
        <p:spPr>
          <a:xfrm>
            <a:off x="6030043" y="485809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a:solidFill>
                  <a:schemeClr val="tx1"/>
                </a:solidFill>
                <a:latin typeface="+mn-ea"/>
              </a:rPr>
              <a:t>보관함 품목 관리</a:t>
            </a:r>
          </a:p>
        </p:txBody>
      </p:sp>
      <p:cxnSp>
        <p:nvCxnSpPr>
          <p:cNvPr id="55" name="연결선: 꺾임 7">
            <a:extLst>
              <a:ext uri="{FF2B5EF4-FFF2-40B4-BE49-F238E27FC236}">
                <a16:creationId xmlns:a16="http://schemas.microsoft.com/office/drawing/2014/main" id="{89A2D828-4C18-4F90-6B31-722E89773AA8}"/>
              </a:ext>
            </a:extLst>
          </p:cNvPr>
          <p:cNvCxnSpPr>
            <a:cxnSpLocks/>
            <a:stCxn id="9" idx="6"/>
            <a:endCxn id="43" idx="0"/>
          </p:cNvCxnSpPr>
          <p:nvPr/>
        </p:nvCxnSpPr>
        <p:spPr>
          <a:xfrm flipH="1">
            <a:off x="1345473" y="1772964"/>
            <a:ext cx="90001" cy="3085135"/>
          </a:xfrm>
          <a:prstGeom prst="bentConnector4">
            <a:avLst>
              <a:gd name="adj1" fmla="val -253997"/>
              <a:gd name="adj2" fmla="val 51459"/>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직선 화살표 연결선 57">
            <a:extLst>
              <a:ext uri="{FF2B5EF4-FFF2-40B4-BE49-F238E27FC236}">
                <a16:creationId xmlns:a16="http://schemas.microsoft.com/office/drawing/2014/main" id="{9A519F08-B829-E35F-09D8-DFCD1F68B911}"/>
              </a:ext>
            </a:extLst>
          </p:cNvPr>
          <p:cNvCxnSpPr>
            <a:cxnSpLocks/>
            <a:stCxn id="43" idx="3"/>
            <a:endCxn id="44" idx="1"/>
          </p:cNvCxnSpPr>
          <p:nvPr/>
        </p:nvCxnSpPr>
        <p:spPr>
          <a:xfrm>
            <a:off x="1795473" y="5002099"/>
            <a:ext cx="57113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직선 화살표 연결선 63">
            <a:extLst>
              <a:ext uri="{FF2B5EF4-FFF2-40B4-BE49-F238E27FC236}">
                <a16:creationId xmlns:a16="http://schemas.microsoft.com/office/drawing/2014/main" id="{9A519F08-B829-E35F-09D8-DFCD1F68B911}"/>
              </a:ext>
            </a:extLst>
          </p:cNvPr>
          <p:cNvCxnSpPr>
            <a:cxnSpLocks/>
            <a:stCxn id="77" idx="2"/>
            <a:endCxn id="44" idx="0"/>
          </p:cNvCxnSpPr>
          <p:nvPr/>
        </p:nvCxnSpPr>
        <p:spPr>
          <a:xfrm>
            <a:off x="2816608" y="2562791"/>
            <a:ext cx="0" cy="2295308"/>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7" name="사각형: 둥근 모서리 5">
            <a:extLst>
              <a:ext uri="{FF2B5EF4-FFF2-40B4-BE49-F238E27FC236}">
                <a16:creationId xmlns:a16="http://schemas.microsoft.com/office/drawing/2014/main" id="{410E5459-200D-7630-863C-88E5109259DF}"/>
              </a:ext>
            </a:extLst>
          </p:cNvPr>
          <p:cNvSpPr/>
          <p:nvPr/>
        </p:nvSpPr>
        <p:spPr>
          <a:xfrm>
            <a:off x="4193499" y="4858099"/>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a:solidFill>
                  <a:schemeClr val="tx1"/>
                </a:solidFill>
                <a:latin typeface="+mn-ea"/>
              </a:rPr>
              <a:t>보관함 상세</a:t>
            </a:r>
          </a:p>
        </p:txBody>
      </p:sp>
      <p:cxnSp>
        <p:nvCxnSpPr>
          <p:cNvPr id="72" name="직선 화살표 연결선 71">
            <a:extLst>
              <a:ext uri="{FF2B5EF4-FFF2-40B4-BE49-F238E27FC236}">
                <a16:creationId xmlns:a16="http://schemas.microsoft.com/office/drawing/2014/main" id="{9A519F08-B829-E35F-09D8-DFCD1F68B911}"/>
              </a:ext>
            </a:extLst>
          </p:cNvPr>
          <p:cNvCxnSpPr>
            <a:cxnSpLocks/>
            <a:stCxn id="53" idx="3"/>
            <a:endCxn id="93" idx="1"/>
          </p:cNvCxnSpPr>
          <p:nvPr/>
        </p:nvCxnSpPr>
        <p:spPr>
          <a:xfrm>
            <a:off x="5093499" y="2418791"/>
            <a:ext cx="93654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3" name="직선 화살표 연결선 72">
            <a:extLst>
              <a:ext uri="{FF2B5EF4-FFF2-40B4-BE49-F238E27FC236}">
                <a16:creationId xmlns:a16="http://schemas.microsoft.com/office/drawing/2014/main" id="{9A519F08-B829-E35F-09D8-DFCD1F68B911}"/>
              </a:ext>
            </a:extLst>
          </p:cNvPr>
          <p:cNvCxnSpPr>
            <a:cxnSpLocks/>
            <a:stCxn id="44" idx="3"/>
            <a:endCxn id="67" idx="1"/>
          </p:cNvCxnSpPr>
          <p:nvPr/>
        </p:nvCxnSpPr>
        <p:spPr>
          <a:xfrm>
            <a:off x="3266608" y="5002099"/>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4" name="연결선: 꺾임 7">
            <a:extLst>
              <a:ext uri="{FF2B5EF4-FFF2-40B4-BE49-F238E27FC236}">
                <a16:creationId xmlns:a16="http://schemas.microsoft.com/office/drawing/2014/main" id="{89A2D828-4C18-4F90-6B31-722E89773AA8}"/>
              </a:ext>
            </a:extLst>
          </p:cNvPr>
          <p:cNvCxnSpPr>
            <a:cxnSpLocks/>
            <a:stCxn id="67" idx="3"/>
            <a:endCxn id="51" idx="1"/>
          </p:cNvCxnSpPr>
          <p:nvPr/>
        </p:nvCxnSpPr>
        <p:spPr>
          <a:xfrm>
            <a:off x="5093499" y="5002099"/>
            <a:ext cx="93654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6" name="직사각형 75">
            <a:extLst>
              <a:ext uri="{FF2B5EF4-FFF2-40B4-BE49-F238E27FC236}">
                <a16:creationId xmlns:a16="http://schemas.microsoft.com/office/drawing/2014/main" id="{F249990F-1DE5-C694-BDBD-2DE7009D57EA}"/>
              </a:ext>
            </a:extLst>
          </p:cNvPr>
          <p:cNvSpPr/>
          <p:nvPr/>
        </p:nvSpPr>
        <p:spPr>
          <a:xfrm>
            <a:off x="2909452" y="4615118"/>
            <a:ext cx="997068"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플로팅</a:t>
            </a:r>
            <a:r>
              <a:rPr lang="ko-KR" altLang="en-US" sz="800" dirty="0">
                <a:solidFill>
                  <a:schemeClr val="tx1"/>
                </a:solidFill>
              </a:rPr>
              <a:t> 버튼으로 진입</a:t>
            </a:r>
          </a:p>
        </p:txBody>
      </p:sp>
      <p:cxnSp>
        <p:nvCxnSpPr>
          <p:cNvPr id="86" name="직선 화살표 연결선 85">
            <a:extLst>
              <a:ext uri="{FF2B5EF4-FFF2-40B4-BE49-F238E27FC236}">
                <a16:creationId xmlns:a16="http://schemas.microsoft.com/office/drawing/2014/main" id="{9A519F08-B829-E35F-09D8-DFCD1F68B911}"/>
              </a:ext>
            </a:extLst>
          </p:cNvPr>
          <p:cNvCxnSpPr>
            <a:cxnSpLocks/>
            <a:stCxn id="67" idx="3"/>
            <a:endCxn id="54" idx="1"/>
          </p:cNvCxnSpPr>
          <p:nvPr/>
        </p:nvCxnSpPr>
        <p:spPr>
          <a:xfrm>
            <a:off x="5093499" y="5002099"/>
            <a:ext cx="93654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연결선: 꺾임 7">
            <a:extLst>
              <a:ext uri="{FF2B5EF4-FFF2-40B4-BE49-F238E27FC236}">
                <a16:creationId xmlns:a16="http://schemas.microsoft.com/office/drawing/2014/main" id="{89A2D828-4C18-4F90-6B31-722E89773AA8}"/>
              </a:ext>
            </a:extLst>
          </p:cNvPr>
          <p:cNvCxnSpPr>
            <a:cxnSpLocks/>
            <a:stCxn id="56" idx="3"/>
            <a:endCxn id="80" idx="6"/>
          </p:cNvCxnSpPr>
          <p:nvPr/>
        </p:nvCxnSpPr>
        <p:spPr>
          <a:xfrm flipH="1" flipV="1">
            <a:off x="7787847" y="3064618"/>
            <a:ext cx="928997" cy="2583308"/>
          </a:xfrm>
          <a:prstGeom prst="bentConnector3">
            <a:avLst>
              <a:gd name="adj1" fmla="val -24607"/>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연결선: 꺾임 7">
            <a:extLst>
              <a:ext uri="{FF2B5EF4-FFF2-40B4-BE49-F238E27FC236}">
                <a16:creationId xmlns:a16="http://schemas.microsoft.com/office/drawing/2014/main" id="{89A2D828-4C18-4F90-6B31-722E89773AA8}"/>
              </a:ext>
            </a:extLst>
          </p:cNvPr>
          <p:cNvCxnSpPr>
            <a:cxnSpLocks/>
            <a:stCxn id="54" idx="3"/>
            <a:endCxn id="80" idx="2"/>
          </p:cNvCxnSpPr>
          <p:nvPr/>
        </p:nvCxnSpPr>
        <p:spPr>
          <a:xfrm flipV="1">
            <a:off x="6930043" y="3064618"/>
            <a:ext cx="677804" cy="193748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사각형: 둥근 모서리 5">
            <a:extLst>
              <a:ext uri="{FF2B5EF4-FFF2-40B4-BE49-F238E27FC236}">
                <a16:creationId xmlns:a16="http://schemas.microsoft.com/office/drawing/2014/main" id="{410E5459-200D-7630-863C-88E5109259DF}"/>
              </a:ext>
            </a:extLst>
          </p:cNvPr>
          <p:cNvSpPr/>
          <p:nvPr/>
        </p:nvSpPr>
        <p:spPr>
          <a:xfrm>
            <a:off x="7816844" y="5503926"/>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err="1">
                <a:solidFill>
                  <a:schemeClr val="tx1"/>
                </a:solidFill>
                <a:latin typeface="+mn-ea"/>
              </a:rPr>
              <a:t>이전공고</a:t>
            </a:r>
            <a:endParaRPr lang="en-US" altLang="ko-KR" sz="800" dirty="0">
              <a:solidFill>
                <a:schemeClr val="tx1"/>
              </a:solidFill>
              <a:latin typeface="+mn-ea"/>
            </a:endParaRPr>
          </a:p>
          <a:p>
            <a:pPr algn="ctr" fontAlgn="ctr"/>
            <a:r>
              <a:rPr lang="ko-KR" altLang="en-US" sz="800" dirty="0">
                <a:solidFill>
                  <a:schemeClr val="tx1"/>
                </a:solidFill>
                <a:latin typeface="+mn-ea"/>
              </a:rPr>
              <a:t>입찰내역등록</a:t>
            </a:r>
          </a:p>
        </p:txBody>
      </p:sp>
      <p:cxnSp>
        <p:nvCxnSpPr>
          <p:cNvPr id="59" name="직선 화살표 연결선 58">
            <a:extLst>
              <a:ext uri="{FF2B5EF4-FFF2-40B4-BE49-F238E27FC236}">
                <a16:creationId xmlns:a16="http://schemas.microsoft.com/office/drawing/2014/main" id="{9A519F08-B829-E35F-09D8-DFCD1F68B911}"/>
              </a:ext>
            </a:extLst>
          </p:cNvPr>
          <p:cNvCxnSpPr>
            <a:cxnSpLocks/>
            <a:stCxn id="51" idx="3"/>
            <a:endCxn id="56" idx="1"/>
          </p:cNvCxnSpPr>
          <p:nvPr/>
        </p:nvCxnSpPr>
        <p:spPr>
          <a:xfrm>
            <a:off x="6930043" y="5647926"/>
            <a:ext cx="88680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사각형: 둥근 모서리 5">
            <a:extLst>
              <a:ext uri="{FF2B5EF4-FFF2-40B4-BE49-F238E27FC236}">
                <a16:creationId xmlns:a16="http://schemas.microsoft.com/office/drawing/2014/main" id="{410E5459-200D-7630-863C-88E5109259DF}"/>
              </a:ext>
            </a:extLst>
          </p:cNvPr>
          <p:cNvSpPr/>
          <p:nvPr/>
        </p:nvSpPr>
        <p:spPr>
          <a:xfrm>
            <a:off x="7816844" y="6149753"/>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fontAlgn="ctr"/>
            <a:r>
              <a:rPr lang="ko-KR" altLang="en-US" sz="800" dirty="0">
                <a:solidFill>
                  <a:schemeClr val="tx1"/>
                </a:solidFill>
                <a:latin typeface="+mn-ea"/>
              </a:rPr>
              <a:t>입찰 참가 신청</a:t>
            </a:r>
          </a:p>
        </p:txBody>
      </p:sp>
      <p:cxnSp>
        <p:nvCxnSpPr>
          <p:cNvPr id="75" name="연결선: 꺾임 7">
            <a:extLst>
              <a:ext uri="{FF2B5EF4-FFF2-40B4-BE49-F238E27FC236}">
                <a16:creationId xmlns:a16="http://schemas.microsoft.com/office/drawing/2014/main" id="{89A2D828-4C18-4F90-6B31-722E89773AA8}"/>
              </a:ext>
            </a:extLst>
          </p:cNvPr>
          <p:cNvCxnSpPr>
            <a:cxnSpLocks/>
            <a:stCxn id="51" idx="3"/>
            <a:endCxn id="71" idx="1"/>
          </p:cNvCxnSpPr>
          <p:nvPr/>
        </p:nvCxnSpPr>
        <p:spPr>
          <a:xfrm>
            <a:off x="6930043" y="5647926"/>
            <a:ext cx="886801"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연결선: 꺾임 7">
            <a:extLst>
              <a:ext uri="{FF2B5EF4-FFF2-40B4-BE49-F238E27FC236}">
                <a16:creationId xmlns:a16="http://schemas.microsoft.com/office/drawing/2014/main" id="{89A2D828-4C18-4F90-6B31-722E89773AA8}"/>
              </a:ext>
            </a:extLst>
          </p:cNvPr>
          <p:cNvCxnSpPr>
            <a:cxnSpLocks/>
            <a:stCxn id="71" idx="3"/>
            <a:endCxn id="80" idx="6"/>
          </p:cNvCxnSpPr>
          <p:nvPr/>
        </p:nvCxnSpPr>
        <p:spPr>
          <a:xfrm flipH="1" flipV="1">
            <a:off x="7787847" y="3064618"/>
            <a:ext cx="928997" cy="3229135"/>
          </a:xfrm>
          <a:prstGeom prst="bentConnector3">
            <a:avLst>
              <a:gd name="adj1" fmla="val -24607"/>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5" name="직사각형 84">
            <a:extLst>
              <a:ext uri="{FF2B5EF4-FFF2-40B4-BE49-F238E27FC236}">
                <a16:creationId xmlns:a16="http://schemas.microsoft.com/office/drawing/2014/main" id="{F249990F-1DE5-C694-BDBD-2DE7009D57EA}"/>
              </a:ext>
            </a:extLst>
          </p:cNvPr>
          <p:cNvSpPr/>
          <p:nvPr/>
        </p:nvSpPr>
        <p:spPr>
          <a:xfrm>
            <a:off x="6033977" y="5799054"/>
            <a:ext cx="819135" cy="3693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일반정보</a:t>
            </a:r>
          </a:p>
          <a:p>
            <a:r>
              <a:rPr lang="ko-KR" altLang="en-US" sz="800" dirty="0" err="1">
                <a:solidFill>
                  <a:schemeClr val="tx1"/>
                </a:solidFill>
              </a:rPr>
              <a:t>입찰내역</a:t>
            </a:r>
            <a:r>
              <a:rPr lang="ko-KR" altLang="en-US" sz="800" dirty="0">
                <a:solidFill>
                  <a:schemeClr val="tx1"/>
                </a:solidFill>
              </a:rPr>
              <a:t> </a:t>
            </a:r>
            <a:r>
              <a:rPr lang="en-US" altLang="ko-KR" sz="800" dirty="0">
                <a:solidFill>
                  <a:schemeClr val="tx1"/>
                </a:solidFill>
              </a:rPr>
              <a:t>(</a:t>
            </a:r>
            <a:r>
              <a:rPr lang="ko-KR" altLang="en-US" sz="800" dirty="0" err="1">
                <a:solidFill>
                  <a:schemeClr val="tx1"/>
                </a:solidFill>
              </a:rPr>
              <a:t>단가제</a:t>
            </a:r>
            <a:r>
              <a:rPr lang="en-US" altLang="ko-KR" sz="800" dirty="0">
                <a:solidFill>
                  <a:schemeClr val="tx1"/>
                </a:solidFill>
              </a:rPr>
              <a:t>)</a:t>
            </a:r>
          </a:p>
          <a:p>
            <a:r>
              <a:rPr lang="ko-KR" altLang="en-US" sz="800" dirty="0" err="1">
                <a:solidFill>
                  <a:schemeClr val="tx1"/>
                </a:solidFill>
              </a:rPr>
              <a:t>입찰내역</a:t>
            </a:r>
            <a:r>
              <a:rPr lang="ko-KR" altLang="en-US" sz="800" dirty="0">
                <a:solidFill>
                  <a:schemeClr val="tx1"/>
                </a:solidFill>
              </a:rPr>
              <a:t> </a:t>
            </a:r>
            <a:r>
              <a:rPr lang="en-US" altLang="ko-KR" sz="800" dirty="0">
                <a:solidFill>
                  <a:schemeClr val="tx1"/>
                </a:solidFill>
              </a:rPr>
              <a:t>(</a:t>
            </a:r>
            <a:r>
              <a:rPr lang="ko-KR" altLang="en-US" sz="800" dirty="0" err="1">
                <a:solidFill>
                  <a:schemeClr val="tx1"/>
                </a:solidFill>
              </a:rPr>
              <a:t>총액제</a:t>
            </a:r>
            <a:r>
              <a:rPr lang="en-US" altLang="ko-KR" sz="800" dirty="0">
                <a:solidFill>
                  <a:schemeClr val="tx1"/>
                </a:solidFill>
              </a:rPr>
              <a:t>)</a:t>
            </a:r>
            <a:endParaRPr lang="ko-KR" altLang="en-US" sz="800" dirty="0">
              <a:solidFill>
                <a:schemeClr val="tx1"/>
              </a:solidFill>
            </a:endParaRPr>
          </a:p>
        </p:txBody>
      </p:sp>
      <p:sp>
        <p:nvSpPr>
          <p:cNvPr id="57" name="직사각형 56">
            <a:extLst>
              <a:ext uri="{FF2B5EF4-FFF2-40B4-BE49-F238E27FC236}">
                <a16:creationId xmlns:a16="http://schemas.microsoft.com/office/drawing/2014/main" id="{F249990F-1DE5-C694-BDBD-2DE7009D57EA}"/>
              </a:ext>
            </a:extLst>
          </p:cNvPr>
          <p:cNvSpPr/>
          <p:nvPr/>
        </p:nvSpPr>
        <p:spPr>
          <a:xfrm>
            <a:off x="7697847" y="5799054"/>
            <a:ext cx="1231106"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latin typeface="+mn-ea"/>
              </a:rPr>
              <a:t>이전공고입찰내역목록</a:t>
            </a:r>
            <a:endParaRPr lang="en-US" altLang="ko-KR" sz="800" dirty="0">
              <a:solidFill>
                <a:schemeClr val="tx1"/>
              </a:solidFill>
              <a:latin typeface="+mn-ea"/>
            </a:endParaRPr>
          </a:p>
          <a:p>
            <a:r>
              <a:rPr lang="ko-KR" altLang="en-US" sz="800" dirty="0" err="1">
                <a:solidFill>
                  <a:schemeClr val="tx1"/>
                </a:solidFill>
                <a:latin typeface="+mn-ea"/>
              </a:rPr>
              <a:t>이전공고입찰내역품목상세</a:t>
            </a:r>
            <a:endParaRPr lang="ko-KR" altLang="en-US" sz="800" dirty="0">
              <a:solidFill>
                <a:schemeClr val="tx1"/>
              </a:solidFill>
            </a:endParaRPr>
          </a:p>
        </p:txBody>
      </p:sp>
    </p:spTree>
    <p:extLst>
      <p:ext uri="{BB962C8B-B14F-4D97-AF65-F5344CB8AC3E}">
        <p14:creationId xmlns:p14="http://schemas.microsoft.com/office/powerpoint/2010/main" val="1235517144"/>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287</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7.3 </a:t>
            </a:r>
            <a:r>
              <a:rPr lang="ko-KR" altLang="en-US" dirty="0"/>
              <a:t>앱 구성 다이어그램</a:t>
            </a: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입찰공고</a:t>
            </a:r>
            <a:r>
              <a:rPr lang="en-US" altLang="ko-KR" sz="1100" dirty="0"/>
              <a:t>Controller&gt;&gt;</a:t>
            </a:r>
          </a:p>
          <a:p>
            <a:pPr algn="ctr"/>
            <a:r>
              <a:rPr lang="en-US" altLang="ko-KR" sz="1100" dirty="0" err="1"/>
              <a:t>BidPbancController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992582" y="2070244"/>
            <a:ext cx="967509" cy="9199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992582" y="2627770"/>
            <a:ext cx="967509" cy="36240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992582" y="2990174"/>
            <a:ext cx="967509" cy="19512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직사각형 5">
            <a:extLst>
              <a:ext uri="{FF2B5EF4-FFF2-40B4-BE49-F238E27FC236}">
                <a16:creationId xmlns:a16="http://schemas.microsoft.com/office/drawing/2014/main" id="{3FD7B626-4B5C-AE29-EFB9-628750B32B78}"/>
              </a:ext>
            </a:extLst>
          </p:cNvPr>
          <p:cNvSpPr/>
          <p:nvPr/>
        </p:nvSpPr>
        <p:spPr>
          <a:xfrm>
            <a:off x="1265382" y="1850693"/>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rPr>
              <a:t>입찰공고상세</a:t>
            </a:r>
            <a:endParaRPr lang="en-US" altLang="ko-KR" sz="1050" dirty="0">
              <a:solidFill>
                <a:schemeClr val="tx1"/>
              </a:solidFill>
            </a:endParaRPr>
          </a:p>
          <a:p>
            <a:pPr algn="ctr">
              <a:lnSpc>
                <a:spcPct val="120000"/>
              </a:lnSpc>
            </a:pPr>
            <a:r>
              <a:rPr lang="en-US" altLang="ko-KR" sz="1050" dirty="0">
                <a:solidFill>
                  <a:schemeClr val="tx1"/>
                </a:solidFill>
              </a:rPr>
              <a:t>AnlBfhdSpcfctDtlPage.tsx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265382" y="2408219"/>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rPr>
              <a:t>OvsBidPbancDtl.tsx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265382" y="2965745"/>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품목 목록</a:t>
            </a:r>
            <a:endParaRPr lang="en-US" altLang="ko-KR" sz="1050" dirty="0">
              <a:solidFill>
                <a:schemeClr val="tx1"/>
              </a:solidFill>
            </a:endParaRPr>
          </a:p>
          <a:p>
            <a:pPr algn="ctr">
              <a:lnSpc>
                <a:spcPct val="120000"/>
              </a:lnSpc>
            </a:pPr>
            <a:r>
              <a:rPr lang="en-US" altLang="ko-KR" sz="1050" dirty="0">
                <a:solidFill>
                  <a:schemeClr val="tx1"/>
                </a:solidFill>
              </a:rPr>
              <a:t>OvsBidPbancDtl.tsx</a:t>
            </a:r>
            <a:r>
              <a:rPr lang="en-US" altLang="ko-KR" sz="1050" b="1" baseline="30000" dirty="0">
                <a:solidFill>
                  <a:schemeClr val="tx1"/>
                </a:solidFill>
                <a:latin typeface="+mn-ea"/>
              </a:rPr>
              <a:t>1)</a:t>
            </a:r>
            <a:endParaRPr lang="en-US" altLang="ko-KR" sz="1050" dirty="0">
              <a:solidFill>
                <a:schemeClr val="tx1"/>
              </a:solidFill>
            </a:endParaRPr>
          </a:p>
        </p:txBody>
      </p:sp>
      <p:sp>
        <p:nvSpPr>
          <p:cNvPr id="24" name="직사각형 23">
            <a:extLst>
              <a:ext uri="{FF2B5EF4-FFF2-40B4-BE49-F238E27FC236}">
                <a16:creationId xmlns:a16="http://schemas.microsoft.com/office/drawing/2014/main" id="{326CB017-8967-4DC4-0EAD-ADB3B9EAB841}"/>
              </a:ext>
            </a:extLst>
          </p:cNvPr>
          <p:cNvSpPr/>
          <p:nvPr/>
        </p:nvSpPr>
        <p:spPr>
          <a:xfrm>
            <a:off x="1265382" y="3523271"/>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첨부파일</a:t>
            </a:r>
            <a:endParaRPr lang="en-US" altLang="ko-KR" sz="1050" dirty="0">
              <a:solidFill>
                <a:schemeClr val="tx1"/>
              </a:solidFill>
            </a:endParaRPr>
          </a:p>
          <a:p>
            <a:pPr algn="ctr">
              <a:lnSpc>
                <a:spcPct val="120000"/>
              </a:lnSpc>
            </a:pPr>
            <a:r>
              <a:rPr lang="en-US" altLang="ko-KR" sz="1050" dirty="0">
                <a:solidFill>
                  <a:schemeClr val="tx1"/>
                </a:solidFill>
              </a:rPr>
              <a:t>OvsBidPbancDtl2.tsx</a:t>
            </a:r>
            <a:r>
              <a:rPr lang="en-US" altLang="ko-KR" sz="1050" b="1" baseline="30000" dirty="0">
                <a:solidFill>
                  <a:schemeClr val="tx1"/>
                </a:solidFill>
                <a:latin typeface="+mn-ea"/>
              </a:rPr>
              <a:t>1)</a:t>
            </a:r>
            <a:endParaRPr lang="en-US" altLang="ko-KR" sz="1050" dirty="0">
              <a:solidFill>
                <a:schemeClr val="tx1"/>
              </a:solidFill>
            </a:endParaRPr>
          </a:p>
        </p:txBody>
      </p:sp>
      <p:sp>
        <p:nvSpPr>
          <p:cNvPr id="27" name="직사각형 26">
            <a:extLst>
              <a:ext uri="{FF2B5EF4-FFF2-40B4-BE49-F238E27FC236}">
                <a16:creationId xmlns:a16="http://schemas.microsoft.com/office/drawing/2014/main" id="{326CB017-8967-4DC4-0EAD-ADB3B9EAB841}"/>
              </a:ext>
            </a:extLst>
          </p:cNvPr>
          <p:cNvSpPr/>
          <p:nvPr/>
        </p:nvSpPr>
        <p:spPr>
          <a:xfrm>
            <a:off x="1265382" y="4080797"/>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환율정보조회</a:t>
            </a:r>
            <a:endParaRPr lang="en-US" altLang="ko-KR" sz="1050" dirty="0">
              <a:solidFill>
                <a:schemeClr val="tx1"/>
              </a:solidFill>
            </a:endParaRPr>
          </a:p>
          <a:p>
            <a:pPr algn="ctr">
              <a:lnSpc>
                <a:spcPct val="120000"/>
              </a:lnSpc>
            </a:pPr>
            <a:r>
              <a:rPr lang="en-US" altLang="ko-KR" sz="1050" dirty="0">
                <a:solidFill>
                  <a:schemeClr val="tx1"/>
                </a:solidFill>
              </a:rPr>
              <a:t>OvsExchrtListPage.tsx</a:t>
            </a:r>
            <a:r>
              <a:rPr lang="en-US" altLang="ko-KR" sz="1050" b="1" baseline="30000" dirty="0">
                <a:solidFill>
                  <a:schemeClr val="tx1"/>
                </a:solidFill>
                <a:latin typeface="+mn-ea"/>
              </a:rPr>
              <a:t>1)</a:t>
            </a:r>
            <a:endParaRPr lang="en-US" altLang="ko-KR" sz="1050" dirty="0">
              <a:solidFill>
                <a:schemeClr val="tx1"/>
              </a:solidFill>
            </a:endParaRPr>
          </a:p>
        </p:txBody>
      </p:sp>
      <p:sp>
        <p:nvSpPr>
          <p:cNvPr id="28" name="직사각형 27">
            <a:extLst>
              <a:ext uri="{FF2B5EF4-FFF2-40B4-BE49-F238E27FC236}">
                <a16:creationId xmlns:a16="http://schemas.microsoft.com/office/drawing/2014/main" id="{326CB017-8967-4DC4-0EAD-ADB3B9EAB841}"/>
              </a:ext>
            </a:extLst>
          </p:cNvPr>
          <p:cNvSpPr/>
          <p:nvPr/>
        </p:nvSpPr>
        <p:spPr>
          <a:xfrm>
            <a:off x="1265382" y="4638323"/>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목표가공개품목조회</a:t>
            </a:r>
            <a:endParaRPr lang="en-US" altLang="ko-KR" sz="1050" dirty="0">
              <a:solidFill>
                <a:schemeClr val="tx1"/>
              </a:solidFill>
            </a:endParaRPr>
          </a:p>
          <a:p>
            <a:pPr algn="ctr">
              <a:lnSpc>
                <a:spcPct val="120000"/>
              </a:lnSpc>
            </a:pPr>
            <a:r>
              <a:rPr lang="en-US" altLang="ko-KR" sz="1050" dirty="0">
                <a:solidFill>
                  <a:schemeClr val="tx1"/>
                </a:solidFill>
              </a:rPr>
              <a:t>OvsGoalPrcRlsItemListPage.tsx</a:t>
            </a:r>
            <a:r>
              <a:rPr lang="en-US" altLang="ko-KR" sz="1050" b="1" baseline="30000" dirty="0">
                <a:solidFill>
                  <a:schemeClr val="tx1"/>
                </a:solidFill>
                <a:latin typeface="+mn-ea"/>
              </a:rPr>
              <a:t>1)</a:t>
            </a:r>
            <a:endParaRPr lang="en-US" altLang="ko-KR" sz="1050" dirty="0">
              <a:solidFill>
                <a:schemeClr val="tx1"/>
              </a:solidFill>
            </a:endParaRPr>
          </a:p>
        </p:txBody>
      </p:sp>
      <p:sp>
        <p:nvSpPr>
          <p:cNvPr id="29" name="직사각형 28">
            <a:extLst>
              <a:ext uri="{FF2B5EF4-FFF2-40B4-BE49-F238E27FC236}">
                <a16:creationId xmlns:a16="http://schemas.microsoft.com/office/drawing/2014/main" id="{326CB017-8967-4DC4-0EAD-ADB3B9EAB841}"/>
              </a:ext>
            </a:extLst>
          </p:cNvPr>
          <p:cNvSpPr/>
          <p:nvPr/>
        </p:nvSpPr>
        <p:spPr>
          <a:xfrm>
            <a:off x="1265382" y="5195851"/>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국외 보관함 목록</a:t>
            </a:r>
            <a:endParaRPr lang="en-US" altLang="ko-KR" sz="1050" dirty="0">
              <a:solidFill>
                <a:schemeClr val="tx1"/>
              </a:solidFill>
            </a:endParaRPr>
          </a:p>
          <a:p>
            <a:pPr algn="ctr">
              <a:lnSpc>
                <a:spcPct val="120000"/>
              </a:lnSpc>
            </a:pPr>
            <a:r>
              <a:rPr lang="en-US" altLang="ko-KR" sz="1050" dirty="0">
                <a:solidFill>
                  <a:schemeClr val="tx1"/>
                </a:solidFill>
              </a:rPr>
              <a:t>OvsLockerPbanListPage.tsx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0" name="직선 화살표 연결선 29">
            <a:extLst>
              <a:ext uri="{FF2B5EF4-FFF2-40B4-BE49-F238E27FC236}">
                <a16:creationId xmlns:a16="http://schemas.microsoft.com/office/drawing/2014/main" id="{418E1257-E5C2-5705-1378-45505004ABAF}"/>
              </a:ext>
            </a:extLst>
          </p:cNvPr>
          <p:cNvCxnSpPr>
            <a:cxnSpLocks/>
            <a:stCxn id="24" idx="3"/>
            <a:endCxn id="9" idx="1"/>
          </p:cNvCxnSpPr>
          <p:nvPr/>
        </p:nvCxnSpPr>
        <p:spPr>
          <a:xfrm flipV="1">
            <a:off x="2992582" y="2990174"/>
            <a:ext cx="967509" cy="75264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418E1257-E5C2-5705-1378-45505004ABAF}"/>
              </a:ext>
            </a:extLst>
          </p:cNvPr>
          <p:cNvCxnSpPr>
            <a:cxnSpLocks/>
            <a:stCxn id="27" idx="3"/>
            <a:endCxn id="9" idx="1"/>
          </p:cNvCxnSpPr>
          <p:nvPr/>
        </p:nvCxnSpPr>
        <p:spPr>
          <a:xfrm flipV="1">
            <a:off x="2992582" y="2990174"/>
            <a:ext cx="967509" cy="13101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418E1257-E5C2-5705-1378-45505004ABAF}"/>
              </a:ext>
            </a:extLst>
          </p:cNvPr>
          <p:cNvCxnSpPr>
            <a:cxnSpLocks/>
            <a:stCxn id="28" idx="3"/>
            <a:endCxn id="9" idx="1"/>
          </p:cNvCxnSpPr>
          <p:nvPr/>
        </p:nvCxnSpPr>
        <p:spPr>
          <a:xfrm flipV="1">
            <a:off x="2992582" y="2990174"/>
            <a:ext cx="967509" cy="186770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 name="직선 화살표 연결선 36">
            <a:extLst>
              <a:ext uri="{FF2B5EF4-FFF2-40B4-BE49-F238E27FC236}">
                <a16:creationId xmlns:a16="http://schemas.microsoft.com/office/drawing/2014/main" id="{418E1257-E5C2-5705-1378-45505004ABAF}"/>
              </a:ext>
            </a:extLst>
          </p:cNvPr>
          <p:cNvCxnSpPr>
            <a:cxnSpLocks/>
            <a:stCxn id="29" idx="3"/>
            <a:endCxn id="9" idx="1"/>
          </p:cNvCxnSpPr>
          <p:nvPr/>
        </p:nvCxnSpPr>
        <p:spPr>
          <a:xfrm flipV="1">
            <a:off x="2992582" y="2990174"/>
            <a:ext cx="967509" cy="242522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3" name="직사각형 32">
            <a:extLst>
              <a:ext uri="{FF2B5EF4-FFF2-40B4-BE49-F238E27FC236}">
                <a16:creationId xmlns:a16="http://schemas.microsoft.com/office/drawing/2014/main" id="{326CB017-8967-4DC4-0EAD-ADB3B9EAB841}"/>
              </a:ext>
            </a:extLst>
          </p:cNvPr>
          <p:cNvSpPr/>
          <p:nvPr/>
        </p:nvSpPr>
        <p:spPr>
          <a:xfrm>
            <a:off x="1265382" y="5749940"/>
            <a:ext cx="1727200"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국외 보관함 상세</a:t>
            </a:r>
            <a:endParaRPr lang="en-US" altLang="ko-KR" sz="1050" dirty="0">
              <a:solidFill>
                <a:schemeClr val="tx1"/>
              </a:solidFill>
            </a:endParaRPr>
          </a:p>
          <a:p>
            <a:pPr algn="ctr">
              <a:lnSpc>
                <a:spcPct val="120000"/>
              </a:lnSpc>
            </a:pPr>
            <a:r>
              <a:rPr lang="en-US" altLang="ko-KR" sz="1050" dirty="0">
                <a:solidFill>
                  <a:schemeClr val="tx1"/>
                </a:solidFill>
              </a:rPr>
              <a:t>OvsLockerPbanDtlPage.tsx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5" name="직선 화살표 연결선 34">
            <a:extLst>
              <a:ext uri="{FF2B5EF4-FFF2-40B4-BE49-F238E27FC236}">
                <a16:creationId xmlns:a16="http://schemas.microsoft.com/office/drawing/2014/main" id="{418E1257-E5C2-5705-1378-45505004ABAF}"/>
              </a:ext>
            </a:extLst>
          </p:cNvPr>
          <p:cNvCxnSpPr>
            <a:cxnSpLocks/>
            <a:stCxn id="33" idx="3"/>
            <a:endCxn id="9" idx="1"/>
          </p:cNvCxnSpPr>
          <p:nvPr/>
        </p:nvCxnSpPr>
        <p:spPr>
          <a:xfrm flipV="1">
            <a:off x="2992582" y="2990174"/>
            <a:ext cx="967509" cy="29793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9" name="직사각형 38">
            <a:extLst>
              <a:ext uri="{FF2B5EF4-FFF2-40B4-BE49-F238E27FC236}">
                <a16:creationId xmlns:a16="http://schemas.microsoft.com/office/drawing/2014/main" id="{326CB017-8967-4DC4-0EAD-ADB3B9EAB841}"/>
              </a:ext>
            </a:extLst>
          </p:cNvPr>
          <p:cNvSpPr/>
          <p:nvPr/>
        </p:nvSpPr>
        <p:spPr>
          <a:xfrm>
            <a:off x="3191164" y="5749940"/>
            <a:ext cx="1384466"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보관함 품목 관리</a:t>
            </a:r>
            <a:endParaRPr lang="en-US" altLang="ko-KR" sz="1050" dirty="0">
              <a:solidFill>
                <a:schemeClr val="tx1"/>
              </a:solidFill>
            </a:endParaRPr>
          </a:p>
          <a:p>
            <a:pPr algn="ctr">
              <a:lnSpc>
                <a:spcPct val="120000"/>
              </a:lnSpc>
            </a:pPr>
            <a:r>
              <a:rPr lang="en-US" altLang="ko-KR" sz="1050" dirty="0">
                <a:solidFill>
                  <a:schemeClr val="tx1"/>
                </a:solidFill>
              </a:rPr>
              <a:t>OvsLockerItemRegPage.tsx</a:t>
            </a:r>
            <a:r>
              <a:rPr lang="en-US" altLang="ko-KR" sz="1050" b="1" baseline="30000" dirty="0">
                <a:solidFill>
                  <a:schemeClr val="tx1"/>
                </a:solidFill>
                <a:latin typeface="+mn-ea"/>
              </a:rPr>
              <a:t>1)</a:t>
            </a:r>
            <a:endParaRPr lang="en-US" altLang="ko-KR" sz="1050" dirty="0">
              <a:solidFill>
                <a:schemeClr val="tx1"/>
              </a:solidFill>
            </a:endParaRPr>
          </a:p>
        </p:txBody>
      </p:sp>
      <p:sp>
        <p:nvSpPr>
          <p:cNvPr id="40" name="직사각형 39">
            <a:extLst>
              <a:ext uri="{FF2B5EF4-FFF2-40B4-BE49-F238E27FC236}">
                <a16:creationId xmlns:a16="http://schemas.microsoft.com/office/drawing/2014/main" id="{BE6CF8B0-B538-B16B-F0EB-F1F49287D1E5}"/>
              </a:ext>
            </a:extLst>
          </p:cNvPr>
          <p:cNvSpPr/>
          <p:nvPr/>
        </p:nvSpPr>
        <p:spPr>
          <a:xfrm>
            <a:off x="6913418" y="3476133"/>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1100" dirty="0"/>
              <a:t>&lt;&lt;Controller&gt;&gt;</a:t>
            </a:r>
          </a:p>
          <a:p>
            <a:pPr algn="ctr"/>
            <a:r>
              <a:rPr lang="ko-KR" altLang="en-US" sz="1100" dirty="0"/>
              <a:t>국외 보관함 </a:t>
            </a:r>
            <a:r>
              <a:rPr lang="en-US" altLang="ko-KR" sz="1100" dirty="0"/>
              <a:t>Controller</a:t>
            </a:r>
          </a:p>
        </p:txBody>
      </p:sp>
      <p:cxnSp>
        <p:nvCxnSpPr>
          <p:cNvPr id="41" name="직선 연결선 40">
            <a:extLst>
              <a:ext uri="{FF2B5EF4-FFF2-40B4-BE49-F238E27FC236}">
                <a16:creationId xmlns:a16="http://schemas.microsoft.com/office/drawing/2014/main" id="{A8B10782-0A07-A41D-DB15-978B72410A31}"/>
              </a:ext>
            </a:extLst>
          </p:cNvPr>
          <p:cNvCxnSpPr>
            <a:stCxn id="9" idx="3"/>
            <a:endCxn id="40" idx="1"/>
          </p:cNvCxnSpPr>
          <p:nvPr/>
        </p:nvCxnSpPr>
        <p:spPr>
          <a:xfrm>
            <a:off x="5687291" y="2990174"/>
            <a:ext cx="1226127" cy="728939"/>
          </a:xfrm>
          <a:prstGeom prst="line">
            <a:avLst/>
          </a:prstGeom>
        </p:spPr>
        <p:style>
          <a:lnRef idx="1">
            <a:schemeClr val="dk1"/>
          </a:lnRef>
          <a:fillRef idx="0">
            <a:schemeClr val="dk1"/>
          </a:fillRef>
          <a:effectRef idx="0">
            <a:schemeClr val="dk1"/>
          </a:effectRef>
          <a:fontRef idx="minor">
            <a:schemeClr val="tx1"/>
          </a:fontRef>
        </p:style>
      </p:cxnSp>
      <p:sp>
        <p:nvSpPr>
          <p:cNvPr id="32" name="직사각형 31">
            <a:extLst>
              <a:ext uri="{FF2B5EF4-FFF2-40B4-BE49-F238E27FC236}">
                <a16:creationId xmlns:a16="http://schemas.microsoft.com/office/drawing/2014/main" id="{326CB017-8967-4DC4-0EAD-ADB3B9EAB841}"/>
              </a:ext>
            </a:extLst>
          </p:cNvPr>
          <p:cNvSpPr/>
          <p:nvPr/>
        </p:nvSpPr>
        <p:spPr>
          <a:xfrm>
            <a:off x="4634345" y="5749940"/>
            <a:ext cx="1384466" cy="439102"/>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입찰내역</a:t>
            </a:r>
            <a:r>
              <a:rPr lang="ko-KR" altLang="en-US" sz="1050" dirty="0">
                <a:solidFill>
                  <a:schemeClr val="tx1"/>
                </a:solidFill>
                <a:latin typeface="+mn-ea"/>
              </a:rPr>
              <a:t> 작성</a:t>
            </a:r>
            <a:endParaRPr lang="en-US" altLang="ko-KR" sz="1050" dirty="0">
              <a:solidFill>
                <a:schemeClr val="tx1"/>
              </a:solidFill>
            </a:endParaRPr>
          </a:p>
          <a:p>
            <a:pPr algn="ctr">
              <a:lnSpc>
                <a:spcPct val="120000"/>
              </a:lnSpc>
            </a:pPr>
            <a:r>
              <a:rPr lang="en-US" altLang="ko-KR" sz="1050" dirty="0">
                <a:solidFill>
                  <a:schemeClr val="tx1"/>
                </a:solidFill>
              </a:rPr>
              <a:t>OvsTmprBidCnRegPage.tsx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42" name="직선 화살표 연결선 41">
            <a:extLst>
              <a:ext uri="{FF2B5EF4-FFF2-40B4-BE49-F238E27FC236}">
                <a16:creationId xmlns:a16="http://schemas.microsoft.com/office/drawing/2014/main" id="{418E1257-E5C2-5705-1378-45505004ABAF}"/>
              </a:ext>
            </a:extLst>
          </p:cNvPr>
          <p:cNvCxnSpPr>
            <a:cxnSpLocks/>
            <a:stCxn id="39" idx="0"/>
            <a:endCxn id="9" idx="2"/>
          </p:cNvCxnSpPr>
          <p:nvPr/>
        </p:nvCxnSpPr>
        <p:spPr>
          <a:xfrm flipV="1">
            <a:off x="3883397" y="3810190"/>
            <a:ext cx="940294" cy="193975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3" name="직선 화살표 연결선 42">
            <a:extLst>
              <a:ext uri="{FF2B5EF4-FFF2-40B4-BE49-F238E27FC236}">
                <a16:creationId xmlns:a16="http://schemas.microsoft.com/office/drawing/2014/main" id="{418E1257-E5C2-5705-1378-45505004ABAF}"/>
              </a:ext>
            </a:extLst>
          </p:cNvPr>
          <p:cNvCxnSpPr>
            <a:cxnSpLocks/>
            <a:stCxn id="32" idx="0"/>
            <a:endCxn id="9" idx="2"/>
          </p:cNvCxnSpPr>
          <p:nvPr/>
        </p:nvCxnSpPr>
        <p:spPr>
          <a:xfrm flipH="1" flipV="1">
            <a:off x="4823691" y="3810190"/>
            <a:ext cx="502887" cy="193975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657821477"/>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88900" indent="-88900">
              <a:buFont typeface="+mj-lt"/>
              <a:buAutoNum type="arabicPeriod"/>
            </a:pPr>
            <a:r>
              <a:rPr lang="ko-KR" altLang="en-US" dirty="0"/>
              <a:t>입찰공고 타이틀 표시</a:t>
            </a:r>
            <a:endParaRPr lang="en-US" altLang="ko-KR" dirty="0"/>
          </a:p>
          <a:p>
            <a:pPr marL="88900" indent="-88900">
              <a:buFont typeface="+mj-lt"/>
              <a:buAutoNum type="arabicPeriod"/>
            </a:pPr>
            <a:r>
              <a:rPr lang="ko-KR" altLang="en-US" dirty="0" err="1"/>
              <a:t>단계표시기</a:t>
            </a:r>
            <a:endParaRPr lang="en-US" altLang="ko-KR" dirty="0"/>
          </a:p>
          <a:p>
            <a:pPr marL="88900" indent="-88900">
              <a:buFont typeface="+mj-lt"/>
              <a:buAutoNum type="arabicPeriod"/>
            </a:pPr>
            <a:r>
              <a:rPr lang="ko-KR" altLang="en-US" dirty="0"/>
              <a:t>탭 메뉴</a:t>
            </a:r>
            <a:endParaRPr lang="en-US" altLang="ko-KR" dirty="0"/>
          </a:p>
          <a:p>
            <a:pPr marL="88900" indent="-88900">
              <a:buFont typeface="+mj-lt"/>
              <a:buAutoNum type="arabicPeriod"/>
            </a:pPr>
            <a:r>
              <a:rPr lang="ko-KR" altLang="en-US" dirty="0" err="1"/>
              <a:t>일반정보에</a:t>
            </a:r>
            <a:r>
              <a:rPr lang="ko-KR" altLang="en-US" dirty="0"/>
              <a:t> 포함된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288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 공고 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국외 입찰공고를 조회하는 화면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입찰공고 상세</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085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158410"/>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t>정상공고</a:t>
            </a:r>
            <a:r>
              <a:rPr lang="ko-KR" altLang="en-US" sz="700" dirty="0"/>
              <a:t> </a:t>
            </a:r>
            <a:r>
              <a:rPr lang="en-US" altLang="ko-KR" sz="700" dirty="0"/>
              <a:t>EFD0007-2</a:t>
            </a:r>
          </a:p>
          <a:p>
            <a:r>
              <a:rPr lang="en-US" altLang="ko-KR" sz="900" b="1" dirty="0"/>
              <a:t>500MD</a:t>
            </a:r>
            <a:r>
              <a:rPr lang="ko-KR" altLang="en-US" sz="900" b="1" dirty="0"/>
              <a:t>부품</a:t>
            </a:r>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493475"/>
            <a:ext cx="796693"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a:latin typeface="+mn-ea"/>
              </a:rPr>
              <a:t>입찰참가신청 </a:t>
            </a:r>
            <a:r>
              <a:rPr lang="ko-KR" altLang="en-US" sz="600" dirty="0" err="1">
                <a:latin typeface="+mn-ea"/>
              </a:rPr>
              <a:t>마감일시</a:t>
            </a:r>
            <a:endParaRPr lang="ko-KR" altLang="en-US" sz="600" dirty="0">
              <a:latin typeface="+mn-ea"/>
            </a:endParaRPr>
          </a:p>
          <a:p>
            <a:pPr>
              <a:lnSpc>
                <a:spcPct val="150000"/>
              </a:lnSpc>
            </a:pPr>
            <a:r>
              <a:rPr lang="ko-KR" altLang="en-US" sz="600" dirty="0" err="1">
                <a:latin typeface="+mn-ea"/>
              </a:rPr>
              <a:t>일참서제출</a:t>
            </a:r>
            <a:r>
              <a:rPr lang="ko-KR" altLang="en-US" sz="600" dirty="0">
                <a:latin typeface="+mn-ea"/>
              </a:rPr>
              <a:t> </a:t>
            </a:r>
            <a:r>
              <a:rPr lang="ko-KR" altLang="en-US" sz="600" dirty="0" err="1">
                <a:latin typeface="+mn-ea"/>
              </a:rPr>
              <a:t>마감일시</a:t>
            </a:r>
            <a:endParaRPr lang="en-US" altLang="ko-KR" sz="600" dirty="0">
              <a:latin typeface="+mn-ea"/>
            </a:endParaRPr>
          </a:p>
          <a:p>
            <a:pPr>
              <a:lnSpc>
                <a:spcPct val="150000"/>
              </a:lnSpc>
            </a:pPr>
            <a:r>
              <a:rPr lang="ko-KR" altLang="en-US" sz="600" dirty="0" err="1">
                <a:latin typeface="+mn-ea"/>
              </a:rPr>
              <a:t>개찰일시</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303" y="2478086"/>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en-US" altLang="ko-KR" sz="600" dirty="0">
                <a:latin typeface="+mn-ea"/>
              </a:rPr>
              <a:t>2025-11-22</a:t>
            </a:r>
          </a:p>
          <a:p>
            <a:pPr>
              <a:lnSpc>
                <a:spcPct val="150000"/>
              </a:lnSpc>
            </a:pPr>
            <a:r>
              <a:rPr lang="en-US" altLang="ko-KR" sz="600" dirty="0">
                <a:latin typeface="+mn-ea"/>
              </a:rPr>
              <a:t>2025-12-23 17:00</a:t>
            </a:r>
          </a:p>
          <a:p>
            <a:pPr>
              <a:lnSpc>
                <a:spcPct val="150000"/>
              </a:lnSpc>
            </a:pPr>
            <a:r>
              <a:rPr lang="en-US" altLang="ko-KR" sz="600" dirty="0">
                <a:latin typeface="+mn-ea"/>
              </a:rPr>
              <a:t>2025-12-24 10:00</a:t>
            </a:r>
          </a:p>
          <a:p>
            <a:pPr>
              <a:lnSpc>
                <a:spcPct val="150000"/>
              </a:lnSpc>
            </a:pPr>
            <a:r>
              <a:rPr lang="en-US" altLang="ko-KR" sz="600" dirty="0">
                <a:latin typeface="+mn-ea"/>
              </a:rPr>
              <a:t>2025-12-24 10:30</a:t>
            </a:r>
            <a:endParaRPr lang="ko-KR" altLang="en-US" sz="600" dirty="0">
              <a:latin typeface="+mn-ea"/>
            </a:endParaRPr>
          </a:p>
        </p:txBody>
      </p:sp>
      <p:sp>
        <p:nvSpPr>
          <p:cNvPr id="67" name="모서리가 둥근 직사각형 66"/>
          <p:cNvSpPr/>
          <p:nvPr/>
        </p:nvSpPr>
        <p:spPr>
          <a:xfrm>
            <a:off x="781461" y="1974079"/>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68" name="모서리가 둥근 직사각형 67"/>
          <p:cNvSpPr/>
          <p:nvPr/>
        </p:nvSpPr>
        <p:spPr>
          <a:xfrm>
            <a:off x="1075655" y="197407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9" name="직선 연결선 78">
            <a:extLst>
              <a:ext uri="{FF2B5EF4-FFF2-40B4-BE49-F238E27FC236}">
                <a16:creationId xmlns:a16="http://schemas.microsoft.com/office/drawing/2014/main" id="{E9293055-D5CD-4B9E-7F64-64B2D2CA7A52}"/>
              </a:ext>
            </a:extLst>
          </p:cNvPr>
          <p:cNvCxnSpPr/>
          <p:nvPr/>
        </p:nvCxnSpPr>
        <p:spPr>
          <a:xfrm>
            <a:off x="675399" y="351256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85380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8" name="TextBox 127">
            <a:extLst>
              <a:ext uri="{FF2B5EF4-FFF2-40B4-BE49-F238E27FC236}">
                <a16:creationId xmlns:a16="http://schemas.microsoft.com/office/drawing/2014/main" id="{FFC49AEA-2A8F-250C-A86A-A7751D9706C3}"/>
              </a:ext>
            </a:extLst>
          </p:cNvPr>
          <p:cNvSpPr txBox="1"/>
          <p:nvPr/>
        </p:nvSpPr>
        <p:spPr>
          <a:xfrm>
            <a:off x="1019814" y="3546317"/>
            <a:ext cx="452259" cy="215444"/>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129" name="타원 128"/>
          <p:cNvSpPr/>
          <p:nvPr/>
        </p:nvSpPr>
        <p:spPr>
          <a:xfrm>
            <a:off x="783686" y="3577662"/>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0" name="그룹 129"/>
          <p:cNvGrpSpPr/>
          <p:nvPr/>
        </p:nvGrpSpPr>
        <p:grpSpPr>
          <a:xfrm>
            <a:off x="3143548" y="3659648"/>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 name="포인트가 5개인 별 2"/>
          <p:cNvSpPr/>
          <p:nvPr/>
        </p:nvSpPr>
        <p:spPr>
          <a:xfrm>
            <a:off x="2682759" y="1949976"/>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420821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991608"/>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83459" y="3991608"/>
            <a:ext cx="447776" cy="107722"/>
          </a:xfrm>
          <a:prstGeom prst="rect">
            <a:avLst/>
          </a:prstGeom>
          <a:noFill/>
        </p:spPr>
        <p:txBody>
          <a:bodyPr wrap="square" lIns="0" tIns="0" rIns="0" bIns="0" rtlCol="0">
            <a:spAutoFit/>
          </a:bodyPr>
          <a:lstStyle/>
          <a:p>
            <a:pPr algn="ctr"/>
            <a:r>
              <a:rPr lang="ko-KR" altLang="en-US" sz="700" dirty="0">
                <a:latin typeface="+mn-ea"/>
              </a:rPr>
              <a:t>품목 목록</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1890743" y="3991608"/>
            <a:ext cx="414132" cy="107722"/>
          </a:xfrm>
          <a:prstGeom prst="rect">
            <a:avLst/>
          </a:prstGeom>
          <a:noFill/>
        </p:spPr>
        <p:txBody>
          <a:bodyPr wrap="square" lIns="0" tIns="0" rIns="0" bIns="0" rtlCol="0">
            <a:spAutoFit/>
          </a:bodyPr>
          <a:lstStyle/>
          <a:p>
            <a:pPr algn="ctr"/>
            <a:r>
              <a:rPr lang="ko-KR" altLang="en-US" sz="700" dirty="0">
                <a:latin typeface="+mn-ea"/>
              </a:rPr>
              <a:t>첨부서류</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4208215"/>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953485"/>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6" name="TextBox 105">
            <a:extLst>
              <a:ext uri="{FF2B5EF4-FFF2-40B4-BE49-F238E27FC236}">
                <a16:creationId xmlns:a16="http://schemas.microsoft.com/office/drawing/2014/main" id="{FFC49AEA-2A8F-250C-A86A-A7751D9706C3}"/>
              </a:ext>
            </a:extLst>
          </p:cNvPr>
          <p:cNvSpPr txBox="1"/>
          <p:nvPr/>
        </p:nvSpPr>
        <p:spPr>
          <a:xfrm>
            <a:off x="781461" y="431454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4427877"/>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4622031"/>
            <a:ext cx="792000" cy="16102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62203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622031"/>
            <a:ext cx="670770" cy="1508105"/>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공고일자</a:t>
            </a:r>
            <a:endParaRPr lang="en-US" altLang="ko-KR" sz="700" dirty="0">
              <a:latin typeface="+mn-ea"/>
            </a:endParaRPr>
          </a:p>
          <a:p>
            <a:pPr>
              <a:lnSpc>
                <a:spcPct val="200000"/>
              </a:lnSpc>
            </a:pPr>
            <a:r>
              <a:rPr lang="ko-KR" altLang="en-US" sz="700" dirty="0" err="1">
                <a:latin typeface="+mn-ea"/>
              </a:rPr>
              <a:t>게제기관</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총수량</a:t>
            </a:r>
            <a:endParaRPr lang="en-US" altLang="ko-KR" sz="700" dirty="0">
              <a:latin typeface="+mn-ea"/>
            </a:endParaRPr>
          </a:p>
          <a:p>
            <a:pPr>
              <a:lnSpc>
                <a:spcPct val="200000"/>
              </a:lnSpc>
            </a:pPr>
            <a:r>
              <a:rPr lang="ko-KR" altLang="en-US" sz="700" dirty="0" err="1">
                <a:latin typeface="+mn-ea"/>
              </a:rPr>
              <a:t>집행유형</a:t>
            </a:r>
            <a:endParaRPr lang="en-US" altLang="ko-KR" sz="700" dirty="0">
              <a:latin typeface="+mn-ea"/>
            </a:endParaRP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622031"/>
            <a:ext cx="1814470" cy="1508105"/>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2025-12-22</a:t>
            </a:r>
          </a:p>
          <a:p>
            <a:pPr>
              <a:lnSpc>
                <a:spcPct val="200000"/>
              </a:lnSpc>
            </a:pPr>
            <a:r>
              <a:rPr lang="ko-KR" altLang="en-US" sz="700" dirty="0">
                <a:latin typeface="+mn-ea"/>
              </a:rPr>
              <a:t>인터넷</a:t>
            </a:r>
            <a:endParaRPr lang="en-US" altLang="ko-KR" sz="700" dirty="0">
              <a:latin typeface="+mn-ea"/>
            </a:endParaRPr>
          </a:p>
          <a:p>
            <a:pPr>
              <a:lnSpc>
                <a:spcPct val="200000"/>
              </a:lnSpc>
            </a:pPr>
            <a:r>
              <a:rPr lang="ko-KR" altLang="en-US" sz="700" dirty="0" err="1">
                <a:latin typeface="+mn-ea"/>
              </a:rPr>
              <a:t>특수작전용대물타격무인향</a:t>
            </a:r>
            <a:endParaRPr lang="en-US" altLang="ko-KR" sz="700" dirty="0">
              <a:latin typeface="+mn-ea"/>
            </a:endParaRPr>
          </a:p>
          <a:p>
            <a:pPr>
              <a:lnSpc>
                <a:spcPct val="200000"/>
              </a:lnSpc>
            </a:pPr>
            <a:r>
              <a:rPr lang="en-US" altLang="ko-KR" sz="700" dirty="0">
                <a:latin typeface="+mn-ea"/>
              </a:rPr>
              <a:t>2025LDG56349</a:t>
            </a:r>
          </a:p>
          <a:p>
            <a:pPr>
              <a:lnSpc>
                <a:spcPct val="200000"/>
              </a:lnSpc>
            </a:pPr>
            <a:r>
              <a:rPr lang="en-US" altLang="ko-KR" sz="700" dirty="0">
                <a:latin typeface="+mn-ea"/>
              </a:rPr>
              <a:t>1 AY</a:t>
            </a:r>
          </a:p>
          <a:p>
            <a:pPr>
              <a:lnSpc>
                <a:spcPct val="200000"/>
              </a:lnSpc>
            </a:pPr>
            <a:r>
              <a:rPr lang="ko-KR" altLang="en-US" sz="700" dirty="0">
                <a:latin typeface="+mn-ea"/>
              </a:rPr>
              <a:t>제조</a:t>
            </a:r>
            <a:endParaRPr lang="en-US" altLang="ko-KR" sz="700" dirty="0">
              <a:latin typeface="+mn-ea"/>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85313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50668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52805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54942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707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921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6135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1" name="타원 270">
            <a:extLst>
              <a:ext uri="{FF2B5EF4-FFF2-40B4-BE49-F238E27FC236}">
                <a16:creationId xmlns:a16="http://schemas.microsoft.com/office/drawing/2014/main" id="{37A7FF4F-0EAA-1463-560A-D5EC24416103}"/>
              </a:ext>
            </a:extLst>
          </p:cNvPr>
          <p:cNvSpPr/>
          <p:nvPr/>
        </p:nvSpPr>
        <p:spPr>
          <a:xfrm>
            <a:off x="571127" y="323376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77" name="타원 27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4802272"/>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299917"/>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cxnSp>
        <p:nvCxnSpPr>
          <p:cNvPr id="295" name="직선 연결선 294">
            <a:extLst>
              <a:ext uri="{FF2B5EF4-FFF2-40B4-BE49-F238E27FC236}">
                <a16:creationId xmlns:a16="http://schemas.microsoft.com/office/drawing/2014/main" id="{E9293055-D5CD-4B9E-7F64-64B2D2CA7A52}"/>
              </a:ext>
            </a:extLst>
          </p:cNvPr>
          <p:cNvCxnSpPr/>
          <p:nvPr/>
        </p:nvCxnSpPr>
        <p:spPr>
          <a:xfrm>
            <a:off x="675399" y="315488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98" name="그룹 297"/>
          <p:cNvGrpSpPr/>
          <p:nvPr/>
        </p:nvGrpSpPr>
        <p:grpSpPr>
          <a:xfrm rot="16200000">
            <a:off x="1250697" y="3307709"/>
            <a:ext cx="94010" cy="47005"/>
            <a:chOff x="6812560" y="3297172"/>
            <a:chExt cx="94010" cy="47005"/>
          </a:xfrm>
        </p:grpSpPr>
        <p:cxnSp>
          <p:nvCxnSpPr>
            <p:cNvPr id="299" name="직선 연결선 2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49" name="그룹 48"/>
          <p:cNvGrpSpPr/>
          <p:nvPr/>
        </p:nvGrpSpPr>
        <p:grpSpPr>
          <a:xfrm>
            <a:off x="1404035" y="3237230"/>
            <a:ext cx="601002" cy="187961"/>
            <a:chOff x="1335163" y="3237230"/>
            <a:chExt cx="601002" cy="187961"/>
          </a:xfrm>
        </p:grpSpPr>
        <p:sp>
          <p:nvSpPr>
            <p:cNvPr id="303" name="TextBox 302">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입찰</a:t>
              </a:r>
            </a:p>
          </p:txBody>
        </p:sp>
        <p:grpSp>
          <p:nvGrpSpPr>
            <p:cNvPr id="30" name="그룹 29"/>
            <p:cNvGrpSpPr/>
            <p:nvPr/>
          </p:nvGrpSpPr>
          <p:grpSpPr>
            <a:xfrm>
              <a:off x="1335163" y="3237230"/>
              <a:ext cx="187961" cy="187961"/>
              <a:chOff x="1485163" y="3237230"/>
              <a:chExt cx="187961" cy="187961"/>
            </a:xfrm>
          </p:grpSpPr>
          <p:sp>
            <p:nvSpPr>
              <p:cNvPr id="304" name="타원 303"/>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5" name="TextBox 304">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310" name="그룹 309"/>
          <p:cNvGrpSpPr/>
          <p:nvPr/>
        </p:nvGrpSpPr>
        <p:grpSpPr>
          <a:xfrm rot="16200000">
            <a:off x="1906808" y="3307709"/>
            <a:ext cx="94010" cy="47005"/>
            <a:chOff x="6812560" y="3297172"/>
            <a:chExt cx="94010" cy="47005"/>
          </a:xfrm>
        </p:grpSpPr>
        <p:cxnSp>
          <p:nvCxnSpPr>
            <p:cNvPr id="311" name="직선 연결선 31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2" name="직선 연결선 31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13" name="그룹 312"/>
          <p:cNvGrpSpPr/>
          <p:nvPr/>
        </p:nvGrpSpPr>
        <p:grpSpPr>
          <a:xfrm rot="16200000">
            <a:off x="2562920" y="3307709"/>
            <a:ext cx="94010" cy="47005"/>
            <a:chOff x="6812560" y="3297172"/>
            <a:chExt cx="94010" cy="47005"/>
          </a:xfrm>
        </p:grpSpPr>
        <p:cxnSp>
          <p:nvCxnSpPr>
            <p:cNvPr id="314" name="직선 연결선 3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15" name="직선 연결선 3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4" name="그룹 13"/>
          <p:cNvGrpSpPr/>
          <p:nvPr/>
        </p:nvGrpSpPr>
        <p:grpSpPr>
          <a:xfrm>
            <a:off x="747925" y="3237230"/>
            <a:ext cx="601001" cy="187961"/>
            <a:chOff x="747925" y="3237230"/>
            <a:chExt cx="601001" cy="187961"/>
          </a:xfrm>
        </p:grpSpPr>
        <p:grpSp>
          <p:nvGrpSpPr>
            <p:cNvPr id="5" name="그룹 4"/>
            <p:cNvGrpSpPr/>
            <p:nvPr/>
          </p:nvGrpSpPr>
          <p:grpSpPr>
            <a:xfrm>
              <a:off x="747925" y="3237230"/>
              <a:ext cx="187961" cy="187961"/>
              <a:chOff x="747925" y="3237230"/>
              <a:chExt cx="187961" cy="187961"/>
            </a:xfrm>
          </p:grpSpPr>
          <p:sp>
            <p:nvSpPr>
              <p:cNvPr id="297" name="타원 296"/>
              <p:cNvSpPr/>
              <p:nvPr/>
            </p:nvSpPr>
            <p:spPr>
              <a:xfrm>
                <a:off x="747925" y="3237230"/>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2" name="TextBox 301">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316" name="TextBox 315">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조달</a:t>
              </a:r>
            </a:p>
          </p:txBody>
        </p:sp>
      </p:grpSp>
      <p:grpSp>
        <p:nvGrpSpPr>
          <p:cNvPr id="21" name="그룹 20"/>
          <p:cNvGrpSpPr/>
          <p:nvPr/>
        </p:nvGrpSpPr>
        <p:grpSpPr>
          <a:xfrm>
            <a:off x="2058749" y="3237230"/>
            <a:ext cx="603798" cy="187961"/>
            <a:chOff x="2058749" y="3237230"/>
            <a:chExt cx="603798" cy="187961"/>
          </a:xfrm>
        </p:grpSpPr>
        <p:grpSp>
          <p:nvGrpSpPr>
            <p:cNvPr id="15" name="그룹 14"/>
            <p:cNvGrpSpPr/>
            <p:nvPr/>
          </p:nvGrpSpPr>
          <p:grpSpPr>
            <a:xfrm>
              <a:off x="2058749" y="3237230"/>
              <a:ext cx="187961" cy="187961"/>
              <a:chOff x="2058749" y="3237230"/>
              <a:chExt cx="187961" cy="187961"/>
            </a:xfrm>
          </p:grpSpPr>
          <p:sp>
            <p:nvSpPr>
              <p:cNvPr id="306" name="타원 305"/>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7" name="TextBox 306">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317" name="TextBox 316">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계약</a:t>
              </a:r>
            </a:p>
          </p:txBody>
        </p:sp>
      </p:grpSp>
      <p:sp>
        <p:nvSpPr>
          <p:cNvPr id="181" name="타원 180">
            <a:extLst>
              <a:ext uri="{FF2B5EF4-FFF2-40B4-BE49-F238E27FC236}">
                <a16:creationId xmlns:a16="http://schemas.microsoft.com/office/drawing/2014/main" id="{37A7FF4F-0EAA-1463-560A-D5EC24416103}"/>
              </a:ext>
            </a:extLst>
          </p:cNvPr>
          <p:cNvSpPr/>
          <p:nvPr/>
        </p:nvSpPr>
        <p:spPr>
          <a:xfrm>
            <a:off x="571127" y="395940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r>
              <a:rPr lang="ko-KR" altLang="en-US" sz="700" dirty="0" err="1">
                <a:solidFill>
                  <a:prstClr val="black"/>
                </a:solidFill>
              </a:rPr>
              <a:t>정상공고</a:t>
            </a:r>
            <a:r>
              <a:rPr lang="ko-KR" altLang="en-US" sz="700" dirty="0">
                <a:solidFill>
                  <a:prstClr val="black"/>
                </a:solidFill>
              </a:rPr>
              <a:t> </a:t>
            </a:r>
            <a:r>
              <a:rPr lang="en-US" altLang="ko-KR" sz="700" dirty="0">
                <a:solidFill>
                  <a:prstClr val="black"/>
                </a:solidFill>
              </a:rPr>
              <a:t>EFD0007-2</a:t>
            </a:r>
          </a:p>
          <a:p>
            <a:pPr lvl="0"/>
            <a:r>
              <a:rPr lang="en-US" altLang="ko-KR" sz="900" b="1" dirty="0">
                <a:solidFill>
                  <a:prstClr val="black"/>
                </a:solidFill>
              </a:rPr>
              <a:t>500MD</a:t>
            </a:r>
            <a:r>
              <a:rPr lang="ko-KR" altLang="en-US" sz="900" b="1" dirty="0">
                <a:solidFill>
                  <a:prstClr val="black"/>
                </a:solidFill>
              </a:rPr>
              <a:t>부품</a:t>
            </a:r>
          </a:p>
        </p:txBody>
      </p:sp>
      <p:sp>
        <p:nvSpPr>
          <p:cNvPr id="184" name="모서리가 둥근 직사각형 183"/>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185" name="모서리가 둥근 직사각형 184"/>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7" name="포인트가 5개인 별 186"/>
          <p:cNvSpPr/>
          <p:nvPr/>
        </p:nvSpPr>
        <p:spPr>
          <a:xfrm>
            <a:off x="5786291" y="1578238"/>
            <a:ext cx="159391" cy="159391"/>
          </a:xfrm>
          <a:prstGeom prst="star5">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4022" y="2467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3867701" y="2250612"/>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386991" y="2250612"/>
            <a:ext cx="447776" cy="107722"/>
          </a:xfrm>
          <a:prstGeom prst="rect">
            <a:avLst/>
          </a:prstGeom>
          <a:noFill/>
        </p:spPr>
        <p:txBody>
          <a:bodyPr wrap="square" lIns="0" tIns="0" rIns="0" bIns="0" rtlCol="0">
            <a:spAutoFit/>
          </a:bodyPr>
          <a:lstStyle/>
          <a:p>
            <a:pPr algn="ctr"/>
            <a:r>
              <a:rPr lang="ko-KR" altLang="en-US" sz="700" dirty="0">
                <a:latin typeface="+mn-ea"/>
              </a:rPr>
              <a:t>품목 목록</a:t>
            </a:r>
          </a:p>
        </p:txBody>
      </p:sp>
      <p:sp>
        <p:nvSpPr>
          <p:cNvPr id="197" name="TextBox 196">
            <a:extLst>
              <a:ext uri="{FF2B5EF4-FFF2-40B4-BE49-F238E27FC236}">
                <a16:creationId xmlns:a16="http://schemas.microsoft.com/office/drawing/2014/main" id="{FFC49AEA-2A8F-250C-A86A-A7751D9706C3}"/>
              </a:ext>
            </a:extLst>
          </p:cNvPr>
          <p:cNvSpPr txBox="1"/>
          <p:nvPr/>
        </p:nvSpPr>
        <p:spPr>
          <a:xfrm>
            <a:off x="4994275" y="2250612"/>
            <a:ext cx="414132" cy="107722"/>
          </a:xfrm>
          <a:prstGeom prst="rect">
            <a:avLst/>
          </a:prstGeom>
          <a:noFill/>
        </p:spPr>
        <p:txBody>
          <a:bodyPr wrap="square" lIns="0" tIns="0" rIns="0" bIns="0" rtlCol="0">
            <a:spAutoFit/>
          </a:bodyPr>
          <a:lstStyle/>
          <a:p>
            <a:pPr algn="ctr"/>
            <a:r>
              <a:rPr lang="ko-KR" altLang="en-US" sz="700" dirty="0">
                <a:latin typeface="+mn-ea"/>
              </a:rPr>
              <a:t>첨부서류</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24022" y="2467219"/>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1" name="그룹 230"/>
          <p:cNvGrpSpPr/>
          <p:nvPr/>
        </p:nvGrpSpPr>
        <p:grpSpPr>
          <a:xfrm>
            <a:off x="6027618" y="2212489"/>
            <a:ext cx="422853" cy="187961"/>
            <a:chOff x="3641308" y="2234886"/>
            <a:chExt cx="422853" cy="187961"/>
          </a:xfrm>
        </p:grpSpPr>
        <p:sp>
          <p:nvSpPr>
            <p:cNvPr id="232" name="타원 23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5400000" flipH="1">
              <a:off x="3679895" y="2305364"/>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4" name="타원 23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6" name="그룹 245"/>
            <p:cNvGrpSpPr/>
            <p:nvPr/>
          </p:nvGrpSpPr>
          <p:grpSpPr>
            <a:xfrm rot="16200000">
              <a:off x="3931564" y="2305364"/>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51" name="TextBox 250">
            <a:extLst>
              <a:ext uri="{FF2B5EF4-FFF2-40B4-BE49-F238E27FC236}">
                <a16:creationId xmlns:a16="http://schemas.microsoft.com/office/drawing/2014/main" id="{FFC49AEA-2A8F-250C-A86A-A7751D9706C3}"/>
              </a:ext>
            </a:extLst>
          </p:cNvPr>
          <p:cNvSpPr txBox="1"/>
          <p:nvPr/>
        </p:nvSpPr>
        <p:spPr>
          <a:xfrm>
            <a:off x="3884993" y="2573550"/>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252" name="그룹 251"/>
          <p:cNvGrpSpPr/>
          <p:nvPr/>
        </p:nvGrpSpPr>
        <p:grpSpPr>
          <a:xfrm flipV="1">
            <a:off x="6247080" y="2686881"/>
            <a:ext cx="94010" cy="47005"/>
            <a:chOff x="6812560" y="3297172"/>
            <a:chExt cx="94010" cy="47005"/>
          </a:xfrm>
        </p:grpSpPr>
        <p:cxnSp>
          <p:nvCxnSpPr>
            <p:cNvPr id="253" name="직선 연결선 2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1" name="직선 연결선 2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2" name="직사각형 261"/>
          <p:cNvSpPr/>
          <p:nvPr/>
        </p:nvSpPr>
        <p:spPr>
          <a:xfrm>
            <a:off x="3826115" y="2881035"/>
            <a:ext cx="792000" cy="10925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63" name="직선 연결선 262">
            <a:extLst>
              <a:ext uri="{FF2B5EF4-FFF2-40B4-BE49-F238E27FC236}">
                <a16:creationId xmlns:a16="http://schemas.microsoft.com/office/drawing/2014/main" id="{E9293055-D5CD-4B9E-7F64-64B2D2CA7A52}"/>
              </a:ext>
            </a:extLst>
          </p:cNvPr>
          <p:cNvCxnSpPr/>
          <p:nvPr/>
        </p:nvCxnSpPr>
        <p:spPr>
          <a:xfrm>
            <a:off x="3824022" y="288103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4" name="TextBox 263">
            <a:extLst>
              <a:ext uri="{FF2B5EF4-FFF2-40B4-BE49-F238E27FC236}">
                <a16:creationId xmlns:a16="http://schemas.microsoft.com/office/drawing/2014/main" id="{FFC49AEA-2A8F-250C-A86A-A7751D9706C3}"/>
              </a:ext>
            </a:extLst>
          </p:cNvPr>
          <p:cNvSpPr txBox="1"/>
          <p:nvPr/>
        </p:nvSpPr>
        <p:spPr>
          <a:xfrm>
            <a:off x="3913179" y="2881035"/>
            <a:ext cx="670770" cy="107721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공고일자</a:t>
            </a:r>
            <a:endParaRPr lang="en-US" altLang="ko-KR" sz="700" dirty="0">
              <a:latin typeface="+mn-ea"/>
            </a:endParaRPr>
          </a:p>
          <a:p>
            <a:pPr>
              <a:lnSpc>
                <a:spcPct val="200000"/>
              </a:lnSpc>
            </a:pPr>
            <a:r>
              <a:rPr lang="ko-KR" altLang="en-US" sz="700" dirty="0" err="1">
                <a:latin typeface="+mn-ea"/>
              </a:rPr>
              <a:t>게제기관</a:t>
            </a:r>
            <a:endParaRPr lang="en-US" altLang="ko-KR" sz="700" dirty="0">
              <a:latin typeface="+mn-ea"/>
            </a:endParaRPr>
          </a:p>
          <a:p>
            <a:pPr>
              <a:lnSpc>
                <a:spcPct val="200000"/>
              </a:lnSpc>
            </a:pPr>
            <a:r>
              <a:rPr lang="ko-KR" altLang="en-US" sz="700" dirty="0" err="1">
                <a:latin typeface="+mn-ea"/>
              </a:rPr>
              <a:t>공고명</a:t>
            </a:r>
            <a:endParaRPr lang="en-US" altLang="ko-KR" sz="700" dirty="0">
              <a:latin typeface="+mn-ea"/>
            </a:endParaRPr>
          </a:p>
          <a:p>
            <a:pPr>
              <a:lnSpc>
                <a:spcPct val="200000"/>
              </a:lnSpc>
            </a:pPr>
            <a:r>
              <a:rPr lang="en-US" altLang="ko-KR" sz="700" dirty="0">
                <a:latin typeface="+mn-ea"/>
              </a:rPr>
              <a:t>⁞</a:t>
            </a:r>
          </a:p>
        </p:txBody>
      </p:sp>
      <p:sp>
        <p:nvSpPr>
          <p:cNvPr id="265" name="TextBox 264">
            <a:extLst>
              <a:ext uri="{FF2B5EF4-FFF2-40B4-BE49-F238E27FC236}">
                <a16:creationId xmlns:a16="http://schemas.microsoft.com/office/drawing/2014/main" id="{FFC49AEA-2A8F-250C-A86A-A7751D9706C3}"/>
              </a:ext>
            </a:extLst>
          </p:cNvPr>
          <p:cNvSpPr txBox="1"/>
          <p:nvPr/>
        </p:nvSpPr>
        <p:spPr>
          <a:xfrm>
            <a:off x="4670027" y="2881035"/>
            <a:ext cx="1814470" cy="1077218"/>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2025-12-22</a:t>
            </a:r>
          </a:p>
          <a:p>
            <a:pPr>
              <a:lnSpc>
                <a:spcPct val="200000"/>
              </a:lnSpc>
            </a:pPr>
            <a:r>
              <a:rPr lang="ko-KR" altLang="en-US" sz="700" dirty="0">
                <a:latin typeface="+mn-ea"/>
              </a:rPr>
              <a:t>인터넷</a:t>
            </a:r>
            <a:endParaRPr lang="en-US" altLang="ko-KR" sz="700" dirty="0">
              <a:latin typeface="+mn-ea"/>
            </a:endParaRPr>
          </a:p>
          <a:p>
            <a:pPr>
              <a:lnSpc>
                <a:spcPct val="200000"/>
              </a:lnSpc>
            </a:pPr>
            <a:r>
              <a:rPr lang="ko-KR" altLang="en-US" sz="700" dirty="0" err="1">
                <a:latin typeface="+mn-ea"/>
              </a:rPr>
              <a:t>특수작전용대물타격무인향</a:t>
            </a:r>
            <a:endParaRPr lang="en-US" altLang="ko-KR" sz="700" dirty="0">
              <a:latin typeface="+mn-ea"/>
            </a:endParaRPr>
          </a:p>
          <a:p>
            <a:pPr>
              <a:lnSpc>
                <a:spcPct val="200000"/>
              </a:lnSpc>
            </a:pPr>
            <a:r>
              <a:rPr lang="en-US" altLang="ko-KR" sz="700" dirty="0">
                <a:latin typeface="+mn-ea"/>
              </a:rPr>
              <a:t>⁞</a:t>
            </a:r>
          </a:p>
        </p:txBody>
      </p:sp>
      <p:cxnSp>
        <p:nvCxnSpPr>
          <p:cNvPr id="266" name="직선 연결선 265">
            <a:extLst>
              <a:ext uri="{FF2B5EF4-FFF2-40B4-BE49-F238E27FC236}">
                <a16:creationId xmlns:a16="http://schemas.microsoft.com/office/drawing/2014/main" id="{E9293055-D5CD-4B9E-7F64-64B2D2CA7A52}"/>
              </a:ext>
            </a:extLst>
          </p:cNvPr>
          <p:cNvCxnSpPr/>
          <p:nvPr/>
        </p:nvCxnSpPr>
        <p:spPr>
          <a:xfrm>
            <a:off x="3826115" y="311214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8" name="직선 연결선 267">
            <a:extLst>
              <a:ext uri="{FF2B5EF4-FFF2-40B4-BE49-F238E27FC236}">
                <a16:creationId xmlns:a16="http://schemas.microsoft.com/office/drawing/2014/main" id="{E9293055-D5CD-4B9E-7F64-64B2D2CA7A52}"/>
              </a:ext>
            </a:extLst>
          </p:cNvPr>
          <p:cNvCxnSpPr/>
          <p:nvPr/>
        </p:nvCxnSpPr>
        <p:spPr>
          <a:xfrm>
            <a:off x="3826115" y="332584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69" name="직선 연결선 268">
            <a:extLst>
              <a:ext uri="{FF2B5EF4-FFF2-40B4-BE49-F238E27FC236}">
                <a16:creationId xmlns:a16="http://schemas.microsoft.com/office/drawing/2014/main" id="{E9293055-D5CD-4B9E-7F64-64B2D2CA7A52}"/>
              </a:ext>
            </a:extLst>
          </p:cNvPr>
          <p:cNvCxnSpPr/>
          <p:nvPr/>
        </p:nvCxnSpPr>
        <p:spPr>
          <a:xfrm>
            <a:off x="3826115" y="353955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8" name="직선 연결선 277">
            <a:extLst>
              <a:ext uri="{FF2B5EF4-FFF2-40B4-BE49-F238E27FC236}">
                <a16:creationId xmlns:a16="http://schemas.microsoft.com/office/drawing/2014/main" id="{E9293055-D5CD-4B9E-7F64-64B2D2CA7A52}"/>
              </a:ext>
            </a:extLst>
          </p:cNvPr>
          <p:cNvCxnSpPr/>
          <p:nvPr/>
        </p:nvCxnSpPr>
        <p:spPr>
          <a:xfrm>
            <a:off x="3826115" y="37532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81" name="직선 연결선 280">
            <a:extLst>
              <a:ext uri="{FF2B5EF4-FFF2-40B4-BE49-F238E27FC236}">
                <a16:creationId xmlns:a16="http://schemas.microsoft.com/office/drawing/2014/main" id="{E9293055-D5CD-4B9E-7F64-64B2D2CA7A52}"/>
              </a:ext>
            </a:extLst>
          </p:cNvPr>
          <p:cNvCxnSpPr/>
          <p:nvPr/>
        </p:nvCxnSpPr>
        <p:spPr>
          <a:xfrm>
            <a:off x="3826115" y="39669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2" name="모서리가 둥근 직사각형 281"/>
          <p:cNvSpPr/>
          <p:nvPr/>
        </p:nvSpPr>
        <p:spPr>
          <a:xfrm rot="5400000">
            <a:off x="6098765" y="3126805"/>
            <a:ext cx="720000"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319" name="직선 연결선 318">
            <a:extLst>
              <a:ext uri="{FF2B5EF4-FFF2-40B4-BE49-F238E27FC236}">
                <a16:creationId xmlns:a16="http://schemas.microsoft.com/office/drawing/2014/main" id="{E9293055-D5CD-4B9E-7F64-64B2D2CA7A52}"/>
              </a:ext>
            </a:extLst>
          </p:cNvPr>
          <p:cNvCxnSpPr/>
          <p:nvPr/>
        </p:nvCxnSpPr>
        <p:spPr>
          <a:xfrm>
            <a:off x="3795734" y="409903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32" name="타원 331">
            <a:extLst>
              <a:ext uri="{FF2B5EF4-FFF2-40B4-BE49-F238E27FC236}">
                <a16:creationId xmlns:a16="http://schemas.microsoft.com/office/drawing/2014/main" id="{37A7FF4F-0EAA-1463-560A-D5EC24416103}"/>
              </a:ext>
            </a:extLst>
          </p:cNvPr>
          <p:cNvSpPr/>
          <p:nvPr/>
        </p:nvSpPr>
        <p:spPr>
          <a:xfrm>
            <a:off x="3717693" y="260718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66" name="그룹 165"/>
          <p:cNvGrpSpPr/>
          <p:nvPr/>
        </p:nvGrpSpPr>
        <p:grpSpPr>
          <a:xfrm>
            <a:off x="2714860" y="3237230"/>
            <a:ext cx="603798" cy="187961"/>
            <a:chOff x="2714860" y="3237230"/>
            <a:chExt cx="603798" cy="187961"/>
          </a:xfrm>
        </p:grpSpPr>
        <p:grpSp>
          <p:nvGrpSpPr>
            <p:cNvPr id="167" name="그룹 166"/>
            <p:cNvGrpSpPr/>
            <p:nvPr/>
          </p:nvGrpSpPr>
          <p:grpSpPr>
            <a:xfrm>
              <a:off x="2714860" y="3237230"/>
              <a:ext cx="187961" cy="187961"/>
              <a:chOff x="2714860" y="3237230"/>
              <a:chExt cx="187961" cy="187961"/>
            </a:xfrm>
          </p:grpSpPr>
          <p:sp>
            <p:nvSpPr>
              <p:cNvPr id="169" name="타원 168"/>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68" name="TextBox 167">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이행</a:t>
              </a:r>
            </a:p>
          </p:txBody>
        </p:sp>
      </p:grpSp>
      <p:grpSp>
        <p:nvGrpSpPr>
          <p:cNvPr id="171" name="그룹 170"/>
          <p:cNvGrpSpPr/>
          <p:nvPr/>
        </p:nvGrpSpPr>
        <p:grpSpPr>
          <a:xfrm rot="5400000">
            <a:off x="3158978" y="3232595"/>
            <a:ext cx="187961" cy="187961"/>
            <a:chOff x="3876200" y="2234886"/>
            <a:chExt cx="187961" cy="187961"/>
          </a:xfrm>
        </p:grpSpPr>
        <p:sp>
          <p:nvSpPr>
            <p:cNvPr id="172" name="타원 17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3" name="그룹 172"/>
            <p:cNvGrpSpPr/>
            <p:nvPr/>
          </p:nvGrpSpPr>
          <p:grpSpPr>
            <a:xfrm rot="16200000">
              <a:off x="3931564" y="2305364"/>
              <a:ext cx="94010" cy="47005"/>
              <a:chOff x="6812560" y="3297172"/>
              <a:chExt cx="94010" cy="47005"/>
            </a:xfrm>
          </p:grpSpPr>
          <p:cxnSp>
            <p:nvCxnSpPr>
              <p:cNvPr id="174" name="직선 연결선 17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5" name="직선 연결선 17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76" name="모서리가 둥근 직사각형 175"/>
          <p:cNvSpPr/>
          <p:nvPr/>
        </p:nvSpPr>
        <p:spPr>
          <a:xfrm>
            <a:off x="1514584" y="1974079"/>
            <a:ext cx="332503"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단가제</a:t>
            </a:r>
            <a:endParaRPr lang="ko-KR" altLang="en-US" sz="600" dirty="0"/>
          </a:p>
        </p:txBody>
      </p:sp>
      <p:sp>
        <p:nvSpPr>
          <p:cNvPr id="177" name="모서리가 둥근 직사각형 176"/>
          <p:cNvSpPr/>
          <p:nvPr/>
        </p:nvSpPr>
        <p:spPr>
          <a:xfrm>
            <a:off x="4618116" y="1602341"/>
            <a:ext cx="332503"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단가제</a:t>
            </a:r>
            <a:endParaRPr lang="ko-KR" altLang="en-US" sz="600" dirty="0"/>
          </a:p>
        </p:txBody>
      </p:sp>
    </p:spTree>
    <p:extLst>
      <p:ext uri="{BB962C8B-B14F-4D97-AF65-F5344CB8AC3E}">
        <p14:creationId xmlns:p14="http://schemas.microsoft.com/office/powerpoint/2010/main" val="369750798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공고일반</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289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 공고 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국외 입찰공고를 조회하는 화면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3754583"/>
            <a:chOff x="701175" y="1527996"/>
            <a:chExt cx="2630093" cy="3754583"/>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2"/>
              <a:ext cx="792000" cy="34358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00692" cy="344709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err="1">
                  <a:latin typeface="+mn-ea"/>
                </a:rPr>
                <a:t>입찰유형</a:t>
              </a:r>
              <a:endParaRPr lang="ko-KR" altLang="en-US" sz="700" dirty="0">
                <a:latin typeface="+mn-ea"/>
              </a:endParaRPr>
            </a:p>
            <a:p>
              <a:pPr>
                <a:lnSpc>
                  <a:spcPct val="200000"/>
                </a:lnSpc>
              </a:pPr>
              <a:r>
                <a:rPr lang="ko-KR" altLang="en-US" sz="700" dirty="0" err="1">
                  <a:latin typeface="+mn-ea"/>
                </a:rPr>
                <a:t>입찰매체</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a:latin typeface="+mn-ea"/>
                </a:rPr>
                <a:t>입찰방식</a:t>
              </a:r>
            </a:p>
            <a:p>
              <a:pPr>
                <a:lnSpc>
                  <a:spcPct val="200000"/>
                </a:lnSpc>
              </a:pPr>
              <a:r>
                <a:rPr lang="ko-KR" altLang="en-US" sz="700" dirty="0" err="1">
                  <a:latin typeface="+mn-ea"/>
                </a:rPr>
                <a:t>총금액</a:t>
              </a:r>
              <a:endParaRPr lang="ko-KR" altLang="en-US" sz="700" dirty="0">
                <a:latin typeface="+mn-ea"/>
              </a:endParaRPr>
            </a:p>
            <a:p>
              <a:pPr>
                <a:lnSpc>
                  <a:spcPct val="200000"/>
                </a:lnSpc>
              </a:pPr>
              <a:r>
                <a:rPr lang="ko-KR" altLang="en-US" sz="700" dirty="0">
                  <a:latin typeface="+mn-ea"/>
                </a:rPr>
                <a:t>환율적용일자</a:t>
              </a:r>
            </a:p>
            <a:p>
              <a:pPr>
                <a:lnSpc>
                  <a:spcPct val="200000"/>
                </a:lnSpc>
              </a:pPr>
              <a:r>
                <a:rPr lang="ko-KR" altLang="en-US" sz="700" dirty="0" err="1">
                  <a:latin typeface="+mn-ea"/>
                </a:rPr>
                <a:t>공고품목수</a:t>
              </a:r>
              <a:endParaRPr lang="ko-KR" altLang="en-US" sz="700" dirty="0">
                <a:latin typeface="+mn-ea"/>
              </a:endParaRPr>
            </a:p>
            <a:p>
              <a:pPr>
                <a:lnSpc>
                  <a:spcPct val="200000"/>
                </a:lnSpc>
              </a:pPr>
              <a:endParaRPr lang="ko-KR" altLang="en-US" sz="700" dirty="0">
                <a:latin typeface="+mn-ea"/>
              </a:endParaRPr>
            </a:p>
            <a:p>
              <a:pPr>
                <a:lnSpc>
                  <a:spcPct val="200000"/>
                </a:lnSpc>
              </a:pPr>
              <a:endParaRPr lang="ko-KR" altLang="en-US" sz="700" dirty="0">
                <a:latin typeface="+mn-ea"/>
              </a:endParaRPr>
            </a:p>
            <a:p>
              <a:pPr>
                <a:lnSpc>
                  <a:spcPct val="200000"/>
                </a:lnSpc>
              </a:pPr>
              <a:r>
                <a:rPr lang="ko-KR" altLang="en-US" sz="700" dirty="0" err="1">
                  <a:latin typeface="+mn-ea"/>
                </a:rPr>
                <a:t>개찰일시</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3447098"/>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ko-KR" altLang="en-US"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단가제</a:t>
              </a:r>
              <a:endParaRPr lang="ko-KR" altLang="en-US" sz="700" dirty="0">
                <a:latin typeface="+mn-ea"/>
              </a:endParaRPr>
            </a:p>
            <a:p>
              <a:pPr>
                <a:lnSpc>
                  <a:spcPct val="200000"/>
                </a:lnSpc>
              </a:pPr>
              <a:r>
                <a:rPr lang="ko-KR" altLang="en-US" sz="700" dirty="0">
                  <a:latin typeface="+mn-ea"/>
                </a:rPr>
                <a:t>전자입찰</a:t>
              </a:r>
            </a:p>
            <a:p>
              <a:pPr>
                <a:lnSpc>
                  <a:spcPct val="200000"/>
                </a:lnSpc>
              </a:pPr>
              <a:r>
                <a:rPr lang="ko-KR" altLang="en-US" sz="700" dirty="0">
                  <a:latin typeface="+mn-ea"/>
                </a:rPr>
                <a:t>일반경쟁</a:t>
              </a:r>
            </a:p>
            <a:p>
              <a:pPr>
                <a:lnSpc>
                  <a:spcPct val="200000"/>
                </a:lnSpc>
              </a:pPr>
              <a:r>
                <a:rPr lang="ko-KR" altLang="en-US" sz="700" dirty="0" err="1">
                  <a:latin typeface="+mn-ea"/>
                </a:rPr>
                <a:t>일반투찰</a:t>
              </a:r>
              <a:endParaRPr lang="ko-KR" altLang="en-US"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2025-02-13</a:t>
              </a:r>
            </a:p>
            <a:p>
              <a:pPr>
                <a:lnSpc>
                  <a:spcPct val="200000"/>
                </a:lnSpc>
              </a:pPr>
              <a:r>
                <a:rPr lang="en-US" altLang="ko-KR" sz="700" dirty="0">
                  <a:latin typeface="+mn-ea"/>
                </a:rPr>
                <a:t>100</a:t>
              </a:r>
            </a:p>
            <a:p>
              <a:pPr>
                <a:lnSpc>
                  <a:spcPct val="200000"/>
                </a:lnSpc>
              </a:pPr>
              <a:r>
                <a:rPr lang="en-US" altLang="ko-KR" sz="700" dirty="0">
                  <a:latin typeface="+mn-ea"/>
                </a:rPr>
                <a:t>2025-03-02 15:00:00</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p:txBody>
        </p:sp>
        <p:grpSp>
          <p:nvGrpSpPr>
            <p:cNvPr id="17" name="그룹 16"/>
            <p:cNvGrpSpPr/>
            <p:nvPr/>
          </p:nvGrpSpPr>
          <p:grpSpPr>
            <a:xfrm>
              <a:off x="701175" y="1835481"/>
              <a:ext cx="2630093" cy="3435840"/>
              <a:chOff x="701175" y="1835481"/>
              <a:chExt cx="2630093" cy="34358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82" name="TextBox 81">
              <a:extLst>
                <a:ext uri="{FF2B5EF4-FFF2-40B4-BE49-F238E27FC236}">
                  <a16:creationId xmlns:a16="http://schemas.microsoft.com/office/drawing/2014/main" id="{FFC49AEA-2A8F-250C-A86A-A7751D9706C3}"/>
                </a:ext>
              </a:extLst>
            </p:cNvPr>
            <p:cNvSpPr txBox="1"/>
            <p:nvPr/>
          </p:nvSpPr>
          <p:spPr>
            <a:xfrm>
              <a:off x="790330" y="4629327"/>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83" name="TextBox 82">
              <a:extLst>
                <a:ext uri="{FF2B5EF4-FFF2-40B4-BE49-F238E27FC236}">
                  <a16:creationId xmlns:a16="http://schemas.microsoft.com/office/drawing/2014/main" id="{FFC49AEA-2A8F-250C-A86A-A7751D9706C3}"/>
                </a:ext>
              </a:extLst>
            </p:cNvPr>
            <p:cNvSpPr txBox="1"/>
            <p:nvPr/>
          </p:nvSpPr>
          <p:spPr>
            <a:xfrm>
              <a:off x="790330" y="4846415"/>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3" name="그룹 2"/>
          <p:cNvGrpSpPr/>
          <p:nvPr/>
        </p:nvGrpSpPr>
        <p:grpSpPr>
          <a:xfrm>
            <a:off x="3795735" y="1527996"/>
            <a:ext cx="2712026" cy="899454"/>
            <a:chOff x="3795735" y="4615832"/>
            <a:chExt cx="2712026" cy="899454"/>
          </a:xfrm>
        </p:grpSpPr>
        <p:sp>
          <p:nvSpPr>
            <p:cNvPr id="68" name="TextBox 67">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69" name="그룹 68"/>
            <p:cNvGrpSpPr/>
            <p:nvPr/>
          </p:nvGrpSpPr>
          <p:grpSpPr>
            <a:xfrm flipV="1">
              <a:off x="6240167" y="4729163"/>
              <a:ext cx="94010" cy="47005"/>
              <a:chOff x="6812560" y="3297172"/>
              <a:chExt cx="94010" cy="47005"/>
            </a:xfrm>
          </p:grpSpPr>
          <p:cxnSp>
            <p:nvCxnSpPr>
              <p:cNvPr id="70" name="직선 연결선 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1" name="직선 연결선 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2" name="TextBox 71">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73" name="TextBox 72">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74" name="TextBox 73">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76" name="직선 연결선 75">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모서리가 둥근 직사각형 76"/>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TextBox 77">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79" name="TextBox 78">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grpSp>
    </p:spTree>
    <p:extLst>
      <p:ext uri="{BB962C8B-B14F-4D97-AF65-F5344CB8AC3E}">
        <p14:creationId xmlns:p14="http://schemas.microsoft.com/office/powerpoint/2010/main" val="1163739810"/>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품목목록</a:t>
            </a:r>
            <a:r>
              <a:rPr lang="ko-KR" altLang="en-US" dirty="0"/>
              <a:t> 데이터 영역</a:t>
            </a:r>
            <a:endParaRPr lang="en-US" altLang="ko-KR" dirty="0"/>
          </a:p>
          <a:p>
            <a:pPr>
              <a:buFont typeface="+mj-lt"/>
              <a:buAutoNum type="arabicPeriod"/>
            </a:pPr>
            <a:r>
              <a:rPr lang="ko-KR" altLang="en-US" dirty="0" err="1"/>
              <a:t>첨부문서</a:t>
            </a:r>
            <a:r>
              <a:rPr lang="ko-KR" altLang="en-US" dirty="0"/>
              <a:t> 클릭 이벤트</a:t>
            </a:r>
            <a:endParaRPr lang="en-US" altLang="ko-KR" dirty="0"/>
          </a:p>
          <a:p>
            <a:pPr>
              <a:buFont typeface="+mj-lt"/>
              <a:buAutoNum type="arabicPeriod"/>
            </a:pPr>
            <a:r>
              <a:rPr lang="ko-KR" altLang="en-US" dirty="0" err="1"/>
              <a:t>재고번호</a:t>
            </a:r>
            <a:r>
              <a:rPr lang="ko-KR" altLang="en-US" dirty="0"/>
              <a:t> 클릭 이벤트</a:t>
            </a:r>
            <a:endParaRPr lang="en-US" altLang="ko-KR" dirty="0"/>
          </a:p>
          <a:p>
            <a:pPr>
              <a:buFont typeface="+mj-lt"/>
              <a:buAutoNum type="arabicPeriod"/>
            </a:pPr>
            <a:r>
              <a:rPr lang="ko-KR" altLang="en-US" dirty="0"/>
              <a:t>보관함 여부 추가</a:t>
            </a:r>
            <a:r>
              <a:rPr lang="en-US" altLang="ko-KR" dirty="0"/>
              <a:t>, </a:t>
            </a:r>
            <a:r>
              <a:rPr lang="ko-KR" altLang="en-US" dirty="0"/>
              <a:t>삭제 클릭 이벤트</a:t>
            </a:r>
            <a:endParaRPr lang="en-US" altLang="ko-KR" dirty="0"/>
          </a:p>
          <a:p>
            <a:pPr>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290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 공고 상세 </a:t>
            </a:r>
            <a:r>
              <a:rPr lang="en-US" altLang="ko-KR" dirty="0">
                <a:latin typeface="+mn-ea"/>
              </a:rPr>
              <a:t>– </a:t>
            </a:r>
            <a:r>
              <a:rPr lang="ko-KR" altLang="en-US" dirty="0">
                <a:latin typeface="+mn-ea"/>
              </a:rPr>
              <a:t>품목 목록</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국외 입찰공고를 조회하는 화면 </a:t>
            </a:r>
            <a:r>
              <a:rPr lang="en-US" altLang="ko-KR" dirty="0"/>
              <a:t>– </a:t>
            </a:r>
            <a:r>
              <a:rPr lang="ko-KR" altLang="en-US" dirty="0">
                <a:latin typeface="+mn-ea"/>
              </a:rPr>
              <a:t>품목 목록</a:t>
            </a:r>
            <a:r>
              <a:rPr lang="ko-KR" altLang="en-US" dirty="0"/>
              <a:t>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품목 목록</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4704303"/>
            <a:chOff x="701175" y="1527996"/>
            <a:chExt cx="2630093" cy="4704303"/>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43968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25552" cy="4308872"/>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품질등급</a:t>
              </a:r>
              <a:endParaRPr lang="ko-KR" altLang="en-US" sz="700" dirty="0">
                <a:latin typeface="+mn-ea"/>
              </a:endParaRPr>
            </a:p>
            <a:p>
              <a:pPr>
                <a:lnSpc>
                  <a:spcPct val="200000"/>
                </a:lnSpc>
              </a:pPr>
              <a:r>
                <a:rPr lang="ko-KR" altLang="en-US" sz="700" dirty="0" err="1">
                  <a:latin typeface="+mn-ea"/>
                </a:rPr>
                <a:t>첨부문서</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err="1">
                  <a:latin typeface="+mn-ea"/>
                </a:rPr>
                <a:t>규격번호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납기기준일자</a:t>
              </a:r>
            </a:p>
            <a:p>
              <a:pPr>
                <a:lnSpc>
                  <a:spcPct val="200000"/>
                </a:lnSpc>
              </a:pPr>
              <a:r>
                <a:rPr lang="ko-KR" altLang="en-US" sz="700" dirty="0">
                  <a:latin typeface="+mn-ea"/>
                </a:rPr>
                <a:t>단위</a:t>
              </a:r>
            </a:p>
            <a:p>
              <a:pPr>
                <a:lnSpc>
                  <a:spcPct val="200000"/>
                </a:lnSpc>
              </a:pPr>
              <a:r>
                <a:rPr lang="ko-KR" altLang="en-US" sz="700" dirty="0" err="1">
                  <a:latin typeface="+mn-ea"/>
                </a:rPr>
                <a:t>본조수량</a:t>
              </a:r>
              <a:endParaRPr lang="ko-KR" altLang="en-US" sz="700" dirty="0">
                <a:latin typeface="+mn-ea"/>
              </a:endParaRPr>
            </a:p>
            <a:p>
              <a:pPr>
                <a:lnSpc>
                  <a:spcPct val="200000"/>
                </a:lnSpc>
              </a:pPr>
              <a:r>
                <a:rPr lang="ko-KR" altLang="en-US" sz="700" dirty="0" err="1">
                  <a:latin typeface="+mn-ea"/>
                </a:rPr>
                <a:t>당국수량</a:t>
              </a:r>
              <a:endParaRPr lang="ko-KR" altLang="en-US" sz="700" dirty="0">
                <a:latin typeface="+mn-ea"/>
              </a:endParaRPr>
            </a:p>
            <a:p>
              <a:pPr>
                <a:lnSpc>
                  <a:spcPct val="200000"/>
                </a:lnSpc>
              </a:pPr>
              <a:r>
                <a:rPr lang="ko-KR" altLang="en-US" sz="700" dirty="0" err="1">
                  <a:latin typeface="+mn-ea"/>
                </a:rPr>
                <a:t>장국수량</a:t>
              </a:r>
              <a:endParaRPr lang="ko-KR" altLang="en-US" sz="700" dirty="0">
                <a:latin typeface="+mn-ea"/>
              </a:endParaRPr>
            </a:p>
            <a:p>
              <a:pPr>
                <a:lnSpc>
                  <a:spcPct val="200000"/>
                </a:lnSpc>
              </a:pPr>
              <a:r>
                <a:rPr lang="ko-KR" altLang="en-US" sz="700" dirty="0" err="1">
                  <a:latin typeface="+mn-ea"/>
                </a:rPr>
                <a:t>본조예산</a:t>
              </a:r>
              <a:endParaRPr lang="ko-KR" altLang="en-US" sz="700" dirty="0">
                <a:latin typeface="+mn-ea"/>
              </a:endParaRPr>
            </a:p>
            <a:p>
              <a:pPr>
                <a:lnSpc>
                  <a:spcPct val="200000"/>
                </a:lnSpc>
              </a:pPr>
              <a:r>
                <a:rPr lang="ko-KR" altLang="en-US" sz="700" dirty="0" err="1">
                  <a:latin typeface="+mn-ea"/>
                </a:rPr>
                <a:t>당국예산</a:t>
              </a:r>
              <a:endParaRPr lang="ko-KR" altLang="en-US" sz="700" dirty="0">
                <a:latin typeface="+mn-ea"/>
              </a:endParaRPr>
            </a:p>
            <a:p>
              <a:pPr>
                <a:lnSpc>
                  <a:spcPct val="200000"/>
                </a:lnSpc>
              </a:pPr>
              <a:r>
                <a:rPr lang="ko-KR" altLang="en-US" sz="700" dirty="0" err="1">
                  <a:latin typeface="+mn-ea"/>
                </a:rPr>
                <a:t>장국예산</a:t>
              </a:r>
              <a:endParaRPr lang="ko-KR" altLang="en-US" sz="700" dirty="0">
                <a:latin typeface="+mn-ea"/>
              </a:endParaRPr>
            </a:p>
            <a:p>
              <a:pPr>
                <a:lnSpc>
                  <a:spcPct val="200000"/>
                </a:lnSpc>
              </a:pPr>
              <a:r>
                <a:rPr lang="ko-KR" altLang="en-US" sz="700" dirty="0" err="1">
                  <a:latin typeface="+mn-ea"/>
                </a:rPr>
                <a:t>수량합계</a:t>
              </a:r>
              <a:endParaRPr lang="ko-KR" altLang="en-US" sz="700" dirty="0">
                <a:latin typeface="+mn-ea"/>
              </a:endParaRPr>
            </a:p>
            <a:p>
              <a:pPr>
                <a:lnSpc>
                  <a:spcPct val="200000"/>
                </a:lnSpc>
              </a:pPr>
              <a:r>
                <a:rPr lang="ko-KR" altLang="en-US" sz="700" dirty="0">
                  <a:latin typeface="+mn-ea"/>
                </a:rPr>
                <a:t>화폐단위</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err="1">
                  <a:latin typeface="+mn-ea"/>
                </a:rPr>
                <a:t>지시금액</a:t>
              </a:r>
              <a:endParaRPr lang="ko-KR" altLang="en-US" sz="700" dirty="0">
                <a:latin typeface="+mn-ea"/>
              </a:endParaRPr>
            </a:p>
            <a:p>
              <a:pPr>
                <a:lnSpc>
                  <a:spcPct val="200000"/>
                </a:lnSpc>
              </a:pPr>
              <a:r>
                <a:rPr lang="ko-KR" altLang="en-US" sz="700" dirty="0" err="1">
                  <a:latin typeface="+mn-ea"/>
                </a:rPr>
                <a:t>장비부호</a:t>
              </a:r>
              <a:endParaRPr lang="ko-KR" altLang="en-US"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84088" cy="430887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p>
            <a:p>
              <a:pPr>
                <a:lnSpc>
                  <a:spcPct val="200000"/>
                </a:lnSpc>
              </a:pPr>
              <a:r>
                <a:rPr lang="en-US" altLang="ko-KR" sz="700" dirty="0">
                  <a:solidFill>
                    <a:srgbClr val="0070C0"/>
                  </a:solidFill>
                  <a:latin typeface="+mn-ea"/>
                </a:rPr>
                <a:t>O</a:t>
              </a:r>
              <a:endParaRPr lang="ko-KR" altLang="en-US" sz="700" dirty="0">
                <a:solidFill>
                  <a:srgbClr val="0070C0"/>
                </a:solidFill>
                <a:latin typeface="+mn-ea"/>
              </a:endParaRPr>
            </a:p>
            <a:p>
              <a:pPr>
                <a:lnSpc>
                  <a:spcPct val="200000"/>
                </a:lnSpc>
              </a:pPr>
              <a:r>
                <a:rPr lang="en-US" altLang="ko-KR" sz="700" dirty="0">
                  <a:solidFill>
                    <a:srgbClr val="0070C0"/>
                  </a:solidFill>
                  <a:latin typeface="+mn-ea"/>
                </a:rPr>
                <a:t>000-A0000 0000</a:t>
              </a:r>
            </a:p>
            <a:p>
              <a:pPr>
                <a:lnSpc>
                  <a:spcPct val="200000"/>
                </a:lnSpc>
              </a:pPr>
              <a:r>
                <a:rPr lang="en-US" altLang="ko-KR" sz="700" dirty="0">
                  <a:latin typeface="+mn-ea"/>
                </a:rPr>
                <a:t>369A2093-2</a:t>
              </a:r>
            </a:p>
            <a:p>
              <a:pPr>
                <a:lnSpc>
                  <a:spcPct val="200000"/>
                </a:lnSpc>
              </a:pPr>
              <a:r>
                <a:rPr lang="en-US" altLang="ko-KR" sz="700" dirty="0">
                  <a:latin typeface="+mn-ea"/>
                </a:rPr>
                <a:t>11112</a:t>
              </a:r>
            </a:p>
            <a:p>
              <a:pPr>
                <a:lnSpc>
                  <a:spcPct val="200000"/>
                </a:lnSpc>
              </a:pPr>
              <a:r>
                <a:rPr lang="ko-KR" altLang="en-US" sz="700" dirty="0">
                  <a:latin typeface="+mn-ea"/>
                </a:rPr>
                <a:t>품명 표시</a:t>
              </a:r>
              <a:endParaRPr lang="en-US" altLang="ko-KR" sz="700" dirty="0">
                <a:latin typeface="+mn-ea"/>
              </a:endParaRPr>
            </a:p>
            <a:p>
              <a:pPr>
                <a:lnSpc>
                  <a:spcPct val="200000"/>
                </a:lnSpc>
              </a:pPr>
              <a:r>
                <a:rPr lang="en-US" altLang="ko-KR" sz="700" dirty="0">
                  <a:latin typeface="+mn-ea"/>
                </a:rPr>
                <a:t>-2016-11-25</a:t>
              </a:r>
            </a:p>
            <a:p>
              <a:pPr>
                <a:lnSpc>
                  <a:spcPct val="200000"/>
                </a:lnSpc>
              </a:pPr>
              <a:r>
                <a:rPr lang="en-US" altLang="ko-KR" sz="700" dirty="0">
                  <a:latin typeface="+mn-ea"/>
                </a:rPr>
                <a:t>EA</a:t>
              </a:r>
            </a:p>
            <a:p>
              <a:pPr>
                <a:lnSpc>
                  <a:spcPct val="200000"/>
                </a:lnSpc>
              </a:pPr>
              <a:r>
                <a:rPr lang="en-US" altLang="ko-KR" sz="700" dirty="0">
                  <a:latin typeface="+mn-ea"/>
                </a:rPr>
                <a:t>1</a:t>
              </a:r>
            </a:p>
            <a:p>
              <a:pPr>
                <a:lnSpc>
                  <a:spcPct val="200000"/>
                </a:lnSpc>
              </a:pPr>
              <a:r>
                <a:rPr lang="en-US" altLang="ko-KR" sz="700" dirty="0">
                  <a:latin typeface="+mn-ea"/>
                </a:rPr>
                <a:t>1</a:t>
              </a:r>
            </a:p>
            <a:p>
              <a:pPr>
                <a:lnSpc>
                  <a:spcPct val="200000"/>
                </a:lnSpc>
              </a:pPr>
              <a:r>
                <a:rPr lang="en-US" altLang="ko-KR" sz="700" dirty="0">
                  <a:latin typeface="+mn-ea"/>
                </a:rPr>
                <a:t>1</a:t>
              </a:r>
            </a:p>
            <a:p>
              <a:pPr algn="r">
                <a:lnSpc>
                  <a:spcPct val="200000"/>
                </a:lnSpc>
              </a:pPr>
              <a:r>
                <a:rPr lang="en-US" altLang="ko-KR" sz="700" dirty="0">
                  <a:latin typeface="+mn-ea"/>
                </a:rPr>
                <a:t>608,000.00 USD</a:t>
              </a:r>
              <a:endParaRPr lang="ko-KR" altLang="en-US" sz="700" dirty="0">
                <a:latin typeface="+mn-ea"/>
              </a:endParaRPr>
            </a:p>
            <a:p>
              <a:pPr algn="r">
                <a:lnSpc>
                  <a:spcPct val="200000"/>
                </a:lnSpc>
              </a:pPr>
              <a:r>
                <a:rPr lang="en-US" altLang="ko-KR" sz="700" dirty="0">
                  <a:latin typeface="+mn-ea"/>
                </a:rPr>
                <a:t>608,000.00 USD</a:t>
              </a:r>
              <a:endParaRPr lang="ko-KR" altLang="en-US" sz="700" dirty="0">
                <a:latin typeface="+mn-ea"/>
              </a:endParaRPr>
            </a:p>
            <a:p>
              <a:pPr algn="r">
                <a:lnSpc>
                  <a:spcPct val="200000"/>
                </a:lnSpc>
              </a:pPr>
              <a:r>
                <a:rPr lang="en-US" altLang="ko-KR" sz="700" dirty="0">
                  <a:latin typeface="+mn-ea"/>
                </a:rPr>
                <a:t>608,000.00 USD</a:t>
              </a:r>
              <a:endParaRPr lang="ko-KR" altLang="en-US" sz="700" dirty="0">
                <a:latin typeface="+mn-ea"/>
              </a:endParaRPr>
            </a:p>
            <a:p>
              <a:pPr>
                <a:lnSpc>
                  <a:spcPct val="200000"/>
                </a:lnSpc>
              </a:pPr>
              <a:r>
                <a:rPr lang="en-US" altLang="ko-KR" sz="700" dirty="0">
                  <a:latin typeface="+mn-ea"/>
                </a:rPr>
                <a:t>3</a:t>
              </a:r>
            </a:p>
            <a:p>
              <a:pPr>
                <a:lnSpc>
                  <a:spcPct val="200000"/>
                </a:lnSpc>
              </a:pPr>
              <a:r>
                <a:rPr lang="ko-KR" altLang="en-US" sz="700" dirty="0">
                  <a:latin typeface="+mn-ea"/>
                </a:rPr>
                <a:t>미 달러</a:t>
              </a:r>
              <a:endParaRPr lang="en-US" altLang="ko-KR" sz="700" dirty="0">
                <a:latin typeface="+mn-ea"/>
              </a:endParaRPr>
            </a:p>
            <a:p>
              <a:pPr algn="r">
                <a:lnSpc>
                  <a:spcPct val="200000"/>
                </a:lnSpc>
              </a:pPr>
              <a:r>
                <a:rPr lang="en-US" altLang="ko-KR" sz="700" dirty="0">
                  <a:latin typeface="+mn-ea"/>
                </a:rPr>
                <a:t>608,000.00 USD</a:t>
              </a:r>
            </a:p>
            <a:p>
              <a:pPr algn="r">
                <a:lnSpc>
                  <a:spcPct val="200000"/>
                </a:lnSpc>
              </a:pPr>
              <a:r>
                <a:rPr lang="en-US" altLang="ko-KR" sz="700" dirty="0">
                  <a:latin typeface="+mn-ea"/>
                </a:rPr>
                <a:t>608,000.00 USD</a:t>
              </a:r>
            </a:p>
            <a:p>
              <a:pPr>
                <a:lnSpc>
                  <a:spcPct val="200000"/>
                </a:lnSpc>
              </a:pPr>
              <a:r>
                <a:rPr lang="en-US" altLang="ko-KR" sz="700" dirty="0">
                  <a:latin typeface="+mn-ea"/>
                </a:rPr>
                <a:t>11111</a:t>
              </a:r>
            </a:p>
          </p:txBody>
        </p:sp>
        <p:grpSp>
          <p:nvGrpSpPr>
            <p:cNvPr id="17" name="그룹 16"/>
            <p:cNvGrpSpPr/>
            <p:nvPr/>
          </p:nvGrpSpPr>
          <p:grpSpPr>
            <a:xfrm>
              <a:off x="701175" y="1835481"/>
              <a:ext cx="2630093" cy="4286740"/>
              <a:chOff x="701175" y="1835481"/>
              <a:chExt cx="2630093" cy="42867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5486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03268" y="56927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59074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6122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58" name="타원 257">
            <a:extLst>
              <a:ext uri="{FF2B5EF4-FFF2-40B4-BE49-F238E27FC236}">
                <a16:creationId xmlns:a16="http://schemas.microsoft.com/office/drawing/2014/main" id="{37A7FF4F-0EAA-1463-560A-D5EC24416103}"/>
              </a:ext>
            </a:extLst>
          </p:cNvPr>
          <p:cNvSpPr/>
          <p:nvPr/>
        </p:nvSpPr>
        <p:spPr>
          <a:xfrm>
            <a:off x="571127" y="227654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04" name="사각형: 둥근 모서리 15">
            <a:extLst>
              <a:ext uri="{FF2B5EF4-FFF2-40B4-BE49-F238E27FC236}">
                <a16:creationId xmlns:a16="http://schemas.microsoft.com/office/drawing/2014/main" id="{E2B61CFB-AD16-68D0-8752-50D9C5E01971}"/>
              </a:ext>
            </a:extLst>
          </p:cNvPr>
          <p:cNvSpPr/>
          <p:nvPr/>
        </p:nvSpPr>
        <p:spPr>
          <a:xfrm>
            <a:off x="2836921" y="2510126"/>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7" name="사각형: 둥근 모서리 31">
            <a:extLst>
              <a:ext uri="{FF2B5EF4-FFF2-40B4-BE49-F238E27FC236}">
                <a16:creationId xmlns:a16="http://schemas.microsoft.com/office/drawing/2014/main" id="{2AC143EE-93CF-3518-F0CB-8469E98507E0}"/>
              </a:ext>
            </a:extLst>
          </p:cNvPr>
          <p:cNvSpPr/>
          <p:nvPr/>
        </p:nvSpPr>
        <p:spPr>
          <a:xfrm>
            <a:off x="3928441"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109" name="그룹 108">
            <a:extLst>
              <a:ext uri="{FF2B5EF4-FFF2-40B4-BE49-F238E27FC236}">
                <a16:creationId xmlns:a16="http://schemas.microsoft.com/office/drawing/2014/main" id="{22BC05EE-C648-7CA2-4CCC-6E1C1A7E9BDA}"/>
              </a:ext>
            </a:extLst>
          </p:cNvPr>
          <p:cNvGrpSpPr/>
          <p:nvPr/>
        </p:nvGrpSpPr>
        <p:grpSpPr>
          <a:xfrm>
            <a:off x="5113316" y="3483247"/>
            <a:ext cx="76863" cy="292489"/>
            <a:chOff x="3750067" y="4683795"/>
            <a:chExt cx="76863" cy="292489"/>
          </a:xfrm>
        </p:grpSpPr>
        <p:sp>
          <p:nvSpPr>
            <p:cNvPr id="110" name="타원 10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1" name="타원 11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2" name="타원 11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13" name="사각형: 둥근 모서리 15">
            <a:extLst>
              <a:ext uri="{FF2B5EF4-FFF2-40B4-BE49-F238E27FC236}">
                <a16:creationId xmlns:a16="http://schemas.microsoft.com/office/drawing/2014/main" id="{E2B61CFB-AD16-68D0-8752-50D9C5E01971}"/>
              </a:ext>
            </a:extLst>
          </p:cNvPr>
          <p:cNvSpPr/>
          <p:nvPr/>
        </p:nvSpPr>
        <p:spPr>
          <a:xfrm>
            <a:off x="2836921" y="2299591"/>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8" name="TextBox 11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19" name="그룹 118"/>
          <p:cNvGrpSpPr/>
          <p:nvPr/>
        </p:nvGrpSpPr>
        <p:grpSpPr>
          <a:xfrm>
            <a:off x="3821510" y="1493927"/>
            <a:ext cx="2630093" cy="465721"/>
            <a:chOff x="701175" y="1800647"/>
            <a:chExt cx="2630093" cy="465721"/>
          </a:xfrm>
        </p:grpSpPr>
        <p:sp>
          <p:nvSpPr>
            <p:cNvPr id="122" name="직사각형 121"/>
            <p:cNvSpPr/>
            <p:nvPr/>
          </p:nvSpPr>
          <p:spPr>
            <a:xfrm>
              <a:off x="703268" y="1800647"/>
              <a:ext cx="792000" cy="46431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790331" y="1835481"/>
              <a:ext cx="725552" cy="396583"/>
            </a:xfrm>
            <a:prstGeom prst="rect">
              <a:avLst/>
            </a:prstGeom>
            <a:noFill/>
          </p:spPr>
          <p:txBody>
            <a:bodyPr wrap="square" lIns="0" tIns="0" rIns="0" bIns="0" rtlCol="0">
              <a:spAutoFit/>
            </a:bodyPr>
            <a:lstStyle/>
            <a:p>
              <a:pPr>
                <a:lnSpc>
                  <a:spcPct val="200000"/>
                </a:lnSpc>
              </a:pPr>
              <a:r>
                <a:rPr lang="ko-KR" altLang="en-US" sz="700" dirty="0" err="1">
                  <a:latin typeface="+mn-ea"/>
                </a:rPr>
                <a:t>장비명</a:t>
              </a:r>
              <a:endParaRPr lang="en-US" altLang="ko-KR" sz="700" dirty="0">
                <a:latin typeface="+mn-ea"/>
              </a:endParaRPr>
            </a:p>
            <a:p>
              <a:pPr>
                <a:lnSpc>
                  <a:spcPct val="200000"/>
                </a:lnSpc>
              </a:pPr>
              <a:r>
                <a:rPr lang="ko-KR" altLang="en-US" sz="700" dirty="0">
                  <a:latin typeface="+mn-ea"/>
                </a:rPr>
                <a:t>보관함 여부</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1547180" y="1835481"/>
              <a:ext cx="1775839" cy="430887"/>
            </a:xfrm>
            <a:prstGeom prst="rect">
              <a:avLst/>
            </a:prstGeom>
            <a:noFill/>
          </p:spPr>
          <p:txBody>
            <a:bodyPr wrap="square" lIns="0" tIns="0" rIns="0" bIns="0" rtlCol="0">
              <a:spAutoFit/>
            </a:bodyPr>
            <a:lstStyle/>
            <a:p>
              <a:pPr>
                <a:lnSpc>
                  <a:spcPct val="200000"/>
                </a:lnSpc>
              </a:pPr>
              <a:r>
                <a:rPr lang="ko-KR" altLang="en-US" sz="700" dirty="0">
                  <a:latin typeface="+mn-ea"/>
                </a:rPr>
                <a:t>장비 명칭 표시</a:t>
              </a:r>
              <a:endParaRPr lang="en-US" altLang="ko-KR" sz="700" dirty="0">
                <a:latin typeface="+mn-ea"/>
              </a:endParaRPr>
            </a:p>
            <a:p>
              <a:pPr>
                <a:lnSpc>
                  <a:spcPct val="200000"/>
                </a:lnSpc>
              </a:pPr>
              <a:r>
                <a:rPr lang="en-US" altLang="ko-KR" sz="700" dirty="0">
                  <a:latin typeface="+mn-ea"/>
                </a:rPr>
                <a:t>Y</a:t>
              </a:r>
            </a:p>
          </p:txBody>
        </p:sp>
        <p:grpSp>
          <p:nvGrpSpPr>
            <p:cNvPr id="125" name="그룹 124"/>
            <p:cNvGrpSpPr/>
            <p:nvPr/>
          </p:nvGrpSpPr>
          <p:grpSpPr>
            <a:xfrm>
              <a:off x="701175" y="1835481"/>
              <a:ext cx="2630093" cy="429480"/>
              <a:chOff x="701175" y="1835481"/>
              <a:chExt cx="2630093" cy="429480"/>
            </a:xfrm>
          </p:grpSpPr>
          <p:cxnSp>
            <p:nvCxnSpPr>
              <p:cNvPr id="126" name="직선 연결선 12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9" name="타원 238">
            <a:extLst>
              <a:ext uri="{FF2B5EF4-FFF2-40B4-BE49-F238E27FC236}">
                <a16:creationId xmlns:a16="http://schemas.microsoft.com/office/drawing/2014/main" id="{37A7FF4F-0EAA-1463-560A-D5EC24416103}"/>
              </a:ext>
            </a:extLst>
          </p:cNvPr>
          <p:cNvSpPr/>
          <p:nvPr/>
        </p:nvSpPr>
        <p:spPr>
          <a:xfrm>
            <a:off x="571127" y="249829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40" name="사각형: 둥근 모서리 15">
            <a:extLst>
              <a:ext uri="{FF2B5EF4-FFF2-40B4-BE49-F238E27FC236}">
                <a16:creationId xmlns:a16="http://schemas.microsoft.com/office/drawing/2014/main" id="{E2B61CFB-AD16-68D0-8752-50D9C5E01971}"/>
              </a:ext>
            </a:extLst>
          </p:cNvPr>
          <p:cNvSpPr/>
          <p:nvPr/>
        </p:nvSpPr>
        <p:spPr>
          <a:xfrm>
            <a:off x="5948994" y="1772621"/>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rPr>
              <a:t>보관함 삭제</a:t>
            </a:r>
            <a:endParaRPr kumimoji="1" lang="en-US" sz="700" b="0" i="0" u="none" strike="noStrike" kern="0" cap="none" spc="0" normalizeH="0" baseline="0" noProof="0" dirty="0">
              <a:ln>
                <a:noFill/>
              </a:ln>
              <a:effectLst/>
              <a:uLnTx/>
              <a:uFillTx/>
              <a:latin typeface="맑은 고딕"/>
            </a:endParaRPr>
          </a:p>
        </p:txBody>
      </p:sp>
      <p:sp>
        <p:nvSpPr>
          <p:cNvPr id="241" name="타원 240">
            <a:extLst>
              <a:ext uri="{FF2B5EF4-FFF2-40B4-BE49-F238E27FC236}">
                <a16:creationId xmlns:a16="http://schemas.microsoft.com/office/drawing/2014/main" id="{37A7FF4F-0EAA-1463-560A-D5EC24416103}"/>
              </a:ext>
            </a:extLst>
          </p:cNvPr>
          <p:cNvSpPr/>
          <p:nvPr/>
        </p:nvSpPr>
        <p:spPr>
          <a:xfrm>
            <a:off x="3689767" y="17624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Tree>
    <p:extLst>
      <p:ext uri="{BB962C8B-B14F-4D97-AF65-F5344CB8AC3E}">
        <p14:creationId xmlns:p14="http://schemas.microsoft.com/office/powerpoint/2010/main" val="40346129"/>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첨부서류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291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 공고 상세 </a:t>
            </a:r>
            <a:r>
              <a:rPr lang="en-US" altLang="ko-KR" dirty="0">
                <a:latin typeface="+mn-ea"/>
              </a:rPr>
              <a:t>- </a:t>
            </a:r>
            <a:r>
              <a:rPr lang="ko-KR" altLang="en-US" dirty="0">
                <a:latin typeface="+mn-ea"/>
              </a:rPr>
              <a:t>첨부파일</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국외 입찰공고를 조회하는 화면 </a:t>
            </a:r>
            <a:r>
              <a:rPr lang="en-US" altLang="ko-KR" dirty="0"/>
              <a:t>– </a:t>
            </a:r>
            <a:r>
              <a:rPr lang="ko-KR" altLang="en-US" dirty="0">
                <a:latin typeface="+mn-ea"/>
              </a:rPr>
              <a:t>첨부파일</a:t>
            </a:r>
            <a:r>
              <a:rPr lang="ko-KR" altLang="en-US" dirty="0"/>
              <a:t>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첨부파일</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MUI-BD-01-M73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5399" y="1532195"/>
            <a:ext cx="2712026" cy="1602288"/>
            <a:chOff x="3795735" y="2878425"/>
            <a:chExt cx="2712026" cy="1602288"/>
          </a:xfrm>
        </p:grpSpPr>
        <p:sp>
          <p:nvSpPr>
            <p:cNvPr id="54" name="TextBox 53">
              <a:extLst>
                <a:ext uri="{FF2B5EF4-FFF2-40B4-BE49-F238E27FC236}">
                  <a16:creationId xmlns:a16="http://schemas.microsoft.com/office/drawing/2014/main" id="{FFC49AEA-2A8F-250C-A86A-A7751D9706C3}"/>
                </a:ext>
              </a:extLst>
            </p:cNvPr>
            <p:cNvSpPr txBox="1"/>
            <p:nvPr/>
          </p:nvSpPr>
          <p:spPr>
            <a:xfrm>
              <a:off x="3878080" y="2878425"/>
              <a:ext cx="728875" cy="215444"/>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첨부서류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55" name="그룹 54"/>
            <p:cNvGrpSpPr/>
            <p:nvPr/>
          </p:nvGrpSpPr>
          <p:grpSpPr>
            <a:xfrm flipV="1">
              <a:off x="6240167" y="2991756"/>
              <a:ext cx="94010" cy="47005"/>
              <a:chOff x="6812560" y="3297172"/>
              <a:chExt cx="94010" cy="47005"/>
            </a:xfrm>
          </p:grpSpPr>
          <p:cxnSp>
            <p:nvCxnSpPr>
              <p:cNvPr id="56" name="직선 연결선 5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57" name="직선 연결선 5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8" name="모서리가 둥근 직사각형 57"/>
            <p:cNvSpPr/>
            <p:nvPr/>
          </p:nvSpPr>
          <p:spPr>
            <a:xfrm>
              <a:off x="3831550" y="327681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TextBox 58">
              <a:extLst>
                <a:ext uri="{FF2B5EF4-FFF2-40B4-BE49-F238E27FC236}">
                  <a16:creationId xmlns:a16="http://schemas.microsoft.com/office/drawing/2014/main" id="{FFC49AEA-2A8F-250C-A86A-A7751D9706C3}"/>
                </a:ext>
              </a:extLst>
            </p:cNvPr>
            <p:cNvSpPr txBox="1"/>
            <p:nvPr/>
          </p:nvSpPr>
          <p:spPr>
            <a:xfrm>
              <a:off x="4332218" y="3351332"/>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60" name="TextBox 59">
              <a:extLst>
                <a:ext uri="{FF2B5EF4-FFF2-40B4-BE49-F238E27FC236}">
                  <a16:creationId xmlns:a16="http://schemas.microsoft.com/office/drawing/2014/main" id="{FFC49AEA-2A8F-250C-A86A-A7751D9706C3}"/>
                </a:ext>
              </a:extLst>
            </p:cNvPr>
            <p:cNvSpPr txBox="1"/>
            <p:nvPr/>
          </p:nvSpPr>
          <p:spPr>
            <a:xfrm>
              <a:off x="3909746" y="340519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61" name="타원 60"/>
            <p:cNvSpPr/>
            <p:nvPr/>
          </p:nvSpPr>
          <p:spPr>
            <a:xfrm>
              <a:off x="6191669" y="338705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모서리가 둥근 직사각형 61"/>
            <p:cNvSpPr/>
            <p:nvPr/>
          </p:nvSpPr>
          <p:spPr>
            <a:xfrm>
              <a:off x="3831550" y="368349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TextBox 62">
              <a:extLst>
                <a:ext uri="{FF2B5EF4-FFF2-40B4-BE49-F238E27FC236}">
                  <a16:creationId xmlns:a16="http://schemas.microsoft.com/office/drawing/2014/main" id="{FFC49AEA-2A8F-250C-A86A-A7751D9706C3}"/>
                </a:ext>
              </a:extLst>
            </p:cNvPr>
            <p:cNvSpPr txBox="1"/>
            <p:nvPr/>
          </p:nvSpPr>
          <p:spPr>
            <a:xfrm>
              <a:off x="4332218" y="3758018"/>
              <a:ext cx="1682738" cy="215444"/>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첨부서류명</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64" name="TextBox 63">
              <a:extLst>
                <a:ext uri="{FF2B5EF4-FFF2-40B4-BE49-F238E27FC236}">
                  <a16:creationId xmlns:a16="http://schemas.microsoft.com/office/drawing/2014/main" id="{FFC49AEA-2A8F-250C-A86A-A7751D9706C3}"/>
                </a:ext>
              </a:extLst>
            </p:cNvPr>
            <p:cNvSpPr txBox="1"/>
            <p:nvPr/>
          </p:nvSpPr>
          <p:spPr>
            <a:xfrm>
              <a:off x="3909746" y="381187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65" name="타원 64"/>
            <p:cNvSpPr/>
            <p:nvPr/>
          </p:nvSpPr>
          <p:spPr>
            <a:xfrm>
              <a:off x="6191669" y="379374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81" name="직선 연결선 80">
              <a:extLst>
                <a:ext uri="{FF2B5EF4-FFF2-40B4-BE49-F238E27FC236}">
                  <a16:creationId xmlns:a16="http://schemas.microsoft.com/office/drawing/2014/main" id="{E9293055-D5CD-4B9E-7F64-64B2D2CA7A52}"/>
                </a:ext>
              </a:extLst>
            </p:cNvPr>
            <p:cNvCxnSpPr/>
            <p:nvPr/>
          </p:nvCxnSpPr>
          <p:spPr>
            <a:xfrm>
              <a:off x="3795735" y="4480713"/>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4" name="TextBox 83">
              <a:extLst>
                <a:ext uri="{FF2B5EF4-FFF2-40B4-BE49-F238E27FC236}">
                  <a16:creationId xmlns:a16="http://schemas.microsoft.com/office/drawing/2014/main" id="{FFC49AEA-2A8F-250C-A86A-A7751D9706C3}"/>
                </a:ext>
              </a:extLst>
            </p:cNvPr>
            <p:cNvSpPr txBox="1"/>
            <p:nvPr/>
          </p:nvSpPr>
          <p:spPr>
            <a:xfrm>
              <a:off x="4332218" y="3141693"/>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85" name="TextBox 84">
              <a:extLst>
                <a:ext uri="{FF2B5EF4-FFF2-40B4-BE49-F238E27FC236}">
                  <a16:creationId xmlns:a16="http://schemas.microsoft.com/office/drawing/2014/main" id="{FFC49AEA-2A8F-250C-A86A-A7751D9706C3}"/>
                </a:ext>
              </a:extLst>
            </p:cNvPr>
            <p:cNvSpPr txBox="1"/>
            <p:nvPr/>
          </p:nvSpPr>
          <p:spPr>
            <a:xfrm>
              <a:off x="6101185" y="3141693"/>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86" name="TextBox 85">
              <a:extLst>
                <a:ext uri="{FF2B5EF4-FFF2-40B4-BE49-F238E27FC236}">
                  <a16:creationId xmlns:a16="http://schemas.microsoft.com/office/drawing/2014/main" id="{FFC49AEA-2A8F-250C-A86A-A7751D9706C3}"/>
                </a:ext>
              </a:extLst>
            </p:cNvPr>
            <p:cNvSpPr txBox="1"/>
            <p:nvPr/>
          </p:nvSpPr>
          <p:spPr>
            <a:xfrm>
              <a:off x="3838314" y="3141693"/>
              <a:ext cx="390650"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순번</a:t>
              </a:r>
              <a:endParaRPr lang="en-US" altLang="ko-KR" sz="600" dirty="0">
                <a:solidFill>
                  <a:schemeClr val="tx1">
                    <a:lumMod val="85000"/>
                    <a:lumOff val="15000"/>
                  </a:schemeClr>
                </a:solidFill>
                <a:latin typeface="맑은 고딕" panose="020B0503020000020004" pitchFamily="50" charset="-127"/>
              </a:endParaRPr>
            </a:p>
          </p:txBody>
        </p:sp>
      </p:grpSp>
    </p:spTree>
    <p:extLst>
      <p:ext uri="{BB962C8B-B14F-4D97-AF65-F5344CB8AC3E}">
        <p14:creationId xmlns:p14="http://schemas.microsoft.com/office/powerpoint/2010/main" val="1742631116"/>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292</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217103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공지사항 데이터 영역 </a:t>
            </a:r>
            <a:r>
              <a:rPr lang="en-US" altLang="ko-KR" sz="900" b="1" dirty="0">
                <a:solidFill>
                  <a:prstClr val="black"/>
                </a:solidFill>
              </a:rPr>
              <a:t>(</a:t>
            </a:r>
            <a:r>
              <a:rPr lang="en-US" altLang="ko-KR" sz="900" b="1" dirty="0" err="1">
                <a:solidFill>
                  <a:prstClr val="black"/>
                </a:solidFill>
              </a:rPr>
              <a:t>dm_ntcInfo</a:t>
            </a:r>
            <a:r>
              <a:rPr lang="en-US" altLang="ko-KR" sz="900" b="1" dirty="0">
                <a:solidFill>
                  <a:prstClr val="black"/>
                </a:solidFill>
              </a:rPr>
              <a:t>)</a:t>
            </a:r>
            <a:endParaRPr lang="ko-KR" altLang="en-US" sz="900" b="1" dirty="0">
              <a:solidFill>
                <a:prstClr val="black"/>
              </a:solidFill>
            </a:endParaRPr>
          </a:p>
        </p:txBody>
      </p:sp>
      <p:sp>
        <p:nvSpPr>
          <p:cNvPr id="11" name="TextBox 10">
            <a:extLst>
              <a:ext uri="{FF2B5EF4-FFF2-40B4-BE49-F238E27FC236}">
                <a16:creationId xmlns:a16="http://schemas.microsoft.com/office/drawing/2014/main" id="{83358D31-792E-1F31-CE2A-A2AE122E42CC}"/>
              </a:ext>
            </a:extLst>
          </p:cNvPr>
          <p:cNvSpPr txBox="1"/>
          <p:nvPr/>
        </p:nvSpPr>
        <p:spPr>
          <a:xfrm>
            <a:off x="458117" y="1911471"/>
            <a:ext cx="2512474"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공고일반</a:t>
            </a:r>
            <a:r>
              <a:rPr lang="en-US" altLang="ko-KR" sz="900" b="1" dirty="0">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nvGraphicFramePr>
        <p:xfrm>
          <a:off x="452999" y="101431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ntcYmd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공지가 등록된 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solidFill>
                            <a:schemeClr val="tx1"/>
                          </a:solidFill>
                          <a:latin typeface="+mn-ea"/>
                          <a:ea typeface="+mn-ea"/>
                        </a:rPr>
                        <a:t>Y</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공지내용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ntcCn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공고에 등록된 공지내용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solidFill>
                            <a:schemeClr val="tx1"/>
                          </a:solidFill>
                          <a:latin typeface="+mn-ea"/>
                          <a:ea typeface="+mn-ea"/>
                        </a:rPr>
                        <a:t>Y</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bl>
          </a:graphicData>
        </a:graphic>
      </p:graphicFrame>
      <p:graphicFrame>
        <p:nvGraphicFramePr>
          <p:cNvPr id="2" name="표 1">
            <a:extLst>
              <a:ext uri="{FF2B5EF4-FFF2-40B4-BE49-F238E27FC236}">
                <a16:creationId xmlns:a16="http://schemas.microsoft.com/office/drawing/2014/main" id="{3969C2BD-BAE7-E4E1-6BA5-91005212D745}"/>
              </a:ext>
            </a:extLst>
          </p:cNvPr>
          <p:cNvGraphicFramePr>
            <a:graphicFrameLocks noGrp="1"/>
          </p:cNvGraphicFramePr>
          <p:nvPr/>
        </p:nvGraphicFramePr>
        <p:xfrm>
          <a:off x="452999" y="2131282"/>
          <a:ext cx="8994883" cy="40723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solidFill>
                            <a:schemeClr val="tx1"/>
                          </a:solidFill>
                          <a:latin typeface="+mn-ea"/>
                          <a:ea typeface="+mn-ea"/>
                        </a:rPr>
                        <a:t>Y</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9516148"/>
                  </a:ext>
                </a:extLst>
              </a:tr>
              <a:tr h="0">
                <a:tc>
                  <a:txBody>
                    <a:bodyPr/>
                    <a:lstStyle/>
                    <a:p>
                      <a:pPr algn="l" fontAlgn="ctr"/>
                      <a:r>
                        <a:rPr lang="ko-KR" altLang="en-US" sz="800" b="0" i="0" u="none" strike="noStrike" dirty="0">
                          <a:solidFill>
                            <a:srgbClr val="000000"/>
                          </a:solidFill>
                          <a:effectLst/>
                          <a:latin typeface="+mn-ea"/>
                          <a:ea typeface="+mn-ea"/>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pbancType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공고구분</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95136005"/>
                  </a:ext>
                </a:extLst>
              </a:tr>
              <a:tr h="0">
                <a:tc>
                  <a:txBody>
                    <a:bodyPr/>
                    <a:lstStyle/>
                    <a:p>
                      <a:pPr algn="l" fontAlgn="ctr"/>
                      <a:r>
                        <a:rPr lang="ko-KR" altLang="en-US" sz="800" b="0" i="0" u="none" strike="noStrike" dirty="0">
                          <a:solidFill>
                            <a:srgbClr val="000000"/>
                          </a:solidFill>
                          <a:effectLst/>
                          <a:latin typeface="+mn-ea"/>
                          <a:ea typeface="+mn-ea"/>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pbancRqstYmd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9167462"/>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5625234"/>
                  </a:ext>
                </a:extLst>
              </a:tr>
              <a:tr h="0">
                <a:tc>
                  <a:txBody>
                    <a:bodyPr/>
                    <a:lstStyle/>
                    <a:p>
                      <a:pPr algn="l" fontAlgn="ctr"/>
                      <a:r>
                        <a:rPr lang="ko-KR" altLang="en-US" sz="800" b="0" i="0" u="none" strike="noStrike" dirty="0" err="1">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367847"/>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43656418"/>
                  </a:ext>
                </a:extLst>
              </a:tr>
              <a:tr h="0">
                <a:tc>
                  <a:txBody>
                    <a:bodyPr/>
                    <a:lstStyle/>
                    <a:p>
                      <a:pPr algn="l" fontAlgn="ctr"/>
                      <a:r>
                        <a:rPr lang="ko-KR" altLang="en-US" sz="800" b="0" i="0" u="none" strike="noStrike">
                          <a:solidFill>
                            <a:srgbClr val="000000"/>
                          </a:solidFill>
                          <a:effectLst/>
                          <a:latin typeface="+mn-ea"/>
                          <a:ea typeface="+mn-ea"/>
                        </a:rPr>
                        <a:t>입찰유형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입찰유형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5819665"/>
                  </a:ext>
                </a:extLst>
              </a:tr>
              <a:tr h="0">
                <a:tc>
                  <a:txBody>
                    <a:bodyPr/>
                    <a:lstStyle/>
                    <a:p>
                      <a:pPr algn="l" fontAlgn="ctr"/>
                      <a:r>
                        <a:rPr lang="ko-KR" altLang="en-US" sz="800" b="0" i="0" u="none" strike="noStrike">
                          <a:solidFill>
                            <a:srgbClr val="000000"/>
                          </a:solidFill>
                          <a:effectLst/>
                          <a:latin typeface="+mn-ea"/>
                          <a:ea typeface="+mn-ea"/>
                        </a:rPr>
                        <a:t>입찰매체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bidMedia</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입찰매체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3514083"/>
                  </a:ext>
                </a:extLst>
              </a:tr>
              <a:tr h="0">
                <a:tc>
                  <a:txBody>
                    <a:bodyPr/>
                    <a:lstStyle/>
                    <a:p>
                      <a:pPr algn="l" fontAlgn="ctr"/>
                      <a:r>
                        <a:rPr lang="ko-KR" altLang="en-US" sz="800" b="0" i="0" u="none" strike="noStrike" dirty="0">
                          <a:solidFill>
                            <a:srgbClr val="000000"/>
                          </a:solidFill>
                          <a:effectLst/>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계약방법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8368488"/>
                  </a:ext>
                </a:extLst>
              </a:tr>
              <a:tr h="0">
                <a:tc>
                  <a:txBody>
                    <a:bodyPr/>
                    <a:lstStyle/>
                    <a:p>
                      <a:pPr algn="l" fontAlgn="ctr"/>
                      <a:r>
                        <a:rPr lang="ko-KR" altLang="en-US" sz="800" b="0" i="0" u="none" strike="noStrike" dirty="0">
                          <a:solidFill>
                            <a:srgbClr val="000000"/>
                          </a:solidFill>
                          <a:effectLst/>
                          <a:latin typeface="+mn-ea"/>
                          <a:ea typeface="+mn-ea"/>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919282"/>
                  </a:ext>
                </a:extLst>
              </a:tr>
              <a:tr h="0">
                <a:tc>
                  <a:txBody>
                    <a:bodyPr/>
                    <a:lstStyle/>
                    <a:p>
                      <a:pPr algn="l" fontAlgn="ctr"/>
                      <a:r>
                        <a:rPr lang="ko-KR" altLang="en-US" sz="800" b="0" i="0" u="none" strike="noStrike" dirty="0" err="1">
                          <a:solidFill>
                            <a:srgbClr val="000000"/>
                          </a:solidFill>
                          <a:effectLst/>
                          <a:latin typeface="+mn-ea"/>
                          <a:ea typeface="+mn-ea"/>
                        </a:rPr>
                        <a:t>총금액</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총금액</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92075" indent="-92075" algn="l" latinLnBrk="1">
                        <a:buFont typeface="Arial" panose="020B0604020202020204" pitchFamily="34" charset="0"/>
                        <a:buChar char="•"/>
                      </a:pPr>
                      <a:r>
                        <a:rPr lang="ko-KR" altLang="en-US" sz="800" dirty="0">
                          <a:solidFill>
                            <a:schemeClr val="tx1"/>
                          </a:solidFill>
                          <a:latin typeface="+mn-ea"/>
                          <a:ea typeface="+mn-ea"/>
                        </a:rPr>
                        <a:t>달러 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7241225"/>
                  </a:ext>
                </a:extLst>
              </a:tr>
              <a:tr h="0">
                <a:tc>
                  <a:txBody>
                    <a:bodyPr/>
                    <a:lstStyle/>
                    <a:p>
                      <a:pPr algn="l" fontAlgn="ctr"/>
                      <a:r>
                        <a:rPr lang="ko-KR" altLang="en-US" sz="800" b="0" i="0" u="none" strike="noStrike">
                          <a:solidFill>
                            <a:srgbClr val="000000"/>
                          </a:solidFill>
                          <a:effectLst/>
                          <a:latin typeface="+mn-ea"/>
                          <a:ea typeface="+mn-ea"/>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7904097"/>
                  </a:ext>
                </a:extLst>
              </a:tr>
              <a:tr h="0">
                <a:tc>
                  <a:txBody>
                    <a:bodyPr/>
                    <a:lstStyle/>
                    <a:p>
                      <a:pPr algn="l" fontAlgn="ctr"/>
                      <a:r>
                        <a:rPr lang="ko-KR" altLang="en-US" sz="800" b="0" i="0" u="none" strike="noStrike" dirty="0" err="1">
                          <a:solidFill>
                            <a:srgbClr val="000000"/>
                          </a:solidFill>
                          <a:effectLst/>
                          <a:latin typeface="+mn-ea"/>
                          <a:ea typeface="+mn-ea"/>
                        </a:rPr>
                        <a:t>공고품목수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품목수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3795502"/>
                  </a:ext>
                </a:extLst>
              </a:tr>
              <a:tr h="0">
                <a:tc>
                  <a:txBody>
                    <a:bodyPr/>
                    <a:lstStyle/>
                    <a:p>
                      <a:pPr algn="l" fontAlgn="ctr"/>
                      <a:r>
                        <a:rPr lang="ko-KR" altLang="en-US" sz="800" b="0" i="0" u="none" strike="noStrike">
                          <a:solidFill>
                            <a:srgbClr val="000000"/>
                          </a:solidFill>
                          <a:effectLst/>
                          <a:latin typeface="+mn-ea"/>
                          <a:ea typeface="+mn-ea"/>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regDdlnDt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입찰참가등록마감일시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6528358"/>
                  </a:ext>
                </a:extLst>
              </a:tr>
              <a:tr h="0">
                <a:tc>
                  <a:txBody>
                    <a:bodyPr/>
                    <a:lstStyle/>
                    <a:p>
                      <a:pPr algn="l" fontAlgn="ctr"/>
                      <a:r>
                        <a:rPr lang="ko-KR" altLang="en-US" sz="800" b="0" i="0" u="none" strike="noStrike" dirty="0">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1682420"/>
                  </a:ext>
                </a:extLst>
              </a:tr>
              <a:tr h="0">
                <a:tc>
                  <a:txBody>
                    <a:bodyPr/>
                    <a:lstStyle/>
                    <a:p>
                      <a:pPr algn="l" fontAlgn="ctr"/>
                      <a:r>
                        <a:rPr lang="ko-KR" altLang="en-US" sz="800" b="0" i="0" u="none" strike="noStrike" dirty="0">
                          <a:solidFill>
                            <a:srgbClr val="000000"/>
                          </a:solidFill>
                          <a:effectLst/>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mn-ea"/>
                          <a:ea typeface="+mn-ea"/>
                          <a:cs typeface="+mn-cs"/>
                        </a:rPr>
                        <a:t>R</a:t>
                      </a:r>
                      <a:endParaRPr kumimoji="0" lang="en-US" altLang="ko-KR" sz="800" b="0" i="0" u="none" strike="noStrike" kern="1200" cap="none" spc="0" normalizeH="0" baseline="0" noProof="0" dirty="0">
                        <a:ln>
                          <a:noFill/>
                        </a:ln>
                        <a:solidFill>
                          <a:srgbClr val="000000"/>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2363760"/>
                  </a:ext>
                </a:extLst>
              </a:tr>
              <a:tr h="0">
                <a:tc>
                  <a:txBody>
                    <a:bodyPr/>
                    <a:lstStyle/>
                    <a:p>
                      <a:pPr algn="l" fontAlgn="ctr"/>
                      <a:r>
                        <a:rPr lang="ko-KR" altLang="en-US" sz="800" b="0" i="0" u="none" strike="noStrike">
                          <a:solidFill>
                            <a:srgbClr val="000000"/>
                          </a:solidFill>
                          <a:effectLst/>
                          <a:latin typeface="+mn-ea"/>
                          <a:ea typeface="+mn-ea"/>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방위사업청담당자</a:t>
                      </a:r>
                      <a:r>
                        <a:rPr lang="ko-KR" altLang="en-US" sz="800" b="0" i="0" u="none" strike="noStrike" dirty="0">
                          <a:solidFill>
                            <a:srgbClr val="000000"/>
                          </a:solidFill>
                          <a:effectLst/>
                          <a:latin typeface="+mn-ea"/>
                          <a:ea typeface="+mn-ea"/>
                        </a:rPr>
                        <a:t>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4561903"/>
                  </a:ext>
                </a:extLst>
              </a:tr>
              <a:tr h="0">
                <a:tc>
                  <a:txBody>
                    <a:bodyPr/>
                    <a:lstStyle/>
                    <a:p>
                      <a:pPr algn="l" fontAlgn="ctr"/>
                      <a:r>
                        <a:rPr lang="ko-KR" altLang="en-US" sz="800" b="0" i="0" u="none" strike="noStrike" dirty="0">
                          <a:solidFill>
                            <a:srgbClr val="000000"/>
                          </a:solidFill>
                          <a:effectLst/>
                          <a:latin typeface="+mn-ea"/>
                          <a:ea typeface="+mn-ea"/>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방위사업청담당자</a:t>
                      </a:r>
                      <a:r>
                        <a:rPr lang="ko-KR" altLang="en-US" sz="800" b="0" i="0" u="none" strike="noStrike" dirty="0">
                          <a:solidFill>
                            <a:srgbClr val="000000"/>
                          </a:solidFill>
                          <a:effectLst/>
                          <a:latin typeface="+mn-ea"/>
                          <a:ea typeface="+mn-ea"/>
                        </a:rPr>
                        <a:t>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방위사업청담당자</a:t>
                      </a:r>
                      <a:r>
                        <a:rPr lang="ko-KR" altLang="en-US" sz="800" b="0" i="0" u="none" strike="noStrike" dirty="0">
                          <a:solidFill>
                            <a:srgbClr val="000000"/>
                          </a:solidFill>
                          <a:effectLst/>
                          <a:latin typeface="+mn-ea"/>
                          <a:ea typeface="+mn-ea"/>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mn-ea"/>
                          <a:ea typeface="+mn-ea"/>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5" name="Text Box 73">
            <a:extLst>
              <a:ext uri="{FF2B5EF4-FFF2-40B4-BE49-F238E27FC236}">
                <a16:creationId xmlns:a16="http://schemas.microsoft.com/office/drawing/2014/main" id="{6F704B4B-1EA4-54DD-D927-32B048F7854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280270533"/>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375A36F-8CF4-EB9C-5A08-D4ED701E4D3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2094090"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첨부서류 데이터 </a:t>
            </a:r>
            <a:r>
              <a:rPr lang="ko-KR" altLang="en-US" sz="900" b="1">
                <a:solidFill>
                  <a:prstClr val="black"/>
                </a:solidFill>
              </a:rPr>
              <a:t>영역 </a:t>
            </a:r>
            <a:r>
              <a:rPr lang="en-US" altLang="ko-KR" sz="900" b="1">
                <a:solidFill>
                  <a:prstClr val="black"/>
                </a:solidFill>
              </a:rPr>
              <a:t>(dl_docList)</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solidFill>
                            <a:schemeClr val="tx1"/>
                          </a:solidFill>
                          <a:latin typeface="+mn-ea"/>
                          <a:ea typeface="+mn-ea"/>
                        </a:rPr>
                        <a:t>Y</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5613054"/>
                  </a:ext>
                </a:extLst>
              </a:tr>
              <a:tr h="0">
                <a:tc>
                  <a:txBody>
                    <a:bodyPr/>
                    <a:lstStyle/>
                    <a:p>
                      <a:pPr algn="l" fontAlgn="ctr"/>
                      <a:r>
                        <a:rPr lang="ko-KR" altLang="en-US" sz="800" b="0" i="0" u="none" strike="noStrike" dirty="0">
                          <a:solidFill>
                            <a:srgbClr val="000000"/>
                          </a:solidFill>
                          <a:effectLst/>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첨부파일크기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2" name="슬라이드 번호 개체 틀 4">
            <a:extLst>
              <a:ext uri="{FF2B5EF4-FFF2-40B4-BE49-F238E27FC236}">
                <a16:creationId xmlns:a16="http://schemas.microsoft.com/office/drawing/2014/main" id="{D1E2B51F-C120-CDEF-93BC-81FB21430B02}"/>
              </a:ext>
            </a:extLst>
          </p:cNvPr>
          <p:cNvSpPr>
            <a:spLocks noGrp="1"/>
          </p:cNvSpPr>
          <p:nvPr>
            <p:ph type="sldNum" sz="quarter" idx="4"/>
          </p:nvPr>
        </p:nvSpPr>
        <p:spPr>
          <a:xfrm>
            <a:off x="4326220" y="6588000"/>
            <a:ext cx="1258128" cy="216000"/>
          </a:xfrm>
        </p:spPr>
        <p:txBody>
          <a:bodyPr/>
          <a:lstStyle/>
          <a:p>
            <a:fld id="{34C8E023-7346-48FC-AB24-9A3388C53208}" type="slidenum">
              <a:rPr lang="ko-KR" altLang="en-US" smtClean="0"/>
              <a:pPr/>
              <a:t>293</a:t>
            </a:fld>
            <a:endParaRPr lang="ko-KR" altLang="en-US"/>
          </a:p>
        </p:txBody>
      </p:sp>
      <p:sp>
        <p:nvSpPr>
          <p:cNvPr id="3" name="Text Box 73">
            <a:extLst>
              <a:ext uri="{FF2B5EF4-FFF2-40B4-BE49-F238E27FC236}">
                <a16:creationId xmlns:a16="http://schemas.microsoft.com/office/drawing/2014/main" id="{F2DE5AB1-D284-71B0-AB9F-294A08641C9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774308558"/>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294</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(3/3</a:t>
            </a:r>
            <a:r>
              <a:rPr lang="en-US" altLang="ko-KR" sz="1000" b="1" dirty="0">
                <a:solidFill>
                  <a:prstClr val="black"/>
                </a:solidFill>
              </a:rPr>
              <a:t>)</a:t>
            </a:r>
            <a:endParaRPr lang="ko-KR" altLang="en-US" sz="1000" b="1" dirty="0">
              <a:solidFill>
                <a:prstClr val="black"/>
              </a:solidFill>
            </a:endParaRP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2140577"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품목목록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(dl_itemList)</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nvGraphicFramePr>
        <p:xfrm>
          <a:off x="452999" y="1014316"/>
          <a:ext cx="8994883" cy="45820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103206">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mn-ea"/>
                          <a:ea typeface="+mn-ea"/>
                        </a:rPr>
                        <a:t>Y</a:t>
                      </a:r>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품질등급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inspShpNm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품질등급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2395805"/>
                  </a:ext>
                </a:extLst>
              </a:tr>
              <a:tr h="0">
                <a:tc>
                  <a:txBody>
                    <a:bodyPr/>
                    <a:lstStyle/>
                    <a:p>
                      <a:pPr algn="l" fontAlgn="ctr"/>
                      <a:r>
                        <a:rPr lang="ko-KR" altLang="en-US" sz="800" b="0" i="0" u="none" strike="noStrike">
                          <a:solidFill>
                            <a:srgbClr val="000000"/>
                          </a:solidFill>
                          <a:effectLst/>
                          <a:latin typeface="+mn-ea"/>
                          <a:ea typeface="+mn-ea"/>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첨부 문서</a:t>
                      </a:r>
                      <a:r>
                        <a:rPr lang="en-US" altLang="ko-KR" sz="800" b="0" i="0" u="none" strike="noStrike" dirty="0">
                          <a:solidFill>
                            <a:srgbClr val="000000"/>
                          </a:solidFill>
                          <a:effectLst/>
                          <a:latin typeface="+mn-ea"/>
                          <a:ea typeface="+mn-ea"/>
                        </a:rPr>
                        <a:t>ID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28313790"/>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9877418"/>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폼목의</a:t>
                      </a:r>
                      <a:r>
                        <a:rPr lang="ko-KR" altLang="en-US" sz="800" b="0" i="0" u="none" strike="noStrike" dirty="0">
                          <a:solidFill>
                            <a:srgbClr val="000000"/>
                          </a:solidFill>
                          <a:effectLst/>
                          <a:latin typeface="+mn-ea"/>
                          <a:ea typeface="+mn-ea"/>
                        </a:rPr>
                        <a:t> 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2335966"/>
                  </a:ext>
                </a:extLst>
              </a:tr>
              <a:tr h="0">
                <a:tc>
                  <a:txBody>
                    <a:bodyPr/>
                    <a:lstStyle/>
                    <a:p>
                      <a:pPr algn="l" fontAlgn="ctr"/>
                      <a:r>
                        <a:rPr lang="ko-KR" altLang="en-US" sz="800" b="0" i="0" u="none" strike="noStrike">
                          <a:solidFill>
                            <a:srgbClr val="000000"/>
                          </a:solidFill>
                          <a:effectLst/>
                          <a:latin typeface="+mn-ea"/>
                          <a:ea typeface="+mn-ea"/>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spcfctNo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7996289"/>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409395"/>
                  </a:ext>
                </a:extLst>
              </a:tr>
              <a:tr h="0">
                <a:tc>
                  <a:txBody>
                    <a:bodyPr/>
                    <a:lstStyle/>
                    <a:p>
                      <a:pPr algn="l" fontAlgn="ctr"/>
                      <a:r>
                        <a:rPr lang="ko-KR" altLang="en-US" sz="800" b="0" i="0" u="none" strike="noStrike">
                          <a:solidFill>
                            <a:srgbClr val="000000"/>
                          </a:solidFill>
                          <a:effectLst/>
                          <a:latin typeface="+mn-ea"/>
                          <a:ea typeface="+mn-ea"/>
                        </a:rPr>
                        <a:t>납기기준일자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납기기준일자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56072090"/>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56703505"/>
                  </a:ext>
                </a:extLst>
              </a:tr>
              <a:tr h="0">
                <a:tc>
                  <a:txBody>
                    <a:bodyPr/>
                    <a:lstStyle/>
                    <a:p>
                      <a:pPr algn="l" fontAlgn="ctr"/>
                      <a:r>
                        <a:rPr lang="ko-KR" altLang="en-US" sz="800" b="0" i="0" u="none" strike="noStrike">
                          <a:solidFill>
                            <a:srgbClr val="000000"/>
                          </a:solidFill>
                          <a:effectLst/>
                          <a:latin typeface="+mn-ea"/>
                          <a:ea typeface="+mn-ea"/>
                        </a:rPr>
                        <a:t>본조수량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국가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9844663"/>
                  </a:ext>
                </a:extLst>
              </a:tr>
              <a:tr h="0">
                <a:tc>
                  <a:txBody>
                    <a:bodyPr/>
                    <a:lstStyle/>
                    <a:p>
                      <a:pPr algn="l" fontAlgn="ctr"/>
                      <a:r>
                        <a:rPr lang="ko-KR" altLang="en-US" sz="800" b="0" i="0" u="none" strike="noStrike" dirty="0">
                          <a:solidFill>
                            <a:srgbClr val="000000"/>
                          </a:solidFill>
                          <a:effectLst/>
                          <a:latin typeface="+mn-ea"/>
                          <a:ea typeface="+mn-ea"/>
                        </a:rPr>
                        <a:t>당국수량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당해년도</a:t>
                      </a:r>
                      <a:r>
                        <a:rPr lang="ko-KR" altLang="en-US" sz="800" b="0" i="0" u="none" strike="noStrike" dirty="0">
                          <a:solidFill>
                            <a:srgbClr val="000000"/>
                          </a:solidFill>
                          <a:effectLst/>
                          <a:latin typeface="+mn-ea"/>
                          <a:ea typeface="+mn-ea"/>
                        </a:rPr>
                        <a:t> 국채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1850839"/>
                  </a:ext>
                </a:extLst>
              </a:tr>
              <a:tr h="0">
                <a:tc>
                  <a:txBody>
                    <a:bodyPr/>
                    <a:lstStyle/>
                    <a:p>
                      <a:pPr algn="l" fontAlgn="ctr"/>
                      <a:r>
                        <a:rPr lang="ko-KR" altLang="en-US" sz="800" b="0" i="0" u="none" strike="noStrike">
                          <a:solidFill>
                            <a:srgbClr val="000000"/>
                          </a:solidFill>
                          <a:effectLst/>
                          <a:latin typeface="+mn-ea"/>
                          <a:ea typeface="+mn-ea"/>
                        </a:rPr>
                        <a:t>장국수량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장기국채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7697221"/>
                  </a:ext>
                </a:extLst>
              </a:tr>
              <a:tr h="0">
                <a:tc>
                  <a:txBody>
                    <a:bodyPr/>
                    <a:lstStyle/>
                    <a:p>
                      <a:pPr algn="l" fontAlgn="ctr"/>
                      <a:r>
                        <a:rPr lang="ko-KR" altLang="en-US" sz="800" b="0" i="0" u="none" strike="noStrike">
                          <a:solidFill>
                            <a:srgbClr val="000000"/>
                          </a:solidFill>
                          <a:effectLst/>
                          <a:latin typeface="+mn-ea"/>
                          <a:ea typeface="+mn-ea"/>
                        </a:rPr>
                        <a:t>본조예산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국가 예산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8235322"/>
                  </a:ext>
                </a:extLst>
              </a:tr>
              <a:tr h="0">
                <a:tc>
                  <a:txBody>
                    <a:bodyPr/>
                    <a:lstStyle/>
                    <a:p>
                      <a:pPr algn="l" fontAlgn="ctr"/>
                      <a:r>
                        <a:rPr lang="ko-KR" altLang="en-US" sz="800" b="0" i="0" u="none" strike="noStrike">
                          <a:solidFill>
                            <a:srgbClr val="000000"/>
                          </a:solidFill>
                          <a:effectLst/>
                          <a:latin typeface="+mn-ea"/>
                          <a:ea typeface="+mn-ea"/>
                        </a:rPr>
                        <a:t>당국예산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당해년도</a:t>
                      </a:r>
                      <a:r>
                        <a:rPr lang="ko-KR" altLang="en-US" sz="800" b="0" i="0" u="none" strike="noStrike" dirty="0">
                          <a:solidFill>
                            <a:srgbClr val="000000"/>
                          </a:solidFill>
                          <a:effectLst/>
                          <a:latin typeface="+mn-ea"/>
                          <a:ea typeface="+mn-ea"/>
                        </a:rPr>
                        <a:t> 국채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1718300"/>
                  </a:ext>
                </a:extLst>
              </a:tr>
              <a:tr h="0">
                <a:tc>
                  <a:txBody>
                    <a:bodyPr/>
                    <a:lstStyle/>
                    <a:p>
                      <a:pPr algn="l" fontAlgn="ctr"/>
                      <a:r>
                        <a:rPr lang="ko-KR" altLang="en-US" sz="800" b="0" i="0" u="none" strike="noStrike">
                          <a:solidFill>
                            <a:srgbClr val="000000"/>
                          </a:solidFill>
                          <a:effectLst/>
                          <a:latin typeface="+mn-ea"/>
                          <a:ea typeface="+mn-ea"/>
                        </a:rPr>
                        <a:t>장국예산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장기국채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9331676"/>
                  </a:ext>
                </a:extLst>
              </a:tr>
              <a:tr h="0">
                <a:tc>
                  <a:txBody>
                    <a:bodyPr/>
                    <a:lstStyle/>
                    <a:p>
                      <a:pPr algn="l" fontAlgn="ctr"/>
                      <a:r>
                        <a:rPr lang="ko-KR" altLang="en-US" sz="800" b="0" i="0" u="none" strike="noStrike">
                          <a:solidFill>
                            <a:srgbClr val="000000"/>
                          </a:solidFill>
                          <a:effectLst/>
                          <a:latin typeface="+mn-ea"/>
                          <a:ea typeface="+mn-ea"/>
                        </a:rPr>
                        <a:t>수량합계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수량합계</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b="0" i="0" u="none" strike="noStrike" dirty="0">
                          <a:solidFill>
                            <a:srgbClr val="000000"/>
                          </a:solidFill>
                          <a:effectLst/>
                          <a:latin typeface="+mn-ea"/>
                          <a:ea typeface="+mn-ea"/>
                        </a:rPr>
                        <a:t>본조수량</a:t>
                      </a:r>
                      <a:r>
                        <a:rPr lang="en-US" altLang="ko-KR" sz="800" b="0" i="0" u="none" strike="noStrike" dirty="0">
                          <a:solidFill>
                            <a:srgbClr val="000000"/>
                          </a:solidFill>
                          <a:effectLst/>
                          <a:latin typeface="+mn-ea"/>
                          <a:ea typeface="+mn-ea"/>
                        </a:rPr>
                        <a:t>+</a:t>
                      </a:r>
                      <a:r>
                        <a:rPr lang="ko-KR" altLang="en-US" sz="800" b="0" i="0" u="none" strike="noStrike" dirty="0">
                          <a:solidFill>
                            <a:srgbClr val="000000"/>
                          </a:solidFill>
                          <a:effectLst/>
                          <a:latin typeface="+mn-ea"/>
                          <a:ea typeface="+mn-ea"/>
                        </a:rPr>
                        <a:t>당국수량</a:t>
                      </a:r>
                      <a:r>
                        <a:rPr lang="en-US" altLang="ko-KR" sz="800" b="0" i="0" u="none" strike="noStrike" dirty="0">
                          <a:solidFill>
                            <a:srgbClr val="000000"/>
                          </a:solidFill>
                          <a:effectLst/>
                          <a:latin typeface="+mn-ea"/>
                          <a:ea typeface="+mn-ea"/>
                        </a:rPr>
                        <a:t>+</a:t>
                      </a:r>
                      <a:r>
                        <a:rPr lang="ko-KR" altLang="en-US" sz="800" b="0" i="0" u="none" strike="noStrike" dirty="0">
                          <a:solidFill>
                            <a:srgbClr val="000000"/>
                          </a:solidFill>
                          <a:effectLst/>
                          <a:latin typeface="+mn-ea"/>
                          <a:ea typeface="+mn-ea"/>
                        </a:rPr>
                        <a:t>장국수량</a:t>
                      </a:r>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05868606"/>
                  </a:ext>
                </a:extLst>
              </a:tr>
              <a:tr h="0">
                <a:tc>
                  <a:txBody>
                    <a:bodyPr/>
                    <a:lstStyle/>
                    <a:p>
                      <a:pPr algn="l" fontAlgn="ctr"/>
                      <a:r>
                        <a:rPr lang="ko-KR" altLang="en-US" sz="800" b="0" i="0" u="none" strike="noStrike" dirty="0">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화페단위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58505758"/>
                  </a:ext>
                </a:extLst>
              </a:tr>
              <a:tr h="0">
                <a:tc>
                  <a:txBody>
                    <a:bodyPr/>
                    <a:lstStyle/>
                    <a:p>
                      <a:pPr algn="l" fontAlgn="ctr"/>
                      <a:r>
                        <a:rPr lang="ko-KR" altLang="en-US" sz="800" b="0" i="0" u="none" strike="noStrike">
                          <a:solidFill>
                            <a:srgbClr val="000000"/>
                          </a:solidFill>
                          <a:effectLst/>
                          <a:latin typeface="+mn-ea"/>
                          <a:ea typeface="+mn-ea"/>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15560114"/>
                  </a:ext>
                </a:extLst>
              </a:tr>
              <a:tr h="0">
                <a:tc>
                  <a:txBody>
                    <a:bodyPr/>
                    <a:lstStyle/>
                    <a:p>
                      <a:pPr algn="l" fontAlgn="ctr"/>
                      <a:r>
                        <a:rPr lang="ko-KR" altLang="en-US" sz="800" b="0" i="0" u="none" strike="noStrike" dirty="0">
                          <a:solidFill>
                            <a:srgbClr val="000000"/>
                          </a:solidFill>
                          <a:effectLst/>
                          <a:latin typeface="+mn-ea"/>
                          <a:ea typeface="+mn-ea"/>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76767"/>
                  </a:ext>
                </a:extLst>
              </a:tr>
              <a:tr h="0">
                <a:tc>
                  <a:txBody>
                    <a:bodyPr/>
                    <a:lstStyle/>
                    <a:p>
                      <a:pPr algn="l" fontAlgn="ctr"/>
                      <a:r>
                        <a:rPr lang="ko-KR" altLang="en-US" sz="800" b="0" i="0" u="none" strike="noStrike">
                          <a:solidFill>
                            <a:srgbClr val="000000"/>
                          </a:solidFill>
                          <a:effectLst/>
                          <a:latin typeface="+mn-ea"/>
                          <a:ea typeface="+mn-ea"/>
                        </a:rPr>
                        <a:t>장비부호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aplcnEqpmntCd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장비부호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8711295"/>
                  </a:ext>
                </a:extLst>
              </a:tr>
              <a:tr h="0">
                <a:tc>
                  <a:txBody>
                    <a:bodyPr/>
                    <a:lstStyle/>
                    <a:p>
                      <a:pPr algn="l" fontAlgn="ctr"/>
                      <a:r>
                        <a:rPr lang="ko-KR" altLang="en-US" sz="800" b="0" i="0" u="none" strike="noStrike" dirty="0" err="1">
                          <a:solidFill>
                            <a:srgbClr val="000000"/>
                          </a:solidFill>
                          <a:effectLst/>
                          <a:latin typeface="+mn-ea"/>
                          <a:ea typeface="+mn-ea"/>
                        </a:rPr>
                        <a:t>장비명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aplcnEqpmntNm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장비명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a:solidFill>
                            <a:srgbClr val="000000"/>
                          </a:solidFill>
                          <a:effectLst/>
                          <a:latin typeface="+mn-ea"/>
                          <a:ea typeface="+mn-ea"/>
                        </a:rPr>
                        <a:t>보관함여부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lockerYn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보관함에 추가된 품목인지 표시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indent="-88900" algn="l" latinLnBrk="1">
                        <a:buFont typeface="Arial" panose="020B0604020202020204" pitchFamily="34" charset="0"/>
                        <a:buChar char="•"/>
                      </a:pPr>
                      <a:r>
                        <a:rPr lang="ko-KR" altLang="en-US" sz="800" b="0" dirty="0">
                          <a:solidFill>
                            <a:schemeClr val="tx1"/>
                          </a:solidFill>
                          <a:latin typeface="+mn-ea"/>
                          <a:ea typeface="+mn-ea"/>
                        </a:rPr>
                        <a:t>값 </a:t>
                      </a:r>
                      <a:r>
                        <a:rPr lang="en-US" altLang="ko-KR" sz="800" b="0" dirty="0">
                          <a:solidFill>
                            <a:schemeClr val="tx1"/>
                          </a:solidFill>
                          <a:latin typeface="+mn-ea"/>
                          <a:ea typeface="+mn-ea"/>
                        </a:rPr>
                        <a:t>(Y, N)</a:t>
                      </a:r>
                    </a:p>
                    <a:p>
                      <a:pPr marL="88900" indent="-88900" algn="l" latinLnBrk="1">
                        <a:buFont typeface="Arial" panose="020B0604020202020204" pitchFamily="34" charset="0"/>
                        <a:buChar char="•"/>
                      </a:pPr>
                      <a:r>
                        <a:rPr lang="ko-KR" altLang="en-US" sz="800" kern="1200">
                          <a:solidFill>
                            <a:schemeClr val="tx1"/>
                          </a:solidFill>
                          <a:latin typeface="+mn-lt"/>
                          <a:ea typeface="+mn-ea"/>
                          <a:cs typeface="+mn-cs"/>
                        </a:rPr>
                        <a:t>업체담당자인</a:t>
                      </a:r>
                      <a:r>
                        <a:rPr lang="ko-KR" altLang="en-US" sz="800" b="0">
                          <a:solidFill>
                            <a:schemeClr val="tx1"/>
                          </a:solidFill>
                          <a:latin typeface="+mn-ea"/>
                          <a:ea typeface="+mn-ea"/>
                        </a:rPr>
                        <a:t> </a:t>
                      </a:r>
                      <a:r>
                        <a:rPr lang="ko-KR" altLang="en-US" sz="800" b="0" dirty="0">
                          <a:solidFill>
                            <a:schemeClr val="tx1"/>
                          </a:solidFill>
                          <a:latin typeface="+mn-ea"/>
                          <a:ea typeface="+mn-ea"/>
                        </a:rPr>
                        <a:t>경우에만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2" name="Text Box 73">
            <a:extLst>
              <a:ext uri="{FF2B5EF4-FFF2-40B4-BE49-F238E27FC236}">
                <a16:creationId xmlns:a16="http://schemas.microsoft.com/office/drawing/2014/main" id="{ADA51300-06F1-4ACA-D27E-E24C195B5C8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559452783"/>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295</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5" name="표 4">
            <a:extLst>
              <a:ext uri="{FF2B5EF4-FFF2-40B4-BE49-F238E27FC236}">
                <a16:creationId xmlns:a16="http://schemas.microsoft.com/office/drawing/2014/main" id="{A31F6A43-1297-CF99-ABFA-B1F80565E966}"/>
              </a:ext>
            </a:extLst>
          </p:cNvPr>
          <p:cNvGraphicFramePr>
            <a:graphicFrameLocks noGrp="1"/>
          </p:cNvGraphicFramePr>
          <p:nvPr>
            <p:extLst>
              <p:ext uri="{D42A27DB-BD31-4B8C-83A1-F6EECF244321}">
                <p14:modId xmlns:p14="http://schemas.microsoft.com/office/powerpoint/2010/main" val="3188155397"/>
              </p:ext>
            </p:extLst>
          </p:nvPr>
        </p:nvGraphicFramePr>
        <p:xfrm>
          <a:off x="458117" y="799547"/>
          <a:ext cx="8995590" cy="3424320"/>
        </p:xfrm>
        <a:graphic>
          <a:graphicData uri="http://schemas.openxmlformats.org/drawingml/2006/table">
            <a:tbl>
              <a:tblPr>
                <a:tableStyleId>{616DA210-FB5B-4158-B5E0-FEB733F419BA}</a:tableStyleId>
              </a:tblPr>
              <a:tblGrid>
                <a:gridCol w="1380208">
                  <a:extLst>
                    <a:ext uri="{9D8B030D-6E8A-4147-A177-3AD203B41FA5}">
                      <a16:colId xmlns:a16="http://schemas.microsoft.com/office/drawing/2014/main" val="20000"/>
                    </a:ext>
                  </a:extLst>
                </a:gridCol>
                <a:gridCol w="1514475">
                  <a:extLst>
                    <a:ext uri="{9D8B030D-6E8A-4147-A177-3AD203B41FA5}">
                      <a16:colId xmlns:a16="http://schemas.microsoft.com/office/drawing/2014/main" val="624624882"/>
                    </a:ext>
                  </a:extLst>
                </a:gridCol>
                <a:gridCol w="3305174">
                  <a:extLst>
                    <a:ext uri="{9D8B030D-6E8A-4147-A177-3AD203B41FA5}">
                      <a16:colId xmlns:a16="http://schemas.microsoft.com/office/drawing/2014/main" val="20001"/>
                    </a:ext>
                  </a:extLst>
                </a:gridCol>
                <a:gridCol w="279573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공고상세정보 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a:latin typeface="+mn-ea"/>
                          <a:ea typeface="+mn-ea"/>
                        </a:rPr>
                        <a:t>입찰공고상세조회</a:t>
                      </a:r>
                      <a:r>
                        <a:rPr lang="en-US" altLang="ko-KR" sz="800">
                          <a:latin typeface="+mn-ea"/>
                          <a:ea typeface="+mn-ea"/>
                        </a:rPr>
                        <a:t>, </a:t>
                      </a:r>
                      <a:r>
                        <a:rPr lang="ko-KR" altLang="en-US" sz="800">
                          <a:latin typeface="+mn-ea"/>
                          <a:ea typeface="+mn-ea"/>
                        </a:rPr>
                        <a:t>입찰품목목록조회</a:t>
                      </a:r>
                      <a:r>
                        <a:rPr lang="en-US" altLang="ko-KR" sz="800">
                          <a:latin typeface="+mn-ea"/>
                          <a:ea typeface="+mn-ea"/>
                        </a:rPr>
                        <a:t>, </a:t>
                      </a:r>
                      <a:r>
                        <a:rPr lang="ko-KR" altLang="en-US" sz="800">
                          <a:latin typeface="+mn-ea"/>
                          <a:ea typeface="+mn-ea"/>
                        </a:rPr>
                        <a:t>공지사항조회</a:t>
                      </a:r>
                      <a:r>
                        <a:rPr lang="en-US" altLang="ko-KR" sz="800">
                          <a:latin typeface="+mn-ea"/>
                          <a:ea typeface="+mn-ea"/>
                        </a:rPr>
                        <a:t>, </a:t>
                      </a:r>
                      <a:r>
                        <a:rPr lang="ko-KR" altLang="en-US" sz="800">
                          <a:latin typeface="+mn-ea"/>
                          <a:ea typeface="+mn-ea"/>
                        </a:rPr>
                        <a:t>첨부서류목록조회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첨부문서 클릭</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scwin.btn_openAtchDoc_onlick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파일다운로드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4047301"/>
                  </a:ext>
                </a:extLst>
              </a:tr>
              <a:tr h="0">
                <a:tc>
                  <a:txBody>
                    <a:bodyPr/>
                    <a:lstStyle/>
                    <a:p>
                      <a:r>
                        <a:rPr lang="ko-KR" altLang="en-US" sz="800" dirty="0" err="1"/>
                        <a:t>재고번호</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scwin.grd_list_oncellclick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목록정보조회 팝업을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rgbClr val="000000"/>
                          </a:solidFill>
                          <a:effectLst/>
                          <a:latin typeface="맑은 고딕" panose="020B0503020000020004" pitchFamily="50" charset="-127"/>
                          <a:ea typeface="맑은 고딕" panose="020B0503020000020004" pitchFamily="50" charset="-127"/>
                        </a:rPr>
                        <a:t>UI-OP-01-P75 </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참조</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6658"/>
                  </a:ext>
                </a:extLst>
              </a:tr>
              <a:tr h="158451">
                <a:tc>
                  <a:txBody>
                    <a:bodyPr/>
                    <a:lstStyle/>
                    <a:p>
                      <a:r>
                        <a:rPr lang="ko-KR" altLang="en-US" sz="800" dirty="0" err="1"/>
                        <a:t>목표가공개품목조회</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scnwin.btn_openGoalPrice_onclick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목표가공개품목조회</a:t>
                      </a:r>
                      <a:r>
                        <a:rPr lang="ko-KR" altLang="en-US" sz="800" dirty="0">
                          <a:latin typeface="+mn-ea"/>
                          <a:ea typeface="+mn-ea"/>
                        </a:rPr>
                        <a:t> 팝업을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UI-BD-01-P74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8151849"/>
                  </a:ext>
                </a:extLst>
              </a:tr>
              <a:tr h="158451">
                <a:tc>
                  <a:txBody>
                    <a:bodyPr/>
                    <a:lstStyle/>
                    <a:p>
                      <a:r>
                        <a:rPr lang="ko-KR" altLang="en-US" sz="800" dirty="0"/>
                        <a:t>환율정보조회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scnwin.btn_openExchangeRate_onclick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환율정보조회 팝업을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UI-BD-01-P73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90450998"/>
                  </a:ext>
                </a:extLst>
              </a:tr>
              <a:tr h="158451">
                <a:tc>
                  <a:txBody>
                    <a:bodyPr/>
                    <a:lstStyle/>
                    <a:p>
                      <a:r>
                        <a:rPr lang="ko-KR" altLang="en-US" sz="800" strike="noStrike" dirty="0">
                          <a:solidFill>
                            <a:schemeClr val="tx1"/>
                          </a:solidFill>
                        </a:rPr>
                        <a:t>입찰결과 클릭</a:t>
                      </a:r>
                      <a:endParaRPr lang="en-US" altLang="ko-KR" sz="800" strike="noStrike" dirty="0">
                        <a:solidFill>
                          <a:schemeClr val="tx1"/>
                        </a:solidFill>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scnwin.btn_moveBidResult_onclick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strike="noStrike">
                          <a:solidFill>
                            <a:schemeClr val="tx1"/>
                          </a:solidFill>
                          <a:latin typeface="+mn-ea"/>
                          <a:ea typeface="+mn-ea"/>
                        </a:rPr>
                        <a:t>입찰결과상세조회 화면으로 이동</a:t>
                      </a:r>
                      <a:endParaRPr lang="en-US" altLang="ko-KR" sz="800" strike="noStrike"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b="0" i="0" u="none" strike="noStrike">
                          <a:solidFill>
                            <a:srgbClr val="000000"/>
                          </a:solidFill>
                          <a:effectLst/>
                          <a:latin typeface="맑은 고딕" panose="020B0503020000020004" pitchFamily="50" charset="-127"/>
                          <a:ea typeface="+mn-ea"/>
                        </a:rPr>
                        <a:t>UI-BD-09-M71</a:t>
                      </a:r>
                      <a:r>
                        <a:rPr lang="en-US" altLang="ko-KR" sz="800" strike="noStrike">
                          <a:solidFill>
                            <a:schemeClr val="tx1"/>
                          </a:solidFill>
                          <a:latin typeface="+mn-ea"/>
                          <a:ea typeface="+mn-ea"/>
                        </a:rPr>
                        <a:t> </a:t>
                      </a:r>
                      <a:r>
                        <a:rPr lang="ko-KR" altLang="en-US" sz="800" strike="noStrike">
                          <a:solidFill>
                            <a:schemeClr val="tx1"/>
                          </a:solidFill>
                          <a:latin typeface="+mn-ea"/>
                          <a:ea typeface="+mn-ea"/>
                        </a:rPr>
                        <a:t>참조</a:t>
                      </a:r>
                      <a:endParaRPr lang="ko-KR" altLang="en-US" sz="800" strike="noStrike"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53293891"/>
                  </a:ext>
                </a:extLst>
              </a:tr>
              <a:tr h="158451">
                <a:tc>
                  <a:txBody>
                    <a:bodyPr/>
                    <a:lstStyle/>
                    <a:p>
                      <a:r>
                        <a:rPr lang="ko-KR" altLang="en-US" sz="800" strike="noStrike" dirty="0">
                          <a:solidFill>
                            <a:schemeClr val="tx1"/>
                          </a:solidFill>
                        </a:rPr>
                        <a:t>보관함 클릭</a:t>
                      </a:r>
                      <a:endParaRPr lang="en-US" altLang="ko-KR" sz="800" strike="noStrike" dirty="0">
                        <a:solidFill>
                          <a:schemeClr val="tx1"/>
                        </a:solidFill>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scnwin.btn_moveLocker_onclick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strike="noStrike">
                          <a:solidFill>
                            <a:schemeClr val="tx1"/>
                          </a:solidFill>
                          <a:latin typeface="+mn-ea"/>
                          <a:ea typeface="+mn-ea"/>
                        </a:rPr>
                        <a:t>보관함 화면으로 이동</a:t>
                      </a:r>
                      <a:endParaRPr lang="en-US" altLang="ko-KR" sz="800" strike="noStrike"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kern="1200">
                          <a:solidFill>
                            <a:schemeClr val="tx1"/>
                          </a:solidFill>
                          <a:latin typeface="+mn-lt"/>
                          <a:ea typeface="+mn-ea"/>
                          <a:cs typeface="+mn-cs"/>
                        </a:rPr>
                        <a:t>업체담당자인 경우 버튼 노출</a:t>
                      </a:r>
                      <a:endParaRPr lang="en-US" altLang="ko-KR" sz="800" strike="noStrike">
                        <a:solidFill>
                          <a:schemeClr val="tx1"/>
                        </a:solidFill>
                        <a:latin typeface="+mn-ea"/>
                        <a:ea typeface="+mn-ea"/>
                      </a:endParaRPr>
                    </a:p>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b="0" i="0" u="none" strike="noStrike">
                          <a:solidFill>
                            <a:srgbClr val="000000"/>
                          </a:solidFill>
                          <a:effectLst/>
                          <a:latin typeface="맑은 고딕" panose="020B0503020000020004" pitchFamily="50" charset="-127"/>
                          <a:ea typeface="+mn-ea"/>
                        </a:rPr>
                        <a:t>UI-BD-01-M75</a:t>
                      </a:r>
                      <a:r>
                        <a:rPr lang="ko-KR" altLang="en-US" sz="800" strike="noStrike">
                          <a:solidFill>
                            <a:schemeClr val="tx1"/>
                          </a:solidFill>
                          <a:latin typeface="+mn-ea"/>
                          <a:ea typeface="+mn-ea"/>
                        </a:rPr>
                        <a:t> 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1653615"/>
                  </a:ext>
                </a:extLst>
              </a:tr>
              <a:tr h="193284">
                <a:tc>
                  <a:txBody>
                    <a:bodyPr/>
                    <a:lstStyle/>
                    <a:p>
                      <a:r>
                        <a:rPr lang="ko-KR" altLang="en-US" sz="800" strike="noStrike" dirty="0">
                          <a:solidFill>
                            <a:schemeClr val="tx1"/>
                          </a:solidFill>
                        </a:rPr>
                        <a:t>이전입찰내역불러오기 클릭 </a:t>
                      </a:r>
                      <a:endParaRPr lang="en-US" altLang="ko-KR" sz="800" strike="noStrike" dirty="0">
                        <a:solidFill>
                          <a:schemeClr val="tx1"/>
                        </a:solidFill>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scnwin.btn_openPreviousBidDetail_onclick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strike="noStrike">
                          <a:solidFill>
                            <a:schemeClr val="tx1"/>
                          </a:solidFill>
                          <a:latin typeface="+mn-ea"/>
                          <a:ea typeface="+mn-ea"/>
                        </a:rPr>
                        <a:t>이전공고입찰내역등록 팝업을 호출</a:t>
                      </a:r>
                      <a:endParaRPr lang="en-US" altLang="ko-KR" sz="800" strike="noStrike"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kern="1200">
                          <a:solidFill>
                            <a:schemeClr val="tx1"/>
                          </a:solidFill>
                          <a:latin typeface="+mn-lt"/>
                          <a:ea typeface="+mn-ea"/>
                          <a:cs typeface="+mn-cs"/>
                        </a:rPr>
                        <a:t>업체담당자인 경우 버튼 노출</a:t>
                      </a:r>
                      <a:endParaRPr lang="en-US" altLang="ko-KR" sz="800" kern="1200">
                        <a:solidFill>
                          <a:schemeClr val="tx1"/>
                        </a:solidFill>
                        <a:latin typeface="+mn-lt"/>
                        <a:ea typeface="+mn-ea"/>
                        <a:cs typeface="+mn-cs"/>
                      </a:endParaRPr>
                    </a:p>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en-US" altLang="ko-KR" sz="800" b="0" i="0" u="none" strike="noStrike">
                          <a:solidFill>
                            <a:srgbClr val="000000"/>
                          </a:solidFill>
                          <a:effectLst/>
                          <a:latin typeface="맑은 고딕" panose="020B0503020000020004" pitchFamily="50" charset="-127"/>
                          <a:ea typeface="+mn-ea"/>
                        </a:rPr>
                        <a:t>UI-BD-01-P78</a:t>
                      </a:r>
                      <a:r>
                        <a:rPr lang="ko-KR" altLang="en-US" sz="800" b="0" i="0" u="none" strike="noStrike">
                          <a:solidFill>
                            <a:schemeClr val="tx1"/>
                          </a:solidFill>
                          <a:effectLst/>
                          <a:latin typeface="+mn-ea"/>
                          <a:ea typeface="+mn-ea"/>
                        </a:rPr>
                        <a:t> 참조</a:t>
                      </a:r>
                      <a:endParaRPr lang="ko-KR" altLang="en-US" sz="80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67303301"/>
                  </a:ext>
                </a:extLst>
              </a:tr>
              <a:tr h="248047">
                <a:tc>
                  <a:txBody>
                    <a:bodyPr/>
                    <a:lstStyle/>
                    <a:p>
                      <a:r>
                        <a:rPr lang="ko-KR" altLang="en-US" sz="800" dirty="0" err="1"/>
                        <a:t>보관함추가</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scnwin.btn_addItem_onclick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선택된 품목을 보관함에 추가함</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kern="1200">
                          <a:solidFill>
                            <a:schemeClr val="tx1"/>
                          </a:solidFill>
                          <a:latin typeface="+mn-lt"/>
                          <a:ea typeface="+mn-ea"/>
                          <a:cs typeface="+mn-cs"/>
                        </a:rPr>
                        <a:t>업체담당자인 경우 버튼 노출</a:t>
                      </a:r>
                      <a:endParaRPr lang="en-US" altLang="ko-KR" sz="800" kern="1200">
                        <a:solidFill>
                          <a:schemeClr val="tx1"/>
                        </a:solidFill>
                        <a:latin typeface="+mn-lt"/>
                        <a:ea typeface="+mn-ea"/>
                        <a:cs typeface="+mn-cs"/>
                      </a:endParaRPr>
                    </a:p>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b="0" i="0" u="none" strike="noStrike">
                          <a:solidFill>
                            <a:srgbClr val="000000"/>
                          </a:solidFill>
                          <a:effectLst/>
                          <a:latin typeface="맑은 고딕" panose="020B0503020000020004" pitchFamily="50" charset="-127"/>
                          <a:ea typeface="+mn-ea"/>
                        </a:rPr>
                        <a:t>보관함추가</a:t>
                      </a:r>
                      <a:endParaRPr lang="ko-KR" altLang="en-US" sz="80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5647824"/>
                  </a:ext>
                </a:extLst>
              </a:tr>
              <a:tr h="193284">
                <a:tc>
                  <a:txBody>
                    <a:bodyPr/>
                    <a:lstStyle/>
                    <a:p>
                      <a:r>
                        <a:rPr lang="ko-KR" altLang="en-US" sz="800" dirty="0" err="1"/>
                        <a:t>보관함삭제</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scnwin.btn_deleteItem_onclick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선택된 품목을 보관함에서 제거함</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kern="1200">
                          <a:solidFill>
                            <a:schemeClr val="tx1"/>
                          </a:solidFill>
                          <a:latin typeface="+mn-lt"/>
                          <a:ea typeface="+mn-ea"/>
                          <a:cs typeface="+mn-cs"/>
                        </a:rPr>
                        <a:t>업체담당자인 경우 버튼 노출</a:t>
                      </a:r>
                      <a:endParaRPr lang="en-US" altLang="ko-KR" sz="800" kern="1200">
                        <a:solidFill>
                          <a:schemeClr val="tx1"/>
                        </a:solidFill>
                        <a:latin typeface="+mn-lt"/>
                        <a:ea typeface="+mn-ea"/>
                        <a:cs typeface="+mn-cs"/>
                      </a:endParaRPr>
                    </a:p>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b="0" i="0" u="none" strike="noStrike">
                          <a:solidFill>
                            <a:srgbClr val="000000"/>
                          </a:solidFill>
                          <a:effectLst/>
                          <a:latin typeface="맑은 고딕" panose="020B0503020000020004" pitchFamily="50" charset="-127"/>
                          <a:ea typeface="+mn-ea"/>
                        </a:rPr>
                        <a:t>보관함제거</a:t>
                      </a:r>
                      <a:endParaRPr lang="ko-KR" altLang="en-US" sz="80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29332849"/>
                  </a:ext>
                </a:extLst>
              </a:tr>
              <a:tr h="0">
                <a:tc>
                  <a:txBody>
                    <a:bodyPr/>
                    <a:lstStyle/>
                    <a:p>
                      <a:r>
                        <a:rPr lang="ko-KR" altLang="en-US" sz="800" dirty="0">
                          <a:solidFill>
                            <a:schemeClr val="tx1"/>
                          </a:solidFill>
                        </a:rPr>
                        <a:t>관심공고등록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scnwin.btn_favorite_onclick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solidFill>
                            <a:schemeClr val="tx1"/>
                          </a:solidFill>
                          <a:latin typeface="+mn-ea"/>
                          <a:ea typeface="+mn-ea"/>
                        </a:rPr>
                        <a:t>해당 공고를 </a:t>
                      </a:r>
                      <a:r>
                        <a:rPr lang="ko-KR" altLang="en-US" sz="800" dirty="0" err="1">
                          <a:solidFill>
                            <a:schemeClr val="tx1"/>
                          </a:solidFill>
                          <a:latin typeface="+mn-ea"/>
                          <a:ea typeface="+mn-ea"/>
                        </a:rPr>
                        <a:t>나의입찰정보에</a:t>
                      </a:r>
                      <a:r>
                        <a:rPr lang="ko-KR" altLang="en-US" sz="800" dirty="0">
                          <a:solidFill>
                            <a:schemeClr val="tx1"/>
                          </a:solidFill>
                          <a:latin typeface="+mn-ea"/>
                          <a:ea typeface="+mn-ea"/>
                        </a:rPr>
                        <a:t> 관심공고여부를 등록 </a:t>
                      </a:r>
                      <a:r>
                        <a:rPr lang="ko-KR" altLang="en-US" sz="800">
                          <a:solidFill>
                            <a:schemeClr val="tx1"/>
                          </a:solidFill>
                          <a:latin typeface="+mn-ea"/>
                          <a:ea typeface="+mn-ea"/>
                        </a:rPr>
                        <a:t>또는 수정</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kern="1200" dirty="0">
                          <a:solidFill>
                            <a:schemeClr val="tx1"/>
                          </a:solidFill>
                          <a:latin typeface="+mn-lt"/>
                          <a:ea typeface="+mn-ea"/>
                          <a:cs typeface="+mn-cs"/>
                        </a:rPr>
                        <a:t>업체담당자인 경우 버튼 노출</a:t>
                      </a:r>
                      <a:endParaRPr lang="en-US" altLang="ko-KR" sz="800" kern="1200" dirty="0">
                        <a:solidFill>
                          <a:schemeClr val="tx1"/>
                        </a:solidFill>
                        <a:latin typeface="+mn-lt"/>
                        <a:ea typeface="+mn-ea"/>
                        <a:cs typeface="+mn-cs"/>
                      </a:endParaRPr>
                    </a:p>
                    <a:p>
                      <a:pPr marL="88900" marR="0" lvl="0" indent="-88900" algn="l" defTabSz="914400" rtl="0" eaLnBrk="1" fontAlgn="auto" latinLnBrk="1" hangingPunct="1">
                        <a:lnSpc>
                          <a:spcPct val="100000"/>
                        </a:lnSpc>
                        <a:spcBef>
                          <a:spcPts val="0"/>
                        </a:spcBef>
                        <a:spcAft>
                          <a:spcPts val="0"/>
                        </a:spcAft>
                        <a:buClrTx/>
                        <a:buSzTx/>
                        <a:buFont typeface="Arial" panose="020B0604020202020204" pitchFamily="34" charset="0"/>
                        <a:buChar char="•"/>
                        <a:tabLst>
                          <a:tab pos="88900" algn="l"/>
                        </a:tabLst>
                        <a:defRPr/>
                      </a:pPr>
                      <a:r>
                        <a:rPr lang="ko-KR" altLang="en-US" sz="800" b="0" i="0" u="none" strike="noStrike" dirty="0">
                          <a:solidFill>
                            <a:srgbClr val="000000"/>
                          </a:solidFill>
                          <a:effectLst/>
                          <a:latin typeface="맑은 고딕" panose="020B0503020000020004" pitchFamily="50" charset="-127"/>
                          <a:ea typeface="+mn-ea"/>
                        </a:rPr>
                        <a:t>관심공고등록</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68535087"/>
                  </a:ext>
                </a:extLst>
              </a:tr>
            </a:tbl>
          </a:graphicData>
        </a:graphic>
      </p:graphicFrame>
      <p:sp>
        <p:nvSpPr>
          <p:cNvPr id="2" name="Text Box 73">
            <a:extLst>
              <a:ext uri="{FF2B5EF4-FFF2-40B4-BE49-F238E27FC236}">
                <a16:creationId xmlns:a16="http://schemas.microsoft.com/office/drawing/2014/main" id="{343E5917-E922-4264-3D1B-FE11E3A7A9A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904032887"/>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조회일자</a:t>
            </a:r>
            <a:r>
              <a:rPr lang="ko-KR" altLang="en-US" dirty="0"/>
              <a:t> 정보 표시</a:t>
            </a:r>
            <a:r>
              <a:rPr lang="en-US" altLang="ko-KR" dirty="0"/>
              <a:t/>
            </a:r>
            <a:br>
              <a:rPr lang="en-US" altLang="ko-KR" dirty="0"/>
            </a:br>
            <a:r>
              <a:rPr lang="en-US" altLang="ko-KR" dirty="0"/>
              <a:t>- </a:t>
            </a:r>
            <a:r>
              <a:rPr lang="ko-KR" altLang="en-US" dirty="0"/>
              <a:t>직접입력</a:t>
            </a:r>
            <a:r>
              <a:rPr lang="en-US" altLang="ko-KR" dirty="0"/>
              <a:t>, </a:t>
            </a:r>
            <a:r>
              <a:rPr lang="ko-KR" altLang="en-US" dirty="0"/>
              <a:t>날짜 설정을 통한 검색</a:t>
            </a:r>
            <a:endParaRPr lang="en-US" altLang="ko-KR" dirty="0"/>
          </a:p>
          <a:p>
            <a:pPr marL="228600" indent="-228600">
              <a:buFont typeface="+mj-lt"/>
              <a:buAutoNum type="arabicPeriod"/>
            </a:pPr>
            <a:r>
              <a:rPr lang="ko-KR" altLang="en-US" dirty="0"/>
              <a:t>총 건수 표시</a:t>
            </a:r>
            <a:endParaRPr lang="en-US" altLang="ko-KR" dirty="0"/>
          </a:p>
          <a:p>
            <a:pPr marL="228600" indent="-228600">
              <a:buFont typeface="+mj-lt"/>
              <a:buAutoNum type="arabicPeriod"/>
            </a:pPr>
            <a:r>
              <a:rPr lang="ko-KR" altLang="en-US" dirty="0"/>
              <a:t>목록에서 기준이 되는 </a:t>
            </a:r>
            <a:r>
              <a:rPr lang="ko-KR" altLang="en-US" dirty="0" err="1"/>
              <a:t>미국환</a:t>
            </a:r>
            <a:r>
              <a:rPr lang="ko-KR" altLang="en-US" dirty="0"/>
              <a:t> 정보 </a:t>
            </a:r>
            <a:r>
              <a:rPr lang="ko-KR" altLang="en-US" dirty="0" err="1"/>
              <a:t>최상단</a:t>
            </a:r>
            <a:r>
              <a:rPr lang="ko-KR" altLang="en-US" dirty="0"/>
              <a:t> 표시</a:t>
            </a:r>
            <a:r>
              <a:rPr lang="en-US" altLang="ko-KR" dirty="0"/>
              <a:t/>
            </a:r>
            <a:br>
              <a:rPr lang="en-US" altLang="ko-KR" dirty="0"/>
            </a:br>
            <a:r>
              <a:rPr lang="en-US" altLang="ko-KR" dirty="0"/>
              <a:t>- </a:t>
            </a:r>
            <a:r>
              <a:rPr lang="ko-KR" altLang="en-US" dirty="0"/>
              <a:t>이후 </a:t>
            </a:r>
            <a:r>
              <a:rPr lang="en-US" altLang="ko-KR" dirty="0"/>
              <a:t>DB</a:t>
            </a:r>
            <a:r>
              <a:rPr lang="ko-KR" altLang="en-US" dirty="0"/>
              <a:t>상에 존재하는 순서대로 표시</a:t>
            </a:r>
            <a:r>
              <a:rPr lang="en-US" altLang="ko-KR" dirty="0"/>
              <a:t/>
            </a:r>
            <a:br>
              <a:rPr lang="en-US" altLang="ko-KR" dirty="0"/>
            </a:br>
            <a:r>
              <a:rPr lang="en-US" altLang="ko-KR" dirty="0"/>
              <a:t>- </a:t>
            </a:r>
            <a:r>
              <a:rPr lang="ko-KR" altLang="en-US" dirty="0" err="1"/>
              <a:t>매도율</a:t>
            </a:r>
            <a:r>
              <a:rPr lang="en-US" altLang="ko-KR" dirty="0"/>
              <a:t>, </a:t>
            </a:r>
            <a:r>
              <a:rPr lang="ko-KR" altLang="en-US" dirty="0"/>
              <a:t>기준율</a:t>
            </a:r>
            <a:r>
              <a:rPr lang="en-US" altLang="ko-KR" dirty="0"/>
              <a:t>, </a:t>
            </a:r>
            <a:r>
              <a:rPr lang="ko-KR" altLang="en-US" dirty="0"/>
              <a:t>달러환산율에서 기준율</a:t>
            </a:r>
            <a:r>
              <a:rPr lang="en-US" altLang="ko-KR" dirty="0"/>
              <a:t>, </a:t>
            </a:r>
            <a:r>
              <a:rPr lang="ko-KR" altLang="en-US" dirty="0" err="1"/>
              <a:t>달러환산율</a:t>
            </a:r>
            <a:r>
              <a:rPr lang="ko-KR" altLang="en-US" dirty="0"/>
              <a:t> 뒤 </a:t>
            </a:r>
            <a:r>
              <a:rPr lang="en-US" altLang="ko-KR" dirty="0"/>
              <a:t>KRW, USD </a:t>
            </a:r>
            <a:r>
              <a:rPr lang="ko-KR" altLang="en-US" dirty="0"/>
              <a:t>표시를 고정하여 추가 노출</a:t>
            </a:r>
            <a:endParaRPr lang="en-US" altLang="ko-KR" dirty="0"/>
          </a:p>
          <a:p>
            <a:pPr marL="228600" indent="-228600">
              <a:buFont typeface="+mj-lt"/>
              <a:buAutoNum type="arabicPeriod"/>
            </a:pPr>
            <a:r>
              <a:rPr lang="en-US" altLang="ko-KR" dirty="0"/>
              <a:t>10</a:t>
            </a:r>
            <a:r>
              <a:rPr lang="ko-KR" altLang="en-US" dirty="0"/>
              <a:t>개 노출 이후 </a:t>
            </a:r>
            <a:r>
              <a:rPr lang="ko-KR" altLang="en-US" dirty="0" err="1"/>
              <a:t>더보기</a:t>
            </a:r>
            <a:r>
              <a:rPr lang="ko-KR" altLang="en-US" dirty="0"/>
              <a:t> 버튼 클릭으로 </a:t>
            </a:r>
            <a:r>
              <a:rPr lang="en-US" altLang="ko-KR" dirty="0"/>
              <a:t>10</a:t>
            </a:r>
            <a:r>
              <a:rPr lang="ko-KR" altLang="en-US" dirty="0"/>
              <a:t>개씩 추가 로드</a:t>
            </a:r>
            <a:endParaRPr lang="en-US" altLang="ko-KR"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296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환율정보</a:t>
            </a:r>
            <a:r>
              <a:rPr lang="ko-KR" altLang="en-US" dirty="0">
                <a:latin typeface="+mn-ea"/>
              </a:rPr>
              <a:t> 조회</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환율정보</a:t>
            </a:r>
            <a:r>
              <a:rPr lang="ko-KR" altLang="en-US" dirty="0">
                <a:latin typeface="+mn-ea"/>
              </a:rPr>
              <a:t> 조회</a:t>
            </a:r>
            <a:r>
              <a:rPr lang="ko-KR" altLang="en-US" dirty="0"/>
              <a:t> 화면</a:t>
            </a:r>
            <a:endParaRPr lang="ko-KR" altLang="en-US" dirty="0">
              <a:latin typeface="+mn-ea"/>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latin typeface="+mn-ea"/>
              </a:rPr>
              <a:t>&gt; </a:t>
            </a:r>
            <a:r>
              <a:rPr lang="ko-KR" altLang="en-US" dirty="0">
                <a:latin typeface="+mn-ea"/>
              </a:rPr>
              <a:t>입찰 공고 </a:t>
            </a:r>
            <a:r>
              <a:rPr lang="en-US" altLang="ko-KR" dirty="0">
                <a:latin typeface="+mn-ea"/>
              </a:rPr>
              <a:t>&gt; </a:t>
            </a:r>
            <a:r>
              <a:rPr lang="ko-KR" altLang="en-US" dirty="0" err="1">
                <a:latin typeface="+mn-ea"/>
              </a:rPr>
              <a:t>환율정보</a:t>
            </a:r>
            <a:r>
              <a:rPr lang="ko-KR" altLang="en-US" dirty="0">
                <a:latin typeface="+mn-ea"/>
              </a:rPr>
              <a:t> 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a:solidFill>
                  <a:srgbClr val="000000"/>
                </a:solidFill>
                <a:latin typeface="맑은 고딕" panose="020B0503020000020004" pitchFamily="50" charset="-127"/>
              </a:rPr>
              <a:t>MUI-BD-01-M74</a:t>
            </a:r>
            <a:endParaRPr lang="ko-KR" altLang="en-US" dirty="0">
              <a:solidFill>
                <a:srgbClr val="000000"/>
              </a:solidFill>
              <a:latin typeface="맑은 고딕" panose="020B0503020000020004" pitchFamily="50" charset="-127"/>
            </a:endParaRPr>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pPr fontAlgn="ctr"/>
            <a:r>
              <a:rPr lang="ko-KR" altLang="en-US" sz="800" dirty="0" err="1">
                <a:latin typeface="+mn-ea"/>
              </a:rPr>
              <a:t>환율정보</a:t>
            </a:r>
            <a:r>
              <a:rPr lang="ko-KR" altLang="en-US" sz="800" dirty="0">
                <a:latin typeface="+mn-ea"/>
              </a:rPr>
              <a:t> 조회</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23" name="직사각형 12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0" name="직선 연결선 109">
            <a:extLst>
              <a:ext uri="{FF2B5EF4-FFF2-40B4-BE49-F238E27FC236}">
                <a16:creationId xmlns:a16="http://schemas.microsoft.com/office/drawing/2014/main" id="{E9293055-D5CD-4B9E-7F64-64B2D2CA7A52}"/>
              </a:ext>
            </a:extLst>
          </p:cNvPr>
          <p:cNvCxnSpPr/>
          <p:nvPr/>
        </p:nvCxnSpPr>
        <p:spPr>
          <a:xfrm>
            <a:off x="675399" y="617004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6" name="TextBox 125">
            <a:extLst>
              <a:ext uri="{FF2B5EF4-FFF2-40B4-BE49-F238E27FC236}">
                <a16:creationId xmlns:a16="http://schemas.microsoft.com/office/drawing/2014/main" id="{FFC49AEA-2A8F-250C-A86A-A7751D9706C3}"/>
              </a:ext>
            </a:extLst>
          </p:cNvPr>
          <p:cNvSpPr txBox="1"/>
          <p:nvPr/>
        </p:nvSpPr>
        <p:spPr>
          <a:xfrm>
            <a:off x="748417" y="2797553"/>
            <a:ext cx="247786"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순번</a:t>
            </a:r>
            <a:endParaRPr lang="en-US" altLang="ko-KR" sz="600" dirty="0">
              <a:solidFill>
                <a:schemeClr val="tx1">
                  <a:lumMod val="85000"/>
                  <a:lumOff val="15000"/>
                </a:schemeClr>
              </a:solidFill>
              <a:latin typeface="맑은 고딕" panose="020B0503020000020004" pitchFamily="50" charset="-127"/>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1041640" y="2797553"/>
            <a:ext cx="498650"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국가 및 화폐</a:t>
            </a:r>
            <a:endParaRPr lang="en-US" altLang="ko-KR" sz="600" dirty="0">
              <a:solidFill>
                <a:schemeClr val="tx1">
                  <a:lumMod val="85000"/>
                  <a:lumOff val="15000"/>
                </a:schemeClr>
              </a:solidFill>
              <a:latin typeface="맑은 고딕" panose="020B0503020000020004" pitchFamily="50" charset="-127"/>
            </a:endParaRPr>
          </a:p>
        </p:txBody>
      </p:sp>
      <p:sp>
        <p:nvSpPr>
          <p:cNvPr id="135" name="TextBox 134">
            <a:extLst>
              <a:ext uri="{FF2B5EF4-FFF2-40B4-BE49-F238E27FC236}">
                <a16:creationId xmlns:a16="http://schemas.microsoft.com/office/drawing/2014/main" id="{FFC49AEA-2A8F-250C-A86A-A7751D9706C3}"/>
              </a:ext>
            </a:extLst>
          </p:cNvPr>
          <p:cNvSpPr txBox="1"/>
          <p:nvPr/>
        </p:nvSpPr>
        <p:spPr>
          <a:xfrm>
            <a:off x="2289144" y="2797553"/>
            <a:ext cx="979869" cy="92333"/>
          </a:xfrm>
          <a:prstGeom prst="rect">
            <a:avLst/>
          </a:prstGeom>
          <a:noFill/>
        </p:spPr>
        <p:txBody>
          <a:bodyPr wrap="square" lIns="0" tIns="0" rIns="0" bIns="0" rtlCol="0">
            <a:spAutoFit/>
          </a:bodyPr>
          <a:lstStyle/>
          <a:p>
            <a:pPr algn="r"/>
            <a:r>
              <a:rPr lang="ko-KR" altLang="en-US" sz="600" dirty="0" err="1">
                <a:solidFill>
                  <a:schemeClr val="tx1">
                    <a:lumMod val="85000"/>
                    <a:lumOff val="15000"/>
                  </a:schemeClr>
                </a:solidFill>
                <a:latin typeface="맑은 고딕" panose="020B0503020000020004" pitchFamily="50" charset="-127"/>
              </a:rPr>
              <a:t>매도율</a:t>
            </a:r>
            <a:r>
              <a:rPr lang="en-US" altLang="ko-KR" sz="600" dirty="0">
                <a:solidFill>
                  <a:schemeClr val="tx1">
                    <a:lumMod val="85000"/>
                    <a:lumOff val="15000"/>
                  </a:schemeClr>
                </a:solidFill>
                <a:latin typeface="맑은 고딕" panose="020B0503020000020004" pitchFamily="50" charset="-127"/>
              </a:rPr>
              <a:t>, </a:t>
            </a:r>
            <a:r>
              <a:rPr lang="ko-KR" altLang="en-US" sz="600" dirty="0">
                <a:solidFill>
                  <a:schemeClr val="tx1">
                    <a:lumMod val="85000"/>
                    <a:lumOff val="15000"/>
                  </a:schemeClr>
                </a:solidFill>
                <a:latin typeface="맑은 고딕" panose="020B0503020000020004" pitchFamily="50" charset="-127"/>
              </a:rPr>
              <a:t>기준율</a:t>
            </a:r>
            <a:r>
              <a:rPr lang="en-US" altLang="ko-KR" sz="600" dirty="0">
                <a:solidFill>
                  <a:schemeClr val="tx1">
                    <a:lumMod val="85000"/>
                    <a:lumOff val="15000"/>
                  </a:schemeClr>
                </a:solidFill>
                <a:latin typeface="맑은 고딕" panose="020B0503020000020004" pitchFamily="50" charset="-127"/>
              </a:rPr>
              <a:t>, </a:t>
            </a:r>
            <a:r>
              <a:rPr lang="ko-KR" altLang="en-US" sz="600" dirty="0" err="1">
                <a:solidFill>
                  <a:schemeClr val="tx1">
                    <a:lumMod val="85000"/>
                    <a:lumOff val="15000"/>
                  </a:schemeClr>
                </a:solidFill>
                <a:latin typeface="맑은 고딕" panose="020B0503020000020004" pitchFamily="50" charset="-127"/>
              </a:rPr>
              <a:t>달러환산율</a:t>
            </a:r>
            <a:endParaRPr lang="en-US" altLang="ko-KR" sz="600" dirty="0">
              <a:solidFill>
                <a:schemeClr val="tx1">
                  <a:lumMod val="85000"/>
                  <a:lumOff val="15000"/>
                </a:schemeClr>
              </a:solidFill>
              <a:latin typeface="맑은 고딕" panose="020B0503020000020004" pitchFamily="50" charset="-127"/>
            </a:endParaRPr>
          </a:p>
        </p:txBody>
      </p:sp>
      <p:grpSp>
        <p:nvGrpSpPr>
          <p:cNvPr id="6" name="그룹 5"/>
          <p:cNvGrpSpPr/>
          <p:nvPr/>
        </p:nvGrpSpPr>
        <p:grpSpPr>
          <a:xfrm>
            <a:off x="715616" y="2961907"/>
            <a:ext cx="2652743" cy="467510"/>
            <a:chOff x="715616" y="3407067"/>
            <a:chExt cx="2652743" cy="467510"/>
          </a:xfrm>
        </p:grpSpPr>
        <p:sp>
          <p:nvSpPr>
            <p:cNvPr id="136" name="모서리가 둥근 직사각형 135"/>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7" name="TextBox 136">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38" name="TextBox 137">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US-</a:t>
              </a:r>
              <a:r>
                <a:rPr lang="ko-KR" altLang="en-US" sz="700" dirty="0">
                  <a:solidFill>
                    <a:schemeClr val="tx1">
                      <a:lumMod val="85000"/>
                      <a:lumOff val="15000"/>
                    </a:schemeClr>
                  </a:solidFill>
                  <a:latin typeface="맑은 고딕" panose="020B0503020000020004" pitchFamily="50" charset="-127"/>
                </a:rPr>
                <a:t>미국</a:t>
              </a:r>
              <a:r>
                <a:rPr lang="en-US" altLang="ko-KR" sz="700" dirty="0">
                  <a:solidFill>
                    <a:schemeClr val="tx1">
                      <a:lumMod val="85000"/>
                      <a:lumOff val="15000"/>
                    </a:schemeClr>
                  </a:solidFill>
                  <a:latin typeface="맑은 고딕" panose="020B0503020000020004" pitchFamily="50" charset="-127"/>
                </a:rPr>
                <a:t/>
              </a:r>
              <a:br>
                <a:rPr lang="en-US" altLang="ko-KR" sz="700" dirty="0">
                  <a:solidFill>
                    <a:schemeClr val="tx1">
                      <a:lumMod val="85000"/>
                      <a:lumOff val="15000"/>
                    </a:schemeClr>
                  </a:solidFill>
                  <a:latin typeface="맑은 고딕" panose="020B0503020000020004" pitchFamily="50" charset="-127"/>
                </a:rPr>
              </a:br>
              <a:r>
                <a:rPr lang="en-US" altLang="ko-KR" sz="700" dirty="0">
                  <a:solidFill>
                    <a:schemeClr val="tx1">
                      <a:lumMod val="85000"/>
                      <a:lumOff val="15000"/>
                    </a:schemeClr>
                  </a:solidFill>
                  <a:latin typeface="맑은 고딕" panose="020B0503020000020004" pitchFamily="50" charset="-127"/>
                </a:rPr>
                <a:t>USD-</a:t>
              </a:r>
              <a:r>
                <a:rPr lang="ko-KR" altLang="en-US" sz="700" dirty="0">
                  <a:solidFill>
                    <a:schemeClr val="tx1">
                      <a:lumMod val="85000"/>
                      <a:lumOff val="15000"/>
                    </a:schemeClr>
                  </a:solidFill>
                  <a:latin typeface="맑은 고딕" panose="020B0503020000020004" pitchFamily="50" charset="-127"/>
                </a:rPr>
                <a:t>미 달러</a:t>
              </a:r>
              <a:endParaRPr lang="en-US" altLang="ko-KR" sz="700" dirty="0">
                <a:solidFill>
                  <a:schemeClr val="tx1">
                    <a:lumMod val="85000"/>
                    <a:lumOff val="15000"/>
                  </a:schemeClr>
                </a:solidFill>
                <a:latin typeface="맑은 고딕" panose="020B0503020000020004" pitchFamily="50" charset="-127"/>
              </a:endParaRPr>
            </a:p>
          </p:txBody>
        </p:sp>
        <p:sp>
          <p:nvSpPr>
            <p:cNvPr id="144" name="TextBox 143">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1,464.30 KRW</a:t>
              </a:r>
            </a:p>
            <a:p>
              <a:pPr algn="r"/>
              <a:r>
                <a:rPr lang="en-US" altLang="ko-KR" sz="700" dirty="0">
                  <a:solidFill>
                    <a:schemeClr val="tx1">
                      <a:lumMod val="85000"/>
                      <a:lumOff val="15000"/>
                    </a:schemeClr>
                  </a:solidFill>
                  <a:latin typeface="맑은 고딕" panose="020B0503020000020004" pitchFamily="50" charset="-127"/>
                </a:rPr>
                <a:t>1.0000 USD</a:t>
              </a:r>
            </a:p>
          </p:txBody>
        </p:sp>
      </p:grpSp>
      <p:grpSp>
        <p:nvGrpSpPr>
          <p:cNvPr id="145" name="그룹 144"/>
          <p:cNvGrpSpPr/>
          <p:nvPr/>
        </p:nvGrpSpPr>
        <p:grpSpPr>
          <a:xfrm>
            <a:off x="715616" y="3485414"/>
            <a:ext cx="2652743" cy="467510"/>
            <a:chOff x="715616" y="3407067"/>
            <a:chExt cx="2652743" cy="467510"/>
          </a:xfrm>
        </p:grpSpPr>
        <p:sp>
          <p:nvSpPr>
            <p:cNvPr id="147" name="모서리가 둥근 직사각형 146"/>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8" name="TextBox 147">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NO-</a:t>
              </a:r>
              <a:r>
                <a:rPr lang="ko-KR" altLang="en-US" sz="700" dirty="0">
                  <a:solidFill>
                    <a:schemeClr val="tx1">
                      <a:lumMod val="85000"/>
                      <a:lumOff val="15000"/>
                    </a:schemeClr>
                  </a:solidFill>
                  <a:latin typeface="맑은 고딕" panose="020B0503020000020004" pitchFamily="50" charset="-127"/>
                </a:rPr>
                <a:t>노르웨이</a:t>
              </a:r>
              <a:r>
                <a:rPr lang="en-US" altLang="ko-KR" sz="700" dirty="0">
                  <a:solidFill>
                    <a:schemeClr val="tx1">
                      <a:lumMod val="85000"/>
                      <a:lumOff val="15000"/>
                    </a:schemeClr>
                  </a:solidFill>
                  <a:latin typeface="맑은 고딕" panose="020B0503020000020004" pitchFamily="50" charset="-127"/>
                </a:rPr>
                <a:t/>
              </a:r>
              <a:br>
                <a:rPr lang="en-US" altLang="ko-KR" sz="700" dirty="0">
                  <a:solidFill>
                    <a:schemeClr val="tx1">
                      <a:lumMod val="85000"/>
                      <a:lumOff val="15000"/>
                    </a:schemeClr>
                  </a:solidFill>
                  <a:latin typeface="맑은 고딕" panose="020B0503020000020004" pitchFamily="50" charset="-127"/>
                </a:rPr>
              </a:br>
              <a:r>
                <a:rPr lang="en-US" altLang="ko-KR" sz="700" dirty="0">
                  <a:solidFill>
                    <a:schemeClr val="tx1">
                      <a:lumMod val="85000"/>
                      <a:lumOff val="15000"/>
                    </a:schemeClr>
                  </a:solidFill>
                  <a:latin typeface="맑은 고딕" panose="020B0503020000020004" pitchFamily="50" charset="-127"/>
                </a:rPr>
                <a:t>NOK-</a:t>
              </a:r>
              <a:r>
                <a:rPr lang="ko-KR" altLang="en-US" sz="700" dirty="0">
                  <a:solidFill>
                    <a:schemeClr val="tx1">
                      <a:lumMod val="85000"/>
                      <a:lumOff val="15000"/>
                    </a:schemeClr>
                  </a:solidFill>
                  <a:latin typeface="맑은 고딕" panose="020B0503020000020004" pitchFamily="50" charset="-127"/>
                </a:rPr>
                <a:t>노르웨이 </a:t>
              </a:r>
              <a:r>
                <a:rPr lang="ko-KR" altLang="en-US" sz="700" dirty="0" err="1">
                  <a:solidFill>
                    <a:schemeClr val="tx1">
                      <a:lumMod val="85000"/>
                      <a:lumOff val="15000"/>
                    </a:schemeClr>
                  </a:solidFill>
                  <a:latin typeface="맑은 고딕" panose="020B0503020000020004" pitchFamily="50" charset="-127"/>
                </a:rPr>
                <a:t>크로네</a:t>
              </a:r>
              <a:endParaRPr lang="en-US" altLang="ko-KR" sz="700" dirty="0">
                <a:solidFill>
                  <a:schemeClr val="tx1">
                    <a:lumMod val="85000"/>
                    <a:lumOff val="15000"/>
                  </a:schemeClr>
                </a:solidFill>
                <a:latin typeface="맑은 고딕" panose="020B0503020000020004" pitchFamily="50" charset="-127"/>
              </a:endParaRPr>
            </a:p>
          </p:txBody>
        </p:sp>
        <p:sp>
          <p:nvSpPr>
            <p:cNvPr id="150" name="TextBox 149">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151.33 KRW</a:t>
              </a:r>
            </a:p>
            <a:p>
              <a:pPr algn="r"/>
              <a:r>
                <a:rPr lang="en-US" altLang="ko-KR" sz="700" dirty="0">
                  <a:solidFill>
                    <a:schemeClr val="tx1">
                      <a:lumMod val="85000"/>
                      <a:lumOff val="15000"/>
                    </a:schemeClr>
                  </a:solidFill>
                  <a:latin typeface="맑은 고딕" panose="020B0503020000020004" pitchFamily="50" charset="-127"/>
                </a:rPr>
                <a:t>0.1033 USD</a:t>
              </a:r>
            </a:p>
          </p:txBody>
        </p:sp>
      </p:grpSp>
      <p:sp>
        <p:nvSpPr>
          <p:cNvPr id="153" name="양쪽 모서리가 둥근 사각형 152"/>
          <p:cNvSpPr/>
          <p:nvPr/>
        </p:nvSpPr>
        <p:spPr>
          <a:xfrm>
            <a:off x="3795734" y="3011653"/>
            <a:ext cx="2712027" cy="3215510"/>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4" name="모서리가 둥근 직사각형 153"/>
          <p:cNvSpPr/>
          <p:nvPr/>
        </p:nvSpPr>
        <p:spPr>
          <a:xfrm>
            <a:off x="4881747" y="3048280"/>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61" name="그룹 160"/>
          <p:cNvGrpSpPr/>
          <p:nvPr/>
        </p:nvGrpSpPr>
        <p:grpSpPr>
          <a:xfrm>
            <a:off x="6284673" y="3182696"/>
            <a:ext cx="94010" cy="94010"/>
            <a:chOff x="6812560" y="3297172"/>
            <a:chExt cx="94010" cy="94010"/>
          </a:xfrm>
        </p:grpSpPr>
        <p:cxnSp>
          <p:nvCxnSpPr>
            <p:cNvPr id="162" name="직선 연결선 16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3" name="직선 연결선 16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4" name="TextBox 163">
            <a:extLst>
              <a:ext uri="{FF2B5EF4-FFF2-40B4-BE49-F238E27FC236}">
                <a16:creationId xmlns:a16="http://schemas.microsoft.com/office/drawing/2014/main" id="{FFC49AEA-2A8F-250C-A86A-A7751D9706C3}"/>
              </a:ext>
            </a:extLst>
          </p:cNvPr>
          <p:cNvSpPr txBox="1"/>
          <p:nvPr/>
        </p:nvSpPr>
        <p:spPr>
          <a:xfrm>
            <a:off x="3924811" y="3163375"/>
            <a:ext cx="1798758" cy="138499"/>
          </a:xfrm>
          <a:prstGeom prst="rect">
            <a:avLst/>
          </a:prstGeom>
          <a:noFill/>
        </p:spPr>
        <p:txBody>
          <a:bodyPr wrap="square" lIns="0" tIns="0" rIns="0" bIns="0" rtlCol="0">
            <a:spAutoFit/>
          </a:bodyPr>
          <a:lstStyle/>
          <a:p>
            <a:r>
              <a:rPr lang="ko-KR" altLang="en-US" sz="900" dirty="0">
                <a:latin typeface="+mn-ea"/>
              </a:rPr>
              <a:t>날짜 설정</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3795734" y="342477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66" name="그룹 165"/>
          <p:cNvGrpSpPr/>
          <p:nvPr/>
        </p:nvGrpSpPr>
        <p:grpSpPr>
          <a:xfrm>
            <a:off x="3949297" y="3591898"/>
            <a:ext cx="2404900" cy="1793599"/>
            <a:chOff x="853448" y="3591898"/>
            <a:chExt cx="2404900" cy="1793599"/>
          </a:xfrm>
        </p:grpSpPr>
        <p:grpSp>
          <p:nvGrpSpPr>
            <p:cNvPr id="167" name="그룹 166">
              <a:extLst>
                <a:ext uri="{FF2B5EF4-FFF2-40B4-BE49-F238E27FC236}">
                  <a16:creationId xmlns:a16="http://schemas.microsoft.com/office/drawing/2014/main" id="{88B5F951-FD18-C7AD-4712-954CD1C500E7}"/>
                </a:ext>
              </a:extLst>
            </p:cNvPr>
            <p:cNvGrpSpPr/>
            <p:nvPr/>
          </p:nvGrpSpPr>
          <p:grpSpPr>
            <a:xfrm>
              <a:off x="853448" y="3591898"/>
              <a:ext cx="2404900" cy="1793599"/>
              <a:chOff x="6330232" y="1877976"/>
              <a:chExt cx="1507175" cy="1793599"/>
            </a:xfrm>
          </p:grpSpPr>
          <p:sp>
            <p:nvSpPr>
              <p:cNvPr id="169" name="자유형: 도형 138">
                <a:extLst>
                  <a:ext uri="{FF2B5EF4-FFF2-40B4-BE49-F238E27FC236}">
                    <a16:creationId xmlns:a16="http://schemas.microsoft.com/office/drawing/2014/main" id="{22B087CA-85B4-CEE4-100E-D11384B46CD9}"/>
                  </a:ext>
                </a:extLst>
              </p:cNvPr>
              <p:cNvSpPr/>
              <p:nvPr/>
            </p:nvSpPr>
            <p:spPr>
              <a:xfrm>
                <a:off x="6330232" y="2230424"/>
                <a:ext cx="1507175" cy="1441151"/>
              </a:xfrm>
              <a:custGeom>
                <a:avLst/>
                <a:gdLst>
                  <a:gd name="connsiteX0" fmla="*/ 0 w 1598734"/>
                  <a:gd name="connsiteY0" fmla="*/ 0 h 1380106"/>
                  <a:gd name="connsiteX1" fmla="*/ 1598734 w 1598734"/>
                  <a:gd name="connsiteY1" fmla="*/ 0 h 1380106"/>
                  <a:gd name="connsiteX2" fmla="*/ 1598734 w 1598734"/>
                  <a:gd name="connsiteY2" fmla="*/ 102684 h 1380106"/>
                  <a:gd name="connsiteX3" fmla="*/ 1598734 w 1598734"/>
                  <a:gd name="connsiteY3" fmla="*/ 146050 h 1380106"/>
                  <a:gd name="connsiteX4" fmla="*/ 1598734 w 1598734"/>
                  <a:gd name="connsiteY4" fmla="*/ 1321871 h 1380106"/>
                  <a:gd name="connsiteX5" fmla="*/ 1540499 w 1598734"/>
                  <a:gd name="connsiteY5" fmla="*/ 1380106 h 1380106"/>
                  <a:gd name="connsiteX6" fmla="*/ 58235 w 1598734"/>
                  <a:gd name="connsiteY6" fmla="*/ 1380106 h 1380106"/>
                  <a:gd name="connsiteX7" fmla="*/ 0 w 1598734"/>
                  <a:gd name="connsiteY7" fmla="*/ 1321871 h 1380106"/>
                  <a:gd name="connsiteX8" fmla="*/ 0 w 1598734"/>
                  <a:gd name="connsiteY8" fmla="*/ 146050 h 1380106"/>
                  <a:gd name="connsiteX9" fmla="*/ 0 w 1598734"/>
                  <a:gd name="connsiteY9" fmla="*/ 102684 h 1380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98734" h="1380106">
                    <a:moveTo>
                      <a:pt x="0" y="0"/>
                    </a:moveTo>
                    <a:lnTo>
                      <a:pt x="1598734" y="0"/>
                    </a:lnTo>
                    <a:lnTo>
                      <a:pt x="1598734" y="102684"/>
                    </a:lnTo>
                    <a:lnTo>
                      <a:pt x="1598734" y="146050"/>
                    </a:lnTo>
                    <a:lnTo>
                      <a:pt x="1598734" y="1321871"/>
                    </a:lnTo>
                    <a:cubicBezTo>
                      <a:pt x="1598734" y="1354033"/>
                      <a:pt x="1572661" y="1380106"/>
                      <a:pt x="1540499" y="1380106"/>
                    </a:cubicBezTo>
                    <a:lnTo>
                      <a:pt x="58235" y="1380106"/>
                    </a:lnTo>
                    <a:cubicBezTo>
                      <a:pt x="26073" y="1380106"/>
                      <a:pt x="0" y="1354033"/>
                      <a:pt x="0" y="1321871"/>
                    </a:cubicBezTo>
                    <a:lnTo>
                      <a:pt x="0" y="146050"/>
                    </a:lnTo>
                    <a:lnTo>
                      <a:pt x="0" y="102684"/>
                    </a:lnTo>
                    <a:close/>
                  </a:path>
                </a:pathLst>
              </a:custGeom>
              <a:solidFill>
                <a:sysClr val="window" lastClr="FFFFFF"/>
              </a:solidFill>
              <a:ln w="9525" cap="flat" cmpd="sng" algn="ctr">
                <a:solidFill>
                  <a:sysClr val="window" lastClr="FFFFFF">
                    <a:lumMod val="75000"/>
                  </a:sysClr>
                </a:solidFill>
                <a:prstDash val="solid"/>
              </a:ln>
              <a:effectLst/>
            </p:spPr>
            <p:txBody>
              <a:bodyPr wrap="square" rtlCol="0" anchor="ctr">
                <a:no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black">
                      <a:lumMod val="50000"/>
                      <a:lumOff val="50000"/>
                    </a:prstClr>
                  </a:solidFill>
                  <a:effectLst/>
                  <a:uLnTx/>
                  <a:uFillTx/>
                  <a:latin typeface="맑은 고딕"/>
                  <a:ea typeface="+mn-ea"/>
                  <a:cs typeface="+mn-cs"/>
                </a:endParaRPr>
              </a:p>
            </p:txBody>
          </p:sp>
          <p:sp>
            <p:nvSpPr>
              <p:cNvPr id="170" name="자유형: 도형 139">
                <a:extLst>
                  <a:ext uri="{FF2B5EF4-FFF2-40B4-BE49-F238E27FC236}">
                    <a16:creationId xmlns:a16="http://schemas.microsoft.com/office/drawing/2014/main" id="{3A3F8C14-4350-473F-BE56-A3F310114A55}"/>
                  </a:ext>
                </a:extLst>
              </p:cNvPr>
              <p:cNvSpPr/>
              <p:nvPr/>
            </p:nvSpPr>
            <p:spPr>
              <a:xfrm>
                <a:off x="6330232" y="1877976"/>
                <a:ext cx="1507174" cy="352448"/>
              </a:xfrm>
              <a:custGeom>
                <a:avLst/>
                <a:gdLst>
                  <a:gd name="connsiteX0" fmla="*/ 68452 w 1598734"/>
                  <a:gd name="connsiteY0" fmla="*/ 0 h 306657"/>
                  <a:gd name="connsiteX1" fmla="*/ 1530282 w 1598734"/>
                  <a:gd name="connsiteY1" fmla="*/ 0 h 306657"/>
                  <a:gd name="connsiteX2" fmla="*/ 1598734 w 1598734"/>
                  <a:gd name="connsiteY2" fmla="*/ 68452 h 306657"/>
                  <a:gd name="connsiteX3" fmla="*/ 1598734 w 1598734"/>
                  <a:gd name="connsiteY3" fmla="*/ 160607 h 306657"/>
                  <a:gd name="connsiteX4" fmla="*/ 1598734 w 1598734"/>
                  <a:gd name="connsiteY4" fmla="*/ 193756 h 306657"/>
                  <a:gd name="connsiteX5" fmla="*/ 1598734 w 1598734"/>
                  <a:gd name="connsiteY5" fmla="*/ 306657 h 306657"/>
                  <a:gd name="connsiteX6" fmla="*/ 0 w 1598734"/>
                  <a:gd name="connsiteY6" fmla="*/ 306657 h 306657"/>
                  <a:gd name="connsiteX7" fmla="*/ 0 w 1598734"/>
                  <a:gd name="connsiteY7" fmla="*/ 193756 h 306657"/>
                  <a:gd name="connsiteX8" fmla="*/ 0 w 1598734"/>
                  <a:gd name="connsiteY8" fmla="*/ 160607 h 306657"/>
                  <a:gd name="connsiteX9" fmla="*/ 0 w 1598734"/>
                  <a:gd name="connsiteY9" fmla="*/ 68452 h 306657"/>
                  <a:gd name="connsiteX10" fmla="*/ 68452 w 1598734"/>
                  <a:gd name="connsiteY10" fmla="*/ 0 h 3066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98734" h="306657">
                    <a:moveTo>
                      <a:pt x="68452" y="0"/>
                    </a:moveTo>
                    <a:lnTo>
                      <a:pt x="1530282" y="0"/>
                    </a:lnTo>
                    <a:cubicBezTo>
                      <a:pt x="1568087" y="0"/>
                      <a:pt x="1598734" y="30647"/>
                      <a:pt x="1598734" y="68452"/>
                    </a:cubicBezTo>
                    <a:lnTo>
                      <a:pt x="1598734" y="160607"/>
                    </a:lnTo>
                    <a:lnTo>
                      <a:pt x="1598734" y="193756"/>
                    </a:lnTo>
                    <a:lnTo>
                      <a:pt x="1598734" y="306657"/>
                    </a:lnTo>
                    <a:lnTo>
                      <a:pt x="0" y="306657"/>
                    </a:lnTo>
                    <a:lnTo>
                      <a:pt x="0" y="193756"/>
                    </a:lnTo>
                    <a:lnTo>
                      <a:pt x="0" y="160607"/>
                    </a:lnTo>
                    <a:lnTo>
                      <a:pt x="0" y="68452"/>
                    </a:lnTo>
                    <a:cubicBezTo>
                      <a:pt x="0" y="30647"/>
                      <a:pt x="30647" y="0"/>
                      <a:pt x="68452" y="0"/>
                    </a:cubicBezTo>
                    <a:close/>
                  </a:path>
                </a:pathLst>
              </a:custGeom>
              <a:solidFill>
                <a:schemeClr val="bg1"/>
              </a:solidFill>
              <a:ln w="9525" cap="flat" cmpd="sng" algn="ctr">
                <a:solidFill>
                  <a:sysClr val="window" lastClr="FFFFFF">
                    <a:lumMod val="75000"/>
                  </a:sysClr>
                </a:solidFill>
                <a:prstDash val="solid"/>
              </a:ln>
              <a:effectLst/>
            </p:spPr>
            <p:txBody>
              <a:bodyPr wrap="square" rtlCol="0" anchor="ctr">
                <a:no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900" b="1" i="0" u="none" strike="noStrike" kern="0" cap="none" spc="0" normalizeH="0" baseline="0" noProof="0">
                  <a:ln>
                    <a:noFill/>
                  </a:ln>
                  <a:effectLst/>
                  <a:uLnTx/>
                  <a:uFillTx/>
                  <a:latin typeface="맑은 고딕"/>
                  <a:ea typeface="+mn-ea"/>
                  <a:cs typeface="+mn-cs"/>
                </a:endParaRPr>
              </a:p>
            </p:txBody>
          </p:sp>
          <p:grpSp>
            <p:nvGrpSpPr>
              <p:cNvPr id="171" name="그룹 170">
                <a:extLst>
                  <a:ext uri="{FF2B5EF4-FFF2-40B4-BE49-F238E27FC236}">
                    <a16:creationId xmlns:a16="http://schemas.microsoft.com/office/drawing/2014/main" id="{A137B8AF-CE16-FE87-200C-9B7042587058}"/>
                  </a:ext>
                </a:extLst>
              </p:cNvPr>
              <p:cNvGrpSpPr/>
              <p:nvPr/>
            </p:nvGrpSpPr>
            <p:grpSpPr>
              <a:xfrm>
                <a:off x="6585805" y="1935304"/>
                <a:ext cx="996029" cy="251744"/>
                <a:chOff x="6656745" y="1935304"/>
                <a:chExt cx="996029" cy="251744"/>
              </a:xfrm>
            </p:grpSpPr>
            <p:grpSp>
              <p:nvGrpSpPr>
                <p:cNvPr id="176" name="그룹 175">
                  <a:extLst>
                    <a:ext uri="{FF2B5EF4-FFF2-40B4-BE49-F238E27FC236}">
                      <a16:creationId xmlns:a16="http://schemas.microsoft.com/office/drawing/2014/main" id="{A87E2622-4B77-D690-F5F9-A7024A74E708}"/>
                    </a:ext>
                  </a:extLst>
                </p:cNvPr>
                <p:cNvGrpSpPr/>
                <p:nvPr/>
              </p:nvGrpSpPr>
              <p:grpSpPr>
                <a:xfrm>
                  <a:off x="6656745" y="1935304"/>
                  <a:ext cx="391505" cy="251744"/>
                  <a:chOff x="14465912" y="2621448"/>
                  <a:chExt cx="373142" cy="251744"/>
                </a:xfrm>
              </p:grpSpPr>
              <p:sp>
                <p:nvSpPr>
                  <p:cNvPr id="182" name="사각형: 둥근 모서리 144">
                    <a:extLst>
                      <a:ext uri="{FF2B5EF4-FFF2-40B4-BE49-F238E27FC236}">
                        <a16:creationId xmlns:a16="http://schemas.microsoft.com/office/drawing/2014/main" id="{D1B5AE77-5D23-E70D-56C2-4B07B89912D6}"/>
                      </a:ext>
                    </a:extLst>
                  </p:cNvPr>
                  <p:cNvSpPr/>
                  <p:nvPr/>
                </p:nvSpPr>
                <p:spPr>
                  <a:xfrm>
                    <a:off x="14465912" y="2621448"/>
                    <a:ext cx="373142" cy="2517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lIns="3600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800" kern="0">
                        <a:latin typeface="맑은 고딕"/>
                      </a:rPr>
                      <a:t>2026</a:t>
                    </a:r>
                    <a:endParaRPr kumimoji="1" lang="en-US" sz="800" b="0" i="0" u="none" strike="noStrike" kern="0" cap="none" spc="0" normalizeH="0" baseline="0" noProof="0">
                      <a:ln>
                        <a:noFill/>
                      </a:ln>
                      <a:effectLst/>
                      <a:uLnTx/>
                      <a:uFillTx/>
                      <a:latin typeface="맑은 고딕"/>
                      <a:ea typeface="+mn-ea"/>
                      <a:cs typeface="+mn-cs"/>
                    </a:endParaRPr>
                  </a:p>
                </p:txBody>
              </p:sp>
              <p:sp>
                <p:nvSpPr>
                  <p:cNvPr id="183" name="이등변 삼각형 182">
                    <a:extLst>
                      <a:ext uri="{FF2B5EF4-FFF2-40B4-BE49-F238E27FC236}">
                        <a16:creationId xmlns:a16="http://schemas.microsoft.com/office/drawing/2014/main" id="{3B4ED1E8-ADBF-6251-5AE2-8AA6EED0EC85}"/>
                      </a:ext>
                    </a:extLst>
                  </p:cNvPr>
                  <p:cNvSpPr/>
                  <p:nvPr/>
                </p:nvSpPr>
                <p:spPr>
                  <a:xfrm flipV="1">
                    <a:off x="14730144" y="2724461"/>
                    <a:ext cx="85725" cy="45719"/>
                  </a:xfrm>
                  <a:prstGeom prst="triangle">
                    <a:avLst/>
                  </a:prstGeom>
                  <a:solidFill>
                    <a:sysClr val="windowText" lastClr="000000">
                      <a:lumMod val="50000"/>
                      <a:lumOff val="50000"/>
                    </a:sysClr>
                  </a:solidFill>
                  <a:ln w="25400" cap="flat" cmpd="sng" algn="ctr">
                    <a:no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white"/>
                      </a:solidFill>
                      <a:effectLst/>
                      <a:uLnTx/>
                      <a:uFillTx/>
                      <a:latin typeface="맑은 고딕"/>
                      <a:ea typeface="+mn-ea"/>
                      <a:cs typeface="+mn-cs"/>
                    </a:endParaRPr>
                  </a:p>
                </p:txBody>
              </p:sp>
            </p:grpSp>
            <p:grpSp>
              <p:nvGrpSpPr>
                <p:cNvPr id="177" name="그룹 176">
                  <a:extLst>
                    <a:ext uri="{FF2B5EF4-FFF2-40B4-BE49-F238E27FC236}">
                      <a16:creationId xmlns:a16="http://schemas.microsoft.com/office/drawing/2014/main" id="{EA122917-E998-AFF8-0017-87D415E2F4C1}"/>
                    </a:ext>
                  </a:extLst>
                </p:cNvPr>
                <p:cNvGrpSpPr/>
                <p:nvPr/>
              </p:nvGrpSpPr>
              <p:grpSpPr>
                <a:xfrm>
                  <a:off x="7227970" y="1935304"/>
                  <a:ext cx="283649" cy="251744"/>
                  <a:chOff x="6204909" y="3981827"/>
                  <a:chExt cx="283649" cy="251744"/>
                </a:xfrm>
              </p:grpSpPr>
              <p:sp>
                <p:nvSpPr>
                  <p:cNvPr id="180" name="사각형: 둥근 모서리 147">
                    <a:extLst>
                      <a:ext uri="{FF2B5EF4-FFF2-40B4-BE49-F238E27FC236}">
                        <a16:creationId xmlns:a16="http://schemas.microsoft.com/office/drawing/2014/main" id="{4D308691-DE94-C033-764E-E5D1F0BF3524}"/>
                      </a:ext>
                    </a:extLst>
                  </p:cNvPr>
                  <p:cNvSpPr/>
                  <p:nvPr/>
                </p:nvSpPr>
                <p:spPr>
                  <a:xfrm>
                    <a:off x="6204909" y="3981827"/>
                    <a:ext cx="283649" cy="2517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lIns="3600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800" kern="0">
                        <a:latin typeface="맑은 고딕"/>
                      </a:rPr>
                      <a:t>1</a:t>
                    </a:r>
                    <a:endParaRPr kumimoji="1" lang="en-US" sz="800" b="0" i="0" u="none" strike="noStrike" kern="0" cap="none" spc="0" normalizeH="0" baseline="0" noProof="0">
                      <a:ln>
                        <a:noFill/>
                      </a:ln>
                      <a:effectLst/>
                      <a:uLnTx/>
                      <a:uFillTx/>
                      <a:latin typeface="맑은 고딕"/>
                      <a:ea typeface="+mn-ea"/>
                      <a:cs typeface="+mn-cs"/>
                    </a:endParaRPr>
                  </a:p>
                </p:txBody>
              </p:sp>
              <p:sp>
                <p:nvSpPr>
                  <p:cNvPr id="181" name="이등변 삼각형 180">
                    <a:extLst>
                      <a:ext uri="{FF2B5EF4-FFF2-40B4-BE49-F238E27FC236}">
                        <a16:creationId xmlns:a16="http://schemas.microsoft.com/office/drawing/2014/main" id="{21A750D1-1A64-CDE6-935B-2CDA4AF0C094}"/>
                      </a:ext>
                    </a:extLst>
                  </p:cNvPr>
                  <p:cNvSpPr/>
                  <p:nvPr/>
                </p:nvSpPr>
                <p:spPr>
                  <a:xfrm flipV="1">
                    <a:off x="6372421" y="4084840"/>
                    <a:ext cx="89944" cy="45719"/>
                  </a:xfrm>
                  <a:prstGeom prst="triangle">
                    <a:avLst/>
                  </a:prstGeom>
                  <a:solidFill>
                    <a:sysClr val="windowText" lastClr="000000">
                      <a:lumMod val="50000"/>
                      <a:lumOff val="50000"/>
                    </a:sysClr>
                  </a:solidFill>
                  <a:ln w="25400" cap="flat" cmpd="sng" algn="ctr">
                    <a:no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en-US" sz="1000" b="1" i="0" u="none" strike="noStrike" kern="0" cap="none" spc="0" normalizeH="0" baseline="0" noProof="0">
                      <a:ln>
                        <a:noFill/>
                      </a:ln>
                      <a:solidFill>
                        <a:prstClr val="white"/>
                      </a:solidFill>
                      <a:effectLst/>
                      <a:uLnTx/>
                      <a:uFillTx/>
                      <a:latin typeface="맑은 고딕"/>
                      <a:ea typeface="+mn-ea"/>
                      <a:cs typeface="+mn-cs"/>
                    </a:endParaRPr>
                  </a:p>
                </p:txBody>
              </p:sp>
            </p:grpSp>
            <p:sp>
              <p:nvSpPr>
                <p:cNvPr id="178" name="TextBox 149">
                  <a:extLst>
                    <a:ext uri="{FF2B5EF4-FFF2-40B4-BE49-F238E27FC236}">
                      <a16:creationId xmlns:a16="http://schemas.microsoft.com/office/drawing/2014/main" id="{B5390AFF-87C5-1EB0-E4C9-DFE8DE8D1A0A}"/>
                    </a:ext>
                  </a:extLst>
                </p:cNvPr>
                <p:cNvSpPr txBox="1"/>
                <p:nvPr/>
              </p:nvSpPr>
              <p:spPr>
                <a:xfrm>
                  <a:off x="7086814" y="1999621"/>
                  <a:ext cx="102592"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a:solidFill>
                        <a:prstClr val="black"/>
                      </a:solidFill>
                      <a:cs typeface="Pretendard Medium" panose="02000603000000020004" pitchFamily="50" charset="-127"/>
                    </a:rPr>
                    <a:t>년</a:t>
                  </a:r>
                </a:p>
              </p:txBody>
            </p:sp>
            <p:sp>
              <p:nvSpPr>
                <p:cNvPr id="179" name="TextBox 152">
                  <a:extLst>
                    <a:ext uri="{FF2B5EF4-FFF2-40B4-BE49-F238E27FC236}">
                      <a16:creationId xmlns:a16="http://schemas.microsoft.com/office/drawing/2014/main" id="{A6C09F56-B1D3-B9C4-043F-21D7BB9E7303}"/>
                    </a:ext>
                  </a:extLst>
                </p:cNvPr>
                <p:cNvSpPr txBox="1"/>
                <p:nvPr/>
              </p:nvSpPr>
              <p:spPr>
                <a:xfrm>
                  <a:off x="7550182" y="1999621"/>
                  <a:ext cx="102592"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a:solidFill>
                        <a:prstClr val="black"/>
                      </a:solidFill>
                      <a:cs typeface="Pretendard Medium" panose="02000603000000020004" pitchFamily="50" charset="-127"/>
                    </a:rPr>
                    <a:t>월</a:t>
                  </a:r>
                </a:p>
              </p:txBody>
            </p:sp>
          </p:grpSp>
          <p:pic>
            <p:nvPicPr>
              <p:cNvPr id="172" name="그래픽 159">
                <a:extLst>
                  <a:ext uri="{FF2B5EF4-FFF2-40B4-BE49-F238E27FC236}">
                    <a16:creationId xmlns:a16="http://schemas.microsoft.com/office/drawing/2014/main" id="{3F60CD29-6457-57CE-2207-590D5C49DC6F}"/>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6443575" y="2011321"/>
                <a:ext cx="124829" cy="124829"/>
              </a:xfrm>
              <a:prstGeom prst="rect">
                <a:avLst/>
              </a:prstGeom>
            </p:spPr>
          </p:pic>
          <p:pic>
            <p:nvPicPr>
              <p:cNvPr id="173" name="그래픽 161">
                <a:extLst>
                  <a:ext uri="{FF2B5EF4-FFF2-40B4-BE49-F238E27FC236}">
                    <a16:creationId xmlns:a16="http://schemas.microsoft.com/office/drawing/2014/main" id="{B3146EC9-2E57-C788-18FF-97995F8296C4}"/>
                  </a:ext>
                </a:extLst>
              </p:cNvPr>
              <p:cNvPicPr>
                <a:picLocks noChangeAspect="1"/>
              </p:cNvPicPr>
              <p:nvPr/>
            </p:nvPicPr>
            <p:blipFill>
              <a:blip r:embed="rId4">
                <a:extLst>
                  <a:ext uri="{96DAC541-7B7A-43D3-8B79-37D633B846F1}">
                    <asvg:svgBlip xmlns="" xmlns:asvg="http://schemas.microsoft.com/office/drawing/2016/SVG/main" r:embed="rId5"/>
                  </a:ext>
                </a:extLst>
              </a:blip>
              <a:stretch>
                <a:fillRect/>
              </a:stretch>
            </p:blipFill>
            <p:spPr>
              <a:xfrm>
                <a:off x="6337510" y="2006235"/>
                <a:ext cx="135001" cy="135001"/>
              </a:xfrm>
              <a:prstGeom prst="rect">
                <a:avLst/>
              </a:prstGeom>
            </p:spPr>
          </p:pic>
          <p:pic>
            <p:nvPicPr>
              <p:cNvPr id="174" name="그래픽 166">
                <a:extLst>
                  <a:ext uri="{FF2B5EF4-FFF2-40B4-BE49-F238E27FC236}">
                    <a16:creationId xmlns:a16="http://schemas.microsoft.com/office/drawing/2014/main" id="{13D2C4D0-FC1C-780E-EBE1-F1214DFD9636}"/>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flipH="1">
                <a:off x="7582427" y="2011321"/>
                <a:ext cx="124829" cy="124829"/>
              </a:xfrm>
              <a:prstGeom prst="rect">
                <a:avLst/>
              </a:prstGeom>
            </p:spPr>
          </p:pic>
          <p:pic>
            <p:nvPicPr>
              <p:cNvPr id="175" name="그래픽 167">
                <a:extLst>
                  <a:ext uri="{FF2B5EF4-FFF2-40B4-BE49-F238E27FC236}">
                    <a16:creationId xmlns:a16="http://schemas.microsoft.com/office/drawing/2014/main" id="{AD93A727-98BC-1CD1-0745-64C3352C25E0}"/>
                  </a:ext>
                </a:extLst>
              </p:cNvPr>
              <p:cNvPicPr>
                <a:picLocks noChangeAspect="1"/>
              </p:cNvPicPr>
              <p:nvPr/>
            </p:nvPicPr>
            <p:blipFill>
              <a:blip r:embed="rId4">
                <a:extLst>
                  <a:ext uri="{96DAC541-7B7A-43D3-8B79-37D633B846F1}">
                    <asvg:svgBlip xmlns="" xmlns:asvg="http://schemas.microsoft.com/office/drawing/2016/SVG/main" r:embed="rId5"/>
                  </a:ext>
                </a:extLst>
              </a:blip>
              <a:stretch>
                <a:fillRect/>
              </a:stretch>
            </p:blipFill>
            <p:spPr>
              <a:xfrm flipH="1">
                <a:off x="7685706" y="2006235"/>
                <a:ext cx="135001" cy="135001"/>
              </a:xfrm>
              <a:prstGeom prst="rect">
                <a:avLst/>
              </a:prstGeom>
            </p:spPr>
          </p:pic>
        </p:grpSp>
        <p:pic>
          <p:nvPicPr>
            <p:cNvPr id="168" name="table"/>
            <p:cNvPicPr>
              <a:picLocks noChangeAspect="1"/>
            </p:cNvPicPr>
            <p:nvPr/>
          </p:nvPicPr>
          <p:blipFill>
            <a:blip r:embed="rId6"/>
            <a:stretch>
              <a:fillRect/>
            </a:stretch>
          </p:blipFill>
          <p:spPr>
            <a:xfrm>
              <a:off x="871664" y="3994890"/>
              <a:ext cx="2346766" cy="1352526"/>
            </a:xfrm>
            <a:prstGeom prst="rect">
              <a:avLst/>
            </a:prstGeom>
          </p:spPr>
        </p:pic>
      </p:grpSp>
      <p:grpSp>
        <p:nvGrpSpPr>
          <p:cNvPr id="184" name="그룹 183"/>
          <p:cNvGrpSpPr/>
          <p:nvPr/>
        </p:nvGrpSpPr>
        <p:grpSpPr>
          <a:xfrm>
            <a:off x="3795734" y="5614711"/>
            <a:ext cx="2712027" cy="617588"/>
            <a:chOff x="675399" y="5614711"/>
            <a:chExt cx="2712027" cy="617588"/>
          </a:xfrm>
        </p:grpSpPr>
        <p:sp>
          <p:nvSpPr>
            <p:cNvPr id="185" name="직사각형 184">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6"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7"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188" name="TextBox 187">
            <a:extLst>
              <a:ext uri="{FF2B5EF4-FFF2-40B4-BE49-F238E27FC236}">
                <a16:creationId xmlns:a16="http://schemas.microsoft.com/office/drawing/2014/main" id="{FFC49AEA-2A8F-250C-A86A-A7751D9706C3}"/>
              </a:ext>
            </a:extLst>
          </p:cNvPr>
          <p:cNvSpPr txBox="1"/>
          <p:nvPr/>
        </p:nvSpPr>
        <p:spPr>
          <a:xfrm>
            <a:off x="3795734" y="1352885"/>
            <a:ext cx="1338241" cy="138499"/>
          </a:xfrm>
          <a:prstGeom prst="rect">
            <a:avLst/>
          </a:prstGeom>
          <a:noFill/>
        </p:spPr>
        <p:txBody>
          <a:bodyPr wrap="square" lIns="0" tIns="0" rIns="0" bIns="0" rtlCol="0">
            <a:spAutoFit/>
          </a:bodyPr>
          <a:lstStyle/>
          <a:p>
            <a:r>
              <a:rPr lang="en-US" altLang="ko-KR" sz="900" dirty="0">
                <a:solidFill>
                  <a:srgbClr val="000000"/>
                </a:solidFill>
                <a:latin typeface="맑은 고딕" panose="020B0503020000020004" pitchFamily="50" charset="-127"/>
              </a:rPr>
              <a:t>MUI-BD-01-P06</a:t>
            </a:r>
            <a:endParaRPr lang="ko-KR" altLang="en-US" sz="900" dirty="0">
              <a:latin typeface="+mn-ea"/>
            </a:endParaRPr>
          </a:p>
        </p:txBody>
      </p:sp>
      <p:sp>
        <p:nvSpPr>
          <p:cNvPr id="189" name="TextBox 188">
            <a:extLst>
              <a:ext uri="{FF2B5EF4-FFF2-40B4-BE49-F238E27FC236}">
                <a16:creationId xmlns:a16="http://schemas.microsoft.com/office/drawing/2014/main" id="{FFC49AEA-2A8F-250C-A86A-A7751D9706C3}"/>
              </a:ext>
            </a:extLst>
          </p:cNvPr>
          <p:cNvSpPr txBox="1"/>
          <p:nvPr/>
        </p:nvSpPr>
        <p:spPr>
          <a:xfrm>
            <a:off x="5169520" y="1352885"/>
            <a:ext cx="1338241" cy="138499"/>
          </a:xfrm>
          <a:prstGeom prst="rect">
            <a:avLst/>
          </a:prstGeom>
          <a:noFill/>
        </p:spPr>
        <p:txBody>
          <a:bodyPr wrap="square" lIns="0" tIns="0" rIns="0" bIns="0" rtlCol="0">
            <a:spAutoFit/>
          </a:bodyPr>
          <a:lstStyle/>
          <a:p>
            <a:pPr algn="r"/>
            <a:r>
              <a:rPr lang="ko-KR" altLang="en-US" sz="900" dirty="0">
                <a:solidFill>
                  <a:srgbClr val="000000"/>
                </a:solidFill>
                <a:latin typeface="맑은 고딕" panose="020B0503020000020004" pitchFamily="50" charset="-127"/>
              </a:rPr>
              <a:t>날짜 설정</a:t>
            </a:r>
            <a:endParaRPr lang="ko-KR" altLang="en-US" sz="900" dirty="0">
              <a:latin typeface="+mn-ea"/>
            </a:endParaRPr>
          </a:p>
        </p:txBody>
      </p:sp>
      <p:sp>
        <p:nvSpPr>
          <p:cNvPr id="216" name="타원 215">
            <a:extLst>
              <a:ext uri="{FF2B5EF4-FFF2-40B4-BE49-F238E27FC236}">
                <a16:creationId xmlns:a16="http://schemas.microsoft.com/office/drawing/2014/main" id="{37A7FF4F-0EAA-1463-560A-D5EC24416103}"/>
              </a:ext>
            </a:extLst>
          </p:cNvPr>
          <p:cNvSpPr/>
          <p:nvPr/>
        </p:nvSpPr>
        <p:spPr>
          <a:xfrm>
            <a:off x="573754" y="19505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17" name="TextBox 216">
            <a:extLst>
              <a:ext uri="{FF2B5EF4-FFF2-40B4-BE49-F238E27FC236}">
                <a16:creationId xmlns:a16="http://schemas.microsoft.com/office/drawing/2014/main" id="{FFC49AEA-2A8F-250C-A86A-A7751D9706C3}"/>
              </a:ext>
            </a:extLst>
          </p:cNvPr>
          <p:cNvSpPr txBox="1"/>
          <p:nvPr/>
        </p:nvSpPr>
        <p:spPr>
          <a:xfrm>
            <a:off x="778515" y="1932743"/>
            <a:ext cx="2305144" cy="181140"/>
          </a:xfrm>
          <a:prstGeom prst="rect">
            <a:avLst/>
          </a:prstGeom>
          <a:noFill/>
        </p:spPr>
        <p:txBody>
          <a:bodyPr wrap="square" lIns="0" tIns="0" rIns="0" bIns="0" rtlCol="0">
            <a:spAutoFit/>
          </a:bodyPr>
          <a:lstStyle/>
          <a:p>
            <a:pPr>
              <a:lnSpc>
                <a:spcPct val="200000"/>
              </a:lnSpc>
            </a:pPr>
            <a:r>
              <a:rPr lang="ko-KR" altLang="en-US" sz="700" b="1">
                <a:latin typeface="+mn-ea"/>
              </a:rPr>
              <a:t>조회일자</a:t>
            </a:r>
            <a:endParaRPr lang="ko-KR" altLang="en-US" sz="700" b="1" dirty="0">
              <a:latin typeface="+mn-ea"/>
            </a:endParaRPr>
          </a:p>
        </p:txBody>
      </p:sp>
      <p:grpSp>
        <p:nvGrpSpPr>
          <p:cNvPr id="223" name="그룹 222">
            <a:extLst>
              <a:ext uri="{FF2B5EF4-FFF2-40B4-BE49-F238E27FC236}">
                <a16:creationId xmlns:a16="http://schemas.microsoft.com/office/drawing/2014/main" id="{8F2F56C4-B606-212C-F131-A4A30AE19BC8}"/>
              </a:ext>
            </a:extLst>
          </p:cNvPr>
          <p:cNvGrpSpPr/>
          <p:nvPr/>
        </p:nvGrpSpPr>
        <p:grpSpPr>
          <a:xfrm>
            <a:off x="1464780" y="1955177"/>
            <a:ext cx="1845146" cy="188244"/>
            <a:chOff x="5613534" y="2854836"/>
            <a:chExt cx="1727805" cy="188244"/>
          </a:xfrm>
        </p:grpSpPr>
        <p:sp>
          <p:nvSpPr>
            <p:cNvPr id="224" name="사각형: 둥근 모서리 86">
              <a:extLst>
                <a:ext uri="{FF2B5EF4-FFF2-40B4-BE49-F238E27FC236}">
                  <a16:creationId xmlns:a16="http://schemas.microsoft.com/office/drawing/2014/main" id="{C84908FA-11D4-E687-3603-3EA5852F6FAE}"/>
                </a:ext>
              </a:extLst>
            </p:cNvPr>
            <p:cNvSpPr/>
            <p:nvPr/>
          </p:nvSpPr>
          <p:spPr>
            <a:xfrm>
              <a:off x="5613534" y="2854836"/>
              <a:ext cx="1727805"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2026-03-06</a:t>
              </a:r>
              <a:endParaRPr kumimoji="1" lang="en-US" sz="700" b="0" i="0" u="none" strike="noStrike" kern="0" cap="none" spc="0" normalizeH="0" baseline="0" noProof="0" dirty="0">
                <a:ln>
                  <a:noFill/>
                </a:ln>
                <a:effectLst/>
                <a:uLnTx/>
                <a:uFillTx/>
                <a:latin typeface="맑은 고딕"/>
              </a:endParaRPr>
            </a:p>
          </p:txBody>
        </p:sp>
        <p:pic>
          <p:nvPicPr>
            <p:cNvPr id="225" name="그림 224">
              <a:extLst>
                <a:ext uri="{FF2B5EF4-FFF2-40B4-BE49-F238E27FC236}">
                  <a16:creationId xmlns:a16="http://schemas.microsoft.com/office/drawing/2014/main" id="{B217D5BC-8335-EED4-D47A-F3F41108453E}"/>
                </a:ext>
              </a:extLst>
            </p:cNvPr>
            <p:cNvPicPr>
              <a:picLocks noChangeAspect="1"/>
            </p:cNvPicPr>
            <p:nvPr/>
          </p:nvPicPr>
          <p:blipFill>
            <a:blip r:embed="rId7"/>
            <a:stretch>
              <a:fillRect/>
            </a:stretch>
          </p:blipFill>
          <p:spPr>
            <a:xfrm>
              <a:off x="7115110" y="2876004"/>
              <a:ext cx="126296" cy="137278"/>
            </a:xfrm>
            <a:prstGeom prst="rect">
              <a:avLst/>
            </a:prstGeom>
          </p:spPr>
        </p:pic>
      </p:grpSp>
      <p:sp>
        <p:nvSpPr>
          <p:cNvPr id="227" name="사각형: 둥근 모서리 169">
            <a:extLst>
              <a:ext uri="{FF2B5EF4-FFF2-40B4-BE49-F238E27FC236}">
                <a16:creationId xmlns:a16="http://schemas.microsoft.com/office/drawing/2014/main" id="{A28DD831-0E4B-31EE-CB08-9E188754698D}"/>
              </a:ext>
            </a:extLst>
          </p:cNvPr>
          <p:cNvSpPr/>
          <p:nvPr/>
        </p:nvSpPr>
        <p:spPr>
          <a:xfrm>
            <a:off x="1464781" y="2185846"/>
            <a:ext cx="1845145" cy="188135"/>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solidFill>
                  <a:srgbClr val="0070C0"/>
                </a:solidFill>
                <a:latin typeface="맑은 고딕"/>
                <a:ea typeface="맑은 고딕" panose="020B0503020000020004" pitchFamily="50" charset="-127"/>
              </a:rPr>
              <a:t>검색</a:t>
            </a:r>
            <a:endParaRPr kumimoji="1" lang="en-US" sz="700" kern="0" dirty="0">
              <a:solidFill>
                <a:srgbClr val="0070C0"/>
              </a:solidFill>
              <a:latin typeface="맑은 고딕"/>
              <a:ea typeface="맑은 고딕" panose="020B0503020000020004" pitchFamily="50" charset="-127"/>
            </a:endParaRPr>
          </a:p>
        </p:txBody>
      </p:sp>
      <p:cxnSp>
        <p:nvCxnSpPr>
          <p:cNvPr id="230" name="직선 연결선 229">
            <a:extLst>
              <a:ext uri="{FF2B5EF4-FFF2-40B4-BE49-F238E27FC236}">
                <a16:creationId xmlns:a16="http://schemas.microsoft.com/office/drawing/2014/main" id="{E9293055-D5CD-4B9E-7F64-64B2D2CA7A52}"/>
              </a:ext>
            </a:extLst>
          </p:cNvPr>
          <p:cNvCxnSpPr/>
          <p:nvPr/>
        </p:nvCxnSpPr>
        <p:spPr>
          <a:xfrm>
            <a:off x="714149" y="2505964"/>
            <a:ext cx="26345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1" name="사각형: 둥근 모서리 31">
            <a:extLst>
              <a:ext uri="{FF2B5EF4-FFF2-40B4-BE49-F238E27FC236}">
                <a16:creationId xmlns:a16="http://schemas.microsoft.com/office/drawing/2014/main" id="{2AC143EE-93CF-3518-F0CB-8469E98507E0}"/>
              </a:ext>
            </a:extLst>
          </p:cNvPr>
          <p:cNvSpPr/>
          <p:nvPr/>
        </p:nvSpPr>
        <p:spPr>
          <a:xfrm>
            <a:off x="808106"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(10/43)</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232" name="그룹 231">
            <a:extLst>
              <a:ext uri="{FF2B5EF4-FFF2-40B4-BE49-F238E27FC236}">
                <a16:creationId xmlns:a16="http://schemas.microsoft.com/office/drawing/2014/main" id="{22BC05EE-C648-7CA2-4CCC-6E1C1A7E9BDA}"/>
              </a:ext>
            </a:extLst>
          </p:cNvPr>
          <p:cNvGrpSpPr/>
          <p:nvPr/>
        </p:nvGrpSpPr>
        <p:grpSpPr>
          <a:xfrm>
            <a:off x="1992981" y="5255461"/>
            <a:ext cx="76863" cy="292489"/>
            <a:chOff x="3750067" y="4683795"/>
            <a:chExt cx="76863" cy="292489"/>
          </a:xfrm>
        </p:grpSpPr>
        <p:sp>
          <p:nvSpPr>
            <p:cNvPr id="233" name="타원 232">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34" name="타원 233">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35" name="타원 23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36" name="그룹 235"/>
          <p:cNvGrpSpPr/>
          <p:nvPr/>
        </p:nvGrpSpPr>
        <p:grpSpPr>
          <a:xfrm>
            <a:off x="715616" y="4001679"/>
            <a:ext cx="2652743" cy="467510"/>
            <a:chOff x="715616" y="3407067"/>
            <a:chExt cx="2652743" cy="467510"/>
          </a:xfrm>
        </p:grpSpPr>
        <p:sp>
          <p:nvSpPr>
            <p:cNvPr id="237" name="모서리가 둥근 직사각형 236"/>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8" name="TextBox 237">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239" name="TextBox 238">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NZ-</a:t>
              </a:r>
              <a:r>
                <a:rPr lang="ko-KR" altLang="en-US" sz="700" dirty="0">
                  <a:solidFill>
                    <a:schemeClr val="tx1">
                      <a:lumMod val="85000"/>
                      <a:lumOff val="15000"/>
                    </a:schemeClr>
                  </a:solidFill>
                  <a:latin typeface="맑은 고딕" panose="020B0503020000020004" pitchFamily="50" charset="-127"/>
                </a:rPr>
                <a:t>뉴질랜드</a:t>
              </a:r>
              <a:endParaRPr lang="en-US" altLang="ko-KR" sz="700" dirty="0">
                <a:solidFill>
                  <a:schemeClr val="tx1">
                    <a:lumMod val="85000"/>
                    <a:lumOff val="15000"/>
                  </a:schemeClr>
                </a:solidFill>
                <a:latin typeface="맑은 고딕" panose="020B0503020000020004" pitchFamily="50" charset="-127"/>
              </a:endParaRPr>
            </a:p>
            <a:p>
              <a:r>
                <a:rPr lang="en-US" altLang="ko-KR" sz="700" dirty="0">
                  <a:solidFill>
                    <a:schemeClr val="tx1">
                      <a:lumMod val="85000"/>
                      <a:lumOff val="15000"/>
                    </a:schemeClr>
                  </a:solidFill>
                  <a:latin typeface="맑은 고딕" panose="020B0503020000020004" pitchFamily="50" charset="-127"/>
                </a:rPr>
                <a:t>NZD-</a:t>
              </a:r>
              <a:r>
                <a:rPr lang="ko-KR" altLang="en-US" sz="700" dirty="0">
                  <a:solidFill>
                    <a:schemeClr val="tx1">
                      <a:lumMod val="85000"/>
                      <a:lumOff val="15000"/>
                    </a:schemeClr>
                  </a:solidFill>
                  <a:latin typeface="맑은 고딕" panose="020B0503020000020004" pitchFamily="50" charset="-127"/>
                </a:rPr>
                <a:t>뉴질랜드 달러</a:t>
              </a:r>
              <a:endParaRPr lang="en-US" altLang="ko-KR" sz="700" dirty="0">
                <a:solidFill>
                  <a:schemeClr val="tx1">
                    <a:lumMod val="85000"/>
                    <a:lumOff val="15000"/>
                  </a:schemeClr>
                </a:solidFill>
                <a:latin typeface="맑은 고딕" panose="020B0503020000020004" pitchFamily="50" charset="-127"/>
              </a:endParaRPr>
            </a:p>
          </p:txBody>
        </p:sp>
        <p:sp>
          <p:nvSpPr>
            <p:cNvPr id="240" name="TextBox 239">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863.28 KRW</a:t>
              </a:r>
            </a:p>
            <a:p>
              <a:pPr algn="r"/>
              <a:r>
                <a:rPr lang="en-US" altLang="ko-KR" sz="700" dirty="0">
                  <a:solidFill>
                    <a:schemeClr val="tx1">
                      <a:lumMod val="85000"/>
                      <a:lumOff val="15000"/>
                    </a:schemeClr>
                  </a:solidFill>
                  <a:latin typeface="맑은 고딕" panose="020B0503020000020004" pitchFamily="50" charset="-127"/>
                </a:rPr>
                <a:t>0.5896 USD</a:t>
              </a:r>
            </a:p>
          </p:txBody>
        </p:sp>
      </p:grpSp>
      <p:grpSp>
        <p:nvGrpSpPr>
          <p:cNvPr id="241" name="그룹 240"/>
          <p:cNvGrpSpPr/>
          <p:nvPr/>
        </p:nvGrpSpPr>
        <p:grpSpPr>
          <a:xfrm>
            <a:off x="715616" y="4507638"/>
            <a:ext cx="2652743" cy="467510"/>
            <a:chOff x="715616" y="3407067"/>
            <a:chExt cx="2652743" cy="467510"/>
          </a:xfrm>
        </p:grpSpPr>
        <p:sp>
          <p:nvSpPr>
            <p:cNvPr id="242" name="모서리가 둥근 직사각형 241"/>
            <p:cNvSpPr/>
            <p:nvPr/>
          </p:nvSpPr>
          <p:spPr>
            <a:xfrm>
              <a:off x="715616" y="3407067"/>
              <a:ext cx="2652743" cy="4675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TextBox 242">
              <a:extLst>
                <a:ext uri="{FF2B5EF4-FFF2-40B4-BE49-F238E27FC236}">
                  <a16:creationId xmlns:a16="http://schemas.microsoft.com/office/drawing/2014/main" id="{FFC49AEA-2A8F-250C-A86A-A7751D9706C3}"/>
                </a:ext>
              </a:extLst>
            </p:cNvPr>
            <p:cNvSpPr txBox="1"/>
            <p:nvPr/>
          </p:nvSpPr>
          <p:spPr>
            <a:xfrm>
              <a:off x="748417" y="358696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244" name="TextBox 243">
              <a:extLst>
                <a:ext uri="{FF2B5EF4-FFF2-40B4-BE49-F238E27FC236}">
                  <a16:creationId xmlns:a16="http://schemas.microsoft.com/office/drawing/2014/main" id="{FFC49AEA-2A8F-250C-A86A-A7751D9706C3}"/>
                </a:ext>
              </a:extLst>
            </p:cNvPr>
            <p:cNvSpPr txBox="1"/>
            <p:nvPr/>
          </p:nvSpPr>
          <p:spPr>
            <a:xfrm>
              <a:off x="1041640" y="3533100"/>
              <a:ext cx="1233079"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TW-</a:t>
              </a:r>
              <a:r>
                <a:rPr lang="ko-KR" altLang="en-US" sz="700" dirty="0">
                  <a:solidFill>
                    <a:schemeClr val="tx1">
                      <a:lumMod val="85000"/>
                      <a:lumOff val="15000"/>
                    </a:schemeClr>
                  </a:solidFill>
                  <a:latin typeface="맑은 고딕" panose="020B0503020000020004" pitchFamily="50" charset="-127"/>
                </a:rPr>
                <a:t>대만</a:t>
              </a:r>
              <a:endParaRPr lang="en-US" altLang="ko-KR" sz="700" dirty="0">
                <a:solidFill>
                  <a:schemeClr val="tx1">
                    <a:lumMod val="85000"/>
                    <a:lumOff val="15000"/>
                  </a:schemeClr>
                </a:solidFill>
                <a:latin typeface="맑은 고딕" panose="020B0503020000020004" pitchFamily="50" charset="-127"/>
              </a:endParaRPr>
            </a:p>
            <a:p>
              <a:r>
                <a:rPr lang="en-US" altLang="ko-KR" sz="700" dirty="0">
                  <a:solidFill>
                    <a:schemeClr val="tx1">
                      <a:lumMod val="85000"/>
                      <a:lumOff val="15000"/>
                    </a:schemeClr>
                  </a:solidFill>
                  <a:latin typeface="맑은 고딕" panose="020B0503020000020004" pitchFamily="50" charset="-127"/>
                </a:rPr>
                <a:t>TWD-</a:t>
              </a:r>
              <a:r>
                <a:rPr lang="ko-KR" altLang="en-US" sz="700" dirty="0">
                  <a:solidFill>
                    <a:schemeClr val="tx1">
                      <a:lumMod val="85000"/>
                      <a:lumOff val="15000"/>
                    </a:schemeClr>
                  </a:solidFill>
                  <a:latin typeface="맑은 고딕" panose="020B0503020000020004" pitchFamily="50" charset="-127"/>
                </a:rPr>
                <a:t>뉴 타이완 달러</a:t>
              </a:r>
              <a:endParaRPr lang="en-US" altLang="ko-KR" sz="700" dirty="0">
                <a:solidFill>
                  <a:schemeClr val="tx1">
                    <a:lumMod val="85000"/>
                    <a:lumOff val="15000"/>
                  </a:schemeClr>
                </a:solidFill>
                <a:latin typeface="맑은 고딕" panose="020B0503020000020004" pitchFamily="50" charset="-127"/>
              </a:endParaRPr>
            </a:p>
          </p:txBody>
        </p:sp>
        <p:sp>
          <p:nvSpPr>
            <p:cNvPr id="245" name="TextBox 244">
              <a:extLst>
                <a:ext uri="{FF2B5EF4-FFF2-40B4-BE49-F238E27FC236}">
                  <a16:creationId xmlns:a16="http://schemas.microsoft.com/office/drawing/2014/main" id="{FFC49AEA-2A8F-250C-A86A-A7751D9706C3}"/>
                </a:ext>
              </a:extLst>
            </p:cNvPr>
            <p:cNvSpPr txBox="1"/>
            <p:nvPr/>
          </p:nvSpPr>
          <p:spPr>
            <a:xfrm>
              <a:off x="2460625" y="3479240"/>
              <a:ext cx="808388" cy="323165"/>
            </a:xfrm>
            <a:prstGeom prst="rect">
              <a:avLst/>
            </a:prstGeom>
            <a:noFill/>
          </p:spPr>
          <p:txBody>
            <a:bodyPr wrap="square" lIns="0" tIns="0" rIns="0" bIns="0" rtlCol="0">
              <a:spAutoFit/>
            </a:bodyPr>
            <a:lstStyle/>
            <a:p>
              <a:pPr algn="r"/>
              <a:r>
                <a:rPr lang="en-US" altLang="ko-KR" sz="700" dirty="0">
                  <a:solidFill>
                    <a:schemeClr val="tx1">
                      <a:lumMod val="85000"/>
                      <a:lumOff val="15000"/>
                    </a:schemeClr>
                  </a:solidFill>
                  <a:latin typeface="맑은 고딕" panose="020B0503020000020004" pitchFamily="50" charset="-127"/>
                </a:rPr>
                <a:t>0.00</a:t>
              </a:r>
            </a:p>
            <a:p>
              <a:pPr algn="r"/>
              <a:r>
                <a:rPr lang="en-US" altLang="ko-KR" sz="700" dirty="0">
                  <a:solidFill>
                    <a:schemeClr val="tx1">
                      <a:lumMod val="85000"/>
                      <a:lumOff val="15000"/>
                    </a:schemeClr>
                  </a:solidFill>
                  <a:latin typeface="맑은 고딕" panose="020B0503020000020004" pitchFamily="50" charset="-127"/>
                </a:rPr>
                <a:t>46.08 KRW</a:t>
              </a:r>
            </a:p>
            <a:p>
              <a:pPr algn="r"/>
              <a:r>
                <a:rPr lang="en-US" altLang="ko-KR" sz="700" dirty="0">
                  <a:solidFill>
                    <a:schemeClr val="tx1">
                      <a:lumMod val="85000"/>
                      <a:lumOff val="15000"/>
                    </a:schemeClr>
                  </a:solidFill>
                  <a:latin typeface="맑은 고딕" panose="020B0503020000020004" pitchFamily="50" charset="-127"/>
                </a:rPr>
                <a:t>0.0315 USD</a:t>
              </a:r>
            </a:p>
          </p:txBody>
        </p:sp>
      </p:grpSp>
      <p:cxnSp>
        <p:nvCxnSpPr>
          <p:cNvPr id="246" name="직선 연결선 245">
            <a:extLst>
              <a:ext uri="{FF2B5EF4-FFF2-40B4-BE49-F238E27FC236}">
                <a16:creationId xmlns:a16="http://schemas.microsoft.com/office/drawing/2014/main" id="{E9293055-D5CD-4B9E-7F64-64B2D2CA7A52}"/>
              </a:ext>
            </a:extLst>
          </p:cNvPr>
          <p:cNvCxnSpPr/>
          <p:nvPr/>
        </p:nvCxnSpPr>
        <p:spPr>
          <a:xfrm>
            <a:off x="714149" y="2739427"/>
            <a:ext cx="26345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7" name="TextBox 246">
            <a:extLst>
              <a:ext uri="{FF2B5EF4-FFF2-40B4-BE49-F238E27FC236}">
                <a16:creationId xmlns:a16="http://schemas.microsoft.com/office/drawing/2014/main" id="{FFC49AEA-2A8F-250C-A86A-A7751D9706C3}"/>
              </a:ext>
            </a:extLst>
          </p:cNvPr>
          <p:cNvSpPr txBox="1"/>
          <p:nvPr/>
        </p:nvSpPr>
        <p:spPr>
          <a:xfrm>
            <a:off x="748417" y="2576529"/>
            <a:ext cx="989592"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총 </a:t>
            </a:r>
            <a:r>
              <a:rPr lang="en-US" altLang="ko-KR" sz="600" dirty="0">
                <a:solidFill>
                  <a:srgbClr val="0070C0"/>
                </a:solidFill>
                <a:latin typeface="맑은 고딕" panose="020B0503020000020004" pitchFamily="50" charset="-127"/>
              </a:rPr>
              <a:t>43</a:t>
            </a:r>
            <a:r>
              <a:rPr lang="ko-KR" altLang="en-US" sz="600" dirty="0">
                <a:solidFill>
                  <a:schemeClr val="tx1">
                    <a:lumMod val="85000"/>
                    <a:lumOff val="15000"/>
                  </a:schemeClr>
                </a:solidFill>
                <a:latin typeface="맑은 고딕" panose="020B0503020000020004" pitchFamily="50" charset="-127"/>
              </a:rPr>
              <a:t>건</a:t>
            </a:r>
            <a:endParaRPr lang="en-US" altLang="ko-KR" sz="600" dirty="0">
              <a:solidFill>
                <a:schemeClr val="tx1">
                  <a:lumMod val="85000"/>
                  <a:lumOff val="15000"/>
                </a:schemeClr>
              </a:solidFill>
              <a:latin typeface="맑은 고딕" panose="020B0503020000020004" pitchFamily="50" charset="-127"/>
            </a:endParaRPr>
          </a:p>
        </p:txBody>
      </p:sp>
      <p:sp>
        <p:nvSpPr>
          <p:cNvPr id="249" name="타원 248">
            <a:extLst>
              <a:ext uri="{FF2B5EF4-FFF2-40B4-BE49-F238E27FC236}">
                <a16:creationId xmlns:a16="http://schemas.microsoft.com/office/drawing/2014/main" id="{37A7FF4F-0EAA-1463-560A-D5EC24416103}"/>
              </a:ext>
            </a:extLst>
          </p:cNvPr>
          <p:cNvSpPr/>
          <p:nvPr/>
        </p:nvSpPr>
        <p:spPr>
          <a:xfrm>
            <a:off x="573754" y="309236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250" name="타원 249">
            <a:extLst>
              <a:ext uri="{FF2B5EF4-FFF2-40B4-BE49-F238E27FC236}">
                <a16:creationId xmlns:a16="http://schemas.microsoft.com/office/drawing/2014/main" id="{37A7FF4F-0EAA-1463-560A-D5EC24416103}"/>
              </a:ext>
            </a:extLst>
          </p:cNvPr>
          <p:cNvSpPr/>
          <p:nvPr/>
        </p:nvSpPr>
        <p:spPr>
          <a:xfrm>
            <a:off x="573754" y="252785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51" name="타원 250">
            <a:extLst>
              <a:ext uri="{FF2B5EF4-FFF2-40B4-BE49-F238E27FC236}">
                <a16:creationId xmlns:a16="http://schemas.microsoft.com/office/drawing/2014/main" id="{37A7FF4F-0EAA-1463-560A-D5EC24416103}"/>
              </a:ext>
            </a:extLst>
          </p:cNvPr>
          <p:cNvSpPr/>
          <p:nvPr/>
        </p:nvSpPr>
        <p:spPr>
          <a:xfrm>
            <a:off x="573754" y="588070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Tree>
    <p:extLst>
      <p:ext uri="{BB962C8B-B14F-4D97-AF65-F5344CB8AC3E}">
        <p14:creationId xmlns:p14="http://schemas.microsoft.com/office/powerpoint/2010/main" val="239203255"/>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297</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196424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환율</a:t>
            </a:r>
            <a:r>
              <a:rPr lang="en-US" altLang="ko-KR" sz="900" b="1" dirty="0">
                <a:solidFill>
                  <a:prstClr val="black"/>
                </a:solidFill>
              </a:rPr>
              <a:t> </a:t>
            </a:r>
            <a:r>
              <a:rPr lang="ko-KR" altLang="en-US" sz="900" b="1" dirty="0">
                <a:solidFill>
                  <a:prstClr val="black"/>
                </a:solidFill>
              </a:rPr>
              <a:t>검색조건 </a:t>
            </a:r>
            <a:r>
              <a:rPr lang="en-US" altLang="ko-KR" sz="900" b="1" dirty="0">
                <a:solidFill>
                  <a:prstClr val="black"/>
                </a:solidFill>
              </a:rPr>
              <a:t>(</a:t>
            </a:r>
            <a:r>
              <a:rPr lang="en-US" altLang="ko-KR" sz="900" b="1" dirty="0" err="1">
                <a:solidFill>
                  <a:prstClr val="black"/>
                </a:solidFill>
              </a:rPr>
              <a:t>dm_searchInfo</a:t>
            </a:r>
            <a:r>
              <a:rPr lang="en-US" altLang="ko-KR" sz="900" b="1" dirty="0">
                <a:solidFill>
                  <a:prstClr val="black"/>
                </a:solidFill>
              </a:rPr>
              <a:t>)</a:t>
            </a:r>
            <a:endParaRPr lang="ko-KR" altLang="en-US" sz="900" b="1" dirty="0">
              <a:solidFill>
                <a:prstClr val="black"/>
              </a:solidFill>
            </a:endParaRPr>
          </a:p>
        </p:txBody>
      </p:sp>
      <p:sp>
        <p:nvSpPr>
          <p:cNvPr id="10" name="TextBox 9">
            <a:extLst>
              <a:ext uri="{FF2B5EF4-FFF2-40B4-BE49-F238E27FC236}">
                <a16:creationId xmlns:a16="http://schemas.microsoft.com/office/drawing/2014/main" id="{7F545FD0-B8C5-4B98-203E-A36908FB8DD4}"/>
              </a:ext>
            </a:extLst>
          </p:cNvPr>
          <p:cNvSpPr txBox="1"/>
          <p:nvPr/>
        </p:nvSpPr>
        <p:spPr>
          <a:xfrm>
            <a:off x="458117" y="41506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11" name="TextBox 10">
            <a:extLst>
              <a:ext uri="{FF2B5EF4-FFF2-40B4-BE49-F238E27FC236}">
                <a16:creationId xmlns:a16="http://schemas.microsoft.com/office/drawing/2014/main" id="{83358D31-792E-1F31-CE2A-A2AE122E42CC}"/>
              </a:ext>
            </a:extLst>
          </p:cNvPr>
          <p:cNvSpPr txBox="1"/>
          <p:nvPr/>
        </p:nvSpPr>
        <p:spPr>
          <a:xfrm>
            <a:off x="458117" y="1970468"/>
            <a:ext cx="224316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조회결과</a:t>
            </a:r>
            <a:r>
              <a:rPr lang="en-US" altLang="ko-KR" sz="900" b="1" dirty="0">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(dl_resultList)</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nvGraphicFramePr>
        <p:xfrm>
          <a:off x="452999" y="1014316"/>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latinLnBrk="1"/>
                      <a:r>
                        <a:rPr lang="ko-KR" altLang="en-US" sz="800" dirty="0">
                          <a:latin typeface="+mn-ea"/>
                          <a:ea typeface="+mn-ea"/>
                        </a:rPr>
                        <a:t>조회일자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crtrYmd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rPr>
                        <a:t>조회기준일자</a:t>
                      </a:r>
                      <a:endParaRPr lang="en-US" altLang="ko-KR" sz="800" dirty="0">
                        <a:latin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초기값을 당일일자로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16" name="표 15">
            <a:extLst>
              <a:ext uri="{FF2B5EF4-FFF2-40B4-BE49-F238E27FC236}">
                <a16:creationId xmlns:a16="http://schemas.microsoft.com/office/drawing/2014/main" id="{A31F6A43-1297-CF99-ABFA-B1F80565E966}"/>
              </a:ext>
            </a:extLst>
          </p:cNvPr>
          <p:cNvGraphicFramePr>
            <a:graphicFrameLocks noGrp="1"/>
          </p:cNvGraphicFramePr>
          <p:nvPr>
            <p:extLst>
              <p:ext uri="{D42A27DB-BD31-4B8C-83A1-F6EECF244321}">
                <p14:modId xmlns:p14="http://schemas.microsoft.com/office/powerpoint/2010/main" val="2832260921"/>
              </p:ext>
            </p:extLst>
          </p:nvPr>
        </p:nvGraphicFramePr>
        <p:xfrm>
          <a:off x="453000" y="4428787"/>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a:r>
                        <a:rPr lang="ko-KR" altLang="en-US" sz="800" dirty="0">
                          <a:latin typeface="+mn-ea"/>
                          <a:ea typeface="+mn-ea"/>
                        </a:rPr>
                        <a:t>조회일자 기준으로 공시된 환율정보를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환율정보조회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algn="l"/>
                      <a:r>
                        <a:rPr lang="ko-KR" altLang="en-US" sz="800" dirty="0"/>
                        <a:t>검색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scwin.btn_search_onclick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a:r>
                        <a:rPr lang="ko-KR" altLang="en-US" sz="800" dirty="0">
                          <a:latin typeface="+mn-ea"/>
                          <a:ea typeface="+mn-ea"/>
                        </a:rPr>
                        <a:t>조회일자 기준으로 공시된 환율정보를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환율정보조회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44083906"/>
                  </a:ext>
                </a:extLst>
              </a:tr>
            </a:tbl>
          </a:graphicData>
        </a:graphic>
      </p:graphicFrame>
      <p:graphicFrame>
        <p:nvGraphicFramePr>
          <p:cNvPr id="2" name="표 1">
            <a:extLst>
              <a:ext uri="{FF2B5EF4-FFF2-40B4-BE49-F238E27FC236}">
                <a16:creationId xmlns:a16="http://schemas.microsoft.com/office/drawing/2014/main" id="{3969C2BD-BAE7-E4E1-6BA5-91005212D745}"/>
              </a:ext>
            </a:extLst>
          </p:cNvPr>
          <p:cNvGraphicFramePr>
            <a:graphicFrameLocks noGrp="1"/>
          </p:cNvGraphicFramePr>
          <p:nvPr/>
        </p:nvGraphicFramePr>
        <p:xfrm>
          <a:off x="452999" y="2254222"/>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3427634697"/>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화폐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화페구분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416773"/>
                  </a:ext>
                </a:extLst>
              </a:tr>
              <a:tr h="0">
                <a:tc>
                  <a:txBody>
                    <a:bodyPr/>
                    <a:lstStyle/>
                    <a:p>
                      <a:pPr algn="l" fontAlgn="ctr"/>
                      <a:r>
                        <a:rPr lang="ko-KR" altLang="en-US" sz="800" b="0" i="0" u="none" strike="noStrike" dirty="0">
                          <a:solidFill>
                            <a:srgbClr val="000000"/>
                          </a:solidFill>
                          <a:effectLst/>
                          <a:latin typeface="+mn-ea"/>
                          <a:ea typeface="+mn-ea"/>
                        </a:rPr>
                        <a:t>국가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ntnNm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국가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0907113"/>
                  </a:ext>
                </a:extLst>
              </a:tr>
              <a:tr h="0">
                <a:tc>
                  <a:txBody>
                    <a:bodyPr/>
                    <a:lstStyle/>
                    <a:p>
                      <a:pPr algn="l" fontAlgn="ctr"/>
                      <a:r>
                        <a:rPr lang="ko-KR" altLang="en-US" sz="800" b="0" i="0" u="none" strike="noStrike" dirty="0" err="1">
                          <a:solidFill>
                            <a:srgbClr val="000000"/>
                          </a:solidFill>
                          <a:effectLst/>
                          <a:latin typeface="+mn-ea"/>
                          <a:ea typeface="+mn-ea"/>
                        </a:rPr>
                        <a:t>매도율</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ttsrt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매도율</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3152709"/>
                  </a:ext>
                </a:extLst>
              </a:tr>
              <a:tr h="0">
                <a:tc>
                  <a:txBody>
                    <a:bodyPr/>
                    <a:lstStyle/>
                    <a:p>
                      <a:pPr algn="l" fontAlgn="ctr"/>
                      <a:r>
                        <a:rPr lang="ko-KR" altLang="en-US" sz="800" b="0" i="0" u="none" strike="noStrike" dirty="0">
                          <a:solidFill>
                            <a:srgbClr val="000000"/>
                          </a:solidFill>
                          <a:effectLst/>
                          <a:latin typeface="+mn-ea"/>
                          <a:ea typeface="+mn-ea"/>
                        </a:rPr>
                        <a:t>기준율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trdStdrt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기준율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5" name="Text Box 73">
            <a:extLst>
              <a:ext uri="{FF2B5EF4-FFF2-40B4-BE49-F238E27FC236}">
                <a16:creationId xmlns:a16="http://schemas.microsoft.com/office/drawing/2014/main" id="{620EE0D2-F5DA-2FDD-3DE6-6D0785641F1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62867207"/>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조회결과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298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목표가공개품목조회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목표가공개품목 조회</a:t>
            </a:r>
            <a:r>
              <a:rPr lang="ko-KR" altLang="en-US" dirty="0"/>
              <a:t> 화면</a:t>
            </a:r>
            <a:endParaRPr lang="ko-KR" altLang="en-US" dirty="0">
              <a:latin typeface="+mn-ea"/>
            </a:endParaRP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latin typeface="+mn-ea"/>
              </a:rPr>
              <a:t>&gt; </a:t>
            </a:r>
            <a:r>
              <a:rPr lang="ko-KR" altLang="en-US" dirty="0">
                <a:latin typeface="+mn-ea"/>
              </a:rPr>
              <a:t>입찰 공고 </a:t>
            </a:r>
            <a:r>
              <a:rPr lang="en-US" altLang="ko-KR" dirty="0">
                <a:latin typeface="+mn-ea"/>
              </a:rPr>
              <a:t>&gt; </a:t>
            </a:r>
            <a:r>
              <a:rPr lang="ko-KR" altLang="en-US" dirty="0" err="1">
                <a:latin typeface="+mn-ea"/>
              </a:rPr>
              <a:t>목표가공개품목조회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MUI-BD-01-M75</a:t>
            </a:r>
            <a:endParaRPr lang="ko-KR" altLang="en-US" dirty="0">
              <a:solidFill>
                <a:srgbClr val="000000"/>
              </a:solidFill>
              <a:latin typeface="맑은 고딕" panose="020B0503020000020004" pitchFamily="50" charset="-127"/>
            </a:endParaRPr>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pPr fontAlgn="ctr"/>
            <a:r>
              <a:rPr lang="ko-KR" altLang="en-US" sz="800" dirty="0">
                <a:latin typeface="+mn-ea"/>
              </a:rPr>
              <a:t>목표가공개품목 조회</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cxnSp>
        <p:nvCxnSpPr>
          <p:cNvPr id="246" name="직선 연결선 245">
            <a:extLst>
              <a:ext uri="{FF2B5EF4-FFF2-40B4-BE49-F238E27FC236}">
                <a16:creationId xmlns:a16="http://schemas.microsoft.com/office/drawing/2014/main" id="{E9293055-D5CD-4B9E-7F64-64B2D2CA7A52}"/>
              </a:ext>
            </a:extLst>
          </p:cNvPr>
          <p:cNvCxnSpPr/>
          <p:nvPr/>
        </p:nvCxnSpPr>
        <p:spPr>
          <a:xfrm>
            <a:off x="714149" y="2084477"/>
            <a:ext cx="26345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47" name="TextBox 246">
            <a:extLst>
              <a:ext uri="{FF2B5EF4-FFF2-40B4-BE49-F238E27FC236}">
                <a16:creationId xmlns:a16="http://schemas.microsoft.com/office/drawing/2014/main" id="{FFC49AEA-2A8F-250C-A86A-A7751D9706C3}"/>
              </a:ext>
            </a:extLst>
          </p:cNvPr>
          <p:cNvSpPr txBox="1"/>
          <p:nvPr/>
        </p:nvSpPr>
        <p:spPr>
          <a:xfrm>
            <a:off x="748417" y="1921579"/>
            <a:ext cx="989592"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총 </a:t>
            </a:r>
            <a:r>
              <a:rPr lang="en-US" altLang="ko-KR" sz="600" dirty="0">
                <a:solidFill>
                  <a:srgbClr val="0070C0"/>
                </a:solidFill>
                <a:latin typeface="맑은 고딕" panose="020B0503020000020004" pitchFamily="50" charset="-127"/>
              </a:rPr>
              <a:t>43</a:t>
            </a:r>
            <a:r>
              <a:rPr lang="ko-KR" altLang="en-US" sz="600" dirty="0">
                <a:solidFill>
                  <a:schemeClr val="tx1">
                    <a:lumMod val="85000"/>
                    <a:lumOff val="15000"/>
                  </a:schemeClr>
                </a:solidFill>
                <a:latin typeface="맑은 고딕" panose="020B0503020000020004" pitchFamily="50" charset="-127"/>
              </a:rPr>
              <a:t>건</a:t>
            </a:r>
            <a:endParaRPr lang="en-US" altLang="ko-KR" sz="600" dirty="0">
              <a:solidFill>
                <a:schemeClr val="tx1">
                  <a:lumMod val="85000"/>
                  <a:lumOff val="15000"/>
                </a:schemeClr>
              </a:solidFill>
              <a:latin typeface="맑은 고딕" panose="020B0503020000020004" pitchFamily="50" charset="-127"/>
            </a:endParaRPr>
          </a:p>
        </p:txBody>
      </p:sp>
      <p:grpSp>
        <p:nvGrpSpPr>
          <p:cNvPr id="89" name="그룹 88"/>
          <p:cNvGrpSpPr/>
          <p:nvPr/>
        </p:nvGrpSpPr>
        <p:grpSpPr>
          <a:xfrm>
            <a:off x="701175" y="2140814"/>
            <a:ext cx="2630093" cy="3877985"/>
            <a:chOff x="701175" y="1835481"/>
            <a:chExt cx="2630093" cy="3877985"/>
          </a:xfrm>
        </p:grpSpPr>
        <p:sp>
          <p:nvSpPr>
            <p:cNvPr id="92" name="직사각형 91"/>
            <p:cNvSpPr/>
            <p:nvPr/>
          </p:nvSpPr>
          <p:spPr>
            <a:xfrm>
              <a:off x="703268" y="1835481"/>
              <a:ext cx="792000" cy="38572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TextBox 92">
              <a:extLst>
                <a:ext uri="{FF2B5EF4-FFF2-40B4-BE49-F238E27FC236}">
                  <a16:creationId xmlns:a16="http://schemas.microsoft.com/office/drawing/2014/main" id="{FFC49AEA-2A8F-250C-A86A-A7751D9706C3}"/>
                </a:ext>
              </a:extLst>
            </p:cNvPr>
            <p:cNvSpPr txBox="1"/>
            <p:nvPr/>
          </p:nvSpPr>
          <p:spPr>
            <a:xfrm>
              <a:off x="790331" y="1835481"/>
              <a:ext cx="725552" cy="3877985"/>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err="1">
                  <a:latin typeface="+mn-ea"/>
                </a:rPr>
                <a:t>규격번호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납기기준일자</a:t>
              </a:r>
            </a:p>
            <a:p>
              <a:pPr>
                <a:lnSpc>
                  <a:spcPct val="200000"/>
                </a:lnSpc>
              </a:pPr>
              <a:r>
                <a:rPr lang="ko-KR" altLang="en-US" sz="700" dirty="0">
                  <a:latin typeface="+mn-ea"/>
                </a:rPr>
                <a:t>단위</a:t>
              </a:r>
            </a:p>
            <a:p>
              <a:pPr>
                <a:lnSpc>
                  <a:spcPct val="200000"/>
                </a:lnSpc>
              </a:pPr>
              <a:r>
                <a:rPr lang="ko-KR" altLang="en-US" sz="700" dirty="0" err="1">
                  <a:latin typeface="+mn-ea"/>
                </a:rPr>
                <a:t>본조수량</a:t>
              </a:r>
              <a:endParaRPr lang="ko-KR" altLang="en-US" sz="700" dirty="0">
                <a:latin typeface="+mn-ea"/>
              </a:endParaRPr>
            </a:p>
            <a:p>
              <a:pPr>
                <a:lnSpc>
                  <a:spcPct val="200000"/>
                </a:lnSpc>
              </a:pPr>
              <a:r>
                <a:rPr lang="ko-KR" altLang="en-US" sz="700" dirty="0" err="1">
                  <a:latin typeface="+mn-ea"/>
                </a:rPr>
                <a:t>당국수량</a:t>
              </a:r>
              <a:endParaRPr lang="ko-KR" altLang="en-US" sz="700" dirty="0">
                <a:latin typeface="+mn-ea"/>
              </a:endParaRPr>
            </a:p>
            <a:p>
              <a:pPr>
                <a:lnSpc>
                  <a:spcPct val="200000"/>
                </a:lnSpc>
              </a:pPr>
              <a:r>
                <a:rPr lang="ko-KR" altLang="en-US" sz="700" dirty="0" err="1">
                  <a:latin typeface="+mn-ea"/>
                </a:rPr>
                <a:t>장국수량</a:t>
              </a:r>
              <a:endParaRPr lang="ko-KR" altLang="en-US" sz="700" dirty="0">
                <a:latin typeface="+mn-ea"/>
              </a:endParaRPr>
            </a:p>
            <a:p>
              <a:pPr>
                <a:lnSpc>
                  <a:spcPct val="200000"/>
                </a:lnSpc>
              </a:pPr>
              <a:r>
                <a:rPr lang="ko-KR" altLang="en-US" sz="700" dirty="0" err="1">
                  <a:latin typeface="+mn-ea"/>
                </a:rPr>
                <a:t>본조예산</a:t>
              </a:r>
              <a:endParaRPr lang="ko-KR" altLang="en-US" sz="700" dirty="0">
                <a:latin typeface="+mn-ea"/>
              </a:endParaRPr>
            </a:p>
            <a:p>
              <a:pPr>
                <a:lnSpc>
                  <a:spcPct val="200000"/>
                </a:lnSpc>
              </a:pPr>
              <a:r>
                <a:rPr lang="ko-KR" altLang="en-US" sz="700" dirty="0" err="1">
                  <a:latin typeface="+mn-ea"/>
                </a:rPr>
                <a:t>당국예산</a:t>
              </a:r>
              <a:endParaRPr lang="ko-KR" altLang="en-US" sz="700" dirty="0">
                <a:latin typeface="+mn-ea"/>
              </a:endParaRPr>
            </a:p>
            <a:p>
              <a:pPr>
                <a:lnSpc>
                  <a:spcPct val="200000"/>
                </a:lnSpc>
              </a:pPr>
              <a:r>
                <a:rPr lang="ko-KR" altLang="en-US" sz="700" dirty="0" err="1">
                  <a:latin typeface="+mn-ea"/>
                </a:rPr>
                <a:t>장국예산</a:t>
              </a:r>
              <a:endParaRPr lang="ko-KR" altLang="en-US" sz="700" dirty="0">
                <a:latin typeface="+mn-ea"/>
              </a:endParaRPr>
            </a:p>
            <a:p>
              <a:pPr>
                <a:lnSpc>
                  <a:spcPct val="200000"/>
                </a:lnSpc>
              </a:pPr>
              <a:r>
                <a:rPr lang="ko-KR" altLang="en-US" sz="700" dirty="0" err="1">
                  <a:latin typeface="+mn-ea"/>
                </a:rPr>
                <a:t>수량합계</a:t>
              </a:r>
              <a:endParaRPr lang="ko-KR" altLang="en-US" sz="700" dirty="0">
                <a:latin typeface="+mn-ea"/>
              </a:endParaRP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err="1">
                  <a:latin typeface="+mn-ea"/>
                </a:rPr>
                <a:t>지시금액</a:t>
              </a:r>
              <a:endParaRPr lang="ko-KR" altLang="en-US" sz="700" dirty="0">
                <a:latin typeface="+mn-ea"/>
              </a:endParaRPr>
            </a:p>
            <a:p>
              <a:pPr>
                <a:lnSpc>
                  <a:spcPct val="200000"/>
                </a:lnSpc>
              </a:pPr>
              <a:r>
                <a:rPr lang="ko-KR" altLang="en-US" sz="700" dirty="0" err="1">
                  <a:latin typeface="+mn-ea"/>
                </a:rPr>
                <a:t>장비부호</a:t>
              </a:r>
              <a:endParaRPr lang="en-US" altLang="ko-KR" sz="700" dirty="0">
                <a:latin typeface="+mn-ea"/>
              </a:endParaRPr>
            </a:p>
            <a:p>
              <a:pPr>
                <a:lnSpc>
                  <a:spcPct val="200000"/>
                </a:lnSpc>
              </a:pPr>
              <a:r>
                <a:rPr lang="ko-KR" altLang="en-US" sz="700" dirty="0" err="1">
                  <a:latin typeface="+mn-ea"/>
                </a:rPr>
                <a:t>장비명</a:t>
              </a:r>
              <a:endParaRPr lang="ko-KR" altLang="en-US" sz="700" dirty="0">
                <a:latin typeface="+mn-ea"/>
              </a:endParaRPr>
            </a:p>
          </p:txBody>
        </p:sp>
        <p:sp>
          <p:nvSpPr>
            <p:cNvPr id="94" name="TextBox 93">
              <a:extLst>
                <a:ext uri="{FF2B5EF4-FFF2-40B4-BE49-F238E27FC236}">
                  <a16:creationId xmlns:a16="http://schemas.microsoft.com/office/drawing/2014/main" id="{FFC49AEA-2A8F-250C-A86A-A7751D9706C3}"/>
                </a:ext>
              </a:extLst>
            </p:cNvPr>
            <p:cNvSpPr txBox="1"/>
            <p:nvPr/>
          </p:nvSpPr>
          <p:spPr>
            <a:xfrm>
              <a:off x="1547180" y="1835481"/>
              <a:ext cx="1784088" cy="3843681"/>
            </a:xfrm>
            <a:prstGeom prst="rect">
              <a:avLst/>
            </a:prstGeom>
            <a:noFill/>
          </p:spPr>
          <p:txBody>
            <a:bodyPr wrap="square" lIns="0" tIns="0" rIns="0" bIns="0" rtlCol="0">
              <a:spAutoFit/>
            </a:bodyPr>
            <a:lstStyle/>
            <a:p>
              <a:pPr>
                <a:lnSpc>
                  <a:spcPct val="200000"/>
                </a:lnSpc>
              </a:pPr>
              <a:r>
                <a:rPr lang="en-US" altLang="ko-KR" sz="700" dirty="0">
                  <a:latin typeface="+mn-ea"/>
                </a:rPr>
                <a:t>6</a:t>
              </a:r>
            </a:p>
            <a:p>
              <a:pPr>
                <a:lnSpc>
                  <a:spcPct val="200000"/>
                </a:lnSpc>
              </a:pPr>
              <a:r>
                <a:rPr lang="en-US" altLang="ko-KR" sz="700" dirty="0">
                  <a:latin typeface="+mn-ea"/>
                </a:rPr>
                <a:t>1005000529558 </a:t>
              </a:r>
            </a:p>
            <a:p>
              <a:pPr>
                <a:lnSpc>
                  <a:spcPct val="200000"/>
                </a:lnSpc>
              </a:pPr>
              <a:r>
                <a:rPr lang="en-US" altLang="ko-KR" sz="700" dirty="0">
                  <a:latin typeface="+mn-ea"/>
                </a:rPr>
                <a:t>5910873</a:t>
              </a:r>
            </a:p>
            <a:p>
              <a:pPr>
                <a:lnSpc>
                  <a:spcPct val="200000"/>
                </a:lnSpc>
              </a:pPr>
              <a:r>
                <a:rPr lang="en-US" altLang="ko-KR" sz="700" dirty="0">
                  <a:latin typeface="+mn-ea"/>
                </a:rPr>
                <a:t>0001-P4001</a:t>
              </a:r>
            </a:p>
            <a:p>
              <a:pPr>
                <a:lnSpc>
                  <a:spcPct val="200000"/>
                </a:lnSpc>
              </a:pPr>
              <a:r>
                <a:rPr lang="en-US" altLang="ko-KR" sz="700" dirty="0">
                  <a:latin typeface="+mn-ea"/>
                </a:rPr>
                <a:t>COLLAR,BREECH RING</a:t>
              </a:r>
            </a:p>
            <a:p>
              <a:pPr>
                <a:lnSpc>
                  <a:spcPct val="200000"/>
                </a:lnSpc>
              </a:pPr>
              <a:r>
                <a:rPr lang="en-US" altLang="ko-KR" sz="700" dirty="0">
                  <a:latin typeface="+mn-ea"/>
                </a:rPr>
                <a:t>2015-12-13</a:t>
              </a:r>
            </a:p>
            <a:p>
              <a:pPr>
                <a:lnSpc>
                  <a:spcPct val="200000"/>
                </a:lnSpc>
              </a:pPr>
              <a:r>
                <a:rPr lang="en-US" altLang="ko-KR" sz="700" dirty="0">
                  <a:latin typeface="+mn-ea"/>
                </a:rPr>
                <a:t>EA</a:t>
              </a:r>
            </a:p>
            <a:p>
              <a:pPr>
                <a:lnSpc>
                  <a:spcPct val="200000"/>
                </a:lnSpc>
              </a:pPr>
              <a:r>
                <a:rPr lang="en-US" altLang="ko-KR" sz="700" dirty="0">
                  <a:latin typeface="+mn-ea"/>
                </a:rPr>
                <a:t>10</a:t>
              </a:r>
            </a:p>
            <a:p>
              <a:pPr>
                <a:lnSpc>
                  <a:spcPct val="200000"/>
                </a:lnSpc>
              </a:pPr>
              <a:r>
                <a:rPr lang="en-US" altLang="ko-KR" sz="700" dirty="0">
                  <a:latin typeface="+mn-ea"/>
                </a:rPr>
                <a:t>10</a:t>
              </a:r>
            </a:p>
            <a:p>
              <a:pPr>
                <a:lnSpc>
                  <a:spcPct val="200000"/>
                </a:lnSpc>
              </a:pPr>
              <a:r>
                <a:rPr lang="en-US" altLang="ko-KR" sz="700" dirty="0">
                  <a:latin typeface="+mn-ea"/>
                </a:rPr>
                <a:t>10</a:t>
              </a:r>
            </a:p>
            <a:p>
              <a:pPr algn="r">
                <a:lnSpc>
                  <a:spcPct val="200000"/>
                </a:lnSpc>
              </a:pPr>
              <a:r>
                <a:rPr lang="en-US" altLang="ko-KR" sz="700" dirty="0">
                  <a:latin typeface="+mn-ea"/>
                </a:rPr>
                <a:t>1,000.00</a:t>
              </a:r>
            </a:p>
            <a:p>
              <a:pPr algn="r">
                <a:lnSpc>
                  <a:spcPct val="200000"/>
                </a:lnSpc>
              </a:pPr>
              <a:r>
                <a:rPr lang="en-US" altLang="ko-KR" sz="700" dirty="0">
                  <a:latin typeface="+mn-ea"/>
                </a:rPr>
                <a:t>1,000.00</a:t>
              </a:r>
            </a:p>
            <a:p>
              <a:pPr algn="r">
                <a:lnSpc>
                  <a:spcPct val="200000"/>
                </a:lnSpc>
              </a:pPr>
              <a:r>
                <a:rPr lang="en-US" altLang="ko-KR" sz="700" dirty="0">
                  <a:latin typeface="+mn-ea"/>
                </a:rPr>
                <a:t>1,000.00</a:t>
              </a:r>
            </a:p>
            <a:p>
              <a:pPr>
                <a:lnSpc>
                  <a:spcPct val="200000"/>
                </a:lnSpc>
              </a:pPr>
              <a:r>
                <a:rPr lang="en-US" altLang="ko-KR" sz="700" dirty="0">
                  <a:latin typeface="+mn-ea"/>
                </a:rPr>
                <a:t>30</a:t>
              </a:r>
            </a:p>
            <a:p>
              <a:pPr algn="r">
                <a:lnSpc>
                  <a:spcPct val="200000"/>
                </a:lnSpc>
              </a:pPr>
              <a:r>
                <a:rPr lang="en-US" altLang="ko-KR" sz="700" dirty="0">
                  <a:latin typeface="+mn-ea"/>
                </a:rPr>
                <a:t>100</a:t>
              </a:r>
            </a:p>
            <a:p>
              <a:pPr algn="r">
                <a:lnSpc>
                  <a:spcPct val="200000"/>
                </a:lnSpc>
              </a:pPr>
              <a:r>
                <a:rPr lang="en-US" altLang="ko-KR" sz="700" dirty="0">
                  <a:latin typeface="+mn-ea"/>
                </a:rPr>
                <a:t>3,000.00</a:t>
              </a:r>
            </a:p>
            <a:p>
              <a:pPr>
                <a:lnSpc>
                  <a:spcPct val="200000"/>
                </a:lnSpc>
              </a:pPr>
              <a:r>
                <a:rPr lang="en-US" altLang="ko-KR" sz="700" dirty="0">
                  <a:latin typeface="+mn-ea"/>
                </a:rPr>
                <a:t>33100401</a:t>
              </a:r>
            </a:p>
            <a:p>
              <a:pPr>
                <a:lnSpc>
                  <a:spcPct val="200000"/>
                </a:lnSpc>
              </a:pPr>
              <a:r>
                <a:rPr lang="ko-KR" altLang="en-US" sz="700" dirty="0">
                  <a:latin typeface="+mn-ea"/>
                </a:rPr>
                <a:t>발칸 </a:t>
              </a:r>
              <a:r>
                <a:rPr lang="en-US" altLang="ko-KR" sz="700" dirty="0">
                  <a:latin typeface="+mn-ea"/>
                </a:rPr>
                <a:t>20</a:t>
              </a:r>
              <a:r>
                <a:rPr lang="ko-KR" altLang="en-US" sz="700" dirty="0">
                  <a:latin typeface="+mn-ea"/>
                </a:rPr>
                <a:t>미리</a:t>
              </a:r>
              <a:endParaRPr lang="en-US" altLang="ko-KR" sz="700" dirty="0">
                <a:latin typeface="+mn-ea"/>
              </a:endParaRPr>
            </a:p>
          </p:txBody>
        </p:sp>
        <p:grpSp>
          <p:nvGrpSpPr>
            <p:cNvPr id="95" name="그룹 94"/>
            <p:cNvGrpSpPr/>
            <p:nvPr/>
          </p:nvGrpSpPr>
          <p:grpSpPr>
            <a:xfrm>
              <a:off x="701175" y="1835481"/>
              <a:ext cx="2630093" cy="3857260"/>
              <a:chOff x="701175" y="1835481"/>
              <a:chExt cx="2630093" cy="3857260"/>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6" name="직선 연결선 105">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7" name="직선 연결선 106">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9" name="직선 연결선 108">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1" name="직선 연결선 110">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03268" y="5486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56927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20" name="사각형: 둥근 모서리 31">
            <a:extLst>
              <a:ext uri="{FF2B5EF4-FFF2-40B4-BE49-F238E27FC236}">
                <a16:creationId xmlns:a16="http://schemas.microsoft.com/office/drawing/2014/main" id="{2AC143EE-93CF-3518-F0CB-8469E98507E0}"/>
              </a:ext>
            </a:extLst>
          </p:cNvPr>
          <p:cNvSpPr/>
          <p:nvPr/>
        </p:nvSpPr>
        <p:spPr>
          <a:xfrm>
            <a:off x="3928441"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121" name="그룹 120">
            <a:extLst>
              <a:ext uri="{FF2B5EF4-FFF2-40B4-BE49-F238E27FC236}">
                <a16:creationId xmlns:a16="http://schemas.microsoft.com/office/drawing/2014/main" id="{22BC05EE-C648-7CA2-4CCC-6E1C1A7E9BDA}"/>
              </a:ext>
            </a:extLst>
          </p:cNvPr>
          <p:cNvGrpSpPr/>
          <p:nvPr/>
        </p:nvGrpSpPr>
        <p:grpSpPr>
          <a:xfrm>
            <a:off x="5113316" y="3483247"/>
            <a:ext cx="76863" cy="292489"/>
            <a:chOff x="3750067" y="4683795"/>
            <a:chExt cx="76863" cy="292489"/>
          </a:xfrm>
        </p:grpSpPr>
        <p:sp>
          <p:nvSpPr>
            <p:cNvPr id="122" name="타원 1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4" name="타원 123">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5" name="타원 12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40" name="직사각형 139">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타원 215">
            <a:extLst>
              <a:ext uri="{FF2B5EF4-FFF2-40B4-BE49-F238E27FC236}">
                <a16:creationId xmlns:a16="http://schemas.microsoft.com/office/drawing/2014/main" id="{37A7FF4F-0EAA-1463-560A-D5EC24416103}"/>
              </a:ext>
            </a:extLst>
          </p:cNvPr>
          <p:cNvSpPr/>
          <p:nvPr/>
        </p:nvSpPr>
        <p:spPr>
          <a:xfrm>
            <a:off x="573754" y="19505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42" name="TextBox 141">
            <a:extLst>
              <a:ext uri="{FF2B5EF4-FFF2-40B4-BE49-F238E27FC236}">
                <a16:creationId xmlns:a16="http://schemas.microsoft.com/office/drawing/2014/main" id="{FFC49AEA-2A8F-250C-A86A-A7751D9706C3}"/>
              </a:ext>
            </a:extLst>
          </p:cNvPr>
          <p:cNvSpPr txBox="1"/>
          <p:nvPr/>
        </p:nvSpPr>
        <p:spPr>
          <a:xfrm>
            <a:off x="2428604" y="1858613"/>
            <a:ext cx="393849" cy="155299"/>
          </a:xfrm>
          <a:prstGeom prst="rect">
            <a:avLst/>
          </a:prstGeom>
          <a:noFill/>
        </p:spPr>
        <p:txBody>
          <a:bodyPr wrap="square" lIns="0" tIns="0" rIns="0" bIns="0" rtlCol="0">
            <a:spAutoFit/>
          </a:bodyPr>
          <a:lstStyle/>
          <a:p>
            <a:pPr>
              <a:lnSpc>
                <a:spcPct val="200000"/>
              </a:lnSpc>
            </a:pPr>
            <a:r>
              <a:rPr lang="ko-KR" altLang="en-US" sz="600" b="1" dirty="0">
                <a:latin typeface="+mn-ea"/>
              </a:rPr>
              <a:t>표시 개수</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2727990" y="1858613"/>
            <a:ext cx="368553" cy="155299"/>
          </a:xfrm>
          <a:prstGeom prst="rect">
            <a:avLst/>
          </a:prstGeom>
          <a:noFill/>
        </p:spPr>
        <p:txBody>
          <a:bodyPr wrap="square" lIns="0" tIns="0" rIns="0" bIns="0" rtlCol="0">
            <a:spAutoFit/>
          </a:bodyPr>
          <a:lstStyle/>
          <a:p>
            <a:pPr algn="r">
              <a:lnSpc>
                <a:spcPct val="200000"/>
              </a:lnSpc>
            </a:pPr>
            <a:r>
              <a:rPr lang="en-US" altLang="ko-KR" sz="600" dirty="0">
                <a:latin typeface="+mn-ea"/>
              </a:rPr>
              <a:t>10 </a:t>
            </a:r>
            <a:r>
              <a:rPr lang="ko-KR" altLang="en-US" sz="600" dirty="0">
                <a:latin typeface="+mn-ea"/>
              </a:rPr>
              <a:t>개</a:t>
            </a:r>
          </a:p>
        </p:txBody>
      </p:sp>
      <p:grpSp>
        <p:nvGrpSpPr>
          <p:cNvPr id="146" name="그룹 145"/>
          <p:cNvGrpSpPr/>
          <p:nvPr/>
        </p:nvGrpSpPr>
        <p:grpSpPr>
          <a:xfrm>
            <a:off x="3143548" y="1948259"/>
            <a:ext cx="94010" cy="47005"/>
            <a:chOff x="6812560" y="3297172"/>
            <a:chExt cx="94010" cy="47005"/>
          </a:xfrm>
        </p:grpSpPr>
        <p:cxnSp>
          <p:nvCxnSpPr>
            <p:cNvPr id="151" name="직선 연결선 15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2" name="직선 연결선 15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89172365"/>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9D9DF87B-BE52-25C3-5A23-EA02F4F920B2}"/>
              </a:ext>
            </a:extLst>
          </p:cNvPr>
          <p:cNvSpPr>
            <a:spLocks noGrp="1"/>
          </p:cNvSpPr>
          <p:nvPr>
            <p:ph type="sldNum" sz="quarter" idx="4"/>
          </p:nvPr>
        </p:nvSpPr>
        <p:spPr/>
        <p:txBody>
          <a:bodyPr/>
          <a:lstStyle/>
          <a:p>
            <a:fld id="{9DF8E3FD-B4FB-473B-BCAD-C4534B9A9D97}" type="slidenum">
              <a:rPr lang="ko-KR" altLang="en-US" smtClean="0"/>
              <a:pPr/>
              <a:t>299</a:t>
            </a:fld>
            <a:endParaRPr lang="ko-KR" altLang="en-US" dirty="0"/>
          </a:p>
        </p:txBody>
      </p:sp>
      <p:sp>
        <p:nvSpPr>
          <p:cNvPr id="8" name="TextBox 7">
            <a:extLst>
              <a:ext uri="{FF2B5EF4-FFF2-40B4-BE49-F238E27FC236}">
                <a16:creationId xmlns:a16="http://schemas.microsoft.com/office/drawing/2014/main" id="{B375A36F-8CF4-EB9C-5A08-D4ED701E4D3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9" name="TextBox 8">
            <a:extLst>
              <a:ext uri="{FF2B5EF4-FFF2-40B4-BE49-F238E27FC236}">
                <a16:creationId xmlns:a16="http://schemas.microsoft.com/office/drawing/2014/main" id="{C974C714-DB2B-74A0-19DB-0F8D1DEAF3E0}"/>
              </a:ext>
            </a:extLst>
          </p:cNvPr>
          <p:cNvSpPr txBox="1"/>
          <p:nvPr/>
        </p:nvSpPr>
        <p:spPr>
          <a:xfrm>
            <a:off x="458117" y="803113"/>
            <a:ext cx="2212713"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조회결과 데이터 </a:t>
            </a:r>
            <a:r>
              <a:rPr lang="ko-KR" altLang="en-US" sz="900" b="1">
                <a:solidFill>
                  <a:prstClr val="black"/>
                </a:solidFill>
              </a:rPr>
              <a:t>영역 </a:t>
            </a:r>
            <a:r>
              <a:rPr lang="en-US" altLang="ko-KR" sz="900" b="1">
                <a:solidFill>
                  <a:prstClr val="black"/>
                </a:solidFill>
              </a:rPr>
              <a:t>(dl_resultList)</a:t>
            </a:r>
            <a:endParaRPr lang="ko-KR" altLang="en-US" sz="900" b="1" dirty="0">
              <a:solidFill>
                <a:prstClr val="black"/>
              </a:solidFill>
            </a:endParaRPr>
          </a:p>
        </p:txBody>
      </p:sp>
      <p:sp>
        <p:nvSpPr>
          <p:cNvPr id="10" name="TextBox 9">
            <a:extLst>
              <a:ext uri="{FF2B5EF4-FFF2-40B4-BE49-F238E27FC236}">
                <a16:creationId xmlns:a16="http://schemas.microsoft.com/office/drawing/2014/main" id="{7F545FD0-B8C5-4B98-203E-A36908FB8DD4}"/>
              </a:ext>
            </a:extLst>
          </p:cNvPr>
          <p:cNvSpPr txBox="1"/>
          <p:nvPr/>
        </p:nvSpPr>
        <p:spPr>
          <a:xfrm>
            <a:off x="458117" y="5310864"/>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12" name="표 11">
            <a:extLst>
              <a:ext uri="{FF2B5EF4-FFF2-40B4-BE49-F238E27FC236}">
                <a16:creationId xmlns:a16="http://schemas.microsoft.com/office/drawing/2014/main" id="{6CD30E0B-FD0E-6A3E-85E1-627E1B18EA16}"/>
              </a:ext>
            </a:extLst>
          </p:cNvPr>
          <p:cNvGraphicFramePr>
            <a:graphicFrameLocks noGrp="1"/>
          </p:cNvGraphicFramePr>
          <p:nvPr/>
        </p:nvGraphicFramePr>
        <p:xfrm>
          <a:off x="452999" y="1014316"/>
          <a:ext cx="8994883" cy="36844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4252529446"/>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b="0" dirty="0">
                          <a:latin typeface="+mn-ea"/>
                          <a:ea typeface="+mn-ea"/>
                        </a:rPr>
                        <a:t>R</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b="0" dirty="0">
                          <a:latin typeface="+mn-ea"/>
                          <a:ea typeface="+mn-ea"/>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7301553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54944"/>
                  </a:ext>
                </a:extLst>
              </a:tr>
              <a:tr h="0">
                <a:tc>
                  <a:txBody>
                    <a:bodyPr/>
                    <a:lstStyle/>
                    <a:p>
                      <a:pPr algn="l" fontAlgn="ctr"/>
                      <a:r>
                        <a:rPr lang="ko-KR" altLang="en-US" sz="800" b="0" i="0" u="none" strike="noStrike">
                          <a:solidFill>
                            <a:srgbClr val="000000"/>
                          </a:solidFill>
                          <a:effectLst/>
                          <a:latin typeface="+mn-ea"/>
                          <a:ea typeface="+mn-ea"/>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spcfctNo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3909892"/>
                  </a:ext>
                </a:extLst>
              </a:tr>
              <a:tr h="0">
                <a:tc>
                  <a:txBody>
                    <a:bodyPr/>
                    <a:lstStyle/>
                    <a:p>
                      <a:pPr algn="l" fontAlgn="ctr"/>
                      <a:r>
                        <a:rPr lang="ko-KR" altLang="en-US" sz="800" b="0" i="0" u="none" strike="noStrike" dirty="0">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2352817"/>
                  </a:ext>
                </a:extLst>
              </a:tr>
              <a:tr h="0">
                <a:tc>
                  <a:txBody>
                    <a:bodyPr/>
                    <a:lstStyle/>
                    <a:p>
                      <a:pPr algn="l" fontAlgn="ctr"/>
                      <a:r>
                        <a:rPr lang="ko-KR" altLang="en-US" sz="800" b="0" i="0" u="none" strike="noStrike">
                          <a:solidFill>
                            <a:srgbClr val="000000"/>
                          </a:solidFill>
                          <a:effectLst/>
                          <a:latin typeface="+mn-ea"/>
                          <a:ea typeface="+mn-ea"/>
                        </a:rPr>
                        <a:t>납기기준일자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납기기준일자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7936035"/>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98637190"/>
                  </a:ext>
                </a:extLst>
              </a:tr>
              <a:tr h="0">
                <a:tc>
                  <a:txBody>
                    <a:bodyPr/>
                    <a:lstStyle/>
                    <a:p>
                      <a:pPr algn="l" fontAlgn="ctr"/>
                      <a:r>
                        <a:rPr lang="ko-KR" altLang="en-US" sz="800" b="0" i="0" u="none" strike="noStrike">
                          <a:solidFill>
                            <a:srgbClr val="000000"/>
                          </a:solidFill>
                          <a:effectLst/>
                          <a:latin typeface="+mn-ea"/>
                          <a:ea typeface="+mn-ea"/>
                        </a:rPr>
                        <a:t>본조수량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국가 예산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9096579"/>
                  </a:ext>
                </a:extLst>
              </a:tr>
              <a:tr h="0">
                <a:tc>
                  <a:txBody>
                    <a:bodyPr/>
                    <a:lstStyle/>
                    <a:p>
                      <a:pPr algn="l" fontAlgn="ctr"/>
                      <a:r>
                        <a:rPr lang="ko-KR" altLang="en-US" sz="800" b="0" i="0" u="none" strike="noStrike">
                          <a:solidFill>
                            <a:srgbClr val="000000"/>
                          </a:solidFill>
                          <a:effectLst/>
                          <a:latin typeface="+mn-ea"/>
                          <a:ea typeface="+mn-ea"/>
                        </a:rPr>
                        <a:t>당국수량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당해년도</a:t>
                      </a:r>
                      <a:r>
                        <a:rPr lang="ko-KR" altLang="en-US" sz="800" b="0" i="0" u="none" strike="noStrike" dirty="0">
                          <a:solidFill>
                            <a:srgbClr val="000000"/>
                          </a:solidFill>
                          <a:effectLst/>
                          <a:latin typeface="+mn-ea"/>
                          <a:ea typeface="+mn-ea"/>
                        </a:rPr>
                        <a:t> 국채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4344343"/>
                  </a:ext>
                </a:extLst>
              </a:tr>
              <a:tr h="0">
                <a:tc>
                  <a:txBody>
                    <a:bodyPr/>
                    <a:lstStyle/>
                    <a:p>
                      <a:pPr algn="l" fontAlgn="ctr"/>
                      <a:r>
                        <a:rPr lang="ko-KR" altLang="en-US" sz="800" b="0" i="0" u="none" strike="noStrike" dirty="0">
                          <a:solidFill>
                            <a:srgbClr val="000000"/>
                          </a:solidFill>
                          <a:effectLst/>
                          <a:latin typeface="+mn-ea"/>
                          <a:ea typeface="+mn-ea"/>
                        </a:rPr>
                        <a:t>장국수량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장기국채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495526"/>
                  </a:ext>
                </a:extLst>
              </a:tr>
              <a:tr h="0">
                <a:tc>
                  <a:txBody>
                    <a:bodyPr/>
                    <a:lstStyle/>
                    <a:p>
                      <a:pPr algn="l" fontAlgn="ctr"/>
                      <a:r>
                        <a:rPr lang="ko-KR" altLang="en-US" sz="800" b="0" i="0" u="none" strike="noStrike">
                          <a:solidFill>
                            <a:srgbClr val="000000"/>
                          </a:solidFill>
                          <a:effectLst/>
                          <a:latin typeface="+mn-ea"/>
                          <a:ea typeface="+mn-ea"/>
                        </a:rPr>
                        <a:t>본조예산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국가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6802690"/>
                  </a:ext>
                </a:extLst>
              </a:tr>
              <a:tr h="0">
                <a:tc>
                  <a:txBody>
                    <a:bodyPr/>
                    <a:lstStyle/>
                    <a:p>
                      <a:pPr algn="l" fontAlgn="ctr"/>
                      <a:r>
                        <a:rPr lang="ko-KR" altLang="en-US" sz="800" b="0" i="0" u="none" strike="noStrike" dirty="0">
                          <a:solidFill>
                            <a:srgbClr val="000000"/>
                          </a:solidFill>
                          <a:effectLst/>
                          <a:latin typeface="+mn-ea"/>
                          <a:ea typeface="+mn-ea"/>
                        </a:rPr>
                        <a:t>당국예산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당해년도</a:t>
                      </a:r>
                      <a:r>
                        <a:rPr lang="ko-KR" altLang="en-US" sz="800" b="0" i="0" u="none" strike="noStrike" dirty="0">
                          <a:solidFill>
                            <a:srgbClr val="000000"/>
                          </a:solidFill>
                          <a:effectLst/>
                          <a:latin typeface="+mn-ea"/>
                          <a:ea typeface="+mn-ea"/>
                        </a:rPr>
                        <a:t> 국채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39499603"/>
                  </a:ext>
                </a:extLst>
              </a:tr>
              <a:tr h="0">
                <a:tc>
                  <a:txBody>
                    <a:bodyPr/>
                    <a:lstStyle/>
                    <a:p>
                      <a:pPr algn="l" fontAlgn="ctr"/>
                      <a:r>
                        <a:rPr lang="ko-KR" altLang="en-US" sz="800" b="0" i="0" u="none" strike="noStrike" dirty="0">
                          <a:solidFill>
                            <a:srgbClr val="000000"/>
                          </a:solidFill>
                          <a:effectLst/>
                          <a:latin typeface="+mn-ea"/>
                          <a:ea typeface="+mn-ea"/>
                        </a:rPr>
                        <a:t>장국예산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장기국채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21352762"/>
                  </a:ext>
                </a:extLst>
              </a:tr>
              <a:tr h="0">
                <a:tc>
                  <a:txBody>
                    <a:bodyPr/>
                    <a:lstStyle/>
                    <a:p>
                      <a:pPr algn="l" fontAlgn="ctr"/>
                      <a:r>
                        <a:rPr lang="ko-KR" altLang="en-US" sz="800" b="0" i="0" u="none" strike="noStrike" dirty="0">
                          <a:solidFill>
                            <a:srgbClr val="000000"/>
                          </a:solidFill>
                          <a:effectLst/>
                          <a:latin typeface="+mn-ea"/>
                          <a:ea typeface="+mn-ea"/>
                        </a:rPr>
                        <a:t>수량합계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수량합계</a:t>
                      </a:r>
                      <a:r>
                        <a:rPr lang="en-US" altLang="ko-KR" sz="800" b="0" i="0" u="none" strike="noStrike" dirty="0">
                          <a:solidFill>
                            <a:srgbClr val="000000"/>
                          </a:solidFill>
                          <a:effectLst/>
                          <a:latin typeface="+mn-ea"/>
                          <a:ea typeface="+mn-ea"/>
                        </a:rPr>
                        <a:t>(</a:t>
                      </a:r>
                      <a:r>
                        <a:rPr lang="ko-KR" altLang="en-US" sz="800" b="0" i="0" u="none" strike="noStrike" dirty="0">
                          <a:solidFill>
                            <a:srgbClr val="000000"/>
                          </a:solidFill>
                          <a:effectLst/>
                          <a:latin typeface="+mn-ea"/>
                          <a:ea typeface="+mn-ea"/>
                        </a:rPr>
                        <a:t>본조수량</a:t>
                      </a:r>
                      <a:r>
                        <a:rPr lang="en-US" altLang="ko-KR" sz="800" b="0" i="0" u="none" strike="noStrike" dirty="0">
                          <a:solidFill>
                            <a:srgbClr val="000000"/>
                          </a:solidFill>
                          <a:effectLst/>
                          <a:latin typeface="+mn-ea"/>
                          <a:ea typeface="+mn-ea"/>
                        </a:rPr>
                        <a:t>+</a:t>
                      </a:r>
                      <a:r>
                        <a:rPr lang="ko-KR" altLang="en-US" sz="800" b="0" i="0" u="none" strike="noStrike" dirty="0">
                          <a:solidFill>
                            <a:srgbClr val="000000"/>
                          </a:solidFill>
                          <a:effectLst/>
                          <a:latin typeface="+mn-ea"/>
                          <a:ea typeface="+mn-ea"/>
                        </a:rPr>
                        <a:t>당국수량</a:t>
                      </a:r>
                      <a:r>
                        <a:rPr lang="en-US" altLang="ko-KR" sz="800" b="0" i="0" u="none" strike="noStrike" dirty="0">
                          <a:solidFill>
                            <a:srgbClr val="000000"/>
                          </a:solidFill>
                          <a:effectLst/>
                          <a:latin typeface="+mn-ea"/>
                          <a:ea typeface="+mn-ea"/>
                        </a:rPr>
                        <a:t>+</a:t>
                      </a:r>
                      <a:r>
                        <a:rPr lang="ko-KR" altLang="en-US" sz="800" b="0" i="0" u="none" strike="noStrike" dirty="0">
                          <a:solidFill>
                            <a:srgbClr val="000000"/>
                          </a:solidFill>
                          <a:effectLst/>
                          <a:latin typeface="+mn-ea"/>
                          <a:ea typeface="+mn-ea"/>
                        </a:rPr>
                        <a:t>장국수량</a:t>
                      </a:r>
                      <a:r>
                        <a:rPr lang="en-US" altLang="ko-KR" sz="800" b="0" i="0" u="none" strike="noStrike" dirty="0">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0916125"/>
                  </a:ext>
                </a:extLst>
              </a:tr>
              <a:tr h="0">
                <a:tc>
                  <a:txBody>
                    <a:bodyPr/>
                    <a:lstStyle/>
                    <a:p>
                      <a:pPr algn="l" fontAlgn="ctr"/>
                      <a:r>
                        <a:rPr lang="ko-KR" altLang="en-US" sz="800" b="0" i="0" u="none" strike="noStrike" dirty="0">
                          <a:solidFill>
                            <a:srgbClr val="000000"/>
                          </a:solidFill>
                          <a:effectLst/>
                          <a:latin typeface="+mn-ea"/>
                          <a:ea typeface="+mn-ea"/>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09751966"/>
                  </a:ext>
                </a:extLst>
              </a:tr>
              <a:tr h="0">
                <a:tc>
                  <a:txBody>
                    <a:bodyPr/>
                    <a:lstStyle/>
                    <a:p>
                      <a:pPr algn="l" fontAlgn="ctr"/>
                      <a:r>
                        <a:rPr lang="ko-KR" altLang="en-US" sz="800" b="0" i="0" u="none" strike="noStrike" dirty="0">
                          <a:solidFill>
                            <a:srgbClr val="000000"/>
                          </a:solidFill>
                          <a:effectLst/>
                          <a:latin typeface="+mn-ea"/>
                          <a:ea typeface="+mn-ea"/>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33002223"/>
                  </a:ext>
                </a:extLst>
              </a:tr>
              <a:tr h="0">
                <a:tc>
                  <a:txBody>
                    <a:bodyPr/>
                    <a:lstStyle/>
                    <a:p>
                      <a:pPr algn="l" fontAlgn="ctr"/>
                      <a:r>
                        <a:rPr lang="ko-KR" altLang="en-US" sz="800" b="0" i="0" u="none" strike="noStrike" dirty="0">
                          <a:solidFill>
                            <a:srgbClr val="000000"/>
                          </a:solidFill>
                          <a:effectLst/>
                          <a:latin typeface="+mn-ea"/>
                          <a:ea typeface="+mn-ea"/>
                        </a:rPr>
                        <a:t>장비부호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aplcnEqpmntCd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장비부호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err="1">
                          <a:solidFill>
                            <a:srgbClr val="000000"/>
                          </a:solidFill>
                          <a:effectLst/>
                          <a:latin typeface="+mn-ea"/>
                          <a:ea typeface="+mn-ea"/>
                        </a:rPr>
                        <a:t>장비명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aplcnEqpmntNm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장비명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b="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16" name="표 15">
            <a:extLst>
              <a:ext uri="{FF2B5EF4-FFF2-40B4-BE49-F238E27FC236}">
                <a16:creationId xmlns:a16="http://schemas.microsoft.com/office/drawing/2014/main" id="{A31F6A43-1297-CF99-ABFA-B1F80565E966}"/>
              </a:ext>
            </a:extLst>
          </p:cNvPr>
          <p:cNvGraphicFramePr>
            <a:graphicFrameLocks noGrp="1"/>
          </p:cNvGraphicFramePr>
          <p:nvPr/>
        </p:nvGraphicFramePr>
        <p:xfrm>
          <a:off x="453000" y="5588995"/>
          <a:ext cx="8995591" cy="3878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strike="noStrike" baseline="30000" dirty="0">
                          <a:latin typeface="+mn-ea"/>
                          <a:ea typeface="+mn-ea"/>
                        </a:rPr>
                        <a:t>2)</a:t>
                      </a:r>
                      <a:endParaRPr lang="ko-KR" altLang="en-US" sz="800" b="1" strike="noStrike"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입찰공고의 목표가공개 품목 목록을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목표가공개품목조회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2" name="Text Box 73">
            <a:extLst>
              <a:ext uri="{FF2B5EF4-FFF2-40B4-BE49-F238E27FC236}">
                <a16:creationId xmlns:a16="http://schemas.microsoft.com/office/drawing/2014/main" id="{2AE89417-BE49-1735-E089-E72765E53CD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486263"/>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검색영역</a:t>
            </a:r>
            <a:endParaRPr lang="en-US" altLang="ko-KR" dirty="0"/>
          </a:p>
          <a:p>
            <a:pPr marL="228600" indent="-228600">
              <a:buFont typeface="+mj-lt"/>
              <a:buAutoNum type="arabicPeriod"/>
            </a:pPr>
            <a:r>
              <a:rPr lang="ko-KR" altLang="en-US" dirty="0"/>
              <a:t>건수</a:t>
            </a:r>
            <a:r>
              <a:rPr lang="en-US" altLang="ko-KR" dirty="0"/>
              <a:t>, </a:t>
            </a:r>
            <a:r>
              <a:rPr lang="ko-KR" altLang="en-US" dirty="0"/>
              <a:t>개수 표시</a:t>
            </a:r>
            <a:endParaRPr lang="en-US" altLang="ko-KR" dirty="0"/>
          </a:p>
          <a:p>
            <a:pPr marL="228600" indent="-228600">
              <a:buFont typeface="+mj-lt"/>
              <a:buAutoNum type="arabicPeriod"/>
            </a:pPr>
            <a:r>
              <a:rPr lang="ko-KR" altLang="en-US" dirty="0"/>
              <a:t>보관된 공고 목록 표시</a:t>
            </a:r>
            <a:endParaRPr lang="en-US" altLang="ko-KR" dirty="0"/>
          </a:p>
          <a:p>
            <a:pPr marL="228600" indent="-228600">
              <a:buFont typeface="+mj-lt"/>
              <a:buAutoNum type="arabicPeriod"/>
            </a:pPr>
            <a:r>
              <a:rPr lang="en-US" altLang="ko-KR" dirty="0"/>
              <a:t>10</a:t>
            </a:r>
            <a:r>
              <a:rPr lang="ko-KR" altLang="en-US" dirty="0"/>
              <a:t>개 노출 이후 </a:t>
            </a:r>
            <a:r>
              <a:rPr lang="ko-KR" altLang="en-US" dirty="0" err="1"/>
              <a:t>더보기</a:t>
            </a:r>
            <a:r>
              <a:rPr lang="ko-KR" altLang="en-US" dirty="0"/>
              <a:t> 버튼 클릭으로 </a:t>
            </a:r>
            <a:r>
              <a:rPr lang="en-US" altLang="ko-KR" dirty="0"/>
              <a:t>10</a:t>
            </a:r>
            <a:r>
              <a:rPr lang="ko-KR" altLang="en-US" dirty="0"/>
              <a:t>개씩 추가 로드</a:t>
            </a:r>
            <a:endParaRPr lang="en-US" altLang="ko-KR" dirty="0"/>
          </a:p>
          <a:p>
            <a:pPr marL="228600" indent="-228600">
              <a:buFont typeface="+mj-lt"/>
              <a:buAutoNum type="arabicPeriod"/>
            </a:pPr>
            <a:r>
              <a:rPr lang="ko-KR" altLang="en-US" dirty="0"/>
              <a:t>표시 레이블</a:t>
            </a:r>
            <a:r>
              <a:rPr lang="en-US" altLang="ko-KR" dirty="0"/>
              <a:t/>
            </a:r>
            <a:br>
              <a:rPr lang="en-US" altLang="ko-KR" dirty="0"/>
            </a:br>
            <a:r>
              <a:rPr lang="en-US" altLang="ko-KR" dirty="0"/>
              <a:t>- 3</a:t>
            </a:r>
            <a:r>
              <a:rPr lang="ko-KR" altLang="en-US" dirty="0" err="1"/>
              <a:t>번항</a:t>
            </a:r>
            <a:r>
              <a:rPr lang="ko-KR" altLang="en-US" dirty="0"/>
              <a:t> </a:t>
            </a:r>
            <a:r>
              <a:rPr lang="ko-KR" altLang="en-US" dirty="0" err="1"/>
              <a:t>검색필터</a:t>
            </a:r>
            <a:r>
              <a:rPr lang="ko-KR" altLang="en-US" dirty="0"/>
              <a:t> 적용 시 표시</a:t>
            </a:r>
            <a:r>
              <a:rPr lang="en-US" altLang="ko-KR" dirty="0"/>
              <a:t/>
            </a:r>
            <a:br>
              <a:rPr lang="en-US" altLang="ko-KR" dirty="0"/>
            </a:br>
            <a:r>
              <a:rPr lang="en-US" altLang="ko-KR" dirty="0"/>
              <a:t>  &gt; </a:t>
            </a:r>
            <a:r>
              <a:rPr lang="ko-KR" altLang="en-US" dirty="0"/>
              <a:t>레이블이 화면을 넘치는 경우 드래그하여 확인 가능</a:t>
            </a:r>
            <a:r>
              <a:rPr lang="en-US" altLang="ko-KR" dirty="0"/>
              <a:t/>
            </a:r>
            <a:br>
              <a:rPr lang="en-US" altLang="ko-KR" dirty="0"/>
            </a:br>
            <a:r>
              <a:rPr lang="en-US" altLang="ko-KR" dirty="0"/>
              <a:t>- 4</a:t>
            </a:r>
            <a:r>
              <a:rPr lang="ko-KR" altLang="en-US" dirty="0" err="1"/>
              <a:t>번항</a:t>
            </a:r>
            <a:r>
              <a:rPr lang="ko-KR" altLang="en-US" dirty="0"/>
              <a:t> 공고 상단 표시</a:t>
            </a:r>
            <a:r>
              <a:rPr lang="en-US" altLang="ko-KR" dirty="0"/>
              <a:t/>
            </a:r>
            <a:br>
              <a:rPr lang="en-US" altLang="ko-KR" dirty="0"/>
            </a:br>
            <a:r>
              <a:rPr lang="en-US" altLang="ko-KR" dirty="0"/>
              <a:t>  &gt; </a:t>
            </a:r>
            <a:r>
              <a:rPr lang="ko-KR" altLang="en-US" dirty="0"/>
              <a:t>레이블이 화면을 넘치는 경우 드래그하여 확인 가능</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300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국외 보관함 목록</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보관함에 추가한 국외 공고를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MUI-CM-01-M71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국외 보관함 </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5884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2" name="타원 51">
            <a:extLst>
              <a:ext uri="{FF2B5EF4-FFF2-40B4-BE49-F238E27FC236}">
                <a16:creationId xmlns:a16="http://schemas.microsoft.com/office/drawing/2014/main" id="{37A7FF4F-0EAA-1463-560A-D5EC24416103}"/>
              </a:ext>
            </a:extLst>
          </p:cNvPr>
          <p:cNvSpPr/>
          <p:nvPr/>
        </p:nvSpPr>
        <p:spPr>
          <a:xfrm>
            <a:off x="571127" y="254372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4" name="사각형: 둥근 모서리 31">
            <a:extLst>
              <a:ext uri="{FF2B5EF4-FFF2-40B4-BE49-F238E27FC236}">
                <a16:creationId xmlns:a16="http://schemas.microsoft.com/office/drawing/2014/main" id="{2AC143EE-93CF-3518-F0CB-8469E98507E0}"/>
              </a:ext>
            </a:extLst>
          </p:cNvPr>
          <p:cNvSpPr/>
          <p:nvPr/>
        </p:nvSpPr>
        <p:spPr>
          <a:xfrm>
            <a:off x="808106"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69" name="그룹 68">
            <a:extLst>
              <a:ext uri="{FF2B5EF4-FFF2-40B4-BE49-F238E27FC236}">
                <a16:creationId xmlns:a16="http://schemas.microsoft.com/office/drawing/2014/main" id="{22BC05EE-C648-7CA2-4CCC-6E1C1A7E9BDA}"/>
              </a:ext>
            </a:extLst>
          </p:cNvPr>
          <p:cNvGrpSpPr/>
          <p:nvPr/>
        </p:nvGrpSpPr>
        <p:grpSpPr>
          <a:xfrm>
            <a:off x="1992981" y="5528684"/>
            <a:ext cx="76863" cy="292489"/>
            <a:chOff x="3750067" y="4683795"/>
            <a:chExt cx="76863" cy="292489"/>
          </a:xfrm>
        </p:grpSpPr>
        <p:sp>
          <p:nvSpPr>
            <p:cNvPr id="70" name="타원 6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1" name="타원 7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2" name="타원 7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79" name="직선 연결선 78">
            <a:extLst>
              <a:ext uri="{FF2B5EF4-FFF2-40B4-BE49-F238E27FC236}">
                <a16:creationId xmlns:a16="http://schemas.microsoft.com/office/drawing/2014/main" id="{E9293055-D5CD-4B9E-7F64-64B2D2CA7A52}"/>
              </a:ext>
            </a:extLst>
          </p:cNvPr>
          <p:cNvCxnSpPr/>
          <p:nvPr/>
        </p:nvCxnSpPr>
        <p:spPr>
          <a:xfrm>
            <a:off x="720490" y="420599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20490" y="279647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타원 133">
            <a:extLst>
              <a:ext uri="{FF2B5EF4-FFF2-40B4-BE49-F238E27FC236}">
                <a16:creationId xmlns:a16="http://schemas.microsoft.com/office/drawing/2014/main" id="{37A7FF4F-0EAA-1463-560A-D5EC24416103}"/>
              </a:ext>
            </a:extLst>
          </p:cNvPr>
          <p:cNvSpPr/>
          <p:nvPr/>
        </p:nvSpPr>
        <p:spPr>
          <a:xfrm>
            <a:off x="571127" y="336137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35" name="타원 134">
            <a:extLst>
              <a:ext uri="{FF2B5EF4-FFF2-40B4-BE49-F238E27FC236}">
                <a16:creationId xmlns:a16="http://schemas.microsoft.com/office/drawing/2014/main" id="{37A7FF4F-0EAA-1463-560A-D5EC24416103}"/>
              </a:ext>
            </a:extLst>
          </p:cNvPr>
          <p:cNvSpPr/>
          <p:nvPr/>
        </p:nvSpPr>
        <p:spPr>
          <a:xfrm>
            <a:off x="571127" y="58819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82" name="모서리가 둥근 직사각형 81"/>
          <p:cNvSpPr/>
          <p:nvPr/>
        </p:nvSpPr>
        <p:spPr>
          <a:xfrm>
            <a:off x="4712435" y="287715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83" name="TextBox 82">
            <a:extLst>
              <a:ext uri="{FF2B5EF4-FFF2-40B4-BE49-F238E27FC236}">
                <a16:creationId xmlns:a16="http://schemas.microsoft.com/office/drawing/2014/main" id="{FFC49AEA-2A8F-250C-A86A-A7751D9706C3}"/>
              </a:ext>
            </a:extLst>
          </p:cNvPr>
          <p:cNvSpPr txBox="1"/>
          <p:nvPr/>
        </p:nvSpPr>
        <p:spPr>
          <a:xfrm>
            <a:off x="4706886" y="2025433"/>
            <a:ext cx="547346" cy="107722"/>
          </a:xfrm>
          <a:prstGeom prst="rect">
            <a:avLst/>
          </a:prstGeom>
          <a:noFill/>
        </p:spPr>
        <p:txBody>
          <a:bodyPr wrap="square" lIns="0" tIns="0" rIns="0" bIns="0" rtlCol="0">
            <a:spAutoFit/>
          </a:bodyPr>
          <a:lstStyle/>
          <a:p>
            <a:r>
              <a:rPr lang="ko-KR" altLang="en-US" sz="700" dirty="0">
                <a:latin typeface="+mn-ea"/>
              </a:rPr>
              <a:t>표시 레이블</a:t>
            </a:r>
          </a:p>
        </p:txBody>
      </p:sp>
      <p:sp>
        <p:nvSpPr>
          <p:cNvPr id="88" name="모서리가 둥근 직사각형 87"/>
          <p:cNvSpPr/>
          <p:nvPr/>
        </p:nvSpPr>
        <p:spPr>
          <a:xfrm>
            <a:off x="5171408" y="287860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공개수의</a:t>
            </a:r>
            <a:endParaRPr lang="ko-KR" altLang="en-US" sz="600" dirty="0"/>
          </a:p>
        </p:txBody>
      </p:sp>
      <p:sp>
        <p:nvSpPr>
          <p:cNvPr id="89" name="모서리가 둥근 직사각형 88"/>
          <p:cNvSpPr/>
          <p:nvPr/>
        </p:nvSpPr>
        <p:spPr>
          <a:xfrm>
            <a:off x="5630555" y="287860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사전심사</a:t>
            </a:r>
          </a:p>
        </p:txBody>
      </p:sp>
      <p:sp>
        <p:nvSpPr>
          <p:cNvPr id="100" name="TextBox 99">
            <a:extLst>
              <a:ext uri="{FF2B5EF4-FFF2-40B4-BE49-F238E27FC236}">
                <a16:creationId xmlns:a16="http://schemas.microsoft.com/office/drawing/2014/main" id="{FFC49AEA-2A8F-250C-A86A-A7751D9706C3}"/>
              </a:ext>
            </a:extLst>
          </p:cNvPr>
          <p:cNvSpPr txBox="1"/>
          <p:nvPr/>
        </p:nvSpPr>
        <p:spPr>
          <a:xfrm>
            <a:off x="3840446" y="2550467"/>
            <a:ext cx="868861" cy="107722"/>
          </a:xfrm>
          <a:prstGeom prst="rect">
            <a:avLst/>
          </a:prstGeom>
          <a:noFill/>
        </p:spPr>
        <p:txBody>
          <a:bodyPr wrap="square" lIns="0" tIns="0" rIns="0" bIns="0" rtlCol="0">
            <a:spAutoFit/>
          </a:bodyPr>
          <a:lstStyle/>
          <a:p>
            <a:r>
              <a:rPr lang="ko-KR" altLang="en-US" sz="700" dirty="0">
                <a:solidFill>
                  <a:srgbClr val="000000"/>
                </a:solidFill>
                <a:latin typeface="+mn-ea"/>
              </a:rPr>
              <a:t>입찰참가신청여부</a:t>
            </a:r>
            <a:endParaRPr lang="ko-KR" altLang="en-US" sz="700" dirty="0">
              <a:latin typeface="+mn-ea"/>
            </a:endParaRPr>
          </a:p>
        </p:txBody>
      </p:sp>
      <p:sp>
        <p:nvSpPr>
          <p:cNvPr id="101" name="TextBox 100">
            <a:extLst>
              <a:ext uri="{FF2B5EF4-FFF2-40B4-BE49-F238E27FC236}">
                <a16:creationId xmlns:a16="http://schemas.microsoft.com/office/drawing/2014/main" id="{FFC49AEA-2A8F-250C-A86A-A7751D9706C3}"/>
              </a:ext>
            </a:extLst>
          </p:cNvPr>
          <p:cNvSpPr txBox="1"/>
          <p:nvPr/>
        </p:nvSpPr>
        <p:spPr>
          <a:xfrm>
            <a:off x="3840446" y="2882998"/>
            <a:ext cx="866439" cy="107722"/>
          </a:xfrm>
          <a:prstGeom prst="rect">
            <a:avLst/>
          </a:prstGeom>
          <a:noFill/>
        </p:spPr>
        <p:txBody>
          <a:bodyPr wrap="square" lIns="0" tIns="0" rIns="0" bIns="0" rtlCol="0">
            <a:spAutoFit/>
          </a:bodyPr>
          <a:lstStyle/>
          <a:p>
            <a:r>
              <a:rPr lang="ko-KR" altLang="en-US" sz="700" dirty="0" err="1">
                <a:latin typeface="+mn-ea"/>
              </a:rPr>
              <a:t>입찰구분</a:t>
            </a:r>
            <a:endParaRPr lang="ko-KR" altLang="en-US" sz="700" dirty="0">
              <a:latin typeface="+mn-ea"/>
            </a:endParaRPr>
          </a:p>
        </p:txBody>
      </p:sp>
      <p:sp>
        <p:nvSpPr>
          <p:cNvPr id="103" name="모서리가 둥근 직사각형 102"/>
          <p:cNvSpPr/>
          <p:nvPr/>
        </p:nvSpPr>
        <p:spPr>
          <a:xfrm>
            <a:off x="4712435" y="3228637"/>
            <a:ext cx="32794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단가제</a:t>
            </a:r>
            <a:endParaRPr lang="ko-KR" altLang="en-US" sz="600" dirty="0"/>
          </a:p>
        </p:txBody>
      </p:sp>
      <p:sp>
        <p:nvSpPr>
          <p:cNvPr id="104" name="TextBox 103">
            <a:extLst>
              <a:ext uri="{FF2B5EF4-FFF2-40B4-BE49-F238E27FC236}">
                <a16:creationId xmlns:a16="http://schemas.microsoft.com/office/drawing/2014/main" id="{FFC49AEA-2A8F-250C-A86A-A7751D9706C3}"/>
              </a:ext>
            </a:extLst>
          </p:cNvPr>
          <p:cNvSpPr txBox="1"/>
          <p:nvPr/>
        </p:nvSpPr>
        <p:spPr>
          <a:xfrm>
            <a:off x="3840446" y="3234476"/>
            <a:ext cx="866439" cy="107722"/>
          </a:xfrm>
          <a:prstGeom prst="rect">
            <a:avLst/>
          </a:prstGeom>
          <a:noFill/>
        </p:spPr>
        <p:txBody>
          <a:bodyPr wrap="square" lIns="0" tIns="0" rIns="0" bIns="0" rtlCol="0">
            <a:spAutoFit/>
          </a:bodyPr>
          <a:lstStyle/>
          <a:p>
            <a:r>
              <a:rPr lang="ko-KR" altLang="en-US" sz="700" dirty="0">
                <a:latin typeface="+mn-ea"/>
              </a:rPr>
              <a:t>가격제</a:t>
            </a:r>
          </a:p>
        </p:txBody>
      </p:sp>
      <p:sp>
        <p:nvSpPr>
          <p:cNvPr id="160" name="타원 159">
            <a:extLst>
              <a:ext uri="{FF2B5EF4-FFF2-40B4-BE49-F238E27FC236}">
                <a16:creationId xmlns:a16="http://schemas.microsoft.com/office/drawing/2014/main" id="{37A7FF4F-0EAA-1463-560A-D5EC24416103}"/>
              </a:ext>
            </a:extLst>
          </p:cNvPr>
          <p:cNvSpPr/>
          <p:nvPr/>
        </p:nvSpPr>
        <p:spPr>
          <a:xfrm>
            <a:off x="4692286" y="175916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
        <p:nvSpPr>
          <p:cNvPr id="148" name="모서리가 둥근 직사각형 147"/>
          <p:cNvSpPr/>
          <p:nvPr/>
        </p:nvSpPr>
        <p:spPr>
          <a:xfrm>
            <a:off x="4709307" y="2203671"/>
            <a:ext cx="577496"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입찰내역</a:t>
            </a:r>
            <a:r>
              <a:rPr lang="ko-KR" altLang="en-US" sz="600" dirty="0"/>
              <a:t> 작성</a:t>
            </a:r>
          </a:p>
        </p:txBody>
      </p:sp>
      <p:sp>
        <p:nvSpPr>
          <p:cNvPr id="156" name="모서리가 둥근 직사각형 155"/>
          <p:cNvSpPr/>
          <p:nvPr/>
        </p:nvSpPr>
        <p:spPr>
          <a:xfrm>
            <a:off x="5331545" y="2203671"/>
            <a:ext cx="65005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입찰내역</a:t>
            </a:r>
            <a:r>
              <a:rPr lang="ko-KR" altLang="en-US" sz="600" dirty="0"/>
              <a:t> </a:t>
            </a:r>
            <a:r>
              <a:rPr lang="ko-KR" altLang="en-US" sz="600" dirty="0" err="1"/>
              <a:t>미작성</a:t>
            </a:r>
            <a:endParaRPr lang="ko-KR" altLang="en-US" sz="600" dirty="0"/>
          </a:p>
        </p:txBody>
      </p:sp>
      <p:sp>
        <p:nvSpPr>
          <p:cNvPr id="177" name="TextBox 176">
            <a:extLst>
              <a:ext uri="{FF2B5EF4-FFF2-40B4-BE49-F238E27FC236}">
                <a16:creationId xmlns:a16="http://schemas.microsoft.com/office/drawing/2014/main" id="{FFC49AEA-2A8F-250C-A86A-A7751D9706C3}"/>
              </a:ext>
            </a:extLst>
          </p:cNvPr>
          <p:cNvSpPr txBox="1"/>
          <p:nvPr/>
        </p:nvSpPr>
        <p:spPr>
          <a:xfrm>
            <a:off x="3840446" y="2209510"/>
            <a:ext cx="874607" cy="107722"/>
          </a:xfrm>
          <a:prstGeom prst="rect">
            <a:avLst/>
          </a:prstGeom>
          <a:noFill/>
        </p:spPr>
        <p:txBody>
          <a:bodyPr wrap="square" lIns="0" tIns="0" rIns="0" bIns="0" rtlCol="0">
            <a:spAutoFit/>
          </a:bodyPr>
          <a:lstStyle/>
          <a:p>
            <a:r>
              <a:rPr lang="ko-KR" altLang="en-US" sz="700" dirty="0">
                <a:solidFill>
                  <a:srgbClr val="000000"/>
                </a:solidFill>
                <a:latin typeface="+mn-ea"/>
              </a:rPr>
              <a:t>입찰내역작성여부</a:t>
            </a:r>
            <a:endParaRPr lang="ko-KR" altLang="en-US" sz="700" dirty="0">
              <a:latin typeface="+mn-ea"/>
            </a:endParaRPr>
          </a:p>
        </p:txBody>
      </p:sp>
      <p:grpSp>
        <p:nvGrpSpPr>
          <p:cNvPr id="178" name="그룹 177"/>
          <p:cNvGrpSpPr/>
          <p:nvPr/>
        </p:nvGrpSpPr>
        <p:grpSpPr>
          <a:xfrm>
            <a:off x="767702" y="1905667"/>
            <a:ext cx="2527420" cy="477995"/>
            <a:chOff x="786326" y="2270279"/>
            <a:chExt cx="2527420" cy="477995"/>
          </a:xfrm>
        </p:grpSpPr>
        <p:sp>
          <p:nvSpPr>
            <p:cNvPr id="179" name="모서리가 둥근 직사각형 178"/>
            <p:cNvSpPr/>
            <p:nvPr/>
          </p:nvSpPr>
          <p:spPr>
            <a:xfrm>
              <a:off x="786326" y="2481707"/>
              <a:ext cx="2527420" cy="266567"/>
            </a:xfrm>
            <a:prstGeom prst="roundRect">
              <a:avLst>
                <a:gd name="adj" fmla="val 5000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0" name="타원 179"/>
            <p:cNvSpPr/>
            <p:nvPr/>
          </p:nvSpPr>
          <p:spPr>
            <a:xfrm>
              <a:off x="3071451"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1" name="TextBox 180">
              <a:extLst>
                <a:ext uri="{FF2B5EF4-FFF2-40B4-BE49-F238E27FC236}">
                  <a16:creationId xmlns:a16="http://schemas.microsoft.com/office/drawing/2014/main" id="{FFC49AEA-2A8F-250C-A86A-A7751D9706C3}"/>
                </a:ext>
              </a:extLst>
            </p:cNvPr>
            <p:cNvSpPr txBox="1"/>
            <p:nvPr/>
          </p:nvSpPr>
          <p:spPr>
            <a:xfrm>
              <a:off x="890013" y="2561129"/>
              <a:ext cx="1886364" cy="107722"/>
            </a:xfrm>
            <a:prstGeom prst="rect">
              <a:avLst/>
            </a:prstGeom>
            <a:noFill/>
          </p:spPr>
          <p:txBody>
            <a:bodyPr wrap="square" lIns="0" tIns="0" rIns="0" bIns="0" rtlCol="0">
              <a:spAutoFit/>
            </a:bodyPr>
            <a:lstStyle/>
            <a:p>
              <a:r>
                <a:rPr lang="ko-KR" altLang="en-US" sz="700" dirty="0">
                  <a:solidFill>
                    <a:schemeClr val="bg1">
                      <a:lumMod val="50000"/>
                    </a:schemeClr>
                  </a:solidFill>
                  <a:latin typeface="+mn-ea"/>
                </a:rPr>
                <a:t>검색할 내용을 입력하세요</a:t>
              </a:r>
              <a:r>
                <a:rPr lang="en-US" altLang="ko-KR" sz="700" dirty="0">
                  <a:solidFill>
                    <a:schemeClr val="bg1">
                      <a:lumMod val="50000"/>
                    </a:schemeClr>
                  </a:solidFill>
                  <a:latin typeface="+mn-ea"/>
                </a:rPr>
                <a:t>.</a:t>
              </a:r>
              <a:endParaRPr lang="ko-KR" altLang="en-US" sz="700" dirty="0">
                <a:solidFill>
                  <a:schemeClr val="bg1">
                    <a:lumMod val="50000"/>
                  </a:schemeClr>
                </a:solidFill>
                <a:latin typeface="+mn-ea"/>
              </a:endParaRPr>
            </a:p>
          </p:txBody>
        </p:sp>
        <p:grpSp>
          <p:nvGrpSpPr>
            <p:cNvPr id="182" name="그룹 181"/>
            <p:cNvGrpSpPr/>
            <p:nvPr/>
          </p:nvGrpSpPr>
          <p:grpSpPr>
            <a:xfrm>
              <a:off x="795624" y="2274581"/>
              <a:ext cx="1475293" cy="155984"/>
              <a:chOff x="808107" y="2288229"/>
              <a:chExt cx="1350888" cy="168318"/>
            </a:xfrm>
          </p:grpSpPr>
          <p:sp>
            <p:nvSpPr>
              <p:cNvPr id="189" name="사각형: 둥근 모서리 31">
                <a:extLst>
                  <a:ext uri="{FF2B5EF4-FFF2-40B4-BE49-F238E27FC236}">
                    <a16:creationId xmlns:a16="http://schemas.microsoft.com/office/drawing/2014/main" id="{2AC143EE-93CF-3518-F0CB-8469E98507E0}"/>
                  </a:ext>
                </a:extLst>
              </p:cNvPr>
              <p:cNvSpPr/>
              <p:nvPr/>
            </p:nvSpPr>
            <p:spPr>
              <a:xfrm>
                <a:off x="808107" y="2288229"/>
                <a:ext cx="644418" cy="168318"/>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통합참조번호</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90" name="사각형: 둥근 모서리 31">
                <a:extLst>
                  <a:ext uri="{FF2B5EF4-FFF2-40B4-BE49-F238E27FC236}">
                    <a16:creationId xmlns:a16="http://schemas.microsoft.com/office/drawing/2014/main" id="{2AC143EE-93CF-3518-F0CB-8469E98507E0}"/>
                  </a:ext>
                </a:extLst>
              </p:cNvPr>
              <p:cNvSpPr/>
              <p:nvPr/>
            </p:nvSpPr>
            <p:spPr>
              <a:xfrm>
                <a:off x="1491295" y="2288229"/>
                <a:ext cx="667700" cy="168318"/>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a:latin typeface="맑은 고딕"/>
                    <a:ea typeface="맑은 고딕" panose="020B0503020000020004" pitchFamily="50" charset="-127"/>
                  </a:rPr>
                  <a:t>구매요청번호</a:t>
                </a:r>
                <a:endParaRPr kumimoji="1" lang="en-US" sz="800" b="0" i="0" u="none" strike="noStrike" kern="0" cap="none" spc="0" normalizeH="0" baseline="0" noProof="0" dirty="0">
                  <a:ln>
                    <a:noFill/>
                  </a:ln>
                  <a:effectLst/>
                  <a:uLnTx/>
                  <a:uFillTx/>
                  <a:latin typeface="맑은 고딕"/>
                </a:endParaRPr>
              </a:p>
            </p:txBody>
          </p:sp>
        </p:grpSp>
        <p:sp>
          <p:nvSpPr>
            <p:cNvPr id="184" name="사각형: 둥근 모서리 31">
              <a:extLst>
                <a:ext uri="{FF2B5EF4-FFF2-40B4-BE49-F238E27FC236}">
                  <a16:creationId xmlns:a16="http://schemas.microsoft.com/office/drawing/2014/main" id="{2AC143EE-93CF-3518-F0CB-8469E98507E0}"/>
                </a:ext>
              </a:extLst>
            </p:cNvPr>
            <p:cNvSpPr/>
            <p:nvPr/>
          </p:nvSpPr>
          <p:spPr>
            <a:xfrm>
              <a:off x="2726021" y="2270279"/>
              <a:ext cx="582849" cy="154795"/>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검색필터</a:t>
              </a:r>
              <a:endParaRPr kumimoji="1" lang="en-US" sz="800" b="0" i="0" u="none" strike="noStrike" kern="0" cap="none" spc="0" normalizeH="0" baseline="0" noProof="0" dirty="0">
                <a:ln>
                  <a:noFill/>
                </a:ln>
                <a:effectLst/>
                <a:uLnTx/>
                <a:uFillTx/>
                <a:latin typeface="맑은 고딕"/>
              </a:endParaRPr>
            </a:p>
          </p:txBody>
        </p:sp>
        <p:sp>
          <p:nvSpPr>
            <p:cNvPr id="185" name="타원 184"/>
            <p:cNvSpPr/>
            <p:nvPr/>
          </p:nvSpPr>
          <p:spPr>
            <a:xfrm>
              <a:off x="2857726" y="255106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6" name="그룹 185"/>
            <p:cNvGrpSpPr/>
            <p:nvPr/>
          </p:nvGrpSpPr>
          <p:grpSpPr>
            <a:xfrm>
              <a:off x="2901631" y="2585953"/>
              <a:ext cx="58075" cy="58074"/>
              <a:chOff x="6812560" y="3297172"/>
              <a:chExt cx="94010" cy="94010"/>
            </a:xfrm>
          </p:grpSpPr>
          <p:cxnSp>
            <p:nvCxnSpPr>
              <p:cNvPr id="187" name="직선 연결선 186"/>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88" name="직선 연결선 187"/>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91" name="직선 연결선 190">
            <a:extLst>
              <a:ext uri="{FF2B5EF4-FFF2-40B4-BE49-F238E27FC236}">
                <a16:creationId xmlns:a16="http://schemas.microsoft.com/office/drawing/2014/main" id="{E9293055-D5CD-4B9E-7F64-64B2D2CA7A52}"/>
              </a:ext>
            </a:extLst>
          </p:cNvPr>
          <p:cNvCxnSpPr/>
          <p:nvPr/>
        </p:nvCxnSpPr>
        <p:spPr>
          <a:xfrm>
            <a:off x="675399" y="244112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9" name="TextBox 198">
            <a:extLst>
              <a:ext uri="{FF2B5EF4-FFF2-40B4-BE49-F238E27FC236}">
                <a16:creationId xmlns:a16="http://schemas.microsoft.com/office/drawing/2014/main" id="{FFC49AEA-2A8F-250C-A86A-A7751D9706C3}"/>
              </a:ext>
            </a:extLst>
          </p:cNvPr>
          <p:cNvSpPr txBox="1"/>
          <p:nvPr/>
        </p:nvSpPr>
        <p:spPr>
          <a:xfrm>
            <a:off x="778515" y="2510110"/>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99</a:t>
            </a:r>
            <a:r>
              <a:rPr lang="en-US" altLang="ko-KR" sz="700" dirty="0">
                <a:latin typeface="+mn-ea"/>
              </a:rPr>
              <a:t> </a:t>
            </a:r>
            <a:r>
              <a:rPr lang="ko-KR" altLang="en-US" sz="700" dirty="0">
                <a:latin typeface="+mn-ea"/>
              </a:rPr>
              <a:t>건</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2278206" y="2506056"/>
            <a:ext cx="393849" cy="181140"/>
          </a:xfrm>
          <a:prstGeom prst="rect">
            <a:avLst/>
          </a:prstGeom>
          <a:noFill/>
        </p:spPr>
        <p:txBody>
          <a:bodyPr wrap="square" lIns="0" tIns="0" rIns="0" bIns="0" rtlCol="0">
            <a:spAutoFit/>
          </a:bodyPr>
          <a:lstStyle/>
          <a:p>
            <a:pPr>
              <a:lnSpc>
                <a:spcPct val="200000"/>
              </a:lnSpc>
            </a:pPr>
            <a:r>
              <a:rPr lang="ko-KR" altLang="en-US" sz="700" b="1" dirty="0">
                <a:latin typeface="+mn-ea"/>
              </a:rPr>
              <a:t>표시 개수</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2727990" y="2506056"/>
            <a:ext cx="505710" cy="181140"/>
          </a:xfrm>
          <a:prstGeom prst="rect">
            <a:avLst/>
          </a:prstGeom>
          <a:noFill/>
        </p:spPr>
        <p:txBody>
          <a:bodyPr wrap="square" lIns="0" tIns="0" rIns="0" bIns="0" rtlCol="0">
            <a:spAutoFit/>
          </a:bodyPr>
          <a:lstStyle/>
          <a:p>
            <a:pPr>
              <a:lnSpc>
                <a:spcPct val="200000"/>
              </a:lnSpc>
            </a:pPr>
            <a:r>
              <a:rPr lang="en-US" altLang="ko-KR" sz="700" dirty="0">
                <a:latin typeface="+mn-ea"/>
              </a:rPr>
              <a:t>10 </a:t>
            </a:r>
            <a:r>
              <a:rPr lang="ko-KR" altLang="en-US" sz="700" dirty="0">
                <a:latin typeface="+mn-ea"/>
              </a:rPr>
              <a:t>개</a:t>
            </a:r>
          </a:p>
        </p:txBody>
      </p:sp>
      <p:grpSp>
        <p:nvGrpSpPr>
          <p:cNvPr id="202" name="그룹 201"/>
          <p:cNvGrpSpPr/>
          <p:nvPr/>
        </p:nvGrpSpPr>
        <p:grpSpPr>
          <a:xfrm>
            <a:off x="3143548" y="2607879"/>
            <a:ext cx="94010" cy="47005"/>
            <a:chOff x="6812560" y="3297172"/>
            <a:chExt cx="94010" cy="47005"/>
          </a:xfrm>
        </p:grpSpPr>
        <p:cxnSp>
          <p:nvCxnSpPr>
            <p:cNvPr id="203" name="직선 연결선 20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4" name="직선 연결선 20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5" name="모서리가 둥근 직사각형 204"/>
          <p:cNvSpPr/>
          <p:nvPr/>
        </p:nvSpPr>
        <p:spPr>
          <a:xfrm>
            <a:off x="4709307" y="2544628"/>
            <a:ext cx="577496"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 신청</a:t>
            </a:r>
          </a:p>
        </p:txBody>
      </p:sp>
      <p:sp>
        <p:nvSpPr>
          <p:cNvPr id="206" name="모서리가 둥근 직사각형 205"/>
          <p:cNvSpPr/>
          <p:nvPr/>
        </p:nvSpPr>
        <p:spPr>
          <a:xfrm>
            <a:off x="5331545" y="2544628"/>
            <a:ext cx="65005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 </a:t>
            </a:r>
            <a:r>
              <a:rPr lang="ko-KR" altLang="en-US" sz="600" dirty="0" err="1"/>
              <a:t>미신청</a:t>
            </a:r>
            <a:endParaRPr lang="ko-KR" altLang="en-US" sz="600" dirty="0"/>
          </a:p>
        </p:txBody>
      </p:sp>
      <p:sp>
        <p:nvSpPr>
          <p:cNvPr id="207" name="모서리가 둥근 직사각형 206"/>
          <p:cNvSpPr/>
          <p:nvPr/>
        </p:nvSpPr>
        <p:spPr>
          <a:xfrm>
            <a:off x="5080198" y="3228637"/>
            <a:ext cx="32794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총액제</a:t>
            </a:r>
            <a:endParaRPr lang="ko-KR" altLang="en-US" sz="600" dirty="0"/>
          </a:p>
        </p:txBody>
      </p:sp>
      <p:grpSp>
        <p:nvGrpSpPr>
          <p:cNvPr id="3" name="그룹 2"/>
          <p:cNvGrpSpPr/>
          <p:nvPr/>
        </p:nvGrpSpPr>
        <p:grpSpPr>
          <a:xfrm>
            <a:off x="777000" y="2893707"/>
            <a:ext cx="2477718" cy="1237060"/>
            <a:chOff x="777000" y="2893707"/>
            <a:chExt cx="2477718" cy="1237060"/>
          </a:xfrm>
        </p:grpSpPr>
        <p:sp>
          <p:nvSpPr>
            <p:cNvPr id="55"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T-80U/TBE-3</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3438270"/>
              <a:ext cx="769441" cy="692497"/>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입찰업체</a:t>
              </a:r>
              <a:endParaRPr lang="en-US" altLang="ko-KR" sz="600" dirty="0">
                <a:latin typeface="+mn-ea"/>
              </a:endParaRPr>
            </a:p>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입찰참가등록마감일시</a:t>
              </a:r>
              <a:endParaRPr lang="en-US" altLang="ko-KR" sz="600" dirty="0">
                <a:latin typeface="+mn-ea"/>
              </a:endParaRPr>
            </a:p>
            <a:p>
              <a:pPr>
                <a:lnSpc>
                  <a:spcPct val="150000"/>
                </a:lnSpc>
              </a:pPr>
              <a:r>
                <a:rPr lang="ko-KR" altLang="en-US" sz="600" dirty="0">
                  <a:latin typeface="+mn-ea"/>
                </a:rPr>
                <a:t>입찰서제출마감일시</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6240" y="3422881"/>
              <a:ext cx="614014" cy="692497"/>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ko-KR" altLang="en-US" sz="600" dirty="0" err="1">
                  <a:latin typeface="+mn-ea"/>
                </a:rPr>
                <a:t>미작성</a:t>
              </a:r>
              <a:endParaRPr lang="en-US" altLang="ko-KR" sz="600" dirty="0">
                <a:latin typeface="+mn-ea"/>
              </a:endParaRPr>
            </a:p>
            <a:p>
              <a:pPr algn="r">
                <a:lnSpc>
                  <a:spcPct val="150000"/>
                </a:lnSpc>
              </a:pPr>
              <a:r>
                <a:rPr lang="en-US" altLang="ko-KR" sz="600" dirty="0">
                  <a:latin typeface="+mn-ea"/>
                </a:rPr>
                <a:t>BDF01823-002</a:t>
              </a:r>
            </a:p>
            <a:p>
              <a:pPr algn="r">
                <a:lnSpc>
                  <a:spcPct val="150000"/>
                </a:lnSpc>
              </a:pPr>
              <a:r>
                <a:rPr lang="en-US" altLang="ko-KR" sz="600" dirty="0">
                  <a:latin typeface="+mn-ea"/>
                </a:rPr>
                <a:t>2026-03-17 15:00</a:t>
              </a:r>
            </a:p>
            <a:p>
              <a:pPr algn="r">
                <a:lnSpc>
                  <a:spcPct val="150000"/>
                </a:lnSpc>
              </a:pPr>
              <a:r>
                <a:rPr lang="en-US" altLang="ko-KR" sz="600" dirty="0">
                  <a:latin typeface="+mn-ea"/>
                </a:rPr>
                <a:t>2026-03-26 11:00</a:t>
              </a:r>
            </a:p>
            <a:p>
              <a:pPr>
                <a:lnSpc>
                  <a:spcPct val="150000"/>
                </a:lnSpc>
              </a:pPr>
              <a:r>
                <a:rPr lang="en-US" altLang="ko-KR" sz="600" dirty="0">
                  <a:latin typeface="+mn-ea"/>
                </a:rPr>
                <a:t>2026-03-30</a:t>
              </a:r>
              <a:endParaRPr lang="ko-KR" altLang="en-US" sz="600" dirty="0">
                <a:latin typeface="+mn-ea"/>
              </a:endParaRPr>
            </a:p>
          </p:txBody>
        </p:sp>
        <p:sp>
          <p:nvSpPr>
            <p:cNvPr id="67" name="모서리가 둥근 직사각형 66"/>
            <p:cNvSpPr/>
            <p:nvPr/>
          </p:nvSpPr>
          <p:spPr>
            <a:xfrm>
              <a:off x="2542716" y="2893707"/>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68" name="모서리가 둥근 직사각형 67"/>
            <p:cNvSpPr/>
            <p:nvPr/>
          </p:nvSpPr>
          <p:spPr>
            <a:xfrm>
              <a:off x="2099025" y="289370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208" name="모서리가 둥근 직사각형 207"/>
            <p:cNvSpPr/>
            <p:nvPr/>
          </p:nvSpPr>
          <p:spPr>
            <a:xfrm>
              <a:off x="777000" y="2893707"/>
              <a:ext cx="577496"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입찰내역</a:t>
              </a:r>
              <a:r>
                <a:rPr lang="ko-KR" altLang="en-US" sz="600" dirty="0"/>
                <a:t> 작성</a:t>
              </a:r>
            </a:p>
          </p:txBody>
        </p:sp>
        <p:sp>
          <p:nvSpPr>
            <p:cNvPr id="209" name="모서리가 둥근 직사각형 208"/>
            <p:cNvSpPr/>
            <p:nvPr/>
          </p:nvSpPr>
          <p:spPr>
            <a:xfrm>
              <a:off x="1399238" y="2893707"/>
              <a:ext cx="65005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 </a:t>
              </a:r>
              <a:r>
                <a:rPr lang="ko-KR" altLang="en-US" sz="600" dirty="0" err="1"/>
                <a:t>미신청</a:t>
              </a:r>
              <a:endParaRPr lang="ko-KR" altLang="en-US" sz="600" dirty="0"/>
            </a:p>
          </p:txBody>
        </p:sp>
      </p:grpSp>
      <p:grpSp>
        <p:nvGrpSpPr>
          <p:cNvPr id="210" name="그룹 209"/>
          <p:cNvGrpSpPr/>
          <p:nvPr/>
        </p:nvGrpSpPr>
        <p:grpSpPr>
          <a:xfrm>
            <a:off x="777000" y="4307013"/>
            <a:ext cx="2477718" cy="1237060"/>
            <a:chOff x="777000" y="2893707"/>
            <a:chExt cx="2477718" cy="1237060"/>
          </a:xfrm>
        </p:grpSpPr>
        <p:sp>
          <p:nvSpPr>
            <p:cNvPr id="211"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T-80U/TBE-3</a:t>
              </a:r>
              <a:endParaRPr lang="ko-KR" altLang="en-US" sz="900" b="1" dirty="0"/>
            </a:p>
          </p:txBody>
        </p:sp>
        <p:sp>
          <p:nvSpPr>
            <p:cNvPr id="212" name="TextBox 59">
              <a:extLst>
                <a:ext uri="{FF2B5EF4-FFF2-40B4-BE49-F238E27FC236}">
                  <a16:creationId xmlns:a16="http://schemas.microsoft.com/office/drawing/2014/main" id="{F77C802D-3BC8-270F-87FC-5F442BD8054D}"/>
                </a:ext>
              </a:extLst>
            </p:cNvPr>
            <p:cNvSpPr txBox="1"/>
            <p:nvPr/>
          </p:nvSpPr>
          <p:spPr>
            <a:xfrm>
              <a:off x="781461" y="3438270"/>
              <a:ext cx="769441" cy="692497"/>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입찰업체</a:t>
              </a:r>
              <a:endParaRPr lang="en-US" altLang="ko-KR" sz="600" dirty="0">
                <a:latin typeface="+mn-ea"/>
              </a:endParaRPr>
            </a:p>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입찰참가등록마감일시</a:t>
              </a:r>
              <a:endParaRPr lang="en-US" altLang="ko-KR" sz="600" dirty="0">
                <a:latin typeface="+mn-ea"/>
              </a:endParaRPr>
            </a:p>
            <a:p>
              <a:pPr>
                <a:lnSpc>
                  <a:spcPct val="150000"/>
                </a:lnSpc>
              </a:pPr>
              <a:r>
                <a:rPr lang="ko-KR" altLang="en-US" sz="600" dirty="0">
                  <a:latin typeface="+mn-ea"/>
                </a:rPr>
                <a:t>입찰서제출마감일시</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213" name="TextBox 60">
              <a:extLst>
                <a:ext uri="{FF2B5EF4-FFF2-40B4-BE49-F238E27FC236}">
                  <a16:creationId xmlns:a16="http://schemas.microsoft.com/office/drawing/2014/main" id="{8F5E3227-69E6-C89F-B8C5-534226E95EA8}"/>
                </a:ext>
              </a:extLst>
            </p:cNvPr>
            <p:cNvSpPr txBox="1"/>
            <p:nvPr/>
          </p:nvSpPr>
          <p:spPr>
            <a:xfrm>
              <a:off x="2596240" y="3422881"/>
              <a:ext cx="614014" cy="692497"/>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A </a:t>
              </a:r>
              <a:r>
                <a:rPr lang="ko-KR" altLang="en-US" sz="600" dirty="0">
                  <a:latin typeface="+mn-ea"/>
                </a:rPr>
                <a:t>업체</a:t>
              </a:r>
              <a:endParaRPr lang="en-US" altLang="ko-KR" sz="600" dirty="0">
                <a:latin typeface="+mn-ea"/>
              </a:endParaRPr>
            </a:p>
            <a:p>
              <a:pPr algn="r">
                <a:lnSpc>
                  <a:spcPct val="150000"/>
                </a:lnSpc>
              </a:pPr>
              <a:r>
                <a:rPr lang="en-US" altLang="ko-KR" sz="600" dirty="0">
                  <a:latin typeface="+mn-ea"/>
                </a:rPr>
                <a:t>BDF01823-002</a:t>
              </a:r>
            </a:p>
            <a:p>
              <a:pPr algn="r">
                <a:lnSpc>
                  <a:spcPct val="150000"/>
                </a:lnSpc>
              </a:pPr>
              <a:r>
                <a:rPr lang="en-US" altLang="ko-KR" sz="600" dirty="0">
                  <a:latin typeface="+mn-ea"/>
                </a:rPr>
                <a:t>2026-03-17 15:00</a:t>
              </a:r>
            </a:p>
            <a:p>
              <a:pPr algn="r">
                <a:lnSpc>
                  <a:spcPct val="150000"/>
                </a:lnSpc>
              </a:pPr>
              <a:r>
                <a:rPr lang="en-US" altLang="ko-KR" sz="600" dirty="0">
                  <a:latin typeface="+mn-ea"/>
                </a:rPr>
                <a:t>2026-03-26 11:00</a:t>
              </a:r>
            </a:p>
            <a:p>
              <a:pPr>
                <a:lnSpc>
                  <a:spcPct val="150000"/>
                </a:lnSpc>
              </a:pPr>
              <a:r>
                <a:rPr lang="en-US" altLang="ko-KR" sz="600" dirty="0">
                  <a:latin typeface="+mn-ea"/>
                </a:rPr>
                <a:t>2026-03-30</a:t>
              </a:r>
              <a:endParaRPr lang="ko-KR" altLang="en-US" sz="600" dirty="0">
                <a:latin typeface="+mn-ea"/>
              </a:endParaRPr>
            </a:p>
          </p:txBody>
        </p:sp>
        <p:sp>
          <p:nvSpPr>
            <p:cNvPr id="214" name="모서리가 둥근 직사각형 213"/>
            <p:cNvSpPr/>
            <p:nvPr/>
          </p:nvSpPr>
          <p:spPr>
            <a:xfrm>
              <a:off x="2542716" y="2893707"/>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215" name="모서리가 둥근 직사각형 214"/>
            <p:cNvSpPr/>
            <p:nvPr/>
          </p:nvSpPr>
          <p:spPr>
            <a:xfrm>
              <a:off x="2099025" y="289370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216" name="모서리가 둥근 직사각형 215"/>
            <p:cNvSpPr/>
            <p:nvPr/>
          </p:nvSpPr>
          <p:spPr>
            <a:xfrm>
              <a:off x="777000" y="2893707"/>
              <a:ext cx="577496"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입찰내역</a:t>
              </a:r>
              <a:r>
                <a:rPr lang="ko-KR" altLang="en-US" sz="600" dirty="0"/>
                <a:t> 완료</a:t>
              </a:r>
            </a:p>
          </p:txBody>
        </p:sp>
        <p:sp>
          <p:nvSpPr>
            <p:cNvPr id="217" name="모서리가 둥근 직사각형 216"/>
            <p:cNvSpPr/>
            <p:nvPr/>
          </p:nvSpPr>
          <p:spPr>
            <a:xfrm>
              <a:off x="1399238" y="2893707"/>
              <a:ext cx="65005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 신청</a:t>
              </a:r>
            </a:p>
          </p:txBody>
        </p:sp>
      </p:grpSp>
      <p:cxnSp>
        <p:nvCxnSpPr>
          <p:cNvPr id="218" name="직선 연결선 217">
            <a:extLst>
              <a:ext uri="{FF2B5EF4-FFF2-40B4-BE49-F238E27FC236}">
                <a16:creationId xmlns:a16="http://schemas.microsoft.com/office/drawing/2014/main" id="{E9293055-D5CD-4B9E-7F64-64B2D2CA7A52}"/>
              </a:ext>
            </a:extLst>
          </p:cNvPr>
          <p:cNvCxnSpPr/>
          <p:nvPr/>
        </p:nvCxnSpPr>
        <p:spPr>
          <a:xfrm>
            <a:off x="720490" y="561346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모서리가 둥근 직사각형 76"/>
          <p:cNvSpPr/>
          <p:nvPr/>
        </p:nvSpPr>
        <p:spPr>
          <a:xfrm>
            <a:off x="6026346" y="2203671"/>
            <a:ext cx="577496"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입찰내역</a:t>
            </a:r>
            <a:r>
              <a:rPr lang="ko-KR" altLang="en-US" sz="600" dirty="0"/>
              <a:t> 완료</a:t>
            </a:r>
          </a:p>
        </p:txBody>
      </p:sp>
    </p:spTree>
    <p:extLst>
      <p:ext uri="{BB962C8B-B14F-4D97-AF65-F5344CB8AC3E}">
        <p14:creationId xmlns:p14="http://schemas.microsoft.com/office/powerpoint/2010/main" val="1007483046"/>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검색필터</a:t>
            </a:r>
            <a:r>
              <a:rPr lang="ko-KR" altLang="en-US" dirty="0"/>
              <a:t> 페이지 타이틀</a:t>
            </a:r>
            <a:r>
              <a:rPr lang="en-US" altLang="ko-KR" dirty="0"/>
              <a:t/>
            </a:r>
            <a:br>
              <a:rPr lang="en-US" altLang="ko-KR" dirty="0"/>
            </a:br>
            <a:r>
              <a:rPr lang="en-US" altLang="ko-KR" dirty="0"/>
              <a:t>- </a:t>
            </a:r>
            <a:r>
              <a:rPr lang="ko-KR" altLang="en-US" dirty="0"/>
              <a:t>초기화</a:t>
            </a:r>
            <a:r>
              <a:rPr lang="en-US" altLang="ko-KR" dirty="0"/>
              <a:t>, </a:t>
            </a:r>
            <a:r>
              <a:rPr lang="ko-KR" altLang="en-US" dirty="0"/>
              <a:t>닫기 버튼</a:t>
            </a:r>
            <a:endParaRPr lang="en-US" altLang="ko-KR" dirty="0"/>
          </a:p>
          <a:p>
            <a:pPr marL="228600" indent="-228600">
              <a:buFont typeface="+mj-lt"/>
              <a:buAutoNum type="arabicPeriod"/>
            </a:pPr>
            <a:r>
              <a:rPr lang="ko-KR" altLang="en-US" dirty="0"/>
              <a:t>일자 설정</a:t>
            </a:r>
            <a:r>
              <a:rPr lang="en-US" altLang="ko-KR" dirty="0"/>
              <a:t/>
            </a:r>
            <a:br>
              <a:rPr lang="en-US" altLang="ko-KR" dirty="0"/>
            </a:br>
            <a:r>
              <a:rPr lang="en-US" altLang="ko-KR" dirty="0"/>
              <a:t>- </a:t>
            </a:r>
            <a:r>
              <a:rPr lang="ko-KR" altLang="en-US" dirty="0" err="1"/>
              <a:t>개찰일자</a:t>
            </a:r>
            <a:r>
              <a:rPr lang="en-US" altLang="ko-KR" dirty="0"/>
              <a:t>, </a:t>
            </a:r>
            <a:r>
              <a:rPr lang="ko-KR" altLang="en-US" dirty="0" err="1"/>
              <a:t>공고일자</a:t>
            </a:r>
            <a:r>
              <a:rPr lang="ko-KR" altLang="en-US" dirty="0"/>
              <a:t> </a:t>
            </a:r>
            <a:r>
              <a:rPr lang="ko-KR" altLang="en-US" dirty="0" err="1"/>
              <a:t>토글</a:t>
            </a:r>
            <a:r>
              <a:rPr lang="ko-KR" altLang="en-US" dirty="0"/>
              <a:t> 스위치</a:t>
            </a:r>
            <a:r>
              <a:rPr lang="en-US" altLang="ko-KR" dirty="0"/>
              <a:t/>
            </a:r>
            <a:br>
              <a:rPr lang="en-US" altLang="ko-KR" dirty="0"/>
            </a:br>
            <a:r>
              <a:rPr lang="en-US" altLang="ko-KR" dirty="0"/>
              <a:t>- </a:t>
            </a:r>
            <a:r>
              <a:rPr lang="ko-KR" altLang="en-US" dirty="0"/>
              <a:t>직접 입력 가능</a:t>
            </a:r>
            <a:r>
              <a:rPr lang="en-US" altLang="ko-KR" dirty="0"/>
              <a:t/>
            </a:r>
            <a:br>
              <a:rPr lang="en-US" altLang="ko-KR" dirty="0"/>
            </a:br>
            <a:r>
              <a:rPr lang="en-US" altLang="ko-KR" dirty="0"/>
              <a:t>- </a:t>
            </a:r>
            <a:r>
              <a:rPr lang="ko-KR" altLang="en-US" dirty="0"/>
              <a:t>아이콘 </a:t>
            </a:r>
            <a:r>
              <a:rPr lang="en-US" altLang="ko-KR" dirty="0">
                <a:sym typeface="Wingdings" panose="05000000000000000000" pitchFamily="2" charset="2"/>
              </a:rPr>
              <a:t> </a:t>
            </a:r>
            <a:r>
              <a:rPr lang="ko-KR" altLang="en-US" dirty="0">
                <a:sym typeface="Wingdings" panose="05000000000000000000" pitchFamily="2" charset="2"/>
              </a:rPr>
              <a:t>데이트 </a:t>
            </a:r>
            <a:r>
              <a:rPr lang="ko-KR" altLang="en-US" dirty="0" err="1">
                <a:sym typeface="Wingdings" panose="05000000000000000000" pitchFamily="2" charset="2"/>
              </a:rPr>
              <a:t>피커</a:t>
            </a:r>
            <a:r>
              <a:rPr lang="ko-KR" altLang="en-US" dirty="0">
                <a:sym typeface="Wingdings" panose="05000000000000000000" pitchFamily="2" charset="2"/>
              </a:rPr>
              <a:t> 호출</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지정 설정으로 날짜 즉시 업데이트</a:t>
            </a:r>
            <a:endParaRPr lang="en-US" altLang="ko-KR" dirty="0">
              <a:sym typeface="Wingdings" panose="05000000000000000000" pitchFamily="2" charset="2"/>
            </a:endParaRPr>
          </a:p>
          <a:p>
            <a:pPr marL="228600" indent="-228600">
              <a:buFont typeface="+mj-lt"/>
              <a:buAutoNum type="arabicPeriod"/>
            </a:pPr>
            <a:r>
              <a:rPr lang="ko-KR" altLang="en-US" dirty="0" err="1">
                <a:sym typeface="Wingdings" panose="05000000000000000000" pitchFamily="2" charset="2"/>
              </a:rPr>
              <a:t>검색어</a:t>
            </a:r>
            <a:r>
              <a:rPr lang="ko-KR" altLang="en-US" dirty="0">
                <a:sym typeface="Wingdings" panose="05000000000000000000" pitchFamily="2" charset="2"/>
              </a:rPr>
              <a:t> 영역</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사용자가 입력하고자 하는 내역만 입력 후 검색 가능</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301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검색 필터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검색을 위한 검색 필터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공고 </a:t>
            </a:r>
            <a:r>
              <a:rPr lang="en-US" altLang="ko-KR" dirty="0">
                <a:latin typeface="+mn-ea"/>
              </a:rPr>
              <a:t>&gt; </a:t>
            </a:r>
            <a:r>
              <a:rPr lang="ko-KR" altLang="en-US" dirty="0">
                <a:latin typeface="+mn-ea"/>
              </a:rPr>
              <a:t>검색 필터</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MUI-BD-01-M02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53" name="타원 152">
            <a:extLst>
              <a:ext uri="{FF2B5EF4-FFF2-40B4-BE49-F238E27FC236}">
                <a16:creationId xmlns:a16="http://schemas.microsoft.com/office/drawing/2014/main" id="{37A7FF4F-0EAA-1463-560A-D5EC24416103}"/>
              </a:ext>
            </a:extLst>
          </p:cNvPr>
          <p:cNvSpPr/>
          <p:nvPr/>
        </p:nvSpPr>
        <p:spPr>
          <a:xfrm>
            <a:off x="573754" y="159227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5" name="타원 154">
            <a:extLst>
              <a:ext uri="{FF2B5EF4-FFF2-40B4-BE49-F238E27FC236}">
                <a16:creationId xmlns:a16="http://schemas.microsoft.com/office/drawing/2014/main" id="{37A7FF4F-0EAA-1463-560A-D5EC24416103}"/>
              </a:ext>
            </a:extLst>
          </p:cNvPr>
          <p:cNvSpPr/>
          <p:nvPr/>
        </p:nvSpPr>
        <p:spPr>
          <a:xfrm>
            <a:off x="573754" y="201535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7" name="TextBox 156">
            <a:extLst>
              <a:ext uri="{FF2B5EF4-FFF2-40B4-BE49-F238E27FC236}">
                <a16:creationId xmlns:a16="http://schemas.microsoft.com/office/drawing/2014/main" id="{FFC49AEA-2A8F-250C-A86A-A7751D9706C3}"/>
              </a:ext>
            </a:extLst>
          </p:cNvPr>
          <p:cNvSpPr txBox="1"/>
          <p:nvPr/>
        </p:nvSpPr>
        <p:spPr>
          <a:xfrm>
            <a:off x="778515" y="1997596"/>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일자 설정</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778515" y="2220134"/>
            <a:ext cx="670770" cy="430887"/>
          </a:xfrm>
          <a:prstGeom prst="rect">
            <a:avLst/>
          </a:prstGeom>
          <a:noFill/>
        </p:spPr>
        <p:txBody>
          <a:bodyPr wrap="square" lIns="0" tIns="0" rIns="0" bIns="0" rtlCol="0">
            <a:spAutoFit/>
          </a:bodyPr>
          <a:lstStyle/>
          <a:p>
            <a:pPr>
              <a:lnSpc>
                <a:spcPct val="200000"/>
              </a:lnSpc>
            </a:pPr>
            <a:r>
              <a:rPr lang="ko-KR" altLang="en-US" sz="700" dirty="0">
                <a:latin typeface="+mn-ea"/>
              </a:rPr>
              <a:t>일자 설정</a:t>
            </a:r>
            <a:endParaRPr lang="en-US" altLang="ko-KR" sz="700" dirty="0">
              <a:latin typeface="+mn-ea"/>
            </a:endParaRPr>
          </a:p>
          <a:p>
            <a:pPr>
              <a:lnSpc>
                <a:spcPct val="200000"/>
              </a:lnSpc>
            </a:pPr>
            <a:r>
              <a:rPr lang="ko-KR" altLang="en-US" sz="700" dirty="0">
                <a:latin typeface="+mn-ea"/>
              </a:rPr>
              <a:t>빠른 설정</a:t>
            </a:r>
            <a:endParaRPr lang="en-US" altLang="ko-KR" sz="700" dirty="0">
              <a:latin typeface="+mn-ea"/>
            </a:endParaRPr>
          </a:p>
        </p:txBody>
      </p:sp>
      <p:grpSp>
        <p:nvGrpSpPr>
          <p:cNvPr id="159" name="그룹 158"/>
          <p:cNvGrpSpPr/>
          <p:nvPr/>
        </p:nvGrpSpPr>
        <p:grpSpPr>
          <a:xfrm flipV="1">
            <a:off x="3140949" y="2095286"/>
            <a:ext cx="91438" cy="45719"/>
            <a:chOff x="6812560" y="3297172"/>
            <a:chExt cx="94010" cy="47005"/>
          </a:xfrm>
        </p:grpSpPr>
        <p:cxnSp>
          <p:nvCxnSpPr>
            <p:cNvPr id="160" name="직선 연결선 15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1" name="직선 연결선 1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모서리가 둥근 직사각형 172"/>
          <p:cNvSpPr/>
          <p:nvPr/>
        </p:nvSpPr>
        <p:spPr>
          <a:xfrm>
            <a:off x="1467218" y="2039778"/>
            <a:ext cx="606633" cy="149124"/>
          </a:xfrm>
          <a:prstGeom prst="roundRect">
            <a:avLst>
              <a:gd name="adj" fmla="val 50000"/>
            </a:avLst>
          </a:prstGeom>
          <a:solidFill>
            <a:schemeClr val="bg1">
              <a:lumMod val="50000"/>
            </a:schemeClr>
          </a:solidFill>
          <a:ln w="12700">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71" name="모서리가 둥근 직사각형 170"/>
          <p:cNvSpPr/>
          <p:nvPr/>
        </p:nvSpPr>
        <p:spPr>
          <a:xfrm>
            <a:off x="1467219" y="2039778"/>
            <a:ext cx="305007" cy="149124"/>
          </a:xfrm>
          <a:prstGeom prst="roundRect">
            <a:avLst>
              <a:gd name="adj" fmla="val 50000"/>
            </a:avLst>
          </a:prstGeom>
          <a:solidFill>
            <a:srgbClr val="0070C0"/>
          </a:solidFill>
          <a:ln w="12700" cap="flat" cmpd="sng" algn="ctr">
            <a:noFill/>
            <a:prstDash val="solid"/>
          </a:ln>
          <a:effectLst/>
        </p:spPr>
        <p:txBody>
          <a:bodyPr rtlCol="0" anchor="ctr"/>
          <a:lstStyle/>
          <a:p>
            <a:pPr algn="ctr" fontAlgn="base" latinLnBrk="0">
              <a:spcBef>
                <a:spcPct val="0"/>
              </a:spcBef>
              <a:spcAft>
                <a:spcPct val="0"/>
              </a:spcAft>
            </a:pPr>
            <a:endParaRPr kumimoji="1" lang="ko-KR" altLang="en-US" sz="800" kern="0">
              <a:solidFill>
                <a:prstClr val="white"/>
              </a:solidFill>
              <a:latin typeface="맑은 고딕"/>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1502989" y="2066318"/>
            <a:ext cx="233466"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개찰</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1793292" y="2066318"/>
            <a:ext cx="233466" cy="107722"/>
          </a:xfrm>
          <a:prstGeom prst="rect">
            <a:avLst/>
          </a:prstGeom>
          <a:noFill/>
        </p:spPr>
        <p:txBody>
          <a:bodyPr wrap="square" lIns="0" tIns="0" rIns="0" bIns="0" rtlCol="0">
            <a:spAutoFit/>
          </a:bodyPr>
          <a:lstStyle/>
          <a:p>
            <a:pPr algn="ctr"/>
            <a:r>
              <a:rPr lang="ko-KR" altLang="en-US" sz="700">
                <a:solidFill>
                  <a:schemeClr val="bg1"/>
                </a:solidFill>
                <a:latin typeface="+mn-ea"/>
              </a:rPr>
              <a:t>공고</a:t>
            </a:r>
            <a:endParaRPr lang="ko-KR" altLang="en-US" sz="700" dirty="0">
              <a:solidFill>
                <a:schemeClr val="bg1"/>
              </a:solidFill>
              <a:latin typeface="+mn-ea"/>
            </a:endParaRPr>
          </a:p>
        </p:txBody>
      </p:sp>
      <p:grpSp>
        <p:nvGrpSpPr>
          <p:cNvPr id="176" name="그룹 175">
            <a:extLst>
              <a:ext uri="{FF2B5EF4-FFF2-40B4-BE49-F238E27FC236}">
                <a16:creationId xmlns:a16="http://schemas.microsoft.com/office/drawing/2014/main" id="{8F2F56C4-B606-212C-F131-A4A30AE19BC8}"/>
              </a:ext>
            </a:extLst>
          </p:cNvPr>
          <p:cNvGrpSpPr/>
          <p:nvPr/>
        </p:nvGrpSpPr>
        <p:grpSpPr>
          <a:xfrm>
            <a:off x="1464781" y="2247765"/>
            <a:ext cx="859319" cy="188244"/>
            <a:chOff x="5613534" y="2854836"/>
            <a:chExt cx="804671" cy="188244"/>
          </a:xfrm>
        </p:grpSpPr>
        <p:sp>
          <p:nvSpPr>
            <p:cNvPr id="181"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2025-10-15</a:t>
              </a:r>
              <a:endParaRPr kumimoji="1" lang="en-US" sz="700" b="0" i="0" u="none" strike="noStrike" kern="0" cap="none" spc="0" normalizeH="0" baseline="0" noProof="0" dirty="0">
                <a:ln>
                  <a:noFill/>
                </a:ln>
                <a:effectLst/>
                <a:uLnTx/>
                <a:uFillTx/>
                <a:latin typeface="맑은 고딕"/>
              </a:endParaRPr>
            </a:p>
          </p:txBody>
        </p:sp>
        <p:pic>
          <p:nvPicPr>
            <p:cNvPr id="182" name="그림 181">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sp>
        <p:nvSpPr>
          <p:cNvPr id="178" name="TextBox 91">
            <a:extLst>
              <a:ext uri="{FF2B5EF4-FFF2-40B4-BE49-F238E27FC236}">
                <a16:creationId xmlns:a16="http://schemas.microsoft.com/office/drawing/2014/main" id="{02490888-B81F-0F94-5D5F-078AEEB39DDB}"/>
              </a:ext>
            </a:extLst>
          </p:cNvPr>
          <p:cNvSpPr txBox="1"/>
          <p:nvPr/>
        </p:nvSpPr>
        <p:spPr>
          <a:xfrm>
            <a:off x="2347279" y="2267712"/>
            <a:ext cx="80150" cy="138499"/>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900" dirty="0">
                <a:solidFill>
                  <a:prstClr val="black"/>
                </a:solidFill>
                <a:cs typeface="Pretendard Medium" panose="02000603000000020004" pitchFamily="50" charset="-127"/>
              </a:rPr>
              <a:t>~</a:t>
            </a:r>
            <a:endParaRPr lang="ko-KR" altLang="en-US" sz="900" dirty="0">
              <a:solidFill>
                <a:prstClr val="black"/>
              </a:solidFill>
              <a:cs typeface="Pretendard Medium" panose="02000603000000020004" pitchFamily="50" charset="-127"/>
            </a:endParaRPr>
          </a:p>
        </p:txBody>
      </p:sp>
      <p:grpSp>
        <p:nvGrpSpPr>
          <p:cNvPr id="3" name="그룹 2"/>
          <p:cNvGrpSpPr/>
          <p:nvPr/>
        </p:nvGrpSpPr>
        <p:grpSpPr>
          <a:xfrm>
            <a:off x="1464781" y="2478434"/>
            <a:ext cx="1845146" cy="188135"/>
            <a:chOff x="1430277" y="4057651"/>
            <a:chExt cx="1845146" cy="188135"/>
          </a:xfrm>
        </p:grpSpPr>
        <p:sp>
          <p:nvSpPr>
            <p:cNvPr id="189" name="사각형: 둥근 모서리 169">
              <a:extLst>
                <a:ext uri="{FF2B5EF4-FFF2-40B4-BE49-F238E27FC236}">
                  <a16:creationId xmlns:a16="http://schemas.microsoft.com/office/drawing/2014/main" id="{A28DD831-0E4B-31EE-CB08-9E188754698D}"/>
                </a:ext>
              </a:extLst>
            </p:cNvPr>
            <p:cNvSpPr/>
            <p:nvPr/>
          </p:nvSpPr>
          <p:spPr>
            <a:xfrm>
              <a:off x="1430277" y="4057651"/>
              <a:ext cx="582017" cy="188135"/>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solidFill>
                    <a:srgbClr val="0070C0"/>
                  </a:solidFill>
                  <a:latin typeface="맑은 고딕"/>
                  <a:ea typeface="맑은 고딕" panose="020B0503020000020004" pitchFamily="50" charset="-127"/>
                </a:rPr>
                <a:t>최근 </a:t>
              </a:r>
              <a:r>
                <a:rPr kumimoji="1" lang="en-US" altLang="ko-KR" sz="700" kern="0" dirty="0">
                  <a:solidFill>
                    <a:srgbClr val="0070C0"/>
                  </a:solidFill>
                  <a:latin typeface="맑은 고딕"/>
                  <a:ea typeface="맑은 고딕" panose="020B0503020000020004" pitchFamily="50" charset="-127"/>
                </a:rPr>
                <a:t>1</a:t>
              </a:r>
              <a:r>
                <a:rPr kumimoji="1" lang="ko-KR" altLang="en-US" sz="700" kern="0" dirty="0">
                  <a:solidFill>
                    <a:srgbClr val="0070C0"/>
                  </a:solidFill>
                  <a:latin typeface="맑은 고딕"/>
                  <a:ea typeface="맑은 고딕" panose="020B0503020000020004" pitchFamily="50" charset="-127"/>
                </a:rPr>
                <a:t>개월</a:t>
              </a:r>
              <a:endParaRPr kumimoji="1" lang="en-US" sz="700" kern="0" dirty="0">
                <a:solidFill>
                  <a:srgbClr val="0070C0"/>
                </a:solidFill>
                <a:latin typeface="맑은 고딕"/>
                <a:ea typeface="맑은 고딕" panose="020B0503020000020004" pitchFamily="50" charset="-127"/>
              </a:endParaRPr>
            </a:p>
          </p:txBody>
        </p:sp>
        <p:sp>
          <p:nvSpPr>
            <p:cNvPr id="190" name="사각형: 둥근 모서리 171">
              <a:extLst>
                <a:ext uri="{FF2B5EF4-FFF2-40B4-BE49-F238E27FC236}">
                  <a16:creationId xmlns:a16="http://schemas.microsoft.com/office/drawing/2014/main" id="{75BECEC6-4045-95B1-98C2-242CA0FC5A06}"/>
                </a:ext>
              </a:extLst>
            </p:cNvPr>
            <p:cNvSpPr/>
            <p:nvPr/>
          </p:nvSpPr>
          <p:spPr>
            <a:xfrm>
              <a:off x="2061841" y="4057651"/>
              <a:ext cx="582017" cy="188135"/>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latin typeface="+mn-ea"/>
                </a:rPr>
                <a:t>최근 </a:t>
              </a:r>
              <a:r>
                <a:rPr kumimoji="1" lang="en-US" altLang="ko-KR" sz="700" kern="0" dirty="0">
                  <a:latin typeface="+mn-ea"/>
                </a:rPr>
                <a:t>3</a:t>
              </a:r>
              <a:r>
                <a:rPr kumimoji="1" lang="ko-KR" altLang="en-US" sz="700" kern="0" dirty="0">
                  <a:latin typeface="+mn-ea"/>
                </a:rPr>
                <a:t>개월</a:t>
              </a:r>
              <a:endParaRPr kumimoji="1" lang="en-US" altLang="ko-KR" sz="700" kern="0" dirty="0">
                <a:latin typeface="+mn-ea"/>
              </a:endParaRPr>
            </a:p>
          </p:txBody>
        </p:sp>
        <p:sp>
          <p:nvSpPr>
            <p:cNvPr id="191" name="사각형: 둥근 모서리 172">
              <a:extLst>
                <a:ext uri="{FF2B5EF4-FFF2-40B4-BE49-F238E27FC236}">
                  <a16:creationId xmlns:a16="http://schemas.microsoft.com/office/drawing/2014/main" id="{7F182F00-C81F-5F02-6A1E-826222B231A9}"/>
                </a:ext>
              </a:extLst>
            </p:cNvPr>
            <p:cNvSpPr/>
            <p:nvPr/>
          </p:nvSpPr>
          <p:spPr>
            <a:xfrm>
              <a:off x="2693406" y="4057651"/>
              <a:ext cx="582017" cy="188135"/>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pPr>
              <a:r>
                <a:rPr kumimoji="1" lang="ko-KR" altLang="en-US" sz="700" kern="0" dirty="0">
                  <a:solidFill>
                    <a:prstClr val="black"/>
                  </a:solidFill>
                  <a:latin typeface="+mn-ea"/>
                </a:rPr>
                <a:t>최근 </a:t>
              </a:r>
              <a:r>
                <a:rPr kumimoji="1" lang="en-US" altLang="ko-KR" sz="700" kern="0" dirty="0">
                  <a:solidFill>
                    <a:prstClr val="black"/>
                  </a:solidFill>
                  <a:latin typeface="+mn-ea"/>
                </a:rPr>
                <a:t>6</a:t>
              </a:r>
              <a:r>
                <a:rPr kumimoji="1" lang="ko-KR" altLang="en-US" sz="700" kern="0" dirty="0">
                  <a:solidFill>
                    <a:prstClr val="black"/>
                  </a:solidFill>
                  <a:latin typeface="+mn-ea"/>
                </a:rPr>
                <a:t>개월</a:t>
              </a:r>
              <a:endParaRPr kumimoji="1" lang="en-US" altLang="ko-KR" sz="700" kern="0" dirty="0">
                <a:solidFill>
                  <a:prstClr val="black"/>
                </a:solidFill>
                <a:latin typeface="+mn-ea"/>
              </a:endParaRPr>
            </a:p>
          </p:txBody>
        </p:sp>
      </p:grpSp>
      <p:grpSp>
        <p:nvGrpSpPr>
          <p:cNvPr id="195" name="그룹 194">
            <a:extLst>
              <a:ext uri="{FF2B5EF4-FFF2-40B4-BE49-F238E27FC236}">
                <a16:creationId xmlns:a16="http://schemas.microsoft.com/office/drawing/2014/main" id="{8F2F56C4-B606-212C-F131-A4A30AE19BC8}"/>
              </a:ext>
            </a:extLst>
          </p:cNvPr>
          <p:cNvGrpSpPr/>
          <p:nvPr/>
        </p:nvGrpSpPr>
        <p:grpSpPr>
          <a:xfrm>
            <a:off x="2450608" y="2247765"/>
            <a:ext cx="859319" cy="188244"/>
            <a:chOff x="5613534" y="2854836"/>
            <a:chExt cx="804671" cy="188244"/>
          </a:xfrm>
        </p:grpSpPr>
        <p:sp>
          <p:nvSpPr>
            <p:cNvPr id="196"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2026-01-15</a:t>
              </a:r>
              <a:endParaRPr kumimoji="1" lang="en-US" sz="700" b="0" i="0" u="none" strike="noStrike" kern="0" cap="none" spc="0" normalizeH="0" baseline="0" noProof="0" dirty="0">
                <a:ln>
                  <a:noFill/>
                </a:ln>
                <a:effectLst/>
                <a:uLnTx/>
                <a:uFillTx/>
                <a:latin typeface="맑은 고딕"/>
              </a:endParaRPr>
            </a:p>
          </p:txBody>
        </p:sp>
        <p:pic>
          <p:nvPicPr>
            <p:cNvPr id="197" name="그림 196">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cxnSp>
        <p:nvCxnSpPr>
          <p:cNvPr id="199" name="직선 연결선 198">
            <a:extLst>
              <a:ext uri="{FF2B5EF4-FFF2-40B4-BE49-F238E27FC236}">
                <a16:creationId xmlns:a16="http://schemas.microsoft.com/office/drawing/2014/main" id="{E9293055-D5CD-4B9E-7F64-64B2D2CA7A52}"/>
              </a:ext>
            </a:extLst>
          </p:cNvPr>
          <p:cNvCxnSpPr/>
          <p:nvPr/>
        </p:nvCxnSpPr>
        <p:spPr>
          <a:xfrm>
            <a:off x="675399" y="279518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0" name="TextBox 199">
            <a:extLst>
              <a:ext uri="{FF2B5EF4-FFF2-40B4-BE49-F238E27FC236}">
                <a16:creationId xmlns:a16="http://schemas.microsoft.com/office/drawing/2014/main" id="{FFC49AEA-2A8F-250C-A86A-A7751D9706C3}"/>
              </a:ext>
            </a:extLst>
          </p:cNvPr>
          <p:cNvSpPr txBox="1"/>
          <p:nvPr/>
        </p:nvSpPr>
        <p:spPr>
          <a:xfrm>
            <a:off x="778515" y="2895300"/>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검색어</a:t>
            </a:r>
            <a:r>
              <a:rPr lang="ko-KR" altLang="en-US" sz="700" b="1" dirty="0">
                <a:latin typeface="+mn-ea"/>
              </a:rPr>
              <a:t> </a:t>
            </a:r>
            <a:r>
              <a:rPr lang="en-US" altLang="ko-KR" sz="700" b="1" dirty="0">
                <a:latin typeface="+mn-ea"/>
              </a:rPr>
              <a:t>(</a:t>
            </a:r>
            <a:r>
              <a:rPr lang="ko-KR" altLang="en-US" sz="700" b="1" dirty="0">
                <a:latin typeface="+mn-ea"/>
              </a:rPr>
              <a:t>일부 입력 가능</a:t>
            </a:r>
            <a:r>
              <a:rPr lang="en-US" altLang="ko-KR" sz="700" b="1" dirty="0">
                <a:latin typeface="+mn-ea"/>
              </a:rPr>
              <a:t>)</a:t>
            </a:r>
            <a:endParaRPr lang="ko-KR" altLang="en-US" sz="700" b="1" dirty="0">
              <a:latin typeface="+mn-ea"/>
            </a:endParaRPr>
          </a:p>
        </p:txBody>
      </p:sp>
      <p:grpSp>
        <p:nvGrpSpPr>
          <p:cNvPr id="201" name="그룹 200"/>
          <p:cNvGrpSpPr/>
          <p:nvPr/>
        </p:nvGrpSpPr>
        <p:grpSpPr>
          <a:xfrm flipV="1">
            <a:off x="3140949" y="2992990"/>
            <a:ext cx="91438" cy="45719"/>
            <a:chOff x="6812560" y="3297172"/>
            <a:chExt cx="94010" cy="47005"/>
          </a:xfrm>
        </p:grpSpPr>
        <p:cxnSp>
          <p:nvCxnSpPr>
            <p:cNvPr id="202" name="직선 연결선 20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4" name="모서리가 둥근 직사각형 203"/>
          <p:cNvSpPr/>
          <p:nvPr/>
        </p:nvSpPr>
        <p:spPr>
          <a:xfrm>
            <a:off x="1449284" y="3175791"/>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778515" y="3132291"/>
            <a:ext cx="670770" cy="646331"/>
          </a:xfrm>
          <a:prstGeom prst="rect">
            <a:avLst/>
          </a:prstGeom>
          <a:noFill/>
        </p:spPr>
        <p:txBody>
          <a:bodyPr wrap="square" lIns="0" tIns="0" rIns="0" bIns="0" rtlCol="0">
            <a:spAutoFit/>
          </a:bodyPr>
          <a:lstStyle/>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a:latin typeface="+mn-ea"/>
              </a:rPr>
              <a:t>참가신청상태</a:t>
            </a:r>
            <a:endParaRPr lang="en-US" altLang="ko-KR" sz="700" dirty="0">
              <a:latin typeface="+mn-ea"/>
            </a:endParaRPr>
          </a:p>
        </p:txBody>
      </p:sp>
      <p:sp>
        <p:nvSpPr>
          <p:cNvPr id="207" name="모서리가 둥근 직사각형 206"/>
          <p:cNvSpPr/>
          <p:nvPr/>
        </p:nvSpPr>
        <p:spPr>
          <a:xfrm>
            <a:off x="1449284" y="339053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grpSp>
        <p:nvGrpSpPr>
          <p:cNvPr id="221" name="그룹 220"/>
          <p:cNvGrpSpPr/>
          <p:nvPr/>
        </p:nvGrpSpPr>
        <p:grpSpPr>
          <a:xfrm>
            <a:off x="670744" y="5614711"/>
            <a:ext cx="2712027" cy="617588"/>
            <a:chOff x="675399" y="5614711"/>
            <a:chExt cx="2712027" cy="617588"/>
          </a:xfrm>
        </p:grpSpPr>
        <p:sp>
          <p:nvSpPr>
            <p:cNvPr id="222" name="직사각형 22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검색</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24"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266" name="모서리가 둥근 직사각형 265"/>
          <p:cNvSpPr/>
          <p:nvPr/>
        </p:nvSpPr>
        <p:spPr>
          <a:xfrm>
            <a:off x="1449284" y="3613255"/>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전체</a:t>
            </a:r>
          </a:p>
        </p:txBody>
      </p:sp>
      <p:sp>
        <p:nvSpPr>
          <p:cNvPr id="292" name="타원 291">
            <a:extLst>
              <a:ext uri="{FF2B5EF4-FFF2-40B4-BE49-F238E27FC236}">
                <a16:creationId xmlns:a16="http://schemas.microsoft.com/office/drawing/2014/main" id="{37A7FF4F-0EAA-1463-560A-D5EC24416103}"/>
              </a:ext>
            </a:extLst>
          </p:cNvPr>
          <p:cNvSpPr/>
          <p:nvPr/>
        </p:nvSpPr>
        <p:spPr>
          <a:xfrm>
            <a:off x="573754" y="292380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141" name="그룹 140"/>
          <p:cNvGrpSpPr/>
          <p:nvPr/>
        </p:nvGrpSpPr>
        <p:grpSpPr>
          <a:xfrm>
            <a:off x="3140952" y="3681719"/>
            <a:ext cx="91438" cy="45719"/>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468226865"/>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88900" indent="-88900">
              <a:buFont typeface="+mj-lt"/>
              <a:buAutoNum type="arabicPeriod"/>
            </a:pPr>
            <a:r>
              <a:rPr lang="ko-KR" altLang="en-US" dirty="0"/>
              <a:t>타이틀 표시</a:t>
            </a:r>
            <a:endParaRPr lang="en-US" altLang="ko-KR" dirty="0"/>
          </a:p>
          <a:p>
            <a:pPr marL="88900" indent="-88900">
              <a:buFont typeface="+mj-lt"/>
              <a:buAutoNum type="arabicPeriod"/>
            </a:pPr>
            <a:r>
              <a:rPr lang="ko-KR" altLang="en-US" dirty="0"/>
              <a:t>탭 메뉴</a:t>
            </a:r>
            <a:endParaRPr lang="en-US" altLang="ko-KR" dirty="0"/>
          </a:p>
          <a:p>
            <a:pPr marL="88900" indent="-88900">
              <a:buFont typeface="+mj-lt"/>
              <a:buAutoNum type="arabicPeriod"/>
            </a:pPr>
            <a:r>
              <a:rPr lang="ko-KR" altLang="en-US" dirty="0" err="1"/>
              <a:t>일반정보에</a:t>
            </a:r>
            <a:r>
              <a:rPr lang="ko-KR" altLang="en-US" dirty="0"/>
              <a:t> 포함된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302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국외 보관함 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보관함에 추가한 공고 상세 정보를 조회하는 화면</a:t>
            </a:r>
            <a:r>
              <a:rPr lang="ko-KR" altLang="en-US" dirty="0"/>
              <a:t>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a:latin typeface="+mn-ea"/>
              </a:rPr>
              <a:t>상세</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MUI-CM-01-M72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국외 보관함 상세</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085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158410"/>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T-80U/TBE-3</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493475"/>
            <a:ext cx="769441" cy="674672"/>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입찰업체</a:t>
            </a:r>
            <a:endParaRPr lang="en-US" altLang="ko-KR" sz="600" dirty="0">
              <a:latin typeface="+mn-ea"/>
            </a:endParaRPr>
          </a:p>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입찰참가등록마감일시</a:t>
            </a:r>
            <a:endParaRPr lang="en-US" altLang="ko-KR" sz="600" dirty="0">
              <a:latin typeface="+mn-ea"/>
            </a:endParaRPr>
          </a:p>
          <a:p>
            <a:pPr>
              <a:lnSpc>
                <a:spcPct val="150000"/>
              </a:lnSpc>
            </a:pPr>
            <a:r>
              <a:rPr lang="ko-KR" altLang="en-US" sz="600" dirty="0">
                <a:latin typeface="+mn-ea"/>
              </a:rPr>
              <a:t>입찰서제출마감일시</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91493" y="2478086"/>
            <a:ext cx="613951" cy="674672"/>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ko-KR" altLang="en-US" sz="600" dirty="0" err="1">
                <a:latin typeface="+mn-ea"/>
              </a:rPr>
              <a:t>미작성</a:t>
            </a:r>
            <a:endParaRPr lang="en-US" altLang="ko-KR" sz="600" dirty="0">
              <a:latin typeface="+mn-ea"/>
            </a:endParaRPr>
          </a:p>
          <a:p>
            <a:pPr algn="r">
              <a:lnSpc>
                <a:spcPct val="150000"/>
              </a:lnSpc>
            </a:pPr>
            <a:r>
              <a:rPr lang="en-US" altLang="ko-KR" sz="600" dirty="0">
                <a:latin typeface="+mn-ea"/>
              </a:rPr>
              <a:t>BDF01823-002</a:t>
            </a:r>
          </a:p>
          <a:p>
            <a:pPr algn="r">
              <a:lnSpc>
                <a:spcPct val="150000"/>
              </a:lnSpc>
            </a:pPr>
            <a:r>
              <a:rPr lang="en-US" altLang="ko-KR" sz="600" dirty="0">
                <a:latin typeface="+mn-ea"/>
              </a:rPr>
              <a:t>2026-03-17 15:00</a:t>
            </a:r>
          </a:p>
          <a:p>
            <a:pPr algn="r">
              <a:lnSpc>
                <a:spcPct val="150000"/>
              </a:lnSpc>
            </a:pPr>
            <a:r>
              <a:rPr lang="en-US" altLang="ko-KR" sz="600" dirty="0">
                <a:latin typeface="+mn-ea"/>
              </a:rPr>
              <a:t>2026-03-26 11:00</a:t>
            </a:r>
          </a:p>
          <a:p>
            <a:pPr>
              <a:lnSpc>
                <a:spcPct val="150000"/>
              </a:lnSpc>
            </a:pPr>
            <a:r>
              <a:rPr lang="en-US" altLang="ko-KR" sz="600" dirty="0">
                <a:latin typeface="+mn-ea"/>
              </a:rPr>
              <a:t>2026-03-30</a:t>
            </a:r>
            <a:endParaRPr lang="ko-KR" altLang="en-US" sz="600" dirty="0">
              <a:latin typeface="+mn-ea"/>
            </a:endParaRP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3426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369704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480436"/>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83459" y="3480436"/>
            <a:ext cx="447776" cy="107722"/>
          </a:xfrm>
          <a:prstGeom prst="rect">
            <a:avLst/>
          </a:prstGeom>
          <a:noFill/>
        </p:spPr>
        <p:txBody>
          <a:bodyPr wrap="square" lIns="0" tIns="0" rIns="0" bIns="0" rtlCol="0">
            <a:spAutoFit/>
          </a:bodyPr>
          <a:lstStyle/>
          <a:p>
            <a:pPr algn="ctr"/>
            <a:r>
              <a:rPr lang="ko-KR" altLang="en-US" sz="700" dirty="0">
                <a:latin typeface="+mn-ea"/>
              </a:rPr>
              <a:t>품목 목록</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3697043"/>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442313"/>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77" name="타원 27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4802272"/>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299917"/>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81" name="타원 180">
            <a:extLst>
              <a:ext uri="{FF2B5EF4-FFF2-40B4-BE49-F238E27FC236}">
                <a16:creationId xmlns:a16="http://schemas.microsoft.com/office/drawing/2014/main" id="{37A7FF4F-0EAA-1463-560A-D5EC24416103}"/>
              </a:ext>
            </a:extLst>
          </p:cNvPr>
          <p:cNvSpPr/>
          <p:nvPr/>
        </p:nvSpPr>
        <p:spPr>
          <a:xfrm>
            <a:off x="571127" y="344823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3795734" y="150221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4022" y="18581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3867701" y="1641588"/>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386991" y="1641588"/>
            <a:ext cx="447776" cy="107722"/>
          </a:xfrm>
          <a:prstGeom prst="rect">
            <a:avLst/>
          </a:prstGeom>
          <a:noFill/>
        </p:spPr>
        <p:txBody>
          <a:bodyPr wrap="square" lIns="0" tIns="0" rIns="0" bIns="0" rtlCol="0">
            <a:spAutoFit/>
          </a:bodyPr>
          <a:lstStyle/>
          <a:p>
            <a:pPr algn="ctr"/>
            <a:r>
              <a:rPr lang="ko-KR" altLang="en-US" sz="700" dirty="0">
                <a:latin typeface="+mn-ea"/>
              </a:rPr>
              <a:t>품목 목록</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24022" y="1858195"/>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1" name="그룹 230"/>
          <p:cNvGrpSpPr/>
          <p:nvPr/>
        </p:nvGrpSpPr>
        <p:grpSpPr>
          <a:xfrm>
            <a:off x="6027618" y="1603465"/>
            <a:ext cx="422853" cy="187961"/>
            <a:chOff x="3641308" y="2234886"/>
            <a:chExt cx="422853" cy="187961"/>
          </a:xfrm>
        </p:grpSpPr>
        <p:sp>
          <p:nvSpPr>
            <p:cNvPr id="232" name="타원 23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5400000" flipH="1">
              <a:off x="3679895" y="2305364"/>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4" name="타원 23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6" name="그룹 245"/>
            <p:cNvGrpSpPr/>
            <p:nvPr/>
          </p:nvGrpSpPr>
          <p:grpSpPr>
            <a:xfrm rot="16200000">
              <a:off x="3931564" y="2305364"/>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32" name="타원 331">
            <a:extLst>
              <a:ext uri="{FF2B5EF4-FFF2-40B4-BE49-F238E27FC236}">
                <a16:creationId xmlns:a16="http://schemas.microsoft.com/office/drawing/2014/main" id="{37A7FF4F-0EAA-1463-560A-D5EC24416103}"/>
              </a:ext>
            </a:extLst>
          </p:cNvPr>
          <p:cNvSpPr/>
          <p:nvPr/>
        </p:nvSpPr>
        <p:spPr>
          <a:xfrm>
            <a:off x="3717693" y="199816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49" name="모서리가 둥근 직사각형 148"/>
          <p:cNvSpPr/>
          <p:nvPr/>
        </p:nvSpPr>
        <p:spPr>
          <a:xfrm>
            <a:off x="2542716" y="1974079"/>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150" name="모서리가 둥근 직사각형 149"/>
          <p:cNvSpPr/>
          <p:nvPr/>
        </p:nvSpPr>
        <p:spPr>
          <a:xfrm>
            <a:off x="2099025" y="197407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151" name="모서리가 둥근 직사각형 150"/>
          <p:cNvSpPr/>
          <p:nvPr/>
        </p:nvSpPr>
        <p:spPr>
          <a:xfrm>
            <a:off x="777000" y="1974079"/>
            <a:ext cx="577496"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err="1"/>
              <a:t>입찰내역</a:t>
            </a:r>
            <a:r>
              <a:rPr lang="ko-KR" altLang="en-US" sz="600" dirty="0"/>
              <a:t> 작성</a:t>
            </a:r>
          </a:p>
        </p:txBody>
      </p:sp>
      <p:sp>
        <p:nvSpPr>
          <p:cNvPr id="152" name="모서리가 둥근 직사각형 151"/>
          <p:cNvSpPr/>
          <p:nvPr/>
        </p:nvSpPr>
        <p:spPr>
          <a:xfrm>
            <a:off x="1399238" y="1974079"/>
            <a:ext cx="65005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입찰참가 </a:t>
            </a:r>
            <a:r>
              <a:rPr lang="ko-KR" altLang="en-US" sz="600" dirty="0" err="1"/>
              <a:t>미신청</a:t>
            </a:r>
            <a:endParaRPr lang="ko-KR" altLang="en-US" sz="600" dirty="0"/>
          </a:p>
        </p:txBody>
      </p:sp>
      <p:grpSp>
        <p:nvGrpSpPr>
          <p:cNvPr id="6" name="그룹 5"/>
          <p:cNvGrpSpPr/>
          <p:nvPr/>
        </p:nvGrpSpPr>
        <p:grpSpPr>
          <a:xfrm>
            <a:off x="720490" y="3803374"/>
            <a:ext cx="2660475" cy="2461921"/>
            <a:chOff x="720490" y="3803374"/>
            <a:chExt cx="2660475" cy="2461921"/>
          </a:xfrm>
        </p:grpSpPr>
        <p:sp>
          <p:nvSpPr>
            <p:cNvPr id="106" name="TextBox 105">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3916705"/>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a:latin typeface="+mn-ea"/>
                </a:rPr>
                <a:t>통합참조번호</a:t>
              </a:r>
            </a:p>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err="1">
                  <a:latin typeface="+mn-ea"/>
                </a:rPr>
                <a:t>공고년도</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입찰내역작성여부</a:t>
              </a:r>
            </a:p>
            <a:p>
              <a:pPr>
                <a:lnSpc>
                  <a:spcPct val="200000"/>
                </a:lnSpc>
              </a:pPr>
              <a:r>
                <a:rPr lang="ko-KR" altLang="en-US" sz="700" dirty="0" err="1">
                  <a:latin typeface="+mn-ea"/>
                </a:rPr>
                <a:t>입찰업체</a:t>
              </a:r>
              <a:endParaRPr lang="ko-KR" altLang="en-US" sz="700" dirty="0">
                <a:latin typeface="+mn-ea"/>
              </a:endParaRPr>
            </a:p>
            <a:p>
              <a:pPr>
                <a:lnSpc>
                  <a:spcPct val="200000"/>
                </a:lnSpc>
              </a:pPr>
              <a:r>
                <a:rPr lang="ko-KR" altLang="en-US" sz="700" dirty="0">
                  <a:latin typeface="+mn-ea"/>
                </a:rPr>
                <a:t>입찰참가신청여부</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BDF01823EFE</a:t>
              </a:r>
            </a:p>
            <a:p>
              <a:pPr>
                <a:lnSpc>
                  <a:spcPct val="200000"/>
                </a:lnSpc>
              </a:pPr>
              <a:r>
                <a:rPr lang="en-US" altLang="ko-KR" sz="700" dirty="0">
                  <a:latin typeface="+mn-ea"/>
                </a:rPr>
                <a:t>EFE00012-2</a:t>
              </a:r>
            </a:p>
            <a:p>
              <a:pPr>
                <a:lnSpc>
                  <a:spcPct val="200000"/>
                </a:lnSpc>
              </a:pPr>
              <a:r>
                <a:rPr lang="en-US" altLang="ko-KR" sz="700" dirty="0">
                  <a:latin typeface="맑은 고딕" panose="020B0503020000020004" pitchFamily="50" charset="-127"/>
                  <a:cs typeface="Segoe UI" panose="020B0502040204020203" pitchFamily="34" charset="0"/>
                </a:rPr>
                <a:t>2025</a:t>
              </a:r>
            </a:p>
            <a:p>
              <a:pPr>
                <a:lnSpc>
                  <a:spcPct val="200000"/>
                </a:lnSpc>
              </a:pPr>
              <a:r>
                <a:rPr lang="en-US" altLang="ko-KR" sz="700" dirty="0">
                  <a:latin typeface="맑은 고딕" panose="020B0503020000020004" pitchFamily="50" charset="-127"/>
                  <a:cs typeface="Segoe UI" panose="020B0502040204020203" pitchFamily="34" charset="0"/>
                </a:rPr>
                <a:t>BDF01823-002</a:t>
              </a:r>
            </a:p>
            <a:p>
              <a:pPr>
                <a:lnSpc>
                  <a:spcPct val="200000"/>
                </a:lnSpc>
              </a:pPr>
              <a:r>
                <a:rPr lang="en-US" altLang="ko-KR" sz="700" dirty="0">
                  <a:latin typeface="맑은 고딕" panose="020B0503020000020004" pitchFamily="50" charset="-127"/>
                  <a:cs typeface="Segoe UI" panose="020B0502040204020203" pitchFamily="34" charset="0"/>
                </a:rPr>
                <a:t>T-80U/TBE-3</a:t>
              </a:r>
            </a:p>
            <a:p>
              <a:pPr>
                <a:lnSpc>
                  <a:spcPct val="200000"/>
                </a:lnSpc>
              </a:pPr>
              <a:r>
                <a:rPr lang="ko-KR" altLang="en-US" sz="700" dirty="0">
                  <a:latin typeface="맑은 고딕" panose="020B0503020000020004" pitchFamily="50" charset="-127"/>
                  <a:cs typeface="Segoe UI" panose="020B0502040204020203" pitchFamily="34" charset="0"/>
                </a:rPr>
                <a:t>작성</a:t>
              </a:r>
              <a:endParaRPr lang="en-US" altLang="ko-KR" sz="700" dirty="0">
                <a:latin typeface="맑은 고딕" panose="020B0503020000020004" pitchFamily="50" charset="-127"/>
                <a:cs typeface="Segoe UI" panose="020B0502040204020203" pitchFamily="34" charset="0"/>
              </a:endParaRPr>
            </a:p>
            <a:p>
              <a:pPr>
                <a:lnSpc>
                  <a:spcPct val="200000"/>
                </a:lnSpc>
              </a:pPr>
              <a:r>
                <a:rPr lang="ko-KR" altLang="en-US" sz="700" dirty="0" err="1">
                  <a:latin typeface="맑은 고딕" panose="020B0503020000020004" pitchFamily="50" charset="-127"/>
                  <a:cs typeface="Segoe UI" panose="020B0502040204020203" pitchFamily="34" charset="0"/>
                </a:rPr>
                <a:t>미작성</a:t>
              </a:r>
              <a:endParaRPr lang="en-US" altLang="ko-KR" sz="700" dirty="0">
                <a:latin typeface="맑은 고딕" panose="020B0503020000020004" pitchFamily="50" charset="-127"/>
                <a:cs typeface="Segoe UI" panose="020B0502040204020203" pitchFamily="34" charset="0"/>
              </a:endParaRPr>
            </a:p>
            <a:p>
              <a:pPr>
                <a:lnSpc>
                  <a:spcPct val="200000"/>
                </a:lnSpc>
              </a:pPr>
              <a:r>
                <a:rPr lang="ko-KR" altLang="en-US" sz="700" dirty="0" err="1">
                  <a:latin typeface="맑은 고딕" panose="020B0503020000020004" pitchFamily="50" charset="-127"/>
                  <a:cs typeface="Segoe UI" panose="020B0502040204020203" pitchFamily="34" charset="0"/>
                </a:rPr>
                <a:t>미신청</a:t>
              </a: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latin typeface="+mn-ea"/>
                </a:rPr>
                <a:t>2025-12-23 10:00</a:t>
              </a:r>
            </a:p>
            <a:p>
              <a:pPr>
                <a:lnSpc>
                  <a:spcPct val="200000"/>
                </a:lnSpc>
              </a:pPr>
              <a:r>
                <a:rPr lang="en-US" altLang="ko-KR" sz="700" dirty="0">
                  <a:latin typeface="+mn-ea"/>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TextBox 158">
              <a:extLst>
                <a:ext uri="{FF2B5EF4-FFF2-40B4-BE49-F238E27FC236}">
                  <a16:creationId xmlns:a16="http://schemas.microsoft.com/office/drawing/2014/main" id="{FFC49AEA-2A8F-250C-A86A-A7751D9706C3}"/>
                </a:ext>
              </a:extLst>
            </p:cNvPr>
            <p:cNvSpPr txBox="1"/>
            <p:nvPr/>
          </p:nvSpPr>
          <p:spPr>
            <a:xfrm>
              <a:off x="790330" y="5835557"/>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63" name="그룹 162"/>
          <p:cNvGrpSpPr/>
          <p:nvPr/>
        </p:nvGrpSpPr>
        <p:grpSpPr>
          <a:xfrm>
            <a:off x="3821510" y="1956502"/>
            <a:ext cx="2660475" cy="2461921"/>
            <a:chOff x="720490" y="3803374"/>
            <a:chExt cx="2660475" cy="2461921"/>
          </a:xfrm>
        </p:grpSpPr>
        <p:sp>
          <p:nvSpPr>
            <p:cNvPr id="164" name="TextBox 163">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65" name="그룹 164"/>
            <p:cNvGrpSpPr/>
            <p:nvPr/>
          </p:nvGrpSpPr>
          <p:grpSpPr>
            <a:xfrm flipV="1">
              <a:off x="3143548" y="3916705"/>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8" name="직사각형 177"/>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a:latin typeface="+mn-ea"/>
                </a:rPr>
                <a:t>통합참조번호</a:t>
              </a:r>
            </a:p>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err="1">
                  <a:latin typeface="+mn-ea"/>
                </a:rPr>
                <a:t>공고년도</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입찰내역작성여부</a:t>
              </a:r>
            </a:p>
            <a:p>
              <a:pPr>
                <a:lnSpc>
                  <a:spcPct val="200000"/>
                </a:lnSpc>
              </a:pPr>
              <a:r>
                <a:rPr lang="ko-KR" altLang="en-US" sz="700" dirty="0" err="1">
                  <a:latin typeface="+mn-ea"/>
                </a:rPr>
                <a:t>입찰업체</a:t>
              </a:r>
              <a:endParaRPr lang="ko-KR" altLang="en-US" sz="700" dirty="0">
                <a:latin typeface="+mn-ea"/>
              </a:endParaRPr>
            </a:p>
            <a:p>
              <a:pPr>
                <a:lnSpc>
                  <a:spcPct val="200000"/>
                </a:lnSpc>
              </a:pPr>
              <a:r>
                <a:rPr lang="ko-KR" altLang="en-US" sz="700" dirty="0">
                  <a:latin typeface="+mn-ea"/>
                </a:rPr>
                <a:t>입찰참가신청여부</a:t>
              </a: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BDF01823EFE</a:t>
              </a:r>
            </a:p>
            <a:p>
              <a:pPr>
                <a:lnSpc>
                  <a:spcPct val="200000"/>
                </a:lnSpc>
              </a:pPr>
              <a:r>
                <a:rPr lang="en-US" altLang="ko-KR" sz="700" dirty="0">
                  <a:latin typeface="+mn-ea"/>
                </a:rPr>
                <a:t>EFE00012-2</a:t>
              </a:r>
            </a:p>
            <a:p>
              <a:pPr>
                <a:lnSpc>
                  <a:spcPct val="200000"/>
                </a:lnSpc>
              </a:pPr>
              <a:r>
                <a:rPr lang="en-US" altLang="ko-KR" sz="700" dirty="0">
                  <a:latin typeface="맑은 고딕" panose="020B0503020000020004" pitchFamily="50" charset="-127"/>
                  <a:cs typeface="Segoe UI" panose="020B0502040204020203" pitchFamily="34" charset="0"/>
                </a:rPr>
                <a:t>2025</a:t>
              </a:r>
            </a:p>
            <a:p>
              <a:pPr>
                <a:lnSpc>
                  <a:spcPct val="200000"/>
                </a:lnSpc>
              </a:pPr>
              <a:r>
                <a:rPr lang="en-US" altLang="ko-KR" sz="700" dirty="0">
                  <a:latin typeface="맑은 고딕" panose="020B0503020000020004" pitchFamily="50" charset="-127"/>
                  <a:cs typeface="Segoe UI" panose="020B0502040204020203" pitchFamily="34" charset="0"/>
                </a:rPr>
                <a:t>BDF01823-002</a:t>
              </a:r>
            </a:p>
            <a:p>
              <a:pPr>
                <a:lnSpc>
                  <a:spcPct val="200000"/>
                </a:lnSpc>
              </a:pPr>
              <a:r>
                <a:rPr lang="en-US" altLang="ko-KR" sz="700" dirty="0">
                  <a:latin typeface="맑은 고딕" panose="020B0503020000020004" pitchFamily="50" charset="-127"/>
                  <a:cs typeface="Segoe UI" panose="020B0502040204020203" pitchFamily="34" charset="0"/>
                </a:rPr>
                <a:t>T-80U/TBE-3</a:t>
              </a:r>
            </a:p>
            <a:p>
              <a:pPr>
                <a:lnSpc>
                  <a:spcPct val="200000"/>
                </a:lnSpc>
              </a:pPr>
              <a:r>
                <a:rPr lang="ko-KR" altLang="en-US" sz="700" dirty="0">
                  <a:latin typeface="맑은 고딕" panose="020B0503020000020004" pitchFamily="50" charset="-127"/>
                  <a:cs typeface="Segoe UI" panose="020B0502040204020203" pitchFamily="34" charset="0"/>
                </a:rPr>
                <a:t>작성</a:t>
              </a:r>
              <a:endParaRPr lang="en-US" altLang="ko-KR" sz="700" dirty="0">
                <a:latin typeface="맑은 고딕" panose="020B0503020000020004" pitchFamily="50" charset="-127"/>
                <a:cs typeface="Segoe UI" panose="020B0502040204020203" pitchFamily="34" charset="0"/>
              </a:endParaRPr>
            </a:p>
            <a:p>
              <a:pPr>
                <a:lnSpc>
                  <a:spcPct val="200000"/>
                </a:lnSpc>
              </a:pPr>
              <a:r>
                <a:rPr lang="ko-KR" altLang="en-US" sz="700" dirty="0" err="1">
                  <a:latin typeface="맑은 고딕" panose="020B0503020000020004" pitchFamily="50" charset="-127"/>
                  <a:cs typeface="Segoe UI" panose="020B0502040204020203" pitchFamily="34" charset="0"/>
                </a:rPr>
                <a:t>미작성</a:t>
              </a:r>
              <a:endParaRPr lang="en-US" altLang="ko-KR" sz="700" dirty="0">
                <a:latin typeface="맑은 고딕" panose="020B0503020000020004" pitchFamily="50" charset="-127"/>
                <a:cs typeface="Segoe UI" panose="020B0502040204020203" pitchFamily="34" charset="0"/>
              </a:endParaRPr>
            </a:p>
            <a:p>
              <a:pPr>
                <a:lnSpc>
                  <a:spcPct val="200000"/>
                </a:lnSpc>
              </a:pPr>
              <a:r>
                <a:rPr lang="ko-KR" altLang="en-US" sz="700" dirty="0" err="1">
                  <a:latin typeface="맑은 고딕" panose="020B0503020000020004" pitchFamily="50" charset="-127"/>
                  <a:cs typeface="Segoe UI" panose="020B0502040204020203" pitchFamily="34" charset="0"/>
                </a:rPr>
                <a:t>미신청</a:t>
              </a: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latin typeface="+mn-ea"/>
                </a:rPr>
                <a:t>2025-12-23 10:00</a:t>
              </a:r>
            </a:p>
            <a:p>
              <a:pPr>
                <a:lnSpc>
                  <a:spcPct val="200000"/>
                </a:lnSpc>
              </a:pPr>
              <a:r>
                <a:rPr lang="en-US" altLang="ko-KR" sz="700" dirty="0">
                  <a:latin typeface="+mn-ea"/>
                </a:rPr>
                <a:t>⁞</a:t>
              </a: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3" name="TextBox 202">
              <a:extLst>
                <a:ext uri="{FF2B5EF4-FFF2-40B4-BE49-F238E27FC236}">
                  <a16:creationId xmlns:a16="http://schemas.microsoft.com/office/drawing/2014/main" id="{FFC49AEA-2A8F-250C-A86A-A7751D9706C3}"/>
                </a:ext>
              </a:extLst>
            </p:cNvPr>
            <p:cNvSpPr txBox="1"/>
            <p:nvPr/>
          </p:nvSpPr>
          <p:spPr>
            <a:xfrm>
              <a:off x="790330" y="5835557"/>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cxnSp>
          <p:nvCxnSpPr>
            <p:cNvPr id="204" name="직선 연결선 203">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08" name="그룹 207"/>
          <p:cNvGrpSpPr/>
          <p:nvPr/>
        </p:nvGrpSpPr>
        <p:grpSpPr>
          <a:xfrm>
            <a:off x="3795735" y="4568551"/>
            <a:ext cx="2712026" cy="944800"/>
            <a:chOff x="3795735" y="4570486"/>
            <a:chExt cx="2712026" cy="944800"/>
          </a:xfrm>
        </p:grpSpPr>
        <p:sp>
          <p:nvSpPr>
            <p:cNvPr id="209" name="TextBox 208">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210" name="그룹 209"/>
            <p:cNvGrpSpPr/>
            <p:nvPr/>
          </p:nvGrpSpPr>
          <p:grpSpPr>
            <a:xfrm flipV="1">
              <a:off x="6240167" y="4729163"/>
              <a:ext cx="94010" cy="47005"/>
              <a:chOff x="6812560" y="3297172"/>
              <a:chExt cx="94010" cy="47005"/>
            </a:xfrm>
          </p:grpSpPr>
          <p:cxnSp>
            <p:nvCxnSpPr>
              <p:cNvPr id="219" name="직선 연결선 2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0" name="직선 연결선 21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TextBox 210">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모서리가 둥근 직사각형 214"/>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TextBox 215">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17" name="TextBox 216">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 name="직사각형 2"/>
          <p:cNvSpPr/>
          <p:nvPr/>
        </p:nvSpPr>
        <p:spPr>
          <a:xfrm>
            <a:off x="7072313" y="5975364"/>
            <a:ext cx="2363989" cy="29610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10000"/>
          </a:bodyPr>
          <a:lstStyle/>
          <a:p>
            <a:pPr algn="ctr"/>
            <a:r>
              <a:rPr lang="ko-KR" altLang="en-US" sz="700" dirty="0"/>
              <a:t>보관함 상세에서 품목 목록은 제거함</a:t>
            </a:r>
            <a:r>
              <a:rPr lang="en-US" altLang="ko-KR" sz="700" dirty="0"/>
              <a:t>.</a:t>
            </a:r>
          </a:p>
          <a:p>
            <a:pPr algn="ctr"/>
            <a:r>
              <a:rPr lang="ko-KR" altLang="en-US" sz="700" dirty="0"/>
              <a:t>품목 목록은 </a:t>
            </a:r>
            <a:r>
              <a:rPr lang="en-US" altLang="ko-KR" sz="700" dirty="0"/>
              <a:t>+ </a:t>
            </a:r>
            <a:r>
              <a:rPr lang="ko-KR" altLang="en-US" sz="700" dirty="0"/>
              <a:t>버튼을 눌러 내역 작성에서 처리</a:t>
            </a:r>
          </a:p>
        </p:txBody>
      </p:sp>
      <p:grpSp>
        <p:nvGrpSpPr>
          <p:cNvPr id="124" name="그룹 123"/>
          <p:cNvGrpSpPr/>
          <p:nvPr/>
        </p:nvGrpSpPr>
        <p:grpSpPr>
          <a:xfrm>
            <a:off x="8223250" y="569392"/>
            <a:ext cx="3365500" cy="634511"/>
            <a:chOff x="8223250" y="569392"/>
            <a:chExt cx="3365500" cy="634511"/>
          </a:xfrm>
        </p:grpSpPr>
        <p:sp>
          <p:nvSpPr>
            <p:cNvPr id="125" name="직사각형 124"/>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2026-06-22 </a:t>
              </a:r>
              <a:r>
                <a:rPr lang="ko-KR" altLang="en-US" dirty="0" smtClean="0"/>
                <a:t>화면 </a:t>
              </a:r>
              <a:r>
                <a:rPr lang="ko-KR" altLang="en-US" dirty="0"/>
                <a:t>수정</a:t>
              </a:r>
            </a:p>
          </p:txBody>
        </p:sp>
        <p:sp>
          <p:nvSpPr>
            <p:cNvPr id="126" name="직사각형 125"/>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err="1" smtClean="0"/>
                <a:t>우측화면</a:t>
              </a:r>
              <a:r>
                <a:rPr lang="ko-KR" altLang="en-US" sz="700" dirty="0" smtClean="0"/>
                <a:t> 상단 헤더 고정 영역 제거</a:t>
              </a:r>
              <a:endParaRPr lang="en-US" altLang="ko-KR" sz="700" dirty="0"/>
            </a:p>
          </p:txBody>
        </p:sp>
      </p:grpSp>
    </p:spTree>
    <p:extLst>
      <p:ext uri="{BB962C8B-B14F-4D97-AF65-F5344CB8AC3E}">
        <p14:creationId xmlns:p14="http://schemas.microsoft.com/office/powerpoint/2010/main" val="2639726249"/>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공고일반</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303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국외 보관함 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보관함에 추가한 공고 상세 정보를 조회하는 화면</a:t>
            </a:r>
            <a:r>
              <a:rPr lang="ko-KR" altLang="en-US" dirty="0"/>
              <a:t>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a:latin typeface="+mn-ea"/>
              </a:rPr>
              <a:t>상세</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MUI-CM-01-M72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3552487"/>
            <a:chOff x="701175" y="1527996"/>
            <a:chExt cx="2630093" cy="3552487"/>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2"/>
              <a:ext cx="792000" cy="32450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728979" cy="1723549"/>
            </a:xfrm>
            <a:prstGeom prst="rect">
              <a:avLst/>
            </a:prstGeom>
            <a:noFill/>
          </p:spPr>
          <p:txBody>
            <a:bodyPr wrap="square" lIns="0" tIns="0" rIns="0" bIns="0" rtlCol="0">
              <a:spAutoFit/>
            </a:bodyPr>
            <a:lstStyle/>
            <a:p>
              <a:pPr>
                <a:lnSpc>
                  <a:spcPct val="200000"/>
                </a:lnSpc>
              </a:pPr>
              <a:r>
                <a:rPr lang="ko-KR" altLang="en-US" sz="700" dirty="0">
                  <a:latin typeface="+mn-ea"/>
                </a:rPr>
                <a:t>통합참조번호</a:t>
              </a:r>
            </a:p>
            <a:p>
              <a:pPr>
                <a:lnSpc>
                  <a:spcPct val="200000"/>
                </a:lnSpc>
              </a:pPr>
              <a:r>
                <a:rPr lang="ko-KR" altLang="en-US" sz="700" dirty="0" err="1">
                  <a:latin typeface="+mn-ea"/>
                </a:rPr>
                <a:t>공고번호</a:t>
              </a:r>
              <a:r>
                <a:rPr lang="ko-KR" altLang="en-US" sz="700" dirty="0">
                  <a:latin typeface="+mn-ea"/>
                </a:rPr>
                <a:t> </a:t>
              </a:r>
              <a:r>
                <a:rPr lang="en-US" altLang="ko-KR" sz="700" dirty="0">
                  <a:latin typeface="+mn-ea"/>
                </a:rPr>
                <a:t>- </a:t>
              </a:r>
              <a:r>
                <a:rPr lang="ko-KR" altLang="en-US" sz="700" dirty="0">
                  <a:latin typeface="+mn-ea"/>
                </a:rPr>
                <a:t>차수</a:t>
              </a:r>
            </a:p>
            <a:p>
              <a:pPr>
                <a:lnSpc>
                  <a:spcPct val="200000"/>
                </a:lnSpc>
              </a:pPr>
              <a:r>
                <a:rPr lang="ko-KR" altLang="en-US" sz="700" dirty="0" err="1">
                  <a:latin typeface="+mn-ea"/>
                </a:rPr>
                <a:t>공고년도</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입찰내역작성여부</a:t>
              </a:r>
            </a:p>
            <a:p>
              <a:pPr>
                <a:lnSpc>
                  <a:spcPct val="200000"/>
                </a:lnSpc>
              </a:pPr>
              <a:r>
                <a:rPr lang="ko-KR" altLang="en-US" sz="700" dirty="0" err="1">
                  <a:latin typeface="+mn-ea"/>
                </a:rPr>
                <a:t>입찰업체</a:t>
              </a:r>
              <a:endParaRPr lang="ko-KR" altLang="en-US" sz="700" dirty="0">
                <a:latin typeface="+mn-ea"/>
              </a:endParaRPr>
            </a:p>
            <a:p>
              <a:pPr>
                <a:lnSpc>
                  <a:spcPct val="200000"/>
                </a:lnSpc>
              </a:pPr>
              <a:r>
                <a:rPr lang="ko-KR" altLang="en-US" sz="700" dirty="0">
                  <a:latin typeface="+mn-ea"/>
                </a:rPr>
                <a:t>입찰참가신청여부</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3231654"/>
            </a:xfrm>
            <a:prstGeom prst="rect">
              <a:avLst/>
            </a:prstGeom>
            <a:noFill/>
          </p:spPr>
          <p:txBody>
            <a:bodyPr wrap="square" lIns="0" tIns="0" rIns="0" bIns="0" rtlCol="0">
              <a:spAutoFit/>
            </a:bodyPr>
            <a:lstStyle/>
            <a:p>
              <a:pPr>
                <a:lnSpc>
                  <a:spcPct val="200000"/>
                </a:lnSpc>
              </a:pPr>
              <a:r>
                <a:rPr lang="en-US" altLang="ko-KR" sz="700" dirty="0">
                  <a:latin typeface="+mn-ea"/>
                </a:rPr>
                <a:t>BDF01823EFE</a:t>
              </a:r>
            </a:p>
            <a:p>
              <a:pPr>
                <a:lnSpc>
                  <a:spcPct val="200000"/>
                </a:lnSpc>
              </a:pPr>
              <a:r>
                <a:rPr lang="en-US" altLang="ko-KR" sz="700" dirty="0">
                  <a:latin typeface="+mn-ea"/>
                </a:rPr>
                <a:t>EFE00012-2</a:t>
              </a:r>
            </a:p>
            <a:p>
              <a:pPr>
                <a:lnSpc>
                  <a:spcPct val="200000"/>
                </a:lnSpc>
              </a:pPr>
              <a:r>
                <a:rPr lang="en-US" altLang="ko-KR" sz="700" dirty="0">
                  <a:latin typeface="맑은 고딕" panose="020B0503020000020004" pitchFamily="50" charset="-127"/>
                  <a:cs typeface="Segoe UI" panose="020B0502040204020203" pitchFamily="34" charset="0"/>
                </a:rPr>
                <a:t>2025</a:t>
              </a:r>
            </a:p>
            <a:p>
              <a:pPr>
                <a:lnSpc>
                  <a:spcPct val="200000"/>
                </a:lnSpc>
              </a:pPr>
              <a:r>
                <a:rPr lang="en-US" altLang="ko-KR" sz="700" dirty="0">
                  <a:latin typeface="맑은 고딕" panose="020B0503020000020004" pitchFamily="50" charset="-127"/>
                  <a:cs typeface="Segoe UI" panose="020B0502040204020203" pitchFamily="34" charset="0"/>
                </a:rPr>
                <a:t>BDF01823-002</a:t>
              </a:r>
            </a:p>
            <a:p>
              <a:pPr>
                <a:lnSpc>
                  <a:spcPct val="200000"/>
                </a:lnSpc>
              </a:pPr>
              <a:r>
                <a:rPr lang="en-US" altLang="ko-KR" sz="700" dirty="0">
                  <a:latin typeface="맑은 고딕" panose="020B0503020000020004" pitchFamily="50" charset="-127"/>
                  <a:cs typeface="Segoe UI" panose="020B0502040204020203" pitchFamily="34" charset="0"/>
                </a:rPr>
                <a:t>T-80U/TBE-3</a:t>
              </a:r>
            </a:p>
            <a:p>
              <a:pPr>
                <a:lnSpc>
                  <a:spcPct val="200000"/>
                </a:lnSpc>
              </a:pPr>
              <a:r>
                <a:rPr lang="ko-KR" altLang="en-US" sz="700" dirty="0">
                  <a:latin typeface="맑은 고딕" panose="020B0503020000020004" pitchFamily="50" charset="-127"/>
                  <a:cs typeface="Segoe UI" panose="020B0502040204020203" pitchFamily="34" charset="0"/>
                </a:rPr>
                <a:t>작성</a:t>
              </a:r>
              <a:endParaRPr lang="en-US" altLang="ko-KR" sz="700" dirty="0">
                <a:latin typeface="맑은 고딕" panose="020B0503020000020004" pitchFamily="50" charset="-127"/>
                <a:cs typeface="Segoe UI" panose="020B0502040204020203" pitchFamily="34" charset="0"/>
              </a:endParaRPr>
            </a:p>
            <a:p>
              <a:pPr>
                <a:lnSpc>
                  <a:spcPct val="200000"/>
                </a:lnSpc>
              </a:pPr>
              <a:r>
                <a:rPr lang="ko-KR" altLang="en-US" sz="700" dirty="0" err="1">
                  <a:latin typeface="맑은 고딕" panose="020B0503020000020004" pitchFamily="50" charset="-127"/>
                  <a:cs typeface="Segoe UI" panose="020B0502040204020203" pitchFamily="34" charset="0"/>
                </a:rPr>
                <a:t>미작성</a:t>
              </a:r>
              <a:endParaRPr lang="en-US" altLang="ko-KR" sz="700" dirty="0">
                <a:latin typeface="맑은 고딕" panose="020B0503020000020004" pitchFamily="50" charset="-127"/>
                <a:cs typeface="Segoe UI" panose="020B0502040204020203" pitchFamily="34" charset="0"/>
              </a:endParaRPr>
            </a:p>
            <a:p>
              <a:pPr>
                <a:lnSpc>
                  <a:spcPct val="200000"/>
                </a:lnSpc>
              </a:pPr>
              <a:r>
                <a:rPr lang="ko-KR" altLang="en-US" sz="700" dirty="0" err="1">
                  <a:latin typeface="맑은 고딕" panose="020B0503020000020004" pitchFamily="50" charset="-127"/>
                  <a:cs typeface="Segoe UI" panose="020B0502040204020203" pitchFamily="34" charset="0"/>
                </a:rPr>
                <a:t>미신청</a:t>
              </a: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latin typeface="+mn-ea"/>
                </a:rPr>
                <a:t>2026-03-17 15:00</a:t>
              </a:r>
            </a:p>
            <a:p>
              <a:pPr>
                <a:lnSpc>
                  <a:spcPct val="200000"/>
                </a:lnSpc>
              </a:pPr>
              <a:r>
                <a:rPr lang="en-US" altLang="ko-KR" sz="700" dirty="0">
                  <a:latin typeface="+mn-ea"/>
                </a:rPr>
                <a:t>2026-03-26 11:00</a:t>
              </a:r>
            </a:p>
            <a:p>
              <a:pPr>
                <a:lnSpc>
                  <a:spcPct val="200000"/>
                </a:lnSpc>
              </a:pPr>
              <a:r>
                <a:rPr lang="en-US" altLang="ko-KR" sz="700" dirty="0">
                  <a:latin typeface="+mn-ea"/>
                </a:rPr>
                <a:t>2026-03-30</a:t>
              </a:r>
            </a:p>
            <a:p>
              <a:pPr>
                <a:lnSpc>
                  <a:spcPct val="200000"/>
                </a:lnSpc>
              </a:pPr>
              <a:r>
                <a:rPr lang="en-US" altLang="ko-KR" sz="700" dirty="0">
                  <a:latin typeface="+mn-ea"/>
                </a:rPr>
                <a:t>2026-03-17</a:t>
              </a:r>
            </a:p>
            <a:p>
              <a:pPr>
                <a:lnSpc>
                  <a:spcPct val="200000"/>
                </a:lnSpc>
              </a:pPr>
              <a:r>
                <a:rPr lang="ko-KR" altLang="en-US" sz="700" dirty="0" err="1">
                  <a:latin typeface="+mn-ea"/>
                </a:rPr>
                <a:t>일반투찰</a:t>
              </a:r>
              <a:endParaRPr lang="en-US" altLang="ko-KR" sz="700" dirty="0">
                <a:latin typeface="+mn-ea"/>
              </a:endParaRPr>
            </a:p>
            <a:p>
              <a:pPr>
                <a:lnSpc>
                  <a:spcPct val="200000"/>
                </a:lnSpc>
              </a:pPr>
              <a:r>
                <a:rPr lang="ko-KR" altLang="en-US" sz="700" dirty="0">
                  <a:latin typeface="+mn-ea"/>
                </a:rPr>
                <a:t>일반경쟁</a:t>
              </a:r>
              <a:endParaRPr lang="en-US" altLang="ko-KR" sz="700" dirty="0">
                <a:latin typeface="+mn-ea"/>
              </a:endParaRPr>
            </a:p>
            <a:p>
              <a:pPr>
                <a:lnSpc>
                  <a:spcPct val="200000"/>
                </a:lnSpc>
              </a:pPr>
              <a:r>
                <a:rPr lang="en-US" altLang="ko-KR" sz="700" dirty="0">
                  <a:latin typeface="+mn-ea"/>
                </a:rPr>
                <a:t>100</a:t>
              </a:r>
            </a:p>
          </p:txBody>
        </p:sp>
        <p:grpSp>
          <p:nvGrpSpPr>
            <p:cNvPr id="17" name="그룹 16"/>
            <p:cNvGrpSpPr/>
            <p:nvPr/>
          </p:nvGrpSpPr>
          <p:grpSpPr>
            <a:xfrm>
              <a:off x="701175" y="1835481"/>
              <a:ext cx="2630093" cy="3245002"/>
              <a:chOff x="701175" y="1835481"/>
              <a:chExt cx="2630093" cy="3245002"/>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5" name="직선 연결선 54">
                <a:extLst>
                  <a:ext uri="{FF2B5EF4-FFF2-40B4-BE49-F238E27FC236}">
                    <a16:creationId xmlns:a16="http://schemas.microsoft.com/office/drawing/2014/main" id="{E9293055-D5CD-4B9E-7F64-64B2D2CA7A52}"/>
                  </a:ext>
                </a:extLst>
              </p:cNvPr>
              <p:cNvCxnSpPr/>
              <p:nvPr/>
            </p:nvCxnSpPr>
            <p:spPr>
              <a:xfrm>
                <a:off x="703268" y="50804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82" name="TextBox 81">
              <a:extLst>
                <a:ext uri="{FF2B5EF4-FFF2-40B4-BE49-F238E27FC236}">
                  <a16:creationId xmlns:a16="http://schemas.microsoft.com/office/drawing/2014/main" id="{FFC49AEA-2A8F-250C-A86A-A7751D9706C3}"/>
                </a:ext>
              </a:extLst>
            </p:cNvPr>
            <p:cNvSpPr txBox="1"/>
            <p:nvPr/>
          </p:nvSpPr>
          <p:spPr>
            <a:xfrm>
              <a:off x="790330" y="3553401"/>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83" name="TextBox 82">
              <a:extLst>
                <a:ext uri="{FF2B5EF4-FFF2-40B4-BE49-F238E27FC236}">
                  <a16:creationId xmlns:a16="http://schemas.microsoft.com/office/drawing/2014/main" id="{FFC49AEA-2A8F-250C-A86A-A7751D9706C3}"/>
                </a:ext>
              </a:extLst>
            </p:cNvPr>
            <p:cNvSpPr txBox="1"/>
            <p:nvPr/>
          </p:nvSpPr>
          <p:spPr>
            <a:xfrm>
              <a:off x="790330" y="3770489"/>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54" name="TextBox 53">
              <a:extLst>
                <a:ext uri="{FF2B5EF4-FFF2-40B4-BE49-F238E27FC236}">
                  <a16:creationId xmlns:a16="http://schemas.microsoft.com/office/drawing/2014/main" id="{FFC49AEA-2A8F-250C-A86A-A7751D9706C3}"/>
                </a:ext>
              </a:extLst>
            </p:cNvPr>
            <p:cNvSpPr txBox="1"/>
            <p:nvPr/>
          </p:nvSpPr>
          <p:spPr>
            <a:xfrm>
              <a:off x="790330" y="3957309"/>
              <a:ext cx="728979" cy="1077218"/>
            </a:xfrm>
            <a:prstGeom prst="rect">
              <a:avLst/>
            </a:prstGeom>
            <a:noFill/>
          </p:spPr>
          <p:txBody>
            <a:bodyPr wrap="square" lIns="0" tIns="0" rIns="0" bIns="0" rtlCol="0">
              <a:spAutoFit/>
            </a:bodyPr>
            <a:lstStyle/>
            <a:p>
              <a:pPr>
                <a:lnSpc>
                  <a:spcPct val="200000"/>
                </a:lnSpc>
              </a:pPr>
              <a:r>
                <a:rPr lang="ko-KR" altLang="en-US" sz="700" dirty="0" err="1">
                  <a:latin typeface="+mn-ea"/>
                </a:rPr>
                <a:t>개찰일자</a:t>
              </a:r>
              <a:endParaRPr lang="ko-KR" altLang="en-US" sz="700" dirty="0">
                <a:latin typeface="+mn-ea"/>
              </a:endParaRPr>
            </a:p>
            <a:p>
              <a:pPr>
                <a:lnSpc>
                  <a:spcPct val="200000"/>
                </a:lnSpc>
              </a:pPr>
              <a:r>
                <a:rPr lang="ko-KR" altLang="en-US" sz="700" dirty="0" err="1">
                  <a:latin typeface="+mn-ea"/>
                </a:rPr>
                <a:t>환율일자</a:t>
              </a:r>
              <a:endParaRPr lang="ko-KR" altLang="en-US" sz="700" dirty="0">
                <a:latin typeface="+mn-ea"/>
              </a:endParaRPr>
            </a:p>
            <a:p>
              <a:pPr>
                <a:lnSpc>
                  <a:spcPct val="200000"/>
                </a:lnSpc>
              </a:pPr>
              <a:r>
                <a:rPr lang="ko-KR" altLang="en-US" sz="700" dirty="0">
                  <a:latin typeface="+mn-ea"/>
                </a:rPr>
                <a:t>입찰방식</a:t>
              </a:r>
              <a:endParaRPr lang="en-US" altLang="ko-KR" sz="700" dirty="0">
                <a:latin typeface="+mn-ea"/>
              </a:endParaRPr>
            </a:p>
            <a:p>
              <a:pPr>
                <a:lnSpc>
                  <a:spcPct val="200000"/>
                </a:lnSpc>
              </a:pPr>
              <a:r>
                <a:rPr lang="ko-KR" altLang="en-US" sz="700" dirty="0" err="1">
                  <a:latin typeface="+mn-ea"/>
                </a:rPr>
                <a:t>계약방식</a:t>
              </a:r>
              <a:endParaRPr lang="ko-KR" altLang="en-US" sz="700" dirty="0">
                <a:latin typeface="+mn-ea"/>
              </a:endParaRPr>
            </a:p>
            <a:p>
              <a:pPr>
                <a:lnSpc>
                  <a:spcPct val="200000"/>
                </a:lnSpc>
              </a:pPr>
              <a:r>
                <a:rPr lang="ko-KR" altLang="en-US" sz="700" dirty="0" err="1">
                  <a:latin typeface="+mn-ea"/>
                </a:rPr>
                <a:t>보관품목수</a:t>
              </a:r>
              <a:endParaRPr lang="en-US" altLang="ko-KR" sz="700" dirty="0">
                <a:latin typeface="+mn-ea"/>
              </a:endParaRPr>
            </a:p>
          </p:txBody>
        </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3" name="그룹 2"/>
          <p:cNvGrpSpPr/>
          <p:nvPr/>
        </p:nvGrpSpPr>
        <p:grpSpPr>
          <a:xfrm>
            <a:off x="3795735" y="1527996"/>
            <a:ext cx="2712026" cy="899454"/>
            <a:chOff x="3795735" y="4615832"/>
            <a:chExt cx="2712026" cy="899454"/>
          </a:xfrm>
        </p:grpSpPr>
        <p:sp>
          <p:nvSpPr>
            <p:cNvPr id="68" name="TextBox 67">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69" name="그룹 68"/>
            <p:cNvGrpSpPr/>
            <p:nvPr/>
          </p:nvGrpSpPr>
          <p:grpSpPr>
            <a:xfrm flipV="1">
              <a:off x="6240167" y="4729163"/>
              <a:ext cx="94010" cy="47005"/>
              <a:chOff x="6812560" y="3297172"/>
              <a:chExt cx="94010" cy="47005"/>
            </a:xfrm>
          </p:grpSpPr>
          <p:cxnSp>
            <p:nvCxnSpPr>
              <p:cNvPr id="70" name="직선 연결선 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1" name="직선 연결선 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2" name="TextBox 71">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73" name="TextBox 72">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74" name="TextBox 73">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76" name="직선 연결선 75">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모서리가 둥근 직사각형 76"/>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TextBox 77">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79" name="TextBox 78">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grpSp>
    </p:spTree>
    <p:extLst>
      <p:ext uri="{BB962C8B-B14F-4D97-AF65-F5344CB8AC3E}">
        <p14:creationId xmlns:p14="http://schemas.microsoft.com/office/powerpoint/2010/main" val="39997497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품목목록</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304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국외 보관함 상세 </a:t>
            </a:r>
            <a:r>
              <a:rPr lang="en-US" altLang="ko-KR" dirty="0">
                <a:latin typeface="+mn-ea"/>
              </a:rPr>
              <a:t>– </a:t>
            </a:r>
            <a:r>
              <a:rPr lang="ko-KR" altLang="en-US" dirty="0">
                <a:latin typeface="+mn-ea"/>
              </a:rPr>
              <a:t>품목 목록</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en-US" altLang="ko-KR" dirty="0">
                <a:latin typeface="+mn-ea"/>
              </a:rPr>
              <a:t>[</a:t>
            </a:r>
            <a:r>
              <a:rPr lang="ko-KR" altLang="en-US" dirty="0" err="1">
                <a:latin typeface="+mn-ea"/>
              </a:rPr>
              <a:t>단가제</a:t>
            </a:r>
            <a:r>
              <a:rPr lang="en-US" altLang="ko-KR" dirty="0">
                <a:latin typeface="+mn-ea"/>
              </a:rPr>
              <a:t>] </a:t>
            </a:r>
            <a:r>
              <a:rPr lang="ko-KR" altLang="en-US" dirty="0">
                <a:latin typeface="+mn-ea"/>
              </a:rPr>
              <a:t>공고입찰품목 중 보관함에 품목을 추가 및 삭제하는 화면</a:t>
            </a:r>
            <a:r>
              <a:rPr lang="ko-KR" altLang="en-US" dirty="0"/>
              <a:t> </a:t>
            </a:r>
            <a:r>
              <a:rPr lang="en-US" altLang="ko-KR" dirty="0"/>
              <a:t>– </a:t>
            </a:r>
            <a:r>
              <a:rPr lang="ko-KR" altLang="en-US" dirty="0">
                <a:latin typeface="+mn-ea"/>
              </a:rPr>
              <a:t>품목 목록</a:t>
            </a:r>
            <a:r>
              <a:rPr lang="ko-KR" altLang="en-US" dirty="0"/>
              <a:t>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a:latin typeface="+mn-ea"/>
              </a:rPr>
              <a:t>상세 </a:t>
            </a:r>
            <a:r>
              <a:rPr lang="en-US" altLang="ko-KR" dirty="0">
                <a:latin typeface="+mn-ea"/>
              </a:rPr>
              <a:t>- </a:t>
            </a:r>
            <a:r>
              <a:rPr lang="ko-KR" altLang="en-US" dirty="0">
                <a:latin typeface="+mn-ea"/>
              </a:rPr>
              <a:t>품목 목록</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smtClean="0">
                <a:latin typeface="+mn-ea"/>
              </a:rPr>
              <a:t>MUI-CM-01-M72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4704303"/>
            <a:chOff x="701175" y="1527996"/>
            <a:chExt cx="2630093" cy="4704303"/>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1"/>
              <a:ext cx="792000" cy="43968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1835481"/>
              <a:ext cx="725552" cy="4274568"/>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en-US" altLang="ko-KR" sz="700" dirty="0">
                  <a:latin typeface="+mn-ea"/>
                </a:rPr>
                <a:t>MOQ</a:t>
              </a:r>
              <a:r>
                <a:rPr lang="ko-KR" altLang="en-US" sz="700" dirty="0">
                  <a:latin typeface="+mn-ea"/>
                </a:rPr>
                <a:t>구분</a:t>
              </a:r>
            </a:p>
            <a:p>
              <a:pPr>
                <a:lnSpc>
                  <a:spcPct val="200000"/>
                </a:lnSpc>
              </a:pPr>
              <a:r>
                <a:rPr lang="en-US" altLang="ko-KR" sz="700" dirty="0">
                  <a:latin typeface="+mn-ea"/>
                </a:rPr>
                <a:t>MOQ</a:t>
              </a:r>
              <a:r>
                <a:rPr lang="ko-KR" altLang="en-US" sz="700" dirty="0">
                  <a:latin typeface="+mn-ea"/>
                </a:rPr>
                <a:t>수량</a:t>
              </a:r>
            </a:p>
            <a:p>
              <a:pPr>
                <a:lnSpc>
                  <a:spcPct val="200000"/>
                </a:lnSpc>
              </a:pPr>
              <a:r>
                <a:rPr lang="en-US" altLang="ko-KR" sz="700" dirty="0">
                  <a:latin typeface="+mn-ea"/>
                </a:rPr>
                <a:t>MOQ</a:t>
              </a:r>
              <a:r>
                <a:rPr lang="ko-KR" altLang="en-US" sz="700" dirty="0" err="1">
                  <a:latin typeface="+mn-ea"/>
                </a:rPr>
                <a:t>첨부문서</a:t>
              </a:r>
              <a:endParaRPr lang="ko-KR" altLang="en-US" sz="700" dirty="0">
                <a:latin typeface="+mn-ea"/>
              </a:endParaRPr>
            </a:p>
            <a:p>
              <a:pPr>
                <a:lnSpc>
                  <a:spcPct val="200000"/>
                </a:lnSpc>
              </a:pPr>
              <a:r>
                <a:rPr lang="ko-KR" altLang="en-US" sz="700" dirty="0">
                  <a:latin typeface="+mn-ea"/>
                </a:rPr>
                <a:t>납기</a:t>
              </a:r>
              <a:r>
                <a:rPr lang="en-US" altLang="ko-KR" sz="700" dirty="0">
                  <a:latin typeface="+mn-ea"/>
                </a:rPr>
                <a:t>(</a:t>
              </a:r>
              <a:r>
                <a:rPr lang="ko-KR" altLang="en-US" sz="700" dirty="0" err="1">
                  <a:latin typeface="+mn-ea"/>
                </a:rPr>
                <a:t>본조</a:t>
              </a:r>
              <a:r>
                <a:rPr lang="en-US" altLang="ko-KR" sz="700" dirty="0">
                  <a:latin typeface="+mn-ea"/>
                </a:rPr>
                <a:t>)</a:t>
              </a:r>
            </a:p>
            <a:p>
              <a:pPr>
                <a:lnSpc>
                  <a:spcPct val="200000"/>
                </a:lnSpc>
              </a:pPr>
              <a:r>
                <a:rPr lang="ko-KR" altLang="en-US" sz="700" dirty="0">
                  <a:latin typeface="+mn-ea"/>
                </a:rPr>
                <a:t>납기</a:t>
              </a:r>
              <a:r>
                <a:rPr lang="en-US" altLang="ko-KR" sz="700" dirty="0">
                  <a:latin typeface="+mn-ea"/>
                </a:rPr>
                <a:t>(</a:t>
              </a:r>
              <a:r>
                <a:rPr lang="ko-KR" altLang="en-US" sz="700" dirty="0">
                  <a:latin typeface="+mn-ea"/>
                </a:rPr>
                <a:t>당국</a:t>
              </a:r>
              <a:r>
                <a:rPr lang="en-US" altLang="ko-KR" sz="700" dirty="0">
                  <a:latin typeface="+mn-ea"/>
                </a:rPr>
                <a:t>)</a:t>
              </a:r>
            </a:p>
            <a:p>
              <a:pPr>
                <a:lnSpc>
                  <a:spcPct val="200000"/>
                </a:lnSpc>
              </a:pPr>
              <a:r>
                <a:rPr lang="ko-KR" altLang="en-US" sz="700" dirty="0">
                  <a:latin typeface="+mn-ea"/>
                </a:rPr>
                <a:t>납기</a:t>
              </a:r>
              <a:r>
                <a:rPr lang="en-US" altLang="ko-KR" sz="700" dirty="0">
                  <a:latin typeface="+mn-ea"/>
                </a:rPr>
                <a:t>(</a:t>
              </a:r>
              <a:r>
                <a:rPr lang="ko-KR" altLang="en-US" sz="700" dirty="0">
                  <a:latin typeface="+mn-ea"/>
                </a:rPr>
                <a:t>장국</a:t>
              </a:r>
              <a:r>
                <a:rPr lang="en-US" altLang="ko-KR" sz="700" dirty="0">
                  <a:latin typeface="+mn-ea"/>
                </a:rPr>
                <a:t>)</a:t>
              </a:r>
            </a:p>
            <a:p>
              <a:pPr>
                <a:lnSpc>
                  <a:spcPct val="200000"/>
                </a:lnSpc>
              </a:pPr>
              <a:r>
                <a:rPr lang="ko-KR" altLang="en-US" sz="700" dirty="0" err="1">
                  <a:latin typeface="+mn-ea"/>
                </a:rPr>
                <a:t>달러환산율</a:t>
              </a:r>
              <a:endParaRPr lang="ko-KR" altLang="en-US" sz="700" dirty="0">
                <a:latin typeface="+mn-ea"/>
              </a:endParaRPr>
            </a:p>
            <a:p>
              <a:pPr>
                <a:lnSpc>
                  <a:spcPct val="200000"/>
                </a:lnSpc>
              </a:pPr>
              <a:r>
                <a:rPr lang="ko-KR" altLang="en-US" sz="700" dirty="0" err="1">
                  <a:latin typeface="+mn-ea"/>
                </a:rPr>
                <a:t>입찰단가</a:t>
              </a:r>
              <a:endParaRPr lang="ko-KR" altLang="en-US" sz="700" dirty="0">
                <a:latin typeface="+mn-ea"/>
              </a:endParaRPr>
            </a:p>
            <a:p>
              <a:pPr>
                <a:lnSpc>
                  <a:spcPct val="200000"/>
                </a:lnSpc>
              </a:pPr>
              <a:r>
                <a:rPr lang="ko-KR" altLang="en-US" sz="700" dirty="0">
                  <a:latin typeface="+mn-ea"/>
                </a:rPr>
                <a:t>입찰금액</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84088" cy="430887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a:p>
              <a:pPr algn="r">
                <a:lnSpc>
                  <a:spcPct val="200000"/>
                </a:lnSpc>
              </a:pPr>
              <a:r>
                <a:rPr lang="en-US" altLang="ko-KR" sz="700" dirty="0">
                  <a:latin typeface="+mn-ea"/>
                </a:rPr>
                <a:t>608,000.00</a:t>
              </a:r>
            </a:p>
            <a:p>
              <a:pPr>
                <a:lnSpc>
                  <a:spcPct val="200000"/>
                </a:lnSpc>
              </a:pPr>
              <a:r>
                <a:rPr lang="en-US" altLang="ko-KR" sz="700" dirty="0">
                  <a:latin typeface="+mn-ea"/>
                </a:rPr>
                <a:t>Replace</a:t>
              </a:r>
            </a:p>
            <a:p>
              <a:pPr>
                <a:lnSpc>
                  <a:spcPct val="200000"/>
                </a:lnSpc>
              </a:pPr>
              <a:r>
                <a:rPr lang="en-US" altLang="ko-KR" sz="700" dirty="0">
                  <a:latin typeface="+mn-ea"/>
                </a:rPr>
                <a:t>O</a:t>
              </a:r>
            </a:p>
            <a:p>
              <a:pPr>
                <a:lnSpc>
                  <a:spcPct val="200000"/>
                </a:lnSpc>
              </a:pPr>
              <a:r>
                <a:rPr lang="en-US" altLang="ko-KR" sz="700" dirty="0">
                  <a:latin typeface="+mn-ea"/>
                </a:rPr>
                <a:t>1</a:t>
              </a:r>
            </a:p>
            <a:p>
              <a:pPr>
                <a:lnSpc>
                  <a:spcPct val="200000"/>
                </a:lnSpc>
              </a:pPr>
              <a:r>
                <a:rPr lang="en-US" altLang="ko-KR" sz="700" dirty="0">
                  <a:latin typeface="+mn-ea"/>
                </a:rPr>
                <a:t>2</a:t>
              </a:r>
            </a:p>
            <a:p>
              <a:pPr>
                <a:lnSpc>
                  <a:spcPct val="200000"/>
                </a:lnSpc>
              </a:pPr>
              <a:r>
                <a:rPr lang="en-US" altLang="ko-KR" sz="700" dirty="0">
                  <a:latin typeface="+mn-ea"/>
                </a:rPr>
                <a:t>Y</a:t>
              </a:r>
            </a:p>
            <a:p>
              <a:pPr>
                <a:lnSpc>
                  <a:spcPct val="200000"/>
                </a:lnSpc>
              </a:pPr>
              <a:r>
                <a:rPr lang="en-US" altLang="ko-KR" sz="700" dirty="0">
                  <a:latin typeface="+mn-ea"/>
                </a:rPr>
                <a:t>1</a:t>
              </a:r>
            </a:p>
            <a:p>
              <a:pPr>
                <a:lnSpc>
                  <a:spcPct val="200000"/>
                </a:lnSpc>
              </a:pPr>
              <a:r>
                <a:rPr lang="en-US" altLang="ko-KR" sz="700" dirty="0">
                  <a:latin typeface="+mn-ea"/>
                </a:rPr>
                <a:t>O</a:t>
              </a:r>
            </a:p>
            <a:p>
              <a:pPr>
                <a:lnSpc>
                  <a:spcPct val="200000"/>
                </a:lnSpc>
              </a:pPr>
              <a:r>
                <a:rPr lang="en-US" altLang="ko-KR" sz="700" dirty="0">
                  <a:latin typeface="+mn-ea"/>
                </a:rPr>
                <a:t>2025-03-25</a:t>
              </a:r>
            </a:p>
            <a:p>
              <a:pPr>
                <a:lnSpc>
                  <a:spcPct val="200000"/>
                </a:lnSpc>
              </a:pPr>
              <a:r>
                <a:rPr lang="en-US" altLang="ko-KR" sz="700" dirty="0">
                  <a:latin typeface="+mn-ea"/>
                </a:rPr>
                <a:t>2025-03-25</a:t>
              </a:r>
            </a:p>
            <a:p>
              <a:pPr>
                <a:lnSpc>
                  <a:spcPct val="200000"/>
                </a:lnSpc>
              </a:pPr>
              <a:r>
                <a:rPr lang="en-US" altLang="ko-KR" sz="700" dirty="0">
                  <a:latin typeface="+mn-ea"/>
                </a:rPr>
                <a:t>2025-03-25</a:t>
              </a:r>
            </a:p>
            <a:p>
              <a:pPr algn="r">
                <a:lnSpc>
                  <a:spcPct val="200000"/>
                </a:lnSpc>
              </a:pPr>
              <a:r>
                <a:rPr lang="en-US" altLang="ko-KR" sz="700" dirty="0">
                  <a:latin typeface="+mn-ea"/>
                </a:rPr>
                <a:t>1.0000 USD</a:t>
              </a:r>
            </a:p>
            <a:p>
              <a:pPr algn="r">
                <a:lnSpc>
                  <a:spcPct val="200000"/>
                </a:lnSpc>
              </a:pPr>
              <a:r>
                <a:rPr lang="en-US" altLang="ko-KR" sz="700" dirty="0">
                  <a:latin typeface="+mn-ea"/>
                </a:rPr>
                <a:t>608,000.00</a:t>
              </a:r>
            </a:p>
            <a:p>
              <a:pPr algn="r">
                <a:lnSpc>
                  <a:spcPct val="200000"/>
                </a:lnSpc>
              </a:pPr>
              <a:r>
                <a:rPr lang="en-US" altLang="ko-KR" sz="700" dirty="0">
                  <a:latin typeface="+mn-ea"/>
                </a:rPr>
                <a:t>608,000.00</a:t>
              </a:r>
            </a:p>
          </p:txBody>
        </p:sp>
        <p:grpSp>
          <p:nvGrpSpPr>
            <p:cNvPr id="17" name="그룹 16"/>
            <p:cNvGrpSpPr/>
            <p:nvPr/>
          </p:nvGrpSpPr>
          <p:grpSpPr>
            <a:xfrm>
              <a:off x="701175" y="1835481"/>
              <a:ext cx="2630093" cy="4286740"/>
              <a:chOff x="701175" y="1835481"/>
              <a:chExt cx="2630093" cy="42867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548605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03268" y="56927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59074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6122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07" name="사각형: 둥근 모서리 31">
            <a:extLst>
              <a:ext uri="{FF2B5EF4-FFF2-40B4-BE49-F238E27FC236}">
                <a16:creationId xmlns:a16="http://schemas.microsoft.com/office/drawing/2014/main" id="{2AC143EE-93CF-3518-F0CB-8469E98507E0}"/>
              </a:ext>
            </a:extLst>
          </p:cNvPr>
          <p:cNvSpPr/>
          <p:nvPr/>
        </p:nvSpPr>
        <p:spPr>
          <a:xfrm>
            <a:off x="3928441" y="5828262"/>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109" name="그룹 108">
            <a:extLst>
              <a:ext uri="{FF2B5EF4-FFF2-40B4-BE49-F238E27FC236}">
                <a16:creationId xmlns:a16="http://schemas.microsoft.com/office/drawing/2014/main" id="{22BC05EE-C648-7CA2-4CCC-6E1C1A7E9BDA}"/>
              </a:ext>
            </a:extLst>
          </p:cNvPr>
          <p:cNvGrpSpPr/>
          <p:nvPr/>
        </p:nvGrpSpPr>
        <p:grpSpPr>
          <a:xfrm>
            <a:off x="5113316" y="3483247"/>
            <a:ext cx="76863" cy="292489"/>
            <a:chOff x="3750067" y="4683795"/>
            <a:chExt cx="76863" cy="292489"/>
          </a:xfrm>
        </p:grpSpPr>
        <p:sp>
          <p:nvSpPr>
            <p:cNvPr id="110" name="타원 10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1" name="타원 11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2" name="타원 11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18" name="TextBox 11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19" name="그룹 118"/>
          <p:cNvGrpSpPr/>
          <p:nvPr/>
        </p:nvGrpSpPr>
        <p:grpSpPr>
          <a:xfrm>
            <a:off x="3821510" y="1493927"/>
            <a:ext cx="2630093" cy="703814"/>
            <a:chOff x="701175" y="1800647"/>
            <a:chExt cx="2630093" cy="703814"/>
          </a:xfrm>
        </p:grpSpPr>
        <p:sp>
          <p:nvSpPr>
            <p:cNvPr id="122" name="직사각형 121"/>
            <p:cNvSpPr/>
            <p:nvPr/>
          </p:nvSpPr>
          <p:spPr>
            <a:xfrm>
              <a:off x="703268" y="1800647"/>
              <a:ext cx="792000" cy="70381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790331" y="1835481"/>
              <a:ext cx="725552" cy="612027"/>
            </a:xfrm>
            <a:prstGeom prst="rect">
              <a:avLst/>
            </a:prstGeom>
            <a:noFill/>
          </p:spPr>
          <p:txBody>
            <a:bodyPr wrap="square" lIns="0" tIns="0" rIns="0" bIns="0" rtlCol="0">
              <a:spAutoFit/>
            </a:bodyPr>
            <a:lstStyle/>
            <a:p>
              <a:pPr>
                <a:lnSpc>
                  <a:spcPct val="200000"/>
                </a:lnSpc>
              </a:pPr>
              <a:r>
                <a:rPr lang="ko-KR" altLang="en-US" sz="700" dirty="0">
                  <a:latin typeface="+mn-ea"/>
                </a:rPr>
                <a:t>화폐단위</a:t>
              </a:r>
            </a:p>
            <a:p>
              <a:pPr>
                <a:lnSpc>
                  <a:spcPct val="200000"/>
                </a:lnSpc>
              </a:pPr>
              <a:r>
                <a:rPr lang="ko-KR" altLang="en-US" sz="700" dirty="0" err="1">
                  <a:latin typeface="+mn-ea"/>
                </a:rPr>
                <a:t>달러단가</a:t>
              </a:r>
              <a:endParaRPr lang="ko-KR" altLang="en-US" sz="700" dirty="0">
                <a:latin typeface="+mn-ea"/>
              </a:endParaRPr>
            </a:p>
            <a:p>
              <a:pPr>
                <a:lnSpc>
                  <a:spcPct val="200000"/>
                </a:lnSpc>
              </a:pPr>
              <a:r>
                <a:rPr lang="ko-KR" altLang="en-US" sz="700" dirty="0" err="1">
                  <a:latin typeface="+mn-ea"/>
                </a:rPr>
                <a:t>달러금액</a:t>
              </a:r>
              <a:endParaRPr lang="ko-KR" altLang="en-US"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1547180" y="1835481"/>
              <a:ext cx="1775839" cy="646331"/>
            </a:xfrm>
            <a:prstGeom prst="rect">
              <a:avLst/>
            </a:prstGeom>
            <a:noFill/>
          </p:spPr>
          <p:txBody>
            <a:bodyPr wrap="square" lIns="0" tIns="0" rIns="0" bIns="0" rtlCol="0">
              <a:spAutoFit/>
            </a:bodyPr>
            <a:lstStyle/>
            <a:p>
              <a:pPr>
                <a:lnSpc>
                  <a:spcPct val="200000"/>
                </a:lnSpc>
              </a:pPr>
              <a:r>
                <a:rPr lang="ko-KR" altLang="en-US" sz="700" dirty="0">
                  <a:latin typeface="+mn-ea"/>
                </a:rPr>
                <a:t>미 달러</a:t>
              </a:r>
              <a:endParaRPr lang="en-US" altLang="ko-KR" sz="700" dirty="0">
                <a:latin typeface="+mn-ea"/>
              </a:endParaRPr>
            </a:p>
            <a:p>
              <a:pPr algn="r">
                <a:lnSpc>
                  <a:spcPct val="200000"/>
                </a:lnSpc>
              </a:pPr>
              <a:r>
                <a:rPr lang="en-US" altLang="ko-KR" sz="700" dirty="0">
                  <a:solidFill>
                    <a:schemeClr val="tx1">
                      <a:lumMod val="85000"/>
                      <a:lumOff val="15000"/>
                    </a:schemeClr>
                  </a:solidFill>
                  <a:latin typeface="맑은 고딕" panose="020B0503020000020004" pitchFamily="50" charset="-127"/>
                </a:rPr>
                <a:t>1,464.30 KRW</a:t>
              </a:r>
            </a:p>
            <a:p>
              <a:pPr algn="r">
                <a:lnSpc>
                  <a:spcPct val="200000"/>
                </a:lnSpc>
              </a:pPr>
              <a:r>
                <a:rPr lang="en-US" altLang="ko-KR" sz="700" dirty="0">
                  <a:latin typeface="+mn-ea"/>
                </a:rPr>
                <a:t>608,000.00</a:t>
              </a:r>
            </a:p>
          </p:txBody>
        </p:sp>
        <p:grpSp>
          <p:nvGrpSpPr>
            <p:cNvPr id="125" name="그룹 124"/>
            <p:cNvGrpSpPr/>
            <p:nvPr/>
          </p:nvGrpSpPr>
          <p:grpSpPr>
            <a:xfrm>
              <a:off x="701175" y="1835481"/>
              <a:ext cx="2630093" cy="668980"/>
              <a:chOff x="701175" y="1835481"/>
              <a:chExt cx="2630093" cy="668980"/>
            </a:xfrm>
          </p:grpSpPr>
          <p:cxnSp>
            <p:nvCxnSpPr>
              <p:cNvPr id="126" name="직선 연결선 12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2" name="직선 연결선 61">
                <a:extLst>
                  <a:ext uri="{FF2B5EF4-FFF2-40B4-BE49-F238E27FC236}">
                    <a16:creationId xmlns:a16="http://schemas.microsoft.com/office/drawing/2014/main" id="{E9293055-D5CD-4B9E-7F64-64B2D2CA7A52}"/>
                  </a:ext>
                </a:extLst>
              </p:cNvPr>
              <p:cNvCxnSpPr/>
              <p:nvPr/>
            </p:nvCxnSpPr>
            <p:spPr>
              <a:xfrm>
                <a:off x="703268" y="25044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6" name="그룹 55"/>
          <p:cNvGrpSpPr/>
          <p:nvPr/>
        </p:nvGrpSpPr>
        <p:grpSpPr>
          <a:xfrm>
            <a:off x="8223250" y="569392"/>
            <a:ext cx="3365500" cy="634511"/>
            <a:chOff x="8223250" y="569392"/>
            <a:chExt cx="3365500" cy="634511"/>
          </a:xfrm>
        </p:grpSpPr>
        <p:sp>
          <p:nvSpPr>
            <p:cNvPr id="57" name="직사각형 56"/>
            <p:cNvSpPr/>
            <p:nvPr/>
          </p:nvSpPr>
          <p:spPr>
            <a:xfrm>
              <a:off x="8223250" y="569392"/>
              <a:ext cx="1682750" cy="219465"/>
            </a:xfrm>
            <a:prstGeom prst="rect">
              <a:avLst/>
            </a:prstGeom>
            <a:solidFill>
              <a:srgbClr val="FF0000"/>
            </a:solidFill>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b="1" dirty="0" smtClean="0"/>
                <a:t>2026-06-22 </a:t>
              </a:r>
              <a:r>
                <a:rPr lang="ko-KR" altLang="en-US" b="1" dirty="0" smtClean="0"/>
                <a:t>삭제 화면</a:t>
              </a:r>
              <a:endParaRPr lang="ko-KR" altLang="en-US" b="1" dirty="0"/>
            </a:p>
          </p:txBody>
        </p:sp>
        <p:sp>
          <p:nvSpPr>
            <p:cNvPr id="58" name="직사각형 57"/>
            <p:cNvSpPr/>
            <p:nvPr/>
          </p:nvSpPr>
          <p:spPr>
            <a:xfrm>
              <a:off x="9906000" y="569392"/>
              <a:ext cx="1682750" cy="634511"/>
            </a:xfrm>
            <a:prstGeom prst="rect">
              <a:avLst/>
            </a:prstGeom>
            <a:solidFill>
              <a:srgbClr val="FF0000"/>
            </a:solidFill>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en-US" altLang="ko-KR" sz="700" dirty="0" smtClean="0"/>
                <a:t>PC </a:t>
              </a:r>
              <a:r>
                <a:rPr lang="ko-KR" altLang="en-US" sz="700" dirty="0" smtClean="0"/>
                <a:t>버전에서 상세 내역에 품목 목록이 삭제됨</a:t>
              </a:r>
              <a:r>
                <a:rPr lang="en-US" altLang="ko-KR" sz="700" dirty="0" smtClean="0"/>
                <a:t>.</a:t>
              </a:r>
            </a:p>
            <a:p>
              <a:pPr marL="228600" indent="-228600">
                <a:buAutoNum type="arabicPeriod"/>
              </a:pPr>
              <a:r>
                <a:rPr lang="ko-KR" altLang="en-US" sz="700" dirty="0" smtClean="0"/>
                <a:t>보관한 품목 관리에서 일원 관리</a:t>
              </a:r>
              <a:endParaRPr lang="en-US" altLang="ko-KR" sz="700" dirty="0"/>
            </a:p>
          </p:txBody>
        </p:sp>
      </p:grpSp>
    </p:spTree>
    <p:extLst>
      <p:ext uri="{BB962C8B-B14F-4D97-AF65-F5344CB8AC3E}">
        <p14:creationId xmlns:p14="http://schemas.microsoft.com/office/powerpoint/2010/main" val="212726026"/>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305</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a:solidFill>
                  <a:prstClr val="black"/>
                </a:solidFill>
              </a:rPr>
              <a:t>항목 설명</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79663" cy="211203"/>
          </a:xfrm>
          <a:prstGeom prst="rect">
            <a:avLst/>
          </a:prstGeom>
          <a:noFill/>
        </p:spPr>
        <p:txBody>
          <a:bodyPr wrap="none" lIns="36000" tIns="36000" rIns="36000" bIns="36000" rtlCol="0">
            <a:spAutoFit/>
          </a:bodyPr>
          <a:lstStyle/>
          <a:p>
            <a:r>
              <a:rPr lang="en-US" altLang="ko-KR" sz="900" b="1">
                <a:solidFill>
                  <a:prstClr val="black"/>
                </a:solidFill>
              </a:rPr>
              <a:t>1.1. </a:t>
            </a:r>
            <a:r>
              <a:rPr lang="ko-KR" altLang="en-US" sz="900" b="1">
                <a:solidFill>
                  <a:prstClr val="black"/>
                </a:solidFill>
              </a:rPr>
              <a:t>보관함 검색조건</a:t>
            </a:r>
            <a:r>
              <a:rPr lang="en-US" altLang="ko-KR" sz="900" b="1">
                <a:solidFill>
                  <a:prstClr val="black"/>
                </a:solidFill>
              </a:rPr>
              <a:t> (dm_searchInfo)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285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일자구분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srchYmdSe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검색할 일자구분자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구분코드 </a:t>
                      </a:r>
                      <a:r>
                        <a:rPr lang="en-US" altLang="ko-KR" sz="800">
                          <a:latin typeface="+mn-ea"/>
                          <a:ea typeface="+mn-ea"/>
                        </a:rPr>
                        <a:t>GTSB0001</a:t>
                      </a:r>
                      <a:r>
                        <a:rPr lang="ko-KR" altLang="en-US" sz="800">
                          <a:latin typeface="+mn-ea"/>
                          <a:ea typeface="+mn-ea"/>
                        </a:rPr>
                        <a:t> </a:t>
                      </a:r>
                      <a:r>
                        <a:rPr lang="en-US" altLang="ko-KR" sz="800">
                          <a:latin typeface="+mn-ea"/>
                          <a:ea typeface="+mn-ea"/>
                        </a:rPr>
                        <a:t>(</a:t>
                      </a:r>
                      <a:r>
                        <a:rPr lang="ko-KR" altLang="en-US" sz="800">
                          <a:latin typeface="+mn-ea"/>
                          <a:ea typeface="+mn-ea"/>
                        </a:rPr>
                        <a:t>개찰일자</a:t>
                      </a:r>
                      <a:r>
                        <a:rPr lang="en-US" altLang="ko-KR" sz="800">
                          <a:latin typeface="+mn-ea"/>
                          <a:ea typeface="+mn-ea"/>
                        </a:rPr>
                        <a:t>, </a:t>
                      </a:r>
                      <a:r>
                        <a:rPr lang="ko-KR" altLang="en-US" sz="800">
                          <a:latin typeface="+mn-ea"/>
                          <a:ea typeface="+mn-ea"/>
                        </a:rPr>
                        <a:t>입찰참가</a:t>
                      </a:r>
                      <a:r>
                        <a:rPr lang="en-US" altLang="ko-KR" sz="800">
                          <a:latin typeface="+mn-ea"/>
                          <a:ea typeface="+mn-ea"/>
                        </a:rPr>
                        <a:t>, </a:t>
                      </a:r>
                      <a:r>
                        <a:rPr lang="ko-KR" altLang="en-US" sz="800">
                          <a:latin typeface="+mn-ea"/>
                          <a:ea typeface="+mn-ea"/>
                        </a:rPr>
                        <a:t>입찰서제출</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기준일자시작</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srchEndYmd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기준일자시작</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770801"/>
                  </a:ext>
                </a:extLst>
              </a:tr>
              <a:tr h="0">
                <a:tc>
                  <a:txBody>
                    <a:bodyPr/>
                    <a:lstStyle/>
                    <a:p>
                      <a:pPr algn="l" fontAlgn="ctr"/>
                      <a:r>
                        <a:rPr lang="ko-KR" altLang="en-US" sz="800" b="0" i="0" u="none" strike="noStrike">
                          <a:solidFill>
                            <a:srgbClr val="000000"/>
                          </a:solidFill>
                          <a:effectLst/>
                          <a:latin typeface="+mn-ea"/>
                          <a:ea typeface="+mn-ea"/>
                        </a:rPr>
                        <a:t>기준일자끝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srchBgngYmd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기준일자끝</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9216470"/>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1865837"/>
                  </a:ext>
                </a:extLst>
              </a:tr>
              <a:tr h="0">
                <a:tc>
                  <a:txBody>
                    <a:bodyPr/>
                    <a:lstStyle/>
                    <a:p>
                      <a:pPr algn="l" fontAlgn="ctr"/>
                      <a:r>
                        <a:rPr lang="ko-KR" altLang="en-US" sz="800" b="0" i="0" u="none" strike="noStrike">
                          <a:solidFill>
                            <a:srgbClr val="000000"/>
                          </a:solidFill>
                          <a:effectLst/>
                          <a:latin typeface="+mn-ea"/>
                          <a:ea typeface="+mn-ea"/>
                        </a:rPr>
                        <a:t>참가신청상태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bidPrtcpAplyStts</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입찰참가신청 상태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구분</a:t>
                      </a:r>
                      <a:r>
                        <a:rPr lang="en-US" altLang="ko-KR" sz="800">
                          <a:latin typeface="+mn-ea"/>
                          <a:ea typeface="+mn-ea"/>
                        </a:rPr>
                        <a:t>(</a:t>
                      </a:r>
                      <a:r>
                        <a:rPr lang="ko-KR" altLang="en-US" sz="800">
                          <a:latin typeface="+mn-ea"/>
                          <a:ea typeface="+mn-ea"/>
                        </a:rPr>
                        <a:t>전체</a:t>
                      </a:r>
                      <a:r>
                        <a:rPr lang="en-US" altLang="ko-KR" sz="800">
                          <a:latin typeface="+mn-ea"/>
                          <a:ea typeface="+mn-ea"/>
                        </a:rPr>
                        <a:t>, </a:t>
                      </a:r>
                      <a:r>
                        <a:rPr lang="ko-KR" altLang="en-US" sz="800">
                          <a:latin typeface="+mn-ea"/>
                          <a:ea typeface="+mn-ea"/>
                        </a:rPr>
                        <a:t>작성</a:t>
                      </a:r>
                      <a:r>
                        <a:rPr lang="en-US" altLang="ko-KR" sz="800">
                          <a:latin typeface="+mn-ea"/>
                          <a:ea typeface="+mn-ea"/>
                        </a:rPr>
                        <a:t>, </a:t>
                      </a:r>
                      <a:r>
                        <a:rPr lang="ko-KR" altLang="en-US" sz="800">
                          <a:latin typeface="+mn-ea"/>
                          <a:ea typeface="+mn-ea"/>
                        </a:rPr>
                        <a:t>미작성</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189499"/>
                  </a:ext>
                </a:extLst>
              </a:tr>
            </a:tbl>
          </a:graphicData>
        </a:graphic>
      </p:graphicFrame>
      <p:sp>
        <p:nvSpPr>
          <p:cNvPr id="4" name="Text Box 73">
            <a:extLst>
              <a:ext uri="{FF2B5EF4-FFF2-40B4-BE49-F238E27FC236}">
                <a16:creationId xmlns:a16="http://schemas.microsoft.com/office/drawing/2014/main" id="{B8CDDD2D-4887-09C2-7266-AB4432087CE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FFF584A0-A213-C065-D9B7-64DE203FBB20}"/>
              </a:ext>
            </a:extLst>
          </p:cNvPr>
          <p:cNvSpPr txBox="1"/>
          <p:nvPr/>
        </p:nvSpPr>
        <p:spPr>
          <a:xfrm>
            <a:off x="458117" y="2330703"/>
            <a:ext cx="2212713" cy="211203"/>
          </a:xfrm>
          <a:prstGeom prst="rect">
            <a:avLst/>
          </a:prstGeom>
          <a:noFill/>
        </p:spPr>
        <p:txBody>
          <a:bodyPr wrap="none" lIns="36000" tIns="36000" rIns="36000" bIns="36000" rtlCol="0">
            <a:spAutoFit/>
          </a:bodyPr>
          <a:lstStyle/>
          <a:p>
            <a:r>
              <a:rPr lang="en-US" altLang="ko-KR" sz="900" b="1">
                <a:solidFill>
                  <a:prstClr val="black"/>
                </a:solidFill>
              </a:rPr>
              <a:t>1.2 </a:t>
            </a:r>
            <a:r>
              <a:rPr lang="ko-KR" altLang="en-US" sz="900" b="1">
                <a:solidFill>
                  <a:prstClr val="black"/>
                </a:solidFill>
              </a:rPr>
              <a:t>검색결과 데이터 영역 </a:t>
            </a:r>
            <a:r>
              <a:rPr lang="en-US" altLang="ko-KR" sz="900" b="1">
                <a:solidFill>
                  <a:prstClr val="black"/>
                </a:solidFill>
              </a:rPr>
              <a:t>(dl_resultList)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35A9AE08-7971-6FCE-A248-9932928B4551}"/>
              </a:ext>
            </a:extLst>
          </p:cNvPr>
          <p:cNvGraphicFramePr>
            <a:graphicFrameLocks noGrp="1"/>
          </p:cNvGraphicFramePr>
          <p:nvPr/>
        </p:nvGraphicFramePr>
        <p:xfrm>
          <a:off x="452999" y="2541906"/>
          <a:ext cx="8994883" cy="31027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770801"/>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9216470"/>
                  </a:ext>
                </a:extLst>
              </a:tr>
              <a:tr h="0">
                <a:tc>
                  <a:txBody>
                    <a:bodyPr/>
                    <a:lstStyle/>
                    <a:p>
                      <a:pPr algn="l" fontAlgn="ctr"/>
                      <a:r>
                        <a:rPr lang="ko-KR" altLang="en-US" sz="800" b="0" i="0" u="none" strike="noStrike">
                          <a:solidFill>
                            <a:srgbClr val="000000"/>
                          </a:solidFill>
                          <a:effectLst/>
                          <a:latin typeface="+mn-ea"/>
                          <a:ea typeface="+mn-ea"/>
                        </a:rPr>
                        <a:t>공고년도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pbancYr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공고년도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1865837"/>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12020068"/>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7559299"/>
                  </a:ext>
                </a:extLst>
              </a:tr>
              <a:tr h="0">
                <a:tc>
                  <a:txBody>
                    <a:bodyPr/>
                    <a:lstStyle/>
                    <a:p>
                      <a:pPr algn="l" fontAlgn="ctr"/>
                      <a:r>
                        <a:rPr lang="ko-KR" altLang="en-US" sz="800" b="0" i="0" u="none" strike="noStrike">
                          <a:solidFill>
                            <a:srgbClr val="000000"/>
                          </a:solidFill>
                          <a:effectLst/>
                          <a:latin typeface="+mn-ea"/>
                          <a:ea typeface="+mn-ea"/>
                        </a:rPr>
                        <a:t>입찰내역작성여부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tmprBidCnEn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입찰내역작성여부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구분</a:t>
                      </a:r>
                      <a:r>
                        <a:rPr lang="en-US" altLang="ko-KR" sz="800">
                          <a:latin typeface="+mn-ea"/>
                          <a:ea typeface="+mn-ea"/>
                        </a:rPr>
                        <a:t>(Y,</a:t>
                      </a:r>
                      <a:r>
                        <a:rPr lang="ko-KR" altLang="en-US" sz="800">
                          <a:latin typeface="+mn-ea"/>
                          <a:ea typeface="+mn-ea"/>
                        </a:rPr>
                        <a:t> </a:t>
                      </a:r>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748019"/>
                  </a:ext>
                </a:extLst>
              </a:tr>
              <a:tr h="0">
                <a:tc>
                  <a:txBody>
                    <a:bodyPr/>
                    <a:lstStyle/>
                    <a:p>
                      <a:pPr algn="l" fontAlgn="ctr"/>
                      <a:r>
                        <a:rPr lang="ko-KR" altLang="en-US" sz="800" b="0" i="0" u="none" strike="noStrike">
                          <a:solidFill>
                            <a:srgbClr val="000000"/>
                          </a:solidFill>
                          <a:effectLst/>
                          <a:latin typeface="+mn-ea"/>
                          <a:ea typeface="+mn-ea"/>
                        </a:rPr>
                        <a:t>입찰업체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lang="en-US" altLang="ko-KR" sz="800" kern="1200">
                          <a:solidFill>
                            <a:schemeClr val="tx1"/>
                          </a:solidFill>
                          <a:latin typeface="+mn-ea"/>
                          <a:ea typeface="+mn-ea"/>
                          <a:cs typeface="+mn-cs"/>
                        </a:rPr>
                        <a:t>N</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90570774"/>
                  </a:ext>
                </a:extLst>
              </a:tr>
              <a:tr h="0">
                <a:tc>
                  <a:txBody>
                    <a:bodyPr/>
                    <a:lstStyle/>
                    <a:p>
                      <a:pPr algn="l" fontAlgn="ctr"/>
                      <a:r>
                        <a:rPr lang="ko-KR" altLang="en-US" sz="800" b="0" i="0" u="none" strike="noStrike">
                          <a:solidFill>
                            <a:srgbClr val="000000"/>
                          </a:solidFill>
                          <a:effectLst/>
                          <a:latin typeface="+mn-ea"/>
                          <a:ea typeface="+mn-ea"/>
                        </a:rPr>
                        <a:t>입찰참가신청여부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bidPrtcpAplyYn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입찰참가신청여부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구분</a:t>
                      </a:r>
                      <a:r>
                        <a:rPr lang="en-US" altLang="ko-KR" sz="800">
                          <a:latin typeface="+mn-ea"/>
                          <a:ea typeface="+mn-ea"/>
                        </a:rPr>
                        <a:t>(Y, 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24493747"/>
                  </a:ext>
                </a:extLst>
              </a:tr>
              <a:tr h="0">
                <a:tc>
                  <a:txBody>
                    <a:bodyPr/>
                    <a:lstStyle/>
                    <a:p>
                      <a:pPr algn="l" fontAlgn="ctr"/>
                      <a:r>
                        <a:rPr lang="ko-KR" altLang="en-US" sz="800" b="0" i="0" u="none" strike="noStrike">
                          <a:solidFill>
                            <a:srgbClr val="000000"/>
                          </a:solidFill>
                          <a:effectLst/>
                          <a:latin typeface="+mn-ea"/>
                          <a:ea typeface="+mn-ea"/>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regDdlnDt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3808974"/>
                  </a:ext>
                </a:extLst>
              </a:tr>
              <a:tr h="0">
                <a:tc>
                  <a:txBody>
                    <a:bodyPr/>
                    <a:lstStyle/>
                    <a:p>
                      <a:pPr algn="l" fontAlgn="ctr"/>
                      <a:r>
                        <a:rPr lang="ko-KR" altLang="en-US" sz="800" b="0" i="0" u="none" strike="noStrike">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9984697"/>
                  </a:ext>
                </a:extLst>
              </a:tr>
              <a:tr h="0">
                <a:tc>
                  <a:txBody>
                    <a:bodyPr/>
                    <a:lstStyle/>
                    <a:p>
                      <a:pPr algn="l" fontAlgn="ctr"/>
                      <a:r>
                        <a:rPr lang="ko-KR" altLang="en-US" sz="800" b="0" i="0" u="none" strike="noStrike">
                          <a:solidFill>
                            <a:srgbClr val="000000"/>
                          </a:solidFill>
                          <a:effectLst/>
                          <a:latin typeface="+mn-ea"/>
                          <a:ea typeface="+mn-ea"/>
                        </a:rPr>
                        <a:t>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3959059"/>
                  </a:ext>
                </a:extLst>
              </a:tr>
              <a:tr h="0">
                <a:tc>
                  <a:txBody>
                    <a:bodyPr/>
                    <a:lstStyle/>
                    <a:p>
                      <a:pPr algn="l" fontAlgn="ctr"/>
                      <a:r>
                        <a:rPr lang="ko-KR" altLang="en-US" sz="800" b="0" i="0" u="none" strike="noStrike">
                          <a:solidFill>
                            <a:srgbClr val="000000"/>
                          </a:solidFill>
                          <a:effectLst/>
                          <a:latin typeface="+mn-ea"/>
                          <a:ea typeface="+mn-ea"/>
                        </a:rPr>
                        <a:t>환율일자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환율일자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31341434"/>
                  </a:ext>
                </a:extLst>
              </a:tr>
              <a:tr h="0">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a:solidFill>
                            <a:srgbClr val="000000"/>
                          </a:solidFill>
                          <a:effectLst/>
                          <a:latin typeface="+mn-ea"/>
                          <a:ea typeface="+mn-ea"/>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a:solidFill>
                            <a:srgbClr val="000000"/>
                          </a:solidFill>
                          <a:effectLst/>
                          <a:latin typeface="+mn-ea"/>
                          <a:ea typeface="+mn-ea"/>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48383827"/>
                  </a:ext>
                </a:extLst>
              </a:tr>
              <a:tr h="0">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a:solidFill>
                            <a:srgbClr val="000000"/>
                          </a:solidFill>
                          <a:effectLst/>
                          <a:latin typeface="+mn-ea"/>
                          <a:ea typeface="+mn-ea"/>
                        </a:rPr>
                        <a:t>보관품목수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lockerItemQty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a:solidFill>
                            <a:srgbClr val="000000"/>
                          </a:solidFill>
                          <a:effectLst/>
                          <a:latin typeface="+mn-ea"/>
                          <a:ea typeface="+mn-ea"/>
                        </a:rPr>
                        <a:t>보관품목수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914400" rtl="0" eaLnBrk="1" latinLnBrk="1" hangingPunct="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20482144"/>
                  </a:ext>
                </a:extLst>
              </a:tr>
            </a:tbl>
          </a:graphicData>
        </a:graphic>
      </p:graphicFrame>
    </p:spTree>
    <p:extLst>
      <p:ext uri="{BB962C8B-B14F-4D97-AF65-F5344CB8AC3E}">
        <p14:creationId xmlns:p14="http://schemas.microsoft.com/office/powerpoint/2010/main" val="1434767134"/>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0D6F7229-F560-C0E4-D100-D0CDED309D46}"/>
              </a:ext>
            </a:extLst>
          </p:cNvPr>
          <p:cNvSpPr>
            <a:spLocks noGrp="1"/>
          </p:cNvSpPr>
          <p:nvPr>
            <p:ph type="sldNum" sz="quarter" idx="4"/>
          </p:nvPr>
        </p:nvSpPr>
        <p:spPr/>
        <p:txBody>
          <a:bodyPr/>
          <a:lstStyle/>
          <a:p>
            <a:fld id="{34C8E023-7346-48FC-AB24-9A3388C53208}" type="slidenum">
              <a:rPr lang="ko-KR" altLang="en-US" smtClean="0"/>
              <a:pPr/>
              <a:t>306</a:t>
            </a:fld>
            <a:endParaRPr lang="ko-KR" altLang="en-US" dirty="0"/>
          </a:p>
        </p:txBody>
      </p:sp>
      <p:sp>
        <p:nvSpPr>
          <p:cNvPr id="4" name="슬라이드 번호 개체 틀 1">
            <a:extLst>
              <a:ext uri="{FF2B5EF4-FFF2-40B4-BE49-F238E27FC236}">
                <a16:creationId xmlns:a16="http://schemas.microsoft.com/office/drawing/2014/main" id="{91A30C36-8FD5-4B7D-2AED-5A6E2FE5E18C}"/>
              </a:ext>
            </a:extLst>
          </p:cNvPr>
          <p:cNvSpPr txBox="1">
            <a:spLocks/>
          </p:cNvSpPr>
          <p:nvPr/>
        </p:nvSpPr>
        <p:spPr>
          <a:xfrm>
            <a:off x="4327200" y="6590501"/>
            <a:ext cx="1258128" cy="216000"/>
          </a:xfrm>
          <a:prstGeom prst="rect">
            <a:avLst/>
          </a:prstGeom>
        </p:spPr>
        <p:txBody>
          <a:bodyPr vert="horz" lIns="91440" tIns="45720" rIns="91440" bIns="45720" rtlCol="0" anchor="ctr"/>
          <a:lstStyle>
            <a:defPPr>
              <a:defRPr lang="ko-KR"/>
            </a:defPPr>
            <a:lvl1pPr marL="0" algn="ctr" defTabSz="914400" rtl="0" eaLnBrk="1" latinLnBrk="1" hangingPunct="1">
              <a:defRPr sz="10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fld id="{34C8E023-7346-48FC-AB24-9A3388C53208}" type="slidenum">
              <a:rPr lang="ko-KR" altLang="en-US" smtClean="0"/>
              <a:pPr/>
              <a:t>306</a:t>
            </a:fld>
            <a:endParaRPr lang="ko-KR" altLang="en-US" dirty="0"/>
          </a:p>
        </p:txBody>
      </p:sp>
      <p:sp>
        <p:nvSpPr>
          <p:cNvPr id="5" name="TextBox 4">
            <a:extLst>
              <a:ext uri="{FF2B5EF4-FFF2-40B4-BE49-F238E27FC236}">
                <a16:creationId xmlns:a16="http://schemas.microsoft.com/office/drawing/2014/main" id="{419A1B9D-98AF-0515-89CE-B83C245EA7EA}"/>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6" name="표 5">
            <a:extLst>
              <a:ext uri="{FF2B5EF4-FFF2-40B4-BE49-F238E27FC236}">
                <a16:creationId xmlns:a16="http://schemas.microsoft.com/office/drawing/2014/main" id="{0FAB8D0A-631F-3C8E-395B-07F109C3BE9A}"/>
              </a:ext>
            </a:extLst>
          </p:cNvPr>
          <p:cNvGraphicFramePr>
            <a:graphicFrameLocks noGrp="1"/>
          </p:cNvGraphicFramePr>
          <p:nvPr/>
        </p:nvGraphicFramePr>
        <p:xfrm>
          <a:off x="458117" y="799547"/>
          <a:ext cx="8995591" cy="2354880"/>
        </p:xfrm>
        <a:graphic>
          <a:graphicData uri="http://schemas.openxmlformats.org/drawingml/2006/table">
            <a:tbl>
              <a:tblPr>
                <a:tableStyleId>{616DA210-FB5B-4158-B5E0-FEB733F419BA}</a:tableStyleId>
              </a:tblPr>
              <a:tblGrid>
                <a:gridCol w="1437358">
                  <a:extLst>
                    <a:ext uri="{9D8B030D-6E8A-4147-A177-3AD203B41FA5}">
                      <a16:colId xmlns:a16="http://schemas.microsoft.com/office/drawing/2014/main" val="20000"/>
                    </a:ext>
                  </a:extLst>
                </a:gridCol>
                <a:gridCol w="1476375">
                  <a:extLst>
                    <a:ext uri="{9D8B030D-6E8A-4147-A177-3AD203B41FA5}">
                      <a16:colId xmlns:a16="http://schemas.microsoft.com/office/drawing/2014/main" val="624624882"/>
                    </a:ext>
                  </a:extLst>
                </a:gridCol>
                <a:gridCol w="3657600">
                  <a:extLst>
                    <a:ext uri="{9D8B030D-6E8A-4147-A177-3AD203B41FA5}">
                      <a16:colId xmlns:a16="http://schemas.microsoft.com/office/drawing/2014/main" val="20001"/>
                    </a:ext>
                  </a:extLst>
                </a:gridCol>
                <a:gridCol w="242425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검색 클릭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scwin.btn_search_onclick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검색조건에 해당하는 보관함 목록 조회</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보관함공고목록조회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4100933"/>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모의투찰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en-US" altLang="ko-KR" sz="800"/>
                        <a:t>scwin.btn_simtBdng_onclick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모의투찰 상태로 변경되며</a:t>
                      </a:r>
                      <a:r>
                        <a:rPr lang="en-US" altLang="ko-KR" sz="800">
                          <a:latin typeface="+mn-ea"/>
                          <a:ea typeface="+mn-ea"/>
                        </a:rPr>
                        <a:t>, </a:t>
                      </a:r>
                      <a:r>
                        <a:rPr lang="ko-KR" altLang="en-US" sz="800">
                          <a:latin typeface="+mn-ea"/>
                          <a:ea typeface="+mn-ea"/>
                        </a:rPr>
                        <a:t>모의투찰용 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5964643"/>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입찰내역작성수정 클릭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scnwin.btn_moveBidDetail_onclick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입찰내역작성 화면으로 이동</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u="none" strike="noStrike">
                          <a:solidFill>
                            <a:srgbClr val="000000"/>
                          </a:solidFill>
                          <a:effectLst/>
                          <a:latin typeface="맑은 고딕" panose="020B0503020000020004" pitchFamily="50" charset="-127"/>
                          <a:ea typeface="+mn-ea"/>
                        </a:rPr>
                        <a:t>UI-BD-01-M77</a:t>
                      </a:r>
                      <a:r>
                        <a:rPr lang="en-US" altLang="ko-KR" sz="800">
                          <a:latin typeface="+mn-ea"/>
                          <a:ea typeface="+mn-ea"/>
                        </a:rPr>
                        <a:t> </a:t>
                      </a:r>
                      <a:r>
                        <a:rPr lang="ko-KR" altLang="en-US" sz="80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1043613"/>
                  </a:ext>
                </a:extLst>
              </a:tr>
              <a:tr h="0">
                <a:tc>
                  <a:txBody>
                    <a:bodyPr/>
                    <a:lstStyle/>
                    <a:p>
                      <a:r>
                        <a:rPr lang="ko-KR" altLang="en-US" sz="800"/>
                        <a:t>입찰참가신청작성수정 클릭</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scnwin.btn_moveApplFormEdit_onlick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b="0" i="0" u="none" strike="noStrike">
                          <a:solidFill>
                            <a:srgbClr val="000000"/>
                          </a:solidFill>
                          <a:effectLst/>
                          <a:latin typeface="+mn-ea"/>
                          <a:ea typeface="+mn-ea"/>
                        </a:rPr>
                        <a:t>청렴계약이행서약서동의 팝업 호출 또는 입찰참가신청서작성 화면으로 이동</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solidFill>
                            <a:schemeClr val="tx1"/>
                          </a:solidFill>
                          <a:latin typeface="+mn-ea"/>
                          <a:ea typeface="+mn-ea"/>
                        </a:rPr>
                        <a:t>청렴계약이행서약서동의</a:t>
                      </a:r>
                      <a:r>
                        <a:rPr lang="en-US" altLang="ko-KR" sz="800">
                          <a:solidFill>
                            <a:schemeClr val="tx1"/>
                          </a:solidFill>
                          <a:latin typeface="+mn-ea"/>
                          <a:ea typeface="+mn-ea"/>
                        </a:rPr>
                        <a:t>(</a:t>
                      </a:r>
                      <a:r>
                        <a:rPr lang="en-US" altLang="ko-KR" sz="800" b="0" i="0" u="none" strike="noStrike">
                          <a:solidFill>
                            <a:schemeClr val="tx1"/>
                          </a:solidFill>
                          <a:effectLst/>
                          <a:latin typeface="맑은 고딕" panose="020B0503020000020004" pitchFamily="50" charset="-127"/>
                          <a:ea typeface="+mn-ea"/>
                        </a:rPr>
                        <a:t>UI-BD-04-P71</a:t>
                      </a:r>
                      <a:r>
                        <a:rPr lang="en-US" altLang="ko-KR" sz="800">
                          <a:solidFill>
                            <a:schemeClr val="tx1"/>
                          </a:solidFill>
                          <a:latin typeface="+mn-ea"/>
                          <a:ea typeface="+mn-ea"/>
                        </a:rPr>
                        <a:t>) </a:t>
                      </a:r>
                      <a:r>
                        <a:rPr lang="ko-KR" altLang="en-US" sz="800">
                          <a:solidFill>
                            <a:schemeClr val="tx1"/>
                          </a:solidFill>
                          <a:latin typeface="+mn-ea"/>
                          <a:ea typeface="+mn-ea"/>
                        </a:rPr>
                        <a:t>참조</a:t>
                      </a:r>
                      <a:endParaRPr lang="en-US" altLang="ko-KR" sz="800">
                        <a:solidFill>
                          <a:schemeClr val="tx1"/>
                        </a:solidFill>
                        <a:latin typeface="+mn-ea"/>
                        <a:ea typeface="+mn-ea"/>
                      </a:endParaRPr>
                    </a:p>
                    <a:p>
                      <a:pPr marL="87313" indent="-87313" algn="l" latinLnBrk="1">
                        <a:buFont typeface="Arial" panose="020B0604020202020204" pitchFamily="34" charset="0"/>
                        <a:buChar char="•"/>
                      </a:pPr>
                      <a:r>
                        <a:rPr lang="ko-KR" altLang="en-US" sz="800">
                          <a:solidFill>
                            <a:schemeClr val="tx1"/>
                          </a:solidFill>
                          <a:latin typeface="+mn-ea"/>
                          <a:ea typeface="+mn-ea"/>
                        </a:rPr>
                        <a:t>입찰참가신청서작성</a:t>
                      </a:r>
                      <a:r>
                        <a:rPr lang="en-US" altLang="ko-KR" sz="800">
                          <a:solidFill>
                            <a:schemeClr val="tx1"/>
                          </a:solidFill>
                          <a:latin typeface="+mn-ea"/>
                          <a:ea typeface="+mn-ea"/>
                        </a:rPr>
                        <a:t>(</a:t>
                      </a:r>
                      <a:r>
                        <a:rPr lang="en-US" altLang="ko-KR" sz="800" b="0" i="0" u="none" strike="noStrike">
                          <a:solidFill>
                            <a:schemeClr val="tx1"/>
                          </a:solidFill>
                          <a:effectLst/>
                          <a:latin typeface="맑은 고딕" panose="020B0503020000020004" pitchFamily="50" charset="-127"/>
                          <a:ea typeface="+mn-ea"/>
                        </a:rPr>
                        <a:t>UI-BD-04-M72</a:t>
                      </a:r>
                      <a:r>
                        <a:rPr lang="en-US" altLang="ko-KR" sz="800">
                          <a:solidFill>
                            <a:schemeClr val="tx1"/>
                          </a:solidFill>
                          <a:latin typeface="+mn-ea"/>
                          <a:ea typeface="+mn-ea"/>
                        </a:rPr>
                        <a:t>) </a:t>
                      </a:r>
                      <a:r>
                        <a:rPr lang="ko-KR" altLang="en-US" sz="800">
                          <a:solidFill>
                            <a:schemeClr val="tx1"/>
                          </a:solidFill>
                          <a:latin typeface="+mn-ea"/>
                          <a:ea typeface="+mn-ea"/>
                        </a:rPr>
                        <a:t>참조</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6503860"/>
                  </a:ext>
                </a:extLst>
              </a:tr>
              <a:tr h="0">
                <a:tc>
                  <a:txBody>
                    <a:bodyPr/>
                    <a:lstStyle/>
                    <a:p>
                      <a:r>
                        <a:rPr lang="ko-KR" altLang="en-US" sz="800"/>
                        <a:t>부정당내역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scnwin.btn_openPenaltyStatus_onclick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부정당내역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UI-BD-05-P73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475007"/>
                  </a:ext>
                </a:extLst>
              </a:tr>
              <a:tr h="0">
                <a:tc>
                  <a:txBody>
                    <a:bodyPr/>
                    <a:lstStyle/>
                    <a:p>
                      <a:r>
                        <a:rPr lang="ko-KR" altLang="en-US" sz="800"/>
                        <a:t>입찰진행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scnwin.btn_moveBidProgress_onclick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입찰진행</a:t>
                      </a:r>
                      <a:r>
                        <a:rPr lang="en-US" altLang="ko-KR" sz="800">
                          <a:latin typeface="+mn-ea"/>
                          <a:ea typeface="+mn-ea"/>
                        </a:rPr>
                        <a:t>(</a:t>
                      </a:r>
                      <a:r>
                        <a:rPr lang="ko-KR" altLang="en-US" sz="800">
                          <a:latin typeface="+mn-ea"/>
                          <a:ea typeface="+mn-ea"/>
                        </a:rPr>
                        <a:t>조달업체</a:t>
                      </a:r>
                      <a:r>
                        <a:rPr lang="en-US" altLang="ko-KR" sz="800">
                          <a:latin typeface="+mn-ea"/>
                          <a:ea typeface="+mn-ea"/>
                        </a:rPr>
                        <a:t>)</a:t>
                      </a:r>
                      <a:r>
                        <a:rPr lang="ko-KR" altLang="en-US" sz="800">
                          <a:latin typeface="+mn-ea"/>
                          <a:ea typeface="+mn-ea"/>
                        </a:rPr>
                        <a:t> 화면으로 이동</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a:latin typeface="+mn-ea"/>
                          <a:ea typeface="+mn-ea"/>
                        </a:rPr>
                        <a:t>UI-BD-03-M01</a:t>
                      </a:r>
                      <a:r>
                        <a:rPr lang="ko-KR" altLang="en-US" sz="800">
                          <a:latin typeface="+mn-ea"/>
                          <a:ea typeface="+mn-ea"/>
                        </a:rPr>
                        <a:t> 참조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59504750"/>
                  </a:ext>
                </a:extLst>
              </a:tr>
              <a:tr h="0">
                <a:tc>
                  <a:txBody>
                    <a:bodyPr/>
                    <a:lstStyle/>
                    <a:p>
                      <a:r>
                        <a:rPr lang="ko-KR" altLang="en-US" sz="800"/>
                        <a:t>보관함품목관리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scnwin.btn_openLockerItemMng_onclick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보관함품목관리 팝업 호출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b="0" i="0" u="none" strike="noStrike">
                          <a:solidFill>
                            <a:srgbClr val="000000"/>
                          </a:solidFill>
                          <a:effectLst/>
                          <a:latin typeface="맑은 고딕" panose="020B0503020000020004" pitchFamily="50" charset="-127"/>
                          <a:ea typeface="+mn-ea"/>
                        </a:rPr>
                        <a:t>UI-BD-01-P76</a:t>
                      </a:r>
                      <a:r>
                        <a:rPr lang="ko-KR" altLang="en-US" sz="800" b="0" i="0" u="none" strike="noStrike">
                          <a:solidFill>
                            <a:srgbClr val="000000"/>
                          </a:solidFill>
                          <a:effectLst/>
                          <a:latin typeface="+mn-ea"/>
                          <a:ea typeface="+mn-ea"/>
                        </a:rPr>
                        <a:t> 참조</a:t>
                      </a:r>
                      <a:endParaRPr lang="ko-KR" altLang="en-US" sz="80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29653022"/>
                  </a:ext>
                </a:extLst>
              </a:tr>
            </a:tbl>
          </a:graphicData>
        </a:graphic>
      </p:graphicFrame>
      <p:sp>
        <p:nvSpPr>
          <p:cNvPr id="7" name="Text Box 73">
            <a:extLst>
              <a:ext uri="{FF2B5EF4-FFF2-40B4-BE49-F238E27FC236}">
                <a16:creationId xmlns:a16="http://schemas.microsoft.com/office/drawing/2014/main" id="{860FF1B4-A3DF-BB80-AB27-34226C4E462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710472824"/>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검색영역</a:t>
            </a:r>
            <a:endParaRPr lang="en-US" altLang="ko-KR" dirty="0"/>
          </a:p>
          <a:p>
            <a:pPr marL="228600" indent="-228600">
              <a:buFont typeface="+mj-lt"/>
              <a:buAutoNum type="arabicPeriod"/>
            </a:pPr>
            <a:r>
              <a:rPr lang="ko-KR" altLang="en-US" dirty="0"/>
              <a:t>건수</a:t>
            </a:r>
            <a:r>
              <a:rPr lang="en-US" altLang="ko-KR" dirty="0"/>
              <a:t>, </a:t>
            </a:r>
            <a:r>
              <a:rPr lang="ko-KR" altLang="en-US" dirty="0"/>
              <a:t>개수 표시</a:t>
            </a:r>
            <a:endParaRPr lang="en-US" altLang="ko-KR" dirty="0"/>
          </a:p>
          <a:p>
            <a:pPr marL="228600" indent="-228600">
              <a:buFont typeface="+mj-lt"/>
              <a:buAutoNum type="arabicPeriod"/>
            </a:pPr>
            <a:r>
              <a:rPr lang="ko-KR" altLang="en-US" dirty="0"/>
              <a:t>품목 목록 표시</a:t>
            </a:r>
            <a:r>
              <a:rPr lang="en-US" altLang="ko-KR" dirty="0"/>
              <a:t/>
            </a:r>
            <a:br>
              <a:rPr lang="en-US" altLang="ko-KR" dirty="0"/>
            </a:br>
            <a:r>
              <a:rPr lang="en-US" altLang="ko-KR" dirty="0"/>
              <a:t>- </a:t>
            </a:r>
            <a:r>
              <a:rPr lang="ko-KR" altLang="en-US" dirty="0"/>
              <a:t>상세 페이지 없음</a:t>
            </a:r>
            <a:r>
              <a:rPr lang="en-US" altLang="ko-KR" dirty="0"/>
              <a:t>.</a:t>
            </a:r>
            <a:br>
              <a:rPr lang="en-US" altLang="ko-KR" dirty="0"/>
            </a:br>
            <a:r>
              <a:rPr lang="en-US" altLang="ko-KR" dirty="0"/>
              <a:t>- </a:t>
            </a:r>
            <a:r>
              <a:rPr lang="ko-KR" altLang="en-US" dirty="0" err="1"/>
              <a:t>클릭시</a:t>
            </a:r>
            <a:r>
              <a:rPr lang="ko-KR" altLang="en-US" dirty="0"/>
              <a:t> 선택 활성</a:t>
            </a:r>
            <a:r>
              <a:rPr lang="en-US" altLang="ko-KR" dirty="0"/>
              <a:t>/</a:t>
            </a:r>
            <a:r>
              <a:rPr lang="ko-KR" altLang="en-US" dirty="0"/>
              <a:t>비활성</a:t>
            </a:r>
            <a:endParaRPr lang="en-US" altLang="ko-KR" dirty="0"/>
          </a:p>
          <a:p>
            <a:pPr marL="228600" indent="-228600">
              <a:buFont typeface="+mj-lt"/>
              <a:buAutoNum type="arabicPeriod"/>
            </a:pPr>
            <a:r>
              <a:rPr lang="ko-KR" altLang="en-US" dirty="0"/>
              <a:t>선택이 발생한 경우 버튼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307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보관함 품목 관리</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공고입찰품목 중 보관함에 품목을 추가 및 삭제하는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a:latin typeface="+mn-ea"/>
              </a:rPr>
              <a:t>보관함 품목 관리</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MUI-CM-01-M73</a:t>
            </a:r>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보관함 품목 관리</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58844"/>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2" name="타원 51">
            <a:extLst>
              <a:ext uri="{FF2B5EF4-FFF2-40B4-BE49-F238E27FC236}">
                <a16:creationId xmlns:a16="http://schemas.microsoft.com/office/drawing/2014/main" id="{37A7FF4F-0EAA-1463-560A-D5EC24416103}"/>
              </a:ext>
            </a:extLst>
          </p:cNvPr>
          <p:cNvSpPr/>
          <p:nvPr/>
        </p:nvSpPr>
        <p:spPr>
          <a:xfrm>
            <a:off x="571127" y="254372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4" name="사각형: 둥근 모서리 31">
            <a:extLst>
              <a:ext uri="{FF2B5EF4-FFF2-40B4-BE49-F238E27FC236}">
                <a16:creationId xmlns:a16="http://schemas.microsoft.com/office/drawing/2014/main" id="{2AC143EE-93CF-3518-F0CB-8469E98507E0}"/>
              </a:ext>
            </a:extLst>
          </p:cNvPr>
          <p:cNvSpPr/>
          <p:nvPr/>
        </p:nvSpPr>
        <p:spPr>
          <a:xfrm>
            <a:off x="3928441" y="5227315"/>
            <a:ext cx="2446613" cy="279492"/>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더보기</a:t>
            </a:r>
            <a:r>
              <a:rPr kumimoji="1" lang="ko-KR" altLang="en-US" sz="1000" kern="0" dirty="0">
                <a:solidFill>
                  <a:srgbClr val="0070C0"/>
                </a:solidFill>
                <a:latin typeface="맑은 고딕"/>
                <a:ea typeface="맑은 고딕" panose="020B0503020000020004" pitchFamily="50" charset="-127"/>
              </a:rPr>
              <a:t> </a:t>
            </a:r>
            <a:r>
              <a:rPr kumimoji="1" lang="en-US" altLang="ko-KR" sz="1000" kern="0" dirty="0">
                <a:solidFill>
                  <a:srgbClr val="0070C0"/>
                </a:solidFill>
                <a:latin typeface="맑은 고딕"/>
                <a:ea typeface="맑은 고딕" panose="020B0503020000020004" pitchFamily="50" charset="-127"/>
              </a:rPr>
              <a:t>(10/258)</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grpSp>
        <p:nvGrpSpPr>
          <p:cNvPr id="69" name="그룹 68">
            <a:extLst>
              <a:ext uri="{FF2B5EF4-FFF2-40B4-BE49-F238E27FC236}">
                <a16:creationId xmlns:a16="http://schemas.microsoft.com/office/drawing/2014/main" id="{22BC05EE-C648-7CA2-4CCC-6E1C1A7E9BDA}"/>
              </a:ext>
            </a:extLst>
          </p:cNvPr>
          <p:cNvGrpSpPr/>
          <p:nvPr/>
        </p:nvGrpSpPr>
        <p:grpSpPr>
          <a:xfrm>
            <a:off x="5113316" y="4221551"/>
            <a:ext cx="76863" cy="292489"/>
            <a:chOff x="3750067" y="4683795"/>
            <a:chExt cx="76863" cy="292489"/>
          </a:xfrm>
        </p:grpSpPr>
        <p:sp>
          <p:nvSpPr>
            <p:cNvPr id="70" name="타원 6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1" name="타원 7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72" name="타원 7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cxnSp>
        <p:nvCxnSpPr>
          <p:cNvPr id="79" name="직선 연결선 78">
            <a:extLst>
              <a:ext uri="{FF2B5EF4-FFF2-40B4-BE49-F238E27FC236}">
                <a16:creationId xmlns:a16="http://schemas.microsoft.com/office/drawing/2014/main" id="{E9293055-D5CD-4B9E-7F64-64B2D2CA7A52}"/>
              </a:ext>
            </a:extLst>
          </p:cNvPr>
          <p:cNvCxnSpPr/>
          <p:nvPr/>
        </p:nvCxnSpPr>
        <p:spPr>
          <a:xfrm>
            <a:off x="720490" y="483061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1" name="직선 연결선 120">
            <a:extLst>
              <a:ext uri="{FF2B5EF4-FFF2-40B4-BE49-F238E27FC236}">
                <a16:creationId xmlns:a16="http://schemas.microsoft.com/office/drawing/2014/main" id="{E9293055-D5CD-4B9E-7F64-64B2D2CA7A52}"/>
              </a:ext>
            </a:extLst>
          </p:cNvPr>
          <p:cNvCxnSpPr/>
          <p:nvPr/>
        </p:nvCxnSpPr>
        <p:spPr>
          <a:xfrm>
            <a:off x="720490" y="279647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4" name="타원 133">
            <a:extLst>
              <a:ext uri="{FF2B5EF4-FFF2-40B4-BE49-F238E27FC236}">
                <a16:creationId xmlns:a16="http://schemas.microsoft.com/office/drawing/2014/main" id="{37A7FF4F-0EAA-1463-560A-D5EC24416103}"/>
              </a:ext>
            </a:extLst>
          </p:cNvPr>
          <p:cNvSpPr/>
          <p:nvPr/>
        </p:nvSpPr>
        <p:spPr>
          <a:xfrm>
            <a:off x="571127" y="337292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5" name="그룹 4"/>
          <p:cNvGrpSpPr/>
          <p:nvPr/>
        </p:nvGrpSpPr>
        <p:grpSpPr>
          <a:xfrm>
            <a:off x="767702" y="1905667"/>
            <a:ext cx="2527420" cy="477995"/>
            <a:chOff x="767702" y="1905667"/>
            <a:chExt cx="2527420" cy="477995"/>
          </a:xfrm>
        </p:grpSpPr>
        <p:sp>
          <p:nvSpPr>
            <p:cNvPr id="179" name="모서리가 둥근 직사각형 178"/>
            <p:cNvSpPr/>
            <p:nvPr/>
          </p:nvSpPr>
          <p:spPr>
            <a:xfrm>
              <a:off x="767702" y="2117095"/>
              <a:ext cx="2527420" cy="266567"/>
            </a:xfrm>
            <a:prstGeom prst="roundRect">
              <a:avLst>
                <a:gd name="adj" fmla="val 5000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0" name="타원 179"/>
            <p:cNvSpPr/>
            <p:nvPr/>
          </p:nvSpPr>
          <p:spPr>
            <a:xfrm>
              <a:off x="3052827" y="2186454"/>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1" name="TextBox 180">
              <a:extLst>
                <a:ext uri="{FF2B5EF4-FFF2-40B4-BE49-F238E27FC236}">
                  <a16:creationId xmlns:a16="http://schemas.microsoft.com/office/drawing/2014/main" id="{FFC49AEA-2A8F-250C-A86A-A7751D9706C3}"/>
                </a:ext>
              </a:extLst>
            </p:cNvPr>
            <p:cNvSpPr txBox="1"/>
            <p:nvPr/>
          </p:nvSpPr>
          <p:spPr>
            <a:xfrm>
              <a:off x="871389" y="2196517"/>
              <a:ext cx="1886364" cy="107722"/>
            </a:xfrm>
            <a:prstGeom prst="rect">
              <a:avLst/>
            </a:prstGeom>
            <a:noFill/>
          </p:spPr>
          <p:txBody>
            <a:bodyPr wrap="square" lIns="0" tIns="0" rIns="0" bIns="0" rtlCol="0">
              <a:spAutoFit/>
            </a:bodyPr>
            <a:lstStyle/>
            <a:p>
              <a:r>
                <a:rPr lang="ko-KR" altLang="en-US" sz="700" dirty="0">
                  <a:solidFill>
                    <a:schemeClr val="bg1">
                      <a:lumMod val="50000"/>
                    </a:schemeClr>
                  </a:solidFill>
                  <a:latin typeface="+mn-ea"/>
                </a:rPr>
                <a:t>검색할 내용을 입력하세요</a:t>
              </a:r>
              <a:r>
                <a:rPr lang="en-US" altLang="ko-KR" sz="700" dirty="0">
                  <a:solidFill>
                    <a:schemeClr val="bg1">
                      <a:lumMod val="50000"/>
                    </a:schemeClr>
                  </a:solidFill>
                  <a:latin typeface="+mn-ea"/>
                </a:rPr>
                <a:t>.</a:t>
              </a:r>
              <a:endParaRPr lang="ko-KR" altLang="en-US" sz="700" dirty="0">
                <a:solidFill>
                  <a:schemeClr val="bg1">
                    <a:lumMod val="50000"/>
                  </a:schemeClr>
                </a:solidFill>
                <a:latin typeface="+mn-ea"/>
              </a:endParaRPr>
            </a:p>
          </p:txBody>
        </p:sp>
        <p:grpSp>
          <p:nvGrpSpPr>
            <p:cNvPr id="182" name="그룹 181"/>
            <p:cNvGrpSpPr/>
            <p:nvPr/>
          </p:nvGrpSpPr>
          <p:grpSpPr>
            <a:xfrm>
              <a:off x="777000" y="1909969"/>
              <a:ext cx="1475293" cy="155984"/>
              <a:chOff x="808107" y="2288229"/>
              <a:chExt cx="1350888" cy="168318"/>
            </a:xfrm>
          </p:grpSpPr>
          <p:sp>
            <p:nvSpPr>
              <p:cNvPr id="189" name="사각형: 둥근 모서리 31">
                <a:extLst>
                  <a:ext uri="{FF2B5EF4-FFF2-40B4-BE49-F238E27FC236}">
                    <a16:creationId xmlns:a16="http://schemas.microsoft.com/office/drawing/2014/main" id="{2AC143EE-93CF-3518-F0CB-8469E98507E0}"/>
                  </a:ext>
                </a:extLst>
              </p:cNvPr>
              <p:cNvSpPr/>
              <p:nvPr/>
            </p:nvSpPr>
            <p:spPr>
              <a:xfrm>
                <a:off x="808107" y="2288229"/>
                <a:ext cx="644418" cy="168318"/>
              </a:xfrm>
              <a:prstGeom prst="roundRect">
                <a:avLst/>
              </a:prstGeom>
              <a:solidFill>
                <a:schemeClr val="bg1"/>
              </a:solid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통합참조번호</a:t>
                </a:r>
                <a:endParaRPr kumimoji="1" lang="en-US" sz="800" b="0" i="0" u="none" strike="noStrike" kern="0" cap="none" spc="0" normalizeH="0" baseline="0" noProof="0" dirty="0">
                  <a:ln>
                    <a:noFill/>
                  </a:ln>
                  <a:solidFill>
                    <a:srgbClr val="0070C0"/>
                  </a:solidFill>
                  <a:effectLst/>
                  <a:uLnTx/>
                  <a:uFillTx/>
                  <a:latin typeface="맑은 고딕"/>
                </a:endParaRPr>
              </a:p>
            </p:txBody>
          </p:sp>
          <p:sp>
            <p:nvSpPr>
              <p:cNvPr id="190" name="사각형: 둥근 모서리 31">
                <a:extLst>
                  <a:ext uri="{FF2B5EF4-FFF2-40B4-BE49-F238E27FC236}">
                    <a16:creationId xmlns:a16="http://schemas.microsoft.com/office/drawing/2014/main" id="{2AC143EE-93CF-3518-F0CB-8469E98507E0}"/>
                  </a:ext>
                </a:extLst>
              </p:cNvPr>
              <p:cNvSpPr/>
              <p:nvPr/>
            </p:nvSpPr>
            <p:spPr>
              <a:xfrm>
                <a:off x="1491295" y="2288229"/>
                <a:ext cx="667700" cy="168318"/>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a:latin typeface="맑은 고딕"/>
                    <a:ea typeface="맑은 고딕" panose="020B0503020000020004" pitchFamily="50" charset="-127"/>
                  </a:rPr>
                  <a:t>구매요청번호</a:t>
                </a:r>
                <a:endParaRPr kumimoji="1" lang="en-US" sz="800" b="0" i="0" u="none" strike="noStrike" kern="0" cap="none" spc="0" normalizeH="0" baseline="0" noProof="0" dirty="0">
                  <a:ln>
                    <a:noFill/>
                  </a:ln>
                  <a:effectLst/>
                  <a:uLnTx/>
                  <a:uFillTx/>
                  <a:latin typeface="맑은 고딕"/>
                </a:endParaRPr>
              </a:p>
            </p:txBody>
          </p:sp>
        </p:grpSp>
        <p:sp>
          <p:nvSpPr>
            <p:cNvPr id="184" name="사각형: 둥근 모서리 31">
              <a:extLst>
                <a:ext uri="{FF2B5EF4-FFF2-40B4-BE49-F238E27FC236}">
                  <a16:creationId xmlns:a16="http://schemas.microsoft.com/office/drawing/2014/main" id="{2AC143EE-93CF-3518-F0CB-8469E98507E0}"/>
                </a:ext>
              </a:extLst>
            </p:cNvPr>
            <p:cNvSpPr/>
            <p:nvPr/>
          </p:nvSpPr>
          <p:spPr>
            <a:xfrm>
              <a:off x="2707397" y="1905667"/>
              <a:ext cx="582849" cy="154795"/>
            </a:xfrm>
            <a:prstGeom prst="roundRect">
              <a:avLst/>
            </a:prstGeom>
            <a:solidFill>
              <a:schemeClr val="bg1"/>
            </a:solid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검색필터</a:t>
              </a:r>
              <a:endParaRPr kumimoji="1" lang="en-US" sz="800" b="0" i="0" u="none" strike="noStrike" kern="0" cap="none" spc="0" normalizeH="0" baseline="0" noProof="0" dirty="0">
                <a:ln>
                  <a:noFill/>
                </a:ln>
                <a:effectLst/>
                <a:uLnTx/>
                <a:uFillTx/>
                <a:latin typeface="맑은 고딕"/>
              </a:endParaRPr>
            </a:p>
          </p:txBody>
        </p:sp>
        <p:sp>
          <p:nvSpPr>
            <p:cNvPr id="185" name="타원 184"/>
            <p:cNvSpPr/>
            <p:nvPr/>
          </p:nvSpPr>
          <p:spPr>
            <a:xfrm>
              <a:off x="2839102" y="2186454"/>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6" name="그룹 185"/>
            <p:cNvGrpSpPr/>
            <p:nvPr/>
          </p:nvGrpSpPr>
          <p:grpSpPr>
            <a:xfrm>
              <a:off x="2883007" y="2221341"/>
              <a:ext cx="58075" cy="58074"/>
              <a:chOff x="6812560" y="3297172"/>
              <a:chExt cx="94010" cy="94010"/>
            </a:xfrm>
          </p:grpSpPr>
          <p:cxnSp>
            <p:nvCxnSpPr>
              <p:cNvPr id="187" name="직선 연결선 186"/>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88" name="직선 연결선 187"/>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91" name="직선 연결선 190">
            <a:extLst>
              <a:ext uri="{FF2B5EF4-FFF2-40B4-BE49-F238E27FC236}">
                <a16:creationId xmlns:a16="http://schemas.microsoft.com/office/drawing/2014/main" id="{E9293055-D5CD-4B9E-7F64-64B2D2CA7A52}"/>
              </a:ext>
            </a:extLst>
          </p:cNvPr>
          <p:cNvCxnSpPr/>
          <p:nvPr/>
        </p:nvCxnSpPr>
        <p:spPr>
          <a:xfrm>
            <a:off x="675399" y="244112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9" name="TextBox 198">
            <a:extLst>
              <a:ext uri="{FF2B5EF4-FFF2-40B4-BE49-F238E27FC236}">
                <a16:creationId xmlns:a16="http://schemas.microsoft.com/office/drawing/2014/main" id="{FFC49AEA-2A8F-250C-A86A-A7751D9706C3}"/>
              </a:ext>
            </a:extLst>
          </p:cNvPr>
          <p:cNvSpPr txBox="1"/>
          <p:nvPr/>
        </p:nvSpPr>
        <p:spPr>
          <a:xfrm>
            <a:off x="778515" y="2510110"/>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99</a:t>
            </a:r>
            <a:r>
              <a:rPr lang="en-US" altLang="ko-KR" sz="700" dirty="0">
                <a:latin typeface="+mn-ea"/>
              </a:rPr>
              <a:t> </a:t>
            </a:r>
            <a:r>
              <a:rPr lang="ko-KR" altLang="en-US" sz="700" dirty="0">
                <a:latin typeface="+mn-ea"/>
              </a:rPr>
              <a:t>건</a:t>
            </a:r>
          </a:p>
        </p:txBody>
      </p:sp>
      <p:sp>
        <p:nvSpPr>
          <p:cNvPr id="200" name="TextBox 199">
            <a:extLst>
              <a:ext uri="{FF2B5EF4-FFF2-40B4-BE49-F238E27FC236}">
                <a16:creationId xmlns:a16="http://schemas.microsoft.com/office/drawing/2014/main" id="{FFC49AEA-2A8F-250C-A86A-A7751D9706C3}"/>
              </a:ext>
            </a:extLst>
          </p:cNvPr>
          <p:cNvSpPr txBox="1"/>
          <p:nvPr/>
        </p:nvSpPr>
        <p:spPr>
          <a:xfrm>
            <a:off x="2278206" y="2506056"/>
            <a:ext cx="393849" cy="181140"/>
          </a:xfrm>
          <a:prstGeom prst="rect">
            <a:avLst/>
          </a:prstGeom>
          <a:noFill/>
        </p:spPr>
        <p:txBody>
          <a:bodyPr wrap="square" lIns="0" tIns="0" rIns="0" bIns="0" rtlCol="0">
            <a:spAutoFit/>
          </a:bodyPr>
          <a:lstStyle/>
          <a:p>
            <a:pPr>
              <a:lnSpc>
                <a:spcPct val="200000"/>
              </a:lnSpc>
            </a:pPr>
            <a:r>
              <a:rPr lang="ko-KR" altLang="en-US" sz="700" b="1" dirty="0">
                <a:latin typeface="+mn-ea"/>
              </a:rPr>
              <a:t>표시 개수</a:t>
            </a:r>
          </a:p>
        </p:txBody>
      </p:sp>
      <p:sp>
        <p:nvSpPr>
          <p:cNvPr id="201" name="TextBox 200">
            <a:extLst>
              <a:ext uri="{FF2B5EF4-FFF2-40B4-BE49-F238E27FC236}">
                <a16:creationId xmlns:a16="http://schemas.microsoft.com/office/drawing/2014/main" id="{FFC49AEA-2A8F-250C-A86A-A7751D9706C3}"/>
              </a:ext>
            </a:extLst>
          </p:cNvPr>
          <p:cNvSpPr txBox="1"/>
          <p:nvPr/>
        </p:nvSpPr>
        <p:spPr>
          <a:xfrm>
            <a:off x="2727990" y="2506056"/>
            <a:ext cx="505710" cy="181140"/>
          </a:xfrm>
          <a:prstGeom prst="rect">
            <a:avLst/>
          </a:prstGeom>
          <a:noFill/>
        </p:spPr>
        <p:txBody>
          <a:bodyPr wrap="square" lIns="0" tIns="0" rIns="0" bIns="0" rtlCol="0">
            <a:spAutoFit/>
          </a:bodyPr>
          <a:lstStyle/>
          <a:p>
            <a:pPr>
              <a:lnSpc>
                <a:spcPct val="200000"/>
              </a:lnSpc>
            </a:pPr>
            <a:r>
              <a:rPr lang="en-US" altLang="ko-KR" sz="700" dirty="0">
                <a:latin typeface="+mn-ea"/>
              </a:rPr>
              <a:t>10 </a:t>
            </a:r>
            <a:r>
              <a:rPr lang="ko-KR" altLang="en-US" sz="700" dirty="0">
                <a:latin typeface="+mn-ea"/>
              </a:rPr>
              <a:t>개</a:t>
            </a:r>
          </a:p>
        </p:txBody>
      </p:sp>
      <p:grpSp>
        <p:nvGrpSpPr>
          <p:cNvPr id="202" name="그룹 201"/>
          <p:cNvGrpSpPr/>
          <p:nvPr/>
        </p:nvGrpSpPr>
        <p:grpSpPr>
          <a:xfrm>
            <a:off x="3143548" y="2607879"/>
            <a:ext cx="94010" cy="47005"/>
            <a:chOff x="6812560" y="3297172"/>
            <a:chExt cx="94010" cy="47005"/>
          </a:xfrm>
        </p:grpSpPr>
        <p:cxnSp>
          <p:nvCxnSpPr>
            <p:cNvPr id="203" name="직선 연결선 20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4" name="직선 연결선 20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 name="그룹 2"/>
          <p:cNvGrpSpPr/>
          <p:nvPr/>
        </p:nvGrpSpPr>
        <p:grpSpPr>
          <a:xfrm>
            <a:off x="781461" y="3089592"/>
            <a:ext cx="2473257" cy="1329728"/>
            <a:chOff x="781461" y="3078038"/>
            <a:chExt cx="2473257" cy="1329728"/>
          </a:xfrm>
        </p:grpSpPr>
        <p:sp>
          <p:nvSpPr>
            <p:cNvPr id="55"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RECOIL</a:t>
              </a:r>
              <a:endParaRPr lang="ko-KR" altLang="en-US" sz="900" b="1" dirty="0"/>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3438270"/>
              <a:ext cx="700513" cy="969496"/>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재고번호</a:t>
              </a:r>
              <a:endParaRPr lang="en-US" altLang="ko-KR" sz="600" dirty="0">
                <a:latin typeface="+mn-ea"/>
              </a:endParaRPr>
            </a:p>
            <a:p>
              <a:pPr>
                <a:lnSpc>
                  <a:spcPct val="150000"/>
                </a:lnSpc>
              </a:pPr>
              <a:r>
                <a:rPr lang="ko-KR" altLang="en-US" sz="600" dirty="0" err="1">
                  <a:latin typeface="+mn-ea"/>
                </a:rPr>
                <a:t>부품번호</a:t>
              </a:r>
              <a:endParaRPr lang="en-US" altLang="ko-KR" sz="600" dirty="0">
                <a:latin typeface="+mn-ea"/>
              </a:endParaRPr>
            </a:p>
            <a:p>
              <a:pPr>
                <a:lnSpc>
                  <a:spcPct val="150000"/>
                </a:lnSpc>
              </a:pPr>
              <a:r>
                <a:rPr lang="ko-KR" altLang="en-US" sz="600" dirty="0">
                  <a:latin typeface="+mn-ea"/>
                </a:rPr>
                <a:t>수량 </a:t>
              </a:r>
              <a:r>
                <a:rPr lang="en-US" altLang="ko-KR" sz="600" dirty="0">
                  <a:latin typeface="+mn-ea"/>
                </a:rPr>
                <a:t>/ </a:t>
              </a:r>
              <a:r>
                <a:rPr lang="ko-KR" altLang="en-US" sz="600" dirty="0">
                  <a:latin typeface="+mn-ea"/>
                </a:rPr>
                <a:t>단위</a:t>
              </a:r>
              <a:endParaRPr lang="en-US" altLang="ko-KR" sz="600" dirty="0">
                <a:latin typeface="+mn-ea"/>
              </a:endParaRPr>
            </a:p>
            <a:p>
              <a:pPr>
                <a:lnSpc>
                  <a:spcPct val="150000"/>
                </a:lnSpc>
              </a:pPr>
              <a:r>
                <a:rPr lang="ko-KR" altLang="en-US" sz="600" dirty="0" err="1">
                  <a:latin typeface="+mn-ea"/>
                </a:rPr>
                <a:t>지시단가</a:t>
              </a:r>
              <a:r>
                <a:rPr lang="ko-KR" altLang="en-US" sz="600" dirty="0">
                  <a:latin typeface="+mn-ea"/>
                </a:rPr>
                <a:t> </a:t>
              </a:r>
              <a:r>
                <a:rPr lang="en-US" altLang="ko-KR" sz="600" dirty="0">
                  <a:latin typeface="+mn-ea"/>
                </a:rPr>
                <a:t>/ </a:t>
              </a:r>
              <a:r>
                <a:rPr lang="ko-KR" altLang="en-US" sz="600" dirty="0">
                  <a:latin typeface="+mn-ea"/>
                </a:rPr>
                <a:t>화폐단위</a:t>
              </a:r>
              <a:endParaRPr lang="en-US" altLang="ko-KR" sz="600" dirty="0">
                <a:latin typeface="+mn-ea"/>
              </a:endParaRPr>
            </a:p>
            <a:p>
              <a:pPr>
                <a:lnSpc>
                  <a:spcPct val="150000"/>
                </a:lnSpc>
              </a:pPr>
              <a:r>
                <a:rPr lang="ko-KR" altLang="en-US" sz="600" dirty="0" err="1">
                  <a:latin typeface="+mn-ea"/>
                </a:rPr>
                <a:t>보환함</a:t>
              </a:r>
              <a:r>
                <a:rPr lang="ko-KR" altLang="en-US" sz="600" dirty="0">
                  <a:latin typeface="+mn-ea"/>
                </a:rPr>
                <a:t> 여부</a:t>
              </a:r>
              <a:endParaRPr lang="en-US" altLang="ko-KR" sz="600" dirty="0">
                <a:latin typeface="+mn-ea"/>
              </a:endParaRPr>
            </a:p>
            <a:p>
              <a:pPr>
                <a:lnSpc>
                  <a:spcPct val="150000"/>
                </a:lnSpc>
              </a:pPr>
              <a:r>
                <a:rPr lang="ko-KR" altLang="en-US" sz="600" dirty="0" err="1">
                  <a:latin typeface="+mn-ea"/>
                </a:rPr>
                <a:t>입찰내역</a:t>
              </a:r>
              <a:r>
                <a:rPr lang="ko-KR" altLang="en-US" sz="600" dirty="0">
                  <a:latin typeface="+mn-ea"/>
                </a:rPr>
                <a:t> 작성 여부</a:t>
              </a:r>
              <a:endParaRPr lang="en-US" altLang="ko-KR"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399135" y="3422881"/>
              <a:ext cx="811119" cy="969496"/>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BDF01823-002</a:t>
              </a:r>
            </a:p>
            <a:p>
              <a:pPr algn="r">
                <a:lnSpc>
                  <a:spcPct val="150000"/>
                </a:lnSpc>
              </a:pPr>
              <a:r>
                <a:rPr lang="en-US" altLang="ko-KR" sz="600" dirty="0">
                  <a:latin typeface="+mn-ea"/>
                </a:rPr>
                <a:t>101537518</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2A46MSB0</a:t>
              </a:r>
            </a:p>
            <a:p>
              <a:pPr algn="r">
                <a:lnSpc>
                  <a:spcPct val="150000"/>
                </a:lnSpc>
              </a:pPr>
              <a:r>
                <a:rPr lang="en-US" altLang="ko-KR" sz="600" dirty="0">
                  <a:latin typeface="+mn-ea"/>
                </a:rPr>
                <a:t>2 EA</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20,767.85 USD (</a:t>
              </a:r>
              <a:r>
                <a:rPr lang="ko-KR" altLang="en-US" sz="600" dirty="0" err="1">
                  <a:solidFill>
                    <a:prstClr val="black"/>
                  </a:solidFill>
                  <a:latin typeface="맑은 고딕" panose="020B0503020000020004" pitchFamily="50" charset="-127"/>
                  <a:cs typeface="Segoe UI" panose="020B0502040204020203" pitchFamily="34" charset="0"/>
                </a:rPr>
                <a:t>미달러</a:t>
              </a:r>
              <a:r>
                <a:rPr lang="en-US" altLang="ko-KR" sz="600" dirty="0">
                  <a:solidFill>
                    <a:prstClr val="black"/>
                  </a:solidFill>
                  <a:latin typeface="맑은 고딕" panose="020B0503020000020004" pitchFamily="50" charset="-127"/>
                  <a:cs typeface="Segoe UI" panose="020B0502040204020203" pitchFamily="34" charset="0"/>
                </a:rPr>
                <a:t>)</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O</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X</a:t>
              </a:r>
              <a:endParaRPr lang="en-US" altLang="ko-KR" sz="600" dirty="0">
                <a:latin typeface="+mn-ea"/>
              </a:endParaRPr>
            </a:p>
          </p:txBody>
        </p:sp>
      </p:grpSp>
      <p:sp>
        <p:nvSpPr>
          <p:cNvPr id="81" name="모서리가 둥근 직사각형 80"/>
          <p:cNvSpPr/>
          <p:nvPr/>
        </p:nvSpPr>
        <p:spPr>
          <a:xfrm>
            <a:off x="792650" y="2895992"/>
            <a:ext cx="32794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선택</a:t>
            </a:r>
          </a:p>
        </p:txBody>
      </p:sp>
      <p:sp>
        <p:nvSpPr>
          <p:cNvPr id="84" name="사각형: 둥근 모서리 31">
            <a:extLst>
              <a:ext uri="{FF2B5EF4-FFF2-40B4-BE49-F238E27FC236}">
                <a16:creationId xmlns:a16="http://schemas.microsoft.com/office/drawing/2014/main" id="{2AC143EE-93CF-3518-F0CB-8469E98507E0}"/>
              </a:ext>
            </a:extLst>
          </p:cNvPr>
          <p:cNvSpPr/>
          <p:nvPr/>
        </p:nvSpPr>
        <p:spPr>
          <a:xfrm>
            <a:off x="808106" y="4514040"/>
            <a:ext cx="2446613" cy="195304"/>
          </a:xfrm>
          <a:prstGeom prst="roundRect">
            <a:avLst/>
          </a:prstGeom>
          <a:no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noProof="0" dirty="0">
                <a:latin typeface="맑은 고딕"/>
                <a:ea typeface="맑은 고딕" panose="020B0503020000020004" pitchFamily="50" charset="-127"/>
              </a:rPr>
              <a:t>보관함 삭제</a:t>
            </a:r>
            <a:endParaRPr kumimoji="1" lang="en-US" sz="800" b="0" i="0" u="none" strike="noStrike" kern="0" cap="none" spc="0" normalizeH="0" baseline="0" noProof="0" dirty="0">
              <a:ln>
                <a:noFill/>
              </a:ln>
              <a:effectLst/>
              <a:uLnTx/>
              <a:uFillTx/>
              <a:latin typeface="맑은 고딕"/>
            </a:endParaRPr>
          </a:p>
        </p:txBody>
      </p:sp>
      <p:sp>
        <p:nvSpPr>
          <p:cNvPr id="85" name="직사각형 84">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6" name="그룹 5"/>
          <p:cNvGrpSpPr/>
          <p:nvPr/>
        </p:nvGrpSpPr>
        <p:grpSpPr>
          <a:xfrm>
            <a:off x="3840825" y="1593447"/>
            <a:ext cx="2621844" cy="1934626"/>
            <a:chOff x="3879257" y="2145017"/>
            <a:chExt cx="2621844" cy="1934626"/>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3879257" y="407964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90" name="그룹 89"/>
            <p:cNvGrpSpPr/>
            <p:nvPr/>
          </p:nvGrpSpPr>
          <p:grpSpPr>
            <a:xfrm>
              <a:off x="3940228" y="2338617"/>
              <a:ext cx="2473257" cy="1329728"/>
              <a:chOff x="781461" y="3078038"/>
              <a:chExt cx="2473257" cy="1329728"/>
            </a:xfrm>
          </p:grpSpPr>
          <p:sp>
            <p:nvSpPr>
              <p:cNvPr id="91"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RECOIL</a:t>
                </a:r>
                <a:endParaRPr lang="ko-KR" altLang="en-US" sz="900" b="1" dirty="0"/>
              </a:p>
            </p:txBody>
          </p:sp>
          <p:sp>
            <p:nvSpPr>
              <p:cNvPr id="92" name="TextBox 59">
                <a:extLst>
                  <a:ext uri="{FF2B5EF4-FFF2-40B4-BE49-F238E27FC236}">
                    <a16:creationId xmlns:a16="http://schemas.microsoft.com/office/drawing/2014/main" id="{F77C802D-3BC8-270F-87FC-5F442BD8054D}"/>
                  </a:ext>
                </a:extLst>
              </p:cNvPr>
              <p:cNvSpPr txBox="1"/>
              <p:nvPr/>
            </p:nvSpPr>
            <p:spPr>
              <a:xfrm>
                <a:off x="781461" y="3438270"/>
                <a:ext cx="700513" cy="969496"/>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재고번호</a:t>
                </a:r>
                <a:endParaRPr lang="en-US" altLang="ko-KR" sz="600" dirty="0">
                  <a:latin typeface="+mn-ea"/>
                </a:endParaRPr>
              </a:p>
              <a:p>
                <a:pPr>
                  <a:lnSpc>
                    <a:spcPct val="150000"/>
                  </a:lnSpc>
                </a:pPr>
                <a:r>
                  <a:rPr lang="ko-KR" altLang="en-US" sz="600" dirty="0" err="1">
                    <a:latin typeface="+mn-ea"/>
                  </a:rPr>
                  <a:t>부품번호</a:t>
                </a:r>
                <a:endParaRPr lang="en-US" altLang="ko-KR" sz="600" dirty="0">
                  <a:latin typeface="+mn-ea"/>
                </a:endParaRPr>
              </a:p>
              <a:p>
                <a:pPr>
                  <a:lnSpc>
                    <a:spcPct val="150000"/>
                  </a:lnSpc>
                </a:pPr>
                <a:r>
                  <a:rPr lang="ko-KR" altLang="en-US" sz="600" dirty="0">
                    <a:latin typeface="+mn-ea"/>
                  </a:rPr>
                  <a:t>수량 </a:t>
                </a:r>
                <a:r>
                  <a:rPr lang="en-US" altLang="ko-KR" sz="600" dirty="0">
                    <a:latin typeface="+mn-ea"/>
                  </a:rPr>
                  <a:t>/ </a:t>
                </a:r>
                <a:r>
                  <a:rPr lang="ko-KR" altLang="en-US" sz="600" dirty="0">
                    <a:latin typeface="+mn-ea"/>
                  </a:rPr>
                  <a:t>단위</a:t>
                </a:r>
                <a:endParaRPr lang="en-US" altLang="ko-KR" sz="600" dirty="0">
                  <a:latin typeface="+mn-ea"/>
                </a:endParaRPr>
              </a:p>
              <a:p>
                <a:pPr>
                  <a:lnSpc>
                    <a:spcPct val="150000"/>
                  </a:lnSpc>
                </a:pPr>
                <a:r>
                  <a:rPr lang="ko-KR" altLang="en-US" sz="600" dirty="0" err="1">
                    <a:latin typeface="+mn-ea"/>
                  </a:rPr>
                  <a:t>지시단가</a:t>
                </a:r>
                <a:r>
                  <a:rPr lang="ko-KR" altLang="en-US" sz="600" dirty="0">
                    <a:latin typeface="+mn-ea"/>
                  </a:rPr>
                  <a:t> </a:t>
                </a:r>
                <a:r>
                  <a:rPr lang="en-US" altLang="ko-KR" sz="600" dirty="0">
                    <a:latin typeface="+mn-ea"/>
                  </a:rPr>
                  <a:t>/ </a:t>
                </a:r>
                <a:r>
                  <a:rPr lang="ko-KR" altLang="en-US" sz="600" dirty="0">
                    <a:latin typeface="+mn-ea"/>
                  </a:rPr>
                  <a:t>화폐단위</a:t>
                </a:r>
                <a:endParaRPr lang="en-US" altLang="ko-KR" sz="600" dirty="0">
                  <a:latin typeface="+mn-ea"/>
                </a:endParaRPr>
              </a:p>
              <a:p>
                <a:pPr>
                  <a:lnSpc>
                    <a:spcPct val="150000"/>
                  </a:lnSpc>
                </a:pPr>
                <a:r>
                  <a:rPr lang="ko-KR" altLang="en-US" sz="600" dirty="0" err="1">
                    <a:latin typeface="+mn-ea"/>
                  </a:rPr>
                  <a:t>보환함</a:t>
                </a:r>
                <a:r>
                  <a:rPr lang="ko-KR" altLang="en-US" sz="600" dirty="0">
                    <a:latin typeface="+mn-ea"/>
                  </a:rPr>
                  <a:t> 여부</a:t>
                </a:r>
                <a:endParaRPr lang="en-US" altLang="ko-KR" sz="600" dirty="0">
                  <a:latin typeface="+mn-ea"/>
                </a:endParaRPr>
              </a:p>
              <a:p>
                <a:pPr>
                  <a:lnSpc>
                    <a:spcPct val="150000"/>
                  </a:lnSpc>
                </a:pPr>
                <a:r>
                  <a:rPr lang="ko-KR" altLang="en-US" sz="600" dirty="0" err="1">
                    <a:latin typeface="+mn-ea"/>
                  </a:rPr>
                  <a:t>입찰내역</a:t>
                </a:r>
                <a:r>
                  <a:rPr lang="ko-KR" altLang="en-US" sz="600" dirty="0">
                    <a:latin typeface="+mn-ea"/>
                  </a:rPr>
                  <a:t> 작성 여부</a:t>
                </a:r>
                <a:endParaRPr lang="en-US" altLang="ko-KR" sz="600" dirty="0">
                  <a:latin typeface="+mn-ea"/>
                </a:endParaRPr>
              </a:p>
            </p:txBody>
          </p:sp>
          <p:sp>
            <p:nvSpPr>
              <p:cNvPr id="93" name="TextBox 60">
                <a:extLst>
                  <a:ext uri="{FF2B5EF4-FFF2-40B4-BE49-F238E27FC236}">
                    <a16:creationId xmlns:a16="http://schemas.microsoft.com/office/drawing/2014/main" id="{8F5E3227-69E6-C89F-B8C5-534226E95EA8}"/>
                  </a:ext>
                </a:extLst>
              </p:cNvPr>
              <p:cNvSpPr txBox="1"/>
              <p:nvPr/>
            </p:nvSpPr>
            <p:spPr>
              <a:xfrm>
                <a:off x="2399135" y="3422881"/>
                <a:ext cx="811119" cy="969496"/>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BDF01823-002</a:t>
                </a:r>
              </a:p>
              <a:p>
                <a:pPr algn="r">
                  <a:lnSpc>
                    <a:spcPct val="150000"/>
                  </a:lnSpc>
                </a:pPr>
                <a:r>
                  <a:rPr lang="en-US" altLang="ko-KR" sz="600" dirty="0">
                    <a:latin typeface="+mn-ea"/>
                  </a:rPr>
                  <a:t>101537518</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2A46MSB0</a:t>
                </a:r>
              </a:p>
              <a:p>
                <a:pPr algn="r">
                  <a:lnSpc>
                    <a:spcPct val="150000"/>
                  </a:lnSpc>
                </a:pPr>
                <a:r>
                  <a:rPr lang="en-US" altLang="ko-KR" sz="600" dirty="0">
                    <a:latin typeface="+mn-ea"/>
                  </a:rPr>
                  <a:t>2 EA</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20,767.85 USD (</a:t>
                </a:r>
                <a:r>
                  <a:rPr lang="ko-KR" altLang="en-US" sz="600" dirty="0" err="1">
                    <a:solidFill>
                      <a:prstClr val="black"/>
                    </a:solidFill>
                    <a:latin typeface="맑은 고딕" panose="020B0503020000020004" pitchFamily="50" charset="-127"/>
                    <a:cs typeface="Segoe UI" panose="020B0502040204020203" pitchFamily="34" charset="0"/>
                  </a:rPr>
                  <a:t>미달러</a:t>
                </a:r>
                <a:r>
                  <a:rPr lang="en-US" altLang="ko-KR" sz="600" dirty="0">
                    <a:solidFill>
                      <a:prstClr val="black"/>
                    </a:solidFill>
                    <a:latin typeface="맑은 고딕" panose="020B0503020000020004" pitchFamily="50" charset="-127"/>
                    <a:cs typeface="Segoe UI" panose="020B0502040204020203" pitchFamily="34" charset="0"/>
                  </a:rPr>
                  <a:t>)</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X</a:t>
                </a:r>
              </a:p>
              <a:p>
                <a:pPr algn="r">
                  <a:lnSpc>
                    <a:spcPct val="150000"/>
                  </a:lnSpc>
                </a:pPr>
                <a:r>
                  <a:rPr lang="en-US" altLang="ko-KR" sz="600" dirty="0">
                    <a:solidFill>
                      <a:prstClr val="black"/>
                    </a:solidFill>
                    <a:latin typeface="맑은 고딕" panose="020B0503020000020004" pitchFamily="50" charset="-127"/>
                    <a:cs typeface="Segoe UI" panose="020B0502040204020203" pitchFamily="34" charset="0"/>
                  </a:rPr>
                  <a:t>X</a:t>
                </a:r>
                <a:endParaRPr lang="en-US" altLang="ko-KR" sz="600" dirty="0">
                  <a:latin typeface="+mn-ea"/>
                </a:endParaRPr>
              </a:p>
            </p:txBody>
          </p:sp>
        </p:grpSp>
        <p:sp>
          <p:nvSpPr>
            <p:cNvPr id="94" name="모서리가 둥근 직사각형 93"/>
            <p:cNvSpPr/>
            <p:nvPr/>
          </p:nvSpPr>
          <p:spPr>
            <a:xfrm>
              <a:off x="3951417" y="2145017"/>
              <a:ext cx="327945" cy="119400"/>
            </a:xfrm>
            <a:prstGeom prst="roundRect">
              <a:avLst>
                <a:gd name="adj" fmla="val 23409"/>
              </a:avLst>
            </a:prstGeom>
            <a:ln>
              <a:solidFill>
                <a:srgbClr val="0070C0"/>
              </a:solidFill>
            </a:ln>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rgbClr val="0070C0"/>
                  </a:solidFill>
                </a:rPr>
                <a:t>선택</a:t>
              </a:r>
            </a:p>
          </p:txBody>
        </p:sp>
        <p:sp>
          <p:nvSpPr>
            <p:cNvPr id="95" name="사각형: 둥근 모서리 31">
              <a:extLst>
                <a:ext uri="{FF2B5EF4-FFF2-40B4-BE49-F238E27FC236}">
                  <a16:creationId xmlns:a16="http://schemas.microsoft.com/office/drawing/2014/main" id="{2AC143EE-93CF-3518-F0CB-8469E98507E0}"/>
                </a:ext>
              </a:extLst>
            </p:cNvPr>
            <p:cNvSpPr/>
            <p:nvPr/>
          </p:nvSpPr>
          <p:spPr>
            <a:xfrm>
              <a:off x="3966873" y="3763065"/>
              <a:ext cx="2446613" cy="195304"/>
            </a:xfrm>
            <a:prstGeom prst="roundRect">
              <a:avLst/>
            </a:prstGeom>
            <a:no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noProof="0" dirty="0">
                  <a:latin typeface="맑은 고딕"/>
                  <a:ea typeface="맑은 고딕" panose="020B0503020000020004" pitchFamily="50" charset="-127"/>
                </a:rPr>
                <a:t>보관함 </a:t>
              </a:r>
              <a:r>
                <a:rPr kumimoji="1" lang="ko-KR" altLang="en-US" sz="800" kern="0" dirty="0">
                  <a:latin typeface="맑은 고딕"/>
                  <a:ea typeface="맑은 고딕" panose="020B0503020000020004" pitchFamily="50" charset="-127"/>
                </a:rPr>
                <a:t>추가</a:t>
              </a:r>
              <a:endParaRPr kumimoji="1" lang="en-US" sz="800" b="0" i="0" u="none" strike="noStrike" kern="0" cap="none" spc="0" normalizeH="0" baseline="0" noProof="0" dirty="0">
                <a:ln>
                  <a:noFill/>
                </a:ln>
                <a:effectLst/>
                <a:uLnTx/>
                <a:uFillTx/>
                <a:latin typeface="맑은 고딕"/>
              </a:endParaRPr>
            </a:p>
          </p:txBody>
        </p:sp>
      </p:grpSp>
      <p:grpSp>
        <p:nvGrpSpPr>
          <p:cNvPr id="96" name="그룹 95"/>
          <p:cNvGrpSpPr/>
          <p:nvPr/>
        </p:nvGrpSpPr>
        <p:grpSpPr>
          <a:xfrm>
            <a:off x="3795734" y="5614711"/>
            <a:ext cx="2712027" cy="617588"/>
            <a:chOff x="675399" y="5614711"/>
            <a:chExt cx="2712027" cy="617588"/>
          </a:xfrm>
        </p:grpSpPr>
        <p:sp>
          <p:nvSpPr>
            <p:cNvPr id="97" name="직사각형 96">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사각형: 둥근 모서리 15">
              <a:extLst>
                <a:ext uri="{FF2B5EF4-FFF2-40B4-BE49-F238E27FC236}">
                  <a16:creationId xmlns:a16="http://schemas.microsoft.com/office/drawing/2014/main" id="{E2B61CFB-AD16-68D0-8752-50D9C5E01971}"/>
                </a:ext>
              </a:extLst>
            </p:cNvPr>
            <p:cNvSpPr/>
            <p:nvPr/>
          </p:nvSpPr>
          <p:spPr>
            <a:xfrm>
              <a:off x="2069844" y="5745391"/>
              <a:ext cx="1225277" cy="317083"/>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solidFill>
                    <a:srgbClr val="0070C0"/>
                  </a:solidFill>
                </a:rPr>
                <a:t>일괄 추가</a:t>
              </a:r>
            </a:p>
          </p:txBody>
        </p:sp>
        <p:sp>
          <p:nvSpPr>
            <p:cNvPr id="99" name="사각형: 둥근 모서리 15">
              <a:extLst>
                <a:ext uri="{FF2B5EF4-FFF2-40B4-BE49-F238E27FC236}">
                  <a16:creationId xmlns:a16="http://schemas.microsoft.com/office/drawing/2014/main" id="{E2B61CFB-AD16-68D0-8752-50D9C5E01971}"/>
                </a:ext>
              </a:extLst>
            </p:cNvPr>
            <p:cNvSpPr/>
            <p:nvPr/>
          </p:nvSpPr>
          <p:spPr>
            <a:xfrm>
              <a:off x="767701" y="5745391"/>
              <a:ext cx="1225279"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일괄 삭제</a:t>
              </a:r>
            </a:p>
          </p:txBody>
        </p:sp>
      </p:grpSp>
      <p:sp>
        <p:nvSpPr>
          <p:cNvPr id="135" name="타원 134">
            <a:extLst>
              <a:ext uri="{FF2B5EF4-FFF2-40B4-BE49-F238E27FC236}">
                <a16:creationId xmlns:a16="http://schemas.microsoft.com/office/drawing/2014/main" id="{37A7FF4F-0EAA-1463-560A-D5EC24416103}"/>
              </a:ext>
            </a:extLst>
          </p:cNvPr>
          <p:cNvSpPr/>
          <p:nvPr/>
        </p:nvSpPr>
        <p:spPr>
          <a:xfrm>
            <a:off x="3668695" y="58819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Tree>
    <p:extLst>
      <p:ext uri="{BB962C8B-B14F-4D97-AF65-F5344CB8AC3E}">
        <p14:creationId xmlns:p14="http://schemas.microsoft.com/office/powerpoint/2010/main" val="2695984813"/>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검색필터</a:t>
            </a:r>
            <a:r>
              <a:rPr lang="ko-KR" altLang="en-US" dirty="0"/>
              <a:t> 페이지 타이틀</a:t>
            </a:r>
            <a:r>
              <a:rPr lang="en-US" altLang="ko-KR" dirty="0"/>
              <a:t/>
            </a:r>
            <a:br>
              <a:rPr lang="en-US" altLang="ko-KR" dirty="0"/>
            </a:br>
            <a:r>
              <a:rPr lang="en-US" altLang="ko-KR" dirty="0"/>
              <a:t>- </a:t>
            </a:r>
            <a:r>
              <a:rPr lang="ko-KR" altLang="en-US" dirty="0"/>
              <a:t>초기화</a:t>
            </a:r>
            <a:r>
              <a:rPr lang="en-US" altLang="ko-KR" dirty="0"/>
              <a:t>, </a:t>
            </a:r>
            <a:r>
              <a:rPr lang="ko-KR" altLang="en-US" dirty="0"/>
              <a:t>닫기 버튼</a:t>
            </a:r>
            <a:endParaRPr lang="en-US" altLang="ko-KR" dirty="0"/>
          </a:p>
          <a:p>
            <a:pPr marL="228600" indent="-228600">
              <a:buFont typeface="+mj-lt"/>
              <a:buAutoNum type="arabicPeriod"/>
            </a:pPr>
            <a:r>
              <a:rPr lang="ko-KR" altLang="en-US" dirty="0"/>
              <a:t>일자 설정</a:t>
            </a:r>
            <a:r>
              <a:rPr lang="en-US" altLang="ko-KR" dirty="0"/>
              <a:t/>
            </a:r>
            <a:br>
              <a:rPr lang="en-US" altLang="ko-KR" dirty="0"/>
            </a:br>
            <a:r>
              <a:rPr lang="en-US" altLang="ko-KR" dirty="0"/>
              <a:t>- </a:t>
            </a:r>
            <a:r>
              <a:rPr lang="ko-KR" altLang="en-US" dirty="0" err="1"/>
              <a:t>개찰일자</a:t>
            </a:r>
            <a:r>
              <a:rPr lang="en-US" altLang="ko-KR" dirty="0"/>
              <a:t>, </a:t>
            </a:r>
            <a:r>
              <a:rPr lang="ko-KR" altLang="en-US" dirty="0" err="1"/>
              <a:t>공고일자</a:t>
            </a:r>
            <a:r>
              <a:rPr lang="ko-KR" altLang="en-US" dirty="0"/>
              <a:t> </a:t>
            </a:r>
            <a:r>
              <a:rPr lang="ko-KR" altLang="en-US" dirty="0" err="1"/>
              <a:t>토글</a:t>
            </a:r>
            <a:r>
              <a:rPr lang="ko-KR" altLang="en-US" dirty="0"/>
              <a:t> 스위치</a:t>
            </a:r>
            <a:r>
              <a:rPr lang="en-US" altLang="ko-KR" dirty="0"/>
              <a:t/>
            </a:r>
            <a:br>
              <a:rPr lang="en-US" altLang="ko-KR" dirty="0"/>
            </a:br>
            <a:r>
              <a:rPr lang="en-US" altLang="ko-KR" dirty="0"/>
              <a:t>- </a:t>
            </a:r>
            <a:r>
              <a:rPr lang="ko-KR" altLang="en-US" dirty="0"/>
              <a:t>직접 입력 가능</a:t>
            </a:r>
            <a:r>
              <a:rPr lang="en-US" altLang="ko-KR" dirty="0"/>
              <a:t/>
            </a:r>
            <a:br>
              <a:rPr lang="en-US" altLang="ko-KR" dirty="0"/>
            </a:br>
            <a:r>
              <a:rPr lang="en-US" altLang="ko-KR" dirty="0"/>
              <a:t>- </a:t>
            </a:r>
            <a:r>
              <a:rPr lang="ko-KR" altLang="en-US" dirty="0"/>
              <a:t>아이콘 </a:t>
            </a:r>
            <a:r>
              <a:rPr lang="en-US" altLang="ko-KR" dirty="0">
                <a:sym typeface="Wingdings" panose="05000000000000000000" pitchFamily="2" charset="2"/>
              </a:rPr>
              <a:t> </a:t>
            </a:r>
            <a:r>
              <a:rPr lang="ko-KR" altLang="en-US" dirty="0">
                <a:sym typeface="Wingdings" panose="05000000000000000000" pitchFamily="2" charset="2"/>
              </a:rPr>
              <a:t>데이트 </a:t>
            </a:r>
            <a:r>
              <a:rPr lang="ko-KR" altLang="en-US" dirty="0" err="1">
                <a:sym typeface="Wingdings" panose="05000000000000000000" pitchFamily="2" charset="2"/>
              </a:rPr>
              <a:t>피커</a:t>
            </a:r>
            <a:r>
              <a:rPr lang="ko-KR" altLang="en-US" dirty="0">
                <a:sym typeface="Wingdings" panose="05000000000000000000" pitchFamily="2" charset="2"/>
              </a:rPr>
              <a:t> 호출</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지정 설정으로 날짜 즉시 업데이트</a:t>
            </a:r>
            <a:endParaRPr lang="en-US" altLang="ko-KR" dirty="0">
              <a:sym typeface="Wingdings" panose="05000000000000000000" pitchFamily="2" charset="2"/>
            </a:endParaRPr>
          </a:p>
          <a:p>
            <a:pPr marL="228600" indent="-228600">
              <a:buFont typeface="+mj-lt"/>
              <a:buAutoNum type="arabicPeriod"/>
            </a:pPr>
            <a:r>
              <a:rPr lang="ko-KR" altLang="en-US" dirty="0" err="1">
                <a:sym typeface="Wingdings" panose="05000000000000000000" pitchFamily="2" charset="2"/>
              </a:rPr>
              <a:t>검색어</a:t>
            </a:r>
            <a:r>
              <a:rPr lang="ko-KR" altLang="en-US" dirty="0">
                <a:sym typeface="Wingdings" panose="05000000000000000000" pitchFamily="2" charset="2"/>
              </a:rPr>
              <a:t> 영역</a:t>
            </a:r>
            <a:r>
              <a:rPr lang="en-US" altLang="ko-KR" dirty="0">
                <a:sym typeface="Wingdings" panose="05000000000000000000" pitchFamily="2" charset="2"/>
              </a:rPr>
              <a:t/>
            </a:r>
            <a:br>
              <a:rPr lang="en-US" altLang="ko-KR" dirty="0">
                <a:sym typeface="Wingdings" panose="05000000000000000000" pitchFamily="2" charset="2"/>
              </a:rPr>
            </a:br>
            <a:r>
              <a:rPr lang="en-US" altLang="ko-KR" dirty="0">
                <a:sym typeface="Wingdings" panose="05000000000000000000" pitchFamily="2" charset="2"/>
              </a:rPr>
              <a:t>- </a:t>
            </a:r>
            <a:r>
              <a:rPr lang="ko-KR" altLang="en-US" dirty="0">
                <a:sym typeface="Wingdings" panose="05000000000000000000" pitchFamily="2" charset="2"/>
              </a:rPr>
              <a:t>사용자가 입력하고자 하는 내역만 입력 후 검색 가능</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308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검색 필터</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 공고 상세 검색을 위한 검색 필터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92500" lnSpcReduction="20000"/>
          </a:bodyPr>
          <a:lstStyle/>
          <a:p>
            <a:r>
              <a:rPr lang="ko-KR" altLang="en-US" dirty="0"/>
              <a:t>홈 </a:t>
            </a:r>
            <a:r>
              <a:rPr lang="en-US" altLang="ko-KR" dirty="0"/>
              <a:t>&gt; </a:t>
            </a:r>
            <a:r>
              <a:rPr lang="ko-KR" altLang="en-US" dirty="0" err="1"/>
              <a:t>마이페이지</a:t>
            </a:r>
            <a:r>
              <a:rPr lang="ko-KR" altLang="en-US" dirty="0"/>
              <a:t> </a:t>
            </a:r>
            <a:r>
              <a:rPr lang="en-US" altLang="ko-KR" dirty="0"/>
              <a:t>&gt; </a:t>
            </a:r>
            <a:r>
              <a:rPr lang="ko-KR" altLang="en-US" dirty="0"/>
              <a:t>국외 보관함 </a:t>
            </a:r>
            <a:r>
              <a:rPr lang="en-US" altLang="ko-KR" dirty="0"/>
              <a:t>&gt; </a:t>
            </a:r>
            <a:r>
              <a:rPr lang="ko-KR" altLang="en-US" dirty="0"/>
              <a:t>보관함 품목 관리</a:t>
            </a:r>
            <a:r>
              <a:rPr lang="ko-KR" altLang="en-US" dirty="0">
                <a:latin typeface="+mn-ea"/>
              </a:rPr>
              <a:t> </a:t>
            </a:r>
            <a:r>
              <a:rPr lang="en-US" altLang="ko-KR" dirty="0">
                <a:latin typeface="+mn-ea"/>
              </a:rPr>
              <a:t>&gt; </a:t>
            </a:r>
            <a:r>
              <a:rPr lang="ko-KR" altLang="en-US" dirty="0">
                <a:latin typeface="+mn-ea"/>
              </a:rPr>
              <a:t>검색 필터</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MUI-CM-01-M73</a:t>
            </a:r>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7" name="타원 126"/>
          <p:cNvSpPr/>
          <p:nvPr/>
        </p:nvSpPr>
        <p:spPr>
          <a:xfrm>
            <a:off x="2773099" y="160603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검색필터</a:t>
            </a:r>
            <a:endParaRPr lang="ko-KR" altLang="en-US" sz="900" dirty="0">
              <a:latin typeface="+mn-ea"/>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2447457" y="1646156"/>
            <a:ext cx="285052" cy="107722"/>
          </a:xfrm>
          <a:prstGeom prst="rect">
            <a:avLst/>
          </a:prstGeom>
          <a:noFill/>
        </p:spPr>
        <p:txBody>
          <a:bodyPr wrap="square" lIns="0" tIns="0" rIns="0" bIns="0" rtlCol="0">
            <a:spAutoFit/>
          </a:bodyPr>
          <a:lstStyle/>
          <a:p>
            <a:r>
              <a:rPr lang="ko-KR" altLang="en-US" sz="700" dirty="0">
                <a:latin typeface="+mn-ea"/>
              </a:rPr>
              <a:t>초기화</a:t>
            </a:r>
          </a:p>
        </p:txBody>
      </p:sp>
      <p:sp>
        <p:nvSpPr>
          <p:cNvPr id="153" name="타원 152">
            <a:extLst>
              <a:ext uri="{FF2B5EF4-FFF2-40B4-BE49-F238E27FC236}">
                <a16:creationId xmlns:a16="http://schemas.microsoft.com/office/drawing/2014/main" id="{37A7FF4F-0EAA-1463-560A-D5EC24416103}"/>
              </a:ext>
            </a:extLst>
          </p:cNvPr>
          <p:cNvSpPr/>
          <p:nvPr/>
        </p:nvSpPr>
        <p:spPr>
          <a:xfrm>
            <a:off x="573754" y="159227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5" name="타원 154">
            <a:extLst>
              <a:ext uri="{FF2B5EF4-FFF2-40B4-BE49-F238E27FC236}">
                <a16:creationId xmlns:a16="http://schemas.microsoft.com/office/drawing/2014/main" id="{37A7FF4F-0EAA-1463-560A-D5EC24416103}"/>
              </a:ext>
            </a:extLst>
          </p:cNvPr>
          <p:cNvSpPr/>
          <p:nvPr/>
        </p:nvSpPr>
        <p:spPr>
          <a:xfrm>
            <a:off x="573754" y="2015356"/>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57" name="TextBox 156">
            <a:extLst>
              <a:ext uri="{FF2B5EF4-FFF2-40B4-BE49-F238E27FC236}">
                <a16:creationId xmlns:a16="http://schemas.microsoft.com/office/drawing/2014/main" id="{FFC49AEA-2A8F-250C-A86A-A7751D9706C3}"/>
              </a:ext>
            </a:extLst>
          </p:cNvPr>
          <p:cNvSpPr txBox="1"/>
          <p:nvPr/>
        </p:nvSpPr>
        <p:spPr>
          <a:xfrm>
            <a:off x="778515" y="1997596"/>
            <a:ext cx="2305144" cy="181140"/>
          </a:xfrm>
          <a:prstGeom prst="rect">
            <a:avLst/>
          </a:prstGeom>
          <a:noFill/>
        </p:spPr>
        <p:txBody>
          <a:bodyPr wrap="square" lIns="0" tIns="0" rIns="0" bIns="0" rtlCol="0">
            <a:spAutoFit/>
          </a:bodyPr>
          <a:lstStyle/>
          <a:p>
            <a:pPr>
              <a:lnSpc>
                <a:spcPct val="200000"/>
              </a:lnSpc>
            </a:pPr>
            <a:r>
              <a:rPr lang="ko-KR" altLang="en-US" sz="700" b="1" dirty="0">
                <a:latin typeface="+mn-ea"/>
              </a:rPr>
              <a:t>일자 설정</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778515" y="2220134"/>
            <a:ext cx="670770" cy="430887"/>
          </a:xfrm>
          <a:prstGeom prst="rect">
            <a:avLst/>
          </a:prstGeom>
          <a:noFill/>
        </p:spPr>
        <p:txBody>
          <a:bodyPr wrap="square" lIns="0" tIns="0" rIns="0" bIns="0" rtlCol="0">
            <a:spAutoFit/>
          </a:bodyPr>
          <a:lstStyle/>
          <a:p>
            <a:pPr>
              <a:lnSpc>
                <a:spcPct val="200000"/>
              </a:lnSpc>
            </a:pPr>
            <a:r>
              <a:rPr lang="ko-KR" altLang="en-US" sz="700" dirty="0">
                <a:latin typeface="+mn-ea"/>
              </a:rPr>
              <a:t>일자 설정</a:t>
            </a:r>
            <a:endParaRPr lang="en-US" altLang="ko-KR" sz="700" dirty="0">
              <a:latin typeface="+mn-ea"/>
            </a:endParaRPr>
          </a:p>
          <a:p>
            <a:pPr>
              <a:lnSpc>
                <a:spcPct val="200000"/>
              </a:lnSpc>
            </a:pPr>
            <a:r>
              <a:rPr lang="ko-KR" altLang="en-US" sz="700" dirty="0">
                <a:latin typeface="+mn-ea"/>
              </a:rPr>
              <a:t>빠른 설정</a:t>
            </a:r>
            <a:endParaRPr lang="en-US" altLang="ko-KR" sz="700" dirty="0">
              <a:latin typeface="+mn-ea"/>
            </a:endParaRPr>
          </a:p>
        </p:txBody>
      </p:sp>
      <p:grpSp>
        <p:nvGrpSpPr>
          <p:cNvPr id="159" name="그룹 158"/>
          <p:cNvGrpSpPr/>
          <p:nvPr/>
        </p:nvGrpSpPr>
        <p:grpSpPr>
          <a:xfrm flipV="1">
            <a:off x="3140949" y="2095286"/>
            <a:ext cx="91438" cy="45719"/>
            <a:chOff x="6812560" y="3297172"/>
            <a:chExt cx="94010" cy="47005"/>
          </a:xfrm>
        </p:grpSpPr>
        <p:cxnSp>
          <p:nvCxnSpPr>
            <p:cNvPr id="160" name="직선 연결선 15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1" name="직선 연결선 16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모서리가 둥근 직사각형 172"/>
          <p:cNvSpPr/>
          <p:nvPr/>
        </p:nvSpPr>
        <p:spPr>
          <a:xfrm>
            <a:off x="1467218" y="2039778"/>
            <a:ext cx="606633" cy="149124"/>
          </a:xfrm>
          <a:prstGeom prst="roundRect">
            <a:avLst>
              <a:gd name="adj" fmla="val 50000"/>
            </a:avLst>
          </a:prstGeom>
          <a:solidFill>
            <a:schemeClr val="bg1">
              <a:lumMod val="50000"/>
            </a:schemeClr>
          </a:solidFill>
          <a:ln w="12700">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171" name="모서리가 둥근 직사각형 170"/>
          <p:cNvSpPr/>
          <p:nvPr/>
        </p:nvSpPr>
        <p:spPr>
          <a:xfrm>
            <a:off x="1467219" y="2039778"/>
            <a:ext cx="305007" cy="149124"/>
          </a:xfrm>
          <a:prstGeom prst="roundRect">
            <a:avLst>
              <a:gd name="adj" fmla="val 50000"/>
            </a:avLst>
          </a:prstGeom>
          <a:solidFill>
            <a:srgbClr val="0070C0"/>
          </a:solidFill>
          <a:ln w="12700" cap="flat" cmpd="sng" algn="ctr">
            <a:noFill/>
            <a:prstDash val="solid"/>
          </a:ln>
          <a:effectLst/>
        </p:spPr>
        <p:txBody>
          <a:bodyPr rtlCol="0" anchor="ctr"/>
          <a:lstStyle/>
          <a:p>
            <a:pPr algn="ctr" fontAlgn="base" latinLnBrk="0">
              <a:spcBef>
                <a:spcPct val="0"/>
              </a:spcBef>
              <a:spcAft>
                <a:spcPct val="0"/>
              </a:spcAft>
            </a:pPr>
            <a:endParaRPr kumimoji="1" lang="ko-KR" altLang="en-US" sz="800" kern="0">
              <a:solidFill>
                <a:prstClr val="white"/>
              </a:solidFill>
              <a:latin typeface="맑은 고딕"/>
            </a:endParaRPr>
          </a:p>
        </p:txBody>
      </p:sp>
      <p:sp>
        <p:nvSpPr>
          <p:cNvPr id="172" name="TextBox 171">
            <a:extLst>
              <a:ext uri="{FF2B5EF4-FFF2-40B4-BE49-F238E27FC236}">
                <a16:creationId xmlns:a16="http://schemas.microsoft.com/office/drawing/2014/main" id="{FFC49AEA-2A8F-250C-A86A-A7751D9706C3}"/>
              </a:ext>
            </a:extLst>
          </p:cNvPr>
          <p:cNvSpPr txBox="1"/>
          <p:nvPr/>
        </p:nvSpPr>
        <p:spPr>
          <a:xfrm>
            <a:off x="1502989" y="2066318"/>
            <a:ext cx="233466" cy="107722"/>
          </a:xfrm>
          <a:prstGeom prst="rect">
            <a:avLst/>
          </a:prstGeom>
          <a:noFill/>
        </p:spPr>
        <p:txBody>
          <a:bodyPr wrap="square" lIns="0" tIns="0" rIns="0" bIns="0" rtlCol="0">
            <a:spAutoFit/>
          </a:bodyPr>
          <a:lstStyle/>
          <a:p>
            <a:pPr algn="ctr"/>
            <a:r>
              <a:rPr lang="ko-KR" altLang="en-US" sz="700" dirty="0">
                <a:solidFill>
                  <a:schemeClr val="bg1"/>
                </a:solidFill>
                <a:latin typeface="+mn-ea"/>
              </a:rPr>
              <a:t>개찰</a:t>
            </a:r>
          </a:p>
        </p:txBody>
      </p:sp>
      <p:sp>
        <p:nvSpPr>
          <p:cNvPr id="174" name="TextBox 173">
            <a:extLst>
              <a:ext uri="{FF2B5EF4-FFF2-40B4-BE49-F238E27FC236}">
                <a16:creationId xmlns:a16="http://schemas.microsoft.com/office/drawing/2014/main" id="{FFC49AEA-2A8F-250C-A86A-A7751D9706C3}"/>
              </a:ext>
            </a:extLst>
          </p:cNvPr>
          <p:cNvSpPr txBox="1"/>
          <p:nvPr/>
        </p:nvSpPr>
        <p:spPr>
          <a:xfrm>
            <a:off x="1793292" y="2066318"/>
            <a:ext cx="233466" cy="107722"/>
          </a:xfrm>
          <a:prstGeom prst="rect">
            <a:avLst/>
          </a:prstGeom>
          <a:noFill/>
        </p:spPr>
        <p:txBody>
          <a:bodyPr wrap="square" lIns="0" tIns="0" rIns="0" bIns="0" rtlCol="0">
            <a:spAutoFit/>
          </a:bodyPr>
          <a:lstStyle/>
          <a:p>
            <a:pPr algn="ctr"/>
            <a:r>
              <a:rPr lang="ko-KR" altLang="en-US" sz="700">
                <a:solidFill>
                  <a:schemeClr val="bg1"/>
                </a:solidFill>
                <a:latin typeface="+mn-ea"/>
              </a:rPr>
              <a:t>공고</a:t>
            </a:r>
            <a:endParaRPr lang="ko-KR" altLang="en-US" sz="700" dirty="0">
              <a:solidFill>
                <a:schemeClr val="bg1"/>
              </a:solidFill>
              <a:latin typeface="+mn-ea"/>
            </a:endParaRPr>
          </a:p>
        </p:txBody>
      </p:sp>
      <p:grpSp>
        <p:nvGrpSpPr>
          <p:cNvPr id="176" name="그룹 175">
            <a:extLst>
              <a:ext uri="{FF2B5EF4-FFF2-40B4-BE49-F238E27FC236}">
                <a16:creationId xmlns:a16="http://schemas.microsoft.com/office/drawing/2014/main" id="{8F2F56C4-B606-212C-F131-A4A30AE19BC8}"/>
              </a:ext>
            </a:extLst>
          </p:cNvPr>
          <p:cNvGrpSpPr/>
          <p:nvPr/>
        </p:nvGrpSpPr>
        <p:grpSpPr>
          <a:xfrm>
            <a:off x="1464781" y="2247765"/>
            <a:ext cx="859319" cy="188244"/>
            <a:chOff x="5613534" y="2854836"/>
            <a:chExt cx="804671" cy="188244"/>
          </a:xfrm>
        </p:grpSpPr>
        <p:sp>
          <p:nvSpPr>
            <p:cNvPr id="181"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2025-10-15</a:t>
              </a:r>
              <a:endParaRPr kumimoji="1" lang="en-US" sz="700" b="0" i="0" u="none" strike="noStrike" kern="0" cap="none" spc="0" normalizeH="0" baseline="0" noProof="0" dirty="0">
                <a:ln>
                  <a:noFill/>
                </a:ln>
                <a:effectLst/>
                <a:uLnTx/>
                <a:uFillTx/>
                <a:latin typeface="맑은 고딕"/>
              </a:endParaRPr>
            </a:p>
          </p:txBody>
        </p:sp>
        <p:pic>
          <p:nvPicPr>
            <p:cNvPr id="182" name="그림 181">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sp>
        <p:nvSpPr>
          <p:cNvPr id="178" name="TextBox 91">
            <a:extLst>
              <a:ext uri="{FF2B5EF4-FFF2-40B4-BE49-F238E27FC236}">
                <a16:creationId xmlns:a16="http://schemas.microsoft.com/office/drawing/2014/main" id="{02490888-B81F-0F94-5D5F-078AEEB39DDB}"/>
              </a:ext>
            </a:extLst>
          </p:cNvPr>
          <p:cNvSpPr txBox="1"/>
          <p:nvPr/>
        </p:nvSpPr>
        <p:spPr>
          <a:xfrm>
            <a:off x="2347279" y="2267712"/>
            <a:ext cx="80150" cy="138499"/>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a:r>
              <a:rPr lang="en-US" altLang="ko-KR" sz="900" dirty="0">
                <a:solidFill>
                  <a:prstClr val="black"/>
                </a:solidFill>
                <a:cs typeface="Pretendard Medium" panose="02000603000000020004" pitchFamily="50" charset="-127"/>
              </a:rPr>
              <a:t>~</a:t>
            </a:r>
            <a:endParaRPr lang="ko-KR" altLang="en-US" sz="900" dirty="0">
              <a:solidFill>
                <a:prstClr val="black"/>
              </a:solidFill>
              <a:cs typeface="Pretendard Medium" panose="02000603000000020004" pitchFamily="50" charset="-127"/>
            </a:endParaRPr>
          </a:p>
        </p:txBody>
      </p:sp>
      <p:grpSp>
        <p:nvGrpSpPr>
          <p:cNvPr id="3" name="그룹 2"/>
          <p:cNvGrpSpPr/>
          <p:nvPr/>
        </p:nvGrpSpPr>
        <p:grpSpPr>
          <a:xfrm>
            <a:off x="1464781" y="2478434"/>
            <a:ext cx="1845146" cy="188135"/>
            <a:chOff x="1430277" y="4057651"/>
            <a:chExt cx="1845146" cy="188135"/>
          </a:xfrm>
        </p:grpSpPr>
        <p:sp>
          <p:nvSpPr>
            <p:cNvPr id="189" name="사각형: 둥근 모서리 169">
              <a:extLst>
                <a:ext uri="{FF2B5EF4-FFF2-40B4-BE49-F238E27FC236}">
                  <a16:creationId xmlns:a16="http://schemas.microsoft.com/office/drawing/2014/main" id="{A28DD831-0E4B-31EE-CB08-9E188754698D}"/>
                </a:ext>
              </a:extLst>
            </p:cNvPr>
            <p:cNvSpPr/>
            <p:nvPr/>
          </p:nvSpPr>
          <p:spPr>
            <a:xfrm>
              <a:off x="1430277" y="4057651"/>
              <a:ext cx="582017" cy="188135"/>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solidFill>
                    <a:srgbClr val="0070C0"/>
                  </a:solidFill>
                  <a:latin typeface="맑은 고딕"/>
                  <a:ea typeface="맑은 고딕" panose="020B0503020000020004" pitchFamily="50" charset="-127"/>
                </a:rPr>
                <a:t>최근 </a:t>
              </a:r>
              <a:r>
                <a:rPr kumimoji="1" lang="en-US" altLang="ko-KR" sz="700" kern="0" dirty="0">
                  <a:solidFill>
                    <a:srgbClr val="0070C0"/>
                  </a:solidFill>
                  <a:latin typeface="맑은 고딕"/>
                  <a:ea typeface="맑은 고딕" panose="020B0503020000020004" pitchFamily="50" charset="-127"/>
                </a:rPr>
                <a:t>1</a:t>
              </a:r>
              <a:r>
                <a:rPr kumimoji="1" lang="ko-KR" altLang="en-US" sz="700" kern="0" dirty="0">
                  <a:solidFill>
                    <a:srgbClr val="0070C0"/>
                  </a:solidFill>
                  <a:latin typeface="맑은 고딕"/>
                  <a:ea typeface="맑은 고딕" panose="020B0503020000020004" pitchFamily="50" charset="-127"/>
                </a:rPr>
                <a:t>개월</a:t>
              </a:r>
              <a:endParaRPr kumimoji="1" lang="en-US" sz="700" kern="0" dirty="0">
                <a:solidFill>
                  <a:srgbClr val="0070C0"/>
                </a:solidFill>
                <a:latin typeface="맑은 고딕"/>
                <a:ea typeface="맑은 고딕" panose="020B0503020000020004" pitchFamily="50" charset="-127"/>
              </a:endParaRPr>
            </a:p>
          </p:txBody>
        </p:sp>
        <p:sp>
          <p:nvSpPr>
            <p:cNvPr id="190" name="사각형: 둥근 모서리 171">
              <a:extLst>
                <a:ext uri="{FF2B5EF4-FFF2-40B4-BE49-F238E27FC236}">
                  <a16:creationId xmlns:a16="http://schemas.microsoft.com/office/drawing/2014/main" id="{75BECEC6-4045-95B1-98C2-242CA0FC5A06}"/>
                </a:ext>
              </a:extLst>
            </p:cNvPr>
            <p:cNvSpPr/>
            <p:nvPr/>
          </p:nvSpPr>
          <p:spPr>
            <a:xfrm>
              <a:off x="2061841" y="4057651"/>
              <a:ext cx="582017" cy="188135"/>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r>
                <a:rPr kumimoji="1" lang="ko-KR" altLang="en-US" sz="700" kern="0" dirty="0">
                  <a:latin typeface="+mn-ea"/>
                </a:rPr>
                <a:t>최근 </a:t>
              </a:r>
              <a:r>
                <a:rPr kumimoji="1" lang="en-US" altLang="ko-KR" sz="700" kern="0" dirty="0">
                  <a:latin typeface="+mn-ea"/>
                </a:rPr>
                <a:t>3</a:t>
              </a:r>
              <a:r>
                <a:rPr kumimoji="1" lang="ko-KR" altLang="en-US" sz="700" kern="0" dirty="0">
                  <a:latin typeface="+mn-ea"/>
                </a:rPr>
                <a:t>개월</a:t>
              </a:r>
              <a:endParaRPr kumimoji="1" lang="en-US" altLang="ko-KR" sz="700" kern="0" dirty="0">
                <a:latin typeface="+mn-ea"/>
              </a:endParaRPr>
            </a:p>
          </p:txBody>
        </p:sp>
        <p:sp>
          <p:nvSpPr>
            <p:cNvPr id="191" name="사각형: 둥근 모서리 172">
              <a:extLst>
                <a:ext uri="{FF2B5EF4-FFF2-40B4-BE49-F238E27FC236}">
                  <a16:creationId xmlns:a16="http://schemas.microsoft.com/office/drawing/2014/main" id="{7F182F00-C81F-5F02-6A1E-826222B231A9}"/>
                </a:ext>
              </a:extLst>
            </p:cNvPr>
            <p:cNvSpPr/>
            <p:nvPr/>
          </p:nvSpPr>
          <p:spPr>
            <a:xfrm>
              <a:off x="2693406" y="4057651"/>
              <a:ext cx="582017" cy="188135"/>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pPr>
              <a:r>
                <a:rPr kumimoji="1" lang="ko-KR" altLang="en-US" sz="700" kern="0" dirty="0">
                  <a:solidFill>
                    <a:prstClr val="black"/>
                  </a:solidFill>
                  <a:latin typeface="+mn-ea"/>
                </a:rPr>
                <a:t>최근 </a:t>
              </a:r>
              <a:r>
                <a:rPr kumimoji="1" lang="en-US" altLang="ko-KR" sz="700" kern="0" dirty="0">
                  <a:solidFill>
                    <a:prstClr val="black"/>
                  </a:solidFill>
                  <a:latin typeface="+mn-ea"/>
                </a:rPr>
                <a:t>6</a:t>
              </a:r>
              <a:r>
                <a:rPr kumimoji="1" lang="ko-KR" altLang="en-US" sz="700" kern="0" dirty="0">
                  <a:solidFill>
                    <a:prstClr val="black"/>
                  </a:solidFill>
                  <a:latin typeface="+mn-ea"/>
                </a:rPr>
                <a:t>개월</a:t>
              </a:r>
              <a:endParaRPr kumimoji="1" lang="en-US" altLang="ko-KR" sz="700" kern="0" dirty="0">
                <a:solidFill>
                  <a:prstClr val="black"/>
                </a:solidFill>
                <a:latin typeface="+mn-ea"/>
              </a:endParaRPr>
            </a:p>
          </p:txBody>
        </p:sp>
      </p:grpSp>
      <p:grpSp>
        <p:nvGrpSpPr>
          <p:cNvPr id="195" name="그룹 194">
            <a:extLst>
              <a:ext uri="{FF2B5EF4-FFF2-40B4-BE49-F238E27FC236}">
                <a16:creationId xmlns:a16="http://schemas.microsoft.com/office/drawing/2014/main" id="{8F2F56C4-B606-212C-F131-A4A30AE19BC8}"/>
              </a:ext>
            </a:extLst>
          </p:cNvPr>
          <p:cNvGrpSpPr/>
          <p:nvPr/>
        </p:nvGrpSpPr>
        <p:grpSpPr>
          <a:xfrm>
            <a:off x="2450608" y="2247765"/>
            <a:ext cx="859319" cy="188244"/>
            <a:chOff x="5613534" y="2854836"/>
            <a:chExt cx="804671" cy="188244"/>
          </a:xfrm>
        </p:grpSpPr>
        <p:sp>
          <p:nvSpPr>
            <p:cNvPr id="196" name="사각형: 둥근 모서리 86">
              <a:extLst>
                <a:ext uri="{FF2B5EF4-FFF2-40B4-BE49-F238E27FC236}">
                  <a16:creationId xmlns:a16="http://schemas.microsoft.com/office/drawing/2014/main" id="{C84908FA-11D4-E687-3603-3EA5852F6FAE}"/>
                </a:ext>
              </a:extLst>
            </p:cNvPr>
            <p:cNvSpPr/>
            <p:nvPr/>
          </p:nvSpPr>
          <p:spPr>
            <a:xfrm>
              <a:off x="5613534" y="2854836"/>
              <a:ext cx="804671" cy="188244"/>
            </a:xfrm>
            <a:prstGeom prst="roundRect">
              <a:avLst>
                <a:gd name="adj" fmla="val 18659"/>
              </a:avLst>
            </a:prstGeom>
            <a:solidFill>
              <a:sysClr val="window" lastClr="FFFFFF"/>
            </a:solidFill>
            <a:ln w="9525" cap="flat" cmpd="sng" algn="ctr">
              <a:solidFill>
                <a:sysClr val="window" lastClr="FFFFFF">
                  <a:lumMod val="75000"/>
                </a:sysClr>
              </a:solidFill>
              <a:prstDash val="solid"/>
            </a:ln>
            <a:effectLst/>
          </p:spPr>
          <p:txBody>
            <a:bodyPr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2026-01-15</a:t>
              </a:r>
              <a:endParaRPr kumimoji="1" lang="en-US" sz="700" b="0" i="0" u="none" strike="noStrike" kern="0" cap="none" spc="0" normalizeH="0" baseline="0" noProof="0" dirty="0">
                <a:ln>
                  <a:noFill/>
                </a:ln>
                <a:effectLst/>
                <a:uLnTx/>
                <a:uFillTx/>
                <a:latin typeface="맑은 고딕"/>
              </a:endParaRPr>
            </a:p>
          </p:txBody>
        </p:sp>
        <p:pic>
          <p:nvPicPr>
            <p:cNvPr id="197" name="그림 196">
              <a:extLst>
                <a:ext uri="{FF2B5EF4-FFF2-40B4-BE49-F238E27FC236}">
                  <a16:creationId xmlns:a16="http://schemas.microsoft.com/office/drawing/2014/main" id="{B217D5BC-8335-EED4-D47A-F3F41108453E}"/>
                </a:ext>
              </a:extLst>
            </p:cNvPr>
            <p:cNvPicPr>
              <a:picLocks noChangeAspect="1"/>
            </p:cNvPicPr>
            <p:nvPr/>
          </p:nvPicPr>
          <p:blipFill>
            <a:blip r:embed="rId2"/>
            <a:stretch>
              <a:fillRect/>
            </a:stretch>
          </p:blipFill>
          <p:spPr>
            <a:xfrm>
              <a:off x="6265649" y="2876004"/>
              <a:ext cx="126296" cy="137278"/>
            </a:xfrm>
            <a:prstGeom prst="rect">
              <a:avLst/>
            </a:prstGeom>
          </p:spPr>
        </p:pic>
      </p:grpSp>
      <p:cxnSp>
        <p:nvCxnSpPr>
          <p:cNvPr id="199" name="직선 연결선 198">
            <a:extLst>
              <a:ext uri="{FF2B5EF4-FFF2-40B4-BE49-F238E27FC236}">
                <a16:creationId xmlns:a16="http://schemas.microsoft.com/office/drawing/2014/main" id="{E9293055-D5CD-4B9E-7F64-64B2D2CA7A52}"/>
              </a:ext>
            </a:extLst>
          </p:cNvPr>
          <p:cNvCxnSpPr/>
          <p:nvPr/>
        </p:nvCxnSpPr>
        <p:spPr>
          <a:xfrm>
            <a:off x="675399" y="279518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0" name="TextBox 199">
            <a:extLst>
              <a:ext uri="{FF2B5EF4-FFF2-40B4-BE49-F238E27FC236}">
                <a16:creationId xmlns:a16="http://schemas.microsoft.com/office/drawing/2014/main" id="{FFC49AEA-2A8F-250C-A86A-A7751D9706C3}"/>
              </a:ext>
            </a:extLst>
          </p:cNvPr>
          <p:cNvSpPr txBox="1"/>
          <p:nvPr/>
        </p:nvSpPr>
        <p:spPr>
          <a:xfrm>
            <a:off x="778515" y="2895300"/>
            <a:ext cx="2305144" cy="181140"/>
          </a:xfrm>
          <a:prstGeom prst="rect">
            <a:avLst/>
          </a:prstGeom>
          <a:noFill/>
        </p:spPr>
        <p:txBody>
          <a:bodyPr wrap="square" lIns="0" tIns="0" rIns="0" bIns="0" rtlCol="0">
            <a:spAutoFit/>
          </a:bodyPr>
          <a:lstStyle/>
          <a:p>
            <a:pPr>
              <a:lnSpc>
                <a:spcPct val="200000"/>
              </a:lnSpc>
            </a:pPr>
            <a:r>
              <a:rPr lang="ko-KR" altLang="en-US" sz="700" b="1" dirty="0" err="1">
                <a:latin typeface="+mn-ea"/>
              </a:rPr>
              <a:t>검색어</a:t>
            </a:r>
            <a:r>
              <a:rPr lang="ko-KR" altLang="en-US" sz="700" b="1" dirty="0">
                <a:latin typeface="+mn-ea"/>
              </a:rPr>
              <a:t> </a:t>
            </a:r>
            <a:r>
              <a:rPr lang="en-US" altLang="ko-KR" sz="700" b="1" dirty="0">
                <a:latin typeface="+mn-ea"/>
              </a:rPr>
              <a:t>(</a:t>
            </a:r>
            <a:r>
              <a:rPr lang="ko-KR" altLang="en-US" sz="700" b="1" dirty="0">
                <a:latin typeface="+mn-ea"/>
              </a:rPr>
              <a:t>일부 입력 가능</a:t>
            </a:r>
            <a:r>
              <a:rPr lang="en-US" altLang="ko-KR" sz="700" b="1" dirty="0">
                <a:latin typeface="+mn-ea"/>
              </a:rPr>
              <a:t>)</a:t>
            </a:r>
            <a:endParaRPr lang="ko-KR" altLang="en-US" sz="700" b="1" dirty="0">
              <a:latin typeface="+mn-ea"/>
            </a:endParaRPr>
          </a:p>
        </p:txBody>
      </p:sp>
      <p:grpSp>
        <p:nvGrpSpPr>
          <p:cNvPr id="201" name="그룹 200"/>
          <p:cNvGrpSpPr/>
          <p:nvPr/>
        </p:nvGrpSpPr>
        <p:grpSpPr>
          <a:xfrm flipV="1">
            <a:off x="3140949" y="2992990"/>
            <a:ext cx="91438" cy="45719"/>
            <a:chOff x="6812560" y="3297172"/>
            <a:chExt cx="94010" cy="47005"/>
          </a:xfrm>
        </p:grpSpPr>
        <p:cxnSp>
          <p:nvCxnSpPr>
            <p:cNvPr id="202" name="직선 연결선 20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04" name="모서리가 둥근 직사각형 203"/>
          <p:cNvSpPr/>
          <p:nvPr/>
        </p:nvSpPr>
        <p:spPr>
          <a:xfrm>
            <a:off x="1449284" y="3175791"/>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206" name="TextBox 205">
            <a:extLst>
              <a:ext uri="{FF2B5EF4-FFF2-40B4-BE49-F238E27FC236}">
                <a16:creationId xmlns:a16="http://schemas.microsoft.com/office/drawing/2014/main" id="{FFC49AEA-2A8F-250C-A86A-A7751D9706C3}"/>
              </a:ext>
            </a:extLst>
          </p:cNvPr>
          <p:cNvSpPr txBox="1"/>
          <p:nvPr/>
        </p:nvSpPr>
        <p:spPr>
          <a:xfrm>
            <a:off x="778515" y="3132291"/>
            <a:ext cx="670770" cy="1077218"/>
          </a:xfrm>
          <a:prstGeom prst="rect">
            <a:avLst/>
          </a:prstGeom>
          <a:noFill/>
        </p:spPr>
        <p:txBody>
          <a:bodyPr wrap="square" lIns="0" tIns="0" rIns="0" bIns="0" rtlCol="0">
            <a:spAutoFit/>
          </a:bodyPr>
          <a:lstStyle/>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err="1">
                <a:latin typeface="+mn-ea"/>
              </a:rPr>
              <a:t>부품번호</a:t>
            </a:r>
            <a:endParaRPr lang="en-US" altLang="ko-KR" sz="700" dirty="0">
              <a:latin typeface="+mn-ea"/>
            </a:endParaRPr>
          </a:p>
          <a:p>
            <a:pPr>
              <a:lnSpc>
                <a:spcPct val="200000"/>
              </a:lnSpc>
            </a:pPr>
            <a:r>
              <a:rPr lang="ko-KR" altLang="en-US" sz="700" dirty="0" err="1">
                <a:latin typeface="+mn-ea"/>
              </a:rPr>
              <a:t>보관함여부</a:t>
            </a:r>
            <a:endParaRPr lang="en-US" altLang="ko-KR" sz="700" dirty="0">
              <a:latin typeface="+mn-ea"/>
            </a:endParaRPr>
          </a:p>
        </p:txBody>
      </p:sp>
      <p:sp>
        <p:nvSpPr>
          <p:cNvPr id="207" name="모서리가 둥근 직사각형 206"/>
          <p:cNvSpPr/>
          <p:nvPr/>
        </p:nvSpPr>
        <p:spPr>
          <a:xfrm>
            <a:off x="1449284" y="339053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grpSp>
        <p:nvGrpSpPr>
          <p:cNvPr id="221" name="그룹 220"/>
          <p:cNvGrpSpPr/>
          <p:nvPr/>
        </p:nvGrpSpPr>
        <p:grpSpPr>
          <a:xfrm>
            <a:off x="670744" y="5614711"/>
            <a:ext cx="2712027" cy="617588"/>
            <a:chOff x="675399" y="5614711"/>
            <a:chExt cx="2712027" cy="617588"/>
          </a:xfrm>
        </p:grpSpPr>
        <p:sp>
          <p:nvSpPr>
            <p:cNvPr id="222" name="직사각형 22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3"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검색</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24"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266" name="모서리가 둥근 직사각형 265"/>
          <p:cNvSpPr/>
          <p:nvPr/>
        </p:nvSpPr>
        <p:spPr>
          <a:xfrm>
            <a:off x="1449284" y="4038677"/>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tx1"/>
                </a:solidFill>
              </a:rPr>
              <a:t>보관</a:t>
            </a:r>
          </a:p>
        </p:txBody>
      </p:sp>
      <p:sp>
        <p:nvSpPr>
          <p:cNvPr id="292" name="타원 291">
            <a:extLst>
              <a:ext uri="{FF2B5EF4-FFF2-40B4-BE49-F238E27FC236}">
                <a16:creationId xmlns:a16="http://schemas.microsoft.com/office/drawing/2014/main" id="{37A7FF4F-0EAA-1463-560A-D5EC24416103}"/>
              </a:ext>
            </a:extLst>
          </p:cNvPr>
          <p:cNvSpPr/>
          <p:nvPr/>
        </p:nvSpPr>
        <p:spPr>
          <a:xfrm>
            <a:off x="573754" y="292380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141" name="그룹 140"/>
          <p:cNvGrpSpPr/>
          <p:nvPr/>
        </p:nvGrpSpPr>
        <p:grpSpPr>
          <a:xfrm>
            <a:off x="3140952" y="4107141"/>
            <a:ext cx="91438" cy="45719"/>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55" name="모서리가 둥근 직사각형 54"/>
          <p:cNvSpPr/>
          <p:nvPr/>
        </p:nvSpPr>
        <p:spPr>
          <a:xfrm>
            <a:off x="1449284" y="3602031"/>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
        <p:nvSpPr>
          <p:cNvPr id="56" name="모서리가 둥근 직사각형 55"/>
          <p:cNvSpPr/>
          <p:nvPr/>
        </p:nvSpPr>
        <p:spPr>
          <a:xfrm>
            <a:off x="1449284" y="3816776"/>
            <a:ext cx="1845838" cy="187200"/>
          </a:xfrm>
          <a:prstGeom prst="roundRect">
            <a:avLst>
              <a:gd name="adj" fmla="val 17463"/>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ko-KR" altLang="en-US" sz="700" dirty="0">
                <a:solidFill>
                  <a:schemeClr val="bg1">
                    <a:lumMod val="65000"/>
                  </a:schemeClr>
                </a:solidFill>
              </a:rPr>
              <a:t>번호를 입력하세요</a:t>
            </a:r>
            <a:r>
              <a:rPr lang="en-US" altLang="ko-KR" sz="700" dirty="0">
                <a:solidFill>
                  <a:schemeClr val="bg1">
                    <a:lumMod val="65000"/>
                  </a:schemeClr>
                </a:solidFill>
              </a:rPr>
              <a:t>.</a:t>
            </a:r>
            <a:endParaRPr lang="ko-KR" altLang="en-US" sz="700" dirty="0">
              <a:solidFill>
                <a:schemeClr val="bg1">
                  <a:lumMod val="65000"/>
                </a:schemeClr>
              </a:solidFill>
            </a:endParaRPr>
          </a:p>
        </p:txBody>
      </p:sp>
    </p:spTree>
    <p:extLst>
      <p:ext uri="{BB962C8B-B14F-4D97-AF65-F5344CB8AC3E}">
        <p14:creationId xmlns:p14="http://schemas.microsoft.com/office/powerpoint/2010/main" val="273275265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309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10495" cy="211203"/>
          </a:xfrm>
          <a:prstGeom prst="rect">
            <a:avLst/>
          </a:prstGeom>
          <a:noFill/>
        </p:spPr>
        <p:txBody>
          <a:bodyPr wrap="none" lIns="36000" tIns="36000" rIns="36000" bIns="36000" rtlCol="0">
            <a:spAutoFit/>
          </a:bodyPr>
          <a:lstStyle/>
          <a:p>
            <a:r>
              <a:rPr lang="en-US" altLang="ko-KR" sz="900" b="1" dirty="0">
                <a:solidFill>
                  <a:prstClr val="black"/>
                </a:solidFill>
              </a:rPr>
              <a:t>1.1</a:t>
            </a:r>
            <a:r>
              <a:rPr lang="en-US" altLang="ko-KR" sz="900" b="1">
                <a:solidFill>
                  <a:prstClr val="black"/>
                </a:solidFill>
              </a:rPr>
              <a:t>. </a:t>
            </a:r>
            <a:r>
              <a:rPr lang="ko-KR" altLang="en-US" sz="900" b="1">
                <a:solidFill>
                  <a:prstClr val="black"/>
                </a:solidFill>
              </a:rPr>
              <a:t>보관함품목 검색조건 </a:t>
            </a:r>
            <a:r>
              <a:rPr lang="en-US" altLang="ko-KR" sz="900" b="1">
                <a:solidFill>
                  <a:prstClr val="black"/>
                </a:solidFill>
              </a:rPr>
              <a:t>(dm_searchInfo)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867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일자구분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srchYmdSe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검색할 일자구분자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구분코드 </a:t>
                      </a:r>
                      <a:r>
                        <a:rPr lang="en-US" altLang="ko-KR" sz="800">
                          <a:latin typeface="+mn-ea"/>
                          <a:ea typeface="+mn-ea"/>
                        </a:rPr>
                        <a:t>GTSB0001(</a:t>
                      </a:r>
                      <a:r>
                        <a:rPr lang="ko-KR" altLang="en-US" sz="800">
                          <a:latin typeface="+mn-ea"/>
                          <a:ea typeface="+mn-ea"/>
                        </a:rPr>
                        <a:t>개찰일자</a:t>
                      </a:r>
                      <a:r>
                        <a:rPr lang="en-US" altLang="ko-KR" sz="800">
                          <a:latin typeface="+mn-ea"/>
                          <a:ea typeface="+mn-ea"/>
                        </a:rPr>
                        <a:t>, </a:t>
                      </a:r>
                      <a:r>
                        <a:rPr lang="ko-KR" altLang="en-US" sz="800">
                          <a:latin typeface="+mn-ea"/>
                          <a:ea typeface="+mn-ea"/>
                        </a:rPr>
                        <a:t>입찰참가</a:t>
                      </a:r>
                      <a:r>
                        <a:rPr lang="en-US" altLang="ko-KR" sz="800">
                          <a:latin typeface="+mn-ea"/>
                          <a:ea typeface="+mn-ea"/>
                        </a:rPr>
                        <a:t>, </a:t>
                      </a:r>
                      <a:r>
                        <a:rPr lang="ko-KR" altLang="en-US" sz="800">
                          <a:latin typeface="+mn-ea"/>
                          <a:ea typeface="+mn-ea"/>
                        </a:rPr>
                        <a:t>입찰서제출</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기준일자시작</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srchEndYmd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기준일자시작</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a:solidFill>
                            <a:srgbClr val="000000"/>
                          </a:solidFill>
                          <a:effectLst/>
                          <a:latin typeface="+mn-ea"/>
                          <a:ea typeface="+mn-ea"/>
                        </a:rPr>
                        <a:t>기준일자끝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srchBgngYmd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기준일자끝</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1121168"/>
                  </a:ext>
                </a:extLst>
              </a:tr>
              <a:tr h="0">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N</a:t>
                      </a:r>
                      <a:endParaRPr lang="ko-KR" altLang="en-US"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25474453"/>
                  </a:ext>
                </a:extLst>
              </a:tr>
              <a:tr h="0">
                <a:tc>
                  <a:txBody>
                    <a:bodyPr/>
                    <a:lstStyle/>
                    <a:p>
                      <a:pPr algn="l" fontAlgn="ctr"/>
                      <a:r>
                        <a:rPr lang="ko-KR" altLang="en-US" sz="800" b="0" i="0" u="none" strike="noStrike">
                          <a:solidFill>
                            <a:srgbClr val="000000"/>
                          </a:solidFill>
                          <a:effectLst/>
                          <a:latin typeface="+mn-ea"/>
                          <a:ea typeface="+mn-ea"/>
                        </a:rPr>
                        <a:t>재고번호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품목의 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N</a:t>
                      </a:r>
                      <a:endParaRPr lang="ko-KR" altLang="en-US"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2530895"/>
                  </a:ext>
                </a:extLst>
              </a:tr>
              <a:tr h="0">
                <a:tc>
                  <a:txBody>
                    <a:bodyPr/>
                    <a:lstStyle/>
                    <a:p>
                      <a:pPr algn="l" fontAlgn="ctr"/>
                      <a:r>
                        <a:rPr lang="ko-KR" altLang="en-US" sz="800" b="0" i="0" u="none" strike="noStrike">
                          <a:solidFill>
                            <a:srgbClr val="000000"/>
                          </a:solidFill>
                          <a:effectLst/>
                          <a:latin typeface="+mn-ea"/>
                          <a:ea typeface="+mn-ea"/>
                        </a:rPr>
                        <a:t>부품번호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폼목의</a:t>
                      </a:r>
                      <a:r>
                        <a:rPr lang="ko-KR" altLang="en-US" sz="800" b="0" i="0" u="none" strike="noStrike" dirty="0">
                          <a:solidFill>
                            <a:srgbClr val="000000"/>
                          </a:solidFill>
                          <a:effectLst/>
                          <a:latin typeface="+mn-ea"/>
                          <a:ea typeface="+mn-ea"/>
                        </a:rPr>
                        <a:t> 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N</a:t>
                      </a:r>
                      <a:endParaRPr lang="ko-KR" altLang="en-US"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2889392"/>
                  </a:ext>
                </a:extLst>
              </a:tr>
              <a:tr h="0">
                <a:tc>
                  <a:txBody>
                    <a:bodyPr/>
                    <a:lstStyle/>
                    <a:p>
                      <a:pPr algn="l" fontAlgn="ctr"/>
                      <a:r>
                        <a:rPr lang="ko-KR" altLang="en-US" sz="800" b="0" i="0" u="none" strike="noStrike">
                          <a:solidFill>
                            <a:srgbClr val="000000"/>
                          </a:solidFill>
                          <a:effectLst/>
                          <a:latin typeface="+mn-ea"/>
                          <a:ea typeface="+mn-ea"/>
                        </a:rPr>
                        <a:t>보관함여부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lockerYn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a:solidFill>
                            <a:srgbClr val="000000"/>
                          </a:solidFill>
                          <a:effectLst/>
                          <a:latin typeface="+mn-ea"/>
                          <a:ea typeface="+mn-ea"/>
                        </a:rPr>
                        <a:t>보관함에 추가된 품목인지 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a:latin typeface="+mn-ea"/>
                          <a:ea typeface="+mn-ea"/>
                        </a:rPr>
                        <a:t>N</a:t>
                      </a:r>
                      <a:endParaRPr lang="ko-KR" altLang="en-US"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5868777"/>
                  </a:ext>
                </a:extLst>
              </a:tr>
            </a:tbl>
          </a:graphicData>
        </a:graphic>
      </p:graphicFrame>
      <p:sp>
        <p:nvSpPr>
          <p:cNvPr id="8" name="TextBox 7">
            <a:extLst>
              <a:ext uri="{FF2B5EF4-FFF2-40B4-BE49-F238E27FC236}">
                <a16:creationId xmlns:a16="http://schemas.microsoft.com/office/drawing/2014/main" id="{E5ED50AF-87A5-B4A3-77D6-79745A71255B}"/>
              </a:ext>
            </a:extLst>
          </p:cNvPr>
          <p:cNvSpPr txBox="1"/>
          <p:nvPr/>
        </p:nvSpPr>
        <p:spPr>
          <a:xfrm>
            <a:off x="452291" y="3018484"/>
            <a:ext cx="2474002" cy="211203"/>
          </a:xfrm>
          <a:prstGeom prst="rect">
            <a:avLst/>
          </a:prstGeom>
          <a:noFill/>
        </p:spPr>
        <p:txBody>
          <a:bodyPr wrap="none" lIns="36000" tIns="36000" rIns="36000" bIns="36000" rtlCol="0">
            <a:spAutoFit/>
          </a:bodyPr>
          <a:lstStyle/>
          <a:p>
            <a:r>
              <a:rPr lang="en-US" altLang="ko-KR" sz="900" b="1" dirty="0">
                <a:solidFill>
                  <a:prstClr val="black"/>
                </a:solidFill>
              </a:rPr>
              <a:t>1.2</a:t>
            </a:r>
            <a:r>
              <a:rPr lang="en-US" altLang="ko-KR" sz="900" b="1">
                <a:solidFill>
                  <a:prstClr val="black"/>
                </a:solidFill>
              </a:rPr>
              <a:t>. </a:t>
            </a:r>
            <a:r>
              <a:rPr lang="ko-KR" altLang="en-US" sz="900" b="1">
                <a:solidFill>
                  <a:prstClr val="black"/>
                </a:solidFill>
              </a:rPr>
              <a:t>입찰품목목록 데이터 영역 </a:t>
            </a:r>
            <a:r>
              <a:rPr lang="en-US" altLang="ko-KR" sz="900" b="1">
                <a:solidFill>
                  <a:prstClr val="black"/>
                </a:solidFill>
              </a:rPr>
              <a:t>(dl_resultList)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5839F3F3-16EE-51B4-D780-C1A0CE7FF48C}"/>
              </a:ext>
            </a:extLst>
          </p:cNvPr>
          <p:cNvGraphicFramePr>
            <a:graphicFrameLocks noGrp="1"/>
          </p:cNvGraphicFramePr>
          <p:nvPr/>
        </p:nvGraphicFramePr>
        <p:xfrm>
          <a:off x="447173" y="3229687"/>
          <a:ext cx="8994883" cy="2908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공고번호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r h="0">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0839463"/>
                  </a:ext>
                </a:extLst>
              </a:tr>
              <a:tr h="0">
                <a:tc>
                  <a:txBody>
                    <a:bodyPr/>
                    <a:lstStyle/>
                    <a:p>
                      <a:pPr algn="l" fontAlgn="ctr"/>
                      <a:r>
                        <a:rPr lang="ko-KR" altLang="en-US" sz="800" b="0" i="0" u="none" strike="noStrike">
                          <a:solidFill>
                            <a:srgbClr val="000000"/>
                          </a:solidFill>
                          <a:effectLst/>
                          <a:latin typeface="+mn-ea"/>
                          <a:ea typeface="+mn-ea"/>
                        </a:rPr>
                        <a:t>항목번호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품목의 항목번호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809746"/>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품목의 재고번호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8237886"/>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폼목의 부품번호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5746876"/>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684965"/>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품목의 단위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6290597"/>
                  </a:ext>
                </a:extLst>
              </a:tr>
              <a:tr h="0">
                <a:tc>
                  <a:txBody>
                    <a:bodyPr/>
                    <a:lstStyle/>
                    <a:p>
                      <a:pPr algn="l" fontAlgn="ctr"/>
                      <a:r>
                        <a:rPr lang="ko-KR" altLang="en-US" sz="800" b="0" i="0" u="none" strike="noStrike">
                          <a:solidFill>
                            <a:srgbClr val="000000"/>
                          </a:solidFill>
                          <a:effectLst/>
                          <a:latin typeface="+mn-ea"/>
                          <a:ea typeface="+mn-ea"/>
                        </a:rPr>
                        <a:t>수량</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수량</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5491152"/>
                  </a:ext>
                </a:extLst>
              </a:tr>
              <a:tr h="0">
                <a:tc>
                  <a:txBody>
                    <a:bodyPr/>
                    <a:lstStyle/>
                    <a:p>
                      <a:pPr algn="l" fontAlgn="ctr"/>
                      <a:r>
                        <a:rPr lang="ko-KR" altLang="en-US" sz="800" b="0" i="0" u="none" strike="noStrike">
                          <a:solidFill>
                            <a:srgbClr val="000000"/>
                          </a:solidFill>
                          <a:effectLst/>
                          <a:latin typeface="+mn-ea"/>
                          <a:ea typeface="+mn-ea"/>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지시단가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7954286"/>
                  </a:ext>
                </a:extLst>
              </a:tr>
              <a:tr h="0">
                <a:tc>
                  <a:txBody>
                    <a:bodyPr/>
                    <a:lstStyle/>
                    <a:p>
                      <a:pPr algn="l" fontAlgn="ctr"/>
                      <a:r>
                        <a:rPr lang="ko-KR" altLang="en-US" sz="800" b="0" i="0" u="none" strike="noStrike">
                          <a:solidFill>
                            <a:srgbClr val="000000"/>
                          </a:solidFill>
                          <a:effectLst/>
                          <a:latin typeface="+mn-ea"/>
                          <a:ea typeface="+mn-ea"/>
                        </a:rPr>
                        <a:t>화폐단위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지시단가의 화폐단위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961819"/>
                  </a:ext>
                </a:extLst>
              </a:tr>
              <a:tr h="0">
                <a:tc>
                  <a:txBody>
                    <a:bodyPr/>
                    <a:lstStyle/>
                    <a:p>
                      <a:pPr algn="l" fontAlgn="ctr"/>
                      <a:r>
                        <a:rPr lang="ko-KR" altLang="en-US" sz="800" b="0" i="0" u="none" strike="noStrike">
                          <a:solidFill>
                            <a:srgbClr val="000000"/>
                          </a:solidFill>
                          <a:effectLst/>
                          <a:latin typeface="+mn-ea"/>
                          <a:ea typeface="+mn-ea"/>
                        </a:rPr>
                        <a:t>보관함여부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lockerYn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보관함에 추가된 품목인지 표시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R</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b="0">
                          <a:solidFill>
                            <a:schemeClr val="tx1"/>
                          </a:solidFill>
                          <a:latin typeface="+mn-ea"/>
                          <a:ea typeface="+mn-ea"/>
                        </a:rPr>
                        <a:t>값 </a:t>
                      </a:r>
                      <a:r>
                        <a:rPr lang="en-US" altLang="ko-KR" sz="800" b="0">
                          <a:solidFill>
                            <a:schemeClr val="tx1"/>
                          </a:solidFill>
                          <a:latin typeface="+mn-ea"/>
                          <a:ea typeface="+mn-ea"/>
                        </a:rPr>
                        <a:t>(Y, N)</a:t>
                      </a:r>
                      <a:endParaRPr lang="ko-KR" altLang="en-US" sz="800" b="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05913209"/>
                  </a:ext>
                </a:extLst>
              </a:tr>
              <a:tr h="0">
                <a:tc>
                  <a:txBody>
                    <a:bodyPr/>
                    <a:lstStyle/>
                    <a:p>
                      <a:pPr algn="l" fontAlgn="ctr"/>
                      <a:r>
                        <a:rPr lang="ko-KR" altLang="en-US" sz="800" b="0" i="0" u="none" strike="noStrike">
                          <a:solidFill>
                            <a:srgbClr val="000000"/>
                          </a:solidFill>
                          <a:effectLst/>
                          <a:latin typeface="+mn-ea"/>
                          <a:ea typeface="+mn-ea"/>
                        </a:rPr>
                        <a:t>입찰내역작성여부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tmprBidCnEn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입찰내역 작성된 품목인지 표시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b="0">
                          <a:solidFill>
                            <a:schemeClr val="tx1"/>
                          </a:solidFill>
                          <a:latin typeface="+mn-ea"/>
                          <a:ea typeface="+mn-ea"/>
                        </a:rPr>
                        <a:t>값 </a:t>
                      </a:r>
                      <a:r>
                        <a:rPr lang="en-US" altLang="ko-KR" sz="800" b="0">
                          <a:solidFill>
                            <a:schemeClr val="tx1"/>
                          </a:solidFill>
                          <a:latin typeface="+mn-ea"/>
                          <a:ea typeface="+mn-ea"/>
                        </a:rPr>
                        <a:t>(Y, N)</a:t>
                      </a:r>
                      <a:endParaRPr lang="ko-KR" altLang="en-US" sz="800" b="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2591919"/>
                  </a:ext>
                </a:extLst>
              </a:tr>
            </a:tbl>
          </a:graphicData>
        </a:graphic>
      </p:graphicFrame>
      <p:sp>
        <p:nvSpPr>
          <p:cNvPr id="2" name="Text Box 73">
            <a:extLst>
              <a:ext uri="{FF2B5EF4-FFF2-40B4-BE49-F238E27FC236}">
                <a16:creationId xmlns:a16="http://schemas.microsoft.com/office/drawing/2014/main" id="{6596C6E5-8511-95E3-F3D2-FCFFE48FFEE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409148363"/>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310</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a:solidFill>
                  <a:prstClr val="black"/>
                </a:solidFill>
                <a:latin typeface="+mn-ea"/>
              </a:rPr>
              <a:t>2.</a:t>
            </a:r>
            <a:r>
              <a:rPr lang="ko-KR" altLang="en-US" sz="1000" b="1">
                <a:solidFill>
                  <a:prstClr val="black"/>
                </a:solidFill>
                <a:latin typeface="+mn-ea"/>
              </a:rPr>
              <a:t> 이벤트 설명</a:t>
            </a:r>
            <a:endParaRPr lang="ko-KR" altLang="en-US" sz="1000" b="1" dirty="0">
              <a:solidFill>
                <a:prstClr val="black"/>
              </a:solidFill>
              <a:latin typeface="+mn-ea"/>
            </a:endParaRPr>
          </a:p>
        </p:txBody>
      </p:sp>
      <p:sp>
        <p:nvSpPr>
          <p:cNvPr id="2" name="Text Box 73">
            <a:extLst>
              <a:ext uri="{FF2B5EF4-FFF2-40B4-BE49-F238E27FC236}">
                <a16:creationId xmlns:a16="http://schemas.microsoft.com/office/drawing/2014/main" id="{6596C6E5-8511-95E3-F3D2-FCFFE48FFEE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a:t>
            </a:r>
            <a:r>
              <a:rPr lang="en-US" altLang="ko-KR" sz="700">
                <a:solidFill>
                  <a:prstClr val="black"/>
                </a:solidFill>
                <a:latin typeface="+mn-ea"/>
              </a:rPr>
              <a:t>) </a:t>
            </a:r>
            <a:r>
              <a:rPr lang="ko-KR" altLang="en-US" sz="700">
                <a:solidFill>
                  <a:prstClr val="black"/>
                </a:solidFill>
                <a:latin typeface="+mn-ea"/>
              </a:rPr>
              <a:t>상세설계 </a:t>
            </a:r>
            <a:r>
              <a:rPr lang="ko-KR" altLang="en-US" sz="700" dirty="0">
                <a:solidFill>
                  <a:prstClr val="black"/>
                </a:solidFill>
                <a:latin typeface="+mn-ea"/>
              </a:rPr>
              <a:t>기간에 작성 예정</a:t>
            </a:r>
            <a:endParaRPr lang="en-US" altLang="ko-KR" sz="700" dirty="0">
              <a:solidFill>
                <a:prstClr val="black"/>
              </a:solidFill>
              <a:latin typeface="+mn-ea"/>
            </a:endParaRPr>
          </a:p>
        </p:txBody>
      </p:sp>
      <p:graphicFrame>
        <p:nvGraphicFramePr>
          <p:cNvPr id="6" name="표 5">
            <a:extLst>
              <a:ext uri="{FF2B5EF4-FFF2-40B4-BE49-F238E27FC236}">
                <a16:creationId xmlns:a16="http://schemas.microsoft.com/office/drawing/2014/main" id="{88323539-5B01-5A98-0306-670ED46DA89A}"/>
              </a:ext>
            </a:extLst>
          </p:cNvPr>
          <p:cNvGraphicFramePr>
            <a:graphicFrameLocks noGrp="1"/>
          </p:cNvGraphicFramePr>
          <p:nvPr/>
        </p:nvGraphicFramePr>
        <p:xfrm>
          <a:off x="458117" y="799547"/>
          <a:ext cx="8995591" cy="969600"/>
        </p:xfrm>
        <a:graphic>
          <a:graphicData uri="http://schemas.openxmlformats.org/drawingml/2006/table">
            <a:tbl>
              <a:tblPr>
                <a:tableStyleId>{616DA210-FB5B-4158-B5E0-FEB733F419BA}</a:tableStyleId>
              </a:tblPr>
              <a:tblGrid>
                <a:gridCol w="1437358">
                  <a:extLst>
                    <a:ext uri="{9D8B030D-6E8A-4147-A177-3AD203B41FA5}">
                      <a16:colId xmlns:a16="http://schemas.microsoft.com/office/drawing/2014/main" val="20000"/>
                    </a:ext>
                  </a:extLst>
                </a:gridCol>
                <a:gridCol w="1476375">
                  <a:extLst>
                    <a:ext uri="{9D8B030D-6E8A-4147-A177-3AD203B41FA5}">
                      <a16:colId xmlns:a16="http://schemas.microsoft.com/office/drawing/2014/main" val="624624882"/>
                    </a:ext>
                  </a:extLst>
                </a:gridCol>
                <a:gridCol w="3657600">
                  <a:extLst>
                    <a:ext uri="{9D8B030D-6E8A-4147-A177-3AD203B41FA5}">
                      <a16:colId xmlns:a16="http://schemas.microsoft.com/office/drawing/2014/main" val="20001"/>
                    </a:ext>
                  </a:extLst>
                </a:gridCol>
                <a:gridCol w="2424258">
                  <a:extLst>
                    <a:ext uri="{9D8B030D-6E8A-4147-A177-3AD203B41FA5}">
                      <a16:colId xmlns:a16="http://schemas.microsoft.com/office/drawing/2014/main" val="20002"/>
                    </a:ext>
                  </a:extLst>
                </a:gridCol>
              </a:tblGrid>
              <a:tr h="0">
                <a:tc>
                  <a:txBody>
                    <a:bodyPr/>
                    <a:lstStyle/>
                    <a:p>
                      <a:pPr algn="l" latinLnBrk="1"/>
                      <a:r>
                        <a:rPr lang="ko-KR" altLang="en-US" sz="800" b="1" dirty="0">
                          <a:latin typeface="+mn-ea"/>
                          <a:ea typeface="+mn-ea"/>
                        </a:rPr>
                        <a:t>이벤트명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l"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l"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l"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104593">
                <a:tc>
                  <a:txBody>
                    <a:bodyPr/>
                    <a:lstStyle/>
                    <a:p>
                      <a:pPr algn="l"/>
                      <a:r>
                        <a:rPr lang="ko-KR" altLang="en-US" sz="800"/>
                        <a:t>검색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scwin.btn_search_onclick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검색조건의 입찰품목목록 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입찰품목목록조회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4100933"/>
                  </a:ext>
                </a:extLst>
              </a:tr>
              <a:tr h="0">
                <a:tc>
                  <a:txBody>
                    <a:bodyPr/>
                    <a:lstStyle/>
                    <a:p>
                      <a:pPr algn="l"/>
                      <a:r>
                        <a:rPr lang="ko-KR" altLang="en-US" sz="800"/>
                        <a:t>보관함삭제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scnwin.btn_deleteItem_onclick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a:r>
                        <a:rPr lang="ko-KR" altLang="en-US" sz="800">
                          <a:latin typeface="+mn-ea"/>
                          <a:ea typeface="+mn-ea"/>
                        </a:rPr>
                        <a:t>선택된 품목을 보관함에 추가함</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보관함추가</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1043613"/>
                  </a:ext>
                </a:extLst>
              </a:tr>
              <a:tr h="0">
                <a:tc>
                  <a:txBody>
                    <a:bodyPr/>
                    <a:lstStyle/>
                    <a:p>
                      <a:pPr algn="l" fontAlgn="ctr"/>
                      <a:r>
                        <a:rPr lang="ko-KR" altLang="en-US" sz="800" b="0" i="0" u="none" strike="noStrike">
                          <a:solidFill>
                            <a:srgbClr val="000000"/>
                          </a:solidFill>
                          <a:effectLst/>
                          <a:latin typeface="+mn-ea"/>
                          <a:ea typeface="+mn-ea"/>
                        </a:rPr>
                        <a:t>보관함추가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scnwin.btn_addItem_onclick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a:r>
                        <a:rPr lang="ko-KR" altLang="en-US" sz="800">
                          <a:latin typeface="+mn-ea"/>
                          <a:ea typeface="+mn-ea"/>
                        </a:rPr>
                        <a:t>선택된 품목을 보관함에서 제거함</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보관함삭제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6503860"/>
                  </a:ext>
                </a:extLst>
              </a:tr>
            </a:tbl>
          </a:graphicData>
        </a:graphic>
      </p:graphicFrame>
    </p:spTree>
    <p:extLst>
      <p:ext uri="{BB962C8B-B14F-4D97-AF65-F5344CB8AC3E}">
        <p14:creationId xmlns:p14="http://schemas.microsoft.com/office/powerpoint/2010/main" val="2284587390"/>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88900" indent="-88900">
              <a:buFont typeface="+mj-lt"/>
              <a:buAutoNum type="arabicPeriod"/>
            </a:pPr>
            <a:r>
              <a:rPr lang="ko-KR" altLang="en-US" dirty="0"/>
              <a:t>타이틀 표시</a:t>
            </a:r>
            <a:endParaRPr lang="en-US" altLang="ko-KR" dirty="0"/>
          </a:p>
          <a:p>
            <a:pPr marL="88900" indent="-88900">
              <a:buFont typeface="+mj-lt"/>
              <a:buAutoNum type="arabicPeriod"/>
            </a:pPr>
            <a:r>
              <a:rPr lang="ko-KR" altLang="en-US" dirty="0"/>
              <a:t>탭 메뉴</a:t>
            </a:r>
            <a:endParaRPr lang="en-US" altLang="ko-KR" dirty="0"/>
          </a:p>
          <a:p>
            <a:pPr marL="88900" indent="-88900">
              <a:buFont typeface="+mj-lt"/>
              <a:buAutoNum type="arabicPeriod"/>
            </a:pPr>
            <a:r>
              <a:rPr lang="ko-KR" altLang="en-US" dirty="0" err="1"/>
              <a:t>일반정보에</a:t>
            </a:r>
            <a:r>
              <a:rPr lang="ko-KR" altLang="en-US" dirty="0"/>
              <a:t> 포함된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311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입찰내역</a:t>
            </a:r>
            <a:r>
              <a:rPr lang="ko-KR" altLang="en-US" dirty="0">
                <a:latin typeface="+mn-ea"/>
              </a:rPr>
              <a:t> 작성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fontAlgn="ctr"/>
            <a:r>
              <a:rPr lang="ko-KR" altLang="en-US" dirty="0">
                <a:latin typeface="+mn-ea"/>
              </a:rPr>
              <a:t>보관함에 추가된 사업 품목에 대한 </a:t>
            </a:r>
            <a:r>
              <a:rPr lang="ko-KR" altLang="en-US" dirty="0" err="1">
                <a:latin typeface="+mn-ea"/>
              </a:rPr>
              <a:t>입찰내역을</a:t>
            </a:r>
            <a:r>
              <a:rPr lang="ko-KR" altLang="en-US" dirty="0">
                <a:latin typeface="+mn-ea"/>
              </a:rPr>
              <a:t> 작성하는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err="1">
                <a:latin typeface="+mn-ea"/>
              </a:rPr>
              <a:t>입찰내역</a:t>
            </a:r>
            <a:r>
              <a:rPr lang="ko-KR" altLang="en-US" dirty="0">
                <a:latin typeface="+mn-ea"/>
              </a:rPr>
              <a:t> 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MUI-BD-01-M76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err="1">
                <a:latin typeface="+mn-ea"/>
              </a:rPr>
              <a:t>입찰내역</a:t>
            </a:r>
            <a:r>
              <a:rPr lang="ko-KR" altLang="en-US" sz="800" dirty="0">
                <a:latin typeface="+mn-ea"/>
              </a:rPr>
              <a:t> 작성</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085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158410"/>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493475"/>
            <a:ext cx="769441" cy="4154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입찰참가등록마감일시</a:t>
            </a:r>
            <a:endParaRPr lang="en-US" altLang="ko-KR" sz="600" dirty="0">
              <a:latin typeface="+mn-ea"/>
            </a:endParaRPr>
          </a:p>
          <a:p>
            <a:pPr>
              <a:lnSpc>
                <a:spcPct val="150000"/>
              </a:lnSpc>
            </a:pPr>
            <a:r>
              <a:rPr lang="ko-KR" altLang="en-US" sz="600" dirty="0">
                <a:latin typeface="+mn-ea"/>
              </a:rPr>
              <a:t>입찰서제출마감일시</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77067" y="2478086"/>
            <a:ext cx="628377" cy="4154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2026-03-17 15:00</a:t>
            </a:r>
          </a:p>
          <a:p>
            <a:pPr algn="r">
              <a:lnSpc>
                <a:spcPct val="150000"/>
              </a:lnSpc>
            </a:pPr>
            <a:r>
              <a:rPr lang="en-US" altLang="ko-KR" sz="600" dirty="0">
                <a:latin typeface="+mn-ea"/>
              </a:rPr>
              <a:t>2026-03-26 11:00</a:t>
            </a:r>
          </a:p>
          <a:p>
            <a:pPr>
              <a:lnSpc>
                <a:spcPct val="150000"/>
              </a:lnSpc>
            </a:pPr>
            <a:r>
              <a:rPr lang="en-US" altLang="ko-KR" sz="600" dirty="0">
                <a:latin typeface="+mn-ea"/>
              </a:rPr>
              <a:t>2026-03-30</a:t>
            </a:r>
            <a:endParaRPr lang="ko-KR" altLang="en-US" sz="600" dirty="0">
              <a:latin typeface="+mn-ea"/>
            </a:endParaRP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298242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33368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120234"/>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83459" y="3120234"/>
            <a:ext cx="447776" cy="107722"/>
          </a:xfrm>
          <a:prstGeom prst="rect">
            <a:avLst/>
          </a:prstGeom>
          <a:noFill/>
        </p:spPr>
        <p:txBody>
          <a:bodyPr wrap="square" lIns="0" tIns="0" rIns="0" bIns="0" rtlCol="0">
            <a:spAutoFit/>
          </a:bodyPr>
          <a:lstStyle/>
          <a:p>
            <a:pPr algn="ctr"/>
            <a:r>
              <a:rPr lang="ko-KR" altLang="en-US" sz="700" dirty="0">
                <a:latin typeface="+mn-ea"/>
              </a:rPr>
              <a:t>품목 목록</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3336841"/>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082111"/>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77" name="타원 27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4802272"/>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299917"/>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81" name="타원 180">
            <a:extLst>
              <a:ext uri="{FF2B5EF4-FFF2-40B4-BE49-F238E27FC236}">
                <a16:creationId xmlns:a16="http://schemas.microsoft.com/office/drawing/2014/main" id="{37A7FF4F-0EAA-1463-560A-D5EC24416103}"/>
              </a:ext>
            </a:extLst>
          </p:cNvPr>
          <p:cNvSpPr/>
          <p:nvPr/>
        </p:nvSpPr>
        <p:spPr>
          <a:xfrm>
            <a:off x="571127" y="308803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4022" y="2467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3867701" y="2250612"/>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386991" y="2250612"/>
            <a:ext cx="447776" cy="107722"/>
          </a:xfrm>
          <a:prstGeom prst="rect">
            <a:avLst/>
          </a:prstGeom>
          <a:noFill/>
        </p:spPr>
        <p:txBody>
          <a:bodyPr wrap="square" lIns="0" tIns="0" rIns="0" bIns="0" rtlCol="0">
            <a:spAutoFit/>
          </a:bodyPr>
          <a:lstStyle/>
          <a:p>
            <a:pPr algn="ctr"/>
            <a:r>
              <a:rPr lang="ko-KR" altLang="en-US" sz="700" dirty="0">
                <a:latin typeface="+mn-ea"/>
              </a:rPr>
              <a:t>품목 목록</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24022" y="2467219"/>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1" name="그룹 230"/>
          <p:cNvGrpSpPr/>
          <p:nvPr/>
        </p:nvGrpSpPr>
        <p:grpSpPr>
          <a:xfrm>
            <a:off x="6027618" y="2212489"/>
            <a:ext cx="422853" cy="187961"/>
            <a:chOff x="3641308" y="2234886"/>
            <a:chExt cx="422853" cy="187961"/>
          </a:xfrm>
        </p:grpSpPr>
        <p:sp>
          <p:nvSpPr>
            <p:cNvPr id="232" name="타원 23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5400000" flipH="1">
              <a:off x="3679895" y="2305364"/>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4" name="타원 23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6" name="그룹 245"/>
            <p:cNvGrpSpPr/>
            <p:nvPr/>
          </p:nvGrpSpPr>
          <p:grpSpPr>
            <a:xfrm rot="16200000">
              <a:off x="3931564" y="2305364"/>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32" name="타원 331">
            <a:extLst>
              <a:ext uri="{FF2B5EF4-FFF2-40B4-BE49-F238E27FC236}">
                <a16:creationId xmlns:a16="http://schemas.microsoft.com/office/drawing/2014/main" id="{37A7FF4F-0EAA-1463-560A-D5EC24416103}"/>
              </a:ext>
            </a:extLst>
          </p:cNvPr>
          <p:cNvSpPr/>
          <p:nvPr/>
        </p:nvSpPr>
        <p:spPr>
          <a:xfrm>
            <a:off x="566514" y="353636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49" name="모서리가 둥근 직사각형 148"/>
          <p:cNvSpPr/>
          <p:nvPr/>
        </p:nvSpPr>
        <p:spPr>
          <a:xfrm>
            <a:off x="1220691" y="1974079"/>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150" name="모서리가 둥근 직사각형 149"/>
          <p:cNvSpPr/>
          <p:nvPr/>
        </p:nvSpPr>
        <p:spPr>
          <a:xfrm>
            <a:off x="777000" y="197407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155" name="모서리가 둥근 직사각형 154"/>
          <p:cNvSpPr/>
          <p:nvPr/>
        </p:nvSpPr>
        <p:spPr>
          <a:xfrm>
            <a:off x="4308907" y="1599113"/>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156" name="모서리가 둥근 직사각형 155"/>
          <p:cNvSpPr/>
          <p:nvPr/>
        </p:nvSpPr>
        <p:spPr>
          <a:xfrm>
            <a:off x="3865216" y="1599113"/>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grpSp>
        <p:nvGrpSpPr>
          <p:cNvPr id="208" name="그룹 207"/>
          <p:cNvGrpSpPr/>
          <p:nvPr/>
        </p:nvGrpSpPr>
        <p:grpSpPr>
          <a:xfrm>
            <a:off x="3795735" y="2596493"/>
            <a:ext cx="2712026" cy="944800"/>
            <a:chOff x="3795735" y="4570486"/>
            <a:chExt cx="2712026" cy="944800"/>
          </a:xfrm>
        </p:grpSpPr>
        <p:sp>
          <p:nvSpPr>
            <p:cNvPr id="209" name="TextBox 208">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210" name="그룹 209"/>
            <p:cNvGrpSpPr/>
            <p:nvPr/>
          </p:nvGrpSpPr>
          <p:grpSpPr>
            <a:xfrm flipV="1">
              <a:off x="6240167" y="4729163"/>
              <a:ext cx="94010" cy="47005"/>
              <a:chOff x="6812560" y="3297172"/>
              <a:chExt cx="94010" cy="47005"/>
            </a:xfrm>
          </p:grpSpPr>
          <p:cxnSp>
            <p:nvCxnSpPr>
              <p:cNvPr id="219" name="직선 연결선 2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0" name="직선 연결선 21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TextBox 210">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모서리가 둥근 직사각형 214"/>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TextBox 215">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17" name="TextBox 216">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8" name="그룹 127"/>
          <p:cNvGrpSpPr/>
          <p:nvPr/>
        </p:nvGrpSpPr>
        <p:grpSpPr>
          <a:xfrm>
            <a:off x="716366" y="3464186"/>
            <a:ext cx="2630093" cy="2454885"/>
            <a:chOff x="701175" y="1527996"/>
            <a:chExt cx="2630093" cy="2454885"/>
          </a:xfrm>
        </p:grpSpPr>
        <p:sp>
          <p:nvSpPr>
            <p:cNvPr id="129" name="TextBox 128">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30" name="그룹 129"/>
            <p:cNvGrpSpPr/>
            <p:nvPr/>
          </p:nvGrpSpPr>
          <p:grpSpPr>
            <a:xfrm flipV="1">
              <a:off x="3124233" y="1641327"/>
              <a:ext cx="94010" cy="47005"/>
              <a:chOff x="6812560" y="3297172"/>
              <a:chExt cx="94010" cy="47005"/>
            </a:xfrm>
          </p:grpSpPr>
          <p:cxnSp>
            <p:nvCxnSpPr>
              <p:cNvPr id="153" name="직선 연결선 1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4" name="직선 연결선 15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1" name="직사각형 130"/>
            <p:cNvSpPr/>
            <p:nvPr/>
          </p:nvSpPr>
          <p:spPr>
            <a:xfrm>
              <a:off x="703268" y="1835482"/>
              <a:ext cx="792000" cy="21473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2" name="TextBox 131">
              <a:extLst>
                <a:ext uri="{FF2B5EF4-FFF2-40B4-BE49-F238E27FC236}">
                  <a16:creationId xmlns:a16="http://schemas.microsoft.com/office/drawing/2014/main" id="{FFC49AEA-2A8F-250C-A86A-A7751D9706C3}"/>
                </a:ext>
              </a:extLst>
            </p:cNvPr>
            <p:cNvSpPr txBox="1"/>
            <p:nvPr/>
          </p:nvSpPr>
          <p:spPr>
            <a:xfrm>
              <a:off x="790330" y="1835481"/>
              <a:ext cx="728979" cy="125835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입찰방식</a:t>
              </a:r>
            </a:p>
            <a:p>
              <a:pPr>
                <a:lnSpc>
                  <a:spcPct val="200000"/>
                </a:lnSpc>
              </a:pPr>
              <a:r>
                <a:rPr lang="ko-KR" altLang="en-US" sz="700" dirty="0">
                  <a:latin typeface="+mn-ea"/>
                </a:rPr>
                <a:t>계약방법</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1547180" y="1835481"/>
              <a:ext cx="1775839" cy="212013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일반투찰</a:t>
              </a:r>
              <a:endParaRPr lang="ko-KR" altLang="en-US" sz="700" dirty="0">
                <a:latin typeface="+mn-ea"/>
              </a:endParaRPr>
            </a:p>
            <a:p>
              <a:pPr>
                <a:lnSpc>
                  <a:spcPct val="200000"/>
                </a:lnSpc>
              </a:pPr>
              <a:r>
                <a:rPr lang="ko-KR" altLang="en-US" sz="700" dirty="0">
                  <a:latin typeface="+mn-ea"/>
                </a:rPr>
                <a:t>일반경쟁</a:t>
              </a:r>
            </a:p>
            <a:p>
              <a:pPr>
                <a:lnSpc>
                  <a:spcPct val="200000"/>
                </a:lnSpc>
              </a:pPr>
              <a:r>
                <a:rPr lang="en-US" altLang="ko-KR" sz="700" dirty="0">
                  <a:latin typeface="+mn-ea"/>
                </a:rPr>
                <a:t>2025-03-02 15:00:00</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a:p>
              <a:pPr>
                <a:lnSpc>
                  <a:spcPct val="200000"/>
                </a:lnSpc>
              </a:pPr>
              <a:r>
                <a:rPr lang="en-US" altLang="ko-KR" sz="700" dirty="0">
                  <a:latin typeface="+mn-ea"/>
                </a:rPr>
                <a:t>2025-02-13</a:t>
              </a:r>
            </a:p>
          </p:txBody>
        </p:sp>
        <p:grpSp>
          <p:nvGrpSpPr>
            <p:cNvPr id="134" name="그룹 133"/>
            <p:cNvGrpSpPr/>
            <p:nvPr/>
          </p:nvGrpSpPr>
          <p:grpSpPr>
            <a:xfrm>
              <a:off x="701175" y="1835481"/>
              <a:ext cx="2630093" cy="2147400"/>
              <a:chOff x="701175" y="1835481"/>
              <a:chExt cx="2630093" cy="2147400"/>
            </a:xfrm>
          </p:grpSpPr>
          <p:cxnSp>
            <p:nvCxnSpPr>
              <p:cNvPr id="138" name="직선 연결선 13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9" name="직선 연결선 13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2" name="직선 연결선 141">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3" name="직선 연결선 142">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5" name="TextBox 134">
              <a:extLst>
                <a:ext uri="{FF2B5EF4-FFF2-40B4-BE49-F238E27FC236}">
                  <a16:creationId xmlns:a16="http://schemas.microsoft.com/office/drawing/2014/main" id="{FFC49AEA-2A8F-250C-A86A-A7751D9706C3}"/>
                </a:ext>
              </a:extLst>
            </p:cNvPr>
            <p:cNvSpPr txBox="1"/>
            <p:nvPr/>
          </p:nvSpPr>
          <p:spPr>
            <a:xfrm>
              <a:off x="790330" y="3120649"/>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790330" y="3337737"/>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137" name="TextBox 136">
              <a:extLst>
                <a:ext uri="{FF2B5EF4-FFF2-40B4-BE49-F238E27FC236}">
                  <a16:creationId xmlns:a16="http://schemas.microsoft.com/office/drawing/2014/main" id="{FFC49AEA-2A8F-250C-A86A-A7751D9706C3}"/>
                </a:ext>
              </a:extLst>
            </p:cNvPr>
            <p:cNvSpPr txBox="1"/>
            <p:nvPr/>
          </p:nvSpPr>
          <p:spPr>
            <a:xfrm>
              <a:off x="790330" y="3524557"/>
              <a:ext cx="728979" cy="430887"/>
            </a:xfrm>
            <a:prstGeom prst="rect">
              <a:avLst/>
            </a:prstGeom>
            <a:noFill/>
          </p:spPr>
          <p:txBody>
            <a:bodyPr wrap="square" lIns="0" tIns="0" rIns="0" bIns="0" rtlCol="0">
              <a:spAutoFit/>
            </a:bodyPr>
            <a:lstStyle/>
            <a:p>
              <a:pPr>
                <a:lnSpc>
                  <a:spcPct val="200000"/>
                </a:lnSpc>
              </a:pPr>
              <a:r>
                <a:rPr lang="ko-KR" altLang="en-US" sz="700" dirty="0" err="1">
                  <a:latin typeface="+mn-ea"/>
                </a:rPr>
                <a:t>개찰일자</a:t>
              </a:r>
              <a:endParaRPr lang="ko-KR" altLang="en-US" sz="700" dirty="0">
                <a:latin typeface="+mn-ea"/>
              </a:endParaRPr>
            </a:p>
            <a:p>
              <a:pPr>
                <a:lnSpc>
                  <a:spcPct val="200000"/>
                </a:lnSpc>
              </a:pPr>
              <a:r>
                <a:rPr lang="ko-KR" altLang="en-US" sz="700" dirty="0">
                  <a:latin typeface="+mn-ea"/>
                </a:rPr>
                <a:t>환율적용일자</a:t>
              </a:r>
              <a:endParaRPr lang="en-US" altLang="ko-KR" sz="700" dirty="0">
                <a:latin typeface="+mn-ea"/>
              </a:endParaRPr>
            </a:p>
          </p:txBody>
        </p:sp>
      </p:grpSp>
    </p:spTree>
    <p:extLst>
      <p:ext uri="{BB962C8B-B14F-4D97-AF65-F5344CB8AC3E}">
        <p14:creationId xmlns:p14="http://schemas.microsoft.com/office/powerpoint/2010/main" val="2343915003"/>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공고일반</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312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입찰내역</a:t>
            </a:r>
            <a:r>
              <a:rPr lang="ko-KR" altLang="en-US" dirty="0">
                <a:latin typeface="+mn-ea"/>
              </a:rPr>
              <a:t> 작성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보관함에 추가된 사업 품목에 대한 </a:t>
            </a:r>
            <a:r>
              <a:rPr lang="ko-KR" altLang="en-US" dirty="0" err="1">
                <a:latin typeface="+mn-ea"/>
              </a:rPr>
              <a:t>입찰내역을</a:t>
            </a:r>
            <a:r>
              <a:rPr lang="ko-KR" altLang="en-US" dirty="0">
                <a:latin typeface="+mn-ea"/>
              </a:rPr>
              <a:t> 작성하는 화면 </a:t>
            </a:r>
            <a:r>
              <a:rPr lang="en-US" altLang="ko-KR" dirty="0"/>
              <a:t>– </a:t>
            </a:r>
            <a:r>
              <a:rPr lang="ko-KR" altLang="en-US" dirty="0"/>
              <a:t>일반정보 탭 조회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err="1">
                <a:latin typeface="+mn-ea"/>
              </a:rPr>
              <a:t>입찰내역</a:t>
            </a:r>
            <a:r>
              <a:rPr lang="ko-KR" altLang="en-US" dirty="0">
                <a:latin typeface="+mn-ea"/>
              </a:rPr>
              <a:t> 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MUI-BD-01-M76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16366" y="1527996"/>
            <a:ext cx="2630093" cy="2454885"/>
            <a:chOff x="701175" y="1527996"/>
            <a:chExt cx="2630093" cy="2454885"/>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2"/>
              <a:ext cx="792000" cy="21473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728979" cy="125835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입찰방식</a:t>
              </a:r>
            </a:p>
            <a:p>
              <a:pPr>
                <a:lnSpc>
                  <a:spcPct val="200000"/>
                </a:lnSpc>
              </a:pPr>
              <a:r>
                <a:rPr lang="ko-KR" altLang="en-US" sz="700" dirty="0">
                  <a:latin typeface="+mn-ea"/>
                </a:rPr>
                <a:t>계약방법</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212013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일반투찰</a:t>
              </a:r>
              <a:endParaRPr lang="ko-KR" altLang="en-US" sz="700" dirty="0">
                <a:latin typeface="+mn-ea"/>
              </a:endParaRPr>
            </a:p>
            <a:p>
              <a:pPr>
                <a:lnSpc>
                  <a:spcPct val="200000"/>
                </a:lnSpc>
              </a:pPr>
              <a:r>
                <a:rPr lang="ko-KR" altLang="en-US" sz="700" dirty="0">
                  <a:latin typeface="+mn-ea"/>
                </a:rPr>
                <a:t>일반경쟁</a:t>
              </a:r>
            </a:p>
            <a:p>
              <a:pPr>
                <a:lnSpc>
                  <a:spcPct val="200000"/>
                </a:lnSpc>
              </a:pPr>
              <a:r>
                <a:rPr lang="en-US" altLang="ko-KR" sz="700" dirty="0">
                  <a:latin typeface="+mn-ea"/>
                </a:rPr>
                <a:t>2025-03-02 15:00:00</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a:p>
              <a:pPr>
                <a:lnSpc>
                  <a:spcPct val="200000"/>
                </a:lnSpc>
              </a:pPr>
              <a:r>
                <a:rPr lang="en-US" altLang="ko-KR" sz="700" dirty="0">
                  <a:latin typeface="+mn-ea"/>
                </a:rPr>
                <a:t>2025-02-13</a:t>
              </a:r>
            </a:p>
          </p:txBody>
        </p:sp>
        <p:grpSp>
          <p:nvGrpSpPr>
            <p:cNvPr id="17" name="그룹 16"/>
            <p:cNvGrpSpPr/>
            <p:nvPr/>
          </p:nvGrpSpPr>
          <p:grpSpPr>
            <a:xfrm>
              <a:off x="701175" y="1835481"/>
              <a:ext cx="2630093" cy="2147400"/>
              <a:chOff x="701175" y="1835481"/>
              <a:chExt cx="2630093" cy="214740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82" name="TextBox 81">
              <a:extLst>
                <a:ext uri="{FF2B5EF4-FFF2-40B4-BE49-F238E27FC236}">
                  <a16:creationId xmlns:a16="http://schemas.microsoft.com/office/drawing/2014/main" id="{FFC49AEA-2A8F-250C-A86A-A7751D9706C3}"/>
                </a:ext>
              </a:extLst>
            </p:cNvPr>
            <p:cNvSpPr txBox="1"/>
            <p:nvPr/>
          </p:nvSpPr>
          <p:spPr>
            <a:xfrm>
              <a:off x="790330" y="3120649"/>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83" name="TextBox 82">
              <a:extLst>
                <a:ext uri="{FF2B5EF4-FFF2-40B4-BE49-F238E27FC236}">
                  <a16:creationId xmlns:a16="http://schemas.microsoft.com/office/drawing/2014/main" id="{FFC49AEA-2A8F-250C-A86A-A7751D9706C3}"/>
                </a:ext>
              </a:extLst>
            </p:cNvPr>
            <p:cNvSpPr txBox="1"/>
            <p:nvPr/>
          </p:nvSpPr>
          <p:spPr>
            <a:xfrm>
              <a:off x="790330" y="3337737"/>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54" name="TextBox 53">
              <a:extLst>
                <a:ext uri="{FF2B5EF4-FFF2-40B4-BE49-F238E27FC236}">
                  <a16:creationId xmlns:a16="http://schemas.microsoft.com/office/drawing/2014/main" id="{FFC49AEA-2A8F-250C-A86A-A7751D9706C3}"/>
                </a:ext>
              </a:extLst>
            </p:cNvPr>
            <p:cNvSpPr txBox="1"/>
            <p:nvPr/>
          </p:nvSpPr>
          <p:spPr>
            <a:xfrm>
              <a:off x="790330" y="3524557"/>
              <a:ext cx="728979" cy="430887"/>
            </a:xfrm>
            <a:prstGeom prst="rect">
              <a:avLst/>
            </a:prstGeom>
            <a:noFill/>
          </p:spPr>
          <p:txBody>
            <a:bodyPr wrap="square" lIns="0" tIns="0" rIns="0" bIns="0" rtlCol="0">
              <a:spAutoFit/>
            </a:bodyPr>
            <a:lstStyle/>
            <a:p>
              <a:pPr>
                <a:lnSpc>
                  <a:spcPct val="200000"/>
                </a:lnSpc>
              </a:pPr>
              <a:r>
                <a:rPr lang="ko-KR" altLang="en-US" sz="700" dirty="0" err="1">
                  <a:latin typeface="+mn-ea"/>
                </a:rPr>
                <a:t>개찰일자</a:t>
              </a:r>
              <a:endParaRPr lang="ko-KR" altLang="en-US" sz="700" dirty="0">
                <a:latin typeface="+mn-ea"/>
              </a:endParaRPr>
            </a:p>
            <a:p>
              <a:pPr>
                <a:lnSpc>
                  <a:spcPct val="200000"/>
                </a:lnSpc>
              </a:pPr>
              <a:r>
                <a:rPr lang="ko-KR" altLang="en-US" sz="700" dirty="0">
                  <a:latin typeface="+mn-ea"/>
                </a:rPr>
                <a:t>환율적용일자</a:t>
              </a:r>
              <a:endParaRPr lang="en-US" altLang="ko-KR" sz="700" dirty="0">
                <a:latin typeface="+mn-ea"/>
              </a:endParaRPr>
            </a:p>
          </p:txBody>
        </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3" name="그룹 2"/>
          <p:cNvGrpSpPr/>
          <p:nvPr/>
        </p:nvGrpSpPr>
        <p:grpSpPr>
          <a:xfrm>
            <a:off x="675399" y="4073350"/>
            <a:ext cx="2712026" cy="931649"/>
            <a:chOff x="3795735" y="4583637"/>
            <a:chExt cx="2712026" cy="931649"/>
          </a:xfrm>
        </p:grpSpPr>
        <p:sp>
          <p:nvSpPr>
            <p:cNvPr id="68" name="TextBox 67">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69" name="그룹 68"/>
            <p:cNvGrpSpPr/>
            <p:nvPr/>
          </p:nvGrpSpPr>
          <p:grpSpPr>
            <a:xfrm flipV="1">
              <a:off x="6240167" y="4729163"/>
              <a:ext cx="94010" cy="47005"/>
              <a:chOff x="6812560" y="3297172"/>
              <a:chExt cx="94010" cy="47005"/>
            </a:xfrm>
          </p:grpSpPr>
          <p:cxnSp>
            <p:nvCxnSpPr>
              <p:cNvPr id="70" name="직선 연결선 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1" name="직선 연결선 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2" name="TextBox 71">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73" name="TextBox 72">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74" name="TextBox 73">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76" name="직선 연결선 75">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모서리가 둥근 직사각형 76"/>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TextBox 77">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79" name="TextBox 78">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98" name="직선 연결선 97">
              <a:extLst>
                <a:ext uri="{FF2B5EF4-FFF2-40B4-BE49-F238E27FC236}">
                  <a16:creationId xmlns:a16="http://schemas.microsoft.com/office/drawing/2014/main" id="{E9293055-D5CD-4B9E-7F64-64B2D2CA7A52}"/>
                </a:ext>
              </a:extLst>
            </p:cNvPr>
            <p:cNvCxnSpPr/>
            <p:nvPr/>
          </p:nvCxnSpPr>
          <p:spPr>
            <a:xfrm>
              <a:off x="3795735" y="4583637"/>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824520727"/>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직사각형 186"/>
          <p:cNvSpPr/>
          <p:nvPr/>
        </p:nvSpPr>
        <p:spPr>
          <a:xfrm>
            <a:off x="3820170" y="3974872"/>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직사각형 139"/>
          <p:cNvSpPr/>
          <p:nvPr/>
        </p:nvSpPr>
        <p:spPr>
          <a:xfrm>
            <a:off x="722060" y="1836758"/>
            <a:ext cx="792000" cy="4106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품목목록</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313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입찰내역</a:t>
            </a:r>
            <a:r>
              <a:rPr lang="ko-KR" altLang="en-US" dirty="0">
                <a:latin typeface="+mn-ea"/>
              </a:rPr>
              <a:t> 작성 </a:t>
            </a:r>
            <a:r>
              <a:rPr lang="en-US" altLang="ko-KR" dirty="0">
                <a:latin typeface="+mn-ea"/>
              </a:rPr>
              <a:t>- </a:t>
            </a:r>
            <a:r>
              <a:rPr lang="ko-KR" altLang="en-US" dirty="0" err="1">
                <a:latin typeface="+mn-ea"/>
              </a:rPr>
              <a:t>입찰내역</a:t>
            </a:r>
            <a:r>
              <a:rPr lang="ko-KR" altLang="en-US" dirty="0">
                <a:latin typeface="+mn-ea"/>
              </a:rPr>
              <a:t> </a:t>
            </a:r>
            <a:r>
              <a:rPr lang="en-US" altLang="ko-KR" dirty="0">
                <a:latin typeface="+mn-ea"/>
              </a:rPr>
              <a:t>(</a:t>
            </a:r>
            <a:r>
              <a:rPr lang="ko-KR" altLang="en-US" dirty="0" err="1">
                <a:latin typeface="+mn-ea"/>
              </a:rPr>
              <a:t>단가제</a:t>
            </a:r>
            <a:r>
              <a:rPr lang="en-US" altLang="ko-KR" dirty="0">
                <a:latin typeface="+mn-ea"/>
              </a:rPr>
              <a:t>)</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en-US" altLang="ko-KR" dirty="0">
                <a:latin typeface="+mn-ea"/>
              </a:rPr>
              <a:t>[</a:t>
            </a:r>
            <a:r>
              <a:rPr lang="ko-KR" altLang="en-US" dirty="0" err="1">
                <a:latin typeface="+mn-ea"/>
              </a:rPr>
              <a:t>단가제</a:t>
            </a:r>
            <a:r>
              <a:rPr lang="en-US" altLang="ko-KR" dirty="0">
                <a:latin typeface="+mn-ea"/>
              </a:rPr>
              <a:t>] </a:t>
            </a:r>
            <a:r>
              <a:rPr lang="ko-KR" altLang="en-US" dirty="0">
                <a:latin typeface="+mn-ea"/>
              </a:rPr>
              <a:t>보관함에 추가된 사업 품목에 대한 </a:t>
            </a:r>
            <a:r>
              <a:rPr lang="ko-KR" altLang="en-US" dirty="0" err="1">
                <a:latin typeface="+mn-ea"/>
              </a:rPr>
              <a:t>입찰내역을</a:t>
            </a:r>
            <a:r>
              <a:rPr lang="ko-KR" altLang="en-US" dirty="0">
                <a:latin typeface="+mn-ea"/>
              </a:rPr>
              <a:t> 작성하는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err="1">
                <a:latin typeface="+mn-ea"/>
              </a:rPr>
              <a:t>입찰내역</a:t>
            </a:r>
            <a:r>
              <a:rPr lang="ko-KR" altLang="en-US" dirty="0">
                <a:latin typeface="+mn-ea"/>
              </a:rPr>
              <a:t> 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MUI-BD-01-M77</a:t>
            </a:r>
            <a:endParaRPr lang="ko-KR" altLang="en-US" dirty="0"/>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2795014"/>
            <a:ext cx="1270852" cy="215444"/>
          </a:xfrm>
          <a:prstGeom prst="rect">
            <a:avLst/>
          </a:prstGeom>
          <a:noFill/>
        </p:spPr>
        <p:txBody>
          <a:bodyPr wrap="square" lIns="0" tIns="0" rIns="0" bIns="0" rtlCol="0">
            <a:spAutoFit/>
          </a:bodyPr>
          <a:lstStyle/>
          <a:p>
            <a:pPr>
              <a:lnSpc>
                <a:spcPct val="200000"/>
              </a:lnSpc>
            </a:pPr>
            <a:r>
              <a:rPr lang="ko-KR" altLang="en-US" sz="700" dirty="0">
                <a:latin typeface="+mn-ea"/>
              </a:rPr>
              <a:t>입찰 품목</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60" name="직사각형 159"/>
          <p:cNvSpPr/>
          <p:nvPr/>
        </p:nvSpPr>
        <p:spPr>
          <a:xfrm>
            <a:off x="703268" y="3102500"/>
            <a:ext cx="792000" cy="31297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3102499"/>
            <a:ext cx="725552" cy="3016210"/>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en-US" altLang="ko-KR" sz="700" dirty="0">
                <a:latin typeface="+mn-ea"/>
              </a:rPr>
              <a:t>MOQ</a:t>
            </a:r>
            <a:r>
              <a:rPr lang="ko-KR" altLang="en-US" sz="700" dirty="0">
                <a:latin typeface="+mn-ea"/>
              </a:rPr>
              <a:t>구분</a:t>
            </a:r>
          </a:p>
          <a:p>
            <a:pPr>
              <a:lnSpc>
                <a:spcPct val="200000"/>
              </a:lnSpc>
            </a:pPr>
            <a:r>
              <a:rPr lang="en-US" altLang="ko-KR" sz="700" dirty="0">
                <a:latin typeface="+mn-ea"/>
              </a:rPr>
              <a:t>MOQ</a:t>
            </a:r>
            <a:r>
              <a:rPr lang="ko-KR" altLang="en-US" sz="700" dirty="0">
                <a:latin typeface="+mn-ea"/>
              </a:rPr>
              <a:t>수량</a:t>
            </a:r>
          </a:p>
          <a:p>
            <a:pPr>
              <a:lnSpc>
                <a:spcPct val="200000"/>
              </a:lnSpc>
            </a:pPr>
            <a:r>
              <a:rPr lang="en-US" altLang="ko-KR" sz="700" dirty="0">
                <a:latin typeface="+mn-ea"/>
              </a:rPr>
              <a:t>MOQ</a:t>
            </a:r>
            <a:r>
              <a:rPr lang="ko-KR" altLang="en-US" sz="700" dirty="0" err="1">
                <a:latin typeface="+mn-ea"/>
              </a:rPr>
              <a:t>첨부문서</a:t>
            </a:r>
            <a:endParaRPr lang="ko-KR" altLang="en-US" sz="700" dirty="0">
              <a:latin typeface="+mn-ea"/>
            </a:endParaRPr>
          </a:p>
        </p:txBody>
      </p:sp>
      <p:grpSp>
        <p:nvGrpSpPr>
          <p:cNvPr id="17" name="그룹 16"/>
          <p:cNvGrpSpPr/>
          <p:nvPr/>
        </p:nvGrpSpPr>
        <p:grpSpPr>
          <a:xfrm>
            <a:off x="701175" y="3102499"/>
            <a:ext cx="2630093" cy="3006360"/>
            <a:chOff x="701175" y="1835481"/>
            <a:chExt cx="2630093" cy="300636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109" name="그룹 108">
            <a:extLst>
              <a:ext uri="{FF2B5EF4-FFF2-40B4-BE49-F238E27FC236}">
                <a16:creationId xmlns:a16="http://schemas.microsoft.com/office/drawing/2014/main" id="{22BC05EE-C648-7CA2-4CCC-6E1C1A7E9BDA}"/>
              </a:ext>
            </a:extLst>
          </p:cNvPr>
          <p:cNvGrpSpPr/>
          <p:nvPr/>
        </p:nvGrpSpPr>
        <p:grpSpPr>
          <a:xfrm>
            <a:off x="5113316" y="5058667"/>
            <a:ext cx="76863" cy="292489"/>
            <a:chOff x="3750067" y="4683795"/>
            <a:chExt cx="76863" cy="292489"/>
          </a:xfrm>
        </p:grpSpPr>
        <p:sp>
          <p:nvSpPr>
            <p:cNvPr id="110" name="타원 10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1" name="타원 11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2" name="타원 11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18" name="TextBox 11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19" name="그룹 118"/>
          <p:cNvGrpSpPr/>
          <p:nvPr/>
        </p:nvGrpSpPr>
        <p:grpSpPr>
          <a:xfrm>
            <a:off x="3821510" y="1493926"/>
            <a:ext cx="2630093" cy="2417558"/>
            <a:chOff x="701175" y="1800646"/>
            <a:chExt cx="2630093" cy="2417558"/>
          </a:xfrm>
        </p:grpSpPr>
        <p:sp>
          <p:nvSpPr>
            <p:cNvPr id="122" name="직사각형 121"/>
            <p:cNvSpPr/>
            <p:nvPr/>
          </p:nvSpPr>
          <p:spPr>
            <a:xfrm>
              <a:off x="703268" y="1800646"/>
              <a:ext cx="792000" cy="21892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790331" y="1835481"/>
              <a:ext cx="725552" cy="2154436"/>
            </a:xfrm>
            <a:prstGeom prst="rect">
              <a:avLst/>
            </a:prstGeom>
            <a:noFill/>
          </p:spPr>
          <p:txBody>
            <a:bodyPr wrap="square" lIns="0" tIns="0" rIns="0" bIns="0" rtlCol="0">
              <a:spAutoFit/>
            </a:bodyPr>
            <a:lstStyle/>
            <a:p>
              <a:pPr>
                <a:lnSpc>
                  <a:spcPct val="200000"/>
                </a:lnSpc>
              </a:pPr>
              <a:r>
                <a:rPr lang="ko-KR" altLang="en-US" sz="700" dirty="0">
                  <a:latin typeface="+mn-ea"/>
                </a:rPr>
                <a:t>납기</a:t>
              </a:r>
              <a:r>
                <a:rPr lang="en-US" altLang="ko-KR" sz="700" dirty="0">
                  <a:latin typeface="+mn-ea"/>
                </a:rPr>
                <a:t>(</a:t>
              </a:r>
              <a:r>
                <a:rPr lang="ko-KR" altLang="en-US" sz="700" dirty="0" err="1">
                  <a:latin typeface="+mn-ea"/>
                </a:rPr>
                <a:t>본조</a:t>
              </a:r>
              <a:r>
                <a:rPr lang="en-US" altLang="ko-KR" sz="700" dirty="0">
                  <a:latin typeface="+mn-ea"/>
                </a:rPr>
                <a:t>)</a:t>
              </a:r>
            </a:p>
            <a:p>
              <a:pPr>
                <a:lnSpc>
                  <a:spcPct val="200000"/>
                </a:lnSpc>
              </a:pPr>
              <a:r>
                <a:rPr lang="ko-KR" altLang="en-US" sz="700" dirty="0">
                  <a:latin typeface="+mn-ea"/>
                </a:rPr>
                <a:t>납기</a:t>
              </a:r>
              <a:r>
                <a:rPr lang="en-US" altLang="ko-KR" sz="700" dirty="0">
                  <a:latin typeface="+mn-ea"/>
                </a:rPr>
                <a:t>(</a:t>
              </a:r>
              <a:r>
                <a:rPr lang="ko-KR" altLang="en-US" sz="700" dirty="0">
                  <a:latin typeface="+mn-ea"/>
                </a:rPr>
                <a:t>당국</a:t>
              </a:r>
              <a:r>
                <a:rPr lang="en-US" altLang="ko-KR" sz="700" dirty="0">
                  <a:latin typeface="+mn-ea"/>
                </a:rPr>
                <a:t>)</a:t>
              </a:r>
            </a:p>
            <a:p>
              <a:pPr>
                <a:lnSpc>
                  <a:spcPct val="200000"/>
                </a:lnSpc>
              </a:pPr>
              <a:r>
                <a:rPr lang="ko-KR" altLang="en-US" sz="700" dirty="0">
                  <a:latin typeface="+mn-ea"/>
                </a:rPr>
                <a:t>납기</a:t>
              </a:r>
              <a:r>
                <a:rPr lang="en-US" altLang="ko-KR" sz="700" dirty="0">
                  <a:latin typeface="+mn-ea"/>
                </a:rPr>
                <a:t>(</a:t>
              </a:r>
              <a:r>
                <a:rPr lang="ko-KR" altLang="en-US" sz="700" dirty="0">
                  <a:latin typeface="+mn-ea"/>
                </a:rPr>
                <a:t>장국</a:t>
              </a:r>
              <a:r>
                <a:rPr lang="en-US" altLang="ko-KR" sz="700" dirty="0">
                  <a:latin typeface="+mn-ea"/>
                </a:rPr>
                <a:t>)</a:t>
              </a:r>
            </a:p>
            <a:p>
              <a:pPr>
                <a:lnSpc>
                  <a:spcPct val="200000"/>
                </a:lnSpc>
              </a:pPr>
              <a:r>
                <a:rPr lang="ko-KR" altLang="en-US" sz="700" dirty="0" err="1">
                  <a:latin typeface="+mn-ea"/>
                </a:rPr>
                <a:t>달러환산율</a:t>
              </a:r>
              <a:endParaRPr lang="ko-KR" altLang="en-US" sz="700" dirty="0">
                <a:latin typeface="+mn-ea"/>
              </a:endParaRPr>
            </a:p>
            <a:p>
              <a:pPr>
                <a:lnSpc>
                  <a:spcPct val="200000"/>
                </a:lnSpc>
              </a:pPr>
              <a:r>
                <a:rPr lang="ko-KR" altLang="en-US" sz="700" dirty="0" err="1">
                  <a:latin typeface="+mn-ea"/>
                </a:rPr>
                <a:t>입찰업체</a:t>
              </a:r>
              <a:endParaRPr lang="en-US" altLang="ko-KR" sz="700" dirty="0">
                <a:latin typeface="+mn-ea"/>
              </a:endParaRPr>
            </a:p>
            <a:p>
              <a:pPr>
                <a:lnSpc>
                  <a:spcPct val="200000"/>
                </a:lnSpc>
              </a:pPr>
              <a:r>
                <a:rPr lang="ko-KR" altLang="en-US" sz="700" dirty="0" err="1">
                  <a:latin typeface="+mn-ea"/>
                </a:rPr>
                <a:t>입찰단가</a:t>
              </a:r>
              <a:endParaRPr lang="ko-KR" altLang="en-US" sz="700" dirty="0">
                <a:latin typeface="+mn-ea"/>
              </a:endParaRPr>
            </a:p>
            <a:p>
              <a:pPr>
                <a:lnSpc>
                  <a:spcPct val="200000"/>
                </a:lnSpc>
              </a:pPr>
              <a:r>
                <a:rPr lang="ko-KR" altLang="en-US" sz="700" dirty="0">
                  <a:latin typeface="+mn-ea"/>
                </a:rPr>
                <a:t>입찰금액</a:t>
              </a:r>
              <a:endParaRPr lang="en-US" altLang="ko-KR" sz="700" dirty="0">
                <a:latin typeface="+mn-ea"/>
              </a:endParaRPr>
            </a:p>
            <a:p>
              <a:pPr>
                <a:lnSpc>
                  <a:spcPct val="200000"/>
                </a:lnSpc>
              </a:pPr>
              <a:r>
                <a:rPr lang="ko-KR" altLang="en-US" sz="700" dirty="0">
                  <a:latin typeface="+mn-ea"/>
                </a:rPr>
                <a:t>화폐단위</a:t>
              </a:r>
            </a:p>
            <a:p>
              <a:pPr>
                <a:lnSpc>
                  <a:spcPct val="200000"/>
                </a:lnSpc>
              </a:pPr>
              <a:r>
                <a:rPr lang="ko-KR" altLang="en-US" sz="700" dirty="0" err="1">
                  <a:latin typeface="+mn-ea"/>
                </a:rPr>
                <a:t>달러단가</a:t>
              </a:r>
              <a:endParaRPr lang="ko-KR" altLang="en-US" sz="700" dirty="0">
                <a:latin typeface="+mn-ea"/>
              </a:endParaRPr>
            </a:p>
            <a:p>
              <a:pPr>
                <a:lnSpc>
                  <a:spcPct val="200000"/>
                </a:lnSpc>
              </a:pPr>
              <a:r>
                <a:rPr lang="ko-KR" altLang="en-US" sz="700" dirty="0" err="1">
                  <a:latin typeface="+mn-ea"/>
                </a:rPr>
                <a:t>달러금액</a:t>
              </a:r>
              <a:endParaRPr lang="ko-KR" altLang="en-US"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1547180" y="1835481"/>
              <a:ext cx="1775839" cy="2154436"/>
            </a:xfrm>
            <a:prstGeom prst="rect">
              <a:avLst/>
            </a:prstGeom>
            <a:noFill/>
          </p:spPr>
          <p:txBody>
            <a:bodyPr wrap="square" lIns="0" tIns="0" rIns="0" bIns="0" rtlCol="0">
              <a:spAutoFit/>
            </a:bodyPr>
            <a:lstStyle/>
            <a:p>
              <a:pPr>
                <a:lnSpc>
                  <a:spcPct val="200000"/>
                </a:lnSpc>
              </a:pPr>
              <a:r>
                <a:rPr lang="en-US" altLang="ko-KR" sz="700" dirty="0">
                  <a:latin typeface="+mn-ea"/>
                </a:rPr>
                <a:t>2025-03-25</a:t>
              </a:r>
            </a:p>
            <a:p>
              <a:pPr>
                <a:lnSpc>
                  <a:spcPct val="200000"/>
                </a:lnSpc>
              </a:pPr>
              <a:r>
                <a:rPr lang="en-US" altLang="ko-KR" sz="700" dirty="0">
                  <a:latin typeface="+mn-ea"/>
                </a:rPr>
                <a:t>2025-03-25</a:t>
              </a:r>
            </a:p>
            <a:p>
              <a:pPr>
                <a:lnSpc>
                  <a:spcPct val="200000"/>
                </a:lnSpc>
              </a:pPr>
              <a:r>
                <a:rPr lang="en-US" altLang="ko-KR" sz="700" dirty="0">
                  <a:latin typeface="+mn-ea"/>
                </a:rPr>
                <a:t>2025-03-25</a:t>
              </a:r>
            </a:p>
            <a:p>
              <a:pPr algn="r">
                <a:lnSpc>
                  <a:spcPct val="200000"/>
                </a:lnSpc>
              </a:pPr>
              <a:r>
                <a:rPr lang="en-US" altLang="ko-KR" sz="700" dirty="0">
                  <a:latin typeface="+mn-ea"/>
                </a:rPr>
                <a:t>1.0000 USD</a:t>
              </a:r>
            </a:p>
            <a:p>
              <a:pPr algn="r">
                <a:lnSpc>
                  <a:spcPct val="200000"/>
                </a:lnSpc>
              </a:pPr>
              <a:endParaRPr lang="en-US" altLang="ko-KR" sz="700" dirty="0">
                <a:latin typeface="+mn-ea"/>
              </a:endParaRPr>
            </a:p>
            <a:p>
              <a:pPr algn="r">
                <a:lnSpc>
                  <a:spcPct val="200000"/>
                </a:lnSpc>
              </a:pPr>
              <a:endParaRPr lang="en-US" altLang="ko-KR" sz="700" dirty="0">
                <a:latin typeface="+mn-ea"/>
              </a:endParaRPr>
            </a:p>
            <a:p>
              <a:pPr algn="r">
                <a:lnSpc>
                  <a:spcPct val="200000"/>
                </a:lnSpc>
              </a:pPr>
              <a:r>
                <a:rPr lang="en-US" altLang="ko-KR" sz="700" dirty="0">
                  <a:latin typeface="+mn-ea"/>
                </a:rPr>
                <a:t>608,000.00</a:t>
              </a:r>
            </a:p>
            <a:p>
              <a:pPr>
                <a:lnSpc>
                  <a:spcPct val="200000"/>
                </a:lnSpc>
              </a:pPr>
              <a:endParaRPr lang="en-US" altLang="ko-KR" sz="700" dirty="0">
                <a:latin typeface="+mn-ea"/>
              </a:endParaRPr>
            </a:p>
            <a:p>
              <a:pPr algn="r">
                <a:lnSpc>
                  <a:spcPct val="200000"/>
                </a:lnSpc>
              </a:pPr>
              <a:r>
                <a:rPr lang="en-US" altLang="ko-KR" sz="700" dirty="0">
                  <a:solidFill>
                    <a:schemeClr val="tx1">
                      <a:lumMod val="85000"/>
                      <a:lumOff val="15000"/>
                    </a:schemeClr>
                  </a:solidFill>
                  <a:latin typeface="맑은 고딕" panose="020B0503020000020004" pitchFamily="50" charset="-127"/>
                </a:rPr>
                <a:t>1,464.30 KRW</a:t>
              </a:r>
            </a:p>
            <a:p>
              <a:pPr algn="r">
                <a:lnSpc>
                  <a:spcPct val="200000"/>
                </a:lnSpc>
              </a:pPr>
              <a:r>
                <a:rPr lang="en-US" altLang="ko-KR" sz="700" dirty="0">
                  <a:latin typeface="+mn-ea"/>
                </a:rPr>
                <a:t>608,000.00</a:t>
              </a:r>
            </a:p>
          </p:txBody>
        </p:sp>
        <p:grpSp>
          <p:nvGrpSpPr>
            <p:cNvPr id="125" name="그룹 124"/>
            <p:cNvGrpSpPr/>
            <p:nvPr/>
          </p:nvGrpSpPr>
          <p:grpSpPr>
            <a:xfrm>
              <a:off x="701175" y="1835481"/>
              <a:ext cx="2630093" cy="2382723"/>
              <a:chOff x="701175" y="1835481"/>
              <a:chExt cx="2630093" cy="2382723"/>
            </a:xfrm>
          </p:grpSpPr>
          <p:cxnSp>
            <p:nvCxnSpPr>
              <p:cNvPr id="126" name="직선 연결선 12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2" name="직선 연결선 61">
                <a:extLst>
                  <a:ext uri="{FF2B5EF4-FFF2-40B4-BE49-F238E27FC236}">
                    <a16:creationId xmlns:a16="http://schemas.microsoft.com/office/drawing/2014/main" id="{E9293055-D5CD-4B9E-7F64-64B2D2CA7A52}"/>
                  </a:ext>
                </a:extLst>
              </p:cNvPr>
              <p:cNvCxnSpPr/>
              <p:nvPr/>
            </p:nvCxnSpPr>
            <p:spPr>
              <a:xfrm>
                <a:off x="703268" y="25044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703268" y="270060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03268" y="29153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31355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3268" y="33390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03268" y="35700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703268" y="37902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399379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0" name="직선 연결선 189">
                <a:extLst>
                  <a:ext uri="{FF2B5EF4-FFF2-40B4-BE49-F238E27FC236}">
                    <a16:creationId xmlns:a16="http://schemas.microsoft.com/office/drawing/2014/main" id="{E9293055-D5CD-4B9E-7F64-64B2D2CA7A52}"/>
                  </a:ext>
                </a:extLst>
              </p:cNvPr>
              <p:cNvCxnSpPr/>
              <p:nvPr/>
            </p:nvCxnSpPr>
            <p:spPr>
              <a:xfrm>
                <a:off x="703268" y="42182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63" name="TextBox 162">
            <a:extLst>
              <a:ext uri="{FF2B5EF4-FFF2-40B4-BE49-F238E27FC236}">
                <a16:creationId xmlns:a16="http://schemas.microsoft.com/office/drawing/2014/main" id="{FFC49AEA-2A8F-250C-A86A-A7751D9706C3}"/>
              </a:ext>
            </a:extLst>
          </p:cNvPr>
          <p:cNvSpPr txBox="1"/>
          <p:nvPr/>
        </p:nvSpPr>
        <p:spPr>
          <a:xfrm>
            <a:off x="1547180" y="3102499"/>
            <a:ext cx="1784088" cy="3016210"/>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a:p>
            <a:pPr algn="r">
              <a:lnSpc>
                <a:spcPct val="200000"/>
              </a:lnSpc>
            </a:pPr>
            <a:r>
              <a:rPr lang="en-US" altLang="ko-KR" sz="700" dirty="0">
                <a:latin typeface="+mn-ea"/>
              </a:rPr>
              <a:t>608,000.00</a:t>
            </a:r>
          </a:p>
          <a:p>
            <a:pPr>
              <a:lnSpc>
                <a:spcPct val="200000"/>
              </a:lnSpc>
            </a:pPr>
            <a:endParaRPr lang="en-US" altLang="ko-KR" sz="700" dirty="0">
              <a:latin typeface="+mn-ea"/>
            </a:endParaRPr>
          </a:p>
          <a:p>
            <a:pPr>
              <a:lnSpc>
                <a:spcPct val="200000"/>
              </a:lnSpc>
            </a:pPr>
            <a:r>
              <a:rPr lang="en-US" altLang="ko-KR" sz="700" dirty="0">
                <a:latin typeface="+mn-ea"/>
              </a:rPr>
              <a:t>O</a:t>
            </a: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O</a:t>
            </a:r>
          </a:p>
        </p:txBody>
      </p:sp>
      <p:sp>
        <p:nvSpPr>
          <p:cNvPr id="61" name="사각형: 둥근 모서리 15">
            <a:extLst>
              <a:ext uri="{FF2B5EF4-FFF2-40B4-BE49-F238E27FC236}">
                <a16:creationId xmlns:a16="http://schemas.microsoft.com/office/drawing/2014/main" id="{E2B61CFB-AD16-68D0-8752-50D9C5E01971}"/>
              </a:ext>
            </a:extLst>
          </p:cNvPr>
          <p:cNvSpPr/>
          <p:nvPr/>
        </p:nvSpPr>
        <p:spPr>
          <a:xfrm>
            <a:off x="1561065" y="4633573"/>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Replace</a:t>
            </a:r>
            <a:endParaRPr kumimoji="1" lang="en-US" sz="700" b="0" i="0" u="none" strike="noStrike" kern="0" cap="none" spc="0" normalizeH="0" baseline="0" noProof="0" dirty="0">
              <a:ln>
                <a:noFill/>
              </a:ln>
              <a:effectLst/>
              <a:uLnTx/>
              <a:uFillTx/>
              <a:latin typeface="맑은 고딕"/>
            </a:endParaRPr>
          </a:p>
        </p:txBody>
      </p:sp>
      <p:grpSp>
        <p:nvGrpSpPr>
          <p:cNvPr id="64" name="그룹 63"/>
          <p:cNvGrpSpPr/>
          <p:nvPr/>
        </p:nvGrpSpPr>
        <p:grpSpPr>
          <a:xfrm>
            <a:off x="3124233" y="4691071"/>
            <a:ext cx="94010" cy="47005"/>
            <a:chOff x="6812560" y="3297172"/>
            <a:chExt cx="94010" cy="47005"/>
          </a:xfrm>
        </p:grpSpPr>
        <p:cxnSp>
          <p:nvCxnSpPr>
            <p:cNvPr id="65" name="직선 연결선 6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66" name="직선 연결선 6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67" name="사각형: 둥근 모서리 15">
            <a:extLst>
              <a:ext uri="{FF2B5EF4-FFF2-40B4-BE49-F238E27FC236}">
                <a16:creationId xmlns:a16="http://schemas.microsoft.com/office/drawing/2014/main" id="{E2B61CFB-AD16-68D0-8752-50D9C5E01971}"/>
              </a:ext>
            </a:extLst>
          </p:cNvPr>
          <p:cNvSpPr/>
          <p:nvPr/>
        </p:nvSpPr>
        <p:spPr>
          <a:xfrm>
            <a:off x="2836921" y="4845557"/>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업로드</a:t>
            </a:r>
            <a:endParaRPr kumimoji="1" lang="en-US" sz="700" b="0" i="0" u="none" strike="noStrike" kern="0" cap="none" spc="0" normalizeH="0" baseline="0" noProof="0" dirty="0">
              <a:ln>
                <a:noFill/>
              </a:ln>
              <a:effectLst/>
              <a:uLnTx/>
              <a:uFillTx/>
              <a:latin typeface="맑은 고딕"/>
            </a:endParaRPr>
          </a:p>
        </p:txBody>
      </p:sp>
      <p:sp>
        <p:nvSpPr>
          <p:cNvPr id="68" name="사각형: 둥근 모서리 15">
            <a:extLst>
              <a:ext uri="{FF2B5EF4-FFF2-40B4-BE49-F238E27FC236}">
                <a16:creationId xmlns:a16="http://schemas.microsoft.com/office/drawing/2014/main" id="{E2B61CFB-AD16-68D0-8752-50D9C5E01971}"/>
              </a:ext>
            </a:extLst>
          </p:cNvPr>
          <p:cNvSpPr/>
          <p:nvPr/>
        </p:nvSpPr>
        <p:spPr>
          <a:xfrm>
            <a:off x="1561065" y="5065559"/>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rPr>
              <a:t>입력해주세요</a:t>
            </a:r>
            <a:r>
              <a:rPr kumimoji="1" lang="en-US" altLang="ko-KR" sz="700" kern="0" dirty="0">
                <a:solidFill>
                  <a:schemeClr val="bg1">
                    <a:lumMod val="75000"/>
                  </a:schemeClr>
                </a:solidFill>
                <a:latin typeface="맑은 고딕"/>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72" name="사각형: 둥근 모서리 15">
            <a:extLst>
              <a:ext uri="{FF2B5EF4-FFF2-40B4-BE49-F238E27FC236}">
                <a16:creationId xmlns:a16="http://schemas.microsoft.com/office/drawing/2014/main" id="{E2B61CFB-AD16-68D0-8752-50D9C5E01971}"/>
              </a:ext>
            </a:extLst>
          </p:cNvPr>
          <p:cNvSpPr/>
          <p:nvPr/>
        </p:nvSpPr>
        <p:spPr>
          <a:xfrm>
            <a:off x="1561065" y="5278765"/>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rPr>
              <a:t>입력해주세요</a:t>
            </a:r>
            <a:r>
              <a:rPr kumimoji="1" lang="en-US" altLang="ko-KR" sz="700" kern="0" dirty="0">
                <a:solidFill>
                  <a:schemeClr val="bg1">
                    <a:lumMod val="75000"/>
                  </a:schemeClr>
                </a:solidFill>
                <a:latin typeface="맑은 고딕"/>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73" name="사각형: 둥근 모서리 15">
            <a:extLst>
              <a:ext uri="{FF2B5EF4-FFF2-40B4-BE49-F238E27FC236}">
                <a16:creationId xmlns:a16="http://schemas.microsoft.com/office/drawing/2014/main" id="{E2B61CFB-AD16-68D0-8752-50D9C5E01971}"/>
              </a:ext>
            </a:extLst>
          </p:cNvPr>
          <p:cNvSpPr/>
          <p:nvPr/>
        </p:nvSpPr>
        <p:spPr>
          <a:xfrm>
            <a:off x="1561065" y="5487477"/>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dirty="0">
                <a:latin typeface="맑은 고딕"/>
              </a:rPr>
              <a:t>Y</a:t>
            </a:r>
            <a:endParaRPr kumimoji="1" lang="en-US" sz="700" b="0" i="0" u="none" strike="noStrike" kern="0" cap="none" spc="0" normalizeH="0" baseline="0" noProof="0" dirty="0">
              <a:ln>
                <a:noFill/>
              </a:ln>
              <a:effectLst/>
              <a:uLnTx/>
              <a:uFillTx/>
              <a:latin typeface="맑은 고딕"/>
            </a:endParaRPr>
          </a:p>
        </p:txBody>
      </p:sp>
      <p:grpSp>
        <p:nvGrpSpPr>
          <p:cNvPr id="74" name="그룹 73"/>
          <p:cNvGrpSpPr/>
          <p:nvPr/>
        </p:nvGrpSpPr>
        <p:grpSpPr>
          <a:xfrm>
            <a:off x="3124233" y="5544975"/>
            <a:ext cx="94010" cy="47005"/>
            <a:chOff x="6812560" y="3297172"/>
            <a:chExt cx="94010" cy="47005"/>
          </a:xfrm>
        </p:grpSpPr>
        <p:cxnSp>
          <p:nvCxnSpPr>
            <p:cNvPr id="75" name="직선 연결선 7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6" name="직선 연결선 7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9" name="사각형: 둥근 모서리 15">
            <a:extLst>
              <a:ext uri="{FF2B5EF4-FFF2-40B4-BE49-F238E27FC236}">
                <a16:creationId xmlns:a16="http://schemas.microsoft.com/office/drawing/2014/main" id="{E2B61CFB-AD16-68D0-8752-50D9C5E01971}"/>
              </a:ext>
            </a:extLst>
          </p:cNvPr>
          <p:cNvSpPr/>
          <p:nvPr/>
        </p:nvSpPr>
        <p:spPr>
          <a:xfrm>
            <a:off x="2836921" y="5922125"/>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업로드</a:t>
            </a:r>
            <a:endParaRPr kumimoji="1" lang="en-US" sz="700" b="0" i="0" u="none" strike="noStrike" kern="0" cap="none" spc="0" normalizeH="0" baseline="0" noProof="0" dirty="0">
              <a:ln>
                <a:noFill/>
              </a:ln>
              <a:effectLst/>
              <a:uLnTx/>
              <a:uFillTx/>
              <a:latin typeface="맑은 고딕"/>
            </a:endParaRPr>
          </a:p>
        </p:txBody>
      </p:sp>
      <p:sp>
        <p:nvSpPr>
          <p:cNvPr id="80" name="사각형: 둥근 모서리 15">
            <a:extLst>
              <a:ext uri="{FF2B5EF4-FFF2-40B4-BE49-F238E27FC236}">
                <a16:creationId xmlns:a16="http://schemas.microsoft.com/office/drawing/2014/main" id="{E2B61CFB-AD16-68D0-8752-50D9C5E01971}"/>
              </a:ext>
            </a:extLst>
          </p:cNvPr>
          <p:cNvSpPr/>
          <p:nvPr/>
        </p:nvSpPr>
        <p:spPr>
          <a:xfrm>
            <a:off x="1561065" y="5703640"/>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rPr>
              <a:t>입력해주세요</a:t>
            </a:r>
            <a:r>
              <a:rPr kumimoji="1" lang="en-US" altLang="ko-KR" sz="700" kern="0" dirty="0">
                <a:solidFill>
                  <a:schemeClr val="bg1">
                    <a:lumMod val="75000"/>
                  </a:schemeClr>
                </a:solidFill>
                <a:latin typeface="맑은 고딕"/>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86" name="사각형: 둥근 모서리 15">
            <a:extLst>
              <a:ext uri="{FF2B5EF4-FFF2-40B4-BE49-F238E27FC236}">
                <a16:creationId xmlns:a16="http://schemas.microsoft.com/office/drawing/2014/main" id="{E2B61CFB-AD16-68D0-8752-50D9C5E01971}"/>
              </a:ext>
            </a:extLst>
          </p:cNvPr>
          <p:cNvSpPr/>
          <p:nvPr/>
        </p:nvSpPr>
        <p:spPr>
          <a:xfrm>
            <a:off x="4659266" y="2424051"/>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err="1">
                <a:latin typeface="맑은 고딕"/>
              </a:rPr>
              <a:t>미업체</a:t>
            </a:r>
            <a:endParaRPr kumimoji="1" lang="en-US" sz="700" b="0" i="0" u="none" strike="noStrike" kern="0" cap="none" spc="0" normalizeH="0" baseline="0" noProof="0" dirty="0">
              <a:ln>
                <a:noFill/>
              </a:ln>
              <a:effectLst/>
              <a:uLnTx/>
              <a:uFillTx/>
              <a:latin typeface="맑은 고딕"/>
            </a:endParaRPr>
          </a:p>
        </p:txBody>
      </p:sp>
      <p:grpSp>
        <p:nvGrpSpPr>
          <p:cNvPr id="87" name="그룹 86"/>
          <p:cNvGrpSpPr/>
          <p:nvPr/>
        </p:nvGrpSpPr>
        <p:grpSpPr>
          <a:xfrm>
            <a:off x="6222434" y="2481549"/>
            <a:ext cx="94010" cy="47005"/>
            <a:chOff x="6812560" y="3297172"/>
            <a:chExt cx="94010" cy="47005"/>
          </a:xfrm>
        </p:grpSpPr>
        <p:cxnSp>
          <p:nvCxnSpPr>
            <p:cNvPr id="88" name="직선 연결선 8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9" name="직선 연결선 8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0" name="사각형: 둥근 모서리 15">
            <a:extLst>
              <a:ext uri="{FF2B5EF4-FFF2-40B4-BE49-F238E27FC236}">
                <a16:creationId xmlns:a16="http://schemas.microsoft.com/office/drawing/2014/main" id="{E2B61CFB-AD16-68D0-8752-50D9C5E01971}"/>
              </a:ext>
            </a:extLst>
          </p:cNvPr>
          <p:cNvSpPr/>
          <p:nvPr/>
        </p:nvSpPr>
        <p:spPr>
          <a:xfrm>
            <a:off x="4659266" y="2632423"/>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rPr>
              <a:t>입력해주세요</a:t>
            </a:r>
            <a:r>
              <a:rPr kumimoji="1" lang="en-US" altLang="ko-KR" sz="700" kern="0" dirty="0">
                <a:solidFill>
                  <a:schemeClr val="bg1">
                    <a:lumMod val="75000"/>
                  </a:schemeClr>
                </a:solidFill>
                <a:latin typeface="맑은 고딕"/>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91" name="사각형: 둥근 모서리 15">
            <a:extLst>
              <a:ext uri="{FF2B5EF4-FFF2-40B4-BE49-F238E27FC236}">
                <a16:creationId xmlns:a16="http://schemas.microsoft.com/office/drawing/2014/main" id="{E2B61CFB-AD16-68D0-8752-50D9C5E01971}"/>
              </a:ext>
            </a:extLst>
          </p:cNvPr>
          <p:cNvSpPr/>
          <p:nvPr/>
        </p:nvSpPr>
        <p:spPr>
          <a:xfrm>
            <a:off x="4663578" y="306918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b="0" i="0" u="none" strike="noStrike" kern="0" cap="none" spc="0" normalizeH="0" baseline="0" noProof="0" dirty="0">
                <a:ln>
                  <a:noFill/>
                </a:ln>
                <a:effectLst/>
                <a:uLnTx/>
                <a:uFillTx/>
                <a:latin typeface="맑은 고딕"/>
              </a:rPr>
              <a:t>USD</a:t>
            </a:r>
          </a:p>
        </p:txBody>
      </p:sp>
      <p:grpSp>
        <p:nvGrpSpPr>
          <p:cNvPr id="92" name="그룹 91"/>
          <p:cNvGrpSpPr/>
          <p:nvPr/>
        </p:nvGrpSpPr>
        <p:grpSpPr>
          <a:xfrm>
            <a:off x="6226746" y="3126682"/>
            <a:ext cx="94010" cy="47005"/>
            <a:chOff x="6812560" y="3297172"/>
            <a:chExt cx="94010" cy="47005"/>
          </a:xfrm>
        </p:grpSpPr>
        <p:cxnSp>
          <p:nvCxnSpPr>
            <p:cNvPr id="93" name="직선 연결선 9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4" name="직선 연결선 9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9" name="사각형: 둥근 모서리 15">
            <a:extLst>
              <a:ext uri="{FF2B5EF4-FFF2-40B4-BE49-F238E27FC236}">
                <a16:creationId xmlns:a16="http://schemas.microsoft.com/office/drawing/2014/main" id="{E2B61CFB-AD16-68D0-8752-50D9C5E01971}"/>
              </a:ext>
            </a:extLst>
          </p:cNvPr>
          <p:cNvSpPr/>
          <p:nvPr/>
        </p:nvSpPr>
        <p:spPr>
          <a:xfrm>
            <a:off x="1561065" y="1845851"/>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err="1">
                <a:latin typeface="맑은 고딕"/>
              </a:rPr>
              <a:t>미업체</a:t>
            </a:r>
            <a:endParaRPr kumimoji="1" lang="en-US" sz="700" b="0" i="0" u="none" strike="noStrike" kern="0" cap="none" spc="0" normalizeH="0" baseline="0" noProof="0" dirty="0">
              <a:ln>
                <a:noFill/>
              </a:ln>
              <a:effectLst/>
              <a:uLnTx/>
              <a:uFillTx/>
              <a:latin typeface="맑은 고딕"/>
            </a:endParaRPr>
          </a:p>
        </p:txBody>
      </p:sp>
      <p:grpSp>
        <p:nvGrpSpPr>
          <p:cNvPr id="100" name="그룹 99"/>
          <p:cNvGrpSpPr/>
          <p:nvPr/>
        </p:nvGrpSpPr>
        <p:grpSpPr>
          <a:xfrm>
            <a:off x="3124233" y="1903349"/>
            <a:ext cx="94010" cy="47005"/>
            <a:chOff x="6812560" y="3297172"/>
            <a:chExt cx="94010" cy="47005"/>
          </a:xfrm>
        </p:grpSpPr>
        <p:cxnSp>
          <p:nvCxnSpPr>
            <p:cNvPr id="101" name="직선 연결선 10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2" name="직선 연결선 10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3" name="TextBox 102">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err="1">
                <a:latin typeface="+mn-ea"/>
              </a:rPr>
              <a:t>입찰내역</a:t>
            </a:r>
            <a:r>
              <a:rPr lang="ko-KR" altLang="en-US" sz="700" dirty="0">
                <a:latin typeface="+mn-ea"/>
              </a:rPr>
              <a:t> </a:t>
            </a:r>
            <a:r>
              <a:rPr lang="ko-KR" altLang="en-US" sz="700" dirty="0" err="1">
                <a:latin typeface="+mn-ea"/>
              </a:rPr>
              <a:t>일괄적용</a:t>
            </a:r>
            <a:endParaRPr lang="ko-KR" altLang="en-US" sz="700" dirty="0">
              <a:latin typeface="+mn-ea"/>
            </a:endParaRPr>
          </a:p>
        </p:txBody>
      </p:sp>
      <p:grpSp>
        <p:nvGrpSpPr>
          <p:cNvPr id="104" name="그룹 103"/>
          <p:cNvGrpSpPr/>
          <p:nvPr/>
        </p:nvGrpSpPr>
        <p:grpSpPr>
          <a:xfrm flipV="1">
            <a:off x="3124233" y="1641327"/>
            <a:ext cx="94010" cy="47005"/>
            <a:chOff x="6812560" y="3297172"/>
            <a:chExt cx="94010" cy="47005"/>
          </a:xfrm>
        </p:grpSpPr>
        <p:cxnSp>
          <p:nvCxnSpPr>
            <p:cNvPr id="105" name="직선 연결선 10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6" name="직선 연결선 10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8" name="직선 연결선 107">
            <a:extLst>
              <a:ext uri="{FF2B5EF4-FFF2-40B4-BE49-F238E27FC236}">
                <a16:creationId xmlns:a16="http://schemas.microsoft.com/office/drawing/2014/main" id="{E9293055-D5CD-4B9E-7F64-64B2D2CA7A52}"/>
              </a:ext>
            </a:extLst>
          </p:cNvPr>
          <p:cNvCxnSpPr/>
          <p:nvPr/>
        </p:nvCxnSpPr>
        <p:spPr>
          <a:xfrm>
            <a:off x="720490" y="182568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20490" y="203175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675399" y="275326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0490" y="224925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TextBox 120">
            <a:extLst>
              <a:ext uri="{FF2B5EF4-FFF2-40B4-BE49-F238E27FC236}">
                <a16:creationId xmlns:a16="http://schemas.microsoft.com/office/drawing/2014/main" id="{FFC49AEA-2A8F-250C-A86A-A7751D9706C3}"/>
              </a:ext>
            </a:extLst>
          </p:cNvPr>
          <p:cNvSpPr txBox="1"/>
          <p:nvPr/>
        </p:nvSpPr>
        <p:spPr>
          <a:xfrm>
            <a:off x="790331" y="1807602"/>
            <a:ext cx="725552" cy="430887"/>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en-US" altLang="ko-KR" sz="700" dirty="0">
              <a:latin typeface="+mn-ea"/>
            </a:endParaRPr>
          </a:p>
          <a:p>
            <a:pPr>
              <a:lnSpc>
                <a:spcPct val="200000"/>
              </a:lnSpc>
            </a:pPr>
            <a:r>
              <a:rPr lang="ko-KR" altLang="en-US" sz="700" dirty="0">
                <a:latin typeface="+mn-ea"/>
              </a:rPr>
              <a:t>화폐단위</a:t>
            </a: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1561065" y="2052960"/>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noProof="0" dirty="0" err="1">
                <a:latin typeface="맑은 고딕"/>
              </a:rPr>
              <a:t>미선택</a:t>
            </a:r>
            <a:endParaRPr kumimoji="1" lang="en-US" sz="700" b="0" i="0" u="none" strike="noStrike" kern="0" cap="none" spc="0" normalizeH="0" baseline="0" noProof="0" dirty="0">
              <a:ln>
                <a:noFill/>
              </a:ln>
              <a:effectLst/>
              <a:uLnTx/>
              <a:uFillTx/>
              <a:latin typeface="맑은 고딕"/>
            </a:endParaRPr>
          </a:p>
        </p:txBody>
      </p:sp>
      <p:grpSp>
        <p:nvGrpSpPr>
          <p:cNvPr id="133" name="그룹 132"/>
          <p:cNvGrpSpPr/>
          <p:nvPr/>
        </p:nvGrpSpPr>
        <p:grpSpPr>
          <a:xfrm>
            <a:off x="3124233" y="2110458"/>
            <a:ext cx="94010" cy="47005"/>
            <a:chOff x="6812560" y="3297172"/>
            <a:chExt cx="94010" cy="47005"/>
          </a:xfrm>
        </p:grpSpPr>
        <p:cxnSp>
          <p:nvCxnSpPr>
            <p:cNvPr id="134" name="직선 연결선 13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5" name="직선 연결선 13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7" name="그룹 6"/>
          <p:cNvGrpSpPr/>
          <p:nvPr/>
        </p:nvGrpSpPr>
        <p:grpSpPr>
          <a:xfrm>
            <a:off x="767702" y="2343435"/>
            <a:ext cx="2527420" cy="220756"/>
            <a:chOff x="730855" y="2304671"/>
            <a:chExt cx="2527420" cy="223884"/>
          </a:xfrm>
        </p:grpSpPr>
        <p:sp>
          <p:nvSpPr>
            <p:cNvPr id="136" name="사각형: 둥근 모서리 15">
              <a:extLst>
                <a:ext uri="{FF2B5EF4-FFF2-40B4-BE49-F238E27FC236}">
                  <a16:creationId xmlns:a16="http://schemas.microsoft.com/office/drawing/2014/main" id="{E2B61CFB-AD16-68D0-8752-50D9C5E01971}"/>
                </a:ext>
              </a:extLst>
            </p:cNvPr>
            <p:cNvSpPr/>
            <p:nvPr/>
          </p:nvSpPr>
          <p:spPr>
            <a:xfrm>
              <a:off x="2032998" y="2304671"/>
              <a:ext cx="1225277" cy="223884"/>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전체 적용</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37" name="사각형: 둥근 모서리 15">
              <a:extLst>
                <a:ext uri="{FF2B5EF4-FFF2-40B4-BE49-F238E27FC236}">
                  <a16:creationId xmlns:a16="http://schemas.microsoft.com/office/drawing/2014/main" id="{E2B61CFB-AD16-68D0-8752-50D9C5E01971}"/>
                </a:ext>
              </a:extLst>
            </p:cNvPr>
            <p:cNvSpPr/>
            <p:nvPr/>
          </p:nvSpPr>
          <p:spPr>
            <a:xfrm>
              <a:off x="730855" y="2304671"/>
              <a:ext cx="1225279" cy="22388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선택 적용</a:t>
              </a:r>
              <a:endParaRPr kumimoji="1" lang="en-US" sz="700" b="0" i="0" u="none" strike="noStrike" kern="0" cap="none" spc="0" normalizeH="0" baseline="0" noProof="0" dirty="0">
                <a:ln>
                  <a:noFill/>
                </a:ln>
                <a:effectLst/>
                <a:uLnTx/>
                <a:uFillTx/>
                <a:latin typeface="맑은 고딕"/>
              </a:endParaRPr>
            </a:p>
          </p:txBody>
        </p:sp>
      </p:grpSp>
      <p:sp>
        <p:nvSpPr>
          <p:cNvPr id="141" name="사각형: 둥근 모서리 15">
            <a:extLst>
              <a:ext uri="{FF2B5EF4-FFF2-40B4-BE49-F238E27FC236}">
                <a16:creationId xmlns:a16="http://schemas.microsoft.com/office/drawing/2014/main" id="{E2B61CFB-AD16-68D0-8752-50D9C5E01971}"/>
              </a:ext>
            </a:extLst>
          </p:cNvPr>
          <p:cNvSpPr/>
          <p:nvPr/>
        </p:nvSpPr>
        <p:spPr>
          <a:xfrm>
            <a:off x="2836921" y="3132738"/>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a:ln>
                  <a:noFill/>
                </a:ln>
                <a:effectLst/>
                <a:uLnTx/>
                <a:uFillTx/>
                <a:latin typeface="맑은 고딕"/>
              </a:rPr>
              <a:t>항목선택</a:t>
            </a:r>
            <a:endParaRPr kumimoji="1" lang="en-US" sz="700" b="0" i="0" u="none" strike="noStrike" kern="0" cap="none" spc="0" normalizeH="0" baseline="0" noProof="0" dirty="0">
              <a:ln>
                <a:noFill/>
              </a:ln>
              <a:effectLst/>
              <a:uLnTx/>
              <a:uFillTx/>
              <a:latin typeface="맑은 고딕"/>
            </a:endParaRPr>
          </a:p>
        </p:txBody>
      </p:sp>
      <p:sp>
        <p:nvSpPr>
          <p:cNvPr id="142" name="TextBox 141">
            <a:extLst>
              <a:ext uri="{FF2B5EF4-FFF2-40B4-BE49-F238E27FC236}">
                <a16:creationId xmlns:a16="http://schemas.microsoft.com/office/drawing/2014/main" id="{FFC49AEA-2A8F-250C-A86A-A7751D9706C3}"/>
              </a:ext>
            </a:extLst>
          </p:cNvPr>
          <p:cNvSpPr txBox="1"/>
          <p:nvPr/>
        </p:nvSpPr>
        <p:spPr>
          <a:xfrm>
            <a:off x="3910666" y="3974873"/>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p:txBody>
      </p:sp>
      <p:grpSp>
        <p:nvGrpSpPr>
          <p:cNvPr id="143" name="그룹 142"/>
          <p:cNvGrpSpPr/>
          <p:nvPr/>
        </p:nvGrpSpPr>
        <p:grpSpPr>
          <a:xfrm>
            <a:off x="3821510" y="3974873"/>
            <a:ext cx="2630093" cy="1075182"/>
            <a:chOff x="701175" y="1835481"/>
            <a:chExt cx="2630093" cy="1075182"/>
          </a:xfrm>
        </p:grpSpPr>
        <p:cxnSp>
          <p:nvCxnSpPr>
            <p:cNvPr id="144" name="직선 연결선 14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5" name="직선 연결선 14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직선 연결선 187">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8" name="TextBox 177">
            <a:extLst>
              <a:ext uri="{FF2B5EF4-FFF2-40B4-BE49-F238E27FC236}">
                <a16:creationId xmlns:a16="http://schemas.microsoft.com/office/drawing/2014/main" id="{FFC49AEA-2A8F-250C-A86A-A7751D9706C3}"/>
              </a:ext>
            </a:extLst>
          </p:cNvPr>
          <p:cNvSpPr txBox="1"/>
          <p:nvPr/>
        </p:nvSpPr>
        <p:spPr>
          <a:xfrm>
            <a:off x="4667515" y="3974873"/>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a:t>
            </a:r>
            <a:endParaRPr lang="en-US" altLang="ko-KR" sz="700" dirty="0">
              <a:latin typeface="+mn-ea"/>
            </a:endParaRPr>
          </a:p>
        </p:txBody>
      </p:sp>
      <p:sp>
        <p:nvSpPr>
          <p:cNvPr id="179" name="사각형: 둥근 모서리 15">
            <a:extLst>
              <a:ext uri="{FF2B5EF4-FFF2-40B4-BE49-F238E27FC236}">
                <a16:creationId xmlns:a16="http://schemas.microsoft.com/office/drawing/2014/main" id="{E2B61CFB-AD16-68D0-8752-50D9C5E01971}"/>
              </a:ext>
            </a:extLst>
          </p:cNvPr>
          <p:cNvSpPr/>
          <p:nvPr/>
        </p:nvSpPr>
        <p:spPr>
          <a:xfrm>
            <a:off x="5957256" y="4005112"/>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a:ln>
                  <a:noFill/>
                </a:ln>
                <a:effectLst/>
                <a:uLnTx/>
                <a:uFillTx/>
                <a:latin typeface="맑은 고딕"/>
              </a:rPr>
              <a:t>항목선택</a:t>
            </a:r>
            <a:endParaRPr kumimoji="1" lang="en-US" sz="700" b="0" i="0" u="none" strike="noStrike" kern="0" cap="none" spc="0" normalizeH="0" baseline="0" noProof="0" dirty="0">
              <a:ln>
                <a:noFill/>
              </a:ln>
              <a:effectLst/>
              <a:uLnTx/>
              <a:uFillTx/>
              <a:latin typeface="맑은 고딕"/>
            </a:endParaRPr>
          </a:p>
        </p:txBody>
      </p:sp>
      <p:sp>
        <p:nvSpPr>
          <p:cNvPr id="180" name="사각형: 둥근 모서리 15">
            <a:extLst>
              <a:ext uri="{FF2B5EF4-FFF2-40B4-BE49-F238E27FC236}">
                <a16:creationId xmlns:a16="http://schemas.microsoft.com/office/drawing/2014/main" id="{E2B61CFB-AD16-68D0-8752-50D9C5E01971}"/>
              </a:ext>
            </a:extLst>
          </p:cNvPr>
          <p:cNvSpPr/>
          <p:nvPr/>
        </p:nvSpPr>
        <p:spPr>
          <a:xfrm>
            <a:off x="3933132" y="4860372"/>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sp>
        <p:nvSpPr>
          <p:cNvPr id="189" name="사각형: 둥근 모서리 15">
            <a:extLst>
              <a:ext uri="{FF2B5EF4-FFF2-40B4-BE49-F238E27FC236}">
                <a16:creationId xmlns:a16="http://schemas.microsoft.com/office/drawing/2014/main" id="{E2B61CFB-AD16-68D0-8752-50D9C5E01971}"/>
              </a:ext>
            </a:extLst>
          </p:cNvPr>
          <p:cNvSpPr/>
          <p:nvPr/>
        </p:nvSpPr>
        <p:spPr>
          <a:xfrm>
            <a:off x="3933132" y="3720010"/>
            <a:ext cx="2482324"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내역 접기 ↑</a:t>
            </a:r>
            <a:endParaRPr kumimoji="1" lang="en-US" sz="700" b="0" i="0" u="none" strike="noStrike" kern="0" cap="none" spc="0" normalizeH="0" baseline="0" noProof="0" dirty="0">
              <a:ln>
                <a:noFill/>
              </a:ln>
              <a:effectLst/>
              <a:uLnTx/>
              <a:uFillTx/>
              <a:latin typeface="맑은 고딕"/>
            </a:endParaRPr>
          </a:p>
        </p:txBody>
      </p:sp>
      <p:sp>
        <p:nvSpPr>
          <p:cNvPr id="115" name="사각형: 둥근 모서리 15">
            <a:extLst>
              <a:ext uri="{FF2B5EF4-FFF2-40B4-BE49-F238E27FC236}">
                <a16:creationId xmlns:a16="http://schemas.microsoft.com/office/drawing/2014/main" id="{E2B61CFB-AD16-68D0-8752-50D9C5E01971}"/>
              </a:ext>
            </a:extLst>
          </p:cNvPr>
          <p:cNvSpPr/>
          <p:nvPr/>
        </p:nvSpPr>
        <p:spPr>
          <a:xfrm>
            <a:off x="3825376" y="5453960"/>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grpSp>
        <p:nvGrpSpPr>
          <p:cNvPr id="57" name="그룹 56"/>
          <p:cNvGrpSpPr/>
          <p:nvPr/>
        </p:nvGrpSpPr>
        <p:grpSpPr>
          <a:xfrm>
            <a:off x="3795734" y="5614711"/>
            <a:ext cx="2712027" cy="617588"/>
            <a:chOff x="675399" y="5614711"/>
            <a:chExt cx="2712027" cy="617588"/>
          </a:xfrm>
        </p:grpSpPr>
        <p:sp>
          <p:nvSpPr>
            <p:cNvPr id="58" name="직사각형 57">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사각형: 둥근 모서리 15">
              <a:extLst>
                <a:ext uri="{FF2B5EF4-FFF2-40B4-BE49-F238E27FC236}">
                  <a16:creationId xmlns:a16="http://schemas.microsoft.com/office/drawing/2014/main" id="{E2B61CFB-AD16-68D0-8752-50D9C5E01971}"/>
                </a:ext>
              </a:extLst>
            </p:cNvPr>
            <p:cNvSpPr/>
            <p:nvPr/>
          </p:nvSpPr>
          <p:spPr>
            <a:xfrm>
              <a:off x="2069844" y="5745391"/>
              <a:ext cx="12252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입찰내역</a:t>
              </a:r>
              <a:r>
                <a:rPr kumimoji="1" lang="ko-KR" altLang="en-US" sz="1000" kern="0" dirty="0">
                  <a:solidFill>
                    <a:srgbClr val="0070C0"/>
                  </a:solidFill>
                  <a:latin typeface="맑은 고딕"/>
                  <a:ea typeface="맑은 고딕" panose="020B0503020000020004" pitchFamily="50" charset="-127"/>
                </a:rPr>
                <a:t> 저장</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60" name="사각형: 둥근 모서리 15">
              <a:extLst>
                <a:ext uri="{FF2B5EF4-FFF2-40B4-BE49-F238E27FC236}">
                  <a16:creationId xmlns:a16="http://schemas.microsoft.com/office/drawing/2014/main" id="{E2B61CFB-AD16-68D0-8752-50D9C5E01971}"/>
                </a:ext>
              </a:extLst>
            </p:cNvPr>
            <p:cNvSpPr/>
            <p:nvPr/>
          </p:nvSpPr>
          <p:spPr>
            <a:xfrm>
              <a:off x="767701" y="5745391"/>
              <a:ext cx="122527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latin typeface="맑은 고딕"/>
                  <a:ea typeface="맑은 고딕" panose="020B0503020000020004" pitchFamily="50" charset="-127"/>
                </a:rPr>
                <a:t>입찰내역</a:t>
              </a:r>
              <a:r>
                <a:rPr kumimoji="1" lang="ko-KR" altLang="en-US" sz="1000" kern="0" dirty="0">
                  <a:latin typeface="맑은 고딕"/>
                  <a:ea typeface="맑은 고딕" panose="020B0503020000020004" pitchFamily="50" charset="-127"/>
                </a:rPr>
                <a:t> 삭제</a:t>
              </a:r>
              <a:endParaRPr kumimoji="1" lang="en-US" sz="1000" b="0" i="0" u="none" strike="noStrike" kern="0" cap="none" spc="0" normalizeH="0" baseline="0" noProof="0" dirty="0">
                <a:ln>
                  <a:noFill/>
                </a:ln>
                <a:effectLst/>
                <a:uLnTx/>
                <a:uFillTx/>
                <a:latin typeface="맑은 고딕"/>
              </a:endParaRPr>
            </a:p>
          </p:txBody>
        </p:sp>
      </p:grpSp>
    </p:spTree>
    <p:extLst>
      <p:ext uri="{BB962C8B-B14F-4D97-AF65-F5344CB8AC3E}">
        <p14:creationId xmlns:p14="http://schemas.microsoft.com/office/powerpoint/2010/main" val="3521841432"/>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직사각형 139"/>
          <p:cNvSpPr/>
          <p:nvPr/>
        </p:nvSpPr>
        <p:spPr>
          <a:xfrm>
            <a:off x="722060" y="1836758"/>
            <a:ext cx="792000" cy="10608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품목목록</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314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입찰내역</a:t>
            </a:r>
            <a:r>
              <a:rPr lang="ko-KR" altLang="en-US" dirty="0">
                <a:latin typeface="+mn-ea"/>
              </a:rPr>
              <a:t> 작성 </a:t>
            </a:r>
            <a:r>
              <a:rPr lang="en-US" altLang="ko-KR" dirty="0">
                <a:latin typeface="+mn-ea"/>
              </a:rPr>
              <a:t>- </a:t>
            </a:r>
            <a:r>
              <a:rPr lang="ko-KR" altLang="en-US" dirty="0" err="1">
                <a:latin typeface="+mn-ea"/>
              </a:rPr>
              <a:t>입찰내역</a:t>
            </a:r>
            <a:r>
              <a:rPr lang="ko-KR" altLang="en-US" dirty="0">
                <a:latin typeface="+mn-ea"/>
              </a:rPr>
              <a:t> </a:t>
            </a:r>
            <a:r>
              <a:rPr lang="en-US" altLang="ko-KR" dirty="0">
                <a:latin typeface="+mn-ea"/>
              </a:rPr>
              <a:t>(</a:t>
            </a:r>
            <a:r>
              <a:rPr lang="ko-KR" altLang="en-US" dirty="0" err="1">
                <a:latin typeface="+mn-ea"/>
              </a:rPr>
              <a:t>총액제</a:t>
            </a:r>
            <a:r>
              <a:rPr lang="en-US" altLang="ko-KR" dirty="0">
                <a:latin typeface="+mn-ea"/>
              </a:rPr>
              <a:t>)</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en-US" altLang="ko-KR" dirty="0">
                <a:latin typeface="+mn-ea"/>
              </a:rPr>
              <a:t>[</a:t>
            </a:r>
            <a:r>
              <a:rPr lang="ko-KR" altLang="en-US" dirty="0" err="1">
                <a:latin typeface="+mn-ea"/>
              </a:rPr>
              <a:t>총액제</a:t>
            </a:r>
            <a:r>
              <a:rPr lang="en-US" altLang="ko-KR" dirty="0">
                <a:latin typeface="+mn-ea"/>
              </a:rPr>
              <a:t>] </a:t>
            </a:r>
            <a:r>
              <a:rPr lang="ko-KR" altLang="en-US" dirty="0">
                <a:latin typeface="+mn-ea"/>
              </a:rPr>
              <a:t>보관함에 추가된 사업 품목에 대한 </a:t>
            </a:r>
            <a:r>
              <a:rPr lang="ko-KR" altLang="en-US" dirty="0" err="1">
                <a:latin typeface="+mn-ea"/>
              </a:rPr>
              <a:t>입찰내역을</a:t>
            </a:r>
            <a:r>
              <a:rPr lang="ko-KR" altLang="en-US" dirty="0">
                <a:latin typeface="+mn-ea"/>
              </a:rPr>
              <a:t> 작성하는 화면</a:t>
            </a:r>
            <a:endParaRPr lang="ko-KR" altLang="en-US" dirty="0"/>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err="1">
                <a:latin typeface="+mn-ea"/>
              </a:rPr>
              <a:t>입찰내역</a:t>
            </a:r>
            <a:r>
              <a:rPr lang="ko-KR" altLang="en-US" dirty="0">
                <a:latin typeface="+mn-ea"/>
              </a:rPr>
              <a:t> 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MUI-BD-01-M78</a:t>
            </a:r>
            <a:endParaRPr lang="ko-KR" altLang="en-US" dirty="0"/>
          </a:p>
        </p:txBody>
      </p:sp>
      <p:sp>
        <p:nvSpPr>
          <p:cNvPr id="156" name="TextBox 155">
            <a:extLst>
              <a:ext uri="{FF2B5EF4-FFF2-40B4-BE49-F238E27FC236}">
                <a16:creationId xmlns:a16="http://schemas.microsoft.com/office/drawing/2014/main" id="{FFC49AEA-2A8F-250C-A86A-A7751D9706C3}"/>
              </a:ext>
            </a:extLst>
          </p:cNvPr>
          <p:cNvSpPr txBox="1"/>
          <p:nvPr/>
        </p:nvSpPr>
        <p:spPr>
          <a:xfrm>
            <a:off x="762146" y="3121559"/>
            <a:ext cx="1270852" cy="215444"/>
          </a:xfrm>
          <a:prstGeom prst="rect">
            <a:avLst/>
          </a:prstGeom>
          <a:noFill/>
        </p:spPr>
        <p:txBody>
          <a:bodyPr wrap="square" lIns="0" tIns="0" rIns="0" bIns="0" rtlCol="0">
            <a:spAutoFit/>
          </a:bodyPr>
          <a:lstStyle/>
          <a:p>
            <a:pPr>
              <a:lnSpc>
                <a:spcPct val="200000"/>
              </a:lnSpc>
            </a:pPr>
            <a:r>
              <a:rPr lang="ko-KR" altLang="en-US" sz="700" dirty="0">
                <a:latin typeface="+mn-ea"/>
              </a:rPr>
              <a:t>입찰 품목</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60" name="직사각형 159"/>
          <p:cNvSpPr/>
          <p:nvPr/>
        </p:nvSpPr>
        <p:spPr>
          <a:xfrm>
            <a:off x="703268" y="3429045"/>
            <a:ext cx="792000" cy="12884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1" y="3429044"/>
            <a:ext cx="725552" cy="1292662"/>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p:txBody>
      </p:sp>
      <p:grpSp>
        <p:nvGrpSpPr>
          <p:cNvPr id="17" name="그룹 16"/>
          <p:cNvGrpSpPr/>
          <p:nvPr/>
        </p:nvGrpSpPr>
        <p:grpSpPr>
          <a:xfrm>
            <a:off x="701175" y="3429044"/>
            <a:ext cx="2630093" cy="1288440"/>
            <a:chOff x="701175" y="1835481"/>
            <a:chExt cx="2630093" cy="128844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109" name="그룹 108">
            <a:extLst>
              <a:ext uri="{FF2B5EF4-FFF2-40B4-BE49-F238E27FC236}">
                <a16:creationId xmlns:a16="http://schemas.microsoft.com/office/drawing/2014/main" id="{22BC05EE-C648-7CA2-4CCC-6E1C1A7E9BDA}"/>
              </a:ext>
            </a:extLst>
          </p:cNvPr>
          <p:cNvGrpSpPr/>
          <p:nvPr/>
        </p:nvGrpSpPr>
        <p:grpSpPr>
          <a:xfrm>
            <a:off x="1992981" y="4956336"/>
            <a:ext cx="76863" cy="292489"/>
            <a:chOff x="3750067" y="4683795"/>
            <a:chExt cx="76863" cy="292489"/>
          </a:xfrm>
        </p:grpSpPr>
        <p:sp>
          <p:nvSpPr>
            <p:cNvPr id="110" name="타원 10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1" name="타원 11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12" name="타원 11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63" name="TextBox 162">
            <a:extLst>
              <a:ext uri="{FF2B5EF4-FFF2-40B4-BE49-F238E27FC236}">
                <a16:creationId xmlns:a16="http://schemas.microsoft.com/office/drawing/2014/main" id="{FFC49AEA-2A8F-250C-A86A-A7751D9706C3}"/>
              </a:ext>
            </a:extLst>
          </p:cNvPr>
          <p:cNvSpPr txBox="1"/>
          <p:nvPr/>
        </p:nvSpPr>
        <p:spPr>
          <a:xfrm>
            <a:off x="1547180" y="3429044"/>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p:txBody>
      </p:sp>
      <p:sp>
        <p:nvSpPr>
          <p:cNvPr id="99" name="사각형: 둥근 모서리 15">
            <a:extLst>
              <a:ext uri="{FF2B5EF4-FFF2-40B4-BE49-F238E27FC236}">
                <a16:creationId xmlns:a16="http://schemas.microsoft.com/office/drawing/2014/main" id="{E2B61CFB-AD16-68D0-8752-50D9C5E01971}"/>
              </a:ext>
            </a:extLst>
          </p:cNvPr>
          <p:cNvSpPr/>
          <p:nvPr/>
        </p:nvSpPr>
        <p:spPr>
          <a:xfrm>
            <a:off x="1561065" y="1845851"/>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err="1">
                <a:latin typeface="맑은 고딕"/>
              </a:rPr>
              <a:t>미업체</a:t>
            </a:r>
            <a:endParaRPr kumimoji="1" lang="en-US" sz="700" b="0" i="0" u="none" strike="noStrike" kern="0" cap="none" spc="0" normalizeH="0" baseline="0" noProof="0" dirty="0">
              <a:ln>
                <a:noFill/>
              </a:ln>
              <a:effectLst/>
              <a:uLnTx/>
              <a:uFillTx/>
              <a:latin typeface="맑은 고딕"/>
            </a:endParaRPr>
          </a:p>
        </p:txBody>
      </p:sp>
      <p:grpSp>
        <p:nvGrpSpPr>
          <p:cNvPr id="100" name="그룹 99"/>
          <p:cNvGrpSpPr/>
          <p:nvPr/>
        </p:nvGrpSpPr>
        <p:grpSpPr>
          <a:xfrm>
            <a:off x="3124233" y="1903349"/>
            <a:ext cx="94010" cy="47005"/>
            <a:chOff x="6812560" y="3297172"/>
            <a:chExt cx="94010" cy="47005"/>
          </a:xfrm>
        </p:grpSpPr>
        <p:cxnSp>
          <p:nvCxnSpPr>
            <p:cNvPr id="101" name="직선 연결선 10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2" name="직선 연결선 10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3" name="TextBox 102">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err="1">
                <a:latin typeface="+mn-ea"/>
              </a:rPr>
              <a:t>입찰내역</a:t>
            </a:r>
            <a:endParaRPr lang="ko-KR" altLang="en-US" sz="700" dirty="0">
              <a:latin typeface="+mn-ea"/>
            </a:endParaRPr>
          </a:p>
        </p:txBody>
      </p:sp>
      <p:grpSp>
        <p:nvGrpSpPr>
          <p:cNvPr id="104" name="그룹 103"/>
          <p:cNvGrpSpPr/>
          <p:nvPr/>
        </p:nvGrpSpPr>
        <p:grpSpPr>
          <a:xfrm flipV="1">
            <a:off x="3124233" y="1641327"/>
            <a:ext cx="94010" cy="47005"/>
            <a:chOff x="6812560" y="3297172"/>
            <a:chExt cx="94010" cy="47005"/>
          </a:xfrm>
        </p:grpSpPr>
        <p:cxnSp>
          <p:nvCxnSpPr>
            <p:cNvPr id="105" name="직선 연결선 10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6" name="직선 연결선 10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08" name="직선 연결선 107">
            <a:extLst>
              <a:ext uri="{FF2B5EF4-FFF2-40B4-BE49-F238E27FC236}">
                <a16:creationId xmlns:a16="http://schemas.microsoft.com/office/drawing/2014/main" id="{E9293055-D5CD-4B9E-7F64-64B2D2CA7A52}"/>
              </a:ext>
            </a:extLst>
          </p:cNvPr>
          <p:cNvCxnSpPr/>
          <p:nvPr/>
        </p:nvCxnSpPr>
        <p:spPr>
          <a:xfrm>
            <a:off x="720490" y="182568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20490" y="203175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675399" y="307981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0490" y="224925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1" name="TextBox 120">
            <a:extLst>
              <a:ext uri="{FF2B5EF4-FFF2-40B4-BE49-F238E27FC236}">
                <a16:creationId xmlns:a16="http://schemas.microsoft.com/office/drawing/2014/main" id="{FFC49AEA-2A8F-250C-A86A-A7751D9706C3}"/>
              </a:ext>
            </a:extLst>
          </p:cNvPr>
          <p:cNvSpPr txBox="1"/>
          <p:nvPr/>
        </p:nvSpPr>
        <p:spPr>
          <a:xfrm>
            <a:off x="790331" y="1807602"/>
            <a:ext cx="725552" cy="1077218"/>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en-US" altLang="ko-KR" sz="700" dirty="0">
              <a:latin typeface="+mn-ea"/>
            </a:endParaRPr>
          </a:p>
          <a:p>
            <a:pPr>
              <a:lnSpc>
                <a:spcPct val="200000"/>
              </a:lnSpc>
            </a:pPr>
            <a:r>
              <a:rPr lang="ko-KR" altLang="en-US" sz="700" dirty="0">
                <a:latin typeface="+mn-ea"/>
              </a:rPr>
              <a:t>화폐단위</a:t>
            </a:r>
            <a:endParaRPr lang="en-US" altLang="ko-KR" sz="700" dirty="0">
              <a:latin typeface="+mn-ea"/>
            </a:endParaRPr>
          </a:p>
          <a:p>
            <a:pPr>
              <a:lnSpc>
                <a:spcPct val="200000"/>
              </a:lnSpc>
            </a:pPr>
            <a:r>
              <a:rPr lang="ko-KR" altLang="en-US" sz="700" dirty="0">
                <a:latin typeface="+mn-ea"/>
              </a:rPr>
              <a:t>입찰금액</a:t>
            </a:r>
            <a:endParaRPr lang="en-US" altLang="ko-KR" sz="700" dirty="0">
              <a:latin typeface="+mn-ea"/>
            </a:endParaRPr>
          </a:p>
          <a:p>
            <a:pPr>
              <a:lnSpc>
                <a:spcPct val="200000"/>
              </a:lnSpc>
            </a:pPr>
            <a:r>
              <a:rPr lang="ko-KR" altLang="en-US" sz="700" dirty="0" err="1">
                <a:latin typeface="+mn-ea"/>
              </a:rPr>
              <a:t>달러금액</a:t>
            </a:r>
            <a:endParaRPr lang="en-US" altLang="ko-KR" sz="700" dirty="0">
              <a:latin typeface="+mn-ea"/>
            </a:endParaRPr>
          </a:p>
          <a:p>
            <a:pPr>
              <a:lnSpc>
                <a:spcPct val="200000"/>
              </a:lnSpc>
            </a:pPr>
            <a:r>
              <a:rPr lang="ko-KR" altLang="en-US" sz="700" dirty="0" err="1">
                <a:latin typeface="+mn-ea"/>
              </a:rPr>
              <a:t>달러환산율</a:t>
            </a:r>
            <a:endParaRPr lang="ko-KR" altLang="en-US" sz="700" dirty="0">
              <a:latin typeface="+mn-ea"/>
            </a:endParaRPr>
          </a:p>
        </p:txBody>
      </p:sp>
      <p:sp>
        <p:nvSpPr>
          <p:cNvPr id="132" name="사각형: 둥근 모서리 15">
            <a:extLst>
              <a:ext uri="{FF2B5EF4-FFF2-40B4-BE49-F238E27FC236}">
                <a16:creationId xmlns:a16="http://schemas.microsoft.com/office/drawing/2014/main" id="{E2B61CFB-AD16-68D0-8752-50D9C5E01971}"/>
              </a:ext>
            </a:extLst>
          </p:cNvPr>
          <p:cNvSpPr/>
          <p:nvPr/>
        </p:nvSpPr>
        <p:spPr>
          <a:xfrm>
            <a:off x="1561065" y="2052960"/>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700" kern="0" noProof="0" dirty="0">
                <a:latin typeface="맑은 고딕"/>
              </a:rPr>
              <a:t>USD</a:t>
            </a:r>
            <a:endParaRPr kumimoji="1" lang="en-US" sz="700" b="0" i="0" u="none" strike="noStrike" kern="0" cap="none" spc="0" normalizeH="0" baseline="0" noProof="0" dirty="0">
              <a:ln>
                <a:noFill/>
              </a:ln>
              <a:effectLst/>
              <a:uLnTx/>
              <a:uFillTx/>
              <a:latin typeface="맑은 고딕"/>
            </a:endParaRPr>
          </a:p>
        </p:txBody>
      </p:sp>
      <p:grpSp>
        <p:nvGrpSpPr>
          <p:cNvPr id="133" name="그룹 132"/>
          <p:cNvGrpSpPr/>
          <p:nvPr/>
        </p:nvGrpSpPr>
        <p:grpSpPr>
          <a:xfrm>
            <a:off x="3124233" y="2110458"/>
            <a:ext cx="94010" cy="47005"/>
            <a:chOff x="6812560" y="3297172"/>
            <a:chExt cx="94010" cy="47005"/>
          </a:xfrm>
        </p:grpSpPr>
        <p:cxnSp>
          <p:nvCxnSpPr>
            <p:cNvPr id="134" name="직선 연결선 13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5" name="직선 연결선 13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50" name="직선 연결선 149">
            <a:extLst>
              <a:ext uri="{FF2B5EF4-FFF2-40B4-BE49-F238E27FC236}">
                <a16:creationId xmlns:a16="http://schemas.microsoft.com/office/drawing/2014/main" id="{E9293055-D5CD-4B9E-7F64-64B2D2CA7A52}"/>
              </a:ext>
            </a:extLst>
          </p:cNvPr>
          <p:cNvCxnSpPr/>
          <p:nvPr/>
        </p:nvCxnSpPr>
        <p:spPr>
          <a:xfrm>
            <a:off x="720490" y="246327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1" name="직선 연결선 150">
            <a:extLst>
              <a:ext uri="{FF2B5EF4-FFF2-40B4-BE49-F238E27FC236}">
                <a16:creationId xmlns:a16="http://schemas.microsoft.com/office/drawing/2014/main" id="{E9293055-D5CD-4B9E-7F64-64B2D2CA7A52}"/>
              </a:ext>
            </a:extLst>
          </p:cNvPr>
          <p:cNvCxnSpPr/>
          <p:nvPr/>
        </p:nvCxnSpPr>
        <p:spPr>
          <a:xfrm>
            <a:off x="720490" y="266933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2" name="직선 연결선 151">
            <a:extLst>
              <a:ext uri="{FF2B5EF4-FFF2-40B4-BE49-F238E27FC236}">
                <a16:creationId xmlns:a16="http://schemas.microsoft.com/office/drawing/2014/main" id="{E9293055-D5CD-4B9E-7F64-64B2D2CA7A52}"/>
              </a:ext>
            </a:extLst>
          </p:cNvPr>
          <p:cNvCxnSpPr/>
          <p:nvPr/>
        </p:nvCxnSpPr>
        <p:spPr>
          <a:xfrm>
            <a:off x="720490" y="288684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사각형: 둥근 모서리 15">
            <a:extLst>
              <a:ext uri="{FF2B5EF4-FFF2-40B4-BE49-F238E27FC236}">
                <a16:creationId xmlns:a16="http://schemas.microsoft.com/office/drawing/2014/main" id="{E2B61CFB-AD16-68D0-8752-50D9C5E01971}"/>
              </a:ext>
            </a:extLst>
          </p:cNvPr>
          <p:cNvSpPr/>
          <p:nvPr/>
        </p:nvSpPr>
        <p:spPr>
          <a:xfrm>
            <a:off x="1561065" y="2265220"/>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ko-KR" altLang="en-US" sz="700" kern="0" noProof="0" dirty="0" err="1">
                <a:latin typeface="맑은 고딕"/>
              </a:rPr>
              <a:t>미선택</a:t>
            </a:r>
            <a:endParaRPr kumimoji="1" lang="en-US" sz="700" b="0" i="0" u="none" strike="noStrike" kern="0" cap="none" spc="0" normalizeH="0" baseline="0" noProof="0" dirty="0">
              <a:ln>
                <a:noFill/>
              </a:ln>
              <a:effectLst/>
              <a:uLnTx/>
              <a:uFillTx/>
              <a:latin typeface="맑은 고딕"/>
            </a:endParaRPr>
          </a:p>
        </p:txBody>
      </p:sp>
      <p:sp>
        <p:nvSpPr>
          <p:cNvPr id="154" name="TextBox 153">
            <a:extLst>
              <a:ext uri="{FF2B5EF4-FFF2-40B4-BE49-F238E27FC236}">
                <a16:creationId xmlns:a16="http://schemas.microsoft.com/office/drawing/2014/main" id="{FFC49AEA-2A8F-250C-A86A-A7751D9706C3}"/>
              </a:ext>
            </a:extLst>
          </p:cNvPr>
          <p:cNvSpPr txBox="1"/>
          <p:nvPr/>
        </p:nvSpPr>
        <p:spPr>
          <a:xfrm>
            <a:off x="1547180" y="2431360"/>
            <a:ext cx="1784088" cy="396583"/>
          </a:xfrm>
          <a:prstGeom prst="rect">
            <a:avLst/>
          </a:prstGeom>
          <a:noFill/>
        </p:spPr>
        <p:txBody>
          <a:bodyPr wrap="square" lIns="0" tIns="0" rIns="0" bIns="0" rtlCol="0">
            <a:spAutoFit/>
          </a:bodyPr>
          <a:lstStyle/>
          <a:p>
            <a:pPr algn="r">
              <a:lnSpc>
                <a:spcPct val="200000"/>
              </a:lnSpc>
            </a:pPr>
            <a:r>
              <a:rPr lang="en-US" altLang="ko-KR" sz="700" dirty="0">
                <a:latin typeface="+mn-ea"/>
              </a:rPr>
              <a:t>608,000.00</a:t>
            </a:r>
          </a:p>
          <a:p>
            <a:pPr algn="r">
              <a:lnSpc>
                <a:spcPct val="200000"/>
              </a:lnSpc>
            </a:pPr>
            <a:r>
              <a:rPr lang="en-US" altLang="ko-KR" sz="700" dirty="0">
                <a:latin typeface="+mn-ea"/>
              </a:rPr>
              <a:t>1.0000 USD</a:t>
            </a:r>
          </a:p>
        </p:txBody>
      </p:sp>
      <p:sp>
        <p:nvSpPr>
          <p:cNvPr id="54" name="사각형: 둥근 모서리 15">
            <a:extLst>
              <a:ext uri="{FF2B5EF4-FFF2-40B4-BE49-F238E27FC236}">
                <a16:creationId xmlns:a16="http://schemas.microsoft.com/office/drawing/2014/main" id="{E2B61CFB-AD16-68D0-8752-50D9C5E01971}"/>
              </a:ext>
            </a:extLst>
          </p:cNvPr>
          <p:cNvSpPr/>
          <p:nvPr/>
        </p:nvSpPr>
        <p:spPr>
          <a:xfrm>
            <a:off x="705041" y="5453960"/>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grpSp>
        <p:nvGrpSpPr>
          <p:cNvPr id="57" name="그룹 56"/>
          <p:cNvGrpSpPr/>
          <p:nvPr/>
        </p:nvGrpSpPr>
        <p:grpSpPr>
          <a:xfrm>
            <a:off x="675399" y="5614711"/>
            <a:ext cx="2712027" cy="617588"/>
            <a:chOff x="675399" y="5614711"/>
            <a:chExt cx="2712027" cy="617588"/>
          </a:xfrm>
        </p:grpSpPr>
        <p:sp>
          <p:nvSpPr>
            <p:cNvPr id="58" name="직사각형 57">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사각형: 둥근 모서리 15">
              <a:extLst>
                <a:ext uri="{FF2B5EF4-FFF2-40B4-BE49-F238E27FC236}">
                  <a16:creationId xmlns:a16="http://schemas.microsoft.com/office/drawing/2014/main" id="{E2B61CFB-AD16-68D0-8752-50D9C5E01971}"/>
                </a:ext>
              </a:extLst>
            </p:cNvPr>
            <p:cNvSpPr/>
            <p:nvPr/>
          </p:nvSpPr>
          <p:spPr>
            <a:xfrm>
              <a:off x="2069844" y="5745391"/>
              <a:ext cx="12252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solidFill>
                    <a:srgbClr val="0070C0"/>
                  </a:solidFill>
                  <a:latin typeface="맑은 고딕"/>
                  <a:ea typeface="맑은 고딕" panose="020B0503020000020004" pitchFamily="50" charset="-127"/>
                </a:rPr>
                <a:t>입찰내역</a:t>
              </a:r>
              <a:r>
                <a:rPr kumimoji="1" lang="ko-KR" altLang="en-US" sz="1000" kern="0" dirty="0">
                  <a:solidFill>
                    <a:srgbClr val="0070C0"/>
                  </a:solidFill>
                  <a:latin typeface="맑은 고딕"/>
                  <a:ea typeface="맑은 고딕" panose="020B0503020000020004" pitchFamily="50" charset="-127"/>
                </a:rPr>
                <a:t> 저장</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60" name="사각형: 둥근 모서리 15">
              <a:extLst>
                <a:ext uri="{FF2B5EF4-FFF2-40B4-BE49-F238E27FC236}">
                  <a16:creationId xmlns:a16="http://schemas.microsoft.com/office/drawing/2014/main" id="{E2B61CFB-AD16-68D0-8752-50D9C5E01971}"/>
                </a:ext>
              </a:extLst>
            </p:cNvPr>
            <p:cNvSpPr/>
            <p:nvPr/>
          </p:nvSpPr>
          <p:spPr>
            <a:xfrm>
              <a:off x="767701" y="5745391"/>
              <a:ext cx="122527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err="1">
                  <a:latin typeface="맑은 고딕"/>
                  <a:ea typeface="맑은 고딕" panose="020B0503020000020004" pitchFamily="50" charset="-127"/>
                </a:rPr>
                <a:t>입찰내역</a:t>
              </a:r>
              <a:r>
                <a:rPr kumimoji="1" lang="ko-KR" altLang="en-US" sz="1000" kern="0" dirty="0">
                  <a:latin typeface="맑은 고딕"/>
                  <a:ea typeface="맑은 고딕" panose="020B0503020000020004" pitchFamily="50" charset="-127"/>
                </a:rPr>
                <a:t> 삭제</a:t>
              </a:r>
              <a:endParaRPr kumimoji="1" lang="en-US" sz="1000" b="0" i="0" u="none" strike="noStrike" kern="0" cap="none" spc="0" normalizeH="0" baseline="0" noProof="0" dirty="0">
                <a:ln>
                  <a:noFill/>
                </a:ln>
                <a:effectLst/>
                <a:uLnTx/>
                <a:uFillTx/>
                <a:latin typeface="맑은 고딕"/>
              </a:endParaRPr>
            </a:p>
          </p:txBody>
        </p:sp>
      </p:grpSp>
    </p:spTree>
    <p:extLst>
      <p:ext uri="{BB962C8B-B14F-4D97-AF65-F5344CB8AC3E}">
        <p14:creationId xmlns:p14="http://schemas.microsoft.com/office/powerpoint/2010/main" val="550241132"/>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315</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908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공고번호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770801"/>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9216470"/>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1865837"/>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11751346"/>
                  </a:ext>
                </a:extLst>
              </a:tr>
              <a:tr h="0">
                <a:tc>
                  <a:txBody>
                    <a:bodyPr/>
                    <a:lstStyle/>
                    <a:p>
                      <a:pPr algn="l" fontAlgn="ctr"/>
                      <a:r>
                        <a:rPr lang="ko-KR" altLang="en-US" sz="800" b="0" i="0" u="none" strike="noStrike">
                          <a:solidFill>
                            <a:srgbClr val="000000"/>
                          </a:solidFill>
                          <a:effectLst/>
                          <a:latin typeface="+mn-ea"/>
                          <a:ea typeface="+mn-ea"/>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9223821"/>
                  </a:ext>
                </a:extLst>
              </a:tr>
              <a:tr h="0">
                <a:tc>
                  <a:txBody>
                    <a:bodyPr/>
                    <a:lstStyle/>
                    <a:p>
                      <a:pPr algn="l" fontAlgn="ctr"/>
                      <a:r>
                        <a:rPr lang="ko-KR" altLang="en-US" sz="800" b="0" i="0" u="none" strike="noStrike">
                          <a:solidFill>
                            <a:srgbClr val="000000"/>
                          </a:solidFill>
                          <a:effectLst/>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계약방법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5825386"/>
                  </a:ext>
                </a:extLst>
              </a:tr>
              <a:tr h="0">
                <a:tc>
                  <a:txBody>
                    <a:bodyPr/>
                    <a:lstStyle/>
                    <a:p>
                      <a:pPr algn="l" fontAlgn="ctr"/>
                      <a:r>
                        <a:rPr lang="ko-KR" altLang="en-US" sz="800" b="0" i="0" u="none" strike="noStrike">
                          <a:solidFill>
                            <a:srgbClr val="000000"/>
                          </a:solidFill>
                          <a:effectLst/>
                          <a:latin typeface="+mn-ea"/>
                          <a:ea typeface="+mn-ea"/>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regDdlnDt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2167756"/>
                  </a:ext>
                </a:extLst>
              </a:tr>
              <a:tr h="0">
                <a:tc>
                  <a:txBody>
                    <a:bodyPr/>
                    <a:lstStyle/>
                    <a:p>
                      <a:pPr algn="l" fontAlgn="ctr"/>
                      <a:r>
                        <a:rPr lang="ko-KR" altLang="en-US" sz="800" b="0" i="0" u="none" strike="noStrike">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684685"/>
                  </a:ext>
                </a:extLst>
              </a:tr>
              <a:tr h="0">
                <a:tc>
                  <a:txBody>
                    <a:bodyPr/>
                    <a:lstStyle/>
                    <a:p>
                      <a:pPr algn="l" fontAlgn="ctr"/>
                      <a:r>
                        <a:rPr lang="ko-KR" altLang="en-US" sz="800" b="0" i="0" u="none" strike="noStrike">
                          <a:solidFill>
                            <a:srgbClr val="000000"/>
                          </a:solidFill>
                          <a:effectLst/>
                          <a:latin typeface="+mn-ea"/>
                          <a:ea typeface="+mn-ea"/>
                        </a:rPr>
                        <a:t>개찰일시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6532521"/>
                  </a:ext>
                </a:extLst>
              </a:tr>
              <a:tr h="0">
                <a:tc>
                  <a:txBody>
                    <a:bodyPr/>
                    <a:lstStyle/>
                    <a:p>
                      <a:pPr algn="l" fontAlgn="ctr"/>
                      <a:r>
                        <a:rPr lang="ko-KR" altLang="en-US" sz="800" b="0" i="0" u="none" strike="noStrike">
                          <a:solidFill>
                            <a:srgbClr val="000000"/>
                          </a:solidFill>
                          <a:effectLst/>
                          <a:latin typeface="+mn-ea"/>
                          <a:ea typeface="+mn-ea"/>
                        </a:rPr>
                        <a:t>환율적용일자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환율적용일자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1664787"/>
                  </a:ext>
                </a:extLst>
              </a:tr>
              <a:tr h="0">
                <a:tc>
                  <a:txBody>
                    <a:bodyPr/>
                    <a:lstStyle/>
                    <a:p>
                      <a:pPr algn="l" fontAlgn="ctr"/>
                      <a:r>
                        <a:rPr lang="ko-KR" altLang="en-US" sz="800" b="0" i="0" u="none" strike="noStrike">
                          <a:solidFill>
                            <a:srgbClr val="000000"/>
                          </a:solidFill>
                          <a:effectLst/>
                          <a:latin typeface="+mn-ea"/>
                          <a:ea typeface="+mn-ea"/>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8347116"/>
                  </a:ext>
                </a:extLst>
              </a:tr>
              <a:tr h="0">
                <a:tc>
                  <a:txBody>
                    <a:bodyPr/>
                    <a:lstStyle/>
                    <a:p>
                      <a:pPr algn="l" fontAlgn="ctr"/>
                      <a:r>
                        <a:rPr lang="ko-KR" altLang="en-US" sz="800" b="0" i="0" u="none" strike="noStrike">
                          <a:solidFill>
                            <a:srgbClr val="000000"/>
                          </a:solidFill>
                          <a:effectLst/>
                          <a:latin typeface="+mn-ea"/>
                          <a:ea typeface="+mn-ea"/>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a:solidFill>
                            <a:srgbClr val="000000"/>
                          </a:solidFill>
                          <a:effectLst/>
                          <a:latin typeface="+mn-ea"/>
                          <a:ea typeface="+mn-ea"/>
                        </a:rPr>
                        <a:t>연락처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연락처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B8CDDD2D-4887-09C2-7266-AB4432087CE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8" name="TextBox 7">
            <a:extLst>
              <a:ext uri="{FF2B5EF4-FFF2-40B4-BE49-F238E27FC236}">
                <a16:creationId xmlns:a16="http://schemas.microsoft.com/office/drawing/2014/main" id="{D5EA5C09-12B5-B078-3C9A-7C9DFD9C4D01}"/>
              </a:ext>
            </a:extLst>
          </p:cNvPr>
          <p:cNvSpPr txBox="1"/>
          <p:nvPr/>
        </p:nvSpPr>
        <p:spPr>
          <a:xfrm>
            <a:off x="458117" y="4726698"/>
            <a:ext cx="2586212" cy="211203"/>
          </a:xfrm>
          <a:prstGeom prst="rect">
            <a:avLst/>
          </a:prstGeom>
          <a:noFill/>
        </p:spPr>
        <p:txBody>
          <a:bodyPr wrap="none" lIns="36000" tIns="36000" rIns="36000" bIns="36000" rtlCol="0">
            <a:spAutoFit/>
          </a:bodyPr>
          <a:lstStyle/>
          <a:p>
            <a:r>
              <a:rPr lang="en-US" altLang="ko-KR" sz="900" b="1">
                <a:solidFill>
                  <a:prstClr val="black"/>
                </a:solidFill>
              </a:rPr>
              <a:t>1.2. </a:t>
            </a:r>
            <a:r>
              <a:rPr lang="ko-KR" altLang="en-US" sz="900" b="1">
                <a:solidFill>
                  <a:prstClr val="black"/>
                </a:solidFill>
              </a:rPr>
              <a:t>입찰내역일괄적용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(dl_fwkInfo)</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AA6DE14E-3F2D-C3AF-BE80-02E00C38DB2C}"/>
              </a:ext>
            </a:extLst>
          </p:cNvPr>
          <p:cNvGraphicFramePr>
            <a:graphicFrameLocks noGrp="1"/>
          </p:cNvGraphicFramePr>
          <p:nvPr/>
        </p:nvGraphicFramePr>
        <p:xfrm>
          <a:off x="452999" y="4937901"/>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770801"/>
                  </a:ext>
                </a:extLst>
              </a:tr>
            </a:tbl>
          </a:graphicData>
        </a:graphic>
      </p:graphicFrame>
    </p:spTree>
    <p:extLst>
      <p:ext uri="{BB962C8B-B14F-4D97-AF65-F5344CB8AC3E}">
        <p14:creationId xmlns:p14="http://schemas.microsoft.com/office/powerpoint/2010/main" val="3690165064"/>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316</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(2/2)</a:t>
            </a:r>
            <a:endParaRPr lang="ko-KR" altLang="en-US" sz="1000" b="1" dirty="0">
              <a:solidFill>
                <a:prstClr val="black"/>
              </a:solidFill>
            </a:endParaRPr>
          </a:p>
        </p:txBody>
      </p:sp>
      <p:sp>
        <p:nvSpPr>
          <p:cNvPr id="2" name="TextBox 1">
            <a:extLst>
              <a:ext uri="{FF2B5EF4-FFF2-40B4-BE49-F238E27FC236}">
                <a16:creationId xmlns:a16="http://schemas.microsoft.com/office/drawing/2014/main" id="{6EC1DB6F-756B-3ECF-DF5B-01F7E95AC086}"/>
              </a:ext>
            </a:extLst>
          </p:cNvPr>
          <p:cNvSpPr txBox="1"/>
          <p:nvPr/>
        </p:nvSpPr>
        <p:spPr>
          <a:xfrm>
            <a:off x="458117" y="799547"/>
            <a:ext cx="2871546" cy="211203"/>
          </a:xfrm>
          <a:prstGeom prst="rect">
            <a:avLst/>
          </a:prstGeom>
          <a:noFill/>
        </p:spPr>
        <p:txBody>
          <a:bodyPr wrap="none" lIns="36000" tIns="36000" rIns="36000" bIns="36000" rtlCol="0">
            <a:spAutoFit/>
          </a:bodyPr>
          <a:lstStyle/>
          <a:p>
            <a:r>
              <a:rPr lang="en-US" altLang="ko-KR" sz="900" b="1">
                <a:solidFill>
                  <a:prstClr val="black"/>
                </a:solidFill>
              </a:rPr>
              <a:t>1.3. </a:t>
            </a:r>
            <a:r>
              <a:rPr lang="ko-KR" altLang="en-US" sz="900" b="1">
                <a:solidFill>
                  <a:prstClr val="black"/>
                </a:solidFill>
              </a:rPr>
              <a:t>입찰내역</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(dl_ititbBidCnList)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E64A895E-65AD-627E-D8DD-170FFDF6E50D}"/>
              </a:ext>
            </a:extLst>
          </p:cNvPr>
          <p:cNvGraphicFramePr>
            <a:graphicFrameLocks noGrp="1"/>
          </p:cNvGraphicFramePr>
          <p:nvPr/>
        </p:nvGraphicFramePr>
        <p:xfrm>
          <a:off x="452999" y="1010750"/>
          <a:ext cx="8994883" cy="5263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r h="0">
                <a:tc>
                  <a:txBody>
                    <a:bodyPr/>
                    <a:lstStyle/>
                    <a:p>
                      <a:pPr algn="l" fontAlgn="ct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1673799"/>
                  </a:ext>
                </a:extLst>
              </a:tr>
              <a:tr h="0">
                <a:tc>
                  <a:txBody>
                    <a:bodyPr/>
                    <a:lstStyle/>
                    <a:p>
                      <a:pPr algn="l" fontAlgn="ctr"/>
                      <a:r>
                        <a:rPr lang="ko-KR" altLang="en-US" sz="800" b="0" i="0" u="none" strike="noStrike">
                          <a:solidFill>
                            <a:srgbClr val="000000"/>
                          </a:solidFill>
                          <a:effectLst/>
                          <a:latin typeface="+mn-ea"/>
                          <a:ea typeface="+mn-ea"/>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4568633"/>
                  </a:ext>
                </a:extLst>
              </a:tr>
              <a:tr h="0">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(As it is / Replace)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24155434"/>
                  </a:ext>
                </a:extLst>
              </a:tr>
              <a:tr h="0">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a:latin typeface="+mn-ea"/>
                          <a:ea typeface="+mn-ea"/>
                        </a:rPr>
                        <a:t>품목대체구분이 </a:t>
                      </a:r>
                      <a:r>
                        <a:rPr lang="en-US" altLang="ko-KR" sz="800">
                          <a:latin typeface="+mn-ea"/>
                          <a:ea typeface="+mn-ea"/>
                        </a:rPr>
                        <a:t>“Replace”</a:t>
                      </a:r>
                      <a:r>
                        <a:rPr lang="ko-KR" altLang="en-US" sz="800">
                          <a:latin typeface="+mn-ea"/>
                          <a:ea typeface="+mn-ea"/>
                        </a:rPr>
                        <a:t>인 경우</a:t>
                      </a:r>
                      <a:r>
                        <a:rPr lang="en-US" altLang="ko-KR" sz="800">
                          <a:latin typeface="+mn-ea"/>
                          <a:ea typeface="+mn-ea"/>
                        </a:rPr>
                        <a:t>, </a:t>
                      </a:r>
                      <a:r>
                        <a:rPr lang="ko-KR" altLang="en-US" sz="800">
                          <a:latin typeface="+mn-ea"/>
                          <a:ea typeface="+mn-ea"/>
                        </a:rPr>
                        <a:t>활성화</a:t>
                      </a:r>
                      <a:endParaRPr lang="en-US" altLang="ko-KR" sz="80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a:latin typeface="+mn-ea"/>
                          <a:ea typeface="+mn-ea"/>
                        </a:rPr>
                        <a:t>품목대체구분이 </a:t>
                      </a:r>
                      <a:r>
                        <a:rPr lang="en-US" altLang="ko-KR" sz="800">
                          <a:latin typeface="+mn-ea"/>
                          <a:ea typeface="+mn-ea"/>
                        </a:rPr>
                        <a:t>“Replace”</a:t>
                      </a:r>
                      <a:r>
                        <a:rPr lang="ko-KR" altLang="en-US" sz="800">
                          <a:latin typeface="+mn-ea"/>
                          <a:ea typeface="+mn-ea"/>
                        </a:rPr>
                        <a:t>인 경우</a:t>
                      </a:r>
                      <a:r>
                        <a:rPr lang="en-US" altLang="ko-KR" sz="800">
                          <a:latin typeface="+mn-ea"/>
                          <a:ea typeface="+mn-ea"/>
                        </a:rPr>
                        <a:t>, </a:t>
                      </a:r>
                      <a:r>
                        <a:rPr lang="ko-KR" altLang="en-US" sz="800">
                          <a:latin typeface="+mn-ea"/>
                          <a:ea typeface="+mn-ea"/>
                        </a:rPr>
                        <a:t>필수입력</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941089"/>
                  </a:ext>
                </a:extLst>
              </a:tr>
              <a:tr h="0">
                <a:tc>
                  <a:txBody>
                    <a:bodyPr/>
                    <a:lstStyle/>
                    <a:p>
                      <a:pPr algn="l" fontAlgn="ctr"/>
                      <a:r>
                        <a:rPr lang="ko-KR" altLang="en-US" sz="800" b="0" i="0" u="none" strike="noStrike">
                          <a:solidFill>
                            <a:srgbClr val="000000"/>
                          </a:solidFill>
                          <a:effectLst/>
                          <a:latin typeface="+mn-ea"/>
                          <a:ea typeface="+mn-ea"/>
                        </a:rPr>
                        <a:t>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a:latin typeface="+mn-ea"/>
                          <a:ea typeface="+mn-ea"/>
                        </a:rPr>
                        <a:t>품목대체구분이 </a:t>
                      </a:r>
                      <a:r>
                        <a:rPr lang="en-US" altLang="ko-KR" sz="800">
                          <a:latin typeface="+mn-ea"/>
                          <a:ea typeface="+mn-ea"/>
                        </a:rPr>
                        <a:t>“Replace”</a:t>
                      </a:r>
                      <a:r>
                        <a:rPr lang="ko-KR" altLang="en-US" sz="800">
                          <a:latin typeface="+mn-ea"/>
                          <a:ea typeface="+mn-ea"/>
                        </a:rPr>
                        <a:t>인 경우</a:t>
                      </a:r>
                      <a:r>
                        <a:rPr lang="en-US" altLang="ko-KR" sz="800">
                          <a:latin typeface="+mn-ea"/>
                          <a:ea typeface="+mn-ea"/>
                        </a:rPr>
                        <a:t>, </a:t>
                      </a:r>
                      <a:r>
                        <a:rPr lang="ko-KR" altLang="en-US" sz="800">
                          <a:latin typeface="+mn-ea"/>
                          <a:ea typeface="+mn-ea"/>
                        </a:rPr>
                        <a:t>활성화</a:t>
                      </a:r>
                      <a:endParaRPr lang="en-US" altLang="ko-KR" sz="80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a:latin typeface="+mn-ea"/>
                          <a:ea typeface="+mn-ea"/>
                        </a:rPr>
                        <a:t>품목대체구분이 </a:t>
                      </a:r>
                      <a:r>
                        <a:rPr lang="en-US" altLang="ko-KR" sz="800">
                          <a:latin typeface="+mn-ea"/>
                          <a:ea typeface="+mn-ea"/>
                        </a:rPr>
                        <a:t>“Replace”</a:t>
                      </a:r>
                      <a:r>
                        <a:rPr lang="ko-KR" altLang="en-US" sz="800">
                          <a:latin typeface="+mn-ea"/>
                          <a:ea typeface="+mn-ea"/>
                        </a:rPr>
                        <a:t>인 경우</a:t>
                      </a:r>
                      <a:r>
                        <a:rPr lang="en-US" altLang="ko-KR" sz="800">
                          <a:latin typeface="+mn-ea"/>
                          <a:ea typeface="+mn-ea"/>
                        </a:rPr>
                        <a:t>, </a:t>
                      </a:r>
                      <a:r>
                        <a:rPr lang="ko-KR" altLang="en-US" sz="800">
                          <a:latin typeface="+mn-ea"/>
                          <a:ea typeface="+mn-ea"/>
                        </a:rPr>
                        <a:t>필수입력</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929951"/>
                  </a:ext>
                </a:extLst>
              </a:tr>
              <a:tr h="0">
                <a:tc>
                  <a:txBody>
                    <a:bodyPr/>
                    <a:lstStyle/>
                    <a:p>
                      <a:pPr algn="l" fontAlgn="ctr"/>
                      <a:r>
                        <a:rPr lang="ko-KR" altLang="en-US" sz="800" b="0" i="0" u="none" strike="noStrike">
                          <a:solidFill>
                            <a:srgbClr val="000000"/>
                          </a:solidFill>
                          <a:effectLst/>
                          <a:latin typeface="+mn-ea"/>
                          <a:ea typeface="+mn-ea"/>
                        </a:rPr>
                        <a:t>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a:latin typeface="+mn-ea"/>
                          <a:ea typeface="+mn-ea"/>
                        </a:rPr>
                        <a:t>품목대체구분이 </a:t>
                      </a:r>
                      <a:r>
                        <a:rPr lang="en-US" altLang="ko-KR" sz="800">
                          <a:latin typeface="+mn-ea"/>
                          <a:ea typeface="+mn-ea"/>
                        </a:rPr>
                        <a:t>“Replace”</a:t>
                      </a:r>
                      <a:r>
                        <a:rPr lang="ko-KR" altLang="en-US" sz="800">
                          <a:latin typeface="+mn-ea"/>
                          <a:ea typeface="+mn-ea"/>
                        </a:rPr>
                        <a:t>인 경우</a:t>
                      </a:r>
                      <a:r>
                        <a:rPr lang="en-US" altLang="ko-KR" sz="800">
                          <a:latin typeface="+mn-ea"/>
                          <a:ea typeface="+mn-ea"/>
                        </a:rPr>
                        <a:t>, </a:t>
                      </a:r>
                      <a:r>
                        <a:rPr lang="ko-KR" altLang="en-US" sz="800">
                          <a:latin typeface="+mn-ea"/>
                          <a:ea typeface="+mn-ea"/>
                        </a:rPr>
                        <a:t>활성화</a:t>
                      </a:r>
                      <a:endParaRPr lang="en-US" altLang="ko-KR" sz="80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a:latin typeface="+mn-ea"/>
                          <a:ea typeface="+mn-ea"/>
                        </a:rPr>
                        <a:t>품목대체구분이 </a:t>
                      </a:r>
                      <a:r>
                        <a:rPr lang="en-US" altLang="ko-KR" sz="800">
                          <a:latin typeface="+mn-ea"/>
                          <a:ea typeface="+mn-ea"/>
                        </a:rPr>
                        <a:t>“Replace”</a:t>
                      </a:r>
                      <a:r>
                        <a:rPr lang="ko-KR" altLang="en-US" sz="800">
                          <a:latin typeface="+mn-ea"/>
                          <a:ea typeface="+mn-ea"/>
                        </a:rPr>
                        <a:t>인 경우</a:t>
                      </a:r>
                      <a:r>
                        <a:rPr lang="en-US" altLang="ko-KR" sz="800">
                          <a:latin typeface="+mn-ea"/>
                          <a:ea typeface="+mn-ea"/>
                        </a:rPr>
                        <a:t>, </a:t>
                      </a:r>
                      <a:r>
                        <a:rPr lang="ko-KR" altLang="en-US" sz="800">
                          <a:latin typeface="+mn-ea"/>
                          <a:ea typeface="+mn-ea"/>
                        </a:rPr>
                        <a:t>필수입력</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87599421"/>
                  </a:ext>
                </a:extLst>
              </a:tr>
              <a:tr h="0">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rgbClr val="000000"/>
                          </a:solidFill>
                          <a:effectLst/>
                          <a:latin typeface="+mn-ea"/>
                          <a:ea typeface="+mn-ea"/>
                        </a:rPr>
                        <a:t>MOQ </a:t>
                      </a:r>
                      <a:r>
                        <a:rPr lang="ko-KR" altLang="en-US" sz="800" b="0" i="0" u="none" strike="noStrike" dirty="0">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(Y / 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9061956"/>
                  </a:ext>
                </a:extLst>
              </a:tr>
              <a:tr h="0">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a:latin typeface="+mn-ea"/>
                          <a:ea typeface="+mn-ea"/>
                        </a:rPr>
                        <a:t>MOQ</a:t>
                      </a:r>
                      <a:r>
                        <a:rPr lang="ko-KR" altLang="en-US" sz="800">
                          <a:latin typeface="+mn-ea"/>
                          <a:ea typeface="+mn-ea"/>
                        </a:rPr>
                        <a:t>구분이 </a:t>
                      </a:r>
                      <a:r>
                        <a:rPr lang="en-US" altLang="ko-KR" sz="800">
                          <a:latin typeface="+mn-ea"/>
                          <a:ea typeface="+mn-ea"/>
                        </a:rPr>
                        <a:t>“Y”</a:t>
                      </a:r>
                      <a:r>
                        <a:rPr lang="ko-KR" altLang="en-US" sz="800">
                          <a:latin typeface="+mn-ea"/>
                          <a:ea typeface="+mn-ea"/>
                        </a:rPr>
                        <a:t>인 경우</a:t>
                      </a:r>
                      <a:r>
                        <a:rPr lang="en-US" altLang="ko-KR" sz="800">
                          <a:latin typeface="+mn-ea"/>
                          <a:ea typeface="+mn-ea"/>
                        </a:rPr>
                        <a:t>, </a:t>
                      </a:r>
                      <a:r>
                        <a:rPr lang="ko-KR" altLang="en-US" sz="800">
                          <a:latin typeface="+mn-ea"/>
                          <a:ea typeface="+mn-ea"/>
                        </a:rPr>
                        <a:t>활성화</a:t>
                      </a:r>
                      <a:endParaRPr lang="en-US" altLang="ko-KR" sz="80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a:latin typeface="+mn-ea"/>
                          <a:ea typeface="+mn-ea"/>
                        </a:rPr>
                        <a:t>MOQ</a:t>
                      </a:r>
                      <a:r>
                        <a:rPr lang="ko-KR" altLang="en-US" sz="800">
                          <a:latin typeface="+mn-ea"/>
                          <a:ea typeface="+mn-ea"/>
                        </a:rPr>
                        <a:t>구분이 </a:t>
                      </a:r>
                      <a:r>
                        <a:rPr lang="en-US" altLang="ko-KR" sz="800">
                          <a:latin typeface="+mn-ea"/>
                          <a:ea typeface="+mn-ea"/>
                        </a:rPr>
                        <a:t>“Y”</a:t>
                      </a:r>
                      <a:r>
                        <a:rPr lang="ko-KR" altLang="en-US" sz="800">
                          <a:latin typeface="+mn-ea"/>
                          <a:ea typeface="+mn-ea"/>
                        </a:rPr>
                        <a:t>인 경우</a:t>
                      </a:r>
                      <a:r>
                        <a:rPr lang="en-US" altLang="ko-KR" sz="800">
                          <a:latin typeface="+mn-ea"/>
                          <a:ea typeface="+mn-ea"/>
                        </a:rPr>
                        <a:t>, </a:t>
                      </a:r>
                      <a:r>
                        <a:rPr lang="ko-KR" altLang="en-US" sz="800">
                          <a:latin typeface="+mn-ea"/>
                          <a:ea typeface="+mn-ea"/>
                        </a:rPr>
                        <a:t>필수입력</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9809737"/>
                  </a:ext>
                </a:extLst>
              </a:tr>
              <a:tr h="0">
                <a:tc>
                  <a:txBody>
                    <a:bodyPr/>
                    <a:lstStyle/>
                    <a:p>
                      <a:pPr algn="l" fontAlgn="ctr"/>
                      <a:r>
                        <a:rPr lang="en-US" sz="800" b="0" i="0" u="none" strike="noStrike" dirty="0">
                          <a:solidFill>
                            <a:srgbClr val="000000"/>
                          </a:solidFill>
                          <a:effectLst/>
                          <a:latin typeface="+mn-ea"/>
                          <a:ea typeface="+mn-ea"/>
                        </a:rPr>
                        <a:t>MOQ</a:t>
                      </a:r>
                      <a:r>
                        <a:rPr lang="ko-KR" altLang="en-US" sz="800" b="0" i="0" u="none" strike="noStrike" dirty="0">
                          <a:solidFill>
                            <a:srgbClr val="000000"/>
                          </a:solidFill>
                          <a:effectLst/>
                          <a:latin typeface="+mn-ea"/>
                          <a:ea typeface="+mn-ea"/>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a:latin typeface="+mn-ea"/>
                          <a:ea typeface="+mn-ea"/>
                        </a:rPr>
                        <a:t>MOQ</a:t>
                      </a:r>
                      <a:r>
                        <a:rPr lang="ko-KR" altLang="en-US" sz="800">
                          <a:latin typeface="+mn-ea"/>
                          <a:ea typeface="+mn-ea"/>
                        </a:rPr>
                        <a:t>구분이 </a:t>
                      </a:r>
                      <a:r>
                        <a:rPr lang="en-US" altLang="ko-KR" sz="800">
                          <a:latin typeface="+mn-ea"/>
                          <a:ea typeface="+mn-ea"/>
                        </a:rPr>
                        <a:t>“Y”</a:t>
                      </a:r>
                      <a:r>
                        <a:rPr lang="ko-KR" altLang="en-US" sz="800">
                          <a:latin typeface="+mn-ea"/>
                          <a:ea typeface="+mn-ea"/>
                        </a:rPr>
                        <a:t>인 경우</a:t>
                      </a:r>
                      <a:r>
                        <a:rPr lang="en-US" altLang="ko-KR" sz="800">
                          <a:latin typeface="+mn-ea"/>
                          <a:ea typeface="+mn-ea"/>
                        </a:rPr>
                        <a:t>, </a:t>
                      </a:r>
                      <a:r>
                        <a:rPr lang="ko-KR" altLang="en-US" sz="800">
                          <a:latin typeface="+mn-ea"/>
                          <a:ea typeface="+mn-ea"/>
                        </a:rPr>
                        <a:t>활성화</a:t>
                      </a:r>
                      <a:endParaRPr lang="en-US" altLang="ko-KR" sz="80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a:latin typeface="+mn-ea"/>
                          <a:ea typeface="+mn-ea"/>
                        </a:rPr>
                        <a:t>MOQ</a:t>
                      </a:r>
                      <a:r>
                        <a:rPr lang="ko-KR" altLang="en-US" sz="800">
                          <a:latin typeface="+mn-ea"/>
                          <a:ea typeface="+mn-ea"/>
                        </a:rPr>
                        <a:t>구분이 </a:t>
                      </a:r>
                      <a:r>
                        <a:rPr lang="en-US" altLang="ko-KR" sz="800">
                          <a:latin typeface="+mn-ea"/>
                          <a:ea typeface="+mn-ea"/>
                        </a:rPr>
                        <a:t>“Y”</a:t>
                      </a:r>
                      <a:r>
                        <a:rPr lang="ko-KR" altLang="en-US" sz="800">
                          <a:latin typeface="+mn-ea"/>
                          <a:ea typeface="+mn-ea"/>
                        </a:rPr>
                        <a:t>인 경우</a:t>
                      </a:r>
                      <a:r>
                        <a:rPr lang="en-US" altLang="ko-KR" sz="800">
                          <a:latin typeface="+mn-ea"/>
                          <a:ea typeface="+mn-ea"/>
                        </a:rPr>
                        <a:t>, </a:t>
                      </a:r>
                      <a:r>
                        <a:rPr lang="ko-KR" altLang="en-US" sz="800">
                          <a:latin typeface="+mn-ea"/>
                          <a:ea typeface="+mn-ea"/>
                        </a:rPr>
                        <a:t>필수입력</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0739781"/>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본조</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국가 예산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9848704"/>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당국</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당해년도 국채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3670449"/>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장국</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장기국채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6404054"/>
                  </a:ext>
                </a:extLst>
              </a:tr>
              <a:tr h="0">
                <a:tc>
                  <a:txBody>
                    <a:bodyPr/>
                    <a:lstStyle/>
                    <a:p>
                      <a:pPr algn="l" fontAlgn="ctr"/>
                      <a:r>
                        <a:rPr lang="ko-KR" altLang="en-US" sz="800" b="0" i="0" u="none" strike="noStrike">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04595397"/>
                  </a:ext>
                </a:extLst>
              </a:tr>
              <a:tr h="0">
                <a:tc>
                  <a:txBody>
                    <a:bodyPr/>
                    <a:lstStyle/>
                    <a:p>
                      <a:pPr algn="l" fontAlgn="ctr"/>
                      <a:r>
                        <a:rPr lang="ko-KR" altLang="en-US" sz="800" b="0" i="0" u="none" strike="noStrike" dirty="0">
                          <a:solidFill>
                            <a:srgbClr val="000000"/>
                          </a:solidFill>
                          <a:effectLst/>
                          <a:latin typeface="+mn-ea"/>
                          <a:ea typeface="+mn-ea"/>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9750289"/>
                  </a:ext>
                </a:extLst>
              </a:tr>
              <a:tr h="0">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3809566"/>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입찰단가의 화페단위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8185639"/>
                  </a:ext>
                </a:extLst>
              </a:tr>
              <a:tr h="0">
                <a:tc>
                  <a:txBody>
                    <a:bodyPr/>
                    <a:lstStyle/>
                    <a:p>
                      <a:pPr algn="l" fontAlgn="ctr"/>
                      <a:r>
                        <a:rPr lang="ko-KR" altLang="en-US" sz="800" b="0" i="0" u="none" strike="noStrike">
                          <a:solidFill>
                            <a:srgbClr val="000000"/>
                          </a:solidFill>
                          <a:effectLst/>
                          <a:latin typeface="+mn-ea"/>
                          <a:ea typeface="+mn-ea"/>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C6D8C3C5-92D6-644C-4F38-14715FB864C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34684057"/>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317</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(3/3)</a:t>
            </a:r>
            <a:endParaRPr lang="ko-KR" altLang="en-US" sz="1000" b="1" dirty="0">
              <a:solidFill>
                <a:prstClr val="black"/>
              </a:solidFill>
            </a:endParaRPr>
          </a:p>
        </p:txBody>
      </p:sp>
      <p:sp>
        <p:nvSpPr>
          <p:cNvPr id="2" name="TextBox 1">
            <a:extLst>
              <a:ext uri="{FF2B5EF4-FFF2-40B4-BE49-F238E27FC236}">
                <a16:creationId xmlns:a16="http://schemas.microsoft.com/office/drawing/2014/main" id="{6EC1DB6F-756B-3ECF-DF5B-01F7E95AC086}"/>
              </a:ext>
            </a:extLst>
          </p:cNvPr>
          <p:cNvSpPr txBox="1"/>
          <p:nvPr/>
        </p:nvSpPr>
        <p:spPr>
          <a:xfrm>
            <a:off x="458117" y="799547"/>
            <a:ext cx="2935666"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입찰품목</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(dl_alonbsItemList)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E64A895E-65AD-627E-D8DD-170FFDF6E50D}"/>
              </a:ext>
            </a:extLst>
          </p:cNvPr>
          <p:cNvGraphicFramePr>
            <a:graphicFrameLocks noGrp="1"/>
          </p:cNvGraphicFramePr>
          <p:nvPr/>
        </p:nvGraphicFramePr>
        <p:xfrm>
          <a:off x="452999" y="1010750"/>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r h="0">
                <a:tc>
                  <a:txBody>
                    <a:bodyPr/>
                    <a:lstStyle/>
                    <a:p>
                      <a:pPr algn="l" fontAlgn="ct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1673799"/>
                  </a:ext>
                </a:extLst>
              </a:tr>
            </a:tbl>
          </a:graphicData>
        </a:graphic>
      </p:graphicFrame>
      <p:sp>
        <p:nvSpPr>
          <p:cNvPr id="4" name="Text Box 73">
            <a:extLst>
              <a:ext uri="{FF2B5EF4-FFF2-40B4-BE49-F238E27FC236}">
                <a16:creationId xmlns:a16="http://schemas.microsoft.com/office/drawing/2014/main" id="{C6D8C3C5-92D6-644C-4F38-14715FB864C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267B3668-0026-4623-457A-028378931DF7}"/>
              </a:ext>
            </a:extLst>
          </p:cNvPr>
          <p:cNvSpPr txBox="1"/>
          <p:nvPr/>
        </p:nvSpPr>
        <p:spPr>
          <a:xfrm>
            <a:off x="458117" y="3217797"/>
            <a:ext cx="3039862"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a:solidFill>
                  <a:prstClr val="black"/>
                </a:solidFill>
              </a:rPr>
              <a:t>입찰내역</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(dl_alonbsBidCnInfo)</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DD01AC2E-06FD-EA6C-DF65-3E217C5B5B75}"/>
              </a:ext>
            </a:extLst>
          </p:cNvPr>
          <p:cNvGraphicFramePr>
            <a:graphicFrameLocks noGrp="1"/>
          </p:cNvGraphicFramePr>
          <p:nvPr/>
        </p:nvGraphicFramePr>
        <p:xfrm>
          <a:off x="452999" y="3429000"/>
          <a:ext cx="8994883" cy="1163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bl>
          </a:graphicData>
        </a:graphic>
      </p:graphicFrame>
    </p:spTree>
    <p:extLst>
      <p:ext uri="{BB962C8B-B14F-4D97-AF65-F5344CB8AC3E}">
        <p14:creationId xmlns:p14="http://schemas.microsoft.com/office/powerpoint/2010/main" val="1465410404"/>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7FB2BC88-D058-584B-6E43-87812BA1225D}"/>
              </a:ext>
            </a:extLst>
          </p:cNvPr>
          <p:cNvSpPr>
            <a:spLocks noGrp="1"/>
          </p:cNvSpPr>
          <p:nvPr>
            <p:ph type="sldNum" sz="quarter" idx="4"/>
          </p:nvPr>
        </p:nvSpPr>
        <p:spPr/>
        <p:txBody>
          <a:bodyPr/>
          <a:lstStyle/>
          <a:p>
            <a:fld id="{34C8E023-7346-48FC-AB24-9A3388C53208}" type="slidenum">
              <a:rPr lang="ko-KR" altLang="en-US" smtClean="0"/>
              <a:pPr/>
              <a:t>318</a:t>
            </a:fld>
            <a:endParaRPr lang="ko-KR" altLang="en-US" dirty="0"/>
          </a:p>
        </p:txBody>
      </p:sp>
      <p:sp>
        <p:nvSpPr>
          <p:cNvPr id="3" name="TextBox 2">
            <a:extLst>
              <a:ext uri="{FF2B5EF4-FFF2-40B4-BE49-F238E27FC236}">
                <a16:creationId xmlns:a16="http://schemas.microsoft.com/office/drawing/2014/main" id="{AFC0F452-7196-DE77-373F-0BCB0D49FFBC}"/>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C29C8687-867B-CB07-ACAF-8274E0069D46}"/>
              </a:ext>
            </a:extLst>
          </p:cNvPr>
          <p:cNvGraphicFramePr>
            <a:graphicFrameLocks noGrp="1"/>
          </p:cNvGraphicFramePr>
          <p:nvPr>
            <p:extLst>
              <p:ext uri="{D42A27DB-BD31-4B8C-83A1-F6EECF244321}">
                <p14:modId xmlns:p14="http://schemas.microsoft.com/office/powerpoint/2010/main" val="1905426355"/>
              </p:ext>
            </p:extLst>
          </p:nvPr>
        </p:nvGraphicFramePr>
        <p:xfrm>
          <a:off x="458117" y="799547"/>
          <a:ext cx="8995591" cy="3496320"/>
        </p:xfrm>
        <a:graphic>
          <a:graphicData uri="http://schemas.openxmlformats.org/drawingml/2006/table">
            <a:tbl>
              <a:tblPr>
                <a:tableStyleId>{616DA210-FB5B-4158-B5E0-FEB733F419BA}</a:tableStyleId>
              </a:tblPr>
              <a:tblGrid>
                <a:gridCol w="1437358">
                  <a:extLst>
                    <a:ext uri="{9D8B030D-6E8A-4147-A177-3AD203B41FA5}">
                      <a16:colId xmlns:a16="http://schemas.microsoft.com/office/drawing/2014/main" val="20000"/>
                    </a:ext>
                  </a:extLst>
                </a:gridCol>
                <a:gridCol w="1476375">
                  <a:extLst>
                    <a:ext uri="{9D8B030D-6E8A-4147-A177-3AD203B41FA5}">
                      <a16:colId xmlns:a16="http://schemas.microsoft.com/office/drawing/2014/main" val="624624882"/>
                    </a:ext>
                  </a:extLst>
                </a:gridCol>
                <a:gridCol w="3657600">
                  <a:extLst>
                    <a:ext uri="{9D8B030D-6E8A-4147-A177-3AD203B41FA5}">
                      <a16:colId xmlns:a16="http://schemas.microsoft.com/office/drawing/2014/main" val="20001"/>
                    </a:ext>
                  </a:extLst>
                </a:gridCol>
                <a:gridCol w="242425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공고상세</a:t>
                      </a:r>
                      <a:r>
                        <a:rPr lang="en-US" altLang="ko-KR" sz="800">
                          <a:latin typeface="+mn-ea"/>
                          <a:ea typeface="+mn-ea"/>
                        </a:rPr>
                        <a:t>, </a:t>
                      </a:r>
                      <a:r>
                        <a:rPr lang="ko-KR" altLang="en-US" sz="800">
                          <a:latin typeface="+mn-ea"/>
                          <a:ea typeface="+mn-ea"/>
                        </a:rPr>
                        <a:t>보관함품목 </a:t>
                      </a:r>
                      <a:r>
                        <a:rPr lang="ko-KR" altLang="en-US" sz="800" dirty="0">
                          <a:latin typeface="+mn-ea"/>
                          <a:ea typeface="+mn-ea"/>
                        </a:rPr>
                        <a:t>조회</a:t>
                      </a:r>
                      <a:r>
                        <a:rPr lang="en-US" altLang="ko-KR" sz="800">
                          <a:latin typeface="+mn-ea"/>
                          <a:ea typeface="+mn-ea"/>
                        </a:rPr>
                        <a:t>,  </a:t>
                      </a:r>
                      <a:r>
                        <a:rPr lang="ko-KR" altLang="en-US" sz="800">
                          <a:latin typeface="+mn-ea"/>
                          <a:ea typeface="+mn-ea"/>
                        </a:rPr>
                        <a:t>입찰업체목록 조회</a:t>
                      </a:r>
                      <a:r>
                        <a:rPr lang="en-US" altLang="ko-KR" sz="800">
                          <a:latin typeface="+mn-ea"/>
                          <a:ea typeface="+mn-ea"/>
                        </a:rPr>
                        <a:t>, </a:t>
                      </a:r>
                      <a:r>
                        <a:rPr lang="ko-KR" altLang="en-US" sz="800" dirty="0">
                          <a:latin typeface="+mn-ea"/>
                          <a:ea typeface="+mn-ea"/>
                        </a:rPr>
                        <a:t>화폐단위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입찰공고상세</a:t>
                      </a:r>
                      <a:r>
                        <a:rPr lang="en-US" altLang="ko-KR" sz="800">
                          <a:latin typeface="+mn-ea"/>
                          <a:ea typeface="+mn-ea"/>
                        </a:rPr>
                        <a:t>, </a:t>
                      </a:r>
                      <a:r>
                        <a:rPr lang="ko-KR" altLang="en-US" sz="800">
                          <a:latin typeface="+mn-ea"/>
                          <a:ea typeface="+mn-ea"/>
                        </a:rPr>
                        <a:t>입찰업체목록조회</a:t>
                      </a:r>
                      <a:r>
                        <a:rPr lang="en-US" altLang="ko-KR" sz="800">
                          <a:latin typeface="+mn-ea"/>
                          <a:ea typeface="+mn-ea"/>
                        </a:rPr>
                        <a:t>, </a:t>
                      </a:r>
                      <a:r>
                        <a:rPr lang="ko-KR" altLang="en-US" sz="800">
                          <a:latin typeface="+mn-ea"/>
                          <a:ea typeface="+mn-ea"/>
                        </a:rPr>
                        <a:t>화폐단위조회</a:t>
                      </a:r>
                      <a:r>
                        <a:rPr lang="en-US" altLang="ko-KR" sz="800">
                          <a:latin typeface="+mn-ea"/>
                          <a:ea typeface="+mn-ea"/>
                        </a:rPr>
                        <a:t>, </a:t>
                      </a:r>
                      <a:r>
                        <a:rPr lang="ko-KR" altLang="en-US" sz="800">
                          <a:latin typeface="+mn-ea"/>
                          <a:ea typeface="+mn-ea"/>
                        </a:rPr>
                        <a:t>임시입찰내용조회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선택적용 클릭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scnwin.btn_applySelected_onclick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선택된 입찰업체 및 화폐단위로 선택된 입찰내역</a:t>
                      </a:r>
                      <a:r>
                        <a:rPr lang="en-US" altLang="ko-KR" sz="800">
                          <a:latin typeface="+mn-ea"/>
                          <a:ea typeface="+mn-ea"/>
                        </a:rPr>
                        <a:t>(</a:t>
                      </a:r>
                      <a:r>
                        <a:rPr lang="ko-KR" altLang="en-US" sz="800">
                          <a:latin typeface="+mn-ea"/>
                          <a:ea typeface="+mn-ea"/>
                        </a:rPr>
                        <a:t>단가제</a:t>
                      </a:r>
                      <a:r>
                        <a:rPr lang="en-US" altLang="ko-KR" sz="800">
                          <a:latin typeface="+mn-ea"/>
                          <a:ea typeface="+mn-ea"/>
                        </a:rPr>
                        <a:t>) </a:t>
                      </a:r>
                      <a:r>
                        <a:rPr lang="ko-KR" altLang="en-US" sz="800">
                          <a:latin typeface="+mn-ea"/>
                          <a:ea typeface="+mn-ea"/>
                        </a:rPr>
                        <a:t>그리드행의 값을 변경</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4100933"/>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전체적용 클릭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scnwin.btn_applyAll_onclick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선택된 입찰업체 및 화폐단위로 전체 입찰내역</a:t>
                      </a:r>
                      <a:r>
                        <a:rPr lang="en-US" altLang="ko-KR" sz="800">
                          <a:latin typeface="+mn-ea"/>
                          <a:ea typeface="+mn-ea"/>
                        </a:rPr>
                        <a:t>(</a:t>
                      </a:r>
                      <a:r>
                        <a:rPr lang="ko-KR" altLang="en-US" sz="800">
                          <a:latin typeface="+mn-ea"/>
                          <a:ea typeface="+mn-ea"/>
                        </a:rPr>
                        <a:t>단가제</a:t>
                      </a:r>
                      <a:r>
                        <a:rPr lang="en-US" altLang="ko-KR" sz="800">
                          <a:latin typeface="+mn-ea"/>
                          <a:ea typeface="+mn-ea"/>
                        </a:rPr>
                        <a:t>)</a:t>
                      </a:r>
                      <a:r>
                        <a:rPr lang="ko-KR" altLang="en-US" sz="800">
                          <a:latin typeface="+mn-ea"/>
                          <a:ea typeface="+mn-ea"/>
                        </a:rPr>
                        <a:t>그리드행의 값을 변경</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1043613"/>
                  </a:ext>
                </a:extLst>
              </a:tr>
              <a:tr h="0">
                <a:tc>
                  <a:txBody>
                    <a:bodyPr/>
                    <a:lstStyle/>
                    <a:p>
                      <a:r>
                        <a:rPr lang="ko-KR" altLang="en-US" sz="800" dirty="0"/>
                        <a:t>품목대체구분 변경</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scnwin.sbx_itemReplaceType_onchange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값이 </a:t>
                      </a:r>
                      <a:r>
                        <a:rPr lang="en-US" altLang="ko-KR" sz="800">
                          <a:latin typeface="+mn-ea"/>
                          <a:ea typeface="+mn-ea"/>
                        </a:rPr>
                        <a:t>Replace</a:t>
                      </a:r>
                      <a:r>
                        <a:rPr lang="ko-KR" altLang="en-US" sz="800">
                          <a:latin typeface="+mn-ea"/>
                          <a:ea typeface="+mn-ea"/>
                        </a:rPr>
                        <a:t>인 경우</a:t>
                      </a:r>
                      <a:r>
                        <a:rPr lang="en-US" altLang="ko-KR" sz="800">
                          <a:latin typeface="+mn-ea"/>
                          <a:ea typeface="+mn-ea"/>
                        </a:rPr>
                        <a:t>, </a:t>
                      </a:r>
                      <a:r>
                        <a:rPr lang="ko-KR" altLang="en-US" sz="800">
                          <a:latin typeface="+mn-ea"/>
                          <a:ea typeface="+mn-ea"/>
                        </a:rPr>
                        <a:t>품목대체문서업로드</a:t>
                      </a:r>
                      <a:r>
                        <a:rPr lang="en-US" altLang="ko-KR" sz="800">
                          <a:latin typeface="+mn-ea"/>
                          <a:ea typeface="+mn-ea"/>
                        </a:rPr>
                        <a:t>, </a:t>
                      </a:r>
                      <a:r>
                        <a:rPr lang="ko-KR" altLang="en-US" sz="800">
                          <a:latin typeface="+mn-ea"/>
                          <a:ea typeface="+mn-ea"/>
                        </a:rPr>
                        <a:t>수정재고번호</a:t>
                      </a:r>
                      <a:r>
                        <a:rPr lang="en-US" altLang="ko-KR" sz="800">
                          <a:latin typeface="+mn-ea"/>
                          <a:ea typeface="+mn-ea"/>
                        </a:rPr>
                        <a:t>, </a:t>
                      </a:r>
                      <a:r>
                        <a:rPr lang="ko-KR" altLang="en-US" sz="800">
                          <a:latin typeface="+mn-ea"/>
                          <a:ea typeface="+mn-ea"/>
                        </a:rPr>
                        <a:t>수정부품번호 입력 활성화</a:t>
                      </a:r>
                      <a:r>
                        <a:rPr lang="en-US" altLang="ko-KR" sz="800">
                          <a:latin typeface="+mn-ea"/>
                          <a:ea typeface="+mn-ea"/>
                        </a:rPr>
                        <a:t>. </a:t>
                      </a:r>
                      <a:r>
                        <a:rPr lang="ko-KR" altLang="en-US" sz="800">
                          <a:latin typeface="+mn-ea"/>
                          <a:ea typeface="+mn-ea"/>
                        </a:rPr>
                        <a:t>그 외 비활성화</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6503860"/>
                  </a:ext>
                </a:extLst>
              </a:tr>
              <a:tr h="0">
                <a:tc>
                  <a:txBody>
                    <a:bodyPr/>
                    <a:lstStyle/>
                    <a:p>
                      <a:r>
                        <a:rPr lang="ko-KR" altLang="en-US" sz="800"/>
                        <a:t>업로드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scnwin.btn_openUpload_onclick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첨부문서업로드</a:t>
                      </a:r>
                      <a:r>
                        <a:rPr lang="ko-KR" altLang="en-US" sz="800" dirty="0">
                          <a:latin typeface="+mn-ea"/>
                          <a:ea typeface="+mn-ea"/>
                        </a:rPr>
                        <a:t> 팝업을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UI-BD-04-P75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475007"/>
                  </a:ext>
                </a:extLst>
              </a:tr>
              <a:tr h="0">
                <a:tc>
                  <a:txBody>
                    <a:bodyPr/>
                    <a:lstStyle/>
                    <a:p>
                      <a:r>
                        <a:rPr lang="en-US" altLang="ko-KR" sz="800"/>
                        <a:t>MOQ</a:t>
                      </a:r>
                      <a:r>
                        <a:rPr lang="ko-KR" altLang="en-US" sz="800"/>
                        <a:t>구분 변경</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scnwin.sbx_moqType_onchange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값이 </a:t>
                      </a:r>
                      <a:r>
                        <a:rPr lang="en-US" altLang="ko-KR" sz="800">
                          <a:latin typeface="+mn-ea"/>
                          <a:ea typeface="+mn-ea"/>
                        </a:rPr>
                        <a:t>Y</a:t>
                      </a:r>
                      <a:r>
                        <a:rPr lang="ko-KR" altLang="en-US" sz="800">
                          <a:latin typeface="+mn-ea"/>
                          <a:ea typeface="+mn-ea"/>
                        </a:rPr>
                        <a:t>인 경우</a:t>
                      </a:r>
                      <a:r>
                        <a:rPr lang="en-US" altLang="ko-KR" sz="800">
                          <a:latin typeface="+mn-ea"/>
                          <a:ea typeface="+mn-ea"/>
                        </a:rPr>
                        <a:t>, MOQ</a:t>
                      </a:r>
                      <a:r>
                        <a:rPr lang="ko-KR" altLang="en-US" sz="800">
                          <a:latin typeface="+mn-ea"/>
                          <a:ea typeface="+mn-ea"/>
                        </a:rPr>
                        <a:t>첨부문서업로드</a:t>
                      </a:r>
                      <a:r>
                        <a:rPr lang="en-US" altLang="ko-KR" sz="800">
                          <a:latin typeface="+mn-ea"/>
                          <a:ea typeface="+mn-ea"/>
                        </a:rPr>
                        <a:t>, MOQ</a:t>
                      </a:r>
                      <a:r>
                        <a:rPr lang="ko-KR" altLang="en-US" sz="800">
                          <a:latin typeface="+mn-ea"/>
                          <a:ea typeface="+mn-ea"/>
                        </a:rPr>
                        <a:t>수량 입력 활성화</a:t>
                      </a:r>
                      <a:r>
                        <a:rPr lang="en-US" altLang="ko-KR" sz="800">
                          <a:latin typeface="+mn-ea"/>
                          <a:ea typeface="+mn-ea"/>
                        </a:rPr>
                        <a:t>. </a:t>
                      </a:r>
                      <a:r>
                        <a:rPr lang="ko-KR" altLang="en-US" sz="800">
                          <a:latin typeface="+mn-ea"/>
                          <a:ea typeface="+mn-ea"/>
                        </a:rPr>
                        <a:t>그 외 비활성화</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2809718"/>
                  </a:ext>
                </a:extLst>
              </a:tr>
              <a:tr h="0">
                <a:tc>
                  <a:txBody>
                    <a:bodyPr/>
                    <a:lstStyle/>
                    <a:p>
                      <a:r>
                        <a:rPr lang="ko-KR" altLang="en-US" sz="800" dirty="0"/>
                        <a:t>입찰단가 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scnwin.ibx_unitPrice_onchange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입찰단가 변경</a:t>
                      </a:r>
                      <a:r>
                        <a:rPr lang="en-US" altLang="ko-KR" sz="800">
                          <a:latin typeface="+mn-ea"/>
                          <a:ea typeface="+mn-ea"/>
                        </a:rPr>
                        <a:t> </a:t>
                      </a:r>
                      <a:r>
                        <a:rPr lang="ko-KR" altLang="en-US" sz="800">
                          <a:latin typeface="+mn-ea"/>
                          <a:ea typeface="+mn-ea"/>
                        </a:rPr>
                        <a:t>시</a:t>
                      </a:r>
                      <a:r>
                        <a:rPr lang="en-US" altLang="ko-KR" sz="800">
                          <a:latin typeface="+mn-ea"/>
                          <a:ea typeface="+mn-ea"/>
                        </a:rPr>
                        <a:t>, </a:t>
                      </a:r>
                      <a:r>
                        <a:rPr lang="ko-KR" altLang="en-US" sz="800">
                          <a:latin typeface="+mn-ea"/>
                          <a:ea typeface="+mn-ea"/>
                        </a:rPr>
                        <a:t>입찰금액</a:t>
                      </a:r>
                      <a:r>
                        <a:rPr lang="en-US" altLang="ko-KR" sz="800">
                          <a:latin typeface="+mn-ea"/>
                          <a:ea typeface="+mn-ea"/>
                        </a:rPr>
                        <a:t>/</a:t>
                      </a:r>
                      <a:r>
                        <a:rPr lang="ko-KR" altLang="en-US" sz="800">
                          <a:latin typeface="+mn-ea"/>
                          <a:ea typeface="+mn-ea"/>
                        </a:rPr>
                        <a:t>달러단가</a:t>
                      </a:r>
                      <a:r>
                        <a:rPr lang="en-US" altLang="ko-KR" sz="800">
                          <a:latin typeface="+mn-ea"/>
                          <a:ea typeface="+mn-ea"/>
                        </a:rPr>
                        <a:t>/</a:t>
                      </a:r>
                      <a:r>
                        <a:rPr lang="ko-KR" altLang="en-US" sz="800">
                          <a:latin typeface="+mn-ea"/>
                          <a:ea typeface="+mn-ea"/>
                        </a:rPr>
                        <a:t>달러금액 계산하여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0435977"/>
                  </a:ext>
                </a:extLst>
              </a:tr>
              <a:tr h="0">
                <a:tc>
                  <a:txBody>
                    <a:bodyPr/>
                    <a:lstStyle/>
                    <a:p>
                      <a:r>
                        <a:rPr lang="ko-KR" altLang="en-US" sz="800"/>
                        <a:t>단가제화폐단위 </a:t>
                      </a:r>
                      <a:r>
                        <a:rPr lang="ko-KR" altLang="en-US" sz="800" dirty="0"/>
                        <a:t>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scnwin.sbx_currency_onchange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화폐단위 변경 시</a:t>
                      </a:r>
                      <a:r>
                        <a:rPr lang="en-US" altLang="ko-KR" sz="800">
                          <a:latin typeface="+mn-ea"/>
                          <a:ea typeface="+mn-ea"/>
                        </a:rPr>
                        <a:t>, </a:t>
                      </a:r>
                      <a:r>
                        <a:rPr lang="ko-KR" altLang="en-US" sz="800">
                          <a:latin typeface="+mn-ea"/>
                          <a:ea typeface="+mn-ea"/>
                        </a:rPr>
                        <a:t>달러단가</a:t>
                      </a:r>
                      <a:r>
                        <a:rPr lang="en-US" altLang="ko-KR" sz="800">
                          <a:latin typeface="+mn-ea"/>
                          <a:ea typeface="+mn-ea"/>
                        </a:rPr>
                        <a:t>/</a:t>
                      </a:r>
                      <a:r>
                        <a:rPr lang="ko-KR" altLang="en-US" sz="800">
                          <a:latin typeface="+mn-ea"/>
                          <a:ea typeface="+mn-ea"/>
                        </a:rPr>
                        <a:t>달러금액</a:t>
                      </a:r>
                      <a:r>
                        <a:rPr lang="en-US" altLang="ko-KR" sz="800">
                          <a:latin typeface="+mn-ea"/>
                          <a:ea typeface="+mn-ea"/>
                        </a:rPr>
                        <a:t>/</a:t>
                      </a:r>
                      <a:r>
                        <a:rPr lang="ko-KR" altLang="en-US" sz="800">
                          <a:latin typeface="+mn-ea"/>
                          <a:ea typeface="+mn-ea"/>
                        </a:rPr>
                        <a:t>달러환산율 </a:t>
                      </a:r>
                      <a:r>
                        <a:rPr lang="ko-KR" altLang="en-US" sz="800" dirty="0">
                          <a:latin typeface="+mn-ea"/>
                          <a:ea typeface="+mn-ea"/>
                        </a:rPr>
                        <a:t>계산하여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4271960"/>
                  </a:ext>
                </a:extLst>
              </a:tr>
              <a:tr h="0">
                <a:tc>
                  <a:txBody>
                    <a:bodyPr/>
                    <a:lstStyle/>
                    <a:p>
                      <a:r>
                        <a:rPr lang="ko-KR" altLang="en-US" sz="800"/>
                        <a:t>입찰금액 변경</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scnwin.ibx_amountPrice_onchange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입찰금액 변경 시</a:t>
                      </a:r>
                      <a:r>
                        <a:rPr lang="en-US" altLang="ko-KR" sz="800">
                          <a:latin typeface="+mn-ea"/>
                          <a:ea typeface="+mn-ea"/>
                        </a:rPr>
                        <a:t>, </a:t>
                      </a:r>
                      <a:r>
                        <a:rPr lang="ko-KR" altLang="en-US" sz="800">
                          <a:latin typeface="+mn-ea"/>
                          <a:ea typeface="+mn-ea"/>
                        </a:rPr>
                        <a:t>달러금액 계산하여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011282"/>
                  </a:ext>
                </a:extLst>
              </a:tr>
              <a:tr h="0">
                <a:tc>
                  <a:txBody>
                    <a:bodyPr/>
                    <a:lstStyle/>
                    <a:p>
                      <a:r>
                        <a:rPr lang="ko-KR" altLang="en-US" sz="800"/>
                        <a:t>총액제화폐단위 변경</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scnwin.sbx_currency_onchange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화폐단위 변경 시</a:t>
                      </a:r>
                      <a:r>
                        <a:rPr lang="en-US" altLang="ko-KR" sz="800">
                          <a:latin typeface="+mn-ea"/>
                          <a:ea typeface="+mn-ea"/>
                        </a:rPr>
                        <a:t>, </a:t>
                      </a:r>
                      <a:r>
                        <a:rPr lang="ko-KR" altLang="en-US" sz="800">
                          <a:latin typeface="+mn-ea"/>
                          <a:ea typeface="+mn-ea"/>
                        </a:rPr>
                        <a:t>달러금액</a:t>
                      </a:r>
                      <a:r>
                        <a:rPr lang="en-US" altLang="ko-KR" sz="800">
                          <a:latin typeface="+mn-ea"/>
                          <a:ea typeface="+mn-ea"/>
                        </a:rPr>
                        <a:t>/</a:t>
                      </a:r>
                      <a:r>
                        <a:rPr lang="ko-KR" altLang="en-US" sz="800">
                          <a:latin typeface="+mn-ea"/>
                          <a:ea typeface="+mn-ea"/>
                        </a:rPr>
                        <a:t>달러환산율 계산하여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79201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입찰내역삭제 클릭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swcin.btn_delete_onclick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선택한 품목의 입찰내역을 제거</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임시입찰내용삭제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8936998"/>
                  </a:ext>
                </a:extLst>
              </a:tr>
              <a:tr h="0">
                <a:tc>
                  <a:txBody>
                    <a:bodyPr/>
                    <a:lstStyle/>
                    <a:p>
                      <a:r>
                        <a:rPr lang="ko-KR" altLang="en-US" sz="800"/>
                        <a:t>입찰내역저장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swcin.btn_save_onclick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 작성내역을 암호화하여 저장</a:t>
                      </a:r>
                      <a:r>
                        <a:rPr lang="en-US" altLang="ko-KR" sz="800">
                          <a:latin typeface="+mn-ea"/>
                          <a:ea typeface="+mn-ea"/>
                        </a:rPr>
                        <a:t>. </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임시입찰내용저장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3967640"/>
                  </a:ext>
                </a:extLst>
              </a:tr>
            </a:tbl>
          </a:graphicData>
        </a:graphic>
      </p:graphicFrame>
      <p:sp>
        <p:nvSpPr>
          <p:cNvPr id="5" name="Text Box 73">
            <a:extLst>
              <a:ext uri="{FF2B5EF4-FFF2-40B4-BE49-F238E27FC236}">
                <a16:creationId xmlns:a16="http://schemas.microsoft.com/office/drawing/2014/main" id="{7358A102-B5BB-33BB-2B3E-6DCF5FA3949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493152673"/>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보관함목록</a:t>
            </a:r>
            <a:r>
              <a:rPr lang="ko-KR" altLang="en-US" dirty="0"/>
              <a:t> 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319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이전공고입찰내역등록</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이전 공고 보관함 목록의 </a:t>
            </a:r>
            <a:r>
              <a:rPr lang="ko-KR" altLang="en-US" dirty="0" err="1"/>
              <a:t>입찰내역을</a:t>
            </a:r>
            <a:r>
              <a:rPr lang="ko-KR" altLang="en-US" dirty="0"/>
              <a:t> 현재 공고의 입찰내역으로 불러오는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77500" lnSpcReduction="20000"/>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err="1">
                <a:latin typeface="+mn-ea"/>
              </a:rPr>
              <a:t>입찰내역</a:t>
            </a:r>
            <a:r>
              <a:rPr lang="ko-KR" altLang="en-US" dirty="0">
                <a:latin typeface="+mn-ea"/>
              </a:rPr>
              <a:t> 작성 </a:t>
            </a:r>
            <a:r>
              <a:rPr lang="en-US" altLang="ko-KR" dirty="0">
                <a:latin typeface="+mn-ea"/>
              </a:rPr>
              <a:t>&gt; </a:t>
            </a:r>
            <a:r>
              <a:rPr lang="ko-KR" altLang="en-US" dirty="0" err="1">
                <a:latin typeface="+mn-ea"/>
              </a:rPr>
              <a:t>이전공고입찰내역등록</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MUI-BD-01-M79</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이전공고</a:t>
            </a:r>
            <a:r>
              <a:rPr lang="ko-KR" altLang="en-US" sz="900" dirty="0">
                <a:latin typeface="+mn-ea"/>
              </a:rPr>
              <a:t> </a:t>
            </a:r>
            <a:r>
              <a:rPr lang="ko-KR" altLang="en-US" sz="900" dirty="0" err="1">
                <a:latin typeface="+mn-ea"/>
              </a:rPr>
              <a:t>입찰내역</a:t>
            </a:r>
            <a:r>
              <a:rPr lang="ko-KR" altLang="en-US" sz="900" dirty="0">
                <a:latin typeface="+mn-ea"/>
              </a:rPr>
              <a:t> 등록</a:t>
            </a:r>
          </a:p>
        </p:txBody>
      </p:sp>
      <p:sp>
        <p:nvSpPr>
          <p:cNvPr id="153" name="타원 152">
            <a:extLst>
              <a:ext uri="{FF2B5EF4-FFF2-40B4-BE49-F238E27FC236}">
                <a16:creationId xmlns:a16="http://schemas.microsoft.com/office/drawing/2014/main" id="{37A7FF4F-0EAA-1463-560A-D5EC24416103}"/>
              </a:ext>
            </a:extLst>
          </p:cNvPr>
          <p:cNvSpPr/>
          <p:nvPr/>
        </p:nvSpPr>
        <p:spPr>
          <a:xfrm>
            <a:off x="573754" y="269964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21" name="그룹 220"/>
          <p:cNvGrpSpPr/>
          <p:nvPr/>
        </p:nvGrpSpPr>
        <p:grpSpPr>
          <a:xfrm>
            <a:off x="675399" y="5614711"/>
            <a:ext cx="2712027" cy="617588"/>
            <a:chOff x="675399" y="5614711"/>
            <a:chExt cx="2712027" cy="617588"/>
          </a:xfrm>
        </p:grpSpPr>
        <p:sp>
          <p:nvSpPr>
            <p:cNvPr id="222" name="직사각형 22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4"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cxnSp>
        <p:nvCxnSpPr>
          <p:cNvPr id="163" name="직선 연결선 162">
            <a:extLst>
              <a:ext uri="{FF2B5EF4-FFF2-40B4-BE49-F238E27FC236}">
                <a16:creationId xmlns:a16="http://schemas.microsoft.com/office/drawing/2014/main" id="{E9293055-D5CD-4B9E-7F64-64B2D2CA7A52}"/>
              </a:ext>
            </a:extLst>
          </p:cNvPr>
          <p:cNvCxnSpPr/>
          <p:nvPr/>
        </p:nvCxnSpPr>
        <p:spPr>
          <a:xfrm>
            <a:off x="675399" y="22883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1019814" y="198089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165" name="타원 164"/>
          <p:cNvSpPr/>
          <p:nvPr/>
        </p:nvSpPr>
        <p:spPr>
          <a:xfrm>
            <a:off x="783686" y="2012244"/>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6" name="그룹 165"/>
          <p:cNvGrpSpPr/>
          <p:nvPr/>
        </p:nvGrpSpPr>
        <p:grpSpPr>
          <a:xfrm>
            <a:off x="3143548" y="2094230"/>
            <a:ext cx="94010" cy="47005"/>
            <a:chOff x="6812560" y="3297172"/>
            <a:chExt cx="94010" cy="47005"/>
          </a:xfrm>
        </p:grpSpPr>
        <p:cxnSp>
          <p:nvCxnSpPr>
            <p:cNvPr id="167" name="직선 연결선 16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8" name="직선 연결선 16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69" name="직선 연결선 168">
            <a:extLst>
              <a:ext uri="{FF2B5EF4-FFF2-40B4-BE49-F238E27FC236}">
                <a16:creationId xmlns:a16="http://schemas.microsoft.com/office/drawing/2014/main" id="{E9293055-D5CD-4B9E-7F64-64B2D2CA7A52}"/>
              </a:ext>
            </a:extLst>
          </p:cNvPr>
          <p:cNvCxnSpPr/>
          <p:nvPr/>
        </p:nvCxnSpPr>
        <p:spPr>
          <a:xfrm>
            <a:off x="720490" y="397792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20490" y="263137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TextBox 174">
            <a:extLst>
              <a:ext uri="{FF2B5EF4-FFF2-40B4-BE49-F238E27FC236}">
                <a16:creationId xmlns:a16="http://schemas.microsoft.com/office/drawing/2014/main" id="{FFC49AEA-2A8F-250C-A86A-A7751D9706C3}"/>
              </a:ext>
            </a:extLst>
          </p:cNvPr>
          <p:cNvSpPr txBox="1"/>
          <p:nvPr/>
        </p:nvSpPr>
        <p:spPr>
          <a:xfrm>
            <a:off x="778515" y="2345016"/>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5</a:t>
            </a:r>
            <a:r>
              <a:rPr lang="en-US" altLang="ko-KR" sz="700" dirty="0">
                <a:latin typeface="+mn-ea"/>
              </a:rPr>
              <a:t> </a:t>
            </a:r>
            <a:r>
              <a:rPr lang="ko-KR" altLang="en-US" sz="700" dirty="0">
                <a:latin typeface="+mn-ea"/>
              </a:rPr>
              <a:t>건</a:t>
            </a:r>
          </a:p>
        </p:txBody>
      </p:sp>
      <p:grpSp>
        <p:nvGrpSpPr>
          <p:cNvPr id="177" name="그룹 176"/>
          <p:cNvGrpSpPr/>
          <p:nvPr/>
        </p:nvGrpSpPr>
        <p:grpSpPr>
          <a:xfrm>
            <a:off x="781461" y="2766254"/>
            <a:ext cx="2473257" cy="775730"/>
            <a:chOff x="781461" y="3078038"/>
            <a:chExt cx="2473257" cy="775730"/>
          </a:xfrm>
        </p:grpSpPr>
        <p:sp>
          <p:nvSpPr>
            <p:cNvPr id="179"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solidFill>
                    <a:srgbClr val="595959"/>
                  </a:solidFill>
                  <a:latin typeface="+mn-ea"/>
                  <a:cs typeface="Segoe UI" panose="020B0502040204020203" pitchFamily="34" charset="0"/>
                </a:rPr>
                <a:t>VDW2523-03</a:t>
              </a:r>
              <a:endParaRPr lang="en-US" altLang="ko-KR" sz="700" dirty="0"/>
            </a:p>
            <a:p>
              <a:r>
                <a:rPr lang="en-US" altLang="ko-KR" sz="900" b="1" dirty="0"/>
                <a:t>RECOIL</a:t>
              </a:r>
              <a:endParaRPr lang="ko-KR" altLang="en-US" sz="900" b="1" dirty="0"/>
            </a:p>
          </p:txBody>
        </p:sp>
        <p:sp>
          <p:nvSpPr>
            <p:cNvPr id="180" name="TextBox 59">
              <a:extLst>
                <a:ext uri="{FF2B5EF4-FFF2-40B4-BE49-F238E27FC236}">
                  <a16:creationId xmlns:a16="http://schemas.microsoft.com/office/drawing/2014/main" id="{F77C802D-3BC8-270F-87FC-5F442BD8054D}"/>
                </a:ext>
              </a:extLst>
            </p:cNvPr>
            <p:cNvSpPr txBox="1"/>
            <p:nvPr/>
          </p:nvSpPr>
          <p:spPr>
            <a:xfrm>
              <a:off x="781461" y="3438270"/>
              <a:ext cx="461665" cy="4154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개찰일자</a:t>
              </a:r>
              <a:endParaRPr lang="en-US" altLang="ko-KR" sz="600" dirty="0">
                <a:latin typeface="+mn-ea"/>
              </a:endParaRPr>
            </a:p>
            <a:p>
              <a:pPr>
                <a:lnSpc>
                  <a:spcPct val="150000"/>
                </a:lnSpc>
              </a:pPr>
              <a:r>
                <a:rPr lang="ko-KR" altLang="en-US" sz="600" dirty="0">
                  <a:latin typeface="+mn-ea"/>
                </a:rPr>
                <a:t>참가 </a:t>
              </a:r>
              <a:r>
                <a:rPr lang="ko-KR" altLang="en-US" sz="600" dirty="0" err="1">
                  <a:latin typeface="+mn-ea"/>
                </a:rPr>
                <a:t>품목수</a:t>
              </a:r>
              <a:endParaRPr lang="en-US" altLang="ko-KR" sz="600" dirty="0">
                <a:latin typeface="+mn-ea"/>
              </a:endParaRPr>
            </a:p>
          </p:txBody>
        </p:sp>
        <p:sp>
          <p:nvSpPr>
            <p:cNvPr id="183" name="TextBox 60">
              <a:extLst>
                <a:ext uri="{FF2B5EF4-FFF2-40B4-BE49-F238E27FC236}">
                  <a16:creationId xmlns:a16="http://schemas.microsoft.com/office/drawing/2014/main" id="{8F5E3227-69E6-C89F-B8C5-534226E95EA8}"/>
                </a:ext>
              </a:extLst>
            </p:cNvPr>
            <p:cNvSpPr txBox="1"/>
            <p:nvPr/>
          </p:nvSpPr>
          <p:spPr>
            <a:xfrm>
              <a:off x="2706847" y="3422881"/>
              <a:ext cx="503407" cy="4154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BDF01823-002</a:t>
              </a:r>
            </a:p>
            <a:p>
              <a:pPr algn="r">
                <a:lnSpc>
                  <a:spcPct val="150000"/>
                </a:lnSpc>
              </a:pPr>
              <a:r>
                <a:rPr lang="en-US" altLang="ko-KR" sz="600" dirty="0">
                  <a:latin typeface="+mn-ea"/>
                </a:rPr>
                <a:t>2024-12-25</a:t>
              </a:r>
            </a:p>
            <a:p>
              <a:pPr algn="r">
                <a:lnSpc>
                  <a:spcPct val="150000"/>
                </a:lnSpc>
              </a:pPr>
              <a:r>
                <a:rPr lang="en-US" altLang="ko-KR" sz="600" dirty="0">
                  <a:latin typeface="+mn-ea"/>
                </a:rPr>
                <a:t>6</a:t>
              </a:r>
            </a:p>
          </p:txBody>
        </p:sp>
      </p:grpSp>
      <p:sp>
        <p:nvSpPr>
          <p:cNvPr id="184" name="사각형: 둥근 모서리 31">
            <a:extLst>
              <a:ext uri="{FF2B5EF4-FFF2-40B4-BE49-F238E27FC236}">
                <a16:creationId xmlns:a16="http://schemas.microsoft.com/office/drawing/2014/main" id="{2AC143EE-93CF-3518-F0CB-8469E98507E0}"/>
              </a:ext>
            </a:extLst>
          </p:cNvPr>
          <p:cNvSpPr/>
          <p:nvPr/>
        </p:nvSpPr>
        <p:spPr>
          <a:xfrm>
            <a:off x="808106" y="3626020"/>
            <a:ext cx="2446613" cy="195304"/>
          </a:xfrm>
          <a:prstGeom prst="roundRect">
            <a:avLst/>
          </a:prstGeom>
          <a:no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noProof="0" dirty="0" err="1">
                <a:latin typeface="맑은 고딕"/>
                <a:ea typeface="맑은 고딕" panose="020B0503020000020004" pitchFamily="50" charset="-127"/>
              </a:rPr>
              <a:t>입찰내역</a:t>
            </a:r>
            <a:r>
              <a:rPr kumimoji="1" lang="ko-KR" altLang="en-US" sz="800" kern="0" noProof="0" dirty="0">
                <a:latin typeface="맑은 고딕"/>
                <a:ea typeface="맑은 고딕" panose="020B0503020000020004" pitchFamily="50" charset="-127"/>
              </a:rPr>
              <a:t> 품목 보기</a:t>
            </a:r>
            <a:endParaRPr kumimoji="1" lang="en-US" sz="800" b="0" i="0" u="none" strike="noStrike" kern="0" cap="none" spc="0" normalizeH="0" baseline="0" noProof="0" dirty="0">
              <a:ln>
                <a:noFill/>
              </a:ln>
              <a:effectLst/>
              <a:uLnTx/>
              <a:uFillTx/>
              <a:latin typeface="맑은 고딕"/>
            </a:endParaRPr>
          </a:p>
        </p:txBody>
      </p:sp>
      <p:cxnSp>
        <p:nvCxnSpPr>
          <p:cNvPr id="185" name="직선 연결선 184">
            <a:extLst>
              <a:ext uri="{FF2B5EF4-FFF2-40B4-BE49-F238E27FC236}">
                <a16:creationId xmlns:a16="http://schemas.microsoft.com/office/drawing/2014/main" id="{E9293055-D5CD-4B9E-7F64-64B2D2CA7A52}"/>
              </a:ext>
            </a:extLst>
          </p:cNvPr>
          <p:cNvCxnSpPr/>
          <p:nvPr/>
        </p:nvCxnSpPr>
        <p:spPr>
          <a:xfrm>
            <a:off x="720490" y="532569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87" name="그룹 186"/>
          <p:cNvGrpSpPr/>
          <p:nvPr/>
        </p:nvGrpSpPr>
        <p:grpSpPr>
          <a:xfrm>
            <a:off x="781461" y="4114027"/>
            <a:ext cx="2473257" cy="775730"/>
            <a:chOff x="781461" y="3078038"/>
            <a:chExt cx="2473257" cy="775730"/>
          </a:xfrm>
        </p:grpSpPr>
        <p:sp>
          <p:nvSpPr>
            <p:cNvPr id="188"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solidFill>
                    <a:srgbClr val="595959"/>
                  </a:solidFill>
                  <a:latin typeface="+mn-ea"/>
                  <a:cs typeface="Segoe UI" panose="020B0502040204020203" pitchFamily="34" charset="0"/>
                </a:rPr>
                <a:t>VDW2523-03</a:t>
              </a:r>
              <a:endParaRPr lang="en-US" altLang="ko-KR" sz="700" dirty="0"/>
            </a:p>
            <a:p>
              <a:r>
                <a:rPr lang="en-US" altLang="ko-KR" sz="900" b="1" dirty="0"/>
                <a:t>RECOIL</a:t>
              </a:r>
              <a:endParaRPr lang="ko-KR" altLang="en-US" sz="900" b="1" dirty="0"/>
            </a:p>
          </p:txBody>
        </p:sp>
        <p:sp>
          <p:nvSpPr>
            <p:cNvPr id="192" name="TextBox 59">
              <a:extLst>
                <a:ext uri="{FF2B5EF4-FFF2-40B4-BE49-F238E27FC236}">
                  <a16:creationId xmlns:a16="http://schemas.microsoft.com/office/drawing/2014/main" id="{F77C802D-3BC8-270F-87FC-5F442BD8054D}"/>
                </a:ext>
              </a:extLst>
            </p:cNvPr>
            <p:cNvSpPr txBox="1"/>
            <p:nvPr/>
          </p:nvSpPr>
          <p:spPr>
            <a:xfrm>
              <a:off x="781461" y="3438270"/>
              <a:ext cx="461665" cy="4154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개찰일자</a:t>
              </a:r>
              <a:endParaRPr lang="en-US" altLang="ko-KR" sz="600" dirty="0">
                <a:latin typeface="+mn-ea"/>
              </a:endParaRPr>
            </a:p>
            <a:p>
              <a:pPr>
                <a:lnSpc>
                  <a:spcPct val="150000"/>
                </a:lnSpc>
              </a:pPr>
              <a:r>
                <a:rPr lang="ko-KR" altLang="en-US" sz="600" dirty="0">
                  <a:latin typeface="+mn-ea"/>
                </a:rPr>
                <a:t>참가 </a:t>
              </a:r>
              <a:r>
                <a:rPr lang="ko-KR" altLang="en-US" sz="600" dirty="0" err="1">
                  <a:latin typeface="+mn-ea"/>
                </a:rPr>
                <a:t>품목수</a:t>
              </a:r>
              <a:endParaRPr lang="en-US" altLang="ko-KR" sz="600" dirty="0">
                <a:latin typeface="+mn-ea"/>
              </a:endParaRPr>
            </a:p>
          </p:txBody>
        </p:sp>
        <p:sp>
          <p:nvSpPr>
            <p:cNvPr id="193" name="TextBox 60">
              <a:extLst>
                <a:ext uri="{FF2B5EF4-FFF2-40B4-BE49-F238E27FC236}">
                  <a16:creationId xmlns:a16="http://schemas.microsoft.com/office/drawing/2014/main" id="{8F5E3227-69E6-C89F-B8C5-534226E95EA8}"/>
                </a:ext>
              </a:extLst>
            </p:cNvPr>
            <p:cNvSpPr txBox="1"/>
            <p:nvPr/>
          </p:nvSpPr>
          <p:spPr>
            <a:xfrm>
              <a:off x="2706847" y="3422881"/>
              <a:ext cx="503407" cy="4154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BDF01823-002</a:t>
              </a:r>
            </a:p>
            <a:p>
              <a:pPr algn="r">
                <a:lnSpc>
                  <a:spcPct val="150000"/>
                </a:lnSpc>
              </a:pPr>
              <a:r>
                <a:rPr lang="en-US" altLang="ko-KR" sz="600" dirty="0">
                  <a:latin typeface="+mn-ea"/>
                </a:rPr>
                <a:t>2024-12-25</a:t>
              </a:r>
            </a:p>
            <a:p>
              <a:pPr algn="r">
                <a:lnSpc>
                  <a:spcPct val="150000"/>
                </a:lnSpc>
              </a:pPr>
              <a:r>
                <a:rPr lang="en-US" altLang="ko-KR" sz="600" dirty="0">
                  <a:latin typeface="+mn-ea"/>
                </a:rPr>
                <a:t>6</a:t>
              </a:r>
            </a:p>
          </p:txBody>
        </p:sp>
      </p:grpSp>
      <p:sp>
        <p:nvSpPr>
          <p:cNvPr id="194" name="사각형: 둥근 모서리 31">
            <a:extLst>
              <a:ext uri="{FF2B5EF4-FFF2-40B4-BE49-F238E27FC236}">
                <a16:creationId xmlns:a16="http://schemas.microsoft.com/office/drawing/2014/main" id="{2AC143EE-93CF-3518-F0CB-8469E98507E0}"/>
              </a:ext>
            </a:extLst>
          </p:cNvPr>
          <p:cNvSpPr/>
          <p:nvPr/>
        </p:nvSpPr>
        <p:spPr>
          <a:xfrm>
            <a:off x="808106" y="4973793"/>
            <a:ext cx="2446613" cy="195304"/>
          </a:xfrm>
          <a:prstGeom prst="roundRect">
            <a:avLst/>
          </a:prstGeom>
          <a:no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lvl="0" algn="ctr" fontAlgn="base" latinLnBrk="0">
              <a:spcBef>
                <a:spcPct val="0"/>
              </a:spcBef>
              <a:spcAft>
                <a:spcPct val="0"/>
              </a:spcAft>
              <a:defRPr/>
            </a:pPr>
            <a:r>
              <a:rPr kumimoji="1" lang="ko-KR" altLang="en-US" sz="800" kern="0" dirty="0" err="1"/>
              <a:t>입찰내역</a:t>
            </a:r>
            <a:r>
              <a:rPr kumimoji="1" lang="ko-KR" altLang="en-US" sz="800" kern="0" dirty="0"/>
              <a:t> 품목 보기</a:t>
            </a:r>
            <a:endParaRPr kumimoji="1" lang="en-US" altLang="ko-KR" sz="800" kern="0" dirty="0"/>
          </a:p>
        </p:txBody>
      </p:sp>
      <p:grpSp>
        <p:nvGrpSpPr>
          <p:cNvPr id="198" name="그룹 197">
            <a:extLst>
              <a:ext uri="{FF2B5EF4-FFF2-40B4-BE49-F238E27FC236}">
                <a16:creationId xmlns:a16="http://schemas.microsoft.com/office/drawing/2014/main" id="{22BC05EE-C648-7CA2-4CCC-6E1C1A7E9BDA}"/>
              </a:ext>
            </a:extLst>
          </p:cNvPr>
          <p:cNvGrpSpPr/>
          <p:nvPr/>
        </p:nvGrpSpPr>
        <p:grpSpPr>
          <a:xfrm>
            <a:off x="1992981" y="5335031"/>
            <a:ext cx="76863" cy="292489"/>
            <a:chOff x="3750067" y="4683795"/>
            <a:chExt cx="76863" cy="292489"/>
          </a:xfrm>
        </p:grpSpPr>
        <p:sp>
          <p:nvSpPr>
            <p:cNvPr id="205" name="타원 204">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09" name="타원 208">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10" name="타원 209">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Tree>
    <p:extLst>
      <p:ext uri="{BB962C8B-B14F-4D97-AF65-F5344CB8AC3E}">
        <p14:creationId xmlns:p14="http://schemas.microsoft.com/office/powerpoint/2010/main" val="2863831872"/>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입찰내역목록 데이터 영역</a:t>
            </a:r>
            <a:endParaRPr lang="en-US" altLang="ko-KR" dirty="0"/>
          </a:p>
          <a:p>
            <a:pPr marL="228600" indent="-228600">
              <a:buFont typeface="+mj-lt"/>
              <a:buAutoNum type="arabicPeriod"/>
            </a:pPr>
            <a:r>
              <a:rPr lang="ko-KR" altLang="en-US" dirty="0"/>
              <a:t>불러오기</a:t>
            </a:r>
            <a:r>
              <a:rPr lang="en-US" altLang="ko-KR" dirty="0"/>
              <a:t>,</a:t>
            </a:r>
            <a:r>
              <a:rPr lang="ko-KR" altLang="en-US" dirty="0"/>
              <a:t> 취소 클릭 이벤트</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320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이전공고입찰내역품목상세</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검색 필터에서 </a:t>
            </a:r>
            <a:r>
              <a:rPr lang="ko-KR" altLang="en-US" dirty="0" err="1"/>
              <a:t>지역검색을</a:t>
            </a:r>
            <a:r>
              <a:rPr lang="ko-KR" altLang="en-US" dirty="0"/>
              <a:t> 선택하는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55000" lnSpcReduction="20000"/>
          </a:bodyPr>
          <a:lstStyle/>
          <a:p>
            <a:r>
              <a:rPr lang="ko-KR" altLang="en-US" dirty="0"/>
              <a:t>홈 </a:t>
            </a:r>
            <a:r>
              <a:rPr lang="en-US" altLang="ko-KR" dirty="0"/>
              <a:t>&gt; </a:t>
            </a:r>
            <a:r>
              <a:rPr lang="ko-KR" altLang="en-US" dirty="0" err="1">
                <a:latin typeface="+mn-ea"/>
              </a:rPr>
              <a:t>마이페이지</a:t>
            </a:r>
            <a:r>
              <a:rPr lang="ko-KR" altLang="en-US" dirty="0">
                <a:latin typeface="+mn-ea"/>
              </a:rPr>
              <a:t> </a:t>
            </a:r>
            <a:r>
              <a:rPr lang="en-US" altLang="ko-KR" dirty="0">
                <a:latin typeface="+mn-ea"/>
              </a:rPr>
              <a:t>&gt; </a:t>
            </a:r>
            <a:r>
              <a:rPr lang="ko-KR" altLang="en-US" dirty="0">
                <a:latin typeface="+mn-ea"/>
              </a:rPr>
              <a:t>국외 보관함 </a:t>
            </a:r>
            <a:r>
              <a:rPr lang="en-US" altLang="ko-KR" dirty="0">
                <a:latin typeface="+mn-ea"/>
              </a:rPr>
              <a:t>&gt; </a:t>
            </a:r>
            <a:r>
              <a:rPr lang="ko-KR" altLang="en-US" dirty="0" err="1">
                <a:latin typeface="+mn-ea"/>
              </a:rPr>
              <a:t>입찰내역</a:t>
            </a:r>
            <a:r>
              <a:rPr lang="ko-KR" altLang="en-US" dirty="0">
                <a:latin typeface="+mn-ea"/>
              </a:rPr>
              <a:t> 작성 </a:t>
            </a:r>
            <a:r>
              <a:rPr lang="en-US" altLang="ko-KR" dirty="0">
                <a:latin typeface="+mn-ea"/>
              </a:rPr>
              <a:t>&gt; </a:t>
            </a:r>
            <a:r>
              <a:rPr lang="ko-KR" altLang="en-US" dirty="0" err="1">
                <a:latin typeface="+mn-ea"/>
              </a:rPr>
              <a:t>이전공고입찰내역등록</a:t>
            </a:r>
            <a:r>
              <a:rPr lang="ko-KR" altLang="en-US" dirty="0">
                <a:latin typeface="+mn-ea"/>
              </a:rPr>
              <a:t> </a:t>
            </a:r>
            <a:r>
              <a:rPr lang="en-US" altLang="ko-KR" dirty="0">
                <a:latin typeface="+mn-ea"/>
              </a:rPr>
              <a:t>&gt; </a:t>
            </a:r>
            <a:r>
              <a:rPr lang="ko-KR" altLang="en-US" dirty="0" err="1">
                <a:latin typeface="+mn-ea"/>
              </a:rPr>
              <a:t>이전공고입찰내역품목상세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MUI-BD-01-P80</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이전공고</a:t>
            </a:r>
            <a:r>
              <a:rPr lang="ko-KR" altLang="en-US" sz="900" dirty="0">
                <a:latin typeface="+mn-ea"/>
              </a:rPr>
              <a:t> </a:t>
            </a:r>
            <a:r>
              <a:rPr lang="ko-KR" altLang="en-US" sz="900" dirty="0" err="1">
                <a:latin typeface="+mn-ea"/>
              </a:rPr>
              <a:t>입찰내역</a:t>
            </a:r>
            <a:r>
              <a:rPr lang="ko-KR" altLang="en-US" sz="900" dirty="0">
                <a:latin typeface="+mn-ea"/>
              </a:rPr>
              <a:t> 등록</a:t>
            </a:r>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err="1">
                <a:latin typeface="+mn-ea"/>
              </a:rPr>
              <a:t>이전공고</a:t>
            </a:r>
            <a:r>
              <a:rPr lang="ko-KR" altLang="en-US" sz="900" dirty="0">
                <a:latin typeface="+mn-ea"/>
              </a:rPr>
              <a:t> </a:t>
            </a:r>
            <a:r>
              <a:rPr lang="ko-KR" altLang="en-US" sz="900" dirty="0" err="1">
                <a:latin typeface="+mn-ea"/>
              </a:rPr>
              <a:t>입찰내역</a:t>
            </a:r>
            <a:r>
              <a:rPr lang="ko-KR" altLang="en-US" sz="900" dirty="0">
                <a:latin typeface="+mn-ea"/>
              </a:rPr>
              <a:t> </a:t>
            </a:r>
            <a:r>
              <a:rPr lang="ko-KR" altLang="en-US" sz="900" dirty="0" err="1">
                <a:latin typeface="+mn-ea"/>
              </a:rPr>
              <a:t>품목상세</a:t>
            </a:r>
            <a:endParaRPr lang="ko-KR" altLang="en-US" sz="900" dirty="0">
              <a:latin typeface="+mn-ea"/>
            </a:endParaRP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err="1">
                <a:latin typeface="+mn-ea"/>
              </a:rPr>
              <a:t>이전공고</a:t>
            </a:r>
            <a:r>
              <a:rPr lang="ko-KR" altLang="en-US" sz="900" dirty="0">
                <a:latin typeface="+mn-ea"/>
              </a:rPr>
              <a:t> </a:t>
            </a:r>
            <a:r>
              <a:rPr lang="ko-KR" altLang="en-US" sz="900" dirty="0" err="1">
                <a:latin typeface="+mn-ea"/>
              </a:rPr>
              <a:t>입찰내역</a:t>
            </a:r>
            <a:r>
              <a:rPr lang="ko-KR" altLang="en-US" sz="900" dirty="0">
                <a:latin typeface="+mn-ea"/>
              </a:rPr>
              <a:t> </a:t>
            </a:r>
            <a:r>
              <a:rPr lang="ko-KR" altLang="en-US" sz="900" dirty="0" err="1">
                <a:latin typeface="+mn-ea"/>
              </a:rPr>
              <a:t>품목상세</a:t>
            </a:r>
            <a:endParaRPr lang="ko-KR" altLang="en-US" sz="900" dirty="0">
              <a:latin typeface="+mn-ea"/>
            </a:endParaRP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80" name="직사각형 79"/>
          <p:cNvSpPr/>
          <p:nvPr/>
        </p:nvSpPr>
        <p:spPr>
          <a:xfrm>
            <a:off x="3820170" y="2858809"/>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215444"/>
          </a:xfrm>
          <a:prstGeom prst="rect">
            <a:avLst/>
          </a:prstGeom>
          <a:noFill/>
        </p:spPr>
        <p:txBody>
          <a:bodyPr wrap="square" lIns="0" tIns="0" rIns="0" bIns="0" rtlCol="0">
            <a:spAutoFit/>
          </a:bodyPr>
          <a:lstStyle/>
          <a:p>
            <a:pPr>
              <a:lnSpc>
                <a:spcPct val="200000"/>
              </a:lnSpc>
            </a:pPr>
            <a:r>
              <a:rPr lang="ko-KR" altLang="en-US" sz="700" dirty="0" err="1">
                <a:latin typeface="+mn-ea"/>
              </a:rPr>
              <a:t>입찰내역</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82" name="직사각형 81"/>
          <p:cNvSpPr/>
          <p:nvPr/>
        </p:nvSpPr>
        <p:spPr>
          <a:xfrm>
            <a:off x="703268" y="2899796"/>
            <a:ext cx="792000" cy="321194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3197350"/>
          </a:xfrm>
          <a:prstGeom prst="rect">
            <a:avLst/>
          </a:prstGeom>
          <a:noFill/>
        </p:spPr>
        <p:txBody>
          <a:bodyPr wrap="square" lIns="0" tIns="0" rIns="0" bIns="0" rtlCol="0">
            <a:spAutoFit/>
          </a:bodyPr>
          <a:lstStyle/>
          <a:p>
            <a:pPr>
              <a:lnSpc>
                <a:spcPct val="200000"/>
              </a:lnSpc>
            </a:pPr>
            <a:r>
              <a:rPr lang="ko-KR" altLang="en-US" sz="700" dirty="0">
                <a:latin typeface="+mn-ea"/>
              </a:rPr>
              <a:t>순번</a:t>
            </a: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en-US" altLang="ko-KR" sz="700" dirty="0">
                <a:latin typeface="+mn-ea"/>
              </a:rPr>
              <a:t>MOQ</a:t>
            </a:r>
            <a:r>
              <a:rPr lang="ko-KR" altLang="en-US" sz="700" dirty="0">
                <a:latin typeface="+mn-ea"/>
              </a:rPr>
              <a:t>구분</a:t>
            </a:r>
          </a:p>
          <a:p>
            <a:pPr>
              <a:lnSpc>
                <a:spcPct val="200000"/>
              </a:lnSpc>
            </a:pPr>
            <a:r>
              <a:rPr lang="en-US" altLang="ko-KR" sz="700" dirty="0">
                <a:latin typeface="+mn-ea"/>
              </a:rPr>
              <a:t>MOQ</a:t>
            </a:r>
            <a:r>
              <a:rPr lang="ko-KR" altLang="en-US" sz="700" dirty="0">
                <a:latin typeface="+mn-ea"/>
              </a:rPr>
              <a:t>수량</a:t>
            </a:r>
          </a:p>
          <a:p>
            <a:pPr>
              <a:lnSpc>
                <a:spcPct val="200000"/>
              </a:lnSpc>
            </a:pPr>
            <a:r>
              <a:rPr lang="en-US" altLang="ko-KR" sz="700" dirty="0">
                <a:latin typeface="+mn-ea"/>
              </a:rPr>
              <a:t>MOQ</a:t>
            </a:r>
            <a:r>
              <a:rPr lang="ko-KR" altLang="en-US" sz="700" dirty="0" err="1">
                <a:latin typeface="+mn-ea"/>
              </a:rPr>
              <a:t>첨부문서</a:t>
            </a:r>
            <a:endParaRPr lang="ko-KR" altLang="en-US" sz="700" dirty="0">
              <a:latin typeface="+mn-ea"/>
            </a:endParaRPr>
          </a:p>
          <a:p>
            <a:pPr>
              <a:lnSpc>
                <a:spcPct val="200000"/>
              </a:lnSpc>
            </a:pPr>
            <a:r>
              <a:rPr lang="ko-KR" altLang="en-US" sz="700" dirty="0" err="1">
                <a:latin typeface="+mn-ea"/>
              </a:rPr>
              <a:t>입찰업체</a:t>
            </a:r>
            <a:endParaRPr lang="ko-KR" altLang="en-US" sz="700" dirty="0">
              <a:latin typeface="+mn-ea"/>
            </a:endParaRPr>
          </a:p>
          <a:p>
            <a:pPr>
              <a:lnSpc>
                <a:spcPct val="200000"/>
              </a:lnSpc>
            </a:pPr>
            <a:r>
              <a:rPr lang="ko-KR" altLang="en-US" sz="700" dirty="0" err="1">
                <a:latin typeface="+mn-ea"/>
              </a:rPr>
              <a:t>입찰단가</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화폐단위</a:t>
            </a:r>
          </a:p>
        </p:txBody>
      </p:sp>
      <p:grpSp>
        <p:nvGrpSpPr>
          <p:cNvPr id="85" name="그룹 84"/>
          <p:cNvGrpSpPr/>
          <p:nvPr/>
        </p:nvGrpSpPr>
        <p:grpSpPr>
          <a:xfrm>
            <a:off x="701175" y="2899795"/>
            <a:ext cx="2630093" cy="3211945"/>
            <a:chOff x="701175" y="1835481"/>
            <a:chExt cx="2630093" cy="3211945"/>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직선 연결선 91">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03268" y="504742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1" name="사각형: 둥근 모서리 31">
            <a:extLst>
              <a:ext uri="{FF2B5EF4-FFF2-40B4-BE49-F238E27FC236}">
                <a16:creationId xmlns:a16="http://schemas.microsoft.com/office/drawing/2014/main" id="{2AC143EE-93CF-3518-F0CB-8469E98507E0}"/>
              </a:ext>
            </a:extLst>
          </p:cNvPr>
          <p:cNvSpPr/>
          <p:nvPr/>
        </p:nvSpPr>
        <p:spPr>
          <a:xfrm>
            <a:off x="3928441" y="5385816"/>
            <a:ext cx="2446613" cy="242486"/>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더보기</a:t>
            </a:r>
            <a:r>
              <a:rPr kumimoji="1" lang="ko-KR" altLang="en-US" sz="800" kern="0" dirty="0">
                <a:solidFill>
                  <a:srgbClr val="0070C0"/>
                </a:solidFill>
                <a:latin typeface="맑은 고딕"/>
                <a:ea typeface="맑은 고딕" panose="020B0503020000020004" pitchFamily="50" charset="-127"/>
              </a:rPr>
              <a:t> </a:t>
            </a:r>
            <a:r>
              <a:rPr kumimoji="1" lang="en-US" altLang="ko-KR" sz="800" kern="0" dirty="0">
                <a:solidFill>
                  <a:srgbClr val="0070C0"/>
                </a:solidFill>
                <a:latin typeface="맑은 고딕"/>
                <a:ea typeface="맑은 고딕" panose="020B0503020000020004" pitchFamily="50" charset="-127"/>
              </a:rPr>
              <a:t>(10/258)</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102" name="그룹 101">
            <a:extLst>
              <a:ext uri="{FF2B5EF4-FFF2-40B4-BE49-F238E27FC236}">
                <a16:creationId xmlns:a16="http://schemas.microsoft.com/office/drawing/2014/main" id="{22BC05EE-C648-7CA2-4CCC-6E1C1A7E9BDA}"/>
              </a:ext>
            </a:extLst>
          </p:cNvPr>
          <p:cNvGrpSpPr/>
          <p:nvPr/>
        </p:nvGrpSpPr>
        <p:grpSpPr>
          <a:xfrm>
            <a:off x="5113316" y="4471470"/>
            <a:ext cx="76863" cy="292489"/>
            <a:chOff x="3750067" y="4683795"/>
            <a:chExt cx="76863" cy="292489"/>
          </a:xfrm>
        </p:grpSpPr>
        <p:sp>
          <p:nvSpPr>
            <p:cNvPr id="104" name="타원 103">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5" name="타원 10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06" name="타원 105">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3231654"/>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Y</a:t>
            </a:r>
          </a:p>
          <a:p>
            <a:pPr>
              <a:lnSpc>
                <a:spcPct val="200000"/>
              </a:lnSpc>
            </a:pPr>
            <a:r>
              <a:rPr lang="en-US" altLang="ko-KR" sz="700" dirty="0">
                <a:latin typeface="+mn-ea"/>
              </a:rPr>
              <a:t>1</a:t>
            </a:r>
          </a:p>
          <a:p>
            <a:pPr>
              <a:lnSpc>
                <a:spcPct val="200000"/>
              </a:lnSpc>
            </a:pPr>
            <a:r>
              <a:rPr lang="en-US" altLang="ko-KR" sz="700" dirty="0">
                <a:latin typeface="+mn-ea"/>
              </a:rPr>
              <a:t>237323423</a:t>
            </a:r>
          </a:p>
          <a:p>
            <a:pPr>
              <a:lnSpc>
                <a:spcPct val="200000"/>
              </a:lnSpc>
            </a:pPr>
            <a:r>
              <a:rPr lang="en-US" altLang="ko-KR" sz="700" dirty="0">
                <a:latin typeface="+mn-ea"/>
              </a:rPr>
              <a:t>5235235235</a:t>
            </a:r>
          </a:p>
          <a:p>
            <a:pPr>
              <a:lnSpc>
                <a:spcPct val="200000"/>
              </a:lnSpc>
            </a:pPr>
            <a:r>
              <a:rPr lang="en-US" altLang="ko-KR" sz="700" dirty="0">
                <a:latin typeface="+mn-ea"/>
              </a:rPr>
              <a:t>Y</a:t>
            </a:r>
          </a:p>
          <a:p>
            <a:pPr>
              <a:lnSpc>
                <a:spcPct val="200000"/>
              </a:lnSpc>
            </a:pPr>
            <a:r>
              <a:rPr lang="en-US" altLang="ko-KR" sz="700" dirty="0">
                <a:latin typeface="+mn-ea"/>
              </a:rPr>
              <a:t>2</a:t>
            </a:r>
          </a:p>
          <a:p>
            <a:pPr>
              <a:lnSpc>
                <a:spcPct val="200000"/>
              </a:lnSpc>
            </a:pPr>
            <a:r>
              <a:rPr lang="en-US" altLang="ko-KR" sz="700" dirty="0">
                <a:latin typeface="+mn-ea"/>
              </a:rPr>
              <a:t>O</a:t>
            </a:r>
          </a:p>
          <a:p>
            <a:pPr>
              <a:lnSpc>
                <a:spcPct val="200000"/>
              </a:lnSpc>
            </a:pPr>
            <a:r>
              <a:rPr lang="en-US" altLang="ko-KR" sz="700" dirty="0">
                <a:latin typeface="+mn-ea"/>
              </a:rPr>
              <a:t>A </a:t>
            </a:r>
            <a:r>
              <a:rPr lang="ko-KR" altLang="en-US" sz="700" dirty="0">
                <a:latin typeface="+mn-ea"/>
              </a:rPr>
              <a:t>업체</a:t>
            </a:r>
            <a:endParaRPr lang="en-US" altLang="ko-KR" sz="700" dirty="0">
              <a:latin typeface="+mn-ea"/>
            </a:endParaRPr>
          </a:p>
          <a:p>
            <a:pPr algn="r">
              <a:lnSpc>
                <a:spcPct val="200000"/>
              </a:lnSpc>
            </a:pPr>
            <a:r>
              <a:rPr lang="en-US" altLang="ko-KR" sz="700" dirty="0">
                <a:latin typeface="+mn-ea"/>
              </a:rPr>
              <a:t>10,000</a:t>
            </a:r>
          </a:p>
          <a:p>
            <a:pPr algn="r">
              <a:lnSpc>
                <a:spcPct val="200000"/>
              </a:lnSpc>
            </a:pPr>
            <a:r>
              <a:rPr lang="en-US" altLang="ko-KR" sz="700" dirty="0">
                <a:latin typeface="+mn-ea"/>
              </a:rPr>
              <a:t>10,000</a:t>
            </a:r>
          </a:p>
          <a:p>
            <a:pPr algn="r">
              <a:lnSpc>
                <a:spcPct val="200000"/>
              </a:lnSpc>
            </a:pPr>
            <a:r>
              <a:rPr lang="en-US" altLang="ko-KR" sz="700" dirty="0">
                <a:latin typeface="+mn-ea"/>
              </a:rPr>
              <a:t>USD</a:t>
            </a:r>
          </a:p>
        </p:txBody>
      </p:sp>
      <p:sp>
        <p:nvSpPr>
          <p:cNvPr id="124" name="사각형: 둥근 모서리 15">
            <a:extLst>
              <a:ext uri="{FF2B5EF4-FFF2-40B4-BE49-F238E27FC236}">
                <a16:creationId xmlns:a16="http://schemas.microsoft.com/office/drawing/2014/main" id="{E2B61CFB-AD16-68D0-8752-50D9C5E01971}"/>
              </a:ext>
            </a:extLst>
          </p:cNvPr>
          <p:cNvSpPr/>
          <p:nvPr/>
        </p:nvSpPr>
        <p:spPr>
          <a:xfrm>
            <a:off x="2836921" y="2930034"/>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a:ln>
                  <a:noFill/>
                </a:ln>
                <a:effectLst/>
                <a:uLnTx/>
                <a:uFillTx/>
                <a:latin typeface="맑은 고딕"/>
              </a:rPr>
              <a:t>항목선택</a:t>
            </a:r>
            <a:endParaRPr kumimoji="1" lang="en-US" sz="700" b="0" i="0" u="none" strike="noStrike" kern="0" cap="none" spc="0" normalizeH="0" baseline="0" noProof="0" dirty="0">
              <a:ln>
                <a:noFill/>
              </a:ln>
              <a:effectLst/>
              <a:uLnTx/>
              <a:uFillTx/>
              <a:latin typeface="맑은 고딕"/>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3910666" y="2858810"/>
            <a:ext cx="725552" cy="827471"/>
          </a:xfrm>
          <a:prstGeom prst="rect">
            <a:avLst/>
          </a:prstGeom>
          <a:noFill/>
        </p:spPr>
        <p:txBody>
          <a:bodyPr wrap="square" lIns="0" tIns="0" rIns="0" bIns="0" rtlCol="0">
            <a:spAutoFit/>
          </a:bodyPr>
          <a:lstStyle/>
          <a:p>
            <a:pPr>
              <a:lnSpc>
                <a:spcPct val="200000"/>
              </a:lnSpc>
            </a:pPr>
            <a:r>
              <a:rPr lang="ko-KR" altLang="en-US" sz="700" dirty="0">
                <a:latin typeface="+mn-ea"/>
              </a:rPr>
              <a:t>순번</a:t>
            </a: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p:txBody>
      </p:sp>
      <p:grpSp>
        <p:nvGrpSpPr>
          <p:cNvPr id="126" name="그룹 125"/>
          <p:cNvGrpSpPr/>
          <p:nvPr/>
        </p:nvGrpSpPr>
        <p:grpSpPr>
          <a:xfrm>
            <a:off x="3821510" y="2858810"/>
            <a:ext cx="2630093" cy="1075182"/>
            <a:chOff x="701175" y="1835481"/>
            <a:chExt cx="2630093" cy="1075182"/>
          </a:xfrm>
        </p:grpSpPr>
        <p:cxnSp>
          <p:nvCxnSpPr>
            <p:cNvPr id="128" name="직선 연결선 12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6" name="TextBox 135">
            <a:extLst>
              <a:ext uri="{FF2B5EF4-FFF2-40B4-BE49-F238E27FC236}">
                <a16:creationId xmlns:a16="http://schemas.microsoft.com/office/drawing/2014/main" id="{FFC49AEA-2A8F-250C-A86A-A7751D9706C3}"/>
              </a:ext>
            </a:extLst>
          </p:cNvPr>
          <p:cNvSpPr txBox="1"/>
          <p:nvPr/>
        </p:nvSpPr>
        <p:spPr>
          <a:xfrm>
            <a:off x="4667515" y="2858810"/>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a:t>
            </a:r>
            <a:endParaRPr lang="en-US" altLang="ko-KR" sz="700" dirty="0">
              <a:latin typeface="+mn-ea"/>
            </a:endParaRPr>
          </a:p>
        </p:txBody>
      </p:sp>
      <p:sp>
        <p:nvSpPr>
          <p:cNvPr id="137" name="사각형: 둥근 모서리 15">
            <a:extLst>
              <a:ext uri="{FF2B5EF4-FFF2-40B4-BE49-F238E27FC236}">
                <a16:creationId xmlns:a16="http://schemas.microsoft.com/office/drawing/2014/main" id="{E2B61CFB-AD16-68D0-8752-50D9C5E01971}"/>
              </a:ext>
            </a:extLst>
          </p:cNvPr>
          <p:cNvSpPr/>
          <p:nvPr/>
        </p:nvSpPr>
        <p:spPr>
          <a:xfrm>
            <a:off x="5957256" y="2889049"/>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err="1">
                <a:ln>
                  <a:noFill/>
                </a:ln>
                <a:effectLst/>
                <a:uLnTx/>
                <a:uFillTx/>
                <a:latin typeface="맑은 고딕"/>
              </a:rPr>
              <a:t>항목선택</a:t>
            </a:r>
            <a:endParaRPr kumimoji="1" lang="en-US" sz="700" b="0" i="0" u="none" strike="noStrike" kern="0" cap="none" spc="0" normalizeH="0" baseline="0" noProof="0" dirty="0">
              <a:ln>
                <a:noFill/>
              </a:ln>
              <a:effectLst/>
              <a:uLnTx/>
              <a:uFillTx/>
              <a:latin typeface="맑은 고딕"/>
            </a:endParaRPr>
          </a:p>
        </p:txBody>
      </p:sp>
      <p:sp>
        <p:nvSpPr>
          <p:cNvPr id="138" name="사각형: 둥근 모서리 15">
            <a:extLst>
              <a:ext uri="{FF2B5EF4-FFF2-40B4-BE49-F238E27FC236}">
                <a16:creationId xmlns:a16="http://schemas.microsoft.com/office/drawing/2014/main" id="{E2B61CFB-AD16-68D0-8752-50D9C5E01971}"/>
              </a:ext>
            </a:extLst>
          </p:cNvPr>
          <p:cNvSpPr/>
          <p:nvPr/>
        </p:nvSpPr>
        <p:spPr>
          <a:xfrm>
            <a:off x="3933132" y="3744309"/>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grpSp>
        <p:nvGrpSpPr>
          <p:cNvPr id="3" name="그룹 2"/>
          <p:cNvGrpSpPr/>
          <p:nvPr/>
        </p:nvGrpSpPr>
        <p:grpSpPr>
          <a:xfrm>
            <a:off x="3795734" y="5614711"/>
            <a:ext cx="2712027" cy="617588"/>
            <a:chOff x="3795734" y="5614711"/>
            <a:chExt cx="2712027" cy="617588"/>
          </a:xfrm>
        </p:grpSpPr>
        <p:sp>
          <p:nvSpPr>
            <p:cNvPr id="171" name="직사각형 170">
              <a:extLst>
                <a:ext uri="{FF2B5EF4-FFF2-40B4-BE49-F238E27FC236}">
                  <a16:creationId xmlns:a16="http://schemas.microsoft.com/office/drawing/2014/main" id="{F56F1743-11A0-EA94-9184-4E42C0A37F9C}"/>
                </a:ext>
              </a:extLst>
            </p:cNvPr>
            <p:cNvSpPr/>
            <p:nvPr/>
          </p:nvSpPr>
          <p:spPr>
            <a:xfrm>
              <a:off x="3795734"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사각형: 둥근 모서리 15">
              <a:extLst>
                <a:ext uri="{FF2B5EF4-FFF2-40B4-BE49-F238E27FC236}">
                  <a16:creationId xmlns:a16="http://schemas.microsoft.com/office/drawing/2014/main" id="{E2B61CFB-AD16-68D0-8752-50D9C5E01971}"/>
                </a:ext>
              </a:extLst>
            </p:cNvPr>
            <p:cNvSpPr/>
            <p:nvPr/>
          </p:nvSpPr>
          <p:spPr>
            <a:xfrm>
              <a:off x="4569618" y="5745391"/>
              <a:ext cx="1845838" cy="317271"/>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a:solidFill>
                    <a:srgbClr val="0070C0"/>
                  </a:solidFill>
                  <a:latin typeface="맑은 고딕"/>
                  <a:ea typeface="맑은 고딕" panose="020B0503020000020004" pitchFamily="50" charset="-127"/>
                </a:rPr>
                <a:t>불러오기</a:t>
              </a:r>
              <a:endParaRPr kumimoji="1" lang="en-US" sz="1000" b="0" i="0" u="none" strike="noStrike" kern="0" cap="none" spc="0" normalizeH="0" baseline="0" noProof="0" dirty="0">
                <a:ln>
                  <a:noFill/>
                </a:ln>
                <a:solidFill>
                  <a:srgbClr val="0070C0"/>
                </a:solidFill>
                <a:effectLst/>
                <a:uLnTx/>
                <a:uFillTx/>
                <a:latin typeface="맑은 고딕"/>
              </a:endParaRPr>
            </a:p>
          </p:txBody>
        </p:sp>
        <p:sp>
          <p:nvSpPr>
            <p:cNvPr id="79" name="사각형: 둥근 모서리 15">
              <a:extLst>
                <a:ext uri="{FF2B5EF4-FFF2-40B4-BE49-F238E27FC236}">
                  <a16:creationId xmlns:a16="http://schemas.microsoft.com/office/drawing/2014/main" id="{E2B61CFB-AD16-68D0-8752-50D9C5E01971}"/>
                </a:ext>
              </a:extLst>
            </p:cNvPr>
            <p:cNvSpPr/>
            <p:nvPr/>
          </p:nvSpPr>
          <p:spPr>
            <a:xfrm>
              <a:off x="3893442" y="5745391"/>
              <a:ext cx="608074" cy="317271"/>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338" name="타원 337">
            <a:extLst>
              <a:ext uri="{FF2B5EF4-FFF2-40B4-BE49-F238E27FC236}">
                <a16:creationId xmlns:a16="http://schemas.microsoft.com/office/drawing/2014/main" id="{37A7FF4F-0EAA-1463-560A-D5EC24416103}"/>
              </a:ext>
            </a:extLst>
          </p:cNvPr>
          <p:cNvSpPr/>
          <p:nvPr/>
        </p:nvSpPr>
        <p:spPr>
          <a:xfrm>
            <a:off x="3699494" y="590188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176" name="그룹 175"/>
          <p:cNvGrpSpPr/>
          <p:nvPr/>
        </p:nvGrpSpPr>
        <p:grpSpPr>
          <a:xfrm>
            <a:off x="3823603" y="2518824"/>
            <a:ext cx="2628000" cy="216222"/>
            <a:chOff x="703268" y="2694441"/>
            <a:chExt cx="2628000" cy="216222"/>
          </a:xfrm>
        </p:grpSpPr>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6" name="사각형: 둥근 모서리 15">
            <a:extLst>
              <a:ext uri="{FF2B5EF4-FFF2-40B4-BE49-F238E27FC236}">
                <a16:creationId xmlns:a16="http://schemas.microsoft.com/office/drawing/2014/main" id="{E2B61CFB-AD16-68D0-8752-50D9C5E01971}"/>
              </a:ext>
            </a:extLst>
          </p:cNvPr>
          <p:cNvSpPr/>
          <p:nvPr/>
        </p:nvSpPr>
        <p:spPr>
          <a:xfrm>
            <a:off x="3933132" y="2545363"/>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t>내역 접기 ↑</a:t>
            </a:r>
            <a:endParaRPr kumimoji="1" lang="en-US" altLang="ko-KR" sz="700" kern="0" dirty="0"/>
          </a:p>
        </p:txBody>
      </p:sp>
    </p:spTree>
    <p:extLst>
      <p:ext uri="{BB962C8B-B14F-4D97-AF65-F5344CB8AC3E}">
        <p14:creationId xmlns:p14="http://schemas.microsoft.com/office/powerpoint/2010/main" val="3243963399"/>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321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a:solidFill>
                  <a:prstClr val="black"/>
                </a:solidFill>
              </a:rPr>
              <a:t>항목 설명</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74615" cy="211203"/>
          </a:xfrm>
          <a:prstGeom prst="rect">
            <a:avLst/>
          </a:prstGeom>
          <a:noFill/>
        </p:spPr>
        <p:txBody>
          <a:bodyPr wrap="none" lIns="36000" tIns="36000" rIns="36000" bIns="36000" rtlCol="0">
            <a:spAutoFit/>
          </a:bodyPr>
          <a:lstStyle/>
          <a:p>
            <a:r>
              <a:rPr lang="en-US" altLang="ko-KR" sz="900" b="1">
                <a:solidFill>
                  <a:prstClr val="black"/>
                </a:solidFill>
              </a:rPr>
              <a:t>1.1. </a:t>
            </a:r>
            <a:r>
              <a:rPr lang="ko-KR" altLang="en-US" sz="900" b="1">
                <a:solidFill>
                  <a:prstClr val="black"/>
                </a:solidFill>
              </a:rPr>
              <a:t>보관함목록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순번</a:t>
                      </a:r>
                      <a:endParaRPr lang="en-US" altLang="ko-KR" sz="800" b="0" i="0" u="none" strike="noStrike">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순번</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0377941"/>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3084642"/>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9935159"/>
                  </a:ext>
                </a:extLst>
              </a:tr>
              <a:tr h="0">
                <a:tc>
                  <a:txBody>
                    <a:bodyPr/>
                    <a:lstStyle/>
                    <a:p>
                      <a:pPr algn="l" fontAlgn="ctr"/>
                      <a:r>
                        <a:rPr lang="ko-KR" altLang="en-US" sz="800" b="0" i="0" u="none" strike="noStrike">
                          <a:solidFill>
                            <a:srgbClr val="000000"/>
                          </a:solidFill>
                          <a:effectLst/>
                          <a:latin typeface="+mn-ea"/>
                          <a:ea typeface="+mn-ea"/>
                        </a:rPr>
                        <a:t>개찰일자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2038175"/>
                  </a:ext>
                </a:extLst>
              </a:tr>
              <a:tr h="0">
                <a:tc>
                  <a:txBody>
                    <a:bodyPr/>
                    <a:lstStyle/>
                    <a:p>
                      <a:pPr algn="l" fontAlgn="ctr"/>
                      <a:r>
                        <a:rPr lang="ko-KR" altLang="en-US" sz="800" b="0" i="0" u="none" strike="noStrike">
                          <a:solidFill>
                            <a:srgbClr val="000000"/>
                          </a:solidFill>
                          <a:effectLst/>
                          <a:latin typeface="+mn-ea"/>
                          <a:ea typeface="+mn-ea"/>
                        </a:rPr>
                        <a:t>참가품목수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prtcpItemQty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참가신청한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145801"/>
                  </a:ext>
                </a:extLst>
              </a:tr>
            </a:tbl>
          </a:graphicData>
        </a:graphic>
      </p:graphicFrame>
      <p:sp>
        <p:nvSpPr>
          <p:cNvPr id="2" name="Text Box 73">
            <a:extLst>
              <a:ext uri="{FF2B5EF4-FFF2-40B4-BE49-F238E27FC236}">
                <a16:creationId xmlns:a16="http://schemas.microsoft.com/office/drawing/2014/main" id="{BC4D4D2A-1822-51BA-39E9-C5D0F22DD99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4" name="TextBox 3">
            <a:extLst>
              <a:ext uri="{FF2B5EF4-FFF2-40B4-BE49-F238E27FC236}">
                <a16:creationId xmlns:a16="http://schemas.microsoft.com/office/drawing/2014/main" id="{E3DDA5AB-9329-01A0-541C-DD61116BF022}"/>
              </a:ext>
            </a:extLst>
          </p:cNvPr>
          <p:cNvSpPr txBox="1"/>
          <p:nvPr/>
        </p:nvSpPr>
        <p:spPr>
          <a:xfrm>
            <a:off x="458117" y="2670505"/>
            <a:ext cx="2445147" cy="211203"/>
          </a:xfrm>
          <a:prstGeom prst="rect">
            <a:avLst/>
          </a:prstGeom>
          <a:noFill/>
        </p:spPr>
        <p:txBody>
          <a:bodyPr wrap="none" lIns="36000" tIns="36000" rIns="36000" bIns="36000" rtlCol="0">
            <a:spAutoFit/>
          </a:bodyPr>
          <a:lstStyle/>
          <a:p>
            <a:r>
              <a:rPr lang="en-US" altLang="ko-KR" sz="900" b="1">
                <a:solidFill>
                  <a:prstClr val="black"/>
                </a:solidFill>
              </a:rPr>
              <a:t>1.2. </a:t>
            </a:r>
            <a:r>
              <a:rPr lang="ko-KR" altLang="en-US" sz="900" b="1">
                <a:solidFill>
                  <a:prstClr val="black"/>
                </a:solidFill>
              </a:rPr>
              <a:t>입찰내역목록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(dl_bidCnList)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77349398-50BA-8BCF-B918-1D919357217B}"/>
              </a:ext>
            </a:extLst>
          </p:cNvPr>
          <p:cNvGraphicFramePr>
            <a:graphicFrameLocks noGrp="1"/>
          </p:cNvGraphicFramePr>
          <p:nvPr/>
        </p:nvGraphicFramePr>
        <p:xfrm>
          <a:off x="452999" y="2881708"/>
          <a:ext cx="8994883" cy="31027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순번</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순번</a:t>
                      </a:r>
                      <a:endParaRPr lang="en-US" altLang="ko-KR" sz="800" b="0" i="0" u="none" strike="noStrike">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mn-ea"/>
                          <a:ea typeface="+mn-ea"/>
                        </a:rPr>
                        <a:t>재고번호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0377941"/>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33084642"/>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9935159"/>
                  </a:ext>
                </a:extLst>
              </a:tr>
              <a:tr h="0">
                <a:tc>
                  <a:txBody>
                    <a:bodyPr/>
                    <a:lstStyle/>
                    <a:p>
                      <a:pPr algn="l" fontAlgn="ctr"/>
                      <a:r>
                        <a:rPr lang="ko-KR" altLang="en-US" sz="800" b="0" i="0" u="none" strike="noStrike">
                          <a:solidFill>
                            <a:srgbClr val="000000"/>
                          </a:solidFill>
                          <a:effectLst/>
                          <a:latin typeface="+mn-ea"/>
                          <a:ea typeface="+mn-ea"/>
                        </a:rPr>
                        <a:t>품목대체구분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품목대체구분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2038175"/>
                  </a:ext>
                </a:extLst>
              </a:tr>
              <a:tr h="0">
                <a:tc>
                  <a:txBody>
                    <a:bodyPr/>
                    <a:lstStyle/>
                    <a:p>
                      <a:pPr algn="l" fontAlgn="ctr"/>
                      <a:r>
                        <a:rPr lang="ko-KR" altLang="en-US" sz="800" b="0" i="0" u="none" strike="noStrike" dirty="0">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145801"/>
                  </a:ext>
                </a:extLst>
              </a:tr>
              <a:tr h="0">
                <a:tc>
                  <a:txBody>
                    <a:bodyPr/>
                    <a:lstStyle/>
                    <a:p>
                      <a:pPr algn="l" fontAlgn="ctr"/>
                      <a:r>
                        <a:rPr lang="ko-KR" altLang="en-US" sz="800" b="0" i="0" u="none" strike="noStrike" dirty="0">
                          <a:solidFill>
                            <a:srgbClr val="000000"/>
                          </a:solidFill>
                          <a:effectLst/>
                          <a:latin typeface="+mn-ea"/>
                          <a:ea typeface="+mn-ea"/>
                        </a:rPr>
                        <a:t>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수정재고번호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9760845"/>
                  </a:ext>
                </a:extLst>
              </a:tr>
              <a:tr h="0">
                <a:tc>
                  <a:txBody>
                    <a:bodyPr/>
                    <a:lstStyle/>
                    <a:p>
                      <a:pPr algn="l" fontAlgn="ctr"/>
                      <a:r>
                        <a:rPr lang="ko-KR" altLang="en-US" sz="800" b="0" i="0" u="none" strike="noStrike" dirty="0">
                          <a:solidFill>
                            <a:srgbClr val="000000"/>
                          </a:solidFill>
                          <a:effectLst/>
                          <a:latin typeface="+mn-ea"/>
                          <a:ea typeface="+mn-ea"/>
                        </a:rPr>
                        <a:t>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수정부품번호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6854908"/>
                  </a:ext>
                </a:extLst>
              </a:tr>
              <a:tr h="0">
                <a:tc>
                  <a:txBody>
                    <a:bodyPr/>
                    <a:lstStyle/>
                    <a:p>
                      <a:pPr algn="l" fontAlgn="ctr"/>
                      <a:r>
                        <a:rPr lang="en-US" altLang="ko-KR" sz="800" b="0" i="0" u="none" strike="noStrike" dirty="0">
                          <a:solidFill>
                            <a:srgbClr val="000000"/>
                          </a:solidFill>
                          <a:effectLst/>
                          <a:latin typeface="+mn-ea"/>
                          <a:ea typeface="+mn-ea"/>
                        </a:rPr>
                        <a:t>MOQ</a:t>
                      </a:r>
                      <a:r>
                        <a:rPr lang="ko-KR" altLang="en-US" sz="800" b="0" i="0" u="none" strike="noStrike" dirty="0">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구분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2410842"/>
                  </a:ext>
                </a:extLst>
              </a:tr>
              <a:tr h="0">
                <a:tc>
                  <a:txBody>
                    <a:bodyPr/>
                    <a:lstStyle/>
                    <a:p>
                      <a:pPr algn="l" fontAlgn="ctr"/>
                      <a:r>
                        <a:rPr lang="en-US" altLang="ko-KR" sz="800" b="0" i="0" u="none" strike="noStrike" dirty="0">
                          <a:solidFill>
                            <a:srgbClr val="000000"/>
                          </a:solidFill>
                          <a:effectLst/>
                          <a:latin typeface="+mn-ea"/>
                          <a:ea typeface="+mn-ea"/>
                        </a:rPr>
                        <a:t>MOQ</a:t>
                      </a:r>
                      <a:r>
                        <a:rPr lang="ko-KR" altLang="en-US" sz="800" b="0" i="0" u="none" strike="noStrike" dirty="0">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74569023"/>
                  </a:ext>
                </a:extLst>
              </a:tr>
              <a:tr h="0">
                <a:tc>
                  <a:txBody>
                    <a:bodyPr/>
                    <a:lstStyle/>
                    <a:p>
                      <a:pPr algn="l" fontAlgn="ctr"/>
                      <a:r>
                        <a:rPr lang="en-US" altLang="ko-KR" sz="800" b="0" i="0" u="none" strike="noStrike" dirty="0">
                          <a:solidFill>
                            <a:srgbClr val="000000"/>
                          </a:solidFill>
                          <a:effectLst/>
                          <a:latin typeface="+mn-ea"/>
                          <a:ea typeface="+mn-ea"/>
                        </a:rPr>
                        <a:t>MOQ</a:t>
                      </a:r>
                      <a:r>
                        <a:rPr lang="ko-KR" altLang="en-US" sz="800" b="0" i="0" u="none" strike="noStrike" dirty="0" err="1">
                          <a:solidFill>
                            <a:srgbClr val="000000"/>
                          </a:solidFill>
                          <a:effectLst/>
                          <a:latin typeface="+mn-ea"/>
                          <a:ea typeface="+mn-ea"/>
                        </a:rPr>
                        <a:t>첨부문서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mn-ea"/>
                          <a:ea typeface="+mn-ea"/>
                        </a:rPr>
                        <a:t>MOQ</a:t>
                      </a:r>
                      <a:r>
                        <a:rPr lang="ko-KR" altLang="en-US" sz="800" b="0" i="0" u="none" strike="noStrike" dirty="0" err="1">
                          <a:solidFill>
                            <a:srgbClr val="000000"/>
                          </a:solidFill>
                          <a:effectLst/>
                          <a:latin typeface="+mn-ea"/>
                          <a:ea typeface="+mn-ea"/>
                        </a:rPr>
                        <a:t>첨부문서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73503611"/>
                  </a:ext>
                </a:extLst>
              </a:tr>
              <a:tr h="0">
                <a:tc>
                  <a:txBody>
                    <a:bodyPr/>
                    <a:lstStyle/>
                    <a:p>
                      <a:pPr algn="l" fontAlgn="ctr"/>
                      <a:r>
                        <a:rPr lang="ko-KR" altLang="en-US" sz="800" b="0" i="0" u="none" strike="noStrike" dirty="0" err="1">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85035385"/>
                  </a:ext>
                </a:extLst>
              </a:tr>
              <a:tr h="0">
                <a:tc>
                  <a:txBody>
                    <a:bodyPr/>
                    <a:lstStyle/>
                    <a:p>
                      <a:pPr algn="l" fontAlgn="ctr"/>
                      <a:r>
                        <a:rPr lang="ko-KR" altLang="en-US" sz="800" b="0" i="0" u="none" strike="noStrike" dirty="0" err="1">
                          <a:solidFill>
                            <a:srgbClr val="000000"/>
                          </a:solidFill>
                          <a:effectLst/>
                          <a:latin typeface="+mn-ea"/>
                          <a:ea typeface="+mn-ea"/>
                        </a:rPr>
                        <a:t>입찰단가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입찰단가</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026334"/>
                  </a:ext>
                </a:extLst>
              </a:tr>
              <a:tr h="0">
                <a:tc>
                  <a:txBody>
                    <a:bodyPr/>
                    <a:lstStyle/>
                    <a:p>
                      <a:pPr algn="l" fontAlgn="ctr"/>
                      <a:r>
                        <a:rPr lang="ko-KR" altLang="en-US" sz="800" b="0" i="0" u="none" strike="noStrike" dirty="0">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652739"/>
                  </a:ext>
                </a:extLst>
              </a:tr>
              <a:tr h="0">
                <a:tc>
                  <a:txBody>
                    <a:bodyPr/>
                    <a:lstStyle/>
                    <a:p>
                      <a:pPr algn="l" fontAlgn="ctr"/>
                      <a:r>
                        <a:rPr lang="ko-KR" altLang="en-US" sz="800" b="0" i="0" u="none" strike="noStrike" dirty="0">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화폐단위</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9514727"/>
                  </a:ext>
                </a:extLst>
              </a:tr>
            </a:tbl>
          </a:graphicData>
        </a:graphic>
      </p:graphicFrame>
    </p:spTree>
    <p:extLst>
      <p:ext uri="{BB962C8B-B14F-4D97-AF65-F5344CB8AC3E}">
        <p14:creationId xmlns:p14="http://schemas.microsoft.com/office/powerpoint/2010/main" val="2795317362"/>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11A31DEB-7767-2B92-FE4C-FA157C28290E}"/>
              </a:ext>
            </a:extLst>
          </p:cNvPr>
          <p:cNvSpPr>
            <a:spLocks noGrp="1"/>
          </p:cNvSpPr>
          <p:nvPr>
            <p:ph type="sldNum" sz="quarter" idx="4"/>
          </p:nvPr>
        </p:nvSpPr>
        <p:spPr/>
        <p:txBody>
          <a:bodyPr/>
          <a:lstStyle/>
          <a:p>
            <a:fld id="{34C8E023-7346-48FC-AB24-9A3388C53208}" type="slidenum">
              <a:rPr lang="ko-KR" altLang="en-US" smtClean="0"/>
              <a:pPr/>
              <a:t>322</a:t>
            </a:fld>
            <a:endParaRPr lang="ko-KR" altLang="en-US" dirty="0"/>
          </a:p>
        </p:txBody>
      </p:sp>
      <p:sp>
        <p:nvSpPr>
          <p:cNvPr id="3" name="TextBox 2">
            <a:extLst>
              <a:ext uri="{FF2B5EF4-FFF2-40B4-BE49-F238E27FC236}">
                <a16:creationId xmlns:a16="http://schemas.microsoft.com/office/drawing/2014/main" id="{9CF7DA6E-2BA7-22C9-80ED-7DC19673C6BD}"/>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90E23908-20F6-EB17-9DC3-43EE5C2F8A17}"/>
              </a:ext>
            </a:extLst>
          </p:cNvPr>
          <p:cNvGraphicFramePr>
            <a:graphicFrameLocks noGrp="1"/>
          </p:cNvGraphicFramePr>
          <p:nvPr/>
        </p:nvGraphicFramePr>
        <p:xfrm>
          <a:off x="458117" y="799547"/>
          <a:ext cx="8995591" cy="133536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보관함목록 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보관함이전공고목록조회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a:t>보관함목록행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scnwin.grd_list_oncecllclick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클릭한 공고의 입찰내역 목록 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이전공고입찰내역목록조회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2306955"/>
                  </a:ext>
                </a:extLst>
              </a:tr>
              <a:tr h="0">
                <a:tc>
                  <a:txBody>
                    <a:bodyPr/>
                    <a:lstStyle/>
                    <a:p>
                      <a:r>
                        <a:rPr lang="ko-KR" altLang="en-US" sz="800"/>
                        <a:t>취소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scnwin.btn_cancle_onclick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작업내용을 반영하지 않고 현재 팝업을 종료</a:t>
                      </a:r>
                      <a:endParaRPr lang="en-US" altLang="ko-KR" sz="80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2903495"/>
                  </a:ext>
                </a:extLst>
              </a:tr>
              <a:tr h="0">
                <a:tc>
                  <a:txBody>
                    <a:bodyPr/>
                    <a:lstStyle/>
                    <a:p>
                      <a:r>
                        <a:rPr lang="ko-KR" altLang="en-US" sz="800"/>
                        <a:t>불러오기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scnwin.btn_loadSave_onclick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클릭한 공고의 입찰내역을 현재 공고의 입찰내역으로 저장</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이전공고입찰내역불러오기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7594737"/>
                  </a:ext>
                </a:extLst>
              </a:tr>
            </a:tbl>
          </a:graphicData>
        </a:graphic>
      </p:graphicFrame>
      <p:sp>
        <p:nvSpPr>
          <p:cNvPr id="5" name="Text Box 73">
            <a:extLst>
              <a:ext uri="{FF2B5EF4-FFF2-40B4-BE49-F238E27FC236}">
                <a16:creationId xmlns:a16="http://schemas.microsoft.com/office/drawing/2014/main" id="{1C32AD44-1BCD-BB77-5C7E-C241CBF1750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170753799"/>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323</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8. </a:t>
            </a:r>
            <a:r>
              <a:rPr lang="ko-KR" altLang="en-US" dirty="0"/>
              <a:t>국외 </a:t>
            </a:r>
            <a:r>
              <a:rPr lang="ko-KR" altLang="en-US" dirty="0" err="1"/>
              <a:t>입찰진행</a:t>
            </a:r>
            <a:endParaRPr lang="en-US" altLang="ko-KR" dirty="0"/>
          </a:p>
          <a:p>
            <a:r>
              <a:rPr lang="en-US" altLang="ko-KR" dirty="0"/>
              <a:t>8.1 </a:t>
            </a:r>
            <a:r>
              <a:rPr lang="ko-KR" altLang="en-US" dirty="0"/>
              <a:t>화면 목록 </a:t>
            </a:r>
            <a:r>
              <a:rPr lang="en-US" altLang="ko-KR" dirty="0"/>
              <a:t>(1/2)</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2085226507"/>
              </p:ext>
            </p:extLst>
          </p:nvPr>
        </p:nvGraphicFramePr>
        <p:xfrm>
          <a:off x="635474" y="1413419"/>
          <a:ext cx="8701200" cy="478942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kern="1200" dirty="0">
                          <a:solidFill>
                            <a:schemeClr val="tx1"/>
                          </a:solidFill>
                          <a:latin typeface="+mn-ea"/>
                          <a:ea typeface="+mn-ea"/>
                          <a:cs typeface="+mn-cs"/>
                        </a:rPr>
                        <a:t>MUI-BD-03-M01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입찰진행</a:t>
                      </a:r>
                      <a:r>
                        <a:rPr lang="ko-KR" altLang="en-US" sz="800" dirty="0">
                          <a:latin typeface="+mn-ea"/>
                          <a:ea typeface="+mn-ea"/>
                        </a:rPr>
                        <a:t> 목록</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mn-lt"/>
                        </a:rPr>
                        <a:t>BidPrgrsListForBzentyPage</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입찰진행</a:t>
                      </a:r>
                      <a:r>
                        <a:rPr lang="ko-KR" altLang="en-US" sz="800" dirty="0">
                          <a:latin typeface="+mn-ea"/>
                          <a:ea typeface="+mn-ea"/>
                        </a:rPr>
                        <a:t> 목록 조회 화면</a:t>
                      </a:r>
                      <a:endParaRPr lang="en-US" altLang="ko-KR" sz="800" dirty="0">
                        <a:latin typeface="+mn-ea"/>
                        <a:ea typeface="+mn-ea"/>
                      </a:endParaRPr>
                    </a:p>
                    <a:p>
                      <a:pPr latinLnBrk="1"/>
                      <a:r>
                        <a:rPr lang="ko-KR" altLang="en-US" sz="800" dirty="0">
                          <a:latin typeface="+mn-ea"/>
                          <a:ea typeface="+mn-ea"/>
                        </a:rPr>
                        <a:t>국내 화면과 동일함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rPr>
                        <a:t>bidPrgrsListForBzenty</a:t>
                      </a:r>
                      <a:r>
                        <a:rPr lang="en-US" altLang="ko-KR" sz="800" b="0" i="0" u="none" strike="noStrike" dirty="0">
                          <a:solidFill>
                            <a:schemeClr val="tx1"/>
                          </a:solidFill>
                          <a:effectLst/>
                          <a:latin typeface="+mn-lt"/>
                        </a:rPr>
                        <a:t>/</a:t>
                      </a:r>
                      <a:r>
                        <a:rPr lang="en-US" altLang="ko-KR" sz="800" b="0" i="0" u="none" strike="noStrike" dirty="0" err="1">
                          <a:solidFill>
                            <a:schemeClr val="tx1"/>
                          </a:solidFill>
                          <a:effectLst/>
                          <a:latin typeface="+mn-lt"/>
                        </a:rPr>
                        <a:t>BidPrgrsListForBzentyPage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UC-BD-02-01</a:t>
                      </a: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UC-BD-07-01</a:t>
                      </a: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UC-BD-08-01</a:t>
                      </a: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UC-BD-09-01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58023686"/>
                  </a:ext>
                </a:extLst>
              </a:tr>
              <a:tr h="180000">
                <a:tc>
                  <a:txBody>
                    <a:bodyPr/>
                    <a:lstStyle/>
                    <a:p>
                      <a:pPr algn="ctr" fontAlgn="t"/>
                      <a:r>
                        <a:rPr lang="en-US" altLang="ko-KR" sz="700" kern="1200" dirty="0">
                          <a:solidFill>
                            <a:schemeClr val="tx1"/>
                          </a:solidFill>
                          <a:latin typeface="+mn-ea"/>
                          <a:ea typeface="+mn-ea"/>
                          <a:cs typeface="+mn-cs"/>
                        </a:rPr>
                        <a:t>MUI-BD-04-M71</a:t>
                      </a:r>
                      <a:endParaRPr lang="ko-KR" altLang="en-US" sz="700" b="0" i="0" u="none" strike="noStrike" dirty="0">
                        <a:solidFill>
                          <a:srgbClr val="000000"/>
                        </a:solidFill>
                        <a:effectLst/>
                        <a:latin typeface="맑은 고딕" panose="020B0503020000020004" pitchFamily="50" charset="-127"/>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입찰참가신청서작성</a:t>
                      </a:r>
                      <a:endParaRPr lang="en-US" altLang="ko-KR" sz="800" dirty="0">
                        <a:latin typeface="+mn-ea"/>
                        <a:ea typeface="+mn-ea"/>
                      </a:endParaRPr>
                    </a:p>
                    <a:p>
                      <a:pPr latinLnBrk="1"/>
                      <a:r>
                        <a:rPr lang="en-US" altLang="ko-KR" sz="800" dirty="0">
                          <a:latin typeface="+mn-ea"/>
                          <a:ea typeface="+mn-ea"/>
                        </a:rPr>
                        <a:t>- </a:t>
                      </a:r>
                      <a:r>
                        <a:rPr lang="ko-KR" altLang="en-US" sz="800" dirty="0" err="1">
                          <a:latin typeface="+mn-ea"/>
                          <a:ea typeface="+mn-ea"/>
                        </a:rPr>
                        <a:t>서약서동의</a:t>
                      </a:r>
                      <a:r>
                        <a:rPr lang="ko-KR" altLang="en-US" sz="800" dirty="0">
                          <a:latin typeface="+mn-ea"/>
                          <a:ea typeface="+mn-ea"/>
                        </a:rPr>
                        <a:t> 목록</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mn-lt"/>
                          <a:ea typeface="+mn-ea"/>
                        </a:rPr>
                        <a:t>OvsBidPrtcpAplyPage</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업체담당자가 입찰참여 전</a:t>
                      </a:r>
                      <a:r>
                        <a:rPr lang="en-US" altLang="ko-KR" sz="800" b="0" i="0" u="none" strike="noStrike" dirty="0">
                          <a:solidFill>
                            <a:srgbClr val="000000"/>
                          </a:solidFill>
                          <a:effectLst/>
                          <a:latin typeface="+mn-ea"/>
                          <a:ea typeface="+mn-ea"/>
                        </a:rPr>
                        <a:t>, </a:t>
                      </a:r>
                      <a:r>
                        <a:rPr lang="ko-KR" altLang="en-US" sz="800" b="0" i="0" u="none" strike="noStrike" dirty="0">
                          <a:solidFill>
                            <a:srgbClr val="000000"/>
                          </a:solidFill>
                          <a:effectLst/>
                          <a:latin typeface="+mn-ea"/>
                          <a:ea typeface="+mn-ea"/>
                        </a:rPr>
                        <a:t>청렴계약이행서약서를 확인하고 동의여부를  화면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mn-lt"/>
                          <a:ea typeface="+mn-ea"/>
                        </a:rPr>
                        <a:t>ovsBidPrtcpAplyPage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UC-BD-02-01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305003">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mn-ea"/>
                          <a:cs typeface="+mn-cs"/>
                        </a:rPr>
                        <a:t>MUI-BD-04-P03</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서약서 상세</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err="1">
                          <a:solidFill>
                            <a:schemeClr val="tx1"/>
                          </a:solidFill>
                          <a:effectLst/>
                          <a:latin typeface="+mn-lt"/>
                          <a:ea typeface="+mn-ea"/>
                        </a:rPr>
                        <a:t>OvsProbWrotAgre</a:t>
                      </a:r>
                      <a:endParaRPr lang="en-US" altLang="ko-KR" sz="800" b="0" i="0" u="none" strike="noStrike" dirty="0">
                        <a:solidFill>
                          <a:schemeClr val="tx1"/>
                        </a:solidFill>
                        <a:effectLst/>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청렴계약이행서약서</a:t>
                      </a:r>
                      <a:endParaRPr lang="en-US" altLang="ko-KR" sz="800" dirty="0">
                        <a:latin typeface="+mn-ea"/>
                        <a:ea typeface="+mn-ea"/>
                      </a:endParaRPr>
                    </a:p>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dirty="0">
                          <a:latin typeface="+mn-ea"/>
                          <a:ea typeface="+mn-ea"/>
                        </a:rPr>
                        <a:t>국내 화면과 동일함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mn-lt"/>
                          <a:ea typeface="+mn-ea"/>
                        </a:rPr>
                        <a:t>ovsProbWrotAgre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UC-BD-02-01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9929360"/>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kern="1200" dirty="0">
                          <a:solidFill>
                            <a:schemeClr val="tx1"/>
                          </a:solidFill>
                          <a:latin typeface="+mn-ea"/>
                          <a:ea typeface="+mn-ea"/>
                          <a:cs typeface="+mn-cs"/>
                        </a:rPr>
                        <a:t>MUI-BD-04-M72</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스탭</a:t>
                      </a:r>
                      <a:r>
                        <a:rPr lang="ko-KR" altLang="en-US" sz="800" dirty="0">
                          <a:latin typeface="+mn-ea"/>
                          <a:ea typeface="+mn-ea"/>
                        </a:rPr>
                        <a:t> </a:t>
                      </a:r>
                      <a:r>
                        <a:rPr lang="en-US" altLang="ko-KR" sz="800" dirty="0">
                          <a:latin typeface="+mn-ea"/>
                          <a:ea typeface="+mn-ea"/>
                        </a:rPr>
                        <a:t>1 - </a:t>
                      </a:r>
                      <a:r>
                        <a:rPr lang="ko-KR" altLang="en-US" sz="800" dirty="0">
                          <a:latin typeface="+mn-ea"/>
                          <a:ea typeface="+mn-ea"/>
                        </a:rPr>
                        <a:t>일반정보</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mn-lt"/>
                          <a:ea typeface="+mn-ea"/>
                        </a:rPr>
                        <a:t>OvsBidPrtcpAplyPage_</a:t>
                      </a:r>
                      <a:r>
                        <a:rPr lang="en-US" altLang="ko-KR" sz="800" dirty="0">
                          <a:solidFill>
                            <a:schemeClr val="tx1"/>
                          </a:solidFill>
                          <a:latin typeface="+mn-lt"/>
                          <a:ea typeface="+mn-ea"/>
                        </a:rPr>
                        <a:t>Stp1</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업체담당자가 입찰에 참가하기 위해</a:t>
                      </a:r>
                      <a:r>
                        <a:rPr lang="en-US" altLang="ko-KR" sz="800" b="0" i="0" u="none" strike="noStrike" dirty="0">
                          <a:solidFill>
                            <a:srgbClr val="000000"/>
                          </a:solidFill>
                          <a:effectLst/>
                          <a:latin typeface="+mn-ea"/>
                          <a:ea typeface="+mn-ea"/>
                        </a:rPr>
                        <a:t>, </a:t>
                      </a:r>
                      <a:r>
                        <a:rPr lang="ko-KR" altLang="en-US" sz="800" b="0" i="0" u="none" strike="noStrike" dirty="0" err="1">
                          <a:solidFill>
                            <a:srgbClr val="000000"/>
                          </a:solidFill>
                          <a:effectLst/>
                          <a:latin typeface="+mn-ea"/>
                          <a:ea typeface="+mn-ea"/>
                        </a:rPr>
                        <a:t>참여품목</a:t>
                      </a:r>
                      <a:r>
                        <a:rPr lang="ko-KR" altLang="en-US" sz="800" b="0" i="0" u="none" strike="noStrike" dirty="0">
                          <a:solidFill>
                            <a:srgbClr val="000000"/>
                          </a:solidFill>
                          <a:effectLst/>
                          <a:latin typeface="+mn-ea"/>
                          <a:ea typeface="+mn-ea"/>
                        </a:rPr>
                        <a:t> 및 보증서 </a:t>
                      </a:r>
                      <a:endParaRPr lang="en-US" altLang="ko-KR" sz="800" b="0" i="0" u="none" strike="noStrike" dirty="0">
                        <a:solidFill>
                          <a:srgbClr val="000000"/>
                        </a:solidFill>
                        <a:effectLst/>
                        <a:latin typeface="+mn-ea"/>
                        <a:ea typeface="+mn-ea"/>
                      </a:endParaRPr>
                    </a:p>
                    <a:p>
                      <a:pPr algn="l" fontAlgn="ctr"/>
                      <a:r>
                        <a:rPr lang="ko-KR" altLang="en-US" sz="800" b="0" i="0" u="none" strike="noStrike" dirty="0">
                          <a:solidFill>
                            <a:srgbClr val="000000"/>
                          </a:solidFill>
                          <a:effectLst/>
                          <a:latin typeface="+mn-ea"/>
                          <a:ea typeface="+mn-ea"/>
                        </a:rPr>
                        <a:t>정보를 등록하는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dirty="0">
                          <a:solidFill>
                            <a:schemeClr val="tx1"/>
                          </a:solidFill>
                          <a:latin typeface="+mn-lt"/>
                          <a:ea typeface="+mn-ea"/>
                        </a:rPr>
                        <a:t>Stp1</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UC-BD-02-01</a:t>
                      </a:r>
                    </a:p>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UC-BD-07-01</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MUI-BD-04-M73</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2 – </a:t>
                      </a:r>
                      <a:r>
                        <a:rPr lang="ko-KR" altLang="en-US" sz="800" kern="1200" dirty="0">
                          <a:solidFill>
                            <a:schemeClr val="tx1"/>
                          </a:solidFill>
                          <a:latin typeface="+mn-ea"/>
                          <a:ea typeface="+mn-ea"/>
                          <a:cs typeface="+mn-cs"/>
                        </a:rPr>
                        <a:t>업체정보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chemeClr val="tx1"/>
                          </a:solidFill>
                          <a:effectLst/>
                          <a:latin typeface="+mn-lt"/>
                          <a:ea typeface="+mn-ea"/>
                        </a:rPr>
                        <a:t>OvsBidPrtcpAplyPage_</a:t>
                      </a:r>
                      <a:r>
                        <a:rPr lang="en-US" altLang="ko-KR" sz="800" dirty="0">
                          <a:solidFill>
                            <a:schemeClr val="tx1"/>
                          </a:solidFill>
                          <a:latin typeface="+mn-lt"/>
                          <a:ea typeface="+mn-ea"/>
                        </a:rPr>
                        <a:t>Stp2</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입찰에 참가하기 위해</a:t>
                      </a: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참여품목 및 보증서 </a:t>
                      </a:r>
                      <a:endPar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정보를 등록하는 화면</a:t>
                      </a:r>
                      <a:endPar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dirty="0">
                          <a:solidFill>
                            <a:schemeClr val="tx1"/>
                          </a:solidFill>
                          <a:latin typeface="+mn-lt"/>
                          <a:ea typeface="+mn-ea"/>
                        </a:rPr>
                        <a:t>Stp2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UC-BD-02-01</a:t>
                      </a:r>
                    </a:p>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UC-BD-07-01</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MUI-BD-04-M74</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3 - </a:t>
                      </a:r>
                      <a:r>
                        <a:rPr lang="ko-KR" altLang="en-US" sz="800" kern="1200" dirty="0">
                          <a:solidFill>
                            <a:schemeClr val="tx1"/>
                          </a:solidFill>
                          <a:latin typeface="+mn-ea"/>
                          <a:ea typeface="+mn-ea"/>
                          <a:cs typeface="+mn-cs"/>
                        </a:rPr>
                        <a:t>입찰 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chemeClr val="tx1"/>
                          </a:solidFill>
                          <a:effectLst/>
                          <a:latin typeface="+mn-lt"/>
                          <a:ea typeface="+mn-ea"/>
                        </a:rPr>
                        <a:t>OvsBidPrtcpAplyPage_</a:t>
                      </a:r>
                      <a:r>
                        <a:rPr lang="en-US" altLang="ko-KR" sz="800" dirty="0">
                          <a:solidFill>
                            <a:schemeClr val="tx1"/>
                          </a:solidFill>
                          <a:latin typeface="+mn-lt"/>
                          <a:ea typeface="+mn-ea"/>
                        </a:rPr>
                        <a:t>Stp3</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입찰에 참가하기 위해</a:t>
                      </a: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참여품목</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및 보증서 </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정보를 등록하는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dirty="0">
                          <a:solidFill>
                            <a:schemeClr val="tx1"/>
                          </a:solidFill>
                          <a:latin typeface="+mn-lt"/>
                          <a:ea typeface="+mn-ea"/>
                        </a:rPr>
                        <a:t>Stp3</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UC-BD-02-01</a:t>
                      </a:r>
                    </a:p>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UC-BD-07-01</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3731922"/>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MUI-BD-04-P75</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입찰보증서선택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mn-lt"/>
                          <a:ea typeface="+mn-ea"/>
                        </a:rPr>
                        <a:t>OvsBidWtgrInq</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전자입찰보증서를 조회하고 입찰에 사용할 보증서를 선택</a:t>
                      </a:r>
                      <a:endParaRPr lang="en-US" altLang="ko-KR" sz="800" b="0" i="0" u="none" strike="noStrike" dirty="0">
                        <a:solidFill>
                          <a:srgbClr val="000000"/>
                        </a:solidFill>
                        <a:effectLst/>
                        <a:latin typeface="+mn-ea"/>
                        <a:ea typeface="+mn-ea"/>
                      </a:endParaRPr>
                    </a:p>
                    <a:p>
                      <a:pPr algn="l" fontAlgn="ctr"/>
                      <a:r>
                        <a:rPr lang="ko-KR" altLang="en-US" sz="800" b="0" i="0" u="none" strike="noStrike" dirty="0">
                          <a:solidFill>
                            <a:srgbClr val="000000"/>
                          </a:solidFill>
                          <a:effectLst/>
                          <a:latin typeface="+mn-ea"/>
                          <a:ea typeface="+mn-ea"/>
                        </a:rPr>
                        <a:t>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mn-lt"/>
                          <a:ea typeface="+mn-ea"/>
                        </a:rPr>
                        <a:t>ovsBidWtgrInq</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rgbClr val="000000"/>
                          </a:solidFill>
                          <a:effectLst/>
                          <a:latin typeface="맑은 고딕" panose="020B0503020000020004" pitchFamily="50" charset="-127"/>
                          <a:ea typeface="+mn-ea"/>
                        </a:rPr>
                        <a:t>UC-BD-02-01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1725250"/>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MUI-BD-04-P76</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보증서정보조회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mn-lt"/>
                          <a:ea typeface="+mn-ea"/>
                        </a:rPr>
                        <a:t>OvsBidWtgrDtl</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입찰보증서의 계약자</a:t>
                      </a:r>
                      <a:r>
                        <a:rPr lang="en-US" altLang="ko-KR" sz="800" b="0" i="0" u="none" strike="noStrike" dirty="0">
                          <a:solidFill>
                            <a:srgbClr val="000000"/>
                          </a:solidFill>
                          <a:effectLst/>
                          <a:latin typeface="+mn-ea"/>
                          <a:ea typeface="+mn-ea"/>
                        </a:rPr>
                        <a:t>, </a:t>
                      </a:r>
                      <a:r>
                        <a:rPr lang="ko-KR" altLang="en-US" sz="800" b="0" i="0" u="none" strike="noStrike" dirty="0">
                          <a:solidFill>
                            <a:srgbClr val="000000"/>
                          </a:solidFill>
                          <a:effectLst/>
                          <a:latin typeface="+mn-ea"/>
                          <a:ea typeface="+mn-ea"/>
                        </a:rPr>
                        <a:t>채권자</a:t>
                      </a:r>
                      <a:r>
                        <a:rPr lang="en-US" altLang="ko-KR" sz="800" b="0" i="0" u="none" strike="noStrike" dirty="0">
                          <a:solidFill>
                            <a:srgbClr val="000000"/>
                          </a:solidFill>
                          <a:effectLst/>
                          <a:latin typeface="+mn-ea"/>
                          <a:ea typeface="+mn-ea"/>
                        </a:rPr>
                        <a:t>, </a:t>
                      </a:r>
                      <a:r>
                        <a:rPr lang="ko-KR" altLang="en-US" sz="800" b="0" i="0" u="none" strike="noStrike" dirty="0">
                          <a:solidFill>
                            <a:srgbClr val="000000"/>
                          </a:solidFill>
                          <a:effectLst/>
                          <a:latin typeface="+mn-ea"/>
                          <a:ea typeface="+mn-ea"/>
                        </a:rPr>
                        <a:t>발행일자등의 상세정보를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mn-lt"/>
                          <a:ea typeface="+mn-ea"/>
                        </a:rPr>
                        <a:t>ovsBidWtgrDtl</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rgbClr val="000000"/>
                          </a:solidFill>
                          <a:effectLst/>
                          <a:latin typeface="맑은 고딕" panose="020B0503020000020004" pitchFamily="50" charset="-127"/>
                          <a:ea typeface="+mn-ea"/>
                        </a:rPr>
                        <a:t>UC-BD-02-01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9614496"/>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MUI-BD-04-M77</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4 - </a:t>
                      </a:r>
                      <a:r>
                        <a:rPr lang="ko-KR" altLang="en-US" sz="800" kern="1200" dirty="0">
                          <a:solidFill>
                            <a:schemeClr val="tx1"/>
                          </a:solidFill>
                          <a:latin typeface="+mn-ea"/>
                          <a:ea typeface="+mn-ea"/>
                          <a:cs typeface="+mn-cs"/>
                        </a:rPr>
                        <a:t>첨부파일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900" b="0" i="0" u="none" strike="noStrike" dirty="0" err="1">
                          <a:solidFill>
                            <a:schemeClr val="tx1"/>
                          </a:solidFill>
                          <a:effectLst/>
                          <a:latin typeface="+mn-lt"/>
                          <a:ea typeface="+mn-ea"/>
                        </a:rPr>
                        <a:t>OvsBidPrtcpAplyPage_</a:t>
                      </a:r>
                      <a:r>
                        <a:rPr lang="en-US" sz="900" b="0" i="0" u="none" strike="noStrike" dirty="0" err="1">
                          <a:solidFill>
                            <a:schemeClr val="tx1"/>
                          </a:solidFill>
                          <a:effectLst/>
                          <a:latin typeface="Calibri" panose="020F0502020204030204" pitchFamily="34" charset="0"/>
                        </a:rPr>
                        <a:t>AtchDocReg</a:t>
                      </a:r>
                      <a:endParaRPr lang="en-US" sz="900" b="0" i="0" u="none" strike="noStrike" dirty="0">
                        <a:solidFill>
                          <a:schemeClr val="tx1"/>
                        </a:solidFill>
                        <a:effectLst/>
                        <a:latin typeface="Calibri" panose="020F0502020204030204" pitchFamily="34" charset="0"/>
                      </a:endParaRPr>
                    </a:p>
                  </a:txBody>
                  <a:tcPr marL="6350" marR="6350" marT="635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업체담당자가 입찰에 참가하기 위해</a:t>
                      </a:r>
                      <a:r>
                        <a:rPr lang="en-US" altLang="ko-KR" sz="800" b="0" i="0" u="none" strike="noStrike" dirty="0">
                          <a:solidFill>
                            <a:srgbClr val="000000"/>
                          </a:solidFill>
                          <a:effectLst/>
                          <a:latin typeface="+mn-ea"/>
                          <a:ea typeface="+mn-ea"/>
                        </a:rPr>
                        <a:t>, </a:t>
                      </a:r>
                      <a:r>
                        <a:rPr lang="ko-KR" altLang="en-US" sz="800" b="0" i="0" u="none" strike="noStrike" dirty="0" err="1">
                          <a:solidFill>
                            <a:srgbClr val="000000"/>
                          </a:solidFill>
                          <a:effectLst/>
                          <a:latin typeface="+mn-ea"/>
                          <a:ea typeface="+mn-ea"/>
                        </a:rPr>
                        <a:t>참여품목</a:t>
                      </a:r>
                      <a:r>
                        <a:rPr lang="ko-KR" altLang="en-US" sz="800" b="0" i="0" u="none" strike="noStrike" dirty="0">
                          <a:solidFill>
                            <a:srgbClr val="000000"/>
                          </a:solidFill>
                          <a:effectLst/>
                          <a:latin typeface="+mn-ea"/>
                          <a:ea typeface="+mn-ea"/>
                        </a:rPr>
                        <a:t> 및 보증서 </a:t>
                      </a:r>
                      <a:endParaRPr lang="en-US" altLang="ko-KR" sz="800" b="0" i="0" u="none" strike="noStrike" dirty="0">
                        <a:solidFill>
                          <a:srgbClr val="000000"/>
                        </a:solidFill>
                        <a:effectLst/>
                        <a:latin typeface="+mn-ea"/>
                        <a:ea typeface="+mn-ea"/>
                      </a:endParaRPr>
                    </a:p>
                    <a:p>
                      <a:pPr algn="l" fontAlgn="ctr"/>
                      <a:r>
                        <a:rPr lang="ko-KR" altLang="en-US" sz="800" b="0" i="0" u="none" strike="noStrike" dirty="0">
                          <a:solidFill>
                            <a:srgbClr val="000000"/>
                          </a:solidFill>
                          <a:effectLst/>
                          <a:latin typeface="+mn-ea"/>
                          <a:ea typeface="+mn-ea"/>
                        </a:rPr>
                        <a:t>정보를 등록하는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Calibri" panose="020F0502020204030204" pitchFamily="34" charset="0"/>
                          <a:ea typeface="+mn-ea"/>
                        </a:rPr>
                        <a:t>A</a:t>
                      </a:r>
                      <a:r>
                        <a:rPr lang="en-US" altLang="ko-KR" sz="800" b="0" i="0" u="none" strike="noStrike" dirty="0" err="1">
                          <a:solidFill>
                            <a:schemeClr val="tx1"/>
                          </a:solidFill>
                          <a:effectLst/>
                          <a:latin typeface="Calibri" panose="020F0502020204030204" pitchFamily="34" charset="0"/>
                        </a:rPr>
                        <a:t>tchDocReg</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800" b="0" i="0" u="none" strike="noStrike" dirty="0">
                          <a:solidFill>
                            <a:srgbClr val="000000"/>
                          </a:solidFill>
                          <a:effectLst/>
                          <a:latin typeface="맑은 고딕" panose="020B0503020000020004" pitchFamily="50" charset="-127"/>
                          <a:ea typeface="+mn-ea"/>
                        </a:rPr>
                        <a:t>UC-BD-02-01</a:t>
                      </a:r>
                    </a:p>
                    <a:p>
                      <a:pPr algn="ctr" fontAlgn="ctr"/>
                      <a:r>
                        <a:rPr lang="en-US" altLang="ko-KR" sz="800" dirty="0">
                          <a:latin typeface="+mn-ea"/>
                          <a:ea typeface="+mn-ea"/>
                        </a:rPr>
                        <a:t>UC-BD-07-01</a:t>
                      </a:r>
                      <a:endParaRPr lang="en-US" altLang="ko-KR" sz="800" b="0" i="0" u="none" strike="noStrike" dirty="0">
                        <a:solidFill>
                          <a:srgbClr val="000000"/>
                        </a:solidFill>
                        <a:effectLst/>
                        <a:latin typeface="맑은 고딕" panose="020B0503020000020004" pitchFamily="50" charset="-127"/>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8231804"/>
                  </a:ext>
                </a:extLst>
              </a:tr>
              <a:tr h="180000">
                <a:tc>
                  <a:txBody>
                    <a:bodyPr/>
                    <a:lstStyle/>
                    <a:p>
                      <a:pPr algn="ctr" fontAlgn="ctr"/>
                      <a:r>
                        <a:rPr lang="en-US" sz="700" b="0" i="0" u="none" strike="noStrike" kern="1200" dirty="0">
                          <a:solidFill>
                            <a:srgbClr val="000000"/>
                          </a:solidFill>
                          <a:effectLst/>
                          <a:latin typeface="맑은 고딕" panose="020B0503020000020004" pitchFamily="50" charset="-127"/>
                          <a:ea typeface="+mn-ea"/>
                          <a:cs typeface="+mn-cs"/>
                        </a:rPr>
                        <a:t>MUI-BD-06-M08</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신청 완료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mn-lt"/>
                          <a:ea typeface="+mn-ea"/>
                        </a:rPr>
                        <a:t>OvsBidPrtcpAplyPage_</a:t>
                      </a:r>
                      <a:r>
                        <a:rPr lang="en-US" altLang="ko-KR" sz="800" dirty="0" err="1">
                          <a:solidFill>
                            <a:schemeClr val="tx1"/>
                          </a:solidFill>
                          <a:latin typeface="+mn-lt"/>
                          <a:ea typeface="+mn-ea"/>
                        </a:rPr>
                        <a:t>AplyCmptn</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 참가</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입찰서</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작성 완료</a:t>
                      </a:r>
                      <a:endParaRPr lang="en-US" altLang="ko-KR" sz="800" dirty="0">
                        <a:latin typeface="+mn-ea"/>
                        <a:ea typeface="+mn-ea"/>
                      </a:endParaRPr>
                    </a:p>
                    <a:p>
                      <a:pPr algn="l" fontAlgn="ctr"/>
                      <a:r>
                        <a:rPr lang="ko-KR" altLang="en-US" sz="800" dirty="0">
                          <a:latin typeface="+mn-ea"/>
                          <a:ea typeface="+mn-ea"/>
                        </a:rPr>
                        <a:t>국내 화면과 동일함</a:t>
                      </a:r>
                      <a:r>
                        <a:rPr lang="en-US" altLang="ko-KR" sz="800" dirty="0">
                          <a:latin typeface="+mn-ea"/>
                          <a:ea typeface="+mn-ea"/>
                        </a:rPr>
                        <a:t>.</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ovsBidPrtcpAply</a:t>
                      </a:r>
                      <a:r>
                        <a:rPr lang="en-US" altLang="ko-KR" sz="800" b="0" i="0" u="none" strike="noStrike" dirty="0">
                          <a:solidFill>
                            <a:schemeClr val="tx1"/>
                          </a:solidFill>
                          <a:effectLst/>
                          <a:latin typeface="+mn-lt"/>
                          <a:ea typeface="+mn-ea"/>
                        </a:rPr>
                        <a:t>/</a:t>
                      </a:r>
                      <a:r>
                        <a:rPr lang="en-US" altLang="ko-KR" sz="800" dirty="0" err="1">
                          <a:solidFill>
                            <a:schemeClr val="tx1"/>
                          </a:solidFill>
                          <a:latin typeface="+mn-lt"/>
                          <a:ea typeface="+mn-ea"/>
                        </a:rPr>
                        <a:t>AplyCmptn</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UC-BD-04-01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02366008"/>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MUI-BD-04-M78</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 상세</a:t>
                      </a:r>
                      <a:endParaRPr lang="en-US" altLang="ko-KR" sz="800" kern="1200" dirty="0">
                        <a:solidFill>
                          <a:schemeClr val="tx1"/>
                        </a:solidFill>
                        <a:latin typeface="+mn-ea"/>
                        <a:ea typeface="+mn-ea"/>
                        <a:cs typeface="+mn-cs"/>
                      </a:endParaRPr>
                    </a:p>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탭 </a:t>
                      </a:r>
                      <a:r>
                        <a:rPr lang="en-US" altLang="ko-KR" sz="800" kern="1200" dirty="0">
                          <a:solidFill>
                            <a:schemeClr val="tx1"/>
                          </a:solidFill>
                          <a:latin typeface="+mn-ea"/>
                          <a:ea typeface="+mn-ea"/>
                          <a:cs typeface="+mn-cs"/>
                        </a:rPr>
                        <a:t>1 - </a:t>
                      </a:r>
                      <a:r>
                        <a:rPr lang="ko-KR" altLang="en-US" sz="800" kern="1200" dirty="0">
                          <a:solidFill>
                            <a:schemeClr val="tx1"/>
                          </a:solidFill>
                          <a:latin typeface="+mn-ea"/>
                          <a:ea typeface="+mn-ea"/>
                          <a:cs typeface="+mn-cs"/>
                        </a:rPr>
                        <a:t>일반정보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mn-lt"/>
                          <a:ea typeface="+mn-ea"/>
                        </a:rPr>
                        <a:t>OvsBidPrtcpApfrDtlPage</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제출한 입찰참가신청서를 조회하는 화면 </a:t>
                      </a:r>
                      <a:endPar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ovsBidPrtcpApfrDtl</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mn-lt"/>
                          <a:ea typeface="+mn-ea"/>
                        </a:rPr>
                        <a:t>OvsBidPrtcpApfrDtlPage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7884088"/>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MUI-BD-04-M79</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탭 </a:t>
                      </a:r>
                      <a:r>
                        <a:rPr lang="en-US" altLang="ko-KR" sz="800" kern="1200" dirty="0">
                          <a:solidFill>
                            <a:schemeClr val="tx1"/>
                          </a:solidFill>
                          <a:latin typeface="+mn-ea"/>
                          <a:ea typeface="+mn-ea"/>
                          <a:cs typeface="+mn-cs"/>
                        </a:rPr>
                        <a:t>2 – </a:t>
                      </a:r>
                      <a:r>
                        <a:rPr lang="ko-KR" altLang="en-US" sz="800" kern="1200" dirty="0">
                          <a:solidFill>
                            <a:schemeClr val="tx1"/>
                          </a:solidFill>
                          <a:latin typeface="+mn-ea"/>
                          <a:ea typeface="+mn-ea"/>
                          <a:cs typeface="+mn-cs"/>
                        </a:rPr>
                        <a:t>업체정보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mn-lt"/>
                          <a:ea typeface="+mn-ea"/>
                        </a:rPr>
                        <a:t>OvsBidPrtcpApfrDtlPage_</a:t>
                      </a:r>
                      <a:r>
                        <a:rPr lang="en-US" altLang="ko-KR" sz="800" dirty="0">
                          <a:solidFill>
                            <a:schemeClr val="tx1"/>
                          </a:solidFill>
                          <a:latin typeface="+mn-lt"/>
                          <a:ea typeface="+mn-ea"/>
                        </a:rPr>
                        <a:t>Tab2</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제출한 입찰참가신청서를 조회하는 화면 </a:t>
                      </a:r>
                      <a:endPar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ovsBidPrtcpApfrDtl</a:t>
                      </a:r>
                      <a:r>
                        <a:rPr lang="en-US" altLang="ko-KR" sz="800" b="0" i="0" u="none" strike="noStrike" dirty="0">
                          <a:solidFill>
                            <a:schemeClr val="tx1"/>
                          </a:solidFill>
                          <a:effectLst/>
                          <a:latin typeface="+mn-lt"/>
                          <a:ea typeface="+mn-ea"/>
                        </a:rPr>
                        <a:t>/</a:t>
                      </a:r>
                      <a:r>
                        <a:rPr lang="en-US" altLang="ko-KR" sz="800" dirty="0">
                          <a:solidFill>
                            <a:schemeClr val="tx1"/>
                          </a:solidFill>
                          <a:latin typeface="+mn-lt"/>
                          <a:ea typeface="+mn-ea"/>
                        </a:rPr>
                        <a:t>Tab2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47923704"/>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MUI-BD-04-M80</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탭 </a:t>
                      </a:r>
                      <a:r>
                        <a:rPr lang="en-US" altLang="ko-KR" sz="800" kern="1200" dirty="0">
                          <a:solidFill>
                            <a:schemeClr val="tx1"/>
                          </a:solidFill>
                          <a:latin typeface="+mn-ea"/>
                          <a:ea typeface="+mn-ea"/>
                          <a:cs typeface="+mn-cs"/>
                        </a:rPr>
                        <a:t>3 - </a:t>
                      </a:r>
                      <a:r>
                        <a:rPr lang="ko-KR" altLang="en-US" sz="800" kern="1200" dirty="0">
                          <a:solidFill>
                            <a:schemeClr val="tx1"/>
                          </a:solidFill>
                          <a:latin typeface="+mn-ea"/>
                          <a:ea typeface="+mn-ea"/>
                          <a:cs typeface="+mn-cs"/>
                        </a:rPr>
                        <a:t>입찰 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mn-lt"/>
                          <a:ea typeface="+mn-ea"/>
                        </a:rPr>
                        <a:t>OvsBidPrtcpApfrDtlPage_</a:t>
                      </a:r>
                      <a:r>
                        <a:rPr lang="en-US" altLang="ko-KR" sz="800" dirty="0">
                          <a:solidFill>
                            <a:schemeClr val="tx1"/>
                          </a:solidFill>
                          <a:latin typeface="+mn-lt"/>
                          <a:ea typeface="+mn-ea"/>
                        </a:rPr>
                        <a:t>Tab3</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제출한 입찰참가신청서를 조회하는 화면 </a:t>
                      </a:r>
                      <a:endPar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ovsBidPrtcpApfrDtl</a:t>
                      </a:r>
                      <a:r>
                        <a:rPr lang="en-US" altLang="ko-KR" sz="800" b="0" i="0" u="none" strike="noStrike" dirty="0">
                          <a:solidFill>
                            <a:schemeClr val="tx1"/>
                          </a:solidFill>
                          <a:effectLst/>
                          <a:latin typeface="+mn-lt"/>
                          <a:ea typeface="+mn-ea"/>
                        </a:rPr>
                        <a:t>/</a:t>
                      </a:r>
                      <a:r>
                        <a:rPr lang="en-US" altLang="ko-KR" sz="800" dirty="0">
                          <a:solidFill>
                            <a:schemeClr val="tx1"/>
                          </a:solidFill>
                          <a:latin typeface="+mn-lt"/>
                          <a:ea typeface="+mn-ea"/>
                        </a:rPr>
                        <a:t>Tab3</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9101406"/>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679224688"/>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324</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8. </a:t>
            </a:r>
            <a:r>
              <a:rPr lang="ko-KR" altLang="en-US" dirty="0"/>
              <a:t>국외 </a:t>
            </a:r>
            <a:r>
              <a:rPr lang="ko-KR" altLang="en-US" dirty="0" err="1"/>
              <a:t>입찰진행</a:t>
            </a:r>
            <a:endParaRPr lang="en-US" altLang="ko-KR" dirty="0"/>
          </a:p>
          <a:p>
            <a:r>
              <a:rPr lang="en-US" altLang="ko-KR" dirty="0"/>
              <a:t>8.1 </a:t>
            </a:r>
            <a:r>
              <a:rPr lang="ko-KR" altLang="en-US" dirty="0"/>
              <a:t>화면 목록 </a:t>
            </a:r>
            <a:r>
              <a:rPr lang="en-US" altLang="ko-KR" dirty="0"/>
              <a:t>(2/3)</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3653176291"/>
              </p:ext>
            </p:extLst>
          </p:nvPr>
        </p:nvGraphicFramePr>
        <p:xfrm>
          <a:off x="635474" y="1413419"/>
          <a:ext cx="8701200" cy="345406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MUI-BD-04-M81</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탭 </a:t>
                      </a:r>
                      <a:r>
                        <a:rPr lang="en-US" altLang="ko-KR" sz="800" kern="1200" dirty="0">
                          <a:solidFill>
                            <a:schemeClr val="tx1"/>
                          </a:solidFill>
                          <a:latin typeface="+mn-ea"/>
                          <a:ea typeface="+mn-ea"/>
                          <a:cs typeface="+mn-cs"/>
                        </a:rPr>
                        <a:t>4 - </a:t>
                      </a:r>
                      <a:r>
                        <a:rPr lang="ko-KR" altLang="en-US" sz="800" kern="1200" dirty="0">
                          <a:solidFill>
                            <a:schemeClr val="tx1"/>
                          </a:solidFill>
                          <a:latin typeface="+mn-ea"/>
                          <a:ea typeface="+mn-ea"/>
                          <a:cs typeface="+mn-cs"/>
                        </a:rPr>
                        <a:t>첨부파일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mn-lt"/>
                          <a:ea typeface="+mn-ea"/>
                        </a:rPr>
                        <a:t>OvsBidPrtcpApfrDtlPage_</a:t>
                      </a:r>
                      <a:r>
                        <a:rPr lang="en-US" altLang="ko-KR" sz="800" dirty="0">
                          <a:solidFill>
                            <a:schemeClr val="tx1"/>
                          </a:solidFill>
                          <a:latin typeface="+mn-lt"/>
                          <a:ea typeface="+mn-ea"/>
                        </a:rPr>
                        <a:t>Tab4</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제출한 입찰참가신청서를 조회하는 화면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ovsBidPrtcpApfrDtl</a:t>
                      </a:r>
                      <a:r>
                        <a:rPr lang="en-US" altLang="ko-KR" sz="800" b="0" i="0" u="none" strike="noStrike" dirty="0">
                          <a:solidFill>
                            <a:schemeClr val="tx1"/>
                          </a:solidFill>
                          <a:effectLst/>
                          <a:latin typeface="+mn-lt"/>
                          <a:ea typeface="+mn-ea"/>
                        </a:rPr>
                        <a:t>/</a:t>
                      </a:r>
                      <a:r>
                        <a:rPr lang="en-US" altLang="ko-KR" sz="800" dirty="0">
                          <a:solidFill>
                            <a:schemeClr val="tx1"/>
                          </a:solidFill>
                          <a:latin typeface="+mn-lt"/>
                          <a:ea typeface="+mn-ea"/>
                        </a:rPr>
                        <a:t>Tab4</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3202093"/>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MUI-BD-04-P82</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입찰참가신청서취소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mn-lt"/>
                          <a:ea typeface="+mn-ea"/>
                        </a:rPr>
                        <a:t>OvsBidPrtcpRtrcnAply</a:t>
                      </a:r>
                      <a:endParaRPr lang="ko-KR" altLang="en-US" sz="800" dirty="0">
                        <a:solidFill>
                          <a:schemeClr val="tx1"/>
                        </a:solidFill>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입찰참가신청 취소를 하는 화면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ovsBidPrtcpApfrDtl</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mn-lt"/>
                          <a:ea typeface="+mn-ea"/>
                        </a:rPr>
                        <a:t>OvsBidPrtcpRtrcnAply</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b="0" i="0" u="none" strike="noStrike" dirty="0">
                          <a:solidFill>
                            <a:srgbClr val="000000"/>
                          </a:solidFill>
                          <a:effectLst/>
                          <a:latin typeface="맑은 고딕" panose="020B0503020000020004" pitchFamily="50" charset="-127"/>
                          <a:ea typeface="+mn-ea"/>
                        </a:rPr>
                        <a:t>UC-BD-02-01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8948502"/>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MUI-BD-04-P83</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kumimoji="0" lang="ko-KR" altLang="en-US" sz="800" b="0" i="0" u="none" strike="noStrike" kern="1200" cap="none" spc="0" normalizeH="0" baseline="0" dirty="0" err="1">
                          <a:ln>
                            <a:noFill/>
                          </a:ln>
                          <a:solidFill>
                            <a:prstClr val="black"/>
                          </a:solidFill>
                          <a:effectLst/>
                          <a:uLnTx/>
                          <a:uFillTx/>
                          <a:latin typeface="맑은 고딕" panose="020B0503020000020004" pitchFamily="50" charset="-127"/>
                          <a:ea typeface="+mn-ea"/>
                          <a:cs typeface="+mn-cs"/>
                        </a:rPr>
                        <a:t>사업별입찰등록결과조회</a:t>
                      </a:r>
                      <a:endParaRPr kumimoji="0" lang="ko-KR" altLang="en-US" sz="800" b="0" i="0" u="none" strike="noStrike" kern="1200" cap="none" spc="0" normalizeH="0" baseline="0" dirty="0">
                        <a:ln>
                          <a:noFill/>
                        </a:ln>
                        <a:solidFill>
                          <a:prstClr val="black"/>
                        </a:solidFill>
                        <a:effectLst/>
                        <a:uLnTx/>
                        <a:uFillTx/>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err="1">
                          <a:solidFill>
                            <a:schemeClr val="tx1"/>
                          </a:solidFill>
                          <a:effectLst/>
                          <a:latin typeface="+mn-lt"/>
                          <a:ea typeface="+mn-ea"/>
                        </a:rPr>
                        <a:t>OvsBidRegRsltByBiz</a:t>
                      </a:r>
                      <a:endParaRPr lang="en-US" altLang="ko-KR" sz="800" b="0" i="0" u="none" strike="noStrike" dirty="0">
                        <a:solidFill>
                          <a:schemeClr val="tx1"/>
                        </a:solidFill>
                        <a:effectLst/>
                        <a:latin typeface="+mn-lt"/>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입찰등록심사의 결과를 사업별로 조회하는 화면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lt"/>
                          <a:ea typeface="+mn-ea"/>
                        </a:rPr>
                        <a:t>ovsBidPrtcpApfrDtl</a:t>
                      </a:r>
                      <a:r>
                        <a:rPr lang="en-US" altLang="ko-KR" sz="800" b="0" i="0" u="none" strike="noStrike" dirty="0">
                          <a:solidFill>
                            <a:schemeClr val="tx1"/>
                          </a:solidFill>
                          <a:effectLst/>
                          <a:latin typeface="+mn-lt"/>
                          <a:ea typeface="+mn-ea"/>
                        </a:rPr>
                        <a:t>/</a:t>
                      </a:r>
                      <a:r>
                        <a:rPr lang="en-US" altLang="ko-KR" sz="800" b="0" i="0" u="none" strike="noStrike" dirty="0" err="1">
                          <a:solidFill>
                            <a:schemeClr val="tx1"/>
                          </a:solidFill>
                          <a:effectLst/>
                          <a:latin typeface="+mn-lt"/>
                          <a:ea typeface="+mn-ea"/>
                        </a:rPr>
                        <a:t>OvsBidRegRsltByBiz</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rgbClr val="000000"/>
                          </a:solidFill>
                          <a:effectLst/>
                          <a:latin typeface="맑은 고딕" panose="020B0503020000020004" pitchFamily="50" charset="-127"/>
                          <a:ea typeface="+mn-ea"/>
                        </a:rPr>
                        <a:t>UC-BD-02-01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7737581"/>
                  </a:ext>
                </a:extLst>
              </a:tr>
              <a:tr h="180000">
                <a:tc>
                  <a:txBody>
                    <a:bodyPr/>
                    <a:lstStyle/>
                    <a:p>
                      <a:pPr algn="ctr" fontAlgn="ctr"/>
                      <a:r>
                        <a:rPr lang="en-US" sz="700" b="0" i="0" u="none" strike="noStrike" kern="1200" dirty="0">
                          <a:solidFill>
                            <a:srgbClr val="000000"/>
                          </a:solidFill>
                          <a:effectLst/>
                          <a:latin typeface="맑은 고딕" panose="020B0503020000020004" pitchFamily="50" charset="-127"/>
                          <a:ea typeface="+mn-ea"/>
                          <a:cs typeface="+mn-cs"/>
                        </a:rPr>
                        <a:t>MUI-BD-06-M71</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입찰서제출</a:t>
                      </a:r>
                      <a:endParaRPr lang="en-US" altLang="ko-KR" sz="800" kern="1200" dirty="0">
                        <a:solidFill>
                          <a:schemeClr val="tx1"/>
                        </a:solidFill>
                        <a:latin typeface="+mn-ea"/>
                        <a:ea typeface="+mn-ea"/>
                        <a:cs typeface="+mn-cs"/>
                      </a:endParaRPr>
                    </a:p>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1 - </a:t>
                      </a:r>
                      <a:r>
                        <a:rPr lang="ko-KR" altLang="en-US" sz="800" kern="1200" dirty="0">
                          <a:solidFill>
                            <a:schemeClr val="tx1"/>
                          </a:solidFill>
                          <a:latin typeface="+mn-ea"/>
                          <a:ea typeface="+mn-ea"/>
                          <a:cs typeface="+mn-cs"/>
                        </a:rPr>
                        <a:t>일반정보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맑은 고딕" panose="020B0503020000020004" pitchFamily="50" charset="-127"/>
                          <a:ea typeface="+mn-ea"/>
                        </a:rPr>
                        <a:t>OvsTndrSbmsnPage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일반경쟁 공고에 </a:t>
                      </a: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참가신청한</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품목을 조회하고 각 품목별로 금액 제출 및 필요한 문서를 제출하는 화면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ovsTndrSbmsn</a:t>
                      </a:r>
                      <a:r>
                        <a:rPr lang="en-US" altLang="ko-KR" sz="800" b="0" i="0" u="none" strike="noStrike" dirty="0">
                          <a:solidFill>
                            <a:schemeClr val="tx1"/>
                          </a:solidFill>
                          <a:effectLst/>
                          <a:latin typeface="맑은 고딕" panose="020B0503020000020004" pitchFamily="50" charset="-127"/>
                          <a:ea typeface="+mn-ea"/>
                        </a:rPr>
                        <a:t>/</a:t>
                      </a:r>
                      <a:r>
                        <a:rPr lang="en-US" altLang="ko-KR" sz="800" b="0" i="0" u="none" strike="noStrike" dirty="0" err="1">
                          <a:solidFill>
                            <a:schemeClr val="tx1"/>
                          </a:solidFill>
                          <a:effectLst/>
                          <a:latin typeface="맑은 고딕" panose="020B0503020000020004" pitchFamily="50" charset="-127"/>
                          <a:ea typeface="+mn-ea"/>
                        </a:rPr>
                        <a:t>OvsTndrSbmsnPage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p>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UC-BD-07-01</a:t>
                      </a:r>
                    </a:p>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UC-ZZ-19-03</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2072448"/>
                  </a:ext>
                </a:extLst>
              </a:tr>
              <a:tr h="180000">
                <a:tc>
                  <a:txBody>
                    <a:bodyPr/>
                    <a:lstStyle/>
                    <a:p>
                      <a:pPr algn="ctr" fontAlgn="ctr"/>
                      <a:r>
                        <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MUI-BD-06-M72</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2 - </a:t>
                      </a:r>
                      <a:r>
                        <a:rPr lang="ko-KR" altLang="en-US" sz="800" kern="1200" dirty="0">
                          <a:solidFill>
                            <a:schemeClr val="tx1"/>
                          </a:solidFill>
                          <a:latin typeface="+mn-ea"/>
                          <a:ea typeface="+mn-ea"/>
                          <a:cs typeface="+mn-cs"/>
                        </a:rPr>
                        <a:t>입찰참여품목 </a:t>
                      </a:r>
                      <a:r>
                        <a:rPr lang="en-US" altLang="ko-KR" sz="800" kern="1200" dirty="0">
                          <a:solidFill>
                            <a:schemeClr val="tx1"/>
                          </a:solidFill>
                          <a:latin typeface="+mn-ea"/>
                          <a:ea typeface="+mn-ea"/>
                          <a:cs typeface="+mn-cs"/>
                        </a:rPr>
                        <a:t>(</a:t>
                      </a:r>
                      <a:r>
                        <a:rPr lang="ko-KR" altLang="en-US" sz="800" kern="1200" dirty="0" err="1">
                          <a:solidFill>
                            <a:schemeClr val="tx1"/>
                          </a:solidFill>
                          <a:latin typeface="+mn-ea"/>
                          <a:ea typeface="+mn-ea"/>
                          <a:cs typeface="+mn-cs"/>
                        </a:rPr>
                        <a:t>단가제</a:t>
                      </a:r>
                      <a:r>
                        <a:rPr lang="en-US" altLang="ko-KR" sz="800" kern="1200" dirty="0">
                          <a:solidFill>
                            <a:schemeClr val="tx1"/>
                          </a:solidFill>
                          <a:latin typeface="+mn-ea"/>
                          <a:ea typeface="+mn-ea"/>
                          <a:cs typeface="+mn-cs"/>
                        </a:rPr>
                        <a:t>)</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OvsTndrSbmsnPage_</a:t>
                      </a:r>
                      <a:r>
                        <a:rPr lang="en-US" altLang="ko-KR" sz="800" dirty="0">
                          <a:solidFill>
                            <a:schemeClr val="tx1"/>
                          </a:solidFill>
                          <a:latin typeface="+mn-ea"/>
                          <a:ea typeface="+mn-ea"/>
                        </a:rPr>
                        <a:t>Stp2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일반경쟁 공고에 </a:t>
                      </a: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참가신청한</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품목을 조회하고 각 품목별로 금액 제출 및 필요한 문서를 제출하는 화면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ovsTndrSbmsn</a:t>
                      </a:r>
                      <a:r>
                        <a:rPr lang="en-US" altLang="ko-KR" sz="800" b="0" i="0" u="none" strike="noStrike" dirty="0">
                          <a:solidFill>
                            <a:schemeClr val="tx1"/>
                          </a:solidFill>
                          <a:effectLst/>
                          <a:latin typeface="맑은 고딕" panose="020B0503020000020004" pitchFamily="50" charset="-127"/>
                          <a:ea typeface="+mn-ea"/>
                        </a:rPr>
                        <a:t>/</a:t>
                      </a:r>
                      <a:r>
                        <a:rPr lang="en-US" altLang="ko-KR" sz="800" dirty="0">
                          <a:solidFill>
                            <a:schemeClr val="tx1"/>
                          </a:solidFill>
                          <a:latin typeface="+mn-ea"/>
                          <a:ea typeface="+mn-ea"/>
                        </a:rPr>
                        <a:t>Stp2.tsx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p>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UC-BD-07-01</a:t>
                      </a:r>
                    </a:p>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UC-ZZ-19-03</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884160"/>
                  </a:ext>
                </a:extLst>
              </a:tr>
              <a:tr h="180000">
                <a:tc>
                  <a:txBody>
                    <a:bodyPr/>
                    <a:lstStyle/>
                    <a:p>
                      <a:pPr algn="ctr" fontAlgn="ctr"/>
                      <a:r>
                        <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MUI-BD-06-M73</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2 - </a:t>
                      </a:r>
                      <a:r>
                        <a:rPr lang="ko-KR" altLang="en-US" sz="800" kern="1200" dirty="0">
                          <a:solidFill>
                            <a:schemeClr val="tx1"/>
                          </a:solidFill>
                          <a:latin typeface="+mn-ea"/>
                          <a:ea typeface="+mn-ea"/>
                          <a:cs typeface="+mn-cs"/>
                        </a:rPr>
                        <a:t>입찰참여품목 </a:t>
                      </a:r>
                      <a:r>
                        <a:rPr lang="en-US" altLang="ko-KR" sz="800" kern="1200" dirty="0">
                          <a:solidFill>
                            <a:schemeClr val="tx1"/>
                          </a:solidFill>
                          <a:latin typeface="+mn-ea"/>
                          <a:ea typeface="+mn-ea"/>
                          <a:cs typeface="+mn-cs"/>
                        </a:rPr>
                        <a:t>(</a:t>
                      </a:r>
                      <a:r>
                        <a:rPr lang="ko-KR" altLang="en-US" sz="800" kern="1200" dirty="0" err="1">
                          <a:solidFill>
                            <a:schemeClr val="tx1"/>
                          </a:solidFill>
                          <a:latin typeface="+mn-ea"/>
                          <a:ea typeface="+mn-ea"/>
                          <a:cs typeface="+mn-cs"/>
                        </a:rPr>
                        <a:t>총액제</a:t>
                      </a:r>
                      <a:r>
                        <a:rPr lang="en-US" altLang="ko-KR" sz="800" kern="1200" dirty="0">
                          <a:solidFill>
                            <a:schemeClr val="tx1"/>
                          </a:solidFill>
                          <a:latin typeface="+mn-ea"/>
                          <a:ea typeface="+mn-ea"/>
                          <a:cs typeface="+mn-cs"/>
                        </a:rPr>
                        <a:t>)</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OvsTndrSbmsnPage_</a:t>
                      </a:r>
                      <a:r>
                        <a:rPr lang="en-US" altLang="ko-KR" sz="800" dirty="0">
                          <a:solidFill>
                            <a:schemeClr val="tx1"/>
                          </a:solidFill>
                          <a:latin typeface="+mn-ea"/>
                          <a:ea typeface="+mn-ea"/>
                        </a:rPr>
                        <a:t>Stp2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일반경쟁 공고에 </a:t>
                      </a: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참가신청한</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품목을 조회하고 각 품목별로 금액 제출 및 필요한 문서를 제출하는 화면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ovsTndrSbmsn</a:t>
                      </a:r>
                      <a:r>
                        <a:rPr lang="en-US" altLang="ko-KR" sz="800" b="0" i="0" u="none" strike="noStrike" dirty="0">
                          <a:solidFill>
                            <a:schemeClr val="tx1"/>
                          </a:solidFill>
                          <a:effectLst/>
                          <a:latin typeface="맑은 고딕" panose="020B0503020000020004" pitchFamily="50" charset="-127"/>
                          <a:ea typeface="+mn-ea"/>
                        </a:rPr>
                        <a:t>/</a:t>
                      </a:r>
                      <a:r>
                        <a:rPr lang="en-US" altLang="ko-KR" sz="800" dirty="0">
                          <a:solidFill>
                            <a:schemeClr val="tx1"/>
                          </a:solidFill>
                          <a:latin typeface="+mn-ea"/>
                          <a:ea typeface="+mn-ea"/>
                        </a:rPr>
                        <a:t>Stp2.tsx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p>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UC-BD-07-01</a:t>
                      </a:r>
                    </a:p>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UC-ZZ-19-03</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8584678"/>
                  </a:ext>
                </a:extLst>
              </a:tr>
              <a:tr h="180000">
                <a:tc>
                  <a:txBody>
                    <a:bodyPr/>
                    <a:lstStyle/>
                    <a:p>
                      <a:pPr algn="ctr" fontAlgn="ctr"/>
                      <a:r>
                        <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MUI-BD-06-M74</a:t>
                      </a:r>
                      <a:endParaRPr lang="en-US" sz="700" b="0" i="0" u="none" strike="noStrike" kern="1200" dirty="0">
                        <a:solidFill>
                          <a:srgbClr val="000000"/>
                        </a:solidFill>
                        <a:effectLst/>
                        <a:latin typeface="맑은 고딕" panose="020B0503020000020004" pitchFamily="50" charset="-127"/>
                        <a:ea typeface="+mn-ea"/>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err="1">
                          <a:solidFill>
                            <a:schemeClr val="tx1"/>
                          </a:solidFill>
                          <a:latin typeface="+mn-ea"/>
                          <a:ea typeface="+mn-ea"/>
                          <a:cs typeface="+mn-cs"/>
                        </a:rPr>
                        <a:t>스탭</a:t>
                      </a:r>
                      <a:r>
                        <a:rPr lang="ko-KR" altLang="en-US" sz="800" kern="1200" dirty="0">
                          <a:solidFill>
                            <a:schemeClr val="tx1"/>
                          </a:solidFill>
                          <a:latin typeface="+mn-ea"/>
                          <a:ea typeface="+mn-ea"/>
                          <a:cs typeface="+mn-cs"/>
                        </a:rPr>
                        <a:t> </a:t>
                      </a:r>
                      <a:r>
                        <a:rPr lang="en-US" altLang="ko-KR" sz="800" kern="1200" dirty="0">
                          <a:solidFill>
                            <a:schemeClr val="tx1"/>
                          </a:solidFill>
                          <a:latin typeface="+mn-ea"/>
                          <a:ea typeface="+mn-ea"/>
                          <a:cs typeface="+mn-cs"/>
                        </a:rPr>
                        <a:t>3 - </a:t>
                      </a:r>
                      <a:r>
                        <a:rPr lang="ko-KR" altLang="en-US" sz="800" kern="1200" dirty="0">
                          <a:solidFill>
                            <a:schemeClr val="tx1"/>
                          </a:solidFill>
                          <a:latin typeface="+mn-ea"/>
                          <a:ea typeface="+mn-ea"/>
                          <a:cs typeface="+mn-cs"/>
                        </a:rPr>
                        <a:t>첨부파일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OvsTndrSbmsnPage_</a:t>
                      </a:r>
                      <a:r>
                        <a:rPr lang="en-US" altLang="ko-KR" sz="800" dirty="0">
                          <a:solidFill>
                            <a:schemeClr val="tx1"/>
                          </a:solidFill>
                          <a:latin typeface="+mn-ea"/>
                          <a:ea typeface="+mn-ea"/>
                        </a:rPr>
                        <a:t>Stp3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업체담당자가 일반경쟁 공고에 </a:t>
                      </a: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참가신청한</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품목을 조회하고 각 품목별로 금액 제출 및 필요한 문서를 제출하는 화면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ovsTndrSbmsn</a:t>
                      </a:r>
                      <a:r>
                        <a:rPr lang="en-US" altLang="ko-KR" sz="800" b="0" i="0" u="none" strike="noStrike" dirty="0">
                          <a:solidFill>
                            <a:schemeClr val="tx1"/>
                          </a:solidFill>
                          <a:effectLst/>
                          <a:latin typeface="맑은 고딕" panose="020B0503020000020004" pitchFamily="50" charset="-127"/>
                          <a:ea typeface="+mn-ea"/>
                        </a:rPr>
                        <a:t>/</a:t>
                      </a:r>
                      <a:r>
                        <a:rPr lang="en-US" altLang="ko-KR" sz="800" dirty="0">
                          <a:solidFill>
                            <a:schemeClr val="tx1"/>
                          </a:solidFill>
                          <a:latin typeface="+mn-ea"/>
                          <a:ea typeface="+mn-ea"/>
                        </a:rPr>
                        <a:t>_Stp3.tsx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p>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UC-BD-07-01</a:t>
                      </a:r>
                    </a:p>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UC-ZZ-19-03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52122866"/>
                  </a:ext>
                </a:extLst>
              </a:tr>
              <a:tr h="180000">
                <a:tc>
                  <a:txBody>
                    <a:bodyPr/>
                    <a:lstStyle/>
                    <a:p>
                      <a:pPr algn="ctr" fontAlgn="ctr"/>
                      <a:r>
                        <a:rPr lang="en-US" sz="700" b="0" i="0" u="none" strike="noStrike" kern="1200" dirty="0">
                          <a:solidFill>
                            <a:srgbClr val="000000"/>
                          </a:solidFill>
                          <a:effectLst/>
                          <a:latin typeface="맑은 고딕" panose="020B0503020000020004" pitchFamily="50" charset="-127"/>
                          <a:ea typeface="+mn-ea"/>
                          <a:cs typeface="+mn-cs"/>
                        </a:rPr>
                        <a:t>MUI-BD-06-M08</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ctr" latinLnBrk="1" hangingPunct="1">
                        <a:lnSpc>
                          <a:spcPct val="100000"/>
                        </a:lnSpc>
                        <a:spcBef>
                          <a:spcPts val="0"/>
                        </a:spcBef>
                        <a:spcAft>
                          <a:spcPts val="0"/>
                        </a:spcAft>
                        <a:buClrTx/>
                        <a:buSzTx/>
                        <a:buFontTx/>
                        <a:buNone/>
                        <a:tabLst/>
                        <a:defRPr/>
                      </a:pPr>
                      <a:r>
                        <a:rPr lang="ko-KR" altLang="en-US" sz="800" kern="1200" dirty="0">
                          <a:solidFill>
                            <a:schemeClr val="tx1"/>
                          </a:solidFill>
                          <a:latin typeface="+mn-ea"/>
                          <a:ea typeface="+mn-ea"/>
                          <a:cs typeface="+mn-cs"/>
                        </a:rPr>
                        <a:t>신청 완료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맑은 고딕" panose="020B0503020000020004" pitchFamily="50" charset="-127"/>
                          <a:ea typeface="+mn-ea"/>
                        </a:rPr>
                        <a:t>OvsTndrSbmsnPage_</a:t>
                      </a:r>
                      <a:r>
                        <a:rPr lang="en-US" altLang="ko-KR" sz="800" dirty="0" err="1">
                          <a:solidFill>
                            <a:schemeClr val="tx1"/>
                          </a:solidFill>
                          <a:latin typeface="+mn-lt"/>
                          <a:ea typeface="+mn-ea"/>
                        </a:rPr>
                        <a:t>AplyCmptn</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kern="1200" dirty="0">
                          <a:solidFill>
                            <a:schemeClr val="tx1"/>
                          </a:solidFill>
                          <a:latin typeface="+mn-ea"/>
                          <a:ea typeface="+mn-ea"/>
                          <a:cs typeface="+mn-cs"/>
                        </a:rPr>
                        <a:t>입찰 참가</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입찰서</a:t>
                      </a:r>
                      <a:r>
                        <a:rPr lang="en-US" altLang="ko-KR" sz="800" kern="1200" dirty="0">
                          <a:solidFill>
                            <a:schemeClr val="tx1"/>
                          </a:solidFill>
                          <a:latin typeface="+mn-ea"/>
                          <a:ea typeface="+mn-ea"/>
                          <a:cs typeface="+mn-cs"/>
                        </a:rPr>
                        <a:t> </a:t>
                      </a:r>
                      <a:r>
                        <a:rPr lang="ko-KR" altLang="en-US" sz="800" kern="1200" dirty="0">
                          <a:solidFill>
                            <a:schemeClr val="tx1"/>
                          </a:solidFill>
                          <a:latin typeface="+mn-ea"/>
                          <a:ea typeface="+mn-ea"/>
                          <a:cs typeface="+mn-cs"/>
                        </a:rPr>
                        <a:t>작성 완료</a:t>
                      </a:r>
                      <a:endParaRPr lang="en-US" altLang="ko-KR" sz="800" dirty="0">
                        <a:latin typeface="+mn-ea"/>
                        <a:ea typeface="+mn-ea"/>
                      </a:endParaRPr>
                    </a:p>
                    <a:p>
                      <a:pPr algn="l" fontAlgn="ctr"/>
                      <a:r>
                        <a:rPr lang="ko-KR" altLang="en-US" sz="800" dirty="0">
                          <a:latin typeface="+mn-ea"/>
                          <a:ea typeface="+mn-ea"/>
                        </a:rPr>
                        <a:t>국내 화면과 동일함</a:t>
                      </a:r>
                      <a:r>
                        <a:rPr lang="en-US" altLang="ko-KR" sz="800" dirty="0">
                          <a:latin typeface="+mn-ea"/>
                          <a:ea typeface="+mn-ea"/>
                        </a:rPr>
                        <a:t>.</a:t>
                      </a:r>
                      <a:endParaRPr lang="ko-KR" altLang="en-US" sz="800" kern="1200" dirty="0">
                        <a:solidFill>
                          <a:schemeClr val="tx1"/>
                        </a:solidFill>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ovsTndrSbmsn</a:t>
                      </a:r>
                      <a:r>
                        <a:rPr lang="en-US" altLang="ko-KR" sz="800" b="0" i="0" u="none" strike="noStrike" dirty="0">
                          <a:solidFill>
                            <a:schemeClr val="tx1"/>
                          </a:solidFill>
                          <a:effectLst/>
                          <a:latin typeface="맑은 고딕" panose="020B0503020000020004" pitchFamily="50" charset="-127"/>
                          <a:ea typeface="+mn-ea"/>
                        </a:rPr>
                        <a:t>/</a:t>
                      </a:r>
                      <a:r>
                        <a:rPr lang="en-US" altLang="ko-KR" sz="800" dirty="0" err="1">
                          <a:solidFill>
                            <a:schemeClr val="tx1"/>
                          </a:solidFill>
                          <a:latin typeface="+mn-lt"/>
                          <a:ea typeface="+mn-ea"/>
                        </a:rPr>
                        <a:t>AplyCmptn</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UC-BD-04-01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8104791"/>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849495145"/>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325</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8. </a:t>
            </a:r>
            <a:r>
              <a:rPr lang="ko-KR" altLang="en-US" dirty="0"/>
              <a:t>국외 </a:t>
            </a:r>
            <a:r>
              <a:rPr lang="ko-KR" altLang="en-US" dirty="0" err="1"/>
              <a:t>입찰진행</a:t>
            </a:r>
            <a:endParaRPr lang="en-US" altLang="ko-KR" dirty="0"/>
          </a:p>
          <a:p>
            <a:r>
              <a:rPr lang="en-US" altLang="ko-KR" dirty="0"/>
              <a:t>8.1 </a:t>
            </a:r>
            <a:r>
              <a:rPr lang="ko-KR" altLang="en-US" dirty="0"/>
              <a:t>화면 목록 </a:t>
            </a:r>
            <a:r>
              <a:rPr lang="en-US" altLang="ko-KR" dirty="0"/>
              <a:t>(3/3)</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831533312"/>
              </p:ext>
            </p:extLst>
          </p:nvPr>
        </p:nvGraphicFramePr>
        <p:xfrm>
          <a:off x="635474" y="1413419"/>
          <a:ext cx="8701200" cy="272254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kern="1200" dirty="0">
                          <a:solidFill>
                            <a:schemeClr val="tx1"/>
                          </a:solidFill>
                          <a:latin typeface="+mn-ea"/>
                          <a:ea typeface="+mn-ea"/>
                          <a:cs typeface="+mn-cs"/>
                        </a:rPr>
                        <a:t>MUI-BD-06-M75</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 상세</a:t>
                      </a:r>
                      <a:endParaRPr lang="en-US" altLang="ko-KR" sz="800" dirty="0">
                        <a:latin typeface="+mn-ea"/>
                        <a:ea typeface="+mn-ea"/>
                      </a:endParaRPr>
                    </a:p>
                    <a:p>
                      <a:pPr latinLnBrk="1"/>
                      <a:r>
                        <a:rPr lang="ko-KR" altLang="en-US" sz="800" dirty="0">
                          <a:latin typeface="+mn-ea"/>
                          <a:ea typeface="+mn-ea"/>
                        </a:rPr>
                        <a:t>탭 </a:t>
                      </a:r>
                      <a:r>
                        <a:rPr lang="en-US" altLang="ko-KR" sz="800" dirty="0">
                          <a:latin typeface="+mn-ea"/>
                          <a:ea typeface="+mn-ea"/>
                        </a:rPr>
                        <a:t>1 - </a:t>
                      </a:r>
                      <a:r>
                        <a:rPr lang="ko-KR" altLang="en-US" sz="800" dirty="0">
                          <a:latin typeface="+mn-ea"/>
                          <a:ea typeface="+mn-ea"/>
                        </a:rPr>
                        <a:t>일반정보</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맑은 고딕" panose="020B0503020000020004" pitchFamily="50" charset="-127"/>
                          <a:ea typeface="+mn-ea"/>
                        </a:rPr>
                        <a:t>OvsTndrDtlPage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조달업체가</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제출한 입찰서를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ovsTndrDtl</a:t>
                      </a:r>
                      <a:r>
                        <a:rPr lang="en-US" altLang="ko-KR" sz="800" b="0" i="0" u="none" strike="noStrike" dirty="0">
                          <a:solidFill>
                            <a:schemeClr val="tx1"/>
                          </a:solidFill>
                          <a:effectLst/>
                          <a:latin typeface="맑은 고딕" panose="020B0503020000020004" pitchFamily="50" charset="-127"/>
                          <a:ea typeface="+mn-ea"/>
                        </a:rPr>
                        <a:t>/</a:t>
                      </a:r>
                      <a:r>
                        <a:rPr lang="en-US" altLang="ko-KR" sz="800" b="0" i="0" u="none" strike="noStrike" dirty="0" err="1">
                          <a:solidFill>
                            <a:schemeClr val="tx1"/>
                          </a:solidFill>
                          <a:effectLst/>
                          <a:latin typeface="맑은 고딕" panose="020B0503020000020004" pitchFamily="50" charset="-127"/>
                          <a:ea typeface="+mn-ea"/>
                        </a:rPr>
                        <a:t>OvsTndrDtlPage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58023686"/>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MUI-BD-06-M76</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입찰서 상세</a:t>
                      </a:r>
                      <a:endParaRPr lang="en-US" altLang="ko-KR" sz="800" dirty="0">
                        <a:latin typeface="+mn-ea"/>
                        <a:ea typeface="+mn-ea"/>
                      </a:endParaRPr>
                    </a:p>
                    <a:p>
                      <a:pPr latinLnBrk="1"/>
                      <a:r>
                        <a:rPr lang="ko-KR" altLang="en-US" sz="800" dirty="0">
                          <a:latin typeface="+mn-ea"/>
                          <a:ea typeface="+mn-ea"/>
                        </a:rPr>
                        <a:t>탭 </a:t>
                      </a:r>
                      <a:r>
                        <a:rPr lang="en-US" altLang="ko-KR" sz="800" dirty="0">
                          <a:latin typeface="+mn-ea"/>
                          <a:ea typeface="+mn-ea"/>
                        </a:rPr>
                        <a:t>2 - </a:t>
                      </a:r>
                      <a:r>
                        <a:rPr lang="ko-KR" altLang="en-US" sz="800" dirty="0">
                          <a:latin typeface="+mn-ea"/>
                          <a:ea typeface="+mn-ea"/>
                        </a:rPr>
                        <a:t>업체정보</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OvsTndrDtlPage_</a:t>
                      </a:r>
                      <a:r>
                        <a:rPr lang="en-US" altLang="ko-KR" sz="800" dirty="0">
                          <a:solidFill>
                            <a:schemeClr val="tx1"/>
                          </a:solidFill>
                          <a:latin typeface="+mn-ea"/>
                          <a:ea typeface="+mn-ea"/>
                        </a:rPr>
                        <a:t>Tab2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mn-ea"/>
                          <a:cs typeface="+mn-cs"/>
                        </a:rPr>
                        <a:t>조달업체가</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mn-ea"/>
                          <a:cs typeface="+mn-cs"/>
                        </a:rPr>
                        <a:t> 제출한 입찰서를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ovsTndrDtl</a:t>
                      </a:r>
                      <a:r>
                        <a:rPr lang="en-US" altLang="ko-KR" sz="800" b="0" i="0" u="none" strike="noStrike" dirty="0">
                          <a:solidFill>
                            <a:schemeClr val="tx1"/>
                          </a:solidFill>
                          <a:effectLst/>
                          <a:latin typeface="맑은 고딕" panose="020B0503020000020004" pitchFamily="50" charset="-127"/>
                          <a:ea typeface="+mn-ea"/>
                        </a:rPr>
                        <a:t>/</a:t>
                      </a:r>
                      <a:r>
                        <a:rPr lang="en-US" altLang="ko-KR" sz="800" dirty="0">
                          <a:solidFill>
                            <a:schemeClr val="tx1"/>
                          </a:solidFill>
                          <a:latin typeface="+mn-ea"/>
                          <a:ea typeface="+mn-ea"/>
                        </a:rPr>
                        <a:t>Tab2.tsx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mn-ea"/>
                          <a:cs typeface="+mn-cs"/>
                        </a:rPr>
                        <a:t>UC-BD-04-01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5233118"/>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MUI-BD-06-M77</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탭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3 -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입찰참여품목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단가제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OvsTndrDtlPage_</a:t>
                      </a:r>
                      <a:r>
                        <a:rPr lang="en-US" altLang="ko-KR" sz="800" dirty="0">
                          <a:solidFill>
                            <a:schemeClr val="tx1"/>
                          </a:solidFill>
                          <a:latin typeface="+mn-ea"/>
                          <a:ea typeface="+mn-ea"/>
                        </a:rPr>
                        <a:t>Tab3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조달업체가</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제출한 입찰서를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ovsTndrDtl</a:t>
                      </a:r>
                      <a:r>
                        <a:rPr lang="en-US" altLang="ko-KR" sz="800" b="0" i="0" u="none" strike="noStrike" dirty="0">
                          <a:solidFill>
                            <a:schemeClr val="tx1"/>
                          </a:solidFill>
                          <a:effectLst/>
                          <a:latin typeface="맑은 고딕" panose="020B0503020000020004" pitchFamily="50" charset="-127"/>
                          <a:ea typeface="+mn-ea"/>
                        </a:rPr>
                        <a:t>/</a:t>
                      </a:r>
                      <a:r>
                        <a:rPr lang="en-US" altLang="ko-KR" sz="800" dirty="0">
                          <a:solidFill>
                            <a:schemeClr val="tx1"/>
                          </a:solidFill>
                          <a:latin typeface="+mn-ea"/>
                          <a:ea typeface="+mn-ea"/>
                        </a:rPr>
                        <a:t>Tab3.tsx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w="med" len="med"/>
                      <a:tailEnd w="med" len="med"/>
                    </a:lnB>
                  </a:tcPr>
                </a:tc>
                <a:extLst>
                  <a:ext uri="{0D108BD9-81ED-4DB2-BD59-A6C34878D82A}">
                    <a16:rowId xmlns:a16="http://schemas.microsoft.com/office/drawing/2014/main" val="10001"/>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MUI-BD-06-M78</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mn-ea"/>
                        <a:cs typeface="+mn-cs"/>
                      </a:endParaRPr>
                    </a:p>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탭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2 -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입찰참여품목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총액제</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OvsTndrDtlPage_</a:t>
                      </a:r>
                      <a:r>
                        <a:rPr lang="en-US" altLang="ko-KR" sz="800" dirty="0">
                          <a:solidFill>
                            <a:schemeClr val="tx1"/>
                          </a:solidFill>
                          <a:latin typeface="+mn-ea"/>
                          <a:ea typeface="+mn-ea"/>
                        </a:rPr>
                        <a:t>Tab2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조달업체가</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제출한 입찰서를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ovsTndrDtl</a:t>
                      </a:r>
                      <a:r>
                        <a:rPr lang="en-US" altLang="ko-KR" sz="800" b="0" i="0" u="none" strike="noStrike" dirty="0">
                          <a:solidFill>
                            <a:schemeClr val="tx1"/>
                          </a:solidFill>
                          <a:effectLst/>
                          <a:latin typeface="맑은 고딕" panose="020B0503020000020004" pitchFamily="50" charset="-127"/>
                          <a:ea typeface="+mn-ea"/>
                        </a:rPr>
                        <a:t>/</a:t>
                      </a:r>
                      <a:r>
                        <a:rPr lang="en-US" altLang="ko-KR" sz="800" dirty="0">
                          <a:solidFill>
                            <a:schemeClr val="tx1"/>
                          </a:solidFill>
                          <a:latin typeface="+mn-ea"/>
                          <a:ea typeface="+mn-ea"/>
                        </a:rPr>
                        <a:t>Tab2.tsx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9929360"/>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MUI-BD-06-M79</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탭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3 -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첨부파일</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OvsTndrDtlPage_</a:t>
                      </a:r>
                      <a:r>
                        <a:rPr lang="en-US" altLang="ko-KR" sz="800" dirty="0">
                          <a:solidFill>
                            <a:schemeClr val="tx1"/>
                          </a:solidFill>
                          <a:latin typeface="+mn-ea"/>
                          <a:ea typeface="+mn-ea"/>
                        </a:rPr>
                        <a:t>Tab3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cs typeface="+mn-cs"/>
                        </a:rPr>
                        <a:t>조달업체가</a:t>
                      </a:r>
                      <a:r>
                        <a:rPr kumimoji="0" lang="ko-KR" altLang="en-US"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제출한 입찰서를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ovsTndrDtl</a:t>
                      </a:r>
                      <a:r>
                        <a:rPr lang="en-US" altLang="ko-KR" sz="800" b="0" i="0" u="none" strike="noStrike" dirty="0">
                          <a:solidFill>
                            <a:schemeClr val="tx1"/>
                          </a:solidFill>
                          <a:effectLst/>
                          <a:latin typeface="맑은 고딕" panose="020B0503020000020004" pitchFamily="50" charset="-127"/>
                          <a:ea typeface="+mn-ea"/>
                        </a:rPr>
                        <a:t>/</a:t>
                      </a:r>
                      <a:r>
                        <a:rPr lang="en-US" altLang="ko-KR" sz="800" dirty="0">
                          <a:solidFill>
                            <a:schemeClr val="tx1"/>
                          </a:solidFill>
                          <a:latin typeface="+mn-ea"/>
                          <a:ea typeface="+mn-ea"/>
                        </a:rPr>
                        <a:t>Tab3.tsx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UC-BD-04-01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MUI-BD-06-M80</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입찰등록결과조회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맑은 고딕" panose="020B0503020000020004" pitchFamily="50" charset="-127"/>
                          <a:ea typeface="+mn-ea"/>
                        </a:rPr>
                        <a:t>OvsBidRegRslt</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입찰등록심사의 결과를 조회하는 화면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ovsTndrDtl</a:t>
                      </a:r>
                      <a:r>
                        <a:rPr lang="en-US" altLang="ko-KR" sz="800" b="0" i="0" u="none" strike="noStrike" dirty="0">
                          <a:solidFill>
                            <a:schemeClr val="tx1"/>
                          </a:solidFill>
                          <a:effectLst/>
                          <a:latin typeface="맑은 고딕" panose="020B0503020000020004" pitchFamily="50" charset="-127"/>
                          <a:ea typeface="+mn-ea"/>
                        </a:rPr>
                        <a:t>/</a:t>
                      </a:r>
                      <a:r>
                        <a:rPr lang="en-US" altLang="ko-KR" sz="800" b="0" i="0" u="none" strike="noStrike" dirty="0" err="1">
                          <a:solidFill>
                            <a:schemeClr val="tx1"/>
                          </a:solidFill>
                          <a:effectLst/>
                          <a:latin typeface="맑은 고딕" panose="020B0503020000020004" pitchFamily="50" charset="-127"/>
                          <a:ea typeface="+mn-ea"/>
                        </a:rPr>
                        <a:t>OvsBidRegRslt</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rgbClr val="000000"/>
                          </a:solidFill>
                          <a:effectLst/>
                          <a:latin typeface="맑은 고딕" panose="020B0503020000020004" pitchFamily="50" charset="-127"/>
                          <a:ea typeface="+mn-ea"/>
                        </a:rPr>
                        <a:t>UC-BD-02-01</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6965223"/>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MUI-BD-06-P81</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fontAlgn="ctr"/>
                      <a:r>
                        <a:rPr kumimoji="0" lang="ko-KR" altLang="en-US" sz="800" b="0" i="0" u="none" strike="noStrike" kern="1200" cap="none" spc="0" normalizeH="0" baseline="0" dirty="0">
                          <a:ln>
                            <a:noFill/>
                          </a:ln>
                          <a:solidFill>
                            <a:prstClr val="black"/>
                          </a:solidFill>
                          <a:effectLst/>
                          <a:uLnTx/>
                          <a:uFillTx/>
                          <a:latin typeface="맑은 고딕" panose="020B0503020000020004" pitchFamily="50" charset="-127"/>
                          <a:ea typeface="+mn-ea"/>
                          <a:cs typeface="+mn-cs"/>
                        </a:rPr>
                        <a:t>입찰취소신청서작성</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맑은 고딕" panose="020B0503020000020004" pitchFamily="50" charset="-127"/>
                          <a:ea typeface="+mn-ea"/>
                        </a:rPr>
                        <a:t>OvsBidRtrcnAply</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업체담당자가 입찰 취소신청을 하는 화면 </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ovsTndrDtl</a:t>
                      </a:r>
                      <a:r>
                        <a:rPr lang="en-US" altLang="ko-KR" sz="800" b="0" i="0" u="none" strike="noStrike" dirty="0">
                          <a:solidFill>
                            <a:schemeClr val="tx1"/>
                          </a:solidFill>
                          <a:effectLst/>
                          <a:latin typeface="맑은 고딕" panose="020B0503020000020004" pitchFamily="50" charset="-127"/>
                          <a:ea typeface="+mn-ea"/>
                        </a:rPr>
                        <a:t>/</a:t>
                      </a:r>
                      <a:r>
                        <a:rPr lang="en-US" altLang="ko-KR" sz="800" b="0" i="0" u="none" strike="noStrike" dirty="0" err="1">
                          <a:solidFill>
                            <a:schemeClr val="tx1"/>
                          </a:solidFill>
                          <a:effectLst/>
                          <a:latin typeface="맑은 고딕" panose="020B0503020000020004" pitchFamily="50" charset="-127"/>
                          <a:ea typeface="+mn-ea"/>
                        </a:rPr>
                        <a:t>OvsBidRtrcnAply</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800" b="0" i="0" u="none" strike="noStrike" dirty="0">
                          <a:solidFill>
                            <a:srgbClr val="000000"/>
                          </a:solidFill>
                          <a:effectLst/>
                          <a:latin typeface="맑은 고딕" panose="020B0503020000020004" pitchFamily="50" charset="-127"/>
                          <a:ea typeface="+mn-ea"/>
                        </a:rPr>
                        <a:t>UC-BD-04-01</a:t>
                      </a:r>
                    </a:p>
                    <a:p>
                      <a:pPr algn="ctr" fontAlgn="ctr"/>
                      <a:r>
                        <a:rPr lang="en-US" altLang="ko-KR" sz="800" dirty="0">
                          <a:latin typeface="+mn-ea"/>
                          <a:ea typeface="+mn-ea"/>
                        </a:rPr>
                        <a:t>UC-BD-07-01</a:t>
                      </a:r>
                      <a:endParaRPr lang="en-US" altLang="ko-KR" sz="800" b="0" i="0" u="none" strike="noStrike" dirty="0">
                        <a:solidFill>
                          <a:srgbClr val="000000"/>
                        </a:solidFill>
                        <a:effectLst/>
                        <a:latin typeface="맑은 고딕" panose="020B0503020000020004" pitchFamily="50" charset="-127"/>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3731922"/>
                  </a:ext>
                </a:extLst>
              </a:tr>
              <a:tr h="180000">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MUI-BD-07-P71</a:t>
                      </a:r>
                      <a:endParaRPr kumimoji="0" lang="en-US" altLang="ko-KR" sz="7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kumimoji="0" lang="ko-KR" altLang="en-US" sz="800" b="0" i="0" u="none" strike="noStrike" kern="1200" cap="none" spc="0" normalizeH="0" baseline="0" dirty="0">
                          <a:ln>
                            <a:noFill/>
                          </a:ln>
                          <a:solidFill>
                            <a:prstClr val="black"/>
                          </a:solidFill>
                          <a:effectLst/>
                          <a:uLnTx/>
                          <a:uFillTx/>
                          <a:latin typeface="맑은 고딕" panose="020B0503020000020004" pitchFamily="50" charset="-127"/>
                          <a:ea typeface="+mn-ea"/>
                          <a:cs typeface="+mn-cs"/>
                        </a:rPr>
                        <a:t>기술평가결과조회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맑은 고딕" panose="020B0503020000020004" pitchFamily="50" charset="-127"/>
                          <a:ea typeface="+mn-ea"/>
                        </a:rPr>
                        <a:t>OvsTechEvlRslt</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기술평가 점수 및 결과를 조회하는 화면</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ovsTndrDtl</a:t>
                      </a:r>
                      <a:r>
                        <a:rPr lang="en-US" altLang="ko-KR" sz="800" b="0" i="0" u="none" strike="noStrike" dirty="0">
                          <a:solidFill>
                            <a:schemeClr val="tx1"/>
                          </a:solidFill>
                          <a:effectLst/>
                          <a:latin typeface="맑은 고딕" panose="020B0503020000020004" pitchFamily="50" charset="-127"/>
                          <a:ea typeface="+mn-ea"/>
                        </a:rPr>
                        <a:t>/</a:t>
                      </a:r>
                      <a:r>
                        <a:rPr lang="en-US" altLang="ko-KR" sz="800" b="0" i="0" u="none" strike="noStrike" dirty="0" err="1">
                          <a:solidFill>
                            <a:schemeClr val="tx1"/>
                          </a:solidFill>
                          <a:effectLst/>
                          <a:latin typeface="맑은 고딕" panose="020B0503020000020004" pitchFamily="50" charset="-127"/>
                          <a:ea typeface="+mn-ea"/>
                        </a:rPr>
                        <a:t>OvsTechEvlRslt</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rgbClr val="000000"/>
                          </a:solidFill>
                          <a:effectLst/>
                          <a:latin typeface="맑은 고딕" panose="020B0503020000020004" pitchFamily="50" charset="-127"/>
                          <a:ea typeface="+mn-ea"/>
                        </a:rPr>
                        <a:t>UC-BD-09-03</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9614496"/>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94835527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326</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8.2. </a:t>
            </a:r>
            <a:r>
              <a:rPr lang="ko-KR" altLang="en-US" dirty="0"/>
              <a:t>화면 흐름도</a:t>
            </a: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70" idx="1"/>
          </p:cNvCxnSpPr>
          <p:nvPr/>
        </p:nvCxnSpPr>
        <p:spPr>
          <a:xfrm>
            <a:off x="143547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70"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입찰공고</a:t>
            </a:r>
          </a:p>
          <a:p>
            <a:pPr algn="ctr"/>
            <a:r>
              <a:rPr lang="ko-KR" altLang="en-US" sz="800" dirty="0" err="1">
                <a:solidFill>
                  <a:schemeClr val="tx1"/>
                </a:solidFill>
              </a:rPr>
              <a:t>통합목록</a:t>
            </a:r>
            <a:endParaRPr lang="ko-KR" altLang="en-US" sz="800" dirty="0">
              <a:solidFill>
                <a:schemeClr val="tx1"/>
              </a:solidFill>
            </a:endParaRPr>
          </a:p>
        </p:txBody>
      </p:sp>
      <p:sp>
        <p:nvSpPr>
          <p:cNvPr id="77" name="사각형: 둥근 모서리 5">
            <a:extLst>
              <a:ext uri="{FF2B5EF4-FFF2-40B4-BE49-F238E27FC236}">
                <a16:creationId xmlns:a16="http://schemas.microsoft.com/office/drawing/2014/main" id="{410E5459-200D-7630-863C-88E5109259DF}"/>
              </a:ext>
            </a:extLst>
          </p:cNvPr>
          <p:cNvSpPr/>
          <p:nvPr/>
        </p:nvSpPr>
        <p:spPr>
          <a:xfrm>
            <a:off x="2366608" y="2923907"/>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입찰진행</a:t>
            </a:r>
            <a:r>
              <a:rPr lang="ko-KR" altLang="en-US" sz="800" dirty="0">
                <a:solidFill>
                  <a:schemeClr val="tx1"/>
                </a:solidFill>
              </a:rPr>
              <a:t> 목록</a:t>
            </a:r>
          </a:p>
        </p:txBody>
      </p:sp>
      <p:cxnSp>
        <p:nvCxnSpPr>
          <p:cNvPr id="121" name="직선 화살표 연결선 120">
            <a:extLst>
              <a:ext uri="{FF2B5EF4-FFF2-40B4-BE49-F238E27FC236}">
                <a16:creationId xmlns:a16="http://schemas.microsoft.com/office/drawing/2014/main" id="{9A519F08-B829-E35F-09D8-DFCD1F68B911}"/>
              </a:ext>
            </a:extLst>
          </p:cNvPr>
          <p:cNvCxnSpPr>
            <a:cxnSpLocks/>
            <a:stCxn id="70" idx="3"/>
            <a:endCxn id="52" idx="1"/>
          </p:cNvCxnSpPr>
          <p:nvPr/>
        </p:nvCxnSpPr>
        <p:spPr>
          <a:xfrm>
            <a:off x="3266608" y="1772964"/>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직사각형 61">
            <a:extLst>
              <a:ext uri="{FF2B5EF4-FFF2-40B4-BE49-F238E27FC236}">
                <a16:creationId xmlns:a16="http://schemas.microsoft.com/office/drawing/2014/main" id="{23C86455-E84C-0CEA-5C6B-05BE50ADCEF5}"/>
              </a:ext>
            </a:extLst>
          </p:cNvPr>
          <p:cNvSpPr/>
          <p:nvPr/>
        </p:nvSpPr>
        <p:spPr>
          <a:xfrm>
            <a:off x="1191585"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sp>
        <p:nvSpPr>
          <p:cNvPr id="22" name="사각형: 둥근 모서리 5">
            <a:extLst>
              <a:ext uri="{FF2B5EF4-FFF2-40B4-BE49-F238E27FC236}">
                <a16:creationId xmlns:a16="http://schemas.microsoft.com/office/drawing/2014/main" id="{410E5459-200D-7630-863C-88E5109259DF}"/>
              </a:ext>
            </a:extLst>
          </p:cNvPr>
          <p:cNvSpPr/>
          <p:nvPr/>
        </p:nvSpPr>
        <p:spPr>
          <a:xfrm>
            <a:off x="6030043" y="356973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latin typeface="+mn-ea"/>
              </a:rPr>
              <a:t>입찰서제출</a:t>
            </a:r>
            <a:endParaRPr lang="ko-KR" altLang="en-US" sz="800" dirty="0">
              <a:solidFill>
                <a:schemeClr val="tx1"/>
              </a:solidFill>
            </a:endParaRPr>
          </a:p>
        </p:txBody>
      </p:sp>
      <p:sp>
        <p:nvSpPr>
          <p:cNvPr id="52" name="사각형: 둥근 모서리 5">
            <a:extLst>
              <a:ext uri="{FF2B5EF4-FFF2-40B4-BE49-F238E27FC236}">
                <a16:creationId xmlns:a16="http://schemas.microsoft.com/office/drawing/2014/main" id="{410E5459-200D-7630-863C-88E5109259DF}"/>
              </a:ext>
            </a:extLst>
          </p:cNvPr>
          <p:cNvSpPr/>
          <p:nvPr/>
        </p:nvSpPr>
        <p:spPr>
          <a:xfrm>
            <a:off x="4193499" y="1628964"/>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입찰공고상세</a:t>
            </a:r>
          </a:p>
        </p:txBody>
      </p:sp>
      <p:sp>
        <p:nvSpPr>
          <p:cNvPr id="53" name="사각형: 둥근 모서리 5">
            <a:extLst>
              <a:ext uri="{FF2B5EF4-FFF2-40B4-BE49-F238E27FC236}">
                <a16:creationId xmlns:a16="http://schemas.microsoft.com/office/drawing/2014/main" id="{410E5459-200D-7630-863C-88E5109259DF}"/>
              </a:ext>
            </a:extLst>
          </p:cNvPr>
          <p:cNvSpPr/>
          <p:nvPr/>
        </p:nvSpPr>
        <p:spPr>
          <a:xfrm>
            <a:off x="4193499" y="2923907"/>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입찰참가신청서 상세</a:t>
            </a:r>
          </a:p>
        </p:txBody>
      </p:sp>
      <p:cxnSp>
        <p:nvCxnSpPr>
          <p:cNvPr id="63" name="직선 화살표 연결선 62">
            <a:extLst>
              <a:ext uri="{FF2B5EF4-FFF2-40B4-BE49-F238E27FC236}">
                <a16:creationId xmlns:a16="http://schemas.microsoft.com/office/drawing/2014/main" id="{9A519F08-B829-E35F-09D8-DFCD1F68B911}"/>
              </a:ext>
            </a:extLst>
          </p:cNvPr>
          <p:cNvCxnSpPr>
            <a:cxnSpLocks/>
            <a:stCxn id="77" idx="3"/>
            <a:endCxn id="53" idx="1"/>
          </p:cNvCxnSpPr>
          <p:nvPr/>
        </p:nvCxnSpPr>
        <p:spPr>
          <a:xfrm>
            <a:off x="3266608" y="3067907"/>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8" name="직사각형 77">
            <a:extLst>
              <a:ext uri="{FF2B5EF4-FFF2-40B4-BE49-F238E27FC236}">
                <a16:creationId xmlns:a16="http://schemas.microsoft.com/office/drawing/2014/main" id="{4FB9FCCA-B5F3-C0E2-F563-4F0CE0FC24CF}"/>
              </a:ext>
            </a:extLst>
          </p:cNvPr>
          <p:cNvSpPr/>
          <p:nvPr/>
        </p:nvSpPr>
        <p:spPr>
          <a:xfrm>
            <a:off x="7578850" y="3824888"/>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79" name="그룹 78">
            <a:extLst>
              <a:ext uri="{FF2B5EF4-FFF2-40B4-BE49-F238E27FC236}">
                <a16:creationId xmlns:a16="http://schemas.microsoft.com/office/drawing/2014/main" id="{E7279F6C-9434-7961-8F6B-B7AE44CE5FCD}"/>
              </a:ext>
            </a:extLst>
          </p:cNvPr>
          <p:cNvGrpSpPr/>
          <p:nvPr/>
        </p:nvGrpSpPr>
        <p:grpSpPr>
          <a:xfrm>
            <a:off x="7607847" y="3623734"/>
            <a:ext cx="180000" cy="180000"/>
            <a:chOff x="5058274" y="2498299"/>
            <a:chExt cx="180000" cy="180000"/>
          </a:xfrm>
        </p:grpSpPr>
        <p:sp>
          <p:nvSpPr>
            <p:cNvPr id="80" name="타원 79">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타원 83">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40" name="사각형: 둥근 모서리 5">
            <a:extLst>
              <a:ext uri="{FF2B5EF4-FFF2-40B4-BE49-F238E27FC236}">
                <a16:creationId xmlns:a16="http://schemas.microsoft.com/office/drawing/2014/main" id="{410E5459-200D-7630-863C-88E5109259DF}"/>
              </a:ext>
            </a:extLst>
          </p:cNvPr>
          <p:cNvSpPr/>
          <p:nvPr/>
        </p:nvSpPr>
        <p:spPr>
          <a:xfrm>
            <a:off x="6030043" y="485958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rgbClr val="000000"/>
                </a:solidFill>
                <a:latin typeface="+mn-ea"/>
              </a:rPr>
              <a:t>입찰등록결과</a:t>
            </a:r>
            <a:endParaRPr lang="en-US" altLang="ko-KR" sz="800" dirty="0">
              <a:solidFill>
                <a:srgbClr val="000000"/>
              </a:solidFill>
              <a:latin typeface="+mn-ea"/>
            </a:endParaRPr>
          </a:p>
          <a:p>
            <a:pPr algn="ctr"/>
            <a:r>
              <a:rPr lang="ko-KR" altLang="en-US" sz="800" dirty="0">
                <a:solidFill>
                  <a:srgbClr val="000000"/>
                </a:solidFill>
                <a:latin typeface="+mn-ea"/>
              </a:rPr>
              <a:t>조회</a:t>
            </a:r>
            <a:endParaRPr lang="ko-KR" altLang="en-US" sz="800" dirty="0">
              <a:solidFill>
                <a:schemeClr val="tx1"/>
              </a:solidFill>
            </a:endParaRPr>
          </a:p>
        </p:txBody>
      </p:sp>
      <p:sp>
        <p:nvSpPr>
          <p:cNvPr id="93" name="사각형: 둥근 모서리 5">
            <a:extLst>
              <a:ext uri="{FF2B5EF4-FFF2-40B4-BE49-F238E27FC236}">
                <a16:creationId xmlns:a16="http://schemas.microsoft.com/office/drawing/2014/main" id="{410E5459-200D-7630-863C-88E5109259DF}"/>
              </a:ext>
            </a:extLst>
          </p:cNvPr>
          <p:cNvSpPr/>
          <p:nvPr/>
        </p:nvSpPr>
        <p:spPr>
          <a:xfrm>
            <a:off x="6030043" y="2923907"/>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입찰참가신청서취소</a:t>
            </a:r>
          </a:p>
        </p:txBody>
      </p:sp>
      <p:cxnSp>
        <p:nvCxnSpPr>
          <p:cNvPr id="55" name="연결선: 꺾임 7">
            <a:extLst>
              <a:ext uri="{FF2B5EF4-FFF2-40B4-BE49-F238E27FC236}">
                <a16:creationId xmlns:a16="http://schemas.microsoft.com/office/drawing/2014/main" id="{89A2D828-4C18-4F90-6B31-722E89773AA8}"/>
              </a:ext>
            </a:extLst>
          </p:cNvPr>
          <p:cNvCxnSpPr>
            <a:cxnSpLocks/>
            <a:stCxn id="9" idx="6"/>
            <a:endCxn id="77" idx="1"/>
          </p:cNvCxnSpPr>
          <p:nvPr/>
        </p:nvCxnSpPr>
        <p:spPr>
          <a:xfrm>
            <a:off x="1435474" y="1772964"/>
            <a:ext cx="931134" cy="1294943"/>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직선 화살표 연결선 71">
            <a:extLst>
              <a:ext uri="{FF2B5EF4-FFF2-40B4-BE49-F238E27FC236}">
                <a16:creationId xmlns:a16="http://schemas.microsoft.com/office/drawing/2014/main" id="{9A519F08-B829-E35F-09D8-DFCD1F68B911}"/>
              </a:ext>
            </a:extLst>
          </p:cNvPr>
          <p:cNvCxnSpPr>
            <a:cxnSpLocks/>
            <a:stCxn id="53" idx="3"/>
            <a:endCxn id="93" idx="1"/>
          </p:cNvCxnSpPr>
          <p:nvPr/>
        </p:nvCxnSpPr>
        <p:spPr>
          <a:xfrm>
            <a:off x="5093499" y="3067907"/>
            <a:ext cx="93654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연결선: 꺾임 7">
            <a:extLst>
              <a:ext uri="{FF2B5EF4-FFF2-40B4-BE49-F238E27FC236}">
                <a16:creationId xmlns:a16="http://schemas.microsoft.com/office/drawing/2014/main" id="{89A2D828-4C18-4F90-6B31-722E89773AA8}"/>
              </a:ext>
            </a:extLst>
          </p:cNvPr>
          <p:cNvCxnSpPr>
            <a:cxnSpLocks/>
            <a:stCxn id="60" idx="3"/>
            <a:endCxn id="80" idx="2"/>
          </p:cNvCxnSpPr>
          <p:nvPr/>
        </p:nvCxnSpPr>
        <p:spPr>
          <a:xfrm>
            <a:off x="6930043" y="1772964"/>
            <a:ext cx="677804" cy="1940770"/>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0" name="사각형: 둥근 모서리 5">
            <a:extLst>
              <a:ext uri="{FF2B5EF4-FFF2-40B4-BE49-F238E27FC236}">
                <a16:creationId xmlns:a16="http://schemas.microsoft.com/office/drawing/2014/main" id="{410E5459-200D-7630-863C-88E5109259DF}"/>
              </a:ext>
            </a:extLst>
          </p:cNvPr>
          <p:cNvSpPr/>
          <p:nvPr/>
        </p:nvSpPr>
        <p:spPr>
          <a:xfrm>
            <a:off x="6030043"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입찰참가신청서작성</a:t>
            </a:r>
            <a:endParaRPr lang="ko-KR" altLang="en-US" sz="800" dirty="0">
              <a:solidFill>
                <a:schemeClr val="tx1"/>
              </a:solidFill>
            </a:endParaRPr>
          </a:p>
        </p:txBody>
      </p:sp>
      <p:sp>
        <p:nvSpPr>
          <p:cNvPr id="88" name="직사각형 87">
            <a:extLst>
              <a:ext uri="{FF2B5EF4-FFF2-40B4-BE49-F238E27FC236}">
                <a16:creationId xmlns:a16="http://schemas.microsoft.com/office/drawing/2014/main" id="{F249990F-1DE5-C694-BDBD-2DE7009D57EA}"/>
              </a:ext>
            </a:extLst>
          </p:cNvPr>
          <p:cNvSpPr/>
          <p:nvPr/>
        </p:nvSpPr>
        <p:spPr>
          <a:xfrm>
            <a:off x="6030043" y="1918133"/>
            <a:ext cx="963405" cy="86177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서약서동의</a:t>
            </a:r>
            <a:r>
              <a:rPr lang="ko-KR" altLang="en-US" sz="800" dirty="0">
                <a:solidFill>
                  <a:schemeClr val="tx1"/>
                </a:solidFill>
              </a:rPr>
              <a:t> 목록</a:t>
            </a:r>
            <a:endParaRPr lang="en-US" altLang="ko-KR" sz="800" dirty="0">
              <a:solidFill>
                <a:schemeClr val="tx1"/>
              </a:solidFill>
            </a:endParaRPr>
          </a:p>
          <a:p>
            <a:r>
              <a:rPr lang="ko-KR" altLang="en-US" sz="800" dirty="0">
                <a:solidFill>
                  <a:schemeClr val="tx1"/>
                </a:solidFill>
              </a:rPr>
              <a:t>서약서 상세</a:t>
            </a:r>
          </a:p>
          <a:p>
            <a:r>
              <a:rPr lang="ko-KR" altLang="en-US" sz="800" dirty="0" err="1">
                <a:solidFill>
                  <a:schemeClr val="tx1"/>
                </a:solidFill>
              </a:rPr>
              <a:t>스탭</a:t>
            </a:r>
            <a:r>
              <a:rPr lang="ko-KR" altLang="en-US" sz="800" dirty="0">
                <a:solidFill>
                  <a:schemeClr val="tx1"/>
                </a:solidFill>
              </a:rPr>
              <a:t> </a:t>
            </a:r>
            <a:r>
              <a:rPr lang="en-US" altLang="ko-KR" sz="800" dirty="0">
                <a:solidFill>
                  <a:schemeClr val="tx1"/>
                </a:solidFill>
              </a:rPr>
              <a:t>1 - </a:t>
            </a:r>
            <a:r>
              <a:rPr lang="ko-KR" altLang="en-US" sz="800" dirty="0">
                <a:solidFill>
                  <a:schemeClr val="tx1"/>
                </a:solidFill>
              </a:rPr>
              <a:t>일반정보</a:t>
            </a:r>
          </a:p>
          <a:p>
            <a:r>
              <a:rPr lang="ko-KR" altLang="en-US" sz="800" dirty="0" err="1">
                <a:solidFill>
                  <a:schemeClr val="tx1"/>
                </a:solidFill>
              </a:rPr>
              <a:t>스탭</a:t>
            </a:r>
            <a:r>
              <a:rPr lang="ko-KR" altLang="en-US" sz="800" dirty="0">
                <a:solidFill>
                  <a:schemeClr val="tx1"/>
                </a:solidFill>
              </a:rPr>
              <a:t> </a:t>
            </a:r>
            <a:r>
              <a:rPr lang="en-US" altLang="ko-KR" sz="800" dirty="0">
                <a:solidFill>
                  <a:schemeClr val="tx1"/>
                </a:solidFill>
              </a:rPr>
              <a:t>2 – </a:t>
            </a:r>
            <a:r>
              <a:rPr lang="ko-KR" altLang="en-US" sz="800" dirty="0">
                <a:solidFill>
                  <a:schemeClr val="tx1"/>
                </a:solidFill>
              </a:rPr>
              <a:t>업체정보</a:t>
            </a:r>
          </a:p>
          <a:p>
            <a:r>
              <a:rPr lang="ko-KR" altLang="en-US" sz="800" dirty="0" err="1">
                <a:solidFill>
                  <a:schemeClr val="tx1"/>
                </a:solidFill>
                <a:latin typeface="+mn-ea"/>
              </a:rPr>
              <a:t>스탭</a:t>
            </a:r>
            <a:r>
              <a:rPr lang="ko-KR" altLang="en-US" sz="800" dirty="0">
                <a:solidFill>
                  <a:schemeClr val="tx1"/>
                </a:solidFill>
                <a:latin typeface="+mn-ea"/>
              </a:rPr>
              <a:t> </a:t>
            </a:r>
            <a:r>
              <a:rPr lang="en-US" altLang="ko-KR" sz="800" dirty="0">
                <a:solidFill>
                  <a:schemeClr val="tx1"/>
                </a:solidFill>
                <a:latin typeface="+mn-ea"/>
              </a:rPr>
              <a:t>3 - </a:t>
            </a:r>
            <a:r>
              <a:rPr lang="ko-KR" altLang="en-US" sz="800" dirty="0">
                <a:solidFill>
                  <a:schemeClr val="tx1"/>
                </a:solidFill>
                <a:latin typeface="+mn-ea"/>
              </a:rPr>
              <a:t>입찰 보증금</a:t>
            </a:r>
            <a:endParaRPr lang="en-US" altLang="ko-KR" sz="800" dirty="0">
              <a:solidFill>
                <a:schemeClr val="tx1"/>
              </a:solidFill>
              <a:latin typeface="+mn-ea"/>
            </a:endParaRPr>
          </a:p>
          <a:p>
            <a:r>
              <a:rPr lang="ko-KR" altLang="en-US" sz="800" dirty="0" err="1">
                <a:solidFill>
                  <a:schemeClr val="tx1"/>
                </a:solidFill>
                <a:latin typeface="+mn-ea"/>
              </a:rPr>
              <a:t>스탭</a:t>
            </a:r>
            <a:r>
              <a:rPr lang="ko-KR" altLang="en-US" sz="800" dirty="0">
                <a:solidFill>
                  <a:schemeClr val="tx1"/>
                </a:solidFill>
                <a:latin typeface="+mn-ea"/>
              </a:rPr>
              <a:t> </a:t>
            </a:r>
            <a:r>
              <a:rPr lang="en-US" altLang="ko-KR" sz="800" dirty="0">
                <a:solidFill>
                  <a:schemeClr val="tx1"/>
                </a:solidFill>
                <a:latin typeface="+mn-ea"/>
              </a:rPr>
              <a:t>4 – </a:t>
            </a:r>
            <a:r>
              <a:rPr lang="ko-KR" altLang="en-US" sz="800" dirty="0">
                <a:solidFill>
                  <a:schemeClr val="tx1"/>
                </a:solidFill>
                <a:latin typeface="+mn-ea"/>
              </a:rPr>
              <a:t>첨부파일</a:t>
            </a:r>
            <a:endParaRPr lang="en-US" altLang="ko-KR" sz="800" dirty="0">
              <a:solidFill>
                <a:schemeClr val="tx1"/>
              </a:solidFill>
              <a:latin typeface="+mn-ea"/>
            </a:endParaRPr>
          </a:p>
          <a:p>
            <a:r>
              <a:rPr lang="ko-KR" altLang="en-US" sz="800" dirty="0">
                <a:solidFill>
                  <a:schemeClr val="tx1"/>
                </a:solidFill>
                <a:latin typeface="+mn-ea"/>
              </a:rPr>
              <a:t>신청 완료</a:t>
            </a:r>
          </a:p>
        </p:txBody>
      </p:sp>
      <p:sp>
        <p:nvSpPr>
          <p:cNvPr id="90" name="직사각형 89">
            <a:extLst>
              <a:ext uri="{FF2B5EF4-FFF2-40B4-BE49-F238E27FC236}">
                <a16:creationId xmlns:a16="http://schemas.microsoft.com/office/drawing/2014/main" id="{F249990F-1DE5-C694-BDBD-2DE7009D57EA}"/>
              </a:ext>
            </a:extLst>
          </p:cNvPr>
          <p:cNvSpPr/>
          <p:nvPr/>
        </p:nvSpPr>
        <p:spPr>
          <a:xfrm>
            <a:off x="4193499" y="3211907"/>
            <a:ext cx="860813" cy="49244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탭 </a:t>
            </a:r>
            <a:r>
              <a:rPr lang="en-US" altLang="ko-KR" sz="800" dirty="0">
                <a:solidFill>
                  <a:schemeClr val="tx1"/>
                </a:solidFill>
              </a:rPr>
              <a:t>1 - </a:t>
            </a:r>
            <a:r>
              <a:rPr lang="ko-KR" altLang="en-US" sz="800" dirty="0">
                <a:solidFill>
                  <a:schemeClr val="tx1"/>
                </a:solidFill>
              </a:rPr>
              <a:t>일반정보</a:t>
            </a:r>
          </a:p>
          <a:p>
            <a:r>
              <a:rPr lang="ko-KR" altLang="en-US" sz="800" dirty="0">
                <a:solidFill>
                  <a:schemeClr val="tx1"/>
                </a:solidFill>
              </a:rPr>
              <a:t>탭 </a:t>
            </a:r>
            <a:r>
              <a:rPr lang="en-US" altLang="ko-KR" sz="800" dirty="0">
                <a:solidFill>
                  <a:schemeClr val="tx1"/>
                </a:solidFill>
              </a:rPr>
              <a:t>2 – </a:t>
            </a:r>
            <a:r>
              <a:rPr lang="ko-KR" altLang="en-US" sz="800" dirty="0">
                <a:solidFill>
                  <a:schemeClr val="tx1"/>
                </a:solidFill>
              </a:rPr>
              <a:t>업체정보</a:t>
            </a:r>
          </a:p>
          <a:p>
            <a:r>
              <a:rPr lang="ko-KR" altLang="en-US" sz="800" dirty="0">
                <a:solidFill>
                  <a:schemeClr val="tx1"/>
                </a:solidFill>
                <a:latin typeface="+mn-ea"/>
              </a:rPr>
              <a:t>탭 </a:t>
            </a:r>
            <a:r>
              <a:rPr lang="en-US" altLang="ko-KR" sz="800" dirty="0">
                <a:solidFill>
                  <a:schemeClr val="tx1"/>
                </a:solidFill>
                <a:latin typeface="+mn-ea"/>
              </a:rPr>
              <a:t>3 - </a:t>
            </a:r>
            <a:r>
              <a:rPr lang="ko-KR" altLang="en-US" sz="800" dirty="0">
                <a:solidFill>
                  <a:schemeClr val="tx1"/>
                </a:solidFill>
                <a:latin typeface="+mn-ea"/>
              </a:rPr>
              <a:t>입찰 보증금</a:t>
            </a:r>
            <a:endParaRPr lang="en-US" altLang="ko-KR" sz="800" dirty="0">
              <a:solidFill>
                <a:schemeClr val="tx1"/>
              </a:solidFill>
              <a:latin typeface="+mn-ea"/>
            </a:endParaRPr>
          </a:p>
          <a:p>
            <a:r>
              <a:rPr lang="ko-KR" altLang="en-US" sz="800" dirty="0">
                <a:solidFill>
                  <a:schemeClr val="tx1"/>
                </a:solidFill>
                <a:latin typeface="+mn-ea"/>
              </a:rPr>
              <a:t>탭 </a:t>
            </a:r>
            <a:r>
              <a:rPr lang="en-US" altLang="ko-KR" sz="800" dirty="0">
                <a:solidFill>
                  <a:schemeClr val="tx1"/>
                </a:solidFill>
                <a:latin typeface="+mn-ea"/>
              </a:rPr>
              <a:t>4 - </a:t>
            </a:r>
            <a:r>
              <a:rPr lang="ko-KR" altLang="en-US" sz="800" dirty="0">
                <a:solidFill>
                  <a:schemeClr val="tx1"/>
                </a:solidFill>
                <a:latin typeface="+mn-ea"/>
              </a:rPr>
              <a:t>첨부파일</a:t>
            </a:r>
          </a:p>
        </p:txBody>
      </p:sp>
      <p:sp>
        <p:nvSpPr>
          <p:cNvPr id="91" name="직사각형 90">
            <a:extLst>
              <a:ext uri="{FF2B5EF4-FFF2-40B4-BE49-F238E27FC236}">
                <a16:creationId xmlns:a16="http://schemas.microsoft.com/office/drawing/2014/main" id="{F249990F-1DE5-C694-BDBD-2DE7009D57EA}"/>
              </a:ext>
            </a:extLst>
          </p:cNvPr>
          <p:cNvSpPr/>
          <p:nvPr/>
        </p:nvSpPr>
        <p:spPr>
          <a:xfrm>
            <a:off x="5236574" y="1599670"/>
            <a:ext cx="615553"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latin typeface="+mn-ea"/>
              </a:rPr>
              <a:t>입찰참가신청</a:t>
            </a:r>
          </a:p>
        </p:txBody>
      </p:sp>
      <p:sp>
        <p:nvSpPr>
          <p:cNvPr id="95" name="사각형: 둥근 모서리 5">
            <a:extLst>
              <a:ext uri="{FF2B5EF4-FFF2-40B4-BE49-F238E27FC236}">
                <a16:creationId xmlns:a16="http://schemas.microsoft.com/office/drawing/2014/main" id="{410E5459-200D-7630-863C-88E5109259DF}"/>
              </a:ext>
            </a:extLst>
          </p:cNvPr>
          <p:cNvSpPr/>
          <p:nvPr/>
        </p:nvSpPr>
        <p:spPr>
          <a:xfrm>
            <a:off x="7866587"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입찰보증서선택</a:t>
            </a:r>
            <a:endParaRPr lang="en-US" altLang="ko-KR" sz="800" dirty="0">
              <a:solidFill>
                <a:schemeClr val="tx1"/>
              </a:solidFill>
              <a:latin typeface="+mn-ea"/>
            </a:endParaRPr>
          </a:p>
          <a:p>
            <a:pPr algn="ctr"/>
            <a:r>
              <a:rPr lang="ko-KR" altLang="en-US" sz="800" dirty="0">
                <a:solidFill>
                  <a:schemeClr val="tx1"/>
                </a:solidFill>
                <a:latin typeface="+mn-ea"/>
              </a:rPr>
              <a:t>보증서정보조회</a:t>
            </a:r>
            <a:endParaRPr lang="ko-KR" altLang="en-US" sz="800" dirty="0">
              <a:solidFill>
                <a:schemeClr val="tx1"/>
              </a:solidFill>
            </a:endParaRPr>
          </a:p>
        </p:txBody>
      </p:sp>
      <p:cxnSp>
        <p:nvCxnSpPr>
          <p:cNvPr id="96" name="직선 화살표 연결선 95">
            <a:extLst>
              <a:ext uri="{FF2B5EF4-FFF2-40B4-BE49-F238E27FC236}">
                <a16:creationId xmlns:a16="http://schemas.microsoft.com/office/drawing/2014/main" id="{9A519F08-B829-E35F-09D8-DFCD1F68B911}"/>
              </a:ext>
            </a:extLst>
          </p:cNvPr>
          <p:cNvCxnSpPr>
            <a:cxnSpLocks/>
          </p:cNvCxnSpPr>
          <p:nvPr/>
        </p:nvCxnSpPr>
        <p:spPr>
          <a:xfrm>
            <a:off x="6930043" y="1699143"/>
            <a:ext cx="936544" cy="0"/>
          </a:xfrm>
          <a:prstGeom prst="straightConnector1">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7" name="사각형: 둥근 모서리 5">
            <a:extLst>
              <a:ext uri="{FF2B5EF4-FFF2-40B4-BE49-F238E27FC236}">
                <a16:creationId xmlns:a16="http://schemas.microsoft.com/office/drawing/2014/main" id="{410E5459-200D-7630-863C-88E5109259DF}"/>
              </a:ext>
            </a:extLst>
          </p:cNvPr>
          <p:cNvSpPr/>
          <p:nvPr/>
        </p:nvSpPr>
        <p:spPr>
          <a:xfrm>
            <a:off x="4193499" y="2276436"/>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latin typeface="+mn-ea"/>
              </a:rPr>
              <a:t>입찰내역</a:t>
            </a:r>
            <a:r>
              <a:rPr lang="ko-KR" altLang="en-US" sz="800" dirty="0">
                <a:solidFill>
                  <a:schemeClr val="tx1"/>
                </a:solidFill>
                <a:latin typeface="+mn-ea"/>
              </a:rPr>
              <a:t> 작성</a:t>
            </a:r>
          </a:p>
        </p:txBody>
      </p:sp>
      <p:cxnSp>
        <p:nvCxnSpPr>
          <p:cNvPr id="98" name="연결선: 꺾임 7">
            <a:extLst>
              <a:ext uri="{FF2B5EF4-FFF2-40B4-BE49-F238E27FC236}">
                <a16:creationId xmlns:a16="http://schemas.microsoft.com/office/drawing/2014/main" id="{89A2D828-4C18-4F90-6B31-722E89773AA8}"/>
              </a:ext>
            </a:extLst>
          </p:cNvPr>
          <p:cNvCxnSpPr>
            <a:cxnSpLocks/>
            <a:stCxn id="97" idx="3"/>
            <a:endCxn id="60" idx="1"/>
          </p:cNvCxnSpPr>
          <p:nvPr/>
        </p:nvCxnSpPr>
        <p:spPr>
          <a:xfrm flipV="1">
            <a:off x="5093499" y="1772964"/>
            <a:ext cx="936544" cy="647472"/>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9" name="사각형: 둥근 모서리 5">
            <a:extLst>
              <a:ext uri="{FF2B5EF4-FFF2-40B4-BE49-F238E27FC236}">
                <a16:creationId xmlns:a16="http://schemas.microsoft.com/office/drawing/2014/main" id="{410E5459-200D-7630-863C-88E5109259DF}"/>
              </a:ext>
            </a:extLst>
          </p:cNvPr>
          <p:cNvSpPr/>
          <p:nvPr/>
        </p:nvSpPr>
        <p:spPr>
          <a:xfrm>
            <a:off x="2366608" y="2276436"/>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마이페이지</a:t>
            </a:r>
            <a:endParaRPr lang="en-US" altLang="ko-KR" sz="800" dirty="0">
              <a:solidFill>
                <a:schemeClr val="tx1"/>
              </a:solidFill>
            </a:endParaRPr>
          </a:p>
          <a:p>
            <a:pPr algn="ctr"/>
            <a:r>
              <a:rPr lang="ko-KR" altLang="en-US" sz="800" dirty="0">
                <a:solidFill>
                  <a:schemeClr val="tx1"/>
                </a:solidFill>
              </a:rPr>
              <a:t>보관함</a:t>
            </a:r>
          </a:p>
        </p:txBody>
      </p:sp>
      <p:cxnSp>
        <p:nvCxnSpPr>
          <p:cNvPr id="100" name="연결선: 꺾임 7">
            <a:extLst>
              <a:ext uri="{FF2B5EF4-FFF2-40B4-BE49-F238E27FC236}">
                <a16:creationId xmlns:a16="http://schemas.microsoft.com/office/drawing/2014/main" id="{89A2D828-4C18-4F90-6B31-722E89773AA8}"/>
              </a:ext>
            </a:extLst>
          </p:cNvPr>
          <p:cNvCxnSpPr>
            <a:cxnSpLocks/>
            <a:stCxn id="52" idx="2"/>
            <a:endCxn id="99" idx="0"/>
          </p:cNvCxnSpPr>
          <p:nvPr/>
        </p:nvCxnSpPr>
        <p:spPr>
          <a:xfrm rot="5400000">
            <a:off x="3550318" y="1183255"/>
            <a:ext cx="359472" cy="182689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직선 화살표 연결선 100">
            <a:extLst>
              <a:ext uri="{FF2B5EF4-FFF2-40B4-BE49-F238E27FC236}">
                <a16:creationId xmlns:a16="http://schemas.microsoft.com/office/drawing/2014/main" id="{9A519F08-B829-E35F-09D8-DFCD1F68B911}"/>
              </a:ext>
            </a:extLst>
          </p:cNvPr>
          <p:cNvCxnSpPr>
            <a:cxnSpLocks/>
            <a:stCxn id="99" idx="3"/>
            <a:endCxn id="97" idx="1"/>
          </p:cNvCxnSpPr>
          <p:nvPr/>
        </p:nvCxnSpPr>
        <p:spPr>
          <a:xfrm>
            <a:off x="3266608" y="2420436"/>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연결선: 꺾임 7">
            <a:extLst>
              <a:ext uri="{FF2B5EF4-FFF2-40B4-BE49-F238E27FC236}">
                <a16:creationId xmlns:a16="http://schemas.microsoft.com/office/drawing/2014/main" id="{89A2D828-4C18-4F90-6B31-722E89773AA8}"/>
              </a:ext>
            </a:extLst>
          </p:cNvPr>
          <p:cNvCxnSpPr>
            <a:cxnSpLocks/>
            <a:stCxn id="9" idx="6"/>
            <a:endCxn id="99" idx="1"/>
          </p:cNvCxnSpPr>
          <p:nvPr/>
        </p:nvCxnSpPr>
        <p:spPr>
          <a:xfrm>
            <a:off x="1435474" y="1772964"/>
            <a:ext cx="931134" cy="647472"/>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4" name="사각형: 둥근 모서리 5">
            <a:extLst>
              <a:ext uri="{FF2B5EF4-FFF2-40B4-BE49-F238E27FC236}">
                <a16:creationId xmlns:a16="http://schemas.microsoft.com/office/drawing/2014/main" id="{410E5459-200D-7630-863C-88E5109259DF}"/>
              </a:ext>
            </a:extLst>
          </p:cNvPr>
          <p:cNvSpPr/>
          <p:nvPr/>
        </p:nvSpPr>
        <p:spPr>
          <a:xfrm>
            <a:off x="4193499" y="485958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입찰서 상세</a:t>
            </a:r>
          </a:p>
        </p:txBody>
      </p:sp>
      <p:cxnSp>
        <p:nvCxnSpPr>
          <p:cNvPr id="105" name="연결선: 꺾임 7">
            <a:extLst>
              <a:ext uri="{FF2B5EF4-FFF2-40B4-BE49-F238E27FC236}">
                <a16:creationId xmlns:a16="http://schemas.microsoft.com/office/drawing/2014/main" id="{89A2D828-4C18-4F90-6B31-722E89773AA8}"/>
              </a:ext>
            </a:extLst>
          </p:cNvPr>
          <p:cNvCxnSpPr>
            <a:cxnSpLocks/>
            <a:stCxn id="77" idx="3"/>
            <a:endCxn id="104" idx="1"/>
          </p:cNvCxnSpPr>
          <p:nvPr/>
        </p:nvCxnSpPr>
        <p:spPr>
          <a:xfrm>
            <a:off x="3266608" y="3067907"/>
            <a:ext cx="926891" cy="193568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6" name="직사각형 105">
            <a:extLst>
              <a:ext uri="{FF2B5EF4-FFF2-40B4-BE49-F238E27FC236}">
                <a16:creationId xmlns:a16="http://schemas.microsoft.com/office/drawing/2014/main" id="{F249990F-1DE5-C694-BDBD-2DE7009D57EA}"/>
              </a:ext>
            </a:extLst>
          </p:cNvPr>
          <p:cNvSpPr/>
          <p:nvPr/>
        </p:nvSpPr>
        <p:spPr>
          <a:xfrm>
            <a:off x="4193499" y="5176062"/>
            <a:ext cx="1346522" cy="6155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탭 </a:t>
            </a:r>
            <a:r>
              <a:rPr lang="en-US" altLang="ko-KR" sz="800" dirty="0">
                <a:solidFill>
                  <a:schemeClr val="tx1"/>
                </a:solidFill>
              </a:rPr>
              <a:t>1 – </a:t>
            </a:r>
            <a:r>
              <a:rPr lang="ko-KR" altLang="en-US" sz="800" dirty="0">
                <a:solidFill>
                  <a:schemeClr val="tx1"/>
                </a:solidFill>
              </a:rPr>
              <a:t>일반정보</a:t>
            </a:r>
            <a:endParaRPr lang="en-US" altLang="ko-KR" sz="800" dirty="0">
              <a:solidFill>
                <a:schemeClr val="tx1"/>
              </a:solidFill>
            </a:endParaRPr>
          </a:p>
          <a:p>
            <a:r>
              <a:rPr lang="ko-KR" altLang="en-US" sz="800" dirty="0">
                <a:solidFill>
                  <a:schemeClr val="tx1"/>
                </a:solidFill>
              </a:rPr>
              <a:t>탭 </a:t>
            </a:r>
            <a:r>
              <a:rPr lang="en-US" altLang="ko-KR" sz="800" dirty="0">
                <a:solidFill>
                  <a:schemeClr val="tx1"/>
                </a:solidFill>
              </a:rPr>
              <a:t>2 – </a:t>
            </a:r>
            <a:r>
              <a:rPr lang="ko-KR" altLang="en-US" sz="800" dirty="0">
                <a:solidFill>
                  <a:schemeClr val="tx1"/>
                </a:solidFill>
              </a:rPr>
              <a:t>업체정보</a:t>
            </a:r>
          </a:p>
          <a:p>
            <a:pPr lvl="0"/>
            <a:r>
              <a:rPr lang="ko-KR" altLang="en-US" sz="800" dirty="0">
                <a:solidFill>
                  <a:schemeClr val="tx1"/>
                </a:solidFill>
              </a:rPr>
              <a:t>탭 </a:t>
            </a:r>
            <a:r>
              <a:rPr lang="en-US" altLang="ko-KR" sz="800" dirty="0">
                <a:solidFill>
                  <a:schemeClr val="tx1"/>
                </a:solidFill>
              </a:rPr>
              <a:t>3 – </a:t>
            </a:r>
            <a:r>
              <a:rPr lang="ko-KR" altLang="en-US" sz="800" dirty="0">
                <a:solidFill>
                  <a:prstClr val="black"/>
                </a:solidFill>
                <a:latin typeface="맑은 고딕" panose="020B0503020000020004" pitchFamily="50" charset="-127"/>
              </a:rPr>
              <a:t>입찰참여품목 </a:t>
            </a:r>
            <a:r>
              <a:rPr lang="en-US" altLang="ko-KR" sz="800" dirty="0">
                <a:solidFill>
                  <a:prstClr val="black"/>
                </a:solidFill>
                <a:latin typeface="맑은 고딕" panose="020B0503020000020004" pitchFamily="50" charset="-127"/>
              </a:rPr>
              <a:t>(</a:t>
            </a:r>
            <a:r>
              <a:rPr lang="ko-KR" altLang="en-US" sz="800" dirty="0" err="1">
                <a:solidFill>
                  <a:prstClr val="black"/>
                </a:solidFill>
                <a:latin typeface="맑은 고딕" panose="020B0503020000020004" pitchFamily="50" charset="-127"/>
              </a:rPr>
              <a:t>단가제</a:t>
            </a:r>
            <a:r>
              <a:rPr lang="en-US" altLang="ko-KR" sz="800" dirty="0">
                <a:solidFill>
                  <a:prstClr val="black"/>
                </a:solidFill>
                <a:latin typeface="맑은 고딕" panose="020B0503020000020004" pitchFamily="50" charset="-127"/>
              </a:rPr>
              <a:t>)</a:t>
            </a:r>
            <a:endParaRPr lang="ko-KR" altLang="en-US" sz="800" dirty="0">
              <a:solidFill>
                <a:schemeClr val="tx1"/>
              </a:solidFill>
            </a:endParaRPr>
          </a:p>
          <a:p>
            <a:r>
              <a:rPr lang="ko-KR" altLang="en-US" sz="800" dirty="0">
                <a:solidFill>
                  <a:schemeClr val="tx1"/>
                </a:solidFill>
                <a:latin typeface="+mn-ea"/>
              </a:rPr>
              <a:t>탭 </a:t>
            </a:r>
            <a:r>
              <a:rPr lang="en-US" altLang="ko-KR" sz="800" dirty="0">
                <a:solidFill>
                  <a:schemeClr val="tx1"/>
                </a:solidFill>
                <a:latin typeface="+mn-ea"/>
              </a:rPr>
              <a:t>3 - </a:t>
            </a:r>
            <a:r>
              <a:rPr lang="ko-KR" altLang="en-US" sz="800" dirty="0">
                <a:solidFill>
                  <a:prstClr val="black"/>
                </a:solidFill>
                <a:latin typeface="맑은 고딕" panose="020B0503020000020004" pitchFamily="50" charset="-127"/>
              </a:rPr>
              <a:t>입찰참여품목 </a:t>
            </a:r>
            <a:r>
              <a:rPr lang="en-US" altLang="ko-KR" sz="800" dirty="0">
                <a:solidFill>
                  <a:prstClr val="black"/>
                </a:solidFill>
                <a:latin typeface="맑은 고딕" panose="020B0503020000020004" pitchFamily="50" charset="-127"/>
              </a:rPr>
              <a:t>(</a:t>
            </a:r>
            <a:r>
              <a:rPr lang="ko-KR" altLang="en-US" sz="800" dirty="0" err="1">
                <a:solidFill>
                  <a:prstClr val="black"/>
                </a:solidFill>
                <a:latin typeface="맑은 고딕" panose="020B0503020000020004" pitchFamily="50" charset="-127"/>
              </a:rPr>
              <a:t>총액제</a:t>
            </a:r>
            <a:r>
              <a:rPr lang="en-US" altLang="ko-KR" sz="800" dirty="0">
                <a:solidFill>
                  <a:prstClr val="black"/>
                </a:solidFill>
                <a:latin typeface="맑은 고딕" panose="020B0503020000020004" pitchFamily="50" charset="-127"/>
              </a:rPr>
              <a:t>)</a:t>
            </a:r>
            <a:endParaRPr lang="en-US" altLang="ko-KR" sz="800" dirty="0">
              <a:solidFill>
                <a:schemeClr val="tx1"/>
              </a:solidFill>
              <a:latin typeface="+mn-ea"/>
            </a:endParaRPr>
          </a:p>
          <a:p>
            <a:r>
              <a:rPr lang="ko-KR" altLang="en-US" sz="800" dirty="0">
                <a:solidFill>
                  <a:schemeClr val="tx1"/>
                </a:solidFill>
                <a:latin typeface="+mn-ea"/>
              </a:rPr>
              <a:t>탭 </a:t>
            </a:r>
            <a:r>
              <a:rPr lang="en-US" altLang="ko-KR" sz="800" dirty="0">
                <a:solidFill>
                  <a:schemeClr val="tx1"/>
                </a:solidFill>
                <a:latin typeface="+mn-ea"/>
              </a:rPr>
              <a:t>4 - </a:t>
            </a:r>
            <a:r>
              <a:rPr lang="ko-KR" altLang="en-US" sz="800" dirty="0">
                <a:solidFill>
                  <a:schemeClr val="tx1"/>
                </a:solidFill>
                <a:latin typeface="+mn-ea"/>
              </a:rPr>
              <a:t>첨부파일</a:t>
            </a:r>
          </a:p>
        </p:txBody>
      </p:sp>
      <p:sp>
        <p:nvSpPr>
          <p:cNvPr id="107" name="사각형: 둥근 모서리 5">
            <a:extLst>
              <a:ext uri="{FF2B5EF4-FFF2-40B4-BE49-F238E27FC236}">
                <a16:creationId xmlns:a16="http://schemas.microsoft.com/office/drawing/2014/main" id="{410E5459-200D-7630-863C-88E5109259DF}"/>
              </a:ext>
            </a:extLst>
          </p:cNvPr>
          <p:cNvSpPr/>
          <p:nvPr/>
        </p:nvSpPr>
        <p:spPr>
          <a:xfrm>
            <a:off x="6030043" y="5505415"/>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prstClr val="black"/>
                </a:solidFill>
                <a:latin typeface="맑은 고딕" panose="020B0503020000020004" pitchFamily="50" charset="-127"/>
              </a:rPr>
              <a:t>입찰취소신청서작성</a:t>
            </a:r>
            <a:endParaRPr lang="ko-KR" altLang="en-US" sz="800" dirty="0">
              <a:solidFill>
                <a:schemeClr val="tx1"/>
              </a:solidFill>
            </a:endParaRPr>
          </a:p>
        </p:txBody>
      </p:sp>
      <p:sp>
        <p:nvSpPr>
          <p:cNvPr id="108" name="사각형: 둥근 모서리 5">
            <a:extLst>
              <a:ext uri="{FF2B5EF4-FFF2-40B4-BE49-F238E27FC236}">
                <a16:creationId xmlns:a16="http://schemas.microsoft.com/office/drawing/2014/main" id="{410E5459-200D-7630-863C-88E5109259DF}"/>
              </a:ext>
            </a:extLst>
          </p:cNvPr>
          <p:cNvSpPr/>
          <p:nvPr/>
        </p:nvSpPr>
        <p:spPr>
          <a:xfrm>
            <a:off x="6030043" y="6151242"/>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rgbClr val="000000"/>
                </a:solidFill>
                <a:latin typeface="+mn-ea"/>
              </a:rPr>
              <a:t>기술평가결과</a:t>
            </a:r>
            <a:endParaRPr lang="en-US" altLang="ko-KR" sz="800" dirty="0">
              <a:solidFill>
                <a:srgbClr val="000000"/>
              </a:solidFill>
              <a:latin typeface="+mn-ea"/>
            </a:endParaRPr>
          </a:p>
          <a:p>
            <a:pPr algn="ctr"/>
            <a:r>
              <a:rPr lang="ko-KR" altLang="en-US" sz="800" dirty="0">
                <a:solidFill>
                  <a:srgbClr val="000000"/>
                </a:solidFill>
                <a:latin typeface="+mn-ea"/>
              </a:rPr>
              <a:t>조회</a:t>
            </a:r>
            <a:endParaRPr lang="ko-KR" altLang="en-US" sz="800" dirty="0">
              <a:solidFill>
                <a:schemeClr val="tx1"/>
              </a:solidFill>
            </a:endParaRPr>
          </a:p>
        </p:txBody>
      </p:sp>
      <p:cxnSp>
        <p:nvCxnSpPr>
          <p:cNvPr id="109" name="연결선: 꺾임 7">
            <a:extLst>
              <a:ext uri="{FF2B5EF4-FFF2-40B4-BE49-F238E27FC236}">
                <a16:creationId xmlns:a16="http://schemas.microsoft.com/office/drawing/2014/main" id="{89A2D828-4C18-4F90-6B31-722E89773AA8}"/>
              </a:ext>
            </a:extLst>
          </p:cNvPr>
          <p:cNvCxnSpPr>
            <a:cxnSpLocks/>
            <a:stCxn id="93" idx="3"/>
            <a:endCxn id="80" idx="2"/>
          </p:cNvCxnSpPr>
          <p:nvPr/>
        </p:nvCxnSpPr>
        <p:spPr>
          <a:xfrm>
            <a:off x="6930043" y="3067907"/>
            <a:ext cx="67780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직선 화살표 연결선 109">
            <a:extLst>
              <a:ext uri="{FF2B5EF4-FFF2-40B4-BE49-F238E27FC236}">
                <a16:creationId xmlns:a16="http://schemas.microsoft.com/office/drawing/2014/main" id="{9A519F08-B829-E35F-09D8-DFCD1F68B911}"/>
              </a:ext>
            </a:extLst>
          </p:cNvPr>
          <p:cNvCxnSpPr>
            <a:cxnSpLocks/>
            <a:stCxn id="22" idx="3"/>
            <a:endCxn id="80" idx="2"/>
          </p:cNvCxnSpPr>
          <p:nvPr/>
        </p:nvCxnSpPr>
        <p:spPr>
          <a:xfrm>
            <a:off x="6930043" y="3713734"/>
            <a:ext cx="67780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2" name="연결선: 꺾임 7">
            <a:extLst>
              <a:ext uri="{FF2B5EF4-FFF2-40B4-BE49-F238E27FC236}">
                <a16:creationId xmlns:a16="http://schemas.microsoft.com/office/drawing/2014/main" id="{89A2D828-4C18-4F90-6B31-722E89773AA8}"/>
              </a:ext>
            </a:extLst>
          </p:cNvPr>
          <p:cNvCxnSpPr>
            <a:cxnSpLocks/>
            <a:stCxn id="40" idx="3"/>
            <a:endCxn id="80" idx="2"/>
          </p:cNvCxnSpPr>
          <p:nvPr/>
        </p:nvCxnSpPr>
        <p:spPr>
          <a:xfrm flipV="1">
            <a:off x="6930043" y="3713734"/>
            <a:ext cx="677804" cy="128985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연결선: 꺾임 7">
            <a:extLst>
              <a:ext uri="{FF2B5EF4-FFF2-40B4-BE49-F238E27FC236}">
                <a16:creationId xmlns:a16="http://schemas.microsoft.com/office/drawing/2014/main" id="{89A2D828-4C18-4F90-6B31-722E89773AA8}"/>
              </a:ext>
            </a:extLst>
          </p:cNvPr>
          <p:cNvCxnSpPr>
            <a:cxnSpLocks/>
            <a:stCxn id="107" idx="3"/>
            <a:endCxn id="80" idx="2"/>
          </p:cNvCxnSpPr>
          <p:nvPr/>
        </p:nvCxnSpPr>
        <p:spPr>
          <a:xfrm flipV="1">
            <a:off x="6930043" y="3713734"/>
            <a:ext cx="677804" cy="1935681"/>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연결선: 꺾임 7">
            <a:extLst>
              <a:ext uri="{FF2B5EF4-FFF2-40B4-BE49-F238E27FC236}">
                <a16:creationId xmlns:a16="http://schemas.microsoft.com/office/drawing/2014/main" id="{89A2D828-4C18-4F90-6B31-722E89773AA8}"/>
              </a:ext>
            </a:extLst>
          </p:cNvPr>
          <p:cNvCxnSpPr>
            <a:cxnSpLocks/>
            <a:stCxn id="108" idx="3"/>
            <a:endCxn id="80" idx="2"/>
          </p:cNvCxnSpPr>
          <p:nvPr/>
        </p:nvCxnSpPr>
        <p:spPr>
          <a:xfrm flipV="1">
            <a:off x="6930043" y="3713734"/>
            <a:ext cx="677804" cy="2581508"/>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연결선: 꺾임 7">
            <a:extLst>
              <a:ext uri="{FF2B5EF4-FFF2-40B4-BE49-F238E27FC236}">
                <a16:creationId xmlns:a16="http://schemas.microsoft.com/office/drawing/2014/main" id="{89A2D828-4C18-4F90-6B31-722E89773AA8}"/>
              </a:ext>
            </a:extLst>
          </p:cNvPr>
          <p:cNvCxnSpPr>
            <a:cxnSpLocks/>
            <a:stCxn id="53" idx="3"/>
            <a:endCxn id="22" idx="1"/>
          </p:cNvCxnSpPr>
          <p:nvPr/>
        </p:nvCxnSpPr>
        <p:spPr>
          <a:xfrm>
            <a:off x="5093499" y="3067907"/>
            <a:ext cx="93654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직선 화살표 연결선 123">
            <a:extLst>
              <a:ext uri="{FF2B5EF4-FFF2-40B4-BE49-F238E27FC236}">
                <a16:creationId xmlns:a16="http://schemas.microsoft.com/office/drawing/2014/main" id="{9A519F08-B829-E35F-09D8-DFCD1F68B911}"/>
              </a:ext>
            </a:extLst>
          </p:cNvPr>
          <p:cNvCxnSpPr>
            <a:cxnSpLocks/>
            <a:stCxn id="104" idx="3"/>
            <a:endCxn id="40" idx="1"/>
          </p:cNvCxnSpPr>
          <p:nvPr/>
        </p:nvCxnSpPr>
        <p:spPr>
          <a:xfrm>
            <a:off x="5093499" y="5003588"/>
            <a:ext cx="93654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5" name="연결선: 꺾임 7">
            <a:extLst>
              <a:ext uri="{FF2B5EF4-FFF2-40B4-BE49-F238E27FC236}">
                <a16:creationId xmlns:a16="http://schemas.microsoft.com/office/drawing/2014/main" id="{89A2D828-4C18-4F90-6B31-722E89773AA8}"/>
              </a:ext>
            </a:extLst>
          </p:cNvPr>
          <p:cNvCxnSpPr>
            <a:cxnSpLocks/>
            <a:stCxn id="104" idx="3"/>
            <a:endCxn id="107" idx="1"/>
          </p:cNvCxnSpPr>
          <p:nvPr/>
        </p:nvCxnSpPr>
        <p:spPr>
          <a:xfrm>
            <a:off x="5093499" y="5003588"/>
            <a:ext cx="93654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2" name="사각형: 둥근 모서리 5">
            <a:extLst>
              <a:ext uri="{FF2B5EF4-FFF2-40B4-BE49-F238E27FC236}">
                <a16:creationId xmlns:a16="http://schemas.microsoft.com/office/drawing/2014/main" id="{410E5459-200D-7630-863C-88E5109259DF}"/>
              </a:ext>
            </a:extLst>
          </p:cNvPr>
          <p:cNvSpPr/>
          <p:nvPr/>
        </p:nvSpPr>
        <p:spPr>
          <a:xfrm>
            <a:off x="6030043" y="421556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prstClr val="black"/>
                </a:solidFill>
                <a:latin typeface="맑은 고딕" panose="020B0503020000020004" pitchFamily="50" charset="-127"/>
              </a:rPr>
              <a:t>사업별입찰등록결과조회</a:t>
            </a:r>
            <a:endParaRPr lang="ko-KR" altLang="en-US" sz="800" dirty="0">
              <a:solidFill>
                <a:schemeClr val="tx1"/>
              </a:solidFill>
            </a:endParaRPr>
          </a:p>
        </p:txBody>
      </p:sp>
      <p:cxnSp>
        <p:nvCxnSpPr>
          <p:cNvPr id="143" name="연결선: 꺾임 7">
            <a:extLst>
              <a:ext uri="{FF2B5EF4-FFF2-40B4-BE49-F238E27FC236}">
                <a16:creationId xmlns:a16="http://schemas.microsoft.com/office/drawing/2014/main" id="{89A2D828-4C18-4F90-6B31-722E89773AA8}"/>
              </a:ext>
            </a:extLst>
          </p:cNvPr>
          <p:cNvCxnSpPr>
            <a:cxnSpLocks/>
            <a:stCxn id="53" idx="3"/>
            <a:endCxn id="132" idx="1"/>
          </p:cNvCxnSpPr>
          <p:nvPr/>
        </p:nvCxnSpPr>
        <p:spPr>
          <a:xfrm>
            <a:off x="5093499" y="3067907"/>
            <a:ext cx="936544" cy="129165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연결선: 꺾임 7">
            <a:extLst>
              <a:ext uri="{FF2B5EF4-FFF2-40B4-BE49-F238E27FC236}">
                <a16:creationId xmlns:a16="http://schemas.microsoft.com/office/drawing/2014/main" id="{89A2D828-4C18-4F90-6B31-722E89773AA8}"/>
              </a:ext>
            </a:extLst>
          </p:cNvPr>
          <p:cNvCxnSpPr>
            <a:cxnSpLocks/>
            <a:stCxn id="104" idx="3"/>
            <a:endCxn id="108" idx="1"/>
          </p:cNvCxnSpPr>
          <p:nvPr/>
        </p:nvCxnSpPr>
        <p:spPr>
          <a:xfrm>
            <a:off x="5093499" y="5003588"/>
            <a:ext cx="936544" cy="129165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5854788"/>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327</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8.3 </a:t>
            </a:r>
            <a:r>
              <a:rPr lang="ko-KR" altLang="en-US" dirty="0"/>
              <a:t>앱 구성 다이어그램</a:t>
            </a: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err="1"/>
              <a:t>입찰진행</a:t>
            </a:r>
            <a:r>
              <a:rPr lang="en-US" altLang="ko-KR" sz="1100" dirty="0"/>
              <a:t>Controller&gt;&gt;</a:t>
            </a:r>
          </a:p>
          <a:p>
            <a:pPr algn="ctr"/>
            <a:r>
              <a:rPr lang="en-US" altLang="ko-KR" sz="1100" kern="0" dirty="0" err="1">
                <a:solidFill>
                  <a:srgbClr val="000000"/>
                </a:solidFill>
                <a:latin typeface="+mn-ea"/>
              </a:rPr>
              <a:t>BidPrgrsController</a:t>
            </a:r>
            <a:endParaRPr lang="en-US" altLang="ko-KR" sz="1100" kern="0" dirty="0">
              <a:solidFill>
                <a:srgbClr val="000000"/>
              </a:solidFill>
              <a:latin typeface="+mn-ea"/>
            </a:endParaRPr>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765244" y="2056994"/>
            <a:ext cx="1194847" cy="933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765244" y="2562247"/>
            <a:ext cx="1194847" cy="42792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765244" y="2990174"/>
            <a:ext cx="1194847" cy="773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직사각형 5">
            <a:extLst>
              <a:ext uri="{FF2B5EF4-FFF2-40B4-BE49-F238E27FC236}">
                <a16:creationId xmlns:a16="http://schemas.microsoft.com/office/drawing/2014/main" id="{3FD7B626-4B5C-AE29-EFB9-628750B32B78}"/>
              </a:ext>
            </a:extLst>
          </p:cNvPr>
          <p:cNvSpPr/>
          <p:nvPr/>
        </p:nvSpPr>
        <p:spPr>
          <a:xfrm>
            <a:off x="1038044" y="1850693"/>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입찰참가신청서작성</a:t>
            </a:r>
            <a:r>
              <a:rPr lang="en-US" altLang="ko-KR" sz="1050" dirty="0">
                <a:solidFill>
                  <a:schemeClr val="tx1"/>
                </a:solidFill>
                <a:latin typeface="+mn-ea"/>
              </a:rPr>
              <a:t>-</a:t>
            </a:r>
            <a:r>
              <a:rPr lang="ko-KR" altLang="en-US" sz="1050" dirty="0" err="1">
                <a:solidFill>
                  <a:schemeClr val="tx1"/>
                </a:solidFill>
                <a:latin typeface="+mn-ea"/>
              </a:rPr>
              <a:t>서약서동의</a:t>
            </a:r>
            <a:r>
              <a:rPr lang="ko-KR" altLang="en-US" sz="1050" dirty="0">
                <a:solidFill>
                  <a:schemeClr val="tx1"/>
                </a:solidFill>
                <a:latin typeface="+mn-ea"/>
              </a:rPr>
              <a:t> 목록</a:t>
            </a:r>
            <a:endParaRPr lang="en-US" altLang="ko-KR" sz="1050" dirty="0">
              <a:solidFill>
                <a:schemeClr val="tx1"/>
              </a:solidFill>
            </a:endParaRPr>
          </a:p>
          <a:p>
            <a:pPr algn="ctr">
              <a:lnSpc>
                <a:spcPct val="120000"/>
              </a:lnSpc>
            </a:pPr>
            <a:r>
              <a:rPr lang="en-US" altLang="ko-KR" sz="1050" dirty="0">
                <a:solidFill>
                  <a:schemeClr val="tx1"/>
                </a:solidFill>
              </a:rPr>
              <a:t>OvsBidPrtcpAplyPage.tsx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038044" y="235594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입찰참가신청서작성</a:t>
            </a:r>
            <a:r>
              <a:rPr lang="en-US" altLang="ko-KR" sz="1050" dirty="0">
                <a:solidFill>
                  <a:schemeClr val="tx1"/>
                </a:solidFill>
                <a:latin typeface="+mn-ea"/>
              </a:rPr>
              <a:t>-</a:t>
            </a:r>
            <a:r>
              <a:rPr lang="ko-KR" altLang="en-US" sz="1050" dirty="0">
                <a:solidFill>
                  <a:schemeClr val="tx1"/>
                </a:solidFill>
                <a:latin typeface="+mn-ea"/>
              </a:rPr>
              <a:t>서약서 상세</a:t>
            </a:r>
            <a:endParaRPr lang="en-US" altLang="ko-KR" sz="1050" dirty="0">
              <a:solidFill>
                <a:schemeClr val="tx1"/>
              </a:solidFill>
            </a:endParaRPr>
          </a:p>
          <a:p>
            <a:pPr algn="ctr">
              <a:lnSpc>
                <a:spcPct val="120000"/>
              </a:lnSpc>
            </a:pPr>
            <a:r>
              <a:rPr lang="en-US" altLang="ko-KR" sz="1050" dirty="0">
                <a:solidFill>
                  <a:schemeClr val="tx1"/>
                </a:solidFill>
              </a:rPr>
              <a:t>OvsProbWrotAgre.tsx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038044" y="2861199"/>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입찰참가신청서작성</a:t>
            </a:r>
            <a:r>
              <a:rPr lang="en-US" altLang="ko-KR" sz="1050" dirty="0">
                <a:solidFill>
                  <a:schemeClr val="tx1"/>
                </a:solidFill>
                <a:latin typeface="+mn-ea"/>
              </a:rPr>
              <a:t>-</a:t>
            </a:r>
            <a:r>
              <a:rPr lang="ko-KR" altLang="en-US"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1 -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rPr>
              <a:t>Stp1.tsx</a:t>
            </a:r>
            <a:r>
              <a:rPr lang="en-US" altLang="ko-KR" sz="1050" b="1" baseline="30000" dirty="0">
                <a:solidFill>
                  <a:schemeClr val="tx1"/>
                </a:solidFill>
                <a:latin typeface="+mn-ea"/>
              </a:rPr>
              <a:t>1)</a:t>
            </a:r>
            <a:endParaRPr lang="en-US" altLang="ko-KR" sz="1050" dirty="0">
              <a:solidFill>
                <a:schemeClr val="tx1"/>
              </a:solidFill>
            </a:endParaRPr>
          </a:p>
        </p:txBody>
      </p:sp>
      <p:sp>
        <p:nvSpPr>
          <p:cNvPr id="24" name="직사각형 23">
            <a:extLst>
              <a:ext uri="{FF2B5EF4-FFF2-40B4-BE49-F238E27FC236}">
                <a16:creationId xmlns:a16="http://schemas.microsoft.com/office/drawing/2014/main" id="{326CB017-8967-4DC4-0EAD-ADB3B9EAB841}"/>
              </a:ext>
            </a:extLst>
          </p:cNvPr>
          <p:cNvSpPr/>
          <p:nvPr/>
        </p:nvSpPr>
        <p:spPr>
          <a:xfrm>
            <a:off x="1038044" y="3366452"/>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입찰참가신청서작성</a:t>
            </a:r>
            <a:r>
              <a:rPr lang="en-US" altLang="ko-KR" sz="1050" dirty="0">
                <a:solidFill>
                  <a:schemeClr val="tx1"/>
                </a:solidFill>
                <a:latin typeface="+mn-ea"/>
              </a:rPr>
              <a:t>-</a:t>
            </a:r>
            <a:r>
              <a:rPr lang="ko-KR" altLang="en-US"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2 - </a:t>
            </a:r>
            <a:r>
              <a:rPr lang="ko-KR" altLang="en-US" sz="1050" dirty="0">
                <a:solidFill>
                  <a:schemeClr val="tx1"/>
                </a:solidFill>
                <a:latin typeface="+mn-ea"/>
              </a:rPr>
              <a:t>업체정보</a:t>
            </a:r>
            <a:endParaRPr lang="en-US" altLang="ko-KR" sz="1050" dirty="0">
              <a:solidFill>
                <a:schemeClr val="tx1"/>
              </a:solidFill>
            </a:endParaRPr>
          </a:p>
          <a:p>
            <a:pPr algn="ctr">
              <a:lnSpc>
                <a:spcPct val="120000"/>
              </a:lnSpc>
            </a:pPr>
            <a:r>
              <a:rPr lang="en-US" altLang="ko-KR" sz="1050" dirty="0">
                <a:solidFill>
                  <a:schemeClr val="tx1"/>
                </a:solidFill>
              </a:rPr>
              <a:t>Stp2.tsx</a:t>
            </a:r>
            <a:r>
              <a:rPr lang="en-US" altLang="ko-KR" sz="1050" b="1" baseline="30000" dirty="0">
                <a:solidFill>
                  <a:schemeClr val="tx1"/>
                </a:solidFill>
                <a:latin typeface="+mn-ea"/>
              </a:rPr>
              <a:t>1)</a:t>
            </a:r>
            <a:endParaRPr lang="en-US" altLang="ko-KR" sz="1050" dirty="0">
              <a:solidFill>
                <a:schemeClr val="tx1"/>
              </a:solidFill>
            </a:endParaRPr>
          </a:p>
        </p:txBody>
      </p:sp>
      <p:sp>
        <p:nvSpPr>
          <p:cNvPr id="27" name="직사각형 26">
            <a:extLst>
              <a:ext uri="{FF2B5EF4-FFF2-40B4-BE49-F238E27FC236}">
                <a16:creationId xmlns:a16="http://schemas.microsoft.com/office/drawing/2014/main" id="{326CB017-8967-4DC4-0EAD-ADB3B9EAB841}"/>
              </a:ext>
            </a:extLst>
          </p:cNvPr>
          <p:cNvSpPr/>
          <p:nvPr/>
        </p:nvSpPr>
        <p:spPr>
          <a:xfrm>
            <a:off x="1038044" y="3871705"/>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입찰참가신청서작성</a:t>
            </a:r>
            <a:r>
              <a:rPr lang="en-US" altLang="ko-KR" sz="1050" dirty="0">
                <a:solidFill>
                  <a:schemeClr val="tx1"/>
                </a:solidFill>
                <a:latin typeface="+mn-ea"/>
              </a:rPr>
              <a:t>-</a:t>
            </a:r>
            <a:r>
              <a:rPr lang="ko-KR" altLang="en-US"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3 - </a:t>
            </a:r>
            <a:r>
              <a:rPr lang="ko-KR" altLang="en-US" sz="1050" dirty="0">
                <a:solidFill>
                  <a:schemeClr val="tx1"/>
                </a:solidFill>
                <a:latin typeface="+mn-ea"/>
              </a:rPr>
              <a:t>입찰 보증금</a:t>
            </a:r>
            <a:endParaRPr lang="en-US" altLang="ko-KR" sz="1050" dirty="0">
              <a:solidFill>
                <a:schemeClr val="tx1"/>
              </a:solidFill>
            </a:endParaRPr>
          </a:p>
          <a:p>
            <a:pPr algn="ctr">
              <a:lnSpc>
                <a:spcPct val="120000"/>
              </a:lnSpc>
            </a:pPr>
            <a:r>
              <a:rPr lang="en-US" altLang="ko-KR" sz="1050" dirty="0">
                <a:solidFill>
                  <a:schemeClr val="tx1"/>
                </a:solidFill>
              </a:rPr>
              <a:t>Stp3.tsx</a:t>
            </a:r>
            <a:r>
              <a:rPr lang="en-US" altLang="ko-KR" sz="1050" b="1" baseline="30000" dirty="0">
                <a:solidFill>
                  <a:schemeClr val="tx1"/>
                </a:solidFill>
                <a:latin typeface="+mn-ea"/>
              </a:rPr>
              <a:t>1)</a:t>
            </a:r>
            <a:endParaRPr lang="en-US" altLang="ko-KR" sz="1050" dirty="0">
              <a:solidFill>
                <a:schemeClr val="tx1"/>
              </a:solidFill>
            </a:endParaRPr>
          </a:p>
        </p:txBody>
      </p:sp>
      <p:sp>
        <p:nvSpPr>
          <p:cNvPr id="28" name="직사각형 27">
            <a:extLst>
              <a:ext uri="{FF2B5EF4-FFF2-40B4-BE49-F238E27FC236}">
                <a16:creationId xmlns:a16="http://schemas.microsoft.com/office/drawing/2014/main" id="{326CB017-8967-4DC4-0EAD-ADB3B9EAB841}"/>
              </a:ext>
            </a:extLst>
          </p:cNvPr>
          <p:cNvSpPr/>
          <p:nvPr/>
        </p:nvSpPr>
        <p:spPr>
          <a:xfrm>
            <a:off x="1038044" y="4376958"/>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입찰참가신청서작성</a:t>
            </a:r>
            <a:r>
              <a:rPr lang="en-US" altLang="ko-KR" sz="1050" dirty="0">
                <a:solidFill>
                  <a:schemeClr val="tx1"/>
                </a:solidFill>
                <a:latin typeface="+mn-ea"/>
              </a:rPr>
              <a:t>-</a:t>
            </a:r>
            <a:r>
              <a:rPr lang="ko-KR" altLang="en-US"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4 - </a:t>
            </a:r>
            <a:r>
              <a:rPr lang="ko-KR" altLang="en-US" sz="1050" dirty="0">
                <a:solidFill>
                  <a:schemeClr val="tx1"/>
                </a:solidFill>
                <a:latin typeface="+mn-ea"/>
              </a:rPr>
              <a:t>첨부파일</a:t>
            </a:r>
            <a:endParaRPr lang="en-US" altLang="ko-KR" sz="1050" dirty="0">
              <a:solidFill>
                <a:schemeClr val="tx1"/>
              </a:solidFill>
            </a:endParaRPr>
          </a:p>
          <a:p>
            <a:pPr algn="ctr">
              <a:lnSpc>
                <a:spcPct val="120000"/>
              </a:lnSpc>
            </a:pPr>
            <a:r>
              <a:rPr lang="en-US" altLang="ko-KR" sz="1050" dirty="0">
                <a:solidFill>
                  <a:schemeClr val="tx1"/>
                </a:solidFill>
                <a:latin typeface="Calibri" panose="020F0502020204030204" pitchFamily="34" charset="0"/>
              </a:rPr>
              <a:t>AtchDocReg</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9" name="직사각형 28">
            <a:extLst>
              <a:ext uri="{FF2B5EF4-FFF2-40B4-BE49-F238E27FC236}">
                <a16:creationId xmlns:a16="http://schemas.microsoft.com/office/drawing/2014/main" id="{326CB017-8967-4DC4-0EAD-ADB3B9EAB841}"/>
              </a:ext>
            </a:extLst>
          </p:cNvPr>
          <p:cNvSpPr/>
          <p:nvPr/>
        </p:nvSpPr>
        <p:spPr>
          <a:xfrm>
            <a:off x="1038044" y="4882211"/>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입찰보증서선택</a:t>
            </a:r>
            <a:endParaRPr lang="en-US" altLang="ko-KR" sz="1050" dirty="0">
              <a:solidFill>
                <a:schemeClr val="tx1"/>
              </a:solidFill>
            </a:endParaRPr>
          </a:p>
          <a:p>
            <a:pPr algn="ctr">
              <a:lnSpc>
                <a:spcPct val="120000"/>
              </a:lnSpc>
            </a:pPr>
            <a:r>
              <a:rPr lang="en-US" altLang="ko-KR" sz="1050" dirty="0">
                <a:solidFill>
                  <a:schemeClr val="tx1"/>
                </a:solidFill>
              </a:rPr>
              <a:t>OvsBidWtgrInq.tsx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0" name="직선 화살표 연결선 29">
            <a:extLst>
              <a:ext uri="{FF2B5EF4-FFF2-40B4-BE49-F238E27FC236}">
                <a16:creationId xmlns:a16="http://schemas.microsoft.com/office/drawing/2014/main" id="{418E1257-E5C2-5705-1378-45505004ABAF}"/>
              </a:ext>
            </a:extLst>
          </p:cNvPr>
          <p:cNvCxnSpPr>
            <a:cxnSpLocks/>
            <a:stCxn id="24" idx="3"/>
            <a:endCxn id="9" idx="1"/>
          </p:cNvCxnSpPr>
          <p:nvPr/>
        </p:nvCxnSpPr>
        <p:spPr>
          <a:xfrm flipV="1">
            <a:off x="2765244" y="2990174"/>
            <a:ext cx="1194847" cy="5825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418E1257-E5C2-5705-1378-45505004ABAF}"/>
              </a:ext>
            </a:extLst>
          </p:cNvPr>
          <p:cNvCxnSpPr>
            <a:cxnSpLocks/>
            <a:stCxn id="27" idx="3"/>
            <a:endCxn id="9" idx="1"/>
          </p:cNvCxnSpPr>
          <p:nvPr/>
        </p:nvCxnSpPr>
        <p:spPr>
          <a:xfrm flipV="1">
            <a:off x="2765244" y="2990174"/>
            <a:ext cx="1194847" cy="10878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418E1257-E5C2-5705-1378-45505004ABAF}"/>
              </a:ext>
            </a:extLst>
          </p:cNvPr>
          <p:cNvCxnSpPr>
            <a:cxnSpLocks/>
            <a:stCxn id="28" idx="3"/>
            <a:endCxn id="9" idx="1"/>
          </p:cNvCxnSpPr>
          <p:nvPr/>
        </p:nvCxnSpPr>
        <p:spPr>
          <a:xfrm flipV="1">
            <a:off x="2765244" y="2990174"/>
            <a:ext cx="1194847" cy="159308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 name="직선 화살표 연결선 36">
            <a:extLst>
              <a:ext uri="{FF2B5EF4-FFF2-40B4-BE49-F238E27FC236}">
                <a16:creationId xmlns:a16="http://schemas.microsoft.com/office/drawing/2014/main" id="{418E1257-E5C2-5705-1378-45505004ABAF}"/>
              </a:ext>
            </a:extLst>
          </p:cNvPr>
          <p:cNvCxnSpPr>
            <a:cxnSpLocks/>
            <a:stCxn id="29" idx="3"/>
            <a:endCxn id="9" idx="1"/>
          </p:cNvCxnSpPr>
          <p:nvPr/>
        </p:nvCxnSpPr>
        <p:spPr>
          <a:xfrm flipV="1">
            <a:off x="2765244" y="2990174"/>
            <a:ext cx="1194847" cy="209833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3" name="직사각형 32">
            <a:extLst>
              <a:ext uri="{FF2B5EF4-FFF2-40B4-BE49-F238E27FC236}">
                <a16:creationId xmlns:a16="http://schemas.microsoft.com/office/drawing/2014/main" id="{326CB017-8967-4DC4-0EAD-ADB3B9EAB841}"/>
              </a:ext>
            </a:extLst>
          </p:cNvPr>
          <p:cNvSpPr/>
          <p:nvPr/>
        </p:nvSpPr>
        <p:spPr>
          <a:xfrm>
            <a:off x="1038044" y="5387467"/>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보증서정보조회</a:t>
            </a:r>
            <a:endParaRPr lang="en-US" altLang="ko-KR" sz="1050" dirty="0">
              <a:solidFill>
                <a:schemeClr val="tx1"/>
              </a:solidFill>
            </a:endParaRPr>
          </a:p>
          <a:p>
            <a:pPr algn="ctr">
              <a:lnSpc>
                <a:spcPct val="120000"/>
              </a:lnSpc>
            </a:pPr>
            <a:r>
              <a:rPr lang="en-US" altLang="ko-KR" sz="1050" dirty="0">
                <a:solidFill>
                  <a:schemeClr val="tx1"/>
                </a:solidFill>
              </a:rPr>
              <a:t>OvsBidWtgrDtl.tsx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5" name="직선 화살표 연결선 34">
            <a:extLst>
              <a:ext uri="{FF2B5EF4-FFF2-40B4-BE49-F238E27FC236}">
                <a16:creationId xmlns:a16="http://schemas.microsoft.com/office/drawing/2014/main" id="{418E1257-E5C2-5705-1378-45505004ABAF}"/>
              </a:ext>
            </a:extLst>
          </p:cNvPr>
          <p:cNvCxnSpPr>
            <a:cxnSpLocks/>
            <a:stCxn id="33" idx="3"/>
            <a:endCxn id="9" idx="1"/>
          </p:cNvCxnSpPr>
          <p:nvPr/>
        </p:nvCxnSpPr>
        <p:spPr>
          <a:xfrm flipV="1">
            <a:off x="2765244" y="2990174"/>
            <a:ext cx="1194847" cy="26035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2" name="직선 화살표 연결선 41">
            <a:extLst>
              <a:ext uri="{FF2B5EF4-FFF2-40B4-BE49-F238E27FC236}">
                <a16:creationId xmlns:a16="http://schemas.microsoft.com/office/drawing/2014/main" id="{418E1257-E5C2-5705-1378-45505004ABAF}"/>
              </a:ext>
            </a:extLst>
          </p:cNvPr>
          <p:cNvCxnSpPr>
            <a:cxnSpLocks/>
            <a:stCxn id="66" idx="0"/>
            <a:endCxn id="9" idx="2"/>
          </p:cNvCxnSpPr>
          <p:nvPr/>
        </p:nvCxnSpPr>
        <p:spPr>
          <a:xfrm flipV="1">
            <a:off x="3642541" y="3810190"/>
            <a:ext cx="1181150" cy="20825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3" name="직선 화살표 연결선 42">
            <a:extLst>
              <a:ext uri="{FF2B5EF4-FFF2-40B4-BE49-F238E27FC236}">
                <a16:creationId xmlns:a16="http://schemas.microsoft.com/office/drawing/2014/main" id="{418E1257-E5C2-5705-1378-45505004ABAF}"/>
              </a:ext>
            </a:extLst>
          </p:cNvPr>
          <p:cNvCxnSpPr>
            <a:cxnSpLocks/>
            <a:stCxn id="67" idx="0"/>
            <a:endCxn id="9" idx="2"/>
          </p:cNvCxnSpPr>
          <p:nvPr/>
        </p:nvCxnSpPr>
        <p:spPr>
          <a:xfrm flipH="1" flipV="1">
            <a:off x="4823691" y="3810190"/>
            <a:ext cx="416808" cy="20825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직사각형 43">
            <a:extLst>
              <a:ext uri="{FF2B5EF4-FFF2-40B4-BE49-F238E27FC236}">
                <a16:creationId xmlns:a16="http://schemas.microsoft.com/office/drawing/2014/main" id="{DCD2B03C-59E6-A2C5-6CA3-6C41E384FAEA}"/>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8.3.1 </a:t>
            </a:r>
            <a:r>
              <a:rPr lang="ko-KR" altLang="en-US" sz="1200" dirty="0">
                <a:solidFill>
                  <a:schemeClr val="tx1"/>
                </a:solidFill>
              </a:rPr>
              <a:t>국외 </a:t>
            </a:r>
            <a:r>
              <a:rPr lang="ko-KR" altLang="en-US" sz="1200" dirty="0" err="1">
                <a:solidFill>
                  <a:schemeClr val="tx1"/>
                </a:solidFill>
              </a:rPr>
              <a:t>입찰진행</a:t>
            </a:r>
            <a:r>
              <a:rPr lang="ko-KR" altLang="en-US" sz="1200" dirty="0">
                <a:solidFill>
                  <a:schemeClr val="tx1"/>
                </a:solidFill>
              </a:rPr>
              <a:t> </a:t>
            </a:r>
            <a:r>
              <a:rPr lang="en-US" altLang="ko-KR" sz="1200" dirty="0">
                <a:solidFill>
                  <a:schemeClr val="tx1"/>
                </a:solidFill>
              </a:rPr>
              <a:t>(1/2)</a:t>
            </a:r>
            <a:endParaRPr lang="ko-KR" altLang="en-US" sz="1200" dirty="0">
              <a:solidFill>
                <a:schemeClr val="tx1"/>
              </a:solidFill>
            </a:endParaRPr>
          </a:p>
        </p:txBody>
      </p:sp>
      <p:sp>
        <p:nvSpPr>
          <p:cNvPr id="61" name="직사각형 60">
            <a:extLst>
              <a:ext uri="{FF2B5EF4-FFF2-40B4-BE49-F238E27FC236}">
                <a16:creationId xmlns:a16="http://schemas.microsoft.com/office/drawing/2014/main" id="{326CB017-8967-4DC4-0EAD-ADB3B9EAB841}"/>
              </a:ext>
            </a:extLst>
          </p:cNvPr>
          <p:cNvSpPr/>
          <p:nvPr/>
        </p:nvSpPr>
        <p:spPr>
          <a:xfrm>
            <a:off x="1038044" y="589158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 상세 </a:t>
            </a:r>
            <a:r>
              <a:rPr lang="en-US" altLang="ko-KR" sz="1050" dirty="0">
                <a:solidFill>
                  <a:schemeClr val="tx1"/>
                </a:solidFill>
                <a:latin typeface="+mn-ea"/>
              </a:rPr>
              <a:t>- </a:t>
            </a:r>
            <a:r>
              <a:rPr lang="ko-KR" altLang="en-US" sz="1050" dirty="0">
                <a:solidFill>
                  <a:schemeClr val="tx1"/>
                </a:solidFill>
                <a:latin typeface="+mn-ea"/>
              </a:rPr>
              <a:t>탭 </a:t>
            </a:r>
            <a:r>
              <a:rPr lang="en-US" altLang="ko-KR" sz="1050" dirty="0">
                <a:solidFill>
                  <a:schemeClr val="tx1"/>
                </a:solidFill>
                <a:latin typeface="+mn-ea"/>
              </a:rPr>
              <a:t>1 -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rPr>
              <a:t>OvsBidPrtcpApfrDtlPage.tsx</a:t>
            </a:r>
            <a:r>
              <a:rPr lang="en-US" altLang="ko-KR" sz="1050" b="1" baseline="30000" dirty="0">
                <a:solidFill>
                  <a:schemeClr val="tx1"/>
                </a:solidFill>
                <a:latin typeface="+mn-ea"/>
              </a:rPr>
              <a:t>1)</a:t>
            </a:r>
            <a:endParaRPr lang="en-US" altLang="ko-KR" sz="1050" dirty="0">
              <a:solidFill>
                <a:schemeClr val="tx1"/>
              </a:solidFill>
            </a:endParaRPr>
          </a:p>
        </p:txBody>
      </p:sp>
      <p:sp>
        <p:nvSpPr>
          <p:cNvPr id="66" name="직사각형 65">
            <a:extLst>
              <a:ext uri="{FF2B5EF4-FFF2-40B4-BE49-F238E27FC236}">
                <a16:creationId xmlns:a16="http://schemas.microsoft.com/office/drawing/2014/main" id="{326CB017-8967-4DC4-0EAD-ADB3B9EAB841}"/>
              </a:ext>
            </a:extLst>
          </p:cNvPr>
          <p:cNvSpPr/>
          <p:nvPr/>
        </p:nvSpPr>
        <p:spPr>
          <a:xfrm>
            <a:off x="2864228" y="5892722"/>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 상세 </a:t>
            </a:r>
            <a:r>
              <a:rPr lang="en-US" altLang="ko-KR" sz="1050" dirty="0">
                <a:solidFill>
                  <a:schemeClr val="tx1"/>
                </a:solidFill>
                <a:latin typeface="+mn-ea"/>
              </a:rPr>
              <a:t>- </a:t>
            </a:r>
            <a:r>
              <a:rPr lang="ko-KR" altLang="en-US" sz="1050" dirty="0">
                <a:solidFill>
                  <a:schemeClr val="tx1"/>
                </a:solidFill>
                <a:latin typeface="+mn-ea"/>
              </a:rPr>
              <a:t>탭 </a:t>
            </a:r>
            <a:r>
              <a:rPr lang="en-US" altLang="ko-KR" sz="1050" dirty="0">
                <a:solidFill>
                  <a:schemeClr val="tx1"/>
                </a:solidFill>
                <a:latin typeface="+mn-ea"/>
              </a:rPr>
              <a:t>4 - </a:t>
            </a:r>
            <a:r>
              <a:rPr lang="ko-KR" altLang="en-US" sz="1050" dirty="0">
                <a:solidFill>
                  <a:schemeClr val="tx1"/>
                </a:solidFill>
                <a:latin typeface="+mn-ea"/>
              </a:rPr>
              <a:t>첨부파일</a:t>
            </a:r>
            <a:endParaRPr lang="en-US" altLang="ko-KR" sz="1050" dirty="0">
              <a:solidFill>
                <a:schemeClr val="tx1"/>
              </a:solidFill>
            </a:endParaRPr>
          </a:p>
          <a:p>
            <a:pPr algn="ctr">
              <a:lnSpc>
                <a:spcPct val="120000"/>
              </a:lnSpc>
            </a:pPr>
            <a:r>
              <a:rPr lang="en-US" altLang="ko-KR" sz="1050" dirty="0">
                <a:solidFill>
                  <a:schemeClr val="tx1"/>
                </a:solidFill>
              </a:rPr>
              <a:t>Tab4.tsx</a:t>
            </a:r>
            <a:r>
              <a:rPr lang="en-US" altLang="ko-KR" sz="1050" b="1" baseline="30000" dirty="0">
                <a:solidFill>
                  <a:schemeClr val="tx1"/>
                </a:solidFill>
                <a:latin typeface="+mn-ea"/>
              </a:rPr>
              <a:t>1)</a:t>
            </a:r>
            <a:endParaRPr lang="en-US" altLang="ko-KR" sz="1050" dirty="0">
              <a:solidFill>
                <a:schemeClr val="tx1"/>
              </a:solidFill>
            </a:endParaRPr>
          </a:p>
        </p:txBody>
      </p:sp>
      <p:sp>
        <p:nvSpPr>
          <p:cNvPr id="67" name="직사각형 66">
            <a:extLst>
              <a:ext uri="{FF2B5EF4-FFF2-40B4-BE49-F238E27FC236}">
                <a16:creationId xmlns:a16="http://schemas.microsoft.com/office/drawing/2014/main" id="{326CB017-8967-4DC4-0EAD-ADB3B9EAB841}"/>
              </a:ext>
            </a:extLst>
          </p:cNvPr>
          <p:cNvSpPr/>
          <p:nvPr/>
        </p:nvSpPr>
        <p:spPr>
          <a:xfrm>
            <a:off x="4462186" y="5892722"/>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입찰참가신청서취소</a:t>
            </a:r>
            <a:endParaRPr lang="en-US" altLang="ko-KR" sz="1050" dirty="0">
              <a:solidFill>
                <a:schemeClr val="tx1"/>
              </a:solidFill>
            </a:endParaRPr>
          </a:p>
          <a:p>
            <a:pPr algn="ctr">
              <a:lnSpc>
                <a:spcPct val="120000"/>
              </a:lnSpc>
            </a:pPr>
            <a:r>
              <a:rPr lang="en-US" altLang="ko-KR" sz="1050" dirty="0">
                <a:solidFill>
                  <a:schemeClr val="tx1"/>
                </a:solidFill>
              </a:rPr>
              <a:t>OvsBidPrtcpRtrcnAply.tsx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68" name="직선 화살표 연결선 67">
            <a:extLst>
              <a:ext uri="{FF2B5EF4-FFF2-40B4-BE49-F238E27FC236}">
                <a16:creationId xmlns:a16="http://schemas.microsoft.com/office/drawing/2014/main" id="{418E1257-E5C2-5705-1378-45505004ABAF}"/>
              </a:ext>
            </a:extLst>
          </p:cNvPr>
          <p:cNvCxnSpPr>
            <a:cxnSpLocks/>
            <a:stCxn id="61" idx="3"/>
            <a:endCxn id="9" idx="1"/>
          </p:cNvCxnSpPr>
          <p:nvPr/>
        </p:nvCxnSpPr>
        <p:spPr>
          <a:xfrm flipV="1">
            <a:off x="2765244" y="2990174"/>
            <a:ext cx="1194847" cy="310771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9" name="직사각형 38">
            <a:extLst>
              <a:ext uri="{FF2B5EF4-FFF2-40B4-BE49-F238E27FC236}">
                <a16:creationId xmlns:a16="http://schemas.microsoft.com/office/drawing/2014/main" id="{326CB017-8967-4DC4-0EAD-ADB3B9EAB841}"/>
              </a:ext>
            </a:extLst>
          </p:cNvPr>
          <p:cNvSpPr/>
          <p:nvPr/>
        </p:nvSpPr>
        <p:spPr>
          <a:xfrm>
            <a:off x="2864228" y="5387467"/>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 상세 </a:t>
            </a:r>
            <a:r>
              <a:rPr lang="en-US" altLang="ko-KR" sz="1050" dirty="0">
                <a:solidFill>
                  <a:schemeClr val="tx1"/>
                </a:solidFill>
                <a:latin typeface="+mn-ea"/>
              </a:rPr>
              <a:t>- </a:t>
            </a:r>
            <a:r>
              <a:rPr lang="ko-KR" altLang="en-US" sz="1050" dirty="0">
                <a:solidFill>
                  <a:schemeClr val="tx1"/>
                </a:solidFill>
                <a:latin typeface="+mn-ea"/>
              </a:rPr>
              <a:t>탭 </a:t>
            </a:r>
            <a:r>
              <a:rPr lang="en-US" altLang="ko-KR" sz="1050" dirty="0">
                <a:solidFill>
                  <a:schemeClr val="tx1"/>
                </a:solidFill>
                <a:latin typeface="+mn-ea"/>
              </a:rPr>
              <a:t>2 – </a:t>
            </a:r>
            <a:r>
              <a:rPr lang="ko-KR" altLang="en-US" sz="1050" dirty="0">
                <a:solidFill>
                  <a:schemeClr val="tx1"/>
                </a:solidFill>
                <a:latin typeface="+mn-ea"/>
              </a:rPr>
              <a:t>업체정보</a:t>
            </a:r>
            <a:endParaRPr lang="en-US" altLang="ko-KR" sz="1050" dirty="0">
              <a:solidFill>
                <a:schemeClr val="tx1"/>
              </a:solidFill>
            </a:endParaRPr>
          </a:p>
          <a:p>
            <a:pPr algn="ctr">
              <a:lnSpc>
                <a:spcPct val="120000"/>
              </a:lnSpc>
            </a:pPr>
            <a:r>
              <a:rPr lang="en-US" altLang="ko-KR" sz="1050" dirty="0">
                <a:solidFill>
                  <a:schemeClr val="tx1"/>
                </a:solidFill>
              </a:rPr>
              <a:t>Tab2.tsx</a:t>
            </a:r>
            <a:r>
              <a:rPr lang="en-US" altLang="ko-KR" sz="1050" b="1" baseline="30000" dirty="0">
                <a:solidFill>
                  <a:schemeClr val="tx1"/>
                </a:solidFill>
                <a:latin typeface="+mn-ea"/>
              </a:rPr>
              <a:t>1)</a:t>
            </a:r>
            <a:endParaRPr lang="en-US" altLang="ko-KR" sz="1050" dirty="0">
              <a:solidFill>
                <a:schemeClr val="tx1"/>
              </a:solidFill>
            </a:endParaRPr>
          </a:p>
        </p:txBody>
      </p:sp>
      <p:sp>
        <p:nvSpPr>
          <p:cNvPr id="32" name="직사각형 31">
            <a:extLst>
              <a:ext uri="{FF2B5EF4-FFF2-40B4-BE49-F238E27FC236}">
                <a16:creationId xmlns:a16="http://schemas.microsoft.com/office/drawing/2014/main" id="{326CB017-8967-4DC4-0EAD-ADB3B9EAB841}"/>
              </a:ext>
            </a:extLst>
          </p:cNvPr>
          <p:cNvSpPr/>
          <p:nvPr/>
        </p:nvSpPr>
        <p:spPr>
          <a:xfrm>
            <a:off x="4462186" y="5387467"/>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475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입찰참가신청서 상세 </a:t>
            </a:r>
            <a:r>
              <a:rPr lang="en-US" altLang="ko-KR" sz="1050" dirty="0">
                <a:solidFill>
                  <a:schemeClr val="tx1"/>
                </a:solidFill>
                <a:latin typeface="+mn-ea"/>
              </a:rPr>
              <a:t>- </a:t>
            </a:r>
            <a:r>
              <a:rPr lang="ko-KR" altLang="en-US" sz="1050" dirty="0">
                <a:solidFill>
                  <a:schemeClr val="tx1"/>
                </a:solidFill>
                <a:latin typeface="+mn-ea"/>
              </a:rPr>
              <a:t>탭 </a:t>
            </a:r>
            <a:r>
              <a:rPr lang="en-US" altLang="ko-KR" sz="1050" dirty="0">
                <a:solidFill>
                  <a:schemeClr val="tx1"/>
                </a:solidFill>
                <a:latin typeface="+mn-ea"/>
              </a:rPr>
              <a:t>3 - </a:t>
            </a:r>
            <a:r>
              <a:rPr lang="ko-KR" altLang="en-US" sz="1050" dirty="0">
                <a:solidFill>
                  <a:schemeClr val="tx1"/>
                </a:solidFill>
                <a:latin typeface="+mn-ea"/>
              </a:rPr>
              <a:t>입찰 보증금</a:t>
            </a:r>
            <a:endParaRPr lang="en-US" altLang="ko-KR" sz="1050" dirty="0">
              <a:solidFill>
                <a:schemeClr val="tx1"/>
              </a:solidFill>
            </a:endParaRPr>
          </a:p>
          <a:p>
            <a:pPr algn="ctr">
              <a:lnSpc>
                <a:spcPct val="120000"/>
              </a:lnSpc>
            </a:pPr>
            <a:r>
              <a:rPr lang="en-US" altLang="ko-KR" sz="1050" dirty="0">
                <a:solidFill>
                  <a:schemeClr val="tx1"/>
                </a:solidFill>
              </a:rPr>
              <a:t>Tab3.tsx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73" name="직선 화살표 연결선 72">
            <a:extLst>
              <a:ext uri="{FF2B5EF4-FFF2-40B4-BE49-F238E27FC236}">
                <a16:creationId xmlns:a16="http://schemas.microsoft.com/office/drawing/2014/main" id="{418E1257-E5C2-5705-1378-45505004ABAF}"/>
              </a:ext>
            </a:extLst>
          </p:cNvPr>
          <p:cNvCxnSpPr>
            <a:cxnSpLocks/>
            <a:stCxn id="39" idx="0"/>
            <a:endCxn id="9" idx="2"/>
          </p:cNvCxnSpPr>
          <p:nvPr/>
        </p:nvCxnSpPr>
        <p:spPr>
          <a:xfrm flipV="1">
            <a:off x="3642541" y="3810190"/>
            <a:ext cx="1181150" cy="157727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4" name="직선 화살표 연결선 73">
            <a:extLst>
              <a:ext uri="{FF2B5EF4-FFF2-40B4-BE49-F238E27FC236}">
                <a16:creationId xmlns:a16="http://schemas.microsoft.com/office/drawing/2014/main" id="{418E1257-E5C2-5705-1378-45505004ABAF}"/>
              </a:ext>
            </a:extLst>
          </p:cNvPr>
          <p:cNvCxnSpPr>
            <a:cxnSpLocks/>
            <a:stCxn id="32" idx="0"/>
            <a:endCxn id="9" idx="2"/>
          </p:cNvCxnSpPr>
          <p:nvPr/>
        </p:nvCxnSpPr>
        <p:spPr>
          <a:xfrm flipH="1" flipV="1">
            <a:off x="4823691" y="3810190"/>
            <a:ext cx="416808" cy="157727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직사각형 37">
            <a:extLst>
              <a:ext uri="{FF2B5EF4-FFF2-40B4-BE49-F238E27FC236}">
                <a16:creationId xmlns:a16="http://schemas.microsoft.com/office/drawing/2014/main" id="{BE6CF8B0-B538-B16B-F0EB-F1F49287D1E5}"/>
              </a:ext>
            </a:extLst>
          </p:cNvPr>
          <p:cNvSpPr/>
          <p:nvPr/>
        </p:nvSpPr>
        <p:spPr>
          <a:xfrm>
            <a:off x="6913418" y="3366452"/>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a:t>입찰참가신청</a:t>
            </a:r>
            <a:r>
              <a:rPr lang="en-US" altLang="ko-KR" sz="900" dirty="0"/>
              <a:t>Controller&gt;&gt;</a:t>
            </a:r>
          </a:p>
          <a:p>
            <a:pPr algn="ctr"/>
            <a:r>
              <a:rPr lang="en-US" altLang="ko-KR" sz="900" kern="0" dirty="0" err="1">
                <a:solidFill>
                  <a:srgbClr val="000000"/>
                </a:solidFill>
                <a:latin typeface="+mn-ea"/>
              </a:rPr>
              <a:t>BidPrtcpAplyController</a:t>
            </a:r>
            <a:endParaRPr lang="en-US" altLang="ko-KR" sz="900" kern="0" dirty="0">
              <a:solidFill>
                <a:srgbClr val="000000"/>
              </a:solidFill>
              <a:latin typeface="+mn-ea"/>
            </a:endParaRPr>
          </a:p>
        </p:txBody>
      </p:sp>
      <p:cxnSp>
        <p:nvCxnSpPr>
          <p:cNvPr id="40" name="직선 연결선 39">
            <a:extLst>
              <a:ext uri="{FF2B5EF4-FFF2-40B4-BE49-F238E27FC236}">
                <a16:creationId xmlns:a16="http://schemas.microsoft.com/office/drawing/2014/main" id="{A8B10782-0A07-A41D-DB15-978B72410A31}"/>
              </a:ext>
            </a:extLst>
          </p:cNvPr>
          <p:cNvCxnSpPr>
            <a:endCxn id="38" idx="1"/>
          </p:cNvCxnSpPr>
          <p:nvPr/>
        </p:nvCxnSpPr>
        <p:spPr>
          <a:xfrm>
            <a:off x="5687291" y="2990174"/>
            <a:ext cx="1226127" cy="619258"/>
          </a:xfrm>
          <a:prstGeom prst="line">
            <a:avLst/>
          </a:prstGeom>
        </p:spPr>
        <p:style>
          <a:lnRef idx="1">
            <a:schemeClr val="dk1"/>
          </a:lnRef>
          <a:fillRef idx="0">
            <a:schemeClr val="dk1"/>
          </a:fillRef>
          <a:effectRef idx="0">
            <a:schemeClr val="dk1"/>
          </a:effectRef>
          <a:fontRef idx="minor">
            <a:schemeClr val="tx1"/>
          </a:fontRef>
        </p:style>
      </p:cxnSp>
      <p:sp>
        <p:nvSpPr>
          <p:cNvPr id="41" name="직사각형 40">
            <a:extLst>
              <a:ext uri="{FF2B5EF4-FFF2-40B4-BE49-F238E27FC236}">
                <a16:creationId xmlns:a16="http://schemas.microsoft.com/office/drawing/2014/main" id="{BE6CF8B0-B538-B16B-F0EB-F1F49287D1E5}"/>
              </a:ext>
            </a:extLst>
          </p:cNvPr>
          <p:cNvSpPr/>
          <p:nvPr/>
        </p:nvSpPr>
        <p:spPr>
          <a:xfrm>
            <a:off x="6913418" y="3985710"/>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err="1"/>
              <a:t>입찰서제출</a:t>
            </a:r>
            <a:r>
              <a:rPr lang="en-US" altLang="ko-KR" sz="900" dirty="0"/>
              <a:t>Controller&gt;&gt;</a:t>
            </a:r>
          </a:p>
          <a:p>
            <a:pPr algn="ctr"/>
            <a:r>
              <a:rPr lang="en-US" altLang="ko-KR" sz="900" kern="0" dirty="0" err="1">
                <a:solidFill>
                  <a:srgbClr val="000000"/>
                </a:solidFill>
                <a:latin typeface="+mn-ea"/>
              </a:rPr>
              <a:t>TndrSbmsnController</a:t>
            </a:r>
            <a:endParaRPr lang="en-US" altLang="ko-KR" sz="900" kern="0" dirty="0">
              <a:solidFill>
                <a:srgbClr val="000000"/>
              </a:solidFill>
              <a:latin typeface="+mn-ea"/>
            </a:endParaRPr>
          </a:p>
        </p:txBody>
      </p:sp>
      <p:cxnSp>
        <p:nvCxnSpPr>
          <p:cNvPr id="45" name="직선 연결선 44">
            <a:extLst>
              <a:ext uri="{FF2B5EF4-FFF2-40B4-BE49-F238E27FC236}">
                <a16:creationId xmlns:a16="http://schemas.microsoft.com/office/drawing/2014/main" id="{A8B10782-0A07-A41D-DB15-978B72410A31}"/>
              </a:ext>
            </a:extLst>
          </p:cNvPr>
          <p:cNvCxnSpPr>
            <a:stCxn id="9" idx="3"/>
            <a:endCxn id="41" idx="1"/>
          </p:cNvCxnSpPr>
          <p:nvPr/>
        </p:nvCxnSpPr>
        <p:spPr>
          <a:xfrm>
            <a:off x="5687291" y="2990174"/>
            <a:ext cx="1226127" cy="1238516"/>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84168259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328</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8.3 </a:t>
            </a:r>
            <a:r>
              <a:rPr lang="ko-KR" altLang="en-US" dirty="0"/>
              <a:t>앱 구성 다이어그램</a:t>
            </a: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765244" y="2056994"/>
            <a:ext cx="1194847" cy="933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765244" y="2562247"/>
            <a:ext cx="1194847" cy="42792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765244" y="2990174"/>
            <a:ext cx="1194847" cy="773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직사각형 5">
            <a:extLst>
              <a:ext uri="{FF2B5EF4-FFF2-40B4-BE49-F238E27FC236}">
                <a16:creationId xmlns:a16="http://schemas.microsoft.com/office/drawing/2014/main" id="{3FD7B626-4B5C-AE29-EFB9-628750B32B78}"/>
              </a:ext>
            </a:extLst>
          </p:cNvPr>
          <p:cNvSpPr/>
          <p:nvPr/>
        </p:nvSpPr>
        <p:spPr>
          <a:xfrm>
            <a:off x="1038044" y="1850693"/>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입찰서제출</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1 -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OvsTndrSbmsnPage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038044" y="235594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입찰서제출</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2 - </a:t>
            </a:r>
            <a:r>
              <a:rPr lang="ko-KR" altLang="en-US" sz="1050" dirty="0">
                <a:solidFill>
                  <a:schemeClr val="tx1"/>
                </a:solidFill>
                <a:latin typeface="+mn-ea"/>
              </a:rPr>
              <a:t>입찰참여품목 </a:t>
            </a:r>
            <a:r>
              <a:rPr lang="en-US" altLang="ko-KR" sz="1050" dirty="0">
                <a:solidFill>
                  <a:schemeClr val="tx1"/>
                </a:solidFill>
                <a:latin typeface="+mn-ea"/>
              </a:rPr>
              <a:t>(</a:t>
            </a:r>
            <a:r>
              <a:rPr lang="ko-KR" altLang="en-US" sz="1050" dirty="0" err="1">
                <a:solidFill>
                  <a:schemeClr val="tx1"/>
                </a:solidFill>
                <a:latin typeface="+mn-ea"/>
              </a:rPr>
              <a:t>단가제</a:t>
            </a:r>
            <a:r>
              <a:rPr lang="en-US" altLang="ko-KR" sz="1050" dirty="0">
                <a:solidFill>
                  <a:schemeClr val="tx1"/>
                </a:solidFill>
                <a:latin typeface="+mn-ea"/>
              </a:rPr>
              <a:t>)</a:t>
            </a:r>
            <a:endParaRPr lang="en-US" altLang="ko-KR" sz="1050" dirty="0">
              <a:solidFill>
                <a:schemeClr val="tx1"/>
              </a:solidFill>
            </a:endParaRPr>
          </a:p>
          <a:p>
            <a:pPr algn="ctr">
              <a:lnSpc>
                <a:spcPct val="120000"/>
              </a:lnSpc>
            </a:pPr>
            <a:r>
              <a:rPr lang="en-US" altLang="ko-KR" sz="1050" dirty="0">
                <a:solidFill>
                  <a:schemeClr val="tx1"/>
                </a:solidFill>
                <a:latin typeface="+mn-ea"/>
              </a:rPr>
              <a:t>Stp2</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038044" y="2861199"/>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입찰서제출</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2 - </a:t>
            </a:r>
            <a:r>
              <a:rPr lang="ko-KR" altLang="en-US" sz="1050" dirty="0">
                <a:solidFill>
                  <a:schemeClr val="tx1"/>
                </a:solidFill>
                <a:latin typeface="+mn-ea"/>
              </a:rPr>
              <a:t>입찰참여품목 </a:t>
            </a:r>
            <a:r>
              <a:rPr lang="en-US" altLang="ko-KR" sz="1050" dirty="0">
                <a:solidFill>
                  <a:schemeClr val="tx1"/>
                </a:solidFill>
                <a:latin typeface="+mn-ea"/>
              </a:rPr>
              <a:t>(</a:t>
            </a:r>
            <a:r>
              <a:rPr lang="ko-KR" altLang="en-US" sz="1050" dirty="0" err="1">
                <a:solidFill>
                  <a:schemeClr val="tx1"/>
                </a:solidFill>
                <a:latin typeface="+mn-ea"/>
              </a:rPr>
              <a:t>총액제</a:t>
            </a:r>
            <a:r>
              <a:rPr lang="en-US" altLang="ko-KR" sz="1050" dirty="0">
                <a:solidFill>
                  <a:schemeClr val="tx1"/>
                </a:solidFill>
                <a:latin typeface="+mn-ea"/>
              </a:rPr>
              <a:t>)</a:t>
            </a:r>
            <a:endParaRPr lang="en-US" altLang="ko-KR" sz="1050" dirty="0">
              <a:solidFill>
                <a:schemeClr val="tx1"/>
              </a:solidFill>
            </a:endParaRPr>
          </a:p>
          <a:p>
            <a:pPr algn="ctr">
              <a:lnSpc>
                <a:spcPct val="120000"/>
              </a:lnSpc>
            </a:pPr>
            <a:r>
              <a:rPr lang="en-US" altLang="ko-KR" sz="1050" dirty="0">
                <a:solidFill>
                  <a:schemeClr val="tx1"/>
                </a:solidFill>
                <a:latin typeface="+mn-ea"/>
              </a:rPr>
              <a:t>Stp2</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4" name="직사각형 23">
            <a:extLst>
              <a:ext uri="{FF2B5EF4-FFF2-40B4-BE49-F238E27FC236}">
                <a16:creationId xmlns:a16="http://schemas.microsoft.com/office/drawing/2014/main" id="{326CB017-8967-4DC4-0EAD-ADB3B9EAB841}"/>
              </a:ext>
            </a:extLst>
          </p:cNvPr>
          <p:cNvSpPr/>
          <p:nvPr/>
        </p:nvSpPr>
        <p:spPr>
          <a:xfrm>
            <a:off x="1038044" y="3366452"/>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입찰서제출</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3 - </a:t>
            </a:r>
            <a:r>
              <a:rPr lang="ko-KR" altLang="en-US" sz="1050" dirty="0">
                <a:solidFill>
                  <a:schemeClr val="tx1"/>
                </a:solidFill>
                <a:latin typeface="+mn-ea"/>
              </a:rPr>
              <a:t>첨부파일</a:t>
            </a:r>
            <a:endParaRPr lang="en-US" altLang="ko-KR" sz="1050" dirty="0">
              <a:solidFill>
                <a:schemeClr val="tx1"/>
              </a:solidFill>
            </a:endParaRPr>
          </a:p>
          <a:p>
            <a:pPr algn="ctr">
              <a:lnSpc>
                <a:spcPct val="120000"/>
              </a:lnSpc>
            </a:pPr>
            <a:r>
              <a:rPr lang="en-US" altLang="ko-KR" sz="1050" dirty="0">
                <a:solidFill>
                  <a:schemeClr val="tx1"/>
                </a:solidFill>
                <a:latin typeface="+mn-ea"/>
              </a:rPr>
              <a:t>Stp3</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7" name="직사각형 26">
            <a:extLst>
              <a:ext uri="{FF2B5EF4-FFF2-40B4-BE49-F238E27FC236}">
                <a16:creationId xmlns:a16="http://schemas.microsoft.com/office/drawing/2014/main" id="{326CB017-8967-4DC4-0EAD-ADB3B9EAB841}"/>
              </a:ext>
            </a:extLst>
          </p:cNvPr>
          <p:cNvSpPr/>
          <p:nvPr/>
        </p:nvSpPr>
        <p:spPr>
          <a:xfrm>
            <a:off x="1038044" y="3871705"/>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입찰서 상세 </a:t>
            </a:r>
            <a:r>
              <a:rPr lang="en-US" altLang="ko-KR" sz="1050" dirty="0">
                <a:solidFill>
                  <a:schemeClr val="tx1"/>
                </a:solidFill>
                <a:latin typeface="+mn-ea"/>
              </a:rPr>
              <a:t>- </a:t>
            </a:r>
            <a:r>
              <a:rPr lang="ko-KR" altLang="en-US" sz="1050" dirty="0">
                <a:solidFill>
                  <a:schemeClr val="tx1"/>
                </a:solidFill>
                <a:latin typeface="+mn-ea"/>
              </a:rPr>
              <a:t>탭 </a:t>
            </a:r>
            <a:r>
              <a:rPr lang="en-US" altLang="ko-KR" sz="1050" dirty="0">
                <a:solidFill>
                  <a:schemeClr val="tx1"/>
                </a:solidFill>
                <a:latin typeface="+mn-ea"/>
              </a:rPr>
              <a:t>1 -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OvsTndrDtlPage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8" name="직사각형 27">
            <a:extLst>
              <a:ext uri="{FF2B5EF4-FFF2-40B4-BE49-F238E27FC236}">
                <a16:creationId xmlns:a16="http://schemas.microsoft.com/office/drawing/2014/main" id="{326CB017-8967-4DC4-0EAD-ADB3B9EAB841}"/>
              </a:ext>
            </a:extLst>
          </p:cNvPr>
          <p:cNvSpPr/>
          <p:nvPr/>
        </p:nvSpPr>
        <p:spPr>
          <a:xfrm>
            <a:off x="1038044" y="4376958"/>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t>&lt;&lt;App Page&gt;&gt;</a:t>
            </a:r>
          </a:p>
          <a:p>
            <a:pPr algn="ctr">
              <a:lnSpc>
                <a:spcPct val="120000"/>
              </a:lnSpc>
            </a:pPr>
            <a:r>
              <a:rPr lang="ko-KR" altLang="en-US" sz="1050" dirty="0">
                <a:latin typeface="+mn-ea"/>
              </a:rPr>
              <a:t>입찰서 상세 </a:t>
            </a:r>
            <a:r>
              <a:rPr lang="en-US" altLang="ko-KR" sz="1050" dirty="0">
                <a:latin typeface="+mn-ea"/>
              </a:rPr>
              <a:t>- </a:t>
            </a:r>
            <a:r>
              <a:rPr lang="ko-KR" altLang="en-US" sz="1050" dirty="0" err="1">
                <a:latin typeface="+mn-ea"/>
              </a:rPr>
              <a:t>스탭</a:t>
            </a:r>
            <a:r>
              <a:rPr lang="ko-KR" altLang="en-US" sz="1050" dirty="0">
                <a:latin typeface="+mn-ea"/>
              </a:rPr>
              <a:t> </a:t>
            </a:r>
            <a:r>
              <a:rPr lang="en-US" altLang="ko-KR" sz="1050" dirty="0">
                <a:solidFill>
                  <a:schemeClr val="tx1"/>
                </a:solidFill>
                <a:latin typeface="+mn-ea"/>
              </a:rPr>
              <a:t>2 - </a:t>
            </a:r>
            <a:r>
              <a:rPr lang="ko-KR" altLang="en-US" sz="1050" dirty="0">
                <a:solidFill>
                  <a:schemeClr val="tx1"/>
                </a:solidFill>
                <a:latin typeface="+mn-ea"/>
              </a:rPr>
              <a:t>입찰참여품목 </a:t>
            </a:r>
            <a:r>
              <a:rPr lang="en-US" altLang="ko-KR" sz="1050" dirty="0">
                <a:solidFill>
                  <a:schemeClr val="tx1"/>
                </a:solidFill>
                <a:latin typeface="+mn-ea"/>
              </a:rPr>
              <a:t>(</a:t>
            </a:r>
            <a:r>
              <a:rPr lang="ko-KR" altLang="en-US" sz="1050" dirty="0" err="1">
                <a:solidFill>
                  <a:schemeClr val="tx1"/>
                </a:solidFill>
                <a:latin typeface="+mn-ea"/>
              </a:rPr>
              <a:t>단가제</a:t>
            </a:r>
            <a:r>
              <a:rPr lang="en-US" altLang="ko-KR" sz="1050" dirty="0">
                <a:solidFill>
                  <a:schemeClr val="tx1"/>
                </a:solidFill>
                <a:latin typeface="+mn-ea"/>
              </a:rPr>
              <a:t>)</a:t>
            </a:r>
            <a:endParaRPr lang="en-US" altLang="ko-KR" sz="1050" dirty="0"/>
          </a:p>
          <a:p>
            <a:pPr algn="ctr">
              <a:lnSpc>
                <a:spcPct val="120000"/>
              </a:lnSpc>
            </a:pPr>
            <a:r>
              <a:rPr lang="en-US" altLang="ko-KR" sz="1050" dirty="0"/>
              <a:t>Tab2.tsx</a:t>
            </a:r>
            <a:r>
              <a:rPr lang="en-US" altLang="ko-KR" sz="1050" b="1" baseline="30000" dirty="0">
                <a:latin typeface="+mn-ea"/>
              </a:rPr>
              <a:t>1)</a:t>
            </a:r>
            <a:endParaRPr lang="en-US" altLang="ko-KR" sz="1050" dirty="0"/>
          </a:p>
        </p:txBody>
      </p:sp>
      <p:sp>
        <p:nvSpPr>
          <p:cNvPr id="29" name="직사각형 28">
            <a:extLst>
              <a:ext uri="{FF2B5EF4-FFF2-40B4-BE49-F238E27FC236}">
                <a16:creationId xmlns:a16="http://schemas.microsoft.com/office/drawing/2014/main" id="{326CB017-8967-4DC4-0EAD-ADB3B9EAB841}"/>
              </a:ext>
            </a:extLst>
          </p:cNvPr>
          <p:cNvSpPr/>
          <p:nvPr/>
        </p:nvSpPr>
        <p:spPr>
          <a:xfrm>
            <a:off x="1038044" y="4882211"/>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t>&lt;&lt;App Page&gt;&gt;</a:t>
            </a:r>
          </a:p>
          <a:p>
            <a:pPr algn="ctr">
              <a:lnSpc>
                <a:spcPct val="120000"/>
              </a:lnSpc>
            </a:pPr>
            <a:r>
              <a:rPr lang="ko-KR" altLang="en-US" sz="1050" dirty="0">
                <a:latin typeface="+mn-ea"/>
              </a:rPr>
              <a:t>입찰서 상세 </a:t>
            </a:r>
            <a:r>
              <a:rPr lang="en-US" altLang="ko-KR" sz="1050" dirty="0">
                <a:latin typeface="+mn-ea"/>
              </a:rPr>
              <a:t>- </a:t>
            </a:r>
            <a:r>
              <a:rPr lang="ko-KR" altLang="en-US" sz="1050" dirty="0" err="1">
                <a:latin typeface="+mn-ea"/>
              </a:rPr>
              <a:t>스탭</a:t>
            </a:r>
            <a:r>
              <a:rPr lang="ko-KR" altLang="en-US" sz="1050" dirty="0">
                <a:latin typeface="+mn-ea"/>
              </a:rPr>
              <a:t> </a:t>
            </a:r>
            <a:r>
              <a:rPr lang="en-US" altLang="ko-KR" sz="1050" dirty="0">
                <a:solidFill>
                  <a:schemeClr val="tx1"/>
                </a:solidFill>
                <a:latin typeface="+mn-ea"/>
              </a:rPr>
              <a:t>2 - </a:t>
            </a:r>
            <a:r>
              <a:rPr lang="ko-KR" altLang="en-US" sz="1050" dirty="0">
                <a:solidFill>
                  <a:schemeClr val="tx1"/>
                </a:solidFill>
                <a:latin typeface="+mn-ea"/>
              </a:rPr>
              <a:t>입찰참여품목 </a:t>
            </a:r>
            <a:r>
              <a:rPr lang="en-US" altLang="ko-KR" sz="1050" dirty="0">
                <a:solidFill>
                  <a:schemeClr val="tx1"/>
                </a:solidFill>
                <a:latin typeface="+mn-ea"/>
              </a:rPr>
              <a:t>(</a:t>
            </a:r>
            <a:r>
              <a:rPr lang="ko-KR" altLang="en-US" sz="1050" dirty="0" err="1">
                <a:solidFill>
                  <a:schemeClr val="tx1"/>
                </a:solidFill>
                <a:latin typeface="+mn-ea"/>
              </a:rPr>
              <a:t>총액제</a:t>
            </a:r>
            <a:r>
              <a:rPr lang="en-US" altLang="ko-KR" sz="1050" dirty="0">
                <a:solidFill>
                  <a:schemeClr val="tx1"/>
                </a:solidFill>
                <a:latin typeface="+mn-ea"/>
              </a:rPr>
              <a:t>)</a:t>
            </a:r>
            <a:endParaRPr lang="en-US" altLang="ko-KR" sz="1050" dirty="0"/>
          </a:p>
          <a:p>
            <a:pPr algn="ctr">
              <a:lnSpc>
                <a:spcPct val="120000"/>
              </a:lnSpc>
            </a:pPr>
            <a:r>
              <a:rPr lang="en-US" altLang="ko-KR" sz="1050" dirty="0"/>
              <a:t>Tab2.tsx</a:t>
            </a:r>
            <a:r>
              <a:rPr lang="en-US" altLang="ko-KR" sz="1050" b="1" baseline="30000" dirty="0">
                <a:latin typeface="+mn-ea"/>
              </a:rPr>
              <a:t>1)</a:t>
            </a:r>
            <a:endParaRPr lang="en-US" altLang="ko-KR" sz="1050" dirty="0"/>
          </a:p>
        </p:txBody>
      </p:sp>
      <p:cxnSp>
        <p:nvCxnSpPr>
          <p:cNvPr id="30" name="직선 화살표 연결선 29">
            <a:extLst>
              <a:ext uri="{FF2B5EF4-FFF2-40B4-BE49-F238E27FC236}">
                <a16:creationId xmlns:a16="http://schemas.microsoft.com/office/drawing/2014/main" id="{418E1257-E5C2-5705-1378-45505004ABAF}"/>
              </a:ext>
            </a:extLst>
          </p:cNvPr>
          <p:cNvCxnSpPr>
            <a:cxnSpLocks/>
            <a:stCxn id="24" idx="3"/>
            <a:endCxn id="9" idx="1"/>
          </p:cNvCxnSpPr>
          <p:nvPr/>
        </p:nvCxnSpPr>
        <p:spPr>
          <a:xfrm flipV="1">
            <a:off x="2765244" y="2990174"/>
            <a:ext cx="1194847" cy="5825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418E1257-E5C2-5705-1378-45505004ABAF}"/>
              </a:ext>
            </a:extLst>
          </p:cNvPr>
          <p:cNvCxnSpPr>
            <a:cxnSpLocks/>
            <a:stCxn id="27" idx="3"/>
            <a:endCxn id="9" idx="1"/>
          </p:cNvCxnSpPr>
          <p:nvPr/>
        </p:nvCxnSpPr>
        <p:spPr>
          <a:xfrm flipV="1">
            <a:off x="2765244" y="2990174"/>
            <a:ext cx="1194847" cy="10878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418E1257-E5C2-5705-1378-45505004ABAF}"/>
              </a:ext>
            </a:extLst>
          </p:cNvPr>
          <p:cNvCxnSpPr>
            <a:cxnSpLocks/>
            <a:stCxn id="28" idx="3"/>
            <a:endCxn id="9" idx="1"/>
          </p:cNvCxnSpPr>
          <p:nvPr/>
        </p:nvCxnSpPr>
        <p:spPr>
          <a:xfrm flipV="1">
            <a:off x="2765244" y="2990174"/>
            <a:ext cx="1194847" cy="159308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 name="직선 화살표 연결선 36">
            <a:extLst>
              <a:ext uri="{FF2B5EF4-FFF2-40B4-BE49-F238E27FC236}">
                <a16:creationId xmlns:a16="http://schemas.microsoft.com/office/drawing/2014/main" id="{418E1257-E5C2-5705-1378-45505004ABAF}"/>
              </a:ext>
            </a:extLst>
          </p:cNvPr>
          <p:cNvCxnSpPr>
            <a:cxnSpLocks/>
            <a:stCxn id="29" idx="3"/>
            <a:endCxn id="9" idx="1"/>
          </p:cNvCxnSpPr>
          <p:nvPr/>
        </p:nvCxnSpPr>
        <p:spPr>
          <a:xfrm flipV="1">
            <a:off x="2765244" y="2990174"/>
            <a:ext cx="1194847" cy="209833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3" name="직사각형 32">
            <a:extLst>
              <a:ext uri="{FF2B5EF4-FFF2-40B4-BE49-F238E27FC236}">
                <a16:creationId xmlns:a16="http://schemas.microsoft.com/office/drawing/2014/main" id="{326CB017-8967-4DC4-0EAD-ADB3B9EAB841}"/>
              </a:ext>
            </a:extLst>
          </p:cNvPr>
          <p:cNvSpPr/>
          <p:nvPr/>
        </p:nvSpPr>
        <p:spPr>
          <a:xfrm>
            <a:off x="1038044" y="5387467"/>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t>&lt;&lt;App Page&gt;&gt;</a:t>
            </a:r>
          </a:p>
          <a:p>
            <a:pPr algn="ctr">
              <a:lnSpc>
                <a:spcPct val="120000"/>
              </a:lnSpc>
            </a:pPr>
            <a:r>
              <a:rPr lang="ko-KR" altLang="en-US" sz="1050" dirty="0">
                <a:latin typeface="+mn-ea"/>
              </a:rPr>
              <a:t>입찰서 상세 </a:t>
            </a:r>
            <a:r>
              <a:rPr lang="en-US" altLang="ko-KR" sz="1050" dirty="0">
                <a:latin typeface="+mn-ea"/>
              </a:rPr>
              <a:t>- </a:t>
            </a:r>
            <a:r>
              <a:rPr lang="ko-KR" altLang="en-US" sz="1050" dirty="0">
                <a:latin typeface="+mn-ea"/>
              </a:rPr>
              <a:t>탭 </a:t>
            </a:r>
            <a:r>
              <a:rPr lang="en-US" altLang="ko-KR" sz="1050" dirty="0">
                <a:solidFill>
                  <a:prstClr val="black"/>
                </a:solidFill>
                <a:latin typeface="맑은 고딕" panose="020B0503020000020004" pitchFamily="50" charset="-127"/>
              </a:rPr>
              <a:t>3 - </a:t>
            </a:r>
            <a:r>
              <a:rPr lang="ko-KR" altLang="en-US" sz="1050" dirty="0">
                <a:solidFill>
                  <a:prstClr val="black"/>
                </a:solidFill>
                <a:latin typeface="맑은 고딕" panose="020B0503020000020004" pitchFamily="50" charset="-127"/>
              </a:rPr>
              <a:t>첨부파일</a:t>
            </a:r>
            <a:endParaRPr lang="en-US" altLang="ko-KR" sz="1050" dirty="0"/>
          </a:p>
          <a:p>
            <a:pPr algn="ctr">
              <a:lnSpc>
                <a:spcPct val="120000"/>
              </a:lnSpc>
            </a:pPr>
            <a:r>
              <a:rPr lang="en-US" altLang="ko-KR" sz="1050" dirty="0"/>
              <a:t>Tab3.tsx</a:t>
            </a:r>
            <a:r>
              <a:rPr lang="en-US" altLang="ko-KR" sz="1050" b="1" baseline="30000" dirty="0">
                <a:latin typeface="+mn-ea"/>
              </a:rPr>
              <a:t>1)</a:t>
            </a:r>
            <a:endParaRPr lang="en-US" altLang="ko-KR" sz="1050" dirty="0"/>
          </a:p>
        </p:txBody>
      </p:sp>
      <p:cxnSp>
        <p:nvCxnSpPr>
          <p:cNvPr id="35" name="직선 화살표 연결선 34">
            <a:extLst>
              <a:ext uri="{FF2B5EF4-FFF2-40B4-BE49-F238E27FC236}">
                <a16:creationId xmlns:a16="http://schemas.microsoft.com/office/drawing/2014/main" id="{418E1257-E5C2-5705-1378-45505004ABAF}"/>
              </a:ext>
            </a:extLst>
          </p:cNvPr>
          <p:cNvCxnSpPr>
            <a:cxnSpLocks/>
            <a:stCxn id="33" idx="3"/>
            <a:endCxn id="9" idx="1"/>
          </p:cNvCxnSpPr>
          <p:nvPr/>
        </p:nvCxnSpPr>
        <p:spPr>
          <a:xfrm flipV="1">
            <a:off x="2765244" y="2990174"/>
            <a:ext cx="1194847" cy="26035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2" name="직선 화살표 연결선 41">
            <a:extLst>
              <a:ext uri="{FF2B5EF4-FFF2-40B4-BE49-F238E27FC236}">
                <a16:creationId xmlns:a16="http://schemas.microsoft.com/office/drawing/2014/main" id="{418E1257-E5C2-5705-1378-45505004ABAF}"/>
              </a:ext>
            </a:extLst>
          </p:cNvPr>
          <p:cNvCxnSpPr>
            <a:cxnSpLocks/>
            <a:stCxn id="66" idx="0"/>
            <a:endCxn id="9" idx="2"/>
          </p:cNvCxnSpPr>
          <p:nvPr/>
        </p:nvCxnSpPr>
        <p:spPr>
          <a:xfrm flipV="1">
            <a:off x="3642541" y="3810190"/>
            <a:ext cx="1181150" cy="20825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3" name="직선 화살표 연결선 42">
            <a:extLst>
              <a:ext uri="{FF2B5EF4-FFF2-40B4-BE49-F238E27FC236}">
                <a16:creationId xmlns:a16="http://schemas.microsoft.com/office/drawing/2014/main" id="{418E1257-E5C2-5705-1378-45505004ABAF}"/>
              </a:ext>
            </a:extLst>
          </p:cNvPr>
          <p:cNvCxnSpPr>
            <a:cxnSpLocks/>
            <a:stCxn id="67" idx="0"/>
            <a:endCxn id="9" idx="2"/>
          </p:cNvCxnSpPr>
          <p:nvPr/>
        </p:nvCxnSpPr>
        <p:spPr>
          <a:xfrm flipH="1" flipV="1">
            <a:off x="4823691" y="3810190"/>
            <a:ext cx="416808" cy="20825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직사각형 43">
            <a:extLst>
              <a:ext uri="{FF2B5EF4-FFF2-40B4-BE49-F238E27FC236}">
                <a16:creationId xmlns:a16="http://schemas.microsoft.com/office/drawing/2014/main" id="{DCD2B03C-59E6-A2C5-6CA3-6C41E384FAEA}"/>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8.3.1 </a:t>
            </a:r>
            <a:r>
              <a:rPr lang="ko-KR" altLang="en-US" sz="1200" dirty="0">
                <a:solidFill>
                  <a:schemeClr val="tx1"/>
                </a:solidFill>
              </a:rPr>
              <a:t>국외 </a:t>
            </a:r>
            <a:r>
              <a:rPr lang="ko-KR" altLang="en-US" sz="1200" dirty="0" err="1">
                <a:solidFill>
                  <a:schemeClr val="tx1"/>
                </a:solidFill>
              </a:rPr>
              <a:t>입찰진행</a:t>
            </a:r>
            <a:r>
              <a:rPr lang="ko-KR" altLang="en-US" sz="1200" dirty="0">
                <a:solidFill>
                  <a:schemeClr val="tx1"/>
                </a:solidFill>
              </a:rPr>
              <a:t> </a:t>
            </a:r>
            <a:r>
              <a:rPr lang="en-US" altLang="ko-KR" sz="1200" dirty="0">
                <a:solidFill>
                  <a:schemeClr val="tx1"/>
                </a:solidFill>
              </a:rPr>
              <a:t>(1/2)</a:t>
            </a:r>
            <a:endParaRPr lang="ko-KR" altLang="en-US" sz="1200" dirty="0">
              <a:solidFill>
                <a:schemeClr val="tx1"/>
              </a:solidFill>
            </a:endParaRPr>
          </a:p>
        </p:txBody>
      </p:sp>
      <p:sp>
        <p:nvSpPr>
          <p:cNvPr id="61" name="직사각형 60">
            <a:extLst>
              <a:ext uri="{FF2B5EF4-FFF2-40B4-BE49-F238E27FC236}">
                <a16:creationId xmlns:a16="http://schemas.microsoft.com/office/drawing/2014/main" id="{326CB017-8967-4DC4-0EAD-ADB3B9EAB841}"/>
              </a:ext>
            </a:extLst>
          </p:cNvPr>
          <p:cNvSpPr/>
          <p:nvPr/>
        </p:nvSpPr>
        <p:spPr>
          <a:xfrm>
            <a:off x="1038044" y="589158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맑은 고딕" panose="020B0503020000020004" pitchFamily="50" charset="-127"/>
              </a:rPr>
              <a:t>입찰등록결과조회</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OvsBidRegRslt</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66" name="직사각형 65">
            <a:extLst>
              <a:ext uri="{FF2B5EF4-FFF2-40B4-BE49-F238E27FC236}">
                <a16:creationId xmlns:a16="http://schemas.microsoft.com/office/drawing/2014/main" id="{326CB017-8967-4DC4-0EAD-ADB3B9EAB841}"/>
              </a:ext>
            </a:extLst>
          </p:cNvPr>
          <p:cNvSpPr/>
          <p:nvPr/>
        </p:nvSpPr>
        <p:spPr>
          <a:xfrm>
            <a:off x="2864228" y="5892722"/>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맑은 고딕" panose="020B0503020000020004" pitchFamily="50" charset="-127"/>
              </a:rPr>
              <a:t>입찰취소신청서작성</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OvsBidRtrcnAply</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67" name="직사각형 66">
            <a:extLst>
              <a:ext uri="{FF2B5EF4-FFF2-40B4-BE49-F238E27FC236}">
                <a16:creationId xmlns:a16="http://schemas.microsoft.com/office/drawing/2014/main" id="{326CB017-8967-4DC4-0EAD-ADB3B9EAB841}"/>
              </a:ext>
            </a:extLst>
          </p:cNvPr>
          <p:cNvSpPr/>
          <p:nvPr/>
        </p:nvSpPr>
        <p:spPr>
          <a:xfrm>
            <a:off x="4462186" y="5892722"/>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맑은 고딕" panose="020B0503020000020004" pitchFamily="50" charset="-127"/>
              </a:rPr>
              <a:t>기술평가결과조회</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OvsTechEvlRslt</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68" name="직선 화살표 연결선 67">
            <a:extLst>
              <a:ext uri="{FF2B5EF4-FFF2-40B4-BE49-F238E27FC236}">
                <a16:creationId xmlns:a16="http://schemas.microsoft.com/office/drawing/2014/main" id="{418E1257-E5C2-5705-1378-45505004ABAF}"/>
              </a:ext>
            </a:extLst>
          </p:cNvPr>
          <p:cNvCxnSpPr>
            <a:cxnSpLocks/>
            <a:stCxn id="61" idx="3"/>
            <a:endCxn id="9" idx="1"/>
          </p:cNvCxnSpPr>
          <p:nvPr/>
        </p:nvCxnSpPr>
        <p:spPr>
          <a:xfrm flipV="1">
            <a:off x="2765244" y="2990174"/>
            <a:ext cx="1194847" cy="310771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직사각형 31">
            <a:extLst>
              <a:ext uri="{FF2B5EF4-FFF2-40B4-BE49-F238E27FC236}">
                <a16:creationId xmlns:a16="http://schemas.microsoft.com/office/drawing/2014/main" id="{326CB017-8967-4DC4-0EAD-ADB3B9EAB841}"/>
              </a:ext>
            </a:extLst>
          </p:cNvPr>
          <p:cNvSpPr/>
          <p:nvPr/>
        </p:nvSpPr>
        <p:spPr>
          <a:xfrm>
            <a:off x="4462186" y="5387467"/>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사업별입찰등록결과조회</a:t>
            </a:r>
            <a:endParaRPr lang="en-US" altLang="ko-KR" sz="1050" dirty="0">
              <a:solidFill>
                <a:schemeClr val="tx1"/>
              </a:solidFill>
            </a:endParaRPr>
          </a:p>
          <a:p>
            <a:pPr algn="ctr">
              <a:lnSpc>
                <a:spcPct val="120000"/>
              </a:lnSpc>
            </a:pPr>
            <a:r>
              <a:rPr lang="en-US" altLang="ko-KR" sz="1050" dirty="0">
                <a:solidFill>
                  <a:schemeClr val="tx1"/>
                </a:solidFill>
              </a:rPr>
              <a:t>OvsBidRegRsltByBiz.tsx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74" name="직선 화살표 연결선 73">
            <a:extLst>
              <a:ext uri="{FF2B5EF4-FFF2-40B4-BE49-F238E27FC236}">
                <a16:creationId xmlns:a16="http://schemas.microsoft.com/office/drawing/2014/main" id="{418E1257-E5C2-5705-1378-45505004ABAF}"/>
              </a:ext>
            </a:extLst>
          </p:cNvPr>
          <p:cNvCxnSpPr>
            <a:cxnSpLocks/>
            <a:stCxn id="32" idx="0"/>
            <a:endCxn id="9" idx="2"/>
          </p:cNvCxnSpPr>
          <p:nvPr/>
        </p:nvCxnSpPr>
        <p:spPr>
          <a:xfrm flipH="1" flipV="1">
            <a:off x="4823691" y="3810190"/>
            <a:ext cx="416808" cy="157727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6" name="직사각형 35">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err="1"/>
              <a:t>입찰진행</a:t>
            </a:r>
            <a:r>
              <a:rPr lang="en-US" altLang="ko-KR" sz="1100" dirty="0"/>
              <a:t>Controller&gt;&gt;</a:t>
            </a:r>
          </a:p>
          <a:p>
            <a:pPr algn="ctr"/>
            <a:r>
              <a:rPr lang="en-US" altLang="ko-KR" sz="1100" kern="0" dirty="0" err="1">
                <a:solidFill>
                  <a:srgbClr val="000000"/>
                </a:solidFill>
                <a:latin typeface="+mn-ea"/>
              </a:rPr>
              <a:t>BidPrgrsController</a:t>
            </a:r>
            <a:endParaRPr lang="en-US" altLang="ko-KR" sz="1100" kern="0" dirty="0">
              <a:solidFill>
                <a:srgbClr val="000000"/>
              </a:solidFill>
              <a:latin typeface="+mn-ea"/>
            </a:endParaRPr>
          </a:p>
        </p:txBody>
      </p:sp>
      <p:cxnSp>
        <p:nvCxnSpPr>
          <p:cNvPr id="38" name="직선 연결선 37">
            <a:extLst>
              <a:ext uri="{FF2B5EF4-FFF2-40B4-BE49-F238E27FC236}">
                <a16:creationId xmlns:a16="http://schemas.microsoft.com/office/drawing/2014/main" id="{A8B10782-0A07-A41D-DB15-978B72410A31}"/>
              </a:ext>
            </a:extLst>
          </p:cNvPr>
          <p:cNvCxnSpPr>
            <a:endCxn id="36"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39" name="직사각형 38">
            <a:extLst>
              <a:ext uri="{FF2B5EF4-FFF2-40B4-BE49-F238E27FC236}">
                <a16:creationId xmlns:a16="http://schemas.microsoft.com/office/drawing/2014/main" id="{BE6CF8B0-B538-B16B-F0EB-F1F49287D1E5}"/>
              </a:ext>
            </a:extLst>
          </p:cNvPr>
          <p:cNvSpPr/>
          <p:nvPr/>
        </p:nvSpPr>
        <p:spPr>
          <a:xfrm>
            <a:off x="6913418" y="3366452"/>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a:t>입찰참가신청</a:t>
            </a:r>
            <a:r>
              <a:rPr lang="en-US" altLang="ko-KR" sz="900" dirty="0"/>
              <a:t>Controller&gt;&gt;</a:t>
            </a:r>
          </a:p>
          <a:p>
            <a:pPr algn="ctr"/>
            <a:r>
              <a:rPr lang="en-US" altLang="ko-KR" sz="900" kern="0" dirty="0" err="1">
                <a:solidFill>
                  <a:srgbClr val="000000"/>
                </a:solidFill>
                <a:latin typeface="+mn-ea"/>
              </a:rPr>
              <a:t>BidPrtcpAplyController</a:t>
            </a:r>
            <a:endParaRPr lang="en-US" altLang="ko-KR" sz="900" kern="0" dirty="0">
              <a:solidFill>
                <a:srgbClr val="000000"/>
              </a:solidFill>
              <a:latin typeface="+mn-ea"/>
            </a:endParaRPr>
          </a:p>
        </p:txBody>
      </p:sp>
      <p:cxnSp>
        <p:nvCxnSpPr>
          <p:cNvPr id="40" name="직선 연결선 39">
            <a:extLst>
              <a:ext uri="{FF2B5EF4-FFF2-40B4-BE49-F238E27FC236}">
                <a16:creationId xmlns:a16="http://schemas.microsoft.com/office/drawing/2014/main" id="{A8B10782-0A07-A41D-DB15-978B72410A31}"/>
              </a:ext>
            </a:extLst>
          </p:cNvPr>
          <p:cNvCxnSpPr>
            <a:endCxn id="39" idx="1"/>
          </p:cNvCxnSpPr>
          <p:nvPr/>
        </p:nvCxnSpPr>
        <p:spPr>
          <a:xfrm>
            <a:off x="5687291" y="2990174"/>
            <a:ext cx="1226127" cy="619258"/>
          </a:xfrm>
          <a:prstGeom prst="line">
            <a:avLst/>
          </a:prstGeom>
        </p:spPr>
        <p:style>
          <a:lnRef idx="1">
            <a:schemeClr val="dk1"/>
          </a:lnRef>
          <a:fillRef idx="0">
            <a:schemeClr val="dk1"/>
          </a:fillRef>
          <a:effectRef idx="0">
            <a:schemeClr val="dk1"/>
          </a:effectRef>
          <a:fontRef idx="minor">
            <a:schemeClr val="tx1"/>
          </a:fontRef>
        </p:style>
      </p:cxnSp>
      <p:sp>
        <p:nvSpPr>
          <p:cNvPr id="41" name="직사각형 40">
            <a:extLst>
              <a:ext uri="{FF2B5EF4-FFF2-40B4-BE49-F238E27FC236}">
                <a16:creationId xmlns:a16="http://schemas.microsoft.com/office/drawing/2014/main" id="{BE6CF8B0-B538-B16B-F0EB-F1F49287D1E5}"/>
              </a:ext>
            </a:extLst>
          </p:cNvPr>
          <p:cNvSpPr/>
          <p:nvPr/>
        </p:nvSpPr>
        <p:spPr>
          <a:xfrm>
            <a:off x="6913418" y="3985710"/>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err="1"/>
              <a:t>입찰서제출</a:t>
            </a:r>
            <a:r>
              <a:rPr lang="en-US" altLang="ko-KR" sz="900" dirty="0"/>
              <a:t>Controller&gt;&gt;</a:t>
            </a:r>
          </a:p>
          <a:p>
            <a:pPr algn="ctr"/>
            <a:r>
              <a:rPr lang="en-US" altLang="ko-KR" sz="900" kern="0" dirty="0" err="1">
                <a:solidFill>
                  <a:srgbClr val="000000"/>
                </a:solidFill>
                <a:latin typeface="+mn-ea"/>
              </a:rPr>
              <a:t>TndrSbmsnController</a:t>
            </a:r>
            <a:endParaRPr lang="en-US" altLang="ko-KR" sz="900" kern="0" dirty="0">
              <a:solidFill>
                <a:srgbClr val="000000"/>
              </a:solidFill>
              <a:latin typeface="+mn-ea"/>
            </a:endParaRPr>
          </a:p>
        </p:txBody>
      </p:sp>
      <p:cxnSp>
        <p:nvCxnSpPr>
          <p:cNvPr id="45" name="직선 연결선 44">
            <a:extLst>
              <a:ext uri="{FF2B5EF4-FFF2-40B4-BE49-F238E27FC236}">
                <a16:creationId xmlns:a16="http://schemas.microsoft.com/office/drawing/2014/main" id="{A8B10782-0A07-A41D-DB15-978B72410A31}"/>
              </a:ext>
            </a:extLst>
          </p:cNvPr>
          <p:cNvCxnSpPr>
            <a:endCxn id="41" idx="1"/>
          </p:cNvCxnSpPr>
          <p:nvPr/>
        </p:nvCxnSpPr>
        <p:spPr>
          <a:xfrm>
            <a:off x="5687291" y="2990174"/>
            <a:ext cx="1226127" cy="1238516"/>
          </a:xfrm>
          <a:prstGeom prst="line">
            <a:avLst/>
          </a:prstGeom>
        </p:spPr>
        <p:style>
          <a:lnRef idx="1">
            <a:schemeClr val="dk1"/>
          </a:lnRef>
          <a:fillRef idx="0">
            <a:schemeClr val="dk1"/>
          </a:fillRef>
          <a:effectRef idx="0">
            <a:schemeClr val="dk1"/>
          </a:effectRef>
          <a:fontRef idx="minor">
            <a:schemeClr val="tx1"/>
          </a:fontRef>
        </p:style>
      </p:cxnSp>
      <p:sp>
        <p:nvSpPr>
          <p:cNvPr id="46" name="직사각형 45">
            <a:extLst>
              <a:ext uri="{FF2B5EF4-FFF2-40B4-BE49-F238E27FC236}">
                <a16:creationId xmlns:a16="http://schemas.microsoft.com/office/drawing/2014/main" id="{BE6CF8B0-B538-B16B-F0EB-F1F49287D1E5}"/>
              </a:ext>
            </a:extLst>
          </p:cNvPr>
          <p:cNvSpPr/>
          <p:nvPr/>
        </p:nvSpPr>
        <p:spPr>
          <a:xfrm>
            <a:off x="6913418" y="4619689"/>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a:bodyPr>
          <a:lstStyle/>
          <a:p>
            <a:pPr algn="ctr"/>
            <a:r>
              <a:rPr lang="en-US" altLang="ko-KR" sz="900" dirty="0"/>
              <a:t>&lt;&lt;</a:t>
            </a:r>
            <a:r>
              <a:rPr lang="ko-KR" altLang="en-US" sz="900" dirty="0"/>
              <a:t>기술평가</a:t>
            </a:r>
            <a:r>
              <a:rPr lang="en-US" altLang="ko-KR" sz="900" dirty="0"/>
              <a:t>Controller&gt;&gt;</a:t>
            </a:r>
          </a:p>
          <a:p>
            <a:pPr algn="ctr"/>
            <a:r>
              <a:rPr lang="en-US" altLang="ko-KR" sz="900" dirty="0" err="1"/>
              <a:t>TechEvlController</a:t>
            </a:r>
            <a:endParaRPr lang="en-US" altLang="ko-KR" sz="900" dirty="0"/>
          </a:p>
        </p:txBody>
      </p:sp>
      <p:cxnSp>
        <p:nvCxnSpPr>
          <p:cNvPr id="47" name="직선 연결선 46">
            <a:extLst>
              <a:ext uri="{FF2B5EF4-FFF2-40B4-BE49-F238E27FC236}">
                <a16:creationId xmlns:a16="http://schemas.microsoft.com/office/drawing/2014/main" id="{A8B10782-0A07-A41D-DB15-978B72410A31}"/>
              </a:ext>
            </a:extLst>
          </p:cNvPr>
          <p:cNvCxnSpPr>
            <a:stCxn id="9" idx="3"/>
            <a:endCxn id="46" idx="1"/>
          </p:cNvCxnSpPr>
          <p:nvPr/>
        </p:nvCxnSpPr>
        <p:spPr>
          <a:xfrm>
            <a:off x="5687291" y="2990174"/>
            <a:ext cx="1226127" cy="1872495"/>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99304840"/>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진행단계</a:t>
            </a:r>
            <a:r>
              <a:rPr lang="ko-KR" altLang="en-US" dirty="0"/>
              <a:t> 표시</a:t>
            </a:r>
            <a:r>
              <a:rPr lang="en-US" altLang="ko-KR" dirty="0"/>
              <a:t/>
            </a:r>
            <a:br>
              <a:rPr lang="en-US" altLang="ko-KR" dirty="0"/>
            </a:br>
            <a:r>
              <a:rPr lang="en-US" altLang="ko-KR" dirty="0"/>
              <a:t>- </a:t>
            </a:r>
            <a:r>
              <a:rPr lang="ko-KR" altLang="en-US" dirty="0"/>
              <a:t>사전심사</a:t>
            </a:r>
            <a:r>
              <a:rPr lang="en-US" altLang="ko-KR" dirty="0"/>
              <a:t>(PQ) </a:t>
            </a:r>
            <a:r>
              <a:rPr lang="ko-KR" altLang="en-US" dirty="0"/>
              <a:t>신청 시에는 </a:t>
            </a:r>
            <a:r>
              <a:rPr lang="ko-KR" altLang="en-US" dirty="0" err="1"/>
              <a:t>진행단계</a:t>
            </a:r>
            <a:r>
              <a:rPr lang="ko-KR" altLang="en-US" dirty="0"/>
              <a:t> </a:t>
            </a:r>
            <a:r>
              <a:rPr lang="ko-KR" altLang="en-US" dirty="0" err="1"/>
              <a:t>미표시</a:t>
            </a:r>
            <a:endParaRPr lang="en-US" altLang="ko-KR" dirty="0"/>
          </a:p>
          <a:p>
            <a:pPr marL="228600" indent="-228600">
              <a:buFont typeface="+mj-lt"/>
              <a:buAutoNum type="arabicPeriod"/>
            </a:pPr>
            <a:r>
              <a:rPr lang="ko-KR" altLang="en-US" dirty="0"/>
              <a:t>서약서 동의</a:t>
            </a:r>
            <a:r>
              <a:rPr lang="en-US" altLang="ko-KR" dirty="0"/>
              <a:t/>
            </a:r>
            <a:br>
              <a:rPr lang="en-US" altLang="ko-KR" dirty="0"/>
            </a:br>
            <a:r>
              <a:rPr lang="en-US" altLang="ko-KR" dirty="0"/>
              <a:t>- </a:t>
            </a:r>
            <a:r>
              <a:rPr lang="ko-KR" altLang="en-US" dirty="0"/>
              <a:t>팝업을 통해 내용 확인 및 동의</a:t>
            </a:r>
            <a:endParaRPr lang="en-US" altLang="ko-KR" dirty="0"/>
          </a:p>
          <a:p>
            <a:pPr marL="228600" indent="-228600">
              <a:buFont typeface="+mj-lt"/>
              <a:buAutoNum type="arabicPeriod"/>
            </a:pPr>
            <a:r>
              <a:rPr lang="ko-KR" altLang="en-US" dirty="0"/>
              <a:t>사후심사대상인 경우 추가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329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서약서 동의 목록</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서약서 동의 목록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MUI-BD-04-M71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서약서 동의</a:t>
            </a:r>
          </a:p>
        </p:txBody>
      </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20449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9" name="그룹 148"/>
          <p:cNvGrpSpPr/>
          <p:nvPr/>
        </p:nvGrpSpPr>
        <p:grpSpPr>
          <a:xfrm rot="5400000">
            <a:off x="755013" y="1640499"/>
            <a:ext cx="94010" cy="47005"/>
            <a:chOff x="6812560" y="3297172"/>
            <a:chExt cx="94010" cy="47005"/>
          </a:xfrm>
        </p:grpSpPr>
        <p:cxnSp>
          <p:nvCxnSpPr>
            <p:cNvPr id="150" name="직선 연결선 1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3" name="직선 연결선 1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4" name="타원 153"/>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258076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283208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524595"/>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55594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2637926"/>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5" name="타원 194">
            <a:extLst>
              <a:ext uri="{FF2B5EF4-FFF2-40B4-BE49-F238E27FC236}">
                <a16:creationId xmlns:a16="http://schemas.microsoft.com/office/drawing/2014/main" id="{37A7FF4F-0EAA-1463-560A-D5EC24416103}"/>
              </a:ext>
            </a:extLst>
          </p:cNvPr>
          <p:cNvSpPr/>
          <p:nvPr/>
        </p:nvSpPr>
        <p:spPr>
          <a:xfrm>
            <a:off x="571127" y="32783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3" name="그룹 2"/>
          <p:cNvGrpSpPr/>
          <p:nvPr/>
        </p:nvGrpSpPr>
        <p:grpSpPr>
          <a:xfrm>
            <a:off x="747926" y="2932253"/>
            <a:ext cx="2570733" cy="187961"/>
            <a:chOff x="747926" y="2310331"/>
            <a:chExt cx="2570733" cy="187961"/>
          </a:xfrm>
        </p:grpSpPr>
        <p:grpSp>
          <p:nvGrpSpPr>
            <p:cNvPr id="97" name="그룹 96"/>
            <p:cNvGrpSpPr/>
            <p:nvPr/>
          </p:nvGrpSpPr>
          <p:grpSpPr>
            <a:xfrm rot="16200000">
              <a:off x="1250698" y="2380810"/>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0" name="그룹 99"/>
            <p:cNvGrpSpPr/>
            <p:nvPr/>
          </p:nvGrpSpPr>
          <p:grpSpPr>
            <a:xfrm>
              <a:off x="1404036" y="2310331"/>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신청서</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latin typeface="+mn-ea"/>
                    </a:rPr>
                    <a:t>2</a:t>
                  </a:r>
                  <a:endParaRPr lang="ko-KR" altLang="en-US" sz="700" dirty="0">
                    <a:latin typeface="+mn-ea"/>
                  </a:endParaRPr>
                </a:p>
              </p:txBody>
            </p:sp>
          </p:grpSp>
        </p:grpSp>
        <p:grpSp>
          <p:nvGrpSpPr>
            <p:cNvPr id="105" name="그룹 104"/>
            <p:cNvGrpSpPr/>
            <p:nvPr/>
          </p:nvGrpSpPr>
          <p:grpSpPr>
            <a:xfrm rot="16200000">
              <a:off x="1906809" y="2380810"/>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8" name="그룹 107"/>
            <p:cNvGrpSpPr/>
            <p:nvPr/>
          </p:nvGrpSpPr>
          <p:grpSpPr>
            <a:xfrm rot="16200000">
              <a:off x="2562921" y="2380810"/>
              <a:ext cx="94010" cy="47005"/>
              <a:chOff x="6812560" y="3297172"/>
              <a:chExt cx="94010" cy="47005"/>
            </a:xfrm>
          </p:grpSpPr>
          <p:cxnSp>
            <p:nvCxnSpPr>
              <p:cNvPr id="109" name="직선 연결선 1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0" name="직선 연결선 1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11" name="그룹 110"/>
            <p:cNvGrpSpPr/>
            <p:nvPr/>
          </p:nvGrpSpPr>
          <p:grpSpPr>
            <a:xfrm>
              <a:off x="747926" y="2310331"/>
              <a:ext cx="601001" cy="187961"/>
              <a:chOff x="747925" y="3237230"/>
              <a:chExt cx="601001" cy="187961"/>
            </a:xfrm>
          </p:grpSpPr>
          <p:grpSp>
            <p:nvGrpSpPr>
              <p:cNvPr id="112" name="그룹 111"/>
              <p:cNvGrpSpPr/>
              <p:nvPr/>
            </p:nvGrpSpPr>
            <p:grpSpPr>
              <a:xfrm>
                <a:off x="747925" y="3237230"/>
                <a:ext cx="187961" cy="187961"/>
                <a:chOff x="747925" y="3237230"/>
                <a:chExt cx="187961" cy="187961"/>
              </a:xfrm>
            </p:grpSpPr>
            <p:sp>
              <p:nvSpPr>
                <p:cNvPr id="114" name="타원 113"/>
                <p:cNvSpPr/>
                <p:nvPr/>
              </p:nvSpPr>
              <p:spPr>
                <a:xfrm>
                  <a:off x="747925"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2"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1</a:t>
                  </a:r>
                  <a:endParaRPr lang="ko-KR" altLang="en-US" sz="700" dirty="0">
                    <a:solidFill>
                      <a:schemeClr val="bg1"/>
                    </a:solidFill>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0" y="3277349"/>
                <a:ext cx="397576" cy="107722"/>
              </a:xfrm>
              <a:prstGeom prst="rect">
                <a:avLst/>
              </a:prstGeom>
              <a:noFill/>
            </p:spPr>
            <p:txBody>
              <a:bodyPr wrap="square" lIns="0" tIns="0" rIns="0" bIns="0" rtlCol="0">
                <a:spAutoFit/>
              </a:bodyPr>
              <a:lstStyle/>
              <a:p>
                <a:r>
                  <a:rPr lang="ko-KR" altLang="en-US" sz="700" dirty="0">
                    <a:latin typeface="+mn-ea"/>
                  </a:rPr>
                  <a:t>서약서</a:t>
                </a:r>
              </a:p>
            </p:txBody>
          </p:sp>
        </p:grpSp>
        <p:grpSp>
          <p:nvGrpSpPr>
            <p:cNvPr id="116" name="그룹 115"/>
            <p:cNvGrpSpPr/>
            <p:nvPr/>
          </p:nvGrpSpPr>
          <p:grpSpPr>
            <a:xfrm>
              <a:off x="2058750" y="2310331"/>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서명</a:t>
                </a:r>
              </a:p>
            </p:txBody>
          </p:sp>
        </p:grpSp>
        <p:grpSp>
          <p:nvGrpSpPr>
            <p:cNvPr id="121" name="그룹 120"/>
            <p:cNvGrpSpPr/>
            <p:nvPr/>
          </p:nvGrpSpPr>
          <p:grpSpPr>
            <a:xfrm>
              <a:off x="2714861" y="2310331"/>
              <a:ext cx="603798" cy="187961"/>
              <a:chOff x="2714860" y="3237230"/>
              <a:chExt cx="603798" cy="187961"/>
            </a:xfrm>
          </p:grpSpPr>
          <p:grpSp>
            <p:nvGrpSpPr>
              <p:cNvPr id="122" name="그룹 121"/>
              <p:cNvGrpSpPr/>
              <p:nvPr/>
            </p:nvGrpSpPr>
            <p:grpSpPr>
              <a:xfrm>
                <a:off x="2714860" y="3237230"/>
                <a:ext cx="187961" cy="187961"/>
                <a:chOff x="2714860" y="3237230"/>
                <a:chExt cx="187961" cy="187961"/>
              </a:xfrm>
            </p:grpSpPr>
            <p:sp>
              <p:nvSpPr>
                <p:cNvPr id="124" name="타원 123"/>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23" name="TextBox 122">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sp>
        <p:nvSpPr>
          <p:cNvPr id="130" name="사각형: 둥근 모서리 15">
            <a:extLst>
              <a:ext uri="{FF2B5EF4-FFF2-40B4-BE49-F238E27FC236}">
                <a16:creationId xmlns:a16="http://schemas.microsoft.com/office/drawing/2014/main" id="{E2B61CFB-AD16-68D0-8752-50D9C5E01971}"/>
              </a:ext>
            </a:extLst>
          </p:cNvPr>
          <p:cNvSpPr/>
          <p:nvPr/>
        </p:nvSpPr>
        <p:spPr>
          <a:xfrm>
            <a:off x="767702" y="3306478"/>
            <a:ext cx="2522014" cy="342712"/>
          </a:xfrm>
          <a:prstGeom prst="roundRect">
            <a:avLst/>
          </a:prstGeom>
          <a:noFill/>
          <a:ln w="12700" cap="flat" cmpd="sng" algn="ctr">
            <a:solidFill>
              <a:schemeClr val="tx1"/>
            </a:solidFill>
            <a:prstDash val="solid"/>
          </a:ln>
          <a:effectLst/>
        </p:spPr>
        <p:txBody>
          <a:bodyPr lIns="0" tIns="0" rIns="0" bIns="0" rtlCol="0" anchor="ctr"/>
          <a:lstStyle/>
          <a:p>
            <a:pPr algn="ctr" fontAlgn="base" latinLnBrk="0">
              <a:spcBef>
                <a:spcPct val="0"/>
              </a:spcBef>
              <a:spcAft>
                <a:spcPct val="0"/>
              </a:spcAft>
            </a:pPr>
            <a:endParaRPr kumimoji="1" lang="en-US" sz="700" kern="0" dirty="0">
              <a:solidFill>
                <a:srgbClr val="0070C0"/>
              </a:solidFill>
              <a:latin typeface="맑은 고딕"/>
            </a:endParaRPr>
          </a:p>
        </p:txBody>
      </p:sp>
      <p:sp>
        <p:nvSpPr>
          <p:cNvPr id="166" name="TextBox 58">
            <a:extLst>
              <a:ext uri="{FF2B5EF4-FFF2-40B4-BE49-F238E27FC236}">
                <a16:creationId xmlns:a16="http://schemas.microsoft.com/office/drawing/2014/main" id="{02FC114B-B48B-345F-BD70-2B5A196F5B3E}"/>
              </a:ext>
            </a:extLst>
          </p:cNvPr>
          <p:cNvSpPr txBox="1"/>
          <p:nvPr/>
        </p:nvSpPr>
        <p:spPr>
          <a:xfrm>
            <a:off x="865539" y="3416279"/>
            <a:ext cx="56106"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sz="800" dirty="0"/>
              <a:t>1</a:t>
            </a:r>
            <a:endParaRPr lang="ko-KR" altLang="en-US" sz="800" b="1" dirty="0"/>
          </a:p>
        </p:txBody>
      </p:sp>
      <p:sp>
        <p:nvSpPr>
          <p:cNvPr id="131" name="TextBox 58">
            <a:extLst>
              <a:ext uri="{FF2B5EF4-FFF2-40B4-BE49-F238E27FC236}">
                <a16:creationId xmlns:a16="http://schemas.microsoft.com/office/drawing/2014/main" id="{02FC114B-B48B-345F-BD70-2B5A196F5B3E}"/>
              </a:ext>
            </a:extLst>
          </p:cNvPr>
          <p:cNvSpPr txBox="1"/>
          <p:nvPr/>
        </p:nvSpPr>
        <p:spPr>
          <a:xfrm>
            <a:off x="981277" y="3416279"/>
            <a:ext cx="1033937" cy="123111"/>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800" dirty="0"/>
              <a:t>청렴 계약 이행 서약서</a:t>
            </a:r>
          </a:p>
        </p:txBody>
      </p:sp>
      <p:sp>
        <p:nvSpPr>
          <p:cNvPr id="132" name="모서리가 둥근 직사각형 131"/>
          <p:cNvSpPr/>
          <p:nvPr/>
        </p:nvSpPr>
        <p:spPr>
          <a:xfrm>
            <a:off x="2958909" y="3418134"/>
            <a:ext cx="24130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보기</a:t>
            </a:r>
          </a:p>
        </p:txBody>
      </p:sp>
      <p:sp>
        <p:nvSpPr>
          <p:cNvPr id="198" name="타원 197"/>
          <p:cNvSpPr/>
          <p:nvPr/>
        </p:nvSpPr>
        <p:spPr>
          <a:xfrm>
            <a:off x="2764330" y="3419977"/>
            <a:ext cx="115715" cy="115715"/>
          </a:xfrm>
          <a:prstGeom prst="ellipse">
            <a:avLst/>
          </a:prstGeom>
          <a:solidFill>
            <a:schemeClr val="bg1"/>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accent6"/>
                </a:solidFill>
              </a:rPr>
              <a:t>V</a:t>
            </a:r>
            <a:endParaRPr lang="ko-KR" altLang="en-US" sz="800" dirty="0">
              <a:solidFill>
                <a:schemeClr val="accent6"/>
              </a:solidFill>
            </a:endParaRPr>
          </a:p>
        </p:txBody>
      </p:sp>
      <p:cxnSp>
        <p:nvCxnSpPr>
          <p:cNvPr id="225" name="직선 연결선 224">
            <a:extLst>
              <a:ext uri="{FF2B5EF4-FFF2-40B4-BE49-F238E27FC236}">
                <a16:creationId xmlns:a16="http://schemas.microsoft.com/office/drawing/2014/main" id="{E9293055-D5CD-4B9E-7F64-64B2D2CA7A52}"/>
              </a:ext>
            </a:extLst>
          </p:cNvPr>
          <p:cNvCxnSpPr/>
          <p:nvPr/>
        </p:nvCxnSpPr>
        <p:spPr>
          <a:xfrm>
            <a:off x="675399" y="4558858"/>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5" name="그룹 4"/>
          <p:cNvGrpSpPr/>
          <p:nvPr/>
        </p:nvGrpSpPr>
        <p:grpSpPr>
          <a:xfrm>
            <a:off x="675399" y="1936620"/>
            <a:ext cx="2712027" cy="508898"/>
            <a:chOff x="3795734" y="1602341"/>
            <a:chExt cx="2712027" cy="508898"/>
          </a:xfrm>
        </p:grpSpPr>
        <p:sp>
          <p:nvSpPr>
            <p:cNvPr id="146"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151" name="모서리가 둥근 직사각형 150"/>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152" name="모서리가 둥근 직사각형 151"/>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7" name="직사각형 126">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TextBox 138">
            <a:extLst>
              <a:ext uri="{FF2B5EF4-FFF2-40B4-BE49-F238E27FC236}">
                <a16:creationId xmlns:a16="http://schemas.microsoft.com/office/drawing/2014/main" id="{FFC49AEA-2A8F-250C-A86A-A7751D9706C3}"/>
              </a:ext>
            </a:extLst>
          </p:cNvPr>
          <p:cNvSpPr txBox="1"/>
          <p:nvPr/>
        </p:nvSpPr>
        <p:spPr>
          <a:xfrm>
            <a:off x="4051236" y="1608356"/>
            <a:ext cx="2305144" cy="123111"/>
          </a:xfrm>
          <a:prstGeom prst="rect">
            <a:avLst/>
          </a:prstGeom>
          <a:noFill/>
        </p:spPr>
        <p:txBody>
          <a:bodyPr wrap="square" lIns="0" tIns="0" rIns="0" bIns="0" rtlCol="0">
            <a:spAutoFit/>
          </a:bodyPr>
          <a:lstStyle/>
          <a:p>
            <a:r>
              <a:rPr lang="ko-KR" altLang="en-US" sz="800" dirty="0">
                <a:latin typeface="+mn-ea"/>
              </a:rPr>
              <a:t>서약서 동의</a:t>
            </a:r>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3795734"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57" name="그룹 156"/>
          <p:cNvGrpSpPr/>
          <p:nvPr/>
        </p:nvGrpSpPr>
        <p:grpSpPr>
          <a:xfrm rot="5400000">
            <a:off x="3870177" y="1640499"/>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타원 159"/>
          <p:cNvSpPr/>
          <p:nvPr/>
        </p:nvSpPr>
        <p:spPr>
          <a:xfrm>
            <a:off x="6159701"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2" name="그룹 161"/>
          <p:cNvGrpSpPr/>
          <p:nvPr/>
        </p:nvGrpSpPr>
        <p:grpSpPr>
          <a:xfrm>
            <a:off x="3795733" y="5614711"/>
            <a:ext cx="2712027" cy="617588"/>
            <a:chOff x="675399" y="5614711"/>
            <a:chExt cx="2712027" cy="617588"/>
          </a:xfrm>
        </p:grpSpPr>
        <p:sp>
          <p:nvSpPr>
            <p:cNvPr id="163" name="직사각형 1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83"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85" name="모서리가 둥근 직사각형 184"/>
          <p:cNvSpPr/>
          <p:nvPr/>
        </p:nvSpPr>
        <p:spPr>
          <a:xfrm>
            <a:off x="3825414" y="2425710"/>
            <a:ext cx="2652743" cy="1601238"/>
          </a:xfrm>
          <a:prstGeom prst="roundRect">
            <a:avLst>
              <a:gd name="adj" fmla="val 9062"/>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7" name="TextBox 186">
            <a:extLst>
              <a:ext uri="{FF2B5EF4-FFF2-40B4-BE49-F238E27FC236}">
                <a16:creationId xmlns:a16="http://schemas.microsoft.com/office/drawing/2014/main" id="{FFC49AEA-2A8F-250C-A86A-A7751D9706C3}"/>
              </a:ext>
            </a:extLst>
          </p:cNvPr>
          <p:cNvSpPr txBox="1"/>
          <p:nvPr/>
        </p:nvSpPr>
        <p:spPr>
          <a:xfrm>
            <a:off x="3914184" y="2523994"/>
            <a:ext cx="2475203" cy="1400383"/>
          </a:xfrm>
          <a:prstGeom prst="rect">
            <a:avLst/>
          </a:prstGeom>
          <a:noFill/>
        </p:spPr>
        <p:txBody>
          <a:bodyPr wrap="square" lIns="0" tIns="0" rIns="0" bIns="0" rtlCol="0">
            <a:spAutoFit/>
          </a:bodyPr>
          <a:lstStyle/>
          <a:p>
            <a:r>
              <a:rPr lang="ko-KR" altLang="en-US" sz="700" dirty="0">
                <a:solidFill>
                  <a:schemeClr val="tx1">
                    <a:lumMod val="85000"/>
                    <a:lumOff val="15000"/>
                  </a:schemeClr>
                </a:solidFill>
                <a:latin typeface="맑은 고딕" panose="020B0503020000020004" pitchFamily="50" charset="-127"/>
              </a:rPr>
              <a:t>     사후심사대상 </a:t>
            </a:r>
            <a:r>
              <a:rPr lang="ko-KR" altLang="en-US" sz="700" dirty="0" err="1">
                <a:solidFill>
                  <a:schemeClr val="tx1">
                    <a:lumMod val="85000"/>
                    <a:lumOff val="15000"/>
                  </a:schemeClr>
                </a:solidFill>
                <a:latin typeface="맑은 고딕" panose="020B0503020000020004" pitchFamily="50" charset="-127"/>
              </a:rPr>
              <a:t>입찰안내</a:t>
            </a:r>
            <a:endParaRPr lang="en-US" altLang="ko-KR" sz="700" dirty="0">
              <a:solidFill>
                <a:schemeClr val="tx1">
                  <a:lumMod val="85000"/>
                  <a:lumOff val="15000"/>
                </a:schemeClr>
              </a:solidFill>
              <a:latin typeface="맑은 고딕" panose="020B0503020000020004" pitchFamily="50" charset="-127"/>
            </a:endParaRPr>
          </a:p>
          <a:p>
            <a:endParaRPr lang="en-US" altLang="ko-KR" sz="700" dirty="0">
              <a:solidFill>
                <a:schemeClr val="tx1">
                  <a:lumMod val="85000"/>
                  <a:lumOff val="15000"/>
                </a:schemeClr>
              </a:solidFill>
              <a:latin typeface="맑은 고딕" panose="020B0503020000020004" pitchFamily="50" charset="-127"/>
            </a:endParaRPr>
          </a:p>
          <a:p>
            <a:pPr marL="92075" indent="-92075">
              <a:buFont typeface="Arial" panose="020B0604020202020204" pitchFamily="34" charset="0"/>
              <a:buChar char="•"/>
            </a:pPr>
            <a:r>
              <a:rPr lang="ko-KR" altLang="en-US" sz="700" dirty="0" err="1">
                <a:solidFill>
                  <a:schemeClr val="tx1">
                    <a:lumMod val="85000"/>
                    <a:lumOff val="15000"/>
                  </a:schemeClr>
                </a:solidFill>
                <a:latin typeface="맑은 고딕" panose="020B0503020000020004" pitchFamily="50" charset="-127"/>
              </a:rPr>
              <a:t>입찰전</a:t>
            </a:r>
            <a:r>
              <a:rPr lang="ko-KR" altLang="en-US" sz="700" dirty="0">
                <a:solidFill>
                  <a:schemeClr val="tx1">
                    <a:lumMod val="85000"/>
                    <a:lumOff val="15000"/>
                  </a:schemeClr>
                </a:solidFill>
                <a:latin typeface="맑은 고딕" panose="020B0503020000020004" pitchFamily="50" charset="-127"/>
              </a:rPr>
              <a:t> 꼭 확인 하시기 바랍니다</a:t>
            </a:r>
            <a:r>
              <a:rPr lang="en-US" altLang="ko-KR" sz="700" dirty="0">
                <a:solidFill>
                  <a:schemeClr val="tx1">
                    <a:lumMod val="85000"/>
                    <a:lumOff val="15000"/>
                  </a:schemeClr>
                </a:solidFill>
                <a:latin typeface="맑은 고딕" panose="020B0503020000020004" pitchFamily="50" charset="-127"/>
              </a:rPr>
              <a:t>.</a:t>
            </a:r>
          </a:p>
          <a:p>
            <a:pPr marL="92075" indent="-92075">
              <a:buFont typeface="Arial" panose="020B0604020202020204" pitchFamily="34" charset="0"/>
              <a:buChar char="•"/>
            </a:pPr>
            <a:r>
              <a:rPr lang="ko-KR" altLang="en-US" sz="700" dirty="0" err="1">
                <a:solidFill>
                  <a:srgbClr val="000000"/>
                </a:solidFill>
                <a:latin typeface="+mn-ea"/>
              </a:rPr>
              <a:t>해당입찰</a:t>
            </a:r>
            <a:r>
              <a:rPr lang="ko-KR" altLang="en-US" sz="700" dirty="0">
                <a:solidFill>
                  <a:srgbClr val="000000"/>
                </a:solidFill>
                <a:latin typeface="+mn-ea"/>
              </a:rPr>
              <a:t> 건은 </a:t>
            </a:r>
            <a:r>
              <a:rPr lang="en-US" altLang="ko-KR" sz="700" dirty="0">
                <a:solidFill>
                  <a:srgbClr val="000000"/>
                </a:solidFill>
                <a:latin typeface="+mn-ea"/>
              </a:rPr>
              <a:t>[</a:t>
            </a:r>
            <a:r>
              <a:rPr lang="ko-KR" altLang="en-US" sz="700" dirty="0" err="1">
                <a:solidFill>
                  <a:srgbClr val="000000"/>
                </a:solidFill>
                <a:latin typeface="+mn-ea"/>
              </a:rPr>
              <a:t>입찰서제출</a:t>
            </a:r>
            <a:r>
              <a:rPr lang="ko-KR" altLang="en-US" sz="700" dirty="0">
                <a:solidFill>
                  <a:srgbClr val="000000"/>
                </a:solidFill>
                <a:latin typeface="+mn-ea"/>
              </a:rPr>
              <a:t> 마감</a:t>
            </a:r>
            <a:r>
              <a:rPr lang="en-US" altLang="ko-KR" sz="700" dirty="0">
                <a:solidFill>
                  <a:srgbClr val="000000"/>
                </a:solidFill>
                <a:latin typeface="+mn-ea"/>
              </a:rPr>
              <a:t>] </a:t>
            </a:r>
            <a:r>
              <a:rPr lang="ko-KR" altLang="en-US" sz="700" dirty="0">
                <a:solidFill>
                  <a:srgbClr val="000000"/>
                </a:solidFill>
                <a:latin typeface="+mn-ea"/>
              </a:rPr>
              <a:t>후 </a:t>
            </a:r>
            <a:r>
              <a:rPr lang="en-US" altLang="ko-KR" sz="700" dirty="0">
                <a:solidFill>
                  <a:srgbClr val="000000"/>
                </a:solidFill>
                <a:latin typeface="+mn-ea"/>
              </a:rPr>
              <a:t>[</a:t>
            </a:r>
            <a:r>
              <a:rPr lang="ko-KR" altLang="en-US" sz="700" dirty="0" err="1">
                <a:solidFill>
                  <a:srgbClr val="000000"/>
                </a:solidFill>
                <a:latin typeface="+mn-ea"/>
              </a:rPr>
              <a:t>등록심사</a:t>
            </a:r>
            <a:r>
              <a:rPr lang="en-US" altLang="ko-KR" sz="700" dirty="0">
                <a:solidFill>
                  <a:srgbClr val="000000"/>
                </a:solidFill>
                <a:latin typeface="+mn-ea"/>
              </a:rPr>
              <a:t>]</a:t>
            </a:r>
            <a:r>
              <a:rPr lang="ko-KR" altLang="en-US" sz="700" dirty="0">
                <a:solidFill>
                  <a:srgbClr val="000000"/>
                </a:solidFill>
                <a:latin typeface="+mn-ea"/>
              </a:rPr>
              <a:t>를 진행하는 </a:t>
            </a:r>
            <a:r>
              <a:rPr lang="ko-KR" altLang="en-US" sz="700" dirty="0" err="1">
                <a:solidFill>
                  <a:srgbClr val="000000"/>
                </a:solidFill>
                <a:latin typeface="+mn-ea"/>
              </a:rPr>
              <a:t>입찰건으로</a:t>
            </a:r>
            <a:r>
              <a:rPr lang="ko-KR" altLang="en-US" sz="700" dirty="0">
                <a:solidFill>
                  <a:srgbClr val="000000"/>
                </a:solidFill>
                <a:latin typeface="+mn-ea"/>
              </a:rPr>
              <a:t> 참가신청서 작성 후 </a:t>
            </a:r>
            <a:r>
              <a:rPr lang="ko-KR" altLang="en-US" sz="700" dirty="0" err="1">
                <a:solidFill>
                  <a:srgbClr val="000000"/>
                </a:solidFill>
                <a:latin typeface="+mn-ea"/>
              </a:rPr>
              <a:t>등록심사</a:t>
            </a:r>
            <a:r>
              <a:rPr lang="ko-KR" altLang="en-US" sz="700" dirty="0">
                <a:solidFill>
                  <a:srgbClr val="000000"/>
                </a:solidFill>
                <a:latin typeface="+mn-ea"/>
              </a:rPr>
              <a:t> 없이 입찰서를 제출합니다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a:t>
            </a:r>
            <a:r>
              <a:rPr lang="ko-KR" altLang="en-US" sz="700" dirty="0">
                <a:solidFill>
                  <a:srgbClr val="000000"/>
                </a:solidFill>
                <a:latin typeface="+mn-ea"/>
              </a:rPr>
              <a:t>공동이행방식</a:t>
            </a:r>
            <a:r>
              <a:rPr lang="en-US" altLang="ko-KR" sz="700" dirty="0">
                <a:solidFill>
                  <a:srgbClr val="000000"/>
                </a:solidFill>
                <a:latin typeface="+mn-ea"/>
              </a:rPr>
              <a:t>]</a:t>
            </a:r>
            <a:r>
              <a:rPr lang="ko-KR" altLang="en-US" sz="700" dirty="0">
                <a:solidFill>
                  <a:srgbClr val="000000"/>
                </a:solidFill>
                <a:latin typeface="+mn-ea"/>
              </a:rPr>
              <a:t>의 입찰은 </a:t>
            </a:r>
            <a:r>
              <a:rPr lang="en-US" altLang="ko-KR" sz="700" dirty="0">
                <a:solidFill>
                  <a:srgbClr val="000000"/>
                </a:solidFill>
                <a:latin typeface="+mn-ea"/>
              </a:rPr>
              <a:t>[</a:t>
            </a:r>
            <a:r>
              <a:rPr lang="ko-KR" altLang="en-US" sz="700" dirty="0" err="1">
                <a:solidFill>
                  <a:srgbClr val="000000"/>
                </a:solidFill>
                <a:latin typeface="+mn-ea"/>
              </a:rPr>
              <a:t>협정서제출</a:t>
            </a:r>
            <a:r>
              <a:rPr lang="en-US" altLang="ko-KR" sz="700" dirty="0">
                <a:solidFill>
                  <a:srgbClr val="000000"/>
                </a:solidFill>
                <a:latin typeface="+mn-ea"/>
              </a:rPr>
              <a:t>] </a:t>
            </a:r>
            <a:r>
              <a:rPr lang="ko-KR" altLang="en-US" sz="700" dirty="0">
                <a:solidFill>
                  <a:srgbClr val="000000"/>
                </a:solidFill>
                <a:latin typeface="+mn-ea"/>
              </a:rPr>
              <a:t>시 입찰서를 제출할 수 있습니다</a:t>
            </a:r>
            <a:r>
              <a:rPr lang="en-US" altLang="ko-KR" sz="700" dirty="0">
                <a:solidFill>
                  <a:srgbClr val="000000"/>
                </a:solidFill>
                <a:latin typeface="+mn-ea"/>
              </a:rPr>
              <a:t>.</a:t>
            </a:r>
          </a:p>
          <a:p>
            <a:pPr marL="92075" indent="-92075">
              <a:buFont typeface="Arial" panose="020B0604020202020204" pitchFamily="34" charset="0"/>
              <a:buChar char="•"/>
            </a:pPr>
            <a:r>
              <a:rPr lang="ko-KR" altLang="en-US" sz="700" dirty="0">
                <a:solidFill>
                  <a:srgbClr val="FF0000"/>
                </a:solidFill>
                <a:latin typeface="+mn-ea"/>
              </a:rPr>
              <a:t>주의</a:t>
            </a:r>
            <a:r>
              <a:rPr lang="en-US" altLang="ko-KR" sz="700" dirty="0">
                <a:solidFill>
                  <a:srgbClr val="FF0000"/>
                </a:solidFill>
                <a:latin typeface="+mn-ea"/>
              </a:rPr>
              <a:t>) </a:t>
            </a:r>
            <a:r>
              <a:rPr lang="ko-KR" altLang="en-US" sz="700" dirty="0">
                <a:solidFill>
                  <a:srgbClr val="FF0000"/>
                </a:solidFill>
                <a:latin typeface="+mn-ea"/>
              </a:rPr>
              <a:t>입찰서를 제출 후에는 참가신청서</a:t>
            </a:r>
            <a:r>
              <a:rPr lang="en-US" altLang="ko-KR" sz="700" dirty="0">
                <a:solidFill>
                  <a:srgbClr val="FF0000"/>
                </a:solidFill>
                <a:latin typeface="+mn-ea"/>
              </a:rPr>
              <a:t>, </a:t>
            </a:r>
            <a:r>
              <a:rPr lang="ko-KR" altLang="en-US" sz="700" dirty="0">
                <a:solidFill>
                  <a:srgbClr val="FF0000"/>
                </a:solidFill>
                <a:latin typeface="+mn-ea"/>
              </a:rPr>
              <a:t>공동수급협정서</a:t>
            </a:r>
            <a:r>
              <a:rPr lang="en-US" altLang="ko-KR" sz="700" dirty="0">
                <a:solidFill>
                  <a:srgbClr val="FF0000"/>
                </a:solidFill>
                <a:latin typeface="+mn-ea"/>
              </a:rPr>
              <a:t>, </a:t>
            </a:r>
            <a:r>
              <a:rPr lang="ko-KR" altLang="en-US" sz="700" dirty="0">
                <a:solidFill>
                  <a:srgbClr val="FF0000"/>
                </a:solidFill>
                <a:latin typeface="+mn-ea"/>
              </a:rPr>
              <a:t>입찰서를 변경 할 수 없습니다</a:t>
            </a:r>
            <a:r>
              <a:rPr lang="en-US" altLang="ko-KR" sz="700" dirty="0">
                <a:solidFill>
                  <a:srgbClr val="FF0000"/>
                </a:solidFill>
                <a:latin typeface="+mn-ea"/>
              </a:rPr>
              <a:t>.</a:t>
            </a:r>
          </a:p>
          <a:p>
            <a:pPr marL="92075" indent="-92075">
              <a:buFont typeface="Arial" panose="020B0604020202020204" pitchFamily="34" charset="0"/>
              <a:buChar char="•"/>
            </a:pPr>
            <a:r>
              <a:rPr lang="ko-KR" altLang="en-US" sz="700" dirty="0">
                <a:solidFill>
                  <a:srgbClr val="000000"/>
                </a:solidFill>
                <a:latin typeface="+mn-ea"/>
              </a:rPr>
              <a:t>입찰서제출이 마감 후에 등록심사에서 탈락 시 개찰대상에서 제외됩니다</a:t>
            </a:r>
            <a:r>
              <a:rPr lang="en-US" altLang="ko-KR" sz="700" dirty="0">
                <a:solidFill>
                  <a:srgbClr val="000000"/>
                </a:solidFill>
                <a:latin typeface="+mn-ea"/>
              </a:rPr>
              <a:t>.</a:t>
            </a:r>
          </a:p>
          <a:p>
            <a:pPr marL="92075" indent="-92075">
              <a:buFont typeface="Arial" panose="020B0604020202020204" pitchFamily="34" charset="0"/>
              <a:buChar char="•"/>
            </a:pPr>
            <a:r>
              <a:rPr lang="en-US" altLang="ko-KR" sz="700" dirty="0">
                <a:solidFill>
                  <a:srgbClr val="000000"/>
                </a:solidFill>
                <a:latin typeface="+mn-ea"/>
              </a:rPr>
              <a:t>- </a:t>
            </a:r>
            <a:r>
              <a:rPr lang="ko-KR" altLang="en-US" sz="700" dirty="0">
                <a:solidFill>
                  <a:srgbClr val="000000"/>
                </a:solidFill>
                <a:latin typeface="+mn-ea"/>
              </a:rPr>
              <a:t>문의 </a:t>
            </a:r>
            <a:r>
              <a:rPr lang="en-US" altLang="ko-KR" sz="700" dirty="0">
                <a:solidFill>
                  <a:srgbClr val="000000"/>
                </a:solidFill>
                <a:latin typeface="+mn-ea"/>
              </a:rPr>
              <a:t>:1577-1118(①)(</a:t>
            </a:r>
            <a:r>
              <a:rPr lang="ko-KR" altLang="en-US" sz="700" dirty="0">
                <a:solidFill>
                  <a:srgbClr val="000000"/>
                </a:solidFill>
                <a:latin typeface="+mn-ea"/>
              </a:rPr>
              <a:t>전자입찰서비스 데스크</a:t>
            </a:r>
            <a:r>
              <a:rPr lang="en-US" altLang="ko-KR" sz="700" dirty="0">
                <a:solidFill>
                  <a:srgbClr val="000000"/>
                </a:solidFill>
                <a:latin typeface="+mn-ea"/>
              </a:rPr>
              <a:t>)</a:t>
            </a:r>
            <a:endParaRPr lang="en-US" altLang="ko-KR" sz="700" dirty="0">
              <a:latin typeface="+mn-ea"/>
            </a:endParaRPr>
          </a:p>
        </p:txBody>
      </p:sp>
      <p:sp>
        <p:nvSpPr>
          <p:cNvPr id="194" name="타원 193"/>
          <p:cNvSpPr/>
          <p:nvPr/>
        </p:nvSpPr>
        <p:spPr>
          <a:xfrm>
            <a:off x="3910226" y="251434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1" name="그룹 200"/>
          <p:cNvGrpSpPr/>
          <p:nvPr/>
        </p:nvGrpSpPr>
        <p:grpSpPr>
          <a:xfrm flipV="1">
            <a:off x="6259047" y="2562841"/>
            <a:ext cx="94010" cy="47005"/>
            <a:chOff x="6812560" y="3297172"/>
            <a:chExt cx="94010" cy="47005"/>
          </a:xfrm>
        </p:grpSpPr>
        <p:cxnSp>
          <p:nvCxnSpPr>
            <p:cNvPr id="204" name="직선 연결선 20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5" name="직선 연결선 20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0" name="직선 연결선 209">
            <a:extLst>
              <a:ext uri="{FF2B5EF4-FFF2-40B4-BE49-F238E27FC236}">
                <a16:creationId xmlns:a16="http://schemas.microsoft.com/office/drawing/2014/main" id="{E9293055-D5CD-4B9E-7F64-64B2D2CA7A52}"/>
              </a:ext>
            </a:extLst>
          </p:cNvPr>
          <p:cNvCxnSpPr/>
          <p:nvPr/>
        </p:nvCxnSpPr>
        <p:spPr>
          <a:xfrm>
            <a:off x="3795734" y="231033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1" name="TextBox 210">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12" name="타원 211">
            <a:extLst>
              <a:ext uri="{FF2B5EF4-FFF2-40B4-BE49-F238E27FC236}">
                <a16:creationId xmlns:a16="http://schemas.microsoft.com/office/drawing/2014/main" id="{37A7FF4F-0EAA-1463-560A-D5EC24416103}"/>
              </a:ext>
            </a:extLst>
          </p:cNvPr>
          <p:cNvSpPr/>
          <p:nvPr/>
        </p:nvSpPr>
        <p:spPr>
          <a:xfrm>
            <a:off x="3709669" y="242315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2255914195"/>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타이틀 영역</a:t>
            </a:r>
            <a:endParaRPr lang="en-US" altLang="ko-KR" dirty="0"/>
          </a:p>
          <a:p>
            <a:pPr marL="228600" indent="-228600">
              <a:buFont typeface="+mj-lt"/>
              <a:buAutoNum type="arabicPeriod"/>
            </a:pPr>
            <a:r>
              <a:rPr lang="ko-KR" altLang="en-US" dirty="0"/>
              <a:t>본문 영역</a:t>
            </a:r>
            <a:endParaRPr lang="en-US" altLang="ko-KR" dirty="0"/>
          </a:p>
          <a:p>
            <a:pPr marL="228600" indent="-228600">
              <a:buFont typeface="+mj-lt"/>
              <a:buAutoNum type="arabicPeriod"/>
            </a:pPr>
            <a:r>
              <a:rPr lang="ko-KR" altLang="en-US" dirty="0"/>
              <a:t>신청일 당일 날짜 표시</a:t>
            </a:r>
            <a:endParaRPr lang="en-US" altLang="ko-KR" dirty="0"/>
          </a:p>
          <a:p>
            <a:pPr marL="228600" indent="-228600">
              <a:buFont typeface="+mj-lt"/>
              <a:buAutoNum type="arabicPeriod"/>
            </a:pPr>
            <a:r>
              <a:rPr lang="ko-KR" altLang="en-US" dirty="0" err="1"/>
              <a:t>서약자</a:t>
            </a:r>
            <a:r>
              <a:rPr lang="en-US" altLang="ko-KR" dirty="0"/>
              <a:t> </a:t>
            </a:r>
            <a:r>
              <a:rPr lang="ko-KR" altLang="en-US" dirty="0"/>
              <a:t>및 공고</a:t>
            </a:r>
            <a:r>
              <a:rPr lang="en-US" altLang="ko-KR" dirty="0"/>
              <a:t> </a:t>
            </a:r>
            <a:r>
              <a:rPr lang="ko-KR" altLang="en-US" dirty="0"/>
              <a:t>담당 정보 표시</a:t>
            </a:r>
            <a:endParaRPr lang="en-US" altLang="ko-KR" dirty="0"/>
          </a:p>
          <a:p>
            <a:pPr marL="228600" indent="-228600">
              <a:buFont typeface="+mj-lt"/>
              <a:buAutoNum type="arabicPeriod"/>
            </a:pPr>
            <a:r>
              <a:rPr lang="ko-KR" altLang="en-US" dirty="0"/>
              <a:t>동의 선택</a:t>
            </a:r>
            <a:r>
              <a:rPr lang="en-US" altLang="ko-KR" dirty="0"/>
              <a:t/>
            </a:r>
            <a:br>
              <a:rPr lang="en-US" altLang="ko-KR" dirty="0"/>
            </a:br>
            <a:r>
              <a:rPr lang="en-US" altLang="ko-KR" dirty="0"/>
              <a:t>- </a:t>
            </a:r>
            <a:r>
              <a:rPr lang="ko-KR" altLang="en-US" dirty="0"/>
              <a:t>기본값</a:t>
            </a:r>
            <a:r>
              <a:rPr lang="en-US" altLang="ko-KR" dirty="0"/>
              <a:t>: </a:t>
            </a:r>
            <a:r>
              <a:rPr lang="ko-KR" altLang="en-US" dirty="0" err="1"/>
              <a:t>동의안함</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330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서약서 </a:t>
            </a:r>
            <a:r>
              <a:rPr lang="en-US" altLang="ko-KR" dirty="0">
                <a:latin typeface="+mn-ea"/>
              </a:rPr>
              <a:t>2</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서약서 중 청렴 계약 이행 서약서 내용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서약서 동의 </a:t>
            </a:r>
            <a:r>
              <a:rPr lang="en-US" altLang="ko-KR" dirty="0">
                <a:latin typeface="+mn-ea"/>
              </a:rPr>
              <a:t>&gt; </a:t>
            </a:r>
            <a:r>
              <a:rPr lang="ko-KR" altLang="en-US" dirty="0">
                <a:latin typeface="+mn-ea"/>
              </a:rPr>
              <a:t>팝업</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MUI-BD-04-P03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7" name="양쪽 모서리가 둥근 사각형 156"/>
          <p:cNvSpPr/>
          <p:nvPr/>
        </p:nvSpPr>
        <p:spPr>
          <a:xfrm>
            <a:off x="675399"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8" name="모서리가 둥근 직사각형 157"/>
          <p:cNvSpPr/>
          <p:nvPr/>
        </p:nvSpPr>
        <p:spPr>
          <a:xfrm>
            <a:off x="1761412"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9" name="그룹 158"/>
          <p:cNvGrpSpPr/>
          <p:nvPr/>
        </p:nvGrpSpPr>
        <p:grpSpPr>
          <a:xfrm>
            <a:off x="3164338" y="1773925"/>
            <a:ext cx="94010" cy="94010"/>
            <a:chOff x="6812560" y="3297172"/>
            <a:chExt cx="94010" cy="94010"/>
          </a:xfrm>
        </p:grpSpPr>
        <p:cxnSp>
          <p:nvCxnSpPr>
            <p:cNvPr id="160" name="직선 연결선 159"/>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5" name="TextBox 184">
            <a:extLst>
              <a:ext uri="{FF2B5EF4-FFF2-40B4-BE49-F238E27FC236}">
                <a16:creationId xmlns:a16="http://schemas.microsoft.com/office/drawing/2014/main" id="{FFC49AEA-2A8F-250C-A86A-A7751D9706C3}"/>
              </a:ext>
            </a:extLst>
          </p:cNvPr>
          <p:cNvSpPr txBox="1"/>
          <p:nvPr/>
        </p:nvSpPr>
        <p:spPr>
          <a:xfrm>
            <a:off x="804476" y="2129261"/>
            <a:ext cx="1033936" cy="123111"/>
          </a:xfrm>
          <a:prstGeom prst="rect">
            <a:avLst/>
          </a:prstGeom>
          <a:noFill/>
        </p:spPr>
        <p:txBody>
          <a:bodyPr wrap="none" lIns="0" tIns="0" rIns="0" bIns="0" rtlCol="0">
            <a:spAutoFit/>
          </a:bodyPr>
          <a:lstStyle/>
          <a:p>
            <a:r>
              <a:rPr lang="ko-KR" altLang="en-US" sz="800" b="1" dirty="0">
                <a:latin typeface="맑은 고딕" panose="020B0503020000020004" pitchFamily="50" charset="-127"/>
              </a:rPr>
              <a:t>청렴 계약 이행 서약서</a:t>
            </a:r>
            <a:endParaRPr lang="en-US" altLang="ko-KR" sz="800" b="1" dirty="0">
              <a:latin typeface="맑은 고딕" panose="020B0503020000020004" pitchFamily="50" charset="-127"/>
            </a:endParaRPr>
          </a:p>
        </p:txBody>
      </p:sp>
      <p:cxnSp>
        <p:nvCxnSpPr>
          <p:cNvPr id="187" name="직선 연결선 186">
            <a:extLst>
              <a:ext uri="{FF2B5EF4-FFF2-40B4-BE49-F238E27FC236}">
                <a16:creationId xmlns:a16="http://schemas.microsoft.com/office/drawing/2014/main" id="{E9293055-D5CD-4B9E-7F64-64B2D2CA7A52}"/>
              </a:ext>
            </a:extLst>
          </p:cNvPr>
          <p:cNvCxnSpPr/>
          <p:nvPr/>
        </p:nvCxnSpPr>
        <p:spPr>
          <a:xfrm>
            <a:off x="717412" y="2334700"/>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4" name="TextBox 193">
            <a:extLst>
              <a:ext uri="{FF2B5EF4-FFF2-40B4-BE49-F238E27FC236}">
                <a16:creationId xmlns:a16="http://schemas.microsoft.com/office/drawing/2014/main" id="{FFC49AEA-2A8F-250C-A86A-A7751D9706C3}"/>
              </a:ext>
            </a:extLst>
          </p:cNvPr>
          <p:cNvSpPr txBox="1"/>
          <p:nvPr/>
        </p:nvSpPr>
        <p:spPr>
          <a:xfrm>
            <a:off x="804476" y="2401096"/>
            <a:ext cx="2473940" cy="754053"/>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우리회사는 </a:t>
            </a:r>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부패없는</a:t>
            </a:r>
            <a:r>
              <a:rPr lang="ko-KR" altLang="en-US" sz="700" dirty="0">
                <a:solidFill>
                  <a:srgbClr val="000000"/>
                </a:solidFill>
                <a:latin typeface="Consolas" panose="020B0609020204030204" pitchFamily="49" charset="0"/>
              </a:rPr>
              <a:t> 투명한 기업경영과 공정한 행정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이 사회발전과 국가 경쟁력에 중요한 관건이 됨을 깊이 인식하며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국제적으로도 </a:t>
            </a:r>
            <a:r>
              <a:rPr lang="en-US" altLang="ko-KR" sz="700" dirty="0">
                <a:solidFill>
                  <a:srgbClr val="000000"/>
                </a:solidFill>
                <a:latin typeface="Consolas" panose="020B0609020204030204" pitchFamily="49" charset="0"/>
              </a:rPr>
              <a:t>OECD</a:t>
            </a:r>
            <a:r>
              <a:rPr lang="ko-KR" altLang="en-US" sz="700" dirty="0">
                <a:solidFill>
                  <a:srgbClr val="000000"/>
                </a:solidFill>
                <a:latin typeface="Consolas" panose="020B0609020204030204" pitchFamily="49" charset="0"/>
              </a:rPr>
              <a:t>뇌물방지 협약이 발효되고 </a:t>
            </a:r>
            <a:r>
              <a:rPr lang="ko-KR" altLang="en-US" sz="700" dirty="0" err="1">
                <a:solidFill>
                  <a:srgbClr val="000000"/>
                </a:solidFill>
                <a:latin typeface="Consolas" panose="020B0609020204030204" pitchFamily="49" charset="0"/>
              </a:rPr>
              <a:t>부패기업</a:t>
            </a:r>
            <a:r>
              <a:rPr lang="ko-KR" altLang="en-US" sz="700" dirty="0">
                <a:solidFill>
                  <a:srgbClr val="000000"/>
                </a:solidFill>
                <a:latin typeface="Consolas" panose="020B0609020204030204" pitchFamily="49" charset="0"/>
              </a:rPr>
              <a:t> 및 국가에 대한 제재가 강화되는 추세에 맞추어 청렴계약 취지에 적극적으로 호응하여 </a:t>
            </a:r>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발주기관명</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이</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가</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발주하는 모든 공사</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용역</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물품구매 등의 입찰에 참여함에 있어 우리 회사의 임</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직원과 대리인은</a:t>
            </a:r>
            <a:endParaRPr lang="en-US" altLang="ko-KR" sz="700" dirty="0">
              <a:latin typeface="맑은 고딕" panose="020B0503020000020004" pitchFamily="50" charset="-127"/>
            </a:endParaRPr>
          </a:p>
        </p:txBody>
      </p:sp>
      <p:cxnSp>
        <p:nvCxnSpPr>
          <p:cNvPr id="201" name="직선 연결선 200">
            <a:extLst>
              <a:ext uri="{FF2B5EF4-FFF2-40B4-BE49-F238E27FC236}">
                <a16:creationId xmlns:a16="http://schemas.microsoft.com/office/drawing/2014/main" id="{E9293055-D5CD-4B9E-7F64-64B2D2CA7A52}"/>
              </a:ext>
            </a:extLst>
          </p:cNvPr>
          <p:cNvCxnSpPr/>
          <p:nvPr/>
        </p:nvCxnSpPr>
        <p:spPr>
          <a:xfrm>
            <a:off x="717412" y="319753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모서리가 둥근 직사각형 213"/>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54" name="TextBox 253">
            <a:extLst>
              <a:ext uri="{FF2B5EF4-FFF2-40B4-BE49-F238E27FC236}">
                <a16:creationId xmlns:a16="http://schemas.microsoft.com/office/drawing/2014/main" id="{FFC49AEA-2A8F-250C-A86A-A7751D9706C3}"/>
              </a:ext>
            </a:extLst>
          </p:cNvPr>
          <p:cNvSpPr txBox="1"/>
          <p:nvPr/>
        </p:nvSpPr>
        <p:spPr>
          <a:xfrm>
            <a:off x="804476" y="3263926"/>
            <a:ext cx="2473940" cy="2477601"/>
          </a:xfrm>
          <a:prstGeom prst="rect">
            <a:avLst/>
          </a:prstGeom>
          <a:noFill/>
        </p:spPr>
        <p:txBody>
          <a:bodyPr wrap="square" lIns="0" tIns="0" rIns="0" bIns="0" rtlCol="0">
            <a:spAutoFit/>
          </a:bodyPr>
          <a:lstStyle/>
          <a:p>
            <a:pPr marL="228600" indent="-228600">
              <a:buAutoNum type="arabicPeriod"/>
            </a:pPr>
            <a:r>
              <a:rPr lang="ko-KR" altLang="en-US" sz="700" dirty="0">
                <a:solidFill>
                  <a:srgbClr val="000000"/>
                </a:solidFill>
                <a:latin typeface="Consolas" panose="020B0609020204030204" pitchFamily="49" charset="0"/>
              </a:rPr>
              <a:t>입찰가격의 사전협의나 특정인의 낙찰을 위한 담합 및 </a:t>
            </a:r>
            <a:r>
              <a:rPr lang="ko-KR" altLang="en-US" sz="700" dirty="0" err="1">
                <a:solidFill>
                  <a:srgbClr val="000000"/>
                </a:solidFill>
                <a:latin typeface="Consolas" panose="020B0609020204030204" pitchFamily="49" charset="0"/>
              </a:rPr>
              <a:t>다른업체와</a:t>
            </a:r>
            <a:r>
              <a:rPr lang="ko-KR" altLang="en-US" sz="700" dirty="0">
                <a:solidFill>
                  <a:srgbClr val="000000"/>
                </a:solidFill>
                <a:latin typeface="Consolas" panose="020B0609020204030204" pitchFamily="49" charset="0"/>
              </a:rPr>
              <a:t> 협정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결의</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협의하여 입찰의 자유경쟁을 부당하게 저해하는 일체의 불공정한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a:t>
            </a:r>
            <a:r>
              <a:rPr lang="en-US" altLang="ko-KR" sz="700" dirty="0">
                <a:solidFill>
                  <a:srgbClr val="2A00FF"/>
                </a:solidFill>
                <a:latin typeface="Consolas" panose="020B0609020204030204" pitchFamily="49" charset="0"/>
              </a:rPr>
              <a:t>‘</a:t>
            </a:r>
            <a:r>
              <a:rPr lang="ko-KR" altLang="en-US" sz="700" dirty="0" err="1">
                <a:solidFill>
                  <a:srgbClr val="000000"/>
                </a:solidFill>
                <a:latin typeface="Consolas" panose="020B0609020204030204" pitchFamily="49" charset="0"/>
              </a:rPr>
              <a:t>독점규제및공정거래에관한법률</a:t>
            </a:r>
            <a:r>
              <a:rPr lang="en-US" altLang="ko-KR" sz="700" dirty="0">
                <a:solidFill>
                  <a:srgbClr val="2A00FF"/>
                </a:solidFill>
                <a:latin typeface="Consolas" panose="020B0609020204030204" pitchFamily="49" charset="0"/>
              </a:rPr>
              <a:t>’</a:t>
            </a:r>
            <a:r>
              <a:rPr lang="ko-KR" altLang="en-US" sz="700" dirty="0">
                <a:solidFill>
                  <a:srgbClr val="000000"/>
                </a:solidFill>
                <a:latin typeface="Consolas" panose="020B0609020204030204" pitchFamily="49" charset="0"/>
              </a:rPr>
              <a:t>에 따른 공정거래위원회고발 및 형사고발과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a:pPr>
            <a:r>
              <a:rPr lang="ko-KR" altLang="en-US" sz="700" dirty="0">
                <a:solidFill>
                  <a:srgbClr val="000000"/>
                </a:solidFill>
                <a:latin typeface="Consolas" panose="020B0609020204030204" pitchFamily="49" charset="0"/>
              </a:rPr>
              <a:t>입찰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계약체결 및 계약이행과정</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준공</a:t>
            </a:r>
            <a:r>
              <a:rPr lang="en-US" altLang="ko-KR"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납품이후를</a:t>
            </a:r>
            <a:r>
              <a:rPr lang="ko-KR" altLang="en-US" sz="700" dirty="0">
                <a:solidFill>
                  <a:srgbClr val="000000"/>
                </a:solidFill>
                <a:latin typeface="Consolas" panose="020B0609020204030204" pitchFamily="49" charset="0"/>
              </a:rPr>
              <a:t> 포함</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에서 관계공무원에게 직</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간접적으로 금품</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향응 등의 뇌물을 제공하거나 제공함을 약속하지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a:pP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a:t>
            </a:r>
            <a:endParaRPr lang="en-US" altLang="ko-KR" sz="700" dirty="0">
              <a:latin typeface="맑은 고딕" panose="020B0503020000020004" pitchFamily="50" charset="-127"/>
            </a:endParaRPr>
          </a:p>
        </p:txBody>
      </p:sp>
      <p:grpSp>
        <p:nvGrpSpPr>
          <p:cNvPr id="262" name="그룹 261"/>
          <p:cNvGrpSpPr/>
          <p:nvPr/>
        </p:nvGrpSpPr>
        <p:grpSpPr>
          <a:xfrm>
            <a:off x="675399" y="5614711"/>
            <a:ext cx="2712027" cy="617588"/>
            <a:chOff x="675399" y="5614711"/>
            <a:chExt cx="2712027" cy="617588"/>
          </a:xfrm>
        </p:grpSpPr>
        <p:sp>
          <p:nvSpPr>
            <p:cNvPr id="263" name="직사각형 26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6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6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146" name="양쪽 모서리가 둥근 사각형 145"/>
          <p:cNvSpPr/>
          <p:nvPr/>
        </p:nvSpPr>
        <p:spPr>
          <a:xfrm>
            <a:off x="3793783" y="1609111"/>
            <a:ext cx="2712027" cy="462318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99" name="모서리가 둥근 직사각형 198"/>
          <p:cNvSpPr/>
          <p:nvPr/>
        </p:nvSpPr>
        <p:spPr>
          <a:xfrm>
            <a:off x="4879796" y="163950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00" name="그룹 199"/>
          <p:cNvGrpSpPr/>
          <p:nvPr/>
        </p:nvGrpSpPr>
        <p:grpSpPr>
          <a:xfrm>
            <a:off x="6282722" y="1773925"/>
            <a:ext cx="94010" cy="94010"/>
            <a:chOff x="6812560" y="3297172"/>
            <a:chExt cx="94010" cy="94010"/>
          </a:xfrm>
        </p:grpSpPr>
        <p:cxnSp>
          <p:nvCxnSpPr>
            <p:cNvPr id="202" name="직선 연결선 20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203" name="직선 연결선 20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204" name="TextBox 203">
            <a:extLst>
              <a:ext uri="{FF2B5EF4-FFF2-40B4-BE49-F238E27FC236}">
                <a16:creationId xmlns:a16="http://schemas.microsoft.com/office/drawing/2014/main" id="{FFC49AEA-2A8F-250C-A86A-A7751D9706C3}"/>
              </a:ext>
            </a:extLst>
          </p:cNvPr>
          <p:cNvSpPr txBox="1"/>
          <p:nvPr/>
        </p:nvSpPr>
        <p:spPr>
          <a:xfrm>
            <a:off x="3922860" y="1754604"/>
            <a:ext cx="1798758" cy="138499"/>
          </a:xfrm>
          <a:prstGeom prst="rect">
            <a:avLst/>
          </a:prstGeom>
          <a:noFill/>
        </p:spPr>
        <p:txBody>
          <a:bodyPr wrap="square" lIns="0" tIns="0" rIns="0" bIns="0" rtlCol="0">
            <a:spAutoFit/>
          </a:bodyPr>
          <a:lstStyle/>
          <a:p>
            <a:r>
              <a:rPr lang="ko-KR" altLang="en-US" sz="900" dirty="0">
                <a:latin typeface="+mn-ea"/>
              </a:rPr>
              <a:t>서약서 상세</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3783" y="201600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6" name="모서리가 둥근 직사각형 205"/>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208" name="TextBox 207">
            <a:extLst>
              <a:ext uri="{FF2B5EF4-FFF2-40B4-BE49-F238E27FC236}">
                <a16:creationId xmlns:a16="http://schemas.microsoft.com/office/drawing/2014/main" id="{FFC49AEA-2A8F-250C-A86A-A7751D9706C3}"/>
              </a:ext>
            </a:extLst>
          </p:cNvPr>
          <p:cNvSpPr txBox="1"/>
          <p:nvPr/>
        </p:nvSpPr>
        <p:spPr>
          <a:xfrm>
            <a:off x="3922860" y="2033176"/>
            <a:ext cx="2473940" cy="1508105"/>
          </a:xfrm>
          <a:prstGeom prst="rect">
            <a:avLst/>
          </a:prstGeom>
          <a:noFill/>
        </p:spPr>
        <p:txBody>
          <a:bodyPr wrap="square" lIns="0" tIns="0" rIns="0" bIns="0" rtlCol="0">
            <a:spAutoFit/>
          </a:bodyPr>
          <a:lstStyle/>
          <a:p>
            <a:pPr marL="228600" indent="-228600">
              <a:buFont typeface="+mj-lt"/>
              <a:buAutoNum type="arabicPeriod" startAt="3"/>
            </a:pPr>
            <a:r>
              <a:rPr lang="ko-KR" altLang="en-US" sz="700" dirty="0">
                <a:solidFill>
                  <a:srgbClr val="000000"/>
                </a:solidFill>
                <a:latin typeface="Consolas" panose="020B0609020204030204" pitchFamily="49" charset="0"/>
              </a:rPr>
              <a:t>공정한 직무수행을 방해하는 알선</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청탁을 통하여 입찰 또는 계약과 관련한 </a:t>
            </a:r>
            <a:r>
              <a:rPr lang="ko-KR" altLang="en-US" sz="700" dirty="0" err="1">
                <a:solidFill>
                  <a:srgbClr val="000000"/>
                </a:solidFill>
                <a:latin typeface="Consolas" panose="020B0609020204030204" pitchFamily="49" charset="0"/>
              </a:rPr>
              <a:t>특정정보의</a:t>
            </a:r>
            <a:r>
              <a:rPr lang="ko-KR" altLang="en-US" sz="700" dirty="0">
                <a:solidFill>
                  <a:srgbClr val="000000"/>
                </a:solidFill>
                <a:latin typeface="Consolas" panose="020B0609020204030204" pitchFamily="49" charset="0"/>
              </a:rPr>
              <a:t> 제공을 요구하거나 받는 행위를 하지 않겠습니다</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만약 이를 지키지 않을 경우 </a:t>
            </a:r>
            <a:r>
              <a:rPr lang="ko-KR" altLang="en-US" sz="700" dirty="0" err="1">
                <a:solidFill>
                  <a:srgbClr val="000000"/>
                </a:solidFill>
                <a:latin typeface="Consolas" panose="020B0609020204030204" pitchFamily="49" charset="0"/>
              </a:rPr>
              <a:t>귀부대에서</a:t>
            </a:r>
            <a:r>
              <a:rPr lang="ko-KR" altLang="en-US" sz="700" dirty="0">
                <a:solidFill>
                  <a:srgbClr val="000000"/>
                </a:solidFill>
                <a:latin typeface="Consolas" panose="020B0609020204030204" pitchFamily="49" charset="0"/>
              </a:rPr>
              <a:t> 조치하는 당해 입찰 및 </a:t>
            </a:r>
            <a:r>
              <a:rPr lang="ko-KR" altLang="en-US" sz="700" dirty="0" err="1">
                <a:solidFill>
                  <a:srgbClr val="000000"/>
                </a:solidFill>
                <a:latin typeface="Consolas" panose="020B0609020204030204" pitchFamily="49" charset="0"/>
              </a:rPr>
              <a:t>낙찰취소나</a:t>
            </a:r>
            <a:r>
              <a:rPr lang="ko-KR" altLang="en-US" sz="700" dirty="0">
                <a:solidFill>
                  <a:srgbClr val="000000"/>
                </a:solidFill>
                <a:latin typeface="Consolas" panose="020B0609020204030204" pitchFamily="49" charset="0"/>
              </a:rPr>
              <a:t> 계약해지에 대하여 일체의 이의를 제기하지 않겠습니다</a:t>
            </a:r>
            <a:r>
              <a:rPr lang="en-US" altLang="ko-KR" sz="700" dirty="0">
                <a:solidFill>
                  <a:srgbClr val="000000"/>
                </a:solidFill>
                <a:latin typeface="Consolas" panose="020B0609020204030204" pitchFamily="49" charset="0"/>
              </a:rPr>
              <a:t>.</a:t>
            </a:r>
          </a:p>
          <a:p>
            <a:pPr marL="228600" indent="-228600">
              <a:buAutoNum type="arabicPeriod" startAt="3"/>
            </a:pPr>
            <a:r>
              <a:rPr lang="ko-KR" altLang="en-US" sz="700" dirty="0">
                <a:solidFill>
                  <a:srgbClr val="000000"/>
                </a:solidFill>
                <a:latin typeface="Consolas" panose="020B0609020204030204" pitchFamily="49" charset="0"/>
              </a:rPr>
              <a:t>우리회사 임</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직원이 관계공무원에게 뇌물을 제공하거나 담합 등 불공정 행위를 하지 않도록 하고</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내부 비리 제보자에 대해서도 일체의 불이익을 받지 않도록 노력하겠습니다</a:t>
            </a:r>
            <a:r>
              <a:rPr lang="en-US" altLang="ko-KR" sz="700" dirty="0">
                <a:solidFill>
                  <a:srgbClr val="000000"/>
                </a:solidFill>
                <a:latin typeface="Consolas" panose="020B0609020204030204" pitchFamily="49" charset="0"/>
              </a:rPr>
              <a:t>.</a:t>
            </a:r>
          </a:p>
          <a:p>
            <a:pPr marL="228600" indent="-228600">
              <a:buAutoNum type="arabicPeriod" startAt="3"/>
            </a:pPr>
            <a:r>
              <a:rPr lang="ko-KR" altLang="en-US" sz="700" dirty="0">
                <a:solidFill>
                  <a:srgbClr val="000000"/>
                </a:solidFill>
                <a:latin typeface="Consolas" panose="020B0609020204030204" pitchFamily="49" charset="0"/>
              </a:rPr>
              <a:t>본 건과 관련한 하도급 계약의 체결 및 이행에 있어서 </a:t>
            </a:r>
            <a:r>
              <a:rPr lang="ko-KR" altLang="en-US" sz="700" dirty="0" err="1">
                <a:solidFill>
                  <a:srgbClr val="000000"/>
                </a:solidFill>
                <a:latin typeface="Consolas" panose="020B0609020204030204" pitchFamily="49" charset="0"/>
              </a:rPr>
              <a:t>원도급자로서의</a:t>
            </a:r>
            <a:r>
              <a:rPr lang="ko-KR" altLang="en-US" sz="700" dirty="0">
                <a:solidFill>
                  <a:srgbClr val="000000"/>
                </a:solidFill>
                <a:latin typeface="Consolas" panose="020B0609020204030204" pitchFamily="49" charset="0"/>
              </a:rPr>
              <a:t> 우월한 지위를 이용하여 </a:t>
            </a:r>
            <a:r>
              <a:rPr lang="ko-KR" altLang="en-US" sz="700" dirty="0" err="1">
                <a:solidFill>
                  <a:srgbClr val="000000"/>
                </a:solidFill>
                <a:latin typeface="Consolas" panose="020B0609020204030204" pitchFamily="49" charset="0"/>
              </a:rPr>
              <a:t>하도급자에게로부터</a:t>
            </a:r>
            <a:r>
              <a:rPr lang="ko-KR" altLang="en-US" sz="700" dirty="0">
                <a:solidFill>
                  <a:srgbClr val="000000"/>
                </a:solidFill>
                <a:latin typeface="Consolas" panose="020B0609020204030204" pitchFamily="49" charset="0"/>
              </a:rPr>
              <a:t> 금품을 수수하거나 부당 또는 불공정한 행위를 하지 아니하겠습니다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grpSp>
        <p:nvGrpSpPr>
          <p:cNvPr id="211" name="그룹 210"/>
          <p:cNvGrpSpPr/>
          <p:nvPr/>
        </p:nvGrpSpPr>
        <p:grpSpPr>
          <a:xfrm>
            <a:off x="3793783" y="5614711"/>
            <a:ext cx="2712027" cy="617588"/>
            <a:chOff x="675399" y="5614711"/>
            <a:chExt cx="2712027" cy="617588"/>
          </a:xfrm>
        </p:grpSpPr>
        <p:sp>
          <p:nvSpPr>
            <p:cNvPr id="213" name="직사각형 21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5"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저장 후 닫기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16"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cxnSp>
        <p:nvCxnSpPr>
          <p:cNvPr id="217" name="직선 연결선 216">
            <a:extLst>
              <a:ext uri="{FF2B5EF4-FFF2-40B4-BE49-F238E27FC236}">
                <a16:creationId xmlns:a16="http://schemas.microsoft.com/office/drawing/2014/main" id="{E9293055-D5CD-4B9E-7F64-64B2D2CA7A52}"/>
              </a:ext>
            </a:extLst>
          </p:cNvPr>
          <p:cNvCxnSpPr/>
          <p:nvPr/>
        </p:nvCxnSpPr>
        <p:spPr>
          <a:xfrm>
            <a:off x="3835796" y="3573476"/>
            <a:ext cx="2603018"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8" name="TextBox 217">
            <a:extLst>
              <a:ext uri="{FF2B5EF4-FFF2-40B4-BE49-F238E27FC236}">
                <a16:creationId xmlns:a16="http://schemas.microsoft.com/office/drawing/2014/main" id="{FFC49AEA-2A8F-250C-A86A-A7751D9706C3}"/>
              </a:ext>
            </a:extLst>
          </p:cNvPr>
          <p:cNvSpPr txBox="1"/>
          <p:nvPr/>
        </p:nvSpPr>
        <p:spPr>
          <a:xfrm>
            <a:off x="3922860" y="3639872"/>
            <a:ext cx="2473940" cy="861774"/>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위 청렴계약이행 서약은 상호 신뢰를 바탕으로 한 </a:t>
            </a:r>
            <a:r>
              <a:rPr lang="ko-KR" altLang="en-US" sz="700" dirty="0" err="1">
                <a:solidFill>
                  <a:srgbClr val="000000"/>
                </a:solidFill>
                <a:latin typeface="Consolas" panose="020B0609020204030204" pitchFamily="49" charset="0"/>
              </a:rPr>
              <a:t>약속으로서</a:t>
            </a:r>
            <a:r>
              <a:rPr lang="ko-KR" altLang="en-US" sz="700" dirty="0">
                <a:solidFill>
                  <a:srgbClr val="000000"/>
                </a:solidFill>
                <a:latin typeface="Consolas" panose="020B0609020204030204" pitchFamily="49" charset="0"/>
              </a:rPr>
              <a:t> 반드시 지킬 것이며</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우리회사가 낙찰자로 결정될 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이 서약 내용을 그대로 계약특수조건으로 계약하여 이행하고</a:t>
            </a:r>
            <a:r>
              <a:rPr lang="en-US" altLang="ko-KR"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불이행시</a:t>
            </a:r>
            <a:r>
              <a:rPr lang="ko-KR" altLang="en-US" sz="700" dirty="0">
                <a:solidFill>
                  <a:srgbClr val="000000"/>
                </a:solidFill>
                <a:latin typeface="Consolas" panose="020B0609020204030204" pitchFamily="49" charset="0"/>
              </a:rPr>
              <a:t> </a:t>
            </a:r>
            <a:r>
              <a:rPr lang="ko-KR" altLang="en-US" sz="700" dirty="0" err="1">
                <a:solidFill>
                  <a:srgbClr val="000000"/>
                </a:solidFill>
                <a:latin typeface="Consolas" panose="020B0609020204030204" pitchFamily="49" charset="0"/>
              </a:rPr>
              <a:t>귀부대가</a:t>
            </a:r>
            <a:r>
              <a:rPr lang="ko-KR" altLang="en-US" sz="700" dirty="0">
                <a:solidFill>
                  <a:srgbClr val="000000"/>
                </a:solidFill>
                <a:latin typeface="Consolas" panose="020B0609020204030204" pitchFamily="49" charset="0"/>
              </a:rPr>
              <a:t> 입찰참가 자격제한</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입찰 및 낙찰 취소</a:t>
            </a:r>
            <a:r>
              <a:rPr lang="en-US" altLang="ko-KR" sz="700" dirty="0">
                <a:solidFill>
                  <a:srgbClr val="000000"/>
                </a:solidFill>
                <a:latin typeface="Consolas" panose="020B0609020204030204" pitchFamily="49" charset="0"/>
              </a:rPr>
              <a:t>, </a:t>
            </a:r>
            <a:r>
              <a:rPr lang="ko-KR" altLang="en-US" sz="700" dirty="0">
                <a:solidFill>
                  <a:srgbClr val="000000"/>
                </a:solidFill>
                <a:latin typeface="Consolas" panose="020B0609020204030204" pitchFamily="49" charset="0"/>
              </a:rPr>
              <a:t>계약해제</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해지</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등의 조치 또는 우리 회사를 배제하는 입찰에 관한 조치를 하더라도 우리 회사는 </a:t>
            </a:r>
            <a:r>
              <a:rPr lang="ko-KR" altLang="en-US" sz="700" dirty="0" err="1">
                <a:solidFill>
                  <a:srgbClr val="000000"/>
                </a:solidFill>
                <a:latin typeface="Consolas" panose="020B0609020204030204" pitchFamily="49" charset="0"/>
              </a:rPr>
              <a:t>귀부대를</a:t>
            </a:r>
            <a:r>
              <a:rPr lang="ko-KR" altLang="en-US" sz="700" dirty="0">
                <a:solidFill>
                  <a:srgbClr val="000000"/>
                </a:solidFill>
                <a:latin typeface="Consolas" panose="020B0609020204030204" pitchFamily="49" charset="0"/>
              </a:rPr>
              <a:t> 상대로 손해배상을 청구하거나 민</a:t>
            </a:r>
            <a:r>
              <a:rPr lang="en-US" altLang="ko-KR" sz="700" dirty="0">
                <a:solidFill>
                  <a:srgbClr val="000000"/>
                </a:solidFill>
                <a:latin typeface="Consolas" panose="020B0609020204030204" pitchFamily="49" charset="0"/>
              </a:rPr>
              <a:t>·</a:t>
            </a:r>
            <a:r>
              <a:rPr lang="ko-KR" altLang="en-US" sz="700" dirty="0">
                <a:solidFill>
                  <a:srgbClr val="000000"/>
                </a:solidFill>
                <a:latin typeface="Consolas" panose="020B0609020204030204" pitchFamily="49" charset="0"/>
              </a:rPr>
              <a:t>형사상 이의를 제기하지 않을 것을 서약합니다</a:t>
            </a:r>
            <a:r>
              <a:rPr lang="en-US" altLang="ko-KR" sz="700" dirty="0">
                <a:solidFill>
                  <a:srgbClr val="000000"/>
                </a:solidFill>
                <a:latin typeface="Consolas" panose="020B0609020204030204" pitchFamily="49" charset="0"/>
              </a:rPr>
              <a:t>.</a:t>
            </a:r>
            <a:endParaRPr lang="en-US" altLang="ko-KR" sz="700" dirty="0">
              <a:latin typeface="맑은 고딕" panose="020B0503020000020004" pitchFamily="50" charset="-127"/>
            </a:endParaRPr>
          </a:p>
        </p:txBody>
      </p:sp>
      <p:cxnSp>
        <p:nvCxnSpPr>
          <p:cNvPr id="219" name="직선 연결선 218">
            <a:extLst>
              <a:ext uri="{FF2B5EF4-FFF2-40B4-BE49-F238E27FC236}">
                <a16:creationId xmlns:a16="http://schemas.microsoft.com/office/drawing/2014/main" id="{E9293055-D5CD-4B9E-7F64-64B2D2CA7A52}"/>
              </a:ext>
            </a:extLst>
          </p:cNvPr>
          <p:cNvCxnSpPr/>
          <p:nvPr/>
        </p:nvCxnSpPr>
        <p:spPr>
          <a:xfrm>
            <a:off x="3835796" y="45586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3835796" y="480256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3835796" y="515079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2" name="TextBox 221">
            <a:extLst>
              <a:ext uri="{FF2B5EF4-FFF2-40B4-BE49-F238E27FC236}">
                <a16:creationId xmlns:a16="http://schemas.microsoft.com/office/drawing/2014/main" id="{FFC49AEA-2A8F-250C-A86A-A7751D9706C3}"/>
              </a:ext>
            </a:extLst>
          </p:cNvPr>
          <p:cNvSpPr txBox="1"/>
          <p:nvPr/>
        </p:nvSpPr>
        <p:spPr>
          <a:xfrm>
            <a:off x="3922860" y="4628442"/>
            <a:ext cx="2473940" cy="107722"/>
          </a:xfrm>
          <a:prstGeom prst="rect">
            <a:avLst/>
          </a:prstGeom>
          <a:noFill/>
        </p:spPr>
        <p:txBody>
          <a:bodyPr wrap="square" lIns="0" tIns="0" rIns="0" bIns="0" rtlCol="0">
            <a:spAutoFit/>
          </a:bodyPr>
          <a:lstStyle/>
          <a:p>
            <a:pPr algn="ctr"/>
            <a:r>
              <a:rPr lang="en-US" altLang="ko-KR" sz="700" dirty="0">
                <a:latin typeface="맑은 고딕" panose="020B0503020000020004" pitchFamily="50" charset="-127"/>
              </a:rPr>
              <a:t>YYYY</a:t>
            </a:r>
            <a:r>
              <a:rPr lang="ko-KR" altLang="en-US" sz="700" dirty="0">
                <a:latin typeface="맑은 고딕" panose="020B0503020000020004" pitchFamily="50" charset="-127"/>
              </a:rPr>
              <a:t> 년  </a:t>
            </a:r>
            <a:r>
              <a:rPr lang="en-US" altLang="ko-KR" sz="700" dirty="0">
                <a:latin typeface="맑은 고딕" panose="020B0503020000020004" pitchFamily="50" charset="-127"/>
              </a:rPr>
              <a:t>MM</a:t>
            </a:r>
            <a:r>
              <a:rPr lang="ko-KR" altLang="en-US" sz="700" dirty="0">
                <a:latin typeface="맑은 고딕" panose="020B0503020000020004" pitchFamily="50" charset="-127"/>
              </a:rPr>
              <a:t> 월  </a:t>
            </a:r>
            <a:r>
              <a:rPr lang="en-US" altLang="ko-KR" sz="700" dirty="0">
                <a:latin typeface="맑은 고딕" panose="020B0503020000020004" pitchFamily="50" charset="-127"/>
              </a:rPr>
              <a:t>DD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p:txBody>
      </p:sp>
      <p:sp>
        <p:nvSpPr>
          <p:cNvPr id="223" name="TextBox 222">
            <a:extLst>
              <a:ext uri="{FF2B5EF4-FFF2-40B4-BE49-F238E27FC236}">
                <a16:creationId xmlns:a16="http://schemas.microsoft.com/office/drawing/2014/main" id="{FFC49AEA-2A8F-250C-A86A-A7751D9706C3}"/>
              </a:ext>
            </a:extLst>
          </p:cNvPr>
          <p:cNvSpPr txBox="1"/>
          <p:nvPr/>
        </p:nvSpPr>
        <p:spPr>
          <a:xfrm>
            <a:off x="3922860" y="4868956"/>
            <a:ext cx="2473940" cy="215444"/>
          </a:xfrm>
          <a:prstGeom prst="rect">
            <a:avLst/>
          </a:prstGeom>
          <a:noFill/>
        </p:spPr>
        <p:txBody>
          <a:bodyPr wrap="square" lIns="0" tIns="0" rIns="0" bIns="0" rtlCol="0">
            <a:spAutoFit/>
          </a:bodyPr>
          <a:lstStyle/>
          <a:p>
            <a:r>
              <a:rPr lang="ko-KR" altLang="en-US" sz="700" dirty="0" err="1">
                <a:latin typeface="맑은 고딕" panose="020B0503020000020004" pitchFamily="50" charset="-127"/>
              </a:rPr>
              <a:t>서약자</a:t>
            </a:r>
            <a:r>
              <a:rPr lang="ko-KR" altLang="en-US" sz="700" dirty="0">
                <a:latin typeface="맑은 고딕" panose="020B0503020000020004" pitchFamily="50" charset="-127"/>
              </a:rPr>
              <a:t> </a:t>
            </a:r>
            <a:r>
              <a:rPr lang="en-US" altLang="ko-KR" sz="700" dirty="0">
                <a:latin typeface="맑은 고딕" panose="020B0503020000020004" pitchFamily="50" charset="-127"/>
              </a:rPr>
              <a:t>: ###(</a:t>
            </a:r>
            <a:r>
              <a:rPr lang="ko-KR" altLang="en-US" sz="700" dirty="0">
                <a:latin typeface="맑은 고딕" panose="020B0503020000020004" pitchFamily="50" charset="-127"/>
              </a:rPr>
              <a:t>업체담당자명</a:t>
            </a:r>
            <a:r>
              <a:rPr lang="en-US" altLang="ko-KR" sz="700" dirty="0">
                <a:latin typeface="맑은 고딕" panose="020B0503020000020004" pitchFamily="50" charset="-127"/>
              </a:rPr>
              <a:t>)[</a:t>
            </a:r>
            <a:r>
              <a:rPr lang="ko-KR" altLang="en-US" sz="700" dirty="0" err="1">
                <a:latin typeface="맑은 고딕" panose="020B0503020000020004" pitchFamily="50" charset="-127"/>
              </a:rPr>
              <a:t>업체명</a:t>
            </a:r>
            <a:r>
              <a:rPr lang="en-US" altLang="ko-KR" sz="700" dirty="0">
                <a:latin typeface="맑은 고딕" panose="020B0503020000020004" pitchFamily="50" charset="-127"/>
              </a:rPr>
              <a:t>]</a:t>
            </a:r>
          </a:p>
          <a:p>
            <a:r>
              <a:rPr lang="en-US" altLang="ko-KR" sz="700" dirty="0">
                <a:solidFill>
                  <a:srgbClr val="000000"/>
                </a:solidFill>
                <a:latin typeface="Consolas" panose="020B0609020204030204" pitchFamily="49" charset="0"/>
              </a:rPr>
              <a:t>#####(</a:t>
            </a:r>
            <a:r>
              <a:rPr lang="ko-KR" altLang="en-US" sz="700" dirty="0" err="1">
                <a:solidFill>
                  <a:srgbClr val="000000"/>
                </a:solidFill>
                <a:latin typeface="Consolas" panose="020B0609020204030204" pitchFamily="49" charset="0"/>
              </a:rPr>
              <a:t>발주기관명</a:t>
            </a:r>
            <a:r>
              <a:rPr lang="en-US" altLang="ko-KR" sz="700" dirty="0">
                <a:solidFill>
                  <a:srgbClr val="000000"/>
                </a:solidFill>
                <a:latin typeface="Consolas" panose="020B0609020204030204" pitchFamily="49" charset="0"/>
              </a:rPr>
              <a:t>)</a:t>
            </a:r>
            <a:r>
              <a:rPr lang="ko-KR" altLang="en-US" sz="700" dirty="0">
                <a:latin typeface="맑은 고딕" panose="020B0503020000020004" pitchFamily="50" charset="-127"/>
              </a:rPr>
              <a:t> 귀하</a:t>
            </a:r>
            <a:endParaRPr lang="en-US" altLang="ko-KR" sz="700" dirty="0">
              <a:latin typeface="맑은 고딕" panose="020B0503020000020004" pitchFamily="50" charset="-127"/>
            </a:endParaRPr>
          </a:p>
        </p:txBody>
      </p:sp>
      <p:grpSp>
        <p:nvGrpSpPr>
          <p:cNvPr id="224" name="그룹 223"/>
          <p:cNvGrpSpPr/>
          <p:nvPr/>
        </p:nvGrpSpPr>
        <p:grpSpPr>
          <a:xfrm>
            <a:off x="4551173" y="5228743"/>
            <a:ext cx="1197246" cy="107722"/>
            <a:chOff x="4526323" y="5902014"/>
            <a:chExt cx="1197246" cy="107722"/>
          </a:xfrm>
        </p:grpSpPr>
        <p:sp>
          <p:nvSpPr>
            <p:cNvPr id="225" name="타원 224"/>
            <p:cNvSpPr/>
            <p:nvPr/>
          </p:nvSpPr>
          <p:spPr>
            <a:xfrm>
              <a:off x="4526323" y="5907195"/>
              <a:ext cx="106031" cy="9736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6" name="타원 225"/>
            <p:cNvSpPr/>
            <p:nvPr/>
          </p:nvSpPr>
          <p:spPr>
            <a:xfrm>
              <a:off x="5277619" y="5907195"/>
              <a:ext cx="106031" cy="97360"/>
            </a:xfrm>
            <a:prstGeom prst="ellipse">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7" name="TextBox 226">
              <a:extLst>
                <a:ext uri="{FF2B5EF4-FFF2-40B4-BE49-F238E27FC236}">
                  <a16:creationId xmlns:a16="http://schemas.microsoft.com/office/drawing/2014/main" id="{FFC49AEA-2A8F-250C-A86A-A7751D9706C3}"/>
                </a:ext>
              </a:extLst>
            </p:cNvPr>
            <p:cNvSpPr txBox="1"/>
            <p:nvPr/>
          </p:nvSpPr>
          <p:spPr>
            <a:xfrm>
              <a:off x="4694755" y="5902014"/>
              <a:ext cx="391133" cy="107722"/>
            </a:xfrm>
            <a:prstGeom prst="rect">
              <a:avLst/>
            </a:prstGeom>
            <a:noFill/>
          </p:spPr>
          <p:txBody>
            <a:bodyPr wrap="none" lIns="0" tIns="0" rIns="0" bIns="0" rtlCol="0">
              <a:spAutoFit/>
            </a:bodyPr>
            <a:lstStyle/>
            <a:p>
              <a:r>
                <a:rPr lang="ko-KR" altLang="en-US" sz="700" dirty="0">
                  <a:latin typeface="+mn-ea"/>
                </a:rPr>
                <a:t>동의 안함</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5454265" y="5902014"/>
              <a:ext cx="269304" cy="107722"/>
            </a:xfrm>
            <a:prstGeom prst="rect">
              <a:avLst/>
            </a:prstGeom>
            <a:noFill/>
          </p:spPr>
          <p:txBody>
            <a:bodyPr wrap="none" lIns="0" tIns="0" rIns="0" bIns="0" rtlCol="0">
              <a:spAutoFit/>
            </a:bodyPr>
            <a:lstStyle/>
            <a:p>
              <a:r>
                <a:rPr lang="ko-KR" altLang="en-US" sz="700" dirty="0">
                  <a:latin typeface="+mn-ea"/>
                </a:rPr>
                <a:t>동의함</a:t>
              </a:r>
            </a:p>
          </p:txBody>
        </p:sp>
      </p:grpSp>
      <p:sp>
        <p:nvSpPr>
          <p:cNvPr id="229" name="TextBox 228">
            <a:extLst>
              <a:ext uri="{FF2B5EF4-FFF2-40B4-BE49-F238E27FC236}">
                <a16:creationId xmlns:a16="http://schemas.microsoft.com/office/drawing/2014/main" id="{75DF28B5-84C4-84C3-4D62-98FEE71BEAA5}"/>
              </a:ext>
            </a:extLst>
          </p:cNvPr>
          <p:cNvSpPr txBox="1"/>
          <p:nvPr/>
        </p:nvSpPr>
        <p:spPr>
          <a:xfrm>
            <a:off x="2770269" y="6241869"/>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54" name="타원 53">
            <a:extLst>
              <a:ext uri="{FF2B5EF4-FFF2-40B4-BE49-F238E27FC236}">
                <a16:creationId xmlns:a16="http://schemas.microsoft.com/office/drawing/2014/main" id="{37A7FF4F-0EAA-1463-560A-D5EC24416103}"/>
              </a:ext>
            </a:extLst>
          </p:cNvPr>
          <p:cNvSpPr/>
          <p:nvPr/>
        </p:nvSpPr>
        <p:spPr>
          <a:xfrm>
            <a:off x="571127" y="209971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타원 54">
            <a:extLst>
              <a:ext uri="{FF2B5EF4-FFF2-40B4-BE49-F238E27FC236}">
                <a16:creationId xmlns:a16="http://schemas.microsoft.com/office/drawing/2014/main" id="{37A7FF4F-0EAA-1463-560A-D5EC24416103}"/>
              </a:ext>
            </a:extLst>
          </p:cNvPr>
          <p:cNvSpPr/>
          <p:nvPr/>
        </p:nvSpPr>
        <p:spPr>
          <a:xfrm>
            <a:off x="3701811" y="4615657"/>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56" name="타원 55">
            <a:extLst>
              <a:ext uri="{FF2B5EF4-FFF2-40B4-BE49-F238E27FC236}">
                <a16:creationId xmlns:a16="http://schemas.microsoft.com/office/drawing/2014/main" id="{37A7FF4F-0EAA-1463-560A-D5EC24416103}"/>
              </a:ext>
            </a:extLst>
          </p:cNvPr>
          <p:cNvSpPr/>
          <p:nvPr/>
        </p:nvSpPr>
        <p:spPr>
          <a:xfrm>
            <a:off x="571127" y="2581682"/>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57" name="타원 56">
            <a:extLst>
              <a:ext uri="{FF2B5EF4-FFF2-40B4-BE49-F238E27FC236}">
                <a16:creationId xmlns:a16="http://schemas.microsoft.com/office/drawing/2014/main" id="{37A7FF4F-0EAA-1463-560A-D5EC24416103}"/>
              </a:ext>
            </a:extLst>
          </p:cNvPr>
          <p:cNvSpPr/>
          <p:nvPr/>
        </p:nvSpPr>
        <p:spPr>
          <a:xfrm>
            <a:off x="3701811" y="491288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58" name="타원 57">
            <a:extLst>
              <a:ext uri="{FF2B5EF4-FFF2-40B4-BE49-F238E27FC236}">
                <a16:creationId xmlns:a16="http://schemas.microsoft.com/office/drawing/2014/main" id="{37A7FF4F-0EAA-1463-560A-D5EC24416103}"/>
              </a:ext>
            </a:extLst>
          </p:cNvPr>
          <p:cNvSpPr/>
          <p:nvPr/>
        </p:nvSpPr>
        <p:spPr>
          <a:xfrm>
            <a:off x="3701811" y="52307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5</a:t>
            </a:r>
            <a:endParaRPr lang="ko-KR" altLang="en-US" sz="900" b="1" dirty="0"/>
          </a:p>
        </p:txBody>
      </p:sp>
    </p:spTree>
    <p:extLst>
      <p:ext uri="{BB962C8B-B14F-4D97-AF65-F5344CB8AC3E}">
        <p14:creationId xmlns:p14="http://schemas.microsoft.com/office/powerpoint/2010/main" val="120967467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331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119738"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서약서 데이터 영역 </a:t>
            </a:r>
            <a:r>
              <a:rPr lang="en-US" altLang="ko-KR" sz="900" b="1" dirty="0">
                <a:solidFill>
                  <a:prstClr val="black"/>
                </a:solidFill>
              </a:rPr>
              <a:t>(</a:t>
            </a:r>
            <a:r>
              <a:rPr lang="en-US" altLang="ko-KR" sz="900" b="1" dirty="0" err="1">
                <a:solidFill>
                  <a:prstClr val="black"/>
                </a:solidFill>
              </a:rPr>
              <a:t>dl_resultInfo</a:t>
            </a:r>
            <a:r>
              <a:rPr lang="en-US" altLang="ko-KR" sz="900" b="1" dirty="0">
                <a:solidFill>
                  <a:prstClr val="black"/>
                </a:solidFill>
              </a:rPr>
              <a:t>)</a:t>
            </a:r>
            <a:endParaRPr lang="ko-KR" altLang="en-US" sz="900" b="1" dirty="0">
              <a:solidFill>
                <a:prstClr val="black"/>
              </a:solidFill>
            </a:endParaRPr>
          </a:p>
        </p:txBody>
      </p:sp>
      <p:sp>
        <p:nvSpPr>
          <p:cNvPr id="23" name="TextBox 22">
            <a:extLst>
              <a:ext uri="{FF2B5EF4-FFF2-40B4-BE49-F238E27FC236}">
                <a16:creationId xmlns:a16="http://schemas.microsoft.com/office/drawing/2014/main" id="{3DE9AA4C-D963-36B3-1B0C-BA042EBA36E5}"/>
              </a:ext>
            </a:extLst>
          </p:cNvPr>
          <p:cNvSpPr txBox="1"/>
          <p:nvPr/>
        </p:nvSpPr>
        <p:spPr>
          <a:xfrm>
            <a:off x="458117" y="41506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20710"/>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서약일자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wrotAgreYmd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서약일자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당일일자를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351466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담당자명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담당자명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로그인한 조달업체사용자의 명을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06937730"/>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로그인한 조달업체사용자의 업체명을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발주기관명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prcmRqtInstNm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발주기관명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공고의 발주기관명을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28" name="표 27">
            <a:extLst>
              <a:ext uri="{FF2B5EF4-FFF2-40B4-BE49-F238E27FC236}">
                <a16:creationId xmlns:a16="http://schemas.microsoft.com/office/drawing/2014/main" id="{89E1827E-1988-380A-F9F3-3955A79B0FE9}"/>
              </a:ext>
            </a:extLst>
          </p:cNvPr>
          <p:cNvGraphicFramePr>
            <a:graphicFrameLocks noGrp="1"/>
          </p:cNvGraphicFramePr>
          <p:nvPr/>
        </p:nvGraphicFramePr>
        <p:xfrm>
          <a:off x="453000" y="4428787"/>
          <a:ext cx="8995591" cy="11414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발주기관 및 로그인 사용자 </a:t>
                      </a:r>
                      <a:r>
                        <a:rPr lang="ko-KR" altLang="en-US" sz="800">
                          <a:latin typeface="+mn-ea"/>
                          <a:ea typeface="+mn-ea"/>
                        </a:rPr>
                        <a:t>정보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저장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scwin.btn_save_onclick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err="1">
                          <a:latin typeface="+mn-ea"/>
                          <a:ea typeface="+mn-ea"/>
                        </a:rPr>
                        <a:t>입찰참가신청서작성</a:t>
                      </a:r>
                      <a:r>
                        <a:rPr lang="ko-KR" altLang="en-US" sz="800" dirty="0">
                          <a:latin typeface="+mn-ea"/>
                          <a:ea typeface="+mn-ea"/>
                        </a:rPr>
                        <a:t> 화면을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동의함 체크 시</a:t>
                      </a:r>
                      <a:r>
                        <a:rPr lang="en-US" altLang="ko-KR" sz="800">
                          <a:latin typeface="+mn-ea"/>
                          <a:ea typeface="+mn-ea"/>
                        </a:rPr>
                        <a:t>, </a:t>
                      </a:r>
                      <a:r>
                        <a:rPr lang="ko-KR" altLang="en-US" sz="800">
                          <a:latin typeface="+mn-ea"/>
                          <a:ea typeface="+mn-ea"/>
                        </a:rPr>
                        <a:t>버튼 </a:t>
                      </a:r>
                      <a:r>
                        <a:rPr lang="ko-KR" altLang="en-US" sz="800" dirty="0">
                          <a:latin typeface="+mn-ea"/>
                          <a:ea typeface="+mn-ea"/>
                        </a:rPr>
                        <a:t>활성화</a:t>
                      </a:r>
                      <a:endParaRPr lang="en-US" altLang="ko-KR" sz="800">
                        <a:latin typeface="+mn-ea"/>
                        <a:ea typeface="+mn-ea"/>
                      </a:endParaRPr>
                    </a:p>
                    <a:p>
                      <a:pPr marL="87313" indent="-87313" algn="l" latinLnBrk="1">
                        <a:buFont typeface="Arial" panose="020B0604020202020204" pitchFamily="34" charset="0"/>
                        <a:buChar char="•"/>
                      </a:pPr>
                      <a:r>
                        <a:rPr lang="ko-KR" altLang="en-US" sz="800">
                          <a:latin typeface="+mn-ea"/>
                          <a:ea typeface="+mn-ea"/>
                        </a:rPr>
                        <a:t>동의함 </a:t>
                      </a:r>
                      <a:r>
                        <a:rPr lang="ko-KR" altLang="en-US" sz="800" dirty="0">
                          <a:latin typeface="+mn-ea"/>
                          <a:ea typeface="+mn-ea"/>
                        </a:rPr>
                        <a:t>미 체크 시</a:t>
                      </a:r>
                      <a:r>
                        <a:rPr lang="en-US" altLang="ko-KR" sz="800" dirty="0">
                          <a:latin typeface="+mn-ea"/>
                          <a:ea typeface="+mn-ea"/>
                        </a:rPr>
                        <a:t>, </a:t>
                      </a:r>
                      <a:r>
                        <a:rPr lang="ko-KR" altLang="en-US" sz="800" dirty="0">
                          <a:latin typeface="+mn-ea"/>
                          <a:ea typeface="+mn-ea"/>
                        </a:rPr>
                        <a:t>버튼 비활성화</a:t>
                      </a:r>
                      <a:endParaRPr lang="en-US" altLang="ko-KR" sz="800">
                        <a:latin typeface="+mn-ea"/>
                        <a:ea typeface="+mn-ea"/>
                      </a:endParaRPr>
                    </a:p>
                    <a:p>
                      <a:pPr marL="87313" indent="-87313" algn="l" latinLnBrk="1">
                        <a:buFont typeface="Arial" panose="020B0604020202020204" pitchFamily="34" charset="0"/>
                        <a:buChar char="•"/>
                      </a:pPr>
                      <a:r>
                        <a:rPr lang="en-US" altLang="ko-KR" sz="800">
                          <a:latin typeface="+mn-ea"/>
                          <a:ea typeface="+mn-ea"/>
                        </a:rPr>
                        <a:t>UI-BD-04-M72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53183806"/>
                  </a:ext>
                </a:extLst>
              </a:tr>
              <a:tr h="0">
                <a:tc>
                  <a:txBody>
                    <a:bodyPr/>
                    <a:lstStyle/>
                    <a:p>
                      <a:r>
                        <a:rPr lang="ko-KR" altLang="en-US" sz="800" dirty="0"/>
                        <a:t>취소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scnwin.btn_cancle_onclick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작업내용을 반영하지 않고 현재 팝업을 종료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ext Box 73">
            <a:extLst>
              <a:ext uri="{FF2B5EF4-FFF2-40B4-BE49-F238E27FC236}">
                <a16:creationId xmlns:a16="http://schemas.microsoft.com/office/drawing/2014/main" id="{4F32DA2C-5290-3901-9488-3C9FD03E1955}"/>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79250809"/>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332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일반정보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MUI-BD-04-M72</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입찰참가신청서 작성</a:t>
            </a: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9" name="그룹 148"/>
          <p:cNvGrpSpPr/>
          <p:nvPr/>
        </p:nvGrpSpPr>
        <p:grpSpPr>
          <a:xfrm rot="5400000">
            <a:off x="755013" y="1640499"/>
            <a:ext cx="94010" cy="47005"/>
            <a:chOff x="6812560" y="3297172"/>
            <a:chExt cx="94010" cy="47005"/>
          </a:xfrm>
        </p:grpSpPr>
        <p:cxnSp>
          <p:nvCxnSpPr>
            <p:cNvPr id="150" name="직선 연결선 1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3" name="직선 연결선 1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4" name="타원 153"/>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25461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27974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489972"/>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52131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2603303"/>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8" name="그룹 7"/>
          <p:cNvGrpSpPr/>
          <p:nvPr/>
        </p:nvGrpSpPr>
        <p:grpSpPr>
          <a:xfrm>
            <a:off x="747926" y="2897630"/>
            <a:ext cx="2570733" cy="187961"/>
            <a:chOff x="747926" y="2310331"/>
            <a:chExt cx="2570733" cy="187961"/>
          </a:xfrm>
        </p:grpSpPr>
        <p:grpSp>
          <p:nvGrpSpPr>
            <p:cNvPr id="97" name="그룹 96"/>
            <p:cNvGrpSpPr/>
            <p:nvPr/>
          </p:nvGrpSpPr>
          <p:grpSpPr>
            <a:xfrm rot="16200000">
              <a:off x="1250698" y="2380810"/>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0" name="그룹 99"/>
            <p:cNvGrpSpPr/>
            <p:nvPr/>
          </p:nvGrpSpPr>
          <p:grpSpPr>
            <a:xfrm>
              <a:off x="1404036" y="2310331"/>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신청서</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2</a:t>
                  </a:r>
                  <a:endParaRPr lang="ko-KR" altLang="en-US" sz="700" dirty="0">
                    <a:solidFill>
                      <a:schemeClr val="bg1"/>
                    </a:solidFill>
                    <a:latin typeface="+mn-ea"/>
                  </a:endParaRPr>
                </a:p>
              </p:txBody>
            </p:sp>
          </p:grpSp>
        </p:grpSp>
        <p:grpSp>
          <p:nvGrpSpPr>
            <p:cNvPr id="105" name="그룹 104"/>
            <p:cNvGrpSpPr/>
            <p:nvPr/>
          </p:nvGrpSpPr>
          <p:grpSpPr>
            <a:xfrm rot="16200000">
              <a:off x="1906809" y="2380810"/>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08" name="그룹 107"/>
            <p:cNvGrpSpPr/>
            <p:nvPr/>
          </p:nvGrpSpPr>
          <p:grpSpPr>
            <a:xfrm rot="16200000">
              <a:off x="2562921" y="2380810"/>
              <a:ext cx="94010" cy="47005"/>
              <a:chOff x="6812560" y="3297172"/>
              <a:chExt cx="94010" cy="47005"/>
            </a:xfrm>
          </p:grpSpPr>
          <p:cxnSp>
            <p:nvCxnSpPr>
              <p:cNvPr id="109" name="직선 연결선 10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0" name="직선 연결선 10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7" name="그룹 6"/>
            <p:cNvGrpSpPr/>
            <p:nvPr/>
          </p:nvGrpSpPr>
          <p:grpSpPr>
            <a:xfrm>
              <a:off x="747926" y="2310331"/>
              <a:ext cx="601001" cy="187961"/>
              <a:chOff x="747926" y="2310331"/>
              <a:chExt cx="601001" cy="187961"/>
            </a:xfrm>
          </p:grpSpPr>
          <p:grpSp>
            <p:nvGrpSpPr>
              <p:cNvPr id="6" name="그룹 5"/>
              <p:cNvGrpSpPr/>
              <p:nvPr/>
            </p:nvGrpSpPr>
            <p:grpSpPr>
              <a:xfrm>
                <a:off x="747926" y="2310331"/>
                <a:ext cx="187961" cy="187961"/>
                <a:chOff x="747926" y="2310331"/>
                <a:chExt cx="187961" cy="187961"/>
              </a:xfrm>
            </p:grpSpPr>
            <p:sp>
              <p:nvSpPr>
                <p:cNvPr id="114" name="타원 113"/>
                <p:cNvSpPr/>
                <p:nvPr/>
              </p:nvSpPr>
              <p:spPr>
                <a:xfrm>
                  <a:off x="747926" y="2310331"/>
                  <a:ext cx="187961" cy="187961"/>
                </a:xfrm>
                <a:prstGeom prst="ellipse">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3" y="2350450"/>
                  <a:ext cx="77847" cy="107722"/>
                </a:xfrm>
                <a:prstGeom prst="rect">
                  <a:avLst/>
                </a:prstGeom>
                <a:noFill/>
              </p:spPr>
              <p:txBody>
                <a:bodyPr wrap="square" lIns="0" tIns="0" rIns="0" bIns="0" rtlCol="0">
                  <a:spAutoFit/>
                </a:bodyPr>
                <a:lstStyle/>
                <a:p>
                  <a:pPr algn="ctr"/>
                  <a:r>
                    <a:rPr lang="en-US" altLang="ko-KR" sz="700" dirty="0">
                      <a:latin typeface="+mn-ea"/>
                    </a:rPr>
                    <a:t>1</a:t>
                  </a:r>
                  <a:endParaRPr lang="ko-KR" altLang="en-US" sz="700" dirty="0">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1" y="2350450"/>
                <a:ext cx="397576" cy="107722"/>
              </a:xfrm>
              <a:prstGeom prst="rect">
                <a:avLst/>
              </a:prstGeom>
              <a:noFill/>
            </p:spPr>
            <p:txBody>
              <a:bodyPr wrap="square" lIns="0" tIns="0" rIns="0" bIns="0" rtlCol="0">
                <a:spAutoFit/>
              </a:bodyPr>
              <a:lstStyle/>
              <a:p>
                <a:r>
                  <a:rPr lang="ko-KR" altLang="en-US" sz="700" dirty="0">
                    <a:latin typeface="+mn-ea"/>
                  </a:rPr>
                  <a:t>서약서</a:t>
                </a:r>
              </a:p>
            </p:txBody>
          </p:sp>
        </p:grpSp>
        <p:grpSp>
          <p:nvGrpSpPr>
            <p:cNvPr id="116" name="그룹 115"/>
            <p:cNvGrpSpPr/>
            <p:nvPr/>
          </p:nvGrpSpPr>
          <p:grpSpPr>
            <a:xfrm>
              <a:off x="2058750" y="2310331"/>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서명</a:t>
                </a:r>
              </a:p>
            </p:txBody>
          </p:sp>
        </p:grpSp>
        <p:grpSp>
          <p:nvGrpSpPr>
            <p:cNvPr id="121" name="그룹 120"/>
            <p:cNvGrpSpPr/>
            <p:nvPr/>
          </p:nvGrpSpPr>
          <p:grpSpPr>
            <a:xfrm>
              <a:off x="2714861" y="2310331"/>
              <a:ext cx="603798" cy="187961"/>
              <a:chOff x="2714860" y="3237230"/>
              <a:chExt cx="603798" cy="187961"/>
            </a:xfrm>
          </p:grpSpPr>
          <p:grpSp>
            <p:nvGrpSpPr>
              <p:cNvPr id="122" name="그룹 121"/>
              <p:cNvGrpSpPr/>
              <p:nvPr/>
            </p:nvGrpSpPr>
            <p:grpSpPr>
              <a:xfrm>
                <a:off x="2714860" y="3237230"/>
                <a:ext cx="187961" cy="187961"/>
                <a:chOff x="2714860" y="3237230"/>
                <a:chExt cx="187961" cy="187961"/>
              </a:xfrm>
            </p:grpSpPr>
            <p:sp>
              <p:nvSpPr>
                <p:cNvPr id="124" name="타원 123"/>
                <p:cNvSpPr/>
                <p:nvPr/>
              </p:nvSpPr>
              <p:spPr>
                <a:xfrm>
                  <a:off x="2714860"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FFC49AEA-2A8F-250C-A86A-A7751D9706C3}"/>
                    </a:ext>
                  </a:extLst>
                </p:cNvPr>
                <p:cNvSpPr txBox="1"/>
                <p:nvPr/>
              </p:nvSpPr>
              <p:spPr>
                <a:xfrm>
                  <a:off x="2769917" y="3277349"/>
                  <a:ext cx="77847" cy="107722"/>
                </a:xfrm>
                <a:prstGeom prst="rect">
                  <a:avLst/>
                </a:prstGeom>
                <a:noFill/>
              </p:spPr>
              <p:txBody>
                <a:bodyPr wrap="square" lIns="0" tIns="0" rIns="0" bIns="0" rtlCol="0">
                  <a:spAutoFit/>
                </a:bodyPr>
                <a:lstStyle/>
                <a:p>
                  <a:pPr algn="ctr"/>
                  <a:r>
                    <a:rPr lang="en-US" altLang="ko-KR" sz="700" dirty="0">
                      <a:latin typeface="+mn-ea"/>
                    </a:rPr>
                    <a:t>4</a:t>
                  </a:r>
                  <a:endParaRPr lang="ko-KR" altLang="en-US" sz="700" dirty="0">
                    <a:latin typeface="+mn-ea"/>
                  </a:endParaRPr>
                </a:p>
              </p:txBody>
            </p:sp>
          </p:grpSp>
          <p:sp>
            <p:nvSpPr>
              <p:cNvPr id="123" name="TextBox 122">
                <a:extLst>
                  <a:ext uri="{FF2B5EF4-FFF2-40B4-BE49-F238E27FC236}">
                    <a16:creationId xmlns:a16="http://schemas.microsoft.com/office/drawing/2014/main" id="{FFC49AEA-2A8F-250C-A86A-A7751D9706C3}"/>
                  </a:ext>
                </a:extLst>
              </p:cNvPr>
              <p:cNvSpPr txBox="1"/>
              <p:nvPr/>
            </p:nvSpPr>
            <p:spPr>
              <a:xfrm>
                <a:off x="2920010"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139" name="TextBox 138">
            <a:extLst>
              <a:ext uri="{FF2B5EF4-FFF2-40B4-BE49-F238E27FC236}">
                <a16:creationId xmlns:a16="http://schemas.microsoft.com/office/drawing/2014/main" id="{FFC49AEA-2A8F-250C-A86A-A7751D9706C3}"/>
              </a:ext>
            </a:extLst>
          </p:cNvPr>
          <p:cNvSpPr txBox="1"/>
          <p:nvPr/>
        </p:nvSpPr>
        <p:spPr>
          <a:xfrm>
            <a:off x="781461" y="3942048"/>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5" name="직사각형 154"/>
          <p:cNvSpPr/>
          <p:nvPr/>
        </p:nvSpPr>
        <p:spPr>
          <a:xfrm>
            <a:off x="722583" y="4249534"/>
            <a:ext cx="792000" cy="6585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20490" y="424953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809647" y="4249533"/>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입찰보증금 총액</a:t>
            </a:r>
            <a:endParaRPr lang="en-US" altLang="ko-KR"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1566495" y="4249533"/>
            <a:ext cx="1784088" cy="646331"/>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2025-12-24 10:30</a:t>
            </a:r>
          </a:p>
          <a:p>
            <a:pPr algn="r">
              <a:lnSpc>
                <a:spcPct val="200000"/>
              </a:lnSpc>
            </a:pPr>
            <a:r>
              <a:rPr lang="en-US" altLang="ko-KR" sz="700" dirty="0">
                <a:latin typeface="+mn-ea"/>
              </a:rPr>
              <a:t>511.18</a:t>
            </a: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2583" y="448063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469434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22583" y="490805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20490" y="389506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8631" y="3678455"/>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1860138"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2561532" y="3678455"/>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3640332"/>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40" name="그룹 239"/>
          <p:cNvGrpSpPr/>
          <p:nvPr/>
        </p:nvGrpSpPr>
        <p:grpSpPr>
          <a:xfrm>
            <a:off x="675399" y="1936620"/>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56" name="그룹 255"/>
          <p:cNvGrpSpPr/>
          <p:nvPr/>
        </p:nvGrpSpPr>
        <p:grpSpPr>
          <a:xfrm>
            <a:off x="3795733"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5733" y="511658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6" name="직선 연결선 315">
            <a:extLst>
              <a:ext uri="{FF2B5EF4-FFF2-40B4-BE49-F238E27FC236}">
                <a16:creationId xmlns:a16="http://schemas.microsoft.com/office/drawing/2014/main" id="{E9293055-D5CD-4B9E-7F64-64B2D2CA7A52}"/>
              </a:ext>
            </a:extLst>
          </p:cNvPr>
          <p:cNvCxnSpPr/>
          <p:nvPr/>
        </p:nvCxnSpPr>
        <p:spPr>
          <a:xfrm>
            <a:off x="675399" y="316987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3252083"/>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3283428"/>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365414"/>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24" name="타원 323">
            <a:extLst>
              <a:ext uri="{FF2B5EF4-FFF2-40B4-BE49-F238E27FC236}">
                <a16:creationId xmlns:a16="http://schemas.microsoft.com/office/drawing/2014/main" id="{37A7FF4F-0EAA-1463-560A-D5EC24416103}"/>
              </a:ext>
            </a:extLst>
          </p:cNvPr>
          <p:cNvSpPr/>
          <p:nvPr/>
        </p:nvSpPr>
        <p:spPr>
          <a:xfrm>
            <a:off x="571127" y="363686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6" name="타원 325">
            <a:extLst>
              <a:ext uri="{FF2B5EF4-FFF2-40B4-BE49-F238E27FC236}">
                <a16:creationId xmlns:a16="http://schemas.microsoft.com/office/drawing/2014/main" id="{37A7FF4F-0EAA-1463-560A-D5EC24416103}"/>
              </a:ext>
            </a:extLst>
          </p:cNvPr>
          <p:cNvSpPr/>
          <p:nvPr/>
        </p:nvSpPr>
        <p:spPr>
          <a:xfrm>
            <a:off x="571127" y="399804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3840473"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3884151" y="2201247"/>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4438614" y="2201247"/>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4980121"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5681515"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3840473"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6044069"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51" name="모서리가 둥근 직사각형 150"/>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70880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675399" y="501211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3" name="그룹 2"/>
          <p:cNvGrpSpPr/>
          <p:nvPr/>
        </p:nvGrpSpPr>
        <p:grpSpPr>
          <a:xfrm>
            <a:off x="3836701" y="2485990"/>
            <a:ext cx="2630093" cy="2031034"/>
            <a:chOff x="3791188" y="2611009"/>
            <a:chExt cx="2630093" cy="2031034"/>
          </a:xfrm>
        </p:grpSpPr>
        <p:sp>
          <p:nvSpPr>
            <p:cNvPr id="166" name="TextBox 16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167" name="직사각형 166"/>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3880345" y="2918494"/>
              <a:ext cx="756848" cy="168924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주민등록번호</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71" name="직선 연결선 170">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80" name="TextBox 179">
            <a:extLst>
              <a:ext uri="{FF2B5EF4-FFF2-40B4-BE49-F238E27FC236}">
                <a16:creationId xmlns:a16="http://schemas.microsoft.com/office/drawing/2014/main" id="{FFC49AEA-2A8F-250C-A86A-A7751D9706C3}"/>
              </a:ext>
            </a:extLst>
          </p:cNvPr>
          <p:cNvSpPr txBox="1"/>
          <p:nvPr/>
        </p:nvSpPr>
        <p:spPr>
          <a:xfrm>
            <a:off x="3914777" y="4589293"/>
            <a:ext cx="2473940" cy="430887"/>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본인은 낙찰 후 계약을 체결하지 아니하거나 서류제출 기피 등 </a:t>
            </a:r>
            <a:r>
              <a:rPr lang="ko-KR" altLang="en-US" sz="700" dirty="0" err="1">
                <a:solidFill>
                  <a:srgbClr val="000000"/>
                </a:solidFill>
                <a:latin typeface="Consolas" panose="020B0609020204030204" pitchFamily="49" charset="0"/>
              </a:rPr>
              <a:t>귀사로부터</a:t>
            </a:r>
            <a:r>
              <a:rPr lang="ko-KR" altLang="en-US" sz="700" dirty="0">
                <a:solidFill>
                  <a:srgbClr val="000000"/>
                </a:solidFill>
                <a:latin typeface="Consolas" panose="020B0609020204030204" pitchFamily="49" charset="0"/>
              </a:rPr>
              <a:t> 상기 입찰보증금을 한도로 해당품목 입찰보증금액의 납입 요청 이견 없이 </a:t>
            </a:r>
            <a:r>
              <a:rPr lang="en-US" altLang="ko-KR" sz="700" dirty="0">
                <a:solidFill>
                  <a:srgbClr val="000000"/>
                </a:solidFill>
                <a:latin typeface="Consolas" panose="020B0609020204030204" pitchFamily="49" charset="0"/>
              </a:rPr>
              <a:t>30</a:t>
            </a:r>
            <a:r>
              <a:rPr lang="ko-KR" altLang="en-US" sz="700" dirty="0">
                <a:solidFill>
                  <a:srgbClr val="000000"/>
                </a:solidFill>
                <a:latin typeface="Consolas" panose="020B0609020204030204" pitchFamily="49" charset="0"/>
              </a:rPr>
              <a:t>일 이내 납부할 것을 서약합니다 </a:t>
            </a:r>
          </a:p>
        </p:txBody>
      </p:sp>
    </p:spTree>
    <p:extLst>
      <p:ext uri="{BB962C8B-B14F-4D97-AF65-F5344CB8AC3E}">
        <p14:creationId xmlns:p14="http://schemas.microsoft.com/office/powerpoint/2010/main" val="3492131042"/>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 업체 데이터</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333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업체정보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err="1"/>
              <a:t>품목내역</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업체정보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MUI-BD-04-M73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086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301324"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78" name="직선 연결선 277">
            <a:extLst>
              <a:ext uri="{FF2B5EF4-FFF2-40B4-BE49-F238E27FC236}">
                <a16:creationId xmlns:a16="http://schemas.microsoft.com/office/drawing/2014/main" id="{E9293055-D5CD-4B9E-7F64-64B2D2CA7A52}"/>
              </a:ext>
            </a:extLst>
          </p:cNvPr>
          <p:cNvCxnSpPr/>
          <p:nvPr/>
        </p:nvCxnSpPr>
        <p:spPr>
          <a:xfrm>
            <a:off x="3840474"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9" name="TextBox 278">
            <a:extLst>
              <a:ext uri="{FF2B5EF4-FFF2-40B4-BE49-F238E27FC236}">
                <a16:creationId xmlns:a16="http://schemas.microsoft.com/office/drawing/2014/main" id="{FFC49AEA-2A8F-250C-A86A-A7751D9706C3}"/>
              </a:ext>
            </a:extLst>
          </p:cNvPr>
          <p:cNvSpPr txBox="1"/>
          <p:nvPr/>
        </p:nvSpPr>
        <p:spPr>
          <a:xfrm>
            <a:off x="3884152"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4438615" y="2201247"/>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sp>
        <p:nvSpPr>
          <p:cNvPr id="281" name="TextBox 280">
            <a:extLst>
              <a:ext uri="{FF2B5EF4-FFF2-40B4-BE49-F238E27FC236}">
                <a16:creationId xmlns:a16="http://schemas.microsoft.com/office/drawing/2014/main" id="{FFC49AEA-2A8F-250C-A86A-A7751D9706C3}"/>
              </a:ext>
            </a:extLst>
          </p:cNvPr>
          <p:cNvSpPr txBox="1"/>
          <p:nvPr/>
        </p:nvSpPr>
        <p:spPr>
          <a:xfrm>
            <a:off x="4980122"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290" name="TextBox 289">
            <a:extLst>
              <a:ext uri="{FF2B5EF4-FFF2-40B4-BE49-F238E27FC236}">
                <a16:creationId xmlns:a16="http://schemas.microsoft.com/office/drawing/2014/main" id="{FFC49AEA-2A8F-250C-A86A-A7751D9706C3}"/>
              </a:ext>
            </a:extLst>
          </p:cNvPr>
          <p:cNvSpPr txBox="1"/>
          <p:nvPr/>
        </p:nvSpPr>
        <p:spPr>
          <a:xfrm>
            <a:off x="5681516"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91" name="직선 연결선 290">
            <a:extLst>
              <a:ext uri="{FF2B5EF4-FFF2-40B4-BE49-F238E27FC236}">
                <a16:creationId xmlns:a16="http://schemas.microsoft.com/office/drawing/2014/main" id="{E9293055-D5CD-4B9E-7F64-64B2D2CA7A52}"/>
              </a:ext>
            </a:extLst>
          </p:cNvPr>
          <p:cNvCxnSpPr/>
          <p:nvPr/>
        </p:nvCxnSpPr>
        <p:spPr>
          <a:xfrm>
            <a:off x="4421659"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92" name="그룹 291"/>
          <p:cNvGrpSpPr/>
          <p:nvPr/>
        </p:nvGrpSpPr>
        <p:grpSpPr>
          <a:xfrm>
            <a:off x="6044070" y="2163124"/>
            <a:ext cx="422853" cy="187961"/>
            <a:chOff x="3641308" y="2234886"/>
            <a:chExt cx="422853" cy="187961"/>
          </a:xfrm>
        </p:grpSpPr>
        <p:sp>
          <p:nvSpPr>
            <p:cNvPr id="293" name="타원 29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4" name="그룹 293"/>
            <p:cNvGrpSpPr/>
            <p:nvPr/>
          </p:nvGrpSpPr>
          <p:grpSpPr>
            <a:xfrm rot="5400000" flipH="1">
              <a:off x="3679895" y="2305364"/>
              <a:ext cx="94010" cy="47005"/>
              <a:chOff x="6812560" y="3297172"/>
              <a:chExt cx="94010" cy="47005"/>
            </a:xfrm>
          </p:grpSpPr>
          <p:cxnSp>
            <p:nvCxnSpPr>
              <p:cNvPr id="344" name="직선 연결선 3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5" name="직선 연결선 3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12" name="타원 31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3" name="그룹 312"/>
            <p:cNvGrpSpPr/>
            <p:nvPr/>
          </p:nvGrpSpPr>
          <p:grpSpPr>
            <a:xfrm rot="16200000">
              <a:off x="3931564" y="2305364"/>
              <a:ext cx="94010" cy="47005"/>
              <a:chOff x="6812560" y="3297172"/>
              <a:chExt cx="94010" cy="47005"/>
            </a:xfrm>
          </p:grpSpPr>
          <p:cxnSp>
            <p:nvCxnSpPr>
              <p:cNvPr id="315" name="직선 연결선 31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3" name="직선 연결선 3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9" name="모서리가 둥근 직사각형 108"/>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680270" y="458210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6" name="그룹 115"/>
          <p:cNvGrpSpPr/>
          <p:nvPr/>
        </p:nvGrpSpPr>
        <p:grpSpPr>
          <a:xfrm>
            <a:off x="721238" y="2485990"/>
            <a:ext cx="2630093" cy="2031034"/>
            <a:chOff x="3791188" y="2611009"/>
            <a:chExt cx="2630093" cy="2031034"/>
          </a:xfrm>
        </p:grpSpPr>
        <p:sp>
          <p:nvSpPr>
            <p:cNvPr id="117" name="TextBox 116">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18" name="직사각형 117"/>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22" name="직선 연결선 121">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4" name="직선 연결선 12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2" name="TextBox 131">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 name="그룹 2"/>
          <p:cNvGrpSpPr/>
          <p:nvPr/>
        </p:nvGrpSpPr>
        <p:grpSpPr>
          <a:xfrm>
            <a:off x="3914777" y="2486725"/>
            <a:ext cx="2473940" cy="3675880"/>
            <a:chOff x="3930894" y="2486725"/>
            <a:chExt cx="2473940" cy="3675880"/>
          </a:xfrm>
        </p:grpSpPr>
        <p:sp>
          <p:nvSpPr>
            <p:cNvPr id="131" name="TextBox 130">
              <a:extLst>
                <a:ext uri="{FF2B5EF4-FFF2-40B4-BE49-F238E27FC236}">
                  <a16:creationId xmlns:a16="http://schemas.microsoft.com/office/drawing/2014/main" id="{FFC49AEA-2A8F-250C-A86A-A7751D9706C3}"/>
                </a:ext>
              </a:extLst>
            </p:cNvPr>
            <p:cNvSpPr txBox="1"/>
            <p:nvPr/>
          </p:nvSpPr>
          <p:spPr>
            <a:xfrm>
              <a:off x="3930894" y="2486725"/>
              <a:ext cx="2473940" cy="107722"/>
            </a:xfrm>
            <a:prstGeom prst="rect">
              <a:avLst/>
            </a:prstGeom>
            <a:noFill/>
          </p:spPr>
          <p:txBody>
            <a:bodyPr wrap="square" lIns="0" tIns="0" rIns="0" bIns="0" rtlCol="0">
              <a:spAutoFit/>
            </a:bodyPr>
            <a:lstStyle/>
            <a:p>
              <a:r>
                <a:rPr lang="en-US" altLang="ko-KR" sz="700" b="1" dirty="0">
                  <a:solidFill>
                    <a:srgbClr val="000000"/>
                  </a:solidFill>
                  <a:latin typeface="+mn-ea"/>
                </a:rPr>
                <a:t>LETTER OF GUARANTEE FOR PAYMENT OF BID BOND</a:t>
              </a:r>
              <a:endParaRPr lang="ko-KR" altLang="en-US" sz="700" b="1" dirty="0">
                <a:solidFill>
                  <a:srgbClr val="000000"/>
                </a:solidFill>
                <a:latin typeface="+mn-ea"/>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3930894" y="2715507"/>
              <a:ext cx="2473940" cy="3447098"/>
            </a:xfrm>
            <a:prstGeom prst="rect">
              <a:avLst/>
            </a:prstGeom>
            <a:noFill/>
          </p:spPr>
          <p:txBody>
            <a:bodyPr wrap="square" lIns="0" tIns="0" rIns="0" bIns="0" rtlCol="0">
              <a:spAutoFit/>
            </a:bodyPr>
            <a:lstStyle/>
            <a:p>
              <a:r>
                <a:rPr lang="en-US" altLang="ko-KR" sz="700" dirty="0">
                  <a:solidFill>
                    <a:srgbClr val="000000"/>
                  </a:solidFill>
                  <a:latin typeface="+mn-ea"/>
                </a:rPr>
                <a:t>Name and address of Beneficiary</a:t>
              </a:r>
            </a:p>
            <a:p>
              <a:r>
                <a:rPr lang="en-US" altLang="ko-KR" sz="700" dirty="0">
                  <a:solidFill>
                    <a:srgbClr val="000000"/>
                  </a:solidFill>
                  <a:latin typeface="+mn-ea"/>
                </a:rPr>
                <a:t>Defense Acquisition Program Administration, Republic of Korea, #2-15 </a:t>
              </a:r>
              <a:r>
                <a:rPr lang="en-US" altLang="ko-KR" sz="700" dirty="0" err="1">
                  <a:solidFill>
                    <a:srgbClr val="000000"/>
                  </a:solidFill>
                  <a:latin typeface="+mn-ea"/>
                </a:rPr>
                <a:t>Younsan</a:t>
              </a:r>
              <a:r>
                <a:rPr lang="en-US" altLang="ko-KR" sz="700" dirty="0">
                  <a:solidFill>
                    <a:srgbClr val="000000"/>
                  </a:solidFill>
                  <a:latin typeface="+mn-ea"/>
                </a:rPr>
                <a:t> 2Ga-Dong, </a:t>
              </a:r>
              <a:r>
                <a:rPr lang="en-US" altLang="ko-KR" sz="700" dirty="0" err="1">
                  <a:solidFill>
                    <a:srgbClr val="000000"/>
                  </a:solidFill>
                  <a:latin typeface="+mn-ea"/>
                </a:rPr>
                <a:t>Younsan-Gu</a:t>
              </a:r>
              <a:r>
                <a:rPr lang="en-US" altLang="ko-KR" sz="700" dirty="0">
                  <a:solidFill>
                    <a:srgbClr val="000000"/>
                  </a:solidFill>
                  <a:latin typeface="+mn-ea"/>
                </a:rPr>
                <a:t>, Seoul, Korea</a:t>
              </a:r>
            </a:p>
            <a:p>
              <a:r>
                <a:rPr lang="en-US" altLang="ko-KR" sz="700" dirty="0">
                  <a:solidFill>
                    <a:srgbClr val="000000"/>
                  </a:solidFill>
                  <a:latin typeface="+mn-ea"/>
                </a:rPr>
                <a:t>(Whom the solicitation defines as the “DAPA” or the “</a:t>
              </a:r>
              <a:r>
                <a:rPr lang="en-US" altLang="ko-KR" sz="700" dirty="0" err="1">
                  <a:solidFill>
                    <a:srgbClr val="000000"/>
                  </a:solidFill>
                  <a:latin typeface="+mn-ea"/>
                </a:rPr>
                <a:t>Buer</a:t>
              </a:r>
              <a:r>
                <a:rPr lang="en-US" altLang="ko-KR" sz="700" dirty="0">
                  <a:solidFill>
                    <a:srgbClr val="000000"/>
                  </a:solidFill>
                  <a:latin typeface="+mn-ea"/>
                </a:rPr>
                <a:t>”)</a:t>
              </a:r>
            </a:p>
            <a:p>
              <a:r>
                <a:rPr lang="en-US" altLang="ko-KR" sz="700" dirty="0">
                  <a:solidFill>
                    <a:srgbClr val="000000"/>
                  </a:solidFill>
                  <a:latin typeface="+mn-ea"/>
                </a:rPr>
                <a:t>We, #</a:t>
              </a:r>
              <a:r>
                <a:rPr lang="ko-KR" altLang="en-US" sz="700" dirty="0" err="1">
                  <a:solidFill>
                    <a:srgbClr val="000000"/>
                  </a:solidFill>
                  <a:latin typeface="+mn-ea"/>
                </a:rPr>
                <a:t>입찰업체명</a:t>
              </a:r>
              <a:endParaRPr lang="ko-KR" altLang="en-US" sz="700" dirty="0">
                <a:solidFill>
                  <a:srgbClr val="000000"/>
                </a:solidFill>
                <a:latin typeface="+mn-ea"/>
              </a:endParaRPr>
            </a:p>
            <a:p>
              <a:r>
                <a:rPr lang="en-US" altLang="ko-KR" sz="700" dirty="0">
                  <a:solidFill>
                    <a:srgbClr val="000000"/>
                  </a:solidFill>
                  <a:latin typeface="+mn-ea"/>
                </a:rPr>
                <a:t>The bidder of the above referenced solicitation, have been informed of the eligibility for an exemption from establishing a bid bond, pol Relevant Laws and Regulation of the Republic of Korea.</a:t>
              </a:r>
            </a:p>
            <a:p>
              <a:r>
                <a:rPr lang="en-US" altLang="ko-KR" sz="700" dirty="0">
                  <a:solidFill>
                    <a:srgbClr val="000000"/>
                  </a:solidFill>
                  <a:latin typeface="+mn-ea"/>
                </a:rPr>
                <a:t>Bidders are exempted from establishing bid bond unless he or she fails the following category.</a:t>
              </a:r>
            </a:p>
            <a:p>
              <a:endParaRPr lang="en-US" altLang="ko-KR" sz="700" dirty="0">
                <a:solidFill>
                  <a:srgbClr val="000000"/>
                </a:solidFill>
                <a:latin typeface="+mn-ea"/>
              </a:endParaRPr>
            </a:p>
            <a:p>
              <a:r>
                <a:rPr lang="en-US" altLang="ko-KR" sz="700" dirty="0">
                  <a:solidFill>
                    <a:srgbClr val="000000"/>
                  </a:solidFill>
                  <a:latin typeface="+mn-ea"/>
                </a:rPr>
                <a:t>1. A bidder who fails to meet the bond collection of the Bidding Authorities in connection with any contract.</a:t>
              </a:r>
            </a:p>
            <a:p>
              <a:r>
                <a:rPr lang="en-US" altLang="ko-KR" sz="700" dirty="0">
                  <a:solidFill>
                    <a:srgbClr val="000000"/>
                  </a:solidFill>
                  <a:latin typeface="+mn-ea"/>
                </a:rPr>
                <a:t>2. A bidder who had debarred form any bid pursuant to the Art. 76 of the Enforcement Act on Contracts to Which the State is a Party and the same sanction period has not been gone by after the expiration of the debarment.</a:t>
              </a:r>
            </a:p>
            <a:p>
              <a:r>
                <a:rPr lang="en-US" altLang="ko-KR" sz="700" dirty="0">
                  <a:solidFill>
                    <a:srgbClr val="000000"/>
                  </a:solidFill>
                  <a:latin typeface="+mn-ea"/>
                </a:rPr>
                <a:t>3. A bidder who has not been in the business for more than one(1) year as of the closing date of bid registration.</a:t>
              </a:r>
            </a:p>
            <a:p>
              <a:r>
                <a:rPr lang="en-US" altLang="ko-KR" sz="700" dirty="0">
                  <a:solidFill>
                    <a:srgbClr val="000000"/>
                  </a:solidFill>
                  <a:latin typeface="+mn-ea"/>
                </a:rPr>
                <a:t>In consideration of the DAPA granting the above mentioned exemption, we hereby irrevocably and unconditionally guarantee to pay DAPA</a:t>
              </a:r>
            </a:p>
            <a:p>
              <a:r>
                <a:rPr lang="en-US" altLang="ko-KR" sz="700" dirty="0">
                  <a:solidFill>
                    <a:srgbClr val="000000"/>
                  </a:solidFill>
                  <a:latin typeface="+mn-ea"/>
                </a:rPr>
                <a:t>US$(#</a:t>
              </a:r>
              <a:r>
                <a:rPr lang="ko-KR" altLang="en-US" sz="700" dirty="0">
                  <a:solidFill>
                    <a:srgbClr val="000000"/>
                  </a:solidFill>
                  <a:latin typeface="+mn-ea"/>
                </a:rPr>
                <a:t>보증금액</a:t>
              </a:r>
              <a:r>
                <a:rPr lang="en-US" altLang="ko-KR" sz="700" dirty="0">
                  <a:solidFill>
                    <a:srgbClr val="000000"/>
                  </a:solidFill>
                  <a:latin typeface="+mn-ea"/>
                </a:rPr>
                <a:t>) the amount which would have otherwise been established as the bid bond, within 30 days upon fail to execute the contract with DAPA after the bid is awarded to us or we do not respond timely to the evaluation formalities of the bidder's qualification if we are designated as an eligible bidder.</a:t>
              </a:r>
            </a:p>
            <a:p>
              <a:r>
                <a:rPr lang="en-US" altLang="ko-KR" sz="700" dirty="0">
                  <a:solidFill>
                    <a:srgbClr val="000000"/>
                  </a:solidFill>
                  <a:latin typeface="+mn-ea"/>
                </a:rPr>
                <a:t>We further agree that the DAPA is hereby authorized to deduct form any money due to us if we fail to make payment of such guaranteed amount</a:t>
              </a:r>
              <a:endParaRPr lang="ko-KR" altLang="en-US" sz="700" dirty="0">
                <a:solidFill>
                  <a:srgbClr val="000000"/>
                </a:solidFill>
                <a:latin typeface="+mn-ea"/>
              </a:endParaRPr>
            </a:p>
          </p:txBody>
        </p:sp>
      </p:gr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134" name="TextBox 133">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179118022"/>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입찰보증금구분 변경</a:t>
            </a:r>
            <a:endParaRPr lang="en-US" altLang="ko-KR" dirty="0"/>
          </a:p>
          <a:p>
            <a:pPr marL="228600" indent="-228600">
              <a:buFont typeface="+mj-lt"/>
              <a:buAutoNum type="arabicPeriod"/>
            </a:pPr>
            <a:r>
              <a:rPr lang="ko-KR" altLang="en-US" dirty="0"/>
              <a:t>입찰참가사업 및 입찰보증금</a:t>
            </a:r>
            <a:r>
              <a:rPr lang="en-US" altLang="ko-KR" dirty="0"/>
              <a:t>(</a:t>
            </a:r>
            <a:r>
              <a:rPr lang="ko-KR" altLang="en-US" dirty="0" err="1"/>
              <a:t>보증금면제</a:t>
            </a:r>
            <a:r>
              <a:rPr lang="en-US" altLang="ko-KR" dirty="0"/>
              <a:t>)</a:t>
            </a:r>
            <a:r>
              <a:rPr lang="ko-KR" altLang="en-US" dirty="0"/>
              <a:t> 데이터 영역</a:t>
            </a:r>
            <a:endParaRPr lang="en-US" altLang="ko-KR"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334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입찰 보증금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err="1">
                <a:latin typeface="+mn-ea"/>
              </a:rPr>
              <a:t>공종</a:t>
            </a:r>
            <a:r>
              <a:rPr lang="ko-KR" altLang="en-US" dirty="0">
                <a:latin typeface="+mn-ea"/>
              </a:rPr>
              <a:t> 및 면허</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 보증금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MUI-BD-04-M74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835170"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38081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173195"/>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841315"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3884993"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4439456"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4980963"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682357"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4956346"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44911" y="2163124"/>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3" name="직선 연결선 14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0" name="그룹 139"/>
            <p:cNvGrpSpPr/>
            <p:nvPr/>
          </p:nvGrpSpPr>
          <p:grpSpPr>
            <a:xfrm rot="16200000">
              <a:off x="3931564" y="2305364"/>
              <a:ext cx="94010" cy="47005"/>
              <a:chOff x="6812560" y="3297172"/>
              <a:chExt cx="94010" cy="47005"/>
            </a:xfrm>
          </p:grpSpPr>
          <p:cxnSp>
            <p:nvCxnSpPr>
              <p:cNvPr id="141" name="직선 연결선 1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2" name="직선 연결선 1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9" name="TextBox 148">
            <a:extLst>
              <a:ext uri="{FF2B5EF4-FFF2-40B4-BE49-F238E27FC236}">
                <a16:creationId xmlns:a16="http://schemas.microsoft.com/office/drawing/2014/main" id="{FFC49AEA-2A8F-250C-A86A-A7751D9706C3}"/>
              </a:ext>
            </a:extLst>
          </p:cNvPr>
          <p:cNvSpPr txBox="1"/>
          <p:nvPr/>
        </p:nvSpPr>
        <p:spPr>
          <a:xfrm>
            <a:off x="781109" y="2484624"/>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입찰보증금 구분</a:t>
            </a:r>
          </a:p>
        </p:txBody>
      </p:sp>
      <p:grpSp>
        <p:nvGrpSpPr>
          <p:cNvPr id="5" name="그룹 4"/>
          <p:cNvGrpSpPr/>
          <p:nvPr/>
        </p:nvGrpSpPr>
        <p:grpSpPr>
          <a:xfrm>
            <a:off x="761464" y="2743785"/>
            <a:ext cx="2533305" cy="162000"/>
            <a:chOff x="1847952" y="2743785"/>
            <a:chExt cx="1446817" cy="162000"/>
          </a:xfrm>
        </p:grpSpPr>
        <p:sp>
          <p:nvSpPr>
            <p:cNvPr id="101" name="사각형: 둥근 모서리 15">
              <a:extLst>
                <a:ext uri="{FF2B5EF4-FFF2-40B4-BE49-F238E27FC236}">
                  <a16:creationId xmlns:a16="http://schemas.microsoft.com/office/drawing/2014/main" id="{E2B61CFB-AD16-68D0-8752-50D9C5E01971}"/>
                </a:ext>
              </a:extLst>
            </p:cNvPr>
            <p:cNvSpPr/>
            <p:nvPr/>
          </p:nvSpPr>
          <p:spPr>
            <a:xfrm>
              <a:off x="2602430" y="2743785"/>
              <a:ext cx="692339"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보증금 </a:t>
              </a:r>
              <a:r>
                <a:rPr kumimoji="1" lang="ko-KR" altLang="en-US" sz="700" kern="0" dirty="0" err="1">
                  <a:latin typeface="맑은 고딕"/>
                  <a:ea typeface="맑은 고딕" panose="020B0503020000020004" pitchFamily="50" charset="-127"/>
                </a:rPr>
                <a:t>비면제</a:t>
              </a:r>
              <a:endParaRPr kumimoji="1" lang="en-US" sz="700" b="0" i="0" u="none" strike="noStrike" kern="0" cap="none" spc="0" normalizeH="0" baseline="0" noProof="0" dirty="0">
                <a:ln>
                  <a:noFill/>
                </a:ln>
                <a:effectLst/>
                <a:uLnTx/>
                <a:uFillTx/>
                <a:latin typeface="맑은 고딕"/>
              </a:endParaRPr>
            </a:p>
          </p:txBody>
        </p:sp>
        <p:sp>
          <p:nvSpPr>
            <p:cNvPr id="150" name="사각형: 둥근 모서리 15">
              <a:extLst>
                <a:ext uri="{FF2B5EF4-FFF2-40B4-BE49-F238E27FC236}">
                  <a16:creationId xmlns:a16="http://schemas.microsoft.com/office/drawing/2014/main" id="{E2B61CFB-AD16-68D0-8752-50D9C5E01971}"/>
                </a:ext>
              </a:extLst>
            </p:cNvPr>
            <p:cNvSpPr/>
            <p:nvPr/>
          </p:nvSpPr>
          <p:spPr>
            <a:xfrm>
              <a:off x="1847952" y="2743785"/>
              <a:ext cx="692339"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보증금 면제</a:t>
              </a:r>
              <a:endParaRPr kumimoji="1" lang="en-US" sz="700" b="0" i="0" u="none" strike="noStrike" kern="0" cap="none" spc="0" normalizeH="0" baseline="0" noProof="0" dirty="0">
                <a:ln>
                  <a:noFill/>
                </a:ln>
                <a:solidFill>
                  <a:srgbClr val="0070C0"/>
                </a:solidFill>
                <a:effectLst/>
                <a:uLnTx/>
                <a:uFillTx/>
                <a:latin typeface="맑은 고딕"/>
              </a:endParaRPr>
            </a:p>
          </p:txBody>
        </p:sp>
      </p:grpSp>
      <p:cxnSp>
        <p:nvCxnSpPr>
          <p:cNvPr id="155" name="직선 연결선 154">
            <a:extLst>
              <a:ext uri="{FF2B5EF4-FFF2-40B4-BE49-F238E27FC236}">
                <a16:creationId xmlns:a16="http://schemas.microsoft.com/office/drawing/2014/main" id="{E9293055-D5CD-4B9E-7F64-64B2D2CA7A52}"/>
              </a:ext>
            </a:extLst>
          </p:cNvPr>
          <p:cNvCxnSpPr/>
          <p:nvPr/>
        </p:nvCxnSpPr>
        <p:spPr>
          <a:xfrm>
            <a:off x="680270" y="30173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p:cNvSpPr/>
          <p:nvPr/>
        </p:nvSpPr>
        <p:spPr>
          <a:xfrm flipH="1">
            <a:off x="822037" y="2767369"/>
            <a:ext cx="114833" cy="114833"/>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p:cNvSpPr txBox="1"/>
          <p:nvPr/>
        </p:nvSpPr>
        <p:spPr>
          <a:xfrm>
            <a:off x="763817" y="2728554"/>
            <a:ext cx="242374" cy="200055"/>
          </a:xfrm>
          <a:prstGeom prst="rect">
            <a:avLst/>
          </a:prstGeom>
          <a:noFill/>
        </p:spPr>
        <p:txBody>
          <a:bodyPr wrap="none" rtlCol="0">
            <a:spAutoFit/>
          </a:bodyPr>
          <a:lstStyle/>
          <a:p>
            <a:r>
              <a:rPr lang="ko-KR" altLang="en-US" sz="700" dirty="0"/>
              <a:t>⩗</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3070896"/>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입찰참가사업 및 입찰보증금</a:t>
            </a:r>
          </a:p>
        </p:txBody>
      </p:sp>
      <p:sp>
        <p:nvSpPr>
          <p:cNvPr id="169" name="직사각형 168"/>
          <p:cNvSpPr/>
          <p:nvPr/>
        </p:nvSpPr>
        <p:spPr>
          <a:xfrm>
            <a:off x="722232" y="3378382"/>
            <a:ext cx="792000" cy="193899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378381"/>
            <a:ext cx="725552" cy="1938992"/>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입찰품목수</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입찰보증금</a:t>
            </a:r>
          </a:p>
          <a:p>
            <a:pPr>
              <a:lnSpc>
                <a:spcPct val="200000"/>
              </a:lnSpc>
            </a:pPr>
            <a:endParaRPr lang="en-US" altLang="ko-KR" sz="700" dirty="0">
              <a:latin typeface="+mn-ea"/>
            </a:endParaRPr>
          </a:p>
          <a:p>
            <a:pPr>
              <a:lnSpc>
                <a:spcPct val="200000"/>
              </a:lnSpc>
            </a:pPr>
            <a:r>
              <a:rPr lang="ko-KR" altLang="en-US" sz="700" dirty="0" err="1">
                <a:latin typeface="+mn-ea"/>
              </a:rPr>
              <a:t>연대보증서</a:t>
            </a:r>
            <a:endParaRPr lang="ko-KR" altLang="en-US" sz="700" dirty="0">
              <a:latin typeface="+mn-ea"/>
            </a:endParaRPr>
          </a:p>
          <a:p>
            <a:pPr>
              <a:lnSpc>
                <a:spcPct val="200000"/>
              </a:lnSpc>
            </a:pPr>
            <a:r>
              <a:rPr lang="ko-KR" altLang="en-US" sz="700" dirty="0" err="1">
                <a:latin typeface="+mn-ea"/>
              </a:rPr>
              <a:t>지급각서</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378381"/>
            <a:ext cx="1784088" cy="193899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0000 0000 00</a:t>
            </a:r>
          </a:p>
          <a:p>
            <a:pPr>
              <a:lnSpc>
                <a:spcPct val="200000"/>
              </a:lnSpc>
            </a:pPr>
            <a:r>
              <a:rPr lang="ko-KR" altLang="en-US" sz="700" dirty="0" err="1">
                <a:latin typeface="+mn-ea"/>
              </a:rPr>
              <a:t>사업명칭</a:t>
            </a:r>
            <a:r>
              <a:rPr lang="ko-KR" altLang="en-US" sz="700" dirty="0">
                <a:latin typeface="+mn-ea"/>
              </a:rPr>
              <a:t> 표시</a:t>
            </a:r>
            <a:endParaRPr lang="en-US" altLang="ko-KR" sz="700" dirty="0">
              <a:latin typeface="+mn-ea"/>
            </a:endParaRPr>
          </a:p>
          <a:p>
            <a:pPr>
              <a:lnSpc>
                <a:spcPct val="200000"/>
              </a:lnSpc>
            </a:pPr>
            <a:r>
              <a:rPr lang="en-US" altLang="ko-KR" sz="700" dirty="0">
                <a:latin typeface="+mn-ea"/>
              </a:rPr>
              <a:t>6</a:t>
            </a:r>
          </a:p>
          <a:p>
            <a:pPr algn="r">
              <a:lnSpc>
                <a:spcPct val="200000"/>
              </a:lnSpc>
            </a:pPr>
            <a:r>
              <a:rPr lang="en-US" altLang="ko-KR" sz="700" dirty="0">
                <a:latin typeface="+mn-ea"/>
              </a:rPr>
              <a:t>000,000,000,000.00</a:t>
            </a:r>
          </a:p>
          <a:p>
            <a:pPr algn="r">
              <a:lnSpc>
                <a:spcPct val="200000"/>
              </a:lnSpc>
            </a:pPr>
            <a:r>
              <a:rPr lang="en-US" altLang="ko-KR" sz="700" dirty="0">
                <a:latin typeface="+mn-ea"/>
              </a:rPr>
              <a:t>000,000,000,000.00</a:t>
            </a:r>
          </a:p>
          <a:p>
            <a:pPr>
              <a:lnSpc>
                <a:spcPct val="200000"/>
              </a:lnSpc>
            </a:pPr>
            <a:endParaRPr lang="en-US" altLang="ko-KR" sz="700" dirty="0">
              <a:latin typeface="+mn-ea"/>
            </a:endParaRPr>
          </a:p>
          <a:p>
            <a:pPr>
              <a:lnSpc>
                <a:spcPct val="200000"/>
              </a:lnSpc>
            </a:pPr>
            <a:r>
              <a:rPr lang="en-US" altLang="ko-KR" sz="700" dirty="0">
                <a:latin typeface="+mn-ea"/>
              </a:rPr>
              <a:t>File.pdf</a:t>
            </a:r>
          </a:p>
          <a:p>
            <a:pPr>
              <a:lnSpc>
                <a:spcPct val="200000"/>
              </a:lnSpc>
            </a:pPr>
            <a:r>
              <a:rPr lang="en-US" altLang="ko-KR" sz="700" dirty="0">
                <a:latin typeface="+mn-ea"/>
              </a:rPr>
              <a:t>File.pdf</a:t>
            </a:r>
          </a:p>
        </p:txBody>
      </p:sp>
      <p:grpSp>
        <p:nvGrpSpPr>
          <p:cNvPr id="172" name="그룹 171"/>
          <p:cNvGrpSpPr/>
          <p:nvPr/>
        </p:nvGrpSpPr>
        <p:grpSpPr>
          <a:xfrm>
            <a:off x="720139" y="3378381"/>
            <a:ext cx="2630093" cy="1939635"/>
            <a:chOff x="701175" y="1835481"/>
            <a:chExt cx="2630093" cy="1939635"/>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직선 연결선 155">
              <a:extLst>
                <a:ext uri="{FF2B5EF4-FFF2-40B4-BE49-F238E27FC236}">
                  <a16:creationId xmlns:a16="http://schemas.microsoft.com/office/drawing/2014/main" id="{E9293055-D5CD-4B9E-7F64-64B2D2CA7A52}"/>
                </a:ext>
              </a:extLst>
            </p:cNvPr>
            <p:cNvCxnSpPr/>
            <p:nvPr/>
          </p:nvCxnSpPr>
          <p:spPr>
            <a:xfrm>
              <a:off x="703268" y="35577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377511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7" name="TextBox 146">
            <a:extLst>
              <a:ext uri="{FF2B5EF4-FFF2-40B4-BE49-F238E27FC236}">
                <a16:creationId xmlns:a16="http://schemas.microsoft.com/office/drawing/2014/main" id="{FFC49AEA-2A8F-250C-A86A-A7751D9706C3}"/>
              </a:ext>
            </a:extLst>
          </p:cNvPr>
          <p:cNvSpPr txBox="1"/>
          <p:nvPr/>
        </p:nvSpPr>
        <p:spPr>
          <a:xfrm>
            <a:off x="1561065" y="4660467"/>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sp>
        <p:nvSpPr>
          <p:cNvPr id="148" name="사각형: 둥근 모서리 15">
            <a:extLst>
              <a:ext uri="{FF2B5EF4-FFF2-40B4-BE49-F238E27FC236}">
                <a16:creationId xmlns:a16="http://schemas.microsoft.com/office/drawing/2014/main" id="{E2B61CFB-AD16-68D0-8752-50D9C5E01971}"/>
              </a:ext>
            </a:extLst>
          </p:cNvPr>
          <p:cNvSpPr/>
          <p:nvPr/>
        </p:nvSpPr>
        <p:spPr>
          <a:xfrm>
            <a:off x="1563085" y="469613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4664865"/>
            <a:ext cx="725552" cy="215444"/>
          </a:xfrm>
          <a:prstGeom prst="rect">
            <a:avLst/>
          </a:prstGeom>
          <a:noFill/>
        </p:spPr>
        <p:txBody>
          <a:bodyPr wrap="square" lIns="0" tIns="0" rIns="0" bIns="0" rtlCol="0">
            <a:spAutoFit/>
          </a:bodyPr>
          <a:lstStyle/>
          <a:p>
            <a:r>
              <a:rPr lang="ko-KR" altLang="en-US" sz="700" dirty="0">
                <a:latin typeface="+mn-ea"/>
              </a:rPr>
              <a:t>입찰보증금</a:t>
            </a:r>
            <a:endParaRPr lang="en-US" altLang="ko-KR" sz="700" dirty="0">
              <a:latin typeface="+mn-ea"/>
            </a:endParaRPr>
          </a:p>
          <a:p>
            <a:r>
              <a:rPr lang="en-US" altLang="ko-KR" sz="700" dirty="0">
                <a:latin typeface="+mn-ea"/>
              </a:rPr>
              <a:t>(</a:t>
            </a:r>
            <a:r>
              <a:rPr lang="ko-KR" altLang="en-US" sz="700" dirty="0" err="1">
                <a:latin typeface="+mn-ea"/>
              </a:rPr>
              <a:t>확인입력</a:t>
            </a:r>
            <a:r>
              <a:rPr lang="en-US" altLang="ko-KR" sz="700" dirty="0">
                <a:latin typeface="+mn-ea"/>
              </a:rPr>
              <a:t>)</a:t>
            </a:r>
          </a:p>
        </p:txBody>
      </p:sp>
      <p:sp>
        <p:nvSpPr>
          <p:cNvPr id="167" name="사각형: 둥근 모서리 15">
            <a:extLst>
              <a:ext uri="{FF2B5EF4-FFF2-40B4-BE49-F238E27FC236}">
                <a16:creationId xmlns:a16="http://schemas.microsoft.com/office/drawing/2014/main" id="{E2B61CFB-AD16-68D0-8752-50D9C5E01971}"/>
              </a:ext>
            </a:extLst>
          </p:cNvPr>
          <p:cNvSpPr/>
          <p:nvPr/>
        </p:nvSpPr>
        <p:spPr>
          <a:xfrm>
            <a:off x="3061115" y="4921435"/>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a:latin typeface="맑은 고딕"/>
                <a:ea typeface="맑은 고딕" panose="020B0503020000020004" pitchFamily="50" charset="-127"/>
              </a:rPr>
              <a:t>선택</a:t>
            </a:r>
            <a:endParaRPr kumimoji="1" lang="en-US" sz="700" b="0" i="0" u="none" strike="noStrike" kern="0" cap="none" spc="0" normalizeH="0" baseline="0" noProof="0" dirty="0">
              <a:ln>
                <a:noFill/>
              </a:ln>
              <a:effectLst/>
              <a:uLnTx/>
              <a:uFillTx/>
              <a:latin typeface="맑은 고딕"/>
            </a:endParaRPr>
          </a:p>
        </p:txBody>
      </p:sp>
      <p:sp>
        <p:nvSpPr>
          <p:cNvPr id="181" name="사각형: 둥근 모서리 15">
            <a:extLst>
              <a:ext uri="{FF2B5EF4-FFF2-40B4-BE49-F238E27FC236}">
                <a16:creationId xmlns:a16="http://schemas.microsoft.com/office/drawing/2014/main" id="{E2B61CFB-AD16-68D0-8752-50D9C5E01971}"/>
              </a:ext>
            </a:extLst>
          </p:cNvPr>
          <p:cNvSpPr/>
          <p:nvPr/>
        </p:nvSpPr>
        <p:spPr>
          <a:xfrm>
            <a:off x="3061115" y="5132022"/>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a:latin typeface="맑은 고딕"/>
                <a:ea typeface="맑은 고딕" panose="020B0503020000020004" pitchFamily="50" charset="-127"/>
              </a:rPr>
              <a:t>선택</a:t>
            </a:r>
            <a:endParaRPr kumimoji="1" lang="en-US" sz="700" b="0" i="0" u="none" strike="noStrike" kern="0" cap="none" spc="0" normalizeH="0" baseline="0" noProof="0" dirty="0">
              <a:ln>
                <a:noFill/>
              </a:ln>
              <a:effectLst/>
              <a:uLnTx/>
              <a:uFillTx/>
              <a:latin typeface="맑은 고딕"/>
            </a:endParaRPr>
          </a:p>
        </p:txBody>
      </p:sp>
      <p:sp>
        <p:nvSpPr>
          <p:cNvPr id="168" name="타원 167">
            <a:extLst>
              <a:ext uri="{FF2B5EF4-FFF2-40B4-BE49-F238E27FC236}">
                <a16:creationId xmlns:a16="http://schemas.microsoft.com/office/drawing/2014/main" id="{37A7FF4F-0EAA-1463-560A-D5EC24416103}"/>
              </a:ext>
            </a:extLst>
          </p:cNvPr>
          <p:cNvSpPr/>
          <p:nvPr/>
        </p:nvSpPr>
        <p:spPr>
          <a:xfrm>
            <a:off x="589334" y="340126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82" name="타원 181"/>
          <p:cNvSpPr/>
          <p:nvPr/>
        </p:nvSpPr>
        <p:spPr>
          <a:xfrm>
            <a:off x="2843161" y="5139735"/>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a:off x="2887066" y="5174622"/>
            <a:ext cx="58075" cy="58074"/>
            <a:chOff x="6812560" y="3297172"/>
            <a:chExt cx="94010" cy="94010"/>
          </a:xfrm>
        </p:grpSpPr>
        <p:cxnSp>
          <p:nvCxnSpPr>
            <p:cNvPr id="184" name="직선 연결선 183"/>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85" name="직선 연결선 184"/>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87" name="타원 186"/>
          <p:cNvSpPr/>
          <p:nvPr/>
        </p:nvSpPr>
        <p:spPr>
          <a:xfrm>
            <a:off x="2843161" y="4920591"/>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8" name="그룹 187"/>
          <p:cNvGrpSpPr/>
          <p:nvPr/>
        </p:nvGrpSpPr>
        <p:grpSpPr>
          <a:xfrm>
            <a:off x="2887066" y="4955478"/>
            <a:ext cx="58075" cy="58074"/>
            <a:chOff x="6812560" y="3297172"/>
            <a:chExt cx="94010" cy="94010"/>
          </a:xfrm>
        </p:grpSpPr>
        <p:cxnSp>
          <p:nvCxnSpPr>
            <p:cNvPr id="189" name="직선 연결선 18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90" name="직선 연결선 18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91" name="TextBox 19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92" name="TextBox 191">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234717678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입찰보증금구분 변경</a:t>
            </a:r>
            <a:endParaRPr lang="en-US" altLang="ko-KR" dirty="0"/>
          </a:p>
          <a:p>
            <a:pPr marL="228600" indent="-228600">
              <a:buFont typeface="+mj-lt"/>
              <a:buAutoNum type="arabicPeriod"/>
            </a:pPr>
            <a:r>
              <a:rPr lang="ko-KR" altLang="en-US" dirty="0"/>
              <a:t>입찰참가사업 및 입찰보증금</a:t>
            </a:r>
            <a:r>
              <a:rPr lang="en-US" altLang="ko-KR" dirty="0"/>
              <a:t>(</a:t>
            </a:r>
            <a:r>
              <a:rPr lang="ko-KR" altLang="en-US" dirty="0"/>
              <a:t>보증금비면제</a:t>
            </a:r>
            <a:r>
              <a:rPr lang="en-US" altLang="ko-KR" dirty="0"/>
              <a:t>)</a:t>
            </a:r>
            <a:r>
              <a:rPr lang="ko-KR" altLang="en-US" dirty="0"/>
              <a:t> 데이터 영역</a:t>
            </a:r>
            <a:endParaRPr lang="en-US" altLang="ko-KR" dirty="0"/>
          </a:p>
          <a:p>
            <a:pPr marL="228600" indent="-228600">
              <a:buFont typeface="+mj-lt"/>
              <a:buAutoNum type="arabicPeriod"/>
            </a:pPr>
            <a:r>
              <a:rPr lang="ko-KR" altLang="en-US" dirty="0" err="1"/>
              <a:t>보증서선택</a:t>
            </a:r>
            <a:r>
              <a:rPr lang="ko-KR" altLang="en-US" dirty="0"/>
              <a:t> 클릭 이벤트</a:t>
            </a:r>
            <a:r>
              <a:rPr lang="en-US" altLang="ko-KR" dirty="0"/>
              <a:t/>
            </a:r>
            <a:br>
              <a:rPr lang="en-US" altLang="ko-KR" dirty="0"/>
            </a:br>
            <a:r>
              <a:rPr lang="en-US" altLang="ko-KR" dirty="0"/>
              <a:t>- </a:t>
            </a:r>
            <a:r>
              <a:rPr lang="ko-KR" altLang="en-US" dirty="0"/>
              <a:t>전자보증서인 경우 팝업 호출</a:t>
            </a:r>
            <a:r>
              <a:rPr lang="en-US" altLang="ko-KR" dirty="0"/>
              <a:t/>
            </a:r>
            <a:br>
              <a:rPr lang="en-US" altLang="ko-KR" dirty="0"/>
            </a:br>
            <a:r>
              <a:rPr lang="en-US" altLang="ko-KR" dirty="0"/>
              <a:t>- </a:t>
            </a:r>
            <a:r>
              <a:rPr lang="ko-KR" altLang="en-US" dirty="0"/>
              <a:t>보증보험인 경우 파일 선택 업로드</a:t>
            </a:r>
            <a:endParaRPr lang="en-US" altLang="ko-KR"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335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입찰 보증금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err="1">
                <a:latin typeface="+mn-ea"/>
              </a:rPr>
              <a:t>공종</a:t>
            </a:r>
            <a:r>
              <a:rPr lang="ko-KR" altLang="en-US" dirty="0">
                <a:latin typeface="+mn-ea"/>
              </a:rPr>
              <a:t> 및 면허</a:t>
            </a:r>
            <a:r>
              <a:rPr lang="ko-KR" altLang="en-US" dirty="0"/>
              <a:t> 확인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 보증금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MUI-BD-04-M74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835170"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38081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173195"/>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841315"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3884993"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4439456"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4980963"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682357"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4956346"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44911" y="2163124"/>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3" name="직선 연결선 14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0" name="그룹 139"/>
            <p:cNvGrpSpPr/>
            <p:nvPr/>
          </p:nvGrpSpPr>
          <p:grpSpPr>
            <a:xfrm rot="16200000">
              <a:off x="3931564" y="2305364"/>
              <a:ext cx="94010" cy="47005"/>
              <a:chOff x="6812560" y="3297172"/>
              <a:chExt cx="94010" cy="47005"/>
            </a:xfrm>
          </p:grpSpPr>
          <p:cxnSp>
            <p:nvCxnSpPr>
              <p:cNvPr id="141" name="직선 연결선 1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2" name="직선 연결선 1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9" name="TextBox 148">
            <a:extLst>
              <a:ext uri="{FF2B5EF4-FFF2-40B4-BE49-F238E27FC236}">
                <a16:creationId xmlns:a16="http://schemas.microsoft.com/office/drawing/2014/main" id="{FFC49AEA-2A8F-250C-A86A-A7751D9706C3}"/>
              </a:ext>
            </a:extLst>
          </p:cNvPr>
          <p:cNvSpPr txBox="1"/>
          <p:nvPr/>
        </p:nvSpPr>
        <p:spPr>
          <a:xfrm>
            <a:off x="781109" y="2484624"/>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입찰보증금 구분</a:t>
            </a:r>
          </a:p>
        </p:txBody>
      </p:sp>
      <p:grpSp>
        <p:nvGrpSpPr>
          <p:cNvPr id="5" name="그룹 4"/>
          <p:cNvGrpSpPr/>
          <p:nvPr/>
        </p:nvGrpSpPr>
        <p:grpSpPr>
          <a:xfrm>
            <a:off x="761464" y="2743785"/>
            <a:ext cx="2533305" cy="162000"/>
            <a:chOff x="1847952" y="2743785"/>
            <a:chExt cx="1446817" cy="162000"/>
          </a:xfrm>
        </p:grpSpPr>
        <p:sp>
          <p:nvSpPr>
            <p:cNvPr id="101" name="사각형: 둥근 모서리 15">
              <a:extLst>
                <a:ext uri="{FF2B5EF4-FFF2-40B4-BE49-F238E27FC236}">
                  <a16:creationId xmlns:a16="http://schemas.microsoft.com/office/drawing/2014/main" id="{E2B61CFB-AD16-68D0-8752-50D9C5E01971}"/>
                </a:ext>
              </a:extLst>
            </p:cNvPr>
            <p:cNvSpPr/>
            <p:nvPr/>
          </p:nvSpPr>
          <p:spPr>
            <a:xfrm>
              <a:off x="2602430" y="2743785"/>
              <a:ext cx="692339"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보증금 </a:t>
              </a:r>
              <a:r>
                <a:rPr kumimoji="1" lang="ko-KR" altLang="en-US" sz="700" kern="0" dirty="0" err="1">
                  <a:solidFill>
                    <a:srgbClr val="0070C0"/>
                  </a:solidFill>
                  <a:latin typeface="맑은 고딕"/>
                  <a:ea typeface="맑은 고딕" panose="020B0503020000020004" pitchFamily="50" charset="-127"/>
                </a:rPr>
                <a:t>비면제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50" name="사각형: 둥근 모서리 15">
              <a:extLst>
                <a:ext uri="{FF2B5EF4-FFF2-40B4-BE49-F238E27FC236}">
                  <a16:creationId xmlns:a16="http://schemas.microsoft.com/office/drawing/2014/main" id="{E2B61CFB-AD16-68D0-8752-50D9C5E01971}"/>
                </a:ext>
              </a:extLst>
            </p:cNvPr>
            <p:cNvSpPr/>
            <p:nvPr/>
          </p:nvSpPr>
          <p:spPr>
            <a:xfrm>
              <a:off x="1847952" y="2743785"/>
              <a:ext cx="692339"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보증금 면제</a:t>
              </a:r>
              <a:endParaRPr kumimoji="1" lang="en-US" sz="700" b="0" i="0" u="none" strike="noStrike" kern="0" cap="none" spc="0" normalizeH="0" baseline="0" noProof="0" dirty="0">
                <a:ln>
                  <a:noFill/>
                </a:ln>
                <a:effectLst/>
                <a:uLnTx/>
                <a:uFillTx/>
                <a:latin typeface="맑은 고딕"/>
              </a:endParaRPr>
            </a:p>
          </p:txBody>
        </p:sp>
      </p:grpSp>
      <p:cxnSp>
        <p:nvCxnSpPr>
          <p:cNvPr id="155" name="직선 연결선 154">
            <a:extLst>
              <a:ext uri="{FF2B5EF4-FFF2-40B4-BE49-F238E27FC236}">
                <a16:creationId xmlns:a16="http://schemas.microsoft.com/office/drawing/2014/main" id="{E9293055-D5CD-4B9E-7F64-64B2D2CA7A52}"/>
              </a:ext>
            </a:extLst>
          </p:cNvPr>
          <p:cNvCxnSpPr/>
          <p:nvPr/>
        </p:nvCxnSpPr>
        <p:spPr>
          <a:xfrm>
            <a:off x="680270" y="30173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p:cNvSpPr/>
          <p:nvPr/>
        </p:nvSpPr>
        <p:spPr>
          <a:xfrm flipH="1">
            <a:off x="2126891" y="2767369"/>
            <a:ext cx="114833" cy="114833"/>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p:cNvSpPr txBox="1"/>
          <p:nvPr/>
        </p:nvSpPr>
        <p:spPr>
          <a:xfrm>
            <a:off x="2068671" y="2728554"/>
            <a:ext cx="242374" cy="200055"/>
          </a:xfrm>
          <a:prstGeom prst="rect">
            <a:avLst/>
          </a:prstGeom>
          <a:noFill/>
        </p:spPr>
        <p:txBody>
          <a:bodyPr wrap="none" rtlCol="0">
            <a:spAutoFit/>
          </a:bodyPr>
          <a:lstStyle/>
          <a:p>
            <a:r>
              <a:rPr lang="ko-KR" altLang="en-US" sz="700" dirty="0"/>
              <a:t>⩗</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3070896"/>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입찰참가사업 및 입찰보증금</a:t>
            </a:r>
          </a:p>
        </p:txBody>
      </p:sp>
      <p:sp>
        <p:nvSpPr>
          <p:cNvPr id="169" name="직사각형 168"/>
          <p:cNvSpPr/>
          <p:nvPr/>
        </p:nvSpPr>
        <p:spPr>
          <a:xfrm>
            <a:off x="722232" y="3378382"/>
            <a:ext cx="792000" cy="236700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378381"/>
            <a:ext cx="725552" cy="2369880"/>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입찰품목수</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입찰보증금</a:t>
            </a:r>
          </a:p>
          <a:p>
            <a:pPr>
              <a:lnSpc>
                <a:spcPct val="200000"/>
              </a:lnSpc>
            </a:pPr>
            <a:endParaRPr lang="en-US" altLang="ko-KR" sz="700" dirty="0">
              <a:latin typeface="+mn-ea"/>
            </a:endParaRPr>
          </a:p>
          <a:p>
            <a:pPr>
              <a:lnSpc>
                <a:spcPct val="200000"/>
              </a:lnSpc>
            </a:pPr>
            <a:r>
              <a:rPr lang="ko-KR" altLang="en-US" sz="700" dirty="0">
                <a:latin typeface="+mn-ea"/>
              </a:rPr>
              <a:t>보증금납부방법</a:t>
            </a:r>
          </a:p>
          <a:p>
            <a:pPr>
              <a:lnSpc>
                <a:spcPct val="200000"/>
              </a:lnSpc>
            </a:pPr>
            <a:r>
              <a:rPr lang="ko-KR" altLang="en-US" sz="700" dirty="0">
                <a:latin typeface="+mn-ea"/>
              </a:rPr>
              <a:t>보증금증권번호</a:t>
            </a:r>
          </a:p>
          <a:p>
            <a:pPr>
              <a:lnSpc>
                <a:spcPct val="200000"/>
              </a:lnSpc>
            </a:pPr>
            <a:r>
              <a:rPr lang="ko-KR" altLang="en-US" sz="700" dirty="0" err="1">
                <a:latin typeface="+mn-ea"/>
              </a:rPr>
              <a:t>보증기관명</a:t>
            </a:r>
            <a:endParaRPr lang="ko-KR" altLang="en-US" sz="700" dirty="0">
              <a:latin typeface="+mn-ea"/>
            </a:endParaRPr>
          </a:p>
          <a:p>
            <a:pPr>
              <a:lnSpc>
                <a:spcPct val="200000"/>
              </a:lnSpc>
            </a:pPr>
            <a:r>
              <a:rPr lang="ko-KR" altLang="en-US" sz="700" dirty="0">
                <a:latin typeface="+mn-ea"/>
              </a:rPr>
              <a:t>입찰보증금납부서</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378381"/>
            <a:ext cx="1784088" cy="2369880"/>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0000 0000 00</a:t>
            </a:r>
          </a:p>
          <a:p>
            <a:pPr>
              <a:lnSpc>
                <a:spcPct val="200000"/>
              </a:lnSpc>
            </a:pPr>
            <a:r>
              <a:rPr lang="ko-KR" altLang="en-US" sz="700" dirty="0" err="1">
                <a:latin typeface="+mn-ea"/>
              </a:rPr>
              <a:t>사업명칭</a:t>
            </a:r>
            <a:r>
              <a:rPr lang="ko-KR" altLang="en-US" sz="700" dirty="0">
                <a:latin typeface="+mn-ea"/>
              </a:rPr>
              <a:t> 표시</a:t>
            </a:r>
            <a:endParaRPr lang="en-US" altLang="ko-KR" sz="700" dirty="0">
              <a:latin typeface="+mn-ea"/>
            </a:endParaRPr>
          </a:p>
          <a:p>
            <a:pPr>
              <a:lnSpc>
                <a:spcPct val="200000"/>
              </a:lnSpc>
            </a:pPr>
            <a:r>
              <a:rPr lang="en-US" altLang="ko-KR" sz="700" dirty="0">
                <a:latin typeface="+mn-ea"/>
              </a:rPr>
              <a:t>6</a:t>
            </a:r>
          </a:p>
          <a:p>
            <a:pPr algn="r">
              <a:lnSpc>
                <a:spcPct val="200000"/>
              </a:lnSpc>
            </a:pPr>
            <a:r>
              <a:rPr lang="en-US" altLang="ko-KR" sz="700" dirty="0">
                <a:latin typeface="+mn-ea"/>
              </a:rPr>
              <a:t>000,000,000,000.00</a:t>
            </a:r>
          </a:p>
          <a:p>
            <a:pPr algn="r">
              <a:lnSpc>
                <a:spcPct val="200000"/>
              </a:lnSpc>
            </a:pPr>
            <a:r>
              <a:rPr lang="en-US" altLang="ko-KR" sz="700" dirty="0">
                <a:latin typeface="+mn-ea"/>
              </a:rPr>
              <a:t>000,000,000,000.00</a:t>
            </a: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en-US" altLang="ko-KR" sz="700" dirty="0">
                <a:latin typeface="+mn-ea"/>
              </a:rPr>
              <a:t>File.pdf</a:t>
            </a:r>
          </a:p>
        </p:txBody>
      </p:sp>
      <p:grpSp>
        <p:nvGrpSpPr>
          <p:cNvPr id="172" name="그룹 171"/>
          <p:cNvGrpSpPr/>
          <p:nvPr/>
        </p:nvGrpSpPr>
        <p:grpSpPr>
          <a:xfrm>
            <a:off x="720139" y="3378381"/>
            <a:ext cx="2630093" cy="2367010"/>
            <a:chOff x="701175" y="1835481"/>
            <a:chExt cx="2630093" cy="236701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직선 연결선 155">
              <a:extLst>
                <a:ext uri="{FF2B5EF4-FFF2-40B4-BE49-F238E27FC236}">
                  <a16:creationId xmlns:a16="http://schemas.microsoft.com/office/drawing/2014/main" id="{E9293055-D5CD-4B9E-7F64-64B2D2CA7A52}"/>
                </a:ext>
              </a:extLst>
            </p:cNvPr>
            <p:cNvCxnSpPr/>
            <p:nvPr/>
          </p:nvCxnSpPr>
          <p:spPr>
            <a:xfrm>
              <a:off x="703268" y="35577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703268" y="37725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01175" y="39872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1175" y="420249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2" name="TextBox 101">
            <a:extLst>
              <a:ext uri="{FF2B5EF4-FFF2-40B4-BE49-F238E27FC236}">
                <a16:creationId xmlns:a16="http://schemas.microsoft.com/office/drawing/2014/main" id="{FFC49AEA-2A8F-250C-A86A-A7751D9706C3}"/>
              </a:ext>
            </a:extLst>
          </p:cNvPr>
          <p:cNvSpPr txBox="1"/>
          <p:nvPr/>
        </p:nvSpPr>
        <p:spPr>
          <a:xfrm>
            <a:off x="1556765" y="4867887"/>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sp>
        <p:nvSpPr>
          <p:cNvPr id="103" name="사각형: 둥근 모서리 15">
            <a:extLst>
              <a:ext uri="{FF2B5EF4-FFF2-40B4-BE49-F238E27FC236}">
                <a16:creationId xmlns:a16="http://schemas.microsoft.com/office/drawing/2014/main" id="{E2B61CFB-AD16-68D0-8752-50D9C5E01971}"/>
              </a:ext>
            </a:extLst>
          </p:cNvPr>
          <p:cNvSpPr/>
          <p:nvPr/>
        </p:nvSpPr>
        <p:spPr>
          <a:xfrm>
            <a:off x="1558785" y="490355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선택해주세요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grpSp>
        <p:nvGrpSpPr>
          <p:cNvPr id="104" name="그룹 103"/>
          <p:cNvGrpSpPr/>
          <p:nvPr/>
        </p:nvGrpSpPr>
        <p:grpSpPr>
          <a:xfrm>
            <a:off x="3136394" y="4961052"/>
            <a:ext cx="94010" cy="47005"/>
            <a:chOff x="6812560" y="3297172"/>
            <a:chExt cx="94010" cy="47005"/>
          </a:xfrm>
        </p:grpSpPr>
        <p:cxnSp>
          <p:nvCxnSpPr>
            <p:cNvPr id="145" name="직선 연결선 14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6" name="직선 연결선 14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7" name="TextBox 146">
            <a:extLst>
              <a:ext uri="{FF2B5EF4-FFF2-40B4-BE49-F238E27FC236}">
                <a16:creationId xmlns:a16="http://schemas.microsoft.com/office/drawing/2014/main" id="{FFC49AEA-2A8F-250C-A86A-A7751D9706C3}"/>
              </a:ext>
            </a:extLst>
          </p:cNvPr>
          <p:cNvSpPr txBox="1"/>
          <p:nvPr/>
        </p:nvSpPr>
        <p:spPr>
          <a:xfrm>
            <a:off x="1561065" y="4653517"/>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sp>
        <p:nvSpPr>
          <p:cNvPr id="148" name="사각형: 둥근 모서리 15">
            <a:extLst>
              <a:ext uri="{FF2B5EF4-FFF2-40B4-BE49-F238E27FC236}">
                <a16:creationId xmlns:a16="http://schemas.microsoft.com/office/drawing/2014/main" id="{E2B61CFB-AD16-68D0-8752-50D9C5E01971}"/>
              </a:ext>
            </a:extLst>
          </p:cNvPr>
          <p:cNvSpPr/>
          <p:nvPr/>
        </p:nvSpPr>
        <p:spPr>
          <a:xfrm>
            <a:off x="1563085" y="468918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60" name="TextBox 159">
            <a:extLst>
              <a:ext uri="{FF2B5EF4-FFF2-40B4-BE49-F238E27FC236}">
                <a16:creationId xmlns:a16="http://schemas.microsoft.com/office/drawing/2014/main" id="{FFC49AEA-2A8F-250C-A86A-A7751D9706C3}"/>
              </a:ext>
            </a:extLst>
          </p:cNvPr>
          <p:cNvSpPr txBox="1"/>
          <p:nvPr/>
        </p:nvSpPr>
        <p:spPr>
          <a:xfrm>
            <a:off x="809295" y="4665734"/>
            <a:ext cx="725552" cy="215444"/>
          </a:xfrm>
          <a:prstGeom prst="rect">
            <a:avLst/>
          </a:prstGeom>
          <a:noFill/>
        </p:spPr>
        <p:txBody>
          <a:bodyPr wrap="square" lIns="0" tIns="0" rIns="0" bIns="0" rtlCol="0">
            <a:spAutoFit/>
          </a:bodyPr>
          <a:lstStyle/>
          <a:p>
            <a:r>
              <a:rPr lang="ko-KR" altLang="en-US" sz="700" dirty="0">
                <a:latin typeface="+mn-ea"/>
              </a:rPr>
              <a:t>입찰보증금</a:t>
            </a:r>
            <a:endParaRPr lang="en-US" altLang="ko-KR" sz="700" dirty="0">
              <a:latin typeface="+mn-ea"/>
            </a:endParaRPr>
          </a:p>
          <a:p>
            <a:r>
              <a:rPr lang="en-US" altLang="ko-KR" sz="700" dirty="0">
                <a:latin typeface="+mn-ea"/>
              </a:rPr>
              <a:t>(</a:t>
            </a:r>
            <a:r>
              <a:rPr lang="ko-KR" altLang="en-US" sz="700" dirty="0" err="1">
                <a:latin typeface="+mn-ea"/>
              </a:rPr>
              <a:t>확인입력</a:t>
            </a:r>
            <a:r>
              <a:rPr lang="en-US" altLang="ko-KR" sz="700" dirty="0">
                <a:latin typeface="+mn-ea"/>
              </a:rPr>
              <a:t>)</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1561065" y="5092011"/>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sp>
        <p:nvSpPr>
          <p:cNvPr id="163" name="사각형: 둥근 모서리 15">
            <a:extLst>
              <a:ext uri="{FF2B5EF4-FFF2-40B4-BE49-F238E27FC236}">
                <a16:creationId xmlns:a16="http://schemas.microsoft.com/office/drawing/2014/main" id="{E2B61CFB-AD16-68D0-8752-50D9C5E01971}"/>
              </a:ext>
            </a:extLst>
          </p:cNvPr>
          <p:cNvSpPr/>
          <p:nvPr/>
        </p:nvSpPr>
        <p:spPr>
          <a:xfrm>
            <a:off x="1563085" y="5127678"/>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64" name="TextBox 163">
            <a:extLst>
              <a:ext uri="{FF2B5EF4-FFF2-40B4-BE49-F238E27FC236}">
                <a16:creationId xmlns:a16="http://schemas.microsoft.com/office/drawing/2014/main" id="{FFC49AEA-2A8F-250C-A86A-A7751D9706C3}"/>
              </a:ext>
            </a:extLst>
          </p:cNvPr>
          <p:cNvSpPr txBox="1"/>
          <p:nvPr/>
        </p:nvSpPr>
        <p:spPr>
          <a:xfrm>
            <a:off x="1561065" y="5303661"/>
            <a:ext cx="1784088" cy="181140"/>
          </a:xfrm>
          <a:prstGeom prst="rect">
            <a:avLst/>
          </a:prstGeom>
          <a:noFill/>
        </p:spPr>
        <p:txBody>
          <a:bodyPr wrap="square" lIns="0" tIns="0" rIns="0" bIns="0" rtlCol="0">
            <a:spAutoFit/>
          </a:bodyPr>
          <a:lstStyle/>
          <a:p>
            <a:pPr>
              <a:lnSpc>
                <a:spcPct val="200000"/>
              </a:lnSpc>
            </a:pPr>
            <a:r>
              <a:rPr lang="en-US" altLang="ko-KR" sz="700" dirty="0">
                <a:latin typeface="+mn-ea"/>
              </a:rPr>
              <a:t> </a:t>
            </a:r>
          </a:p>
        </p:txBody>
      </p:sp>
      <p:sp>
        <p:nvSpPr>
          <p:cNvPr id="166" name="사각형: 둥근 모서리 15">
            <a:extLst>
              <a:ext uri="{FF2B5EF4-FFF2-40B4-BE49-F238E27FC236}">
                <a16:creationId xmlns:a16="http://schemas.microsoft.com/office/drawing/2014/main" id="{E2B61CFB-AD16-68D0-8752-50D9C5E01971}"/>
              </a:ext>
            </a:extLst>
          </p:cNvPr>
          <p:cNvSpPr/>
          <p:nvPr/>
        </p:nvSpPr>
        <p:spPr>
          <a:xfrm>
            <a:off x="1563085" y="5339328"/>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167" name="사각형: 둥근 모서리 15">
            <a:extLst>
              <a:ext uri="{FF2B5EF4-FFF2-40B4-BE49-F238E27FC236}">
                <a16:creationId xmlns:a16="http://schemas.microsoft.com/office/drawing/2014/main" id="{E2B61CFB-AD16-68D0-8752-50D9C5E01971}"/>
              </a:ext>
            </a:extLst>
          </p:cNvPr>
          <p:cNvSpPr/>
          <p:nvPr/>
        </p:nvSpPr>
        <p:spPr>
          <a:xfrm>
            <a:off x="3061115" y="5558813"/>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a:latin typeface="맑은 고딕"/>
                <a:ea typeface="맑은 고딕" panose="020B0503020000020004" pitchFamily="50" charset="-127"/>
              </a:rPr>
              <a:t>선택</a:t>
            </a:r>
            <a:endParaRPr kumimoji="1" lang="en-US" sz="700" b="0" i="0" u="none" strike="noStrike" kern="0" cap="none" spc="0" normalizeH="0" baseline="0" noProof="0" dirty="0">
              <a:ln>
                <a:noFill/>
              </a:ln>
              <a:effectLst/>
              <a:uLnTx/>
              <a:uFillTx/>
              <a:latin typeface="맑은 고딕"/>
            </a:endParaRPr>
          </a:p>
        </p:txBody>
      </p:sp>
      <p:sp>
        <p:nvSpPr>
          <p:cNvPr id="105" name="타원 104"/>
          <p:cNvSpPr/>
          <p:nvPr/>
        </p:nvSpPr>
        <p:spPr>
          <a:xfrm>
            <a:off x="2843161" y="5554986"/>
            <a:ext cx="145884" cy="145882"/>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6" name="그룹 105"/>
          <p:cNvGrpSpPr/>
          <p:nvPr/>
        </p:nvGrpSpPr>
        <p:grpSpPr>
          <a:xfrm>
            <a:off x="2887066" y="5589873"/>
            <a:ext cx="58075" cy="58074"/>
            <a:chOff x="6812560" y="3297172"/>
            <a:chExt cx="94010" cy="94010"/>
          </a:xfrm>
        </p:grpSpPr>
        <p:cxnSp>
          <p:nvCxnSpPr>
            <p:cNvPr id="107" name="직선 연결선 106"/>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08" name="직선 연결선 107"/>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TextBox 10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11" name="타원 110">
            <a:extLst>
              <a:ext uri="{FF2B5EF4-FFF2-40B4-BE49-F238E27FC236}">
                <a16:creationId xmlns:a16="http://schemas.microsoft.com/office/drawing/2014/main" id="{37A7FF4F-0EAA-1463-560A-D5EC24416103}"/>
              </a:ext>
            </a:extLst>
          </p:cNvPr>
          <p:cNvSpPr/>
          <p:nvPr/>
        </p:nvSpPr>
        <p:spPr>
          <a:xfrm>
            <a:off x="589334" y="340126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12" name="타원 111">
            <a:extLst>
              <a:ext uri="{FF2B5EF4-FFF2-40B4-BE49-F238E27FC236}">
                <a16:creationId xmlns:a16="http://schemas.microsoft.com/office/drawing/2014/main" id="{37A7FF4F-0EAA-1463-560A-D5EC24416103}"/>
              </a:ext>
            </a:extLst>
          </p:cNvPr>
          <p:cNvSpPr/>
          <p:nvPr/>
        </p:nvSpPr>
        <p:spPr>
          <a:xfrm>
            <a:off x="589334" y="55651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490272142"/>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직사각형 7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3795734" y="1578465"/>
            <a:ext cx="2712027" cy="508898"/>
            <a:chOff x="3795734" y="1602341"/>
            <a:chExt cx="2712027" cy="508898"/>
          </a:xfrm>
        </p:grpSpPr>
        <p:sp>
          <p:nvSpPr>
            <p:cNvPr id="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75" name="모서리가 둥근 직사각형 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76" name="모서리가 둥근 직사각형 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7" name="직선 연결선 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입찰참가용</a:t>
            </a:r>
            <a:r>
              <a:rPr lang="ko-KR" altLang="en-US" dirty="0"/>
              <a:t> 서류가 있는 경우 </a:t>
            </a:r>
            <a:r>
              <a:rPr lang="ko-KR" altLang="en-US" dirty="0" err="1"/>
              <a:t>파일선택을</a:t>
            </a:r>
            <a:r>
              <a:rPr lang="ko-KR" altLang="en-US" dirty="0"/>
              <a:t> 클릭하여 입찰참가 서류를 첨부</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336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입찰참가신청서작성</a:t>
            </a:r>
            <a:r>
              <a:rPr lang="ko-KR" altLang="en-US" dirty="0"/>
              <a:t> 화면으로 입찰 참가 신청 프로세스 중 </a:t>
            </a:r>
            <a:r>
              <a:rPr lang="ko-KR" altLang="en-US" dirty="0">
                <a:latin typeface="+mn-ea"/>
              </a:rPr>
              <a:t>파일첨부</a:t>
            </a:r>
            <a:r>
              <a:rPr lang="ko-KR" altLang="en-US" dirty="0"/>
              <a:t>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파일첨부</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MUI-BD-04-M77</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1362037" y="2201247"/>
            <a:ext cx="64471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2028414" y="2201247"/>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2053491" y="2417854"/>
            <a:ext cx="5306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7" name="TextBox 106">
            <a:extLst>
              <a:ext uri="{FF2B5EF4-FFF2-40B4-BE49-F238E27FC236}">
                <a16:creationId xmlns:a16="http://schemas.microsoft.com/office/drawing/2014/main" id="{FFC49AEA-2A8F-250C-A86A-A7751D9706C3}"/>
              </a:ext>
            </a:extLst>
          </p:cNvPr>
          <p:cNvSpPr txBox="1"/>
          <p:nvPr/>
        </p:nvSpPr>
        <p:spPr>
          <a:xfrm>
            <a:off x="756845" y="2484624"/>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3184313"/>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3258834"/>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해외업체위임장</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3312695"/>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8" name="모서리가 둥근 직사각형 117"/>
          <p:cNvSpPr/>
          <p:nvPr/>
        </p:nvSpPr>
        <p:spPr>
          <a:xfrm>
            <a:off x="710315" y="359099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3665520"/>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공급자증명서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371938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2" name="사각형: 둥근 모서리 15">
            <a:extLst>
              <a:ext uri="{FF2B5EF4-FFF2-40B4-BE49-F238E27FC236}">
                <a16:creationId xmlns:a16="http://schemas.microsoft.com/office/drawing/2014/main" id="{E2B61CFB-AD16-68D0-8752-50D9C5E01971}"/>
              </a:ext>
            </a:extLst>
          </p:cNvPr>
          <p:cNvSpPr/>
          <p:nvPr/>
        </p:nvSpPr>
        <p:spPr>
          <a:xfrm>
            <a:off x="710315" y="2746569"/>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3049195"/>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52628" y="3049195"/>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3049195"/>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27" name="사각형: 둥근 모서리 15">
            <a:extLst>
              <a:ext uri="{FF2B5EF4-FFF2-40B4-BE49-F238E27FC236}">
                <a16:creationId xmlns:a16="http://schemas.microsoft.com/office/drawing/2014/main" id="{E2B61CFB-AD16-68D0-8752-50D9C5E01971}"/>
              </a:ext>
            </a:extLst>
          </p:cNvPr>
          <p:cNvSpPr/>
          <p:nvPr/>
        </p:nvSpPr>
        <p:spPr>
          <a:xfrm>
            <a:off x="2973049" y="3695800"/>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28" name="사각형: 둥근 모서리 15">
            <a:extLst>
              <a:ext uri="{FF2B5EF4-FFF2-40B4-BE49-F238E27FC236}">
                <a16:creationId xmlns:a16="http://schemas.microsoft.com/office/drawing/2014/main" id="{E2B61CFB-AD16-68D0-8752-50D9C5E01971}"/>
              </a:ext>
            </a:extLst>
          </p:cNvPr>
          <p:cNvSpPr/>
          <p:nvPr/>
        </p:nvSpPr>
        <p:spPr>
          <a:xfrm>
            <a:off x="2973049" y="3279008"/>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25154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6" name="그룹 55"/>
          <p:cNvGrpSpPr/>
          <p:nvPr/>
        </p:nvGrpSpPr>
        <p:grpSpPr>
          <a:xfrm>
            <a:off x="3795733" y="5614711"/>
            <a:ext cx="2712027" cy="617588"/>
            <a:chOff x="675399" y="5614711"/>
            <a:chExt cx="2712027" cy="617588"/>
          </a:xfrm>
        </p:grpSpPr>
        <p:sp>
          <p:nvSpPr>
            <p:cNvPr id="57" name="직사각형 56">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전자서명하기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59"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이전</a:t>
              </a:r>
              <a:endParaRPr kumimoji="1" lang="en-US" sz="1000" b="0" i="0" u="none" strike="noStrike" kern="0" cap="none" spc="0" normalizeH="0" baseline="0" noProof="0" dirty="0">
                <a:ln>
                  <a:noFill/>
                </a:ln>
                <a:effectLst/>
                <a:uLnTx/>
                <a:uFillTx/>
                <a:latin typeface="맑은 고딕"/>
              </a:endParaRPr>
            </a:p>
          </p:txBody>
        </p:sp>
      </p:grpSp>
      <p:sp>
        <p:nvSpPr>
          <p:cNvPr id="64" name="TextBox 63">
            <a:extLst>
              <a:ext uri="{FF2B5EF4-FFF2-40B4-BE49-F238E27FC236}">
                <a16:creationId xmlns:a16="http://schemas.microsoft.com/office/drawing/2014/main" id="{FFC49AEA-2A8F-250C-A86A-A7751D9706C3}"/>
              </a:ext>
            </a:extLst>
          </p:cNvPr>
          <p:cNvSpPr txBox="1"/>
          <p:nvPr/>
        </p:nvSpPr>
        <p:spPr>
          <a:xfrm>
            <a:off x="775229" y="2201247"/>
            <a:ext cx="555764"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95" name="TextBox 94">
            <a:extLst>
              <a:ext uri="{FF2B5EF4-FFF2-40B4-BE49-F238E27FC236}">
                <a16:creationId xmlns:a16="http://schemas.microsoft.com/office/drawing/2014/main" id="{FFC49AEA-2A8F-250C-A86A-A7751D9706C3}"/>
              </a:ext>
            </a:extLst>
          </p:cNvPr>
          <p:cNvSpPr txBox="1"/>
          <p:nvPr/>
        </p:nvSpPr>
        <p:spPr>
          <a:xfrm>
            <a:off x="3914777" y="2522318"/>
            <a:ext cx="2473940" cy="1723549"/>
          </a:xfrm>
          <a:prstGeom prst="rect">
            <a:avLst/>
          </a:prstGeom>
          <a:noFill/>
        </p:spPr>
        <p:txBody>
          <a:bodyPr wrap="square" lIns="0" tIns="0" rIns="0" bIns="0" rtlCol="0">
            <a:spAutoFit/>
          </a:bodyPr>
          <a:lstStyle/>
          <a:p>
            <a:r>
              <a:rPr lang="ko-KR" altLang="en-US" sz="700" dirty="0">
                <a:solidFill>
                  <a:srgbClr val="000000"/>
                </a:solidFill>
                <a:latin typeface="+mn-ea"/>
              </a:rPr>
              <a:t>본인은 위의 번호로 공고한 귀청의 일반경쟁입찰에 참가하고자 귀청에서 정한 물품구매</a:t>
            </a:r>
            <a:r>
              <a:rPr lang="en-US" altLang="ko-KR" sz="700" dirty="0">
                <a:solidFill>
                  <a:srgbClr val="000000"/>
                </a:solidFill>
                <a:latin typeface="+mn-ea"/>
              </a:rPr>
              <a:t>(</a:t>
            </a:r>
            <a:r>
              <a:rPr lang="ko-KR" altLang="en-US" sz="700" dirty="0">
                <a:solidFill>
                  <a:srgbClr val="000000"/>
                </a:solidFill>
                <a:latin typeface="+mn-ea"/>
              </a:rPr>
              <a:t>용역</a:t>
            </a:r>
            <a:r>
              <a:rPr lang="en-US" altLang="ko-KR" sz="700" dirty="0">
                <a:solidFill>
                  <a:srgbClr val="000000"/>
                </a:solidFill>
                <a:latin typeface="+mn-ea"/>
              </a:rPr>
              <a:t>)</a:t>
            </a:r>
            <a:r>
              <a:rPr lang="ko-KR" altLang="en-US" sz="700" dirty="0">
                <a:solidFill>
                  <a:srgbClr val="000000"/>
                </a:solidFill>
                <a:latin typeface="+mn-ea"/>
              </a:rPr>
              <a:t>입찰유의서</a:t>
            </a:r>
            <a:r>
              <a:rPr lang="en-US" altLang="ko-KR" sz="700" dirty="0">
                <a:solidFill>
                  <a:srgbClr val="000000"/>
                </a:solidFill>
                <a:latin typeface="+mn-ea"/>
              </a:rPr>
              <a:t>, </a:t>
            </a:r>
            <a:r>
              <a:rPr lang="ko-KR" altLang="en-US" sz="700" dirty="0">
                <a:solidFill>
                  <a:srgbClr val="000000"/>
                </a:solidFill>
                <a:latin typeface="+mn-ea"/>
              </a:rPr>
              <a:t>계약 일반조건 및 입찰 공고 사항을 모두 숙지하여 수락하고 계약일반조건 및 계약 </a:t>
            </a:r>
            <a:r>
              <a:rPr lang="ko-KR" altLang="en-US" sz="700" dirty="0" err="1">
                <a:solidFill>
                  <a:srgbClr val="000000"/>
                </a:solidFill>
                <a:latin typeface="+mn-ea"/>
              </a:rPr>
              <a:t>특수조건에</a:t>
            </a:r>
            <a:r>
              <a:rPr lang="ko-KR" altLang="en-US" sz="700" dirty="0">
                <a:solidFill>
                  <a:srgbClr val="000000"/>
                </a:solidFill>
                <a:latin typeface="+mn-ea"/>
              </a:rPr>
              <a:t> 따라 </a:t>
            </a:r>
            <a:r>
              <a:rPr lang="ko-KR" altLang="en-US" sz="700" dirty="0" err="1">
                <a:solidFill>
                  <a:srgbClr val="000000"/>
                </a:solidFill>
                <a:latin typeface="+mn-ea"/>
              </a:rPr>
              <a:t>계약품목을</a:t>
            </a:r>
            <a:r>
              <a:rPr lang="ko-KR" altLang="en-US" sz="700" dirty="0">
                <a:solidFill>
                  <a:srgbClr val="000000"/>
                </a:solidFill>
                <a:latin typeface="+mn-ea"/>
              </a:rPr>
              <a:t> 기한 내에 납부할 것을 확약하며 입찰 참가 신청서 및 아래 입찰서류를 제출합니다</a:t>
            </a:r>
            <a:r>
              <a:rPr lang="en-US" altLang="ko-KR" sz="700" dirty="0">
                <a:solidFill>
                  <a:srgbClr val="000000"/>
                </a:solidFill>
                <a:latin typeface="+mn-ea"/>
              </a:rPr>
              <a:t>.</a:t>
            </a:r>
          </a:p>
          <a:p>
            <a:r>
              <a:rPr lang="ko-KR" altLang="en-US" sz="700" dirty="0">
                <a:solidFill>
                  <a:srgbClr val="000000"/>
                </a:solidFill>
                <a:latin typeface="+mn-ea"/>
              </a:rPr>
              <a:t>단 </a:t>
            </a:r>
            <a:r>
              <a:rPr lang="ko-KR" altLang="en-US" sz="700" dirty="0" err="1">
                <a:solidFill>
                  <a:srgbClr val="000000"/>
                </a:solidFill>
                <a:latin typeface="+mn-ea"/>
              </a:rPr>
              <a:t>전차입찰의</a:t>
            </a:r>
            <a:r>
              <a:rPr lang="ko-KR" altLang="en-US" sz="700" dirty="0">
                <a:solidFill>
                  <a:srgbClr val="000000"/>
                </a:solidFill>
                <a:latin typeface="+mn-ea"/>
              </a:rPr>
              <a:t> 경우 아래의 구비서류를 첨부 자료로써 제출하시고</a:t>
            </a:r>
            <a:r>
              <a:rPr lang="en-US" altLang="ko-KR" sz="700" dirty="0">
                <a:solidFill>
                  <a:srgbClr val="000000"/>
                </a:solidFill>
                <a:latin typeface="+mn-ea"/>
              </a:rPr>
              <a:t>, </a:t>
            </a:r>
            <a:r>
              <a:rPr lang="ko-KR" altLang="en-US" sz="700" dirty="0">
                <a:solidFill>
                  <a:srgbClr val="000000"/>
                </a:solidFill>
                <a:latin typeface="+mn-ea"/>
              </a:rPr>
              <a:t>필요시 직접방문 및 우편으로 </a:t>
            </a:r>
            <a:r>
              <a:rPr lang="ko-KR" altLang="en-US" sz="700" dirty="0" err="1">
                <a:solidFill>
                  <a:srgbClr val="000000"/>
                </a:solidFill>
                <a:latin typeface="+mn-ea"/>
              </a:rPr>
              <a:t>제출요청을</a:t>
            </a:r>
            <a:r>
              <a:rPr lang="ko-KR" altLang="en-US" sz="700" dirty="0">
                <a:solidFill>
                  <a:srgbClr val="000000"/>
                </a:solidFill>
                <a:latin typeface="+mn-ea"/>
              </a:rPr>
              <a:t> 받을 경우 제시하여야 함</a:t>
            </a:r>
          </a:p>
          <a:p>
            <a:endParaRPr lang="ko-KR" altLang="en-US" sz="700" dirty="0">
              <a:solidFill>
                <a:srgbClr val="000000"/>
              </a:solidFill>
              <a:latin typeface="+mn-ea"/>
            </a:endParaRPr>
          </a:p>
          <a:p>
            <a:r>
              <a:rPr lang="en-US" altLang="ko-KR" sz="700" dirty="0">
                <a:solidFill>
                  <a:srgbClr val="000000"/>
                </a:solidFill>
                <a:latin typeface="+mn-ea"/>
              </a:rPr>
              <a:t>1. </a:t>
            </a:r>
            <a:r>
              <a:rPr lang="ko-KR" altLang="en-US" sz="700" dirty="0">
                <a:solidFill>
                  <a:srgbClr val="000000"/>
                </a:solidFill>
                <a:latin typeface="+mn-ea"/>
              </a:rPr>
              <a:t>입찰 구비서류</a:t>
            </a:r>
          </a:p>
          <a:p>
            <a:r>
              <a:rPr lang="ko-KR" altLang="en-US" sz="700" dirty="0">
                <a:solidFill>
                  <a:srgbClr val="000000"/>
                </a:solidFill>
                <a:latin typeface="+mn-ea"/>
              </a:rPr>
              <a:t>  가</a:t>
            </a:r>
            <a:r>
              <a:rPr lang="en-US" altLang="ko-KR" sz="700" dirty="0">
                <a:solidFill>
                  <a:srgbClr val="000000"/>
                </a:solidFill>
                <a:latin typeface="+mn-ea"/>
              </a:rPr>
              <a:t>. </a:t>
            </a:r>
            <a:r>
              <a:rPr lang="ko-KR" altLang="en-US" sz="700" dirty="0" err="1">
                <a:solidFill>
                  <a:srgbClr val="000000"/>
                </a:solidFill>
                <a:latin typeface="+mn-ea"/>
              </a:rPr>
              <a:t>입찰등록시</a:t>
            </a:r>
            <a:r>
              <a:rPr lang="ko-KR" altLang="en-US" sz="700" dirty="0">
                <a:solidFill>
                  <a:srgbClr val="000000"/>
                </a:solidFill>
                <a:latin typeface="+mn-ea"/>
              </a:rPr>
              <a:t> 제출서류</a:t>
            </a:r>
          </a:p>
          <a:p>
            <a:r>
              <a:rPr lang="en-US" altLang="ko-KR" sz="700" dirty="0">
                <a:solidFill>
                  <a:srgbClr val="000000"/>
                </a:solidFill>
                <a:latin typeface="+mn-ea"/>
              </a:rPr>
              <a:t>    - </a:t>
            </a:r>
            <a:r>
              <a:rPr lang="ko-KR" altLang="en-US" sz="700" dirty="0">
                <a:solidFill>
                  <a:srgbClr val="000000"/>
                </a:solidFill>
                <a:latin typeface="+mn-ea"/>
              </a:rPr>
              <a:t>해외업체 위임장</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공급자증명서</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제작자 증명서</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계약특수조건</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서약서</a:t>
            </a:r>
          </a:p>
        </p:txBody>
      </p:sp>
      <p:sp>
        <p:nvSpPr>
          <p:cNvPr id="96" name="TextBox 95">
            <a:extLst>
              <a:ext uri="{FF2B5EF4-FFF2-40B4-BE49-F238E27FC236}">
                <a16:creationId xmlns:a16="http://schemas.microsoft.com/office/drawing/2014/main" id="{FFC49AEA-2A8F-250C-A86A-A7751D9706C3}"/>
              </a:ext>
            </a:extLst>
          </p:cNvPr>
          <p:cNvSpPr txBox="1"/>
          <p:nvPr/>
        </p:nvSpPr>
        <p:spPr>
          <a:xfrm>
            <a:off x="3914777" y="3707258"/>
            <a:ext cx="2473940" cy="538609"/>
          </a:xfrm>
          <a:prstGeom prst="rect">
            <a:avLst/>
          </a:prstGeom>
          <a:noFill/>
        </p:spPr>
        <p:txBody>
          <a:bodyPr wrap="square" lIns="0" tIns="0" rIns="0" bIns="0" rtlCol="0">
            <a:spAutoFit/>
          </a:bodyPr>
          <a:lstStyle/>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p>
        </p:txBody>
      </p:sp>
      <p:cxnSp>
        <p:nvCxnSpPr>
          <p:cNvPr id="97" name="직선 연결선 96">
            <a:extLst>
              <a:ext uri="{FF2B5EF4-FFF2-40B4-BE49-F238E27FC236}">
                <a16:creationId xmlns:a16="http://schemas.microsoft.com/office/drawing/2014/main" id="{E9293055-D5CD-4B9E-7F64-64B2D2CA7A52}"/>
              </a:ext>
            </a:extLst>
          </p:cNvPr>
          <p:cNvCxnSpPr/>
          <p:nvPr/>
        </p:nvCxnSpPr>
        <p:spPr>
          <a:xfrm>
            <a:off x="3795733" y="498158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8" name="TextBox 97">
            <a:extLst>
              <a:ext uri="{FF2B5EF4-FFF2-40B4-BE49-F238E27FC236}">
                <a16:creationId xmlns:a16="http://schemas.microsoft.com/office/drawing/2014/main" id="{FFC49AEA-2A8F-250C-A86A-A7751D9706C3}"/>
              </a:ext>
            </a:extLst>
          </p:cNvPr>
          <p:cNvSpPr txBox="1"/>
          <p:nvPr/>
        </p:nvSpPr>
        <p:spPr>
          <a:xfrm>
            <a:off x="3914777" y="4454294"/>
            <a:ext cx="2473940" cy="430887"/>
          </a:xfrm>
          <a:prstGeom prst="rect">
            <a:avLst/>
          </a:prstGeom>
          <a:noFill/>
        </p:spPr>
        <p:txBody>
          <a:bodyPr wrap="square" lIns="0" tIns="0" rIns="0" bIns="0" rtlCol="0">
            <a:spAutoFit/>
          </a:bodyPr>
          <a:lstStyle/>
          <a:p>
            <a:r>
              <a:rPr lang="en-US" altLang="ko-KR" sz="700" dirty="0">
                <a:solidFill>
                  <a:srgbClr val="0070C0"/>
                </a:solidFill>
                <a:latin typeface="+mn-ea"/>
              </a:rPr>
              <a:t>※ </a:t>
            </a:r>
            <a:r>
              <a:rPr lang="ko-KR" altLang="en-US" sz="700" dirty="0">
                <a:solidFill>
                  <a:srgbClr val="0070C0"/>
                </a:solidFill>
                <a:latin typeface="+mn-ea"/>
              </a:rPr>
              <a:t>위 제출된 서류에 만약 이상이 있을 시에는 본 입찰 건을 무효 처리 하여도 이의가 없음을 확인합니다</a:t>
            </a:r>
            <a:r>
              <a:rPr lang="en-US" altLang="ko-KR" sz="700" dirty="0">
                <a:solidFill>
                  <a:srgbClr val="0070C0"/>
                </a:solidFill>
                <a:latin typeface="+mn-ea"/>
              </a:rPr>
              <a:t>.</a:t>
            </a:r>
          </a:p>
          <a:p>
            <a:r>
              <a:rPr lang="en-US" altLang="ko-KR" sz="700" dirty="0">
                <a:solidFill>
                  <a:srgbClr val="FF0000"/>
                </a:solidFill>
                <a:latin typeface="+mn-ea"/>
              </a:rPr>
              <a:t>※ </a:t>
            </a:r>
            <a:r>
              <a:rPr lang="ko-KR" altLang="en-US" sz="700" dirty="0">
                <a:solidFill>
                  <a:srgbClr val="FF0000"/>
                </a:solidFill>
                <a:latin typeface="+mn-ea"/>
              </a:rPr>
              <a:t>입찰 참가신청서 작성 후 입찰 담당관의 심사를 받으셔야 입찰서제출이 가능합니다</a:t>
            </a:r>
            <a:r>
              <a:rPr lang="en-US" altLang="ko-KR" sz="700" dirty="0">
                <a:solidFill>
                  <a:srgbClr val="FF0000"/>
                </a:solidFill>
                <a:latin typeface="+mn-ea"/>
              </a:rPr>
              <a:t>.</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3795733" y="434407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모서리가 둥근 직사각형 99"/>
          <p:cNvSpPr/>
          <p:nvPr/>
        </p:nvSpPr>
        <p:spPr>
          <a:xfrm>
            <a:off x="710315" y="399236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4066883"/>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제작사증명서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412074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4" name="모서리가 둥근 직사각형 103"/>
          <p:cNvSpPr/>
          <p:nvPr/>
        </p:nvSpPr>
        <p:spPr>
          <a:xfrm>
            <a:off x="710315" y="439904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4473569"/>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기타 공고요구서류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452743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2973049" y="4503849"/>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31" name="사각형: 둥근 모서리 15">
            <a:extLst>
              <a:ext uri="{FF2B5EF4-FFF2-40B4-BE49-F238E27FC236}">
                <a16:creationId xmlns:a16="http://schemas.microsoft.com/office/drawing/2014/main" id="{E2B61CFB-AD16-68D0-8752-50D9C5E01971}"/>
              </a:ext>
            </a:extLst>
          </p:cNvPr>
          <p:cNvSpPr/>
          <p:nvPr/>
        </p:nvSpPr>
        <p:spPr>
          <a:xfrm>
            <a:off x="2973049" y="4087057"/>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grpSp>
        <p:nvGrpSpPr>
          <p:cNvPr id="3" name="그룹 2"/>
          <p:cNvGrpSpPr/>
          <p:nvPr/>
        </p:nvGrpSpPr>
        <p:grpSpPr>
          <a:xfrm>
            <a:off x="3838523" y="2163124"/>
            <a:ext cx="2626449" cy="254730"/>
            <a:chOff x="3859687" y="2163124"/>
            <a:chExt cx="2626449" cy="254730"/>
          </a:xfrm>
        </p:grpSpPr>
        <p:cxnSp>
          <p:nvCxnSpPr>
            <p:cNvPr id="132" name="직선 연결선 131">
              <a:extLst>
                <a:ext uri="{FF2B5EF4-FFF2-40B4-BE49-F238E27FC236}">
                  <a16:creationId xmlns:a16="http://schemas.microsoft.com/office/drawing/2014/main" id="{E9293055-D5CD-4B9E-7F64-64B2D2CA7A52}"/>
                </a:ext>
              </a:extLst>
            </p:cNvPr>
            <p:cNvCxnSpPr/>
            <p:nvPr/>
          </p:nvCxnSpPr>
          <p:spPr>
            <a:xfrm>
              <a:off x="3859687"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3" name="TextBox 132">
              <a:extLst>
                <a:ext uri="{FF2B5EF4-FFF2-40B4-BE49-F238E27FC236}">
                  <a16:creationId xmlns:a16="http://schemas.microsoft.com/office/drawing/2014/main" id="{FFC49AEA-2A8F-250C-A86A-A7751D9706C3}"/>
                </a:ext>
              </a:extLst>
            </p:cNvPr>
            <p:cNvSpPr txBox="1"/>
            <p:nvPr/>
          </p:nvSpPr>
          <p:spPr>
            <a:xfrm>
              <a:off x="4501585" y="2201247"/>
              <a:ext cx="64471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167962" y="2201247"/>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5193039" y="2417854"/>
              <a:ext cx="5306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63283" y="2163124"/>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4" name="직선 연결선 1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5" name="직선 연결선 1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rot="16200000">
                <a:off x="3931564" y="2305364"/>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3" name="직선 연결선 1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6" name="TextBox 145">
              <a:extLst>
                <a:ext uri="{FF2B5EF4-FFF2-40B4-BE49-F238E27FC236}">
                  <a16:creationId xmlns:a16="http://schemas.microsoft.com/office/drawing/2014/main" id="{FFC49AEA-2A8F-250C-A86A-A7751D9706C3}"/>
                </a:ext>
              </a:extLst>
            </p:cNvPr>
            <p:cNvSpPr txBox="1"/>
            <p:nvPr/>
          </p:nvSpPr>
          <p:spPr>
            <a:xfrm>
              <a:off x="3914777" y="2201247"/>
              <a:ext cx="555764"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147" name="TextBox 146">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4142065699"/>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337</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a:t>
            </a:r>
            <a:r>
              <a:rPr lang="en-US" altLang="ko-KR" sz="900" b="1">
                <a:solidFill>
                  <a:prstClr val="black"/>
                </a:solidFill>
              </a:rPr>
              <a:t>. </a:t>
            </a:r>
            <a:r>
              <a:rPr lang="ko-KR" altLang="en-US" sz="900" b="1">
                <a:solidFill>
                  <a:prstClr val="black"/>
                </a:solidFill>
              </a:rPr>
              <a:t>공고일반</a:t>
            </a:r>
            <a:r>
              <a:rPr lang="en-US" altLang="ko-KR" sz="900" b="1">
                <a:solidFill>
                  <a:prstClr val="black"/>
                </a:solidFill>
              </a:rPr>
              <a:t> </a:t>
            </a:r>
            <a:r>
              <a:rPr lang="ko-KR" altLang="en-US" sz="900" b="1">
                <a:solidFill>
                  <a:prstClr val="black"/>
                </a:solidFill>
              </a:rPr>
              <a:t>데이터 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err="1">
                          <a:solidFill>
                            <a:srgbClr val="000000"/>
                          </a:solidFill>
                          <a:effectLst/>
                          <a:latin typeface="+mn-ea"/>
                          <a:ea typeface="+mn-ea"/>
                        </a:rPr>
                        <a:t>개찰일자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개찰일자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9512543"/>
                  </a:ext>
                </a:extLst>
              </a:tr>
              <a:tr h="0">
                <a:tc>
                  <a:txBody>
                    <a:bodyPr/>
                    <a:lstStyle/>
                    <a:p>
                      <a:pPr algn="l" fontAlgn="ctr"/>
                      <a:r>
                        <a:rPr lang="ko-KR" altLang="en-US" sz="800" b="0" i="0" u="none" strike="noStrike">
                          <a:solidFill>
                            <a:srgbClr val="000000"/>
                          </a:solidFill>
                          <a:effectLst/>
                          <a:latin typeface="+mn-ea"/>
                          <a:ea typeface="+mn-ea"/>
                        </a:rPr>
                        <a:t>입찰보증금총액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입찰보증금총액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달러금액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3795882"/>
                  </a:ext>
                </a:extLst>
              </a:tr>
            </a:tbl>
          </a:graphicData>
        </a:graphic>
      </p:graphicFrame>
      <p:sp>
        <p:nvSpPr>
          <p:cNvPr id="2" name="Text Box 73">
            <a:extLst>
              <a:ext uri="{FF2B5EF4-FFF2-40B4-BE49-F238E27FC236}">
                <a16:creationId xmlns:a16="http://schemas.microsoft.com/office/drawing/2014/main" id="{0383604A-1C6C-743B-6376-DE39CDA61C3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4" name="TextBox 3">
            <a:extLst>
              <a:ext uri="{FF2B5EF4-FFF2-40B4-BE49-F238E27FC236}">
                <a16:creationId xmlns:a16="http://schemas.microsoft.com/office/drawing/2014/main" id="{14F0C01A-D4D3-F542-732A-5EC23775E5C7}"/>
              </a:ext>
            </a:extLst>
          </p:cNvPr>
          <p:cNvSpPr txBox="1"/>
          <p:nvPr/>
        </p:nvSpPr>
        <p:spPr>
          <a:xfrm>
            <a:off x="458117" y="2145353"/>
            <a:ext cx="2169431" cy="211203"/>
          </a:xfrm>
          <a:prstGeom prst="rect">
            <a:avLst/>
          </a:prstGeom>
          <a:noFill/>
        </p:spPr>
        <p:txBody>
          <a:bodyPr wrap="none" lIns="36000" tIns="36000" rIns="36000" bIns="36000" rtlCol="0">
            <a:spAutoFit/>
          </a:bodyPr>
          <a:lstStyle/>
          <a:p>
            <a:r>
              <a:rPr lang="en-US" altLang="ko-KR" sz="900" b="1">
                <a:solidFill>
                  <a:prstClr val="black"/>
                </a:solidFill>
              </a:rPr>
              <a:t>1.2. </a:t>
            </a:r>
            <a:r>
              <a:rPr lang="ko-KR" altLang="en-US" sz="900" b="1" dirty="0">
                <a:solidFill>
                  <a:prstClr val="black"/>
                </a:solidFill>
              </a:rPr>
              <a:t>신청업체 데이터 </a:t>
            </a:r>
            <a:r>
              <a:rPr lang="ko-KR" altLang="en-US" sz="900" b="1">
                <a:solidFill>
                  <a:prstClr val="black"/>
                </a:solidFill>
              </a:rPr>
              <a:t>영역 </a:t>
            </a:r>
            <a:r>
              <a:rPr lang="en-US" altLang="ko-KR" sz="900" b="1">
                <a:solidFill>
                  <a:prstClr val="black"/>
                </a:solidFill>
              </a:rPr>
              <a:t>(dm_sbtInfo)</a:t>
            </a:r>
            <a:endParaRPr lang="ko-KR" altLang="en-US" sz="900" b="1" dirty="0">
              <a:solidFill>
                <a:prstClr val="black"/>
              </a:solidFill>
            </a:endParaRPr>
          </a:p>
        </p:txBody>
      </p:sp>
      <p:sp>
        <p:nvSpPr>
          <p:cNvPr id="5" name="TextBox 4">
            <a:extLst>
              <a:ext uri="{FF2B5EF4-FFF2-40B4-BE49-F238E27FC236}">
                <a16:creationId xmlns:a16="http://schemas.microsoft.com/office/drawing/2014/main" id="{94DFA1C3-87C5-6C87-2D34-CB6EF208B31F}"/>
              </a:ext>
            </a:extLst>
          </p:cNvPr>
          <p:cNvSpPr txBox="1"/>
          <p:nvPr/>
        </p:nvSpPr>
        <p:spPr>
          <a:xfrm>
            <a:off x="458117" y="4230887"/>
            <a:ext cx="2219125" cy="211203"/>
          </a:xfrm>
          <a:prstGeom prst="rect">
            <a:avLst/>
          </a:prstGeom>
          <a:noFill/>
        </p:spPr>
        <p:txBody>
          <a:bodyPr wrap="none" lIns="36000" tIns="36000" rIns="36000" bIns="36000" rtlCol="0">
            <a:spAutoFit/>
          </a:bodyPr>
          <a:lstStyle/>
          <a:p>
            <a:r>
              <a:rPr lang="en-US" altLang="ko-KR" sz="900" b="1">
                <a:solidFill>
                  <a:prstClr val="black"/>
                </a:solidFill>
              </a:rPr>
              <a:t>1.3. </a:t>
            </a:r>
            <a:r>
              <a:rPr lang="ko-KR" altLang="en-US" sz="900" b="1" dirty="0">
                <a:solidFill>
                  <a:prstClr val="black"/>
                </a:solidFill>
              </a:rPr>
              <a:t>입찰업체</a:t>
            </a:r>
            <a:r>
              <a:rPr lang="en-US" altLang="ko-KR" sz="900" b="1" dirty="0">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(dm_splyInfo)</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51A0A3FB-EA15-3CE5-70F2-AD3265DD9D26}"/>
              </a:ext>
            </a:extLst>
          </p:cNvPr>
          <p:cNvGraphicFramePr>
            <a:graphicFrameLocks noGrp="1"/>
          </p:cNvGraphicFramePr>
          <p:nvPr/>
        </p:nvGraphicFramePr>
        <p:xfrm>
          <a:off x="452999" y="2356556"/>
          <a:ext cx="8994883" cy="1745280"/>
        </p:xfrm>
        <a:graphic>
          <a:graphicData uri="http://schemas.openxmlformats.org/drawingml/2006/table">
            <a:tbl>
              <a:tblPr>
                <a:tableStyleId>{616DA210-FB5B-4158-B5E0-FEB733F419BA}</a:tableStyleId>
              </a:tblPr>
              <a:tblGrid>
                <a:gridCol w="1375801">
                  <a:extLst>
                    <a:ext uri="{9D8B030D-6E8A-4147-A177-3AD203B41FA5}">
                      <a16:colId xmlns:a16="http://schemas.microsoft.com/office/drawing/2014/main" val="20000"/>
                    </a:ext>
                  </a:extLst>
                </a:gridCol>
                <a:gridCol w="1295400">
                  <a:extLst>
                    <a:ext uri="{9D8B030D-6E8A-4147-A177-3AD203B41FA5}">
                      <a16:colId xmlns:a16="http://schemas.microsoft.com/office/drawing/2014/main" val="2834569402"/>
                    </a:ext>
                  </a:extLst>
                </a:gridCol>
                <a:gridCol w="257581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1512057"/>
                  </a:ext>
                </a:extLst>
              </a:tr>
              <a:tr h="0">
                <a:tc>
                  <a:txBody>
                    <a:bodyPr/>
                    <a:lstStyle/>
                    <a:p>
                      <a:pPr algn="l" fontAlgn="ctr"/>
                      <a:r>
                        <a:rPr lang="ko-KR" altLang="en-US" sz="800" b="0" i="0" u="none" strike="noStrike" dirty="0">
                          <a:solidFill>
                            <a:srgbClr val="000000"/>
                          </a:solidFill>
                          <a:effectLst/>
                          <a:latin typeface="+mn-ea"/>
                          <a:ea typeface="+mn-ea"/>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1785839"/>
                  </a:ext>
                </a:extLst>
              </a:tr>
              <a:tr h="0">
                <a:tc>
                  <a:txBody>
                    <a:bodyPr/>
                    <a:lstStyle/>
                    <a:p>
                      <a:pPr algn="l" fontAlgn="ctr"/>
                      <a:r>
                        <a:rPr lang="ko-KR" altLang="en-US" sz="800" b="0" i="0" u="none" strike="noStrike" dirty="0">
                          <a:solidFill>
                            <a:srgbClr val="000000"/>
                          </a:solidFill>
                          <a:effectLst/>
                          <a:latin typeface="+mn-ea"/>
                          <a:ea typeface="+mn-ea"/>
                        </a:rPr>
                        <a:t>신청업체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대표자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717849"/>
                  </a:ext>
                </a:extLst>
              </a:tr>
              <a:tr h="0">
                <a:tc>
                  <a:txBody>
                    <a:bodyPr/>
                    <a:lstStyle/>
                    <a:p>
                      <a:pPr algn="l" fontAlgn="ctr"/>
                      <a:r>
                        <a:rPr lang="ko-KR" altLang="en-US" sz="800" b="0" i="0" u="none" strike="noStrike" dirty="0">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598984"/>
                  </a:ext>
                </a:extLst>
              </a:tr>
              <a:tr h="0">
                <a:tc>
                  <a:txBody>
                    <a:bodyPr/>
                    <a:lstStyle/>
                    <a:p>
                      <a:pPr algn="l" fontAlgn="ctr"/>
                      <a:r>
                        <a:rPr lang="ko-KR" altLang="en-US" sz="800" b="0" i="0" u="none" strike="noStrike" dirty="0">
                          <a:solidFill>
                            <a:srgbClr val="000000"/>
                          </a:solidFill>
                          <a:effectLst/>
                          <a:latin typeface="+mn-ea"/>
                          <a:ea typeface="+mn-ea"/>
                        </a:rPr>
                        <a:t>신청업체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9503326"/>
                  </a:ext>
                </a:extLst>
              </a:tr>
              <a:tr h="0">
                <a:tc>
                  <a:txBody>
                    <a:bodyPr/>
                    <a:lstStyle/>
                    <a:p>
                      <a:pPr algn="l" fontAlgn="ctr"/>
                      <a:r>
                        <a:rPr lang="ko-KR" altLang="en-US" sz="800" b="0" i="0" u="none" strike="noStrike" dirty="0">
                          <a:solidFill>
                            <a:srgbClr val="000000"/>
                          </a:solidFill>
                          <a:effectLst/>
                          <a:latin typeface="+mn-ea"/>
                          <a:ea typeface="+mn-ea"/>
                        </a:rPr>
                        <a:t>신청업체 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7" name="표 6">
            <a:extLst>
              <a:ext uri="{FF2B5EF4-FFF2-40B4-BE49-F238E27FC236}">
                <a16:creationId xmlns:a16="http://schemas.microsoft.com/office/drawing/2014/main" id="{22A2E90D-242B-C2AE-215B-F0648565EA35}"/>
              </a:ext>
            </a:extLst>
          </p:cNvPr>
          <p:cNvGraphicFramePr>
            <a:graphicFrameLocks noGrp="1"/>
          </p:cNvGraphicFramePr>
          <p:nvPr/>
        </p:nvGraphicFramePr>
        <p:xfrm>
          <a:off x="452999" y="4442090"/>
          <a:ext cx="8994883" cy="1745280"/>
        </p:xfrm>
        <a:graphic>
          <a:graphicData uri="http://schemas.openxmlformats.org/drawingml/2006/table">
            <a:tbl>
              <a:tblPr>
                <a:tableStyleId>{616DA210-FB5B-4158-B5E0-FEB733F419BA}</a:tableStyleId>
              </a:tblPr>
              <a:tblGrid>
                <a:gridCol w="1347226">
                  <a:extLst>
                    <a:ext uri="{9D8B030D-6E8A-4147-A177-3AD203B41FA5}">
                      <a16:colId xmlns:a16="http://schemas.microsoft.com/office/drawing/2014/main" val="20000"/>
                    </a:ext>
                  </a:extLst>
                </a:gridCol>
                <a:gridCol w="1304925">
                  <a:extLst>
                    <a:ext uri="{9D8B030D-6E8A-4147-A177-3AD203B41FA5}">
                      <a16:colId xmlns:a16="http://schemas.microsoft.com/office/drawing/2014/main" val="1403555245"/>
                    </a:ext>
                  </a:extLst>
                </a:gridCol>
                <a:gridCol w="259486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4993169"/>
                  </a:ext>
                </a:extLst>
              </a:tr>
              <a:tr h="0">
                <a:tc>
                  <a:txBody>
                    <a:bodyPr/>
                    <a:lstStyle/>
                    <a:p>
                      <a:pPr algn="l" fontAlgn="ctr"/>
                      <a:r>
                        <a:rPr lang="ko-KR" altLang="en-US" sz="800" b="0" i="0" u="none" strike="noStrike" dirty="0">
                          <a:solidFill>
                            <a:srgbClr val="000000"/>
                          </a:solidFill>
                          <a:effectLst/>
                          <a:latin typeface="+mn-ea"/>
                          <a:ea typeface="+mn-ea"/>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08371"/>
                  </a:ext>
                </a:extLst>
              </a:tr>
              <a:tr h="0">
                <a:tc>
                  <a:txBody>
                    <a:bodyPr/>
                    <a:lstStyle/>
                    <a:p>
                      <a:pPr algn="l" fontAlgn="ctr"/>
                      <a:r>
                        <a:rPr lang="ko-KR" altLang="en-US" sz="800" b="0" i="0" u="none" strike="noStrike">
                          <a:solidFill>
                            <a:srgbClr val="000000"/>
                          </a:solidFill>
                          <a:effectLst/>
                          <a:latin typeface="+mn-ea"/>
                          <a:ea typeface="+mn-ea"/>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147523"/>
                  </a:ext>
                </a:extLst>
              </a:tr>
              <a:tr h="0">
                <a:tc>
                  <a:txBody>
                    <a:bodyPr/>
                    <a:lstStyle/>
                    <a:p>
                      <a:pPr algn="l" fontAlgn="ctr"/>
                      <a:r>
                        <a:rPr lang="ko-KR" altLang="en-US" sz="800" b="0" i="0" u="none" strike="noStrike">
                          <a:solidFill>
                            <a:srgbClr val="000000"/>
                          </a:solidFill>
                          <a:effectLst/>
                          <a:latin typeface="+mn-ea"/>
                          <a:ea typeface="+mn-ea"/>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9717549"/>
                  </a:ext>
                </a:extLst>
              </a:tr>
              <a:tr h="0">
                <a:tc>
                  <a:txBody>
                    <a:bodyPr/>
                    <a:lstStyle/>
                    <a:p>
                      <a:pPr algn="l" fontAlgn="ctr"/>
                      <a:r>
                        <a:rPr lang="ko-KR" altLang="en-US" sz="800" b="0" i="0" u="none" strike="noStrike" dirty="0">
                          <a:solidFill>
                            <a:srgbClr val="000000"/>
                          </a:solidFill>
                          <a:effectLst/>
                          <a:latin typeface="+mn-ea"/>
                          <a:ea typeface="+mn-ea"/>
                        </a:rPr>
                        <a:t>입찰업체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7425815"/>
                  </a:ext>
                </a:extLst>
              </a:tr>
              <a:tr h="0">
                <a:tc>
                  <a:txBody>
                    <a:bodyPr/>
                    <a:lstStyle/>
                    <a:p>
                      <a:pPr algn="l" fontAlgn="ctr"/>
                      <a:r>
                        <a:rPr lang="ko-KR" altLang="en-US" sz="800" b="0" i="0" u="none" strike="noStrike">
                          <a:solidFill>
                            <a:srgbClr val="000000"/>
                          </a:solidFill>
                          <a:effectLst/>
                          <a:latin typeface="+mn-ea"/>
                          <a:ea typeface="+mn-ea"/>
                        </a:rPr>
                        <a:t>입찰업체 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350588187"/>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338</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(2/3)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833348"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입찰참가사업 및 입찰보증금</a:t>
            </a:r>
            <a:r>
              <a:rPr lang="en-US" altLang="ko-KR" sz="900" b="1">
                <a:solidFill>
                  <a:prstClr val="black"/>
                </a:solidFill>
              </a:rPr>
              <a:t>(</a:t>
            </a:r>
            <a:r>
              <a:rPr lang="ko-KR" altLang="en-US" sz="900" b="1">
                <a:solidFill>
                  <a:prstClr val="black"/>
                </a:solidFill>
              </a:rPr>
              <a:t>보증금비면제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(dl_bizList)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8117" y="3652046"/>
            <a:ext cx="4136316"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a:solidFill>
                  <a:prstClr val="black"/>
                </a:solidFill>
              </a:rPr>
              <a:t>입찰참가사업 및 입찰보증금</a:t>
            </a:r>
            <a:r>
              <a:rPr lang="en-US" altLang="ko-KR" sz="900" b="1">
                <a:solidFill>
                  <a:prstClr val="black"/>
                </a:solidFill>
              </a:rPr>
              <a:t>(</a:t>
            </a:r>
            <a:r>
              <a:rPr lang="ko-KR" altLang="en-US" sz="900" b="1">
                <a:solidFill>
                  <a:prstClr val="black"/>
                </a:solidFill>
              </a:rPr>
              <a:t>보증금면제</a:t>
            </a:r>
            <a:r>
              <a:rPr lang="en-US" altLang="ko-KR" sz="900" b="1">
                <a:solidFill>
                  <a:prstClr val="black"/>
                </a:solidFill>
              </a:rPr>
              <a:t>)</a:t>
            </a:r>
            <a:r>
              <a:rPr lang="ko-KR" altLang="en-US" sz="900" b="1">
                <a:solidFill>
                  <a:prstClr val="black"/>
                </a:solidFill>
              </a:rPr>
              <a:t> 데이터 영역 </a:t>
            </a:r>
            <a:r>
              <a:rPr lang="en-US" altLang="ko-KR" sz="900" b="1">
                <a:solidFill>
                  <a:prstClr val="black"/>
                </a:solidFill>
              </a:rPr>
              <a:t>(dl_bizExmptnList)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376960"/>
        </p:xfrm>
        <a:graphic>
          <a:graphicData uri="http://schemas.openxmlformats.org/drawingml/2006/table">
            <a:tbl>
              <a:tblPr>
                <a:tableStyleId>{616DA210-FB5B-4158-B5E0-FEB733F419BA}</a:tableStyleId>
              </a:tblPr>
              <a:tblGrid>
                <a:gridCol w="1375801">
                  <a:extLst>
                    <a:ext uri="{9D8B030D-6E8A-4147-A177-3AD203B41FA5}">
                      <a16:colId xmlns:a16="http://schemas.microsoft.com/office/drawing/2014/main" val="20000"/>
                    </a:ext>
                  </a:extLst>
                </a:gridCol>
                <a:gridCol w="1295400">
                  <a:extLst>
                    <a:ext uri="{9D8B030D-6E8A-4147-A177-3AD203B41FA5}">
                      <a16:colId xmlns:a16="http://schemas.microsoft.com/office/drawing/2014/main" val="2834569402"/>
                    </a:ext>
                  </a:extLst>
                </a:gridCol>
                <a:gridCol w="257581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1512057"/>
                  </a:ext>
                </a:extLst>
              </a:tr>
              <a:tr h="0">
                <a:tc>
                  <a:txBody>
                    <a:bodyPr/>
                    <a:lstStyle/>
                    <a:p>
                      <a:pPr algn="l" fontAlgn="ctr"/>
                      <a:r>
                        <a:rPr lang="ko-KR" altLang="en-US" sz="800" b="0" i="0" u="none" strike="noStrike" dirty="0" err="1">
                          <a:solidFill>
                            <a:srgbClr val="000000"/>
                          </a:solidFill>
                          <a:effectLst/>
                          <a:latin typeface="+mn-ea"/>
                          <a:ea typeface="+mn-ea"/>
                        </a:rPr>
                        <a:t>입찰품목수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입찰에 참여할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1785839"/>
                  </a:ext>
                </a:extLst>
              </a:tr>
              <a:tr h="0">
                <a:tc>
                  <a:txBody>
                    <a:bodyPr/>
                    <a:lstStyle/>
                    <a:p>
                      <a:pPr algn="l" fontAlgn="ctr"/>
                      <a:r>
                        <a:rPr lang="ko-KR" altLang="en-US" sz="800" b="0" i="0" u="none" strike="noStrike" dirty="0">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입찰총금액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717849"/>
                  </a:ext>
                </a:extLst>
              </a:tr>
              <a:tr h="0">
                <a:tc>
                  <a:txBody>
                    <a:bodyPr/>
                    <a:lstStyle/>
                    <a:p>
                      <a:pPr algn="l" fontAlgn="ctr"/>
                      <a:r>
                        <a:rPr lang="ko-KR" altLang="en-US" sz="800" b="0" i="0" u="none" strike="noStrike" dirty="0">
                          <a:solidFill>
                            <a:srgbClr val="000000"/>
                          </a:solidFill>
                          <a:effectLst/>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598984"/>
                  </a:ext>
                </a:extLst>
              </a:tr>
              <a:tr h="0">
                <a:tc>
                  <a:txBody>
                    <a:bodyPr/>
                    <a:lstStyle/>
                    <a:p>
                      <a:pPr algn="l" fontAlgn="ctr"/>
                      <a:r>
                        <a:rPr lang="ko-KR" altLang="en-US" sz="800" b="0" i="0" u="none" strike="noStrike" dirty="0">
                          <a:solidFill>
                            <a:srgbClr val="000000"/>
                          </a:solidFill>
                          <a:effectLst/>
                          <a:latin typeface="+mn-ea"/>
                          <a:ea typeface="+mn-ea"/>
                        </a:rPr>
                        <a:t>입찰보증금</a:t>
                      </a:r>
                      <a:r>
                        <a:rPr lang="en-US" altLang="ko-KR" sz="800" b="0" i="0" u="none" strike="noStrike" dirty="0">
                          <a:solidFill>
                            <a:srgbClr val="000000"/>
                          </a:solidFill>
                          <a:effectLst/>
                          <a:latin typeface="+mn-ea"/>
                          <a:ea typeface="+mn-ea"/>
                        </a:rPr>
                        <a:t>(</a:t>
                      </a:r>
                      <a:r>
                        <a:rPr lang="ko-KR" altLang="en-US" sz="800" b="0" i="0" u="none" strike="noStrike" dirty="0" err="1">
                          <a:solidFill>
                            <a:srgbClr val="000000"/>
                          </a:solidFill>
                          <a:effectLst/>
                          <a:latin typeface="+mn-ea"/>
                          <a:ea typeface="+mn-ea"/>
                        </a:rPr>
                        <a:t>확인입력</a:t>
                      </a:r>
                      <a:r>
                        <a:rPr lang="en-US" altLang="ko-KR" sz="800" b="0" i="0" u="none" strike="noStrike" dirty="0">
                          <a:solidFill>
                            <a:srgbClr val="000000"/>
                          </a:solidFill>
                          <a:effectLst/>
                          <a:latin typeface="+mn-ea"/>
                          <a:ea typeface="+mn-ea"/>
                        </a:rPr>
                        <a:t>)</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chckBidGrnteAmt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 확인입력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9503326"/>
                  </a:ext>
                </a:extLst>
              </a:tr>
              <a:tr h="0">
                <a:tc>
                  <a:txBody>
                    <a:bodyPr/>
                    <a:lstStyle/>
                    <a:p>
                      <a:pPr algn="l" fontAlgn="ctr"/>
                      <a:r>
                        <a:rPr lang="ko-KR" altLang="en-US" sz="800" b="0" i="0" u="none" strike="noStrike" dirty="0">
                          <a:solidFill>
                            <a:srgbClr val="000000"/>
                          </a:solidFill>
                          <a:effectLst/>
                          <a:latin typeface="+mn-ea"/>
                          <a:ea typeface="+mn-ea"/>
                        </a:rPr>
                        <a:t>보증금납부방법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grntePayMth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보증금납부방법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구분</a:t>
                      </a:r>
                      <a:r>
                        <a:rPr lang="en-US" altLang="ko-KR" sz="800">
                          <a:latin typeface="+mn-ea"/>
                          <a:ea typeface="+mn-ea"/>
                        </a:rPr>
                        <a:t>(</a:t>
                      </a:r>
                      <a:r>
                        <a:rPr lang="ko-KR" altLang="en-US" sz="800">
                          <a:latin typeface="+mn-ea"/>
                          <a:ea typeface="+mn-ea"/>
                        </a:rPr>
                        <a:t>보증보험</a:t>
                      </a:r>
                      <a:r>
                        <a:rPr lang="en-US" altLang="ko-KR" sz="800">
                          <a:latin typeface="+mn-ea"/>
                          <a:ea typeface="+mn-ea"/>
                        </a:rPr>
                        <a:t>, </a:t>
                      </a:r>
                      <a:r>
                        <a:rPr lang="ko-KR" altLang="en-US" sz="800">
                          <a:latin typeface="+mn-ea"/>
                          <a:ea typeface="+mn-ea"/>
                        </a:rPr>
                        <a:t>전자보증서</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보증금증권번호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wtgrNo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보증금증권번호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보증금납부방법이 </a:t>
                      </a:r>
                      <a:r>
                        <a:rPr lang="en-US" altLang="ko-KR" sz="800">
                          <a:latin typeface="+mn-ea"/>
                          <a:ea typeface="+mn-ea"/>
                        </a:rPr>
                        <a:t>‘</a:t>
                      </a:r>
                      <a:r>
                        <a:rPr lang="ko-KR" altLang="en-US" sz="800">
                          <a:latin typeface="+mn-ea"/>
                          <a:ea typeface="+mn-ea"/>
                        </a:rPr>
                        <a:t>전자보증서</a:t>
                      </a:r>
                      <a:r>
                        <a:rPr lang="en-US" altLang="ko-KR" sz="800">
                          <a:latin typeface="+mn-ea"/>
                          <a:ea typeface="+mn-ea"/>
                        </a:rPr>
                        <a:t>’</a:t>
                      </a:r>
                      <a:r>
                        <a:rPr lang="ko-KR" altLang="en-US" sz="800">
                          <a:latin typeface="+mn-ea"/>
                          <a:ea typeface="+mn-ea"/>
                        </a:rPr>
                        <a:t>인 경우</a:t>
                      </a:r>
                      <a:r>
                        <a:rPr lang="en-US" altLang="ko-KR" sz="800">
                          <a:latin typeface="+mn-ea"/>
                          <a:ea typeface="+mn-ea"/>
                        </a:rPr>
                        <a:t>, </a:t>
                      </a:r>
                      <a:r>
                        <a:rPr lang="ko-KR" altLang="en-US" sz="800">
                          <a:latin typeface="+mn-ea"/>
                          <a:ea typeface="+mn-ea"/>
                        </a:rPr>
                        <a:t>전자보증서의 정보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r h="0">
                <a:tc>
                  <a:txBody>
                    <a:bodyPr/>
                    <a:lstStyle/>
                    <a:p>
                      <a:pPr algn="l" fontAlgn="ctr"/>
                      <a:r>
                        <a:rPr lang="ko-KR" altLang="en-US" sz="800" b="0" i="0" u="none" strike="noStrike" dirty="0" err="1">
                          <a:solidFill>
                            <a:srgbClr val="000000"/>
                          </a:solidFill>
                          <a:effectLst/>
                          <a:latin typeface="+mn-ea"/>
                          <a:ea typeface="+mn-ea"/>
                        </a:rPr>
                        <a:t>보증기관명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grnteInstNm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보증기관명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보증금납부방법이 </a:t>
                      </a:r>
                      <a:r>
                        <a:rPr lang="en-US" altLang="ko-KR" sz="800">
                          <a:latin typeface="+mn-ea"/>
                          <a:ea typeface="+mn-ea"/>
                        </a:rPr>
                        <a:t>‘</a:t>
                      </a:r>
                      <a:r>
                        <a:rPr lang="ko-KR" altLang="en-US" sz="800">
                          <a:latin typeface="+mn-ea"/>
                          <a:ea typeface="+mn-ea"/>
                        </a:rPr>
                        <a:t>전자보증서</a:t>
                      </a:r>
                      <a:r>
                        <a:rPr lang="en-US" altLang="ko-KR" sz="800">
                          <a:latin typeface="+mn-ea"/>
                          <a:ea typeface="+mn-ea"/>
                        </a:rPr>
                        <a:t>’</a:t>
                      </a:r>
                      <a:r>
                        <a:rPr lang="ko-KR" altLang="en-US" sz="800">
                          <a:latin typeface="+mn-ea"/>
                          <a:ea typeface="+mn-ea"/>
                        </a:rPr>
                        <a:t>인 경우</a:t>
                      </a:r>
                      <a:r>
                        <a:rPr lang="en-US" altLang="ko-KR" sz="800">
                          <a:latin typeface="+mn-ea"/>
                          <a:ea typeface="+mn-ea"/>
                        </a:rPr>
                        <a:t>, </a:t>
                      </a:r>
                      <a:r>
                        <a:rPr lang="ko-KR" altLang="en-US" sz="800">
                          <a:latin typeface="+mn-ea"/>
                          <a:ea typeface="+mn-ea"/>
                        </a:rPr>
                        <a:t>전자보증서의 정보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6925270"/>
                  </a:ext>
                </a:extLst>
              </a:tr>
              <a:tr h="0">
                <a:tc>
                  <a:txBody>
                    <a:bodyPr/>
                    <a:lstStyle/>
                    <a:p>
                      <a:pPr algn="l" fontAlgn="ctr"/>
                      <a:r>
                        <a:rPr lang="ko-KR" altLang="en-US" sz="800" b="0" i="0" u="none" strike="noStrike" dirty="0">
                          <a:solidFill>
                            <a:srgbClr val="000000"/>
                          </a:solidFill>
                          <a:effectLst/>
                          <a:latin typeface="+mn-ea"/>
                          <a:ea typeface="+mn-ea"/>
                        </a:rPr>
                        <a:t>입찰보증금납부서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grntePyslDocNo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입찰보증금납부서 파일명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26281910"/>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3863249"/>
          <a:ext cx="8994883" cy="1745280"/>
        </p:xfrm>
        <a:graphic>
          <a:graphicData uri="http://schemas.openxmlformats.org/drawingml/2006/table">
            <a:tbl>
              <a:tblPr>
                <a:tableStyleId>{616DA210-FB5B-4158-B5E0-FEB733F419BA}</a:tableStyleId>
              </a:tblPr>
              <a:tblGrid>
                <a:gridCol w="1347226">
                  <a:extLst>
                    <a:ext uri="{9D8B030D-6E8A-4147-A177-3AD203B41FA5}">
                      <a16:colId xmlns:a16="http://schemas.microsoft.com/office/drawing/2014/main" val="20000"/>
                    </a:ext>
                  </a:extLst>
                </a:gridCol>
                <a:gridCol w="1304925">
                  <a:extLst>
                    <a:ext uri="{9D8B030D-6E8A-4147-A177-3AD203B41FA5}">
                      <a16:colId xmlns:a16="http://schemas.microsoft.com/office/drawing/2014/main" val="1403555245"/>
                    </a:ext>
                  </a:extLst>
                </a:gridCol>
                <a:gridCol w="259486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4993169"/>
                  </a:ext>
                </a:extLst>
              </a:tr>
              <a:tr h="0">
                <a:tc>
                  <a:txBody>
                    <a:bodyPr/>
                    <a:lstStyle/>
                    <a:p>
                      <a:pPr algn="l" fontAlgn="ctr"/>
                      <a:r>
                        <a:rPr lang="ko-KR" altLang="en-US" sz="800" b="0" i="0" u="none" strike="noStrike">
                          <a:solidFill>
                            <a:srgbClr val="000000"/>
                          </a:solidFill>
                          <a:effectLst/>
                          <a:latin typeface="+mn-ea"/>
                          <a:ea typeface="+mn-ea"/>
                        </a:rPr>
                        <a:t>입찰품목수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입찰에 참여할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08371"/>
                  </a:ext>
                </a:extLst>
              </a:tr>
              <a:tr h="0">
                <a:tc>
                  <a:txBody>
                    <a:bodyPr/>
                    <a:lstStyle/>
                    <a:p>
                      <a:pPr algn="l" fontAlgn="ctr"/>
                      <a:r>
                        <a:rPr lang="ko-KR" altLang="en-US" sz="800" b="0" i="0" u="none" strike="noStrike">
                          <a:solidFill>
                            <a:srgbClr val="000000"/>
                          </a:solidFill>
                          <a:effectLst/>
                          <a:latin typeface="+mn-ea"/>
                          <a:ea typeface="+mn-ea"/>
                        </a:rPr>
                        <a:t>입찰금액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입찰총금액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147523"/>
                  </a:ext>
                </a:extLst>
              </a:tr>
              <a:tr h="0">
                <a:tc>
                  <a:txBody>
                    <a:bodyPr/>
                    <a:lstStyle/>
                    <a:p>
                      <a:pPr algn="l" fontAlgn="ctr"/>
                      <a:r>
                        <a:rPr lang="ko-KR" altLang="en-US" sz="800" b="0" i="0" u="none" strike="noStrike">
                          <a:solidFill>
                            <a:srgbClr val="000000"/>
                          </a:solidFill>
                          <a:effectLst/>
                          <a:latin typeface="+mn-ea"/>
                          <a:ea typeface="+mn-ea"/>
                        </a:rPr>
                        <a:t>입찰보증금</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9717549"/>
                  </a:ext>
                </a:extLst>
              </a:tr>
              <a:tr h="0">
                <a:tc>
                  <a:txBody>
                    <a:bodyPr/>
                    <a:lstStyle/>
                    <a:p>
                      <a:pPr algn="l" fontAlgn="ctr"/>
                      <a:r>
                        <a:rPr lang="ko-KR" altLang="en-US" sz="800" b="0" i="0" u="none" strike="noStrike">
                          <a:solidFill>
                            <a:srgbClr val="000000"/>
                          </a:solidFill>
                          <a:effectLst/>
                          <a:latin typeface="+mn-ea"/>
                          <a:ea typeface="+mn-ea"/>
                        </a:rPr>
                        <a:t>입찰보증금</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확인입력</a:t>
                      </a:r>
                      <a:r>
                        <a:rPr lang="en-US" altLang="ko-KR" sz="800" b="0" i="0" u="none" strike="noStrike">
                          <a:solidFill>
                            <a:srgbClr val="000000"/>
                          </a:solidFill>
                          <a:effectLst/>
                          <a:latin typeface="+mn-ea"/>
                          <a:ea typeface="+mn-ea"/>
                        </a:rPr>
                        <a:t>)</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chckBidGrnteAmt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 확인입력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7425815"/>
                  </a:ext>
                </a:extLst>
              </a:tr>
              <a:tr h="0">
                <a:tc>
                  <a:txBody>
                    <a:bodyPr/>
                    <a:lstStyle/>
                    <a:p>
                      <a:pPr algn="l" fontAlgn="ctr"/>
                      <a:r>
                        <a:rPr lang="ko-KR" altLang="en-US" sz="800" b="0" i="0" u="none" strike="noStrike">
                          <a:solidFill>
                            <a:srgbClr val="000000"/>
                          </a:solidFill>
                          <a:effectLst/>
                          <a:latin typeface="+mn-ea"/>
                          <a:ea typeface="+mn-ea"/>
                        </a:rPr>
                        <a:t>연대보증서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gurnAgreDocNo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연대보증서 파일명</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a:solidFill>
                            <a:srgbClr val="000000"/>
                          </a:solidFill>
                          <a:effectLst/>
                          <a:latin typeface="+mn-ea"/>
                          <a:ea typeface="+mn-ea"/>
                        </a:rPr>
                        <a:t>지급각서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giveWrtprmDocNo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지급각서 파일명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2" name="Text Box 73">
            <a:extLst>
              <a:ext uri="{FF2B5EF4-FFF2-40B4-BE49-F238E27FC236}">
                <a16:creationId xmlns:a16="http://schemas.microsoft.com/office/drawing/2014/main" id="{267A0A7B-A28B-1EE4-BC50-81D0FA27FC9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845914839"/>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339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(3/3)</a:t>
            </a:r>
            <a:endParaRPr lang="ko-KR" altLang="en-US" sz="1000" b="1" dirty="0">
              <a:solidFill>
                <a:prstClr val="black"/>
              </a:solidFill>
            </a:endParaRPr>
          </a:p>
        </p:txBody>
      </p:sp>
      <p:sp>
        <p:nvSpPr>
          <p:cNvPr id="2" name="Text Box 73">
            <a:extLst>
              <a:ext uri="{FF2B5EF4-FFF2-40B4-BE49-F238E27FC236}">
                <a16:creationId xmlns:a16="http://schemas.microsoft.com/office/drawing/2014/main" id="{35260BFB-837F-4E04-16E1-26ACA0B60E6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4" name="TextBox 3">
            <a:extLst>
              <a:ext uri="{FF2B5EF4-FFF2-40B4-BE49-F238E27FC236}">
                <a16:creationId xmlns:a16="http://schemas.microsoft.com/office/drawing/2014/main" id="{3F675825-BD2C-2618-2FC5-F703DB5C35B2}"/>
              </a:ext>
            </a:extLst>
          </p:cNvPr>
          <p:cNvSpPr txBox="1"/>
          <p:nvPr/>
        </p:nvSpPr>
        <p:spPr>
          <a:xfrm>
            <a:off x="452999" y="796115"/>
            <a:ext cx="2094090" cy="211203"/>
          </a:xfrm>
          <a:prstGeom prst="rect">
            <a:avLst/>
          </a:prstGeom>
          <a:noFill/>
        </p:spPr>
        <p:txBody>
          <a:bodyPr wrap="none" lIns="36000" tIns="36000" rIns="36000" bIns="36000" rtlCol="0">
            <a:spAutoFit/>
          </a:bodyPr>
          <a:lstStyle/>
          <a:p>
            <a:r>
              <a:rPr lang="en-US" altLang="ko-KR" sz="900" b="1">
                <a:solidFill>
                  <a:prstClr val="black"/>
                </a:solidFill>
              </a:rPr>
              <a:t>1.6. </a:t>
            </a:r>
            <a:r>
              <a:rPr lang="ko-KR" altLang="en-US" sz="900" b="1">
                <a:solidFill>
                  <a:prstClr val="black"/>
                </a:solidFill>
              </a:rPr>
              <a:t>첨부서류</a:t>
            </a:r>
            <a:r>
              <a:rPr lang="en-US" altLang="ko-KR"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(dl_docList)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3C080D70-70E8-E937-F1C3-F23B73E73650}"/>
              </a:ext>
            </a:extLst>
          </p:cNvPr>
          <p:cNvGraphicFramePr>
            <a:graphicFrameLocks noGrp="1"/>
          </p:cNvGraphicFramePr>
          <p:nvPr/>
        </p:nvGraphicFramePr>
        <p:xfrm>
          <a:off x="452999" y="1007318"/>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제출해야할</a:t>
                      </a:r>
                      <a:r>
                        <a:rPr lang="ko-KR" altLang="en-US" sz="800" b="0" i="0" u="none" strike="noStrike" dirty="0">
                          <a:solidFill>
                            <a:srgbClr val="000000"/>
                          </a:solidFill>
                          <a:effectLst/>
                          <a:latin typeface="+mn-ea"/>
                          <a:ea typeface="+mn-ea"/>
                        </a:rPr>
                        <a:t> 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3385443341"/>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340</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26" name="Text Box 73">
            <a:extLst>
              <a:ext uri="{FF2B5EF4-FFF2-40B4-BE49-F238E27FC236}">
                <a16:creationId xmlns:a16="http://schemas.microsoft.com/office/drawing/2014/main" id="{2AAB1026-6B50-DBEE-D4D1-ED82E13491C2}"/>
              </a:ext>
            </a:extLst>
          </p:cNvPr>
          <p:cNvSpPr txBox="1">
            <a:spLocks noChangeArrowheads="1"/>
          </p:cNvSpPr>
          <p:nvPr/>
        </p:nvSpPr>
        <p:spPr bwMode="auto">
          <a:xfrm>
            <a:off x="7740000" y="862324"/>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a:t>
            </a:r>
          </a:p>
        </p:txBody>
      </p:sp>
      <p:graphicFrame>
        <p:nvGraphicFramePr>
          <p:cNvPr id="4" name="표 3">
            <a:extLst>
              <a:ext uri="{FF2B5EF4-FFF2-40B4-BE49-F238E27FC236}">
                <a16:creationId xmlns:a16="http://schemas.microsoft.com/office/drawing/2014/main" id="{89E1827E-1988-380A-F9F3-3955A79B0FE9}"/>
              </a:ext>
            </a:extLst>
          </p:cNvPr>
          <p:cNvGraphicFramePr>
            <a:graphicFrameLocks noGrp="1"/>
          </p:cNvGraphicFramePr>
          <p:nvPr>
            <p:extLst>
              <p:ext uri="{D42A27DB-BD31-4B8C-83A1-F6EECF244321}">
                <p14:modId xmlns:p14="http://schemas.microsoft.com/office/powerpoint/2010/main" val="380169404"/>
              </p:ext>
            </p:extLst>
          </p:nvPr>
        </p:nvGraphicFramePr>
        <p:xfrm>
          <a:off x="452291" y="799547"/>
          <a:ext cx="8995591" cy="1529280"/>
        </p:xfrm>
        <a:graphic>
          <a:graphicData uri="http://schemas.openxmlformats.org/drawingml/2006/table">
            <a:tbl>
              <a:tblPr>
                <a:tableStyleId>{616DA210-FB5B-4158-B5E0-FEB733F419BA}</a:tableStyleId>
              </a:tblPr>
              <a:tblGrid>
                <a:gridCol w="1538434">
                  <a:extLst>
                    <a:ext uri="{9D8B030D-6E8A-4147-A177-3AD203B41FA5}">
                      <a16:colId xmlns:a16="http://schemas.microsoft.com/office/drawing/2014/main" val="20000"/>
                    </a:ext>
                  </a:extLst>
                </a:gridCol>
                <a:gridCol w="1428750">
                  <a:extLst>
                    <a:ext uri="{9D8B030D-6E8A-4147-A177-3AD203B41FA5}">
                      <a16:colId xmlns:a16="http://schemas.microsoft.com/office/drawing/2014/main" val="3103963203"/>
                    </a:ext>
                  </a:extLst>
                </a:gridCol>
                <a:gridCol w="3867150">
                  <a:extLst>
                    <a:ext uri="{9D8B030D-6E8A-4147-A177-3AD203B41FA5}">
                      <a16:colId xmlns:a16="http://schemas.microsoft.com/office/drawing/2014/main" val="20001"/>
                    </a:ext>
                  </a:extLst>
                </a:gridCol>
                <a:gridCol w="2161257">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입찰참가사업정보 및 업체정보 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입찰참가사업목록조회</a:t>
                      </a:r>
                      <a:r>
                        <a:rPr lang="en-US" altLang="ko-KR" sz="800">
                          <a:latin typeface="+mn-ea"/>
                          <a:ea typeface="+mn-ea"/>
                        </a:rPr>
                        <a:t>,</a:t>
                      </a:r>
                      <a:r>
                        <a:rPr lang="ko-KR" altLang="en-US" sz="800">
                          <a:latin typeface="+mn-ea"/>
                          <a:ea typeface="+mn-ea"/>
                        </a:rPr>
                        <a:t> 업체정보조회</a:t>
                      </a:r>
                      <a:r>
                        <a:rPr lang="en-US" altLang="ko-KR" sz="80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입찰보증금구분 변경</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scnwin.sbx_depositType_onchange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입찰보증금구분값에 따라 입찰참가사업 및 입찰보증금 데이터 영역 변경</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indent="-8890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4958856"/>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보증금납부방법 변경</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scnwin.sbx_depositPaymentType_onchange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보증금납부방법이 </a:t>
                      </a:r>
                      <a:r>
                        <a:rPr lang="en-US" altLang="ko-KR" sz="800">
                          <a:latin typeface="+mn-ea"/>
                          <a:ea typeface="+mn-ea"/>
                        </a:rPr>
                        <a:t>‘</a:t>
                      </a:r>
                      <a:r>
                        <a:rPr lang="ko-KR" altLang="en-US" sz="800">
                          <a:latin typeface="+mn-ea"/>
                          <a:ea typeface="+mn-ea"/>
                        </a:rPr>
                        <a:t>전자보증서</a:t>
                      </a:r>
                      <a:r>
                        <a:rPr lang="en-US" altLang="ko-KR" sz="800">
                          <a:latin typeface="+mn-ea"/>
                          <a:ea typeface="+mn-ea"/>
                        </a:rPr>
                        <a:t>’</a:t>
                      </a:r>
                      <a:r>
                        <a:rPr lang="ko-KR" altLang="en-US" sz="800">
                          <a:latin typeface="+mn-ea"/>
                          <a:ea typeface="+mn-ea"/>
                        </a:rPr>
                        <a:t>인 경우</a:t>
                      </a:r>
                      <a:r>
                        <a:rPr lang="en-US" altLang="ko-KR" sz="800">
                          <a:latin typeface="+mn-ea"/>
                          <a:ea typeface="+mn-ea"/>
                        </a:rPr>
                        <a:t>, </a:t>
                      </a:r>
                      <a:r>
                        <a:rPr lang="ko-KR" altLang="en-US" sz="800">
                          <a:latin typeface="+mn-ea"/>
                          <a:ea typeface="+mn-ea"/>
                        </a:rPr>
                        <a:t>보증금증권번호</a:t>
                      </a:r>
                      <a:r>
                        <a:rPr lang="en-US" altLang="ko-KR" sz="800">
                          <a:latin typeface="+mn-ea"/>
                          <a:ea typeface="+mn-ea"/>
                        </a:rPr>
                        <a:t>/</a:t>
                      </a:r>
                      <a:r>
                        <a:rPr lang="ko-KR" altLang="en-US" sz="800">
                          <a:latin typeface="+mn-ea"/>
                          <a:ea typeface="+mn-ea"/>
                        </a:rPr>
                        <a:t>보증기관명 입력 비활성화</a:t>
                      </a:r>
                      <a:r>
                        <a:rPr lang="en-US" altLang="ko-KR" sz="800">
                          <a:latin typeface="+mn-ea"/>
                          <a:ea typeface="+mn-ea"/>
                        </a:rPr>
                        <a:t>. </a:t>
                      </a:r>
                      <a:r>
                        <a:rPr lang="ko-KR" altLang="en-US" sz="800">
                          <a:latin typeface="+mn-ea"/>
                          <a:ea typeface="+mn-ea"/>
                        </a:rPr>
                        <a:t>보증서선택 버튼 노출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indent="-8890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9881698"/>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보증서선택 클릭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scnwin.btn_openBond_onclick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입찰보증서선택 팝업을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indent="-88900" algn="l" latinLnBrk="1">
                        <a:buFont typeface="Arial" panose="020B0604020202020204" pitchFamily="34" charset="0"/>
                        <a:buChar char="•"/>
                        <a:tabLst>
                          <a:tab pos="88900" algn="l"/>
                        </a:tabLst>
                      </a:pPr>
                      <a:r>
                        <a:rPr lang="en-US" altLang="ko-KR" sz="800" dirty="0">
                          <a:latin typeface="+mn-ea"/>
                          <a:ea typeface="+mn-ea"/>
                        </a:rPr>
                        <a:t>UI-BD-04-P73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78940457"/>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신청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scwin.btn_submit_onclick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입찰참가신청서를 등록</a:t>
                      </a:r>
                      <a:r>
                        <a:rPr lang="en-US" altLang="ko-KR" sz="800">
                          <a:latin typeface="+mn-ea"/>
                          <a:ea typeface="+mn-ea"/>
                        </a:rPr>
                        <a:t>. </a:t>
                      </a:r>
                      <a:r>
                        <a:rPr lang="ko-KR" altLang="en-US" sz="800">
                          <a:latin typeface="+mn-ea"/>
                          <a:ea typeface="+mn-ea"/>
                        </a:rPr>
                        <a:t>모의입찰 상태인 경우</a:t>
                      </a:r>
                      <a:r>
                        <a:rPr lang="en-US" altLang="ko-KR" sz="800">
                          <a:latin typeface="+mn-ea"/>
                          <a:ea typeface="+mn-ea"/>
                        </a:rPr>
                        <a:t>, </a:t>
                      </a:r>
                      <a:r>
                        <a:rPr lang="ko-KR" altLang="en-US" sz="800">
                          <a:latin typeface="+mn-ea"/>
                          <a:ea typeface="+mn-ea"/>
                        </a:rPr>
                        <a:t>모의입찰참가신청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8900" indent="-88900" algn="l" latinLnBrk="1">
                        <a:buFont typeface="Arial" panose="020B0604020202020204" pitchFamily="34" charset="0"/>
                        <a:buChar char="•"/>
                      </a:pPr>
                      <a:r>
                        <a:rPr lang="ko-KR" altLang="en-US" sz="800" dirty="0">
                          <a:latin typeface="+mn-ea"/>
                          <a:ea typeface="+mn-ea"/>
                        </a:rPr>
                        <a:t>입찰참가신청</a:t>
                      </a:r>
                      <a:r>
                        <a:rPr lang="en-US" altLang="ko-KR" sz="800" dirty="0">
                          <a:latin typeface="+mn-ea"/>
                          <a:ea typeface="+mn-ea"/>
                        </a:rPr>
                        <a:t>,</a:t>
                      </a:r>
                      <a:r>
                        <a:rPr lang="ko-KR" altLang="en-US" sz="800" dirty="0">
                          <a:latin typeface="+mn-ea"/>
                          <a:ea typeface="+mn-ea"/>
                        </a:rPr>
                        <a:t> 모의입찰참가신청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5799267"/>
                  </a:ext>
                </a:extLst>
              </a:tr>
            </a:tbl>
          </a:graphicData>
        </a:graphic>
      </p:graphicFrame>
      <p:sp>
        <p:nvSpPr>
          <p:cNvPr id="2" name="Text Box 73">
            <a:extLst>
              <a:ext uri="{FF2B5EF4-FFF2-40B4-BE49-F238E27FC236}">
                <a16:creationId xmlns:a16="http://schemas.microsoft.com/office/drawing/2014/main" id="{4EA101DA-42E2-F567-1DAF-00FB22A4AF39}"/>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385217522"/>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입찰보증서</a:t>
            </a:r>
            <a:r>
              <a:rPr lang="ko-KR" altLang="en-US" dirty="0"/>
              <a:t> 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341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입찰보증서선택</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이전 공고 보관함 목록의 </a:t>
            </a:r>
            <a:r>
              <a:rPr lang="ko-KR" altLang="en-US" dirty="0" err="1"/>
              <a:t>입찰내역을</a:t>
            </a:r>
            <a:r>
              <a:rPr lang="ko-KR" altLang="en-US" dirty="0"/>
              <a:t> 현재 공고의 입찰내역으로 불러오는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775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 보증금 </a:t>
            </a:r>
            <a:r>
              <a:rPr lang="en-US" altLang="ko-KR" dirty="0">
                <a:latin typeface="+mn-ea"/>
              </a:rPr>
              <a:t>&gt; </a:t>
            </a:r>
            <a:r>
              <a:rPr lang="ko-KR" altLang="en-US" dirty="0">
                <a:latin typeface="+mn-ea"/>
              </a:rPr>
              <a:t>입찰보증서선택</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MUI-BD-04-P75</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입찰보증서</a:t>
            </a:r>
            <a:r>
              <a:rPr lang="ko-KR" altLang="en-US" sz="900" dirty="0">
                <a:latin typeface="+mn-ea"/>
              </a:rPr>
              <a:t> 선택</a:t>
            </a:r>
          </a:p>
        </p:txBody>
      </p:sp>
      <p:sp>
        <p:nvSpPr>
          <p:cNvPr id="153" name="타원 152">
            <a:extLst>
              <a:ext uri="{FF2B5EF4-FFF2-40B4-BE49-F238E27FC236}">
                <a16:creationId xmlns:a16="http://schemas.microsoft.com/office/drawing/2014/main" id="{37A7FF4F-0EAA-1463-560A-D5EC24416103}"/>
              </a:ext>
            </a:extLst>
          </p:cNvPr>
          <p:cNvSpPr/>
          <p:nvPr/>
        </p:nvSpPr>
        <p:spPr>
          <a:xfrm>
            <a:off x="573754" y="269964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21" name="그룹 220"/>
          <p:cNvGrpSpPr/>
          <p:nvPr/>
        </p:nvGrpSpPr>
        <p:grpSpPr>
          <a:xfrm>
            <a:off x="675399" y="5614711"/>
            <a:ext cx="2712027" cy="617588"/>
            <a:chOff x="675399" y="5614711"/>
            <a:chExt cx="2712027" cy="617588"/>
          </a:xfrm>
        </p:grpSpPr>
        <p:sp>
          <p:nvSpPr>
            <p:cNvPr id="222" name="직사각형 221">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4"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cxnSp>
        <p:nvCxnSpPr>
          <p:cNvPr id="163" name="직선 연결선 162">
            <a:extLst>
              <a:ext uri="{FF2B5EF4-FFF2-40B4-BE49-F238E27FC236}">
                <a16:creationId xmlns:a16="http://schemas.microsoft.com/office/drawing/2014/main" id="{E9293055-D5CD-4B9E-7F64-64B2D2CA7A52}"/>
              </a:ext>
            </a:extLst>
          </p:cNvPr>
          <p:cNvCxnSpPr/>
          <p:nvPr/>
        </p:nvCxnSpPr>
        <p:spPr>
          <a:xfrm>
            <a:off x="675399" y="22883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4" name="TextBox 163">
            <a:extLst>
              <a:ext uri="{FF2B5EF4-FFF2-40B4-BE49-F238E27FC236}">
                <a16:creationId xmlns:a16="http://schemas.microsoft.com/office/drawing/2014/main" id="{FFC49AEA-2A8F-250C-A86A-A7751D9706C3}"/>
              </a:ext>
            </a:extLst>
          </p:cNvPr>
          <p:cNvSpPr txBox="1"/>
          <p:nvPr/>
        </p:nvSpPr>
        <p:spPr>
          <a:xfrm>
            <a:off x="1019814" y="198089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업무도움</a:t>
            </a:r>
            <a:endParaRPr lang="ko-KR" altLang="en-US" sz="700" dirty="0">
              <a:latin typeface="+mn-ea"/>
            </a:endParaRPr>
          </a:p>
        </p:txBody>
      </p:sp>
      <p:sp>
        <p:nvSpPr>
          <p:cNvPr id="165" name="타원 164"/>
          <p:cNvSpPr/>
          <p:nvPr/>
        </p:nvSpPr>
        <p:spPr>
          <a:xfrm>
            <a:off x="783686" y="2012244"/>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6" name="그룹 165"/>
          <p:cNvGrpSpPr/>
          <p:nvPr/>
        </p:nvGrpSpPr>
        <p:grpSpPr>
          <a:xfrm>
            <a:off x="3143548" y="2094230"/>
            <a:ext cx="94010" cy="47005"/>
            <a:chOff x="6812560" y="3297172"/>
            <a:chExt cx="94010" cy="47005"/>
          </a:xfrm>
        </p:grpSpPr>
        <p:cxnSp>
          <p:nvCxnSpPr>
            <p:cNvPr id="167" name="직선 연결선 16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8" name="직선 연결선 16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169" name="직선 연결선 168">
            <a:extLst>
              <a:ext uri="{FF2B5EF4-FFF2-40B4-BE49-F238E27FC236}">
                <a16:creationId xmlns:a16="http://schemas.microsoft.com/office/drawing/2014/main" id="{E9293055-D5CD-4B9E-7F64-64B2D2CA7A52}"/>
              </a:ext>
            </a:extLst>
          </p:cNvPr>
          <p:cNvCxnSpPr/>
          <p:nvPr/>
        </p:nvCxnSpPr>
        <p:spPr>
          <a:xfrm>
            <a:off x="720490" y="415803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20490" y="263137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5" name="TextBox 174">
            <a:extLst>
              <a:ext uri="{FF2B5EF4-FFF2-40B4-BE49-F238E27FC236}">
                <a16:creationId xmlns:a16="http://schemas.microsoft.com/office/drawing/2014/main" id="{FFC49AEA-2A8F-250C-A86A-A7751D9706C3}"/>
              </a:ext>
            </a:extLst>
          </p:cNvPr>
          <p:cNvSpPr txBox="1"/>
          <p:nvPr/>
        </p:nvSpPr>
        <p:spPr>
          <a:xfrm>
            <a:off x="778515" y="2345016"/>
            <a:ext cx="1357067" cy="215444"/>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en-US" altLang="ko-KR" sz="700" dirty="0">
                <a:solidFill>
                  <a:schemeClr val="accent1">
                    <a:lumMod val="75000"/>
                  </a:schemeClr>
                </a:solidFill>
                <a:latin typeface="+mn-ea"/>
              </a:rPr>
              <a:t>5</a:t>
            </a:r>
            <a:r>
              <a:rPr lang="en-US" altLang="ko-KR" sz="700" dirty="0">
                <a:latin typeface="+mn-ea"/>
              </a:rPr>
              <a:t> </a:t>
            </a:r>
            <a:r>
              <a:rPr lang="ko-KR" altLang="en-US" sz="700" dirty="0">
                <a:latin typeface="+mn-ea"/>
              </a:rPr>
              <a:t>건</a:t>
            </a:r>
          </a:p>
        </p:txBody>
      </p:sp>
      <p:grpSp>
        <p:nvGrpSpPr>
          <p:cNvPr id="177" name="그룹 176"/>
          <p:cNvGrpSpPr/>
          <p:nvPr/>
        </p:nvGrpSpPr>
        <p:grpSpPr>
          <a:xfrm>
            <a:off x="781461" y="2766254"/>
            <a:ext cx="2473257" cy="914230"/>
            <a:chOff x="781461" y="3078038"/>
            <a:chExt cx="2473257" cy="914230"/>
          </a:xfrm>
        </p:grpSpPr>
        <p:sp>
          <p:nvSpPr>
            <p:cNvPr id="179" name="TextBox 58">
              <a:extLst>
                <a:ext uri="{FF2B5EF4-FFF2-40B4-BE49-F238E27FC236}">
                  <a16:creationId xmlns:a16="http://schemas.microsoft.com/office/drawing/2014/main" id="{02FC114B-B48B-345F-BD70-2B5A196F5B3E}"/>
                </a:ext>
              </a:extLst>
            </p:cNvPr>
            <p:cNvSpPr txBox="1"/>
            <p:nvPr/>
          </p:nvSpPr>
          <p:spPr>
            <a:xfrm>
              <a:off x="781461" y="3078038"/>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err="1">
                  <a:latin typeface="맑은 고딕" panose="020B0503020000020004" pitchFamily="50" charset="-127"/>
                  <a:cs typeface="Segoe UI" panose="020B0502040204020203" pitchFamily="34" charset="0"/>
                </a:rPr>
                <a:t>보증서번호</a:t>
              </a:r>
              <a:r>
                <a:rPr lang="ko-KR" altLang="en-US" sz="700" dirty="0">
                  <a:latin typeface="맑은 고딕" panose="020B0503020000020004" pitchFamily="50" charset="-127"/>
                  <a:cs typeface="Segoe UI" panose="020B0502040204020203" pitchFamily="34" charset="0"/>
                </a:rPr>
                <a:t> </a:t>
              </a:r>
              <a:r>
                <a:rPr lang="en-US" altLang="ko-KR" sz="700" dirty="0">
                  <a:solidFill>
                    <a:srgbClr val="595959"/>
                  </a:solidFill>
                  <a:latin typeface="+mn-ea"/>
                  <a:cs typeface="Segoe UI" panose="020B0502040204020203" pitchFamily="34" charset="0"/>
                </a:rPr>
                <a:t>00800107204AA2003BJ000111500</a:t>
              </a:r>
              <a:endParaRPr lang="en-US" altLang="ko-KR" sz="700" dirty="0"/>
            </a:p>
            <a:p>
              <a:r>
                <a:rPr lang="en-US" altLang="ko-KR" sz="900" b="1" dirty="0"/>
                <a:t>00</a:t>
              </a:r>
              <a:r>
                <a:rPr lang="ko-KR" altLang="en-US" sz="900" b="1" dirty="0"/>
                <a:t>지역 전기공사</a:t>
              </a:r>
            </a:p>
          </p:txBody>
        </p:sp>
        <p:sp>
          <p:nvSpPr>
            <p:cNvPr id="180" name="TextBox 59">
              <a:extLst>
                <a:ext uri="{FF2B5EF4-FFF2-40B4-BE49-F238E27FC236}">
                  <a16:creationId xmlns:a16="http://schemas.microsoft.com/office/drawing/2014/main" id="{F77C802D-3BC8-270F-87FC-5F442BD8054D}"/>
                </a:ext>
              </a:extLst>
            </p:cNvPr>
            <p:cNvSpPr txBox="1"/>
            <p:nvPr/>
          </p:nvSpPr>
          <p:spPr>
            <a:xfrm>
              <a:off x="781461" y="3438270"/>
              <a:ext cx="546625"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개찰일자</a:t>
              </a:r>
              <a:endParaRPr lang="en-US" altLang="ko-KR" sz="600" dirty="0">
                <a:latin typeface="+mn-ea"/>
              </a:endParaRPr>
            </a:p>
            <a:p>
              <a:pPr>
                <a:lnSpc>
                  <a:spcPct val="150000"/>
                </a:lnSpc>
              </a:pPr>
              <a:r>
                <a:rPr lang="ko-KR" altLang="en-US" sz="600" dirty="0">
                  <a:latin typeface="+mn-ea"/>
                </a:rPr>
                <a:t>보증금액</a:t>
              </a:r>
              <a:endParaRPr lang="en-US" altLang="ko-KR" sz="600" dirty="0">
                <a:latin typeface="+mn-ea"/>
              </a:endParaRPr>
            </a:p>
            <a:p>
              <a:pPr>
                <a:lnSpc>
                  <a:spcPct val="150000"/>
                </a:lnSpc>
              </a:pPr>
              <a:r>
                <a:rPr lang="ko-KR" altLang="en-US" sz="600" dirty="0" err="1">
                  <a:latin typeface="+mn-ea"/>
                </a:rPr>
                <a:t>보증채권자</a:t>
              </a:r>
              <a:endParaRPr lang="en-US" altLang="ko-KR" sz="600" dirty="0">
                <a:latin typeface="+mn-ea"/>
              </a:endParaRPr>
            </a:p>
            <a:p>
              <a:pPr>
                <a:lnSpc>
                  <a:spcPct val="150000"/>
                </a:lnSpc>
              </a:pPr>
              <a:r>
                <a:rPr lang="ko-KR" altLang="en-US" sz="600" dirty="0">
                  <a:latin typeface="+mn-ea"/>
                </a:rPr>
                <a:t>계약자 </a:t>
              </a:r>
              <a:r>
                <a:rPr lang="en-US" altLang="ko-KR" sz="600" dirty="0">
                  <a:latin typeface="+mn-ea"/>
                </a:rPr>
                <a:t>/ </a:t>
              </a:r>
              <a:r>
                <a:rPr lang="ko-KR" altLang="en-US" sz="600" dirty="0">
                  <a:latin typeface="+mn-ea"/>
                </a:rPr>
                <a:t>발행자</a:t>
              </a:r>
              <a:endParaRPr lang="en-US" altLang="ko-KR" sz="600" dirty="0">
                <a:latin typeface="+mn-ea"/>
              </a:endParaRPr>
            </a:p>
          </p:txBody>
        </p:sp>
        <p:sp>
          <p:nvSpPr>
            <p:cNvPr id="183" name="TextBox 60">
              <a:extLst>
                <a:ext uri="{FF2B5EF4-FFF2-40B4-BE49-F238E27FC236}">
                  <a16:creationId xmlns:a16="http://schemas.microsoft.com/office/drawing/2014/main" id="{8F5E3227-69E6-C89F-B8C5-534226E95EA8}"/>
                </a:ext>
              </a:extLst>
            </p:cNvPr>
            <p:cNvSpPr txBox="1"/>
            <p:nvPr/>
          </p:nvSpPr>
          <p:spPr>
            <a:xfrm>
              <a:off x="2201965" y="3422881"/>
              <a:ext cx="1008289"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solidFill>
                    <a:prstClr val="black"/>
                  </a:solidFill>
                  <a:latin typeface="+mn-ea"/>
                  <a:cs typeface="Segoe UI" panose="020B0502040204020203" pitchFamily="34" charset="0"/>
                </a:rPr>
                <a:t>2003-09-08</a:t>
              </a:r>
            </a:p>
            <a:p>
              <a:pPr algn="r">
                <a:lnSpc>
                  <a:spcPct val="150000"/>
                </a:lnSpc>
              </a:pPr>
              <a:r>
                <a:rPr lang="en-US" altLang="ko-KR" sz="600" dirty="0">
                  <a:solidFill>
                    <a:prstClr val="black"/>
                  </a:solidFill>
                  <a:latin typeface="+mn-ea"/>
                  <a:cs typeface="Segoe UI" panose="020B0502040204020203" pitchFamily="34" charset="0"/>
                </a:rPr>
                <a:t>3,000,000</a:t>
              </a:r>
            </a:p>
            <a:p>
              <a:pPr lvl="0" algn="r">
                <a:lnSpc>
                  <a:spcPct val="150000"/>
                </a:lnSpc>
              </a:pPr>
              <a:r>
                <a:rPr lang="ko-KR" altLang="en-US" sz="600" dirty="0">
                  <a:solidFill>
                    <a:prstClr val="black"/>
                  </a:solidFill>
                  <a:latin typeface="+mn-ea"/>
                  <a:cs typeface="Segoe UI" panose="020B0502040204020203" pitchFamily="34" charset="0"/>
                </a:rPr>
                <a:t>제</a:t>
              </a:r>
              <a:r>
                <a:rPr lang="en-US" altLang="ko-KR" sz="600" dirty="0">
                  <a:solidFill>
                    <a:prstClr val="black"/>
                  </a:solidFill>
                  <a:latin typeface="+mn-ea"/>
                  <a:cs typeface="Segoe UI" panose="020B0502040204020203" pitchFamily="34" charset="0"/>
                </a:rPr>
                <a:t>6685</a:t>
              </a:r>
              <a:r>
                <a:rPr lang="ko-KR" altLang="en-US" sz="600" dirty="0">
                  <a:solidFill>
                    <a:prstClr val="black"/>
                  </a:solidFill>
                  <a:latin typeface="+mn-ea"/>
                  <a:cs typeface="Segoe UI" panose="020B0502040204020203" pitchFamily="34" charset="0"/>
                </a:rPr>
                <a:t>부대</a:t>
              </a:r>
              <a:endParaRPr lang="en-US" altLang="ko-KR" sz="600" dirty="0">
                <a:solidFill>
                  <a:prstClr val="black"/>
                </a:solidFill>
                <a:latin typeface="+mn-ea"/>
                <a:cs typeface="Segoe UI" panose="020B0502040204020203" pitchFamily="34" charset="0"/>
              </a:endParaRPr>
            </a:p>
            <a:p>
              <a:pPr algn="r">
                <a:lnSpc>
                  <a:spcPct val="150000"/>
                </a:lnSpc>
              </a:pPr>
              <a:r>
                <a:rPr lang="ko-KR" altLang="en-US" sz="600" dirty="0" err="1">
                  <a:solidFill>
                    <a:prstClr val="black"/>
                  </a:solidFill>
                  <a:latin typeface="+mn-ea"/>
                  <a:cs typeface="Segoe UI" panose="020B0502040204020203" pitchFamily="34" charset="0"/>
                </a:rPr>
                <a:t>금동전기</a:t>
              </a:r>
              <a:r>
                <a:rPr lang="ko-KR" altLang="en-US" sz="600" dirty="0">
                  <a:solidFill>
                    <a:prstClr val="black"/>
                  </a:solidFill>
                  <a:latin typeface="+mn-ea"/>
                  <a:cs typeface="Segoe UI" panose="020B0502040204020203" pitchFamily="34" charset="0"/>
                </a:rPr>
                <a:t> </a:t>
              </a:r>
              <a:r>
                <a:rPr lang="en-US" altLang="ko-KR" sz="600" dirty="0">
                  <a:solidFill>
                    <a:prstClr val="black"/>
                  </a:solidFill>
                  <a:latin typeface="+mn-ea"/>
                  <a:cs typeface="Segoe UI" panose="020B0502040204020203" pitchFamily="34" charset="0"/>
                </a:rPr>
                <a:t>/ </a:t>
              </a:r>
              <a:r>
                <a:rPr lang="ko-KR" altLang="en-US" sz="600" dirty="0">
                  <a:solidFill>
                    <a:prstClr val="black"/>
                  </a:solidFill>
                  <a:latin typeface="+mn-ea"/>
                  <a:cs typeface="Segoe UI" panose="020B0502040204020203" pitchFamily="34" charset="0"/>
                </a:rPr>
                <a:t>전기공사공제조합</a:t>
              </a:r>
              <a:endParaRPr lang="en-US" altLang="ko-KR" sz="600" dirty="0">
                <a:latin typeface="+mn-ea"/>
              </a:endParaRPr>
            </a:p>
          </p:txBody>
        </p:sp>
      </p:grpSp>
      <p:sp>
        <p:nvSpPr>
          <p:cNvPr id="184" name="사각형: 둥근 모서리 31">
            <a:extLst>
              <a:ext uri="{FF2B5EF4-FFF2-40B4-BE49-F238E27FC236}">
                <a16:creationId xmlns:a16="http://schemas.microsoft.com/office/drawing/2014/main" id="{2AC143EE-93CF-3518-F0CB-8469E98507E0}"/>
              </a:ext>
            </a:extLst>
          </p:cNvPr>
          <p:cNvSpPr/>
          <p:nvPr/>
        </p:nvSpPr>
        <p:spPr>
          <a:xfrm>
            <a:off x="808106" y="3806139"/>
            <a:ext cx="1184875" cy="195304"/>
          </a:xfrm>
          <a:prstGeom prst="roundRect">
            <a:avLst/>
          </a:prstGeom>
          <a:noFill/>
          <a:ln w="12700" cap="flat" cmpd="sng" algn="ctr">
            <a:solidFill>
              <a:schemeClr val="tx1"/>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noProof="0" dirty="0">
                <a:latin typeface="맑은 고딕"/>
                <a:ea typeface="맑은 고딕" panose="020B0503020000020004" pitchFamily="50" charset="-127"/>
              </a:rPr>
              <a:t>보증서 정보 보기</a:t>
            </a:r>
            <a:endParaRPr kumimoji="1" lang="en-US" sz="800" b="0" i="0" u="none" strike="noStrike" kern="0" cap="none" spc="0" normalizeH="0" baseline="0" noProof="0" dirty="0">
              <a:ln>
                <a:noFill/>
              </a:ln>
              <a:effectLst/>
              <a:uLnTx/>
              <a:uFillTx/>
              <a:latin typeface="맑은 고딕"/>
            </a:endParaRPr>
          </a:p>
        </p:txBody>
      </p:sp>
      <p:grpSp>
        <p:nvGrpSpPr>
          <p:cNvPr id="198" name="그룹 197">
            <a:extLst>
              <a:ext uri="{FF2B5EF4-FFF2-40B4-BE49-F238E27FC236}">
                <a16:creationId xmlns:a16="http://schemas.microsoft.com/office/drawing/2014/main" id="{22BC05EE-C648-7CA2-4CCC-6E1C1A7E9BDA}"/>
              </a:ext>
            </a:extLst>
          </p:cNvPr>
          <p:cNvGrpSpPr/>
          <p:nvPr/>
        </p:nvGrpSpPr>
        <p:grpSpPr>
          <a:xfrm>
            <a:off x="1992981" y="4876821"/>
            <a:ext cx="76863" cy="292489"/>
            <a:chOff x="3750067" y="4683795"/>
            <a:chExt cx="76863" cy="292489"/>
          </a:xfrm>
        </p:grpSpPr>
        <p:sp>
          <p:nvSpPr>
            <p:cNvPr id="205" name="타원 204">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09" name="타원 208">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10" name="타원 209">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43" name="사각형: 둥근 모서리 31">
            <a:extLst>
              <a:ext uri="{FF2B5EF4-FFF2-40B4-BE49-F238E27FC236}">
                <a16:creationId xmlns:a16="http://schemas.microsoft.com/office/drawing/2014/main" id="{2AC143EE-93CF-3518-F0CB-8469E98507E0}"/>
              </a:ext>
            </a:extLst>
          </p:cNvPr>
          <p:cNvSpPr/>
          <p:nvPr/>
        </p:nvSpPr>
        <p:spPr>
          <a:xfrm>
            <a:off x="2069844" y="3806139"/>
            <a:ext cx="1184875" cy="195304"/>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solidFill>
                  <a:srgbClr val="0070C0"/>
                </a:solidFill>
                <a:latin typeface="맑은 고딕"/>
                <a:ea typeface="맑은 고딕" panose="020B0503020000020004" pitchFamily="50" charset="-127"/>
              </a:rPr>
              <a:t>보증서 적용</a:t>
            </a:r>
            <a:endParaRPr kumimoji="1" lang="en-US" sz="800" b="0" i="0" u="none" strike="noStrike" kern="0" cap="none" spc="0" normalizeH="0" baseline="0" noProof="0" dirty="0">
              <a:ln>
                <a:noFill/>
              </a:ln>
              <a:solidFill>
                <a:srgbClr val="0070C0"/>
              </a:solidFill>
              <a:effectLst/>
              <a:uLnTx/>
              <a:uFillTx/>
              <a:latin typeface="맑은 고딕"/>
            </a:endParaRPr>
          </a:p>
        </p:txBody>
      </p:sp>
    </p:spTree>
    <p:extLst>
      <p:ext uri="{BB962C8B-B14F-4D97-AF65-F5344CB8AC3E}">
        <p14:creationId xmlns:p14="http://schemas.microsoft.com/office/powerpoint/2010/main" val="1319715582"/>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342</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5858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입찰보증서 데이터 </a:t>
            </a:r>
            <a:r>
              <a:rPr lang="ko-KR" altLang="en-US" sz="900" b="1">
                <a:solidFill>
                  <a:prstClr val="black"/>
                </a:solidFill>
              </a:rPr>
              <a:t>영역 </a:t>
            </a:r>
            <a:r>
              <a:rPr lang="en-US" altLang="ko-KR" sz="900" b="1">
                <a:solidFill>
                  <a:prstClr val="black"/>
                </a:solidFill>
              </a:rPr>
              <a:t>(dl_resultList)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보증서번호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wtgrNo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보증서번호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입찰건명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입찰건명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보증금액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1121168"/>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보증채권자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crdtrRprsvNm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보증채권자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2547445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ctrtrNm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계약자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253089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발행자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isrRprsvNm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발행자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2889392"/>
                  </a:ext>
                </a:extLst>
              </a:tr>
            </a:tbl>
          </a:graphicData>
        </a:graphic>
      </p:graphicFrame>
      <p:sp>
        <p:nvSpPr>
          <p:cNvPr id="4" name="TextBox 3">
            <a:extLst>
              <a:ext uri="{FF2B5EF4-FFF2-40B4-BE49-F238E27FC236}">
                <a16:creationId xmlns:a16="http://schemas.microsoft.com/office/drawing/2014/main" id="{8F127CFE-2FCF-A183-CCB0-D4DE74416F61}"/>
              </a:ext>
            </a:extLst>
          </p:cNvPr>
          <p:cNvSpPr txBox="1"/>
          <p:nvPr/>
        </p:nvSpPr>
        <p:spPr>
          <a:xfrm>
            <a:off x="458117" y="355999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5" name="표 4">
            <a:extLst>
              <a:ext uri="{FF2B5EF4-FFF2-40B4-BE49-F238E27FC236}">
                <a16:creationId xmlns:a16="http://schemas.microsoft.com/office/drawing/2014/main" id="{0DB94E96-F279-C1D0-427D-FF5F0AE1FFC1}"/>
              </a:ext>
            </a:extLst>
          </p:cNvPr>
          <p:cNvGraphicFramePr>
            <a:graphicFrameLocks noGrp="1"/>
          </p:cNvGraphicFramePr>
          <p:nvPr/>
        </p:nvGraphicFramePr>
        <p:xfrm>
          <a:off x="452291" y="3786587"/>
          <a:ext cx="8995591" cy="133536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입찰보증서 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보증서번호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scwin.btn_openWtgrDetail_onclick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보증서정보조회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 typeface="Arial" panose="020B0604020202020204" pitchFamily="34" charset="0"/>
                        <a:buNone/>
                        <a:tabLst/>
                        <a:defRPr/>
                      </a:pPr>
                      <a:r>
                        <a:rPr lang="en-US" altLang="ko-KR" sz="800" dirty="0">
                          <a:latin typeface="+mn-ea"/>
                          <a:ea typeface="+mn-ea"/>
                        </a:rPr>
                        <a:t>UI-BD-04-P76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7242562"/>
                  </a:ext>
                </a:extLst>
              </a:tr>
              <a:tr h="0">
                <a:tc>
                  <a:txBody>
                    <a:bodyPr/>
                    <a:lstStyle/>
                    <a:p>
                      <a:r>
                        <a:rPr lang="ko-KR" altLang="en-US" sz="800" dirty="0"/>
                        <a:t>확인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scwin.btn_confirm_onclick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선택한 입찰보증서를 부모화면에 적용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02801107"/>
                  </a:ext>
                </a:extLst>
              </a:tr>
              <a:tr h="0">
                <a:tc>
                  <a:txBody>
                    <a:bodyPr/>
                    <a:lstStyle/>
                    <a:p>
                      <a:r>
                        <a:rPr lang="ko-KR" altLang="en-US" sz="800" dirty="0"/>
                        <a:t>취소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scnwin.btn_cancle_onclick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작업내용을 반영하지 않고 현재 팝업을 종료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5464775"/>
                  </a:ext>
                </a:extLst>
              </a:tr>
            </a:tbl>
          </a:graphicData>
        </a:graphic>
      </p:graphicFrame>
      <p:sp>
        <p:nvSpPr>
          <p:cNvPr id="6" name="Text Box 73">
            <a:extLst>
              <a:ext uri="{FF2B5EF4-FFF2-40B4-BE49-F238E27FC236}">
                <a16:creationId xmlns:a16="http://schemas.microsoft.com/office/drawing/2014/main" id="{AA67BFD4-4EBA-8F9A-0E08-2EE7A865C36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03437887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입찰내역목록 데이터 영역</a:t>
            </a:r>
            <a:endParaRPr lang="en-US" altLang="ko-KR" dirty="0"/>
          </a:p>
          <a:p>
            <a:pPr marL="228600" indent="-228600">
              <a:buFont typeface="+mj-lt"/>
              <a:buAutoNum type="arabicPeriod"/>
            </a:pPr>
            <a:r>
              <a:rPr lang="ko-KR" altLang="en-US" dirty="0"/>
              <a:t>보증서 적용</a:t>
            </a:r>
            <a:r>
              <a:rPr lang="en-US" altLang="ko-KR" dirty="0"/>
              <a:t>,</a:t>
            </a:r>
            <a:r>
              <a:rPr lang="ko-KR" altLang="en-US" dirty="0"/>
              <a:t> 닫기 클릭 이벤트</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343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보증서정보조회</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검색 필터에서 </a:t>
            </a:r>
            <a:r>
              <a:rPr lang="ko-KR" altLang="en-US" dirty="0" err="1"/>
              <a:t>지역검색을</a:t>
            </a:r>
            <a:r>
              <a:rPr lang="ko-KR" altLang="en-US" dirty="0"/>
              <a:t> 선택하는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550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 보증금 </a:t>
            </a:r>
            <a:r>
              <a:rPr lang="en-US" altLang="ko-KR" dirty="0">
                <a:latin typeface="+mn-ea"/>
              </a:rPr>
              <a:t>&gt; </a:t>
            </a:r>
            <a:r>
              <a:rPr lang="ko-KR" altLang="en-US" dirty="0">
                <a:latin typeface="+mn-ea"/>
              </a:rPr>
              <a:t>입찰보증서선택 </a:t>
            </a:r>
            <a:r>
              <a:rPr lang="en-US" altLang="ko-KR" dirty="0">
                <a:latin typeface="+mn-ea"/>
              </a:rPr>
              <a:t>&gt; </a:t>
            </a:r>
            <a:r>
              <a:rPr lang="ko-KR" altLang="en-US" dirty="0">
                <a:latin typeface="+mn-ea"/>
              </a:rPr>
              <a:t>보증서정보조회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MUI-BD-04-P76</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입찰보증서</a:t>
            </a:r>
            <a:r>
              <a:rPr lang="ko-KR" altLang="en-US" sz="900" dirty="0">
                <a:latin typeface="+mn-ea"/>
              </a:rPr>
              <a:t> 선택</a:t>
            </a:r>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err="1">
                <a:latin typeface="+mn-ea"/>
              </a:rPr>
              <a:t>보증서정보</a:t>
            </a:r>
            <a:r>
              <a:rPr lang="ko-KR" altLang="en-US" sz="900" dirty="0">
                <a:latin typeface="+mn-ea"/>
              </a:rPr>
              <a:t> 조회</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err="1">
                <a:latin typeface="+mn-ea"/>
              </a:rPr>
              <a:t>보증서정보</a:t>
            </a:r>
            <a:r>
              <a:rPr lang="ko-KR" altLang="en-US" sz="900" dirty="0">
                <a:latin typeface="+mn-ea"/>
              </a:rPr>
              <a:t> 조회</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보증서 정보</a:t>
            </a:r>
          </a:p>
        </p:txBody>
      </p:sp>
      <p:sp>
        <p:nvSpPr>
          <p:cNvPr id="82" name="직사각형 81"/>
          <p:cNvSpPr/>
          <p:nvPr/>
        </p:nvSpPr>
        <p:spPr>
          <a:xfrm>
            <a:off x="703268" y="2899796"/>
            <a:ext cx="792000" cy="10828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1077218"/>
          </a:xfrm>
          <a:prstGeom prst="rect">
            <a:avLst/>
          </a:prstGeom>
          <a:noFill/>
        </p:spPr>
        <p:txBody>
          <a:bodyPr wrap="square" lIns="0" tIns="0" rIns="0" bIns="0" rtlCol="0">
            <a:spAutoFit/>
          </a:bodyPr>
          <a:lstStyle/>
          <a:p>
            <a:pPr>
              <a:lnSpc>
                <a:spcPct val="200000"/>
              </a:lnSpc>
            </a:pPr>
            <a:r>
              <a:rPr lang="ko-KR" altLang="en-US" sz="700" dirty="0" err="1">
                <a:latin typeface="+mn-ea"/>
              </a:rPr>
              <a:t>증권번호</a:t>
            </a:r>
            <a:endParaRPr lang="ko-KR" altLang="en-US" sz="700" dirty="0">
              <a:latin typeface="+mn-ea"/>
            </a:endParaRPr>
          </a:p>
          <a:p>
            <a:pPr>
              <a:lnSpc>
                <a:spcPct val="200000"/>
              </a:lnSpc>
            </a:pPr>
            <a:r>
              <a:rPr lang="ko-KR" altLang="en-US" sz="700" dirty="0">
                <a:latin typeface="+mn-ea"/>
              </a:rPr>
              <a:t>보증금액</a:t>
            </a:r>
          </a:p>
          <a:p>
            <a:pPr>
              <a:lnSpc>
                <a:spcPct val="200000"/>
              </a:lnSpc>
            </a:pPr>
            <a:r>
              <a:rPr lang="ko-KR" altLang="en-US" sz="700" dirty="0">
                <a:latin typeface="+mn-ea"/>
              </a:rPr>
              <a:t>보증기간</a:t>
            </a:r>
          </a:p>
          <a:p>
            <a:pPr>
              <a:lnSpc>
                <a:spcPct val="200000"/>
              </a:lnSpc>
            </a:pPr>
            <a:r>
              <a:rPr lang="ko-KR" altLang="en-US" sz="700" dirty="0" err="1">
                <a:latin typeface="+mn-ea"/>
              </a:rPr>
              <a:t>보증료</a:t>
            </a:r>
            <a:endParaRPr lang="ko-KR" altLang="en-US" sz="700" dirty="0">
              <a:latin typeface="+mn-ea"/>
            </a:endParaRPr>
          </a:p>
          <a:p>
            <a:pPr>
              <a:lnSpc>
                <a:spcPct val="200000"/>
              </a:lnSpc>
            </a:pPr>
            <a:r>
              <a:rPr lang="ko-KR" altLang="en-US" sz="700" dirty="0" err="1">
                <a:latin typeface="+mn-ea"/>
              </a:rPr>
              <a:t>보증금율</a:t>
            </a:r>
            <a:endParaRPr lang="ko-KR" altLang="en-US" sz="700" dirty="0">
              <a:latin typeface="+mn-ea"/>
            </a:endParaRPr>
          </a:p>
        </p:txBody>
      </p:sp>
      <p:grpSp>
        <p:nvGrpSpPr>
          <p:cNvPr id="85" name="그룹 84"/>
          <p:cNvGrpSpPr/>
          <p:nvPr/>
        </p:nvGrpSpPr>
        <p:grpSpPr>
          <a:xfrm>
            <a:off x="701175" y="2899795"/>
            <a:ext cx="2630093" cy="1073700"/>
            <a:chOff x="701175" y="1835481"/>
            <a:chExt cx="2630093" cy="1073700"/>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1077218"/>
          </a:xfrm>
          <a:prstGeom prst="rect">
            <a:avLst/>
          </a:prstGeom>
          <a:noFill/>
        </p:spPr>
        <p:txBody>
          <a:bodyPr wrap="square" lIns="0" tIns="0" rIns="0" bIns="0" rtlCol="0">
            <a:spAutoFit/>
          </a:bodyPr>
          <a:lstStyle/>
          <a:p>
            <a:pPr>
              <a:lnSpc>
                <a:spcPct val="200000"/>
              </a:lnSpc>
            </a:pPr>
            <a:r>
              <a:rPr lang="en-US" altLang="ko-KR" sz="700" dirty="0">
                <a:latin typeface="+mn-ea"/>
              </a:rPr>
              <a:t>0010011053320031100675611100</a:t>
            </a:r>
          </a:p>
          <a:p>
            <a:pPr>
              <a:lnSpc>
                <a:spcPct val="200000"/>
              </a:lnSpc>
            </a:pPr>
            <a:r>
              <a:rPr lang="en-US" altLang="ko-KR" sz="700" dirty="0">
                <a:latin typeface="+mn-ea"/>
              </a:rPr>
              <a:t>2,700,000 </a:t>
            </a:r>
            <a:r>
              <a:rPr lang="ko-KR" altLang="en-US" sz="700" dirty="0">
                <a:latin typeface="+mn-ea"/>
              </a:rPr>
              <a:t>원</a:t>
            </a:r>
          </a:p>
          <a:p>
            <a:pPr>
              <a:lnSpc>
                <a:spcPct val="200000"/>
              </a:lnSpc>
            </a:pPr>
            <a:r>
              <a:rPr lang="en-US" altLang="ko-KR" sz="700" dirty="0">
                <a:latin typeface="+mn-ea"/>
              </a:rPr>
              <a:t>2003-09-08  </a:t>
            </a:r>
            <a:r>
              <a:rPr lang="ko-KR" altLang="en-US" sz="700" dirty="0">
                <a:latin typeface="+mn-ea"/>
              </a:rPr>
              <a:t>부터 </a:t>
            </a:r>
            <a:r>
              <a:rPr lang="en-US" altLang="ko-KR" sz="700" dirty="0">
                <a:latin typeface="+mn-ea"/>
              </a:rPr>
              <a:t>2003-10-09 </a:t>
            </a:r>
            <a:r>
              <a:rPr lang="ko-KR" altLang="en-US" sz="700" dirty="0">
                <a:latin typeface="+mn-ea"/>
              </a:rPr>
              <a:t>까지</a:t>
            </a:r>
          </a:p>
          <a:p>
            <a:pPr algn="r">
              <a:lnSpc>
                <a:spcPct val="200000"/>
              </a:lnSpc>
            </a:pPr>
            <a:r>
              <a:rPr lang="en-US" altLang="ko-KR" sz="700" dirty="0">
                <a:latin typeface="+mn-ea"/>
              </a:rPr>
              <a:t>15,000 </a:t>
            </a:r>
            <a:r>
              <a:rPr lang="ko-KR" altLang="en-US" sz="700" dirty="0">
                <a:latin typeface="+mn-ea"/>
              </a:rPr>
              <a:t>원</a:t>
            </a:r>
          </a:p>
          <a:p>
            <a:pPr algn="r">
              <a:lnSpc>
                <a:spcPct val="200000"/>
              </a:lnSpc>
            </a:pPr>
            <a:r>
              <a:rPr lang="en-US" altLang="ko-KR" sz="700" dirty="0">
                <a:latin typeface="+mn-ea"/>
              </a:rPr>
              <a:t>0 %</a:t>
            </a:r>
          </a:p>
        </p:txBody>
      </p:sp>
      <p:grpSp>
        <p:nvGrpSpPr>
          <p:cNvPr id="3" name="그룹 2"/>
          <p:cNvGrpSpPr/>
          <p:nvPr/>
        </p:nvGrpSpPr>
        <p:grpSpPr>
          <a:xfrm>
            <a:off x="3795734" y="5614711"/>
            <a:ext cx="2712027" cy="617588"/>
            <a:chOff x="3795734" y="5614711"/>
            <a:chExt cx="2712027" cy="617588"/>
          </a:xfrm>
        </p:grpSpPr>
        <p:sp>
          <p:nvSpPr>
            <p:cNvPr id="171" name="직사각형 170">
              <a:extLst>
                <a:ext uri="{FF2B5EF4-FFF2-40B4-BE49-F238E27FC236}">
                  <a16:creationId xmlns:a16="http://schemas.microsoft.com/office/drawing/2014/main" id="{F56F1743-11A0-EA94-9184-4E42C0A37F9C}"/>
                </a:ext>
              </a:extLst>
            </p:cNvPr>
            <p:cNvSpPr/>
            <p:nvPr/>
          </p:nvSpPr>
          <p:spPr>
            <a:xfrm>
              <a:off x="3795734"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사각형: 둥근 모서리 15">
              <a:extLst>
                <a:ext uri="{FF2B5EF4-FFF2-40B4-BE49-F238E27FC236}">
                  <a16:creationId xmlns:a16="http://schemas.microsoft.com/office/drawing/2014/main" id="{E2B61CFB-AD16-68D0-8752-50D9C5E01971}"/>
                </a:ext>
              </a:extLst>
            </p:cNvPr>
            <p:cNvSpPr/>
            <p:nvPr/>
          </p:nvSpPr>
          <p:spPr>
            <a:xfrm>
              <a:off x="4569618" y="5745391"/>
              <a:ext cx="1845838" cy="317271"/>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solidFill>
                    <a:srgbClr val="0070C0"/>
                  </a:solidFill>
                </a:rPr>
                <a:t>보증서 적용</a:t>
              </a:r>
              <a:endParaRPr kumimoji="1" lang="en-US" altLang="ko-KR" sz="1000" kern="0" dirty="0">
                <a:solidFill>
                  <a:srgbClr val="0070C0"/>
                </a:solidFill>
              </a:endParaRPr>
            </a:p>
          </p:txBody>
        </p:sp>
        <p:sp>
          <p:nvSpPr>
            <p:cNvPr id="79" name="사각형: 둥근 모서리 15">
              <a:extLst>
                <a:ext uri="{FF2B5EF4-FFF2-40B4-BE49-F238E27FC236}">
                  <a16:creationId xmlns:a16="http://schemas.microsoft.com/office/drawing/2014/main" id="{E2B61CFB-AD16-68D0-8752-50D9C5E01971}"/>
                </a:ext>
              </a:extLst>
            </p:cNvPr>
            <p:cNvSpPr/>
            <p:nvPr/>
          </p:nvSpPr>
          <p:spPr>
            <a:xfrm>
              <a:off x="3893442" y="5745391"/>
              <a:ext cx="608074" cy="317271"/>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338" name="타원 337">
            <a:extLst>
              <a:ext uri="{FF2B5EF4-FFF2-40B4-BE49-F238E27FC236}">
                <a16:creationId xmlns:a16="http://schemas.microsoft.com/office/drawing/2014/main" id="{37A7FF4F-0EAA-1463-560A-D5EC24416103}"/>
              </a:ext>
            </a:extLst>
          </p:cNvPr>
          <p:cNvSpPr/>
          <p:nvPr/>
        </p:nvSpPr>
        <p:spPr>
          <a:xfrm>
            <a:off x="3699494" y="590188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7" name="그룹 6"/>
          <p:cNvGrpSpPr/>
          <p:nvPr/>
        </p:nvGrpSpPr>
        <p:grpSpPr>
          <a:xfrm>
            <a:off x="701175" y="4872432"/>
            <a:ext cx="2630093" cy="1596702"/>
            <a:chOff x="701175" y="4672224"/>
            <a:chExt cx="2630093" cy="1596702"/>
          </a:xfrm>
        </p:grpSpPr>
        <p:sp>
          <p:nvSpPr>
            <p:cNvPr id="109" name="직사각형 108"/>
            <p:cNvSpPr/>
            <p:nvPr/>
          </p:nvSpPr>
          <p:spPr>
            <a:xfrm>
              <a:off x="703268" y="4976265"/>
              <a:ext cx="792000" cy="12884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a:extLst>
                <a:ext uri="{FF2B5EF4-FFF2-40B4-BE49-F238E27FC236}">
                  <a16:creationId xmlns:a16="http://schemas.microsoft.com/office/drawing/2014/main" id="{FFC49AEA-2A8F-250C-A86A-A7751D9706C3}"/>
                </a:ext>
              </a:extLst>
            </p:cNvPr>
            <p:cNvSpPr txBox="1"/>
            <p:nvPr/>
          </p:nvSpPr>
          <p:spPr>
            <a:xfrm>
              <a:off x="790331" y="4976264"/>
              <a:ext cx="725552" cy="1292662"/>
            </a:xfrm>
            <a:prstGeom prst="rect">
              <a:avLst/>
            </a:prstGeom>
            <a:noFill/>
          </p:spPr>
          <p:txBody>
            <a:bodyPr wrap="square" lIns="0" tIns="0" rIns="0" bIns="0" rtlCol="0">
              <a:spAutoFit/>
            </a:bodyPr>
            <a:lstStyle/>
            <a:p>
              <a:pPr>
                <a:lnSpc>
                  <a:spcPct val="200000"/>
                </a:lnSpc>
              </a:pPr>
              <a:r>
                <a:rPr lang="ko-KR" altLang="en-US" sz="700" dirty="0">
                  <a:latin typeface="+mn-ea"/>
                </a:rPr>
                <a:t>보증 계약자 상호</a:t>
              </a: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보증 채권자 상호</a:t>
              </a:r>
            </a:p>
            <a:p>
              <a:pPr>
                <a:lnSpc>
                  <a:spcPct val="200000"/>
                </a:lnSpc>
              </a:pPr>
              <a:endParaRPr lang="en-US" altLang="ko-KR" sz="700" dirty="0">
                <a:latin typeface="+mn-ea"/>
              </a:endParaRPr>
            </a:p>
            <a:p>
              <a:pPr>
                <a:lnSpc>
                  <a:spcPct val="200000"/>
                </a:lnSpc>
              </a:pPr>
              <a:endParaRPr lang="ko-KR" altLang="en-US" sz="700" dirty="0" err="1">
                <a:latin typeface="+mn-ea"/>
              </a:endParaRPr>
            </a:p>
          </p:txBody>
        </p:sp>
        <p:grpSp>
          <p:nvGrpSpPr>
            <p:cNvPr id="111" name="그룹 110"/>
            <p:cNvGrpSpPr/>
            <p:nvPr/>
          </p:nvGrpSpPr>
          <p:grpSpPr>
            <a:xfrm>
              <a:off x="701175" y="4976264"/>
              <a:ext cx="2630093" cy="1288440"/>
              <a:chOff x="701175" y="1835481"/>
              <a:chExt cx="2630093" cy="1288440"/>
            </a:xfrm>
          </p:grpSpPr>
          <p:cxnSp>
            <p:nvCxnSpPr>
              <p:cNvPr id="112" name="직선 연결선 11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44" name="TextBox 143">
              <a:extLst>
                <a:ext uri="{FF2B5EF4-FFF2-40B4-BE49-F238E27FC236}">
                  <a16:creationId xmlns:a16="http://schemas.microsoft.com/office/drawing/2014/main" id="{FFC49AEA-2A8F-250C-A86A-A7751D9706C3}"/>
                </a:ext>
              </a:extLst>
            </p:cNvPr>
            <p:cNvSpPr txBox="1"/>
            <p:nvPr/>
          </p:nvSpPr>
          <p:spPr>
            <a:xfrm>
              <a:off x="1547180" y="4976264"/>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주</a:t>
              </a:r>
              <a:r>
                <a:rPr lang="en-US" altLang="ko-KR" sz="700" dirty="0">
                  <a:latin typeface="+mn-ea"/>
                </a:rPr>
                <a:t>) </a:t>
              </a:r>
              <a:r>
                <a:rPr lang="ko-KR" altLang="en-US" sz="700" dirty="0" err="1">
                  <a:latin typeface="+mn-ea"/>
                </a:rPr>
                <a:t>선일이이앤써사</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999999-9999999</a:t>
              </a:r>
            </a:p>
            <a:p>
              <a:pPr>
                <a:lnSpc>
                  <a:spcPct val="200000"/>
                </a:lnSpc>
              </a:pPr>
              <a:r>
                <a:rPr lang="ko-KR" altLang="en-US" sz="700" dirty="0">
                  <a:latin typeface="+mn-ea"/>
                </a:rPr>
                <a:t>제</a:t>
              </a:r>
              <a:r>
                <a:rPr lang="en-US" altLang="ko-KR" sz="700" dirty="0">
                  <a:latin typeface="+mn-ea"/>
                </a:rPr>
                <a:t>6950</a:t>
              </a:r>
              <a:r>
                <a:rPr lang="ko-KR" altLang="en-US" sz="700" dirty="0">
                  <a:latin typeface="+mn-ea"/>
                </a:rPr>
                <a:t>부대</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999999-9999999</a:t>
              </a:r>
            </a:p>
          </p:txBody>
        </p:sp>
        <p:sp>
          <p:nvSpPr>
            <p:cNvPr id="146" name="TextBox 145">
              <a:extLst>
                <a:ext uri="{FF2B5EF4-FFF2-40B4-BE49-F238E27FC236}">
                  <a16:creationId xmlns:a16="http://schemas.microsoft.com/office/drawing/2014/main" id="{FFC49AEA-2A8F-250C-A86A-A7751D9706C3}"/>
                </a:ext>
              </a:extLst>
            </p:cNvPr>
            <p:cNvSpPr txBox="1"/>
            <p:nvPr/>
          </p:nvSpPr>
          <p:spPr>
            <a:xfrm>
              <a:off x="762146" y="4672224"/>
              <a:ext cx="2010684" cy="215444"/>
            </a:xfrm>
            <a:prstGeom prst="rect">
              <a:avLst/>
            </a:prstGeom>
            <a:noFill/>
          </p:spPr>
          <p:txBody>
            <a:bodyPr wrap="square" lIns="0" tIns="0" rIns="0" bIns="0" rtlCol="0">
              <a:spAutoFit/>
            </a:bodyPr>
            <a:lstStyle/>
            <a:p>
              <a:pPr>
                <a:lnSpc>
                  <a:spcPct val="200000"/>
                </a:lnSpc>
              </a:pPr>
              <a:r>
                <a:rPr lang="ko-KR" altLang="en-US" sz="700" dirty="0">
                  <a:latin typeface="+mn-ea"/>
                </a:rPr>
                <a:t>보증 계약자 </a:t>
              </a:r>
              <a:r>
                <a:rPr lang="en-US" altLang="ko-KR" sz="700" dirty="0">
                  <a:latin typeface="+mn-ea"/>
                </a:rPr>
                <a:t>(</a:t>
              </a:r>
              <a:r>
                <a:rPr lang="ko-KR" altLang="en-US" sz="700" dirty="0" err="1">
                  <a:latin typeface="+mn-ea"/>
                </a:rPr>
                <a:t>피보증인</a:t>
              </a:r>
              <a:r>
                <a:rPr lang="en-US" altLang="ko-KR" sz="700" dirty="0">
                  <a:latin typeface="+mn-ea"/>
                </a:rPr>
                <a:t>) </a:t>
              </a:r>
              <a:r>
                <a:rPr lang="ko-KR" altLang="en-US" sz="700" dirty="0">
                  <a:latin typeface="+mn-ea"/>
                </a:rPr>
                <a:t>및 보증 채권자 </a:t>
              </a:r>
              <a:r>
                <a:rPr lang="en-US" altLang="ko-KR" sz="700" dirty="0">
                  <a:latin typeface="+mn-ea"/>
                </a:rPr>
                <a:t>(</a:t>
              </a:r>
              <a:r>
                <a:rPr lang="ko-KR" altLang="en-US" sz="700" dirty="0">
                  <a:latin typeface="+mn-ea"/>
                </a:rPr>
                <a:t>피보험자</a:t>
              </a:r>
              <a:r>
                <a:rPr lang="en-US" altLang="ko-KR" sz="700" dirty="0">
                  <a:latin typeface="+mn-ea"/>
                </a:rPr>
                <a:t>) </a:t>
              </a:r>
              <a:endParaRPr lang="ko-KR" altLang="en-US" sz="700" dirty="0">
                <a:latin typeface="+mn-ea"/>
              </a:endParaRPr>
            </a:p>
          </p:txBody>
        </p:sp>
        <p:sp>
          <p:nvSpPr>
            <p:cNvPr id="147" name="TextBox 146">
              <a:extLst>
                <a:ext uri="{FF2B5EF4-FFF2-40B4-BE49-F238E27FC236}">
                  <a16:creationId xmlns:a16="http://schemas.microsoft.com/office/drawing/2014/main" id="{FFC49AEA-2A8F-250C-A86A-A7751D9706C3}"/>
                </a:ext>
              </a:extLst>
            </p:cNvPr>
            <p:cNvSpPr txBox="1"/>
            <p:nvPr/>
          </p:nvSpPr>
          <p:spPr>
            <a:xfrm>
              <a:off x="790331" y="5834898"/>
              <a:ext cx="725552" cy="430887"/>
            </a:xfrm>
            <a:prstGeom prst="rect">
              <a:avLst/>
            </a:prstGeom>
            <a:noFill/>
          </p:spPr>
          <p:txBody>
            <a:bodyPr wrap="square" lIns="0" tIns="0" rIns="0" bIns="0" rtlCol="0">
              <a:spAutoFit/>
            </a:bodyPr>
            <a:lstStyle/>
            <a:p>
              <a:r>
                <a:rPr lang="ko-KR" altLang="en-US" sz="700" dirty="0">
                  <a:latin typeface="+mn-ea"/>
                </a:rPr>
                <a:t>보증 채권자</a:t>
              </a:r>
              <a:endParaRPr lang="en-US" altLang="ko-KR" sz="700" dirty="0">
                <a:latin typeface="+mn-ea"/>
              </a:endParaRPr>
            </a:p>
            <a:p>
              <a:r>
                <a:rPr lang="ko-KR" altLang="en-US" sz="700" dirty="0">
                  <a:latin typeface="+mn-ea"/>
                </a:rPr>
                <a:t>대표자</a:t>
              </a:r>
            </a:p>
            <a:p>
              <a:r>
                <a:rPr lang="ko-KR" altLang="en-US" sz="700" dirty="0">
                  <a:latin typeface="+mn-ea"/>
                </a:rPr>
                <a:t>보증 채권자</a:t>
              </a:r>
              <a:endParaRPr lang="en-US" altLang="ko-KR" sz="700" dirty="0">
                <a:latin typeface="+mn-ea"/>
              </a:endParaRPr>
            </a:p>
            <a:p>
              <a:r>
                <a:rPr lang="ko-KR" altLang="en-US" sz="700" dirty="0">
                  <a:latin typeface="+mn-ea"/>
                </a:rPr>
                <a:t>주민등록번호</a:t>
              </a:r>
            </a:p>
          </p:txBody>
        </p:sp>
        <p:sp>
          <p:nvSpPr>
            <p:cNvPr id="148" name="TextBox 147">
              <a:extLst>
                <a:ext uri="{FF2B5EF4-FFF2-40B4-BE49-F238E27FC236}">
                  <a16:creationId xmlns:a16="http://schemas.microsoft.com/office/drawing/2014/main" id="{FFC49AEA-2A8F-250C-A86A-A7751D9706C3}"/>
                </a:ext>
              </a:extLst>
            </p:cNvPr>
            <p:cNvSpPr txBox="1"/>
            <p:nvPr/>
          </p:nvSpPr>
          <p:spPr>
            <a:xfrm>
              <a:off x="790331" y="5197345"/>
              <a:ext cx="725552" cy="430887"/>
            </a:xfrm>
            <a:prstGeom prst="rect">
              <a:avLst/>
            </a:prstGeom>
            <a:noFill/>
          </p:spPr>
          <p:txBody>
            <a:bodyPr wrap="square" lIns="0" tIns="0" rIns="0" bIns="0" rtlCol="0">
              <a:spAutoFit/>
            </a:bodyPr>
            <a:lstStyle/>
            <a:p>
              <a:r>
                <a:rPr lang="ko-KR" altLang="en-US" sz="700" dirty="0">
                  <a:latin typeface="+mn-ea"/>
                </a:rPr>
                <a:t>보증 계약자</a:t>
              </a:r>
              <a:endParaRPr lang="en-US" altLang="ko-KR" sz="700" dirty="0">
                <a:latin typeface="+mn-ea"/>
              </a:endParaRPr>
            </a:p>
            <a:p>
              <a:r>
                <a:rPr lang="ko-KR" altLang="en-US" sz="700" dirty="0">
                  <a:latin typeface="+mn-ea"/>
                </a:rPr>
                <a:t>대표자</a:t>
              </a:r>
            </a:p>
            <a:p>
              <a:r>
                <a:rPr lang="ko-KR" altLang="en-US" sz="700" dirty="0">
                  <a:latin typeface="+mn-ea"/>
                </a:rPr>
                <a:t>보증 계약자</a:t>
              </a:r>
              <a:endParaRPr lang="en-US" altLang="ko-KR" sz="700" dirty="0">
                <a:latin typeface="+mn-ea"/>
              </a:endParaRPr>
            </a:p>
            <a:p>
              <a:r>
                <a:rPr lang="ko-KR" altLang="en-US" sz="700" dirty="0">
                  <a:latin typeface="+mn-ea"/>
                </a:rPr>
                <a:t>주민등록번호</a:t>
              </a:r>
            </a:p>
          </p:txBody>
        </p:sp>
      </p:grpSp>
      <p:grpSp>
        <p:nvGrpSpPr>
          <p:cNvPr id="6" name="그룹 5"/>
          <p:cNvGrpSpPr/>
          <p:nvPr/>
        </p:nvGrpSpPr>
        <p:grpSpPr>
          <a:xfrm>
            <a:off x="701175" y="3972865"/>
            <a:ext cx="2631433" cy="870032"/>
            <a:chOff x="3820170" y="3024668"/>
            <a:chExt cx="2631433" cy="870032"/>
          </a:xfrm>
        </p:grpSpPr>
        <p:sp>
          <p:nvSpPr>
            <p:cNvPr id="80" name="직사각형 79"/>
            <p:cNvSpPr/>
            <p:nvPr/>
          </p:nvSpPr>
          <p:spPr>
            <a:xfrm>
              <a:off x="3820170" y="3024668"/>
              <a:ext cx="792000" cy="87003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5" name="TextBox 124">
              <a:extLst>
                <a:ext uri="{FF2B5EF4-FFF2-40B4-BE49-F238E27FC236}">
                  <a16:creationId xmlns:a16="http://schemas.microsoft.com/office/drawing/2014/main" id="{FFC49AEA-2A8F-250C-A86A-A7751D9706C3}"/>
                </a:ext>
              </a:extLst>
            </p:cNvPr>
            <p:cNvSpPr txBox="1"/>
            <p:nvPr/>
          </p:nvSpPr>
          <p:spPr>
            <a:xfrm>
              <a:off x="3910666" y="3024669"/>
              <a:ext cx="725552" cy="861774"/>
            </a:xfrm>
            <a:prstGeom prst="rect">
              <a:avLst/>
            </a:prstGeom>
            <a:noFill/>
          </p:spPr>
          <p:txBody>
            <a:bodyPr wrap="square" lIns="0" tIns="0" rIns="0" bIns="0" rtlCol="0">
              <a:spAutoFit/>
            </a:bodyPr>
            <a:lstStyle/>
            <a:p>
              <a:pPr>
                <a:lnSpc>
                  <a:spcPct val="200000"/>
                </a:lnSpc>
              </a:pPr>
              <a:r>
                <a:rPr lang="ko-KR" altLang="en-US" sz="700" dirty="0">
                  <a:latin typeface="+mn-ea"/>
                </a:rPr>
                <a:t>특기사항</a:t>
              </a:r>
            </a:p>
            <a:p>
              <a:pPr>
                <a:lnSpc>
                  <a:spcPct val="200000"/>
                </a:lnSpc>
              </a:pPr>
              <a:endParaRPr lang="en-US" altLang="ko-KR" sz="700" dirty="0">
                <a:latin typeface="+mn-ea"/>
              </a:endParaRPr>
            </a:p>
            <a:p>
              <a:pPr>
                <a:lnSpc>
                  <a:spcPct val="200000"/>
                </a:lnSpc>
              </a:pPr>
              <a:endParaRPr lang="ko-KR" altLang="en-US" sz="700" dirty="0">
                <a:latin typeface="+mn-ea"/>
              </a:endParaRPr>
            </a:p>
            <a:p>
              <a:pPr>
                <a:lnSpc>
                  <a:spcPct val="200000"/>
                </a:lnSpc>
              </a:pPr>
              <a:r>
                <a:rPr lang="ko-KR" altLang="en-US" sz="700" dirty="0">
                  <a:latin typeface="+mn-ea"/>
                </a:rPr>
                <a:t>발행일자</a:t>
              </a:r>
            </a:p>
          </p:txBody>
        </p:sp>
        <p:grpSp>
          <p:nvGrpSpPr>
            <p:cNvPr id="126" name="그룹 125"/>
            <p:cNvGrpSpPr/>
            <p:nvPr/>
          </p:nvGrpSpPr>
          <p:grpSpPr>
            <a:xfrm>
              <a:off x="3821510" y="3024669"/>
              <a:ext cx="2630093" cy="870031"/>
              <a:chOff x="701175" y="1835481"/>
              <a:chExt cx="2630093" cy="870031"/>
            </a:xfrm>
          </p:grpSpPr>
          <p:cxnSp>
            <p:nvCxnSpPr>
              <p:cNvPr id="128" name="직선 연결선 12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4907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70551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36" name="TextBox 135">
              <a:extLst>
                <a:ext uri="{FF2B5EF4-FFF2-40B4-BE49-F238E27FC236}">
                  <a16:creationId xmlns:a16="http://schemas.microsoft.com/office/drawing/2014/main" id="{FFC49AEA-2A8F-250C-A86A-A7751D9706C3}"/>
                </a:ext>
              </a:extLst>
            </p:cNvPr>
            <p:cNvSpPr txBox="1"/>
            <p:nvPr/>
          </p:nvSpPr>
          <p:spPr>
            <a:xfrm>
              <a:off x="4667515" y="3024669"/>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a:t>
              </a:r>
              <a:r>
                <a:rPr lang="ko-KR" altLang="en-US" sz="700" dirty="0">
                  <a:latin typeface="+mn-ea"/>
                </a:rPr>
                <a:t>해당사항없음	</a:t>
              </a:r>
            </a:p>
            <a:p>
              <a:pPr>
                <a:lnSpc>
                  <a:spcPct val="200000"/>
                </a:lnSpc>
              </a:pPr>
              <a:endParaRPr lang="en-US" altLang="ko-KR" sz="700" dirty="0">
                <a:latin typeface="+mn-ea"/>
              </a:endParaRPr>
            </a:p>
            <a:p>
              <a:pPr>
                <a:lnSpc>
                  <a:spcPct val="200000"/>
                </a:lnSpc>
              </a:pPr>
              <a:r>
                <a:rPr lang="en-US" altLang="ko-KR" sz="700" dirty="0">
                  <a:latin typeface="+mn-ea"/>
                </a:rPr>
                <a:t>	</a:t>
              </a:r>
            </a:p>
            <a:p>
              <a:pPr>
                <a:lnSpc>
                  <a:spcPct val="200000"/>
                </a:lnSpc>
              </a:pPr>
              <a:r>
                <a:rPr lang="en-US" altLang="ko-KR" sz="700" dirty="0">
                  <a:latin typeface="+mn-ea"/>
                </a:rPr>
                <a:t>2024-12-09	</a:t>
              </a:r>
            </a:p>
          </p:txBody>
        </p:sp>
        <p:sp>
          <p:nvSpPr>
            <p:cNvPr id="149" name="TextBox 148">
              <a:extLst>
                <a:ext uri="{FF2B5EF4-FFF2-40B4-BE49-F238E27FC236}">
                  <a16:creationId xmlns:a16="http://schemas.microsoft.com/office/drawing/2014/main" id="{FFC49AEA-2A8F-250C-A86A-A7751D9706C3}"/>
                </a:ext>
              </a:extLst>
            </p:cNvPr>
            <p:cNvSpPr txBox="1"/>
            <p:nvPr/>
          </p:nvSpPr>
          <p:spPr>
            <a:xfrm>
              <a:off x="4667515" y="3292814"/>
              <a:ext cx="1784088" cy="323165"/>
            </a:xfrm>
            <a:prstGeom prst="rect">
              <a:avLst/>
            </a:prstGeom>
            <a:noFill/>
          </p:spPr>
          <p:txBody>
            <a:bodyPr wrap="square" lIns="0" tIns="0" rIns="0" bIns="0" rtlCol="0">
              <a:spAutoFit/>
            </a:bodyPr>
            <a:lstStyle/>
            <a:p>
              <a:r>
                <a:rPr lang="ko-KR" altLang="en-US" sz="700" dirty="0">
                  <a:latin typeface="+mn-ea"/>
                </a:rPr>
                <a:t>위 보증금을 전기공사공제조합법 제</a:t>
              </a:r>
              <a:r>
                <a:rPr lang="en-US" altLang="ko-KR" sz="700" dirty="0">
                  <a:latin typeface="+mn-ea"/>
                </a:rPr>
                <a:t>46</a:t>
              </a:r>
              <a:r>
                <a:rPr lang="ko-KR" altLang="en-US" sz="700" dirty="0">
                  <a:latin typeface="+mn-ea"/>
                </a:rPr>
                <a:t>조 및 제</a:t>
              </a:r>
              <a:r>
                <a:rPr lang="en-US" altLang="ko-KR" sz="700" dirty="0">
                  <a:latin typeface="+mn-ea"/>
                </a:rPr>
                <a:t>47</a:t>
              </a:r>
              <a:r>
                <a:rPr lang="ko-KR" altLang="en-US" sz="700" dirty="0">
                  <a:latin typeface="+mn-ea"/>
                </a:rPr>
                <a:t>조와 첨부된 약관에 의하여 우리 조합이 보증합니다</a:t>
              </a:r>
              <a:r>
                <a:rPr lang="en-US" altLang="ko-KR" sz="700" dirty="0">
                  <a:latin typeface="+mn-ea"/>
                </a:rPr>
                <a:t>. 	</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3910666" y="3400535"/>
              <a:ext cx="725552" cy="107722"/>
            </a:xfrm>
            <a:prstGeom prst="rect">
              <a:avLst/>
            </a:prstGeom>
            <a:noFill/>
          </p:spPr>
          <p:txBody>
            <a:bodyPr wrap="square" lIns="0" tIns="0" rIns="0" bIns="0" rtlCol="0">
              <a:spAutoFit/>
            </a:bodyPr>
            <a:lstStyle/>
            <a:p>
              <a:r>
                <a:rPr lang="ko-KR" altLang="en-US" sz="700" dirty="0" err="1">
                  <a:latin typeface="+mn-ea"/>
                </a:rPr>
                <a:t>보증문</a:t>
              </a:r>
              <a:endParaRPr lang="en-US" altLang="ko-KR" sz="700" dirty="0">
                <a:latin typeface="+mn-ea"/>
              </a:endParaRPr>
            </a:p>
          </p:txBody>
        </p:sp>
      </p:grpSp>
      <p:grpSp>
        <p:nvGrpSpPr>
          <p:cNvPr id="157" name="그룹 156"/>
          <p:cNvGrpSpPr/>
          <p:nvPr/>
        </p:nvGrpSpPr>
        <p:grpSpPr>
          <a:xfrm>
            <a:off x="3836701" y="2573569"/>
            <a:ext cx="2630093" cy="950371"/>
            <a:chOff x="701175" y="4672224"/>
            <a:chExt cx="2630093" cy="950371"/>
          </a:xfrm>
        </p:grpSpPr>
        <p:sp>
          <p:nvSpPr>
            <p:cNvPr id="158" name="직사각형 157"/>
            <p:cNvSpPr/>
            <p:nvPr/>
          </p:nvSpPr>
          <p:spPr>
            <a:xfrm>
              <a:off x="703268" y="4976265"/>
              <a:ext cx="792000" cy="6442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9" name="TextBox 158">
              <a:extLst>
                <a:ext uri="{FF2B5EF4-FFF2-40B4-BE49-F238E27FC236}">
                  <a16:creationId xmlns:a16="http://schemas.microsoft.com/office/drawing/2014/main" id="{FFC49AEA-2A8F-250C-A86A-A7751D9706C3}"/>
                </a:ext>
              </a:extLst>
            </p:cNvPr>
            <p:cNvSpPr txBox="1"/>
            <p:nvPr/>
          </p:nvSpPr>
          <p:spPr>
            <a:xfrm>
              <a:off x="790331" y="4976264"/>
              <a:ext cx="725552" cy="646331"/>
            </a:xfrm>
            <a:prstGeom prst="rect">
              <a:avLst/>
            </a:prstGeom>
            <a:noFill/>
          </p:spPr>
          <p:txBody>
            <a:bodyPr wrap="square" lIns="0" tIns="0" rIns="0" bIns="0" rtlCol="0">
              <a:spAutoFit/>
            </a:bodyPr>
            <a:lstStyle/>
            <a:p>
              <a:pPr>
                <a:lnSpc>
                  <a:spcPct val="200000"/>
                </a:lnSpc>
              </a:pPr>
              <a:r>
                <a:rPr lang="ko-KR" altLang="en-US" sz="700" dirty="0">
                  <a:latin typeface="+mn-ea"/>
                </a:rPr>
                <a:t>상호</a:t>
              </a:r>
              <a:endParaRPr lang="en-US" altLang="ko-KR" sz="700" dirty="0">
                <a:latin typeface="+mn-ea"/>
              </a:endParaRPr>
            </a:p>
            <a:p>
              <a:pPr>
                <a:lnSpc>
                  <a:spcPct val="200000"/>
                </a:lnSpc>
              </a:pPr>
              <a:r>
                <a:rPr lang="ko-KR" altLang="en-US" sz="700" dirty="0">
                  <a:latin typeface="+mn-ea"/>
                </a:rPr>
                <a:t>대표자</a:t>
              </a:r>
              <a:endParaRPr lang="en-US" altLang="ko-KR" sz="700" dirty="0">
                <a:latin typeface="+mn-ea"/>
              </a:endParaRPr>
            </a:p>
            <a:p>
              <a:pPr>
                <a:lnSpc>
                  <a:spcPct val="200000"/>
                </a:lnSpc>
              </a:pPr>
              <a:r>
                <a:rPr lang="ko-KR" altLang="en-US" sz="700" dirty="0">
                  <a:latin typeface="+mn-ea"/>
                </a:rPr>
                <a:t>주소</a:t>
              </a:r>
            </a:p>
          </p:txBody>
        </p:sp>
        <p:grpSp>
          <p:nvGrpSpPr>
            <p:cNvPr id="160" name="그룹 159"/>
            <p:cNvGrpSpPr/>
            <p:nvPr/>
          </p:nvGrpSpPr>
          <p:grpSpPr>
            <a:xfrm>
              <a:off x="701175" y="4976264"/>
              <a:ext cx="2630093" cy="644220"/>
              <a:chOff x="701175" y="1835481"/>
              <a:chExt cx="2630093" cy="644220"/>
            </a:xfrm>
          </p:grpSpPr>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5" name="TextBox 164">
              <a:extLst>
                <a:ext uri="{FF2B5EF4-FFF2-40B4-BE49-F238E27FC236}">
                  <a16:creationId xmlns:a16="http://schemas.microsoft.com/office/drawing/2014/main" id="{FFC49AEA-2A8F-250C-A86A-A7751D9706C3}"/>
                </a:ext>
              </a:extLst>
            </p:cNvPr>
            <p:cNvSpPr txBox="1"/>
            <p:nvPr/>
          </p:nvSpPr>
          <p:spPr>
            <a:xfrm>
              <a:off x="1547180" y="4976264"/>
              <a:ext cx="1784088" cy="612027"/>
            </a:xfrm>
            <a:prstGeom prst="rect">
              <a:avLst/>
            </a:prstGeom>
            <a:noFill/>
          </p:spPr>
          <p:txBody>
            <a:bodyPr wrap="square" lIns="0" tIns="0" rIns="0" bIns="0" rtlCol="0">
              <a:spAutoFit/>
            </a:bodyPr>
            <a:lstStyle/>
            <a:p>
              <a:pPr>
                <a:lnSpc>
                  <a:spcPct val="200000"/>
                </a:lnSpc>
              </a:pPr>
              <a:r>
                <a:rPr lang="ko-KR" altLang="en-US" sz="700" dirty="0">
                  <a:latin typeface="+mn-ea"/>
                </a:rPr>
                <a:t>서울보증보험주식회사</a:t>
              </a:r>
              <a:endParaRPr lang="en-US" altLang="ko-KR"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ko-KR" altLang="en-US" sz="700" dirty="0">
                  <a:latin typeface="+mn-ea"/>
                </a:rPr>
                <a:t>서울특별시 종로구</a:t>
              </a:r>
              <a:r>
                <a:rPr lang="en-US" altLang="ko-KR" sz="700" dirty="0">
                  <a:latin typeface="+mn-ea"/>
                </a:rPr>
                <a:t>…</a:t>
              </a:r>
            </a:p>
          </p:txBody>
        </p:sp>
        <p:sp>
          <p:nvSpPr>
            <p:cNvPr id="166" name="TextBox 165">
              <a:extLst>
                <a:ext uri="{FF2B5EF4-FFF2-40B4-BE49-F238E27FC236}">
                  <a16:creationId xmlns:a16="http://schemas.microsoft.com/office/drawing/2014/main" id="{FFC49AEA-2A8F-250C-A86A-A7751D9706C3}"/>
                </a:ext>
              </a:extLst>
            </p:cNvPr>
            <p:cNvSpPr txBox="1"/>
            <p:nvPr/>
          </p:nvSpPr>
          <p:spPr>
            <a:xfrm>
              <a:off x="762146" y="4672224"/>
              <a:ext cx="2010684" cy="181140"/>
            </a:xfrm>
            <a:prstGeom prst="rect">
              <a:avLst/>
            </a:prstGeom>
            <a:noFill/>
          </p:spPr>
          <p:txBody>
            <a:bodyPr wrap="square" lIns="0" tIns="0" rIns="0" bIns="0" rtlCol="0">
              <a:spAutoFit/>
            </a:bodyPr>
            <a:lstStyle/>
            <a:p>
              <a:pPr>
                <a:lnSpc>
                  <a:spcPct val="200000"/>
                </a:lnSpc>
              </a:pPr>
              <a:r>
                <a:rPr lang="ko-KR" altLang="en-US" sz="700" dirty="0">
                  <a:latin typeface="+mn-ea"/>
                </a:rPr>
                <a:t>발행자 정보</a:t>
              </a:r>
            </a:p>
          </p:txBody>
        </p:sp>
      </p:grpSp>
      <p:grpSp>
        <p:nvGrpSpPr>
          <p:cNvPr id="178" name="그룹 177"/>
          <p:cNvGrpSpPr/>
          <p:nvPr/>
        </p:nvGrpSpPr>
        <p:grpSpPr>
          <a:xfrm>
            <a:off x="3836701" y="3634970"/>
            <a:ext cx="2630093" cy="734927"/>
            <a:chOff x="701175" y="4672224"/>
            <a:chExt cx="2630093" cy="734927"/>
          </a:xfrm>
        </p:grpSpPr>
        <p:sp>
          <p:nvSpPr>
            <p:cNvPr id="179" name="직사각형 178"/>
            <p:cNvSpPr/>
            <p:nvPr/>
          </p:nvSpPr>
          <p:spPr>
            <a:xfrm>
              <a:off x="703268" y="4976265"/>
              <a:ext cx="792000" cy="42807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0" name="TextBox 179">
              <a:extLst>
                <a:ext uri="{FF2B5EF4-FFF2-40B4-BE49-F238E27FC236}">
                  <a16:creationId xmlns:a16="http://schemas.microsoft.com/office/drawing/2014/main" id="{FFC49AEA-2A8F-250C-A86A-A7751D9706C3}"/>
                </a:ext>
              </a:extLst>
            </p:cNvPr>
            <p:cNvSpPr txBox="1"/>
            <p:nvPr/>
          </p:nvSpPr>
          <p:spPr>
            <a:xfrm>
              <a:off x="790331" y="4976264"/>
              <a:ext cx="725552" cy="430887"/>
            </a:xfrm>
            <a:prstGeom prst="rect">
              <a:avLst/>
            </a:prstGeom>
            <a:noFill/>
          </p:spPr>
          <p:txBody>
            <a:bodyPr wrap="square" lIns="0" tIns="0" rIns="0" bIns="0" rtlCol="0">
              <a:spAutoFit/>
            </a:bodyPr>
            <a:lstStyle/>
            <a:p>
              <a:pPr>
                <a:lnSpc>
                  <a:spcPct val="200000"/>
                </a:lnSpc>
              </a:pPr>
              <a:r>
                <a:rPr lang="ko-KR" altLang="en-US" sz="700" dirty="0">
                  <a:latin typeface="+mn-ea"/>
                </a:rPr>
                <a:t>성명</a:t>
              </a:r>
              <a:endParaRPr lang="en-US" altLang="ko-KR" sz="700" dirty="0">
                <a:latin typeface="+mn-ea"/>
              </a:endParaRPr>
            </a:p>
            <a:p>
              <a:pPr>
                <a:lnSpc>
                  <a:spcPct val="200000"/>
                </a:lnSpc>
              </a:pPr>
              <a:r>
                <a:rPr lang="ko-KR" altLang="en-US" sz="700" dirty="0">
                  <a:latin typeface="+mn-ea"/>
                </a:rPr>
                <a:t>부서</a:t>
              </a:r>
            </a:p>
          </p:txBody>
        </p:sp>
        <p:grpSp>
          <p:nvGrpSpPr>
            <p:cNvPr id="181" name="그룹 180"/>
            <p:cNvGrpSpPr/>
            <p:nvPr/>
          </p:nvGrpSpPr>
          <p:grpSpPr>
            <a:xfrm>
              <a:off x="701175" y="4976264"/>
              <a:ext cx="2630093" cy="429480"/>
              <a:chOff x="701175" y="1835481"/>
              <a:chExt cx="2630093" cy="429480"/>
            </a:xfrm>
          </p:grpSpPr>
          <p:cxnSp>
            <p:nvCxnSpPr>
              <p:cNvPr id="187" name="직선 연결선 18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직선 연결선 18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9" name="직선 연결선 18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4" name="TextBox 183">
              <a:extLst>
                <a:ext uri="{FF2B5EF4-FFF2-40B4-BE49-F238E27FC236}">
                  <a16:creationId xmlns:a16="http://schemas.microsoft.com/office/drawing/2014/main" id="{FFC49AEA-2A8F-250C-A86A-A7751D9706C3}"/>
                </a:ext>
              </a:extLst>
            </p:cNvPr>
            <p:cNvSpPr txBox="1"/>
            <p:nvPr/>
          </p:nvSpPr>
          <p:spPr>
            <a:xfrm>
              <a:off x="1547180" y="4976264"/>
              <a:ext cx="1784088" cy="430887"/>
            </a:xfrm>
            <a:prstGeom prst="rect">
              <a:avLst/>
            </a:prstGeom>
            <a:noFill/>
          </p:spPr>
          <p:txBody>
            <a:bodyPr wrap="square" lIns="0" tIns="0" rIns="0" bIns="0" rtlCol="0">
              <a:spAutoFit/>
            </a:bodyPr>
            <a:lstStyle/>
            <a:p>
              <a:pPr>
                <a:lnSpc>
                  <a:spcPct val="200000"/>
                </a:lnSpc>
              </a:pPr>
              <a:r>
                <a:rPr lang="ko-KR" altLang="en-US" sz="700" dirty="0" err="1">
                  <a:latin typeface="+mn-ea"/>
                </a:rPr>
                <a:t>김길동</a:t>
              </a:r>
              <a:endParaRPr lang="en-US" altLang="ko-KR" sz="700" dirty="0">
                <a:latin typeface="+mn-ea"/>
              </a:endParaRPr>
            </a:p>
            <a:p>
              <a:pPr>
                <a:lnSpc>
                  <a:spcPct val="200000"/>
                </a:lnSpc>
              </a:pPr>
              <a:r>
                <a:rPr lang="ko-KR" altLang="en-US" sz="700" dirty="0" err="1">
                  <a:latin typeface="+mn-ea"/>
                </a:rPr>
                <a:t>과천지점</a:t>
              </a:r>
              <a:endParaRPr lang="en-US" altLang="ko-KR" sz="700" dirty="0">
                <a:latin typeface="+mn-ea"/>
              </a:endParaRPr>
            </a:p>
          </p:txBody>
        </p:sp>
        <p:sp>
          <p:nvSpPr>
            <p:cNvPr id="185" name="TextBox 184">
              <a:extLst>
                <a:ext uri="{FF2B5EF4-FFF2-40B4-BE49-F238E27FC236}">
                  <a16:creationId xmlns:a16="http://schemas.microsoft.com/office/drawing/2014/main" id="{FFC49AEA-2A8F-250C-A86A-A7751D9706C3}"/>
                </a:ext>
              </a:extLst>
            </p:cNvPr>
            <p:cNvSpPr txBox="1"/>
            <p:nvPr/>
          </p:nvSpPr>
          <p:spPr>
            <a:xfrm>
              <a:off x="762146" y="4672224"/>
              <a:ext cx="2010684" cy="215444"/>
            </a:xfrm>
            <a:prstGeom prst="rect">
              <a:avLst/>
            </a:prstGeom>
            <a:noFill/>
          </p:spPr>
          <p:txBody>
            <a:bodyPr wrap="square" lIns="0" tIns="0" rIns="0" bIns="0" rtlCol="0">
              <a:spAutoFit/>
            </a:bodyPr>
            <a:lstStyle/>
            <a:p>
              <a:pPr>
                <a:lnSpc>
                  <a:spcPct val="200000"/>
                </a:lnSpc>
              </a:pPr>
              <a:r>
                <a:rPr lang="ko-KR" altLang="en-US" sz="700" dirty="0">
                  <a:latin typeface="+mn-ea"/>
                </a:rPr>
                <a:t>대리인 정보</a:t>
              </a:r>
            </a:p>
          </p:txBody>
        </p:sp>
      </p:grpSp>
      <p:grpSp>
        <p:nvGrpSpPr>
          <p:cNvPr id="191" name="그룹 190"/>
          <p:cNvGrpSpPr/>
          <p:nvPr/>
        </p:nvGrpSpPr>
        <p:grpSpPr>
          <a:xfrm>
            <a:off x="3836701" y="4477710"/>
            <a:ext cx="2630093" cy="950371"/>
            <a:chOff x="701175" y="4672224"/>
            <a:chExt cx="2630093" cy="950371"/>
          </a:xfrm>
        </p:grpSpPr>
        <p:sp>
          <p:nvSpPr>
            <p:cNvPr id="192" name="직사각형 191"/>
            <p:cNvSpPr/>
            <p:nvPr/>
          </p:nvSpPr>
          <p:spPr>
            <a:xfrm>
              <a:off x="703268" y="4976265"/>
              <a:ext cx="792000" cy="64421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3" name="TextBox 192">
              <a:extLst>
                <a:ext uri="{FF2B5EF4-FFF2-40B4-BE49-F238E27FC236}">
                  <a16:creationId xmlns:a16="http://schemas.microsoft.com/office/drawing/2014/main" id="{FFC49AEA-2A8F-250C-A86A-A7751D9706C3}"/>
                </a:ext>
              </a:extLst>
            </p:cNvPr>
            <p:cNvSpPr txBox="1"/>
            <p:nvPr/>
          </p:nvSpPr>
          <p:spPr>
            <a:xfrm>
              <a:off x="790331" y="4976264"/>
              <a:ext cx="725552" cy="612027"/>
            </a:xfrm>
            <a:prstGeom prst="rect">
              <a:avLst/>
            </a:prstGeom>
            <a:noFill/>
          </p:spPr>
          <p:txBody>
            <a:bodyPr wrap="square" lIns="0" tIns="0" rIns="0" bIns="0" rtlCol="0">
              <a:spAutoFit/>
            </a:bodyPr>
            <a:lstStyle/>
            <a:p>
              <a:pPr>
                <a:lnSpc>
                  <a:spcPct val="200000"/>
                </a:lnSpc>
              </a:pPr>
              <a:r>
                <a:rPr lang="ko-KR" altLang="en-US" sz="700" dirty="0">
                  <a:latin typeface="+mn-ea"/>
                </a:rPr>
                <a:t>성명</a:t>
              </a:r>
              <a:endParaRPr lang="en-US" altLang="ko-KR" sz="700" dirty="0">
                <a:latin typeface="+mn-ea"/>
              </a:endParaRPr>
            </a:p>
            <a:p>
              <a:pPr>
                <a:lnSpc>
                  <a:spcPct val="200000"/>
                </a:lnSpc>
              </a:pPr>
              <a:r>
                <a:rPr lang="ko-KR" altLang="en-US" sz="700" dirty="0">
                  <a:latin typeface="+mn-ea"/>
                </a:rPr>
                <a:t>전화</a:t>
              </a:r>
              <a:endParaRPr lang="en-US" altLang="ko-KR" sz="700" dirty="0">
                <a:latin typeface="+mn-ea"/>
              </a:endParaRPr>
            </a:p>
            <a:p>
              <a:pPr>
                <a:lnSpc>
                  <a:spcPct val="200000"/>
                </a:lnSpc>
              </a:pPr>
              <a:r>
                <a:rPr lang="en-US" altLang="ko-KR" sz="700" dirty="0">
                  <a:latin typeface="+mn-ea"/>
                </a:rPr>
                <a:t>FAX</a:t>
              </a:r>
              <a:endParaRPr lang="ko-KR" altLang="en-US" sz="700" dirty="0">
                <a:latin typeface="+mn-ea"/>
              </a:endParaRPr>
            </a:p>
          </p:txBody>
        </p:sp>
        <p:grpSp>
          <p:nvGrpSpPr>
            <p:cNvPr id="194" name="그룹 193"/>
            <p:cNvGrpSpPr/>
            <p:nvPr/>
          </p:nvGrpSpPr>
          <p:grpSpPr>
            <a:xfrm>
              <a:off x="701175" y="4976264"/>
              <a:ext cx="2630093" cy="644220"/>
              <a:chOff x="701175" y="1835481"/>
              <a:chExt cx="2630093" cy="644220"/>
            </a:xfrm>
          </p:grpSpPr>
          <p:cxnSp>
            <p:nvCxnSpPr>
              <p:cNvPr id="197" name="직선 연결선 19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9" name="직선 연결선 19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5" name="TextBox 194">
              <a:extLst>
                <a:ext uri="{FF2B5EF4-FFF2-40B4-BE49-F238E27FC236}">
                  <a16:creationId xmlns:a16="http://schemas.microsoft.com/office/drawing/2014/main" id="{FFC49AEA-2A8F-250C-A86A-A7751D9706C3}"/>
                </a:ext>
              </a:extLst>
            </p:cNvPr>
            <p:cNvSpPr txBox="1"/>
            <p:nvPr/>
          </p:nvSpPr>
          <p:spPr>
            <a:xfrm>
              <a:off x="1547180" y="4976264"/>
              <a:ext cx="1784088" cy="646331"/>
            </a:xfrm>
            <a:prstGeom prst="rect">
              <a:avLst/>
            </a:prstGeom>
            <a:noFill/>
          </p:spPr>
          <p:txBody>
            <a:bodyPr wrap="square" lIns="0" tIns="0" rIns="0" bIns="0" rtlCol="0">
              <a:spAutoFit/>
            </a:bodyPr>
            <a:lstStyle/>
            <a:p>
              <a:pPr>
                <a:lnSpc>
                  <a:spcPct val="200000"/>
                </a:lnSpc>
              </a:pPr>
              <a:r>
                <a:rPr lang="ko-KR" altLang="en-US" sz="700" dirty="0" err="1">
                  <a:latin typeface="+mn-ea"/>
                </a:rPr>
                <a:t>박길동</a:t>
              </a:r>
              <a:endParaRPr lang="en-US" altLang="ko-KR" sz="700" dirty="0">
                <a:latin typeface="+mn-ea"/>
              </a:endParaRPr>
            </a:p>
            <a:p>
              <a:pPr>
                <a:lnSpc>
                  <a:spcPct val="200000"/>
                </a:lnSpc>
              </a:pPr>
              <a:r>
                <a:rPr lang="en-US" altLang="ko-KR" sz="700" dirty="0">
                  <a:latin typeface="+mn-ea"/>
                </a:rPr>
                <a:t>02-1234-5678</a:t>
              </a:r>
            </a:p>
            <a:p>
              <a:pPr>
                <a:lnSpc>
                  <a:spcPct val="200000"/>
                </a:lnSpc>
              </a:pPr>
              <a:r>
                <a:rPr lang="en-US" altLang="ko-KR" sz="700" dirty="0">
                  <a:latin typeface="+mn-ea"/>
                </a:rPr>
                <a:t>02-2345-6789</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762146" y="4672224"/>
              <a:ext cx="2010684" cy="215444"/>
            </a:xfrm>
            <a:prstGeom prst="rect">
              <a:avLst/>
            </a:prstGeom>
            <a:noFill/>
          </p:spPr>
          <p:txBody>
            <a:bodyPr wrap="square" lIns="0" tIns="0" rIns="0" bIns="0" rtlCol="0">
              <a:spAutoFit/>
            </a:bodyPr>
            <a:lstStyle/>
            <a:p>
              <a:pPr>
                <a:lnSpc>
                  <a:spcPct val="200000"/>
                </a:lnSpc>
              </a:pPr>
              <a:r>
                <a:rPr lang="ko-KR" altLang="en-US" sz="700" dirty="0">
                  <a:latin typeface="+mn-ea"/>
                </a:rPr>
                <a:t>담당자 정보</a:t>
              </a:r>
            </a:p>
          </p:txBody>
        </p:sp>
      </p:grp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Tree>
    <p:extLst>
      <p:ext uri="{BB962C8B-B14F-4D97-AF65-F5344CB8AC3E}">
        <p14:creationId xmlns:p14="http://schemas.microsoft.com/office/powerpoint/2010/main" val="2148823416"/>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입찰내역목록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344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보증서정보조회</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검색 필터에서 </a:t>
            </a:r>
            <a:r>
              <a:rPr lang="ko-KR" altLang="en-US" dirty="0" err="1"/>
              <a:t>지역검색을</a:t>
            </a:r>
            <a:r>
              <a:rPr lang="ko-KR" altLang="en-US" dirty="0"/>
              <a:t> 선택하는 경우 뜨는 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550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 보증금 </a:t>
            </a:r>
            <a:r>
              <a:rPr lang="en-US" altLang="ko-KR" dirty="0">
                <a:latin typeface="+mn-ea"/>
              </a:rPr>
              <a:t>&gt; </a:t>
            </a:r>
            <a:r>
              <a:rPr lang="ko-KR" altLang="en-US" dirty="0">
                <a:latin typeface="+mn-ea"/>
              </a:rPr>
              <a:t>입찰보증서선택 </a:t>
            </a:r>
            <a:r>
              <a:rPr lang="en-US" altLang="ko-KR" dirty="0">
                <a:latin typeface="+mn-ea"/>
              </a:rPr>
              <a:t>&gt; </a:t>
            </a:r>
            <a:r>
              <a:rPr lang="ko-KR" altLang="en-US" dirty="0">
                <a:latin typeface="+mn-ea"/>
              </a:rPr>
              <a:t>보증서정보조회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MUI-BD-04-P76</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190693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3138377" y="1650089"/>
            <a:ext cx="94010" cy="94010"/>
            <a:chOff x="6812560" y="3297172"/>
            <a:chExt cx="94010" cy="94010"/>
          </a:xfrm>
        </p:grpSpPr>
        <p:cxnSp>
          <p:nvCxnSpPr>
            <p:cNvPr id="119" name="직선 연결선 11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23" name="직선 연결선 122"/>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29" name="TextBox 128">
            <a:extLst>
              <a:ext uri="{FF2B5EF4-FFF2-40B4-BE49-F238E27FC236}">
                <a16:creationId xmlns:a16="http://schemas.microsoft.com/office/drawing/2014/main" id="{FFC49AEA-2A8F-250C-A86A-A7751D9706C3}"/>
              </a:ext>
            </a:extLst>
          </p:cNvPr>
          <p:cNvSpPr txBox="1"/>
          <p:nvPr/>
        </p:nvSpPr>
        <p:spPr>
          <a:xfrm>
            <a:off x="778515" y="1630768"/>
            <a:ext cx="1798758" cy="138499"/>
          </a:xfrm>
          <a:prstGeom prst="rect">
            <a:avLst/>
          </a:prstGeom>
          <a:noFill/>
        </p:spPr>
        <p:txBody>
          <a:bodyPr wrap="square" lIns="0" tIns="0" rIns="0" bIns="0" rtlCol="0">
            <a:spAutoFit/>
          </a:bodyPr>
          <a:lstStyle/>
          <a:p>
            <a:r>
              <a:rPr lang="ko-KR" altLang="en-US" sz="900" dirty="0" err="1">
                <a:latin typeface="+mn-ea"/>
              </a:rPr>
              <a:t>입찰보증서</a:t>
            </a:r>
            <a:r>
              <a:rPr lang="ko-KR" altLang="en-US" sz="900" dirty="0">
                <a:latin typeface="+mn-ea"/>
              </a:rPr>
              <a:t> 선택</a:t>
            </a:r>
          </a:p>
        </p:txBody>
      </p: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err="1">
                <a:latin typeface="+mn-ea"/>
              </a:rPr>
              <a:t>보증서정보</a:t>
            </a:r>
            <a:r>
              <a:rPr lang="ko-KR" altLang="en-US" sz="900" dirty="0">
                <a:latin typeface="+mn-ea"/>
              </a:rPr>
              <a:t> 조회</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보증계약 </a:t>
            </a:r>
            <a:r>
              <a:rPr lang="en-US" altLang="ko-KR" sz="700" dirty="0">
                <a:latin typeface="+mn-ea"/>
              </a:rPr>
              <a:t>- </a:t>
            </a:r>
            <a:r>
              <a:rPr lang="ko-KR" altLang="en-US" sz="700" dirty="0" err="1">
                <a:latin typeface="+mn-ea"/>
              </a:rPr>
              <a:t>주계약</a:t>
            </a:r>
            <a:endParaRPr lang="ko-KR" altLang="en-US" sz="700" dirty="0">
              <a:latin typeface="+mn-ea"/>
            </a:endParaRPr>
          </a:p>
        </p:txBody>
      </p:sp>
      <p:sp>
        <p:nvSpPr>
          <p:cNvPr id="82" name="직사각형 81"/>
          <p:cNvSpPr/>
          <p:nvPr/>
        </p:nvSpPr>
        <p:spPr>
          <a:xfrm>
            <a:off x="703268" y="2899796"/>
            <a:ext cx="792000" cy="86674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646331"/>
          </a:xfrm>
          <a:prstGeom prst="rect">
            <a:avLst/>
          </a:prstGeom>
          <a:noFill/>
        </p:spPr>
        <p:txBody>
          <a:bodyPr wrap="square" lIns="0" tIns="0" rIns="0" bIns="0" rtlCol="0">
            <a:spAutoFit/>
          </a:bodyPr>
          <a:lstStyle/>
          <a:p>
            <a:pPr>
              <a:lnSpc>
                <a:spcPct val="200000"/>
              </a:lnSpc>
            </a:pPr>
            <a:r>
              <a:rPr lang="ko-KR" altLang="en-US" sz="700" dirty="0" err="1">
                <a:latin typeface="+mn-ea"/>
              </a:rPr>
              <a:t>입찰건명</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err="1">
                <a:latin typeface="+mn-ea"/>
              </a:rPr>
              <a:t>입찰번호</a:t>
            </a:r>
            <a:endParaRPr lang="ko-KR" altLang="en-US" sz="700" dirty="0">
              <a:latin typeface="+mn-ea"/>
            </a:endParaRPr>
          </a:p>
        </p:txBody>
      </p:sp>
      <p:grpSp>
        <p:nvGrpSpPr>
          <p:cNvPr id="85" name="그룹 84"/>
          <p:cNvGrpSpPr/>
          <p:nvPr/>
        </p:nvGrpSpPr>
        <p:grpSpPr>
          <a:xfrm>
            <a:off x="701175" y="2899795"/>
            <a:ext cx="2630093" cy="858960"/>
            <a:chOff x="701175" y="1835481"/>
            <a:chExt cx="2630093" cy="858960"/>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861774"/>
          </a:xfrm>
          <a:prstGeom prst="rect">
            <a:avLst/>
          </a:prstGeom>
          <a:noFill/>
        </p:spPr>
        <p:txBody>
          <a:bodyPr wrap="square" lIns="0" tIns="0" rIns="0" bIns="0" rtlCol="0">
            <a:spAutoFit/>
          </a:bodyPr>
          <a:lstStyle/>
          <a:p>
            <a:pPr lvl="0">
              <a:lnSpc>
                <a:spcPct val="200000"/>
              </a:lnSpc>
            </a:pPr>
            <a:r>
              <a:rPr kumimoji="1" lang="en-US" altLang="ko-KR" sz="700" spc="-60" dirty="0">
                <a:latin typeface="+mn-ea"/>
              </a:rPr>
              <a:t>00</a:t>
            </a:r>
            <a:r>
              <a:rPr kumimoji="1" lang="ko-KR" altLang="en-US" sz="700" spc="-60" dirty="0">
                <a:latin typeface="+mn-ea"/>
              </a:rPr>
              <a:t>지역 </a:t>
            </a:r>
            <a:r>
              <a:rPr kumimoji="1" lang="ko-KR" altLang="en-US" sz="700" spc="-60" dirty="0" err="1">
                <a:latin typeface="+mn-ea"/>
              </a:rPr>
              <a:t>내무생활관</a:t>
            </a:r>
            <a:r>
              <a:rPr kumimoji="1" lang="ko-KR" altLang="en-US" sz="700" spc="-60" dirty="0">
                <a:latin typeface="+mn-ea"/>
              </a:rPr>
              <a:t> 전기공사</a:t>
            </a:r>
            <a:endParaRPr lang="en-US" altLang="ko-KR" sz="700" dirty="0">
              <a:latin typeface="+mn-ea"/>
            </a:endParaRPr>
          </a:p>
          <a:p>
            <a:pPr algn="r">
              <a:lnSpc>
                <a:spcPct val="200000"/>
              </a:lnSpc>
            </a:pPr>
            <a:r>
              <a:rPr lang="en-US" altLang="ko-KR" sz="700" dirty="0">
                <a:latin typeface="+mn-ea"/>
              </a:rPr>
              <a:t>2,700,000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0010011053320031100675611100</a:t>
            </a:r>
            <a:endParaRPr lang="ko-KR" altLang="en-US" sz="700" dirty="0">
              <a:latin typeface="+mn-ea"/>
            </a:endParaRPr>
          </a:p>
          <a:p>
            <a:pPr>
              <a:lnSpc>
                <a:spcPct val="200000"/>
              </a:lnSpc>
            </a:pPr>
            <a:r>
              <a:rPr lang="en-US" altLang="ko-KR" sz="700" dirty="0">
                <a:latin typeface="+mn-ea"/>
              </a:rPr>
              <a:t>2003-09-08</a:t>
            </a:r>
          </a:p>
        </p:txBody>
      </p:sp>
      <p:grpSp>
        <p:nvGrpSpPr>
          <p:cNvPr id="3" name="그룹 2"/>
          <p:cNvGrpSpPr/>
          <p:nvPr/>
        </p:nvGrpSpPr>
        <p:grpSpPr>
          <a:xfrm>
            <a:off x="675399" y="5614711"/>
            <a:ext cx="2712027" cy="617588"/>
            <a:chOff x="3795734" y="5614711"/>
            <a:chExt cx="2712027" cy="617588"/>
          </a:xfrm>
        </p:grpSpPr>
        <p:sp>
          <p:nvSpPr>
            <p:cNvPr id="171" name="직사각형 170">
              <a:extLst>
                <a:ext uri="{FF2B5EF4-FFF2-40B4-BE49-F238E27FC236}">
                  <a16:creationId xmlns:a16="http://schemas.microsoft.com/office/drawing/2014/main" id="{F56F1743-11A0-EA94-9184-4E42C0A37F9C}"/>
                </a:ext>
              </a:extLst>
            </p:cNvPr>
            <p:cNvSpPr/>
            <p:nvPr/>
          </p:nvSpPr>
          <p:spPr>
            <a:xfrm>
              <a:off x="3795734"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사각형: 둥근 모서리 15">
              <a:extLst>
                <a:ext uri="{FF2B5EF4-FFF2-40B4-BE49-F238E27FC236}">
                  <a16:creationId xmlns:a16="http://schemas.microsoft.com/office/drawing/2014/main" id="{E2B61CFB-AD16-68D0-8752-50D9C5E01971}"/>
                </a:ext>
              </a:extLst>
            </p:cNvPr>
            <p:cNvSpPr/>
            <p:nvPr/>
          </p:nvSpPr>
          <p:spPr>
            <a:xfrm>
              <a:off x="4569618" y="5745391"/>
              <a:ext cx="1845838" cy="317271"/>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solidFill>
                    <a:srgbClr val="0070C0"/>
                  </a:solidFill>
                </a:rPr>
                <a:t>보증서 적용</a:t>
              </a:r>
              <a:endParaRPr kumimoji="1" lang="en-US" altLang="ko-KR" sz="1000" kern="0" dirty="0">
                <a:solidFill>
                  <a:srgbClr val="0070C0"/>
                </a:solidFill>
              </a:endParaRPr>
            </a:p>
          </p:txBody>
        </p:sp>
        <p:sp>
          <p:nvSpPr>
            <p:cNvPr id="79" name="사각형: 둥근 모서리 15">
              <a:extLst>
                <a:ext uri="{FF2B5EF4-FFF2-40B4-BE49-F238E27FC236}">
                  <a16:creationId xmlns:a16="http://schemas.microsoft.com/office/drawing/2014/main" id="{E2B61CFB-AD16-68D0-8752-50D9C5E01971}"/>
                </a:ext>
              </a:extLst>
            </p:cNvPr>
            <p:cNvSpPr/>
            <p:nvPr/>
          </p:nvSpPr>
          <p:spPr>
            <a:xfrm>
              <a:off x="3893442" y="5745391"/>
              <a:ext cx="608074" cy="317271"/>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104" name="TextBox 103">
            <a:extLst>
              <a:ext uri="{FF2B5EF4-FFF2-40B4-BE49-F238E27FC236}">
                <a16:creationId xmlns:a16="http://schemas.microsoft.com/office/drawing/2014/main" id="{FFC49AEA-2A8F-250C-A86A-A7751D9706C3}"/>
              </a:ext>
            </a:extLst>
          </p:cNvPr>
          <p:cNvSpPr txBox="1"/>
          <p:nvPr/>
        </p:nvSpPr>
        <p:spPr>
          <a:xfrm>
            <a:off x="790331" y="3551099"/>
            <a:ext cx="725552"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a:latin typeface="+mn-ea"/>
              </a:rPr>
              <a:t>마감일자</a:t>
            </a:r>
          </a:p>
        </p:txBody>
      </p:sp>
    </p:spTree>
    <p:extLst>
      <p:ext uri="{BB962C8B-B14F-4D97-AF65-F5344CB8AC3E}">
        <p14:creationId xmlns:p14="http://schemas.microsoft.com/office/powerpoint/2010/main" val="596936666"/>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345</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94465"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보증서정보 데이터 영역 </a:t>
            </a:r>
            <a:r>
              <a:rPr lang="en-US" altLang="ko-KR" sz="900" b="1" dirty="0">
                <a:solidFill>
                  <a:prstClr val="black"/>
                </a:solidFill>
              </a:rPr>
              <a:t>(</a:t>
            </a:r>
            <a:r>
              <a:rPr lang="en-US" altLang="ko-KR" sz="900" b="1" dirty="0" err="1">
                <a:solidFill>
                  <a:prstClr val="black"/>
                </a:solidFill>
              </a:rPr>
              <a:t>dl_wtgrInfo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152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증권번호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wtgrNo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증권번호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보증금액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906946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보증기간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grnteBgngPrd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보증기간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16</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49014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보증료</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grfe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보증료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92055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보증금율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grnteAmtDepstRt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보증금율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206398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보증계약자 상호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보증계약자 상호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316476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보증계약자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보증계약자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35673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보증계약자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ctrtrRrno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보증계약자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418409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보증채권자 상호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crdtrBzentyNm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보증채권자 상호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65900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보증채권자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crdtrRprsvNm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보증채권자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180698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보증채권자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ctrtrRrno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보증채권자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710356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특기사항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spcltMttr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특기사항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119137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grntePhrsCn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보증문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819275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발행일자</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보증서 발행일자</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bl>
          </a:graphicData>
        </a:graphic>
      </p:graphicFrame>
      <p:sp>
        <p:nvSpPr>
          <p:cNvPr id="2" name="Text Box 73">
            <a:extLst>
              <a:ext uri="{FF2B5EF4-FFF2-40B4-BE49-F238E27FC236}">
                <a16:creationId xmlns:a16="http://schemas.microsoft.com/office/drawing/2014/main" id="{99E1FD21-60AA-A504-D440-8EA7CA0D609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835170673"/>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346</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1943408"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발행자 데이터 </a:t>
            </a:r>
            <a:r>
              <a:rPr lang="ko-KR" altLang="en-US" sz="900" b="1">
                <a:solidFill>
                  <a:prstClr val="black"/>
                </a:solidFill>
              </a:rPr>
              <a:t>영역 </a:t>
            </a:r>
            <a:r>
              <a:rPr lang="en-US" altLang="ko-KR" sz="900" b="1">
                <a:solidFill>
                  <a:prstClr val="black"/>
                </a:solidFill>
              </a:rPr>
              <a:t>(dl_IsrInfo)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발행자 상호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isrBzentyNm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발행자 상호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isrRprsvNm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906946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발행자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isrAddr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발행자 주소</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49014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대리인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agtNm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대리인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92055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대리인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agtDeptNm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대리인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206398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 성명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316476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 전화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 전화</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35673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 </a:t>
                      </a:r>
                      <a:r>
                        <a:rPr lang="en-US" sz="800" b="0" i="0" u="none" strike="noStrike">
                          <a:solidFill>
                            <a:srgbClr val="000000"/>
                          </a:solidFill>
                          <a:effectLst/>
                          <a:latin typeface="맑은 고딕" panose="020B0503020000020004" pitchFamily="50" charset="-127"/>
                          <a:ea typeface="맑은 고딕" panose="020B0503020000020004" pitchFamily="50" charset="-127"/>
                        </a:rPr>
                        <a:t>FAX</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 </a:t>
                      </a:r>
                      <a:r>
                        <a:rPr lang="en-US" sz="800" b="0" i="0" u="none" strike="noStrike">
                          <a:solidFill>
                            <a:srgbClr val="000000"/>
                          </a:solidFill>
                          <a:effectLst/>
                          <a:latin typeface="맑은 고딕" panose="020B0503020000020004" pitchFamily="50" charset="-127"/>
                          <a:ea typeface="맑은 고딕" panose="020B0503020000020004" pitchFamily="50" charset="-127"/>
                        </a:rPr>
                        <a:t>FAX</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4184092"/>
                  </a:ext>
                </a:extLst>
              </a:tr>
            </a:tbl>
          </a:graphicData>
        </a:graphic>
      </p:graphicFrame>
      <p:sp>
        <p:nvSpPr>
          <p:cNvPr id="6" name="TextBox 5">
            <a:extLst>
              <a:ext uri="{FF2B5EF4-FFF2-40B4-BE49-F238E27FC236}">
                <a16:creationId xmlns:a16="http://schemas.microsoft.com/office/drawing/2014/main" id="{0704E1BD-38F5-55DB-BAD3-13B26DEB1EE4}"/>
              </a:ext>
            </a:extLst>
          </p:cNvPr>
          <p:cNvSpPr txBox="1"/>
          <p:nvPr/>
        </p:nvSpPr>
        <p:spPr>
          <a:xfrm>
            <a:off x="458117" y="3250557"/>
            <a:ext cx="2116532"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보증계약 데이터 </a:t>
            </a:r>
            <a:r>
              <a:rPr lang="ko-KR" altLang="en-US" sz="900" b="1">
                <a:solidFill>
                  <a:prstClr val="black"/>
                </a:solidFill>
              </a:rPr>
              <a:t>영역 </a:t>
            </a:r>
            <a:r>
              <a:rPr lang="en-US" altLang="ko-KR" sz="900" b="1">
                <a:solidFill>
                  <a:prstClr val="black"/>
                </a:solidFill>
              </a:rPr>
              <a:t>(dl_ctrtInfo)</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E926DE23-EF93-C082-D8E9-074411A05D1A}"/>
              </a:ext>
            </a:extLst>
          </p:cNvPr>
          <p:cNvGraphicFramePr>
            <a:graphicFrameLocks noGrp="1"/>
          </p:cNvGraphicFramePr>
          <p:nvPr/>
        </p:nvGraphicFramePr>
        <p:xfrm>
          <a:off x="452999" y="3461760"/>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입찰건명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입찰건명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906946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49014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입찰서제출마감일자</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입찰서제출마감일자</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9205566"/>
                  </a:ext>
                </a:extLst>
              </a:tr>
            </a:tbl>
          </a:graphicData>
        </a:graphic>
      </p:graphicFrame>
      <p:sp>
        <p:nvSpPr>
          <p:cNvPr id="8" name="Text Box 73">
            <a:extLst>
              <a:ext uri="{FF2B5EF4-FFF2-40B4-BE49-F238E27FC236}">
                <a16:creationId xmlns:a16="http://schemas.microsoft.com/office/drawing/2014/main" id="{4B5C1F74-3735-F84A-FA19-B5C15A37E38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275930559"/>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D67880BC-6DDB-6329-4178-180CD551DD2F}"/>
              </a:ext>
            </a:extLst>
          </p:cNvPr>
          <p:cNvSpPr>
            <a:spLocks noGrp="1"/>
          </p:cNvSpPr>
          <p:nvPr>
            <p:ph type="sldNum" sz="quarter" idx="4"/>
          </p:nvPr>
        </p:nvSpPr>
        <p:spPr/>
        <p:txBody>
          <a:bodyPr/>
          <a:lstStyle/>
          <a:p>
            <a:fld id="{34C8E023-7346-48FC-AB24-9A3388C53208}" type="slidenum">
              <a:rPr lang="ko-KR" altLang="en-US" smtClean="0"/>
              <a:pPr/>
              <a:t>347</a:t>
            </a:fld>
            <a:endParaRPr lang="ko-KR" altLang="en-US" dirty="0"/>
          </a:p>
        </p:txBody>
      </p:sp>
      <p:sp>
        <p:nvSpPr>
          <p:cNvPr id="6" name="TextBox 5">
            <a:extLst>
              <a:ext uri="{FF2B5EF4-FFF2-40B4-BE49-F238E27FC236}">
                <a16:creationId xmlns:a16="http://schemas.microsoft.com/office/drawing/2014/main" id="{A308B143-F893-186B-7813-58F5FC716CF0}"/>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9" name="표 8">
            <a:extLst>
              <a:ext uri="{FF2B5EF4-FFF2-40B4-BE49-F238E27FC236}">
                <a16:creationId xmlns:a16="http://schemas.microsoft.com/office/drawing/2014/main" id="{83BC0E6E-3934-8737-B0BC-7C980B5993FC}"/>
              </a:ext>
            </a:extLst>
          </p:cNvPr>
          <p:cNvGraphicFramePr>
            <a:graphicFrameLocks noGrp="1"/>
          </p:cNvGraphicFramePr>
          <p:nvPr>
            <p:extLst>
              <p:ext uri="{D42A27DB-BD31-4B8C-83A1-F6EECF244321}">
                <p14:modId xmlns:p14="http://schemas.microsoft.com/office/powerpoint/2010/main" val="2015478564"/>
              </p:ext>
            </p:extLst>
          </p:nvPr>
        </p:nvGraphicFramePr>
        <p:xfrm>
          <a:off x="458117" y="799547"/>
          <a:ext cx="8995591" cy="3878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보증서 정보 상세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입찰보증서정보조회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10" name="Text Box 73">
            <a:extLst>
              <a:ext uri="{FF2B5EF4-FFF2-40B4-BE49-F238E27FC236}">
                <a16:creationId xmlns:a16="http://schemas.microsoft.com/office/drawing/2014/main" id="{F1EE667B-B3CA-A2DE-0461-57C74A6FDCB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038210891"/>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348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입찰참가신청서상세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fontAlgn="ctr">
              <a:lnSpc>
                <a:spcPct val="100000"/>
              </a:lnSpc>
              <a:spcBef>
                <a:spcPts val="0"/>
              </a:spcBef>
              <a:defRPr/>
            </a:pPr>
            <a:r>
              <a:rPr lang="ko-KR" altLang="en-US" dirty="0">
                <a:solidFill>
                  <a:srgbClr val="000000"/>
                </a:solidFill>
                <a:latin typeface="맑은 고딕" panose="020B0503020000020004" pitchFamily="50" charset="-127"/>
              </a:rPr>
              <a:t>업체담당자가 제출한 입찰참가신청서를 조회하는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MUI-BD-04-M78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입찰참가신청서 상세</a:t>
            </a: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9" name="그룹 148"/>
          <p:cNvGrpSpPr/>
          <p:nvPr/>
        </p:nvGrpSpPr>
        <p:grpSpPr>
          <a:xfrm rot="5400000">
            <a:off x="755013" y="1640499"/>
            <a:ext cx="94010" cy="47005"/>
            <a:chOff x="6812560" y="3297172"/>
            <a:chExt cx="94010" cy="47005"/>
          </a:xfrm>
        </p:grpSpPr>
        <p:cxnSp>
          <p:nvCxnSpPr>
            <p:cNvPr id="150" name="직선 연결선 1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3" name="직선 연결선 1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4" name="타원 153"/>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25461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TextBox 138">
            <a:extLst>
              <a:ext uri="{FF2B5EF4-FFF2-40B4-BE49-F238E27FC236}">
                <a16:creationId xmlns:a16="http://schemas.microsoft.com/office/drawing/2014/main" id="{FFC49AEA-2A8F-250C-A86A-A7751D9706C3}"/>
              </a:ext>
            </a:extLst>
          </p:cNvPr>
          <p:cNvSpPr txBox="1"/>
          <p:nvPr/>
        </p:nvSpPr>
        <p:spPr>
          <a:xfrm>
            <a:off x="781461" y="3220645"/>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5" name="직사각형 154"/>
          <p:cNvSpPr/>
          <p:nvPr/>
        </p:nvSpPr>
        <p:spPr>
          <a:xfrm>
            <a:off x="722583" y="3528131"/>
            <a:ext cx="792000" cy="6585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6" name="직선 연결선 155">
            <a:extLst>
              <a:ext uri="{FF2B5EF4-FFF2-40B4-BE49-F238E27FC236}">
                <a16:creationId xmlns:a16="http://schemas.microsoft.com/office/drawing/2014/main" id="{E9293055-D5CD-4B9E-7F64-64B2D2CA7A52}"/>
              </a:ext>
            </a:extLst>
          </p:cNvPr>
          <p:cNvCxnSpPr/>
          <p:nvPr/>
        </p:nvCxnSpPr>
        <p:spPr>
          <a:xfrm>
            <a:off x="720490" y="35281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809647" y="3528130"/>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a:p>
            <a:pPr>
              <a:lnSpc>
                <a:spcPct val="200000"/>
              </a:lnSpc>
            </a:pPr>
            <a:r>
              <a:rPr lang="ko-KR" altLang="en-US" sz="700" dirty="0">
                <a:latin typeface="+mn-ea"/>
              </a:rPr>
              <a:t>입찰보증금 총액</a:t>
            </a:r>
            <a:endParaRPr lang="en-US" altLang="ko-KR" sz="700" dirty="0">
              <a:latin typeface="+mn-ea"/>
            </a:endParaRPr>
          </a:p>
        </p:txBody>
      </p:sp>
      <p:sp>
        <p:nvSpPr>
          <p:cNvPr id="158" name="TextBox 157">
            <a:extLst>
              <a:ext uri="{FF2B5EF4-FFF2-40B4-BE49-F238E27FC236}">
                <a16:creationId xmlns:a16="http://schemas.microsoft.com/office/drawing/2014/main" id="{FFC49AEA-2A8F-250C-A86A-A7751D9706C3}"/>
              </a:ext>
            </a:extLst>
          </p:cNvPr>
          <p:cNvSpPr txBox="1"/>
          <p:nvPr/>
        </p:nvSpPr>
        <p:spPr>
          <a:xfrm>
            <a:off x="1566495" y="3528130"/>
            <a:ext cx="1784088" cy="646331"/>
          </a:xfrm>
          <a:prstGeom prst="rect">
            <a:avLst/>
          </a:prstGeom>
          <a:noFill/>
        </p:spPr>
        <p:txBody>
          <a:bodyPr wrap="square" lIns="0" tIns="0" rIns="0" bIns="0" rtlCol="0">
            <a:spAutoFit/>
          </a:bodyPr>
          <a:lstStyle/>
          <a:p>
            <a:pPr>
              <a:lnSpc>
                <a:spcPct val="200000"/>
              </a:lnSpc>
            </a:pPr>
            <a:r>
              <a:rPr lang="ko-KR" altLang="en-US" sz="700" dirty="0" err="1">
                <a:latin typeface="+mn-ea"/>
              </a:rPr>
              <a:t>긴급공고</a:t>
            </a:r>
            <a:r>
              <a:rPr lang="ko-KR" altLang="en-US" sz="700" dirty="0">
                <a:latin typeface="+mn-ea"/>
              </a:rPr>
              <a:t> </a:t>
            </a:r>
            <a:r>
              <a:rPr lang="en-US" altLang="ko-KR" sz="700" dirty="0">
                <a:latin typeface="+mn-ea"/>
              </a:rPr>
              <a:t>LDG0097-1</a:t>
            </a:r>
          </a:p>
          <a:p>
            <a:pPr>
              <a:lnSpc>
                <a:spcPct val="200000"/>
              </a:lnSpc>
            </a:pPr>
            <a:r>
              <a:rPr lang="en-US" altLang="ko-KR" sz="700" dirty="0">
                <a:latin typeface="+mn-ea"/>
              </a:rPr>
              <a:t>2025-12-24 10:30</a:t>
            </a:r>
          </a:p>
          <a:p>
            <a:pPr algn="r">
              <a:lnSpc>
                <a:spcPct val="200000"/>
              </a:lnSpc>
            </a:pPr>
            <a:r>
              <a:rPr lang="en-US" altLang="ko-KR" sz="700" dirty="0">
                <a:latin typeface="+mn-ea"/>
              </a:rPr>
              <a:t>511.18</a:t>
            </a:r>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2583" y="375923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39729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2" name="직선 연결선 161">
            <a:extLst>
              <a:ext uri="{FF2B5EF4-FFF2-40B4-BE49-F238E27FC236}">
                <a16:creationId xmlns:a16="http://schemas.microsoft.com/office/drawing/2014/main" id="{E9293055-D5CD-4B9E-7F64-64B2D2CA7A52}"/>
              </a:ext>
            </a:extLst>
          </p:cNvPr>
          <p:cNvCxnSpPr/>
          <p:nvPr/>
        </p:nvCxnSpPr>
        <p:spPr>
          <a:xfrm>
            <a:off x="722583" y="418664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720490" y="31736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2957052"/>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18631" y="2957052"/>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1860138" y="2957052"/>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2561532" y="2957052"/>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173659"/>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2918929"/>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283873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240" name="그룹 239"/>
          <p:cNvGrpSpPr/>
          <p:nvPr/>
        </p:nvGrpSpPr>
        <p:grpSpPr>
          <a:xfrm>
            <a:off x="675399" y="1936620"/>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56" name="그룹 255"/>
          <p:cNvGrpSpPr/>
          <p:nvPr/>
        </p:nvGrpSpPr>
        <p:grpSpPr>
          <a:xfrm>
            <a:off x="3795733"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5733" y="5116580"/>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2530680"/>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2562025"/>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2644011"/>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24" name="타원 323">
            <a:extLst>
              <a:ext uri="{FF2B5EF4-FFF2-40B4-BE49-F238E27FC236}">
                <a16:creationId xmlns:a16="http://schemas.microsoft.com/office/drawing/2014/main" id="{37A7FF4F-0EAA-1463-560A-D5EC24416103}"/>
              </a:ext>
            </a:extLst>
          </p:cNvPr>
          <p:cNvSpPr/>
          <p:nvPr/>
        </p:nvSpPr>
        <p:spPr>
          <a:xfrm>
            <a:off x="571127" y="291546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6" name="타원 325">
            <a:extLst>
              <a:ext uri="{FF2B5EF4-FFF2-40B4-BE49-F238E27FC236}">
                <a16:creationId xmlns:a16="http://schemas.microsoft.com/office/drawing/2014/main" id="{37A7FF4F-0EAA-1463-560A-D5EC24416103}"/>
              </a:ext>
            </a:extLst>
          </p:cNvPr>
          <p:cNvSpPr/>
          <p:nvPr/>
        </p:nvSpPr>
        <p:spPr>
          <a:xfrm>
            <a:off x="571127" y="3276646"/>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3840473"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3884151" y="2201247"/>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4438614" y="2201247"/>
            <a:ext cx="456595"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4980121"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5681515"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3840473"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6044069"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51" name="모서리가 둥근 직사각형 150"/>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70880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675399" y="429070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3" name="그룹 2"/>
          <p:cNvGrpSpPr/>
          <p:nvPr/>
        </p:nvGrpSpPr>
        <p:grpSpPr>
          <a:xfrm>
            <a:off x="3836701" y="2485990"/>
            <a:ext cx="2630093" cy="2031034"/>
            <a:chOff x="3791188" y="2611009"/>
            <a:chExt cx="2630093" cy="2031034"/>
          </a:xfrm>
        </p:grpSpPr>
        <p:sp>
          <p:nvSpPr>
            <p:cNvPr id="166" name="TextBox 16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167" name="직사각형 166"/>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9" name="TextBox 168">
              <a:extLst>
                <a:ext uri="{FF2B5EF4-FFF2-40B4-BE49-F238E27FC236}">
                  <a16:creationId xmlns:a16="http://schemas.microsoft.com/office/drawing/2014/main" id="{FFC49AEA-2A8F-250C-A86A-A7751D9706C3}"/>
                </a:ext>
              </a:extLst>
            </p:cNvPr>
            <p:cNvSpPr txBox="1"/>
            <p:nvPr/>
          </p:nvSpPr>
          <p:spPr>
            <a:xfrm>
              <a:off x="3880345" y="2918494"/>
              <a:ext cx="756848" cy="168924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주민등록번호</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170" name="TextBox 169">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71" name="직선 연결선 170">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80" name="TextBox 179">
            <a:extLst>
              <a:ext uri="{FF2B5EF4-FFF2-40B4-BE49-F238E27FC236}">
                <a16:creationId xmlns:a16="http://schemas.microsoft.com/office/drawing/2014/main" id="{FFC49AEA-2A8F-250C-A86A-A7751D9706C3}"/>
              </a:ext>
            </a:extLst>
          </p:cNvPr>
          <p:cNvSpPr txBox="1"/>
          <p:nvPr/>
        </p:nvSpPr>
        <p:spPr>
          <a:xfrm>
            <a:off x="3914777" y="4589293"/>
            <a:ext cx="2473940" cy="430887"/>
          </a:xfrm>
          <a:prstGeom prst="rect">
            <a:avLst/>
          </a:prstGeom>
          <a:noFill/>
        </p:spPr>
        <p:txBody>
          <a:bodyPr wrap="square" lIns="0" tIns="0" rIns="0" bIns="0" rtlCol="0">
            <a:spAutoFit/>
          </a:bodyPr>
          <a:lstStyle/>
          <a:p>
            <a:r>
              <a:rPr lang="ko-KR" altLang="en-US" sz="700" dirty="0">
                <a:solidFill>
                  <a:srgbClr val="000000"/>
                </a:solidFill>
                <a:latin typeface="Consolas" panose="020B0609020204030204" pitchFamily="49" charset="0"/>
              </a:rPr>
              <a:t>본인은 낙찰 후 계약을 체결하지 아니하거나 서류제출 기피 등 </a:t>
            </a:r>
            <a:r>
              <a:rPr lang="ko-KR" altLang="en-US" sz="700" dirty="0" err="1">
                <a:solidFill>
                  <a:srgbClr val="000000"/>
                </a:solidFill>
                <a:latin typeface="Consolas" panose="020B0609020204030204" pitchFamily="49" charset="0"/>
              </a:rPr>
              <a:t>귀사로부터</a:t>
            </a:r>
            <a:r>
              <a:rPr lang="ko-KR" altLang="en-US" sz="700" dirty="0">
                <a:solidFill>
                  <a:srgbClr val="000000"/>
                </a:solidFill>
                <a:latin typeface="Consolas" panose="020B0609020204030204" pitchFamily="49" charset="0"/>
              </a:rPr>
              <a:t> 상기 입찰보증금을 한도로 해당품목 입찰보증금액의 납입 요청 이견 없이 </a:t>
            </a:r>
            <a:r>
              <a:rPr lang="en-US" altLang="ko-KR" sz="700" dirty="0">
                <a:solidFill>
                  <a:srgbClr val="000000"/>
                </a:solidFill>
                <a:latin typeface="Consolas" panose="020B0609020204030204" pitchFamily="49" charset="0"/>
              </a:rPr>
              <a:t>30</a:t>
            </a:r>
            <a:r>
              <a:rPr lang="ko-KR" altLang="en-US" sz="700" dirty="0">
                <a:solidFill>
                  <a:srgbClr val="000000"/>
                </a:solidFill>
                <a:latin typeface="Consolas" panose="020B0609020204030204" pitchFamily="49" charset="0"/>
              </a:rPr>
              <a:t>일 이내 납부할 것을 서약합니다 </a:t>
            </a:r>
          </a:p>
        </p:txBody>
      </p:sp>
    </p:spTree>
    <p:extLst>
      <p:ext uri="{BB962C8B-B14F-4D97-AF65-F5344CB8AC3E}">
        <p14:creationId xmlns:p14="http://schemas.microsoft.com/office/powerpoint/2010/main" val="327298252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입찰업체</a:t>
            </a:r>
            <a:r>
              <a:rPr lang="ko-KR" altLang="en-US" dirty="0"/>
              <a:t> 데이터</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349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입찰참가신청서상세 </a:t>
            </a:r>
            <a:r>
              <a:rPr lang="en-US" altLang="ko-KR" dirty="0">
                <a:latin typeface="+mn-ea"/>
              </a:rPr>
              <a:t>- </a:t>
            </a:r>
            <a:r>
              <a:rPr lang="ko-KR" altLang="en-US" dirty="0">
                <a:latin typeface="+mn-ea"/>
              </a:rPr>
              <a:t>업체정보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fontAlgn="ctr">
              <a:lnSpc>
                <a:spcPct val="100000"/>
              </a:lnSpc>
              <a:spcBef>
                <a:spcPts val="0"/>
              </a:spcBef>
              <a:defRPr/>
            </a:pPr>
            <a:r>
              <a:rPr lang="ko-KR" altLang="en-US" dirty="0">
                <a:solidFill>
                  <a:srgbClr val="000000"/>
                </a:solidFill>
                <a:latin typeface="맑은 고딕" panose="020B0503020000020004" pitchFamily="50" charset="-127"/>
              </a:rPr>
              <a:t>업체담당자가 제출한 입찰참가신청서를 조회하는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 </a:t>
            </a:r>
            <a:r>
              <a:rPr lang="ko-KR" altLang="en-US" dirty="0">
                <a:latin typeface="+mn-ea"/>
              </a:rPr>
              <a:t>업체정보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MUI-BD-04-M79</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08670"/>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301324"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78" name="직선 연결선 277">
            <a:extLst>
              <a:ext uri="{FF2B5EF4-FFF2-40B4-BE49-F238E27FC236}">
                <a16:creationId xmlns:a16="http://schemas.microsoft.com/office/drawing/2014/main" id="{E9293055-D5CD-4B9E-7F64-64B2D2CA7A52}"/>
              </a:ext>
            </a:extLst>
          </p:cNvPr>
          <p:cNvCxnSpPr/>
          <p:nvPr/>
        </p:nvCxnSpPr>
        <p:spPr>
          <a:xfrm>
            <a:off x="3840474"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9" name="TextBox 278">
            <a:extLst>
              <a:ext uri="{FF2B5EF4-FFF2-40B4-BE49-F238E27FC236}">
                <a16:creationId xmlns:a16="http://schemas.microsoft.com/office/drawing/2014/main" id="{FFC49AEA-2A8F-250C-A86A-A7751D9706C3}"/>
              </a:ext>
            </a:extLst>
          </p:cNvPr>
          <p:cNvSpPr txBox="1"/>
          <p:nvPr/>
        </p:nvSpPr>
        <p:spPr>
          <a:xfrm>
            <a:off x="3884152"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280" name="TextBox 279">
            <a:extLst>
              <a:ext uri="{FF2B5EF4-FFF2-40B4-BE49-F238E27FC236}">
                <a16:creationId xmlns:a16="http://schemas.microsoft.com/office/drawing/2014/main" id="{FFC49AEA-2A8F-250C-A86A-A7751D9706C3}"/>
              </a:ext>
            </a:extLst>
          </p:cNvPr>
          <p:cNvSpPr txBox="1"/>
          <p:nvPr/>
        </p:nvSpPr>
        <p:spPr>
          <a:xfrm>
            <a:off x="4438615" y="2201247"/>
            <a:ext cx="46693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sp>
        <p:nvSpPr>
          <p:cNvPr id="281" name="TextBox 280">
            <a:extLst>
              <a:ext uri="{FF2B5EF4-FFF2-40B4-BE49-F238E27FC236}">
                <a16:creationId xmlns:a16="http://schemas.microsoft.com/office/drawing/2014/main" id="{FFC49AEA-2A8F-250C-A86A-A7751D9706C3}"/>
              </a:ext>
            </a:extLst>
          </p:cNvPr>
          <p:cNvSpPr txBox="1"/>
          <p:nvPr/>
        </p:nvSpPr>
        <p:spPr>
          <a:xfrm>
            <a:off x="4980122" y="2201247"/>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290" name="TextBox 289">
            <a:extLst>
              <a:ext uri="{FF2B5EF4-FFF2-40B4-BE49-F238E27FC236}">
                <a16:creationId xmlns:a16="http://schemas.microsoft.com/office/drawing/2014/main" id="{FFC49AEA-2A8F-250C-A86A-A7751D9706C3}"/>
              </a:ext>
            </a:extLst>
          </p:cNvPr>
          <p:cNvSpPr txBox="1"/>
          <p:nvPr/>
        </p:nvSpPr>
        <p:spPr>
          <a:xfrm>
            <a:off x="5681516"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91" name="직선 연결선 290">
            <a:extLst>
              <a:ext uri="{FF2B5EF4-FFF2-40B4-BE49-F238E27FC236}">
                <a16:creationId xmlns:a16="http://schemas.microsoft.com/office/drawing/2014/main" id="{E9293055-D5CD-4B9E-7F64-64B2D2CA7A52}"/>
              </a:ext>
            </a:extLst>
          </p:cNvPr>
          <p:cNvCxnSpPr/>
          <p:nvPr/>
        </p:nvCxnSpPr>
        <p:spPr>
          <a:xfrm>
            <a:off x="4421659" y="2417854"/>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92" name="그룹 291"/>
          <p:cNvGrpSpPr/>
          <p:nvPr/>
        </p:nvGrpSpPr>
        <p:grpSpPr>
          <a:xfrm>
            <a:off x="6044070" y="2163124"/>
            <a:ext cx="422853" cy="187961"/>
            <a:chOff x="3641308" y="2234886"/>
            <a:chExt cx="422853" cy="187961"/>
          </a:xfrm>
        </p:grpSpPr>
        <p:sp>
          <p:nvSpPr>
            <p:cNvPr id="293" name="타원 29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94" name="그룹 293"/>
            <p:cNvGrpSpPr/>
            <p:nvPr/>
          </p:nvGrpSpPr>
          <p:grpSpPr>
            <a:xfrm rot="5400000" flipH="1">
              <a:off x="3679895" y="2305364"/>
              <a:ext cx="94010" cy="47005"/>
              <a:chOff x="6812560" y="3297172"/>
              <a:chExt cx="94010" cy="47005"/>
            </a:xfrm>
          </p:grpSpPr>
          <p:cxnSp>
            <p:nvCxnSpPr>
              <p:cNvPr id="344" name="직선 연결선 3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5" name="직선 연결선 3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12" name="타원 31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3" name="그룹 312"/>
            <p:cNvGrpSpPr/>
            <p:nvPr/>
          </p:nvGrpSpPr>
          <p:grpSpPr>
            <a:xfrm rot="16200000">
              <a:off x="3931564" y="2305364"/>
              <a:ext cx="94010" cy="47005"/>
              <a:chOff x="6812560" y="3297172"/>
              <a:chExt cx="94010" cy="47005"/>
            </a:xfrm>
          </p:grpSpPr>
          <p:cxnSp>
            <p:nvCxnSpPr>
              <p:cNvPr id="315" name="직선 연결선 31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3" name="직선 연결선 3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9" name="모서리가 둥근 직사각형 108"/>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680270" y="458210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16" name="그룹 115"/>
          <p:cNvGrpSpPr/>
          <p:nvPr/>
        </p:nvGrpSpPr>
        <p:grpSpPr>
          <a:xfrm>
            <a:off x="721238" y="2485990"/>
            <a:ext cx="2630093" cy="2031034"/>
            <a:chOff x="3791188" y="2611009"/>
            <a:chExt cx="2630093" cy="2031034"/>
          </a:xfrm>
        </p:grpSpPr>
        <p:sp>
          <p:nvSpPr>
            <p:cNvPr id="117" name="TextBox 116">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18" name="직사각형 117"/>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21" name="TextBox 120">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22" name="직선 연결선 121">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4" name="직선 연결선 12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2" name="TextBox 131">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 name="그룹 2"/>
          <p:cNvGrpSpPr/>
          <p:nvPr/>
        </p:nvGrpSpPr>
        <p:grpSpPr>
          <a:xfrm>
            <a:off x="3914777" y="2486725"/>
            <a:ext cx="2473940" cy="3675880"/>
            <a:chOff x="3930894" y="2486725"/>
            <a:chExt cx="2473940" cy="3675880"/>
          </a:xfrm>
        </p:grpSpPr>
        <p:sp>
          <p:nvSpPr>
            <p:cNvPr id="131" name="TextBox 130">
              <a:extLst>
                <a:ext uri="{FF2B5EF4-FFF2-40B4-BE49-F238E27FC236}">
                  <a16:creationId xmlns:a16="http://schemas.microsoft.com/office/drawing/2014/main" id="{FFC49AEA-2A8F-250C-A86A-A7751D9706C3}"/>
                </a:ext>
              </a:extLst>
            </p:cNvPr>
            <p:cNvSpPr txBox="1"/>
            <p:nvPr/>
          </p:nvSpPr>
          <p:spPr>
            <a:xfrm>
              <a:off x="3930894" y="2486725"/>
              <a:ext cx="2473940" cy="107722"/>
            </a:xfrm>
            <a:prstGeom prst="rect">
              <a:avLst/>
            </a:prstGeom>
            <a:noFill/>
          </p:spPr>
          <p:txBody>
            <a:bodyPr wrap="square" lIns="0" tIns="0" rIns="0" bIns="0" rtlCol="0">
              <a:spAutoFit/>
            </a:bodyPr>
            <a:lstStyle/>
            <a:p>
              <a:r>
                <a:rPr lang="en-US" altLang="ko-KR" sz="700" b="1" dirty="0">
                  <a:solidFill>
                    <a:srgbClr val="000000"/>
                  </a:solidFill>
                  <a:latin typeface="+mn-ea"/>
                </a:rPr>
                <a:t>LETTER OF GUARANTEE FOR PAYMENT OF BID BOND</a:t>
              </a:r>
              <a:endParaRPr lang="ko-KR" altLang="en-US" sz="700" b="1" dirty="0">
                <a:solidFill>
                  <a:srgbClr val="000000"/>
                </a:solidFill>
                <a:latin typeface="+mn-ea"/>
              </a:endParaRPr>
            </a:p>
          </p:txBody>
        </p:sp>
        <p:sp>
          <p:nvSpPr>
            <p:cNvPr id="133" name="TextBox 132">
              <a:extLst>
                <a:ext uri="{FF2B5EF4-FFF2-40B4-BE49-F238E27FC236}">
                  <a16:creationId xmlns:a16="http://schemas.microsoft.com/office/drawing/2014/main" id="{FFC49AEA-2A8F-250C-A86A-A7751D9706C3}"/>
                </a:ext>
              </a:extLst>
            </p:cNvPr>
            <p:cNvSpPr txBox="1"/>
            <p:nvPr/>
          </p:nvSpPr>
          <p:spPr>
            <a:xfrm>
              <a:off x="3930894" y="2715507"/>
              <a:ext cx="2473940" cy="3447098"/>
            </a:xfrm>
            <a:prstGeom prst="rect">
              <a:avLst/>
            </a:prstGeom>
            <a:noFill/>
          </p:spPr>
          <p:txBody>
            <a:bodyPr wrap="square" lIns="0" tIns="0" rIns="0" bIns="0" rtlCol="0">
              <a:spAutoFit/>
            </a:bodyPr>
            <a:lstStyle/>
            <a:p>
              <a:r>
                <a:rPr lang="en-US" altLang="ko-KR" sz="700" dirty="0">
                  <a:solidFill>
                    <a:srgbClr val="000000"/>
                  </a:solidFill>
                  <a:latin typeface="+mn-ea"/>
                </a:rPr>
                <a:t>Name and address of Beneficiary</a:t>
              </a:r>
            </a:p>
            <a:p>
              <a:r>
                <a:rPr lang="en-US" altLang="ko-KR" sz="700" dirty="0">
                  <a:solidFill>
                    <a:srgbClr val="000000"/>
                  </a:solidFill>
                  <a:latin typeface="+mn-ea"/>
                </a:rPr>
                <a:t>Defense Acquisition Program Administration, Republic of Korea, #2-15 </a:t>
              </a:r>
              <a:r>
                <a:rPr lang="en-US" altLang="ko-KR" sz="700" dirty="0" err="1">
                  <a:solidFill>
                    <a:srgbClr val="000000"/>
                  </a:solidFill>
                  <a:latin typeface="+mn-ea"/>
                </a:rPr>
                <a:t>Younsan</a:t>
              </a:r>
              <a:r>
                <a:rPr lang="en-US" altLang="ko-KR" sz="700" dirty="0">
                  <a:solidFill>
                    <a:srgbClr val="000000"/>
                  </a:solidFill>
                  <a:latin typeface="+mn-ea"/>
                </a:rPr>
                <a:t> 2Ga-Dong, </a:t>
              </a:r>
              <a:r>
                <a:rPr lang="en-US" altLang="ko-KR" sz="700" dirty="0" err="1">
                  <a:solidFill>
                    <a:srgbClr val="000000"/>
                  </a:solidFill>
                  <a:latin typeface="+mn-ea"/>
                </a:rPr>
                <a:t>Younsan-Gu</a:t>
              </a:r>
              <a:r>
                <a:rPr lang="en-US" altLang="ko-KR" sz="700" dirty="0">
                  <a:solidFill>
                    <a:srgbClr val="000000"/>
                  </a:solidFill>
                  <a:latin typeface="+mn-ea"/>
                </a:rPr>
                <a:t>, Seoul, Korea</a:t>
              </a:r>
            </a:p>
            <a:p>
              <a:r>
                <a:rPr lang="en-US" altLang="ko-KR" sz="700" dirty="0">
                  <a:solidFill>
                    <a:srgbClr val="000000"/>
                  </a:solidFill>
                  <a:latin typeface="+mn-ea"/>
                </a:rPr>
                <a:t>(Whom the solicitation defines as the “DAPA” or the “</a:t>
              </a:r>
              <a:r>
                <a:rPr lang="en-US" altLang="ko-KR" sz="700" dirty="0" err="1">
                  <a:solidFill>
                    <a:srgbClr val="000000"/>
                  </a:solidFill>
                  <a:latin typeface="+mn-ea"/>
                </a:rPr>
                <a:t>Buer</a:t>
              </a:r>
              <a:r>
                <a:rPr lang="en-US" altLang="ko-KR" sz="700" dirty="0">
                  <a:solidFill>
                    <a:srgbClr val="000000"/>
                  </a:solidFill>
                  <a:latin typeface="+mn-ea"/>
                </a:rPr>
                <a:t>”)</a:t>
              </a:r>
            </a:p>
            <a:p>
              <a:r>
                <a:rPr lang="en-US" altLang="ko-KR" sz="700" dirty="0">
                  <a:solidFill>
                    <a:srgbClr val="000000"/>
                  </a:solidFill>
                  <a:latin typeface="+mn-ea"/>
                </a:rPr>
                <a:t>We, #</a:t>
              </a:r>
              <a:r>
                <a:rPr lang="ko-KR" altLang="en-US" sz="700" dirty="0" err="1">
                  <a:solidFill>
                    <a:srgbClr val="000000"/>
                  </a:solidFill>
                  <a:latin typeface="+mn-ea"/>
                </a:rPr>
                <a:t>입찰업체명</a:t>
              </a:r>
              <a:endParaRPr lang="ko-KR" altLang="en-US" sz="700" dirty="0">
                <a:solidFill>
                  <a:srgbClr val="000000"/>
                </a:solidFill>
                <a:latin typeface="+mn-ea"/>
              </a:endParaRPr>
            </a:p>
            <a:p>
              <a:r>
                <a:rPr lang="en-US" altLang="ko-KR" sz="700" dirty="0">
                  <a:solidFill>
                    <a:srgbClr val="000000"/>
                  </a:solidFill>
                  <a:latin typeface="+mn-ea"/>
                </a:rPr>
                <a:t>The bidder of the above referenced solicitation, have been informed of the eligibility for an exemption from establishing a bid bond, pol Relevant Laws and Regulation of the Republic of Korea.</a:t>
              </a:r>
            </a:p>
            <a:p>
              <a:r>
                <a:rPr lang="en-US" altLang="ko-KR" sz="700" dirty="0">
                  <a:solidFill>
                    <a:srgbClr val="000000"/>
                  </a:solidFill>
                  <a:latin typeface="+mn-ea"/>
                </a:rPr>
                <a:t>Bidders are exempted from establishing bid bond unless he or she fails the following category.</a:t>
              </a:r>
            </a:p>
            <a:p>
              <a:endParaRPr lang="en-US" altLang="ko-KR" sz="700" dirty="0">
                <a:solidFill>
                  <a:srgbClr val="000000"/>
                </a:solidFill>
                <a:latin typeface="+mn-ea"/>
              </a:endParaRPr>
            </a:p>
            <a:p>
              <a:r>
                <a:rPr lang="en-US" altLang="ko-KR" sz="700" dirty="0">
                  <a:solidFill>
                    <a:srgbClr val="000000"/>
                  </a:solidFill>
                  <a:latin typeface="+mn-ea"/>
                </a:rPr>
                <a:t>1. A bidder who fails to meet the bond collection of the Bidding Authorities in connection with any contract.</a:t>
              </a:r>
            </a:p>
            <a:p>
              <a:r>
                <a:rPr lang="en-US" altLang="ko-KR" sz="700" dirty="0">
                  <a:solidFill>
                    <a:srgbClr val="000000"/>
                  </a:solidFill>
                  <a:latin typeface="+mn-ea"/>
                </a:rPr>
                <a:t>2. A bidder who had debarred form any bid pursuant to the Art. 76 of the Enforcement Act on Contracts to Which the State is a Party and the same sanction period has not been gone by after the expiration of the debarment.</a:t>
              </a:r>
            </a:p>
            <a:p>
              <a:r>
                <a:rPr lang="en-US" altLang="ko-KR" sz="700" dirty="0">
                  <a:solidFill>
                    <a:srgbClr val="000000"/>
                  </a:solidFill>
                  <a:latin typeface="+mn-ea"/>
                </a:rPr>
                <a:t>3. A bidder who has not been in the business for more than one(1) year as of the closing date of bid registration.</a:t>
              </a:r>
            </a:p>
            <a:p>
              <a:r>
                <a:rPr lang="en-US" altLang="ko-KR" sz="700" dirty="0">
                  <a:solidFill>
                    <a:srgbClr val="000000"/>
                  </a:solidFill>
                  <a:latin typeface="+mn-ea"/>
                </a:rPr>
                <a:t>In consideration of the DAPA granting the above mentioned exemption, we hereby irrevocably and unconditionally guarantee to pay DAPA</a:t>
              </a:r>
            </a:p>
            <a:p>
              <a:r>
                <a:rPr lang="en-US" altLang="ko-KR" sz="700" dirty="0">
                  <a:solidFill>
                    <a:srgbClr val="000000"/>
                  </a:solidFill>
                  <a:latin typeface="+mn-ea"/>
                </a:rPr>
                <a:t>US$(#</a:t>
              </a:r>
              <a:r>
                <a:rPr lang="ko-KR" altLang="en-US" sz="700" dirty="0">
                  <a:solidFill>
                    <a:srgbClr val="000000"/>
                  </a:solidFill>
                  <a:latin typeface="+mn-ea"/>
                </a:rPr>
                <a:t>보증금액</a:t>
              </a:r>
              <a:r>
                <a:rPr lang="en-US" altLang="ko-KR" sz="700" dirty="0">
                  <a:solidFill>
                    <a:srgbClr val="000000"/>
                  </a:solidFill>
                  <a:latin typeface="+mn-ea"/>
                </a:rPr>
                <a:t>) the amount which would have otherwise been established as the bid bond, within 30 days upon fail to execute the contract with DAPA after the bid is awarded to us or we do not respond timely to the evaluation formalities of the bidder's qualification if we are designated as an eligible bidder.</a:t>
              </a:r>
            </a:p>
            <a:p>
              <a:r>
                <a:rPr lang="en-US" altLang="ko-KR" sz="700" dirty="0">
                  <a:solidFill>
                    <a:srgbClr val="000000"/>
                  </a:solidFill>
                  <a:latin typeface="+mn-ea"/>
                </a:rPr>
                <a:t>We further agree that the DAPA is hereby authorized to deduct form any money due to us if we fail to make payment of such guaranteed amount</a:t>
              </a:r>
              <a:endParaRPr lang="ko-KR" altLang="en-US" sz="700" dirty="0">
                <a:solidFill>
                  <a:srgbClr val="000000"/>
                </a:solidFill>
                <a:latin typeface="+mn-ea"/>
              </a:endParaRPr>
            </a:p>
          </p:txBody>
        </p:sp>
      </p:grpSp>
      <p:sp>
        <p:nvSpPr>
          <p:cNvPr id="134" name="TextBox 133">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295289058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입찰보증금구분 변경</a:t>
            </a:r>
            <a:endParaRPr lang="en-US" altLang="ko-KR" dirty="0"/>
          </a:p>
          <a:p>
            <a:pPr marL="228600" indent="-228600">
              <a:buFont typeface="+mj-lt"/>
              <a:buAutoNum type="arabicPeriod"/>
            </a:pPr>
            <a:r>
              <a:rPr lang="ko-KR" altLang="en-US" dirty="0"/>
              <a:t>입찰참가사업 및 입찰보증금</a:t>
            </a:r>
            <a:r>
              <a:rPr lang="en-US" altLang="ko-KR" dirty="0"/>
              <a:t>(</a:t>
            </a:r>
            <a:r>
              <a:rPr lang="ko-KR" altLang="en-US" dirty="0"/>
              <a:t>보증금비면제</a:t>
            </a:r>
            <a:r>
              <a:rPr lang="en-US" altLang="ko-KR" dirty="0"/>
              <a:t>)</a:t>
            </a:r>
            <a:r>
              <a:rPr lang="ko-KR" altLang="en-US" dirty="0"/>
              <a:t> 데이터 영역</a:t>
            </a:r>
            <a:endParaRPr lang="en-US" altLang="ko-KR" dirty="0"/>
          </a:p>
          <a:p>
            <a:pPr marL="228600" indent="-228600">
              <a:buFont typeface="+mj-lt"/>
              <a:buAutoNum type="arabicPeriod"/>
            </a:pPr>
            <a:r>
              <a:rPr lang="ko-KR" altLang="en-US" dirty="0"/>
              <a:t>개별 건 입찰참가 취소</a:t>
            </a:r>
            <a:r>
              <a:rPr lang="en-US" altLang="ko-KR" dirty="0"/>
              <a:t/>
            </a:r>
            <a:br>
              <a:rPr lang="en-US" altLang="ko-KR" dirty="0"/>
            </a:br>
            <a:r>
              <a:rPr lang="en-US" altLang="ko-KR" dirty="0"/>
              <a:t>- </a:t>
            </a:r>
            <a:r>
              <a:rPr lang="ko-KR" altLang="en-US" dirty="0"/>
              <a:t>입찰참가 취소 팝업 호출</a:t>
            </a:r>
            <a:r>
              <a:rPr lang="en-US" altLang="ko-KR" dirty="0"/>
              <a:t/>
            </a:r>
            <a:br>
              <a:rPr lang="en-US" altLang="ko-KR" dirty="0"/>
            </a:br>
            <a:r>
              <a:rPr lang="en-US" altLang="ko-KR" dirty="0"/>
              <a:t>- </a:t>
            </a:r>
            <a:r>
              <a:rPr lang="ko-KR" altLang="en-US" dirty="0" err="1"/>
              <a:t>플로팅</a:t>
            </a:r>
            <a:r>
              <a:rPr lang="ko-KR" altLang="en-US" dirty="0"/>
              <a:t> 버튼으로 전체 입찰참가 취소</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350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입찰참가신청서상세 </a:t>
            </a:r>
            <a:r>
              <a:rPr lang="en-US" altLang="ko-KR" dirty="0">
                <a:latin typeface="+mn-ea"/>
              </a:rPr>
              <a:t>– </a:t>
            </a:r>
            <a:r>
              <a:rPr lang="ko-KR" altLang="en-US" dirty="0">
                <a:latin typeface="+mn-ea"/>
              </a:rPr>
              <a:t>입찰 보증금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fontAlgn="ctr">
              <a:lnSpc>
                <a:spcPct val="100000"/>
              </a:lnSpc>
              <a:spcBef>
                <a:spcPts val="0"/>
              </a:spcBef>
              <a:defRPr/>
            </a:pPr>
            <a:r>
              <a:rPr lang="ko-KR" altLang="en-US" dirty="0">
                <a:solidFill>
                  <a:srgbClr val="000000"/>
                </a:solidFill>
                <a:latin typeface="맑은 고딕" panose="020B0503020000020004" pitchFamily="50" charset="-127"/>
              </a:rPr>
              <a:t>업체담당자가 제출한 입찰참가신청서를 조회하는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 </a:t>
            </a:r>
            <a:r>
              <a:rPr lang="ko-KR" altLang="en-US" dirty="0">
                <a:latin typeface="+mn-ea"/>
              </a:rPr>
              <a:t>입찰 보증금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MUI-BD-04-M80</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835170"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38081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841315"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3884993"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4439456"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4980963"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682357"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4956346"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44911" y="2163124"/>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3" name="직선 연결선 14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0" name="그룹 139"/>
            <p:cNvGrpSpPr/>
            <p:nvPr/>
          </p:nvGrpSpPr>
          <p:grpSpPr>
            <a:xfrm rot="16200000">
              <a:off x="3931564" y="2305364"/>
              <a:ext cx="94010" cy="47005"/>
              <a:chOff x="6812560" y="3297172"/>
              <a:chExt cx="94010" cy="47005"/>
            </a:xfrm>
          </p:grpSpPr>
          <p:cxnSp>
            <p:nvCxnSpPr>
              <p:cNvPr id="141" name="직선 연결선 1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2" name="직선 연결선 1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9" name="TextBox 148">
            <a:extLst>
              <a:ext uri="{FF2B5EF4-FFF2-40B4-BE49-F238E27FC236}">
                <a16:creationId xmlns:a16="http://schemas.microsoft.com/office/drawing/2014/main" id="{FFC49AEA-2A8F-250C-A86A-A7751D9706C3}"/>
              </a:ext>
            </a:extLst>
          </p:cNvPr>
          <p:cNvSpPr txBox="1"/>
          <p:nvPr/>
        </p:nvSpPr>
        <p:spPr>
          <a:xfrm>
            <a:off x="781109" y="2484624"/>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입찰보증금 구분</a:t>
            </a:r>
          </a:p>
        </p:txBody>
      </p:sp>
      <p:grpSp>
        <p:nvGrpSpPr>
          <p:cNvPr id="5" name="그룹 4"/>
          <p:cNvGrpSpPr/>
          <p:nvPr/>
        </p:nvGrpSpPr>
        <p:grpSpPr>
          <a:xfrm>
            <a:off x="761464" y="2743785"/>
            <a:ext cx="2533305" cy="162000"/>
            <a:chOff x="1847952" y="2743785"/>
            <a:chExt cx="1446817" cy="162000"/>
          </a:xfrm>
        </p:grpSpPr>
        <p:sp>
          <p:nvSpPr>
            <p:cNvPr id="101" name="사각형: 둥근 모서리 15">
              <a:extLst>
                <a:ext uri="{FF2B5EF4-FFF2-40B4-BE49-F238E27FC236}">
                  <a16:creationId xmlns:a16="http://schemas.microsoft.com/office/drawing/2014/main" id="{E2B61CFB-AD16-68D0-8752-50D9C5E01971}"/>
                </a:ext>
              </a:extLst>
            </p:cNvPr>
            <p:cNvSpPr/>
            <p:nvPr/>
          </p:nvSpPr>
          <p:spPr>
            <a:xfrm>
              <a:off x="2602430" y="2743785"/>
              <a:ext cx="692339"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보증금 </a:t>
              </a:r>
              <a:r>
                <a:rPr kumimoji="1" lang="ko-KR" altLang="en-US" sz="700" kern="0" dirty="0" err="1">
                  <a:latin typeface="맑은 고딕"/>
                  <a:ea typeface="맑은 고딕" panose="020B0503020000020004" pitchFamily="50" charset="-127"/>
                </a:rPr>
                <a:t>비면제</a:t>
              </a:r>
              <a:endParaRPr kumimoji="1" lang="en-US" sz="700" b="0" i="0" u="none" strike="noStrike" kern="0" cap="none" spc="0" normalizeH="0" baseline="0" noProof="0" dirty="0">
                <a:ln>
                  <a:noFill/>
                </a:ln>
                <a:effectLst/>
                <a:uLnTx/>
                <a:uFillTx/>
                <a:latin typeface="맑은 고딕"/>
              </a:endParaRPr>
            </a:p>
          </p:txBody>
        </p:sp>
        <p:sp>
          <p:nvSpPr>
            <p:cNvPr id="150" name="사각형: 둥근 모서리 15">
              <a:extLst>
                <a:ext uri="{FF2B5EF4-FFF2-40B4-BE49-F238E27FC236}">
                  <a16:creationId xmlns:a16="http://schemas.microsoft.com/office/drawing/2014/main" id="{E2B61CFB-AD16-68D0-8752-50D9C5E01971}"/>
                </a:ext>
              </a:extLst>
            </p:cNvPr>
            <p:cNvSpPr/>
            <p:nvPr/>
          </p:nvSpPr>
          <p:spPr>
            <a:xfrm>
              <a:off x="1847952" y="2743785"/>
              <a:ext cx="692339"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보증금 면제</a:t>
              </a:r>
              <a:endParaRPr kumimoji="1" lang="en-US" sz="700" b="0" i="0" u="none" strike="noStrike" kern="0" cap="none" spc="0" normalizeH="0" baseline="0" noProof="0" dirty="0">
                <a:ln>
                  <a:noFill/>
                </a:ln>
                <a:solidFill>
                  <a:srgbClr val="0070C0"/>
                </a:solidFill>
                <a:effectLst/>
                <a:uLnTx/>
                <a:uFillTx/>
                <a:latin typeface="맑은 고딕"/>
              </a:endParaRPr>
            </a:p>
          </p:txBody>
        </p:sp>
      </p:grpSp>
      <p:cxnSp>
        <p:nvCxnSpPr>
          <p:cNvPr id="155" name="직선 연결선 154">
            <a:extLst>
              <a:ext uri="{FF2B5EF4-FFF2-40B4-BE49-F238E27FC236}">
                <a16:creationId xmlns:a16="http://schemas.microsoft.com/office/drawing/2014/main" id="{E9293055-D5CD-4B9E-7F64-64B2D2CA7A52}"/>
              </a:ext>
            </a:extLst>
          </p:cNvPr>
          <p:cNvCxnSpPr/>
          <p:nvPr/>
        </p:nvCxnSpPr>
        <p:spPr>
          <a:xfrm>
            <a:off x="680270" y="30173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p:cNvSpPr/>
          <p:nvPr/>
        </p:nvSpPr>
        <p:spPr>
          <a:xfrm flipH="1">
            <a:off x="822037" y="2767369"/>
            <a:ext cx="114833" cy="114833"/>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p:cNvSpPr txBox="1"/>
          <p:nvPr/>
        </p:nvSpPr>
        <p:spPr>
          <a:xfrm>
            <a:off x="763817" y="2728554"/>
            <a:ext cx="242374" cy="200055"/>
          </a:xfrm>
          <a:prstGeom prst="rect">
            <a:avLst/>
          </a:prstGeom>
          <a:noFill/>
        </p:spPr>
        <p:txBody>
          <a:bodyPr wrap="none" rtlCol="0">
            <a:spAutoFit/>
          </a:bodyPr>
          <a:lstStyle/>
          <a:p>
            <a:r>
              <a:rPr lang="ko-KR" altLang="en-US" sz="700" dirty="0"/>
              <a:t>⩗</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3070896"/>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입찰참가사업 및 입찰보증금</a:t>
            </a:r>
          </a:p>
        </p:txBody>
      </p:sp>
      <p:sp>
        <p:nvSpPr>
          <p:cNvPr id="169" name="직사각형 168"/>
          <p:cNvSpPr/>
          <p:nvPr/>
        </p:nvSpPr>
        <p:spPr>
          <a:xfrm>
            <a:off x="722232" y="3378382"/>
            <a:ext cx="792000" cy="193899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378381"/>
            <a:ext cx="725552" cy="1938992"/>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입찰품목수</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입찰보증금</a:t>
            </a:r>
          </a:p>
          <a:p>
            <a:pPr>
              <a:lnSpc>
                <a:spcPct val="200000"/>
              </a:lnSpc>
            </a:pPr>
            <a:endParaRPr lang="en-US" altLang="ko-KR" sz="700" dirty="0">
              <a:latin typeface="+mn-ea"/>
            </a:endParaRPr>
          </a:p>
          <a:p>
            <a:pPr>
              <a:lnSpc>
                <a:spcPct val="200000"/>
              </a:lnSpc>
            </a:pPr>
            <a:r>
              <a:rPr lang="ko-KR" altLang="en-US" sz="700" dirty="0" err="1">
                <a:latin typeface="+mn-ea"/>
              </a:rPr>
              <a:t>연대보증서</a:t>
            </a:r>
            <a:endParaRPr lang="ko-KR" altLang="en-US" sz="700" dirty="0">
              <a:latin typeface="+mn-ea"/>
            </a:endParaRPr>
          </a:p>
          <a:p>
            <a:pPr>
              <a:lnSpc>
                <a:spcPct val="200000"/>
              </a:lnSpc>
            </a:pPr>
            <a:r>
              <a:rPr lang="ko-KR" altLang="en-US" sz="700" dirty="0" err="1">
                <a:latin typeface="+mn-ea"/>
              </a:rPr>
              <a:t>지급각서</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378381"/>
            <a:ext cx="1784088" cy="193899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0000 0000 00</a:t>
            </a:r>
          </a:p>
          <a:p>
            <a:pPr>
              <a:lnSpc>
                <a:spcPct val="200000"/>
              </a:lnSpc>
            </a:pPr>
            <a:r>
              <a:rPr lang="ko-KR" altLang="en-US" sz="700" dirty="0" err="1">
                <a:latin typeface="+mn-ea"/>
              </a:rPr>
              <a:t>사업명칭</a:t>
            </a:r>
            <a:r>
              <a:rPr lang="ko-KR" altLang="en-US" sz="700" dirty="0">
                <a:latin typeface="+mn-ea"/>
              </a:rPr>
              <a:t> 표시</a:t>
            </a:r>
            <a:endParaRPr lang="en-US" altLang="ko-KR" sz="700" dirty="0">
              <a:latin typeface="+mn-ea"/>
            </a:endParaRPr>
          </a:p>
          <a:p>
            <a:pPr>
              <a:lnSpc>
                <a:spcPct val="200000"/>
              </a:lnSpc>
            </a:pPr>
            <a:r>
              <a:rPr lang="en-US" altLang="ko-KR" sz="700" dirty="0">
                <a:latin typeface="+mn-ea"/>
              </a:rPr>
              <a:t>6</a:t>
            </a:r>
          </a:p>
          <a:p>
            <a:pPr algn="r">
              <a:lnSpc>
                <a:spcPct val="200000"/>
              </a:lnSpc>
            </a:pPr>
            <a:r>
              <a:rPr lang="en-US" altLang="ko-KR" sz="700" dirty="0">
                <a:latin typeface="+mn-ea"/>
              </a:rPr>
              <a:t>000,000,000,000.00</a:t>
            </a:r>
          </a:p>
          <a:p>
            <a:pPr algn="r">
              <a:lnSpc>
                <a:spcPct val="200000"/>
              </a:lnSpc>
            </a:pPr>
            <a:r>
              <a:rPr lang="en-US" altLang="ko-KR" sz="700" dirty="0">
                <a:latin typeface="+mn-ea"/>
              </a:rPr>
              <a:t>000,000,000,000.00</a:t>
            </a:r>
          </a:p>
          <a:p>
            <a:pPr algn="r">
              <a:lnSpc>
                <a:spcPct val="200000"/>
              </a:lnSpc>
            </a:pPr>
            <a:r>
              <a:rPr lang="en-US" altLang="ko-KR" sz="700" dirty="0">
                <a:latin typeface="+mn-ea"/>
              </a:rPr>
              <a:t>000,000,000,000.00</a:t>
            </a:r>
          </a:p>
          <a:p>
            <a:pPr>
              <a:lnSpc>
                <a:spcPct val="200000"/>
              </a:lnSpc>
            </a:pPr>
            <a:r>
              <a:rPr lang="en-US" altLang="ko-KR" sz="700" dirty="0">
                <a:solidFill>
                  <a:srgbClr val="0070C0"/>
                </a:solidFill>
                <a:latin typeface="+mn-ea"/>
              </a:rPr>
              <a:t>File.pdf</a:t>
            </a:r>
          </a:p>
          <a:p>
            <a:pPr>
              <a:lnSpc>
                <a:spcPct val="200000"/>
              </a:lnSpc>
            </a:pPr>
            <a:r>
              <a:rPr lang="en-US" altLang="ko-KR" sz="700" dirty="0">
                <a:solidFill>
                  <a:srgbClr val="0070C0"/>
                </a:solidFill>
                <a:latin typeface="+mn-ea"/>
              </a:rPr>
              <a:t>File.pdf</a:t>
            </a:r>
          </a:p>
        </p:txBody>
      </p:sp>
      <p:grpSp>
        <p:nvGrpSpPr>
          <p:cNvPr id="172" name="그룹 171"/>
          <p:cNvGrpSpPr/>
          <p:nvPr/>
        </p:nvGrpSpPr>
        <p:grpSpPr>
          <a:xfrm>
            <a:off x="720139" y="3378381"/>
            <a:ext cx="2630093" cy="1939635"/>
            <a:chOff x="701175" y="1835481"/>
            <a:chExt cx="2630093" cy="1939635"/>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직선 연결선 155">
              <a:extLst>
                <a:ext uri="{FF2B5EF4-FFF2-40B4-BE49-F238E27FC236}">
                  <a16:creationId xmlns:a16="http://schemas.microsoft.com/office/drawing/2014/main" id="{E9293055-D5CD-4B9E-7F64-64B2D2CA7A52}"/>
                </a:ext>
              </a:extLst>
            </p:cNvPr>
            <p:cNvCxnSpPr/>
            <p:nvPr/>
          </p:nvCxnSpPr>
          <p:spPr>
            <a:xfrm>
              <a:off x="703268" y="35577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6" name="직선 연결선 185">
              <a:extLst>
                <a:ext uri="{FF2B5EF4-FFF2-40B4-BE49-F238E27FC236}">
                  <a16:creationId xmlns:a16="http://schemas.microsoft.com/office/drawing/2014/main" id="{E9293055-D5CD-4B9E-7F64-64B2D2CA7A52}"/>
                </a:ext>
              </a:extLst>
            </p:cNvPr>
            <p:cNvCxnSpPr/>
            <p:nvPr/>
          </p:nvCxnSpPr>
          <p:spPr>
            <a:xfrm>
              <a:off x="703268" y="377511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0" name="TextBox 159">
            <a:extLst>
              <a:ext uri="{FF2B5EF4-FFF2-40B4-BE49-F238E27FC236}">
                <a16:creationId xmlns:a16="http://schemas.microsoft.com/office/drawing/2014/main" id="{FFC49AEA-2A8F-250C-A86A-A7751D9706C3}"/>
              </a:ext>
            </a:extLst>
          </p:cNvPr>
          <p:cNvSpPr txBox="1"/>
          <p:nvPr/>
        </p:nvSpPr>
        <p:spPr>
          <a:xfrm>
            <a:off x="809295" y="4664865"/>
            <a:ext cx="725552" cy="215444"/>
          </a:xfrm>
          <a:prstGeom prst="rect">
            <a:avLst/>
          </a:prstGeom>
          <a:noFill/>
        </p:spPr>
        <p:txBody>
          <a:bodyPr wrap="square" lIns="0" tIns="0" rIns="0" bIns="0" rtlCol="0">
            <a:spAutoFit/>
          </a:bodyPr>
          <a:lstStyle/>
          <a:p>
            <a:r>
              <a:rPr lang="ko-KR" altLang="en-US" sz="700" dirty="0">
                <a:latin typeface="+mn-ea"/>
              </a:rPr>
              <a:t>입찰보증금</a:t>
            </a:r>
            <a:endParaRPr lang="en-US" altLang="ko-KR" sz="700" dirty="0">
              <a:latin typeface="+mn-ea"/>
            </a:endParaRPr>
          </a:p>
          <a:p>
            <a:r>
              <a:rPr lang="en-US" altLang="ko-KR" sz="700" dirty="0">
                <a:latin typeface="+mn-ea"/>
              </a:rPr>
              <a:t>(</a:t>
            </a:r>
            <a:r>
              <a:rPr lang="ko-KR" altLang="en-US" sz="700" dirty="0" err="1">
                <a:latin typeface="+mn-ea"/>
              </a:rPr>
              <a:t>확인입력</a:t>
            </a:r>
            <a:r>
              <a:rPr lang="en-US" altLang="ko-KR" sz="700" dirty="0">
                <a:latin typeface="+mn-ea"/>
              </a:rPr>
              <a:t>)</a:t>
            </a:r>
          </a:p>
        </p:txBody>
      </p:sp>
      <p:sp>
        <p:nvSpPr>
          <p:cNvPr id="168" name="타원 167">
            <a:extLst>
              <a:ext uri="{FF2B5EF4-FFF2-40B4-BE49-F238E27FC236}">
                <a16:creationId xmlns:a16="http://schemas.microsoft.com/office/drawing/2014/main" id="{37A7FF4F-0EAA-1463-560A-D5EC24416103}"/>
              </a:ext>
            </a:extLst>
          </p:cNvPr>
          <p:cNvSpPr/>
          <p:nvPr/>
        </p:nvSpPr>
        <p:spPr>
          <a:xfrm>
            <a:off x="589334" y="340126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91" name="TextBox 19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92" name="TextBox 191">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00" name="사각형: 둥근 모서리 15">
            <a:extLst>
              <a:ext uri="{FF2B5EF4-FFF2-40B4-BE49-F238E27FC236}">
                <a16:creationId xmlns:a16="http://schemas.microsoft.com/office/drawing/2014/main" id="{E2B61CFB-AD16-68D0-8752-50D9C5E01971}"/>
              </a:ext>
            </a:extLst>
          </p:cNvPr>
          <p:cNvSpPr/>
          <p:nvPr/>
        </p:nvSpPr>
        <p:spPr>
          <a:xfrm>
            <a:off x="2923735" y="5131583"/>
            <a:ext cx="421506" cy="154884"/>
          </a:xfrm>
          <a:prstGeom prst="roundRect">
            <a:avLst/>
          </a:prstGeom>
          <a:noFill/>
          <a:ln w="3175"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a:solidFill>
                  <a:srgbClr val="0070C0"/>
                </a:solidFill>
                <a:latin typeface="맑은 고딕"/>
                <a:ea typeface="맑은 고딕" panose="020B0503020000020004" pitchFamily="50" charset="-127"/>
              </a:rPr>
              <a:t>다운로드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3" name="사각형: 둥근 모서리 15">
            <a:extLst>
              <a:ext uri="{FF2B5EF4-FFF2-40B4-BE49-F238E27FC236}">
                <a16:creationId xmlns:a16="http://schemas.microsoft.com/office/drawing/2014/main" id="{E2B61CFB-AD16-68D0-8752-50D9C5E01971}"/>
              </a:ext>
            </a:extLst>
          </p:cNvPr>
          <p:cNvSpPr/>
          <p:nvPr/>
        </p:nvSpPr>
        <p:spPr>
          <a:xfrm>
            <a:off x="2923735" y="4910914"/>
            <a:ext cx="421506" cy="154884"/>
          </a:xfrm>
          <a:prstGeom prst="roundRect">
            <a:avLst/>
          </a:prstGeom>
          <a:noFill/>
          <a:ln w="3175"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a:solidFill>
                  <a:srgbClr val="0070C0"/>
                </a:solidFill>
                <a:latin typeface="맑은 고딕"/>
                <a:ea typeface="맑은 고딕" panose="020B0503020000020004" pitchFamily="50" charset="-127"/>
              </a:rPr>
              <a:t>다운로드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04" name="사각형: 둥근 모서리 15">
            <a:extLst>
              <a:ext uri="{FF2B5EF4-FFF2-40B4-BE49-F238E27FC236}">
                <a16:creationId xmlns:a16="http://schemas.microsoft.com/office/drawing/2014/main" id="{E2B61CFB-AD16-68D0-8752-50D9C5E01971}"/>
              </a:ext>
            </a:extLst>
          </p:cNvPr>
          <p:cNvSpPr/>
          <p:nvPr/>
        </p:nvSpPr>
        <p:spPr>
          <a:xfrm>
            <a:off x="3825376" y="5923068"/>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05" name="사각형: 둥근 모서리 15">
            <a:extLst>
              <a:ext uri="{FF2B5EF4-FFF2-40B4-BE49-F238E27FC236}">
                <a16:creationId xmlns:a16="http://schemas.microsoft.com/office/drawing/2014/main" id="{E2B61CFB-AD16-68D0-8752-50D9C5E01971}"/>
              </a:ext>
            </a:extLst>
          </p:cNvPr>
          <p:cNvSpPr/>
          <p:nvPr/>
        </p:nvSpPr>
        <p:spPr>
          <a:xfrm>
            <a:off x="2538970" y="3411419"/>
            <a:ext cx="806271"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a:latin typeface="맑은 고딕"/>
                <a:ea typeface="맑은 고딕" panose="020B0503020000020004" pitchFamily="50" charset="-127"/>
              </a:rPr>
              <a:t>개별 입찰참가취소</a:t>
            </a:r>
            <a:endParaRPr kumimoji="1" lang="en-US" sz="7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06" name="타원 105">
            <a:extLst>
              <a:ext uri="{FF2B5EF4-FFF2-40B4-BE49-F238E27FC236}">
                <a16:creationId xmlns:a16="http://schemas.microsoft.com/office/drawing/2014/main" id="{37A7FF4F-0EAA-1463-560A-D5EC24416103}"/>
              </a:ext>
            </a:extLst>
          </p:cNvPr>
          <p:cNvSpPr/>
          <p:nvPr/>
        </p:nvSpPr>
        <p:spPr>
          <a:xfrm>
            <a:off x="3384808" y="340126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2666363545"/>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입찰보증금구분 변경</a:t>
            </a:r>
            <a:endParaRPr lang="en-US" altLang="ko-KR" dirty="0"/>
          </a:p>
          <a:p>
            <a:pPr marL="228600" indent="-228600">
              <a:buFont typeface="+mj-lt"/>
              <a:buAutoNum type="arabicPeriod"/>
            </a:pPr>
            <a:r>
              <a:rPr lang="ko-KR" altLang="en-US" dirty="0"/>
              <a:t>입찰참가사업 및 입찰보증금</a:t>
            </a:r>
            <a:r>
              <a:rPr lang="en-US" altLang="ko-KR" dirty="0"/>
              <a:t>(</a:t>
            </a:r>
            <a:r>
              <a:rPr lang="ko-KR" altLang="en-US" dirty="0"/>
              <a:t>보증금비면제</a:t>
            </a:r>
            <a:r>
              <a:rPr lang="en-US" altLang="ko-KR" dirty="0"/>
              <a:t>)</a:t>
            </a:r>
            <a:r>
              <a:rPr lang="ko-KR" altLang="en-US" dirty="0"/>
              <a:t> 데이터 영역</a:t>
            </a:r>
            <a:endParaRPr lang="en-US" altLang="ko-KR" dirty="0"/>
          </a:p>
          <a:p>
            <a:pPr marL="228600" indent="-228600">
              <a:buFont typeface="+mj-lt"/>
              <a:buAutoNum type="arabicPeriod"/>
            </a:pPr>
            <a:r>
              <a:rPr lang="ko-KR" altLang="en-US" dirty="0"/>
              <a:t>개별 건 입찰참가 취소</a:t>
            </a:r>
            <a:r>
              <a:rPr lang="en-US" altLang="ko-KR" dirty="0"/>
              <a:t/>
            </a:r>
            <a:br>
              <a:rPr lang="en-US" altLang="ko-KR" dirty="0"/>
            </a:br>
            <a:r>
              <a:rPr lang="en-US" altLang="ko-KR" dirty="0"/>
              <a:t>- </a:t>
            </a:r>
            <a:r>
              <a:rPr lang="ko-KR" altLang="en-US" dirty="0"/>
              <a:t>입찰참가 취소 팝업 호출</a:t>
            </a:r>
            <a:r>
              <a:rPr lang="en-US" altLang="ko-KR" dirty="0"/>
              <a:t/>
            </a:r>
            <a:br>
              <a:rPr lang="en-US" altLang="ko-KR" dirty="0"/>
            </a:br>
            <a:r>
              <a:rPr lang="en-US" altLang="ko-KR" dirty="0"/>
              <a:t>- </a:t>
            </a:r>
            <a:r>
              <a:rPr lang="ko-KR" altLang="en-US" dirty="0" err="1"/>
              <a:t>플로팅</a:t>
            </a:r>
            <a:r>
              <a:rPr lang="ko-KR" altLang="en-US" dirty="0"/>
              <a:t> 버튼으로 전체 입찰참가 취소</a:t>
            </a:r>
            <a:endParaRPr lang="en-US" altLang="ko-KR" dirty="0"/>
          </a:p>
          <a:p>
            <a:pPr marL="228600" indent="-228600">
              <a:buFont typeface="+mj-lt"/>
              <a:buAutoNum type="arabicPeriod"/>
            </a:pPr>
            <a:r>
              <a:rPr lang="ko-KR" altLang="en-US" dirty="0" err="1"/>
              <a:t>보증서선택</a:t>
            </a:r>
            <a:r>
              <a:rPr lang="ko-KR" altLang="en-US" dirty="0"/>
              <a:t> 클릭 이벤트</a:t>
            </a:r>
            <a:r>
              <a:rPr lang="en-US" altLang="ko-KR" dirty="0"/>
              <a:t/>
            </a:r>
            <a:br>
              <a:rPr lang="en-US" altLang="ko-KR" dirty="0"/>
            </a:br>
            <a:r>
              <a:rPr lang="en-US" altLang="ko-KR" dirty="0"/>
              <a:t>- </a:t>
            </a:r>
            <a:r>
              <a:rPr lang="ko-KR" altLang="en-US" dirty="0"/>
              <a:t>전자보증서인 경우 팝업 호출</a:t>
            </a:r>
            <a:r>
              <a:rPr lang="en-US" altLang="ko-KR" dirty="0"/>
              <a:t/>
            </a:r>
            <a:br>
              <a:rPr lang="en-US" altLang="ko-KR" dirty="0"/>
            </a:br>
            <a:r>
              <a:rPr lang="en-US" altLang="ko-KR" dirty="0"/>
              <a:t>- </a:t>
            </a:r>
            <a:r>
              <a:rPr lang="ko-KR" altLang="en-US" dirty="0"/>
              <a:t>보증보험인 경우 파일 선택 업로드</a:t>
            </a:r>
            <a:endParaRPr lang="en-US" altLang="ko-KR" dirty="0"/>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351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입찰참가신청서상세 </a:t>
            </a:r>
            <a:r>
              <a:rPr lang="en-US" altLang="ko-KR" dirty="0">
                <a:latin typeface="+mn-ea"/>
              </a:rPr>
              <a:t>– </a:t>
            </a:r>
            <a:r>
              <a:rPr lang="ko-KR" altLang="en-US" dirty="0">
                <a:latin typeface="+mn-ea"/>
              </a:rPr>
              <a:t>입찰 보증금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fontAlgn="ctr">
              <a:lnSpc>
                <a:spcPct val="100000"/>
              </a:lnSpc>
              <a:spcBef>
                <a:spcPts val="0"/>
              </a:spcBef>
              <a:defRPr/>
            </a:pPr>
            <a:r>
              <a:rPr lang="ko-KR" altLang="en-US" dirty="0">
                <a:solidFill>
                  <a:srgbClr val="000000"/>
                </a:solidFill>
                <a:latin typeface="맑은 고딕" panose="020B0503020000020004" pitchFamily="50" charset="-127"/>
              </a:rPr>
              <a:t>업체담당자가 제출한 입찰참가신청서를 조회하는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 </a:t>
            </a:r>
            <a:r>
              <a:rPr lang="ko-KR" altLang="en-US" dirty="0">
                <a:latin typeface="+mn-ea"/>
              </a:rPr>
              <a:t>입찰 보증금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MUI-BD-04-M80</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763817"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1318280"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331" name="TextBox 330">
            <a:extLst>
              <a:ext uri="{FF2B5EF4-FFF2-40B4-BE49-F238E27FC236}">
                <a16:creationId xmlns:a16="http://schemas.microsoft.com/office/drawing/2014/main" id="{FFC49AEA-2A8F-250C-A86A-A7751D9706C3}"/>
              </a:ext>
            </a:extLst>
          </p:cNvPr>
          <p:cNvSpPr txBox="1"/>
          <p:nvPr/>
        </p:nvSpPr>
        <p:spPr>
          <a:xfrm>
            <a:off x="1859787"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332" name="TextBox 331">
            <a:extLst>
              <a:ext uri="{FF2B5EF4-FFF2-40B4-BE49-F238E27FC236}">
                <a16:creationId xmlns:a16="http://schemas.microsoft.com/office/drawing/2014/main" id="{FFC49AEA-2A8F-250C-A86A-A7751D9706C3}"/>
              </a:ext>
            </a:extLst>
          </p:cNvPr>
          <p:cNvSpPr txBox="1"/>
          <p:nvPr/>
        </p:nvSpPr>
        <p:spPr>
          <a:xfrm>
            <a:off x="2561181"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1835170"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846844"/>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923068"/>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cxnSp>
        <p:nvCxnSpPr>
          <p:cNvPr id="130" name="직선 연결선 129">
            <a:extLst>
              <a:ext uri="{FF2B5EF4-FFF2-40B4-BE49-F238E27FC236}">
                <a16:creationId xmlns:a16="http://schemas.microsoft.com/office/drawing/2014/main" id="{E9293055-D5CD-4B9E-7F64-64B2D2CA7A52}"/>
              </a:ext>
            </a:extLst>
          </p:cNvPr>
          <p:cNvCxnSpPr/>
          <p:nvPr/>
        </p:nvCxnSpPr>
        <p:spPr>
          <a:xfrm>
            <a:off x="3841315"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1" name="TextBox 130">
            <a:extLst>
              <a:ext uri="{FF2B5EF4-FFF2-40B4-BE49-F238E27FC236}">
                <a16:creationId xmlns:a16="http://schemas.microsoft.com/office/drawing/2014/main" id="{FFC49AEA-2A8F-250C-A86A-A7751D9706C3}"/>
              </a:ext>
            </a:extLst>
          </p:cNvPr>
          <p:cNvSpPr txBox="1"/>
          <p:nvPr/>
        </p:nvSpPr>
        <p:spPr>
          <a:xfrm>
            <a:off x="3884993" y="2201247"/>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2" name="TextBox 131">
            <a:extLst>
              <a:ext uri="{FF2B5EF4-FFF2-40B4-BE49-F238E27FC236}">
                <a16:creationId xmlns:a16="http://schemas.microsoft.com/office/drawing/2014/main" id="{FFC49AEA-2A8F-250C-A86A-A7751D9706C3}"/>
              </a:ext>
            </a:extLst>
          </p:cNvPr>
          <p:cNvSpPr txBox="1"/>
          <p:nvPr/>
        </p:nvSpPr>
        <p:spPr>
          <a:xfrm>
            <a:off x="4439456" y="2201247"/>
            <a:ext cx="46693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4980963" y="2201247"/>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입찰 보증금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682357" y="2201247"/>
            <a:ext cx="546219"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4956346" y="2417854"/>
            <a:ext cx="6410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44911" y="2163124"/>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3" name="직선 연결선 14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4" name="직선 연결선 14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0" name="그룹 139"/>
            <p:cNvGrpSpPr/>
            <p:nvPr/>
          </p:nvGrpSpPr>
          <p:grpSpPr>
            <a:xfrm rot="16200000">
              <a:off x="3931564" y="2305364"/>
              <a:ext cx="94010" cy="47005"/>
              <a:chOff x="6812560" y="3297172"/>
              <a:chExt cx="94010" cy="47005"/>
            </a:xfrm>
          </p:grpSpPr>
          <p:cxnSp>
            <p:nvCxnSpPr>
              <p:cNvPr id="141" name="직선 연결선 1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2" name="직선 연결선 1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9" name="TextBox 148">
            <a:extLst>
              <a:ext uri="{FF2B5EF4-FFF2-40B4-BE49-F238E27FC236}">
                <a16:creationId xmlns:a16="http://schemas.microsoft.com/office/drawing/2014/main" id="{FFC49AEA-2A8F-250C-A86A-A7751D9706C3}"/>
              </a:ext>
            </a:extLst>
          </p:cNvPr>
          <p:cNvSpPr txBox="1"/>
          <p:nvPr/>
        </p:nvSpPr>
        <p:spPr>
          <a:xfrm>
            <a:off x="781109" y="2484624"/>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입찰보증금 구분</a:t>
            </a:r>
          </a:p>
        </p:txBody>
      </p:sp>
      <p:grpSp>
        <p:nvGrpSpPr>
          <p:cNvPr id="5" name="그룹 4"/>
          <p:cNvGrpSpPr/>
          <p:nvPr/>
        </p:nvGrpSpPr>
        <p:grpSpPr>
          <a:xfrm>
            <a:off x="761464" y="2743785"/>
            <a:ext cx="2533305" cy="162000"/>
            <a:chOff x="1847952" y="2743785"/>
            <a:chExt cx="1446817" cy="162000"/>
          </a:xfrm>
        </p:grpSpPr>
        <p:sp>
          <p:nvSpPr>
            <p:cNvPr id="101" name="사각형: 둥근 모서리 15">
              <a:extLst>
                <a:ext uri="{FF2B5EF4-FFF2-40B4-BE49-F238E27FC236}">
                  <a16:creationId xmlns:a16="http://schemas.microsoft.com/office/drawing/2014/main" id="{E2B61CFB-AD16-68D0-8752-50D9C5E01971}"/>
                </a:ext>
              </a:extLst>
            </p:cNvPr>
            <p:cNvSpPr/>
            <p:nvPr/>
          </p:nvSpPr>
          <p:spPr>
            <a:xfrm>
              <a:off x="2602430" y="2743785"/>
              <a:ext cx="692339" cy="162000"/>
            </a:xfrm>
            <a:prstGeom prst="roundRect">
              <a:avLst/>
            </a:prstGeom>
            <a:noFill/>
            <a:ln w="3175" cap="flat" cmpd="sng" algn="ctr">
              <a:solidFill>
                <a:srgbClr val="0070C0"/>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rgbClr val="0070C0"/>
                  </a:solidFill>
                  <a:latin typeface="맑은 고딕"/>
                  <a:ea typeface="맑은 고딕" panose="020B0503020000020004" pitchFamily="50" charset="-127"/>
                </a:rPr>
                <a:t>보증금 </a:t>
              </a:r>
              <a:r>
                <a:rPr kumimoji="1" lang="ko-KR" altLang="en-US" sz="700" kern="0" dirty="0" err="1">
                  <a:solidFill>
                    <a:srgbClr val="0070C0"/>
                  </a:solidFill>
                  <a:latin typeface="맑은 고딕"/>
                  <a:ea typeface="맑은 고딕" panose="020B0503020000020004" pitchFamily="50" charset="-127"/>
                </a:rPr>
                <a:t>비면제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50" name="사각형: 둥근 모서리 15">
              <a:extLst>
                <a:ext uri="{FF2B5EF4-FFF2-40B4-BE49-F238E27FC236}">
                  <a16:creationId xmlns:a16="http://schemas.microsoft.com/office/drawing/2014/main" id="{E2B61CFB-AD16-68D0-8752-50D9C5E01971}"/>
                </a:ext>
              </a:extLst>
            </p:cNvPr>
            <p:cNvSpPr/>
            <p:nvPr/>
          </p:nvSpPr>
          <p:spPr>
            <a:xfrm>
              <a:off x="1847952" y="2743785"/>
              <a:ext cx="692339"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보증금 면제</a:t>
              </a:r>
              <a:endParaRPr kumimoji="1" lang="en-US" sz="700" b="0" i="0" u="none" strike="noStrike" kern="0" cap="none" spc="0" normalizeH="0" baseline="0" noProof="0" dirty="0">
                <a:ln>
                  <a:noFill/>
                </a:ln>
                <a:effectLst/>
                <a:uLnTx/>
                <a:uFillTx/>
                <a:latin typeface="맑은 고딕"/>
              </a:endParaRPr>
            </a:p>
          </p:txBody>
        </p:sp>
      </p:grpSp>
      <p:cxnSp>
        <p:nvCxnSpPr>
          <p:cNvPr id="155" name="직선 연결선 154">
            <a:extLst>
              <a:ext uri="{FF2B5EF4-FFF2-40B4-BE49-F238E27FC236}">
                <a16:creationId xmlns:a16="http://schemas.microsoft.com/office/drawing/2014/main" id="{E9293055-D5CD-4B9E-7F64-64B2D2CA7A52}"/>
              </a:ext>
            </a:extLst>
          </p:cNvPr>
          <p:cNvCxnSpPr/>
          <p:nvPr/>
        </p:nvCxnSpPr>
        <p:spPr>
          <a:xfrm>
            <a:off x="680270" y="301732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타원 160"/>
          <p:cNvSpPr/>
          <p:nvPr/>
        </p:nvSpPr>
        <p:spPr>
          <a:xfrm flipH="1">
            <a:off x="2126891" y="2767369"/>
            <a:ext cx="114833" cy="114833"/>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p:cNvSpPr txBox="1"/>
          <p:nvPr/>
        </p:nvSpPr>
        <p:spPr>
          <a:xfrm>
            <a:off x="2068671" y="2728554"/>
            <a:ext cx="242374" cy="200055"/>
          </a:xfrm>
          <a:prstGeom prst="rect">
            <a:avLst/>
          </a:prstGeom>
          <a:noFill/>
        </p:spPr>
        <p:txBody>
          <a:bodyPr wrap="none" rtlCol="0">
            <a:spAutoFit/>
          </a:bodyPr>
          <a:lstStyle/>
          <a:p>
            <a:r>
              <a:rPr lang="ko-KR" altLang="en-US" sz="700" dirty="0"/>
              <a:t>⩗</a:t>
            </a:r>
          </a:p>
        </p:txBody>
      </p:sp>
      <p:sp>
        <p:nvSpPr>
          <p:cNvPr id="165" name="TextBox 164">
            <a:extLst>
              <a:ext uri="{FF2B5EF4-FFF2-40B4-BE49-F238E27FC236}">
                <a16:creationId xmlns:a16="http://schemas.microsoft.com/office/drawing/2014/main" id="{FFC49AEA-2A8F-250C-A86A-A7751D9706C3}"/>
              </a:ext>
            </a:extLst>
          </p:cNvPr>
          <p:cNvSpPr txBox="1"/>
          <p:nvPr/>
        </p:nvSpPr>
        <p:spPr>
          <a:xfrm>
            <a:off x="781109" y="3070896"/>
            <a:ext cx="1757861" cy="181140"/>
          </a:xfrm>
          <a:prstGeom prst="rect">
            <a:avLst/>
          </a:prstGeom>
          <a:noFill/>
        </p:spPr>
        <p:txBody>
          <a:bodyPr wrap="square" lIns="0" tIns="0" rIns="0" bIns="0" rtlCol="0">
            <a:spAutoFit/>
          </a:bodyPr>
          <a:lstStyle/>
          <a:p>
            <a:pPr>
              <a:lnSpc>
                <a:spcPct val="200000"/>
              </a:lnSpc>
            </a:pPr>
            <a:r>
              <a:rPr lang="ko-KR" altLang="en-US" sz="700" dirty="0">
                <a:latin typeface="+mn-ea"/>
              </a:rPr>
              <a:t>입찰참가사업 및 입찰보증금</a:t>
            </a:r>
          </a:p>
        </p:txBody>
      </p:sp>
      <p:sp>
        <p:nvSpPr>
          <p:cNvPr id="169" name="직사각형 168"/>
          <p:cNvSpPr/>
          <p:nvPr/>
        </p:nvSpPr>
        <p:spPr>
          <a:xfrm>
            <a:off x="722232" y="3378382"/>
            <a:ext cx="792000" cy="236700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0" name="TextBox 169">
            <a:extLst>
              <a:ext uri="{FF2B5EF4-FFF2-40B4-BE49-F238E27FC236}">
                <a16:creationId xmlns:a16="http://schemas.microsoft.com/office/drawing/2014/main" id="{FFC49AEA-2A8F-250C-A86A-A7751D9706C3}"/>
              </a:ext>
            </a:extLst>
          </p:cNvPr>
          <p:cNvSpPr txBox="1"/>
          <p:nvPr/>
        </p:nvSpPr>
        <p:spPr>
          <a:xfrm>
            <a:off x="809295" y="3378381"/>
            <a:ext cx="725552" cy="2369880"/>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a:latin typeface="+mn-ea"/>
              </a:rPr>
              <a:t>구매요청번호</a:t>
            </a: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입찰품목수</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입찰보증금</a:t>
            </a:r>
          </a:p>
          <a:p>
            <a:pPr>
              <a:lnSpc>
                <a:spcPct val="200000"/>
              </a:lnSpc>
            </a:pPr>
            <a:endParaRPr lang="en-US" altLang="ko-KR" sz="700" dirty="0">
              <a:latin typeface="+mn-ea"/>
            </a:endParaRPr>
          </a:p>
          <a:p>
            <a:pPr>
              <a:lnSpc>
                <a:spcPct val="200000"/>
              </a:lnSpc>
            </a:pPr>
            <a:r>
              <a:rPr lang="ko-KR" altLang="en-US" sz="700" dirty="0">
                <a:latin typeface="+mn-ea"/>
              </a:rPr>
              <a:t>보증금납부방법</a:t>
            </a:r>
          </a:p>
          <a:p>
            <a:pPr>
              <a:lnSpc>
                <a:spcPct val="200000"/>
              </a:lnSpc>
            </a:pPr>
            <a:r>
              <a:rPr lang="ko-KR" altLang="en-US" sz="700" dirty="0">
                <a:latin typeface="+mn-ea"/>
              </a:rPr>
              <a:t>보증금증권번호</a:t>
            </a:r>
          </a:p>
          <a:p>
            <a:pPr>
              <a:lnSpc>
                <a:spcPct val="200000"/>
              </a:lnSpc>
            </a:pPr>
            <a:r>
              <a:rPr lang="ko-KR" altLang="en-US" sz="700" dirty="0" err="1">
                <a:latin typeface="+mn-ea"/>
              </a:rPr>
              <a:t>보증기관명</a:t>
            </a:r>
            <a:endParaRPr lang="ko-KR" altLang="en-US" sz="700" dirty="0">
              <a:latin typeface="+mn-ea"/>
            </a:endParaRPr>
          </a:p>
          <a:p>
            <a:pPr>
              <a:lnSpc>
                <a:spcPct val="200000"/>
              </a:lnSpc>
            </a:pPr>
            <a:r>
              <a:rPr lang="ko-KR" altLang="en-US" sz="700" dirty="0">
                <a:latin typeface="+mn-ea"/>
              </a:rPr>
              <a:t>입찰보증금납부서</a:t>
            </a:r>
            <a:endParaRPr lang="en-US" altLang="ko-KR" sz="700" dirty="0">
              <a:latin typeface="+mn-ea"/>
            </a:endParaRPr>
          </a:p>
        </p:txBody>
      </p:sp>
      <p:sp>
        <p:nvSpPr>
          <p:cNvPr id="171" name="TextBox 170">
            <a:extLst>
              <a:ext uri="{FF2B5EF4-FFF2-40B4-BE49-F238E27FC236}">
                <a16:creationId xmlns:a16="http://schemas.microsoft.com/office/drawing/2014/main" id="{FFC49AEA-2A8F-250C-A86A-A7751D9706C3}"/>
              </a:ext>
            </a:extLst>
          </p:cNvPr>
          <p:cNvSpPr txBox="1"/>
          <p:nvPr/>
        </p:nvSpPr>
        <p:spPr>
          <a:xfrm>
            <a:off x="1566144" y="3378381"/>
            <a:ext cx="1784088" cy="2369880"/>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0000 0000 00</a:t>
            </a:r>
          </a:p>
          <a:p>
            <a:pPr>
              <a:lnSpc>
                <a:spcPct val="200000"/>
              </a:lnSpc>
            </a:pPr>
            <a:r>
              <a:rPr lang="ko-KR" altLang="en-US" sz="700" dirty="0" err="1">
                <a:latin typeface="+mn-ea"/>
              </a:rPr>
              <a:t>사업명칭</a:t>
            </a:r>
            <a:r>
              <a:rPr lang="ko-KR" altLang="en-US" sz="700" dirty="0">
                <a:latin typeface="+mn-ea"/>
              </a:rPr>
              <a:t> 표시</a:t>
            </a:r>
            <a:endParaRPr lang="en-US" altLang="ko-KR" sz="700" dirty="0">
              <a:latin typeface="+mn-ea"/>
            </a:endParaRPr>
          </a:p>
          <a:p>
            <a:pPr>
              <a:lnSpc>
                <a:spcPct val="200000"/>
              </a:lnSpc>
            </a:pPr>
            <a:r>
              <a:rPr lang="en-US" altLang="ko-KR" sz="700" dirty="0">
                <a:latin typeface="+mn-ea"/>
              </a:rPr>
              <a:t>6</a:t>
            </a:r>
          </a:p>
          <a:p>
            <a:pPr algn="r">
              <a:lnSpc>
                <a:spcPct val="200000"/>
              </a:lnSpc>
            </a:pPr>
            <a:r>
              <a:rPr lang="en-US" altLang="ko-KR" sz="700" dirty="0">
                <a:latin typeface="+mn-ea"/>
              </a:rPr>
              <a:t>000,000,000,000.00</a:t>
            </a:r>
          </a:p>
          <a:p>
            <a:pPr algn="r">
              <a:lnSpc>
                <a:spcPct val="200000"/>
              </a:lnSpc>
            </a:pPr>
            <a:r>
              <a:rPr lang="en-US" altLang="ko-KR" sz="700" dirty="0">
                <a:latin typeface="+mn-ea"/>
              </a:rPr>
              <a:t>000,000,000,000.00</a:t>
            </a:r>
          </a:p>
          <a:p>
            <a:pPr algn="r">
              <a:lnSpc>
                <a:spcPct val="200000"/>
              </a:lnSpc>
            </a:pPr>
            <a:r>
              <a:rPr lang="en-US" altLang="ko-KR" sz="700" dirty="0">
                <a:latin typeface="+mn-ea"/>
              </a:rPr>
              <a:t>000,000,000,000.00</a:t>
            </a:r>
          </a:p>
          <a:p>
            <a:pPr>
              <a:lnSpc>
                <a:spcPct val="200000"/>
              </a:lnSpc>
            </a:pPr>
            <a:r>
              <a:rPr lang="ko-KR" altLang="en-US" sz="700" dirty="0">
                <a:latin typeface="+mn-ea"/>
              </a:rPr>
              <a:t>보증보험</a:t>
            </a:r>
            <a:endParaRPr lang="en-US" altLang="ko-KR" sz="700" dirty="0">
              <a:latin typeface="+mn-ea"/>
            </a:endParaRPr>
          </a:p>
          <a:p>
            <a:pPr>
              <a:lnSpc>
                <a:spcPct val="200000"/>
              </a:lnSpc>
            </a:pPr>
            <a:r>
              <a:rPr lang="en-US" altLang="ko-KR" sz="700" dirty="0">
                <a:latin typeface="+mn-ea"/>
              </a:rPr>
              <a:t>1234567890abcedfg</a:t>
            </a:r>
          </a:p>
          <a:p>
            <a:pPr>
              <a:lnSpc>
                <a:spcPct val="200000"/>
              </a:lnSpc>
            </a:pPr>
            <a:r>
              <a:rPr lang="en-US" altLang="ko-KR" sz="700" dirty="0">
                <a:latin typeface="+mn-ea"/>
              </a:rPr>
              <a:t>1015375183999</a:t>
            </a:r>
          </a:p>
          <a:p>
            <a:pPr>
              <a:lnSpc>
                <a:spcPct val="200000"/>
              </a:lnSpc>
            </a:pPr>
            <a:r>
              <a:rPr lang="en-US" altLang="ko-KR" sz="700" dirty="0">
                <a:solidFill>
                  <a:srgbClr val="0070C0"/>
                </a:solidFill>
                <a:latin typeface="+mn-ea"/>
              </a:rPr>
              <a:t>File.pdf</a:t>
            </a:r>
          </a:p>
        </p:txBody>
      </p:sp>
      <p:grpSp>
        <p:nvGrpSpPr>
          <p:cNvPr id="172" name="그룹 171"/>
          <p:cNvGrpSpPr/>
          <p:nvPr/>
        </p:nvGrpSpPr>
        <p:grpSpPr>
          <a:xfrm>
            <a:off x="720139" y="3378381"/>
            <a:ext cx="2630093" cy="2367010"/>
            <a:chOff x="701175" y="1835481"/>
            <a:chExt cx="2630093" cy="2367010"/>
          </a:xfrm>
        </p:grpSpPr>
        <p:cxnSp>
          <p:nvCxnSpPr>
            <p:cNvPr id="173" name="직선 연결선 17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직선 연결선 155">
              <a:extLst>
                <a:ext uri="{FF2B5EF4-FFF2-40B4-BE49-F238E27FC236}">
                  <a16:creationId xmlns:a16="http://schemas.microsoft.com/office/drawing/2014/main" id="{E9293055-D5CD-4B9E-7F64-64B2D2CA7A52}"/>
                </a:ext>
              </a:extLst>
            </p:cNvPr>
            <p:cNvCxnSpPr/>
            <p:nvPr/>
          </p:nvCxnSpPr>
          <p:spPr>
            <a:xfrm>
              <a:off x="703268" y="355777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703268" y="377251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701175" y="39872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701175" y="420249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60" name="TextBox 159">
            <a:extLst>
              <a:ext uri="{FF2B5EF4-FFF2-40B4-BE49-F238E27FC236}">
                <a16:creationId xmlns:a16="http://schemas.microsoft.com/office/drawing/2014/main" id="{FFC49AEA-2A8F-250C-A86A-A7751D9706C3}"/>
              </a:ext>
            </a:extLst>
          </p:cNvPr>
          <p:cNvSpPr txBox="1"/>
          <p:nvPr/>
        </p:nvSpPr>
        <p:spPr>
          <a:xfrm>
            <a:off x="809295" y="4665734"/>
            <a:ext cx="725552" cy="215444"/>
          </a:xfrm>
          <a:prstGeom prst="rect">
            <a:avLst/>
          </a:prstGeom>
          <a:noFill/>
        </p:spPr>
        <p:txBody>
          <a:bodyPr wrap="square" lIns="0" tIns="0" rIns="0" bIns="0" rtlCol="0">
            <a:spAutoFit/>
          </a:bodyPr>
          <a:lstStyle/>
          <a:p>
            <a:r>
              <a:rPr lang="ko-KR" altLang="en-US" sz="700" dirty="0">
                <a:latin typeface="+mn-ea"/>
              </a:rPr>
              <a:t>입찰보증금</a:t>
            </a:r>
            <a:endParaRPr lang="en-US" altLang="ko-KR" sz="700" dirty="0">
              <a:latin typeface="+mn-ea"/>
            </a:endParaRPr>
          </a:p>
          <a:p>
            <a:r>
              <a:rPr lang="en-US" altLang="ko-KR" sz="700" dirty="0">
                <a:latin typeface="+mn-ea"/>
              </a:rPr>
              <a:t>(</a:t>
            </a:r>
            <a:r>
              <a:rPr lang="ko-KR" altLang="en-US" sz="700" dirty="0" err="1">
                <a:latin typeface="+mn-ea"/>
              </a:rPr>
              <a:t>확인입력</a:t>
            </a:r>
            <a:r>
              <a:rPr lang="en-US" altLang="ko-KR" sz="700" dirty="0">
                <a:latin typeface="+mn-ea"/>
              </a:rPr>
              <a:t>)</a:t>
            </a: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TextBox 10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11" name="타원 110">
            <a:extLst>
              <a:ext uri="{FF2B5EF4-FFF2-40B4-BE49-F238E27FC236}">
                <a16:creationId xmlns:a16="http://schemas.microsoft.com/office/drawing/2014/main" id="{37A7FF4F-0EAA-1463-560A-D5EC24416103}"/>
              </a:ext>
            </a:extLst>
          </p:cNvPr>
          <p:cNvSpPr/>
          <p:nvPr/>
        </p:nvSpPr>
        <p:spPr>
          <a:xfrm>
            <a:off x="589334" y="340126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12" name="타원 111">
            <a:extLst>
              <a:ext uri="{FF2B5EF4-FFF2-40B4-BE49-F238E27FC236}">
                <a16:creationId xmlns:a16="http://schemas.microsoft.com/office/drawing/2014/main" id="{37A7FF4F-0EAA-1463-560A-D5EC24416103}"/>
              </a:ext>
            </a:extLst>
          </p:cNvPr>
          <p:cNvSpPr/>
          <p:nvPr/>
        </p:nvSpPr>
        <p:spPr>
          <a:xfrm>
            <a:off x="589334" y="556514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4</a:t>
            </a:r>
            <a:endParaRPr lang="ko-KR" altLang="en-US" sz="900" b="1" dirty="0"/>
          </a:p>
        </p:txBody>
      </p:sp>
      <p:sp>
        <p:nvSpPr>
          <p:cNvPr id="109" name="사각형: 둥근 모서리 15">
            <a:extLst>
              <a:ext uri="{FF2B5EF4-FFF2-40B4-BE49-F238E27FC236}">
                <a16:creationId xmlns:a16="http://schemas.microsoft.com/office/drawing/2014/main" id="{E2B61CFB-AD16-68D0-8752-50D9C5E01971}"/>
              </a:ext>
            </a:extLst>
          </p:cNvPr>
          <p:cNvSpPr/>
          <p:nvPr/>
        </p:nvSpPr>
        <p:spPr>
          <a:xfrm>
            <a:off x="2923735" y="5562051"/>
            <a:ext cx="421506" cy="154884"/>
          </a:xfrm>
          <a:prstGeom prst="roundRect">
            <a:avLst/>
          </a:prstGeom>
          <a:noFill/>
          <a:ln w="3175"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dirty="0">
                <a:solidFill>
                  <a:srgbClr val="0070C0"/>
                </a:solidFill>
                <a:latin typeface="맑은 고딕"/>
                <a:ea typeface="맑은 고딕" panose="020B0503020000020004" pitchFamily="50" charset="-127"/>
              </a:rPr>
              <a:t>다운로드</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13" name="사각형: 둥근 모서리 15">
            <a:extLst>
              <a:ext uri="{FF2B5EF4-FFF2-40B4-BE49-F238E27FC236}">
                <a16:creationId xmlns:a16="http://schemas.microsoft.com/office/drawing/2014/main" id="{E2B61CFB-AD16-68D0-8752-50D9C5E01971}"/>
              </a:ext>
            </a:extLst>
          </p:cNvPr>
          <p:cNvSpPr/>
          <p:nvPr/>
        </p:nvSpPr>
        <p:spPr>
          <a:xfrm>
            <a:off x="2538970" y="3411419"/>
            <a:ext cx="806271"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noProof="0">
                <a:latin typeface="맑은 고딕"/>
                <a:ea typeface="맑은 고딕" panose="020B0503020000020004" pitchFamily="50" charset="-127"/>
              </a:rPr>
              <a:t>개별 입찰참가취소</a:t>
            </a:r>
            <a:endParaRPr kumimoji="1" lang="en-US" sz="700" b="0" i="0" u="none" strike="noStrike" kern="0" cap="none" spc="0" normalizeH="0" baseline="0" noProof="0" dirty="0">
              <a:ln>
                <a:noFill/>
              </a:ln>
              <a:effectLst/>
              <a:uLnTx/>
              <a:uFillTx/>
              <a:latin typeface="맑은 고딕"/>
            </a:endParaRPr>
          </a:p>
        </p:txBody>
      </p:sp>
      <p:sp>
        <p:nvSpPr>
          <p:cNvPr id="114" name="타원 113">
            <a:extLst>
              <a:ext uri="{FF2B5EF4-FFF2-40B4-BE49-F238E27FC236}">
                <a16:creationId xmlns:a16="http://schemas.microsoft.com/office/drawing/2014/main" id="{37A7FF4F-0EAA-1463-560A-D5EC24416103}"/>
              </a:ext>
            </a:extLst>
          </p:cNvPr>
          <p:cNvSpPr/>
          <p:nvPr/>
        </p:nvSpPr>
        <p:spPr>
          <a:xfrm>
            <a:off x="3397065" y="34209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2622342707"/>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직사각형 7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3795734" y="1578465"/>
            <a:ext cx="2712027" cy="508898"/>
            <a:chOff x="3795734" y="1602341"/>
            <a:chExt cx="2712027" cy="508898"/>
          </a:xfrm>
        </p:grpSpPr>
        <p:sp>
          <p:nvSpPr>
            <p:cNvPr id="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75" name="모서리가 둥근 직사각형 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76" name="모서리가 둥근 직사각형 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77" name="직선 연결선 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입찰참가용</a:t>
            </a:r>
            <a:r>
              <a:rPr lang="ko-KR" altLang="en-US" dirty="0"/>
              <a:t> 서류가 있는 경우 </a:t>
            </a:r>
            <a:r>
              <a:rPr lang="ko-KR" altLang="en-US" dirty="0" err="1"/>
              <a:t>파일선택을</a:t>
            </a:r>
            <a:r>
              <a:rPr lang="ko-KR" altLang="en-US" dirty="0"/>
              <a:t> 클릭하여 입찰참가 서류를 첨부</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352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입찰참가신청서상세 </a:t>
            </a:r>
            <a:r>
              <a:rPr lang="en-US" altLang="ko-KR" dirty="0">
                <a:latin typeface="+mn-ea"/>
              </a:rPr>
              <a:t>– </a:t>
            </a:r>
            <a:r>
              <a:rPr lang="ko-KR" altLang="en-US"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fontAlgn="ctr">
              <a:lnSpc>
                <a:spcPct val="100000"/>
              </a:lnSpc>
              <a:spcBef>
                <a:spcPts val="0"/>
              </a:spcBef>
              <a:defRPr/>
            </a:pPr>
            <a:r>
              <a:rPr lang="ko-KR" altLang="en-US" dirty="0">
                <a:solidFill>
                  <a:srgbClr val="000000"/>
                </a:solidFill>
                <a:latin typeface="맑은 고딕" panose="020B0503020000020004" pitchFamily="50" charset="-127"/>
              </a:rPr>
              <a:t>업체담당자가 제출한 입찰참가신청서를 조회하는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 </a:t>
            </a:r>
            <a:r>
              <a:rPr lang="ko-KR" altLang="en-US" dirty="0">
                <a:latin typeface="+mn-ea"/>
              </a:rPr>
              <a:t>첨부파일</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MUI-BD-04-M81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328" name="직선 연결선 327">
            <a:extLst>
              <a:ext uri="{FF2B5EF4-FFF2-40B4-BE49-F238E27FC236}">
                <a16:creationId xmlns:a16="http://schemas.microsoft.com/office/drawing/2014/main" id="{E9293055-D5CD-4B9E-7F64-64B2D2CA7A52}"/>
              </a:ext>
            </a:extLst>
          </p:cNvPr>
          <p:cNvCxnSpPr/>
          <p:nvPr/>
        </p:nvCxnSpPr>
        <p:spPr>
          <a:xfrm>
            <a:off x="720139"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29" name="TextBox 328">
            <a:extLst>
              <a:ext uri="{FF2B5EF4-FFF2-40B4-BE49-F238E27FC236}">
                <a16:creationId xmlns:a16="http://schemas.microsoft.com/office/drawing/2014/main" id="{FFC49AEA-2A8F-250C-A86A-A7751D9706C3}"/>
              </a:ext>
            </a:extLst>
          </p:cNvPr>
          <p:cNvSpPr txBox="1"/>
          <p:nvPr/>
        </p:nvSpPr>
        <p:spPr>
          <a:xfrm>
            <a:off x="1362037" y="2201247"/>
            <a:ext cx="64471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330" name="TextBox 329">
            <a:extLst>
              <a:ext uri="{FF2B5EF4-FFF2-40B4-BE49-F238E27FC236}">
                <a16:creationId xmlns:a16="http://schemas.microsoft.com/office/drawing/2014/main" id="{FFC49AEA-2A8F-250C-A86A-A7751D9706C3}"/>
              </a:ext>
            </a:extLst>
          </p:cNvPr>
          <p:cNvSpPr txBox="1"/>
          <p:nvPr/>
        </p:nvSpPr>
        <p:spPr>
          <a:xfrm>
            <a:off x="2028414" y="2201247"/>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333" name="직선 연결선 332">
            <a:extLst>
              <a:ext uri="{FF2B5EF4-FFF2-40B4-BE49-F238E27FC236}">
                <a16:creationId xmlns:a16="http://schemas.microsoft.com/office/drawing/2014/main" id="{E9293055-D5CD-4B9E-7F64-64B2D2CA7A52}"/>
              </a:ext>
            </a:extLst>
          </p:cNvPr>
          <p:cNvCxnSpPr/>
          <p:nvPr/>
        </p:nvCxnSpPr>
        <p:spPr>
          <a:xfrm>
            <a:off x="2053491" y="2417854"/>
            <a:ext cx="5306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334" name="그룹 333"/>
          <p:cNvGrpSpPr/>
          <p:nvPr/>
        </p:nvGrpSpPr>
        <p:grpSpPr>
          <a:xfrm>
            <a:off x="2923735" y="2163124"/>
            <a:ext cx="422853" cy="187961"/>
            <a:chOff x="3641308" y="2234886"/>
            <a:chExt cx="422853" cy="187961"/>
          </a:xfrm>
        </p:grpSpPr>
        <p:sp>
          <p:nvSpPr>
            <p:cNvPr id="335" name="타원 33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6" name="그룹 335"/>
            <p:cNvGrpSpPr/>
            <p:nvPr/>
          </p:nvGrpSpPr>
          <p:grpSpPr>
            <a:xfrm rot="5400000" flipH="1">
              <a:off x="3679895" y="2305364"/>
              <a:ext cx="94010" cy="47005"/>
              <a:chOff x="6812560" y="3297172"/>
              <a:chExt cx="94010" cy="47005"/>
            </a:xfrm>
          </p:grpSpPr>
          <p:cxnSp>
            <p:nvCxnSpPr>
              <p:cNvPr id="341" name="직선 연결선 34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2" name="직선 연결선 34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37" name="타원 33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38" name="그룹 337"/>
            <p:cNvGrpSpPr/>
            <p:nvPr/>
          </p:nvGrpSpPr>
          <p:grpSpPr>
            <a:xfrm rot="16200000">
              <a:off x="3931564" y="2305364"/>
              <a:ext cx="94010" cy="47005"/>
              <a:chOff x="6812560" y="3297172"/>
              <a:chExt cx="94010" cy="47005"/>
            </a:xfrm>
          </p:grpSpPr>
          <p:cxnSp>
            <p:nvCxnSpPr>
              <p:cNvPr id="339" name="직선 연결선 33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40" name="직선 연결선 33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07" name="TextBox 106">
            <a:extLst>
              <a:ext uri="{FF2B5EF4-FFF2-40B4-BE49-F238E27FC236}">
                <a16:creationId xmlns:a16="http://schemas.microsoft.com/office/drawing/2014/main" id="{FFC49AEA-2A8F-250C-A86A-A7751D9706C3}"/>
              </a:ext>
            </a:extLst>
          </p:cNvPr>
          <p:cNvSpPr txBox="1"/>
          <p:nvPr/>
        </p:nvSpPr>
        <p:spPr>
          <a:xfrm>
            <a:off x="756845" y="2484624"/>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2883010"/>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2957531"/>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해외업체위임장</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3011392"/>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7" name="타원 116"/>
          <p:cNvSpPr/>
          <p:nvPr/>
        </p:nvSpPr>
        <p:spPr>
          <a:xfrm>
            <a:off x="3033810" y="299325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8" name="모서리가 둥근 직사각형 117"/>
          <p:cNvSpPr/>
          <p:nvPr/>
        </p:nvSpPr>
        <p:spPr>
          <a:xfrm>
            <a:off x="710315" y="328969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3364217"/>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공급자증명서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341807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1" name="타원 120"/>
          <p:cNvSpPr/>
          <p:nvPr/>
        </p:nvSpPr>
        <p:spPr>
          <a:xfrm>
            <a:off x="3033810" y="339993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2747892"/>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43326" y="2747892"/>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2747892"/>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25154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64" name="TextBox 63">
            <a:extLst>
              <a:ext uri="{FF2B5EF4-FFF2-40B4-BE49-F238E27FC236}">
                <a16:creationId xmlns:a16="http://schemas.microsoft.com/office/drawing/2014/main" id="{FFC49AEA-2A8F-250C-A86A-A7751D9706C3}"/>
              </a:ext>
            </a:extLst>
          </p:cNvPr>
          <p:cNvSpPr txBox="1"/>
          <p:nvPr/>
        </p:nvSpPr>
        <p:spPr>
          <a:xfrm>
            <a:off x="775229" y="2201247"/>
            <a:ext cx="555764"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sp>
        <p:nvSpPr>
          <p:cNvPr id="95" name="TextBox 94">
            <a:extLst>
              <a:ext uri="{FF2B5EF4-FFF2-40B4-BE49-F238E27FC236}">
                <a16:creationId xmlns:a16="http://schemas.microsoft.com/office/drawing/2014/main" id="{FFC49AEA-2A8F-250C-A86A-A7751D9706C3}"/>
              </a:ext>
            </a:extLst>
          </p:cNvPr>
          <p:cNvSpPr txBox="1"/>
          <p:nvPr/>
        </p:nvSpPr>
        <p:spPr>
          <a:xfrm>
            <a:off x="3914777" y="2522318"/>
            <a:ext cx="2473940" cy="1723549"/>
          </a:xfrm>
          <a:prstGeom prst="rect">
            <a:avLst/>
          </a:prstGeom>
          <a:noFill/>
        </p:spPr>
        <p:txBody>
          <a:bodyPr wrap="square" lIns="0" tIns="0" rIns="0" bIns="0" rtlCol="0">
            <a:spAutoFit/>
          </a:bodyPr>
          <a:lstStyle/>
          <a:p>
            <a:r>
              <a:rPr lang="ko-KR" altLang="en-US" sz="700" dirty="0">
                <a:solidFill>
                  <a:srgbClr val="000000"/>
                </a:solidFill>
                <a:latin typeface="+mn-ea"/>
              </a:rPr>
              <a:t>본인은 위의 번호로 공고한 귀청의 일반경쟁입찰에 참가하고자 귀청에서 정한 물품구매</a:t>
            </a:r>
            <a:r>
              <a:rPr lang="en-US" altLang="ko-KR" sz="700" dirty="0">
                <a:solidFill>
                  <a:srgbClr val="000000"/>
                </a:solidFill>
                <a:latin typeface="+mn-ea"/>
              </a:rPr>
              <a:t>(</a:t>
            </a:r>
            <a:r>
              <a:rPr lang="ko-KR" altLang="en-US" sz="700" dirty="0">
                <a:solidFill>
                  <a:srgbClr val="000000"/>
                </a:solidFill>
                <a:latin typeface="+mn-ea"/>
              </a:rPr>
              <a:t>용역</a:t>
            </a:r>
            <a:r>
              <a:rPr lang="en-US" altLang="ko-KR" sz="700" dirty="0">
                <a:solidFill>
                  <a:srgbClr val="000000"/>
                </a:solidFill>
                <a:latin typeface="+mn-ea"/>
              </a:rPr>
              <a:t>)</a:t>
            </a:r>
            <a:r>
              <a:rPr lang="ko-KR" altLang="en-US" sz="700" dirty="0">
                <a:solidFill>
                  <a:srgbClr val="000000"/>
                </a:solidFill>
                <a:latin typeface="+mn-ea"/>
              </a:rPr>
              <a:t>입찰유의서</a:t>
            </a:r>
            <a:r>
              <a:rPr lang="en-US" altLang="ko-KR" sz="700" dirty="0">
                <a:solidFill>
                  <a:srgbClr val="000000"/>
                </a:solidFill>
                <a:latin typeface="+mn-ea"/>
              </a:rPr>
              <a:t>, </a:t>
            </a:r>
            <a:r>
              <a:rPr lang="ko-KR" altLang="en-US" sz="700" dirty="0">
                <a:solidFill>
                  <a:srgbClr val="000000"/>
                </a:solidFill>
                <a:latin typeface="+mn-ea"/>
              </a:rPr>
              <a:t>계약 일반조건 및 입찰 공고 사항을 모두 숙지하여 수락하고 계약일반조건 및 계약 </a:t>
            </a:r>
            <a:r>
              <a:rPr lang="ko-KR" altLang="en-US" sz="700" dirty="0" err="1">
                <a:solidFill>
                  <a:srgbClr val="000000"/>
                </a:solidFill>
                <a:latin typeface="+mn-ea"/>
              </a:rPr>
              <a:t>특수조건에</a:t>
            </a:r>
            <a:r>
              <a:rPr lang="ko-KR" altLang="en-US" sz="700" dirty="0">
                <a:solidFill>
                  <a:srgbClr val="000000"/>
                </a:solidFill>
                <a:latin typeface="+mn-ea"/>
              </a:rPr>
              <a:t> 따라 </a:t>
            </a:r>
            <a:r>
              <a:rPr lang="ko-KR" altLang="en-US" sz="700" dirty="0" err="1">
                <a:solidFill>
                  <a:srgbClr val="000000"/>
                </a:solidFill>
                <a:latin typeface="+mn-ea"/>
              </a:rPr>
              <a:t>계약품목을</a:t>
            </a:r>
            <a:r>
              <a:rPr lang="ko-KR" altLang="en-US" sz="700" dirty="0">
                <a:solidFill>
                  <a:srgbClr val="000000"/>
                </a:solidFill>
                <a:latin typeface="+mn-ea"/>
              </a:rPr>
              <a:t> 기한 내에 납부할 것을 확약하며 입찰 참가 신청서 및 아래 입찰서류를 제출합니다</a:t>
            </a:r>
            <a:r>
              <a:rPr lang="en-US" altLang="ko-KR" sz="700" dirty="0">
                <a:solidFill>
                  <a:srgbClr val="000000"/>
                </a:solidFill>
                <a:latin typeface="+mn-ea"/>
              </a:rPr>
              <a:t>.</a:t>
            </a:r>
          </a:p>
          <a:p>
            <a:r>
              <a:rPr lang="ko-KR" altLang="en-US" sz="700" dirty="0">
                <a:solidFill>
                  <a:srgbClr val="000000"/>
                </a:solidFill>
                <a:latin typeface="+mn-ea"/>
              </a:rPr>
              <a:t>단 </a:t>
            </a:r>
            <a:r>
              <a:rPr lang="ko-KR" altLang="en-US" sz="700" dirty="0" err="1">
                <a:solidFill>
                  <a:srgbClr val="000000"/>
                </a:solidFill>
                <a:latin typeface="+mn-ea"/>
              </a:rPr>
              <a:t>전차입찰의</a:t>
            </a:r>
            <a:r>
              <a:rPr lang="ko-KR" altLang="en-US" sz="700" dirty="0">
                <a:solidFill>
                  <a:srgbClr val="000000"/>
                </a:solidFill>
                <a:latin typeface="+mn-ea"/>
              </a:rPr>
              <a:t> 경우 아래의 구비서류를 첨부 자료로써 제출하시고</a:t>
            </a:r>
            <a:r>
              <a:rPr lang="en-US" altLang="ko-KR" sz="700" dirty="0">
                <a:solidFill>
                  <a:srgbClr val="000000"/>
                </a:solidFill>
                <a:latin typeface="+mn-ea"/>
              </a:rPr>
              <a:t>, </a:t>
            </a:r>
            <a:r>
              <a:rPr lang="ko-KR" altLang="en-US" sz="700" dirty="0">
                <a:solidFill>
                  <a:srgbClr val="000000"/>
                </a:solidFill>
                <a:latin typeface="+mn-ea"/>
              </a:rPr>
              <a:t>필요시 직접방문 및 우편으로 </a:t>
            </a:r>
            <a:r>
              <a:rPr lang="ko-KR" altLang="en-US" sz="700" dirty="0" err="1">
                <a:solidFill>
                  <a:srgbClr val="000000"/>
                </a:solidFill>
                <a:latin typeface="+mn-ea"/>
              </a:rPr>
              <a:t>제출요청을</a:t>
            </a:r>
            <a:r>
              <a:rPr lang="ko-KR" altLang="en-US" sz="700" dirty="0">
                <a:solidFill>
                  <a:srgbClr val="000000"/>
                </a:solidFill>
                <a:latin typeface="+mn-ea"/>
              </a:rPr>
              <a:t> 받을 경우 제시하여야 함</a:t>
            </a:r>
          </a:p>
          <a:p>
            <a:endParaRPr lang="ko-KR" altLang="en-US" sz="700" dirty="0">
              <a:solidFill>
                <a:srgbClr val="000000"/>
              </a:solidFill>
              <a:latin typeface="+mn-ea"/>
            </a:endParaRPr>
          </a:p>
          <a:p>
            <a:r>
              <a:rPr lang="en-US" altLang="ko-KR" sz="700" dirty="0">
                <a:solidFill>
                  <a:srgbClr val="000000"/>
                </a:solidFill>
                <a:latin typeface="+mn-ea"/>
              </a:rPr>
              <a:t>1. </a:t>
            </a:r>
            <a:r>
              <a:rPr lang="ko-KR" altLang="en-US" sz="700" dirty="0">
                <a:solidFill>
                  <a:srgbClr val="000000"/>
                </a:solidFill>
                <a:latin typeface="+mn-ea"/>
              </a:rPr>
              <a:t>입찰 구비서류</a:t>
            </a:r>
          </a:p>
          <a:p>
            <a:r>
              <a:rPr lang="ko-KR" altLang="en-US" sz="700" dirty="0">
                <a:solidFill>
                  <a:srgbClr val="000000"/>
                </a:solidFill>
                <a:latin typeface="+mn-ea"/>
              </a:rPr>
              <a:t>  가</a:t>
            </a:r>
            <a:r>
              <a:rPr lang="en-US" altLang="ko-KR" sz="700" dirty="0">
                <a:solidFill>
                  <a:srgbClr val="000000"/>
                </a:solidFill>
                <a:latin typeface="+mn-ea"/>
              </a:rPr>
              <a:t>. </a:t>
            </a:r>
            <a:r>
              <a:rPr lang="ko-KR" altLang="en-US" sz="700" dirty="0" err="1">
                <a:solidFill>
                  <a:srgbClr val="000000"/>
                </a:solidFill>
                <a:latin typeface="+mn-ea"/>
              </a:rPr>
              <a:t>입찰등록시</a:t>
            </a:r>
            <a:r>
              <a:rPr lang="ko-KR" altLang="en-US" sz="700" dirty="0">
                <a:solidFill>
                  <a:srgbClr val="000000"/>
                </a:solidFill>
                <a:latin typeface="+mn-ea"/>
              </a:rPr>
              <a:t> 제출서류</a:t>
            </a:r>
          </a:p>
          <a:p>
            <a:r>
              <a:rPr lang="en-US" altLang="ko-KR" sz="700" dirty="0">
                <a:solidFill>
                  <a:srgbClr val="000000"/>
                </a:solidFill>
                <a:latin typeface="+mn-ea"/>
              </a:rPr>
              <a:t>    - </a:t>
            </a:r>
            <a:r>
              <a:rPr lang="ko-KR" altLang="en-US" sz="700" dirty="0">
                <a:solidFill>
                  <a:srgbClr val="000000"/>
                </a:solidFill>
                <a:latin typeface="+mn-ea"/>
              </a:rPr>
              <a:t>해외업체 위임장</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공급자증명서</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제작자 증명서</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계약특수조건</a:t>
            </a:r>
            <a:endParaRPr lang="en-US" altLang="ko-KR" sz="700" dirty="0">
              <a:solidFill>
                <a:srgbClr val="000000"/>
              </a:solidFill>
              <a:latin typeface="+mn-ea"/>
            </a:endParaRPr>
          </a:p>
          <a:p>
            <a:r>
              <a:rPr lang="en-US" altLang="ko-KR" sz="700" dirty="0">
                <a:solidFill>
                  <a:srgbClr val="000000"/>
                </a:solidFill>
                <a:latin typeface="+mn-ea"/>
              </a:rPr>
              <a:t>    - </a:t>
            </a:r>
            <a:r>
              <a:rPr lang="ko-KR" altLang="en-US" sz="700" dirty="0">
                <a:solidFill>
                  <a:srgbClr val="000000"/>
                </a:solidFill>
                <a:latin typeface="+mn-ea"/>
              </a:rPr>
              <a:t>서약서</a:t>
            </a:r>
          </a:p>
        </p:txBody>
      </p:sp>
      <p:sp>
        <p:nvSpPr>
          <p:cNvPr id="96" name="TextBox 95">
            <a:extLst>
              <a:ext uri="{FF2B5EF4-FFF2-40B4-BE49-F238E27FC236}">
                <a16:creationId xmlns:a16="http://schemas.microsoft.com/office/drawing/2014/main" id="{FFC49AEA-2A8F-250C-A86A-A7751D9706C3}"/>
              </a:ext>
            </a:extLst>
          </p:cNvPr>
          <p:cNvSpPr txBox="1"/>
          <p:nvPr/>
        </p:nvSpPr>
        <p:spPr>
          <a:xfrm>
            <a:off x="3914777" y="3707258"/>
            <a:ext cx="2473940" cy="538609"/>
          </a:xfrm>
          <a:prstGeom prst="rect">
            <a:avLst/>
          </a:prstGeom>
          <a:noFill/>
        </p:spPr>
        <p:txBody>
          <a:bodyPr wrap="square" lIns="0" tIns="0" rIns="0" bIns="0" rtlCol="0">
            <a:spAutoFit/>
          </a:bodyPr>
          <a:lstStyle/>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endParaRPr lang="en-US" altLang="ko-KR" sz="700" dirty="0">
              <a:solidFill>
                <a:srgbClr val="000000"/>
              </a:solidFill>
              <a:latin typeface="+mn-ea"/>
            </a:endParaRPr>
          </a:p>
          <a:p>
            <a:pPr algn="r"/>
            <a:r>
              <a:rPr lang="en-US" altLang="ko-KR" sz="700" dirty="0">
                <a:solidFill>
                  <a:srgbClr val="000000"/>
                </a:solidFill>
                <a:latin typeface="+mn-ea"/>
              </a:rPr>
              <a:t>1</a:t>
            </a:r>
            <a:r>
              <a:rPr lang="ko-KR" altLang="en-US" sz="700" dirty="0">
                <a:solidFill>
                  <a:srgbClr val="000000"/>
                </a:solidFill>
                <a:latin typeface="+mn-ea"/>
              </a:rPr>
              <a:t>부</a:t>
            </a:r>
          </a:p>
        </p:txBody>
      </p:sp>
      <p:cxnSp>
        <p:nvCxnSpPr>
          <p:cNvPr id="97" name="직선 연결선 96">
            <a:extLst>
              <a:ext uri="{FF2B5EF4-FFF2-40B4-BE49-F238E27FC236}">
                <a16:creationId xmlns:a16="http://schemas.microsoft.com/office/drawing/2014/main" id="{E9293055-D5CD-4B9E-7F64-64B2D2CA7A52}"/>
              </a:ext>
            </a:extLst>
          </p:cNvPr>
          <p:cNvCxnSpPr/>
          <p:nvPr/>
        </p:nvCxnSpPr>
        <p:spPr>
          <a:xfrm>
            <a:off x="3795733" y="498158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8" name="TextBox 97">
            <a:extLst>
              <a:ext uri="{FF2B5EF4-FFF2-40B4-BE49-F238E27FC236}">
                <a16:creationId xmlns:a16="http://schemas.microsoft.com/office/drawing/2014/main" id="{FFC49AEA-2A8F-250C-A86A-A7751D9706C3}"/>
              </a:ext>
            </a:extLst>
          </p:cNvPr>
          <p:cNvSpPr txBox="1"/>
          <p:nvPr/>
        </p:nvSpPr>
        <p:spPr>
          <a:xfrm>
            <a:off x="3914777" y="4454294"/>
            <a:ext cx="2473940" cy="430887"/>
          </a:xfrm>
          <a:prstGeom prst="rect">
            <a:avLst/>
          </a:prstGeom>
          <a:noFill/>
        </p:spPr>
        <p:txBody>
          <a:bodyPr wrap="square" lIns="0" tIns="0" rIns="0" bIns="0" rtlCol="0">
            <a:spAutoFit/>
          </a:bodyPr>
          <a:lstStyle/>
          <a:p>
            <a:r>
              <a:rPr lang="en-US" altLang="ko-KR" sz="700" dirty="0">
                <a:solidFill>
                  <a:srgbClr val="0070C0"/>
                </a:solidFill>
                <a:latin typeface="+mn-ea"/>
              </a:rPr>
              <a:t>※ </a:t>
            </a:r>
            <a:r>
              <a:rPr lang="ko-KR" altLang="en-US" sz="700" dirty="0">
                <a:solidFill>
                  <a:srgbClr val="0070C0"/>
                </a:solidFill>
                <a:latin typeface="+mn-ea"/>
              </a:rPr>
              <a:t>위 제출된 서류에 만약 이상이 있을 시에는 본 입찰 건을 무효 처리 하여도 이의가 없음을 확인합니다</a:t>
            </a:r>
            <a:r>
              <a:rPr lang="en-US" altLang="ko-KR" sz="700" dirty="0">
                <a:solidFill>
                  <a:srgbClr val="0070C0"/>
                </a:solidFill>
                <a:latin typeface="+mn-ea"/>
              </a:rPr>
              <a:t>.</a:t>
            </a:r>
          </a:p>
          <a:p>
            <a:r>
              <a:rPr lang="en-US" altLang="ko-KR" sz="700" dirty="0">
                <a:solidFill>
                  <a:srgbClr val="FF0000"/>
                </a:solidFill>
                <a:latin typeface="+mn-ea"/>
              </a:rPr>
              <a:t>※ </a:t>
            </a:r>
            <a:r>
              <a:rPr lang="ko-KR" altLang="en-US" sz="700" dirty="0">
                <a:solidFill>
                  <a:srgbClr val="FF0000"/>
                </a:solidFill>
                <a:latin typeface="+mn-ea"/>
              </a:rPr>
              <a:t>입찰 참가신청서 작성 후 입찰 담당관의 심사를 받으셔야 입찰서제출이 가능합니다</a:t>
            </a:r>
            <a:r>
              <a:rPr lang="en-US" altLang="ko-KR" sz="700" dirty="0">
                <a:solidFill>
                  <a:srgbClr val="FF0000"/>
                </a:solidFill>
                <a:latin typeface="+mn-ea"/>
              </a:rPr>
              <a:t>.</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3795733" y="434407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0" name="모서리가 둥근 직사각형 99"/>
          <p:cNvSpPr/>
          <p:nvPr/>
        </p:nvSpPr>
        <p:spPr>
          <a:xfrm>
            <a:off x="710315" y="369105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3765580"/>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제작사증명서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381944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3" name="타원 102"/>
          <p:cNvSpPr/>
          <p:nvPr/>
        </p:nvSpPr>
        <p:spPr>
          <a:xfrm>
            <a:off x="3033810" y="3801302"/>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모서리가 둥근 직사각형 103"/>
          <p:cNvSpPr/>
          <p:nvPr/>
        </p:nvSpPr>
        <p:spPr>
          <a:xfrm>
            <a:off x="710315" y="4097745"/>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4172266"/>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기타 공고요구서류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4226127"/>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29" name="타원 128"/>
          <p:cNvSpPr/>
          <p:nvPr/>
        </p:nvSpPr>
        <p:spPr>
          <a:xfrm>
            <a:off x="3033810" y="4207988"/>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p:cNvGrpSpPr/>
          <p:nvPr/>
        </p:nvGrpSpPr>
        <p:grpSpPr>
          <a:xfrm>
            <a:off x="3838523" y="2163124"/>
            <a:ext cx="2626449" cy="254730"/>
            <a:chOff x="3859687" y="2163124"/>
            <a:chExt cx="2626449" cy="254730"/>
          </a:xfrm>
        </p:grpSpPr>
        <p:cxnSp>
          <p:nvCxnSpPr>
            <p:cNvPr id="132" name="직선 연결선 131">
              <a:extLst>
                <a:ext uri="{FF2B5EF4-FFF2-40B4-BE49-F238E27FC236}">
                  <a16:creationId xmlns:a16="http://schemas.microsoft.com/office/drawing/2014/main" id="{E9293055-D5CD-4B9E-7F64-64B2D2CA7A52}"/>
                </a:ext>
              </a:extLst>
            </p:cNvPr>
            <p:cNvCxnSpPr/>
            <p:nvPr/>
          </p:nvCxnSpPr>
          <p:spPr>
            <a:xfrm>
              <a:off x="3859687" y="241785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3" name="TextBox 132">
              <a:extLst>
                <a:ext uri="{FF2B5EF4-FFF2-40B4-BE49-F238E27FC236}">
                  <a16:creationId xmlns:a16="http://schemas.microsoft.com/office/drawing/2014/main" id="{FFC49AEA-2A8F-250C-A86A-A7751D9706C3}"/>
                </a:ext>
              </a:extLst>
            </p:cNvPr>
            <p:cNvSpPr txBox="1"/>
            <p:nvPr/>
          </p:nvSpPr>
          <p:spPr>
            <a:xfrm>
              <a:off x="4501585" y="2201247"/>
              <a:ext cx="64471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입찰 보증금</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5167962" y="2201247"/>
              <a:ext cx="555764"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5193039" y="2417854"/>
              <a:ext cx="530687"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6063283" y="2163124"/>
              <a:ext cx="422853" cy="187961"/>
              <a:chOff x="3641308" y="2234886"/>
              <a:chExt cx="422853" cy="187961"/>
            </a:xfrm>
          </p:grpSpPr>
          <p:sp>
            <p:nvSpPr>
              <p:cNvPr id="137" name="타원 13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38" name="그룹 137"/>
              <p:cNvGrpSpPr/>
              <p:nvPr/>
            </p:nvGrpSpPr>
            <p:grpSpPr>
              <a:xfrm rot="5400000" flipH="1">
                <a:off x="3679895" y="2305364"/>
                <a:ext cx="94010" cy="47005"/>
                <a:chOff x="6812560" y="3297172"/>
                <a:chExt cx="94010" cy="47005"/>
              </a:xfrm>
            </p:grpSpPr>
            <p:cxnSp>
              <p:nvCxnSpPr>
                <p:cNvPr id="144" name="직선 연결선 1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5" name="직선 연결선 14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39" name="타원 13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rot="16200000">
                <a:off x="3931564" y="2305364"/>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3" name="직선 연결선 1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146" name="TextBox 145">
              <a:extLst>
                <a:ext uri="{FF2B5EF4-FFF2-40B4-BE49-F238E27FC236}">
                  <a16:creationId xmlns:a16="http://schemas.microsoft.com/office/drawing/2014/main" id="{FFC49AEA-2A8F-250C-A86A-A7751D9706C3}"/>
                </a:ext>
              </a:extLst>
            </p:cNvPr>
            <p:cNvSpPr txBox="1"/>
            <p:nvPr/>
          </p:nvSpPr>
          <p:spPr>
            <a:xfrm>
              <a:off x="3914777" y="2201247"/>
              <a:ext cx="555764"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147" name="TextBox 146">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Tree>
    <p:extLst>
      <p:ext uri="{BB962C8B-B14F-4D97-AF65-F5344CB8AC3E}">
        <p14:creationId xmlns:p14="http://schemas.microsoft.com/office/powerpoint/2010/main" val="4012334900"/>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슬라이드 번호 개체 틀 2">
            <a:extLst>
              <a:ext uri="{FF2B5EF4-FFF2-40B4-BE49-F238E27FC236}">
                <a16:creationId xmlns:a16="http://schemas.microsoft.com/office/drawing/2014/main" id="{57173212-2A31-2CDA-DA99-1173127D2BDD}"/>
              </a:ext>
            </a:extLst>
          </p:cNvPr>
          <p:cNvSpPr>
            <a:spLocks noGrp="1"/>
          </p:cNvSpPr>
          <p:nvPr>
            <p:ph type="sldNum" sz="quarter" idx="4"/>
          </p:nvPr>
        </p:nvSpPr>
        <p:spPr>
          <a:xfrm>
            <a:off x="4327200" y="6590501"/>
            <a:ext cx="1258128" cy="216000"/>
          </a:xfrm>
        </p:spPr>
        <p:txBody>
          <a:bodyPr/>
          <a:lstStyle/>
          <a:p>
            <a:fld id="{9DF8E3FD-B4FB-473B-BCAD-C4534B9A9D97}" type="slidenum">
              <a:rPr lang="ko-KR" altLang="en-US" smtClean="0"/>
              <a:pPr/>
              <a:t>353</a:t>
            </a:fld>
            <a:endParaRPr lang="ko-KR" altLang="en-US" dirty="0"/>
          </a:p>
        </p:txBody>
      </p:sp>
      <p:sp>
        <p:nvSpPr>
          <p:cNvPr id="5" name="TextBox 4">
            <a:extLst>
              <a:ext uri="{FF2B5EF4-FFF2-40B4-BE49-F238E27FC236}">
                <a16:creationId xmlns:a16="http://schemas.microsoft.com/office/drawing/2014/main" id="{BB82F638-FAE8-B513-A2FF-ED713A4A8717}"/>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(1/3)</a:t>
            </a:r>
            <a:endParaRPr lang="ko-KR" altLang="en-US" sz="1000" b="1" dirty="0">
              <a:solidFill>
                <a:prstClr val="black"/>
              </a:solidFill>
            </a:endParaRPr>
          </a:p>
        </p:txBody>
      </p:sp>
      <p:sp>
        <p:nvSpPr>
          <p:cNvPr id="8" name="TextBox 7">
            <a:extLst>
              <a:ext uri="{FF2B5EF4-FFF2-40B4-BE49-F238E27FC236}">
                <a16:creationId xmlns:a16="http://schemas.microsoft.com/office/drawing/2014/main" id="{9EED3274-A590-A70C-B372-FCD9D7855AD4}"/>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a:t>
            </a:r>
            <a:r>
              <a:rPr lang="en-US" altLang="ko-KR" sz="900" b="1">
                <a:solidFill>
                  <a:prstClr val="black"/>
                </a:solidFill>
              </a:rPr>
              <a:t>. </a:t>
            </a:r>
            <a:r>
              <a:rPr lang="ko-KR" altLang="en-US" sz="900" b="1">
                <a:solidFill>
                  <a:prstClr val="black"/>
                </a:solidFill>
              </a:rPr>
              <a:t>공고일반</a:t>
            </a:r>
            <a:r>
              <a:rPr lang="en-US" altLang="ko-KR" sz="900" b="1">
                <a:solidFill>
                  <a:prstClr val="black"/>
                </a:solidFill>
              </a:rPr>
              <a:t> </a:t>
            </a:r>
            <a:r>
              <a:rPr lang="ko-KR" altLang="en-US" sz="900" b="1">
                <a:solidFill>
                  <a:prstClr val="black"/>
                </a:solidFill>
              </a:rPr>
              <a:t>데이터 영역 </a:t>
            </a:r>
            <a:r>
              <a:rPr lang="en-US" altLang="ko-KR" sz="900" b="1">
                <a:solidFill>
                  <a:prstClr val="black"/>
                </a:solidFill>
              </a:rPr>
              <a:t>(dm_bscPbancInfo)</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5096B890-7217-D769-3AA6-5A4DC3AFB8E7}"/>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a:solidFill>
                            <a:srgbClr val="000000"/>
                          </a:solidFill>
                          <a:effectLst/>
                          <a:latin typeface="+mn-ea"/>
                          <a:ea typeface="+mn-ea"/>
                        </a:rPr>
                        <a:t>개찰일자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9512543"/>
                  </a:ext>
                </a:extLst>
              </a:tr>
              <a:tr h="0">
                <a:tc>
                  <a:txBody>
                    <a:bodyPr/>
                    <a:lstStyle/>
                    <a:p>
                      <a:pPr algn="l" fontAlgn="ctr"/>
                      <a:r>
                        <a:rPr lang="ko-KR" altLang="en-US" sz="800" b="0" i="0" u="none" strike="noStrike">
                          <a:solidFill>
                            <a:srgbClr val="000000"/>
                          </a:solidFill>
                          <a:effectLst/>
                          <a:latin typeface="+mn-ea"/>
                          <a:ea typeface="+mn-ea"/>
                        </a:rPr>
                        <a:t>입찰보증금총액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입찰보증금총액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a:latin typeface="+mn-ea"/>
                          <a:ea typeface="+mn-ea"/>
                        </a:rPr>
                        <a:t>달러금액</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3795882"/>
                  </a:ext>
                </a:extLst>
              </a:tr>
            </a:tbl>
          </a:graphicData>
        </a:graphic>
      </p:graphicFrame>
      <p:sp>
        <p:nvSpPr>
          <p:cNvPr id="10" name="Text Box 73">
            <a:extLst>
              <a:ext uri="{FF2B5EF4-FFF2-40B4-BE49-F238E27FC236}">
                <a16:creationId xmlns:a16="http://schemas.microsoft.com/office/drawing/2014/main" id="{706CF0EE-3332-F1F6-CDAF-CBEE97C8928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1" name="TextBox 10">
            <a:extLst>
              <a:ext uri="{FF2B5EF4-FFF2-40B4-BE49-F238E27FC236}">
                <a16:creationId xmlns:a16="http://schemas.microsoft.com/office/drawing/2014/main" id="{AD0BC6FD-9BF4-CC9F-0C84-718E40C8813E}"/>
              </a:ext>
            </a:extLst>
          </p:cNvPr>
          <p:cNvSpPr txBox="1"/>
          <p:nvPr/>
        </p:nvSpPr>
        <p:spPr>
          <a:xfrm>
            <a:off x="458117" y="2145353"/>
            <a:ext cx="2169431" cy="211203"/>
          </a:xfrm>
          <a:prstGeom prst="rect">
            <a:avLst/>
          </a:prstGeom>
          <a:noFill/>
        </p:spPr>
        <p:txBody>
          <a:bodyPr wrap="none" lIns="36000" tIns="36000" rIns="36000" bIns="36000" rtlCol="0">
            <a:spAutoFit/>
          </a:bodyPr>
          <a:lstStyle/>
          <a:p>
            <a:r>
              <a:rPr lang="en-US" altLang="ko-KR" sz="900" b="1">
                <a:solidFill>
                  <a:prstClr val="black"/>
                </a:solidFill>
              </a:rPr>
              <a:t>1.2. </a:t>
            </a:r>
            <a:r>
              <a:rPr lang="ko-KR" altLang="en-US" sz="900" b="1" dirty="0">
                <a:solidFill>
                  <a:prstClr val="black"/>
                </a:solidFill>
              </a:rPr>
              <a:t>신청업체 데이터 </a:t>
            </a:r>
            <a:r>
              <a:rPr lang="ko-KR" altLang="en-US" sz="900" b="1">
                <a:solidFill>
                  <a:prstClr val="black"/>
                </a:solidFill>
              </a:rPr>
              <a:t>영역 </a:t>
            </a:r>
            <a:r>
              <a:rPr lang="en-US" altLang="ko-KR" sz="900" b="1">
                <a:solidFill>
                  <a:prstClr val="black"/>
                </a:solidFill>
              </a:rPr>
              <a:t>(dm_sbtInfo)</a:t>
            </a:r>
            <a:endParaRPr lang="ko-KR" altLang="en-US" sz="900" b="1" dirty="0">
              <a:solidFill>
                <a:prstClr val="black"/>
              </a:solidFill>
            </a:endParaRPr>
          </a:p>
        </p:txBody>
      </p:sp>
      <p:sp>
        <p:nvSpPr>
          <p:cNvPr id="12" name="TextBox 11">
            <a:extLst>
              <a:ext uri="{FF2B5EF4-FFF2-40B4-BE49-F238E27FC236}">
                <a16:creationId xmlns:a16="http://schemas.microsoft.com/office/drawing/2014/main" id="{1A6EE07D-8818-6382-73E6-3B66AF62E86C}"/>
              </a:ext>
            </a:extLst>
          </p:cNvPr>
          <p:cNvSpPr txBox="1"/>
          <p:nvPr/>
        </p:nvSpPr>
        <p:spPr>
          <a:xfrm>
            <a:off x="458117" y="4230887"/>
            <a:ext cx="2219125" cy="211203"/>
          </a:xfrm>
          <a:prstGeom prst="rect">
            <a:avLst/>
          </a:prstGeom>
          <a:noFill/>
        </p:spPr>
        <p:txBody>
          <a:bodyPr wrap="none" lIns="36000" tIns="36000" rIns="36000" bIns="36000" rtlCol="0">
            <a:spAutoFit/>
          </a:bodyPr>
          <a:lstStyle/>
          <a:p>
            <a:r>
              <a:rPr lang="en-US" altLang="ko-KR" sz="900" b="1">
                <a:solidFill>
                  <a:prstClr val="black"/>
                </a:solidFill>
              </a:rPr>
              <a:t>1.3. </a:t>
            </a:r>
            <a:r>
              <a:rPr lang="ko-KR" altLang="en-US" sz="900" b="1" dirty="0">
                <a:solidFill>
                  <a:prstClr val="black"/>
                </a:solidFill>
              </a:rPr>
              <a:t>입찰업체</a:t>
            </a:r>
            <a:r>
              <a:rPr lang="en-US" altLang="ko-KR" sz="900" b="1" dirty="0">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(dm_splyInfo)</a:t>
            </a:r>
            <a:endParaRPr lang="ko-KR" altLang="en-US" sz="900" b="1" dirty="0">
              <a:solidFill>
                <a:prstClr val="black"/>
              </a:solidFill>
            </a:endParaRPr>
          </a:p>
        </p:txBody>
      </p:sp>
      <p:graphicFrame>
        <p:nvGraphicFramePr>
          <p:cNvPr id="13" name="표 12">
            <a:extLst>
              <a:ext uri="{FF2B5EF4-FFF2-40B4-BE49-F238E27FC236}">
                <a16:creationId xmlns:a16="http://schemas.microsoft.com/office/drawing/2014/main" id="{5F40EC03-1B71-131D-33EC-9CD9BAEA1BCD}"/>
              </a:ext>
            </a:extLst>
          </p:cNvPr>
          <p:cNvGraphicFramePr>
            <a:graphicFrameLocks noGrp="1"/>
          </p:cNvGraphicFramePr>
          <p:nvPr/>
        </p:nvGraphicFramePr>
        <p:xfrm>
          <a:off x="452999" y="2356556"/>
          <a:ext cx="8994883" cy="1745280"/>
        </p:xfrm>
        <a:graphic>
          <a:graphicData uri="http://schemas.openxmlformats.org/drawingml/2006/table">
            <a:tbl>
              <a:tblPr>
                <a:tableStyleId>{616DA210-FB5B-4158-B5E0-FEB733F419BA}</a:tableStyleId>
              </a:tblPr>
              <a:tblGrid>
                <a:gridCol w="1375801">
                  <a:extLst>
                    <a:ext uri="{9D8B030D-6E8A-4147-A177-3AD203B41FA5}">
                      <a16:colId xmlns:a16="http://schemas.microsoft.com/office/drawing/2014/main" val="20000"/>
                    </a:ext>
                  </a:extLst>
                </a:gridCol>
                <a:gridCol w="1295400">
                  <a:extLst>
                    <a:ext uri="{9D8B030D-6E8A-4147-A177-3AD203B41FA5}">
                      <a16:colId xmlns:a16="http://schemas.microsoft.com/office/drawing/2014/main" val="2834569402"/>
                    </a:ext>
                  </a:extLst>
                </a:gridCol>
                <a:gridCol w="257581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1512057"/>
                  </a:ext>
                </a:extLst>
              </a:tr>
              <a:tr h="0">
                <a:tc>
                  <a:txBody>
                    <a:bodyPr/>
                    <a:lstStyle/>
                    <a:p>
                      <a:pPr algn="l" fontAlgn="ctr"/>
                      <a:r>
                        <a:rPr lang="ko-KR" altLang="en-US" sz="800" b="0" i="0" u="none" strike="noStrike">
                          <a:solidFill>
                            <a:srgbClr val="000000"/>
                          </a:solidFill>
                          <a:effectLst/>
                          <a:latin typeface="+mn-ea"/>
                          <a:ea typeface="+mn-ea"/>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1785839"/>
                  </a:ext>
                </a:extLst>
              </a:tr>
              <a:tr h="0">
                <a:tc>
                  <a:txBody>
                    <a:bodyPr/>
                    <a:lstStyle/>
                    <a:p>
                      <a:pPr algn="l" fontAlgn="ctr"/>
                      <a:r>
                        <a:rPr lang="ko-KR" altLang="en-US" sz="800" b="0" i="0" u="none" strike="noStrike" dirty="0">
                          <a:solidFill>
                            <a:srgbClr val="000000"/>
                          </a:solidFill>
                          <a:effectLst/>
                          <a:latin typeface="+mn-ea"/>
                          <a:ea typeface="+mn-ea"/>
                        </a:rPr>
                        <a:t>신청업체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대표자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717849"/>
                  </a:ext>
                </a:extLst>
              </a:tr>
              <a:tr h="0">
                <a:tc>
                  <a:txBody>
                    <a:bodyPr/>
                    <a:lstStyle/>
                    <a:p>
                      <a:pPr algn="l" fontAlgn="ctr"/>
                      <a:r>
                        <a:rPr lang="ko-KR" altLang="en-US" sz="800" b="0" i="0" u="none" strike="noStrike" dirty="0">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598984"/>
                  </a:ext>
                </a:extLst>
              </a:tr>
              <a:tr h="0">
                <a:tc>
                  <a:txBody>
                    <a:bodyPr/>
                    <a:lstStyle/>
                    <a:p>
                      <a:pPr algn="l" fontAlgn="ctr"/>
                      <a:r>
                        <a:rPr lang="ko-KR" altLang="en-US" sz="800" b="0" i="0" u="none" strike="noStrike" dirty="0">
                          <a:solidFill>
                            <a:srgbClr val="000000"/>
                          </a:solidFill>
                          <a:effectLst/>
                          <a:latin typeface="+mn-ea"/>
                          <a:ea typeface="+mn-ea"/>
                        </a:rPr>
                        <a:t>신청업체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9503326"/>
                  </a:ext>
                </a:extLst>
              </a:tr>
              <a:tr h="0">
                <a:tc>
                  <a:txBody>
                    <a:bodyPr/>
                    <a:lstStyle/>
                    <a:p>
                      <a:pPr algn="l" fontAlgn="ctr"/>
                      <a:r>
                        <a:rPr lang="ko-KR" altLang="en-US" sz="800" b="0" i="0" u="none" strike="noStrike" dirty="0">
                          <a:solidFill>
                            <a:srgbClr val="000000"/>
                          </a:solidFill>
                          <a:effectLst/>
                          <a:latin typeface="+mn-ea"/>
                          <a:ea typeface="+mn-ea"/>
                        </a:rPr>
                        <a:t>신청업체 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14" name="표 13">
            <a:extLst>
              <a:ext uri="{FF2B5EF4-FFF2-40B4-BE49-F238E27FC236}">
                <a16:creationId xmlns:a16="http://schemas.microsoft.com/office/drawing/2014/main" id="{81473B5E-D952-96D2-4714-429B801E749E}"/>
              </a:ext>
            </a:extLst>
          </p:cNvPr>
          <p:cNvGraphicFramePr>
            <a:graphicFrameLocks noGrp="1"/>
          </p:cNvGraphicFramePr>
          <p:nvPr/>
        </p:nvGraphicFramePr>
        <p:xfrm>
          <a:off x="452999" y="4442090"/>
          <a:ext cx="8994883" cy="1745280"/>
        </p:xfrm>
        <a:graphic>
          <a:graphicData uri="http://schemas.openxmlformats.org/drawingml/2006/table">
            <a:tbl>
              <a:tblPr>
                <a:tableStyleId>{616DA210-FB5B-4158-B5E0-FEB733F419BA}</a:tableStyleId>
              </a:tblPr>
              <a:tblGrid>
                <a:gridCol w="1347226">
                  <a:extLst>
                    <a:ext uri="{9D8B030D-6E8A-4147-A177-3AD203B41FA5}">
                      <a16:colId xmlns:a16="http://schemas.microsoft.com/office/drawing/2014/main" val="20000"/>
                    </a:ext>
                  </a:extLst>
                </a:gridCol>
                <a:gridCol w="1304925">
                  <a:extLst>
                    <a:ext uri="{9D8B030D-6E8A-4147-A177-3AD203B41FA5}">
                      <a16:colId xmlns:a16="http://schemas.microsoft.com/office/drawing/2014/main" val="1403555245"/>
                    </a:ext>
                  </a:extLst>
                </a:gridCol>
                <a:gridCol w="259486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4993169"/>
                  </a:ext>
                </a:extLst>
              </a:tr>
              <a:tr h="0">
                <a:tc>
                  <a:txBody>
                    <a:bodyPr/>
                    <a:lstStyle/>
                    <a:p>
                      <a:pPr algn="l" fontAlgn="ctr"/>
                      <a:r>
                        <a:rPr lang="ko-KR" altLang="en-US" sz="800" b="0" i="0" u="none" strike="noStrike" dirty="0">
                          <a:solidFill>
                            <a:srgbClr val="000000"/>
                          </a:solidFill>
                          <a:effectLst/>
                          <a:latin typeface="+mn-ea"/>
                          <a:ea typeface="+mn-ea"/>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08371"/>
                  </a:ext>
                </a:extLst>
              </a:tr>
              <a:tr h="0">
                <a:tc>
                  <a:txBody>
                    <a:bodyPr/>
                    <a:lstStyle/>
                    <a:p>
                      <a:pPr algn="l" fontAlgn="ctr"/>
                      <a:r>
                        <a:rPr lang="ko-KR" altLang="en-US" sz="800" b="0" i="0" u="none" strike="noStrike">
                          <a:solidFill>
                            <a:srgbClr val="000000"/>
                          </a:solidFill>
                          <a:effectLst/>
                          <a:latin typeface="+mn-ea"/>
                          <a:ea typeface="+mn-ea"/>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147523"/>
                  </a:ext>
                </a:extLst>
              </a:tr>
              <a:tr h="0">
                <a:tc>
                  <a:txBody>
                    <a:bodyPr/>
                    <a:lstStyle/>
                    <a:p>
                      <a:pPr algn="l" fontAlgn="ctr"/>
                      <a:r>
                        <a:rPr lang="ko-KR" altLang="en-US" sz="800" b="0" i="0" u="none" strike="noStrike">
                          <a:solidFill>
                            <a:srgbClr val="000000"/>
                          </a:solidFill>
                          <a:effectLst/>
                          <a:latin typeface="+mn-ea"/>
                          <a:ea typeface="+mn-ea"/>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9717549"/>
                  </a:ext>
                </a:extLst>
              </a:tr>
              <a:tr h="0">
                <a:tc>
                  <a:txBody>
                    <a:bodyPr/>
                    <a:lstStyle/>
                    <a:p>
                      <a:pPr algn="l" fontAlgn="ctr"/>
                      <a:r>
                        <a:rPr lang="ko-KR" altLang="en-US" sz="800" b="0" i="0" u="none" strike="noStrike" dirty="0">
                          <a:solidFill>
                            <a:srgbClr val="000000"/>
                          </a:solidFill>
                          <a:effectLst/>
                          <a:latin typeface="+mn-ea"/>
                          <a:ea typeface="+mn-ea"/>
                        </a:rPr>
                        <a:t>입찰업체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7425815"/>
                  </a:ext>
                </a:extLst>
              </a:tr>
              <a:tr h="0">
                <a:tc>
                  <a:txBody>
                    <a:bodyPr/>
                    <a:lstStyle/>
                    <a:p>
                      <a:pPr algn="l" fontAlgn="ctr"/>
                      <a:r>
                        <a:rPr lang="ko-KR" altLang="en-US" sz="800" b="0" i="0" u="none" strike="noStrike">
                          <a:solidFill>
                            <a:srgbClr val="000000"/>
                          </a:solidFill>
                          <a:effectLst/>
                          <a:latin typeface="+mn-ea"/>
                          <a:ea typeface="+mn-ea"/>
                        </a:rPr>
                        <a:t>입찰업체 사업자등록번호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2271372522"/>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2">
            <a:extLst>
              <a:ext uri="{FF2B5EF4-FFF2-40B4-BE49-F238E27FC236}">
                <a16:creationId xmlns:a16="http://schemas.microsoft.com/office/drawing/2014/main" id="{EADF6B28-6495-3BB2-E99F-C95ABCFEB3B4}"/>
              </a:ext>
            </a:extLst>
          </p:cNvPr>
          <p:cNvSpPr>
            <a:spLocks noGrp="1"/>
          </p:cNvSpPr>
          <p:nvPr>
            <p:ph type="sldNum" sz="quarter" idx="4"/>
          </p:nvPr>
        </p:nvSpPr>
        <p:spPr>
          <a:xfrm>
            <a:off x="4327200" y="6590501"/>
            <a:ext cx="1258128" cy="216000"/>
          </a:xfrm>
        </p:spPr>
        <p:txBody>
          <a:bodyPr/>
          <a:lstStyle/>
          <a:p>
            <a:fld id="{9DF8E3FD-B4FB-473B-BCAD-C4534B9A9D97}" type="slidenum">
              <a:rPr lang="ko-KR" altLang="en-US" smtClean="0"/>
              <a:pPr/>
              <a:t>354</a:t>
            </a:fld>
            <a:endParaRPr lang="ko-KR" altLang="en-US" dirty="0"/>
          </a:p>
        </p:txBody>
      </p:sp>
      <p:sp>
        <p:nvSpPr>
          <p:cNvPr id="5" name="TextBox 4">
            <a:extLst>
              <a:ext uri="{FF2B5EF4-FFF2-40B4-BE49-F238E27FC236}">
                <a16:creationId xmlns:a16="http://schemas.microsoft.com/office/drawing/2014/main" id="{374C37C3-3D9C-C39F-A787-D914DCD5ECD6}"/>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(2/3)</a:t>
            </a:r>
            <a:endParaRPr lang="ko-KR" altLang="en-US" sz="1000" b="1" dirty="0">
              <a:solidFill>
                <a:prstClr val="black"/>
              </a:solidFill>
            </a:endParaRPr>
          </a:p>
        </p:txBody>
      </p:sp>
      <p:sp>
        <p:nvSpPr>
          <p:cNvPr id="8" name="TextBox 7">
            <a:extLst>
              <a:ext uri="{FF2B5EF4-FFF2-40B4-BE49-F238E27FC236}">
                <a16:creationId xmlns:a16="http://schemas.microsoft.com/office/drawing/2014/main" id="{58EF83F8-382F-1F9E-01D7-8F12C93D382B}"/>
              </a:ext>
            </a:extLst>
          </p:cNvPr>
          <p:cNvSpPr txBox="1"/>
          <p:nvPr/>
        </p:nvSpPr>
        <p:spPr>
          <a:xfrm>
            <a:off x="458117" y="803113"/>
            <a:ext cx="3833348"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입찰참가사업 및 입찰보증금</a:t>
            </a:r>
            <a:r>
              <a:rPr lang="en-US" altLang="ko-KR" sz="900" b="1">
                <a:solidFill>
                  <a:prstClr val="black"/>
                </a:solidFill>
              </a:rPr>
              <a:t>(</a:t>
            </a:r>
            <a:r>
              <a:rPr lang="ko-KR" altLang="en-US" sz="900" b="1">
                <a:solidFill>
                  <a:prstClr val="black"/>
                </a:solidFill>
              </a:rPr>
              <a:t>보증금비면제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(dl_bizList)</a:t>
            </a:r>
            <a:endParaRPr lang="ko-KR" altLang="en-US" sz="900" b="1" dirty="0">
              <a:solidFill>
                <a:prstClr val="black"/>
              </a:solidFill>
            </a:endParaRPr>
          </a:p>
        </p:txBody>
      </p:sp>
      <p:sp>
        <p:nvSpPr>
          <p:cNvPr id="9" name="TextBox 8">
            <a:extLst>
              <a:ext uri="{FF2B5EF4-FFF2-40B4-BE49-F238E27FC236}">
                <a16:creationId xmlns:a16="http://schemas.microsoft.com/office/drawing/2014/main" id="{7485602E-6EF2-FEE0-0585-58A51A6D6259}"/>
              </a:ext>
            </a:extLst>
          </p:cNvPr>
          <p:cNvSpPr txBox="1"/>
          <p:nvPr/>
        </p:nvSpPr>
        <p:spPr>
          <a:xfrm>
            <a:off x="458117" y="3652046"/>
            <a:ext cx="4136316"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a:solidFill>
                  <a:prstClr val="black"/>
                </a:solidFill>
              </a:rPr>
              <a:t>입찰참가사업 및 입찰보증금</a:t>
            </a:r>
            <a:r>
              <a:rPr lang="en-US" altLang="ko-KR" sz="900" b="1">
                <a:solidFill>
                  <a:prstClr val="black"/>
                </a:solidFill>
              </a:rPr>
              <a:t>(</a:t>
            </a:r>
            <a:r>
              <a:rPr lang="ko-KR" altLang="en-US" sz="900" b="1">
                <a:solidFill>
                  <a:prstClr val="black"/>
                </a:solidFill>
              </a:rPr>
              <a:t>보증금면제</a:t>
            </a:r>
            <a:r>
              <a:rPr lang="en-US" altLang="ko-KR" sz="900" b="1">
                <a:solidFill>
                  <a:prstClr val="black"/>
                </a:solidFill>
              </a:rPr>
              <a:t>)</a:t>
            </a:r>
            <a:r>
              <a:rPr lang="ko-KR" altLang="en-US" sz="900" b="1">
                <a:solidFill>
                  <a:prstClr val="black"/>
                </a:solidFill>
              </a:rPr>
              <a:t> 데이터 영역 </a:t>
            </a:r>
            <a:r>
              <a:rPr lang="en-US" altLang="ko-KR" sz="900" b="1">
                <a:solidFill>
                  <a:prstClr val="black"/>
                </a:solidFill>
              </a:rPr>
              <a:t>(dl_bizExmptnList)</a:t>
            </a:r>
            <a:endParaRPr lang="ko-KR" altLang="en-US" sz="900" b="1" dirty="0">
              <a:solidFill>
                <a:prstClr val="black"/>
              </a:solidFill>
            </a:endParaRPr>
          </a:p>
        </p:txBody>
      </p:sp>
      <p:graphicFrame>
        <p:nvGraphicFramePr>
          <p:cNvPr id="10" name="표 9">
            <a:extLst>
              <a:ext uri="{FF2B5EF4-FFF2-40B4-BE49-F238E27FC236}">
                <a16:creationId xmlns:a16="http://schemas.microsoft.com/office/drawing/2014/main" id="{0912E143-C26F-CEA0-EBA7-8196D2D8FBBD}"/>
              </a:ext>
            </a:extLst>
          </p:cNvPr>
          <p:cNvGraphicFramePr>
            <a:graphicFrameLocks noGrp="1"/>
          </p:cNvGraphicFramePr>
          <p:nvPr/>
        </p:nvGraphicFramePr>
        <p:xfrm>
          <a:off x="452999" y="1014316"/>
          <a:ext cx="8994883" cy="2133120"/>
        </p:xfrm>
        <a:graphic>
          <a:graphicData uri="http://schemas.openxmlformats.org/drawingml/2006/table">
            <a:tbl>
              <a:tblPr>
                <a:tableStyleId>{616DA210-FB5B-4158-B5E0-FEB733F419BA}</a:tableStyleId>
              </a:tblPr>
              <a:tblGrid>
                <a:gridCol w="1375801">
                  <a:extLst>
                    <a:ext uri="{9D8B030D-6E8A-4147-A177-3AD203B41FA5}">
                      <a16:colId xmlns:a16="http://schemas.microsoft.com/office/drawing/2014/main" val="20000"/>
                    </a:ext>
                  </a:extLst>
                </a:gridCol>
                <a:gridCol w="1295400">
                  <a:extLst>
                    <a:ext uri="{9D8B030D-6E8A-4147-A177-3AD203B41FA5}">
                      <a16:colId xmlns:a16="http://schemas.microsoft.com/office/drawing/2014/main" val="2834569402"/>
                    </a:ext>
                  </a:extLst>
                </a:gridCol>
                <a:gridCol w="257581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1512057"/>
                  </a:ext>
                </a:extLst>
              </a:tr>
              <a:tr h="0">
                <a:tc>
                  <a:txBody>
                    <a:bodyPr/>
                    <a:lstStyle/>
                    <a:p>
                      <a:pPr algn="l" fontAlgn="ctr"/>
                      <a:r>
                        <a:rPr lang="ko-KR" altLang="en-US" sz="800" b="0" i="0" u="none" strike="noStrike">
                          <a:solidFill>
                            <a:srgbClr val="000000"/>
                          </a:solidFill>
                          <a:effectLst/>
                          <a:latin typeface="+mn-ea"/>
                          <a:ea typeface="+mn-ea"/>
                        </a:rPr>
                        <a:t>입찰품목수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입찰에 참여할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1785839"/>
                  </a:ext>
                </a:extLst>
              </a:tr>
              <a:tr h="0">
                <a:tc>
                  <a:txBody>
                    <a:bodyPr/>
                    <a:lstStyle/>
                    <a:p>
                      <a:pPr algn="l" fontAlgn="ctr"/>
                      <a:r>
                        <a:rPr lang="ko-KR" altLang="en-US" sz="800" b="0" i="0" u="none" strike="noStrike">
                          <a:solidFill>
                            <a:srgbClr val="000000"/>
                          </a:solidFill>
                          <a:effectLst/>
                          <a:latin typeface="+mn-ea"/>
                          <a:ea typeface="+mn-ea"/>
                        </a:rPr>
                        <a:t>입찰금액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입찰총금액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717849"/>
                  </a:ext>
                </a:extLst>
              </a:tr>
              <a:tr h="0">
                <a:tc>
                  <a:txBody>
                    <a:bodyPr/>
                    <a:lstStyle/>
                    <a:p>
                      <a:pPr algn="l" fontAlgn="ctr"/>
                      <a:r>
                        <a:rPr lang="ko-KR" altLang="en-US" sz="800" b="0" i="0" u="none" strike="noStrike">
                          <a:solidFill>
                            <a:srgbClr val="000000"/>
                          </a:solidFill>
                          <a:effectLst/>
                          <a:latin typeface="+mn-ea"/>
                          <a:ea typeface="+mn-ea"/>
                        </a:rPr>
                        <a:t>입찰보증금</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598984"/>
                  </a:ext>
                </a:extLst>
              </a:tr>
              <a:tr h="0">
                <a:tc>
                  <a:txBody>
                    <a:bodyPr/>
                    <a:lstStyle/>
                    <a:p>
                      <a:pPr algn="l" fontAlgn="ctr"/>
                      <a:r>
                        <a:rPr lang="ko-KR" altLang="en-US" sz="800" b="0" i="0" u="none" strike="noStrike">
                          <a:solidFill>
                            <a:srgbClr val="000000"/>
                          </a:solidFill>
                          <a:effectLst/>
                          <a:latin typeface="+mn-ea"/>
                          <a:ea typeface="+mn-ea"/>
                        </a:rPr>
                        <a:t>입찰보증금</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확인입력</a:t>
                      </a:r>
                      <a:r>
                        <a:rPr lang="en-US" altLang="ko-KR" sz="800" b="0" i="0" u="none" strike="noStrike">
                          <a:solidFill>
                            <a:srgbClr val="000000"/>
                          </a:solidFill>
                          <a:effectLst/>
                          <a:latin typeface="+mn-ea"/>
                          <a:ea typeface="+mn-ea"/>
                        </a:rPr>
                        <a:t>)</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chckBidGrnteAmt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 확인입력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9503326"/>
                  </a:ext>
                </a:extLst>
              </a:tr>
              <a:tr h="0">
                <a:tc>
                  <a:txBody>
                    <a:bodyPr/>
                    <a:lstStyle/>
                    <a:p>
                      <a:pPr algn="l" fontAlgn="ctr"/>
                      <a:r>
                        <a:rPr lang="ko-KR" altLang="en-US" sz="800" b="0" i="0" u="none" strike="noStrike">
                          <a:solidFill>
                            <a:srgbClr val="000000"/>
                          </a:solidFill>
                          <a:effectLst/>
                          <a:latin typeface="+mn-ea"/>
                          <a:ea typeface="+mn-ea"/>
                        </a:rPr>
                        <a:t>보증금납부방법</a:t>
                      </a:r>
                      <a:endParaRPr lang="en-US" altLang="ko-KR" sz="800" b="0" i="0" u="none" strike="noStrike">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grntePayMth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보증금납부방법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a:solidFill>
                            <a:srgbClr val="000000"/>
                          </a:solidFill>
                          <a:effectLst/>
                          <a:latin typeface="+mn-ea"/>
                          <a:ea typeface="+mn-ea"/>
                        </a:rPr>
                        <a:t>보증금증권번호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wtgrNo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보증금증권번호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r h="0">
                <a:tc>
                  <a:txBody>
                    <a:bodyPr/>
                    <a:lstStyle/>
                    <a:p>
                      <a:pPr algn="l" fontAlgn="ctr"/>
                      <a:r>
                        <a:rPr lang="ko-KR" altLang="en-US" sz="800" b="0" i="0" u="none" strike="noStrike">
                          <a:solidFill>
                            <a:srgbClr val="000000"/>
                          </a:solidFill>
                          <a:effectLst/>
                          <a:latin typeface="+mn-ea"/>
                          <a:ea typeface="+mn-ea"/>
                        </a:rPr>
                        <a:t>보증기관명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grnteInstNm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보증기관명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6925270"/>
                  </a:ext>
                </a:extLst>
              </a:tr>
              <a:tr h="0">
                <a:tc>
                  <a:txBody>
                    <a:bodyPr/>
                    <a:lstStyle/>
                    <a:p>
                      <a:pPr algn="l" fontAlgn="ctr"/>
                      <a:r>
                        <a:rPr lang="ko-KR" altLang="en-US" sz="800" b="0" i="0" u="none" strike="noStrike">
                          <a:solidFill>
                            <a:srgbClr val="000000"/>
                          </a:solidFill>
                          <a:effectLst/>
                          <a:latin typeface="+mn-ea"/>
                          <a:ea typeface="+mn-ea"/>
                        </a:rPr>
                        <a:t>입찰보증금납부서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grntePyslDocNo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입찰보증금납부서 파일명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26281910"/>
                  </a:ext>
                </a:extLst>
              </a:tr>
            </a:tbl>
          </a:graphicData>
        </a:graphic>
      </p:graphicFrame>
      <p:graphicFrame>
        <p:nvGraphicFramePr>
          <p:cNvPr id="11" name="표 10">
            <a:extLst>
              <a:ext uri="{FF2B5EF4-FFF2-40B4-BE49-F238E27FC236}">
                <a16:creationId xmlns:a16="http://schemas.microsoft.com/office/drawing/2014/main" id="{CD24AF3B-2F7D-B9FB-BE59-0DCB171F56FB}"/>
              </a:ext>
            </a:extLst>
          </p:cNvPr>
          <p:cNvGraphicFramePr>
            <a:graphicFrameLocks noGrp="1"/>
          </p:cNvGraphicFramePr>
          <p:nvPr/>
        </p:nvGraphicFramePr>
        <p:xfrm>
          <a:off x="452999" y="3863249"/>
          <a:ext cx="8994883" cy="1745280"/>
        </p:xfrm>
        <a:graphic>
          <a:graphicData uri="http://schemas.openxmlformats.org/drawingml/2006/table">
            <a:tbl>
              <a:tblPr>
                <a:tableStyleId>{616DA210-FB5B-4158-B5E0-FEB733F419BA}</a:tableStyleId>
              </a:tblPr>
              <a:tblGrid>
                <a:gridCol w="1347226">
                  <a:extLst>
                    <a:ext uri="{9D8B030D-6E8A-4147-A177-3AD203B41FA5}">
                      <a16:colId xmlns:a16="http://schemas.microsoft.com/office/drawing/2014/main" val="20000"/>
                    </a:ext>
                  </a:extLst>
                </a:gridCol>
                <a:gridCol w="1304925">
                  <a:extLst>
                    <a:ext uri="{9D8B030D-6E8A-4147-A177-3AD203B41FA5}">
                      <a16:colId xmlns:a16="http://schemas.microsoft.com/office/drawing/2014/main" val="1403555245"/>
                    </a:ext>
                  </a:extLst>
                </a:gridCol>
                <a:gridCol w="2594863">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구매요청번호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4993169"/>
                  </a:ext>
                </a:extLst>
              </a:tr>
              <a:tr h="0">
                <a:tc>
                  <a:txBody>
                    <a:bodyPr/>
                    <a:lstStyle/>
                    <a:p>
                      <a:pPr algn="l" fontAlgn="ctr"/>
                      <a:r>
                        <a:rPr lang="ko-KR" altLang="en-US" sz="800" b="0" i="0" u="none" strike="noStrike">
                          <a:solidFill>
                            <a:srgbClr val="000000"/>
                          </a:solidFill>
                          <a:effectLst/>
                          <a:latin typeface="+mn-ea"/>
                          <a:ea typeface="+mn-ea"/>
                        </a:rPr>
                        <a:t>입찰품목수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입찰에 참여할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508371"/>
                  </a:ext>
                </a:extLst>
              </a:tr>
              <a:tr h="0">
                <a:tc>
                  <a:txBody>
                    <a:bodyPr/>
                    <a:lstStyle/>
                    <a:p>
                      <a:pPr algn="l" fontAlgn="ctr"/>
                      <a:r>
                        <a:rPr lang="ko-KR" altLang="en-US" sz="800" b="0" i="0" u="none" strike="noStrike">
                          <a:solidFill>
                            <a:srgbClr val="000000"/>
                          </a:solidFill>
                          <a:effectLst/>
                          <a:latin typeface="+mn-ea"/>
                          <a:ea typeface="+mn-ea"/>
                        </a:rPr>
                        <a:t>입찰금액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입찰총금액</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147523"/>
                  </a:ext>
                </a:extLst>
              </a:tr>
              <a:tr h="0">
                <a:tc>
                  <a:txBody>
                    <a:bodyPr/>
                    <a:lstStyle/>
                    <a:p>
                      <a:pPr algn="l" fontAlgn="ctr"/>
                      <a:r>
                        <a:rPr lang="ko-KR" altLang="en-US" sz="800" b="0" i="0" u="none" strike="noStrike">
                          <a:solidFill>
                            <a:srgbClr val="000000"/>
                          </a:solidFill>
                          <a:effectLst/>
                          <a:latin typeface="+mn-ea"/>
                          <a:ea typeface="+mn-ea"/>
                        </a:rPr>
                        <a:t>입찰보증금</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9717549"/>
                  </a:ext>
                </a:extLst>
              </a:tr>
              <a:tr h="0">
                <a:tc>
                  <a:txBody>
                    <a:bodyPr/>
                    <a:lstStyle/>
                    <a:p>
                      <a:pPr algn="l" fontAlgn="ctr"/>
                      <a:r>
                        <a:rPr lang="ko-KR" altLang="en-US" sz="800" b="0" i="0" u="none" strike="noStrike">
                          <a:solidFill>
                            <a:srgbClr val="000000"/>
                          </a:solidFill>
                          <a:effectLst/>
                          <a:latin typeface="+mn-ea"/>
                          <a:ea typeface="+mn-ea"/>
                        </a:rPr>
                        <a:t>입찰보증금</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확인입력</a:t>
                      </a:r>
                      <a:r>
                        <a:rPr lang="en-US" altLang="ko-KR" sz="800" b="0" i="0" u="none" strike="noStrike">
                          <a:solidFill>
                            <a:srgbClr val="000000"/>
                          </a:solidFill>
                          <a:effectLst/>
                          <a:latin typeface="+mn-ea"/>
                          <a:ea typeface="+mn-ea"/>
                        </a:rPr>
                        <a:t>)</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chckBidGrnteAmt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입찰보증금 확인입력</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7425815"/>
                  </a:ext>
                </a:extLst>
              </a:tr>
              <a:tr h="0">
                <a:tc>
                  <a:txBody>
                    <a:bodyPr/>
                    <a:lstStyle/>
                    <a:p>
                      <a:pPr algn="l" fontAlgn="ctr"/>
                      <a:r>
                        <a:rPr lang="ko-KR" altLang="en-US" sz="800" b="0" i="0" u="none" strike="noStrike">
                          <a:solidFill>
                            <a:srgbClr val="000000"/>
                          </a:solidFill>
                          <a:effectLst/>
                          <a:latin typeface="+mn-ea"/>
                          <a:ea typeface="+mn-ea"/>
                        </a:rPr>
                        <a:t>연대보증서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gurnAgreDocNo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연대보증서 파일명</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a:solidFill>
                            <a:srgbClr val="000000"/>
                          </a:solidFill>
                          <a:effectLst/>
                          <a:latin typeface="+mn-ea"/>
                          <a:ea typeface="+mn-ea"/>
                        </a:rPr>
                        <a:t>지급각서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giveWrtprmDocNo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지급각서 파일명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12" name="Text Box 73">
            <a:extLst>
              <a:ext uri="{FF2B5EF4-FFF2-40B4-BE49-F238E27FC236}">
                <a16:creationId xmlns:a16="http://schemas.microsoft.com/office/drawing/2014/main" id="{BB0BD2A9-5C30-9253-867D-4DD0B85EC49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718751539"/>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슬라이드 번호 개체 틀 2">
            <a:extLst>
              <a:ext uri="{FF2B5EF4-FFF2-40B4-BE49-F238E27FC236}">
                <a16:creationId xmlns:a16="http://schemas.microsoft.com/office/drawing/2014/main" id="{07CDEDB8-0A7B-012F-9DFC-76C8BAC18A72}"/>
              </a:ext>
            </a:extLst>
          </p:cNvPr>
          <p:cNvSpPr>
            <a:spLocks noGrp="1"/>
          </p:cNvSpPr>
          <p:nvPr>
            <p:ph type="sldNum" sz="quarter" idx="4"/>
          </p:nvPr>
        </p:nvSpPr>
        <p:spPr>
          <a:xfrm>
            <a:off x="4327200" y="6590501"/>
            <a:ext cx="1258128" cy="216000"/>
          </a:xfrm>
        </p:spPr>
        <p:txBody>
          <a:bodyPr/>
          <a:lstStyle/>
          <a:p>
            <a:fld id="{9DF8E3FD-B4FB-473B-BCAD-C4534B9A9D97}" type="slidenum">
              <a:rPr lang="ko-KR" altLang="en-US" smtClean="0"/>
              <a:pPr/>
              <a:t>355</a:t>
            </a:fld>
            <a:endParaRPr lang="ko-KR" altLang="en-US" dirty="0"/>
          </a:p>
        </p:txBody>
      </p:sp>
      <p:sp>
        <p:nvSpPr>
          <p:cNvPr id="5" name="TextBox 4">
            <a:extLst>
              <a:ext uri="{FF2B5EF4-FFF2-40B4-BE49-F238E27FC236}">
                <a16:creationId xmlns:a16="http://schemas.microsoft.com/office/drawing/2014/main" id="{D57566C7-DDEC-1239-BBFD-695049E589A5}"/>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(3/3)</a:t>
            </a:r>
            <a:endParaRPr lang="ko-KR" altLang="en-US" sz="1000" b="1" dirty="0">
              <a:solidFill>
                <a:prstClr val="black"/>
              </a:solidFill>
            </a:endParaRPr>
          </a:p>
        </p:txBody>
      </p:sp>
      <p:sp>
        <p:nvSpPr>
          <p:cNvPr id="6" name="Text Box 73">
            <a:extLst>
              <a:ext uri="{FF2B5EF4-FFF2-40B4-BE49-F238E27FC236}">
                <a16:creationId xmlns:a16="http://schemas.microsoft.com/office/drawing/2014/main" id="{599796C5-68AE-CD84-A57F-6F565BC04720}"/>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7" name="TextBox 6">
            <a:extLst>
              <a:ext uri="{FF2B5EF4-FFF2-40B4-BE49-F238E27FC236}">
                <a16:creationId xmlns:a16="http://schemas.microsoft.com/office/drawing/2014/main" id="{0A197180-876D-2974-1D53-55DE1C688016}"/>
              </a:ext>
            </a:extLst>
          </p:cNvPr>
          <p:cNvSpPr txBox="1"/>
          <p:nvPr/>
        </p:nvSpPr>
        <p:spPr>
          <a:xfrm>
            <a:off x="452999" y="796115"/>
            <a:ext cx="2094090" cy="211203"/>
          </a:xfrm>
          <a:prstGeom prst="rect">
            <a:avLst/>
          </a:prstGeom>
          <a:noFill/>
        </p:spPr>
        <p:txBody>
          <a:bodyPr wrap="none" lIns="36000" tIns="36000" rIns="36000" bIns="36000" rtlCol="0">
            <a:spAutoFit/>
          </a:bodyPr>
          <a:lstStyle/>
          <a:p>
            <a:r>
              <a:rPr lang="en-US" altLang="ko-KR" sz="900" b="1">
                <a:solidFill>
                  <a:prstClr val="black"/>
                </a:solidFill>
              </a:rPr>
              <a:t>1.6. </a:t>
            </a:r>
            <a:r>
              <a:rPr lang="ko-KR" altLang="en-US" sz="900" b="1">
                <a:solidFill>
                  <a:prstClr val="black"/>
                </a:solidFill>
              </a:rPr>
              <a:t>첨부서류</a:t>
            </a:r>
            <a:r>
              <a:rPr lang="en-US" altLang="ko-KR"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(dl_docList)</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871D6820-0DCA-1658-FE75-0998ABF16C59}"/>
              </a:ext>
            </a:extLst>
          </p:cNvPr>
          <p:cNvGraphicFramePr>
            <a:graphicFrameLocks noGrp="1"/>
          </p:cNvGraphicFramePr>
          <p:nvPr/>
        </p:nvGraphicFramePr>
        <p:xfrm>
          <a:off x="452999" y="1007318"/>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제출해야할</a:t>
                      </a:r>
                      <a:r>
                        <a:rPr lang="ko-KR" altLang="en-US" sz="800" b="0" i="0" u="none" strike="noStrike" dirty="0">
                          <a:solidFill>
                            <a:srgbClr val="000000"/>
                          </a:solidFill>
                          <a:effectLst/>
                          <a:latin typeface="+mn-ea"/>
                          <a:ea typeface="+mn-ea"/>
                        </a:rPr>
                        <a:t> 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kumimoji="0" lang="ko-KR" altLang="en-US" sz="800" b="0" i="0" u="none" strike="noStrike" kern="1200" cap="none" spc="0" normalizeH="0" baseline="0" noProof="0" dirty="0">
                        <a:ln>
                          <a:noFill/>
                        </a:ln>
                        <a:solidFill>
                          <a:prstClr val="black"/>
                        </a:solidFill>
                        <a:effectLst/>
                        <a:uLnTx/>
                        <a:uFillTx/>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2888902494"/>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356</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sp>
        <p:nvSpPr>
          <p:cNvPr id="26" name="Text Box 73">
            <a:extLst>
              <a:ext uri="{FF2B5EF4-FFF2-40B4-BE49-F238E27FC236}">
                <a16:creationId xmlns:a16="http://schemas.microsoft.com/office/drawing/2014/main" id="{2AAB1026-6B50-DBEE-D4D1-ED82E13491C2}"/>
              </a:ext>
            </a:extLst>
          </p:cNvPr>
          <p:cNvSpPr txBox="1">
            <a:spLocks noChangeArrowheads="1"/>
          </p:cNvSpPr>
          <p:nvPr/>
        </p:nvSpPr>
        <p:spPr bwMode="auto">
          <a:xfrm>
            <a:off x="7740000" y="862324"/>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a:t>
            </a:r>
          </a:p>
        </p:txBody>
      </p:sp>
      <p:graphicFrame>
        <p:nvGraphicFramePr>
          <p:cNvPr id="2" name="표 1">
            <a:extLst>
              <a:ext uri="{FF2B5EF4-FFF2-40B4-BE49-F238E27FC236}">
                <a16:creationId xmlns:a16="http://schemas.microsoft.com/office/drawing/2014/main" id="{4E4C9296-2F7C-C186-3149-368715FAEC96}"/>
              </a:ext>
            </a:extLst>
          </p:cNvPr>
          <p:cNvGraphicFramePr>
            <a:graphicFrameLocks noGrp="1"/>
          </p:cNvGraphicFramePr>
          <p:nvPr>
            <p:extLst>
              <p:ext uri="{D42A27DB-BD31-4B8C-83A1-F6EECF244321}">
                <p14:modId xmlns:p14="http://schemas.microsoft.com/office/powerpoint/2010/main" val="2602571522"/>
              </p:ext>
            </p:extLst>
          </p:nvPr>
        </p:nvGraphicFramePr>
        <p:xfrm>
          <a:off x="452291" y="796562"/>
          <a:ext cx="8995591" cy="157920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74371">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입찰참가신청정보 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입찰참가신청조회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입찰참가취소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scwin.btn_openCancleRequestSelected_onclick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선택된 입찰참가사업건에 대해 입찰참가신청서취소 팝업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a:latin typeface="+mn-ea"/>
                          <a:ea typeface="+mn-ea"/>
                        </a:rPr>
                        <a:t>UI-BD-04-P78 </a:t>
                      </a:r>
                      <a:r>
                        <a:rPr lang="ko-KR" altLang="en-US" sz="800">
                          <a:latin typeface="+mn-ea"/>
                          <a:ea typeface="+mn-ea"/>
                        </a:rPr>
                        <a:t>참조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4042325"/>
                  </a:ext>
                </a:extLst>
              </a:tr>
              <a:tr h="0">
                <a:tc>
                  <a:txBody>
                    <a:bodyPr/>
                    <a:lstStyle/>
                    <a:p>
                      <a:r>
                        <a:rPr lang="ko-KR" altLang="en-US" sz="800"/>
                        <a:t>입찰등록결과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scwin.btn_moveBidResult_onclick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t>사업별입찰등록결과조회</a:t>
                      </a:r>
                      <a:r>
                        <a:rPr lang="ko-KR" altLang="en-US" sz="800">
                          <a:latin typeface="+mn-ea"/>
                          <a:ea typeface="+mn-ea"/>
                        </a:rPr>
                        <a:t> 화면으로 이동</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b="0" i="0" u="none" strike="noStrike">
                          <a:solidFill>
                            <a:srgbClr val="000000"/>
                          </a:solidFill>
                          <a:effectLst/>
                          <a:latin typeface="맑은 고딕" panose="020B0503020000020004" pitchFamily="50" charset="-127"/>
                          <a:ea typeface="+mn-ea"/>
                        </a:rPr>
                        <a:t>UI-BD-04-P79 </a:t>
                      </a:r>
                      <a:r>
                        <a:rPr lang="ko-KR" altLang="en-US" sz="800" b="0" i="0" u="none" strike="noStrike">
                          <a:solidFill>
                            <a:srgbClr val="000000"/>
                          </a:solidFill>
                          <a:effectLst/>
                          <a:latin typeface="맑은 고딕" panose="020B0503020000020004" pitchFamily="50" charset="-127"/>
                          <a:ea typeface="+mn-ea"/>
                        </a:rPr>
                        <a:t>참조</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9973157"/>
                  </a:ext>
                </a:extLst>
              </a:tr>
              <a:tr h="0">
                <a:tc>
                  <a:txBody>
                    <a:bodyPr/>
                    <a:lstStyle/>
                    <a:p>
                      <a:r>
                        <a:rPr lang="ko-KR" altLang="en-US" sz="800"/>
                        <a:t>전체입찰참가취소 클릭</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scwin.btn_openCancleRequestAll_onclick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a:latin typeface="+mn-ea"/>
                          <a:ea typeface="+mn-ea"/>
                        </a:rPr>
                        <a:t>전체 입찰참가사업건에 대해 입찰참가신청서취소 팝업 호출</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UI-BD-04-P78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7689514"/>
                  </a:ext>
                </a:extLst>
              </a:tr>
            </a:tbl>
          </a:graphicData>
        </a:graphic>
      </p:graphicFrame>
      <p:sp>
        <p:nvSpPr>
          <p:cNvPr id="4" name="Text Box 73">
            <a:extLst>
              <a:ext uri="{FF2B5EF4-FFF2-40B4-BE49-F238E27FC236}">
                <a16:creationId xmlns:a16="http://schemas.microsoft.com/office/drawing/2014/main" id="{86E3B3BA-AC35-FA83-66A2-E135AE5C2B2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85567566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취소신청내역 데이터 영역</a:t>
            </a:r>
            <a:endParaRPr lang="en-US" altLang="ko-KR" dirty="0"/>
          </a:p>
          <a:p>
            <a:pPr marL="228600" indent="-228600">
              <a:buFont typeface="+mj-lt"/>
              <a:buAutoNum type="arabicPeriod"/>
            </a:pPr>
            <a:r>
              <a:rPr lang="ko-KR" altLang="en-US" dirty="0" err="1"/>
              <a:t>취소사유</a:t>
            </a:r>
            <a:r>
              <a:rPr lang="ko-KR" altLang="en-US" dirty="0"/>
              <a:t> 데이터 영역</a:t>
            </a:r>
            <a:endParaRPr lang="en-US" altLang="ko-KR" dirty="0"/>
          </a:p>
          <a:p>
            <a:pPr marL="228600" indent="-228600">
              <a:buFont typeface="+mj-lt"/>
              <a:buAutoNum type="arabicPeriod"/>
            </a:pPr>
            <a:r>
              <a:rPr lang="ko-KR" altLang="en-US" dirty="0"/>
              <a:t>취소 신청 제출</a:t>
            </a:r>
            <a:r>
              <a:rPr lang="en-US" altLang="ko-KR" dirty="0"/>
              <a:t>,</a:t>
            </a:r>
            <a:r>
              <a:rPr lang="ko-KR" altLang="en-US" dirty="0"/>
              <a:t> 닫기 클릭 이벤트</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357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입찰참가신청서취소</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입찰참가신청서취소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850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&gt; </a:t>
            </a:r>
            <a:r>
              <a:rPr lang="ko-KR" altLang="en-US" dirty="0">
                <a:latin typeface="+mn-ea"/>
              </a:rPr>
              <a:t>입찰참가신청서취소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MUI-BD-04-P82</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latin typeface="+mn-ea"/>
              </a:rPr>
              <a:t>입찰참가신청서 취소</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a:latin typeface="+mn-ea"/>
              </a:rPr>
              <a:t>입찰참가신청서 취소</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8" name="그룹 7"/>
          <p:cNvGrpSpPr/>
          <p:nvPr/>
        </p:nvGrpSpPr>
        <p:grpSpPr>
          <a:xfrm>
            <a:off x="716366" y="2592310"/>
            <a:ext cx="2630093" cy="1606948"/>
            <a:chOff x="701175" y="2592310"/>
            <a:chExt cx="2630093" cy="1606948"/>
          </a:xfrm>
        </p:grpSpPr>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취소신청내역</a:t>
              </a:r>
            </a:p>
          </p:txBody>
        </p:sp>
        <p:sp>
          <p:nvSpPr>
            <p:cNvPr id="82" name="직사각형 81"/>
            <p:cNvSpPr/>
            <p:nvPr/>
          </p:nvSpPr>
          <p:spPr>
            <a:xfrm>
              <a:off x="703268" y="2899796"/>
              <a:ext cx="792000" cy="12983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129266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a:latin typeface="+mn-ea"/>
                </a:rPr>
                <a:t>통합참조번호</a:t>
              </a:r>
              <a:endParaRPr lang="en-US" altLang="ko-KR" sz="700" dirty="0">
                <a:latin typeface="+mn-ea"/>
              </a:endParaRPr>
            </a:p>
            <a:p>
              <a:pPr>
                <a:lnSpc>
                  <a:spcPct val="200000"/>
                </a:lnSpc>
              </a:pPr>
              <a:r>
                <a:rPr lang="ko-KR" altLang="en-US" sz="700" dirty="0" err="1">
                  <a:latin typeface="+mn-ea"/>
                </a:rPr>
                <a:t>개찰일자</a:t>
              </a:r>
              <a:endParaRPr lang="en-US" altLang="ko-KR" sz="700" dirty="0">
                <a:latin typeface="+mn-ea"/>
              </a:endParaRPr>
            </a:p>
            <a:p>
              <a:pPr>
                <a:lnSpc>
                  <a:spcPct val="200000"/>
                </a:lnSpc>
              </a:pPr>
              <a:r>
                <a:rPr lang="ko-KR" altLang="en-US" sz="700" dirty="0">
                  <a:latin typeface="+mn-ea"/>
                </a:rPr>
                <a:t>취소신청품목수</a:t>
              </a:r>
            </a:p>
          </p:txBody>
        </p:sp>
        <p:grpSp>
          <p:nvGrpSpPr>
            <p:cNvPr id="85" name="그룹 84"/>
            <p:cNvGrpSpPr/>
            <p:nvPr/>
          </p:nvGrpSpPr>
          <p:grpSpPr>
            <a:xfrm>
              <a:off x="701175" y="2899795"/>
              <a:ext cx="2630093" cy="1299463"/>
              <a:chOff x="701175" y="1835481"/>
              <a:chExt cx="2630093" cy="1299463"/>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703268" y="313494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500MD</a:t>
              </a:r>
              <a:r>
                <a:rPr lang="ko-KR" altLang="en-US" sz="700" dirty="0">
                  <a:latin typeface="+mn-ea"/>
                </a:rPr>
                <a:t>부품</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2025-03-13</a:t>
              </a:r>
            </a:p>
            <a:p>
              <a:pPr>
                <a:lnSpc>
                  <a:spcPct val="200000"/>
                </a:lnSpc>
              </a:pPr>
              <a:r>
                <a:rPr lang="en-US" altLang="ko-KR" sz="700" dirty="0">
                  <a:latin typeface="+mn-ea"/>
                </a:rPr>
                <a:t>3</a:t>
              </a:r>
            </a:p>
          </p:txBody>
        </p:sp>
      </p:grp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05" name="그룹 104"/>
          <p:cNvGrpSpPr/>
          <p:nvPr/>
        </p:nvGrpSpPr>
        <p:grpSpPr>
          <a:xfrm>
            <a:off x="716366" y="4263520"/>
            <a:ext cx="2630093" cy="1184228"/>
            <a:chOff x="3791188" y="2611009"/>
            <a:chExt cx="2630093" cy="1184228"/>
          </a:xfrm>
        </p:grpSpPr>
        <p:sp>
          <p:nvSpPr>
            <p:cNvPr id="106" name="TextBox 10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108" name="직사각형 107"/>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21" name="직선 연결선 120">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2" name="TextBox 121">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endParaRPr lang="en-US" altLang="ko-KR"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123-45-67890</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1" name="TextBox 140">
              <a:extLst>
                <a:ext uri="{FF2B5EF4-FFF2-40B4-BE49-F238E27FC236}">
                  <a16:creationId xmlns:a16="http://schemas.microsoft.com/office/drawing/2014/main" id="{FFC49AEA-2A8F-250C-A86A-A7751D9706C3}"/>
                </a:ext>
              </a:extLst>
            </p:cNvPr>
            <p:cNvSpPr txBox="1"/>
            <p:nvPr/>
          </p:nvSpPr>
          <p:spPr>
            <a:xfrm>
              <a:off x="3880345" y="3579793"/>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142" name="그룹 141"/>
          <p:cNvGrpSpPr/>
          <p:nvPr/>
        </p:nvGrpSpPr>
        <p:grpSpPr>
          <a:xfrm>
            <a:off x="3836701" y="2592310"/>
            <a:ext cx="2630093" cy="1184228"/>
            <a:chOff x="3791188" y="2611009"/>
            <a:chExt cx="2630093" cy="1184228"/>
          </a:xfrm>
        </p:grpSpPr>
        <p:sp>
          <p:nvSpPr>
            <p:cNvPr id="143" name="TextBox 142">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45" name="직사각형 144"/>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TextBox 160">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endParaRPr lang="en-US" altLang="ko-KR"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123-45-67890</a:t>
              </a:r>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7" name="TextBox 176">
              <a:extLst>
                <a:ext uri="{FF2B5EF4-FFF2-40B4-BE49-F238E27FC236}">
                  <a16:creationId xmlns:a16="http://schemas.microsoft.com/office/drawing/2014/main" id="{FFC49AEA-2A8F-250C-A86A-A7751D9706C3}"/>
                </a:ext>
              </a:extLst>
            </p:cNvPr>
            <p:cNvSpPr txBox="1"/>
            <p:nvPr/>
          </p:nvSpPr>
          <p:spPr>
            <a:xfrm>
              <a:off x="3880345" y="3579793"/>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sp>
        <p:nvSpPr>
          <p:cNvPr id="219" name="모서리가 둥근 직사각형 218"/>
          <p:cNvSpPr/>
          <p:nvPr/>
        </p:nvSpPr>
        <p:spPr>
          <a:xfrm>
            <a:off x="3859820" y="4890313"/>
            <a:ext cx="2579992" cy="987891"/>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0" name="TextBox 219">
            <a:extLst>
              <a:ext uri="{FF2B5EF4-FFF2-40B4-BE49-F238E27FC236}">
                <a16:creationId xmlns:a16="http://schemas.microsoft.com/office/drawing/2014/main" id="{FFC49AEA-2A8F-250C-A86A-A7751D9706C3}"/>
              </a:ext>
            </a:extLst>
          </p:cNvPr>
          <p:cNvSpPr txBox="1"/>
          <p:nvPr/>
        </p:nvSpPr>
        <p:spPr>
          <a:xfrm>
            <a:off x="3997244" y="5061093"/>
            <a:ext cx="2305144" cy="646331"/>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청에 제출한 전자입찰서를 </a:t>
            </a:r>
            <a:r>
              <a:rPr lang="ko-KR" altLang="en-US" sz="700" dirty="0" err="1">
                <a:latin typeface="맑은 고딕" panose="020B0503020000020004" pitchFamily="50" charset="-127"/>
              </a:rPr>
              <a:t>취소하오니</a:t>
            </a:r>
            <a:r>
              <a:rPr lang="en-US" altLang="ko-KR" sz="700" dirty="0">
                <a:latin typeface="맑은 고딕" panose="020B0503020000020004" pitchFamily="50" charset="-127"/>
              </a:rPr>
              <a:t>, </a:t>
            </a:r>
            <a:r>
              <a:rPr lang="ko-KR" altLang="en-US" sz="700" dirty="0">
                <a:latin typeface="맑은 고딕" panose="020B0503020000020004" pitchFamily="50" charset="-127"/>
              </a:rPr>
              <a:t>무효 처리하여 주시기 바랍니다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ko-KR" altLang="en-US" sz="700" dirty="0">
                <a:latin typeface="맑은 고딕" panose="020B0503020000020004" pitchFamily="50" charset="-127"/>
              </a:rPr>
              <a:t>방위사업청장 귀하</a:t>
            </a:r>
            <a:endParaRPr lang="en-US" altLang="ko-KR" sz="700" dirty="0">
              <a:latin typeface="맑은 고딕" panose="020B0503020000020004" pitchFamily="50" charset="-127"/>
            </a:endParaRPr>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3835401" y="41057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3837494" y="47969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직사각형 213"/>
          <p:cNvSpPr/>
          <p:nvPr/>
        </p:nvSpPr>
        <p:spPr>
          <a:xfrm>
            <a:off x="3835401" y="4105760"/>
            <a:ext cx="2621844" cy="61377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1" name="TextBox 220">
            <a:extLst>
              <a:ext uri="{FF2B5EF4-FFF2-40B4-BE49-F238E27FC236}">
                <a16:creationId xmlns:a16="http://schemas.microsoft.com/office/drawing/2014/main" id="{FFC49AEA-2A8F-250C-A86A-A7751D9706C3}"/>
              </a:ext>
            </a:extLst>
          </p:cNvPr>
          <p:cNvSpPr txBox="1"/>
          <p:nvPr/>
        </p:nvSpPr>
        <p:spPr>
          <a:xfrm>
            <a:off x="3924557" y="4106633"/>
            <a:ext cx="2454126" cy="181140"/>
          </a:xfrm>
          <a:prstGeom prst="rect">
            <a:avLst/>
          </a:prstGeom>
          <a:noFill/>
        </p:spPr>
        <p:txBody>
          <a:bodyPr wrap="square" lIns="0" tIns="0" rIns="0" bIns="0" rtlCol="0">
            <a:spAutoFit/>
          </a:bodyPr>
          <a:lstStyle/>
          <a:p>
            <a:pPr>
              <a:lnSpc>
                <a:spcPct val="200000"/>
              </a:lnSpc>
            </a:pPr>
            <a:r>
              <a:rPr lang="ko-KR" altLang="en-US" sz="700" dirty="0">
                <a:solidFill>
                  <a:schemeClr val="bg1">
                    <a:lumMod val="75000"/>
                  </a:schemeClr>
                </a:solidFill>
                <a:latin typeface="+mn-ea"/>
              </a:rPr>
              <a:t>내용을 입력하세요</a:t>
            </a:r>
            <a:r>
              <a:rPr lang="en-US" altLang="ko-KR" sz="700" dirty="0">
                <a:solidFill>
                  <a:schemeClr val="bg1">
                    <a:lumMod val="75000"/>
                  </a:schemeClr>
                </a:solidFill>
                <a:latin typeface="+mn-ea"/>
              </a:rPr>
              <a:t>.</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859820" y="3849095"/>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취소사유</a:t>
            </a:r>
            <a:r>
              <a:rPr lang="ko-KR" altLang="en-US" sz="700" dirty="0">
                <a:latin typeface="+mn-ea"/>
              </a:rPr>
              <a:t> </a:t>
            </a:r>
            <a:r>
              <a:rPr lang="en-US" altLang="ko-KR" sz="700" dirty="0">
                <a:solidFill>
                  <a:srgbClr val="FF0000"/>
                </a:solidFill>
                <a:latin typeface="+mn-ea"/>
              </a:rPr>
              <a:t>*</a:t>
            </a:r>
            <a:endParaRPr lang="ko-KR" altLang="en-US" sz="700" dirty="0">
              <a:solidFill>
                <a:srgbClr val="FF0000"/>
              </a:solidFill>
              <a:latin typeface="+mn-ea"/>
            </a:endParaRPr>
          </a:p>
        </p:txBody>
      </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226" name="타원 225">
            <a:extLst>
              <a:ext uri="{FF2B5EF4-FFF2-40B4-BE49-F238E27FC236}">
                <a16:creationId xmlns:a16="http://schemas.microsoft.com/office/drawing/2014/main" id="{37A7FF4F-0EAA-1463-560A-D5EC24416103}"/>
              </a:ext>
            </a:extLst>
          </p:cNvPr>
          <p:cNvSpPr/>
          <p:nvPr/>
        </p:nvSpPr>
        <p:spPr>
          <a:xfrm>
            <a:off x="3655647" y="389862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27" name="타원 226">
            <a:extLst>
              <a:ext uri="{FF2B5EF4-FFF2-40B4-BE49-F238E27FC236}">
                <a16:creationId xmlns:a16="http://schemas.microsoft.com/office/drawing/2014/main" id="{37A7FF4F-0EAA-1463-560A-D5EC24416103}"/>
              </a:ext>
            </a:extLst>
          </p:cNvPr>
          <p:cNvSpPr/>
          <p:nvPr/>
        </p:nvSpPr>
        <p:spPr>
          <a:xfrm>
            <a:off x="3655647" y="572508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Tree>
    <p:extLst>
      <p:ext uri="{BB962C8B-B14F-4D97-AF65-F5344CB8AC3E}">
        <p14:creationId xmlns:p14="http://schemas.microsoft.com/office/powerpoint/2010/main" val="581472740"/>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358</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46598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취소신청내역 데이터 </a:t>
            </a:r>
            <a:r>
              <a:rPr lang="ko-KR" altLang="en-US" sz="900" b="1">
                <a:solidFill>
                  <a:prstClr val="black"/>
                </a:solidFill>
              </a:rPr>
              <a:t>영역 </a:t>
            </a:r>
            <a:r>
              <a:rPr lang="en-US" altLang="ko-KR" sz="900" b="1">
                <a:solidFill>
                  <a:prstClr val="black"/>
                </a:solidFill>
              </a:rPr>
              <a:t>(dl_resultInfo)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1027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mn-ea"/>
                          <a:ea typeface="+mn-ea"/>
                        </a:rPr>
                        <a:t>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9069461"/>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4901401"/>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9205566"/>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2063988"/>
                  </a:ext>
                </a:extLst>
              </a:tr>
              <a:tr h="0">
                <a:tc>
                  <a:txBody>
                    <a:bodyPr/>
                    <a:lstStyle/>
                    <a:p>
                      <a:pPr algn="l" fontAlgn="ctr"/>
                      <a:r>
                        <a:rPr lang="ko-KR" altLang="en-US" sz="800" b="0" i="0" u="none" strike="noStrike">
                          <a:solidFill>
                            <a:srgbClr val="000000"/>
                          </a:solidFill>
                          <a:effectLst/>
                          <a:latin typeface="+mn-ea"/>
                          <a:ea typeface="+mn-ea"/>
                        </a:rPr>
                        <a:t>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개찰일자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3164767"/>
                  </a:ext>
                </a:extLst>
              </a:tr>
              <a:tr h="0">
                <a:tc>
                  <a:txBody>
                    <a:bodyPr/>
                    <a:lstStyle/>
                    <a:p>
                      <a:pPr algn="l" fontAlgn="ctr"/>
                      <a:r>
                        <a:rPr lang="ko-KR" altLang="en-US" sz="800" b="0" i="0" u="none" strike="noStrike">
                          <a:solidFill>
                            <a:srgbClr val="000000"/>
                          </a:solidFill>
                          <a:effectLst/>
                          <a:latin typeface="+mn-ea"/>
                          <a:ea typeface="+mn-ea"/>
                        </a:rPr>
                        <a:t>취소신청품목수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rtrcnItemQty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입찰참가취소 신청할 품목 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3567366"/>
                  </a:ext>
                </a:extLst>
              </a:tr>
              <a:tr h="0">
                <a:tc>
                  <a:txBody>
                    <a:bodyPr/>
                    <a:lstStyle/>
                    <a:p>
                      <a:pPr algn="l" fontAlgn="ctr"/>
                      <a:r>
                        <a:rPr lang="ko-KR" altLang="en-US" sz="800" b="0" i="0" u="none" strike="noStrike">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4184092"/>
                  </a:ext>
                </a:extLst>
              </a:tr>
              <a:tr h="0">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659004"/>
                  </a:ext>
                </a:extLst>
              </a:tr>
              <a:tr h="0">
                <a:tc>
                  <a:txBody>
                    <a:bodyPr/>
                    <a:lstStyle/>
                    <a:p>
                      <a:pPr algn="l" fontAlgn="ctr"/>
                      <a:r>
                        <a:rPr lang="ko-KR" altLang="en-US" sz="800" b="0" i="0" u="none" strike="noStrike">
                          <a:solidFill>
                            <a:srgbClr val="000000"/>
                          </a:solidFill>
                          <a:effectLst/>
                          <a:latin typeface="+mn-ea"/>
                          <a:ea typeface="+mn-ea"/>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1806982"/>
                  </a:ext>
                </a:extLst>
              </a:tr>
              <a:tr h="0">
                <a:tc>
                  <a:txBody>
                    <a:bodyPr/>
                    <a:lstStyle/>
                    <a:p>
                      <a:pPr algn="l" fontAlgn="ctr"/>
                      <a:r>
                        <a:rPr lang="ko-KR" altLang="en-US" sz="800" b="0" i="0" u="none" strike="noStrike" dirty="0">
                          <a:solidFill>
                            <a:srgbClr val="000000"/>
                          </a:solidFill>
                          <a:effectLst/>
                          <a:latin typeface="+mn-ea"/>
                          <a:ea typeface="+mn-ea"/>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사업자등록번호 또는 </a:t>
                      </a:r>
                      <a:r>
                        <a:rPr lang="en-US" altLang="ko-KR" sz="800" b="0" i="0" u="none" strike="noStrike" dirty="0">
                          <a:solidFill>
                            <a:srgbClr val="000000"/>
                          </a:solidFill>
                          <a:effectLst/>
                          <a:latin typeface="+mn-ea"/>
                          <a:ea typeface="+mn-ea"/>
                        </a:rPr>
                        <a:t>DUNSNUM</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7103567"/>
                  </a:ext>
                </a:extLst>
              </a:tr>
              <a:tr h="0">
                <a:tc>
                  <a:txBody>
                    <a:bodyPr/>
                    <a:lstStyle/>
                    <a:p>
                      <a:pPr algn="l" fontAlgn="ctr"/>
                      <a:r>
                        <a:rPr lang="ko-KR" altLang="en-US" sz="800" b="0" i="0" u="none" strike="noStrike">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1191375"/>
                  </a:ext>
                </a:extLst>
              </a:tr>
              <a:tr h="0">
                <a:tc>
                  <a:txBody>
                    <a:bodyPr/>
                    <a:lstStyle/>
                    <a:p>
                      <a:pPr algn="l" fontAlgn="ctr"/>
                      <a:r>
                        <a:rPr lang="ko-KR" altLang="en-US" sz="800" b="0" i="0" u="none" strike="noStrike">
                          <a:solidFill>
                            <a:srgbClr val="000000"/>
                          </a:solidFill>
                          <a:effectLst/>
                          <a:latin typeface="+mn-ea"/>
                          <a:ea typeface="+mn-ea"/>
                        </a:rPr>
                        <a:t>입찰업체 업체명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58192758"/>
                  </a:ext>
                </a:extLst>
              </a:tr>
              <a:tr h="0">
                <a:tc>
                  <a:txBody>
                    <a:bodyPr/>
                    <a:lstStyle/>
                    <a:p>
                      <a:pPr algn="l" fontAlgn="ctr"/>
                      <a:r>
                        <a:rPr lang="ko-KR" altLang="en-US" sz="800" b="0" i="0" u="none" strike="noStrike">
                          <a:solidFill>
                            <a:srgbClr val="000000"/>
                          </a:solidFill>
                          <a:effectLst/>
                          <a:latin typeface="+mn-ea"/>
                          <a:ea typeface="+mn-ea"/>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a:solidFill>
                            <a:srgbClr val="000000"/>
                          </a:solidFill>
                          <a:effectLst/>
                          <a:latin typeface="+mn-ea"/>
                          <a:ea typeface="+mn-ea"/>
                        </a:rPr>
                        <a:t>입찰업체 사업자번호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6" name="TextBox 5">
            <a:extLst>
              <a:ext uri="{FF2B5EF4-FFF2-40B4-BE49-F238E27FC236}">
                <a16:creationId xmlns:a16="http://schemas.microsoft.com/office/drawing/2014/main" id="{27987DD4-854F-30B9-F4A0-220B1CD0AC82}"/>
              </a:ext>
            </a:extLst>
          </p:cNvPr>
          <p:cNvSpPr txBox="1"/>
          <p:nvPr/>
        </p:nvSpPr>
        <p:spPr>
          <a:xfrm>
            <a:off x="458117" y="5034456"/>
            <a:ext cx="228003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취소사유 데이터 </a:t>
            </a:r>
            <a:r>
              <a:rPr lang="ko-KR" altLang="en-US" sz="900" b="1">
                <a:solidFill>
                  <a:prstClr val="black"/>
                </a:solidFill>
              </a:rPr>
              <a:t>영역 </a:t>
            </a:r>
            <a:r>
              <a:rPr lang="en-US" altLang="ko-KR" sz="900" b="1">
                <a:solidFill>
                  <a:prstClr val="black"/>
                </a:solidFill>
              </a:rPr>
              <a:t>(dl_sbmsnInfo)</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2DC32904-139C-D979-06E0-1EF887892900}"/>
              </a:ext>
            </a:extLst>
          </p:cNvPr>
          <p:cNvGraphicFramePr>
            <a:graphicFrameLocks noGrp="1"/>
          </p:cNvGraphicFramePr>
          <p:nvPr/>
        </p:nvGraphicFramePr>
        <p:xfrm>
          <a:off x="452999" y="5245659"/>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입찰참가신청 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2" name="Text Box 73">
            <a:extLst>
              <a:ext uri="{FF2B5EF4-FFF2-40B4-BE49-F238E27FC236}">
                <a16:creationId xmlns:a16="http://schemas.microsoft.com/office/drawing/2014/main" id="{6C7AA30B-6AE9-D838-590D-718356DCD3C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263863401"/>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359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2" name="표 1">
            <a:extLst>
              <a:ext uri="{FF2B5EF4-FFF2-40B4-BE49-F238E27FC236}">
                <a16:creationId xmlns:a16="http://schemas.microsoft.com/office/drawing/2014/main" id="{0DB94E96-F279-C1D0-427D-FF5F0AE1FFC1}"/>
              </a:ext>
            </a:extLst>
          </p:cNvPr>
          <p:cNvGraphicFramePr>
            <a:graphicFrameLocks noGrp="1"/>
          </p:cNvGraphicFramePr>
          <p:nvPr>
            <p:extLst>
              <p:ext uri="{D42A27DB-BD31-4B8C-83A1-F6EECF244321}">
                <p14:modId xmlns:p14="http://schemas.microsoft.com/office/powerpoint/2010/main" val="2870822284"/>
              </p:ext>
            </p:extLst>
          </p:nvPr>
        </p:nvGraphicFramePr>
        <p:xfrm>
          <a:off x="455204" y="799547"/>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입찰참가신청정보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제출하기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scwin.btn_save_onclick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입찰참가신청 취소신청서를 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입찰참가취소신청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39605859"/>
                  </a:ext>
                </a:extLst>
              </a:tr>
              <a:tr h="0">
                <a:tc>
                  <a:txBody>
                    <a:bodyPr/>
                    <a:lstStyle/>
                    <a:p>
                      <a:r>
                        <a:rPr lang="ko-KR" altLang="en-US" sz="800" dirty="0"/>
                        <a:t>취소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scnwin.btn_cancle_onclick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ko-KR" altLang="en-US" sz="800" dirty="0">
                          <a:latin typeface="+mn-ea"/>
                          <a:ea typeface="+mn-ea"/>
                        </a:rPr>
                        <a:t>작업내용을 반영하지 않고 현재 팝업을 종료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4042325"/>
                  </a:ext>
                </a:extLst>
              </a:tr>
            </a:tbl>
          </a:graphicData>
        </a:graphic>
      </p:graphicFrame>
      <p:sp>
        <p:nvSpPr>
          <p:cNvPr id="4" name="Text Box 73">
            <a:extLst>
              <a:ext uri="{FF2B5EF4-FFF2-40B4-BE49-F238E27FC236}">
                <a16:creationId xmlns:a16="http://schemas.microsoft.com/office/drawing/2014/main" id="{B6DF3E90-230E-A900-2B7D-A9EF62F2176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828102216"/>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공고일반</a:t>
            </a:r>
            <a:r>
              <a:rPr lang="ko-KR" altLang="en-US" dirty="0"/>
              <a:t> 데이터 영역</a:t>
            </a:r>
          </a:p>
          <a:p>
            <a:pPr marL="228600" indent="-228600">
              <a:buFont typeface="+mj-lt"/>
              <a:buAutoNum type="arabicPeriod"/>
            </a:pPr>
            <a:r>
              <a:rPr lang="ko-KR" altLang="en-US" dirty="0"/>
              <a:t>업체 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360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사업별입찰등록결과조회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사업별입찰등록결과조회</a:t>
            </a:r>
            <a:r>
              <a:rPr lang="ko-KR" altLang="en-US" dirty="0">
                <a:latin typeface="+mn-ea"/>
              </a:rPr>
              <a:t>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775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&gt; </a:t>
            </a:r>
            <a:r>
              <a:rPr lang="ko-KR" altLang="en-US" dirty="0" err="1">
                <a:latin typeface="+mn-ea"/>
              </a:rPr>
              <a:t>사업별입찰등록결과조회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MUI-BD-04-P83</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latin typeface="+mn-ea"/>
              </a:rPr>
              <a:t>사업별 입찰등록결과 조회</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a:latin typeface="+mn-ea"/>
              </a:rPr>
              <a:t>사업별 입찰등록결과 조회</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8" name="그룹 7"/>
          <p:cNvGrpSpPr/>
          <p:nvPr/>
        </p:nvGrpSpPr>
        <p:grpSpPr>
          <a:xfrm>
            <a:off x="716366" y="2592310"/>
            <a:ext cx="2630093" cy="739270"/>
            <a:chOff x="701175" y="2592310"/>
            <a:chExt cx="2630093" cy="739270"/>
          </a:xfrm>
        </p:grpSpPr>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공고 일반정보</a:t>
              </a:r>
            </a:p>
          </p:txBody>
        </p:sp>
        <p:sp>
          <p:nvSpPr>
            <p:cNvPr id="82" name="직사각형 81"/>
            <p:cNvSpPr/>
            <p:nvPr/>
          </p:nvSpPr>
          <p:spPr>
            <a:xfrm>
              <a:off x="703268" y="2899796"/>
              <a:ext cx="792000" cy="43178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430887"/>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en-US" altLang="ko-KR" sz="700" dirty="0">
                <a:latin typeface="+mn-ea"/>
              </a:endParaRPr>
            </a:p>
            <a:p>
              <a:pPr>
                <a:lnSpc>
                  <a:spcPct val="200000"/>
                </a:lnSpc>
              </a:pPr>
              <a:r>
                <a:rPr lang="ko-KR" altLang="en-US" sz="700" dirty="0" err="1">
                  <a:latin typeface="+mn-ea"/>
                </a:rPr>
                <a:t>개찰일자</a:t>
              </a:r>
              <a:endParaRPr lang="ko-KR" altLang="en-US" sz="700" dirty="0">
                <a:latin typeface="+mn-ea"/>
              </a:endParaRPr>
            </a:p>
          </p:txBody>
        </p:sp>
        <p:grpSp>
          <p:nvGrpSpPr>
            <p:cNvPr id="85" name="그룹 84"/>
            <p:cNvGrpSpPr/>
            <p:nvPr/>
          </p:nvGrpSpPr>
          <p:grpSpPr>
            <a:xfrm>
              <a:off x="701175" y="2899795"/>
              <a:ext cx="2630093" cy="429480"/>
              <a:chOff x="701175" y="1835481"/>
              <a:chExt cx="2630093" cy="429480"/>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430887"/>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2025-03-13</a:t>
              </a:r>
            </a:p>
          </p:txBody>
        </p:sp>
      </p:grp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sp>
        <p:nvSpPr>
          <p:cNvPr id="226" name="타원 225">
            <a:extLst>
              <a:ext uri="{FF2B5EF4-FFF2-40B4-BE49-F238E27FC236}">
                <a16:creationId xmlns:a16="http://schemas.microsoft.com/office/drawing/2014/main" id="{37A7FF4F-0EAA-1463-560A-D5EC24416103}"/>
              </a:ext>
            </a:extLst>
          </p:cNvPr>
          <p:cNvSpPr/>
          <p:nvPr/>
        </p:nvSpPr>
        <p:spPr>
          <a:xfrm>
            <a:off x="577496" y="348669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75" name="그룹 74"/>
          <p:cNvGrpSpPr/>
          <p:nvPr/>
        </p:nvGrpSpPr>
        <p:grpSpPr>
          <a:xfrm>
            <a:off x="716366" y="3404560"/>
            <a:ext cx="2630093" cy="2031034"/>
            <a:chOff x="3791188" y="2611009"/>
            <a:chExt cx="2630093" cy="2031034"/>
          </a:xfrm>
        </p:grpSpPr>
        <p:sp>
          <p:nvSpPr>
            <p:cNvPr id="76" name="TextBox 7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77" name="직사각형 76"/>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8" name="직선 연결선 7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9" name="TextBox 78">
              <a:extLst>
                <a:ext uri="{FF2B5EF4-FFF2-40B4-BE49-F238E27FC236}">
                  <a16:creationId xmlns:a16="http://schemas.microsoft.com/office/drawing/2014/main" id="{FFC49AEA-2A8F-250C-A86A-A7751D9706C3}"/>
                </a:ext>
              </a:extLst>
            </p:cNvPr>
            <p:cNvSpPr txBox="1"/>
            <p:nvPr/>
          </p:nvSpPr>
          <p:spPr>
            <a:xfrm>
              <a:off x="3880345" y="2918494"/>
              <a:ext cx="756848" cy="168924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주민등록번호</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92" name="직선 연결선 91">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00" name="그룹 99"/>
          <p:cNvGrpSpPr/>
          <p:nvPr/>
        </p:nvGrpSpPr>
        <p:grpSpPr>
          <a:xfrm>
            <a:off x="3836701" y="2592310"/>
            <a:ext cx="2630093" cy="2031034"/>
            <a:chOff x="3791188" y="2611009"/>
            <a:chExt cx="2630093" cy="2031034"/>
          </a:xfrm>
        </p:grpSpPr>
        <p:sp>
          <p:nvSpPr>
            <p:cNvPr id="101" name="TextBox 100">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02" name="직사각형 101"/>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3" name="직선 연결선 102">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108">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10" name="TextBox 109">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11" name="직선 연결선 110">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2" name="직선 연결선 111">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3" name="직선 연결선 11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4" name="직선 연결선 113">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9" name="TextBox 118">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spTree>
    <p:extLst>
      <p:ext uri="{BB962C8B-B14F-4D97-AF65-F5344CB8AC3E}">
        <p14:creationId xmlns:p14="http://schemas.microsoft.com/office/powerpoint/2010/main" val="641022599"/>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사업별등록결과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361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사업별입찰등록결과조회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사업별입찰등록결과조회</a:t>
            </a:r>
            <a:r>
              <a:rPr lang="ko-KR" altLang="en-US" dirty="0">
                <a:latin typeface="+mn-ea"/>
              </a:rPr>
              <a:t>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775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입찰참가신청서상세 </a:t>
            </a:r>
            <a:r>
              <a:rPr lang="en-US" altLang="ko-KR" dirty="0">
                <a:latin typeface="+mn-ea"/>
              </a:rPr>
              <a:t>&gt; </a:t>
            </a:r>
            <a:r>
              <a:rPr lang="ko-KR" altLang="en-US" dirty="0" err="1">
                <a:latin typeface="+mn-ea"/>
              </a:rPr>
              <a:t>사업별입찰등록결과조회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MUI-BD-04-P83</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latin typeface="+mn-ea"/>
              </a:rPr>
              <a:t>사업별 입찰등록결과 조회</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a:latin typeface="+mn-ea"/>
              </a:rPr>
              <a:t>사업별 입찰등록결과 조회</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grpSp>
        <p:nvGrpSpPr>
          <p:cNvPr id="75" name="그룹 74"/>
          <p:cNvGrpSpPr/>
          <p:nvPr/>
        </p:nvGrpSpPr>
        <p:grpSpPr>
          <a:xfrm>
            <a:off x="716366" y="2592310"/>
            <a:ext cx="2630093" cy="1607126"/>
            <a:chOff x="3791188" y="2611009"/>
            <a:chExt cx="2630093" cy="1607126"/>
          </a:xfrm>
        </p:grpSpPr>
        <p:sp>
          <p:nvSpPr>
            <p:cNvPr id="76" name="TextBox 75">
              <a:extLst>
                <a:ext uri="{FF2B5EF4-FFF2-40B4-BE49-F238E27FC236}">
                  <a16:creationId xmlns:a16="http://schemas.microsoft.com/office/drawing/2014/main" id="{FFC49AEA-2A8F-250C-A86A-A7751D9706C3}"/>
                </a:ext>
              </a:extLst>
            </p:cNvPr>
            <p:cNvSpPr txBox="1"/>
            <p:nvPr/>
          </p:nvSpPr>
          <p:spPr>
            <a:xfrm>
              <a:off x="3852159" y="2611009"/>
              <a:ext cx="1186691" cy="215444"/>
            </a:xfrm>
            <a:prstGeom prst="rect">
              <a:avLst/>
            </a:prstGeom>
            <a:noFill/>
          </p:spPr>
          <p:txBody>
            <a:bodyPr wrap="square" lIns="0" tIns="0" rIns="0" bIns="0" rtlCol="0">
              <a:spAutoFit/>
            </a:bodyPr>
            <a:lstStyle/>
            <a:p>
              <a:pPr>
                <a:lnSpc>
                  <a:spcPct val="200000"/>
                </a:lnSpc>
              </a:pPr>
              <a:r>
                <a:rPr lang="ko-KR" altLang="en-US" sz="700" dirty="0">
                  <a:latin typeface="+mn-ea"/>
                </a:rPr>
                <a:t>사업별등록결과</a:t>
              </a:r>
            </a:p>
          </p:txBody>
        </p:sp>
        <p:sp>
          <p:nvSpPr>
            <p:cNvPr id="77" name="직사각형 76"/>
            <p:cNvSpPr/>
            <p:nvPr/>
          </p:nvSpPr>
          <p:spPr>
            <a:xfrm>
              <a:off x="3793281" y="2918495"/>
              <a:ext cx="792000" cy="12996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8" name="직선 연결선 7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9" name="TextBox 78">
              <a:extLst>
                <a:ext uri="{FF2B5EF4-FFF2-40B4-BE49-F238E27FC236}">
                  <a16:creationId xmlns:a16="http://schemas.microsoft.com/office/drawing/2014/main" id="{FFC49AEA-2A8F-250C-A86A-A7751D9706C3}"/>
                </a:ext>
              </a:extLst>
            </p:cNvPr>
            <p:cNvSpPr txBox="1"/>
            <p:nvPr/>
          </p:nvSpPr>
          <p:spPr>
            <a:xfrm>
              <a:off x="3880345" y="2918494"/>
              <a:ext cx="756848" cy="1292662"/>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등록결과</a:t>
              </a:r>
              <a:endParaRPr lang="en-US" altLang="ko-KR" sz="700" dirty="0">
                <a:latin typeface="+mn-ea"/>
              </a:endParaRPr>
            </a:p>
            <a:p>
              <a:pPr>
                <a:lnSpc>
                  <a:spcPct val="200000"/>
                </a:lnSpc>
              </a:pPr>
              <a:r>
                <a:rPr lang="ko-KR" altLang="en-US" sz="700" dirty="0">
                  <a:latin typeface="+mn-ea"/>
                </a:rPr>
                <a:t>등록불가사유</a:t>
              </a:r>
              <a:endParaRPr lang="en-US" altLang="ko-KR" sz="700" dirty="0">
                <a:latin typeface="+mn-ea"/>
              </a:endParaRPr>
            </a:p>
            <a:p>
              <a:pPr>
                <a:lnSpc>
                  <a:spcPct val="200000"/>
                </a:lnSpc>
              </a:pPr>
              <a:r>
                <a:rPr lang="ko-KR" altLang="en-US" sz="700" dirty="0">
                  <a:latin typeface="+mn-ea"/>
                </a:rPr>
                <a:t>등록확정일자</a:t>
              </a:r>
              <a:endParaRPr lang="en-US" altLang="ko-KR" sz="700" dirty="0">
                <a:latin typeface="+mn-ea"/>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4637193" y="2918494"/>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BDC23453-001</a:t>
              </a:r>
            </a:p>
            <a:p>
              <a:pPr>
                <a:lnSpc>
                  <a:spcPct val="200000"/>
                </a:lnSpc>
              </a:pPr>
              <a:r>
                <a:rPr lang="en-US" altLang="ko-KR" sz="700" dirty="0">
                  <a:latin typeface="+mn-ea"/>
                </a:rPr>
                <a:t>T-</a:t>
              </a:r>
              <a:r>
                <a:rPr lang="en-US" altLang="ko-KR" sz="700" dirty="0" err="1">
                  <a:latin typeface="+mn-ea"/>
                </a:rPr>
                <a:t>ATeTMEP</a:t>
              </a:r>
              <a:r>
                <a:rPr lang="en-US" altLang="ko-KR" sz="700" dirty="0">
                  <a:latin typeface="+mn-ea"/>
                </a:rPr>
                <a:t>- </a:t>
              </a:r>
              <a:r>
                <a:rPr lang="ko-KR" altLang="en-US" sz="700" dirty="0" err="1">
                  <a:latin typeface="+mn-ea"/>
                </a:rPr>
                <a:t>수리부속</a:t>
              </a:r>
              <a:endParaRPr lang="ko-KR" altLang="en-US" sz="700" dirty="0">
                <a:latin typeface="+mn-ea"/>
              </a:endParaRPr>
            </a:p>
            <a:p>
              <a:pPr>
                <a:lnSpc>
                  <a:spcPct val="200000"/>
                </a:lnSpc>
              </a:pPr>
              <a:r>
                <a:rPr lang="ko-KR" altLang="en-US" sz="700" dirty="0" err="1">
                  <a:latin typeface="+mn-ea"/>
                </a:rPr>
                <a:t>등록심사중</a:t>
              </a: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p:txBody>
        </p:sp>
        <p:cxnSp>
          <p:nvCxnSpPr>
            <p:cNvPr id="92" name="직선 연결선 91">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3" name="직선 연결선 92">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4" name="직선 연결선 9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5" name="직선 연결선 9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6" name="직선 연결선 95">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70" name="그룹 69"/>
          <p:cNvGrpSpPr/>
          <p:nvPr/>
        </p:nvGrpSpPr>
        <p:grpSpPr>
          <a:xfrm>
            <a:off x="716366" y="4308385"/>
            <a:ext cx="2630093" cy="1299641"/>
            <a:chOff x="3791188" y="2918494"/>
            <a:chExt cx="2630093" cy="1299641"/>
          </a:xfrm>
        </p:grpSpPr>
        <p:sp>
          <p:nvSpPr>
            <p:cNvPr id="72" name="직사각형 71"/>
            <p:cNvSpPr/>
            <p:nvPr/>
          </p:nvSpPr>
          <p:spPr>
            <a:xfrm>
              <a:off x="3793281" y="2918495"/>
              <a:ext cx="792000" cy="12996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73" name="직선 연결선 72">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4" name="TextBox 73">
              <a:extLst>
                <a:ext uri="{FF2B5EF4-FFF2-40B4-BE49-F238E27FC236}">
                  <a16:creationId xmlns:a16="http://schemas.microsoft.com/office/drawing/2014/main" id="{FFC49AEA-2A8F-250C-A86A-A7751D9706C3}"/>
                </a:ext>
              </a:extLst>
            </p:cNvPr>
            <p:cNvSpPr txBox="1"/>
            <p:nvPr/>
          </p:nvSpPr>
          <p:spPr>
            <a:xfrm>
              <a:off x="3880345" y="2918494"/>
              <a:ext cx="756848" cy="1292662"/>
            </a:xfrm>
            <a:prstGeom prst="rect">
              <a:avLst/>
            </a:prstGeom>
            <a:noFill/>
          </p:spPr>
          <p:txBody>
            <a:bodyPr wrap="square" lIns="0" tIns="0" rIns="0" bIns="0" rtlCol="0">
              <a:spAutoFit/>
            </a:bodyPr>
            <a:lstStyle/>
            <a:p>
              <a:pPr>
                <a:lnSpc>
                  <a:spcPct val="200000"/>
                </a:lnSpc>
              </a:pPr>
              <a:r>
                <a:rPr lang="ko-KR" altLang="en-US" sz="700" dirty="0">
                  <a:latin typeface="+mn-ea"/>
                </a:rPr>
                <a:t>순번</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err="1">
                  <a:latin typeface="+mn-ea"/>
                </a:rPr>
                <a:t>등록결과</a:t>
              </a:r>
              <a:endParaRPr lang="en-US" altLang="ko-KR" sz="700" dirty="0">
                <a:latin typeface="+mn-ea"/>
              </a:endParaRPr>
            </a:p>
            <a:p>
              <a:pPr>
                <a:lnSpc>
                  <a:spcPct val="200000"/>
                </a:lnSpc>
              </a:pPr>
              <a:r>
                <a:rPr lang="ko-KR" altLang="en-US" sz="700" dirty="0">
                  <a:latin typeface="+mn-ea"/>
                </a:rPr>
                <a:t>등록불가사유</a:t>
              </a:r>
              <a:endParaRPr lang="en-US" altLang="ko-KR" sz="700" dirty="0">
                <a:latin typeface="+mn-ea"/>
              </a:endParaRPr>
            </a:p>
            <a:p>
              <a:pPr>
                <a:lnSpc>
                  <a:spcPct val="200000"/>
                </a:lnSpc>
              </a:pPr>
              <a:r>
                <a:rPr lang="ko-KR" altLang="en-US" sz="700" dirty="0">
                  <a:latin typeface="+mn-ea"/>
                </a:rPr>
                <a:t>등록확정일자</a:t>
              </a:r>
              <a:endParaRPr lang="en-US" altLang="ko-KR" sz="700" dirty="0">
                <a:latin typeface="+mn-ea"/>
              </a:endParaRPr>
            </a:p>
          </p:txBody>
        </p:sp>
        <p:sp>
          <p:nvSpPr>
            <p:cNvPr id="89" name="TextBox 88">
              <a:extLst>
                <a:ext uri="{FF2B5EF4-FFF2-40B4-BE49-F238E27FC236}">
                  <a16:creationId xmlns:a16="http://schemas.microsoft.com/office/drawing/2014/main" id="{FFC49AEA-2A8F-250C-A86A-A7751D9706C3}"/>
                </a:ext>
              </a:extLst>
            </p:cNvPr>
            <p:cNvSpPr txBox="1"/>
            <p:nvPr/>
          </p:nvSpPr>
          <p:spPr>
            <a:xfrm>
              <a:off x="4637193" y="2918494"/>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BDC23453-002</a:t>
              </a:r>
            </a:p>
            <a:p>
              <a:pPr>
                <a:lnSpc>
                  <a:spcPct val="200000"/>
                </a:lnSpc>
              </a:pPr>
              <a:r>
                <a:rPr lang="en-US" altLang="ko-KR" sz="700" dirty="0">
                  <a:latin typeface="+mn-ea"/>
                </a:rPr>
                <a:t>T-</a:t>
              </a:r>
              <a:r>
                <a:rPr lang="en-US" altLang="ko-KR" sz="700" dirty="0" err="1">
                  <a:latin typeface="+mn-ea"/>
                </a:rPr>
                <a:t>ATeTMEP</a:t>
              </a:r>
              <a:r>
                <a:rPr lang="en-US" altLang="ko-KR" sz="700" dirty="0">
                  <a:latin typeface="+mn-ea"/>
                </a:rPr>
                <a:t>- </a:t>
              </a:r>
              <a:r>
                <a:rPr lang="ko-KR" altLang="en-US" sz="700" dirty="0" err="1">
                  <a:latin typeface="+mn-ea"/>
                </a:rPr>
                <a:t>수리부속</a:t>
              </a:r>
              <a:r>
                <a:rPr lang="ko-KR" altLang="en-US" sz="700" dirty="0">
                  <a:latin typeface="+mn-ea"/>
                </a:rPr>
                <a:t> </a:t>
              </a:r>
              <a:r>
                <a:rPr lang="en-US" altLang="ko-KR" sz="700" dirty="0">
                  <a:latin typeface="+mn-ea"/>
                </a:rPr>
                <a:t>2</a:t>
              </a:r>
              <a:endParaRPr lang="ko-KR" altLang="en-US" sz="700" dirty="0">
                <a:latin typeface="+mn-ea"/>
              </a:endParaRPr>
            </a:p>
            <a:p>
              <a:pPr>
                <a:lnSpc>
                  <a:spcPct val="200000"/>
                </a:lnSpc>
              </a:pPr>
              <a:r>
                <a:rPr lang="ko-KR" altLang="en-US" sz="700" dirty="0" err="1">
                  <a:latin typeface="+mn-ea"/>
                </a:rPr>
                <a:t>등록불가</a:t>
              </a:r>
              <a:endParaRPr lang="en-US" altLang="ko-KR" sz="700" dirty="0">
                <a:latin typeface="+mn-ea"/>
              </a:endParaRPr>
            </a:p>
            <a:p>
              <a:pPr>
                <a:lnSpc>
                  <a:spcPct val="200000"/>
                </a:lnSpc>
              </a:pPr>
              <a:r>
                <a:rPr lang="ko-KR" altLang="en-US" sz="700" dirty="0">
                  <a:latin typeface="+mn-ea"/>
                </a:rPr>
                <a:t>서류미비</a:t>
              </a:r>
              <a:endParaRPr lang="en-US" altLang="ko-KR" sz="700" dirty="0">
                <a:latin typeface="+mn-ea"/>
              </a:endParaRPr>
            </a:p>
            <a:p>
              <a:pPr>
                <a:lnSpc>
                  <a:spcPct val="200000"/>
                </a:lnSpc>
              </a:pPr>
              <a:r>
                <a:rPr lang="en-US" altLang="ko-KR" sz="700" dirty="0">
                  <a:latin typeface="+mn-ea"/>
                </a:rPr>
                <a:t>2026-02-19</a:t>
              </a:r>
            </a:p>
          </p:txBody>
        </p:sp>
        <p:cxnSp>
          <p:nvCxnSpPr>
            <p:cNvPr id="90" name="직선 연결선 89">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1" name="직선 연결선 90">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6" name="직선 연결선 105">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8" name="직선 연결선 107">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0" name="그룹 119">
            <a:extLst>
              <a:ext uri="{FF2B5EF4-FFF2-40B4-BE49-F238E27FC236}">
                <a16:creationId xmlns:a16="http://schemas.microsoft.com/office/drawing/2014/main" id="{22BC05EE-C648-7CA2-4CCC-6E1C1A7E9BDA}"/>
              </a:ext>
            </a:extLst>
          </p:cNvPr>
          <p:cNvGrpSpPr/>
          <p:nvPr/>
        </p:nvGrpSpPr>
        <p:grpSpPr>
          <a:xfrm>
            <a:off x="5113316" y="3846844"/>
            <a:ext cx="76863" cy="292489"/>
            <a:chOff x="3750067" y="4683795"/>
            <a:chExt cx="76863" cy="292489"/>
          </a:xfrm>
        </p:grpSpPr>
        <p:sp>
          <p:nvSpPr>
            <p:cNvPr id="121" name="타원 120">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2" name="타원 121">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23" name="타원 122">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24" name="사각형: 둥근 모서리 15">
            <a:extLst>
              <a:ext uri="{FF2B5EF4-FFF2-40B4-BE49-F238E27FC236}">
                <a16:creationId xmlns:a16="http://schemas.microsoft.com/office/drawing/2014/main" id="{E2B61CFB-AD16-68D0-8752-50D9C5E01971}"/>
              </a:ext>
            </a:extLst>
          </p:cNvPr>
          <p:cNvSpPr/>
          <p:nvPr/>
        </p:nvSpPr>
        <p:spPr>
          <a:xfrm>
            <a:off x="3825376" y="5265529"/>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Tree>
    <p:extLst>
      <p:ext uri="{BB962C8B-B14F-4D97-AF65-F5344CB8AC3E}">
        <p14:creationId xmlns:p14="http://schemas.microsoft.com/office/powerpoint/2010/main" val="2154422078"/>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362</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28628418"/>
                  </a:ext>
                </a:extLst>
              </a:tr>
              <a:tr h="0">
                <a:tc>
                  <a:txBody>
                    <a:bodyPr/>
                    <a:lstStyle/>
                    <a:p>
                      <a:pPr algn="l" fontAlgn="ctr"/>
                      <a:r>
                        <a:rPr lang="ko-KR" altLang="en-US" sz="800" b="0" i="0" u="none" strike="noStrike">
                          <a:solidFill>
                            <a:srgbClr val="000000"/>
                          </a:solidFill>
                          <a:effectLst/>
                          <a:latin typeface="+mn-ea"/>
                          <a:ea typeface="+mn-ea"/>
                        </a:rPr>
                        <a:t>개찰일자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개찰일자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Box 1">
            <a:extLst>
              <a:ext uri="{FF2B5EF4-FFF2-40B4-BE49-F238E27FC236}">
                <a16:creationId xmlns:a16="http://schemas.microsoft.com/office/drawing/2014/main" id="{F14B9E18-8370-82BF-6FF1-2BF59AD83A65}"/>
              </a:ext>
            </a:extLst>
          </p:cNvPr>
          <p:cNvSpPr txBox="1"/>
          <p:nvPr/>
        </p:nvSpPr>
        <p:spPr>
          <a:xfrm>
            <a:off x="458117" y="1973732"/>
            <a:ext cx="2169431"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신청업체 데이터 </a:t>
            </a:r>
            <a:r>
              <a:rPr lang="ko-KR" altLang="en-US" sz="900" b="1">
                <a:solidFill>
                  <a:prstClr val="black"/>
                </a:solidFill>
              </a:rPr>
              <a:t>영역 </a:t>
            </a:r>
            <a:r>
              <a:rPr lang="en-US" altLang="ko-KR" sz="900" b="1">
                <a:solidFill>
                  <a:prstClr val="black"/>
                </a:solidFill>
              </a:rPr>
              <a:t>(dm_sbtInfo)</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3C8C0F55-53BA-811A-AE86-BF9603714E45}"/>
              </a:ext>
            </a:extLst>
          </p:cNvPr>
          <p:cNvGraphicFramePr>
            <a:graphicFrameLocks noGrp="1"/>
          </p:cNvGraphicFramePr>
          <p:nvPr/>
        </p:nvGraphicFramePr>
        <p:xfrm>
          <a:off x="452999" y="2184935"/>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업체코드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업체코드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업체명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439004"/>
                  </a:ext>
                </a:extLst>
              </a:tr>
              <a:tr h="0">
                <a:tc>
                  <a:txBody>
                    <a:bodyPr/>
                    <a:lstStyle/>
                    <a:p>
                      <a:pPr algn="l" fontAlgn="ctr"/>
                      <a:r>
                        <a:rPr lang="ko-KR" altLang="en-US" sz="800" b="0" i="0" u="none" strike="noStrike">
                          <a:solidFill>
                            <a:srgbClr val="000000"/>
                          </a:solidFill>
                          <a:effectLst/>
                          <a:latin typeface="+mn-ea"/>
                          <a:ea typeface="+mn-ea"/>
                        </a:rPr>
                        <a:t>대표자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937548"/>
                  </a:ext>
                </a:extLst>
              </a:tr>
              <a:tr h="0">
                <a:tc>
                  <a:txBody>
                    <a:bodyPr/>
                    <a:lstStyle/>
                    <a:p>
                      <a:pPr algn="l" fontAlgn="ctr"/>
                      <a:r>
                        <a:rPr lang="ko-KR" altLang="en-US" sz="800" b="0" i="0" u="none" strike="noStrike">
                          <a:solidFill>
                            <a:srgbClr val="000000"/>
                          </a:solidFill>
                          <a:effectLst/>
                          <a:latin typeface="+mn-ea"/>
                          <a:ea typeface="+mn-ea"/>
                        </a:rPr>
                        <a:t>주민등록번호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1840538"/>
                  </a:ext>
                </a:extLst>
              </a:tr>
              <a:tr h="0">
                <a:tc>
                  <a:txBody>
                    <a:bodyPr/>
                    <a:lstStyle/>
                    <a:p>
                      <a:pPr algn="l" fontAlgn="ctr"/>
                      <a:r>
                        <a:rPr lang="ko-KR" altLang="en-US" sz="800" b="0" i="0" u="none" strike="noStrike">
                          <a:solidFill>
                            <a:srgbClr val="000000"/>
                          </a:solidFill>
                          <a:effectLst/>
                          <a:latin typeface="+mn-ea"/>
                          <a:ea typeface="+mn-ea"/>
                        </a:rPr>
                        <a:t>전화번호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8292066"/>
                  </a:ext>
                </a:extLst>
              </a:tr>
              <a:tr h="0">
                <a:tc>
                  <a:txBody>
                    <a:bodyPr/>
                    <a:lstStyle/>
                    <a:p>
                      <a:pPr algn="l" fontAlgn="ctr"/>
                      <a:r>
                        <a:rPr lang="ko-KR" altLang="en-US" sz="800" b="0" i="0" u="none" strike="noStrike">
                          <a:solidFill>
                            <a:srgbClr val="000000"/>
                          </a:solidFill>
                          <a:effectLst/>
                          <a:latin typeface="+mn-ea"/>
                          <a:ea typeface="+mn-ea"/>
                        </a:rPr>
                        <a:t>시업자번호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사업자등록번호 또는 </a:t>
                      </a:r>
                      <a:r>
                        <a:rPr lang="en-US" altLang="ko-KR" sz="800" b="0" i="0" u="none" strike="noStrike">
                          <a:solidFill>
                            <a:srgbClr val="000000"/>
                          </a:solidFill>
                          <a:effectLst/>
                          <a:latin typeface="+mn-ea"/>
                          <a:ea typeface="+mn-ea"/>
                        </a:rPr>
                        <a:t>DUNSNUM</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8574632"/>
                  </a:ext>
                </a:extLst>
              </a:tr>
              <a:tr h="0">
                <a:tc>
                  <a:txBody>
                    <a:bodyPr/>
                    <a:lstStyle/>
                    <a:p>
                      <a:pPr algn="l" fontAlgn="ctr"/>
                      <a:r>
                        <a:rPr lang="ko-KR" altLang="en-US" sz="800" b="0" i="0" u="none" strike="noStrike">
                          <a:solidFill>
                            <a:srgbClr val="000000"/>
                          </a:solidFill>
                          <a:effectLst/>
                          <a:latin typeface="+mn-ea"/>
                          <a:ea typeface="+mn-ea"/>
                        </a:rPr>
                        <a:t>팩스</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a:solidFill>
                            <a:srgbClr val="000000"/>
                          </a:solidFill>
                          <a:effectLst/>
                          <a:latin typeface="+mn-ea"/>
                          <a:ea typeface="+mn-ea"/>
                        </a:rPr>
                        <a:t>주소</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주소</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63329AAB-17D3-0F22-F460-85676E4330B8}"/>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4F7C8E8F-E382-7B13-9296-3993B70E3B45}"/>
              </a:ext>
            </a:extLst>
          </p:cNvPr>
          <p:cNvSpPr txBox="1"/>
          <p:nvPr/>
        </p:nvSpPr>
        <p:spPr>
          <a:xfrm>
            <a:off x="458117" y="4278014"/>
            <a:ext cx="2219125" cy="211203"/>
          </a:xfrm>
          <a:prstGeom prst="rect">
            <a:avLst/>
          </a:prstGeom>
          <a:noFill/>
        </p:spPr>
        <p:txBody>
          <a:bodyPr wrap="none" lIns="36000" tIns="36000" rIns="36000" bIns="36000" rtlCol="0">
            <a:spAutoFit/>
          </a:bodyPr>
          <a:lstStyle/>
          <a:p>
            <a:r>
              <a:rPr lang="en-US" altLang="ko-KR" sz="900" b="1">
                <a:solidFill>
                  <a:prstClr val="black"/>
                </a:solidFill>
              </a:rPr>
              <a:t>1.3. </a:t>
            </a:r>
            <a:r>
              <a:rPr lang="ko-KR" altLang="en-US" sz="900" b="1">
                <a:solidFill>
                  <a:prstClr val="black"/>
                </a:solidFill>
              </a:rPr>
              <a:t>입찰업체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(dm_splyInfo)</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5F23F511-62F4-2C8C-ADB1-9F5C0BC72DE2}"/>
              </a:ext>
            </a:extLst>
          </p:cNvPr>
          <p:cNvGraphicFramePr>
            <a:graphicFrameLocks noGrp="1"/>
          </p:cNvGraphicFramePr>
          <p:nvPr/>
        </p:nvGraphicFramePr>
        <p:xfrm>
          <a:off x="452999" y="4489217"/>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439004"/>
                  </a:ext>
                </a:extLst>
              </a:tr>
              <a:tr h="0">
                <a:tc>
                  <a:txBody>
                    <a:bodyPr/>
                    <a:lstStyle/>
                    <a:p>
                      <a:pPr algn="l" fontAlgn="ctr"/>
                      <a:r>
                        <a:rPr lang="ko-KR" altLang="en-US" sz="800" b="0" i="0" u="none" strike="noStrike" dirty="0">
                          <a:solidFill>
                            <a:srgbClr val="000000"/>
                          </a:solidFill>
                          <a:effectLst/>
                          <a:latin typeface="+mn-ea"/>
                          <a:ea typeface="+mn-ea"/>
                        </a:rPr>
                        <a:t>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937548"/>
                  </a:ext>
                </a:extLst>
              </a:tr>
              <a:tr h="0">
                <a:tc>
                  <a:txBody>
                    <a:bodyPr/>
                    <a:lstStyle/>
                    <a:p>
                      <a:pPr algn="l" fontAlgn="ctr"/>
                      <a:r>
                        <a:rPr lang="ko-KR" altLang="en-US" sz="800" b="0" i="0" u="none" strike="noStrike">
                          <a:solidFill>
                            <a:srgbClr val="000000"/>
                          </a:solidFill>
                          <a:effectLst/>
                          <a:latin typeface="+mn-ea"/>
                          <a:ea typeface="+mn-ea"/>
                        </a:rPr>
                        <a:t>이메일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대표자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1840538"/>
                  </a:ext>
                </a:extLst>
              </a:tr>
              <a:tr h="0">
                <a:tc>
                  <a:txBody>
                    <a:bodyPr/>
                    <a:lstStyle/>
                    <a:p>
                      <a:pPr algn="l" fontAlgn="ctr"/>
                      <a:r>
                        <a:rPr lang="ko-KR" altLang="en-US" sz="800" b="0" i="0" u="none" strike="noStrike" dirty="0">
                          <a:solidFill>
                            <a:srgbClr val="000000"/>
                          </a:solidFill>
                          <a:effectLst/>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8292066"/>
                  </a:ext>
                </a:extLst>
              </a:tr>
              <a:tr h="0">
                <a:tc>
                  <a:txBody>
                    <a:bodyPr/>
                    <a:lstStyle/>
                    <a:p>
                      <a:pPr algn="l" fontAlgn="ctr"/>
                      <a:r>
                        <a:rPr lang="ko-KR" altLang="en-US" sz="800" b="0" i="0" u="none" strike="noStrike" dirty="0">
                          <a:solidFill>
                            <a:srgbClr val="000000"/>
                          </a:solidFill>
                          <a:effectLst/>
                          <a:latin typeface="+mn-ea"/>
                          <a:ea typeface="+mn-ea"/>
                        </a:rPr>
                        <a:t>시업자번호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8574632"/>
                  </a:ext>
                </a:extLst>
              </a:tr>
              <a:tr h="0">
                <a:tc>
                  <a:txBody>
                    <a:bodyPr/>
                    <a:lstStyle/>
                    <a:p>
                      <a:pPr algn="l" fontAlgn="ctr"/>
                      <a:r>
                        <a:rPr lang="ko-KR" altLang="en-US" sz="800" b="0" i="0" u="none" strike="noStrike" dirty="0">
                          <a:solidFill>
                            <a:srgbClr val="000000"/>
                          </a:solidFill>
                          <a:effectLst/>
                          <a:latin typeface="+mn-ea"/>
                          <a:ea typeface="+mn-ea"/>
                        </a:rPr>
                        <a:t>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Tree>
    <p:extLst>
      <p:ext uri="{BB962C8B-B14F-4D97-AF65-F5344CB8AC3E}">
        <p14:creationId xmlns:p14="http://schemas.microsoft.com/office/powerpoint/2010/main" val="4066951428"/>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363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89418"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사업별등록결과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(dl_resultList)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순번</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순번</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참가신청한 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2314043"/>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참가신청한 사업명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6036380"/>
                  </a:ext>
                </a:extLst>
              </a:tr>
              <a:tr h="0">
                <a:tc>
                  <a:txBody>
                    <a:bodyPr/>
                    <a:lstStyle/>
                    <a:p>
                      <a:pPr algn="l" fontAlgn="ctr"/>
                      <a:r>
                        <a:rPr lang="ko-KR" altLang="en-US" sz="800" b="0" i="0" u="none" strike="noStrike">
                          <a:solidFill>
                            <a:srgbClr val="000000"/>
                          </a:solidFill>
                          <a:effectLst/>
                          <a:latin typeface="+mn-ea"/>
                          <a:ea typeface="+mn-ea"/>
                        </a:rPr>
                        <a:t>등록결과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cfmtnRslt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입찰참가등록심사 결과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66879692"/>
                  </a:ext>
                </a:extLst>
              </a:tr>
              <a:tr h="0">
                <a:tc>
                  <a:txBody>
                    <a:bodyPr/>
                    <a:lstStyle/>
                    <a:p>
                      <a:pPr algn="l" fontAlgn="ctr"/>
                      <a:r>
                        <a:rPr lang="ko-KR" altLang="en-US" sz="800" b="0" i="0" u="none" strike="noStrike">
                          <a:solidFill>
                            <a:srgbClr val="000000"/>
                          </a:solidFill>
                          <a:effectLst/>
                          <a:latin typeface="+mn-ea"/>
                          <a:ea typeface="+mn-ea"/>
                        </a:rPr>
                        <a:t>등록불가사유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입찰참가등록심사 </a:t>
                      </a:r>
                      <a:r>
                        <a:rPr lang="ko-KR" altLang="en-US" sz="800" b="0" i="0" u="none" strike="noStrike" dirty="0" err="1">
                          <a:solidFill>
                            <a:srgbClr val="000000"/>
                          </a:solidFill>
                          <a:effectLst/>
                          <a:latin typeface="+mn-ea"/>
                          <a:ea typeface="+mn-ea"/>
                        </a:rPr>
                        <a:t>반려사유</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a:solidFill>
                            <a:srgbClr val="000000"/>
                          </a:solidFill>
                          <a:effectLst/>
                          <a:latin typeface="+mn-ea"/>
                          <a:ea typeface="+mn-ea"/>
                        </a:rPr>
                        <a:t>등록확정일자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cfmtnYmd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입찰참가등록 확정일자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mn-ea"/>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 Box 73">
            <a:extLst>
              <a:ext uri="{FF2B5EF4-FFF2-40B4-BE49-F238E27FC236}">
                <a16:creationId xmlns:a16="http://schemas.microsoft.com/office/drawing/2014/main" id="{C27DC7BC-6A09-C354-B70A-EB381929B66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386615949"/>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B208F9F9-6ABE-41C6-390A-0656DE7E5EB5}"/>
              </a:ext>
            </a:extLst>
          </p:cNvPr>
          <p:cNvSpPr>
            <a:spLocks noGrp="1"/>
          </p:cNvSpPr>
          <p:nvPr>
            <p:ph type="sldNum" sz="quarter" idx="4"/>
          </p:nvPr>
        </p:nvSpPr>
        <p:spPr/>
        <p:txBody>
          <a:bodyPr/>
          <a:lstStyle/>
          <a:p>
            <a:fld id="{34C8E023-7346-48FC-AB24-9A3388C53208}" type="slidenum">
              <a:rPr lang="ko-KR" altLang="en-US" smtClean="0"/>
              <a:pPr/>
              <a:t>364</a:t>
            </a:fld>
            <a:endParaRPr lang="ko-KR" altLang="en-US" dirty="0"/>
          </a:p>
        </p:txBody>
      </p:sp>
      <p:sp>
        <p:nvSpPr>
          <p:cNvPr id="3" name="TextBox 2">
            <a:extLst>
              <a:ext uri="{FF2B5EF4-FFF2-40B4-BE49-F238E27FC236}">
                <a16:creationId xmlns:a16="http://schemas.microsoft.com/office/drawing/2014/main" id="{18AFABCF-67E3-D442-8A32-B597790BE182}"/>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02552709-63E3-D17D-BFDB-CA54709D354C}"/>
              </a:ext>
            </a:extLst>
          </p:cNvPr>
          <p:cNvGraphicFramePr>
            <a:graphicFrameLocks noGrp="1"/>
          </p:cNvGraphicFramePr>
          <p:nvPr>
            <p:extLst>
              <p:ext uri="{D42A27DB-BD31-4B8C-83A1-F6EECF244321}">
                <p14:modId xmlns:p14="http://schemas.microsoft.com/office/powerpoint/2010/main" val="1736466087"/>
              </p:ext>
            </p:extLst>
          </p:nvPr>
        </p:nvGraphicFramePr>
        <p:xfrm>
          <a:off x="458117" y="799547"/>
          <a:ext cx="8995591" cy="3878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err="1">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이벤트명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사업별입찰등록결과 상세조회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err="1">
                          <a:latin typeface="+mn-ea"/>
                          <a:ea typeface="+mn-ea"/>
                        </a:rPr>
                        <a:t>사업별입찰등록결과조회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5" name="Text Box 73">
            <a:extLst>
              <a:ext uri="{FF2B5EF4-FFF2-40B4-BE49-F238E27FC236}">
                <a16:creationId xmlns:a16="http://schemas.microsoft.com/office/drawing/2014/main" id="{9A4B47C0-D81A-D4B4-6973-6C10AA9F2C5B}"/>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26152559"/>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365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입찰서제출</a:t>
            </a:r>
            <a:r>
              <a:rPr lang="ko-KR" altLang="en-US" dirty="0">
                <a:latin typeface="+mn-ea"/>
              </a:rPr>
              <a:t>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업체담당자가 일반경쟁 공고에 </a:t>
            </a:r>
            <a:r>
              <a:rPr lang="ko-KR" altLang="en-US" dirty="0" err="1">
                <a:latin typeface="+mn-ea"/>
              </a:rPr>
              <a:t>참가신청한</a:t>
            </a:r>
            <a:r>
              <a:rPr lang="ko-KR" altLang="en-US" dirty="0">
                <a:latin typeface="+mn-ea"/>
              </a:rPr>
              <a:t> 품목을 조회하고 각 품목별로 금액 제출 및 필요한 문서를 제출하는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입찰서제출</a:t>
            </a:r>
            <a:r>
              <a:rPr lang="ko-KR" altLang="en-US" dirty="0">
                <a:latin typeface="+mn-ea"/>
              </a:rPr>
              <a:t>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MUI-BD-06-M71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입찰서 제출</a:t>
            </a: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9" name="그룹 148"/>
          <p:cNvGrpSpPr/>
          <p:nvPr/>
        </p:nvGrpSpPr>
        <p:grpSpPr>
          <a:xfrm rot="5400000">
            <a:off x="755013" y="1640499"/>
            <a:ext cx="94010" cy="47005"/>
            <a:chOff x="6812560" y="3297172"/>
            <a:chExt cx="94010" cy="47005"/>
          </a:xfrm>
        </p:grpSpPr>
        <p:cxnSp>
          <p:nvCxnSpPr>
            <p:cNvPr id="150" name="직선 연결선 1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3" name="직선 연결선 1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4" name="타원 153"/>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25461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27974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489972"/>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52131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2603303"/>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7" name="그룹 96"/>
          <p:cNvGrpSpPr/>
          <p:nvPr/>
        </p:nvGrpSpPr>
        <p:grpSpPr>
          <a:xfrm rot="16200000">
            <a:off x="1250698" y="2968109"/>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5" name="그룹 4"/>
          <p:cNvGrpSpPr/>
          <p:nvPr/>
        </p:nvGrpSpPr>
        <p:grpSpPr>
          <a:xfrm>
            <a:off x="1628592" y="2897630"/>
            <a:ext cx="601002" cy="187961"/>
            <a:chOff x="1404036" y="2897630"/>
            <a:chExt cx="601002" cy="187961"/>
          </a:xfrm>
        </p:grpSpPr>
        <p:grpSp>
          <p:nvGrpSpPr>
            <p:cNvPr id="100" name="그룹 99"/>
            <p:cNvGrpSpPr/>
            <p:nvPr/>
          </p:nvGrpSpPr>
          <p:grpSpPr>
            <a:xfrm>
              <a:off x="1404036" y="2897630"/>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서명</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rgbClr val="BFBFB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latin typeface="+mn-ea"/>
                    </a:rPr>
                    <a:t>2</a:t>
                  </a:r>
                  <a:endParaRPr lang="ko-KR" altLang="en-US" sz="700" dirty="0">
                    <a:latin typeface="+mn-ea"/>
                  </a:endParaRPr>
                </a:p>
              </p:txBody>
            </p:sp>
          </p:grpSp>
        </p:grpSp>
        <p:grpSp>
          <p:nvGrpSpPr>
            <p:cNvPr id="105" name="그룹 104"/>
            <p:cNvGrpSpPr/>
            <p:nvPr/>
          </p:nvGrpSpPr>
          <p:grpSpPr>
            <a:xfrm rot="16200000">
              <a:off x="1906809" y="2968109"/>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7" name="그룹 6"/>
          <p:cNvGrpSpPr/>
          <p:nvPr/>
        </p:nvGrpSpPr>
        <p:grpSpPr>
          <a:xfrm>
            <a:off x="747926" y="2897630"/>
            <a:ext cx="601001" cy="187961"/>
            <a:chOff x="747926" y="2310331"/>
            <a:chExt cx="601001" cy="187961"/>
          </a:xfrm>
        </p:grpSpPr>
        <p:grpSp>
          <p:nvGrpSpPr>
            <p:cNvPr id="6" name="그룹 5"/>
            <p:cNvGrpSpPr/>
            <p:nvPr/>
          </p:nvGrpSpPr>
          <p:grpSpPr>
            <a:xfrm>
              <a:off x="747926" y="2310331"/>
              <a:ext cx="187961" cy="187961"/>
              <a:chOff x="747926" y="2310331"/>
              <a:chExt cx="187961" cy="187961"/>
            </a:xfrm>
          </p:grpSpPr>
          <p:sp>
            <p:nvSpPr>
              <p:cNvPr id="114" name="타원 113"/>
              <p:cNvSpPr/>
              <p:nvPr/>
            </p:nvSpPr>
            <p:spPr>
              <a:xfrm>
                <a:off x="747926" y="2310331"/>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3" y="2350450"/>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1</a:t>
                </a:r>
                <a:endParaRPr lang="ko-KR" altLang="en-US" sz="700" dirty="0">
                  <a:solidFill>
                    <a:schemeClr val="bg1"/>
                  </a:solidFill>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1" y="2350450"/>
              <a:ext cx="397576" cy="107722"/>
            </a:xfrm>
            <a:prstGeom prst="rect">
              <a:avLst/>
            </a:prstGeom>
            <a:noFill/>
          </p:spPr>
          <p:txBody>
            <a:bodyPr wrap="square" lIns="0" tIns="0" rIns="0" bIns="0" rtlCol="0">
              <a:spAutoFit/>
            </a:bodyPr>
            <a:lstStyle/>
            <a:p>
              <a:r>
                <a:rPr lang="ko-KR" altLang="en-US" sz="700" dirty="0">
                  <a:latin typeface="+mn-ea"/>
                </a:rPr>
                <a:t>신청서</a:t>
              </a:r>
            </a:p>
          </p:txBody>
        </p:sp>
      </p:grpSp>
      <p:grpSp>
        <p:nvGrpSpPr>
          <p:cNvPr id="116" name="그룹 115"/>
          <p:cNvGrpSpPr/>
          <p:nvPr/>
        </p:nvGrpSpPr>
        <p:grpSpPr>
          <a:xfrm>
            <a:off x="2509258" y="2897630"/>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9" name="그룹 8"/>
          <p:cNvGrpSpPr/>
          <p:nvPr/>
        </p:nvGrpSpPr>
        <p:grpSpPr>
          <a:xfrm>
            <a:off x="675399" y="3557901"/>
            <a:ext cx="2712027" cy="337161"/>
            <a:chOff x="675399" y="3557901"/>
            <a:chExt cx="2712027" cy="337161"/>
          </a:xfrm>
        </p:grpSpPr>
        <p:cxnSp>
          <p:nvCxnSpPr>
            <p:cNvPr id="223" name="직선 연결선 222">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입찰참여품목</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3640332"/>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40" name="그룹 239"/>
          <p:cNvGrpSpPr/>
          <p:nvPr/>
        </p:nvGrpSpPr>
        <p:grpSpPr>
          <a:xfrm>
            <a:off x="675399" y="1936620"/>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56" name="그룹 255"/>
          <p:cNvGrpSpPr/>
          <p:nvPr/>
        </p:nvGrpSpPr>
        <p:grpSpPr>
          <a:xfrm>
            <a:off x="3795733"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316" name="직선 연결선 315">
            <a:extLst>
              <a:ext uri="{FF2B5EF4-FFF2-40B4-BE49-F238E27FC236}">
                <a16:creationId xmlns:a16="http://schemas.microsoft.com/office/drawing/2014/main" id="{E9293055-D5CD-4B9E-7F64-64B2D2CA7A52}"/>
              </a:ext>
            </a:extLst>
          </p:cNvPr>
          <p:cNvCxnSpPr/>
          <p:nvPr/>
        </p:nvCxnSpPr>
        <p:spPr>
          <a:xfrm>
            <a:off x="675399" y="316987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3252083"/>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3283428"/>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365414"/>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24" name="타원 323">
            <a:extLst>
              <a:ext uri="{FF2B5EF4-FFF2-40B4-BE49-F238E27FC236}">
                <a16:creationId xmlns:a16="http://schemas.microsoft.com/office/drawing/2014/main" id="{37A7FF4F-0EAA-1463-560A-D5EC24416103}"/>
              </a:ext>
            </a:extLst>
          </p:cNvPr>
          <p:cNvSpPr/>
          <p:nvPr/>
        </p:nvSpPr>
        <p:spPr>
          <a:xfrm>
            <a:off x="571127" y="363686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6" name="타원 325">
            <a:extLst>
              <a:ext uri="{FF2B5EF4-FFF2-40B4-BE49-F238E27FC236}">
                <a16:creationId xmlns:a16="http://schemas.microsoft.com/office/drawing/2014/main" id="{37A7FF4F-0EAA-1463-560A-D5EC24416103}"/>
              </a:ext>
            </a:extLst>
          </p:cNvPr>
          <p:cNvSpPr/>
          <p:nvPr/>
        </p:nvSpPr>
        <p:spPr>
          <a:xfrm>
            <a:off x="571127" y="399804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51" name="모서리가 둥근 직사각형 150"/>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70880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94" name="그룹 193"/>
          <p:cNvGrpSpPr/>
          <p:nvPr/>
        </p:nvGrpSpPr>
        <p:grpSpPr>
          <a:xfrm>
            <a:off x="3795735" y="2420077"/>
            <a:ext cx="2712026" cy="944800"/>
            <a:chOff x="3795735" y="4570486"/>
            <a:chExt cx="2712026" cy="944800"/>
          </a:xfrm>
        </p:grpSpPr>
        <p:sp>
          <p:nvSpPr>
            <p:cNvPr id="195" name="TextBox 194">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196" name="그룹 195"/>
            <p:cNvGrpSpPr/>
            <p:nvPr/>
          </p:nvGrpSpPr>
          <p:grpSpPr>
            <a:xfrm flipV="1">
              <a:off x="6240167" y="4729163"/>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7" name="TextBox 19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00" name="직선 연결선 199">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모서리가 둥근 직사각형 200"/>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03" name="TextBox 202">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08" name="그룹 207"/>
          <p:cNvGrpSpPr/>
          <p:nvPr/>
        </p:nvGrpSpPr>
        <p:grpSpPr>
          <a:xfrm>
            <a:off x="716366" y="3937904"/>
            <a:ext cx="2630093" cy="2454885"/>
            <a:chOff x="701175" y="1527996"/>
            <a:chExt cx="2630093" cy="2454885"/>
          </a:xfrm>
        </p:grpSpPr>
        <p:sp>
          <p:nvSpPr>
            <p:cNvPr id="209" name="TextBox 208">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210" name="그룹 209"/>
            <p:cNvGrpSpPr/>
            <p:nvPr/>
          </p:nvGrpSpPr>
          <p:grpSpPr>
            <a:xfrm flipV="1">
              <a:off x="3124233" y="1641327"/>
              <a:ext cx="94010" cy="47005"/>
              <a:chOff x="6812560" y="3297172"/>
              <a:chExt cx="94010" cy="47005"/>
            </a:xfrm>
          </p:grpSpPr>
          <p:cxnSp>
            <p:nvCxnSpPr>
              <p:cNvPr id="250" name="직선 연결선 2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1" name="직선 연결선 25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직사각형 210"/>
            <p:cNvSpPr/>
            <p:nvPr/>
          </p:nvSpPr>
          <p:spPr>
            <a:xfrm>
              <a:off x="703268" y="1835482"/>
              <a:ext cx="792000" cy="21473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2" name="TextBox 211">
              <a:extLst>
                <a:ext uri="{FF2B5EF4-FFF2-40B4-BE49-F238E27FC236}">
                  <a16:creationId xmlns:a16="http://schemas.microsoft.com/office/drawing/2014/main" id="{FFC49AEA-2A8F-250C-A86A-A7751D9706C3}"/>
                </a:ext>
              </a:extLst>
            </p:cNvPr>
            <p:cNvSpPr txBox="1"/>
            <p:nvPr/>
          </p:nvSpPr>
          <p:spPr>
            <a:xfrm>
              <a:off x="790330" y="1835481"/>
              <a:ext cx="728979" cy="125835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입찰방식</a:t>
              </a:r>
            </a:p>
            <a:p>
              <a:pPr>
                <a:lnSpc>
                  <a:spcPct val="200000"/>
                </a:lnSpc>
              </a:pPr>
              <a:r>
                <a:rPr lang="ko-KR" altLang="en-US" sz="700" dirty="0">
                  <a:latin typeface="+mn-ea"/>
                </a:rPr>
                <a:t>계약방법</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1547180" y="1835481"/>
              <a:ext cx="1775839" cy="212013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일반투찰</a:t>
              </a:r>
              <a:endParaRPr lang="ko-KR" altLang="en-US" sz="700" dirty="0">
                <a:latin typeface="+mn-ea"/>
              </a:endParaRPr>
            </a:p>
            <a:p>
              <a:pPr>
                <a:lnSpc>
                  <a:spcPct val="200000"/>
                </a:lnSpc>
              </a:pPr>
              <a:r>
                <a:rPr lang="ko-KR" altLang="en-US" sz="700" dirty="0">
                  <a:latin typeface="+mn-ea"/>
                </a:rPr>
                <a:t>일반경쟁</a:t>
              </a:r>
            </a:p>
            <a:p>
              <a:pPr>
                <a:lnSpc>
                  <a:spcPct val="200000"/>
                </a:lnSpc>
              </a:pPr>
              <a:r>
                <a:rPr lang="en-US" altLang="ko-KR" sz="700" dirty="0">
                  <a:latin typeface="+mn-ea"/>
                </a:rPr>
                <a:t>2025-03-02 15:00:00</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a:p>
              <a:pPr>
                <a:lnSpc>
                  <a:spcPct val="200000"/>
                </a:lnSpc>
              </a:pPr>
              <a:r>
                <a:rPr lang="en-US" altLang="ko-KR" sz="700" dirty="0">
                  <a:latin typeface="+mn-ea"/>
                </a:rPr>
                <a:t>2025-02-13</a:t>
              </a:r>
            </a:p>
          </p:txBody>
        </p:sp>
        <p:grpSp>
          <p:nvGrpSpPr>
            <p:cNvPr id="214" name="그룹 213"/>
            <p:cNvGrpSpPr/>
            <p:nvPr/>
          </p:nvGrpSpPr>
          <p:grpSpPr>
            <a:xfrm>
              <a:off x="701175" y="1835481"/>
              <a:ext cx="2630093" cy="2147400"/>
              <a:chOff x="701175" y="1835481"/>
              <a:chExt cx="2630093" cy="2147400"/>
            </a:xfrm>
          </p:grpSpPr>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5" name="직선 연결선 224">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5" name="직선 연결선 24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6" name="직선 연결선 245">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7" name="직선 연결선 246">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8" name="직선 연결선 247">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9" name="직선 연결선 248">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5" name="TextBox 214">
              <a:extLst>
                <a:ext uri="{FF2B5EF4-FFF2-40B4-BE49-F238E27FC236}">
                  <a16:creationId xmlns:a16="http://schemas.microsoft.com/office/drawing/2014/main" id="{FFC49AEA-2A8F-250C-A86A-A7751D9706C3}"/>
                </a:ext>
              </a:extLst>
            </p:cNvPr>
            <p:cNvSpPr txBox="1"/>
            <p:nvPr/>
          </p:nvSpPr>
          <p:spPr>
            <a:xfrm>
              <a:off x="790330" y="3120649"/>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216" name="TextBox 215">
              <a:extLst>
                <a:ext uri="{FF2B5EF4-FFF2-40B4-BE49-F238E27FC236}">
                  <a16:creationId xmlns:a16="http://schemas.microsoft.com/office/drawing/2014/main" id="{FFC49AEA-2A8F-250C-A86A-A7751D9706C3}"/>
                </a:ext>
              </a:extLst>
            </p:cNvPr>
            <p:cNvSpPr txBox="1"/>
            <p:nvPr/>
          </p:nvSpPr>
          <p:spPr>
            <a:xfrm>
              <a:off x="790330" y="3337737"/>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217" name="TextBox 216">
              <a:extLst>
                <a:ext uri="{FF2B5EF4-FFF2-40B4-BE49-F238E27FC236}">
                  <a16:creationId xmlns:a16="http://schemas.microsoft.com/office/drawing/2014/main" id="{FFC49AEA-2A8F-250C-A86A-A7751D9706C3}"/>
                </a:ext>
              </a:extLst>
            </p:cNvPr>
            <p:cNvSpPr txBox="1"/>
            <p:nvPr/>
          </p:nvSpPr>
          <p:spPr>
            <a:xfrm>
              <a:off x="790330" y="3524557"/>
              <a:ext cx="728979" cy="430887"/>
            </a:xfrm>
            <a:prstGeom prst="rect">
              <a:avLst/>
            </a:prstGeom>
            <a:noFill/>
          </p:spPr>
          <p:txBody>
            <a:bodyPr wrap="square" lIns="0" tIns="0" rIns="0" bIns="0" rtlCol="0">
              <a:spAutoFit/>
            </a:bodyPr>
            <a:lstStyle/>
            <a:p>
              <a:pPr>
                <a:lnSpc>
                  <a:spcPct val="200000"/>
                </a:lnSpc>
              </a:pPr>
              <a:r>
                <a:rPr lang="ko-KR" altLang="en-US" sz="700" dirty="0" err="1">
                  <a:latin typeface="+mn-ea"/>
                </a:rPr>
                <a:t>개찰일자</a:t>
              </a:r>
              <a:endParaRPr lang="ko-KR" altLang="en-US" sz="700" dirty="0">
                <a:latin typeface="+mn-ea"/>
              </a:endParaRPr>
            </a:p>
            <a:p>
              <a:pPr>
                <a:lnSpc>
                  <a:spcPct val="200000"/>
                </a:lnSpc>
              </a:pPr>
              <a:r>
                <a:rPr lang="ko-KR" altLang="en-US" sz="700" dirty="0">
                  <a:latin typeface="+mn-ea"/>
                </a:rPr>
                <a:t>환율적용일자</a:t>
              </a:r>
              <a:endParaRPr lang="en-US" altLang="ko-KR" sz="700" dirty="0">
                <a:latin typeface="+mn-ea"/>
              </a:endParaRPr>
            </a:p>
          </p:txBody>
        </p:sp>
      </p:grpSp>
      <p:grpSp>
        <p:nvGrpSpPr>
          <p:cNvPr id="140" name="그룹 139"/>
          <p:cNvGrpSpPr/>
          <p:nvPr/>
        </p:nvGrpSpPr>
        <p:grpSpPr>
          <a:xfrm>
            <a:off x="3795734" y="2083489"/>
            <a:ext cx="2712027" cy="337161"/>
            <a:chOff x="675399" y="3557901"/>
            <a:chExt cx="2712027" cy="337161"/>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입찰참여품목</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45" name="직선 연결선 144">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6" name="그룹 145"/>
            <p:cNvGrpSpPr/>
            <p:nvPr/>
          </p:nvGrpSpPr>
          <p:grpSpPr>
            <a:xfrm>
              <a:off x="2924086" y="3640332"/>
              <a:ext cx="422853" cy="187961"/>
              <a:chOff x="3641308" y="2234886"/>
              <a:chExt cx="422853" cy="187961"/>
            </a:xfrm>
          </p:grpSpPr>
          <p:sp>
            <p:nvSpPr>
              <p:cNvPr id="164" name="타원 16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1" name="그룹 180"/>
              <p:cNvGrpSpPr/>
              <p:nvPr/>
            </p:nvGrpSpPr>
            <p:grpSpPr>
              <a:xfrm rot="5400000" flipH="1">
                <a:off x="3679895" y="2305364"/>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2" name="타원 18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16200000">
                <a:off x="3931564" y="2305364"/>
                <a:ext cx="94010" cy="47005"/>
                <a:chOff x="6812560" y="3297172"/>
                <a:chExt cx="94010" cy="47005"/>
              </a:xfrm>
            </p:grpSpPr>
            <p:cxnSp>
              <p:nvCxnSpPr>
                <p:cNvPr id="184" name="직선 연결선 1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5" name="직선 연결선 1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3" name="직선 연결선 162">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587890787"/>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입찰참여품목</a:t>
            </a:r>
            <a:r>
              <a:rPr lang="en-US" altLang="ko-KR" dirty="0"/>
              <a:t>(</a:t>
            </a:r>
            <a:r>
              <a:rPr lang="ko-KR" altLang="en-US" dirty="0" err="1"/>
              <a:t>단가제</a:t>
            </a:r>
            <a:r>
              <a:rPr lang="en-US" altLang="ko-KR" dirty="0"/>
              <a:t>) </a:t>
            </a:r>
            <a:r>
              <a:rPr lang="ko-KR" altLang="en-US" dirty="0"/>
              <a:t>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366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입찰서제출</a:t>
            </a:r>
            <a:r>
              <a:rPr lang="ko-KR" altLang="en-US" dirty="0">
                <a:latin typeface="+mn-ea"/>
              </a:rPr>
              <a:t> </a:t>
            </a:r>
            <a:r>
              <a:rPr lang="en-US" altLang="ko-KR" dirty="0">
                <a:latin typeface="+mn-ea"/>
              </a:rPr>
              <a:t>- </a:t>
            </a:r>
            <a:r>
              <a:rPr lang="ko-KR" altLang="en-US" dirty="0">
                <a:latin typeface="+mn-ea"/>
              </a:rPr>
              <a:t>입찰참여품목 </a:t>
            </a:r>
            <a:r>
              <a:rPr lang="en-US" altLang="ko-KR" dirty="0">
                <a:latin typeface="+mn-ea"/>
              </a:rPr>
              <a:t>(</a:t>
            </a:r>
            <a:r>
              <a:rPr lang="ko-KR" altLang="en-US" dirty="0" err="1">
                <a:latin typeface="+mn-ea"/>
              </a:rPr>
              <a:t>단가제</a:t>
            </a:r>
            <a:r>
              <a:rPr lang="en-US" altLang="ko-KR" dirty="0">
                <a:latin typeface="+mn-ea"/>
              </a:rPr>
              <a:t>)</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업체담당자가 일반경쟁 공고에 </a:t>
            </a:r>
            <a:r>
              <a:rPr lang="ko-KR" altLang="en-US" dirty="0" err="1">
                <a:latin typeface="+mn-ea"/>
              </a:rPr>
              <a:t>참가신청한</a:t>
            </a:r>
            <a:r>
              <a:rPr lang="ko-KR" altLang="en-US" dirty="0">
                <a:latin typeface="+mn-ea"/>
              </a:rPr>
              <a:t> 품목을 조회하고 각 품목별로 금액 제출 및 필요한 문서를 제출하는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입찰서제출</a:t>
            </a:r>
            <a:r>
              <a:rPr lang="ko-KR" altLang="en-US" dirty="0">
                <a:latin typeface="+mn-ea"/>
              </a:rPr>
              <a:t> </a:t>
            </a:r>
            <a:r>
              <a:rPr lang="en-US" altLang="ko-KR" dirty="0">
                <a:latin typeface="+mn-ea"/>
              </a:rPr>
              <a:t>- </a:t>
            </a:r>
            <a:r>
              <a:rPr lang="ko-KR" altLang="en-US" dirty="0">
                <a:latin typeface="+mn-ea"/>
              </a:rPr>
              <a:t>입찰참여품목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MUI-BD-06-M72</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533058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595526"/>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91" name="TextBox 19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92" name="TextBox 191">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00" name="그룹 99"/>
          <p:cNvGrpSpPr/>
          <p:nvPr/>
        </p:nvGrpSpPr>
        <p:grpSpPr>
          <a:xfrm>
            <a:off x="3795734" y="2083489"/>
            <a:ext cx="2712027" cy="337161"/>
            <a:chOff x="675399" y="3557901"/>
            <a:chExt cx="2712027" cy="337161"/>
          </a:xfrm>
        </p:grpSpPr>
        <p:cxnSp>
          <p:nvCxnSpPr>
            <p:cNvPr id="102" name="직선 연결선 101">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04" name="TextBox 103">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입찰참여품목</a:t>
              </a:r>
            </a:p>
          </p:txBody>
        </p:sp>
        <p:sp>
          <p:nvSpPr>
            <p:cNvPr id="105" name="TextBox 104">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06" name="직선 연결선 105">
              <a:extLst>
                <a:ext uri="{FF2B5EF4-FFF2-40B4-BE49-F238E27FC236}">
                  <a16:creationId xmlns:a16="http://schemas.microsoft.com/office/drawing/2014/main" id="{E9293055-D5CD-4B9E-7F64-64B2D2CA7A52}"/>
                </a:ext>
              </a:extLst>
            </p:cNvPr>
            <p:cNvCxnSpPr/>
            <p:nvPr/>
          </p:nvCxnSpPr>
          <p:spPr>
            <a:xfrm>
              <a:off x="1345598" y="3895062"/>
              <a:ext cx="7336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07" name="그룹 106"/>
            <p:cNvGrpSpPr/>
            <p:nvPr/>
          </p:nvGrpSpPr>
          <p:grpSpPr>
            <a:xfrm>
              <a:off x="2924086" y="3640332"/>
              <a:ext cx="422853" cy="187961"/>
              <a:chOff x="3641308" y="2234886"/>
              <a:chExt cx="422853" cy="187961"/>
            </a:xfrm>
          </p:grpSpPr>
          <p:sp>
            <p:nvSpPr>
              <p:cNvPr id="110" name="타원 10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1" name="그룹 110"/>
              <p:cNvGrpSpPr/>
              <p:nvPr/>
            </p:nvGrpSpPr>
            <p:grpSpPr>
              <a:xfrm rot="5400000" flipH="1">
                <a:off x="3679895" y="2305364"/>
                <a:ext cx="94010" cy="47005"/>
                <a:chOff x="6812560" y="3297172"/>
                <a:chExt cx="94010" cy="47005"/>
              </a:xfrm>
            </p:grpSpPr>
            <p:cxnSp>
              <p:nvCxnSpPr>
                <p:cNvPr id="116" name="직선 연결선 11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7" name="직선 연결선 11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12" name="타원 11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13" name="그룹 112"/>
              <p:cNvGrpSpPr/>
              <p:nvPr/>
            </p:nvGrpSpPr>
            <p:grpSpPr>
              <a:xfrm rot="16200000">
                <a:off x="3931564" y="2305364"/>
                <a:ext cx="94010" cy="47005"/>
                <a:chOff x="6812560" y="3297172"/>
                <a:chExt cx="94010" cy="47005"/>
              </a:xfrm>
            </p:grpSpPr>
            <p:cxnSp>
              <p:nvCxnSpPr>
                <p:cNvPr id="114" name="직선 연결선 11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5" name="직선 연결선 11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08" name="직선 연결선 107">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9" name="직선 연결선 108">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18" name="그룹 117"/>
          <p:cNvGrpSpPr/>
          <p:nvPr/>
        </p:nvGrpSpPr>
        <p:grpSpPr>
          <a:xfrm>
            <a:off x="675399" y="2083489"/>
            <a:ext cx="2712027" cy="337161"/>
            <a:chOff x="675399" y="3557901"/>
            <a:chExt cx="2712027" cy="337161"/>
          </a:xfrm>
        </p:grpSpPr>
        <p:cxnSp>
          <p:nvCxnSpPr>
            <p:cNvPr id="119" name="직선 연결선 118">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0" name="TextBox 119">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입찰참여품목</a:t>
              </a:r>
            </a:p>
          </p:txBody>
        </p:sp>
        <p:sp>
          <p:nvSpPr>
            <p:cNvPr id="122" name="TextBox 121">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23" name="직선 연결선 122">
              <a:extLst>
                <a:ext uri="{FF2B5EF4-FFF2-40B4-BE49-F238E27FC236}">
                  <a16:creationId xmlns:a16="http://schemas.microsoft.com/office/drawing/2014/main" id="{E9293055-D5CD-4B9E-7F64-64B2D2CA7A52}"/>
                </a:ext>
              </a:extLst>
            </p:cNvPr>
            <p:cNvCxnSpPr/>
            <p:nvPr/>
          </p:nvCxnSpPr>
          <p:spPr>
            <a:xfrm>
              <a:off x="1340397" y="3895062"/>
              <a:ext cx="72803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24" name="그룹 123"/>
            <p:cNvGrpSpPr/>
            <p:nvPr/>
          </p:nvGrpSpPr>
          <p:grpSpPr>
            <a:xfrm>
              <a:off x="2924086" y="3640332"/>
              <a:ext cx="422853" cy="187961"/>
              <a:chOff x="3641308" y="2234886"/>
              <a:chExt cx="422853" cy="187961"/>
            </a:xfrm>
          </p:grpSpPr>
          <p:sp>
            <p:nvSpPr>
              <p:cNvPr id="145" name="타원 14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6" name="그룹 145"/>
              <p:cNvGrpSpPr/>
              <p:nvPr/>
            </p:nvGrpSpPr>
            <p:grpSpPr>
              <a:xfrm rot="5400000" flipH="1">
                <a:off x="3679895" y="2305364"/>
                <a:ext cx="94010" cy="47005"/>
                <a:chOff x="6812560" y="3297172"/>
                <a:chExt cx="94010" cy="47005"/>
              </a:xfrm>
            </p:grpSpPr>
            <p:cxnSp>
              <p:nvCxnSpPr>
                <p:cNvPr id="157" name="직선 연결선 15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8" name="직선 연결선 15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1" name="타원 150"/>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52" name="그룹 151"/>
              <p:cNvGrpSpPr/>
              <p:nvPr/>
            </p:nvGrpSpPr>
            <p:grpSpPr>
              <a:xfrm rot="16200000">
                <a:off x="3931564" y="2305364"/>
                <a:ext cx="94010" cy="47005"/>
                <a:chOff x="6812560" y="3297172"/>
                <a:chExt cx="94010" cy="47005"/>
              </a:xfrm>
            </p:grpSpPr>
            <p:cxnSp>
              <p:nvCxnSpPr>
                <p:cNvPr id="153" name="직선 연결선 15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4" name="직선 연결선 15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25" name="직선 연결선 124">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7" name="직선 연결선 126">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59" name="그룹 158"/>
          <p:cNvGrpSpPr/>
          <p:nvPr/>
        </p:nvGrpSpPr>
        <p:grpSpPr>
          <a:xfrm>
            <a:off x="701175" y="2489455"/>
            <a:ext cx="2630093" cy="3754583"/>
            <a:chOff x="701175" y="1527996"/>
            <a:chExt cx="2630093" cy="3754583"/>
          </a:xfrm>
        </p:grpSpPr>
        <p:sp>
          <p:nvSpPr>
            <p:cNvPr id="162" name="TextBox 161">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64" name="직사각형 163"/>
            <p:cNvSpPr/>
            <p:nvPr/>
          </p:nvSpPr>
          <p:spPr>
            <a:xfrm>
              <a:off x="703268" y="1835481"/>
              <a:ext cx="792000" cy="34438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790331" y="1835481"/>
              <a:ext cx="725552" cy="3447098"/>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en-US" altLang="ko-KR" sz="700" dirty="0">
                  <a:latin typeface="+mn-ea"/>
                </a:rPr>
                <a:t>MOQ</a:t>
              </a:r>
              <a:r>
                <a:rPr lang="ko-KR" altLang="en-US" sz="700" dirty="0">
                  <a:latin typeface="+mn-ea"/>
                </a:rPr>
                <a:t>구분</a:t>
              </a:r>
            </a:p>
            <a:p>
              <a:pPr>
                <a:lnSpc>
                  <a:spcPct val="200000"/>
                </a:lnSpc>
              </a:pPr>
              <a:r>
                <a:rPr lang="en-US" altLang="ko-KR" sz="700" dirty="0">
                  <a:latin typeface="+mn-ea"/>
                </a:rPr>
                <a:t>MOQ</a:t>
              </a:r>
              <a:r>
                <a:rPr lang="ko-KR" altLang="en-US" sz="700" dirty="0">
                  <a:latin typeface="+mn-ea"/>
                </a:rPr>
                <a:t>수량</a:t>
              </a:r>
            </a:p>
            <a:p>
              <a:pPr>
                <a:lnSpc>
                  <a:spcPct val="200000"/>
                </a:lnSpc>
              </a:pPr>
              <a:r>
                <a:rPr lang="en-US" altLang="ko-KR" sz="700" dirty="0">
                  <a:latin typeface="+mn-ea"/>
                </a:rPr>
                <a:t>MOQ</a:t>
              </a:r>
              <a:r>
                <a:rPr lang="ko-KR" altLang="en-US" sz="700" dirty="0" err="1">
                  <a:latin typeface="+mn-ea"/>
                </a:rPr>
                <a:t>첨부문서</a:t>
              </a:r>
              <a:endParaRPr lang="ko-KR" altLang="en-US" sz="700" dirty="0">
                <a:latin typeface="+mn-ea"/>
              </a:endParaRPr>
            </a:p>
            <a:p>
              <a:pPr>
                <a:lnSpc>
                  <a:spcPct val="200000"/>
                </a:lnSpc>
              </a:pPr>
              <a:r>
                <a:rPr lang="ko-KR" altLang="en-US" sz="700" dirty="0">
                  <a:latin typeface="+mn-ea"/>
                </a:rPr>
                <a:t>납기</a:t>
              </a:r>
              <a:r>
                <a:rPr lang="en-US" altLang="ko-KR" sz="700" dirty="0">
                  <a:latin typeface="+mn-ea"/>
                </a:rPr>
                <a:t>(</a:t>
              </a:r>
              <a:r>
                <a:rPr lang="ko-KR" altLang="en-US" sz="700" dirty="0" err="1">
                  <a:latin typeface="+mn-ea"/>
                </a:rPr>
                <a:t>본조</a:t>
              </a:r>
              <a:r>
                <a:rPr lang="en-US" altLang="ko-KR" sz="700" dirty="0">
                  <a:latin typeface="+mn-ea"/>
                </a:rPr>
                <a:t>)</a:t>
              </a:r>
            </a:p>
            <a:p>
              <a:pPr>
                <a:lnSpc>
                  <a:spcPct val="200000"/>
                </a:lnSpc>
              </a:pPr>
              <a:r>
                <a:rPr lang="ko-KR" altLang="en-US" sz="700" dirty="0">
                  <a:latin typeface="+mn-ea"/>
                </a:rPr>
                <a:t>납기</a:t>
              </a:r>
              <a:r>
                <a:rPr lang="en-US" altLang="ko-KR" sz="700" dirty="0">
                  <a:latin typeface="+mn-ea"/>
                </a:rPr>
                <a:t>(</a:t>
              </a:r>
              <a:r>
                <a:rPr lang="ko-KR" altLang="en-US" sz="700" dirty="0">
                  <a:latin typeface="+mn-ea"/>
                </a:rPr>
                <a:t>당국</a:t>
              </a:r>
              <a:r>
                <a:rPr lang="en-US" altLang="ko-KR" sz="700" dirty="0">
                  <a:latin typeface="+mn-ea"/>
                </a:rPr>
                <a:t>)</a:t>
              </a:r>
              <a:endParaRPr lang="ko-KR" altLang="en-US"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1547180" y="1835481"/>
              <a:ext cx="1784088" cy="3447098"/>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a:p>
              <a:pPr algn="r">
                <a:lnSpc>
                  <a:spcPct val="200000"/>
                </a:lnSpc>
              </a:pPr>
              <a:r>
                <a:rPr lang="en-US" altLang="ko-KR" sz="700" dirty="0">
                  <a:latin typeface="+mn-ea"/>
                </a:rPr>
                <a:t>608,000.00</a:t>
              </a:r>
            </a:p>
            <a:p>
              <a:pPr>
                <a:lnSpc>
                  <a:spcPct val="200000"/>
                </a:lnSpc>
              </a:pPr>
              <a:r>
                <a:rPr lang="en-US" altLang="ko-KR" sz="700" dirty="0">
                  <a:latin typeface="+mn-ea"/>
                </a:rPr>
                <a:t>Replace</a:t>
              </a:r>
            </a:p>
            <a:p>
              <a:pPr>
                <a:lnSpc>
                  <a:spcPct val="200000"/>
                </a:lnSpc>
              </a:pPr>
              <a:r>
                <a:rPr lang="en-US" altLang="ko-KR" sz="700" dirty="0">
                  <a:solidFill>
                    <a:srgbClr val="0070C0"/>
                  </a:solidFill>
                  <a:latin typeface="+mn-ea"/>
                </a:rPr>
                <a:t>O</a:t>
              </a:r>
            </a:p>
            <a:p>
              <a:pPr>
                <a:lnSpc>
                  <a:spcPct val="200000"/>
                </a:lnSpc>
              </a:pPr>
              <a:r>
                <a:rPr lang="en-US" altLang="ko-KR" sz="700" dirty="0">
                  <a:latin typeface="+mn-ea"/>
                </a:rPr>
                <a:t>1</a:t>
              </a:r>
            </a:p>
            <a:p>
              <a:pPr>
                <a:lnSpc>
                  <a:spcPct val="200000"/>
                </a:lnSpc>
              </a:pPr>
              <a:r>
                <a:rPr lang="en-US" altLang="ko-KR" sz="700" dirty="0">
                  <a:latin typeface="+mn-ea"/>
                </a:rPr>
                <a:t>2</a:t>
              </a:r>
            </a:p>
            <a:p>
              <a:pPr>
                <a:lnSpc>
                  <a:spcPct val="200000"/>
                </a:lnSpc>
              </a:pPr>
              <a:r>
                <a:rPr lang="en-US" altLang="ko-KR" sz="700" dirty="0">
                  <a:latin typeface="+mn-ea"/>
                </a:rPr>
                <a:t>Y</a:t>
              </a:r>
            </a:p>
            <a:p>
              <a:pPr>
                <a:lnSpc>
                  <a:spcPct val="200000"/>
                </a:lnSpc>
              </a:pPr>
              <a:r>
                <a:rPr lang="en-US" altLang="ko-KR" sz="700" dirty="0">
                  <a:latin typeface="+mn-ea"/>
                </a:rPr>
                <a:t>1</a:t>
              </a:r>
            </a:p>
            <a:p>
              <a:pPr>
                <a:lnSpc>
                  <a:spcPct val="200000"/>
                </a:lnSpc>
              </a:pPr>
              <a:r>
                <a:rPr lang="en-US" altLang="ko-KR" sz="700" dirty="0">
                  <a:solidFill>
                    <a:srgbClr val="0070C0"/>
                  </a:solidFill>
                  <a:latin typeface="+mn-ea"/>
                </a:rPr>
                <a:t>O</a:t>
              </a:r>
            </a:p>
            <a:p>
              <a:pPr>
                <a:lnSpc>
                  <a:spcPct val="200000"/>
                </a:lnSpc>
              </a:pPr>
              <a:r>
                <a:rPr lang="en-US" altLang="ko-KR" sz="700" dirty="0">
                  <a:latin typeface="+mn-ea"/>
                </a:rPr>
                <a:t>2025-03-25</a:t>
              </a:r>
            </a:p>
            <a:p>
              <a:pPr>
                <a:lnSpc>
                  <a:spcPct val="200000"/>
                </a:lnSpc>
              </a:pPr>
              <a:r>
                <a:rPr lang="en-US" altLang="ko-KR" sz="700" dirty="0">
                  <a:latin typeface="+mn-ea"/>
                </a:rPr>
                <a:t>2025-03-25</a:t>
              </a:r>
            </a:p>
          </p:txBody>
        </p:sp>
        <p:grpSp>
          <p:nvGrpSpPr>
            <p:cNvPr id="194" name="그룹 193"/>
            <p:cNvGrpSpPr/>
            <p:nvPr/>
          </p:nvGrpSpPr>
          <p:grpSpPr>
            <a:xfrm>
              <a:off x="701175" y="1835481"/>
              <a:ext cx="2630093" cy="3435840"/>
              <a:chOff x="701175" y="1835481"/>
              <a:chExt cx="2630093" cy="3435840"/>
            </a:xfrm>
          </p:grpSpPr>
          <p:cxnSp>
            <p:nvCxnSpPr>
              <p:cNvPr id="195" name="직선 연결선 194">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6" name="직선 연결선 195">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9" name="직선 연결선 198">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0" name="직선 연결선 209">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1" name="직선 연결선 210">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218" name="그룹 217"/>
          <p:cNvGrpSpPr/>
          <p:nvPr/>
        </p:nvGrpSpPr>
        <p:grpSpPr>
          <a:xfrm>
            <a:off x="3821510" y="2455385"/>
            <a:ext cx="2630093" cy="1567215"/>
            <a:chOff x="701175" y="1800646"/>
            <a:chExt cx="2630093" cy="1567215"/>
          </a:xfrm>
        </p:grpSpPr>
        <p:sp>
          <p:nvSpPr>
            <p:cNvPr id="219" name="직사각형 218"/>
            <p:cNvSpPr/>
            <p:nvPr/>
          </p:nvSpPr>
          <p:spPr>
            <a:xfrm>
              <a:off x="703268" y="1800646"/>
              <a:ext cx="792000" cy="156721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0" name="TextBox 219">
              <a:extLst>
                <a:ext uri="{FF2B5EF4-FFF2-40B4-BE49-F238E27FC236}">
                  <a16:creationId xmlns:a16="http://schemas.microsoft.com/office/drawing/2014/main" id="{FFC49AEA-2A8F-250C-A86A-A7751D9706C3}"/>
                </a:ext>
              </a:extLst>
            </p:cNvPr>
            <p:cNvSpPr txBox="1"/>
            <p:nvPr/>
          </p:nvSpPr>
          <p:spPr>
            <a:xfrm>
              <a:off x="790331" y="1835481"/>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납기</a:t>
              </a:r>
              <a:r>
                <a:rPr lang="en-US" altLang="ko-KR" sz="700" dirty="0">
                  <a:latin typeface="+mn-ea"/>
                </a:rPr>
                <a:t>(</a:t>
              </a:r>
              <a:r>
                <a:rPr lang="ko-KR" altLang="en-US" sz="700" dirty="0">
                  <a:latin typeface="+mn-ea"/>
                </a:rPr>
                <a:t>장국</a:t>
              </a:r>
              <a:r>
                <a:rPr lang="en-US" altLang="ko-KR" sz="700" dirty="0">
                  <a:latin typeface="+mn-ea"/>
                </a:rPr>
                <a:t>)</a:t>
              </a:r>
            </a:p>
            <a:p>
              <a:pPr>
                <a:lnSpc>
                  <a:spcPct val="200000"/>
                </a:lnSpc>
              </a:pPr>
              <a:r>
                <a:rPr lang="ko-KR" altLang="en-US" sz="700" dirty="0" err="1">
                  <a:latin typeface="+mn-ea"/>
                </a:rPr>
                <a:t>달러환산율</a:t>
              </a:r>
              <a:endParaRPr lang="ko-KR" altLang="en-US" sz="700" dirty="0">
                <a:latin typeface="+mn-ea"/>
              </a:endParaRPr>
            </a:p>
            <a:p>
              <a:pPr>
                <a:lnSpc>
                  <a:spcPct val="200000"/>
                </a:lnSpc>
              </a:pPr>
              <a:r>
                <a:rPr lang="ko-KR" altLang="en-US" sz="700" dirty="0" err="1">
                  <a:latin typeface="+mn-ea"/>
                </a:rPr>
                <a:t>입찰단가</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화폐단위</a:t>
              </a:r>
            </a:p>
            <a:p>
              <a:pPr>
                <a:lnSpc>
                  <a:spcPct val="200000"/>
                </a:lnSpc>
              </a:pPr>
              <a:r>
                <a:rPr lang="ko-KR" altLang="en-US" sz="700" dirty="0" err="1">
                  <a:latin typeface="+mn-ea"/>
                </a:rPr>
                <a:t>달러단가</a:t>
              </a:r>
              <a:endParaRPr lang="ko-KR" altLang="en-US" sz="700" dirty="0">
                <a:latin typeface="+mn-ea"/>
              </a:endParaRPr>
            </a:p>
            <a:p>
              <a:pPr>
                <a:lnSpc>
                  <a:spcPct val="200000"/>
                </a:lnSpc>
              </a:pPr>
              <a:r>
                <a:rPr lang="ko-KR" altLang="en-US" sz="700" dirty="0" err="1">
                  <a:latin typeface="+mn-ea"/>
                </a:rPr>
                <a:t>달러금액</a:t>
              </a:r>
              <a:endParaRPr lang="ko-KR" altLang="en-US" sz="700" dirty="0">
                <a:latin typeface="+mn-ea"/>
              </a:endParaRPr>
            </a:p>
          </p:txBody>
        </p:sp>
        <p:sp>
          <p:nvSpPr>
            <p:cNvPr id="223" name="TextBox 222">
              <a:extLst>
                <a:ext uri="{FF2B5EF4-FFF2-40B4-BE49-F238E27FC236}">
                  <a16:creationId xmlns:a16="http://schemas.microsoft.com/office/drawing/2014/main" id="{FFC49AEA-2A8F-250C-A86A-A7751D9706C3}"/>
                </a:ext>
              </a:extLst>
            </p:cNvPr>
            <p:cNvSpPr txBox="1"/>
            <p:nvPr/>
          </p:nvSpPr>
          <p:spPr>
            <a:xfrm>
              <a:off x="1547180" y="1835481"/>
              <a:ext cx="1775839" cy="1508105"/>
            </a:xfrm>
            <a:prstGeom prst="rect">
              <a:avLst/>
            </a:prstGeom>
            <a:noFill/>
          </p:spPr>
          <p:txBody>
            <a:bodyPr wrap="square" lIns="0" tIns="0" rIns="0" bIns="0" rtlCol="0">
              <a:spAutoFit/>
            </a:bodyPr>
            <a:lstStyle/>
            <a:p>
              <a:pPr>
                <a:lnSpc>
                  <a:spcPct val="200000"/>
                </a:lnSpc>
              </a:pPr>
              <a:r>
                <a:rPr lang="en-US" altLang="ko-KR" sz="700" dirty="0">
                  <a:latin typeface="+mn-ea"/>
                </a:rPr>
                <a:t>2025-03-25</a:t>
              </a:r>
            </a:p>
            <a:p>
              <a:pPr algn="r">
                <a:lnSpc>
                  <a:spcPct val="200000"/>
                </a:lnSpc>
              </a:pPr>
              <a:r>
                <a:rPr lang="en-US" altLang="ko-KR" sz="700" dirty="0">
                  <a:latin typeface="+mn-ea"/>
                </a:rPr>
                <a:t>1.0000 USD</a:t>
              </a:r>
            </a:p>
            <a:p>
              <a:pPr algn="r">
                <a:lnSpc>
                  <a:spcPct val="200000"/>
                </a:lnSpc>
              </a:pPr>
              <a:endParaRPr lang="en-US" altLang="ko-KR" sz="700" dirty="0">
                <a:latin typeface="+mn-ea"/>
              </a:endParaRPr>
            </a:p>
            <a:p>
              <a:pPr algn="r">
                <a:lnSpc>
                  <a:spcPct val="200000"/>
                </a:lnSpc>
              </a:pPr>
              <a:r>
                <a:rPr lang="en-US" altLang="ko-KR" sz="700" dirty="0">
                  <a:latin typeface="+mn-ea"/>
                </a:rPr>
                <a:t>608,000.00</a:t>
              </a:r>
            </a:p>
            <a:p>
              <a:pPr>
                <a:lnSpc>
                  <a:spcPct val="200000"/>
                </a:lnSpc>
              </a:pPr>
              <a:r>
                <a:rPr lang="ko-KR" altLang="en-US" sz="700" dirty="0">
                  <a:latin typeface="+mn-ea"/>
                </a:rPr>
                <a:t>미 달러</a:t>
              </a:r>
              <a:endParaRPr lang="en-US" altLang="ko-KR" sz="700" dirty="0">
                <a:latin typeface="+mn-ea"/>
              </a:endParaRPr>
            </a:p>
            <a:p>
              <a:pPr algn="r">
                <a:lnSpc>
                  <a:spcPct val="200000"/>
                </a:lnSpc>
              </a:pPr>
              <a:r>
                <a:rPr lang="en-US" altLang="ko-KR" sz="700" dirty="0">
                  <a:solidFill>
                    <a:schemeClr val="tx1">
                      <a:lumMod val="85000"/>
                      <a:lumOff val="15000"/>
                    </a:schemeClr>
                  </a:solidFill>
                  <a:latin typeface="맑은 고딕" panose="020B0503020000020004" pitchFamily="50" charset="-127"/>
                </a:rPr>
                <a:t>1,464.30 KRW</a:t>
              </a:r>
            </a:p>
            <a:p>
              <a:pPr algn="r">
                <a:lnSpc>
                  <a:spcPct val="200000"/>
                </a:lnSpc>
              </a:pPr>
              <a:r>
                <a:rPr lang="en-US" altLang="ko-KR" sz="700" dirty="0">
                  <a:latin typeface="+mn-ea"/>
                </a:rPr>
                <a:t>608,000.00</a:t>
              </a:r>
            </a:p>
          </p:txBody>
        </p:sp>
        <p:grpSp>
          <p:nvGrpSpPr>
            <p:cNvPr id="224" name="그룹 223"/>
            <p:cNvGrpSpPr/>
            <p:nvPr/>
          </p:nvGrpSpPr>
          <p:grpSpPr>
            <a:xfrm>
              <a:off x="701175" y="1835481"/>
              <a:ext cx="2630093" cy="1524858"/>
              <a:chOff x="701175" y="1835481"/>
              <a:chExt cx="2630093" cy="1524858"/>
            </a:xfrm>
          </p:grpSpPr>
          <p:cxnSp>
            <p:nvCxnSpPr>
              <p:cNvPr id="226" name="직선 연결선 22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7" name="직선 연결선 22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8" name="직선 연결선 22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9" name="직선 연결선 228">
                <a:extLst>
                  <a:ext uri="{FF2B5EF4-FFF2-40B4-BE49-F238E27FC236}">
                    <a16:creationId xmlns:a16="http://schemas.microsoft.com/office/drawing/2014/main" id="{E9293055-D5CD-4B9E-7F64-64B2D2CA7A52}"/>
                  </a:ext>
                </a:extLst>
              </p:cNvPr>
              <p:cNvCxnSpPr/>
              <p:nvPr/>
            </p:nvCxnSpPr>
            <p:spPr>
              <a:xfrm>
                <a:off x="703268" y="24915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0" name="직선 연결선 229">
                <a:extLst>
                  <a:ext uri="{FF2B5EF4-FFF2-40B4-BE49-F238E27FC236}">
                    <a16:creationId xmlns:a16="http://schemas.microsoft.com/office/drawing/2014/main" id="{E9293055-D5CD-4B9E-7F64-64B2D2CA7A52}"/>
                  </a:ext>
                </a:extLst>
              </p:cNvPr>
              <p:cNvCxnSpPr/>
              <p:nvPr/>
            </p:nvCxnSpPr>
            <p:spPr>
              <a:xfrm>
                <a:off x="703268" y="27070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1" name="직선 연결선 230">
                <a:extLst>
                  <a:ext uri="{FF2B5EF4-FFF2-40B4-BE49-F238E27FC236}">
                    <a16:creationId xmlns:a16="http://schemas.microsoft.com/office/drawing/2014/main" id="{E9293055-D5CD-4B9E-7F64-64B2D2CA7A52}"/>
                  </a:ext>
                </a:extLst>
              </p:cNvPr>
              <p:cNvCxnSpPr/>
              <p:nvPr/>
            </p:nvCxnSpPr>
            <p:spPr>
              <a:xfrm>
                <a:off x="703268" y="29217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03268" y="31484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03268" y="3360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269" name="그룹 268"/>
          <p:cNvGrpSpPr/>
          <p:nvPr/>
        </p:nvGrpSpPr>
        <p:grpSpPr>
          <a:xfrm>
            <a:off x="3795734" y="5743373"/>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148" name="사각형: 둥근 모서리 15">
            <a:extLst>
              <a:ext uri="{FF2B5EF4-FFF2-40B4-BE49-F238E27FC236}">
                <a16:creationId xmlns:a16="http://schemas.microsoft.com/office/drawing/2014/main" id="{E2B61CFB-AD16-68D0-8752-50D9C5E01971}"/>
              </a:ext>
            </a:extLst>
          </p:cNvPr>
          <p:cNvSpPr/>
          <p:nvPr/>
        </p:nvSpPr>
        <p:spPr>
          <a:xfrm>
            <a:off x="4672608" y="2950205"/>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234" name="직사각형 233"/>
          <p:cNvSpPr/>
          <p:nvPr/>
        </p:nvSpPr>
        <p:spPr>
          <a:xfrm>
            <a:off x="3820170" y="4315067"/>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TextBox 234">
            <a:extLst>
              <a:ext uri="{FF2B5EF4-FFF2-40B4-BE49-F238E27FC236}">
                <a16:creationId xmlns:a16="http://schemas.microsoft.com/office/drawing/2014/main" id="{FFC49AEA-2A8F-250C-A86A-A7751D9706C3}"/>
              </a:ext>
            </a:extLst>
          </p:cNvPr>
          <p:cNvSpPr txBox="1"/>
          <p:nvPr/>
        </p:nvSpPr>
        <p:spPr>
          <a:xfrm>
            <a:off x="3910666" y="4315068"/>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p:txBody>
      </p:sp>
      <p:grpSp>
        <p:nvGrpSpPr>
          <p:cNvPr id="236" name="그룹 235"/>
          <p:cNvGrpSpPr/>
          <p:nvPr/>
        </p:nvGrpSpPr>
        <p:grpSpPr>
          <a:xfrm>
            <a:off x="3821510" y="4315068"/>
            <a:ext cx="2630093" cy="1075182"/>
            <a:chOff x="701175" y="1835481"/>
            <a:chExt cx="2630093" cy="1075182"/>
          </a:xfrm>
        </p:grpSpPr>
        <p:cxnSp>
          <p:nvCxnSpPr>
            <p:cNvPr id="237" name="직선 연결선 23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8" name="직선 연결선 23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1" name="직선 연결선 24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2" name="직선 연결선 241">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43" name="TextBox 242">
            <a:extLst>
              <a:ext uri="{FF2B5EF4-FFF2-40B4-BE49-F238E27FC236}">
                <a16:creationId xmlns:a16="http://schemas.microsoft.com/office/drawing/2014/main" id="{FFC49AEA-2A8F-250C-A86A-A7751D9706C3}"/>
              </a:ext>
            </a:extLst>
          </p:cNvPr>
          <p:cNvSpPr txBox="1"/>
          <p:nvPr/>
        </p:nvSpPr>
        <p:spPr>
          <a:xfrm>
            <a:off x="4667515" y="4315068"/>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a:t>
            </a:r>
            <a:endParaRPr lang="en-US" altLang="ko-KR" sz="700" dirty="0">
              <a:latin typeface="+mn-ea"/>
            </a:endParaRPr>
          </a:p>
        </p:txBody>
      </p:sp>
      <p:sp>
        <p:nvSpPr>
          <p:cNvPr id="246" name="사각형: 둥근 모서리 15">
            <a:extLst>
              <a:ext uri="{FF2B5EF4-FFF2-40B4-BE49-F238E27FC236}">
                <a16:creationId xmlns:a16="http://schemas.microsoft.com/office/drawing/2014/main" id="{E2B61CFB-AD16-68D0-8752-50D9C5E01971}"/>
              </a:ext>
            </a:extLst>
          </p:cNvPr>
          <p:cNvSpPr/>
          <p:nvPr/>
        </p:nvSpPr>
        <p:spPr>
          <a:xfrm>
            <a:off x="3933132" y="5200567"/>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sp>
        <p:nvSpPr>
          <p:cNvPr id="247" name="사각형: 둥근 모서리 15">
            <a:extLst>
              <a:ext uri="{FF2B5EF4-FFF2-40B4-BE49-F238E27FC236}">
                <a16:creationId xmlns:a16="http://schemas.microsoft.com/office/drawing/2014/main" id="{E2B61CFB-AD16-68D0-8752-50D9C5E01971}"/>
              </a:ext>
            </a:extLst>
          </p:cNvPr>
          <p:cNvSpPr/>
          <p:nvPr/>
        </p:nvSpPr>
        <p:spPr>
          <a:xfrm>
            <a:off x="3933132" y="4060205"/>
            <a:ext cx="2482324"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내역 접기 ↑</a:t>
            </a:r>
            <a:endParaRPr kumimoji="1" lang="en-US" sz="700" b="0" i="0" u="none" strike="noStrike" kern="0" cap="none" spc="0" normalizeH="0" baseline="0" noProof="0" dirty="0">
              <a:ln>
                <a:noFill/>
              </a:ln>
              <a:effectLst/>
              <a:uLnTx/>
              <a:uFillTx/>
              <a:latin typeface="맑은 고딕"/>
            </a:endParaRPr>
          </a:p>
        </p:txBody>
      </p:sp>
      <p:sp>
        <p:nvSpPr>
          <p:cNvPr id="248" name="사각형: 둥근 모서리 15">
            <a:extLst>
              <a:ext uri="{FF2B5EF4-FFF2-40B4-BE49-F238E27FC236}">
                <a16:creationId xmlns:a16="http://schemas.microsoft.com/office/drawing/2014/main" id="{E2B61CFB-AD16-68D0-8752-50D9C5E01971}"/>
              </a:ext>
            </a:extLst>
          </p:cNvPr>
          <p:cNvSpPr/>
          <p:nvPr/>
        </p:nvSpPr>
        <p:spPr>
          <a:xfrm>
            <a:off x="2836921" y="4546899"/>
            <a:ext cx="494347" cy="162000"/>
          </a:xfrm>
          <a:prstGeom prst="roundRect">
            <a:avLst/>
          </a:prstGeom>
          <a:noFill/>
          <a:ln w="12700" cap="flat" cmpd="sng" algn="ctr">
            <a:solidFill>
              <a:srgbClr val="0070C0"/>
            </a:solidFill>
            <a:prstDash val="solid"/>
          </a:ln>
          <a:effectLst/>
        </p:spPr>
        <p:txBody>
          <a:bodyPr lIns="0" tIns="0" rIns="0" bIns="0" rtlCol="0" anchor="ctr"/>
          <a:lstStyle/>
          <a:p>
            <a:pPr algn="ctr" fontAlgn="base" latinLnBrk="0">
              <a:spcBef>
                <a:spcPct val="0"/>
              </a:spcBef>
              <a:spcAft>
                <a:spcPct val="0"/>
              </a:spcAft>
              <a:defRPr/>
            </a:pPr>
            <a:r>
              <a:rPr kumimoji="1" lang="ko-KR" altLang="en-US" sz="700" kern="0" dirty="0">
                <a:solidFill>
                  <a:srgbClr val="0070C0"/>
                </a:solidFill>
              </a:rPr>
              <a:t>보기</a:t>
            </a:r>
            <a:endParaRPr kumimoji="1" lang="en-US" altLang="ko-KR" sz="700" kern="0" dirty="0">
              <a:solidFill>
                <a:srgbClr val="0070C0"/>
              </a:solidFill>
            </a:endParaRPr>
          </a:p>
        </p:txBody>
      </p:sp>
      <p:sp>
        <p:nvSpPr>
          <p:cNvPr id="249" name="사각형: 둥근 모서리 15">
            <a:extLst>
              <a:ext uri="{FF2B5EF4-FFF2-40B4-BE49-F238E27FC236}">
                <a16:creationId xmlns:a16="http://schemas.microsoft.com/office/drawing/2014/main" id="{E2B61CFB-AD16-68D0-8752-50D9C5E01971}"/>
              </a:ext>
            </a:extLst>
          </p:cNvPr>
          <p:cNvSpPr/>
          <p:nvPr/>
        </p:nvSpPr>
        <p:spPr>
          <a:xfrm>
            <a:off x="2836921" y="5617202"/>
            <a:ext cx="494347" cy="162000"/>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solidFill>
                  <a:srgbClr val="0070C0"/>
                </a:solidFill>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Tree>
    <p:extLst>
      <p:ext uri="{BB962C8B-B14F-4D97-AF65-F5344CB8AC3E}">
        <p14:creationId xmlns:p14="http://schemas.microsoft.com/office/powerpoint/2010/main" val="1475844041"/>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입찰내역</a:t>
            </a:r>
            <a:r>
              <a:rPr lang="en-US" altLang="ko-KR" dirty="0"/>
              <a:t>(</a:t>
            </a:r>
            <a:r>
              <a:rPr lang="ko-KR" altLang="en-US" dirty="0" err="1"/>
              <a:t>총액제</a:t>
            </a:r>
            <a:r>
              <a:rPr lang="en-US" altLang="ko-KR" dirty="0"/>
              <a:t>) </a:t>
            </a:r>
            <a:r>
              <a:rPr lang="ko-KR" altLang="en-US" dirty="0"/>
              <a:t>데이터 영역</a:t>
            </a:r>
            <a:endParaRPr lang="en-US" altLang="ko-KR" dirty="0"/>
          </a:p>
          <a:p>
            <a:pPr marL="228600" indent="-228600">
              <a:buFont typeface="+mj-lt"/>
              <a:buAutoNum type="arabicPeriod"/>
            </a:pPr>
            <a:r>
              <a:rPr lang="ko-KR" altLang="en-US" dirty="0" err="1"/>
              <a:t>입찰품목</a:t>
            </a:r>
            <a:r>
              <a:rPr lang="en-US" altLang="ko-KR" dirty="0"/>
              <a:t>(</a:t>
            </a:r>
            <a:r>
              <a:rPr lang="ko-KR" altLang="en-US" dirty="0" err="1"/>
              <a:t>총액제</a:t>
            </a:r>
            <a:r>
              <a:rPr lang="en-US" altLang="ko-KR" dirty="0"/>
              <a:t>)</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367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입찰 보증금</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업체담당자가 일반경쟁 공고에 </a:t>
            </a:r>
            <a:r>
              <a:rPr lang="ko-KR" altLang="en-US" dirty="0" err="1">
                <a:latin typeface="+mn-ea"/>
              </a:rPr>
              <a:t>참가신청한</a:t>
            </a:r>
            <a:r>
              <a:rPr lang="ko-KR" altLang="en-US" dirty="0">
                <a:latin typeface="+mn-ea"/>
              </a:rPr>
              <a:t> 품목을 조회하고 각 품목별로 금액 제출 및 필요한 문서를 제출하는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입찰 보증금</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MUI-BD-06-M73</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38081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173195"/>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TextBox 10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09" name="그룹 108"/>
          <p:cNvGrpSpPr/>
          <p:nvPr/>
        </p:nvGrpSpPr>
        <p:grpSpPr>
          <a:xfrm>
            <a:off x="3795734" y="2083489"/>
            <a:ext cx="2712027" cy="337161"/>
            <a:chOff x="675399" y="3557901"/>
            <a:chExt cx="2712027" cy="337161"/>
          </a:xfrm>
        </p:grpSpPr>
        <p:cxnSp>
          <p:nvCxnSpPr>
            <p:cNvPr id="113" name="직선 연결선 112">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4" name="TextBox 113">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15" name="TextBox 114">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입찰참여품목</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17" name="직선 연결선 116">
              <a:extLst>
                <a:ext uri="{FF2B5EF4-FFF2-40B4-BE49-F238E27FC236}">
                  <a16:creationId xmlns:a16="http://schemas.microsoft.com/office/drawing/2014/main" id="{E9293055-D5CD-4B9E-7F64-64B2D2CA7A52}"/>
                </a:ext>
              </a:extLst>
            </p:cNvPr>
            <p:cNvCxnSpPr/>
            <p:nvPr/>
          </p:nvCxnSpPr>
          <p:spPr>
            <a:xfrm>
              <a:off x="1345598" y="3895062"/>
              <a:ext cx="733699"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18" name="그룹 117"/>
            <p:cNvGrpSpPr/>
            <p:nvPr/>
          </p:nvGrpSpPr>
          <p:grpSpPr>
            <a:xfrm>
              <a:off x="2924086" y="3640332"/>
              <a:ext cx="422853" cy="187961"/>
              <a:chOff x="3641308" y="2234886"/>
              <a:chExt cx="422853" cy="187961"/>
            </a:xfrm>
          </p:grpSpPr>
          <p:sp>
            <p:nvSpPr>
              <p:cNvPr id="121" name="타원 12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2" name="그룹 121"/>
              <p:cNvGrpSpPr/>
              <p:nvPr/>
            </p:nvGrpSpPr>
            <p:grpSpPr>
              <a:xfrm rot="5400000" flipH="1">
                <a:off x="3679895" y="2305364"/>
                <a:ext cx="94010" cy="47005"/>
                <a:chOff x="6812560" y="3297172"/>
                <a:chExt cx="94010" cy="47005"/>
              </a:xfrm>
            </p:grpSpPr>
            <p:cxnSp>
              <p:nvCxnSpPr>
                <p:cNvPr id="151" name="직선 연결선 15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2" name="직선 연결선 15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3" name="타원 12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24" name="그룹 123"/>
              <p:cNvGrpSpPr/>
              <p:nvPr/>
            </p:nvGrpSpPr>
            <p:grpSpPr>
              <a:xfrm rot="16200000">
                <a:off x="3931564" y="2305364"/>
                <a:ext cx="94010" cy="47005"/>
                <a:chOff x="6812560" y="3297172"/>
                <a:chExt cx="94010" cy="47005"/>
              </a:xfrm>
            </p:grpSpPr>
            <p:cxnSp>
              <p:nvCxnSpPr>
                <p:cNvPr id="125" name="직선 연결선 12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27" name="직선 연결선 12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19" name="직선 연결선 118">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53" name="그룹 152"/>
          <p:cNvGrpSpPr/>
          <p:nvPr/>
        </p:nvGrpSpPr>
        <p:grpSpPr>
          <a:xfrm>
            <a:off x="675399" y="2083489"/>
            <a:ext cx="2712027" cy="337161"/>
            <a:chOff x="675399" y="3557901"/>
            <a:chExt cx="2712027" cy="337161"/>
          </a:xfrm>
        </p:grpSpPr>
        <p:cxnSp>
          <p:nvCxnSpPr>
            <p:cNvPr id="154" name="직선 연결선 15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9" name="TextBox 158">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입찰참여품목</a:t>
              </a:r>
            </a:p>
          </p:txBody>
        </p:sp>
        <p:sp>
          <p:nvSpPr>
            <p:cNvPr id="181" name="TextBox 180">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82" name="직선 연결선 181">
              <a:extLst>
                <a:ext uri="{FF2B5EF4-FFF2-40B4-BE49-F238E27FC236}">
                  <a16:creationId xmlns:a16="http://schemas.microsoft.com/office/drawing/2014/main" id="{E9293055-D5CD-4B9E-7F64-64B2D2CA7A52}"/>
                </a:ext>
              </a:extLst>
            </p:cNvPr>
            <p:cNvCxnSpPr/>
            <p:nvPr/>
          </p:nvCxnSpPr>
          <p:spPr>
            <a:xfrm>
              <a:off x="1340397" y="3895062"/>
              <a:ext cx="72803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83" name="그룹 182"/>
            <p:cNvGrpSpPr/>
            <p:nvPr/>
          </p:nvGrpSpPr>
          <p:grpSpPr>
            <a:xfrm>
              <a:off x="2924086" y="3640332"/>
              <a:ext cx="422853" cy="187961"/>
              <a:chOff x="3641308" y="2234886"/>
              <a:chExt cx="422853" cy="187961"/>
            </a:xfrm>
          </p:grpSpPr>
          <p:sp>
            <p:nvSpPr>
              <p:cNvPr id="186" name="타원 185"/>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7" name="그룹 186"/>
              <p:cNvGrpSpPr/>
              <p:nvPr/>
            </p:nvGrpSpPr>
            <p:grpSpPr>
              <a:xfrm rot="5400000" flipH="1">
                <a:off x="3679895" y="2305364"/>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8" name="타원 187"/>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9" name="그룹 188"/>
              <p:cNvGrpSpPr/>
              <p:nvPr/>
            </p:nvGrpSpPr>
            <p:grpSpPr>
              <a:xfrm rot="16200000">
                <a:off x="3931564" y="2305364"/>
                <a:ext cx="94010" cy="47005"/>
                <a:chOff x="6812560" y="3297172"/>
                <a:chExt cx="94010" cy="47005"/>
              </a:xfrm>
            </p:grpSpPr>
            <p:cxnSp>
              <p:nvCxnSpPr>
                <p:cNvPr id="190" name="직선 연결선 18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1" name="직선 연결선 19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84" name="직선 연결선 18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94" name="직사각형 193"/>
          <p:cNvSpPr/>
          <p:nvPr/>
        </p:nvSpPr>
        <p:spPr>
          <a:xfrm>
            <a:off x="722060" y="2791902"/>
            <a:ext cx="792000" cy="10608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TextBox 194">
            <a:extLst>
              <a:ext uri="{FF2B5EF4-FFF2-40B4-BE49-F238E27FC236}">
                <a16:creationId xmlns:a16="http://schemas.microsoft.com/office/drawing/2014/main" id="{FFC49AEA-2A8F-250C-A86A-A7751D9706C3}"/>
              </a:ext>
            </a:extLst>
          </p:cNvPr>
          <p:cNvSpPr txBox="1"/>
          <p:nvPr/>
        </p:nvSpPr>
        <p:spPr>
          <a:xfrm>
            <a:off x="762146" y="4076703"/>
            <a:ext cx="1270852" cy="215444"/>
          </a:xfrm>
          <a:prstGeom prst="rect">
            <a:avLst/>
          </a:prstGeom>
          <a:noFill/>
        </p:spPr>
        <p:txBody>
          <a:bodyPr wrap="square" lIns="0" tIns="0" rIns="0" bIns="0" rtlCol="0">
            <a:spAutoFit/>
          </a:bodyPr>
          <a:lstStyle/>
          <a:p>
            <a:pPr>
              <a:lnSpc>
                <a:spcPct val="200000"/>
              </a:lnSpc>
            </a:pPr>
            <a:r>
              <a:rPr lang="ko-KR" altLang="en-US" sz="700" dirty="0">
                <a:latin typeface="+mn-ea"/>
              </a:rPr>
              <a:t>입찰 품목</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96" name="직사각형 195"/>
          <p:cNvSpPr/>
          <p:nvPr/>
        </p:nvSpPr>
        <p:spPr>
          <a:xfrm>
            <a:off x="703268" y="4384189"/>
            <a:ext cx="792000" cy="12884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7" name="TextBox 196">
            <a:extLst>
              <a:ext uri="{FF2B5EF4-FFF2-40B4-BE49-F238E27FC236}">
                <a16:creationId xmlns:a16="http://schemas.microsoft.com/office/drawing/2014/main" id="{FFC49AEA-2A8F-250C-A86A-A7751D9706C3}"/>
              </a:ext>
            </a:extLst>
          </p:cNvPr>
          <p:cNvSpPr txBox="1"/>
          <p:nvPr/>
        </p:nvSpPr>
        <p:spPr>
          <a:xfrm>
            <a:off x="790331" y="4384188"/>
            <a:ext cx="725552" cy="1292662"/>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p:txBody>
      </p:sp>
      <p:grpSp>
        <p:nvGrpSpPr>
          <p:cNvPr id="198" name="그룹 197"/>
          <p:cNvGrpSpPr/>
          <p:nvPr/>
        </p:nvGrpSpPr>
        <p:grpSpPr>
          <a:xfrm>
            <a:off x="701175" y="4384188"/>
            <a:ext cx="2630093" cy="1288440"/>
            <a:chOff x="701175" y="1835481"/>
            <a:chExt cx="2630093" cy="1288440"/>
          </a:xfrm>
        </p:grpSpPr>
        <p:cxnSp>
          <p:nvCxnSpPr>
            <p:cNvPr id="199" name="직선 연결선 1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0" name="TextBox 209">
            <a:extLst>
              <a:ext uri="{FF2B5EF4-FFF2-40B4-BE49-F238E27FC236}">
                <a16:creationId xmlns:a16="http://schemas.microsoft.com/office/drawing/2014/main" id="{FFC49AEA-2A8F-250C-A86A-A7751D9706C3}"/>
              </a:ext>
            </a:extLst>
          </p:cNvPr>
          <p:cNvSpPr txBox="1"/>
          <p:nvPr/>
        </p:nvSpPr>
        <p:spPr>
          <a:xfrm>
            <a:off x="1547180" y="4384188"/>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p:txBody>
      </p:sp>
      <p:sp>
        <p:nvSpPr>
          <p:cNvPr id="215" name="TextBox 214">
            <a:extLst>
              <a:ext uri="{FF2B5EF4-FFF2-40B4-BE49-F238E27FC236}">
                <a16:creationId xmlns:a16="http://schemas.microsoft.com/office/drawing/2014/main" id="{FFC49AEA-2A8F-250C-A86A-A7751D9706C3}"/>
              </a:ext>
            </a:extLst>
          </p:cNvPr>
          <p:cNvSpPr txBox="1"/>
          <p:nvPr/>
        </p:nvSpPr>
        <p:spPr>
          <a:xfrm>
            <a:off x="762146" y="2483140"/>
            <a:ext cx="1270852" cy="181140"/>
          </a:xfrm>
          <a:prstGeom prst="rect">
            <a:avLst/>
          </a:prstGeom>
          <a:noFill/>
        </p:spPr>
        <p:txBody>
          <a:bodyPr wrap="square" lIns="0" tIns="0" rIns="0" bIns="0" rtlCol="0">
            <a:spAutoFit/>
          </a:bodyPr>
          <a:lstStyle/>
          <a:p>
            <a:pPr>
              <a:lnSpc>
                <a:spcPct val="200000"/>
              </a:lnSpc>
            </a:pPr>
            <a:r>
              <a:rPr lang="ko-KR" altLang="en-US" sz="700" dirty="0" err="1">
                <a:latin typeface="+mn-ea"/>
              </a:rPr>
              <a:t>입찰내역</a:t>
            </a:r>
            <a:endParaRPr lang="ko-KR" altLang="en-US" sz="700" dirty="0">
              <a:latin typeface="+mn-ea"/>
            </a:endParaRPr>
          </a:p>
        </p:txBody>
      </p:sp>
      <p:grpSp>
        <p:nvGrpSpPr>
          <p:cNvPr id="216" name="그룹 215"/>
          <p:cNvGrpSpPr/>
          <p:nvPr/>
        </p:nvGrpSpPr>
        <p:grpSpPr>
          <a:xfrm flipV="1">
            <a:off x="3124233" y="2596471"/>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9" name="직선 연결선 218">
            <a:extLst>
              <a:ext uri="{FF2B5EF4-FFF2-40B4-BE49-F238E27FC236}">
                <a16:creationId xmlns:a16="http://schemas.microsoft.com/office/drawing/2014/main" id="{E9293055-D5CD-4B9E-7F64-64B2D2CA7A52}"/>
              </a:ext>
            </a:extLst>
          </p:cNvPr>
          <p:cNvCxnSpPr/>
          <p:nvPr/>
        </p:nvCxnSpPr>
        <p:spPr>
          <a:xfrm>
            <a:off x="720490" y="27808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20490" y="29868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675399" y="403495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720490" y="320439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6" name="TextBox 225">
            <a:extLst>
              <a:ext uri="{FF2B5EF4-FFF2-40B4-BE49-F238E27FC236}">
                <a16:creationId xmlns:a16="http://schemas.microsoft.com/office/drawing/2014/main" id="{FFC49AEA-2A8F-250C-A86A-A7751D9706C3}"/>
              </a:ext>
            </a:extLst>
          </p:cNvPr>
          <p:cNvSpPr txBox="1"/>
          <p:nvPr/>
        </p:nvSpPr>
        <p:spPr>
          <a:xfrm>
            <a:off x="790331" y="2762746"/>
            <a:ext cx="725552" cy="1077218"/>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en-US" altLang="ko-KR" sz="700" dirty="0">
              <a:latin typeface="+mn-ea"/>
            </a:endParaRPr>
          </a:p>
          <a:p>
            <a:pPr>
              <a:lnSpc>
                <a:spcPct val="200000"/>
              </a:lnSpc>
            </a:pPr>
            <a:r>
              <a:rPr lang="ko-KR" altLang="en-US" sz="700" dirty="0">
                <a:latin typeface="+mn-ea"/>
              </a:rPr>
              <a:t>화폐단위</a:t>
            </a:r>
            <a:endParaRPr lang="en-US" altLang="ko-KR" sz="700" dirty="0">
              <a:latin typeface="+mn-ea"/>
            </a:endParaRPr>
          </a:p>
          <a:p>
            <a:pPr>
              <a:lnSpc>
                <a:spcPct val="200000"/>
              </a:lnSpc>
            </a:pPr>
            <a:r>
              <a:rPr lang="ko-KR" altLang="en-US" sz="700" dirty="0">
                <a:latin typeface="+mn-ea"/>
              </a:rPr>
              <a:t>입찰금액</a:t>
            </a:r>
            <a:endParaRPr lang="en-US" altLang="ko-KR" sz="700" dirty="0">
              <a:latin typeface="+mn-ea"/>
            </a:endParaRPr>
          </a:p>
          <a:p>
            <a:pPr>
              <a:lnSpc>
                <a:spcPct val="200000"/>
              </a:lnSpc>
            </a:pPr>
            <a:r>
              <a:rPr lang="ko-KR" altLang="en-US" sz="700" dirty="0" err="1">
                <a:latin typeface="+mn-ea"/>
              </a:rPr>
              <a:t>달러금액</a:t>
            </a:r>
            <a:endParaRPr lang="en-US" altLang="ko-KR" sz="700" dirty="0">
              <a:latin typeface="+mn-ea"/>
            </a:endParaRPr>
          </a:p>
          <a:p>
            <a:pPr>
              <a:lnSpc>
                <a:spcPct val="200000"/>
              </a:lnSpc>
            </a:pPr>
            <a:r>
              <a:rPr lang="ko-KR" altLang="en-US" sz="700" dirty="0" err="1">
                <a:latin typeface="+mn-ea"/>
              </a:rPr>
              <a:t>달러환산율</a:t>
            </a:r>
            <a:endParaRPr lang="ko-KR" altLang="en-US" sz="700" dirty="0">
              <a:latin typeface="+mn-ea"/>
            </a:endParaRPr>
          </a:p>
        </p:txBody>
      </p:sp>
      <p:cxnSp>
        <p:nvCxnSpPr>
          <p:cNvPr id="231" name="직선 연결선 230">
            <a:extLst>
              <a:ext uri="{FF2B5EF4-FFF2-40B4-BE49-F238E27FC236}">
                <a16:creationId xmlns:a16="http://schemas.microsoft.com/office/drawing/2014/main" id="{E9293055-D5CD-4B9E-7F64-64B2D2CA7A52}"/>
              </a:ext>
            </a:extLst>
          </p:cNvPr>
          <p:cNvCxnSpPr/>
          <p:nvPr/>
        </p:nvCxnSpPr>
        <p:spPr>
          <a:xfrm>
            <a:off x="720490" y="34184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20490" y="3624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20490" y="384198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4" name="사각형: 둥근 모서리 15">
            <a:extLst>
              <a:ext uri="{FF2B5EF4-FFF2-40B4-BE49-F238E27FC236}">
                <a16:creationId xmlns:a16="http://schemas.microsoft.com/office/drawing/2014/main" id="{E2B61CFB-AD16-68D0-8752-50D9C5E01971}"/>
              </a:ext>
            </a:extLst>
          </p:cNvPr>
          <p:cNvSpPr/>
          <p:nvPr/>
        </p:nvSpPr>
        <p:spPr>
          <a:xfrm>
            <a:off x="1561065" y="322036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algn="r" defTabSz="914400" eaLnBrk="1" fontAlgn="base" latinLnBrk="0" hangingPunct="1">
              <a:lnSpc>
                <a:spcPct val="100000"/>
              </a:lnSpc>
              <a:spcBef>
                <a:spcPct val="0"/>
              </a:spcBef>
              <a:spcAft>
                <a:spcPct val="0"/>
              </a:spcAft>
              <a:buClrTx/>
              <a:buSzTx/>
              <a:buFontTx/>
              <a:buNone/>
              <a:tabLst/>
              <a:defRPr/>
            </a:pPr>
            <a:r>
              <a:rPr kumimoji="1" lang="en-US" altLang="ko-KR" sz="700" kern="0" noProof="0" dirty="0">
                <a:latin typeface="맑은 고딕"/>
              </a:rPr>
              <a:t>10,000</a:t>
            </a:r>
            <a:endParaRPr kumimoji="1" lang="en-US" sz="700" b="0" i="0" u="none" strike="noStrike" kern="0" cap="none" spc="0" normalizeH="0" baseline="0" noProof="0" dirty="0">
              <a:ln>
                <a:noFill/>
              </a:ln>
              <a:effectLst/>
              <a:uLnTx/>
              <a:uFillTx/>
              <a:latin typeface="맑은 고딕"/>
            </a:endParaRPr>
          </a:p>
        </p:txBody>
      </p:sp>
      <p:sp>
        <p:nvSpPr>
          <p:cNvPr id="235" name="TextBox 234">
            <a:extLst>
              <a:ext uri="{FF2B5EF4-FFF2-40B4-BE49-F238E27FC236}">
                <a16:creationId xmlns:a16="http://schemas.microsoft.com/office/drawing/2014/main" id="{FFC49AEA-2A8F-250C-A86A-A7751D9706C3}"/>
              </a:ext>
            </a:extLst>
          </p:cNvPr>
          <p:cNvSpPr txBox="1"/>
          <p:nvPr/>
        </p:nvSpPr>
        <p:spPr>
          <a:xfrm>
            <a:off x="1547180" y="2762746"/>
            <a:ext cx="1784088" cy="1077218"/>
          </a:xfrm>
          <a:prstGeom prst="rect">
            <a:avLst/>
          </a:prstGeom>
          <a:noFill/>
        </p:spPr>
        <p:txBody>
          <a:bodyPr wrap="square" lIns="0" tIns="0" rIns="0" bIns="0" rtlCol="0">
            <a:spAutoFit/>
          </a:bodyPr>
          <a:lstStyle/>
          <a:p>
            <a:pPr>
              <a:lnSpc>
                <a:spcPct val="200000"/>
              </a:lnSpc>
            </a:pPr>
            <a:r>
              <a:rPr lang="en-US" altLang="ko-KR" sz="700" dirty="0">
                <a:latin typeface="+mn-ea"/>
              </a:rPr>
              <a:t>A </a:t>
            </a:r>
            <a:r>
              <a:rPr lang="ko-KR" altLang="en-US" sz="700" dirty="0">
                <a:latin typeface="+mn-ea"/>
              </a:rPr>
              <a:t>해외업체</a:t>
            </a:r>
            <a:endParaRPr lang="en-US" altLang="ko-KR" sz="700" dirty="0">
              <a:latin typeface="+mn-ea"/>
            </a:endParaRPr>
          </a:p>
          <a:p>
            <a:pPr>
              <a:lnSpc>
                <a:spcPct val="200000"/>
              </a:lnSpc>
            </a:pPr>
            <a:r>
              <a:rPr lang="en-US" altLang="ko-KR" sz="700" dirty="0">
                <a:latin typeface="+mn-ea"/>
              </a:rPr>
              <a:t>USD</a:t>
            </a:r>
          </a:p>
          <a:p>
            <a:pPr algn="r">
              <a:lnSpc>
                <a:spcPct val="200000"/>
              </a:lnSpc>
            </a:pPr>
            <a:endParaRPr lang="en-US" altLang="ko-KR" sz="700" dirty="0">
              <a:latin typeface="+mn-ea"/>
            </a:endParaRPr>
          </a:p>
          <a:p>
            <a:pPr algn="r">
              <a:lnSpc>
                <a:spcPct val="200000"/>
              </a:lnSpc>
            </a:pPr>
            <a:r>
              <a:rPr lang="en-US" altLang="ko-KR" sz="700" dirty="0">
                <a:latin typeface="+mn-ea"/>
              </a:rPr>
              <a:t>608,000.00</a:t>
            </a:r>
          </a:p>
          <a:p>
            <a:pPr algn="r">
              <a:lnSpc>
                <a:spcPct val="200000"/>
              </a:lnSpc>
            </a:pPr>
            <a:r>
              <a:rPr lang="en-US" altLang="ko-KR" sz="700" dirty="0">
                <a:latin typeface="+mn-ea"/>
              </a:rPr>
              <a:t>1.0000 USD</a:t>
            </a:r>
          </a:p>
        </p:txBody>
      </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11" name="타원 110">
            <a:extLst>
              <a:ext uri="{FF2B5EF4-FFF2-40B4-BE49-F238E27FC236}">
                <a16:creationId xmlns:a16="http://schemas.microsoft.com/office/drawing/2014/main" id="{37A7FF4F-0EAA-1463-560A-D5EC24416103}"/>
              </a:ext>
            </a:extLst>
          </p:cNvPr>
          <p:cNvSpPr/>
          <p:nvPr/>
        </p:nvSpPr>
        <p:spPr>
          <a:xfrm>
            <a:off x="589334" y="411113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Tree>
    <p:extLst>
      <p:ext uri="{BB962C8B-B14F-4D97-AF65-F5344CB8AC3E}">
        <p14:creationId xmlns:p14="http://schemas.microsoft.com/office/powerpoint/2010/main" val="574425513"/>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solidFill>
                  <a:schemeClr val="tx1">
                    <a:lumMod val="85000"/>
                    <a:lumOff val="15000"/>
                  </a:schemeClr>
                </a:solidFill>
              </a:rPr>
              <a:t>첨부파일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368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a:latin typeface="+mn-ea"/>
              </a:rPr>
              <a:t>입찰참가신청서작성 </a:t>
            </a:r>
            <a:r>
              <a:rPr lang="en-US" altLang="ko-KR" dirty="0">
                <a:latin typeface="+mn-ea"/>
              </a:rPr>
              <a:t>– </a:t>
            </a:r>
            <a:r>
              <a:rPr lang="ko-KR" altLang="en-US"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업체담당자가 일반경쟁 공고에 </a:t>
            </a:r>
            <a:r>
              <a:rPr lang="ko-KR" altLang="en-US" dirty="0" err="1">
                <a:latin typeface="+mn-ea"/>
              </a:rPr>
              <a:t>참가신청한</a:t>
            </a:r>
            <a:r>
              <a:rPr lang="ko-KR" altLang="en-US" dirty="0">
                <a:latin typeface="+mn-ea"/>
              </a:rPr>
              <a:t> 품목을 조회하고 각 품목별로 금액 제출 및 필요한 문서를 제출하는 화면 </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a:latin typeface="+mn-ea"/>
              </a:rPr>
              <a:t>입찰참가신청서작성 </a:t>
            </a:r>
            <a:r>
              <a:rPr lang="en-US" altLang="ko-KR" dirty="0">
                <a:latin typeface="+mn-ea"/>
              </a:rPr>
              <a:t>- </a:t>
            </a:r>
            <a:r>
              <a:rPr lang="ko-KR" altLang="en-US" dirty="0">
                <a:latin typeface="+mn-ea"/>
              </a:rPr>
              <a:t>파일첨부</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MUI-BD-06-M74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756845" y="2484624"/>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320977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3284292"/>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견적제안서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333815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8" name="모서리가 둥근 직사각형 117"/>
          <p:cNvSpPr/>
          <p:nvPr/>
        </p:nvSpPr>
        <p:spPr>
          <a:xfrm>
            <a:off x="710315" y="361645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3690978"/>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공급자증명서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374483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2" name="사각형: 둥근 모서리 15">
            <a:extLst>
              <a:ext uri="{FF2B5EF4-FFF2-40B4-BE49-F238E27FC236}">
                <a16:creationId xmlns:a16="http://schemas.microsoft.com/office/drawing/2014/main" id="{E2B61CFB-AD16-68D0-8752-50D9C5E01971}"/>
              </a:ext>
            </a:extLst>
          </p:cNvPr>
          <p:cNvSpPr/>
          <p:nvPr/>
        </p:nvSpPr>
        <p:spPr>
          <a:xfrm>
            <a:off x="710315" y="2759178"/>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3074653"/>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24170" y="3074653"/>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3074653"/>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27" name="사각형: 둥근 모서리 15">
            <a:extLst>
              <a:ext uri="{FF2B5EF4-FFF2-40B4-BE49-F238E27FC236}">
                <a16:creationId xmlns:a16="http://schemas.microsoft.com/office/drawing/2014/main" id="{E2B61CFB-AD16-68D0-8752-50D9C5E01971}"/>
              </a:ext>
            </a:extLst>
          </p:cNvPr>
          <p:cNvSpPr/>
          <p:nvPr/>
        </p:nvSpPr>
        <p:spPr>
          <a:xfrm>
            <a:off x="2944591" y="3721258"/>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28" name="사각형: 둥근 모서리 15">
            <a:extLst>
              <a:ext uri="{FF2B5EF4-FFF2-40B4-BE49-F238E27FC236}">
                <a16:creationId xmlns:a16="http://schemas.microsoft.com/office/drawing/2014/main" id="{E2B61CFB-AD16-68D0-8752-50D9C5E01971}"/>
              </a:ext>
            </a:extLst>
          </p:cNvPr>
          <p:cNvSpPr/>
          <p:nvPr/>
        </p:nvSpPr>
        <p:spPr>
          <a:xfrm>
            <a:off x="2944591" y="3304466"/>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25154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6" name="그룹 55"/>
          <p:cNvGrpSpPr/>
          <p:nvPr/>
        </p:nvGrpSpPr>
        <p:grpSpPr>
          <a:xfrm>
            <a:off x="675399" y="5614711"/>
            <a:ext cx="2712027" cy="617588"/>
            <a:chOff x="675399" y="5614711"/>
            <a:chExt cx="2712027" cy="617588"/>
          </a:xfrm>
        </p:grpSpPr>
        <p:sp>
          <p:nvSpPr>
            <p:cNvPr id="57" name="직사각형 56">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전자서명하기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59"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이전</a:t>
              </a:r>
              <a:endParaRPr kumimoji="1" lang="en-US" sz="1000" b="0" i="0" u="none" strike="noStrike" kern="0" cap="none" spc="0" normalizeH="0" baseline="0" noProof="0" dirty="0">
                <a:ln>
                  <a:noFill/>
                </a:ln>
                <a:effectLst/>
                <a:uLnTx/>
                <a:uFillTx/>
                <a:latin typeface="맑은 고딕"/>
              </a:endParaRPr>
            </a:p>
          </p:txBody>
        </p:sp>
      </p:grpSp>
      <p:sp>
        <p:nvSpPr>
          <p:cNvPr id="100" name="모서리가 둥근 직사각형 99"/>
          <p:cNvSpPr/>
          <p:nvPr/>
        </p:nvSpPr>
        <p:spPr>
          <a:xfrm>
            <a:off x="710315" y="4017820"/>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4092341"/>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제작사증명서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4146202"/>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4" name="모서리가 둥근 직사각형 103"/>
          <p:cNvSpPr/>
          <p:nvPr/>
        </p:nvSpPr>
        <p:spPr>
          <a:xfrm>
            <a:off x="710315" y="442450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4499027"/>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기타 공고요구서류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455288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2944591" y="4529307"/>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31" name="사각형: 둥근 모서리 15">
            <a:extLst>
              <a:ext uri="{FF2B5EF4-FFF2-40B4-BE49-F238E27FC236}">
                <a16:creationId xmlns:a16="http://schemas.microsoft.com/office/drawing/2014/main" id="{E2B61CFB-AD16-68D0-8752-50D9C5E01971}"/>
              </a:ext>
            </a:extLst>
          </p:cNvPr>
          <p:cNvSpPr/>
          <p:nvPr/>
        </p:nvSpPr>
        <p:spPr>
          <a:xfrm>
            <a:off x="2944591" y="4112515"/>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0" name="그룹 149"/>
          <p:cNvGrpSpPr/>
          <p:nvPr/>
        </p:nvGrpSpPr>
        <p:grpSpPr>
          <a:xfrm>
            <a:off x="675399" y="2083489"/>
            <a:ext cx="2712027" cy="337161"/>
            <a:chOff x="675399" y="3557901"/>
            <a:chExt cx="2712027" cy="337161"/>
          </a:xfrm>
        </p:grpSpPr>
        <p:cxnSp>
          <p:nvCxnSpPr>
            <p:cNvPr id="151" name="직선 연결선 150">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2" name="TextBox 151">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53" name="TextBox 152">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입찰참여품목</a:t>
              </a:r>
            </a:p>
          </p:txBody>
        </p:sp>
        <p:sp>
          <p:nvSpPr>
            <p:cNvPr id="154" name="TextBox 153">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b="1" dirty="0">
                  <a:latin typeface="+mn-ea"/>
                </a:rPr>
                <a:t>3. </a:t>
              </a:r>
              <a:r>
                <a:rPr lang="ko-KR" altLang="en-US" sz="700" b="1" dirty="0">
                  <a:latin typeface="+mn-ea"/>
                </a:rPr>
                <a:t>첨부파일</a:t>
              </a:r>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2234484" y="3895062"/>
              <a:ext cx="49659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56" name="그룹 155"/>
            <p:cNvGrpSpPr/>
            <p:nvPr/>
          </p:nvGrpSpPr>
          <p:grpSpPr>
            <a:xfrm>
              <a:off x="2924086" y="3640332"/>
              <a:ext cx="422853" cy="187961"/>
              <a:chOff x="3641308" y="2234886"/>
              <a:chExt cx="422853" cy="187961"/>
            </a:xfrm>
          </p:grpSpPr>
          <p:sp>
            <p:nvSpPr>
              <p:cNvPr id="159" name="타원 158"/>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0" name="그룹 159"/>
              <p:cNvGrpSpPr/>
              <p:nvPr/>
            </p:nvGrpSpPr>
            <p:grpSpPr>
              <a:xfrm rot="5400000" flipH="1">
                <a:off x="3679895" y="2305364"/>
                <a:ext cx="94010" cy="47005"/>
                <a:chOff x="6812560" y="3297172"/>
                <a:chExt cx="94010" cy="47005"/>
              </a:xfrm>
            </p:grpSpPr>
            <p:cxnSp>
              <p:nvCxnSpPr>
                <p:cNvPr id="165" name="직선 연결선 16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6" name="직선 연결선 16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1" name="타원 160"/>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2" name="그룹 161"/>
              <p:cNvGrpSpPr/>
              <p:nvPr/>
            </p:nvGrpSpPr>
            <p:grpSpPr>
              <a:xfrm rot="16200000">
                <a:off x="3931564" y="2305364"/>
                <a:ext cx="94010" cy="47005"/>
                <a:chOff x="6812560" y="3297172"/>
                <a:chExt cx="94010" cy="47005"/>
              </a:xfrm>
            </p:grpSpPr>
            <p:cxnSp>
              <p:nvCxnSpPr>
                <p:cNvPr id="163" name="직선 연결선 16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4" name="직선 연결선 16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57" name="직선 연결선 156">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8" name="직선 연결선 157">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4111592852"/>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369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(1/4)</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908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770801"/>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9216470"/>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1865837"/>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11751346"/>
                  </a:ext>
                </a:extLst>
              </a:tr>
              <a:tr h="0">
                <a:tc>
                  <a:txBody>
                    <a:bodyPr/>
                    <a:lstStyle/>
                    <a:p>
                      <a:pPr algn="l" fontAlgn="ctr"/>
                      <a:r>
                        <a:rPr lang="ko-KR" altLang="en-US" sz="800" b="0" i="0" u="none" strike="noStrike">
                          <a:solidFill>
                            <a:srgbClr val="000000"/>
                          </a:solidFill>
                          <a:effectLst/>
                          <a:latin typeface="+mn-ea"/>
                          <a:ea typeface="+mn-ea"/>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9223821"/>
                  </a:ext>
                </a:extLst>
              </a:tr>
              <a:tr h="0">
                <a:tc>
                  <a:txBody>
                    <a:bodyPr/>
                    <a:lstStyle/>
                    <a:p>
                      <a:pPr algn="l" fontAlgn="ctr"/>
                      <a:r>
                        <a:rPr lang="ko-KR" altLang="en-US" sz="800" b="0" i="0" u="none" strike="noStrike">
                          <a:solidFill>
                            <a:srgbClr val="000000"/>
                          </a:solidFill>
                          <a:effectLst/>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계약방법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5825386"/>
                  </a:ext>
                </a:extLst>
              </a:tr>
              <a:tr h="0">
                <a:tc>
                  <a:txBody>
                    <a:bodyPr/>
                    <a:lstStyle/>
                    <a:p>
                      <a:pPr algn="l" fontAlgn="ctr"/>
                      <a:r>
                        <a:rPr lang="ko-KR" altLang="en-US" sz="800" b="0" i="0" u="none" strike="noStrike">
                          <a:solidFill>
                            <a:srgbClr val="000000"/>
                          </a:solidFill>
                          <a:effectLst/>
                          <a:latin typeface="+mn-ea"/>
                          <a:ea typeface="+mn-ea"/>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regDdlnDt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2167756"/>
                  </a:ext>
                </a:extLst>
              </a:tr>
              <a:tr h="0">
                <a:tc>
                  <a:txBody>
                    <a:bodyPr/>
                    <a:lstStyle/>
                    <a:p>
                      <a:pPr algn="l" fontAlgn="ctr"/>
                      <a:r>
                        <a:rPr lang="ko-KR" altLang="en-US" sz="800" b="0" i="0" u="none" strike="noStrike">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684685"/>
                  </a:ext>
                </a:extLst>
              </a:tr>
              <a:tr h="0">
                <a:tc>
                  <a:txBody>
                    <a:bodyPr/>
                    <a:lstStyle/>
                    <a:p>
                      <a:pPr algn="l" fontAlgn="ctr"/>
                      <a:r>
                        <a:rPr lang="ko-KR" altLang="en-US" sz="800" b="0" i="0" u="none" strike="noStrike" dirty="0">
                          <a:solidFill>
                            <a:srgbClr val="000000"/>
                          </a:solidFill>
                          <a:effectLst/>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6532521"/>
                  </a:ext>
                </a:extLst>
              </a:tr>
              <a:tr h="0">
                <a:tc>
                  <a:txBody>
                    <a:bodyPr/>
                    <a:lstStyle/>
                    <a:p>
                      <a:pPr algn="l" fontAlgn="ctr"/>
                      <a:r>
                        <a:rPr lang="ko-KR" altLang="en-US" sz="800" b="0" i="0" u="none" strike="noStrike" dirty="0">
                          <a:solidFill>
                            <a:srgbClr val="000000"/>
                          </a:solidFill>
                          <a:effectLst/>
                          <a:latin typeface="+mn-ea"/>
                          <a:ea typeface="+mn-ea"/>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1664787"/>
                  </a:ext>
                </a:extLst>
              </a:tr>
              <a:tr h="0">
                <a:tc>
                  <a:txBody>
                    <a:bodyPr/>
                    <a:lstStyle/>
                    <a:p>
                      <a:pPr algn="l" fontAlgn="ctr"/>
                      <a:r>
                        <a:rPr lang="ko-KR" altLang="en-US" sz="800" b="0" i="0" u="none" strike="noStrike">
                          <a:solidFill>
                            <a:srgbClr val="000000"/>
                          </a:solidFill>
                          <a:effectLst/>
                          <a:latin typeface="+mn-ea"/>
                          <a:ea typeface="+mn-ea"/>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8347116"/>
                  </a:ext>
                </a:extLst>
              </a:tr>
              <a:tr h="0">
                <a:tc>
                  <a:txBody>
                    <a:bodyPr/>
                    <a:lstStyle/>
                    <a:p>
                      <a:pPr algn="l" fontAlgn="ctr"/>
                      <a:r>
                        <a:rPr lang="ko-KR" altLang="en-US" sz="800" b="0" i="0" u="none" strike="noStrike">
                          <a:solidFill>
                            <a:srgbClr val="000000"/>
                          </a:solidFill>
                          <a:effectLst/>
                          <a:latin typeface="+mn-ea"/>
                          <a:ea typeface="+mn-ea"/>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방위사업청담당자</a:t>
                      </a:r>
                      <a:r>
                        <a:rPr lang="ko-KR" altLang="en-US" sz="800" b="0" i="0" u="none" strike="noStrike" dirty="0">
                          <a:solidFill>
                            <a:srgbClr val="000000"/>
                          </a:solidFill>
                          <a:effectLst/>
                          <a:latin typeface="+mn-ea"/>
                          <a:ea typeface="+mn-ea"/>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B8CDDD2D-4887-09C2-7266-AB4432087CE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516774423"/>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370</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(2/4)</a:t>
            </a:r>
            <a:endParaRPr lang="ko-KR" altLang="en-US" sz="1000" b="1" dirty="0">
              <a:solidFill>
                <a:prstClr val="black"/>
              </a:solidFill>
            </a:endParaRPr>
          </a:p>
        </p:txBody>
      </p:sp>
      <p:sp>
        <p:nvSpPr>
          <p:cNvPr id="2" name="TextBox 1">
            <a:extLst>
              <a:ext uri="{FF2B5EF4-FFF2-40B4-BE49-F238E27FC236}">
                <a16:creationId xmlns:a16="http://schemas.microsoft.com/office/drawing/2014/main" id="{6EC1DB6F-756B-3ECF-DF5B-01F7E95AC086}"/>
              </a:ext>
            </a:extLst>
          </p:cNvPr>
          <p:cNvSpPr txBox="1"/>
          <p:nvPr/>
        </p:nvSpPr>
        <p:spPr>
          <a:xfrm>
            <a:off x="458117" y="799547"/>
            <a:ext cx="3102379" cy="211203"/>
          </a:xfrm>
          <a:prstGeom prst="rect">
            <a:avLst/>
          </a:prstGeom>
          <a:noFill/>
        </p:spPr>
        <p:txBody>
          <a:bodyPr wrap="none" lIns="36000" tIns="36000" rIns="36000" bIns="36000" rtlCol="0">
            <a:spAutoFit/>
          </a:bodyPr>
          <a:lstStyle/>
          <a:p>
            <a:r>
              <a:rPr lang="en-US" altLang="ko-KR" sz="900" b="1">
                <a:solidFill>
                  <a:prstClr val="black"/>
                </a:solidFill>
              </a:rPr>
              <a:t>1.2. </a:t>
            </a:r>
            <a:r>
              <a:rPr lang="ko-KR" altLang="en-US" sz="900" b="1">
                <a:solidFill>
                  <a:prstClr val="black"/>
                </a:solidFill>
              </a:rPr>
              <a:t>입찰참여품목</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(dl_ititbBidCnList)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E64A895E-65AD-627E-D8DD-170FFDF6E50D}"/>
              </a:ext>
            </a:extLst>
          </p:cNvPr>
          <p:cNvGraphicFramePr>
            <a:graphicFrameLocks noGrp="1"/>
          </p:cNvGraphicFramePr>
          <p:nvPr/>
        </p:nvGraphicFramePr>
        <p:xfrm>
          <a:off x="452999" y="1010750"/>
          <a:ext cx="8994883" cy="5091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입찰업체</a:t>
                      </a:r>
                      <a:endParaRPr lang="en-US" altLang="ko-KR" sz="800" b="0" i="0" u="none" strike="noStrike">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8065627"/>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r h="0">
                <a:tc>
                  <a:txBody>
                    <a:bodyPr/>
                    <a:lstStyle/>
                    <a:p>
                      <a:pPr algn="l" fontAlgn="ct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1673799"/>
                  </a:ext>
                </a:extLst>
              </a:tr>
              <a:tr h="0">
                <a:tc>
                  <a:txBody>
                    <a:bodyPr/>
                    <a:lstStyle/>
                    <a:p>
                      <a:pPr algn="l" fontAlgn="ctr"/>
                      <a:r>
                        <a:rPr lang="ko-KR" altLang="en-US" sz="800" b="0" i="0" u="none" strike="noStrike">
                          <a:solidFill>
                            <a:srgbClr val="000000"/>
                          </a:solidFill>
                          <a:effectLst/>
                          <a:latin typeface="+mn-ea"/>
                          <a:ea typeface="+mn-ea"/>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4568633"/>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화페단위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6714837"/>
                  </a:ext>
                </a:extLst>
              </a:tr>
              <a:tr h="0">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(As it is / Replace)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24155434"/>
                  </a:ext>
                </a:extLst>
              </a:tr>
              <a:tr h="0">
                <a:tc>
                  <a:txBody>
                    <a:bodyPr/>
                    <a:lstStyle/>
                    <a:p>
                      <a:pPr algn="l" fontAlgn="ctr"/>
                      <a:r>
                        <a:rPr lang="ko-KR" altLang="en-US" sz="800" b="0" i="0" u="none" strike="noStrike" dirty="0">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품목대체첨부문서가</a:t>
                      </a:r>
                      <a:r>
                        <a:rPr lang="ko-KR" altLang="en-US" sz="800" dirty="0">
                          <a:latin typeface="+mn-ea"/>
                          <a:ea typeface="+mn-ea"/>
                        </a:rPr>
                        <a:t> 있는 경우</a:t>
                      </a:r>
                      <a:r>
                        <a:rPr lang="en-US" altLang="ko-KR" sz="800" dirty="0">
                          <a:latin typeface="+mn-ea"/>
                          <a:ea typeface="+mn-ea"/>
                        </a:rPr>
                        <a:t>, ‘O’. </a:t>
                      </a:r>
                      <a:r>
                        <a:rPr lang="ko-KR" altLang="en-US" sz="800" dirty="0">
                          <a:latin typeface="+mn-ea"/>
                          <a:ea typeface="+mn-ea"/>
                        </a:rPr>
                        <a:t>그 외 표시 없음</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941089"/>
                  </a:ext>
                </a:extLst>
              </a:tr>
              <a:tr h="0">
                <a:tc>
                  <a:txBody>
                    <a:bodyPr/>
                    <a:lstStyle/>
                    <a:p>
                      <a:pPr algn="l" fontAlgn="ctr"/>
                      <a:r>
                        <a:rPr lang="ko-KR" altLang="en-US" sz="800" b="0" i="0" u="none" strike="noStrike">
                          <a:solidFill>
                            <a:srgbClr val="000000"/>
                          </a:solidFill>
                          <a:effectLst/>
                          <a:latin typeface="+mn-ea"/>
                          <a:ea typeface="+mn-ea"/>
                        </a:rPr>
                        <a:t>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929951"/>
                  </a:ext>
                </a:extLst>
              </a:tr>
              <a:tr h="0">
                <a:tc>
                  <a:txBody>
                    <a:bodyPr/>
                    <a:lstStyle/>
                    <a:p>
                      <a:pPr algn="l" fontAlgn="ctr"/>
                      <a:r>
                        <a:rPr lang="ko-KR" altLang="en-US" sz="800" b="0" i="0" u="none" strike="noStrike">
                          <a:solidFill>
                            <a:srgbClr val="000000"/>
                          </a:solidFill>
                          <a:effectLst/>
                          <a:latin typeface="+mn-ea"/>
                          <a:ea typeface="+mn-ea"/>
                        </a:rPr>
                        <a:t>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87599421"/>
                  </a:ext>
                </a:extLst>
              </a:tr>
              <a:tr h="0">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rgbClr val="000000"/>
                          </a:solidFill>
                          <a:effectLst/>
                          <a:latin typeface="+mn-ea"/>
                          <a:ea typeface="+mn-ea"/>
                        </a:rPr>
                        <a:t>MOQ </a:t>
                      </a:r>
                      <a:r>
                        <a:rPr lang="ko-KR" altLang="en-US" sz="800" b="0" i="0" u="none" strike="noStrike" dirty="0">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(Y / 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9061956"/>
                  </a:ext>
                </a:extLst>
              </a:tr>
              <a:tr h="0">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9809737"/>
                  </a:ext>
                </a:extLst>
              </a:tr>
              <a:tr h="0">
                <a:tc>
                  <a:txBody>
                    <a:bodyPr/>
                    <a:lstStyle/>
                    <a:p>
                      <a:pPr algn="l" fontAlgn="ctr"/>
                      <a:r>
                        <a:rPr lang="en-US" sz="800" b="0" i="0" u="none" strike="noStrike" dirty="0">
                          <a:solidFill>
                            <a:srgbClr val="000000"/>
                          </a:solidFill>
                          <a:effectLst/>
                          <a:latin typeface="+mn-ea"/>
                          <a:ea typeface="+mn-ea"/>
                        </a:rPr>
                        <a:t>MOQ</a:t>
                      </a:r>
                      <a:r>
                        <a:rPr lang="ko-KR" altLang="en-US" sz="800" b="0" i="0" u="none" strike="noStrike" dirty="0">
                          <a:solidFill>
                            <a:srgbClr val="000000"/>
                          </a:solidFill>
                          <a:effectLst/>
                          <a:latin typeface="+mn-ea"/>
                          <a:ea typeface="+mn-ea"/>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a:solidFill>
                            <a:srgbClr val="000000"/>
                          </a:solidFill>
                          <a:effectLst/>
                          <a:latin typeface="+mn-ea"/>
                          <a:ea typeface="+mn-ea"/>
                        </a:rPr>
                        <a:t>MOQ</a:t>
                      </a:r>
                      <a:r>
                        <a:rPr lang="ko-KR" altLang="en-US" sz="800" b="0" i="0" u="none" strike="noStrike" dirty="0" err="1">
                          <a:solidFill>
                            <a:srgbClr val="000000"/>
                          </a:solidFill>
                          <a:effectLst/>
                          <a:latin typeface="+mn-ea"/>
                          <a:ea typeface="+mn-ea"/>
                        </a:rPr>
                        <a:t>첨부문서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MOQ</a:t>
                      </a:r>
                      <a:r>
                        <a:rPr lang="ko-KR" altLang="en-US" sz="800" dirty="0">
                          <a:latin typeface="+mn-ea"/>
                          <a:ea typeface="+mn-ea"/>
                        </a:rPr>
                        <a:t>첨부문서가 있는 경우</a:t>
                      </a:r>
                      <a:r>
                        <a:rPr lang="en-US" altLang="ko-KR" sz="800" dirty="0">
                          <a:latin typeface="+mn-ea"/>
                          <a:ea typeface="+mn-ea"/>
                        </a:rPr>
                        <a:t>, ‘O’. </a:t>
                      </a:r>
                      <a:r>
                        <a:rPr lang="ko-KR" altLang="en-US" sz="800" dirty="0">
                          <a:latin typeface="+mn-ea"/>
                          <a:ea typeface="+mn-ea"/>
                        </a:rPr>
                        <a:t>그 외 표시 없음</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0739781"/>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본조</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국가 예산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9848704"/>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당국</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당해년도 국채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3670449"/>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장국</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장기국채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6404054"/>
                  </a:ext>
                </a:extLst>
              </a:tr>
              <a:tr h="0">
                <a:tc>
                  <a:txBody>
                    <a:bodyPr/>
                    <a:lstStyle/>
                    <a:p>
                      <a:pPr algn="l" fontAlgn="ctr"/>
                      <a:r>
                        <a:rPr lang="ko-KR" altLang="en-US" sz="800" b="0" i="0" u="none" strike="noStrike">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04595397"/>
                  </a:ext>
                </a:extLst>
              </a:tr>
              <a:tr h="0">
                <a:tc>
                  <a:txBody>
                    <a:bodyPr/>
                    <a:lstStyle/>
                    <a:p>
                      <a:pPr algn="l" fontAlgn="ctr"/>
                      <a:r>
                        <a:rPr lang="ko-KR" altLang="en-US" sz="800" b="0" i="0" u="none" strike="noStrike" dirty="0">
                          <a:solidFill>
                            <a:srgbClr val="000000"/>
                          </a:solidFill>
                          <a:effectLst/>
                          <a:latin typeface="+mn-ea"/>
                          <a:ea typeface="+mn-ea"/>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9750289"/>
                  </a:ext>
                </a:extLst>
              </a:tr>
              <a:tr h="0">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3809566"/>
                  </a:ext>
                </a:extLst>
              </a:tr>
              <a:tr h="0">
                <a:tc>
                  <a:txBody>
                    <a:bodyPr/>
                    <a:lstStyle/>
                    <a:p>
                      <a:pPr algn="l" fontAlgn="ctr"/>
                      <a:r>
                        <a:rPr lang="ko-KR" altLang="en-US" sz="800" b="0" i="0" u="none" strike="noStrike">
                          <a:solidFill>
                            <a:srgbClr val="000000"/>
                          </a:solidFill>
                          <a:effectLst/>
                          <a:latin typeface="+mn-ea"/>
                          <a:ea typeface="+mn-ea"/>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C6D8C3C5-92D6-644C-4F38-14715FB864C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66470892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슬라이드 번호 개체 틀 2">
            <a:extLst>
              <a:ext uri="{FF2B5EF4-FFF2-40B4-BE49-F238E27FC236}">
                <a16:creationId xmlns:a16="http://schemas.microsoft.com/office/drawing/2014/main" id="{09BAFFE9-3B78-1532-1EED-6D78A507389A}"/>
              </a:ext>
            </a:extLst>
          </p:cNvPr>
          <p:cNvSpPr>
            <a:spLocks noGrp="1"/>
          </p:cNvSpPr>
          <p:nvPr>
            <p:ph type="sldNum" sz="quarter" idx="4"/>
          </p:nvPr>
        </p:nvSpPr>
        <p:spPr>
          <a:xfrm>
            <a:off x="4327200" y="6590501"/>
            <a:ext cx="1258128" cy="216000"/>
          </a:xfrm>
        </p:spPr>
        <p:txBody>
          <a:bodyPr/>
          <a:lstStyle/>
          <a:p>
            <a:fld id="{9DF8E3FD-B4FB-473B-BCAD-C4534B9A9D97}" type="slidenum">
              <a:rPr lang="ko-KR" altLang="en-US" smtClean="0"/>
              <a:pPr/>
              <a:t>371</a:t>
            </a:fld>
            <a:endParaRPr lang="ko-KR" altLang="en-US" dirty="0"/>
          </a:p>
        </p:txBody>
      </p:sp>
      <p:sp>
        <p:nvSpPr>
          <p:cNvPr id="5" name="TextBox 4">
            <a:extLst>
              <a:ext uri="{FF2B5EF4-FFF2-40B4-BE49-F238E27FC236}">
                <a16:creationId xmlns:a16="http://schemas.microsoft.com/office/drawing/2014/main" id="{851C048D-8B08-B247-CB04-F52756322ECD}"/>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(3/4)</a:t>
            </a:r>
            <a:endParaRPr lang="ko-KR" altLang="en-US" sz="1000" b="1" dirty="0">
              <a:solidFill>
                <a:prstClr val="black"/>
              </a:solidFill>
            </a:endParaRPr>
          </a:p>
        </p:txBody>
      </p:sp>
      <p:sp>
        <p:nvSpPr>
          <p:cNvPr id="6" name="TextBox 5">
            <a:extLst>
              <a:ext uri="{FF2B5EF4-FFF2-40B4-BE49-F238E27FC236}">
                <a16:creationId xmlns:a16="http://schemas.microsoft.com/office/drawing/2014/main" id="{BFC5E42C-41DA-3907-8E77-DFA2779459D2}"/>
              </a:ext>
            </a:extLst>
          </p:cNvPr>
          <p:cNvSpPr txBox="1"/>
          <p:nvPr/>
        </p:nvSpPr>
        <p:spPr>
          <a:xfrm>
            <a:off x="458117" y="799547"/>
            <a:ext cx="2935666" cy="211203"/>
          </a:xfrm>
          <a:prstGeom prst="rect">
            <a:avLst/>
          </a:prstGeom>
          <a:noFill/>
        </p:spPr>
        <p:txBody>
          <a:bodyPr wrap="none" lIns="36000" tIns="36000" rIns="36000" bIns="36000" rtlCol="0">
            <a:spAutoFit/>
          </a:bodyPr>
          <a:lstStyle/>
          <a:p>
            <a:r>
              <a:rPr lang="en-US" altLang="ko-KR" sz="900" b="1">
                <a:solidFill>
                  <a:prstClr val="black"/>
                </a:solidFill>
              </a:rPr>
              <a:t>1.3. </a:t>
            </a:r>
            <a:r>
              <a:rPr lang="ko-KR" altLang="en-US" sz="900" b="1">
                <a:solidFill>
                  <a:prstClr val="black"/>
                </a:solidFill>
              </a:rPr>
              <a:t>입찰품목</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(dl_alonbsItemList)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5DDA5753-DEFE-B33D-028E-58786715017D}"/>
              </a:ext>
            </a:extLst>
          </p:cNvPr>
          <p:cNvGraphicFramePr>
            <a:graphicFrameLocks noGrp="1"/>
          </p:cNvGraphicFramePr>
          <p:nvPr/>
        </p:nvGraphicFramePr>
        <p:xfrm>
          <a:off x="452999" y="1010750"/>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r h="0">
                <a:tc>
                  <a:txBody>
                    <a:bodyPr/>
                    <a:lstStyle/>
                    <a:p>
                      <a:pPr algn="l" fontAlgn="ct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1673799"/>
                  </a:ext>
                </a:extLst>
              </a:tr>
            </a:tbl>
          </a:graphicData>
        </a:graphic>
      </p:graphicFrame>
      <p:sp>
        <p:nvSpPr>
          <p:cNvPr id="10" name="Text Box 73">
            <a:extLst>
              <a:ext uri="{FF2B5EF4-FFF2-40B4-BE49-F238E27FC236}">
                <a16:creationId xmlns:a16="http://schemas.microsoft.com/office/drawing/2014/main" id="{F53ABECC-44BD-0648-AA57-7F6B4B7F71E4}"/>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1" name="TextBox 10">
            <a:extLst>
              <a:ext uri="{FF2B5EF4-FFF2-40B4-BE49-F238E27FC236}">
                <a16:creationId xmlns:a16="http://schemas.microsoft.com/office/drawing/2014/main" id="{49702F92-C00A-98FC-B199-F4DD38CEE456}"/>
              </a:ext>
            </a:extLst>
          </p:cNvPr>
          <p:cNvSpPr txBox="1"/>
          <p:nvPr/>
        </p:nvSpPr>
        <p:spPr>
          <a:xfrm>
            <a:off x="458117" y="3217797"/>
            <a:ext cx="3039862"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입찰내역</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(dl_alonbsBidCnInfo)</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FAF49F32-7EA4-ABEA-C323-13D03B69B825}"/>
              </a:ext>
            </a:extLst>
          </p:cNvPr>
          <p:cNvGraphicFramePr>
            <a:graphicFrameLocks noGrp="1"/>
          </p:cNvGraphicFramePr>
          <p:nvPr/>
        </p:nvGraphicFramePr>
        <p:xfrm>
          <a:off x="452999" y="3429000"/>
          <a:ext cx="8994883" cy="1163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bl>
          </a:graphicData>
        </a:graphic>
      </p:graphicFrame>
    </p:spTree>
    <p:extLst>
      <p:ext uri="{BB962C8B-B14F-4D97-AF65-F5344CB8AC3E}">
        <p14:creationId xmlns:p14="http://schemas.microsoft.com/office/powerpoint/2010/main" val="724951208"/>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372</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(4/4)</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94090"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dirty="0">
                <a:solidFill>
                  <a:prstClr val="black"/>
                </a:solidFill>
              </a:rPr>
              <a:t>첨부파일 데이터 </a:t>
            </a:r>
            <a:r>
              <a:rPr lang="ko-KR" altLang="en-US" sz="900" b="1">
                <a:solidFill>
                  <a:prstClr val="black"/>
                </a:solidFill>
              </a:rPr>
              <a:t>영역 </a:t>
            </a:r>
            <a:r>
              <a:rPr lang="en-US" altLang="ko-KR" sz="900" b="1">
                <a:solidFill>
                  <a:prstClr val="black"/>
                </a:solidFill>
              </a:rPr>
              <a:t>(dl_docList)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 Box 73">
            <a:extLst>
              <a:ext uri="{FF2B5EF4-FFF2-40B4-BE49-F238E27FC236}">
                <a16:creationId xmlns:a16="http://schemas.microsoft.com/office/drawing/2014/main" id="{9FBAE9F6-BB22-00F0-039C-E68728BB4ECC}"/>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051591761"/>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7FB2BC88-D058-584B-6E43-87812BA1225D}"/>
              </a:ext>
            </a:extLst>
          </p:cNvPr>
          <p:cNvSpPr>
            <a:spLocks noGrp="1"/>
          </p:cNvSpPr>
          <p:nvPr>
            <p:ph type="sldNum" sz="quarter" idx="4"/>
          </p:nvPr>
        </p:nvSpPr>
        <p:spPr/>
        <p:txBody>
          <a:bodyPr/>
          <a:lstStyle/>
          <a:p>
            <a:fld id="{34C8E023-7346-48FC-AB24-9A3388C53208}" type="slidenum">
              <a:rPr lang="ko-KR" altLang="en-US" smtClean="0"/>
              <a:pPr/>
              <a:t>373</a:t>
            </a:fld>
            <a:endParaRPr lang="ko-KR" altLang="en-US" dirty="0"/>
          </a:p>
        </p:txBody>
      </p:sp>
      <p:sp>
        <p:nvSpPr>
          <p:cNvPr id="3" name="TextBox 2">
            <a:extLst>
              <a:ext uri="{FF2B5EF4-FFF2-40B4-BE49-F238E27FC236}">
                <a16:creationId xmlns:a16="http://schemas.microsoft.com/office/drawing/2014/main" id="{AFC0F452-7196-DE77-373F-0BCB0D49FFBC}"/>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C29C8687-867B-CB07-ACAF-8274E0069D46}"/>
              </a:ext>
            </a:extLst>
          </p:cNvPr>
          <p:cNvGraphicFramePr>
            <a:graphicFrameLocks noGrp="1"/>
          </p:cNvGraphicFramePr>
          <p:nvPr/>
        </p:nvGraphicFramePr>
        <p:xfrm>
          <a:off x="458117" y="799547"/>
          <a:ext cx="8995591" cy="1673280"/>
        </p:xfrm>
        <a:graphic>
          <a:graphicData uri="http://schemas.openxmlformats.org/drawingml/2006/table">
            <a:tbl>
              <a:tblPr>
                <a:tableStyleId>{616DA210-FB5B-4158-B5E0-FEB733F419BA}</a:tableStyleId>
              </a:tblPr>
              <a:tblGrid>
                <a:gridCol w="1437358">
                  <a:extLst>
                    <a:ext uri="{9D8B030D-6E8A-4147-A177-3AD203B41FA5}">
                      <a16:colId xmlns:a16="http://schemas.microsoft.com/office/drawing/2014/main" val="20000"/>
                    </a:ext>
                  </a:extLst>
                </a:gridCol>
                <a:gridCol w="1476375">
                  <a:extLst>
                    <a:ext uri="{9D8B030D-6E8A-4147-A177-3AD203B41FA5}">
                      <a16:colId xmlns:a16="http://schemas.microsoft.com/office/drawing/2014/main" val="624624882"/>
                    </a:ext>
                  </a:extLst>
                </a:gridCol>
                <a:gridCol w="3657600">
                  <a:extLst>
                    <a:ext uri="{9D8B030D-6E8A-4147-A177-3AD203B41FA5}">
                      <a16:colId xmlns:a16="http://schemas.microsoft.com/office/drawing/2014/main" val="20001"/>
                    </a:ext>
                  </a:extLst>
                </a:gridCol>
                <a:gridCol w="2424258">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공고상세</a:t>
                      </a:r>
                      <a:r>
                        <a:rPr lang="en-US" altLang="ko-KR" sz="800" dirty="0">
                          <a:latin typeface="+mn-ea"/>
                          <a:ea typeface="+mn-ea"/>
                        </a:rPr>
                        <a:t>, </a:t>
                      </a:r>
                      <a:r>
                        <a:rPr lang="ko-KR" altLang="en-US" sz="800" dirty="0">
                          <a:latin typeface="+mn-ea"/>
                          <a:ea typeface="+mn-ea"/>
                        </a:rPr>
                        <a:t>신청업체</a:t>
                      </a:r>
                      <a:r>
                        <a:rPr lang="en-US" altLang="ko-KR" sz="800" dirty="0">
                          <a:latin typeface="+mn-ea"/>
                          <a:ea typeface="+mn-ea"/>
                        </a:rPr>
                        <a:t>, </a:t>
                      </a:r>
                      <a:r>
                        <a:rPr lang="ko-KR" altLang="en-US" sz="800" dirty="0">
                          <a:latin typeface="+mn-ea"/>
                          <a:ea typeface="+mn-ea"/>
                        </a:rPr>
                        <a:t>입찰업체</a:t>
                      </a:r>
                      <a:r>
                        <a:rPr lang="en-US" altLang="ko-KR" sz="800" dirty="0">
                          <a:latin typeface="+mn-ea"/>
                          <a:ea typeface="+mn-ea"/>
                        </a:rPr>
                        <a:t>, </a:t>
                      </a:r>
                      <a:r>
                        <a:rPr lang="ko-KR" altLang="en-US" sz="800" dirty="0">
                          <a:latin typeface="+mn-ea"/>
                          <a:ea typeface="+mn-ea"/>
                        </a:rPr>
                        <a:t>입찰참여품목 조회</a:t>
                      </a:r>
                      <a:r>
                        <a:rPr lang="en-US" altLang="ko-KR" sz="800" dirty="0">
                          <a:latin typeface="+mn-ea"/>
                          <a:ea typeface="+mn-ea"/>
                        </a:rPr>
                        <a:t>,  </a:t>
                      </a:r>
                      <a:r>
                        <a:rPr lang="ko-KR" altLang="en-US" sz="800" dirty="0">
                          <a:latin typeface="+mn-ea"/>
                          <a:ea typeface="+mn-ea"/>
                        </a:rPr>
                        <a:t>화폐단위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입찰공고상세조회</a:t>
                      </a:r>
                      <a:r>
                        <a:rPr lang="en-US" altLang="ko-KR" sz="800">
                          <a:latin typeface="+mn-ea"/>
                          <a:ea typeface="+mn-ea"/>
                        </a:rPr>
                        <a:t>, </a:t>
                      </a:r>
                      <a:r>
                        <a:rPr lang="ko-KR" altLang="en-US" sz="800">
                          <a:latin typeface="+mn-ea"/>
                          <a:ea typeface="+mn-ea"/>
                        </a:rPr>
                        <a:t>임시입찰내용조회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err="1"/>
                        <a:t>품목대체첨부문서</a:t>
                      </a:r>
                      <a:r>
                        <a:rPr lang="ko-KR" altLang="en-US" sz="800" dirty="0"/>
                        <a:t>  클릭</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scwin.btn_openAtchDoc_onlick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UI-BD-05-P76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6503860"/>
                  </a:ext>
                </a:extLst>
              </a:tr>
              <a:tr h="0">
                <a:tc>
                  <a:txBody>
                    <a:bodyPr/>
                    <a:lstStyle/>
                    <a:p>
                      <a:r>
                        <a:rPr lang="en-US" altLang="ko-KR" sz="800" dirty="0"/>
                        <a:t>MOQ</a:t>
                      </a:r>
                      <a:r>
                        <a:rPr lang="ko-KR" altLang="en-US" sz="800" dirty="0"/>
                        <a:t>첨부문서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scwin.btn_openAtchDoc_onlick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UI-BD-05-P76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4475007"/>
                  </a:ext>
                </a:extLst>
              </a:tr>
              <a:tr h="0">
                <a:tc>
                  <a:txBody>
                    <a:bodyPr/>
                    <a:lstStyle/>
                    <a:p>
                      <a:r>
                        <a:rPr lang="ko-KR" altLang="en-US" sz="800" dirty="0"/>
                        <a:t>입찰단가 변경</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scnwin.ibx_unitPrice_onchange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입찰단가 변경</a:t>
                      </a:r>
                      <a:r>
                        <a:rPr lang="en-US" altLang="ko-KR" sz="800" dirty="0">
                          <a:latin typeface="+mn-ea"/>
                          <a:ea typeface="+mn-ea"/>
                        </a:rPr>
                        <a:t> </a:t>
                      </a:r>
                      <a:r>
                        <a:rPr lang="ko-KR" altLang="en-US" sz="800" dirty="0">
                          <a:latin typeface="+mn-ea"/>
                          <a:ea typeface="+mn-ea"/>
                        </a:rPr>
                        <a:t>시</a:t>
                      </a:r>
                      <a:r>
                        <a:rPr lang="en-US" altLang="ko-KR" sz="800">
                          <a:latin typeface="+mn-ea"/>
                          <a:ea typeface="+mn-ea"/>
                        </a:rPr>
                        <a:t>, </a:t>
                      </a:r>
                      <a:r>
                        <a:rPr lang="ko-KR" altLang="en-US" sz="800">
                          <a:latin typeface="+mn-ea"/>
                          <a:ea typeface="+mn-ea"/>
                        </a:rPr>
                        <a:t>입찰금액</a:t>
                      </a:r>
                      <a:r>
                        <a:rPr lang="en-US" altLang="ko-KR" sz="800">
                          <a:latin typeface="+mn-ea"/>
                          <a:ea typeface="+mn-ea"/>
                        </a:rPr>
                        <a:t>/</a:t>
                      </a:r>
                      <a:r>
                        <a:rPr lang="ko-KR" altLang="en-US" sz="800">
                          <a:latin typeface="+mn-ea"/>
                          <a:ea typeface="+mn-ea"/>
                        </a:rPr>
                        <a:t>달러금액</a:t>
                      </a:r>
                      <a:r>
                        <a:rPr lang="en-US" altLang="ko-KR" sz="800">
                          <a:latin typeface="+mn-ea"/>
                          <a:ea typeface="+mn-ea"/>
                        </a:rPr>
                        <a:t>/</a:t>
                      </a:r>
                      <a:r>
                        <a:rPr lang="ko-KR" altLang="en-US" sz="800">
                          <a:latin typeface="+mn-ea"/>
                          <a:ea typeface="+mn-ea"/>
                        </a:rPr>
                        <a:t>달러단가 </a:t>
                      </a:r>
                      <a:r>
                        <a:rPr lang="ko-KR" altLang="en-US" sz="800" dirty="0">
                          <a:latin typeface="+mn-ea"/>
                          <a:ea typeface="+mn-ea"/>
                        </a:rPr>
                        <a:t>계산하여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0435977"/>
                  </a:ext>
                </a:extLst>
              </a:tr>
              <a:tr h="0">
                <a:tc>
                  <a:txBody>
                    <a:bodyPr/>
                    <a:lstStyle/>
                    <a:p>
                      <a:r>
                        <a:rPr lang="ko-KR" altLang="en-US" sz="800"/>
                        <a:t>입찰금액 변경</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scnwin.ibx_amountPrice_onchange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입찰금액 변경 시</a:t>
                      </a:r>
                      <a:r>
                        <a:rPr lang="en-US" altLang="ko-KR" sz="800">
                          <a:latin typeface="+mn-ea"/>
                          <a:ea typeface="+mn-ea"/>
                        </a:rPr>
                        <a:t>, </a:t>
                      </a:r>
                      <a:r>
                        <a:rPr lang="ko-KR" altLang="en-US" sz="800">
                          <a:latin typeface="+mn-ea"/>
                          <a:ea typeface="+mn-ea"/>
                        </a:rPr>
                        <a:t>달러금액 계산하여 표시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4917941"/>
                  </a:ext>
                </a:extLst>
              </a:tr>
              <a:tr h="0">
                <a:tc>
                  <a:txBody>
                    <a:bodyPr/>
                    <a:lstStyle/>
                    <a:p>
                      <a:r>
                        <a:rPr lang="ko-KR" altLang="en-US" sz="800"/>
                        <a:t>투찰 </a:t>
                      </a:r>
                      <a:r>
                        <a:rPr lang="ko-KR" altLang="en-US" sz="800" dirty="0"/>
                        <a:t>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scwin.btn_submitBid_onclick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 작성내역을 암호화하여 저장</a:t>
                      </a:r>
                      <a:r>
                        <a:rPr lang="en-US" altLang="ko-KR" sz="800" dirty="0">
                          <a:latin typeface="+mn-ea"/>
                          <a:ea typeface="+mn-ea"/>
                        </a:rPr>
                        <a:t>. </a:t>
                      </a:r>
                      <a:r>
                        <a:rPr lang="ko-KR" altLang="en-US" sz="800" dirty="0">
                          <a:latin typeface="+mn-ea"/>
                          <a:ea typeface="+mn-ea"/>
                        </a:rPr>
                        <a:t>모의입찰 상태인 경우</a:t>
                      </a:r>
                      <a:r>
                        <a:rPr lang="en-US" altLang="ko-KR" sz="800" dirty="0">
                          <a:latin typeface="+mn-ea"/>
                          <a:ea typeface="+mn-ea"/>
                        </a:rPr>
                        <a:t>, </a:t>
                      </a:r>
                      <a:r>
                        <a:rPr lang="ko-KR" altLang="en-US" sz="800" dirty="0" err="1">
                          <a:latin typeface="+mn-ea"/>
                          <a:ea typeface="+mn-ea"/>
                        </a:rPr>
                        <a:t>모의투찰</a:t>
                      </a:r>
                      <a:r>
                        <a:rPr lang="en-US" altLang="ko-KR" sz="800" dirty="0">
                          <a:latin typeface="+mn-ea"/>
                          <a:ea typeface="+mn-ea"/>
                        </a:rPr>
                        <a:t>. </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입찰서제출</a:t>
                      </a:r>
                      <a:r>
                        <a:rPr lang="en-US" altLang="ko-KR" sz="800">
                          <a:latin typeface="+mn-ea"/>
                          <a:ea typeface="+mn-ea"/>
                        </a:rPr>
                        <a:t>, </a:t>
                      </a:r>
                      <a:r>
                        <a:rPr lang="ko-KR" altLang="en-US" sz="800">
                          <a:latin typeface="+mn-ea"/>
                          <a:ea typeface="+mn-ea"/>
                        </a:rPr>
                        <a:t>모의입찰서제출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3967640"/>
                  </a:ext>
                </a:extLst>
              </a:tr>
              <a:tr h="0">
                <a:tc>
                  <a:txBody>
                    <a:bodyPr/>
                    <a:lstStyle/>
                    <a:p>
                      <a:r>
                        <a:rPr lang="ko-KR" altLang="en-US" sz="800" dirty="0"/>
                        <a:t>목록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scwin.btn_moveList_onclick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입찰진행</a:t>
                      </a:r>
                      <a:r>
                        <a:rPr lang="en-US" altLang="ko-KR" sz="800" dirty="0">
                          <a:latin typeface="+mn-ea"/>
                          <a:ea typeface="+mn-ea"/>
                        </a:rPr>
                        <a:t>(</a:t>
                      </a:r>
                      <a:r>
                        <a:rPr lang="ko-KR" altLang="en-US" sz="800" dirty="0">
                          <a:latin typeface="+mn-ea"/>
                          <a:ea typeface="+mn-ea"/>
                        </a:rPr>
                        <a:t>조달업체</a:t>
                      </a:r>
                      <a:r>
                        <a:rPr lang="en-US" altLang="ko-KR" sz="800" dirty="0">
                          <a:latin typeface="+mn-ea"/>
                          <a:ea typeface="+mn-ea"/>
                        </a:rPr>
                        <a:t>)</a:t>
                      </a:r>
                      <a:r>
                        <a:rPr lang="ko-KR" altLang="en-US" sz="800" dirty="0">
                          <a:latin typeface="+mn-ea"/>
                          <a:ea typeface="+mn-ea"/>
                        </a:rPr>
                        <a:t> 화면으로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UI-BD-03-M01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4047301"/>
                  </a:ext>
                </a:extLst>
              </a:tr>
            </a:tbl>
          </a:graphicData>
        </a:graphic>
      </p:graphicFrame>
      <p:sp>
        <p:nvSpPr>
          <p:cNvPr id="5" name="Text Box 73">
            <a:extLst>
              <a:ext uri="{FF2B5EF4-FFF2-40B4-BE49-F238E27FC236}">
                <a16:creationId xmlns:a16="http://schemas.microsoft.com/office/drawing/2014/main" id="{7358A102-B5BB-33BB-2B3E-6DCF5FA3949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928183563"/>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374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조달업체가</a:t>
            </a:r>
            <a:r>
              <a:rPr lang="ko-KR" altLang="en-US" dirty="0">
                <a:latin typeface="+mn-ea"/>
              </a:rPr>
              <a:t> 제출한 입찰서를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일반정보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MUI-BD-06-M75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입찰서 제출</a:t>
            </a: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9" name="그룹 148"/>
          <p:cNvGrpSpPr/>
          <p:nvPr/>
        </p:nvGrpSpPr>
        <p:grpSpPr>
          <a:xfrm rot="5400000">
            <a:off x="755013" y="1640499"/>
            <a:ext cx="94010" cy="47005"/>
            <a:chOff x="6812560" y="3297172"/>
            <a:chExt cx="94010" cy="47005"/>
          </a:xfrm>
        </p:grpSpPr>
        <p:cxnSp>
          <p:nvCxnSpPr>
            <p:cNvPr id="150" name="직선 연결선 1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3" name="직선 연결선 1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4" name="타원 153"/>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25461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0" name="그룹 239"/>
          <p:cNvGrpSpPr/>
          <p:nvPr/>
        </p:nvGrpSpPr>
        <p:grpSpPr>
          <a:xfrm>
            <a:off x="675399" y="1936620"/>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56" name="그룹 255"/>
          <p:cNvGrpSpPr/>
          <p:nvPr/>
        </p:nvGrpSpPr>
        <p:grpSpPr>
          <a:xfrm>
            <a:off x="3795733"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17" name="TextBox 316">
            <a:extLst>
              <a:ext uri="{FF2B5EF4-FFF2-40B4-BE49-F238E27FC236}">
                <a16:creationId xmlns:a16="http://schemas.microsoft.com/office/drawing/2014/main" id="{FFC49AEA-2A8F-250C-A86A-A7751D9706C3}"/>
              </a:ext>
            </a:extLst>
          </p:cNvPr>
          <p:cNvSpPr txBox="1"/>
          <p:nvPr/>
        </p:nvSpPr>
        <p:spPr>
          <a:xfrm>
            <a:off x="1019814" y="2526822"/>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255816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2640153"/>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24" name="타원 323">
            <a:extLst>
              <a:ext uri="{FF2B5EF4-FFF2-40B4-BE49-F238E27FC236}">
                <a16:creationId xmlns:a16="http://schemas.microsoft.com/office/drawing/2014/main" id="{37A7FF4F-0EAA-1463-560A-D5EC24416103}"/>
              </a:ext>
            </a:extLst>
          </p:cNvPr>
          <p:cNvSpPr/>
          <p:nvPr/>
        </p:nvSpPr>
        <p:spPr>
          <a:xfrm>
            <a:off x="571127" y="291160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6" name="타원 325">
            <a:extLst>
              <a:ext uri="{FF2B5EF4-FFF2-40B4-BE49-F238E27FC236}">
                <a16:creationId xmlns:a16="http://schemas.microsoft.com/office/drawing/2014/main" id="{37A7FF4F-0EAA-1463-560A-D5EC24416103}"/>
              </a:ext>
            </a:extLst>
          </p:cNvPr>
          <p:cNvSpPr/>
          <p:nvPr/>
        </p:nvSpPr>
        <p:spPr>
          <a:xfrm>
            <a:off x="571127" y="327278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51" name="모서리가 둥근 직사각형 150"/>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70880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94" name="그룹 193"/>
          <p:cNvGrpSpPr/>
          <p:nvPr/>
        </p:nvGrpSpPr>
        <p:grpSpPr>
          <a:xfrm>
            <a:off x="3795735" y="2420077"/>
            <a:ext cx="2712026" cy="944800"/>
            <a:chOff x="3795735" y="4570486"/>
            <a:chExt cx="2712026" cy="944800"/>
          </a:xfrm>
        </p:grpSpPr>
        <p:sp>
          <p:nvSpPr>
            <p:cNvPr id="195" name="TextBox 194">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196" name="그룹 195"/>
            <p:cNvGrpSpPr/>
            <p:nvPr/>
          </p:nvGrpSpPr>
          <p:grpSpPr>
            <a:xfrm flipV="1">
              <a:off x="6240167" y="4729163"/>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7" name="TextBox 19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00" name="직선 연결선 199">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모서리가 둥근 직사각형 200"/>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03" name="TextBox 202">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08" name="그룹 207"/>
          <p:cNvGrpSpPr/>
          <p:nvPr/>
        </p:nvGrpSpPr>
        <p:grpSpPr>
          <a:xfrm>
            <a:off x="716366" y="3212643"/>
            <a:ext cx="2630093" cy="2454885"/>
            <a:chOff x="701175" y="1527996"/>
            <a:chExt cx="2630093" cy="2454885"/>
          </a:xfrm>
        </p:grpSpPr>
        <p:sp>
          <p:nvSpPr>
            <p:cNvPr id="209" name="TextBox 208">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210" name="그룹 209"/>
            <p:cNvGrpSpPr/>
            <p:nvPr/>
          </p:nvGrpSpPr>
          <p:grpSpPr>
            <a:xfrm flipV="1">
              <a:off x="3124233" y="1641327"/>
              <a:ext cx="94010" cy="47005"/>
              <a:chOff x="6812560" y="3297172"/>
              <a:chExt cx="94010" cy="47005"/>
            </a:xfrm>
          </p:grpSpPr>
          <p:cxnSp>
            <p:nvCxnSpPr>
              <p:cNvPr id="250" name="직선 연결선 2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1" name="직선 연결선 25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직사각형 210"/>
            <p:cNvSpPr/>
            <p:nvPr/>
          </p:nvSpPr>
          <p:spPr>
            <a:xfrm>
              <a:off x="703268" y="1835482"/>
              <a:ext cx="792000" cy="21473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2" name="TextBox 211">
              <a:extLst>
                <a:ext uri="{FF2B5EF4-FFF2-40B4-BE49-F238E27FC236}">
                  <a16:creationId xmlns:a16="http://schemas.microsoft.com/office/drawing/2014/main" id="{FFC49AEA-2A8F-250C-A86A-A7751D9706C3}"/>
                </a:ext>
              </a:extLst>
            </p:cNvPr>
            <p:cNvSpPr txBox="1"/>
            <p:nvPr/>
          </p:nvSpPr>
          <p:spPr>
            <a:xfrm>
              <a:off x="790330" y="1835481"/>
              <a:ext cx="728979" cy="125835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입찰방식</a:t>
              </a:r>
            </a:p>
            <a:p>
              <a:pPr>
                <a:lnSpc>
                  <a:spcPct val="200000"/>
                </a:lnSpc>
              </a:pPr>
              <a:r>
                <a:rPr lang="ko-KR" altLang="en-US" sz="700" dirty="0">
                  <a:latin typeface="+mn-ea"/>
                </a:rPr>
                <a:t>계약방법</a:t>
              </a:r>
            </a:p>
          </p:txBody>
        </p:sp>
        <p:sp>
          <p:nvSpPr>
            <p:cNvPr id="213" name="TextBox 212">
              <a:extLst>
                <a:ext uri="{FF2B5EF4-FFF2-40B4-BE49-F238E27FC236}">
                  <a16:creationId xmlns:a16="http://schemas.microsoft.com/office/drawing/2014/main" id="{FFC49AEA-2A8F-250C-A86A-A7751D9706C3}"/>
                </a:ext>
              </a:extLst>
            </p:cNvPr>
            <p:cNvSpPr txBox="1"/>
            <p:nvPr/>
          </p:nvSpPr>
          <p:spPr>
            <a:xfrm>
              <a:off x="1547180" y="1835481"/>
              <a:ext cx="1775839" cy="212013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일반투찰</a:t>
              </a:r>
              <a:endParaRPr lang="ko-KR" altLang="en-US" sz="700" dirty="0">
                <a:latin typeface="+mn-ea"/>
              </a:endParaRPr>
            </a:p>
            <a:p>
              <a:pPr>
                <a:lnSpc>
                  <a:spcPct val="200000"/>
                </a:lnSpc>
              </a:pPr>
              <a:r>
                <a:rPr lang="ko-KR" altLang="en-US" sz="700" dirty="0">
                  <a:latin typeface="+mn-ea"/>
                </a:rPr>
                <a:t>일반경쟁</a:t>
              </a:r>
            </a:p>
            <a:p>
              <a:pPr>
                <a:lnSpc>
                  <a:spcPct val="200000"/>
                </a:lnSpc>
              </a:pPr>
              <a:r>
                <a:rPr lang="en-US" altLang="ko-KR" sz="700" dirty="0">
                  <a:latin typeface="+mn-ea"/>
                </a:rPr>
                <a:t>2025-03-02 15:00:00</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a:p>
              <a:pPr>
                <a:lnSpc>
                  <a:spcPct val="200000"/>
                </a:lnSpc>
              </a:pPr>
              <a:r>
                <a:rPr lang="en-US" altLang="ko-KR" sz="700" dirty="0">
                  <a:latin typeface="+mn-ea"/>
                </a:rPr>
                <a:t>2025-02-13</a:t>
              </a:r>
            </a:p>
          </p:txBody>
        </p:sp>
        <p:grpSp>
          <p:nvGrpSpPr>
            <p:cNvPr id="214" name="그룹 213"/>
            <p:cNvGrpSpPr/>
            <p:nvPr/>
          </p:nvGrpSpPr>
          <p:grpSpPr>
            <a:xfrm>
              <a:off x="701175" y="1835481"/>
              <a:ext cx="2630093" cy="2147400"/>
              <a:chOff x="701175" y="1835481"/>
              <a:chExt cx="2630093" cy="2147400"/>
            </a:xfrm>
          </p:grpSpPr>
          <p:cxnSp>
            <p:nvCxnSpPr>
              <p:cNvPr id="218" name="직선 연결선 217">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9" name="직선 연결선 218">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1" name="직선 연결선 220">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2" name="직선 연결선 221">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5" name="직선 연결선 224">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5" name="직선 연결선 24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6" name="직선 연결선 245">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7" name="직선 연결선 246">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8" name="직선 연결선 247">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9" name="직선 연결선 248">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5" name="TextBox 214">
              <a:extLst>
                <a:ext uri="{FF2B5EF4-FFF2-40B4-BE49-F238E27FC236}">
                  <a16:creationId xmlns:a16="http://schemas.microsoft.com/office/drawing/2014/main" id="{FFC49AEA-2A8F-250C-A86A-A7751D9706C3}"/>
                </a:ext>
              </a:extLst>
            </p:cNvPr>
            <p:cNvSpPr txBox="1"/>
            <p:nvPr/>
          </p:nvSpPr>
          <p:spPr>
            <a:xfrm>
              <a:off x="790330" y="3120649"/>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216" name="TextBox 215">
              <a:extLst>
                <a:ext uri="{FF2B5EF4-FFF2-40B4-BE49-F238E27FC236}">
                  <a16:creationId xmlns:a16="http://schemas.microsoft.com/office/drawing/2014/main" id="{FFC49AEA-2A8F-250C-A86A-A7751D9706C3}"/>
                </a:ext>
              </a:extLst>
            </p:cNvPr>
            <p:cNvSpPr txBox="1"/>
            <p:nvPr/>
          </p:nvSpPr>
          <p:spPr>
            <a:xfrm>
              <a:off x="790330" y="3337737"/>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217" name="TextBox 216">
              <a:extLst>
                <a:ext uri="{FF2B5EF4-FFF2-40B4-BE49-F238E27FC236}">
                  <a16:creationId xmlns:a16="http://schemas.microsoft.com/office/drawing/2014/main" id="{FFC49AEA-2A8F-250C-A86A-A7751D9706C3}"/>
                </a:ext>
              </a:extLst>
            </p:cNvPr>
            <p:cNvSpPr txBox="1"/>
            <p:nvPr/>
          </p:nvSpPr>
          <p:spPr>
            <a:xfrm>
              <a:off x="790330" y="3524557"/>
              <a:ext cx="728979" cy="430887"/>
            </a:xfrm>
            <a:prstGeom prst="rect">
              <a:avLst/>
            </a:prstGeom>
            <a:noFill/>
          </p:spPr>
          <p:txBody>
            <a:bodyPr wrap="square" lIns="0" tIns="0" rIns="0" bIns="0" rtlCol="0">
              <a:spAutoFit/>
            </a:bodyPr>
            <a:lstStyle/>
            <a:p>
              <a:pPr>
                <a:lnSpc>
                  <a:spcPct val="200000"/>
                </a:lnSpc>
              </a:pPr>
              <a:r>
                <a:rPr lang="ko-KR" altLang="en-US" sz="700" dirty="0" err="1">
                  <a:latin typeface="+mn-ea"/>
                </a:rPr>
                <a:t>개찰일자</a:t>
              </a:r>
              <a:endParaRPr lang="ko-KR" altLang="en-US" sz="700" dirty="0">
                <a:latin typeface="+mn-ea"/>
              </a:endParaRPr>
            </a:p>
            <a:p>
              <a:pPr>
                <a:lnSpc>
                  <a:spcPct val="200000"/>
                </a:lnSpc>
              </a:pPr>
              <a:r>
                <a:rPr lang="ko-KR" altLang="en-US" sz="700" dirty="0">
                  <a:latin typeface="+mn-ea"/>
                </a:rPr>
                <a:t>환율적용일자</a:t>
              </a:r>
              <a:endParaRPr lang="en-US" altLang="ko-KR" sz="700" dirty="0">
                <a:latin typeface="+mn-ea"/>
              </a:endParaRPr>
            </a:p>
          </p:txBody>
        </p:sp>
      </p:grpSp>
      <p:grpSp>
        <p:nvGrpSpPr>
          <p:cNvPr id="155" name="그룹 154"/>
          <p:cNvGrpSpPr/>
          <p:nvPr/>
        </p:nvGrpSpPr>
        <p:grpSpPr>
          <a:xfrm>
            <a:off x="675399" y="2832640"/>
            <a:ext cx="2712027" cy="337161"/>
            <a:chOff x="675399" y="3557901"/>
            <a:chExt cx="2712027" cy="337161"/>
          </a:xfrm>
        </p:grpSpPr>
        <p:cxnSp>
          <p:nvCxnSpPr>
            <p:cNvPr id="156" name="직선 연결선 155">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7" name="TextBox 156">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58" name="TextBox 157">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입찰참여품목</a:t>
              </a:r>
            </a:p>
          </p:txBody>
        </p:sp>
        <p:sp>
          <p:nvSpPr>
            <p:cNvPr id="159" name="TextBox 158">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60" name="직선 연결선 159">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2" name="그룹 161"/>
            <p:cNvGrpSpPr/>
            <p:nvPr/>
          </p:nvGrpSpPr>
          <p:grpSpPr>
            <a:xfrm>
              <a:off x="2924086" y="3640332"/>
              <a:ext cx="422853" cy="187961"/>
              <a:chOff x="3641308" y="2234886"/>
              <a:chExt cx="422853" cy="187961"/>
            </a:xfrm>
          </p:grpSpPr>
          <p:sp>
            <p:nvSpPr>
              <p:cNvPr id="168" name="타원 16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69" name="그룹 168"/>
              <p:cNvGrpSpPr/>
              <p:nvPr/>
            </p:nvGrpSpPr>
            <p:grpSpPr>
              <a:xfrm rot="5400000" flipH="1">
                <a:off x="3679895" y="2305364"/>
                <a:ext cx="94010" cy="47005"/>
                <a:chOff x="6812560" y="3297172"/>
                <a:chExt cx="94010" cy="47005"/>
              </a:xfrm>
            </p:grpSpPr>
            <p:cxnSp>
              <p:nvCxnSpPr>
                <p:cNvPr id="174" name="직선 연결선 17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5" name="직선 연결선 17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0" name="타원 169"/>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1" name="그룹 170"/>
              <p:cNvGrpSpPr/>
              <p:nvPr/>
            </p:nvGrpSpPr>
            <p:grpSpPr>
              <a:xfrm rot="16200000">
                <a:off x="3931564" y="2305364"/>
                <a:ext cx="94010" cy="47005"/>
                <a:chOff x="6812560" y="3297172"/>
                <a:chExt cx="94010" cy="47005"/>
              </a:xfrm>
            </p:grpSpPr>
            <p:cxnSp>
              <p:nvCxnSpPr>
                <p:cNvPr id="172" name="직선 연결선 17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3" name="직선 연결선 17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65" name="직선 연결선 164">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7" name="TextBox 166">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76" name="그룹 175"/>
          <p:cNvGrpSpPr/>
          <p:nvPr/>
        </p:nvGrpSpPr>
        <p:grpSpPr>
          <a:xfrm>
            <a:off x="3795734" y="2084581"/>
            <a:ext cx="2712027" cy="337161"/>
            <a:chOff x="675399" y="3557901"/>
            <a:chExt cx="2712027" cy="337161"/>
          </a:xfrm>
        </p:grpSpPr>
        <p:cxnSp>
          <p:nvCxnSpPr>
            <p:cNvPr id="177" name="직선 연결선 176">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9" name="TextBox 178">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80" name="TextBox 179">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입찰참여품목</a:t>
              </a:r>
            </a:p>
          </p:txBody>
        </p:sp>
        <p:sp>
          <p:nvSpPr>
            <p:cNvPr id="228" name="TextBox 227">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52" name="직선 연결선 251">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53" name="그룹 252"/>
            <p:cNvGrpSpPr/>
            <p:nvPr/>
          </p:nvGrpSpPr>
          <p:grpSpPr>
            <a:xfrm>
              <a:off x="2924086" y="3640332"/>
              <a:ext cx="422853" cy="187961"/>
              <a:chOff x="3641308" y="2234886"/>
              <a:chExt cx="422853" cy="187961"/>
            </a:xfrm>
          </p:grpSpPr>
          <p:sp>
            <p:nvSpPr>
              <p:cNvPr id="262" name="타원 26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3" name="그룹 262"/>
              <p:cNvGrpSpPr/>
              <p:nvPr/>
            </p:nvGrpSpPr>
            <p:grpSpPr>
              <a:xfrm rot="5400000" flipH="1">
                <a:off x="3679895" y="2305364"/>
                <a:ext cx="94010" cy="47005"/>
                <a:chOff x="6812560" y="3297172"/>
                <a:chExt cx="94010" cy="47005"/>
              </a:xfrm>
            </p:grpSpPr>
            <p:cxnSp>
              <p:nvCxnSpPr>
                <p:cNvPr id="268" name="직선 연결선 26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73" name="직선 연결선 27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64" name="타원 26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65" name="그룹 264"/>
              <p:cNvGrpSpPr/>
              <p:nvPr/>
            </p:nvGrpSpPr>
            <p:grpSpPr>
              <a:xfrm rot="16200000">
                <a:off x="3931564" y="2305364"/>
                <a:ext cx="94010" cy="47005"/>
                <a:chOff x="6812560" y="3297172"/>
                <a:chExt cx="94010" cy="47005"/>
              </a:xfrm>
            </p:grpSpPr>
            <p:cxnSp>
              <p:nvCxnSpPr>
                <p:cNvPr id="266" name="직선 연결선 26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67" name="직선 연결선 26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54" name="직선 연결선 25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55" name="직선 연결선 254">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1" name="TextBox 260">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Tree>
    <p:extLst>
      <p:ext uri="{BB962C8B-B14F-4D97-AF65-F5344CB8AC3E}">
        <p14:creationId xmlns:p14="http://schemas.microsoft.com/office/powerpoint/2010/main" val="3137300108"/>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375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업체정보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조달업체가</a:t>
            </a:r>
            <a:r>
              <a:rPr lang="ko-KR" altLang="en-US" dirty="0">
                <a:latin typeface="+mn-ea"/>
              </a:rPr>
              <a:t> 제출한 입찰서를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업체정보</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MUI-BD-06-M76</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25461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모서리가 둥근 직사각형 151"/>
          <p:cNvSpPr/>
          <p:nvPr/>
        </p:nvSpPr>
        <p:spPr>
          <a:xfrm rot="5400000">
            <a:off x="5780626" y="370880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10" name="그룹 209"/>
          <p:cNvGrpSpPr/>
          <p:nvPr/>
        </p:nvGrpSpPr>
        <p:grpSpPr>
          <a:xfrm flipV="1">
            <a:off x="3139424" y="2577189"/>
            <a:ext cx="94010" cy="47005"/>
            <a:chOff x="6812560" y="3297172"/>
            <a:chExt cx="94010" cy="47005"/>
          </a:xfrm>
        </p:grpSpPr>
        <p:cxnSp>
          <p:nvCxnSpPr>
            <p:cNvPr id="250" name="직선 연결선 2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1" name="직선 연결선 25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156" name="그룹 155"/>
          <p:cNvGrpSpPr/>
          <p:nvPr/>
        </p:nvGrpSpPr>
        <p:grpSpPr>
          <a:xfrm>
            <a:off x="3795733" y="1578465"/>
            <a:ext cx="2712027" cy="508898"/>
            <a:chOff x="3795734" y="1602341"/>
            <a:chExt cx="2712027" cy="508898"/>
          </a:xfrm>
        </p:grpSpPr>
        <p:sp>
          <p:nvSpPr>
            <p:cNvPr id="1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158" name="모서리가 둥근 직사각형 1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159" name="모서리가 둥근 직사각형 1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160" name="직선 연결선 1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62" name="그룹 161"/>
          <p:cNvGrpSpPr/>
          <p:nvPr/>
        </p:nvGrpSpPr>
        <p:grpSpPr>
          <a:xfrm>
            <a:off x="3795734" y="2084581"/>
            <a:ext cx="2712027" cy="337161"/>
            <a:chOff x="675399" y="3557901"/>
            <a:chExt cx="2712027" cy="337161"/>
          </a:xfrm>
        </p:grpSpPr>
        <p:cxnSp>
          <p:nvCxnSpPr>
            <p:cNvPr id="165" name="직선 연결선 164">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6" name="TextBox 165">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67" name="TextBox 166">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입찰참여품목</a:t>
              </a:r>
            </a:p>
          </p:txBody>
        </p:sp>
        <p:sp>
          <p:nvSpPr>
            <p:cNvPr id="168" name="TextBox 167">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69" name="직선 연결선 168">
              <a:extLst>
                <a:ext uri="{FF2B5EF4-FFF2-40B4-BE49-F238E27FC236}">
                  <a16:creationId xmlns:a16="http://schemas.microsoft.com/office/drawing/2014/main" id="{E9293055-D5CD-4B9E-7F64-64B2D2CA7A52}"/>
                </a:ext>
              </a:extLst>
            </p:cNvPr>
            <p:cNvCxnSpPr/>
            <p:nvPr/>
          </p:nvCxnSpPr>
          <p:spPr>
            <a:xfrm>
              <a:off x="1319429"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70" name="그룹 169"/>
            <p:cNvGrpSpPr/>
            <p:nvPr/>
          </p:nvGrpSpPr>
          <p:grpSpPr>
            <a:xfrm>
              <a:off x="2924086" y="3640332"/>
              <a:ext cx="422853" cy="187961"/>
              <a:chOff x="3641308" y="2234886"/>
              <a:chExt cx="422853" cy="187961"/>
            </a:xfrm>
          </p:grpSpPr>
          <p:sp>
            <p:nvSpPr>
              <p:cNvPr id="174" name="타원 17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5" name="그룹 174"/>
              <p:cNvGrpSpPr/>
              <p:nvPr/>
            </p:nvGrpSpPr>
            <p:grpSpPr>
              <a:xfrm rot="5400000" flipH="1">
                <a:off x="3679895" y="2305364"/>
                <a:ext cx="94010" cy="47005"/>
                <a:chOff x="6812560" y="3297172"/>
                <a:chExt cx="94010" cy="47005"/>
              </a:xfrm>
            </p:grpSpPr>
            <p:cxnSp>
              <p:nvCxnSpPr>
                <p:cNvPr id="228" name="직선 연결선 22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2" name="직선 연결선 25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6" name="타원 17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7" name="그룹 176"/>
              <p:cNvGrpSpPr/>
              <p:nvPr/>
            </p:nvGrpSpPr>
            <p:grpSpPr>
              <a:xfrm rot="16200000">
                <a:off x="3931564" y="2305364"/>
                <a:ext cx="94010" cy="47005"/>
                <a:chOff x="6812560" y="3297172"/>
                <a:chExt cx="94010" cy="47005"/>
              </a:xfrm>
            </p:grpSpPr>
            <p:cxnSp>
              <p:nvCxnSpPr>
                <p:cNvPr id="179" name="직선 연결선 17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0" name="직선 연결선 17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71" name="직선 연결선 170">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3" name="TextBox 172">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grpSp>
      <p:grpSp>
        <p:nvGrpSpPr>
          <p:cNvPr id="253" name="그룹 252"/>
          <p:cNvGrpSpPr/>
          <p:nvPr/>
        </p:nvGrpSpPr>
        <p:grpSpPr>
          <a:xfrm>
            <a:off x="675399" y="1578465"/>
            <a:ext cx="2712027" cy="508898"/>
            <a:chOff x="3795734" y="1602341"/>
            <a:chExt cx="2712027" cy="508898"/>
          </a:xfrm>
        </p:grpSpPr>
        <p:sp>
          <p:nvSpPr>
            <p:cNvPr id="25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5" name="모서리가 둥근 직사각형 25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61" name="모서리가 둥근 직사각형 260"/>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2" name="직선 연결선 261">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63" name="그룹 262"/>
          <p:cNvGrpSpPr/>
          <p:nvPr/>
        </p:nvGrpSpPr>
        <p:grpSpPr>
          <a:xfrm>
            <a:off x="675400" y="2084581"/>
            <a:ext cx="2712027" cy="337161"/>
            <a:chOff x="675399" y="3557901"/>
            <a:chExt cx="2712027" cy="337161"/>
          </a:xfrm>
        </p:grpSpPr>
        <p:cxnSp>
          <p:nvCxnSpPr>
            <p:cNvPr id="264" name="직선 연결선 26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입찰참여품목</a:t>
              </a:r>
            </a:p>
          </p:txBody>
        </p:sp>
        <p:sp>
          <p:nvSpPr>
            <p:cNvPr id="267" name="TextBox 26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1299643"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73" name="그룹 272"/>
            <p:cNvGrpSpPr/>
            <p:nvPr/>
          </p:nvGrpSpPr>
          <p:grpSpPr>
            <a:xfrm>
              <a:off x="2924086" y="3640332"/>
              <a:ext cx="422853" cy="187961"/>
              <a:chOff x="3641308" y="2234886"/>
              <a:chExt cx="422853" cy="187961"/>
            </a:xfrm>
          </p:grpSpPr>
          <p:sp>
            <p:nvSpPr>
              <p:cNvPr id="277" name="타원 27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8" name="그룹 277"/>
              <p:cNvGrpSpPr/>
              <p:nvPr/>
            </p:nvGrpSpPr>
            <p:grpSpPr>
              <a:xfrm rot="5400000" flipH="1">
                <a:off x="3679895" y="2305364"/>
                <a:ext cx="94010" cy="47005"/>
                <a:chOff x="6812560" y="3297172"/>
                <a:chExt cx="94010" cy="47005"/>
              </a:xfrm>
            </p:grpSpPr>
            <p:cxnSp>
              <p:nvCxnSpPr>
                <p:cNvPr id="283" name="직선 연결선 2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4" name="직선 연결선 2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9" name="타원 27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0" name="그룹 279"/>
              <p:cNvGrpSpPr/>
              <p:nvPr/>
            </p:nvGrpSpPr>
            <p:grpSpPr>
              <a:xfrm rot="16200000">
                <a:off x="3931564" y="2305364"/>
                <a:ext cx="94010" cy="47005"/>
                <a:chOff x="6812560" y="3297172"/>
                <a:chExt cx="94010" cy="47005"/>
              </a:xfrm>
            </p:grpSpPr>
            <p:cxnSp>
              <p:nvCxnSpPr>
                <p:cNvPr id="281" name="직선 연결선 28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2" name="직선 연결선 28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74" name="직선 연결선 27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75" name="직선 연결선 274">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grpSp>
      <p:grpSp>
        <p:nvGrpSpPr>
          <p:cNvPr id="285" name="그룹 284"/>
          <p:cNvGrpSpPr/>
          <p:nvPr/>
        </p:nvGrpSpPr>
        <p:grpSpPr>
          <a:xfrm>
            <a:off x="716366" y="2485990"/>
            <a:ext cx="2630093" cy="2031034"/>
            <a:chOff x="3791188" y="2611009"/>
            <a:chExt cx="2630093" cy="2031034"/>
          </a:xfrm>
        </p:grpSpPr>
        <p:sp>
          <p:nvSpPr>
            <p:cNvPr id="286" name="TextBox 28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287" name="직사각형 286"/>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88" name="직선 연결선 28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9" name="TextBox 288">
              <a:extLst>
                <a:ext uri="{FF2B5EF4-FFF2-40B4-BE49-F238E27FC236}">
                  <a16:creationId xmlns:a16="http://schemas.microsoft.com/office/drawing/2014/main" id="{FFC49AEA-2A8F-250C-A86A-A7751D9706C3}"/>
                </a:ext>
              </a:extLst>
            </p:cNvPr>
            <p:cNvSpPr txBox="1"/>
            <p:nvPr/>
          </p:nvSpPr>
          <p:spPr>
            <a:xfrm>
              <a:off x="3880345" y="2918494"/>
              <a:ext cx="756848" cy="168924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주민등록번호</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290" name="TextBox 289">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291" name="직선 연결선 290">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2" name="직선 연결선 291">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3" name="직선 연결선 29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4" name="직선 연결선 293">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7" name="직선 연결선 296">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8" name="직선 연결선 297">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9" name="직선 연결선 298">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300" name="그룹 299"/>
          <p:cNvGrpSpPr/>
          <p:nvPr/>
        </p:nvGrpSpPr>
        <p:grpSpPr>
          <a:xfrm>
            <a:off x="3836701" y="2485990"/>
            <a:ext cx="2630093" cy="2031034"/>
            <a:chOff x="3791188" y="2611009"/>
            <a:chExt cx="2630093" cy="2031034"/>
          </a:xfrm>
        </p:grpSpPr>
        <p:sp>
          <p:nvSpPr>
            <p:cNvPr id="301" name="TextBox 300">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302" name="직사각형 301"/>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3" name="직선 연결선 302">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4" name="TextBox 303">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1" name="직선 연결선 310">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2" name="직선 연결선 311">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3" name="직선 연결선 312">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15" name="그룹 314"/>
          <p:cNvGrpSpPr/>
          <p:nvPr/>
        </p:nvGrpSpPr>
        <p:grpSpPr>
          <a:xfrm flipV="1">
            <a:off x="6279313" y="2577189"/>
            <a:ext cx="94010" cy="47005"/>
            <a:chOff x="6812560" y="3297172"/>
            <a:chExt cx="94010" cy="47005"/>
          </a:xfrm>
        </p:grpSpPr>
        <p:cxnSp>
          <p:nvCxnSpPr>
            <p:cNvPr id="320" name="직선 연결선 3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3" name="직선 연결선 3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853457978"/>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입찰참여품목</a:t>
            </a:r>
            <a:r>
              <a:rPr lang="en-US" altLang="ko-KR" dirty="0"/>
              <a:t>(</a:t>
            </a:r>
            <a:r>
              <a:rPr lang="ko-KR" altLang="en-US" dirty="0" err="1"/>
              <a:t>단가제</a:t>
            </a:r>
            <a:r>
              <a:rPr lang="en-US" altLang="ko-KR" dirty="0"/>
              <a:t>) </a:t>
            </a:r>
            <a:r>
              <a:rPr lang="ko-KR" altLang="en-US" dirty="0"/>
              <a:t>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376</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입찰참여품목 </a:t>
            </a:r>
            <a:r>
              <a:rPr lang="en-US" altLang="ko-KR" dirty="0">
                <a:latin typeface="+mn-ea"/>
              </a:rPr>
              <a:t>(</a:t>
            </a:r>
            <a:r>
              <a:rPr lang="ko-KR" altLang="en-US" dirty="0" err="1">
                <a:latin typeface="+mn-ea"/>
              </a:rPr>
              <a:t>단가제</a:t>
            </a:r>
            <a:r>
              <a:rPr lang="en-US" altLang="ko-KR" dirty="0">
                <a:latin typeface="+mn-ea"/>
              </a:rPr>
              <a:t>)</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조달업체가</a:t>
            </a:r>
            <a:r>
              <a:rPr lang="ko-KR" altLang="en-US" dirty="0">
                <a:latin typeface="+mn-ea"/>
              </a:rPr>
              <a:t> 제출한 입찰서를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입찰참여품목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MUI-BD-06-M77</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556250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975081"/>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91" name="TextBox 19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92" name="TextBox 191">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59" name="그룹 158"/>
          <p:cNvGrpSpPr/>
          <p:nvPr/>
        </p:nvGrpSpPr>
        <p:grpSpPr>
          <a:xfrm>
            <a:off x="701175" y="2489455"/>
            <a:ext cx="2630093" cy="3754583"/>
            <a:chOff x="701175" y="1527996"/>
            <a:chExt cx="2630093" cy="3754583"/>
          </a:xfrm>
        </p:grpSpPr>
        <p:sp>
          <p:nvSpPr>
            <p:cNvPr id="162" name="TextBox 161">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64" name="직사각형 163"/>
            <p:cNvSpPr/>
            <p:nvPr/>
          </p:nvSpPr>
          <p:spPr>
            <a:xfrm>
              <a:off x="703268" y="1835481"/>
              <a:ext cx="792000" cy="344389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790331" y="1835481"/>
              <a:ext cx="725552" cy="3447098"/>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en-US" altLang="ko-KR" sz="700" dirty="0">
                  <a:latin typeface="+mn-ea"/>
                </a:rPr>
                <a:t>MOQ</a:t>
              </a:r>
              <a:r>
                <a:rPr lang="ko-KR" altLang="en-US" sz="700" dirty="0">
                  <a:latin typeface="+mn-ea"/>
                </a:rPr>
                <a:t>구분</a:t>
              </a:r>
            </a:p>
            <a:p>
              <a:pPr>
                <a:lnSpc>
                  <a:spcPct val="200000"/>
                </a:lnSpc>
              </a:pPr>
              <a:r>
                <a:rPr lang="en-US" altLang="ko-KR" sz="700" dirty="0">
                  <a:latin typeface="+mn-ea"/>
                </a:rPr>
                <a:t>MOQ</a:t>
              </a:r>
              <a:r>
                <a:rPr lang="ko-KR" altLang="en-US" sz="700" dirty="0">
                  <a:latin typeface="+mn-ea"/>
                </a:rPr>
                <a:t>수량</a:t>
              </a:r>
            </a:p>
            <a:p>
              <a:pPr>
                <a:lnSpc>
                  <a:spcPct val="200000"/>
                </a:lnSpc>
              </a:pPr>
              <a:r>
                <a:rPr lang="en-US" altLang="ko-KR" sz="700" dirty="0">
                  <a:latin typeface="+mn-ea"/>
                </a:rPr>
                <a:t>MOQ</a:t>
              </a:r>
              <a:r>
                <a:rPr lang="ko-KR" altLang="en-US" sz="700" dirty="0" err="1">
                  <a:latin typeface="+mn-ea"/>
                </a:rPr>
                <a:t>첨부문서</a:t>
              </a:r>
              <a:endParaRPr lang="ko-KR" altLang="en-US" sz="700" dirty="0">
                <a:latin typeface="+mn-ea"/>
              </a:endParaRPr>
            </a:p>
            <a:p>
              <a:pPr>
                <a:lnSpc>
                  <a:spcPct val="200000"/>
                </a:lnSpc>
              </a:pPr>
              <a:r>
                <a:rPr lang="ko-KR" altLang="en-US" sz="700" dirty="0">
                  <a:latin typeface="+mn-ea"/>
                </a:rPr>
                <a:t>납기</a:t>
              </a:r>
              <a:r>
                <a:rPr lang="en-US" altLang="ko-KR" sz="700" dirty="0">
                  <a:latin typeface="+mn-ea"/>
                </a:rPr>
                <a:t>(</a:t>
              </a:r>
              <a:r>
                <a:rPr lang="ko-KR" altLang="en-US" sz="700" dirty="0" err="1">
                  <a:latin typeface="+mn-ea"/>
                </a:rPr>
                <a:t>본조</a:t>
              </a:r>
              <a:r>
                <a:rPr lang="en-US" altLang="ko-KR" sz="700" dirty="0">
                  <a:latin typeface="+mn-ea"/>
                </a:rPr>
                <a:t>)</a:t>
              </a:r>
            </a:p>
            <a:p>
              <a:pPr>
                <a:lnSpc>
                  <a:spcPct val="200000"/>
                </a:lnSpc>
              </a:pPr>
              <a:r>
                <a:rPr lang="ko-KR" altLang="en-US" sz="700" dirty="0">
                  <a:latin typeface="+mn-ea"/>
                </a:rPr>
                <a:t>납기</a:t>
              </a:r>
              <a:r>
                <a:rPr lang="en-US" altLang="ko-KR" sz="700" dirty="0">
                  <a:latin typeface="+mn-ea"/>
                </a:rPr>
                <a:t>(</a:t>
              </a:r>
              <a:r>
                <a:rPr lang="ko-KR" altLang="en-US" sz="700" dirty="0">
                  <a:latin typeface="+mn-ea"/>
                </a:rPr>
                <a:t>당국</a:t>
              </a:r>
              <a:r>
                <a:rPr lang="en-US" altLang="ko-KR" sz="700" dirty="0">
                  <a:latin typeface="+mn-ea"/>
                </a:rPr>
                <a:t>)</a:t>
              </a:r>
              <a:endParaRPr lang="ko-KR" altLang="en-US" sz="700" dirty="0">
                <a:latin typeface="+mn-ea"/>
              </a:endParaRPr>
            </a:p>
          </p:txBody>
        </p:sp>
        <p:sp>
          <p:nvSpPr>
            <p:cNvPr id="193" name="TextBox 192">
              <a:extLst>
                <a:ext uri="{FF2B5EF4-FFF2-40B4-BE49-F238E27FC236}">
                  <a16:creationId xmlns:a16="http://schemas.microsoft.com/office/drawing/2014/main" id="{FFC49AEA-2A8F-250C-A86A-A7751D9706C3}"/>
                </a:ext>
              </a:extLst>
            </p:cNvPr>
            <p:cNvSpPr txBox="1"/>
            <p:nvPr/>
          </p:nvSpPr>
          <p:spPr>
            <a:xfrm>
              <a:off x="1547180" y="1835481"/>
              <a:ext cx="1784088" cy="3447098"/>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a:p>
              <a:pPr algn="r">
                <a:lnSpc>
                  <a:spcPct val="200000"/>
                </a:lnSpc>
              </a:pPr>
              <a:r>
                <a:rPr lang="en-US" altLang="ko-KR" sz="700" dirty="0">
                  <a:latin typeface="+mn-ea"/>
                </a:rPr>
                <a:t>608,000.00</a:t>
              </a:r>
            </a:p>
            <a:p>
              <a:pPr>
                <a:lnSpc>
                  <a:spcPct val="200000"/>
                </a:lnSpc>
              </a:pPr>
              <a:r>
                <a:rPr lang="en-US" altLang="ko-KR" sz="700" dirty="0">
                  <a:latin typeface="+mn-ea"/>
                </a:rPr>
                <a:t>Replace</a:t>
              </a:r>
            </a:p>
            <a:p>
              <a:pPr>
                <a:lnSpc>
                  <a:spcPct val="200000"/>
                </a:lnSpc>
              </a:pPr>
              <a:r>
                <a:rPr lang="en-US" altLang="ko-KR" sz="700" dirty="0">
                  <a:solidFill>
                    <a:srgbClr val="0070C0"/>
                  </a:solidFill>
                  <a:latin typeface="+mn-ea"/>
                </a:rPr>
                <a:t>O</a:t>
              </a:r>
            </a:p>
            <a:p>
              <a:pPr>
                <a:lnSpc>
                  <a:spcPct val="200000"/>
                </a:lnSpc>
              </a:pPr>
              <a:r>
                <a:rPr lang="en-US" altLang="ko-KR" sz="700" dirty="0">
                  <a:latin typeface="+mn-ea"/>
                </a:rPr>
                <a:t>1</a:t>
              </a:r>
            </a:p>
            <a:p>
              <a:pPr>
                <a:lnSpc>
                  <a:spcPct val="200000"/>
                </a:lnSpc>
              </a:pPr>
              <a:r>
                <a:rPr lang="en-US" altLang="ko-KR" sz="700" dirty="0">
                  <a:latin typeface="+mn-ea"/>
                </a:rPr>
                <a:t>2</a:t>
              </a:r>
            </a:p>
            <a:p>
              <a:pPr>
                <a:lnSpc>
                  <a:spcPct val="200000"/>
                </a:lnSpc>
              </a:pPr>
              <a:r>
                <a:rPr lang="en-US" altLang="ko-KR" sz="700" dirty="0">
                  <a:latin typeface="+mn-ea"/>
                </a:rPr>
                <a:t>Y</a:t>
              </a:r>
            </a:p>
            <a:p>
              <a:pPr>
                <a:lnSpc>
                  <a:spcPct val="200000"/>
                </a:lnSpc>
              </a:pPr>
              <a:r>
                <a:rPr lang="en-US" altLang="ko-KR" sz="700" dirty="0">
                  <a:latin typeface="+mn-ea"/>
                </a:rPr>
                <a:t>1</a:t>
              </a:r>
            </a:p>
            <a:p>
              <a:pPr>
                <a:lnSpc>
                  <a:spcPct val="200000"/>
                </a:lnSpc>
              </a:pPr>
              <a:r>
                <a:rPr lang="en-US" altLang="ko-KR" sz="700" dirty="0">
                  <a:solidFill>
                    <a:srgbClr val="0070C0"/>
                  </a:solidFill>
                  <a:latin typeface="+mn-ea"/>
                </a:rPr>
                <a:t>O</a:t>
              </a:r>
            </a:p>
            <a:p>
              <a:pPr>
                <a:lnSpc>
                  <a:spcPct val="200000"/>
                </a:lnSpc>
              </a:pPr>
              <a:r>
                <a:rPr lang="en-US" altLang="ko-KR" sz="700" dirty="0">
                  <a:latin typeface="+mn-ea"/>
                </a:rPr>
                <a:t>2025-03-25</a:t>
              </a:r>
            </a:p>
            <a:p>
              <a:pPr>
                <a:lnSpc>
                  <a:spcPct val="200000"/>
                </a:lnSpc>
              </a:pPr>
              <a:r>
                <a:rPr lang="en-US" altLang="ko-KR" sz="700" dirty="0">
                  <a:latin typeface="+mn-ea"/>
                </a:rPr>
                <a:t>2025-03-25</a:t>
              </a:r>
            </a:p>
          </p:txBody>
        </p:sp>
        <p:grpSp>
          <p:nvGrpSpPr>
            <p:cNvPr id="194" name="그룹 193"/>
            <p:cNvGrpSpPr/>
            <p:nvPr/>
          </p:nvGrpSpPr>
          <p:grpSpPr>
            <a:xfrm>
              <a:off x="701175" y="1835481"/>
              <a:ext cx="2630093" cy="3435840"/>
              <a:chOff x="701175" y="1835481"/>
              <a:chExt cx="2630093" cy="3435840"/>
            </a:xfrm>
          </p:grpSpPr>
          <p:cxnSp>
            <p:nvCxnSpPr>
              <p:cNvPr id="195" name="직선 연결선 194">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6" name="직선 연결선 195">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9" name="직선 연결선 198">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0" name="직선 연결선 209">
                <a:extLst>
                  <a:ext uri="{FF2B5EF4-FFF2-40B4-BE49-F238E27FC236}">
                    <a16:creationId xmlns:a16="http://schemas.microsoft.com/office/drawing/2014/main" id="{E9293055-D5CD-4B9E-7F64-64B2D2CA7A52}"/>
                  </a:ext>
                </a:extLst>
              </p:cNvPr>
              <p:cNvCxnSpPr/>
              <p:nvPr/>
            </p:nvCxnSpPr>
            <p:spPr>
              <a:xfrm>
                <a:off x="703268" y="50565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11" name="직선 연결선 210">
                <a:extLst>
                  <a:ext uri="{FF2B5EF4-FFF2-40B4-BE49-F238E27FC236}">
                    <a16:creationId xmlns:a16="http://schemas.microsoft.com/office/drawing/2014/main" id="{E9293055-D5CD-4B9E-7F64-64B2D2CA7A52}"/>
                  </a:ext>
                </a:extLst>
              </p:cNvPr>
              <p:cNvCxnSpPr/>
              <p:nvPr/>
            </p:nvCxnSpPr>
            <p:spPr>
              <a:xfrm>
                <a:off x="703268" y="52713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218" name="그룹 217"/>
          <p:cNvGrpSpPr/>
          <p:nvPr/>
        </p:nvGrpSpPr>
        <p:grpSpPr>
          <a:xfrm>
            <a:off x="3821510" y="2455385"/>
            <a:ext cx="2630093" cy="1567215"/>
            <a:chOff x="701175" y="1800646"/>
            <a:chExt cx="2630093" cy="1567215"/>
          </a:xfrm>
        </p:grpSpPr>
        <p:sp>
          <p:nvSpPr>
            <p:cNvPr id="219" name="직사각형 218"/>
            <p:cNvSpPr/>
            <p:nvPr/>
          </p:nvSpPr>
          <p:spPr>
            <a:xfrm>
              <a:off x="703268" y="1800646"/>
              <a:ext cx="792000" cy="156721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0" name="TextBox 219">
              <a:extLst>
                <a:ext uri="{FF2B5EF4-FFF2-40B4-BE49-F238E27FC236}">
                  <a16:creationId xmlns:a16="http://schemas.microsoft.com/office/drawing/2014/main" id="{FFC49AEA-2A8F-250C-A86A-A7751D9706C3}"/>
                </a:ext>
              </a:extLst>
            </p:cNvPr>
            <p:cNvSpPr txBox="1"/>
            <p:nvPr/>
          </p:nvSpPr>
          <p:spPr>
            <a:xfrm>
              <a:off x="790331" y="1835481"/>
              <a:ext cx="725552" cy="1508105"/>
            </a:xfrm>
            <a:prstGeom prst="rect">
              <a:avLst/>
            </a:prstGeom>
            <a:noFill/>
          </p:spPr>
          <p:txBody>
            <a:bodyPr wrap="square" lIns="0" tIns="0" rIns="0" bIns="0" rtlCol="0">
              <a:spAutoFit/>
            </a:bodyPr>
            <a:lstStyle/>
            <a:p>
              <a:pPr>
                <a:lnSpc>
                  <a:spcPct val="200000"/>
                </a:lnSpc>
              </a:pPr>
              <a:r>
                <a:rPr lang="ko-KR" altLang="en-US" sz="700" dirty="0">
                  <a:latin typeface="+mn-ea"/>
                </a:rPr>
                <a:t>납기</a:t>
              </a:r>
              <a:r>
                <a:rPr lang="en-US" altLang="ko-KR" sz="700" dirty="0">
                  <a:latin typeface="+mn-ea"/>
                </a:rPr>
                <a:t>(</a:t>
              </a:r>
              <a:r>
                <a:rPr lang="ko-KR" altLang="en-US" sz="700" dirty="0">
                  <a:latin typeface="+mn-ea"/>
                </a:rPr>
                <a:t>장국</a:t>
              </a:r>
              <a:r>
                <a:rPr lang="en-US" altLang="ko-KR" sz="700" dirty="0">
                  <a:latin typeface="+mn-ea"/>
                </a:rPr>
                <a:t>)</a:t>
              </a:r>
            </a:p>
            <a:p>
              <a:pPr>
                <a:lnSpc>
                  <a:spcPct val="200000"/>
                </a:lnSpc>
              </a:pPr>
              <a:r>
                <a:rPr lang="ko-KR" altLang="en-US" sz="700" dirty="0" err="1">
                  <a:latin typeface="+mn-ea"/>
                </a:rPr>
                <a:t>달러환산율</a:t>
              </a:r>
              <a:endParaRPr lang="ko-KR" altLang="en-US" sz="700" dirty="0">
                <a:latin typeface="+mn-ea"/>
              </a:endParaRPr>
            </a:p>
            <a:p>
              <a:pPr>
                <a:lnSpc>
                  <a:spcPct val="200000"/>
                </a:lnSpc>
              </a:pPr>
              <a:r>
                <a:rPr lang="ko-KR" altLang="en-US" sz="700" dirty="0" err="1">
                  <a:latin typeface="+mn-ea"/>
                </a:rPr>
                <a:t>입찰단가</a:t>
              </a:r>
              <a:endParaRPr lang="ko-KR" altLang="en-US" sz="700" dirty="0">
                <a:latin typeface="+mn-ea"/>
              </a:endParaRPr>
            </a:p>
            <a:p>
              <a:pPr>
                <a:lnSpc>
                  <a:spcPct val="200000"/>
                </a:lnSpc>
              </a:pPr>
              <a:r>
                <a:rPr lang="ko-KR" altLang="en-US" sz="700" dirty="0">
                  <a:latin typeface="+mn-ea"/>
                </a:rPr>
                <a:t>입찰금액</a:t>
              </a:r>
            </a:p>
            <a:p>
              <a:pPr>
                <a:lnSpc>
                  <a:spcPct val="200000"/>
                </a:lnSpc>
              </a:pPr>
              <a:r>
                <a:rPr lang="ko-KR" altLang="en-US" sz="700" dirty="0">
                  <a:latin typeface="+mn-ea"/>
                </a:rPr>
                <a:t>화폐단위</a:t>
              </a:r>
            </a:p>
            <a:p>
              <a:pPr>
                <a:lnSpc>
                  <a:spcPct val="200000"/>
                </a:lnSpc>
              </a:pPr>
              <a:r>
                <a:rPr lang="ko-KR" altLang="en-US" sz="700" dirty="0" err="1">
                  <a:latin typeface="+mn-ea"/>
                </a:rPr>
                <a:t>달러단가</a:t>
              </a:r>
              <a:endParaRPr lang="ko-KR" altLang="en-US" sz="700" dirty="0">
                <a:latin typeface="+mn-ea"/>
              </a:endParaRPr>
            </a:p>
            <a:p>
              <a:pPr>
                <a:lnSpc>
                  <a:spcPct val="200000"/>
                </a:lnSpc>
              </a:pPr>
              <a:r>
                <a:rPr lang="ko-KR" altLang="en-US" sz="700" dirty="0" err="1">
                  <a:latin typeface="+mn-ea"/>
                </a:rPr>
                <a:t>달러금액</a:t>
              </a:r>
              <a:endParaRPr lang="ko-KR" altLang="en-US" sz="700" dirty="0">
                <a:latin typeface="+mn-ea"/>
              </a:endParaRPr>
            </a:p>
          </p:txBody>
        </p:sp>
        <p:sp>
          <p:nvSpPr>
            <p:cNvPr id="223" name="TextBox 222">
              <a:extLst>
                <a:ext uri="{FF2B5EF4-FFF2-40B4-BE49-F238E27FC236}">
                  <a16:creationId xmlns:a16="http://schemas.microsoft.com/office/drawing/2014/main" id="{FFC49AEA-2A8F-250C-A86A-A7751D9706C3}"/>
                </a:ext>
              </a:extLst>
            </p:cNvPr>
            <p:cNvSpPr txBox="1"/>
            <p:nvPr/>
          </p:nvSpPr>
          <p:spPr>
            <a:xfrm>
              <a:off x="1547180" y="1835481"/>
              <a:ext cx="1775839" cy="1508105"/>
            </a:xfrm>
            <a:prstGeom prst="rect">
              <a:avLst/>
            </a:prstGeom>
            <a:noFill/>
          </p:spPr>
          <p:txBody>
            <a:bodyPr wrap="square" lIns="0" tIns="0" rIns="0" bIns="0" rtlCol="0">
              <a:spAutoFit/>
            </a:bodyPr>
            <a:lstStyle/>
            <a:p>
              <a:pPr>
                <a:lnSpc>
                  <a:spcPct val="200000"/>
                </a:lnSpc>
              </a:pPr>
              <a:r>
                <a:rPr lang="en-US" altLang="ko-KR" sz="700" dirty="0">
                  <a:latin typeface="+mn-ea"/>
                </a:rPr>
                <a:t>2025-03-25</a:t>
              </a:r>
            </a:p>
            <a:p>
              <a:pPr algn="r">
                <a:lnSpc>
                  <a:spcPct val="200000"/>
                </a:lnSpc>
              </a:pPr>
              <a:r>
                <a:rPr lang="en-US" altLang="ko-KR" sz="700" dirty="0">
                  <a:latin typeface="+mn-ea"/>
                </a:rPr>
                <a:t>1.0000 USD</a:t>
              </a:r>
            </a:p>
            <a:p>
              <a:pPr algn="r">
                <a:lnSpc>
                  <a:spcPct val="200000"/>
                </a:lnSpc>
              </a:pPr>
              <a:r>
                <a:rPr lang="en-US" altLang="ko-KR" sz="700" dirty="0">
                  <a:latin typeface="+mn-ea"/>
                </a:rPr>
                <a:t>608,000.00</a:t>
              </a:r>
            </a:p>
            <a:p>
              <a:pPr algn="r">
                <a:lnSpc>
                  <a:spcPct val="200000"/>
                </a:lnSpc>
              </a:pPr>
              <a:r>
                <a:rPr lang="en-US" altLang="ko-KR" sz="700" dirty="0">
                  <a:latin typeface="+mn-ea"/>
                </a:rPr>
                <a:t>608,000.00</a:t>
              </a:r>
            </a:p>
            <a:p>
              <a:pPr>
                <a:lnSpc>
                  <a:spcPct val="200000"/>
                </a:lnSpc>
              </a:pPr>
              <a:r>
                <a:rPr lang="ko-KR" altLang="en-US" sz="700" dirty="0">
                  <a:latin typeface="+mn-ea"/>
                </a:rPr>
                <a:t>미 달러</a:t>
              </a:r>
              <a:endParaRPr lang="en-US" altLang="ko-KR" sz="700" dirty="0">
                <a:latin typeface="+mn-ea"/>
              </a:endParaRPr>
            </a:p>
            <a:p>
              <a:pPr algn="r">
                <a:lnSpc>
                  <a:spcPct val="200000"/>
                </a:lnSpc>
              </a:pPr>
              <a:r>
                <a:rPr lang="en-US" altLang="ko-KR" sz="700" dirty="0">
                  <a:solidFill>
                    <a:schemeClr val="tx1">
                      <a:lumMod val="85000"/>
                      <a:lumOff val="15000"/>
                    </a:schemeClr>
                  </a:solidFill>
                  <a:latin typeface="맑은 고딕" panose="020B0503020000020004" pitchFamily="50" charset="-127"/>
                </a:rPr>
                <a:t>1,464.30 KRW</a:t>
              </a:r>
            </a:p>
            <a:p>
              <a:pPr algn="r">
                <a:lnSpc>
                  <a:spcPct val="200000"/>
                </a:lnSpc>
              </a:pPr>
              <a:r>
                <a:rPr lang="en-US" altLang="ko-KR" sz="700" dirty="0">
                  <a:latin typeface="+mn-ea"/>
                </a:rPr>
                <a:t>608,000.00</a:t>
              </a:r>
            </a:p>
          </p:txBody>
        </p:sp>
        <p:grpSp>
          <p:nvGrpSpPr>
            <p:cNvPr id="224" name="그룹 223"/>
            <p:cNvGrpSpPr/>
            <p:nvPr/>
          </p:nvGrpSpPr>
          <p:grpSpPr>
            <a:xfrm>
              <a:off x="701175" y="1835481"/>
              <a:ext cx="2630093" cy="1524858"/>
              <a:chOff x="701175" y="1835481"/>
              <a:chExt cx="2630093" cy="1524858"/>
            </a:xfrm>
          </p:grpSpPr>
          <p:cxnSp>
            <p:nvCxnSpPr>
              <p:cNvPr id="226" name="직선 연결선 22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7" name="직선 연결선 22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8" name="직선 연결선 22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9" name="직선 연결선 228">
                <a:extLst>
                  <a:ext uri="{FF2B5EF4-FFF2-40B4-BE49-F238E27FC236}">
                    <a16:creationId xmlns:a16="http://schemas.microsoft.com/office/drawing/2014/main" id="{E9293055-D5CD-4B9E-7F64-64B2D2CA7A52}"/>
                  </a:ext>
                </a:extLst>
              </p:cNvPr>
              <p:cNvCxnSpPr/>
              <p:nvPr/>
            </p:nvCxnSpPr>
            <p:spPr>
              <a:xfrm>
                <a:off x="703268" y="24915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0" name="직선 연결선 229">
                <a:extLst>
                  <a:ext uri="{FF2B5EF4-FFF2-40B4-BE49-F238E27FC236}">
                    <a16:creationId xmlns:a16="http://schemas.microsoft.com/office/drawing/2014/main" id="{E9293055-D5CD-4B9E-7F64-64B2D2CA7A52}"/>
                  </a:ext>
                </a:extLst>
              </p:cNvPr>
              <p:cNvCxnSpPr/>
              <p:nvPr/>
            </p:nvCxnSpPr>
            <p:spPr>
              <a:xfrm>
                <a:off x="703268" y="270704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1" name="직선 연결선 230">
                <a:extLst>
                  <a:ext uri="{FF2B5EF4-FFF2-40B4-BE49-F238E27FC236}">
                    <a16:creationId xmlns:a16="http://schemas.microsoft.com/office/drawing/2014/main" id="{E9293055-D5CD-4B9E-7F64-64B2D2CA7A52}"/>
                  </a:ext>
                </a:extLst>
              </p:cNvPr>
              <p:cNvCxnSpPr/>
              <p:nvPr/>
            </p:nvCxnSpPr>
            <p:spPr>
              <a:xfrm>
                <a:off x="703268" y="292178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03268" y="31484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03268" y="336033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34" name="직사각형 233"/>
          <p:cNvSpPr/>
          <p:nvPr/>
        </p:nvSpPr>
        <p:spPr>
          <a:xfrm>
            <a:off x="3820170" y="4315067"/>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TextBox 234">
            <a:extLst>
              <a:ext uri="{FF2B5EF4-FFF2-40B4-BE49-F238E27FC236}">
                <a16:creationId xmlns:a16="http://schemas.microsoft.com/office/drawing/2014/main" id="{FFC49AEA-2A8F-250C-A86A-A7751D9706C3}"/>
              </a:ext>
            </a:extLst>
          </p:cNvPr>
          <p:cNvSpPr txBox="1"/>
          <p:nvPr/>
        </p:nvSpPr>
        <p:spPr>
          <a:xfrm>
            <a:off x="3910666" y="4315068"/>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p:txBody>
      </p:sp>
      <p:grpSp>
        <p:nvGrpSpPr>
          <p:cNvPr id="236" name="그룹 235"/>
          <p:cNvGrpSpPr/>
          <p:nvPr/>
        </p:nvGrpSpPr>
        <p:grpSpPr>
          <a:xfrm>
            <a:off x="3821510" y="4315068"/>
            <a:ext cx="2630093" cy="1075182"/>
            <a:chOff x="701175" y="1835481"/>
            <a:chExt cx="2630093" cy="1075182"/>
          </a:xfrm>
        </p:grpSpPr>
        <p:cxnSp>
          <p:nvCxnSpPr>
            <p:cNvPr id="237" name="직선 연결선 23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8" name="직선 연결선 23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1" name="직선 연결선 24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2" name="직선 연결선 241">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43" name="TextBox 242">
            <a:extLst>
              <a:ext uri="{FF2B5EF4-FFF2-40B4-BE49-F238E27FC236}">
                <a16:creationId xmlns:a16="http://schemas.microsoft.com/office/drawing/2014/main" id="{FFC49AEA-2A8F-250C-A86A-A7751D9706C3}"/>
              </a:ext>
            </a:extLst>
          </p:cNvPr>
          <p:cNvSpPr txBox="1"/>
          <p:nvPr/>
        </p:nvSpPr>
        <p:spPr>
          <a:xfrm>
            <a:off x="4667515" y="4315068"/>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a:t>
            </a:r>
            <a:endParaRPr lang="en-US" altLang="ko-KR" sz="700" dirty="0">
              <a:latin typeface="+mn-ea"/>
            </a:endParaRPr>
          </a:p>
        </p:txBody>
      </p:sp>
      <p:sp>
        <p:nvSpPr>
          <p:cNvPr id="246" name="사각형: 둥근 모서리 15">
            <a:extLst>
              <a:ext uri="{FF2B5EF4-FFF2-40B4-BE49-F238E27FC236}">
                <a16:creationId xmlns:a16="http://schemas.microsoft.com/office/drawing/2014/main" id="{E2B61CFB-AD16-68D0-8752-50D9C5E01971}"/>
              </a:ext>
            </a:extLst>
          </p:cNvPr>
          <p:cNvSpPr/>
          <p:nvPr/>
        </p:nvSpPr>
        <p:spPr>
          <a:xfrm>
            <a:off x="3933132" y="5200567"/>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sp>
        <p:nvSpPr>
          <p:cNvPr id="247" name="사각형: 둥근 모서리 15">
            <a:extLst>
              <a:ext uri="{FF2B5EF4-FFF2-40B4-BE49-F238E27FC236}">
                <a16:creationId xmlns:a16="http://schemas.microsoft.com/office/drawing/2014/main" id="{E2B61CFB-AD16-68D0-8752-50D9C5E01971}"/>
              </a:ext>
            </a:extLst>
          </p:cNvPr>
          <p:cNvSpPr/>
          <p:nvPr/>
        </p:nvSpPr>
        <p:spPr>
          <a:xfrm>
            <a:off x="3933132" y="4060205"/>
            <a:ext cx="2482324"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내역 접기 ↑</a:t>
            </a:r>
            <a:endParaRPr kumimoji="1" lang="en-US" sz="700" b="0" i="0" u="none" strike="noStrike" kern="0" cap="none" spc="0" normalizeH="0" baseline="0" noProof="0" dirty="0">
              <a:ln>
                <a:noFill/>
              </a:ln>
              <a:effectLst/>
              <a:uLnTx/>
              <a:uFillTx/>
              <a:latin typeface="맑은 고딕"/>
            </a:endParaRPr>
          </a:p>
        </p:txBody>
      </p:sp>
      <p:sp>
        <p:nvSpPr>
          <p:cNvPr id="248" name="사각형: 둥근 모서리 15">
            <a:extLst>
              <a:ext uri="{FF2B5EF4-FFF2-40B4-BE49-F238E27FC236}">
                <a16:creationId xmlns:a16="http://schemas.microsoft.com/office/drawing/2014/main" id="{E2B61CFB-AD16-68D0-8752-50D9C5E01971}"/>
              </a:ext>
            </a:extLst>
          </p:cNvPr>
          <p:cNvSpPr/>
          <p:nvPr/>
        </p:nvSpPr>
        <p:spPr>
          <a:xfrm>
            <a:off x="2836921" y="4546899"/>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249" name="사각형: 둥근 모서리 15">
            <a:extLst>
              <a:ext uri="{FF2B5EF4-FFF2-40B4-BE49-F238E27FC236}">
                <a16:creationId xmlns:a16="http://schemas.microsoft.com/office/drawing/2014/main" id="{E2B61CFB-AD16-68D0-8752-50D9C5E01971}"/>
              </a:ext>
            </a:extLst>
          </p:cNvPr>
          <p:cNvSpPr/>
          <p:nvPr/>
        </p:nvSpPr>
        <p:spPr>
          <a:xfrm>
            <a:off x="2836921" y="5617202"/>
            <a:ext cx="494347" cy="162000"/>
          </a:xfrm>
          <a:prstGeom prst="roundRect">
            <a:avLst/>
          </a:prstGeom>
          <a:noFill/>
          <a:ln w="12700" cap="flat" cmpd="sng" algn="ctr">
            <a:solidFill>
              <a:srgbClr val="0070C0"/>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solidFill>
                  <a:srgbClr val="0070C0"/>
                </a:solidFill>
              </a:rPr>
              <a:t>보기</a:t>
            </a:r>
            <a:endParaRPr kumimoji="1" lang="en-US" altLang="ko-KR" sz="700" kern="0" dirty="0">
              <a:solidFill>
                <a:srgbClr val="0070C0"/>
              </a:solidFill>
            </a:endParaRPr>
          </a:p>
        </p:txBody>
      </p:sp>
      <p:grpSp>
        <p:nvGrpSpPr>
          <p:cNvPr id="130" name="그룹 129"/>
          <p:cNvGrpSpPr/>
          <p:nvPr/>
        </p:nvGrpSpPr>
        <p:grpSpPr>
          <a:xfrm>
            <a:off x="3795734" y="2084581"/>
            <a:ext cx="2712027" cy="337161"/>
            <a:chOff x="675399" y="3557901"/>
            <a:chExt cx="2712027" cy="337161"/>
          </a:xfrm>
        </p:grpSpPr>
        <p:cxnSp>
          <p:nvCxnSpPr>
            <p:cNvPr id="131" name="직선 연결선 130">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2" name="TextBox 131">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입찰참여품목</a:t>
              </a:r>
            </a:p>
          </p:txBody>
        </p:sp>
        <p:sp>
          <p:nvSpPr>
            <p:cNvPr id="134" name="TextBox 133">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1903958" y="3895062"/>
              <a:ext cx="647376"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2924086" y="3640332"/>
              <a:ext cx="422853" cy="187961"/>
              <a:chOff x="3641308" y="2234886"/>
              <a:chExt cx="422853" cy="187961"/>
            </a:xfrm>
          </p:grpSpPr>
          <p:sp>
            <p:nvSpPr>
              <p:cNvPr id="140" name="타원 13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rot="5400000" flipH="1">
                <a:off x="3679895" y="2305364"/>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0" name="직선 연결선 1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2" name="타원 14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3" name="그룹 142"/>
              <p:cNvGrpSpPr/>
              <p:nvPr/>
            </p:nvGrpSpPr>
            <p:grpSpPr>
              <a:xfrm rot="16200000">
                <a:off x="3931564" y="2305364"/>
                <a:ext cx="94010" cy="47005"/>
                <a:chOff x="6812560" y="3297172"/>
                <a:chExt cx="94010" cy="47005"/>
              </a:xfrm>
            </p:grpSpPr>
            <p:cxnSp>
              <p:nvCxnSpPr>
                <p:cNvPr id="144" name="직선 연결선 1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7" name="직선 연결선 1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7" name="직선 연결선 136">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TextBox 138">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55" name="그룹 154"/>
          <p:cNvGrpSpPr/>
          <p:nvPr/>
        </p:nvGrpSpPr>
        <p:grpSpPr>
          <a:xfrm>
            <a:off x="675400" y="2084581"/>
            <a:ext cx="2712027" cy="337161"/>
            <a:chOff x="675399" y="3557901"/>
            <a:chExt cx="2712027" cy="337161"/>
          </a:xfrm>
        </p:grpSpPr>
        <p:cxnSp>
          <p:nvCxnSpPr>
            <p:cNvPr id="156" name="직선 연결선 155">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0" name="TextBox 159">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입찰참여품목</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1897519" y="3895062"/>
              <a:ext cx="66669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7" name="그룹 166"/>
            <p:cNvGrpSpPr/>
            <p:nvPr/>
          </p:nvGrpSpPr>
          <p:grpSpPr>
            <a:xfrm>
              <a:off x="2924086" y="3640332"/>
              <a:ext cx="422853" cy="187961"/>
              <a:chOff x="3641308" y="2234886"/>
              <a:chExt cx="422853" cy="187961"/>
            </a:xfrm>
          </p:grpSpPr>
          <p:sp>
            <p:nvSpPr>
              <p:cNvPr id="171" name="타원 17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2" name="그룹 171"/>
              <p:cNvGrpSpPr/>
              <p:nvPr/>
            </p:nvGrpSpPr>
            <p:grpSpPr>
              <a:xfrm rot="5400000" flipH="1">
                <a:off x="3679895" y="2305364"/>
                <a:ext cx="94010" cy="47005"/>
                <a:chOff x="6812560" y="3297172"/>
                <a:chExt cx="94010" cy="47005"/>
              </a:xfrm>
            </p:grpSpPr>
            <p:cxnSp>
              <p:nvCxnSpPr>
                <p:cNvPr id="177" name="직선 연결선 17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8" name="직선 연결선 17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타원 17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4" name="그룹 173"/>
              <p:cNvGrpSpPr/>
              <p:nvPr/>
            </p:nvGrpSpPr>
            <p:grpSpPr>
              <a:xfrm rot="16200000">
                <a:off x="3931564" y="2305364"/>
                <a:ext cx="94010" cy="47005"/>
                <a:chOff x="6812560" y="3297172"/>
                <a:chExt cx="94010" cy="47005"/>
              </a:xfrm>
            </p:grpSpPr>
            <p:cxnSp>
              <p:nvCxnSpPr>
                <p:cNvPr id="175" name="직선 연결선 17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6" name="직선 연결선 17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68" name="직선 연결선 167">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TextBox 169">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Tree>
    <p:extLst>
      <p:ext uri="{BB962C8B-B14F-4D97-AF65-F5344CB8AC3E}">
        <p14:creationId xmlns:p14="http://schemas.microsoft.com/office/powerpoint/2010/main" val="3152719787"/>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err="1"/>
              <a:t>입찰내역</a:t>
            </a:r>
            <a:r>
              <a:rPr lang="en-US" altLang="ko-KR" dirty="0"/>
              <a:t>(</a:t>
            </a:r>
            <a:r>
              <a:rPr lang="ko-KR" altLang="en-US" dirty="0" err="1"/>
              <a:t>총액제</a:t>
            </a:r>
            <a:r>
              <a:rPr lang="en-US" altLang="ko-KR" dirty="0"/>
              <a:t>) </a:t>
            </a:r>
            <a:r>
              <a:rPr lang="ko-KR" altLang="en-US" dirty="0"/>
              <a:t>데이터 영역</a:t>
            </a:r>
            <a:endParaRPr lang="en-US" altLang="ko-KR" dirty="0"/>
          </a:p>
          <a:p>
            <a:pPr marL="228600" indent="-228600">
              <a:buFont typeface="+mj-lt"/>
              <a:buAutoNum type="arabicPeriod"/>
            </a:pPr>
            <a:r>
              <a:rPr lang="ko-KR" altLang="en-US" dirty="0" err="1"/>
              <a:t>입찰품목</a:t>
            </a:r>
            <a:r>
              <a:rPr lang="en-US" altLang="ko-KR" dirty="0"/>
              <a:t>(</a:t>
            </a:r>
            <a:r>
              <a:rPr lang="ko-KR" altLang="en-US" dirty="0" err="1"/>
              <a:t>총액제</a:t>
            </a:r>
            <a:r>
              <a:rPr lang="en-US" altLang="ko-KR" dirty="0"/>
              <a:t>)</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377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입찰참여품목 </a:t>
            </a:r>
            <a:r>
              <a:rPr lang="en-US" altLang="ko-KR" dirty="0">
                <a:latin typeface="+mn-ea"/>
              </a:rPr>
              <a:t>(</a:t>
            </a:r>
            <a:r>
              <a:rPr lang="ko-KR" altLang="en-US" dirty="0" err="1">
                <a:latin typeface="+mn-ea"/>
              </a:rPr>
              <a:t>총액제</a:t>
            </a:r>
            <a:r>
              <a:rPr lang="en-US" altLang="ko-KR" dirty="0">
                <a:latin typeface="+mn-ea"/>
              </a:rPr>
              <a:t>)</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조달업체가</a:t>
            </a:r>
            <a:r>
              <a:rPr lang="ko-KR" altLang="en-US" dirty="0">
                <a:latin typeface="+mn-ea"/>
              </a:rPr>
              <a:t> 제출한 입찰서를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입찰참여품목</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MUI-BD-06-M78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380816"/>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273" name="그룹 272"/>
          <p:cNvGrpSpPr/>
          <p:nvPr/>
        </p:nvGrpSpPr>
        <p:grpSpPr>
          <a:xfrm>
            <a:off x="3795734" y="1578465"/>
            <a:ext cx="2712027" cy="508898"/>
            <a:chOff x="3795734" y="1602341"/>
            <a:chExt cx="2712027" cy="508898"/>
          </a:xfrm>
        </p:grpSpPr>
        <p:sp>
          <p:nvSpPr>
            <p:cNvPr id="274"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75" name="모서리가 둥근 직사각형 274"/>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76" name="모서리가 둥근 직사각형 275"/>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77" name="직선 연결선 276">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173195"/>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10" name="TextBox 10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194" name="직사각형 193"/>
          <p:cNvSpPr/>
          <p:nvPr/>
        </p:nvSpPr>
        <p:spPr>
          <a:xfrm>
            <a:off x="722060" y="2791902"/>
            <a:ext cx="792000" cy="106089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5" name="TextBox 194">
            <a:extLst>
              <a:ext uri="{FF2B5EF4-FFF2-40B4-BE49-F238E27FC236}">
                <a16:creationId xmlns:a16="http://schemas.microsoft.com/office/drawing/2014/main" id="{FFC49AEA-2A8F-250C-A86A-A7751D9706C3}"/>
              </a:ext>
            </a:extLst>
          </p:cNvPr>
          <p:cNvSpPr txBox="1"/>
          <p:nvPr/>
        </p:nvSpPr>
        <p:spPr>
          <a:xfrm>
            <a:off x="762146" y="4076703"/>
            <a:ext cx="1270852" cy="215444"/>
          </a:xfrm>
          <a:prstGeom prst="rect">
            <a:avLst/>
          </a:prstGeom>
          <a:noFill/>
        </p:spPr>
        <p:txBody>
          <a:bodyPr wrap="square" lIns="0" tIns="0" rIns="0" bIns="0" rtlCol="0">
            <a:spAutoFit/>
          </a:bodyPr>
          <a:lstStyle/>
          <a:p>
            <a:pPr>
              <a:lnSpc>
                <a:spcPct val="200000"/>
              </a:lnSpc>
            </a:pPr>
            <a:r>
              <a:rPr lang="ko-KR" altLang="en-US" sz="700" dirty="0">
                <a:latin typeface="+mn-ea"/>
              </a:rPr>
              <a:t>입찰 품목</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96" name="직사각형 195"/>
          <p:cNvSpPr/>
          <p:nvPr/>
        </p:nvSpPr>
        <p:spPr>
          <a:xfrm>
            <a:off x="703268" y="4384189"/>
            <a:ext cx="792000" cy="12884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7" name="TextBox 196">
            <a:extLst>
              <a:ext uri="{FF2B5EF4-FFF2-40B4-BE49-F238E27FC236}">
                <a16:creationId xmlns:a16="http://schemas.microsoft.com/office/drawing/2014/main" id="{FFC49AEA-2A8F-250C-A86A-A7751D9706C3}"/>
              </a:ext>
            </a:extLst>
          </p:cNvPr>
          <p:cNvSpPr txBox="1"/>
          <p:nvPr/>
        </p:nvSpPr>
        <p:spPr>
          <a:xfrm>
            <a:off x="790331" y="4384188"/>
            <a:ext cx="725552" cy="1292662"/>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p:txBody>
      </p:sp>
      <p:grpSp>
        <p:nvGrpSpPr>
          <p:cNvPr id="198" name="그룹 197"/>
          <p:cNvGrpSpPr/>
          <p:nvPr/>
        </p:nvGrpSpPr>
        <p:grpSpPr>
          <a:xfrm>
            <a:off x="701175" y="4384188"/>
            <a:ext cx="2630093" cy="1288440"/>
            <a:chOff x="701175" y="1835481"/>
            <a:chExt cx="2630093" cy="1288440"/>
          </a:xfrm>
        </p:grpSpPr>
        <p:cxnSp>
          <p:nvCxnSpPr>
            <p:cNvPr id="199" name="직선 연결선 19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0" name="TextBox 209">
            <a:extLst>
              <a:ext uri="{FF2B5EF4-FFF2-40B4-BE49-F238E27FC236}">
                <a16:creationId xmlns:a16="http://schemas.microsoft.com/office/drawing/2014/main" id="{FFC49AEA-2A8F-250C-A86A-A7751D9706C3}"/>
              </a:ext>
            </a:extLst>
          </p:cNvPr>
          <p:cNvSpPr txBox="1"/>
          <p:nvPr/>
        </p:nvSpPr>
        <p:spPr>
          <a:xfrm>
            <a:off x="1547180" y="4384188"/>
            <a:ext cx="1784088" cy="129266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p:txBody>
      </p:sp>
      <p:sp>
        <p:nvSpPr>
          <p:cNvPr id="215" name="TextBox 214">
            <a:extLst>
              <a:ext uri="{FF2B5EF4-FFF2-40B4-BE49-F238E27FC236}">
                <a16:creationId xmlns:a16="http://schemas.microsoft.com/office/drawing/2014/main" id="{FFC49AEA-2A8F-250C-A86A-A7751D9706C3}"/>
              </a:ext>
            </a:extLst>
          </p:cNvPr>
          <p:cNvSpPr txBox="1"/>
          <p:nvPr/>
        </p:nvSpPr>
        <p:spPr>
          <a:xfrm>
            <a:off x="762146" y="2483140"/>
            <a:ext cx="1270852" cy="181140"/>
          </a:xfrm>
          <a:prstGeom prst="rect">
            <a:avLst/>
          </a:prstGeom>
          <a:noFill/>
        </p:spPr>
        <p:txBody>
          <a:bodyPr wrap="square" lIns="0" tIns="0" rIns="0" bIns="0" rtlCol="0">
            <a:spAutoFit/>
          </a:bodyPr>
          <a:lstStyle/>
          <a:p>
            <a:pPr>
              <a:lnSpc>
                <a:spcPct val="200000"/>
              </a:lnSpc>
            </a:pPr>
            <a:r>
              <a:rPr lang="ko-KR" altLang="en-US" sz="700" dirty="0" err="1">
                <a:latin typeface="+mn-ea"/>
              </a:rPr>
              <a:t>입찰내역</a:t>
            </a:r>
            <a:endParaRPr lang="ko-KR" altLang="en-US" sz="700" dirty="0">
              <a:latin typeface="+mn-ea"/>
            </a:endParaRPr>
          </a:p>
        </p:txBody>
      </p:sp>
      <p:grpSp>
        <p:nvGrpSpPr>
          <p:cNvPr id="216" name="그룹 215"/>
          <p:cNvGrpSpPr/>
          <p:nvPr/>
        </p:nvGrpSpPr>
        <p:grpSpPr>
          <a:xfrm flipV="1">
            <a:off x="3124233" y="2596471"/>
            <a:ext cx="94010" cy="47005"/>
            <a:chOff x="6812560" y="3297172"/>
            <a:chExt cx="94010" cy="47005"/>
          </a:xfrm>
        </p:grpSpPr>
        <p:cxnSp>
          <p:nvCxnSpPr>
            <p:cNvPr id="217" name="직선 연결선 21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18" name="직선 연결선 21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cxnSp>
        <p:nvCxnSpPr>
          <p:cNvPr id="219" name="직선 연결선 218">
            <a:extLst>
              <a:ext uri="{FF2B5EF4-FFF2-40B4-BE49-F238E27FC236}">
                <a16:creationId xmlns:a16="http://schemas.microsoft.com/office/drawing/2014/main" id="{E9293055-D5CD-4B9E-7F64-64B2D2CA7A52}"/>
              </a:ext>
            </a:extLst>
          </p:cNvPr>
          <p:cNvCxnSpPr/>
          <p:nvPr/>
        </p:nvCxnSpPr>
        <p:spPr>
          <a:xfrm>
            <a:off x="720490" y="2780832"/>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0" name="직선 연결선 219">
            <a:extLst>
              <a:ext uri="{FF2B5EF4-FFF2-40B4-BE49-F238E27FC236}">
                <a16:creationId xmlns:a16="http://schemas.microsoft.com/office/drawing/2014/main" id="{E9293055-D5CD-4B9E-7F64-64B2D2CA7A52}"/>
              </a:ext>
            </a:extLst>
          </p:cNvPr>
          <p:cNvCxnSpPr/>
          <p:nvPr/>
        </p:nvCxnSpPr>
        <p:spPr>
          <a:xfrm>
            <a:off x="720490" y="29868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3" name="직선 연결선 222">
            <a:extLst>
              <a:ext uri="{FF2B5EF4-FFF2-40B4-BE49-F238E27FC236}">
                <a16:creationId xmlns:a16="http://schemas.microsoft.com/office/drawing/2014/main" id="{E9293055-D5CD-4B9E-7F64-64B2D2CA7A52}"/>
              </a:ext>
            </a:extLst>
          </p:cNvPr>
          <p:cNvCxnSpPr/>
          <p:nvPr/>
        </p:nvCxnSpPr>
        <p:spPr>
          <a:xfrm>
            <a:off x="675399" y="4034956"/>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720490" y="320439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6" name="TextBox 225">
            <a:extLst>
              <a:ext uri="{FF2B5EF4-FFF2-40B4-BE49-F238E27FC236}">
                <a16:creationId xmlns:a16="http://schemas.microsoft.com/office/drawing/2014/main" id="{FFC49AEA-2A8F-250C-A86A-A7751D9706C3}"/>
              </a:ext>
            </a:extLst>
          </p:cNvPr>
          <p:cNvSpPr txBox="1"/>
          <p:nvPr/>
        </p:nvSpPr>
        <p:spPr>
          <a:xfrm>
            <a:off x="790331" y="2762746"/>
            <a:ext cx="725552" cy="1077218"/>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en-US" altLang="ko-KR" sz="700" dirty="0">
              <a:latin typeface="+mn-ea"/>
            </a:endParaRPr>
          </a:p>
          <a:p>
            <a:pPr>
              <a:lnSpc>
                <a:spcPct val="200000"/>
              </a:lnSpc>
            </a:pPr>
            <a:r>
              <a:rPr lang="ko-KR" altLang="en-US" sz="700" dirty="0">
                <a:latin typeface="+mn-ea"/>
              </a:rPr>
              <a:t>화폐단위</a:t>
            </a:r>
            <a:endParaRPr lang="en-US" altLang="ko-KR" sz="700" dirty="0">
              <a:latin typeface="+mn-ea"/>
            </a:endParaRPr>
          </a:p>
          <a:p>
            <a:pPr>
              <a:lnSpc>
                <a:spcPct val="200000"/>
              </a:lnSpc>
            </a:pPr>
            <a:r>
              <a:rPr lang="ko-KR" altLang="en-US" sz="700" dirty="0">
                <a:latin typeface="+mn-ea"/>
              </a:rPr>
              <a:t>입찰금액</a:t>
            </a:r>
            <a:endParaRPr lang="en-US" altLang="ko-KR" sz="700" dirty="0">
              <a:latin typeface="+mn-ea"/>
            </a:endParaRPr>
          </a:p>
          <a:p>
            <a:pPr>
              <a:lnSpc>
                <a:spcPct val="200000"/>
              </a:lnSpc>
            </a:pPr>
            <a:r>
              <a:rPr lang="ko-KR" altLang="en-US" sz="700" dirty="0" err="1">
                <a:latin typeface="+mn-ea"/>
              </a:rPr>
              <a:t>달러금액</a:t>
            </a:r>
            <a:endParaRPr lang="en-US" altLang="ko-KR" sz="700" dirty="0">
              <a:latin typeface="+mn-ea"/>
            </a:endParaRPr>
          </a:p>
          <a:p>
            <a:pPr>
              <a:lnSpc>
                <a:spcPct val="200000"/>
              </a:lnSpc>
            </a:pPr>
            <a:r>
              <a:rPr lang="ko-KR" altLang="en-US" sz="700" dirty="0" err="1">
                <a:latin typeface="+mn-ea"/>
              </a:rPr>
              <a:t>달러환산율</a:t>
            </a:r>
            <a:endParaRPr lang="ko-KR" altLang="en-US" sz="700" dirty="0">
              <a:latin typeface="+mn-ea"/>
            </a:endParaRPr>
          </a:p>
        </p:txBody>
      </p:sp>
      <p:cxnSp>
        <p:nvCxnSpPr>
          <p:cNvPr id="231" name="직선 연결선 230">
            <a:extLst>
              <a:ext uri="{FF2B5EF4-FFF2-40B4-BE49-F238E27FC236}">
                <a16:creationId xmlns:a16="http://schemas.microsoft.com/office/drawing/2014/main" id="{E9293055-D5CD-4B9E-7F64-64B2D2CA7A52}"/>
              </a:ext>
            </a:extLst>
          </p:cNvPr>
          <p:cNvCxnSpPr/>
          <p:nvPr/>
        </p:nvCxnSpPr>
        <p:spPr>
          <a:xfrm>
            <a:off x="720490" y="34184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2" name="직선 연결선 231">
            <a:extLst>
              <a:ext uri="{FF2B5EF4-FFF2-40B4-BE49-F238E27FC236}">
                <a16:creationId xmlns:a16="http://schemas.microsoft.com/office/drawing/2014/main" id="{E9293055-D5CD-4B9E-7F64-64B2D2CA7A52}"/>
              </a:ext>
            </a:extLst>
          </p:cNvPr>
          <p:cNvCxnSpPr/>
          <p:nvPr/>
        </p:nvCxnSpPr>
        <p:spPr>
          <a:xfrm>
            <a:off x="720490" y="3624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3" name="직선 연결선 232">
            <a:extLst>
              <a:ext uri="{FF2B5EF4-FFF2-40B4-BE49-F238E27FC236}">
                <a16:creationId xmlns:a16="http://schemas.microsoft.com/office/drawing/2014/main" id="{E9293055-D5CD-4B9E-7F64-64B2D2CA7A52}"/>
              </a:ext>
            </a:extLst>
          </p:cNvPr>
          <p:cNvCxnSpPr/>
          <p:nvPr/>
        </p:nvCxnSpPr>
        <p:spPr>
          <a:xfrm>
            <a:off x="720490" y="384198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5" name="TextBox 234">
            <a:extLst>
              <a:ext uri="{FF2B5EF4-FFF2-40B4-BE49-F238E27FC236}">
                <a16:creationId xmlns:a16="http://schemas.microsoft.com/office/drawing/2014/main" id="{FFC49AEA-2A8F-250C-A86A-A7751D9706C3}"/>
              </a:ext>
            </a:extLst>
          </p:cNvPr>
          <p:cNvSpPr txBox="1"/>
          <p:nvPr/>
        </p:nvSpPr>
        <p:spPr>
          <a:xfrm>
            <a:off x="1547180" y="2762746"/>
            <a:ext cx="1784088" cy="1077218"/>
          </a:xfrm>
          <a:prstGeom prst="rect">
            <a:avLst/>
          </a:prstGeom>
          <a:noFill/>
        </p:spPr>
        <p:txBody>
          <a:bodyPr wrap="square" lIns="0" tIns="0" rIns="0" bIns="0" rtlCol="0">
            <a:spAutoFit/>
          </a:bodyPr>
          <a:lstStyle/>
          <a:p>
            <a:pPr>
              <a:lnSpc>
                <a:spcPct val="200000"/>
              </a:lnSpc>
            </a:pPr>
            <a:r>
              <a:rPr lang="en-US" altLang="ko-KR" sz="700" dirty="0">
                <a:latin typeface="+mn-ea"/>
              </a:rPr>
              <a:t>A </a:t>
            </a:r>
            <a:r>
              <a:rPr lang="ko-KR" altLang="en-US" sz="700" dirty="0">
                <a:latin typeface="+mn-ea"/>
              </a:rPr>
              <a:t>해외업체</a:t>
            </a:r>
            <a:endParaRPr lang="en-US" altLang="ko-KR" sz="700" dirty="0">
              <a:latin typeface="+mn-ea"/>
            </a:endParaRPr>
          </a:p>
          <a:p>
            <a:pPr>
              <a:lnSpc>
                <a:spcPct val="200000"/>
              </a:lnSpc>
            </a:pPr>
            <a:r>
              <a:rPr lang="en-US" altLang="ko-KR" sz="700" dirty="0">
                <a:latin typeface="+mn-ea"/>
              </a:rPr>
              <a:t>USD</a:t>
            </a:r>
          </a:p>
          <a:p>
            <a:pPr algn="r">
              <a:lnSpc>
                <a:spcPct val="200000"/>
              </a:lnSpc>
            </a:pPr>
            <a:r>
              <a:rPr lang="en-US" altLang="ko-KR" sz="700" dirty="0">
                <a:latin typeface="+mn-ea"/>
              </a:rPr>
              <a:t>608,000.00</a:t>
            </a:r>
          </a:p>
          <a:p>
            <a:pPr algn="r">
              <a:lnSpc>
                <a:spcPct val="200000"/>
              </a:lnSpc>
            </a:pPr>
            <a:r>
              <a:rPr lang="en-US" altLang="ko-KR" sz="700" dirty="0">
                <a:latin typeface="+mn-ea"/>
              </a:rPr>
              <a:t>608,000.00</a:t>
            </a:r>
          </a:p>
          <a:p>
            <a:pPr algn="r">
              <a:lnSpc>
                <a:spcPct val="200000"/>
              </a:lnSpc>
            </a:pPr>
            <a:r>
              <a:rPr lang="en-US" altLang="ko-KR" sz="700" dirty="0">
                <a:latin typeface="+mn-ea"/>
              </a:rPr>
              <a:t>1.0000 USD</a:t>
            </a:r>
          </a:p>
        </p:txBody>
      </p:sp>
      <p:sp>
        <p:nvSpPr>
          <p:cNvPr id="327" name="타원 326">
            <a:extLst>
              <a:ext uri="{FF2B5EF4-FFF2-40B4-BE49-F238E27FC236}">
                <a16:creationId xmlns:a16="http://schemas.microsoft.com/office/drawing/2014/main" id="{37A7FF4F-0EAA-1463-560A-D5EC24416103}"/>
              </a:ext>
            </a:extLst>
          </p:cNvPr>
          <p:cNvSpPr/>
          <p:nvPr/>
        </p:nvSpPr>
        <p:spPr>
          <a:xfrm>
            <a:off x="589334" y="2538148"/>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11" name="타원 110">
            <a:extLst>
              <a:ext uri="{FF2B5EF4-FFF2-40B4-BE49-F238E27FC236}">
                <a16:creationId xmlns:a16="http://schemas.microsoft.com/office/drawing/2014/main" id="{37A7FF4F-0EAA-1463-560A-D5EC24416103}"/>
              </a:ext>
            </a:extLst>
          </p:cNvPr>
          <p:cNvSpPr/>
          <p:nvPr/>
        </p:nvSpPr>
        <p:spPr>
          <a:xfrm>
            <a:off x="589334" y="411113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grpSp>
        <p:nvGrpSpPr>
          <p:cNvPr id="95" name="그룹 94"/>
          <p:cNvGrpSpPr/>
          <p:nvPr/>
        </p:nvGrpSpPr>
        <p:grpSpPr>
          <a:xfrm>
            <a:off x="3795734" y="2084581"/>
            <a:ext cx="2712027" cy="337161"/>
            <a:chOff x="675399" y="3557901"/>
            <a:chExt cx="2712027" cy="337161"/>
          </a:xfrm>
        </p:grpSpPr>
        <p:cxnSp>
          <p:nvCxnSpPr>
            <p:cNvPr id="96" name="직선 연결선 95">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7" name="TextBox 96">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98" name="TextBox 97">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입찰참여품목</a:t>
              </a:r>
            </a:p>
          </p:txBody>
        </p:sp>
        <p:sp>
          <p:nvSpPr>
            <p:cNvPr id="99" name="TextBox 98">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00" name="직선 연결선 99">
              <a:extLst>
                <a:ext uri="{FF2B5EF4-FFF2-40B4-BE49-F238E27FC236}">
                  <a16:creationId xmlns:a16="http://schemas.microsoft.com/office/drawing/2014/main" id="{E9293055-D5CD-4B9E-7F64-64B2D2CA7A52}"/>
                </a:ext>
              </a:extLst>
            </p:cNvPr>
            <p:cNvCxnSpPr/>
            <p:nvPr/>
          </p:nvCxnSpPr>
          <p:spPr>
            <a:xfrm>
              <a:off x="1903958" y="3895062"/>
              <a:ext cx="647376"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01" name="그룹 100"/>
            <p:cNvGrpSpPr/>
            <p:nvPr/>
          </p:nvGrpSpPr>
          <p:grpSpPr>
            <a:xfrm>
              <a:off x="2924086" y="3640332"/>
              <a:ext cx="422853" cy="187961"/>
              <a:chOff x="3641308" y="2234886"/>
              <a:chExt cx="422853" cy="187961"/>
            </a:xfrm>
          </p:grpSpPr>
          <p:sp>
            <p:nvSpPr>
              <p:cNvPr id="105" name="타원 104"/>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6" name="그룹 105"/>
              <p:cNvGrpSpPr/>
              <p:nvPr/>
            </p:nvGrpSpPr>
            <p:grpSpPr>
              <a:xfrm rot="5400000" flipH="1">
                <a:off x="3679895" y="2305364"/>
                <a:ext cx="94010" cy="47005"/>
                <a:chOff x="6812560" y="3297172"/>
                <a:chExt cx="94010" cy="47005"/>
              </a:xfrm>
            </p:grpSpPr>
            <p:cxnSp>
              <p:nvCxnSpPr>
                <p:cNvPr id="131" name="직선 연결선 13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2" name="직선 연결선 13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7" name="타원 10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8" name="그룹 107"/>
              <p:cNvGrpSpPr/>
              <p:nvPr/>
            </p:nvGrpSpPr>
            <p:grpSpPr>
              <a:xfrm rot="16200000">
                <a:off x="3931564" y="2305364"/>
                <a:ext cx="94010" cy="47005"/>
                <a:chOff x="6812560" y="3297172"/>
                <a:chExt cx="94010" cy="47005"/>
              </a:xfrm>
            </p:grpSpPr>
            <p:cxnSp>
              <p:nvCxnSpPr>
                <p:cNvPr id="112" name="직선 연결선 11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30" name="직선 연결선 12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02" name="직선 연결선 101">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4" name="TextBox 103">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33" name="그룹 132"/>
          <p:cNvGrpSpPr/>
          <p:nvPr/>
        </p:nvGrpSpPr>
        <p:grpSpPr>
          <a:xfrm>
            <a:off x="675400" y="2084581"/>
            <a:ext cx="2712027" cy="337161"/>
            <a:chOff x="675399" y="3557901"/>
            <a:chExt cx="2712027" cy="337161"/>
          </a:xfrm>
        </p:grpSpPr>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6" name="TextBox 135">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입찰참여품목</a:t>
              </a:r>
            </a:p>
          </p:txBody>
        </p:sp>
        <p:sp>
          <p:nvSpPr>
            <p:cNvPr id="137" name="TextBox 13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8" name="직선 연결선 137">
              <a:extLst>
                <a:ext uri="{FF2B5EF4-FFF2-40B4-BE49-F238E27FC236}">
                  <a16:creationId xmlns:a16="http://schemas.microsoft.com/office/drawing/2014/main" id="{E9293055-D5CD-4B9E-7F64-64B2D2CA7A52}"/>
                </a:ext>
              </a:extLst>
            </p:cNvPr>
            <p:cNvCxnSpPr/>
            <p:nvPr/>
          </p:nvCxnSpPr>
          <p:spPr>
            <a:xfrm>
              <a:off x="1897519" y="3895062"/>
              <a:ext cx="66669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9" name="그룹 138"/>
            <p:cNvGrpSpPr/>
            <p:nvPr/>
          </p:nvGrpSpPr>
          <p:grpSpPr>
            <a:xfrm>
              <a:off x="2924086" y="3640332"/>
              <a:ext cx="422853" cy="187961"/>
              <a:chOff x="3641308" y="2234886"/>
              <a:chExt cx="422853" cy="187961"/>
            </a:xfrm>
          </p:grpSpPr>
          <p:sp>
            <p:nvSpPr>
              <p:cNvPr id="143" name="타원 14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4" name="그룹 143"/>
              <p:cNvGrpSpPr/>
              <p:nvPr/>
            </p:nvGrpSpPr>
            <p:grpSpPr>
              <a:xfrm rot="5400000" flipH="1">
                <a:off x="3679895" y="2305364"/>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0" name="직선 연결선 1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5" name="타원 14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6" name="그룹 145"/>
              <p:cNvGrpSpPr/>
              <p:nvPr/>
            </p:nvGrpSpPr>
            <p:grpSpPr>
              <a:xfrm rot="16200000">
                <a:off x="3931564" y="2305364"/>
                <a:ext cx="94010" cy="47005"/>
                <a:chOff x="6812560" y="3297172"/>
                <a:chExt cx="94010" cy="47005"/>
              </a:xfrm>
            </p:grpSpPr>
            <p:cxnSp>
              <p:nvCxnSpPr>
                <p:cNvPr id="147" name="직선 연결선 1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8" name="직선 연결선 1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40" name="직선 연결선 139">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Tree>
    <p:extLst>
      <p:ext uri="{BB962C8B-B14F-4D97-AF65-F5344CB8AC3E}">
        <p14:creationId xmlns:p14="http://schemas.microsoft.com/office/powerpoint/2010/main" val="3339382755"/>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solidFill>
                  <a:schemeClr val="tx1">
                    <a:lumMod val="85000"/>
                    <a:lumOff val="15000"/>
                  </a:schemeClr>
                </a:solidFill>
              </a:rPr>
              <a:t>첨부파일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378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pPr fontAlgn="ctr"/>
            <a:r>
              <a:rPr lang="ko-KR" altLang="en-US" dirty="0" err="1">
                <a:latin typeface="+mn-ea"/>
              </a:rPr>
              <a:t>입찰서상세</a:t>
            </a:r>
            <a:r>
              <a:rPr lang="ko-KR" altLang="en-US" dirty="0">
                <a:latin typeface="+mn-ea"/>
              </a:rPr>
              <a:t> </a:t>
            </a:r>
            <a:r>
              <a:rPr lang="en-US" altLang="ko-KR" dirty="0">
                <a:latin typeface="+mn-ea"/>
              </a:rPr>
              <a:t>–</a:t>
            </a:r>
            <a:r>
              <a:rPr lang="ko-KR" altLang="en-US" dirty="0">
                <a:latin typeface="+mn-ea"/>
              </a:rPr>
              <a:t>첨부파일</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조달업체가</a:t>
            </a:r>
            <a:r>
              <a:rPr lang="ko-KR" altLang="en-US" dirty="0">
                <a:latin typeface="+mn-ea"/>
              </a:rPr>
              <a:t> 제출한 입찰서를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 </a:t>
            </a:r>
            <a:r>
              <a:rPr lang="ko-KR" altLang="en-US" dirty="0">
                <a:latin typeface="+mn-ea"/>
              </a:rPr>
              <a:t>첨부파일</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MUI-BD-06-M79</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56" name="그룹 255"/>
          <p:cNvGrpSpPr/>
          <p:nvPr/>
        </p:nvGrpSpPr>
        <p:grpSpPr>
          <a:xfrm>
            <a:off x="675399" y="1578465"/>
            <a:ext cx="2712027" cy="508898"/>
            <a:chOff x="3795734" y="1602341"/>
            <a:chExt cx="2712027" cy="508898"/>
          </a:xfrm>
        </p:grpSpPr>
        <p:sp>
          <p:nvSpPr>
            <p:cNvPr id="257"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58" name="모서리가 둥근 직사각형 257"/>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259" name="모서리가 둥근 직사각형 258"/>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cxnSp>
          <p:nvCxnSpPr>
            <p:cNvPr id="260" name="직선 연결선 259">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756845" y="2484624"/>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2883010"/>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2957531"/>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견적제안서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3011392"/>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7" name="타원 116"/>
          <p:cNvSpPr/>
          <p:nvPr/>
        </p:nvSpPr>
        <p:spPr>
          <a:xfrm>
            <a:off x="3025190" y="2993253"/>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8" name="모서리가 둥근 직사각형 117"/>
          <p:cNvSpPr/>
          <p:nvPr/>
        </p:nvSpPr>
        <p:spPr>
          <a:xfrm>
            <a:off x="710315" y="3289696"/>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3364217"/>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공급자증명서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3418078"/>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1" name="타원 120"/>
          <p:cNvSpPr/>
          <p:nvPr/>
        </p:nvSpPr>
        <p:spPr>
          <a:xfrm>
            <a:off x="3025190" y="3399939"/>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2747892"/>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34706" y="2747892"/>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2747892"/>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251549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00" name="모서리가 둥근 직사각형 99"/>
          <p:cNvSpPr/>
          <p:nvPr/>
        </p:nvSpPr>
        <p:spPr>
          <a:xfrm>
            <a:off x="710315" y="3691059"/>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3765580"/>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제작사증명서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3819441"/>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3" name="타원 102"/>
          <p:cNvSpPr/>
          <p:nvPr/>
        </p:nvSpPr>
        <p:spPr>
          <a:xfrm>
            <a:off x="3025190" y="3801302"/>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모서리가 둥근 직사각형 103"/>
          <p:cNvSpPr/>
          <p:nvPr/>
        </p:nvSpPr>
        <p:spPr>
          <a:xfrm>
            <a:off x="710315" y="4097745"/>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4172266"/>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기타 공고요구서류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4226127"/>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29" name="타원 128"/>
          <p:cNvSpPr/>
          <p:nvPr/>
        </p:nvSpPr>
        <p:spPr>
          <a:xfrm>
            <a:off x="3025190" y="4207988"/>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모서리가 둥근 직사각형 139"/>
          <p:cNvSpPr/>
          <p:nvPr/>
        </p:nvSpPr>
        <p:spPr>
          <a:xfrm rot="5400000">
            <a:off x="2662242" y="3135050"/>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63" name="그룹 62"/>
          <p:cNvGrpSpPr/>
          <p:nvPr/>
        </p:nvGrpSpPr>
        <p:grpSpPr>
          <a:xfrm>
            <a:off x="675400" y="2084581"/>
            <a:ext cx="2712027" cy="337161"/>
            <a:chOff x="675399" y="3557901"/>
            <a:chExt cx="2712027" cy="337161"/>
          </a:xfrm>
        </p:grpSpPr>
        <p:cxnSp>
          <p:nvCxnSpPr>
            <p:cNvPr id="64" name="직선 연결선 6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TextBox 6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66" name="TextBox 65">
              <a:extLst>
                <a:ext uri="{FF2B5EF4-FFF2-40B4-BE49-F238E27FC236}">
                  <a16:creationId xmlns:a16="http://schemas.microsoft.com/office/drawing/2014/main" id="{FFC49AEA-2A8F-250C-A86A-A7751D9706C3}"/>
                </a:ext>
              </a:extLst>
            </p:cNvPr>
            <p:cNvSpPr txBox="1"/>
            <p:nvPr/>
          </p:nvSpPr>
          <p:spPr>
            <a:xfrm>
              <a:off x="1910397" y="3678455"/>
              <a:ext cx="647376"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입찰참여품목</a:t>
              </a:r>
            </a:p>
          </p:txBody>
        </p:sp>
        <p:sp>
          <p:nvSpPr>
            <p:cNvPr id="67" name="TextBox 6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68" name="직선 연결선 67">
              <a:extLst>
                <a:ext uri="{FF2B5EF4-FFF2-40B4-BE49-F238E27FC236}">
                  <a16:creationId xmlns:a16="http://schemas.microsoft.com/office/drawing/2014/main" id="{E9293055-D5CD-4B9E-7F64-64B2D2CA7A52}"/>
                </a:ext>
              </a:extLst>
            </p:cNvPr>
            <p:cNvCxnSpPr/>
            <p:nvPr/>
          </p:nvCxnSpPr>
          <p:spPr>
            <a:xfrm>
              <a:off x="1897519" y="3895062"/>
              <a:ext cx="66669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69" name="그룹 68"/>
            <p:cNvGrpSpPr/>
            <p:nvPr/>
          </p:nvGrpSpPr>
          <p:grpSpPr>
            <a:xfrm>
              <a:off x="2924086" y="3640332"/>
              <a:ext cx="422853" cy="187961"/>
              <a:chOff x="3641308" y="2234886"/>
              <a:chExt cx="422853" cy="187961"/>
            </a:xfrm>
          </p:grpSpPr>
          <p:sp>
            <p:nvSpPr>
              <p:cNvPr id="73" name="타원 7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4" name="그룹 73"/>
              <p:cNvGrpSpPr/>
              <p:nvPr/>
            </p:nvGrpSpPr>
            <p:grpSpPr>
              <a:xfrm rot="5400000" flipH="1">
                <a:off x="3679895" y="2305364"/>
                <a:ext cx="94010" cy="47005"/>
                <a:chOff x="6812560" y="3297172"/>
                <a:chExt cx="94010" cy="47005"/>
              </a:xfrm>
            </p:grpSpPr>
            <p:cxnSp>
              <p:nvCxnSpPr>
                <p:cNvPr id="79" name="직선 연결선 7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80" name="직선 연결선 7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5" name="타원 7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6" name="그룹 75"/>
              <p:cNvGrpSpPr/>
              <p:nvPr/>
            </p:nvGrpSpPr>
            <p:grpSpPr>
              <a:xfrm rot="16200000">
                <a:off x="3931564" y="2305364"/>
                <a:ext cx="94010" cy="47005"/>
                <a:chOff x="6812560" y="3297172"/>
                <a:chExt cx="94010" cy="47005"/>
              </a:xfrm>
            </p:grpSpPr>
            <p:cxnSp>
              <p:nvCxnSpPr>
                <p:cNvPr id="77" name="직선 연결선 7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8" name="직선 연결선 7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70" name="직선 연결선 69">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71" name="직선 연결선 70">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2" name="TextBox 71">
              <a:extLst>
                <a:ext uri="{FF2B5EF4-FFF2-40B4-BE49-F238E27FC236}">
                  <a16:creationId xmlns:a16="http://schemas.microsoft.com/office/drawing/2014/main" id="{FFC49AEA-2A8F-250C-A86A-A7751D9706C3}"/>
                </a:ext>
              </a:extLst>
            </p:cNvPr>
            <p:cNvSpPr txBox="1"/>
            <p:nvPr/>
          </p:nvSpPr>
          <p:spPr>
            <a:xfrm>
              <a:off x="1337991"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Tree>
    <p:extLst>
      <p:ext uri="{BB962C8B-B14F-4D97-AF65-F5344CB8AC3E}">
        <p14:creationId xmlns:p14="http://schemas.microsoft.com/office/powerpoint/2010/main" val="1632013487"/>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379</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(1/5)</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908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9770801"/>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9216470"/>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81865837"/>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11751346"/>
                  </a:ext>
                </a:extLst>
              </a:tr>
              <a:tr h="0">
                <a:tc>
                  <a:txBody>
                    <a:bodyPr/>
                    <a:lstStyle/>
                    <a:p>
                      <a:pPr algn="l" fontAlgn="ctr"/>
                      <a:r>
                        <a:rPr lang="ko-KR" altLang="en-US" sz="800" b="0" i="0" u="none" strike="noStrike">
                          <a:solidFill>
                            <a:srgbClr val="000000"/>
                          </a:solidFill>
                          <a:effectLst/>
                          <a:latin typeface="+mn-ea"/>
                          <a:ea typeface="+mn-ea"/>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9223821"/>
                  </a:ext>
                </a:extLst>
              </a:tr>
              <a:tr h="0">
                <a:tc>
                  <a:txBody>
                    <a:bodyPr/>
                    <a:lstStyle/>
                    <a:p>
                      <a:pPr algn="l" fontAlgn="ctr"/>
                      <a:r>
                        <a:rPr lang="ko-KR" altLang="en-US" sz="800" b="0" i="0" u="none" strike="noStrike">
                          <a:solidFill>
                            <a:srgbClr val="000000"/>
                          </a:solidFill>
                          <a:effectLst/>
                          <a:latin typeface="+mn-ea"/>
                          <a:ea typeface="+mn-ea"/>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계약방법</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5825386"/>
                  </a:ext>
                </a:extLst>
              </a:tr>
              <a:tr h="0">
                <a:tc>
                  <a:txBody>
                    <a:bodyPr/>
                    <a:lstStyle/>
                    <a:p>
                      <a:pPr algn="l" fontAlgn="ctr"/>
                      <a:r>
                        <a:rPr lang="ko-KR" altLang="en-US" sz="800" b="0" i="0" u="none" strike="noStrike">
                          <a:solidFill>
                            <a:srgbClr val="000000"/>
                          </a:solidFill>
                          <a:effectLst/>
                          <a:latin typeface="+mn-ea"/>
                          <a:ea typeface="+mn-ea"/>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regDdlnDt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입찰참가등록마감일시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2167756"/>
                  </a:ext>
                </a:extLst>
              </a:tr>
              <a:tr h="0">
                <a:tc>
                  <a:txBody>
                    <a:bodyPr/>
                    <a:lstStyle/>
                    <a:p>
                      <a:pPr algn="l" fontAlgn="ctr"/>
                      <a:r>
                        <a:rPr lang="ko-KR" altLang="en-US" sz="800" b="0" i="0" u="none" strike="noStrike">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684685"/>
                  </a:ext>
                </a:extLst>
              </a:tr>
              <a:tr h="0">
                <a:tc>
                  <a:txBody>
                    <a:bodyPr/>
                    <a:lstStyle/>
                    <a:p>
                      <a:pPr algn="l" fontAlgn="ctr"/>
                      <a:r>
                        <a:rPr lang="ko-KR" altLang="en-US" sz="800" b="0" i="0" u="none" strike="noStrike" dirty="0">
                          <a:solidFill>
                            <a:srgbClr val="000000"/>
                          </a:solidFill>
                          <a:effectLst/>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6532521"/>
                  </a:ext>
                </a:extLst>
              </a:tr>
              <a:tr h="0">
                <a:tc>
                  <a:txBody>
                    <a:bodyPr/>
                    <a:lstStyle/>
                    <a:p>
                      <a:pPr algn="l" fontAlgn="ctr"/>
                      <a:r>
                        <a:rPr lang="ko-KR" altLang="en-US" sz="800" b="0" i="0" u="none" strike="noStrike" dirty="0">
                          <a:solidFill>
                            <a:srgbClr val="000000"/>
                          </a:solidFill>
                          <a:effectLst/>
                          <a:latin typeface="+mn-ea"/>
                          <a:ea typeface="+mn-ea"/>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1664787"/>
                  </a:ext>
                </a:extLst>
              </a:tr>
              <a:tr h="0">
                <a:tc>
                  <a:txBody>
                    <a:bodyPr/>
                    <a:lstStyle/>
                    <a:p>
                      <a:pPr algn="l" fontAlgn="ctr"/>
                      <a:r>
                        <a:rPr lang="ko-KR" altLang="en-US" sz="800" b="0" i="0" u="none" strike="noStrike">
                          <a:solidFill>
                            <a:srgbClr val="000000"/>
                          </a:solidFill>
                          <a:effectLst/>
                          <a:latin typeface="+mn-ea"/>
                          <a:ea typeface="+mn-ea"/>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8347116"/>
                  </a:ext>
                </a:extLst>
              </a:tr>
              <a:tr h="0">
                <a:tc>
                  <a:txBody>
                    <a:bodyPr/>
                    <a:lstStyle/>
                    <a:p>
                      <a:pPr algn="l" fontAlgn="ctr"/>
                      <a:r>
                        <a:rPr lang="ko-KR" altLang="en-US" sz="800" b="0" i="0" u="none" strike="noStrike">
                          <a:solidFill>
                            <a:srgbClr val="000000"/>
                          </a:solidFill>
                          <a:effectLst/>
                          <a:latin typeface="+mn-ea"/>
                          <a:ea typeface="+mn-ea"/>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방위사업청담당자</a:t>
                      </a:r>
                      <a:r>
                        <a:rPr lang="ko-KR" altLang="en-US" sz="800" b="0" i="0" u="none" strike="noStrike" dirty="0">
                          <a:solidFill>
                            <a:srgbClr val="000000"/>
                          </a:solidFill>
                          <a:effectLst/>
                          <a:latin typeface="+mn-ea"/>
                          <a:ea typeface="+mn-ea"/>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Box 1">
            <a:extLst>
              <a:ext uri="{FF2B5EF4-FFF2-40B4-BE49-F238E27FC236}">
                <a16:creationId xmlns:a16="http://schemas.microsoft.com/office/drawing/2014/main" id="{6EC1DB6F-756B-3ECF-DF5B-01F7E95AC086}"/>
              </a:ext>
            </a:extLst>
          </p:cNvPr>
          <p:cNvSpPr txBox="1"/>
          <p:nvPr/>
        </p:nvSpPr>
        <p:spPr>
          <a:xfrm>
            <a:off x="458117" y="4257092"/>
            <a:ext cx="2169431"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신청업체 데이터 </a:t>
            </a:r>
            <a:r>
              <a:rPr lang="ko-KR" altLang="en-US" sz="900" b="1">
                <a:solidFill>
                  <a:prstClr val="black"/>
                </a:solidFill>
              </a:rPr>
              <a:t>영역 </a:t>
            </a:r>
            <a:r>
              <a:rPr lang="en-US" altLang="ko-KR" sz="900" b="1">
                <a:solidFill>
                  <a:prstClr val="black"/>
                </a:solidFill>
              </a:rPr>
              <a:t>(dm_sbtInfo)</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E64A895E-65AD-627E-D8DD-170FFDF6E50D}"/>
              </a:ext>
            </a:extLst>
          </p:cNvPr>
          <p:cNvGraphicFramePr>
            <a:graphicFrameLocks noGrp="1"/>
          </p:cNvGraphicFramePr>
          <p:nvPr/>
        </p:nvGraphicFramePr>
        <p:xfrm>
          <a:off x="452999" y="4468295"/>
          <a:ext cx="8994883" cy="1867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08760619"/>
                  </a:ext>
                </a:extLst>
              </a:tr>
              <a:tr h="0">
                <a:tc>
                  <a:txBody>
                    <a:bodyPr/>
                    <a:lstStyle/>
                    <a:p>
                      <a:pPr algn="l" fontAlgn="ctr"/>
                      <a:r>
                        <a:rPr lang="ko-KR" altLang="en-US" sz="800" b="0" i="0" u="none" strike="noStrike">
                          <a:solidFill>
                            <a:srgbClr val="000000"/>
                          </a:solidFill>
                          <a:effectLst/>
                          <a:latin typeface="+mn-ea"/>
                          <a:ea typeface="+mn-ea"/>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3364519"/>
                  </a:ext>
                </a:extLst>
              </a:tr>
              <a:tr h="0">
                <a:tc>
                  <a:txBody>
                    <a:bodyPr/>
                    <a:lstStyle/>
                    <a:p>
                      <a:pPr algn="l" fontAlgn="ctr"/>
                      <a:r>
                        <a:rPr lang="ko-KR" altLang="en-US" sz="800" b="0" i="0" u="none" strike="noStrike">
                          <a:solidFill>
                            <a:srgbClr val="000000"/>
                          </a:solidFill>
                          <a:effectLst/>
                          <a:latin typeface="+mn-ea"/>
                          <a:ea typeface="+mn-ea"/>
                        </a:rPr>
                        <a:t>신청업체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4138053"/>
                  </a:ext>
                </a:extLst>
              </a:tr>
              <a:tr h="0">
                <a:tc>
                  <a:txBody>
                    <a:bodyPr/>
                    <a:lstStyle/>
                    <a:p>
                      <a:pPr algn="l" fontAlgn="ctr"/>
                      <a:r>
                        <a:rPr lang="ko-KR" altLang="en-US" sz="800" b="0" i="0" u="none" strike="noStrike">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8760337"/>
                  </a:ext>
                </a:extLst>
              </a:tr>
              <a:tr h="0">
                <a:tc>
                  <a:txBody>
                    <a:bodyPr/>
                    <a:lstStyle/>
                    <a:p>
                      <a:pPr algn="l" fontAlgn="ctr"/>
                      <a:r>
                        <a:rPr lang="ko-KR" altLang="en-US" sz="800" b="0" i="0" u="none" strike="noStrike">
                          <a:solidFill>
                            <a:srgbClr val="000000"/>
                          </a:solidFill>
                          <a:effectLst/>
                          <a:latin typeface="+mn-ea"/>
                          <a:ea typeface="+mn-ea"/>
                        </a:rPr>
                        <a:t>신청업체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910159"/>
                  </a:ext>
                </a:extLst>
              </a:tr>
              <a:tr h="0">
                <a:tc>
                  <a:txBody>
                    <a:bodyPr/>
                    <a:lstStyle/>
                    <a:p>
                      <a:pPr algn="l" fontAlgn="ctr"/>
                      <a:r>
                        <a:rPr lang="ko-KR" altLang="en-US" sz="800" b="0" i="0" u="none" strike="noStrike">
                          <a:solidFill>
                            <a:srgbClr val="000000"/>
                          </a:solidFill>
                          <a:effectLst/>
                          <a:latin typeface="+mn-ea"/>
                          <a:ea typeface="+mn-ea"/>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사업자등록번호 또는 </a:t>
                      </a:r>
                      <a:r>
                        <a:rPr lang="en-US" altLang="ko-KR" sz="800" b="0" i="0" u="none" strike="noStrike">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EE135505-43F6-C8AA-BD12-23164516F4E9}"/>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915704475"/>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380</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(2/5)</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19125"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입찰업체 데이터 </a:t>
            </a:r>
            <a:r>
              <a:rPr lang="ko-KR" altLang="en-US" sz="900" b="1">
                <a:solidFill>
                  <a:prstClr val="black"/>
                </a:solidFill>
              </a:rPr>
              <a:t>영역 </a:t>
            </a:r>
            <a:r>
              <a:rPr lang="en-US" altLang="ko-KR" sz="900" b="1">
                <a:solidFill>
                  <a:prstClr val="black"/>
                </a:solidFill>
              </a:rPr>
              <a:t>(dm_splyInfo)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1429017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646879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731729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854758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045769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 Box 73">
            <a:extLst>
              <a:ext uri="{FF2B5EF4-FFF2-40B4-BE49-F238E27FC236}">
                <a16:creationId xmlns:a16="http://schemas.microsoft.com/office/drawing/2014/main" id="{00CCF613-0C5E-A1C5-2F5D-E8D53127C3FC}"/>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837878096"/>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381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a:solidFill>
                  <a:prstClr val="black"/>
                </a:solidFill>
              </a:rPr>
              <a:t>(3/5)</a:t>
            </a:r>
            <a:endParaRPr lang="ko-KR" altLang="en-US" sz="1000" b="1" dirty="0">
              <a:solidFill>
                <a:prstClr val="black"/>
              </a:solidFill>
            </a:endParaRPr>
          </a:p>
        </p:txBody>
      </p:sp>
      <p:sp>
        <p:nvSpPr>
          <p:cNvPr id="2" name="TextBox 1">
            <a:extLst>
              <a:ext uri="{FF2B5EF4-FFF2-40B4-BE49-F238E27FC236}">
                <a16:creationId xmlns:a16="http://schemas.microsoft.com/office/drawing/2014/main" id="{6EC1DB6F-756B-3ECF-DF5B-01F7E95AC086}"/>
              </a:ext>
            </a:extLst>
          </p:cNvPr>
          <p:cNvSpPr txBox="1"/>
          <p:nvPr/>
        </p:nvSpPr>
        <p:spPr>
          <a:xfrm>
            <a:off x="458117" y="799547"/>
            <a:ext cx="3102379" cy="211203"/>
          </a:xfrm>
          <a:prstGeom prst="rect">
            <a:avLst/>
          </a:prstGeom>
          <a:noFill/>
        </p:spPr>
        <p:txBody>
          <a:bodyPr wrap="none" lIns="36000" tIns="36000" rIns="36000" bIns="36000" rtlCol="0">
            <a:spAutoFit/>
          </a:bodyPr>
          <a:lstStyle/>
          <a:p>
            <a:r>
              <a:rPr lang="en-US" altLang="ko-KR" sz="900" b="1" dirty="0">
                <a:solidFill>
                  <a:prstClr val="black"/>
                </a:solidFill>
              </a:rPr>
              <a:t>1.4</a:t>
            </a:r>
            <a:r>
              <a:rPr lang="en-US" altLang="ko-KR" sz="900" b="1">
                <a:solidFill>
                  <a:prstClr val="black"/>
                </a:solidFill>
              </a:rPr>
              <a:t>. </a:t>
            </a:r>
            <a:r>
              <a:rPr lang="ko-KR" altLang="en-US" sz="900" b="1">
                <a:solidFill>
                  <a:prstClr val="black"/>
                </a:solidFill>
              </a:rPr>
              <a:t>입찰참여품목</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(dl_ititbBidCnList)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E64A895E-65AD-627E-D8DD-170FFDF6E50D}"/>
              </a:ext>
            </a:extLst>
          </p:cNvPr>
          <p:cNvGraphicFramePr>
            <a:graphicFrameLocks noGrp="1"/>
          </p:cNvGraphicFramePr>
          <p:nvPr/>
        </p:nvGraphicFramePr>
        <p:xfrm>
          <a:off x="452999" y="1010750"/>
          <a:ext cx="8994883" cy="48979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r h="0">
                <a:tc>
                  <a:txBody>
                    <a:bodyPr/>
                    <a:lstStyle/>
                    <a:p>
                      <a:pPr algn="l" fontAlgn="ct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1673799"/>
                  </a:ext>
                </a:extLst>
              </a:tr>
              <a:tr h="0">
                <a:tc>
                  <a:txBody>
                    <a:bodyPr/>
                    <a:lstStyle/>
                    <a:p>
                      <a:pPr algn="l" fontAlgn="ctr"/>
                      <a:r>
                        <a:rPr lang="ko-KR" altLang="en-US" sz="800" b="0" i="0" u="none" strike="noStrike">
                          <a:solidFill>
                            <a:srgbClr val="000000"/>
                          </a:solidFill>
                          <a:effectLst/>
                          <a:latin typeface="+mn-ea"/>
                          <a:ea typeface="+mn-ea"/>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4568633"/>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화페단위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6714837"/>
                  </a:ext>
                </a:extLst>
              </a:tr>
              <a:tr h="0">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(As it is / Replace)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24155434"/>
                  </a:ext>
                </a:extLst>
              </a:tr>
              <a:tr h="0">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품목대체첨부문서가</a:t>
                      </a:r>
                      <a:r>
                        <a:rPr lang="ko-KR" altLang="en-US" sz="800" dirty="0">
                          <a:latin typeface="+mn-ea"/>
                          <a:ea typeface="+mn-ea"/>
                        </a:rPr>
                        <a:t> 있는 경우</a:t>
                      </a:r>
                      <a:r>
                        <a:rPr lang="en-US" altLang="ko-KR" sz="800" dirty="0">
                          <a:latin typeface="+mn-ea"/>
                          <a:ea typeface="+mn-ea"/>
                        </a:rPr>
                        <a:t>, ‘O’. </a:t>
                      </a:r>
                      <a:r>
                        <a:rPr lang="ko-KR" altLang="en-US" sz="800" dirty="0">
                          <a:latin typeface="+mn-ea"/>
                          <a:ea typeface="+mn-ea"/>
                        </a:rPr>
                        <a:t>그 외 표시 없음</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941089"/>
                  </a:ext>
                </a:extLst>
              </a:tr>
              <a:tr h="0">
                <a:tc>
                  <a:txBody>
                    <a:bodyPr/>
                    <a:lstStyle/>
                    <a:p>
                      <a:pPr algn="l" fontAlgn="ctr"/>
                      <a:r>
                        <a:rPr lang="ko-KR" altLang="en-US" sz="800" b="0" i="0" u="none" strike="noStrike">
                          <a:solidFill>
                            <a:srgbClr val="000000"/>
                          </a:solidFill>
                          <a:effectLst/>
                          <a:latin typeface="+mn-ea"/>
                          <a:ea typeface="+mn-ea"/>
                        </a:rPr>
                        <a:t>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8929951"/>
                  </a:ext>
                </a:extLst>
              </a:tr>
              <a:tr h="0">
                <a:tc>
                  <a:txBody>
                    <a:bodyPr/>
                    <a:lstStyle/>
                    <a:p>
                      <a:pPr algn="l" fontAlgn="ctr"/>
                      <a:r>
                        <a:rPr lang="ko-KR" altLang="en-US" sz="800" b="0" i="0" u="none" strike="noStrike">
                          <a:solidFill>
                            <a:srgbClr val="000000"/>
                          </a:solidFill>
                          <a:effectLst/>
                          <a:latin typeface="+mn-ea"/>
                          <a:ea typeface="+mn-ea"/>
                        </a:rPr>
                        <a:t>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87599421"/>
                  </a:ext>
                </a:extLst>
              </a:tr>
              <a:tr h="0">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ea"/>
                          <a:ea typeface="+mn-ea"/>
                        </a:rPr>
                        <a:t>MOQ </a:t>
                      </a:r>
                      <a:r>
                        <a:rPr lang="ko-KR" altLang="en-US" sz="800" b="0" i="0" u="none" strike="noStrike">
                          <a:solidFill>
                            <a:srgbClr val="000000"/>
                          </a:solidFill>
                          <a:effectLst/>
                          <a:latin typeface="+mn-ea"/>
                          <a:ea typeface="+mn-ea"/>
                        </a:rPr>
                        <a:t>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(Y / 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9061956"/>
                  </a:ext>
                </a:extLst>
              </a:tr>
              <a:tr h="0">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9809737"/>
                  </a:ext>
                </a:extLst>
              </a:tr>
              <a:tr h="0">
                <a:tc>
                  <a:txBody>
                    <a:bodyPr/>
                    <a:lstStyle/>
                    <a:p>
                      <a:pPr algn="l" fontAlgn="ctr"/>
                      <a:r>
                        <a:rPr lang="en-US" sz="800" b="0" i="0" u="none" strike="noStrike" dirty="0">
                          <a:solidFill>
                            <a:srgbClr val="000000"/>
                          </a:solidFill>
                          <a:effectLst/>
                          <a:latin typeface="+mn-ea"/>
                          <a:ea typeface="+mn-ea"/>
                        </a:rPr>
                        <a:t>MOQ</a:t>
                      </a:r>
                      <a:r>
                        <a:rPr lang="ko-KR" altLang="en-US" sz="800" b="0" i="0" u="none" strike="noStrike" dirty="0">
                          <a:solidFill>
                            <a:srgbClr val="000000"/>
                          </a:solidFill>
                          <a:effectLst/>
                          <a:latin typeface="+mn-ea"/>
                          <a:ea typeface="+mn-ea"/>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moqDocEn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mn-ea"/>
                          <a:ea typeface="+mn-ea"/>
                        </a:rPr>
                        <a:t>MOQ</a:t>
                      </a:r>
                      <a:r>
                        <a:rPr lang="ko-KR" altLang="en-US" sz="800" b="0" i="0" u="none" strike="noStrike">
                          <a:solidFill>
                            <a:srgbClr val="000000"/>
                          </a:solidFill>
                          <a:effectLst/>
                          <a:latin typeface="+mn-ea"/>
                          <a:ea typeface="+mn-ea"/>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MOQ</a:t>
                      </a:r>
                      <a:r>
                        <a:rPr lang="ko-KR" altLang="en-US" sz="800" dirty="0">
                          <a:latin typeface="+mn-ea"/>
                          <a:ea typeface="+mn-ea"/>
                        </a:rPr>
                        <a:t>첨부문서가 있는 경우</a:t>
                      </a:r>
                      <a:r>
                        <a:rPr lang="en-US" altLang="ko-KR" sz="800" dirty="0">
                          <a:latin typeface="+mn-ea"/>
                          <a:ea typeface="+mn-ea"/>
                        </a:rPr>
                        <a:t>, ‘O’. </a:t>
                      </a:r>
                      <a:r>
                        <a:rPr lang="ko-KR" altLang="en-US" sz="800" dirty="0">
                          <a:latin typeface="+mn-ea"/>
                          <a:ea typeface="+mn-ea"/>
                        </a:rPr>
                        <a:t>그 외 표시 없음</a:t>
                      </a:r>
                      <a:r>
                        <a:rPr lang="en-US" altLang="ko-KR" sz="800"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0739781"/>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본조</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국가 예산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9848704"/>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당국</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당해년도 국채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3670449"/>
                  </a:ext>
                </a:extLst>
              </a:tr>
              <a:tr h="0">
                <a:tc>
                  <a:txBody>
                    <a:bodyPr/>
                    <a:lstStyle/>
                    <a:p>
                      <a:pPr algn="l" fontAlgn="ctr"/>
                      <a:r>
                        <a:rPr lang="ko-KR" altLang="en-US" sz="800" b="0" i="0" u="none" strike="noStrike">
                          <a:solidFill>
                            <a:srgbClr val="000000"/>
                          </a:solidFill>
                          <a:effectLst/>
                          <a:latin typeface="+mn-ea"/>
                          <a:ea typeface="+mn-ea"/>
                        </a:rPr>
                        <a:t>납기</a:t>
                      </a:r>
                      <a:r>
                        <a:rPr lang="en-US" altLang="ko-KR" sz="800" b="0" i="0" u="none" strike="noStrike">
                          <a:solidFill>
                            <a:srgbClr val="000000"/>
                          </a:solidFill>
                          <a:effectLst/>
                          <a:latin typeface="+mn-ea"/>
                          <a:ea typeface="+mn-ea"/>
                        </a:rPr>
                        <a:t>(</a:t>
                      </a:r>
                      <a:r>
                        <a:rPr lang="ko-KR" altLang="en-US" sz="800" b="0" i="0" u="none" strike="noStrike">
                          <a:solidFill>
                            <a:srgbClr val="000000"/>
                          </a:solidFill>
                          <a:effectLst/>
                          <a:latin typeface="+mn-ea"/>
                          <a:ea typeface="+mn-ea"/>
                        </a:rPr>
                        <a:t>장국</a:t>
                      </a:r>
                      <a:r>
                        <a:rPr lang="en-US" altLang="ko-KR" sz="800" b="0" i="0" u="none" strike="noStrike">
                          <a:solidFill>
                            <a:srgbClr val="000000"/>
                          </a:solidFill>
                          <a:effectLst/>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장기국채 납기일자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6404054"/>
                  </a:ext>
                </a:extLst>
              </a:tr>
              <a:tr h="0">
                <a:tc>
                  <a:txBody>
                    <a:bodyPr/>
                    <a:lstStyle/>
                    <a:p>
                      <a:pPr algn="l" fontAlgn="ctr"/>
                      <a:r>
                        <a:rPr lang="ko-KR" altLang="en-US" sz="800" b="0" i="0" u="none" strike="noStrike">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04595397"/>
                  </a:ext>
                </a:extLst>
              </a:tr>
              <a:tr h="0">
                <a:tc>
                  <a:txBody>
                    <a:bodyPr/>
                    <a:lstStyle/>
                    <a:p>
                      <a:pPr algn="l" fontAlgn="ctr"/>
                      <a:r>
                        <a:rPr lang="ko-KR" altLang="en-US" sz="800" b="0" i="0" u="none" strike="noStrike" dirty="0">
                          <a:solidFill>
                            <a:srgbClr val="000000"/>
                          </a:solidFill>
                          <a:effectLst/>
                          <a:latin typeface="+mn-ea"/>
                          <a:ea typeface="+mn-ea"/>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9750289"/>
                  </a:ext>
                </a:extLst>
              </a:tr>
              <a:tr h="0">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3809566"/>
                  </a:ext>
                </a:extLst>
              </a:tr>
              <a:tr h="0">
                <a:tc>
                  <a:txBody>
                    <a:bodyPr/>
                    <a:lstStyle/>
                    <a:p>
                      <a:pPr algn="l" fontAlgn="ctr"/>
                      <a:r>
                        <a:rPr lang="ko-KR" altLang="en-US" sz="800" b="0" i="0" u="none" strike="noStrike">
                          <a:solidFill>
                            <a:srgbClr val="000000"/>
                          </a:solidFill>
                          <a:effectLst/>
                          <a:latin typeface="+mn-ea"/>
                          <a:ea typeface="+mn-ea"/>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B865F701-0081-CABA-3317-C510CF9DBA6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506271740"/>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슬라이드 번호 개체 틀 2">
            <a:extLst>
              <a:ext uri="{FF2B5EF4-FFF2-40B4-BE49-F238E27FC236}">
                <a16:creationId xmlns:a16="http://schemas.microsoft.com/office/drawing/2014/main" id="{09BAFFE9-3B78-1532-1EED-6D78A507389A}"/>
              </a:ext>
            </a:extLst>
          </p:cNvPr>
          <p:cNvSpPr>
            <a:spLocks noGrp="1"/>
          </p:cNvSpPr>
          <p:nvPr>
            <p:ph type="sldNum" sz="quarter" idx="4"/>
          </p:nvPr>
        </p:nvSpPr>
        <p:spPr>
          <a:xfrm>
            <a:off x="4327200" y="6590501"/>
            <a:ext cx="1258128" cy="216000"/>
          </a:xfrm>
        </p:spPr>
        <p:txBody>
          <a:bodyPr/>
          <a:lstStyle/>
          <a:p>
            <a:fld id="{9DF8E3FD-B4FB-473B-BCAD-C4534B9A9D97}" type="slidenum">
              <a:rPr lang="ko-KR" altLang="en-US" smtClean="0"/>
              <a:pPr/>
              <a:t>382</a:t>
            </a:fld>
            <a:endParaRPr lang="ko-KR" altLang="en-US" dirty="0"/>
          </a:p>
        </p:txBody>
      </p:sp>
      <p:sp>
        <p:nvSpPr>
          <p:cNvPr id="5" name="TextBox 4">
            <a:extLst>
              <a:ext uri="{FF2B5EF4-FFF2-40B4-BE49-F238E27FC236}">
                <a16:creationId xmlns:a16="http://schemas.microsoft.com/office/drawing/2014/main" id="{851C048D-8B08-B247-CB04-F52756322ECD}"/>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(4/5)</a:t>
            </a:r>
            <a:endParaRPr lang="ko-KR" altLang="en-US" sz="1000" b="1" dirty="0">
              <a:solidFill>
                <a:prstClr val="black"/>
              </a:solidFill>
            </a:endParaRPr>
          </a:p>
        </p:txBody>
      </p:sp>
      <p:sp>
        <p:nvSpPr>
          <p:cNvPr id="6" name="TextBox 5">
            <a:extLst>
              <a:ext uri="{FF2B5EF4-FFF2-40B4-BE49-F238E27FC236}">
                <a16:creationId xmlns:a16="http://schemas.microsoft.com/office/drawing/2014/main" id="{BFC5E42C-41DA-3907-8E77-DFA2779459D2}"/>
              </a:ext>
            </a:extLst>
          </p:cNvPr>
          <p:cNvSpPr txBox="1"/>
          <p:nvPr/>
        </p:nvSpPr>
        <p:spPr>
          <a:xfrm>
            <a:off x="458117" y="799547"/>
            <a:ext cx="2935666"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a:solidFill>
                  <a:prstClr val="black"/>
                </a:solidFill>
              </a:rPr>
              <a:t>입찰품목</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(dl_alonbsItemList)</a:t>
            </a:r>
            <a:endParaRPr lang="ko-KR" altLang="en-US" sz="900" b="1" dirty="0">
              <a:solidFill>
                <a:prstClr val="black"/>
              </a:solidFill>
            </a:endParaRPr>
          </a:p>
        </p:txBody>
      </p:sp>
      <p:graphicFrame>
        <p:nvGraphicFramePr>
          <p:cNvPr id="9" name="표 8">
            <a:extLst>
              <a:ext uri="{FF2B5EF4-FFF2-40B4-BE49-F238E27FC236}">
                <a16:creationId xmlns:a16="http://schemas.microsoft.com/office/drawing/2014/main" id="{5DDA5753-DEFE-B33D-028E-58786715017D}"/>
              </a:ext>
            </a:extLst>
          </p:cNvPr>
          <p:cNvGraphicFramePr>
            <a:graphicFrameLocks noGrp="1"/>
          </p:cNvGraphicFramePr>
          <p:nvPr/>
        </p:nvGraphicFramePr>
        <p:xfrm>
          <a:off x="452999" y="1010750"/>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r h="0">
                <a:tc>
                  <a:txBody>
                    <a:bodyPr/>
                    <a:lstStyle/>
                    <a:p>
                      <a:pPr algn="l" fontAlgn="ctr"/>
                      <a:r>
                        <a:rPr lang="ko-KR" altLang="en-US" sz="800" b="0" i="0" u="none" strike="noStrike">
                          <a:solidFill>
                            <a:srgbClr val="000000"/>
                          </a:solidFill>
                          <a:effectLst/>
                          <a:latin typeface="+mn-ea"/>
                          <a:ea typeface="+mn-ea"/>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1673799"/>
                  </a:ext>
                </a:extLst>
              </a:tr>
            </a:tbl>
          </a:graphicData>
        </a:graphic>
      </p:graphicFrame>
      <p:sp>
        <p:nvSpPr>
          <p:cNvPr id="10" name="Text Box 73">
            <a:extLst>
              <a:ext uri="{FF2B5EF4-FFF2-40B4-BE49-F238E27FC236}">
                <a16:creationId xmlns:a16="http://schemas.microsoft.com/office/drawing/2014/main" id="{F53ABECC-44BD-0648-AA57-7F6B4B7F71E4}"/>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1" name="TextBox 10">
            <a:extLst>
              <a:ext uri="{FF2B5EF4-FFF2-40B4-BE49-F238E27FC236}">
                <a16:creationId xmlns:a16="http://schemas.microsoft.com/office/drawing/2014/main" id="{49702F92-C00A-98FC-B199-F4DD38CEE456}"/>
              </a:ext>
            </a:extLst>
          </p:cNvPr>
          <p:cNvSpPr txBox="1"/>
          <p:nvPr/>
        </p:nvSpPr>
        <p:spPr>
          <a:xfrm>
            <a:off x="458117" y="3217797"/>
            <a:ext cx="3039862" cy="211203"/>
          </a:xfrm>
          <a:prstGeom prst="rect">
            <a:avLst/>
          </a:prstGeom>
          <a:noFill/>
        </p:spPr>
        <p:txBody>
          <a:bodyPr wrap="none" lIns="36000" tIns="36000" rIns="36000" bIns="36000" rtlCol="0">
            <a:spAutoFit/>
          </a:bodyPr>
          <a:lstStyle/>
          <a:p>
            <a:r>
              <a:rPr lang="en-US" altLang="ko-KR" sz="900" b="1">
                <a:solidFill>
                  <a:prstClr val="black"/>
                </a:solidFill>
              </a:rPr>
              <a:t>1.6. </a:t>
            </a:r>
            <a:r>
              <a:rPr lang="ko-KR" altLang="en-US" sz="900" b="1">
                <a:solidFill>
                  <a:prstClr val="black"/>
                </a:solidFill>
              </a:rPr>
              <a:t>입찰내역</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(dl_alonbsBidCnInfo)</a:t>
            </a:r>
            <a:endParaRPr lang="ko-KR" altLang="en-US" sz="900" b="1" dirty="0">
              <a:solidFill>
                <a:prstClr val="black"/>
              </a:solidFill>
            </a:endParaRPr>
          </a:p>
        </p:txBody>
      </p:sp>
      <p:graphicFrame>
        <p:nvGraphicFramePr>
          <p:cNvPr id="12" name="표 11">
            <a:extLst>
              <a:ext uri="{FF2B5EF4-FFF2-40B4-BE49-F238E27FC236}">
                <a16:creationId xmlns:a16="http://schemas.microsoft.com/office/drawing/2014/main" id="{FAF49F32-7EA4-ABEA-C323-13D03B69B825}"/>
              </a:ext>
            </a:extLst>
          </p:cNvPr>
          <p:cNvGraphicFramePr>
            <a:graphicFrameLocks noGrp="1"/>
          </p:cNvGraphicFramePr>
          <p:nvPr/>
        </p:nvGraphicFramePr>
        <p:xfrm>
          <a:off x="452999" y="3429000"/>
          <a:ext cx="8994883" cy="1163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9904173"/>
                  </a:ext>
                </a:extLst>
              </a:tr>
              <a:tr h="0">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33678743"/>
                  </a:ext>
                </a:extLst>
              </a:tr>
              <a:tr h="0">
                <a:tc>
                  <a:txBody>
                    <a:bodyPr/>
                    <a:lstStyle/>
                    <a:p>
                      <a:pPr algn="l" fontAlgn="ctr"/>
                      <a:r>
                        <a:rPr lang="ko-KR" altLang="en-US" sz="800" b="0" i="0" u="none" strike="noStrike">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0643464"/>
                  </a:ext>
                </a:extLst>
              </a:tr>
              <a:tr h="0">
                <a:tc>
                  <a:txBody>
                    <a:bodyPr/>
                    <a:lstStyle/>
                    <a:p>
                      <a:pPr algn="l" fontAlgn="ctr"/>
                      <a:r>
                        <a:rPr lang="ko-KR" altLang="en-US" sz="800" b="0" i="0" u="none" strike="noStrike">
                          <a:solidFill>
                            <a:srgbClr val="000000"/>
                          </a:solidFill>
                          <a:effectLst/>
                          <a:latin typeface="+mn-ea"/>
                          <a:ea typeface="+mn-ea"/>
                        </a:rPr>
                        <a:t>달러환산율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usdExrt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환산율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5867135"/>
                  </a:ext>
                </a:extLst>
              </a:tr>
            </a:tbl>
          </a:graphicData>
        </a:graphic>
      </p:graphicFrame>
    </p:spTree>
    <p:extLst>
      <p:ext uri="{BB962C8B-B14F-4D97-AF65-F5344CB8AC3E}">
        <p14:creationId xmlns:p14="http://schemas.microsoft.com/office/powerpoint/2010/main" val="3220254744"/>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383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(5/5)</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94090" cy="211203"/>
          </a:xfrm>
          <a:prstGeom prst="rect">
            <a:avLst/>
          </a:prstGeom>
          <a:noFill/>
        </p:spPr>
        <p:txBody>
          <a:bodyPr wrap="none" lIns="36000" tIns="36000" rIns="36000" bIns="36000" rtlCol="0">
            <a:spAutoFit/>
          </a:bodyPr>
          <a:lstStyle/>
          <a:p>
            <a:r>
              <a:rPr lang="en-US" altLang="ko-KR" sz="900" b="1">
                <a:solidFill>
                  <a:prstClr val="black"/>
                </a:solidFill>
              </a:rPr>
              <a:t>1.7. </a:t>
            </a:r>
            <a:r>
              <a:rPr lang="ko-KR" altLang="en-US" sz="900" b="1" dirty="0">
                <a:solidFill>
                  <a:prstClr val="black"/>
                </a:solidFill>
              </a:rPr>
              <a:t>첨부파일 데이터 </a:t>
            </a:r>
            <a:r>
              <a:rPr lang="ko-KR" altLang="en-US" sz="900" b="1">
                <a:solidFill>
                  <a:prstClr val="black"/>
                </a:solidFill>
              </a:rPr>
              <a:t>영역 </a:t>
            </a:r>
            <a:r>
              <a:rPr lang="en-US" altLang="ko-KR" sz="900" b="1">
                <a:solidFill>
                  <a:prstClr val="black"/>
                </a:solidFill>
              </a:rPr>
              <a:t>(dl_docList)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제출한 첨부서류 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 Box 73">
            <a:extLst>
              <a:ext uri="{FF2B5EF4-FFF2-40B4-BE49-F238E27FC236}">
                <a16:creationId xmlns:a16="http://schemas.microsoft.com/office/drawing/2014/main" id="{A99AA0B8-076C-8C26-20E0-2CF398D5400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230641184"/>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3F20DDAC-86E5-B924-A032-6F934EE4D118}"/>
              </a:ext>
            </a:extLst>
          </p:cNvPr>
          <p:cNvSpPr>
            <a:spLocks noGrp="1"/>
          </p:cNvSpPr>
          <p:nvPr>
            <p:ph type="sldNum" sz="quarter" idx="4"/>
          </p:nvPr>
        </p:nvSpPr>
        <p:spPr/>
        <p:txBody>
          <a:bodyPr/>
          <a:lstStyle/>
          <a:p>
            <a:fld id="{34C8E023-7346-48FC-AB24-9A3388C53208}" type="slidenum">
              <a:rPr lang="ko-KR" altLang="en-US" smtClean="0"/>
              <a:pPr/>
              <a:t>384</a:t>
            </a:fld>
            <a:endParaRPr lang="ko-KR" altLang="en-US" dirty="0"/>
          </a:p>
        </p:txBody>
      </p:sp>
      <p:sp>
        <p:nvSpPr>
          <p:cNvPr id="3" name="TextBox 2">
            <a:extLst>
              <a:ext uri="{FF2B5EF4-FFF2-40B4-BE49-F238E27FC236}">
                <a16:creationId xmlns:a16="http://schemas.microsoft.com/office/drawing/2014/main" id="{76A8809E-D65E-49DE-4DB4-07EAE9803EB1}"/>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19B714E3-F1E0-CB09-40E2-CC9553957C58}"/>
              </a:ext>
            </a:extLst>
          </p:cNvPr>
          <p:cNvGraphicFramePr>
            <a:graphicFrameLocks noGrp="1"/>
          </p:cNvGraphicFramePr>
          <p:nvPr>
            <p:extLst>
              <p:ext uri="{D42A27DB-BD31-4B8C-83A1-F6EECF244321}">
                <p14:modId xmlns:p14="http://schemas.microsoft.com/office/powerpoint/2010/main" val="1372084293"/>
              </p:ext>
            </p:extLst>
          </p:nvPr>
        </p:nvGraphicFramePr>
        <p:xfrm>
          <a:off x="458117" y="799547"/>
          <a:ext cx="8995591" cy="1091520"/>
        </p:xfrm>
        <a:graphic>
          <a:graphicData uri="http://schemas.openxmlformats.org/drawingml/2006/table">
            <a:tbl>
              <a:tblPr>
                <a:tableStyleId>{616DA210-FB5B-4158-B5E0-FEB733F419BA}</a:tableStyleId>
              </a:tblPr>
              <a:tblGrid>
                <a:gridCol w="1465933">
                  <a:extLst>
                    <a:ext uri="{9D8B030D-6E8A-4147-A177-3AD203B41FA5}">
                      <a16:colId xmlns:a16="http://schemas.microsoft.com/office/drawing/2014/main" val="20000"/>
                    </a:ext>
                  </a:extLst>
                </a:gridCol>
                <a:gridCol w="1504950">
                  <a:extLst>
                    <a:ext uri="{9D8B030D-6E8A-4147-A177-3AD203B41FA5}">
                      <a16:colId xmlns:a16="http://schemas.microsoft.com/office/drawing/2014/main" val="624624882"/>
                    </a:ext>
                  </a:extLst>
                </a:gridCol>
                <a:gridCol w="2933700">
                  <a:extLst>
                    <a:ext uri="{9D8B030D-6E8A-4147-A177-3AD203B41FA5}">
                      <a16:colId xmlns:a16="http://schemas.microsoft.com/office/drawing/2014/main" val="20001"/>
                    </a:ext>
                  </a:extLst>
                </a:gridCol>
                <a:gridCol w="3091008">
                  <a:extLst>
                    <a:ext uri="{9D8B030D-6E8A-4147-A177-3AD203B41FA5}">
                      <a16:colId xmlns:a16="http://schemas.microsoft.com/office/drawing/2014/main" val="20002"/>
                    </a:ext>
                  </a:extLst>
                </a:gridCol>
              </a:tblGrid>
              <a:tr h="0">
                <a:tc>
                  <a:txBody>
                    <a:bodyPr/>
                    <a:lstStyle/>
                    <a:p>
                      <a:pPr algn="ctr" latinLnBrk="1"/>
                      <a:r>
                        <a:rPr lang="ko-KR" altLang="en-US" sz="800" b="1" dirty="0" err="1">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입찰서 상세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입찰서조회</a:t>
                      </a:r>
                      <a:r>
                        <a:rPr lang="en-US" altLang="ko-KR" sz="800">
                          <a:latin typeface="+mn-ea"/>
                          <a:ea typeface="+mn-ea"/>
                        </a:rPr>
                        <a:t>, </a:t>
                      </a:r>
                      <a:r>
                        <a:rPr lang="ko-KR" altLang="en-US" sz="800">
                          <a:latin typeface="+mn-ea"/>
                          <a:ea typeface="+mn-ea"/>
                        </a:rPr>
                        <a:t>입찰서품목조회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err="1"/>
                        <a:t>품목대체첨부문서</a:t>
                      </a:r>
                      <a:r>
                        <a:rPr lang="ko-KR" altLang="en-US" sz="800" dirty="0"/>
                        <a:t>  클릭</a:t>
                      </a:r>
                      <a:endParaRPr lang="en-US" altLang="ko-KR"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scwin.btn_openAtchDoc_onlick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UI-BD-05-P76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7463526"/>
                  </a:ext>
                </a:extLst>
              </a:tr>
              <a:tr h="0">
                <a:tc>
                  <a:txBody>
                    <a:bodyPr/>
                    <a:lstStyle/>
                    <a:p>
                      <a:r>
                        <a:rPr lang="en-US" altLang="ko-KR" sz="800" dirty="0"/>
                        <a:t>MOQ</a:t>
                      </a:r>
                      <a:r>
                        <a:rPr lang="ko-KR" altLang="en-US" sz="800" dirty="0"/>
                        <a:t>첨부문서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scwin.btn_openAtchDoc_onlick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UI-BD-05-P76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74308018"/>
                  </a:ext>
                </a:extLst>
              </a:tr>
              <a:tr h="0">
                <a:tc>
                  <a:txBody>
                    <a:bodyPr/>
                    <a:lstStyle/>
                    <a:p>
                      <a:r>
                        <a:rPr lang="ko-KR" altLang="en-US" sz="800" dirty="0" err="1"/>
                        <a:t>투찰취소</a:t>
                      </a:r>
                      <a:r>
                        <a:rPr lang="ko-KR" altLang="en-US" sz="800" dirty="0"/>
                        <a:t>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scwin.btn_openCancleRequest_onclick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입찰취소신청서작성</a:t>
                      </a:r>
                      <a:r>
                        <a:rPr lang="ko-KR" altLang="en-US" sz="800" dirty="0">
                          <a:latin typeface="+mn-ea"/>
                          <a:ea typeface="+mn-ea"/>
                        </a:rPr>
                        <a:t>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UI-BD-06-P74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8738773"/>
                  </a:ext>
                </a:extLst>
              </a:tr>
            </a:tbl>
          </a:graphicData>
        </a:graphic>
      </p:graphicFrame>
      <p:sp>
        <p:nvSpPr>
          <p:cNvPr id="5" name="Text Box 73">
            <a:extLst>
              <a:ext uri="{FF2B5EF4-FFF2-40B4-BE49-F238E27FC236}">
                <a16:creationId xmlns:a16="http://schemas.microsoft.com/office/drawing/2014/main" id="{FAEFD060-8A5E-317B-E449-391A17D23A66}"/>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869225790"/>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취소신청내역 데이터 영역</a:t>
            </a:r>
            <a:endParaRPr lang="en-US" altLang="ko-KR" dirty="0"/>
          </a:p>
          <a:p>
            <a:pPr marL="228600" indent="-228600">
              <a:buFont typeface="+mj-lt"/>
              <a:buAutoNum type="arabicPeriod"/>
            </a:pPr>
            <a:r>
              <a:rPr lang="ko-KR" altLang="en-US" dirty="0" err="1"/>
              <a:t>취소사유</a:t>
            </a:r>
            <a:r>
              <a:rPr lang="ko-KR" altLang="en-US" dirty="0"/>
              <a:t> 데이터 영역</a:t>
            </a:r>
            <a:endParaRPr lang="en-US" altLang="ko-KR" dirty="0"/>
          </a:p>
          <a:p>
            <a:pPr marL="228600" indent="-228600">
              <a:buFont typeface="+mj-lt"/>
              <a:buAutoNum type="arabicPeriod"/>
            </a:pPr>
            <a:r>
              <a:rPr lang="ko-KR" altLang="en-US" dirty="0"/>
              <a:t>취소 신청 제출</a:t>
            </a:r>
            <a:r>
              <a:rPr lang="en-US" altLang="ko-KR" dirty="0"/>
              <a:t>,</a:t>
            </a:r>
            <a:r>
              <a:rPr lang="ko-KR" altLang="en-US" dirty="0"/>
              <a:t> 닫기 클릭 이벤트</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385</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t>입찰등록결과조회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t>입찰등록결과조회</a:t>
            </a:r>
            <a:r>
              <a:rPr lang="ko-KR" altLang="en-US" dirty="0">
                <a:latin typeface="+mn-ea"/>
              </a:rPr>
              <a:t>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850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&gt; </a:t>
            </a:r>
            <a:r>
              <a:rPr lang="ko-KR" altLang="en-US" dirty="0"/>
              <a:t>입찰등록결과조회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MUI-BD-06-P80</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t>입찰등록결과조회</a:t>
            </a:r>
            <a:endParaRPr lang="ko-KR" altLang="en-US" sz="900" dirty="0">
              <a:latin typeface="+mn-ea"/>
            </a:endParaRP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a:t>입찰등록결과조회</a:t>
            </a:r>
            <a:endParaRPr lang="ko-KR" altLang="en-US" sz="900" dirty="0">
              <a:latin typeface="+mn-ea"/>
            </a:endParaRP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42" name="그룹 141"/>
          <p:cNvGrpSpPr/>
          <p:nvPr/>
        </p:nvGrpSpPr>
        <p:grpSpPr>
          <a:xfrm>
            <a:off x="3836701" y="4661567"/>
            <a:ext cx="2630093" cy="966004"/>
            <a:chOff x="3791188" y="2611009"/>
            <a:chExt cx="2630093" cy="966004"/>
          </a:xfrm>
        </p:grpSpPr>
        <p:sp>
          <p:nvSpPr>
            <p:cNvPr id="143" name="TextBox 142">
              <a:extLst>
                <a:ext uri="{FF2B5EF4-FFF2-40B4-BE49-F238E27FC236}">
                  <a16:creationId xmlns:a16="http://schemas.microsoft.com/office/drawing/2014/main" id="{FFC49AEA-2A8F-250C-A86A-A7751D9706C3}"/>
                </a:ext>
              </a:extLst>
            </p:cNvPr>
            <p:cNvSpPr txBox="1"/>
            <p:nvPr/>
          </p:nvSpPr>
          <p:spPr>
            <a:xfrm>
              <a:off x="3852159" y="2611009"/>
              <a:ext cx="1279635" cy="181140"/>
            </a:xfrm>
            <a:prstGeom prst="rect">
              <a:avLst/>
            </a:prstGeom>
            <a:noFill/>
          </p:spPr>
          <p:txBody>
            <a:bodyPr wrap="square" lIns="0" tIns="0" rIns="0" bIns="0" rtlCol="0">
              <a:spAutoFit/>
            </a:bodyPr>
            <a:lstStyle/>
            <a:p>
              <a:pPr>
                <a:lnSpc>
                  <a:spcPct val="200000"/>
                </a:lnSpc>
              </a:pPr>
              <a:r>
                <a:rPr lang="ko-KR" altLang="en-US" sz="700" dirty="0" err="1">
                  <a:latin typeface="+mn-ea"/>
                </a:rPr>
                <a:t>등록결과</a:t>
              </a:r>
              <a:endParaRPr lang="ko-KR" altLang="en-US" sz="700" dirty="0">
                <a:latin typeface="+mn-ea"/>
              </a:endParaRPr>
            </a:p>
          </p:txBody>
        </p:sp>
        <p:sp>
          <p:nvSpPr>
            <p:cNvPr id="145" name="직사각형 144"/>
            <p:cNvSpPr/>
            <p:nvPr/>
          </p:nvSpPr>
          <p:spPr>
            <a:xfrm>
              <a:off x="3793281" y="2918495"/>
              <a:ext cx="792000" cy="6585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TextBox 160">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등록결과</a:t>
              </a:r>
              <a:endParaRPr lang="en-US" altLang="ko-KR" sz="700" dirty="0">
                <a:latin typeface="+mn-ea"/>
              </a:endParaRPr>
            </a:p>
            <a:p>
              <a:pPr>
                <a:lnSpc>
                  <a:spcPct val="200000"/>
                </a:lnSpc>
              </a:pPr>
              <a:r>
                <a:rPr lang="ko-KR" altLang="en-US" sz="700" dirty="0">
                  <a:latin typeface="+mn-ea"/>
                </a:rPr>
                <a:t>등록불가사유</a:t>
              </a:r>
              <a:endParaRPr lang="en-US" altLang="ko-KR" sz="700" dirty="0">
                <a:latin typeface="+mn-ea"/>
              </a:endParaRPr>
            </a:p>
            <a:p>
              <a:pPr>
                <a:lnSpc>
                  <a:spcPct val="200000"/>
                </a:lnSpc>
              </a:pPr>
              <a:r>
                <a:rPr lang="ko-KR" altLang="en-US" sz="700" dirty="0">
                  <a:latin typeface="+mn-ea"/>
                </a:rPr>
                <a:t>등록확정일자</a:t>
              </a:r>
              <a:endParaRPr lang="en-US" altLang="ko-KR"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4637193" y="2918494"/>
              <a:ext cx="1784088" cy="612027"/>
            </a:xfrm>
            <a:prstGeom prst="rect">
              <a:avLst/>
            </a:prstGeom>
            <a:noFill/>
          </p:spPr>
          <p:txBody>
            <a:bodyPr wrap="square" lIns="0" tIns="0" rIns="0" bIns="0" rtlCol="0">
              <a:spAutoFit/>
            </a:bodyPr>
            <a:lstStyle/>
            <a:p>
              <a:pPr>
                <a:lnSpc>
                  <a:spcPct val="200000"/>
                </a:lnSpc>
              </a:pPr>
              <a:r>
                <a:rPr lang="ko-KR" altLang="en-US" sz="700" dirty="0" err="1">
                  <a:latin typeface="+mn-ea"/>
                </a:rPr>
                <a:t>등록불가</a:t>
              </a:r>
              <a:endParaRPr lang="en-US" altLang="ko-KR" sz="700" dirty="0">
                <a:latin typeface="+mn-ea"/>
              </a:endParaRPr>
            </a:p>
            <a:p>
              <a:pPr>
                <a:lnSpc>
                  <a:spcPct val="200000"/>
                </a:lnSpc>
              </a:pPr>
              <a:r>
                <a:rPr lang="ko-KR" altLang="en-US" sz="700" dirty="0">
                  <a:latin typeface="+mn-ea"/>
                </a:rPr>
                <a:t>서류미비</a:t>
              </a:r>
              <a:endParaRPr lang="en-US" altLang="ko-KR" sz="700" dirty="0">
                <a:latin typeface="+mn-ea"/>
              </a:endParaRPr>
            </a:p>
            <a:p>
              <a:pPr>
                <a:lnSpc>
                  <a:spcPct val="200000"/>
                </a:lnSpc>
              </a:pPr>
              <a:r>
                <a:rPr lang="en-US" altLang="ko-KR" sz="700" dirty="0">
                  <a:latin typeface="+mn-ea"/>
                </a:rPr>
                <a:t>2026-02-19</a:t>
              </a:r>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grpSp>
        <p:nvGrpSpPr>
          <p:cNvPr id="91" name="그룹 90"/>
          <p:cNvGrpSpPr/>
          <p:nvPr/>
        </p:nvGrpSpPr>
        <p:grpSpPr>
          <a:xfrm>
            <a:off x="716366" y="4231117"/>
            <a:ext cx="2630093" cy="2031034"/>
            <a:chOff x="3791188" y="2611009"/>
            <a:chExt cx="2630093" cy="2031034"/>
          </a:xfrm>
        </p:grpSpPr>
        <p:sp>
          <p:nvSpPr>
            <p:cNvPr id="92" name="TextBox 91">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93" name="직사각형 92"/>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94" name="직선 연결선 93">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TextBox 94">
              <a:extLst>
                <a:ext uri="{FF2B5EF4-FFF2-40B4-BE49-F238E27FC236}">
                  <a16:creationId xmlns:a16="http://schemas.microsoft.com/office/drawing/2014/main" id="{FFC49AEA-2A8F-250C-A86A-A7751D9706C3}"/>
                </a:ext>
              </a:extLst>
            </p:cNvPr>
            <p:cNvSpPr txBox="1"/>
            <p:nvPr/>
          </p:nvSpPr>
          <p:spPr>
            <a:xfrm>
              <a:off x="3880345" y="2918494"/>
              <a:ext cx="756848" cy="168924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주민등록번호</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97" name="직선 연결선 9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09" name="그룹 108"/>
          <p:cNvGrpSpPr/>
          <p:nvPr/>
        </p:nvGrpSpPr>
        <p:grpSpPr>
          <a:xfrm>
            <a:off x="3836701" y="2583230"/>
            <a:ext cx="2630093" cy="2031034"/>
            <a:chOff x="3791188" y="2611009"/>
            <a:chExt cx="2630093" cy="2031034"/>
          </a:xfrm>
        </p:grpSpPr>
        <p:sp>
          <p:nvSpPr>
            <p:cNvPr id="110" name="TextBox 109">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11" name="직사각형 110"/>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2" name="직선 연결선 111">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3" name="TextBox 132">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37" name="직선 연결선 13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9" name="직선 연결선 138">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9" name="TextBox 148">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 name="그룹 2"/>
          <p:cNvGrpSpPr/>
          <p:nvPr/>
        </p:nvGrpSpPr>
        <p:grpSpPr>
          <a:xfrm>
            <a:off x="716366" y="2583230"/>
            <a:ext cx="2630093" cy="1600147"/>
            <a:chOff x="-2016425" y="2681700"/>
            <a:chExt cx="2630093" cy="1600147"/>
          </a:xfrm>
        </p:grpSpPr>
        <p:sp>
          <p:nvSpPr>
            <p:cNvPr id="157" name="TextBox 156">
              <a:extLst>
                <a:ext uri="{FF2B5EF4-FFF2-40B4-BE49-F238E27FC236}">
                  <a16:creationId xmlns:a16="http://schemas.microsoft.com/office/drawing/2014/main" id="{FFC49AEA-2A8F-250C-A86A-A7751D9706C3}"/>
                </a:ext>
              </a:extLst>
            </p:cNvPr>
            <p:cNvSpPr txBox="1"/>
            <p:nvPr/>
          </p:nvSpPr>
          <p:spPr>
            <a:xfrm>
              <a:off x="-1955454" y="2681700"/>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9" name="직사각형 158"/>
            <p:cNvSpPr/>
            <p:nvPr/>
          </p:nvSpPr>
          <p:spPr>
            <a:xfrm>
              <a:off x="-2014332" y="2989186"/>
              <a:ext cx="792000" cy="12884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1927270" y="2989185"/>
              <a:ext cx="728979" cy="129266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개찰일자</a:t>
              </a:r>
              <a:endParaRPr lang="ko-KR" altLang="en-US"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170420" y="2989185"/>
              <a:ext cx="1775839" cy="129266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p:txBody>
        </p:sp>
        <p:grpSp>
          <p:nvGrpSpPr>
            <p:cNvPr id="166" name="그룹 165"/>
            <p:cNvGrpSpPr/>
            <p:nvPr/>
          </p:nvGrpSpPr>
          <p:grpSpPr>
            <a:xfrm>
              <a:off x="-2016425" y="2989185"/>
              <a:ext cx="2630093" cy="1288440"/>
              <a:chOff x="701175" y="1835481"/>
              <a:chExt cx="2630093" cy="1288440"/>
            </a:xfrm>
          </p:grpSpPr>
          <p:cxnSp>
            <p:nvCxnSpPr>
              <p:cNvPr id="172" name="직선 연결선 17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0" name="TextBox 169">
              <a:extLst>
                <a:ext uri="{FF2B5EF4-FFF2-40B4-BE49-F238E27FC236}">
                  <a16:creationId xmlns:a16="http://schemas.microsoft.com/office/drawing/2014/main" id="{FFC49AEA-2A8F-250C-A86A-A7751D9706C3}"/>
                </a:ext>
              </a:extLst>
            </p:cNvPr>
            <p:cNvSpPr txBox="1"/>
            <p:nvPr/>
          </p:nvSpPr>
          <p:spPr>
            <a:xfrm>
              <a:off x="-1927270" y="3848867"/>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87044832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386</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a:solidFill>
                  <a:prstClr val="black"/>
                </a:solidFill>
              </a:rPr>
              <a:t>1. </a:t>
            </a:r>
            <a:r>
              <a:rPr lang="ko-KR" altLang="en-US" sz="1000" b="1">
                <a:solidFill>
                  <a:prstClr val="black"/>
                </a:solidFill>
              </a:rPr>
              <a:t>항목 설명 </a:t>
            </a:r>
            <a:r>
              <a:rPr lang="en-US" altLang="ko-KR" sz="1000" b="1">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a:solidFill>
                  <a:prstClr val="black"/>
                </a:solidFill>
              </a:rPr>
              <a:t>1.1. </a:t>
            </a:r>
            <a:r>
              <a:rPr lang="ko-KR" altLang="en-US" sz="900" b="1">
                <a:solidFill>
                  <a:prstClr val="black"/>
                </a:solidFill>
              </a:rPr>
              <a:t>공고일반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2691495"/>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9273148"/>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8908815"/>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541765"/>
                  </a:ext>
                </a:extLst>
              </a:tr>
              <a:tr h="0">
                <a:tc>
                  <a:txBody>
                    <a:bodyPr/>
                    <a:lstStyle/>
                    <a:p>
                      <a:pPr algn="l" fontAlgn="ctr"/>
                      <a:r>
                        <a:rPr lang="ko-KR" altLang="en-US" sz="800" b="0" i="0" u="none" strike="noStrike">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2038175"/>
                  </a:ext>
                </a:extLst>
              </a:tr>
              <a:tr h="0">
                <a:tc>
                  <a:txBody>
                    <a:bodyPr/>
                    <a:lstStyle/>
                    <a:p>
                      <a:pPr algn="l" fontAlgn="ctr"/>
                      <a:r>
                        <a:rPr lang="ko-KR" altLang="en-US" sz="800" b="0" i="0" u="none" strike="noStrike" dirty="0">
                          <a:solidFill>
                            <a:srgbClr val="000000"/>
                          </a:solidFill>
                          <a:effectLst/>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개찰일시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145801"/>
                  </a:ext>
                </a:extLst>
              </a:tr>
            </a:tbl>
          </a:graphicData>
        </a:graphic>
      </p:graphicFrame>
      <p:sp>
        <p:nvSpPr>
          <p:cNvPr id="2" name="Text Box 73">
            <a:extLst>
              <a:ext uri="{FF2B5EF4-FFF2-40B4-BE49-F238E27FC236}">
                <a16:creationId xmlns:a16="http://schemas.microsoft.com/office/drawing/2014/main" id="{BC4D4D2A-1822-51BA-39E9-C5D0F22DD99D}"/>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D68F501D-B70F-F31D-D54D-85FA46FAA104}"/>
              </a:ext>
            </a:extLst>
          </p:cNvPr>
          <p:cNvSpPr txBox="1"/>
          <p:nvPr/>
        </p:nvSpPr>
        <p:spPr>
          <a:xfrm>
            <a:off x="458117" y="2964332"/>
            <a:ext cx="2169431"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신청업체 데이터 </a:t>
            </a:r>
            <a:r>
              <a:rPr lang="ko-KR" altLang="en-US" sz="900" b="1">
                <a:solidFill>
                  <a:prstClr val="black"/>
                </a:solidFill>
              </a:rPr>
              <a:t>영역 </a:t>
            </a:r>
            <a:r>
              <a:rPr lang="en-US" altLang="ko-KR" sz="900" b="1">
                <a:solidFill>
                  <a:prstClr val="black"/>
                </a:solidFill>
              </a:rPr>
              <a:t>(dm_sbtInfo)</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AA5DB000-44F6-7049-9830-F1A341D4A9D1}"/>
              </a:ext>
            </a:extLst>
          </p:cNvPr>
          <p:cNvGraphicFramePr>
            <a:graphicFrameLocks noGrp="1"/>
          </p:cNvGraphicFramePr>
          <p:nvPr/>
        </p:nvGraphicFramePr>
        <p:xfrm>
          <a:off x="452999" y="3175535"/>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영문</a:t>
                      </a:r>
                      <a:r>
                        <a:rPr lang="en-US" altLang="ko-KR" sz="800" b="1">
                          <a:latin typeface="+mn-ea"/>
                          <a:ea typeface="+mn-ea"/>
                        </a:rPr>
                        <a:t>)</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설명</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속성</a:t>
                      </a:r>
                      <a:r>
                        <a:rPr lang="en-US" altLang="ko-KR" sz="800" b="1" baseline="30000">
                          <a:latin typeface="+mn-ea"/>
                          <a:ea typeface="+mn-ea"/>
                        </a:rPr>
                        <a:t>1)</a:t>
                      </a:r>
                      <a:endParaRPr lang="en-US" altLang="ko-KR" sz="800" b="1" baseline="300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필수여부</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자리수</a:t>
                      </a:r>
                      <a:r>
                        <a:rPr lang="en-US" altLang="ko-KR" sz="800" b="1" baseline="3000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a:latin typeface="+mn-ea"/>
                          <a:ea typeface="+mn-ea"/>
                        </a:rPr>
                        <a:t>비고</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업체코드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업체코드</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업체명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439004"/>
                  </a:ext>
                </a:extLst>
              </a:tr>
              <a:tr h="0">
                <a:tc>
                  <a:txBody>
                    <a:bodyPr/>
                    <a:lstStyle/>
                    <a:p>
                      <a:pPr algn="l" fontAlgn="ctr"/>
                      <a:r>
                        <a:rPr lang="ko-KR" altLang="en-US" sz="800" b="0" i="0" u="none" strike="noStrike">
                          <a:solidFill>
                            <a:srgbClr val="000000"/>
                          </a:solidFill>
                          <a:effectLst/>
                          <a:latin typeface="+mn-ea"/>
                          <a:ea typeface="+mn-ea"/>
                        </a:rPr>
                        <a:t>대표자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937548"/>
                  </a:ext>
                </a:extLst>
              </a:tr>
              <a:tr h="0">
                <a:tc>
                  <a:txBody>
                    <a:bodyPr/>
                    <a:lstStyle/>
                    <a:p>
                      <a:pPr algn="l" fontAlgn="ctr"/>
                      <a:r>
                        <a:rPr lang="ko-KR" altLang="en-US" sz="800" b="0" i="0" u="none" strike="noStrike">
                          <a:solidFill>
                            <a:srgbClr val="000000"/>
                          </a:solidFill>
                          <a:effectLst/>
                          <a:latin typeface="+mn-ea"/>
                          <a:ea typeface="+mn-ea"/>
                        </a:rPr>
                        <a:t>주민등록번호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1840538"/>
                  </a:ext>
                </a:extLst>
              </a:tr>
              <a:tr h="0">
                <a:tc>
                  <a:txBody>
                    <a:bodyPr/>
                    <a:lstStyle/>
                    <a:p>
                      <a:pPr algn="l" fontAlgn="ctr"/>
                      <a:r>
                        <a:rPr lang="ko-KR" altLang="en-US" sz="800" b="0" i="0" u="none" strike="noStrike">
                          <a:solidFill>
                            <a:srgbClr val="000000"/>
                          </a:solidFill>
                          <a:effectLst/>
                          <a:latin typeface="+mn-ea"/>
                          <a:ea typeface="+mn-ea"/>
                        </a:rPr>
                        <a:t>전화번호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8292066"/>
                  </a:ext>
                </a:extLst>
              </a:tr>
              <a:tr h="0">
                <a:tc>
                  <a:txBody>
                    <a:bodyPr/>
                    <a:lstStyle/>
                    <a:p>
                      <a:pPr algn="l" fontAlgn="ctr"/>
                      <a:r>
                        <a:rPr lang="ko-KR" altLang="en-US" sz="800" b="0" i="0" u="none" strike="noStrike">
                          <a:solidFill>
                            <a:srgbClr val="000000"/>
                          </a:solidFill>
                          <a:effectLst/>
                          <a:latin typeface="+mn-ea"/>
                          <a:ea typeface="+mn-ea"/>
                        </a:rPr>
                        <a:t>시업자번호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사업자등록번호 또는 </a:t>
                      </a:r>
                      <a:r>
                        <a:rPr lang="en-US" altLang="ko-KR" sz="800" b="0" i="0" u="none" strike="noStrike">
                          <a:solidFill>
                            <a:srgbClr val="000000"/>
                          </a:solidFill>
                          <a:effectLst/>
                          <a:latin typeface="+mn-ea"/>
                          <a:ea typeface="+mn-ea"/>
                        </a:rPr>
                        <a:t>DUNSNUM</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8574632"/>
                  </a:ext>
                </a:extLst>
              </a:tr>
              <a:tr h="0">
                <a:tc>
                  <a:txBody>
                    <a:bodyPr/>
                    <a:lstStyle/>
                    <a:p>
                      <a:pPr algn="l" fontAlgn="ctr"/>
                      <a:r>
                        <a:rPr lang="ko-KR" altLang="en-US" sz="800" b="0" i="0" u="none" strike="noStrike">
                          <a:solidFill>
                            <a:srgbClr val="000000"/>
                          </a:solidFill>
                          <a:effectLst/>
                          <a:latin typeface="+mn-ea"/>
                          <a:ea typeface="+mn-ea"/>
                        </a:rPr>
                        <a:t>팩스</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a:solidFill>
                            <a:srgbClr val="000000"/>
                          </a:solidFill>
                          <a:effectLst/>
                          <a:latin typeface="+mn-ea"/>
                          <a:ea typeface="+mn-ea"/>
                        </a:rPr>
                        <a:t>주소</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주소</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Tree>
    <p:extLst>
      <p:ext uri="{BB962C8B-B14F-4D97-AF65-F5344CB8AC3E}">
        <p14:creationId xmlns:p14="http://schemas.microsoft.com/office/powerpoint/2010/main" val="778728073"/>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4B4A1045-46F0-1D1D-A586-BF9C3203A725}"/>
              </a:ext>
            </a:extLst>
          </p:cNvPr>
          <p:cNvSpPr txBox="1">
            <a:spLocks/>
          </p:cNvSpPr>
          <p:nvPr/>
        </p:nvSpPr>
        <p:spPr>
          <a:xfrm>
            <a:off x="4327200" y="6590501"/>
            <a:ext cx="1258128" cy="216000"/>
          </a:xfrm>
          <a:prstGeom prst="rect">
            <a:avLst/>
          </a:prstGeom>
        </p:spPr>
        <p:txBody>
          <a:bodyPr vert="horz" lIns="91440" tIns="45720" rIns="91440" bIns="45720" rtlCol="0" anchor="ctr"/>
          <a:lstStyle>
            <a:defPPr>
              <a:defRPr lang="ko-KR"/>
            </a:defPPr>
            <a:lvl1pPr marL="0" algn="ctr" defTabSz="914400" rtl="0" eaLnBrk="1" latinLnBrk="1" hangingPunct="1">
              <a:defRPr sz="10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fld id="{9DF8E3FD-B4FB-473B-BCAD-C4534B9A9D97}" type="slidenum">
              <a:rPr lang="ko-KR" altLang="en-US" smtClean="0"/>
              <a:pPr/>
              <a:t>387</a:t>
            </a:fld>
            <a:endParaRPr lang="ko-KR" altLang="en-US" dirty="0"/>
          </a:p>
        </p:txBody>
      </p:sp>
      <p:sp>
        <p:nvSpPr>
          <p:cNvPr id="4" name="TextBox 3">
            <a:extLst>
              <a:ext uri="{FF2B5EF4-FFF2-40B4-BE49-F238E27FC236}">
                <a16:creationId xmlns:a16="http://schemas.microsoft.com/office/drawing/2014/main" id="{D08BF167-F639-9C0A-B763-78467E58807D}"/>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a:t>
            </a:r>
            <a:r>
              <a:rPr lang="ko-KR" altLang="en-US" sz="1000" b="1">
                <a:solidFill>
                  <a:prstClr val="black"/>
                </a:solidFill>
              </a:rPr>
              <a:t>설명 </a:t>
            </a:r>
            <a:r>
              <a:rPr lang="en-US" altLang="ko-KR" sz="1000" b="1">
                <a:solidFill>
                  <a:prstClr val="black"/>
                </a:solidFill>
              </a:rPr>
              <a:t>(2/2</a:t>
            </a:r>
            <a:r>
              <a:rPr lang="en-US" altLang="ko-KR" sz="1000" b="1" dirty="0">
                <a:solidFill>
                  <a:prstClr val="black"/>
                </a:solidFill>
              </a:rPr>
              <a:t>)</a:t>
            </a:r>
            <a:endParaRPr lang="ko-KR" altLang="en-US" sz="1000" b="1" dirty="0">
              <a:solidFill>
                <a:prstClr val="black"/>
              </a:solidFill>
            </a:endParaRPr>
          </a:p>
        </p:txBody>
      </p:sp>
      <p:sp>
        <p:nvSpPr>
          <p:cNvPr id="7" name="TextBox 6">
            <a:extLst>
              <a:ext uri="{FF2B5EF4-FFF2-40B4-BE49-F238E27FC236}">
                <a16:creationId xmlns:a16="http://schemas.microsoft.com/office/drawing/2014/main" id="{66917E2D-833E-D0F7-67A3-343B7671F0FE}"/>
              </a:ext>
            </a:extLst>
          </p:cNvPr>
          <p:cNvSpPr txBox="1"/>
          <p:nvPr/>
        </p:nvSpPr>
        <p:spPr>
          <a:xfrm>
            <a:off x="458117" y="802157"/>
            <a:ext cx="2219125" cy="211203"/>
          </a:xfrm>
          <a:prstGeom prst="rect">
            <a:avLst/>
          </a:prstGeom>
          <a:noFill/>
        </p:spPr>
        <p:txBody>
          <a:bodyPr wrap="none" lIns="36000" tIns="36000" rIns="36000" bIns="36000" rtlCol="0">
            <a:spAutoFit/>
          </a:bodyPr>
          <a:lstStyle/>
          <a:p>
            <a:r>
              <a:rPr lang="en-US" altLang="ko-KR" sz="900" b="1">
                <a:solidFill>
                  <a:prstClr val="black"/>
                </a:solidFill>
              </a:rPr>
              <a:t>1.3. </a:t>
            </a:r>
            <a:r>
              <a:rPr lang="ko-KR" altLang="en-US" sz="900" b="1">
                <a:solidFill>
                  <a:prstClr val="black"/>
                </a:solidFill>
              </a:rPr>
              <a:t>입찰업체 데이터 영역 </a:t>
            </a:r>
            <a:r>
              <a:rPr lang="en-US" altLang="ko-KR" sz="900" b="1">
                <a:solidFill>
                  <a:prstClr val="black"/>
                </a:solidFill>
              </a:rPr>
              <a:t>(dm_splyInfo)</a:t>
            </a:r>
            <a:endParaRPr lang="ko-KR" altLang="en-US" sz="900" b="1" dirty="0">
              <a:solidFill>
                <a:prstClr val="black"/>
              </a:solidFill>
            </a:endParaRPr>
          </a:p>
        </p:txBody>
      </p:sp>
      <p:graphicFrame>
        <p:nvGraphicFramePr>
          <p:cNvPr id="8" name="표 7">
            <a:extLst>
              <a:ext uri="{FF2B5EF4-FFF2-40B4-BE49-F238E27FC236}">
                <a16:creationId xmlns:a16="http://schemas.microsoft.com/office/drawing/2014/main" id="{58F0E4BB-634F-0539-DE1E-BFF7239092F4}"/>
              </a:ext>
            </a:extLst>
          </p:cNvPr>
          <p:cNvGraphicFramePr>
            <a:graphicFrameLocks noGrp="1"/>
          </p:cNvGraphicFramePr>
          <p:nvPr/>
        </p:nvGraphicFramePr>
        <p:xfrm>
          <a:off x="452999" y="1013360"/>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splyBzentyCd</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mn-ea"/>
                          <a:ea typeface="+mn-ea"/>
                        </a:rPr>
                        <a:t>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splyBzentyNm</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439004"/>
                  </a:ext>
                </a:extLst>
              </a:tr>
              <a:tr h="0">
                <a:tc>
                  <a:txBody>
                    <a:bodyPr/>
                    <a:lstStyle/>
                    <a:p>
                      <a:pPr algn="l" fontAlgn="ctr"/>
                      <a:r>
                        <a:rPr lang="ko-KR" altLang="en-US" sz="800" b="0" i="0" u="none" strike="noStrike" dirty="0">
                          <a:solidFill>
                            <a:srgbClr val="000000"/>
                          </a:solidFill>
                          <a:effectLst/>
                          <a:latin typeface="+mn-ea"/>
                          <a:ea typeface="+mn-ea"/>
                        </a:rPr>
                        <a:t>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937548"/>
                  </a:ext>
                </a:extLst>
              </a:tr>
              <a:tr h="0">
                <a:tc>
                  <a:txBody>
                    <a:bodyPr/>
                    <a:lstStyle/>
                    <a:p>
                      <a:pPr algn="l" fontAlgn="ctr"/>
                      <a:r>
                        <a:rPr lang="ko-KR" altLang="en-US" sz="800" b="0" i="0" u="none" strike="noStrike">
                          <a:solidFill>
                            <a:srgbClr val="000000"/>
                          </a:solidFill>
                          <a:effectLst/>
                          <a:latin typeface="+mn-ea"/>
                          <a:ea typeface="+mn-ea"/>
                        </a:rPr>
                        <a:t>이메일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대표자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1840538"/>
                  </a:ext>
                </a:extLst>
              </a:tr>
              <a:tr h="0">
                <a:tc>
                  <a:txBody>
                    <a:bodyPr/>
                    <a:lstStyle/>
                    <a:p>
                      <a:pPr algn="l" fontAlgn="ctr"/>
                      <a:r>
                        <a:rPr lang="ko-KR" altLang="en-US" sz="800" b="0" i="0" u="none" strike="noStrike" dirty="0">
                          <a:solidFill>
                            <a:srgbClr val="000000"/>
                          </a:solidFill>
                          <a:effectLst/>
                          <a:latin typeface="+mn-ea"/>
                          <a:ea typeface="+mn-ea"/>
                        </a:rPr>
                        <a:t>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8292066"/>
                  </a:ext>
                </a:extLst>
              </a:tr>
              <a:tr h="0">
                <a:tc>
                  <a:txBody>
                    <a:bodyPr/>
                    <a:lstStyle/>
                    <a:p>
                      <a:pPr algn="l" fontAlgn="ctr"/>
                      <a:r>
                        <a:rPr lang="ko-KR" altLang="en-US" sz="800" b="0" i="0" u="none" strike="noStrike" dirty="0">
                          <a:solidFill>
                            <a:srgbClr val="000000"/>
                          </a:solidFill>
                          <a:effectLst/>
                          <a:latin typeface="+mn-ea"/>
                          <a:ea typeface="+mn-ea"/>
                        </a:rPr>
                        <a:t>시업자번호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8574632"/>
                  </a:ext>
                </a:extLst>
              </a:tr>
              <a:tr h="0">
                <a:tc>
                  <a:txBody>
                    <a:bodyPr/>
                    <a:lstStyle/>
                    <a:p>
                      <a:pPr algn="l" fontAlgn="ctr"/>
                      <a:r>
                        <a:rPr lang="ko-KR" altLang="en-US" sz="800" b="0" i="0" u="none" strike="noStrike" dirty="0">
                          <a:solidFill>
                            <a:srgbClr val="000000"/>
                          </a:solidFill>
                          <a:effectLst/>
                          <a:latin typeface="+mn-ea"/>
                          <a:ea typeface="+mn-ea"/>
                        </a:rPr>
                        <a:t>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9" name="Text Box 73">
            <a:extLst>
              <a:ext uri="{FF2B5EF4-FFF2-40B4-BE49-F238E27FC236}">
                <a16:creationId xmlns:a16="http://schemas.microsoft.com/office/drawing/2014/main" id="{FDB94FB0-A796-6CBE-A555-D05F8AA2C6E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10" name="TextBox 9">
            <a:extLst>
              <a:ext uri="{FF2B5EF4-FFF2-40B4-BE49-F238E27FC236}">
                <a16:creationId xmlns:a16="http://schemas.microsoft.com/office/drawing/2014/main" id="{32AEBDAA-6E52-BB67-E659-9DD24CB93629}"/>
              </a:ext>
            </a:extLst>
          </p:cNvPr>
          <p:cNvSpPr txBox="1"/>
          <p:nvPr/>
        </p:nvSpPr>
        <p:spPr>
          <a:xfrm>
            <a:off x="458117" y="3106439"/>
            <a:ext cx="2243169"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a:solidFill>
                  <a:prstClr val="black"/>
                </a:solidFill>
              </a:rPr>
              <a:t>등록결과 데이터 영역 </a:t>
            </a:r>
            <a:r>
              <a:rPr lang="en-US" altLang="ko-KR" sz="900" b="1">
                <a:solidFill>
                  <a:prstClr val="black"/>
                </a:solidFill>
              </a:rPr>
              <a:t>(dl_resultList)</a:t>
            </a:r>
            <a:endParaRPr lang="ko-KR" altLang="en-US" sz="900" b="1" dirty="0">
              <a:solidFill>
                <a:prstClr val="black"/>
              </a:solidFill>
            </a:endParaRPr>
          </a:p>
        </p:txBody>
      </p:sp>
      <p:graphicFrame>
        <p:nvGraphicFramePr>
          <p:cNvPr id="11" name="표 10">
            <a:extLst>
              <a:ext uri="{FF2B5EF4-FFF2-40B4-BE49-F238E27FC236}">
                <a16:creationId xmlns:a16="http://schemas.microsoft.com/office/drawing/2014/main" id="{1A9AC4A5-C661-7F31-B255-44DA50D2B0A4}"/>
              </a:ext>
            </a:extLst>
          </p:cNvPr>
          <p:cNvGraphicFramePr>
            <a:graphicFrameLocks noGrp="1"/>
          </p:cNvGraphicFramePr>
          <p:nvPr/>
        </p:nvGraphicFramePr>
        <p:xfrm>
          <a:off x="452999" y="3317642"/>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등록결과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cfmtnRslt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등록결과</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등록불가사유</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등록불가사유</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439004"/>
                  </a:ext>
                </a:extLst>
              </a:tr>
              <a:tr h="0">
                <a:tc>
                  <a:txBody>
                    <a:bodyPr/>
                    <a:lstStyle/>
                    <a:p>
                      <a:pPr algn="l" fontAlgn="ctr"/>
                      <a:r>
                        <a:rPr lang="ko-KR" altLang="en-US" sz="800" b="0" i="0" u="none" strike="noStrike">
                          <a:solidFill>
                            <a:srgbClr val="000000"/>
                          </a:solidFill>
                          <a:effectLst/>
                          <a:latin typeface="+mn-ea"/>
                          <a:ea typeface="+mn-ea"/>
                        </a:rPr>
                        <a:t>등록확정일자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cfmtnYmd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등록확정일자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937548"/>
                  </a:ext>
                </a:extLst>
              </a:tr>
            </a:tbl>
          </a:graphicData>
        </a:graphic>
      </p:graphicFrame>
    </p:spTree>
    <p:extLst>
      <p:ext uri="{BB962C8B-B14F-4D97-AF65-F5344CB8AC3E}">
        <p14:creationId xmlns:p14="http://schemas.microsoft.com/office/powerpoint/2010/main" val="2909502784"/>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11A31DEB-7767-2B92-FE4C-FA157C28290E}"/>
              </a:ext>
            </a:extLst>
          </p:cNvPr>
          <p:cNvSpPr>
            <a:spLocks noGrp="1"/>
          </p:cNvSpPr>
          <p:nvPr>
            <p:ph type="sldNum" sz="quarter" idx="4"/>
          </p:nvPr>
        </p:nvSpPr>
        <p:spPr/>
        <p:txBody>
          <a:bodyPr/>
          <a:lstStyle/>
          <a:p>
            <a:fld id="{34C8E023-7346-48FC-AB24-9A3388C53208}" type="slidenum">
              <a:rPr lang="ko-KR" altLang="en-US" smtClean="0"/>
              <a:pPr/>
              <a:t>388</a:t>
            </a:fld>
            <a:endParaRPr lang="ko-KR" altLang="en-US" dirty="0"/>
          </a:p>
        </p:txBody>
      </p:sp>
      <p:sp>
        <p:nvSpPr>
          <p:cNvPr id="3" name="TextBox 2">
            <a:extLst>
              <a:ext uri="{FF2B5EF4-FFF2-40B4-BE49-F238E27FC236}">
                <a16:creationId xmlns:a16="http://schemas.microsoft.com/office/drawing/2014/main" id="{9CF7DA6E-2BA7-22C9-80ED-7DC19673C6BD}"/>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90E23908-20F6-EB17-9DC3-43EE5C2F8A17}"/>
              </a:ext>
            </a:extLst>
          </p:cNvPr>
          <p:cNvGraphicFramePr>
            <a:graphicFrameLocks noGrp="1"/>
          </p:cNvGraphicFramePr>
          <p:nvPr/>
        </p:nvGraphicFramePr>
        <p:xfrm>
          <a:off x="458117" y="799547"/>
          <a:ext cx="8995591" cy="3878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a:latin typeface="+mn-ea"/>
                          <a:ea typeface="+mn-ea"/>
                        </a:rPr>
                        <a:t>이벤트명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입찰등록결과조회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a:latin typeface="+mn-ea"/>
                          <a:ea typeface="+mn-ea"/>
                        </a:rPr>
                        <a:t>입찰등록결과조회</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5" name="Text Box 73">
            <a:extLst>
              <a:ext uri="{FF2B5EF4-FFF2-40B4-BE49-F238E27FC236}">
                <a16:creationId xmlns:a16="http://schemas.microsoft.com/office/drawing/2014/main" id="{1C32AD44-1BCD-BB77-5C7E-C241CBF1750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338071195"/>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취소신청내역 데이터 영역</a:t>
            </a:r>
            <a:endParaRPr lang="en-US" altLang="ko-KR" dirty="0"/>
          </a:p>
          <a:p>
            <a:pPr marL="228600" indent="-228600">
              <a:buFont typeface="+mj-lt"/>
              <a:buAutoNum type="arabicPeriod"/>
            </a:pPr>
            <a:r>
              <a:rPr lang="ko-KR" altLang="en-US" dirty="0" err="1"/>
              <a:t>취소사유</a:t>
            </a:r>
            <a:r>
              <a:rPr lang="ko-KR" altLang="en-US" dirty="0"/>
              <a:t> 데이터 영역</a:t>
            </a:r>
            <a:endParaRPr lang="en-US" altLang="ko-KR" dirty="0"/>
          </a:p>
          <a:p>
            <a:pPr marL="228600" indent="-228600">
              <a:buFont typeface="+mj-lt"/>
              <a:buAutoNum type="arabicPeriod"/>
            </a:pPr>
            <a:r>
              <a:rPr lang="ko-KR" altLang="en-US" dirty="0"/>
              <a:t>취소 신청 제출</a:t>
            </a:r>
            <a:r>
              <a:rPr lang="en-US" altLang="ko-KR" dirty="0"/>
              <a:t>,</a:t>
            </a:r>
            <a:r>
              <a:rPr lang="ko-KR" altLang="en-US" dirty="0"/>
              <a:t> 닫기 클릭 이벤트</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389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입찰취소신청서작성</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입찰취소신청서작성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850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&gt; </a:t>
            </a:r>
            <a:r>
              <a:rPr lang="ko-KR" altLang="en-US" dirty="0">
                <a:latin typeface="+mn-ea"/>
              </a:rPr>
              <a:t>입찰취소신청서작성</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MUI-BD-06-P81</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err="1">
                <a:latin typeface="+mn-ea"/>
              </a:rPr>
              <a:t>입찰취소</a:t>
            </a:r>
            <a:r>
              <a:rPr lang="ko-KR" altLang="en-US" sz="900" dirty="0">
                <a:latin typeface="+mn-ea"/>
              </a:rPr>
              <a:t> 신청서</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err="1">
                <a:latin typeface="+mn-ea"/>
              </a:rPr>
              <a:t>입찰취소</a:t>
            </a:r>
            <a:r>
              <a:rPr lang="ko-KR" altLang="en-US" sz="900" dirty="0">
                <a:latin typeface="+mn-ea"/>
              </a:rPr>
              <a:t> 신청서</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8" name="그룹 7"/>
          <p:cNvGrpSpPr/>
          <p:nvPr/>
        </p:nvGrpSpPr>
        <p:grpSpPr>
          <a:xfrm>
            <a:off x="716366" y="2592310"/>
            <a:ext cx="2630093" cy="1169259"/>
            <a:chOff x="701175" y="2592310"/>
            <a:chExt cx="2630093" cy="1169259"/>
          </a:xfrm>
        </p:grpSpPr>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취소신청내역</a:t>
              </a:r>
            </a:p>
          </p:txBody>
        </p:sp>
        <p:sp>
          <p:nvSpPr>
            <p:cNvPr id="82" name="직사각형 81"/>
            <p:cNvSpPr/>
            <p:nvPr/>
          </p:nvSpPr>
          <p:spPr>
            <a:xfrm>
              <a:off x="703268" y="2899796"/>
              <a:ext cx="792000" cy="8589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a:latin typeface="+mn-ea"/>
                </a:rPr>
                <a:t>통합참조번호</a:t>
              </a:r>
            </a:p>
          </p:txBody>
        </p:sp>
        <p:grpSp>
          <p:nvGrpSpPr>
            <p:cNvPr id="85" name="그룹 84"/>
            <p:cNvGrpSpPr/>
            <p:nvPr/>
          </p:nvGrpSpPr>
          <p:grpSpPr>
            <a:xfrm>
              <a:off x="701175" y="2899795"/>
              <a:ext cx="2630093" cy="858960"/>
              <a:chOff x="701175" y="1835481"/>
              <a:chExt cx="2630093" cy="858960"/>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500MD</a:t>
              </a:r>
              <a:r>
                <a:rPr lang="ko-KR" altLang="en-US" sz="700" dirty="0">
                  <a:latin typeface="+mn-ea"/>
                </a:rPr>
                <a:t>부품</a:t>
              </a:r>
            </a:p>
            <a:p>
              <a:pPr>
                <a:lnSpc>
                  <a:spcPct val="200000"/>
                </a:lnSpc>
              </a:pPr>
              <a:r>
                <a:rPr lang="en-US" altLang="ko-KR" sz="700" dirty="0">
                  <a:latin typeface="+mn-ea"/>
                </a:rPr>
                <a:t>BAD839380-001</a:t>
              </a:r>
            </a:p>
            <a:p>
              <a:pPr>
                <a:lnSpc>
                  <a:spcPct val="200000"/>
                </a:lnSpc>
              </a:pPr>
              <a:r>
                <a:rPr lang="en-US" altLang="ko-KR" sz="700" dirty="0">
                  <a:latin typeface="+mn-ea"/>
                </a:rPr>
                <a:t>BAD83990EFD</a:t>
              </a:r>
            </a:p>
          </p:txBody>
        </p:sp>
      </p:grp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05" name="그룹 104"/>
          <p:cNvGrpSpPr/>
          <p:nvPr/>
        </p:nvGrpSpPr>
        <p:grpSpPr>
          <a:xfrm>
            <a:off x="716366" y="3832747"/>
            <a:ext cx="2630093" cy="1184228"/>
            <a:chOff x="3791188" y="2611009"/>
            <a:chExt cx="2630093" cy="1184228"/>
          </a:xfrm>
        </p:grpSpPr>
        <p:sp>
          <p:nvSpPr>
            <p:cNvPr id="106" name="TextBox 10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108" name="직사각형 107"/>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21" name="직선 연결선 120">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2" name="TextBox 121">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endParaRPr lang="en-US" altLang="ko-KR"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123-45-67890</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1" name="TextBox 140">
              <a:extLst>
                <a:ext uri="{FF2B5EF4-FFF2-40B4-BE49-F238E27FC236}">
                  <a16:creationId xmlns:a16="http://schemas.microsoft.com/office/drawing/2014/main" id="{FFC49AEA-2A8F-250C-A86A-A7751D9706C3}"/>
                </a:ext>
              </a:extLst>
            </p:cNvPr>
            <p:cNvSpPr txBox="1"/>
            <p:nvPr/>
          </p:nvSpPr>
          <p:spPr>
            <a:xfrm>
              <a:off x="3880345" y="3579793"/>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142" name="그룹 141"/>
          <p:cNvGrpSpPr/>
          <p:nvPr/>
        </p:nvGrpSpPr>
        <p:grpSpPr>
          <a:xfrm>
            <a:off x="3836701" y="2592310"/>
            <a:ext cx="2630093" cy="1179712"/>
            <a:chOff x="3791188" y="2611009"/>
            <a:chExt cx="2630093" cy="1179712"/>
          </a:xfrm>
        </p:grpSpPr>
        <p:sp>
          <p:nvSpPr>
            <p:cNvPr id="143" name="TextBox 142">
              <a:extLst>
                <a:ext uri="{FF2B5EF4-FFF2-40B4-BE49-F238E27FC236}">
                  <a16:creationId xmlns:a16="http://schemas.microsoft.com/office/drawing/2014/main" id="{FFC49AEA-2A8F-250C-A86A-A7751D9706C3}"/>
                </a:ext>
              </a:extLst>
            </p:cNvPr>
            <p:cNvSpPr txBox="1"/>
            <p:nvPr/>
          </p:nvSpPr>
          <p:spPr>
            <a:xfrm>
              <a:off x="3852159" y="2611009"/>
              <a:ext cx="1279635" cy="181140"/>
            </a:xfrm>
            <a:prstGeom prst="rect">
              <a:avLst/>
            </a:prstGeom>
            <a:noFill/>
          </p:spPr>
          <p:txBody>
            <a:bodyPr wrap="square" lIns="0" tIns="0" rIns="0" bIns="0" rtlCol="0">
              <a:spAutoFit/>
            </a:bodyPr>
            <a:lstStyle/>
            <a:p>
              <a:pPr>
                <a:lnSpc>
                  <a:spcPct val="200000"/>
                </a:lnSpc>
              </a:pPr>
              <a:r>
                <a:rPr lang="ko-KR" altLang="en-US" sz="700" dirty="0">
                  <a:latin typeface="+mn-ea"/>
                </a:rPr>
                <a:t>취소 </a:t>
              </a:r>
              <a:r>
                <a:rPr lang="ko-KR" altLang="en-US" sz="700" dirty="0" err="1">
                  <a:latin typeface="+mn-ea"/>
                </a:rPr>
                <a:t>신청건</a:t>
              </a:r>
              <a:r>
                <a:rPr lang="ko-KR" altLang="en-US" sz="700" dirty="0">
                  <a:latin typeface="+mn-ea"/>
                </a:rPr>
                <a:t>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45" name="직사각형 144"/>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TextBox 160">
              <a:extLst>
                <a:ext uri="{FF2B5EF4-FFF2-40B4-BE49-F238E27FC236}">
                  <a16:creationId xmlns:a16="http://schemas.microsoft.com/office/drawing/2014/main" id="{FFC49AEA-2A8F-250C-A86A-A7751D9706C3}"/>
                </a:ext>
              </a:extLst>
            </p:cNvPr>
            <p:cNvSpPr txBox="1"/>
            <p:nvPr/>
          </p:nvSpPr>
          <p:spPr>
            <a:xfrm>
              <a:off x="3880345" y="2918494"/>
              <a:ext cx="756848" cy="861774"/>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err="1">
                  <a:latin typeface="+mn-ea"/>
                </a:rPr>
                <a:t>부품번호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1015375183975</a:t>
              </a:r>
            </a:p>
            <a:p>
              <a:pPr>
                <a:lnSpc>
                  <a:spcPct val="200000"/>
                </a:lnSpc>
              </a:pPr>
              <a:r>
                <a:rPr lang="en-US" altLang="ko-KR" sz="700" dirty="0">
                  <a:solidFill>
                    <a:schemeClr val="tx1">
                      <a:lumMod val="85000"/>
                      <a:lumOff val="15000"/>
                    </a:schemeClr>
                  </a:solidFill>
                  <a:latin typeface="맑은 고딕" panose="020B0503020000020004" pitchFamily="50" charset="-127"/>
                  <a:cs typeface="Segoe UI" panose="020B0502040204020203" pitchFamily="34" charset="0"/>
                </a:rPr>
                <a:t>2A46MSB07</a:t>
              </a:r>
            </a:p>
            <a:p>
              <a:pPr>
                <a:lnSpc>
                  <a:spcPct val="200000"/>
                </a:lnSpc>
              </a:pPr>
              <a:r>
                <a:rPr lang="ko-KR" altLang="en-US" sz="700" dirty="0">
                  <a:solidFill>
                    <a:schemeClr val="tx1">
                      <a:lumMod val="85000"/>
                      <a:lumOff val="15000"/>
                    </a:schemeClr>
                  </a:solidFill>
                  <a:latin typeface="맑은 고딕" panose="020B0503020000020004" pitchFamily="50" charset="-127"/>
                  <a:cs typeface="Segoe UI" panose="020B0502040204020203" pitchFamily="34" charset="0"/>
                </a:rPr>
                <a:t>품명 표시</a:t>
              </a:r>
              <a:endParaRPr lang="en-US" altLang="ko-KR" sz="700" dirty="0">
                <a:latin typeface="+mn-ea"/>
              </a:endParaRPr>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19" name="모서리가 둥근 직사각형 218"/>
          <p:cNvSpPr/>
          <p:nvPr/>
        </p:nvSpPr>
        <p:spPr>
          <a:xfrm>
            <a:off x="3859820" y="4890313"/>
            <a:ext cx="2579992" cy="987891"/>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0" name="TextBox 219">
            <a:extLst>
              <a:ext uri="{FF2B5EF4-FFF2-40B4-BE49-F238E27FC236}">
                <a16:creationId xmlns:a16="http://schemas.microsoft.com/office/drawing/2014/main" id="{FFC49AEA-2A8F-250C-A86A-A7751D9706C3}"/>
              </a:ext>
            </a:extLst>
          </p:cNvPr>
          <p:cNvSpPr txBox="1"/>
          <p:nvPr/>
        </p:nvSpPr>
        <p:spPr>
          <a:xfrm>
            <a:off x="3997244" y="5053398"/>
            <a:ext cx="2305144" cy="661720"/>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청에 제출한 전자입찰서를 </a:t>
            </a:r>
            <a:r>
              <a:rPr lang="ko-KR" altLang="en-US" sz="700" dirty="0" err="1">
                <a:latin typeface="맑은 고딕" panose="020B0503020000020004" pitchFamily="50" charset="-127"/>
              </a:rPr>
              <a:t>취소하오니</a:t>
            </a:r>
            <a:r>
              <a:rPr lang="en-US" altLang="ko-KR" sz="700" dirty="0">
                <a:latin typeface="맑은 고딕" panose="020B0503020000020004" pitchFamily="50" charset="-127"/>
              </a:rPr>
              <a:t>, </a:t>
            </a:r>
            <a:r>
              <a:rPr lang="ko-KR" altLang="en-US" sz="700" dirty="0">
                <a:latin typeface="맑은 고딕" panose="020B0503020000020004" pitchFamily="50" charset="-127"/>
              </a:rPr>
              <a:t>무효 처리하여 주시기 바랍니다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ko-KR" altLang="en-US" sz="700" dirty="0">
                <a:latin typeface="맑은 고딕" panose="020B0503020000020004" pitchFamily="50" charset="-127"/>
              </a:rPr>
              <a:t>방위사업청장 귀하</a:t>
            </a:r>
            <a:endParaRPr lang="en-US" altLang="ko-KR" sz="700" dirty="0">
              <a:latin typeface="맑은 고딕" panose="020B0503020000020004" pitchFamily="50" charset="-127"/>
            </a:endParaRPr>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3835401" y="41057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3837494" y="479698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직사각형 213"/>
          <p:cNvSpPr/>
          <p:nvPr/>
        </p:nvSpPr>
        <p:spPr>
          <a:xfrm>
            <a:off x="3835401" y="4105760"/>
            <a:ext cx="2621844" cy="61377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1" name="TextBox 220">
            <a:extLst>
              <a:ext uri="{FF2B5EF4-FFF2-40B4-BE49-F238E27FC236}">
                <a16:creationId xmlns:a16="http://schemas.microsoft.com/office/drawing/2014/main" id="{FFC49AEA-2A8F-250C-A86A-A7751D9706C3}"/>
              </a:ext>
            </a:extLst>
          </p:cNvPr>
          <p:cNvSpPr txBox="1"/>
          <p:nvPr/>
        </p:nvSpPr>
        <p:spPr>
          <a:xfrm>
            <a:off x="3924557" y="4106633"/>
            <a:ext cx="2454126" cy="181140"/>
          </a:xfrm>
          <a:prstGeom prst="rect">
            <a:avLst/>
          </a:prstGeom>
          <a:noFill/>
        </p:spPr>
        <p:txBody>
          <a:bodyPr wrap="square" lIns="0" tIns="0" rIns="0" bIns="0" rtlCol="0">
            <a:spAutoFit/>
          </a:bodyPr>
          <a:lstStyle/>
          <a:p>
            <a:pPr>
              <a:lnSpc>
                <a:spcPct val="200000"/>
              </a:lnSpc>
            </a:pPr>
            <a:r>
              <a:rPr lang="ko-KR" altLang="en-US" sz="700" dirty="0">
                <a:solidFill>
                  <a:schemeClr val="bg1">
                    <a:lumMod val="75000"/>
                  </a:schemeClr>
                </a:solidFill>
                <a:latin typeface="+mn-ea"/>
              </a:rPr>
              <a:t>내용을 입력하세요</a:t>
            </a:r>
            <a:r>
              <a:rPr lang="en-US" altLang="ko-KR" sz="700" dirty="0">
                <a:solidFill>
                  <a:schemeClr val="bg1">
                    <a:lumMod val="75000"/>
                  </a:schemeClr>
                </a:solidFill>
                <a:latin typeface="+mn-ea"/>
              </a:rPr>
              <a:t>.</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859820" y="3849095"/>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취소사유</a:t>
            </a:r>
            <a:r>
              <a:rPr lang="ko-KR" altLang="en-US" sz="700" dirty="0">
                <a:latin typeface="+mn-ea"/>
              </a:rPr>
              <a:t> </a:t>
            </a:r>
            <a:r>
              <a:rPr lang="en-US" altLang="ko-KR" sz="700" dirty="0">
                <a:solidFill>
                  <a:srgbClr val="FF0000"/>
                </a:solidFill>
                <a:latin typeface="+mn-ea"/>
              </a:rPr>
              <a:t>*</a:t>
            </a:r>
            <a:endParaRPr lang="ko-KR" altLang="en-US" sz="700" dirty="0">
              <a:solidFill>
                <a:srgbClr val="FF0000"/>
              </a:solidFill>
              <a:latin typeface="+mn-ea"/>
            </a:endParaRPr>
          </a:p>
        </p:txBody>
      </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226" name="타원 225">
            <a:extLst>
              <a:ext uri="{FF2B5EF4-FFF2-40B4-BE49-F238E27FC236}">
                <a16:creationId xmlns:a16="http://schemas.microsoft.com/office/drawing/2014/main" id="{37A7FF4F-0EAA-1463-560A-D5EC24416103}"/>
              </a:ext>
            </a:extLst>
          </p:cNvPr>
          <p:cNvSpPr/>
          <p:nvPr/>
        </p:nvSpPr>
        <p:spPr>
          <a:xfrm>
            <a:off x="3655647" y="389862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27" name="타원 226">
            <a:extLst>
              <a:ext uri="{FF2B5EF4-FFF2-40B4-BE49-F238E27FC236}">
                <a16:creationId xmlns:a16="http://schemas.microsoft.com/office/drawing/2014/main" id="{37A7FF4F-0EAA-1463-560A-D5EC24416103}"/>
              </a:ext>
            </a:extLst>
          </p:cNvPr>
          <p:cNvSpPr/>
          <p:nvPr/>
        </p:nvSpPr>
        <p:spPr>
          <a:xfrm>
            <a:off x="3655647" y="572508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113" name="그룹 112"/>
          <p:cNvGrpSpPr/>
          <p:nvPr/>
        </p:nvGrpSpPr>
        <p:grpSpPr>
          <a:xfrm>
            <a:off x="716366" y="5040019"/>
            <a:ext cx="2630093" cy="1184228"/>
            <a:chOff x="3791188" y="2611009"/>
            <a:chExt cx="2630093" cy="1184228"/>
          </a:xfrm>
        </p:grpSpPr>
        <p:sp>
          <p:nvSpPr>
            <p:cNvPr id="114" name="TextBox 113">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15" name="직사각형 114"/>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6" name="직선 연결선 115">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endParaRPr lang="en-US" altLang="ko-KR" sz="700" dirty="0">
                <a:latin typeface="+mn-ea"/>
              </a:endParaRPr>
            </a:p>
          </p:txBody>
        </p:sp>
        <p:sp>
          <p:nvSpPr>
            <p:cNvPr id="118" name="TextBox 117">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123-45-67890</a:t>
              </a:r>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6" name="TextBox 125">
              <a:extLst>
                <a:ext uri="{FF2B5EF4-FFF2-40B4-BE49-F238E27FC236}">
                  <a16:creationId xmlns:a16="http://schemas.microsoft.com/office/drawing/2014/main" id="{FFC49AEA-2A8F-250C-A86A-A7751D9706C3}"/>
                </a:ext>
              </a:extLst>
            </p:cNvPr>
            <p:cNvSpPr txBox="1"/>
            <p:nvPr/>
          </p:nvSpPr>
          <p:spPr>
            <a:xfrm>
              <a:off x="3880345" y="3579793"/>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128" name="그룹 127">
            <a:extLst>
              <a:ext uri="{FF2B5EF4-FFF2-40B4-BE49-F238E27FC236}">
                <a16:creationId xmlns:a16="http://schemas.microsoft.com/office/drawing/2014/main" id="{22BC05EE-C648-7CA2-4CCC-6E1C1A7E9BDA}"/>
              </a:ext>
            </a:extLst>
          </p:cNvPr>
          <p:cNvGrpSpPr/>
          <p:nvPr/>
        </p:nvGrpSpPr>
        <p:grpSpPr>
          <a:xfrm>
            <a:off x="5113316" y="3786104"/>
            <a:ext cx="76863" cy="292489"/>
            <a:chOff x="3750067" y="4683795"/>
            <a:chExt cx="76863" cy="292489"/>
          </a:xfrm>
        </p:grpSpPr>
        <p:sp>
          <p:nvSpPr>
            <p:cNvPr id="129" name="타원 128">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31" name="타원 13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32" name="타원 13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Tree>
    <p:extLst>
      <p:ext uri="{BB962C8B-B14F-4D97-AF65-F5344CB8AC3E}">
        <p14:creationId xmlns:p14="http://schemas.microsoft.com/office/powerpoint/2010/main" val="4161321845"/>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390</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2999" y="576522"/>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465987"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취소신청내역 데이터 </a:t>
            </a:r>
            <a:r>
              <a:rPr lang="ko-KR" altLang="en-US" sz="900" b="1">
                <a:solidFill>
                  <a:prstClr val="black"/>
                </a:solidFill>
              </a:rPr>
              <a:t>영역 </a:t>
            </a:r>
            <a:r>
              <a:rPr lang="en-US" altLang="ko-KR" sz="900" b="1">
                <a:solidFill>
                  <a:prstClr val="black"/>
                </a:solidFill>
              </a:rPr>
              <a:t>(dl_resultInfo)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4905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23727826"/>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4561915"/>
                  </a:ext>
                </a:extLst>
              </a:tr>
              <a:tr h="0">
                <a:tc>
                  <a:txBody>
                    <a:bodyPr/>
                    <a:lstStyle/>
                    <a:p>
                      <a:pPr algn="l" fontAlgn="ctr"/>
                      <a:r>
                        <a:rPr lang="ko-KR" altLang="en-US" sz="800" b="0" i="0" u="none" strike="noStrike" dirty="0">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9609735"/>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a:t>
                      </a:r>
                      <a:r>
                        <a:rPr lang="ko-KR" altLang="en-US" sz="800" b="0" i="0" u="none" strike="noStrike" dirty="0" err="1">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6966361"/>
                  </a:ext>
                </a:extLst>
              </a:tr>
              <a:tr h="0">
                <a:tc>
                  <a:txBody>
                    <a:bodyPr/>
                    <a:lstStyle/>
                    <a:p>
                      <a:pPr algn="l" fontAlgn="ctr"/>
                      <a:r>
                        <a:rPr lang="ko-KR" altLang="en-US" sz="800" b="0" i="0" u="none" strike="noStrike">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8688069"/>
                  </a:ext>
                </a:extLst>
              </a:tr>
              <a:tr h="0">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0879488"/>
                  </a:ext>
                </a:extLst>
              </a:tr>
              <a:tr h="0">
                <a:tc>
                  <a:txBody>
                    <a:bodyPr/>
                    <a:lstStyle/>
                    <a:p>
                      <a:pPr algn="l" fontAlgn="ctr"/>
                      <a:r>
                        <a:rPr lang="ko-KR" altLang="en-US" sz="800" b="0" i="0" u="none" strike="noStrike">
                          <a:solidFill>
                            <a:srgbClr val="000000"/>
                          </a:solidFill>
                          <a:effectLst/>
                          <a:latin typeface="+mn-ea"/>
                          <a:ea typeface="+mn-ea"/>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6942432"/>
                  </a:ext>
                </a:extLst>
              </a:tr>
              <a:tr h="0">
                <a:tc>
                  <a:txBody>
                    <a:bodyPr/>
                    <a:lstStyle/>
                    <a:p>
                      <a:pPr algn="l" fontAlgn="ctr"/>
                      <a:r>
                        <a:rPr lang="ko-KR" altLang="en-US" sz="800" b="0" i="0" u="none" strike="noStrike" dirty="0">
                          <a:solidFill>
                            <a:srgbClr val="000000"/>
                          </a:solidFill>
                          <a:effectLst/>
                          <a:latin typeface="+mn-ea"/>
                          <a:ea typeface="+mn-ea"/>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0202406"/>
                  </a:ext>
                </a:extLst>
              </a:tr>
              <a:tr h="0">
                <a:tc>
                  <a:txBody>
                    <a:bodyPr/>
                    <a:lstStyle/>
                    <a:p>
                      <a:pPr algn="l" fontAlgn="ctr"/>
                      <a:r>
                        <a:rPr lang="ko-KR" altLang="en-US" sz="800" b="0" i="0" u="none" strike="noStrike">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7101673"/>
                  </a:ext>
                </a:extLst>
              </a:tr>
              <a:tr h="0">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8711047"/>
                  </a:ext>
                </a:extLst>
              </a:tr>
              <a:tr h="0">
                <a:tc>
                  <a:txBody>
                    <a:bodyPr/>
                    <a:lstStyle/>
                    <a:p>
                      <a:pPr algn="l" fontAlgn="ctr"/>
                      <a:r>
                        <a:rPr lang="ko-KR" altLang="en-US" sz="800" b="0" i="0" u="none" strike="noStrike">
                          <a:solidFill>
                            <a:srgbClr val="000000"/>
                          </a:solidFill>
                          <a:effectLst/>
                          <a:latin typeface="+mn-ea"/>
                          <a:ea typeface="+mn-ea"/>
                        </a:rPr>
                        <a:t>입찰업체 대표자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대표자</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24994190"/>
                  </a:ext>
                </a:extLst>
              </a:tr>
              <a:tr h="0">
                <a:tc>
                  <a:txBody>
                    <a:bodyPr/>
                    <a:lstStyle/>
                    <a:p>
                      <a:pPr algn="l" fontAlgn="ctr"/>
                      <a:r>
                        <a:rPr lang="ko-KR" altLang="en-US" sz="800" b="0" i="0" u="none" strike="noStrike">
                          <a:solidFill>
                            <a:srgbClr val="000000"/>
                          </a:solidFill>
                          <a:effectLst/>
                          <a:latin typeface="+mn-ea"/>
                          <a:ea typeface="+mn-ea"/>
                        </a:rPr>
                        <a:t>입찰업체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입찰업체 </a:t>
                      </a:r>
                      <a:r>
                        <a:rPr lang="ko-KR" altLang="en-US" sz="800" b="0" i="0" u="none" strike="noStrike" dirty="0">
                          <a:solidFill>
                            <a:srgbClr val="000000"/>
                          </a:solidFill>
                          <a:effectLst/>
                          <a:latin typeface="+mn-ea"/>
                          <a:ea typeface="+mn-ea"/>
                        </a:rPr>
                        <a:t>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6104340"/>
                  </a:ext>
                </a:extLst>
              </a:tr>
              <a:tr h="0">
                <a:tc>
                  <a:txBody>
                    <a:bodyPr/>
                    <a:lstStyle/>
                    <a:p>
                      <a:pPr algn="l" fontAlgn="ctr"/>
                      <a:r>
                        <a:rPr lang="ko-KR" altLang="en-US" sz="800" b="0" i="0" u="none" strike="noStrike">
                          <a:solidFill>
                            <a:srgbClr val="000000"/>
                          </a:solidFill>
                          <a:effectLst/>
                          <a:latin typeface="+mn-ea"/>
                          <a:ea typeface="+mn-ea"/>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취소신청건의 품목 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9316380"/>
                  </a:ext>
                </a:extLst>
              </a:tr>
              <a:tr h="0">
                <a:tc>
                  <a:txBody>
                    <a:bodyPr/>
                    <a:lstStyle/>
                    <a:p>
                      <a:pPr algn="l" fontAlgn="ctr"/>
                      <a:r>
                        <a:rPr lang="ko-KR" altLang="en-US" sz="800" b="0" i="0" u="none" strike="noStrike">
                          <a:solidFill>
                            <a:srgbClr val="000000"/>
                          </a:solidFill>
                          <a:effectLst/>
                          <a:latin typeface="+mn-ea"/>
                          <a:ea typeface="+mn-ea"/>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취소신청건의 품목 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69176376"/>
                  </a:ext>
                </a:extLst>
              </a:tr>
              <a:tr h="0">
                <a:tc>
                  <a:txBody>
                    <a:bodyPr/>
                    <a:lstStyle/>
                    <a:p>
                      <a:pPr algn="l" fontAlgn="ctr"/>
                      <a:r>
                        <a:rPr lang="ko-KR" altLang="en-US" sz="800" b="0" i="0" u="none" strike="noStrike" dirty="0">
                          <a:solidFill>
                            <a:srgbClr val="000000"/>
                          </a:solidFill>
                          <a:effectLst/>
                          <a:latin typeface="+mn-ea"/>
                          <a:ea typeface="+mn-ea"/>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취소신청건의 품목 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취소신청건의 품목 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2" name="TextBox 1">
            <a:extLst>
              <a:ext uri="{FF2B5EF4-FFF2-40B4-BE49-F238E27FC236}">
                <a16:creationId xmlns:a16="http://schemas.microsoft.com/office/drawing/2014/main" id="{F0BBC3CC-4D13-297D-D7EA-92D6015D35F4}"/>
              </a:ext>
            </a:extLst>
          </p:cNvPr>
          <p:cNvSpPr txBox="1"/>
          <p:nvPr/>
        </p:nvSpPr>
        <p:spPr>
          <a:xfrm>
            <a:off x="458117" y="5393770"/>
            <a:ext cx="228003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취소사유 데이터 </a:t>
            </a:r>
            <a:r>
              <a:rPr lang="ko-KR" altLang="en-US" sz="900" b="1">
                <a:solidFill>
                  <a:prstClr val="black"/>
                </a:solidFill>
              </a:rPr>
              <a:t>영역 </a:t>
            </a:r>
            <a:r>
              <a:rPr lang="en-US" altLang="ko-KR" sz="900" b="1">
                <a:solidFill>
                  <a:prstClr val="black"/>
                </a:solidFill>
              </a:rPr>
              <a:t>(dl_sbmsnInfo)</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D1EA2A2B-59C1-89BB-53C6-2191652642C5}"/>
              </a:ext>
            </a:extLst>
          </p:cNvPr>
          <p:cNvGraphicFramePr>
            <a:graphicFrameLocks noGrp="1"/>
          </p:cNvGraphicFramePr>
          <p:nvPr/>
        </p:nvGraphicFramePr>
        <p:xfrm>
          <a:off x="452999" y="5604973"/>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mn-ea"/>
                          <a:ea typeface="+mn-ea"/>
                        </a:rPr>
                        <a:t>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 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4" name="Text Box 73">
            <a:extLst>
              <a:ext uri="{FF2B5EF4-FFF2-40B4-BE49-F238E27FC236}">
                <a16:creationId xmlns:a16="http://schemas.microsoft.com/office/drawing/2014/main" id="{11211737-99CA-DABB-C3A8-C6A77F61DD24}"/>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689194134"/>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391</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5" name="표 4">
            <a:extLst>
              <a:ext uri="{FF2B5EF4-FFF2-40B4-BE49-F238E27FC236}">
                <a16:creationId xmlns:a16="http://schemas.microsoft.com/office/drawing/2014/main" id="{0DB94E96-F279-C1D0-427D-FF5F0AE1FFC1}"/>
              </a:ext>
            </a:extLst>
          </p:cNvPr>
          <p:cNvGraphicFramePr>
            <a:graphicFrameLocks noGrp="1"/>
          </p:cNvGraphicFramePr>
          <p:nvPr/>
        </p:nvGraphicFramePr>
        <p:xfrm>
          <a:off x="455204" y="799547"/>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 및 신청업체</a:t>
                      </a:r>
                      <a:r>
                        <a:rPr lang="en-US" altLang="ko-KR" sz="800">
                          <a:latin typeface="+mn-ea"/>
                          <a:ea typeface="+mn-ea"/>
                        </a:rPr>
                        <a:t>, </a:t>
                      </a:r>
                      <a:r>
                        <a:rPr lang="ko-KR" altLang="en-US" sz="800">
                          <a:latin typeface="+mn-ea"/>
                          <a:ea typeface="+mn-ea"/>
                        </a:rPr>
                        <a:t>입찰업체 정보 표시 </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ko-KR" altLang="en-US" sz="800" dirty="0"/>
                        <a:t>저장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scwin.btn_save_onclick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 취소신청서를 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ko-KR" altLang="en-US" sz="800">
                          <a:latin typeface="+mn-ea"/>
                          <a:ea typeface="+mn-ea"/>
                        </a:rPr>
                        <a:t>투찰취소신청</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39605859"/>
                  </a:ext>
                </a:extLst>
              </a:tr>
            </a:tbl>
          </a:graphicData>
        </a:graphic>
      </p:graphicFrame>
      <p:sp>
        <p:nvSpPr>
          <p:cNvPr id="2" name="Text Box 73">
            <a:extLst>
              <a:ext uri="{FF2B5EF4-FFF2-40B4-BE49-F238E27FC236}">
                <a16:creationId xmlns:a16="http://schemas.microsoft.com/office/drawing/2014/main" id="{0DA3C2B3-73A2-F5C6-1A06-468BBD1823C3}"/>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4128682352"/>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취소신청내역 데이터 영역</a:t>
            </a:r>
            <a:endParaRPr lang="en-US" altLang="ko-KR" dirty="0"/>
          </a:p>
          <a:p>
            <a:pPr marL="228600" indent="-228600">
              <a:buFont typeface="+mj-lt"/>
              <a:buAutoNum type="arabicPeriod"/>
            </a:pPr>
            <a:r>
              <a:rPr lang="ko-KR" altLang="en-US" dirty="0" err="1"/>
              <a:t>취소사유</a:t>
            </a:r>
            <a:r>
              <a:rPr lang="ko-KR" altLang="en-US" dirty="0"/>
              <a:t> 데이터 영역</a:t>
            </a:r>
            <a:endParaRPr lang="en-US" altLang="ko-KR" dirty="0"/>
          </a:p>
          <a:p>
            <a:pPr marL="228600" indent="-228600">
              <a:buFont typeface="+mj-lt"/>
              <a:buAutoNum type="arabicPeriod"/>
            </a:pPr>
            <a:r>
              <a:rPr lang="ko-KR" altLang="en-US" dirty="0"/>
              <a:t>취소 신청 제출</a:t>
            </a:r>
            <a:r>
              <a:rPr lang="en-US" altLang="ko-KR" dirty="0"/>
              <a:t>,</a:t>
            </a:r>
            <a:r>
              <a:rPr lang="ko-KR" altLang="en-US" dirty="0"/>
              <a:t> 닫기 클릭 이벤트</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392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기술평가결과조회</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a:latin typeface="+mn-ea"/>
              </a:rPr>
              <a:t>기술평가결과조회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85000" lnSpcReduction="20000"/>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입찰서상세</a:t>
            </a:r>
            <a:r>
              <a:rPr lang="ko-KR" altLang="en-US" dirty="0">
                <a:latin typeface="+mn-ea"/>
              </a:rPr>
              <a:t> </a:t>
            </a:r>
            <a:r>
              <a:rPr lang="en-US" altLang="ko-KR" dirty="0">
                <a:latin typeface="+mn-ea"/>
              </a:rPr>
              <a:t>&gt; </a:t>
            </a:r>
            <a:r>
              <a:rPr lang="ko-KR" altLang="en-US" dirty="0">
                <a:latin typeface="+mn-ea"/>
              </a:rPr>
              <a:t>기술평가결과조회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MUI-BD-07-P71</a:t>
            </a:r>
            <a:endParaRPr lang="ko-KR" altLang="en-US" dirty="0"/>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latin typeface="+mn-ea"/>
              </a:rPr>
              <a:t>기술평가결과조회</a:t>
            </a: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a:latin typeface="+mn-ea"/>
              </a:rPr>
              <a:t>기술평가결과조회</a:t>
            </a: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42" name="그룹 141"/>
          <p:cNvGrpSpPr/>
          <p:nvPr/>
        </p:nvGrpSpPr>
        <p:grpSpPr>
          <a:xfrm>
            <a:off x="3836701" y="4661567"/>
            <a:ext cx="2630093" cy="966004"/>
            <a:chOff x="3791188" y="2611009"/>
            <a:chExt cx="2630093" cy="966004"/>
          </a:xfrm>
        </p:grpSpPr>
        <p:sp>
          <p:nvSpPr>
            <p:cNvPr id="143" name="TextBox 142">
              <a:extLst>
                <a:ext uri="{FF2B5EF4-FFF2-40B4-BE49-F238E27FC236}">
                  <a16:creationId xmlns:a16="http://schemas.microsoft.com/office/drawing/2014/main" id="{FFC49AEA-2A8F-250C-A86A-A7751D9706C3}"/>
                </a:ext>
              </a:extLst>
            </p:cNvPr>
            <p:cNvSpPr txBox="1"/>
            <p:nvPr/>
          </p:nvSpPr>
          <p:spPr>
            <a:xfrm>
              <a:off x="3852159" y="2611009"/>
              <a:ext cx="1279635" cy="181140"/>
            </a:xfrm>
            <a:prstGeom prst="rect">
              <a:avLst/>
            </a:prstGeom>
            <a:noFill/>
          </p:spPr>
          <p:txBody>
            <a:bodyPr wrap="square" lIns="0" tIns="0" rIns="0" bIns="0" rtlCol="0">
              <a:spAutoFit/>
            </a:bodyPr>
            <a:lstStyle/>
            <a:p>
              <a:pPr>
                <a:lnSpc>
                  <a:spcPct val="200000"/>
                </a:lnSpc>
              </a:pPr>
              <a:r>
                <a:rPr lang="ko-KR" altLang="en-US" sz="700" dirty="0">
                  <a:latin typeface="+mn-ea"/>
                </a:rPr>
                <a:t>평가결과</a:t>
              </a:r>
            </a:p>
          </p:txBody>
        </p:sp>
        <p:sp>
          <p:nvSpPr>
            <p:cNvPr id="145" name="직사각형 144"/>
            <p:cNvSpPr/>
            <p:nvPr/>
          </p:nvSpPr>
          <p:spPr>
            <a:xfrm>
              <a:off x="3793281" y="2918495"/>
              <a:ext cx="792000" cy="65851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5" name="직선 연결선 154">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1" name="TextBox 160">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a:latin typeface="+mn-ea"/>
                </a:rPr>
                <a:t>참여 </a:t>
              </a:r>
              <a:r>
                <a:rPr lang="ko-KR" altLang="en-US" sz="700" dirty="0" err="1">
                  <a:latin typeface="+mn-ea"/>
                </a:rPr>
                <a:t>품목수</a:t>
              </a:r>
              <a:endParaRPr lang="en-US" altLang="ko-KR" sz="700" dirty="0">
                <a:latin typeface="+mn-ea"/>
              </a:endParaRPr>
            </a:p>
            <a:p>
              <a:pPr>
                <a:lnSpc>
                  <a:spcPct val="200000"/>
                </a:lnSpc>
              </a:pPr>
              <a:r>
                <a:rPr lang="ko-KR" altLang="en-US" sz="700" dirty="0">
                  <a:latin typeface="+mn-ea"/>
                </a:rPr>
                <a:t>기술평가점수</a:t>
              </a:r>
              <a:endParaRPr lang="en-US" altLang="ko-KR" sz="700" dirty="0">
                <a:latin typeface="+mn-ea"/>
              </a:endParaRPr>
            </a:p>
            <a:p>
              <a:pPr>
                <a:lnSpc>
                  <a:spcPct val="200000"/>
                </a:lnSpc>
              </a:pPr>
              <a:r>
                <a:rPr lang="ko-KR" altLang="en-US" sz="700" dirty="0">
                  <a:latin typeface="+mn-ea"/>
                </a:rPr>
                <a:t>기술평과결과</a:t>
              </a:r>
              <a:endParaRPr lang="en-US" altLang="ko-KR" sz="700" dirty="0">
                <a:latin typeface="+mn-ea"/>
              </a:endParaRPr>
            </a:p>
          </p:txBody>
        </p:sp>
        <p:sp>
          <p:nvSpPr>
            <p:cNvPr id="167" name="TextBox 166">
              <a:extLst>
                <a:ext uri="{FF2B5EF4-FFF2-40B4-BE49-F238E27FC236}">
                  <a16:creationId xmlns:a16="http://schemas.microsoft.com/office/drawing/2014/main" id="{FFC49AEA-2A8F-250C-A86A-A7751D9706C3}"/>
                </a:ext>
              </a:extLst>
            </p:cNvPr>
            <p:cNvSpPr txBox="1"/>
            <p:nvPr/>
          </p:nvSpPr>
          <p:spPr>
            <a:xfrm>
              <a:off x="4637193" y="2918494"/>
              <a:ext cx="1784088" cy="646331"/>
            </a:xfrm>
            <a:prstGeom prst="rect">
              <a:avLst/>
            </a:prstGeom>
            <a:noFill/>
          </p:spPr>
          <p:txBody>
            <a:bodyPr wrap="square" lIns="0" tIns="0" rIns="0" bIns="0" rtlCol="0">
              <a:spAutoFit/>
            </a:bodyPr>
            <a:lstStyle/>
            <a:p>
              <a:pPr>
                <a:lnSpc>
                  <a:spcPct val="200000"/>
                </a:lnSpc>
              </a:pPr>
              <a:r>
                <a:rPr lang="en-US" altLang="ko-KR" sz="700" dirty="0">
                  <a:latin typeface="+mn-ea"/>
                </a:rPr>
                <a:t>1 </a:t>
              </a:r>
              <a:r>
                <a:rPr lang="ko-KR" altLang="en-US" sz="700" dirty="0">
                  <a:latin typeface="+mn-ea"/>
                </a:rPr>
                <a:t>건</a:t>
              </a:r>
              <a:endParaRPr lang="en-US" altLang="ko-KR" sz="700" dirty="0">
                <a:latin typeface="+mn-ea"/>
              </a:endParaRPr>
            </a:p>
            <a:p>
              <a:pPr>
                <a:lnSpc>
                  <a:spcPct val="200000"/>
                </a:lnSpc>
              </a:pPr>
              <a:r>
                <a:rPr lang="en-US" altLang="ko-KR" sz="700" dirty="0">
                  <a:latin typeface="+mn-ea"/>
                </a:rPr>
                <a:t>77.3</a:t>
              </a:r>
            </a:p>
            <a:p>
              <a:pPr>
                <a:lnSpc>
                  <a:spcPct val="200000"/>
                </a:lnSpc>
              </a:pPr>
              <a:r>
                <a:rPr lang="ko-KR" altLang="en-US" sz="700" dirty="0">
                  <a:latin typeface="+mn-ea"/>
                </a:rPr>
                <a:t>합격</a:t>
              </a:r>
              <a:endParaRPr lang="en-US" altLang="ko-KR" sz="700" dirty="0">
                <a:latin typeface="+mn-ea"/>
              </a:endParaRPr>
            </a:p>
          </p:txBody>
        </p:sp>
        <p:cxnSp>
          <p:nvCxnSpPr>
            <p:cNvPr id="168" name="직선 연결선 167">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1" y="5745391"/>
              <a:ext cx="2527419"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닫기</a:t>
              </a:r>
              <a:endParaRPr kumimoji="1" lang="en-US" sz="1000" b="0" i="0" u="none" strike="noStrike" kern="0" cap="none" spc="0" normalizeH="0" baseline="0" noProof="0" dirty="0">
                <a:ln>
                  <a:noFill/>
                </a:ln>
                <a:effectLst/>
                <a:uLnTx/>
                <a:uFillTx/>
                <a:latin typeface="맑은 고딕"/>
              </a:endParaRPr>
            </a:p>
          </p:txBody>
        </p:sp>
      </p:grpSp>
      <p:grpSp>
        <p:nvGrpSpPr>
          <p:cNvPr id="91" name="그룹 90"/>
          <p:cNvGrpSpPr/>
          <p:nvPr/>
        </p:nvGrpSpPr>
        <p:grpSpPr>
          <a:xfrm>
            <a:off x="716366" y="4231117"/>
            <a:ext cx="2630093" cy="2031034"/>
            <a:chOff x="3791188" y="2611009"/>
            <a:chExt cx="2630093" cy="2031034"/>
          </a:xfrm>
        </p:grpSpPr>
        <p:sp>
          <p:nvSpPr>
            <p:cNvPr id="92" name="TextBox 91">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93" name="직사각형 92"/>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94" name="직선 연결선 93">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5" name="TextBox 94">
              <a:extLst>
                <a:ext uri="{FF2B5EF4-FFF2-40B4-BE49-F238E27FC236}">
                  <a16:creationId xmlns:a16="http://schemas.microsoft.com/office/drawing/2014/main" id="{FFC49AEA-2A8F-250C-A86A-A7751D9706C3}"/>
                </a:ext>
              </a:extLst>
            </p:cNvPr>
            <p:cNvSpPr txBox="1"/>
            <p:nvPr/>
          </p:nvSpPr>
          <p:spPr>
            <a:xfrm>
              <a:off x="3880345" y="2918494"/>
              <a:ext cx="756848" cy="168924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주민등록번호</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96" name="TextBox 95">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97" name="직선 연결선 9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8" name="직선 연결선 97">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9" name="직선 연결선 98">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0" name="직선 연결선 99">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1" name="직선 연결선 100">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2" name="직선 연결선 101">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3" name="직선 연결선 102">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09" name="그룹 108"/>
          <p:cNvGrpSpPr/>
          <p:nvPr/>
        </p:nvGrpSpPr>
        <p:grpSpPr>
          <a:xfrm>
            <a:off x="3836701" y="2583230"/>
            <a:ext cx="2630093" cy="2031034"/>
            <a:chOff x="3791188" y="2611009"/>
            <a:chExt cx="2630093" cy="2031034"/>
          </a:xfrm>
        </p:grpSpPr>
        <p:sp>
          <p:nvSpPr>
            <p:cNvPr id="110" name="TextBox 109">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111" name="직사각형 110"/>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2" name="직선 연결선 111">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3" name="TextBox 132">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abcde@abc.com</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137" name="직선 연결선 13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9" name="직선 연결선 138">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4" name="직선 연결선 143">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6" name="직선 연결선 145">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7" name="직선 연결선 146">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8" name="직선 연결선 147">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9" name="TextBox 148">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 name="그룹 2"/>
          <p:cNvGrpSpPr/>
          <p:nvPr/>
        </p:nvGrpSpPr>
        <p:grpSpPr>
          <a:xfrm>
            <a:off x="716366" y="2583230"/>
            <a:ext cx="2630093" cy="1600147"/>
            <a:chOff x="-2016425" y="2681700"/>
            <a:chExt cx="2630093" cy="1600147"/>
          </a:xfrm>
        </p:grpSpPr>
        <p:sp>
          <p:nvSpPr>
            <p:cNvPr id="157" name="TextBox 156">
              <a:extLst>
                <a:ext uri="{FF2B5EF4-FFF2-40B4-BE49-F238E27FC236}">
                  <a16:creationId xmlns:a16="http://schemas.microsoft.com/office/drawing/2014/main" id="{FFC49AEA-2A8F-250C-A86A-A7751D9706C3}"/>
                </a:ext>
              </a:extLst>
            </p:cNvPr>
            <p:cNvSpPr txBox="1"/>
            <p:nvPr/>
          </p:nvSpPr>
          <p:spPr>
            <a:xfrm>
              <a:off x="-1955454" y="2681700"/>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sp>
          <p:nvSpPr>
            <p:cNvPr id="159" name="직사각형 158"/>
            <p:cNvSpPr/>
            <p:nvPr/>
          </p:nvSpPr>
          <p:spPr>
            <a:xfrm>
              <a:off x="-2014332" y="2989186"/>
              <a:ext cx="792000" cy="128843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0" name="TextBox 159">
              <a:extLst>
                <a:ext uri="{FF2B5EF4-FFF2-40B4-BE49-F238E27FC236}">
                  <a16:creationId xmlns:a16="http://schemas.microsoft.com/office/drawing/2014/main" id="{FFC49AEA-2A8F-250C-A86A-A7751D9706C3}"/>
                </a:ext>
              </a:extLst>
            </p:cNvPr>
            <p:cNvSpPr txBox="1"/>
            <p:nvPr/>
          </p:nvSpPr>
          <p:spPr>
            <a:xfrm>
              <a:off x="-1927270" y="2989185"/>
              <a:ext cx="728979" cy="129266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개찰일자</a:t>
              </a:r>
              <a:endParaRPr lang="ko-KR" altLang="en-US" sz="700" dirty="0">
                <a:latin typeface="+mn-ea"/>
              </a:endParaRPr>
            </a:p>
          </p:txBody>
        </p:sp>
        <p:sp>
          <p:nvSpPr>
            <p:cNvPr id="165" name="TextBox 164">
              <a:extLst>
                <a:ext uri="{FF2B5EF4-FFF2-40B4-BE49-F238E27FC236}">
                  <a16:creationId xmlns:a16="http://schemas.microsoft.com/office/drawing/2014/main" id="{FFC49AEA-2A8F-250C-A86A-A7751D9706C3}"/>
                </a:ext>
              </a:extLst>
            </p:cNvPr>
            <p:cNvSpPr txBox="1"/>
            <p:nvPr/>
          </p:nvSpPr>
          <p:spPr>
            <a:xfrm>
              <a:off x="-1170420" y="2989185"/>
              <a:ext cx="1775839" cy="129266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en-US" altLang="ko-KR" sz="700" dirty="0">
                  <a:latin typeface="+mn-ea"/>
                </a:rPr>
                <a:t>2025-03-12 15:00:00</a:t>
              </a:r>
            </a:p>
            <a:p>
              <a:pPr>
                <a:lnSpc>
                  <a:spcPct val="200000"/>
                </a:lnSpc>
              </a:pPr>
              <a:r>
                <a:rPr lang="en-US" altLang="ko-KR" sz="700" dirty="0">
                  <a:latin typeface="+mn-ea"/>
                </a:rPr>
                <a:t>2025-03-13 15:00:00</a:t>
              </a:r>
            </a:p>
          </p:txBody>
        </p:sp>
        <p:grpSp>
          <p:nvGrpSpPr>
            <p:cNvPr id="166" name="그룹 165"/>
            <p:cNvGrpSpPr/>
            <p:nvPr/>
          </p:nvGrpSpPr>
          <p:grpSpPr>
            <a:xfrm>
              <a:off x="-2016425" y="2989185"/>
              <a:ext cx="2630093" cy="1288440"/>
              <a:chOff x="701175" y="1835481"/>
              <a:chExt cx="2630093" cy="1288440"/>
            </a:xfrm>
          </p:grpSpPr>
          <p:cxnSp>
            <p:nvCxnSpPr>
              <p:cNvPr id="172" name="직선 연결선 17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7" name="직선 연결선 176">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9" name="직선 연결선 178">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0" name="직선 연결선 179">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0" name="TextBox 169">
              <a:extLst>
                <a:ext uri="{FF2B5EF4-FFF2-40B4-BE49-F238E27FC236}">
                  <a16:creationId xmlns:a16="http://schemas.microsoft.com/office/drawing/2014/main" id="{FFC49AEA-2A8F-250C-A86A-A7751D9706C3}"/>
                </a:ext>
              </a:extLst>
            </p:cNvPr>
            <p:cNvSpPr txBox="1"/>
            <p:nvPr/>
          </p:nvSpPr>
          <p:spPr>
            <a:xfrm>
              <a:off x="-1927270" y="3848867"/>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Tree>
    <p:extLst>
      <p:ext uri="{BB962C8B-B14F-4D97-AF65-F5344CB8AC3E}">
        <p14:creationId xmlns:p14="http://schemas.microsoft.com/office/powerpoint/2010/main" val="3557149967"/>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393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1247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dm_bscPbancInfo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5513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6684623"/>
                  </a:ext>
                </a:extLst>
              </a:tr>
              <a:tr h="0">
                <a:tc>
                  <a:txBody>
                    <a:bodyPr/>
                    <a:lstStyle/>
                    <a:p>
                      <a:pPr algn="l" fontAlgn="ctr"/>
                      <a:r>
                        <a:rPr lang="ko-KR" altLang="en-US" sz="800" b="0" i="0" u="none" strike="noStrike">
                          <a:solidFill>
                            <a:srgbClr val="000000"/>
                          </a:solidFill>
                          <a:effectLst/>
                          <a:latin typeface="+mn-ea"/>
                          <a:ea typeface="+mn-ea"/>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mn-ea"/>
                          <a:ea typeface="+mn-ea"/>
                        </a:rPr>
                        <a:t>통합참조번호</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1099610"/>
                  </a:ext>
                </a:extLst>
              </a:tr>
              <a:tr h="0">
                <a:tc>
                  <a:txBody>
                    <a:bodyPr/>
                    <a:lstStyle/>
                    <a:p>
                      <a:pPr algn="l" fontAlgn="ctr"/>
                      <a:r>
                        <a:rPr lang="ko-KR" altLang="en-US" sz="800" b="0" i="0" u="none" strike="noStrike">
                          <a:solidFill>
                            <a:srgbClr val="000000"/>
                          </a:solidFill>
                          <a:effectLst/>
                          <a:latin typeface="+mn-ea"/>
                          <a:ea typeface="+mn-ea"/>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80256742"/>
                  </a:ext>
                </a:extLst>
              </a:tr>
              <a:tr h="0">
                <a:tc>
                  <a:txBody>
                    <a:bodyPr/>
                    <a:lstStyle/>
                    <a:p>
                      <a:pPr algn="l" fontAlgn="ctr"/>
                      <a:r>
                        <a:rPr lang="ko-KR" altLang="en-US" sz="800" b="0" i="0" u="none" strike="noStrike">
                          <a:solidFill>
                            <a:srgbClr val="000000"/>
                          </a:solidFill>
                          <a:effectLst/>
                          <a:latin typeface="+mn-ea"/>
                          <a:ea typeface="+mn-ea"/>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5715968"/>
                  </a:ext>
                </a:extLst>
              </a:tr>
              <a:tr h="0">
                <a:tc>
                  <a:txBody>
                    <a:bodyPr/>
                    <a:lstStyle/>
                    <a:p>
                      <a:pPr algn="l" fontAlgn="ctr"/>
                      <a:r>
                        <a:rPr lang="ko-KR" altLang="en-US" sz="800" b="0" i="0" u="none" strike="noStrike" dirty="0">
                          <a:solidFill>
                            <a:srgbClr val="000000"/>
                          </a:solidFill>
                          <a:effectLst/>
                          <a:latin typeface="+mn-ea"/>
                          <a:ea typeface="+mn-ea"/>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8577761"/>
                  </a:ext>
                </a:extLst>
              </a:tr>
              <a:tr h="0">
                <a:tc>
                  <a:txBody>
                    <a:bodyPr/>
                    <a:lstStyle/>
                    <a:p>
                      <a:pPr algn="l" fontAlgn="ctr"/>
                      <a:r>
                        <a:rPr lang="ko-KR" altLang="en-US" sz="800" b="0" i="0" u="none" strike="noStrike" dirty="0">
                          <a:solidFill>
                            <a:srgbClr val="000000"/>
                          </a:solidFill>
                          <a:effectLst/>
                          <a:latin typeface="+mn-ea"/>
                          <a:ea typeface="+mn-ea"/>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8447953"/>
                  </a:ext>
                </a:extLst>
              </a:tr>
            </a:tbl>
          </a:graphicData>
        </a:graphic>
      </p:graphicFrame>
      <p:sp>
        <p:nvSpPr>
          <p:cNvPr id="2" name="TextBox 1">
            <a:extLst>
              <a:ext uri="{FF2B5EF4-FFF2-40B4-BE49-F238E27FC236}">
                <a16:creationId xmlns:a16="http://schemas.microsoft.com/office/drawing/2014/main" id="{DAD16FEC-7D25-9461-A9BD-1D17ABA59B5C}"/>
              </a:ext>
            </a:extLst>
          </p:cNvPr>
          <p:cNvSpPr txBox="1"/>
          <p:nvPr/>
        </p:nvSpPr>
        <p:spPr>
          <a:xfrm>
            <a:off x="458117" y="3355907"/>
            <a:ext cx="2169431"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신청업체 데이터 </a:t>
            </a:r>
            <a:r>
              <a:rPr lang="ko-KR" altLang="en-US" sz="900" b="1">
                <a:solidFill>
                  <a:prstClr val="black"/>
                </a:solidFill>
              </a:rPr>
              <a:t>영역 </a:t>
            </a:r>
            <a:r>
              <a:rPr lang="en-US" altLang="ko-KR" sz="900" b="1">
                <a:solidFill>
                  <a:prstClr val="black"/>
                </a:solidFill>
              </a:rPr>
              <a:t>(dm_sbtInfo)</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85CE7719-1ECA-40F2-D468-F0E6FA62F8E9}"/>
              </a:ext>
            </a:extLst>
          </p:cNvPr>
          <p:cNvGraphicFramePr>
            <a:graphicFrameLocks noGrp="1"/>
          </p:cNvGraphicFramePr>
          <p:nvPr/>
        </p:nvGraphicFramePr>
        <p:xfrm>
          <a:off x="452999" y="3567110"/>
          <a:ext cx="8994883" cy="1867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31734577"/>
                  </a:ext>
                </a:extLst>
              </a:tr>
              <a:tr h="0">
                <a:tc>
                  <a:txBody>
                    <a:bodyPr/>
                    <a:lstStyle/>
                    <a:p>
                      <a:pPr algn="l" fontAlgn="ctr"/>
                      <a:r>
                        <a:rPr lang="ko-KR" altLang="en-US" sz="800" b="0" i="0" u="none" strike="noStrike">
                          <a:solidFill>
                            <a:srgbClr val="000000"/>
                          </a:solidFill>
                          <a:effectLst/>
                          <a:latin typeface="+mn-ea"/>
                          <a:ea typeface="+mn-ea"/>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6391048"/>
                  </a:ext>
                </a:extLst>
              </a:tr>
              <a:tr h="0">
                <a:tc>
                  <a:txBody>
                    <a:bodyPr/>
                    <a:lstStyle/>
                    <a:p>
                      <a:pPr algn="l" fontAlgn="ctr"/>
                      <a:r>
                        <a:rPr lang="ko-KR" altLang="en-US" sz="800" b="0" i="0" u="none" strike="noStrike">
                          <a:solidFill>
                            <a:srgbClr val="000000"/>
                          </a:solidFill>
                          <a:effectLst/>
                          <a:latin typeface="+mn-ea"/>
                          <a:ea typeface="+mn-ea"/>
                        </a:rPr>
                        <a:t>신청업체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대표자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1861566"/>
                  </a:ext>
                </a:extLst>
              </a:tr>
              <a:tr h="0">
                <a:tc>
                  <a:txBody>
                    <a:bodyPr/>
                    <a:lstStyle/>
                    <a:p>
                      <a:pPr algn="l" fontAlgn="ctr"/>
                      <a:r>
                        <a:rPr lang="ko-KR" altLang="en-US" sz="800" b="0" i="0" u="none" strike="noStrike" dirty="0">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4715961"/>
                  </a:ext>
                </a:extLst>
              </a:tr>
              <a:tr h="0">
                <a:tc>
                  <a:txBody>
                    <a:bodyPr/>
                    <a:lstStyle/>
                    <a:p>
                      <a:pPr algn="l" fontAlgn="ctr"/>
                      <a:r>
                        <a:rPr lang="ko-KR" altLang="en-US" sz="800" b="0" i="0" u="none" strike="noStrike">
                          <a:solidFill>
                            <a:srgbClr val="000000"/>
                          </a:solidFill>
                          <a:effectLst/>
                          <a:latin typeface="+mn-ea"/>
                          <a:ea typeface="+mn-ea"/>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사업자등록번호 또는 </a:t>
                      </a:r>
                      <a:r>
                        <a:rPr lang="en-US" altLang="ko-KR" sz="800" b="0" i="0" u="none" strike="noStrike" dirty="0">
                          <a:solidFill>
                            <a:srgbClr val="000000"/>
                          </a:solidFill>
                          <a:effectLst/>
                          <a:latin typeface="+mn-ea"/>
                          <a:ea typeface="+mn-ea"/>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2583604"/>
                  </a:ext>
                </a:extLst>
              </a:tr>
              <a:tr h="0">
                <a:tc>
                  <a:txBody>
                    <a:bodyPr/>
                    <a:lstStyle/>
                    <a:p>
                      <a:pPr algn="l" fontAlgn="ctr"/>
                      <a:r>
                        <a:rPr lang="ko-KR" altLang="en-US" sz="800" b="0" i="0" u="none" strike="noStrike">
                          <a:solidFill>
                            <a:srgbClr val="000000"/>
                          </a:solidFill>
                          <a:effectLst/>
                          <a:latin typeface="+mn-ea"/>
                          <a:ea typeface="+mn-ea"/>
                        </a:rPr>
                        <a:t>신청업체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4" name="Text Box 73">
            <a:extLst>
              <a:ext uri="{FF2B5EF4-FFF2-40B4-BE49-F238E27FC236}">
                <a16:creationId xmlns:a16="http://schemas.microsoft.com/office/drawing/2014/main" id="{F3173C2B-B636-75FC-7909-6BC1D7479EC1}"/>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024016744"/>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394</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3717763"/>
            <a:ext cx="2235155" cy="211203"/>
          </a:xfrm>
          <a:prstGeom prst="rect">
            <a:avLst/>
          </a:prstGeom>
          <a:noFill/>
        </p:spPr>
        <p:txBody>
          <a:bodyPr wrap="none" lIns="36000" tIns="36000" rIns="36000" bIns="36000" rtlCol="0">
            <a:spAutoFit/>
          </a:bodyPr>
          <a:lstStyle/>
          <a:p>
            <a:r>
              <a:rPr lang="en-US" altLang="ko-KR" sz="900" b="1">
                <a:solidFill>
                  <a:prstClr val="black"/>
                </a:solidFill>
              </a:rPr>
              <a:t>1.4. </a:t>
            </a:r>
            <a:r>
              <a:rPr lang="ko-KR" altLang="en-US" sz="900" b="1" dirty="0">
                <a:solidFill>
                  <a:prstClr val="black"/>
                </a:solidFill>
              </a:rPr>
              <a:t>평가결과 데이터 </a:t>
            </a:r>
            <a:r>
              <a:rPr lang="ko-KR" altLang="en-US" sz="900" b="1">
                <a:solidFill>
                  <a:prstClr val="black"/>
                </a:solidFill>
              </a:rPr>
              <a:t>영역 </a:t>
            </a:r>
            <a:r>
              <a:rPr lang="en-US" altLang="ko-KR" sz="900" b="1">
                <a:solidFill>
                  <a:prstClr val="black"/>
                </a:solidFill>
              </a:rPr>
              <a:t>(dl_resultInfo)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392896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mn-ea"/>
                          <a:ea typeface="+mn-ea"/>
                        </a:rPr>
                        <a:t>참여품목수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prtcpItemQty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입찰참가신청한 </a:t>
                      </a:r>
                      <a:r>
                        <a:rPr lang="ko-KR" altLang="en-US" sz="800" b="0" i="0" u="none" strike="noStrike" dirty="0" err="1">
                          <a:solidFill>
                            <a:srgbClr val="000000"/>
                          </a:solidFill>
                          <a:effectLst/>
                          <a:latin typeface="+mn-ea"/>
                          <a:ea typeface="+mn-ea"/>
                        </a:rPr>
                        <a:t>품목수</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2454789"/>
                  </a:ext>
                </a:extLst>
              </a:tr>
              <a:tr h="0">
                <a:tc>
                  <a:txBody>
                    <a:bodyPr/>
                    <a:lstStyle/>
                    <a:p>
                      <a:pPr algn="l" fontAlgn="ctr"/>
                      <a:r>
                        <a:rPr lang="ko-KR" altLang="en-US" sz="800" b="0" i="0" u="none" strike="noStrike" dirty="0">
                          <a:solidFill>
                            <a:srgbClr val="000000"/>
                          </a:solidFill>
                          <a:effectLst/>
                          <a:latin typeface="+mn-ea"/>
                          <a:ea typeface="+mn-ea"/>
                        </a:rPr>
                        <a:t>기술평가결과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techEvlRslt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입찰참가등록심사 </a:t>
                      </a:r>
                      <a:r>
                        <a:rPr lang="ko-KR" altLang="en-US" sz="800" b="0" i="0" u="none" strike="noStrike" dirty="0" err="1">
                          <a:solidFill>
                            <a:srgbClr val="000000"/>
                          </a:solidFill>
                          <a:effectLst/>
                          <a:latin typeface="+mn-ea"/>
                          <a:ea typeface="+mn-ea"/>
                        </a:rPr>
                        <a:t>반려사유</a:t>
                      </a:r>
                      <a:endParaRPr lang="ko-KR" altLang="en-US"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
        <p:nvSpPr>
          <p:cNvPr id="6" name="Text Box 73">
            <a:extLst>
              <a:ext uri="{FF2B5EF4-FFF2-40B4-BE49-F238E27FC236}">
                <a16:creationId xmlns:a16="http://schemas.microsoft.com/office/drawing/2014/main" id="{4E7D816A-5161-B4E7-F1FB-2E40D8BBD402}"/>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3A1B9097-B564-E1C7-F98C-30B008D9CD82}"/>
              </a:ext>
            </a:extLst>
          </p:cNvPr>
          <p:cNvSpPr txBox="1"/>
          <p:nvPr/>
        </p:nvSpPr>
        <p:spPr>
          <a:xfrm>
            <a:off x="458117" y="803113"/>
            <a:ext cx="2219125"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입찰업체 데이터 </a:t>
            </a:r>
            <a:r>
              <a:rPr lang="ko-KR" altLang="en-US" sz="900" b="1">
                <a:solidFill>
                  <a:prstClr val="black"/>
                </a:solidFill>
              </a:rPr>
              <a:t>영역 </a:t>
            </a:r>
            <a:r>
              <a:rPr lang="en-US" altLang="ko-KR" sz="900" b="1">
                <a:solidFill>
                  <a:prstClr val="black"/>
                </a:solidFill>
              </a:rPr>
              <a:t>(dm_splyInfo)</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DE650B0E-C631-3C6F-9BFA-F4D2987B1B88}"/>
              </a:ext>
            </a:extLst>
          </p:cNvPr>
          <p:cNvGraphicFramePr>
            <a:graphicFrameLocks noGrp="1"/>
          </p:cNvGraphicFramePr>
          <p:nvPr/>
        </p:nvGraphicFramePr>
        <p:xfrm>
          <a:off x="452999" y="1014316"/>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1429017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646879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731729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854758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1045769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76441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3852392"/>
                  </a:ext>
                </a:extLst>
              </a:tr>
            </a:tbl>
          </a:graphicData>
        </a:graphic>
      </p:graphicFrame>
    </p:spTree>
    <p:extLst>
      <p:ext uri="{BB962C8B-B14F-4D97-AF65-F5344CB8AC3E}">
        <p14:creationId xmlns:p14="http://schemas.microsoft.com/office/powerpoint/2010/main" val="2943033968"/>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66C72FC8-5D61-438A-12CC-220C9991D1B5}"/>
              </a:ext>
            </a:extLst>
          </p:cNvPr>
          <p:cNvSpPr>
            <a:spLocks noGrp="1"/>
          </p:cNvSpPr>
          <p:nvPr>
            <p:ph type="sldNum" sz="quarter" idx="4"/>
          </p:nvPr>
        </p:nvSpPr>
        <p:spPr/>
        <p:txBody>
          <a:bodyPr/>
          <a:lstStyle/>
          <a:p>
            <a:fld id="{34C8E023-7346-48FC-AB24-9A3388C53208}" type="slidenum">
              <a:rPr lang="ko-KR" altLang="en-US" smtClean="0"/>
              <a:pPr/>
              <a:t>395</a:t>
            </a:fld>
            <a:endParaRPr lang="ko-KR" altLang="en-US" dirty="0"/>
          </a:p>
        </p:txBody>
      </p:sp>
      <p:sp>
        <p:nvSpPr>
          <p:cNvPr id="3" name="TextBox 2">
            <a:extLst>
              <a:ext uri="{FF2B5EF4-FFF2-40B4-BE49-F238E27FC236}">
                <a16:creationId xmlns:a16="http://schemas.microsoft.com/office/drawing/2014/main" id="{D38B8307-DF34-E6D2-E525-929008B1F8E1}"/>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83041B98-E042-1BC8-2EC5-CC5BF413D70F}"/>
              </a:ext>
            </a:extLst>
          </p:cNvPr>
          <p:cNvGraphicFramePr>
            <a:graphicFrameLocks noGrp="1"/>
          </p:cNvGraphicFramePr>
          <p:nvPr/>
        </p:nvGraphicFramePr>
        <p:xfrm>
          <a:off x="458117" y="799547"/>
          <a:ext cx="8995591" cy="38784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입찰참가신청 정보 </a:t>
                      </a:r>
                      <a:r>
                        <a:rPr lang="ko-KR" altLang="en-US" sz="800">
                          <a:latin typeface="+mn-ea"/>
                          <a:ea typeface="+mn-ea"/>
                        </a:rPr>
                        <a:t>및 평가결과 </a:t>
                      </a:r>
                      <a:r>
                        <a:rPr lang="ko-KR" altLang="en-US" sz="800" dirty="0">
                          <a:latin typeface="+mn-ea"/>
                          <a:ea typeface="+mn-ea"/>
                        </a:rPr>
                        <a:t>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5725" indent="-85725" algn="l" latinLnBrk="1">
                        <a:buFont typeface="Arial" panose="020B0604020202020204" pitchFamily="34" charset="0"/>
                        <a:buChar char="•"/>
                      </a:pPr>
                      <a:r>
                        <a:rPr lang="ko-KR" altLang="en-US" sz="800" dirty="0">
                          <a:latin typeface="+mn-ea"/>
                          <a:ea typeface="+mn-ea"/>
                        </a:rPr>
                        <a:t>기술평가결과조회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5" name="Text Box 73">
            <a:extLst>
              <a:ext uri="{FF2B5EF4-FFF2-40B4-BE49-F238E27FC236}">
                <a16:creationId xmlns:a16="http://schemas.microsoft.com/office/drawing/2014/main" id="{D59FFB1E-0D9D-A528-F9CA-6F306A5316AE}"/>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11273379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396</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9. </a:t>
            </a:r>
            <a:r>
              <a:rPr lang="ko-KR" altLang="en-US" dirty="0"/>
              <a:t>국외 개찰</a:t>
            </a:r>
            <a:endParaRPr lang="en-US" altLang="ko-KR" dirty="0"/>
          </a:p>
          <a:p>
            <a:r>
              <a:rPr lang="en-US" altLang="ko-KR" dirty="0"/>
              <a:t>9.1 </a:t>
            </a:r>
            <a:r>
              <a:rPr lang="ko-KR" altLang="en-US" dirty="0"/>
              <a:t>화면 목록 </a:t>
            </a:r>
            <a:r>
              <a:rPr lang="en-US" altLang="ko-KR" dirty="0"/>
              <a:t>(1/2)</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2725935295"/>
              </p:ext>
            </p:extLst>
          </p:nvPr>
        </p:nvGraphicFramePr>
        <p:xfrm>
          <a:off x="635474" y="1413419"/>
          <a:ext cx="8701200" cy="462334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lang="en-US" sz="700" kern="1200" dirty="0">
                          <a:solidFill>
                            <a:schemeClr val="tx1"/>
                          </a:solidFill>
                          <a:latin typeface="+mn-ea"/>
                          <a:ea typeface="+mn-ea"/>
                          <a:cs typeface="+mn-cs"/>
                        </a:rPr>
                        <a:t>MUI-BD-08-M01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개찰목록</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mn-ea"/>
                        </a:rPr>
                        <a:t>BdopnListPage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개찰 목록 조회 화면</a:t>
                      </a:r>
                      <a:endParaRPr lang="en-US" altLang="ko-KR" sz="800" dirty="0">
                        <a:latin typeface="+mn-ea"/>
                        <a:ea typeface="+mn-ea"/>
                      </a:endParaRPr>
                    </a:p>
                    <a:p>
                      <a:pPr latinLnBrk="1"/>
                      <a:r>
                        <a:rPr lang="ko-KR" altLang="en-US" sz="800" dirty="0">
                          <a:latin typeface="+mn-ea"/>
                          <a:ea typeface="+mn-ea"/>
                        </a:rPr>
                        <a:t>국내 화면과 동일함</a:t>
                      </a:r>
                      <a:r>
                        <a:rPr lang="en-US" altLang="ko-KR" sz="800" dirty="0">
                          <a:latin typeface="+mn-ea"/>
                          <a:ea typeface="+mn-ea"/>
                        </a:rPr>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rPr>
                        <a:t>bdopnList</a:t>
                      </a:r>
                      <a:r>
                        <a:rPr lang="en-US" altLang="ko-KR" sz="800" b="0" i="0" u="none" strike="noStrike" dirty="0">
                          <a:solidFill>
                            <a:schemeClr val="tx1"/>
                          </a:solidFill>
                          <a:effectLst/>
                          <a:latin typeface="+mn-ea"/>
                        </a:rPr>
                        <a:t>/</a:t>
                      </a:r>
                      <a:r>
                        <a:rPr lang="en-US" altLang="ko-KR" sz="800" b="0" i="0" u="none" strike="noStrike" dirty="0" err="1">
                          <a:solidFill>
                            <a:schemeClr val="tx1"/>
                          </a:solidFill>
                          <a:effectLst/>
                          <a:latin typeface="+mn-ea"/>
                        </a:rPr>
                        <a:t>BdopnListPage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UC-BD-10-01</a:t>
                      </a: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UC-BD-11-02</a:t>
                      </a:r>
                    </a:p>
                    <a:p>
                      <a:pPr algn="ctr" latinLnBrk="1">
                        <a:defRPr/>
                      </a:pPr>
                      <a:r>
                        <a:rPr lang="en-US" altLang="ko-KR" sz="800" dirty="0">
                          <a:latin typeface="+mn-ea"/>
                          <a:ea typeface="+mn-ea"/>
                        </a:rPr>
                        <a:t>UC-BD-12-01</a:t>
                      </a:r>
                    </a:p>
                    <a:p>
                      <a:pPr algn="ctr" latinLnBrk="1">
                        <a:defRPr/>
                      </a:pPr>
                      <a:r>
                        <a:rPr lang="en-US" altLang="ko-KR" sz="800" dirty="0">
                          <a:latin typeface="+mn-ea"/>
                          <a:ea typeface="+mn-ea"/>
                        </a:rPr>
                        <a:t>UC-BD-12-02</a:t>
                      </a:r>
                    </a:p>
                    <a:p>
                      <a:pPr algn="ctr" latinLnBrk="1">
                        <a:defRPr/>
                      </a:pPr>
                      <a:r>
                        <a:rPr lang="en-US" altLang="ko-KR" sz="800" dirty="0">
                          <a:latin typeface="+mn-ea"/>
                          <a:ea typeface="+mn-ea"/>
                        </a:rPr>
                        <a:t>UC-BD-13-01</a:t>
                      </a:r>
                    </a:p>
                    <a:p>
                      <a:pPr algn="ctr" latinLnBrk="1">
                        <a:defRPr/>
                      </a:pPr>
                      <a:r>
                        <a:rPr lang="en-US" altLang="ko-KR" sz="800" dirty="0">
                          <a:latin typeface="+mn-ea"/>
                          <a:ea typeface="+mn-ea"/>
                        </a:rPr>
                        <a:t>UC-BD-14-01</a:t>
                      </a:r>
                    </a:p>
                    <a:p>
                      <a:pPr algn="ctr" latinLnBrk="1">
                        <a:defRPr/>
                      </a:pPr>
                      <a:r>
                        <a:rPr lang="en-US" altLang="ko-KR" sz="800" dirty="0">
                          <a:latin typeface="+mn-ea"/>
                          <a:ea typeface="+mn-ea"/>
                        </a:rPr>
                        <a:t>UC-BD-14-02</a:t>
                      </a:r>
                    </a:p>
                    <a:p>
                      <a:pPr algn="ctr" latinLnBrk="1">
                        <a:defRPr/>
                      </a:pPr>
                      <a:r>
                        <a:rPr lang="en-US" altLang="ko-KR" sz="800" dirty="0">
                          <a:latin typeface="+mn-ea"/>
                          <a:ea typeface="+mn-ea"/>
                        </a:rPr>
                        <a:t>UC-BD-15-01</a:t>
                      </a:r>
                    </a:p>
                    <a:p>
                      <a:pPr algn="ctr" latinLnBrk="1">
                        <a:defRPr/>
                      </a:pPr>
                      <a:r>
                        <a:rPr lang="en-US" altLang="ko-KR" sz="800" dirty="0">
                          <a:latin typeface="+mn-ea"/>
                          <a:ea typeface="+mn-ea"/>
                        </a:rPr>
                        <a:t>UC-BD-15-02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58023686"/>
                  </a:ext>
                </a:extLst>
              </a:tr>
              <a:tr h="180000">
                <a:tc>
                  <a:txBody>
                    <a:bodyPr/>
                    <a:lstStyle/>
                    <a:p>
                      <a:pPr algn="ctr" fontAlgn="ctr"/>
                      <a:r>
                        <a:rPr lang="en-US" sz="700" kern="1200" dirty="0">
                          <a:solidFill>
                            <a:schemeClr val="tx1"/>
                          </a:solidFill>
                          <a:latin typeface="+mn-ea"/>
                          <a:ea typeface="+mn-ea"/>
                          <a:cs typeface="+mn-cs"/>
                        </a:rPr>
                        <a:t>MUI-BD-09-M71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입찰결과조회</a:t>
                      </a:r>
                      <a:endParaRPr lang="en-US" altLang="ko-KR" sz="800" dirty="0">
                        <a:latin typeface="+mn-ea"/>
                        <a:ea typeface="+mn-ea"/>
                      </a:endParaRPr>
                    </a:p>
                    <a:p>
                      <a:pPr latinLnBrk="1"/>
                      <a:r>
                        <a:rPr lang="en-US" altLang="ko-KR" sz="800" dirty="0">
                          <a:latin typeface="+mn-ea"/>
                          <a:ea typeface="+mn-ea"/>
                        </a:rPr>
                        <a:t>-</a:t>
                      </a:r>
                      <a:r>
                        <a:rPr lang="en-US" altLang="ko-KR" sz="800" baseline="0" dirty="0">
                          <a:latin typeface="+mn-ea"/>
                          <a:ea typeface="+mn-ea"/>
                        </a:rPr>
                        <a:t> </a:t>
                      </a:r>
                      <a:r>
                        <a:rPr lang="ko-KR" altLang="en-US" sz="800" baseline="0" dirty="0">
                          <a:latin typeface="+mn-ea"/>
                          <a:ea typeface="+mn-ea"/>
                        </a:rPr>
                        <a:t>일반정보</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맑은 고딕" panose="020B0503020000020004" pitchFamily="50" charset="-127"/>
                          <a:ea typeface="+mn-ea"/>
                        </a:rPr>
                        <a:t>OvsBidRsltDtlPage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공고의 입찰결과를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ovsBidRsltDtl</a:t>
                      </a:r>
                      <a:r>
                        <a:rPr lang="en-US" altLang="ko-KR" sz="800" b="0" i="0" u="none" strike="noStrike" dirty="0">
                          <a:solidFill>
                            <a:schemeClr val="tx1"/>
                          </a:solidFill>
                          <a:effectLst/>
                          <a:latin typeface="맑은 고딕" panose="020B0503020000020004" pitchFamily="50" charset="-127"/>
                          <a:ea typeface="+mn-ea"/>
                        </a:rPr>
                        <a:t>/</a:t>
                      </a:r>
                      <a:r>
                        <a:rPr lang="en-US" altLang="ko-KR" sz="800" b="0" i="0" u="none" strike="noStrike" dirty="0" err="1">
                          <a:solidFill>
                            <a:schemeClr val="tx1"/>
                          </a:solidFill>
                          <a:effectLst/>
                          <a:latin typeface="맑은 고딕" panose="020B0503020000020004" pitchFamily="50" charset="-127"/>
                          <a:ea typeface="+mn-ea"/>
                        </a:rPr>
                        <a:t>OvsBidRsltDtlPage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07432397"/>
                  </a:ext>
                </a:extLst>
              </a:tr>
              <a:tr h="180000">
                <a:tc>
                  <a:txBody>
                    <a:bodyPr/>
                    <a:lstStyle/>
                    <a:p>
                      <a:pPr algn="ctr" fontAlgn="ctr"/>
                      <a:r>
                        <a:rPr lang="en-US" sz="700" kern="1200" dirty="0">
                          <a:solidFill>
                            <a:schemeClr val="tx1"/>
                          </a:solidFill>
                          <a:latin typeface="+mn-ea"/>
                          <a:ea typeface="+mn-ea"/>
                          <a:cs typeface="+mn-cs"/>
                        </a:rPr>
                        <a:t>MUI-BD-09-M72</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입찰결과조회</a:t>
                      </a:r>
                      <a:endParaRPr lang="en-US" altLang="ko-KR" sz="800" dirty="0">
                        <a:latin typeface="+mn-ea"/>
                        <a:ea typeface="+mn-ea"/>
                      </a:endParaRPr>
                    </a:p>
                    <a:p>
                      <a:pPr latinLnBrk="1"/>
                      <a:r>
                        <a:rPr lang="en-US" altLang="ko-KR" sz="800" dirty="0">
                          <a:latin typeface="+mn-ea"/>
                          <a:ea typeface="+mn-ea"/>
                        </a:rPr>
                        <a:t>-</a:t>
                      </a:r>
                      <a:r>
                        <a:rPr lang="en-US" altLang="ko-KR" sz="800" baseline="0" dirty="0">
                          <a:latin typeface="+mn-ea"/>
                          <a:ea typeface="+mn-ea"/>
                        </a:rPr>
                        <a:t> </a:t>
                      </a:r>
                      <a:r>
                        <a:rPr lang="ko-KR" altLang="en-US" sz="800" baseline="0" dirty="0">
                          <a:latin typeface="+mn-ea"/>
                          <a:ea typeface="+mn-ea"/>
                        </a:rPr>
                        <a:t>입찰결과 </a:t>
                      </a:r>
                      <a:r>
                        <a:rPr lang="en-US" altLang="ko-KR" sz="800" baseline="0" dirty="0">
                          <a:latin typeface="+mn-ea"/>
                          <a:ea typeface="+mn-ea"/>
                        </a:rPr>
                        <a:t>(</a:t>
                      </a:r>
                      <a:r>
                        <a:rPr lang="ko-KR" altLang="en-US" sz="800" baseline="0" dirty="0" err="1">
                          <a:latin typeface="+mn-ea"/>
                          <a:ea typeface="+mn-ea"/>
                        </a:rPr>
                        <a:t>단가제</a:t>
                      </a:r>
                      <a:r>
                        <a:rPr lang="en-US" altLang="ko-KR" sz="800" baseline="0" dirty="0">
                          <a:latin typeface="+mn-ea"/>
                          <a:ea typeface="+mn-ea"/>
                        </a:rPr>
                        <a:t>)</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OvsBidRsltDtl2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공고의 입찰결과를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ovsBidRsltDtl</a:t>
                      </a:r>
                      <a:r>
                        <a:rPr lang="en-US" altLang="ko-KR" sz="800" b="0" i="0" u="none" strike="noStrike" dirty="0">
                          <a:solidFill>
                            <a:schemeClr val="tx1"/>
                          </a:solidFill>
                          <a:effectLst/>
                          <a:latin typeface="맑은 고딕" panose="020B0503020000020004" pitchFamily="50" charset="-127"/>
                          <a:ea typeface="+mn-ea"/>
                        </a:rPr>
                        <a:t>/OvsBidRsltDtl2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6192327"/>
                  </a:ext>
                </a:extLst>
              </a:tr>
              <a:tr h="180000">
                <a:tc>
                  <a:txBody>
                    <a:bodyPr/>
                    <a:lstStyle/>
                    <a:p>
                      <a:pPr algn="ctr" fontAlgn="ctr"/>
                      <a:r>
                        <a:rPr lang="en-US" sz="700" kern="1200" dirty="0">
                          <a:solidFill>
                            <a:schemeClr val="tx1"/>
                          </a:solidFill>
                          <a:latin typeface="+mn-ea"/>
                          <a:ea typeface="+mn-ea"/>
                          <a:cs typeface="+mn-cs"/>
                        </a:rPr>
                        <a:t>MUI-BD-09-M73</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입찰결과조회</a:t>
                      </a:r>
                      <a:endParaRPr lang="en-US" altLang="ko-KR" sz="800" dirty="0">
                        <a:latin typeface="+mn-ea"/>
                        <a:ea typeface="+mn-ea"/>
                      </a:endParaRPr>
                    </a:p>
                    <a:p>
                      <a:pPr latinLnBrk="1"/>
                      <a:r>
                        <a:rPr lang="en-US" altLang="ko-KR" sz="800" dirty="0">
                          <a:latin typeface="+mn-ea"/>
                          <a:ea typeface="+mn-ea"/>
                        </a:rPr>
                        <a:t>-</a:t>
                      </a:r>
                      <a:r>
                        <a:rPr lang="en-US" altLang="ko-KR" sz="800" baseline="0" dirty="0">
                          <a:latin typeface="+mn-ea"/>
                          <a:ea typeface="+mn-ea"/>
                        </a:rPr>
                        <a:t> </a:t>
                      </a:r>
                      <a:r>
                        <a:rPr lang="ko-KR" altLang="en-US" sz="800" baseline="0" dirty="0">
                          <a:latin typeface="+mn-ea"/>
                          <a:ea typeface="+mn-ea"/>
                        </a:rPr>
                        <a:t>입찰결과 </a:t>
                      </a:r>
                      <a:r>
                        <a:rPr lang="en-US" altLang="ko-KR" sz="800" baseline="0" dirty="0">
                          <a:latin typeface="+mn-ea"/>
                          <a:ea typeface="+mn-ea"/>
                        </a:rPr>
                        <a:t>(</a:t>
                      </a:r>
                      <a:r>
                        <a:rPr lang="ko-KR" altLang="en-US" sz="800" baseline="0" dirty="0" err="1">
                          <a:latin typeface="+mn-ea"/>
                          <a:ea typeface="+mn-ea"/>
                        </a:rPr>
                        <a:t>총액제</a:t>
                      </a:r>
                      <a:r>
                        <a:rPr lang="en-US" altLang="ko-KR" sz="800" baseline="0" dirty="0">
                          <a:latin typeface="+mn-ea"/>
                          <a:ea typeface="+mn-ea"/>
                        </a:rPr>
                        <a:t>)</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a:solidFill>
                            <a:schemeClr val="tx1"/>
                          </a:solidFill>
                          <a:effectLst/>
                          <a:latin typeface="맑은 고딕" panose="020B0503020000020004" pitchFamily="50" charset="-127"/>
                          <a:ea typeface="+mn-ea"/>
                        </a:rPr>
                        <a:t>OvsBidRsltDtl3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공고의 입찰결과를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맑은 고딕" panose="020B0503020000020004" pitchFamily="50" charset="-127"/>
                          <a:ea typeface="+mn-ea"/>
                        </a:rPr>
                        <a:t>ovsBidRsltDtl</a:t>
                      </a:r>
                      <a:r>
                        <a:rPr lang="en-US" altLang="ko-KR" sz="800" b="0" i="0" u="none" strike="noStrike" dirty="0">
                          <a:solidFill>
                            <a:schemeClr val="tx1"/>
                          </a:solidFill>
                          <a:effectLst/>
                          <a:latin typeface="맑은 고딕" panose="020B0503020000020004" pitchFamily="50" charset="-127"/>
                          <a:ea typeface="+mn-ea"/>
                        </a:rPr>
                        <a:t>/OvsBidRsltDtl3</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UC-BD-13-01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3810038"/>
                  </a:ext>
                </a:extLst>
              </a:tr>
              <a:tr h="180000">
                <a:tc>
                  <a:txBody>
                    <a:bodyPr/>
                    <a:lstStyle/>
                    <a:p>
                      <a:pPr algn="ctr" fontAlgn="ctr"/>
                      <a:r>
                        <a:rPr lang="en-US" sz="700" kern="1200" dirty="0">
                          <a:solidFill>
                            <a:schemeClr val="tx1"/>
                          </a:solidFill>
                          <a:latin typeface="+mn-ea"/>
                          <a:ea typeface="+mn-ea"/>
                          <a:cs typeface="+mn-cs"/>
                        </a:rPr>
                        <a:t>MUI-BD-12-M71</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공개수의협상계획상세</a:t>
                      </a:r>
                      <a:endParaRPr lang="en-US" altLang="ko-KR" sz="800" dirty="0">
                        <a:latin typeface="+mn-ea"/>
                        <a:ea typeface="+mn-ea"/>
                      </a:endParaRPr>
                    </a:p>
                    <a:p>
                      <a:pPr latinLnBrk="1"/>
                      <a:r>
                        <a:rPr lang="en-US" altLang="ko-KR" sz="800" dirty="0">
                          <a:latin typeface="+mn-ea"/>
                          <a:ea typeface="+mn-ea"/>
                        </a:rPr>
                        <a:t>-</a:t>
                      </a:r>
                      <a:r>
                        <a:rPr lang="en-US" altLang="ko-KR" sz="800" baseline="0" dirty="0">
                          <a:latin typeface="+mn-ea"/>
                          <a:ea typeface="+mn-ea"/>
                        </a:rPr>
                        <a:t> </a:t>
                      </a:r>
                      <a:r>
                        <a:rPr lang="ko-KR" altLang="en-US" sz="800" baseline="0" dirty="0">
                          <a:latin typeface="+mn-ea"/>
                          <a:ea typeface="+mn-ea"/>
                        </a:rPr>
                        <a:t>일반정보</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kern="1200" dirty="0" err="1">
                          <a:solidFill>
                            <a:schemeClr val="tx1"/>
                          </a:solidFill>
                          <a:effectLst/>
                          <a:latin typeface="맑은 고딕" panose="020B0503020000020004" pitchFamily="50" charset="-127"/>
                          <a:ea typeface="+mn-ea"/>
                          <a:cs typeface="+mn-cs"/>
                        </a:rPr>
                        <a:t>OvsRlsVltrnsNgtnPlanDtl</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공개수의협상 상세정보를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ovsRlsVltrnsNgtnPlanDtl</a:t>
                      </a:r>
                      <a:r>
                        <a:rPr lang="en-US" altLang="ko-KR" sz="800" b="0" i="0" u="none" strike="noStrike" kern="1200" dirty="0">
                          <a:solidFill>
                            <a:schemeClr val="tx1"/>
                          </a:solidFill>
                          <a:effectLst/>
                          <a:latin typeface="맑은 고딕" panose="020B0503020000020004" pitchFamily="50" charset="-127"/>
                          <a:ea typeface="+mn-ea"/>
                          <a:cs typeface="+mn-cs"/>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OvsRlsVltrnsNgtnPlanDtlPage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b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b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UC-BD-12-01</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2603775"/>
                  </a:ext>
                </a:extLst>
              </a:tr>
              <a:tr h="180000">
                <a:tc>
                  <a:txBody>
                    <a:bodyPr/>
                    <a:lstStyle/>
                    <a:p>
                      <a:pPr algn="ctr" fontAlgn="ctr"/>
                      <a:r>
                        <a:rPr lang="en-US" sz="700" kern="1200" dirty="0">
                          <a:solidFill>
                            <a:schemeClr val="tx1"/>
                          </a:solidFill>
                          <a:latin typeface="+mn-ea"/>
                          <a:ea typeface="+mn-ea"/>
                          <a:cs typeface="+mn-cs"/>
                        </a:rPr>
                        <a:t>MUI-BD-12-M72</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공개수의협상계획상세</a:t>
                      </a:r>
                      <a:endParaRPr lang="en-US" altLang="ko-KR" sz="800" dirty="0">
                        <a:latin typeface="+mn-ea"/>
                        <a:ea typeface="+mn-ea"/>
                      </a:endParaRPr>
                    </a:p>
                    <a:p>
                      <a:pPr latinLnBrk="1"/>
                      <a:r>
                        <a:rPr lang="en-US" altLang="ko-KR" sz="800" dirty="0">
                          <a:latin typeface="+mn-ea"/>
                          <a:ea typeface="+mn-ea"/>
                        </a:rPr>
                        <a:t>-</a:t>
                      </a:r>
                      <a:r>
                        <a:rPr lang="en-US" altLang="ko-KR" sz="800" baseline="0" dirty="0">
                          <a:latin typeface="+mn-ea"/>
                          <a:ea typeface="+mn-ea"/>
                        </a:rPr>
                        <a:t> </a:t>
                      </a:r>
                      <a:r>
                        <a:rPr lang="ko-KR" altLang="en-US" sz="800" baseline="0" dirty="0" err="1">
                          <a:latin typeface="+mn-ea"/>
                          <a:ea typeface="+mn-ea"/>
                        </a:rPr>
                        <a:t>품목정보</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kern="1200" dirty="0">
                          <a:solidFill>
                            <a:schemeClr val="tx1"/>
                          </a:solidFill>
                          <a:effectLst/>
                          <a:latin typeface="맑은 고딕" panose="020B0503020000020004" pitchFamily="50" charset="-127"/>
                          <a:ea typeface="+mn-ea"/>
                          <a:cs typeface="+mn-cs"/>
                        </a:rPr>
                        <a:t>OvsRlsVltrnsNgtnPlanDtl2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srgbClr val="000000"/>
                          </a:solidFill>
                          <a:effectLst/>
                          <a:uLnTx/>
                          <a:uFillTx/>
                          <a:latin typeface="휴먼명조"/>
                          <a:ea typeface="맑은 고딕" panose="020B0503020000020004" pitchFamily="50" charset="-127"/>
                          <a:cs typeface="+mn-cs"/>
                        </a:rPr>
                        <a:t>공개수의협상 상세정보를 조회하는 화면</a:t>
                      </a:r>
                      <a:endPar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ovsRlsVltrnsNgtnPlanDtl</a:t>
                      </a:r>
                      <a:r>
                        <a:rPr lang="en-US" altLang="ko-KR" sz="800" b="0" i="0" u="none" strike="noStrike" kern="1200" dirty="0">
                          <a:solidFill>
                            <a:schemeClr val="tx1"/>
                          </a:solidFill>
                          <a:effectLst/>
                          <a:latin typeface="맑은 고딕" panose="020B0503020000020004" pitchFamily="50" charset="-127"/>
                          <a:ea typeface="+mn-ea"/>
                          <a:cs typeface="+mn-cs"/>
                        </a:rPr>
                        <a:t>/OvsRlsVltrnsNgtnPlanDtl2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b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b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UC-BD-12-01</a:t>
                      </a:r>
                      <a:endPar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9970412"/>
                  </a:ext>
                </a:extLst>
              </a:tr>
              <a:tr h="180000">
                <a:tc>
                  <a:txBody>
                    <a:bodyPr/>
                    <a:lstStyle/>
                    <a:p>
                      <a:pPr algn="ctr" fontAlgn="ctr"/>
                      <a:r>
                        <a:rPr lang="en-US" sz="700" kern="1200" dirty="0">
                          <a:solidFill>
                            <a:schemeClr val="tx1"/>
                          </a:solidFill>
                          <a:latin typeface="+mn-ea"/>
                          <a:ea typeface="+mn-ea"/>
                          <a:cs typeface="+mn-cs"/>
                        </a:rPr>
                        <a:t>MUI-BD-12-M73</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공개수의협상계획상세</a:t>
                      </a:r>
                      <a:endParaRPr lang="en-US" altLang="ko-KR" sz="800" dirty="0">
                        <a:latin typeface="+mn-ea"/>
                        <a:ea typeface="+mn-ea"/>
                      </a:endParaRPr>
                    </a:p>
                    <a:p>
                      <a:pPr latinLnBrk="1"/>
                      <a:r>
                        <a:rPr lang="en-US" altLang="ko-KR" sz="800" dirty="0">
                          <a:latin typeface="+mn-ea"/>
                          <a:ea typeface="+mn-ea"/>
                        </a:rPr>
                        <a:t>-</a:t>
                      </a:r>
                      <a:r>
                        <a:rPr lang="en-US" altLang="ko-KR" sz="800" baseline="0" dirty="0">
                          <a:latin typeface="+mn-ea"/>
                          <a:ea typeface="+mn-ea"/>
                        </a:rPr>
                        <a:t> </a:t>
                      </a:r>
                      <a:r>
                        <a:rPr lang="ko-KR" altLang="en-US" sz="800" baseline="0" dirty="0">
                          <a:latin typeface="+mn-ea"/>
                          <a:ea typeface="+mn-ea"/>
                        </a:rPr>
                        <a:t>첨부서류</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kern="1200" dirty="0">
                          <a:solidFill>
                            <a:schemeClr val="tx1"/>
                          </a:solidFill>
                          <a:effectLst/>
                          <a:latin typeface="맑은 고딕" panose="020B0503020000020004" pitchFamily="50" charset="-127"/>
                          <a:ea typeface="+mn-ea"/>
                          <a:cs typeface="+mn-cs"/>
                        </a:rPr>
                        <a:t>OvsRlsVltrnsNgtnPlanDtl3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공개수의협상 상세정보를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ovsRlsVltrnsNgtnPlanDtl</a:t>
                      </a:r>
                      <a:r>
                        <a:rPr lang="en-US" altLang="ko-KR" sz="800" b="0" i="0" u="none" strike="noStrike" kern="1200" dirty="0">
                          <a:solidFill>
                            <a:schemeClr val="tx1"/>
                          </a:solidFill>
                          <a:effectLst/>
                          <a:latin typeface="맑은 고딕" panose="020B0503020000020004" pitchFamily="50" charset="-127"/>
                          <a:ea typeface="+mn-ea"/>
                          <a:cs typeface="+mn-cs"/>
                        </a:rPr>
                        <a:t>/OvsRlsVltrnsNgtnPlanDtl3</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b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b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UC-BD-12-01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4960235"/>
                  </a:ext>
                </a:extLst>
              </a:tr>
              <a:tr h="180000">
                <a:tc>
                  <a:txBody>
                    <a:bodyPr/>
                    <a:lstStyle/>
                    <a:p>
                      <a:pPr algn="ctr" fontAlgn="ctr"/>
                      <a:r>
                        <a:rPr lang="en-US" altLang="ko-KR" sz="700" kern="1200" dirty="0">
                          <a:solidFill>
                            <a:schemeClr val="tx1"/>
                          </a:solidFill>
                          <a:latin typeface="+mn-ea"/>
                          <a:ea typeface="+mn-ea"/>
                          <a:cs typeface="+mn-cs"/>
                        </a:rPr>
                        <a:t>MUI-BD-12-M74</a:t>
                      </a: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공개수의협상견적서제출</a:t>
                      </a:r>
                      <a:r>
                        <a:rPr lang="ko-KR" altLang="en-US" sz="800" dirty="0">
                          <a:latin typeface="+mn-ea"/>
                          <a:ea typeface="+mn-ea"/>
                        </a:rPr>
                        <a:t> </a:t>
                      </a:r>
                      <a:r>
                        <a:rPr lang="en-US" altLang="ko-KR" sz="800" dirty="0">
                          <a:latin typeface="+mn-ea"/>
                          <a:ea typeface="+mn-ea"/>
                        </a:rPr>
                        <a:t>- </a:t>
                      </a:r>
                      <a:r>
                        <a:rPr lang="ko-KR" altLang="en-US" sz="800" dirty="0" err="1">
                          <a:latin typeface="+mn-ea"/>
                          <a:ea typeface="+mn-ea"/>
                        </a:rPr>
                        <a:t>스탭</a:t>
                      </a:r>
                      <a:r>
                        <a:rPr lang="ko-KR" altLang="en-US" sz="800" dirty="0">
                          <a:latin typeface="+mn-ea"/>
                          <a:ea typeface="+mn-ea"/>
                        </a:rPr>
                        <a:t> </a:t>
                      </a:r>
                      <a:r>
                        <a:rPr lang="en-US" altLang="ko-KR" sz="800" dirty="0">
                          <a:latin typeface="+mn-ea"/>
                          <a:ea typeface="+mn-ea"/>
                        </a:rPr>
                        <a:t>1 - </a:t>
                      </a:r>
                      <a:r>
                        <a:rPr lang="ko-KR" altLang="en-US" sz="800" dirty="0">
                          <a:latin typeface="+mn-ea"/>
                          <a:ea typeface="+mn-ea"/>
                        </a:rPr>
                        <a:t>일반정보</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kern="1200" dirty="0" err="1">
                          <a:solidFill>
                            <a:schemeClr val="tx1"/>
                          </a:solidFill>
                          <a:effectLst/>
                          <a:latin typeface="맑은 고딕" panose="020B0503020000020004" pitchFamily="50" charset="-127"/>
                          <a:ea typeface="+mn-ea"/>
                          <a:cs typeface="+mn-cs"/>
                        </a:rPr>
                        <a:t>OvsRlsVltrnsNgtnEtdcSbmsnPage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업체담당자가 공개수의협상 견적서를 제출하는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ovsRlsVltrnsNgtnEtdcSbmsnPage</a:t>
                      </a:r>
                      <a:r>
                        <a:rPr lang="en-US" altLang="ko-KR" sz="800" b="0" i="0" u="none" strike="noStrike" kern="1200" dirty="0">
                          <a:solidFill>
                            <a:schemeClr val="tx1"/>
                          </a:solidFill>
                          <a:effectLst/>
                          <a:latin typeface="맑은 고딕" panose="020B0503020000020004" pitchFamily="50" charset="-127"/>
                          <a:ea typeface="+mn-ea"/>
                          <a:cs typeface="+mn-cs"/>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OvsRlsVltrnsNgtnEtdcSbmsnPage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4115334"/>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MUI-BD-12-M75</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공개수의협상견적서제출</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스탭</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2 -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업체정보</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kern="1200" dirty="0">
                          <a:solidFill>
                            <a:schemeClr val="tx1"/>
                          </a:solidFill>
                          <a:effectLst/>
                          <a:latin typeface="맑은 고딕" panose="020B0503020000020004" pitchFamily="50" charset="-127"/>
                          <a:ea typeface="+mn-ea"/>
                          <a:cs typeface="+mn-cs"/>
                        </a:rPr>
                        <a:t>OvsRlsVltrnsNgtnEtdcSbmsn2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업체담당자가 공개수의협상 견적서를 제출하는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ovsRlsVltrnsNgtnEtdcSbmsnPage</a:t>
                      </a:r>
                      <a:r>
                        <a:rPr lang="en-US" altLang="ko-KR" sz="800" b="0" i="0" u="none" strike="noStrike" kern="1200" dirty="0">
                          <a:solidFill>
                            <a:schemeClr val="tx1"/>
                          </a:solidFill>
                          <a:effectLst/>
                          <a:latin typeface="맑은 고딕" panose="020B0503020000020004" pitchFamily="50" charset="-127"/>
                          <a:ea typeface="+mn-ea"/>
                          <a:cs typeface="+mn-cs"/>
                        </a:rPr>
                        <a:t>/OvsRlsVltrnsNgtnEtdcSbmsn2.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21597055"/>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341383540"/>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2122368-0202-31C8-C260-22B3270E06B7}"/>
              </a:ext>
            </a:extLst>
          </p:cNvPr>
          <p:cNvSpPr>
            <a:spLocks noGrp="1"/>
          </p:cNvSpPr>
          <p:nvPr>
            <p:ph type="sldNum" sz="quarter" idx="4"/>
          </p:nvPr>
        </p:nvSpPr>
        <p:spPr>
          <a:xfrm>
            <a:off x="4327200" y="6588000"/>
            <a:ext cx="1258128" cy="216000"/>
          </a:xfrm>
        </p:spPr>
        <p:txBody>
          <a:bodyPr/>
          <a:lstStyle/>
          <a:p>
            <a:fld id="{34C8E023-7346-48FC-AB24-9A3388C53208}" type="slidenum">
              <a:rPr lang="ko-KR" altLang="en-US" smtClean="0"/>
              <a:pPr/>
              <a:t>397</a:t>
            </a:fld>
            <a:endParaRPr lang="ko-KR" altLang="en-US" dirty="0"/>
          </a:p>
        </p:txBody>
      </p:sp>
      <p:sp>
        <p:nvSpPr>
          <p:cNvPr id="3" name="텍스트 개체 틀 2">
            <a:extLst>
              <a:ext uri="{FF2B5EF4-FFF2-40B4-BE49-F238E27FC236}">
                <a16:creationId xmlns:a16="http://schemas.microsoft.com/office/drawing/2014/main" id="{2AE9582C-E43E-5A8F-8BC8-AB0EA50F2DFD}"/>
              </a:ext>
            </a:extLst>
          </p:cNvPr>
          <p:cNvSpPr>
            <a:spLocks noGrp="1"/>
          </p:cNvSpPr>
          <p:nvPr>
            <p:ph type="body" sz="quarter" idx="10"/>
          </p:nvPr>
        </p:nvSpPr>
        <p:spPr>
          <a:xfrm>
            <a:off x="457198" y="612000"/>
            <a:ext cx="8991601" cy="847274"/>
          </a:xfrm>
        </p:spPr>
        <p:txBody>
          <a:bodyPr anchor="t"/>
          <a:lstStyle/>
          <a:p>
            <a:r>
              <a:rPr lang="en-US" altLang="ko-KR" dirty="0"/>
              <a:t>9. </a:t>
            </a:r>
            <a:r>
              <a:rPr lang="ko-KR" altLang="en-US" dirty="0"/>
              <a:t>국외 개찰</a:t>
            </a:r>
            <a:endParaRPr lang="en-US" altLang="ko-KR" dirty="0"/>
          </a:p>
          <a:p>
            <a:r>
              <a:rPr lang="en-US" altLang="ko-KR" dirty="0"/>
              <a:t>9.1 </a:t>
            </a:r>
            <a:r>
              <a:rPr lang="ko-KR" altLang="en-US" dirty="0"/>
              <a:t>화면 목록 </a:t>
            </a:r>
            <a:r>
              <a:rPr lang="en-US" altLang="ko-KR" dirty="0"/>
              <a:t>(2/2)</a:t>
            </a:r>
            <a:endParaRPr lang="ko-KR" altLang="en-US" dirty="0"/>
          </a:p>
        </p:txBody>
      </p:sp>
      <p:graphicFrame>
        <p:nvGraphicFramePr>
          <p:cNvPr id="5" name="표 4"/>
          <p:cNvGraphicFramePr>
            <a:graphicFrameLocks noGrp="1"/>
          </p:cNvGraphicFramePr>
          <p:nvPr>
            <p:extLst>
              <p:ext uri="{D42A27DB-BD31-4B8C-83A1-F6EECF244321}">
                <p14:modId xmlns:p14="http://schemas.microsoft.com/office/powerpoint/2010/main" val="2763757379"/>
              </p:ext>
            </p:extLst>
          </p:nvPr>
        </p:nvGraphicFramePr>
        <p:xfrm>
          <a:off x="635474" y="1413419"/>
          <a:ext cx="8701200" cy="3697905"/>
        </p:xfrm>
        <a:graphic>
          <a:graphicData uri="http://schemas.openxmlformats.org/drawingml/2006/table">
            <a:tbl>
              <a:tblPr>
                <a:tableStyleId>{616DA210-FB5B-4158-B5E0-FEB733F419BA}</a:tableStyleId>
              </a:tblPr>
              <a:tblGrid>
                <a:gridCol w="858526">
                  <a:extLst>
                    <a:ext uri="{9D8B030D-6E8A-4147-A177-3AD203B41FA5}">
                      <a16:colId xmlns:a16="http://schemas.microsoft.com/office/drawing/2014/main" val="20000"/>
                    </a:ext>
                  </a:extLst>
                </a:gridCol>
                <a:gridCol w="1179074">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3294000">
                  <a:extLst>
                    <a:ext uri="{9D8B030D-6E8A-4147-A177-3AD203B41FA5}">
                      <a16:colId xmlns:a16="http://schemas.microsoft.com/office/drawing/2014/main" val="20003"/>
                    </a:ext>
                  </a:extLst>
                </a:gridCol>
                <a:gridCol w="1353600">
                  <a:extLst>
                    <a:ext uri="{9D8B030D-6E8A-4147-A177-3AD203B41FA5}">
                      <a16:colId xmlns:a16="http://schemas.microsoft.com/office/drawing/2014/main" val="20004"/>
                    </a:ext>
                  </a:extLst>
                </a:gridCol>
                <a:gridCol w="756000">
                  <a:extLst>
                    <a:ext uri="{9D8B030D-6E8A-4147-A177-3AD203B41FA5}">
                      <a16:colId xmlns:a16="http://schemas.microsoft.com/office/drawing/2014/main" val="20005"/>
                    </a:ext>
                  </a:extLst>
                </a:gridCol>
              </a:tblGrid>
              <a:tr h="195825">
                <a:tc>
                  <a:txBody>
                    <a:bodyPr/>
                    <a:lstStyle/>
                    <a:p>
                      <a:pPr algn="ctr" latinLnBrk="1">
                        <a:defRPr/>
                      </a:pPr>
                      <a:r>
                        <a:rPr lang="ko-KR" altLang="en-US" sz="800" b="1" dirty="0">
                          <a:latin typeface="+mn-ea"/>
                          <a:ea typeface="+mn-ea"/>
                        </a:rPr>
                        <a:t>화면 </a:t>
                      </a:r>
                      <a:r>
                        <a:rPr lang="en-US" altLang="ko-KR" sz="800" b="1" dirty="0">
                          <a:latin typeface="+mn-ea"/>
                          <a:ea typeface="+mn-ea"/>
                        </a:rPr>
                        <a:t>ID</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화면명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 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a:latin typeface="+mn-ea"/>
                          <a:ea typeface="+mn-ea"/>
                        </a:rPr>
                        <a:t>설명</a:t>
                      </a: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웹페이지</a:t>
                      </a:r>
                      <a:r>
                        <a:rPr lang="ko-KR" altLang="en-US" sz="800" b="1" dirty="0">
                          <a:latin typeface="+mn-ea"/>
                          <a:ea typeface="+mn-ea"/>
                        </a:rPr>
                        <a:t> 경로</a:t>
                      </a:r>
                      <a:r>
                        <a:rPr lang="en-US" altLang="ko-KR" sz="800" b="1" baseline="30000" dirty="0">
                          <a:latin typeface="+mn-ea"/>
                          <a:ea typeface="+mn-ea"/>
                        </a:rPr>
                        <a:t> 1)</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defRPr/>
                      </a:pPr>
                      <a:r>
                        <a:rPr lang="ko-KR" altLang="en-US" sz="800" b="1" dirty="0" err="1">
                          <a:latin typeface="+mn-ea"/>
                          <a:ea typeface="+mn-ea"/>
                        </a:rPr>
                        <a:t>유스케이스</a:t>
                      </a:r>
                      <a:r>
                        <a:rPr lang="ko-KR" altLang="en-US" sz="800" b="1" dirty="0">
                          <a:latin typeface="+mn-ea"/>
                          <a:ea typeface="+mn-ea"/>
                        </a:rPr>
                        <a:t> </a:t>
                      </a:r>
                      <a:r>
                        <a:rPr lang="en-US" altLang="ko-KR" sz="800" b="1" dirty="0">
                          <a:latin typeface="+mn-ea"/>
                          <a:ea typeface="+mn-ea"/>
                        </a:rPr>
                        <a:t>ID</a:t>
                      </a:r>
                      <a:endParaRPr lang="ko-KR" altLang="en-US" sz="800" b="1" dirty="0">
                        <a:latin typeface="+mn-ea"/>
                        <a:ea typeface="+mn-ea"/>
                      </a:endParaRPr>
                    </a:p>
                  </a:txBody>
                  <a:tcPr marL="36000" marR="36000" marT="36000" marB="36000">
                    <a:lnL w="3175" cap="flat" cmpd="sng" algn="ctr">
                      <a:solidFill>
                        <a:schemeClr val="tx1"/>
                      </a:solidFill>
                      <a:prstDash val="solid"/>
                      <a:round/>
                      <a:headEnd w="med" len="med"/>
                      <a:tailEnd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MUI-BD-12-M76</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공개수의협상견적서제출</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스탭</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3 -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입찰품목</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kern="1200" dirty="0">
                          <a:solidFill>
                            <a:schemeClr val="tx1"/>
                          </a:solidFill>
                          <a:effectLst/>
                          <a:latin typeface="맑은 고딕" panose="020B0503020000020004" pitchFamily="50" charset="-127"/>
                          <a:ea typeface="+mn-ea"/>
                          <a:cs typeface="+mn-cs"/>
                        </a:rPr>
                        <a:t>OvsRlsVltrnsNgtnEtdcSbmsn3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업체담당자가 공개수의협상 견적서를 제출하는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ovsRlsVltrnsNgtnEtdcSbmsnPage</a:t>
                      </a:r>
                      <a:r>
                        <a:rPr lang="en-US" altLang="ko-KR" sz="800" b="0" i="0" u="none" strike="noStrike" kern="1200" dirty="0">
                          <a:solidFill>
                            <a:schemeClr val="tx1"/>
                          </a:solidFill>
                          <a:effectLst/>
                          <a:latin typeface="맑은 고딕" panose="020B0503020000020004" pitchFamily="50" charset="-127"/>
                          <a:ea typeface="+mn-ea"/>
                          <a:cs typeface="+mn-cs"/>
                        </a:rPr>
                        <a:t>/OvsRlsVltrnsNgtnEtdcSbmsn3.</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15677601"/>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MUI-BD-12-M77</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맑은 고딕" panose="020B0503020000020004" pitchFamily="50" charset="-127"/>
                          <a:cs typeface="+mn-cs"/>
                        </a:rPr>
                        <a:t>공개수의협상견적서제출</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스탭</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4 -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첨부파일</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kern="1200" dirty="0">
                          <a:solidFill>
                            <a:schemeClr val="tx1"/>
                          </a:solidFill>
                          <a:effectLst/>
                          <a:latin typeface="맑은 고딕" panose="020B0503020000020004" pitchFamily="50" charset="-127"/>
                          <a:ea typeface="+mn-ea"/>
                          <a:cs typeface="+mn-cs"/>
                        </a:rPr>
                        <a:t>OvsRlsVltrnsNgtnEtdcSbmsn4</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업체담당자가 공개수의협상 견적서를 제출하는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kern="1200" dirty="0" err="1">
                          <a:solidFill>
                            <a:schemeClr val="tx1"/>
                          </a:solidFill>
                          <a:effectLst/>
                          <a:latin typeface="맑은 고딕" panose="020B0503020000020004" pitchFamily="50" charset="-127"/>
                          <a:ea typeface="+mn-ea"/>
                          <a:cs typeface="+mn-cs"/>
                        </a:rPr>
                        <a:t>ovsRlsVltrnsNgtnEtdcSbmsnPage</a:t>
                      </a:r>
                      <a:r>
                        <a:rPr lang="en-US" altLang="ko-KR" sz="800" b="0" i="0" u="none" strike="noStrike" kern="1200" dirty="0">
                          <a:solidFill>
                            <a:schemeClr val="tx1"/>
                          </a:solidFill>
                          <a:effectLst/>
                          <a:latin typeface="맑은 고딕" panose="020B0503020000020004" pitchFamily="50" charset="-127"/>
                          <a:ea typeface="+mn-ea"/>
                          <a:cs typeface="+mn-cs"/>
                        </a:rPr>
                        <a:t>/OvsRlsVltrnsNgtnEtdcSbmsn4.</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1959960"/>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MUI-BD-12-M78</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공개수의협상견적서상세</a:t>
                      </a:r>
                      <a:r>
                        <a:rPr lang="en-US" altLang="ko-KR" sz="800" dirty="0">
                          <a:latin typeface="+mn-ea"/>
                          <a:ea typeface="+mn-ea"/>
                        </a:rPr>
                        <a:t> - </a:t>
                      </a:r>
                      <a:r>
                        <a:rPr lang="ko-KR" altLang="en-US" sz="800" dirty="0">
                          <a:latin typeface="+mn-ea"/>
                          <a:ea typeface="+mn-ea"/>
                        </a:rPr>
                        <a:t>일반정보</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b="0" i="0" u="none" strike="noStrike" dirty="0" err="1">
                          <a:solidFill>
                            <a:schemeClr val="tx1"/>
                          </a:solidFill>
                          <a:effectLst/>
                          <a:latin typeface="+mn-ea"/>
                        </a:rPr>
                        <a:t>OvsRlsVltrnsNgtnEtdcDtlPage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srgbClr val="000000"/>
                          </a:solidFill>
                          <a:effectLst/>
                          <a:uLnTx/>
                          <a:uFillTx/>
                          <a:latin typeface="휴먼명조"/>
                          <a:ea typeface="맑은 고딕" panose="020B0503020000020004" pitchFamily="50" charset="-127"/>
                          <a:cs typeface="+mn-cs"/>
                        </a:rPr>
                        <a:t>업체담당자가 제출한 공개수의협상 견적서를 조회하는 화면</a:t>
                      </a:r>
                      <a:endPar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rPr>
                        <a:t>ovsRlsVltrnsNgtnEtdcDtl</a:t>
                      </a:r>
                      <a:r>
                        <a:rPr lang="en-US" altLang="ko-KR" sz="800" b="0" i="0" u="none" strike="noStrike" dirty="0">
                          <a:solidFill>
                            <a:schemeClr val="tx1"/>
                          </a:solidFill>
                          <a:effectLst/>
                          <a:latin typeface="+mn-ea"/>
                        </a:rPr>
                        <a:t>/</a:t>
                      </a:r>
                      <a:r>
                        <a:rPr lang="en-US" altLang="ko-KR" sz="800" b="0" i="0" u="none" strike="noStrike" dirty="0" err="1">
                          <a:solidFill>
                            <a:schemeClr val="tx1"/>
                          </a:solidFill>
                          <a:effectLst/>
                          <a:latin typeface="+mn-ea"/>
                        </a:rPr>
                        <a:t>OvsRlsVltrnsNgtnEtdcDtlPage</a:t>
                      </a:r>
                      <a:r>
                        <a:rPr lang="en-US" altLang="ko-KR" sz="800" dirty="0" err="1">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b="0" i="0" u="none" strike="noStrike" dirty="0">
                          <a:solidFill>
                            <a:srgbClr val="000000"/>
                          </a:solidFill>
                          <a:effectLst/>
                          <a:latin typeface="맑은 고딕" panose="020B0503020000020004" pitchFamily="50" charset="-127"/>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58023686"/>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MUI-BD-12-M79</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공개수의협상견적서</a:t>
                      </a:r>
                      <a:r>
                        <a:rPr lang="ko-KR" altLang="en-US" sz="800" dirty="0">
                          <a:latin typeface="+mn-ea"/>
                          <a:ea typeface="+mn-ea"/>
                        </a:rPr>
                        <a:t>상세</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업체정보</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chemeClr val="tx1"/>
                          </a:solidFill>
                          <a:effectLst/>
                          <a:latin typeface="+mn-ea"/>
                        </a:rPr>
                        <a:t>OvsRlsVltrnsNgtnEtdcDtl2</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srgbClr val="000000"/>
                          </a:solidFill>
                          <a:effectLst/>
                          <a:uLnTx/>
                          <a:uFillTx/>
                          <a:latin typeface="휴먼명조"/>
                          <a:ea typeface="맑은 고딕" panose="020B0503020000020004" pitchFamily="50" charset="-127"/>
                          <a:cs typeface="+mn-cs"/>
                        </a:rPr>
                        <a:t>업체담당자가 제출한 공개수의협상 견적서를 조회하는 화면</a:t>
                      </a:r>
                      <a:endPar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rPr>
                        <a:t>ovsRlsVltrnsNgtnEtdcDtl</a:t>
                      </a:r>
                      <a:r>
                        <a:rPr lang="en-US" altLang="ko-KR" sz="800" b="0" i="0" u="none" strike="noStrike" dirty="0">
                          <a:solidFill>
                            <a:schemeClr val="tx1"/>
                          </a:solidFill>
                          <a:effectLst/>
                          <a:latin typeface="+mn-ea"/>
                        </a:rPr>
                        <a:t>/OvsRlsVltrnsNgtnEtdcDtl2</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07432397"/>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MUI-BD-12-M80</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공개수의협상견적서</a:t>
                      </a:r>
                      <a:r>
                        <a:rPr lang="ko-KR" altLang="en-US" sz="800" dirty="0">
                          <a:latin typeface="+mn-ea"/>
                          <a:ea typeface="+mn-ea"/>
                        </a:rPr>
                        <a:t>상세</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 </a:t>
                      </a:r>
                      <a:r>
                        <a:rPr kumimoji="0" lang="ko-KR" altLang="en-US" sz="800" b="0" i="0" u="none" strike="noStrike" kern="1200" cap="none" spc="0" normalizeH="0" baseline="0" noProof="0" dirty="0" err="1">
                          <a:ln>
                            <a:noFill/>
                          </a:ln>
                          <a:solidFill>
                            <a:prstClr val="black"/>
                          </a:solidFill>
                          <a:effectLst/>
                          <a:uLnTx/>
                          <a:uFillTx/>
                          <a:latin typeface="맑은 고딕" panose="020B0503020000020004" pitchFamily="50" charset="-127"/>
                          <a:ea typeface="+mn-ea"/>
                          <a:cs typeface="+mn-cs"/>
                        </a:rPr>
                        <a:t>입찰품목</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chemeClr val="tx1"/>
                          </a:solidFill>
                          <a:effectLst/>
                          <a:latin typeface="+mn-ea"/>
                        </a:rPr>
                        <a:t>OvsRlsVltrnsNgtnEtdcDtl3</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a:ln>
                            <a:noFill/>
                          </a:ln>
                          <a:solidFill>
                            <a:srgbClr val="000000"/>
                          </a:solidFill>
                          <a:effectLst/>
                          <a:uLnTx/>
                          <a:uFillTx/>
                          <a:latin typeface="휴먼명조"/>
                          <a:ea typeface="맑은 고딕" panose="020B0503020000020004" pitchFamily="50" charset="-127"/>
                          <a:cs typeface="+mn-cs"/>
                        </a:rPr>
                        <a:t>업체담당자가 제출한 공개수의협상 견적서를 조회하는 화면</a:t>
                      </a:r>
                      <a:endPar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rPr>
                        <a:t>ovsRlsVltrnsNgtnEtdcDtl</a:t>
                      </a:r>
                      <a:r>
                        <a:rPr lang="en-US" altLang="ko-KR" sz="800" b="0" i="0" u="none" strike="noStrike" dirty="0">
                          <a:solidFill>
                            <a:schemeClr val="tx1"/>
                          </a:solidFill>
                          <a:effectLst/>
                          <a:latin typeface="+mn-ea"/>
                        </a:rPr>
                        <a:t>/OvsRlsVltrnsNgtnEtdcDtl3</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6192327"/>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MUI-BD-12-M81</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공개수의협상견적서</a:t>
                      </a:r>
                      <a:r>
                        <a:rPr lang="ko-KR" altLang="en-US" sz="800" dirty="0">
                          <a:latin typeface="+mn-ea"/>
                          <a:ea typeface="+mn-ea"/>
                        </a:rPr>
                        <a:t>상세</a:t>
                      </a: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 - </a:t>
                      </a:r>
                      <a:r>
                        <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첨부파일</a:t>
                      </a:r>
                      <a:endPar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800" b="0" i="0" u="none" strike="noStrike" dirty="0">
                          <a:solidFill>
                            <a:schemeClr val="tx1"/>
                          </a:solidFill>
                          <a:effectLst/>
                          <a:latin typeface="+mn-ea"/>
                        </a:rPr>
                        <a:t>OvsRlsVltrnsNgtnEtdcDtl4</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marL="0" marR="0" lvl="0" indent="0" algn="just" defTabSz="914400" rtl="0" eaLnBrk="1" fontAlgn="ctr" latinLnBrk="1" hangingPunct="1">
                        <a:lnSpc>
                          <a:spcPct val="100000"/>
                        </a:lnSpc>
                        <a:spcBef>
                          <a:spcPts val="0"/>
                        </a:spcBef>
                        <a:spcAft>
                          <a:spcPts val="0"/>
                        </a:spcAft>
                        <a:buClrTx/>
                        <a:buSzTx/>
                        <a:buFontTx/>
                        <a:buNone/>
                        <a:tabLst/>
                        <a:defRPr/>
                      </a:pPr>
                      <a:r>
                        <a:rPr kumimoji="0" lang="ko-KR" altLang="en-US" sz="800" b="0" i="0" u="none" strike="noStrike" kern="1200" cap="none" spc="0" normalizeH="0" baseline="0" noProof="0" dirty="0">
                          <a:ln>
                            <a:noFill/>
                          </a:ln>
                          <a:solidFill>
                            <a:srgbClr val="000000"/>
                          </a:solidFill>
                          <a:effectLst/>
                          <a:uLnTx/>
                          <a:uFillTx/>
                          <a:latin typeface="휴먼명조"/>
                          <a:ea typeface="맑은 고딕" panose="020B0503020000020004" pitchFamily="50" charset="-127"/>
                          <a:cs typeface="+mn-cs"/>
                        </a:rPr>
                        <a:t>업체담당자가 제출한 공개수의협상 견적서를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rPr>
                        <a:t>ovsRlsVltrnsNgtnEtdcDtl</a:t>
                      </a:r>
                      <a:r>
                        <a:rPr lang="en-US" altLang="ko-KR" sz="800" b="0" i="0" u="none" strike="noStrike" dirty="0">
                          <a:solidFill>
                            <a:schemeClr val="tx1"/>
                          </a:solidFill>
                          <a:effectLst/>
                          <a:latin typeface="+mn-ea"/>
                        </a:rPr>
                        <a:t>/OvsRlsVltrnsNgtnEtdcDtl4</a:t>
                      </a:r>
                      <a:r>
                        <a:rPr lang="en-US" altLang="ko-KR" sz="800" dirty="0">
                          <a:solidFill>
                            <a:schemeClr val="tx1"/>
                          </a:solidFill>
                          <a:latin typeface="+mn-ea"/>
                          <a:ea typeface="+mn-ea"/>
                        </a:rPr>
                        <a: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tc>
                  <a:txBody>
                    <a:bodyPr/>
                    <a:lstStyle/>
                    <a:p>
                      <a:pPr algn="ctr" latinLnBrk="1">
                        <a:defRPr/>
                      </a:pPr>
                      <a:r>
                        <a:rPr kumimoji="0" lang="en-US" altLang="ko-KR" sz="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w="med" len="med"/>
                      <a:tailEnd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3810038"/>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MUI-BD-12-P82</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공개수의협상견적서취소신청서작성</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OvsRlsVltrnsNgtnEtdcRtrcnApfrWrt</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ko-KR" altLang="en-US" sz="800" b="0" i="0" u="none" strike="noStrike" dirty="0">
                          <a:solidFill>
                            <a:srgbClr val="000000"/>
                          </a:solidFill>
                          <a:effectLst/>
                          <a:latin typeface="휴먼명조"/>
                          <a:ea typeface="+mn-ea"/>
                        </a:rPr>
                        <a:t>공개수의협상 견적서 취소신청서를 작성하는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b="0" i="0" u="none" strike="noStrike" dirty="0" err="1">
                          <a:solidFill>
                            <a:schemeClr val="tx1"/>
                          </a:solidFill>
                          <a:effectLst/>
                          <a:latin typeface="+mn-ea"/>
                        </a:rPr>
                        <a:t>ovsRlsVltrnsNgtnEtdcDtl</a:t>
                      </a:r>
                      <a:r>
                        <a:rPr lang="en-US" altLang="ko-KR" sz="800" b="0" i="0" u="none" strike="noStrike" dirty="0">
                          <a:solidFill>
                            <a:schemeClr val="tx1"/>
                          </a:solidFill>
                          <a:effectLst/>
                          <a:latin typeface="+mn-ea"/>
                        </a:rPr>
                        <a:t>/</a:t>
                      </a:r>
                      <a:r>
                        <a:rPr lang="en-US" altLang="ko-KR" sz="800" dirty="0" err="1">
                          <a:solidFill>
                            <a:schemeClr val="tx1"/>
                          </a:solidFill>
                          <a:latin typeface="+mn-ea"/>
                          <a:ea typeface="+mn-ea"/>
                        </a:rPr>
                        <a:t>OvsRlsVltrnsNgtnEtdcRtrcnApfrWrt.tsx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b="0" i="0" u="none" strike="noStrike" dirty="0">
                          <a:solidFill>
                            <a:srgbClr val="000000"/>
                          </a:solidFill>
                          <a:effectLst/>
                          <a:latin typeface="맑은 고딕" panose="020B0503020000020004" pitchFamily="50" charset="-127"/>
                          <a:ea typeface="+mn-ea"/>
                        </a:rPr>
                        <a:t>UC-BD-01-02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18881036"/>
                  </a:ext>
                </a:extLst>
              </a:tr>
              <a:tr h="180000">
                <a:tc>
                  <a:txBody>
                    <a:bodyPr/>
                    <a:lstStyle/>
                    <a:p>
                      <a:pPr algn="ctr" fontAlgn="ctr"/>
                      <a:r>
                        <a:rPr kumimoji="0" lang="en-US" altLang="ko-KR" sz="7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MUI-BD-12-M83</a:t>
                      </a:r>
                      <a:endParaRPr lang="en-US" sz="700" kern="1200" dirty="0">
                        <a:solidFill>
                          <a:schemeClr val="tx1"/>
                        </a:solidFill>
                        <a:latin typeface="+mn-ea"/>
                        <a:ea typeface="+mn-ea"/>
                        <a:cs typeface="+mn-cs"/>
                      </a:endParaRPr>
                    </a:p>
                  </a:txBody>
                  <a:tcPr marL="9525" marR="9525" marT="9525" marB="0" anchor="ctr">
                    <a:lnL w="3175" cap="flat" cmpd="sng" algn="ctr">
                      <a:solidFill>
                        <a:schemeClr val="tx1"/>
                      </a:solidFill>
                      <a:prstDash val="solid"/>
                      <a:round/>
                      <a:headEnd w="med" len="med"/>
                      <a:tailEnd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err="1">
                          <a:latin typeface="+mn-ea"/>
                          <a:ea typeface="+mn-ea"/>
                        </a:rPr>
                        <a:t>공개수의협상결과조회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defRPr/>
                      </a:pPr>
                      <a:r>
                        <a:rPr lang="en-US" altLang="ko-KR" sz="800" dirty="0" err="1">
                          <a:solidFill>
                            <a:schemeClr val="tx1"/>
                          </a:solidFill>
                          <a:latin typeface="+mn-ea"/>
                          <a:ea typeface="+mn-ea"/>
                        </a:rPr>
                        <a:t>OvsRlsVltrnsNgtnSrngRsltInqPage</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r>
                        <a:rPr lang="ko-KR" altLang="en-US" sz="800" dirty="0">
                          <a:latin typeface="+mn-ea"/>
                          <a:ea typeface="+mn-ea"/>
                        </a:rPr>
                        <a:t>공개수의협상의 결과를 조회하는 화면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latinLnBrk="1">
                        <a:defRPr/>
                      </a:pPr>
                      <a:r>
                        <a:rPr lang="en-US" altLang="ko-KR" sz="800" dirty="0" err="1">
                          <a:solidFill>
                            <a:schemeClr val="tx1"/>
                          </a:solidFill>
                          <a:latin typeface="+mn-ea"/>
                          <a:ea typeface="+mn-ea"/>
                        </a:rPr>
                        <a:t>src</a:t>
                      </a:r>
                      <a:r>
                        <a:rPr lang="en-US" altLang="ko-KR" sz="800" dirty="0">
                          <a:solidFill>
                            <a:schemeClr val="tx1"/>
                          </a:solidFill>
                          <a:latin typeface="+mn-ea"/>
                          <a:ea typeface="+mn-ea"/>
                        </a:rPr>
                        <a:t>/</a:t>
                      </a:r>
                      <a:r>
                        <a:rPr lang="en-US" altLang="ko-KR" sz="800" dirty="0" err="1">
                          <a:solidFill>
                            <a:schemeClr val="tx1"/>
                          </a:solidFill>
                          <a:latin typeface="+mn-ea"/>
                          <a:ea typeface="+mn-ea"/>
                        </a:rPr>
                        <a:t>ui</a:t>
                      </a:r>
                      <a:r>
                        <a:rPr lang="en-US" altLang="ko-KR" sz="800" dirty="0">
                          <a:solidFill>
                            <a:schemeClr val="tx1"/>
                          </a:solidFill>
                          <a:latin typeface="+mn-ea"/>
                          <a:ea typeface="+mn-ea"/>
                        </a:rPr>
                        <a:t>/biz/</a:t>
                      </a:r>
                      <a:r>
                        <a:rPr lang="en-US" altLang="ko-KR" sz="800" dirty="0" err="1">
                          <a:solidFill>
                            <a:schemeClr val="tx1"/>
                          </a:solidFill>
                          <a:latin typeface="+mn-ea"/>
                          <a:ea typeface="+mn-ea"/>
                        </a:rPr>
                        <a:t>bd</a:t>
                      </a:r>
                      <a:r>
                        <a:rPr lang="en-US" altLang="ko-KR" sz="800" dirty="0">
                          <a:solidFill>
                            <a:schemeClr val="tx1"/>
                          </a:solidFill>
                          <a:latin typeface="+mn-ea"/>
                          <a:ea typeface="+mn-ea"/>
                        </a:rPr>
                        <a:t>/</a:t>
                      </a:r>
                      <a:r>
                        <a:rPr lang="en-US" altLang="ko-KR" sz="800" dirty="0" err="1">
                          <a:solidFill>
                            <a:schemeClr val="tx1"/>
                          </a:solidFill>
                          <a:latin typeface="+mn-ea"/>
                          <a:ea typeface="+mn-ea"/>
                        </a:rPr>
                        <a:t>ovsRlsVltrnsNgtnSrngRsltInq</a:t>
                      </a:r>
                      <a:r>
                        <a:rPr lang="en-US" altLang="ko-KR" sz="800" dirty="0">
                          <a:solidFill>
                            <a:schemeClr val="tx1"/>
                          </a:solidFill>
                          <a:latin typeface="+mn-ea"/>
                          <a:ea typeface="+mn-ea"/>
                        </a:rPr>
                        <a:t>/</a:t>
                      </a:r>
                      <a:r>
                        <a:rPr lang="en-US" altLang="ko-KR" sz="800" dirty="0" err="1">
                          <a:solidFill>
                            <a:schemeClr val="tx1"/>
                          </a:solidFill>
                          <a:latin typeface="+mn-ea"/>
                          <a:ea typeface="+mn-ea"/>
                        </a:rPr>
                        <a:t>OvsRlsVltrnsNgtnSrngRsltInqPage.tsx</a:t>
                      </a:r>
                      <a:endParaRPr lang="ko-KR" altLang="en-US" sz="800" dirty="0">
                        <a:solidFill>
                          <a:schemeClr val="tx1"/>
                        </a:solidFill>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defRPr/>
                      </a:pPr>
                      <a:r>
                        <a:rPr lang="en-US" altLang="ko-KR" sz="800" dirty="0">
                          <a:latin typeface="+mn-ea"/>
                          <a:ea typeface="+mn-ea"/>
                        </a:rPr>
                        <a:t>UC-BD-12-02</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w="med" len="med"/>
                      <a:tailEnd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6676810"/>
                  </a:ext>
                </a:extLst>
              </a:tr>
            </a:tbl>
          </a:graphicData>
        </a:graphic>
      </p:graphicFrame>
      <p:sp>
        <p:nvSpPr>
          <p:cNvPr id="6" name="Text Box 73">
            <a:extLst>
              <a:ext uri="{FF2B5EF4-FFF2-40B4-BE49-F238E27FC236}">
                <a16:creationId xmlns:a16="http://schemas.microsoft.com/office/drawing/2014/main" id="{68F76EC8-DFEC-B647-2166-DA24E5FDC8B3}"/>
              </a:ext>
            </a:extLst>
          </p:cNvPr>
          <p:cNvSpPr txBox="1">
            <a:spLocks noChangeArrowheads="1"/>
          </p:cNvSpPr>
          <p:nvPr/>
        </p:nvSpPr>
        <p:spPr bwMode="auto">
          <a:xfrm>
            <a:off x="7769866" y="617012"/>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371262410"/>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1" name="연결선: 꺾임 7">
            <a:extLst>
              <a:ext uri="{FF2B5EF4-FFF2-40B4-BE49-F238E27FC236}">
                <a16:creationId xmlns:a16="http://schemas.microsoft.com/office/drawing/2014/main" id="{89A2D828-4C18-4F90-6B31-722E89773AA8}"/>
              </a:ext>
            </a:extLst>
          </p:cNvPr>
          <p:cNvCxnSpPr>
            <a:cxnSpLocks/>
            <a:stCxn id="52" idx="3"/>
            <a:endCxn id="53" idx="0"/>
          </p:cNvCxnSpPr>
          <p:nvPr/>
        </p:nvCxnSpPr>
        <p:spPr>
          <a:xfrm flipH="1">
            <a:off x="4643499" y="1772964"/>
            <a:ext cx="450000" cy="2442267"/>
          </a:xfrm>
          <a:prstGeom prst="bentConnector4">
            <a:avLst>
              <a:gd name="adj1" fmla="val -50800"/>
              <a:gd name="adj2" fmla="val 7826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직사각형 68"/>
          <p:cNvSpPr/>
          <p:nvPr/>
        </p:nvSpPr>
        <p:spPr>
          <a:xfrm>
            <a:off x="5248141" y="3000536"/>
            <a:ext cx="128789" cy="128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398</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9.2. </a:t>
            </a:r>
            <a:r>
              <a:rPr lang="ko-KR" altLang="en-US" dirty="0"/>
              <a:t>화면 흐름도</a:t>
            </a:r>
          </a:p>
        </p:txBody>
      </p:sp>
      <p:grpSp>
        <p:nvGrpSpPr>
          <p:cNvPr id="29" name="그룹 28">
            <a:extLst>
              <a:ext uri="{FF2B5EF4-FFF2-40B4-BE49-F238E27FC236}">
                <a16:creationId xmlns:a16="http://schemas.microsoft.com/office/drawing/2014/main" id="{4256C95A-5B12-C9E0-F2B5-BC9D5BAB5422}"/>
              </a:ext>
            </a:extLst>
          </p:cNvPr>
          <p:cNvGrpSpPr/>
          <p:nvPr/>
        </p:nvGrpSpPr>
        <p:grpSpPr>
          <a:xfrm>
            <a:off x="1228614" y="1682964"/>
            <a:ext cx="237994" cy="316983"/>
            <a:chOff x="4762389" y="1663914"/>
            <a:chExt cx="237994" cy="316983"/>
          </a:xfrm>
        </p:grpSpPr>
        <p:sp>
          <p:nvSpPr>
            <p:cNvPr id="9" name="타원 8">
              <a:extLst>
                <a:ext uri="{FF2B5EF4-FFF2-40B4-BE49-F238E27FC236}">
                  <a16:creationId xmlns:a16="http://schemas.microsoft.com/office/drawing/2014/main" id="{65003F43-FF09-9E6F-5743-EDAC953723CE}"/>
                </a:ext>
              </a:extLst>
            </p:cNvPr>
            <p:cNvSpPr/>
            <p:nvPr/>
          </p:nvSpPr>
          <p:spPr>
            <a:xfrm>
              <a:off x="4789249" y="1663914"/>
              <a:ext cx="180000" cy="180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89742BB0-8FB4-9410-125F-B3304E0DFFA4}"/>
                </a:ext>
              </a:extLst>
            </p:cNvPr>
            <p:cNvSpPr/>
            <p:nvPr/>
          </p:nvSpPr>
          <p:spPr>
            <a:xfrm>
              <a:off x="4762389" y="1857786"/>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시작</a:t>
              </a:r>
            </a:p>
          </p:txBody>
        </p:sp>
      </p:grpSp>
      <p:cxnSp>
        <p:nvCxnSpPr>
          <p:cNvPr id="20" name="직선 화살표 연결선 19">
            <a:extLst>
              <a:ext uri="{FF2B5EF4-FFF2-40B4-BE49-F238E27FC236}">
                <a16:creationId xmlns:a16="http://schemas.microsoft.com/office/drawing/2014/main" id="{9A519F08-B829-E35F-09D8-DFCD1F68B911}"/>
              </a:ext>
            </a:extLst>
          </p:cNvPr>
          <p:cNvCxnSpPr>
            <a:cxnSpLocks/>
            <a:stCxn id="9" idx="6"/>
            <a:endCxn id="70" idx="1"/>
          </p:cNvCxnSpPr>
          <p:nvPr/>
        </p:nvCxnSpPr>
        <p:spPr>
          <a:xfrm>
            <a:off x="1435474" y="1772964"/>
            <a:ext cx="931134"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8617D047-5413-1F47-3FD7-CCCD3C0C98ED}"/>
              </a:ext>
            </a:extLst>
          </p:cNvPr>
          <p:cNvSpPr/>
          <p:nvPr/>
        </p:nvSpPr>
        <p:spPr>
          <a:xfrm>
            <a:off x="758775" y="1231161"/>
            <a:ext cx="586699" cy="1538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1000" b="1" dirty="0">
                <a:solidFill>
                  <a:schemeClr val="tx1"/>
                </a:solidFill>
              </a:rPr>
              <a:t>목록</a:t>
            </a:r>
            <a:r>
              <a:rPr lang="en-US" altLang="ko-KR" sz="1000" b="1" dirty="0">
                <a:solidFill>
                  <a:schemeClr val="tx1"/>
                </a:solidFill>
              </a:rPr>
              <a:t> </a:t>
            </a:r>
            <a:r>
              <a:rPr lang="ko-KR" altLang="en-US" sz="1000" b="1" dirty="0">
                <a:solidFill>
                  <a:schemeClr val="tx1"/>
                </a:solidFill>
              </a:rPr>
              <a:t>작성</a:t>
            </a:r>
            <a:r>
              <a:rPr lang="en-US" altLang="ko-KR" sz="1000" b="1" dirty="0">
                <a:solidFill>
                  <a:schemeClr val="tx1"/>
                </a:solidFill>
              </a:rPr>
              <a:t>.</a:t>
            </a:r>
            <a:endParaRPr lang="ko-KR" altLang="en-US" sz="1000" b="1" dirty="0">
              <a:solidFill>
                <a:schemeClr val="tx1"/>
              </a:solidFill>
            </a:endParaRPr>
          </a:p>
        </p:txBody>
      </p:sp>
      <p:sp>
        <p:nvSpPr>
          <p:cNvPr id="70" name="사각형: 둥근 모서리 5">
            <a:extLst>
              <a:ext uri="{FF2B5EF4-FFF2-40B4-BE49-F238E27FC236}">
                <a16:creationId xmlns:a16="http://schemas.microsoft.com/office/drawing/2014/main" id="{410E5459-200D-7630-863C-88E5109259DF}"/>
              </a:ext>
            </a:extLst>
          </p:cNvPr>
          <p:cNvSpPr/>
          <p:nvPr/>
        </p:nvSpPr>
        <p:spPr>
          <a:xfrm>
            <a:off x="2366608" y="1628964"/>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개찰목록</a:t>
            </a:r>
            <a:endParaRPr lang="ko-KR" altLang="en-US" sz="800" dirty="0">
              <a:solidFill>
                <a:schemeClr val="tx1"/>
              </a:solidFill>
            </a:endParaRPr>
          </a:p>
        </p:txBody>
      </p:sp>
      <p:cxnSp>
        <p:nvCxnSpPr>
          <p:cNvPr id="121" name="직선 화살표 연결선 120">
            <a:extLst>
              <a:ext uri="{FF2B5EF4-FFF2-40B4-BE49-F238E27FC236}">
                <a16:creationId xmlns:a16="http://schemas.microsoft.com/office/drawing/2014/main" id="{9A519F08-B829-E35F-09D8-DFCD1F68B911}"/>
              </a:ext>
            </a:extLst>
          </p:cNvPr>
          <p:cNvCxnSpPr>
            <a:cxnSpLocks/>
            <a:stCxn id="70" idx="3"/>
            <a:endCxn id="52" idx="1"/>
          </p:cNvCxnSpPr>
          <p:nvPr/>
        </p:nvCxnSpPr>
        <p:spPr>
          <a:xfrm>
            <a:off x="3266608" y="1772964"/>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직사각형 61">
            <a:extLst>
              <a:ext uri="{FF2B5EF4-FFF2-40B4-BE49-F238E27FC236}">
                <a16:creationId xmlns:a16="http://schemas.microsoft.com/office/drawing/2014/main" id="{23C86455-E84C-0CEA-5C6B-05BE50ADCEF5}"/>
              </a:ext>
            </a:extLst>
          </p:cNvPr>
          <p:cNvSpPr/>
          <p:nvPr/>
        </p:nvSpPr>
        <p:spPr>
          <a:xfrm>
            <a:off x="1191585" y="1514853"/>
            <a:ext cx="307777"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r>
              <a:rPr lang="ko-KR" altLang="en-US" sz="800" b="1" dirty="0">
                <a:solidFill>
                  <a:schemeClr val="tx1"/>
                </a:solidFill>
              </a:rPr>
              <a:t>사용자</a:t>
            </a:r>
          </a:p>
        </p:txBody>
      </p:sp>
      <p:sp>
        <p:nvSpPr>
          <p:cNvPr id="22" name="사각형: 둥근 모서리 5">
            <a:extLst>
              <a:ext uri="{FF2B5EF4-FFF2-40B4-BE49-F238E27FC236}">
                <a16:creationId xmlns:a16="http://schemas.microsoft.com/office/drawing/2014/main" id="{410E5459-200D-7630-863C-88E5109259DF}"/>
              </a:ext>
            </a:extLst>
          </p:cNvPr>
          <p:cNvSpPr/>
          <p:nvPr/>
        </p:nvSpPr>
        <p:spPr>
          <a:xfrm>
            <a:off x="6030043" y="4861058"/>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latin typeface="+mn-ea"/>
              </a:rPr>
              <a:t>공개수의협상결과조회</a:t>
            </a:r>
            <a:endParaRPr lang="ko-KR" altLang="en-US" sz="800" dirty="0">
              <a:solidFill>
                <a:schemeClr val="tx1"/>
              </a:solidFill>
            </a:endParaRPr>
          </a:p>
        </p:txBody>
      </p:sp>
      <p:sp>
        <p:nvSpPr>
          <p:cNvPr id="52" name="사각형: 둥근 모서리 5">
            <a:extLst>
              <a:ext uri="{FF2B5EF4-FFF2-40B4-BE49-F238E27FC236}">
                <a16:creationId xmlns:a16="http://schemas.microsoft.com/office/drawing/2014/main" id="{410E5459-200D-7630-863C-88E5109259DF}"/>
              </a:ext>
            </a:extLst>
          </p:cNvPr>
          <p:cNvSpPr/>
          <p:nvPr/>
        </p:nvSpPr>
        <p:spPr>
          <a:xfrm>
            <a:off x="4193499" y="1628964"/>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입찰결과상세</a:t>
            </a:r>
          </a:p>
        </p:txBody>
      </p:sp>
      <p:sp>
        <p:nvSpPr>
          <p:cNvPr id="53" name="사각형: 둥근 모서리 5">
            <a:extLst>
              <a:ext uri="{FF2B5EF4-FFF2-40B4-BE49-F238E27FC236}">
                <a16:creationId xmlns:a16="http://schemas.microsoft.com/office/drawing/2014/main" id="{410E5459-200D-7630-863C-88E5109259DF}"/>
              </a:ext>
            </a:extLst>
          </p:cNvPr>
          <p:cNvSpPr/>
          <p:nvPr/>
        </p:nvSpPr>
        <p:spPr>
          <a:xfrm>
            <a:off x="4193499" y="421523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공개수의협상</a:t>
            </a:r>
            <a:endParaRPr lang="en-US" altLang="ko-KR" sz="800" dirty="0">
              <a:solidFill>
                <a:schemeClr val="tx1"/>
              </a:solidFill>
              <a:latin typeface="+mn-ea"/>
            </a:endParaRPr>
          </a:p>
          <a:p>
            <a:pPr algn="ctr"/>
            <a:r>
              <a:rPr lang="ko-KR" altLang="en-US" sz="800" dirty="0" err="1">
                <a:solidFill>
                  <a:schemeClr val="tx1"/>
                </a:solidFill>
                <a:latin typeface="+mn-ea"/>
              </a:rPr>
              <a:t>견적서</a:t>
            </a:r>
            <a:r>
              <a:rPr lang="ko-KR" altLang="en-US" sz="800" dirty="0" err="1">
                <a:solidFill>
                  <a:schemeClr val="tx1"/>
                </a:solidFill>
              </a:rPr>
              <a:t>상세</a:t>
            </a:r>
            <a:endParaRPr lang="ko-KR" altLang="en-US" sz="800" dirty="0">
              <a:solidFill>
                <a:schemeClr val="tx1"/>
              </a:solidFill>
            </a:endParaRPr>
          </a:p>
        </p:txBody>
      </p:sp>
      <p:sp>
        <p:nvSpPr>
          <p:cNvPr id="78" name="직사각형 77">
            <a:extLst>
              <a:ext uri="{FF2B5EF4-FFF2-40B4-BE49-F238E27FC236}">
                <a16:creationId xmlns:a16="http://schemas.microsoft.com/office/drawing/2014/main" id="{4FB9FCCA-B5F3-C0E2-F563-4F0CE0FC24CF}"/>
              </a:ext>
            </a:extLst>
          </p:cNvPr>
          <p:cNvSpPr/>
          <p:nvPr/>
        </p:nvSpPr>
        <p:spPr>
          <a:xfrm>
            <a:off x="7578850" y="3824888"/>
            <a:ext cx="237994" cy="123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algn="ctr"/>
            <a:r>
              <a:rPr lang="ko-KR" altLang="en-US" sz="800" dirty="0">
                <a:solidFill>
                  <a:schemeClr val="tx1"/>
                </a:solidFill>
              </a:rPr>
              <a:t>끝</a:t>
            </a:r>
          </a:p>
        </p:txBody>
      </p:sp>
      <p:grpSp>
        <p:nvGrpSpPr>
          <p:cNvPr id="79" name="그룹 78">
            <a:extLst>
              <a:ext uri="{FF2B5EF4-FFF2-40B4-BE49-F238E27FC236}">
                <a16:creationId xmlns:a16="http://schemas.microsoft.com/office/drawing/2014/main" id="{E7279F6C-9434-7961-8F6B-B7AE44CE5FCD}"/>
              </a:ext>
            </a:extLst>
          </p:cNvPr>
          <p:cNvGrpSpPr/>
          <p:nvPr/>
        </p:nvGrpSpPr>
        <p:grpSpPr>
          <a:xfrm>
            <a:off x="7607847" y="3623734"/>
            <a:ext cx="180000" cy="180000"/>
            <a:chOff x="5058274" y="2498299"/>
            <a:chExt cx="180000" cy="180000"/>
          </a:xfrm>
        </p:grpSpPr>
        <p:sp>
          <p:nvSpPr>
            <p:cNvPr id="80" name="타원 79">
              <a:extLst>
                <a:ext uri="{FF2B5EF4-FFF2-40B4-BE49-F238E27FC236}">
                  <a16:creationId xmlns:a16="http://schemas.microsoft.com/office/drawing/2014/main" id="{67DBC56A-CBCC-C3A1-2B65-581D8735D2FA}"/>
                </a:ext>
              </a:extLst>
            </p:cNvPr>
            <p:cNvSpPr/>
            <p:nvPr/>
          </p:nvSpPr>
          <p:spPr>
            <a:xfrm>
              <a:off x="5058274" y="2498299"/>
              <a:ext cx="180000" cy="180000"/>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타원 83">
              <a:extLst>
                <a:ext uri="{FF2B5EF4-FFF2-40B4-BE49-F238E27FC236}">
                  <a16:creationId xmlns:a16="http://schemas.microsoft.com/office/drawing/2014/main" id="{63C46758-AEBC-A78C-E468-C4FFF5E2B33D}"/>
                </a:ext>
              </a:extLst>
            </p:cNvPr>
            <p:cNvSpPr/>
            <p:nvPr/>
          </p:nvSpPr>
          <p:spPr>
            <a:xfrm>
              <a:off x="5094274" y="2534299"/>
              <a:ext cx="108000" cy="108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93" name="사각형: 둥근 모서리 5">
            <a:extLst>
              <a:ext uri="{FF2B5EF4-FFF2-40B4-BE49-F238E27FC236}">
                <a16:creationId xmlns:a16="http://schemas.microsoft.com/office/drawing/2014/main" id="{410E5459-200D-7630-863C-88E5109259DF}"/>
              </a:ext>
            </a:extLst>
          </p:cNvPr>
          <p:cNvSpPr/>
          <p:nvPr/>
        </p:nvSpPr>
        <p:spPr>
          <a:xfrm>
            <a:off x="6030043" y="4215231"/>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err="1">
                <a:solidFill>
                  <a:schemeClr val="tx1"/>
                </a:solidFill>
              </a:rPr>
              <a:t>공개수의협상견적서취소신청서작성</a:t>
            </a:r>
            <a:endParaRPr lang="ko-KR" altLang="en-US" sz="800" dirty="0">
              <a:solidFill>
                <a:schemeClr val="tx1"/>
              </a:solidFill>
            </a:endParaRPr>
          </a:p>
        </p:txBody>
      </p:sp>
      <p:cxnSp>
        <p:nvCxnSpPr>
          <p:cNvPr id="72" name="직선 화살표 연결선 71">
            <a:extLst>
              <a:ext uri="{FF2B5EF4-FFF2-40B4-BE49-F238E27FC236}">
                <a16:creationId xmlns:a16="http://schemas.microsoft.com/office/drawing/2014/main" id="{9A519F08-B829-E35F-09D8-DFCD1F68B911}"/>
              </a:ext>
            </a:extLst>
          </p:cNvPr>
          <p:cNvCxnSpPr>
            <a:cxnSpLocks/>
            <a:stCxn id="53" idx="3"/>
            <a:endCxn id="93" idx="1"/>
          </p:cNvCxnSpPr>
          <p:nvPr/>
        </p:nvCxnSpPr>
        <p:spPr>
          <a:xfrm>
            <a:off x="5093499" y="4359231"/>
            <a:ext cx="93654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연결선: 꺾임 7">
            <a:extLst>
              <a:ext uri="{FF2B5EF4-FFF2-40B4-BE49-F238E27FC236}">
                <a16:creationId xmlns:a16="http://schemas.microsoft.com/office/drawing/2014/main" id="{89A2D828-4C18-4F90-6B31-722E89773AA8}"/>
              </a:ext>
            </a:extLst>
          </p:cNvPr>
          <p:cNvCxnSpPr>
            <a:cxnSpLocks/>
            <a:stCxn id="60" idx="3"/>
            <a:endCxn id="80" idx="2"/>
          </p:cNvCxnSpPr>
          <p:nvPr/>
        </p:nvCxnSpPr>
        <p:spPr>
          <a:xfrm>
            <a:off x="6930043" y="3067907"/>
            <a:ext cx="67780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0" name="사각형: 둥근 모서리 5">
            <a:extLst>
              <a:ext uri="{FF2B5EF4-FFF2-40B4-BE49-F238E27FC236}">
                <a16:creationId xmlns:a16="http://schemas.microsoft.com/office/drawing/2014/main" id="{410E5459-200D-7630-863C-88E5109259DF}"/>
              </a:ext>
            </a:extLst>
          </p:cNvPr>
          <p:cNvSpPr/>
          <p:nvPr/>
        </p:nvSpPr>
        <p:spPr>
          <a:xfrm>
            <a:off x="6030043" y="2923907"/>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latin typeface="+mn-ea"/>
              </a:rPr>
              <a:t>공개수의협상</a:t>
            </a:r>
            <a:endParaRPr lang="en-US" altLang="ko-KR" sz="800" dirty="0">
              <a:solidFill>
                <a:schemeClr val="tx1"/>
              </a:solidFill>
              <a:latin typeface="+mn-ea"/>
            </a:endParaRPr>
          </a:p>
          <a:p>
            <a:pPr algn="ctr"/>
            <a:r>
              <a:rPr lang="ko-KR" altLang="en-US" sz="800" dirty="0" err="1">
                <a:solidFill>
                  <a:schemeClr val="tx1"/>
                </a:solidFill>
                <a:latin typeface="+mn-ea"/>
              </a:rPr>
              <a:t>견적서제출</a:t>
            </a:r>
            <a:endParaRPr lang="ko-KR" altLang="en-US" sz="800" dirty="0">
              <a:solidFill>
                <a:schemeClr val="tx1"/>
              </a:solidFill>
            </a:endParaRPr>
          </a:p>
        </p:txBody>
      </p:sp>
      <p:sp>
        <p:nvSpPr>
          <p:cNvPr id="88" name="직사각형 87">
            <a:extLst>
              <a:ext uri="{FF2B5EF4-FFF2-40B4-BE49-F238E27FC236}">
                <a16:creationId xmlns:a16="http://schemas.microsoft.com/office/drawing/2014/main" id="{F249990F-1DE5-C694-BDBD-2DE7009D57EA}"/>
              </a:ext>
            </a:extLst>
          </p:cNvPr>
          <p:cNvSpPr/>
          <p:nvPr/>
        </p:nvSpPr>
        <p:spPr>
          <a:xfrm>
            <a:off x="4193498" y="1918609"/>
            <a:ext cx="819135" cy="3693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일반정보</a:t>
            </a:r>
          </a:p>
          <a:p>
            <a:r>
              <a:rPr lang="ko-KR" altLang="en-US" sz="800" dirty="0">
                <a:solidFill>
                  <a:schemeClr val="tx1"/>
                </a:solidFill>
              </a:rPr>
              <a:t>입찰결과 </a:t>
            </a:r>
            <a:r>
              <a:rPr lang="en-US" altLang="ko-KR" sz="800" dirty="0">
                <a:solidFill>
                  <a:schemeClr val="tx1"/>
                </a:solidFill>
              </a:rPr>
              <a:t>(</a:t>
            </a:r>
            <a:r>
              <a:rPr lang="ko-KR" altLang="en-US" sz="800" dirty="0" err="1">
                <a:solidFill>
                  <a:schemeClr val="tx1"/>
                </a:solidFill>
              </a:rPr>
              <a:t>단가제</a:t>
            </a:r>
            <a:r>
              <a:rPr lang="en-US" altLang="ko-KR" sz="800" dirty="0">
                <a:solidFill>
                  <a:schemeClr val="tx1"/>
                </a:solidFill>
              </a:rPr>
              <a:t>)</a:t>
            </a:r>
          </a:p>
          <a:p>
            <a:r>
              <a:rPr lang="ko-KR" altLang="en-US" sz="800" dirty="0">
                <a:solidFill>
                  <a:schemeClr val="tx1"/>
                </a:solidFill>
                <a:latin typeface="+mn-ea"/>
              </a:rPr>
              <a:t>입찰결과 </a:t>
            </a:r>
            <a:r>
              <a:rPr lang="en-US" altLang="ko-KR" sz="800" dirty="0">
                <a:solidFill>
                  <a:schemeClr val="tx1"/>
                </a:solidFill>
                <a:latin typeface="+mn-ea"/>
              </a:rPr>
              <a:t>(</a:t>
            </a:r>
            <a:r>
              <a:rPr lang="ko-KR" altLang="en-US" sz="800" dirty="0" err="1">
                <a:solidFill>
                  <a:schemeClr val="tx1"/>
                </a:solidFill>
                <a:latin typeface="+mn-ea"/>
              </a:rPr>
              <a:t>총액제</a:t>
            </a:r>
            <a:r>
              <a:rPr lang="en-US" altLang="ko-KR" sz="800" dirty="0">
                <a:solidFill>
                  <a:schemeClr val="tx1"/>
                </a:solidFill>
                <a:latin typeface="+mn-ea"/>
              </a:rPr>
              <a:t>)</a:t>
            </a:r>
            <a:endParaRPr lang="ko-KR" altLang="en-US" sz="800" dirty="0">
              <a:solidFill>
                <a:schemeClr val="tx1"/>
              </a:solidFill>
              <a:latin typeface="+mn-ea"/>
            </a:endParaRPr>
          </a:p>
        </p:txBody>
      </p:sp>
      <p:sp>
        <p:nvSpPr>
          <p:cNvPr id="90" name="직사각형 89">
            <a:extLst>
              <a:ext uri="{FF2B5EF4-FFF2-40B4-BE49-F238E27FC236}">
                <a16:creationId xmlns:a16="http://schemas.microsoft.com/office/drawing/2014/main" id="{F249990F-1DE5-C694-BDBD-2DE7009D57EA}"/>
              </a:ext>
            </a:extLst>
          </p:cNvPr>
          <p:cNvSpPr/>
          <p:nvPr/>
        </p:nvSpPr>
        <p:spPr>
          <a:xfrm>
            <a:off x="4193499" y="4503231"/>
            <a:ext cx="732573" cy="49244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탭 </a:t>
            </a:r>
            <a:r>
              <a:rPr lang="en-US" altLang="ko-KR" sz="800" dirty="0">
                <a:solidFill>
                  <a:schemeClr val="tx1"/>
                </a:solidFill>
              </a:rPr>
              <a:t>1 - </a:t>
            </a:r>
            <a:r>
              <a:rPr lang="ko-KR" altLang="en-US" sz="800" dirty="0">
                <a:solidFill>
                  <a:schemeClr val="tx1"/>
                </a:solidFill>
              </a:rPr>
              <a:t>일반정보</a:t>
            </a:r>
          </a:p>
          <a:p>
            <a:r>
              <a:rPr lang="ko-KR" altLang="en-US" sz="800" dirty="0">
                <a:solidFill>
                  <a:schemeClr val="tx1"/>
                </a:solidFill>
              </a:rPr>
              <a:t>탭 </a:t>
            </a:r>
            <a:r>
              <a:rPr lang="en-US" altLang="ko-KR" sz="800" dirty="0">
                <a:solidFill>
                  <a:schemeClr val="tx1"/>
                </a:solidFill>
              </a:rPr>
              <a:t>2 – </a:t>
            </a:r>
            <a:r>
              <a:rPr lang="ko-KR" altLang="en-US" sz="800" dirty="0">
                <a:solidFill>
                  <a:schemeClr val="tx1"/>
                </a:solidFill>
              </a:rPr>
              <a:t>업체정보</a:t>
            </a:r>
          </a:p>
          <a:p>
            <a:r>
              <a:rPr lang="ko-KR" altLang="en-US" sz="800" dirty="0">
                <a:solidFill>
                  <a:schemeClr val="tx1"/>
                </a:solidFill>
                <a:latin typeface="+mn-ea"/>
              </a:rPr>
              <a:t>탭 </a:t>
            </a:r>
            <a:r>
              <a:rPr lang="en-US" altLang="ko-KR" sz="800" dirty="0">
                <a:solidFill>
                  <a:schemeClr val="tx1"/>
                </a:solidFill>
                <a:latin typeface="+mn-ea"/>
              </a:rPr>
              <a:t>3 - </a:t>
            </a:r>
            <a:r>
              <a:rPr lang="ko-KR" altLang="en-US" sz="800" dirty="0" err="1">
                <a:solidFill>
                  <a:prstClr val="black"/>
                </a:solidFill>
                <a:latin typeface="맑은 고딕" panose="020B0503020000020004" pitchFamily="50" charset="-127"/>
              </a:rPr>
              <a:t>입찰품목</a:t>
            </a:r>
            <a:endParaRPr lang="en-US" altLang="ko-KR" sz="800" dirty="0">
              <a:solidFill>
                <a:schemeClr val="tx1"/>
              </a:solidFill>
              <a:latin typeface="+mn-ea"/>
            </a:endParaRPr>
          </a:p>
          <a:p>
            <a:r>
              <a:rPr lang="ko-KR" altLang="en-US" sz="800" dirty="0">
                <a:solidFill>
                  <a:schemeClr val="tx1"/>
                </a:solidFill>
                <a:latin typeface="+mn-ea"/>
              </a:rPr>
              <a:t>탭 </a:t>
            </a:r>
            <a:r>
              <a:rPr lang="en-US" altLang="ko-KR" sz="800" dirty="0">
                <a:solidFill>
                  <a:schemeClr val="tx1"/>
                </a:solidFill>
                <a:latin typeface="+mn-ea"/>
              </a:rPr>
              <a:t>4 - </a:t>
            </a:r>
            <a:r>
              <a:rPr lang="ko-KR" altLang="en-US" sz="800" dirty="0">
                <a:solidFill>
                  <a:schemeClr val="tx1"/>
                </a:solidFill>
                <a:latin typeface="+mn-ea"/>
              </a:rPr>
              <a:t>첨부파일</a:t>
            </a:r>
          </a:p>
        </p:txBody>
      </p:sp>
      <p:sp>
        <p:nvSpPr>
          <p:cNvPr id="97" name="사각형: 둥근 모서리 5">
            <a:extLst>
              <a:ext uri="{FF2B5EF4-FFF2-40B4-BE49-F238E27FC236}">
                <a16:creationId xmlns:a16="http://schemas.microsoft.com/office/drawing/2014/main" id="{410E5459-200D-7630-863C-88E5109259DF}"/>
              </a:ext>
            </a:extLst>
          </p:cNvPr>
          <p:cNvSpPr/>
          <p:nvPr/>
        </p:nvSpPr>
        <p:spPr>
          <a:xfrm>
            <a:off x="4193499" y="2923907"/>
            <a:ext cx="900000" cy="28800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공개수의협상</a:t>
            </a:r>
            <a:endParaRPr lang="en-US" altLang="ko-KR" sz="800" dirty="0">
              <a:solidFill>
                <a:schemeClr val="tx1"/>
              </a:solidFill>
            </a:endParaRPr>
          </a:p>
          <a:p>
            <a:pPr algn="ctr"/>
            <a:r>
              <a:rPr lang="ko-KR" altLang="en-US" sz="800" dirty="0" err="1">
                <a:solidFill>
                  <a:schemeClr val="tx1"/>
                </a:solidFill>
              </a:rPr>
              <a:t>계획상세</a:t>
            </a:r>
            <a:endParaRPr lang="ko-KR" altLang="en-US" sz="800" dirty="0">
              <a:solidFill>
                <a:schemeClr val="tx1"/>
              </a:solidFill>
            </a:endParaRPr>
          </a:p>
        </p:txBody>
      </p:sp>
      <p:sp>
        <p:nvSpPr>
          <p:cNvPr id="99" name="사각형: 둥근 모서리 5">
            <a:extLst>
              <a:ext uri="{FF2B5EF4-FFF2-40B4-BE49-F238E27FC236}">
                <a16:creationId xmlns:a16="http://schemas.microsoft.com/office/drawing/2014/main" id="{410E5459-200D-7630-863C-88E5109259DF}"/>
              </a:ext>
            </a:extLst>
          </p:cNvPr>
          <p:cNvSpPr/>
          <p:nvPr/>
        </p:nvSpPr>
        <p:spPr>
          <a:xfrm>
            <a:off x="2366608" y="2923907"/>
            <a:ext cx="900000" cy="288000"/>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ko-KR" altLang="en-US" sz="800" dirty="0">
                <a:solidFill>
                  <a:schemeClr val="tx1"/>
                </a:solidFill>
              </a:rPr>
              <a:t>입찰공고</a:t>
            </a:r>
          </a:p>
        </p:txBody>
      </p:sp>
      <p:cxnSp>
        <p:nvCxnSpPr>
          <p:cNvPr id="101" name="직선 화살표 연결선 100">
            <a:extLst>
              <a:ext uri="{FF2B5EF4-FFF2-40B4-BE49-F238E27FC236}">
                <a16:creationId xmlns:a16="http://schemas.microsoft.com/office/drawing/2014/main" id="{9A519F08-B829-E35F-09D8-DFCD1F68B911}"/>
              </a:ext>
            </a:extLst>
          </p:cNvPr>
          <p:cNvCxnSpPr>
            <a:cxnSpLocks/>
            <a:stCxn id="99" idx="3"/>
            <a:endCxn id="97" idx="1"/>
          </p:cNvCxnSpPr>
          <p:nvPr/>
        </p:nvCxnSpPr>
        <p:spPr>
          <a:xfrm>
            <a:off x="3266608" y="3067907"/>
            <a:ext cx="926891"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연결선: 꺾임 7">
            <a:extLst>
              <a:ext uri="{FF2B5EF4-FFF2-40B4-BE49-F238E27FC236}">
                <a16:creationId xmlns:a16="http://schemas.microsoft.com/office/drawing/2014/main" id="{89A2D828-4C18-4F90-6B31-722E89773AA8}"/>
              </a:ext>
            </a:extLst>
          </p:cNvPr>
          <p:cNvCxnSpPr>
            <a:cxnSpLocks/>
            <a:stCxn id="9" idx="6"/>
            <a:endCxn id="99" idx="1"/>
          </p:cNvCxnSpPr>
          <p:nvPr/>
        </p:nvCxnSpPr>
        <p:spPr>
          <a:xfrm>
            <a:off x="1435474" y="1772964"/>
            <a:ext cx="931134" cy="1294943"/>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연결선: 꺾임 7">
            <a:extLst>
              <a:ext uri="{FF2B5EF4-FFF2-40B4-BE49-F238E27FC236}">
                <a16:creationId xmlns:a16="http://schemas.microsoft.com/office/drawing/2014/main" id="{89A2D828-4C18-4F90-6B31-722E89773AA8}"/>
              </a:ext>
            </a:extLst>
          </p:cNvPr>
          <p:cNvCxnSpPr>
            <a:cxnSpLocks/>
            <a:stCxn id="99" idx="3"/>
            <a:endCxn id="53" idx="1"/>
          </p:cNvCxnSpPr>
          <p:nvPr/>
        </p:nvCxnSpPr>
        <p:spPr>
          <a:xfrm>
            <a:off x="3266608" y="3067907"/>
            <a:ext cx="926891" cy="129132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연결선: 꺾임 7">
            <a:extLst>
              <a:ext uri="{FF2B5EF4-FFF2-40B4-BE49-F238E27FC236}">
                <a16:creationId xmlns:a16="http://schemas.microsoft.com/office/drawing/2014/main" id="{89A2D828-4C18-4F90-6B31-722E89773AA8}"/>
              </a:ext>
            </a:extLst>
          </p:cNvPr>
          <p:cNvCxnSpPr>
            <a:cxnSpLocks/>
            <a:stCxn id="93" idx="3"/>
            <a:endCxn id="80" idx="2"/>
          </p:cNvCxnSpPr>
          <p:nvPr/>
        </p:nvCxnSpPr>
        <p:spPr>
          <a:xfrm>
            <a:off x="6930043" y="3067907"/>
            <a:ext cx="67780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연결선: 꺾임 7">
            <a:extLst>
              <a:ext uri="{FF2B5EF4-FFF2-40B4-BE49-F238E27FC236}">
                <a16:creationId xmlns:a16="http://schemas.microsoft.com/office/drawing/2014/main" id="{89A2D828-4C18-4F90-6B31-722E89773AA8}"/>
              </a:ext>
            </a:extLst>
          </p:cNvPr>
          <p:cNvCxnSpPr>
            <a:cxnSpLocks/>
            <a:stCxn id="53" idx="3"/>
            <a:endCxn id="22" idx="1"/>
          </p:cNvCxnSpPr>
          <p:nvPr/>
        </p:nvCxnSpPr>
        <p:spPr>
          <a:xfrm>
            <a:off x="5093499" y="4359231"/>
            <a:ext cx="936544" cy="64582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 name="직선 화살표 연결선 56">
            <a:extLst>
              <a:ext uri="{FF2B5EF4-FFF2-40B4-BE49-F238E27FC236}">
                <a16:creationId xmlns:a16="http://schemas.microsoft.com/office/drawing/2014/main" id="{9A519F08-B829-E35F-09D8-DFCD1F68B911}"/>
              </a:ext>
            </a:extLst>
          </p:cNvPr>
          <p:cNvCxnSpPr>
            <a:cxnSpLocks/>
            <a:stCxn id="97" idx="3"/>
            <a:endCxn id="60" idx="1"/>
          </p:cNvCxnSpPr>
          <p:nvPr/>
        </p:nvCxnSpPr>
        <p:spPr>
          <a:xfrm>
            <a:off x="5093499" y="3067907"/>
            <a:ext cx="936544" cy="0"/>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1" name="직선 화살표 연결선 60">
            <a:extLst>
              <a:ext uri="{FF2B5EF4-FFF2-40B4-BE49-F238E27FC236}">
                <a16:creationId xmlns:a16="http://schemas.microsoft.com/office/drawing/2014/main" id="{9A519F08-B829-E35F-09D8-DFCD1F68B911}"/>
              </a:ext>
            </a:extLst>
          </p:cNvPr>
          <p:cNvCxnSpPr>
            <a:cxnSpLocks/>
            <a:stCxn id="52" idx="2"/>
            <a:endCxn id="97" idx="0"/>
          </p:cNvCxnSpPr>
          <p:nvPr/>
        </p:nvCxnSpPr>
        <p:spPr>
          <a:xfrm>
            <a:off x="4643499" y="1916964"/>
            <a:ext cx="0" cy="1006943"/>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7" name="직사각형 66">
            <a:extLst>
              <a:ext uri="{FF2B5EF4-FFF2-40B4-BE49-F238E27FC236}">
                <a16:creationId xmlns:a16="http://schemas.microsoft.com/office/drawing/2014/main" id="{F249990F-1DE5-C694-BDBD-2DE7009D57EA}"/>
              </a:ext>
            </a:extLst>
          </p:cNvPr>
          <p:cNvSpPr/>
          <p:nvPr/>
        </p:nvSpPr>
        <p:spPr>
          <a:xfrm>
            <a:off x="6030043" y="3221125"/>
            <a:ext cx="835165" cy="49244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err="1">
                <a:solidFill>
                  <a:schemeClr val="tx1"/>
                </a:solidFill>
              </a:rPr>
              <a:t>스탭</a:t>
            </a:r>
            <a:r>
              <a:rPr lang="ko-KR" altLang="en-US" sz="800" dirty="0">
                <a:solidFill>
                  <a:schemeClr val="tx1"/>
                </a:solidFill>
              </a:rPr>
              <a:t> </a:t>
            </a:r>
            <a:r>
              <a:rPr lang="en-US" altLang="ko-KR" sz="800" dirty="0">
                <a:solidFill>
                  <a:schemeClr val="tx1"/>
                </a:solidFill>
              </a:rPr>
              <a:t>1 – </a:t>
            </a:r>
            <a:r>
              <a:rPr lang="ko-KR" altLang="en-US" sz="800" dirty="0">
                <a:solidFill>
                  <a:schemeClr val="tx1"/>
                </a:solidFill>
              </a:rPr>
              <a:t>일반정보</a:t>
            </a:r>
          </a:p>
          <a:p>
            <a:r>
              <a:rPr lang="ko-KR" altLang="en-US" sz="800" dirty="0" err="1">
                <a:solidFill>
                  <a:schemeClr val="tx1"/>
                </a:solidFill>
              </a:rPr>
              <a:t>스탭</a:t>
            </a:r>
            <a:r>
              <a:rPr lang="ko-KR" altLang="en-US" sz="800" dirty="0">
                <a:solidFill>
                  <a:schemeClr val="tx1"/>
                </a:solidFill>
              </a:rPr>
              <a:t> </a:t>
            </a:r>
            <a:r>
              <a:rPr lang="en-US" altLang="ko-KR" sz="800" dirty="0">
                <a:solidFill>
                  <a:schemeClr val="tx1"/>
                </a:solidFill>
              </a:rPr>
              <a:t>2 – </a:t>
            </a:r>
            <a:r>
              <a:rPr lang="ko-KR" altLang="en-US" sz="800" dirty="0">
                <a:solidFill>
                  <a:schemeClr val="tx1"/>
                </a:solidFill>
              </a:rPr>
              <a:t>업체정보</a:t>
            </a:r>
          </a:p>
          <a:p>
            <a:r>
              <a:rPr lang="ko-KR" altLang="en-US" sz="800" dirty="0" err="1">
                <a:solidFill>
                  <a:schemeClr val="tx1"/>
                </a:solidFill>
                <a:latin typeface="+mn-ea"/>
              </a:rPr>
              <a:t>스탭</a:t>
            </a:r>
            <a:r>
              <a:rPr lang="ko-KR" altLang="en-US" sz="800" dirty="0">
                <a:solidFill>
                  <a:schemeClr val="tx1"/>
                </a:solidFill>
                <a:latin typeface="+mn-ea"/>
              </a:rPr>
              <a:t> </a:t>
            </a:r>
            <a:r>
              <a:rPr lang="en-US" altLang="ko-KR" sz="800" dirty="0">
                <a:solidFill>
                  <a:schemeClr val="tx1"/>
                </a:solidFill>
                <a:latin typeface="+mn-ea"/>
              </a:rPr>
              <a:t>3 – </a:t>
            </a:r>
            <a:r>
              <a:rPr lang="ko-KR" altLang="en-US" sz="800" dirty="0" err="1">
                <a:solidFill>
                  <a:schemeClr val="tx1"/>
                </a:solidFill>
                <a:latin typeface="+mn-ea"/>
              </a:rPr>
              <a:t>입찰품목</a:t>
            </a:r>
            <a:endParaRPr lang="en-US" altLang="ko-KR" sz="800" dirty="0">
              <a:solidFill>
                <a:schemeClr val="tx1"/>
              </a:solidFill>
              <a:latin typeface="+mn-ea"/>
            </a:endParaRPr>
          </a:p>
          <a:p>
            <a:r>
              <a:rPr lang="ko-KR" altLang="en-US" sz="800" dirty="0" err="1">
                <a:solidFill>
                  <a:schemeClr val="tx1"/>
                </a:solidFill>
                <a:latin typeface="+mn-ea"/>
              </a:rPr>
              <a:t>스탭</a:t>
            </a:r>
            <a:r>
              <a:rPr lang="ko-KR" altLang="en-US" sz="800" dirty="0">
                <a:solidFill>
                  <a:schemeClr val="tx1"/>
                </a:solidFill>
                <a:latin typeface="+mn-ea"/>
              </a:rPr>
              <a:t> </a:t>
            </a:r>
            <a:r>
              <a:rPr lang="en-US" altLang="ko-KR" sz="800" dirty="0">
                <a:solidFill>
                  <a:schemeClr val="tx1"/>
                </a:solidFill>
                <a:latin typeface="+mn-ea"/>
              </a:rPr>
              <a:t>4 - </a:t>
            </a:r>
            <a:r>
              <a:rPr lang="ko-KR" altLang="en-US" sz="800" dirty="0">
                <a:solidFill>
                  <a:schemeClr val="tx1"/>
                </a:solidFill>
                <a:latin typeface="+mn-ea"/>
              </a:rPr>
              <a:t>첨부파일</a:t>
            </a:r>
          </a:p>
        </p:txBody>
      </p:sp>
      <p:cxnSp>
        <p:nvCxnSpPr>
          <p:cNvPr id="111" name="연결선: 꺾임 7">
            <a:extLst>
              <a:ext uri="{FF2B5EF4-FFF2-40B4-BE49-F238E27FC236}">
                <a16:creationId xmlns:a16="http://schemas.microsoft.com/office/drawing/2014/main" id="{89A2D828-4C18-4F90-6B31-722E89773AA8}"/>
              </a:ext>
            </a:extLst>
          </p:cNvPr>
          <p:cNvCxnSpPr>
            <a:cxnSpLocks/>
            <a:stCxn id="93" idx="3"/>
            <a:endCxn id="80" idx="2"/>
          </p:cNvCxnSpPr>
          <p:nvPr/>
        </p:nvCxnSpPr>
        <p:spPr>
          <a:xfrm flipV="1">
            <a:off x="6930043" y="3713734"/>
            <a:ext cx="677804" cy="645497"/>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직사각형 112">
            <a:extLst>
              <a:ext uri="{FF2B5EF4-FFF2-40B4-BE49-F238E27FC236}">
                <a16:creationId xmlns:a16="http://schemas.microsoft.com/office/drawing/2014/main" id="{F249990F-1DE5-C694-BDBD-2DE7009D57EA}"/>
              </a:ext>
            </a:extLst>
          </p:cNvPr>
          <p:cNvSpPr/>
          <p:nvPr/>
        </p:nvSpPr>
        <p:spPr>
          <a:xfrm>
            <a:off x="4193498" y="3225426"/>
            <a:ext cx="410369" cy="3693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spAutoFit/>
          </a:bodyPr>
          <a:lstStyle/>
          <a:p>
            <a:r>
              <a:rPr lang="ko-KR" altLang="en-US" sz="800" dirty="0">
                <a:solidFill>
                  <a:schemeClr val="tx1"/>
                </a:solidFill>
              </a:rPr>
              <a:t>일반정보</a:t>
            </a:r>
          </a:p>
          <a:p>
            <a:r>
              <a:rPr lang="ko-KR" altLang="en-US" sz="800" dirty="0" err="1">
                <a:solidFill>
                  <a:schemeClr val="tx1"/>
                </a:solidFill>
              </a:rPr>
              <a:t>품목정보</a:t>
            </a:r>
            <a:endParaRPr lang="ko-KR" altLang="en-US" sz="800" dirty="0">
              <a:solidFill>
                <a:schemeClr val="tx1"/>
              </a:solidFill>
            </a:endParaRPr>
          </a:p>
          <a:p>
            <a:r>
              <a:rPr lang="ko-KR" altLang="en-US" sz="800" dirty="0">
                <a:solidFill>
                  <a:schemeClr val="tx1"/>
                </a:solidFill>
                <a:latin typeface="+mn-ea"/>
              </a:rPr>
              <a:t>입찰결과</a:t>
            </a:r>
          </a:p>
        </p:txBody>
      </p:sp>
      <p:cxnSp>
        <p:nvCxnSpPr>
          <p:cNvPr id="120" name="연결선: 꺾임 7">
            <a:extLst>
              <a:ext uri="{FF2B5EF4-FFF2-40B4-BE49-F238E27FC236}">
                <a16:creationId xmlns:a16="http://schemas.microsoft.com/office/drawing/2014/main" id="{89A2D828-4C18-4F90-6B31-722E89773AA8}"/>
              </a:ext>
            </a:extLst>
          </p:cNvPr>
          <p:cNvCxnSpPr>
            <a:cxnSpLocks/>
            <a:stCxn id="22" idx="3"/>
            <a:endCxn id="80" idx="2"/>
          </p:cNvCxnSpPr>
          <p:nvPr/>
        </p:nvCxnSpPr>
        <p:spPr>
          <a:xfrm flipV="1">
            <a:off x="6930043" y="3713734"/>
            <a:ext cx="677804" cy="1291324"/>
          </a:xfrm>
          <a:prstGeom prst="bentConnector3">
            <a:avLst>
              <a:gd name="adj1" fmla="val 50000"/>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1830245"/>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399</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9.3 </a:t>
            </a:r>
            <a:r>
              <a:rPr lang="ko-KR" altLang="en-US" dirty="0"/>
              <a:t>앱 구성 다이어그램</a:t>
            </a: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sp>
        <p:nvSpPr>
          <p:cNvPr id="10" name="직사각형 9">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err="1"/>
              <a:t>입찰실시</a:t>
            </a:r>
            <a:r>
              <a:rPr lang="en-US" altLang="ko-KR" sz="1100" dirty="0"/>
              <a:t>Controller&gt;&gt;</a:t>
            </a:r>
          </a:p>
          <a:p>
            <a:pPr algn="ctr"/>
            <a:r>
              <a:rPr lang="en-US" altLang="ko-KR" sz="1100" dirty="0" err="1" smtClean="0"/>
              <a:t>BidEnfrcController</a:t>
            </a:r>
            <a:endParaRPr lang="en-US" altLang="ko-KR" sz="1100" dirty="0"/>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765244" y="2056994"/>
            <a:ext cx="1194847" cy="933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765244" y="2562247"/>
            <a:ext cx="1194847" cy="42792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765244" y="2990174"/>
            <a:ext cx="1194847" cy="773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직선 연결선 20">
            <a:extLst>
              <a:ext uri="{FF2B5EF4-FFF2-40B4-BE49-F238E27FC236}">
                <a16:creationId xmlns:a16="http://schemas.microsoft.com/office/drawing/2014/main" id="{A8B10782-0A07-A41D-DB15-978B72410A31}"/>
              </a:ext>
            </a:extLst>
          </p:cNvPr>
          <p:cNvCxnSpPr>
            <a:stCxn id="9" idx="3"/>
            <a:endCxn id="10"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직사각형 5">
            <a:extLst>
              <a:ext uri="{FF2B5EF4-FFF2-40B4-BE49-F238E27FC236}">
                <a16:creationId xmlns:a16="http://schemas.microsoft.com/office/drawing/2014/main" id="{3FD7B626-4B5C-AE29-EFB9-628750B32B78}"/>
              </a:ext>
            </a:extLst>
          </p:cNvPr>
          <p:cNvSpPr/>
          <p:nvPr/>
        </p:nvSpPr>
        <p:spPr>
          <a:xfrm>
            <a:off x="1038044" y="1850693"/>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입찰결과상세 </a:t>
            </a:r>
            <a:r>
              <a:rPr lang="en-US" altLang="ko-KR" sz="1050" dirty="0">
                <a:solidFill>
                  <a:schemeClr val="tx1"/>
                </a:solidFill>
                <a:latin typeface="+mn-ea"/>
              </a:rPr>
              <a:t>-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OvsBidRsltDtlPage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038044" y="235594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입찰결과상세 </a:t>
            </a:r>
            <a:r>
              <a:rPr lang="en-US" altLang="ko-KR" sz="1050" dirty="0">
                <a:solidFill>
                  <a:schemeClr val="tx1"/>
                </a:solidFill>
                <a:latin typeface="+mn-ea"/>
              </a:rPr>
              <a:t>– </a:t>
            </a:r>
            <a:r>
              <a:rPr lang="ko-KR" altLang="en-US" sz="1050" dirty="0">
                <a:solidFill>
                  <a:schemeClr val="tx1"/>
                </a:solidFill>
                <a:latin typeface="+mn-ea"/>
              </a:rPr>
              <a:t>입찰결과 </a:t>
            </a:r>
            <a:r>
              <a:rPr lang="en-US" altLang="ko-KR" sz="1050" dirty="0">
                <a:solidFill>
                  <a:schemeClr val="tx1"/>
                </a:solidFill>
                <a:latin typeface="+mn-ea"/>
              </a:rPr>
              <a:t>(</a:t>
            </a:r>
            <a:r>
              <a:rPr lang="ko-KR" altLang="en-US" sz="1050" dirty="0" err="1">
                <a:solidFill>
                  <a:schemeClr val="tx1"/>
                </a:solidFill>
                <a:latin typeface="+mn-ea"/>
              </a:rPr>
              <a:t>단가제</a:t>
            </a:r>
            <a:r>
              <a:rPr lang="en-US" altLang="ko-KR" sz="1050" dirty="0">
                <a:solidFill>
                  <a:schemeClr val="tx1"/>
                </a:solidFill>
                <a:latin typeface="+mn-ea"/>
              </a:rPr>
              <a:t>)</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OvsBidRsltDtl2</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038044" y="2861199"/>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a:solidFill>
                  <a:schemeClr val="tx1"/>
                </a:solidFill>
                <a:latin typeface="+mn-ea"/>
              </a:rPr>
              <a:t>입찰결과상세 </a:t>
            </a:r>
            <a:r>
              <a:rPr lang="en-US" altLang="ko-KR" sz="1050" dirty="0">
                <a:solidFill>
                  <a:schemeClr val="tx1"/>
                </a:solidFill>
                <a:latin typeface="+mn-ea"/>
              </a:rPr>
              <a:t>– </a:t>
            </a:r>
            <a:r>
              <a:rPr lang="ko-KR" altLang="en-US" sz="1050" dirty="0">
                <a:solidFill>
                  <a:schemeClr val="tx1"/>
                </a:solidFill>
                <a:latin typeface="+mn-ea"/>
              </a:rPr>
              <a:t>입찰결과 </a:t>
            </a:r>
            <a:r>
              <a:rPr lang="en-US" altLang="ko-KR" sz="1050" dirty="0">
                <a:solidFill>
                  <a:schemeClr val="tx1"/>
                </a:solidFill>
                <a:latin typeface="+mn-ea"/>
              </a:rPr>
              <a:t>(</a:t>
            </a:r>
            <a:r>
              <a:rPr lang="ko-KR" altLang="en-US" sz="1050" dirty="0" err="1">
                <a:solidFill>
                  <a:schemeClr val="tx1"/>
                </a:solidFill>
                <a:latin typeface="+mn-ea"/>
              </a:rPr>
              <a:t>총액제</a:t>
            </a:r>
            <a:r>
              <a:rPr lang="en-US" altLang="ko-KR" sz="1050" dirty="0">
                <a:solidFill>
                  <a:schemeClr val="tx1"/>
                </a:solidFill>
                <a:latin typeface="+mn-ea"/>
              </a:rPr>
              <a:t>)</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OvsBidRsltDtl3</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4" name="직사각형 23">
            <a:extLst>
              <a:ext uri="{FF2B5EF4-FFF2-40B4-BE49-F238E27FC236}">
                <a16:creationId xmlns:a16="http://schemas.microsoft.com/office/drawing/2014/main" id="{326CB017-8967-4DC4-0EAD-ADB3B9EAB841}"/>
              </a:ext>
            </a:extLst>
          </p:cNvPr>
          <p:cNvSpPr/>
          <p:nvPr/>
        </p:nvSpPr>
        <p:spPr>
          <a:xfrm>
            <a:off x="1038044" y="3366452"/>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공개수의협상계획상세</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OvsRlsVltrnsNgtnPlanDtl</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7" name="직사각형 26">
            <a:extLst>
              <a:ext uri="{FF2B5EF4-FFF2-40B4-BE49-F238E27FC236}">
                <a16:creationId xmlns:a16="http://schemas.microsoft.com/office/drawing/2014/main" id="{326CB017-8967-4DC4-0EAD-ADB3B9EAB841}"/>
              </a:ext>
            </a:extLst>
          </p:cNvPr>
          <p:cNvSpPr/>
          <p:nvPr/>
        </p:nvSpPr>
        <p:spPr>
          <a:xfrm>
            <a:off x="1038044" y="3871705"/>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공개수의협상계획상세</a:t>
            </a:r>
            <a:r>
              <a:rPr lang="ko-KR" altLang="en-US" sz="1050" dirty="0">
                <a:solidFill>
                  <a:schemeClr val="tx1"/>
                </a:solidFill>
                <a:latin typeface="맑은 고딕" panose="020B0503020000020004" pitchFamily="50" charset="-127"/>
              </a:rPr>
              <a:t> </a:t>
            </a:r>
            <a:r>
              <a:rPr lang="en-US" altLang="ko-KR" sz="1050" dirty="0">
                <a:solidFill>
                  <a:schemeClr val="tx1"/>
                </a:solidFill>
                <a:latin typeface="+mn-ea"/>
              </a:rPr>
              <a:t>– </a:t>
            </a:r>
            <a:r>
              <a:rPr lang="ko-KR" altLang="en-US" sz="1050" dirty="0" err="1">
                <a:solidFill>
                  <a:schemeClr val="tx1"/>
                </a:solidFill>
                <a:latin typeface="+mn-ea"/>
              </a:rPr>
              <a:t>품목정보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OvsRlsVltrnsNgtnPlanDtl2</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8" name="직사각형 27">
            <a:extLst>
              <a:ext uri="{FF2B5EF4-FFF2-40B4-BE49-F238E27FC236}">
                <a16:creationId xmlns:a16="http://schemas.microsoft.com/office/drawing/2014/main" id="{326CB017-8967-4DC4-0EAD-ADB3B9EAB841}"/>
              </a:ext>
            </a:extLst>
          </p:cNvPr>
          <p:cNvSpPr/>
          <p:nvPr/>
        </p:nvSpPr>
        <p:spPr>
          <a:xfrm>
            <a:off x="1038044" y="4376958"/>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공개수의협상계획상세</a:t>
            </a:r>
            <a:r>
              <a:rPr lang="ko-KR" altLang="en-US" sz="1050" dirty="0">
                <a:solidFill>
                  <a:schemeClr val="tx1"/>
                </a:solidFill>
                <a:latin typeface="맑은 고딕" panose="020B0503020000020004" pitchFamily="50" charset="-127"/>
              </a:rPr>
              <a:t> </a:t>
            </a:r>
            <a:r>
              <a:rPr lang="en-US" altLang="ko-KR" sz="1050" dirty="0">
                <a:solidFill>
                  <a:schemeClr val="tx1"/>
                </a:solidFill>
                <a:latin typeface="+mn-ea"/>
              </a:rPr>
              <a:t>- </a:t>
            </a:r>
            <a:r>
              <a:rPr lang="ko-KR" altLang="en-US" sz="1050" dirty="0">
                <a:solidFill>
                  <a:schemeClr val="tx1"/>
                </a:solidFill>
                <a:latin typeface="+mn-ea"/>
              </a:rPr>
              <a:t>첨부서류</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OvsRlsVltrnsNgtnPlanDtl</a:t>
            </a:r>
            <a:r>
              <a:rPr lang="en-US" altLang="ko-KR" sz="1050" dirty="0">
                <a:solidFill>
                  <a:schemeClr val="tx1"/>
                </a:solidFill>
                <a:latin typeface="+mn-ea"/>
              </a:rPr>
              <a:t>3</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9" name="직사각형 28">
            <a:extLst>
              <a:ext uri="{FF2B5EF4-FFF2-40B4-BE49-F238E27FC236}">
                <a16:creationId xmlns:a16="http://schemas.microsoft.com/office/drawing/2014/main" id="{326CB017-8967-4DC4-0EAD-ADB3B9EAB841}"/>
              </a:ext>
            </a:extLst>
          </p:cNvPr>
          <p:cNvSpPr/>
          <p:nvPr/>
        </p:nvSpPr>
        <p:spPr>
          <a:xfrm>
            <a:off x="1038044" y="4882211"/>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공개수의협상견적서제출</a:t>
            </a:r>
            <a:r>
              <a:rPr lang="ko-KR" altLang="en-US" sz="1050" dirty="0">
                <a:solidFill>
                  <a:schemeClr val="tx1"/>
                </a:solidFill>
                <a:latin typeface="+mn-ea"/>
              </a:rPr>
              <a:t> </a:t>
            </a:r>
            <a:r>
              <a:rPr lang="en-US" altLang="ko-KR" sz="1050" dirty="0">
                <a:solidFill>
                  <a:schemeClr val="tx1"/>
                </a:solidFill>
                <a:latin typeface="+mn-ea"/>
              </a:rPr>
              <a:t>- </a:t>
            </a:r>
            <a:r>
              <a:rPr lang="ko-KR" altLang="en-US" sz="1050" dirty="0" err="1">
                <a:solidFill>
                  <a:schemeClr val="tx1"/>
                </a:solidFill>
                <a:latin typeface="+mn-ea"/>
              </a:rPr>
              <a:t>스탭</a:t>
            </a:r>
            <a:r>
              <a:rPr lang="ko-KR" altLang="en-US" sz="1050" dirty="0">
                <a:solidFill>
                  <a:schemeClr val="tx1"/>
                </a:solidFill>
                <a:latin typeface="+mn-ea"/>
              </a:rPr>
              <a:t> </a:t>
            </a:r>
            <a:r>
              <a:rPr lang="en-US" altLang="ko-KR" sz="1050" dirty="0">
                <a:solidFill>
                  <a:schemeClr val="tx1"/>
                </a:solidFill>
                <a:latin typeface="+mn-ea"/>
              </a:rPr>
              <a:t>1 -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OvsRlsVltrnsNgtnEtdcSbmsnPage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0" name="직선 화살표 연결선 29">
            <a:extLst>
              <a:ext uri="{FF2B5EF4-FFF2-40B4-BE49-F238E27FC236}">
                <a16:creationId xmlns:a16="http://schemas.microsoft.com/office/drawing/2014/main" id="{418E1257-E5C2-5705-1378-45505004ABAF}"/>
              </a:ext>
            </a:extLst>
          </p:cNvPr>
          <p:cNvCxnSpPr>
            <a:cxnSpLocks/>
            <a:stCxn id="24" idx="3"/>
            <a:endCxn id="9" idx="1"/>
          </p:cNvCxnSpPr>
          <p:nvPr/>
        </p:nvCxnSpPr>
        <p:spPr>
          <a:xfrm flipV="1">
            <a:off x="2765244" y="2990174"/>
            <a:ext cx="1194847" cy="5825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418E1257-E5C2-5705-1378-45505004ABAF}"/>
              </a:ext>
            </a:extLst>
          </p:cNvPr>
          <p:cNvCxnSpPr>
            <a:cxnSpLocks/>
            <a:stCxn id="27" idx="3"/>
            <a:endCxn id="9" idx="1"/>
          </p:cNvCxnSpPr>
          <p:nvPr/>
        </p:nvCxnSpPr>
        <p:spPr>
          <a:xfrm flipV="1">
            <a:off x="2765244" y="2990174"/>
            <a:ext cx="1194847" cy="10878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418E1257-E5C2-5705-1378-45505004ABAF}"/>
              </a:ext>
            </a:extLst>
          </p:cNvPr>
          <p:cNvCxnSpPr>
            <a:cxnSpLocks/>
            <a:stCxn id="28" idx="3"/>
            <a:endCxn id="9" idx="1"/>
          </p:cNvCxnSpPr>
          <p:nvPr/>
        </p:nvCxnSpPr>
        <p:spPr>
          <a:xfrm flipV="1">
            <a:off x="2765244" y="2990174"/>
            <a:ext cx="1194847" cy="159308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7" name="직선 화살표 연결선 36">
            <a:extLst>
              <a:ext uri="{FF2B5EF4-FFF2-40B4-BE49-F238E27FC236}">
                <a16:creationId xmlns:a16="http://schemas.microsoft.com/office/drawing/2014/main" id="{418E1257-E5C2-5705-1378-45505004ABAF}"/>
              </a:ext>
            </a:extLst>
          </p:cNvPr>
          <p:cNvCxnSpPr>
            <a:cxnSpLocks/>
            <a:stCxn id="29" idx="3"/>
            <a:endCxn id="9" idx="1"/>
          </p:cNvCxnSpPr>
          <p:nvPr/>
        </p:nvCxnSpPr>
        <p:spPr>
          <a:xfrm flipV="1">
            <a:off x="2765244" y="2990174"/>
            <a:ext cx="1194847" cy="209833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3" name="직사각형 32">
            <a:extLst>
              <a:ext uri="{FF2B5EF4-FFF2-40B4-BE49-F238E27FC236}">
                <a16:creationId xmlns:a16="http://schemas.microsoft.com/office/drawing/2014/main" id="{326CB017-8967-4DC4-0EAD-ADB3B9EAB841}"/>
              </a:ext>
            </a:extLst>
          </p:cNvPr>
          <p:cNvSpPr/>
          <p:nvPr/>
        </p:nvSpPr>
        <p:spPr>
          <a:xfrm>
            <a:off x="1038044" y="5387467"/>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공개수의협상견적서제출</a:t>
            </a:r>
            <a:r>
              <a:rPr lang="ko-KR" altLang="en-US" sz="1050" dirty="0">
                <a:solidFill>
                  <a:schemeClr val="tx1"/>
                </a:solidFill>
                <a:latin typeface="맑은 고딕" panose="020B0503020000020004" pitchFamily="50" charset="-127"/>
              </a:rPr>
              <a:t> </a:t>
            </a:r>
            <a:r>
              <a:rPr lang="en-US" altLang="ko-KR" sz="1050" dirty="0">
                <a:solidFill>
                  <a:schemeClr val="tx1"/>
                </a:solidFill>
                <a:latin typeface="맑은 고딕" panose="020B0503020000020004" pitchFamily="50" charset="-127"/>
              </a:rPr>
              <a:t>- </a:t>
            </a:r>
            <a:r>
              <a:rPr lang="ko-KR" altLang="en-US" sz="1050" dirty="0" err="1">
                <a:solidFill>
                  <a:schemeClr val="tx1"/>
                </a:solidFill>
                <a:latin typeface="맑은 고딕" panose="020B0503020000020004" pitchFamily="50" charset="-127"/>
              </a:rPr>
              <a:t>스탭</a:t>
            </a:r>
            <a:r>
              <a:rPr lang="ko-KR" altLang="en-US" sz="1050" dirty="0">
                <a:solidFill>
                  <a:schemeClr val="tx1"/>
                </a:solidFill>
                <a:latin typeface="맑은 고딕" panose="020B0503020000020004" pitchFamily="50" charset="-127"/>
              </a:rPr>
              <a:t> </a:t>
            </a:r>
            <a:r>
              <a:rPr lang="en-US" altLang="ko-KR" sz="1050" dirty="0">
                <a:solidFill>
                  <a:schemeClr val="tx1"/>
                </a:solidFill>
                <a:latin typeface="맑은 고딕" panose="020B0503020000020004" pitchFamily="50" charset="-127"/>
              </a:rPr>
              <a:t>2 - </a:t>
            </a:r>
            <a:r>
              <a:rPr lang="ko-KR" altLang="en-US" sz="1050" dirty="0">
                <a:solidFill>
                  <a:schemeClr val="tx1"/>
                </a:solidFill>
                <a:latin typeface="맑은 고딕" panose="020B0503020000020004" pitchFamily="50" charset="-127"/>
              </a:rPr>
              <a:t>업체정보</a:t>
            </a:r>
            <a:endParaRPr lang="en-US" altLang="ko-KR" sz="1050" dirty="0">
              <a:solidFill>
                <a:schemeClr val="tx1"/>
              </a:solidFill>
            </a:endParaRPr>
          </a:p>
          <a:p>
            <a:pPr algn="ctr">
              <a:lnSpc>
                <a:spcPct val="120000"/>
              </a:lnSpc>
            </a:pPr>
            <a:r>
              <a:rPr lang="en-US" altLang="ko-KR" sz="1050" dirty="0">
                <a:solidFill>
                  <a:schemeClr val="tx1"/>
                </a:solidFill>
                <a:latin typeface="맑은 고딕" panose="020B0503020000020004" pitchFamily="50" charset="-127"/>
              </a:rPr>
              <a:t>OvsRlsVltrnsNgtnEtdcSbmsn2</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5" name="직선 화살표 연결선 34">
            <a:extLst>
              <a:ext uri="{FF2B5EF4-FFF2-40B4-BE49-F238E27FC236}">
                <a16:creationId xmlns:a16="http://schemas.microsoft.com/office/drawing/2014/main" id="{418E1257-E5C2-5705-1378-45505004ABAF}"/>
              </a:ext>
            </a:extLst>
          </p:cNvPr>
          <p:cNvCxnSpPr>
            <a:cxnSpLocks/>
            <a:stCxn id="33" idx="3"/>
            <a:endCxn id="9" idx="1"/>
          </p:cNvCxnSpPr>
          <p:nvPr/>
        </p:nvCxnSpPr>
        <p:spPr>
          <a:xfrm flipV="1">
            <a:off x="2765244" y="2990174"/>
            <a:ext cx="1194847" cy="26035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직사각형 43">
            <a:extLst>
              <a:ext uri="{FF2B5EF4-FFF2-40B4-BE49-F238E27FC236}">
                <a16:creationId xmlns:a16="http://schemas.microsoft.com/office/drawing/2014/main" id="{DCD2B03C-59E6-A2C5-6CA3-6C41E384FAEA}"/>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9.3.1 </a:t>
            </a:r>
            <a:r>
              <a:rPr lang="ko-KR" altLang="en-US" sz="1200" dirty="0">
                <a:solidFill>
                  <a:schemeClr val="tx1"/>
                </a:solidFill>
              </a:rPr>
              <a:t>국외 개찰 </a:t>
            </a:r>
            <a:r>
              <a:rPr lang="en-US" altLang="ko-KR" sz="1200" dirty="0">
                <a:solidFill>
                  <a:schemeClr val="tx1"/>
                </a:solidFill>
              </a:rPr>
              <a:t>(1/2)</a:t>
            </a:r>
            <a:endParaRPr lang="ko-KR" altLang="en-US" sz="1200" dirty="0">
              <a:solidFill>
                <a:schemeClr val="tx1"/>
              </a:solidFill>
            </a:endParaRPr>
          </a:p>
        </p:txBody>
      </p:sp>
      <p:sp>
        <p:nvSpPr>
          <p:cNvPr id="61" name="직사각형 60">
            <a:extLst>
              <a:ext uri="{FF2B5EF4-FFF2-40B4-BE49-F238E27FC236}">
                <a16:creationId xmlns:a16="http://schemas.microsoft.com/office/drawing/2014/main" id="{326CB017-8967-4DC4-0EAD-ADB3B9EAB841}"/>
              </a:ext>
            </a:extLst>
          </p:cNvPr>
          <p:cNvSpPr/>
          <p:nvPr/>
        </p:nvSpPr>
        <p:spPr>
          <a:xfrm>
            <a:off x="1038044" y="589158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t>&lt;&lt;App Page&gt;&gt;</a:t>
            </a:r>
          </a:p>
          <a:p>
            <a:pPr lvl="0" algn="ctr">
              <a:lnSpc>
                <a:spcPct val="120000"/>
              </a:lnSpc>
            </a:pPr>
            <a:r>
              <a:rPr lang="ko-KR" altLang="en-US" sz="1050" dirty="0" err="1">
                <a:solidFill>
                  <a:prstClr val="black"/>
                </a:solidFill>
                <a:latin typeface="맑은 고딕" panose="020B0503020000020004" pitchFamily="50" charset="-127"/>
              </a:rPr>
              <a:t>공개수의협상견적서제출</a:t>
            </a:r>
            <a:r>
              <a:rPr lang="ko-KR" altLang="en-US" sz="1050" dirty="0">
                <a:solidFill>
                  <a:prstClr val="black"/>
                </a:solidFill>
                <a:latin typeface="맑은 고딕" panose="020B0503020000020004" pitchFamily="50" charset="-127"/>
              </a:rPr>
              <a:t> </a:t>
            </a:r>
            <a:r>
              <a:rPr lang="en-US" altLang="ko-KR" sz="1050" dirty="0">
                <a:solidFill>
                  <a:prstClr val="black"/>
                </a:solidFill>
                <a:latin typeface="맑은 고딕" panose="020B0503020000020004" pitchFamily="50" charset="-127"/>
              </a:rPr>
              <a:t>- </a:t>
            </a:r>
            <a:r>
              <a:rPr lang="ko-KR" altLang="en-US" sz="1050" dirty="0" err="1">
                <a:solidFill>
                  <a:prstClr val="black"/>
                </a:solidFill>
                <a:latin typeface="맑은 고딕" panose="020B0503020000020004" pitchFamily="50" charset="-127"/>
              </a:rPr>
              <a:t>스탭</a:t>
            </a:r>
            <a:r>
              <a:rPr lang="ko-KR" altLang="en-US" sz="1050" dirty="0">
                <a:solidFill>
                  <a:prstClr val="black"/>
                </a:solidFill>
                <a:latin typeface="맑은 고딕" panose="020B0503020000020004" pitchFamily="50" charset="-127"/>
              </a:rPr>
              <a:t> </a:t>
            </a:r>
            <a:r>
              <a:rPr lang="en-US" altLang="ko-KR" sz="1050" dirty="0">
                <a:solidFill>
                  <a:prstClr val="black"/>
                </a:solidFill>
                <a:latin typeface="맑은 고딕" panose="020B0503020000020004" pitchFamily="50" charset="-127"/>
              </a:rPr>
              <a:t>3 - </a:t>
            </a:r>
            <a:r>
              <a:rPr lang="ko-KR" altLang="en-US" sz="1050" dirty="0" err="1">
                <a:solidFill>
                  <a:prstClr val="black"/>
                </a:solidFill>
                <a:latin typeface="맑은 고딕" panose="020B0503020000020004" pitchFamily="50" charset="-127"/>
              </a:rPr>
              <a:t>입찰품목</a:t>
            </a:r>
            <a:endParaRPr lang="en-US" altLang="ko-KR" sz="1050" dirty="0"/>
          </a:p>
          <a:p>
            <a:pPr algn="ctr">
              <a:lnSpc>
                <a:spcPct val="120000"/>
              </a:lnSpc>
            </a:pPr>
            <a:r>
              <a:rPr lang="ko-KR" altLang="en-US" sz="1050" dirty="0" err="1"/>
              <a:t>화면명</a:t>
            </a:r>
            <a:r>
              <a:rPr lang="en-US" altLang="ko-KR" sz="1050" dirty="0"/>
              <a:t> .tsx</a:t>
            </a:r>
            <a:r>
              <a:rPr lang="en-US" altLang="ko-KR" sz="1050" b="1" baseline="30000" dirty="0">
                <a:latin typeface="+mn-ea"/>
              </a:rPr>
              <a:t>1)</a:t>
            </a:r>
            <a:endParaRPr lang="en-US" altLang="ko-KR" sz="1050" dirty="0"/>
          </a:p>
        </p:txBody>
      </p:sp>
      <p:cxnSp>
        <p:nvCxnSpPr>
          <p:cNvPr id="68" name="직선 화살표 연결선 67">
            <a:extLst>
              <a:ext uri="{FF2B5EF4-FFF2-40B4-BE49-F238E27FC236}">
                <a16:creationId xmlns:a16="http://schemas.microsoft.com/office/drawing/2014/main" id="{418E1257-E5C2-5705-1378-45505004ABAF}"/>
              </a:ext>
            </a:extLst>
          </p:cNvPr>
          <p:cNvCxnSpPr>
            <a:cxnSpLocks/>
            <a:stCxn id="61" idx="3"/>
            <a:endCxn id="9" idx="1"/>
          </p:cNvCxnSpPr>
          <p:nvPr/>
        </p:nvCxnSpPr>
        <p:spPr>
          <a:xfrm flipV="1">
            <a:off x="2765244" y="2990174"/>
            <a:ext cx="1194847" cy="310771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9" name="직사각형 38">
            <a:extLst>
              <a:ext uri="{FF2B5EF4-FFF2-40B4-BE49-F238E27FC236}">
                <a16:creationId xmlns:a16="http://schemas.microsoft.com/office/drawing/2014/main" id="{326CB017-8967-4DC4-0EAD-ADB3B9EAB841}"/>
              </a:ext>
            </a:extLst>
          </p:cNvPr>
          <p:cNvSpPr/>
          <p:nvPr/>
        </p:nvSpPr>
        <p:spPr>
          <a:xfrm>
            <a:off x="2864228" y="5891586"/>
            <a:ext cx="1556625"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47500" lnSpcReduction="20000"/>
          </a:bodyPr>
          <a:lstStyle/>
          <a:p>
            <a:pPr algn="ctr">
              <a:lnSpc>
                <a:spcPct val="120000"/>
              </a:lnSpc>
            </a:pPr>
            <a:r>
              <a:rPr lang="en-US" altLang="ko-KR" sz="1050" dirty="0"/>
              <a:t>&lt;&lt;App Page&gt;&gt;</a:t>
            </a:r>
          </a:p>
          <a:p>
            <a:pPr lvl="0" algn="ctr">
              <a:lnSpc>
                <a:spcPct val="120000"/>
              </a:lnSpc>
            </a:pPr>
            <a:r>
              <a:rPr lang="ko-KR" altLang="en-US" sz="1050" dirty="0" err="1">
                <a:solidFill>
                  <a:prstClr val="black"/>
                </a:solidFill>
                <a:latin typeface="맑은 고딕" panose="020B0503020000020004" pitchFamily="50" charset="-127"/>
              </a:rPr>
              <a:t>공개수의협상견적서제출</a:t>
            </a:r>
            <a:r>
              <a:rPr lang="ko-KR" altLang="en-US" sz="1050" dirty="0">
                <a:solidFill>
                  <a:prstClr val="black"/>
                </a:solidFill>
                <a:latin typeface="맑은 고딕" panose="020B0503020000020004" pitchFamily="50" charset="-127"/>
              </a:rPr>
              <a:t> </a:t>
            </a:r>
            <a:r>
              <a:rPr lang="en-US" altLang="ko-KR" sz="1050" dirty="0">
                <a:solidFill>
                  <a:prstClr val="black"/>
                </a:solidFill>
                <a:latin typeface="맑은 고딕" panose="020B0503020000020004" pitchFamily="50" charset="-127"/>
              </a:rPr>
              <a:t>- </a:t>
            </a:r>
            <a:r>
              <a:rPr lang="ko-KR" altLang="en-US" sz="1050" dirty="0" err="1">
                <a:solidFill>
                  <a:prstClr val="black"/>
                </a:solidFill>
                <a:latin typeface="맑은 고딕" panose="020B0503020000020004" pitchFamily="50" charset="-127"/>
              </a:rPr>
              <a:t>스탭</a:t>
            </a:r>
            <a:r>
              <a:rPr lang="ko-KR" altLang="en-US" sz="1050" dirty="0">
                <a:solidFill>
                  <a:prstClr val="black"/>
                </a:solidFill>
                <a:latin typeface="맑은 고딕" panose="020B0503020000020004" pitchFamily="50" charset="-127"/>
              </a:rPr>
              <a:t> </a:t>
            </a:r>
            <a:r>
              <a:rPr lang="en-US" altLang="ko-KR" sz="1050" dirty="0">
                <a:solidFill>
                  <a:prstClr val="black"/>
                </a:solidFill>
                <a:latin typeface="맑은 고딕" panose="020B0503020000020004" pitchFamily="50" charset="-127"/>
              </a:rPr>
              <a:t>4 - </a:t>
            </a:r>
            <a:r>
              <a:rPr lang="ko-KR" altLang="en-US" sz="1050" dirty="0">
                <a:solidFill>
                  <a:prstClr val="black"/>
                </a:solidFill>
                <a:latin typeface="맑은 고딕" panose="020B0503020000020004" pitchFamily="50" charset="-127"/>
              </a:rPr>
              <a:t>첨부파일</a:t>
            </a:r>
            <a:endParaRPr lang="en-US" altLang="ko-KR" sz="1050" dirty="0"/>
          </a:p>
          <a:p>
            <a:pPr algn="ctr">
              <a:lnSpc>
                <a:spcPct val="120000"/>
              </a:lnSpc>
            </a:pPr>
            <a:r>
              <a:rPr lang="ko-KR" altLang="en-US" sz="1050" dirty="0" err="1"/>
              <a:t>화면명</a:t>
            </a:r>
            <a:r>
              <a:rPr lang="en-US" altLang="ko-KR" sz="1050" dirty="0"/>
              <a:t> .tsx</a:t>
            </a:r>
            <a:r>
              <a:rPr lang="en-US" altLang="ko-KR" sz="1050" b="1" baseline="30000" dirty="0">
                <a:latin typeface="+mn-ea"/>
              </a:rPr>
              <a:t>1)</a:t>
            </a:r>
            <a:endParaRPr lang="en-US" altLang="ko-KR" sz="1050" dirty="0"/>
          </a:p>
        </p:txBody>
      </p:sp>
      <p:cxnSp>
        <p:nvCxnSpPr>
          <p:cNvPr id="73" name="직선 화살표 연결선 72">
            <a:extLst>
              <a:ext uri="{FF2B5EF4-FFF2-40B4-BE49-F238E27FC236}">
                <a16:creationId xmlns:a16="http://schemas.microsoft.com/office/drawing/2014/main" id="{418E1257-E5C2-5705-1378-45505004ABAF}"/>
              </a:ext>
            </a:extLst>
          </p:cNvPr>
          <p:cNvCxnSpPr>
            <a:cxnSpLocks/>
            <a:stCxn id="39" idx="0"/>
            <a:endCxn id="9" idx="2"/>
          </p:cNvCxnSpPr>
          <p:nvPr/>
        </p:nvCxnSpPr>
        <p:spPr>
          <a:xfrm flipV="1">
            <a:off x="3642541" y="3810190"/>
            <a:ext cx="1181150" cy="20813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직사각형 31">
            <a:extLst>
              <a:ext uri="{FF2B5EF4-FFF2-40B4-BE49-F238E27FC236}">
                <a16:creationId xmlns:a16="http://schemas.microsoft.com/office/drawing/2014/main" id="{BE6CF8B0-B538-B16B-F0EB-F1F49287D1E5}"/>
              </a:ext>
            </a:extLst>
          </p:cNvPr>
          <p:cNvSpPr/>
          <p:nvPr/>
        </p:nvSpPr>
        <p:spPr>
          <a:xfrm>
            <a:off x="6913418" y="3476133"/>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입찰결과</a:t>
            </a:r>
            <a:r>
              <a:rPr lang="en-US" altLang="ko-KR" sz="1100" dirty="0"/>
              <a:t>Controller&gt;&gt;</a:t>
            </a:r>
          </a:p>
          <a:p>
            <a:pPr algn="ctr"/>
            <a:r>
              <a:rPr lang="en-US" altLang="ko-KR" sz="1100" dirty="0" err="1" smtClean="0"/>
              <a:t>BidRsltController</a:t>
            </a:r>
            <a:endParaRPr lang="en-US" altLang="ko-KR" sz="1100" dirty="0"/>
          </a:p>
        </p:txBody>
      </p:sp>
      <p:cxnSp>
        <p:nvCxnSpPr>
          <p:cNvPr id="36" name="직선 연결선 35">
            <a:extLst>
              <a:ext uri="{FF2B5EF4-FFF2-40B4-BE49-F238E27FC236}">
                <a16:creationId xmlns:a16="http://schemas.microsoft.com/office/drawing/2014/main" id="{A8B10782-0A07-A41D-DB15-978B72410A31}"/>
              </a:ext>
            </a:extLst>
          </p:cNvPr>
          <p:cNvCxnSpPr>
            <a:stCxn id="9" idx="3"/>
            <a:endCxn id="32" idx="1"/>
          </p:cNvCxnSpPr>
          <p:nvPr/>
        </p:nvCxnSpPr>
        <p:spPr>
          <a:xfrm>
            <a:off x="5687291" y="2990174"/>
            <a:ext cx="1226127" cy="728939"/>
          </a:xfrm>
          <a:prstGeom prst="line">
            <a:avLst/>
          </a:prstGeom>
        </p:spPr>
        <p:style>
          <a:lnRef idx="1">
            <a:schemeClr val="dk1"/>
          </a:lnRef>
          <a:fillRef idx="0">
            <a:schemeClr val="dk1"/>
          </a:fillRef>
          <a:effectRef idx="0">
            <a:schemeClr val="dk1"/>
          </a:effectRef>
          <a:fontRef idx="minor">
            <a:schemeClr val="tx1"/>
          </a:fontRef>
        </p:style>
      </p:cxnSp>
      <p:sp>
        <p:nvSpPr>
          <p:cNvPr id="38" name="직사각형 37">
            <a:extLst>
              <a:ext uri="{FF2B5EF4-FFF2-40B4-BE49-F238E27FC236}">
                <a16:creationId xmlns:a16="http://schemas.microsoft.com/office/drawing/2014/main" id="{BE6CF8B0-B538-B16B-F0EB-F1F49287D1E5}"/>
              </a:ext>
            </a:extLst>
          </p:cNvPr>
          <p:cNvSpPr/>
          <p:nvPr/>
        </p:nvSpPr>
        <p:spPr>
          <a:xfrm>
            <a:off x="6913418" y="4247278"/>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Autofit/>
          </a:bodyPr>
          <a:lstStyle/>
          <a:p>
            <a:pPr algn="ctr"/>
            <a:r>
              <a:rPr lang="en-US" altLang="ko-KR" sz="800" dirty="0"/>
              <a:t>&lt;&lt; </a:t>
            </a:r>
            <a:r>
              <a:rPr lang="ko-KR" altLang="en-US" sz="800" dirty="0"/>
              <a:t>공개수의협상</a:t>
            </a:r>
            <a:r>
              <a:rPr lang="en-US" altLang="ko-KR" sz="800" dirty="0"/>
              <a:t>Controller&gt;&gt;</a:t>
            </a:r>
          </a:p>
          <a:p>
            <a:pPr algn="ctr"/>
            <a:r>
              <a:rPr lang="en-US" altLang="ko-KR" sz="800" dirty="0" err="1"/>
              <a:t>RlsVltrnsNgtnController</a:t>
            </a:r>
            <a:endParaRPr lang="en-US" altLang="ko-KR" sz="800" dirty="0"/>
          </a:p>
        </p:txBody>
      </p:sp>
      <p:cxnSp>
        <p:nvCxnSpPr>
          <p:cNvPr id="40" name="직선 연결선 39">
            <a:extLst>
              <a:ext uri="{FF2B5EF4-FFF2-40B4-BE49-F238E27FC236}">
                <a16:creationId xmlns:a16="http://schemas.microsoft.com/office/drawing/2014/main" id="{A8B10782-0A07-A41D-DB15-978B72410A31}"/>
              </a:ext>
            </a:extLst>
          </p:cNvPr>
          <p:cNvCxnSpPr>
            <a:stCxn id="9" idx="3"/>
            <a:endCxn id="38" idx="1"/>
          </p:cNvCxnSpPr>
          <p:nvPr/>
        </p:nvCxnSpPr>
        <p:spPr>
          <a:xfrm>
            <a:off x="5687291" y="2990174"/>
            <a:ext cx="1226127" cy="1500084"/>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66805851"/>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B3001FFA-599C-959F-11FF-54498DB5D01F}"/>
              </a:ext>
            </a:extLst>
          </p:cNvPr>
          <p:cNvSpPr/>
          <p:nvPr/>
        </p:nvSpPr>
        <p:spPr>
          <a:xfrm>
            <a:off x="6266873" y="1283855"/>
            <a:ext cx="27432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서버 영역</a:t>
            </a:r>
          </a:p>
        </p:txBody>
      </p:sp>
      <p:sp>
        <p:nvSpPr>
          <p:cNvPr id="25" name="직사각형 24">
            <a:extLst>
              <a:ext uri="{FF2B5EF4-FFF2-40B4-BE49-F238E27FC236}">
                <a16:creationId xmlns:a16="http://schemas.microsoft.com/office/drawing/2014/main" id="{CDDF51E2-AA54-3898-F986-0D5FDFD8B700}"/>
              </a:ext>
            </a:extLst>
          </p:cNvPr>
          <p:cNvSpPr/>
          <p:nvPr/>
        </p:nvSpPr>
        <p:spPr>
          <a:xfrm>
            <a:off x="895927" y="1283855"/>
            <a:ext cx="5181600" cy="51924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lang="ko-KR" altLang="en-US" sz="1400" dirty="0"/>
              <a:t>화면 영역</a:t>
            </a:r>
          </a:p>
        </p:txBody>
      </p:sp>
      <p:sp>
        <p:nvSpPr>
          <p:cNvPr id="2" name="슬라이드 번호 개체 틀 1">
            <a:extLst>
              <a:ext uri="{FF2B5EF4-FFF2-40B4-BE49-F238E27FC236}">
                <a16:creationId xmlns:a16="http://schemas.microsoft.com/office/drawing/2014/main" id="{4D3B73B6-9533-B663-F47A-582CAB9DCB47}"/>
              </a:ext>
            </a:extLst>
          </p:cNvPr>
          <p:cNvSpPr>
            <a:spLocks noGrp="1"/>
          </p:cNvSpPr>
          <p:nvPr>
            <p:ph type="sldNum" sz="quarter" idx="4"/>
          </p:nvPr>
        </p:nvSpPr>
        <p:spPr/>
        <p:txBody>
          <a:bodyPr/>
          <a:lstStyle/>
          <a:p>
            <a:fld id="{34C8E023-7346-48FC-AB24-9A3388C53208}" type="slidenum">
              <a:rPr lang="ko-KR" altLang="en-US" smtClean="0"/>
              <a:pPr/>
              <a:t>400</a:t>
            </a:fld>
            <a:endParaRPr lang="ko-KR" altLang="en-US" dirty="0"/>
          </a:p>
        </p:txBody>
      </p:sp>
      <p:sp>
        <p:nvSpPr>
          <p:cNvPr id="3" name="텍스트 개체 틀 2">
            <a:extLst>
              <a:ext uri="{FF2B5EF4-FFF2-40B4-BE49-F238E27FC236}">
                <a16:creationId xmlns:a16="http://schemas.microsoft.com/office/drawing/2014/main" id="{4456693E-B362-1964-1F83-5ED0D9D16277}"/>
              </a:ext>
            </a:extLst>
          </p:cNvPr>
          <p:cNvSpPr>
            <a:spLocks noGrp="1"/>
          </p:cNvSpPr>
          <p:nvPr>
            <p:ph type="body" sz="quarter" idx="10"/>
          </p:nvPr>
        </p:nvSpPr>
        <p:spPr/>
        <p:txBody>
          <a:bodyPr/>
          <a:lstStyle/>
          <a:p>
            <a:r>
              <a:rPr lang="en-US" altLang="ko-KR" dirty="0"/>
              <a:t>9.3 </a:t>
            </a:r>
            <a:r>
              <a:rPr lang="ko-KR" altLang="en-US" dirty="0"/>
              <a:t>앱 구성 다이어그램</a:t>
            </a:r>
          </a:p>
        </p:txBody>
      </p:sp>
      <p:sp>
        <p:nvSpPr>
          <p:cNvPr id="9" name="직사각형 8">
            <a:extLst>
              <a:ext uri="{FF2B5EF4-FFF2-40B4-BE49-F238E27FC236}">
                <a16:creationId xmlns:a16="http://schemas.microsoft.com/office/drawing/2014/main" id="{A8EEC1B9-CC65-F7BE-5073-784BEE06A8EF}"/>
              </a:ext>
            </a:extLst>
          </p:cNvPr>
          <p:cNvSpPr/>
          <p:nvPr/>
        </p:nvSpPr>
        <p:spPr>
          <a:xfrm>
            <a:off x="3960091" y="2170157"/>
            <a:ext cx="1727200" cy="1640033"/>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100" dirty="0"/>
              <a:t>&lt;&lt;React Object&gt;&gt;</a:t>
            </a:r>
          </a:p>
          <a:p>
            <a:pPr algn="ctr"/>
            <a:endParaRPr lang="en-US" altLang="ko-KR" sz="1100" dirty="0"/>
          </a:p>
          <a:p>
            <a:pPr algn="ctr"/>
            <a:r>
              <a:rPr lang="en-US" altLang="ko-KR" sz="1100" dirty="0"/>
              <a:t>Forms</a:t>
            </a:r>
          </a:p>
          <a:p>
            <a:pPr algn="ctr"/>
            <a:r>
              <a:rPr lang="en-US" altLang="ko-KR" sz="1100" dirty="0"/>
              <a:t>Grid</a:t>
            </a:r>
          </a:p>
          <a:p>
            <a:pPr algn="ctr"/>
            <a:r>
              <a:rPr lang="en-US" altLang="ko-KR" sz="1100" dirty="0"/>
              <a:t>Container</a:t>
            </a:r>
          </a:p>
          <a:p>
            <a:pPr algn="ctr"/>
            <a:r>
              <a:rPr lang="en-US" altLang="ko-KR" sz="1100" dirty="0"/>
              <a:t>Navigation</a:t>
            </a:r>
          </a:p>
          <a:p>
            <a:pPr algn="ctr"/>
            <a:r>
              <a:rPr lang="en-US" altLang="ko-KR" sz="1100" dirty="0"/>
              <a:t>Chart</a:t>
            </a:r>
          </a:p>
          <a:p>
            <a:pPr algn="ctr"/>
            <a:r>
              <a:rPr lang="en-US" altLang="ko-KR" sz="1100" dirty="0"/>
              <a:t>Frame</a:t>
            </a:r>
          </a:p>
        </p:txBody>
      </p:sp>
      <p:cxnSp>
        <p:nvCxnSpPr>
          <p:cNvPr id="13" name="직선 화살표 연결선 12">
            <a:extLst>
              <a:ext uri="{FF2B5EF4-FFF2-40B4-BE49-F238E27FC236}">
                <a16:creationId xmlns:a16="http://schemas.microsoft.com/office/drawing/2014/main" id="{8DD2481F-89D8-25C0-6E6F-7535C857EB4B}"/>
              </a:ext>
            </a:extLst>
          </p:cNvPr>
          <p:cNvCxnSpPr>
            <a:stCxn id="6" idx="3"/>
            <a:endCxn id="9" idx="1"/>
          </p:cNvCxnSpPr>
          <p:nvPr/>
        </p:nvCxnSpPr>
        <p:spPr>
          <a:xfrm>
            <a:off x="2765244" y="2056994"/>
            <a:ext cx="1194847" cy="933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직선 화살표 연결선 13">
            <a:extLst>
              <a:ext uri="{FF2B5EF4-FFF2-40B4-BE49-F238E27FC236}">
                <a16:creationId xmlns:a16="http://schemas.microsoft.com/office/drawing/2014/main" id="{AF6B56CB-1ACF-E509-9762-CFE025648775}"/>
              </a:ext>
            </a:extLst>
          </p:cNvPr>
          <p:cNvCxnSpPr>
            <a:cxnSpLocks/>
            <a:stCxn id="7" idx="3"/>
            <a:endCxn id="9" idx="1"/>
          </p:cNvCxnSpPr>
          <p:nvPr/>
        </p:nvCxnSpPr>
        <p:spPr>
          <a:xfrm>
            <a:off x="2765244" y="2562247"/>
            <a:ext cx="1194847" cy="42792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직선 화살표 연결선 16">
            <a:extLst>
              <a:ext uri="{FF2B5EF4-FFF2-40B4-BE49-F238E27FC236}">
                <a16:creationId xmlns:a16="http://schemas.microsoft.com/office/drawing/2014/main" id="{418E1257-E5C2-5705-1378-45505004ABAF}"/>
              </a:ext>
            </a:extLst>
          </p:cNvPr>
          <p:cNvCxnSpPr>
            <a:cxnSpLocks/>
            <a:stCxn id="8" idx="3"/>
            <a:endCxn id="9" idx="1"/>
          </p:cNvCxnSpPr>
          <p:nvPr/>
        </p:nvCxnSpPr>
        <p:spPr>
          <a:xfrm flipV="1">
            <a:off x="2765244" y="2990174"/>
            <a:ext cx="1194847" cy="773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 Box 73">
            <a:extLst>
              <a:ext uri="{FF2B5EF4-FFF2-40B4-BE49-F238E27FC236}">
                <a16:creationId xmlns:a16="http://schemas.microsoft.com/office/drawing/2014/main" id="{76C9ABC8-A4D3-5907-4020-49C93E468F19}"/>
              </a:ext>
            </a:extLst>
          </p:cNvPr>
          <p:cNvSpPr txBox="1">
            <a:spLocks noChangeArrowheads="1"/>
          </p:cNvSpPr>
          <p:nvPr/>
        </p:nvSpPr>
        <p:spPr bwMode="auto">
          <a:xfrm>
            <a:off x="7334694" y="1136459"/>
            <a:ext cx="1678016"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직사각형 5">
            <a:extLst>
              <a:ext uri="{FF2B5EF4-FFF2-40B4-BE49-F238E27FC236}">
                <a16:creationId xmlns:a16="http://schemas.microsoft.com/office/drawing/2014/main" id="{3FD7B626-4B5C-AE29-EFB9-628750B32B78}"/>
              </a:ext>
            </a:extLst>
          </p:cNvPr>
          <p:cNvSpPr/>
          <p:nvPr/>
        </p:nvSpPr>
        <p:spPr>
          <a:xfrm>
            <a:off x="1038044" y="1850693"/>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공개수의협상견적서상세</a:t>
            </a:r>
            <a:r>
              <a:rPr lang="en-US" altLang="ko-KR" sz="1050" dirty="0">
                <a:solidFill>
                  <a:schemeClr val="tx1"/>
                </a:solidFill>
                <a:latin typeface="+mn-ea"/>
              </a:rPr>
              <a:t> - </a:t>
            </a:r>
            <a:r>
              <a:rPr lang="ko-KR" altLang="en-US" sz="1050" dirty="0">
                <a:solidFill>
                  <a:schemeClr val="tx1"/>
                </a:solidFill>
                <a:latin typeface="+mn-ea"/>
              </a:rPr>
              <a:t>일반정보</a:t>
            </a:r>
            <a:endParaRPr lang="en-US" altLang="ko-KR" sz="1050" dirty="0">
              <a:solidFill>
                <a:schemeClr val="tx1"/>
              </a:solidFill>
            </a:endParaRPr>
          </a:p>
          <a:p>
            <a:pPr algn="ctr">
              <a:lnSpc>
                <a:spcPct val="120000"/>
              </a:lnSpc>
            </a:pPr>
            <a:r>
              <a:rPr lang="en-US" altLang="ko-KR" sz="1050" dirty="0">
                <a:solidFill>
                  <a:schemeClr val="tx1"/>
                </a:solidFill>
                <a:latin typeface="+mn-ea"/>
              </a:rPr>
              <a:t>OvsRlsVltrnsNgtnEtdcDtlPage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7" name="직사각형 6">
            <a:extLst>
              <a:ext uri="{FF2B5EF4-FFF2-40B4-BE49-F238E27FC236}">
                <a16:creationId xmlns:a16="http://schemas.microsoft.com/office/drawing/2014/main" id="{04F2CFBC-290B-2E89-63C0-62C22747051D}"/>
              </a:ext>
            </a:extLst>
          </p:cNvPr>
          <p:cNvSpPr/>
          <p:nvPr/>
        </p:nvSpPr>
        <p:spPr>
          <a:xfrm>
            <a:off x="1038044" y="2355946"/>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공개수의협상견적서</a:t>
            </a:r>
            <a:r>
              <a:rPr lang="ko-KR" altLang="en-US" sz="1050" dirty="0" err="1">
                <a:solidFill>
                  <a:schemeClr val="tx1"/>
                </a:solidFill>
                <a:latin typeface="+mn-ea"/>
              </a:rPr>
              <a:t>상세</a:t>
            </a:r>
            <a:r>
              <a:rPr lang="en-US" altLang="ko-KR" sz="1050" dirty="0">
                <a:solidFill>
                  <a:schemeClr val="tx1"/>
                </a:solidFill>
                <a:latin typeface="맑은 고딕" panose="020B0503020000020004" pitchFamily="50" charset="-127"/>
              </a:rPr>
              <a:t> - </a:t>
            </a:r>
            <a:r>
              <a:rPr lang="ko-KR" altLang="en-US" sz="1050" dirty="0">
                <a:solidFill>
                  <a:schemeClr val="tx1"/>
                </a:solidFill>
                <a:latin typeface="맑은 고딕" panose="020B0503020000020004" pitchFamily="50" charset="-127"/>
              </a:rPr>
              <a:t>업체정보</a:t>
            </a:r>
            <a:endParaRPr lang="en-US" altLang="ko-KR" sz="1050" dirty="0">
              <a:solidFill>
                <a:schemeClr val="tx1"/>
              </a:solidFill>
            </a:endParaRPr>
          </a:p>
          <a:p>
            <a:pPr algn="ctr">
              <a:lnSpc>
                <a:spcPct val="120000"/>
              </a:lnSpc>
            </a:pPr>
            <a:r>
              <a:rPr lang="en-US" altLang="ko-KR" sz="1050" dirty="0">
                <a:solidFill>
                  <a:schemeClr val="tx1"/>
                </a:solidFill>
                <a:latin typeface="+mn-ea"/>
              </a:rPr>
              <a:t>OvsRlsVltrnsNgtnEtdcDtl2</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8" name="직사각형 7">
            <a:extLst>
              <a:ext uri="{FF2B5EF4-FFF2-40B4-BE49-F238E27FC236}">
                <a16:creationId xmlns:a16="http://schemas.microsoft.com/office/drawing/2014/main" id="{326CB017-8967-4DC4-0EAD-ADB3B9EAB841}"/>
              </a:ext>
            </a:extLst>
          </p:cNvPr>
          <p:cNvSpPr/>
          <p:nvPr/>
        </p:nvSpPr>
        <p:spPr>
          <a:xfrm>
            <a:off x="1038044" y="2861199"/>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공개수의협상견적서</a:t>
            </a:r>
            <a:r>
              <a:rPr lang="ko-KR" altLang="en-US" sz="1050" dirty="0" err="1">
                <a:solidFill>
                  <a:schemeClr val="tx1"/>
                </a:solidFill>
                <a:latin typeface="+mn-ea"/>
              </a:rPr>
              <a:t>상세</a:t>
            </a:r>
            <a:r>
              <a:rPr lang="en-US" altLang="ko-KR" sz="1050" dirty="0">
                <a:solidFill>
                  <a:schemeClr val="tx1"/>
                </a:solidFill>
                <a:latin typeface="맑은 고딕" panose="020B0503020000020004" pitchFamily="50" charset="-127"/>
              </a:rPr>
              <a:t> - </a:t>
            </a:r>
            <a:r>
              <a:rPr lang="ko-KR" altLang="en-US" sz="1050" dirty="0" err="1">
                <a:solidFill>
                  <a:schemeClr val="tx1"/>
                </a:solidFill>
                <a:latin typeface="맑은 고딕" panose="020B0503020000020004" pitchFamily="50" charset="-127"/>
              </a:rPr>
              <a:t>입찰품목</a:t>
            </a:r>
            <a:endParaRPr lang="en-US" altLang="ko-KR" sz="1050" dirty="0">
              <a:solidFill>
                <a:schemeClr val="tx1"/>
              </a:solidFill>
            </a:endParaRPr>
          </a:p>
          <a:p>
            <a:pPr algn="ctr">
              <a:lnSpc>
                <a:spcPct val="120000"/>
              </a:lnSpc>
            </a:pPr>
            <a:r>
              <a:rPr lang="en-US" altLang="ko-KR" sz="1050" dirty="0">
                <a:solidFill>
                  <a:schemeClr val="tx1"/>
                </a:solidFill>
                <a:latin typeface="+mn-ea"/>
              </a:rPr>
              <a:t>OvsRlsVltrnsNgtnEtdcDtl3</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4" name="직사각형 23">
            <a:extLst>
              <a:ext uri="{FF2B5EF4-FFF2-40B4-BE49-F238E27FC236}">
                <a16:creationId xmlns:a16="http://schemas.microsoft.com/office/drawing/2014/main" id="{326CB017-8967-4DC4-0EAD-ADB3B9EAB841}"/>
              </a:ext>
            </a:extLst>
          </p:cNvPr>
          <p:cNvSpPr/>
          <p:nvPr/>
        </p:nvSpPr>
        <p:spPr>
          <a:xfrm>
            <a:off x="1038044" y="3366452"/>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맑은 고딕" panose="020B0503020000020004" pitchFamily="50" charset="-127"/>
              </a:rPr>
              <a:t>공개수의협상견적서</a:t>
            </a:r>
            <a:r>
              <a:rPr lang="ko-KR" altLang="en-US" sz="1050" dirty="0" err="1">
                <a:solidFill>
                  <a:schemeClr val="tx1"/>
                </a:solidFill>
                <a:latin typeface="+mn-ea"/>
              </a:rPr>
              <a:t>상세</a:t>
            </a:r>
            <a:r>
              <a:rPr lang="en-US" altLang="ko-KR" sz="1050" dirty="0">
                <a:solidFill>
                  <a:schemeClr val="tx1"/>
                </a:solidFill>
                <a:latin typeface="맑은 고딕" panose="020B0503020000020004" pitchFamily="50" charset="-127"/>
              </a:rPr>
              <a:t> - </a:t>
            </a:r>
            <a:r>
              <a:rPr lang="ko-KR" altLang="en-US" sz="1050" dirty="0">
                <a:solidFill>
                  <a:schemeClr val="tx1"/>
                </a:solidFill>
                <a:latin typeface="맑은 고딕" panose="020B0503020000020004" pitchFamily="50" charset="-127"/>
              </a:rPr>
              <a:t>첨부파일</a:t>
            </a:r>
            <a:endParaRPr lang="en-US" altLang="ko-KR" sz="1050" dirty="0">
              <a:solidFill>
                <a:schemeClr val="tx1"/>
              </a:solidFill>
            </a:endParaRPr>
          </a:p>
          <a:p>
            <a:pPr algn="ctr">
              <a:lnSpc>
                <a:spcPct val="120000"/>
              </a:lnSpc>
            </a:pPr>
            <a:r>
              <a:rPr lang="en-US" altLang="ko-KR" sz="1050" dirty="0">
                <a:solidFill>
                  <a:schemeClr val="tx1"/>
                </a:solidFill>
                <a:latin typeface="+mn-ea"/>
              </a:rPr>
              <a:t>OvsRlsVltrnsNgtnEtdcDtl4</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7" name="직사각형 26">
            <a:extLst>
              <a:ext uri="{FF2B5EF4-FFF2-40B4-BE49-F238E27FC236}">
                <a16:creationId xmlns:a16="http://schemas.microsoft.com/office/drawing/2014/main" id="{326CB017-8967-4DC4-0EAD-ADB3B9EAB841}"/>
              </a:ext>
            </a:extLst>
          </p:cNvPr>
          <p:cNvSpPr/>
          <p:nvPr/>
        </p:nvSpPr>
        <p:spPr>
          <a:xfrm>
            <a:off x="1038044" y="3871705"/>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55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공개수의협상견적서취소신청서작성</a:t>
            </a:r>
            <a:endParaRPr lang="en-US" altLang="ko-KR" sz="1050" dirty="0">
              <a:solidFill>
                <a:schemeClr val="tx1"/>
              </a:solidFill>
            </a:endParaRPr>
          </a:p>
          <a:p>
            <a:pPr algn="ctr">
              <a:lnSpc>
                <a:spcPct val="120000"/>
              </a:lnSpc>
            </a:pPr>
            <a:r>
              <a:rPr lang="en-US" altLang="ko-KR" sz="1050" dirty="0">
                <a:solidFill>
                  <a:schemeClr val="tx1"/>
                </a:solidFill>
                <a:latin typeface="+mn-ea"/>
              </a:rPr>
              <a:t>OvsRlsVltrnsNgtnEtdcRtrcnApfrWrt</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sp>
        <p:nvSpPr>
          <p:cNvPr id="28" name="직사각형 27">
            <a:extLst>
              <a:ext uri="{FF2B5EF4-FFF2-40B4-BE49-F238E27FC236}">
                <a16:creationId xmlns:a16="http://schemas.microsoft.com/office/drawing/2014/main" id="{326CB017-8967-4DC4-0EAD-ADB3B9EAB841}"/>
              </a:ext>
            </a:extLst>
          </p:cNvPr>
          <p:cNvSpPr/>
          <p:nvPr/>
        </p:nvSpPr>
        <p:spPr>
          <a:xfrm>
            <a:off x="1038044" y="4376958"/>
            <a:ext cx="1727200" cy="412601"/>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70000" lnSpcReduction="20000"/>
          </a:bodyPr>
          <a:lstStyle/>
          <a:p>
            <a:pPr algn="ctr">
              <a:lnSpc>
                <a:spcPct val="120000"/>
              </a:lnSpc>
            </a:pPr>
            <a:r>
              <a:rPr lang="en-US" altLang="ko-KR" sz="1050" dirty="0">
                <a:solidFill>
                  <a:schemeClr val="tx1"/>
                </a:solidFill>
              </a:rPr>
              <a:t>&lt;&lt;App Page&gt;&gt;</a:t>
            </a:r>
          </a:p>
          <a:p>
            <a:pPr algn="ctr">
              <a:lnSpc>
                <a:spcPct val="120000"/>
              </a:lnSpc>
            </a:pPr>
            <a:r>
              <a:rPr lang="ko-KR" altLang="en-US" sz="1050" dirty="0" err="1">
                <a:solidFill>
                  <a:schemeClr val="tx1"/>
                </a:solidFill>
                <a:latin typeface="+mn-ea"/>
              </a:rPr>
              <a:t>공개수의협상결과조회</a:t>
            </a:r>
            <a:endParaRPr lang="en-US" altLang="ko-KR" sz="1050" dirty="0">
              <a:solidFill>
                <a:schemeClr val="tx1"/>
              </a:solidFill>
            </a:endParaRPr>
          </a:p>
          <a:p>
            <a:pPr algn="ctr">
              <a:lnSpc>
                <a:spcPct val="120000"/>
              </a:lnSpc>
            </a:pPr>
            <a:r>
              <a:rPr lang="en-US" altLang="ko-KR" sz="1050" dirty="0">
                <a:solidFill>
                  <a:schemeClr val="tx1"/>
                </a:solidFill>
                <a:latin typeface="+mn-ea"/>
              </a:rPr>
              <a:t>OvsRlsVltrnsNgtnSrngRsltInqPage</a:t>
            </a:r>
            <a:r>
              <a:rPr lang="en-US" altLang="ko-KR" sz="1050" dirty="0">
                <a:solidFill>
                  <a:schemeClr val="tx1"/>
                </a:solidFill>
              </a:rPr>
              <a:t>.tsx</a:t>
            </a:r>
            <a:r>
              <a:rPr lang="en-US" altLang="ko-KR" sz="1050" b="1" baseline="30000" dirty="0">
                <a:solidFill>
                  <a:schemeClr val="tx1"/>
                </a:solidFill>
                <a:latin typeface="+mn-ea"/>
              </a:rPr>
              <a:t>1)</a:t>
            </a:r>
            <a:endParaRPr lang="en-US" altLang="ko-KR" sz="1050" dirty="0">
              <a:solidFill>
                <a:schemeClr val="tx1"/>
              </a:solidFill>
            </a:endParaRPr>
          </a:p>
        </p:txBody>
      </p:sp>
      <p:cxnSp>
        <p:nvCxnSpPr>
          <p:cNvPr id="30" name="직선 화살표 연결선 29">
            <a:extLst>
              <a:ext uri="{FF2B5EF4-FFF2-40B4-BE49-F238E27FC236}">
                <a16:creationId xmlns:a16="http://schemas.microsoft.com/office/drawing/2014/main" id="{418E1257-E5C2-5705-1378-45505004ABAF}"/>
              </a:ext>
            </a:extLst>
          </p:cNvPr>
          <p:cNvCxnSpPr>
            <a:cxnSpLocks/>
            <a:stCxn id="24" idx="3"/>
            <a:endCxn id="9" idx="1"/>
          </p:cNvCxnSpPr>
          <p:nvPr/>
        </p:nvCxnSpPr>
        <p:spPr>
          <a:xfrm flipV="1">
            <a:off x="2765244" y="2990174"/>
            <a:ext cx="1194847" cy="5825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직선 화살표 연결선 30">
            <a:extLst>
              <a:ext uri="{FF2B5EF4-FFF2-40B4-BE49-F238E27FC236}">
                <a16:creationId xmlns:a16="http://schemas.microsoft.com/office/drawing/2014/main" id="{418E1257-E5C2-5705-1378-45505004ABAF}"/>
              </a:ext>
            </a:extLst>
          </p:cNvPr>
          <p:cNvCxnSpPr>
            <a:cxnSpLocks/>
            <a:stCxn id="27" idx="3"/>
            <a:endCxn id="9" idx="1"/>
          </p:cNvCxnSpPr>
          <p:nvPr/>
        </p:nvCxnSpPr>
        <p:spPr>
          <a:xfrm flipV="1">
            <a:off x="2765244" y="2990174"/>
            <a:ext cx="1194847" cy="10878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직선 화살표 연결선 33">
            <a:extLst>
              <a:ext uri="{FF2B5EF4-FFF2-40B4-BE49-F238E27FC236}">
                <a16:creationId xmlns:a16="http://schemas.microsoft.com/office/drawing/2014/main" id="{418E1257-E5C2-5705-1378-45505004ABAF}"/>
              </a:ext>
            </a:extLst>
          </p:cNvPr>
          <p:cNvCxnSpPr>
            <a:cxnSpLocks/>
            <a:stCxn id="28" idx="3"/>
            <a:endCxn id="9" idx="1"/>
          </p:cNvCxnSpPr>
          <p:nvPr/>
        </p:nvCxnSpPr>
        <p:spPr>
          <a:xfrm flipV="1">
            <a:off x="2765244" y="2990174"/>
            <a:ext cx="1194847" cy="159308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4" name="직사각형 43">
            <a:extLst>
              <a:ext uri="{FF2B5EF4-FFF2-40B4-BE49-F238E27FC236}">
                <a16:creationId xmlns:a16="http://schemas.microsoft.com/office/drawing/2014/main" id="{DCD2B03C-59E6-A2C5-6CA3-6C41E384FAEA}"/>
              </a:ext>
            </a:extLst>
          </p:cNvPr>
          <p:cNvSpPr/>
          <p:nvPr/>
        </p:nvSpPr>
        <p:spPr>
          <a:xfrm>
            <a:off x="749717" y="1026000"/>
            <a:ext cx="1946169" cy="18466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r>
              <a:rPr lang="en-US" altLang="ko-KR" sz="1200" dirty="0">
                <a:solidFill>
                  <a:schemeClr val="tx1"/>
                </a:solidFill>
              </a:rPr>
              <a:t>9.3.1 </a:t>
            </a:r>
            <a:r>
              <a:rPr lang="ko-KR" altLang="en-US" sz="1200" dirty="0">
                <a:solidFill>
                  <a:schemeClr val="tx1"/>
                </a:solidFill>
              </a:rPr>
              <a:t>국외 개찰 </a:t>
            </a:r>
            <a:r>
              <a:rPr lang="en-US" altLang="ko-KR" sz="1200" dirty="0">
                <a:solidFill>
                  <a:schemeClr val="tx1"/>
                </a:solidFill>
              </a:rPr>
              <a:t>(2/2)</a:t>
            </a:r>
            <a:endParaRPr lang="ko-KR" altLang="en-US" sz="1200" dirty="0">
              <a:solidFill>
                <a:schemeClr val="tx1"/>
              </a:solidFill>
            </a:endParaRPr>
          </a:p>
        </p:txBody>
      </p:sp>
      <p:sp>
        <p:nvSpPr>
          <p:cNvPr id="23" name="직사각형 22">
            <a:extLst>
              <a:ext uri="{FF2B5EF4-FFF2-40B4-BE49-F238E27FC236}">
                <a16:creationId xmlns:a16="http://schemas.microsoft.com/office/drawing/2014/main" id="{BE6CF8B0-B538-B16B-F0EB-F1F49287D1E5}"/>
              </a:ext>
            </a:extLst>
          </p:cNvPr>
          <p:cNvSpPr/>
          <p:nvPr/>
        </p:nvSpPr>
        <p:spPr>
          <a:xfrm>
            <a:off x="6913418" y="2747194"/>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err="1"/>
              <a:t>입찰실시</a:t>
            </a:r>
            <a:r>
              <a:rPr lang="en-US" altLang="ko-KR" sz="1100" dirty="0"/>
              <a:t>Controller&gt;&gt;</a:t>
            </a:r>
          </a:p>
          <a:p>
            <a:pPr algn="ctr"/>
            <a:r>
              <a:rPr lang="en-US" altLang="ko-KR" sz="1100" dirty="0" err="1" smtClean="0"/>
              <a:t>BidEnfrcController</a:t>
            </a:r>
            <a:endParaRPr lang="en-US" altLang="ko-KR" sz="1100" dirty="0"/>
          </a:p>
        </p:txBody>
      </p:sp>
      <p:cxnSp>
        <p:nvCxnSpPr>
          <p:cNvPr id="29" name="직선 연결선 28">
            <a:extLst>
              <a:ext uri="{FF2B5EF4-FFF2-40B4-BE49-F238E27FC236}">
                <a16:creationId xmlns:a16="http://schemas.microsoft.com/office/drawing/2014/main" id="{A8B10782-0A07-A41D-DB15-978B72410A31}"/>
              </a:ext>
            </a:extLst>
          </p:cNvPr>
          <p:cNvCxnSpPr>
            <a:endCxn id="23" idx="1"/>
          </p:cNvCxnSpPr>
          <p:nvPr/>
        </p:nvCxnSpPr>
        <p:spPr>
          <a:xfrm>
            <a:off x="5687291" y="2990174"/>
            <a:ext cx="1226127" cy="0"/>
          </a:xfrm>
          <a:prstGeom prst="line">
            <a:avLst/>
          </a:prstGeom>
        </p:spPr>
        <p:style>
          <a:lnRef idx="1">
            <a:schemeClr val="dk1"/>
          </a:lnRef>
          <a:fillRef idx="0">
            <a:schemeClr val="dk1"/>
          </a:fillRef>
          <a:effectRef idx="0">
            <a:schemeClr val="dk1"/>
          </a:effectRef>
          <a:fontRef idx="minor">
            <a:schemeClr val="tx1"/>
          </a:fontRef>
        </p:style>
      </p:cxnSp>
      <p:sp>
        <p:nvSpPr>
          <p:cNvPr id="32" name="직사각형 31">
            <a:extLst>
              <a:ext uri="{FF2B5EF4-FFF2-40B4-BE49-F238E27FC236}">
                <a16:creationId xmlns:a16="http://schemas.microsoft.com/office/drawing/2014/main" id="{BE6CF8B0-B538-B16B-F0EB-F1F49287D1E5}"/>
              </a:ext>
            </a:extLst>
          </p:cNvPr>
          <p:cNvSpPr/>
          <p:nvPr/>
        </p:nvSpPr>
        <p:spPr>
          <a:xfrm>
            <a:off x="6913418" y="3476133"/>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rmAutofit fontScale="92500"/>
          </a:bodyPr>
          <a:lstStyle/>
          <a:p>
            <a:pPr algn="ctr"/>
            <a:r>
              <a:rPr lang="en-US" altLang="ko-KR" sz="1100" dirty="0"/>
              <a:t>&lt;&lt;</a:t>
            </a:r>
            <a:r>
              <a:rPr lang="ko-KR" altLang="en-US" sz="1100" dirty="0"/>
              <a:t>입찰결과</a:t>
            </a:r>
            <a:r>
              <a:rPr lang="en-US" altLang="ko-KR" sz="1100" dirty="0"/>
              <a:t>Controller&gt;&gt;</a:t>
            </a:r>
          </a:p>
          <a:p>
            <a:pPr algn="ctr"/>
            <a:r>
              <a:rPr lang="en-US" altLang="ko-KR" sz="1100" dirty="0" err="1" smtClean="0"/>
              <a:t>BidRsltController</a:t>
            </a:r>
            <a:endParaRPr lang="en-US" altLang="ko-KR" sz="1100" dirty="0"/>
          </a:p>
        </p:txBody>
      </p:sp>
      <p:cxnSp>
        <p:nvCxnSpPr>
          <p:cNvPr id="33" name="직선 연결선 32">
            <a:extLst>
              <a:ext uri="{FF2B5EF4-FFF2-40B4-BE49-F238E27FC236}">
                <a16:creationId xmlns:a16="http://schemas.microsoft.com/office/drawing/2014/main" id="{A8B10782-0A07-A41D-DB15-978B72410A31}"/>
              </a:ext>
            </a:extLst>
          </p:cNvPr>
          <p:cNvCxnSpPr>
            <a:endCxn id="32" idx="1"/>
          </p:cNvCxnSpPr>
          <p:nvPr/>
        </p:nvCxnSpPr>
        <p:spPr>
          <a:xfrm>
            <a:off x="5687291" y="2990174"/>
            <a:ext cx="1226127" cy="728939"/>
          </a:xfrm>
          <a:prstGeom prst="line">
            <a:avLst/>
          </a:prstGeom>
        </p:spPr>
        <p:style>
          <a:lnRef idx="1">
            <a:schemeClr val="dk1"/>
          </a:lnRef>
          <a:fillRef idx="0">
            <a:schemeClr val="dk1"/>
          </a:fillRef>
          <a:effectRef idx="0">
            <a:schemeClr val="dk1"/>
          </a:effectRef>
          <a:fontRef idx="minor">
            <a:schemeClr val="tx1"/>
          </a:fontRef>
        </p:style>
      </p:cxnSp>
      <p:sp>
        <p:nvSpPr>
          <p:cNvPr id="35" name="직사각형 34">
            <a:extLst>
              <a:ext uri="{FF2B5EF4-FFF2-40B4-BE49-F238E27FC236}">
                <a16:creationId xmlns:a16="http://schemas.microsoft.com/office/drawing/2014/main" id="{BE6CF8B0-B538-B16B-F0EB-F1F49287D1E5}"/>
              </a:ext>
            </a:extLst>
          </p:cNvPr>
          <p:cNvSpPr/>
          <p:nvPr/>
        </p:nvSpPr>
        <p:spPr>
          <a:xfrm>
            <a:off x="6913418" y="4247278"/>
            <a:ext cx="1727200" cy="485959"/>
          </a:xfrm>
          <a:prstGeom prst="rect">
            <a:avLst/>
          </a:prstGeom>
          <a:ln w="9525">
            <a:solidFill>
              <a:schemeClr val="tx1">
                <a:lumMod val="75000"/>
                <a:lumOff val="25000"/>
              </a:schemeClr>
            </a:solidFill>
          </a:ln>
        </p:spPr>
        <p:style>
          <a:lnRef idx="2">
            <a:schemeClr val="dk1"/>
          </a:lnRef>
          <a:fillRef idx="1">
            <a:schemeClr val="lt1"/>
          </a:fillRef>
          <a:effectRef idx="0">
            <a:schemeClr val="dk1"/>
          </a:effectRef>
          <a:fontRef idx="minor">
            <a:schemeClr val="dk1"/>
          </a:fontRef>
        </p:style>
        <p:txBody>
          <a:bodyPr rtlCol="0" anchor="ctr">
            <a:noAutofit/>
          </a:bodyPr>
          <a:lstStyle/>
          <a:p>
            <a:pPr algn="ctr"/>
            <a:r>
              <a:rPr lang="en-US" altLang="ko-KR" sz="800" dirty="0"/>
              <a:t>&lt;&lt; </a:t>
            </a:r>
            <a:r>
              <a:rPr lang="ko-KR" altLang="en-US" sz="800" dirty="0"/>
              <a:t>공개수의협상</a:t>
            </a:r>
            <a:r>
              <a:rPr lang="en-US" altLang="ko-KR" sz="800" dirty="0"/>
              <a:t>Controller&gt;&gt;</a:t>
            </a:r>
          </a:p>
          <a:p>
            <a:pPr algn="ctr"/>
            <a:r>
              <a:rPr lang="en-US" altLang="ko-KR" sz="800" dirty="0" err="1"/>
              <a:t>RlsVltrnsNgtnController</a:t>
            </a:r>
            <a:endParaRPr lang="en-US" altLang="ko-KR" sz="800" dirty="0"/>
          </a:p>
        </p:txBody>
      </p:sp>
      <p:cxnSp>
        <p:nvCxnSpPr>
          <p:cNvPr id="36" name="직선 연결선 35">
            <a:extLst>
              <a:ext uri="{FF2B5EF4-FFF2-40B4-BE49-F238E27FC236}">
                <a16:creationId xmlns:a16="http://schemas.microsoft.com/office/drawing/2014/main" id="{A8B10782-0A07-A41D-DB15-978B72410A31}"/>
              </a:ext>
            </a:extLst>
          </p:cNvPr>
          <p:cNvCxnSpPr>
            <a:endCxn id="35" idx="1"/>
          </p:cNvCxnSpPr>
          <p:nvPr/>
        </p:nvCxnSpPr>
        <p:spPr>
          <a:xfrm>
            <a:off x="5687291" y="2990174"/>
            <a:ext cx="1226127" cy="1500084"/>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034299871"/>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88900" indent="-88900">
              <a:buFont typeface="+mj-lt"/>
              <a:buAutoNum type="arabicPeriod"/>
            </a:pPr>
            <a:r>
              <a:rPr lang="ko-KR" altLang="en-US" dirty="0"/>
              <a:t>타이틀 표시</a:t>
            </a:r>
            <a:endParaRPr lang="en-US" altLang="ko-KR" dirty="0"/>
          </a:p>
          <a:p>
            <a:pPr marL="88900" indent="-88900">
              <a:buFont typeface="+mj-lt"/>
              <a:buAutoNum type="arabicPeriod"/>
            </a:pPr>
            <a:r>
              <a:rPr lang="ko-KR" altLang="en-US" dirty="0"/>
              <a:t>탭 메뉴</a:t>
            </a:r>
            <a:endParaRPr lang="en-US" altLang="ko-KR" dirty="0"/>
          </a:p>
          <a:p>
            <a:pPr marL="88900" indent="-88900">
              <a:buFont typeface="+mj-lt"/>
              <a:buAutoNum type="arabicPeriod"/>
            </a:pPr>
            <a:r>
              <a:rPr lang="ko-KR" altLang="en-US" dirty="0" err="1"/>
              <a:t>일반정보에</a:t>
            </a:r>
            <a:r>
              <a:rPr lang="ko-KR" altLang="en-US" dirty="0"/>
              <a:t> 포함된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401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입찰결과조회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입찰결과를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a:latin typeface="+mn-ea"/>
              </a:rPr>
              <a:t>입찰 결과 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 결과 조회</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085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158410"/>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500MD</a:t>
            </a:r>
            <a:r>
              <a:rPr lang="ko-KR" altLang="en-US" sz="900" b="1" dirty="0"/>
              <a:t>부품</a:t>
            </a:r>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493475"/>
            <a:ext cx="769441" cy="674672"/>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입찰업체</a:t>
            </a:r>
            <a:endParaRPr lang="en-US" altLang="ko-KR" sz="600" dirty="0">
              <a:latin typeface="+mn-ea"/>
            </a:endParaRPr>
          </a:p>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입찰참가등록마감일시</a:t>
            </a:r>
            <a:endParaRPr lang="en-US" altLang="ko-KR" sz="600" dirty="0">
              <a:latin typeface="+mn-ea"/>
            </a:endParaRPr>
          </a:p>
          <a:p>
            <a:pPr>
              <a:lnSpc>
                <a:spcPct val="150000"/>
              </a:lnSpc>
            </a:pPr>
            <a:r>
              <a:rPr lang="ko-KR" altLang="en-US" sz="600" dirty="0">
                <a:latin typeface="+mn-ea"/>
              </a:rPr>
              <a:t>입찰서제출마감일시</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586685" y="2478086"/>
            <a:ext cx="618759" cy="692497"/>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A </a:t>
            </a:r>
            <a:r>
              <a:rPr lang="ko-KR" altLang="en-US" sz="600" dirty="0">
                <a:latin typeface="+mn-ea"/>
              </a:rPr>
              <a:t>해외업체</a:t>
            </a:r>
            <a:endParaRPr lang="en-US" altLang="ko-KR" sz="600" dirty="0">
              <a:latin typeface="+mn-ea"/>
            </a:endParaRPr>
          </a:p>
          <a:p>
            <a:pPr algn="r">
              <a:lnSpc>
                <a:spcPct val="150000"/>
              </a:lnSpc>
            </a:pPr>
            <a:r>
              <a:rPr lang="en-US" altLang="ko-KR" sz="600" dirty="0">
                <a:latin typeface="+mn-ea"/>
              </a:rPr>
              <a:t>BDF01823-002</a:t>
            </a:r>
          </a:p>
          <a:p>
            <a:pPr algn="r">
              <a:lnSpc>
                <a:spcPct val="150000"/>
              </a:lnSpc>
            </a:pPr>
            <a:r>
              <a:rPr lang="en-US" altLang="ko-KR" sz="600" dirty="0">
                <a:latin typeface="+mn-ea"/>
              </a:rPr>
              <a:t>2026-03-17 15:00</a:t>
            </a:r>
          </a:p>
          <a:p>
            <a:pPr algn="r">
              <a:lnSpc>
                <a:spcPct val="150000"/>
              </a:lnSpc>
            </a:pPr>
            <a:r>
              <a:rPr lang="en-US" altLang="ko-KR" sz="600" dirty="0">
                <a:latin typeface="+mn-ea"/>
              </a:rPr>
              <a:t>2026-03-26 11:00</a:t>
            </a:r>
          </a:p>
          <a:p>
            <a:pPr>
              <a:lnSpc>
                <a:spcPct val="150000"/>
              </a:lnSpc>
            </a:pPr>
            <a:r>
              <a:rPr lang="en-US" altLang="ko-KR" sz="600" dirty="0">
                <a:latin typeface="+mn-ea"/>
              </a:rPr>
              <a:t>2026-03-30</a:t>
            </a:r>
            <a:endParaRPr lang="ko-KR" altLang="en-US" sz="600" dirty="0">
              <a:latin typeface="+mn-ea"/>
            </a:endParaRP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3426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369704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480436"/>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83459" y="3480436"/>
            <a:ext cx="447776" cy="107722"/>
          </a:xfrm>
          <a:prstGeom prst="rect">
            <a:avLst/>
          </a:prstGeom>
          <a:noFill/>
        </p:spPr>
        <p:txBody>
          <a:bodyPr wrap="square" lIns="0" tIns="0" rIns="0" bIns="0" rtlCol="0">
            <a:spAutoFit/>
          </a:bodyPr>
          <a:lstStyle/>
          <a:p>
            <a:pPr algn="ctr"/>
            <a:r>
              <a:rPr lang="ko-KR" altLang="en-US" sz="700" dirty="0">
                <a:latin typeface="+mn-ea"/>
              </a:rPr>
              <a:t>입찰 결과</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3697043"/>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442313"/>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77" name="타원 27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4802272"/>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299917"/>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81" name="타원 180">
            <a:extLst>
              <a:ext uri="{FF2B5EF4-FFF2-40B4-BE49-F238E27FC236}">
                <a16:creationId xmlns:a16="http://schemas.microsoft.com/office/drawing/2014/main" id="{37A7FF4F-0EAA-1463-560A-D5EC24416103}"/>
              </a:ext>
            </a:extLst>
          </p:cNvPr>
          <p:cNvSpPr/>
          <p:nvPr/>
        </p:nvSpPr>
        <p:spPr>
          <a:xfrm>
            <a:off x="571127" y="344823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500MD</a:t>
            </a:r>
            <a:r>
              <a:rPr lang="ko-KR" altLang="en-US" sz="900" b="1" dirty="0"/>
              <a:t>부품</a:t>
            </a: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4022" y="2467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3867701" y="2250612"/>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386991" y="2250612"/>
            <a:ext cx="447776" cy="107722"/>
          </a:xfrm>
          <a:prstGeom prst="rect">
            <a:avLst/>
          </a:prstGeom>
          <a:noFill/>
        </p:spPr>
        <p:txBody>
          <a:bodyPr wrap="square" lIns="0" tIns="0" rIns="0" bIns="0" rtlCol="0">
            <a:spAutoFit/>
          </a:bodyPr>
          <a:lstStyle/>
          <a:p>
            <a:pPr algn="ctr"/>
            <a:r>
              <a:rPr lang="ko-KR" altLang="en-US" sz="700" dirty="0">
                <a:latin typeface="+mn-ea"/>
              </a:rPr>
              <a:t>입찰 결과</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24022" y="2467219"/>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1" name="그룹 230"/>
          <p:cNvGrpSpPr/>
          <p:nvPr/>
        </p:nvGrpSpPr>
        <p:grpSpPr>
          <a:xfrm>
            <a:off x="6027618" y="2212489"/>
            <a:ext cx="422853" cy="187961"/>
            <a:chOff x="3641308" y="2234886"/>
            <a:chExt cx="422853" cy="187961"/>
          </a:xfrm>
        </p:grpSpPr>
        <p:sp>
          <p:nvSpPr>
            <p:cNvPr id="232" name="타원 23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5400000" flipH="1">
              <a:off x="3679895" y="2305364"/>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4" name="타원 23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6" name="그룹 245"/>
            <p:cNvGrpSpPr/>
            <p:nvPr/>
          </p:nvGrpSpPr>
          <p:grpSpPr>
            <a:xfrm rot="16200000">
              <a:off x="3931564" y="2305364"/>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32" name="타원 331">
            <a:extLst>
              <a:ext uri="{FF2B5EF4-FFF2-40B4-BE49-F238E27FC236}">
                <a16:creationId xmlns:a16="http://schemas.microsoft.com/office/drawing/2014/main" id="{37A7FF4F-0EAA-1463-560A-D5EC24416103}"/>
              </a:ext>
            </a:extLst>
          </p:cNvPr>
          <p:cNvSpPr/>
          <p:nvPr/>
        </p:nvSpPr>
        <p:spPr>
          <a:xfrm>
            <a:off x="3717693" y="260718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49" name="모서리가 둥근 직사각형 148"/>
          <p:cNvSpPr/>
          <p:nvPr/>
        </p:nvSpPr>
        <p:spPr>
          <a:xfrm>
            <a:off x="1501250" y="1974079"/>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150" name="모서리가 둥근 직사각형 149"/>
          <p:cNvSpPr/>
          <p:nvPr/>
        </p:nvSpPr>
        <p:spPr>
          <a:xfrm>
            <a:off x="1057559" y="197407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151" name="모서리가 둥근 직사각형 150"/>
          <p:cNvSpPr/>
          <p:nvPr/>
        </p:nvSpPr>
        <p:spPr>
          <a:xfrm>
            <a:off x="777000" y="1974079"/>
            <a:ext cx="24217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155" name="모서리가 둥근 직사각형 154"/>
          <p:cNvSpPr/>
          <p:nvPr/>
        </p:nvSpPr>
        <p:spPr>
          <a:xfrm>
            <a:off x="4595114" y="1600627"/>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156" name="모서리가 둥근 직사각형 155"/>
          <p:cNvSpPr/>
          <p:nvPr/>
        </p:nvSpPr>
        <p:spPr>
          <a:xfrm>
            <a:off x="4151423" y="160062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경쟁입찰</a:t>
            </a:r>
          </a:p>
        </p:txBody>
      </p:sp>
      <p:sp>
        <p:nvSpPr>
          <p:cNvPr id="157" name="모서리가 둥근 직사각형 156"/>
          <p:cNvSpPr/>
          <p:nvPr/>
        </p:nvSpPr>
        <p:spPr>
          <a:xfrm>
            <a:off x="3864811" y="1600627"/>
            <a:ext cx="24284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grpSp>
        <p:nvGrpSpPr>
          <p:cNvPr id="6" name="그룹 5"/>
          <p:cNvGrpSpPr/>
          <p:nvPr/>
        </p:nvGrpSpPr>
        <p:grpSpPr>
          <a:xfrm>
            <a:off x="720490" y="3803374"/>
            <a:ext cx="2660475" cy="2461921"/>
            <a:chOff x="720490" y="3803374"/>
            <a:chExt cx="2660475" cy="2461921"/>
          </a:xfrm>
        </p:grpSpPr>
        <p:sp>
          <p:nvSpPr>
            <p:cNvPr id="106" name="TextBox 105">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3916705"/>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err="1">
                  <a:latin typeface="+mn-ea"/>
                </a:rPr>
                <a:t>입찰유형</a:t>
              </a:r>
              <a:endParaRPr lang="ko-KR" altLang="en-US" sz="700" dirty="0">
                <a:latin typeface="+mn-ea"/>
              </a:endParaRPr>
            </a:p>
            <a:p>
              <a:pPr>
                <a:lnSpc>
                  <a:spcPct val="200000"/>
                </a:lnSpc>
              </a:pPr>
              <a:r>
                <a:rPr lang="ko-KR" altLang="en-US" sz="700" dirty="0" err="1">
                  <a:latin typeface="+mn-ea"/>
                </a:rPr>
                <a:t>입찰매체</a:t>
              </a:r>
              <a:endParaRPr lang="en-US" altLang="ko-KR" sz="700" dirty="0">
                <a:latin typeface="+mn-ea"/>
              </a:endParaRPr>
            </a:p>
            <a:p>
              <a:pPr>
                <a:lnSpc>
                  <a:spcPct val="200000"/>
                </a:lnSpc>
              </a:pPr>
              <a:r>
                <a:rPr lang="ko-KR" altLang="en-US" sz="700" dirty="0">
                  <a:latin typeface="+mn-ea"/>
                </a:rPr>
                <a:t>계약방법</a:t>
              </a:r>
            </a:p>
            <a:p>
              <a:pPr>
                <a:lnSpc>
                  <a:spcPct val="200000"/>
                </a:lnSpc>
              </a:pPr>
              <a:r>
                <a:rPr lang="en-US" altLang="ko-KR" sz="700" dirty="0">
                  <a:latin typeface="+mn-ea"/>
                </a:rPr>
                <a:t>⁞</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단가제</a:t>
              </a:r>
              <a:endParaRPr lang="en-US" altLang="ko-KR" sz="700" dirty="0">
                <a:latin typeface="+mn-ea"/>
              </a:endParaRPr>
            </a:p>
            <a:p>
              <a:pPr>
                <a:lnSpc>
                  <a:spcPct val="200000"/>
                </a:lnSpc>
              </a:pPr>
              <a:r>
                <a:rPr lang="ko-KR" altLang="en-US" sz="700" dirty="0">
                  <a:latin typeface="+mn-ea"/>
                </a:rPr>
                <a:t>전자입찰</a:t>
              </a:r>
              <a:endParaRPr lang="en-US" altLang="ko-KR" sz="700" dirty="0">
                <a:latin typeface="+mn-ea"/>
              </a:endParaRPr>
            </a:p>
            <a:p>
              <a:pPr>
                <a:lnSpc>
                  <a:spcPct val="200000"/>
                </a:lnSpc>
              </a:pPr>
              <a:r>
                <a:rPr lang="ko-KR" altLang="en-US" sz="700" dirty="0">
                  <a:latin typeface="+mn-ea"/>
                </a:rPr>
                <a:t>일반경쟁</a:t>
              </a:r>
              <a:endParaRPr lang="en-US" altLang="ko-KR" sz="700" dirty="0">
                <a:latin typeface="+mn-ea"/>
              </a:endParaRPr>
            </a:p>
            <a:p>
              <a:pPr>
                <a:lnSpc>
                  <a:spcPct val="200000"/>
                </a:lnSpc>
              </a:pPr>
              <a:r>
                <a:rPr lang="en-US" altLang="ko-KR" sz="700" dirty="0">
                  <a:latin typeface="+mn-ea"/>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63" name="그룹 162"/>
          <p:cNvGrpSpPr/>
          <p:nvPr/>
        </p:nvGrpSpPr>
        <p:grpSpPr>
          <a:xfrm>
            <a:off x="3821510" y="2565526"/>
            <a:ext cx="2660475" cy="2461921"/>
            <a:chOff x="720490" y="3803374"/>
            <a:chExt cx="2660475" cy="2461921"/>
          </a:xfrm>
        </p:grpSpPr>
        <p:sp>
          <p:nvSpPr>
            <p:cNvPr id="164" name="TextBox 163">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65" name="그룹 164"/>
            <p:cNvGrpSpPr/>
            <p:nvPr/>
          </p:nvGrpSpPr>
          <p:grpSpPr>
            <a:xfrm flipV="1">
              <a:off x="3143548" y="3916705"/>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8" name="직사각형 177"/>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err="1">
                  <a:latin typeface="+mn-ea"/>
                </a:rPr>
                <a:t>입찰유형</a:t>
              </a:r>
              <a:endParaRPr lang="ko-KR" altLang="en-US" sz="700" dirty="0">
                <a:latin typeface="+mn-ea"/>
              </a:endParaRPr>
            </a:p>
            <a:p>
              <a:pPr>
                <a:lnSpc>
                  <a:spcPct val="200000"/>
                </a:lnSpc>
              </a:pPr>
              <a:r>
                <a:rPr lang="ko-KR" altLang="en-US" sz="700" dirty="0" err="1">
                  <a:latin typeface="+mn-ea"/>
                </a:rPr>
                <a:t>입찰매체</a:t>
              </a:r>
              <a:endParaRPr lang="en-US" altLang="ko-KR" sz="700" dirty="0">
                <a:latin typeface="+mn-ea"/>
              </a:endParaRPr>
            </a:p>
            <a:p>
              <a:pPr>
                <a:lnSpc>
                  <a:spcPct val="200000"/>
                </a:lnSpc>
              </a:pPr>
              <a:r>
                <a:rPr lang="ko-KR" altLang="en-US" sz="700" dirty="0">
                  <a:latin typeface="+mn-ea"/>
                </a:rPr>
                <a:t>계약방법</a:t>
              </a:r>
            </a:p>
            <a:p>
              <a:pPr>
                <a:lnSpc>
                  <a:spcPct val="200000"/>
                </a:lnSpc>
              </a:pPr>
              <a:r>
                <a:rPr lang="en-US" altLang="ko-KR" sz="700" dirty="0">
                  <a:latin typeface="+mn-ea"/>
                </a:rPr>
                <a:t>⁞</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단가제</a:t>
              </a:r>
              <a:endParaRPr lang="en-US" altLang="ko-KR" sz="700" dirty="0">
                <a:latin typeface="+mn-ea"/>
              </a:endParaRPr>
            </a:p>
            <a:p>
              <a:pPr>
                <a:lnSpc>
                  <a:spcPct val="200000"/>
                </a:lnSpc>
              </a:pPr>
              <a:r>
                <a:rPr lang="ko-KR" altLang="en-US" sz="700" dirty="0">
                  <a:latin typeface="+mn-ea"/>
                </a:rPr>
                <a:t>전자입찰</a:t>
              </a:r>
              <a:endParaRPr lang="en-US" altLang="ko-KR" sz="700" dirty="0">
                <a:latin typeface="+mn-ea"/>
              </a:endParaRPr>
            </a:p>
            <a:p>
              <a:pPr>
                <a:lnSpc>
                  <a:spcPct val="200000"/>
                </a:lnSpc>
              </a:pPr>
              <a:r>
                <a:rPr lang="ko-KR" altLang="en-US" sz="700" dirty="0">
                  <a:latin typeface="+mn-ea"/>
                </a:rPr>
                <a:t>일반경쟁</a:t>
              </a:r>
              <a:endParaRPr lang="en-US" altLang="ko-KR" sz="700" dirty="0">
                <a:latin typeface="+mn-ea"/>
              </a:endParaRPr>
            </a:p>
            <a:p>
              <a:pPr>
                <a:lnSpc>
                  <a:spcPct val="200000"/>
                </a:lnSpc>
              </a:pPr>
              <a:r>
                <a:rPr lang="en-US" altLang="ko-KR" sz="700" dirty="0">
                  <a:latin typeface="+mn-ea"/>
                </a:rPr>
                <a:t>⁞</a:t>
              </a: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08" name="그룹 207"/>
          <p:cNvGrpSpPr/>
          <p:nvPr/>
        </p:nvGrpSpPr>
        <p:grpSpPr>
          <a:xfrm>
            <a:off x="3795735" y="5177575"/>
            <a:ext cx="2712026" cy="944800"/>
            <a:chOff x="3795735" y="4570486"/>
            <a:chExt cx="2712026" cy="944800"/>
          </a:xfrm>
        </p:grpSpPr>
        <p:sp>
          <p:nvSpPr>
            <p:cNvPr id="209" name="TextBox 208">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210" name="그룹 209"/>
            <p:cNvGrpSpPr/>
            <p:nvPr/>
          </p:nvGrpSpPr>
          <p:grpSpPr>
            <a:xfrm flipV="1">
              <a:off x="6240167" y="4729163"/>
              <a:ext cx="94010" cy="47005"/>
              <a:chOff x="6812560" y="3297172"/>
              <a:chExt cx="94010" cy="47005"/>
            </a:xfrm>
          </p:grpSpPr>
          <p:cxnSp>
            <p:nvCxnSpPr>
              <p:cNvPr id="219" name="직선 연결선 2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0" name="직선 연결선 21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TextBox 210">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모서리가 둥근 직사각형 214"/>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TextBox 215">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17" name="TextBox 216">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945040965"/>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일반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402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입찰결과조회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입찰결과를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a:latin typeface="+mn-ea"/>
              </a:rPr>
              <a:t>입찰 결과 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3767229"/>
            <a:chOff x="701175" y="1527996"/>
            <a:chExt cx="2630093" cy="3767229"/>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2"/>
              <a:ext cx="792000" cy="345974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728979" cy="3447098"/>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err="1">
                  <a:latin typeface="+mn-ea"/>
                </a:rPr>
                <a:t>입찰유형</a:t>
              </a:r>
              <a:endParaRPr lang="ko-KR" altLang="en-US" sz="700" dirty="0">
                <a:latin typeface="+mn-ea"/>
              </a:endParaRPr>
            </a:p>
            <a:p>
              <a:pPr>
                <a:lnSpc>
                  <a:spcPct val="200000"/>
                </a:lnSpc>
              </a:pPr>
              <a:r>
                <a:rPr lang="ko-KR" altLang="en-US" sz="700" dirty="0" err="1">
                  <a:latin typeface="+mn-ea"/>
                </a:rPr>
                <a:t>입찰매체</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a:latin typeface="+mn-ea"/>
                </a:rPr>
                <a:t>입찰방식</a:t>
              </a:r>
            </a:p>
            <a:p>
              <a:pPr>
                <a:lnSpc>
                  <a:spcPct val="200000"/>
                </a:lnSpc>
              </a:pPr>
              <a:r>
                <a:rPr lang="ko-KR" altLang="en-US" sz="700" dirty="0" err="1">
                  <a:latin typeface="+mn-ea"/>
                </a:rPr>
                <a:t>총금액</a:t>
              </a:r>
              <a:endParaRPr lang="ko-KR" altLang="en-US" sz="700" dirty="0">
                <a:latin typeface="+mn-ea"/>
              </a:endParaRPr>
            </a:p>
            <a:p>
              <a:pPr>
                <a:lnSpc>
                  <a:spcPct val="200000"/>
                </a:lnSpc>
              </a:pPr>
              <a:r>
                <a:rPr lang="ko-KR" altLang="en-US" sz="700" dirty="0">
                  <a:latin typeface="+mn-ea"/>
                </a:rPr>
                <a:t>환율적용일자</a:t>
              </a:r>
            </a:p>
            <a:p>
              <a:pPr>
                <a:lnSpc>
                  <a:spcPct val="200000"/>
                </a:lnSpc>
              </a:pPr>
              <a:r>
                <a:rPr lang="ko-KR" altLang="en-US" sz="700" dirty="0">
                  <a:latin typeface="+mn-ea"/>
                </a:rPr>
                <a:t>공고 </a:t>
              </a:r>
              <a:r>
                <a:rPr lang="ko-KR" altLang="en-US" sz="700" dirty="0" err="1">
                  <a:latin typeface="+mn-ea"/>
                </a:rPr>
                <a:t>품목수</a:t>
              </a:r>
              <a:endParaRPr lang="ko-KR" altLang="en-US"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개찰일시</a:t>
              </a:r>
              <a:endParaRPr lang="ko-KR" altLang="en-US"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3447098"/>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err="1">
                  <a:latin typeface="+mn-ea"/>
                </a:rPr>
                <a:t>단가제</a:t>
              </a:r>
              <a:endParaRPr lang="en-US" altLang="ko-KR" sz="700" dirty="0">
                <a:latin typeface="+mn-ea"/>
              </a:endParaRPr>
            </a:p>
            <a:p>
              <a:pPr>
                <a:lnSpc>
                  <a:spcPct val="200000"/>
                </a:lnSpc>
              </a:pPr>
              <a:r>
                <a:rPr lang="ko-KR" altLang="en-US" sz="700" dirty="0">
                  <a:latin typeface="+mn-ea"/>
                </a:rPr>
                <a:t>전자입찰</a:t>
              </a:r>
              <a:endParaRPr lang="en-US" altLang="ko-KR" sz="700" dirty="0">
                <a:latin typeface="+mn-ea"/>
              </a:endParaRPr>
            </a:p>
            <a:p>
              <a:pPr>
                <a:lnSpc>
                  <a:spcPct val="200000"/>
                </a:lnSpc>
              </a:pPr>
              <a:r>
                <a:rPr lang="ko-KR" altLang="en-US" sz="700" dirty="0">
                  <a:latin typeface="+mn-ea"/>
                </a:rPr>
                <a:t>일반경쟁</a:t>
              </a:r>
              <a:endParaRPr lang="en-US" altLang="ko-KR" sz="700" dirty="0">
                <a:latin typeface="+mn-ea"/>
              </a:endParaRPr>
            </a:p>
            <a:p>
              <a:pPr>
                <a:lnSpc>
                  <a:spcPct val="200000"/>
                </a:lnSpc>
              </a:pPr>
              <a:r>
                <a:rPr lang="ko-KR" altLang="en-US" sz="700" dirty="0" err="1">
                  <a:latin typeface="+mn-ea"/>
                </a:rPr>
                <a:t>일반투찰</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2025-02-13</a:t>
              </a:r>
            </a:p>
            <a:p>
              <a:pPr>
                <a:lnSpc>
                  <a:spcPct val="200000"/>
                </a:lnSpc>
              </a:pPr>
              <a:r>
                <a:rPr lang="en-US" altLang="ko-KR" sz="700" dirty="0">
                  <a:latin typeface="+mn-ea"/>
                </a:rPr>
                <a:t>100</a:t>
              </a:r>
            </a:p>
            <a:p>
              <a:pPr>
                <a:lnSpc>
                  <a:spcPct val="200000"/>
                </a:lnSpc>
              </a:pPr>
              <a:r>
                <a:rPr kumimoji="1" lang="en-US" altLang="ko-KR" sz="700" spc="-60" dirty="0">
                  <a:solidFill>
                    <a:srgbClr val="000000">
                      <a:lumMod val="65000"/>
                      <a:lumOff val="35000"/>
                    </a:srgbClr>
                  </a:solidFill>
                  <a:latin typeface="Verdana" panose="020B0604030504040204" pitchFamily="34" charset="0"/>
                </a:rPr>
                <a:t>2025-03-02 15:00:00</a:t>
              </a:r>
            </a:p>
            <a:p>
              <a:pPr>
                <a:lnSpc>
                  <a:spcPct val="200000"/>
                </a:lnSpc>
              </a:pPr>
              <a:r>
                <a:rPr kumimoji="1" lang="en-US" altLang="ko-KR" sz="700" spc="-60" dirty="0">
                  <a:solidFill>
                    <a:srgbClr val="000000">
                      <a:lumMod val="65000"/>
                      <a:lumOff val="35000"/>
                    </a:srgbClr>
                  </a:solidFill>
                  <a:latin typeface="Verdana" panose="020B0604030504040204" pitchFamily="34" charset="0"/>
                </a:rPr>
                <a:t>2025-03-02 15:00:00</a:t>
              </a:r>
            </a:p>
            <a:p>
              <a:pPr>
                <a:lnSpc>
                  <a:spcPct val="200000"/>
                </a:lnSpc>
              </a:pPr>
              <a:r>
                <a:rPr kumimoji="1" lang="en-US" altLang="ko-KR" sz="700" spc="-60" dirty="0">
                  <a:solidFill>
                    <a:srgbClr val="000000">
                      <a:lumMod val="65000"/>
                      <a:lumOff val="35000"/>
                    </a:srgbClr>
                  </a:solidFill>
                  <a:latin typeface="Verdana" panose="020B0604030504040204" pitchFamily="34" charset="0"/>
                </a:rPr>
                <a:t>2025-03-02 15:00:00</a:t>
              </a:r>
              <a:endParaRPr lang="en-US" altLang="ko-KR" sz="700" dirty="0">
                <a:latin typeface="+mn-ea"/>
              </a:endParaRPr>
            </a:p>
          </p:txBody>
        </p:sp>
        <p:grpSp>
          <p:nvGrpSpPr>
            <p:cNvPr id="17" name="그룹 16"/>
            <p:cNvGrpSpPr/>
            <p:nvPr/>
          </p:nvGrpSpPr>
          <p:grpSpPr>
            <a:xfrm>
              <a:off x="701175" y="1835481"/>
              <a:ext cx="2630093" cy="3459744"/>
              <a:chOff x="701175" y="1835481"/>
              <a:chExt cx="2630093" cy="3459744"/>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2" name="직선 연결선 181">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3" name="직선 연결선 182">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5" name="직선 연결선 54">
                <a:extLst>
                  <a:ext uri="{FF2B5EF4-FFF2-40B4-BE49-F238E27FC236}">
                    <a16:creationId xmlns:a16="http://schemas.microsoft.com/office/drawing/2014/main" id="{E9293055-D5CD-4B9E-7F64-64B2D2CA7A52}"/>
                  </a:ext>
                </a:extLst>
              </p:cNvPr>
              <p:cNvCxnSpPr/>
              <p:nvPr/>
            </p:nvCxnSpPr>
            <p:spPr>
              <a:xfrm>
                <a:off x="703268" y="508048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3" name="직선 연결선 52">
                <a:extLst>
                  <a:ext uri="{FF2B5EF4-FFF2-40B4-BE49-F238E27FC236}">
                    <a16:creationId xmlns:a16="http://schemas.microsoft.com/office/drawing/2014/main" id="{E9293055-D5CD-4B9E-7F64-64B2D2CA7A52}"/>
                  </a:ext>
                </a:extLst>
              </p:cNvPr>
              <p:cNvCxnSpPr/>
              <p:nvPr/>
            </p:nvCxnSpPr>
            <p:spPr>
              <a:xfrm>
                <a:off x="703268" y="52952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82" name="TextBox 81">
              <a:extLst>
                <a:ext uri="{FF2B5EF4-FFF2-40B4-BE49-F238E27FC236}">
                  <a16:creationId xmlns:a16="http://schemas.microsoft.com/office/drawing/2014/main" id="{FFC49AEA-2A8F-250C-A86A-A7751D9706C3}"/>
                </a:ext>
              </a:extLst>
            </p:cNvPr>
            <p:cNvSpPr txBox="1"/>
            <p:nvPr/>
          </p:nvSpPr>
          <p:spPr>
            <a:xfrm>
              <a:off x="790330" y="4629349"/>
              <a:ext cx="700693" cy="215444"/>
            </a:xfrm>
            <a:prstGeom prst="rect">
              <a:avLst/>
            </a:prstGeom>
            <a:noFill/>
          </p:spPr>
          <p:txBody>
            <a:bodyPr wrap="square" lIns="0" tIns="0" rIns="0" bIns="0" rtlCol="0">
              <a:spAutoFit/>
            </a:bodyPr>
            <a:lstStyle/>
            <a:p>
              <a:r>
                <a:rPr lang="ko-KR" altLang="en-US" sz="700" dirty="0">
                  <a:latin typeface="+mn-ea"/>
                </a:rPr>
                <a:t>입찰참가등록</a:t>
              </a:r>
              <a:endParaRPr lang="en-US" altLang="ko-KR" sz="700" dirty="0">
                <a:latin typeface="+mn-ea"/>
              </a:endParaRPr>
            </a:p>
            <a:p>
              <a:r>
                <a:rPr lang="ko-KR" altLang="en-US" sz="700" dirty="0" err="1">
                  <a:latin typeface="+mn-ea"/>
                </a:rPr>
                <a:t>마감일시</a:t>
              </a:r>
              <a:endParaRPr lang="en-US" altLang="ko-KR" sz="700" dirty="0">
                <a:latin typeface="+mn-ea"/>
              </a:endParaRPr>
            </a:p>
          </p:txBody>
        </p:sp>
        <p:sp>
          <p:nvSpPr>
            <p:cNvPr id="83" name="TextBox 82">
              <a:extLst>
                <a:ext uri="{FF2B5EF4-FFF2-40B4-BE49-F238E27FC236}">
                  <a16:creationId xmlns:a16="http://schemas.microsoft.com/office/drawing/2014/main" id="{FFC49AEA-2A8F-250C-A86A-A7751D9706C3}"/>
                </a:ext>
              </a:extLst>
            </p:cNvPr>
            <p:cNvSpPr txBox="1"/>
            <p:nvPr/>
          </p:nvSpPr>
          <p:spPr>
            <a:xfrm>
              <a:off x="790330" y="4846437"/>
              <a:ext cx="700693" cy="215444"/>
            </a:xfrm>
            <a:prstGeom prst="rect">
              <a:avLst/>
            </a:prstGeom>
            <a:noFill/>
          </p:spPr>
          <p:txBody>
            <a:bodyPr wrap="square" lIns="0" tIns="0" rIns="0" bIns="0" rtlCol="0">
              <a:spAutoFit/>
            </a:bodyPr>
            <a:lstStyle/>
            <a:p>
              <a:r>
                <a:rPr lang="ko-KR" altLang="en-US" sz="700" dirty="0" err="1">
                  <a:latin typeface="+mn-ea"/>
                </a:rPr>
                <a:t>입찰서제출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3795735" y="1527996"/>
            <a:ext cx="2712026" cy="899454"/>
            <a:chOff x="3795735" y="1527996"/>
            <a:chExt cx="2712026" cy="899454"/>
          </a:xfrm>
        </p:grpSpPr>
        <p:sp>
          <p:nvSpPr>
            <p:cNvPr id="68" name="TextBox 67">
              <a:extLst>
                <a:ext uri="{FF2B5EF4-FFF2-40B4-BE49-F238E27FC236}">
                  <a16:creationId xmlns:a16="http://schemas.microsoft.com/office/drawing/2014/main" id="{FFC49AEA-2A8F-250C-A86A-A7751D9706C3}"/>
                </a:ext>
              </a:extLst>
            </p:cNvPr>
            <p:cNvSpPr txBox="1"/>
            <p:nvPr/>
          </p:nvSpPr>
          <p:spPr>
            <a:xfrm>
              <a:off x="3878080" y="1527996"/>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69" name="그룹 68"/>
            <p:cNvGrpSpPr/>
            <p:nvPr/>
          </p:nvGrpSpPr>
          <p:grpSpPr>
            <a:xfrm flipV="1">
              <a:off x="6240167" y="1641327"/>
              <a:ext cx="94010" cy="47005"/>
              <a:chOff x="6812560" y="3297172"/>
              <a:chExt cx="94010" cy="47005"/>
            </a:xfrm>
          </p:grpSpPr>
          <p:cxnSp>
            <p:nvCxnSpPr>
              <p:cNvPr id="70" name="직선 연결선 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1" name="직선 연결선 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2" name="TextBox 71">
              <a:extLst>
                <a:ext uri="{FF2B5EF4-FFF2-40B4-BE49-F238E27FC236}">
                  <a16:creationId xmlns:a16="http://schemas.microsoft.com/office/drawing/2014/main" id="{FFC49AEA-2A8F-250C-A86A-A7751D9706C3}"/>
                </a:ext>
              </a:extLst>
            </p:cNvPr>
            <p:cNvSpPr txBox="1"/>
            <p:nvPr/>
          </p:nvSpPr>
          <p:spPr>
            <a:xfrm>
              <a:off x="3963885"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73" name="TextBox 72">
              <a:extLst>
                <a:ext uri="{FF2B5EF4-FFF2-40B4-BE49-F238E27FC236}">
                  <a16:creationId xmlns:a16="http://schemas.microsoft.com/office/drawing/2014/main" id="{FFC49AEA-2A8F-250C-A86A-A7751D9706C3}"/>
                </a:ext>
              </a:extLst>
            </p:cNvPr>
            <p:cNvSpPr txBox="1"/>
            <p:nvPr/>
          </p:nvSpPr>
          <p:spPr>
            <a:xfrm>
              <a:off x="4756893"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74" name="TextBox 73">
              <a:extLst>
                <a:ext uri="{FF2B5EF4-FFF2-40B4-BE49-F238E27FC236}">
                  <a16:creationId xmlns:a16="http://schemas.microsoft.com/office/drawing/2014/main" id="{FFC49AEA-2A8F-250C-A86A-A7751D9706C3}"/>
                </a:ext>
              </a:extLst>
            </p:cNvPr>
            <p:cNvSpPr txBox="1"/>
            <p:nvPr/>
          </p:nvSpPr>
          <p:spPr>
            <a:xfrm>
              <a:off x="5669455"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76" name="직선 연결선 75">
              <a:extLst>
                <a:ext uri="{FF2B5EF4-FFF2-40B4-BE49-F238E27FC236}">
                  <a16:creationId xmlns:a16="http://schemas.microsoft.com/office/drawing/2014/main" id="{E9293055-D5CD-4B9E-7F64-64B2D2CA7A52}"/>
                </a:ext>
              </a:extLst>
            </p:cNvPr>
            <p:cNvCxnSpPr/>
            <p:nvPr/>
          </p:nvCxnSpPr>
          <p:spPr>
            <a:xfrm>
              <a:off x="3795735" y="2427450"/>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모서리가 둥근 직사각형 76"/>
            <p:cNvSpPr/>
            <p:nvPr/>
          </p:nvSpPr>
          <p:spPr>
            <a:xfrm>
              <a:off x="3831550" y="2000312"/>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TextBox 77">
              <a:extLst>
                <a:ext uri="{FF2B5EF4-FFF2-40B4-BE49-F238E27FC236}">
                  <a16:creationId xmlns:a16="http://schemas.microsoft.com/office/drawing/2014/main" id="{FFC49AEA-2A8F-250C-A86A-A7751D9706C3}"/>
                </a:ext>
              </a:extLst>
            </p:cNvPr>
            <p:cNvSpPr txBox="1"/>
            <p:nvPr/>
          </p:nvSpPr>
          <p:spPr>
            <a:xfrm>
              <a:off x="3963885" y="2118856"/>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79" name="TextBox 78">
              <a:extLst>
                <a:ext uri="{FF2B5EF4-FFF2-40B4-BE49-F238E27FC236}">
                  <a16:creationId xmlns:a16="http://schemas.microsoft.com/office/drawing/2014/main" id="{FFC49AEA-2A8F-250C-A86A-A7751D9706C3}"/>
                </a:ext>
              </a:extLst>
            </p:cNvPr>
            <p:cNvSpPr txBox="1"/>
            <p:nvPr/>
          </p:nvSpPr>
          <p:spPr>
            <a:xfrm>
              <a:off x="4756893" y="2118856"/>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5669455" y="2064995"/>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grpSp>
    </p:spTree>
    <p:extLst>
      <p:ext uri="{BB962C8B-B14F-4D97-AF65-F5344CB8AC3E}">
        <p14:creationId xmlns:p14="http://schemas.microsoft.com/office/powerpoint/2010/main" val="4241865396"/>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입찰결과현황</a:t>
            </a:r>
            <a:r>
              <a:rPr lang="en-US" altLang="ko-KR" dirty="0"/>
              <a:t>(</a:t>
            </a:r>
            <a:r>
              <a:rPr lang="ko-KR" altLang="en-US" dirty="0" err="1"/>
              <a:t>단가제</a:t>
            </a:r>
            <a:r>
              <a:rPr lang="en-US" altLang="ko-KR" dirty="0"/>
              <a:t>) </a:t>
            </a:r>
            <a:r>
              <a:rPr lang="ko-KR" altLang="en-US" dirty="0"/>
              <a:t>데이터 영역</a:t>
            </a:r>
          </a:p>
          <a:p>
            <a:pPr>
              <a:buFont typeface="+mj-lt"/>
              <a:buAutoNum type="arabicPeriod"/>
            </a:pPr>
            <a:r>
              <a:rPr lang="ko-KR" altLang="en-US" dirty="0"/>
              <a:t>입찰결과</a:t>
            </a:r>
            <a:r>
              <a:rPr lang="en-US" altLang="ko-KR" dirty="0"/>
              <a:t>(</a:t>
            </a:r>
            <a:r>
              <a:rPr lang="ko-KR" altLang="en-US" dirty="0" err="1"/>
              <a:t>단가제</a:t>
            </a:r>
            <a:r>
              <a:rPr lang="en-US" altLang="ko-KR" dirty="0"/>
              <a:t>) </a:t>
            </a:r>
            <a:r>
              <a:rPr lang="ko-KR" altLang="en-US" dirty="0"/>
              <a:t>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403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입찰결과조회 </a:t>
            </a:r>
            <a:r>
              <a:rPr lang="en-US" altLang="ko-KR" dirty="0">
                <a:latin typeface="+mn-ea"/>
              </a:rPr>
              <a:t>– </a:t>
            </a:r>
            <a:r>
              <a:rPr lang="ko-KR" altLang="en-US" dirty="0">
                <a:latin typeface="+mn-ea"/>
              </a:rPr>
              <a:t>입찰결과 </a:t>
            </a:r>
            <a:r>
              <a:rPr lang="en-US" altLang="ko-KR" dirty="0">
                <a:latin typeface="+mn-ea"/>
              </a:rPr>
              <a:t>(</a:t>
            </a:r>
            <a:r>
              <a:rPr lang="ko-KR" altLang="en-US" dirty="0" err="1">
                <a:latin typeface="+mn-ea"/>
              </a:rPr>
              <a:t>단가제</a:t>
            </a:r>
            <a:r>
              <a:rPr lang="en-US" altLang="ko-KR" dirty="0">
                <a:latin typeface="+mn-ea"/>
              </a:rPr>
              <a:t>)</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입찰결과를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a:latin typeface="+mn-ea"/>
              </a:rPr>
              <a:t>입찰 결과 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MUI-BD-09-M72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738372"/>
            <a:chOff x="701175" y="1527996"/>
            <a:chExt cx="2630093" cy="738372"/>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1279155" cy="215444"/>
            </a:xfrm>
            <a:prstGeom prst="rect">
              <a:avLst/>
            </a:prstGeom>
            <a:noFill/>
          </p:spPr>
          <p:txBody>
            <a:bodyPr wrap="square" lIns="0" tIns="0" rIns="0" bIns="0" rtlCol="0">
              <a:spAutoFit/>
            </a:bodyPr>
            <a:lstStyle/>
            <a:p>
              <a:pPr>
                <a:lnSpc>
                  <a:spcPct val="200000"/>
                </a:lnSpc>
              </a:pPr>
              <a:r>
                <a:rPr lang="ko-KR" altLang="en-US" sz="700" dirty="0">
                  <a:latin typeface="+mn-ea"/>
                </a:rPr>
                <a:t>입찰 결과 현황 </a:t>
              </a:r>
              <a:r>
                <a:rPr lang="en-US" altLang="ko-KR" sz="700" dirty="0">
                  <a:latin typeface="+mn-ea"/>
                </a:rPr>
                <a:t>- </a:t>
              </a:r>
              <a:r>
                <a:rPr lang="ko-KR" altLang="en-US" sz="700" dirty="0" err="1">
                  <a:latin typeface="+mn-ea"/>
                </a:rPr>
                <a:t>단가제</a:t>
              </a:r>
              <a:endParaRPr lang="ko-KR" altLang="en-US" sz="700" dirty="0">
                <a:latin typeface="+mn-ea"/>
              </a:endParaRPr>
            </a:p>
          </p:txBody>
        </p:sp>
        <p:sp>
          <p:nvSpPr>
            <p:cNvPr id="160" name="직사각형 159"/>
            <p:cNvSpPr/>
            <p:nvPr/>
          </p:nvSpPr>
          <p:spPr>
            <a:xfrm>
              <a:off x="703268" y="1835482"/>
              <a:ext cx="792000" cy="42807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728979" cy="396583"/>
            </a:xfrm>
            <a:prstGeom prst="rect">
              <a:avLst/>
            </a:prstGeom>
            <a:noFill/>
          </p:spPr>
          <p:txBody>
            <a:bodyPr wrap="square" lIns="0" tIns="0" rIns="0" bIns="0" rtlCol="0">
              <a:spAutoFit/>
            </a:bodyPr>
            <a:lstStyle/>
            <a:p>
              <a:pPr>
                <a:lnSpc>
                  <a:spcPct val="200000"/>
                </a:lnSpc>
              </a:pPr>
              <a:r>
                <a:rPr lang="ko-KR" altLang="en-US" sz="700" dirty="0">
                  <a:latin typeface="+mn-ea"/>
                </a:rPr>
                <a:t>총 </a:t>
              </a:r>
              <a:r>
                <a:rPr lang="ko-KR" altLang="en-US" sz="700" dirty="0" err="1">
                  <a:latin typeface="+mn-ea"/>
                </a:rPr>
                <a:t>참여품목수</a:t>
              </a:r>
              <a:endParaRPr lang="en-US" altLang="ko-KR" sz="700" dirty="0">
                <a:latin typeface="+mn-ea"/>
              </a:endParaRPr>
            </a:p>
            <a:p>
              <a:pPr>
                <a:lnSpc>
                  <a:spcPct val="200000"/>
                </a:lnSpc>
              </a:pPr>
              <a:r>
                <a:rPr lang="ko-KR" altLang="en-US" sz="700" dirty="0">
                  <a:latin typeface="+mn-ea"/>
                </a:rPr>
                <a:t>총 낙찰</a:t>
              </a: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430887"/>
            </a:xfrm>
            <a:prstGeom prst="rect">
              <a:avLst/>
            </a:prstGeom>
            <a:noFill/>
          </p:spPr>
          <p:txBody>
            <a:bodyPr wrap="square" lIns="0" tIns="0" rIns="0" bIns="0" rtlCol="0">
              <a:spAutoFit/>
            </a:bodyPr>
            <a:lstStyle/>
            <a:p>
              <a:pPr>
                <a:lnSpc>
                  <a:spcPct val="200000"/>
                </a:lnSpc>
              </a:pPr>
              <a:r>
                <a:rPr lang="en-US" altLang="ko-KR" sz="700" dirty="0">
                  <a:latin typeface="+mn-ea"/>
                </a:rPr>
                <a:t>5</a:t>
              </a:r>
            </a:p>
            <a:p>
              <a:pPr>
                <a:lnSpc>
                  <a:spcPct val="200000"/>
                </a:lnSpc>
              </a:pPr>
              <a:r>
                <a:rPr lang="en-US" altLang="ko-KR" sz="700" dirty="0">
                  <a:latin typeface="+mn-ea"/>
                </a:rPr>
                <a:t>3</a:t>
              </a:r>
            </a:p>
          </p:txBody>
        </p:sp>
        <p:grpSp>
          <p:nvGrpSpPr>
            <p:cNvPr id="17" name="그룹 16"/>
            <p:cNvGrpSpPr/>
            <p:nvPr/>
          </p:nvGrpSpPr>
          <p:grpSpPr>
            <a:xfrm>
              <a:off x="701175" y="1835481"/>
              <a:ext cx="2630093" cy="430887"/>
              <a:chOff x="701175" y="1835481"/>
              <a:chExt cx="2630093" cy="430887"/>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7" name="직선 연결선 96">
                <a:extLst>
                  <a:ext uri="{FF2B5EF4-FFF2-40B4-BE49-F238E27FC236}">
                    <a16:creationId xmlns:a16="http://schemas.microsoft.com/office/drawing/2014/main" id="{E9293055-D5CD-4B9E-7F64-64B2D2CA7A52}"/>
                  </a:ext>
                </a:extLst>
              </p:cNvPr>
              <p:cNvCxnSpPr/>
              <p:nvPr/>
            </p:nvCxnSpPr>
            <p:spPr>
              <a:xfrm>
                <a:off x="703268" y="22663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4" name="그룹 53"/>
          <p:cNvGrpSpPr/>
          <p:nvPr/>
        </p:nvGrpSpPr>
        <p:grpSpPr>
          <a:xfrm>
            <a:off x="701175" y="2615478"/>
            <a:ext cx="2630093" cy="861774"/>
            <a:chOff x="701175" y="1835481"/>
            <a:chExt cx="2630093" cy="861774"/>
          </a:xfrm>
        </p:grpSpPr>
        <p:sp>
          <p:nvSpPr>
            <p:cNvPr id="58" name="직사각형 57"/>
            <p:cNvSpPr/>
            <p:nvPr/>
          </p:nvSpPr>
          <p:spPr>
            <a:xfrm>
              <a:off x="703268" y="1835482"/>
              <a:ext cx="792000" cy="8589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TextBox 58">
              <a:extLst>
                <a:ext uri="{FF2B5EF4-FFF2-40B4-BE49-F238E27FC236}">
                  <a16:creationId xmlns:a16="http://schemas.microsoft.com/office/drawing/2014/main" id="{FFC49AEA-2A8F-250C-A86A-A7751D9706C3}"/>
                </a:ext>
              </a:extLst>
            </p:cNvPr>
            <p:cNvSpPr txBox="1"/>
            <p:nvPr/>
          </p:nvSpPr>
          <p:spPr>
            <a:xfrm>
              <a:off x="790330" y="1835481"/>
              <a:ext cx="728979" cy="861774"/>
            </a:xfrm>
            <a:prstGeom prst="rect">
              <a:avLst/>
            </a:prstGeom>
            <a:noFill/>
          </p:spPr>
          <p:txBody>
            <a:bodyPr wrap="square" lIns="0" tIns="0" rIns="0" bIns="0" rtlCol="0">
              <a:spAutoFit/>
            </a:bodyPr>
            <a:lstStyle/>
            <a:p>
              <a:pPr>
                <a:lnSpc>
                  <a:spcPct val="200000"/>
                </a:lnSpc>
              </a:pPr>
              <a:r>
                <a:rPr lang="ko-KR" altLang="en-US" sz="700" dirty="0">
                  <a:latin typeface="+mn-ea"/>
                </a:rPr>
                <a:t>낙찰</a:t>
              </a:r>
              <a:endParaRPr lang="en-US" altLang="ko-KR" sz="700" dirty="0">
                <a:latin typeface="+mn-ea"/>
              </a:endParaRPr>
            </a:p>
            <a:p>
              <a:pPr>
                <a:lnSpc>
                  <a:spcPct val="200000"/>
                </a:lnSpc>
              </a:pPr>
              <a:r>
                <a:rPr lang="ko-KR" altLang="en-US" sz="700" dirty="0">
                  <a:latin typeface="+mn-ea"/>
                </a:rPr>
                <a:t>조건부</a:t>
              </a:r>
              <a:endParaRPr lang="en-US" altLang="ko-KR" sz="700" dirty="0">
                <a:latin typeface="+mn-ea"/>
              </a:endParaRPr>
            </a:p>
            <a:p>
              <a:pPr>
                <a:lnSpc>
                  <a:spcPct val="200000"/>
                </a:lnSpc>
              </a:pPr>
              <a:r>
                <a:rPr lang="ko-KR" altLang="en-US" sz="700" dirty="0" err="1" smtClean="0">
                  <a:latin typeface="+mn-ea"/>
                </a:rPr>
                <a:t>동가낙찰</a:t>
              </a:r>
              <a:endParaRPr lang="en-US" altLang="ko-KR" sz="700" dirty="0">
                <a:latin typeface="+mn-ea"/>
              </a:endParaRPr>
            </a:p>
            <a:p>
              <a:pPr>
                <a:lnSpc>
                  <a:spcPct val="200000"/>
                </a:lnSpc>
              </a:pPr>
              <a:r>
                <a:rPr lang="ko-KR" altLang="en-US" sz="700" dirty="0">
                  <a:latin typeface="+mn-ea"/>
                </a:rPr>
                <a:t>소계</a:t>
              </a:r>
            </a:p>
          </p:txBody>
        </p:sp>
        <p:sp>
          <p:nvSpPr>
            <p:cNvPr id="60" name="TextBox 59">
              <a:extLst>
                <a:ext uri="{FF2B5EF4-FFF2-40B4-BE49-F238E27FC236}">
                  <a16:creationId xmlns:a16="http://schemas.microsoft.com/office/drawing/2014/main" id="{FFC49AEA-2A8F-250C-A86A-A7751D9706C3}"/>
                </a:ext>
              </a:extLst>
            </p:cNvPr>
            <p:cNvSpPr txBox="1"/>
            <p:nvPr/>
          </p:nvSpPr>
          <p:spPr>
            <a:xfrm>
              <a:off x="1547180" y="1835481"/>
              <a:ext cx="1775839"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1</a:t>
              </a:r>
            </a:p>
            <a:p>
              <a:pPr>
                <a:lnSpc>
                  <a:spcPct val="200000"/>
                </a:lnSpc>
              </a:pPr>
              <a:r>
                <a:rPr lang="en-US" altLang="ko-KR" sz="700" dirty="0">
                  <a:latin typeface="+mn-ea"/>
                </a:rPr>
                <a:t>1</a:t>
              </a:r>
            </a:p>
            <a:p>
              <a:pPr>
                <a:lnSpc>
                  <a:spcPct val="200000"/>
                </a:lnSpc>
              </a:pPr>
              <a:r>
                <a:rPr lang="en-US" altLang="ko-KR" sz="700" dirty="0" smtClean="0">
                  <a:latin typeface="+mn-ea"/>
                </a:rPr>
                <a:t>4</a:t>
              </a:r>
              <a:endParaRPr lang="en-US" altLang="ko-KR" sz="700" dirty="0">
                <a:latin typeface="+mn-ea"/>
              </a:endParaRPr>
            </a:p>
          </p:txBody>
        </p:sp>
        <p:grpSp>
          <p:nvGrpSpPr>
            <p:cNvPr id="61" name="그룹 60"/>
            <p:cNvGrpSpPr/>
            <p:nvPr/>
          </p:nvGrpSpPr>
          <p:grpSpPr>
            <a:xfrm>
              <a:off x="701175" y="1835481"/>
              <a:ext cx="2630093" cy="858960"/>
              <a:chOff x="701175" y="1835481"/>
              <a:chExt cx="2630093" cy="858960"/>
            </a:xfrm>
          </p:grpSpPr>
          <p:cxnSp>
            <p:nvCxnSpPr>
              <p:cNvPr id="62" name="직선 연결선 6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3" name="직선 연결선 6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4" name="직선 연결선 6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5" name="직선 연결선 6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66" name="직선 연결선 65">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96" name="TextBox 95">
            <a:extLst>
              <a:ext uri="{FF2B5EF4-FFF2-40B4-BE49-F238E27FC236}">
                <a16:creationId xmlns:a16="http://schemas.microsoft.com/office/drawing/2014/main" id="{FFC49AEA-2A8F-250C-A86A-A7751D9706C3}"/>
              </a:ext>
            </a:extLst>
          </p:cNvPr>
          <p:cNvSpPr txBox="1"/>
          <p:nvPr/>
        </p:nvSpPr>
        <p:spPr>
          <a:xfrm>
            <a:off x="762146" y="2322947"/>
            <a:ext cx="1279155" cy="181140"/>
          </a:xfrm>
          <a:prstGeom prst="rect">
            <a:avLst/>
          </a:prstGeom>
          <a:noFill/>
        </p:spPr>
        <p:txBody>
          <a:bodyPr wrap="square" lIns="0" tIns="0" rIns="0" bIns="0" rtlCol="0">
            <a:spAutoFit/>
          </a:bodyPr>
          <a:lstStyle/>
          <a:p>
            <a:pPr>
              <a:lnSpc>
                <a:spcPct val="200000"/>
              </a:lnSpc>
            </a:pPr>
            <a:r>
              <a:rPr lang="ko-KR" altLang="en-US" sz="700" dirty="0" err="1">
                <a:latin typeface="+mn-ea"/>
              </a:rPr>
              <a:t>결과품목</a:t>
            </a:r>
            <a:endParaRPr lang="ko-KR" altLang="en-US" sz="700" dirty="0">
              <a:latin typeface="+mn-ea"/>
            </a:endParaRPr>
          </a:p>
        </p:txBody>
      </p:sp>
      <p:grpSp>
        <p:nvGrpSpPr>
          <p:cNvPr id="98" name="그룹 97"/>
          <p:cNvGrpSpPr/>
          <p:nvPr/>
        </p:nvGrpSpPr>
        <p:grpSpPr>
          <a:xfrm>
            <a:off x="701175" y="3871328"/>
            <a:ext cx="2630093" cy="861774"/>
            <a:chOff x="701175" y="1835481"/>
            <a:chExt cx="2630093" cy="861774"/>
          </a:xfrm>
        </p:grpSpPr>
        <p:sp>
          <p:nvSpPr>
            <p:cNvPr id="99" name="직사각형 98"/>
            <p:cNvSpPr/>
            <p:nvPr/>
          </p:nvSpPr>
          <p:spPr>
            <a:xfrm>
              <a:off x="703268" y="1835482"/>
              <a:ext cx="792000" cy="8589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TextBox 99">
              <a:extLst>
                <a:ext uri="{FF2B5EF4-FFF2-40B4-BE49-F238E27FC236}">
                  <a16:creationId xmlns:a16="http://schemas.microsoft.com/office/drawing/2014/main" id="{FFC49AEA-2A8F-250C-A86A-A7751D9706C3}"/>
                </a:ext>
              </a:extLst>
            </p:cNvPr>
            <p:cNvSpPr txBox="1"/>
            <p:nvPr/>
          </p:nvSpPr>
          <p:spPr>
            <a:xfrm>
              <a:off x="790330" y="1835481"/>
              <a:ext cx="728979" cy="861774"/>
            </a:xfrm>
            <a:prstGeom prst="rect">
              <a:avLst/>
            </a:prstGeom>
            <a:noFill/>
          </p:spPr>
          <p:txBody>
            <a:bodyPr wrap="square" lIns="0" tIns="0" rIns="0" bIns="0" rtlCol="0">
              <a:spAutoFit/>
            </a:bodyPr>
            <a:lstStyle/>
            <a:p>
              <a:pPr>
                <a:lnSpc>
                  <a:spcPct val="200000"/>
                </a:lnSpc>
              </a:pPr>
              <a:r>
                <a:rPr lang="ko-KR" altLang="en-US" sz="700" dirty="0">
                  <a:latin typeface="+mn-ea"/>
                </a:rPr>
                <a:t>낙찰</a:t>
              </a:r>
              <a:endParaRPr lang="en-US" altLang="ko-KR" sz="700" dirty="0">
                <a:latin typeface="+mn-ea"/>
              </a:endParaRPr>
            </a:p>
            <a:p>
              <a:pPr>
                <a:lnSpc>
                  <a:spcPct val="200000"/>
                </a:lnSpc>
              </a:pPr>
              <a:r>
                <a:rPr lang="ko-KR" altLang="en-US" sz="700" dirty="0">
                  <a:latin typeface="+mn-ea"/>
                </a:rPr>
                <a:t>조건부</a:t>
              </a:r>
              <a:endParaRPr lang="en-US" altLang="ko-KR" sz="700" dirty="0">
                <a:latin typeface="+mn-ea"/>
              </a:endParaRPr>
            </a:p>
            <a:p>
              <a:pPr>
                <a:lnSpc>
                  <a:spcPct val="200000"/>
                </a:lnSpc>
              </a:pPr>
              <a:r>
                <a:rPr lang="ko-KR" altLang="en-US" sz="700" dirty="0" err="1">
                  <a:latin typeface="+mn-ea"/>
                </a:rPr>
                <a:t>동가낙찰</a:t>
              </a:r>
              <a:endParaRPr lang="en-US" altLang="ko-KR" sz="700" dirty="0">
                <a:latin typeface="+mn-ea"/>
              </a:endParaRPr>
            </a:p>
            <a:p>
              <a:pPr>
                <a:lnSpc>
                  <a:spcPct val="200000"/>
                </a:lnSpc>
              </a:pPr>
              <a:r>
                <a:rPr lang="ko-KR" altLang="en-US" sz="700" dirty="0">
                  <a:latin typeface="+mn-ea"/>
                </a:rPr>
                <a:t>소계</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547180" y="1835481"/>
              <a:ext cx="1775839" cy="861774"/>
            </a:xfrm>
            <a:prstGeom prst="rect">
              <a:avLst/>
            </a:prstGeom>
            <a:noFill/>
          </p:spPr>
          <p:txBody>
            <a:bodyPr wrap="square" lIns="0" tIns="0" rIns="0" bIns="0" rtlCol="0">
              <a:spAutoFit/>
            </a:bodyPr>
            <a:lstStyle/>
            <a:p>
              <a:pPr algn="r">
                <a:lnSpc>
                  <a:spcPct val="200000"/>
                </a:lnSpc>
              </a:pPr>
              <a:r>
                <a:rPr lang="en-US" altLang="ko-KR" sz="700" dirty="0">
                  <a:latin typeface="+mn-ea"/>
                </a:rPr>
                <a:t>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000,000,000 </a:t>
              </a:r>
              <a:r>
                <a:rPr lang="ko-KR" altLang="en-US" sz="700" dirty="0">
                  <a:latin typeface="+mn-ea"/>
                </a:rPr>
                <a:t>원</a:t>
              </a:r>
              <a:endParaRPr lang="en-US" altLang="ko-KR" sz="700" dirty="0">
                <a:latin typeface="+mn-ea"/>
              </a:endParaRPr>
            </a:p>
          </p:txBody>
        </p:sp>
        <p:grpSp>
          <p:nvGrpSpPr>
            <p:cNvPr id="102" name="그룹 101"/>
            <p:cNvGrpSpPr/>
            <p:nvPr/>
          </p:nvGrpSpPr>
          <p:grpSpPr>
            <a:xfrm>
              <a:off x="701175" y="1835481"/>
              <a:ext cx="2630093" cy="858960"/>
              <a:chOff x="701175" y="1835481"/>
              <a:chExt cx="2630093" cy="858960"/>
            </a:xfrm>
          </p:grpSpPr>
          <p:cxnSp>
            <p:nvCxnSpPr>
              <p:cNvPr id="103" name="직선 연결선 10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4" name="직선 연결선 10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5" name="직선 연결선 10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6" name="직선 연결선 10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07" name="직선 연결선 10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08" name="TextBox 107">
            <a:extLst>
              <a:ext uri="{FF2B5EF4-FFF2-40B4-BE49-F238E27FC236}">
                <a16:creationId xmlns:a16="http://schemas.microsoft.com/office/drawing/2014/main" id="{FFC49AEA-2A8F-250C-A86A-A7751D9706C3}"/>
              </a:ext>
            </a:extLst>
          </p:cNvPr>
          <p:cNvSpPr txBox="1"/>
          <p:nvPr/>
        </p:nvSpPr>
        <p:spPr>
          <a:xfrm>
            <a:off x="762146" y="3578797"/>
            <a:ext cx="1279155" cy="181140"/>
          </a:xfrm>
          <a:prstGeom prst="rect">
            <a:avLst/>
          </a:prstGeom>
          <a:noFill/>
        </p:spPr>
        <p:txBody>
          <a:bodyPr wrap="square" lIns="0" tIns="0" rIns="0" bIns="0" rtlCol="0">
            <a:spAutoFit/>
          </a:bodyPr>
          <a:lstStyle/>
          <a:p>
            <a:pPr>
              <a:lnSpc>
                <a:spcPct val="200000"/>
              </a:lnSpc>
            </a:pPr>
            <a:r>
              <a:rPr lang="ko-KR" altLang="en-US" sz="700" dirty="0" err="1">
                <a:latin typeface="+mn-ea"/>
              </a:rPr>
              <a:t>화폐금액</a:t>
            </a:r>
            <a:endParaRPr lang="ko-KR" altLang="en-US" sz="700" dirty="0">
              <a:latin typeface="+mn-ea"/>
            </a:endParaRPr>
          </a:p>
        </p:txBody>
      </p:sp>
      <p:grpSp>
        <p:nvGrpSpPr>
          <p:cNvPr id="109" name="그룹 108"/>
          <p:cNvGrpSpPr/>
          <p:nvPr/>
        </p:nvGrpSpPr>
        <p:grpSpPr>
          <a:xfrm>
            <a:off x="701175" y="5121227"/>
            <a:ext cx="2630093" cy="861774"/>
            <a:chOff x="701175" y="1835481"/>
            <a:chExt cx="2630093" cy="861774"/>
          </a:xfrm>
        </p:grpSpPr>
        <p:sp>
          <p:nvSpPr>
            <p:cNvPr id="110" name="직사각형 109"/>
            <p:cNvSpPr/>
            <p:nvPr/>
          </p:nvSpPr>
          <p:spPr>
            <a:xfrm>
              <a:off x="703268" y="1835482"/>
              <a:ext cx="792000" cy="8589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1" name="TextBox 110">
              <a:extLst>
                <a:ext uri="{FF2B5EF4-FFF2-40B4-BE49-F238E27FC236}">
                  <a16:creationId xmlns:a16="http://schemas.microsoft.com/office/drawing/2014/main" id="{FFC49AEA-2A8F-250C-A86A-A7751D9706C3}"/>
                </a:ext>
              </a:extLst>
            </p:cNvPr>
            <p:cNvSpPr txBox="1"/>
            <p:nvPr/>
          </p:nvSpPr>
          <p:spPr>
            <a:xfrm>
              <a:off x="790330" y="1835481"/>
              <a:ext cx="728979" cy="861774"/>
            </a:xfrm>
            <a:prstGeom prst="rect">
              <a:avLst/>
            </a:prstGeom>
            <a:noFill/>
          </p:spPr>
          <p:txBody>
            <a:bodyPr wrap="square" lIns="0" tIns="0" rIns="0" bIns="0" rtlCol="0">
              <a:spAutoFit/>
            </a:bodyPr>
            <a:lstStyle/>
            <a:p>
              <a:pPr>
                <a:lnSpc>
                  <a:spcPct val="200000"/>
                </a:lnSpc>
              </a:pPr>
              <a:r>
                <a:rPr lang="ko-KR" altLang="en-US" sz="700" dirty="0">
                  <a:latin typeface="+mn-ea"/>
                </a:rPr>
                <a:t>낙찰</a:t>
              </a:r>
              <a:endParaRPr lang="en-US" altLang="ko-KR" sz="700" dirty="0">
                <a:latin typeface="+mn-ea"/>
              </a:endParaRPr>
            </a:p>
            <a:p>
              <a:pPr>
                <a:lnSpc>
                  <a:spcPct val="200000"/>
                </a:lnSpc>
              </a:pPr>
              <a:r>
                <a:rPr lang="ko-KR" altLang="en-US" sz="700" dirty="0">
                  <a:latin typeface="+mn-ea"/>
                </a:rPr>
                <a:t>조건부</a:t>
              </a:r>
              <a:endParaRPr lang="en-US" altLang="ko-KR" sz="700" dirty="0">
                <a:latin typeface="+mn-ea"/>
              </a:endParaRPr>
            </a:p>
            <a:p>
              <a:pPr>
                <a:lnSpc>
                  <a:spcPct val="200000"/>
                </a:lnSpc>
              </a:pPr>
              <a:r>
                <a:rPr lang="ko-KR" altLang="en-US" sz="700" dirty="0" err="1">
                  <a:latin typeface="+mn-ea"/>
                </a:rPr>
                <a:t>동가낙찰</a:t>
              </a:r>
              <a:endParaRPr lang="en-US" altLang="ko-KR" sz="700" dirty="0">
                <a:latin typeface="+mn-ea"/>
              </a:endParaRPr>
            </a:p>
            <a:p>
              <a:pPr>
                <a:lnSpc>
                  <a:spcPct val="200000"/>
                </a:lnSpc>
              </a:pPr>
              <a:r>
                <a:rPr lang="ko-KR" altLang="en-US" sz="700" dirty="0">
                  <a:latin typeface="+mn-ea"/>
                </a:rPr>
                <a:t>소계</a:t>
              </a:r>
            </a:p>
          </p:txBody>
        </p:sp>
        <p:sp>
          <p:nvSpPr>
            <p:cNvPr id="112" name="TextBox 111">
              <a:extLst>
                <a:ext uri="{FF2B5EF4-FFF2-40B4-BE49-F238E27FC236}">
                  <a16:creationId xmlns:a16="http://schemas.microsoft.com/office/drawing/2014/main" id="{FFC49AEA-2A8F-250C-A86A-A7751D9706C3}"/>
                </a:ext>
              </a:extLst>
            </p:cNvPr>
            <p:cNvSpPr txBox="1"/>
            <p:nvPr/>
          </p:nvSpPr>
          <p:spPr>
            <a:xfrm>
              <a:off x="1547180" y="1835481"/>
              <a:ext cx="1775839" cy="861774"/>
            </a:xfrm>
            <a:prstGeom prst="rect">
              <a:avLst/>
            </a:prstGeom>
            <a:noFill/>
          </p:spPr>
          <p:txBody>
            <a:bodyPr wrap="square" lIns="0" tIns="0" rIns="0" bIns="0" rtlCol="0">
              <a:spAutoFit/>
            </a:bodyPr>
            <a:lstStyle/>
            <a:p>
              <a:pPr algn="r">
                <a:lnSpc>
                  <a:spcPct val="200000"/>
                </a:lnSpc>
              </a:pPr>
              <a:r>
                <a:rPr lang="en-US" altLang="ko-KR" sz="700" dirty="0">
                  <a:latin typeface="+mn-ea"/>
                </a:rPr>
                <a:t>000,000,000.00 USD</a:t>
              </a:r>
            </a:p>
            <a:p>
              <a:pPr algn="r">
                <a:lnSpc>
                  <a:spcPct val="200000"/>
                </a:lnSpc>
              </a:pPr>
              <a:r>
                <a:rPr lang="en-US" altLang="ko-KR" sz="700" dirty="0">
                  <a:latin typeface="+mn-ea"/>
                </a:rPr>
                <a:t>000,000,000.00 USD</a:t>
              </a:r>
            </a:p>
            <a:p>
              <a:pPr algn="r">
                <a:lnSpc>
                  <a:spcPct val="200000"/>
                </a:lnSpc>
              </a:pPr>
              <a:r>
                <a:rPr lang="en-US" altLang="ko-KR" sz="700" dirty="0">
                  <a:latin typeface="+mn-ea"/>
                </a:rPr>
                <a:t>0.00 USD</a:t>
              </a:r>
            </a:p>
            <a:p>
              <a:pPr algn="r">
                <a:lnSpc>
                  <a:spcPct val="200000"/>
                </a:lnSpc>
              </a:pPr>
              <a:r>
                <a:rPr lang="en-US" altLang="ko-KR" sz="700" dirty="0">
                  <a:latin typeface="+mn-ea"/>
                </a:rPr>
                <a:t>000,000,000.00 USD</a:t>
              </a:r>
            </a:p>
          </p:txBody>
        </p:sp>
        <p:grpSp>
          <p:nvGrpSpPr>
            <p:cNvPr id="113" name="그룹 112"/>
            <p:cNvGrpSpPr/>
            <p:nvPr/>
          </p:nvGrpSpPr>
          <p:grpSpPr>
            <a:xfrm>
              <a:off x="701175" y="1835481"/>
              <a:ext cx="2630093" cy="858960"/>
              <a:chOff x="701175" y="1835481"/>
              <a:chExt cx="2630093" cy="858960"/>
            </a:xfrm>
          </p:grpSpPr>
          <p:cxnSp>
            <p:nvCxnSpPr>
              <p:cNvPr id="114" name="직선 연결선 113">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5" name="직선 연결선 114">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19" name="TextBox 118">
            <a:extLst>
              <a:ext uri="{FF2B5EF4-FFF2-40B4-BE49-F238E27FC236}">
                <a16:creationId xmlns:a16="http://schemas.microsoft.com/office/drawing/2014/main" id="{FFC49AEA-2A8F-250C-A86A-A7751D9706C3}"/>
              </a:ext>
            </a:extLst>
          </p:cNvPr>
          <p:cNvSpPr txBox="1"/>
          <p:nvPr/>
        </p:nvSpPr>
        <p:spPr>
          <a:xfrm>
            <a:off x="762146" y="4828696"/>
            <a:ext cx="1279155" cy="181140"/>
          </a:xfrm>
          <a:prstGeom prst="rect">
            <a:avLst/>
          </a:prstGeom>
          <a:noFill/>
        </p:spPr>
        <p:txBody>
          <a:bodyPr wrap="square" lIns="0" tIns="0" rIns="0" bIns="0" rtlCol="0">
            <a:spAutoFit/>
          </a:bodyPr>
          <a:lstStyle/>
          <a:p>
            <a:pPr>
              <a:lnSpc>
                <a:spcPct val="200000"/>
              </a:lnSpc>
            </a:pPr>
            <a:r>
              <a:rPr lang="ko-KR" altLang="en-US" sz="700" dirty="0" err="1">
                <a:latin typeface="+mn-ea"/>
              </a:rPr>
              <a:t>달러금액</a:t>
            </a:r>
            <a:endParaRPr lang="ko-KR" altLang="en-US" sz="700" dirty="0">
              <a:latin typeface="+mn-ea"/>
            </a:endParaRPr>
          </a:p>
        </p:txBody>
      </p:sp>
      <p:grpSp>
        <p:nvGrpSpPr>
          <p:cNvPr id="120" name="그룹 119"/>
          <p:cNvGrpSpPr/>
          <p:nvPr/>
        </p:nvGrpSpPr>
        <p:grpSpPr>
          <a:xfrm>
            <a:off x="3836701" y="1527996"/>
            <a:ext cx="2630093" cy="2677365"/>
            <a:chOff x="701175" y="1527996"/>
            <a:chExt cx="2630093" cy="2677365"/>
          </a:xfrm>
        </p:grpSpPr>
        <p:sp>
          <p:nvSpPr>
            <p:cNvPr id="121" name="TextBox 120">
              <a:extLst>
                <a:ext uri="{FF2B5EF4-FFF2-40B4-BE49-F238E27FC236}">
                  <a16:creationId xmlns:a16="http://schemas.microsoft.com/office/drawing/2014/main" id="{FFC49AEA-2A8F-250C-A86A-A7751D9706C3}"/>
                </a:ext>
              </a:extLst>
            </p:cNvPr>
            <p:cNvSpPr txBox="1"/>
            <p:nvPr/>
          </p:nvSpPr>
          <p:spPr>
            <a:xfrm>
              <a:off x="762146" y="1527996"/>
              <a:ext cx="1279155" cy="181140"/>
            </a:xfrm>
            <a:prstGeom prst="rect">
              <a:avLst/>
            </a:prstGeom>
            <a:noFill/>
          </p:spPr>
          <p:txBody>
            <a:bodyPr wrap="square" lIns="0" tIns="0" rIns="0" bIns="0" rtlCol="0">
              <a:spAutoFit/>
            </a:bodyPr>
            <a:lstStyle/>
            <a:p>
              <a:pPr>
                <a:lnSpc>
                  <a:spcPct val="200000"/>
                </a:lnSpc>
              </a:pPr>
              <a:r>
                <a:rPr lang="ko-KR" altLang="en-US" sz="700" dirty="0">
                  <a:latin typeface="+mn-ea"/>
                </a:rPr>
                <a:t>입찰 결과 목록 </a:t>
              </a:r>
              <a:r>
                <a:rPr lang="en-US" altLang="ko-KR" sz="700" dirty="0">
                  <a:latin typeface="+mn-ea"/>
                </a:rPr>
                <a:t>- </a:t>
              </a:r>
              <a:r>
                <a:rPr lang="ko-KR" altLang="en-US" sz="700" dirty="0" err="1">
                  <a:latin typeface="+mn-ea"/>
                </a:rPr>
                <a:t>단가제</a:t>
              </a:r>
              <a:endParaRPr lang="ko-KR" altLang="en-US" sz="700" dirty="0">
                <a:latin typeface="+mn-ea"/>
              </a:endParaRPr>
            </a:p>
          </p:txBody>
        </p:sp>
        <p:sp>
          <p:nvSpPr>
            <p:cNvPr id="123" name="직사각형 122"/>
            <p:cNvSpPr/>
            <p:nvPr/>
          </p:nvSpPr>
          <p:spPr>
            <a:xfrm>
              <a:off x="703268" y="1835482"/>
              <a:ext cx="792000" cy="23698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790330" y="1835481"/>
              <a:ext cx="728979" cy="2369880"/>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err="1">
                  <a:latin typeface="+mn-ea"/>
                </a:rPr>
                <a:t>부품번호</a:t>
              </a:r>
              <a:endParaRPr lang="en-US" altLang="ko-KR" sz="700" dirty="0">
                <a:latin typeface="+mn-ea"/>
              </a:endParaRPr>
            </a:p>
            <a:p>
              <a:pPr>
                <a:lnSpc>
                  <a:spcPct val="200000"/>
                </a:lnSpc>
              </a:pPr>
              <a:r>
                <a:rPr lang="ko-KR" altLang="en-US" sz="700" dirty="0">
                  <a:latin typeface="+mn-ea"/>
                </a:rPr>
                <a:t>단위</a:t>
              </a:r>
              <a:endParaRPr lang="en-US" altLang="ko-KR" sz="700" dirty="0">
                <a:latin typeface="+mn-ea"/>
              </a:endParaRPr>
            </a:p>
            <a:p>
              <a:pPr>
                <a:lnSpc>
                  <a:spcPct val="200000"/>
                </a:lnSpc>
              </a:pPr>
              <a:r>
                <a:rPr lang="ko-KR" altLang="en-US" sz="700" dirty="0">
                  <a:latin typeface="+mn-ea"/>
                </a:rPr>
                <a:t>수량</a:t>
              </a:r>
              <a:endParaRPr lang="en-US" altLang="ko-KR" sz="700" dirty="0">
                <a:latin typeface="+mn-ea"/>
              </a:endParaRPr>
            </a:p>
            <a:p>
              <a:pPr>
                <a:lnSpc>
                  <a:spcPct val="200000"/>
                </a:lnSpc>
              </a:pPr>
              <a:r>
                <a:rPr lang="ko-KR" altLang="en-US" sz="700" dirty="0" err="1">
                  <a:latin typeface="+mn-ea"/>
                </a:rPr>
                <a:t>지시단가</a:t>
              </a:r>
              <a:endParaRPr lang="en-US" altLang="ko-KR" sz="700" dirty="0">
                <a:latin typeface="+mn-ea"/>
              </a:endParaRPr>
            </a:p>
            <a:p>
              <a:pPr>
                <a:lnSpc>
                  <a:spcPct val="200000"/>
                </a:lnSpc>
              </a:pPr>
              <a:r>
                <a:rPr lang="ko-KR" altLang="en-US" sz="700" dirty="0" err="1">
                  <a:latin typeface="+mn-ea"/>
                </a:rPr>
                <a:t>입찰단가</a:t>
              </a:r>
              <a:endParaRPr lang="en-US" altLang="ko-KR" sz="700" dirty="0">
                <a:latin typeface="+mn-ea"/>
              </a:endParaRPr>
            </a:p>
            <a:p>
              <a:pPr>
                <a:lnSpc>
                  <a:spcPct val="200000"/>
                </a:lnSpc>
              </a:pPr>
              <a:r>
                <a:rPr lang="ko-KR" altLang="en-US" sz="700" dirty="0" err="1">
                  <a:latin typeface="+mn-ea"/>
                </a:rPr>
                <a:t>달러단가</a:t>
              </a:r>
              <a:endParaRPr lang="en-US" altLang="ko-KR" sz="700" dirty="0">
                <a:latin typeface="+mn-ea"/>
              </a:endParaRPr>
            </a:p>
            <a:p>
              <a:pPr>
                <a:lnSpc>
                  <a:spcPct val="200000"/>
                </a:lnSpc>
              </a:pPr>
              <a:r>
                <a:rPr lang="ko-KR" altLang="en-US" sz="700" dirty="0" err="1">
                  <a:latin typeface="+mn-ea"/>
                </a:rPr>
                <a:t>달러금액</a:t>
              </a:r>
              <a:endParaRPr lang="en-US" altLang="ko-KR" sz="700" dirty="0">
                <a:latin typeface="+mn-ea"/>
              </a:endParaRPr>
            </a:p>
            <a:p>
              <a:pPr>
                <a:lnSpc>
                  <a:spcPct val="200000"/>
                </a:lnSpc>
              </a:pPr>
              <a:r>
                <a:rPr lang="ko-KR" altLang="en-US" sz="700" dirty="0">
                  <a:latin typeface="+mn-ea"/>
                </a:rPr>
                <a:t>입찰결과</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1547180" y="1835481"/>
              <a:ext cx="1775839" cy="2369880"/>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500MD</a:t>
              </a:r>
            </a:p>
            <a:p>
              <a:pPr>
                <a:lnSpc>
                  <a:spcPct val="200000"/>
                </a:lnSpc>
              </a:pPr>
              <a:r>
                <a:rPr lang="en-US" altLang="ko-KR" sz="700" dirty="0">
                  <a:latin typeface="+mn-ea"/>
                </a:rPr>
                <a:t>000 000 0000</a:t>
              </a:r>
            </a:p>
            <a:p>
              <a:pPr>
                <a:lnSpc>
                  <a:spcPct val="200000"/>
                </a:lnSpc>
              </a:pPr>
              <a:r>
                <a:rPr lang="en-US" altLang="ko-KR" sz="700" dirty="0">
                  <a:latin typeface="+mn-ea"/>
                </a:rPr>
                <a:t>0000</a:t>
              </a:r>
            </a:p>
            <a:p>
              <a:pPr>
                <a:lnSpc>
                  <a:spcPct val="200000"/>
                </a:lnSpc>
              </a:pPr>
              <a:r>
                <a:rPr lang="en-US" altLang="ko-KR" sz="700" dirty="0">
                  <a:latin typeface="+mn-ea"/>
                </a:rPr>
                <a:t>EA</a:t>
              </a:r>
            </a:p>
            <a:p>
              <a:pPr>
                <a:lnSpc>
                  <a:spcPct val="200000"/>
                </a:lnSpc>
              </a:pPr>
              <a:r>
                <a:rPr lang="en-US" altLang="ko-KR" sz="700" dirty="0">
                  <a:latin typeface="+mn-ea"/>
                </a:rPr>
                <a:t>5</a:t>
              </a:r>
            </a:p>
            <a:p>
              <a:pPr algn="r">
                <a:lnSpc>
                  <a:spcPct val="200000"/>
                </a:lnSpc>
              </a:pPr>
              <a:r>
                <a:rPr lang="en-US" altLang="ko-KR" sz="700" dirty="0">
                  <a:latin typeface="+mn-ea"/>
                </a:rPr>
                <a:t>5,000,000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USD</a:t>
              </a:r>
            </a:p>
            <a:p>
              <a:pPr algn="r">
                <a:lnSpc>
                  <a:spcPct val="200000"/>
                </a:lnSpc>
              </a:pPr>
              <a:r>
                <a:rPr lang="en-US" altLang="ko-KR" sz="700" dirty="0">
                  <a:latin typeface="+mn-ea"/>
                </a:rPr>
                <a:t>1,000.00 USD</a:t>
              </a:r>
            </a:p>
            <a:p>
              <a:pPr>
                <a:lnSpc>
                  <a:spcPct val="200000"/>
                </a:lnSpc>
              </a:pPr>
              <a:r>
                <a:rPr lang="ko-KR" altLang="en-US" sz="700" dirty="0" err="1">
                  <a:latin typeface="+mn-ea"/>
                </a:rPr>
                <a:t>동가낙찰</a:t>
              </a:r>
              <a:endParaRPr lang="en-US" altLang="ko-KR" sz="700" dirty="0">
                <a:latin typeface="+mn-ea"/>
              </a:endParaRPr>
            </a:p>
          </p:txBody>
        </p:sp>
        <p:grpSp>
          <p:nvGrpSpPr>
            <p:cNvPr id="126" name="그룹 125"/>
            <p:cNvGrpSpPr/>
            <p:nvPr/>
          </p:nvGrpSpPr>
          <p:grpSpPr>
            <a:xfrm>
              <a:off x="701175" y="1835481"/>
              <a:ext cx="2630093" cy="2361170"/>
              <a:chOff x="701175" y="1835481"/>
              <a:chExt cx="2630093" cy="2361170"/>
            </a:xfrm>
          </p:grpSpPr>
          <p:cxnSp>
            <p:nvCxnSpPr>
              <p:cNvPr id="127" name="직선 연결선 12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03268" y="22663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1175" y="248501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6997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9158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13539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3501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35662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701175" y="376576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3268" y="39805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3268" y="41966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44" name="직사각형 143"/>
          <p:cNvSpPr/>
          <p:nvPr/>
        </p:nvSpPr>
        <p:spPr>
          <a:xfrm>
            <a:off x="3820170" y="4535412"/>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5" name="사각형: 둥근 모서리 31">
            <a:extLst>
              <a:ext uri="{FF2B5EF4-FFF2-40B4-BE49-F238E27FC236}">
                <a16:creationId xmlns:a16="http://schemas.microsoft.com/office/drawing/2014/main" id="{2AC143EE-93CF-3518-F0CB-8469E98507E0}"/>
              </a:ext>
            </a:extLst>
          </p:cNvPr>
          <p:cNvSpPr/>
          <p:nvPr/>
        </p:nvSpPr>
        <p:spPr>
          <a:xfrm>
            <a:off x="3928441" y="5983001"/>
            <a:ext cx="2446613" cy="242486"/>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더보기</a:t>
            </a:r>
            <a:r>
              <a:rPr kumimoji="1" lang="ko-KR" altLang="en-US" sz="800" kern="0" dirty="0">
                <a:solidFill>
                  <a:srgbClr val="0070C0"/>
                </a:solidFill>
                <a:latin typeface="맑은 고딕"/>
                <a:ea typeface="맑은 고딕" panose="020B0503020000020004" pitchFamily="50" charset="-127"/>
              </a:rPr>
              <a:t> </a:t>
            </a:r>
            <a:r>
              <a:rPr kumimoji="1" lang="en-US" altLang="ko-KR" sz="800" kern="0" dirty="0">
                <a:solidFill>
                  <a:srgbClr val="0070C0"/>
                </a:solidFill>
                <a:latin typeface="맑은 고딕"/>
                <a:ea typeface="맑은 고딕" panose="020B0503020000020004" pitchFamily="50" charset="-127"/>
              </a:rPr>
              <a:t>(10/258)</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146" name="그룹 145">
            <a:extLst>
              <a:ext uri="{FF2B5EF4-FFF2-40B4-BE49-F238E27FC236}">
                <a16:creationId xmlns:a16="http://schemas.microsoft.com/office/drawing/2014/main" id="{22BC05EE-C648-7CA2-4CCC-6E1C1A7E9BDA}"/>
              </a:ext>
            </a:extLst>
          </p:cNvPr>
          <p:cNvGrpSpPr/>
          <p:nvPr/>
        </p:nvGrpSpPr>
        <p:grpSpPr>
          <a:xfrm>
            <a:off x="5113316" y="5681839"/>
            <a:ext cx="76863" cy="292489"/>
            <a:chOff x="3750067" y="4683795"/>
            <a:chExt cx="76863" cy="292489"/>
          </a:xfrm>
        </p:grpSpPr>
        <p:sp>
          <p:nvSpPr>
            <p:cNvPr id="147" name="타원 14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8" name="타원 14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9" name="타원 14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50" name="TextBox 149">
            <a:extLst>
              <a:ext uri="{FF2B5EF4-FFF2-40B4-BE49-F238E27FC236}">
                <a16:creationId xmlns:a16="http://schemas.microsoft.com/office/drawing/2014/main" id="{FFC49AEA-2A8F-250C-A86A-A7751D9706C3}"/>
              </a:ext>
            </a:extLst>
          </p:cNvPr>
          <p:cNvSpPr txBox="1"/>
          <p:nvPr/>
        </p:nvSpPr>
        <p:spPr>
          <a:xfrm>
            <a:off x="3910666" y="4535413"/>
            <a:ext cx="725552" cy="827471"/>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en-US" altLang="ko-KR" sz="700" dirty="0">
              <a:latin typeface="+mn-ea"/>
            </a:endParaRPr>
          </a:p>
          <a:p>
            <a:pPr>
              <a:lnSpc>
                <a:spcPct val="200000"/>
              </a:lnSpc>
            </a:pPr>
            <a:r>
              <a:rPr lang="ko-KR" altLang="en-US" sz="700" dirty="0">
                <a:latin typeface="+mn-ea"/>
              </a:rPr>
              <a:t>품명</a:t>
            </a:r>
            <a:endParaRPr lang="en-US" altLang="ko-KR" sz="700" dirty="0">
              <a:latin typeface="+mn-ea"/>
            </a:endParaRPr>
          </a:p>
          <a:p>
            <a:pPr>
              <a:lnSpc>
                <a:spcPct val="200000"/>
              </a:lnSpc>
            </a:pPr>
            <a:r>
              <a:rPr lang="ko-KR" altLang="en-US" sz="700" dirty="0" err="1">
                <a:latin typeface="+mn-ea"/>
              </a:rPr>
              <a:t>재고번호</a:t>
            </a:r>
            <a:endParaRPr lang="en-US" altLang="ko-KR" sz="700" dirty="0">
              <a:latin typeface="+mn-ea"/>
            </a:endParaRPr>
          </a:p>
          <a:p>
            <a:pPr>
              <a:lnSpc>
                <a:spcPct val="200000"/>
              </a:lnSpc>
            </a:pPr>
            <a:r>
              <a:rPr lang="ko-KR" altLang="en-US" sz="700" dirty="0" err="1">
                <a:latin typeface="+mn-ea"/>
              </a:rPr>
              <a:t>부품번호</a:t>
            </a:r>
            <a:endParaRPr lang="en-US" altLang="ko-KR" sz="700" dirty="0">
              <a:latin typeface="+mn-ea"/>
            </a:endParaRPr>
          </a:p>
        </p:txBody>
      </p:sp>
      <p:grpSp>
        <p:nvGrpSpPr>
          <p:cNvPr id="151" name="그룹 150"/>
          <p:cNvGrpSpPr/>
          <p:nvPr/>
        </p:nvGrpSpPr>
        <p:grpSpPr>
          <a:xfrm>
            <a:off x="3821510" y="4535413"/>
            <a:ext cx="2630093" cy="1075182"/>
            <a:chOff x="701175" y="1835481"/>
            <a:chExt cx="2630093" cy="1075182"/>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5" name="직선 연결선 15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4667515" y="4535413"/>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500MD</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0000</a:t>
            </a:r>
            <a:endParaRPr lang="en-US" altLang="ko-KR" sz="700" dirty="0">
              <a:latin typeface="+mn-ea"/>
            </a:endParaRPr>
          </a:p>
        </p:txBody>
      </p:sp>
      <p:sp>
        <p:nvSpPr>
          <p:cNvPr id="179" name="사각형: 둥근 모서리 15">
            <a:extLst>
              <a:ext uri="{FF2B5EF4-FFF2-40B4-BE49-F238E27FC236}">
                <a16:creationId xmlns:a16="http://schemas.microsoft.com/office/drawing/2014/main" id="{E2B61CFB-AD16-68D0-8752-50D9C5E01971}"/>
              </a:ext>
            </a:extLst>
          </p:cNvPr>
          <p:cNvSpPr/>
          <p:nvPr/>
        </p:nvSpPr>
        <p:spPr>
          <a:xfrm>
            <a:off x="3933132" y="5420912"/>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grpSp>
        <p:nvGrpSpPr>
          <p:cNvPr id="180" name="그룹 179"/>
          <p:cNvGrpSpPr/>
          <p:nvPr/>
        </p:nvGrpSpPr>
        <p:grpSpPr>
          <a:xfrm>
            <a:off x="3823603" y="4195427"/>
            <a:ext cx="2628000" cy="216222"/>
            <a:chOff x="703268" y="2694441"/>
            <a:chExt cx="2628000" cy="216222"/>
          </a:xfrm>
        </p:grpSpPr>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6" name="사각형: 둥근 모서리 15">
            <a:extLst>
              <a:ext uri="{FF2B5EF4-FFF2-40B4-BE49-F238E27FC236}">
                <a16:creationId xmlns:a16="http://schemas.microsoft.com/office/drawing/2014/main" id="{E2B61CFB-AD16-68D0-8752-50D9C5E01971}"/>
              </a:ext>
            </a:extLst>
          </p:cNvPr>
          <p:cNvSpPr/>
          <p:nvPr/>
        </p:nvSpPr>
        <p:spPr>
          <a:xfrm>
            <a:off x="3933132" y="4221966"/>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t>내역 접기 ↑</a:t>
            </a:r>
            <a:endParaRPr kumimoji="1" lang="en-US" altLang="ko-KR" sz="700" kern="0" dirty="0"/>
          </a:p>
        </p:txBody>
      </p:sp>
      <p:sp>
        <p:nvSpPr>
          <p:cNvPr id="187" name="사각형: 둥근 모서리 15">
            <a:extLst>
              <a:ext uri="{FF2B5EF4-FFF2-40B4-BE49-F238E27FC236}">
                <a16:creationId xmlns:a16="http://schemas.microsoft.com/office/drawing/2014/main" id="{E2B61CFB-AD16-68D0-8752-50D9C5E01971}"/>
              </a:ext>
            </a:extLst>
          </p:cNvPr>
          <p:cNvSpPr/>
          <p:nvPr/>
        </p:nvSpPr>
        <p:spPr>
          <a:xfrm>
            <a:off x="5754600" y="1572457"/>
            <a:ext cx="697003" cy="162000"/>
          </a:xfrm>
          <a:prstGeom prst="roundRect">
            <a:avLst/>
          </a:prstGeom>
          <a:noFill/>
          <a:ln w="12700"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a:latin typeface="맑은 고딕"/>
              </a:rPr>
              <a:t>결과 전체</a:t>
            </a:r>
            <a:endParaRPr kumimoji="1" lang="en-US" sz="700" b="0" i="0" u="none" strike="noStrike" kern="0" cap="none" spc="0" normalizeH="0" baseline="0" noProof="0" dirty="0">
              <a:ln>
                <a:noFill/>
              </a:ln>
              <a:effectLst/>
              <a:uLnTx/>
              <a:uFillTx/>
              <a:latin typeface="맑은 고딕"/>
            </a:endParaRPr>
          </a:p>
        </p:txBody>
      </p:sp>
      <p:grpSp>
        <p:nvGrpSpPr>
          <p:cNvPr id="188" name="그룹 187"/>
          <p:cNvGrpSpPr/>
          <p:nvPr/>
        </p:nvGrpSpPr>
        <p:grpSpPr>
          <a:xfrm>
            <a:off x="6285240" y="1629955"/>
            <a:ext cx="94010" cy="47005"/>
            <a:chOff x="6812560" y="3297172"/>
            <a:chExt cx="94010" cy="47005"/>
          </a:xfrm>
        </p:grpSpPr>
        <p:cxnSp>
          <p:nvCxnSpPr>
            <p:cNvPr id="189" name="직선 연결선 18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0" name="직선 연결선 18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1" name="타원 190">
            <a:extLst>
              <a:ext uri="{FF2B5EF4-FFF2-40B4-BE49-F238E27FC236}">
                <a16:creationId xmlns:a16="http://schemas.microsoft.com/office/drawing/2014/main" id="{37A7FF4F-0EAA-1463-560A-D5EC24416103}"/>
              </a:ext>
            </a:extLst>
          </p:cNvPr>
          <p:cNvSpPr/>
          <p:nvPr/>
        </p:nvSpPr>
        <p:spPr>
          <a:xfrm>
            <a:off x="3674573"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Tree>
    <p:extLst>
      <p:ext uri="{BB962C8B-B14F-4D97-AF65-F5344CB8AC3E}">
        <p14:creationId xmlns:p14="http://schemas.microsoft.com/office/powerpoint/2010/main" val="935968375"/>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입찰결과</a:t>
            </a:r>
            <a:r>
              <a:rPr lang="en-US" altLang="ko-KR" dirty="0"/>
              <a:t>(</a:t>
            </a:r>
            <a:r>
              <a:rPr lang="ko-KR" altLang="en-US" dirty="0" err="1"/>
              <a:t>총액제</a:t>
            </a:r>
            <a:r>
              <a:rPr lang="en-US" altLang="ko-KR" dirty="0"/>
              <a:t>) </a:t>
            </a:r>
            <a:r>
              <a:rPr lang="ko-KR" altLang="en-US" dirty="0"/>
              <a:t>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404</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a:latin typeface="+mn-ea"/>
              </a:rPr>
              <a:t>입찰결과조회 </a:t>
            </a:r>
            <a:r>
              <a:rPr lang="en-US" altLang="ko-KR" dirty="0">
                <a:latin typeface="+mn-ea"/>
              </a:rPr>
              <a:t>– </a:t>
            </a:r>
            <a:r>
              <a:rPr lang="ko-KR" altLang="en-US" dirty="0">
                <a:latin typeface="+mn-ea"/>
              </a:rPr>
              <a:t>입찰결과 </a:t>
            </a:r>
            <a:r>
              <a:rPr lang="en-US" altLang="ko-KR" dirty="0">
                <a:latin typeface="+mn-ea"/>
              </a:rPr>
              <a:t>(</a:t>
            </a:r>
            <a:r>
              <a:rPr lang="ko-KR" altLang="en-US" dirty="0" err="1">
                <a:latin typeface="+mn-ea"/>
              </a:rPr>
              <a:t>총액제</a:t>
            </a:r>
            <a:r>
              <a:rPr lang="en-US" altLang="ko-KR" dirty="0">
                <a:latin typeface="+mn-ea"/>
              </a:rPr>
              <a:t>)</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입찰결과를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a:latin typeface="+mn-ea"/>
              </a:rPr>
              <a:t>입찰 결과 조회</a:t>
            </a: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MUI-BD-09-M73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120" name="그룹 119"/>
          <p:cNvGrpSpPr/>
          <p:nvPr/>
        </p:nvGrpSpPr>
        <p:grpSpPr>
          <a:xfrm>
            <a:off x="716366" y="1527996"/>
            <a:ext cx="2630093" cy="1607397"/>
            <a:chOff x="701175" y="1527996"/>
            <a:chExt cx="2630093" cy="1607397"/>
          </a:xfrm>
        </p:grpSpPr>
        <p:sp>
          <p:nvSpPr>
            <p:cNvPr id="121" name="TextBox 120">
              <a:extLst>
                <a:ext uri="{FF2B5EF4-FFF2-40B4-BE49-F238E27FC236}">
                  <a16:creationId xmlns:a16="http://schemas.microsoft.com/office/drawing/2014/main" id="{FFC49AEA-2A8F-250C-A86A-A7751D9706C3}"/>
                </a:ext>
              </a:extLst>
            </p:cNvPr>
            <p:cNvSpPr txBox="1"/>
            <p:nvPr/>
          </p:nvSpPr>
          <p:spPr>
            <a:xfrm>
              <a:off x="762146" y="1527996"/>
              <a:ext cx="1279155" cy="215444"/>
            </a:xfrm>
            <a:prstGeom prst="rect">
              <a:avLst/>
            </a:prstGeom>
            <a:noFill/>
          </p:spPr>
          <p:txBody>
            <a:bodyPr wrap="square" lIns="0" tIns="0" rIns="0" bIns="0" rtlCol="0">
              <a:spAutoFit/>
            </a:bodyPr>
            <a:lstStyle/>
            <a:p>
              <a:pPr>
                <a:lnSpc>
                  <a:spcPct val="200000"/>
                </a:lnSpc>
              </a:pPr>
              <a:r>
                <a:rPr lang="ko-KR" altLang="en-US" sz="700" dirty="0">
                  <a:latin typeface="+mn-ea"/>
                </a:rPr>
                <a:t>입찰 결과 목록 </a:t>
              </a:r>
              <a:r>
                <a:rPr lang="en-US" altLang="ko-KR" sz="700" dirty="0">
                  <a:latin typeface="+mn-ea"/>
                </a:rPr>
                <a:t>- </a:t>
              </a:r>
              <a:r>
                <a:rPr lang="ko-KR" altLang="en-US" sz="700" dirty="0" err="1">
                  <a:latin typeface="+mn-ea"/>
                </a:rPr>
                <a:t>총액제</a:t>
              </a:r>
              <a:endParaRPr lang="ko-KR" altLang="en-US" sz="700" dirty="0">
                <a:latin typeface="+mn-ea"/>
              </a:endParaRPr>
            </a:p>
          </p:txBody>
        </p:sp>
        <p:sp>
          <p:nvSpPr>
            <p:cNvPr id="123" name="직사각형 122"/>
            <p:cNvSpPr/>
            <p:nvPr/>
          </p:nvSpPr>
          <p:spPr>
            <a:xfrm>
              <a:off x="703268" y="1835482"/>
              <a:ext cx="792000" cy="129991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790330" y="1835481"/>
              <a:ext cx="728979" cy="1292662"/>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지시금액</a:t>
              </a:r>
              <a:endParaRPr lang="en-US" altLang="ko-KR" sz="700" dirty="0">
                <a:latin typeface="+mn-ea"/>
              </a:endParaRPr>
            </a:p>
            <a:p>
              <a:pPr>
                <a:lnSpc>
                  <a:spcPct val="200000"/>
                </a:lnSpc>
              </a:pPr>
              <a:r>
                <a:rPr lang="ko-KR" altLang="en-US" sz="700" dirty="0">
                  <a:latin typeface="+mn-ea"/>
                </a:rPr>
                <a:t>입찰금액</a:t>
              </a:r>
              <a:endParaRPr lang="en-US" altLang="ko-KR" sz="700" dirty="0">
                <a:latin typeface="+mn-ea"/>
              </a:endParaRPr>
            </a:p>
            <a:p>
              <a:pPr>
                <a:lnSpc>
                  <a:spcPct val="200000"/>
                </a:lnSpc>
              </a:pPr>
              <a:r>
                <a:rPr lang="ko-KR" altLang="en-US" sz="700" dirty="0" err="1">
                  <a:latin typeface="+mn-ea"/>
                </a:rPr>
                <a:t>달러금액</a:t>
              </a:r>
              <a:endParaRPr lang="en-US" altLang="ko-KR" sz="700" dirty="0">
                <a:latin typeface="+mn-ea"/>
              </a:endParaRPr>
            </a:p>
            <a:p>
              <a:pPr>
                <a:lnSpc>
                  <a:spcPct val="200000"/>
                </a:lnSpc>
              </a:pPr>
              <a:r>
                <a:rPr lang="ko-KR" altLang="en-US" sz="700" dirty="0">
                  <a:latin typeface="+mn-ea"/>
                </a:rPr>
                <a:t>입찰결과</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1547180" y="1835481"/>
              <a:ext cx="1775839" cy="1292662"/>
            </a:xfrm>
            <a:prstGeom prst="rect">
              <a:avLst/>
            </a:prstGeom>
            <a:noFill/>
          </p:spPr>
          <p:txBody>
            <a:bodyPr wrap="square" lIns="0" tIns="0" rIns="0" bIns="0" rtlCol="0">
              <a:spAutoFit/>
            </a:bodyPr>
            <a:lstStyle/>
            <a:p>
              <a:pPr>
                <a:lnSpc>
                  <a:spcPct val="200000"/>
                </a:lnSpc>
              </a:pPr>
              <a:r>
                <a:rPr lang="en-US" altLang="ko-KR" sz="700" dirty="0">
                  <a:latin typeface="+mn-ea"/>
                </a:rPr>
                <a:t>A </a:t>
              </a:r>
              <a:r>
                <a:rPr lang="ko-KR" altLang="en-US" sz="700" dirty="0" err="1">
                  <a:latin typeface="+mn-ea"/>
                </a:rPr>
                <a:t>국외업체</a:t>
              </a:r>
              <a:endParaRPr lang="en-US" altLang="ko-KR" sz="700" dirty="0">
                <a:latin typeface="+mn-ea"/>
              </a:endParaRPr>
            </a:p>
            <a:p>
              <a:pPr>
                <a:lnSpc>
                  <a:spcPct val="200000"/>
                </a:lnSpc>
              </a:pPr>
              <a:r>
                <a:rPr lang="en-US" altLang="ko-KR" sz="700" dirty="0">
                  <a:latin typeface="+mn-ea"/>
                </a:rPr>
                <a:t>123-45-67890</a:t>
              </a:r>
            </a:p>
            <a:p>
              <a:pPr algn="r">
                <a:lnSpc>
                  <a:spcPct val="200000"/>
                </a:lnSpc>
              </a:pPr>
              <a:r>
                <a:rPr lang="en-US" altLang="ko-KR" sz="700" dirty="0">
                  <a:latin typeface="+mn-ea"/>
                </a:rPr>
                <a:t>5,000,000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USD</a:t>
              </a:r>
            </a:p>
            <a:p>
              <a:pPr>
                <a:lnSpc>
                  <a:spcPct val="200000"/>
                </a:lnSpc>
              </a:pPr>
              <a:r>
                <a:rPr lang="ko-KR" altLang="en-US" sz="700" dirty="0" err="1">
                  <a:latin typeface="+mn-ea"/>
                </a:rPr>
                <a:t>동가낙찰</a:t>
              </a:r>
              <a:endParaRPr lang="en-US" altLang="ko-KR" sz="700" dirty="0">
                <a:latin typeface="+mn-ea"/>
              </a:endParaRPr>
            </a:p>
          </p:txBody>
        </p:sp>
        <p:grpSp>
          <p:nvGrpSpPr>
            <p:cNvPr id="126" name="그룹 125"/>
            <p:cNvGrpSpPr/>
            <p:nvPr/>
          </p:nvGrpSpPr>
          <p:grpSpPr>
            <a:xfrm>
              <a:off x="701175" y="1835481"/>
              <a:ext cx="2630093" cy="1299912"/>
              <a:chOff x="701175" y="1835481"/>
              <a:chExt cx="2630093" cy="1299912"/>
            </a:xfrm>
          </p:grpSpPr>
          <p:cxnSp>
            <p:nvCxnSpPr>
              <p:cNvPr id="127" name="직선 연결선 12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03268" y="22663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1175" y="248501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6997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9158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13539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2" name="TextBox 121">
              <a:extLst>
                <a:ext uri="{FF2B5EF4-FFF2-40B4-BE49-F238E27FC236}">
                  <a16:creationId xmlns:a16="http://schemas.microsoft.com/office/drawing/2014/main" id="{FFC49AEA-2A8F-250C-A86A-A7751D9706C3}"/>
                </a:ext>
              </a:extLst>
            </p:cNvPr>
            <p:cNvSpPr txBox="1"/>
            <p:nvPr/>
          </p:nvSpPr>
          <p:spPr>
            <a:xfrm>
              <a:off x="790330" y="2048035"/>
              <a:ext cx="728979" cy="215444"/>
            </a:xfrm>
            <a:prstGeom prst="rect">
              <a:avLst/>
            </a:prstGeom>
            <a:noFill/>
          </p:spPr>
          <p:txBody>
            <a:bodyPr wrap="square" lIns="0" tIns="0" rIns="0" bIns="0" rtlCol="0">
              <a:spAutoFit/>
            </a:bodyPr>
            <a:lstStyle/>
            <a:p>
              <a:r>
                <a:rPr lang="ko-KR" altLang="en-US" sz="700" dirty="0" err="1">
                  <a:latin typeface="+mn-ea"/>
                </a:rPr>
                <a:t>입찰업체</a:t>
              </a:r>
              <a:endParaRPr lang="en-US" altLang="ko-KR" sz="700" dirty="0">
                <a:latin typeface="+mn-ea"/>
              </a:endParaRPr>
            </a:p>
            <a:p>
              <a:r>
                <a:rPr lang="ko-KR" altLang="en-US" sz="700" dirty="0" err="1">
                  <a:latin typeface="+mn-ea"/>
                </a:rPr>
                <a:t>사업자번호</a:t>
              </a:r>
              <a:endParaRPr lang="ko-KR" altLang="en-US" sz="700" dirty="0">
                <a:latin typeface="+mn-ea"/>
              </a:endParaRPr>
            </a:p>
          </p:txBody>
        </p:sp>
      </p:grpSp>
      <p:sp>
        <p:nvSpPr>
          <p:cNvPr id="145" name="사각형: 둥근 모서리 31">
            <a:extLst>
              <a:ext uri="{FF2B5EF4-FFF2-40B4-BE49-F238E27FC236}">
                <a16:creationId xmlns:a16="http://schemas.microsoft.com/office/drawing/2014/main" id="{2AC143EE-93CF-3518-F0CB-8469E98507E0}"/>
              </a:ext>
            </a:extLst>
          </p:cNvPr>
          <p:cNvSpPr/>
          <p:nvPr/>
        </p:nvSpPr>
        <p:spPr>
          <a:xfrm>
            <a:off x="808106" y="5868571"/>
            <a:ext cx="2446613" cy="242486"/>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더보기</a:t>
            </a:r>
            <a:r>
              <a:rPr kumimoji="1" lang="ko-KR" altLang="en-US" sz="800" kern="0" dirty="0">
                <a:solidFill>
                  <a:srgbClr val="0070C0"/>
                </a:solidFill>
                <a:latin typeface="맑은 고딕"/>
                <a:ea typeface="맑은 고딕" panose="020B0503020000020004" pitchFamily="50" charset="-127"/>
              </a:rPr>
              <a:t> </a:t>
            </a:r>
            <a:r>
              <a:rPr kumimoji="1" lang="en-US" altLang="ko-KR" sz="800" kern="0" dirty="0">
                <a:solidFill>
                  <a:srgbClr val="0070C0"/>
                </a:solidFill>
                <a:latin typeface="맑은 고딕"/>
                <a:ea typeface="맑은 고딕" panose="020B0503020000020004" pitchFamily="50" charset="-127"/>
              </a:rPr>
              <a:t>(10/258)</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146" name="그룹 145">
            <a:extLst>
              <a:ext uri="{FF2B5EF4-FFF2-40B4-BE49-F238E27FC236}">
                <a16:creationId xmlns:a16="http://schemas.microsoft.com/office/drawing/2014/main" id="{22BC05EE-C648-7CA2-4CCC-6E1C1A7E9BDA}"/>
              </a:ext>
            </a:extLst>
          </p:cNvPr>
          <p:cNvGrpSpPr/>
          <p:nvPr/>
        </p:nvGrpSpPr>
        <p:grpSpPr>
          <a:xfrm>
            <a:off x="1992981" y="5070784"/>
            <a:ext cx="76863" cy="292489"/>
            <a:chOff x="3750067" y="4683795"/>
            <a:chExt cx="76863" cy="292489"/>
          </a:xfrm>
        </p:grpSpPr>
        <p:sp>
          <p:nvSpPr>
            <p:cNvPr id="147" name="타원 14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8" name="타원 14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9" name="타원 14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180" name="그룹 179"/>
          <p:cNvGrpSpPr/>
          <p:nvPr/>
        </p:nvGrpSpPr>
        <p:grpSpPr>
          <a:xfrm>
            <a:off x="717412" y="3134448"/>
            <a:ext cx="2628000" cy="216222"/>
            <a:chOff x="703268" y="2694441"/>
            <a:chExt cx="2628000" cy="216222"/>
          </a:xfrm>
        </p:grpSpPr>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6" name="사각형: 둥근 모서리 15">
            <a:extLst>
              <a:ext uri="{FF2B5EF4-FFF2-40B4-BE49-F238E27FC236}">
                <a16:creationId xmlns:a16="http://schemas.microsoft.com/office/drawing/2014/main" id="{E2B61CFB-AD16-68D0-8752-50D9C5E01971}"/>
              </a:ext>
            </a:extLst>
          </p:cNvPr>
          <p:cNvSpPr/>
          <p:nvPr/>
        </p:nvSpPr>
        <p:spPr>
          <a:xfrm>
            <a:off x="790250" y="3160987"/>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t>내역 접기 ↑</a:t>
            </a:r>
            <a:endParaRPr kumimoji="1" lang="en-US" altLang="ko-KR" sz="700" kern="0" dirty="0"/>
          </a:p>
        </p:txBody>
      </p:sp>
      <p:sp>
        <p:nvSpPr>
          <p:cNvPr id="187" name="사각형: 둥근 모서리 15">
            <a:extLst>
              <a:ext uri="{FF2B5EF4-FFF2-40B4-BE49-F238E27FC236}">
                <a16:creationId xmlns:a16="http://schemas.microsoft.com/office/drawing/2014/main" id="{E2B61CFB-AD16-68D0-8752-50D9C5E01971}"/>
              </a:ext>
            </a:extLst>
          </p:cNvPr>
          <p:cNvSpPr/>
          <p:nvPr/>
        </p:nvSpPr>
        <p:spPr>
          <a:xfrm>
            <a:off x="2642807" y="1572457"/>
            <a:ext cx="697003" cy="162000"/>
          </a:xfrm>
          <a:prstGeom prst="roundRect">
            <a:avLst/>
          </a:prstGeom>
          <a:noFill/>
          <a:ln w="12700"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a:latin typeface="맑은 고딕"/>
              </a:rPr>
              <a:t>결과 전체</a:t>
            </a:r>
            <a:endParaRPr kumimoji="1" lang="en-US" sz="700" b="0" i="0" u="none" strike="noStrike" kern="0" cap="none" spc="0" normalizeH="0" baseline="0" noProof="0" dirty="0">
              <a:ln>
                <a:noFill/>
              </a:ln>
              <a:effectLst/>
              <a:uLnTx/>
              <a:uFillTx/>
              <a:latin typeface="맑은 고딕"/>
            </a:endParaRPr>
          </a:p>
        </p:txBody>
      </p:sp>
      <p:grpSp>
        <p:nvGrpSpPr>
          <p:cNvPr id="188" name="그룹 187"/>
          <p:cNvGrpSpPr/>
          <p:nvPr/>
        </p:nvGrpSpPr>
        <p:grpSpPr>
          <a:xfrm>
            <a:off x="3178564" y="1629955"/>
            <a:ext cx="94010" cy="47005"/>
            <a:chOff x="6812560" y="3297172"/>
            <a:chExt cx="94010" cy="47005"/>
          </a:xfrm>
        </p:grpSpPr>
        <p:cxnSp>
          <p:nvCxnSpPr>
            <p:cNvPr id="189" name="직선 연결선 18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0" name="직선 연결선 18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3" name="그룹 2"/>
          <p:cNvGrpSpPr/>
          <p:nvPr/>
        </p:nvGrpSpPr>
        <p:grpSpPr>
          <a:xfrm>
            <a:off x="715696" y="3474433"/>
            <a:ext cx="2631433" cy="1075183"/>
            <a:chOff x="3820170" y="3474433"/>
            <a:chExt cx="2631433" cy="1075183"/>
          </a:xfrm>
        </p:grpSpPr>
        <p:sp>
          <p:nvSpPr>
            <p:cNvPr id="144" name="직사각형 143"/>
            <p:cNvSpPr/>
            <p:nvPr/>
          </p:nvSpPr>
          <p:spPr>
            <a:xfrm>
              <a:off x="3820170" y="3474433"/>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0" name="TextBox 149">
              <a:extLst>
                <a:ext uri="{FF2B5EF4-FFF2-40B4-BE49-F238E27FC236}">
                  <a16:creationId xmlns:a16="http://schemas.microsoft.com/office/drawing/2014/main" id="{FFC49AEA-2A8F-250C-A86A-A7751D9706C3}"/>
                </a:ext>
              </a:extLst>
            </p:cNvPr>
            <p:cNvSpPr txBox="1"/>
            <p:nvPr/>
          </p:nvSpPr>
          <p:spPr>
            <a:xfrm>
              <a:off x="3910666" y="3474434"/>
              <a:ext cx="725552" cy="827471"/>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err="1">
                  <a:latin typeface="+mn-ea"/>
                </a:rPr>
                <a:t>지시금액</a:t>
              </a:r>
              <a:endParaRPr lang="en-US" altLang="ko-KR" sz="700" dirty="0">
                <a:latin typeface="+mn-ea"/>
              </a:endParaRPr>
            </a:p>
            <a:p>
              <a:pPr>
                <a:lnSpc>
                  <a:spcPct val="200000"/>
                </a:lnSpc>
              </a:pPr>
              <a:r>
                <a:rPr lang="ko-KR" altLang="en-US" sz="700" dirty="0">
                  <a:latin typeface="+mn-ea"/>
                </a:rPr>
                <a:t>입찰금액</a:t>
              </a:r>
              <a:endParaRPr lang="en-US" altLang="ko-KR" sz="700" dirty="0">
                <a:latin typeface="+mn-ea"/>
              </a:endParaRPr>
            </a:p>
          </p:txBody>
        </p:sp>
        <p:grpSp>
          <p:nvGrpSpPr>
            <p:cNvPr id="151" name="그룹 150"/>
            <p:cNvGrpSpPr/>
            <p:nvPr/>
          </p:nvGrpSpPr>
          <p:grpSpPr>
            <a:xfrm>
              <a:off x="3821510" y="3474434"/>
              <a:ext cx="2630093" cy="1075182"/>
              <a:chOff x="701175" y="1835481"/>
              <a:chExt cx="2630093" cy="1075182"/>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5" name="직선 연결선 15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4667515" y="3474434"/>
              <a:ext cx="1784088" cy="827471"/>
            </a:xfrm>
            <a:prstGeom prst="rect">
              <a:avLst/>
            </a:prstGeom>
            <a:noFill/>
          </p:spPr>
          <p:txBody>
            <a:bodyPr wrap="square" lIns="0" tIns="0" rIns="0" bIns="0" rtlCol="0">
              <a:spAutoFit/>
            </a:bodyPr>
            <a:lstStyle/>
            <a:p>
              <a:pPr>
                <a:lnSpc>
                  <a:spcPct val="200000"/>
                </a:lnSpc>
              </a:pPr>
              <a:r>
                <a:rPr lang="en-US" altLang="ko-KR" sz="700" dirty="0">
                  <a:latin typeface="+mn-ea"/>
                </a:rPr>
                <a:t>A </a:t>
              </a:r>
              <a:r>
                <a:rPr lang="ko-KR" altLang="en-US" sz="700" dirty="0" err="1">
                  <a:latin typeface="+mn-ea"/>
                </a:rPr>
                <a:t>국외업체</a:t>
              </a:r>
              <a:endParaRPr lang="en-US" altLang="ko-KR" sz="700" dirty="0">
                <a:latin typeface="+mn-ea"/>
              </a:endParaRPr>
            </a:p>
            <a:p>
              <a:pPr>
                <a:lnSpc>
                  <a:spcPct val="200000"/>
                </a:lnSpc>
              </a:pPr>
              <a:r>
                <a:rPr lang="en-US" altLang="ko-KR" sz="700" dirty="0">
                  <a:latin typeface="+mn-ea"/>
                </a:rPr>
                <a:t>123-45-67890</a:t>
              </a:r>
            </a:p>
            <a:p>
              <a:pPr algn="r">
                <a:lnSpc>
                  <a:spcPct val="200000"/>
                </a:lnSpc>
              </a:pPr>
              <a:r>
                <a:rPr lang="en-US" altLang="ko-KR" sz="700" dirty="0">
                  <a:latin typeface="+mn-ea"/>
                </a:rPr>
                <a:t>5,000,000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a:t>
              </a:r>
              <a:r>
                <a:rPr lang="ko-KR" altLang="en-US" sz="700" dirty="0">
                  <a:latin typeface="+mn-ea"/>
                </a:rPr>
                <a:t>원</a:t>
              </a:r>
              <a:endParaRPr lang="en-US" altLang="ko-KR" sz="700" dirty="0">
                <a:latin typeface="+mn-ea"/>
              </a:endParaRPr>
            </a:p>
          </p:txBody>
        </p:sp>
        <p:sp>
          <p:nvSpPr>
            <p:cNvPr id="179" name="사각형: 둥근 모서리 15">
              <a:extLst>
                <a:ext uri="{FF2B5EF4-FFF2-40B4-BE49-F238E27FC236}">
                  <a16:creationId xmlns:a16="http://schemas.microsoft.com/office/drawing/2014/main" id="{E2B61CFB-AD16-68D0-8752-50D9C5E01971}"/>
                </a:ext>
              </a:extLst>
            </p:cNvPr>
            <p:cNvSpPr/>
            <p:nvPr/>
          </p:nvSpPr>
          <p:spPr>
            <a:xfrm>
              <a:off x="3933132" y="4359933"/>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sp>
          <p:nvSpPr>
            <p:cNvPr id="130" name="TextBox 129">
              <a:extLst>
                <a:ext uri="{FF2B5EF4-FFF2-40B4-BE49-F238E27FC236}">
                  <a16:creationId xmlns:a16="http://schemas.microsoft.com/office/drawing/2014/main" id="{FFC49AEA-2A8F-250C-A86A-A7751D9706C3}"/>
                </a:ext>
              </a:extLst>
            </p:cNvPr>
            <p:cNvSpPr txBox="1"/>
            <p:nvPr/>
          </p:nvSpPr>
          <p:spPr>
            <a:xfrm>
              <a:off x="3910666" y="3688103"/>
              <a:ext cx="725552" cy="215444"/>
            </a:xfrm>
            <a:prstGeom prst="rect">
              <a:avLst/>
            </a:prstGeom>
            <a:noFill/>
          </p:spPr>
          <p:txBody>
            <a:bodyPr wrap="square" lIns="0" tIns="0" rIns="0" bIns="0" rtlCol="0">
              <a:spAutoFit/>
            </a:bodyPr>
            <a:lstStyle/>
            <a:p>
              <a:r>
                <a:rPr lang="ko-KR" altLang="en-US" sz="700" dirty="0" err="1">
                  <a:latin typeface="+mn-ea"/>
                </a:rPr>
                <a:t>입찰업체</a:t>
              </a:r>
              <a:endParaRPr lang="en-US" altLang="ko-KR" sz="700" dirty="0">
                <a:latin typeface="+mn-ea"/>
              </a:endParaRPr>
            </a:p>
            <a:p>
              <a:r>
                <a:rPr lang="ko-KR" altLang="en-US" sz="700" dirty="0" err="1">
                  <a:latin typeface="+mn-ea"/>
                </a:rPr>
                <a:t>사업자번호</a:t>
              </a:r>
              <a:endParaRPr lang="ko-KR" altLang="en-US" sz="700" dirty="0">
                <a:latin typeface="+mn-ea"/>
              </a:endParaRPr>
            </a:p>
          </p:txBody>
        </p:sp>
      </p:grpSp>
    </p:spTree>
    <p:extLst>
      <p:ext uri="{BB962C8B-B14F-4D97-AF65-F5344CB8AC3E}">
        <p14:creationId xmlns:p14="http://schemas.microsoft.com/office/powerpoint/2010/main" val="3125058730"/>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405</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17103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공지사항 데이터 영역 </a:t>
            </a:r>
            <a:r>
              <a:rPr lang="en-US" altLang="ko-KR" sz="900" b="1" dirty="0">
                <a:solidFill>
                  <a:prstClr val="black"/>
                </a:solidFill>
              </a:rPr>
              <a:t>(</a:t>
            </a:r>
            <a:r>
              <a:rPr lang="en-US" altLang="ko-KR" sz="900" b="1" dirty="0" err="1">
                <a:solidFill>
                  <a:prstClr val="black"/>
                </a:solidFill>
              </a:rPr>
              <a:t>dm_ntcInfo</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8117" y="1882961"/>
            <a:ext cx="2512474"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공고일반 데이터 </a:t>
            </a:r>
            <a:r>
              <a:rPr lang="ko-KR" altLang="en-US" sz="900" b="1">
                <a:solidFill>
                  <a:prstClr val="black"/>
                </a:solidFill>
              </a:rPr>
              <a:t>영역 </a:t>
            </a:r>
            <a:r>
              <a:rPr lang="en-US" altLang="ko-KR" sz="900" b="1">
                <a:solidFill>
                  <a:prstClr val="black"/>
                </a:solidFill>
              </a:rPr>
              <a:t>(dm_bscPbancInfo)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58176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ntcYmd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rtl="0"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공지가 등록된 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공지내용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ntcCn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rtl="0"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공고에 등록된 공지내용</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2098135"/>
          <a:ext cx="8994883" cy="40723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15248172"/>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1412260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pbancType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공고구분</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542429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pbancRqstYmd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0582332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8176733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7355004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0158002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입찰유형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130630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입찰매체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bidMedia</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입찰매체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91720559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계약방법</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58011012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bidMth</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입찰방식</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2104852"/>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r>
                        <a:rPr lang="ko-KR" altLang="en-US" sz="800" dirty="0">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206156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9530945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75969468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regDdlnDt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입찰참가등록마감일시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39912340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입찰서제출마감일시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98138891"/>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개찰일시</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0934530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방위사업청담당자</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137137667"/>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693887" cy="211203"/>
          </a:xfrm>
          <a:prstGeom prst="rect">
            <a:avLst/>
          </a:prstGeom>
          <a:noFill/>
        </p:spPr>
        <p:txBody>
          <a:bodyPr wrap="none" lIns="36000" tIns="36000" rIns="36000" bIns="36000" rtlCol="0">
            <a:spAutoFit/>
          </a:bodyPr>
          <a:lstStyle/>
          <a:p>
            <a:r>
              <a:rPr lang="en-US" altLang="ko-KR" sz="900" b="1" dirty="0">
                <a:solidFill>
                  <a:prstClr val="black"/>
                </a:solidFill>
              </a:rPr>
              <a:t>1.3</a:t>
            </a:r>
            <a:r>
              <a:rPr lang="en-US" altLang="ko-KR" sz="900" b="1">
                <a:solidFill>
                  <a:prstClr val="black"/>
                </a:solidFill>
              </a:rPr>
              <a:t>. </a:t>
            </a:r>
            <a:r>
              <a:rPr lang="ko-KR" altLang="en-US" sz="900" b="1">
                <a:solidFill>
                  <a:prstClr val="black"/>
                </a:solidFill>
              </a:rPr>
              <a:t>입찰결과현황</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(dm_bidResultSummaryInfo)</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836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낙찰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총참여품목수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낙찰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총참여품목수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낙찰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결과품목수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67205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625290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scsbdUsdAmt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98753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cndScsbdItemQty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190742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cndScsbdTccrAmt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826232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cndScsbdUsdAmt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639677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smprcScsbditemQty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708212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smprcScsbdTccrAmt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035681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smprcScsbdUsdAmt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6337899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소계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소계 결과품목수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329257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소계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sumTccrAmt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소계 화폐금액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소계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소계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슬라이드 번호 개체 틀 4">
            <a:extLst>
              <a:ext uri="{FF2B5EF4-FFF2-40B4-BE49-F238E27FC236}">
                <a16:creationId xmlns:a16="http://schemas.microsoft.com/office/drawing/2014/main" id="{8CC5CA5F-A56C-947E-3DA0-50BEC1B4EB71}"/>
              </a:ext>
            </a:extLst>
          </p:cNvPr>
          <p:cNvSpPr>
            <a:spLocks noGrp="1"/>
          </p:cNvSpPr>
          <p:nvPr>
            <p:ph type="sldNum" sz="quarter" idx="4"/>
          </p:nvPr>
        </p:nvSpPr>
        <p:spPr>
          <a:xfrm>
            <a:off x="4326220" y="6588000"/>
            <a:ext cx="1258128" cy="216000"/>
          </a:xfrm>
        </p:spPr>
        <p:txBody>
          <a:bodyPr/>
          <a:lstStyle/>
          <a:p>
            <a:fld id="{34C8E023-7346-48FC-AB24-9A3388C53208}" type="slidenum">
              <a:rPr lang="ko-KR" altLang="en-US" smtClean="0"/>
              <a:pPr/>
              <a:t>406</a:t>
            </a:fld>
            <a:endParaRPr lang="ko-KR" altLang="en-US"/>
          </a:p>
        </p:txBody>
      </p:sp>
    </p:spTree>
    <p:extLst>
      <p:ext uri="{BB962C8B-B14F-4D97-AF65-F5344CB8AC3E}">
        <p14:creationId xmlns:p14="http://schemas.microsoft.com/office/powerpoint/2010/main" val="1235907532"/>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407</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693887" cy="211203"/>
          </a:xfrm>
          <a:prstGeom prst="rect">
            <a:avLst/>
          </a:prstGeom>
          <a:noFill/>
        </p:spPr>
        <p:txBody>
          <a:bodyPr wrap="none" lIns="36000" tIns="36000" rIns="36000" bIns="36000" rtlCol="0">
            <a:spAutoFit/>
          </a:bodyPr>
          <a:lstStyle/>
          <a:p>
            <a:r>
              <a:rPr lang="en-US" altLang="ko-KR" sz="900" b="1" dirty="0">
                <a:solidFill>
                  <a:prstClr val="black"/>
                </a:solidFill>
              </a:rPr>
              <a:t>1.3</a:t>
            </a:r>
            <a:r>
              <a:rPr lang="en-US" altLang="ko-KR" sz="900" b="1">
                <a:solidFill>
                  <a:prstClr val="black"/>
                </a:solidFill>
              </a:rPr>
              <a:t>. </a:t>
            </a:r>
            <a:r>
              <a:rPr lang="ko-KR" altLang="en-US" sz="900" b="1">
                <a:solidFill>
                  <a:prstClr val="black"/>
                </a:solidFill>
              </a:rPr>
              <a:t>입찰결과현황</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(dm_bidResultSummaryInfo)</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8117" y="2443059"/>
            <a:ext cx="3140851" cy="211203"/>
          </a:xfrm>
          <a:prstGeom prst="rect">
            <a:avLst/>
          </a:prstGeom>
          <a:noFill/>
        </p:spPr>
        <p:txBody>
          <a:bodyPr wrap="none" lIns="36000" tIns="36000" rIns="36000" bIns="36000" rtlCol="0">
            <a:spAutoFit/>
          </a:bodyPr>
          <a:lstStyle/>
          <a:p>
            <a:r>
              <a:rPr lang="en-US" altLang="ko-KR" sz="900" b="1" dirty="0">
                <a:solidFill>
                  <a:prstClr val="black"/>
                </a:solidFill>
              </a:rPr>
              <a:t>1.4</a:t>
            </a:r>
            <a:r>
              <a:rPr lang="en-US" altLang="ko-KR" sz="900" b="1">
                <a:solidFill>
                  <a:prstClr val="black"/>
                </a:solidFill>
              </a:rPr>
              <a:t>. </a:t>
            </a:r>
            <a:r>
              <a:rPr lang="ko-KR" altLang="en-US" sz="900" b="1">
                <a:solidFill>
                  <a:prstClr val="black"/>
                </a:solidFill>
              </a:rPr>
              <a:t>입찰결과</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(dl_ititbBidResultList)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116352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낙찰품목수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mn-ea"/>
                        </a:rPr>
                        <a:t>조건부낙찰</a:t>
                      </a:r>
                      <a:r>
                        <a:rPr lang="en-US" altLang="ko-KR" sz="800" b="0" i="0" u="none" strike="noStrike" dirty="0">
                          <a:solidFill>
                            <a:srgbClr val="000000"/>
                          </a:solidFill>
                          <a:effectLst/>
                          <a:latin typeface="맑은 고딕" panose="020B0503020000020004" pitchFamily="50" charset="-127"/>
                          <a:ea typeface="+mn-ea"/>
                        </a:rPr>
                        <a:t>, </a:t>
                      </a:r>
                      <a:r>
                        <a:rPr lang="ko-KR" altLang="en-US" sz="800" b="0" i="0" u="none" strike="noStrike" dirty="0">
                          <a:solidFill>
                            <a:srgbClr val="000000"/>
                          </a:solidFill>
                          <a:effectLst/>
                          <a:latin typeface="맑은 고딕" panose="020B0503020000020004" pitchFamily="50" charset="-127"/>
                          <a:ea typeface="+mn-ea"/>
                        </a:rPr>
                        <a:t>동가낙찰 제외</a:t>
                      </a:r>
                      <a:r>
                        <a:rPr lang="en-US" altLang="ko-KR" sz="800" b="0" i="0" u="none" strike="noStrike" dirty="0">
                          <a:solidFill>
                            <a:srgbClr val="000000"/>
                          </a:solidFill>
                          <a:effectLst/>
                          <a:latin typeface="맑은 고딕" panose="020B0503020000020004" pitchFamily="50" charset="-127"/>
                          <a:ea typeface="+mn-ea"/>
                        </a:rPr>
                        <a:t> </a:t>
                      </a:r>
                      <a:r>
                        <a:rPr lang="ko-KR" altLang="en-US" sz="800" b="0" i="0" u="none" strike="noStrike" dirty="0">
                          <a:solidFill>
                            <a:srgbClr val="000000"/>
                          </a:solidFill>
                          <a:effectLst/>
                          <a:latin typeface="맑은 고딕" panose="020B0503020000020004" pitchFamily="50" charset="-127"/>
                          <a:ea typeface="+mn-ea"/>
                        </a:rPr>
                        <a:t>한 </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낙찰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품목수</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조건부낙찰품목수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cndScsbdItemQty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조건부 개수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4009718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동가낙찰품목수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smprcScsbditemQty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동가낙찰 개수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762107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낙찰품목수소계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sumScsbdItemQty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품목수 합계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유찰품목수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flbdItemQty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유찰 개수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2657920"/>
          <a:ext cx="8994883" cy="1939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447718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2928210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159289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049618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415281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scsbdQty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784731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낙찰업체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scsbdBzentyNm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낙찰된 입찰업체명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t>구분 </a:t>
                      </a:r>
                      <a:r>
                        <a:rPr lang="en-US" altLang="ko-KR" sz="800" dirty="0"/>
                        <a:t>(</a:t>
                      </a:r>
                      <a:r>
                        <a:rPr lang="ko-KR" altLang="en-US" sz="800" dirty="0"/>
                        <a:t>전체</a:t>
                      </a:r>
                      <a:r>
                        <a:rPr lang="en-US" altLang="ko-KR" sz="800" dirty="0"/>
                        <a:t>/</a:t>
                      </a:r>
                      <a:r>
                        <a:rPr lang="ko-KR" altLang="en-US" sz="800" dirty="0"/>
                        <a:t>낙찰</a:t>
                      </a:r>
                      <a:r>
                        <a:rPr lang="en-US" altLang="ko-KR" sz="800" dirty="0"/>
                        <a:t>/</a:t>
                      </a:r>
                      <a:r>
                        <a:rPr lang="ko-KR" altLang="en-US" sz="800" dirty="0"/>
                        <a:t>조건부낙찰</a:t>
                      </a:r>
                      <a:r>
                        <a:rPr lang="en-US" altLang="ko-KR" sz="800" dirty="0"/>
                        <a:t>/</a:t>
                      </a:r>
                      <a:r>
                        <a:rPr lang="ko-KR" altLang="en-US" sz="800" dirty="0"/>
                        <a:t>동가낙찰</a:t>
                      </a:r>
                      <a:r>
                        <a:rPr lang="en-US" altLang="ko-KR" sz="800" dirty="0"/>
                        <a:t>/</a:t>
                      </a:r>
                      <a:r>
                        <a:rPr lang="ko-KR" altLang="en-US" sz="800" dirty="0"/>
                        <a:t>유찰</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1C12B8AE-5B19-18BA-D496-3D089AB6925F}"/>
              </a:ext>
            </a:extLst>
          </p:cNvPr>
          <p:cNvSpPr txBox="1"/>
          <p:nvPr/>
        </p:nvSpPr>
        <p:spPr>
          <a:xfrm>
            <a:off x="458117" y="4861187"/>
            <a:ext cx="3203368"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a:solidFill>
                  <a:prstClr val="black"/>
                </a:solidFill>
              </a:rPr>
              <a:t>입찰결과</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(dl_alonbsBidResultList)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06BB5DAA-99C5-BA21-5A3C-6F00793397F1}"/>
              </a:ext>
            </a:extLst>
          </p:cNvPr>
          <p:cNvGraphicFramePr>
            <a:graphicFrameLocks noGrp="1"/>
          </p:cNvGraphicFramePr>
          <p:nvPr/>
        </p:nvGraphicFramePr>
        <p:xfrm>
          <a:off x="452999" y="5072390"/>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낙찰업체</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scsbdBzentyNm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낙찰된 입찰업체명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mn-ea"/>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낙찰된 업체의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4009718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낙찰된 업체의 대표자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 </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성명</a:t>
                      </a:r>
                      <a:endParaRPr lang="en-US" altLang="ko-KR" sz="800" b="0" i="0" u="none" strike="noStrike">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762107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 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t>구분 </a:t>
                      </a:r>
                      <a:r>
                        <a:rPr lang="en-US" altLang="ko-KR" sz="800" dirty="0"/>
                        <a:t>(</a:t>
                      </a:r>
                      <a:r>
                        <a:rPr lang="ko-KR" altLang="en-US" sz="800" dirty="0"/>
                        <a:t>전체</a:t>
                      </a:r>
                      <a:r>
                        <a:rPr lang="en-US" altLang="ko-KR" sz="800" dirty="0"/>
                        <a:t>/</a:t>
                      </a:r>
                      <a:r>
                        <a:rPr lang="ko-KR" altLang="en-US" sz="800" dirty="0"/>
                        <a:t>낙찰</a:t>
                      </a:r>
                      <a:r>
                        <a:rPr lang="en-US" altLang="ko-KR" sz="800" dirty="0"/>
                        <a:t>/</a:t>
                      </a:r>
                      <a:r>
                        <a:rPr lang="ko-KR" altLang="en-US" sz="800" dirty="0"/>
                        <a:t>조건부낙찰</a:t>
                      </a:r>
                      <a:r>
                        <a:rPr lang="en-US" altLang="ko-KR" sz="800" dirty="0"/>
                        <a:t>/</a:t>
                      </a:r>
                      <a:r>
                        <a:rPr lang="ko-KR" altLang="en-US" sz="800" dirty="0"/>
                        <a:t>동가낙찰</a:t>
                      </a:r>
                      <a:r>
                        <a:rPr lang="en-US" altLang="ko-KR" sz="800" dirty="0"/>
                        <a:t>/</a:t>
                      </a:r>
                      <a:r>
                        <a:rPr lang="ko-KR" altLang="en-US" sz="800" dirty="0"/>
                        <a:t>유찰</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bl>
          </a:graphicData>
        </a:graphic>
      </p:graphicFrame>
    </p:spTree>
    <p:extLst>
      <p:ext uri="{BB962C8B-B14F-4D97-AF65-F5344CB8AC3E}">
        <p14:creationId xmlns:p14="http://schemas.microsoft.com/office/powerpoint/2010/main" val="138764864"/>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3182529" cy="211203"/>
          </a:xfrm>
          <a:prstGeom prst="rect">
            <a:avLst/>
          </a:prstGeom>
          <a:noFill/>
        </p:spPr>
        <p:txBody>
          <a:bodyPr wrap="none" lIns="36000" tIns="36000" rIns="36000" bIns="36000" rtlCol="0">
            <a:spAutoFit/>
          </a:bodyPr>
          <a:lstStyle/>
          <a:p>
            <a:r>
              <a:rPr lang="en-US" altLang="ko-KR" sz="900" b="1" dirty="0">
                <a:solidFill>
                  <a:prstClr val="black"/>
                </a:solidFill>
              </a:rPr>
              <a:t>1.4</a:t>
            </a:r>
            <a:r>
              <a:rPr lang="en-US" altLang="ko-KR" sz="900" b="1">
                <a:solidFill>
                  <a:prstClr val="black"/>
                </a:solidFill>
              </a:rPr>
              <a:t>. </a:t>
            </a:r>
            <a:r>
              <a:rPr lang="ko-KR" altLang="en-US" sz="900" b="1">
                <a:solidFill>
                  <a:prstClr val="black"/>
                </a:solidFill>
              </a:rPr>
              <a:t>입찰결과</a:t>
            </a:r>
            <a:r>
              <a:rPr lang="en-US" altLang="ko-KR" sz="900" b="1">
                <a:solidFill>
                  <a:prstClr val="black"/>
                </a:solidFill>
              </a:rPr>
              <a:t>(</a:t>
            </a:r>
            <a:r>
              <a:rPr lang="ko-KR" altLang="en-US" sz="900" b="1">
                <a:solidFill>
                  <a:prstClr val="black"/>
                </a:solidFill>
              </a:rPr>
              <a:t>단가제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(dl_ititbBidResultList)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3270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67205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625290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98753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190742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826232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639677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bdngTccrUntprc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입찰단가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708212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달러단가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035681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bdngUsdAmt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63378997"/>
                  </a:ext>
                </a:extLst>
              </a:tr>
              <a:tr h="118124">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품목의 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t>구분 </a:t>
                      </a:r>
                      <a:r>
                        <a:rPr lang="en-US" altLang="ko-KR" sz="800" dirty="0"/>
                        <a:t>(</a:t>
                      </a:r>
                      <a:r>
                        <a:rPr lang="ko-KR" altLang="en-US" sz="800" dirty="0"/>
                        <a:t>전체</a:t>
                      </a:r>
                      <a:r>
                        <a:rPr lang="en-US" altLang="ko-KR" sz="800" dirty="0"/>
                        <a:t>/</a:t>
                      </a:r>
                      <a:r>
                        <a:rPr lang="ko-KR" altLang="en-US" sz="800" dirty="0"/>
                        <a:t>낙찰</a:t>
                      </a:r>
                      <a:r>
                        <a:rPr lang="en-US" altLang="ko-KR" sz="800" dirty="0"/>
                        <a:t>/</a:t>
                      </a:r>
                      <a:r>
                        <a:rPr lang="ko-KR" altLang="en-US" sz="800" dirty="0"/>
                        <a:t>조건부낙찰</a:t>
                      </a:r>
                      <a:r>
                        <a:rPr lang="en-US" altLang="ko-KR" sz="800" dirty="0"/>
                        <a:t>/</a:t>
                      </a:r>
                      <a:r>
                        <a:rPr lang="ko-KR" altLang="en-US" sz="800" dirty="0"/>
                        <a:t>동가낙찰</a:t>
                      </a:r>
                      <a:r>
                        <a:rPr lang="en-US" altLang="ko-KR" sz="800" dirty="0"/>
                        <a:t>/</a:t>
                      </a:r>
                      <a:r>
                        <a:rPr lang="ko-KR" altLang="en-US" sz="800" dirty="0"/>
                        <a:t>유찰</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3292573"/>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슬라이드 번호 개체 틀 4">
            <a:extLst>
              <a:ext uri="{FF2B5EF4-FFF2-40B4-BE49-F238E27FC236}">
                <a16:creationId xmlns:a16="http://schemas.microsoft.com/office/drawing/2014/main" id="{8E7CF87E-2DAB-D141-F31D-820DE47E7484}"/>
              </a:ext>
            </a:extLst>
          </p:cNvPr>
          <p:cNvSpPr>
            <a:spLocks noGrp="1"/>
          </p:cNvSpPr>
          <p:nvPr>
            <p:ph type="sldNum" sz="quarter" idx="4"/>
          </p:nvPr>
        </p:nvSpPr>
        <p:spPr>
          <a:xfrm>
            <a:off x="4326220" y="6588000"/>
            <a:ext cx="1258128" cy="216000"/>
          </a:xfrm>
        </p:spPr>
        <p:txBody>
          <a:bodyPr/>
          <a:lstStyle/>
          <a:p>
            <a:fld id="{34C8E023-7346-48FC-AB24-9A3388C53208}" type="slidenum">
              <a:rPr lang="ko-KR" altLang="en-US" smtClean="0"/>
              <a:pPr/>
              <a:t>408</a:t>
            </a:fld>
            <a:endParaRPr lang="ko-KR" altLang="en-US"/>
          </a:p>
        </p:txBody>
      </p:sp>
      <p:sp>
        <p:nvSpPr>
          <p:cNvPr id="3" name="TextBox 2">
            <a:extLst>
              <a:ext uri="{FF2B5EF4-FFF2-40B4-BE49-F238E27FC236}">
                <a16:creationId xmlns:a16="http://schemas.microsoft.com/office/drawing/2014/main" id="{1419C45B-659A-1634-F61C-734ECF2B62B4}"/>
              </a:ext>
            </a:extLst>
          </p:cNvPr>
          <p:cNvSpPr txBox="1"/>
          <p:nvPr/>
        </p:nvSpPr>
        <p:spPr>
          <a:xfrm>
            <a:off x="458117" y="3680997"/>
            <a:ext cx="3203368" cy="211203"/>
          </a:xfrm>
          <a:prstGeom prst="rect">
            <a:avLst/>
          </a:prstGeom>
          <a:noFill/>
        </p:spPr>
        <p:txBody>
          <a:bodyPr wrap="none" lIns="36000" tIns="36000" rIns="36000" bIns="36000" rtlCol="0">
            <a:spAutoFit/>
          </a:bodyPr>
          <a:lstStyle/>
          <a:p>
            <a:r>
              <a:rPr lang="en-US" altLang="ko-KR" sz="900" b="1">
                <a:solidFill>
                  <a:prstClr val="black"/>
                </a:solidFill>
              </a:rPr>
              <a:t>1.5. </a:t>
            </a:r>
            <a:r>
              <a:rPr lang="ko-KR" altLang="en-US" sz="900" b="1">
                <a:solidFill>
                  <a:prstClr val="black"/>
                </a:solidFill>
              </a:rPr>
              <a:t>입찰결과</a:t>
            </a:r>
            <a:r>
              <a:rPr lang="en-US" altLang="ko-KR" sz="900" b="1">
                <a:solidFill>
                  <a:prstClr val="black"/>
                </a:solidFill>
              </a:rPr>
              <a:t>(</a:t>
            </a:r>
            <a:r>
              <a:rPr lang="ko-KR" altLang="en-US" sz="900" b="1">
                <a:solidFill>
                  <a:prstClr val="black"/>
                </a:solidFill>
              </a:rPr>
              <a:t>총액제</a:t>
            </a:r>
            <a:r>
              <a:rPr lang="en-US" altLang="ko-KR" sz="900" b="1">
                <a:solidFill>
                  <a:prstClr val="black"/>
                </a:solidFill>
              </a:rPr>
              <a:t>)</a:t>
            </a:r>
            <a:r>
              <a:rPr lang="ko-KR" altLang="en-US" sz="900" b="1">
                <a:solidFill>
                  <a:prstClr val="black"/>
                </a:solidFill>
              </a:rPr>
              <a:t> </a:t>
            </a:r>
            <a:r>
              <a:rPr lang="ko-KR" altLang="en-US" sz="900" b="1" dirty="0">
                <a:solidFill>
                  <a:prstClr val="black"/>
                </a:solidFill>
              </a:rPr>
              <a:t>데이터 </a:t>
            </a:r>
            <a:r>
              <a:rPr lang="ko-KR" altLang="en-US" sz="900" b="1">
                <a:solidFill>
                  <a:prstClr val="black"/>
                </a:solidFill>
              </a:rPr>
              <a:t>영역 </a:t>
            </a:r>
            <a:r>
              <a:rPr lang="en-US" altLang="ko-KR" sz="900" b="1">
                <a:solidFill>
                  <a:prstClr val="black"/>
                </a:solidFill>
              </a:rPr>
              <a:t>(dl_alonbsBidResultList)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67B091E4-EF5E-BBA1-BB46-5D38DD32D237}"/>
              </a:ext>
            </a:extLst>
          </p:cNvPr>
          <p:cNvGraphicFramePr>
            <a:graphicFrameLocks noGrp="1"/>
          </p:cNvGraphicFramePr>
          <p:nvPr/>
        </p:nvGraphicFramePr>
        <p:xfrm>
          <a:off x="452999" y="3892200"/>
          <a:ext cx="8994883" cy="13574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입찰업체의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67205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1" hangingPunct="1">
                        <a:lnSpc>
                          <a:spcPct val="100000"/>
                        </a:lnSpc>
                        <a:spcBef>
                          <a:spcPts val="0"/>
                        </a:spcBef>
                        <a:spcAft>
                          <a:spcPts val="0"/>
                        </a:spcAft>
                        <a:buClrTx/>
                        <a:buSzTx/>
                        <a:buFontTx/>
                        <a:buNone/>
                        <a:tabLst/>
                        <a:defRPr/>
                      </a:pPr>
                      <a:r>
                        <a:rPr lang="en-US" altLang="ko-KR" sz="800" b="0" i="0" u="none" strike="noStrike">
                          <a:solidFill>
                            <a:srgbClr val="000000"/>
                          </a:solidFill>
                          <a:effectLst/>
                          <a:latin typeface="맑은 고딕" panose="020B0503020000020004" pitchFamily="50" charset="-127"/>
                          <a:ea typeface="+mn-ea"/>
                        </a:rPr>
                        <a: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625290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mn-ea"/>
                        </a:rPr>
                        <a:t>bdngTccrAmt</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98753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mn-ea"/>
                        </a:rPr>
                        <a:t>bdngUsdAmt</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190742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mn-ea"/>
                        </a:rPr>
                        <a:t>bidRslt</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t>구분 </a:t>
                      </a:r>
                      <a:r>
                        <a:rPr lang="en-US" altLang="ko-KR" sz="800" dirty="0"/>
                        <a:t>(</a:t>
                      </a:r>
                      <a:r>
                        <a:rPr lang="ko-KR" altLang="en-US" sz="800" dirty="0"/>
                        <a:t>전체</a:t>
                      </a:r>
                      <a:r>
                        <a:rPr lang="en-US" altLang="ko-KR" sz="800" dirty="0"/>
                        <a:t>/</a:t>
                      </a:r>
                      <a:r>
                        <a:rPr lang="ko-KR" altLang="en-US" sz="800" dirty="0"/>
                        <a:t>낙찰</a:t>
                      </a:r>
                      <a:r>
                        <a:rPr lang="en-US" altLang="ko-KR" sz="800" dirty="0"/>
                        <a:t>/</a:t>
                      </a:r>
                      <a:r>
                        <a:rPr lang="ko-KR" altLang="en-US" sz="800" dirty="0"/>
                        <a:t>조건부낙찰</a:t>
                      </a:r>
                      <a:r>
                        <a:rPr lang="en-US" altLang="ko-KR" sz="800" dirty="0"/>
                        <a:t>/</a:t>
                      </a:r>
                      <a:r>
                        <a:rPr lang="ko-KR" altLang="en-US" sz="800" dirty="0"/>
                        <a:t>동가낙찰</a:t>
                      </a:r>
                      <a:r>
                        <a:rPr lang="en-US" altLang="ko-KR" sz="800" dirty="0"/>
                        <a:t>/</a:t>
                      </a:r>
                      <a:r>
                        <a:rPr lang="ko-KR" altLang="en-US" sz="800" dirty="0"/>
                        <a:t>유찰</a:t>
                      </a:r>
                      <a:r>
                        <a:rPr lang="en-US" altLang="ko-KR" sz="800" dirty="0"/>
                        <a:t>)</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8262322"/>
                  </a:ext>
                </a:extLst>
              </a:tr>
            </a:tbl>
          </a:graphicData>
        </a:graphic>
      </p:graphicFrame>
    </p:spTree>
    <p:extLst>
      <p:ext uri="{BB962C8B-B14F-4D97-AF65-F5344CB8AC3E}">
        <p14:creationId xmlns:p14="http://schemas.microsoft.com/office/powerpoint/2010/main" val="116455396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E4503872-DC52-2719-594F-B132D1F61CBD}"/>
              </a:ext>
            </a:extLst>
          </p:cNvPr>
          <p:cNvSpPr>
            <a:spLocks noGrp="1"/>
          </p:cNvSpPr>
          <p:nvPr>
            <p:ph type="sldNum" sz="quarter" idx="4"/>
          </p:nvPr>
        </p:nvSpPr>
        <p:spPr/>
        <p:txBody>
          <a:bodyPr/>
          <a:lstStyle/>
          <a:p>
            <a:fld id="{34C8E023-7346-48FC-AB24-9A3388C53208}" type="slidenum">
              <a:rPr lang="ko-KR" altLang="en-US" smtClean="0"/>
              <a:pPr/>
              <a:t>409</a:t>
            </a:fld>
            <a:endParaRPr lang="ko-KR" altLang="en-US" dirty="0"/>
          </a:p>
        </p:txBody>
      </p:sp>
      <p:sp>
        <p:nvSpPr>
          <p:cNvPr id="3" name="TextBox 2">
            <a:extLst>
              <a:ext uri="{FF2B5EF4-FFF2-40B4-BE49-F238E27FC236}">
                <a16:creationId xmlns:a16="http://schemas.microsoft.com/office/drawing/2014/main" id="{B0C640B7-6606-C01A-7E64-B6327FC84EBD}"/>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6DAC90FD-3651-F4AA-9B00-0621ACA72A51}"/>
              </a:ext>
            </a:extLst>
          </p:cNvPr>
          <p:cNvGraphicFramePr>
            <a:graphicFrameLocks noGrp="1"/>
          </p:cNvGraphicFramePr>
          <p:nvPr>
            <p:extLst>
              <p:ext uri="{D42A27DB-BD31-4B8C-83A1-F6EECF244321}">
                <p14:modId xmlns:p14="http://schemas.microsoft.com/office/powerpoint/2010/main" val="4276549034"/>
              </p:ext>
            </p:extLst>
          </p:nvPr>
        </p:nvGraphicFramePr>
        <p:xfrm>
          <a:off x="458117" y="799547"/>
          <a:ext cx="8995591" cy="387840"/>
        </p:xfrm>
        <a:graphic>
          <a:graphicData uri="http://schemas.openxmlformats.org/drawingml/2006/table">
            <a:tbl>
              <a:tblPr>
                <a:tableStyleId>{616DA210-FB5B-4158-B5E0-FEB733F419BA}</a:tableStyleId>
              </a:tblPr>
              <a:tblGrid>
                <a:gridCol w="1475458">
                  <a:extLst>
                    <a:ext uri="{9D8B030D-6E8A-4147-A177-3AD203B41FA5}">
                      <a16:colId xmlns:a16="http://schemas.microsoft.com/office/drawing/2014/main" val="20000"/>
                    </a:ext>
                  </a:extLst>
                </a:gridCol>
                <a:gridCol w="1485900">
                  <a:extLst>
                    <a:ext uri="{9D8B030D-6E8A-4147-A177-3AD203B41FA5}">
                      <a16:colId xmlns:a16="http://schemas.microsoft.com/office/drawing/2014/main" val="624624882"/>
                    </a:ext>
                  </a:extLst>
                </a:gridCol>
                <a:gridCol w="3067050">
                  <a:extLst>
                    <a:ext uri="{9D8B030D-6E8A-4147-A177-3AD203B41FA5}">
                      <a16:colId xmlns:a16="http://schemas.microsoft.com/office/drawing/2014/main" val="20001"/>
                    </a:ext>
                  </a:extLst>
                </a:gridCol>
                <a:gridCol w="296718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scwin.onpageload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입찰공고 및 입찰결과현황</a:t>
                      </a:r>
                      <a:r>
                        <a:rPr lang="en-US" altLang="ko-KR" sz="800" dirty="0">
                          <a:latin typeface="+mn-ea"/>
                          <a:ea typeface="+mn-ea"/>
                        </a:rPr>
                        <a:t>, </a:t>
                      </a:r>
                      <a:r>
                        <a:rPr lang="ko-KR" altLang="en-US" sz="800" dirty="0">
                          <a:latin typeface="+mn-ea"/>
                          <a:ea typeface="+mn-ea"/>
                        </a:rPr>
                        <a:t>품목별입찰결과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r>
                        <a:rPr lang="ko-KR" altLang="en-US" sz="800" dirty="0">
                          <a:latin typeface="+mn-ea"/>
                          <a:ea typeface="+mn-ea"/>
                        </a:rPr>
                        <a:t>입찰공고상세조회</a:t>
                      </a:r>
                      <a:r>
                        <a:rPr lang="en-US" altLang="ko-KR" sz="800" dirty="0">
                          <a:latin typeface="+mn-ea"/>
                          <a:ea typeface="+mn-ea"/>
                        </a:rPr>
                        <a:t>, </a:t>
                      </a:r>
                      <a:r>
                        <a:rPr lang="ko-KR" altLang="en-US" sz="800" dirty="0">
                          <a:latin typeface="+mn-ea"/>
                          <a:ea typeface="+mn-ea"/>
                        </a:rPr>
                        <a:t>항목별입찰내역목록</a:t>
                      </a:r>
                      <a:r>
                        <a:rPr lang="en-US" altLang="ko-KR" sz="800" dirty="0">
                          <a:latin typeface="+mn-ea"/>
                          <a:ea typeface="+mn-ea"/>
                        </a:rPr>
                        <a:t>, </a:t>
                      </a:r>
                      <a:r>
                        <a:rPr lang="ko-KR" altLang="en-US" sz="800" dirty="0">
                          <a:latin typeface="+mn-ea"/>
                          <a:ea typeface="+mn-ea"/>
                        </a:rPr>
                        <a:t>입찰결과현황조회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5" name="Text Box 73">
            <a:extLst>
              <a:ext uri="{FF2B5EF4-FFF2-40B4-BE49-F238E27FC236}">
                <a16:creationId xmlns:a16="http://schemas.microsoft.com/office/drawing/2014/main" id="{6D42CA82-C372-AB60-2BE8-BE0015D2F38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66082274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88900" indent="-88900">
              <a:buFont typeface="+mj-lt"/>
              <a:buAutoNum type="arabicPeriod"/>
            </a:pPr>
            <a:r>
              <a:rPr lang="ko-KR" altLang="en-US" dirty="0"/>
              <a:t>타이틀 표시</a:t>
            </a:r>
            <a:endParaRPr lang="en-US" altLang="ko-KR" dirty="0"/>
          </a:p>
          <a:p>
            <a:pPr marL="88900" indent="-88900">
              <a:buFont typeface="+mj-lt"/>
              <a:buAutoNum type="arabicPeriod"/>
            </a:pPr>
            <a:r>
              <a:rPr lang="ko-KR" altLang="en-US" dirty="0"/>
              <a:t>탭 메뉴</a:t>
            </a:r>
            <a:endParaRPr lang="en-US" altLang="ko-KR" dirty="0"/>
          </a:p>
          <a:p>
            <a:pPr marL="88900" indent="-88900">
              <a:buFont typeface="+mj-lt"/>
              <a:buAutoNum type="arabicPeriod"/>
            </a:pPr>
            <a:r>
              <a:rPr lang="ko-KR" altLang="en-US" dirty="0" err="1"/>
              <a:t>일반정보에</a:t>
            </a:r>
            <a:r>
              <a:rPr lang="ko-KR" altLang="en-US" dirty="0"/>
              <a:t> 포함된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410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t>공개수의협상계획상세</a:t>
            </a:r>
            <a:r>
              <a:rPr lang="ko-KR" altLang="en-US" dirty="0">
                <a:latin typeface="+mn-ea"/>
              </a:rPr>
              <a:t>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공개수의협상 상세정보를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t>공개수의협상계획상세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MUI-BD-12-M71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t>공개 </a:t>
            </a:r>
            <a:r>
              <a:rPr lang="ko-KR" altLang="en-US" sz="800" dirty="0" err="1"/>
              <a:t>수의협상</a:t>
            </a:r>
            <a:r>
              <a:rPr lang="ko-KR" altLang="en-US" sz="800" dirty="0"/>
              <a:t> </a:t>
            </a:r>
            <a:r>
              <a:rPr lang="ko-KR" altLang="en-US" sz="800" dirty="0" err="1"/>
              <a:t>계획상세</a:t>
            </a:r>
            <a:endParaRPr lang="ko-KR" altLang="en-US" sz="800" dirty="0">
              <a:latin typeface="+mn-ea"/>
            </a:endParaRP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085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158410"/>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500MD</a:t>
            </a:r>
            <a:r>
              <a:rPr lang="ko-KR" altLang="en-US" sz="900" b="1" dirty="0"/>
              <a:t>부품</a:t>
            </a:r>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493475"/>
            <a:ext cx="692497"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a:latin typeface="+mn-ea"/>
              </a:rPr>
              <a:t>총 금액</a:t>
            </a:r>
            <a:endParaRPr lang="en-US" altLang="ko-KR" sz="600" dirty="0">
              <a:latin typeface="+mn-ea"/>
            </a:endParaRPr>
          </a:p>
          <a:p>
            <a:pPr>
              <a:lnSpc>
                <a:spcPct val="150000"/>
              </a:lnSpc>
            </a:pPr>
            <a:r>
              <a:rPr lang="ko-KR" altLang="en-US" sz="600" dirty="0">
                <a:latin typeface="+mn-ea"/>
              </a:rPr>
              <a:t>견적서제출마감일시</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623357" y="2478086"/>
            <a:ext cx="609141"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BDF01823-002</a:t>
            </a:r>
          </a:p>
          <a:p>
            <a:pPr algn="r">
              <a:lnSpc>
                <a:spcPct val="150000"/>
              </a:lnSpc>
            </a:pPr>
            <a:r>
              <a:rPr lang="en-US" altLang="ko-KR" sz="600" dirty="0">
                <a:latin typeface="+mn-ea"/>
              </a:rPr>
              <a:t>$ 126,000.18</a:t>
            </a:r>
          </a:p>
          <a:p>
            <a:pPr algn="r">
              <a:lnSpc>
                <a:spcPct val="150000"/>
              </a:lnSpc>
            </a:pPr>
            <a:r>
              <a:rPr lang="en-US" altLang="ko-KR" sz="600" dirty="0">
                <a:latin typeface="+mn-ea"/>
              </a:rPr>
              <a:t>2026-03-26 11:00</a:t>
            </a:r>
          </a:p>
          <a:p>
            <a:pPr>
              <a:lnSpc>
                <a:spcPct val="150000"/>
              </a:lnSpc>
            </a:pPr>
            <a:r>
              <a:rPr lang="en-US" altLang="ko-KR" sz="600" dirty="0">
                <a:latin typeface="+mn-ea"/>
              </a:rPr>
              <a:t>2026-03-30</a:t>
            </a:r>
            <a:endParaRPr lang="ko-KR" altLang="en-US" sz="600" dirty="0">
              <a:latin typeface="+mn-ea"/>
            </a:endParaRP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13631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349073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274123"/>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83459" y="3274123"/>
            <a:ext cx="447776" cy="107722"/>
          </a:xfrm>
          <a:prstGeom prst="rect">
            <a:avLst/>
          </a:prstGeom>
          <a:noFill/>
        </p:spPr>
        <p:txBody>
          <a:bodyPr wrap="square" lIns="0" tIns="0" rIns="0" bIns="0" rtlCol="0">
            <a:spAutoFit/>
          </a:bodyPr>
          <a:lstStyle/>
          <a:p>
            <a:pPr algn="ctr"/>
            <a:r>
              <a:rPr lang="ko-KR" altLang="en-US" sz="700" dirty="0" smtClean="0">
                <a:latin typeface="+mn-ea"/>
              </a:rPr>
              <a:t>품목 목록</a:t>
            </a:r>
            <a:endParaRPr lang="ko-KR" altLang="en-US" sz="700" dirty="0">
              <a:latin typeface="+mn-ea"/>
            </a:endParaRP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3490730"/>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236000"/>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77" name="타원 27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4802272"/>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299917"/>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81" name="타원 180">
            <a:extLst>
              <a:ext uri="{FF2B5EF4-FFF2-40B4-BE49-F238E27FC236}">
                <a16:creationId xmlns:a16="http://schemas.microsoft.com/office/drawing/2014/main" id="{37A7FF4F-0EAA-1463-560A-D5EC24416103}"/>
              </a:ext>
            </a:extLst>
          </p:cNvPr>
          <p:cNvSpPr/>
          <p:nvPr/>
        </p:nvSpPr>
        <p:spPr>
          <a:xfrm>
            <a:off x="571127" y="3241919"/>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500MD</a:t>
            </a:r>
            <a:r>
              <a:rPr lang="ko-KR" altLang="en-US" sz="900" b="1" dirty="0"/>
              <a:t>부품</a:t>
            </a: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4022" y="2467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3867701" y="2250612"/>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386991" y="2250612"/>
            <a:ext cx="447776" cy="107722"/>
          </a:xfrm>
          <a:prstGeom prst="rect">
            <a:avLst/>
          </a:prstGeom>
          <a:noFill/>
        </p:spPr>
        <p:txBody>
          <a:bodyPr wrap="square" lIns="0" tIns="0" rIns="0" bIns="0" rtlCol="0">
            <a:spAutoFit/>
          </a:bodyPr>
          <a:lstStyle/>
          <a:p>
            <a:pPr algn="ctr"/>
            <a:r>
              <a:rPr lang="ko-KR" altLang="en-US" sz="700" dirty="0">
                <a:latin typeface="+mn-ea"/>
              </a:rPr>
              <a:t>입찰 결과</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24022" y="2467219"/>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1" name="그룹 230"/>
          <p:cNvGrpSpPr/>
          <p:nvPr/>
        </p:nvGrpSpPr>
        <p:grpSpPr>
          <a:xfrm>
            <a:off x="6027618" y="2212489"/>
            <a:ext cx="422853" cy="187961"/>
            <a:chOff x="3641308" y="2234886"/>
            <a:chExt cx="422853" cy="187961"/>
          </a:xfrm>
        </p:grpSpPr>
        <p:sp>
          <p:nvSpPr>
            <p:cNvPr id="232" name="타원 23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5400000" flipH="1">
              <a:off x="3679895" y="2305364"/>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4" name="타원 23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6" name="그룹 245"/>
            <p:cNvGrpSpPr/>
            <p:nvPr/>
          </p:nvGrpSpPr>
          <p:grpSpPr>
            <a:xfrm rot="16200000">
              <a:off x="3931564" y="2305364"/>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32" name="타원 331">
            <a:extLst>
              <a:ext uri="{FF2B5EF4-FFF2-40B4-BE49-F238E27FC236}">
                <a16:creationId xmlns:a16="http://schemas.microsoft.com/office/drawing/2014/main" id="{37A7FF4F-0EAA-1463-560A-D5EC24416103}"/>
              </a:ext>
            </a:extLst>
          </p:cNvPr>
          <p:cNvSpPr/>
          <p:nvPr/>
        </p:nvSpPr>
        <p:spPr>
          <a:xfrm>
            <a:off x="3717693" y="260718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50" name="모서리가 둥근 직사각형 149"/>
          <p:cNvSpPr/>
          <p:nvPr/>
        </p:nvSpPr>
        <p:spPr>
          <a:xfrm>
            <a:off x="1057559" y="197407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수의계약</a:t>
            </a:r>
          </a:p>
        </p:txBody>
      </p:sp>
      <p:sp>
        <p:nvSpPr>
          <p:cNvPr id="151" name="모서리가 둥근 직사각형 150"/>
          <p:cNvSpPr/>
          <p:nvPr/>
        </p:nvSpPr>
        <p:spPr>
          <a:xfrm>
            <a:off x="777000" y="1974079"/>
            <a:ext cx="24217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156" name="모서리가 둥근 직사각형 155"/>
          <p:cNvSpPr/>
          <p:nvPr/>
        </p:nvSpPr>
        <p:spPr>
          <a:xfrm>
            <a:off x="4151423" y="160062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수의계약</a:t>
            </a:r>
          </a:p>
        </p:txBody>
      </p:sp>
      <p:sp>
        <p:nvSpPr>
          <p:cNvPr id="157" name="모서리가 둥근 직사각형 156"/>
          <p:cNvSpPr/>
          <p:nvPr/>
        </p:nvSpPr>
        <p:spPr>
          <a:xfrm>
            <a:off x="3864811" y="1600627"/>
            <a:ext cx="24284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grpSp>
        <p:nvGrpSpPr>
          <p:cNvPr id="6" name="그룹 5"/>
          <p:cNvGrpSpPr/>
          <p:nvPr/>
        </p:nvGrpSpPr>
        <p:grpSpPr>
          <a:xfrm>
            <a:off x="720490" y="3597061"/>
            <a:ext cx="2660475" cy="2461921"/>
            <a:chOff x="720490" y="3803374"/>
            <a:chExt cx="2660475" cy="2461921"/>
          </a:xfrm>
        </p:grpSpPr>
        <p:sp>
          <p:nvSpPr>
            <p:cNvPr id="106" name="TextBox 105">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3916705"/>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en-US" altLang="ko-KR" sz="700" dirty="0">
                <a:latin typeface="+mn-ea"/>
              </a:endParaRPr>
            </a:p>
            <a:p>
              <a:pPr>
                <a:lnSpc>
                  <a:spcPct val="200000"/>
                </a:lnSpc>
              </a:pPr>
              <a:r>
                <a:rPr lang="en-US" altLang="ko-KR" sz="700" dirty="0">
                  <a:latin typeface="+mn-ea"/>
                </a:rPr>
                <a:t>⁞</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63" name="그룹 162"/>
          <p:cNvGrpSpPr/>
          <p:nvPr/>
        </p:nvGrpSpPr>
        <p:grpSpPr>
          <a:xfrm>
            <a:off x="3821510" y="2565526"/>
            <a:ext cx="2660475" cy="2461921"/>
            <a:chOff x="720490" y="3803374"/>
            <a:chExt cx="2660475" cy="2461921"/>
          </a:xfrm>
        </p:grpSpPr>
        <p:sp>
          <p:nvSpPr>
            <p:cNvPr id="164" name="TextBox 163">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65" name="그룹 164"/>
            <p:cNvGrpSpPr/>
            <p:nvPr/>
          </p:nvGrpSpPr>
          <p:grpSpPr>
            <a:xfrm flipV="1">
              <a:off x="3143548" y="3916705"/>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8" name="직사각형 177"/>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en-US" altLang="ko-KR" sz="700" dirty="0">
                <a:latin typeface="+mn-ea"/>
              </a:endParaRPr>
            </a:p>
            <a:p>
              <a:pPr>
                <a:lnSpc>
                  <a:spcPct val="200000"/>
                </a:lnSpc>
              </a:pPr>
              <a:r>
                <a:rPr lang="en-US" altLang="ko-KR" sz="700" dirty="0">
                  <a:latin typeface="+mn-ea"/>
                </a:rPr>
                <a:t>⁞</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a:t>
              </a: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08" name="그룹 207"/>
          <p:cNvGrpSpPr/>
          <p:nvPr/>
        </p:nvGrpSpPr>
        <p:grpSpPr>
          <a:xfrm>
            <a:off x="3795735" y="5177575"/>
            <a:ext cx="2712026" cy="944800"/>
            <a:chOff x="3795735" y="4570486"/>
            <a:chExt cx="2712026" cy="944800"/>
          </a:xfrm>
        </p:grpSpPr>
        <p:sp>
          <p:nvSpPr>
            <p:cNvPr id="209" name="TextBox 208">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210" name="그룹 209"/>
            <p:cNvGrpSpPr/>
            <p:nvPr/>
          </p:nvGrpSpPr>
          <p:grpSpPr>
            <a:xfrm flipV="1">
              <a:off x="6240167" y="4729163"/>
              <a:ext cx="94010" cy="47005"/>
              <a:chOff x="6812560" y="3297172"/>
              <a:chExt cx="94010" cy="47005"/>
            </a:xfrm>
          </p:grpSpPr>
          <p:cxnSp>
            <p:nvCxnSpPr>
              <p:cNvPr id="219" name="직선 연결선 2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0" name="직선 연결선 21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TextBox 210">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모서리가 둥근 직사각형 214"/>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TextBox 215">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17" name="TextBox 216">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2" name="TextBox 121">
            <a:extLst>
              <a:ext uri="{FF2B5EF4-FFF2-40B4-BE49-F238E27FC236}">
                <a16:creationId xmlns:a16="http://schemas.microsoft.com/office/drawing/2014/main" id="{FFC49AEA-2A8F-250C-A86A-A7751D9706C3}"/>
              </a:ext>
            </a:extLst>
          </p:cNvPr>
          <p:cNvSpPr txBox="1"/>
          <p:nvPr/>
        </p:nvSpPr>
        <p:spPr>
          <a:xfrm>
            <a:off x="1890743" y="3274123"/>
            <a:ext cx="447776" cy="107722"/>
          </a:xfrm>
          <a:prstGeom prst="rect">
            <a:avLst/>
          </a:prstGeom>
          <a:noFill/>
        </p:spPr>
        <p:txBody>
          <a:bodyPr wrap="square" lIns="0" tIns="0" rIns="0" bIns="0" rtlCol="0">
            <a:spAutoFit/>
          </a:bodyPr>
          <a:lstStyle/>
          <a:p>
            <a:pPr algn="ctr"/>
            <a:r>
              <a:rPr lang="ko-KR" altLang="en-US" sz="700" dirty="0">
                <a:latin typeface="+mn-ea"/>
              </a:rPr>
              <a:t>첨부서류</a:t>
            </a:r>
          </a:p>
        </p:txBody>
      </p:sp>
      <p:sp>
        <p:nvSpPr>
          <p:cNvPr id="124" name="TextBox 123">
            <a:extLst>
              <a:ext uri="{FF2B5EF4-FFF2-40B4-BE49-F238E27FC236}">
                <a16:creationId xmlns:a16="http://schemas.microsoft.com/office/drawing/2014/main" id="{FFC49AEA-2A8F-250C-A86A-A7751D9706C3}"/>
              </a:ext>
            </a:extLst>
          </p:cNvPr>
          <p:cNvSpPr txBox="1"/>
          <p:nvPr/>
        </p:nvSpPr>
        <p:spPr>
          <a:xfrm>
            <a:off x="4994275" y="2250612"/>
            <a:ext cx="447776" cy="107722"/>
          </a:xfrm>
          <a:prstGeom prst="rect">
            <a:avLst/>
          </a:prstGeom>
          <a:noFill/>
        </p:spPr>
        <p:txBody>
          <a:bodyPr wrap="square" lIns="0" tIns="0" rIns="0" bIns="0" rtlCol="0">
            <a:spAutoFit/>
          </a:bodyPr>
          <a:lstStyle/>
          <a:p>
            <a:pPr algn="ctr"/>
            <a:r>
              <a:rPr lang="ko-KR" altLang="en-US" sz="700" dirty="0">
                <a:latin typeface="+mn-ea"/>
              </a:rPr>
              <a:t>첨부서류</a:t>
            </a:r>
          </a:p>
        </p:txBody>
      </p:sp>
      <p:sp>
        <p:nvSpPr>
          <p:cNvPr id="121" name="TextBox 120">
            <a:extLst>
              <a:ext uri="{FF2B5EF4-FFF2-40B4-BE49-F238E27FC236}">
                <a16:creationId xmlns:a16="http://schemas.microsoft.com/office/drawing/2014/main" id="{FFC49AEA-2A8F-250C-A86A-A7751D9706C3}"/>
              </a:ext>
            </a:extLst>
          </p:cNvPr>
          <p:cNvSpPr txBox="1"/>
          <p:nvPr/>
        </p:nvSpPr>
        <p:spPr>
          <a:xfrm>
            <a:off x="2432020" y="3274123"/>
            <a:ext cx="447776" cy="107722"/>
          </a:xfrm>
          <a:prstGeom prst="rect">
            <a:avLst/>
          </a:prstGeom>
          <a:noFill/>
        </p:spPr>
        <p:txBody>
          <a:bodyPr wrap="square" lIns="0" tIns="0" rIns="0" bIns="0" rtlCol="0">
            <a:spAutoFit/>
          </a:bodyPr>
          <a:lstStyle/>
          <a:p>
            <a:pPr algn="ctr"/>
            <a:r>
              <a:rPr lang="ko-KR" altLang="en-US" sz="700" smtClean="0">
                <a:latin typeface="+mn-ea"/>
              </a:rPr>
              <a:t>견적서목록</a:t>
            </a:r>
            <a:endParaRPr lang="ko-KR" altLang="en-US" sz="700" dirty="0">
              <a:latin typeface="+mn-ea"/>
            </a:endParaRPr>
          </a:p>
        </p:txBody>
      </p:sp>
    </p:spTree>
    <p:extLst>
      <p:ext uri="{BB962C8B-B14F-4D97-AF65-F5344CB8AC3E}">
        <p14:creationId xmlns:p14="http://schemas.microsoft.com/office/powerpoint/2010/main" val="2002005615"/>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공고일반</a:t>
            </a:r>
            <a:r>
              <a:rPr lang="ko-KR" altLang="en-US" dirty="0"/>
              <a:t>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411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t>공개수의협상계획상세</a:t>
            </a:r>
            <a:r>
              <a:rPr lang="ko-KR" altLang="en-US" dirty="0">
                <a:latin typeface="+mn-ea"/>
              </a:rPr>
              <a:t> </a:t>
            </a:r>
            <a:r>
              <a:rPr lang="en-US" altLang="ko-KR" dirty="0">
                <a:latin typeface="+mn-ea"/>
              </a:rPr>
              <a:t>- </a:t>
            </a:r>
            <a:r>
              <a:rPr lang="ko-KR" altLang="en-US" dirty="0">
                <a:latin typeface="+mn-ea"/>
              </a:rPr>
              <a:t>일반정보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공개수의협상 상세정보를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t>공개수의협상계획상세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MUI-BD-12-M71</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2892808"/>
            <a:chOff x="701175" y="1527996"/>
            <a:chExt cx="2630093" cy="2892808"/>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2"/>
              <a:ext cx="792000" cy="25768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728979" cy="2585323"/>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환율적용일자</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2585323"/>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2025-03-02 15:00:00</a:t>
              </a:r>
            </a:p>
            <a:p>
              <a:pPr>
                <a:lnSpc>
                  <a:spcPct val="200000"/>
                </a:lnSpc>
              </a:pPr>
              <a:r>
                <a:rPr lang="en-US" altLang="ko-KR" sz="700" dirty="0">
                  <a:latin typeface="+mn-ea"/>
                </a:rPr>
                <a:t>2025-03-02</a:t>
              </a:r>
            </a:p>
            <a:p>
              <a:pPr>
                <a:lnSpc>
                  <a:spcPct val="200000"/>
                </a:lnSpc>
              </a:pPr>
              <a:r>
                <a:rPr lang="en-US" altLang="ko-KR" sz="700" dirty="0">
                  <a:latin typeface="+mn-ea"/>
                </a:rPr>
                <a:t>2025-03-02 15:00:00</a:t>
              </a:r>
            </a:p>
          </p:txBody>
        </p:sp>
        <p:grpSp>
          <p:nvGrpSpPr>
            <p:cNvPr id="17" name="그룹 16"/>
            <p:cNvGrpSpPr/>
            <p:nvPr/>
          </p:nvGrpSpPr>
          <p:grpSpPr>
            <a:xfrm>
              <a:off x="701175" y="1835481"/>
              <a:ext cx="2630093" cy="2576880"/>
              <a:chOff x="701175" y="1835481"/>
              <a:chExt cx="2630093" cy="257688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83" name="TextBox 82">
              <a:extLst>
                <a:ext uri="{FF2B5EF4-FFF2-40B4-BE49-F238E27FC236}">
                  <a16:creationId xmlns:a16="http://schemas.microsoft.com/office/drawing/2014/main" id="{FFC49AEA-2A8F-250C-A86A-A7751D9706C3}"/>
                </a:ext>
              </a:extLst>
            </p:cNvPr>
            <p:cNvSpPr txBox="1"/>
            <p:nvPr/>
          </p:nvSpPr>
          <p:spPr>
            <a:xfrm>
              <a:off x="790330" y="3767437"/>
              <a:ext cx="700693" cy="215444"/>
            </a:xfrm>
            <a:prstGeom prst="rect">
              <a:avLst/>
            </a:prstGeom>
            <a:noFill/>
          </p:spPr>
          <p:txBody>
            <a:bodyPr wrap="square" lIns="0" tIns="0" rIns="0" bIns="0" rtlCol="0">
              <a:spAutoFit/>
            </a:bodyPr>
            <a:lstStyle/>
            <a:p>
              <a:r>
                <a:rPr lang="ko-KR" altLang="en-US" sz="700" dirty="0" err="1">
                  <a:latin typeface="+mn-ea"/>
                </a:rPr>
                <a:t>견적서제출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 name="그룹 4"/>
          <p:cNvGrpSpPr/>
          <p:nvPr/>
        </p:nvGrpSpPr>
        <p:grpSpPr>
          <a:xfrm>
            <a:off x="675400" y="4520145"/>
            <a:ext cx="2712026" cy="965915"/>
            <a:chOff x="3795735" y="1461535"/>
            <a:chExt cx="2712026" cy="965915"/>
          </a:xfrm>
        </p:grpSpPr>
        <p:sp>
          <p:nvSpPr>
            <p:cNvPr id="68" name="TextBox 67">
              <a:extLst>
                <a:ext uri="{FF2B5EF4-FFF2-40B4-BE49-F238E27FC236}">
                  <a16:creationId xmlns:a16="http://schemas.microsoft.com/office/drawing/2014/main" id="{FFC49AEA-2A8F-250C-A86A-A7751D9706C3}"/>
                </a:ext>
              </a:extLst>
            </p:cNvPr>
            <p:cNvSpPr txBox="1"/>
            <p:nvPr/>
          </p:nvSpPr>
          <p:spPr>
            <a:xfrm>
              <a:off x="3878080" y="1527996"/>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69" name="그룹 68"/>
            <p:cNvGrpSpPr/>
            <p:nvPr/>
          </p:nvGrpSpPr>
          <p:grpSpPr>
            <a:xfrm flipV="1">
              <a:off x="6240167" y="1641327"/>
              <a:ext cx="94010" cy="47005"/>
              <a:chOff x="6812560" y="3297172"/>
              <a:chExt cx="94010" cy="47005"/>
            </a:xfrm>
          </p:grpSpPr>
          <p:cxnSp>
            <p:nvCxnSpPr>
              <p:cNvPr id="70" name="직선 연결선 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1" name="직선 연결선 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2" name="TextBox 71">
              <a:extLst>
                <a:ext uri="{FF2B5EF4-FFF2-40B4-BE49-F238E27FC236}">
                  <a16:creationId xmlns:a16="http://schemas.microsoft.com/office/drawing/2014/main" id="{FFC49AEA-2A8F-250C-A86A-A7751D9706C3}"/>
                </a:ext>
              </a:extLst>
            </p:cNvPr>
            <p:cNvSpPr txBox="1"/>
            <p:nvPr/>
          </p:nvSpPr>
          <p:spPr>
            <a:xfrm>
              <a:off x="3963885"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73" name="TextBox 72">
              <a:extLst>
                <a:ext uri="{FF2B5EF4-FFF2-40B4-BE49-F238E27FC236}">
                  <a16:creationId xmlns:a16="http://schemas.microsoft.com/office/drawing/2014/main" id="{FFC49AEA-2A8F-250C-A86A-A7751D9706C3}"/>
                </a:ext>
              </a:extLst>
            </p:cNvPr>
            <p:cNvSpPr txBox="1"/>
            <p:nvPr/>
          </p:nvSpPr>
          <p:spPr>
            <a:xfrm>
              <a:off x="4756893"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74" name="TextBox 73">
              <a:extLst>
                <a:ext uri="{FF2B5EF4-FFF2-40B4-BE49-F238E27FC236}">
                  <a16:creationId xmlns:a16="http://schemas.microsoft.com/office/drawing/2014/main" id="{FFC49AEA-2A8F-250C-A86A-A7751D9706C3}"/>
                </a:ext>
              </a:extLst>
            </p:cNvPr>
            <p:cNvSpPr txBox="1"/>
            <p:nvPr/>
          </p:nvSpPr>
          <p:spPr>
            <a:xfrm>
              <a:off x="5669455"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76" name="직선 연결선 75">
              <a:extLst>
                <a:ext uri="{FF2B5EF4-FFF2-40B4-BE49-F238E27FC236}">
                  <a16:creationId xmlns:a16="http://schemas.microsoft.com/office/drawing/2014/main" id="{E9293055-D5CD-4B9E-7F64-64B2D2CA7A52}"/>
                </a:ext>
              </a:extLst>
            </p:cNvPr>
            <p:cNvCxnSpPr/>
            <p:nvPr/>
          </p:nvCxnSpPr>
          <p:spPr>
            <a:xfrm>
              <a:off x="3795735" y="2427450"/>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모서리가 둥근 직사각형 76"/>
            <p:cNvSpPr/>
            <p:nvPr/>
          </p:nvSpPr>
          <p:spPr>
            <a:xfrm>
              <a:off x="3831550" y="2000312"/>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TextBox 77">
              <a:extLst>
                <a:ext uri="{FF2B5EF4-FFF2-40B4-BE49-F238E27FC236}">
                  <a16:creationId xmlns:a16="http://schemas.microsoft.com/office/drawing/2014/main" id="{FFC49AEA-2A8F-250C-A86A-A7751D9706C3}"/>
                </a:ext>
              </a:extLst>
            </p:cNvPr>
            <p:cNvSpPr txBox="1"/>
            <p:nvPr/>
          </p:nvSpPr>
          <p:spPr>
            <a:xfrm>
              <a:off x="3963885" y="2118856"/>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79" name="TextBox 78">
              <a:extLst>
                <a:ext uri="{FF2B5EF4-FFF2-40B4-BE49-F238E27FC236}">
                  <a16:creationId xmlns:a16="http://schemas.microsoft.com/office/drawing/2014/main" id="{FFC49AEA-2A8F-250C-A86A-A7751D9706C3}"/>
                </a:ext>
              </a:extLst>
            </p:cNvPr>
            <p:cNvSpPr txBox="1"/>
            <p:nvPr/>
          </p:nvSpPr>
          <p:spPr>
            <a:xfrm>
              <a:off x="4756893" y="2118856"/>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5669455" y="2064995"/>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54" name="직선 연결선 53">
              <a:extLst>
                <a:ext uri="{FF2B5EF4-FFF2-40B4-BE49-F238E27FC236}">
                  <a16:creationId xmlns:a16="http://schemas.microsoft.com/office/drawing/2014/main" id="{E9293055-D5CD-4B9E-7F64-64B2D2CA7A52}"/>
                </a:ext>
              </a:extLst>
            </p:cNvPr>
            <p:cNvCxnSpPr/>
            <p:nvPr/>
          </p:nvCxnSpPr>
          <p:spPr>
            <a:xfrm>
              <a:off x="3795735" y="1461535"/>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2682671818"/>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err="1"/>
              <a:t>품목목록</a:t>
            </a:r>
            <a:r>
              <a:rPr lang="ko-KR" altLang="en-US" dirty="0"/>
              <a:t> 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412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Autofit/>
          </a:bodyPr>
          <a:lstStyle/>
          <a:p>
            <a:r>
              <a:rPr lang="ko-KR" altLang="en-US" dirty="0" err="1"/>
              <a:t>공개수의협상계획상세</a:t>
            </a:r>
            <a:r>
              <a:rPr lang="ko-KR" altLang="en-US" dirty="0">
                <a:latin typeface="+mn-ea"/>
              </a:rPr>
              <a:t> </a:t>
            </a:r>
            <a:r>
              <a:rPr lang="en-US" altLang="ko-KR" dirty="0">
                <a:latin typeface="+mn-ea"/>
              </a:rPr>
              <a:t>– </a:t>
            </a:r>
            <a:r>
              <a:rPr lang="ko-KR" altLang="en-US" dirty="0" err="1">
                <a:latin typeface="+mn-ea"/>
              </a:rPr>
              <a:t>품목정보</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공개수의협상 상세정보를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t>공개수의협상계획상세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MUI-BD-12-M72</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20" name="그룹 119"/>
          <p:cNvGrpSpPr/>
          <p:nvPr/>
        </p:nvGrpSpPr>
        <p:grpSpPr>
          <a:xfrm>
            <a:off x="716366" y="1527996"/>
            <a:ext cx="2630093" cy="4697491"/>
            <a:chOff x="701175" y="1527996"/>
            <a:chExt cx="2630093" cy="4697491"/>
          </a:xfrm>
        </p:grpSpPr>
        <p:sp>
          <p:nvSpPr>
            <p:cNvPr id="121" name="TextBox 120">
              <a:extLst>
                <a:ext uri="{FF2B5EF4-FFF2-40B4-BE49-F238E27FC236}">
                  <a16:creationId xmlns:a16="http://schemas.microsoft.com/office/drawing/2014/main" id="{FFC49AEA-2A8F-250C-A86A-A7751D9706C3}"/>
                </a:ext>
              </a:extLst>
            </p:cNvPr>
            <p:cNvSpPr txBox="1"/>
            <p:nvPr/>
          </p:nvSpPr>
          <p:spPr>
            <a:xfrm>
              <a:off x="762146" y="1527996"/>
              <a:ext cx="1279155"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23" name="직사각형 122"/>
            <p:cNvSpPr/>
            <p:nvPr/>
          </p:nvSpPr>
          <p:spPr>
            <a:xfrm>
              <a:off x="703268" y="1835482"/>
              <a:ext cx="792000" cy="439000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790330" y="1835481"/>
              <a:ext cx="728979" cy="4308872"/>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품질등급</a:t>
              </a:r>
              <a:endParaRPr lang="ko-KR" altLang="en-US" sz="700" dirty="0">
                <a:latin typeface="+mn-ea"/>
              </a:endParaRPr>
            </a:p>
            <a:p>
              <a:pPr>
                <a:lnSpc>
                  <a:spcPct val="200000"/>
                </a:lnSpc>
              </a:pPr>
              <a:r>
                <a:rPr lang="ko-KR" altLang="en-US" sz="700" dirty="0" err="1">
                  <a:latin typeface="+mn-ea"/>
                </a:rPr>
                <a:t>첨부문서</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err="1">
                  <a:latin typeface="+mn-ea"/>
                </a:rPr>
                <a:t>규격번호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납기기준일자</a:t>
              </a:r>
            </a:p>
            <a:p>
              <a:pPr>
                <a:lnSpc>
                  <a:spcPct val="200000"/>
                </a:lnSpc>
              </a:pPr>
              <a:r>
                <a:rPr lang="ko-KR" altLang="en-US" sz="700" dirty="0">
                  <a:latin typeface="+mn-ea"/>
                </a:rPr>
                <a:t>단위</a:t>
              </a:r>
            </a:p>
            <a:p>
              <a:pPr>
                <a:lnSpc>
                  <a:spcPct val="200000"/>
                </a:lnSpc>
              </a:pPr>
              <a:r>
                <a:rPr lang="ko-KR" altLang="en-US" sz="700" dirty="0" err="1">
                  <a:latin typeface="+mn-ea"/>
                </a:rPr>
                <a:t>본조수량</a:t>
              </a:r>
              <a:endParaRPr lang="ko-KR" altLang="en-US" sz="700" dirty="0">
                <a:latin typeface="+mn-ea"/>
              </a:endParaRPr>
            </a:p>
            <a:p>
              <a:pPr>
                <a:lnSpc>
                  <a:spcPct val="200000"/>
                </a:lnSpc>
              </a:pPr>
              <a:r>
                <a:rPr lang="ko-KR" altLang="en-US" sz="700" dirty="0" err="1">
                  <a:latin typeface="+mn-ea"/>
                </a:rPr>
                <a:t>당국수량</a:t>
              </a:r>
              <a:endParaRPr lang="ko-KR" altLang="en-US" sz="700" dirty="0">
                <a:latin typeface="+mn-ea"/>
              </a:endParaRPr>
            </a:p>
            <a:p>
              <a:pPr>
                <a:lnSpc>
                  <a:spcPct val="200000"/>
                </a:lnSpc>
              </a:pPr>
              <a:r>
                <a:rPr lang="ko-KR" altLang="en-US" sz="700" dirty="0" err="1">
                  <a:latin typeface="+mn-ea"/>
                </a:rPr>
                <a:t>장국수량</a:t>
              </a:r>
              <a:endParaRPr lang="ko-KR" altLang="en-US" sz="700" dirty="0">
                <a:latin typeface="+mn-ea"/>
              </a:endParaRPr>
            </a:p>
            <a:p>
              <a:pPr>
                <a:lnSpc>
                  <a:spcPct val="200000"/>
                </a:lnSpc>
              </a:pPr>
              <a:r>
                <a:rPr lang="ko-KR" altLang="en-US" sz="700" dirty="0" err="1">
                  <a:latin typeface="+mn-ea"/>
                </a:rPr>
                <a:t>본조예산</a:t>
              </a:r>
              <a:endParaRPr lang="ko-KR" altLang="en-US" sz="700" dirty="0">
                <a:latin typeface="+mn-ea"/>
              </a:endParaRPr>
            </a:p>
            <a:p>
              <a:pPr>
                <a:lnSpc>
                  <a:spcPct val="200000"/>
                </a:lnSpc>
              </a:pPr>
              <a:r>
                <a:rPr lang="ko-KR" altLang="en-US" sz="700" dirty="0" err="1">
                  <a:latin typeface="+mn-ea"/>
                </a:rPr>
                <a:t>당국예산</a:t>
              </a:r>
              <a:endParaRPr lang="ko-KR" altLang="en-US" sz="700" dirty="0">
                <a:latin typeface="+mn-ea"/>
              </a:endParaRPr>
            </a:p>
            <a:p>
              <a:pPr>
                <a:lnSpc>
                  <a:spcPct val="200000"/>
                </a:lnSpc>
              </a:pPr>
              <a:r>
                <a:rPr lang="ko-KR" altLang="en-US" sz="700" dirty="0" err="1">
                  <a:latin typeface="+mn-ea"/>
                </a:rPr>
                <a:t>장국예산</a:t>
              </a:r>
              <a:endParaRPr lang="ko-KR" altLang="en-US" sz="700" dirty="0">
                <a:latin typeface="+mn-ea"/>
              </a:endParaRPr>
            </a:p>
            <a:p>
              <a:pPr>
                <a:lnSpc>
                  <a:spcPct val="200000"/>
                </a:lnSpc>
              </a:pPr>
              <a:r>
                <a:rPr lang="ko-KR" altLang="en-US" sz="700" dirty="0" err="1">
                  <a:latin typeface="+mn-ea"/>
                </a:rPr>
                <a:t>수량합계</a:t>
              </a:r>
              <a:endParaRPr lang="ko-KR" altLang="en-US" sz="700" dirty="0">
                <a:latin typeface="+mn-ea"/>
              </a:endParaRPr>
            </a:p>
            <a:p>
              <a:pPr>
                <a:lnSpc>
                  <a:spcPct val="200000"/>
                </a:lnSpc>
              </a:pPr>
              <a:r>
                <a:rPr lang="ko-KR" altLang="en-US" sz="700" dirty="0">
                  <a:latin typeface="+mn-ea"/>
                </a:rPr>
                <a:t>화폐단위</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err="1">
                  <a:latin typeface="+mn-ea"/>
                </a:rPr>
                <a:t>지시금액</a:t>
              </a:r>
              <a:endParaRPr lang="ko-KR" altLang="en-US" sz="700" dirty="0">
                <a:latin typeface="+mn-ea"/>
              </a:endParaRPr>
            </a:p>
            <a:p>
              <a:pPr>
                <a:lnSpc>
                  <a:spcPct val="200000"/>
                </a:lnSpc>
              </a:pPr>
              <a:r>
                <a:rPr lang="ko-KR" altLang="en-US" sz="700" dirty="0" err="1">
                  <a:latin typeface="+mn-ea"/>
                </a:rPr>
                <a:t>장비부호</a:t>
              </a:r>
              <a:endParaRPr lang="ko-KR" altLang="en-US" sz="700" dirty="0">
                <a:latin typeface="+mn-ea"/>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1547180" y="1835481"/>
              <a:ext cx="1775839" cy="4308872"/>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A</a:t>
              </a:r>
            </a:p>
            <a:p>
              <a:pPr>
                <a:lnSpc>
                  <a:spcPct val="200000"/>
                </a:lnSpc>
              </a:pPr>
              <a:r>
                <a:rPr lang="en-US" altLang="ko-KR" sz="700" dirty="0">
                  <a:solidFill>
                    <a:srgbClr val="0070C0"/>
                  </a:solidFill>
                  <a:latin typeface="+mn-ea"/>
                </a:rPr>
                <a:t>O</a:t>
              </a:r>
            </a:p>
            <a:p>
              <a:pPr>
                <a:lnSpc>
                  <a:spcPct val="200000"/>
                </a:lnSpc>
              </a:pPr>
              <a:r>
                <a:rPr lang="en-US" altLang="ko-KR" sz="700" dirty="0">
                  <a:solidFill>
                    <a:srgbClr val="0070C0"/>
                  </a:solidFill>
                  <a:latin typeface="+mn-ea"/>
                </a:rPr>
                <a:t>156037A017759</a:t>
              </a:r>
            </a:p>
            <a:p>
              <a:pPr>
                <a:lnSpc>
                  <a:spcPct val="200000"/>
                </a:lnSpc>
              </a:pPr>
              <a:r>
                <a:rPr lang="en-US" altLang="ko-KR" sz="700" dirty="0">
                  <a:latin typeface="+mn-ea"/>
                </a:rPr>
                <a:t>369A2093-2</a:t>
              </a:r>
            </a:p>
            <a:p>
              <a:pPr>
                <a:lnSpc>
                  <a:spcPct val="200000"/>
                </a:lnSpc>
              </a:pPr>
              <a:r>
                <a:rPr lang="en-US" altLang="ko-KR" sz="700" dirty="0">
                  <a:latin typeface="+mn-ea"/>
                </a:rPr>
                <a:t>1560-D0001</a:t>
              </a:r>
            </a:p>
            <a:p>
              <a:pPr>
                <a:lnSpc>
                  <a:spcPct val="200000"/>
                </a:lnSpc>
              </a:pPr>
              <a:r>
                <a:rPr lang="en-US" altLang="ko-KR" sz="700" dirty="0">
                  <a:latin typeface="+mn-ea"/>
                </a:rPr>
                <a:t>500MD</a:t>
              </a:r>
            </a:p>
            <a:p>
              <a:pPr>
                <a:lnSpc>
                  <a:spcPct val="200000"/>
                </a:lnSpc>
              </a:pPr>
              <a:r>
                <a:rPr lang="en-US" altLang="ko-KR" sz="700" dirty="0">
                  <a:latin typeface="+mn-ea"/>
                </a:rPr>
                <a:t>2025-03-02</a:t>
              </a:r>
            </a:p>
            <a:p>
              <a:pPr>
                <a:lnSpc>
                  <a:spcPct val="200000"/>
                </a:lnSpc>
              </a:pPr>
              <a:r>
                <a:rPr lang="en-US" altLang="ko-KR" sz="700" dirty="0">
                  <a:latin typeface="+mn-ea"/>
                </a:rPr>
                <a:t>EA</a:t>
              </a:r>
            </a:p>
            <a:p>
              <a:pPr>
                <a:lnSpc>
                  <a:spcPct val="200000"/>
                </a:lnSpc>
              </a:pPr>
              <a:r>
                <a:rPr lang="en-US" altLang="ko-KR" sz="700" dirty="0">
                  <a:latin typeface="+mn-ea"/>
                </a:rPr>
                <a:t>5</a:t>
              </a:r>
            </a:p>
            <a:p>
              <a:pPr>
                <a:lnSpc>
                  <a:spcPct val="200000"/>
                </a:lnSpc>
              </a:pPr>
              <a:r>
                <a:rPr lang="en-US" altLang="ko-KR" sz="700" dirty="0">
                  <a:latin typeface="+mn-ea"/>
                </a:rPr>
                <a:t>3</a:t>
              </a:r>
            </a:p>
            <a:p>
              <a:pPr>
                <a:lnSpc>
                  <a:spcPct val="200000"/>
                </a:lnSpc>
              </a:pPr>
              <a:r>
                <a:rPr lang="en-US" altLang="ko-KR" sz="700" dirty="0">
                  <a:latin typeface="+mn-ea"/>
                </a:rPr>
                <a:t>2</a:t>
              </a:r>
            </a:p>
            <a:p>
              <a:pPr algn="r">
                <a:lnSpc>
                  <a:spcPct val="200000"/>
                </a:lnSpc>
              </a:pPr>
              <a:r>
                <a:rPr lang="en-US" altLang="ko-KR" sz="700" dirty="0">
                  <a:latin typeface="+mn-ea"/>
                </a:rPr>
                <a:t>5,000,000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a:t>
              </a:r>
              <a:r>
                <a:rPr lang="ko-KR" altLang="en-US" sz="700" dirty="0">
                  <a:latin typeface="+mn-ea"/>
                </a:rPr>
                <a:t>원</a:t>
              </a:r>
              <a:endParaRPr lang="en-US" altLang="ko-KR" sz="700" dirty="0">
                <a:latin typeface="+mn-ea"/>
              </a:endParaRPr>
            </a:p>
            <a:p>
              <a:pPr algn="r">
                <a:lnSpc>
                  <a:spcPct val="200000"/>
                </a:lnSpc>
              </a:pPr>
              <a:r>
                <a:rPr lang="en-US" altLang="ko-KR" sz="700" dirty="0">
                  <a:latin typeface="+mn-ea"/>
                </a:rPr>
                <a:t>1,000,000 </a:t>
              </a:r>
              <a:r>
                <a:rPr lang="ko-KR" altLang="en-US" sz="700" dirty="0">
                  <a:latin typeface="+mn-ea"/>
                </a:rPr>
                <a:t>원</a:t>
              </a:r>
              <a:endParaRPr lang="en-US" altLang="ko-KR" sz="700" dirty="0">
                <a:latin typeface="+mn-ea"/>
              </a:endParaRPr>
            </a:p>
            <a:p>
              <a:pPr>
                <a:lnSpc>
                  <a:spcPct val="200000"/>
                </a:lnSpc>
              </a:pPr>
              <a:r>
                <a:rPr lang="en-US" altLang="ko-KR" sz="700" dirty="0">
                  <a:latin typeface="+mn-ea"/>
                </a:rPr>
                <a:t>10</a:t>
              </a:r>
            </a:p>
            <a:p>
              <a:pPr algn="r">
                <a:lnSpc>
                  <a:spcPct val="200000"/>
                </a:lnSpc>
              </a:pPr>
              <a:r>
                <a:rPr lang="ko-KR" altLang="en-US" sz="700" dirty="0">
                  <a:latin typeface="+mn-ea"/>
                </a:rPr>
                <a:t>미 달러</a:t>
              </a:r>
              <a:endParaRPr lang="en-US" altLang="ko-KR" sz="700" dirty="0">
                <a:latin typeface="+mn-ea"/>
              </a:endParaRPr>
            </a:p>
            <a:p>
              <a:pPr algn="r">
                <a:lnSpc>
                  <a:spcPct val="200000"/>
                </a:lnSpc>
              </a:pPr>
              <a:r>
                <a:rPr lang="en-US" altLang="ko-KR" sz="700" dirty="0">
                  <a:latin typeface="+mn-ea"/>
                </a:rPr>
                <a:t>145.58</a:t>
              </a:r>
            </a:p>
            <a:p>
              <a:pPr algn="r">
                <a:lnSpc>
                  <a:spcPct val="200000"/>
                </a:lnSpc>
              </a:pPr>
              <a:r>
                <a:rPr lang="en-US" altLang="ko-KR" sz="700" dirty="0">
                  <a:latin typeface="+mn-ea"/>
                </a:rPr>
                <a:t>2,473.16</a:t>
              </a:r>
            </a:p>
            <a:p>
              <a:pPr>
                <a:lnSpc>
                  <a:spcPct val="200000"/>
                </a:lnSpc>
              </a:pPr>
              <a:r>
                <a:rPr lang="en-US" altLang="ko-KR" sz="700" dirty="0">
                  <a:latin typeface="+mn-ea"/>
                </a:rPr>
                <a:t>30310201</a:t>
              </a:r>
            </a:p>
          </p:txBody>
        </p:sp>
        <p:grpSp>
          <p:nvGrpSpPr>
            <p:cNvPr id="126" name="그룹 125"/>
            <p:cNvGrpSpPr/>
            <p:nvPr/>
          </p:nvGrpSpPr>
          <p:grpSpPr>
            <a:xfrm>
              <a:off x="701175" y="1835481"/>
              <a:ext cx="2630093" cy="4290528"/>
              <a:chOff x="701175" y="1835481"/>
              <a:chExt cx="2630093" cy="4290528"/>
            </a:xfrm>
          </p:grpSpPr>
          <p:cxnSp>
            <p:nvCxnSpPr>
              <p:cNvPr id="127" name="직선 연결선 12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03268" y="22663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1175" y="248501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6997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9158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13539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35013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356628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701175" y="376576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3268" y="398050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3268" y="419665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440737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1175" y="462687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3268" y="484161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50577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1175" y="525724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54719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568812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590986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8" name="직선 연결선 177">
                <a:extLst>
                  <a:ext uri="{FF2B5EF4-FFF2-40B4-BE49-F238E27FC236}">
                    <a16:creationId xmlns:a16="http://schemas.microsoft.com/office/drawing/2014/main" id="{E9293055-D5CD-4B9E-7F64-64B2D2CA7A52}"/>
                  </a:ext>
                </a:extLst>
              </p:cNvPr>
              <p:cNvCxnSpPr/>
              <p:nvPr/>
            </p:nvCxnSpPr>
            <p:spPr>
              <a:xfrm>
                <a:off x="703268" y="612600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44" name="직사각형 143"/>
          <p:cNvSpPr/>
          <p:nvPr/>
        </p:nvSpPr>
        <p:spPr>
          <a:xfrm>
            <a:off x="3820170" y="2089517"/>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5" name="사각형: 둥근 모서리 31">
            <a:extLst>
              <a:ext uri="{FF2B5EF4-FFF2-40B4-BE49-F238E27FC236}">
                <a16:creationId xmlns:a16="http://schemas.microsoft.com/office/drawing/2014/main" id="{2AC143EE-93CF-3518-F0CB-8469E98507E0}"/>
              </a:ext>
            </a:extLst>
          </p:cNvPr>
          <p:cNvSpPr/>
          <p:nvPr/>
        </p:nvSpPr>
        <p:spPr>
          <a:xfrm>
            <a:off x="3928441" y="5983001"/>
            <a:ext cx="2446613" cy="242486"/>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더보기</a:t>
            </a:r>
            <a:r>
              <a:rPr kumimoji="1" lang="ko-KR" altLang="en-US" sz="800" kern="0" dirty="0">
                <a:solidFill>
                  <a:srgbClr val="0070C0"/>
                </a:solidFill>
                <a:latin typeface="맑은 고딕"/>
                <a:ea typeface="맑은 고딕" panose="020B0503020000020004" pitchFamily="50" charset="-127"/>
              </a:rPr>
              <a:t> </a:t>
            </a:r>
            <a:r>
              <a:rPr kumimoji="1" lang="en-US" altLang="ko-KR" sz="800" kern="0" dirty="0">
                <a:solidFill>
                  <a:srgbClr val="0070C0"/>
                </a:solidFill>
                <a:latin typeface="맑은 고딕"/>
                <a:ea typeface="맑은 고딕" panose="020B0503020000020004" pitchFamily="50" charset="-127"/>
              </a:rPr>
              <a:t>(10/258)</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146" name="그룹 145">
            <a:extLst>
              <a:ext uri="{FF2B5EF4-FFF2-40B4-BE49-F238E27FC236}">
                <a16:creationId xmlns:a16="http://schemas.microsoft.com/office/drawing/2014/main" id="{22BC05EE-C648-7CA2-4CCC-6E1C1A7E9BDA}"/>
              </a:ext>
            </a:extLst>
          </p:cNvPr>
          <p:cNvGrpSpPr/>
          <p:nvPr/>
        </p:nvGrpSpPr>
        <p:grpSpPr>
          <a:xfrm>
            <a:off x="5113316" y="4299652"/>
            <a:ext cx="76863" cy="292489"/>
            <a:chOff x="3750067" y="4683795"/>
            <a:chExt cx="76863" cy="292489"/>
          </a:xfrm>
        </p:grpSpPr>
        <p:sp>
          <p:nvSpPr>
            <p:cNvPr id="147" name="타원 14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8" name="타원 14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9" name="타원 14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150" name="TextBox 149">
            <a:extLst>
              <a:ext uri="{FF2B5EF4-FFF2-40B4-BE49-F238E27FC236}">
                <a16:creationId xmlns:a16="http://schemas.microsoft.com/office/drawing/2014/main" id="{FFC49AEA-2A8F-250C-A86A-A7751D9706C3}"/>
              </a:ext>
            </a:extLst>
          </p:cNvPr>
          <p:cNvSpPr txBox="1"/>
          <p:nvPr/>
        </p:nvSpPr>
        <p:spPr>
          <a:xfrm>
            <a:off x="3910666" y="2089518"/>
            <a:ext cx="725552" cy="827471"/>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품질등급</a:t>
            </a:r>
            <a:endParaRPr lang="ko-KR" altLang="en-US" sz="700" dirty="0">
              <a:latin typeface="+mn-ea"/>
            </a:endParaRPr>
          </a:p>
          <a:p>
            <a:pPr>
              <a:lnSpc>
                <a:spcPct val="200000"/>
              </a:lnSpc>
            </a:pPr>
            <a:r>
              <a:rPr lang="ko-KR" altLang="en-US" sz="700" dirty="0" err="1">
                <a:latin typeface="+mn-ea"/>
              </a:rPr>
              <a:t>첨부문서</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p:txBody>
      </p:sp>
      <p:grpSp>
        <p:nvGrpSpPr>
          <p:cNvPr id="151" name="그룹 150"/>
          <p:cNvGrpSpPr/>
          <p:nvPr/>
        </p:nvGrpSpPr>
        <p:grpSpPr>
          <a:xfrm>
            <a:off x="3821510" y="2089518"/>
            <a:ext cx="2630093" cy="1075182"/>
            <a:chOff x="701175" y="1835481"/>
            <a:chExt cx="2630093" cy="1075182"/>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5" name="직선 연결선 15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4667515" y="2089518"/>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500MD</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0000</a:t>
            </a:r>
            <a:endParaRPr lang="en-US" altLang="ko-KR" sz="700" dirty="0">
              <a:latin typeface="+mn-ea"/>
            </a:endParaRPr>
          </a:p>
        </p:txBody>
      </p:sp>
      <p:sp>
        <p:nvSpPr>
          <p:cNvPr id="179" name="사각형: 둥근 모서리 15">
            <a:extLst>
              <a:ext uri="{FF2B5EF4-FFF2-40B4-BE49-F238E27FC236}">
                <a16:creationId xmlns:a16="http://schemas.microsoft.com/office/drawing/2014/main" id="{E2B61CFB-AD16-68D0-8752-50D9C5E01971}"/>
              </a:ext>
            </a:extLst>
          </p:cNvPr>
          <p:cNvSpPr/>
          <p:nvPr/>
        </p:nvSpPr>
        <p:spPr>
          <a:xfrm>
            <a:off x="3933132" y="2975017"/>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grpSp>
        <p:nvGrpSpPr>
          <p:cNvPr id="180" name="그룹 179"/>
          <p:cNvGrpSpPr/>
          <p:nvPr/>
        </p:nvGrpSpPr>
        <p:grpSpPr>
          <a:xfrm>
            <a:off x="3819892" y="1771904"/>
            <a:ext cx="2628000" cy="216222"/>
            <a:chOff x="703268" y="2694441"/>
            <a:chExt cx="2628000" cy="216222"/>
          </a:xfrm>
        </p:grpSpPr>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6" name="사각형: 둥근 모서리 15">
            <a:extLst>
              <a:ext uri="{FF2B5EF4-FFF2-40B4-BE49-F238E27FC236}">
                <a16:creationId xmlns:a16="http://schemas.microsoft.com/office/drawing/2014/main" id="{E2B61CFB-AD16-68D0-8752-50D9C5E01971}"/>
              </a:ext>
            </a:extLst>
          </p:cNvPr>
          <p:cNvSpPr/>
          <p:nvPr/>
        </p:nvSpPr>
        <p:spPr>
          <a:xfrm>
            <a:off x="3892730" y="1798443"/>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t>내역 접기 ↑</a:t>
            </a:r>
            <a:endParaRPr kumimoji="1" lang="en-US" altLang="ko-KR" sz="700" kern="0" dirty="0"/>
          </a:p>
        </p:txBody>
      </p:sp>
      <p:sp>
        <p:nvSpPr>
          <p:cNvPr id="122" name="직사각형 121"/>
          <p:cNvSpPr/>
          <p:nvPr/>
        </p:nvSpPr>
        <p:spPr>
          <a:xfrm>
            <a:off x="3820170" y="1500365"/>
            <a:ext cx="792000" cy="27398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0" name="TextBox 129">
            <a:extLst>
              <a:ext uri="{FF2B5EF4-FFF2-40B4-BE49-F238E27FC236}">
                <a16:creationId xmlns:a16="http://schemas.microsoft.com/office/drawing/2014/main" id="{FFC49AEA-2A8F-250C-A86A-A7751D9706C3}"/>
              </a:ext>
            </a:extLst>
          </p:cNvPr>
          <p:cNvSpPr txBox="1"/>
          <p:nvPr/>
        </p:nvSpPr>
        <p:spPr>
          <a:xfrm>
            <a:off x="3910666" y="1556024"/>
            <a:ext cx="725552" cy="181140"/>
          </a:xfrm>
          <a:prstGeom prst="rect">
            <a:avLst/>
          </a:prstGeom>
          <a:noFill/>
        </p:spPr>
        <p:txBody>
          <a:bodyPr wrap="square" lIns="0" tIns="0" rIns="0" bIns="0" rtlCol="0">
            <a:spAutoFit/>
          </a:bodyPr>
          <a:lstStyle/>
          <a:p>
            <a:pPr>
              <a:lnSpc>
                <a:spcPct val="200000"/>
              </a:lnSpc>
            </a:pPr>
            <a:r>
              <a:rPr lang="ko-KR" altLang="en-US" sz="700" dirty="0" err="1">
                <a:latin typeface="+mn-ea"/>
              </a:rPr>
              <a:t>장비명</a:t>
            </a:r>
            <a:endParaRPr lang="ko-KR" altLang="en-US" sz="700" dirty="0">
              <a:latin typeface="+mn-ea"/>
            </a:endParaRPr>
          </a:p>
        </p:txBody>
      </p:sp>
      <p:sp>
        <p:nvSpPr>
          <p:cNvPr id="131" name="TextBox 130">
            <a:extLst>
              <a:ext uri="{FF2B5EF4-FFF2-40B4-BE49-F238E27FC236}">
                <a16:creationId xmlns:a16="http://schemas.microsoft.com/office/drawing/2014/main" id="{FFC49AEA-2A8F-250C-A86A-A7751D9706C3}"/>
              </a:ext>
            </a:extLst>
          </p:cNvPr>
          <p:cNvSpPr txBox="1"/>
          <p:nvPr/>
        </p:nvSpPr>
        <p:spPr>
          <a:xfrm>
            <a:off x="4667515" y="1556024"/>
            <a:ext cx="1784088" cy="181140"/>
          </a:xfrm>
          <a:prstGeom prst="rect">
            <a:avLst/>
          </a:prstGeom>
          <a:noFill/>
        </p:spPr>
        <p:txBody>
          <a:bodyPr wrap="square" lIns="0" tIns="0" rIns="0" bIns="0" rtlCol="0">
            <a:spAutoFit/>
          </a:bodyPr>
          <a:lstStyle/>
          <a:p>
            <a:pPr>
              <a:lnSpc>
                <a:spcPct val="200000"/>
              </a:lnSpc>
            </a:pPr>
            <a:r>
              <a:rPr lang="ko-KR" altLang="en-US" sz="700" dirty="0">
                <a:latin typeface="+mn-ea"/>
              </a:rPr>
              <a:t>특수 추진기</a:t>
            </a:r>
          </a:p>
        </p:txBody>
      </p:sp>
      <p:grpSp>
        <p:nvGrpSpPr>
          <p:cNvPr id="142" name="그룹 141"/>
          <p:cNvGrpSpPr/>
          <p:nvPr/>
        </p:nvGrpSpPr>
        <p:grpSpPr>
          <a:xfrm>
            <a:off x="3821510" y="1554929"/>
            <a:ext cx="2630093" cy="214740"/>
            <a:chOff x="701175" y="1835481"/>
            <a:chExt cx="2630093" cy="214740"/>
          </a:xfrm>
        </p:grpSpPr>
        <p:cxnSp>
          <p:nvCxnSpPr>
            <p:cNvPr id="143" name="직선 연결선 142">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7" name="직선 연결선 15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1" name="사각형: 둥근 모서리 15">
            <a:extLst>
              <a:ext uri="{FF2B5EF4-FFF2-40B4-BE49-F238E27FC236}">
                <a16:creationId xmlns:a16="http://schemas.microsoft.com/office/drawing/2014/main" id="{E2B61CFB-AD16-68D0-8752-50D9C5E01971}"/>
              </a:ext>
            </a:extLst>
          </p:cNvPr>
          <p:cNvSpPr/>
          <p:nvPr/>
        </p:nvSpPr>
        <p:spPr>
          <a:xfrm>
            <a:off x="2836921" y="2292738"/>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82" name="사각형: 둥근 모서리 15">
            <a:extLst>
              <a:ext uri="{FF2B5EF4-FFF2-40B4-BE49-F238E27FC236}">
                <a16:creationId xmlns:a16="http://schemas.microsoft.com/office/drawing/2014/main" id="{E2B61CFB-AD16-68D0-8752-50D9C5E01971}"/>
              </a:ext>
            </a:extLst>
          </p:cNvPr>
          <p:cNvSpPr/>
          <p:nvPr/>
        </p:nvSpPr>
        <p:spPr>
          <a:xfrm>
            <a:off x="2836921" y="2514471"/>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
        <p:nvSpPr>
          <p:cNvPr id="191" name="타원 190">
            <a:extLst>
              <a:ext uri="{FF2B5EF4-FFF2-40B4-BE49-F238E27FC236}">
                <a16:creationId xmlns:a16="http://schemas.microsoft.com/office/drawing/2014/main" id="{37A7FF4F-0EAA-1463-560A-D5EC24416103}"/>
              </a:ext>
            </a:extLst>
          </p:cNvPr>
          <p:cNvSpPr/>
          <p:nvPr/>
        </p:nvSpPr>
        <p:spPr>
          <a:xfrm>
            <a:off x="3674573" y="1583082"/>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Tree>
    <p:extLst>
      <p:ext uri="{BB962C8B-B14F-4D97-AF65-F5344CB8AC3E}">
        <p14:creationId xmlns:p14="http://schemas.microsoft.com/office/powerpoint/2010/main" val="3377169756"/>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solidFill>
                  <a:schemeClr val="tx1">
                    <a:lumMod val="85000"/>
                    <a:lumOff val="15000"/>
                  </a:schemeClr>
                </a:solidFill>
              </a:rPr>
              <a:t>첨부파일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413</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t>공개수의협상계획상세</a:t>
            </a:r>
            <a:r>
              <a:rPr lang="ko-KR" altLang="en-US" dirty="0">
                <a:latin typeface="+mn-ea"/>
              </a:rPr>
              <a:t> </a:t>
            </a:r>
            <a:r>
              <a:rPr lang="en-US" altLang="ko-KR" dirty="0">
                <a:latin typeface="+mn-ea"/>
              </a:rPr>
              <a:t>– </a:t>
            </a:r>
            <a:r>
              <a:rPr lang="ko-KR" altLang="en-US" dirty="0">
                <a:latin typeface="+mn-ea"/>
              </a:rPr>
              <a:t>첨부서류</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공개수의협상 상세정보를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t>공개수의협상계획상세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MUI-BD-12-M73</a:t>
            </a:r>
            <a:endParaRPr lang="ko-KR" altLang="en-US" dirty="0"/>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a:extLst>
              <a:ext uri="{FF2B5EF4-FFF2-40B4-BE49-F238E27FC236}">
                <a16:creationId xmlns:a16="http://schemas.microsoft.com/office/drawing/2014/main" id="{FFC49AEA-2A8F-250C-A86A-A7751D9706C3}"/>
              </a:ext>
            </a:extLst>
          </p:cNvPr>
          <p:cNvSpPr txBox="1"/>
          <p:nvPr/>
        </p:nvSpPr>
        <p:spPr>
          <a:xfrm>
            <a:off x="756845" y="1550906"/>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194929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2023813"/>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공고문안</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207767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7" name="타원 116"/>
          <p:cNvSpPr/>
          <p:nvPr/>
        </p:nvSpPr>
        <p:spPr>
          <a:xfrm>
            <a:off x="3025190" y="205953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8" name="모서리가 둥근 직사각형 117"/>
          <p:cNvSpPr/>
          <p:nvPr/>
        </p:nvSpPr>
        <p:spPr>
          <a:xfrm>
            <a:off x="710315" y="235597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2430499"/>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일반조건</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248436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1" name="타원 120"/>
          <p:cNvSpPr/>
          <p:nvPr/>
        </p:nvSpPr>
        <p:spPr>
          <a:xfrm>
            <a:off x="3025190" y="2466221"/>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1814174"/>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34706" y="1814174"/>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1814174"/>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158177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00" name="모서리가 둥근 직사각형 99"/>
          <p:cNvSpPr/>
          <p:nvPr/>
        </p:nvSpPr>
        <p:spPr>
          <a:xfrm>
            <a:off x="710315" y="275734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2831862"/>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특수조건</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288572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3" name="타원 102"/>
          <p:cNvSpPr/>
          <p:nvPr/>
        </p:nvSpPr>
        <p:spPr>
          <a:xfrm>
            <a:off x="3025190" y="286758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모서리가 둥근 직사각형 103"/>
          <p:cNvSpPr/>
          <p:nvPr/>
        </p:nvSpPr>
        <p:spPr>
          <a:xfrm>
            <a:off x="710315" y="316402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3238548"/>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기타첨부</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329240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29" name="타원 128"/>
          <p:cNvSpPr/>
          <p:nvPr/>
        </p:nvSpPr>
        <p:spPr>
          <a:xfrm>
            <a:off x="3025190" y="327427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180172291"/>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414</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608654"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dm_pbancGnrlInfo</a:t>
            </a:r>
            <a:r>
              <a:rPr lang="en-US" altLang="ko-KR" sz="900" b="1" dirty="0">
                <a:solidFill>
                  <a:prstClr val="black"/>
                </a:solidFill>
              </a:rPr>
              <a:t>)</a:t>
            </a:r>
            <a:endParaRPr lang="ko-KR" altLang="en-US" sz="900" b="1" dirty="0">
              <a:solidFill>
                <a:prstClr val="black"/>
              </a:solidFill>
            </a:endParaRPr>
          </a:p>
        </p:txBody>
      </p:sp>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1075529"/>
          <a:ext cx="8994883" cy="3296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pbancNo</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pbancOd</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274463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pbancType</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공고구분</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967442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pbancRqstYmd</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1377459"/>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prchsDmndNo</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9582557"/>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통합참조번호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intgRfrncNo</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019054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bizNm</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99289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계약방법</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2626487"/>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797409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4955673"/>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etdcDdlnDt</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634123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exchrtAplcnYmd</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519536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4999726"/>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방위사업청담당자</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99814286"/>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방위사업청담당자</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3926896225"/>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415</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094090"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첨부서류 데이터 영역 </a:t>
            </a:r>
            <a:r>
              <a:rPr lang="en-US" altLang="ko-KR" sz="900" b="1" dirty="0">
                <a:solidFill>
                  <a:prstClr val="black"/>
                </a:solidFill>
              </a:rPr>
              <a:t>(</a:t>
            </a:r>
            <a:r>
              <a:rPr lang="en-US" altLang="ko-KR" sz="900" b="1" dirty="0" err="1">
                <a:solidFill>
                  <a:prstClr val="black"/>
                </a:solidFill>
              </a:rPr>
              <a:t>dl_docList</a:t>
            </a:r>
            <a:r>
              <a:rPr lang="en-US" altLang="ko-KR" sz="900" b="1" dirty="0">
                <a:solidFill>
                  <a:prstClr val="black"/>
                </a:solidFill>
              </a:rPr>
              <a:t>)</a:t>
            </a:r>
            <a:endParaRPr lang="ko-KR" altLang="en-US" sz="900" b="1" dirty="0">
              <a:solidFill>
                <a:prstClr val="black"/>
              </a:solidFill>
            </a:endParaRPr>
          </a:p>
        </p:txBody>
      </p:sp>
      <p:sp>
        <p:nvSpPr>
          <p:cNvPr id="24" name="TextBox 23">
            <a:extLst>
              <a:ext uri="{FF2B5EF4-FFF2-40B4-BE49-F238E27FC236}">
                <a16:creationId xmlns:a16="http://schemas.microsoft.com/office/drawing/2014/main" id="{05271CA1-8B7B-01B8-8587-605BE3417C65}"/>
              </a:ext>
            </a:extLst>
          </p:cNvPr>
          <p:cNvSpPr txBox="1"/>
          <p:nvPr/>
        </p:nvSpPr>
        <p:spPr>
          <a:xfrm>
            <a:off x="458117" y="2044066"/>
            <a:ext cx="2185461"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품목목록 데이터 영역 </a:t>
            </a:r>
            <a:r>
              <a:rPr lang="en-US" altLang="ko-KR" sz="900" b="1" dirty="0">
                <a:solidFill>
                  <a:prstClr val="black"/>
                </a:solidFill>
              </a:rPr>
              <a:t>(</a:t>
            </a:r>
            <a:r>
              <a:rPr lang="en-US" altLang="ko-KR" sz="900" b="1" dirty="0" err="1">
                <a:solidFill>
                  <a:prstClr val="black"/>
                </a:solidFill>
              </a:rPr>
              <a:t>dl_itemList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9696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atchDocNm</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74833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2279560"/>
          <a:ext cx="8994883" cy="42662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품질등급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inspShpNm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 품질등급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7158619"/>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 첨부 여부</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0321345"/>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재고번호</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2075810"/>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2474319"/>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spcfctNo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규격번호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7473288"/>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3082189"/>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납기기준일자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dudtYmd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납기기준일자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6991601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0187606"/>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본조수량</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국가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4965915"/>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당국수량</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당해년도 국채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0867740"/>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장국수량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장기국채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7930376"/>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본조예산</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bscbgtDrctnAmt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국가 예산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6449233"/>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당국예산</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athrtDrctnAmt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당해년도 국채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275272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장국예산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ltbndDrctnAmt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장기국채 예산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10023524"/>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수량합계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수량합계</a:t>
                      </a: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본조수량</a:t>
                      </a: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당국수량</a:t>
                      </a: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장국수량</a:t>
                      </a: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876956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화페단위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03932834"/>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010544"/>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4712880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장비부호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aplcnEqpmntCd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장비부호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장비명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aplcnEqpmntNm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장비명</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630166679"/>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406675"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견적제출목록 데이터 영역 </a:t>
            </a:r>
            <a:r>
              <a:rPr lang="en-US" altLang="ko-KR" sz="900" b="1" dirty="0">
                <a:solidFill>
                  <a:prstClr val="black"/>
                </a:solidFill>
              </a:rPr>
              <a:t>(</a:t>
            </a:r>
            <a:r>
              <a:rPr lang="en-US" altLang="ko-KR" sz="900" b="1">
                <a:solidFill>
                  <a:prstClr val="black"/>
                </a:solidFill>
              </a:rPr>
              <a:t>dl_</a:t>
            </a:r>
            <a:r>
              <a:rPr lang="en-US" altLang="ko-KR" sz="900" b="1" dirty="0" err="1">
                <a:solidFill>
                  <a:prstClr val="black"/>
                </a:solidFill>
              </a:rPr>
              <a:t>etdcList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008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aplyBzentyNm</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등록확정일자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aplyBzentyRegCfmtnYmd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등록확정일자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788739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부정당여부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aplyBzentyUjstYn</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부정당여부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8312728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입찰참가업체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bidBzentyBzentyNm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입찰참가업체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200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927363"/>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입찰참가업체 등록확정일자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bidBzentyRegCfmtnYmd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입찰참가신청 등록확정일자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8946996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입찰참가업체 부정당여부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bidBzentyUjstYn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입찰참가업체 부정당여부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11358379"/>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입찰참가업체 사업자등록일자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bidBzentyBzmnRegYmd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입찰참가업체 사업자등록일자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8</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8438682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estmtAmt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업체가 제출한 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25,3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39005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crncUnit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견적금액의 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(FCUC)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88244228"/>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낙찰율</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scsbdRate</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낙찰율</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6,3</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908142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rslt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낙찰결과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50</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061213"/>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제출서류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smdoc</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제출서류여부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dirty="0">
                          <a:latin typeface="+mn-ea"/>
                          <a:ea typeface="+mn-ea"/>
                        </a:rPr>
                        <a:t>1</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구분 </a:t>
                      </a:r>
                      <a:r>
                        <a:rPr lang="en-US" altLang="ko-KR" sz="800" dirty="0">
                          <a:latin typeface="+mn-ea"/>
                          <a:ea typeface="+mn-ea"/>
                        </a:rPr>
                        <a:t>(O/X)</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471068"/>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슬라이드 번호 개체 틀 4">
            <a:extLst>
              <a:ext uri="{FF2B5EF4-FFF2-40B4-BE49-F238E27FC236}">
                <a16:creationId xmlns:a16="http://schemas.microsoft.com/office/drawing/2014/main" id="{CE542789-D9EF-B9D8-7A24-6D5B3646CAB9}"/>
              </a:ext>
            </a:extLst>
          </p:cNvPr>
          <p:cNvSpPr>
            <a:spLocks noGrp="1"/>
          </p:cNvSpPr>
          <p:nvPr>
            <p:ph type="sldNum" sz="quarter" idx="4"/>
          </p:nvPr>
        </p:nvSpPr>
        <p:spPr>
          <a:xfrm>
            <a:off x="4326220" y="6588000"/>
            <a:ext cx="1258128" cy="216000"/>
          </a:xfrm>
        </p:spPr>
        <p:txBody>
          <a:bodyPr/>
          <a:lstStyle/>
          <a:p>
            <a:fld id="{34C8E023-7346-48FC-AB24-9A3388C53208}" type="slidenum">
              <a:rPr lang="ko-KR" altLang="en-US" smtClean="0"/>
              <a:pPr/>
              <a:t>416</a:t>
            </a:fld>
            <a:endParaRPr lang="ko-KR" altLang="en-US"/>
          </a:p>
        </p:txBody>
      </p:sp>
      <p:sp>
        <p:nvSpPr>
          <p:cNvPr id="7" name="직사각형 6"/>
          <p:cNvSpPr/>
          <p:nvPr/>
        </p:nvSpPr>
        <p:spPr>
          <a:xfrm>
            <a:off x="461554" y="1264286"/>
            <a:ext cx="6598187" cy="5200693"/>
          </a:xfrm>
          <a:prstGeom prst="rect">
            <a:avLst/>
          </a:prstGeom>
          <a:solidFill>
            <a:srgbClr val="000000">
              <a:alpha val="50196"/>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t>조달업무 담당자</a:t>
            </a:r>
            <a:r>
              <a:rPr lang="en-US" altLang="ko-KR" dirty="0" smtClean="0"/>
              <a:t>(</a:t>
            </a:r>
            <a:r>
              <a:rPr lang="ko-KR" altLang="en-US" dirty="0" smtClean="0"/>
              <a:t>관리자</a:t>
            </a:r>
            <a:r>
              <a:rPr lang="en-US" altLang="ko-KR" dirty="0" smtClean="0"/>
              <a:t>) </a:t>
            </a:r>
            <a:r>
              <a:rPr lang="ko-KR" altLang="en-US" dirty="0" smtClean="0"/>
              <a:t>화면으로</a:t>
            </a:r>
            <a:endParaRPr lang="en-US" altLang="ko-KR" dirty="0" smtClean="0"/>
          </a:p>
          <a:p>
            <a:pPr algn="ctr"/>
            <a:r>
              <a:rPr lang="ko-KR" altLang="en-US" dirty="0" smtClean="0"/>
              <a:t>모바일에서는 제공되지 않는 화면이</a:t>
            </a:r>
            <a:endParaRPr lang="en-US" altLang="ko-KR" dirty="0" smtClean="0"/>
          </a:p>
          <a:p>
            <a:pPr algn="ctr"/>
            <a:r>
              <a:rPr lang="ko-KR" altLang="en-US" dirty="0" err="1" smtClean="0"/>
              <a:t>설계화면에</a:t>
            </a:r>
            <a:r>
              <a:rPr lang="ko-KR" altLang="en-US" dirty="0" smtClean="0"/>
              <a:t> 잘못 포함되었음</a:t>
            </a:r>
            <a:r>
              <a:rPr lang="en-US" altLang="ko-KR" dirty="0" smtClean="0"/>
              <a:t>.</a:t>
            </a:r>
            <a:endParaRPr lang="ko-KR" altLang="en-US" dirty="0"/>
          </a:p>
        </p:txBody>
      </p:sp>
    </p:spTree>
    <p:extLst>
      <p:ext uri="{BB962C8B-B14F-4D97-AF65-F5344CB8AC3E}">
        <p14:creationId xmlns:p14="http://schemas.microsoft.com/office/powerpoint/2010/main" val="602362016"/>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417</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28" name="표 27">
            <a:extLst>
              <a:ext uri="{FF2B5EF4-FFF2-40B4-BE49-F238E27FC236}">
                <a16:creationId xmlns:a16="http://schemas.microsoft.com/office/drawing/2014/main" id="{89E1827E-1988-380A-F9F3-3955A79B0FE9}"/>
              </a:ext>
            </a:extLst>
          </p:cNvPr>
          <p:cNvGraphicFramePr>
            <a:graphicFrameLocks noGrp="1"/>
          </p:cNvGraphicFramePr>
          <p:nvPr>
            <p:extLst>
              <p:ext uri="{D42A27DB-BD31-4B8C-83A1-F6EECF244321}">
                <p14:modId xmlns:p14="http://schemas.microsoft.com/office/powerpoint/2010/main" val="233380498"/>
              </p:ext>
            </p:extLst>
          </p:nvPr>
        </p:nvGraphicFramePr>
        <p:xfrm>
          <a:off x="453000" y="806012"/>
          <a:ext cx="8995591" cy="2526720"/>
        </p:xfrm>
        <a:graphic>
          <a:graphicData uri="http://schemas.openxmlformats.org/drawingml/2006/table">
            <a:tbl>
              <a:tblPr>
                <a:tableStyleId>{616DA210-FB5B-4158-B5E0-FEB733F419BA}</a:tableStyleId>
              </a:tblPr>
              <a:tblGrid>
                <a:gridCol w="1318650">
                  <a:extLst>
                    <a:ext uri="{9D8B030D-6E8A-4147-A177-3AD203B41FA5}">
                      <a16:colId xmlns:a16="http://schemas.microsoft.com/office/drawing/2014/main" val="20000"/>
                    </a:ext>
                  </a:extLst>
                </a:gridCol>
                <a:gridCol w="1343025">
                  <a:extLst>
                    <a:ext uri="{9D8B030D-6E8A-4147-A177-3AD203B41FA5}">
                      <a16:colId xmlns:a16="http://schemas.microsoft.com/office/drawing/2014/main" val="3103963203"/>
                    </a:ext>
                  </a:extLst>
                </a:gridCol>
                <a:gridCol w="3324225">
                  <a:extLst>
                    <a:ext uri="{9D8B030D-6E8A-4147-A177-3AD203B41FA5}">
                      <a16:colId xmlns:a16="http://schemas.microsoft.com/office/drawing/2014/main" val="20001"/>
                    </a:ext>
                  </a:extLst>
                </a:gridCol>
                <a:gridCol w="3009691">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scwin.onpageload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입찰공고 상세</a:t>
                      </a:r>
                      <a:r>
                        <a:rPr lang="en-US" altLang="ko-KR" sz="800" dirty="0">
                          <a:latin typeface="+mn-ea"/>
                          <a:ea typeface="+mn-ea"/>
                        </a:rPr>
                        <a:t>, </a:t>
                      </a:r>
                      <a:r>
                        <a:rPr lang="ko-KR" altLang="en-US" sz="800" dirty="0">
                          <a:latin typeface="+mn-ea"/>
                          <a:ea typeface="+mn-ea"/>
                        </a:rPr>
                        <a:t>품목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scwin.grd_itemList_oncellclick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첨부문서를 다운로드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1983474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재고번호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scwin.grd_itemList_oncellclick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목록정보조회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UI-OP-01-P75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6879205"/>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제출서류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scwin.grd_itemList_oncellclick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UI-BD-05-P76</a:t>
                      </a:r>
                      <a:r>
                        <a:rPr lang="ko-KR" altLang="en-US" sz="800" dirty="0">
                          <a:latin typeface="+mn-ea"/>
                          <a:ea typeface="+mn-ea"/>
                        </a:rPr>
                        <a:t> 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7988125"/>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환율정보조회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scwin.btn_exchrtInfo_onclick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환율정보조회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UI-BD-01-P73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79439186"/>
                  </a:ext>
                </a:extLst>
              </a:tr>
              <a:tr h="20318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견적서작성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scwin.btn_etdcWrt_onclick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latin typeface="+mn-ea"/>
                          <a:ea typeface="+mn-ea"/>
                        </a:rPr>
                        <a:t>공개수의협상견적서제출</a:t>
                      </a:r>
                      <a:r>
                        <a:rPr lang="ko-KR" altLang="en-US" sz="800" dirty="0">
                          <a:latin typeface="+mn-ea"/>
                          <a:ea typeface="+mn-ea"/>
                        </a:rPr>
                        <a:t>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조달업체인 경우 버튼 노출</a:t>
                      </a:r>
                      <a:endParaRPr lang="en-US" altLang="ko-KR" sz="800" dirty="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견적서를 작성하지 않은 경우 버튼 노출</a:t>
                      </a:r>
                      <a:endParaRPr lang="en-US" altLang="ko-KR" sz="800" dirty="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dirty="0">
                          <a:latin typeface="+mn-ea"/>
                          <a:ea typeface="+mn-ea"/>
                        </a:rPr>
                        <a:t>UI-BD-12-M74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7927878"/>
                  </a:ext>
                </a:extLst>
              </a:tr>
              <a:tr h="20318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견적서조회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scwin.btn_etdcSrch_onclick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a:latin typeface="+mn-ea"/>
                          <a:ea typeface="+mn-ea"/>
                        </a:rPr>
                        <a:t>공개수의협상견적서상세 </a:t>
                      </a:r>
                      <a:r>
                        <a:rPr lang="ko-KR" altLang="en-US" sz="800" dirty="0">
                          <a:latin typeface="+mn-ea"/>
                          <a:ea typeface="+mn-ea"/>
                        </a:rPr>
                        <a:t>화면 이동</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조달업체인 경우 버튼 노출</a:t>
                      </a:r>
                      <a:endParaRPr lang="en-US" altLang="ko-KR" sz="800" dirty="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ko-KR" altLang="en-US" sz="800" dirty="0">
                          <a:latin typeface="+mn-ea"/>
                          <a:ea typeface="+mn-ea"/>
                        </a:rPr>
                        <a:t>견적서를 작성한 경우 버튼 노출</a:t>
                      </a:r>
                      <a:endParaRPr lang="en-US" altLang="ko-KR" sz="800" dirty="0">
                        <a:latin typeface="+mn-ea"/>
                        <a:ea typeface="+mn-ea"/>
                      </a:endParaRPr>
                    </a:p>
                    <a:p>
                      <a:pPr marL="87313" marR="0" lvl="0" indent="-87313"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lang="en-US" altLang="ko-KR" sz="800" dirty="0">
                          <a:latin typeface="+mn-ea"/>
                          <a:ea typeface="+mn-ea"/>
                        </a:rPr>
                        <a:t>UI-BD-12-M75 </a:t>
                      </a:r>
                      <a:r>
                        <a:rPr lang="ko-KR" altLang="en-US" sz="800" dirty="0">
                          <a:latin typeface="+mn-ea"/>
                          <a:ea typeface="+mn-ea"/>
                        </a:rPr>
                        <a:t>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8604225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직사각형 5"/>
          <p:cNvSpPr/>
          <p:nvPr/>
        </p:nvSpPr>
        <p:spPr>
          <a:xfrm>
            <a:off x="461554" y="1264286"/>
            <a:ext cx="6598187" cy="5200693"/>
          </a:xfrm>
          <a:prstGeom prst="rect">
            <a:avLst/>
          </a:prstGeom>
          <a:solidFill>
            <a:srgbClr val="000000">
              <a:alpha val="50196"/>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t>조달업무 담당자</a:t>
            </a:r>
            <a:r>
              <a:rPr lang="en-US" altLang="ko-KR" dirty="0" smtClean="0"/>
              <a:t>(</a:t>
            </a:r>
            <a:r>
              <a:rPr lang="ko-KR" altLang="en-US" dirty="0" smtClean="0"/>
              <a:t>관리자</a:t>
            </a:r>
            <a:r>
              <a:rPr lang="en-US" altLang="ko-KR" dirty="0" smtClean="0"/>
              <a:t>) </a:t>
            </a:r>
            <a:r>
              <a:rPr lang="ko-KR" altLang="en-US" dirty="0" smtClean="0"/>
              <a:t>화면으로</a:t>
            </a:r>
            <a:endParaRPr lang="en-US" altLang="ko-KR" dirty="0" smtClean="0"/>
          </a:p>
          <a:p>
            <a:pPr algn="ctr"/>
            <a:r>
              <a:rPr lang="ko-KR" altLang="en-US" dirty="0" smtClean="0"/>
              <a:t>모바일에서는 제공되지 않는 화면이</a:t>
            </a:r>
            <a:endParaRPr lang="en-US" altLang="ko-KR" dirty="0" smtClean="0"/>
          </a:p>
          <a:p>
            <a:pPr algn="ctr"/>
            <a:r>
              <a:rPr lang="ko-KR" altLang="en-US" dirty="0" err="1" smtClean="0"/>
              <a:t>설계화면에</a:t>
            </a:r>
            <a:r>
              <a:rPr lang="ko-KR" altLang="en-US" dirty="0" smtClean="0"/>
              <a:t> 잘못 포함되었음</a:t>
            </a:r>
            <a:r>
              <a:rPr lang="en-US" altLang="ko-KR" dirty="0" smtClean="0"/>
              <a:t>.</a:t>
            </a:r>
            <a:endParaRPr lang="ko-KR" altLang="en-US" dirty="0"/>
          </a:p>
        </p:txBody>
      </p:sp>
    </p:spTree>
    <p:extLst>
      <p:ext uri="{BB962C8B-B14F-4D97-AF65-F5344CB8AC3E}">
        <p14:creationId xmlns:p14="http://schemas.microsoft.com/office/powerpoint/2010/main" val="3162076146"/>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418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err="1">
                <a:latin typeface="+mn-ea"/>
              </a:rPr>
              <a:t>공개수의협상견적서제출</a:t>
            </a:r>
            <a:r>
              <a:rPr lang="ko-KR" altLang="en-US" dirty="0">
                <a:latin typeface="+mn-ea"/>
              </a:rPr>
              <a:t> </a:t>
            </a:r>
            <a:r>
              <a:rPr lang="en-US" altLang="ko-KR" dirty="0">
                <a:latin typeface="+mn-ea"/>
              </a:rPr>
              <a:t>- </a:t>
            </a:r>
            <a:r>
              <a:rPr lang="ko-KR" altLang="en-US" dirty="0" err="1">
                <a:latin typeface="+mn-ea"/>
              </a:rPr>
              <a:t>스탭</a:t>
            </a:r>
            <a:r>
              <a:rPr lang="ko-KR" altLang="en-US" dirty="0">
                <a:latin typeface="+mn-ea"/>
              </a:rPr>
              <a:t> </a:t>
            </a:r>
            <a:r>
              <a:rPr lang="en-US" altLang="ko-KR" dirty="0">
                <a:latin typeface="+mn-ea"/>
              </a:rPr>
              <a:t>1 - </a:t>
            </a:r>
            <a:r>
              <a:rPr lang="ko-KR" altLang="en-US" dirty="0">
                <a:latin typeface="+mn-ea"/>
              </a:rPr>
              <a:t>일반정보</a:t>
            </a:r>
            <a:endParaRPr lang="en-US" altLang="ko-KR"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공개수의협상견적서제출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MUI-BD-12-M74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입찰서 제출</a:t>
            </a: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9" name="그룹 148"/>
          <p:cNvGrpSpPr/>
          <p:nvPr/>
        </p:nvGrpSpPr>
        <p:grpSpPr>
          <a:xfrm rot="5400000">
            <a:off x="755013" y="1640499"/>
            <a:ext cx="94010" cy="47005"/>
            <a:chOff x="6812560" y="3297172"/>
            <a:chExt cx="94010" cy="47005"/>
          </a:xfrm>
        </p:grpSpPr>
        <p:cxnSp>
          <p:nvCxnSpPr>
            <p:cNvPr id="150" name="직선 연결선 1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3" name="직선 연결선 1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4" name="타원 153"/>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25461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cxnSp>
        <p:nvCxnSpPr>
          <p:cNvPr id="188" name="직선 연결선 187">
            <a:extLst>
              <a:ext uri="{FF2B5EF4-FFF2-40B4-BE49-F238E27FC236}">
                <a16:creationId xmlns:a16="http://schemas.microsoft.com/office/drawing/2014/main" id="{E9293055-D5CD-4B9E-7F64-64B2D2CA7A52}"/>
              </a:ext>
            </a:extLst>
          </p:cNvPr>
          <p:cNvCxnSpPr/>
          <p:nvPr/>
        </p:nvCxnSpPr>
        <p:spPr>
          <a:xfrm>
            <a:off x="720490" y="2797457"/>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9" name="TextBox 188">
            <a:extLst>
              <a:ext uri="{FF2B5EF4-FFF2-40B4-BE49-F238E27FC236}">
                <a16:creationId xmlns:a16="http://schemas.microsoft.com/office/drawing/2014/main" id="{FFC49AEA-2A8F-250C-A86A-A7751D9706C3}"/>
              </a:ext>
            </a:extLst>
          </p:cNvPr>
          <p:cNvSpPr txBox="1"/>
          <p:nvPr/>
        </p:nvSpPr>
        <p:spPr>
          <a:xfrm>
            <a:off x="1019814" y="2489972"/>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진행단계</a:t>
            </a:r>
            <a:endParaRPr lang="ko-KR" altLang="en-US" sz="700" dirty="0">
              <a:latin typeface="+mn-ea"/>
            </a:endParaRPr>
          </a:p>
        </p:txBody>
      </p:sp>
      <p:sp>
        <p:nvSpPr>
          <p:cNvPr id="190" name="타원 189"/>
          <p:cNvSpPr/>
          <p:nvPr/>
        </p:nvSpPr>
        <p:spPr>
          <a:xfrm>
            <a:off x="783686" y="252131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91" name="그룹 190"/>
          <p:cNvGrpSpPr/>
          <p:nvPr/>
        </p:nvGrpSpPr>
        <p:grpSpPr>
          <a:xfrm flipV="1">
            <a:off x="3143548" y="2603303"/>
            <a:ext cx="94010" cy="47005"/>
            <a:chOff x="6812560" y="3297172"/>
            <a:chExt cx="94010" cy="47005"/>
          </a:xfrm>
        </p:grpSpPr>
        <p:cxnSp>
          <p:nvCxnSpPr>
            <p:cNvPr id="192" name="직선 연결선 19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93" name="직선 연결선 19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7" name="그룹 96"/>
          <p:cNvGrpSpPr/>
          <p:nvPr/>
        </p:nvGrpSpPr>
        <p:grpSpPr>
          <a:xfrm rot="16200000">
            <a:off x="1250698" y="2968109"/>
            <a:ext cx="94010" cy="47005"/>
            <a:chOff x="6812560" y="3297172"/>
            <a:chExt cx="94010" cy="47005"/>
          </a:xfrm>
        </p:grpSpPr>
        <p:cxnSp>
          <p:nvCxnSpPr>
            <p:cNvPr id="98" name="직선 연결선 9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9" name="직선 연결선 9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5" name="그룹 4"/>
          <p:cNvGrpSpPr/>
          <p:nvPr/>
        </p:nvGrpSpPr>
        <p:grpSpPr>
          <a:xfrm>
            <a:off x="1628592" y="2897630"/>
            <a:ext cx="601002" cy="187961"/>
            <a:chOff x="1404036" y="2897630"/>
            <a:chExt cx="601002" cy="187961"/>
          </a:xfrm>
        </p:grpSpPr>
        <p:grpSp>
          <p:nvGrpSpPr>
            <p:cNvPr id="100" name="그룹 99"/>
            <p:cNvGrpSpPr/>
            <p:nvPr/>
          </p:nvGrpSpPr>
          <p:grpSpPr>
            <a:xfrm>
              <a:off x="1404036" y="2897630"/>
              <a:ext cx="601002" cy="187961"/>
              <a:chOff x="1335163" y="3237230"/>
              <a:chExt cx="601002" cy="187961"/>
            </a:xfrm>
          </p:grpSpPr>
          <p:sp>
            <p:nvSpPr>
              <p:cNvPr id="101" name="TextBox 100">
                <a:extLst>
                  <a:ext uri="{FF2B5EF4-FFF2-40B4-BE49-F238E27FC236}">
                    <a16:creationId xmlns:a16="http://schemas.microsoft.com/office/drawing/2014/main" id="{FFC49AEA-2A8F-250C-A86A-A7751D9706C3}"/>
                  </a:ext>
                </a:extLst>
              </p:cNvPr>
              <p:cNvSpPr txBox="1"/>
              <p:nvPr/>
            </p:nvSpPr>
            <p:spPr>
              <a:xfrm>
                <a:off x="1535298" y="3277349"/>
                <a:ext cx="400867" cy="107722"/>
              </a:xfrm>
              <a:prstGeom prst="rect">
                <a:avLst/>
              </a:prstGeom>
              <a:noFill/>
            </p:spPr>
            <p:txBody>
              <a:bodyPr wrap="square" lIns="0" tIns="0" rIns="0" bIns="0" rtlCol="0">
                <a:spAutoFit/>
              </a:bodyPr>
              <a:lstStyle/>
              <a:p>
                <a:r>
                  <a:rPr lang="ko-KR" altLang="en-US" sz="700" dirty="0">
                    <a:latin typeface="+mn-ea"/>
                  </a:rPr>
                  <a:t>서명</a:t>
                </a:r>
              </a:p>
            </p:txBody>
          </p:sp>
          <p:grpSp>
            <p:nvGrpSpPr>
              <p:cNvPr id="102" name="그룹 101"/>
              <p:cNvGrpSpPr/>
              <p:nvPr/>
            </p:nvGrpSpPr>
            <p:grpSpPr>
              <a:xfrm>
                <a:off x="1335163" y="3237230"/>
                <a:ext cx="187961" cy="187961"/>
                <a:chOff x="1485163" y="3237230"/>
                <a:chExt cx="187961" cy="187961"/>
              </a:xfrm>
            </p:grpSpPr>
            <p:sp>
              <p:nvSpPr>
                <p:cNvPr id="103" name="타원 102"/>
                <p:cNvSpPr/>
                <p:nvPr/>
              </p:nvSpPr>
              <p:spPr>
                <a:xfrm>
                  <a:off x="1485163" y="3237230"/>
                  <a:ext cx="187961" cy="187961"/>
                </a:xfrm>
                <a:prstGeom prst="ellipse">
                  <a:avLst/>
                </a:prstGeom>
                <a:solidFill>
                  <a:srgbClr val="BFBFB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TextBox 103">
                  <a:extLst>
                    <a:ext uri="{FF2B5EF4-FFF2-40B4-BE49-F238E27FC236}">
                      <a16:creationId xmlns:a16="http://schemas.microsoft.com/office/drawing/2014/main" id="{FFC49AEA-2A8F-250C-A86A-A7751D9706C3}"/>
                    </a:ext>
                  </a:extLst>
                </p:cNvPr>
                <p:cNvSpPr txBox="1"/>
                <p:nvPr/>
              </p:nvSpPr>
              <p:spPr>
                <a:xfrm>
                  <a:off x="1540220" y="3277349"/>
                  <a:ext cx="77847" cy="107722"/>
                </a:xfrm>
                <a:prstGeom prst="rect">
                  <a:avLst/>
                </a:prstGeom>
                <a:noFill/>
              </p:spPr>
              <p:txBody>
                <a:bodyPr wrap="square" lIns="0" tIns="0" rIns="0" bIns="0" rtlCol="0">
                  <a:spAutoFit/>
                </a:bodyPr>
                <a:lstStyle/>
                <a:p>
                  <a:pPr algn="ctr"/>
                  <a:r>
                    <a:rPr lang="en-US" altLang="ko-KR" sz="700" dirty="0">
                      <a:latin typeface="+mn-ea"/>
                    </a:rPr>
                    <a:t>2</a:t>
                  </a:r>
                  <a:endParaRPr lang="ko-KR" altLang="en-US" sz="700" dirty="0">
                    <a:latin typeface="+mn-ea"/>
                  </a:endParaRPr>
                </a:p>
              </p:txBody>
            </p:sp>
          </p:grpSp>
        </p:grpSp>
        <p:grpSp>
          <p:nvGrpSpPr>
            <p:cNvPr id="105" name="그룹 104"/>
            <p:cNvGrpSpPr/>
            <p:nvPr/>
          </p:nvGrpSpPr>
          <p:grpSpPr>
            <a:xfrm rot="16200000">
              <a:off x="1906809" y="2968109"/>
              <a:ext cx="94010" cy="47005"/>
              <a:chOff x="6812560" y="3297172"/>
              <a:chExt cx="94010" cy="47005"/>
            </a:xfrm>
          </p:grpSpPr>
          <p:cxnSp>
            <p:nvCxnSpPr>
              <p:cNvPr id="106" name="직선 연결선 1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7" name="직선 연결선 1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grpSp>
        <p:nvGrpSpPr>
          <p:cNvPr id="7" name="그룹 6"/>
          <p:cNvGrpSpPr/>
          <p:nvPr/>
        </p:nvGrpSpPr>
        <p:grpSpPr>
          <a:xfrm>
            <a:off x="747926" y="2897630"/>
            <a:ext cx="601001" cy="187961"/>
            <a:chOff x="747926" y="2310331"/>
            <a:chExt cx="601001" cy="187961"/>
          </a:xfrm>
        </p:grpSpPr>
        <p:grpSp>
          <p:nvGrpSpPr>
            <p:cNvPr id="6" name="그룹 5"/>
            <p:cNvGrpSpPr/>
            <p:nvPr/>
          </p:nvGrpSpPr>
          <p:grpSpPr>
            <a:xfrm>
              <a:off x="747926" y="2310331"/>
              <a:ext cx="187961" cy="187961"/>
              <a:chOff x="747926" y="2310331"/>
              <a:chExt cx="187961" cy="187961"/>
            </a:xfrm>
          </p:grpSpPr>
          <p:sp>
            <p:nvSpPr>
              <p:cNvPr id="114" name="타원 113"/>
              <p:cNvSpPr/>
              <p:nvPr/>
            </p:nvSpPr>
            <p:spPr>
              <a:xfrm>
                <a:off x="747926" y="2310331"/>
                <a:ext cx="187961" cy="18796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802983" y="2350450"/>
                <a:ext cx="77847" cy="107722"/>
              </a:xfrm>
              <a:prstGeom prst="rect">
                <a:avLst/>
              </a:prstGeom>
              <a:noFill/>
            </p:spPr>
            <p:txBody>
              <a:bodyPr wrap="square" lIns="0" tIns="0" rIns="0" bIns="0" rtlCol="0">
                <a:spAutoFit/>
              </a:bodyPr>
              <a:lstStyle/>
              <a:p>
                <a:pPr algn="ctr"/>
                <a:r>
                  <a:rPr lang="en-US" altLang="ko-KR" sz="700" dirty="0">
                    <a:solidFill>
                      <a:schemeClr val="bg1"/>
                    </a:solidFill>
                    <a:latin typeface="+mn-ea"/>
                  </a:rPr>
                  <a:t>1</a:t>
                </a:r>
                <a:endParaRPr lang="ko-KR" altLang="en-US" sz="700" dirty="0">
                  <a:solidFill>
                    <a:schemeClr val="bg1"/>
                  </a:solidFill>
                  <a:latin typeface="+mn-ea"/>
                </a:endParaRPr>
              </a:p>
            </p:txBody>
          </p:sp>
        </p:grpSp>
        <p:sp>
          <p:nvSpPr>
            <p:cNvPr id="113" name="TextBox 112">
              <a:extLst>
                <a:ext uri="{FF2B5EF4-FFF2-40B4-BE49-F238E27FC236}">
                  <a16:creationId xmlns:a16="http://schemas.microsoft.com/office/drawing/2014/main" id="{FFC49AEA-2A8F-250C-A86A-A7751D9706C3}"/>
                </a:ext>
              </a:extLst>
            </p:cNvPr>
            <p:cNvSpPr txBox="1"/>
            <p:nvPr/>
          </p:nvSpPr>
          <p:spPr>
            <a:xfrm>
              <a:off x="951351" y="2350450"/>
              <a:ext cx="397576" cy="107722"/>
            </a:xfrm>
            <a:prstGeom prst="rect">
              <a:avLst/>
            </a:prstGeom>
            <a:noFill/>
          </p:spPr>
          <p:txBody>
            <a:bodyPr wrap="square" lIns="0" tIns="0" rIns="0" bIns="0" rtlCol="0">
              <a:spAutoFit/>
            </a:bodyPr>
            <a:lstStyle/>
            <a:p>
              <a:r>
                <a:rPr lang="ko-KR" altLang="en-US" sz="700" dirty="0">
                  <a:latin typeface="+mn-ea"/>
                </a:rPr>
                <a:t>신청서</a:t>
              </a:r>
            </a:p>
          </p:txBody>
        </p:sp>
      </p:grpSp>
      <p:grpSp>
        <p:nvGrpSpPr>
          <p:cNvPr id="116" name="그룹 115"/>
          <p:cNvGrpSpPr/>
          <p:nvPr/>
        </p:nvGrpSpPr>
        <p:grpSpPr>
          <a:xfrm>
            <a:off x="2509258" y="2897630"/>
            <a:ext cx="603798" cy="187961"/>
            <a:chOff x="2058749" y="3237230"/>
            <a:chExt cx="603798" cy="187961"/>
          </a:xfrm>
        </p:grpSpPr>
        <p:grpSp>
          <p:nvGrpSpPr>
            <p:cNvPr id="117" name="그룹 116"/>
            <p:cNvGrpSpPr/>
            <p:nvPr/>
          </p:nvGrpSpPr>
          <p:grpSpPr>
            <a:xfrm>
              <a:off x="2058749" y="3237230"/>
              <a:ext cx="187961" cy="187961"/>
              <a:chOff x="2058749" y="3237230"/>
              <a:chExt cx="187961" cy="187961"/>
            </a:xfrm>
          </p:grpSpPr>
          <p:sp>
            <p:nvSpPr>
              <p:cNvPr id="119" name="타원 118"/>
              <p:cNvSpPr/>
              <p:nvPr/>
            </p:nvSpPr>
            <p:spPr>
              <a:xfrm>
                <a:off x="2058749" y="3237230"/>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0" name="TextBox 119">
                <a:extLst>
                  <a:ext uri="{FF2B5EF4-FFF2-40B4-BE49-F238E27FC236}">
                    <a16:creationId xmlns:a16="http://schemas.microsoft.com/office/drawing/2014/main" id="{FFC49AEA-2A8F-250C-A86A-A7751D9706C3}"/>
                  </a:ext>
                </a:extLst>
              </p:cNvPr>
              <p:cNvSpPr txBox="1"/>
              <p:nvPr/>
            </p:nvSpPr>
            <p:spPr>
              <a:xfrm>
                <a:off x="2113806" y="3277349"/>
                <a:ext cx="77847" cy="107722"/>
              </a:xfrm>
              <a:prstGeom prst="rect">
                <a:avLst/>
              </a:prstGeom>
              <a:noFill/>
            </p:spPr>
            <p:txBody>
              <a:bodyPr wrap="square" lIns="0" tIns="0" rIns="0" bIns="0" rtlCol="0">
                <a:spAutoFit/>
              </a:bodyPr>
              <a:lstStyle/>
              <a:p>
                <a:pPr algn="ctr"/>
                <a:r>
                  <a:rPr lang="en-US" altLang="ko-KR" sz="700" dirty="0">
                    <a:latin typeface="+mn-ea"/>
                  </a:rPr>
                  <a:t>3</a:t>
                </a:r>
                <a:endParaRPr lang="ko-KR" altLang="en-US" sz="700" dirty="0">
                  <a:latin typeface="+mn-ea"/>
                </a:endParaRPr>
              </a:p>
            </p:txBody>
          </p:sp>
        </p:grpSp>
        <p:sp>
          <p:nvSpPr>
            <p:cNvPr id="118" name="TextBox 117">
              <a:extLst>
                <a:ext uri="{FF2B5EF4-FFF2-40B4-BE49-F238E27FC236}">
                  <a16:creationId xmlns:a16="http://schemas.microsoft.com/office/drawing/2014/main" id="{FFC49AEA-2A8F-250C-A86A-A7751D9706C3}"/>
                </a:ext>
              </a:extLst>
            </p:cNvPr>
            <p:cNvSpPr txBox="1"/>
            <p:nvPr/>
          </p:nvSpPr>
          <p:spPr>
            <a:xfrm>
              <a:off x="2263899" y="3277349"/>
              <a:ext cx="398648" cy="107722"/>
            </a:xfrm>
            <a:prstGeom prst="rect">
              <a:avLst/>
            </a:prstGeom>
            <a:noFill/>
          </p:spPr>
          <p:txBody>
            <a:bodyPr wrap="square" lIns="0" tIns="0" rIns="0" bIns="0" rtlCol="0">
              <a:spAutoFit/>
            </a:bodyPr>
            <a:lstStyle/>
            <a:p>
              <a:r>
                <a:rPr lang="ko-KR" altLang="en-US" sz="700" dirty="0">
                  <a:latin typeface="+mn-ea"/>
                </a:rPr>
                <a:t>제출</a:t>
              </a:r>
            </a:p>
          </p:txBody>
        </p:sp>
      </p:grpSp>
      <p:grpSp>
        <p:nvGrpSpPr>
          <p:cNvPr id="269" name="그룹 268"/>
          <p:cNvGrpSpPr/>
          <p:nvPr/>
        </p:nvGrpSpPr>
        <p:grpSpPr>
          <a:xfrm>
            <a:off x="3795734" y="5614711"/>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9" name="그룹 8"/>
          <p:cNvGrpSpPr/>
          <p:nvPr/>
        </p:nvGrpSpPr>
        <p:grpSpPr>
          <a:xfrm>
            <a:off x="675399" y="3557901"/>
            <a:ext cx="2712027" cy="337161"/>
            <a:chOff x="675399" y="3557901"/>
            <a:chExt cx="2712027" cy="337161"/>
          </a:xfrm>
        </p:grpSpPr>
        <p:cxnSp>
          <p:nvCxnSpPr>
            <p:cNvPr id="223" name="직선 연결선 222">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입찰참여품목</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3640332"/>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675399" y="3557901"/>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40" name="그룹 239"/>
          <p:cNvGrpSpPr/>
          <p:nvPr/>
        </p:nvGrpSpPr>
        <p:grpSpPr>
          <a:xfrm>
            <a:off x="675399" y="1936620"/>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수의계약</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316" name="직선 연결선 315">
            <a:extLst>
              <a:ext uri="{FF2B5EF4-FFF2-40B4-BE49-F238E27FC236}">
                <a16:creationId xmlns:a16="http://schemas.microsoft.com/office/drawing/2014/main" id="{E9293055-D5CD-4B9E-7F64-64B2D2CA7A52}"/>
              </a:ext>
            </a:extLst>
          </p:cNvPr>
          <p:cNvCxnSpPr/>
          <p:nvPr/>
        </p:nvCxnSpPr>
        <p:spPr>
          <a:xfrm>
            <a:off x="675399" y="316987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7" name="TextBox 316">
            <a:extLst>
              <a:ext uri="{FF2B5EF4-FFF2-40B4-BE49-F238E27FC236}">
                <a16:creationId xmlns:a16="http://schemas.microsoft.com/office/drawing/2014/main" id="{FFC49AEA-2A8F-250C-A86A-A7751D9706C3}"/>
              </a:ext>
            </a:extLst>
          </p:cNvPr>
          <p:cNvSpPr txBox="1"/>
          <p:nvPr/>
        </p:nvSpPr>
        <p:spPr>
          <a:xfrm>
            <a:off x="1019814" y="3252083"/>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3283428"/>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3365414"/>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24" name="타원 323">
            <a:extLst>
              <a:ext uri="{FF2B5EF4-FFF2-40B4-BE49-F238E27FC236}">
                <a16:creationId xmlns:a16="http://schemas.microsoft.com/office/drawing/2014/main" id="{37A7FF4F-0EAA-1463-560A-D5EC24416103}"/>
              </a:ext>
            </a:extLst>
          </p:cNvPr>
          <p:cNvSpPr/>
          <p:nvPr/>
        </p:nvSpPr>
        <p:spPr>
          <a:xfrm>
            <a:off x="571127" y="363686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6" name="타원 325">
            <a:extLst>
              <a:ext uri="{FF2B5EF4-FFF2-40B4-BE49-F238E27FC236}">
                <a16:creationId xmlns:a16="http://schemas.microsoft.com/office/drawing/2014/main" id="{37A7FF4F-0EAA-1463-560A-D5EC24416103}"/>
              </a:ext>
            </a:extLst>
          </p:cNvPr>
          <p:cNvSpPr/>
          <p:nvPr/>
        </p:nvSpPr>
        <p:spPr>
          <a:xfrm>
            <a:off x="571127" y="399804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51" name="모서리가 둥근 직사각형 150"/>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70880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94" name="그룹 193"/>
          <p:cNvGrpSpPr/>
          <p:nvPr/>
        </p:nvGrpSpPr>
        <p:grpSpPr>
          <a:xfrm>
            <a:off x="3795735" y="1903990"/>
            <a:ext cx="2712026" cy="944800"/>
            <a:chOff x="3795735" y="4570486"/>
            <a:chExt cx="2712026" cy="944800"/>
          </a:xfrm>
        </p:grpSpPr>
        <p:sp>
          <p:nvSpPr>
            <p:cNvPr id="195" name="TextBox 194">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196" name="그룹 195"/>
            <p:cNvGrpSpPr/>
            <p:nvPr/>
          </p:nvGrpSpPr>
          <p:grpSpPr>
            <a:xfrm flipV="1">
              <a:off x="6240167" y="4729163"/>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7" name="TextBox 19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00" name="직선 연결선 199">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모서리가 둥근 직사각형 200"/>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03" name="TextBox 202">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40" name="그룹 139"/>
          <p:cNvGrpSpPr/>
          <p:nvPr/>
        </p:nvGrpSpPr>
        <p:grpSpPr>
          <a:xfrm>
            <a:off x="3795734" y="1495163"/>
            <a:ext cx="2712027" cy="334927"/>
            <a:chOff x="675399" y="3560135"/>
            <a:chExt cx="2712027" cy="334927"/>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입찰참여품목</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45" name="직선 연결선 144">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6" name="그룹 145"/>
            <p:cNvGrpSpPr/>
            <p:nvPr/>
          </p:nvGrpSpPr>
          <p:grpSpPr>
            <a:xfrm>
              <a:off x="2924086" y="3640332"/>
              <a:ext cx="422853" cy="187961"/>
              <a:chOff x="3641308" y="2234886"/>
              <a:chExt cx="422853" cy="187961"/>
            </a:xfrm>
          </p:grpSpPr>
          <p:sp>
            <p:nvSpPr>
              <p:cNvPr id="164" name="타원 16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1" name="그룹 180"/>
              <p:cNvGrpSpPr/>
              <p:nvPr/>
            </p:nvGrpSpPr>
            <p:grpSpPr>
              <a:xfrm rot="5400000" flipH="1">
                <a:off x="3679895" y="2305364"/>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2" name="타원 18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16200000">
                <a:off x="3931564" y="2305364"/>
                <a:ext cx="94010" cy="47005"/>
                <a:chOff x="6812560" y="3297172"/>
                <a:chExt cx="94010" cy="47005"/>
              </a:xfrm>
            </p:grpSpPr>
            <p:cxnSp>
              <p:nvCxnSpPr>
                <p:cNvPr id="184" name="직선 연결선 1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5" name="직선 연결선 1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55" name="그룹 154"/>
          <p:cNvGrpSpPr/>
          <p:nvPr/>
        </p:nvGrpSpPr>
        <p:grpSpPr>
          <a:xfrm>
            <a:off x="720490" y="3957212"/>
            <a:ext cx="2660475" cy="2281943"/>
            <a:chOff x="720490" y="3803374"/>
            <a:chExt cx="2660475" cy="2281943"/>
          </a:xfrm>
        </p:grpSpPr>
        <p:sp>
          <p:nvSpPr>
            <p:cNvPr id="156" name="TextBox 155">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43548" y="3916705"/>
              <a:ext cx="94010" cy="47005"/>
              <a:chOff x="6812560" y="3297172"/>
              <a:chExt cx="94010" cy="47005"/>
            </a:xfrm>
          </p:grpSpPr>
          <p:cxnSp>
            <p:nvCxnSpPr>
              <p:cNvPr id="174" name="직선 연결선 17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5" name="직선 연결선 17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8" name="직사각형 157"/>
            <p:cNvSpPr/>
            <p:nvPr/>
          </p:nvSpPr>
          <p:spPr>
            <a:xfrm>
              <a:off x="722583" y="4110859"/>
              <a:ext cx="792000" cy="197445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0" name="TextBox 159">
              <a:extLst>
                <a:ext uri="{FF2B5EF4-FFF2-40B4-BE49-F238E27FC236}">
                  <a16:creationId xmlns:a16="http://schemas.microsoft.com/office/drawing/2014/main" id="{FFC49AEA-2A8F-250C-A86A-A7751D9706C3}"/>
                </a:ext>
              </a:extLst>
            </p:cNvPr>
            <p:cNvSpPr txBox="1"/>
            <p:nvPr/>
          </p:nvSpPr>
          <p:spPr>
            <a:xfrm>
              <a:off x="809647" y="4110859"/>
              <a:ext cx="764551" cy="193899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en-US" altLang="ko-KR" sz="700" dirty="0">
                  <a:latin typeface="+mn-ea"/>
                </a:rPr>
                <a:t>⁞</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1566495" y="4110859"/>
              <a:ext cx="1814470" cy="193899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4217141693"/>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419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err="1">
                <a:latin typeface="+mn-ea"/>
              </a:rPr>
              <a:t>공개수의협상견적서제출</a:t>
            </a:r>
            <a:r>
              <a:rPr lang="ko-KR" altLang="en-US" dirty="0">
                <a:latin typeface="+mn-ea"/>
              </a:rPr>
              <a:t> </a:t>
            </a:r>
            <a:r>
              <a:rPr lang="en-US" altLang="ko-KR" dirty="0">
                <a:latin typeface="+mn-ea"/>
              </a:rPr>
              <a:t>- </a:t>
            </a:r>
            <a:r>
              <a:rPr lang="ko-KR" altLang="en-US" dirty="0" err="1">
                <a:latin typeface="+mn-ea"/>
              </a:rPr>
              <a:t>스탭</a:t>
            </a:r>
            <a:r>
              <a:rPr lang="ko-KR" altLang="en-US" dirty="0">
                <a:latin typeface="+mn-ea"/>
              </a:rPr>
              <a:t> </a:t>
            </a:r>
            <a:r>
              <a:rPr lang="en-US" altLang="ko-KR" dirty="0">
                <a:latin typeface="+mn-ea"/>
              </a:rPr>
              <a:t>1 - </a:t>
            </a:r>
            <a:r>
              <a:rPr lang="ko-KR" altLang="en-US" dirty="0">
                <a:latin typeface="+mn-ea"/>
              </a:rPr>
              <a:t>일반정보</a:t>
            </a:r>
            <a:endParaRPr lang="en-US" altLang="ko-KR"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공개수의협상견적서제출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MUI-BD-12-M74</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195598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63" name="그룹 262"/>
          <p:cNvGrpSpPr/>
          <p:nvPr/>
        </p:nvGrpSpPr>
        <p:grpSpPr>
          <a:xfrm>
            <a:off x="675400" y="1496661"/>
            <a:ext cx="2712027" cy="334927"/>
            <a:chOff x="675399" y="3560135"/>
            <a:chExt cx="2712027" cy="334927"/>
          </a:xfrm>
        </p:grpSpPr>
        <p:cxnSp>
          <p:nvCxnSpPr>
            <p:cNvPr id="264" name="직선 연결선 26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267" name="TextBox 26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745408"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73" name="그룹 272"/>
            <p:cNvGrpSpPr/>
            <p:nvPr/>
          </p:nvGrpSpPr>
          <p:grpSpPr>
            <a:xfrm>
              <a:off x="2924086" y="3640332"/>
              <a:ext cx="422853" cy="187961"/>
              <a:chOff x="3641308" y="2234886"/>
              <a:chExt cx="422853" cy="187961"/>
            </a:xfrm>
          </p:grpSpPr>
          <p:sp>
            <p:nvSpPr>
              <p:cNvPr id="277" name="타원 27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8" name="그룹 277"/>
              <p:cNvGrpSpPr/>
              <p:nvPr/>
            </p:nvGrpSpPr>
            <p:grpSpPr>
              <a:xfrm rot="5400000" flipH="1">
                <a:off x="3679895" y="2305364"/>
                <a:ext cx="94010" cy="47005"/>
                <a:chOff x="6812560" y="3297172"/>
                <a:chExt cx="94010" cy="47005"/>
              </a:xfrm>
            </p:grpSpPr>
            <p:cxnSp>
              <p:nvCxnSpPr>
                <p:cNvPr id="283" name="직선 연결선 2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4" name="직선 연결선 2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9" name="타원 27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0" name="그룹 279"/>
              <p:cNvGrpSpPr/>
              <p:nvPr/>
            </p:nvGrpSpPr>
            <p:grpSpPr>
              <a:xfrm rot="16200000">
                <a:off x="3931564" y="2305364"/>
                <a:ext cx="94010" cy="47005"/>
                <a:chOff x="6812560" y="3297172"/>
                <a:chExt cx="94010" cy="47005"/>
              </a:xfrm>
            </p:grpSpPr>
            <p:cxnSp>
              <p:nvCxnSpPr>
                <p:cNvPr id="281" name="직선 연결선 28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2" name="직선 연결선 28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74" name="직선 연결선 27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94" name="그룹 93"/>
          <p:cNvGrpSpPr/>
          <p:nvPr/>
        </p:nvGrpSpPr>
        <p:grpSpPr>
          <a:xfrm>
            <a:off x="3791609" y="1496661"/>
            <a:ext cx="2712027" cy="334927"/>
            <a:chOff x="675399" y="3560135"/>
            <a:chExt cx="2712027" cy="334927"/>
          </a:xfrm>
        </p:grpSpPr>
        <p:cxnSp>
          <p:nvCxnSpPr>
            <p:cNvPr id="95" name="직선 연결선 94">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TextBox 95">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97" name="TextBox 96">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98" name="TextBox 97">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736655"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00" name="그룹 99"/>
            <p:cNvGrpSpPr/>
            <p:nvPr/>
          </p:nvGrpSpPr>
          <p:grpSpPr>
            <a:xfrm>
              <a:off x="2924086" y="3640332"/>
              <a:ext cx="422853" cy="187961"/>
              <a:chOff x="3641308" y="2234886"/>
              <a:chExt cx="422853" cy="187961"/>
            </a:xfrm>
          </p:grpSpPr>
          <p:sp>
            <p:nvSpPr>
              <p:cNvPr id="104" name="타원 10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p:cNvGrpSpPr/>
              <p:nvPr/>
            </p:nvGrpSpPr>
            <p:grpSpPr>
              <a:xfrm rot="5400000" flipH="1">
                <a:off x="3679895" y="2305364"/>
                <a:ext cx="94010" cy="47005"/>
                <a:chOff x="6812560" y="3297172"/>
                <a:chExt cx="94010" cy="47005"/>
              </a:xfrm>
            </p:grpSpPr>
            <p:cxnSp>
              <p:nvCxnSpPr>
                <p:cNvPr id="110" name="직선 연결선 1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1" name="직선 연결선 11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6" name="타원 10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7" name="그룹 106"/>
              <p:cNvGrpSpPr/>
              <p:nvPr/>
            </p:nvGrpSpPr>
            <p:grpSpPr>
              <a:xfrm rot="16200000">
                <a:off x="3931564" y="2305364"/>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01" name="직선 연결선 100">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12" name="그룹 111"/>
          <p:cNvGrpSpPr/>
          <p:nvPr/>
        </p:nvGrpSpPr>
        <p:grpSpPr>
          <a:xfrm>
            <a:off x="3795734" y="5614711"/>
            <a:ext cx="2712027" cy="617588"/>
            <a:chOff x="675399" y="5614711"/>
            <a:chExt cx="2712027" cy="617588"/>
          </a:xfrm>
        </p:grpSpPr>
        <p:sp>
          <p:nvSpPr>
            <p:cNvPr id="113" name="직사각형 11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1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grpSp>
        <p:nvGrpSpPr>
          <p:cNvPr id="120" name="그룹 119"/>
          <p:cNvGrpSpPr/>
          <p:nvPr/>
        </p:nvGrpSpPr>
        <p:grpSpPr>
          <a:xfrm>
            <a:off x="701175" y="1898358"/>
            <a:ext cx="2630093" cy="2892808"/>
            <a:chOff x="701175" y="1527996"/>
            <a:chExt cx="2630093" cy="2892808"/>
          </a:xfrm>
        </p:grpSpPr>
        <p:sp>
          <p:nvSpPr>
            <p:cNvPr id="121" name="TextBox 120">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22" name="그룹 121"/>
            <p:cNvGrpSpPr/>
            <p:nvPr/>
          </p:nvGrpSpPr>
          <p:grpSpPr>
            <a:xfrm flipV="1">
              <a:off x="3124233" y="1641327"/>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3" name="직선 연결선 1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3" name="직사각형 122"/>
            <p:cNvSpPr/>
            <p:nvPr/>
          </p:nvSpPr>
          <p:spPr>
            <a:xfrm>
              <a:off x="703268" y="1835482"/>
              <a:ext cx="792000" cy="25768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790330" y="1835481"/>
              <a:ext cx="728979" cy="2585323"/>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환율적용일자</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1547180" y="1835481"/>
              <a:ext cx="1775839" cy="2585323"/>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2025-03-02 15:00:00</a:t>
              </a:r>
            </a:p>
            <a:p>
              <a:pPr>
                <a:lnSpc>
                  <a:spcPct val="200000"/>
                </a:lnSpc>
              </a:pPr>
              <a:r>
                <a:rPr lang="en-US" altLang="ko-KR" sz="700" dirty="0">
                  <a:latin typeface="+mn-ea"/>
                </a:rPr>
                <a:t>2025-03-02</a:t>
              </a:r>
            </a:p>
            <a:p>
              <a:pPr>
                <a:lnSpc>
                  <a:spcPct val="200000"/>
                </a:lnSpc>
              </a:pPr>
              <a:r>
                <a:rPr lang="en-US" altLang="ko-KR" sz="700" dirty="0">
                  <a:latin typeface="+mn-ea"/>
                </a:rPr>
                <a:t>2025-03-02 15:00:00</a:t>
              </a:r>
            </a:p>
          </p:txBody>
        </p:sp>
        <p:grpSp>
          <p:nvGrpSpPr>
            <p:cNvPr id="127" name="그룹 126"/>
            <p:cNvGrpSpPr/>
            <p:nvPr/>
          </p:nvGrpSpPr>
          <p:grpSpPr>
            <a:xfrm>
              <a:off x="701175" y="1835481"/>
              <a:ext cx="2630093" cy="2576880"/>
              <a:chOff x="701175" y="1835481"/>
              <a:chExt cx="2630093" cy="2576880"/>
            </a:xfrm>
          </p:grpSpPr>
          <p:cxnSp>
            <p:nvCxnSpPr>
              <p:cNvPr id="129" name="직선 연결선 12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9" name="직선 연결선 138">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8" name="TextBox 127">
              <a:extLst>
                <a:ext uri="{FF2B5EF4-FFF2-40B4-BE49-F238E27FC236}">
                  <a16:creationId xmlns:a16="http://schemas.microsoft.com/office/drawing/2014/main" id="{FFC49AEA-2A8F-250C-A86A-A7751D9706C3}"/>
                </a:ext>
              </a:extLst>
            </p:cNvPr>
            <p:cNvSpPr txBox="1"/>
            <p:nvPr/>
          </p:nvSpPr>
          <p:spPr>
            <a:xfrm>
              <a:off x="790330" y="3767437"/>
              <a:ext cx="700693" cy="215444"/>
            </a:xfrm>
            <a:prstGeom prst="rect">
              <a:avLst/>
            </a:prstGeom>
            <a:noFill/>
          </p:spPr>
          <p:txBody>
            <a:bodyPr wrap="square" lIns="0" tIns="0" rIns="0" bIns="0" rtlCol="0">
              <a:spAutoFit/>
            </a:bodyPr>
            <a:lstStyle/>
            <a:p>
              <a:r>
                <a:rPr lang="ko-KR" altLang="en-US" sz="700" dirty="0" err="1">
                  <a:latin typeface="+mn-ea"/>
                </a:rPr>
                <a:t>견적서제출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grpSp>
        <p:nvGrpSpPr>
          <p:cNvPr id="144" name="그룹 143"/>
          <p:cNvGrpSpPr/>
          <p:nvPr/>
        </p:nvGrpSpPr>
        <p:grpSpPr>
          <a:xfrm>
            <a:off x="3795735" y="1904396"/>
            <a:ext cx="2712026" cy="944800"/>
            <a:chOff x="3795735" y="4570486"/>
            <a:chExt cx="2712026" cy="944800"/>
          </a:xfrm>
        </p:grpSpPr>
        <p:sp>
          <p:nvSpPr>
            <p:cNvPr id="145" name="TextBox 144">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146" name="그룹 145"/>
            <p:cNvGrpSpPr/>
            <p:nvPr/>
          </p:nvGrpSpPr>
          <p:grpSpPr>
            <a:xfrm flipV="1">
              <a:off x="6240167" y="4729163"/>
              <a:ext cx="94010" cy="47005"/>
              <a:chOff x="6812560" y="3297172"/>
              <a:chExt cx="94010" cy="47005"/>
            </a:xfrm>
          </p:grpSpPr>
          <p:cxnSp>
            <p:nvCxnSpPr>
              <p:cNvPr id="164" name="직선 연결선 16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1" name="직선 연결선 18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7" name="TextBox 14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148" name="TextBox 147">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49" name="TextBox 148">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150" name="직선 연결선 149">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1" name="모서리가 둥근 직사각형 150"/>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3" name="TextBox 152">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154" name="TextBox 153">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69554536"/>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420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pPr fontAlgn="ctr"/>
            <a:r>
              <a:rPr lang="ko-KR" altLang="en-US" dirty="0" err="1">
                <a:latin typeface="+mn-ea"/>
              </a:rPr>
              <a:t>공개수의협상견적서제출</a:t>
            </a:r>
            <a:r>
              <a:rPr lang="ko-KR" altLang="en-US" dirty="0">
                <a:latin typeface="+mn-ea"/>
              </a:rPr>
              <a:t> </a:t>
            </a:r>
            <a:r>
              <a:rPr lang="en-US" altLang="ko-KR" dirty="0">
                <a:latin typeface="+mn-ea"/>
              </a:rPr>
              <a:t>- </a:t>
            </a:r>
            <a:r>
              <a:rPr lang="ko-KR" altLang="en-US" dirty="0" err="1">
                <a:latin typeface="+mn-ea"/>
              </a:rPr>
              <a:t>스탭</a:t>
            </a:r>
            <a:r>
              <a:rPr lang="ko-KR" altLang="en-US" dirty="0">
                <a:latin typeface="+mn-ea"/>
              </a:rPr>
              <a:t> </a:t>
            </a:r>
            <a:r>
              <a:rPr lang="en-US" altLang="ko-KR" dirty="0">
                <a:latin typeface="+mn-ea"/>
              </a:rPr>
              <a:t>2 - </a:t>
            </a:r>
            <a:r>
              <a:rPr lang="ko-KR" altLang="en-US" dirty="0">
                <a:latin typeface="+mn-ea"/>
              </a:rPr>
              <a:t>업체정보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공개수의협상견적서제출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MUI-BD-12-M75</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1957711"/>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모서리가 둥근 직사각형 151"/>
          <p:cNvSpPr/>
          <p:nvPr/>
        </p:nvSpPr>
        <p:spPr>
          <a:xfrm rot="5400000">
            <a:off x="5780626" y="3120372"/>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10" name="그룹 209"/>
          <p:cNvGrpSpPr/>
          <p:nvPr/>
        </p:nvGrpSpPr>
        <p:grpSpPr>
          <a:xfrm flipV="1">
            <a:off x="3139424" y="1988757"/>
            <a:ext cx="94010" cy="47005"/>
            <a:chOff x="6812560" y="3297172"/>
            <a:chExt cx="94010" cy="47005"/>
          </a:xfrm>
        </p:grpSpPr>
        <p:cxnSp>
          <p:nvCxnSpPr>
            <p:cNvPr id="250" name="직선 연결선 2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1" name="직선 연결선 25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63" name="그룹 262"/>
          <p:cNvGrpSpPr/>
          <p:nvPr/>
        </p:nvGrpSpPr>
        <p:grpSpPr>
          <a:xfrm>
            <a:off x="675400" y="1498383"/>
            <a:ext cx="2712027" cy="334927"/>
            <a:chOff x="675399" y="3560135"/>
            <a:chExt cx="2712027" cy="334927"/>
          </a:xfrm>
        </p:grpSpPr>
        <p:cxnSp>
          <p:nvCxnSpPr>
            <p:cNvPr id="264" name="직선 연결선 26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267" name="TextBox 26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1338277"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73" name="그룹 272"/>
            <p:cNvGrpSpPr/>
            <p:nvPr/>
          </p:nvGrpSpPr>
          <p:grpSpPr>
            <a:xfrm>
              <a:off x="2924086" y="3640332"/>
              <a:ext cx="422853" cy="187961"/>
              <a:chOff x="3641308" y="2234886"/>
              <a:chExt cx="422853" cy="187961"/>
            </a:xfrm>
          </p:grpSpPr>
          <p:sp>
            <p:nvSpPr>
              <p:cNvPr id="277" name="타원 27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8" name="그룹 277"/>
              <p:cNvGrpSpPr/>
              <p:nvPr/>
            </p:nvGrpSpPr>
            <p:grpSpPr>
              <a:xfrm rot="5400000" flipH="1">
                <a:off x="3679895" y="2305364"/>
                <a:ext cx="94010" cy="47005"/>
                <a:chOff x="6812560" y="3297172"/>
                <a:chExt cx="94010" cy="47005"/>
              </a:xfrm>
            </p:grpSpPr>
            <p:cxnSp>
              <p:nvCxnSpPr>
                <p:cNvPr id="283" name="직선 연결선 2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4" name="직선 연결선 2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9" name="타원 27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0" name="그룹 279"/>
              <p:cNvGrpSpPr/>
              <p:nvPr/>
            </p:nvGrpSpPr>
            <p:grpSpPr>
              <a:xfrm rot="16200000">
                <a:off x="3931564" y="2305364"/>
                <a:ext cx="94010" cy="47005"/>
                <a:chOff x="6812560" y="3297172"/>
                <a:chExt cx="94010" cy="47005"/>
              </a:xfrm>
            </p:grpSpPr>
            <p:cxnSp>
              <p:nvCxnSpPr>
                <p:cNvPr id="281" name="직선 연결선 28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2" name="직선 연결선 28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74" name="직선 연결선 27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grpSp>
      <p:grpSp>
        <p:nvGrpSpPr>
          <p:cNvPr id="285" name="그룹 284"/>
          <p:cNvGrpSpPr/>
          <p:nvPr/>
        </p:nvGrpSpPr>
        <p:grpSpPr>
          <a:xfrm>
            <a:off x="716366" y="1897558"/>
            <a:ext cx="2630093" cy="2031034"/>
            <a:chOff x="3791188" y="2611009"/>
            <a:chExt cx="2630093" cy="2031034"/>
          </a:xfrm>
        </p:grpSpPr>
        <p:sp>
          <p:nvSpPr>
            <p:cNvPr id="286" name="TextBox 28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287" name="직사각형 286"/>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88" name="직선 연결선 28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9" name="TextBox 288">
              <a:extLst>
                <a:ext uri="{FF2B5EF4-FFF2-40B4-BE49-F238E27FC236}">
                  <a16:creationId xmlns:a16="http://schemas.microsoft.com/office/drawing/2014/main" id="{FFC49AEA-2A8F-250C-A86A-A7751D9706C3}"/>
                </a:ext>
              </a:extLst>
            </p:cNvPr>
            <p:cNvSpPr txBox="1"/>
            <p:nvPr/>
          </p:nvSpPr>
          <p:spPr>
            <a:xfrm>
              <a:off x="3880345" y="2918494"/>
              <a:ext cx="756848" cy="168924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주민등록번호</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290" name="TextBox 289">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291" name="직선 연결선 290">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2" name="직선 연결선 291">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3" name="직선 연결선 29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4" name="직선 연결선 293">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7" name="직선 연결선 296">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8" name="직선 연결선 297">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9" name="직선 연결선 298">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300" name="그룹 299"/>
          <p:cNvGrpSpPr/>
          <p:nvPr/>
        </p:nvGrpSpPr>
        <p:grpSpPr>
          <a:xfrm>
            <a:off x="3836701" y="1897558"/>
            <a:ext cx="2630093" cy="2031034"/>
            <a:chOff x="3791188" y="2611009"/>
            <a:chExt cx="2630093" cy="2031034"/>
          </a:xfrm>
        </p:grpSpPr>
        <p:sp>
          <p:nvSpPr>
            <p:cNvPr id="301" name="TextBox 300">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302" name="직사각형 301"/>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3" name="직선 연결선 302">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4" name="TextBox 303">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endParaRPr lang="en-US" altLang="ko-KR" sz="700" dirty="0">
                <a:latin typeface="+mn-ea"/>
              </a:endParaRP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1" name="직선 연결선 310">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2" name="직선 연결선 311">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3" name="직선 연결선 312">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15" name="그룹 314"/>
          <p:cNvGrpSpPr/>
          <p:nvPr/>
        </p:nvGrpSpPr>
        <p:grpSpPr>
          <a:xfrm flipV="1">
            <a:off x="6279313" y="1988757"/>
            <a:ext cx="94010" cy="47005"/>
            <a:chOff x="6812560" y="3297172"/>
            <a:chExt cx="94010" cy="47005"/>
          </a:xfrm>
        </p:grpSpPr>
        <p:cxnSp>
          <p:nvCxnSpPr>
            <p:cNvPr id="320" name="직선 연결선 3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3" name="직선 연결선 3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94" name="그룹 93"/>
          <p:cNvGrpSpPr/>
          <p:nvPr/>
        </p:nvGrpSpPr>
        <p:grpSpPr>
          <a:xfrm>
            <a:off x="3791609" y="1498383"/>
            <a:ext cx="2712027" cy="334927"/>
            <a:chOff x="675399" y="3560135"/>
            <a:chExt cx="2712027" cy="334927"/>
          </a:xfrm>
        </p:grpSpPr>
        <p:cxnSp>
          <p:nvCxnSpPr>
            <p:cNvPr id="95" name="직선 연결선 94">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TextBox 95">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97" name="TextBox 96">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98" name="TextBox 97">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1351155"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00" name="그룹 99"/>
            <p:cNvGrpSpPr/>
            <p:nvPr/>
          </p:nvGrpSpPr>
          <p:grpSpPr>
            <a:xfrm>
              <a:off x="2924086" y="3640332"/>
              <a:ext cx="422853" cy="187961"/>
              <a:chOff x="3641308" y="2234886"/>
              <a:chExt cx="422853" cy="187961"/>
            </a:xfrm>
          </p:grpSpPr>
          <p:sp>
            <p:nvSpPr>
              <p:cNvPr id="104" name="타원 10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p:cNvGrpSpPr/>
              <p:nvPr/>
            </p:nvGrpSpPr>
            <p:grpSpPr>
              <a:xfrm rot="5400000" flipH="1">
                <a:off x="3679895" y="2305364"/>
                <a:ext cx="94010" cy="47005"/>
                <a:chOff x="6812560" y="3297172"/>
                <a:chExt cx="94010" cy="47005"/>
              </a:xfrm>
            </p:grpSpPr>
            <p:cxnSp>
              <p:nvCxnSpPr>
                <p:cNvPr id="110" name="직선 연결선 1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1" name="직선 연결선 11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6" name="타원 10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7" name="그룹 106"/>
              <p:cNvGrpSpPr/>
              <p:nvPr/>
            </p:nvGrpSpPr>
            <p:grpSpPr>
              <a:xfrm rot="16200000">
                <a:off x="3931564" y="2305364"/>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01" name="직선 연결선 100">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grpSp>
      <p:grpSp>
        <p:nvGrpSpPr>
          <p:cNvPr id="112" name="그룹 111"/>
          <p:cNvGrpSpPr/>
          <p:nvPr/>
        </p:nvGrpSpPr>
        <p:grpSpPr>
          <a:xfrm>
            <a:off x="3795734" y="5614711"/>
            <a:ext cx="2712027" cy="617588"/>
            <a:chOff x="675399" y="5614711"/>
            <a:chExt cx="2712027" cy="617588"/>
          </a:xfrm>
        </p:grpSpPr>
        <p:sp>
          <p:nvSpPr>
            <p:cNvPr id="113" name="직사각형 112">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4"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115"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116" name="사각형: 둥근 모서리 15">
            <a:extLst>
              <a:ext uri="{FF2B5EF4-FFF2-40B4-BE49-F238E27FC236}">
                <a16:creationId xmlns:a16="http://schemas.microsoft.com/office/drawing/2014/main" id="{E2B61CFB-AD16-68D0-8752-50D9C5E01971}"/>
              </a:ext>
            </a:extLst>
          </p:cNvPr>
          <p:cNvSpPr/>
          <p:nvPr/>
        </p:nvSpPr>
        <p:spPr>
          <a:xfrm>
            <a:off x="4672608" y="2244786"/>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lvl="0" fontAlgn="base" latinLnBrk="0">
              <a:spcBef>
                <a:spcPct val="0"/>
              </a:spcBef>
              <a:spcAft>
                <a:spcPct val="0"/>
              </a:spcAft>
              <a:defRPr/>
            </a:pPr>
            <a:r>
              <a:rPr lang="en-US" altLang="ko-KR" sz="700" dirty="0">
                <a:latin typeface="+mn-ea"/>
              </a:rPr>
              <a:t>7004F</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grpSp>
        <p:nvGrpSpPr>
          <p:cNvPr id="117" name="그룹 116"/>
          <p:cNvGrpSpPr/>
          <p:nvPr/>
        </p:nvGrpSpPr>
        <p:grpSpPr>
          <a:xfrm>
            <a:off x="6279313" y="2302284"/>
            <a:ext cx="94010" cy="47005"/>
            <a:chOff x="6812560" y="3297172"/>
            <a:chExt cx="94010" cy="47005"/>
          </a:xfrm>
        </p:grpSpPr>
        <p:cxnSp>
          <p:nvCxnSpPr>
            <p:cNvPr id="118" name="직선 연결선 11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9" name="직선 연결선 11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900171360"/>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입찰참여품목</a:t>
            </a:r>
            <a:r>
              <a:rPr lang="en-US" altLang="ko-KR" dirty="0"/>
              <a:t>(</a:t>
            </a:r>
            <a:r>
              <a:rPr lang="ko-KR" altLang="en-US" dirty="0" err="1"/>
              <a:t>단가제</a:t>
            </a:r>
            <a:r>
              <a:rPr lang="en-US" altLang="ko-KR" dirty="0"/>
              <a:t>) </a:t>
            </a:r>
            <a:r>
              <a:rPr lang="ko-KR" altLang="en-US" dirty="0"/>
              <a:t>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421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pPr fontAlgn="ctr"/>
            <a:r>
              <a:rPr lang="ko-KR" altLang="en-US" dirty="0" err="1">
                <a:latin typeface="+mn-ea"/>
              </a:rPr>
              <a:t>공개수의협상견적서제출</a:t>
            </a:r>
            <a:r>
              <a:rPr lang="ko-KR" altLang="en-US" dirty="0">
                <a:latin typeface="+mn-ea"/>
              </a:rPr>
              <a:t> </a:t>
            </a:r>
            <a:r>
              <a:rPr lang="en-US" altLang="ko-KR" dirty="0">
                <a:latin typeface="+mn-ea"/>
              </a:rPr>
              <a:t>- </a:t>
            </a:r>
            <a:r>
              <a:rPr lang="ko-KR" altLang="en-US" dirty="0" err="1">
                <a:latin typeface="+mn-ea"/>
              </a:rPr>
              <a:t>스탭</a:t>
            </a:r>
            <a:r>
              <a:rPr lang="ko-KR" altLang="en-US" dirty="0">
                <a:latin typeface="+mn-ea"/>
              </a:rPr>
              <a:t> </a:t>
            </a:r>
            <a:r>
              <a:rPr lang="en-US" altLang="ko-KR" dirty="0">
                <a:latin typeface="+mn-ea"/>
              </a:rPr>
              <a:t>3</a:t>
            </a:r>
            <a:r>
              <a:rPr lang="ko-KR" altLang="en-US" dirty="0">
                <a:latin typeface="+mn-ea"/>
              </a:rPr>
              <a:t> </a:t>
            </a:r>
            <a:r>
              <a:rPr lang="en-US" altLang="ko-KR" dirty="0">
                <a:latin typeface="+mn-ea"/>
              </a:rPr>
              <a:t>- </a:t>
            </a:r>
            <a:r>
              <a:rPr lang="ko-KR" altLang="en-US" dirty="0" err="1">
                <a:latin typeface="+mn-ea"/>
              </a:rPr>
              <a:t>입찰품목</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공개수의협상견적서제출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MUI-BD-12-M76</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7" name="타원 326">
            <a:extLst>
              <a:ext uri="{FF2B5EF4-FFF2-40B4-BE49-F238E27FC236}">
                <a16:creationId xmlns:a16="http://schemas.microsoft.com/office/drawing/2014/main" id="{37A7FF4F-0EAA-1463-560A-D5EC24416103}"/>
              </a:ext>
            </a:extLst>
          </p:cNvPr>
          <p:cNvSpPr/>
          <p:nvPr/>
        </p:nvSpPr>
        <p:spPr>
          <a:xfrm>
            <a:off x="589334" y="195353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4231441"/>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5264676"/>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2550441"/>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728947"/>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91" name="TextBox 19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92" name="TextBox 191">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59" name="그룹 158"/>
          <p:cNvGrpSpPr/>
          <p:nvPr/>
        </p:nvGrpSpPr>
        <p:grpSpPr>
          <a:xfrm>
            <a:off x="701175" y="1904846"/>
            <a:ext cx="2630093" cy="3557641"/>
            <a:chOff x="701175" y="1527996"/>
            <a:chExt cx="2630093" cy="3557641"/>
          </a:xfrm>
        </p:grpSpPr>
        <p:sp>
          <p:nvSpPr>
            <p:cNvPr id="162" name="TextBox 161">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64" name="직사각형 163"/>
            <p:cNvSpPr/>
            <p:nvPr/>
          </p:nvSpPr>
          <p:spPr>
            <a:xfrm>
              <a:off x="703268" y="1835482"/>
              <a:ext cx="792000" cy="3006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790331" y="1835481"/>
              <a:ext cx="725552" cy="2981907"/>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ko-KR" altLang="en-US" sz="700" dirty="0" err="1">
                  <a:latin typeface="+mn-ea"/>
                </a:rPr>
                <a:t>견적단가</a:t>
              </a:r>
              <a:endParaRPr lang="ko-KR" altLang="en-US" sz="700" dirty="0">
                <a:latin typeface="+mn-ea"/>
              </a:endParaRPr>
            </a:p>
            <a:p>
              <a:pPr>
                <a:lnSpc>
                  <a:spcPct val="200000"/>
                </a:lnSpc>
              </a:pPr>
              <a:r>
                <a:rPr lang="ko-KR" altLang="en-US" sz="700" dirty="0" err="1">
                  <a:latin typeface="+mn-ea"/>
                </a:rPr>
                <a:t>견적금액</a:t>
              </a:r>
              <a:endParaRPr lang="ko-KR" altLang="en-US" sz="700" dirty="0">
                <a:latin typeface="+mn-ea"/>
              </a:endParaRPr>
            </a:p>
            <a:p>
              <a:pPr>
                <a:lnSpc>
                  <a:spcPct val="200000"/>
                </a:lnSpc>
              </a:pPr>
              <a:r>
                <a:rPr lang="ko-KR" altLang="en-US" sz="700" dirty="0">
                  <a:latin typeface="+mn-ea"/>
                </a:rPr>
                <a:t>화폐단위</a:t>
              </a:r>
            </a:p>
          </p:txBody>
        </p:sp>
        <p:sp>
          <p:nvSpPr>
            <p:cNvPr id="193" name="TextBox 192">
              <a:extLst>
                <a:ext uri="{FF2B5EF4-FFF2-40B4-BE49-F238E27FC236}">
                  <a16:creationId xmlns:a16="http://schemas.microsoft.com/office/drawing/2014/main" id="{FFC49AEA-2A8F-250C-A86A-A7751D9706C3}"/>
                </a:ext>
              </a:extLst>
            </p:cNvPr>
            <p:cNvSpPr txBox="1"/>
            <p:nvPr/>
          </p:nvSpPr>
          <p:spPr>
            <a:xfrm>
              <a:off x="1547180" y="1835481"/>
              <a:ext cx="1784088" cy="2800767"/>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1015375183975</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a:p>
              <a:pPr algn="r">
                <a:lnSpc>
                  <a:spcPct val="200000"/>
                </a:lnSpc>
              </a:pPr>
              <a:r>
                <a:rPr lang="en-US" altLang="ko-KR" sz="700" dirty="0">
                  <a:latin typeface="+mn-ea"/>
                </a:rPr>
                <a:t>608,000.00</a:t>
              </a:r>
            </a:p>
            <a:p>
              <a:pPr>
                <a:lnSpc>
                  <a:spcPct val="200000"/>
                </a:lnSpc>
              </a:pPr>
              <a:endParaRPr lang="en-US" altLang="ko-KR" sz="700" dirty="0">
                <a:latin typeface="+mn-ea"/>
              </a:endParaRPr>
            </a:p>
            <a:p>
              <a:pPr>
                <a:lnSpc>
                  <a:spcPct val="200000"/>
                </a:lnSpc>
              </a:pPr>
              <a:r>
                <a:rPr lang="en-US" altLang="ko-KR" sz="700" dirty="0">
                  <a:solidFill>
                    <a:srgbClr val="0070C0"/>
                  </a:solidFill>
                  <a:latin typeface="+mn-ea"/>
                </a:rPr>
                <a:t>File.pdf</a:t>
              </a:r>
            </a:p>
            <a:p>
              <a:pPr>
                <a:lnSpc>
                  <a:spcPct val="200000"/>
                </a:lnSpc>
              </a:pPr>
              <a:endParaRPr lang="en-US" altLang="ko-KR" sz="700" dirty="0">
                <a:latin typeface="+mn-ea"/>
              </a:endParaRPr>
            </a:p>
            <a:p>
              <a:pPr>
                <a:lnSpc>
                  <a:spcPct val="200000"/>
                </a:lnSpc>
              </a:pPr>
              <a:endParaRPr lang="en-US" altLang="ko-KR" sz="700" dirty="0">
                <a:latin typeface="+mn-ea"/>
              </a:endParaRPr>
            </a:p>
            <a:p>
              <a:pPr>
                <a:lnSpc>
                  <a:spcPct val="200000"/>
                </a:lnSpc>
              </a:pPr>
              <a:endParaRPr lang="en-US" altLang="ko-KR" sz="700" dirty="0">
                <a:latin typeface="+mn-ea"/>
              </a:endParaRPr>
            </a:p>
            <a:p>
              <a:pPr algn="r">
                <a:lnSpc>
                  <a:spcPct val="200000"/>
                </a:lnSpc>
              </a:pPr>
              <a:r>
                <a:rPr lang="en-US" altLang="ko-KR" sz="700" dirty="0">
                  <a:latin typeface="+mn-ea"/>
                </a:rPr>
                <a:t>608,000.00</a:t>
              </a:r>
            </a:p>
          </p:txBody>
        </p:sp>
        <p:grpSp>
          <p:nvGrpSpPr>
            <p:cNvPr id="194" name="그룹 193"/>
            <p:cNvGrpSpPr/>
            <p:nvPr/>
          </p:nvGrpSpPr>
          <p:grpSpPr>
            <a:xfrm>
              <a:off x="701175" y="1835481"/>
              <a:ext cx="2630093" cy="3250156"/>
              <a:chOff x="701175" y="1835481"/>
              <a:chExt cx="2630093" cy="3250156"/>
            </a:xfrm>
          </p:grpSpPr>
          <p:cxnSp>
            <p:nvCxnSpPr>
              <p:cNvPr id="195" name="직선 연결선 194">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6" name="직선 연결선 195">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9" name="직선 연결선 198">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856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grpSp>
        <p:nvGrpSpPr>
          <p:cNvPr id="269" name="그룹 268"/>
          <p:cNvGrpSpPr/>
          <p:nvPr/>
        </p:nvGrpSpPr>
        <p:grpSpPr>
          <a:xfrm>
            <a:off x="3795734" y="5743373"/>
            <a:ext cx="2712027" cy="617588"/>
            <a:chOff x="675399" y="5614711"/>
            <a:chExt cx="2712027" cy="617588"/>
          </a:xfrm>
        </p:grpSpPr>
        <p:sp>
          <p:nvSpPr>
            <p:cNvPr id="270" name="직사각형 269">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1"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다음으로</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72"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noProof="0" dirty="0">
                  <a:latin typeface="맑은 고딕"/>
                  <a:ea typeface="맑은 고딕" panose="020B0503020000020004" pitchFamily="50" charset="-127"/>
                </a:rPr>
                <a:t>이전</a:t>
              </a:r>
              <a:endParaRPr kumimoji="1" lang="en-US" sz="1000" b="0" i="0" u="none" strike="noStrike" kern="0" cap="none" spc="0" normalizeH="0" baseline="0" noProof="0" dirty="0">
                <a:ln>
                  <a:noFill/>
                </a:ln>
                <a:effectLst/>
                <a:uLnTx/>
                <a:uFillTx/>
                <a:latin typeface="맑은 고딕"/>
              </a:endParaRPr>
            </a:p>
          </p:txBody>
        </p:sp>
      </p:grpSp>
      <p:sp>
        <p:nvSpPr>
          <p:cNvPr id="148" name="사각형: 둥근 모서리 15">
            <a:extLst>
              <a:ext uri="{FF2B5EF4-FFF2-40B4-BE49-F238E27FC236}">
                <a16:creationId xmlns:a16="http://schemas.microsoft.com/office/drawing/2014/main" id="{E2B61CFB-AD16-68D0-8752-50D9C5E01971}"/>
              </a:ext>
            </a:extLst>
          </p:cNvPr>
          <p:cNvSpPr/>
          <p:nvPr/>
        </p:nvSpPr>
        <p:spPr>
          <a:xfrm>
            <a:off x="1556922" y="4598925"/>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solidFill>
                  <a:schemeClr val="bg1">
                    <a:lumMod val="75000"/>
                  </a:schemeClr>
                </a:solidFill>
                <a:latin typeface="맑은 고딕"/>
                <a:ea typeface="맑은 고딕" panose="020B0503020000020004" pitchFamily="50" charset="-127"/>
              </a:rPr>
              <a:t>입력해주세요</a:t>
            </a:r>
            <a:r>
              <a:rPr kumimoji="1" lang="en-US" altLang="ko-KR" sz="700" kern="0" dirty="0">
                <a:solidFill>
                  <a:schemeClr val="bg1">
                    <a:lumMod val="75000"/>
                  </a:schemeClr>
                </a:solidFill>
                <a:latin typeface="맑은 고딕"/>
                <a:ea typeface="맑은 고딕" panose="020B0503020000020004" pitchFamily="50" charset="-127"/>
              </a:rPr>
              <a:t>.</a:t>
            </a:r>
            <a:endParaRPr kumimoji="1" lang="en-US" sz="700" b="0" i="0" u="none" strike="noStrike" kern="0" cap="none" spc="0" normalizeH="0" baseline="0" noProof="0" dirty="0">
              <a:ln>
                <a:noFill/>
              </a:ln>
              <a:solidFill>
                <a:schemeClr val="bg1">
                  <a:lumMod val="75000"/>
                </a:schemeClr>
              </a:solidFill>
              <a:effectLst/>
              <a:uLnTx/>
              <a:uFillTx/>
              <a:latin typeface="맑은 고딕"/>
            </a:endParaRPr>
          </a:p>
        </p:txBody>
      </p:sp>
      <p:sp>
        <p:nvSpPr>
          <p:cNvPr id="234" name="직사각형 233"/>
          <p:cNvSpPr/>
          <p:nvPr/>
        </p:nvSpPr>
        <p:spPr>
          <a:xfrm>
            <a:off x="3820170" y="1975117"/>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TextBox 234">
            <a:extLst>
              <a:ext uri="{FF2B5EF4-FFF2-40B4-BE49-F238E27FC236}">
                <a16:creationId xmlns:a16="http://schemas.microsoft.com/office/drawing/2014/main" id="{FFC49AEA-2A8F-250C-A86A-A7751D9706C3}"/>
              </a:ext>
            </a:extLst>
          </p:cNvPr>
          <p:cNvSpPr txBox="1"/>
          <p:nvPr/>
        </p:nvSpPr>
        <p:spPr>
          <a:xfrm>
            <a:off x="3910666" y="1975118"/>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p:txBody>
      </p:sp>
      <p:grpSp>
        <p:nvGrpSpPr>
          <p:cNvPr id="236" name="그룹 235"/>
          <p:cNvGrpSpPr/>
          <p:nvPr/>
        </p:nvGrpSpPr>
        <p:grpSpPr>
          <a:xfrm>
            <a:off x="3821510" y="1975118"/>
            <a:ext cx="2630093" cy="1075182"/>
            <a:chOff x="701175" y="1835481"/>
            <a:chExt cx="2630093" cy="1075182"/>
          </a:xfrm>
        </p:grpSpPr>
        <p:cxnSp>
          <p:nvCxnSpPr>
            <p:cNvPr id="237" name="직선 연결선 23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8" name="직선 연결선 23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1" name="직선 연결선 24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2" name="직선 연결선 241">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43" name="TextBox 242">
            <a:extLst>
              <a:ext uri="{FF2B5EF4-FFF2-40B4-BE49-F238E27FC236}">
                <a16:creationId xmlns:a16="http://schemas.microsoft.com/office/drawing/2014/main" id="{FFC49AEA-2A8F-250C-A86A-A7751D9706C3}"/>
              </a:ext>
            </a:extLst>
          </p:cNvPr>
          <p:cNvSpPr txBox="1"/>
          <p:nvPr/>
        </p:nvSpPr>
        <p:spPr>
          <a:xfrm>
            <a:off x="4667515" y="1975118"/>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1015375183975</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a:t>
            </a:r>
          </a:p>
        </p:txBody>
      </p:sp>
      <p:sp>
        <p:nvSpPr>
          <p:cNvPr id="246" name="사각형: 둥근 모서리 15">
            <a:extLst>
              <a:ext uri="{FF2B5EF4-FFF2-40B4-BE49-F238E27FC236}">
                <a16:creationId xmlns:a16="http://schemas.microsoft.com/office/drawing/2014/main" id="{E2B61CFB-AD16-68D0-8752-50D9C5E01971}"/>
              </a:ext>
            </a:extLst>
          </p:cNvPr>
          <p:cNvSpPr/>
          <p:nvPr/>
        </p:nvSpPr>
        <p:spPr>
          <a:xfrm>
            <a:off x="3933132" y="2860617"/>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sp>
        <p:nvSpPr>
          <p:cNvPr id="247" name="사각형: 둥근 모서리 15">
            <a:extLst>
              <a:ext uri="{FF2B5EF4-FFF2-40B4-BE49-F238E27FC236}">
                <a16:creationId xmlns:a16="http://schemas.microsoft.com/office/drawing/2014/main" id="{E2B61CFB-AD16-68D0-8752-50D9C5E01971}"/>
              </a:ext>
            </a:extLst>
          </p:cNvPr>
          <p:cNvSpPr/>
          <p:nvPr/>
        </p:nvSpPr>
        <p:spPr>
          <a:xfrm>
            <a:off x="790250" y="5259205"/>
            <a:ext cx="2482324"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내역 접기 ↑</a:t>
            </a:r>
            <a:endParaRPr kumimoji="1" lang="en-US" sz="700" b="0" i="0" u="none" strike="noStrike" kern="0" cap="none" spc="0" normalizeH="0" baseline="0" noProof="0" dirty="0">
              <a:ln>
                <a:noFill/>
              </a:ln>
              <a:effectLst/>
              <a:uLnTx/>
              <a:uFillTx/>
              <a:latin typeface="맑은 고딕"/>
            </a:endParaRPr>
          </a:p>
        </p:txBody>
      </p:sp>
      <p:grpSp>
        <p:nvGrpSpPr>
          <p:cNvPr id="130" name="그룹 129"/>
          <p:cNvGrpSpPr/>
          <p:nvPr/>
        </p:nvGrpSpPr>
        <p:grpSpPr>
          <a:xfrm>
            <a:off x="675400" y="1502206"/>
            <a:ext cx="2712027" cy="334927"/>
            <a:chOff x="675399" y="3560135"/>
            <a:chExt cx="2712027" cy="334927"/>
          </a:xfrm>
        </p:grpSpPr>
        <p:cxnSp>
          <p:nvCxnSpPr>
            <p:cNvPr id="131" name="직선 연결선 130">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2" name="TextBox 131">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a:t>
              </a:r>
              <a:r>
                <a:rPr lang="ko-KR" altLang="en-US" sz="700" b="1" dirty="0" err="1">
                  <a:latin typeface="+mn-ea"/>
                </a:rPr>
                <a:t>입찰품목</a:t>
              </a:r>
              <a:endParaRPr lang="ko-KR" altLang="en-US" sz="700" b="1" dirty="0">
                <a:latin typeface="+mn-ea"/>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1998539"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2924086" y="3640332"/>
              <a:ext cx="422853" cy="187961"/>
              <a:chOff x="3641308" y="2234886"/>
              <a:chExt cx="422853" cy="187961"/>
            </a:xfrm>
          </p:grpSpPr>
          <p:sp>
            <p:nvSpPr>
              <p:cNvPr id="140" name="타원 13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rot="5400000" flipH="1">
                <a:off x="3679895" y="2305364"/>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0" name="직선 연결선 1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2" name="타원 14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3" name="그룹 142"/>
              <p:cNvGrpSpPr/>
              <p:nvPr/>
            </p:nvGrpSpPr>
            <p:grpSpPr>
              <a:xfrm rot="16200000">
                <a:off x="3931564" y="2305364"/>
                <a:ext cx="94010" cy="47005"/>
                <a:chOff x="6812560" y="3297172"/>
                <a:chExt cx="94010" cy="47005"/>
              </a:xfrm>
            </p:grpSpPr>
            <p:cxnSp>
              <p:nvCxnSpPr>
                <p:cNvPr id="144" name="직선 연결선 1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7" name="직선 연결선 1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7" name="직선 연결선 136">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TextBox 138">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55" name="그룹 154"/>
          <p:cNvGrpSpPr/>
          <p:nvPr/>
        </p:nvGrpSpPr>
        <p:grpSpPr>
          <a:xfrm>
            <a:off x="3791609" y="1502206"/>
            <a:ext cx="2712027" cy="334927"/>
            <a:chOff x="675399" y="3560135"/>
            <a:chExt cx="2712027" cy="334927"/>
          </a:xfrm>
        </p:grpSpPr>
        <p:cxnSp>
          <p:nvCxnSpPr>
            <p:cNvPr id="156" name="직선 연결선 155">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0" name="TextBox 159">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a:t>
              </a:r>
              <a:r>
                <a:rPr lang="ko-KR" altLang="en-US" sz="700" b="1" dirty="0" err="1">
                  <a:latin typeface="+mn-ea"/>
                </a:rPr>
                <a:t>입찰품목</a:t>
              </a:r>
              <a:endParaRPr lang="ko-KR" altLang="en-US" sz="700" b="1"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2003985"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7" name="그룹 166"/>
            <p:cNvGrpSpPr/>
            <p:nvPr/>
          </p:nvGrpSpPr>
          <p:grpSpPr>
            <a:xfrm>
              <a:off x="2924086" y="3640332"/>
              <a:ext cx="422853" cy="187961"/>
              <a:chOff x="3641308" y="2234886"/>
              <a:chExt cx="422853" cy="187961"/>
            </a:xfrm>
          </p:grpSpPr>
          <p:sp>
            <p:nvSpPr>
              <p:cNvPr id="171" name="타원 17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2" name="그룹 171"/>
              <p:cNvGrpSpPr/>
              <p:nvPr/>
            </p:nvGrpSpPr>
            <p:grpSpPr>
              <a:xfrm rot="5400000" flipH="1">
                <a:off x="3679895" y="2305364"/>
                <a:ext cx="94010" cy="47005"/>
                <a:chOff x="6812560" y="3297172"/>
                <a:chExt cx="94010" cy="47005"/>
              </a:xfrm>
            </p:grpSpPr>
            <p:cxnSp>
              <p:nvCxnSpPr>
                <p:cNvPr id="177" name="직선 연결선 17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8" name="직선 연결선 17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타원 17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4" name="그룹 173"/>
              <p:cNvGrpSpPr/>
              <p:nvPr/>
            </p:nvGrpSpPr>
            <p:grpSpPr>
              <a:xfrm rot="16200000">
                <a:off x="3931564" y="2305364"/>
                <a:ext cx="94010" cy="47005"/>
                <a:chOff x="6812560" y="3297172"/>
                <a:chExt cx="94010" cy="47005"/>
              </a:xfrm>
            </p:grpSpPr>
            <p:cxnSp>
              <p:nvCxnSpPr>
                <p:cNvPr id="175" name="직선 연결선 17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6" name="직선 연결선 17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68" name="직선 연결선 167">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TextBox 169">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179" name="사각형: 둥근 모서리 15">
            <a:extLst>
              <a:ext uri="{FF2B5EF4-FFF2-40B4-BE49-F238E27FC236}">
                <a16:creationId xmlns:a16="http://schemas.microsoft.com/office/drawing/2014/main" id="{E2B61CFB-AD16-68D0-8752-50D9C5E01971}"/>
              </a:ext>
            </a:extLst>
          </p:cNvPr>
          <p:cNvSpPr/>
          <p:nvPr/>
        </p:nvSpPr>
        <p:spPr>
          <a:xfrm>
            <a:off x="1556922" y="5035558"/>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미 달러</a:t>
            </a:r>
            <a:endParaRPr kumimoji="1" lang="en-US" sz="700" b="0" i="0" u="none" strike="noStrike" kern="0" cap="none" spc="0" normalizeH="0" baseline="0" noProof="0" dirty="0">
              <a:ln>
                <a:noFill/>
              </a:ln>
              <a:effectLst/>
              <a:uLnTx/>
              <a:uFillTx/>
              <a:latin typeface="맑은 고딕"/>
            </a:endParaRPr>
          </a:p>
        </p:txBody>
      </p:sp>
      <p:grpSp>
        <p:nvGrpSpPr>
          <p:cNvPr id="180" name="그룹 179"/>
          <p:cNvGrpSpPr/>
          <p:nvPr/>
        </p:nvGrpSpPr>
        <p:grpSpPr>
          <a:xfrm>
            <a:off x="3163627" y="5086956"/>
            <a:ext cx="94010" cy="47005"/>
            <a:chOff x="6812560" y="3297172"/>
            <a:chExt cx="94010" cy="47005"/>
          </a:xfrm>
        </p:grpSpPr>
        <p:cxnSp>
          <p:nvCxnSpPr>
            <p:cNvPr id="181" name="직선 연결선 18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2" name="직선 연결선 18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3" name="사각형: 둥근 모서리 15">
            <a:extLst>
              <a:ext uri="{FF2B5EF4-FFF2-40B4-BE49-F238E27FC236}">
                <a16:creationId xmlns:a16="http://schemas.microsoft.com/office/drawing/2014/main" id="{E2B61CFB-AD16-68D0-8752-50D9C5E01971}"/>
              </a:ext>
            </a:extLst>
          </p:cNvPr>
          <p:cNvSpPr/>
          <p:nvPr/>
        </p:nvSpPr>
        <p:spPr>
          <a:xfrm>
            <a:off x="2836921" y="3954590"/>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smtClean="0">
                <a:ln>
                  <a:noFill/>
                </a:ln>
                <a:effectLst/>
                <a:uLnTx/>
                <a:uFillTx/>
                <a:latin typeface="맑은 고딕"/>
              </a:rPr>
              <a:t>파일첨부</a:t>
            </a:r>
            <a:endParaRPr kumimoji="1" lang="en-US" sz="700" b="0" i="0" u="none" strike="noStrike" kern="0" cap="none" spc="0" normalizeH="0" baseline="0" noProof="0" dirty="0">
              <a:ln>
                <a:noFill/>
              </a:ln>
              <a:effectLst/>
              <a:uLnTx/>
              <a:uFillTx/>
              <a:latin typeface="맑은 고딕"/>
            </a:endParaRPr>
          </a:p>
        </p:txBody>
      </p:sp>
      <p:sp>
        <p:nvSpPr>
          <p:cNvPr id="110" name="사각형: 둥근 모서리 15">
            <a:extLst>
              <a:ext uri="{FF2B5EF4-FFF2-40B4-BE49-F238E27FC236}">
                <a16:creationId xmlns:a16="http://schemas.microsoft.com/office/drawing/2014/main" id="{E2B61CFB-AD16-68D0-8752-50D9C5E01971}"/>
              </a:ext>
            </a:extLst>
          </p:cNvPr>
          <p:cNvSpPr/>
          <p:nvPr/>
        </p:nvSpPr>
        <p:spPr>
          <a:xfrm>
            <a:off x="1556922" y="3745294"/>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b="0" i="0" u="none" strike="noStrike" kern="0" cap="none" spc="0" normalizeH="0" baseline="0" noProof="0" dirty="0" smtClean="0">
                <a:ln>
                  <a:noFill/>
                </a:ln>
                <a:effectLst/>
                <a:uLnTx/>
                <a:uFillTx/>
                <a:latin typeface="맑은 고딕"/>
              </a:rPr>
              <a:t>Y</a:t>
            </a:r>
            <a:endParaRPr kumimoji="1" lang="en-US" sz="700" b="0" i="0" u="none" strike="noStrike" kern="0" cap="none" spc="0" normalizeH="0" baseline="0" noProof="0" dirty="0">
              <a:ln>
                <a:noFill/>
              </a:ln>
              <a:effectLst/>
              <a:uLnTx/>
              <a:uFillTx/>
              <a:latin typeface="맑은 고딕"/>
            </a:endParaRPr>
          </a:p>
        </p:txBody>
      </p:sp>
      <p:sp>
        <p:nvSpPr>
          <p:cNvPr id="111" name="사각형: 둥근 모서리 15">
            <a:extLst>
              <a:ext uri="{FF2B5EF4-FFF2-40B4-BE49-F238E27FC236}">
                <a16:creationId xmlns:a16="http://schemas.microsoft.com/office/drawing/2014/main" id="{E2B61CFB-AD16-68D0-8752-50D9C5E01971}"/>
              </a:ext>
            </a:extLst>
          </p:cNvPr>
          <p:cNvSpPr/>
          <p:nvPr/>
        </p:nvSpPr>
        <p:spPr>
          <a:xfrm>
            <a:off x="1556922" y="4171432"/>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altLang="ko-KR" sz="700" kern="0" dirty="0" smtClean="0">
                <a:latin typeface="맑은 고딕"/>
                <a:ea typeface="맑은 고딕" panose="020B0503020000020004" pitchFamily="50" charset="-127"/>
              </a:rPr>
              <a:t>12345678</a:t>
            </a:r>
            <a:endParaRPr kumimoji="1" lang="en-US" sz="700" b="0" i="0" u="none" strike="noStrike" kern="0" cap="none" spc="0" normalizeH="0" baseline="0" noProof="0" dirty="0">
              <a:ln>
                <a:noFill/>
              </a:ln>
              <a:effectLst/>
              <a:uLnTx/>
              <a:uFillTx/>
              <a:latin typeface="맑은 고딕"/>
            </a:endParaRPr>
          </a:p>
        </p:txBody>
      </p:sp>
      <p:sp>
        <p:nvSpPr>
          <p:cNvPr id="112" name="사각형: 둥근 모서리 15">
            <a:extLst>
              <a:ext uri="{FF2B5EF4-FFF2-40B4-BE49-F238E27FC236}">
                <a16:creationId xmlns:a16="http://schemas.microsoft.com/office/drawing/2014/main" id="{E2B61CFB-AD16-68D0-8752-50D9C5E01971}"/>
              </a:ext>
            </a:extLst>
          </p:cNvPr>
          <p:cNvSpPr/>
          <p:nvPr/>
        </p:nvSpPr>
        <p:spPr>
          <a:xfrm>
            <a:off x="1556922" y="4389459"/>
            <a:ext cx="1780918" cy="162000"/>
          </a:xfrm>
          <a:prstGeom prst="roundRect">
            <a:avLst/>
          </a:prstGeom>
          <a:noFill/>
          <a:ln w="3175" cap="flat" cmpd="sng" algn="ctr">
            <a:solidFill>
              <a:schemeClr val="tx1"/>
            </a:solidFill>
            <a:prstDash val="solid"/>
          </a:ln>
          <a:effectLst/>
        </p:spPr>
        <p:txBody>
          <a:bodyPr lIns="36000" tIns="36000" rIns="36000" bIns="36000" rtlCol="0" anchor="ctr"/>
          <a:lstStyle/>
          <a:p>
            <a:pPr marL="0" marR="0" lvl="0" indent="0" defTabSz="914400" eaLnBrk="1" fontAlgn="base" latinLnBrk="0" hangingPunct="1">
              <a:lnSpc>
                <a:spcPct val="100000"/>
              </a:lnSpc>
              <a:spcBef>
                <a:spcPct val="0"/>
              </a:spcBef>
              <a:spcAft>
                <a:spcPct val="0"/>
              </a:spcAft>
              <a:buClrTx/>
              <a:buSzTx/>
              <a:buFontTx/>
              <a:buNone/>
              <a:tabLst/>
              <a:defRPr/>
            </a:pPr>
            <a:r>
              <a:rPr kumimoji="1" lang="en-US" sz="700" kern="0" noProof="0" dirty="0" smtClean="0">
                <a:latin typeface="맑은 고딕"/>
                <a:ea typeface="맑은 고딕" panose="020B0503020000020004" pitchFamily="50" charset="-127"/>
              </a:rPr>
              <a:t>23456789</a:t>
            </a:r>
            <a:endParaRPr kumimoji="1" lang="en-US" sz="700" b="0" i="0" u="none" strike="noStrike" kern="0" cap="none" spc="0" normalizeH="0" baseline="0" noProof="0" dirty="0">
              <a:ln>
                <a:noFill/>
              </a:ln>
              <a:effectLst/>
              <a:uLnTx/>
              <a:uFillTx/>
              <a:latin typeface="맑은 고딕"/>
            </a:endParaRPr>
          </a:p>
        </p:txBody>
      </p:sp>
      <p:grpSp>
        <p:nvGrpSpPr>
          <p:cNvPr id="113" name="그룹 112"/>
          <p:cNvGrpSpPr/>
          <p:nvPr/>
        </p:nvGrpSpPr>
        <p:grpSpPr>
          <a:xfrm>
            <a:off x="8223250" y="569392"/>
            <a:ext cx="3365500" cy="634511"/>
            <a:chOff x="8223250" y="569392"/>
            <a:chExt cx="3365500" cy="634511"/>
          </a:xfrm>
        </p:grpSpPr>
        <p:sp>
          <p:nvSpPr>
            <p:cNvPr id="114" name="직사각형 113"/>
            <p:cNvSpPr/>
            <p:nvPr/>
          </p:nvSpPr>
          <p:spPr>
            <a:xfrm>
              <a:off x="8223250" y="569392"/>
              <a:ext cx="1682750" cy="21946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rmAutofit fontScale="55000" lnSpcReduction="20000"/>
            </a:bodyPr>
            <a:lstStyle/>
            <a:p>
              <a:pPr algn="ctr"/>
              <a:r>
                <a:rPr lang="en-US" altLang="ko-KR" dirty="0" smtClean="0"/>
                <a:t>2026-06-22 </a:t>
              </a:r>
              <a:r>
                <a:rPr lang="ko-KR" altLang="en-US" dirty="0" smtClean="0"/>
                <a:t>화면 </a:t>
              </a:r>
              <a:r>
                <a:rPr lang="ko-KR" altLang="en-US" dirty="0"/>
                <a:t>수정</a:t>
              </a:r>
            </a:p>
          </p:txBody>
        </p:sp>
        <p:sp>
          <p:nvSpPr>
            <p:cNvPr id="115" name="직사각형 114"/>
            <p:cNvSpPr/>
            <p:nvPr/>
          </p:nvSpPr>
          <p:spPr>
            <a:xfrm>
              <a:off x="9906000" y="569392"/>
              <a:ext cx="1682750" cy="63451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noAutofit/>
            </a:bodyPr>
            <a:lstStyle/>
            <a:p>
              <a:pPr marL="228600" indent="-228600">
                <a:buAutoNum type="arabicPeriod"/>
              </a:pPr>
              <a:r>
                <a:rPr lang="ko-KR" altLang="en-US" sz="700" dirty="0" smtClean="0"/>
                <a:t>품목대체구분</a:t>
              </a:r>
              <a:r>
                <a:rPr lang="en-US" altLang="ko-KR" sz="700" dirty="0" smtClean="0"/>
                <a:t>, </a:t>
              </a:r>
              <a:r>
                <a:rPr lang="ko-KR" altLang="en-US" sz="700" dirty="0" smtClean="0"/>
                <a:t>수정재고번호</a:t>
              </a:r>
              <a:r>
                <a:rPr lang="en-US" altLang="ko-KR" sz="700" dirty="0" smtClean="0"/>
                <a:t>, </a:t>
              </a:r>
              <a:r>
                <a:rPr lang="ko-KR" altLang="en-US" sz="700" dirty="0" smtClean="0"/>
                <a:t>수정부품번호 </a:t>
              </a:r>
              <a:r>
                <a:rPr lang="ko-KR" altLang="en-US" sz="700" dirty="0" err="1" smtClean="0"/>
                <a:t>입력폼으로</a:t>
              </a:r>
              <a:r>
                <a:rPr lang="ko-KR" altLang="en-US" sz="700" dirty="0" smtClean="0"/>
                <a:t> 변경</a:t>
              </a:r>
              <a:endParaRPr lang="en-US" altLang="ko-KR" sz="700" dirty="0"/>
            </a:p>
          </p:txBody>
        </p:sp>
      </p:grpSp>
    </p:spTree>
    <p:extLst>
      <p:ext uri="{BB962C8B-B14F-4D97-AF65-F5344CB8AC3E}">
        <p14:creationId xmlns:p14="http://schemas.microsoft.com/office/powerpoint/2010/main" val="1674491053"/>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solidFill>
                  <a:schemeClr val="tx1">
                    <a:lumMod val="85000"/>
                    <a:lumOff val="15000"/>
                  </a:schemeClr>
                </a:solidFill>
              </a:rPr>
              <a:t>첨부파일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422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pPr fontAlgn="ctr"/>
            <a:r>
              <a:rPr lang="ko-KR" altLang="en-US" dirty="0" err="1">
                <a:latin typeface="+mn-ea"/>
              </a:rPr>
              <a:t>공개수의협상견적서제출</a:t>
            </a:r>
            <a:r>
              <a:rPr lang="ko-KR" altLang="en-US" dirty="0">
                <a:latin typeface="+mn-ea"/>
              </a:rPr>
              <a:t> </a:t>
            </a:r>
            <a:r>
              <a:rPr lang="en-US" altLang="ko-KR" dirty="0">
                <a:latin typeface="+mn-ea"/>
              </a:rPr>
              <a:t>- </a:t>
            </a:r>
            <a:r>
              <a:rPr lang="ko-KR" altLang="en-US" dirty="0" err="1">
                <a:latin typeface="+mn-ea"/>
              </a:rPr>
              <a:t>스탭</a:t>
            </a:r>
            <a:r>
              <a:rPr lang="ko-KR" altLang="en-US" dirty="0">
                <a:latin typeface="+mn-ea"/>
              </a:rPr>
              <a:t> </a:t>
            </a:r>
            <a:r>
              <a:rPr lang="en-US" altLang="ko-KR" dirty="0">
                <a:latin typeface="+mn-ea"/>
              </a:rPr>
              <a:t>4 - </a:t>
            </a:r>
            <a:r>
              <a:rPr lang="ko-KR" altLang="en-US"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입찰 진행 </a:t>
            </a:r>
            <a:r>
              <a:rPr lang="en-US" altLang="ko-KR" dirty="0">
                <a:latin typeface="+mn-ea"/>
              </a:rPr>
              <a:t>&gt; </a:t>
            </a:r>
            <a:r>
              <a:rPr lang="ko-KR" altLang="en-US" dirty="0" err="1">
                <a:latin typeface="+mn-ea"/>
              </a:rPr>
              <a:t>공개수의협상견적서제출</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MUI-BD-12-M77</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a:extLst>
              <a:ext uri="{FF2B5EF4-FFF2-40B4-BE49-F238E27FC236}">
                <a16:creationId xmlns:a16="http://schemas.microsoft.com/office/drawing/2014/main" id="{FFC49AEA-2A8F-250C-A86A-A7751D9706C3}"/>
              </a:ext>
            </a:extLst>
          </p:cNvPr>
          <p:cNvSpPr txBox="1"/>
          <p:nvPr/>
        </p:nvSpPr>
        <p:spPr>
          <a:xfrm>
            <a:off x="756845" y="1891736"/>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261306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2687583"/>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견적제안서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274144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8" name="모서리가 둥근 직사각형 117"/>
          <p:cNvSpPr/>
          <p:nvPr/>
        </p:nvSpPr>
        <p:spPr>
          <a:xfrm>
            <a:off x="710315" y="301974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3094269"/>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공급자증명서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314813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2" name="사각형: 둥근 모서리 15">
            <a:extLst>
              <a:ext uri="{FF2B5EF4-FFF2-40B4-BE49-F238E27FC236}">
                <a16:creationId xmlns:a16="http://schemas.microsoft.com/office/drawing/2014/main" id="{E2B61CFB-AD16-68D0-8752-50D9C5E01971}"/>
              </a:ext>
            </a:extLst>
          </p:cNvPr>
          <p:cNvSpPr/>
          <p:nvPr/>
        </p:nvSpPr>
        <p:spPr>
          <a:xfrm>
            <a:off x="710315" y="2170061"/>
            <a:ext cx="2652742"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a:latin typeface="맑은 고딕"/>
                <a:ea typeface="맑은 고딕" panose="020B0503020000020004" pitchFamily="50" charset="-127"/>
              </a:rPr>
              <a:t>파일 추가</a:t>
            </a:r>
            <a:endParaRPr kumimoji="1" lang="en-US" sz="800" b="0" i="0" u="none" strike="noStrike" kern="0" cap="none" spc="0" normalizeH="0" baseline="0" noProof="0" dirty="0">
              <a:ln>
                <a:noFill/>
              </a:ln>
              <a:effectLst/>
              <a:uLnTx/>
              <a:uFillTx/>
              <a:latin typeface="맑은 고딕"/>
            </a:endParaRPr>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2477944"/>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55549" y="2477944"/>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삭제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2477944"/>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127" name="사각형: 둥근 모서리 15">
            <a:extLst>
              <a:ext uri="{FF2B5EF4-FFF2-40B4-BE49-F238E27FC236}">
                <a16:creationId xmlns:a16="http://schemas.microsoft.com/office/drawing/2014/main" id="{E2B61CFB-AD16-68D0-8752-50D9C5E01971}"/>
              </a:ext>
            </a:extLst>
          </p:cNvPr>
          <p:cNvSpPr/>
          <p:nvPr/>
        </p:nvSpPr>
        <p:spPr>
          <a:xfrm>
            <a:off x="2975970" y="3124549"/>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28" name="사각형: 둥근 모서리 15">
            <a:extLst>
              <a:ext uri="{FF2B5EF4-FFF2-40B4-BE49-F238E27FC236}">
                <a16:creationId xmlns:a16="http://schemas.microsoft.com/office/drawing/2014/main" id="{E2B61CFB-AD16-68D0-8752-50D9C5E01971}"/>
              </a:ext>
            </a:extLst>
          </p:cNvPr>
          <p:cNvSpPr/>
          <p:nvPr/>
        </p:nvSpPr>
        <p:spPr>
          <a:xfrm>
            <a:off x="2975970" y="2707757"/>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19226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56" name="그룹 55"/>
          <p:cNvGrpSpPr/>
          <p:nvPr/>
        </p:nvGrpSpPr>
        <p:grpSpPr>
          <a:xfrm>
            <a:off x="3795734" y="5614711"/>
            <a:ext cx="2712027" cy="617588"/>
            <a:chOff x="675399" y="5614711"/>
            <a:chExt cx="2712027" cy="617588"/>
          </a:xfrm>
        </p:grpSpPr>
        <p:sp>
          <p:nvSpPr>
            <p:cNvPr id="57" name="직사각형 56">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전자서명하기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59"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1000" kern="0" dirty="0"/>
                <a:t>이전</a:t>
              </a:r>
              <a:endParaRPr kumimoji="1" lang="en-US" sz="1000" b="0" i="0" u="none" strike="noStrike" kern="0" cap="none" spc="0" normalizeH="0" baseline="0" noProof="0" dirty="0">
                <a:ln>
                  <a:noFill/>
                </a:ln>
                <a:effectLst/>
                <a:uLnTx/>
                <a:uFillTx/>
                <a:latin typeface="맑은 고딕"/>
              </a:endParaRPr>
            </a:p>
          </p:txBody>
        </p:sp>
      </p:grpSp>
      <p:sp>
        <p:nvSpPr>
          <p:cNvPr id="100" name="모서리가 둥근 직사각형 99"/>
          <p:cNvSpPr/>
          <p:nvPr/>
        </p:nvSpPr>
        <p:spPr>
          <a:xfrm>
            <a:off x="710315" y="342111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3495632"/>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제작사증명서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354949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4" name="모서리가 둥근 직사각형 103"/>
          <p:cNvSpPr/>
          <p:nvPr/>
        </p:nvSpPr>
        <p:spPr>
          <a:xfrm>
            <a:off x="710315" y="382779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3902318"/>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기타 공고요구서류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395617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30" name="사각형: 둥근 모서리 15">
            <a:extLst>
              <a:ext uri="{FF2B5EF4-FFF2-40B4-BE49-F238E27FC236}">
                <a16:creationId xmlns:a16="http://schemas.microsoft.com/office/drawing/2014/main" id="{E2B61CFB-AD16-68D0-8752-50D9C5E01971}"/>
              </a:ext>
            </a:extLst>
          </p:cNvPr>
          <p:cNvSpPr/>
          <p:nvPr/>
        </p:nvSpPr>
        <p:spPr>
          <a:xfrm>
            <a:off x="2975970" y="3932598"/>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31" name="사각형: 둥근 모서리 15">
            <a:extLst>
              <a:ext uri="{FF2B5EF4-FFF2-40B4-BE49-F238E27FC236}">
                <a16:creationId xmlns:a16="http://schemas.microsoft.com/office/drawing/2014/main" id="{E2B61CFB-AD16-68D0-8752-50D9C5E01971}"/>
              </a:ext>
            </a:extLst>
          </p:cNvPr>
          <p:cNvSpPr/>
          <p:nvPr/>
        </p:nvSpPr>
        <p:spPr>
          <a:xfrm>
            <a:off x="2975970" y="3515806"/>
            <a:ext cx="284126" cy="154884"/>
          </a:xfrm>
          <a:prstGeom prst="roundRect">
            <a:avLst/>
          </a:prstGeom>
          <a:noFill/>
          <a:ln w="3175"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kern="0" dirty="0">
                <a:latin typeface="맑은 고딕"/>
                <a:ea typeface="맑은 고딕" panose="020B0503020000020004" pitchFamily="50" charset="-127"/>
              </a:rPr>
              <a:t>삭제</a:t>
            </a:r>
            <a:endParaRPr kumimoji="1" lang="en-US" sz="700" b="0" i="0" u="none" strike="noStrike" kern="0" cap="none" spc="0" normalizeH="0" baseline="0" noProof="0" dirty="0">
              <a:ln>
                <a:noFill/>
              </a:ln>
              <a:effectLst/>
              <a:uLnTx/>
              <a:uFillTx/>
              <a:latin typeface="맑은 고딕"/>
            </a:endParaRPr>
          </a:p>
        </p:txBody>
      </p:sp>
      <p:sp>
        <p:nvSpPr>
          <p:cNvPr id="140" name="모서리가 둥근 직사각형 139"/>
          <p:cNvSpPr/>
          <p:nvPr/>
        </p:nvSpPr>
        <p:spPr>
          <a:xfrm rot="5400000">
            <a:off x="2662242" y="2542162"/>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62" name="그룹 61"/>
          <p:cNvGrpSpPr/>
          <p:nvPr/>
        </p:nvGrpSpPr>
        <p:grpSpPr>
          <a:xfrm>
            <a:off x="675400" y="1493927"/>
            <a:ext cx="2712027" cy="334927"/>
            <a:chOff x="675399" y="3560135"/>
            <a:chExt cx="2712027" cy="334927"/>
          </a:xfrm>
        </p:grpSpPr>
        <p:cxnSp>
          <p:nvCxnSpPr>
            <p:cNvPr id="63" name="직선 연결선 62">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TextBox 64">
              <a:extLst>
                <a:ext uri="{FF2B5EF4-FFF2-40B4-BE49-F238E27FC236}">
                  <a16:creationId xmlns:a16="http://schemas.microsoft.com/office/drawing/2014/main" id="{FFC49AEA-2A8F-250C-A86A-A7751D9706C3}"/>
                </a:ext>
              </a:extLst>
            </p:cNvPr>
            <p:cNvSpPr txBox="1"/>
            <p:nvPr/>
          </p:nvSpPr>
          <p:spPr>
            <a:xfrm>
              <a:off x="1450797"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66" name="TextBox 65">
              <a:extLst>
                <a:ext uri="{FF2B5EF4-FFF2-40B4-BE49-F238E27FC236}">
                  <a16:creationId xmlns:a16="http://schemas.microsoft.com/office/drawing/2014/main" id="{FFC49AEA-2A8F-250C-A86A-A7751D9706C3}"/>
                </a:ext>
              </a:extLst>
            </p:cNvPr>
            <p:cNvSpPr txBox="1"/>
            <p:nvPr/>
          </p:nvSpPr>
          <p:spPr>
            <a:xfrm>
              <a:off x="2094614" y="3678455"/>
              <a:ext cx="471675"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67" name="직선 연결선 66">
              <a:extLst>
                <a:ext uri="{FF2B5EF4-FFF2-40B4-BE49-F238E27FC236}">
                  <a16:creationId xmlns:a16="http://schemas.microsoft.com/office/drawing/2014/main" id="{E9293055-D5CD-4B9E-7F64-64B2D2CA7A52}"/>
                </a:ext>
              </a:extLst>
            </p:cNvPr>
            <p:cNvCxnSpPr/>
            <p:nvPr/>
          </p:nvCxnSpPr>
          <p:spPr>
            <a:xfrm>
              <a:off x="2062419"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68" name="그룹 67"/>
            <p:cNvGrpSpPr/>
            <p:nvPr/>
          </p:nvGrpSpPr>
          <p:grpSpPr>
            <a:xfrm>
              <a:off x="2924086" y="3640332"/>
              <a:ext cx="422853" cy="187961"/>
              <a:chOff x="3641308" y="2234886"/>
              <a:chExt cx="422853" cy="187961"/>
            </a:xfrm>
          </p:grpSpPr>
          <p:sp>
            <p:nvSpPr>
              <p:cNvPr id="72" name="타원 7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rot="5400000" flipH="1">
                <a:off x="3679895" y="2305364"/>
                <a:ext cx="94010" cy="47005"/>
                <a:chOff x="6812560" y="3297172"/>
                <a:chExt cx="94010" cy="47005"/>
              </a:xfrm>
            </p:grpSpPr>
            <p:cxnSp>
              <p:nvCxnSpPr>
                <p:cNvPr id="78" name="직선 연결선 7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9" name="직선 연결선 7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4" name="타원 7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5" name="그룹 74"/>
              <p:cNvGrpSpPr/>
              <p:nvPr/>
            </p:nvGrpSpPr>
            <p:grpSpPr>
              <a:xfrm rot="16200000">
                <a:off x="3931564" y="2305364"/>
                <a:ext cx="94010" cy="47005"/>
                <a:chOff x="6812560" y="3297172"/>
                <a:chExt cx="94010" cy="47005"/>
              </a:xfrm>
            </p:grpSpPr>
            <p:cxnSp>
              <p:nvCxnSpPr>
                <p:cNvPr id="76" name="직선 연결선 7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7" name="직선 연결선 7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69" name="직선 연결선 68">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1" name="TextBox 70">
              <a:extLst>
                <a:ext uri="{FF2B5EF4-FFF2-40B4-BE49-F238E27FC236}">
                  <a16:creationId xmlns:a16="http://schemas.microsoft.com/office/drawing/2014/main" id="{FFC49AEA-2A8F-250C-A86A-A7751D9706C3}"/>
                </a:ext>
              </a:extLst>
            </p:cNvPr>
            <p:cNvSpPr txBox="1"/>
            <p:nvPr/>
          </p:nvSpPr>
          <p:spPr>
            <a:xfrm>
              <a:off x="830098"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98" name="직사각형 97">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3795733" y="30435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108">
            <a:extLst>
              <a:ext uri="{FF2B5EF4-FFF2-40B4-BE49-F238E27FC236}">
                <a16:creationId xmlns:a16="http://schemas.microsoft.com/office/drawing/2014/main" id="{FFC49AEA-2A8F-250C-A86A-A7751D9706C3}"/>
              </a:ext>
            </a:extLst>
          </p:cNvPr>
          <p:cNvSpPr txBox="1"/>
          <p:nvPr/>
        </p:nvSpPr>
        <p:spPr>
          <a:xfrm>
            <a:off x="3914777" y="2007582"/>
            <a:ext cx="2473940" cy="969496"/>
          </a:xfrm>
          <a:prstGeom prst="rect">
            <a:avLst/>
          </a:prstGeom>
          <a:noFill/>
        </p:spPr>
        <p:txBody>
          <a:bodyPr wrap="square" lIns="0" tIns="0" rIns="0" bIns="0" rtlCol="0">
            <a:spAutoFit/>
          </a:bodyPr>
          <a:lstStyle/>
          <a:p>
            <a:r>
              <a:rPr lang="ko-KR" altLang="en-US" sz="700" dirty="0">
                <a:latin typeface="+mn-ea"/>
              </a:rPr>
              <a:t>견적서</a:t>
            </a:r>
            <a:r>
              <a:rPr lang="en-US" altLang="ko-KR" sz="700" dirty="0">
                <a:latin typeface="+mn-ea"/>
              </a:rPr>
              <a:t>(</a:t>
            </a:r>
            <a:r>
              <a:rPr lang="ko-KR" altLang="en-US" sz="700" dirty="0" err="1">
                <a:latin typeface="+mn-ea"/>
              </a:rPr>
              <a:t>가격제안서</a:t>
            </a:r>
            <a:r>
              <a:rPr lang="en-US" altLang="ko-KR" sz="700" dirty="0">
                <a:latin typeface="+mn-ea"/>
              </a:rPr>
              <a:t>)</a:t>
            </a:r>
            <a:r>
              <a:rPr lang="ko-KR" altLang="en-US" sz="700" dirty="0">
                <a:latin typeface="+mn-ea"/>
              </a:rPr>
              <a:t>는 제출 후 수정할 수 없습니다</a:t>
            </a:r>
            <a:r>
              <a:rPr lang="en-US" altLang="ko-KR" sz="700" dirty="0">
                <a:latin typeface="+mn-ea"/>
              </a:rPr>
              <a:t>. </a:t>
            </a:r>
            <a:r>
              <a:rPr lang="ko-KR" altLang="en-US" sz="700" dirty="0" err="1">
                <a:latin typeface="+mn-ea"/>
              </a:rPr>
              <a:t>입찰내역을</a:t>
            </a:r>
            <a:r>
              <a:rPr lang="ko-KR" altLang="en-US" sz="700" dirty="0">
                <a:latin typeface="+mn-ea"/>
              </a:rPr>
              <a:t> 주의하여 작성하시기 바랍니다</a:t>
            </a:r>
            <a:r>
              <a:rPr lang="en-US" altLang="ko-KR" sz="700" dirty="0">
                <a:latin typeface="+mn-ea"/>
              </a:rPr>
              <a:t>.</a:t>
            </a:r>
          </a:p>
          <a:p>
            <a:r>
              <a:rPr lang="ko-KR" altLang="en-US" sz="700" dirty="0">
                <a:latin typeface="+mn-ea"/>
              </a:rPr>
              <a:t>본인은 국가를 당사자로 하는 계약에 관한 법률시행규칙에 의한 공사 입찰유의서에 따라 응찰하여 이 입찰이 귀 기관에 의하여 수락되면 공사 계약일반조건</a:t>
            </a:r>
            <a:r>
              <a:rPr lang="en-US" altLang="ko-KR" sz="700" dirty="0">
                <a:latin typeface="+mn-ea"/>
              </a:rPr>
              <a:t>, </a:t>
            </a:r>
            <a:r>
              <a:rPr lang="ko-KR" altLang="en-US" sz="700" dirty="0">
                <a:latin typeface="+mn-ea"/>
              </a:rPr>
              <a:t>계약특수조건</a:t>
            </a:r>
            <a:r>
              <a:rPr lang="en-US" altLang="ko-KR" sz="700" dirty="0">
                <a:latin typeface="+mn-ea"/>
              </a:rPr>
              <a:t>, </a:t>
            </a:r>
            <a:r>
              <a:rPr lang="ko-KR" altLang="en-US" sz="700" dirty="0">
                <a:latin typeface="+mn-ea"/>
              </a:rPr>
              <a:t>설계서 및 현장 설명 사항에 따라 위의 입찰금액으로 준공기한내에 공사를 완공할 것을 </a:t>
            </a:r>
            <a:r>
              <a:rPr lang="ko-KR" altLang="en-US" sz="700" dirty="0" err="1">
                <a:latin typeface="+mn-ea"/>
              </a:rPr>
              <a:t>확약하오며</a:t>
            </a:r>
            <a:r>
              <a:rPr lang="ko-KR" altLang="en-US" sz="700" dirty="0">
                <a:latin typeface="+mn-ea"/>
              </a:rPr>
              <a:t> 견적서를 제출합니다</a:t>
            </a:r>
            <a:r>
              <a:rPr lang="en-US" altLang="ko-KR" sz="700" dirty="0">
                <a:latin typeface="+mn-ea"/>
              </a:rPr>
              <a:t>.</a:t>
            </a:r>
          </a:p>
          <a:p>
            <a:endParaRPr lang="en-US" altLang="ko-KR" sz="700" dirty="0">
              <a:latin typeface="+mn-ea"/>
            </a:endParaRPr>
          </a:p>
          <a:p>
            <a:r>
              <a:rPr lang="ko-KR" altLang="en-US" sz="700" dirty="0">
                <a:latin typeface="+mn-ea"/>
              </a:rPr>
              <a:t>유의사항 </a:t>
            </a:r>
            <a:r>
              <a:rPr lang="en-US" altLang="ko-KR" sz="700" dirty="0">
                <a:latin typeface="+mn-ea"/>
              </a:rPr>
              <a:t>: </a:t>
            </a:r>
          </a:p>
        </p:txBody>
      </p:sp>
      <p:cxnSp>
        <p:nvCxnSpPr>
          <p:cNvPr id="110" name="직선 연결선 109">
            <a:extLst>
              <a:ext uri="{FF2B5EF4-FFF2-40B4-BE49-F238E27FC236}">
                <a16:creationId xmlns:a16="http://schemas.microsoft.com/office/drawing/2014/main" id="{E9293055-D5CD-4B9E-7F64-64B2D2CA7A52}"/>
              </a:ext>
            </a:extLst>
          </p:cNvPr>
          <p:cNvCxnSpPr/>
          <p:nvPr/>
        </p:nvCxnSpPr>
        <p:spPr>
          <a:xfrm>
            <a:off x="3795733" y="189736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33" name="그룹 132"/>
          <p:cNvGrpSpPr/>
          <p:nvPr/>
        </p:nvGrpSpPr>
        <p:grpSpPr>
          <a:xfrm>
            <a:off x="3795733" y="1499027"/>
            <a:ext cx="2712027" cy="334927"/>
            <a:chOff x="675399" y="3560135"/>
            <a:chExt cx="2712027" cy="334927"/>
          </a:xfrm>
        </p:grpSpPr>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1450797"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094614" y="3678455"/>
              <a:ext cx="471675"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137" name="직선 연결선 136">
              <a:extLst>
                <a:ext uri="{FF2B5EF4-FFF2-40B4-BE49-F238E27FC236}">
                  <a16:creationId xmlns:a16="http://schemas.microsoft.com/office/drawing/2014/main" id="{E9293055-D5CD-4B9E-7F64-64B2D2CA7A52}"/>
                </a:ext>
              </a:extLst>
            </p:cNvPr>
            <p:cNvCxnSpPr/>
            <p:nvPr/>
          </p:nvCxnSpPr>
          <p:spPr>
            <a:xfrm>
              <a:off x="2062419"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8" name="그룹 137"/>
            <p:cNvGrpSpPr/>
            <p:nvPr/>
          </p:nvGrpSpPr>
          <p:grpSpPr>
            <a:xfrm>
              <a:off x="2924086" y="3640332"/>
              <a:ext cx="422853" cy="187961"/>
              <a:chOff x="3641308" y="2234886"/>
              <a:chExt cx="422853" cy="187961"/>
            </a:xfrm>
          </p:grpSpPr>
          <p:sp>
            <p:nvSpPr>
              <p:cNvPr id="143" name="타원 14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4" name="그룹 143"/>
              <p:cNvGrpSpPr/>
              <p:nvPr/>
            </p:nvGrpSpPr>
            <p:grpSpPr>
              <a:xfrm rot="5400000" flipH="1">
                <a:off x="3679895" y="2305364"/>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7" name="직선 연결선 16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5" name="타원 14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6" name="그룹 145"/>
              <p:cNvGrpSpPr/>
              <p:nvPr/>
            </p:nvGrpSpPr>
            <p:grpSpPr>
              <a:xfrm rot="16200000">
                <a:off x="3931564" y="2305364"/>
                <a:ext cx="94010" cy="47005"/>
                <a:chOff x="6812560" y="3297172"/>
                <a:chExt cx="94010" cy="47005"/>
              </a:xfrm>
            </p:grpSpPr>
            <p:cxnSp>
              <p:nvCxnSpPr>
                <p:cNvPr id="147" name="직선 연결선 1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8" name="직선 연결선 1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9" name="직선 연결선 138">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FFC49AEA-2A8F-250C-A86A-A7751D9706C3}"/>
                </a:ext>
              </a:extLst>
            </p:cNvPr>
            <p:cNvSpPr txBox="1"/>
            <p:nvPr/>
          </p:nvSpPr>
          <p:spPr>
            <a:xfrm>
              <a:off x="830098"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168" name="TextBox 16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3932764804"/>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423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63770"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dm_pbancGnrlInfo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296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207472"/>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pbancOd</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pbancType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공고구분</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6792415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pbancRqstYmd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987578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790333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intgRfrncNo</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63828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7789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518668"/>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138433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027366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etdcDdlnDt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588139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504283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154397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344442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방위사업청담당자</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4381EE26-F3EF-ADB2-9BE7-46D22CD771ED}"/>
              </a:ext>
            </a:extLst>
          </p:cNvPr>
          <p:cNvSpPr txBox="1"/>
          <p:nvPr/>
        </p:nvSpPr>
        <p:spPr>
          <a:xfrm>
            <a:off x="458117" y="4446108"/>
            <a:ext cx="2379425"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신청업체 데이터 영역 </a:t>
            </a:r>
            <a:r>
              <a:rPr lang="en-US" altLang="ko-KR" sz="900" b="1" dirty="0">
                <a:solidFill>
                  <a:prstClr val="black"/>
                </a:solidFill>
              </a:rPr>
              <a:t>(</a:t>
            </a:r>
            <a:r>
              <a:rPr lang="en-US" altLang="ko-KR" sz="900" b="1" dirty="0" err="1">
                <a:solidFill>
                  <a:prstClr val="black"/>
                </a:solidFill>
              </a:rPr>
              <a:t>dm_aplyBzenty</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4A2A78DB-898E-F6F7-B7F2-BDE6122ACAF8}"/>
              </a:ext>
            </a:extLst>
          </p:cNvPr>
          <p:cNvGraphicFramePr>
            <a:graphicFrameLocks noGrp="1"/>
          </p:cNvGraphicFramePr>
          <p:nvPr/>
        </p:nvGraphicFramePr>
        <p:xfrm>
          <a:off x="452999" y="4657311"/>
          <a:ext cx="8994883" cy="1867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2527269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785792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398486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0200253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841067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3542974516"/>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424</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26525"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입찰업체 데이터 영역 </a:t>
            </a:r>
            <a:r>
              <a:rPr lang="en-US" altLang="ko-KR" sz="900" b="1" dirty="0">
                <a:solidFill>
                  <a:prstClr val="black"/>
                </a:solidFill>
              </a:rPr>
              <a:t>(</a:t>
            </a:r>
            <a:r>
              <a:rPr lang="en-US" altLang="ko-KR" sz="900" b="1" dirty="0" err="1">
                <a:solidFill>
                  <a:prstClr val="black"/>
                </a:solidFill>
              </a:rPr>
              <a:t>dm_bidBzenty</a:t>
            </a:r>
            <a:r>
              <a:rPr lang="en-US" altLang="ko-KR" sz="900" b="1" dirty="0">
                <a:solidFill>
                  <a:prstClr val="black"/>
                </a:solidFill>
              </a:rPr>
              <a:t>)</a:t>
            </a:r>
            <a:endParaRPr lang="ko-KR" altLang="en-US" sz="900" b="1" dirty="0">
              <a:solidFill>
                <a:prstClr val="black"/>
              </a:solidFill>
            </a:endParaRPr>
          </a:p>
        </p:txBody>
      </p:sp>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1011023"/>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9733373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47513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724620"/>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656446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89757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77A43EB0-0DB9-E1A9-0EE9-FF4FB85FBB44}"/>
              </a:ext>
            </a:extLst>
          </p:cNvPr>
          <p:cNvSpPr txBox="1"/>
          <p:nvPr/>
        </p:nvSpPr>
        <p:spPr>
          <a:xfrm>
            <a:off x="458117" y="3031963"/>
            <a:ext cx="2320113"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입찰품목 데이터 영역 </a:t>
            </a:r>
            <a:r>
              <a:rPr lang="en-US" altLang="ko-KR" sz="900" b="1" dirty="0">
                <a:solidFill>
                  <a:prstClr val="black"/>
                </a:solidFill>
              </a:rPr>
              <a:t>(</a:t>
            </a:r>
            <a:r>
              <a:rPr lang="en-US" altLang="ko-KR" sz="900" b="1" dirty="0" err="1">
                <a:solidFill>
                  <a:prstClr val="black"/>
                </a:solidFill>
              </a:rPr>
              <a:t>dl_bidItemList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13C4C691-0B38-4FC7-986A-B945290E7AF3}"/>
              </a:ext>
            </a:extLst>
          </p:cNvPr>
          <p:cNvGraphicFramePr>
            <a:graphicFrameLocks noGrp="1"/>
          </p:cNvGraphicFramePr>
          <p:nvPr/>
        </p:nvGraphicFramePr>
        <p:xfrm>
          <a:off x="452999" y="3243166"/>
          <a:ext cx="8994883" cy="2908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842549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863824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0075114"/>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unitNm</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(UI)</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8539555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8202295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164277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화페단위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(FCUC)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5197172"/>
                  </a:ext>
                </a:extLst>
              </a:tr>
              <a:tr h="0">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3432952"/>
                  </a:ext>
                </a:extLst>
              </a:tr>
              <a:tr h="0">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02724028"/>
                  </a:ext>
                </a:extLst>
              </a:tr>
              <a:tr h="0">
                <a:tc>
                  <a:txBody>
                    <a:bodyPr/>
                    <a:lstStyle/>
                    <a:p>
                      <a:pPr algn="l" fontAlgn="ctr"/>
                      <a:r>
                        <a:rPr lang="ko-KR" altLang="en-US" sz="800" b="0" i="0" u="none" strike="noStrike">
                          <a:solidFill>
                            <a:srgbClr val="000000"/>
                          </a:solidFill>
                          <a:effectLst/>
                          <a:latin typeface="+mn-ea"/>
                          <a:ea typeface="+mn-ea"/>
                        </a:rPr>
                        <a:t>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1855840"/>
                  </a:ext>
                </a:extLst>
              </a:tr>
              <a:tr h="0">
                <a:tc>
                  <a:txBody>
                    <a:bodyPr/>
                    <a:lstStyle/>
                    <a:p>
                      <a:pPr algn="l" fontAlgn="ctr"/>
                      <a:r>
                        <a:rPr lang="ko-KR" altLang="en-US" sz="800" b="0" i="0" u="none" strike="noStrike" dirty="0">
                          <a:solidFill>
                            <a:srgbClr val="000000"/>
                          </a:solidFill>
                          <a:effectLst/>
                          <a:latin typeface="+mn-ea"/>
                          <a:ea typeface="+mn-ea"/>
                        </a:rPr>
                        <a:t>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30778678"/>
                  </a:ext>
                </a:extLst>
              </a:tr>
              <a:tr h="0">
                <a:tc>
                  <a:txBody>
                    <a:bodyPr/>
                    <a:lstStyle/>
                    <a:p>
                      <a:pPr algn="l" fontAlgn="ctr"/>
                      <a:r>
                        <a:rPr lang="ko-KR" altLang="en-US" sz="800" b="0" i="0" u="none" strike="noStrike" dirty="0">
                          <a:solidFill>
                            <a:srgbClr val="000000"/>
                          </a:solidFill>
                          <a:effectLst/>
                          <a:latin typeface="+mn-ea"/>
                          <a:ea typeface="+mn-ea"/>
                        </a:rPr>
                        <a:t>견적단가</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estmtUntprc</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견적단가</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mn-ea"/>
                        </a:rPr>
                        <a:t>25</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227699"/>
                  </a:ext>
                </a:extLst>
              </a:tr>
              <a:tr h="0">
                <a:tc>
                  <a:txBody>
                    <a:bodyPr/>
                    <a:lstStyle/>
                    <a:p>
                      <a:pPr algn="l" fontAlgn="ctr"/>
                      <a:r>
                        <a:rPr lang="ko-KR" altLang="en-US" sz="800" b="0" i="0" u="none" strike="noStrike" dirty="0">
                          <a:solidFill>
                            <a:srgbClr val="000000"/>
                          </a:solidFill>
                          <a:effectLst/>
                          <a:latin typeface="+mn-ea"/>
                          <a:ea typeface="+mn-ea"/>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estmtAmt</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mn-ea"/>
                        </a:rPr>
                        <a:t>25</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3489438"/>
                  </a:ext>
                </a:extLst>
              </a:tr>
            </a:tbl>
          </a:graphicData>
        </a:graphic>
      </p:graphicFrame>
    </p:spTree>
    <p:extLst>
      <p:ext uri="{BB962C8B-B14F-4D97-AF65-F5344CB8AC3E}">
        <p14:creationId xmlns:p14="http://schemas.microsoft.com/office/powerpoint/2010/main" val="3770085522"/>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425</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26525"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입찰업체 데이터 영역 </a:t>
            </a:r>
            <a:r>
              <a:rPr lang="en-US" altLang="ko-KR" sz="900" b="1" dirty="0">
                <a:solidFill>
                  <a:prstClr val="black"/>
                </a:solidFill>
              </a:rPr>
              <a:t>(</a:t>
            </a:r>
            <a:r>
              <a:rPr lang="en-US" altLang="ko-KR" sz="900" b="1" dirty="0" err="1">
                <a:solidFill>
                  <a:prstClr val="black"/>
                </a:solidFill>
              </a:rPr>
              <a:t>dm_bidBzenty</a:t>
            </a:r>
            <a:r>
              <a:rPr lang="en-US" altLang="ko-KR" sz="900" b="1" dirty="0">
                <a:solidFill>
                  <a:prstClr val="black"/>
                </a:solidFill>
              </a:rPr>
              <a:t>)</a:t>
            </a:r>
            <a:endParaRPr lang="ko-KR" altLang="en-US" sz="900" b="1" dirty="0">
              <a:solidFill>
                <a:prstClr val="black"/>
              </a:solidFill>
            </a:endParaRPr>
          </a:p>
        </p:txBody>
      </p:sp>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1011023"/>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9733373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47513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724620"/>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6564468"/>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89757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77A43EB0-0DB9-E1A9-0EE9-FF4FB85FBB44}"/>
              </a:ext>
            </a:extLst>
          </p:cNvPr>
          <p:cNvSpPr txBox="1"/>
          <p:nvPr/>
        </p:nvSpPr>
        <p:spPr>
          <a:xfrm>
            <a:off x="458117" y="3031963"/>
            <a:ext cx="2393851"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입찰품목 데이터 영역 </a:t>
            </a:r>
            <a:r>
              <a:rPr lang="en-US" altLang="ko-KR" sz="900" b="1" dirty="0">
                <a:solidFill>
                  <a:prstClr val="black"/>
                </a:solidFill>
              </a:rPr>
              <a:t>(</a:t>
            </a:r>
            <a:r>
              <a:rPr lang="en-US" altLang="ko-KR" sz="900" b="1" dirty="0" err="1">
                <a:solidFill>
                  <a:prstClr val="black"/>
                </a:solidFill>
              </a:rPr>
              <a:t>dl_bidItemList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13C4C691-0B38-4FC7-986A-B945290E7AF3}"/>
              </a:ext>
            </a:extLst>
          </p:cNvPr>
          <p:cNvGraphicFramePr>
            <a:graphicFrameLocks noGrp="1"/>
          </p:cNvGraphicFramePr>
          <p:nvPr/>
        </p:nvGraphicFramePr>
        <p:xfrm>
          <a:off x="452999" y="3243166"/>
          <a:ext cx="8994883" cy="2908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842549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863824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0075114"/>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(UI)</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8539555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8202295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164277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화페단위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b="0" i="0" u="none" strike="noStrike" kern="1200" dirty="0">
                          <a:solidFill>
                            <a:srgbClr val="000000"/>
                          </a:solidFill>
                          <a:effectLst/>
                          <a:latin typeface="+mn-ea"/>
                          <a:ea typeface="+mn-ea"/>
                          <a:cs typeface="+mn-cs"/>
                        </a:rPr>
                        <a:t>상위코드</a:t>
                      </a:r>
                      <a:r>
                        <a:rPr lang="en-US" altLang="ko-KR" sz="800" b="0" i="0" u="none" strike="noStrike" kern="1200" dirty="0">
                          <a:solidFill>
                            <a:srgbClr val="000000"/>
                          </a:solidFill>
                          <a:effectLst/>
                          <a:latin typeface="+mn-ea"/>
                          <a:ea typeface="+mn-ea"/>
                          <a:cs typeface="+mn-cs"/>
                        </a:rPr>
                        <a:t>(FCUC)</a:t>
                      </a:r>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5197172"/>
                  </a:ext>
                </a:extLst>
              </a:tr>
              <a:tr h="0">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b="0" i="0" u="none" strike="noStrike" kern="1200" dirty="0">
                          <a:solidFill>
                            <a:srgbClr val="000000"/>
                          </a:solidFill>
                          <a:effectLst/>
                          <a:latin typeface="+mn-ea"/>
                          <a:ea typeface="+mn-ea"/>
                          <a:cs typeface="+mn-cs"/>
                        </a:rPr>
                        <a:t>As it is/Replace</a:t>
                      </a:r>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3432952"/>
                  </a:ext>
                </a:extLst>
              </a:tr>
              <a:tr h="0">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1855840"/>
                  </a:ext>
                </a:extLst>
              </a:tr>
              <a:tr h="0">
                <a:tc>
                  <a:txBody>
                    <a:bodyPr/>
                    <a:lstStyle/>
                    <a:p>
                      <a:pPr algn="l" fontAlgn="ctr"/>
                      <a:r>
                        <a:rPr lang="ko-KR" altLang="en-US" sz="800" b="0" i="0" u="none" strike="noStrike">
                          <a:solidFill>
                            <a:srgbClr val="000000"/>
                          </a:solidFill>
                          <a:effectLst/>
                          <a:latin typeface="+mn-ea"/>
                          <a:ea typeface="+mn-ea"/>
                        </a:rPr>
                        <a:t>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30778678"/>
                  </a:ext>
                </a:extLst>
              </a:tr>
              <a:tr h="0">
                <a:tc>
                  <a:txBody>
                    <a:bodyPr/>
                    <a:lstStyle/>
                    <a:p>
                      <a:pPr algn="l" fontAlgn="ctr"/>
                      <a:r>
                        <a:rPr lang="ko-KR" altLang="en-US" sz="800" b="0" i="0" u="none" strike="noStrike" dirty="0">
                          <a:solidFill>
                            <a:srgbClr val="000000"/>
                          </a:solidFill>
                          <a:effectLst/>
                          <a:latin typeface="+mn-ea"/>
                          <a:ea typeface="+mn-ea"/>
                        </a:rPr>
                        <a:t>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3920382"/>
                  </a:ext>
                </a:extLst>
              </a:tr>
              <a:tr h="0">
                <a:tc>
                  <a:txBody>
                    <a:bodyPr/>
                    <a:lstStyle/>
                    <a:p>
                      <a:pPr algn="l" fontAlgn="ctr"/>
                      <a:r>
                        <a:rPr lang="ko-KR" altLang="en-US" sz="800" b="0" i="0" u="none" strike="noStrike" dirty="0">
                          <a:solidFill>
                            <a:srgbClr val="000000"/>
                          </a:solidFill>
                          <a:effectLst/>
                          <a:latin typeface="+mn-ea"/>
                          <a:ea typeface="+mn-ea"/>
                        </a:rPr>
                        <a:t>견적단가</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estmtUntprc</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견적단가</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mn-ea"/>
                        </a:rPr>
                        <a:t>25</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6506492"/>
                  </a:ext>
                </a:extLst>
              </a:tr>
              <a:tr h="0">
                <a:tc>
                  <a:txBody>
                    <a:bodyPr/>
                    <a:lstStyle/>
                    <a:p>
                      <a:pPr algn="l" fontAlgn="ctr"/>
                      <a:r>
                        <a:rPr lang="ko-KR" altLang="en-US" sz="800" b="0" i="0" u="none" strike="noStrike" dirty="0">
                          <a:solidFill>
                            <a:srgbClr val="000000"/>
                          </a:solidFill>
                          <a:effectLst/>
                          <a:latin typeface="+mn-ea"/>
                          <a:ea typeface="+mn-ea"/>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estmtAmt</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mn-ea"/>
                        </a:rPr>
                        <a:t>25</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9365215"/>
                  </a:ext>
                </a:extLst>
              </a:tr>
            </a:tbl>
          </a:graphicData>
        </a:graphic>
      </p:graphicFrame>
    </p:spTree>
    <p:extLst>
      <p:ext uri="{BB962C8B-B14F-4D97-AF65-F5344CB8AC3E}">
        <p14:creationId xmlns:p14="http://schemas.microsoft.com/office/powerpoint/2010/main" val="1363979119"/>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426</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4C011E71-56E8-0410-125E-29CDFA4E3108}"/>
              </a:ext>
            </a:extLst>
          </p:cNvPr>
          <p:cNvSpPr txBox="1"/>
          <p:nvPr/>
        </p:nvSpPr>
        <p:spPr>
          <a:xfrm>
            <a:off x="458117" y="791868"/>
            <a:ext cx="2094090"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첨부파일 데이터 영역 </a:t>
            </a:r>
            <a:r>
              <a:rPr lang="en-US" altLang="ko-KR" sz="900" b="1" dirty="0">
                <a:solidFill>
                  <a:prstClr val="black"/>
                </a:solidFill>
              </a:rPr>
              <a:t>(</a:t>
            </a:r>
            <a:r>
              <a:rPr lang="en-US" altLang="ko-KR" sz="900" b="1" dirty="0" err="1">
                <a:solidFill>
                  <a:prstClr val="black"/>
                </a:solidFill>
              </a:rPr>
              <a:t>dl_docList</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6D406058-FA67-CF0F-0967-F6F181BADC3B}"/>
              </a:ext>
            </a:extLst>
          </p:cNvPr>
          <p:cNvGraphicFramePr>
            <a:graphicFrameLocks noGrp="1"/>
          </p:cNvGraphicFramePr>
          <p:nvPr/>
        </p:nvGraphicFramePr>
        <p:xfrm>
          <a:off x="452999" y="1001040"/>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제출해야할</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제출한 첨부서류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제출한 첨부서류 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241700916"/>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62D13A0E-00F3-6F78-B391-CC7201CC1270}"/>
              </a:ext>
            </a:extLst>
          </p:cNvPr>
          <p:cNvSpPr>
            <a:spLocks noGrp="1"/>
          </p:cNvSpPr>
          <p:nvPr>
            <p:ph type="sldNum" sz="quarter" idx="4"/>
          </p:nvPr>
        </p:nvSpPr>
        <p:spPr/>
        <p:txBody>
          <a:bodyPr/>
          <a:lstStyle/>
          <a:p>
            <a:fld id="{34C8E023-7346-48FC-AB24-9A3388C53208}" type="slidenum">
              <a:rPr lang="ko-KR" altLang="en-US" smtClean="0"/>
              <a:pPr/>
              <a:t>427</a:t>
            </a:fld>
            <a:endParaRPr lang="ko-KR" altLang="en-US" dirty="0"/>
          </a:p>
        </p:txBody>
      </p:sp>
      <p:sp>
        <p:nvSpPr>
          <p:cNvPr id="3" name="TextBox 2">
            <a:extLst>
              <a:ext uri="{FF2B5EF4-FFF2-40B4-BE49-F238E27FC236}">
                <a16:creationId xmlns:a16="http://schemas.microsoft.com/office/drawing/2014/main" id="{7FEF0C39-651E-4D6E-7071-76558B4D5BC5}"/>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5BBD4846-8DF2-C10D-46E8-6FDBA8FE9212}"/>
              </a:ext>
            </a:extLst>
          </p:cNvPr>
          <p:cNvGraphicFramePr>
            <a:graphicFrameLocks noGrp="1"/>
          </p:cNvGraphicFramePr>
          <p:nvPr>
            <p:extLst>
              <p:ext uri="{D42A27DB-BD31-4B8C-83A1-F6EECF244321}">
                <p14:modId xmlns:p14="http://schemas.microsoft.com/office/powerpoint/2010/main" val="1157832990"/>
              </p:ext>
            </p:extLst>
          </p:nvPr>
        </p:nvGraphicFramePr>
        <p:xfrm>
          <a:off x="458117" y="799547"/>
          <a:ext cx="8995591" cy="133536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scwin.onpageload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공고정보 조회 및 입찰업체 목록 조회</a:t>
                      </a:r>
                      <a:r>
                        <a:rPr lang="en-US" altLang="ko-KR" sz="800" dirty="0">
                          <a:latin typeface="+mn-ea"/>
                          <a:ea typeface="+mn-ea"/>
                        </a:rPr>
                        <a:t>, </a:t>
                      </a:r>
                      <a:r>
                        <a:rPr lang="ko-KR" altLang="en-US" sz="800" dirty="0">
                          <a:latin typeface="+mn-ea"/>
                          <a:ea typeface="+mn-ea"/>
                        </a:rPr>
                        <a:t>화폐단위 목록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입찰업체 변경</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scwin.sbx_bzentyCd_onchange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입찰업체 업체코드 변경 시</a:t>
                      </a:r>
                      <a:r>
                        <a:rPr lang="en-US" altLang="ko-KR" sz="800" dirty="0">
                          <a:latin typeface="+mn-ea"/>
                          <a:ea typeface="+mn-ea"/>
                        </a:rPr>
                        <a:t>, </a:t>
                      </a:r>
                      <a:r>
                        <a:rPr lang="ko-KR" altLang="en-US" sz="800" dirty="0">
                          <a:latin typeface="+mn-ea"/>
                          <a:ea typeface="+mn-ea"/>
                        </a:rPr>
                        <a:t>입찰업체 영역에 업체 상세정보를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41177219"/>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견적단가 변경</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scwin.ibx_estmtUntprc_onchange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견적단가 변경 시</a:t>
                      </a:r>
                      <a:r>
                        <a:rPr lang="en-US" altLang="ko-KR" sz="800" dirty="0">
                          <a:latin typeface="+mn-ea"/>
                          <a:ea typeface="+mn-ea"/>
                        </a:rPr>
                        <a:t>, </a:t>
                      </a:r>
                      <a:r>
                        <a:rPr lang="ko-KR" altLang="en-US" sz="800" dirty="0">
                          <a:latin typeface="+mn-ea"/>
                          <a:ea typeface="+mn-ea"/>
                        </a:rPr>
                        <a:t>견적금액 계산하여 표시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92686537"/>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scwin.btn_sbmsn_onclick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작성한 견적서 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6757591"/>
                  </a:ext>
                </a:extLst>
              </a:tr>
            </a:tbl>
          </a:graphicData>
        </a:graphic>
      </p:graphicFrame>
      <p:sp>
        <p:nvSpPr>
          <p:cNvPr id="5" name="Text Box 73">
            <a:extLst>
              <a:ext uri="{FF2B5EF4-FFF2-40B4-BE49-F238E27FC236}">
                <a16:creationId xmlns:a16="http://schemas.microsoft.com/office/drawing/2014/main" id="{56F8988B-B064-FFF2-E74D-5B7A52792477}"/>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302149899"/>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428</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err="1">
                <a:latin typeface="+mn-ea"/>
              </a:rPr>
              <a:t>공개수의협상견적서상세</a:t>
            </a:r>
            <a:r>
              <a:rPr lang="en-US" altLang="ko-KR" dirty="0">
                <a:latin typeface="+mn-ea"/>
              </a:rPr>
              <a:t> - </a:t>
            </a:r>
            <a:r>
              <a:rPr lang="ko-KR" altLang="en-US" dirty="0">
                <a:latin typeface="+mn-ea"/>
              </a:rPr>
              <a:t>일반정보</a:t>
            </a:r>
            <a:endParaRPr lang="en-US" altLang="ko-KR"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공개수의협상견적서상세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MUI-BD-12-M78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3" name="TextBox 132">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입찰서 제출</a:t>
            </a:r>
          </a:p>
        </p:txBody>
      </p:sp>
      <p:cxnSp>
        <p:nvCxnSpPr>
          <p:cNvPr id="148" name="직선 연결선 147">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49" name="그룹 148"/>
          <p:cNvGrpSpPr/>
          <p:nvPr/>
        </p:nvGrpSpPr>
        <p:grpSpPr>
          <a:xfrm rot="5400000">
            <a:off x="755013" y="1640499"/>
            <a:ext cx="94010" cy="47005"/>
            <a:chOff x="6812560" y="3297172"/>
            <a:chExt cx="94010" cy="47005"/>
          </a:xfrm>
        </p:grpSpPr>
        <p:cxnSp>
          <p:nvCxnSpPr>
            <p:cNvPr id="150" name="직선 연결선 1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3" name="직선 연결선 15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4" name="타원 153"/>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254614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 name="그룹 8"/>
          <p:cNvGrpSpPr/>
          <p:nvPr/>
        </p:nvGrpSpPr>
        <p:grpSpPr>
          <a:xfrm>
            <a:off x="675399" y="2834874"/>
            <a:ext cx="2712027" cy="334927"/>
            <a:chOff x="675399" y="3560135"/>
            <a:chExt cx="2712027" cy="334927"/>
          </a:xfrm>
        </p:grpSpPr>
        <p:cxnSp>
          <p:nvCxnSpPr>
            <p:cNvPr id="223" name="직선 연결선 222">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24" name="TextBox 223">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26" name="TextBox 225">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입찰참여품목</a:t>
              </a:r>
            </a:p>
          </p:txBody>
        </p:sp>
        <p:sp>
          <p:nvSpPr>
            <p:cNvPr id="227" name="TextBox 226">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229" name="직선 연결선 228">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0" name="그룹 229"/>
            <p:cNvGrpSpPr/>
            <p:nvPr/>
          </p:nvGrpSpPr>
          <p:grpSpPr>
            <a:xfrm>
              <a:off x="2924086" y="3640332"/>
              <a:ext cx="422853" cy="187961"/>
              <a:chOff x="3641308" y="2234886"/>
              <a:chExt cx="422853" cy="187961"/>
            </a:xfrm>
          </p:grpSpPr>
          <p:sp>
            <p:nvSpPr>
              <p:cNvPr id="231" name="타원 23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2" name="그룹 231"/>
              <p:cNvGrpSpPr/>
              <p:nvPr/>
            </p:nvGrpSpPr>
            <p:grpSpPr>
              <a:xfrm rot="5400000" flipH="1">
                <a:off x="3679895" y="2305364"/>
                <a:ext cx="94010" cy="47005"/>
                <a:chOff x="6812560" y="3297172"/>
                <a:chExt cx="94010" cy="47005"/>
              </a:xfrm>
            </p:grpSpPr>
            <p:cxnSp>
              <p:nvCxnSpPr>
                <p:cNvPr id="237" name="직선 연결선 23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8" name="직선 연결선 23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3" name="타원 23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4" name="그룹 233"/>
              <p:cNvGrpSpPr/>
              <p:nvPr/>
            </p:nvGrpSpPr>
            <p:grpSpPr>
              <a:xfrm rot="16200000">
                <a:off x="3931564" y="2305364"/>
                <a:ext cx="94010" cy="47005"/>
                <a:chOff x="6812560" y="3297172"/>
                <a:chExt cx="94010" cy="47005"/>
              </a:xfrm>
            </p:grpSpPr>
            <p:cxnSp>
              <p:nvCxnSpPr>
                <p:cNvPr id="235" name="직선 연결선 23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36" name="직선 연결선 23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40" name="그룹 239"/>
          <p:cNvGrpSpPr/>
          <p:nvPr/>
        </p:nvGrpSpPr>
        <p:grpSpPr>
          <a:xfrm>
            <a:off x="675399" y="1936620"/>
            <a:ext cx="2712027" cy="508898"/>
            <a:chOff x="3795734" y="1602341"/>
            <a:chExt cx="2712027" cy="508898"/>
          </a:xfrm>
        </p:grpSpPr>
        <p:sp>
          <p:nvSpPr>
            <p:cNvPr id="241"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BAD83990EFD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EFD0007-2</a:t>
              </a:r>
              <a:endParaRPr lang="en-US" altLang="ko-KR" sz="700" dirty="0"/>
            </a:p>
            <a:p>
              <a:r>
                <a:rPr lang="en-US" altLang="ko-KR" sz="900" b="1" dirty="0"/>
                <a:t>500MD</a:t>
              </a:r>
              <a:r>
                <a:rPr lang="ko-KR" altLang="en-US" sz="900" b="1" dirty="0"/>
                <a:t>부품</a:t>
              </a:r>
            </a:p>
          </p:txBody>
        </p:sp>
        <p:sp>
          <p:nvSpPr>
            <p:cNvPr id="242" name="모서리가 둥근 직사각형 241"/>
            <p:cNvSpPr/>
            <p:nvPr/>
          </p:nvSpPr>
          <p:spPr>
            <a:xfrm>
              <a:off x="3884993" y="1602341"/>
              <a:ext cx="243478"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solidFill>
                    <a:schemeClr val="dk1"/>
                  </a:solidFill>
                </a:rPr>
                <a:t>국외</a:t>
              </a:r>
            </a:p>
          </p:txBody>
        </p:sp>
        <p:sp>
          <p:nvSpPr>
            <p:cNvPr id="243" name="모서리가 둥근 직사각형 242"/>
            <p:cNvSpPr/>
            <p:nvPr/>
          </p:nvSpPr>
          <p:spPr>
            <a:xfrm>
              <a:off x="4179187" y="1602341"/>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수의계약</a:t>
              </a:r>
            </a:p>
          </p:txBody>
        </p:sp>
        <p:cxnSp>
          <p:nvCxnSpPr>
            <p:cNvPr id="244" name="직선 연결선 243">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317" name="TextBox 316">
            <a:extLst>
              <a:ext uri="{FF2B5EF4-FFF2-40B4-BE49-F238E27FC236}">
                <a16:creationId xmlns:a16="http://schemas.microsoft.com/office/drawing/2014/main" id="{FFC49AEA-2A8F-250C-A86A-A7751D9706C3}"/>
              </a:ext>
            </a:extLst>
          </p:cNvPr>
          <p:cNvSpPr txBox="1"/>
          <p:nvPr/>
        </p:nvSpPr>
        <p:spPr>
          <a:xfrm>
            <a:off x="1019814" y="2526822"/>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공지사항</a:t>
            </a:r>
          </a:p>
        </p:txBody>
      </p:sp>
      <p:sp>
        <p:nvSpPr>
          <p:cNvPr id="318" name="타원 317"/>
          <p:cNvSpPr/>
          <p:nvPr/>
        </p:nvSpPr>
        <p:spPr>
          <a:xfrm>
            <a:off x="783686" y="255816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19" name="그룹 318"/>
          <p:cNvGrpSpPr/>
          <p:nvPr/>
        </p:nvGrpSpPr>
        <p:grpSpPr>
          <a:xfrm>
            <a:off x="3143548" y="2640153"/>
            <a:ext cx="94010" cy="47005"/>
            <a:chOff x="6812560" y="3297172"/>
            <a:chExt cx="94010" cy="47005"/>
          </a:xfrm>
        </p:grpSpPr>
        <p:cxnSp>
          <p:nvCxnSpPr>
            <p:cNvPr id="321" name="직선 연결선 32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2" name="직선 연결선 32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324" name="타원 323">
            <a:extLst>
              <a:ext uri="{FF2B5EF4-FFF2-40B4-BE49-F238E27FC236}">
                <a16:creationId xmlns:a16="http://schemas.microsoft.com/office/drawing/2014/main" id="{37A7FF4F-0EAA-1463-560A-D5EC24416103}"/>
              </a:ext>
            </a:extLst>
          </p:cNvPr>
          <p:cNvSpPr/>
          <p:nvPr/>
        </p:nvSpPr>
        <p:spPr>
          <a:xfrm>
            <a:off x="571127" y="363686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326" name="타원 325">
            <a:extLst>
              <a:ext uri="{FF2B5EF4-FFF2-40B4-BE49-F238E27FC236}">
                <a16:creationId xmlns:a16="http://schemas.microsoft.com/office/drawing/2014/main" id="{37A7FF4F-0EAA-1463-560A-D5EC24416103}"/>
              </a:ext>
            </a:extLst>
          </p:cNvPr>
          <p:cNvSpPr/>
          <p:nvPr/>
        </p:nvSpPr>
        <p:spPr>
          <a:xfrm>
            <a:off x="571127" y="399804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151" name="모서리가 둥근 직사각형 150"/>
          <p:cNvSpPr/>
          <p:nvPr/>
        </p:nvSpPr>
        <p:spPr>
          <a:xfrm rot="5400000">
            <a:off x="2662242" y="2747373"/>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52" name="모서리가 둥근 직사각형 151"/>
          <p:cNvSpPr/>
          <p:nvPr/>
        </p:nvSpPr>
        <p:spPr>
          <a:xfrm rot="5400000">
            <a:off x="5780626" y="3708804"/>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94" name="그룹 193"/>
          <p:cNvGrpSpPr/>
          <p:nvPr/>
        </p:nvGrpSpPr>
        <p:grpSpPr>
          <a:xfrm>
            <a:off x="3795735" y="1906593"/>
            <a:ext cx="2712026" cy="944800"/>
            <a:chOff x="3795735" y="4570486"/>
            <a:chExt cx="2712026" cy="944800"/>
          </a:xfrm>
        </p:grpSpPr>
        <p:sp>
          <p:nvSpPr>
            <p:cNvPr id="195" name="TextBox 194">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196" name="그룹 195"/>
            <p:cNvGrpSpPr/>
            <p:nvPr/>
          </p:nvGrpSpPr>
          <p:grpSpPr>
            <a:xfrm flipV="1">
              <a:off x="6240167" y="4729163"/>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97" name="TextBox 19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198" name="TextBox 197">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99" name="TextBox 198">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00" name="직선 연결선 199">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01" name="모서리가 둥근 직사각형 200"/>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2" name="TextBox 201">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03" name="TextBox 202">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04" name="TextBox 203">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05" name="직선 연결선 204">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40" name="그룹 139"/>
          <p:cNvGrpSpPr/>
          <p:nvPr/>
        </p:nvGrpSpPr>
        <p:grpSpPr>
          <a:xfrm>
            <a:off x="3795734" y="1497766"/>
            <a:ext cx="2712027" cy="334927"/>
            <a:chOff x="675399" y="3560135"/>
            <a:chExt cx="2712027" cy="334927"/>
          </a:xfrm>
        </p:grpSpPr>
        <p:cxnSp>
          <p:nvCxnSpPr>
            <p:cNvPr id="141" name="직선 연결선 140">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143" name="TextBox 142">
              <a:extLst>
                <a:ext uri="{FF2B5EF4-FFF2-40B4-BE49-F238E27FC236}">
                  <a16:creationId xmlns:a16="http://schemas.microsoft.com/office/drawing/2014/main" id="{FFC49AEA-2A8F-250C-A86A-A7751D9706C3}"/>
                </a:ext>
              </a:extLst>
            </p:cNvPr>
            <p:cNvSpPr txBox="1"/>
            <p:nvPr/>
          </p:nvSpPr>
          <p:spPr>
            <a:xfrm>
              <a:off x="1378047" y="3678455"/>
              <a:ext cx="647376"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입찰참여품목</a:t>
              </a:r>
            </a:p>
          </p:txBody>
        </p:sp>
        <p:sp>
          <p:nvSpPr>
            <p:cNvPr id="144" name="TextBox 143">
              <a:extLst>
                <a:ext uri="{FF2B5EF4-FFF2-40B4-BE49-F238E27FC236}">
                  <a16:creationId xmlns:a16="http://schemas.microsoft.com/office/drawing/2014/main" id="{FFC49AEA-2A8F-250C-A86A-A7751D9706C3}"/>
                </a:ext>
              </a:extLst>
            </p:cNvPr>
            <p:cNvSpPr txBox="1"/>
            <p:nvPr/>
          </p:nvSpPr>
          <p:spPr>
            <a:xfrm>
              <a:off x="2169750" y="3678455"/>
              <a:ext cx="616482" cy="107722"/>
            </a:xfrm>
            <a:prstGeom prst="rect">
              <a:avLst/>
            </a:prstGeom>
            <a:noFill/>
          </p:spPr>
          <p:txBody>
            <a:bodyPr wrap="square" lIns="0" tIns="0" rIns="0" bIns="0" rtlCol="0">
              <a:spAutoFit/>
            </a:bodyPr>
            <a:lstStyle/>
            <a:p>
              <a:pPr algn="ctr"/>
              <a:r>
                <a:rPr lang="en-US" altLang="ko-KR" sz="700" dirty="0">
                  <a:latin typeface="+mn-ea"/>
                </a:rPr>
                <a:t>3. </a:t>
              </a:r>
              <a:r>
                <a:rPr lang="ko-KR" altLang="en-US" sz="700" dirty="0">
                  <a:latin typeface="+mn-ea"/>
                </a:rPr>
                <a:t>첨부파일</a:t>
              </a:r>
            </a:p>
          </p:txBody>
        </p:sp>
        <p:cxnSp>
          <p:nvCxnSpPr>
            <p:cNvPr id="145" name="직선 연결선 144">
              <a:extLst>
                <a:ext uri="{FF2B5EF4-FFF2-40B4-BE49-F238E27FC236}">
                  <a16:creationId xmlns:a16="http://schemas.microsoft.com/office/drawing/2014/main" id="{E9293055-D5CD-4B9E-7F64-64B2D2CA7A52}"/>
                </a:ext>
              </a:extLst>
            </p:cNvPr>
            <p:cNvCxnSpPr/>
            <p:nvPr/>
          </p:nvCxnSpPr>
          <p:spPr>
            <a:xfrm>
              <a:off x="720490"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46" name="그룹 145"/>
            <p:cNvGrpSpPr/>
            <p:nvPr/>
          </p:nvGrpSpPr>
          <p:grpSpPr>
            <a:xfrm>
              <a:off x="2924086" y="3640332"/>
              <a:ext cx="422853" cy="187961"/>
              <a:chOff x="3641308" y="2234886"/>
              <a:chExt cx="422853" cy="187961"/>
            </a:xfrm>
          </p:grpSpPr>
          <p:sp>
            <p:nvSpPr>
              <p:cNvPr id="164" name="타원 16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1" name="그룹 180"/>
              <p:cNvGrpSpPr/>
              <p:nvPr/>
            </p:nvGrpSpPr>
            <p:grpSpPr>
              <a:xfrm rot="5400000" flipH="1">
                <a:off x="3679895" y="2305364"/>
                <a:ext cx="94010" cy="47005"/>
                <a:chOff x="6812560" y="3297172"/>
                <a:chExt cx="94010" cy="47005"/>
              </a:xfrm>
            </p:grpSpPr>
            <p:cxnSp>
              <p:nvCxnSpPr>
                <p:cNvPr id="186" name="직선 연결선 18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7" name="직선 연결선 18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82" name="타원 18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83" name="그룹 182"/>
              <p:cNvGrpSpPr/>
              <p:nvPr/>
            </p:nvGrpSpPr>
            <p:grpSpPr>
              <a:xfrm rot="16200000">
                <a:off x="3931564" y="2305364"/>
                <a:ext cx="94010" cy="47005"/>
                <a:chOff x="6812560" y="3297172"/>
                <a:chExt cx="94010" cy="47005"/>
              </a:xfrm>
            </p:grpSpPr>
            <p:cxnSp>
              <p:nvCxnSpPr>
                <p:cNvPr id="184" name="직선 연결선 18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5" name="직선 연결선 18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47" name="직선 연결선 146">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55" name="그룹 154"/>
          <p:cNvGrpSpPr/>
          <p:nvPr/>
        </p:nvGrpSpPr>
        <p:grpSpPr>
          <a:xfrm>
            <a:off x="720490" y="3231951"/>
            <a:ext cx="2660475" cy="2281943"/>
            <a:chOff x="720490" y="3803374"/>
            <a:chExt cx="2660475" cy="2281943"/>
          </a:xfrm>
        </p:grpSpPr>
        <p:sp>
          <p:nvSpPr>
            <p:cNvPr id="156" name="TextBox 155">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43548" y="3916705"/>
              <a:ext cx="94010" cy="47005"/>
              <a:chOff x="6812560" y="3297172"/>
              <a:chExt cx="94010" cy="47005"/>
            </a:xfrm>
          </p:grpSpPr>
          <p:cxnSp>
            <p:nvCxnSpPr>
              <p:cNvPr id="174" name="직선 연결선 17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5" name="직선 연결선 17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58" name="직사각형 157"/>
            <p:cNvSpPr/>
            <p:nvPr/>
          </p:nvSpPr>
          <p:spPr>
            <a:xfrm>
              <a:off x="722583" y="4110859"/>
              <a:ext cx="792000" cy="197445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59" name="직선 연결선 158">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0" name="TextBox 159">
              <a:extLst>
                <a:ext uri="{FF2B5EF4-FFF2-40B4-BE49-F238E27FC236}">
                  <a16:creationId xmlns:a16="http://schemas.microsoft.com/office/drawing/2014/main" id="{FFC49AEA-2A8F-250C-A86A-A7751D9706C3}"/>
                </a:ext>
              </a:extLst>
            </p:cNvPr>
            <p:cNvSpPr txBox="1"/>
            <p:nvPr/>
          </p:nvSpPr>
          <p:spPr>
            <a:xfrm>
              <a:off x="809647" y="4110859"/>
              <a:ext cx="764551" cy="193899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en-US" altLang="ko-KR" sz="700" dirty="0">
                  <a:latin typeface="+mn-ea"/>
                </a:rPr>
                <a:t>⁞</a:t>
              </a:r>
            </a:p>
          </p:txBody>
        </p:sp>
        <p:sp>
          <p:nvSpPr>
            <p:cNvPr id="162" name="TextBox 161">
              <a:extLst>
                <a:ext uri="{FF2B5EF4-FFF2-40B4-BE49-F238E27FC236}">
                  <a16:creationId xmlns:a16="http://schemas.microsoft.com/office/drawing/2014/main" id="{FFC49AEA-2A8F-250C-A86A-A7751D9706C3}"/>
                </a:ext>
              </a:extLst>
            </p:cNvPr>
            <p:cNvSpPr txBox="1"/>
            <p:nvPr/>
          </p:nvSpPr>
          <p:spPr>
            <a:xfrm>
              <a:off x="1566495" y="4110859"/>
              <a:ext cx="1814470" cy="193899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2610542257"/>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429</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r>
              <a:rPr lang="ko-KR" altLang="en-US" dirty="0" err="1">
                <a:latin typeface="+mn-ea"/>
              </a:rPr>
              <a:t>공개수의협상견적서상세</a:t>
            </a:r>
            <a:r>
              <a:rPr lang="en-US" altLang="ko-KR" dirty="0">
                <a:latin typeface="+mn-ea"/>
              </a:rPr>
              <a:t> - </a:t>
            </a:r>
            <a:r>
              <a:rPr lang="ko-KR" altLang="en-US" dirty="0">
                <a:latin typeface="+mn-ea"/>
              </a:rPr>
              <a:t>일반정보</a:t>
            </a:r>
            <a:endParaRPr lang="en-US" altLang="ko-KR"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공개수의협상견적서상세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MUI-BD-12-M78</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195325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63" name="그룹 262"/>
          <p:cNvGrpSpPr/>
          <p:nvPr/>
        </p:nvGrpSpPr>
        <p:grpSpPr>
          <a:xfrm>
            <a:off x="675400" y="1493927"/>
            <a:ext cx="2712027" cy="334927"/>
            <a:chOff x="675399" y="3560135"/>
            <a:chExt cx="2712027" cy="334927"/>
          </a:xfrm>
        </p:grpSpPr>
        <p:cxnSp>
          <p:nvCxnSpPr>
            <p:cNvPr id="264" name="직선 연결선 26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267" name="TextBox 26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743256"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73" name="그룹 272"/>
            <p:cNvGrpSpPr/>
            <p:nvPr/>
          </p:nvGrpSpPr>
          <p:grpSpPr>
            <a:xfrm>
              <a:off x="2924086" y="3640332"/>
              <a:ext cx="422853" cy="187961"/>
              <a:chOff x="3641308" y="2234886"/>
              <a:chExt cx="422853" cy="187961"/>
            </a:xfrm>
          </p:grpSpPr>
          <p:sp>
            <p:nvSpPr>
              <p:cNvPr id="277" name="타원 27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8" name="그룹 277"/>
              <p:cNvGrpSpPr/>
              <p:nvPr/>
            </p:nvGrpSpPr>
            <p:grpSpPr>
              <a:xfrm rot="5400000" flipH="1">
                <a:off x="3679895" y="2305364"/>
                <a:ext cx="94010" cy="47005"/>
                <a:chOff x="6812560" y="3297172"/>
                <a:chExt cx="94010" cy="47005"/>
              </a:xfrm>
            </p:grpSpPr>
            <p:cxnSp>
              <p:nvCxnSpPr>
                <p:cNvPr id="283" name="직선 연결선 2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4" name="직선 연결선 2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9" name="타원 27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0" name="그룹 279"/>
              <p:cNvGrpSpPr/>
              <p:nvPr/>
            </p:nvGrpSpPr>
            <p:grpSpPr>
              <a:xfrm rot="16200000">
                <a:off x="3931564" y="2305364"/>
                <a:ext cx="94010" cy="47005"/>
                <a:chOff x="6812560" y="3297172"/>
                <a:chExt cx="94010" cy="47005"/>
              </a:xfrm>
            </p:grpSpPr>
            <p:cxnSp>
              <p:nvCxnSpPr>
                <p:cNvPr id="281" name="직선 연결선 28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2" name="직선 연결선 28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74" name="직선 연결선 27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94" name="그룹 93"/>
          <p:cNvGrpSpPr/>
          <p:nvPr/>
        </p:nvGrpSpPr>
        <p:grpSpPr>
          <a:xfrm>
            <a:off x="3791609" y="1493927"/>
            <a:ext cx="2712027" cy="334927"/>
            <a:chOff x="675399" y="3560135"/>
            <a:chExt cx="2712027" cy="334927"/>
          </a:xfrm>
        </p:grpSpPr>
        <p:cxnSp>
          <p:nvCxnSpPr>
            <p:cNvPr id="95" name="직선 연결선 94">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TextBox 95">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b="1" dirty="0">
                  <a:latin typeface="+mn-ea"/>
                </a:rPr>
                <a:t>1. </a:t>
              </a:r>
              <a:r>
                <a:rPr lang="ko-KR" altLang="en-US" sz="700" b="1" dirty="0">
                  <a:latin typeface="+mn-ea"/>
                </a:rPr>
                <a:t>일반정보</a:t>
              </a:r>
            </a:p>
          </p:txBody>
        </p:sp>
        <p:sp>
          <p:nvSpPr>
            <p:cNvPr id="97" name="TextBox 96">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98" name="TextBox 97">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749533"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00" name="그룹 99"/>
            <p:cNvGrpSpPr/>
            <p:nvPr/>
          </p:nvGrpSpPr>
          <p:grpSpPr>
            <a:xfrm>
              <a:off x="2924086" y="3640332"/>
              <a:ext cx="422853" cy="187961"/>
              <a:chOff x="3641308" y="2234886"/>
              <a:chExt cx="422853" cy="187961"/>
            </a:xfrm>
          </p:grpSpPr>
          <p:sp>
            <p:nvSpPr>
              <p:cNvPr id="104" name="타원 10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p:cNvGrpSpPr/>
              <p:nvPr/>
            </p:nvGrpSpPr>
            <p:grpSpPr>
              <a:xfrm rot="5400000" flipH="1">
                <a:off x="3679895" y="2305364"/>
                <a:ext cx="94010" cy="47005"/>
                <a:chOff x="6812560" y="3297172"/>
                <a:chExt cx="94010" cy="47005"/>
              </a:xfrm>
            </p:grpSpPr>
            <p:cxnSp>
              <p:nvCxnSpPr>
                <p:cNvPr id="110" name="직선 연결선 1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1" name="직선 연결선 11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6" name="타원 10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7" name="그룹 106"/>
              <p:cNvGrpSpPr/>
              <p:nvPr/>
            </p:nvGrpSpPr>
            <p:grpSpPr>
              <a:xfrm rot="16200000">
                <a:off x="3931564" y="2305364"/>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01" name="직선 연결선 100">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20" name="그룹 119"/>
          <p:cNvGrpSpPr/>
          <p:nvPr/>
        </p:nvGrpSpPr>
        <p:grpSpPr>
          <a:xfrm>
            <a:off x="701175" y="1895624"/>
            <a:ext cx="2630093" cy="2892808"/>
            <a:chOff x="701175" y="1527996"/>
            <a:chExt cx="2630093" cy="2892808"/>
          </a:xfrm>
        </p:grpSpPr>
        <p:sp>
          <p:nvSpPr>
            <p:cNvPr id="121" name="TextBox 120">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22" name="그룹 121"/>
            <p:cNvGrpSpPr/>
            <p:nvPr/>
          </p:nvGrpSpPr>
          <p:grpSpPr>
            <a:xfrm flipV="1">
              <a:off x="3124233" y="1641327"/>
              <a:ext cx="94010" cy="47005"/>
              <a:chOff x="6812560" y="3297172"/>
              <a:chExt cx="94010" cy="47005"/>
            </a:xfrm>
          </p:grpSpPr>
          <p:cxnSp>
            <p:nvCxnSpPr>
              <p:cNvPr id="142" name="직선 연결선 141"/>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3" name="직선 연결선 14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23" name="직사각형 122"/>
            <p:cNvSpPr/>
            <p:nvPr/>
          </p:nvSpPr>
          <p:spPr>
            <a:xfrm>
              <a:off x="703268" y="1835482"/>
              <a:ext cx="792000" cy="257687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790330" y="1835481"/>
              <a:ext cx="728979" cy="2585323"/>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환율적용일자</a:t>
              </a:r>
              <a:endParaRPr lang="en-US" altLang="ko-KR" sz="700" dirty="0">
                <a:latin typeface="+mn-ea"/>
              </a:endParaRPr>
            </a:p>
            <a:p>
              <a:pPr>
                <a:lnSpc>
                  <a:spcPct val="200000"/>
                </a:lnSpc>
              </a:pPr>
              <a:r>
                <a:rPr lang="ko-KR" altLang="en-US" sz="700" dirty="0" err="1">
                  <a:latin typeface="+mn-ea"/>
                </a:rPr>
                <a:t>개찰일시</a:t>
              </a:r>
              <a:endParaRPr lang="en-US" altLang="ko-KR" sz="700" dirty="0">
                <a:latin typeface="+mn-ea"/>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1547180" y="1835481"/>
              <a:ext cx="1775839" cy="2585323"/>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2025-03-02 15:00:00</a:t>
              </a:r>
            </a:p>
            <a:p>
              <a:pPr>
                <a:lnSpc>
                  <a:spcPct val="200000"/>
                </a:lnSpc>
              </a:pPr>
              <a:r>
                <a:rPr lang="en-US" altLang="ko-KR" sz="700" dirty="0">
                  <a:latin typeface="+mn-ea"/>
                </a:rPr>
                <a:t>2025-03-02</a:t>
              </a:r>
            </a:p>
            <a:p>
              <a:pPr>
                <a:lnSpc>
                  <a:spcPct val="200000"/>
                </a:lnSpc>
              </a:pPr>
              <a:r>
                <a:rPr lang="en-US" altLang="ko-KR" sz="700" dirty="0">
                  <a:latin typeface="+mn-ea"/>
                </a:rPr>
                <a:t>2025-03-02 15:00:00</a:t>
              </a:r>
            </a:p>
          </p:txBody>
        </p:sp>
        <p:grpSp>
          <p:nvGrpSpPr>
            <p:cNvPr id="127" name="그룹 126"/>
            <p:cNvGrpSpPr/>
            <p:nvPr/>
          </p:nvGrpSpPr>
          <p:grpSpPr>
            <a:xfrm>
              <a:off x="701175" y="1835481"/>
              <a:ext cx="2630093" cy="2576880"/>
              <a:chOff x="701175" y="1835481"/>
              <a:chExt cx="2630093" cy="2576880"/>
            </a:xfrm>
          </p:grpSpPr>
          <p:cxnSp>
            <p:nvCxnSpPr>
              <p:cNvPr id="129" name="직선 연결선 128">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1" name="직선 연결선 130">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6" name="직선 연결선 135">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7" name="직선 연결선 136">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8" name="직선 연결선 137">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9" name="직선 연결선 138">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0" name="직선 연결선 139">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41" name="직선 연결선 14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28" name="TextBox 127">
              <a:extLst>
                <a:ext uri="{FF2B5EF4-FFF2-40B4-BE49-F238E27FC236}">
                  <a16:creationId xmlns:a16="http://schemas.microsoft.com/office/drawing/2014/main" id="{FFC49AEA-2A8F-250C-A86A-A7751D9706C3}"/>
                </a:ext>
              </a:extLst>
            </p:cNvPr>
            <p:cNvSpPr txBox="1"/>
            <p:nvPr/>
          </p:nvSpPr>
          <p:spPr>
            <a:xfrm>
              <a:off x="790330" y="3767437"/>
              <a:ext cx="700693" cy="215444"/>
            </a:xfrm>
            <a:prstGeom prst="rect">
              <a:avLst/>
            </a:prstGeom>
            <a:noFill/>
          </p:spPr>
          <p:txBody>
            <a:bodyPr wrap="square" lIns="0" tIns="0" rIns="0" bIns="0" rtlCol="0">
              <a:spAutoFit/>
            </a:bodyPr>
            <a:lstStyle/>
            <a:p>
              <a:r>
                <a:rPr lang="ko-KR" altLang="en-US" sz="700" dirty="0" err="1">
                  <a:latin typeface="+mn-ea"/>
                </a:rPr>
                <a:t>견적서제출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grpSp>
        <p:nvGrpSpPr>
          <p:cNvPr id="144" name="그룹 143"/>
          <p:cNvGrpSpPr/>
          <p:nvPr/>
        </p:nvGrpSpPr>
        <p:grpSpPr>
          <a:xfrm>
            <a:off x="3795735" y="1901662"/>
            <a:ext cx="2712026" cy="944800"/>
            <a:chOff x="3795735" y="4570486"/>
            <a:chExt cx="2712026" cy="944800"/>
          </a:xfrm>
        </p:grpSpPr>
        <p:sp>
          <p:nvSpPr>
            <p:cNvPr id="145" name="TextBox 144">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146" name="그룹 145"/>
            <p:cNvGrpSpPr/>
            <p:nvPr/>
          </p:nvGrpSpPr>
          <p:grpSpPr>
            <a:xfrm flipV="1">
              <a:off x="6240167" y="4729163"/>
              <a:ext cx="94010" cy="47005"/>
              <a:chOff x="6812560" y="3297172"/>
              <a:chExt cx="94010" cy="47005"/>
            </a:xfrm>
          </p:grpSpPr>
          <p:cxnSp>
            <p:nvCxnSpPr>
              <p:cNvPr id="164" name="직선 연결선 16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81" name="직선 연결선 18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7" name="TextBox 146">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148" name="TextBox 147">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149" name="TextBox 148">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150" name="직선 연결선 149">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1" name="모서리가 둥근 직사각형 150"/>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3" name="TextBox 152">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154" name="TextBox 153">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155" name="TextBox 154">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163" name="직선 연결선 162">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3473946049"/>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신청서 전체 </a:t>
            </a:r>
            <a:r>
              <a:rPr lang="ko-KR" altLang="en-US" dirty="0" err="1"/>
              <a:t>진행단계</a:t>
            </a:r>
            <a:r>
              <a:rPr lang="ko-KR" altLang="en-US" dirty="0"/>
              <a:t> 표시</a:t>
            </a:r>
            <a:endParaRPr lang="en-US" altLang="ko-KR" dirty="0"/>
          </a:p>
          <a:p>
            <a:pPr marL="228600" indent="-228600">
              <a:buFont typeface="+mj-lt"/>
              <a:buAutoNum type="arabicPeriod"/>
            </a:pPr>
            <a:r>
              <a:rPr lang="ko-KR" altLang="en-US" dirty="0"/>
              <a:t>신청서 내역 탭</a:t>
            </a:r>
            <a:endParaRPr lang="en-US" altLang="ko-KR" dirty="0"/>
          </a:p>
          <a:p>
            <a:pPr marL="228600" indent="-228600">
              <a:buFont typeface="+mj-lt"/>
              <a:buAutoNum type="arabicPeriod"/>
            </a:pPr>
            <a:r>
              <a:rPr lang="ko-KR" altLang="en-US" dirty="0"/>
              <a:t>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430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pPr fontAlgn="ctr"/>
            <a:r>
              <a:rPr lang="ko-KR" altLang="en-US" dirty="0" err="1">
                <a:latin typeface="+mn-ea"/>
              </a:rPr>
              <a:t>공개수의협상견적서상세</a:t>
            </a:r>
            <a:r>
              <a:rPr lang="en-US" altLang="ko-KR" dirty="0">
                <a:latin typeface="+mn-ea"/>
              </a:rPr>
              <a:t> - </a:t>
            </a:r>
            <a:r>
              <a:rPr lang="ko-KR" altLang="en-US" dirty="0">
                <a:latin typeface="+mn-ea"/>
              </a:rPr>
              <a:t>업체정보</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공개수의협상견적서상세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MUI-BD-12-M79</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1" name="타원 160">
            <a:extLst>
              <a:ext uri="{FF2B5EF4-FFF2-40B4-BE49-F238E27FC236}">
                <a16:creationId xmlns:a16="http://schemas.microsoft.com/office/drawing/2014/main" id="{37A7FF4F-0EAA-1463-560A-D5EC24416103}"/>
              </a:ext>
            </a:extLst>
          </p:cNvPr>
          <p:cNvSpPr/>
          <p:nvPr/>
        </p:nvSpPr>
        <p:spPr>
          <a:xfrm>
            <a:off x="571127" y="1953255"/>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2" name="모서리가 둥근 직사각형 151"/>
          <p:cNvSpPr/>
          <p:nvPr/>
        </p:nvSpPr>
        <p:spPr>
          <a:xfrm rot="5400000">
            <a:off x="5780626" y="3115916"/>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78" name="TextBox 17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210" name="그룹 209"/>
          <p:cNvGrpSpPr/>
          <p:nvPr/>
        </p:nvGrpSpPr>
        <p:grpSpPr>
          <a:xfrm flipV="1">
            <a:off x="3139424" y="1984301"/>
            <a:ext cx="94010" cy="47005"/>
            <a:chOff x="6812560" y="3297172"/>
            <a:chExt cx="94010" cy="47005"/>
          </a:xfrm>
        </p:grpSpPr>
        <p:cxnSp>
          <p:nvCxnSpPr>
            <p:cNvPr id="250" name="직선 연결선 24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1" name="직선 연결선 25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263" name="그룹 262"/>
          <p:cNvGrpSpPr/>
          <p:nvPr/>
        </p:nvGrpSpPr>
        <p:grpSpPr>
          <a:xfrm>
            <a:off x="675400" y="1493927"/>
            <a:ext cx="2712027" cy="334927"/>
            <a:chOff x="675399" y="3560135"/>
            <a:chExt cx="2712027" cy="334927"/>
          </a:xfrm>
        </p:grpSpPr>
        <p:cxnSp>
          <p:nvCxnSpPr>
            <p:cNvPr id="264" name="직선 연결선 26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65" name="TextBox 264">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266" name="TextBox 265">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267" name="TextBox 266">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268" name="직선 연결선 267">
              <a:extLst>
                <a:ext uri="{FF2B5EF4-FFF2-40B4-BE49-F238E27FC236}">
                  <a16:creationId xmlns:a16="http://schemas.microsoft.com/office/drawing/2014/main" id="{E9293055-D5CD-4B9E-7F64-64B2D2CA7A52}"/>
                </a:ext>
              </a:extLst>
            </p:cNvPr>
            <p:cNvCxnSpPr/>
            <p:nvPr/>
          </p:nvCxnSpPr>
          <p:spPr>
            <a:xfrm>
              <a:off x="1299643"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73" name="그룹 272"/>
            <p:cNvGrpSpPr/>
            <p:nvPr/>
          </p:nvGrpSpPr>
          <p:grpSpPr>
            <a:xfrm>
              <a:off x="2924086" y="3640332"/>
              <a:ext cx="422853" cy="187961"/>
              <a:chOff x="3641308" y="2234886"/>
              <a:chExt cx="422853" cy="187961"/>
            </a:xfrm>
          </p:grpSpPr>
          <p:sp>
            <p:nvSpPr>
              <p:cNvPr id="277" name="타원 276"/>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8" name="그룹 277"/>
              <p:cNvGrpSpPr/>
              <p:nvPr/>
            </p:nvGrpSpPr>
            <p:grpSpPr>
              <a:xfrm rot="5400000" flipH="1">
                <a:off x="3679895" y="2305364"/>
                <a:ext cx="94010" cy="47005"/>
                <a:chOff x="6812560" y="3297172"/>
                <a:chExt cx="94010" cy="47005"/>
              </a:xfrm>
            </p:grpSpPr>
            <p:cxnSp>
              <p:nvCxnSpPr>
                <p:cNvPr id="283" name="직선 연결선 282"/>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4" name="직선 연결선 283"/>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79" name="타원 278"/>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0" name="그룹 279"/>
              <p:cNvGrpSpPr/>
              <p:nvPr/>
            </p:nvGrpSpPr>
            <p:grpSpPr>
              <a:xfrm rot="16200000">
                <a:off x="3931564" y="2305364"/>
                <a:ext cx="94010" cy="47005"/>
                <a:chOff x="6812560" y="3297172"/>
                <a:chExt cx="94010" cy="47005"/>
              </a:xfrm>
            </p:grpSpPr>
            <p:cxnSp>
              <p:nvCxnSpPr>
                <p:cNvPr id="281" name="직선 연결선 280"/>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2" name="직선 연결선 281"/>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274" name="직선 연결선 273">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76" name="TextBox 275">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grpSp>
      <p:grpSp>
        <p:nvGrpSpPr>
          <p:cNvPr id="285" name="그룹 284"/>
          <p:cNvGrpSpPr/>
          <p:nvPr/>
        </p:nvGrpSpPr>
        <p:grpSpPr>
          <a:xfrm>
            <a:off x="716366" y="1893102"/>
            <a:ext cx="2630093" cy="2031034"/>
            <a:chOff x="3791188" y="2611009"/>
            <a:chExt cx="2630093" cy="2031034"/>
          </a:xfrm>
        </p:grpSpPr>
        <p:sp>
          <p:nvSpPr>
            <p:cNvPr id="286" name="TextBox 28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287" name="직사각형 286"/>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88" name="직선 연결선 287">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89" name="TextBox 288">
              <a:extLst>
                <a:ext uri="{FF2B5EF4-FFF2-40B4-BE49-F238E27FC236}">
                  <a16:creationId xmlns:a16="http://schemas.microsoft.com/office/drawing/2014/main" id="{FFC49AEA-2A8F-250C-A86A-A7751D9706C3}"/>
                </a:ext>
              </a:extLst>
            </p:cNvPr>
            <p:cNvSpPr txBox="1"/>
            <p:nvPr/>
          </p:nvSpPr>
          <p:spPr>
            <a:xfrm>
              <a:off x="3880345" y="2918494"/>
              <a:ext cx="756848" cy="1689245"/>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주민등록번호</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r>
                <a:rPr lang="ko-KR" altLang="en-US" sz="700" dirty="0">
                  <a:latin typeface="+mn-ea"/>
                </a:rPr>
                <a:t>사업자등록번호</a:t>
              </a:r>
            </a:p>
            <a:p>
              <a:pPr>
                <a:lnSpc>
                  <a:spcPct val="200000"/>
                </a:lnSpc>
              </a:pPr>
              <a:r>
                <a:rPr lang="ko-KR" altLang="en-US" sz="700" dirty="0">
                  <a:latin typeface="+mn-ea"/>
                </a:rPr>
                <a:t>주소</a:t>
              </a:r>
              <a:endParaRPr lang="en-US" altLang="ko-KR" sz="700" dirty="0">
                <a:latin typeface="+mn-ea"/>
              </a:endParaRPr>
            </a:p>
          </p:txBody>
        </p:sp>
        <p:sp>
          <p:nvSpPr>
            <p:cNvPr id="290" name="TextBox 289">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291" name="직선 연결선 290">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2" name="직선 연결선 291">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3" name="직선 연결선 29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4" name="직선 연결선 293">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5" name="직선 연결선 294">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7" name="직선 연결선 296">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8" name="직선 연결선 297">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99" name="직선 연결선 298">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300" name="그룹 299"/>
          <p:cNvGrpSpPr/>
          <p:nvPr/>
        </p:nvGrpSpPr>
        <p:grpSpPr>
          <a:xfrm>
            <a:off x="3836701" y="1893102"/>
            <a:ext cx="2630093" cy="2031034"/>
            <a:chOff x="3791188" y="2611009"/>
            <a:chExt cx="2630093" cy="2031034"/>
          </a:xfrm>
        </p:grpSpPr>
        <p:sp>
          <p:nvSpPr>
            <p:cNvPr id="301" name="TextBox 300">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endParaRPr lang="ko-KR" altLang="en-US" sz="700" dirty="0">
                <a:latin typeface="+mn-ea"/>
              </a:endParaRPr>
            </a:p>
          </p:txBody>
        </p:sp>
        <p:sp>
          <p:nvSpPr>
            <p:cNvPr id="302" name="직사각형 301"/>
            <p:cNvSpPr/>
            <p:nvPr/>
          </p:nvSpPr>
          <p:spPr>
            <a:xfrm>
              <a:off x="3793281" y="2918494"/>
              <a:ext cx="792000" cy="17085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303" name="직선 연결선 302">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04" name="TextBox 303">
              <a:extLst>
                <a:ext uri="{FF2B5EF4-FFF2-40B4-BE49-F238E27FC236}">
                  <a16:creationId xmlns:a16="http://schemas.microsoft.com/office/drawing/2014/main" id="{FFC49AEA-2A8F-250C-A86A-A7751D9706C3}"/>
                </a:ext>
              </a:extLst>
            </p:cNvPr>
            <p:cNvSpPr txBox="1"/>
            <p:nvPr/>
          </p:nvSpPr>
          <p:spPr>
            <a:xfrm>
              <a:off x="3880345" y="2918494"/>
              <a:ext cx="756848" cy="1723549"/>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p>
            <a:p>
              <a:pPr>
                <a:lnSpc>
                  <a:spcPct val="200000"/>
                </a:lnSpc>
              </a:pPr>
              <a:r>
                <a:rPr lang="ko-KR" altLang="en-US" sz="700" dirty="0">
                  <a:latin typeface="+mn-ea"/>
                </a:rPr>
                <a:t>이메일</a:t>
              </a:r>
            </a:p>
            <a:p>
              <a:pPr>
                <a:lnSpc>
                  <a:spcPct val="200000"/>
                </a:lnSpc>
              </a:pPr>
              <a:r>
                <a:rPr lang="ko-KR" altLang="en-US" sz="700" dirty="0">
                  <a:latin typeface="+mn-ea"/>
                </a:rPr>
                <a:t>전화번호</a:t>
              </a:r>
            </a:p>
            <a:p>
              <a:pPr>
                <a:lnSpc>
                  <a:spcPct val="200000"/>
                </a:lnSpc>
              </a:pPr>
              <a:r>
                <a:rPr lang="ko-KR" altLang="en-US" sz="700" dirty="0">
                  <a:latin typeface="+mn-ea"/>
                </a:rPr>
                <a:t>팩스</a:t>
              </a:r>
            </a:p>
            <a:p>
              <a:pPr>
                <a:lnSpc>
                  <a:spcPct val="200000"/>
                </a:lnSpc>
              </a:pPr>
              <a:endParaRPr lang="ko-KR" altLang="en-US" sz="700" dirty="0">
                <a:latin typeface="+mn-ea"/>
              </a:endParaRPr>
            </a:p>
            <a:p>
              <a:pPr>
                <a:lnSpc>
                  <a:spcPct val="200000"/>
                </a:lnSpc>
              </a:pPr>
              <a:r>
                <a:rPr lang="ko-KR" altLang="en-US" sz="700" dirty="0">
                  <a:latin typeface="+mn-ea"/>
                </a:rPr>
                <a:t>주소</a:t>
              </a:r>
              <a:endParaRPr lang="en-US" altLang="ko-KR" sz="700" dirty="0">
                <a:latin typeface="+mn-ea"/>
              </a:endParaRPr>
            </a:p>
          </p:txBody>
        </p:sp>
        <p:sp>
          <p:nvSpPr>
            <p:cNvPr id="305" name="TextBox 304">
              <a:extLst>
                <a:ext uri="{FF2B5EF4-FFF2-40B4-BE49-F238E27FC236}">
                  <a16:creationId xmlns:a16="http://schemas.microsoft.com/office/drawing/2014/main" id="{FFC49AEA-2A8F-250C-A86A-A7751D9706C3}"/>
                </a:ext>
              </a:extLst>
            </p:cNvPr>
            <p:cNvSpPr txBox="1"/>
            <p:nvPr/>
          </p:nvSpPr>
          <p:spPr>
            <a:xfrm>
              <a:off x="4637193" y="2918494"/>
              <a:ext cx="1784088" cy="1723549"/>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741202-1******</a:t>
              </a:r>
            </a:p>
            <a:p>
              <a:pPr>
                <a:lnSpc>
                  <a:spcPct val="200000"/>
                </a:lnSpc>
              </a:pPr>
              <a:r>
                <a:rPr lang="en-US" altLang="ko-KR" sz="700" dirty="0">
                  <a:latin typeface="+mn-ea"/>
                </a:rPr>
                <a:t>02-1234-5678</a:t>
              </a:r>
            </a:p>
            <a:p>
              <a:pPr>
                <a:lnSpc>
                  <a:spcPct val="200000"/>
                </a:lnSpc>
              </a:pPr>
              <a:r>
                <a:rPr lang="en-US" altLang="ko-KR" sz="700" dirty="0">
                  <a:latin typeface="+mn-ea"/>
                </a:rPr>
                <a:t>02-2345-6789</a:t>
              </a:r>
            </a:p>
            <a:p>
              <a:pPr>
                <a:lnSpc>
                  <a:spcPct val="200000"/>
                </a:lnSpc>
              </a:pPr>
              <a:r>
                <a:rPr lang="en-US" altLang="ko-KR" sz="700" dirty="0">
                  <a:latin typeface="+mn-ea"/>
                </a:rPr>
                <a:t>123-45-67890</a:t>
              </a:r>
            </a:p>
            <a:p>
              <a:pPr>
                <a:lnSpc>
                  <a:spcPct val="200000"/>
                </a:lnSpc>
              </a:pPr>
              <a:r>
                <a:rPr lang="ko-KR" altLang="en-US" sz="700" dirty="0">
                  <a:latin typeface="+mn-ea"/>
                </a:rPr>
                <a:t>서울특별시 종로구</a:t>
              </a:r>
              <a:r>
                <a:rPr lang="en-US" altLang="ko-KR" sz="700" dirty="0">
                  <a:latin typeface="+mn-ea"/>
                </a:rPr>
                <a:t>…</a:t>
              </a:r>
            </a:p>
          </p:txBody>
        </p:sp>
        <p:cxnSp>
          <p:nvCxnSpPr>
            <p:cNvPr id="306" name="직선 연결선 305">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7" name="직선 연결선 306">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8" name="직선 연결선 307">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09" name="직선 연결선 308">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0" name="직선 연결선 309">
              <a:extLst>
                <a:ext uri="{FF2B5EF4-FFF2-40B4-BE49-F238E27FC236}">
                  <a16:creationId xmlns:a16="http://schemas.microsoft.com/office/drawing/2014/main" id="{E9293055-D5CD-4B9E-7F64-64B2D2CA7A52}"/>
                </a:ext>
              </a:extLst>
            </p:cNvPr>
            <p:cNvCxnSpPr/>
            <p:nvPr/>
          </p:nvCxnSpPr>
          <p:spPr>
            <a:xfrm>
              <a:off x="3793281" y="400442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1" name="직선 연결선 310">
              <a:extLst>
                <a:ext uri="{FF2B5EF4-FFF2-40B4-BE49-F238E27FC236}">
                  <a16:creationId xmlns:a16="http://schemas.microsoft.com/office/drawing/2014/main" id="{E9293055-D5CD-4B9E-7F64-64B2D2CA7A52}"/>
                </a:ext>
              </a:extLst>
            </p:cNvPr>
            <p:cNvCxnSpPr/>
            <p:nvPr/>
          </p:nvCxnSpPr>
          <p:spPr>
            <a:xfrm>
              <a:off x="3793281" y="421813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2" name="직선 연결선 311">
              <a:extLst>
                <a:ext uri="{FF2B5EF4-FFF2-40B4-BE49-F238E27FC236}">
                  <a16:creationId xmlns:a16="http://schemas.microsoft.com/office/drawing/2014/main" id="{E9293055-D5CD-4B9E-7F64-64B2D2CA7A52}"/>
                </a:ext>
              </a:extLst>
            </p:cNvPr>
            <p:cNvCxnSpPr/>
            <p:nvPr/>
          </p:nvCxnSpPr>
          <p:spPr>
            <a:xfrm>
              <a:off x="3793281" y="4426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313" name="직선 연결선 312">
              <a:extLst>
                <a:ext uri="{FF2B5EF4-FFF2-40B4-BE49-F238E27FC236}">
                  <a16:creationId xmlns:a16="http://schemas.microsoft.com/office/drawing/2014/main" id="{E9293055-D5CD-4B9E-7F64-64B2D2CA7A52}"/>
                </a:ext>
              </a:extLst>
            </p:cNvPr>
            <p:cNvCxnSpPr/>
            <p:nvPr/>
          </p:nvCxnSpPr>
          <p:spPr>
            <a:xfrm>
              <a:off x="3793281" y="462705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314" name="TextBox 313">
              <a:extLst>
                <a:ext uri="{FF2B5EF4-FFF2-40B4-BE49-F238E27FC236}">
                  <a16:creationId xmlns:a16="http://schemas.microsoft.com/office/drawing/2014/main" id="{FFC49AEA-2A8F-250C-A86A-A7751D9706C3}"/>
                </a:ext>
              </a:extLst>
            </p:cNvPr>
            <p:cNvSpPr txBox="1"/>
            <p:nvPr/>
          </p:nvSpPr>
          <p:spPr>
            <a:xfrm>
              <a:off x="3880345" y="4221978"/>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grpSp>
        <p:nvGrpSpPr>
          <p:cNvPr id="315" name="그룹 314"/>
          <p:cNvGrpSpPr/>
          <p:nvPr/>
        </p:nvGrpSpPr>
        <p:grpSpPr>
          <a:xfrm flipV="1">
            <a:off x="6279313" y="1984301"/>
            <a:ext cx="94010" cy="47005"/>
            <a:chOff x="6812560" y="3297172"/>
            <a:chExt cx="94010" cy="47005"/>
          </a:xfrm>
        </p:grpSpPr>
        <p:cxnSp>
          <p:nvCxnSpPr>
            <p:cNvPr id="320" name="직선 연결선 31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323" name="직선 연결선 322"/>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nvGrpSpPr>
          <p:cNvPr id="94" name="그룹 93"/>
          <p:cNvGrpSpPr/>
          <p:nvPr/>
        </p:nvGrpSpPr>
        <p:grpSpPr>
          <a:xfrm>
            <a:off x="3791609" y="1493927"/>
            <a:ext cx="2712027" cy="334927"/>
            <a:chOff x="675399" y="3560135"/>
            <a:chExt cx="2712027" cy="334927"/>
          </a:xfrm>
        </p:grpSpPr>
        <p:cxnSp>
          <p:nvCxnSpPr>
            <p:cNvPr id="95" name="직선 연결선 94">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96" name="TextBox 95">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97" name="TextBox 96">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98" name="TextBox 97">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1299643"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00" name="그룹 99"/>
            <p:cNvGrpSpPr/>
            <p:nvPr/>
          </p:nvGrpSpPr>
          <p:grpSpPr>
            <a:xfrm>
              <a:off x="2924086" y="3640332"/>
              <a:ext cx="422853" cy="187961"/>
              <a:chOff x="3641308" y="2234886"/>
              <a:chExt cx="422853" cy="187961"/>
            </a:xfrm>
          </p:grpSpPr>
          <p:sp>
            <p:nvSpPr>
              <p:cNvPr id="104" name="타원 103"/>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5" name="그룹 104"/>
              <p:cNvGrpSpPr/>
              <p:nvPr/>
            </p:nvGrpSpPr>
            <p:grpSpPr>
              <a:xfrm rot="5400000" flipH="1">
                <a:off x="3679895" y="2305364"/>
                <a:ext cx="94010" cy="47005"/>
                <a:chOff x="6812560" y="3297172"/>
                <a:chExt cx="94010" cy="47005"/>
              </a:xfrm>
            </p:grpSpPr>
            <p:cxnSp>
              <p:nvCxnSpPr>
                <p:cNvPr id="110" name="직선 연결선 10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11" name="직선 연결선 11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06" name="타원 105"/>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07" name="그룹 106"/>
              <p:cNvGrpSpPr/>
              <p:nvPr/>
            </p:nvGrpSpPr>
            <p:grpSpPr>
              <a:xfrm rot="16200000">
                <a:off x="3931564" y="2305364"/>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01" name="직선 연결선 100">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3" name="TextBox 102">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b="1" dirty="0">
                  <a:latin typeface="+mn-ea"/>
                </a:rPr>
                <a:t>2.</a:t>
              </a:r>
              <a:r>
                <a:rPr lang="ko-KR" altLang="en-US" sz="700" b="1" dirty="0">
                  <a:latin typeface="+mn-ea"/>
                </a:rPr>
                <a:t> 업체정보</a:t>
              </a:r>
            </a:p>
          </p:txBody>
        </p:sp>
      </p:grpSp>
    </p:spTree>
    <p:extLst>
      <p:ext uri="{BB962C8B-B14F-4D97-AF65-F5344CB8AC3E}">
        <p14:creationId xmlns:p14="http://schemas.microsoft.com/office/powerpoint/2010/main" val="684699783"/>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입찰참여품목</a:t>
            </a:r>
            <a:r>
              <a:rPr lang="en-US" altLang="ko-KR" dirty="0"/>
              <a:t>(</a:t>
            </a:r>
            <a:r>
              <a:rPr lang="ko-KR" altLang="en-US" dirty="0" err="1"/>
              <a:t>단가제</a:t>
            </a:r>
            <a:r>
              <a:rPr lang="en-US" altLang="ko-KR" dirty="0"/>
              <a:t>) </a:t>
            </a:r>
            <a:r>
              <a:rPr lang="ko-KR" altLang="en-US" dirty="0"/>
              <a:t>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431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pPr fontAlgn="ctr"/>
            <a:r>
              <a:rPr lang="ko-KR" altLang="en-US" dirty="0" err="1">
                <a:latin typeface="+mn-ea"/>
              </a:rPr>
              <a:t>공개수의협상견적서상세</a:t>
            </a:r>
            <a:r>
              <a:rPr lang="en-US" altLang="ko-KR" dirty="0">
                <a:latin typeface="+mn-ea"/>
              </a:rPr>
              <a:t> - </a:t>
            </a:r>
            <a:r>
              <a:rPr lang="ko-KR" altLang="en-US" dirty="0" err="1">
                <a:latin typeface="+mn-ea"/>
              </a:rPr>
              <a:t>입찰품목</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공개수의협상견적서상세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MUI-BD-12-M80</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6" name="직사각형 295">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27" name="타원 326">
            <a:extLst>
              <a:ext uri="{FF2B5EF4-FFF2-40B4-BE49-F238E27FC236}">
                <a16:creationId xmlns:a16="http://schemas.microsoft.com/office/drawing/2014/main" id="{37A7FF4F-0EAA-1463-560A-D5EC24416103}"/>
              </a:ext>
            </a:extLst>
          </p:cNvPr>
          <p:cNvSpPr/>
          <p:nvPr/>
        </p:nvSpPr>
        <p:spPr>
          <a:xfrm>
            <a:off x="589334" y="1948449"/>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221" name="그룹 220">
            <a:extLst>
              <a:ext uri="{FF2B5EF4-FFF2-40B4-BE49-F238E27FC236}">
                <a16:creationId xmlns:a16="http://schemas.microsoft.com/office/drawing/2014/main" id="{22BC05EE-C648-7CA2-4CCC-6E1C1A7E9BDA}"/>
              </a:ext>
            </a:extLst>
          </p:cNvPr>
          <p:cNvGrpSpPr/>
          <p:nvPr/>
        </p:nvGrpSpPr>
        <p:grpSpPr>
          <a:xfrm>
            <a:off x="5113316" y="3641742"/>
            <a:ext cx="76863" cy="292489"/>
            <a:chOff x="3750067" y="4683795"/>
            <a:chExt cx="76863" cy="292489"/>
          </a:xfrm>
        </p:grpSpPr>
        <p:sp>
          <p:nvSpPr>
            <p:cNvPr id="222" name="타원 221">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25" name="타원 224">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245" name="타원 244">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359" name="사각형: 둥근 모서리 15">
            <a:extLst>
              <a:ext uri="{FF2B5EF4-FFF2-40B4-BE49-F238E27FC236}">
                <a16:creationId xmlns:a16="http://schemas.microsoft.com/office/drawing/2014/main" id="{E2B61CFB-AD16-68D0-8752-50D9C5E01971}"/>
              </a:ext>
            </a:extLst>
          </p:cNvPr>
          <p:cNvSpPr/>
          <p:nvPr/>
        </p:nvSpPr>
        <p:spPr>
          <a:xfrm>
            <a:off x="3825376" y="4674977"/>
            <a:ext cx="2652743" cy="207774"/>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latin typeface="맑은 고딕"/>
                <a:ea typeface="맑은 고딕" panose="020B0503020000020004" pitchFamily="50" charset="-127"/>
              </a:rPr>
              <a:t>더보기</a:t>
            </a:r>
            <a:r>
              <a:rPr kumimoji="1" lang="ko-KR" altLang="en-US" sz="800" kern="0" dirty="0">
                <a:latin typeface="맑은 고딕"/>
                <a:ea typeface="맑은 고딕" panose="020B0503020000020004" pitchFamily="50" charset="-127"/>
              </a:rPr>
              <a:t> </a:t>
            </a:r>
            <a:r>
              <a:rPr kumimoji="1" lang="en-US" altLang="ko-KR" sz="800" kern="0" dirty="0">
                <a:latin typeface="맑은 고딕"/>
                <a:ea typeface="맑은 고딕" panose="020B0503020000020004" pitchFamily="50" charset="-127"/>
              </a:rPr>
              <a:t>(10/100)</a:t>
            </a:r>
            <a:endParaRPr kumimoji="1" lang="en-US" sz="800" b="0" i="0" u="none" strike="noStrike" kern="0" cap="none" spc="0" normalizeH="0" baseline="0" noProof="0" dirty="0">
              <a:ln>
                <a:noFill/>
              </a:ln>
              <a:effectLst/>
              <a:uLnTx/>
              <a:uFillTx/>
              <a:latin typeface="맑은 고딕"/>
            </a:endParaRPr>
          </a:p>
        </p:txBody>
      </p:sp>
      <p:sp>
        <p:nvSpPr>
          <p:cNvPr id="128" name="모서리가 둥근 직사각형 127"/>
          <p:cNvSpPr/>
          <p:nvPr/>
        </p:nvSpPr>
        <p:spPr>
          <a:xfrm rot="5400000">
            <a:off x="2662242" y="2545351"/>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29" name="모서리가 둥근 직사각형 128"/>
          <p:cNvSpPr/>
          <p:nvPr/>
        </p:nvSpPr>
        <p:spPr>
          <a:xfrm rot="5400000">
            <a:off x="5780626" y="4139248"/>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sp>
        <p:nvSpPr>
          <p:cNvPr id="191" name="TextBox 19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92" name="TextBox 191">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159" name="그룹 158"/>
          <p:cNvGrpSpPr/>
          <p:nvPr/>
        </p:nvGrpSpPr>
        <p:grpSpPr>
          <a:xfrm>
            <a:off x="701175" y="1899756"/>
            <a:ext cx="2630093" cy="3557641"/>
            <a:chOff x="701175" y="1527996"/>
            <a:chExt cx="2630093" cy="3557641"/>
          </a:xfrm>
        </p:grpSpPr>
        <p:sp>
          <p:nvSpPr>
            <p:cNvPr id="162" name="TextBox 161">
              <a:extLst>
                <a:ext uri="{FF2B5EF4-FFF2-40B4-BE49-F238E27FC236}">
                  <a16:creationId xmlns:a16="http://schemas.microsoft.com/office/drawing/2014/main" id="{FFC49AEA-2A8F-250C-A86A-A7751D9706C3}"/>
                </a:ext>
              </a:extLst>
            </p:cNvPr>
            <p:cNvSpPr txBox="1"/>
            <p:nvPr/>
          </p:nvSpPr>
          <p:spPr>
            <a:xfrm>
              <a:off x="762146" y="1527996"/>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품목 목록</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64" name="직사각형 163"/>
            <p:cNvSpPr/>
            <p:nvPr/>
          </p:nvSpPr>
          <p:spPr>
            <a:xfrm>
              <a:off x="703268" y="1835482"/>
              <a:ext cx="792000" cy="3006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6" name="TextBox 165">
              <a:extLst>
                <a:ext uri="{FF2B5EF4-FFF2-40B4-BE49-F238E27FC236}">
                  <a16:creationId xmlns:a16="http://schemas.microsoft.com/office/drawing/2014/main" id="{FFC49AEA-2A8F-250C-A86A-A7751D9706C3}"/>
                </a:ext>
              </a:extLst>
            </p:cNvPr>
            <p:cNvSpPr txBox="1"/>
            <p:nvPr/>
          </p:nvSpPr>
          <p:spPr>
            <a:xfrm>
              <a:off x="790331" y="1835481"/>
              <a:ext cx="725552" cy="2981907"/>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a:p>
              <a:pPr>
                <a:lnSpc>
                  <a:spcPct val="200000"/>
                </a:lnSpc>
              </a:pPr>
              <a:r>
                <a:rPr lang="ko-KR" altLang="en-US" sz="700" dirty="0">
                  <a:latin typeface="+mn-ea"/>
                </a:rPr>
                <a:t>단위</a:t>
              </a:r>
            </a:p>
            <a:p>
              <a:pPr>
                <a:lnSpc>
                  <a:spcPct val="200000"/>
                </a:lnSpc>
              </a:pPr>
              <a:r>
                <a:rPr lang="ko-KR" altLang="en-US" sz="700" dirty="0">
                  <a:latin typeface="+mn-ea"/>
                </a:rPr>
                <a:t>수량</a:t>
              </a:r>
            </a:p>
            <a:p>
              <a:pPr>
                <a:lnSpc>
                  <a:spcPct val="200000"/>
                </a:lnSpc>
              </a:pPr>
              <a:r>
                <a:rPr lang="ko-KR" altLang="en-US" sz="700" dirty="0" err="1">
                  <a:latin typeface="+mn-ea"/>
                </a:rPr>
                <a:t>지시단가</a:t>
              </a:r>
              <a:endParaRPr lang="ko-KR" altLang="en-US" sz="700" dirty="0">
                <a:latin typeface="+mn-ea"/>
              </a:endParaRPr>
            </a:p>
            <a:p>
              <a:pPr>
                <a:lnSpc>
                  <a:spcPct val="200000"/>
                </a:lnSpc>
              </a:pPr>
              <a:r>
                <a:rPr lang="ko-KR" altLang="en-US" sz="700" dirty="0">
                  <a:latin typeface="+mn-ea"/>
                </a:rPr>
                <a:t>품목대체구분</a:t>
              </a:r>
            </a:p>
            <a:p>
              <a:pPr>
                <a:lnSpc>
                  <a:spcPct val="200000"/>
                </a:lnSpc>
              </a:pPr>
              <a:r>
                <a:rPr lang="ko-KR" altLang="en-US" sz="700" dirty="0">
                  <a:latin typeface="+mn-ea"/>
                </a:rPr>
                <a:t>품목대체첨부문서</a:t>
              </a:r>
            </a:p>
            <a:p>
              <a:pPr>
                <a:lnSpc>
                  <a:spcPct val="200000"/>
                </a:lnSpc>
              </a:pPr>
              <a:r>
                <a:rPr lang="ko-KR" altLang="en-US" sz="700" dirty="0">
                  <a:latin typeface="+mn-ea"/>
                </a:rPr>
                <a:t>수정재고번호</a:t>
              </a:r>
            </a:p>
            <a:p>
              <a:pPr>
                <a:lnSpc>
                  <a:spcPct val="200000"/>
                </a:lnSpc>
              </a:pPr>
              <a:r>
                <a:rPr lang="ko-KR" altLang="en-US" sz="700" dirty="0">
                  <a:latin typeface="+mn-ea"/>
                </a:rPr>
                <a:t>수정부품번호</a:t>
              </a:r>
            </a:p>
            <a:p>
              <a:pPr>
                <a:lnSpc>
                  <a:spcPct val="200000"/>
                </a:lnSpc>
              </a:pPr>
              <a:r>
                <a:rPr lang="ko-KR" altLang="en-US" sz="700" dirty="0" err="1">
                  <a:latin typeface="+mn-ea"/>
                </a:rPr>
                <a:t>견적단가</a:t>
              </a:r>
              <a:endParaRPr lang="ko-KR" altLang="en-US" sz="700" dirty="0">
                <a:latin typeface="+mn-ea"/>
              </a:endParaRPr>
            </a:p>
            <a:p>
              <a:pPr>
                <a:lnSpc>
                  <a:spcPct val="200000"/>
                </a:lnSpc>
              </a:pPr>
              <a:r>
                <a:rPr lang="ko-KR" altLang="en-US" sz="700" dirty="0" err="1">
                  <a:latin typeface="+mn-ea"/>
                </a:rPr>
                <a:t>견적금액</a:t>
              </a:r>
              <a:endParaRPr lang="ko-KR" altLang="en-US" sz="700" dirty="0">
                <a:latin typeface="+mn-ea"/>
              </a:endParaRPr>
            </a:p>
            <a:p>
              <a:pPr>
                <a:lnSpc>
                  <a:spcPct val="200000"/>
                </a:lnSpc>
              </a:pPr>
              <a:r>
                <a:rPr lang="ko-KR" altLang="en-US" sz="700" dirty="0">
                  <a:latin typeface="+mn-ea"/>
                </a:rPr>
                <a:t>화폐단위</a:t>
              </a:r>
            </a:p>
          </p:txBody>
        </p:sp>
        <p:sp>
          <p:nvSpPr>
            <p:cNvPr id="193" name="TextBox 192">
              <a:extLst>
                <a:ext uri="{FF2B5EF4-FFF2-40B4-BE49-F238E27FC236}">
                  <a16:creationId xmlns:a16="http://schemas.microsoft.com/office/drawing/2014/main" id="{FFC49AEA-2A8F-250C-A86A-A7751D9706C3}"/>
                </a:ext>
              </a:extLst>
            </p:cNvPr>
            <p:cNvSpPr txBox="1"/>
            <p:nvPr/>
          </p:nvSpPr>
          <p:spPr>
            <a:xfrm>
              <a:off x="1547180" y="1835481"/>
              <a:ext cx="1784088" cy="3016210"/>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1015375183975</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 </a:t>
              </a:r>
            </a:p>
            <a:p>
              <a:pPr>
                <a:lnSpc>
                  <a:spcPct val="200000"/>
                </a:lnSpc>
              </a:pPr>
              <a:r>
                <a:rPr lang="en-US" altLang="ko-KR" sz="700" dirty="0">
                  <a:latin typeface="+mn-ea"/>
                </a:rPr>
                <a:t>EA</a:t>
              </a:r>
            </a:p>
            <a:p>
              <a:pPr>
                <a:lnSpc>
                  <a:spcPct val="200000"/>
                </a:lnSpc>
              </a:pPr>
              <a:r>
                <a:rPr lang="en-US" altLang="ko-KR" sz="700" dirty="0">
                  <a:latin typeface="+mn-ea"/>
                </a:rPr>
                <a:t>1</a:t>
              </a:r>
            </a:p>
            <a:p>
              <a:pPr algn="r">
                <a:lnSpc>
                  <a:spcPct val="200000"/>
                </a:lnSpc>
              </a:pPr>
              <a:r>
                <a:rPr lang="en-US" altLang="ko-KR" sz="700" dirty="0">
                  <a:latin typeface="+mn-ea"/>
                </a:rPr>
                <a:t>608,000.00</a:t>
              </a:r>
            </a:p>
            <a:p>
              <a:pPr>
                <a:lnSpc>
                  <a:spcPct val="200000"/>
                </a:lnSpc>
              </a:pPr>
              <a:r>
                <a:rPr lang="en-US" altLang="ko-KR" sz="700" dirty="0">
                  <a:latin typeface="+mn-ea"/>
                </a:rPr>
                <a:t>Y</a:t>
              </a:r>
            </a:p>
            <a:p>
              <a:pPr>
                <a:lnSpc>
                  <a:spcPct val="200000"/>
                </a:lnSpc>
              </a:pPr>
              <a:r>
                <a:rPr lang="en-US" altLang="ko-KR" sz="700" dirty="0">
                  <a:solidFill>
                    <a:srgbClr val="0070C0"/>
                  </a:solidFill>
                  <a:latin typeface="+mn-ea"/>
                </a:rPr>
                <a:t>File.pdf</a:t>
              </a:r>
            </a:p>
            <a:p>
              <a:pPr>
                <a:lnSpc>
                  <a:spcPct val="200000"/>
                </a:lnSpc>
              </a:pPr>
              <a:r>
                <a:rPr lang="en-US" altLang="ko-KR" sz="700" dirty="0">
                  <a:latin typeface="+mn-ea"/>
                </a:rPr>
                <a:t>1</a:t>
              </a:r>
            </a:p>
            <a:p>
              <a:pPr>
                <a:lnSpc>
                  <a:spcPct val="200000"/>
                </a:lnSpc>
              </a:pPr>
              <a:r>
                <a:rPr lang="en-US" altLang="ko-KR" sz="700" dirty="0">
                  <a:latin typeface="+mn-ea"/>
                </a:rPr>
                <a:t>2</a:t>
              </a:r>
            </a:p>
            <a:p>
              <a:pPr algn="r">
                <a:lnSpc>
                  <a:spcPct val="200000"/>
                </a:lnSpc>
              </a:pPr>
              <a:r>
                <a:rPr lang="en-US" altLang="ko-KR" sz="700" dirty="0">
                  <a:latin typeface="+mn-ea"/>
                </a:rPr>
                <a:t>10,000.00</a:t>
              </a:r>
            </a:p>
            <a:p>
              <a:pPr algn="r">
                <a:lnSpc>
                  <a:spcPct val="200000"/>
                </a:lnSpc>
              </a:pPr>
              <a:r>
                <a:rPr lang="en-US" altLang="ko-KR" sz="700" dirty="0">
                  <a:latin typeface="+mn-ea"/>
                </a:rPr>
                <a:t>608,000.00</a:t>
              </a:r>
            </a:p>
            <a:p>
              <a:pPr>
                <a:lnSpc>
                  <a:spcPct val="200000"/>
                </a:lnSpc>
              </a:pPr>
              <a:r>
                <a:rPr lang="en-US" altLang="ko-KR" sz="700" dirty="0">
                  <a:latin typeface="+mn-ea"/>
                </a:rPr>
                <a:t>USD (</a:t>
              </a:r>
              <a:r>
                <a:rPr lang="ko-KR" altLang="en-US" sz="700" dirty="0">
                  <a:latin typeface="+mn-ea"/>
                </a:rPr>
                <a:t>미 달러</a:t>
              </a:r>
              <a:r>
                <a:rPr lang="en-US" altLang="ko-KR" sz="700" dirty="0">
                  <a:latin typeface="+mn-ea"/>
                </a:rPr>
                <a:t>)</a:t>
              </a:r>
            </a:p>
          </p:txBody>
        </p:sp>
        <p:grpSp>
          <p:nvGrpSpPr>
            <p:cNvPr id="194" name="그룹 193"/>
            <p:cNvGrpSpPr/>
            <p:nvPr/>
          </p:nvGrpSpPr>
          <p:grpSpPr>
            <a:xfrm>
              <a:off x="701175" y="1835481"/>
              <a:ext cx="2630093" cy="3250156"/>
              <a:chOff x="701175" y="1835481"/>
              <a:chExt cx="2630093" cy="3250156"/>
            </a:xfrm>
          </p:grpSpPr>
          <p:cxnSp>
            <p:nvCxnSpPr>
              <p:cNvPr id="195" name="직선 연결선 194">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6" name="직선 연결선 195">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7" name="직선 연결선 196">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9" name="직선 연결선 198">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3" name="직선 연결선 202">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6" name="직선 연결선 205">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7" name="직선 연결선 206">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8" name="직선 연결선 207">
                <a:extLst>
                  <a:ext uri="{FF2B5EF4-FFF2-40B4-BE49-F238E27FC236}">
                    <a16:creationId xmlns:a16="http://schemas.microsoft.com/office/drawing/2014/main" id="{E9293055-D5CD-4B9E-7F64-64B2D2CA7A52}"/>
                  </a:ext>
                </a:extLst>
              </p:cNvPr>
              <p:cNvCxnSpPr/>
              <p:nvPr/>
            </p:nvCxnSpPr>
            <p:spPr>
              <a:xfrm>
                <a:off x="703268" y="46271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9" name="직선 연결선 208">
                <a:extLst>
                  <a:ext uri="{FF2B5EF4-FFF2-40B4-BE49-F238E27FC236}">
                    <a16:creationId xmlns:a16="http://schemas.microsoft.com/office/drawing/2014/main" id="{E9293055-D5CD-4B9E-7F64-64B2D2CA7A52}"/>
                  </a:ext>
                </a:extLst>
              </p:cNvPr>
              <p:cNvCxnSpPr/>
              <p:nvPr/>
            </p:nvCxnSpPr>
            <p:spPr>
              <a:xfrm>
                <a:off x="703268" y="48418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508563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234" name="직사각형 233"/>
          <p:cNvSpPr/>
          <p:nvPr/>
        </p:nvSpPr>
        <p:spPr>
          <a:xfrm>
            <a:off x="3820170" y="1970027"/>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5" name="TextBox 234">
            <a:extLst>
              <a:ext uri="{FF2B5EF4-FFF2-40B4-BE49-F238E27FC236}">
                <a16:creationId xmlns:a16="http://schemas.microsoft.com/office/drawing/2014/main" id="{FFC49AEA-2A8F-250C-A86A-A7751D9706C3}"/>
              </a:ext>
            </a:extLst>
          </p:cNvPr>
          <p:cNvSpPr txBox="1"/>
          <p:nvPr/>
        </p:nvSpPr>
        <p:spPr>
          <a:xfrm>
            <a:off x="3910666" y="1970028"/>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항목번호</a:t>
            </a:r>
            <a:endParaRPr lang="ko-KR" altLang="en-US" sz="700" dirty="0">
              <a:latin typeface="+mn-ea"/>
            </a:endParaRPr>
          </a:p>
          <a:p>
            <a:pPr>
              <a:lnSpc>
                <a:spcPct val="200000"/>
              </a:lnSpc>
            </a:pPr>
            <a:r>
              <a:rPr lang="ko-KR" altLang="en-US" sz="700" dirty="0" err="1">
                <a:latin typeface="+mn-ea"/>
              </a:rPr>
              <a:t>재고번호</a:t>
            </a:r>
            <a:endParaRPr lang="ko-KR" altLang="en-US" sz="700" dirty="0">
              <a:latin typeface="+mn-ea"/>
            </a:endParaRPr>
          </a:p>
          <a:p>
            <a:pPr>
              <a:lnSpc>
                <a:spcPct val="200000"/>
              </a:lnSpc>
            </a:pPr>
            <a:r>
              <a:rPr lang="ko-KR" altLang="en-US" sz="700" dirty="0" err="1">
                <a:latin typeface="+mn-ea"/>
              </a:rPr>
              <a:t>부품번호</a:t>
            </a:r>
            <a:endParaRPr lang="ko-KR" altLang="en-US" sz="700" dirty="0">
              <a:latin typeface="+mn-ea"/>
            </a:endParaRPr>
          </a:p>
          <a:p>
            <a:pPr>
              <a:lnSpc>
                <a:spcPct val="200000"/>
              </a:lnSpc>
            </a:pPr>
            <a:r>
              <a:rPr lang="ko-KR" altLang="en-US" sz="700" dirty="0">
                <a:latin typeface="+mn-ea"/>
              </a:rPr>
              <a:t>품명</a:t>
            </a:r>
          </a:p>
        </p:txBody>
      </p:sp>
      <p:grpSp>
        <p:nvGrpSpPr>
          <p:cNvPr id="236" name="그룹 235"/>
          <p:cNvGrpSpPr/>
          <p:nvPr/>
        </p:nvGrpSpPr>
        <p:grpSpPr>
          <a:xfrm>
            <a:off x="3821510" y="1970028"/>
            <a:ext cx="2630093" cy="1075182"/>
            <a:chOff x="701175" y="1835481"/>
            <a:chExt cx="2630093" cy="1075182"/>
          </a:xfrm>
        </p:grpSpPr>
        <p:cxnSp>
          <p:nvCxnSpPr>
            <p:cNvPr id="237" name="직선 연결선 23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8" name="직선 연결선 23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39" name="직선 연결선 238">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0" name="직선 연결선 239">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1" name="직선 연결선 240">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42" name="직선 연결선 241">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243" name="TextBox 242">
            <a:extLst>
              <a:ext uri="{FF2B5EF4-FFF2-40B4-BE49-F238E27FC236}">
                <a16:creationId xmlns:a16="http://schemas.microsoft.com/office/drawing/2014/main" id="{FFC49AEA-2A8F-250C-A86A-A7751D9706C3}"/>
              </a:ext>
            </a:extLst>
          </p:cNvPr>
          <p:cNvSpPr txBox="1"/>
          <p:nvPr/>
        </p:nvSpPr>
        <p:spPr>
          <a:xfrm>
            <a:off x="4667515" y="1970028"/>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2</a:t>
            </a:r>
          </a:p>
          <a:p>
            <a:pPr>
              <a:lnSpc>
                <a:spcPct val="200000"/>
              </a:lnSpc>
            </a:pPr>
            <a:r>
              <a:rPr lang="en-US" altLang="ko-KR" sz="700" dirty="0">
                <a:latin typeface="+mn-ea"/>
              </a:rPr>
              <a:t>1015375183975</a:t>
            </a:r>
            <a:endParaRPr lang="ko-KR" altLang="en-US" sz="700" dirty="0">
              <a:latin typeface="+mn-ea"/>
            </a:endParaRPr>
          </a:p>
          <a:p>
            <a:pPr>
              <a:lnSpc>
                <a:spcPct val="200000"/>
              </a:lnSpc>
            </a:pPr>
            <a:r>
              <a:rPr lang="en-US" altLang="ko-KR" sz="700" dirty="0">
                <a:latin typeface="+mn-ea"/>
              </a:rPr>
              <a:t>000-A0000 0000</a:t>
            </a:r>
          </a:p>
          <a:p>
            <a:pPr>
              <a:lnSpc>
                <a:spcPct val="200000"/>
              </a:lnSpc>
            </a:pPr>
            <a:r>
              <a:rPr lang="en-US" altLang="ko-KR" sz="700" dirty="0">
                <a:latin typeface="맑은 고딕" panose="020B0503020000020004" pitchFamily="50" charset="-127"/>
                <a:cs typeface="Segoe UI" panose="020B0502040204020203" pitchFamily="34" charset="0"/>
              </a:rPr>
              <a:t>T-80U/TBE-3</a:t>
            </a:r>
          </a:p>
        </p:txBody>
      </p:sp>
      <p:sp>
        <p:nvSpPr>
          <p:cNvPr id="246" name="사각형: 둥근 모서리 15">
            <a:extLst>
              <a:ext uri="{FF2B5EF4-FFF2-40B4-BE49-F238E27FC236}">
                <a16:creationId xmlns:a16="http://schemas.microsoft.com/office/drawing/2014/main" id="{E2B61CFB-AD16-68D0-8752-50D9C5E01971}"/>
              </a:ext>
            </a:extLst>
          </p:cNvPr>
          <p:cNvSpPr/>
          <p:nvPr/>
        </p:nvSpPr>
        <p:spPr>
          <a:xfrm>
            <a:off x="3933132" y="2855527"/>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sp>
        <p:nvSpPr>
          <p:cNvPr id="247" name="사각형: 둥근 모서리 15">
            <a:extLst>
              <a:ext uri="{FF2B5EF4-FFF2-40B4-BE49-F238E27FC236}">
                <a16:creationId xmlns:a16="http://schemas.microsoft.com/office/drawing/2014/main" id="{E2B61CFB-AD16-68D0-8752-50D9C5E01971}"/>
              </a:ext>
            </a:extLst>
          </p:cNvPr>
          <p:cNvSpPr/>
          <p:nvPr/>
        </p:nvSpPr>
        <p:spPr>
          <a:xfrm>
            <a:off x="790250" y="5254115"/>
            <a:ext cx="2482324"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내역 접기 ↑</a:t>
            </a:r>
            <a:endParaRPr kumimoji="1" lang="en-US" sz="700" b="0" i="0" u="none" strike="noStrike" kern="0" cap="none" spc="0" normalizeH="0" baseline="0" noProof="0" dirty="0">
              <a:ln>
                <a:noFill/>
              </a:ln>
              <a:effectLst/>
              <a:uLnTx/>
              <a:uFillTx/>
              <a:latin typeface="맑은 고딕"/>
            </a:endParaRPr>
          </a:p>
        </p:txBody>
      </p:sp>
      <p:grpSp>
        <p:nvGrpSpPr>
          <p:cNvPr id="130" name="그룹 129"/>
          <p:cNvGrpSpPr/>
          <p:nvPr/>
        </p:nvGrpSpPr>
        <p:grpSpPr>
          <a:xfrm>
            <a:off x="675400" y="1497116"/>
            <a:ext cx="2712027" cy="334927"/>
            <a:chOff x="675399" y="3560135"/>
            <a:chExt cx="2712027" cy="334927"/>
          </a:xfrm>
        </p:grpSpPr>
        <p:cxnSp>
          <p:nvCxnSpPr>
            <p:cNvPr id="131" name="직선 연결선 130">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2" name="TextBox 131">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33" name="TextBox 132">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a:t>
              </a:r>
              <a:r>
                <a:rPr lang="ko-KR" altLang="en-US" sz="700" b="1" dirty="0" err="1">
                  <a:latin typeface="+mn-ea"/>
                </a:rPr>
                <a:t>입찰품목</a:t>
              </a:r>
              <a:endParaRPr lang="ko-KR" altLang="en-US" sz="700" b="1" dirty="0">
                <a:latin typeface="+mn-ea"/>
              </a:endParaRPr>
            </a:p>
          </p:txBody>
        </p:sp>
        <p:sp>
          <p:nvSpPr>
            <p:cNvPr id="134" name="TextBox 133">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35" name="직선 연결선 134">
              <a:extLst>
                <a:ext uri="{FF2B5EF4-FFF2-40B4-BE49-F238E27FC236}">
                  <a16:creationId xmlns:a16="http://schemas.microsoft.com/office/drawing/2014/main" id="{E9293055-D5CD-4B9E-7F64-64B2D2CA7A52}"/>
                </a:ext>
              </a:extLst>
            </p:cNvPr>
            <p:cNvCxnSpPr/>
            <p:nvPr/>
          </p:nvCxnSpPr>
          <p:spPr>
            <a:xfrm>
              <a:off x="1972783"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6" name="그룹 135"/>
            <p:cNvGrpSpPr/>
            <p:nvPr/>
          </p:nvGrpSpPr>
          <p:grpSpPr>
            <a:xfrm>
              <a:off x="2924086" y="3640332"/>
              <a:ext cx="422853" cy="187961"/>
              <a:chOff x="3641308" y="2234886"/>
              <a:chExt cx="422853" cy="187961"/>
            </a:xfrm>
          </p:grpSpPr>
          <p:sp>
            <p:nvSpPr>
              <p:cNvPr id="140" name="타원 139"/>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1" name="그룹 140"/>
              <p:cNvGrpSpPr/>
              <p:nvPr/>
            </p:nvGrpSpPr>
            <p:grpSpPr>
              <a:xfrm rot="5400000" flipH="1">
                <a:off x="3679895" y="2305364"/>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0" name="직선 연결선 1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2" name="타원 141"/>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3" name="그룹 142"/>
              <p:cNvGrpSpPr/>
              <p:nvPr/>
            </p:nvGrpSpPr>
            <p:grpSpPr>
              <a:xfrm rot="16200000">
                <a:off x="3931564" y="2305364"/>
                <a:ext cx="94010" cy="47005"/>
                <a:chOff x="6812560" y="3297172"/>
                <a:chExt cx="94010" cy="47005"/>
              </a:xfrm>
            </p:grpSpPr>
            <p:cxnSp>
              <p:nvCxnSpPr>
                <p:cNvPr id="144" name="직선 연결선 14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7" name="직선 연결선 1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7" name="직선 연결선 136">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9" name="TextBox 138">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grpSp>
        <p:nvGrpSpPr>
          <p:cNvPr id="155" name="그룹 154"/>
          <p:cNvGrpSpPr/>
          <p:nvPr/>
        </p:nvGrpSpPr>
        <p:grpSpPr>
          <a:xfrm>
            <a:off x="3791609" y="1497116"/>
            <a:ext cx="2712027" cy="334927"/>
            <a:chOff x="675399" y="3560135"/>
            <a:chExt cx="2712027" cy="334927"/>
          </a:xfrm>
        </p:grpSpPr>
        <p:cxnSp>
          <p:nvCxnSpPr>
            <p:cNvPr id="156" name="직선 연결선 155">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60" name="TextBox 159">
              <a:extLst>
                <a:ext uri="{FF2B5EF4-FFF2-40B4-BE49-F238E27FC236}">
                  <a16:creationId xmlns:a16="http://schemas.microsoft.com/office/drawing/2014/main" id="{FFC49AEA-2A8F-250C-A86A-A7751D9706C3}"/>
                </a:ext>
              </a:extLst>
            </p:cNvPr>
            <p:cNvSpPr txBox="1"/>
            <p:nvPr/>
          </p:nvSpPr>
          <p:spPr>
            <a:xfrm>
              <a:off x="764168" y="3678455"/>
              <a:ext cx="469551" cy="107722"/>
            </a:xfrm>
            <a:prstGeom prst="rect">
              <a:avLst/>
            </a:prstGeom>
            <a:noFill/>
          </p:spPr>
          <p:txBody>
            <a:bodyPr wrap="square" lIns="0" tIns="0" rIns="0" bIns="0" rtlCol="0">
              <a:spAutoFit/>
            </a:bodyPr>
            <a:lstStyle/>
            <a:p>
              <a:pPr algn="ctr"/>
              <a:r>
                <a:rPr lang="en-US" altLang="ko-KR" sz="700" dirty="0">
                  <a:latin typeface="+mn-ea"/>
                </a:rPr>
                <a:t>1. </a:t>
              </a:r>
              <a:r>
                <a:rPr lang="ko-KR" altLang="en-US" sz="700" dirty="0">
                  <a:latin typeface="+mn-ea"/>
                </a:rPr>
                <a:t>일반정보</a:t>
              </a:r>
            </a:p>
          </p:txBody>
        </p:sp>
        <p:sp>
          <p:nvSpPr>
            <p:cNvPr id="161" name="TextBox 160">
              <a:extLst>
                <a:ext uri="{FF2B5EF4-FFF2-40B4-BE49-F238E27FC236}">
                  <a16:creationId xmlns:a16="http://schemas.microsoft.com/office/drawing/2014/main" id="{FFC49AEA-2A8F-250C-A86A-A7751D9706C3}"/>
                </a:ext>
              </a:extLst>
            </p:cNvPr>
            <p:cNvSpPr txBox="1"/>
            <p:nvPr/>
          </p:nvSpPr>
          <p:spPr>
            <a:xfrm>
              <a:off x="1996555" y="3678455"/>
              <a:ext cx="501681" cy="107722"/>
            </a:xfrm>
            <a:prstGeom prst="rect">
              <a:avLst/>
            </a:prstGeom>
            <a:noFill/>
          </p:spPr>
          <p:txBody>
            <a:bodyPr wrap="square" lIns="0" tIns="0" rIns="0" bIns="0" rtlCol="0">
              <a:spAutoFit/>
            </a:bodyPr>
            <a:lstStyle/>
            <a:p>
              <a:pPr algn="ctr"/>
              <a:r>
                <a:rPr lang="en-US" altLang="ko-KR" sz="700" b="1" dirty="0">
                  <a:latin typeface="+mn-ea"/>
                </a:rPr>
                <a:t>3.</a:t>
              </a:r>
              <a:r>
                <a:rPr lang="ko-KR" altLang="en-US" sz="700" b="1" dirty="0">
                  <a:latin typeface="+mn-ea"/>
                </a:rPr>
                <a:t> </a:t>
              </a:r>
              <a:r>
                <a:rPr lang="ko-KR" altLang="en-US" sz="700" b="1" dirty="0" err="1">
                  <a:latin typeface="+mn-ea"/>
                </a:rPr>
                <a:t>입찰품목</a:t>
              </a:r>
              <a:endParaRPr lang="ko-KR" altLang="en-US" sz="700" b="1"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2640372" y="3678455"/>
              <a:ext cx="471675" cy="107722"/>
            </a:xfrm>
            <a:prstGeom prst="rect">
              <a:avLst/>
            </a:prstGeom>
            <a:noFill/>
          </p:spPr>
          <p:txBody>
            <a:bodyPr wrap="square" lIns="0" tIns="0" rIns="0" bIns="0" rtlCol="0">
              <a:spAutoFit/>
            </a:bodyPr>
            <a:lstStyle/>
            <a:p>
              <a:pPr algn="ctr"/>
              <a:r>
                <a:rPr lang="en-US" altLang="ko-KR" sz="700" dirty="0">
                  <a:latin typeface="+mn-ea"/>
                </a:rPr>
                <a:t>4. </a:t>
              </a:r>
              <a:r>
                <a:rPr lang="ko-KR" altLang="en-US" sz="700" dirty="0">
                  <a:latin typeface="+mn-ea"/>
                </a:rPr>
                <a:t>첨부파일</a:t>
              </a:r>
            </a:p>
          </p:txBody>
        </p:sp>
        <p:cxnSp>
          <p:nvCxnSpPr>
            <p:cNvPr id="165" name="직선 연결선 164">
              <a:extLst>
                <a:ext uri="{FF2B5EF4-FFF2-40B4-BE49-F238E27FC236}">
                  <a16:creationId xmlns:a16="http://schemas.microsoft.com/office/drawing/2014/main" id="{E9293055-D5CD-4B9E-7F64-64B2D2CA7A52}"/>
                </a:ext>
              </a:extLst>
            </p:cNvPr>
            <p:cNvCxnSpPr/>
            <p:nvPr/>
          </p:nvCxnSpPr>
          <p:spPr>
            <a:xfrm>
              <a:off x="1984668"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67" name="그룹 166"/>
            <p:cNvGrpSpPr/>
            <p:nvPr/>
          </p:nvGrpSpPr>
          <p:grpSpPr>
            <a:xfrm>
              <a:off x="2924086" y="3640332"/>
              <a:ext cx="422853" cy="187961"/>
              <a:chOff x="3641308" y="2234886"/>
              <a:chExt cx="422853" cy="187961"/>
            </a:xfrm>
          </p:grpSpPr>
          <p:sp>
            <p:nvSpPr>
              <p:cNvPr id="171" name="타원 170"/>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2" name="그룹 171"/>
              <p:cNvGrpSpPr/>
              <p:nvPr/>
            </p:nvGrpSpPr>
            <p:grpSpPr>
              <a:xfrm rot="5400000" flipH="1">
                <a:off x="3679895" y="2305364"/>
                <a:ext cx="94010" cy="47005"/>
                <a:chOff x="6812560" y="3297172"/>
                <a:chExt cx="94010" cy="47005"/>
              </a:xfrm>
            </p:grpSpPr>
            <p:cxnSp>
              <p:nvCxnSpPr>
                <p:cNvPr id="177" name="직선 연결선 17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8" name="직선 연결선 17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3" name="타원 172"/>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74" name="그룹 173"/>
              <p:cNvGrpSpPr/>
              <p:nvPr/>
            </p:nvGrpSpPr>
            <p:grpSpPr>
              <a:xfrm rot="16200000">
                <a:off x="3931564" y="2305364"/>
                <a:ext cx="94010" cy="47005"/>
                <a:chOff x="6812560" y="3297172"/>
                <a:chExt cx="94010" cy="47005"/>
              </a:xfrm>
            </p:grpSpPr>
            <p:cxnSp>
              <p:nvCxnSpPr>
                <p:cNvPr id="175" name="직선 연결선 174"/>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76" name="직선 연결선 175"/>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68" name="직선 연결선 167">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70" name="TextBox 169">
              <a:extLst>
                <a:ext uri="{FF2B5EF4-FFF2-40B4-BE49-F238E27FC236}">
                  <a16:creationId xmlns:a16="http://schemas.microsoft.com/office/drawing/2014/main" id="{FFC49AEA-2A8F-250C-A86A-A7751D9706C3}"/>
                </a:ext>
              </a:extLst>
            </p:cNvPr>
            <p:cNvSpPr txBox="1"/>
            <p:nvPr/>
          </p:nvSpPr>
          <p:spPr>
            <a:xfrm>
              <a:off x="1375856"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183" name="사각형: 둥근 모서리 15">
            <a:extLst>
              <a:ext uri="{FF2B5EF4-FFF2-40B4-BE49-F238E27FC236}">
                <a16:creationId xmlns:a16="http://schemas.microsoft.com/office/drawing/2014/main" id="{E2B61CFB-AD16-68D0-8752-50D9C5E01971}"/>
              </a:ext>
            </a:extLst>
          </p:cNvPr>
          <p:cNvSpPr/>
          <p:nvPr/>
        </p:nvSpPr>
        <p:spPr>
          <a:xfrm>
            <a:off x="2836921" y="3949500"/>
            <a:ext cx="494347" cy="162000"/>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effectLst/>
                <a:uLnTx/>
                <a:uFillTx/>
                <a:latin typeface="맑은 고딕"/>
              </a:rPr>
              <a:t>보기</a:t>
            </a:r>
            <a:endParaRPr kumimoji="1" lang="en-US" sz="700" b="0" i="0" u="none" strike="noStrike" kern="0" cap="none" spc="0" normalizeH="0" baseline="0" noProof="0" dirty="0">
              <a:ln>
                <a:noFill/>
              </a:ln>
              <a:effectLst/>
              <a:uLnTx/>
              <a:uFillTx/>
              <a:latin typeface="맑은 고딕"/>
            </a:endParaRPr>
          </a:p>
        </p:txBody>
      </p:sp>
    </p:spTree>
    <p:extLst>
      <p:ext uri="{BB962C8B-B14F-4D97-AF65-F5344CB8AC3E}">
        <p14:creationId xmlns:p14="http://schemas.microsoft.com/office/powerpoint/2010/main" val="363972640"/>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solidFill>
                  <a:schemeClr val="tx1">
                    <a:lumMod val="85000"/>
                    <a:lumOff val="15000"/>
                  </a:schemeClr>
                </a:solidFill>
              </a:rPr>
              <a:t>첨부파일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432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normAutofit fontScale="77500" lnSpcReduction="20000"/>
          </a:bodyPr>
          <a:lstStyle/>
          <a:p>
            <a:pPr fontAlgn="ctr"/>
            <a:r>
              <a:rPr lang="ko-KR" altLang="en-US" dirty="0" err="1">
                <a:latin typeface="+mn-ea"/>
              </a:rPr>
              <a:t>공개수의협상견적서상세</a:t>
            </a:r>
            <a:r>
              <a:rPr lang="en-US" altLang="ko-KR" dirty="0">
                <a:latin typeface="+mn-ea"/>
              </a:rPr>
              <a:t> - </a:t>
            </a:r>
            <a:r>
              <a:rPr lang="ko-KR" altLang="en-US" dirty="0">
                <a:latin typeface="+mn-ea"/>
              </a:rPr>
              <a:t>파일첨부</a:t>
            </a: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업체담당자가 공개수의협상 견적서를 제출하는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공개수의협상견적서상세</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MUI-BD-12-M81</a:t>
            </a:r>
            <a:endParaRPr lang="ko-KR" altLang="en-US" dirty="0">
              <a:solidFill>
                <a:srgbClr val="000000"/>
              </a:solidFill>
              <a:latin typeface="맑은 고딕" panose="020B0503020000020004" pitchFamily="50" charset="-127"/>
            </a:endParaRPr>
          </a:p>
        </p:txBody>
      </p:sp>
      <p:sp>
        <p:nvSpPr>
          <p:cNvPr id="126" name="직사각형 125">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7" name="TextBox 106">
            <a:extLst>
              <a:ext uri="{FF2B5EF4-FFF2-40B4-BE49-F238E27FC236}">
                <a16:creationId xmlns:a16="http://schemas.microsoft.com/office/drawing/2014/main" id="{FFC49AEA-2A8F-250C-A86A-A7751D9706C3}"/>
              </a:ext>
            </a:extLst>
          </p:cNvPr>
          <p:cNvSpPr txBox="1"/>
          <p:nvPr/>
        </p:nvSpPr>
        <p:spPr>
          <a:xfrm>
            <a:off x="756845" y="1891736"/>
            <a:ext cx="1384615" cy="215444"/>
          </a:xfrm>
          <a:prstGeom prst="rect">
            <a:avLst/>
          </a:prstGeom>
          <a:noFill/>
        </p:spPr>
        <p:txBody>
          <a:bodyPr wrap="square" lIns="0" tIns="0" rIns="0" bIns="0" rtlCol="0">
            <a:spAutoFit/>
          </a:bodyPr>
          <a:lstStyle/>
          <a:p>
            <a:pPr>
              <a:lnSpc>
                <a:spcPct val="200000"/>
              </a:lnSpc>
            </a:pPr>
            <a:r>
              <a:rPr lang="ko-KR" altLang="en-US" sz="700" dirty="0">
                <a:latin typeface="+mn-ea"/>
              </a:rPr>
              <a:t>첨부파일</a:t>
            </a:r>
            <a:r>
              <a:rPr lang="ko-KR" altLang="en-US" sz="700" spc="-52" dirty="0">
                <a:solidFill>
                  <a:schemeClr val="tx1">
                    <a:lumMod val="75000"/>
                    <a:lumOff val="25000"/>
                  </a:schemeClr>
                </a:solidFill>
                <a:latin typeface="맑은 고딕" panose="020B0503020000020004" pitchFamily="50" charset="-127"/>
              </a:rPr>
              <a:t> </a:t>
            </a:r>
            <a:r>
              <a:rPr lang="en-US" altLang="ko-KR" sz="700" spc="-52" dirty="0">
                <a:solidFill>
                  <a:schemeClr val="tx1">
                    <a:lumMod val="75000"/>
                    <a:lumOff val="25000"/>
                  </a:schemeClr>
                </a:solidFill>
                <a:latin typeface="맑은 고딕" panose="020B0503020000020004" pitchFamily="50" charset="-127"/>
              </a:rPr>
              <a:t>– </a:t>
            </a:r>
            <a:r>
              <a:rPr lang="ko-KR" altLang="en-US" sz="700" spc="-52" dirty="0">
                <a:solidFill>
                  <a:schemeClr val="tx1">
                    <a:lumMod val="75000"/>
                    <a:lumOff val="25000"/>
                  </a:schemeClr>
                </a:solidFill>
                <a:latin typeface="맑은 고딕" panose="020B0503020000020004" pitchFamily="50" charset="-127"/>
              </a:rPr>
              <a:t>총 </a:t>
            </a:r>
            <a:r>
              <a:rPr lang="en-US" altLang="ko-KR" sz="700" spc="-52" dirty="0">
                <a:solidFill>
                  <a:schemeClr val="tx1">
                    <a:lumMod val="75000"/>
                    <a:lumOff val="25000"/>
                  </a:schemeClr>
                </a:solidFill>
                <a:latin typeface="맑은 고딕" panose="020B0503020000020004" pitchFamily="50" charset="-127"/>
              </a:rPr>
              <a:t>0</a:t>
            </a:r>
            <a:r>
              <a:rPr lang="ko-KR" altLang="en-US" sz="700" spc="-52" dirty="0">
                <a:solidFill>
                  <a:schemeClr val="tx1">
                    <a:lumMod val="75000"/>
                    <a:lumOff val="25000"/>
                  </a:schemeClr>
                </a:solidFill>
                <a:latin typeface="맑은 고딕" panose="020B0503020000020004" pitchFamily="50" charset="-127"/>
              </a:rPr>
              <a:t>건</a:t>
            </a:r>
            <a:endParaRPr lang="ko-KR" altLang="en-US" sz="700" dirty="0">
              <a:latin typeface="+mn-ea"/>
            </a:endParaRPr>
          </a:p>
        </p:txBody>
      </p:sp>
      <p:sp>
        <p:nvSpPr>
          <p:cNvPr id="108" name="모서리가 둥근 직사각형 107"/>
          <p:cNvSpPr/>
          <p:nvPr/>
        </p:nvSpPr>
        <p:spPr>
          <a:xfrm>
            <a:off x="710315" y="2290122"/>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5" name="TextBox 114">
            <a:extLst>
              <a:ext uri="{FF2B5EF4-FFF2-40B4-BE49-F238E27FC236}">
                <a16:creationId xmlns:a16="http://schemas.microsoft.com/office/drawing/2014/main" id="{FFC49AEA-2A8F-250C-A86A-A7751D9706C3}"/>
              </a:ext>
            </a:extLst>
          </p:cNvPr>
          <p:cNvSpPr txBox="1"/>
          <p:nvPr/>
        </p:nvSpPr>
        <p:spPr>
          <a:xfrm>
            <a:off x="1210983" y="2364643"/>
            <a:ext cx="1682738" cy="215444"/>
          </a:xfrm>
          <a:prstGeom prst="rect">
            <a:avLst/>
          </a:prstGeom>
          <a:noFill/>
        </p:spPr>
        <p:txBody>
          <a:bodyPr wrap="square" lIns="0" tIns="0" rIns="0" bIns="0" rtlCol="0">
            <a:spAutoFit/>
          </a:bodyPr>
          <a:lstStyle/>
          <a:p>
            <a:r>
              <a:rPr lang="ko-KR" altLang="en-US" sz="700" dirty="0" err="1">
                <a:solidFill>
                  <a:srgbClr val="000000"/>
                </a:solidFill>
                <a:latin typeface="맑은 고딕" panose="020B0503020000020004" pitchFamily="50" charset="-127"/>
              </a:rPr>
              <a:t>견적제안서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16" name="TextBox 115">
            <a:extLst>
              <a:ext uri="{FF2B5EF4-FFF2-40B4-BE49-F238E27FC236}">
                <a16:creationId xmlns:a16="http://schemas.microsoft.com/office/drawing/2014/main" id="{FFC49AEA-2A8F-250C-A86A-A7751D9706C3}"/>
              </a:ext>
            </a:extLst>
          </p:cNvPr>
          <p:cNvSpPr txBox="1"/>
          <p:nvPr/>
        </p:nvSpPr>
        <p:spPr>
          <a:xfrm>
            <a:off x="788511" y="2418504"/>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1</a:t>
            </a:r>
          </a:p>
        </p:txBody>
      </p:sp>
      <p:sp>
        <p:nvSpPr>
          <p:cNvPr id="117" name="타원 116"/>
          <p:cNvSpPr/>
          <p:nvPr/>
        </p:nvSpPr>
        <p:spPr>
          <a:xfrm>
            <a:off x="3033078" y="2400365"/>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8" name="모서리가 둥근 직사각형 117"/>
          <p:cNvSpPr/>
          <p:nvPr/>
        </p:nvSpPr>
        <p:spPr>
          <a:xfrm>
            <a:off x="710315" y="2696808"/>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9" name="TextBox 118">
            <a:extLst>
              <a:ext uri="{FF2B5EF4-FFF2-40B4-BE49-F238E27FC236}">
                <a16:creationId xmlns:a16="http://schemas.microsoft.com/office/drawing/2014/main" id="{FFC49AEA-2A8F-250C-A86A-A7751D9706C3}"/>
              </a:ext>
            </a:extLst>
          </p:cNvPr>
          <p:cNvSpPr txBox="1"/>
          <p:nvPr/>
        </p:nvSpPr>
        <p:spPr>
          <a:xfrm>
            <a:off x="1210983" y="2771329"/>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공급자증명서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20" name="TextBox 119">
            <a:extLst>
              <a:ext uri="{FF2B5EF4-FFF2-40B4-BE49-F238E27FC236}">
                <a16:creationId xmlns:a16="http://schemas.microsoft.com/office/drawing/2014/main" id="{FFC49AEA-2A8F-250C-A86A-A7751D9706C3}"/>
              </a:ext>
            </a:extLst>
          </p:cNvPr>
          <p:cNvSpPr txBox="1"/>
          <p:nvPr/>
        </p:nvSpPr>
        <p:spPr>
          <a:xfrm>
            <a:off x="788511" y="2825190"/>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2</a:t>
            </a:r>
          </a:p>
        </p:txBody>
      </p:sp>
      <p:sp>
        <p:nvSpPr>
          <p:cNvPr id="121" name="타원 120"/>
          <p:cNvSpPr/>
          <p:nvPr/>
        </p:nvSpPr>
        <p:spPr>
          <a:xfrm>
            <a:off x="3033078" y="2807051"/>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3" name="TextBox 122">
            <a:extLst>
              <a:ext uri="{FF2B5EF4-FFF2-40B4-BE49-F238E27FC236}">
                <a16:creationId xmlns:a16="http://schemas.microsoft.com/office/drawing/2014/main" id="{FFC49AEA-2A8F-250C-A86A-A7751D9706C3}"/>
              </a:ext>
            </a:extLst>
          </p:cNvPr>
          <p:cNvSpPr txBox="1"/>
          <p:nvPr/>
        </p:nvSpPr>
        <p:spPr>
          <a:xfrm>
            <a:off x="1210983" y="2155004"/>
            <a:ext cx="474348" cy="92333"/>
          </a:xfrm>
          <a:prstGeom prst="rect">
            <a:avLst/>
          </a:prstGeom>
          <a:noFill/>
        </p:spPr>
        <p:txBody>
          <a:bodyPr wrap="square" lIns="0" tIns="0" rIns="0" bIns="0" rtlCol="0">
            <a:spAutoFit/>
          </a:bodyPr>
          <a:lstStyle/>
          <a:p>
            <a:r>
              <a:rPr lang="ko-KR" altLang="en-US" sz="600" dirty="0" err="1">
                <a:solidFill>
                  <a:schemeClr val="tx1">
                    <a:lumMod val="85000"/>
                    <a:lumOff val="15000"/>
                  </a:schemeClr>
                </a:solidFill>
                <a:latin typeface="맑은 고딕" panose="020B0503020000020004" pitchFamily="50" charset="-127"/>
              </a:rPr>
              <a:t>첨부서류명</a:t>
            </a:r>
            <a:endParaRPr lang="en-US" altLang="ko-KR" sz="600" dirty="0">
              <a:solidFill>
                <a:schemeClr val="tx1">
                  <a:lumMod val="85000"/>
                  <a:lumOff val="15000"/>
                </a:schemeClr>
              </a:solidFill>
              <a:latin typeface="맑은 고딕" panose="020B0503020000020004" pitchFamily="50" charset="-127"/>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2942594" y="2155004"/>
            <a:ext cx="324968" cy="92333"/>
          </a:xfrm>
          <a:prstGeom prst="rect">
            <a:avLst/>
          </a:prstGeom>
          <a:noFill/>
        </p:spPr>
        <p:txBody>
          <a:bodyPr wrap="square" lIns="0" tIns="0" rIns="0" bIns="0" rtlCol="0">
            <a:spAutoFit/>
          </a:bodyPr>
          <a:lstStyle/>
          <a:p>
            <a:pPr algn="ctr"/>
            <a:r>
              <a:rPr lang="ko-KR" altLang="en-US" sz="600" dirty="0">
                <a:solidFill>
                  <a:schemeClr val="tx1">
                    <a:lumMod val="85000"/>
                    <a:lumOff val="15000"/>
                  </a:schemeClr>
                </a:solidFill>
                <a:latin typeface="맑은 고딕" panose="020B0503020000020004" pitchFamily="50" charset="-127"/>
              </a:rPr>
              <a:t>다운로드</a:t>
            </a:r>
            <a:endParaRPr lang="en-US" altLang="ko-KR" sz="600" dirty="0">
              <a:solidFill>
                <a:schemeClr val="tx1">
                  <a:lumMod val="85000"/>
                  <a:lumOff val="15000"/>
                </a:schemeClr>
              </a:solidFill>
              <a:latin typeface="맑은 고딕" panose="020B0503020000020004" pitchFamily="50" charset="-127"/>
            </a:endParaRPr>
          </a:p>
        </p:txBody>
      </p:sp>
      <p:sp>
        <p:nvSpPr>
          <p:cNvPr id="125" name="TextBox 124">
            <a:extLst>
              <a:ext uri="{FF2B5EF4-FFF2-40B4-BE49-F238E27FC236}">
                <a16:creationId xmlns:a16="http://schemas.microsoft.com/office/drawing/2014/main" id="{FFC49AEA-2A8F-250C-A86A-A7751D9706C3}"/>
              </a:ext>
            </a:extLst>
          </p:cNvPr>
          <p:cNvSpPr txBox="1"/>
          <p:nvPr/>
        </p:nvSpPr>
        <p:spPr>
          <a:xfrm>
            <a:off x="717079" y="2155004"/>
            <a:ext cx="390650" cy="92333"/>
          </a:xfrm>
          <a:prstGeom prst="rect">
            <a:avLst/>
          </a:prstGeom>
          <a:noFill/>
        </p:spPr>
        <p:txBody>
          <a:bodyPr wrap="square" lIns="0" tIns="0" rIns="0" bIns="0" rtlCol="0">
            <a:spAutoFit/>
          </a:bodyPr>
          <a:lstStyle/>
          <a:p>
            <a:pPr algn="ctr"/>
            <a:r>
              <a:rPr lang="ko-KR" altLang="en-US" sz="600" dirty="0" err="1">
                <a:solidFill>
                  <a:schemeClr val="tx1">
                    <a:lumMod val="85000"/>
                    <a:lumOff val="15000"/>
                  </a:schemeClr>
                </a:solidFill>
                <a:latin typeface="맑은 고딕" panose="020B0503020000020004" pitchFamily="50" charset="-127"/>
              </a:rPr>
              <a:t>항목번호</a:t>
            </a:r>
            <a:endParaRPr lang="en-US" altLang="ko-KR" sz="600" dirty="0">
              <a:solidFill>
                <a:schemeClr val="tx1">
                  <a:lumMod val="85000"/>
                  <a:lumOff val="15000"/>
                </a:schemeClr>
              </a:solidFill>
              <a:latin typeface="맑은 고딕" panose="020B0503020000020004" pitchFamily="50" charset="-127"/>
            </a:endParaRPr>
          </a:p>
        </p:txBody>
      </p:sp>
      <p:sp>
        <p:nvSpPr>
          <p:cNvPr id="55" name="타원 54">
            <a:extLst>
              <a:ext uri="{FF2B5EF4-FFF2-40B4-BE49-F238E27FC236}">
                <a16:creationId xmlns:a16="http://schemas.microsoft.com/office/drawing/2014/main" id="{37A7FF4F-0EAA-1463-560A-D5EC24416103}"/>
              </a:ext>
            </a:extLst>
          </p:cNvPr>
          <p:cNvSpPr/>
          <p:nvPr/>
        </p:nvSpPr>
        <p:spPr>
          <a:xfrm>
            <a:off x="571127" y="1922603"/>
            <a:ext cx="172130" cy="172130"/>
          </a:xfrm>
          <a:prstGeom prst="ellipse">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100" name="모서리가 둥근 직사각형 99"/>
          <p:cNvSpPr/>
          <p:nvPr/>
        </p:nvSpPr>
        <p:spPr>
          <a:xfrm>
            <a:off x="710315" y="3098171"/>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1" name="TextBox 100">
            <a:extLst>
              <a:ext uri="{FF2B5EF4-FFF2-40B4-BE49-F238E27FC236}">
                <a16:creationId xmlns:a16="http://schemas.microsoft.com/office/drawing/2014/main" id="{FFC49AEA-2A8F-250C-A86A-A7751D9706C3}"/>
              </a:ext>
            </a:extLst>
          </p:cNvPr>
          <p:cNvSpPr txBox="1"/>
          <p:nvPr/>
        </p:nvSpPr>
        <p:spPr>
          <a:xfrm>
            <a:off x="1210983" y="3172692"/>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제작사증명서</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2" name="TextBox 101">
            <a:extLst>
              <a:ext uri="{FF2B5EF4-FFF2-40B4-BE49-F238E27FC236}">
                <a16:creationId xmlns:a16="http://schemas.microsoft.com/office/drawing/2014/main" id="{FFC49AEA-2A8F-250C-A86A-A7751D9706C3}"/>
              </a:ext>
            </a:extLst>
          </p:cNvPr>
          <p:cNvSpPr txBox="1"/>
          <p:nvPr/>
        </p:nvSpPr>
        <p:spPr>
          <a:xfrm>
            <a:off x="788511" y="3226553"/>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3</a:t>
            </a:r>
          </a:p>
        </p:txBody>
      </p:sp>
      <p:sp>
        <p:nvSpPr>
          <p:cNvPr id="103" name="타원 102"/>
          <p:cNvSpPr/>
          <p:nvPr/>
        </p:nvSpPr>
        <p:spPr>
          <a:xfrm>
            <a:off x="3033078" y="3208414"/>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모서리가 둥근 직사각형 103"/>
          <p:cNvSpPr/>
          <p:nvPr/>
        </p:nvSpPr>
        <p:spPr>
          <a:xfrm>
            <a:off x="710315" y="3504857"/>
            <a:ext cx="2652743" cy="364486"/>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TextBox 104">
            <a:extLst>
              <a:ext uri="{FF2B5EF4-FFF2-40B4-BE49-F238E27FC236}">
                <a16:creationId xmlns:a16="http://schemas.microsoft.com/office/drawing/2014/main" id="{FFC49AEA-2A8F-250C-A86A-A7751D9706C3}"/>
              </a:ext>
            </a:extLst>
          </p:cNvPr>
          <p:cNvSpPr txBox="1"/>
          <p:nvPr/>
        </p:nvSpPr>
        <p:spPr>
          <a:xfrm>
            <a:off x="1210983" y="3579378"/>
            <a:ext cx="1682738" cy="215444"/>
          </a:xfrm>
          <a:prstGeom prst="rect">
            <a:avLst/>
          </a:prstGeom>
          <a:noFill/>
        </p:spPr>
        <p:txBody>
          <a:bodyPr wrap="square" lIns="0" tIns="0" rIns="0" bIns="0" rtlCol="0">
            <a:spAutoFit/>
          </a:bodyPr>
          <a:lstStyle/>
          <a:p>
            <a:r>
              <a:rPr lang="ko-KR" altLang="en-US" sz="700" dirty="0">
                <a:solidFill>
                  <a:srgbClr val="000000"/>
                </a:solidFill>
                <a:latin typeface="맑은 고딕" panose="020B0503020000020004" pitchFamily="50" charset="-127"/>
              </a:rPr>
              <a:t>기타 공고요구서류</a:t>
            </a:r>
            <a:endParaRPr lang="en-US" altLang="ko-KR" sz="700" dirty="0">
              <a:solidFill>
                <a:schemeClr val="tx1">
                  <a:lumMod val="85000"/>
                  <a:lumOff val="15000"/>
                </a:schemeClr>
              </a:solidFill>
              <a:latin typeface="맑은 고딕" panose="020B0503020000020004" pitchFamily="50" charset="-127"/>
            </a:endParaRPr>
          </a:p>
          <a:p>
            <a:r>
              <a:rPr lang="ko-KR" altLang="en-US" sz="700" dirty="0" err="1">
                <a:solidFill>
                  <a:schemeClr val="tx1">
                    <a:lumMod val="85000"/>
                    <a:lumOff val="15000"/>
                  </a:schemeClr>
                </a:solidFill>
                <a:latin typeface="맑은 고딕" panose="020B0503020000020004" pitchFamily="50" charset="-127"/>
              </a:rPr>
              <a:t>첨부파일명</a:t>
            </a:r>
            <a:r>
              <a:rPr lang="en-US" altLang="ko-KR" sz="700" dirty="0">
                <a:solidFill>
                  <a:schemeClr val="tx1">
                    <a:lumMod val="85000"/>
                    <a:lumOff val="15000"/>
                  </a:schemeClr>
                </a:solidFill>
                <a:latin typeface="맑은 고딕" panose="020B0503020000020004" pitchFamily="50" charset="-127"/>
              </a:rPr>
              <a:t>.</a:t>
            </a:r>
            <a:r>
              <a:rPr lang="en-US" altLang="ko-KR" sz="700" dirty="0" err="1">
                <a:solidFill>
                  <a:schemeClr val="tx1">
                    <a:lumMod val="85000"/>
                    <a:lumOff val="15000"/>
                  </a:schemeClr>
                </a:solidFill>
                <a:latin typeface="맑은 고딕" panose="020B0503020000020004" pitchFamily="50" charset="-127"/>
              </a:rPr>
              <a:t>hwp</a:t>
            </a:r>
            <a:r>
              <a:rPr lang="en-US" altLang="ko-KR" sz="700" dirty="0">
                <a:solidFill>
                  <a:schemeClr val="tx1">
                    <a:lumMod val="85000"/>
                    <a:lumOff val="15000"/>
                  </a:schemeClr>
                </a:solidFill>
                <a:latin typeface="맑은 고딕" panose="020B0503020000020004" pitchFamily="50" charset="-127"/>
              </a:rPr>
              <a:t> [</a:t>
            </a:r>
            <a:r>
              <a:rPr lang="ko-KR" altLang="en-US" sz="700" dirty="0" err="1">
                <a:solidFill>
                  <a:schemeClr val="tx1">
                    <a:lumMod val="85000"/>
                    <a:lumOff val="15000"/>
                  </a:schemeClr>
                </a:solidFill>
                <a:latin typeface="맑은 고딕" panose="020B0503020000020004" pitchFamily="50" charset="-127"/>
              </a:rPr>
              <a:t>파일크기</a:t>
            </a:r>
            <a:r>
              <a:rPr lang="en-US" altLang="ko-KR" sz="700" dirty="0">
                <a:solidFill>
                  <a:schemeClr val="tx1">
                    <a:lumMod val="85000"/>
                    <a:lumOff val="15000"/>
                  </a:schemeClr>
                </a:solidFill>
                <a:latin typeface="맑은 고딕" panose="020B0503020000020004" pitchFamily="50" charset="-127"/>
              </a:rPr>
              <a:t>]</a:t>
            </a:r>
          </a:p>
        </p:txBody>
      </p:sp>
      <p:sp>
        <p:nvSpPr>
          <p:cNvPr id="106" name="TextBox 105">
            <a:extLst>
              <a:ext uri="{FF2B5EF4-FFF2-40B4-BE49-F238E27FC236}">
                <a16:creationId xmlns:a16="http://schemas.microsoft.com/office/drawing/2014/main" id="{FFC49AEA-2A8F-250C-A86A-A7751D9706C3}"/>
              </a:ext>
            </a:extLst>
          </p:cNvPr>
          <p:cNvSpPr txBox="1"/>
          <p:nvPr/>
        </p:nvSpPr>
        <p:spPr>
          <a:xfrm>
            <a:off x="788511" y="3633239"/>
            <a:ext cx="247786" cy="107722"/>
          </a:xfrm>
          <a:prstGeom prst="rect">
            <a:avLst/>
          </a:prstGeom>
          <a:noFill/>
        </p:spPr>
        <p:txBody>
          <a:bodyPr wrap="square" lIns="0" tIns="0" rIns="0" bIns="0" rtlCol="0">
            <a:spAutoFit/>
          </a:bodyPr>
          <a:lstStyle/>
          <a:p>
            <a:pPr algn="ctr"/>
            <a:r>
              <a:rPr lang="en-US" altLang="ko-KR" sz="700" dirty="0">
                <a:solidFill>
                  <a:schemeClr val="tx1">
                    <a:lumMod val="85000"/>
                    <a:lumOff val="15000"/>
                  </a:schemeClr>
                </a:solidFill>
                <a:latin typeface="맑은 고딕" panose="020B0503020000020004" pitchFamily="50" charset="-127"/>
              </a:rPr>
              <a:t>4</a:t>
            </a:r>
          </a:p>
        </p:txBody>
      </p:sp>
      <p:sp>
        <p:nvSpPr>
          <p:cNvPr id="129" name="타원 128"/>
          <p:cNvSpPr/>
          <p:nvPr/>
        </p:nvSpPr>
        <p:spPr>
          <a:xfrm>
            <a:off x="3033078" y="3615100"/>
            <a:ext cx="144000" cy="1440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0" name="모서리가 둥근 직사각형 139"/>
          <p:cNvSpPr/>
          <p:nvPr/>
        </p:nvSpPr>
        <p:spPr>
          <a:xfrm rot="5400000">
            <a:off x="2662242" y="2542162"/>
            <a:ext cx="1352376" cy="36000"/>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62" name="그룹 61"/>
          <p:cNvGrpSpPr/>
          <p:nvPr/>
        </p:nvGrpSpPr>
        <p:grpSpPr>
          <a:xfrm>
            <a:off x="675400" y="1493927"/>
            <a:ext cx="2712027" cy="334927"/>
            <a:chOff x="675399" y="3560135"/>
            <a:chExt cx="2712027" cy="334927"/>
          </a:xfrm>
        </p:grpSpPr>
        <p:cxnSp>
          <p:nvCxnSpPr>
            <p:cNvPr id="63" name="직선 연결선 62">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65" name="TextBox 64">
              <a:extLst>
                <a:ext uri="{FF2B5EF4-FFF2-40B4-BE49-F238E27FC236}">
                  <a16:creationId xmlns:a16="http://schemas.microsoft.com/office/drawing/2014/main" id="{FFC49AEA-2A8F-250C-A86A-A7751D9706C3}"/>
                </a:ext>
              </a:extLst>
            </p:cNvPr>
            <p:cNvSpPr txBox="1"/>
            <p:nvPr/>
          </p:nvSpPr>
          <p:spPr>
            <a:xfrm>
              <a:off x="1450797"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66" name="TextBox 65">
              <a:extLst>
                <a:ext uri="{FF2B5EF4-FFF2-40B4-BE49-F238E27FC236}">
                  <a16:creationId xmlns:a16="http://schemas.microsoft.com/office/drawing/2014/main" id="{FFC49AEA-2A8F-250C-A86A-A7751D9706C3}"/>
                </a:ext>
              </a:extLst>
            </p:cNvPr>
            <p:cNvSpPr txBox="1"/>
            <p:nvPr/>
          </p:nvSpPr>
          <p:spPr>
            <a:xfrm>
              <a:off x="2094614" y="3678455"/>
              <a:ext cx="471675"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67" name="직선 연결선 66">
              <a:extLst>
                <a:ext uri="{FF2B5EF4-FFF2-40B4-BE49-F238E27FC236}">
                  <a16:creationId xmlns:a16="http://schemas.microsoft.com/office/drawing/2014/main" id="{E9293055-D5CD-4B9E-7F64-64B2D2CA7A52}"/>
                </a:ext>
              </a:extLst>
            </p:cNvPr>
            <p:cNvCxnSpPr/>
            <p:nvPr/>
          </p:nvCxnSpPr>
          <p:spPr>
            <a:xfrm>
              <a:off x="2062419"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68" name="그룹 67"/>
            <p:cNvGrpSpPr/>
            <p:nvPr/>
          </p:nvGrpSpPr>
          <p:grpSpPr>
            <a:xfrm>
              <a:off x="2924086" y="3640332"/>
              <a:ext cx="422853" cy="187961"/>
              <a:chOff x="3641308" y="2234886"/>
              <a:chExt cx="422853" cy="187961"/>
            </a:xfrm>
          </p:grpSpPr>
          <p:sp>
            <p:nvSpPr>
              <p:cNvPr id="72" name="타원 7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rot="5400000" flipH="1">
                <a:off x="3679895" y="2305364"/>
                <a:ext cx="94010" cy="47005"/>
                <a:chOff x="6812560" y="3297172"/>
                <a:chExt cx="94010" cy="47005"/>
              </a:xfrm>
            </p:grpSpPr>
            <p:cxnSp>
              <p:nvCxnSpPr>
                <p:cNvPr id="78" name="직선 연결선 7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9" name="직선 연결선 7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4" name="타원 7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5" name="그룹 74"/>
              <p:cNvGrpSpPr/>
              <p:nvPr/>
            </p:nvGrpSpPr>
            <p:grpSpPr>
              <a:xfrm rot="16200000">
                <a:off x="3931564" y="2305364"/>
                <a:ext cx="94010" cy="47005"/>
                <a:chOff x="6812560" y="3297172"/>
                <a:chExt cx="94010" cy="47005"/>
              </a:xfrm>
            </p:grpSpPr>
            <p:cxnSp>
              <p:nvCxnSpPr>
                <p:cNvPr id="76" name="직선 연결선 7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7" name="직선 연결선 7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69" name="직선 연결선 68">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1" name="TextBox 70">
              <a:extLst>
                <a:ext uri="{FF2B5EF4-FFF2-40B4-BE49-F238E27FC236}">
                  <a16:creationId xmlns:a16="http://schemas.microsoft.com/office/drawing/2014/main" id="{FFC49AEA-2A8F-250C-A86A-A7751D9706C3}"/>
                </a:ext>
              </a:extLst>
            </p:cNvPr>
            <p:cNvSpPr txBox="1"/>
            <p:nvPr/>
          </p:nvSpPr>
          <p:spPr>
            <a:xfrm>
              <a:off x="830098"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98" name="직사각형 97">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99" name="직선 연결선 98">
            <a:extLst>
              <a:ext uri="{FF2B5EF4-FFF2-40B4-BE49-F238E27FC236}">
                <a16:creationId xmlns:a16="http://schemas.microsoft.com/office/drawing/2014/main" id="{E9293055-D5CD-4B9E-7F64-64B2D2CA7A52}"/>
              </a:ext>
            </a:extLst>
          </p:cNvPr>
          <p:cNvCxnSpPr/>
          <p:nvPr/>
        </p:nvCxnSpPr>
        <p:spPr>
          <a:xfrm>
            <a:off x="3795733" y="303848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09" name="TextBox 108">
            <a:extLst>
              <a:ext uri="{FF2B5EF4-FFF2-40B4-BE49-F238E27FC236}">
                <a16:creationId xmlns:a16="http://schemas.microsoft.com/office/drawing/2014/main" id="{FFC49AEA-2A8F-250C-A86A-A7751D9706C3}"/>
              </a:ext>
            </a:extLst>
          </p:cNvPr>
          <p:cNvSpPr txBox="1"/>
          <p:nvPr/>
        </p:nvSpPr>
        <p:spPr>
          <a:xfrm>
            <a:off x="3914777" y="2002482"/>
            <a:ext cx="2473940" cy="969496"/>
          </a:xfrm>
          <a:prstGeom prst="rect">
            <a:avLst/>
          </a:prstGeom>
          <a:noFill/>
        </p:spPr>
        <p:txBody>
          <a:bodyPr wrap="square" lIns="0" tIns="0" rIns="0" bIns="0" rtlCol="0">
            <a:spAutoFit/>
          </a:bodyPr>
          <a:lstStyle/>
          <a:p>
            <a:r>
              <a:rPr lang="ko-KR" altLang="en-US" sz="700" dirty="0">
                <a:latin typeface="+mn-ea"/>
              </a:rPr>
              <a:t>견적서</a:t>
            </a:r>
            <a:r>
              <a:rPr lang="en-US" altLang="ko-KR" sz="700" dirty="0">
                <a:latin typeface="+mn-ea"/>
              </a:rPr>
              <a:t>(</a:t>
            </a:r>
            <a:r>
              <a:rPr lang="ko-KR" altLang="en-US" sz="700" dirty="0" err="1">
                <a:latin typeface="+mn-ea"/>
              </a:rPr>
              <a:t>가격제안서</a:t>
            </a:r>
            <a:r>
              <a:rPr lang="en-US" altLang="ko-KR" sz="700" dirty="0">
                <a:latin typeface="+mn-ea"/>
              </a:rPr>
              <a:t>)</a:t>
            </a:r>
            <a:r>
              <a:rPr lang="ko-KR" altLang="en-US" sz="700" dirty="0">
                <a:latin typeface="+mn-ea"/>
              </a:rPr>
              <a:t>는 제출 후 수정할 수 없습니다</a:t>
            </a:r>
            <a:r>
              <a:rPr lang="en-US" altLang="ko-KR" sz="700" dirty="0">
                <a:latin typeface="+mn-ea"/>
              </a:rPr>
              <a:t>. </a:t>
            </a:r>
            <a:r>
              <a:rPr lang="ko-KR" altLang="en-US" sz="700" dirty="0" err="1">
                <a:latin typeface="+mn-ea"/>
              </a:rPr>
              <a:t>입찰내역을</a:t>
            </a:r>
            <a:r>
              <a:rPr lang="ko-KR" altLang="en-US" sz="700" dirty="0">
                <a:latin typeface="+mn-ea"/>
              </a:rPr>
              <a:t> 주의하여 작성하시기 바랍니다</a:t>
            </a:r>
            <a:r>
              <a:rPr lang="en-US" altLang="ko-KR" sz="700" dirty="0">
                <a:latin typeface="+mn-ea"/>
              </a:rPr>
              <a:t>.</a:t>
            </a:r>
          </a:p>
          <a:p>
            <a:r>
              <a:rPr lang="ko-KR" altLang="en-US" sz="700" dirty="0">
                <a:latin typeface="+mn-ea"/>
              </a:rPr>
              <a:t>본인은 국가를 당사자로 하는 계약에 관한 법률시행규칙에 의한 공사 입찰유의서에 따라 응찰하여 이 입찰이 귀 기관에 의하여 수락되면 공사 계약일반조건</a:t>
            </a:r>
            <a:r>
              <a:rPr lang="en-US" altLang="ko-KR" sz="700" dirty="0">
                <a:latin typeface="+mn-ea"/>
              </a:rPr>
              <a:t>, </a:t>
            </a:r>
            <a:r>
              <a:rPr lang="ko-KR" altLang="en-US" sz="700" dirty="0">
                <a:latin typeface="+mn-ea"/>
              </a:rPr>
              <a:t>계약특수조건</a:t>
            </a:r>
            <a:r>
              <a:rPr lang="en-US" altLang="ko-KR" sz="700" dirty="0">
                <a:latin typeface="+mn-ea"/>
              </a:rPr>
              <a:t>, </a:t>
            </a:r>
            <a:r>
              <a:rPr lang="ko-KR" altLang="en-US" sz="700" dirty="0">
                <a:latin typeface="+mn-ea"/>
              </a:rPr>
              <a:t>설계서 및 현장 설명 사항에 따라 위의 입찰금액으로 준공기한내에 공사를 완공할 것을 </a:t>
            </a:r>
            <a:r>
              <a:rPr lang="ko-KR" altLang="en-US" sz="700" dirty="0" err="1">
                <a:latin typeface="+mn-ea"/>
              </a:rPr>
              <a:t>확약하오며</a:t>
            </a:r>
            <a:r>
              <a:rPr lang="ko-KR" altLang="en-US" sz="700" dirty="0">
                <a:latin typeface="+mn-ea"/>
              </a:rPr>
              <a:t> 견적서를 제출합니다</a:t>
            </a:r>
            <a:r>
              <a:rPr lang="en-US" altLang="ko-KR" sz="700" dirty="0">
                <a:latin typeface="+mn-ea"/>
              </a:rPr>
              <a:t>.</a:t>
            </a:r>
          </a:p>
          <a:p>
            <a:endParaRPr lang="en-US" altLang="ko-KR" sz="700" dirty="0">
              <a:latin typeface="+mn-ea"/>
            </a:endParaRPr>
          </a:p>
          <a:p>
            <a:r>
              <a:rPr lang="ko-KR" altLang="en-US" sz="700" dirty="0">
                <a:latin typeface="+mn-ea"/>
              </a:rPr>
              <a:t>유의사항 </a:t>
            </a:r>
            <a:r>
              <a:rPr lang="en-US" altLang="ko-KR" sz="700" dirty="0">
                <a:latin typeface="+mn-ea"/>
              </a:rPr>
              <a:t>: </a:t>
            </a:r>
          </a:p>
        </p:txBody>
      </p:sp>
      <p:cxnSp>
        <p:nvCxnSpPr>
          <p:cNvPr id="110" name="직선 연결선 109">
            <a:extLst>
              <a:ext uri="{FF2B5EF4-FFF2-40B4-BE49-F238E27FC236}">
                <a16:creationId xmlns:a16="http://schemas.microsoft.com/office/drawing/2014/main" id="{E9293055-D5CD-4B9E-7F64-64B2D2CA7A52}"/>
              </a:ext>
            </a:extLst>
          </p:cNvPr>
          <p:cNvCxnSpPr/>
          <p:nvPr/>
        </p:nvCxnSpPr>
        <p:spPr>
          <a:xfrm>
            <a:off x="3795733" y="189226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133" name="그룹 132"/>
          <p:cNvGrpSpPr/>
          <p:nvPr/>
        </p:nvGrpSpPr>
        <p:grpSpPr>
          <a:xfrm>
            <a:off x="3795733" y="1493927"/>
            <a:ext cx="2712027" cy="334927"/>
            <a:chOff x="675399" y="3560135"/>
            <a:chExt cx="2712027" cy="334927"/>
          </a:xfrm>
        </p:grpSpPr>
        <p:cxnSp>
          <p:nvCxnSpPr>
            <p:cNvPr id="134" name="직선 연결선 133">
              <a:extLst>
                <a:ext uri="{FF2B5EF4-FFF2-40B4-BE49-F238E27FC236}">
                  <a16:creationId xmlns:a16="http://schemas.microsoft.com/office/drawing/2014/main" id="{E9293055-D5CD-4B9E-7F64-64B2D2CA7A52}"/>
                </a:ext>
              </a:extLst>
            </p:cNvPr>
            <p:cNvCxnSpPr/>
            <p:nvPr/>
          </p:nvCxnSpPr>
          <p:spPr>
            <a:xfrm>
              <a:off x="675399" y="3895062"/>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35" name="TextBox 134">
              <a:extLst>
                <a:ext uri="{FF2B5EF4-FFF2-40B4-BE49-F238E27FC236}">
                  <a16:creationId xmlns:a16="http://schemas.microsoft.com/office/drawing/2014/main" id="{FFC49AEA-2A8F-250C-A86A-A7751D9706C3}"/>
                </a:ext>
              </a:extLst>
            </p:cNvPr>
            <p:cNvSpPr txBox="1"/>
            <p:nvPr/>
          </p:nvSpPr>
          <p:spPr>
            <a:xfrm>
              <a:off x="1450797" y="3678455"/>
              <a:ext cx="501681" cy="107722"/>
            </a:xfrm>
            <a:prstGeom prst="rect">
              <a:avLst/>
            </a:prstGeom>
            <a:noFill/>
          </p:spPr>
          <p:txBody>
            <a:bodyPr wrap="square" lIns="0" tIns="0" rIns="0" bIns="0" rtlCol="0">
              <a:spAutoFit/>
            </a:bodyPr>
            <a:lstStyle/>
            <a:p>
              <a:pPr algn="ctr"/>
              <a:r>
                <a:rPr lang="en-US" altLang="ko-KR" sz="700" dirty="0">
                  <a:latin typeface="+mn-ea"/>
                </a:rPr>
                <a:t>3.</a:t>
              </a:r>
              <a:r>
                <a:rPr lang="ko-KR" altLang="en-US" sz="700" dirty="0">
                  <a:latin typeface="+mn-ea"/>
                </a:rPr>
                <a:t> </a:t>
              </a:r>
              <a:r>
                <a:rPr lang="ko-KR" altLang="en-US" sz="700" dirty="0" err="1">
                  <a:latin typeface="+mn-ea"/>
                </a:rPr>
                <a:t>입찰품목</a:t>
              </a:r>
              <a:endParaRPr lang="ko-KR" altLang="en-US" sz="700" dirty="0">
                <a:latin typeface="+mn-ea"/>
              </a:endParaRPr>
            </a:p>
          </p:txBody>
        </p:sp>
        <p:sp>
          <p:nvSpPr>
            <p:cNvPr id="136" name="TextBox 135">
              <a:extLst>
                <a:ext uri="{FF2B5EF4-FFF2-40B4-BE49-F238E27FC236}">
                  <a16:creationId xmlns:a16="http://schemas.microsoft.com/office/drawing/2014/main" id="{FFC49AEA-2A8F-250C-A86A-A7751D9706C3}"/>
                </a:ext>
              </a:extLst>
            </p:cNvPr>
            <p:cNvSpPr txBox="1"/>
            <p:nvPr/>
          </p:nvSpPr>
          <p:spPr>
            <a:xfrm>
              <a:off x="2094614" y="3678455"/>
              <a:ext cx="471675" cy="107722"/>
            </a:xfrm>
            <a:prstGeom prst="rect">
              <a:avLst/>
            </a:prstGeom>
            <a:noFill/>
          </p:spPr>
          <p:txBody>
            <a:bodyPr wrap="square" lIns="0" tIns="0" rIns="0" bIns="0" rtlCol="0">
              <a:spAutoFit/>
            </a:bodyPr>
            <a:lstStyle/>
            <a:p>
              <a:pPr algn="ctr"/>
              <a:r>
                <a:rPr lang="en-US" altLang="ko-KR" sz="700" b="1" dirty="0">
                  <a:latin typeface="+mn-ea"/>
                </a:rPr>
                <a:t>4. </a:t>
              </a:r>
              <a:r>
                <a:rPr lang="ko-KR" altLang="en-US" sz="700" b="1" dirty="0">
                  <a:latin typeface="+mn-ea"/>
                </a:rPr>
                <a:t>첨부파일</a:t>
              </a:r>
            </a:p>
          </p:txBody>
        </p:sp>
        <p:cxnSp>
          <p:nvCxnSpPr>
            <p:cNvPr id="137" name="직선 연결선 136">
              <a:extLst>
                <a:ext uri="{FF2B5EF4-FFF2-40B4-BE49-F238E27FC236}">
                  <a16:creationId xmlns:a16="http://schemas.microsoft.com/office/drawing/2014/main" id="{E9293055-D5CD-4B9E-7F64-64B2D2CA7A52}"/>
                </a:ext>
              </a:extLst>
            </p:cNvPr>
            <p:cNvCxnSpPr/>
            <p:nvPr/>
          </p:nvCxnSpPr>
          <p:spPr>
            <a:xfrm>
              <a:off x="2062419" y="3895062"/>
              <a:ext cx="525453"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138" name="그룹 137"/>
            <p:cNvGrpSpPr/>
            <p:nvPr/>
          </p:nvGrpSpPr>
          <p:grpSpPr>
            <a:xfrm>
              <a:off x="2924086" y="3640332"/>
              <a:ext cx="422853" cy="187961"/>
              <a:chOff x="3641308" y="2234886"/>
              <a:chExt cx="422853" cy="187961"/>
            </a:xfrm>
          </p:grpSpPr>
          <p:sp>
            <p:nvSpPr>
              <p:cNvPr id="143" name="타원 142"/>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4" name="그룹 143"/>
              <p:cNvGrpSpPr/>
              <p:nvPr/>
            </p:nvGrpSpPr>
            <p:grpSpPr>
              <a:xfrm rot="5400000" flipH="1">
                <a:off x="3679895" y="2305364"/>
                <a:ext cx="94010" cy="47005"/>
                <a:chOff x="6812560" y="3297172"/>
                <a:chExt cx="94010" cy="47005"/>
              </a:xfrm>
            </p:grpSpPr>
            <p:cxnSp>
              <p:nvCxnSpPr>
                <p:cNvPr id="149" name="직선 연결선 1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67" name="직선 연결선 16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45" name="타원 144"/>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146" name="그룹 145"/>
              <p:cNvGrpSpPr/>
              <p:nvPr/>
            </p:nvGrpSpPr>
            <p:grpSpPr>
              <a:xfrm rot="16200000">
                <a:off x="3931564" y="2305364"/>
                <a:ext cx="94010" cy="47005"/>
                <a:chOff x="6812560" y="3297172"/>
                <a:chExt cx="94010" cy="47005"/>
              </a:xfrm>
            </p:grpSpPr>
            <p:cxnSp>
              <p:nvCxnSpPr>
                <p:cNvPr id="147" name="직선 연결선 1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48" name="직선 연결선 1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cxnSp>
          <p:nvCxnSpPr>
            <p:cNvPr id="139" name="직선 연결선 138">
              <a:extLst>
                <a:ext uri="{FF2B5EF4-FFF2-40B4-BE49-F238E27FC236}">
                  <a16:creationId xmlns:a16="http://schemas.microsoft.com/office/drawing/2014/main" id="{E9293055-D5CD-4B9E-7F64-64B2D2CA7A52}"/>
                </a:ext>
              </a:extLst>
            </p:cNvPr>
            <p:cNvCxnSpPr/>
            <p:nvPr/>
          </p:nvCxnSpPr>
          <p:spPr>
            <a:xfrm>
              <a:off x="675399" y="3560135"/>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2" name="TextBox 141">
              <a:extLst>
                <a:ext uri="{FF2B5EF4-FFF2-40B4-BE49-F238E27FC236}">
                  <a16:creationId xmlns:a16="http://schemas.microsoft.com/office/drawing/2014/main" id="{FFC49AEA-2A8F-250C-A86A-A7751D9706C3}"/>
                </a:ext>
              </a:extLst>
            </p:cNvPr>
            <p:cNvSpPr txBox="1"/>
            <p:nvPr/>
          </p:nvSpPr>
          <p:spPr>
            <a:xfrm>
              <a:off x="830098" y="3678455"/>
              <a:ext cx="478562" cy="107722"/>
            </a:xfrm>
            <a:prstGeom prst="rect">
              <a:avLst/>
            </a:prstGeom>
            <a:noFill/>
          </p:spPr>
          <p:txBody>
            <a:bodyPr wrap="square" lIns="0" tIns="0" rIns="0" bIns="0" rtlCol="0">
              <a:spAutoFit/>
            </a:bodyPr>
            <a:lstStyle/>
            <a:p>
              <a:pPr algn="ctr"/>
              <a:r>
                <a:rPr lang="en-US" altLang="ko-KR" sz="700" dirty="0">
                  <a:latin typeface="+mn-ea"/>
                </a:rPr>
                <a:t>2.</a:t>
              </a:r>
              <a:r>
                <a:rPr lang="ko-KR" altLang="en-US" sz="700" dirty="0">
                  <a:latin typeface="+mn-ea"/>
                </a:rPr>
                <a:t> 업체정보</a:t>
              </a:r>
            </a:p>
          </p:txBody>
        </p:sp>
      </p:grpSp>
      <p:sp>
        <p:nvSpPr>
          <p:cNvPr id="168" name="TextBox 167">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Tree>
    <p:extLst>
      <p:ext uri="{BB962C8B-B14F-4D97-AF65-F5344CB8AC3E}">
        <p14:creationId xmlns:p14="http://schemas.microsoft.com/office/powerpoint/2010/main" val="87449948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433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63770"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dm_pbancGnrlInfo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296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207472"/>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a:t>
                      </a: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공고차수</a:t>
                      </a:r>
                      <a:endParaRPr lang="ko-KR" alt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pbancType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공고구분</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(ANTC)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6792415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pbancRqstYmd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987578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790333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63828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7789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(CTMC)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518668"/>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138433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027366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etdcDdlnDt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588139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504283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154397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344442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방위사업청담당자</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4381EE26-F3EF-ADB2-9BE7-46D22CD771ED}"/>
              </a:ext>
            </a:extLst>
          </p:cNvPr>
          <p:cNvSpPr txBox="1"/>
          <p:nvPr/>
        </p:nvSpPr>
        <p:spPr>
          <a:xfrm>
            <a:off x="458117" y="4446108"/>
            <a:ext cx="2379425"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신청업체 데이터 영역 </a:t>
            </a:r>
            <a:r>
              <a:rPr lang="en-US" altLang="ko-KR" sz="900" b="1" dirty="0">
                <a:solidFill>
                  <a:prstClr val="black"/>
                </a:solidFill>
              </a:rPr>
              <a:t>(</a:t>
            </a:r>
            <a:r>
              <a:rPr lang="en-US" altLang="ko-KR" sz="900" b="1" dirty="0" err="1">
                <a:solidFill>
                  <a:prstClr val="black"/>
                </a:solidFill>
              </a:rPr>
              <a:t>dm_aplyBzenty</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4A2A78DB-898E-F6F7-B7F2-BDE6122ACAF8}"/>
              </a:ext>
            </a:extLst>
          </p:cNvPr>
          <p:cNvGraphicFramePr>
            <a:graphicFrameLocks noGrp="1"/>
          </p:cNvGraphicFramePr>
          <p:nvPr/>
        </p:nvGraphicFramePr>
        <p:xfrm>
          <a:off x="452999" y="4657311"/>
          <a:ext cx="8994883" cy="18672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a:latin typeface="+mn-ea"/>
                          <a:ea typeface="+mn-ea"/>
                        </a:rPr>
                        <a:t>항목명</a:t>
                      </a:r>
                      <a:r>
                        <a:rPr lang="en-US" altLang="ko-KR" sz="800" b="1">
                          <a:latin typeface="+mn-ea"/>
                          <a:ea typeface="+mn-ea"/>
                        </a:rPr>
                        <a:t>(</a:t>
                      </a:r>
                      <a:r>
                        <a:rPr lang="ko-KR" altLang="en-US" sz="800" b="1">
                          <a:latin typeface="+mn-ea"/>
                          <a:ea typeface="+mn-ea"/>
                        </a:rPr>
                        <a:t>한글</a:t>
                      </a:r>
                      <a:r>
                        <a:rPr lang="en-US" altLang="ko-KR" sz="800" b="1">
                          <a:latin typeface="+mn-ea"/>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2527269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785792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splyRrno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 주민등록번호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398486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0200253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841067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신청업체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3143779121"/>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434</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(2/3)</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326525" cy="211203"/>
          </a:xfrm>
          <a:prstGeom prst="rect">
            <a:avLst/>
          </a:prstGeom>
          <a:noFill/>
        </p:spPr>
        <p:txBody>
          <a:bodyPr wrap="none" lIns="36000" tIns="36000" rIns="36000" bIns="36000" rtlCol="0">
            <a:spAutoFit/>
          </a:bodyPr>
          <a:lstStyle/>
          <a:p>
            <a:r>
              <a:rPr lang="en-US" altLang="ko-KR" sz="900" b="1" dirty="0">
                <a:solidFill>
                  <a:prstClr val="black"/>
                </a:solidFill>
              </a:rPr>
              <a:t>1.3. </a:t>
            </a:r>
            <a:r>
              <a:rPr lang="ko-KR" altLang="en-US" sz="900" b="1" dirty="0">
                <a:solidFill>
                  <a:prstClr val="black"/>
                </a:solidFill>
              </a:rPr>
              <a:t>입찰업체 데이터 영역 </a:t>
            </a:r>
            <a:r>
              <a:rPr lang="en-US" altLang="ko-KR" sz="900" b="1" dirty="0">
                <a:solidFill>
                  <a:prstClr val="black"/>
                </a:solidFill>
              </a:rPr>
              <a:t>(</a:t>
            </a:r>
            <a:r>
              <a:rPr lang="en-US" altLang="ko-KR" sz="900" b="1" dirty="0" err="1">
                <a:solidFill>
                  <a:prstClr val="black"/>
                </a:solidFill>
              </a:rPr>
              <a:t>dm_bidBzenty</a:t>
            </a:r>
            <a:r>
              <a:rPr lang="en-US" altLang="ko-KR" sz="900" b="1" dirty="0">
                <a:solidFill>
                  <a:prstClr val="black"/>
                </a:solidFill>
              </a:rPr>
              <a:t>)</a:t>
            </a:r>
            <a:endParaRPr lang="ko-KR" altLang="en-US" sz="900" b="1" dirty="0">
              <a:solidFill>
                <a:prstClr val="black"/>
              </a:solidFill>
            </a:endParaRPr>
          </a:p>
        </p:txBody>
      </p:sp>
      <p:graphicFrame>
        <p:nvGraphicFramePr>
          <p:cNvPr id="29" name="표 28">
            <a:extLst>
              <a:ext uri="{FF2B5EF4-FFF2-40B4-BE49-F238E27FC236}">
                <a16:creationId xmlns:a16="http://schemas.microsoft.com/office/drawing/2014/main" id="{FC692424-6A27-FF04-83B1-DBDD428A5857}"/>
              </a:ext>
            </a:extLst>
          </p:cNvPr>
          <p:cNvGraphicFramePr>
            <a:graphicFrameLocks noGrp="1"/>
          </p:cNvGraphicFramePr>
          <p:nvPr/>
        </p:nvGraphicFramePr>
        <p:xfrm>
          <a:off x="452999" y="1011023"/>
          <a:ext cx="8994883" cy="17452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9733373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475137"/>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splyEmlAddr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이메일</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724620"/>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전화번호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56564468"/>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팩스</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splyFxno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팩스번호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7897572"/>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splyAddr</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주소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600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5" name="TextBox 4">
            <a:extLst>
              <a:ext uri="{FF2B5EF4-FFF2-40B4-BE49-F238E27FC236}">
                <a16:creationId xmlns:a16="http://schemas.microsoft.com/office/drawing/2014/main" id="{77A43EB0-0DB9-E1A9-0EE9-FF4FB85FBB44}"/>
              </a:ext>
            </a:extLst>
          </p:cNvPr>
          <p:cNvSpPr txBox="1"/>
          <p:nvPr/>
        </p:nvSpPr>
        <p:spPr>
          <a:xfrm>
            <a:off x="458117" y="3031963"/>
            <a:ext cx="2393851" cy="211203"/>
          </a:xfrm>
          <a:prstGeom prst="rect">
            <a:avLst/>
          </a:prstGeom>
          <a:noFill/>
        </p:spPr>
        <p:txBody>
          <a:bodyPr wrap="none" lIns="36000" tIns="36000" rIns="36000" bIns="36000" rtlCol="0">
            <a:spAutoFit/>
          </a:bodyPr>
          <a:lstStyle/>
          <a:p>
            <a:r>
              <a:rPr lang="en-US" altLang="ko-KR" sz="900" b="1" dirty="0">
                <a:solidFill>
                  <a:prstClr val="black"/>
                </a:solidFill>
              </a:rPr>
              <a:t>1.4. </a:t>
            </a:r>
            <a:r>
              <a:rPr lang="ko-KR" altLang="en-US" sz="900" b="1" dirty="0">
                <a:solidFill>
                  <a:prstClr val="black"/>
                </a:solidFill>
              </a:rPr>
              <a:t>입찰품목 데이터 영역 </a:t>
            </a:r>
            <a:r>
              <a:rPr lang="en-US" altLang="ko-KR" sz="900" b="1" dirty="0">
                <a:solidFill>
                  <a:prstClr val="black"/>
                </a:solidFill>
              </a:rPr>
              <a:t>(</a:t>
            </a:r>
            <a:r>
              <a:rPr lang="en-US" altLang="ko-KR" sz="900" b="1" dirty="0" err="1">
                <a:solidFill>
                  <a:prstClr val="black"/>
                </a:solidFill>
              </a:rPr>
              <a:t>dl_bidItemList</a:t>
            </a:r>
            <a:r>
              <a:rPr lang="en-US" altLang="ko-KR" sz="900" b="1" dirty="0">
                <a:solidFill>
                  <a:prstClr val="black"/>
                </a:solidFill>
              </a:rPr>
              <a:t>)</a:t>
            </a:r>
            <a:endParaRPr lang="ko-KR" altLang="en-US" sz="900" b="1" dirty="0">
              <a:solidFill>
                <a:prstClr val="black"/>
              </a:solidFill>
            </a:endParaRPr>
          </a:p>
        </p:txBody>
      </p:sp>
      <p:graphicFrame>
        <p:nvGraphicFramePr>
          <p:cNvPr id="6" name="표 5">
            <a:extLst>
              <a:ext uri="{FF2B5EF4-FFF2-40B4-BE49-F238E27FC236}">
                <a16:creationId xmlns:a16="http://schemas.microsoft.com/office/drawing/2014/main" id="{13C4C691-0B38-4FC7-986A-B945290E7AF3}"/>
              </a:ext>
            </a:extLst>
          </p:cNvPr>
          <p:cNvGraphicFramePr>
            <a:graphicFrameLocks noGrp="1"/>
          </p:cNvGraphicFramePr>
          <p:nvPr/>
        </p:nvGraphicFramePr>
        <p:xfrm>
          <a:off x="452999" y="3243166"/>
          <a:ext cx="8994883" cy="29088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842549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863824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0075114"/>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unitNm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(UI)</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8539555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수량</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8202295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drctnUntprc</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품목 지시단가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1642771"/>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화페단위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b="0" i="0" u="none" strike="noStrike" kern="1200" dirty="0">
                          <a:solidFill>
                            <a:srgbClr val="000000"/>
                          </a:solidFill>
                          <a:effectLst/>
                          <a:latin typeface="+mn-ea"/>
                          <a:ea typeface="+mn-ea"/>
                          <a:cs typeface="+mn-cs"/>
                        </a:rPr>
                        <a:t>상위코드</a:t>
                      </a:r>
                      <a:r>
                        <a:rPr lang="en-US" altLang="ko-KR" sz="800" b="0" i="0" u="none" strike="noStrike" kern="1200" dirty="0">
                          <a:solidFill>
                            <a:srgbClr val="000000"/>
                          </a:solidFill>
                          <a:effectLst/>
                          <a:latin typeface="+mn-ea"/>
                          <a:ea typeface="+mn-ea"/>
                          <a:cs typeface="+mn-cs"/>
                        </a:rPr>
                        <a:t>(FCUC)</a:t>
                      </a:r>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5197172"/>
                  </a:ext>
                </a:extLst>
              </a:tr>
              <a:tr h="0">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itemSbstSe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품목대체구분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en-US" altLang="ko-KR" sz="800" b="0" i="0" u="none" strike="noStrike" kern="1200" dirty="0">
                          <a:solidFill>
                            <a:srgbClr val="000000"/>
                          </a:solidFill>
                          <a:effectLst/>
                          <a:latin typeface="+mn-ea"/>
                          <a:ea typeface="+mn-ea"/>
                          <a:cs typeface="+mn-cs"/>
                        </a:rPr>
                        <a:t>As it is/Replace</a:t>
                      </a:r>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3432952"/>
                  </a:ext>
                </a:extLst>
              </a:tr>
              <a:tr h="0">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itemSbstDocEn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품목대체첨부문서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1855840"/>
                  </a:ext>
                </a:extLst>
              </a:tr>
              <a:tr h="0">
                <a:tc>
                  <a:txBody>
                    <a:bodyPr/>
                    <a:lstStyle/>
                    <a:p>
                      <a:pPr algn="l" fontAlgn="ctr"/>
                      <a:r>
                        <a:rPr lang="ko-KR" altLang="en-US" sz="800" b="0" i="0" u="none" strike="noStrike">
                          <a:solidFill>
                            <a:srgbClr val="000000"/>
                          </a:solidFill>
                          <a:effectLst/>
                          <a:latin typeface="+mn-ea"/>
                          <a:ea typeface="+mn-ea"/>
                        </a:rPr>
                        <a:t>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mn-ea"/>
                          <a:ea typeface="+mn-ea"/>
                        </a:rPr>
                        <a:t>품목 수정재고번호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13</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b="0" i="0" u="none" strike="noStrike" kern="1200" dirty="0">
                        <a:solidFill>
                          <a:srgbClr val="000000"/>
                        </a:solidFill>
                        <a:effectLst/>
                        <a:latin typeface="+mn-ea"/>
                        <a:ea typeface="+mn-ea"/>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30778678"/>
                  </a:ext>
                </a:extLst>
              </a:tr>
              <a:tr h="0">
                <a:tc>
                  <a:txBody>
                    <a:bodyPr/>
                    <a:lstStyle/>
                    <a:p>
                      <a:pPr algn="l" fontAlgn="ctr"/>
                      <a:r>
                        <a:rPr lang="ko-KR" altLang="en-US" sz="800" b="0" i="0" u="none" strike="noStrike" dirty="0">
                          <a:solidFill>
                            <a:srgbClr val="000000"/>
                          </a:solidFill>
                          <a:effectLst/>
                          <a:latin typeface="+mn-ea"/>
                          <a:ea typeface="+mn-ea"/>
                        </a:rPr>
                        <a:t>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mdfcnPrtsNo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품목 수정부품번호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3920382"/>
                  </a:ext>
                </a:extLst>
              </a:tr>
              <a:tr h="0">
                <a:tc>
                  <a:txBody>
                    <a:bodyPr/>
                    <a:lstStyle/>
                    <a:p>
                      <a:pPr algn="l" fontAlgn="ctr"/>
                      <a:r>
                        <a:rPr lang="ko-KR" altLang="en-US" sz="800" b="0" i="0" u="none" strike="noStrike" dirty="0">
                          <a:solidFill>
                            <a:srgbClr val="000000"/>
                          </a:solidFill>
                          <a:effectLst/>
                          <a:latin typeface="+mn-ea"/>
                          <a:ea typeface="+mn-ea"/>
                        </a:rPr>
                        <a:t>견적단가</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estmtUntprc</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견적단가</a:t>
                      </a:r>
                      <a:endParaRPr lang="en-US" altLang="ko-KR" sz="800" b="0" i="0" u="none" strike="noStrike" dirty="0">
                        <a:solidFill>
                          <a:srgbClr val="000000"/>
                        </a:solidFill>
                        <a:effectLst/>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E</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mn-ea"/>
                        </a:rPr>
                        <a:t>25</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6506492"/>
                  </a:ext>
                </a:extLst>
              </a:tr>
              <a:tr h="0">
                <a:tc>
                  <a:txBody>
                    <a:bodyPr/>
                    <a:lstStyle/>
                    <a:p>
                      <a:pPr algn="l" fontAlgn="ctr"/>
                      <a:r>
                        <a:rPr lang="ko-KR" altLang="en-US" sz="800" b="0" i="0" u="none" strike="noStrike" dirty="0">
                          <a:solidFill>
                            <a:srgbClr val="000000"/>
                          </a:solidFill>
                          <a:effectLst/>
                          <a:latin typeface="+mn-ea"/>
                          <a:ea typeface="+mn-ea"/>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estmtAmt</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mn-ea"/>
                          <a:ea typeface="+mn-ea"/>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R</a:t>
                      </a:r>
                      <a:endParaRPr kumimoji="0" lang="ko-KR" altLang="en-US"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mn-cs"/>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dirty="0">
                          <a:solidFill>
                            <a:srgbClr val="000000"/>
                          </a:solidFill>
                          <a:effectLst/>
                          <a:latin typeface="맑은 고딕" panose="020B0503020000020004" pitchFamily="50" charset="-127"/>
                          <a:ea typeface="+mn-ea"/>
                        </a:rPr>
                        <a:t>25</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9365215"/>
                  </a:ext>
                </a:extLst>
              </a:tr>
            </a:tbl>
          </a:graphicData>
        </a:graphic>
      </p:graphicFrame>
    </p:spTree>
    <p:extLst>
      <p:ext uri="{BB962C8B-B14F-4D97-AF65-F5344CB8AC3E}">
        <p14:creationId xmlns:p14="http://schemas.microsoft.com/office/powerpoint/2010/main" val="367380875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435</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(3/3)</a:t>
            </a:r>
            <a:endParaRPr lang="ko-KR" altLang="en-US" sz="1000" b="1" dirty="0">
              <a:solidFill>
                <a:prstClr val="black"/>
              </a:solidFill>
            </a:endParaRPr>
          </a:p>
        </p:txBody>
      </p:sp>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90F8167D-94A1-7E70-59CE-62A4154E3531}"/>
              </a:ext>
            </a:extLst>
          </p:cNvPr>
          <p:cNvSpPr txBox="1"/>
          <p:nvPr/>
        </p:nvSpPr>
        <p:spPr>
          <a:xfrm>
            <a:off x="458117" y="812160"/>
            <a:ext cx="2094090" cy="211203"/>
          </a:xfrm>
          <a:prstGeom prst="rect">
            <a:avLst/>
          </a:prstGeom>
          <a:noFill/>
        </p:spPr>
        <p:txBody>
          <a:bodyPr wrap="none" lIns="36000" tIns="36000" rIns="36000" bIns="36000" rtlCol="0">
            <a:spAutoFit/>
          </a:bodyPr>
          <a:lstStyle/>
          <a:p>
            <a:r>
              <a:rPr lang="en-US" altLang="ko-KR" sz="900" b="1" dirty="0">
                <a:solidFill>
                  <a:prstClr val="black"/>
                </a:solidFill>
              </a:rPr>
              <a:t>1.6. </a:t>
            </a:r>
            <a:r>
              <a:rPr lang="ko-KR" altLang="en-US" sz="900" b="1" dirty="0">
                <a:solidFill>
                  <a:prstClr val="black"/>
                </a:solidFill>
              </a:rPr>
              <a:t>첨부파일 데이터 영역 </a:t>
            </a:r>
            <a:r>
              <a:rPr lang="en-US" altLang="ko-KR" sz="900" b="1" dirty="0">
                <a:solidFill>
                  <a:prstClr val="black"/>
                </a:solidFill>
              </a:rPr>
              <a:t>(</a:t>
            </a:r>
            <a:r>
              <a:rPr lang="en-US" altLang="ko-KR" sz="900" b="1" dirty="0" err="1">
                <a:solidFill>
                  <a:prstClr val="black"/>
                </a:solidFill>
              </a:rPr>
              <a:t>dl_docList</a:t>
            </a:r>
            <a:r>
              <a:rPr lang="en-US" altLang="ko-KR" sz="900" b="1" dirty="0">
                <a:solidFill>
                  <a:prstClr val="black"/>
                </a:solidFill>
              </a:rPr>
              <a:t>)</a:t>
            </a:r>
            <a:endParaRPr lang="ko-KR" altLang="en-US" sz="900" b="1" dirty="0">
              <a:solidFill>
                <a:prstClr val="black"/>
              </a:solidFill>
            </a:endParaRPr>
          </a:p>
        </p:txBody>
      </p:sp>
      <p:graphicFrame>
        <p:nvGraphicFramePr>
          <p:cNvPr id="5" name="표 4">
            <a:extLst>
              <a:ext uri="{FF2B5EF4-FFF2-40B4-BE49-F238E27FC236}">
                <a16:creationId xmlns:a16="http://schemas.microsoft.com/office/drawing/2014/main" id="{EB558C93-AD38-A7F1-7F37-F59D6CF7A991}"/>
              </a:ext>
            </a:extLst>
          </p:cNvPr>
          <p:cNvGraphicFramePr>
            <a:graphicFrameLocks noGrp="1"/>
          </p:cNvGraphicFramePr>
          <p:nvPr/>
        </p:nvGraphicFramePr>
        <p:xfrm>
          <a:off x="452999" y="1021332"/>
          <a:ext cx="8994883" cy="7756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1403555245"/>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atchDocNm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첨부서류명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atchFileNm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첨부서류 파일명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fileSz</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첨부서류 파일크기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just"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Tree>
    <p:extLst>
      <p:ext uri="{BB962C8B-B14F-4D97-AF65-F5344CB8AC3E}">
        <p14:creationId xmlns:p14="http://schemas.microsoft.com/office/powerpoint/2010/main" val="1783542547"/>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A383B8FF-BF72-FAEC-B935-96AD09469C93}"/>
              </a:ext>
            </a:extLst>
          </p:cNvPr>
          <p:cNvSpPr>
            <a:spLocks noGrp="1"/>
          </p:cNvSpPr>
          <p:nvPr>
            <p:ph type="sldNum" sz="quarter" idx="4"/>
          </p:nvPr>
        </p:nvSpPr>
        <p:spPr/>
        <p:txBody>
          <a:bodyPr/>
          <a:lstStyle/>
          <a:p>
            <a:fld id="{34C8E023-7346-48FC-AB24-9A3388C53208}" type="slidenum">
              <a:rPr lang="ko-KR" altLang="en-US" smtClean="0"/>
              <a:pPr/>
              <a:t>436</a:t>
            </a:fld>
            <a:endParaRPr lang="ko-KR" altLang="en-US" dirty="0"/>
          </a:p>
        </p:txBody>
      </p:sp>
      <p:sp>
        <p:nvSpPr>
          <p:cNvPr id="3" name="TextBox 2">
            <a:extLst>
              <a:ext uri="{FF2B5EF4-FFF2-40B4-BE49-F238E27FC236}">
                <a16:creationId xmlns:a16="http://schemas.microsoft.com/office/drawing/2014/main" id="{38C9FAC3-4D08-59EF-A1B3-F9D03D84391E}"/>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4043D04A-F39E-2FE6-C9DE-A0E40C96F1F1}"/>
              </a:ext>
            </a:extLst>
          </p:cNvPr>
          <p:cNvGraphicFramePr>
            <a:graphicFrameLocks noGrp="1"/>
          </p:cNvGraphicFramePr>
          <p:nvPr>
            <p:extLst>
              <p:ext uri="{D42A27DB-BD31-4B8C-83A1-F6EECF244321}">
                <p14:modId xmlns:p14="http://schemas.microsoft.com/office/powerpoint/2010/main" val="67635232"/>
              </p:ext>
            </p:extLst>
          </p:nvPr>
        </p:nvGraphicFramePr>
        <p:xfrm>
          <a:off x="458117" y="799547"/>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scwin.onpageload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공고정보 조회 견적서 상세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제출취소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scwin.btn_sbmsnCancel_onclick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err="1"/>
                        <a:t>공개수의협상견적서취소신청서작성</a:t>
                      </a:r>
                      <a:r>
                        <a:rPr lang="ko-KR" altLang="en-US" sz="800" dirty="0"/>
                        <a:t> 팝업 호출</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UI-BD-12-P76</a:t>
                      </a:r>
                      <a:r>
                        <a:rPr lang="ko-KR" altLang="en-US" sz="800" dirty="0">
                          <a:latin typeface="+mn-ea"/>
                          <a:ea typeface="+mn-ea"/>
                        </a:rPr>
                        <a:t> 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7541491"/>
                  </a:ext>
                </a:extLst>
              </a:tr>
            </a:tbl>
          </a:graphicData>
        </a:graphic>
      </p:graphicFrame>
      <p:sp>
        <p:nvSpPr>
          <p:cNvPr id="5" name="Text Box 73">
            <a:extLst>
              <a:ext uri="{FF2B5EF4-FFF2-40B4-BE49-F238E27FC236}">
                <a16:creationId xmlns:a16="http://schemas.microsoft.com/office/drawing/2014/main" id="{98B82457-D774-A4D7-3E44-7AFE0E2763D9}"/>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414366898"/>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228600" indent="-228600">
              <a:buFont typeface="+mj-lt"/>
              <a:buAutoNum type="arabicPeriod"/>
            </a:pPr>
            <a:r>
              <a:rPr lang="ko-KR" altLang="en-US" dirty="0"/>
              <a:t>취소신청내역 데이터 영역</a:t>
            </a:r>
            <a:endParaRPr lang="en-US" altLang="ko-KR" dirty="0"/>
          </a:p>
          <a:p>
            <a:pPr marL="228600" indent="-228600">
              <a:buFont typeface="+mj-lt"/>
              <a:buAutoNum type="arabicPeriod"/>
            </a:pPr>
            <a:r>
              <a:rPr lang="ko-KR" altLang="en-US" dirty="0" err="1"/>
              <a:t>취소사유</a:t>
            </a:r>
            <a:r>
              <a:rPr lang="ko-KR" altLang="en-US" dirty="0"/>
              <a:t> 데이터 영역</a:t>
            </a:r>
            <a:endParaRPr lang="en-US" altLang="ko-KR" dirty="0"/>
          </a:p>
          <a:p>
            <a:pPr marL="228600" indent="-228600">
              <a:buFont typeface="+mj-lt"/>
              <a:buAutoNum type="arabicPeriod"/>
            </a:pPr>
            <a:r>
              <a:rPr lang="ko-KR" altLang="en-US" dirty="0"/>
              <a:t>취소 신청 제출</a:t>
            </a:r>
            <a:r>
              <a:rPr lang="en-US" altLang="ko-KR" dirty="0"/>
              <a:t>,</a:t>
            </a:r>
            <a:r>
              <a:rPr lang="ko-KR" altLang="en-US" dirty="0"/>
              <a:t> 닫기 클릭 이벤트</a:t>
            </a:r>
          </a:p>
          <a:p>
            <a:pPr marL="228600" indent="-228600">
              <a:buFont typeface="+mj-lt"/>
              <a:buAutoNum type="arabicPeriod"/>
            </a:pP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437</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공개수의협상견적서취소신청서작성</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r>
              <a:rPr lang="ko-KR" altLang="en-US" dirty="0" err="1">
                <a:latin typeface="+mn-ea"/>
              </a:rPr>
              <a:t>공개수의협상견적서취소신청서작성</a:t>
            </a:r>
            <a:r>
              <a:rPr lang="ko-KR" altLang="en-US" dirty="0">
                <a:latin typeface="+mn-ea"/>
              </a:rPr>
              <a:t> </a:t>
            </a:r>
            <a:r>
              <a:rPr lang="ko-KR" altLang="en-US" dirty="0"/>
              <a:t>팝업</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normAutofit fontScale="70000" lnSpcReduction="20000"/>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공개수의협상견적서상세</a:t>
            </a:r>
            <a:r>
              <a:rPr lang="ko-KR" altLang="en-US" dirty="0">
                <a:latin typeface="+mn-ea"/>
              </a:rPr>
              <a:t> </a:t>
            </a:r>
            <a:r>
              <a:rPr lang="en-US" altLang="ko-KR" dirty="0">
                <a:latin typeface="+mn-ea"/>
              </a:rPr>
              <a:t>&gt; </a:t>
            </a:r>
            <a:r>
              <a:rPr lang="ko-KR" altLang="en-US" dirty="0" err="1">
                <a:latin typeface="+mn-ea"/>
              </a:rPr>
              <a:t>공개수의협상견적서취소신청서작성</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solidFill>
                  <a:srgbClr val="000000"/>
                </a:solidFill>
                <a:latin typeface="맑은 고딕" panose="020B0503020000020004" pitchFamily="50" charset="-127"/>
              </a:rPr>
              <a:t>MUI-BD-12-P82</a:t>
            </a:r>
            <a:endParaRPr lang="ko-KR" altLang="en-US" dirty="0">
              <a:solidFill>
                <a:srgbClr val="000000"/>
              </a:solidFill>
              <a:latin typeface="맑은 고딕" panose="020B0503020000020004" pitchFamily="50" charset="-127"/>
            </a:endParaRPr>
          </a:p>
        </p:txBody>
      </p:sp>
      <p:sp>
        <p:nvSpPr>
          <p:cNvPr id="83" name="직사각형 82">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6" name="TextBox 155">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sp>
        <p:nvSpPr>
          <p:cNvPr id="296" name="양쪽 모서리가 둥근 사각형 295"/>
          <p:cNvSpPr/>
          <p:nvPr/>
        </p:nvSpPr>
        <p:spPr>
          <a:xfrm>
            <a:off x="3795734" y="2108521"/>
            <a:ext cx="2712027" cy="4123779"/>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297" name="모서리가 둥근 직사각형 296"/>
          <p:cNvSpPr/>
          <p:nvPr/>
        </p:nvSpPr>
        <p:spPr>
          <a:xfrm>
            <a:off x="4881747" y="2138919"/>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298" name="그룹 297"/>
          <p:cNvGrpSpPr/>
          <p:nvPr/>
        </p:nvGrpSpPr>
        <p:grpSpPr>
          <a:xfrm>
            <a:off x="6284673" y="2273335"/>
            <a:ext cx="94010" cy="94010"/>
            <a:chOff x="6812560" y="3297172"/>
            <a:chExt cx="94010" cy="94010"/>
          </a:xfrm>
        </p:grpSpPr>
        <p:cxnSp>
          <p:nvCxnSpPr>
            <p:cNvPr id="299" name="직선 연결선 298"/>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300" name="직선 연결선 299"/>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301" name="TextBox 300">
            <a:extLst>
              <a:ext uri="{FF2B5EF4-FFF2-40B4-BE49-F238E27FC236}">
                <a16:creationId xmlns:a16="http://schemas.microsoft.com/office/drawing/2014/main" id="{FFC49AEA-2A8F-250C-A86A-A7751D9706C3}"/>
              </a:ext>
            </a:extLst>
          </p:cNvPr>
          <p:cNvSpPr txBox="1"/>
          <p:nvPr/>
        </p:nvSpPr>
        <p:spPr>
          <a:xfrm>
            <a:off x="3924811" y="2254014"/>
            <a:ext cx="1798758" cy="138499"/>
          </a:xfrm>
          <a:prstGeom prst="rect">
            <a:avLst/>
          </a:prstGeom>
          <a:noFill/>
        </p:spPr>
        <p:txBody>
          <a:bodyPr wrap="square" lIns="0" tIns="0" rIns="0" bIns="0" rtlCol="0">
            <a:spAutoFit/>
          </a:bodyPr>
          <a:lstStyle/>
          <a:p>
            <a:r>
              <a:rPr lang="ko-KR" altLang="en-US" sz="900" dirty="0">
                <a:latin typeface="+mn-ea"/>
              </a:rPr>
              <a:t>공개수의협상견적서 </a:t>
            </a:r>
            <a:r>
              <a:rPr lang="ko-KR" altLang="en-US" sz="900" dirty="0" err="1">
                <a:latin typeface="+mn-ea"/>
              </a:rPr>
              <a:t>취소신청서</a:t>
            </a:r>
            <a:endParaRPr lang="ko-KR" altLang="en-US" sz="900" dirty="0">
              <a:latin typeface="+mn-ea"/>
            </a:endParaRPr>
          </a:p>
        </p:txBody>
      </p:sp>
      <p:cxnSp>
        <p:nvCxnSpPr>
          <p:cNvPr id="302" name="직선 연결선 301">
            <a:extLst>
              <a:ext uri="{FF2B5EF4-FFF2-40B4-BE49-F238E27FC236}">
                <a16:creationId xmlns:a16="http://schemas.microsoft.com/office/drawing/2014/main" id="{E9293055-D5CD-4B9E-7F64-64B2D2CA7A52}"/>
              </a:ext>
            </a:extLst>
          </p:cNvPr>
          <p:cNvCxnSpPr/>
          <p:nvPr/>
        </p:nvCxnSpPr>
        <p:spPr>
          <a:xfrm>
            <a:off x="3795734" y="2515414"/>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5" name="양쪽 모서리가 둥근 사각형 4"/>
          <p:cNvSpPr/>
          <p:nvPr/>
        </p:nvSpPr>
        <p:spPr>
          <a:xfrm>
            <a:off x="675399" y="2108521"/>
            <a:ext cx="2712027" cy="4123778"/>
          </a:xfrm>
          <a:prstGeom prst="round2SameRect">
            <a:avLst>
              <a:gd name="adj1" fmla="val 4887"/>
              <a:gd name="adj2" fmla="val 0"/>
            </a:avLst>
          </a:prstGeom>
          <a:no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ko-KR" altLang="en-US" sz="700">
              <a:solidFill>
                <a:schemeClr val="tx1"/>
              </a:solidFill>
            </a:endParaRPr>
          </a:p>
        </p:txBody>
      </p:sp>
      <p:sp>
        <p:nvSpPr>
          <p:cNvPr id="150" name="모서리가 둥근 직사각형 149"/>
          <p:cNvSpPr/>
          <p:nvPr/>
        </p:nvSpPr>
        <p:spPr>
          <a:xfrm>
            <a:off x="1761412" y="2145148"/>
            <a:ext cx="540000" cy="45719"/>
          </a:xfrm>
          <a:prstGeom prst="roundRect">
            <a:avLst>
              <a:gd name="adj" fmla="val 50000"/>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ko-KR" altLang="en-US" sz="700" dirty="0">
              <a:solidFill>
                <a:schemeClr val="tx1"/>
              </a:solidFill>
            </a:endParaRPr>
          </a:p>
        </p:txBody>
      </p:sp>
      <p:grpSp>
        <p:nvGrpSpPr>
          <p:cNvPr id="151" name="그룹 150"/>
          <p:cNvGrpSpPr/>
          <p:nvPr/>
        </p:nvGrpSpPr>
        <p:grpSpPr>
          <a:xfrm>
            <a:off x="3164338" y="2279564"/>
            <a:ext cx="94010" cy="94010"/>
            <a:chOff x="6812560" y="3297172"/>
            <a:chExt cx="94010" cy="94010"/>
          </a:xfrm>
        </p:grpSpPr>
        <p:cxnSp>
          <p:nvCxnSpPr>
            <p:cNvPr id="152" name="직선 연결선 151"/>
            <p:cNvCxnSpPr/>
            <p:nvPr/>
          </p:nvCxnSpPr>
          <p:spPr>
            <a:xfrm>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cxnSp>
          <p:nvCxnSpPr>
            <p:cNvPr id="162" name="직선 연결선 161"/>
            <p:cNvCxnSpPr/>
            <p:nvPr/>
          </p:nvCxnSpPr>
          <p:spPr>
            <a:xfrm rot="5400000">
              <a:off x="6812560" y="3297172"/>
              <a:ext cx="94010" cy="94010"/>
            </a:xfrm>
            <a:prstGeom prst="line">
              <a:avLst/>
            </a:prstGeom>
          </p:spPr>
          <p:style>
            <a:lnRef idx="1">
              <a:schemeClr val="dk1"/>
            </a:lnRef>
            <a:fillRef idx="0">
              <a:schemeClr val="dk1"/>
            </a:fillRef>
            <a:effectRef idx="0">
              <a:schemeClr val="dk1"/>
            </a:effectRef>
            <a:fontRef idx="minor">
              <a:schemeClr val="tx1"/>
            </a:fontRef>
          </p:style>
        </p:cxnSp>
      </p:grpSp>
      <p:sp>
        <p:nvSpPr>
          <p:cNvPr id="163" name="TextBox 162">
            <a:extLst>
              <a:ext uri="{FF2B5EF4-FFF2-40B4-BE49-F238E27FC236}">
                <a16:creationId xmlns:a16="http://schemas.microsoft.com/office/drawing/2014/main" id="{FFC49AEA-2A8F-250C-A86A-A7751D9706C3}"/>
              </a:ext>
            </a:extLst>
          </p:cNvPr>
          <p:cNvSpPr txBox="1"/>
          <p:nvPr/>
        </p:nvSpPr>
        <p:spPr>
          <a:xfrm>
            <a:off x="804476" y="2260243"/>
            <a:ext cx="1798758" cy="138499"/>
          </a:xfrm>
          <a:prstGeom prst="rect">
            <a:avLst/>
          </a:prstGeom>
          <a:noFill/>
        </p:spPr>
        <p:txBody>
          <a:bodyPr wrap="square" lIns="0" tIns="0" rIns="0" bIns="0" rtlCol="0">
            <a:spAutoFit/>
          </a:bodyPr>
          <a:lstStyle/>
          <a:p>
            <a:r>
              <a:rPr lang="ko-KR" altLang="en-US" sz="900" dirty="0">
                <a:latin typeface="+mn-ea"/>
              </a:rPr>
              <a:t>공개수의협상견적서 </a:t>
            </a:r>
            <a:r>
              <a:rPr lang="ko-KR" altLang="en-US" sz="900" dirty="0" err="1">
                <a:latin typeface="+mn-ea"/>
              </a:rPr>
              <a:t>취소신청서</a:t>
            </a:r>
            <a:endParaRPr lang="ko-KR" altLang="en-US" sz="900" dirty="0">
              <a:latin typeface="+mn-ea"/>
            </a:endParaRPr>
          </a:p>
        </p:txBody>
      </p:sp>
      <p:cxnSp>
        <p:nvCxnSpPr>
          <p:cNvPr id="164" name="직선 연결선 163">
            <a:extLst>
              <a:ext uri="{FF2B5EF4-FFF2-40B4-BE49-F238E27FC236}">
                <a16:creationId xmlns:a16="http://schemas.microsoft.com/office/drawing/2014/main" id="{E9293055-D5CD-4B9E-7F64-64B2D2CA7A52}"/>
              </a:ext>
            </a:extLst>
          </p:cNvPr>
          <p:cNvCxnSpPr/>
          <p:nvPr/>
        </p:nvCxnSpPr>
        <p:spPr>
          <a:xfrm>
            <a:off x="675399" y="2521643"/>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53" name="타원 152">
            <a:extLst>
              <a:ext uri="{FF2B5EF4-FFF2-40B4-BE49-F238E27FC236}">
                <a16:creationId xmlns:a16="http://schemas.microsoft.com/office/drawing/2014/main" id="{37A7FF4F-0EAA-1463-560A-D5EC24416103}"/>
              </a:ext>
            </a:extLst>
          </p:cNvPr>
          <p:cNvSpPr/>
          <p:nvPr/>
        </p:nvSpPr>
        <p:spPr>
          <a:xfrm>
            <a:off x="573754" y="268170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8" name="그룹 7"/>
          <p:cNvGrpSpPr/>
          <p:nvPr/>
        </p:nvGrpSpPr>
        <p:grpSpPr>
          <a:xfrm>
            <a:off x="716366" y="2592310"/>
            <a:ext cx="2630093" cy="1169259"/>
            <a:chOff x="701175" y="2592310"/>
            <a:chExt cx="2630093" cy="1169259"/>
          </a:xfrm>
        </p:grpSpPr>
        <p:sp>
          <p:nvSpPr>
            <p:cNvPr id="81" name="TextBox 80">
              <a:extLst>
                <a:ext uri="{FF2B5EF4-FFF2-40B4-BE49-F238E27FC236}">
                  <a16:creationId xmlns:a16="http://schemas.microsoft.com/office/drawing/2014/main" id="{FFC49AEA-2A8F-250C-A86A-A7751D9706C3}"/>
                </a:ext>
              </a:extLst>
            </p:cNvPr>
            <p:cNvSpPr txBox="1"/>
            <p:nvPr/>
          </p:nvSpPr>
          <p:spPr>
            <a:xfrm>
              <a:off x="762146" y="2592310"/>
              <a:ext cx="1270852" cy="181140"/>
            </a:xfrm>
            <a:prstGeom prst="rect">
              <a:avLst/>
            </a:prstGeom>
            <a:noFill/>
          </p:spPr>
          <p:txBody>
            <a:bodyPr wrap="square" lIns="0" tIns="0" rIns="0" bIns="0" rtlCol="0">
              <a:spAutoFit/>
            </a:bodyPr>
            <a:lstStyle/>
            <a:p>
              <a:pPr>
                <a:lnSpc>
                  <a:spcPct val="200000"/>
                </a:lnSpc>
              </a:pPr>
              <a:r>
                <a:rPr lang="ko-KR" altLang="en-US" sz="700" dirty="0">
                  <a:latin typeface="+mn-ea"/>
                </a:rPr>
                <a:t>취소신청내역</a:t>
              </a:r>
            </a:p>
          </p:txBody>
        </p:sp>
        <p:sp>
          <p:nvSpPr>
            <p:cNvPr id="82" name="직사각형 81"/>
            <p:cNvSpPr/>
            <p:nvPr/>
          </p:nvSpPr>
          <p:spPr>
            <a:xfrm>
              <a:off x="703268" y="2899796"/>
              <a:ext cx="792000" cy="8589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4" name="TextBox 83">
              <a:extLst>
                <a:ext uri="{FF2B5EF4-FFF2-40B4-BE49-F238E27FC236}">
                  <a16:creationId xmlns:a16="http://schemas.microsoft.com/office/drawing/2014/main" id="{FFC49AEA-2A8F-250C-A86A-A7751D9706C3}"/>
                </a:ext>
              </a:extLst>
            </p:cNvPr>
            <p:cNvSpPr txBox="1"/>
            <p:nvPr/>
          </p:nvSpPr>
          <p:spPr>
            <a:xfrm>
              <a:off x="790331" y="2899795"/>
              <a:ext cx="725552" cy="861774"/>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r>
                <a:rPr lang="en-US" altLang="ko-KR" sz="700" dirty="0">
                  <a:latin typeface="+mn-ea"/>
                </a:rPr>
                <a:t>-</a:t>
              </a:r>
              <a:r>
                <a:rPr lang="ko-KR" altLang="en-US" sz="700" dirty="0">
                  <a:latin typeface="+mn-ea"/>
                </a:rPr>
                <a:t>차수</a:t>
              </a:r>
              <a:endParaRPr lang="en-US" altLang="ko-KR" sz="700" dirty="0">
                <a:latin typeface="+mn-ea"/>
              </a:endParaRPr>
            </a:p>
            <a:p>
              <a:pPr>
                <a:lnSpc>
                  <a:spcPct val="200000"/>
                </a:lnSpc>
              </a:pPr>
              <a:r>
                <a:rPr lang="ko-KR" altLang="en-US" sz="700" dirty="0" err="1">
                  <a:latin typeface="+mn-ea"/>
                </a:rPr>
                <a:t>사업명</a:t>
              </a:r>
              <a:endParaRPr lang="en-US" altLang="ko-KR" sz="700" dirty="0">
                <a:latin typeface="+mn-ea"/>
              </a:endParaRPr>
            </a:p>
            <a:p>
              <a:pPr>
                <a:lnSpc>
                  <a:spcPct val="200000"/>
                </a:lnSpc>
              </a:pPr>
              <a:r>
                <a:rPr lang="ko-KR" altLang="en-US" sz="700" dirty="0">
                  <a:latin typeface="+mn-ea"/>
                </a:rPr>
                <a:t>구매요청번호</a:t>
              </a:r>
              <a:endParaRPr lang="en-US" altLang="ko-KR" sz="700" dirty="0">
                <a:latin typeface="+mn-ea"/>
              </a:endParaRPr>
            </a:p>
            <a:p>
              <a:pPr>
                <a:lnSpc>
                  <a:spcPct val="200000"/>
                </a:lnSpc>
              </a:pPr>
              <a:r>
                <a:rPr lang="ko-KR" altLang="en-US" sz="700" dirty="0">
                  <a:latin typeface="+mn-ea"/>
                </a:rPr>
                <a:t>통합참조번호</a:t>
              </a:r>
            </a:p>
          </p:txBody>
        </p:sp>
        <p:grpSp>
          <p:nvGrpSpPr>
            <p:cNvPr id="85" name="그룹 84"/>
            <p:cNvGrpSpPr/>
            <p:nvPr/>
          </p:nvGrpSpPr>
          <p:grpSpPr>
            <a:xfrm>
              <a:off x="701175" y="2899795"/>
              <a:ext cx="2630093" cy="858960"/>
              <a:chOff x="701175" y="1835481"/>
              <a:chExt cx="2630093" cy="858960"/>
            </a:xfrm>
          </p:grpSpPr>
          <p:cxnSp>
            <p:nvCxnSpPr>
              <p:cNvPr id="86" name="직선 연결선 85">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직선 연결선 86">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8" name="직선 연결선 87">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9" name="직선 연결선 88">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90" name="직선 연결선 89">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07" name="TextBox 106">
              <a:extLst>
                <a:ext uri="{FF2B5EF4-FFF2-40B4-BE49-F238E27FC236}">
                  <a16:creationId xmlns:a16="http://schemas.microsoft.com/office/drawing/2014/main" id="{FFC49AEA-2A8F-250C-A86A-A7751D9706C3}"/>
                </a:ext>
              </a:extLst>
            </p:cNvPr>
            <p:cNvSpPr txBox="1"/>
            <p:nvPr/>
          </p:nvSpPr>
          <p:spPr>
            <a:xfrm>
              <a:off x="1547180" y="2899795"/>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en-US" altLang="ko-KR" sz="700" dirty="0">
                  <a:latin typeface="+mn-ea"/>
                </a:rPr>
                <a:t>500MD</a:t>
              </a:r>
              <a:r>
                <a:rPr lang="ko-KR" altLang="en-US" sz="700" dirty="0">
                  <a:latin typeface="+mn-ea"/>
                </a:rPr>
                <a:t>부품</a:t>
              </a:r>
            </a:p>
            <a:p>
              <a:pPr>
                <a:lnSpc>
                  <a:spcPct val="200000"/>
                </a:lnSpc>
              </a:pPr>
              <a:r>
                <a:rPr lang="en-US" altLang="ko-KR" sz="700" dirty="0">
                  <a:latin typeface="+mn-ea"/>
                </a:rPr>
                <a:t>BAD839380-001</a:t>
              </a:r>
            </a:p>
            <a:p>
              <a:pPr>
                <a:lnSpc>
                  <a:spcPct val="200000"/>
                </a:lnSpc>
              </a:pPr>
              <a:r>
                <a:rPr lang="en-US" altLang="ko-KR" sz="700" dirty="0">
                  <a:latin typeface="+mn-ea"/>
                </a:rPr>
                <a:t>BAD83990EFD</a:t>
              </a:r>
            </a:p>
          </p:txBody>
        </p:sp>
      </p:grpSp>
      <p:sp>
        <p:nvSpPr>
          <p:cNvPr id="201" name="TextBox 200">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grpSp>
        <p:nvGrpSpPr>
          <p:cNvPr id="105" name="그룹 104"/>
          <p:cNvGrpSpPr/>
          <p:nvPr/>
        </p:nvGrpSpPr>
        <p:grpSpPr>
          <a:xfrm>
            <a:off x="716366" y="3832747"/>
            <a:ext cx="2630093" cy="1184228"/>
            <a:chOff x="3791188" y="2611009"/>
            <a:chExt cx="2630093" cy="1184228"/>
          </a:xfrm>
        </p:grpSpPr>
        <p:sp>
          <p:nvSpPr>
            <p:cNvPr id="106" name="TextBox 105">
              <a:extLst>
                <a:ext uri="{FF2B5EF4-FFF2-40B4-BE49-F238E27FC236}">
                  <a16:creationId xmlns:a16="http://schemas.microsoft.com/office/drawing/2014/main" id="{FFC49AEA-2A8F-250C-A86A-A7751D9706C3}"/>
                </a:ext>
              </a:extLst>
            </p:cNvPr>
            <p:cNvSpPr txBox="1"/>
            <p:nvPr/>
          </p:nvSpPr>
          <p:spPr>
            <a:xfrm>
              <a:off x="3852159" y="2611009"/>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신청업체</a:t>
              </a:r>
            </a:p>
          </p:txBody>
        </p:sp>
        <p:sp>
          <p:nvSpPr>
            <p:cNvPr id="108" name="직사각형 107"/>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21" name="직선 연결선 120">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2" name="TextBox 121">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endParaRPr lang="en-US" altLang="ko-KR" sz="700" dirty="0">
                <a:latin typeface="+mn-ea"/>
              </a:endParaRPr>
            </a:p>
          </p:txBody>
        </p:sp>
        <p:sp>
          <p:nvSpPr>
            <p:cNvPr id="124" name="TextBox 123">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7001F</a:t>
              </a:r>
            </a:p>
            <a:p>
              <a:pPr>
                <a:lnSpc>
                  <a:spcPct val="200000"/>
                </a:lnSpc>
              </a:pPr>
              <a:r>
                <a:rPr lang="en-US" altLang="ko-KR" sz="700" dirty="0">
                  <a:latin typeface="+mn-ea"/>
                </a:rPr>
                <a:t>A</a:t>
              </a:r>
              <a:r>
                <a:rPr lang="ko-KR" altLang="en-US" sz="700" dirty="0" err="1">
                  <a:latin typeface="+mn-ea"/>
                </a:rPr>
                <a:t>무역대리점</a:t>
              </a:r>
              <a:endParaRPr lang="ko-KR" altLang="en-US" sz="700" dirty="0">
                <a:latin typeface="+mn-ea"/>
              </a:endParaRP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123-45-67890</a:t>
              </a: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0" name="직선 연결선 129">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41" name="TextBox 140">
              <a:extLst>
                <a:ext uri="{FF2B5EF4-FFF2-40B4-BE49-F238E27FC236}">
                  <a16:creationId xmlns:a16="http://schemas.microsoft.com/office/drawing/2014/main" id="{FFC49AEA-2A8F-250C-A86A-A7751D9706C3}"/>
                </a:ext>
              </a:extLst>
            </p:cNvPr>
            <p:cNvSpPr txBox="1"/>
            <p:nvPr/>
          </p:nvSpPr>
          <p:spPr>
            <a:xfrm>
              <a:off x="3880345" y="3579793"/>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sp>
        <p:nvSpPr>
          <p:cNvPr id="219" name="모서리가 둥근 직사각형 218"/>
          <p:cNvSpPr/>
          <p:nvPr/>
        </p:nvSpPr>
        <p:spPr>
          <a:xfrm>
            <a:off x="3859820" y="3632749"/>
            <a:ext cx="2579992" cy="987891"/>
          </a:xfrm>
          <a:prstGeom prst="roundRect">
            <a:avLst>
              <a:gd name="adj" fmla="val 4663"/>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0" name="TextBox 219">
            <a:extLst>
              <a:ext uri="{FF2B5EF4-FFF2-40B4-BE49-F238E27FC236}">
                <a16:creationId xmlns:a16="http://schemas.microsoft.com/office/drawing/2014/main" id="{FFC49AEA-2A8F-250C-A86A-A7751D9706C3}"/>
              </a:ext>
            </a:extLst>
          </p:cNvPr>
          <p:cNvSpPr txBox="1"/>
          <p:nvPr/>
        </p:nvSpPr>
        <p:spPr>
          <a:xfrm>
            <a:off x="3997244" y="3795834"/>
            <a:ext cx="2305144" cy="661720"/>
          </a:xfrm>
          <a:prstGeom prst="rect">
            <a:avLst/>
          </a:prstGeom>
          <a:noFill/>
        </p:spPr>
        <p:txBody>
          <a:bodyPr wrap="square" lIns="0" tIns="0" rIns="0" bIns="0" rtlCol="0">
            <a:spAutoFit/>
          </a:bodyPr>
          <a:lstStyle/>
          <a:p>
            <a:pPr algn="ctr"/>
            <a:r>
              <a:rPr lang="ko-KR" altLang="en-US" sz="700" dirty="0">
                <a:latin typeface="맑은 고딕" panose="020B0503020000020004" pitchFamily="50" charset="-127"/>
              </a:rPr>
              <a:t>우리 회사가 귀 청에 제출한 전자입찰서를 </a:t>
            </a:r>
            <a:r>
              <a:rPr lang="ko-KR" altLang="en-US" sz="700" dirty="0" err="1">
                <a:latin typeface="맑은 고딕" panose="020B0503020000020004" pitchFamily="50" charset="-127"/>
              </a:rPr>
              <a:t>취소하오니</a:t>
            </a:r>
            <a:r>
              <a:rPr lang="en-US" altLang="ko-KR" sz="700" dirty="0">
                <a:latin typeface="맑은 고딕" panose="020B0503020000020004" pitchFamily="50" charset="-127"/>
              </a:rPr>
              <a:t>, </a:t>
            </a:r>
            <a:r>
              <a:rPr lang="ko-KR" altLang="en-US" sz="700" dirty="0">
                <a:latin typeface="맑은 고딕" panose="020B0503020000020004" pitchFamily="50" charset="-127"/>
              </a:rPr>
              <a:t>무효 처리하여 주시기 바랍니다</a:t>
            </a:r>
            <a:r>
              <a:rPr lang="en-US" altLang="ko-KR" sz="700" dirty="0">
                <a:latin typeface="맑은 고딕" panose="020B0503020000020004" pitchFamily="50" charset="-127"/>
              </a:rPr>
              <a:t>.</a:t>
            </a:r>
          </a:p>
          <a:p>
            <a:pPr algn="ctr"/>
            <a:endParaRPr lang="en-US" altLang="ko-KR" sz="700" dirty="0">
              <a:latin typeface="맑은 고딕" panose="020B0503020000020004" pitchFamily="50" charset="-127"/>
            </a:endParaRPr>
          </a:p>
          <a:p>
            <a:pPr algn="ctr"/>
            <a:r>
              <a:rPr lang="en-US" altLang="ko-KR" sz="700" dirty="0">
                <a:latin typeface="맑은 고딕" panose="020B0503020000020004" pitchFamily="50" charset="-127"/>
              </a:rPr>
              <a:t>0000 </a:t>
            </a:r>
            <a:r>
              <a:rPr lang="ko-KR" altLang="en-US" sz="700" dirty="0">
                <a:latin typeface="맑은 고딕" panose="020B0503020000020004" pitchFamily="50" charset="-127"/>
              </a:rPr>
              <a:t>년  </a:t>
            </a:r>
            <a:r>
              <a:rPr lang="en-US" altLang="ko-KR" sz="700" dirty="0">
                <a:latin typeface="맑은 고딕" panose="020B0503020000020004" pitchFamily="50" charset="-127"/>
              </a:rPr>
              <a:t>00 </a:t>
            </a:r>
            <a:r>
              <a:rPr lang="ko-KR" altLang="en-US" sz="700" dirty="0">
                <a:latin typeface="맑은 고딕" panose="020B0503020000020004" pitchFamily="50" charset="-127"/>
              </a:rPr>
              <a:t>월  </a:t>
            </a:r>
            <a:r>
              <a:rPr lang="en-US" altLang="ko-KR" sz="700" dirty="0">
                <a:latin typeface="맑은 고딕" panose="020B0503020000020004" pitchFamily="50" charset="-127"/>
              </a:rPr>
              <a:t>00 </a:t>
            </a:r>
            <a:r>
              <a:rPr lang="ko-KR" altLang="en-US" sz="700" dirty="0">
                <a:latin typeface="맑은 고딕" panose="020B0503020000020004" pitchFamily="50" charset="-127"/>
              </a:rPr>
              <a:t>일</a:t>
            </a:r>
            <a:endParaRPr lang="en-US" altLang="ko-KR" sz="700" dirty="0">
              <a:latin typeface="맑은 고딕" panose="020B0503020000020004" pitchFamily="50" charset="-127"/>
            </a:endParaRPr>
          </a:p>
          <a:p>
            <a:pPr algn="ctr"/>
            <a:endParaRPr lang="en-US" altLang="ko-KR" sz="700" dirty="0">
              <a:latin typeface="맑은 고딕" panose="020B0503020000020004" pitchFamily="50" charset="-127"/>
            </a:endParaRPr>
          </a:p>
          <a:p>
            <a:pPr algn="ctr"/>
            <a:r>
              <a:rPr lang="ko-KR" altLang="en-US" sz="700" dirty="0">
                <a:latin typeface="맑은 고딕" panose="020B0503020000020004" pitchFamily="50" charset="-127"/>
              </a:rPr>
              <a:t>방위사업청장 귀하</a:t>
            </a:r>
            <a:endParaRPr lang="en-US" altLang="ko-KR" sz="700" dirty="0">
              <a:latin typeface="맑은 고딕" panose="020B0503020000020004" pitchFamily="50" charset="-127"/>
            </a:endParaRPr>
          </a:p>
        </p:txBody>
      </p:sp>
      <p:cxnSp>
        <p:nvCxnSpPr>
          <p:cNvPr id="223" name="직선 연결선 222">
            <a:extLst>
              <a:ext uri="{FF2B5EF4-FFF2-40B4-BE49-F238E27FC236}">
                <a16:creationId xmlns:a16="http://schemas.microsoft.com/office/drawing/2014/main" id="{E9293055-D5CD-4B9E-7F64-64B2D2CA7A52}"/>
              </a:ext>
            </a:extLst>
          </p:cNvPr>
          <p:cNvCxnSpPr/>
          <p:nvPr/>
        </p:nvCxnSpPr>
        <p:spPr>
          <a:xfrm>
            <a:off x="3835401" y="284819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24" name="직선 연결선 223">
            <a:extLst>
              <a:ext uri="{FF2B5EF4-FFF2-40B4-BE49-F238E27FC236}">
                <a16:creationId xmlns:a16="http://schemas.microsoft.com/office/drawing/2014/main" id="{E9293055-D5CD-4B9E-7F64-64B2D2CA7A52}"/>
              </a:ext>
            </a:extLst>
          </p:cNvPr>
          <p:cNvCxnSpPr/>
          <p:nvPr/>
        </p:nvCxnSpPr>
        <p:spPr>
          <a:xfrm>
            <a:off x="3837494" y="35394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4" name="직사각형 213"/>
          <p:cNvSpPr/>
          <p:nvPr/>
        </p:nvSpPr>
        <p:spPr>
          <a:xfrm>
            <a:off x="3835401" y="2848196"/>
            <a:ext cx="2621844" cy="61377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1" name="TextBox 220">
            <a:extLst>
              <a:ext uri="{FF2B5EF4-FFF2-40B4-BE49-F238E27FC236}">
                <a16:creationId xmlns:a16="http://schemas.microsoft.com/office/drawing/2014/main" id="{FFC49AEA-2A8F-250C-A86A-A7751D9706C3}"/>
              </a:ext>
            </a:extLst>
          </p:cNvPr>
          <p:cNvSpPr txBox="1"/>
          <p:nvPr/>
        </p:nvSpPr>
        <p:spPr>
          <a:xfrm>
            <a:off x="3924557" y="2849069"/>
            <a:ext cx="2454126" cy="181140"/>
          </a:xfrm>
          <a:prstGeom prst="rect">
            <a:avLst/>
          </a:prstGeom>
          <a:noFill/>
        </p:spPr>
        <p:txBody>
          <a:bodyPr wrap="square" lIns="0" tIns="0" rIns="0" bIns="0" rtlCol="0">
            <a:spAutoFit/>
          </a:bodyPr>
          <a:lstStyle/>
          <a:p>
            <a:pPr>
              <a:lnSpc>
                <a:spcPct val="200000"/>
              </a:lnSpc>
            </a:pPr>
            <a:r>
              <a:rPr lang="ko-KR" altLang="en-US" sz="700" dirty="0">
                <a:solidFill>
                  <a:schemeClr val="bg1">
                    <a:lumMod val="75000"/>
                  </a:schemeClr>
                </a:solidFill>
                <a:latin typeface="+mn-ea"/>
              </a:rPr>
              <a:t>내용을 입력하세요</a:t>
            </a:r>
            <a:r>
              <a:rPr lang="en-US" altLang="ko-KR" sz="700" dirty="0">
                <a:solidFill>
                  <a:schemeClr val="bg1">
                    <a:lumMod val="75000"/>
                  </a:schemeClr>
                </a:solidFill>
                <a:latin typeface="+mn-ea"/>
              </a:rPr>
              <a:t>.</a:t>
            </a:r>
          </a:p>
        </p:txBody>
      </p:sp>
      <p:sp>
        <p:nvSpPr>
          <p:cNvPr id="225" name="TextBox 224">
            <a:extLst>
              <a:ext uri="{FF2B5EF4-FFF2-40B4-BE49-F238E27FC236}">
                <a16:creationId xmlns:a16="http://schemas.microsoft.com/office/drawing/2014/main" id="{FFC49AEA-2A8F-250C-A86A-A7751D9706C3}"/>
              </a:ext>
            </a:extLst>
          </p:cNvPr>
          <p:cNvSpPr txBox="1"/>
          <p:nvPr/>
        </p:nvSpPr>
        <p:spPr>
          <a:xfrm>
            <a:off x="3859820" y="2591531"/>
            <a:ext cx="1757861" cy="181140"/>
          </a:xfrm>
          <a:prstGeom prst="rect">
            <a:avLst/>
          </a:prstGeom>
          <a:noFill/>
        </p:spPr>
        <p:txBody>
          <a:bodyPr wrap="square" lIns="0" tIns="0" rIns="0" bIns="0" rtlCol="0">
            <a:spAutoFit/>
          </a:bodyPr>
          <a:lstStyle/>
          <a:p>
            <a:pPr>
              <a:lnSpc>
                <a:spcPct val="200000"/>
              </a:lnSpc>
            </a:pPr>
            <a:r>
              <a:rPr lang="ko-KR" altLang="en-US" sz="700" dirty="0" err="1">
                <a:latin typeface="+mn-ea"/>
              </a:rPr>
              <a:t>취소사유</a:t>
            </a:r>
            <a:r>
              <a:rPr lang="ko-KR" altLang="en-US" sz="700" dirty="0">
                <a:latin typeface="+mn-ea"/>
              </a:rPr>
              <a:t> </a:t>
            </a:r>
            <a:r>
              <a:rPr lang="en-US" altLang="ko-KR" sz="700" dirty="0">
                <a:solidFill>
                  <a:srgbClr val="FF0000"/>
                </a:solidFill>
                <a:latin typeface="+mn-ea"/>
              </a:rPr>
              <a:t>*</a:t>
            </a:r>
            <a:endParaRPr lang="ko-KR" altLang="en-US" sz="700" dirty="0">
              <a:solidFill>
                <a:srgbClr val="FF0000"/>
              </a:solidFill>
              <a:latin typeface="+mn-ea"/>
            </a:endParaRPr>
          </a:p>
        </p:txBody>
      </p:sp>
      <p:grpSp>
        <p:nvGrpSpPr>
          <p:cNvPr id="215" name="그룹 214"/>
          <p:cNvGrpSpPr/>
          <p:nvPr/>
        </p:nvGrpSpPr>
        <p:grpSpPr>
          <a:xfrm>
            <a:off x="3795734" y="5614711"/>
            <a:ext cx="2712027" cy="617588"/>
            <a:chOff x="675399" y="5614711"/>
            <a:chExt cx="2712027" cy="617588"/>
          </a:xfrm>
        </p:grpSpPr>
        <p:sp>
          <p:nvSpPr>
            <p:cNvPr id="216" name="직사각형 215">
              <a:extLst>
                <a:ext uri="{FF2B5EF4-FFF2-40B4-BE49-F238E27FC236}">
                  <a16:creationId xmlns:a16="http://schemas.microsoft.com/office/drawing/2014/main" id="{F56F1743-11A0-EA94-9184-4E42C0A37F9C}"/>
                </a:ext>
              </a:extLst>
            </p:cNvPr>
            <p:cNvSpPr/>
            <p:nvPr/>
          </p:nvSpPr>
          <p:spPr>
            <a:xfrm>
              <a:off x="675399" y="5614711"/>
              <a:ext cx="2712027" cy="617588"/>
            </a:xfrm>
            <a:prstGeom prst="rect">
              <a:avLst/>
            </a:prstGeom>
            <a:solidFill>
              <a:schemeClr val="bg1"/>
            </a:solid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7" name="사각형: 둥근 모서리 15">
              <a:extLst>
                <a:ext uri="{FF2B5EF4-FFF2-40B4-BE49-F238E27FC236}">
                  <a16:creationId xmlns:a16="http://schemas.microsoft.com/office/drawing/2014/main" id="{E2B61CFB-AD16-68D0-8752-50D9C5E01971}"/>
                </a:ext>
              </a:extLst>
            </p:cNvPr>
            <p:cNvSpPr/>
            <p:nvPr/>
          </p:nvSpPr>
          <p:spPr>
            <a:xfrm>
              <a:off x="1412144" y="5745391"/>
              <a:ext cx="1882977" cy="317083"/>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solidFill>
                    <a:srgbClr val="0070C0"/>
                  </a:solidFill>
                  <a:latin typeface="맑은 고딕"/>
                  <a:ea typeface="맑은 고딕" panose="020B0503020000020004" pitchFamily="50" charset="-127"/>
                </a:rPr>
                <a:t>제출하기</a:t>
              </a:r>
              <a:endParaRPr kumimoji="1" lang="en-US" sz="1000" b="0" i="0" u="none" strike="noStrike" kern="0" cap="none" spc="0" normalizeH="0" baseline="0" noProof="0" dirty="0">
                <a:ln>
                  <a:noFill/>
                </a:ln>
                <a:solidFill>
                  <a:srgbClr val="0070C0"/>
                </a:solidFill>
                <a:effectLst/>
                <a:uLnTx/>
                <a:uFillTx/>
                <a:latin typeface="맑은 고딕"/>
                <a:ea typeface="+mn-ea"/>
                <a:cs typeface="+mn-cs"/>
              </a:endParaRPr>
            </a:p>
          </p:txBody>
        </p:sp>
        <p:sp>
          <p:nvSpPr>
            <p:cNvPr id="218" name="사각형: 둥근 모서리 15">
              <a:extLst>
                <a:ext uri="{FF2B5EF4-FFF2-40B4-BE49-F238E27FC236}">
                  <a16:creationId xmlns:a16="http://schemas.microsoft.com/office/drawing/2014/main" id="{E2B61CFB-AD16-68D0-8752-50D9C5E01971}"/>
                </a:ext>
              </a:extLst>
            </p:cNvPr>
            <p:cNvSpPr/>
            <p:nvPr/>
          </p:nvSpPr>
          <p:spPr>
            <a:xfrm>
              <a:off x="767702" y="5745391"/>
              <a:ext cx="552140" cy="317083"/>
            </a:xfrm>
            <a:prstGeom prst="roundRect">
              <a:avLst/>
            </a:prstGeom>
            <a:noFill/>
            <a:ln w="12700" cap="flat" cmpd="sng" algn="ctr">
              <a:solidFill>
                <a:schemeClr val="tx1"/>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1000" kern="0" dirty="0">
                  <a:latin typeface="맑은 고딕"/>
                  <a:ea typeface="맑은 고딕" panose="020B0503020000020004" pitchFamily="50" charset="-127"/>
                </a:rPr>
                <a:t>취소</a:t>
              </a:r>
              <a:endParaRPr kumimoji="1" lang="en-US" sz="1000" b="0" i="0" u="none" strike="noStrike" kern="0" cap="none" spc="0" normalizeH="0" baseline="0" noProof="0" dirty="0">
                <a:ln>
                  <a:noFill/>
                </a:ln>
                <a:effectLst/>
                <a:uLnTx/>
                <a:uFillTx/>
                <a:latin typeface="맑은 고딕"/>
              </a:endParaRPr>
            </a:p>
          </p:txBody>
        </p:sp>
      </p:grpSp>
      <p:sp>
        <p:nvSpPr>
          <p:cNvPr id="226" name="타원 225">
            <a:extLst>
              <a:ext uri="{FF2B5EF4-FFF2-40B4-BE49-F238E27FC236}">
                <a16:creationId xmlns:a16="http://schemas.microsoft.com/office/drawing/2014/main" id="{37A7FF4F-0EAA-1463-560A-D5EC24416103}"/>
              </a:ext>
            </a:extLst>
          </p:cNvPr>
          <p:cNvSpPr/>
          <p:nvPr/>
        </p:nvSpPr>
        <p:spPr>
          <a:xfrm>
            <a:off x="3655647" y="3069017"/>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227" name="타원 226">
            <a:extLst>
              <a:ext uri="{FF2B5EF4-FFF2-40B4-BE49-F238E27FC236}">
                <a16:creationId xmlns:a16="http://schemas.microsoft.com/office/drawing/2014/main" id="{37A7FF4F-0EAA-1463-560A-D5EC24416103}"/>
              </a:ext>
            </a:extLst>
          </p:cNvPr>
          <p:cNvSpPr/>
          <p:nvPr/>
        </p:nvSpPr>
        <p:spPr>
          <a:xfrm>
            <a:off x="3655647" y="5725081"/>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grpSp>
        <p:nvGrpSpPr>
          <p:cNvPr id="113" name="그룹 112"/>
          <p:cNvGrpSpPr/>
          <p:nvPr/>
        </p:nvGrpSpPr>
        <p:grpSpPr>
          <a:xfrm>
            <a:off x="716366" y="5040019"/>
            <a:ext cx="2630093" cy="1184228"/>
            <a:chOff x="3791188" y="2611009"/>
            <a:chExt cx="2630093" cy="1184228"/>
          </a:xfrm>
        </p:grpSpPr>
        <p:sp>
          <p:nvSpPr>
            <p:cNvPr id="114" name="TextBox 113">
              <a:extLst>
                <a:ext uri="{FF2B5EF4-FFF2-40B4-BE49-F238E27FC236}">
                  <a16:creationId xmlns:a16="http://schemas.microsoft.com/office/drawing/2014/main" id="{FFC49AEA-2A8F-250C-A86A-A7751D9706C3}"/>
                </a:ext>
              </a:extLst>
            </p:cNvPr>
            <p:cNvSpPr txBox="1"/>
            <p:nvPr/>
          </p:nvSpPr>
          <p:spPr>
            <a:xfrm>
              <a:off x="3852159" y="2611009"/>
              <a:ext cx="1270852" cy="181140"/>
            </a:xfrm>
            <a:prstGeom prst="rect">
              <a:avLst/>
            </a:prstGeom>
            <a:noFill/>
          </p:spPr>
          <p:txBody>
            <a:bodyPr wrap="square" lIns="0" tIns="0" rIns="0" bIns="0" rtlCol="0">
              <a:spAutoFit/>
            </a:bodyPr>
            <a:lstStyle/>
            <a:p>
              <a:pPr>
                <a:lnSpc>
                  <a:spcPct val="200000"/>
                </a:lnSpc>
              </a:pPr>
              <a:r>
                <a:rPr lang="ko-KR" altLang="en-US" sz="700" dirty="0" err="1">
                  <a:latin typeface="+mn-ea"/>
                </a:rPr>
                <a:t>입찰업체</a:t>
              </a:r>
              <a:r>
                <a:rPr lang="ko-KR" altLang="en-US" sz="700" dirty="0">
                  <a:latin typeface="+mn-ea"/>
                </a:rPr>
                <a:t> </a:t>
              </a:r>
              <a:r>
                <a:rPr lang="en-US" altLang="ko-KR" sz="700" dirty="0">
                  <a:latin typeface="+mn-ea"/>
                </a:rPr>
                <a:t>- </a:t>
              </a:r>
              <a:r>
                <a:rPr lang="ko-KR" altLang="en-US" sz="700" dirty="0">
                  <a:latin typeface="+mn-ea"/>
                </a:rPr>
                <a:t>제작자</a:t>
              </a:r>
              <a:r>
                <a:rPr lang="en-US" altLang="ko-KR" sz="700" dirty="0">
                  <a:latin typeface="+mn-ea"/>
                </a:rPr>
                <a:t>/</a:t>
              </a:r>
              <a:r>
                <a:rPr lang="ko-KR" altLang="en-US" sz="700" dirty="0">
                  <a:latin typeface="+mn-ea"/>
                </a:rPr>
                <a:t>공급자</a:t>
              </a:r>
            </a:p>
          </p:txBody>
        </p:sp>
        <p:sp>
          <p:nvSpPr>
            <p:cNvPr id="115" name="직사각형 114"/>
            <p:cNvSpPr/>
            <p:nvPr/>
          </p:nvSpPr>
          <p:spPr>
            <a:xfrm>
              <a:off x="3793281" y="2918495"/>
              <a:ext cx="792000" cy="87222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16" name="직선 연결선 115">
              <a:extLst>
                <a:ext uri="{FF2B5EF4-FFF2-40B4-BE49-F238E27FC236}">
                  <a16:creationId xmlns:a16="http://schemas.microsoft.com/office/drawing/2014/main" id="{E9293055-D5CD-4B9E-7F64-64B2D2CA7A52}"/>
                </a:ext>
              </a:extLst>
            </p:cNvPr>
            <p:cNvCxnSpPr/>
            <p:nvPr/>
          </p:nvCxnSpPr>
          <p:spPr>
            <a:xfrm>
              <a:off x="3791188" y="2918494"/>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7" name="TextBox 116">
              <a:extLst>
                <a:ext uri="{FF2B5EF4-FFF2-40B4-BE49-F238E27FC236}">
                  <a16:creationId xmlns:a16="http://schemas.microsoft.com/office/drawing/2014/main" id="{FFC49AEA-2A8F-250C-A86A-A7751D9706C3}"/>
                </a:ext>
              </a:extLst>
            </p:cNvPr>
            <p:cNvSpPr txBox="1"/>
            <p:nvPr/>
          </p:nvSpPr>
          <p:spPr>
            <a:xfrm>
              <a:off x="3880345" y="2918494"/>
              <a:ext cx="756848" cy="646331"/>
            </a:xfrm>
            <a:prstGeom prst="rect">
              <a:avLst/>
            </a:prstGeom>
            <a:noFill/>
          </p:spPr>
          <p:txBody>
            <a:bodyPr wrap="square" lIns="0" tIns="0" rIns="0" bIns="0" rtlCol="0">
              <a:spAutoFit/>
            </a:bodyPr>
            <a:lstStyle/>
            <a:p>
              <a:pPr>
                <a:lnSpc>
                  <a:spcPct val="200000"/>
                </a:lnSpc>
              </a:pPr>
              <a:r>
                <a:rPr lang="ko-KR" altLang="en-US" sz="700" dirty="0" err="1">
                  <a:latin typeface="+mn-ea"/>
                </a:rPr>
                <a:t>업체코드</a:t>
              </a:r>
              <a:endParaRPr lang="ko-KR" altLang="en-US" sz="700" dirty="0">
                <a:latin typeface="+mn-ea"/>
              </a:endParaRPr>
            </a:p>
            <a:p>
              <a:pPr>
                <a:lnSpc>
                  <a:spcPct val="200000"/>
                </a:lnSpc>
              </a:pPr>
              <a:r>
                <a:rPr lang="ko-KR" altLang="en-US" sz="700" dirty="0" err="1">
                  <a:latin typeface="+mn-ea"/>
                </a:rPr>
                <a:t>업체명</a:t>
              </a:r>
              <a:endParaRPr lang="ko-KR" altLang="en-US" sz="700" dirty="0">
                <a:latin typeface="+mn-ea"/>
              </a:endParaRPr>
            </a:p>
            <a:p>
              <a:pPr>
                <a:lnSpc>
                  <a:spcPct val="200000"/>
                </a:lnSpc>
              </a:pPr>
              <a:r>
                <a:rPr lang="ko-KR" altLang="en-US" sz="700" dirty="0">
                  <a:latin typeface="+mn-ea"/>
                </a:rPr>
                <a:t>대표자</a:t>
              </a:r>
              <a:endParaRPr lang="en-US" altLang="ko-KR" sz="700" dirty="0">
                <a:latin typeface="+mn-ea"/>
              </a:endParaRPr>
            </a:p>
          </p:txBody>
        </p:sp>
        <p:sp>
          <p:nvSpPr>
            <p:cNvPr id="118" name="TextBox 117">
              <a:extLst>
                <a:ext uri="{FF2B5EF4-FFF2-40B4-BE49-F238E27FC236}">
                  <a16:creationId xmlns:a16="http://schemas.microsoft.com/office/drawing/2014/main" id="{FFC49AEA-2A8F-250C-A86A-A7751D9706C3}"/>
                </a:ext>
              </a:extLst>
            </p:cNvPr>
            <p:cNvSpPr txBox="1"/>
            <p:nvPr/>
          </p:nvSpPr>
          <p:spPr>
            <a:xfrm>
              <a:off x="4637193" y="2918494"/>
              <a:ext cx="1784088" cy="861774"/>
            </a:xfrm>
            <a:prstGeom prst="rect">
              <a:avLst/>
            </a:prstGeom>
            <a:noFill/>
          </p:spPr>
          <p:txBody>
            <a:bodyPr wrap="square" lIns="0" tIns="0" rIns="0" bIns="0" rtlCol="0">
              <a:spAutoFit/>
            </a:bodyPr>
            <a:lstStyle/>
            <a:p>
              <a:pPr>
                <a:lnSpc>
                  <a:spcPct val="200000"/>
                </a:lnSpc>
              </a:pPr>
              <a:r>
                <a:rPr lang="en-US" altLang="ko-KR" sz="700" dirty="0">
                  <a:latin typeface="+mn-ea"/>
                </a:rPr>
                <a:t>7004F</a:t>
              </a:r>
            </a:p>
            <a:p>
              <a:pPr lvl="0">
                <a:lnSpc>
                  <a:spcPct val="200000"/>
                </a:lnSpc>
              </a:pPr>
              <a:r>
                <a:rPr lang="en-US" altLang="ko-KR" sz="700" dirty="0">
                  <a:latin typeface="+mn-ea"/>
                </a:rPr>
                <a:t>B</a:t>
              </a:r>
              <a:r>
                <a:rPr lang="ko-KR" altLang="en-US" sz="700" dirty="0">
                  <a:latin typeface="+mn-ea"/>
                </a:rPr>
                <a:t>해외업체</a:t>
              </a:r>
            </a:p>
            <a:p>
              <a:pPr>
                <a:lnSpc>
                  <a:spcPct val="200000"/>
                </a:lnSpc>
              </a:pPr>
              <a:r>
                <a:rPr lang="ko-KR" altLang="en-US" sz="700" dirty="0">
                  <a:latin typeface="+mn-ea"/>
                </a:rPr>
                <a:t>홍길동</a:t>
              </a:r>
              <a:endParaRPr lang="en-US" altLang="ko-KR" sz="700" dirty="0">
                <a:latin typeface="+mn-ea"/>
              </a:endParaRPr>
            </a:p>
            <a:p>
              <a:pPr>
                <a:lnSpc>
                  <a:spcPct val="200000"/>
                </a:lnSpc>
              </a:pPr>
              <a:r>
                <a:rPr lang="en-US" altLang="ko-KR" sz="700" dirty="0">
                  <a:latin typeface="+mn-ea"/>
                </a:rPr>
                <a:t>123-45-67890</a:t>
              </a:r>
            </a:p>
          </p:txBody>
        </p:sp>
        <p:cxnSp>
          <p:nvCxnSpPr>
            <p:cNvPr id="119" name="직선 연결선 118">
              <a:extLst>
                <a:ext uri="{FF2B5EF4-FFF2-40B4-BE49-F238E27FC236}">
                  <a16:creationId xmlns:a16="http://schemas.microsoft.com/office/drawing/2014/main" id="{E9293055-D5CD-4B9E-7F64-64B2D2CA7A52}"/>
                </a:ext>
              </a:extLst>
            </p:cNvPr>
            <p:cNvCxnSpPr/>
            <p:nvPr/>
          </p:nvCxnSpPr>
          <p:spPr>
            <a:xfrm>
              <a:off x="3793281" y="31495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3793281" y="33633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3793281" y="357701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5" name="직선 연결선 124">
              <a:extLst>
                <a:ext uri="{FF2B5EF4-FFF2-40B4-BE49-F238E27FC236}">
                  <a16:creationId xmlns:a16="http://schemas.microsoft.com/office/drawing/2014/main" id="{E9293055-D5CD-4B9E-7F64-64B2D2CA7A52}"/>
                </a:ext>
              </a:extLst>
            </p:cNvPr>
            <p:cNvCxnSpPr/>
            <p:nvPr/>
          </p:nvCxnSpPr>
          <p:spPr>
            <a:xfrm>
              <a:off x="3793281" y="379072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26" name="TextBox 125">
              <a:extLst>
                <a:ext uri="{FF2B5EF4-FFF2-40B4-BE49-F238E27FC236}">
                  <a16:creationId xmlns:a16="http://schemas.microsoft.com/office/drawing/2014/main" id="{FFC49AEA-2A8F-250C-A86A-A7751D9706C3}"/>
                </a:ext>
              </a:extLst>
            </p:cNvPr>
            <p:cNvSpPr txBox="1"/>
            <p:nvPr/>
          </p:nvSpPr>
          <p:spPr>
            <a:xfrm>
              <a:off x="3880345" y="3579793"/>
              <a:ext cx="756848" cy="215444"/>
            </a:xfrm>
            <a:prstGeom prst="rect">
              <a:avLst/>
            </a:prstGeom>
            <a:noFill/>
          </p:spPr>
          <p:txBody>
            <a:bodyPr wrap="square" lIns="0" tIns="0" rIns="0" bIns="0" rtlCol="0">
              <a:spAutoFit/>
            </a:bodyPr>
            <a:lstStyle/>
            <a:p>
              <a:r>
                <a:rPr lang="ko-KR" altLang="en-US" sz="700" dirty="0" err="1">
                  <a:latin typeface="+mn-ea"/>
                </a:rPr>
                <a:t>사업자번호</a:t>
              </a:r>
              <a:endParaRPr lang="en-US" altLang="ko-KR" sz="700" dirty="0">
                <a:latin typeface="+mn-ea"/>
              </a:endParaRPr>
            </a:p>
            <a:p>
              <a:r>
                <a:rPr lang="en-US" altLang="ko-KR" sz="700" dirty="0">
                  <a:latin typeface="+mn-ea"/>
                </a:rPr>
                <a:t>DUNS NUM</a:t>
              </a:r>
            </a:p>
          </p:txBody>
        </p:sp>
      </p:grpSp>
    </p:spTree>
    <p:extLst>
      <p:ext uri="{BB962C8B-B14F-4D97-AF65-F5344CB8AC3E}">
        <p14:creationId xmlns:p14="http://schemas.microsoft.com/office/powerpoint/2010/main" val="287234785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438</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782834"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a:t>
            </a: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829868"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취소신청내역 데이터 영역 </a:t>
            </a:r>
            <a:r>
              <a:rPr lang="en-US" altLang="ko-KR" sz="900" b="1" dirty="0">
                <a:solidFill>
                  <a:prstClr val="black"/>
                </a:solidFill>
              </a:rPr>
              <a:t>(</a:t>
            </a:r>
            <a:r>
              <a:rPr lang="en-US" altLang="ko-KR" sz="900" b="1" dirty="0" err="1">
                <a:solidFill>
                  <a:prstClr val="black"/>
                </a:solidFill>
              </a:rPr>
              <a:t>dm_rtrcnAplyDsctn</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73440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3848620"/>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128329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250648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intgRfrncNo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844877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81208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6203264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533420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437984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9845048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43500623"/>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대표자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splyRprsvNm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대표자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102536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사업자번호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splyBzmnNo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제작자</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a:t>
                      </a: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공급자 사업자등록번호 또는 </a:t>
                      </a: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DUNSNUM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645363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frcptlArtclNo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취소신청건의 품목 항목번호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560019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invtNo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취소신청건의 품목 재고번호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9</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815915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prtsNo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취소신청건의 품목 부품번호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취소신청건의 품목 품명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6" name="TextBox 5">
            <a:extLst>
              <a:ext uri="{FF2B5EF4-FFF2-40B4-BE49-F238E27FC236}">
                <a16:creationId xmlns:a16="http://schemas.microsoft.com/office/drawing/2014/main" id="{A4513D15-2F4E-0EE7-F0BD-C110EFB04F0F}"/>
              </a:ext>
            </a:extLst>
          </p:cNvPr>
          <p:cNvSpPr txBox="1"/>
          <p:nvPr/>
        </p:nvSpPr>
        <p:spPr>
          <a:xfrm>
            <a:off x="458117" y="4834793"/>
            <a:ext cx="2599036"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취소사유 데이터 영역 </a:t>
            </a:r>
            <a:r>
              <a:rPr lang="en-US" altLang="ko-KR" sz="900" b="1" dirty="0">
                <a:solidFill>
                  <a:prstClr val="black"/>
                </a:solidFill>
              </a:rPr>
              <a:t>(</a:t>
            </a:r>
            <a:r>
              <a:rPr lang="en-US" altLang="ko-KR" sz="900" b="1" dirty="0" err="1">
                <a:solidFill>
                  <a:prstClr val="black"/>
                </a:solidFill>
              </a:rPr>
              <a:t>dm_rtrcnAplyDsctn</a:t>
            </a:r>
            <a:r>
              <a:rPr lang="en-US" altLang="ko-KR" sz="900" b="1" dirty="0">
                <a:solidFill>
                  <a:prstClr val="black"/>
                </a:solidFill>
              </a:rPr>
              <a:t>)</a:t>
            </a:r>
            <a:endParaRPr lang="ko-KR" altLang="en-US" sz="900" b="1" dirty="0">
              <a:solidFill>
                <a:prstClr val="black"/>
              </a:solidFill>
            </a:endParaRPr>
          </a:p>
        </p:txBody>
      </p:sp>
      <p:graphicFrame>
        <p:nvGraphicFramePr>
          <p:cNvPr id="7" name="표 6">
            <a:extLst>
              <a:ext uri="{FF2B5EF4-FFF2-40B4-BE49-F238E27FC236}">
                <a16:creationId xmlns:a16="http://schemas.microsoft.com/office/drawing/2014/main" id="{1D0E72C4-031D-C63C-A8DF-C69F1B46579C}"/>
              </a:ext>
            </a:extLst>
          </p:cNvPr>
          <p:cNvGraphicFramePr>
            <a:graphicFrameLocks noGrp="1"/>
          </p:cNvGraphicFramePr>
          <p:nvPr/>
        </p:nvGraphicFramePr>
        <p:xfrm>
          <a:off x="452999" y="5045996"/>
          <a:ext cx="8994883" cy="3878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견적서 취소사유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E</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827794109"/>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439</a:t>
            </a:fld>
            <a:endParaRPr lang="ko-KR" altLang="en-US" dirty="0"/>
          </a:p>
        </p:txBody>
      </p:sp>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
        <p:nvSpPr>
          <p:cNvPr id="2" name="TextBox 1">
            <a:extLst>
              <a:ext uri="{FF2B5EF4-FFF2-40B4-BE49-F238E27FC236}">
                <a16:creationId xmlns:a16="http://schemas.microsoft.com/office/drawing/2014/main" id="{4E852C9A-4179-76CD-4D9E-624EA33E5343}"/>
              </a:ext>
            </a:extLst>
          </p:cNvPr>
          <p:cNvSpPr txBox="1"/>
          <p:nvPr/>
        </p:nvSpPr>
        <p:spPr>
          <a:xfrm>
            <a:off x="458117" y="56919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5" name="표 4">
            <a:extLst>
              <a:ext uri="{FF2B5EF4-FFF2-40B4-BE49-F238E27FC236}">
                <a16:creationId xmlns:a16="http://schemas.microsoft.com/office/drawing/2014/main" id="{86DE8E7D-3FE9-C898-83CD-B26727BFFE9D}"/>
              </a:ext>
            </a:extLst>
          </p:cNvPr>
          <p:cNvGraphicFramePr>
            <a:graphicFrameLocks noGrp="1"/>
          </p:cNvGraphicFramePr>
          <p:nvPr>
            <p:extLst>
              <p:ext uri="{D42A27DB-BD31-4B8C-83A1-F6EECF244321}">
                <p14:modId xmlns:p14="http://schemas.microsoft.com/office/powerpoint/2010/main" val="781280203"/>
              </p:ext>
            </p:extLst>
          </p:nvPr>
        </p:nvGraphicFramePr>
        <p:xfrm>
          <a:off x="453000" y="803483"/>
          <a:ext cx="8995591" cy="101952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3103963203"/>
                    </a:ext>
                  </a:extLst>
                </a:gridCol>
                <a:gridCol w="3702978">
                  <a:extLst>
                    <a:ext uri="{9D8B030D-6E8A-4147-A177-3AD203B41FA5}">
                      <a16:colId xmlns:a16="http://schemas.microsoft.com/office/drawing/2014/main" val="20001"/>
                    </a:ext>
                  </a:extLst>
                </a:gridCol>
                <a:gridCol w="3364143">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scwin.onpageload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입찰공고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 클릭</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scwin.btn_save_onclick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작성한 취소신청서 제출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4036305"/>
                  </a:ext>
                </a:extLst>
              </a:tr>
              <a:tr h="0">
                <a:tc>
                  <a:txBody>
                    <a:bodyPr/>
                    <a:lstStyle/>
                    <a:p>
                      <a:r>
                        <a:rPr lang="ko-KR" altLang="en-US" sz="800" dirty="0"/>
                        <a:t>취소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r>
                        <a:rPr lang="en-US" altLang="ko-KR" sz="800" dirty="0" err="1"/>
                        <a:t>scwin.btn_cancel_onclick</a:t>
                      </a:r>
                      <a:endParaRPr lang="ko-KR" altLang="en-US" sz="800" dirty="0"/>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작업내용을 반영하지 않고 현재 팝업을 종료</a:t>
                      </a:r>
                      <a:endParaRPr lang="en-US" altLang="ko-KR"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171450" indent="-171450"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844698885"/>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marL="88900" indent="-88900">
              <a:buFont typeface="+mj-lt"/>
              <a:buAutoNum type="arabicPeriod"/>
            </a:pPr>
            <a:r>
              <a:rPr lang="ko-KR" altLang="en-US" dirty="0"/>
              <a:t>타이틀 표시</a:t>
            </a:r>
            <a:endParaRPr lang="en-US" altLang="ko-KR" dirty="0"/>
          </a:p>
          <a:p>
            <a:pPr marL="88900" indent="-88900">
              <a:buFont typeface="+mj-lt"/>
              <a:buAutoNum type="arabicPeriod"/>
            </a:pPr>
            <a:r>
              <a:rPr lang="ko-KR" altLang="en-US" dirty="0"/>
              <a:t>탭 메뉴</a:t>
            </a:r>
            <a:endParaRPr lang="en-US" altLang="ko-KR" dirty="0"/>
          </a:p>
          <a:p>
            <a:pPr marL="88900" indent="-88900">
              <a:buFont typeface="+mj-lt"/>
              <a:buAutoNum type="arabicPeriod"/>
            </a:pPr>
            <a:r>
              <a:rPr lang="ko-KR" altLang="en-US" dirty="0" err="1"/>
              <a:t>일반정보에</a:t>
            </a:r>
            <a:r>
              <a:rPr lang="ko-KR" altLang="en-US" dirty="0"/>
              <a:t> 포함된 정보 표시</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440</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공개수의협상결과조회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a:t>
            </a:r>
            <a:r>
              <a:rPr lang="ko-KR" altLang="en-US" dirty="0" err="1">
                <a:solidFill>
                  <a:srgbClr val="000000"/>
                </a:solidFill>
                <a:latin typeface="휴먼명조"/>
              </a:rPr>
              <a:t>수의협상</a:t>
            </a:r>
            <a:r>
              <a:rPr lang="ko-KR" altLang="en-US" dirty="0">
                <a:solidFill>
                  <a:srgbClr val="000000"/>
                </a:solidFill>
                <a:latin typeface="휴먼명조"/>
              </a:rPr>
              <a:t> 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MUI-BD-12-M83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TextBox 23">
            <a:extLst>
              <a:ext uri="{FF2B5EF4-FFF2-40B4-BE49-F238E27FC236}">
                <a16:creationId xmlns:a16="http://schemas.microsoft.com/office/drawing/2014/main" id="{FFC49AEA-2A8F-250C-A86A-A7751D9706C3}"/>
              </a:ext>
            </a:extLst>
          </p:cNvPr>
          <p:cNvSpPr txBox="1"/>
          <p:nvPr/>
        </p:nvSpPr>
        <p:spPr>
          <a:xfrm>
            <a:off x="936072" y="1608356"/>
            <a:ext cx="2305144" cy="123111"/>
          </a:xfrm>
          <a:prstGeom prst="rect">
            <a:avLst/>
          </a:prstGeom>
          <a:noFill/>
        </p:spPr>
        <p:txBody>
          <a:bodyPr wrap="square" lIns="0" tIns="0" rIns="0" bIns="0" rtlCol="0">
            <a:spAutoFit/>
          </a:bodyPr>
          <a:lstStyle/>
          <a:p>
            <a:r>
              <a:rPr lang="ko-KR" altLang="en-US" sz="800" dirty="0">
                <a:latin typeface="+mn-ea"/>
              </a:rPr>
              <a:t>공개수의협상 결과 조회</a:t>
            </a:r>
          </a:p>
        </p:txBody>
      </p:sp>
      <p:cxnSp>
        <p:nvCxnSpPr>
          <p:cNvPr id="44" name="직선 연결선 43">
            <a:extLst>
              <a:ext uri="{FF2B5EF4-FFF2-40B4-BE49-F238E27FC236}">
                <a16:creationId xmlns:a16="http://schemas.microsoft.com/office/drawing/2014/main" id="{E9293055-D5CD-4B9E-7F64-64B2D2CA7A52}"/>
              </a:ext>
            </a:extLst>
          </p:cNvPr>
          <p:cNvCxnSpPr/>
          <p:nvPr/>
        </p:nvCxnSpPr>
        <p:spPr>
          <a:xfrm>
            <a:off x="680570" y="1846937"/>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nvGrpSpPr>
          <p:cNvPr id="45" name="그룹 44"/>
          <p:cNvGrpSpPr/>
          <p:nvPr/>
        </p:nvGrpSpPr>
        <p:grpSpPr>
          <a:xfrm rot="5400000">
            <a:off x="755013" y="1640499"/>
            <a:ext cx="94010" cy="47005"/>
            <a:chOff x="6812560" y="3297172"/>
            <a:chExt cx="94010" cy="47005"/>
          </a:xfrm>
        </p:grpSpPr>
        <p:cxnSp>
          <p:nvCxnSpPr>
            <p:cNvPr id="46" name="직선 연결선 4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47" name="직선 연결선 4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48" name="타원 47"/>
          <p:cNvSpPr/>
          <p:nvPr/>
        </p:nvSpPr>
        <p:spPr>
          <a:xfrm>
            <a:off x="3044537" y="1580377"/>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9085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55" name="TextBox 58">
            <a:extLst>
              <a:ext uri="{FF2B5EF4-FFF2-40B4-BE49-F238E27FC236}">
                <a16:creationId xmlns:a16="http://schemas.microsoft.com/office/drawing/2014/main" id="{02FC114B-B48B-345F-BD70-2B5A196F5B3E}"/>
              </a:ext>
            </a:extLst>
          </p:cNvPr>
          <p:cNvSpPr txBox="1"/>
          <p:nvPr/>
        </p:nvSpPr>
        <p:spPr>
          <a:xfrm>
            <a:off x="781461" y="2158410"/>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500MD</a:t>
            </a:r>
            <a:r>
              <a:rPr lang="ko-KR" altLang="en-US" sz="900" b="1" dirty="0"/>
              <a:t>부품</a:t>
            </a:r>
          </a:p>
        </p:txBody>
      </p:sp>
      <p:sp>
        <p:nvSpPr>
          <p:cNvPr id="56" name="TextBox 59">
            <a:extLst>
              <a:ext uri="{FF2B5EF4-FFF2-40B4-BE49-F238E27FC236}">
                <a16:creationId xmlns:a16="http://schemas.microsoft.com/office/drawing/2014/main" id="{F77C802D-3BC8-270F-87FC-5F442BD8054D}"/>
              </a:ext>
            </a:extLst>
          </p:cNvPr>
          <p:cNvSpPr txBox="1"/>
          <p:nvPr/>
        </p:nvSpPr>
        <p:spPr>
          <a:xfrm>
            <a:off x="781461" y="2493475"/>
            <a:ext cx="461665" cy="553998"/>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nSpc>
                <a:spcPct val="150000"/>
              </a:lnSpc>
            </a:pPr>
            <a:r>
              <a:rPr lang="ko-KR" altLang="en-US" sz="600" dirty="0" err="1">
                <a:latin typeface="+mn-ea"/>
              </a:rPr>
              <a:t>입찰업체</a:t>
            </a:r>
            <a:endParaRPr lang="en-US" altLang="ko-KR" sz="600" dirty="0">
              <a:latin typeface="+mn-ea"/>
            </a:endParaRPr>
          </a:p>
          <a:p>
            <a:pPr>
              <a:lnSpc>
                <a:spcPct val="150000"/>
              </a:lnSpc>
            </a:pPr>
            <a:r>
              <a:rPr lang="ko-KR" altLang="en-US" sz="600" dirty="0">
                <a:latin typeface="+mn-ea"/>
              </a:rPr>
              <a:t>구매요청번호</a:t>
            </a:r>
            <a:endParaRPr lang="en-US" altLang="ko-KR" sz="600" dirty="0">
              <a:latin typeface="+mn-ea"/>
            </a:endParaRPr>
          </a:p>
          <a:p>
            <a:pPr>
              <a:lnSpc>
                <a:spcPct val="150000"/>
              </a:lnSpc>
            </a:pPr>
            <a:r>
              <a:rPr lang="ko-KR" altLang="en-US" sz="600" dirty="0" err="1">
                <a:latin typeface="+mn-ea"/>
              </a:rPr>
              <a:t>공고일자</a:t>
            </a:r>
            <a:endParaRPr lang="en-US" altLang="ko-KR" sz="600" dirty="0">
              <a:latin typeface="+mn-ea"/>
            </a:endParaRPr>
          </a:p>
          <a:p>
            <a:pPr>
              <a:lnSpc>
                <a:spcPct val="150000"/>
              </a:lnSpc>
            </a:pPr>
            <a:r>
              <a:rPr lang="ko-KR" altLang="en-US" sz="600" dirty="0" err="1">
                <a:latin typeface="+mn-ea"/>
              </a:rPr>
              <a:t>개찰일자</a:t>
            </a:r>
            <a:endParaRPr lang="ko-KR" altLang="en-US" sz="600" dirty="0">
              <a:latin typeface="+mn-ea"/>
            </a:endParaRPr>
          </a:p>
        </p:txBody>
      </p:sp>
      <p:sp>
        <p:nvSpPr>
          <p:cNvPr id="57" name="TextBox 60">
            <a:extLst>
              <a:ext uri="{FF2B5EF4-FFF2-40B4-BE49-F238E27FC236}">
                <a16:creationId xmlns:a16="http://schemas.microsoft.com/office/drawing/2014/main" id="{8F5E3227-69E6-C89F-B8C5-534226E95EA8}"/>
              </a:ext>
            </a:extLst>
          </p:cNvPr>
          <p:cNvSpPr txBox="1"/>
          <p:nvPr/>
        </p:nvSpPr>
        <p:spPr>
          <a:xfrm>
            <a:off x="2702101" y="2478086"/>
            <a:ext cx="503343" cy="536172"/>
          </a:xfrm>
          <a:prstGeom prst="rect">
            <a:avLst/>
          </a:prstGeom>
          <a:noFill/>
        </p:spPr>
        <p:txBody>
          <a:bodyPr wrap="non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r">
              <a:lnSpc>
                <a:spcPct val="150000"/>
              </a:lnSpc>
            </a:pPr>
            <a:r>
              <a:rPr lang="en-US" altLang="ko-KR" sz="600" dirty="0">
                <a:latin typeface="+mn-ea"/>
              </a:rPr>
              <a:t>A </a:t>
            </a:r>
            <a:r>
              <a:rPr lang="ko-KR" altLang="en-US" sz="600" dirty="0">
                <a:latin typeface="+mn-ea"/>
              </a:rPr>
              <a:t>해외업체</a:t>
            </a:r>
            <a:endParaRPr lang="en-US" altLang="ko-KR" sz="600" dirty="0">
              <a:latin typeface="+mn-ea"/>
            </a:endParaRPr>
          </a:p>
          <a:p>
            <a:pPr algn="r">
              <a:lnSpc>
                <a:spcPct val="150000"/>
              </a:lnSpc>
            </a:pPr>
            <a:r>
              <a:rPr lang="en-US" altLang="ko-KR" sz="600" dirty="0">
                <a:latin typeface="+mn-ea"/>
              </a:rPr>
              <a:t>BDF01823-002</a:t>
            </a:r>
          </a:p>
          <a:p>
            <a:pPr algn="r">
              <a:lnSpc>
                <a:spcPct val="150000"/>
              </a:lnSpc>
            </a:pPr>
            <a:r>
              <a:rPr lang="en-US" altLang="ko-KR" sz="600" dirty="0">
                <a:latin typeface="+mn-ea"/>
              </a:rPr>
              <a:t>2026-03-17</a:t>
            </a:r>
          </a:p>
          <a:p>
            <a:pPr algn="r">
              <a:lnSpc>
                <a:spcPct val="150000"/>
              </a:lnSpc>
            </a:pPr>
            <a:r>
              <a:rPr lang="en-US" altLang="ko-KR" sz="600" dirty="0">
                <a:latin typeface="+mn-ea"/>
              </a:rPr>
              <a:t>2026-03-30</a:t>
            </a:r>
            <a:endParaRPr lang="ko-KR" altLang="en-US" sz="600" dirty="0">
              <a:latin typeface="+mn-ea"/>
            </a:endParaRPr>
          </a:p>
        </p:txBody>
      </p:sp>
      <p:cxnSp>
        <p:nvCxnSpPr>
          <p:cNvPr id="127" name="직선 연결선 126">
            <a:extLst>
              <a:ext uri="{FF2B5EF4-FFF2-40B4-BE49-F238E27FC236}">
                <a16:creationId xmlns:a16="http://schemas.microsoft.com/office/drawing/2014/main" id="{E9293055-D5CD-4B9E-7F64-64B2D2CA7A52}"/>
              </a:ext>
            </a:extLst>
          </p:cNvPr>
          <p:cNvCxnSpPr/>
          <p:nvPr/>
        </p:nvCxnSpPr>
        <p:spPr>
          <a:xfrm>
            <a:off x="720490" y="312300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4" name="직선 연결선 83">
            <a:extLst>
              <a:ext uri="{FF2B5EF4-FFF2-40B4-BE49-F238E27FC236}">
                <a16:creationId xmlns:a16="http://schemas.microsoft.com/office/drawing/2014/main" id="{E9293055-D5CD-4B9E-7F64-64B2D2CA7A52}"/>
              </a:ext>
            </a:extLst>
          </p:cNvPr>
          <p:cNvCxnSpPr/>
          <p:nvPr/>
        </p:nvCxnSpPr>
        <p:spPr>
          <a:xfrm>
            <a:off x="720490" y="34774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85" name="TextBox 84">
            <a:extLst>
              <a:ext uri="{FF2B5EF4-FFF2-40B4-BE49-F238E27FC236}">
                <a16:creationId xmlns:a16="http://schemas.microsoft.com/office/drawing/2014/main" id="{FFC49AEA-2A8F-250C-A86A-A7751D9706C3}"/>
              </a:ext>
            </a:extLst>
          </p:cNvPr>
          <p:cNvSpPr txBox="1"/>
          <p:nvPr/>
        </p:nvSpPr>
        <p:spPr>
          <a:xfrm>
            <a:off x="764169" y="3260814"/>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01" name="TextBox 100">
            <a:extLst>
              <a:ext uri="{FF2B5EF4-FFF2-40B4-BE49-F238E27FC236}">
                <a16:creationId xmlns:a16="http://schemas.microsoft.com/office/drawing/2014/main" id="{FFC49AEA-2A8F-250C-A86A-A7751D9706C3}"/>
              </a:ext>
            </a:extLst>
          </p:cNvPr>
          <p:cNvSpPr txBox="1"/>
          <p:nvPr/>
        </p:nvSpPr>
        <p:spPr>
          <a:xfrm>
            <a:off x="1283459" y="3260814"/>
            <a:ext cx="447776" cy="107722"/>
          </a:xfrm>
          <a:prstGeom prst="rect">
            <a:avLst/>
          </a:prstGeom>
          <a:noFill/>
        </p:spPr>
        <p:txBody>
          <a:bodyPr wrap="square" lIns="0" tIns="0" rIns="0" bIns="0" rtlCol="0">
            <a:spAutoFit/>
          </a:bodyPr>
          <a:lstStyle/>
          <a:p>
            <a:pPr algn="ctr"/>
            <a:r>
              <a:rPr lang="ko-KR" altLang="en-US" sz="700" dirty="0">
                <a:latin typeface="+mn-ea"/>
              </a:rPr>
              <a:t>조회 결과</a:t>
            </a:r>
          </a:p>
        </p:txBody>
      </p:sp>
      <p:cxnSp>
        <p:nvCxnSpPr>
          <p:cNvPr id="104" name="직선 연결선 103">
            <a:extLst>
              <a:ext uri="{FF2B5EF4-FFF2-40B4-BE49-F238E27FC236}">
                <a16:creationId xmlns:a16="http://schemas.microsoft.com/office/drawing/2014/main" id="{E9293055-D5CD-4B9E-7F64-64B2D2CA7A52}"/>
              </a:ext>
            </a:extLst>
          </p:cNvPr>
          <p:cNvCxnSpPr/>
          <p:nvPr/>
        </p:nvCxnSpPr>
        <p:spPr>
          <a:xfrm>
            <a:off x="720490" y="3477421"/>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7" name="그룹 6"/>
          <p:cNvGrpSpPr/>
          <p:nvPr/>
        </p:nvGrpSpPr>
        <p:grpSpPr>
          <a:xfrm>
            <a:off x="2924086" y="3222691"/>
            <a:ext cx="422853" cy="187961"/>
            <a:chOff x="3641308" y="2234886"/>
            <a:chExt cx="422853" cy="187961"/>
          </a:xfrm>
        </p:grpSpPr>
        <p:sp>
          <p:nvSpPr>
            <p:cNvPr id="88" name="타원 87"/>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3" name="그룹 92"/>
            <p:cNvGrpSpPr/>
            <p:nvPr/>
          </p:nvGrpSpPr>
          <p:grpSpPr>
            <a:xfrm rot="5400000" flipH="1">
              <a:off x="3679895" y="2305364"/>
              <a:ext cx="94010" cy="47005"/>
              <a:chOff x="6812560" y="3297172"/>
              <a:chExt cx="94010" cy="47005"/>
            </a:xfrm>
          </p:grpSpPr>
          <p:cxnSp>
            <p:nvCxnSpPr>
              <p:cNvPr id="94" name="직선 연결선 93"/>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95" name="직선 연결선 94"/>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97" name="타원 96"/>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98" name="그룹 97"/>
            <p:cNvGrpSpPr/>
            <p:nvPr/>
          </p:nvGrpSpPr>
          <p:grpSpPr>
            <a:xfrm rot="16200000">
              <a:off x="3931564" y="2305364"/>
              <a:ext cx="94010" cy="47005"/>
              <a:chOff x="6812560" y="3297172"/>
              <a:chExt cx="94010" cy="47005"/>
            </a:xfrm>
          </p:grpSpPr>
          <p:cxnSp>
            <p:nvCxnSpPr>
              <p:cNvPr id="99" name="직선 연결선 9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0" name="직선 연결선 9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277" name="타원 276"/>
          <p:cNvSpPr/>
          <p:nvPr/>
        </p:nvSpPr>
        <p:spPr>
          <a:xfrm>
            <a:off x="6596790" y="468520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7" name="그룹 26"/>
          <p:cNvGrpSpPr/>
          <p:nvPr/>
        </p:nvGrpSpPr>
        <p:grpSpPr>
          <a:xfrm>
            <a:off x="6726256" y="4802272"/>
            <a:ext cx="124144" cy="148935"/>
            <a:chOff x="161606" y="5392781"/>
            <a:chExt cx="97885" cy="117432"/>
          </a:xfrm>
        </p:grpSpPr>
        <p:cxnSp>
          <p:nvCxnSpPr>
            <p:cNvPr id="279" name="직선 연결선 278"/>
            <p:cNvCxnSpPr/>
            <p:nvPr/>
          </p:nvCxnSpPr>
          <p:spPr>
            <a:xfrm flipV="1">
              <a:off x="163100"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80" name="직선 연결선 279"/>
            <p:cNvCxnSpPr/>
            <p:nvPr/>
          </p:nvCxnSpPr>
          <p:spPr>
            <a:xfrm flipH="1" flipV="1">
              <a:off x="210105" y="5409099"/>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 name="직선 연결선 24"/>
            <p:cNvCxnSpPr/>
            <p:nvPr/>
          </p:nvCxnSpPr>
          <p:spPr>
            <a:xfrm>
              <a:off x="210549" y="5412328"/>
              <a:ext cx="0" cy="97885"/>
            </a:xfrm>
            <a:prstGeom prst="line">
              <a:avLst/>
            </a:prstGeom>
          </p:spPr>
          <p:style>
            <a:lnRef idx="1">
              <a:schemeClr val="dk1"/>
            </a:lnRef>
            <a:fillRef idx="0">
              <a:schemeClr val="dk1"/>
            </a:fillRef>
            <a:effectRef idx="0">
              <a:schemeClr val="dk1"/>
            </a:effectRef>
            <a:fontRef idx="minor">
              <a:schemeClr val="tx1"/>
            </a:fontRef>
          </p:style>
        </p:cxnSp>
        <p:cxnSp>
          <p:nvCxnSpPr>
            <p:cNvPr id="283" name="직선 연결선 282"/>
            <p:cNvCxnSpPr/>
            <p:nvPr/>
          </p:nvCxnSpPr>
          <p:spPr>
            <a:xfrm rot="16200000">
              <a:off x="210549" y="5343838"/>
              <a:ext cx="0" cy="97885"/>
            </a:xfrm>
            <a:prstGeom prst="line">
              <a:avLst/>
            </a:prstGeom>
          </p:spPr>
          <p:style>
            <a:lnRef idx="1">
              <a:schemeClr val="dk1"/>
            </a:lnRef>
            <a:fillRef idx="0">
              <a:schemeClr val="dk1"/>
            </a:fillRef>
            <a:effectRef idx="0">
              <a:schemeClr val="dk1"/>
            </a:effectRef>
            <a:fontRef idx="minor">
              <a:schemeClr val="tx1"/>
            </a:fontRef>
          </p:style>
        </p:cxnSp>
      </p:grpSp>
      <p:sp>
        <p:nvSpPr>
          <p:cNvPr id="284" name="타원 283"/>
          <p:cNvSpPr/>
          <p:nvPr/>
        </p:nvSpPr>
        <p:spPr>
          <a:xfrm>
            <a:off x="6596790" y="5170451"/>
            <a:ext cx="383077" cy="383077"/>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8" name="그룹 27"/>
          <p:cNvGrpSpPr/>
          <p:nvPr/>
        </p:nvGrpSpPr>
        <p:grpSpPr>
          <a:xfrm>
            <a:off x="6726257" y="5299917"/>
            <a:ext cx="124144" cy="124144"/>
            <a:chOff x="162544" y="5299917"/>
            <a:chExt cx="124144" cy="124144"/>
          </a:xfrm>
        </p:grpSpPr>
        <p:cxnSp>
          <p:nvCxnSpPr>
            <p:cNvPr id="288" name="직선 연결선 287"/>
            <p:cNvCxnSpPr/>
            <p:nvPr/>
          </p:nvCxnSpPr>
          <p:spPr>
            <a:xfrm>
              <a:off x="224616" y="5299917"/>
              <a:ext cx="0" cy="124144"/>
            </a:xfrm>
            <a:prstGeom prst="line">
              <a:avLst/>
            </a:prstGeom>
          </p:spPr>
          <p:style>
            <a:lnRef idx="1">
              <a:schemeClr val="dk1"/>
            </a:lnRef>
            <a:fillRef idx="0">
              <a:schemeClr val="dk1"/>
            </a:fillRef>
            <a:effectRef idx="0">
              <a:schemeClr val="dk1"/>
            </a:effectRef>
            <a:fontRef idx="minor">
              <a:schemeClr val="tx1"/>
            </a:fontRef>
          </p:style>
        </p:cxnSp>
        <p:cxnSp>
          <p:nvCxnSpPr>
            <p:cNvPr id="289" name="직선 연결선 288"/>
            <p:cNvCxnSpPr/>
            <p:nvPr/>
          </p:nvCxnSpPr>
          <p:spPr>
            <a:xfrm rot="16200000">
              <a:off x="224616" y="5299917"/>
              <a:ext cx="0" cy="124144"/>
            </a:xfrm>
            <a:prstGeom prst="line">
              <a:avLst/>
            </a:prstGeom>
          </p:spPr>
          <p:style>
            <a:lnRef idx="1">
              <a:schemeClr val="dk1"/>
            </a:lnRef>
            <a:fillRef idx="0">
              <a:schemeClr val="dk1"/>
            </a:fillRef>
            <a:effectRef idx="0">
              <a:schemeClr val="dk1"/>
            </a:effectRef>
            <a:fontRef idx="minor">
              <a:schemeClr val="tx1"/>
            </a:fontRef>
          </p:style>
        </p:cxnSp>
      </p:grpSp>
      <p:sp>
        <p:nvSpPr>
          <p:cNvPr id="181" name="타원 180">
            <a:extLst>
              <a:ext uri="{FF2B5EF4-FFF2-40B4-BE49-F238E27FC236}">
                <a16:creationId xmlns:a16="http://schemas.microsoft.com/office/drawing/2014/main" id="{37A7FF4F-0EAA-1463-560A-D5EC24416103}"/>
              </a:ext>
            </a:extLst>
          </p:cNvPr>
          <p:cNvSpPr/>
          <p:nvPr/>
        </p:nvSpPr>
        <p:spPr>
          <a:xfrm>
            <a:off x="571127" y="3228610"/>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2</a:t>
            </a:r>
            <a:endParaRPr lang="ko-KR" altLang="en-US" sz="900" b="1" dirty="0"/>
          </a:p>
        </p:txBody>
      </p:sp>
      <p:sp>
        <p:nvSpPr>
          <p:cNvPr id="182" name="직사각형 181">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3" name="TextBox 58">
            <a:extLst>
              <a:ext uri="{FF2B5EF4-FFF2-40B4-BE49-F238E27FC236}">
                <a16:creationId xmlns:a16="http://schemas.microsoft.com/office/drawing/2014/main" id="{02FC114B-B48B-345F-BD70-2B5A196F5B3E}"/>
              </a:ext>
            </a:extLst>
          </p:cNvPr>
          <p:cNvSpPr txBox="1"/>
          <p:nvPr/>
        </p:nvSpPr>
        <p:spPr>
          <a:xfrm>
            <a:off x="3884993" y="1786672"/>
            <a:ext cx="2473257" cy="246221"/>
          </a:xfrm>
          <a:prstGeom prst="rect">
            <a:avLst/>
          </a:prstGeom>
          <a:noFill/>
        </p:spPr>
        <p:txBody>
          <a:bodyPr wrap="square" lIns="0" tIns="0" rIns="0" bIns="0" rtlCol="0">
            <a:spAutoFit/>
          </a:bodyP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ko-KR" altLang="en-US" sz="700" dirty="0"/>
              <a:t>통합참조번호 </a:t>
            </a:r>
            <a:r>
              <a:rPr lang="en-US" altLang="ko-KR" sz="700" dirty="0">
                <a:latin typeface="맑은 고딕" panose="020B0503020000020004" pitchFamily="50" charset="-127"/>
                <a:cs typeface="Segoe UI" panose="020B0502040204020203" pitchFamily="34" charset="0"/>
              </a:rPr>
              <a:t>BDF01823EFE / </a:t>
            </a:r>
            <a:r>
              <a:rPr lang="ko-KR" altLang="en-US" sz="700" dirty="0" err="1">
                <a:latin typeface="맑은 고딕" panose="020B0503020000020004" pitchFamily="50" charset="-127"/>
                <a:cs typeface="Segoe UI" panose="020B0502040204020203" pitchFamily="34" charset="0"/>
              </a:rPr>
              <a:t>공고번호</a:t>
            </a:r>
            <a:r>
              <a:rPr lang="ko-KR" altLang="en-US" sz="700" dirty="0">
                <a:latin typeface="맑은 고딕" panose="020B0503020000020004" pitchFamily="50" charset="-127"/>
                <a:cs typeface="Segoe UI" panose="020B0502040204020203" pitchFamily="34" charset="0"/>
              </a:rPr>
              <a:t> </a:t>
            </a:r>
            <a:r>
              <a:rPr lang="en-US" altLang="ko-KR" sz="700" dirty="0">
                <a:latin typeface="맑은 고딕" panose="020B0503020000020004" pitchFamily="50" charset="-127"/>
                <a:cs typeface="Segoe UI" panose="020B0502040204020203" pitchFamily="34" charset="0"/>
              </a:rPr>
              <a:t>EFE00012-2</a:t>
            </a:r>
            <a:endParaRPr lang="en-US" altLang="ko-KR" sz="700" dirty="0"/>
          </a:p>
          <a:p>
            <a:r>
              <a:rPr lang="en-US" altLang="ko-KR" sz="900" b="1" dirty="0"/>
              <a:t>500MD</a:t>
            </a:r>
            <a:r>
              <a:rPr lang="ko-KR" altLang="en-US" sz="900" b="1" dirty="0"/>
              <a:t>부품</a:t>
            </a:r>
          </a:p>
        </p:txBody>
      </p:sp>
      <p:cxnSp>
        <p:nvCxnSpPr>
          <p:cNvPr id="186" name="직선 연결선 185">
            <a:extLst>
              <a:ext uri="{FF2B5EF4-FFF2-40B4-BE49-F238E27FC236}">
                <a16:creationId xmlns:a16="http://schemas.microsoft.com/office/drawing/2014/main" id="{E9293055-D5CD-4B9E-7F64-64B2D2CA7A52}"/>
              </a:ext>
            </a:extLst>
          </p:cNvPr>
          <p:cNvCxnSpPr/>
          <p:nvPr/>
        </p:nvCxnSpPr>
        <p:spPr>
          <a:xfrm>
            <a:off x="3795734" y="2111239"/>
            <a:ext cx="2712027"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4" name="직선 연결선 193">
            <a:extLst>
              <a:ext uri="{FF2B5EF4-FFF2-40B4-BE49-F238E27FC236}">
                <a16:creationId xmlns:a16="http://schemas.microsoft.com/office/drawing/2014/main" id="{E9293055-D5CD-4B9E-7F64-64B2D2CA7A52}"/>
              </a:ext>
            </a:extLst>
          </p:cNvPr>
          <p:cNvCxnSpPr/>
          <p:nvPr/>
        </p:nvCxnSpPr>
        <p:spPr>
          <a:xfrm>
            <a:off x="3824022" y="246721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95" name="TextBox 194">
            <a:extLst>
              <a:ext uri="{FF2B5EF4-FFF2-40B4-BE49-F238E27FC236}">
                <a16:creationId xmlns:a16="http://schemas.microsoft.com/office/drawing/2014/main" id="{FFC49AEA-2A8F-250C-A86A-A7751D9706C3}"/>
              </a:ext>
            </a:extLst>
          </p:cNvPr>
          <p:cNvSpPr txBox="1"/>
          <p:nvPr/>
        </p:nvSpPr>
        <p:spPr>
          <a:xfrm>
            <a:off x="3867701" y="2250612"/>
            <a:ext cx="359782" cy="107722"/>
          </a:xfrm>
          <a:prstGeom prst="rect">
            <a:avLst/>
          </a:prstGeom>
          <a:noFill/>
        </p:spPr>
        <p:txBody>
          <a:bodyPr wrap="square" lIns="0" tIns="0" rIns="0" bIns="0" rtlCol="0">
            <a:spAutoFit/>
          </a:bodyPr>
          <a:lstStyle/>
          <a:p>
            <a:pPr algn="ctr"/>
            <a:r>
              <a:rPr lang="ko-KR" altLang="en-US" sz="700" b="1" dirty="0">
                <a:latin typeface="+mn-ea"/>
              </a:rPr>
              <a:t>일반정보</a:t>
            </a:r>
          </a:p>
        </p:txBody>
      </p:sp>
      <p:sp>
        <p:nvSpPr>
          <p:cNvPr id="196" name="TextBox 195">
            <a:extLst>
              <a:ext uri="{FF2B5EF4-FFF2-40B4-BE49-F238E27FC236}">
                <a16:creationId xmlns:a16="http://schemas.microsoft.com/office/drawing/2014/main" id="{FFC49AEA-2A8F-250C-A86A-A7751D9706C3}"/>
              </a:ext>
            </a:extLst>
          </p:cNvPr>
          <p:cNvSpPr txBox="1"/>
          <p:nvPr/>
        </p:nvSpPr>
        <p:spPr>
          <a:xfrm>
            <a:off x="4386991" y="2250612"/>
            <a:ext cx="447776" cy="107722"/>
          </a:xfrm>
          <a:prstGeom prst="rect">
            <a:avLst/>
          </a:prstGeom>
          <a:noFill/>
        </p:spPr>
        <p:txBody>
          <a:bodyPr wrap="square" lIns="0" tIns="0" rIns="0" bIns="0" rtlCol="0">
            <a:spAutoFit/>
          </a:bodyPr>
          <a:lstStyle/>
          <a:p>
            <a:pPr algn="ctr"/>
            <a:r>
              <a:rPr lang="ko-KR" altLang="en-US" sz="700" dirty="0">
                <a:latin typeface="+mn-ea"/>
              </a:rPr>
              <a:t>조회 결과</a:t>
            </a:r>
          </a:p>
        </p:txBody>
      </p:sp>
      <p:cxnSp>
        <p:nvCxnSpPr>
          <p:cNvPr id="199" name="직선 연결선 198">
            <a:extLst>
              <a:ext uri="{FF2B5EF4-FFF2-40B4-BE49-F238E27FC236}">
                <a16:creationId xmlns:a16="http://schemas.microsoft.com/office/drawing/2014/main" id="{E9293055-D5CD-4B9E-7F64-64B2D2CA7A52}"/>
              </a:ext>
            </a:extLst>
          </p:cNvPr>
          <p:cNvCxnSpPr/>
          <p:nvPr/>
        </p:nvCxnSpPr>
        <p:spPr>
          <a:xfrm>
            <a:off x="3824022" y="2467219"/>
            <a:ext cx="435210" cy="0"/>
          </a:xfrm>
          <a:prstGeom prst="line">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cxnSp>
      <p:grpSp>
        <p:nvGrpSpPr>
          <p:cNvPr id="231" name="그룹 230"/>
          <p:cNvGrpSpPr/>
          <p:nvPr/>
        </p:nvGrpSpPr>
        <p:grpSpPr>
          <a:xfrm>
            <a:off x="6027618" y="2212489"/>
            <a:ext cx="422853" cy="187961"/>
            <a:chOff x="3641308" y="2234886"/>
            <a:chExt cx="422853" cy="187961"/>
          </a:xfrm>
        </p:grpSpPr>
        <p:sp>
          <p:nvSpPr>
            <p:cNvPr id="232" name="타원 231"/>
            <p:cNvSpPr/>
            <p:nvPr/>
          </p:nvSpPr>
          <p:spPr>
            <a:xfrm flipH="1">
              <a:off x="3641308"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33" name="그룹 232"/>
            <p:cNvGrpSpPr/>
            <p:nvPr/>
          </p:nvGrpSpPr>
          <p:grpSpPr>
            <a:xfrm rot="5400000" flipH="1">
              <a:off x="3679895" y="2305364"/>
              <a:ext cx="94010" cy="47005"/>
              <a:chOff x="6812560" y="3297172"/>
              <a:chExt cx="94010" cy="47005"/>
            </a:xfrm>
          </p:grpSpPr>
          <p:cxnSp>
            <p:nvCxnSpPr>
              <p:cNvPr id="249" name="직선 연결선 24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50" name="직선 연결선 24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34" name="타원 233"/>
            <p:cNvSpPr/>
            <p:nvPr/>
          </p:nvSpPr>
          <p:spPr>
            <a:xfrm>
              <a:off x="3876200" y="2234886"/>
              <a:ext cx="187961" cy="187961"/>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46" name="그룹 245"/>
            <p:cNvGrpSpPr/>
            <p:nvPr/>
          </p:nvGrpSpPr>
          <p:grpSpPr>
            <a:xfrm rot="16200000">
              <a:off x="3931564" y="2305364"/>
              <a:ext cx="94010" cy="47005"/>
              <a:chOff x="6812560" y="3297172"/>
              <a:chExt cx="94010" cy="47005"/>
            </a:xfrm>
          </p:grpSpPr>
          <p:cxnSp>
            <p:nvCxnSpPr>
              <p:cNvPr id="247" name="직선 연결선 246"/>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48" name="직선 연결선 247"/>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grpSp>
      <p:sp>
        <p:nvSpPr>
          <p:cNvPr id="332" name="타원 331">
            <a:extLst>
              <a:ext uri="{FF2B5EF4-FFF2-40B4-BE49-F238E27FC236}">
                <a16:creationId xmlns:a16="http://schemas.microsoft.com/office/drawing/2014/main" id="{37A7FF4F-0EAA-1463-560A-D5EC24416103}"/>
              </a:ext>
            </a:extLst>
          </p:cNvPr>
          <p:cNvSpPr/>
          <p:nvPr/>
        </p:nvSpPr>
        <p:spPr>
          <a:xfrm>
            <a:off x="3717693" y="2607185"/>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3</a:t>
            </a:r>
            <a:endParaRPr lang="ko-KR" altLang="en-US" sz="900" b="1" dirty="0"/>
          </a:p>
        </p:txBody>
      </p:sp>
      <p:sp>
        <p:nvSpPr>
          <p:cNvPr id="337" name="TextBox 336">
            <a:extLst>
              <a:ext uri="{FF2B5EF4-FFF2-40B4-BE49-F238E27FC236}">
                <a16:creationId xmlns:a16="http://schemas.microsoft.com/office/drawing/2014/main" id="{75DF28B5-84C4-84C3-4D62-98FEE71BEAA5}"/>
              </a:ext>
            </a:extLst>
          </p:cNvPr>
          <p:cNvSpPr txBox="1"/>
          <p:nvPr/>
        </p:nvSpPr>
        <p:spPr>
          <a:xfrm>
            <a:off x="8786413"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다음에 계속</a:t>
            </a:r>
          </a:p>
        </p:txBody>
      </p:sp>
      <p:sp>
        <p:nvSpPr>
          <p:cNvPr id="149" name="모서리가 둥근 직사각형 148"/>
          <p:cNvSpPr/>
          <p:nvPr/>
        </p:nvSpPr>
        <p:spPr>
          <a:xfrm>
            <a:off x="1501250" y="1974079"/>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150" name="모서리가 둥근 직사각형 149"/>
          <p:cNvSpPr/>
          <p:nvPr/>
        </p:nvSpPr>
        <p:spPr>
          <a:xfrm>
            <a:off x="1057559" y="1974079"/>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수의계약</a:t>
            </a:r>
          </a:p>
        </p:txBody>
      </p:sp>
      <p:sp>
        <p:nvSpPr>
          <p:cNvPr id="151" name="모서리가 둥근 직사각형 150"/>
          <p:cNvSpPr/>
          <p:nvPr/>
        </p:nvSpPr>
        <p:spPr>
          <a:xfrm>
            <a:off x="777000" y="1974079"/>
            <a:ext cx="24217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sp>
        <p:nvSpPr>
          <p:cNvPr id="155" name="모서리가 둥근 직사각형 154"/>
          <p:cNvSpPr/>
          <p:nvPr/>
        </p:nvSpPr>
        <p:spPr>
          <a:xfrm>
            <a:off x="4595114" y="1600627"/>
            <a:ext cx="317650"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a:t>단가제</a:t>
            </a:r>
            <a:endParaRPr lang="ko-KR" altLang="en-US" sz="600" dirty="0">
              <a:solidFill>
                <a:schemeClr val="dk1"/>
              </a:solidFill>
            </a:endParaRPr>
          </a:p>
        </p:txBody>
      </p:sp>
      <p:sp>
        <p:nvSpPr>
          <p:cNvPr id="156" name="모서리가 둥근 직사각형 155"/>
          <p:cNvSpPr/>
          <p:nvPr/>
        </p:nvSpPr>
        <p:spPr>
          <a:xfrm>
            <a:off x="4151423" y="1600627"/>
            <a:ext cx="396419"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수의계약</a:t>
            </a:r>
          </a:p>
        </p:txBody>
      </p:sp>
      <p:sp>
        <p:nvSpPr>
          <p:cNvPr id="157" name="모서리가 둥근 직사각형 156"/>
          <p:cNvSpPr/>
          <p:nvPr/>
        </p:nvSpPr>
        <p:spPr>
          <a:xfrm>
            <a:off x="3864811" y="1600627"/>
            <a:ext cx="242845" cy="119400"/>
          </a:xfrm>
          <a:prstGeom prst="roundRect">
            <a:avLst>
              <a:gd name="adj" fmla="val 23409"/>
            </a:avLst>
          </a:prstGeom>
        </p:spPr>
        <p:style>
          <a:lnRef idx="2">
            <a:schemeClr val="dk1"/>
          </a:lnRef>
          <a:fillRef idx="1">
            <a:schemeClr val="lt1"/>
          </a:fillRef>
          <a:effectRef idx="0">
            <a:schemeClr val="dk1"/>
          </a:effectRef>
          <a:fontRef idx="minor">
            <a:schemeClr val="dk1"/>
          </a:fontRef>
        </p:style>
        <p:txBody>
          <a:bodyPr lIns="36000" rIns="36000" rtlCol="0" anchor="ctr"/>
          <a:lstStyle/>
          <a:p>
            <a:pPr algn="ctr"/>
            <a:r>
              <a:rPr lang="ko-KR" altLang="en-US" sz="600" dirty="0"/>
              <a:t>국외</a:t>
            </a:r>
          </a:p>
        </p:txBody>
      </p:sp>
      <p:grpSp>
        <p:nvGrpSpPr>
          <p:cNvPr id="6" name="그룹 5"/>
          <p:cNvGrpSpPr/>
          <p:nvPr/>
        </p:nvGrpSpPr>
        <p:grpSpPr>
          <a:xfrm>
            <a:off x="720490" y="3583752"/>
            <a:ext cx="2660475" cy="2461921"/>
            <a:chOff x="720490" y="3803374"/>
            <a:chExt cx="2660475" cy="2461921"/>
          </a:xfrm>
        </p:grpSpPr>
        <p:sp>
          <p:nvSpPr>
            <p:cNvPr id="106" name="TextBox 105">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07" name="그룹 106"/>
            <p:cNvGrpSpPr/>
            <p:nvPr/>
          </p:nvGrpSpPr>
          <p:grpSpPr>
            <a:xfrm flipV="1">
              <a:off x="3143548" y="3916705"/>
              <a:ext cx="94010" cy="47005"/>
              <a:chOff x="6812560" y="3297172"/>
              <a:chExt cx="94010" cy="47005"/>
            </a:xfrm>
          </p:grpSpPr>
          <p:cxnSp>
            <p:nvCxnSpPr>
              <p:cNvPr id="108" name="직선 연결선 10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09" name="직선 연결선 10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 name="직사각형 15"/>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05" name="직선 연결선 104">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13" name="TextBox 112">
              <a:extLst>
                <a:ext uri="{FF2B5EF4-FFF2-40B4-BE49-F238E27FC236}">
                  <a16:creationId xmlns:a16="http://schemas.microsoft.com/office/drawing/2014/main" id="{FFC49AEA-2A8F-250C-A86A-A7751D9706C3}"/>
                </a:ext>
              </a:extLst>
            </p:cNvPr>
            <p:cNvSpPr txBox="1"/>
            <p:nvPr/>
          </p:nvSpPr>
          <p:spPr>
            <a:xfrm>
              <a:off x="809647" y="4110859"/>
              <a:ext cx="764551" cy="2154436"/>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ko-KR" altLang="en-US" sz="700" dirty="0">
                <a:latin typeface="+mn-ea"/>
              </a:endParaRPr>
            </a:p>
            <a:p>
              <a:pPr>
                <a:lnSpc>
                  <a:spcPct val="200000"/>
                </a:lnSpc>
              </a:pPr>
              <a:r>
                <a:rPr lang="en-US" altLang="ko-KR" sz="700" dirty="0">
                  <a:latin typeface="+mn-ea"/>
                </a:rPr>
                <a:t>⁞</a:t>
              </a:r>
            </a:p>
          </p:txBody>
        </p:sp>
        <p:sp>
          <p:nvSpPr>
            <p:cNvPr id="114" name="TextBox 113">
              <a:extLst>
                <a:ext uri="{FF2B5EF4-FFF2-40B4-BE49-F238E27FC236}">
                  <a16:creationId xmlns:a16="http://schemas.microsoft.com/office/drawing/2014/main" id="{FFC49AEA-2A8F-250C-A86A-A7751D9706C3}"/>
                </a:ext>
              </a:extLst>
            </p:cNvPr>
            <p:cNvSpPr txBox="1"/>
            <p:nvPr/>
          </p:nvSpPr>
          <p:spPr>
            <a:xfrm>
              <a:off x="1566495" y="4110859"/>
              <a:ext cx="1814470" cy="2154436"/>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a:t>
              </a:r>
            </a:p>
          </p:txBody>
        </p:sp>
        <p:cxnSp>
          <p:nvCxnSpPr>
            <p:cNvPr id="115" name="직선 연결선 114">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6" name="직선 연결선 115">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7" name="직선 연결선 116">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8" name="직선 연결선 11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19" name="직선 연결선 118">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0" name="직선 연결선 119">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3" name="직선 연결선 122">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0" name="직선 연결선 159">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1" name="직선 연결선 160">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63" name="그룹 162"/>
          <p:cNvGrpSpPr/>
          <p:nvPr/>
        </p:nvGrpSpPr>
        <p:grpSpPr>
          <a:xfrm>
            <a:off x="3821510" y="2565526"/>
            <a:ext cx="2660475" cy="2430887"/>
            <a:chOff x="720490" y="3803374"/>
            <a:chExt cx="2660475" cy="2430887"/>
          </a:xfrm>
        </p:grpSpPr>
        <p:sp>
          <p:nvSpPr>
            <p:cNvPr id="164" name="TextBox 163">
              <a:extLst>
                <a:ext uri="{FF2B5EF4-FFF2-40B4-BE49-F238E27FC236}">
                  <a16:creationId xmlns:a16="http://schemas.microsoft.com/office/drawing/2014/main" id="{FFC49AEA-2A8F-250C-A86A-A7751D9706C3}"/>
                </a:ext>
              </a:extLst>
            </p:cNvPr>
            <p:cNvSpPr txBox="1"/>
            <p:nvPr/>
          </p:nvSpPr>
          <p:spPr>
            <a:xfrm>
              <a:off x="781461" y="3803374"/>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65" name="그룹 164"/>
            <p:cNvGrpSpPr/>
            <p:nvPr/>
          </p:nvGrpSpPr>
          <p:grpSpPr>
            <a:xfrm flipV="1">
              <a:off x="3143548" y="3916705"/>
              <a:ext cx="94010" cy="47005"/>
              <a:chOff x="6812560" y="3297172"/>
              <a:chExt cx="94010" cy="47005"/>
            </a:xfrm>
          </p:grpSpPr>
          <p:cxnSp>
            <p:nvCxnSpPr>
              <p:cNvPr id="206" name="직선 연결선 205"/>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07" name="직선 연결선 206"/>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78" name="직사각형 177"/>
            <p:cNvSpPr/>
            <p:nvPr/>
          </p:nvSpPr>
          <p:spPr>
            <a:xfrm>
              <a:off x="722583" y="4110859"/>
              <a:ext cx="792000" cy="212144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79" name="직선 연결선 178">
              <a:extLst>
                <a:ext uri="{FF2B5EF4-FFF2-40B4-BE49-F238E27FC236}">
                  <a16:creationId xmlns:a16="http://schemas.microsoft.com/office/drawing/2014/main" id="{E9293055-D5CD-4B9E-7F64-64B2D2CA7A52}"/>
                </a:ext>
              </a:extLst>
            </p:cNvPr>
            <p:cNvCxnSpPr/>
            <p:nvPr/>
          </p:nvCxnSpPr>
          <p:spPr>
            <a:xfrm>
              <a:off x="720490" y="4110859"/>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180" name="TextBox 179">
              <a:extLst>
                <a:ext uri="{FF2B5EF4-FFF2-40B4-BE49-F238E27FC236}">
                  <a16:creationId xmlns:a16="http://schemas.microsoft.com/office/drawing/2014/main" id="{FFC49AEA-2A8F-250C-A86A-A7751D9706C3}"/>
                </a:ext>
              </a:extLst>
            </p:cNvPr>
            <p:cNvSpPr txBox="1"/>
            <p:nvPr/>
          </p:nvSpPr>
          <p:spPr>
            <a:xfrm>
              <a:off x="809647" y="4110859"/>
              <a:ext cx="764551" cy="2123402"/>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en-US" altLang="ko-KR" sz="700" dirty="0">
                <a:latin typeface="+mn-ea"/>
              </a:endParaRPr>
            </a:p>
            <a:p>
              <a:pPr>
                <a:lnSpc>
                  <a:spcPct val="200000"/>
                </a:lnSpc>
              </a:pPr>
              <a:r>
                <a:rPr lang="ko-KR" altLang="en-US" sz="700" dirty="0" err="1">
                  <a:latin typeface="+mn-ea"/>
                </a:rPr>
                <a:t>공고품목수</a:t>
              </a:r>
              <a:endParaRPr lang="ko-KR" altLang="en-US" sz="700" dirty="0">
                <a:latin typeface="+mn-ea"/>
              </a:endParaRPr>
            </a:p>
            <a:p>
              <a:pPr>
                <a:lnSpc>
                  <a:spcPct val="200000"/>
                </a:lnSpc>
              </a:pPr>
              <a:r>
                <a:rPr lang="en-US" altLang="ko-KR" sz="700" dirty="0">
                  <a:latin typeface="+mn-ea"/>
                </a:rPr>
                <a:t>⁞</a:t>
              </a:r>
            </a:p>
          </p:txBody>
        </p:sp>
        <p:sp>
          <p:nvSpPr>
            <p:cNvPr id="188" name="TextBox 187">
              <a:extLst>
                <a:ext uri="{FF2B5EF4-FFF2-40B4-BE49-F238E27FC236}">
                  <a16:creationId xmlns:a16="http://schemas.microsoft.com/office/drawing/2014/main" id="{FFC49AEA-2A8F-250C-A86A-A7751D9706C3}"/>
                </a:ext>
              </a:extLst>
            </p:cNvPr>
            <p:cNvSpPr txBox="1"/>
            <p:nvPr/>
          </p:nvSpPr>
          <p:spPr>
            <a:xfrm>
              <a:off x="1566495" y="4110859"/>
              <a:ext cx="1814470" cy="2123402"/>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lang="en-US" altLang="ko-KR" sz="700" dirty="0">
                  <a:latin typeface="+mn-ea"/>
                </a:rPr>
                <a:t>⁞</a:t>
              </a:r>
            </a:p>
          </p:txBody>
        </p:sp>
        <p:cxnSp>
          <p:nvCxnSpPr>
            <p:cNvPr id="191" name="직선 연결선 190">
              <a:extLst>
                <a:ext uri="{FF2B5EF4-FFF2-40B4-BE49-F238E27FC236}">
                  <a16:creationId xmlns:a16="http://schemas.microsoft.com/office/drawing/2014/main" id="{E9293055-D5CD-4B9E-7F64-64B2D2CA7A52}"/>
                </a:ext>
              </a:extLst>
            </p:cNvPr>
            <p:cNvCxnSpPr/>
            <p:nvPr/>
          </p:nvCxnSpPr>
          <p:spPr>
            <a:xfrm>
              <a:off x="722583" y="43419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2" name="직선 연결선 191">
              <a:extLst>
                <a:ext uri="{FF2B5EF4-FFF2-40B4-BE49-F238E27FC236}">
                  <a16:creationId xmlns:a16="http://schemas.microsoft.com/office/drawing/2014/main" id="{E9293055-D5CD-4B9E-7F64-64B2D2CA7A52}"/>
                </a:ext>
              </a:extLst>
            </p:cNvPr>
            <p:cNvCxnSpPr/>
            <p:nvPr/>
          </p:nvCxnSpPr>
          <p:spPr>
            <a:xfrm>
              <a:off x="722583" y="455567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3" name="직선 연결선 192">
              <a:extLst>
                <a:ext uri="{FF2B5EF4-FFF2-40B4-BE49-F238E27FC236}">
                  <a16:creationId xmlns:a16="http://schemas.microsoft.com/office/drawing/2014/main" id="{E9293055-D5CD-4B9E-7F64-64B2D2CA7A52}"/>
                </a:ext>
              </a:extLst>
            </p:cNvPr>
            <p:cNvCxnSpPr/>
            <p:nvPr/>
          </p:nvCxnSpPr>
          <p:spPr>
            <a:xfrm>
              <a:off x="722583" y="476937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8" name="직선 연결선 197">
              <a:extLst>
                <a:ext uri="{FF2B5EF4-FFF2-40B4-BE49-F238E27FC236}">
                  <a16:creationId xmlns:a16="http://schemas.microsoft.com/office/drawing/2014/main" id="{E9293055-D5CD-4B9E-7F64-64B2D2CA7A52}"/>
                </a:ext>
              </a:extLst>
            </p:cNvPr>
            <p:cNvCxnSpPr/>
            <p:nvPr/>
          </p:nvCxnSpPr>
          <p:spPr>
            <a:xfrm>
              <a:off x="722583" y="498308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0" name="직선 연결선 199">
              <a:extLst>
                <a:ext uri="{FF2B5EF4-FFF2-40B4-BE49-F238E27FC236}">
                  <a16:creationId xmlns:a16="http://schemas.microsoft.com/office/drawing/2014/main" id="{E9293055-D5CD-4B9E-7F64-64B2D2CA7A52}"/>
                </a:ext>
              </a:extLst>
            </p:cNvPr>
            <p:cNvCxnSpPr/>
            <p:nvPr/>
          </p:nvCxnSpPr>
          <p:spPr>
            <a:xfrm>
              <a:off x="722583" y="519679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1" name="직선 연결선 200">
              <a:extLst>
                <a:ext uri="{FF2B5EF4-FFF2-40B4-BE49-F238E27FC236}">
                  <a16:creationId xmlns:a16="http://schemas.microsoft.com/office/drawing/2014/main" id="{E9293055-D5CD-4B9E-7F64-64B2D2CA7A52}"/>
                </a:ext>
              </a:extLst>
            </p:cNvPr>
            <p:cNvCxnSpPr/>
            <p:nvPr/>
          </p:nvCxnSpPr>
          <p:spPr>
            <a:xfrm>
              <a:off x="722583" y="5410499"/>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2" name="직선 연결선 201">
              <a:extLst>
                <a:ext uri="{FF2B5EF4-FFF2-40B4-BE49-F238E27FC236}">
                  <a16:creationId xmlns:a16="http://schemas.microsoft.com/office/drawing/2014/main" id="{E9293055-D5CD-4B9E-7F64-64B2D2CA7A52}"/>
                </a:ext>
              </a:extLst>
            </p:cNvPr>
            <p:cNvCxnSpPr/>
            <p:nvPr/>
          </p:nvCxnSpPr>
          <p:spPr>
            <a:xfrm>
              <a:off x="722583" y="562420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4" name="직선 연결선 203">
              <a:extLst>
                <a:ext uri="{FF2B5EF4-FFF2-40B4-BE49-F238E27FC236}">
                  <a16:creationId xmlns:a16="http://schemas.microsoft.com/office/drawing/2014/main" id="{E9293055-D5CD-4B9E-7F64-64B2D2CA7A52}"/>
                </a:ext>
              </a:extLst>
            </p:cNvPr>
            <p:cNvCxnSpPr/>
            <p:nvPr/>
          </p:nvCxnSpPr>
          <p:spPr>
            <a:xfrm>
              <a:off x="722583" y="583555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직선 연결선 204">
              <a:extLst>
                <a:ext uri="{FF2B5EF4-FFF2-40B4-BE49-F238E27FC236}">
                  <a16:creationId xmlns:a16="http://schemas.microsoft.com/office/drawing/2014/main" id="{E9293055-D5CD-4B9E-7F64-64B2D2CA7A52}"/>
                </a:ext>
              </a:extLst>
            </p:cNvPr>
            <p:cNvCxnSpPr/>
            <p:nvPr/>
          </p:nvCxnSpPr>
          <p:spPr>
            <a:xfrm>
              <a:off x="722583" y="6049264"/>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208" name="그룹 207"/>
          <p:cNvGrpSpPr/>
          <p:nvPr/>
        </p:nvGrpSpPr>
        <p:grpSpPr>
          <a:xfrm>
            <a:off x="3795735" y="5177575"/>
            <a:ext cx="2712026" cy="944800"/>
            <a:chOff x="3795735" y="4570486"/>
            <a:chExt cx="2712026" cy="944800"/>
          </a:xfrm>
        </p:grpSpPr>
        <p:sp>
          <p:nvSpPr>
            <p:cNvPr id="209" name="TextBox 208">
              <a:extLst>
                <a:ext uri="{FF2B5EF4-FFF2-40B4-BE49-F238E27FC236}">
                  <a16:creationId xmlns:a16="http://schemas.microsoft.com/office/drawing/2014/main" id="{FFC49AEA-2A8F-250C-A86A-A7751D9706C3}"/>
                </a:ext>
              </a:extLst>
            </p:cNvPr>
            <p:cNvSpPr txBox="1"/>
            <p:nvPr/>
          </p:nvSpPr>
          <p:spPr>
            <a:xfrm>
              <a:off x="3878080" y="4615832"/>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210" name="그룹 209"/>
            <p:cNvGrpSpPr/>
            <p:nvPr/>
          </p:nvGrpSpPr>
          <p:grpSpPr>
            <a:xfrm flipV="1">
              <a:off x="6240167" y="4729163"/>
              <a:ext cx="94010" cy="47005"/>
              <a:chOff x="6812560" y="3297172"/>
              <a:chExt cx="94010" cy="47005"/>
            </a:xfrm>
          </p:grpSpPr>
          <p:cxnSp>
            <p:nvCxnSpPr>
              <p:cNvPr id="219" name="직선 연결선 218"/>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220" name="직선 연결선 219"/>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211" name="TextBox 210">
              <a:extLst>
                <a:ext uri="{FF2B5EF4-FFF2-40B4-BE49-F238E27FC236}">
                  <a16:creationId xmlns:a16="http://schemas.microsoft.com/office/drawing/2014/main" id="{FFC49AEA-2A8F-250C-A86A-A7751D9706C3}"/>
                </a:ext>
              </a:extLst>
            </p:cNvPr>
            <p:cNvSpPr txBox="1"/>
            <p:nvPr/>
          </p:nvSpPr>
          <p:spPr>
            <a:xfrm>
              <a:off x="396388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212" name="TextBox 211">
              <a:extLst>
                <a:ext uri="{FF2B5EF4-FFF2-40B4-BE49-F238E27FC236}">
                  <a16:creationId xmlns:a16="http://schemas.microsoft.com/office/drawing/2014/main" id="{FFC49AEA-2A8F-250C-A86A-A7751D9706C3}"/>
                </a:ext>
              </a:extLst>
            </p:cNvPr>
            <p:cNvSpPr txBox="1"/>
            <p:nvPr/>
          </p:nvSpPr>
          <p:spPr>
            <a:xfrm>
              <a:off x="4756893"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213" name="TextBox 212">
              <a:extLst>
                <a:ext uri="{FF2B5EF4-FFF2-40B4-BE49-F238E27FC236}">
                  <a16:creationId xmlns:a16="http://schemas.microsoft.com/office/drawing/2014/main" id="{FFC49AEA-2A8F-250C-A86A-A7751D9706C3}"/>
                </a:ext>
              </a:extLst>
            </p:cNvPr>
            <p:cNvSpPr txBox="1"/>
            <p:nvPr/>
          </p:nvSpPr>
          <p:spPr>
            <a:xfrm>
              <a:off x="5669455" y="4928056"/>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214" name="직선 연결선 213">
              <a:extLst>
                <a:ext uri="{FF2B5EF4-FFF2-40B4-BE49-F238E27FC236}">
                  <a16:creationId xmlns:a16="http://schemas.microsoft.com/office/drawing/2014/main" id="{E9293055-D5CD-4B9E-7F64-64B2D2CA7A52}"/>
                </a:ext>
              </a:extLst>
            </p:cNvPr>
            <p:cNvCxnSpPr/>
            <p:nvPr/>
          </p:nvCxnSpPr>
          <p:spPr>
            <a:xfrm>
              <a:off x="3795735" y="55152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15" name="모서리가 둥근 직사각형 214"/>
            <p:cNvSpPr/>
            <p:nvPr/>
          </p:nvSpPr>
          <p:spPr>
            <a:xfrm>
              <a:off x="3831550" y="5088148"/>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6" name="TextBox 215">
              <a:extLst>
                <a:ext uri="{FF2B5EF4-FFF2-40B4-BE49-F238E27FC236}">
                  <a16:creationId xmlns:a16="http://schemas.microsoft.com/office/drawing/2014/main" id="{FFC49AEA-2A8F-250C-A86A-A7751D9706C3}"/>
                </a:ext>
              </a:extLst>
            </p:cNvPr>
            <p:cNvSpPr txBox="1"/>
            <p:nvPr/>
          </p:nvSpPr>
          <p:spPr>
            <a:xfrm>
              <a:off x="3963885" y="5206692"/>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217" name="TextBox 216">
              <a:extLst>
                <a:ext uri="{FF2B5EF4-FFF2-40B4-BE49-F238E27FC236}">
                  <a16:creationId xmlns:a16="http://schemas.microsoft.com/office/drawing/2014/main" id="{FFC49AEA-2A8F-250C-A86A-A7751D9706C3}"/>
                </a:ext>
              </a:extLst>
            </p:cNvPr>
            <p:cNvSpPr txBox="1"/>
            <p:nvPr/>
          </p:nvSpPr>
          <p:spPr>
            <a:xfrm>
              <a:off x="4756893" y="5206692"/>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218" name="TextBox 217">
              <a:extLst>
                <a:ext uri="{FF2B5EF4-FFF2-40B4-BE49-F238E27FC236}">
                  <a16:creationId xmlns:a16="http://schemas.microsoft.com/office/drawing/2014/main" id="{FFC49AEA-2A8F-250C-A86A-A7751D9706C3}"/>
                </a:ext>
              </a:extLst>
            </p:cNvPr>
            <p:cNvSpPr txBox="1"/>
            <p:nvPr/>
          </p:nvSpPr>
          <p:spPr>
            <a:xfrm>
              <a:off x="5669455" y="5152831"/>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cxnSp>
          <p:nvCxnSpPr>
            <p:cNvPr id="221" name="직선 연결선 220">
              <a:extLst>
                <a:ext uri="{FF2B5EF4-FFF2-40B4-BE49-F238E27FC236}">
                  <a16:creationId xmlns:a16="http://schemas.microsoft.com/office/drawing/2014/main" id="{E9293055-D5CD-4B9E-7F64-64B2D2CA7A52}"/>
                </a:ext>
              </a:extLst>
            </p:cNvPr>
            <p:cNvCxnSpPr/>
            <p:nvPr/>
          </p:nvCxnSpPr>
          <p:spPr>
            <a:xfrm>
              <a:off x="3795735" y="4570486"/>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3023384597"/>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일반 데이터 영역</a:t>
            </a:r>
            <a:endParaRPr lang="en-US" altLang="ko-KR" dirty="0"/>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441</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공개수의협상결과조회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a:t>
            </a:r>
            <a:r>
              <a:rPr lang="ko-KR" altLang="en-US" dirty="0" err="1">
                <a:solidFill>
                  <a:srgbClr val="000000"/>
                </a:solidFill>
                <a:latin typeface="휴먼명조"/>
              </a:rPr>
              <a:t>수의협상</a:t>
            </a:r>
            <a:r>
              <a:rPr lang="ko-KR" altLang="en-US" dirty="0">
                <a:solidFill>
                  <a:srgbClr val="000000"/>
                </a:solidFill>
                <a:latin typeface="휴먼명조"/>
              </a:rPr>
              <a:t> 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MUI-BD-12-M83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9" name="직사각형 138">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2" name="그룹 21"/>
          <p:cNvGrpSpPr/>
          <p:nvPr/>
        </p:nvGrpSpPr>
        <p:grpSpPr>
          <a:xfrm>
            <a:off x="701175" y="1527996"/>
            <a:ext cx="2630093" cy="2892809"/>
            <a:chOff x="701175" y="1527996"/>
            <a:chExt cx="2630093" cy="2892809"/>
          </a:xfrm>
        </p:grpSpPr>
        <p:sp>
          <p:nvSpPr>
            <p:cNvPr id="156" name="TextBox 155">
              <a:extLst>
                <a:ext uri="{FF2B5EF4-FFF2-40B4-BE49-F238E27FC236}">
                  <a16:creationId xmlns:a16="http://schemas.microsoft.com/office/drawing/2014/main" id="{FFC49AEA-2A8F-250C-A86A-A7751D9706C3}"/>
                </a:ext>
              </a:extLst>
            </p:cNvPr>
            <p:cNvSpPr txBox="1"/>
            <p:nvPr/>
          </p:nvSpPr>
          <p:spPr>
            <a:xfrm>
              <a:off x="762146" y="1527996"/>
              <a:ext cx="452259" cy="181140"/>
            </a:xfrm>
            <a:prstGeom prst="rect">
              <a:avLst/>
            </a:prstGeom>
            <a:noFill/>
          </p:spPr>
          <p:txBody>
            <a:bodyPr wrap="square" lIns="0" tIns="0" rIns="0" bIns="0" rtlCol="0">
              <a:spAutoFit/>
            </a:bodyPr>
            <a:lstStyle/>
            <a:p>
              <a:pPr>
                <a:lnSpc>
                  <a:spcPct val="200000"/>
                </a:lnSpc>
              </a:pPr>
              <a:r>
                <a:rPr lang="ko-KR" altLang="en-US" sz="700" dirty="0">
                  <a:latin typeface="+mn-ea"/>
                </a:rPr>
                <a:t>일반정보</a:t>
              </a:r>
            </a:p>
          </p:txBody>
        </p:sp>
        <p:grpSp>
          <p:nvGrpSpPr>
            <p:cNvPr id="157" name="그룹 156"/>
            <p:cNvGrpSpPr/>
            <p:nvPr/>
          </p:nvGrpSpPr>
          <p:grpSpPr>
            <a:xfrm flipV="1">
              <a:off x="3124233" y="1641327"/>
              <a:ext cx="94010" cy="47005"/>
              <a:chOff x="6812560" y="3297172"/>
              <a:chExt cx="94010" cy="47005"/>
            </a:xfrm>
          </p:grpSpPr>
          <p:cxnSp>
            <p:nvCxnSpPr>
              <p:cNvPr id="158" name="직선 연결선 157"/>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159" name="직선 연결선 158"/>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160" name="직사각형 159"/>
            <p:cNvSpPr/>
            <p:nvPr/>
          </p:nvSpPr>
          <p:spPr>
            <a:xfrm>
              <a:off x="703268" y="1835483"/>
              <a:ext cx="792000" cy="258532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2" name="TextBox 161">
              <a:extLst>
                <a:ext uri="{FF2B5EF4-FFF2-40B4-BE49-F238E27FC236}">
                  <a16:creationId xmlns:a16="http://schemas.microsoft.com/office/drawing/2014/main" id="{FFC49AEA-2A8F-250C-A86A-A7751D9706C3}"/>
                </a:ext>
              </a:extLst>
            </p:cNvPr>
            <p:cNvSpPr txBox="1"/>
            <p:nvPr/>
          </p:nvSpPr>
          <p:spPr>
            <a:xfrm>
              <a:off x="790330" y="1835481"/>
              <a:ext cx="728979" cy="2585323"/>
            </a:xfrm>
            <a:prstGeom prst="rect">
              <a:avLst/>
            </a:prstGeom>
            <a:noFill/>
          </p:spPr>
          <p:txBody>
            <a:bodyPr wrap="square" lIns="0" tIns="0" rIns="0" bIns="0" rtlCol="0">
              <a:spAutoFit/>
            </a:bodyPr>
            <a:lstStyle/>
            <a:p>
              <a:pPr>
                <a:lnSpc>
                  <a:spcPct val="200000"/>
                </a:lnSpc>
              </a:pPr>
              <a:r>
                <a:rPr lang="ko-KR" altLang="en-US" sz="700" dirty="0" err="1">
                  <a:latin typeface="+mn-ea"/>
                </a:rPr>
                <a:t>공고번호</a:t>
              </a:r>
              <a:endParaRPr lang="ko-KR" altLang="en-US" sz="700" dirty="0">
                <a:latin typeface="+mn-ea"/>
              </a:endParaRPr>
            </a:p>
            <a:p>
              <a:pPr>
                <a:lnSpc>
                  <a:spcPct val="200000"/>
                </a:lnSpc>
              </a:pPr>
              <a:r>
                <a:rPr lang="ko-KR" altLang="en-US" sz="700" dirty="0" err="1">
                  <a:latin typeface="+mn-ea"/>
                </a:rPr>
                <a:t>공고구분</a:t>
              </a:r>
              <a:endParaRPr lang="ko-KR" altLang="en-US" sz="700" dirty="0">
                <a:latin typeface="+mn-ea"/>
              </a:endParaRPr>
            </a:p>
            <a:p>
              <a:pPr>
                <a:lnSpc>
                  <a:spcPct val="200000"/>
                </a:lnSpc>
              </a:pPr>
              <a:r>
                <a:rPr lang="ko-KR" altLang="en-US" sz="700" dirty="0" err="1">
                  <a:latin typeface="+mn-ea"/>
                </a:rPr>
                <a:t>공고일자</a:t>
              </a:r>
              <a:endParaRPr lang="ko-KR" altLang="en-US" sz="700" dirty="0">
                <a:latin typeface="+mn-ea"/>
              </a:endParaRPr>
            </a:p>
            <a:p>
              <a:pPr>
                <a:lnSpc>
                  <a:spcPct val="200000"/>
                </a:lnSpc>
              </a:pPr>
              <a:r>
                <a:rPr lang="ko-KR" altLang="en-US" sz="700" dirty="0">
                  <a:latin typeface="+mn-ea"/>
                </a:rPr>
                <a:t>구매요청번호</a:t>
              </a:r>
            </a:p>
            <a:p>
              <a:pPr>
                <a:lnSpc>
                  <a:spcPct val="200000"/>
                </a:lnSpc>
              </a:pPr>
              <a:r>
                <a:rPr lang="ko-KR" altLang="en-US" sz="700" dirty="0">
                  <a:latin typeface="+mn-ea"/>
                </a:rPr>
                <a:t>통합참조번호</a:t>
              </a:r>
            </a:p>
            <a:p>
              <a:pPr>
                <a:lnSpc>
                  <a:spcPct val="200000"/>
                </a:lnSpc>
              </a:pPr>
              <a:r>
                <a:rPr lang="ko-KR" altLang="en-US" sz="700" dirty="0" err="1">
                  <a:latin typeface="+mn-ea"/>
                </a:rPr>
                <a:t>사업명</a:t>
              </a:r>
              <a:endParaRPr lang="ko-KR" altLang="en-US" sz="700" dirty="0">
                <a:latin typeface="+mn-ea"/>
              </a:endParaRPr>
            </a:p>
            <a:p>
              <a:pPr>
                <a:lnSpc>
                  <a:spcPct val="200000"/>
                </a:lnSpc>
              </a:pPr>
              <a:r>
                <a:rPr lang="ko-KR" altLang="en-US" sz="700" dirty="0">
                  <a:latin typeface="+mn-ea"/>
                </a:rPr>
                <a:t>계약방법</a:t>
              </a:r>
            </a:p>
            <a:p>
              <a:pPr>
                <a:lnSpc>
                  <a:spcPct val="200000"/>
                </a:lnSpc>
              </a:pPr>
              <a:r>
                <a:rPr lang="ko-KR" altLang="en-US" sz="700" dirty="0" err="1">
                  <a:latin typeface="+mn-ea"/>
                </a:rPr>
                <a:t>총금액</a:t>
              </a:r>
              <a:endParaRPr lang="ko-KR" altLang="en-US" sz="700" dirty="0">
                <a:latin typeface="+mn-ea"/>
              </a:endParaRPr>
            </a:p>
            <a:p>
              <a:pPr>
                <a:lnSpc>
                  <a:spcPct val="200000"/>
                </a:lnSpc>
              </a:pPr>
              <a:r>
                <a:rPr lang="ko-KR" altLang="en-US" sz="700" dirty="0" err="1">
                  <a:latin typeface="+mn-ea"/>
                </a:rPr>
                <a:t>공고품목수</a:t>
              </a:r>
              <a:endParaRPr lang="en-US" altLang="ko-KR" sz="700" dirty="0">
                <a:latin typeface="+mn-ea"/>
              </a:endParaRPr>
            </a:p>
            <a:p>
              <a:pPr>
                <a:lnSpc>
                  <a:spcPct val="200000"/>
                </a:lnSpc>
              </a:pPr>
              <a:endParaRPr lang="en-US" altLang="ko-KR" sz="700" dirty="0">
                <a:latin typeface="+mn-ea"/>
              </a:endParaRPr>
            </a:p>
            <a:p>
              <a:pPr>
                <a:lnSpc>
                  <a:spcPct val="200000"/>
                </a:lnSpc>
              </a:pPr>
              <a:r>
                <a:rPr lang="ko-KR" altLang="en-US" sz="700" dirty="0">
                  <a:latin typeface="+mn-ea"/>
                </a:rPr>
                <a:t>환율적용일자</a:t>
              </a:r>
              <a:endParaRPr lang="en-US" altLang="ko-KR" sz="700" dirty="0">
                <a:latin typeface="+mn-ea"/>
              </a:endParaRPr>
            </a:p>
            <a:p>
              <a:pPr>
                <a:lnSpc>
                  <a:spcPct val="200000"/>
                </a:lnSpc>
              </a:pPr>
              <a:r>
                <a:rPr lang="ko-KR" altLang="en-US" sz="700" dirty="0" err="1">
                  <a:latin typeface="+mn-ea"/>
                </a:rPr>
                <a:t>개찰일시</a:t>
              </a:r>
              <a:endParaRPr lang="ko-KR" altLang="en-US" sz="700" dirty="0">
                <a:latin typeface="+mn-ea"/>
              </a:endParaRPr>
            </a:p>
          </p:txBody>
        </p:sp>
        <p:sp>
          <p:nvSpPr>
            <p:cNvPr id="163" name="TextBox 162">
              <a:extLst>
                <a:ext uri="{FF2B5EF4-FFF2-40B4-BE49-F238E27FC236}">
                  <a16:creationId xmlns:a16="http://schemas.microsoft.com/office/drawing/2014/main" id="{FFC49AEA-2A8F-250C-A86A-A7751D9706C3}"/>
                </a:ext>
              </a:extLst>
            </p:cNvPr>
            <p:cNvSpPr txBox="1"/>
            <p:nvPr/>
          </p:nvSpPr>
          <p:spPr>
            <a:xfrm>
              <a:off x="1547180" y="1835481"/>
              <a:ext cx="1775839" cy="2585323"/>
            </a:xfrm>
            <a:prstGeom prst="rect">
              <a:avLst/>
            </a:prstGeom>
            <a:noFill/>
          </p:spPr>
          <p:txBody>
            <a:bodyPr wrap="square" lIns="0" tIns="0" rIns="0" bIns="0" rtlCol="0">
              <a:spAutoFit/>
            </a:bodyPr>
            <a:lstStyle/>
            <a:p>
              <a:pPr>
                <a:lnSpc>
                  <a:spcPct val="200000"/>
                </a:lnSpc>
              </a:pPr>
              <a:r>
                <a:rPr lang="en-US" altLang="ko-KR" sz="700" dirty="0">
                  <a:latin typeface="+mn-ea"/>
                </a:rPr>
                <a:t>EFD0007-2</a:t>
              </a:r>
            </a:p>
            <a:p>
              <a:pPr>
                <a:lnSpc>
                  <a:spcPct val="200000"/>
                </a:lnSpc>
              </a:pPr>
              <a:r>
                <a:rPr lang="ko-KR" altLang="en-US" sz="700" dirty="0" err="1">
                  <a:latin typeface="+mn-ea"/>
                </a:rPr>
                <a:t>정상공고</a:t>
              </a:r>
              <a:endParaRPr lang="en-US" altLang="ko-KR" sz="700" dirty="0">
                <a:latin typeface="+mn-ea"/>
              </a:endParaRPr>
            </a:p>
            <a:p>
              <a:pPr>
                <a:lnSpc>
                  <a:spcPct val="200000"/>
                </a:lnSpc>
              </a:pPr>
              <a:r>
                <a:rPr lang="en-US" altLang="ko-KR" sz="700" dirty="0">
                  <a:latin typeface="+mn-ea"/>
                </a:rPr>
                <a:t>2022-11-12</a:t>
              </a:r>
            </a:p>
            <a:p>
              <a:pPr>
                <a:lnSpc>
                  <a:spcPct val="200000"/>
                </a:lnSpc>
              </a:pPr>
              <a:r>
                <a:rPr lang="en-US" altLang="ko-KR" sz="700" dirty="0">
                  <a:latin typeface="+mn-ea"/>
                </a:rPr>
                <a:t>BAD839380-001</a:t>
              </a:r>
            </a:p>
            <a:p>
              <a:pPr>
                <a:lnSpc>
                  <a:spcPct val="200000"/>
                </a:lnSpc>
              </a:pPr>
              <a:r>
                <a:rPr lang="en-US" altLang="ko-KR" sz="700" dirty="0">
                  <a:latin typeface="+mn-ea"/>
                </a:rPr>
                <a:t>BAD83990EFD</a:t>
              </a:r>
            </a:p>
            <a:p>
              <a:pPr>
                <a:lnSpc>
                  <a:spcPct val="200000"/>
                </a:lnSpc>
              </a:pPr>
              <a:r>
                <a:rPr lang="en-US" altLang="ko-KR" sz="700" dirty="0">
                  <a:latin typeface="+mn-ea"/>
                </a:rPr>
                <a:t>500MD</a:t>
              </a:r>
              <a:r>
                <a:rPr lang="ko-KR" altLang="en-US" sz="700" dirty="0">
                  <a:latin typeface="+mn-ea"/>
                </a:rPr>
                <a:t>부품</a:t>
              </a:r>
            </a:p>
            <a:p>
              <a:pPr>
                <a:lnSpc>
                  <a:spcPct val="200000"/>
                </a:lnSpc>
              </a:pPr>
              <a:r>
                <a:rPr lang="ko-KR" altLang="en-US" sz="700" dirty="0">
                  <a:latin typeface="+mn-ea"/>
                </a:rPr>
                <a:t>수의계약</a:t>
              </a:r>
              <a:endParaRPr lang="en-US" altLang="ko-KR" sz="700" dirty="0">
                <a:latin typeface="+mn-ea"/>
              </a:endParaRPr>
            </a:p>
            <a:p>
              <a:pPr algn="r">
                <a:lnSpc>
                  <a:spcPct val="200000"/>
                </a:lnSpc>
              </a:pPr>
              <a:r>
                <a:rPr lang="en-US" altLang="ko-KR" sz="700" dirty="0">
                  <a:latin typeface="+mn-ea"/>
                </a:rPr>
                <a:t>$ 126,000.18</a:t>
              </a:r>
            </a:p>
            <a:p>
              <a:pPr>
                <a:lnSpc>
                  <a:spcPct val="200000"/>
                </a:lnSpc>
              </a:pPr>
              <a:r>
                <a:rPr lang="en-US" altLang="ko-KR" sz="700" dirty="0">
                  <a:latin typeface="+mn-ea"/>
                </a:rPr>
                <a:t>100</a:t>
              </a:r>
            </a:p>
            <a:p>
              <a:pPr>
                <a:lnSpc>
                  <a:spcPct val="200000"/>
                </a:lnSpc>
              </a:pPr>
              <a:r>
                <a:rPr kumimoji="1" lang="en-US" altLang="ko-KR" sz="700" spc="-60" dirty="0">
                  <a:solidFill>
                    <a:srgbClr val="000000">
                      <a:lumMod val="65000"/>
                      <a:lumOff val="35000"/>
                    </a:srgbClr>
                  </a:solidFill>
                  <a:latin typeface="Verdana" panose="020B0604030504040204" pitchFamily="34" charset="0"/>
                </a:rPr>
                <a:t>2025-03-02 15:00:00</a:t>
              </a:r>
            </a:p>
            <a:p>
              <a:pPr>
                <a:lnSpc>
                  <a:spcPct val="200000"/>
                </a:lnSpc>
              </a:pPr>
              <a:r>
                <a:rPr kumimoji="1" lang="en-US" altLang="ko-KR" sz="700" spc="-60" dirty="0">
                  <a:solidFill>
                    <a:srgbClr val="000000">
                      <a:lumMod val="65000"/>
                      <a:lumOff val="35000"/>
                    </a:srgbClr>
                  </a:solidFill>
                  <a:latin typeface="Verdana" panose="020B0604030504040204" pitchFamily="34" charset="0"/>
                </a:rPr>
                <a:t>2025-03-02</a:t>
              </a:r>
            </a:p>
            <a:p>
              <a:pPr>
                <a:lnSpc>
                  <a:spcPct val="200000"/>
                </a:lnSpc>
              </a:pPr>
              <a:r>
                <a:rPr kumimoji="1" lang="en-US" altLang="ko-KR" sz="700" spc="-60" dirty="0">
                  <a:solidFill>
                    <a:srgbClr val="000000">
                      <a:lumMod val="65000"/>
                      <a:lumOff val="35000"/>
                    </a:srgbClr>
                  </a:solidFill>
                  <a:latin typeface="Verdana" panose="020B0604030504040204" pitchFamily="34" charset="0"/>
                </a:rPr>
                <a:t>2025-03-02 15:00:00</a:t>
              </a:r>
              <a:endParaRPr lang="en-US" altLang="ko-KR" sz="700" dirty="0">
                <a:latin typeface="+mn-ea"/>
              </a:endParaRPr>
            </a:p>
          </p:txBody>
        </p:sp>
        <p:grpSp>
          <p:nvGrpSpPr>
            <p:cNvPr id="17" name="그룹 16"/>
            <p:cNvGrpSpPr/>
            <p:nvPr/>
          </p:nvGrpSpPr>
          <p:grpSpPr>
            <a:xfrm>
              <a:off x="701175" y="1835481"/>
              <a:ext cx="2630093" cy="2576880"/>
              <a:chOff x="701175" y="1835481"/>
              <a:chExt cx="2630093" cy="2576880"/>
            </a:xfrm>
          </p:grpSpPr>
          <p:cxnSp>
            <p:nvCxnSpPr>
              <p:cNvPr id="161" name="직선 연결선 160">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4" name="직선 연결선 163">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5" name="직선 연결선 164">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6" name="직선 연결선 165">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7" name="직선 연결선 166">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8" name="직선 연결선 167">
                <a:extLst>
                  <a:ext uri="{FF2B5EF4-FFF2-40B4-BE49-F238E27FC236}">
                    <a16:creationId xmlns:a16="http://schemas.microsoft.com/office/drawing/2014/main" id="{E9293055-D5CD-4B9E-7F64-64B2D2CA7A52}"/>
                  </a:ext>
                </a:extLst>
              </p:cNvPr>
              <p:cNvCxnSpPr/>
              <p:nvPr/>
            </p:nvCxnSpPr>
            <p:spPr>
              <a:xfrm>
                <a:off x="703268" y="29091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69" name="직선 연결선 168">
                <a:extLst>
                  <a:ext uri="{FF2B5EF4-FFF2-40B4-BE49-F238E27FC236}">
                    <a16:creationId xmlns:a16="http://schemas.microsoft.com/office/drawing/2014/main" id="{E9293055-D5CD-4B9E-7F64-64B2D2CA7A52}"/>
                  </a:ext>
                </a:extLst>
              </p:cNvPr>
              <p:cNvCxnSpPr/>
              <p:nvPr/>
            </p:nvCxnSpPr>
            <p:spPr>
              <a:xfrm>
                <a:off x="701175" y="312392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0" name="직선 연결선 169">
                <a:extLst>
                  <a:ext uri="{FF2B5EF4-FFF2-40B4-BE49-F238E27FC236}">
                    <a16:creationId xmlns:a16="http://schemas.microsoft.com/office/drawing/2014/main" id="{E9293055-D5CD-4B9E-7F64-64B2D2CA7A52}"/>
                  </a:ext>
                </a:extLst>
              </p:cNvPr>
              <p:cNvCxnSpPr/>
              <p:nvPr/>
            </p:nvCxnSpPr>
            <p:spPr>
              <a:xfrm>
                <a:off x="703268" y="33386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1" name="직선 연결선 170">
                <a:extLst>
                  <a:ext uri="{FF2B5EF4-FFF2-40B4-BE49-F238E27FC236}">
                    <a16:creationId xmlns:a16="http://schemas.microsoft.com/office/drawing/2014/main" id="{E9293055-D5CD-4B9E-7F64-64B2D2CA7A52}"/>
                  </a:ext>
                </a:extLst>
              </p:cNvPr>
              <p:cNvCxnSpPr/>
              <p:nvPr/>
            </p:nvCxnSpPr>
            <p:spPr>
              <a:xfrm>
                <a:off x="703268" y="35534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2" name="직선 연결선 171">
                <a:extLst>
                  <a:ext uri="{FF2B5EF4-FFF2-40B4-BE49-F238E27FC236}">
                    <a16:creationId xmlns:a16="http://schemas.microsoft.com/office/drawing/2014/main" id="{E9293055-D5CD-4B9E-7F64-64B2D2CA7A52}"/>
                  </a:ext>
                </a:extLst>
              </p:cNvPr>
              <p:cNvCxnSpPr/>
              <p:nvPr/>
            </p:nvCxnSpPr>
            <p:spPr>
              <a:xfrm>
                <a:off x="703268" y="37681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3" name="직선 연결선 172">
                <a:extLst>
                  <a:ext uri="{FF2B5EF4-FFF2-40B4-BE49-F238E27FC236}">
                    <a16:creationId xmlns:a16="http://schemas.microsoft.com/office/drawing/2014/main" id="{E9293055-D5CD-4B9E-7F64-64B2D2CA7A52}"/>
                  </a:ext>
                </a:extLst>
              </p:cNvPr>
              <p:cNvCxnSpPr/>
              <p:nvPr/>
            </p:nvCxnSpPr>
            <p:spPr>
              <a:xfrm>
                <a:off x="703268" y="398288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4" name="직선 연결선 173">
                <a:extLst>
                  <a:ext uri="{FF2B5EF4-FFF2-40B4-BE49-F238E27FC236}">
                    <a16:creationId xmlns:a16="http://schemas.microsoft.com/office/drawing/2014/main" id="{E9293055-D5CD-4B9E-7F64-64B2D2CA7A52}"/>
                  </a:ext>
                </a:extLst>
              </p:cNvPr>
              <p:cNvCxnSpPr/>
              <p:nvPr/>
            </p:nvCxnSpPr>
            <p:spPr>
              <a:xfrm>
                <a:off x="703268" y="41976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1" name="직선 연결선 180">
                <a:extLst>
                  <a:ext uri="{FF2B5EF4-FFF2-40B4-BE49-F238E27FC236}">
                    <a16:creationId xmlns:a16="http://schemas.microsoft.com/office/drawing/2014/main" id="{E9293055-D5CD-4B9E-7F64-64B2D2CA7A52}"/>
                  </a:ext>
                </a:extLst>
              </p:cNvPr>
              <p:cNvCxnSpPr/>
              <p:nvPr/>
            </p:nvCxnSpPr>
            <p:spPr>
              <a:xfrm>
                <a:off x="701175" y="441236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82" name="TextBox 81">
              <a:extLst>
                <a:ext uri="{FF2B5EF4-FFF2-40B4-BE49-F238E27FC236}">
                  <a16:creationId xmlns:a16="http://schemas.microsoft.com/office/drawing/2014/main" id="{FFC49AEA-2A8F-250C-A86A-A7751D9706C3}"/>
                </a:ext>
              </a:extLst>
            </p:cNvPr>
            <p:cNvSpPr txBox="1"/>
            <p:nvPr/>
          </p:nvSpPr>
          <p:spPr>
            <a:xfrm>
              <a:off x="790330" y="3773761"/>
              <a:ext cx="700693" cy="215444"/>
            </a:xfrm>
            <a:prstGeom prst="rect">
              <a:avLst/>
            </a:prstGeom>
            <a:noFill/>
          </p:spPr>
          <p:txBody>
            <a:bodyPr wrap="square" lIns="0" tIns="0" rIns="0" bIns="0" rtlCol="0">
              <a:spAutoFit/>
            </a:bodyPr>
            <a:lstStyle/>
            <a:p>
              <a:r>
                <a:rPr lang="ko-KR" altLang="en-US" sz="700" dirty="0" err="1">
                  <a:latin typeface="+mn-ea"/>
                </a:rPr>
                <a:t>견적서제출</a:t>
              </a:r>
              <a:endParaRPr lang="en-US" altLang="ko-KR" sz="700" dirty="0">
                <a:latin typeface="+mn-ea"/>
              </a:endParaRPr>
            </a:p>
            <a:p>
              <a:r>
                <a:rPr lang="ko-KR" altLang="en-US" sz="700" dirty="0" err="1">
                  <a:latin typeface="+mn-ea"/>
                </a:rPr>
                <a:t>마감일시</a:t>
              </a:r>
              <a:endParaRPr lang="en-US" altLang="ko-KR" sz="700" dirty="0">
                <a:latin typeface="+mn-ea"/>
              </a:endParaRPr>
            </a:p>
          </p:txBody>
        </p:sp>
      </p:gr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sp>
        <p:nvSpPr>
          <p:cNvPr id="260" name="TextBox 259">
            <a:extLst>
              <a:ext uri="{FF2B5EF4-FFF2-40B4-BE49-F238E27FC236}">
                <a16:creationId xmlns:a16="http://schemas.microsoft.com/office/drawing/2014/main" id="{75DF28B5-84C4-84C3-4D62-98FEE71BEAA5}"/>
              </a:ext>
            </a:extLst>
          </p:cNvPr>
          <p:cNvSpPr txBox="1"/>
          <p:nvPr/>
        </p:nvSpPr>
        <p:spPr>
          <a:xfrm>
            <a:off x="2772830" y="6326480"/>
            <a:ext cx="617157" cy="138499"/>
          </a:xfrm>
          <a:prstGeom prst="rect">
            <a:avLst/>
          </a:prstGeom>
          <a:noFill/>
        </p:spPr>
        <p:txBody>
          <a:bodyPr wrap="none" lIns="0" tIns="0" rIns="0" bIns="0" rtlCol="0">
            <a:spAutoFit/>
          </a:bodyPr>
          <a:lstStyle/>
          <a:p>
            <a:r>
              <a:rPr lang="ko-KR" altLang="en-US" sz="900" b="1" dirty="0">
                <a:solidFill>
                  <a:srgbClr val="0070C0"/>
                </a:solidFill>
                <a:latin typeface="+mn-ea"/>
              </a:rPr>
              <a:t>우측에 계속</a:t>
            </a:r>
          </a:p>
        </p:txBody>
      </p:sp>
      <p:grpSp>
        <p:nvGrpSpPr>
          <p:cNvPr id="5" name="그룹 4"/>
          <p:cNvGrpSpPr/>
          <p:nvPr/>
        </p:nvGrpSpPr>
        <p:grpSpPr>
          <a:xfrm>
            <a:off x="3795735" y="1527996"/>
            <a:ext cx="2712026" cy="899454"/>
            <a:chOff x="3795735" y="1527996"/>
            <a:chExt cx="2712026" cy="899454"/>
          </a:xfrm>
        </p:grpSpPr>
        <p:sp>
          <p:nvSpPr>
            <p:cNvPr id="68" name="TextBox 67">
              <a:extLst>
                <a:ext uri="{FF2B5EF4-FFF2-40B4-BE49-F238E27FC236}">
                  <a16:creationId xmlns:a16="http://schemas.microsoft.com/office/drawing/2014/main" id="{FFC49AEA-2A8F-250C-A86A-A7751D9706C3}"/>
                </a:ext>
              </a:extLst>
            </p:cNvPr>
            <p:cNvSpPr txBox="1"/>
            <p:nvPr/>
          </p:nvSpPr>
          <p:spPr>
            <a:xfrm>
              <a:off x="3878080" y="1527996"/>
              <a:ext cx="728875" cy="181140"/>
            </a:xfrm>
            <a:prstGeom prst="rect">
              <a:avLst/>
            </a:prstGeom>
            <a:noFill/>
          </p:spPr>
          <p:txBody>
            <a:bodyPr wrap="square" lIns="0" tIns="0" rIns="0" bIns="0" rtlCol="0">
              <a:spAutoFit/>
            </a:bodyPr>
            <a:lstStyle/>
            <a:p>
              <a:pPr>
                <a:lnSpc>
                  <a:spcPct val="200000"/>
                </a:lnSpc>
              </a:pPr>
              <a:r>
                <a:rPr lang="ko-KR" altLang="en-US" sz="700" spc="-52" dirty="0">
                  <a:solidFill>
                    <a:schemeClr val="tx1">
                      <a:lumMod val="75000"/>
                      <a:lumOff val="25000"/>
                    </a:schemeClr>
                  </a:solidFill>
                  <a:latin typeface="맑은 고딕" panose="020B0503020000020004" pitchFamily="50" charset="-127"/>
                </a:rPr>
                <a:t>담당자 정보</a:t>
              </a:r>
              <a:endParaRPr lang="ko-KR" altLang="en-US" sz="700" dirty="0">
                <a:latin typeface="+mn-ea"/>
              </a:endParaRPr>
            </a:p>
          </p:txBody>
        </p:sp>
        <p:grpSp>
          <p:nvGrpSpPr>
            <p:cNvPr id="69" name="그룹 68"/>
            <p:cNvGrpSpPr/>
            <p:nvPr/>
          </p:nvGrpSpPr>
          <p:grpSpPr>
            <a:xfrm flipV="1">
              <a:off x="6240167" y="1641327"/>
              <a:ext cx="94010" cy="47005"/>
              <a:chOff x="6812560" y="3297172"/>
              <a:chExt cx="94010" cy="47005"/>
            </a:xfrm>
          </p:grpSpPr>
          <p:cxnSp>
            <p:nvCxnSpPr>
              <p:cNvPr id="70" name="직선 연결선 69"/>
              <p:cNvCxnSpPr/>
              <p:nvPr/>
            </p:nvCxnSpPr>
            <p:spPr>
              <a:xfrm>
                <a:off x="6812560" y="3297172"/>
                <a:ext cx="47005" cy="47005"/>
              </a:xfrm>
              <a:prstGeom prst="line">
                <a:avLst/>
              </a:prstGeom>
            </p:spPr>
            <p:style>
              <a:lnRef idx="1">
                <a:schemeClr val="dk1"/>
              </a:lnRef>
              <a:fillRef idx="0">
                <a:schemeClr val="dk1"/>
              </a:fillRef>
              <a:effectRef idx="0">
                <a:schemeClr val="dk1"/>
              </a:effectRef>
              <a:fontRef idx="minor">
                <a:schemeClr val="tx1"/>
              </a:fontRef>
            </p:style>
          </p:cxnSp>
          <p:cxnSp>
            <p:nvCxnSpPr>
              <p:cNvPr id="71" name="직선 연결선 70"/>
              <p:cNvCxnSpPr/>
              <p:nvPr/>
            </p:nvCxnSpPr>
            <p:spPr>
              <a:xfrm flipH="1">
                <a:off x="6859565" y="3297172"/>
                <a:ext cx="47005" cy="47005"/>
              </a:xfrm>
              <a:prstGeom prst="line">
                <a:avLst/>
              </a:prstGeom>
            </p:spPr>
            <p:style>
              <a:lnRef idx="1">
                <a:schemeClr val="dk1"/>
              </a:lnRef>
              <a:fillRef idx="0">
                <a:schemeClr val="dk1"/>
              </a:fillRef>
              <a:effectRef idx="0">
                <a:schemeClr val="dk1"/>
              </a:effectRef>
              <a:fontRef idx="minor">
                <a:schemeClr val="tx1"/>
              </a:fontRef>
            </p:style>
          </p:cxnSp>
        </p:grpSp>
        <p:sp>
          <p:nvSpPr>
            <p:cNvPr id="72" name="TextBox 71">
              <a:extLst>
                <a:ext uri="{FF2B5EF4-FFF2-40B4-BE49-F238E27FC236}">
                  <a16:creationId xmlns:a16="http://schemas.microsoft.com/office/drawing/2014/main" id="{FFC49AEA-2A8F-250C-A86A-A7751D9706C3}"/>
                </a:ext>
              </a:extLst>
            </p:cNvPr>
            <p:cNvSpPr txBox="1"/>
            <p:nvPr/>
          </p:nvSpPr>
          <p:spPr>
            <a:xfrm>
              <a:off x="3963885"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 부서명</a:t>
              </a:r>
              <a:endParaRPr lang="en-US" altLang="ko-KR" sz="600" dirty="0">
                <a:solidFill>
                  <a:schemeClr val="tx1">
                    <a:lumMod val="85000"/>
                    <a:lumOff val="15000"/>
                  </a:schemeClr>
                </a:solidFill>
                <a:latin typeface="맑은 고딕" panose="020B0503020000020004" pitchFamily="50" charset="-127"/>
              </a:endParaRPr>
            </a:p>
          </p:txBody>
        </p:sp>
        <p:sp>
          <p:nvSpPr>
            <p:cNvPr id="73" name="TextBox 72">
              <a:extLst>
                <a:ext uri="{FF2B5EF4-FFF2-40B4-BE49-F238E27FC236}">
                  <a16:creationId xmlns:a16="http://schemas.microsoft.com/office/drawing/2014/main" id="{FFC49AEA-2A8F-250C-A86A-A7751D9706C3}"/>
                </a:ext>
              </a:extLst>
            </p:cNvPr>
            <p:cNvSpPr txBox="1"/>
            <p:nvPr/>
          </p:nvSpPr>
          <p:spPr>
            <a:xfrm>
              <a:off x="4756893"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담당자</a:t>
              </a:r>
              <a:endParaRPr lang="en-US" altLang="ko-KR" sz="600" dirty="0">
                <a:solidFill>
                  <a:schemeClr val="tx1">
                    <a:lumMod val="85000"/>
                    <a:lumOff val="15000"/>
                  </a:schemeClr>
                </a:solidFill>
                <a:latin typeface="맑은 고딕" panose="020B0503020000020004" pitchFamily="50" charset="-127"/>
              </a:endParaRPr>
            </a:p>
          </p:txBody>
        </p:sp>
        <p:sp>
          <p:nvSpPr>
            <p:cNvPr id="74" name="TextBox 73">
              <a:extLst>
                <a:ext uri="{FF2B5EF4-FFF2-40B4-BE49-F238E27FC236}">
                  <a16:creationId xmlns:a16="http://schemas.microsoft.com/office/drawing/2014/main" id="{FFC49AEA-2A8F-250C-A86A-A7751D9706C3}"/>
                </a:ext>
              </a:extLst>
            </p:cNvPr>
            <p:cNvSpPr txBox="1"/>
            <p:nvPr/>
          </p:nvSpPr>
          <p:spPr>
            <a:xfrm>
              <a:off x="5669455" y="1840220"/>
              <a:ext cx="493904" cy="92333"/>
            </a:xfrm>
            <a:prstGeom prst="rect">
              <a:avLst/>
            </a:prstGeom>
            <a:noFill/>
          </p:spPr>
          <p:txBody>
            <a:bodyPr wrap="square" lIns="0" tIns="0" rIns="0" bIns="0" rtlCol="0">
              <a:spAutoFit/>
            </a:bodyPr>
            <a:lstStyle/>
            <a:p>
              <a:r>
                <a:rPr lang="ko-KR" altLang="en-US" sz="600" dirty="0">
                  <a:solidFill>
                    <a:schemeClr val="tx1">
                      <a:lumMod val="85000"/>
                      <a:lumOff val="15000"/>
                    </a:schemeClr>
                  </a:solidFill>
                  <a:latin typeface="맑은 고딕" panose="020B0503020000020004" pitchFamily="50" charset="-127"/>
                </a:rPr>
                <a:t>연락처</a:t>
              </a:r>
              <a:endParaRPr lang="en-US" altLang="ko-KR" sz="600" dirty="0">
                <a:solidFill>
                  <a:schemeClr val="tx1">
                    <a:lumMod val="85000"/>
                    <a:lumOff val="15000"/>
                  </a:schemeClr>
                </a:solidFill>
                <a:latin typeface="맑은 고딕" panose="020B0503020000020004" pitchFamily="50" charset="-127"/>
              </a:endParaRPr>
            </a:p>
          </p:txBody>
        </p:sp>
        <p:cxnSp>
          <p:nvCxnSpPr>
            <p:cNvPr id="76" name="직선 연결선 75">
              <a:extLst>
                <a:ext uri="{FF2B5EF4-FFF2-40B4-BE49-F238E27FC236}">
                  <a16:creationId xmlns:a16="http://schemas.microsoft.com/office/drawing/2014/main" id="{E9293055-D5CD-4B9E-7F64-64B2D2CA7A52}"/>
                </a:ext>
              </a:extLst>
            </p:cNvPr>
            <p:cNvCxnSpPr/>
            <p:nvPr/>
          </p:nvCxnSpPr>
          <p:spPr>
            <a:xfrm>
              <a:off x="3795735" y="2427450"/>
              <a:ext cx="2712026"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77" name="모서리가 둥근 직사각형 76"/>
            <p:cNvSpPr/>
            <p:nvPr/>
          </p:nvSpPr>
          <p:spPr>
            <a:xfrm>
              <a:off x="3831550" y="2000312"/>
              <a:ext cx="2652743" cy="344810"/>
            </a:xfrm>
            <a:prstGeom prst="roundRect">
              <a:avLst>
                <a:gd name="adj" fmla="val 9062"/>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TextBox 77">
              <a:extLst>
                <a:ext uri="{FF2B5EF4-FFF2-40B4-BE49-F238E27FC236}">
                  <a16:creationId xmlns:a16="http://schemas.microsoft.com/office/drawing/2014/main" id="{FFC49AEA-2A8F-250C-A86A-A7751D9706C3}"/>
                </a:ext>
              </a:extLst>
            </p:cNvPr>
            <p:cNvSpPr txBox="1"/>
            <p:nvPr/>
          </p:nvSpPr>
          <p:spPr>
            <a:xfrm>
              <a:off x="3963885" y="2118856"/>
              <a:ext cx="625684" cy="107722"/>
            </a:xfrm>
            <a:prstGeom prst="rect">
              <a:avLst/>
            </a:prstGeom>
            <a:noFill/>
          </p:spPr>
          <p:txBody>
            <a:bodyPr wrap="square" lIns="0" tIns="0" rIns="0" bIns="0" rtlCol="0">
              <a:spAutoFit/>
            </a:bodyPr>
            <a:lstStyle>
              <a:defPPr>
                <a:defRPr lang="ko-KR"/>
              </a:defPPr>
              <a:lvl1pPr>
                <a:defRPr sz="700">
                  <a:solidFill>
                    <a:schemeClr val="tx1">
                      <a:lumMod val="85000"/>
                      <a:lumOff val="15000"/>
                    </a:schemeClr>
                  </a:solidFill>
                  <a:latin typeface="맑은 고딕" panose="020B0503020000020004" pitchFamily="50" charset="-127"/>
                </a:defRPr>
              </a:lvl1pPr>
            </a:lstStyle>
            <a:p>
              <a:r>
                <a:rPr lang="ko-KR" altLang="en-US" dirty="0"/>
                <a:t>국제부품계약팀</a:t>
              </a:r>
              <a:endParaRPr lang="en-US" altLang="ko-KR" dirty="0"/>
            </a:p>
          </p:txBody>
        </p:sp>
        <p:sp>
          <p:nvSpPr>
            <p:cNvPr id="79" name="TextBox 78">
              <a:extLst>
                <a:ext uri="{FF2B5EF4-FFF2-40B4-BE49-F238E27FC236}">
                  <a16:creationId xmlns:a16="http://schemas.microsoft.com/office/drawing/2014/main" id="{FFC49AEA-2A8F-250C-A86A-A7751D9706C3}"/>
                </a:ext>
              </a:extLst>
            </p:cNvPr>
            <p:cNvSpPr txBox="1"/>
            <p:nvPr/>
          </p:nvSpPr>
          <p:spPr>
            <a:xfrm>
              <a:off x="4756893" y="2118856"/>
              <a:ext cx="638280" cy="107722"/>
            </a:xfrm>
            <a:prstGeom prst="rect">
              <a:avLst/>
            </a:prstGeom>
            <a:noFill/>
          </p:spPr>
          <p:txBody>
            <a:bodyPr wrap="square" lIns="0" tIns="0" rIns="0" bIns="0" rtlCol="0">
              <a:spAutoFit/>
            </a:bodyPr>
            <a:lstStyle/>
            <a:p>
              <a:r>
                <a:rPr lang="ko-KR" altLang="en-US" sz="700" dirty="0" err="1">
                  <a:solidFill>
                    <a:schemeClr val="tx1">
                      <a:lumMod val="85000"/>
                      <a:lumOff val="15000"/>
                    </a:schemeClr>
                  </a:solidFill>
                  <a:latin typeface="맑은 고딕" panose="020B0503020000020004" pitchFamily="50" charset="-127"/>
                </a:rPr>
                <a:t>정영금</a:t>
              </a:r>
              <a:endParaRPr lang="en-US" altLang="ko-KR" sz="700" dirty="0">
                <a:solidFill>
                  <a:schemeClr val="tx1">
                    <a:lumMod val="85000"/>
                    <a:lumOff val="15000"/>
                  </a:schemeClr>
                </a:solidFill>
                <a:latin typeface="맑은 고딕" panose="020B0503020000020004" pitchFamily="50" charset="-127"/>
              </a:endParaRPr>
            </a:p>
          </p:txBody>
        </p:sp>
        <p:sp>
          <p:nvSpPr>
            <p:cNvPr id="80" name="TextBox 79">
              <a:extLst>
                <a:ext uri="{FF2B5EF4-FFF2-40B4-BE49-F238E27FC236}">
                  <a16:creationId xmlns:a16="http://schemas.microsoft.com/office/drawing/2014/main" id="{FFC49AEA-2A8F-250C-A86A-A7751D9706C3}"/>
                </a:ext>
              </a:extLst>
            </p:cNvPr>
            <p:cNvSpPr txBox="1"/>
            <p:nvPr/>
          </p:nvSpPr>
          <p:spPr>
            <a:xfrm>
              <a:off x="5669455" y="2064995"/>
              <a:ext cx="647514" cy="215444"/>
            </a:xfrm>
            <a:prstGeom prst="rect">
              <a:avLst/>
            </a:prstGeom>
            <a:noFill/>
          </p:spPr>
          <p:txBody>
            <a:bodyPr wrap="square" lIns="0" tIns="0" rIns="0" bIns="0" rtlCol="0">
              <a:spAutoFit/>
            </a:bodyPr>
            <a:lstStyle/>
            <a:p>
              <a:r>
                <a:rPr lang="en-US" altLang="ko-KR" sz="700" dirty="0">
                  <a:solidFill>
                    <a:schemeClr val="tx1">
                      <a:lumMod val="85000"/>
                      <a:lumOff val="15000"/>
                    </a:schemeClr>
                  </a:solidFill>
                  <a:latin typeface="맑은 고딕" panose="020B0503020000020004" pitchFamily="50" charset="-127"/>
                </a:rPr>
                <a:t>02-1234-5678</a:t>
              </a:r>
            </a:p>
            <a:p>
              <a:r>
                <a:rPr lang="en-US" altLang="ko-KR" sz="700" dirty="0">
                  <a:solidFill>
                    <a:schemeClr val="tx1">
                      <a:lumMod val="85000"/>
                      <a:lumOff val="15000"/>
                    </a:schemeClr>
                  </a:solidFill>
                  <a:latin typeface="맑은 고딕" panose="020B0503020000020004" pitchFamily="50" charset="-127"/>
                </a:rPr>
                <a:t>010-1234-5678</a:t>
              </a:r>
            </a:p>
          </p:txBody>
        </p:sp>
      </p:grpSp>
    </p:spTree>
    <p:extLst>
      <p:ext uri="{BB962C8B-B14F-4D97-AF65-F5344CB8AC3E}">
        <p14:creationId xmlns:p14="http://schemas.microsoft.com/office/powerpoint/2010/main" val="629456482"/>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텍스트 개체 틀 3">
            <a:extLst>
              <a:ext uri="{FF2B5EF4-FFF2-40B4-BE49-F238E27FC236}">
                <a16:creationId xmlns:a16="http://schemas.microsoft.com/office/drawing/2014/main" id="{684F4725-C9F0-CBDB-8A92-4A6CEC4586D8}"/>
              </a:ext>
            </a:extLst>
          </p:cNvPr>
          <p:cNvSpPr>
            <a:spLocks noGrp="1"/>
          </p:cNvSpPr>
          <p:nvPr>
            <p:ph type="body" sz="quarter" idx="10"/>
          </p:nvPr>
        </p:nvSpPr>
        <p:spPr>
          <a:xfrm>
            <a:off x="7103286" y="1493927"/>
            <a:ext cx="2300284" cy="4981517"/>
          </a:xfrm>
        </p:spPr>
        <p:txBody>
          <a:bodyPr/>
          <a:lstStyle/>
          <a:p>
            <a:pPr>
              <a:buFont typeface="+mj-lt"/>
              <a:buAutoNum type="arabicPeriod"/>
            </a:pPr>
            <a:r>
              <a:rPr lang="ko-KR" altLang="en-US" dirty="0"/>
              <a:t>입찰결과</a:t>
            </a:r>
            <a:r>
              <a:rPr lang="en-US" altLang="ko-KR" dirty="0"/>
              <a:t>(</a:t>
            </a:r>
            <a:r>
              <a:rPr lang="ko-KR" altLang="en-US" dirty="0" err="1"/>
              <a:t>총액제</a:t>
            </a:r>
            <a:r>
              <a:rPr lang="en-US" altLang="ko-KR" dirty="0"/>
              <a:t>) </a:t>
            </a:r>
            <a:r>
              <a:rPr lang="ko-KR" altLang="en-US" dirty="0"/>
              <a:t>데이터 영역</a:t>
            </a:r>
          </a:p>
        </p:txBody>
      </p:sp>
      <p:sp>
        <p:nvSpPr>
          <p:cNvPr id="2" name="슬라이드 번호 개체 틀 1">
            <a:extLst>
              <a:ext uri="{FF2B5EF4-FFF2-40B4-BE49-F238E27FC236}">
                <a16:creationId xmlns:a16="http://schemas.microsoft.com/office/drawing/2014/main" id="{FCF34168-C6CD-46A8-A3C6-1A0350C93059}"/>
              </a:ext>
            </a:extLst>
          </p:cNvPr>
          <p:cNvSpPr>
            <a:spLocks noGrp="1"/>
          </p:cNvSpPr>
          <p:nvPr>
            <p:ph type="sldNum" sz="quarter" idx="4"/>
          </p:nvPr>
        </p:nvSpPr>
        <p:spPr>
          <a:xfrm>
            <a:off x="4336153" y="6596721"/>
            <a:ext cx="1258128" cy="216000"/>
          </a:xfrm>
        </p:spPr>
        <p:txBody>
          <a:bodyPr/>
          <a:lstStyle/>
          <a:p>
            <a:fld id="{34C8E023-7346-48FC-AB24-9A3388C53208}" type="slidenum">
              <a:rPr lang="ko-KR" altLang="en-US" smtClean="0"/>
              <a:pPr/>
              <a:t>442</a:t>
            </a:fld>
            <a:endParaRPr lang="ko-KR" altLang="en-US" dirty="0"/>
          </a:p>
        </p:txBody>
      </p:sp>
      <p:sp>
        <p:nvSpPr>
          <p:cNvPr id="10" name="텍스트 개체 틀 9">
            <a:extLst>
              <a:ext uri="{FF2B5EF4-FFF2-40B4-BE49-F238E27FC236}">
                <a16:creationId xmlns:a16="http://schemas.microsoft.com/office/drawing/2014/main" id="{D72B1D79-CE3C-9F24-3515-FEB8E153DBA8}"/>
              </a:ext>
            </a:extLst>
          </p:cNvPr>
          <p:cNvSpPr>
            <a:spLocks noGrp="1"/>
          </p:cNvSpPr>
          <p:nvPr>
            <p:ph type="body" sz="quarter" idx="12"/>
          </p:nvPr>
        </p:nvSpPr>
        <p:spPr/>
        <p:txBody>
          <a:bodyPr/>
          <a:lstStyle/>
          <a:p>
            <a:r>
              <a:rPr lang="ko-KR" altLang="en-US" dirty="0" err="1">
                <a:latin typeface="+mn-ea"/>
              </a:rPr>
              <a:t>공개수의협상결과조회</a:t>
            </a:r>
            <a:endParaRPr lang="ko-KR" altLang="en-US" dirty="0">
              <a:latin typeface="+mn-ea"/>
            </a:endParaRPr>
          </a:p>
        </p:txBody>
      </p:sp>
      <p:sp>
        <p:nvSpPr>
          <p:cNvPr id="11" name="텍스트 개체 틀 10">
            <a:extLst>
              <a:ext uri="{FF2B5EF4-FFF2-40B4-BE49-F238E27FC236}">
                <a16:creationId xmlns:a16="http://schemas.microsoft.com/office/drawing/2014/main" id="{1A39A19D-48F8-C100-E4B0-B66C476312EF}"/>
              </a:ext>
            </a:extLst>
          </p:cNvPr>
          <p:cNvSpPr>
            <a:spLocks noGrp="1"/>
          </p:cNvSpPr>
          <p:nvPr>
            <p:ph type="body" sz="quarter" idx="13"/>
          </p:nvPr>
        </p:nvSpPr>
        <p:spPr/>
        <p:txBody>
          <a:bodyPr/>
          <a:lstStyle/>
          <a:p>
            <a:pPr lvl="0" algn="just" fontAlgn="ctr">
              <a:lnSpc>
                <a:spcPct val="100000"/>
              </a:lnSpc>
              <a:spcBef>
                <a:spcPts val="0"/>
              </a:spcBef>
              <a:defRPr/>
            </a:pPr>
            <a:r>
              <a:rPr lang="ko-KR" altLang="en-US" dirty="0">
                <a:solidFill>
                  <a:srgbClr val="000000"/>
                </a:solidFill>
                <a:latin typeface="휴먼명조"/>
              </a:rPr>
              <a:t>공고의 </a:t>
            </a:r>
            <a:r>
              <a:rPr lang="ko-KR" altLang="en-US" dirty="0" err="1">
                <a:solidFill>
                  <a:srgbClr val="000000"/>
                </a:solidFill>
                <a:latin typeface="휴먼명조"/>
              </a:rPr>
              <a:t>수의협상</a:t>
            </a:r>
            <a:r>
              <a:rPr lang="ko-KR" altLang="en-US" dirty="0">
                <a:solidFill>
                  <a:srgbClr val="000000"/>
                </a:solidFill>
                <a:latin typeface="휴먼명조"/>
              </a:rPr>
              <a:t> 결과를 조회하는 화면</a:t>
            </a:r>
          </a:p>
        </p:txBody>
      </p:sp>
      <p:sp>
        <p:nvSpPr>
          <p:cNvPr id="12" name="텍스트 개체 틀 11">
            <a:extLst>
              <a:ext uri="{FF2B5EF4-FFF2-40B4-BE49-F238E27FC236}">
                <a16:creationId xmlns:a16="http://schemas.microsoft.com/office/drawing/2014/main" id="{12A7EEAD-A494-801C-77B8-2B1A8A6F95B8}"/>
              </a:ext>
            </a:extLst>
          </p:cNvPr>
          <p:cNvSpPr>
            <a:spLocks noGrp="1"/>
          </p:cNvSpPr>
          <p:nvPr>
            <p:ph type="body" sz="quarter" idx="14"/>
          </p:nvPr>
        </p:nvSpPr>
        <p:spPr/>
        <p:txBody>
          <a:bodyPr/>
          <a:lstStyle/>
          <a:p>
            <a:r>
              <a:rPr lang="ko-KR" altLang="en-US" dirty="0"/>
              <a:t>홈 </a:t>
            </a:r>
            <a:r>
              <a:rPr lang="en-US" altLang="ko-KR" dirty="0"/>
              <a:t>&gt; </a:t>
            </a:r>
            <a:r>
              <a:rPr lang="ko-KR" altLang="en-US" dirty="0">
                <a:latin typeface="+mn-ea"/>
              </a:rPr>
              <a:t>개찰 </a:t>
            </a:r>
            <a:r>
              <a:rPr lang="en-US" altLang="ko-KR" dirty="0">
                <a:latin typeface="+mn-ea"/>
              </a:rPr>
              <a:t>&gt; </a:t>
            </a:r>
            <a:r>
              <a:rPr lang="ko-KR" altLang="en-US" dirty="0" err="1">
                <a:latin typeface="+mn-ea"/>
              </a:rPr>
              <a:t>공개수의협상결과조회</a:t>
            </a:r>
            <a:endParaRPr lang="ko-KR" altLang="en-US" dirty="0">
              <a:latin typeface="+mn-ea"/>
            </a:endParaRPr>
          </a:p>
        </p:txBody>
      </p:sp>
      <p:sp>
        <p:nvSpPr>
          <p:cNvPr id="13" name="텍스트 개체 틀 12">
            <a:extLst>
              <a:ext uri="{FF2B5EF4-FFF2-40B4-BE49-F238E27FC236}">
                <a16:creationId xmlns:a16="http://schemas.microsoft.com/office/drawing/2014/main" id="{0643EE08-B324-56D6-CB41-C4D8C5E38320}"/>
              </a:ext>
            </a:extLst>
          </p:cNvPr>
          <p:cNvSpPr>
            <a:spLocks noGrp="1"/>
          </p:cNvSpPr>
          <p:nvPr>
            <p:ph type="body" sz="quarter" idx="15"/>
          </p:nvPr>
        </p:nvSpPr>
        <p:spPr/>
        <p:txBody>
          <a:bodyPr/>
          <a:lstStyle/>
          <a:p>
            <a:r>
              <a:rPr lang="en-US" altLang="ko-KR" dirty="0">
                <a:latin typeface="+mn-ea"/>
              </a:rPr>
              <a:t>MUI-BD-12-M83</a:t>
            </a:r>
            <a:endParaRPr lang="ko-KR" altLang="en-US" dirty="0"/>
          </a:p>
        </p:txBody>
      </p:sp>
      <p:sp>
        <p:nvSpPr>
          <p:cNvPr id="19" name="직사각형 18">
            <a:extLst>
              <a:ext uri="{FF2B5EF4-FFF2-40B4-BE49-F238E27FC236}">
                <a16:creationId xmlns:a16="http://schemas.microsoft.com/office/drawing/2014/main" id="{F56F1743-11A0-EA94-9184-4E42C0A37F9C}"/>
              </a:ext>
            </a:extLst>
          </p:cNvPr>
          <p:cNvSpPr/>
          <p:nvPr/>
        </p:nvSpPr>
        <p:spPr>
          <a:xfrm>
            <a:off x="675399"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타원 50">
            <a:extLst>
              <a:ext uri="{FF2B5EF4-FFF2-40B4-BE49-F238E27FC236}">
                <a16:creationId xmlns:a16="http://schemas.microsoft.com/office/drawing/2014/main" id="{37A7FF4F-0EAA-1463-560A-D5EC24416103}"/>
              </a:ext>
            </a:extLst>
          </p:cNvPr>
          <p:cNvSpPr/>
          <p:nvPr/>
        </p:nvSpPr>
        <p:spPr>
          <a:xfrm>
            <a:off x="571127" y="1576643"/>
            <a:ext cx="172130" cy="172130"/>
          </a:xfrm>
          <a:prstGeom prst="ellipse">
            <a:avLst/>
          </a:prstGeom>
          <a:solidFill>
            <a:schemeClr val="accent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t>1</a:t>
            </a:r>
            <a:endParaRPr lang="ko-KR" altLang="en-US" sz="900" b="1" dirty="0"/>
          </a:p>
        </p:txBody>
      </p:sp>
      <p:grpSp>
        <p:nvGrpSpPr>
          <p:cNvPr id="120" name="그룹 119"/>
          <p:cNvGrpSpPr/>
          <p:nvPr/>
        </p:nvGrpSpPr>
        <p:grpSpPr>
          <a:xfrm>
            <a:off x="716366" y="1527996"/>
            <a:ext cx="2630093" cy="3108252"/>
            <a:chOff x="701175" y="1527996"/>
            <a:chExt cx="2630093" cy="3108252"/>
          </a:xfrm>
        </p:grpSpPr>
        <p:sp>
          <p:nvSpPr>
            <p:cNvPr id="121" name="TextBox 120">
              <a:extLst>
                <a:ext uri="{FF2B5EF4-FFF2-40B4-BE49-F238E27FC236}">
                  <a16:creationId xmlns:a16="http://schemas.microsoft.com/office/drawing/2014/main" id="{FFC49AEA-2A8F-250C-A86A-A7751D9706C3}"/>
                </a:ext>
              </a:extLst>
            </p:cNvPr>
            <p:cNvSpPr txBox="1"/>
            <p:nvPr/>
          </p:nvSpPr>
          <p:spPr>
            <a:xfrm>
              <a:off x="762146" y="1527996"/>
              <a:ext cx="1279155" cy="181140"/>
            </a:xfrm>
            <a:prstGeom prst="rect">
              <a:avLst/>
            </a:prstGeom>
            <a:noFill/>
          </p:spPr>
          <p:txBody>
            <a:bodyPr wrap="square" lIns="0" tIns="0" rIns="0" bIns="0" rtlCol="0">
              <a:spAutoFit/>
            </a:bodyPr>
            <a:lstStyle/>
            <a:p>
              <a:pPr>
                <a:lnSpc>
                  <a:spcPct val="200000"/>
                </a:lnSpc>
              </a:pPr>
              <a:r>
                <a:rPr lang="ko-KR" altLang="en-US" sz="700" dirty="0">
                  <a:latin typeface="+mn-ea"/>
                </a:rPr>
                <a:t>조회 결과 </a:t>
              </a:r>
              <a:r>
                <a:rPr lang="en-US" altLang="ko-KR" sz="700" dirty="0">
                  <a:latin typeface="+mn-ea"/>
                </a:rPr>
                <a:t>- </a:t>
              </a:r>
              <a:r>
                <a:rPr lang="ko-KR" altLang="en-US" sz="700" dirty="0">
                  <a:latin typeface="+mn-ea"/>
                </a:rPr>
                <a:t>총 </a:t>
              </a:r>
              <a:r>
                <a:rPr lang="en-US" altLang="ko-KR" sz="700" dirty="0">
                  <a:latin typeface="+mn-ea"/>
                </a:rPr>
                <a:t>00</a:t>
              </a:r>
              <a:r>
                <a:rPr lang="ko-KR" altLang="en-US" sz="700" dirty="0">
                  <a:latin typeface="+mn-ea"/>
                </a:rPr>
                <a:t>건</a:t>
              </a:r>
            </a:p>
          </p:txBody>
        </p:sp>
        <p:sp>
          <p:nvSpPr>
            <p:cNvPr id="123" name="직사각형 122"/>
            <p:cNvSpPr/>
            <p:nvPr/>
          </p:nvSpPr>
          <p:spPr>
            <a:xfrm>
              <a:off x="703268" y="1835482"/>
              <a:ext cx="792000" cy="278777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4" name="TextBox 123">
              <a:extLst>
                <a:ext uri="{FF2B5EF4-FFF2-40B4-BE49-F238E27FC236}">
                  <a16:creationId xmlns:a16="http://schemas.microsoft.com/office/drawing/2014/main" id="{FFC49AEA-2A8F-250C-A86A-A7751D9706C3}"/>
                </a:ext>
              </a:extLst>
            </p:cNvPr>
            <p:cNvSpPr txBox="1"/>
            <p:nvPr/>
          </p:nvSpPr>
          <p:spPr>
            <a:xfrm>
              <a:off x="790330" y="1835481"/>
              <a:ext cx="728979" cy="2766463"/>
            </a:xfrm>
            <a:prstGeom prst="rect">
              <a:avLst/>
            </a:prstGeom>
            <a:noFill/>
          </p:spPr>
          <p:txBody>
            <a:bodyPr wrap="square" lIns="0" tIns="0" rIns="0" bIns="0" rtlCol="0">
              <a:spAutoFit/>
            </a:bodyPr>
            <a:lstStyle/>
            <a:p>
              <a:pPr>
                <a:lnSpc>
                  <a:spcPct val="200000"/>
                </a:lnSpc>
              </a:pPr>
              <a:r>
                <a:rPr lang="ko-KR" altLang="en-US" sz="700" dirty="0">
                  <a:latin typeface="+mn-ea"/>
                </a:rPr>
                <a:t>순번</a:t>
              </a:r>
            </a:p>
            <a:p>
              <a:pPr>
                <a:lnSpc>
                  <a:spcPct val="200000"/>
                </a:lnSpc>
              </a:pPr>
              <a:r>
                <a:rPr lang="ko-KR" altLang="en-US" sz="700" dirty="0">
                  <a:latin typeface="+mn-ea"/>
                </a:rPr>
                <a:t>신청업체코드</a:t>
              </a:r>
            </a:p>
            <a:p>
              <a:pPr>
                <a:lnSpc>
                  <a:spcPct val="200000"/>
                </a:lnSpc>
              </a:pPr>
              <a:r>
                <a:rPr lang="ko-KR" altLang="en-US" sz="700" dirty="0" err="1">
                  <a:latin typeface="+mn-ea"/>
                </a:rPr>
                <a:t>신청업체명</a:t>
              </a:r>
              <a:endParaRPr lang="ko-KR" altLang="en-US" sz="700" dirty="0">
                <a:latin typeface="+mn-ea"/>
              </a:endParaRPr>
            </a:p>
            <a:p>
              <a:pPr>
                <a:lnSpc>
                  <a:spcPct val="200000"/>
                </a:lnSpc>
              </a:pPr>
              <a:r>
                <a:rPr lang="ko-KR" altLang="en-US" sz="700" dirty="0">
                  <a:latin typeface="+mn-ea"/>
                </a:rPr>
                <a:t>입찰업체코드</a:t>
              </a:r>
            </a:p>
            <a:p>
              <a:pPr>
                <a:lnSpc>
                  <a:spcPct val="200000"/>
                </a:lnSpc>
              </a:pPr>
              <a:r>
                <a:rPr lang="ko-KR" altLang="en-US" sz="700" dirty="0" err="1">
                  <a:latin typeface="+mn-ea"/>
                </a:rPr>
                <a:t>입찰업체명</a:t>
              </a:r>
              <a:endParaRPr lang="ko-KR" altLang="en-US" sz="700" dirty="0">
                <a:latin typeface="+mn-ea"/>
              </a:endParaRPr>
            </a:p>
            <a:p>
              <a:pPr>
                <a:lnSpc>
                  <a:spcPct val="200000"/>
                </a:lnSpc>
              </a:pPr>
              <a:r>
                <a:rPr lang="ko-KR" altLang="en-US" sz="700" dirty="0">
                  <a:latin typeface="+mn-ea"/>
                </a:rPr>
                <a:t>제출서류</a:t>
              </a:r>
            </a:p>
            <a:p>
              <a:pPr>
                <a:lnSpc>
                  <a:spcPct val="200000"/>
                </a:lnSpc>
              </a:pPr>
              <a:r>
                <a:rPr lang="ko-KR" altLang="en-US" sz="700" dirty="0" err="1">
                  <a:latin typeface="+mn-ea"/>
                </a:rPr>
                <a:t>견적금액</a:t>
              </a:r>
              <a:endParaRPr lang="ko-KR" altLang="en-US" sz="700" dirty="0">
                <a:latin typeface="+mn-ea"/>
              </a:endParaRPr>
            </a:p>
            <a:p>
              <a:pPr>
                <a:lnSpc>
                  <a:spcPct val="200000"/>
                </a:lnSpc>
              </a:pPr>
              <a:r>
                <a:rPr lang="ko-KR" altLang="en-US" sz="700" dirty="0">
                  <a:latin typeface="+mn-ea"/>
                </a:rPr>
                <a:t>화폐단위</a:t>
              </a:r>
            </a:p>
            <a:p>
              <a:pPr>
                <a:lnSpc>
                  <a:spcPct val="200000"/>
                </a:lnSpc>
              </a:pPr>
              <a:r>
                <a:rPr lang="ko-KR" altLang="en-US" sz="700" dirty="0">
                  <a:latin typeface="+mn-ea"/>
                </a:rPr>
                <a:t>순위</a:t>
              </a:r>
            </a:p>
            <a:p>
              <a:pPr>
                <a:lnSpc>
                  <a:spcPct val="200000"/>
                </a:lnSpc>
              </a:pPr>
              <a:r>
                <a:rPr lang="ko-KR" altLang="en-US" sz="700" dirty="0" err="1">
                  <a:latin typeface="+mn-ea"/>
                </a:rPr>
                <a:t>낙찰여부</a:t>
              </a:r>
              <a:endParaRPr lang="ko-KR" altLang="en-US" sz="700" dirty="0">
                <a:latin typeface="+mn-ea"/>
              </a:endParaRPr>
            </a:p>
            <a:p>
              <a:pPr>
                <a:lnSpc>
                  <a:spcPct val="200000"/>
                </a:lnSpc>
              </a:pPr>
              <a:r>
                <a:rPr lang="ko-KR" altLang="en-US" sz="700" dirty="0" err="1">
                  <a:latin typeface="+mn-ea"/>
                </a:rPr>
                <a:t>탈락사유</a:t>
              </a:r>
              <a:endParaRPr lang="ko-KR" altLang="en-US" sz="700" dirty="0">
                <a:latin typeface="+mn-ea"/>
              </a:endParaRPr>
            </a:p>
            <a:p>
              <a:pPr>
                <a:lnSpc>
                  <a:spcPct val="200000"/>
                </a:lnSpc>
              </a:pPr>
              <a:r>
                <a:rPr lang="ko-KR" altLang="en-US" sz="700" dirty="0">
                  <a:latin typeface="+mn-ea"/>
                </a:rPr>
                <a:t>계약포기일자</a:t>
              </a:r>
            </a:p>
            <a:p>
              <a:pPr>
                <a:lnSpc>
                  <a:spcPct val="200000"/>
                </a:lnSpc>
              </a:pPr>
              <a:r>
                <a:rPr lang="ko-KR" altLang="en-US" sz="700" dirty="0">
                  <a:latin typeface="+mn-ea"/>
                </a:rPr>
                <a:t>계약포기사유</a:t>
              </a:r>
            </a:p>
          </p:txBody>
        </p:sp>
        <p:sp>
          <p:nvSpPr>
            <p:cNvPr id="125" name="TextBox 124">
              <a:extLst>
                <a:ext uri="{FF2B5EF4-FFF2-40B4-BE49-F238E27FC236}">
                  <a16:creationId xmlns:a16="http://schemas.microsoft.com/office/drawing/2014/main" id="{FFC49AEA-2A8F-250C-A86A-A7751D9706C3}"/>
                </a:ext>
              </a:extLst>
            </p:cNvPr>
            <p:cNvSpPr txBox="1"/>
            <p:nvPr/>
          </p:nvSpPr>
          <p:spPr>
            <a:xfrm>
              <a:off x="1547180" y="1835481"/>
              <a:ext cx="1775839" cy="2800767"/>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7001F</a:t>
              </a:r>
            </a:p>
            <a:p>
              <a:pPr>
                <a:lnSpc>
                  <a:spcPct val="200000"/>
                </a:lnSpc>
              </a:pPr>
              <a:r>
                <a:rPr lang="en-US" altLang="ko-KR" sz="700" dirty="0">
                  <a:latin typeface="+mn-ea"/>
                </a:rPr>
                <a:t>A </a:t>
              </a:r>
              <a:r>
                <a:rPr lang="ko-KR" altLang="en-US" sz="700" dirty="0" err="1">
                  <a:latin typeface="맑은 고딕" panose="020B0503020000020004" pitchFamily="50" charset="-127"/>
                  <a:cs typeface="Segoe UI" panose="020B0502040204020203" pitchFamily="34" charset="0"/>
                </a:rPr>
                <a:t>무역대리점</a:t>
              </a: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latin typeface="+mn-ea"/>
                </a:rPr>
                <a:t>7004F</a:t>
              </a:r>
            </a:p>
            <a:p>
              <a:pPr>
                <a:lnSpc>
                  <a:spcPct val="200000"/>
                </a:lnSpc>
              </a:pPr>
              <a:r>
                <a:rPr lang="en-US" altLang="ko-KR" sz="700" dirty="0">
                  <a:latin typeface="맑은 고딕" panose="020B0503020000020004" pitchFamily="50" charset="-127"/>
                  <a:cs typeface="Segoe UI" panose="020B0502040204020203" pitchFamily="34" charset="0"/>
                </a:rPr>
                <a:t>B </a:t>
              </a:r>
              <a:r>
                <a:rPr lang="ko-KR" altLang="en-US" sz="700" dirty="0">
                  <a:latin typeface="맑은 고딕" panose="020B0503020000020004" pitchFamily="50" charset="-127"/>
                  <a:cs typeface="Segoe UI" panose="020B0502040204020203" pitchFamily="34" charset="0"/>
                </a:rPr>
                <a:t>해외업체</a:t>
              </a: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solidFill>
                    <a:srgbClr val="0070C0"/>
                  </a:solidFill>
                  <a:latin typeface="맑은 고딕" panose="020B0503020000020004" pitchFamily="50" charset="-127"/>
                  <a:cs typeface="Segoe UI" panose="020B0502040204020203" pitchFamily="34" charset="0"/>
                </a:rPr>
                <a:t>O</a:t>
              </a:r>
            </a:p>
            <a:p>
              <a:pPr algn="r">
                <a:lnSpc>
                  <a:spcPct val="200000"/>
                </a:lnSpc>
              </a:pPr>
              <a:r>
                <a:rPr lang="en-US" altLang="ko-KR" sz="700" dirty="0">
                  <a:latin typeface="맑은 고딕" panose="020B0503020000020004" pitchFamily="50" charset="-127"/>
                  <a:cs typeface="Segoe UI" panose="020B0502040204020203" pitchFamily="34" charset="0"/>
                </a:rPr>
                <a:t>98,000,000.00</a:t>
              </a:r>
            </a:p>
            <a:p>
              <a:pPr>
                <a:lnSpc>
                  <a:spcPct val="200000"/>
                </a:lnSpc>
              </a:pPr>
              <a:r>
                <a:rPr lang="en-US" altLang="ko-KR" sz="700" dirty="0">
                  <a:latin typeface="맑은 고딕" panose="020B0503020000020004" pitchFamily="50" charset="-127"/>
                  <a:cs typeface="Segoe UI" panose="020B0502040204020203" pitchFamily="34" charset="0"/>
                </a:rPr>
                <a:t>USD</a:t>
              </a:r>
            </a:p>
            <a:p>
              <a:pPr>
                <a:lnSpc>
                  <a:spcPct val="200000"/>
                </a:lnSpc>
              </a:pPr>
              <a:r>
                <a:rPr lang="en-US" altLang="ko-KR" sz="700" dirty="0">
                  <a:latin typeface="맑은 고딕" panose="020B0503020000020004" pitchFamily="50" charset="-127"/>
                  <a:cs typeface="Segoe UI" panose="020B0502040204020203" pitchFamily="34" charset="0"/>
                </a:rPr>
                <a:t>1</a:t>
              </a:r>
            </a:p>
            <a:p>
              <a:pPr>
                <a:lnSpc>
                  <a:spcPct val="200000"/>
                </a:lnSpc>
              </a:pPr>
              <a:r>
                <a:rPr lang="ko-KR" altLang="en-US" sz="700" dirty="0">
                  <a:latin typeface="맑은 고딕" panose="020B0503020000020004" pitchFamily="50" charset="-127"/>
                  <a:cs typeface="Segoe UI" panose="020B0502040204020203" pitchFamily="34" charset="0"/>
                </a:rPr>
                <a:t>낙찰</a:t>
              </a:r>
              <a:endParaRPr lang="en-US" altLang="ko-KR" sz="700" dirty="0">
                <a:latin typeface="맑은 고딕" panose="020B0503020000020004" pitchFamily="50" charset="-127"/>
                <a:cs typeface="Segoe UI" panose="020B0502040204020203" pitchFamily="34" charset="0"/>
              </a:endParaRPr>
            </a:p>
            <a:p>
              <a:pPr>
                <a:lnSpc>
                  <a:spcPct val="200000"/>
                </a:lnSpc>
              </a:pP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latin typeface="맑은 고딕" panose="020B0503020000020004" pitchFamily="50" charset="-127"/>
                  <a:cs typeface="Segoe UI" panose="020B0502040204020203" pitchFamily="34" charset="0"/>
                </a:rPr>
                <a:t>2025-12-11</a:t>
              </a:r>
            </a:p>
            <a:p>
              <a:pPr>
                <a:lnSpc>
                  <a:spcPct val="200000"/>
                </a:lnSpc>
              </a:pPr>
              <a:r>
                <a:rPr lang="ko-KR" altLang="en-US" sz="700" dirty="0">
                  <a:latin typeface="맑은 고딕" panose="020B0503020000020004" pitchFamily="50" charset="-127"/>
                  <a:cs typeface="Segoe UI" panose="020B0502040204020203" pitchFamily="34" charset="0"/>
                </a:rPr>
                <a:t>계약 포기 사유 표시</a:t>
              </a:r>
              <a:endParaRPr lang="en-US" altLang="ko-KR" sz="700" dirty="0">
                <a:latin typeface="+mn-ea"/>
              </a:endParaRPr>
            </a:p>
          </p:txBody>
        </p:sp>
        <p:grpSp>
          <p:nvGrpSpPr>
            <p:cNvPr id="126" name="그룹 125"/>
            <p:cNvGrpSpPr/>
            <p:nvPr/>
          </p:nvGrpSpPr>
          <p:grpSpPr>
            <a:xfrm>
              <a:off x="701175" y="1835481"/>
              <a:ext cx="2630093" cy="2787779"/>
              <a:chOff x="701175" y="1835481"/>
              <a:chExt cx="2630093" cy="2787779"/>
            </a:xfrm>
          </p:grpSpPr>
          <p:cxnSp>
            <p:nvCxnSpPr>
              <p:cNvPr id="127" name="직선 연결선 126">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8" name="직선 연결선 127">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29" name="직선 연결선 128">
                <a:extLst>
                  <a:ext uri="{FF2B5EF4-FFF2-40B4-BE49-F238E27FC236}">
                    <a16:creationId xmlns:a16="http://schemas.microsoft.com/office/drawing/2014/main" id="{E9293055-D5CD-4B9E-7F64-64B2D2CA7A52}"/>
                  </a:ext>
                </a:extLst>
              </p:cNvPr>
              <p:cNvCxnSpPr/>
              <p:nvPr/>
            </p:nvCxnSpPr>
            <p:spPr>
              <a:xfrm>
                <a:off x="703268" y="2266368"/>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2" name="직선 연결선 131">
                <a:extLst>
                  <a:ext uri="{FF2B5EF4-FFF2-40B4-BE49-F238E27FC236}">
                    <a16:creationId xmlns:a16="http://schemas.microsoft.com/office/drawing/2014/main" id="{E9293055-D5CD-4B9E-7F64-64B2D2CA7A52}"/>
                  </a:ext>
                </a:extLst>
              </p:cNvPr>
              <p:cNvCxnSpPr/>
              <p:nvPr/>
            </p:nvCxnSpPr>
            <p:spPr>
              <a:xfrm>
                <a:off x="701175" y="248501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3" name="직선 연결선 132">
                <a:extLst>
                  <a:ext uri="{FF2B5EF4-FFF2-40B4-BE49-F238E27FC236}">
                    <a16:creationId xmlns:a16="http://schemas.microsoft.com/office/drawing/2014/main" id="{E9293055-D5CD-4B9E-7F64-64B2D2CA7A52}"/>
                  </a:ext>
                </a:extLst>
              </p:cNvPr>
              <p:cNvCxnSpPr/>
              <p:nvPr/>
            </p:nvCxnSpPr>
            <p:spPr>
              <a:xfrm>
                <a:off x="703268" y="2699750"/>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4" name="직선 연결선 133">
                <a:extLst>
                  <a:ext uri="{FF2B5EF4-FFF2-40B4-BE49-F238E27FC236}">
                    <a16:creationId xmlns:a16="http://schemas.microsoft.com/office/drawing/2014/main" id="{E9293055-D5CD-4B9E-7F64-64B2D2CA7A52}"/>
                  </a:ext>
                </a:extLst>
              </p:cNvPr>
              <p:cNvCxnSpPr/>
              <p:nvPr/>
            </p:nvCxnSpPr>
            <p:spPr>
              <a:xfrm>
                <a:off x="703268" y="2915897"/>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35" name="직선 연결선 134">
                <a:extLst>
                  <a:ext uri="{FF2B5EF4-FFF2-40B4-BE49-F238E27FC236}">
                    <a16:creationId xmlns:a16="http://schemas.microsoft.com/office/drawing/2014/main" id="{E9293055-D5CD-4B9E-7F64-64B2D2CA7A52}"/>
                  </a:ext>
                </a:extLst>
              </p:cNvPr>
              <p:cNvCxnSpPr/>
              <p:nvPr/>
            </p:nvCxnSpPr>
            <p:spPr>
              <a:xfrm>
                <a:off x="701175" y="3135393"/>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2" name="직선 연결선 51">
                <a:extLst>
                  <a:ext uri="{FF2B5EF4-FFF2-40B4-BE49-F238E27FC236}">
                    <a16:creationId xmlns:a16="http://schemas.microsoft.com/office/drawing/2014/main" id="{E9293055-D5CD-4B9E-7F64-64B2D2CA7A52}"/>
                  </a:ext>
                </a:extLst>
              </p:cNvPr>
              <p:cNvCxnSpPr/>
              <p:nvPr/>
            </p:nvCxnSpPr>
            <p:spPr>
              <a:xfrm>
                <a:off x="703268" y="3335496"/>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3" name="직선 연결선 52">
                <a:extLst>
                  <a:ext uri="{FF2B5EF4-FFF2-40B4-BE49-F238E27FC236}">
                    <a16:creationId xmlns:a16="http://schemas.microsoft.com/office/drawing/2014/main" id="{E9293055-D5CD-4B9E-7F64-64B2D2CA7A52}"/>
                  </a:ext>
                </a:extLst>
              </p:cNvPr>
              <p:cNvCxnSpPr/>
              <p:nvPr/>
            </p:nvCxnSpPr>
            <p:spPr>
              <a:xfrm>
                <a:off x="703268" y="355164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4" name="직선 연결선 53">
                <a:extLst>
                  <a:ext uri="{FF2B5EF4-FFF2-40B4-BE49-F238E27FC236}">
                    <a16:creationId xmlns:a16="http://schemas.microsoft.com/office/drawing/2014/main" id="{E9293055-D5CD-4B9E-7F64-64B2D2CA7A52}"/>
                  </a:ext>
                </a:extLst>
              </p:cNvPr>
              <p:cNvCxnSpPr/>
              <p:nvPr/>
            </p:nvCxnSpPr>
            <p:spPr>
              <a:xfrm>
                <a:off x="701175" y="3770285"/>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5" name="직선 연결선 54">
                <a:extLst>
                  <a:ext uri="{FF2B5EF4-FFF2-40B4-BE49-F238E27FC236}">
                    <a16:creationId xmlns:a16="http://schemas.microsoft.com/office/drawing/2014/main" id="{E9293055-D5CD-4B9E-7F64-64B2D2CA7A52}"/>
                  </a:ext>
                </a:extLst>
              </p:cNvPr>
              <p:cNvCxnSpPr/>
              <p:nvPr/>
            </p:nvCxnSpPr>
            <p:spPr>
              <a:xfrm>
                <a:off x="703268" y="3985025"/>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6" name="직선 연결선 55">
                <a:extLst>
                  <a:ext uri="{FF2B5EF4-FFF2-40B4-BE49-F238E27FC236}">
                    <a16:creationId xmlns:a16="http://schemas.microsoft.com/office/drawing/2014/main" id="{E9293055-D5CD-4B9E-7F64-64B2D2CA7A52}"/>
                  </a:ext>
                </a:extLst>
              </p:cNvPr>
              <p:cNvCxnSpPr/>
              <p:nvPr/>
            </p:nvCxnSpPr>
            <p:spPr>
              <a:xfrm>
                <a:off x="703268" y="4201172"/>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7" name="직선 연결선 56">
                <a:extLst>
                  <a:ext uri="{FF2B5EF4-FFF2-40B4-BE49-F238E27FC236}">
                    <a16:creationId xmlns:a16="http://schemas.microsoft.com/office/drawing/2014/main" id="{E9293055-D5CD-4B9E-7F64-64B2D2CA7A52}"/>
                  </a:ext>
                </a:extLst>
              </p:cNvPr>
              <p:cNvCxnSpPr/>
              <p:nvPr/>
            </p:nvCxnSpPr>
            <p:spPr>
              <a:xfrm>
                <a:off x="701175" y="4420668"/>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직선 연결선 57">
                <a:extLst>
                  <a:ext uri="{FF2B5EF4-FFF2-40B4-BE49-F238E27FC236}">
                    <a16:creationId xmlns:a16="http://schemas.microsoft.com/office/drawing/2014/main" id="{E9293055-D5CD-4B9E-7F64-64B2D2CA7A52}"/>
                  </a:ext>
                </a:extLst>
              </p:cNvPr>
              <p:cNvCxnSpPr/>
              <p:nvPr/>
            </p:nvCxnSpPr>
            <p:spPr>
              <a:xfrm>
                <a:off x="701175" y="4623260"/>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grpSp>
      <p:sp>
        <p:nvSpPr>
          <p:cNvPr id="145" name="사각형: 둥근 모서리 31">
            <a:extLst>
              <a:ext uri="{FF2B5EF4-FFF2-40B4-BE49-F238E27FC236}">
                <a16:creationId xmlns:a16="http://schemas.microsoft.com/office/drawing/2014/main" id="{2AC143EE-93CF-3518-F0CB-8469E98507E0}"/>
              </a:ext>
            </a:extLst>
          </p:cNvPr>
          <p:cNvSpPr/>
          <p:nvPr/>
        </p:nvSpPr>
        <p:spPr>
          <a:xfrm>
            <a:off x="3928441" y="5868571"/>
            <a:ext cx="2446613" cy="242486"/>
          </a:xfrm>
          <a:prstGeom prst="roundRect">
            <a:avLst/>
          </a:prstGeom>
          <a:noFill/>
          <a:ln w="12700" cap="flat" cmpd="sng" algn="ctr">
            <a:solidFill>
              <a:srgbClr val="0070C0"/>
            </a:solidFill>
            <a:prstDash val="solid"/>
          </a:ln>
          <a:effectLst/>
        </p:spPr>
        <p:txBody>
          <a:bodyPr lIns="0" tIns="0" rIns="0" bIns="0" rtlCol="0" anchor="ctr"/>
          <a:ls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800" kern="0" dirty="0" err="1">
                <a:solidFill>
                  <a:srgbClr val="0070C0"/>
                </a:solidFill>
                <a:latin typeface="맑은 고딕"/>
                <a:ea typeface="맑은 고딕" panose="020B0503020000020004" pitchFamily="50" charset="-127"/>
              </a:rPr>
              <a:t>더보기</a:t>
            </a:r>
            <a:r>
              <a:rPr kumimoji="1" lang="ko-KR" altLang="en-US" sz="800" kern="0" dirty="0">
                <a:solidFill>
                  <a:srgbClr val="0070C0"/>
                </a:solidFill>
                <a:latin typeface="맑은 고딕"/>
                <a:ea typeface="맑은 고딕" panose="020B0503020000020004" pitchFamily="50" charset="-127"/>
              </a:rPr>
              <a:t> </a:t>
            </a:r>
            <a:r>
              <a:rPr kumimoji="1" lang="en-US" altLang="ko-KR" sz="800" kern="0" dirty="0">
                <a:solidFill>
                  <a:srgbClr val="0070C0"/>
                </a:solidFill>
                <a:latin typeface="맑은 고딕"/>
                <a:ea typeface="맑은 고딕" panose="020B0503020000020004" pitchFamily="50" charset="-127"/>
              </a:rPr>
              <a:t>(10/258)</a:t>
            </a:r>
            <a:endParaRPr kumimoji="1" lang="en-US" sz="800" b="0" i="0" u="none" strike="noStrike" kern="0" cap="none" spc="0" normalizeH="0" baseline="0" noProof="0" dirty="0">
              <a:ln>
                <a:noFill/>
              </a:ln>
              <a:solidFill>
                <a:srgbClr val="0070C0"/>
              </a:solidFill>
              <a:effectLst/>
              <a:uLnTx/>
              <a:uFillTx/>
              <a:latin typeface="맑은 고딕"/>
            </a:endParaRPr>
          </a:p>
        </p:txBody>
      </p:sp>
      <p:grpSp>
        <p:nvGrpSpPr>
          <p:cNvPr id="146" name="그룹 145">
            <a:extLst>
              <a:ext uri="{FF2B5EF4-FFF2-40B4-BE49-F238E27FC236}">
                <a16:creationId xmlns:a16="http://schemas.microsoft.com/office/drawing/2014/main" id="{22BC05EE-C648-7CA2-4CCC-6E1C1A7E9BDA}"/>
              </a:ext>
            </a:extLst>
          </p:cNvPr>
          <p:cNvGrpSpPr/>
          <p:nvPr/>
        </p:nvGrpSpPr>
        <p:grpSpPr>
          <a:xfrm>
            <a:off x="5113316" y="5070784"/>
            <a:ext cx="76863" cy="292489"/>
            <a:chOff x="3750067" y="4683795"/>
            <a:chExt cx="76863" cy="292489"/>
          </a:xfrm>
        </p:grpSpPr>
        <p:sp>
          <p:nvSpPr>
            <p:cNvPr id="147" name="타원 146">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8" name="타원 147">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149" name="타원 148">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grpSp>
        <p:nvGrpSpPr>
          <p:cNvPr id="180" name="그룹 179"/>
          <p:cNvGrpSpPr/>
          <p:nvPr/>
        </p:nvGrpSpPr>
        <p:grpSpPr>
          <a:xfrm>
            <a:off x="717412" y="4625394"/>
            <a:ext cx="2628000" cy="216222"/>
            <a:chOff x="703268" y="2694441"/>
            <a:chExt cx="2628000" cy="216222"/>
          </a:xfrm>
        </p:grpSpPr>
        <p:cxnSp>
          <p:nvCxnSpPr>
            <p:cNvPr id="184" name="직선 연결선 183">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85" name="직선 연결선 184">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86" name="사각형: 둥근 모서리 15">
            <a:extLst>
              <a:ext uri="{FF2B5EF4-FFF2-40B4-BE49-F238E27FC236}">
                <a16:creationId xmlns:a16="http://schemas.microsoft.com/office/drawing/2014/main" id="{E2B61CFB-AD16-68D0-8752-50D9C5E01971}"/>
              </a:ext>
            </a:extLst>
          </p:cNvPr>
          <p:cNvSpPr/>
          <p:nvPr/>
        </p:nvSpPr>
        <p:spPr>
          <a:xfrm>
            <a:off x="790250" y="4651933"/>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kern="0" dirty="0"/>
              <a:t>내역 접기 ↑</a:t>
            </a:r>
            <a:endParaRPr kumimoji="1" lang="en-US" altLang="ko-KR" sz="700" kern="0" dirty="0"/>
          </a:p>
        </p:txBody>
      </p:sp>
      <p:grpSp>
        <p:nvGrpSpPr>
          <p:cNvPr id="3" name="그룹 2"/>
          <p:cNvGrpSpPr/>
          <p:nvPr/>
        </p:nvGrpSpPr>
        <p:grpSpPr>
          <a:xfrm>
            <a:off x="3836031" y="3218712"/>
            <a:ext cx="2631433" cy="1075183"/>
            <a:chOff x="3820170" y="3474433"/>
            <a:chExt cx="2631433" cy="1075183"/>
          </a:xfrm>
        </p:grpSpPr>
        <p:sp>
          <p:nvSpPr>
            <p:cNvPr id="144" name="직사각형 143"/>
            <p:cNvSpPr/>
            <p:nvPr/>
          </p:nvSpPr>
          <p:spPr>
            <a:xfrm>
              <a:off x="3820170" y="3474433"/>
              <a:ext cx="792000" cy="8651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0" name="TextBox 149">
              <a:extLst>
                <a:ext uri="{FF2B5EF4-FFF2-40B4-BE49-F238E27FC236}">
                  <a16:creationId xmlns:a16="http://schemas.microsoft.com/office/drawing/2014/main" id="{FFC49AEA-2A8F-250C-A86A-A7751D9706C3}"/>
                </a:ext>
              </a:extLst>
            </p:cNvPr>
            <p:cNvSpPr txBox="1"/>
            <p:nvPr/>
          </p:nvSpPr>
          <p:spPr>
            <a:xfrm>
              <a:off x="3910666" y="3474434"/>
              <a:ext cx="725552" cy="827471"/>
            </a:xfrm>
            <a:prstGeom prst="rect">
              <a:avLst/>
            </a:prstGeom>
            <a:noFill/>
          </p:spPr>
          <p:txBody>
            <a:bodyPr wrap="square" lIns="0" tIns="0" rIns="0" bIns="0" rtlCol="0">
              <a:spAutoFit/>
            </a:bodyPr>
            <a:lstStyle/>
            <a:p>
              <a:pPr>
                <a:lnSpc>
                  <a:spcPct val="200000"/>
                </a:lnSpc>
              </a:pPr>
              <a:r>
                <a:rPr lang="ko-KR" altLang="en-US" sz="700" dirty="0">
                  <a:latin typeface="+mn-ea"/>
                </a:rPr>
                <a:t>순번</a:t>
              </a:r>
            </a:p>
            <a:p>
              <a:pPr>
                <a:lnSpc>
                  <a:spcPct val="200000"/>
                </a:lnSpc>
              </a:pPr>
              <a:r>
                <a:rPr lang="ko-KR" altLang="en-US" sz="700" dirty="0">
                  <a:latin typeface="+mn-ea"/>
                </a:rPr>
                <a:t>신청업체코드</a:t>
              </a:r>
            </a:p>
            <a:p>
              <a:pPr>
                <a:lnSpc>
                  <a:spcPct val="200000"/>
                </a:lnSpc>
              </a:pPr>
              <a:r>
                <a:rPr lang="ko-KR" altLang="en-US" sz="700" dirty="0" err="1">
                  <a:latin typeface="+mn-ea"/>
                </a:rPr>
                <a:t>신청업체명</a:t>
              </a:r>
              <a:endParaRPr lang="ko-KR" altLang="en-US" sz="700" dirty="0">
                <a:latin typeface="+mn-ea"/>
              </a:endParaRPr>
            </a:p>
            <a:p>
              <a:pPr>
                <a:lnSpc>
                  <a:spcPct val="200000"/>
                </a:lnSpc>
              </a:pPr>
              <a:r>
                <a:rPr lang="ko-KR" altLang="en-US" sz="700" dirty="0">
                  <a:latin typeface="+mn-ea"/>
                </a:rPr>
                <a:t>입찰업체코드</a:t>
              </a:r>
            </a:p>
          </p:txBody>
        </p:sp>
        <p:grpSp>
          <p:nvGrpSpPr>
            <p:cNvPr id="151" name="그룹 150"/>
            <p:cNvGrpSpPr/>
            <p:nvPr/>
          </p:nvGrpSpPr>
          <p:grpSpPr>
            <a:xfrm>
              <a:off x="3821510" y="3474434"/>
              <a:ext cx="2630093" cy="1075182"/>
              <a:chOff x="701175" y="1835481"/>
              <a:chExt cx="2630093" cy="1075182"/>
            </a:xfrm>
          </p:grpSpPr>
          <p:cxnSp>
            <p:nvCxnSpPr>
              <p:cNvPr id="152" name="직선 연결선 151">
                <a:extLst>
                  <a:ext uri="{FF2B5EF4-FFF2-40B4-BE49-F238E27FC236}">
                    <a16:creationId xmlns:a16="http://schemas.microsoft.com/office/drawing/2014/main" id="{E9293055-D5CD-4B9E-7F64-64B2D2CA7A52}"/>
                  </a:ext>
                </a:extLst>
              </p:cNvPr>
              <p:cNvCxnSpPr/>
              <p:nvPr/>
            </p:nvCxnSpPr>
            <p:spPr>
              <a:xfrm>
                <a:off x="701175" y="1835481"/>
                <a:ext cx="2621844"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3" name="직선 연결선 152">
                <a:extLst>
                  <a:ext uri="{FF2B5EF4-FFF2-40B4-BE49-F238E27FC236}">
                    <a16:creationId xmlns:a16="http://schemas.microsoft.com/office/drawing/2014/main" id="{E9293055-D5CD-4B9E-7F64-64B2D2CA7A52}"/>
                  </a:ext>
                </a:extLst>
              </p:cNvPr>
              <p:cNvCxnSpPr/>
              <p:nvPr/>
            </p:nvCxnSpPr>
            <p:spPr>
              <a:xfrm>
                <a:off x="703268" y="205022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4" name="직선 연결선 153">
                <a:extLst>
                  <a:ext uri="{FF2B5EF4-FFF2-40B4-BE49-F238E27FC236}">
                    <a16:creationId xmlns:a16="http://schemas.microsoft.com/office/drawing/2014/main" id="{E9293055-D5CD-4B9E-7F64-64B2D2CA7A52}"/>
                  </a:ext>
                </a:extLst>
              </p:cNvPr>
              <p:cNvCxnSpPr/>
              <p:nvPr/>
            </p:nvCxnSpPr>
            <p:spPr>
              <a:xfrm>
                <a:off x="703268" y="226496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55" name="직선 연결선 154">
                <a:extLst>
                  <a:ext uri="{FF2B5EF4-FFF2-40B4-BE49-F238E27FC236}">
                    <a16:creationId xmlns:a16="http://schemas.microsoft.com/office/drawing/2014/main" id="{E9293055-D5CD-4B9E-7F64-64B2D2CA7A52}"/>
                  </a:ext>
                </a:extLst>
              </p:cNvPr>
              <p:cNvCxnSpPr/>
              <p:nvPr/>
            </p:nvCxnSpPr>
            <p:spPr>
              <a:xfrm>
                <a:off x="703268" y="247970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5" name="직선 연결선 174">
                <a:extLst>
                  <a:ext uri="{FF2B5EF4-FFF2-40B4-BE49-F238E27FC236}">
                    <a16:creationId xmlns:a16="http://schemas.microsoft.com/office/drawing/2014/main" id="{E9293055-D5CD-4B9E-7F64-64B2D2CA7A52}"/>
                  </a:ext>
                </a:extLst>
              </p:cNvPr>
              <p:cNvCxnSpPr/>
              <p:nvPr/>
            </p:nvCxnSpPr>
            <p:spPr>
              <a:xfrm>
                <a:off x="703268" y="2694441"/>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76" name="직선 연결선 175">
                <a:extLst>
                  <a:ext uri="{FF2B5EF4-FFF2-40B4-BE49-F238E27FC236}">
                    <a16:creationId xmlns:a16="http://schemas.microsoft.com/office/drawing/2014/main" id="{E9293055-D5CD-4B9E-7F64-64B2D2CA7A52}"/>
                  </a:ext>
                </a:extLst>
              </p:cNvPr>
              <p:cNvCxnSpPr/>
              <p:nvPr/>
            </p:nvCxnSpPr>
            <p:spPr>
              <a:xfrm>
                <a:off x="703268" y="2910663"/>
                <a:ext cx="2628000" cy="0"/>
              </a:xfrm>
              <a:prstGeom prst="line">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7" name="TextBox 176">
              <a:extLst>
                <a:ext uri="{FF2B5EF4-FFF2-40B4-BE49-F238E27FC236}">
                  <a16:creationId xmlns:a16="http://schemas.microsoft.com/office/drawing/2014/main" id="{FFC49AEA-2A8F-250C-A86A-A7751D9706C3}"/>
                </a:ext>
              </a:extLst>
            </p:cNvPr>
            <p:cNvSpPr txBox="1"/>
            <p:nvPr/>
          </p:nvSpPr>
          <p:spPr>
            <a:xfrm>
              <a:off x="4667515" y="3474434"/>
              <a:ext cx="1784088" cy="827471"/>
            </a:xfrm>
            <a:prstGeom prst="rect">
              <a:avLst/>
            </a:prstGeom>
            <a:noFill/>
          </p:spPr>
          <p:txBody>
            <a:bodyPr wrap="square" lIns="0" tIns="0" rIns="0" bIns="0" rtlCol="0">
              <a:spAutoFit/>
            </a:bodyPr>
            <a:lstStyle/>
            <a:p>
              <a:pPr>
                <a:lnSpc>
                  <a:spcPct val="200000"/>
                </a:lnSpc>
              </a:pPr>
              <a:r>
                <a:rPr lang="en-US" altLang="ko-KR" sz="700" dirty="0">
                  <a:latin typeface="+mn-ea"/>
                </a:rPr>
                <a:t>1</a:t>
              </a:r>
            </a:p>
            <a:p>
              <a:pPr>
                <a:lnSpc>
                  <a:spcPct val="200000"/>
                </a:lnSpc>
              </a:pPr>
              <a:r>
                <a:rPr lang="en-US" altLang="ko-KR" sz="700" dirty="0">
                  <a:latin typeface="+mn-ea"/>
                </a:rPr>
                <a:t>7001F</a:t>
              </a:r>
            </a:p>
            <a:p>
              <a:pPr>
                <a:lnSpc>
                  <a:spcPct val="200000"/>
                </a:lnSpc>
              </a:pPr>
              <a:r>
                <a:rPr lang="en-US" altLang="ko-KR" sz="700" dirty="0">
                  <a:latin typeface="+mn-ea"/>
                </a:rPr>
                <a:t>A </a:t>
              </a:r>
              <a:r>
                <a:rPr lang="ko-KR" altLang="en-US" sz="700" dirty="0" err="1">
                  <a:latin typeface="맑은 고딕" panose="020B0503020000020004" pitchFamily="50" charset="-127"/>
                  <a:cs typeface="Segoe UI" panose="020B0502040204020203" pitchFamily="34" charset="0"/>
                </a:rPr>
                <a:t>무역대리점</a:t>
              </a:r>
              <a:endParaRPr lang="en-US" altLang="ko-KR" sz="700" dirty="0">
                <a:latin typeface="맑은 고딕" panose="020B0503020000020004" pitchFamily="50" charset="-127"/>
                <a:cs typeface="Segoe UI" panose="020B0502040204020203" pitchFamily="34" charset="0"/>
              </a:endParaRPr>
            </a:p>
            <a:p>
              <a:pPr>
                <a:lnSpc>
                  <a:spcPct val="200000"/>
                </a:lnSpc>
              </a:pPr>
              <a:r>
                <a:rPr lang="en-US" altLang="ko-KR" sz="700" dirty="0">
                  <a:latin typeface="+mn-ea"/>
                </a:rPr>
                <a:t>7004F</a:t>
              </a:r>
            </a:p>
          </p:txBody>
        </p:sp>
        <p:sp>
          <p:nvSpPr>
            <p:cNvPr id="179" name="사각형: 둥근 모서리 15">
              <a:extLst>
                <a:ext uri="{FF2B5EF4-FFF2-40B4-BE49-F238E27FC236}">
                  <a16:creationId xmlns:a16="http://schemas.microsoft.com/office/drawing/2014/main" id="{E2B61CFB-AD16-68D0-8752-50D9C5E01971}"/>
                </a:ext>
              </a:extLst>
            </p:cNvPr>
            <p:cNvSpPr/>
            <p:nvPr/>
          </p:nvSpPr>
          <p:spPr>
            <a:xfrm>
              <a:off x="3933132" y="4359933"/>
              <a:ext cx="2482324" cy="162000"/>
            </a:xfrm>
            <a:prstGeom prst="roundRect">
              <a:avLst/>
            </a:prstGeom>
            <a:noFill/>
            <a:ln w="12700" cap="flat" cmpd="sng" algn="ctr">
              <a:solidFill>
                <a:schemeClr val="tx1"/>
              </a:solidFill>
              <a:prstDash val="solid"/>
            </a:ln>
            <a:effectLst/>
          </p:spPr>
          <p:txBody>
            <a:bodyPr lIns="0" tIns="0" rIns="0" bIns="0" rtlCol="0" anchor="ctr"/>
            <a:lstStyle/>
            <a:p>
              <a:pPr lvl="0" algn="ctr" fontAlgn="base" latinLnBrk="0">
                <a:spcBef>
                  <a:spcPct val="0"/>
                </a:spcBef>
                <a:spcAft>
                  <a:spcPct val="0"/>
                </a:spcAft>
                <a:defRPr/>
              </a:pPr>
              <a:r>
                <a:rPr kumimoji="1" lang="ko-KR" altLang="en-US" sz="700" b="0" i="0" u="none" strike="noStrike" kern="0" cap="none" spc="0" normalizeH="0" baseline="0" noProof="0" dirty="0">
                  <a:ln>
                    <a:noFill/>
                  </a:ln>
                  <a:effectLst/>
                  <a:uLnTx/>
                  <a:uFillTx/>
                  <a:latin typeface="맑은 고딕"/>
                </a:rPr>
                <a:t>내역 </a:t>
              </a:r>
              <a:r>
                <a:rPr kumimoji="1" lang="ko-KR" altLang="en-US" sz="700" kern="0" dirty="0"/>
                <a:t>펼쳐보기 ↓</a:t>
              </a:r>
              <a:endParaRPr kumimoji="1" lang="en-US" sz="700" b="0" i="0" u="none" strike="noStrike" kern="0" cap="none" spc="0" normalizeH="0" baseline="0" noProof="0" dirty="0">
                <a:ln>
                  <a:noFill/>
                </a:ln>
                <a:effectLst/>
                <a:uLnTx/>
                <a:uFillTx/>
                <a:latin typeface="맑은 고딕"/>
              </a:endParaRPr>
            </a:p>
          </p:txBody>
        </p:sp>
      </p:grpSp>
      <p:sp>
        <p:nvSpPr>
          <p:cNvPr id="50" name="직사각형 49">
            <a:extLst>
              <a:ext uri="{FF2B5EF4-FFF2-40B4-BE49-F238E27FC236}">
                <a16:creationId xmlns:a16="http://schemas.microsoft.com/office/drawing/2014/main" id="{F56F1743-11A0-EA94-9184-4E42C0A37F9C}"/>
              </a:ext>
            </a:extLst>
          </p:cNvPr>
          <p:cNvSpPr/>
          <p:nvPr/>
        </p:nvSpPr>
        <p:spPr>
          <a:xfrm>
            <a:off x="3795734" y="1493927"/>
            <a:ext cx="2712027" cy="4738372"/>
          </a:xfrm>
          <a:prstGeom prst="rect">
            <a:avLst/>
          </a:prstGeom>
          <a:noFill/>
          <a:ln w="317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59" name="그룹 58">
            <a:extLst>
              <a:ext uri="{FF2B5EF4-FFF2-40B4-BE49-F238E27FC236}">
                <a16:creationId xmlns:a16="http://schemas.microsoft.com/office/drawing/2014/main" id="{22BC05EE-C648-7CA2-4CCC-6E1C1A7E9BDA}"/>
              </a:ext>
            </a:extLst>
          </p:cNvPr>
          <p:cNvGrpSpPr/>
          <p:nvPr/>
        </p:nvGrpSpPr>
        <p:grpSpPr>
          <a:xfrm>
            <a:off x="5113316" y="2388597"/>
            <a:ext cx="76863" cy="292489"/>
            <a:chOff x="3750067" y="4683795"/>
            <a:chExt cx="76863" cy="292489"/>
          </a:xfrm>
        </p:grpSpPr>
        <p:sp>
          <p:nvSpPr>
            <p:cNvPr id="60" name="타원 59">
              <a:extLst>
                <a:ext uri="{FF2B5EF4-FFF2-40B4-BE49-F238E27FC236}">
                  <a16:creationId xmlns:a16="http://schemas.microsoft.com/office/drawing/2014/main" id="{B62EC5A9-8616-6B01-4FB1-D38CF6C29F0E}"/>
                </a:ext>
              </a:extLst>
            </p:cNvPr>
            <p:cNvSpPr/>
            <p:nvPr/>
          </p:nvSpPr>
          <p:spPr>
            <a:xfrm>
              <a:off x="3750067" y="4683795"/>
              <a:ext cx="76863" cy="76863"/>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1" name="타원 60">
              <a:extLst>
                <a:ext uri="{FF2B5EF4-FFF2-40B4-BE49-F238E27FC236}">
                  <a16:creationId xmlns:a16="http://schemas.microsoft.com/office/drawing/2014/main" id="{0D32B1A6-219D-1D15-5FDD-889D3F5740C1}"/>
                </a:ext>
              </a:extLst>
            </p:cNvPr>
            <p:cNvSpPr/>
            <p:nvPr/>
          </p:nvSpPr>
          <p:spPr>
            <a:xfrm>
              <a:off x="3750067" y="4791517"/>
              <a:ext cx="76863" cy="76863"/>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sp>
          <p:nvSpPr>
            <p:cNvPr id="62" name="타원 61">
              <a:extLst>
                <a:ext uri="{FF2B5EF4-FFF2-40B4-BE49-F238E27FC236}">
                  <a16:creationId xmlns:a16="http://schemas.microsoft.com/office/drawing/2014/main" id="{F347D62C-1828-433E-F5ED-51C6591859DD}"/>
                </a:ext>
              </a:extLst>
            </p:cNvPr>
            <p:cNvSpPr/>
            <p:nvPr/>
          </p:nvSpPr>
          <p:spPr>
            <a:xfrm>
              <a:off x="3750067" y="4899421"/>
              <a:ext cx="76863" cy="7686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a:p>
          </p:txBody>
        </p:sp>
      </p:grpSp>
      <p:sp>
        <p:nvSpPr>
          <p:cNvPr id="63" name="사각형: 둥근 모서리 15">
            <a:extLst>
              <a:ext uri="{FF2B5EF4-FFF2-40B4-BE49-F238E27FC236}">
                <a16:creationId xmlns:a16="http://schemas.microsoft.com/office/drawing/2014/main" id="{E2B61CFB-AD16-68D0-8752-50D9C5E01971}"/>
              </a:ext>
            </a:extLst>
          </p:cNvPr>
          <p:cNvSpPr/>
          <p:nvPr/>
        </p:nvSpPr>
        <p:spPr>
          <a:xfrm>
            <a:off x="2836921" y="2954000"/>
            <a:ext cx="494347" cy="162000"/>
          </a:xfrm>
          <a:prstGeom prst="roundRect">
            <a:avLst/>
          </a:prstGeom>
          <a:noFill/>
          <a:ln w="12700" cap="flat" cmpd="sng" algn="ctr">
            <a:solidFill>
              <a:srgbClr val="0070C0"/>
            </a:solidFill>
            <a:prstDash val="solid"/>
          </a:ln>
          <a:effectLst/>
        </p:spPr>
        <p:txBody>
          <a:bodyPr lIns="0" tIns="0" rIns="0" bIns="0"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1" lang="ko-KR" altLang="en-US" sz="700" b="0" i="0" u="none" strike="noStrike" kern="0" cap="none" spc="0" normalizeH="0" baseline="0" noProof="0" dirty="0">
                <a:ln>
                  <a:noFill/>
                </a:ln>
                <a:solidFill>
                  <a:srgbClr val="0070C0"/>
                </a:solidFill>
                <a:effectLst/>
                <a:uLnTx/>
                <a:uFillTx/>
                <a:latin typeface="맑은 고딕"/>
              </a:rPr>
              <a:t>보기</a:t>
            </a:r>
            <a:endParaRPr kumimoji="1" lang="en-US" sz="700" b="0" i="0" u="none" strike="noStrike" kern="0" cap="none" spc="0" normalizeH="0" baseline="0" noProof="0" dirty="0">
              <a:ln>
                <a:noFill/>
              </a:ln>
              <a:solidFill>
                <a:srgbClr val="0070C0"/>
              </a:solidFill>
              <a:effectLst/>
              <a:uLnTx/>
              <a:uFillTx/>
              <a:latin typeface="맑은 고딕"/>
            </a:endParaRPr>
          </a:p>
        </p:txBody>
      </p:sp>
    </p:spTree>
    <p:extLst>
      <p:ext uri="{BB962C8B-B14F-4D97-AF65-F5344CB8AC3E}">
        <p14:creationId xmlns:p14="http://schemas.microsoft.com/office/powerpoint/2010/main" val="4123150148"/>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443</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(1/2)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563770" cy="211203"/>
          </a:xfrm>
          <a:prstGeom prst="rect">
            <a:avLst/>
          </a:prstGeom>
          <a:noFill/>
        </p:spPr>
        <p:txBody>
          <a:bodyPr wrap="none" lIns="36000" tIns="36000" rIns="36000" bIns="36000" rtlCol="0">
            <a:spAutoFit/>
          </a:bodyPr>
          <a:lstStyle/>
          <a:p>
            <a:r>
              <a:rPr lang="en-US" altLang="ko-KR" sz="900" b="1" dirty="0">
                <a:solidFill>
                  <a:prstClr val="black"/>
                </a:solidFill>
              </a:rPr>
              <a:t>1.1. </a:t>
            </a:r>
            <a:r>
              <a:rPr lang="ko-KR" altLang="en-US" sz="900" b="1" dirty="0">
                <a:solidFill>
                  <a:prstClr val="black"/>
                </a:solidFill>
              </a:rPr>
              <a:t>공고일반 데이터 영역 </a:t>
            </a:r>
            <a:r>
              <a:rPr lang="en-US" altLang="ko-KR" sz="900" b="1" dirty="0">
                <a:solidFill>
                  <a:prstClr val="black"/>
                </a:solidFill>
              </a:rPr>
              <a:t>(</a:t>
            </a:r>
            <a:r>
              <a:rPr lang="en-US" altLang="ko-KR" sz="900" b="1" dirty="0" err="1">
                <a:solidFill>
                  <a:prstClr val="black"/>
                </a:solidFill>
              </a:rPr>
              <a:t>dm_pbancGnrlInfo</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329664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a:latin typeface="+mn-ea"/>
                          <a:ea typeface="+mn-ea"/>
                        </a:rPr>
                        <a:t>한글</a:t>
                      </a:r>
                      <a:r>
                        <a:rPr lang="en-US" altLang="ko-KR" sz="800" b="1">
                          <a:latin typeface="+mn-ea"/>
                          <a:ea typeface="+mn-ea"/>
                        </a:rPr>
                        <a:t>)</a:t>
                      </a:r>
                      <a:endParaRPr lang="en-US" altLang="ko-KR"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공고의 공고번호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7</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pbancOd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공고차수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2380311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공고구분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pbancType</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공고구분</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(ANTC)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90042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pbancRqstYmd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922642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prchsDmndNo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구매요청번호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756792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dirty="0" err="1">
                          <a:solidFill>
                            <a:srgbClr val="000000"/>
                          </a:solidFill>
                          <a:effectLst/>
                          <a:latin typeface="맑은 고딕" panose="020B0503020000020004" pitchFamily="50" charset="-127"/>
                          <a:ea typeface="맑은 고딕" panose="020B0503020000020004" pitchFamily="50" charset="-127"/>
                        </a:rPr>
                        <a:t>intgRfrncNo</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통합참조번호</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30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3615514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bizNm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사업명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7610874"/>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ctrtMthdNm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계약방법</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(CTMC)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50690520"/>
                  </a:ext>
                </a:extLst>
              </a:tr>
              <a:tr h="0">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sumDrctnAmt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총금액</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달러금액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371677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itemQty</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품목수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247947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etdcDdlnDt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견적서제출마감일시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1168734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exchrtAplcnYmd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환율적용일자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2227807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bdopnDt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공고의 개찰일시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14</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489028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picDeptNm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부서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784464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담당자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방위사업청담당자 성명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picTlno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err="1">
                          <a:solidFill>
                            <a:srgbClr val="000000"/>
                          </a:solidFill>
                          <a:effectLst/>
                          <a:latin typeface="맑은 고딕" panose="020B0503020000020004" pitchFamily="50" charset="-127"/>
                          <a:ea typeface="맑은 고딕" panose="020B0503020000020004" pitchFamily="50" charset="-127"/>
                        </a:rPr>
                        <a:t>방위사업청담당자</a:t>
                      </a: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 연락처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489374094"/>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슬라이드 번호 개체 틀 2">
            <a:extLst>
              <a:ext uri="{FF2B5EF4-FFF2-40B4-BE49-F238E27FC236}">
                <a16:creationId xmlns:a16="http://schemas.microsoft.com/office/drawing/2014/main" id="{CFD9DB9D-BEE3-7D00-725F-B5ADE65B7449}"/>
              </a:ext>
            </a:extLst>
          </p:cNvPr>
          <p:cNvSpPr>
            <a:spLocks noGrp="1"/>
          </p:cNvSpPr>
          <p:nvPr>
            <p:ph type="sldNum" sz="quarter" idx="4"/>
          </p:nvPr>
        </p:nvSpPr>
        <p:spPr/>
        <p:txBody>
          <a:bodyPr/>
          <a:lstStyle/>
          <a:p>
            <a:fld id="{9DF8E3FD-B4FB-473B-BCAD-C4534B9A9D97}" type="slidenum">
              <a:rPr lang="ko-KR" altLang="en-US" smtClean="0"/>
              <a:pPr/>
              <a:t>444</a:t>
            </a:fld>
            <a:endParaRPr lang="ko-KR" altLang="en-US" dirty="0"/>
          </a:p>
        </p:txBody>
      </p:sp>
      <p:sp>
        <p:nvSpPr>
          <p:cNvPr id="21" name="TextBox 20">
            <a:extLst>
              <a:ext uri="{FF2B5EF4-FFF2-40B4-BE49-F238E27FC236}">
                <a16:creationId xmlns:a16="http://schemas.microsoft.com/office/drawing/2014/main" id="{0DB257CD-DFF9-C20A-42B1-86A5BD32A090}"/>
              </a:ext>
            </a:extLst>
          </p:cNvPr>
          <p:cNvSpPr txBox="1"/>
          <p:nvPr/>
        </p:nvSpPr>
        <p:spPr>
          <a:xfrm>
            <a:off x="458117" y="572956"/>
            <a:ext cx="1124273" cy="226591"/>
          </a:xfrm>
          <a:prstGeom prst="rect">
            <a:avLst/>
          </a:prstGeom>
          <a:noFill/>
        </p:spPr>
        <p:txBody>
          <a:bodyPr wrap="none" lIns="36000" tIns="36000" rIns="36000" bIns="36000" rtlCol="0">
            <a:spAutoFit/>
          </a:bodyPr>
          <a:lstStyle/>
          <a:p>
            <a:r>
              <a:rPr lang="en-US" altLang="ko-KR" sz="1000" b="1" dirty="0">
                <a:solidFill>
                  <a:prstClr val="black"/>
                </a:solidFill>
              </a:rPr>
              <a:t>1. </a:t>
            </a:r>
            <a:r>
              <a:rPr lang="ko-KR" altLang="en-US" sz="1000" b="1" dirty="0">
                <a:solidFill>
                  <a:prstClr val="black"/>
                </a:solidFill>
              </a:rPr>
              <a:t>항목 설명 </a:t>
            </a:r>
            <a:r>
              <a:rPr lang="en-US" altLang="ko-KR" sz="1000" b="1" dirty="0">
                <a:solidFill>
                  <a:prstClr val="black"/>
                </a:solidFill>
              </a:rPr>
              <a:t>(2/2)</a:t>
            </a:r>
            <a:endParaRPr lang="ko-KR" altLang="en-US" sz="1000" b="1" dirty="0">
              <a:solidFill>
                <a:prstClr val="black"/>
              </a:solidFill>
            </a:endParaRPr>
          </a:p>
        </p:txBody>
      </p:sp>
      <p:sp>
        <p:nvSpPr>
          <p:cNvPr id="22" name="TextBox 21">
            <a:extLst>
              <a:ext uri="{FF2B5EF4-FFF2-40B4-BE49-F238E27FC236}">
                <a16:creationId xmlns:a16="http://schemas.microsoft.com/office/drawing/2014/main" id="{88947F42-24A6-AC12-410B-185FD576E1C3}"/>
              </a:ext>
            </a:extLst>
          </p:cNvPr>
          <p:cNvSpPr txBox="1"/>
          <p:nvPr/>
        </p:nvSpPr>
        <p:spPr>
          <a:xfrm>
            <a:off x="458117" y="803113"/>
            <a:ext cx="2275229" cy="211203"/>
          </a:xfrm>
          <a:prstGeom prst="rect">
            <a:avLst/>
          </a:prstGeom>
          <a:noFill/>
        </p:spPr>
        <p:txBody>
          <a:bodyPr wrap="none" lIns="36000" tIns="36000" rIns="36000" bIns="36000" rtlCol="0">
            <a:spAutoFit/>
          </a:bodyPr>
          <a:lstStyle/>
          <a:p>
            <a:r>
              <a:rPr lang="en-US" altLang="ko-KR" sz="900" b="1" dirty="0">
                <a:solidFill>
                  <a:prstClr val="black"/>
                </a:solidFill>
              </a:rPr>
              <a:t>1.2. </a:t>
            </a:r>
            <a:r>
              <a:rPr lang="ko-KR" altLang="en-US" sz="900" b="1" dirty="0">
                <a:solidFill>
                  <a:prstClr val="black"/>
                </a:solidFill>
              </a:rPr>
              <a:t>조회결과 데이터 영역 </a:t>
            </a:r>
            <a:r>
              <a:rPr lang="en-US" altLang="ko-KR" sz="900" b="1" dirty="0">
                <a:solidFill>
                  <a:prstClr val="black"/>
                </a:solidFill>
              </a:rPr>
              <a:t>(</a:t>
            </a:r>
            <a:r>
              <a:rPr lang="en-US" altLang="ko-KR" sz="900" b="1" dirty="0" err="1">
                <a:solidFill>
                  <a:prstClr val="black"/>
                </a:solidFill>
              </a:rPr>
              <a:t>dl_bidRsltList</a:t>
            </a:r>
            <a:r>
              <a:rPr lang="en-US" altLang="ko-KR" sz="900" b="1" dirty="0">
                <a:solidFill>
                  <a:prstClr val="black"/>
                </a:solidFill>
              </a:rPr>
              <a:t>)</a:t>
            </a:r>
            <a:endParaRPr lang="ko-KR" altLang="en-US" sz="900" b="1" dirty="0">
              <a:solidFill>
                <a:prstClr val="black"/>
              </a:solidFill>
            </a:endParaRPr>
          </a:p>
        </p:txBody>
      </p:sp>
      <p:graphicFrame>
        <p:nvGraphicFramePr>
          <p:cNvPr id="25" name="표 24">
            <a:extLst>
              <a:ext uri="{FF2B5EF4-FFF2-40B4-BE49-F238E27FC236}">
                <a16:creationId xmlns:a16="http://schemas.microsoft.com/office/drawing/2014/main" id="{0D7D7297-5C46-7078-D2CB-A9F2A55503A6}"/>
              </a:ext>
            </a:extLst>
          </p:cNvPr>
          <p:cNvGraphicFramePr>
            <a:graphicFrameLocks noGrp="1"/>
          </p:cNvGraphicFramePr>
          <p:nvPr/>
        </p:nvGraphicFramePr>
        <p:xfrm>
          <a:off x="452999" y="1014316"/>
          <a:ext cx="8994883" cy="2714880"/>
        </p:xfrm>
        <a:graphic>
          <a:graphicData uri="http://schemas.openxmlformats.org/drawingml/2006/table">
            <a:tbl>
              <a:tblPr>
                <a:tableStyleId>{616DA210-FB5B-4158-B5E0-FEB733F419BA}</a:tableStyleId>
              </a:tblPr>
              <a:tblGrid>
                <a:gridCol w="1124360">
                  <a:extLst>
                    <a:ext uri="{9D8B030D-6E8A-4147-A177-3AD203B41FA5}">
                      <a16:colId xmlns:a16="http://schemas.microsoft.com/office/drawing/2014/main" val="20000"/>
                    </a:ext>
                  </a:extLst>
                </a:gridCol>
                <a:gridCol w="1124360">
                  <a:extLst>
                    <a:ext uri="{9D8B030D-6E8A-4147-A177-3AD203B41FA5}">
                      <a16:colId xmlns:a16="http://schemas.microsoft.com/office/drawing/2014/main" val="2834569402"/>
                    </a:ext>
                  </a:extLst>
                </a:gridCol>
                <a:gridCol w="2998294">
                  <a:extLst>
                    <a:ext uri="{9D8B030D-6E8A-4147-A177-3AD203B41FA5}">
                      <a16:colId xmlns:a16="http://schemas.microsoft.com/office/drawing/2014/main" val="20001"/>
                    </a:ext>
                  </a:extLst>
                </a:gridCol>
                <a:gridCol w="449744">
                  <a:extLst>
                    <a:ext uri="{9D8B030D-6E8A-4147-A177-3AD203B41FA5}">
                      <a16:colId xmlns:a16="http://schemas.microsoft.com/office/drawing/2014/main" val="20002"/>
                    </a:ext>
                  </a:extLst>
                </a:gridCol>
                <a:gridCol w="524702">
                  <a:extLst>
                    <a:ext uri="{9D8B030D-6E8A-4147-A177-3AD203B41FA5}">
                      <a16:colId xmlns:a16="http://schemas.microsoft.com/office/drawing/2014/main" val="20003"/>
                    </a:ext>
                  </a:extLst>
                </a:gridCol>
                <a:gridCol w="524702">
                  <a:extLst>
                    <a:ext uri="{9D8B030D-6E8A-4147-A177-3AD203B41FA5}">
                      <a16:colId xmlns:a16="http://schemas.microsoft.com/office/drawing/2014/main" val="20004"/>
                    </a:ext>
                  </a:extLst>
                </a:gridCol>
                <a:gridCol w="2248721">
                  <a:extLst>
                    <a:ext uri="{9D8B030D-6E8A-4147-A177-3AD203B41FA5}">
                      <a16:colId xmlns:a16="http://schemas.microsoft.com/office/drawing/2014/main" val="20005"/>
                    </a:ext>
                  </a:extLst>
                </a:gridCol>
              </a:tblGrid>
              <a:tr h="0">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항목명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속성</a:t>
                      </a:r>
                      <a:r>
                        <a:rPr lang="en-US" altLang="ko-KR" sz="800" b="1" baseline="30000" dirty="0">
                          <a:latin typeface="+mn-ea"/>
                          <a:ea typeface="+mn-ea"/>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필수여부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err="1">
                          <a:latin typeface="+mn-ea"/>
                          <a:ea typeface="+mn-ea"/>
                        </a:rPr>
                        <a:t>자리수</a:t>
                      </a:r>
                      <a:r>
                        <a:rPr lang="en-US" altLang="ko-KR" sz="800" b="1" baseline="30000" dirty="0">
                          <a:latin typeface="+mn-ea"/>
                          <a:ea typeface="+mn-ea"/>
                        </a:rPr>
                        <a:t>2)</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no</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순번</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5432038"/>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sbtBzentyNm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신청업체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6839150"/>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splyBzentyCd</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입찰업체 업체코드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378379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splyBzentyNm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입찰업체 업체명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752396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제출서류</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docSbmsnYn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제출된 서류 유무</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2373216"/>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estmtAmt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제출된 견적금액</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25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69689307"/>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crncNm</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견적금액의 화폐단위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r>
                        <a:rPr lang="ko-KR" altLang="en-US" sz="800" dirty="0">
                          <a:latin typeface="+mn-ea"/>
                          <a:ea typeface="+mn-ea"/>
                        </a:rPr>
                        <a:t>상위코드</a:t>
                      </a:r>
                      <a:r>
                        <a:rPr lang="en-US" altLang="ko-KR" sz="800" dirty="0">
                          <a:latin typeface="+mn-ea"/>
                          <a:ea typeface="+mn-ea"/>
                        </a:rPr>
                        <a:t>(FCUC)</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4761392"/>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순위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rnk</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결과순위</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15</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13820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낙찰여부</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scsbdYn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낙찰여부</a:t>
                      </a:r>
                      <a:endParaRPr lang="en-US" altLang="ko-KR"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Y</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1</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구분 </a:t>
                      </a:r>
                      <a:r>
                        <a:rPr lang="en-US" altLang="ko-KR" sz="800" dirty="0">
                          <a:latin typeface="+mn-ea"/>
                          <a:ea typeface="+mn-ea"/>
                        </a:rPr>
                        <a:t>(</a:t>
                      </a:r>
                      <a:r>
                        <a:rPr lang="ko-KR" altLang="en-US" sz="800" b="0" i="0" u="none" strike="noStrike" dirty="0">
                          <a:solidFill>
                            <a:srgbClr val="000000"/>
                          </a:solidFill>
                          <a:effectLst/>
                          <a:latin typeface="맑은 고딕" panose="020B0503020000020004" pitchFamily="50" charset="-127"/>
                          <a:ea typeface="+mn-ea"/>
                        </a:rPr>
                        <a:t>낙찰</a:t>
                      </a:r>
                      <a:r>
                        <a:rPr lang="en-US" altLang="ko-KR" sz="800" b="0" i="0" u="none" strike="noStrike" dirty="0">
                          <a:solidFill>
                            <a:srgbClr val="000000"/>
                          </a:solidFill>
                          <a:effectLst/>
                          <a:latin typeface="맑은 고딕" panose="020B0503020000020004" pitchFamily="50" charset="-127"/>
                          <a:ea typeface="+mn-ea"/>
                        </a:rPr>
                        <a:t>/</a:t>
                      </a:r>
                      <a:r>
                        <a:rPr lang="ko-KR" altLang="en-US" sz="800" b="0" i="0" u="none" strike="noStrike" dirty="0">
                          <a:solidFill>
                            <a:srgbClr val="000000"/>
                          </a:solidFill>
                          <a:effectLst/>
                          <a:latin typeface="맑은 고딕" panose="020B0503020000020004" pitchFamily="50" charset="-127"/>
                          <a:ea typeface="+mn-ea"/>
                        </a:rPr>
                        <a:t>탈락</a:t>
                      </a:r>
                      <a:r>
                        <a:rPr lang="en-US" altLang="ko-KR" sz="800" b="0" i="0" u="none" strike="noStrike" dirty="0">
                          <a:solidFill>
                            <a:srgbClr val="000000"/>
                          </a:solidFill>
                          <a:effectLst/>
                          <a:latin typeface="맑은 고딕" panose="020B0503020000020004" pitchFamily="50" charset="-127"/>
                          <a:ea typeface="+mn-ea"/>
                        </a:rPr>
                        <a: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8368625"/>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탈락사유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탈락사유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4843369"/>
                  </a:ext>
                </a:extLst>
              </a:tr>
              <a:tr h="0">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계약포기일자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abndDt</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a:solidFill>
                            <a:srgbClr val="000000"/>
                          </a:solidFill>
                          <a:effectLst/>
                          <a:latin typeface="맑은 고딕" panose="020B0503020000020004" pitchFamily="50" charset="-127"/>
                          <a:ea typeface="맑은 고딕" panose="020B0503020000020004" pitchFamily="50" charset="-127"/>
                        </a:rPr>
                        <a:t>계약포기일자</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8</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4393445"/>
                  </a:ext>
                </a:extLst>
              </a:tr>
              <a:tr h="0">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계약포기사유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sz="800" b="0" i="0" u="none" strike="noStrike">
                          <a:solidFill>
                            <a:srgbClr val="000000"/>
                          </a:solidFill>
                          <a:effectLst/>
                          <a:latin typeface="맑은 고딕" panose="020B0503020000020004" pitchFamily="50" charset="-127"/>
                          <a:ea typeface="맑은 고딕" panose="020B0503020000020004" pitchFamily="50" charset="-127"/>
                        </a:rPr>
                        <a:t>abndRsn</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ko-KR" altLang="en-US" sz="800" b="0" i="0" u="none" strike="noStrike" dirty="0">
                          <a:solidFill>
                            <a:srgbClr val="000000"/>
                          </a:solidFill>
                          <a:effectLst/>
                          <a:latin typeface="맑은 고딕" panose="020B0503020000020004" pitchFamily="50" charset="-127"/>
                          <a:ea typeface="맑은 고딕" panose="020B0503020000020004" pitchFamily="50" charset="-127"/>
                        </a:rPr>
                        <a:t>계약포기사유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lang="en-US" altLang="ko-KR" sz="800" dirty="0">
                          <a:latin typeface="+mn-ea"/>
                          <a:ea typeface="+mn-ea"/>
                        </a:rPr>
                        <a:t>R</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mn-cs"/>
                        </a:rPr>
                        <a:t>N</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ctr"/>
                      <a:r>
                        <a:rPr lang="en-US" altLang="ko-KR" sz="800" b="0" i="0" u="none" strike="noStrike">
                          <a:solidFill>
                            <a:srgbClr val="000000"/>
                          </a:solidFill>
                          <a:effectLst/>
                          <a:latin typeface="맑은 고딕" panose="020B0503020000020004" pitchFamily="50" charset="-127"/>
                          <a:ea typeface="맑은 고딕" panose="020B0503020000020004" pitchFamily="50" charset="-127"/>
                        </a:rPr>
                        <a:t>4000</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latinLnBrk="1"/>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6904637"/>
                  </a:ext>
                </a:extLst>
              </a:tr>
            </a:tbl>
          </a:graphicData>
        </a:graphic>
      </p:graphicFrame>
      <p:sp>
        <p:nvSpPr>
          <p:cNvPr id="4" name="Text Box 73">
            <a:extLst>
              <a:ext uri="{FF2B5EF4-FFF2-40B4-BE49-F238E27FC236}">
                <a16:creationId xmlns:a16="http://schemas.microsoft.com/office/drawing/2014/main" id="{82EF0CE9-DED8-8668-1E8B-289E7F39F75F}"/>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속성 </a:t>
            </a:r>
            <a:r>
              <a:rPr lang="en-US" altLang="ko-KR" sz="700" dirty="0">
                <a:solidFill>
                  <a:prstClr val="black"/>
                </a:solidFill>
                <a:latin typeface="+mn-ea"/>
              </a:rPr>
              <a:t>R:ReadOnly  E:Editable  H:Hidden     2)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10599753"/>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번호 개체 틀 1">
            <a:extLst>
              <a:ext uri="{FF2B5EF4-FFF2-40B4-BE49-F238E27FC236}">
                <a16:creationId xmlns:a16="http://schemas.microsoft.com/office/drawing/2014/main" id="{97FA44C3-68D2-A790-27CD-BBA5F8FEB82E}"/>
              </a:ext>
            </a:extLst>
          </p:cNvPr>
          <p:cNvSpPr>
            <a:spLocks noGrp="1"/>
          </p:cNvSpPr>
          <p:nvPr>
            <p:ph type="sldNum" sz="quarter" idx="4"/>
          </p:nvPr>
        </p:nvSpPr>
        <p:spPr/>
        <p:txBody>
          <a:bodyPr/>
          <a:lstStyle/>
          <a:p>
            <a:fld id="{34C8E023-7346-48FC-AB24-9A3388C53208}" type="slidenum">
              <a:rPr lang="ko-KR" altLang="en-US" smtClean="0"/>
              <a:pPr/>
              <a:t>445</a:t>
            </a:fld>
            <a:endParaRPr lang="ko-KR" altLang="en-US" dirty="0"/>
          </a:p>
        </p:txBody>
      </p:sp>
      <p:sp>
        <p:nvSpPr>
          <p:cNvPr id="3" name="TextBox 2">
            <a:extLst>
              <a:ext uri="{FF2B5EF4-FFF2-40B4-BE49-F238E27FC236}">
                <a16:creationId xmlns:a16="http://schemas.microsoft.com/office/drawing/2014/main" id="{BC1631CE-45D9-95D4-010F-992F6EC1140E}"/>
              </a:ext>
            </a:extLst>
          </p:cNvPr>
          <p:cNvSpPr txBox="1"/>
          <p:nvPr/>
        </p:nvSpPr>
        <p:spPr>
          <a:xfrm>
            <a:off x="458117" y="570183"/>
            <a:ext cx="911074" cy="226591"/>
          </a:xfrm>
          <a:prstGeom prst="rect">
            <a:avLst/>
          </a:prstGeom>
          <a:noFill/>
        </p:spPr>
        <p:txBody>
          <a:bodyPr wrap="none" lIns="36000" tIns="36000" rIns="36000" bIns="36000" rtlCol="0">
            <a:spAutoFit/>
          </a:bodyPr>
          <a:lstStyle/>
          <a:p>
            <a:r>
              <a:rPr lang="en-US" altLang="ko-KR" sz="1000" b="1" dirty="0">
                <a:solidFill>
                  <a:prstClr val="black"/>
                </a:solidFill>
                <a:latin typeface="+mn-ea"/>
              </a:rPr>
              <a:t>2.</a:t>
            </a:r>
            <a:r>
              <a:rPr lang="ko-KR" altLang="en-US" sz="1000" b="1" dirty="0">
                <a:solidFill>
                  <a:prstClr val="black"/>
                </a:solidFill>
                <a:latin typeface="+mn-ea"/>
              </a:rPr>
              <a:t> 이벤트 설명</a:t>
            </a:r>
          </a:p>
        </p:txBody>
      </p:sp>
      <p:graphicFrame>
        <p:nvGraphicFramePr>
          <p:cNvPr id="4" name="표 3">
            <a:extLst>
              <a:ext uri="{FF2B5EF4-FFF2-40B4-BE49-F238E27FC236}">
                <a16:creationId xmlns:a16="http://schemas.microsoft.com/office/drawing/2014/main" id="{69442E0F-14EC-B5E0-ED68-80781A841AF9}"/>
              </a:ext>
            </a:extLst>
          </p:cNvPr>
          <p:cNvGraphicFramePr>
            <a:graphicFrameLocks noGrp="1"/>
          </p:cNvGraphicFramePr>
          <p:nvPr>
            <p:extLst>
              <p:ext uri="{D42A27DB-BD31-4B8C-83A1-F6EECF244321}">
                <p14:modId xmlns:p14="http://schemas.microsoft.com/office/powerpoint/2010/main" val="2258419260"/>
              </p:ext>
            </p:extLst>
          </p:nvPr>
        </p:nvGraphicFramePr>
        <p:xfrm>
          <a:off x="458117" y="799547"/>
          <a:ext cx="8995591" cy="703680"/>
        </p:xfrm>
        <a:graphic>
          <a:graphicData uri="http://schemas.openxmlformats.org/drawingml/2006/table">
            <a:tbl>
              <a:tblPr>
                <a:tableStyleId>{616DA210-FB5B-4158-B5E0-FEB733F419BA}</a:tableStyleId>
              </a:tblPr>
              <a:tblGrid>
                <a:gridCol w="964235">
                  <a:extLst>
                    <a:ext uri="{9D8B030D-6E8A-4147-A177-3AD203B41FA5}">
                      <a16:colId xmlns:a16="http://schemas.microsoft.com/office/drawing/2014/main" val="20000"/>
                    </a:ext>
                  </a:extLst>
                </a:gridCol>
                <a:gridCol w="964235">
                  <a:extLst>
                    <a:ext uri="{9D8B030D-6E8A-4147-A177-3AD203B41FA5}">
                      <a16:colId xmlns:a16="http://schemas.microsoft.com/office/drawing/2014/main" val="624624882"/>
                    </a:ext>
                  </a:extLst>
                </a:gridCol>
                <a:gridCol w="3697386">
                  <a:extLst>
                    <a:ext uri="{9D8B030D-6E8A-4147-A177-3AD203B41FA5}">
                      <a16:colId xmlns:a16="http://schemas.microsoft.com/office/drawing/2014/main" val="20001"/>
                    </a:ext>
                  </a:extLst>
                </a:gridCol>
                <a:gridCol w="3369735">
                  <a:extLst>
                    <a:ext uri="{9D8B030D-6E8A-4147-A177-3AD203B41FA5}">
                      <a16:colId xmlns:a16="http://schemas.microsoft.com/office/drawing/2014/main" val="20002"/>
                    </a:ext>
                  </a:extLst>
                </a:gridCol>
              </a:tblGrid>
              <a:tr h="0">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한글</a:t>
                      </a:r>
                      <a:r>
                        <a:rPr lang="en-US" altLang="ko-KR" sz="800" b="1" dirty="0">
                          <a:latin typeface="+mn-ea"/>
                          <a:ea typeface="+mn-ea"/>
                        </a:rPr>
                        <a:t>)</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이벤트명</a:t>
                      </a:r>
                      <a:r>
                        <a:rPr lang="en-US" altLang="ko-KR" sz="800" b="1" dirty="0">
                          <a:latin typeface="+mn-ea"/>
                          <a:ea typeface="+mn-ea"/>
                        </a:rPr>
                        <a:t>(</a:t>
                      </a:r>
                      <a:r>
                        <a:rPr lang="ko-KR" altLang="en-US" sz="800" b="1" dirty="0">
                          <a:latin typeface="+mn-ea"/>
                          <a:ea typeface="+mn-ea"/>
                        </a:rPr>
                        <a:t>영문</a:t>
                      </a:r>
                      <a:r>
                        <a:rPr lang="en-US" altLang="ko-KR" sz="800" b="1" dirty="0">
                          <a:latin typeface="+mn-ea"/>
                          <a:ea typeface="+mn-ea"/>
                        </a:rPr>
                        <a:t>)</a:t>
                      </a:r>
                      <a:r>
                        <a:rPr lang="en-US" altLang="ko-KR" sz="800" b="1" baseline="30000" dirty="0">
                          <a:latin typeface="+mn-ea"/>
                          <a:ea typeface="+mn-ea"/>
                        </a:rPr>
                        <a:t>1)</a:t>
                      </a:r>
                      <a:endParaRPr lang="ko-KR" altLang="en-US" sz="800" b="1"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설명</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latinLnBrk="1"/>
                      <a:r>
                        <a:rPr lang="ko-KR" altLang="en-US" sz="800" b="1" dirty="0">
                          <a:latin typeface="+mn-ea"/>
                          <a:ea typeface="+mn-ea"/>
                        </a:rPr>
                        <a:t>비고</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a:latin typeface="+mn-ea"/>
                          <a:ea typeface="+mn-ea"/>
                        </a:rPr>
                        <a:t>On-Load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scwin.onpageload</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공고 및 견적제출 목록</a:t>
                      </a:r>
                      <a:r>
                        <a:rPr lang="en-US" altLang="ko-KR" sz="800" dirty="0">
                          <a:latin typeface="+mn-ea"/>
                          <a:ea typeface="+mn-ea"/>
                        </a:rPr>
                        <a:t>, </a:t>
                      </a:r>
                      <a:r>
                        <a:rPr lang="ko-KR" altLang="en-US" sz="800" dirty="0">
                          <a:latin typeface="+mn-ea"/>
                          <a:ea typeface="+mn-ea"/>
                        </a:rPr>
                        <a:t>심사결과 조회</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87313" indent="-87313" algn="l" latinLnBrk="1">
                        <a:buFont typeface="Arial" panose="020B0604020202020204" pitchFamily="34" charset="0"/>
                        <a:buChar char="•"/>
                      </a:pP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제출서류 클릭</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en-US" altLang="ko-KR" sz="800" dirty="0" err="1">
                          <a:latin typeface="+mn-ea"/>
                          <a:ea typeface="+mn-ea"/>
                        </a:rPr>
                        <a:t>scwin.grd_itemList_oncellclick</a:t>
                      </a:r>
                      <a:endParaRPr lang="ko-KR" altLang="en-US" sz="800" dirty="0">
                        <a:latin typeface="+mn-ea"/>
                        <a:ea typeface="+mn-ea"/>
                      </a:endParaRP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marR="0" indent="0" algn="l" defTabSz="914423" rtl="0" eaLnBrk="1" fontAlgn="auto" latinLnBrk="1" hangingPunct="1">
                        <a:lnSpc>
                          <a:spcPct val="100000"/>
                        </a:lnSpc>
                        <a:spcBef>
                          <a:spcPts val="0"/>
                        </a:spcBef>
                        <a:spcAft>
                          <a:spcPts val="0"/>
                        </a:spcAft>
                        <a:buClrTx/>
                        <a:buSzTx/>
                        <a:buFontTx/>
                        <a:buNone/>
                        <a:tabLst/>
                        <a:defRPr/>
                      </a:pPr>
                      <a:r>
                        <a:rPr lang="ko-KR" altLang="en-US" sz="800" dirty="0">
                          <a:latin typeface="+mn-ea"/>
                          <a:ea typeface="+mn-ea"/>
                        </a:rPr>
                        <a:t>첨부문서조회 팝업 호출</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indent="0" algn="l" latinLnBrk="1">
                        <a:buFont typeface="Arial" panose="020B0604020202020204" pitchFamily="34" charset="0"/>
                        <a:buNone/>
                      </a:pPr>
                      <a:r>
                        <a:rPr lang="en-US" altLang="ko-KR" sz="800" dirty="0">
                          <a:latin typeface="+mn-ea"/>
                          <a:ea typeface="+mn-ea"/>
                        </a:rPr>
                        <a:t>UI-BD-05-P76</a:t>
                      </a:r>
                      <a:r>
                        <a:rPr lang="ko-KR" altLang="en-US" sz="800" dirty="0">
                          <a:latin typeface="+mn-ea"/>
                          <a:ea typeface="+mn-ea"/>
                        </a:rPr>
                        <a:t> 참조</a:t>
                      </a:r>
                    </a:p>
                  </a:txBody>
                  <a:tcPr marL="36000" marR="3600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5601265"/>
                  </a:ext>
                </a:extLst>
              </a:tr>
            </a:tbl>
          </a:graphicData>
        </a:graphic>
      </p:graphicFrame>
      <p:sp>
        <p:nvSpPr>
          <p:cNvPr id="5" name="Text Box 73">
            <a:extLst>
              <a:ext uri="{FF2B5EF4-FFF2-40B4-BE49-F238E27FC236}">
                <a16:creationId xmlns:a16="http://schemas.microsoft.com/office/drawing/2014/main" id="{990CC872-50A4-2401-9C22-88A8F5411F1A}"/>
              </a:ext>
            </a:extLst>
          </p:cNvPr>
          <p:cNvSpPr txBox="1">
            <a:spLocks noChangeArrowheads="1"/>
          </p:cNvSpPr>
          <p:nvPr/>
        </p:nvSpPr>
        <p:spPr bwMode="auto">
          <a:xfrm>
            <a:off x="5852700" y="638760"/>
            <a:ext cx="3571398"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p>
            <a:pPr algn="r">
              <a:spcBef>
                <a:spcPct val="50000"/>
              </a:spcBef>
            </a:pPr>
            <a:r>
              <a:rPr lang="en-US" altLang="ko-KR" sz="700" dirty="0">
                <a:solidFill>
                  <a:prstClr val="black"/>
                </a:solidFill>
                <a:latin typeface="+mn-ea"/>
              </a:rPr>
              <a:t>1) </a:t>
            </a:r>
            <a:r>
              <a:rPr lang="ko-KR" altLang="en-US" sz="700" dirty="0">
                <a:solidFill>
                  <a:prstClr val="black"/>
                </a:solidFill>
                <a:latin typeface="+mn-ea"/>
              </a:rPr>
              <a:t>상세설계 기간에 작성 예정</a:t>
            </a:r>
            <a:endParaRPr lang="en-US" altLang="ko-KR" sz="700" dirty="0">
              <a:solidFill>
                <a:prstClr val="black"/>
              </a:solidFill>
              <a:latin typeface="+mn-ea"/>
            </a:endParaRPr>
          </a:p>
        </p:txBody>
      </p:sp>
    </p:spTree>
    <p:extLst>
      <p:ext uri="{BB962C8B-B14F-4D97-AF65-F5344CB8AC3E}">
        <p14:creationId xmlns:p14="http://schemas.microsoft.com/office/powerpoint/2010/main" val="2807228848"/>
      </p:ext>
    </p:extLst>
  </p:cSld>
  <p:clrMapOvr>
    <a:masterClrMapping/>
  </p:clrMapOvr>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19471</TotalTime>
  <Words>74286</Words>
  <Application>Microsoft Office PowerPoint</Application>
  <PresentationFormat>A4 용지(210x297mm)</PresentationFormat>
  <Paragraphs>30226</Paragraphs>
  <Slides>446</Slides>
  <Notes>10</Notes>
  <HiddenSlides>0</HiddenSlides>
  <MMClips>0</MMClips>
  <ScaleCrop>false</ScaleCrop>
  <HeadingPairs>
    <vt:vector size="6" baseType="variant">
      <vt:variant>
        <vt:lpstr>사용한 글꼴</vt:lpstr>
      </vt:variant>
      <vt:variant>
        <vt:i4>11</vt:i4>
      </vt:variant>
      <vt:variant>
        <vt:lpstr>테마</vt:lpstr>
      </vt:variant>
      <vt:variant>
        <vt:i4>1</vt:i4>
      </vt:variant>
      <vt:variant>
        <vt:lpstr>슬라이드 제목</vt:lpstr>
      </vt:variant>
      <vt:variant>
        <vt:i4>446</vt:i4>
      </vt:variant>
    </vt:vector>
  </HeadingPairs>
  <TitlesOfParts>
    <vt:vector size="458" baseType="lpstr">
      <vt:lpstr>Pretendard Medium</vt:lpstr>
      <vt:lpstr>맑은 고딕</vt:lpstr>
      <vt:lpstr>휴먼명조</vt:lpstr>
      <vt:lpstr>Arial</vt:lpstr>
      <vt:lpstr>Calibri</vt:lpstr>
      <vt:lpstr>Consolas</vt:lpstr>
      <vt:lpstr>Segoe UI</vt:lpstr>
      <vt:lpstr>Times New Roman</vt:lpstr>
      <vt:lpstr>Verdana</vt:lpstr>
      <vt:lpstr>Wingdings</vt:lpstr>
      <vt:lpstr>Wingdings 2</vt:lpstr>
      <vt:lpstr>Office 테마</vt:lpstr>
      <vt:lpstr>사용자인터페이스 설계서 - 모바일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LIG SYSTEM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표준서식-PPTX-A4-Landscape</dc:title>
  <dc:subject>프로젝트 명</dc:subject>
  <dc:creator>LIG SYSTEM</dc:creator>
  <cp:keywords>표준서식-PPTX-A4-Landscape</cp:keywords>
  <cp:lastModifiedBy>User</cp:lastModifiedBy>
  <cp:revision>948</cp:revision>
  <cp:lastPrinted>2016-10-27T08:57:39Z</cp:lastPrinted>
  <dcterms:created xsi:type="dcterms:W3CDTF">2016-10-27T07:41:55Z</dcterms:created>
  <dcterms:modified xsi:type="dcterms:W3CDTF">2026-06-29T07:25:56Z</dcterms:modified>
  <cp:category>서브시스템/업무명</cp:category>
  <cp:contentStatus>0.1</cp:contentStatus>
</cp:coreProperties>
</file>